
<file path=[Content_Types].xml><?xml version="1.0" encoding="utf-8"?>
<Types xmlns="http://schemas.openxmlformats.org/package/2006/content-types">
  <Default Extension="bin" ContentType="application/vnd.openxmlformats-officedocument.oleObject"/>
  <Default Extension="emf" ContentType="image/x-emf"/>
  <Default Extension="gif" ContentType="image/gif"/>
  <Default Extension="jpeg" ContentType="image/jpeg"/>
  <Default Extension="png" ContentType="image/png"/>
  <Default Extension="rels" ContentType="application/vnd.openxmlformats-package.relationships+xml"/>
  <Default Extension="wdp" ContentType="image/vnd.ms-photo"/>
  <Default Extension="xlsb" ContentType="application/vnd.ms-excel.sheet.binary.macroEnabled.12"/>
  <Default Extension="xml" ContentType="application/xml"/>
  <Override PartName="/ppt/webextensions/taskpanes.xml" ContentType="application/vnd.ms-office.webextensiontaskpanes+xml"/>
  <Override PartName="/ppt/webextensions/webextension1.xml" ContentType="application/vnd.ms-office.webextens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theme/theme2.xml" ContentType="application/vnd.openxmlformats-officedocument.theme+xml"/>
  <Override PartName="/ppt/tags/tag35.xml" ContentType="application/vnd.openxmlformats-officedocument.presentationml.tags+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theme/theme3.xml" ContentType="application/vnd.openxmlformats-officedocument.theme+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heme/theme4.xml" ContentType="application/vnd.openxmlformats-officedocument.theme+xml"/>
  <Override PartName="/ppt/theme/theme5.xml" ContentType="application/vnd.openxmlformats-officedocument.theme+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notesSlides/notesSlide1.xml" ContentType="application/vnd.openxmlformats-officedocument.presentationml.notesSlide+xml"/>
  <Override PartName="/ppt/charts/chart1.xml" ContentType="application/vnd.openxmlformats-officedocument.drawingml.chart+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notesSlides/notesSlide2.xml" ContentType="application/vnd.openxmlformats-officedocument.presentationml.notesSlide+xml"/>
  <Override PartName="/ppt/tags/tag87.xml" ContentType="application/vnd.openxmlformats-officedocument.presentationml.tags+xml"/>
  <Override PartName="/ppt/tags/tag88.xml" ContentType="application/vnd.openxmlformats-officedocument.presentationml.tags+xml"/>
  <Override PartName="/ppt/notesSlides/notesSlide3.xml" ContentType="application/vnd.openxmlformats-officedocument.presentationml.notesSlide+xml"/>
  <Override PartName="/ppt/tags/tag89.xml" ContentType="application/vnd.openxmlformats-officedocument.presentationml.tags+xml"/>
  <Override PartName="/ppt/tags/tag90.xml" ContentType="application/vnd.openxmlformats-officedocument.presentationml.tags+xml"/>
  <Override PartName="/ppt/notesSlides/notesSlide4.xml" ContentType="application/vnd.openxmlformats-officedocument.presentationml.notesSlide+xml"/>
  <Override PartName="/ppt/tags/tag91.xml" ContentType="application/vnd.openxmlformats-officedocument.presentationml.tags+xml"/>
  <Override PartName="/ppt/notesSlides/notesSlide5.xml" ContentType="application/vnd.openxmlformats-officedocument.presentationml.notesSlide+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notesSlides/notesSlide6.xml" ContentType="application/vnd.openxmlformats-officedocument.presentationml.notesSlide+xml"/>
  <Override PartName="/ppt/tags/tag101.xml" ContentType="application/vnd.openxmlformats-officedocument.presentationml.tags+xml"/>
  <Override PartName="/ppt/notesSlides/notesSlide7.xml" ContentType="application/vnd.openxmlformats-officedocument.presentationml.notesSlide+xml"/>
  <Override PartName="/ppt/tags/tag102.xml" ContentType="application/vnd.openxmlformats-officedocument.presentationml.tags+xml"/>
  <Override PartName="/ppt/notesSlides/notesSlide8.xml" ContentType="application/vnd.openxmlformats-officedocument.presentationml.notesSlide+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notesSlides/notesSlide9.xml" ContentType="application/vnd.openxmlformats-officedocument.presentationml.notesSlide+xml"/>
  <Override PartName="/ppt/charts/chart2.xml" ContentType="application/vnd.openxmlformats-officedocument.drawingml.chart+xml"/>
  <Override PartName="/ppt/tags/tag119.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notesSlides/notesSlide10.xml" ContentType="application/vnd.openxmlformats-officedocument.presentationml.notesSlide+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notesSlides/notesSlide11.xml" ContentType="application/vnd.openxmlformats-officedocument.presentationml.notesSlide+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notesSlides/notesSlide12.xml" ContentType="application/vnd.openxmlformats-officedocument.presentationml.notesSlide+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notesSlides/notesSlide13.xml" ContentType="application/vnd.openxmlformats-officedocument.presentationml.notesSlide+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notesSlides/notesSlide14.xml" ContentType="application/vnd.openxmlformats-officedocument.presentationml.notesSlide+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notesSlides/notesSlide15.xml" ContentType="application/vnd.openxmlformats-officedocument.presentationml.notesSlide+xml"/>
  <Override PartName="/ppt/tags/tag225.xml" ContentType="application/vnd.openxmlformats-officedocument.presentationml.tags+xml"/>
  <Override PartName="/ppt/tags/tag226.xml" ContentType="application/vnd.openxmlformats-officedocument.presentationml.tags+xml"/>
  <Override PartName="/ppt/notesSlides/notesSlide16.xml" ContentType="application/vnd.openxmlformats-officedocument.presentationml.notesSlide+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notesSlides/notesSlide17.xml" ContentType="application/vnd.openxmlformats-officedocument.presentationml.notesSlide+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notesSlides/notesSlide18.xml" ContentType="application/vnd.openxmlformats-officedocument.presentationml.notesSlide+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notesSlides/notesSlide19.xml" ContentType="application/vnd.openxmlformats-officedocument.presentationml.notesSlide+xml"/>
  <Override PartName="/ppt/tags/tag238.xml" ContentType="application/vnd.openxmlformats-officedocument.presentationml.tags+xml"/>
  <Override PartName="/ppt/tags/tag239.xml" ContentType="application/vnd.openxmlformats-officedocument.presentationml.tags+xml"/>
  <Override PartName="/ppt/tags/tag240.xml" ContentType="application/vnd.openxmlformats-officedocument.presentationml.tags+xml"/>
  <Override PartName="/ppt/notesSlides/notesSlide20.xml" ContentType="application/vnd.openxmlformats-officedocument.presentationml.notesSlide+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notesSlides/notesSlide21.xml" ContentType="application/vnd.openxmlformats-officedocument.presentationml.notesSlide+xml"/>
  <Override PartName="/ppt/charts/chart3.xml" ContentType="application/vnd.openxmlformats-officedocument.drawingml.chart+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notesSlides/notesSlide22.xml" ContentType="application/vnd.openxmlformats-officedocument.presentationml.notesSlide+xml"/>
  <Override PartName="/ppt/tags/tag268.xml" ContentType="application/vnd.openxmlformats-officedocument.presentationml.tags+xml"/>
  <Override PartName="/ppt/tags/tag269.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notesSlides/notesSlide23.xml" ContentType="application/vnd.openxmlformats-officedocument.presentationml.notesSlide+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notesSlides/notesSlide24.xml" ContentType="application/vnd.openxmlformats-officedocument.presentationml.notesSlide+xml"/>
  <Override PartName="/ppt/tags/tag279.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notesSlides/notesSlide25.xml" ContentType="application/vnd.openxmlformats-officedocument.presentationml.notesSlide+xml"/>
  <Override PartName="/ppt/tags/tag282.xml" ContentType="application/vnd.openxmlformats-officedocument.presentationml.tags+xml"/>
  <Override PartName="/ppt/tags/tag283.xml" ContentType="application/vnd.openxmlformats-officedocument.presentationml.tags+xml"/>
  <Override PartName="/ppt/notesSlides/notesSlide26.xml" ContentType="application/vnd.openxmlformats-officedocument.presentationml.notesSlide+xml"/>
  <Override PartName="/ppt/tags/tag284.xml" ContentType="application/vnd.openxmlformats-officedocument.presentationml.tags+xml"/>
  <Override PartName="/ppt/notesSlides/notesSlide27.xml" ContentType="application/vnd.openxmlformats-officedocument.presentationml.notesSlide+xml"/>
  <Override PartName="/ppt/tags/tag285.xml" ContentType="application/vnd.openxmlformats-officedocument.presentationml.tags+xml"/>
  <Override PartName="/ppt/notesSlides/notesSlide28.xml" ContentType="application/vnd.openxmlformats-officedocument.presentationml.notesSlide+xml"/>
  <Override PartName="/ppt/tags/tag286.xml" ContentType="application/vnd.openxmlformats-officedocument.presentationml.tags+xml"/>
  <Override PartName="/ppt/notesSlides/notesSlide29.xml" ContentType="application/vnd.openxmlformats-officedocument.presentationml.notesSlide+xml"/>
  <Override PartName="/ppt/tags/tag287.xml" ContentType="application/vnd.openxmlformats-officedocument.presentationml.tags+xml"/>
  <Override PartName="/ppt/notesSlides/notesSlide30.xml" ContentType="application/vnd.openxmlformats-officedocument.presentationml.notesSlide+xml"/>
  <Override PartName="/ppt/tags/tag288.xml" ContentType="application/vnd.openxmlformats-officedocument.presentationml.tags+xml"/>
  <Override PartName="/ppt/tags/tag28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notesSlides/notesSlide31.xml" ContentType="application/vnd.openxmlformats-officedocument.presentationml.notesSlide+xml"/>
  <Override PartName="/ppt/charts/chart4.xml" ContentType="application/vnd.openxmlformats-officedocument.drawingml.chart+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notesSlides/notesSlide32.xml" ContentType="application/vnd.openxmlformats-officedocument.presentationml.notesSlide+xml"/>
  <Override PartName="/ppt/tags/tag318.xml" ContentType="application/vnd.openxmlformats-officedocument.presentationml.tags+xml"/>
  <Override PartName="/ppt/tags/tag319.xml" ContentType="application/vnd.openxmlformats-officedocument.presentationml.tags+xml"/>
  <Override PartName="/ppt/tags/tag320.xml" ContentType="application/vnd.openxmlformats-officedocument.presentationml.tags+xml"/>
  <Override PartName="/ppt/notesSlides/notesSlide33.xml" ContentType="application/vnd.openxmlformats-officedocument.presentationml.notesSlide+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notesSlides/notesSlide34.xml" ContentType="application/vnd.openxmlformats-officedocument.presentationml.notesSlide+xml"/>
  <Override PartName="/ppt/tags/tag324.xml" ContentType="application/vnd.openxmlformats-officedocument.presentationml.tags+xml"/>
  <Override PartName="/ppt/tags/tag325.xml" ContentType="application/vnd.openxmlformats-officedocument.presentationml.tags+xml"/>
  <Override PartName="/ppt/notesSlides/notesSlide35.xml" ContentType="application/vnd.openxmlformats-officedocument.presentationml.notesSlide+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notesSlides/notesSlide36.xml" ContentType="application/vnd.openxmlformats-officedocument.presentationml.notesSlide+xml"/>
  <Override PartName="/ppt/tags/tag329.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notesSlides/notesSlide37.xml" ContentType="application/vnd.openxmlformats-officedocument.presentationml.notesSlide+xml"/>
  <Override PartName="/ppt/tags/tag332.xml" ContentType="application/vnd.openxmlformats-officedocument.presentationml.tags+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tags/tag333.xml" ContentType="application/vnd.openxmlformats-officedocument.presentationml.tags+xml"/>
  <Override PartName="/ppt/notesSlides/notesSlide45.xml" ContentType="application/vnd.openxmlformats-officedocument.presentationml.notesSlide+xml"/>
  <Override PartName="/ppt/tags/tag334.xml" ContentType="application/vnd.openxmlformats-officedocument.presentationml.tags+xml"/>
  <Override PartName="/ppt/tags/tag335.xml" ContentType="application/vnd.openxmlformats-officedocument.presentationml.tags+xml"/>
  <Override PartName="/ppt/notesSlides/notesSlide46.xml" ContentType="application/vnd.openxmlformats-officedocument.presentationml.notesSlide+xml"/>
  <Override PartName="/ppt/tags/tag336.xml" ContentType="application/vnd.openxmlformats-officedocument.presentationml.tags+xml"/>
  <Override PartName="/ppt/tags/tag337.xml" ContentType="application/vnd.openxmlformats-officedocument.presentationml.tags+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tags/tag338.xml" ContentType="application/vnd.openxmlformats-officedocument.presentationml.tags+xml"/>
  <Override PartName="/ppt/notesSlides/notesSlide53.xml" ContentType="application/vnd.openxmlformats-officedocument.presentationml.notesSlide+xml"/>
  <Override PartName="/ppt/tags/tag339.xml" ContentType="application/vnd.openxmlformats-officedocument.presentationml.tags+xml"/>
  <Override PartName="/ppt/notesSlides/notesSlide54.xml" ContentType="application/vnd.openxmlformats-officedocument.presentationml.notesSlide+xml"/>
  <Override PartName="/ppt/tags/tag340.xml" ContentType="application/vnd.openxmlformats-officedocument.presentationml.tags+xml"/>
  <Override PartName="/ppt/notesSlides/notesSlide55.xml" ContentType="application/vnd.openxmlformats-officedocument.presentationml.notesSlide+xml"/>
  <Override PartName="/ppt/tags/tag341.xml" ContentType="application/vnd.openxmlformats-officedocument.presentationml.tags+xml"/>
  <Override PartName="/ppt/tags/tag342.xml" ContentType="application/vnd.openxmlformats-officedocument.presentationml.tags+xml"/>
  <Override PartName="/ppt/notesSlides/notesSlide56.xml" ContentType="application/vnd.openxmlformats-officedocument.presentationml.notesSlide+xml"/>
  <Override PartName="/ppt/tags/tag343.xml" ContentType="application/vnd.openxmlformats-officedocument.presentationml.tags+xml"/>
  <Override PartName="/ppt/tags/tag344.xml" ContentType="application/vnd.openxmlformats-officedocument.presentationml.tags+xml"/>
  <Override PartName="/ppt/notesSlides/notesSlide57.xml" ContentType="application/vnd.openxmlformats-officedocument.presentationml.notesSlide+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notesSlides/notesSlide58.xml" ContentType="application/vnd.openxmlformats-officedocument.presentationml.notesSlide+xml"/>
  <Override PartName="/ppt/tags/tag358.xml" ContentType="application/vnd.openxmlformats-officedocument.presentationml.tags+xml"/>
  <Override PartName="/ppt/tags/tag359.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notesSlides/notesSlide59.xml" ContentType="application/vnd.openxmlformats-officedocument.presentationml.notesSlide+xml"/>
  <Override PartName="/ppt/tags/tag368.xml" ContentType="application/vnd.openxmlformats-officedocument.presentationml.tags+xml"/>
  <Override PartName="/ppt/tags/tag369.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tags/tag374.xml" ContentType="application/vnd.openxmlformats-officedocument.presentationml.tags+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tags/tag382.xml" ContentType="application/vnd.openxmlformats-officedocument.presentationml.tags+xml"/>
  <Override PartName="/ppt/tags/tag383.xml" ContentType="application/vnd.openxmlformats-officedocument.presentationml.tags+xml"/>
  <Override PartName="/ppt/notesSlides/notesSlide60.xml" ContentType="application/vnd.openxmlformats-officedocument.presentationml.notesSlide+xml"/>
  <Override PartName="/ppt/charts/chart5.xml" ContentType="application/vnd.openxmlformats-officedocument.drawingml.chart+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notesSlides/notesSlide61.xml" ContentType="application/vnd.openxmlformats-officedocument.presentationml.notesSlide+xml"/>
  <Override PartName="/ppt/tags/tag394.xml" ContentType="application/vnd.openxmlformats-officedocument.presentationml.tags+xml"/>
  <Override PartName="/ppt/notesSlides/notesSlide62.xml" ContentType="application/vnd.openxmlformats-officedocument.presentationml.notesSlide+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notesSlides/notesSlide63.xml" ContentType="application/vnd.openxmlformats-officedocument.presentationml.notesSlide+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notesSlides/notesSlide64.xml" ContentType="application/vnd.openxmlformats-officedocument.presentationml.notesSlide+xml"/>
  <Override PartName="/ppt/charts/chart6.xml" ContentType="application/vnd.openxmlformats-officedocument.drawingml.chart+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notesSlides/notesSlide65.xml" ContentType="application/vnd.openxmlformats-officedocument.presentationml.notesSlide+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tags/tag437.xml" ContentType="application/vnd.openxmlformats-officedocument.presentationml.tags+xml"/>
  <Override PartName="/ppt/notesSlides/notesSlide66.xml" ContentType="application/vnd.openxmlformats-officedocument.presentationml.notesSlide+xml"/>
  <Override PartName="/ppt/tags/tag438.xml" ContentType="application/vnd.openxmlformats-officedocument.presentationml.tags+xml"/>
  <Override PartName="/ppt/tags/tag439.xml" ContentType="application/vnd.openxmlformats-officedocument.presentationml.tags+xml"/>
  <Override PartName="/ppt/notesSlides/notesSlide67.xml" ContentType="application/vnd.openxmlformats-officedocument.presentationml.notesSlide+xml"/>
  <Override PartName="/ppt/tags/tag440.xml" ContentType="application/vnd.openxmlformats-officedocument.presentationml.tags+xml"/>
  <Override PartName="/ppt/tags/tag441.xml" ContentType="application/vnd.openxmlformats-officedocument.presentationml.tags+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notesSlides/notesSlide70.xml" ContentType="application/vnd.openxmlformats-officedocument.presentationml.notesSlide+xml"/>
  <Override PartName="/ppt/tags/tag445.xml" ContentType="application/vnd.openxmlformats-officedocument.presentationml.tags+xml"/>
  <Override PartName="/ppt/tags/tag446.xml" ContentType="application/vnd.openxmlformats-officedocument.presentationml.tags+xml"/>
  <Override PartName="/ppt/notesSlides/notesSlide71.xml" ContentType="application/vnd.openxmlformats-officedocument.presentationml.notesSlide+xml"/>
  <Override PartName="/ppt/tags/tag447.xml" ContentType="application/vnd.openxmlformats-officedocument.presentationml.tags+xml"/>
  <Override PartName="/ppt/notesSlides/notesSlide72.xml" ContentType="application/vnd.openxmlformats-officedocument.presentationml.notesSlide+xml"/>
  <Override PartName="/ppt/tags/tag448.xml" ContentType="application/vnd.openxmlformats-officedocument.presentationml.tags+xml"/>
  <Override PartName="/ppt/tags/tag449.xml" ContentType="application/vnd.openxmlformats-officedocument.presentationml.tags+xml"/>
  <Override PartName="/ppt/tags/tag450.xml" ContentType="application/vnd.openxmlformats-officedocument.presentationml.tags+xml"/>
  <Override PartName="/ppt/notesSlides/notesSlide73.xml" ContentType="application/vnd.openxmlformats-officedocument.presentationml.notesSlide+xml"/>
  <Override PartName="/ppt/tags/tag451.xml" ContentType="application/vnd.openxmlformats-officedocument.presentationml.tags+xml"/>
  <Override PartName="/ppt/tags/tag452.xml" ContentType="application/vnd.openxmlformats-officedocument.presentationml.tags+xml"/>
  <Override PartName="/ppt/notesSlides/notesSlide74.xml" ContentType="application/vnd.openxmlformats-officedocument.presentationml.notesSlide+xml"/>
  <Override PartName="/ppt/tags/tag453.xml" ContentType="application/vnd.openxmlformats-officedocument.presentationml.tags+xml"/>
  <Override PartName="/ppt/tags/tag454.xml" ContentType="application/vnd.openxmlformats-officedocument.presentationml.tags+xml"/>
  <Override PartName="/ppt/notesSlides/notesSlide75.xml" ContentType="application/vnd.openxmlformats-officedocument.presentationml.notesSlide+xml"/>
  <Override PartName="/ppt/tags/tag455.xml" ContentType="application/vnd.openxmlformats-officedocument.presentationml.tags+xml"/>
  <Override PartName="/ppt/tags/tag456.xml" ContentType="application/vnd.openxmlformats-officedocument.presentationml.tags+xml"/>
  <Override PartName="/ppt/notesSlides/notesSlide76.xml" ContentType="application/vnd.openxmlformats-officedocument.presentationml.notesSlide+xml"/>
  <Override PartName="/ppt/tags/tag457.xml" ContentType="application/vnd.openxmlformats-officedocument.presentationml.tags+xml"/>
  <Override PartName="/ppt/tags/tag458.xml" ContentType="application/vnd.openxmlformats-officedocument.presentationml.tags+xml"/>
  <Override PartName="/ppt/notesSlides/notesSlide77.xml" ContentType="application/vnd.openxmlformats-officedocument.presentationml.notesSlide+xml"/>
  <Override PartName="/ppt/tags/tag459.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tags/tag479.xml" ContentType="application/vnd.openxmlformats-officedocument.presentationml.tags+xml"/>
  <Override PartName="/ppt/tags/tag480.xml" ContentType="application/vnd.openxmlformats-officedocument.presentationml.tags+xml"/>
  <Override PartName="/ppt/tags/tag481.xml" ContentType="application/vnd.openxmlformats-officedocument.presentationml.tags+xml"/>
  <Override PartName="/ppt/tags/tag482.xml" ContentType="application/vnd.openxmlformats-officedocument.presentationml.tags+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tags/tag486.xml" ContentType="application/vnd.openxmlformats-officedocument.presentationml.tags+xml"/>
  <Override PartName="/ppt/tags/tag487.xml" ContentType="application/vnd.openxmlformats-officedocument.presentationml.tags+xml"/>
  <Override PartName="/ppt/tags/tag488.xml" ContentType="application/vnd.openxmlformats-officedocument.presentationml.tags+xml"/>
  <Override PartName="/ppt/tags/tag48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tags/tag492.xml" ContentType="application/vnd.openxmlformats-officedocument.presentationml.tags+xml"/>
  <Override PartName="/ppt/tags/tag493.xml" ContentType="application/vnd.openxmlformats-officedocument.presentationml.tags+xml"/>
  <Override PartName="/ppt/tags/tag494.xml" ContentType="application/vnd.openxmlformats-officedocument.presentationml.tags+xml"/>
  <Override PartName="/ppt/tags/tag495.xml" ContentType="application/vnd.openxmlformats-officedocument.presentationml.tags+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00.xml" ContentType="application/vnd.openxmlformats-officedocument.presentationml.tags+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tags/tag504.xml" ContentType="application/vnd.openxmlformats-officedocument.presentationml.tags+xml"/>
  <Override PartName="/ppt/tags/tag505.xml" ContentType="application/vnd.openxmlformats-officedocument.presentationml.tags+xml"/>
  <Override PartName="/ppt/tags/tag506.xml" ContentType="application/vnd.openxmlformats-officedocument.presentationml.tags+xml"/>
  <Override PartName="/ppt/tags/tag507.xml" ContentType="application/vnd.openxmlformats-officedocument.presentationml.tags+xml"/>
  <Override PartName="/ppt/tags/tag508.xml" ContentType="application/vnd.openxmlformats-officedocument.presentationml.tags+xml"/>
  <Override PartName="/ppt/tags/tag509.xml" ContentType="application/vnd.openxmlformats-officedocument.presentationml.tags+xml"/>
  <Override PartName="/ppt/tags/tag510.xml" ContentType="application/vnd.openxmlformats-officedocument.presentationml.tags+xml"/>
  <Override PartName="/ppt/tags/tag511.xml" ContentType="application/vnd.openxmlformats-officedocument.presentationml.tags+xml"/>
  <Override PartName="/ppt/tags/tag512.xml" ContentType="application/vnd.openxmlformats-officedocument.presentationml.tags+xml"/>
  <Override PartName="/ppt/notesSlides/notesSlide78.xml" ContentType="application/vnd.openxmlformats-officedocument.presentationml.notesSlide+xml"/>
  <Override PartName="/ppt/tags/tag513.xml" ContentType="application/vnd.openxmlformats-officedocument.presentationml.tags+xml"/>
  <Override PartName="/ppt/tags/tag514.xml" ContentType="application/vnd.openxmlformats-officedocument.presentationml.tags+xml"/>
  <Override PartName="/ppt/tags/tag515.xml" ContentType="application/vnd.openxmlformats-officedocument.presentationml.tags+xml"/>
  <Override PartName="/ppt/tags/tag516.xml" ContentType="application/vnd.openxmlformats-officedocument.presentationml.tags+xml"/>
  <Override PartName="/ppt/tags/tag517.xml" ContentType="application/vnd.openxmlformats-officedocument.presentationml.tags+xml"/>
  <Override PartName="/ppt/tags/tag518.xml" ContentType="application/vnd.openxmlformats-officedocument.presentationml.tags+xml"/>
  <Override PartName="/ppt/tags/tag519.xml" ContentType="application/vnd.openxmlformats-officedocument.presentationml.tags+xml"/>
  <Override PartName="/ppt/tags/tag520.xml" ContentType="application/vnd.openxmlformats-officedocument.presentationml.tags+xml"/>
  <Override PartName="/ppt/tags/tag521.xml" ContentType="application/vnd.openxmlformats-officedocument.presentationml.tags+xml"/>
  <Override PartName="/ppt/tags/tag522.xml" ContentType="application/vnd.openxmlformats-officedocument.presentationml.tags+xml"/>
  <Override PartName="/ppt/tags/tag523.xml" ContentType="application/vnd.openxmlformats-officedocument.presentationml.tags+xml"/>
  <Override PartName="/ppt/tags/tag524.xml" ContentType="application/vnd.openxmlformats-officedocument.presentationml.tags+xml"/>
  <Override PartName="/ppt/tags/tag525.xml" ContentType="application/vnd.openxmlformats-officedocument.presentationml.tags+xml"/>
  <Override PartName="/ppt/tags/tag526.xml" ContentType="application/vnd.openxmlformats-officedocument.presentationml.tags+xml"/>
  <Override PartName="/ppt/tags/tag527.xml" ContentType="application/vnd.openxmlformats-officedocument.presentationml.tags+xml"/>
  <Override PartName="/ppt/tags/tag528.xml" ContentType="application/vnd.openxmlformats-officedocument.presentationml.tags+xml"/>
  <Override PartName="/ppt/tags/tag529.xml" ContentType="application/vnd.openxmlformats-officedocument.presentationml.tags+xml"/>
  <Override PartName="/ppt/tags/tag530.xml" ContentType="application/vnd.openxmlformats-officedocument.presentationml.tags+xml"/>
  <Override PartName="/ppt/tags/tag531.xml" ContentType="application/vnd.openxmlformats-officedocument.presentationml.tags+xml"/>
  <Override PartName="/ppt/tags/tag532.xml" ContentType="application/vnd.openxmlformats-officedocument.presentationml.tags+xml"/>
  <Override PartName="/ppt/tags/tag533.xml" ContentType="application/vnd.openxmlformats-officedocument.presentationml.tags+xml"/>
  <Override PartName="/ppt/tags/tag534.xml" ContentType="application/vnd.openxmlformats-officedocument.presentationml.tags+xml"/>
  <Override PartName="/ppt/tags/tag535.xml" ContentType="application/vnd.openxmlformats-officedocument.presentationml.tags+xml"/>
  <Override PartName="/ppt/tags/tag536.xml" ContentType="application/vnd.openxmlformats-officedocument.presentationml.tags+xml"/>
  <Override PartName="/ppt/tags/tag537.xml" ContentType="application/vnd.openxmlformats-officedocument.presentationml.tags+xml"/>
  <Override PartName="/ppt/tags/tag538.xml" ContentType="application/vnd.openxmlformats-officedocument.presentationml.tags+xml"/>
  <Override PartName="/ppt/tags/tag539.xml" ContentType="application/vnd.openxmlformats-officedocument.presentationml.tags+xml"/>
  <Override PartName="/ppt/tags/tag540.xml" ContentType="application/vnd.openxmlformats-officedocument.presentationml.tags+xml"/>
  <Override PartName="/ppt/tags/tag541.xml" ContentType="application/vnd.openxmlformats-officedocument.presentationml.tags+xml"/>
  <Override PartName="/ppt/tags/tag542.xml" ContentType="application/vnd.openxmlformats-officedocument.presentationml.tags+xml"/>
  <Override PartName="/ppt/tags/tag543.xml" ContentType="application/vnd.openxmlformats-officedocument.presentationml.tags+xml"/>
  <Override PartName="/ppt/tags/tag544.xml" ContentType="application/vnd.openxmlformats-officedocument.presentationml.tags+xml"/>
  <Override PartName="/ppt/notesSlides/notesSlide79.xml" ContentType="application/vnd.openxmlformats-officedocument.presentationml.notesSlide+xml"/>
  <Override PartName="/ppt/tags/tag545.xml" ContentType="application/vnd.openxmlformats-officedocument.presentationml.tags+xml"/>
  <Override PartName="/ppt/tags/tag546.xml" ContentType="application/vnd.openxmlformats-officedocument.presentationml.tags+xml"/>
  <Override PartName="/ppt/tags/tag547.xml" ContentType="application/vnd.openxmlformats-officedocument.presentationml.tags+xml"/>
  <Override PartName="/ppt/notesSlides/notesSlide80.xml" ContentType="application/vnd.openxmlformats-officedocument.presentationml.notesSlide+xml"/>
  <Override PartName="/ppt/tags/tag548.xml" ContentType="application/vnd.openxmlformats-officedocument.presentationml.tags+xml"/>
  <Override PartName="/ppt/tags/tag549.xml" ContentType="application/vnd.openxmlformats-officedocument.presentationml.tags+xml"/>
  <Override PartName="/ppt/tags/tag550.xml" ContentType="application/vnd.openxmlformats-officedocument.presentationml.tags+xml"/>
  <Override PartName="/ppt/notesSlides/notesSlide81.xml" ContentType="application/vnd.openxmlformats-officedocument.presentationml.notesSlide+xml"/>
  <Override PartName="/ppt/tags/tag551.xml" ContentType="application/vnd.openxmlformats-officedocument.presentationml.tags+xml"/>
  <Override PartName="/ppt/tags/tag552.xml" ContentType="application/vnd.openxmlformats-officedocument.presentationml.tags+xml"/>
  <Override PartName="/ppt/notesSlides/notesSlide82.xml" ContentType="application/vnd.openxmlformats-officedocument.presentationml.notesSlide+xml"/>
  <Override PartName="/ppt/tags/tag553.xml" ContentType="application/vnd.openxmlformats-officedocument.presentationml.tags+xml"/>
  <Override PartName="/ppt/tags/tag554.xml" ContentType="application/vnd.openxmlformats-officedocument.presentationml.tags+xml"/>
  <Override PartName="/ppt/notesSlides/notesSlide83.xml" ContentType="application/vnd.openxmlformats-officedocument.presentationml.notesSlide+xml"/>
  <Override PartName="/ppt/tags/tag555.xml" ContentType="application/vnd.openxmlformats-officedocument.presentationml.tags+xml"/>
  <Override PartName="/ppt/tags/tag556.xml" ContentType="application/vnd.openxmlformats-officedocument.presentationml.tags+xml"/>
  <Override PartName="/ppt/notesSlides/notesSlide84.xml" ContentType="application/vnd.openxmlformats-officedocument.presentationml.notesSlide+xml"/>
  <Override PartName="/ppt/tags/tag557.xml" ContentType="application/vnd.openxmlformats-officedocument.presentationml.tags+xml"/>
  <Override PartName="/ppt/tags/tag558.xml" ContentType="application/vnd.openxmlformats-officedocument.presentationml.tags+xml"/>
  <Override PartName="/ppt/tags/tag559.xml" ContentType="application/vnd.openxmlformats-officedocument.presentationml.tags+xml"/>
  <Override PartName="/ppt/tags/tag560.xml" ContentType="application/vnd.openxmlformats-officedocument.presentationml.tags+xml"/>
  <Override PartName="/ppt/tags/tag561.xml" ContentType="application/vnd.openxmlformats-officedocument.presentationml.tags+xml"/>
  <Override PartName="/ppt/tags/tag562.xml" ContentType="application/vnd.openxmlformats-officedocument.presentationml.tags+xml"/>
  <Override PartName="/ppt/tags/tag563.xml" ContentType="application/vnd.openxmlformats-officedocument.presentationml.tags+xml"/>
  <Override PartName="/ppt/tags/tag564.xml" ContentType="application/vnd.openxmlformats-officedocument.presentationml.tags+xml"/>
  <Override PartName="/ppt/tags/tag565.xml" ContentType="application/vnd.openxmlformats-officedocument.presentationml.tags+xml"/>
  <Override PartName="/ppt/tags/tag566.xml" ContentType="application/vnd.openxmlformats-officedocument.presentationml.tags+xml"/>
  <Override PartName="/ppt/notesSlides/notesSlide85.xml" ContentType="application/vnd.openxmlformats-officedocument.presentationml.notesSlide+xml"/>
  <Override PartName="/ppt/tags/tag567.xml" ContentType="application/vnd.openxmlformats-officedocument.presentationml.tags+xml"/>
  <Override PartName="/ppt/tags/tag568.xml" ContentType="application/vnd.openxmlformats-officedocument.presentationml.tags+xml"/>
  <Override PartName="/ppt/tags/tag569.xml" ContentType="application/vnd.openxmlformats-officedocument.presentationml.tags+xml"/>
  <Override PartName="/ppt/tags/tag570.xml" ContentType="application/vnd.openxmlformats-officedocument.presentationml.tags+xml"/>
  <Override PartName="/ppt/tags/tag571.xml" ContentType="application/vnd.openxmlformats-officedocument.presentationml.tags+xml"/>
  <Override PartName="/ppt/tags/tag572.xml" ContentType="application/vnd.openxmlformats-officedocument.presentationml.tags+xml"/>
  <Override PartName="/ppt/tags/tag573.xml" ContentType="application/vnd.openxmlformats-officedocument.presentationml.tags+xml"/>
  <Override PartName="/ppt/tags/tag574.xml" ContentType="application/vnd.openxmlformats-officedocument.presentationml.tags+xml"/>
  <Override PartName="/ppt/tags/tag575.xml" ContentType="application/vnd.openxmlformats-officedocument.presentationml.tags+xml"/>
  <Override PartName="/ppt/tags/tag576.xml" ContentType="application/vnd.openxmlformats-officedocument.presentationml.tags+xml"/>
  <Override PartName="/ppt/tags/tag577.xml" ContentType="application/vnd.openxmlformats-officedocument.presentationml.tags+xml"/>
  <Override PartName="/ppt/tags/tag578.xml" ContentType="application/vnd.openxmlformats-officedocument.presentationml.tags+xml"/>
  <Override PartName="/ppt/tags/tag579.xml" ContentType="application/vnd.openxmlformats-officedocument.presentationml.tags+xml"/>
  <Override PartName="/ppt/tags/tag580.xml" ContentType="application/vnd.openxmlformats-officedocument.presentationml.tags+xml"/>
  <Override PartName="/ppt/tags/tag581.xml" ContentType="application/vnd.openxmlformats-officedocument.presentationml.tags+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tags/tag582.xml" ContentType="application/vnd.openxmlformats-officedocument.presentationml.tags+xml"/>
  <Override PartName="/ppt/tags/tag583.xml" ContentType="application/vnd.openxmlformats-officedocument.presentationml.tags+xml"/>
  <Override PartName="/ppt/notesSlides/notesSlide88.xml" ContentType="application/vnd.openxmlformats-officedocument.presentationml.notesSlide+xml"/>
  <Override PartName="/ppt/tags/tag584.xml" ContentType="application/vnd.openxmlformats-officedocument.presentationml.tags+xml"/>
  <Override PartName="/ppt/tags/tag585.xml" ContentType="application/vnd.openxmlformats-officedocument.presentationml.tags+xml"/>
  <Override PartName="/ppt/tags/tag586.xml" ContentType="application/vnd.openxmlformats-officedocument.presentationml.tags+xml"/>
  <Override PartName="/ppt/tags/tag587.xml" ContentType="application/vnd.openxmlformats-officedocument.presentationml.tags+xml"/>
  <Override PartName="/ppt/tags/tag588.xml" ContentType="application/vnd.openxmlformats-officedocument.presentationml.tags+xml"/>
  <Override PartName="/ppt/tags/tag589.xml" ContentType="application/vnd.openxmlformats-officedocument.presentationml.tags+xml"/>
  <Override PartName="/ppt/tags/tag590.xml" ContentType="application/vnd.openxmlformats-officedocument.presentationml.tags+xml"/>
  <Override PartName="/ppt/tags/tag591.xml" ContentType="application/vnd.openxmlformats-officedocument.presentationml.tags+xml"/>
  <Override PartName="/ppt/notesSlides/notesSlide89.xml" ContentType="application/vnd.openxmlformats-officedocument.presentationml.notesSlide+xml"/>
  <Override PartName="/ppt/tags/tag592.xml" ContentType="application/vnd.openxmlformats-officedocument.presentationml.tags+xml"/>
  <Override PartName="/ppt/tags/tag593.xml" ContentType="application/vnd.openxmlformats-officedocument.presentationml.tags+xml"/>
  <Override PartName="/ppt/tags/tag594.xml" ContentType="application/vnd.openxmlformats-officedocument.presentationml.tags+xml"/>
  <Override PartName="/ppt/tags/tag595.xml" ContentType="application/vnd.openxmlformats-officedocument.presentationml.tags+xml"/>
  <Override PartName="/ppt/tags/tag596.xml" ContentType="application/vnd.openxmlformats-officedocument.presentationml.tags+xml"/>
  <Override PartName="/ppt/tags/tag597.xml" ContentType="application/vnd.openxmlformats-officedocument.presentationml.tags+xml"/>
  <Override PartName="/ppt/notesSlides/notesSlide90.xml" ContentType="application/vnd.openxmlformats-officedocument.presentationml.notesSlide+xml"/>
  <Override PartName="/ppt/tags/tag598.xml" ContentType="application/vnd.openxmlformats-officedocument.presentationml.tags+xml"/>
  <Override PartName="/ppt/notesSlides/notesSlide91.xml" ContentType="application/vnd.openxmlformats-officedocument.presentationml.notesSlide+xml"/>
  <Override PartName="/ppt/tags/tag599.xml" ContentType="application/vnd.openxmlformats-officedocument.presentationml.tags+xml"/>
  <Override PartName="/ppt/tags/tag600.xml" ContentType="application/vnd.openxmlformats-officedocument.presentationml.tags+xml"/>
  <Override PartName="/ppt/tags/tag601.xml" ContentType="application/vnd.openxmlformats-officedocument.presentationml.tags+xml"/>
  <Override PartName="/ppt/notesSlides/notesSlide9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thumbnail" Target="docProps/thumbnail.jpeg"/><Relationship Id="rId2" Type="http://schemas.openxmlformats.org/officeDocument/2006/relationships/officeDocument" Target="ppt/presentation.xml"/><Relationship Id="rId1" Type="http://schemas.microsoft.com/office/2011/relationships/webextensiontaskpanes" Target="ppt/webextensions/taskpanes.xml"/><Relationship Id="rId6" Type="http://schemas.openxmlformats.org/officeDocument/2006/relationships/custom-properties" Target="docProps/custom.xml"/><Relationship Id="rId5" Type="http://schemas.openxmlformats.org/officeDocument/2006/relationships/extended-properties" Target="docProps/app.xml"/><Relationship Id="rId4" Type="http://schemas.openxmlformats.org/package/2006/relationships/metadata/core-properties" Target="docProps/core.xml"/></Relationships>
</file>

<file path=ppt/presentation.xml><?xml version="1.0" encoding="utf-8"?>
<p:presentation xmlns:a="http://schemas.openxmlformats.org/drawingml/2006/main" xmlns:r="http://schemas.openxmlformats.org/officeDocument/2006/relationships" xmlns:p="http://schemas.openxmlformats.org/presentationml/2006/main" firstSlideNum="0" showSpecialPlsOnTitleSld="0" saveSubsetFonts="1" autoCompressPictures="0">
  <p:sldMasterIdLst>
    <p:sldMasterId id="2147485117" r:id="rId4"/>
    <p:sldMasterId id="2147485186" r:id="rId5"/>
    <p:sldMasterId id="2147485192" r:id="rId6"/>
  </p:sldMasterIdLst>
  <p:notesMasterIdLst>
    <p:notesMasterId r:id="rId101"/>
  </p:notesMasterIdLst>
  <p:handoutMasterIdLst>
    <p:handoutMasterId r:id="rId102"/>
  </p:handoutMasterIdLst>
  <p:sldIdLst>
    <p:sldId id="2147483592" r:id="rId7"/>
    <p:sldId id="295" r:id="rId8"/>
    <p:sldId id="260" r:id="rId9"/>
    <p:sldId id="2147483630" r:id="rId10"/>
    <p:sldId id="273" r:id="rId11"/>
    <p:sldId id="278" r:id="rId12"/>
    <p:sldId id="2147483642" r:id="rId13"/>
    <p:sldId id="256" r:id="rId14"/>
    <p:sldId id="284" r:id="rId15"/>
    <p:sldId id="272" r:id="rId16"/>
    <p:sldId id="286" r:id="rId17"/>
    <p:sldId id="2147378286" r:id="rId18"/>
    <p:sldId id="288" r:id="rId19"/>
    <p:sldId id="282" r:id="rId20"/>
    <p:sldId id="275" r:id="rId21"/>
    <p:sldId id="287" r:id="rId22"/>
    <p:sldId id="279" r:id="rId23"/>
    <p:sldId id="274" r:id="rId24"/>
    <p:sldId id="280" r:id="rId25"/>
    <p:sldId id="276" r:id="rId26"/>
    <p:sldId id="277" r:id="rId27"/>
    <p:sldId id="271" r:id="rId28"/>
    <p:sldId id="2147483620" r:id="rId29"/>
    <p:sldId id="2147483623" r:id="rId30"/>
    <p:sldId id="2147483639" r:id="rId31"/>
    <p:sldId id="2147483644" r:id="rId32"/>
    <p:sldId id="2147483621" r:id="rId33"/>
    <p:sldId id="2147483622" r:id="rId34"/>
    <p:sldId id="2147483619" r:id="rId35"/>
    <p:sldId id="2147483645" r:id="rId36"/>
    <p:sldId id="2147483647" r:id="rId37"/>
    <p:sldId id="315" r:id="rId38"/>
    <p:sldId id="2147483640" r:id="rId39"/>
    <p:sldId id="2147483612" r:id="rId40"/>
    <p:sldId id="2147483632" r:id="rId41"/>
    <p:sldId id="2147483641" r:id="rId42"/>
    <p:sldId id="265" r:id="rId43"/>
    <p:sldId id="2147483634" r:id="rId44"/>
    <p:sldId id="2147483636" r:id="rId45"/>
    <p:sldId id="2147483610" r:id="rId46"/>
    <p:sldId id="257" r:id="rId47"/>
    <p:sldId id="259" r:id="rId48"/>
    <p:sldId id="261" r:id="rId49"/>
    <p:sldId id="262" r:id="rId50"/>
    <p:sldId id="2147483608" r:id="rId51"/>
    <p:sldId id="263" r:id="rId52"/>
    <p:sldId id="264" r:id="rId53"/>
    <p:sldId id="12203" r:id="rId54"/>
    <p:sldId id="12902" r:id="rId55"/>
    <p:sldId id="266" r:id="rId56"/>
    <p:sldId id="267" r:id="rId57"/>
    <p:sldId id="268" r:id="rId58"/>
    <p:sldId id="269" r:id="rId59"/>
    <p:sldId id="270" r:id="rId60"/>
    <p:sldId id="2147483611" r:id="rId61"/>
    <p:sldId id="332" r:id="rId62"/>
    <p:sldId id="2147472200" r:id="rId63"/>
    <p:sldId id="429" r:id="rId64"/>
    <p:sldId id="2147473605" r:id="rId65"/>
    <p:sldId id="2147473591" r:id="rId66"/>
    <p:sldId id="2147473599" r:id="rId67"/>
    <p:sldId id="2147473598" r:id="rId68"/>
    <p:sldId id="2147473600" r:id="rId69"/>
    <p:sldId id="2147378897" r:id="rId70"/>
    <p:sldId id="2147473601" r:id="rId71"/>
    <p:sldId id="2147483593" r:id="rId72"/>
    <p:sldId id="314" r:id="rId73"/>
    <p:sldId id="2147483598" r:id="rId74"/>
    <p:sldId id="2147483599" r:id="rId75"/>
    <p:sldId id="2147483600" r:id="rId76"/>
    <p:sldId id="258" r:id="rId77"/>
    <p:sldId id="2147483596" r:id="rId78"/>
    <p:sldId id="2147483597" r:id="rId79"/>
    <p:sldId id="2147483626" r:id="rId80"/>
    <p:sldId id="1760" r:id="rId81"/>
    <p:sldId id="1761" r:id="rId82"/>
    <p:sldId id="1762" r:id="rId83"/>
    <p:sldId id="1763" r:id="rId84"/>
    <p:sldId id="1764" r:id="rId85"/>
    <p:sldId id="2147472717" r:id="rId86"/>
    <p:sldId id="2147472698" r:id="rId87"/>
    <p:sldId id="2147473815" r:id="rId88"/>
    <p:sldId id="2147474266" r:id="rId89"/>
    <p:sldId id="11437" r:id="rId90"/>
    <p:sldId id="11408" r:id="rId91"/>
    <p:sldId id="11409" r:id="rId92"/>
    <p:sldId id="11414" r:id="rId93"/>
    <p:sldId id="11413" r:id="rId94"/>
    <p:sldId id="2147483637" r:id="rId95"/>
    <p:sldId id="12224" r:id="rId96"/>
    <p:sldId id="2147483624" r:id="rId97"/>
    <p:sldId id="2147481885" r:id="rId98"/>
    <p:sldId id="283" r:id="rId99"/>
    <p:sldId id="289" r:id="rId100"/>
  </p:sldIdLst>
  <p:sldSz cx="12192000" cy="6858000"/>
  <p:notesSz cx="6950075" cy="9236075"/>
  <p:custShowLst>
    <p:custShow name="Format Guide Workshop" id="0">
      <p:sldLst/>
    </p:custShow>
  </p:custShowLst>
  <p:custDataLst>
    <p:tags r:id="rId103"/>
  </p:custData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Default Section" id="{09CA08AE-6537-492A-8CEA-132F5CAB1DCC}">
          <p14:sldIdLst>
            <p14:sldId id="2147483592"/>
            <p14:sldId id="295"/>
            <p14:sldId id="260"/>
            <p14:sldId id="2147483630"/>
            <p14:sldId id="273"/>
            <p14:sldId id="278"/>
            <p14:sldId id="2147483642"/>
            <p14:sldId id="256"/>
            <p14:sldId id="284"/>
            <p14:sldId id="272"/>
            <p14:sldId id="286"/>
            <p14:sldId id="2147378286"/>
            <p14:sldId id="288"/>
            <p14:sldId id="282"/>
            <p14:sldId id="275"/>
            <p14:sldId id="287"/>
            <p14:sldId id="279"/>
            <p14:sldId id="274"/>
            <p14:sldId id="280"/>
            <p14:sldId id="276"/>
            <p14:sldId id="277"/>
            <p14:sldId id="271"/>
            <p14:sldId id="2147483620"/>
            <p14:sldId id="2147483623"/>
            <p14:sldId id="2147483639"/>
            <p14:sldId id="2147483644"/>
            <p14:sldId id="2147483621"/>
            <p14:sldId id="2147483622"/>
          </p14:sldIdLst>
        </p14:section>
        <p14:section name="reference material" id="{1AF59FB2-211F-4D83-9E10-5E210AD4CB30}">
          <p14:sldIdLst>
            <p14:sldId id="2147483619"/>
            <p14:sldId id="2147483645"/>
            <p14:sldId id="2147483647"/>
            <p14:sldId id="315"/>
            <p14:sldId id="2147483640"/>
            <p14:sldId id="2147483612"/>
            <p14:sldId id="2147483632"/>
            <p14:sldId id="2147483641"/>
            <p14:sldId id="265"/>
            <p14:sldId id="2147483634"/>
            <p14:sldId id="2147483636"/>
            <p14:sldId id="2147483610"/>
            <p14:sldId id="257"/>
            <p14:sldId id="259"/>
            <p14:sldId id="261"/>
            <p14:sldId id="262"/>
            <p14:sldId id="2147483608"/>
            <p14:sldId id="263"/>
            <p14:sldId id="264"/>
            <p14:sldId id="12203"/>
            <p14:sldId id="12902"/>
            <p14:sldId id="266"/>
            <p14:sldId id="267"/>
            <p14:sldId id="268"/>
            <p14:sldId id="269"/>
            <p14:sldId id="270"/>
            <p14:sldId id="2147483611"/>
            <p14:sldId id="332"/>
            <p14:sldId id="2147472200"/>
            <p14:sldId id="429"/>
            <p14:sldId id="2147473605"/>
            <p14:sldId id="2147473591"/>
            <p14:sldId id="2147473599"/>
            <p14:sldId id="2147473598"/>
            <p14:sldId id="2147473600"/>
            <p14:sldId id="2147378897"/>
            <p14:sldId id="2147473601"/>
            <p14:sldId id="2147483593"/>
            <p14:sldId id="314"/>
            <p14:sldId id="2147483598"/>
            <p14:sldId id="2147483599"/>
            <p14:sldId id="2147483600"/>
            <p14:sldId id="258"/>
            <p14:sldId id="2147483596"/>
            <p14:sldId id="2147483597"/>
            <p14:sldId id="2147483626"/>
            <p14:sldId id="1760"/>
            <p14:sldId id="1761"/>
            <p14:sldId id="1762"/>
            <p14:sldId id="1763"/>
            <p14:sldId id="1764"/>
            <p14:sldId id="2147472717"/>
            <p14:sldId id="2147472698"/>
            <p14:sldId id="2147473815"/>
            <p14:sldId id="2147474266"/>
            <p14:sldId id="11437"/>
            <p14:sldId id="11408"/>
            <p14:sldId id="11409"/>
            <p14:sldId id="11414"/>
            <p14:sldId id="11413"/>
            <p14:sldId id="2147483637"/>
            <p14:sldId id="12224"/>
            <p14:sldId id="2147483624"/>
            <p14:sldId id="2147481885"/>
            <p14:sldId id="283"/>
            <p14:sldId id="289"/>
          </p14:sldIdLst>
        </p14:section>
      </p14:sectionLst>
    </p:ext>
    <p:ext uri="{EFAFB233-063F-42B5-8137-9DF3F51BA10A}">
      <p15:sldGuideLst xmlns:p15="http://schemas.microsoft.com/office/powerpoint/2012/main">
        <p15:guide id="3" orient="horz" pos="360" userDrawn="1">
          <p15:clr>
            <a:srgbClr val="A4A3A4"/>
          </p15:clr>
        </p15:guide>
        <p15:guide id="4" pos="7680" userDrawn="1">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BC5D0"/>
    <a:srgbClr val="565656"/>
    <a:srgbClr val="D9D9D9"/>
    <a:srgbClr val="2A6B2A"/>
    <a:srgbClr val="318C46"/>
    <a:srgbClr val="63A64E"/>
    <a:srgbClr val="60DB65"/>
    <a:srgbClr val="A8B21C"/>
    <a:srgbClr val="B1D352"/>
    <a:srgbClr val="29BA74"/>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9D7B26C5-4107-4FEC-AEDC-1716B250A1EF}" styleName="Light Style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 styleId="{5FD0F851-EC5A-4D38-B0AD-8093EC10F338}" styleName="Light Style 1 - Accent 5">
    <a:wholeTbl>
      <a:tcTxStyle>
        <a:fontRef idx="minor">
          <a:scrgbClr r="0" g="0" b="0"/>
        </a:fontRef>
        <a:schemeClr val="tx1"/>
      </a:tcTxStyle>
      <a:tcStyle>
        <a:tcBdr>
          <a:left>
            <a:ln>
              <a:noFill/>
            </a:ln>
          </a:left>
          <a:right>
            <a:ln>
              <a:noFill/>
            </a:ln>
          </a:right>
          <a:top>
            <a:ln w="12700" cmpd="sng">
              <a:solidFill>
                <a:schemeClr val="accent5"/>
              </a:solidFill>
            </a:ln>
          </a:top>
          <a:bottom>
            <a:ln w="12700" cmpd="sng">
              <a:solidFill>
                <a:schemeClr val="accent5"/>
              </a:solidFill>
            </a:ln>
          </a:bottom>
          <a:insideH>
            <a:ln>
              <a:noFill/>
            </a:ln>
          </a:insideH>
          <a:insideV>
            <a:ln>
              <a:noFill/>
            </a:ln>
          </a:insideV>
        </a:tcBdr>
        <a:fill>
          <a:noFill/>
        </a:fill>
      </a:tcStyle>
    </a:wholeTbl>
    <a:band1H>
      <a:tcStyle>
        <a:tcBdr/>
        <a:fill>
          <a:solidFill>
            <a:schemeClr val="accent5">
              <a:alpha val="20000"/>
            </a:schemeClr>
          </a:solidFill>
        </a:fill>
      </a:tcStyle>
    </a:band1H>
    <a:band2H>
      <a:tcStyle>
        <a:tcBdr/>
      </a:tcStyle>
    </a:band2H>
    <a:band1V>
      <a:tcStyle>
        <a:tcBdr/>
        <a:fill>
          <a:solidFill>
            <a:schemeClr val="accent5">
              <a:alpha val="20000"/>
            </a:schemeClr>
          </a:solidFill>
        </a:fill>
      </a:tcStyle>
    </a:band1V>
    <a:lastCol>
      <a:tcTxStyle b="on"/>
      <a:tcStyle>
        <a:tcBdr/>
      </a:tcStyle>
    </a:lastCol>
    <a:firstCol>
      <a:tcTxStyle b="on"/>
      <a:tcStyle>
        <a:tcBdr/>
      </a:tcStyle>
    </a:firstCol>
    <a:lastRow>
      <a:tcTxStyle b="on"/>
      <a:tcStyle>
        <a:tcBdr>
          <a:top>
            <a:ln w="12700" cmpd="sng">
              <a:solidFill>
                <a:schemeClr val="accent5"/>
              </a:solidFill>
            </a:ln>
          </a:top>
        </a:tcBdr>
        <a:fill>
          <a:noFill/>
        </a:fill>
      </a:tcStyle>
    </a:lastRow>
    <a:firstRow>
      <a:tcTxStyle b="on"/>
      <a:tcStyle>
        <a:tcBdr>
          <a:bottom>
            <a:ln w="12700" cmpd="sng">
              <a:solidFill>
                <a:schemeClr val="accent5"/>
              </a:solidFill>
            </a:ln>
          </a:bottom>
        </a:tcBdr>
        <a:fill>
          <a:noFill/>
        </a:fill>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11"/>
    <p:restoredTop sz="94681"/>
  </p:normalViewPr>
  <p:slideViewPr>
    <p:cSldViewPr snapToGrid="0">
      <p:cViewPr varScale="1">
        <p:scale>
          <a:sx n="116" d="100"/>
          <a:sy n="116" d="100"/>
        </p:scale>
        <p:origin x="440" y="176"/>
      </p:cViewPr>
      <p:guideLst>
        <p:guide orient="horz" pos="360"/>
        <p:guide pos="7680"/>
      </p:guideLst>
    </p:cSldViewPr>
  </p:slideViewPr>
  <p:notesTextViewPr>
    <p:cViewPr>
      <p:scale>
        <a:sx n="1" d="1"/>
        <a:sy n="1" d="1"/>
      </p:scale>
      <p:origin x="0" y="0"/>
    </p:cViewPr>
  </p:notesTextViewPr>
  <p:sorterViewPr>
    <p:cViewPr>
      <p:scale>
        <a:sx n="75" d="100"/>
        <a:sy n="75" d="100"/>
      </p:scale>
      <p:origin x="0" y="-2064"/>
    </p:cViewPr>
  </p:sorterViewPr>
  <p:notesViewPr>
    <p:cSldViewPr snapToGrid="0">
      <p:cViewPr>
        <p:scale>
          <a:sx n="1" d="2"/>
          <a:sy n="1" d="2"/>
        </p:scale>
        <p:origin x="0" y="0"/>
      </p:cViewPr>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0.xml"/><Relationship Id="rId21" Type="http://schemas.openxmlformats.org/officeDocument/2006/relationships/slide" Target="slides/slide15.xml"/><Relationship Id="rId42" Type="http://schemas.openxmlformats.org/officeDocument/2006/relationships/slide" Target="slides/slide36.xml"/><Relationship Id="rId47" Type="http://schemas.openxmlformats.org/officeDocument/2006/relationships/slide" Target="slides/slide41.xml"/><Relationship Id="rId63" Type="http://schemas.openxmlformats.org/officeDocument/2006/relationships/slide" Target="slides/slide57.xml"/><Relationship Id="rId68" Type="http://schemas.openxmlformats.org/officeDocument/2006/relationships/slide" Target="slides/slide62.xml"/><Relationship Id="rId84" Type="http://schemas.openxmlformats.org/officeDocument/2006/relationships/slide" Target="slides/slide78.xml"/><Relationship Id="rId89" Type="http://schemas.openxmlformats.org/officeDocument/2006/relationships/slide" Target="slides/slide83.xml"/><Relationship Id="rId16" Type="http://schemas.openxmlformats.org/officeDocument/2006/relationships/slide" Target="slides/slide10.xml"/><Relationship Id="rId107" Type="http://schemas.openxmlformats.org/officeDocument/2006/relationships/tableStyles" Target="tableStyles.xml"/><Relationship Id="rId11" Type="http://schemas.openxmlformats.org/officeDocument/2006/relationships/slide" Target="slides/slide5.xml"/><Relationship Id="rId32" Type="http://schemas.openxmlformats.org/officeDocument/2006/relationships/slide" Target="slides/slide26.xml"/><Relationship Id="rId37" Type="http://schemas.openxmlformats.org/officeDocument/2006/relationships/slide" Target="slides/slide31.xml"/><Relationship Id="rId53" Type="http://schemas.openxmlformats.org/officeDocument/2006/relationships/slide" Target="slides/slide47.xml"/><Relationship Id="rId58" Type="http://schemas.openxmlformats.org/officeDocument/2006/relationships/slide" Target="slides/slide52.xml"/><Relationship Id="rId74" Type="http://schemas.openxmlformats.org/officeDocument/2006/relationships/slide" Target="slides/slide68.xml"/><Relationship Id="rId79" Type="http://schemas.openxmlformats.org/officeDocument/2006/relationships/slide" Target="slides/slide73.xml"/><Relationship Id="rId102" Type="http://schemas.openxmlformats.org/officeDocument/2006/relationships/handoutMaster" Target="handoutMasters/handoutMaster1.xml"/><Relationship Id="rId5" Type="http://schemas.openxmlformats.org/officeDocument/2006/relationships/slideMaster" Target="slideMasters/slideMaster2.xml"/><Relationship Id="rId90" Type="http://schemas.openxmlformats.org/officeDocument/2006/relationships/slide" Target="slides/slide84.xml"/><Relationship Id="rId95" Type="http://schemas.openxmlformats.org/officeDocument/2006/relationships/slide" Target="slides/slide89.xml"/><Relationship Id="rId22" Type="http://schemas.openxmlformats.org/officeDocument/2006/relationships/slide" Target="slides/slide16.xml"/><Relationship Id="rId27" Type="http://schemas.openxmlformats.org/officeDocument/2006/relationships/slide" Target="slides/slide21.xml"/><Relationship Id="rId43" Type="http://schemas.openxmlformats.org/officeDocument/2006/relationships/slide" Target="slides/slide37.xml"/><Relationship Id="rId48" Type="http://schemas.openxmlformats.org/officeDocument/2006/relationships/slide" Target="slides/slide42.xml"/><Relationship Id="rId64" Type="http://schemas.openxmlformats.org/officeDocument/2006/relationships/slide" Target="slides/slide58.xml"/><Relationship Id="rId69" Type="http://schemas.openxmlformats.org/officeDocument/2006/relationships/slide" Target="slides/slide63.xml"/><Relationship Id="rId80" Type="http://schemas.openxmlformats.org/officeDocument/2006/relationships/slide" Target="slides/slide74.xml"/><Relationship Id="rId85" Type="http://schemas.openxmlformats.org/officeDocument/2006/relationships/slide" Target="slides/slide79.xml"/><Relationship Id="rId12" Type="http://schemas.openxmlformats.org/officeDocument/2006/relationships/slide" Target="slides/slide6.xml"/><Relationship Id="rId17" Type="http://schemas.openxmlformats.org/officeDocument/2006/relationships/slide" Target="slides/slide11.xml"/><Relationship Id="rId33" Type="http://schemas.openxmlformats.org/officeDocument/2006/relationships/slide" Target="slides/slide27.xml"/><Relationship Id="rId38" Type="http://schemas.openxmlformats.org/officeDocument/2006/relationships/slide" Target="slides/slide32.xml"/><Relationship Id="rId59" Type="http://schemas.openxmlformats.org/officeDocument/2006/relationships/slide" Target="slides/slide53.xml"/><Relationship Id="rId103" Type="http://schemas.openxmlformats.org/officeDocument/2006/relationships/tags" Target="tags/tag1.xml"/><Relationship Id="rId20" Type="http://schemas.openxmlformats.org/officeDocument/2006/relationships/slide" Target="slides/slide14.xml"/><Relationship Id="rId41" Type="http://schemas.openxmlformats.org/officeDocument/2006/relationships/slide" Target="slides/slide35.xml"/><Relationship Id="rId54" Type="http://schemas.openxmlformats.org/officeDocument/2006/relationships/slide" Target="slides/slide48.xml"/><Relationship Id="rId62" Type="http://schemas.openxmlformats.org/officeDocument/2006/relationships/slide" Target="slides/slide56.xml"/><Relationship Id="rId70" Type="http://schemas.openxmlformats.org/officeDocument/2006/relationships/slide" Target="slides/slide64.xml"/><Relationship Id="rId75" Type="http://schemas.openxmlformats.org/officeDocument/2006/relationships/slide" Target="slides/slide69.xml"/><Relationship Id="rId83" Type="http://schemas.openxmlformats.org/officeDocument/2006/relationships/slide" Target="slides/slide77.xml"/><Relationship Id="rId88" Type="http://schemas.openxmlformats.org/officeDocument/2006/relationships/slide" Target="slides/slide82.xml"/><Relationship Id="rId91" Type="http://schemas.openxmlformats.org/officeDocument/2006/relationships/slide" Target="slides/slide85.xml"/><Relationship Id="rId96" Type="http://schemas.openxmlformats.org/officeDocument/2006/relationships/slide" Target="slides/slide90.xml"/><Relationship Id="rId1" Type="http://schemas.openxmlformats.org/officeDocument/2006/relationships/customXml" Target="../customXml/item1.xml"/><Relationship Id="rId6" Type="http://schemas.openxmlformats.org/officeDocument/2006/relationships/slideMaster" Target="slideMasters/slideMaster3.xml"/><Relationship Id="rId15" Type="http://schemas.openxmlformats.org/officeDocument/2006/relationships/slide" Target="slides/slide9.xml"/><Relationship Id="rId23" Type="http://schemas.openxmlformats.org/officeDocument/2006/relationships/slide" Target="slides/slide17.xml"/><Relationship Id="rId28" Type="http://schemas.openxmlformats.org/officeDocument/2006/relationships/slide" Target="slides/slide22.xml"/><Relationship Id="rId36" Type="http://schemas.openxmlformats.org/officeDocument/2006/relationships/slide" Target="slides/slide30.xml"/><Relationship Id="rId49" Type="http://schemas.openxmlformats.org/officeDocument/2006/relationships/slide" Target="slides/slide43.xml"/><Relationship Id="rId57" Type="http://schemas.openxmlformats.org/officeDocument/2006/relationships/slide" Target="slides/slide51.xml"/><Relationship Id="rId106" Type="http://schemas.openxmlformats.org/officeDocument/2006/relationships/theme" Target="theme/theme1.xml"/><Relationship Id="rId10" Type="http://schemas.openxmlformats.org/officeDocument/2006/relationships/slide" Target="slides/slide4.xml"/><Relationship Id="rId31" Type="http://schemas.openxmlformats.org/officeDocument/2006/relationships/slide" Target="slides/slide25.xml"/><Relationship Id="rId44" Type="http://schemas.openxmlformats.org/officeDocument/2006/relationships/slide" Target="slides/slide38.xml"/><Relationship Id="rId52" Type="http://schemas.openxmlformats.org/officeDocument/2006/relationships/slide" Target="slides/slide46.xml"/><Relationship Id="rId60" Type="http://schemas.openxmlformats.org/officeDocument/2006/relationships/slide" Target="slides/slide54.xml"/><Relationship Id="rId65" Type="http://schemas.openxmlformats.org/officeDocument/2006/relationships/slide" Target="slides/slide59.xml"/><Relationship Id="rId73" Type="http://schemas.openxmlformats.org/officeDocument/2006/relationships/slide" Target="slides/slide67.xml"/><Relationship Id="rId78" Type="http://schemas.openxmlformats.org/officeDocument/2006/relationships/slide" Target="slides/slide72.xml"/><Relationship Id="rId81" Type="http://schemas.openxmlformats.org/officeDocument/2006/relationships/slide" Target="slides/slide75.xml"/><Relationship Id="rId86" Type="http://schemas.openxmlformats.org/officeDocument/2006/relationships/slide" Target="slides/slide80.xml"/><Relationship Id="rId94" Type="http://schemas.openxmlformats.org/officeDocument/2006/relationships/slide" Target="slides/slide88.xml"/><Relationship Id="rId99" Type="http://schemas.openxmlformats.org/officeDocument/2006/relationships/slide" Target="slides/slide93.xml"/><Relationship Id="rId101" Type="http://schemas.openxmlformats.org/officeDocument/2006/relationships/notesMaster" Target="notesMasters/notesMaster1.xml"/><Relationship Id="rId4" Type="http://schemas.openxmlformats.org/officeDocument/2006/relationships/slideMaster" Target="slideMasters/slideMaster1.xml"/><Relationship Id="rId9" Type="http://schemas.openxmlformats.org/officeDocument/2006/relationships/slide" Target="slides/slide3.xml"/><Relationship Id="rId13" Type="http://schemas.openxmlformats.org/officeDocument/2006/relationships/slide" Target="slides/slide7.xml"/><Relationship Id="rId18" Type="http://schemas.openxmlformats.org/officeDocument/2006/relationships/slide" Target="slides/slide12.xml"/><Relationship Id="rId39" Type="http://schemas.openxmlformats.org/officeDocument/2006/relationships/slide" Target="slides/slide33.xml"/><Relationship Id="rId34" Type="http://schemas.openxmlformats.org/officeDocument/2006/relationships/slide" Target="slides/slide28.xml"/><Relationship Id="rId50" Type="http://schemas.openxmlformats.org/officeDocument/2006/relationships/slide" Target="slides/slide44.xml"/><Relationship Id="rId55" Type="http://schemas.openxmlformats.org/officeDocument/2006/relationships/slide" Target="slides/slide49.xml"/><Relationship Id="rId76" Type="http://schemas.openxmlformats.org/officeDocument/2006/relationships/slide" Target="slides/slide70.xml"/><Relationship Id="rId97" Type="http://schemas.openxmlformats.org/officeDocument/2006/relationships/slide" Target="slides/slide91.xml"/><Relationship Id="rId104" Type="http://schemas.openxmlformats.org/officeDocument/2006/relationships/presProps" Target="presProps.xml"/><Relationship Id="rId7" Type="http://schemas.openxmlformats.org/officeDocument/2006/relationships/slide" Target="slides/slide1.xml"/><Relationship Id="rId71" Type="http://schemas.openxmlformats.org/officeDocument/2006/relationships/slide" Target="slides/slide65.xml"/><Relationship Id="rId92" Type="http://schemas.openxmlformats.org/officeDocument/2006/relationships/slide" Target="slides/slide86.xml"/><Relationship Id="rId2" Type="http://schemas.openxmlformats.org/officeDocument/2006/relationships/customXml" Target="../customXml/item2.xml"/><Relationship Id="rId29" Type="http://schemas.openxmlformats.org/officeDocument/2006/relationships/slide" Target="slides/slide23.xml"/><Relationship Id="rId24" Type="http://schemas.openxmlformats.org/officeDocument/2006/relationships/slide" Target="slides/slide18.xml"/><Relationship Id="rId40" Type="http://schemas.openxmlformats.org/officeDocument/2006/relationships/slide" Target="slides/slide34.xml"/><Relationship Id="rId45" Type="http://schemas.openxmlformats.org/officeDocument/2006/relationships/slide" Target="slides/slide39.xml"/><Relationship Id="rId66" Type="http://schemas.openxmlformats.org/officeDocument/2006/relationships/slide" Target="slides/slide60.xml"/><Relationship Id="rId87" Type="http://schemas.openxmlformats.org/officeDocument/2006/relationships/slide" Target="slides/slide81.xml"/><Relationship Id="rId61" Type="http://schemas.openxmlformats.org/officeDocument/2006/relationships/slide" Target="slides/slide55.xml"/><Relationship Id="rId82" Type="http://schemas.openxmlformats.org/officeDocument/2006/relationships/slide" Target="slides/slide76.xml"/><Relationship Id="rId19" Type="http://schemas.openxmlformats.org/officeDocument/2006/relationships/slide" Target="slides/slide13.xml"/><Relationship Id="rId14" Type="http://schemas.openxmlformats.org/officeDocument/2006/relationships/slide" Target="slides/slide8.xml"/><Relationship Id="rId30" Type="http://schemas.openxmlformats.org/officeDocument/2006/relationships/slide" Target="slides/slide24.xml"/><Relationship Id="rId35" Type="http://schemas.openxmlformats.org/officeDocument/2006/relationships/slide" Target="slides/slide29.xml"/><Relationship Id="rId56" Type="http://schemas.openxmlformats.org/officeDocument/2006/relationships/slide" Target="slides/slide50.xml"/><Relationship Id="rId77" Type="http://schemas.openxmlformats.org/officeDocument/2006/relationships/slide" Target="slides/slide71.xml"/><Relationship Id="rId100" Type="http://schemas.openxmlformats.org/officeDocument/2006/relationships/slide" Target="slides/slide94.xml"/><Relationship Id="rId105" Type="http://schemas.openxmlformats.org/officeDocument/2006/relationships/viewProps" Target="viewProps.xml"/><Relationship Id="rId8" Type="http://schemas.openxmlformats.org/officeDocument/2006/relationships/slide" Target="slides/slide2.xml"/><Relationship Id="rId51" Type="http://schemas.openxmlformats.org/officeDocument/2006/relationships/slide" Target="slides/slide45.xml"/><Relationship Id="rId72" Type="http://schemas.openxmlformats.org/officeDocument/2006/relationships/slide" Target="slides/slide66.xml"/><Relationship Id="rId93" Type="http://schemas.openxmlformats.org/officeDocument/2006/relationships/slide" Target="slides/slide87.xml"/><Relationship Id="rId98" Type="http://schemas.openxmlformats.org/officeDocument/2006/relationships/slide" Target="slides/slide92.xml"/><Relationship Id="rId3" Type="http://schemas.openxmlformats.org/officeDocument/2006/relationships/customXml" Target="../customXml/item3.xml"/><Relationship Id="rId25" Type="http://schemas.openxmlformats.org/officeDocument/2006/relationships/slide" Target="slides/slide19.xml"/><Relationship Id="rId46" Type="http://schemas.openxmlformats.org/officeDocument/2006/relationships/slide" Target="slides/slide40.xml"/><Relationship Id="rId67" Type="http://schemas.openxmlformats.org/officeDocument/2006/relationships/slide" Target="slides/slide61.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______.xlsb"/></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______1.xlsb"/></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______2.xlsb"/></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______3.xlsb"/></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______4.xlsb"/></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______5.xlsb"/></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______6.xlsb"/></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______7.xlsb"/></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______8.xlsb"/></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TW"/>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5.2578361981799798E-2"/>
          <c:y val="2.688728024819028E-2"/>
          <c:w val="0.89484327603640046"/>
          <c:h val="0.94364012409513964"/>
        </c:manualLayout>
      </c:layout>
      <c:barChart>
        <c:barDir val="col"/>
        <c:grouping val="stacked"/>
        <c:varyColors val="0"/>
        <c:ser>
          <c:idx val="0"/>
          <c:order val="0"/>
          <c:spPr>
            <a:solidFill>
              <a:srgbClr val="2A6B2A"/>
            </a:solidFill>
            <a:ln>
              <a:noFill/>
            </a:ln>
          </c:spPr>
          <c:invertIfNegative val="0"/>
          <c:val>
            <c:numRef>
              <c:f>Sheet1!$A$1</c:f>
              <c:numCache>
                <c:formatCode>General</c:formatCode>
                <c:ptCount val="1"/>
                <c:pt idx="0">
                  <c:v>112682</c:v>
                </c:pt>
              </c:numCache>
            </c:numRef>
          </c:val>
          <c:extLst>
            <c:ext xmlns:c16="http://schemas.microsoft.com/office/drawing/2014/chart" uri="{C3380CC4-5D6E-409C-BE32-E72D297353CC}">
              <c16:uniqueId val="{00000000-426E-474F-89AB-161AC47A6B4D}"/>
            </c:ext>
          </c:extLst>
        </c:ser>
        <c:ser>
          <c:idx val="1"/>
          <c:order val="1"/>
          <c:spPr>
            <a:solidFill>
              <a:srgbClr val="318C46"/>
            </a:solidFill>
            <a:ln>
              <a:noFill/>
            </a:ln>
          </c:spPr>
          <c:invertIfNegative val="0"/>
          <c:val>
            <c:numRef>
              <c:f>Sheet1!$A$2</c:f>
              <c:numCache>
                <c:formatCode>General</c:formatCode>
                <c:ptCount val="1"/>
                <c:pt idx="0">
                  <c:v>675789</c:v>
                </c:pt>
              </c:numCache>
            </c:numRef>
          </c:val>
          <c:extLst>
            <c:ext xmlns:c16="http://schemas.microsoft.com/office/drawing/2014/chart" uri="{C3380CC4-5D6E-409C-BE32-E72D297353CC}">
              <c16:uniqueId val="{00000001-426E-474F-89AB-161AC47A6B4D}"/>
            </c:ext>
          </c:extLst>
        </c:ser>
        <c:ser>
          <c:idx val="2"/>
          <c:order val="2"/>
          <c:spPr>
            <a:solidFill>
              <a:srgbClr val="29BA74"/>
            </a:solidFill>
            <a:ln>
              <a:noFill/>
            </a:ln>
          </c:spPr>
          <c:invertIfNegative val="0"/>
          <c:val>
            <c:numRef>
              <c:f>Sheet1!$A$3</c:f>
              <c:numCache>
                <c:formatCode>General</c:formatCode>
                <c:ptCount val="1"/>
                <c:pt idx="0">
                  <c:v>13340</c:v>
                </c:pt>
              </c:numCache>
            </c:numRef>
          </c:val>
          <c:extLst>
            <c:ext xmlns:c16="http://schemas.microsoft.com/office/drawing/2014/chart" uri="{C3380CC4-5D6E-409C-BE32-E72D297353CC}">
              <c16:uniqueId val="{00000002-426E-474F-89AB-161AC47A6B4D}"/>
            </c:ext>
          </c:extLst>
        </c:ser>
        <c:dLbls>
          <c:showLegendKey val="0"/>
          <c:showVal val="0"/>
          <c:showCatName val="0"/>
          <c:showSerName val="0"/>
          <c:showPercent val="0"/>
          <c:showBubbleSize val="0"/>
        </c:dLbls>
        <c:gapWidth val="60"/>
        <c:overlap val="100"/>
        <c:axId val="1931536815"/>
        <c:axId val="1"/>
      </c:barChart>
      <c:catAx>
        <c:axId val="1931536815"/>
        <c:scaling>
          <c:orientation val="minMax"/>
        </c:scaling>
        <c:delete val="0"/>
        <c:axPos val="b"/>
        <c:majorGridlines>
          <c:spPr>
            <a:ln>
              <a:noFill/>
            </a:ln>
          </c:spPr>
        </c:majorGridlines>
        <c:majorTickMark val="none"/>
        <c:minorTickMark val="none"/>
        <c:tickLblPos val="none"/>
        <c:spPr>
          <a:ln w="9525" cmpd="sng" algn="ctr">
            <a:solidFill>
              <a:srgbClr val="7F7F7F"/>
            </a:solidFill>
            <a:prstDash val="solid"/>
          </a:ln>
        </c:spPr>
        <c:crossAx val="1"/>
        <c:crosses val="min"/>
        <c:auto val="0"/>
        <c:lblAlgn val="ctr"/>
        <c:lblOffset val="100"/>
        <c:noMultiLvlLbl val="0"/>
      </c:catAx>
      <c:valAx>
        <c:axId val="1"/>
        <c:scaling>
          <c:orientation val="minMax"/>
          <c:max val="801811"/>
          <c:min val="0"/>
        </c:scaling>
        <c:delete val="1"/>
        <c:axPos val="l"/>
        <c:numFmt formatCode="General" sourceLinked="1"/>
        <c:majorTickMark val="out"/>
        <c:minorTickMark val="none"/>
        <c:tickLblPos val="nextTo"/>
        <c:crossAx val="1931536815"/>
        <c:crosses val="min"/>
        <c:crossBetween val="between"/>
      </c:valAx>
    </c:plotArea>
    <c:plotVisOnly val="0"/>
    <c:dispBlanksAs val="gap"/>
    <c:showDLblsOverMax val="1"/>
  </c:chart>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TW"/>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6.3119345109866443E-2"/>
          <c:y val="5.3293112116641526E-2"/>
          <c:w val="0.91275312365359762"/>
          <c:h val="0.84012066365007543"/>
        </c:manualLayout>
      </c:layout>
      <c:scatterChart>
        <c:scatterStyle val="lineMarker"/>
        <c:varyColors val="0"/>
        <c:ser>
          <c:idx val="0"/>
          <c:order val="0"/>
          <c:spPr>
            <a:ln w="38100" cmpd="sng" algn="ctr">
              <a:solidFill>
                <a:schemeClr val="tx2"/>
              </a:solidFill>
              <a:prstDash val="solid"/>
            </a:ln>
          </c:spPr>
          <c:marker>
            <c:symbol val="circle"/>
            <c:size val="4"/>
            <c:spPr>
              <a:solidFill>
                <a:schemeClr val="tx2"/>
              </a:solidFill>
              <a:ln w="9525" cmpd="sng" algn="ctr">
                <a:solidFill>
                  <a:schemeClr val="tx2"/>
                </a:solidFill>
                <a:prstDash val="solid"/>
              </a:ln>
            </c:spPr>
          </c:marker>
          <c:dPt>
            <c:idx val="0"/>
            <c:marker>
              <c:symbol val="none"/>
            </c:marker>
            <c:bubble3D val="0"/>
            <c:extLst>
              <c:ext xmlns:c16="http://schemas.microsoft.com/office/drawing/2014/chart" uri="{C3380CC4-5D6E-409C-BE32-E72D297353CC}">
                <c16:uniqueId val="{00000000-9637-43CF-9FD3-921C1638D45F}"/>
              </c:ext>
            </c:extLst>
          </c:dPt>
          <c:dPt>
            <c:idx val="1"/>
            <c:marker>
              <c:symbol val="none"/>
            </c:marker>
            <c:bubble3D val="0"/>
            <c:extLst>
              <c:ext xmlns:c16="http://schemas.microsoft.com/office/drawing/2014/chart" uri="{C3380CC4-5D6E-409C-BE32-E72D297353CC}">
                <c16:uniqueId val="{00000001-9637-43CF-9FD3-921C1638D45F}"/>
              </c:ext>
            </c:extLst>
          </c:dPt>
          <c:dPt>
            <c:idx val="2"/>
            <c:marker>
              <c:symbol val="none"/>
            </c:marker>
            <c:bubble3D val="0"/>
            <c:extLst>
              <c:ext xmlns:c16="http://schemas.microsoft.com/office/drawing/2014/chart" uri="{C3380CC4-5D6E-409C-BE32-E72D297353CC}">
                <c16:uniqueId val="{00000002-9637-43CF-9FD3-921C1638D45F}"/>
              </c:ext>
            </c:extLst>
          </c:dPt>
          <c:dPt>
            <c:idx val="3"/>
            <c:marker>
              <c:symbol val="none"/>
            </c:marker>
            <c:bubble3D val="0"/>
            <c:extLst>
              <c:ext xmlns:c16="http://schemas.microsoft.com/office/drawing/2014/chart" uri="{C3380CC4-5D6E-409C-BE32-E72D297353CC}">
                <c16:uniqueId val="{00000003-9637-43CF-9FD3-921C1638D45F}"/>
              </c:ext>
            </c:extLst>
          </c:dPt>
          <c:dPt>
            <c:idx val="4"/>
            <c:marker>
              <c:symbol val="circle"/>
              <c:size val="5"/>
            </c:marker>
            <c:bubble3D val="0"/>
            <c:extLst>
              <c:ext xmlns:c16="http://schemas.microsoft.com/office/drawing/2014/chart" uri="{C3380CC4-5D6E-409C-BE32-E72D297353CC}">
                <c16:uniqueId val="{00000004-9637-43CF-9FD3-921C1638D45F}"/>
              </c:ext>
            </c:extLst>
          </c:dPt>
          <c:dPt>
            <c:idx val="5"/>
            <c:marker>
              <c:symbol val="circle"/>
              <c:size val="5"/>
            </c:marker>
            <c:bubble3D val="0"/>
            <c:extLst>
              <c:ext xmlns:c16="http://schemas.microsoft.com/office/drawing/2014/chart" uri="{C3380CC4-5D6E-409C-BE32-E72D297353CC}">
                <c16:uniqueId val="{00000005-9637-43CF-9FD3-921C1638D45F}"/>
              </c:ext>
            </c:extLst>
          </c:dPt>
          <c:dPt>
            <c:idx val="6"/>
            <c:marker>
              <c:symbol val="circle"/>
              <c:size val="5"/>
            </c:marker>
            <c:bubble3D val="0"/>
            <c:extLst>
              <c:ext xmlns:c16="http://schemas.microsoft.com/office/drawing/2014/chart" uri="{C3380CC4-5D6E-409C-BE32-E72D297353CC}">
                <c16:uniqueId val="{00000006-9637-43CF-9FD3-921C1638D45F}"/>
              </c:ext>
            </c:extLst>
          </c:dPt>
          <c:dPt>
            <c:idx val="7"/>
            <c:marker>
              <c:symbol val="circle"/>
              <c:size val="5"/>
            </c:marker>
            <c:bubble3D val="0"/>
            <c:extLst>
              <c:ext xmlns:c16="http://schemas.microsoft.com/office/drawing/2014/chart" uri="{C3380CC4-5D6E-409C-BE32-E72D297353CC}">
                <c16:uniqueId val="{00000007-9637-43CF-9FD3-921C1638D45F}"/>
              </c:ext>
            </c:extLst>
          </c:dPt>
          <c:xVal>
            <c:numRef>
              <c:f>Sheet1!$A$1:$H$1</c:f>
              <c:numCache>
                <c:formatCode>General</c:formatCode>
                <c:ptCount val="8"/>
                <c:pt idx="0">
                  <c:v>1</c:v>
                </c:pt>
                <c:pt idx="1">
                  <c:v>2</c:v>
                </c:pt>
                <c:pt idx="2">
                  <c:v>3</c:v>
                </c:pt>
                <c:pt idx="3">
                  <c:v>4</c:v>
                </c:pt>
                <c:pt idx="4">
                  <c:v>5</c:v>
                </c:pt>
                <c:pt idx="5">
                  <c:v>6</c:v>
                </c:pt>
                <c:pt idx="6">
                  <c:v>7</c:v>
                </c:pt>
                <c:pt idx="7">
                  <c:v>8</c:v>
                </c:pt>
              </c:numCache>
            </c:numRef>
          </c:xVal>
          <c:yVal>
            <c:numRef>
              <c:f>Sheet1!$A$2:$H$2</c:f>
              <c:numCache>
                <c:formatCode>General</c:formatCode>
                <c:ptCount val="8"/>
                <c:pt idx="4">
                  <c:v>100</c:v>
                </c:pt>
                <c:pt idx="5">
                  <c:v>148.7179487179487</c:v>
                </c:pt>
                <c:pt idx="6">
                  <c:v>189.74358974358972</c:v>
                </c:pt>
                <c:pt idx="7">
                  <c:v>169.23076923076923</c:v>
                </c:pt>
              </c:numCache>
            </c:numRef>
          </c:yVal>
          <c:smooth val="0"/>
          <c:extLst>
            <c:ext xmlns:c16="http://schemas.microsoft.com/office/drawing/2014/chart" uri="{C3380CC4-5D6E-409C-BE32-E72D297353CC}">
              <c16:uniqueId val="{00000008-9637-43CF-9FD3-921C1638D45F}"/>
            </c:ext>
          </c:extLst>
        </c:ser>
        <c:ser>
          <c:idx val="1"/>
          <c:order val="1"/>
          <c:spPr>
            <a:ln w="38100" cmpd="sng" algn="ctr">
              <a:solidFill>
                <a:schemeClr val="tx1"/>
              </a:solidFill>
              <a:prstDash val="solid"/>
            </a:ln>
          </c:spPr>
          <c:marker>
            <c:symbol val="square"/>
            <c:size val="4"/>
            <c:spPr>
              <a:solidFill>
                <a:schemeClr val="tx1"/>
              </a:solidFill>
              <a:ln w="9525" cmpd="sng" algn="ctr">
                <a:solidFill>
                  <a:schemeClr val="tx1"/>
                </a:solidFill>
                <a:prstDash val="solid"/>
              </a:ln>
            </c:spPr>
          </c:marker>
          <c:dPt>
            <c:idx val="0"/>
            <c:marker>
              <c:symbol val="none"/>
            </c:marker>
            <c:bubble3D val="0"/>
            <c:extLst>
              <c:ext xmlns:c16="http://schemas.microsoft.com/office/drawing/2014/chart" uri="{C3380CC4-5D6E-409C-BE32-E72D297353CC}">
                <c16:uniqueId val="{00000009-9637-43CF-9FD3-921C1638D45F}"/>
              </c:ext>
            </c:extLst>
          </c:dPt>
          <c:dPt>
            <c:idx val="1"/>
            <c:marker>
              <c:symbol val="none"/>
            </c:marker>
            <c:bubble3D val="0"/>
            <c:extLst>
              <c:ext xmlns:c16="http://schemas.microsoft.com/office/drawing/2014/chart" uri="{C3380CC4-5D6E-409C-BE32-E72D297353CC}">
                <c16:uniqueId val="{0000000A-9637-43CF-9FD3-921C1638D45F}"/>
              </c:ext>
            </c:extLst>
          </c:dPt>
          <c:dPt>
            <c:idx val="2"/>
            <c:marker>
              <c:symbol val="none"/>
            </c:marker>
            <c:bubble3D val="0"/>
            <c:extLst>
              <c:ext xmlns:c16="http://schemas.microsoft.com/office/drawing/2014/chart" uri="{C3380CC4-5D6E-409C-BE32-E72D297353CC}">
                <c16:uniqueId val="{0000000B-9637-43CF-9FD3-921C1638D45F}"/>
              </c:ext>
            </c:extLst>
          </c:dPt>
          <c:dPt>
            <c:idx val="3"/>
            <c:marker>
              <c:symbol val="none"/>
            </c:marker>
            <c:bubble3D val="0"/>
            <c:extLst>
              <c:ext xmlns:c16="http://schemas.microsoft.com/office/drawing/2014/chart" uri="{C3380CC4-5D6E-409C-BE32-E72D297353CC}">
                <c16:uniqueId val="{0000000C-9637-43CF-9FD3-921C1638D45F}"/>
              </c:ext>
            </c:extLst>
          </c:dPt>
          <c:dPt>
            <c:idx val="4"/>
            <c:marker>
              <c:symbol val="square"/>
              <c:size val="5"/>
            </c:marker>
            <c:bubble3D val="0"/>
            <c:extLst>
              <c:ext xmlns:c16="http://schemas.microsoft.com/office/drawing/2014/chart" uri="{C3380CC4-5D6E-409C-BE32-E72D297353CC}">
                <c16:uniqueId val="{0000000D-9637-43CF-9FD3-921C1638D45F}"/>
              </c:ext>
            </c:extLst>
          </c:dPt>
          <c:dPt>
            <c:idx val="5"/>
            <c:marker>
              <c:symbol val="square"/>
              <c:size val="5"/>
            </c:marker>
            <c:bubble3D val="0"/>
            <c:extLst>
              <c:ext xmlns:c16="http://schemas.microsoft.com/office/drawing/2014/chart" uri="{C3380CC4-5D6E-409C-BE32-E72D297353CC}">
                <c16:uniqueId val="{0000000E-9637-43CF-9FD3-921C1638D45F}"/>
              </c:ext>
            </c:extLst>
          </c:dPt>
          <c:dPt>
            <c:idx val="6"/>
            <c:marker>
              <c:symbol val="square"/>
              <c:size val="5"/>
            </c:marker>
            <c:bubble3D val="0"/>
            <c:extLst>
              <c:ext xmlns:c16="http://schemas.microsoft.com/office/drawing/2014/chart" uri="{C3380CC4-5D6E-409C-BE32-E72D297353CC}">
                <c16:uniqueId val="{0000000F-9637-43CF-9FD3-921C1638D45F}"/>
              </c:ext>
            </c:extLst>
          </c:dPt>
          <c:dPt>
            <c:idx val="7"/>
            <c:marker>
              <c:symbol val="square"/>
              <c:size val="5"/>
            </c:marker>
            <c:bubble3D val="0"/>
            <c:extLst>
              <c:ext xmlns:c16="http://schemas.microsoft.com/office/drawing/2014/chart" uri="{C3380CC4-5D6E-409C-BE32-E72D297353CC}">
                <c16:uniqueId val="{00000010-9637-43CF-9FD3-921C1638D45F}"/>
              </c:ext>
            </c:extLst>
          </c:dPt>
          <c:xVal>
            <c:numRef>
              <c:f>Sheet1!$A$1:$H$1</c:f>
              <c:numCache>
                <c:formatCode>General</c:formatCode>
                <c:ptCount val="8"/>
                <c:pt idx="0">
                  <c:v>1</c:v>
                </c:pt>
                <c:pt idx="1">
                  <c:v>2</c:v>
                </c:pt>
                <c:pt idx="2">
                  <c:v>3</c:v>
                </c:pt>
                <c:pt idx="3">
                  <c:v>4</c:v>
                </c:pt>
                <c:pt idx="4">
                  <c:v>5</c:v>
                </c:pt>
                <c:pt idx="5">
                  <c:v>6</c:v>
                </c:pt>
                <c:pt idx="6">
                  <c:v>7</c:v>
                </c:pt>
                <c:pt idx="7">
                  <c:v>8</c:v>
                </c:pt>
              </c:numCache>
            </c:numRef>
          </c:xVal>
          <c:yVal>
            <c:numRef>
              <c:f>Sheet1!$A$3:$H$3</c:f>
              <c:numCache>
                <c:formatCode>General</c:formatCode>
                <c:ptCount val="8"/>
                <c:pt idx="4">
                  <c:v>100</c:v>
                </c:pt>
                <c:pt idx="5">
                  <c:v>138.46153846153845</c:v>
                </c:pt>
                <c:pt idx="6">
                  <c:v>138.46153846153845</c:v>
                </c:pt>
                <c:pt idx="7">
                  <c:v>92.307692307692307</c:v>
                </c:pt>
              </c:numCache>
            </c:numRef>
          </c:yVal>
          <c:smooth val="0"/>
          <c:extLst>
            <c:ext xmlns:c16="http://schemas.microsoft.com/office/drawing/2014/chart" uri="{C3380CC4-5D6E-409C-BE32-E72D297353CC}">
              <c16:uniqueId val="{00000011-9637-43CF-9FD3-921C1638D45F}"/>
            </c:ext>
          </c:extLst>
        </c:ser>
        <c:ser>
          <c:idx val="2"/>
          <c:order val="2"/>
          <c:spPr>
            <a:ln w="38100" cmpd="sng" algn="ctr">
              <a:solidFill>
                <a:srgbClr val="9A9A9A"/>
              </a:solidFill>
              <a:prstDash val="solid"/>
            </a:ln>
          </c:spPr>
          <c:marker>
            <c:symbol val="triangle"/>
            <c:size val="4"/>
            <c:spPr>
              <a:solidFill>
                <a:srgbClr val="9A9A9A"/>
              </a:solidFill>
              <a:ln w="9525" cmpd="sng" algn="ctr">
                <a:solidFill>
                  <a:srgbClr val="9A9A9A"/>
                </a:solidFill>
                <a:prstDash val="solid"/>
              </a:ln>
            </c:spPr>
          </c:marker>
          <c:dPt>
            <c:idx val="0"/>
            <c:marker>
              <c:symbol val="triangle"/>
              <c:size val="5"/>
            </c:marker>
            <c:bubble3D val="0"/>
            <c:extLst>
              <c:ext xmlns:c16="http://schemas.microsoft.com/office/drawing/2014/chart" uri="{C3380CC4-5D6E-409C-BE32-E72D297353CC}">
                <c16:uniqueId val="{00000012-9637-43CF-9FD3-921C1638D45F}"/>
              </c:ext>
            </c:extLst>
          </c:dPt>
          <c:dPt>
            <c:idx val="1"/>
            <c:marker>
              <c:symbol val="triangle"/>
              <c:size val="5"/>
            </c:marker>
            <c:bubble3D val="0"/>
            <c:extLst>
              <c:ext xmlns:c16="http://schemas.microsoft.com/office/drawing/2014/chart" uri="{C3380CC4-5D6E-409C-BE32-E72D297353CC}">
                <c16:uniqueId val="{00000013-9637-43CF-9FD3-921C1638D45F}"/>
              </c:ext>
            </c:extLst>
          </c:dPt>
          <c:dPt>
            <c:idx val="2"/>
            <c:marker>
              <c:symbol val="triangle"/>
              <c:size val="5"/>
            </c:marker>
            <c:bubble3D val="0"/>
            <c:extLst>
              <c:ext xmlns:c16="http://schemas.microsoft.com/office/drawing/2014/chart" uri="{C3380CC4-5D6E-409C-BE32-E72D297353CC}">
                <c16:uniqueId val="{00000014-9637-43CF-9FD3-921C1638D45F}"/>
              </c:ext>
            </c:extLst>
          </c:dPt>
          <c:dPt>
            <c:idx val="3"/>
            <c:marker>
              <c:symbol val="triangle"/>
              <c:size val="5"/>
            </c:marker>
            <c:bubble3D val="0"/>
            <c:extLst>
              <c:ext xmlns:c16="http://schemas.microsoft.com/office/drawing/2014/chart" uri="{C3380CC4-5D6E-409C-BE32-E72D297353CC}">
                <c16:uniqueId val="{00000015-9637-43CF-9FD3-921C1638D45F}"/>
              </c:ext>
            </c:extLst>
          </c:dPt>
          <c:dPt>
            <c:idx val="4"/>
            <c:marker>
              <c:symbol val="triangle"/>
              <c:size val="5"/>
            </c:marker>
            <c:bubble3D val="0"/>
            <c:extLst>
              <c:ext xmlns:c16="http://schemas.microsoft.com/office/drawing/2014/chart" uri="{C3380CC4-5D6E-409C-BE32-E72D297353CC}">
                <c16:uniqueId val="{00000016-9637-43CF-9FD3-921C1638D45F}"/>
              </c:ext>
            </c:extLst>
          </c:dPt>
          <c:dPt>
            <c:idx val="5"/>
            <c:marker>
              <c:symbol val="none"/>
            </c:marker>
            <c:bubble3D val="0"/>
            <c:extLst>
              <c:ext xmlns:c16="http://schemas.microsoft.com/office/drawing/2014/chart" uri="{C3380CC4-5D6E-409C-BE32-E72D297353CC}">
                <c16:uniqueId val="{00000017-9637-43CF-9FD3-921C1638D45F}"/>
              </c:ext>
            </c:extLst>
          </c:dPt>
          <c:dPt>
            <c:idx val="6"/>
            <c:marker>
              <c:symbol val="none"/>
            </c:marker>
            <c:bubble3D val="0"/>
            <c:extLst>
              <c:ext xmlns:c16="http://schemas.microsoft.com/office/drawing/2014/chart" uri="{C3380CC4-5D6E-409C-BE32-E72D297353CC}">
                <c16:uniqueId val="{00000018-9637-43CF-9FD3-921C1638D45F}"/>
              </c:ext>
            </c:extLst>
          </c:dPt>
          <c:dPt>
            <c:idx val="7"/>
            <c:marker>
              <c:symbol val="none"/>
            </c:marker>
            <c:bubble3D val="0"/>
            <c:extLst>
              <c:ext xmlns:c16="http://schemas.microsoft.com/office/drawing/2014/chart" uri="{C3380CC4-5D6E-409C-BE32-E72D297353CC}">
                <c16:uniqueId val="{00000019-9637-43CF-9FD3-921C1638D45F}"/>
              </c:ext>
            </c:extLst>
          </c:dPt>
          <c:xVal>
            <c:numRef>
              <c:f>Sheet1!$A$1:$H$1</c:f>
              <c:numCache>
                <c:formatCode>General</c:formatCode>
                <c:ptCount val="8"/>
                <c:pt idx="0">
                  <c:v>1</c:v>
                </c:pt>
                <c:pt idx="1">
                  <c:v>2</c:v>
                </c:pt>
                <c:pt idx="2">
                  <c:v>3</c:v>
                </c:pt>
                <c:pt idx="3">
                  <c:v>4</c:v>
                </c:pt>
                <c:pt idx="4">
                  <c:v>5</c:v>
                </c:pt>
                <c:pt idx="5">
                  <c:v>6</c:v>
                </c:pt>
                <c:pt idx="6">
                  <c:v>7</c:v>
                </c:pt>
                <c:pt idx="7">
                  <c:v>8</c:v>
                </c:pt>
              </c:numCache>
            </c:numRef>
          </c:xVal>
          <c:yVal>
            <c:numRef>
              <c:f>Sheet1!$A$4:$H$4</c:f>
              <c:numCache>
                <c:formatCode>General</c:formatCode>
                <c:ptCount val="8"/>
                <c:pt idx="0">
                  <c:v>100</c:v>
                </c:pt>
                <c:pt idx="1">
                  <c:v>100</c:v>
                </c:pt>
                <c:pt idx="2">
                  <c:v>82.051282051282044</c:v>
                </c:pt>
                <c:pt idx="3">
                  <c:v>94.871794871794862</c:v>
                </c:pt>
                <c:pt idx="4">
                  <c:v>100</c:v>
                </c:pt>
              </c:numCache>
            </c:numRef>
          </c:yVal>
          <c:smooth val="0"/>
          <c:extLst>
            <c:ext xmlns:c16="http://schemas.microsoft.com/office/drawing/2014/chart" uri="{C3380CC4-5D6E-409C-BE32-E72D297353CC}">
              <c16:uniqueId val="{0000001A-9637-43CF-9FD3-921C1638D45F}"/>
            </c:ext>
          </c:extLst>
        </c:ser>
        <c:dLbls>
          <c:showLegendKey val="0"/>
          <c:showVal val="0"/>
          <c:showCatName val="0"/>
          <c:showSerName val="0"/>
          <c:showPercent val="0"/>
          <c:showBubbleSize val="0"/>
        </c:dLbls>
        <c:axId val="4"/>
        <c:axId val="5"/>
      </c:scatterChart>
      <c:valAx>
        <c:axId val="4"/>
        <c:scaling>
          <c:orientation val="minMax"/>
          <c:max val="8"/>
          <c:min val="1"/>
        </c:scaling>
        <c:delete val="0"/>
        <c:axPos val="b"/>
        <c:majorGridlines>
          <c:spPr>
            <a:ln>
              <a:noFill/>
            </a:ln>
          </c:spPr>
        </c:majorGridlines>
        <c:numFmt formatCode="0;&quot;-&quot;0" sourceLinked="0"/>
        <c:majorTickMark val="out"/>
        <c:minorTickMark val="none"/>
        <c:tickLblPos val="nextTo"/>
        <c:spPr>
          <a:ln w="9525" cmpd="sng" algn="ctr">
            <a:solidFill>
              <a:srgbClr val="7F7F7F"/>
            </a:solidFill>
            <a:prstDash val="solid"/>
          </a:ln>
        </c:spPr>
        <c:txPr>
          <a:bodyPr wrap="none"/>
          <a:lstStyle/>
          <a:p>
            <a:pPr>
              <a:defRPr sz="900" kern="1200">
                <a:solidFill>
                  <a:schemeClr val="tx1"/>
                </a:solidFill>
                <a:latin typeface="+mn-lt"/>
                <a:ea typeface="+mn-ea"/>
                <a:cs typeface="+mn-cs"/>
              </a:defRPr>
            </a:pPr>
            <a:endParaRPr lang="zh-TW"/>
          </a:p>
        </c:txPr>
        <c:crossAx val="5"/>
        <c:crosses val="min"/>
        <c:crossBetween val="midCat"/>
        <c:majorUnit val="1"/>
      </c:valAx>
      <c:valAx>
        <c:axId val="5"/>
        <c:scaling>
          <c:orientation val="minMax"/>
          <c:max val="200"/>
          <c:min val="50"/>
        </c:scaling>
        <c:delete val="0"/>
        <c:axPos val="l"/>
        <c:majorGridlines>
          <c:spPr>
            <a:ln>
              <a:noFill/>
            </a:ln>
          </c:spPr>
        </c:majorGridlines>
        <c:numFmt formatCode="#,##0;&quot;-&quot;#,##0" sourceLinked="0"/>
        <c:majorTickMark val="out"/>
        <c:minorTickMark val="none"/>
        <c:tickLblPos val="nextTo"/>
        <c:spPr>
          <a:ln w="9525" cmpd="sng" algn="ctr">
            <a:solidFill>
              <a:srgbClr val="7F7F7F"/>
            </a:solidFill>
            <a:prstDash val="solid"/>
          </a:ln>
        </c:spPr>
        <c:txPr>
          <a:bodyPr wrap="none"/>
          <a:lstStyle/>
          <a:p>
            <a:pPr>
              <a:defRPr sz="1100" kern="1200">
                <a:solidFill>
                  <a:schemeClr val="tx1"/>
                </a:solidFill>
                <a:latin typeface="+mn-lt"/>
                <a:ea typeface="+mn-ea"/>
                <a:cs typeface="+mn-cs"/>
              </a:defRPr>
            </a:pPr>
            <a:endParaRPr lang="zh-TW"/>
          </a:p>
        </c:txPr>
        <c:crossAx val="4"/>
        <c:crosses val="min"/>
        <c:crossBetween val="midCat"/>
        <c:majorUnit val="50"/>
      </c:valAx>
    </c:plotArea>
    <c:plotVisOnly val="0"/>
    <c:dispBlanksAs val="gap"/>
    <c:showDLblsOverMax val="1"/>
  </c:chart>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TW"/>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4.7315741583257506E-2"/>
          <c:y val="2.5024061597690085E-2"/>
          <c:w val="0.90536851683348496"/>
          <c:h val="0.94995187680461979"/>
        </c:manualLayout>
      </c:layout>
      <c:barChart>
        <c:barDir val="col"/>
        <c:grouping val="stacked"/>
        <c:varyColors val="0"/>
        <c:ser>
          <c:idx val="0"/>
          <c:order val="0"/>
          <c:spPr>
            <a:solidFill>
              <a:srgbClr val="565656"/>
            </a:solidFill>
            <a:ln>
              <a:noFill/>
            </a:ln>
          </c:spPr>
          <c:invertIfNegative val="0"/>
          <c:val>
            <c:numRef>
              <c:f>Sheet1!$A$1</c:f>
              <c:numCache>
                <c:formatCode>General</c:formatCode>
                <c:ptCount val="1"/>
                <c:pt idx="0">
                  <c:v>5672.0267441860342</c:v>
                </c:pt>
              </c:numCache>
            </c:numRef>
          </c:val>
          <c:extLst>
            <c:ext xmlns:c16="http://schemas.microsoft.com/office/drawing/2014/chart" uri="{C3380CC4-5D6E-409C-BE32-E72D297353CC}">
              <c16:uniqueId val="{00000000-8402-4CEA-9B4A-97DD7A938A8C}"/>
            </c:ext>
          </c:extLst>
        </c:ser>
        <c:ser>
          <c:idx val="1"/>
          <c:order val="1"/>
          <c:spPr>
            <a:solidFill>
              <a:srgbClr val="D9D9D9"/>
            </a:solidFill>
            <a:ln>
              <a:noFill/>
            </a:ln>
          </c:spPr>
          <c:invertIfNegative val="0"/>
          <c:val>
            <c:numRef>
              <c:f>Sheet1!$A$2</c:f>
              <c:numCache>
                <c:formatCode>General</c:formatCode>
                <c:ptCount val="1"/>
                <c:pt idx="0">
                  <c:v>20826</c:v>
                </c:pt>
              </c:numCache>
            </c:numRef>
          </c:val>
          <c:extLst>
            <c:ext xmlns:c16="http://schemas.microsoft.com/office/drawing/2014/chart" uri="{C3380CC4-5D6E-409C-BE32-E72D297353CC}">
              <c16:uniqueId val="{00000001-8402-4CEA-9B4A-97DD7A938A8C}"/>
            </c:ext>
          </c:extLst>
        </c:ser>
        <c:ser>
          <c:idx val="2"/>
          <c:order val="2"/>
          <c:spPr>
            <a:solidFill>
              <a:srgbClr val="2A6B2A"/>
            </a:solidFill>
            <a:ln>
              <a:noFill/>
            </a:ln>
          </c:spPr>
          <c:invertIfNegative val="0"/>
          <c:val>
            <c:numRef>
              <c:f>Sheet1!$A$3</c:f>
              <c:numCache>
                <c:formatCode>General</c:formatCode>
                <c:ptCount val="1"/>
                <c:pt idx="0">
                  <c:v>11882</c:v>
                </c:pt>
              </c:numCache>
            </c:numRef>
          </c:val>
          <c:extLst>
            <c:ext xmlns:c16="http://schemas.microsoft.com/office/drawing/2014/chart" uri="{C3380CC4-5D6E-409C-BE32-E72D297353CC}">
              <c16:uniqueId val="{00000002-8402-4CEA-9B4A-97DD7A938A8C}"/>
            </c:ext>
          </c:extLst>
        </c:ser>
        <c:ser>
          <c:idx val="3"/>
          <c:order val="3"/>
          <c:spPr>
            <a:solidFill>
              <a:srgbClr val="318C46"/>
            </a:solidFill>
            <a:ln>
              <a:noFill/>
            </a:ln>
          </c:spPr>
          <c:invertIfNegative val="0"/>
          <c:val>
            <c:numRef>
              <c:f>Sheet1!$A$4</c:f>
              <c:numCache>
                <c:formatCode>General</c:formatCode>
                <c:ptCount val="1"/>
                <c:pt idx="0">
                  <c:v>3919</c:v>
                </c:pt>
              </c:numCache>
            </c:numRef>
          </c:val>
          <c:extLst>
            <c:ext xmlns:c16="http://schemas.microsoft.com/office/drawing/2014/chart" uri="{C3380CC4-5D6E-409C-BE32-E72D297353CC}">
              <c16:uniqueId val="{00000003-8402-4CEA-9B4A-97DD7A938A8C}"/>
            </c:ext>
          </c:extLst>
        </c:ser>
        <c:ser>
          <c:idx val="4"/>
          <c:order val="4"/>
          <c:spPr>
            <a:solidFill>
              <a:srgbClr val="63A64E"/>
            </a:solidFill>
            <a:ln>
              <a:noFill/>
            </a:ln>
          </c:spPr>
          <c:invertIfNegative val="0"/>
          <c:val>
            <c:numRef>
              <c:f>Sheet1!$A$5</c:f>
              <c:numCache>
                <c:formatCode>General</c:formatCode>
                <c:ptCount val="1"/>
                <c:pt idx="0">
                  <c:v>1250</c:v>
                </c:pt>
              </c:numCache>
            </c:numRef>
          </c:val>
          <c:extLst>
            <c:ext xmlns:c16="http://schemas.microsoft.com/office/drawing/2014/chart" uri="{C3380CC4-5D6E-409C-BE32-E72D297353CC}">
              <c16:uniqueId val="{00000004-8402-4CEA-9B4A-97DD7A938A8C}"/>
            </c:ext>
          </c:extLst>
        </c:ser>
        <c:ser>
          <c:idx val="5"/>
          <c:order val="5"/>
          <c:spPr>
            <a:solidFill>
              <a:srgbClr val="60DB65"/>
            </a:solidFill>
            <a:ln>
              <a:noFill/>
            </a:ln>
          </c:spPr>
          <c:invertIfNegative val="0"/>
          <c:val>
            <c:numRef>
              <c:f>Sheet1!$A$6</c:f>
              <c:numCache>
                <c:formatCode>General</c:formatCode>
                <c:ptCount val="1"/>
                <c:pt idx="0">
                  <c:v>273</c:v>
                </c:pt>
              </c:numCache>
            </c:numRef>
          </c:val>
          <c:extLst>
            <c:ext xmlns:c16="http://schemas.microsoft.com/office/drawing/2014/chart" uri="{C3380CC4-5D6E-409C-BE32-E72D297353CC}">
              <c16:uniqueId val="{00000005-8402-4CEA-9B4A-97DD7A938A8C}"/>
            </c:ext>
          </c:extLst>
        </c:ser>
        <c:ser>
          <c:idx val="6"/>
          <c:order val="6"/>
          <c:spPr>
            <a:solidFill>
              <a:srgbClr val="A8B21C"/>
            </a:solidFill>
            <a:ln>
              <a:noFill/>
            </a:ln>
          </c:spPr>
          <c:invertIfNegative val="0"/>
          <c:val>
            <c:numRef>
              <c:f>Sheet1!$A$7</c:f>
              <c:numCache>
                <c:formatCode>General</c:formatCode>
                <c:ptCount val="1"/>
                <c:pt idx="0">
                  <c:v>223</c:v>
                </c:pt>
              </c:numCache>
            </c:numRef>
          </c:val>
          <c:extLst>
            <c:ext xmlns:c16="http://schemas.microsoft.com/office/drawing/2014/chart" uri="{C3380CC4-5D6E-409C-BE32-E72D297353CC}">
              <c16:uniqueId val="{00000006-8402-4CEA-9B4A-97DD7A938A8C}"/>
            </c:ext>
          </c:extLst>
        </c:ser>
        <c:ser>
          <c:idx val="7"/>
          <c:order val="7"/>
          <c:spPr>
            <a:solidFill>
              <a:srgbClr val="B1D352"/>
            </a:solidFill>
            <a:ln>
              <a:noFill/>
            </a:ln>
          </c:spPr>
          <c:invertIfNegative val="0"/>
          <c:val>
            <c:numRef>
              <c:f>Sheet1!$A$8</c:f>
              <c:numCache>
                <c:formatCode>General</c:formatCode>
                <c:ptCount val="1"/>
                <c:pt idx="0">
                  <c:v>36</c:v>
                </c:pt>
              </c:numCache>
            </c:numRef>
          </c:val>
          <c:extLst>
            <c:ext xmlns:c16="http://schemas.microsoft.com/office/drawing/2014/chart" uri="{C3380CC4-5D6E-409C-BE32-E72D297353CC}">
              <c16:uniqueId val="{00000007-8402-4CEA-9B4A-97DD7A938A8C}"/>
            </c:ext>
          </c:extLst>
        </c:ser>
        <c:dLbls>
          <c:showLegendKey val="0"/>
          <c:showVal val="0"/>
          <c:showCatName val="0"/>
          <c:showSerName val="0"/>
          <c:showPercent val="0"/>
          <c:showBubbleSize val="0"/>
        </c:dLbls>
        <c:gapWidth val="60"/>
        <c:overlap val="100"/>
        <c:axId val="61143280"/>
        <c:axId val="1"/>
      </c:barChart>
      <c:catAx>
        <c:axId val="61143280"/>
        <c:scaling>
          <c:orientation val="minMax"/>
        </c:scaling>
        <c:delete val="0"/>
        <c:axPos val="b"/>
        <c:majorGridlines>
          <c:spPr>
            <a:ln>
              <a:noFill/>
            </a:ln>
          </c:spPr>
        </c:majorGridlines>
        <c:majorTickMark val="none"/>
        <c:minorTickMark val="none"/>
        <c:tickLblPos val="none"/>
        <c:spPr>
          <a:ln w="9525" cmpd="sng" algn="ctr">
            <a:solidFill>
              <a:srgbClr val="7F7F7F"/>
            </a:solidFill>
            <a:prstDash val="solid"/>
          </a:ln>
        </c:spPr>
        <c:crossAx val="1"/>
        <c:crosses val="min"/>
        <c:auto val="0"/>
        <c:lblAlgn val="ctr"/>
        <c:lblOffset val="100"/>
        <c:noMultiLvlLbl val="0"/>
      </c:catAx>
      <c:valAx>
        <c:axId val="1"/>
        <c:scaling>
          <c:orientation val="minMax"/>
          <c:max val="44081.026744186034"/>
          <c:min val="0"/>
        </c:scaling>
        <c:delete val="1"/>
        <c:axPos val="l"/>
        <c:numFmt formatCode="General" sourceLinked="1"/>
        <c:majorTickMark val="out"/>
        <c:minorTickMark val="none"/>
        <c:tickLblPos val="nextTo"/>
        <c:crossAx val="61143280"/>
        <c:crosses val="min"/>
        <c:crossBetween val="between"/>
      </c:valAx>
    </c:plotArea>
    <c:plotVisOnly val="0"/>
    <c:dispBlanksAs val="gap"/>
    <c:showDLblsOverMax val="1"/>
  </c:chart>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TW"/>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5.1030421982335622E-2"/>
          <c:y val="2.688728024819028E-2"/>
          <c:w val="0.8979391560353287"/>
          <c:h val="0.94364012409513964"/>
        </c:manualLayout>
      </c:layout>
      <c:barChart>
        <c:barDir val="col"/>
        <c:grouping val="stacked"/>
        <c:varyColors val="0"/>
        <c:ser>
          <c:idx val="0"/>
          <c:order val="0"/>
          <c:spPr>
            <a:solidFill>
              <a:srgbClr val="235930"/>
            </a:solidFill>
            <a:ln>
              <a:noFill/>
            </a:ln>
          </c:spPr>
          <c:invertIfNegative val="0"/>
          <c:val>
            <c:numRef>
              <c:f>Sheet1!$A$1</c:f>
              <c:numCache>
                <c:formatCode>General</c:formatCode>
                <c:ptCount val="1"/>
                <c:pt idx="0">
                  <c:v>112682</c:v>
                </c:pt>
              </c:numCache>
            </c:numRef>
          </c:val>
          <c:extLst>
            <c:ext xmlns:c16="http://schemas.microsoft.com/office/drawing/2014/chart" uri="{C3380CC4-5D6E-409C-BE32-E72D297353CC}">
              <c16:uniqueId val="{00000000-231C-4E07-9560-614AE06DD770}"/>
            </c:ext>
          </c:extLst>
        </c:ser>
        <c:ser>
          <c:idx val="1"/>
          <c:order val="1"/>
          <c:spPr>
            <a:solidFill>
              <a:srgbClr val="2A6B2A"/>
            </a:solidFill>
            <a:ln>
              <a:noFill/>
            </a:ln>
          </c:spPr>
          <c:invertIfNegative val="0"/>
          <c:val>
            <c:numRef>
              <c:f>Sheet1!$A$2</c:f>
              <c:numCache>
                <c:formatCode>General</c:formatCode>
                <c:ptCount val="1"/>
                <c:pt idx="0">
                  <c:v>616444</c:v>
                </c:pt>
              </c:numCache>
            </c:numRef>
          </c:val>
          <c:extLst>
            <c:ext xmlns:c16="http://schemas.microsoft.com/office/drawing/2014/chart" uri="{C3380CC4-5D6E-409C-BE32-E72D297353CC}">
              <c16:uniqueId val="{00000001-231C-4E07-9560-614AE06DD770}"/>
            </c:ext>
          </c:extLst>
        </c:ser>
        <c:ser>
          <c:idx val="2"/>
          <c:order val="2"/>
          <c:spPr>
            <a:solidFill>
              <a:srgbClr val="318C46"/>
            </a:solidFill>
            <a:ln>
              <a:noFill/>
            </a:ln>
          </c:spPr>
          <c:invertIfNegative val="0"/>
          <c:val>
            <c:numRef>
              <c:f>Sheet1!$A$3</c:f>
              <c:numCache>
                <c:formatCode>General</c:formatCode>
                <c:ptCount val="1"/>
                <c:pt idx="0">
                  <c:v>28314</c:v>
                </c:pt>
              </c:numCache>
            </c:numRef>
          </c:val>
          <c:extLst>
            <c:ext xmlns:c16="http://schemas.microsoft.com/office/drawing/2014/chart" uri="{C3380CC4-5D6E-409C-BE32-E72D297353CC}">
              <c16:uniqueId val="{00000002-231C-4E07-9560-614AE06DD770}"/>
            </c:ext>
          </c:extLst>
        </c:ser>
        <c:ser>
          <c:idx val="3"/>
          <c:order val="3"/>
          <c:spPr>
            <a:solidFill>
              <a:srgbClr val="29BA74"/>
            </a:solidFill>
            <a:ln>
              <a:noFill/>
            </a:ln>
          </c:spPr>
          <c:invertIfNegative val="0"/>
          <c:val>
            <c:numRef>
              <c:f>Sheet1!$A$4</c:f>
              <c:numCache>
                <c:formatCode>General</c:formatCode>
                <c:ptCount val="1"/>
                <c:pt idx="0">
                  <c:v>44371</c:v>
                </c:pt>
              </c:numCache>
            </c:numRef>
          </c:val>
          <c:extLst>
            <c:ext xmlns:c16="http://schemas.microsoft.com/office/drawing/2014/chart" uri="{C3380CC4-5D6E-409C-BE32-E72D297353CC}">
              <c16:uniqueId val="{00000003-231C-4E07-9560-614AE06DD770}"/>
            </c:ext>
          </c:extLst>
        </c:ser>
        <c:dLbls>
          <c:showLegendKey val="0"/>
          <c:showVal val="0"/>
          <c:showCatName val="0"/>
          <c:showSerName val="0"/>
          <c:showPercent val="0"/>
          <c:showBubbleSize val="0"/>
        </c:dLbls>
        <c:gapWidth val="60"/>
        <c:overlap val="100"/>
        <c:axId val="1839971743"/>
        <c:axId val="1"/>
      </c:barChart>
      <c:catAx>
        <c:axId val="1839971743"/>
        <c:scaling>
          <c:orientation val="minMax"/>
        </c:scaling>
        <c:delete val="0"/>
        <c:axPos val="b"/>
        <c:majorGridlines>
          <c:spPr>
            <a:ln>
              <a:noFill/>
            </a:ln>
          </c:spPr>
        </c:majorGridlines>
        <c:majorTickMark val="none"/>
        <c:minorTickMark val="none"/>
        <c:tickLblPos val="none"/>
        <c:spPr>
          <a:ln w="9525" cmpd="sng" algn="ctr">
            <a:solidFill>
              <a:srgbClr val="7F7F7F"/>
            </a:solidFill>
            <a:prstDash val="solid"/>
          </a:ln>
        </c:spPr>
        <c:crossAx val="1"/>
        <c:crosses val="min"/>
        <c:auto val="0"/>
        <c:lblAlgn val="ctr"/>
        <c:lblOffset val="100"/>
        <c:noMultiLvlLbl val="0"/>
      </c:catAx>
      <c:valAx>
        <c:axId val="1"/>
        <c:scaling>
          <c:orientation val="minMax"/>
          <c:max val="801811"/>
          <c:min val="0"/>
        </c:scaling>
        <c:delete val="1"/>
        <c:axPos val="l"/>
        <c:numFmt formatCode="General" sourceLinked="1"/>
        <c:majorTickMark val="out"/>
        <c:minorTickMark val="none"/>
        <c:tickLblPos val="nextTo"/>
        <c:crossAx val="1839971743"/>
        <c:crosses val="min"/>
        <c:crossBetween val="between"/>
      </c:valAx>
    </c:plotArea>
    <c:plotVisOnly val="0"/>
    <c:dispBlanksAs val="gap"/>
    <c:showDLblsOverMax val="1"/>
  </c:chart>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TW"/>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5.4930124223602488E-2"/>
          <c:y val="3.5263157894736843E-2"/>
          <c:w val="0.92643633540372672"/>
          <c:h val="0.8794736842105263"/>
        </c:manualLayout>
      </c:layout>
      <c:scatterChart>
        <c:scatterStyle val="lineMarker"/>
        <c:varyColors val="0"/>
        <c:ser>
          <c:idx val="0"/>
          <c:order val="0"/>
          <c:spPr>
            <a:ln w="38100" algn="ctr">
              <a:solidFill>
                <a:schemeClr val="tx2"/>
              </a:solidFill>
              <a:prstDash val="solid"/>
            </a:ln>
          </c:spPr>
          <c:marker>
            <c:symbol val="circle"/>
            <c:size val="4"/>
            <c:spPr>
              <a:solidFill>
                <a:schemeClr val="tx2"/>
              </a:solidFill>
              <a:ln w="9525" algn="ctr">
                <a:solidFill>
                  <a:schemeClr val="tx2"/>
                </a:solidFill>
                <a:prstDash val="solid"/>
              </a:ln>
            </c:spPr>
          </c:marker>
          <c:dPt>
            <c:idx val="0"/>
            <c:marker>
              <c:symbol val="none"/>
            </c:marker>
            <c:bubble3D val="0"/>
            <c:extLst>
              <c:ext xmlns:c16="http://schemas.microsoft.com/office/drawing/2014/chart" uri="{C3380CC4-5D6E-409C-BE32-E72D297353CC}">
                <c16:uniqueId val="{00000000-AD9D-436E-AE63-A12218CD7A82}"/>
              </c:ext>
            </c:extLst>
          </c:dPt>
          <c:dPt>
            <c:idx val="1"/>
            <c:marker>
              <c:symbol val="none"/>
            </c:marker>
            <c:bubble3D val="0"/>
            <c:extLst>
              <c:ext xmlns:c16="http://schemas.microsoft.com/office/drawing/2014/chart" uri="{C3380CC4-5D6E-409C-BE32-E72D297353CC}">
                <c16:uniqueId val="{00000001-AD9D-436E-AE63-A12218CD7A82}"/>
              </c:ext>
            </c:extLst>
          </c:dPt>
          <c:dPt>
            <c:idx val="2"/>
            <c:marker>
              <c:symbol val="none"/>
            </c:marker>
            <c:bubble3D val="0"/>
            <c:extLst>
              <c:ext xmlns:c16="http://schemas.microsoft.com/office/drawing/2014/chart" uri="{C3380CC4-5D6E-409C-BE32-E72D297353CC}">
                <c16:uniqueId val="{00000002-AD9D-436E-AE63-A12218CD7A82}"/>
              </c:ext>
            </c:extLst>
          </c:dPt>
          <c:dPt>
            <c:idx val="3"/>
            <c:marker>
              <c:symbol val="none"/>
            </c:marker>
            <c:bubble3D val="0"/>
            <c:extLst>
              <c:ext xmlns:c16="http://schemas.microsoft.com/office/drawing/2014/chart" uri="{C3380CC4-5D6E-409C-BE32-E72D297353CC}">
                <c16:uniqueId val="{00000003-AD9D-436E-AE63-A12218CD7A82}"/>
              </c:ext>
            </c:extLst>
          </c:dPt>
          <c:dPt>
            <c:idx val="4"/>
            <c:marker>
              <c:symbol val="circle"/>
              <c:size val="5"/>
            </c:marker>
            <c:bubble3D val="0"/>
            <c:extLst>
              <c:ext xmlns:c16="http://schemas.microsoft.com/office/drawing/2014/chart" uri="{C3380CC4-5D6E-409C-BE32-E72D297353CC}">
                <c16:uniqueId val="{00000004-AD9D-436E-AE63-A12218CD7A82}"/>
              </c:ext>
            </c:extLst>
          </c:dPt>
          <c:dPt>
            <c:idx val="5"/>
            <c:marker>
              <c:symbol val="circle"/>
              <c:size val="5"/>
            </c:marker>
            <c:bubble3D val="0"/>
            <c:extLst>
              <c:ext xmlns:c16="http://schemas.microsoft.com/office/drawing/2014/chart" uri="{C3380CC4-5D6E-409C-BE32-E72D297353CC}">
                <c16:uniqueId val="{00000005-AD9D-436E-AE63-A12218CD7A82}"/>
              </c:ext>
            </c:extLst>
          </c:dPt>
          <c:dPt>
            <c:idx val="6"/>
            <c:marker>
              <c:symbol val="circle"/>
              <c:size val="5"/>
            </c:marker>
            <c:bubble3D val="0"/>
            <c:extLst>
              <c:ext xmlns:c16="http://schemas.microsoft.com/office/drawing/2014/chart" uri="{C3380CC4-5D6E-409C-BE32-E72D297353CC}">
                <c16:uniqueId val="{00000006-AD9D-436E-AE63-A12218CD7A82}"/>
              </c:ext>
            </c:extLst>
          </c:dPt>
          <c:dPt>
            <c:idx val="7"/>
            <c:marker>
              <c:symbol val="circle"/>
              <c:size val="5"/>
            </c:marker>
            <c:bubble3D val="0"/>
            <c:extLst>
              <c:ext xmlns:c16="http://schemas.microsoft.com/office/drawing/2014/chart" uri="{C3380CC4-5D6E-409C-BE32-E72D297353CC}">
                <c16:uniqueId val="{00000007-AD9D-436E-AE63-A12218CD7A82}"/>
              </c:ext>
            </c:extLst>
          </c:dPt>
          <c:xVal>
            <c:numRef>
              <c:f>Sheet1!$A$1:$H$1</c:f>
              <c:numCache>
                <c:formatCode>General</c:formatCode>
                <c:ptCount val="8"/>
                <c:pt idx="0">
                  <c:v>1</c:v>
                </c:pt>
                <c:pt idx="1">
                  <c:v>2</c:v>
                </c:pt>
                <c:pt idx="2">
                  <c:v>3</c:v>
                </c:pt>
                <c:pt idx="3">
                  <c:v>4</c:v>
                </c:pt>
                <c:pt idx="4">
                  <c:v>5</c:v>
                </c:pt>
                <c:pt idx="5">
                  <c:v>6</c:v>
                </c:pt>
                <c:pt idx="6">
                  <c:v>7</c:v>
                </c:pt>
                <c:pt idx="7">
                  <c:v>8</c:v>
                </c:pt>
              </c:numCache>
            </c:numRef>
          </c:xVal>
          <c:yVal>
            <c:numRef>
              <c:f>Sheet1!$A$2:$H$2</c:f>
              <c:numCache>
                <c:formatCode>General</c:formatCode>
                <c:ptCount val="8"/>
                <c:pt idx="4">
                  <c:v>100</c:v>
                </c:pt>
                <c:pt idx="5">
                  <c:v>148.7179487179487</c:v>
                </c:pt>
                <c:pt idx="6">
                  <c:v>189.74358974358972</c:v>
                </c:pt>
                <c:pt idx="7">
                  <c:v>169.23076923076923</c:v>
                </c:pt>
              </c:numCache>
            </c:numRef>
          </c:yVal>
          <c:smooth val="0"/>
          <c:extLst>
            <c:ext xmlns:c16="http://schemas.microsoft.com/office/drawing/2014/chart" uri="{C3380CC4-5D6E-409C-BE32-E72D297353CC}">
              <c16:uniqueId val="{00000008-AD9D-436E-AE63-A12218CD7A82}"/>
            </c:ext>
          </c:extLst>
        </c:ser>
        <c:ser>
          <c:idx val="1"/>
          <c:order val="1"/>
          <c:spPr>
            <a:ln w="38100" algn="ctr">
              <a:solidFill>
                <a:schemeClr val="tx1"/>
              </a:solidFill>
              <a:prstDash val="solid"/>
            </a:ln>
          </c:spPr>
          <c:marker>
            <c:symbol val="square"/>
            <c:size val="4"/>
            <c:spPr>
              <a:solidFill>
                <a:schemeClr val="tx1"/>
              </a:solidFill>
              <a:ln w="9525" algn="ctr">
                <a:solidFill>
                  <a:schemeClr val="tx1"/>
                </a:solidFill>
                <a:prstDash val="solid"/>
              </a:ln>
            </c:spPr>
          </c:marker>
          <c:dPt>
            <c:idx val="0"/>
            <c:marker>
              <c:symbol val="none"/>
            </c:marker>
            <c:bubble3D val="0"/>
            <c:extLst>
              <c:ext xmlns:c16="http://schemas.microsoft.com/office/drawing/2014/chart" uri="{C3380CC4-5D6E-409C-BE32-E72D297353CC}">
                <c16:uniqueId val="{00000009-AD9D-436E-AE63-A12218CD7A82}"/>
              </c:ext>
            </c:extLst>
          </c:dPt>
          <c:dPt>
            <c:idx val="1"/>
            <c:marker>
              <c:symbol val="none"/>
            </c:marker>
            <c:bubble3D val="0"/>
            <c:extLst>
              <c:ext xmlns:c16="http://schemas.microsoft.com/office/drawing/2014/chart" uri="{C3380CC4-5D6E-409C-BE32-E72D297353CC}">
                <c16:uniqueId val="{0000000A-AD9D-436E-AE63-A12218CD7A82}"/>
              </c:ext>
            </c:extLst>
          </c:dPt>
          <c:dPt>
            <c:idx val="2"/>
            <c:marker>
              <c:symbol val="none"/>
            </c:marker>
            <c:bubble3D val="0"/>
            <c:extLst>
              <c:ext xmlns:c16="http://schemas.microsoft.com/office/drawing/2014/chart" uri="{C3380CC4-5D6E-409C-BE32-E72D297353CC}">
                <c16:uniqueId val="{0000000B-AD9D-436E-AE63-A12218CD7A82}"/>
              </c:ext>
            </c:extLst>
          </c:dPt>
          <c:dPt>
            <c:idx val="3"/>
            <c:marker>
              <c:symbol val="none"/>
            </c:marker>
            <c:bubble3D val="0"/>
            <c:extLst>
              <c:ext xmlns:c16="http://schemas.microsoft.com/office/drawing/2014/chart" uri="{C3380CC4-5D6E-409C-BE32-E72D297353CC}">
                <c16:uniqueId val="{0000000C-AD9D-436E-AE63-A12218CD7A82}"/>
              </c:ext>
            </c:extLst>
          </c:dPt>
          <c:dPt>
            <c:idx val="4"/>
            <c:marker>
              <c:symbol val="square"/>
              <c:size val="5"/>
            </c:marker>
            <c:bubble3D val="0"/>
            <c:extLst>
              <c:ext xmlns:c16="http://schemas.microsoft.com/office/drawing/2014/chart" uri="{C3380CC4-5D6E-409C-BE32-E72D297353CC}">
                <c16:uniqueId val="{0000000D-AD9D-436E-AE63-A12218CD7A82}"/>
              </c:ext>
            </c:extLst>
          </c:dPt>
          <c:dPt>
            <c:idx val="5"/>
            <c:marker>
              <c:symbol val="square"/>
              <c:size val="5"/>
            </c:marker>
            <c:bubble3D val="0"/>
            <c:extLst>
              <c:ext xmlns:c16="http://schemas.microsoft.com/office/drawing/2014/chart" uri="{C3380CC4-5D6E-409C-BE32-E72D297353CC}">
                <c16:uniqueId val="{0000000E-AD9D-436E-AE63-A12218CD7A82}"/>
              </c:ext>
            </c:extLst>
          </c:dPt>
          <c:dPt>
            <c:idx val="6"/>
            <c:marker>
              <c:symbol val="square"/>
              <c:size val="5"/>
            </c:marker>
            <c:bubble3D val="0"/>
            <c:extLst>
              <c:ext xmlns:c16="http://schemas.microsoft.com/office/drawing/2014/chart" uri="{C3380CC4-5D6E-409C-BE32-E72D297353CC}">
                <c16:uniqueId val="{0000000F-AD9D-436E-AE63-A12218CD7A82}"/>
              </c:ext>
            </c:extLst>
          </c:dPt>
          <c:dPt>
            <c:idx val="7"/>
            <c:marker>
              <c:symbol val="square"/>
              <c:size val="5"/>
            </c:marker>
            <c:bubble3D val="0"/>
            <c:extLst>
              <c:ext xmlns:c16="http://schemas.microsoft.com/office/drawing/2014/chart" uri="{C3380CC4-5D6E-409C-BE32-E72D297353CC}">
                <c16:uniqueId val="{00000010-AD9D-436E-AE63-A12218CD7A82}"/>
              </c:ext>
            </c:extLst>
          </c:dPt>
          <c:xVal>
            <c:numRef>
              <c:f>Sheet1!$A$1:$H$1</c:f>
              <c:numCache>
                <c:formatCode>General</c:formatCode>
                <c:ptCount val="8"/>
                <c:pt idx="0">
                  <c:v>1</c:v>
                </c:pt>
                <c:pt idx="1">
                  <c:v>2</c:v>
                </c:pt>
                <c:pt idx="2">
                  <c:v>3</c:v>
                </c:pt>
                <c:pt idx="3">
                  <c:v>4</c:v>
                </c:pt>
                <c:pt idx="4">
                  <c:v>5</c:v>
                </c:pt>
                <c:pt idx="5">
                  <c:v>6</c:v>
                </c:pt>
                <c:pt idx="6">
                  <c:v>7</c:v>
                </c:pt>
                <c:pt idx="7">
                  <c:v>8</c:v>
                </c:pt>
              </c:numCache>
            </c:numRef>
          </c:xVal>
          <c:yVal>
            <c:numRef>
              <c:f>Sheet1!$A$3:$H$3</c:f>
              <c:numCache>
                <c:formatCode>General</c:formatCode>
                <c:ptCount val="8"/>
                <c:pt idx="4">
                  <c:v>100</c:v>
                </c:pt>
                <c:pt idx="5">
                  <c:v>138.46153846153845</c:v>
                </c:pt>
                <c:pt idx="6">
                  <c:v>138.46153846153845</c:v>
                </c:pt>
                <c:pt idx="7">
                  <c:v>92.307692307692307</c:v>
                </c:pt>
              </c:numCache>
            </c:numRef>
          </c:yVal>
          <c:smooth val="0"/>
          <c:extLst>
            <c:ext xmlns:c16="http://schemas.microsoft.com/office/drawing/2014/chart" uri="{C3380CC4-5D6E-409C-BE32-E72D297353CC}">
              <c16:uniqueId val="{00000011-AD9D-436E-AE63-A12218CD7A82}"/>
            </c:ext>
          </c:extLst>
        </c:ser>
        <c:ser>
          <c:idx val="2"/>
          <c:order val="2"/>
          <c:spPr>
            <a:ln w="38100" algn="ctr">
              <a:solidFill>
                <a:srgbClr val="9A9A9A"/>
              </a:solidFill>
              <a:prstDash val="solid"/>
            </a:ln>
          </c:spPr>
          <c:marker>
            <c:symbol val="triangle"/>
            <c:size val="4"/>
            <c:spPr>
              <a:solidFill>
                <a:srgbClr val="9A9A9A"/>
              </a:solidFill>
              <a:ln w="9525" algn="ctr">
                <a:solidFill>
                  <a:srgbClr val="9A9A9A"/>
                </a:solidFill>
                <a:prstDash val="solid"/>
              </a:ln>
            </c:spPr>
          </c:marker>
          <c:dPt>
            <c:idx val="0"/>
            <c:marker>
              <c:symbol val="triangle"/>
              <c:size val="5"/>
            </c:marker>
            <c:bubble3D val="0"/>
            <c:extLst>
              <c:ext xmlns:c16="http://schemas.microsoft.com/office/drawing/2014/chart" uri="{C3380CC4-5D6E-409C-BE32-E72D297353CC}">
                <c16:uniqueId val="{00000012-AD9D-436E-AE63-A12218CD7A82}"/>
              </c:ext>
            </c:extLst>
          </c:dPt>
          <c:dPt>
            <c:idx val="1"/>
            <c:marker>
              <c:symbol val="triangle"/>
              <c:size val="5"/>
            </c:marker>
            <c:bubble3D val="0"/>
            <c:extLst>
              <c:ext xmlns:c16="http://schemas.microsoft.com/office/drawing/2014/chart" uri="{C3380CC4-5D6E-409C-BE32-E72D297353CC}">
                <c16:uniqueId val="{00000013-AD9D-436E-AE63-A12218CD7A82}"/>
              </c:ext>
            </c:extLst>
          </c:dPt>
          <c:dPt>
            <c:idx val="2"/>
            <c:marker>
              <c:symbol val="triangle"/>
              <c:size val="5"/>
            </c:marker>
            <c:bubble3D val="0"/>
            <c:extLst>
              <c:ext xmlns:c16="http://schemas.microsoft.com/office/drawing/2014/chart" uri="{C3380CC4-5D6E-409C-BE32-E72D297353CC}">
                <c16:uniqueId val="{00000014-AD9D-436E-AE63-A12218CD7A82}"/>
              </c:ext>
            </c:extLst>
          </c:dPt>
          <c:dPt>
            <c:idx val="3"/>
            <c:marker>
              <c:symbol val="triangle"/>
              <c:size val="5"/>
            </c:marker>
            <c:bubble3D val="0"/>
            <c:extLst>
              <c:ext xmlns:c16="http://schemas.microsoft.com/office/drawing/2014/chart" uri="{C3380CC4-5D6E-409C-BE32-E72D297353CC}">
                <c16:uniqueId val="{00000015-AD9D-436E-AE63-A12218CD7A82}"/>
              </c:ext>
            </c:extLst>
          </c:dPt>
          <c:dPt>
            <c:idx val="4"/>
            <c:marker>
              <c:symbol val="triangle"/>
              <c:size val="5"/>
            </c:marker>
            <c:bubble3D val="0"/>
            <c:extLst>
              <c:ext xmlns:c16="http://schemas.microsoft.com/office/drawing/2014/chart" uri="{C3380CC4-5D6E-409C-BE32-E72D297353CC}">
                <c16:uniqueId val="{00000016-AD9D-436E-AE63-A12218CD7A82}"/>
              </c:ext>
            </c:extLst>
          </c:dPt>
          <c:dPt>
            <c:idx val="5"/>
            <c:marker>
              <c:symbol val="none"/>
            </c:marker>
            <c:bubble3D val="0"/>
            <c:extLst>
              <c:ext xmlns:c16="http://schemas.microsoft.com/office/drawing/2014/chart" uri="{C3380CC4-5D6E-409C-BE32-E72D297353CC}">
                <c16:uniqueId val="{00000017-AD9D-436E-AE63-A12218CD7A82}"/>
              </c:ext>
            </c:extLst>
          </c:dPt>
          <c:dPt>
            <c:idx val="6"/>
            <c:marker>
              <c:symbol val="none"/>
            </c:marker>
            <c:bubble3D val="0"/>
            <c:extLst>
              <c:ext xmlns:c16="http://schemas.microsoft.com/office/drawing/2014/chart" uri="{C3380CC4-5D6E-409C-BE32-E72D297353CC}">
                <c16:uniqueId val="{00000018-AD9D-436E-AE63-A12218CD7A82}"/>
              </c:ext>
            </c:extLst>
          </c:dPt>
          <c:dPt>
            <c:idx val="7"/>
            <c:marker>
              <c:symbol val="none"/>
            </c:marker>
            <c:bubble3D val="0"/>
            <c:extLst>
              <c:ext xmlns:c16="http://schemas.microsoft.com/office/drawing/2014/chart" uri="{C3380CC4-5D6E-409C-BE32-E72D297353CC}">
                <c16:uniqueId val="{00000019-AD9D-436E-AE63-A12218CD7A82}"/>
              </c:ext>
            </c:extLst>
          </c:dPt>
          <c:xVal>
            <c:numRef>
              <c:f>Sheet1!$A$1:$H$1</c:f>
              <c:numCache>
                <c:formatCode>General</c:formatCode>
                <c:ptCount val="8"/>
                <c:pt idx="0">
                  <c:v>1</c:v>
                </c:pt>
                <c:pt idx="1">
                  <c:v>2</c:v>
                </c:pt>
                <c:pt idx="2">
                  <c:v>3</c:v>
                </c:pt>
                <c:pt idx="3">
                  <c:v>4</c:v>
                </c:pt>
                <c:pt idx="4">
                  <c:v>5</c:v>
                </c:pt>
                <c:pt idx="5">
                  <c:v>6</c:v>
                </c:pt>
                <c:pt idx="6">
                  <c:v>7</c:v>
                </c:pt>
                <c:pt idx="7">
                  <c:v>8</c:v>
                </c:pt>
              </c:numCache>
            </c:numRef>
          </c:xVal>
          <c:yVal>
            <c:numRef>
              <c:f>Sheet1!$A$4:$H$4</c:f>
              <c:numCache>
                <c:formatCode>General</c:formatCode>
                <c:ptCount val="8"/>
                <c:pt idx="0">
                  <c:v>100</c:v>
                </c:pt>
                <c:pt idx="1">
                  <c:v>100</c:v>
                </c:pt>
                <c:pt idx="2">
                  <c:v>82.051282051282044</c:v>
                </c:pt>
                <c:pt idx="3">
                  <c:v>94.871794871794862</c:v>
                </c:pt>
                <c:pt idx="4">
                  <c:v>100</c:v>
                </c:pt>
              </c:numCache>
            </c:numRef>
          </c:yVal>
          <c:smooth val="0"/>
          <c:extLst>
            <c:ext xmlns:c16="http://schemas.microsoft.com/office/drawing/2014/chart" uri="{C3380CC4-5D6E-409C-BE32-E72D297353CC}">
              <c16:uniqueId val="{0000001A-AD9D-436E-AE63-A12218CD7A82}"/>
            </c:ext>
          </c:extLst>
        </c:ser>
        <c:dLbls>
          <c:showLegendKey val="0"/>
          <c:showVal val="0"/>
          <c:showCatName val="0"/>
          <c:showSerName val="0"/>
          <c:showPercent val="0"/>
          <c:showBubbleSize val="0"/>
        </c:dLbls>
        <c:axId val="1737526264"/>
        <c:axId val="1"/>
      </c:scatterChart>
      <c:valAx>
        <c:axId val="1737526264"/>
        <c:scaling>
          <c:orientation val="minMax"/>
          <c:max val="8"/>
          <c:min val="1"/>
        </c:scaling>
        <c:delete val="0"/>
        <c:axPos val="b"/>
        <c:majorGridlines>
          <c:spPr>
            <a:ln>
              <a:noFill/>
            </a:ln>
          </c:spPr>
        </c:majorGridlines>
        <c:numFmt formatCode="0;&quot;-&quot;0" sourceLinked="0"/>
        <c:majorTickMark val="out"/>
        <c:minorTickMark val="none"/>
        <c:tickLblPos val="nextTo"/>
        <c:spPr>
          <a:ln w="9525" algn="ctr">
            <a:solidFill>
              <a:srgbClr val="7F7F7F"/>
            </a:solidFill>
            <a:prstDash val="solid"/>
          </a:ln>
        </c:spPr>
        <c:txPr>
          <a:bodyPr wrap="none"/>
          <a:lstStyle/>
          <a:p>
            <a:pPr>
              <a:defRPr sz="900" kern="1200">
                <a:solidFill>
                  <a:schemeClr val="tx1"/>
                </a:solidFill>
                <a:latin typeface="+mn-lt"/>
                <a:ea typeface="+mn-ea"/>
                <a:cs typeface="+mn-cs"/>
              </a:defRPr>
            </a:pPr>
            <a:endParaRPr lang="zh-TW"/>
          </a:p>
        </c:txPr>
        <c:crossAx val="1"/>
        <c:crosses val="min"/>
        <c:crossBetween val="midCat"/>
        <c:majorUnit val="1"/>
      </c:valAx>
      <c:valAx>
        <c:axId val="1"/>
        <c:scaling>
          <c:orientation val="minMax"/>
          <c:max val="200"/>
          <c:min val="50"/>
        </c:scaling>
        <c:delete val="0"/>
        <c:axPos val="l"/>
        <c:majorGridlines>
          <c:spPr>
            <a:ln>
              <a:noFill/>
            </a:ln>
          </c:spPr>
        </c:majorGridlines>
        <c:numFmt formatCode="#,##0;&quot;-&quot;#,##0" sourceLinked="0"/>
        <c:majorTickMark val="out"/>
        <c:minorTickMark val="none"/>
        <c:tickLblPos val="nextTo"/>
        <c:spPr>
          <a:ln w="9525" algn="ctr">
            <a:solidFill>
              <a:srgbClr val="7F7F7F"/>
            </a:solidFill>
            <a:prstDash val="solid"/>
          </a:ln>
        </c:spPr>
        <c:txPr>
          <a:bodyPr wrap="none"/>
          <a:lstStyle/>
          <a:p>
            <a:pPr>
              <a:defRPr sz="1100" kern="1200">
                <a:solidFill>
                  <a:schemeClr val="tx1"/>
                </a:solidFill>
                <a:latin typeface="+mn-lt"/>
                <a:ea typeface="+mn-ea"/>
                <a:cs typeface="+mn-cs"/>
              </a:defRPr>
            </a:pPr>
            <a:endParaRPr lang="zh-TW"/>
          </a:p>
        </c:txPr>
        <c:crossAx val="1737526264"/>
        <c:crosses val="min"/>
        <c:crossBetween val="midCat"/>
        <c:majorUnit val="50"/>
      </c:valAx>
    </c:plotArea>
    <c:plotVisOnly val="0"/>
    <c:dispBlanksAs val="gap"/>
    <c:showDLblsOverMax val="1"/>
  </c:chart>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TW"/>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29733840304182507"/>
          <c:y val="9.6608832807570974E-2"/>
          <c:w val="0.40570342205323195"/>
          <c:h val="0.80678233438485802"/>
        </c:manualLayout>
      </c:layout>
      <c:barChart>
        <c:barDir val="col"/>
        <c:grouping val="stacked"/>
        <c:varyColors val="0"/>
        <c:ser>
          <c:idx val="0"/>
          <c:order val="0"/>
          <c:spPr>
            <a:solidFill>
              <a:srgbClr val="318C46"/>
            </a:solidFill>
            <a:ln>
              <a:noFill/>
            </a:ln>
          </c:spPr>
          <c:invertIfNegative val="0"/>
          <c:dLbls>
            <c:dLbl>
              <c:idx val="0"/>
              <c:layout>
                <c:manualLayout>
                  <c:x val="0"/>
                  <c:y val="1.5772870662460567E-3"/>
                </c:manualLayout>
              </c:layout>
              <c:numFmt formatCode="#,##0;&quot;-&quot;#,##0" sourceLinked="0"/>
              <c:spPr>
                <a:noFill/>
                <a:ln>
                  <a:noFill/>
                </a:ln>
              </c:spPr>
              <c:txPr>
                <a:bodyPr wrap="none"/>
                <a:lstStyle/>
                <a:p>
                  <a:pPr>
                    <a:defRPr sz="1800" kern="1200">
                      <a:solidFill>
                        <a:schemeClr val="bg1"/>
                      </a:solidFill>
                      <a:latin typeface="+mn-lt"/>
                      <a:ea typeface="+mn-ea"/>
                      <a:cs typeface="+mn-cs"/>
                    </a:defRPr>
                  </a:pPr>
                  <a:endParaRPr lang="zh-TW"/>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6587-45F3-BBE3-29727C47A32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f>
              <c:numCache>
                <c:formatCode>General</c:formatCode>
                <c:ptCount val="1"/>
                <c:pt idx="0">
                  <c:v>21375</c:v>
                </c:pt>
              </c:numCache>
            </c:numRef>
          </c:val>
          <c:extLst>
            <c:ext xmlns:c16="http://schemas.microsoft.com/office/drawing/2014/chart" uri="{C3380CC4-5D6E-409C-BE32-E72D297353CC}">
              <c16:uniqueId val="{00000001-6587-45F3-BBE3-29727C47A320}"/>
            </c:ext>
          </c:extLst>
        </c:ser>
        <c:ser>
          <c:idx val="1"/>
          <c:order val="1"/>
          <c:spPr>
            <a:solidFill>
              <a:srgbClr val="29BA74"/>
            </a:solidFill>
            <a:ln>
              <a:noFill/>
            </a:ln>
          </c:spPr>
          <c:invertIfNegative val="0"/>
          <c:dLbls>
            <c:dLbl>
              <c:idx val="0"/>
              <c:layout>
                <c:manualLayout>
                  <c:x val="0"/>
                  <c:y val="1.5772870662460567E-3"/>
                </c:manualLayout>
              </c:layout>
              <c:numFmt formatCode="#,##0;&quot;-&quot;#,##0" sourceLinked="0"/>
              <c:spPr>
                <a:noFill/>
                <a:ln>
                  <a:noFill/>
                </a:ln>
              </c:spPr>
              <c:txPr>
                <a:bodyPr wrap="none"/>
                <a:lstStyle/>
                <a:p>
                  <a:pPr>
                    <a:defRPr sz="1800" kern="1200">
                      <a:solidFill>
                        <a:schemeClr val="bg1"/>
                      </a:solidFill>
                      <a:latin typeface="+mn-lt"/>
                      <a:ea typeface="+mn-ea"/>
                      <a:cs typeface="+mn-cs"/>
                    </a:defRPr>
                  </a:pPr>
                  <a:endParaRPr lang="zh-TW"/>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6587-45F3-BBE3-29727C47A32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f>
              <c:numCache>
                <c:formatCode>General</c:formatCode>
                <c:ptCount val="1"/>
                <c:pt idx="0">
                  <c:v>6208</c:v>
                </c:pt>
              </c:numCache>
            </c:numRef>
          </c:val>
          <c:extLst>
            <c:ext xmlns:c16="http://schemas.microsoft.com/office/drawing/2014/chart" uri="{C3380CC4-5D6E-409C-BE32-E72D297353CC}">
              <c16:uniqueId val="{00000003-6587-45F3-BBE3-29727C47A320}"/>
            </c:ext>
          </c:extLst>
        </c:ser>
        <c:dLbls>
          <c:showLegendKey val="0"/>
          <c:showVal val="0"/>
          <c:showCatName val="0"/>
          <c:showSerName val="0"/>
          <c:showPercent val="0"/>
          <c:showBubbleSize val="0"/>
        </c:dLbls>
        <c:gapWidth val="60"/>
        <c:overlap val="100"/>
        <c:axId val="2024585183"/>
        <c:axId val="1"/>
      </c:barChart>
      <c:catAx>
        <c:axId val="2024585183"/>
        <c:scaling>
          <c:orientation val="minMax"/>
        </c:scaling>
        <c:delete val="0"/>
        <c:axPos val="b"/>
        <c:majorGridlines>
          <c:spPr>
            <a:ln>
              <a:noFill/>
            </a:ln>
          </c:spPr>
        </c:majorGridlines>
        <c:majorTickMark val="none"/>
        <c:minorTickMark val="none"/>
        <c:tickLblPos val="none"/>
        <c:spPr>
          <a:ln w="9525" cmpd="sng" algn="ctr">
            <a:solidFill>
              <a:srgbClr val="7F7F7F"/>
            </a:solidFill>
            <a:prstDash val="solid"/>
          </a:ln>
        </c:spPr>
        <c:crossAx val="1"/>
        <c:crosses val="min"/>
        <c:auto val="0"/>
        <c:lblAlgn val="ctr"/>
        <c:lblOffset val="100"/>
        <c:noMultiLvlLbl val="0"/>
      </c:catAx>
      <c:valAx>
        <c:axId val="1"/>
        <c:scaling>
          <c:orientation val="minMax"/>
          <c:max val="27583"/>
          <c:min val="0"/>
        </c:scaling>
        <c:delete val="1"/>
        <c:axPos val="l"/>
        <c:numFmt formatCode="General" sourceLinked="1"/>
        <c:majorTickMark val="out"/>
        <c:minorTickMark val="none"/>
        <c:tickLblPos val="nextTo"/>
        <c:crossAx val="2024585183"/>
        <c:crosses val="min"/>
        <c:crossBetween val="between"/>
      </c:valAx>
    </c:plotArea>
    <c:plotVisOnly val="0"/>
    <c:dispBlanksAs val="gap"/>
    <c:showDLblsOverMax val="1"/>
  </c:chart>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TW"/>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822429906542056"/>
          <c:y val="0.22571692876965774"/>
          <c:w val="0.63551401869158874"/>
          <c:h val="0.61887141535615176"/>
        </c:manualLayout>
      </c:layout>
      <c:barChart>
        <c:barDir val="col"/>
        <c:grouping val="stacked"/>
        <c:varyColors val="0"/>
        <c:ser>
          <c:idx val="0"/>
          <c:order val="0"/>
          <c:spPr>
            <a:solidFill>
              <a:srgbClr val="318C46"/>
            </a:solidFill>
            <a:ln>
              <a:noFill/>
            </a:ln>
          </c:spPr>
          <c:invertIfNegative val="0"/>
          <c:dPt>
            <c:idx val="0"/>
            <c:invertIfNegative val="0"/>
            <c:bubble3D val="0"/>
            <c:spPr>
              <a:solidFill>
                <a:srgbClr val="6E6F73"/>
              </a:solidFill>
              <a:ln>
                <a:noFill/>
              </a:ln>
            </c:spPr>
            <c:extLst>
              <c:ext xmlns:c16="http://schemas.microsoft.com/office/drawing/2014/chart" uri="{C3380CC4-5D6E-409C-BE32-E72D297353CC}">
                <c16:uniqueId val="{00000000-218D-4CCC-8F56-5FB0BD543776}"/>
              </c:ext>
            </c:extLst>
          </c:dPt>
          <c:dLbls>
            <c:dLbl>
              <c:idx val="0"/>
              <c:layout>
                <c:manualLayout>
                  <c:x val="0"/>
                  <c:y val="-0.3755781683626272"/>
                </c:manualLayout>
              </c:layout>
              <c:numFmt formatCode="#,##0;&quot;-&quot;#,##0" sourceLinked="0"/>
              <c:spPr>
                <a:noFill/>
                <a:ln>
                  <a:noFill/>
                </a:ln>
              </c:spPr>
              <c:txPr>
                <a:bodyPr wrap="none"/>
                <a:lstStyle/>
                <a:p>
                  <a:pPr>
                    <a:defRPr sz="1200" kern="1200">
                      <a:solidFill>
                        <a:schemeClr val="tx1"/>
                      </a:solidFill>
                      <a:latin typeface="+mn-lt"/>
                      <a:ea typeface="+mn-ea"/>
                      <a:cs typeface="+mn-cs"/>
                    </a:defRPr>
                  </a:pPr>
                  <a:endParaRPr lang="zh-TW"/>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218D-4CCC-8F56-5FB0BD543776}"/>
                </c:ext>
              </c:extLst>
            </c:dLbl>
            <c:dLbl>
              <c:idx val="1"/>
              <c:layout>
                <c:manualLayout>
                  <c:x val="0"/>
                  <c:y val="-0.3811285846438483"/>
                </c:manualLayout>
              </c:layout>
              <c:numFmt formatCode="#,##0;&quot;-&quot;#,##0" sourceLinked="0"/>
              <c:spPr>
                <a:noFill/>
                <a:ln>
                  <a:noFill/>
                </a:ln>
              </c:spPr>
              <c:txPr>
                <a:bodyPr wrap="none"/>
                <a:lstStyle/>
                <a:p>
                  <a:pPr>
                    <a:defRPr sz="1200" kern="1200">
                      <a:solidFill>
                        <a:schemeClr val="tx1"/>
                      </a:solidFill>
                      <a:latin typeface="+mn-lt"/>
                      <a:ea typeface="+mn-ea"/>
                      <a:cs typeface="+mn-cs"/>
                    </a:defRPr>
                  </a:pPr>
                  <a:endParaRPr lang="zh-TW"/>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218D-4CCC-8F56-5FB0BD54377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476548</c:v>
                </c:pt>
                <c:pt idx="1">
                  <c:v>485581</c:v>
                </c:pt>
              </c:numCache>
            </c:numRef>
          </c:val>
          <c:extLst>
            <c:ext xmlns:c16="http://schemas.microsoft.com/office/drawing/2014/chart" uri="{C3380CC4-5D6E-409C-BE32-E72D297353CC}">
              <c16:uniqueId val="{00000002-218D-4CCC-8F56-5FB0BD543776}"/>
            </c:ext>
          </c:extLst>
        </c:ser>
        <c:dLbls>
          <c:showLegendKey val="0"/>
          <c:showVal val="0"/>
          <c:showCatName val="0"/>
          <c:showSerName val="0"/>
          <c:showPercent val="0"/>
          <c:showBubbleSize val="0"/>
        </c:dLbls>
        <c:gapWidth val="60"/>
        <c:overlap val="100"/>
        <c:axId val="1357529648"/>
        <c:axId val="1"/>
      </c:barChart>
      <c:catAx>
        <c:axId val="1357529648"/>
        <c:scaling>
          <c:orientation val="minMax"/>
        </c:scaling>
        <c:delete val="0"/>
        <c:axPos val="b"/>
        <c:majorGridlines>
          <c:spPr>
            <a:ln>
              <a:noFill/>
            </a:ln>
          </c:spPr>
        </c:majorGridlines>
        <c:majorTickMark val="none"/>
        <c:minorTickMark val="none"/>
        <c:tickLblPos val="none"/>
        <c:spPr>
          <a:ln w="9525" cmpd="sng" algn="ctr">
            <a:solidFill>
              <a:srgbClr val="7F7F7F"/>
            </a:solidFill>
            <a:prstDash val="solid"/>
          </a:ln>
        </c:spPr>
        <c:crossAx val="1"/>
        <c:crosses val="min"/>
        <c:auto val="0"/>
        <c:lblAlgn val="ctr"/>
        <c:lblOffset val="100"/>
        <c:noMultiLvlLbl val="0"/>
      </c:catAx>
      <c:valAx>
        <c:axId val="1"/>
        <c:scaling>
          <c:orientation val="minMax"/>
          <c:max val="485581"/>
          <c:min val="0"/>
        </c:scaling>
        <c:delete val="1"/>
        <c:axPos val="l"/>
        <c:numFmt formatCode="General" sourceLinked="1"/>
        <c:majorTickMark val="out"/>
        <c:minorTickMark val="none"/>
        <c:tickLblPos val="nextTo"/>
        <c:crossAx val="1357529648"/>
        <c:crosses val="min"/>
        <c:crossBetween val="between"/>
      </c:valAx>
    </c:plotArea>
    <c:plotVisOnly val="0"/>
    <c:dispBlanksAs val="gap"/>
    <c:showDLblsOverMax val="1"/>
  </c:chart>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TW"/>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822429906542056"/>
          <c:y val="0.22571692876965774"/>
          <c:w val="0.63551401869158874"/>
          <c:h val="0.61887141535615176"/>
        </c:manualLayout>
      </c:layout>
      <c:barChart>
        <c:barDir val="col"/>
        <c:grouping val="stacked"/>
        <c:varyColors val="0"/>
        <c:ser>
          <c:idx val="0"/>
          <c:order val="0"/>
          <c:spPr>
            <a:solidFill>
              <a:srgbClr val="318C46"/>
            </a:solidFill>
            <a:ln>
              <a:noFill/>
            </a:ln>
          </c:spPr>
          <c:invertIfNegative val="0"/>
          <c:dPt>
            <c:idx val="0"/>
            <c:invertIfNegative val="0"/>
            <c:bubble3D val="0"/>
            <c:spPr>
              <a:solidFill>
                <a:srgbClr val="6E6F73"/>
              </a:solidFill>
              <a:ln>
                <a:noFill/>
              </a:ln>
            </c:spPr>
            <c:extLst>
              <c:ext xmlns:c16="http://schemas.microsoft.com/office/drawing/2014/chart" uri="{C3380CC4-5D6E-409C-BE32-E72D297353CC}">
                <c16:uniqueId val="{00000000-4576-42D8-A064-5E87BC8693CB}"/>
              </c:ext>
            </c:extLst>
          </c:dPt>
          <c:dLbls>
            <c:dLbl>
              <c:idx val="0"/>
              <c:layout>
                <c:manualLayout>
                  <c:x val="0"/>
                  <c:y val="-0.37187789084181316"/>
                </c:manualLayout>
              </c:layout>
              <c:numFmt formatCode="#,##0;&quot;-&quot;#,##0" sourceLinked="0"/>
              <c:spPr>
                <a:noFill/>
                <a:ln>
                  <a:noFill/>
                </a:ln>
              </c:spPr>
              <c:txPr>
                <a:bodyPr wrap="none"/>
                <a:lstStyle/>
                <a:p>
                  <a:pPr>
                    <a:defRPr sz="1200" kern="1200">
                      <a:solidFill>
                        <a:schemeClr val="tx1"/>
                      </a:solidFill>
                      <a:latin typeface="+mn-lt"/>
                      <a:ea typeface="+mn-ea"/>
                      <a:cs typeface="+mn-cs"/>
                    </a:defRPr>
                  </a:pPr>
                  <a:endParaRPr lang="zh-TW"/>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4576-42D8-A064-5E87BC8693CB}"/>
                </c:ext>
              </c:extLst>
            </c:dLbl>
            <c:dLbl>
              <c:idx val="1"/>
              <c:layout>
                <c:manualLayout>
                  <c:x val="0"/>
                  <c:y val="-0.3811285846438483"/>
                </c:manualLayout>
              </c:layout>
              <c:numFmt formatCode="#,##0;&quot;-&quot;#,##0" sourceLinked="0"/>
              <c:spPr>
                <a:noFill/>
                <a:ln>
                  <a:noFill/>
                </a:ln>
              </c:spPr>
              <c:txPr>
                <a:bodyPr wrap="none"/>
                <a:lstStyle/>
                <a:p>
                  <a:pPr>
                    <a:defRPr sz="1200" kern="1200">
                      <a:solidFill>
                        <a:schemeClr val="tx1"/>
                      </a:solidFill>
                      <a:latin typeface="+mn-lt"/>
                      <a:ea typeface="+mn-ea"/>
                      <a:cs typeface="+mn-cs"/>
                    </a:defRPr>
                  </a:pPr>
                  <a:endParaRPr lang="zh-TW"/>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4576-42D8-A064-5E87BC8693C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475945</c:v>
                </c:pt>
                <c:pt idx="1">
                  <c:v>489584</c:v>
                </c:pt>
              </c:numCache>
            </c:numRef>
          </c:val>
          <c:extLst>
            <c:ext xmlns:c16="http://schemas.microsoft.com/office/drawing/2014/chart" uri="{C3380CC4-5D6E-409C-BE32-E72D297353CC}">
              <c16:uniqueId val="{00000002-4576-42D8-A064-5E87BC8693CB}"/>
            </c:ext>
          </c:extLst>
        </c:ser>
        <c:dLbls>
          <c:showLegendKey val="0"/>
          <c:showVal val="0"/>
          <c:showCatName val="0"/>
          <c:showSerName val="0"/>
          <c:showPercent val="0"/>
          <c:showBubbleSize val="0"/>
        </c:dLbls>
        <c:gapWidth val="60"/>
        <c:overlap val="100"/>
        <c:axId val="196113983"/>
        <c:axId val="1"/>
      </c:barChart>
      <c:catAx>
        <c:axId val="196113983"/>
        <c:scaling>
          <c:orientation val="minMax"/>
        </c:scaling>
        <c:delete val="0"/>
        <c:axPos val="b"/>
        <c:majorGridlines>
          <c:spPr>
            <a:ln>
              <a:noFill/>
            </a:ln>
          </c:spPr>
        </c:majorGridlines>
        <c:majorTickMark val="none"/>
        <c:minorTickMark val="none"/>
        <c:tickLblPos val="none"/>
        <c:spPr>
          <a:ln w="9525" cmpd="sng" algn="ctr">
            <a:solidFill>
              <a:srgbClr val="7F7F7F"/>
            </a:solidFill>
            <a:prstDash val="solid"/>
          </a:ln>
        </c:spPr>
        <c:crossAx val="1"/>
        <c:crosses val="min"/>
        <c:auto val="0"/>
        <c:lblAlgn val="ctr"/>
        <c:lblOffset val="100"/>
        <c:noMultiLvlLbl val="0"/>
      </c:catAx>
      <c:valAx>
        <c:axId val="1"/>
        <c:scaling>
          <c:orientation val="minMax"/>
          <c:max val="489584"/>
          <c:min val="0"/>
        </c:scaling>
        <c:delete val="1"/>
        <c:axPos val="l"/>
        <c:numFmt formatCode="General" sourceLinked="1"/>
        <c:majorTickMark val="out"/>
        <c:minorTickMark val="none"/>
        <c:tickLblPos val="nextTo"/>
        <c:crossAx val="196113983"/>
        <c:crosses val="min"/>
        <c:crossBetween val="between"/>
      </c:valAx>
    </c:plotArea>
    <c:plotVisOnly val="0"/>
    <c:dispBlanksAs val="gap"/>
    <c:showDLblsOverMax val="1"/>
  </c:chart>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TW"/>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822429906542056"/>
          <c:y val="0.22021660649819494"/>
          <c:w val="0.63551401869158874"/>
          <c:h val="0.62815884476534301"/>
        </c:manualLayout>
      </c:layout>
      <c:barChart>
        <c:barDir val="col"/>
        <c:grouping val="stacked"/>
        <c:varyColors val="0"/>
        <c:ser>
          <c:idx val="0"/>
          <c:order val="0"/>
          <c:spPr>
            <a:solidFill>
              <a:srgbClr val="318C46"/>
            </a:solidFill>
            <a:ln>
              <a:noFill/>
            </a:ln>
          </c:spPr>
          <c:invertIfNegative val="0"/>
          <c:dPt>
            <c:idx val="0"/>
            <c:invertIfNegative val="0"/>
            <c:bubble3D val="0"/>
            <c:spPr>
              <a:solidFill>
                <a:srgbClr val="6E6F73"/>
              </a:solidFill>
              <a:ln>
                <a:noFill/>
              </a:ln>
            </c:spPr>
            <c:extLst>
              <c:ext xmlns:c16="http://schemas.microsoft.com/office/drawing/2014/chart" uri="{C3380CC4-5D6E-409C-BE32-E72D297353CC}">
                <c16:uniqueId val="{00000000-E6FC-41A8-8E8B-669C01A5556E}"/>
              </c:ext>
            </c:extLst>
          </c:dPt>
          <c:dLbls>
            <c:dLbl>
              <c:idx val="0"/>
              <c:layout>
                <c:manualLayout>
                  <c:x val="0"/>
                  <c:y val="-0.35108303249097472"/>
                </c:manualLayout>
              </c:layout>
              <c:numFmt formatCode="#,##0;&quot;-&quot;#,##0" sourceLinked="0"/>
              <c:spPr>
                <a:noFill/>
                <a:ln>
                  <a:noFill/>
                </a:ln>
              </c:spPr>
              <c:txPr>
                <a:bodyPr wrap="none"/>
                <a:lstStyle/>
                <a:p>
                  <a:pPr>
                    <a:defRPr sz="1200" kern="1200">
                      <a:solidFill>
                        <a:schemeClr val="tx1"/>
                      </a:solidFill>
                      <a:latin typeface="+mn-lt"/>
                      <a:ea typeface="+mn-ea"/>
                      <a:cs typeface="+mn-cs"/>
                    </a:defRPr>
                  </a:pPr>
                  <a:endParaRPr lang="zh-TW"/>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E6FC-41A8-8E8B-669C01A5556E}"/>
                </c:ext>
              </c:extLst>
            </c:dLbl>
            <c:dLbl>
              <c:idx val="1"/>
              <c:layout>
                <c:manualLayout>
                  <c:x val="0"/>
                  <c:y val="-0.38357400722021662"/>
                </c:manualLayout>
              </c:layout>
              <c:numFmt formatCode="#,##0;&quot;-&quot;#,##0" sourceLinked="0"/>
              <c:spPr>
                <a:noFill/>
                <a:ln>
                  <a:noFill/>
                </a:ln>
              </c:spPr>
              <c:txPr>
                <a:bodyPr wrap="none"/>
                <a:lstStyle/>
                <a:p>
                  <a:pPr>
                    <a:defRPr sz="1200" kern="1200">
                      <a:solidFill>
                        <a:schemeClr val="tx1"/>
                      </a:solidFill>
                      <a:latin typeface="+mn-lt"/>
                      <a:ea typeface="+mn-ea"/>
                      <a:cs typeface="+mn-cs"/>
                    </a:defRPr>
                  </a:pPr>
                  <a:endParaRPr lang="zh-TW"/>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E6FC-41A8-8E8B-669C01A5556E}"/>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477594</c:v>
                </c:pt>
                <c:pt idx="1">
                  <c:v>531691</c:v>
                </c:pt>
              </c:numCache>
            </c:numRef>
          </c:val>
          <c:extLst>
            <c:ext xmlns:c16="http://schemas.microsoft.com/office/drawing/2014/chart" uri="{C3380CC4-5D6E-409C-BE32-E72D297353CC}">
              <c16:uniqueId val="{00000002-E6FC-41A8-8E8B-669C01A5556E}"/>
            </c:ext>
          </c:extLst>
        </c:ser>
        <c:dLbls>
          <c:showLegendKey val="0"/>
          <c:showVal val="0"/>
          <c:showCatName val="0"/>
          <c:showSerName val="0"/>
          <c:showPercent val="0"/>
          <c:showBubbleSize val="0"/>
        </c:dLbls>
        <c:gapWidth val="60"/>
        <c:overlap val="100"/>
        <c:axId val="196145183"/>
        <c:axId val="1"/>
      </c:barChart>
      <c:catAx>
        <c:axId val="196145183"/>
        <c:scaling>
          <c:orientation val="minMax"/>
        </c:scaling>
        <c:delete val="0"/>
        <c:axPos val="b"/>
        <c:majorGridlines>
          <c:spPr>
            <a:ln>
              <a:noFill/>
            </a:ln>
          </c:spPr>
        </c:majorGridlines>
        <c:majorTickMark val="none"/>
        <c:minorTickMark val="none"/>
        <c:tickLblPos val="none"/>
        <c:spPr>
          <a:ln w="9525" cmpd="sng" algn="ctr">
            <a:solidFill>
              <a:srgbClr val="7F7F7F"/>
            </a:solidFill>
            <a:prstDash val="solid"/>
          </a:ln>
        </c:spPr>
        <c:crossAx val="1"/>
        <c:crosses val="min"/>
        <c:auto val="0"/>
        <c:lblAlgn val="ctr"/>
        <c:lblOffset val="100"/>
        <c:noMultiLvlLbl val="0"/>
      </c:catAx>
      <c:valAx>
        <c:axId val="1"/>
        <c:scaling>
          <c:orientation val="minMax"/>
          <c:max val="531691"/>
          <c:min val="0"/>
        </c:scaling>
        <c:delete val="1"/>
        <c:axPos val="l"/>
        <c:numFmt formatCode="General" sourceLinked="1"/>
        <c:majorTickMark val="out"/>
        <c:minorTickMark val="none"/>
        <c:tickLblPos val="nextTo"/>
        <c:crossAx val="196145183"/>
        <c:crosses val="min"/>
        <c:crossBetween val="between"/>
      </c:valAx>
    </c:plotArea>
    <c:plotVisOnly val="0"/>
    <c:dispBlanksAs val="gap"/>
    <c:showDLblsOverMax val="1"/>
  </c:chart>
  <c:externalData r:id="rId1">
    <c:autoUpdate val="0"/>
  </c:externalData>
</c:chartSpace>
</file>

<file path=ppt/handoutMasters/_rels/handoutMaster1.xml.rels><?xml version="1.0" encoding="UTF-8" standalone="yes"?>
<Relationships xmlns="http://schemas.openxmlformats.org/package/2006/relationships"><Relationship Id="rId1" Type="http://schemas.openxmlformats.org/officeDocument/2006/relationships/theme" Target="../theme/theme5.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2" y="3"/>
            <a:ext cx="3011699" cy="463408"/>
          </a:xfrm>
          <a:prstGeom prst="rect">
            <a:avLst/>
          </a:prstGeom>
        </p:spPr>
        <p:txBody>
          <a:bodyPr vert="horz" lIns="92492" tIns="46246" rIns="92492" bIns="46246" rtlCol="0"/>
          <a:lstStyle>
            <a:lvl1pPr algn="l">
              <a:defRPr sz="1200"/>
            </a:lvl1pPr>
          </a:lstStyle>
          <a:p>
            <a:endParaRPr lang="en-US" sz="800"/>
          </a:p>
        </p:txBody>
      </p:sp>
      <p:sp>
        <p:nvSpPr>
          <p:cNvPr id="3" name="Date Placeholder 2"/>
          <p:cNvSpPr>
            <a:spLocks noGrp="1"/>
          </p:cNvSpPr>
          <p:nvPr>
            <p:ph type="dt" sz="quarter" idx="1"/>
          </p:nvPr>
        </p:nvSpPr>
        <p:spPr>
          <a:xfrm>
            <a:off x="3936770" y="3"/>
            <a:ext cx="3011699" cy="463408"/>
          </a:xfrm>
          <a:prstGeom prst="rect">
            <a:avLst/>
          </a:prstGeom>
        </p:spPr>
        <p:txBody>
          <a:bodyPr vert="horz" lIns="92492" tIns="46246" rIns="92492" bIns="46246" rtlCol="0"/>
          <a:lstStyle>
            <a:lvl1pPr algn="r">
              <a:defRPr sz="1200"/>
            </a:lvl1pPr>
          </a:lstStyle>
          <a:p>
            <a:fld id="{57691E93-EF64-46CC-85E2-BBB5BEDB9501}" type="datetimeFigureOut">
              <a:rPr lang="en-US" sz="800"/>
              <a:t>8/21/26</a:t>
            </a:fld>
            <a:endParaRPr lang="en-US" sz="800"/>
          </a:p>
        </p:txBody>
      </p:sp>
      <p:sp>
        <p:nvSpPr>
          <p:cNvPr id="4" name="Footer Placeholder 3"/>
          <p:cNvSpPr>
            <a:spLocks noGrp="1"/>
          </p:cNvSpPr>
          <p:nvPr>
            <p:ph type="ftr" sz="quarter" idx="2"/>
          </p:nvPr>
        </p:nvSpPr>
        <p:spPr>
          <a:xfrm>
            <a:off x="2" y="8772671"/>
            <a:ext cx="3011699" cy="463407"/>
          </a:xfrm>
          <a:prstGeom prst="rect">
            <a:avLst/>
          </a:prstGeom>
        </p:spPr>
        <p:txBody>
          <a:bodyPr vert="horz" lIns="92492" tIns="46246" rIns="92492" bIns="46246" rtlCol="0" anchor="b"/>
          <a:lstStyle>
            <a:lvl1pPr algn="l">
              <a:defRPr sz="1200"/>
            </a:lvl1pPr>
          </a:lstStyle>
          <a:p>
            <a:endParaRPr lang="en-US" sz="800"/>
          </a:p>
        </p:txBody>
      </p:sp>
      <p:sp>
        <p:nvSpPr>
          <p:cNvPr id="5" name="Slide Number Placeholder 4"/>
          <p:cNvSpPr>
            <a:spLocks noGrp="1"/>
          </p:cNvSpPr>
          <p:nvPr>
            <p:ph type="sldNum" sz="quarter" idx="3"/>
          </p:nvPr>
        </p:nvSpPr>
        <p:spPr>
          <a:xfrm>
            <a:off x="3936770" y="8772671"/>
            <a:ext cx="3011699" cy="463407"/>
          </a:xfrm>
          <a:prstGeom prst="rect">
            <a:avLst/>
          </a:prstGeom>
        </p:spPr>
        <p:txBody>
          <a:bodyPr vert="horz" lIns="92492" tIns="46246" rIns="92492" bIns="46246" rtlCol="0" anchor="b"/>
          <a:lstStyle>
            <a:lvl1pPr algn="r">
              <a:defRPr sz="1200"/>
            </a:lvl1pPr>
          </a:lstStyle>
          <a:p>
            <a:fld id="{3DCECA85-2A7A-423F-89EA-6868CB52DF19}" type="slidenum">
              <a:rPr lang="en-US" sz="800"/>
              <a:t>‹#›</a:t>
            </a:fld>
            <a:endParaRPr lang="en-US" sz="800"/>
          </a:p>
        </p:txBody>
      </p:sp>
    </p:spTree>
    <p:extLst>
      <p:ext uri="{BB962C8B-B14F-4D97-AF65-F5344CB8AC3E}">
        <p14:creationId xmlns:p14="http://schemas.microsoft.com/office/powerpoint/2010/main" val="1709377591"/>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5" name="Rectangle 54"/>
          <p:cNvSpPr/>
          <p:nvPr/>
        </p:nvSpPr>
        <p:spPr>
          <a:xfrm>
            <a:off x="0" y="4410720"/>
            <a:ext cx="6948467" cy="482535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2492" tIns="46246" rIns="92492" bIns="46246" rtlCol="0" anchor="ctr"/>
          <a:lstStyle/>
          <a:p>
            <a:pPr algn="ctr"/>
            <a:endParaRPr lang="en-US"/>
          </a:p>
        </p:txBody>
      </p:sp>
      <p:sp>
        <p:nvSpPr>
          <p:cNvPr id="2" name="Header Placeholder 1"/>
          <p:cNvSpPr>
            <a:spLocks noGrp="1"/>
          </p:cNvSpPr>
          <p:nvPr>
            <p:ph type="hdr" sz="quarter"/>
          </p:nvPr>
        </p:nvSpPr>
        <p:spPr>
          <a:xfrm>
            <a:off x="82427" y="3"/>
            <a:ext cx="2929274" cy="463408"/>
          </a:xfrm>
          <a:prstGeom prst="rect">
            <a:avLst/>
          </a:prstGeom>
        </p:spPr>
        <p:txBody>
          <a:bodyPr vert="horz" lIns="92492" tIns="46246" rIns="92492" bIns="46246" rtlCol="0"/>
          <a:lstStyle>
            <a:lvl1pPr algn="l">
              <a:defRPr sz="1400"/>
            </a:lvl1pPr>
          </a:lstStyle>
          <a:p>
            <a:endParaRPr lang="en-US"/>
          </a:p>
        </p:txBody>
      </p:sp>
      <p:sp>
        <p:nvSpPr>
          <p:cNvPr id="4" name="Slide Image Placeholder 3"/>
          <p:cNvSpPr>
            <a:spLocks noGrp="1" noRot="1" noChangeAspect="1"/>
          </p:cNvSpPr>
          <p:nvPr>
            <p:ph type="sldImg" idx="2"/>
          </p:nvPr>
        </p:nvSpPr>
        <p:spPr>
          <a:xfrm>
            <a:off x="156103" y="575009"/>
            <a:ext cx="6620256" cy="3724113"/>
          </a:xfrm>
          <a:prstGeom prst="rect">
            <a:avLst/>
          </a:prstGeom>
          <a:noFill/>
          <a:ln w="9525">
            <a:solidFill>
              <a:schemeClr val="bg2"/>
            </a:solidFill>
          </a:ln>
        </p:spPr>
        <p:txBody>
          <a:bodyPr vert="horz" lIns="92492" tIns="46246" rIns="92492" bIns="46246" rtlCol="0" anchor="ctr"/>
          <a:lstStyle/>
          <a:p>
            <a:endParaRPr lang="en-US"/>
          </a:p>
        </p:txBody>
      </p:sp>
      <p:sp>
        <p:nvSpPr>
          <p:cNvPr id="6" name="Footer Placeholder 5"/>
          <p:cNvSpPr>
            <a:spLocks noGrp="1"/>
          </p:cNvSpPr>
          <p:nvPr>
            <p:ph type="ftr" sz="quarter" idx="4"/>
          </p:nvPr>
        </p:nvSpPr>
        <p:spPr>
          <a:xfrm>
            <a:off x="82427" y="8744096"/>
            <a:ext cx="2929274" cy="463407"/>
          </a:xfrm>
          <a:prstGeom prst="rect">
            <a:avLst/>
          </a:prstGeom>
        </p:spPr>
        <p:txBody>
          <a:bodyPr vert="horz" lIns="92492" tIns="46246" rIns="92492" bIns="46246" rtlCol="0" anchor="b"/>
          <a:lstStyle>
            <a:lvl1pPr algn="l">
              <a:defRPr sz="1400"/>
            </a:lvl1pPr>
          </a:lstStyle>
          <a:p>
            <a:endParaRPr lang="en-US"/>
          </a:p>
        </p:txBody>
      </p:sp>
      <p:sp>
        <p:nvSpPr>
          <p:cNvPr id="7" name="Slide Number Placeholder 6"/>
          <p:cNvSpPr>
            <a:spLocks noGrp="1"/>
          </p:cNvSpPr>
          <p:nvPr>
            <p:ph type="sldNum" sz="quarter" idx="5"/>
          </p:nvPr>
        </p:nvSpPr>
        <p:spPr>
          <a:xfrm>
            <a:off x="3936770" y="8744096"/>
            <a:ext cx="2919957" cy="463407"/>
          </a:xfrm>
          <a:prstGeom prst="rect">
            <a:avLst/>
          </a:prstGeom>
        </p:spPr>
        <p:txBody>
          <a:bodyPr vert="horz" lIns="92492" tIns="46246" rIns="92492" bIns="46246" rtlCol="0" anchor="b"/>
          <a:lstStyle>
            <a:lvl1pPr algn="r">
              <a:defRPr sz="1400"/>
            </a:lvl1pPr>
          </a:lstStyle>
          <a:p>
            <a:r>
              <a:rPr lang="en-US"/>
              <a:t>Notes view: </a:t>
            </a:r>
            <a:fld id="{128CEAFE-FA94-43E5-B0FF-D47E1CCDD1B4}" type="slidenum">
              <a:rPr lang="en-US" smtClean="0"/>
              <a:pPr/>
              <a:t>‹#›</a:t>
            </a:fld>
            <a:endParaRPr lang="en-US"/>
          </a:p>
        </p:txBody>
      </p:sp>
      <p:sp>
        <p:nvSpPr>
          <p:cNvPr id="5" name="Notes Placeholder 4"/>
          <p:cNvSpPr>
            <a:spLocks noGrp="1"/>
          </p:cNvSpPr>
          <p:nvPr>
            <p:ph type="body" sz="quarter" idx="3"/>
          </p:nvPr>
        </p:nvSpPr>
        <p:spPr>
          <a:xfrm>
            <a:off x="259519" y="4714653"/>
            <a:ext cx="6413424" cy="3768947"/>
          </a:xfrm>
          <a:prstGeom prst="rect">
            <a:avLst/>
          </a:prstGeom>
        </p:spPr>
        <p:txBody>
          <a:bodyPr vert="horz" lIns="92492" tIns="46246" rIns="92492" bIns="46246"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Date Placeholder 7"/>
          <p:cNvSpPr>
            <a:spLocks noGrp="1"/>
          </p:cNvSpPr>
          <p:nvPr>
            <p:ph type="dt" idx="1"/>
          </p:nvPr>
        </p:nvSpPr>
        <p:spPr>
          <a:xfrm>
            <a:off x="3937000" y="0"/>
            <a:ext cx="3011488" cy="463550"/>
          </a:xfrm>
          <a:prstGeom prst="rect">
            <a:avLst/>
          </a:prstGeom>
        </p:spPr>
        <p:txBody>
          <a:bodyPr vert="horz" lIns="91440" tIns="45720" rIns="91440" bIns="45720" rtlCol="0"/>
          <a:lstStyle>
            <a:lvl1pPr algn="r">
              <a:defRPr sz="1200"/>
            </a:lvl1pPr>
          </a:lstStyle>
          <a:p>
            <a:fld id="{F2C7CF5F-7CF3-4DF3-838A-EE34544862CC}" type="datetimeFigureOut">
              <a:rPr lang="en-US" smtClean="0"/>
              <a:t>8/21/26</a:t>
            </a:fld>
            <a:endParaRPr lang="en-US"/>
          </a:p>
        </p:txBody>
      </p:sp>
    </p:spTree>
    <p:extLst>
      <p:ext uri="{BB962C8B-B14F-4D97-AF65-F5344CB8AC3E}">
        <p14:creationId xmlns:p14="http://schemas.microsoft.com/office/powerpoint/2010/main" val="4173362221"/>
      </p:ext>
    </p:extLst>
  </p:cSld>
  <p:clrMap bg1="lt1" tx1="dk1" bg2="lt2" tx2="dk2" accent1="accent1" accent2="accent2" accent3="accent3" accent4="accent4" accent5="accent5" accent6="accent6" hlink="hlink" folHlink="folHlink"/>
  <p:notesStyle>
    <a:lvl1pPr marL="0" indent="0" algn="l" defTabSz="914400" rtl="0" eaLnBrk="1" latinLnBrk="0" hangingPunct="1">
      <a:spcAft>
        <a:spcPts val="600"/>
      </a:spcAft>
      <a:buFont typeface="Arial" panose="020B0604020202020204" pitchFamily="34" charset="0"/>
      <a:buChar char="​"/>
      <a:defRPr sz="1200" kern="1200">
        <a:solidFill>
          <a:schemeClr val="tx1"/>
        </a:solidFill>
        <a:latin typeface="+mn-lt"/>
        <a:ea typeface="+mn-ea"/>
        <a:cs typeface="+mn-cs"/>
      </a:defRPr>
    </a:lvl1pPr>
    <a:lvl2pPr marL="114300" indent="-114300" algn="l" defTabSz="914400" rtl="0" eaLnBrk="1" latinLnBrk="0" hangingPunct="1">
      <a:spcAft>
        <a:spcPts val="600"/>
      </a:spcAft>
      <a:buFont typeface="Arial" panose="020B0604020202020204" pitchFamily="34" charset="0"/>
      <a:buChar char="•"/>
      <a:defRPr sz="1200" kern="1200">
        <a:solidFill>
          <a:schemeClr val="tx1"/>
        </a:solidFill>
        <a:latin typeface="+mn-lt"/>
        <a:ea typeface="+mn-ea"/>
        <a:cs typeface="+mn-cs"/>
      </a:defRPr>
    </a:lvl2pPr>
    <a:lvl3pPr marL="228600" indent="-114300" algn="l" defTabSz="914400" rtl="0" eaLnBrk="1" latinLnBrk="0" hangingPunct="1">
      <a:spcAft>
        <a:spcPts val="600"/>
      </a:spcAft>
      <a:buClr>
        <a:schemeClr val="tx2"/>
      </a:buClr>
      <a:buFont typeface="Arial" panose="020B0604020202020204" pitchFamily="34" charset="0"/>
      <a:buChar char="•"/>
      <a:defRPr sz="1200" kern="1200">
        <a:solidFill>
          <a:schemeClr val="tx1"/>
        </a:solidFill>
        <a:latin typeface="+mn-lt"/>
        <a:ea typeface="+mn-ea"/>
        <a:cs typeface="+mn-cs"/>
      </a:defRPr>
    </a:lvl3pPr>
    <a:lvl4pPr marL="514350" indent="-114300" algn="l" defTabSz="914400" rtl="0" eaLnBrk="1" latinLnBrk="0" hangingPunct="1">
      <a:spcAft>
        <a:spcPts val="600"/>
      </a:spcAft>
      <a:buFont typeface="Arial" panose="020B0604020202020204" pitchFamily="34" charset="0"/>
      <a:buChar char="•"/>
      <a:defRPr sz="1000" kern="1200">
        <a:solidFill>
          <a:schemeClr val="tx1"/>
        </a:solidFill>
        <a:latin typeface="+mn-lt"/>
        <a:ea typeface="+mn-ea"/>
        <a:cs typeface="+mn-cs"/>
      </a:defRPr>
    </a:lvl4pPr>
    <a:lvl5pPr marL="685800" indent="-114300" algn="l" defTabSz="914400" rtl="0" eaLnBrk="1" latinLnBrk="0" hangingPunct="1">
      <a:spcAft>
        <a:spcPts val="600"/>
      </a:spcAft>
      <a:buClr>
        <a:schemeClr val="tx2"/>
      </a:buClr>
      <a:buFont typeface="Arial" panose="020B0604020202020204" pitchFamily="34" charset="0"/>
      <a:buChar char="•"/>
      <a:defRPr sz="1000" i="1"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extLst>
    <p:ext uri="{620B2872-D7B9-4A21-9093-7833F8D536E1}">
      <p15:sldGuideLst xmlns:p15="http://schemas.microsoft.com/office/powerpoint/2012/main">
        <p15:guide id="1" orient="horz" pos="2910" userDrawn="1">
          <p15:clr>
            <a:srgbClr val="F26B43"/>
          </p15:clr>
        </p15:guide>
        <p15:guide id="2" pos="2189" userDrawn="1">
          <p15:clr>
            <a:srgbClr val="F26B43"/>
          </p15:clr>
        </p15:guide>
      </p15:sldGuideLst>
    </p:ext>
  </p:extLst>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0</a:t>
            </a:fld>
            <a:endParaRPr lang="en-US"/>
          </a:p>
        </p:txBody>
      </p:sp>
    </p:spTree>
    <p:extLst>
      <p:ext uri="{BB962C8B-B14F-4D97-AF65-F5344CB8AC3E}">
        <p14:creationId xmlns:p14="http://schemas.microsoft.com/office/powerpoint/2010/main" val="135246924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1</a:t>
            </a:fld>
            <a:endParaRPr lang="en-US"/>
          </a:p>
        </p:txBody>
      </p:sp>
    </p:spTree>
    <p:extLst>
      <p:ext uri="{BB962C8B-B14F-4D97-AF65-F5344CB8AC3E}">
        <p14:creationId xmlns:p14="http://schemas.microsoft.com/office/powerpoint/2010/main" val="17271043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2</a:t>
            </a:fld>
            <a:endParaRPr lang="en-US"/>
          </a:p>
        </p:txBody>
      </p:sp>
    </p:spTree>
    <p:extLst>
      <p:ext uri="{BB962C8B-B14F-4D97-AF65-F5344CB8AC3E}">
        <p14:creationId xmlns:p14="http://schemas.microsoft.com/office/powerpoint/2010/main" val="45275909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6E6F73"/>
                </a:solidFill>
                <a:effectLst/>
                <a:uLnTx/>
                <a:uFillTx/>
                <a:latin typeface="Trebuchet MS"/>
                <a:ea typeface="+mn-ea"/>
                <a:cs typeface="+mn-cs"/>
              </a:rPr>
              <a:t>Notes view: </a:t>
            </a:r>
            <a:fld id="{128CEAFE-FA94-43E5-B0FF-D47E1CCDD1B4}" type="slidenum">
              <a:rPr kumimoji="0" lang="en-US" sz="800" b="0" i="0" u="none" strike="noStrike" kern="1200" cap="none" spc="0" normalizeH="0" baseline="0" noProof="0" smtClean="0">
                <a:ln>
                  <a:noFill/>
                </a:ln>
                <a:solidFill>
                  <a:srgbClr val="6E6F73"/>
                </a:solidFill>
                <a:effectLst/>
                <a:uLnTx/>
                <a:uFillTx/>
                <a:latin typeface="Trebuchet MS"/>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US" sz="800" b="0" i="0" u="none" strike="noStrike" kern="1200" cap="none" spc="0" normalizeH="0" baseline="0" noProof="0">
              <a:ln>
                <a:noFill/>
              </a:ln>
              <a:solidFill>
                <a:srgbClr val="6E6F73"/>
              </a:solidFill>
              <a:effectLst/>
              <a:uLnTx/>
              <a:uFillTx/>
              <a:latin typeface="Trebuchet MS"/>
              <a:ea typeface="+mn-ea"/>
              <a:cs typeface="+mn-cs"/>
            </a:endParaRPr>
          </a:p>
        </p:txBody>
      </p:sp>
    </p:spTree>
    <p:extLst>
      <p:ext uri="{BB962C8B-B14F-4D97-AF65-F5344CB8AC3E}">
        <p14:creationId xmlns:p14="http://schemas.microsoft.com/office/powerpoint/2010/main" val="148949441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4</a:t>
            </a:fld>
            <a:endParaRPr lang="en-US"/>
          </a:p>
        </p:txBody>
      </p:sp>
    </p:spTree>
    <p:extLst>
      <p:ext uri="{BB962C8B-B14F-4D97-AF65-F5344CB8AC3E}">
        <p14:creationId xmlns:p14="http://schemas.microsoft.com/office/powerpoint/2010/main" val="185590785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sym typeface="+mn-lt"/>
              </a:rPr>
              <a:t>Notes view: </a:t>
            </a:r>
            <a:fld id="{128CEAFE-FA94-43E5-B0FF-D47E1CCDD1B4}" type="slidenum">
              <a:rPr lang="en-US" smtClean="0">
                <a:sym typeface="+mn-lt"/>
              </a:rPr>
              <a:pPr/>
              <a:t>5</a:t>
            </a:fld>
            <a:endParaRPr lang="en-US">
              <a:sym typeface="+mn-lt"/>
            </a:endParaRPr>
          </a:p>
        </p:txBody>
      </p:sp>
    </p:spTree>
    <p:extLst>
      <p:ext uri="{BB962C8B-B14F-4D97-AF65-F5344CB8AC3E}">
        <p14:creationId xmlns:p14="http://schemas.microsoft.com/office/powerpoint/2010/main" val="364785061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6</a:t>
            </a:fld>
            <a:endParaRPr lang="en-US"/>
          </a:p>
        </p:txBody>
      </p:sp>
    </p:spTree>
    <p:extLst>
      <p:ext uri="{BB962C8B-B14F-4D97-AF65-F5344CB8AC3E}">
        <p14:creationId xmlns:p14="http://schemas.microsoft.com/office/powerpoint/2010/main" val="207477901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7</a:t>
            </a:fld>
            <a:endParaRPr lang="en-US"/>
          </a:p>
        </p:txBody>
      </p:sp>
    </p:spTree>
    <p:extLst>
      <p:ext uri="{BB962C8B-B14F-4D97-AF65-F5344CB8AC3E}">
        <p14:creationId xmlns:p14="http://schemas.microsoft.com/office/powerpoint/2010/main" val="394685224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r>
              <a:rPr lang="en-US"/>
              <a:t>Notes view: </a:t>
            </a:r>
            <a:fld id="{128CEAFE-FA94-43E5-B0FF-D47E1CCDD1B4}" type="slidenum">
              <a:rPr lang="en-US" smtClean="0"/>
              <a:pPr/>
              <a:t>8</a:t>
            </a:fld>
            <a:endParaRPr lang="en-US"/>
          </a:p>
        </p:txBody>
      </p:sp>
    </p:spTree>
    <p:extLst>
      <p:ext uri="{BB962C8B-B14F-4D97-AF65-F5344CB8AC3E}">
        <p14:creationId xmlns:p14="http://schemas.microsoft.com/office/powerpoint/2010/main" val="421271785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9</a:t>
            </a:fld>
            <a:endParaRPr lang="en-US"/>
          </a:p>
        </p:txBody>
      </p:sp>
    </p:spTree>
    <p:extLst>
      <p:ext uri="{BB962C8B-B14F-4D97-AF65-F5344CB8AC3E}">
        <p14:creationId xmlns:p14="http://schemas.microsoft.com/office/powerpoint/2010/main" val="71194545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r>
              <a:rPr lang="en-US"/>
              <a:t>備注視圖：</a:t>
            </a:r>
            <a:fld id="{128CEAFE-FA94-43E5-B0FF-D47E1CCDD1B4}" type="slidenum">
              <a:rPr lang="en-US" smtClean="0"/>
              <a:pPr/>
              <a:t>11</a:t>
            </a:fld>
            <a:endParaRPr lang="en-US"/>
          </a:p>
        </p:txBody>
      </p:sp>
    </p:spTree>
    <p:extLst>
      <p:ext uri="{BB962C8B-B14F-4D97-AF65-F5344CB8AC3E}">
        <p14:creationId xmlns:p14="http://schemas.microsoft.com/office/powerpoint/2010/main" val="286971437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13</a:t>
            </a:fld>
            <a:endParaRPr lang="en-US"/>
          </a:p>
        </p:txBody>
      </p:sp>
    </p:spTree>
    <p:extLst>
      <p:ext uri="{BB962C8B-B14F-4D97-AF65-F5344CB8AC3E}">
        <p14:creationId xmlns:p14="http://schemas.microsoft.com/office/powerpoint/2010/main" val="340535809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14</a:t>
            </a:fld>
            <a:endParaRPr lang="en-US"/>
          </a:p>
        </p:txBody>
      </p:sp>
    </p:spTree>
    <p:extLst>
      <p:ext uri="{BB962C8B-B14F-4D97-AF65-F5344CB8AC3E}">
        <p14:creationId xmlns:p14="http://schemas.microsoft.com/office/powerpoint/2010/main" val="221237837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b="0"/>
          </a:p>
        </p:txBody>
      </p:sp>
      <p:sp>
        <p:nvSpPr>
          <p:cNvPr id="4" name="Slide Number Placeholder 3"/>
          <p:cNvSpPr>
            <a:spLocks noGrp="1"/>
          </p:cNvSpPr>
          <p:nvPr>
            <p:ph type="sldNum" sz="quarter" idx="5"/>
          </p:nvPr>
        </p:nvSpPr>
        <p:spPr/>
        <p:txBody>
          <a:bodyPr/>
          <a:lstStyle/>
          <a:p>
            <a:r>
              <a:rPr lang="en-US"/>
              <a:t>備注視圖：</a:t>
            </a:r>
            <a:fld id="{128CEAFE-FA94-43E5-B0FF-D47E1CCDD1B4}" type="slidenum">
              <a:rPr lang="en-US" smtClean="0"/>
              <a:pPr/>
              <a:t>15</a:t>
            </a:fld>
            <a:endParaRPr lang="en-US"/>
          </a:p>
        </p:txBody>
      </p:sp>
    </p:spTree>
    <p:extLst>
      <p:ext uri="{BB962C8B-B14F-4D97-AF65-F5344CB8AC3E}">
        <p14:creationId xmlns:p14="http://schemas.microsoft.com/office/powerpoint/2010/main" val="159129420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16</a:t>
            </a:fld>
            <a:endParaRPr lang="en-US"/>
          </a:p>
        </p:txBody>
      </p:sp>
    </p:spTree>
    <p:extLst>
      <p:ext uri="{BB962C8B-B14F-4D97-AF65-F5344CB8AC3E}">
        <p14:creationId xmlns:p14="http://schemas.microsoft.com/office/powerpoint/2010/main" val="424307384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17</a:t>
            </a:fld>
            <a:endParaRPr lang="en-US"/>
          </a:p>
        </p:txBody>
      </p:sp>
    </p:spTree>
    <p:extLst>
      <p:ext uri="{BB962C8B-B14F-4D97-AF65-F5344CB8AC3E}">
        <p14:creationId xmlns:p14="http://schemas.microsoft.com/office/powerpoint/2010/main" val="309925155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18</a:t>
            </a:fld>
            <a:endParaRPr lang="en-US"/>
          </a:p>
        </p:txBody>
      </p:sp>
    </p:spTree>
    <p:extLst>
      <p:ext uri="{BB962C8B-B14F-4D97-AF65-F5344CB8AC3E}">
        <p14:creationId xmlns:p14="http://schemas.microsoft.com/office/powerpoint/2010/main" val="158442382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19</a:t>
            </a:fld>
            <a:endParaRPr lang="en-US"/>
          </a:p>
        </p:txBody>
      </p:sp>
    </p:spTree>
    <p:extLst>
      <p:ext uri="{BB962C8B-B14F-4D97-AF65-F5344CB8AC3E}">
        <p14:creationId xmlns:p14="http://schemas.microsoft.com/office/powerpoint/2010/main" val="24979693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20</a:t>
            </a:fld>
            <a:endParaRPr lang="en-US"/>
          </a:p>
        </p:txBody>
      </p:sp>
    </p:spTree>
    <p:extLst>
      <p:ext uri="{BB962C8B-B14F-4D97-AF65-F5344CB8AC3E}">
        <p14:creationId xmlns:p14="http://schemas.microsoft.com/office/powerpoint/2010/main" val="2738152807"/>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21</a:t>
            </a:fld>
            <a:endParaRPr lang="en-US"/>
          </a:p>
        </p:txBody>
      </p:sp>
    </p:spTree>
    <p:extLst>
      <p:ext uri="{BB962C8B-B14F-4D97-AF65-F5344CB8AC3E}">
        <p14:creationId xmlns:p14="http://schemas.microsoft.com/office/powerpoint/2010/main" val="249906441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22</a:t>
            </a:fld>
            <a:endParaRPr lang="en-US"/>
          </a:p>
        </p:txBody>
      </p:sp>
    </p:spTree>
    <p:extLst>
      <p:ext uri="{BB962C8B-B14F-4D97-AF65-F5344CB8AC3E}">
        <p14:creationId xmlns:p14="http://schemas.microsoft.com/office/powerpoint/2010/main" val="424550183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23</a:t>
            </a:fld>
            <a:endParaRPr lang="en-US"/>
          </a:p>
        </p:txBody>
      </p:sp>
    </p:spTree>
    <p:extLst>
      <p:ext uri="{BB962C8B-B14F-4D97-AF65-F5344CB8AC3E}">
        <p14:creationId xmlns:p14="http://schemas.microsoft.com/office/powerpoint/2010/main" val="417148413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24</a:t>
            </a:fld>
            <a:endParaRPr lang="en-US"/>
          </a:p>
        </p:txBody>
      </p:sp>
    </p:spTree>
    <p:extLst>
      <p:ext uri="{BB962C8B-B14F-4D97-AF65-F5344CB8AC3E}">
        <p14:creationId xmlns:p14="http://schemas.microsoft.com/office/powerpoint/2010/main" val="111065015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25</a:t>
            </a:fld>
            <a:endParaRPr lang="en-US"/>
          </a:p>
        </p:txBody>
      </p:sp>
    </p:spTree>
    <p:extLst>
      <p:ext uri="{BB962C8B-B14F-4D97-AF65-F5344CB8AC3E}">
        <p14:creationId xmlns:p14="http://schemas.microsoft.com/office/powerpoint/2010/main" val="8077108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26</a:t>
            </a:fld>
            <a:endParaRPr lang="en-US"/>
          </a:p>
        </p:txBody>
      </p:sp>
    </p:spTree>
    <p:extLst>
      <p:ext uri="{BB962C8B-B14F-4D97-AF65-F5344CB8AC3E}">
        <p14:creationId xmlns:p14="http://schemas.microsoft.com/office/powerpoint/2010/main" val="3429818424"/>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27</a:t>
            </a:fld>
            <a:endParaRPr lang="en-US"/>
          </a:p>
        </p:txBody>
      </p:sp>
    </p:spTree>
    <p:extLst>
      <p:ext uri="{BB962C8B-B14F-4D97-AF65-F5344CB8AC3E}">
        <p14:creationId xmlns:p14="http://schemas.microsoft.com/office/powerpoint/2010/main" val="3457661664"/>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28</a:t>
            </a:fld>
            <a:endParaRPr lang="en-US"/>
          </a:p>
        </p:txBody>
      </p:sp>
    </p:spTree>
    <p:extLst>
      <p:ext uri="{BB962C8B-B14F-4D97-AF65-F5344CB8AC3E}">
        <p14:creationId xmlns:p14="http://schemas.microsoft.com/office/powerpoint/2010/main" val="158190838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29</a:t>
            </a:fld>
            <a:endParaRPr lang="en-US"/>
          </a:p>
        </p:txBody>
      </p:sp>
    </p:spTree>
    <p:extLst>
      <p:ext uri="{BB962C8B-B14F-4D97-AF65-F5344CB8AC3E}">
        <p14:creationId xmlns:p14="http://schemas.microsoft.com/office/powerpoint/2010/main" val="54592583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30</a:t>
            </a:fld>
            <a:endParaRPr lang="en-US"/>
          </a:p>
        </p:txBody>
      </p:sp>
    </p:spTree>
    <p:extLst>
      <p:ext uri="{BB962C8B-B14F-4D97-AF65-F5344CB8AC3E}">
        <p14:creationId xmlns:p14="http://schemas.microsoft.com/office/powerpoint/2010/main" val="3452333540"/>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r>
              <a:rPr lang="en-US"/>
              <a:t>Notes view: </a:t>
            </a:r>
            <a:fld id="{128CEAFE-FA94-43E5-B0FF-D47E1CCDD1B4}" type="slidenum">
              <a:rPr lang="en-US" smtClean="0"/>
              <a:pPr/>
              <a:t>31</a:t>
            </a:fld>
            <a:endParaRPr lang="en-US"/>
          </a:p>
        </p:txBody>
      </p:sp>
    </p:spTree>
    <p:extLst>
      <p:ext uri="{BB962C8B-B14F-4D97-AF65-F5344CB8AC3E}">
        <p14:creationId xmlns:p14="http://schemas.microsoft.com/office/powerpoint/2010/main" val="445527309"/>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32</a:t>
            </a:fld>
            <a:endParaRPr lang="en-US"/>
          </a:p>
        </p:txBody>
      </p:sp>
    </p:spTree>
    <p:extLst>
      <p:ext uri="{BB962C8B-B14F-4D97-AF65-F5344CB8AC3E}">
        <p14:creationId xmlns:p14="http://schemas.microsoft.com/office/powerpoint/2010/main" val="1187687327"/>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6E6F73"/>
                </a:solidFill>
                <a:effectLst/>
                <a:uLnTx/>
                <a:uFillTx/>
                <a:latin typeface="Trebuchet MS"/>
                <a:ea typeface="+mn-ea"/>
                <a:cs typeface="+mn-cs"/>
              </a:rPr>
              <a:t>Notes view: </a:t>
            </a:r>
            <a:fld id="{128CEAFE-FA94-43E5-B0FF-D47E1CCDD1B4}" type="slidenum">
              <a:rPr kumimoji="0" lang="en-US" sz="1400" b="0" i="0" u="none" strike="noStrike" kern="1200" cap="none" spc="0" normalizeH="0" baseline="0" noProof="0" smtClean="0">
                <a:ln>
                  <a:noFill/>
                </a:ln>
                <a:solidFill>
                  <a:srgbClr val="6E6F73"/>
                </a:solidFill>
                <a:effectLst/>
                <a:uLnTx/>
                <a:uFillTx/>
                <a:latin typeface="Trebuchet MS"/>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400" b="0" i="0" u="none" strike="noStrike" kern="1200" cap="none" spc="0" normalizeH="0" baseline="0" noProof="0">
              <a:ln>
                <a:noFill/>
              </a:ln>
              <a:solidFill>
                <a:srgbClr val="6E6F73"/>
              </a:solidFill>
              <a:effectLst/>
              <a:uLnTx/>
              <a:uFillTx/>
              <a:latin typeface="Trebuchet MS"/>
              <a:ea typeface="+mn-ea"/>
              <a:cs typeface="+mn-cs"/>
            </a:endParaRPr>
          </a:p>
        </p:txBody>
      </p:sp>
    </p:spTree>
    <p:extLst>
      <p:ext uri="{BB962C8B-B14F-4D97-AF65-F5344CB8AC3E}">
        <p14:creationId xmlns:p14="http://schemas.microsoft.com/office/powerpoint/2010/main" val="325655619"/>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34</a:t>
            </a:fld>
            <a:endParaRPr lang="en-US"/>
          </a:p>
        </p:txBody>
      </p:sp>
    </p:spTree>
    <p:extLst>
      <p:ext uri="{BB962C8B-B14F-4D97-AF65-F5344CB8AC3E}">
        <p14:creationId xmlns:p14="http://schemas.microsoft.com/office/powerpoint/2010/main" val="1712330490"/>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r>
              <a:rPr lang="en-US"/>
              <a:t>Notes view: </a:t>
            </a:r>
            <a:fld id="{128CEAFE-FA94-43E5-B0FF-D47E1CCDD1B4}" type="slidenum">
              <a:rPr lang="en-US" smtClean="0"/>
              <a:pPr/>
              <a:t>35</a:t>
            </a:fld>
            <a:endParaRPr lang="en-US"/>
          </a:p>
        </p:txBody>
      </p:sp>
    </p:spTree>
    <p:extLst>
      <p:ext uri="{BB962C8B-B14F-4D97-AF65-F5344CB8AC3E}">
        <p14:creationId xmlns:p14="http://schemas.microsoft.com/office/powerpoint/2010/main" val="3749338582"/>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36</a:t>
            </a:fld>
            <a:endParaRPr lang="en-US"/>
          </a:p>
        </p:txBody>
      </p:sp>
    </p:spTree>
    <p:extLst>
      <p:ext uri="{BB962C8B-B14F-4D97-AF65-F5344CB8AC3E}">
        <p14:creationId xmlns:p14="http://schemas.microsoft.com/office/powerpoint/2010/main" val="2850034122"/>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37</a:t>
            </a:fld>
            <a:endParaRPr lang="en-US"/>
          </a:p>
        </p:txBody>
      </p:sp>
    </p:spTree>
    <p:extLst>
      <p:ext uri="{BB962C8B-B14F-4D97-AF65-F5344CB8AC3E}">
        <p14:creationId xmlns:p14="http://schemas.microsoft.com/office/powerpoint/2010/main" val="2377560282"/>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38</a:t>
            </a:fld>
            <a:endParaRPr lang="en-US"/>
          </a:p>
        </p:txBody>
      </p:sp>
    </p:spTree>
    <p:extLst>
      <p:ext uri="{BB962C8B-B14F-4D97-AF65-F5344CB8AC3E}">
        <p14:creationId xmlns:p14="http://schemas.microsoft.com/office/powerpoint/2010/main" val="2500749819"/>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39</a:t>
            </a:fld>
            <a:endParaRPr lang="en-US"/>
          </a:p>
        </p:txBody>
      </p:sp>
    </p:spTree>
    <p:extLst>
      <p:ext uri="{BB962C8B-B14F-4D97-AF65-F5344CB8AC3E}">
        <p14:creationId xmlns:p14="http://schemas.microsoft.com/office/powerpoint/2010/main" val="235689929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40</a:t>
            </a:fld>
            <a:endParaRPr lang="en-US"/>
          </a:p>
        </p:txBody>
      </p:sp>
    </p:spTree>
    <p:extLst>
      <p:ext uri="{BB962C8B-B14F-4D97-AF65-F5344CB8AC3E}">
        <p14:creationId xmlns:p14="http://schemas.microsoft.com/office/powerpoint/2010/main" val="301702475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41</a:t>
            </a:fld>
            <a:endParaRPr lang="en-US"/>
          </a:p>
        </p:txBody>
      </p:sp>
    </p:spTree>
    <p:extLst>
      <p:ext uri="{BB962C8B-B14F-4D97-AF65-F5344CB8AC3E}">
        <p14:creationId xmlns:p14="http://schemas.microsoft.com/office/powerpoint/2010/main" val="2384405740"/>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42</a:t>
            </a:fld>
            <a:endParaRPr lang="en-US"/>
          </a:p>
        </p:txBody>
      </p:sp>
    </p:spTree>
    <p:extLst>
      <p:ext uri="{BB962C8B-B14F-4D97-AF65-F5344CB8AC3E}">
        <p14:creationId xmlns:p14="http://schemas.microsoft.com/office/powerpoint/2010/main" val="3891882672"/>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43</a:t>
            </a:fld>
            <a:endParaRPr lang="en-US"/>
          </a:p>
        </p:txBody>
      </p:sp>
    </p:spTree>
    <p:extLst>
      <p:ext uri="{BB962C8B-B14F-4D97-AF65-F5344CB8AC3E}">
        <p14:creationId xmlns:p14="http://schemas.microsoft.com/office/powerpoint/2010/main" val="2680979523"/>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44</a:t>
            </a:fld>
            <a:endParaRPr lang="en-US"/>
          </a:p>
        </p:txBody>
      </p:sp>
    </p:spTree>
    <p:extLst>
      <p:ext uri="{BB962C8B-B14F-4D97-AF65-F5344CB8AC3E}">
        <p14:creationId xmlns:p14="http://schemas.microsoft.com/office/powerpoint/2010/main" val="745840203"/>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45</a:t>
            </a:fld>
            <a:endParaRPr lang="en-US"/>
          </a:p>
        </p:txBody>
      </p:sp>
    </p:spTree>
    <p:extLst>
      <p:ext uri="{BB962C8B-B14F-4D97-AF65-F5344CB8AC3E}">
        <p14:creationId xmlns:p14="http://schemas.microsoft.com/office/powerpoint/2010/main" val="3998928705"/>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46</a:t>
            </a:fld>
            <a:endParaRPr lang="en-US"/>
          </a:p>
        </p:txBody>
      </p:sp>
    </p:spTree>
    <p:extLst>
      <p:ext uri="{BB962C8B-B14F-4D97-AF65-F5344CB8AC3E}">
        <p14:creationId xmlns:p14="http://schemas.microsoft.com/office/powerpoint/2010/main" val="4290139707"/>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47</a:t>
            </a:fld>
            <a:endParaRPr lang="en-US"/>
          </a:p>
        </p:txBody>
      </p:sp>
    </p:spTree>
    <p:extLst>
      <p:ext uri="{BB962C8B-B14F-4D97-AF65-F5344CB8AC3E}">
        <p14:creationId xmlns:p14="http://schemas.microsoft.com/office/powerpoint/2010/main" val="1409518767"/>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48</a:t>
            </a:fld>
            <a:endParaRPr lang="en-US"/>
          </a:p>
        </p:txBody>
      </p:sp>
    </p:spTree>
    <p:extLst>
      <p:ext uri="{BB962C8B-B14F-4D97-AF65-F5344CB8AC3E}">
        <p14:creationId xmlns:p14="http://schemas.microsoft.com/office/powerpoint/2010/main" val="665463393"/>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49</a:t>
            </a:fld>
            <a:endParaRPr lang="en-US"/>
          </a:p>
        </p:txBody>
      </p:sp>
    </p:spTree>
    <p:extLst>
      <p:ext uri="{BB962C8B-B14F-4D97-AF65-F5344CB8AC3E}">
        <p14:creationId xmlns:p14="http://schemas.microsoft.com/office/powerpoint/2010/main" val="1253366091"/>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50</a:t>
            </a:fld>
            <a:endParaRPr lang="en-US"/>
          </a:p>
        </p:txBody>
      </p:sp>
    </p:spTree>
    <p:extLst>
      <p:ext uri="{BB962C8B-B14F-4D97-AF65-F5344CB8AC3E}">
        <p14:creationId xmlns:p14="http://schemas.microsoft.com/office/powerpoint/2010/main" val="131297219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51</a:t>
            </a:fld>
            <a:endParaRPr lang="en-US"/>
          </a:p>
        </p:txBody>
      </p:sp>
    </p:spTree>
    <p:extLst>
      <p:ext uri="{BB962C8B-B14F-4D97-AF65-F5344CB8AC3E}">
        <p14:creationId xmlns:p14="http://schemas.microsoft.com/office/powerpoint/2010/main" val="2168739052"/>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52</a:t>
            </a:fld>
            <a:endParaRPr lang="en-US"/>
          </a:p>
        </p:txBody>
      </p:sp>
    </p:spTree>
    <p:extLst>
      <p:ext uri="{BB962C8B-B14F-4D97-AF65-F5344CB8AC3E}">
        <p14:creationId xmlns:p14="http://schemas.microsoft.com/office/powerpoint/2010/main" val="3947300787"/>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53</a:t>
            </a:fld>
            <a:endParaRPr lang="en-US"/>
          </a:p>
        </p:txBody>
      </p:sp>
    </p:spTree>
    <p:extLst>
      <p:ext uri="{BB962C8B-B14F-4D97-AF65-F5344CB8AC3E}">
        <p14:creationId xmlns:p14="http://schemas.microsoft.com/office/powerpoint/2010/main" val="4093132073"/>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54</a:t>
            </a:fld>
            <a:endParaRPr lang="en-US"/>
          </a:p>
        </p:txBody>
      </p:sp>
    </p:spTree>
    <p:extLst>
      <p:ext uri="{BB962C8B-B14F-4D97-AF65-F5344CB8AC3E}">
        <p14:creationId xmlns:p14="http://schemas.microsoft.com/office/powerpoint/2010/main" val="68434041"/>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55</a:t>
            </a:fld>
            <a:endParaRPr lang="en-US"/>
          </a:p>
        </p:txBody>
      </p:sp>
    </p:spTree>
    <p:extLst>
      <p:ext uri="{BB962C8B-B14F-4D97-AF65-F5344CB8AC3E}">
        <p14:creationId xmlns:p14="http://schemas.microsoft.com/office/powerpoint/2010/main" val="3749333140"/>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56</a:t>
            </a:fld>
            <a:endParaRPr lang="en-US"/>
          </a:p>
        </p:txBody>
      </p:sp>
    </p:spTree>
    <p:extLst>
      <p:ext uri="{BB962C8B-B14F-4D97-AF65-F5344CB8AC3E}">
        <p14:creationId xmlns:p14="http://schemas.microsoft.com/office/powerpoint/2010/main" val="928983826"/>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6E6F73"/>
                </a:solidFill>
                <a:effectLst/>
                <a:uLnTx/>
                <a:uFillTx/>
                <a:latin typeface="Trebuchet MS"/>
                <a:ea typeface="+mn-ea"/>
                <a:cs typeface="+mn-cs"/>
              </a:rPr>
              <a:t>Notes view: </a:t>
            </a:r>
            <a:fld id="{128CEAFE-FA94-43E5-B0FF-D47E1CCDD1B4}" type="slidenum">
              <a:rPr kumimoji="0" lang="en-US" sz="1400" b="0" i="0" u="none" strike="noStrike" kern="1200" cap="none" spc="0" normalizeH="0" baseline="0" noProof="0" smtClean="0">
                <a:ln>
                  <a:noFill/>
                </a:ln>
                <a:solidFill>
                  <a:srgbClr val="6E6F73"/>
                </a:solidFill>
                <a:effectLst/>
                <a:uLnTx/>
                <a:uFillTx/>
                <a:latin typeface="Trebuchet MS"/>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400" b="0" i="0" u="none" strike="noStrike" kern="1200" cap="none" spc="0" normalizeH="0" baseline="0" noProof="0">
              <a:ln>
                <a:noFill/>
              </a:ln>
              <a:solidFill>
                <a:srgbClr val="6E6F73"/>
              </a:solidFill>
              <a:effectLst/>
              <a:uLnTx/>
              <a:uFillTx/>
              <a:latin typeface="Trebuchet MS"/>
              <a:ea typeface="+mn-ea"/>
              <a:cs typeface="+mn-cs"/>
            </a:endParaRPr>
          </a:p>
        </p:txBody>
      </p:sp>
    </p:spTree>
    <p:extLst>
      <p:ext uri="{BB962C8B-B14F-4D97-AF65-F5344CB8AC3E}">
        <p14:creationId xmlns:p14="http://schemas.microsoft.com/office/powerpoint/2010/main" val="27950648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6E6F73"/>
                </a:solidFill>
                <a:effectLst/>
                <a:uLnTx/>
                <a:uFillTx/>
                <a:latin typeface="Trebuchet MS"/>
                <a:ea typeface="+mn-ea"/>
                <a:cs typeface="+mn-cs"/>
              </a:rPr>
              <a:t>Notes view: </a:t>
            </a:r>
            <a:fld id="{128CEAFE-FA94-43E5-B0FF-D47E1CCDD1B4}" type="slidenum">
              <a:rPr kumimoji="0" lang="en-US" sz="1400" b="0" i="0" u="none" strike="noStrike" kern="1200" cap="none" spc="0" normalizeH="0" baseline="0" noProof="0" smtClean="0">
                <a:ln>
                  <a:noFill/>
                </a:ln>
                <a:solidFill>
                  <a:srgbClr val="6E6F73"/>
                </a:solidFill>
                <a:effectLst/>
                <a:uLnTx/>
                <a:uFillTx/>
                <a:latin typeface="Trebuchet MS"/>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400" b="0" i="0" u="none" strike="noStrike" kern="1200" cap="none" spc="0" normalizeH="0" baseline="0" noProof="0">
              <a:ln>
                <a:noFill/>
              </a:ln>
              <a:solidFill>
                <a:srgbClr val="6E6F73"/>
              </a:solidFill>
              <a:effectLst/>
              <a:uLnTx/>
              <a:uFillTx/>
              <a:latin typeface="Trebuchet MS"/>
              <a:ea typeface="+mn-ea"/>
              <a:cs typeface="+mn-cs"/>
            </a:endParaRPr>
          </a:p>
        </p:txBody>
      </p:sp>
    </p:spTree>
    <p:extLst>
      <p:ext uri="{BB962C8B-B14F-4D97-AF65-F5344CB8AC3E}">
        <p14:creationId xmlns:p14="http://schemas.microsoft.com/office/powerpoint/2010/main" val="1532780887"/>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6E6F73"/>
                </a:solidFill>
                <a:effectLst/>
                <a:uLnTx/>
                <a:uFillTx/>
                <a:latin typeface="Trebuchet MS"/>
                <a:ea typeface="+mn-ea"/>
                <a:cs typeface="+mn-cs"/>
              </a:rPr>
              <a:t>Notes view: </a:t>
            </a:r>
            <a:fld id="{128CEAFE-FA94-43E5-B0FF-D47E1CCDD1B4}" type="slidenum">
              <a:rPr kumimoji="0" lang="en-US" sz="1400" b="0" i="0" u="none" strike="noStrike" kern="1200" cap="none" spc="0" normalizeH="0" baseline="0" noProof="0" smtClean="0">
                <a:ln>
                  <a:noFill/>
                </a:ln>
                <a:solidFill>
                  <a:srgbClr val="6E6F73"/>
                </a:solidFill>
                <a:effectLst/>
                <a:uLnTx/>
                <a:uFillTx/>
                <a:latin typeface="Trebuchet MS"/>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400" b="0" i="0" u="none" strike="noStrike" kern="1200" cap="none" spc="0" normalizeH="0" baseline="0" noProof="0">
              <a:ln>
                <a:noFill/>
              </a:ln>
              <a:solidFill>
                <a:srgbClr val="6E6F73"/>
              </a:solidFill>
              <a:effectLst/>
              <a:uLnTx/>
              <a:uFillTx/>
              <a:latin typeface="Trebuchet MS"/>
              <a:ea typeface="+mn-ea"/>
              <a:cs typeface="+mn-cs"/>
            </a:endParaRPr>
          </a:p>
        </p:txBody>
      </p:sp>
    </p:spTree>
    <p:extLst>
      <p:ext uri="{BB962C8B-B14F-4D97-AF65-F5344CB8AC3E}">
        <p14:creationId xmlns:p14="http://schemas.microsoft.com/office/powerpoint/2010/main" val="2924576988"/>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6E6F73"/>
                </a:solidFill>
                <a:effectLst/>
                <a:uLnTx/>
                <a:uFillTx/>
                <a:latin typeface="Trebuchet MS"/>
                <a:ea typeface="+mn-ea"/>
                <a:cs typeface="+mn-cs"/>
              </a:rPr>
              <a:t>Notes view: </a:t>
            </a:r>
            <a:fld id="{128CEAFE-FA94-43E5-B0FF-D47E1CCDD1B4}" type="slidenum">
              <a:rPr kumimoji="0" lang="en-US" sz="1400" b="0" i="0" u="none" strike="noStrike" kern="1200" cap="none" spc="0" normalizeH="0" baseline="0" noProof="0" smtClean="0">
                <a:ln>
                  <a:noFill/>
                </a:ln>
                <a:solidFill>
                  <a:srgbClr val="6E6F73"/>
                </a:solidFill>
                <a:effectLst/>
                <a:uLnTx/>
                <a:uFillTx/>
                <a:latin typeface="Trebuchet MS"/>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400" b="0" i="0" u="none" strike="noStrike" kern="1200" cap="none" spc="0" normalizeH="0" baseline="0" noProof="0">
              <a:ln>
                <a:noFill/>
              </a:ln>
              <a:solidFill>
                <a:srgbClr val="6E6F73"/>
              </a:solidFill>
              <a:effectLst/>
              <a:uLnTx/>
              <a:uFillTx/>
              <a:latin typeface="Trebuchet MS"/>
              <a:ea typeface="+mn-ea"/>
              <a:cs typeface="+mn-cs"/>
            </a:endParaRPr>
          </a:p>
        </p:txBody>
      </p:sp>
    </p:spTree>
    <p:extLst>
      <p:ext uri="{BB962C8B-B14F-4D97-AF65-F5344CB8AC3E}">
        <p14:creationId xmlns:p14="http://schemas.microsoft.com/office/powerpoint/2010/main" val="2984652767"/>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6E6F73"/>
                </a:solidFill>
                <a:effectLst/>
                <a:uLnTx/>
                <a:uFillTx/>
                <a:latin typeface="Trebuchet MS"/>
                <a:ea typeface="+mn-ea"/>
                <a:cs typeface="+mn-cs"/>
              </a:rPr>
              <a:t>Notes view: </a:t>
            </a:r>
            <a:fld id="{128CEAFE-FA94-43E5-B0FF-D47E1CCDD1B4}" type="slidenum">
              <a:rPr kumimoji="0" lang="en-US" sz="1400" b="0" i="0" u="none" strike="noStrike" kern="1200" cap="none" spc="0" normalizeH="0" baseline="0" noProof="0" smtClean="0">
                <a:ln>
                  <a:noFill/>
                </a:ln>
                <a:solidFill>
                  <a:srgbClr val="6E6F73"/>
                </a:solidFill>
                <a:effectLst/>
                <a:uLnTx/>
                <a:uFillTx/>
                <a:latin typeface="Trebuchet MS"/>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400" b="0" i="0" u="none" strike="noStrike" kern="1200" cap="none" spc="0" normalizeH="0" baseline="0" noProof="0">
              <a:ln>
                <a:noFill/>
              </a:ln>
              <a:solidFill>
                <a:srgbClr val="6E6F73"/>
              </a:solidFill>
              <a:effectLst/>
              <a:uLnTx/>
              <a:uFillTx/>
              <a:latin typeface="Trebuchet MS"/>
              <a:ea typeface="+mn-ea"/>
              <a:cs typeface="+mn-cs"/>
            </a:endParaRPr>
          </a:p>
        </p:txBody>
      </p:sp>
    </p:spTree>
    <p:extLst>
      <p:ext uri="{BB962C8B-B14F-4D97-AF65-F5344CB8AC3E}">
        <p14:creationId xmlns:p14="http://schemas.microsoft.com/office/powerpoint/2010/main" val="4212717851"/>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6E6F73"/>
                </a:solidFill>
                <a:effectLst/>
                <a:uLnTx/>
                <a:uFillTx/>
                <a:latin typeface="Trebuchet MS"/>
                <a:ea typeface="+mn-ea"/>
                <a:cs typeface="+mn-cs"/>
              </a:rPr>
              <a:t>Notes view: </a:t>
            </a:r>
            <a:fld id="{128CEAFE-FA94-43E5-B0FF-D47E1CCDD1B4}" type="slidenum">
              <a:rPr kumimoji="0" lang="en-US" sz="1400" b="0" i="0" u="none" strike="noStrike" kern="1200" cap="none" spc="0" normalizeH="0" baseline="0" noProof="0" smtClean="0">
                <a:ln>
                  <a:noFill/>
                </a:ln>
                <a:solidFill>
                  <a:srgbClr val="6E6F73"/>
                </a:solidFill>
                <a:effectLst/>
                <a:uLnTx/>
                <a:uFillTx/>
                <a:latin typeface="Trebuchet MS"/>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400" b="0" i="0" u="none" strike="noStrike" kern="1200" cap="none" spc="0" normalizeH="0" baseline="0" noProof="0">
              <a:ln>
                <a:noFill/>
              </a:ln>
              <a:solidFill>
                <a:srgbClr val="6E6F73"/>
              </a:solidFill>
              <a:effectLst/>
              <a:uLnTx/>
              <a:uFillTx/>
              <a:latin typeface="Trebuchet MS"/>
              <a:ea typeface="+mn-ea"/>
              <a:cs typeface="+mn-cs"/>
            </a:endParaRPr>
          </a:p>
        </p:txBody>
      </p:sp>
    </p:spTree>
    <p:extLst>
      <p:ext uri="{BB962C8B-B14F-4D97-AF65-F5344CB8AC3E}">
        <p14:creationId xmlns:p14="http://schemas.microsoft.com/office/powerpoint/2010/main" val="3700947195"/>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63</a:t>
            </a:fld>
            <a:endParaRPr lang="en-US"/>
          </a:p>
        </p:txBody>
      </p:sp>
    </p:spTree>
    <p:extLst>
      <p:ext uri="{BB962C8B-B14F-4D97-AF65-F5344CB8AC3E}">
        <p14:creationId xmlns:p14="http://schemas.microsoft.com/office/powerpoint/2010/main" val="1488482063"/>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6E6F73"/>
                </a:solidFill>
                <a:effectLst/>
                <a:uLnTx/>
                <a:uFillTx/>
                <a:latin typeface="Trebuchet MS"/>
                <a:ea typeface="+mn-ea"/>
                <a:cs typeface="+mn-cs"/>
              </a:rPr>
              <a:t>Notes view: </a:t>
            </a:r>
            <a:fld id="{128CEAFE-FA94-43E5-B0FF-D47E1CCDD1B4}" type="slidenum">
              <a:rPr kumimoji="0" lang="en-US" sz="1400" b="0" i="0" u="none" strike="noStrike" kern="1200" cap="none" spc="0" normalizeH="0" baseline="0" noProof="0" smtClean="0">
                <a:ln>
                  <a:noFill/>
                </a:ln>
                <a:solidFill>
                  <a:srgbClr val="6E6F73"/>
                </a:solidFill>
                <a:effectLst/>
                <a:uLnTx/>
                <a:uFillTx/>
                <a:latin typeface="Trebuchet MS"/>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400" b="0" i="0" u="none" strike="noStrike" kern="1200" cap="none" spc="0" normalizeH="0" baseline="0" noProof="0">
              <a:ln>
                <a:noFill/>
              </a:ln>
              <a:solidFill>
                <a:srgbClr val="6E6F73"/>
              </a:solidFill>
              <a:effectLst/>
              <a:uLnTx/>
              <a:uFillTx/>
              <a:latin typeface="Trebuchet MS"/>
              <a:ea typeface="+mn-ea"/>
              <a:cs typeface="+mn-cs"/>
            </a:endParaRPr>
          </a:p>
        </p:txBody>
      </p:sp>
    </p:spTree>
    <p:extLst>
      <p:ext uri="{BB962C8B-B14F-4D97-AF65-F5344CB8AC3E}">
        <p14:creationId xmlns:p14="http://schemas.microsoft.com/office/powerpoint/2010/main" val="3870251285"/>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65</a:t>
            </a:fld>
            <a:endParaRPr lang="en-US"/>
          </a:p>
        </p:txBody>
      </p:sp>
    </p:spTree>
    <p:extLst>
      <p:ext uri="{BB962C8B-B14F-4D97-AF65-F5344CB8AC3E}">
        <p14:creationId xmlns:p14="http://schemas.microsoft.com/office/powerpoint/2010/main" val="2283064678"/>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66</a:t>
            </a:fld>
            <a:endParaRPr lang="en-US"/>
          </a:p>
        </p:txBody>
      </p:sp>
    </p:spTree>
    <p:extLst>
      <p:ext uri="{BB962C8B-B14F-4D97-AF65-F5344CB8AC3E}">
        <p14:creationId xmlns:p14="http://schemas.microsoft.com/office/powerpoint/2010/main" val="3462979565"/>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r>
              <a:rPr lang="en-US"/>
              <a:t>Notes view: </a:t>
            </a:r>
            <a:fld id="{128CEAFE-FA94-43E5-B0FF-D47E1CCDD1B4}" type="slidenum">
              <a:rPr lang="en-US" smtClean="0"/>
              <a:pPr/>
              <a:t>67</a:t>
            </a:fld>
            <a:endParaRPr lang="en-US"/>
          </a:p>
        </p:txBody>
      </p:sp>
    </p:spTree>
    <p:extLst>
      <p:ext uri="{BB962C8B-B14F-4D97-AF65-F5344CB8AC3E}">
        <p14:creationId xmlns:p14="http://schemas.microsoft.com/office/powerpoint/2010/main" val="3150536437"/>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6E6F73"/>
                </a:solidFill>
                <a:effectLst/>
                <a:uLnTx/>
                <a:uFillTx/>
                <a:latin typeface="Trebuchet MS"/>
                <a:ea typeface="+mn-ea"/>
                <a:cs typeface="+mn-cs"/>
              </a:rPr>
              <a:t>Notes view: </a:t>
            </a:r>
            <a:fld id="{128CEAFE-FA94-43E5-B0FF-D47E1CCDD1B4}" type="slidenum">
              <a:rPr kumimoji="0" lang="en-US" sz="1400" b="0" i="0" u="none" strike="noStrike" kern="1200" cap="none" spc="0" normalizeH="0" baseline="0" noProof="0" smtClean="0">
                <a:ln>
                  <a:noFill/>
                </a:ln>
                <a:solidFill>
                  <a:srgbClr val="6E6F73"/>
                </a:solidFill>
                <a:effectLst/>
                <a:uLnTx/>
                <a:uFillTx/>
                <a:latin typeface="Trebuchet MS"/>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400" b="0" i="0" u="none" strike="noStrike" kern="1200" cap="none" spc="0" normalizeH="0" baseline="0" noProof="0">
              <a:ln>
                <a:noFill/>
              </a:ln>
              <a:solidFill>
                <a:srgbClr val="6E6F73"/>
              </a:solidFill>
              <a:effectLst/>
              <a:uLnTx/>
              <a:uFillTx/>
              <a:latin typeface="Trebuchet MS"/>
              <a:ea typeface="+mn-ea"/>
              <a:cs typeface="+mn-cs"/>
            </a:endParaRPr>
          </a:p>
        </p:txBody>
      </p:sp>
    </p:spTree>
    <p:extLst>
      <p:ext uri="{BB962C8B-B14F-4D97-AF65-F5344CB8AC3E}">
        <p14:creationId xmlns:p14="http://schemas.microsoft.com/office/powerpoint/2010/main" val="3323343504"/>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r>
              <a:rPr lang="en-US"/>
              <a:t>Notes view: </a:t>
            </a:r>
            <a:fld id="{128CEAFE-FA94-43E5-B0FF-D47E1CCDD1B4}" type="slidenum">
              <a:rPr lang="en-US" smtClean="0"/>
              <a:pPr/>
              <a:t>69</a:t>
            </a:fld>
            <a:endParaRPr lang="en-US"/>
          </a:p>
        </p:txBody>
      </p:sp>
    </p:spTree>
    <p:extLst>
      <p:ext uri="{BB962C8B-B14F-4D97-AF65-F5344CB8AC3E}">
        <p14:creationId xmlns:p14="http://schemas.microsoft.com/office/powerpoint/2010/main" val="363071639"/>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84DD83E3-F6A9-45B4-B4AA-B7B1C68418C0}" type="slidenum">
              <a:rPr lang="en-US" smtClean="0"/>
              <a:t>70</a:t>
            </a:fld>
            <a:endParaRPr lang="en-US"/>
          </a:p>
        </p:txBody>
      </p:sp>
    </p:spTree>
    <p:extLst>
      <p:ext uri="{BB962C8B-B14F-4D97-AF65-F5344CB8AC3E}">
        <p14:creationId xmlns:p14="http://schemas.microsoft.com/office/powerpoint/2010/main" val="3680107799"/>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71</a:t>
            </a:fld>
            <a:endParaRPr lang="en-US"/>
          </a:p>
        </p:txBody>
      </p:sp>
    </p:spTree>
    <p:extLst>
      <p:ext uri="{BB962C8B-B14F-4D97-AF65-F5344CB8AC3E}">
        <p14:creationId xmlns:p14="http://schemas.microsoft.com/office/powerpoint/2010/main" val="3679820973"/>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72</a:t>
            </a:fld>
            <a:endParaRPr lang="en-US"/>
          </a:p>
        </p:txBody>
      </p:sp>
    </p:spTree>
    <p:extLst>
      <p:ext uri="{BB962C8B-B14F-4D97-AF65-F5344CB8AC3E}">
        <p14:creationId xmlns:p14="http://schemas.microsoft.com/office/powerpoint/2010/main" val="4089425524"/>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73</a:t>
            </a:fld>
            <a:endParaRPr lang="en-US"/>
          </a:p>
        </p:txBody>
      </p:sp>
    </p:spTree>
    <p:extLst>
      <p:ext uri="{BB962C8B-B14F-4D97-AF65-F5344CB8AC3E}">
        <p14:creationId xmlns:p14="http://schemas.microsoft.com/office/powerpoint/2010/main" val="2619371431"/>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r>
              <a:rPr lang="en-US"/>
              <a:t>Notes view: </a:t>
            </a:r>
            <a:fld id="{128CEAFE-FA94-43E5-B0FF-D47E1CCDD1B4}" type="slidenum">
              <a:rPr lang="en-US" smtClean="0"/>
              <a:pPr/>
              <a:t>74</a:t>
            </a:fld>
            <a:endParaRPr lang="en-US"/>
          </a:p>
        </p:txBody>
      </p:sp>
    </p:spTree>
    <p:extLst>
      <p:ext uri="{BB962C8B-B14F-4D97-AF65-F5344CB8AC3E}">
        <p14:creationId xmlns:p14="http://schemas.microsoft.com/office/powerpoint/2010/main" val="968179978"/>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r>
              <a:rPr lang="en-US"/>
              <a:t>Notes view: </a:t>
            </a:r>
            <a:fld id="{128CEAFE-FA94-43E5-B0FF-D47E1CCDD1B4}" type="slidenum">
              <a:rPr lang="en-US" smtClean="0"/>
              <a:pPr/>
              <a:t>75</a:t>
            </a:fld>
            <a:endParaRPr lang="en-US"/>
          </a:p>
        </p:txBody>
      </p:sp>
    </p:spTree>
    <p:extLst>
      <p:ext uri="{BB962C8B-B14F-4D97-AF65-F5344CB8AC3E}">
        <p14:creationId xmlns:p14="http://schemas.microsoft.com/office/powerpoint/2010/main" val="136361271"/>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r>
              <a:rPr lang="en-US"/>
              <a:t>Notes view: </a:t>
            </a:r>
            <a:fld id="{128CEAFE-FA94-43E5-B0FF-D47E1CCDD1B4}" type="slidenum">
              <a:rPr lang="en-US" smtClean="0"/>
              <a:pPr/>
              <a:t>76</a:t>
            </a:fld>
            <a:endParaRPr lang="en-US"/>
          </a:p>
        </p:txBody>
      </p:sp>
    </p:spTree>
    <p:extLst>
      <p:ext uri="{BB962C8B-B14F-4D97-AF65-F5344CB8AC3E}">
        <p14:creationId xmlns:p14="http://schemas.microsoft.com/office/powerpoint/2010/main" val="2015518706"/>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r>
              <a:rPr lang="en-US"/>
              <a:t>Notes view: </a:t>
            </a:r>
            <a:fld id="{128CEAFE-FA94-43E5-B0FF-D47E1CCDD1B4}" type="slidenum">
              <a:rPr lang="en-US" smtClean="0"/>
              <a:pPr/>
              <a:t>77</a:t>
            </a:fld>
            <a:endParaRPr lang="en-US"/>
          </a:p>
        </p:txBody>
      </p:sp>
    </p:spTree>
    <p:extLst>
      <p:ext uri="{BB962C8B-B14F-4D97-AF65-F5344CB8AC3E}">
        <p14:creationId xmlns:p14="http://schemas.microsoft.com/office/powerpoint/2010/main" val="3519586015"/>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78</a:t>
            </a:fld>
            <a:endParaRPr lang="en-US"/>
          </a:p>
        </p:txBody>
      </p:sp>
    </p:spTree>
    <p:extLst>
      <p:ext uri="{BB962C8B-B14F-4D97-AF65-F5344CB8AC3E}">
        <p14:creationId xmlns:p14="http://schemas.microsoft.com/office/powerpoint/2010/main" val="3037561795"/>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b="0"/>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79</a:t>
            </a:fld>
            <a:endParaRPr lang="en-US"/>
          </a:p>
        </p:txBody>
      </p:sp>
    </p:spTree>
    <p:extLst>
      <p:ext uri="{BB962C8B-B14F-4D97-AF65-F5344CB8AC3E}">
        <p14:creationId xmlns:p14="http://schemas.microsoft.com/office/powerpoint/2010/main" val="3264944593"/>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80</a:t>
            </a:fld>
            <a:endParaRPr lang="en-US"/>
          </a:p>
        </p:txBody>
      </p:sp>
    </p:spTree>
    <p:extLst>
      <p:ext uri="{BB962C8B-B14F-4D97-AF65-F5344CB8AC3E}">
        <p14:creationId xmlns:p14="http://schemas.microsoft.com/office/powerpoint/2010/main" val="883714194"/>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81</a:t>
            </a:fld>
            <a:endParaRPr lang="en-US"/>
          </a:p>
        </p:txBody>
      </p:sp>
    </p:spTree>
    <p:extLst>
      <p:ext uri="{BB962C8B-B14F-4D97-AF65-F5344CB8AC3E}">
        <p14:creationId xmlns:p14="http://schemas.microsoft.com/office/powerpoint/2010/main" val="1241257921"/>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82</a:t>
            </a:fld>
            <a:endParaRPr lang="en-US"/>
          </a:p>
        </p:txBody>
      </p:sp>
    </p:spTree>
    <p:extLst>
      <p:ext uri="{BB962C8B-B14F-4D97-AF65-F5344CB8AC3E}">
        <p14:creationId xmlns:p14="http://schemas.microsoft.com/office/powerpoint/2010/main" val="3172891898"/>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r>
              <a:rPr lang="en-US"/>
              <a:t>Notes view: </a:t>
            </a:r>
            <a:fld id="{128CEAFE-FA94-43E5-B0FF-D47E1CCDD1B4}" type="slidenum">
              <a:rPr lang="en-US" smtClean="0"/>
              <a:pPr/>
              <a:t>83</a:t>
            </a:fld>
            <a:endParaRPr lang="en-US"/>
          </a:p>
        </p:txBody>
      </p:sp>
    </p:spTree>
    <p:extLst>
      <p:ext uri="{BB962C8B-B14F-4D97-AF65-F5344CB8AC3E}">
        <p14:creationId xmlns:p14="http://schemas.microsoft.com/office/powerpoint/2010/main" val="1330110789"/>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sym typeface="+mn-lt"/>
              </a:rPr>
              <a:t>Notes view: </a:t>
            </a:r>
            <a:fld id="{128CEAFE-FA94-43E5-B0FF-D47E1CCDD1B4}" type="slidenum">
              <a:rPr lang="en-US" smtClean="0">
                <a:sym typeface="+mn-lt"/>
              </a:rPr>
              <a:pPr/>
              <a:t>84</a:t>
            </a:fld>
            <a:endParaRPr lang="en-US">
              <a:sym typeface="+mn-lt"/>
            </a:endParaRPr>
          </a:p>
        </p:txBody>
      </p:sp>
    </p:spTree>
    <p:extLst>
      <p:ext uri="{BB962C8B-B14F-4D97-AF65-F5344CB8AC3E}">
        <p14:creationId xmlns:p14="http://schemas.microsoft.com/office/powerpoint/2010/main" val="3066702981"/>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sym typeface="+mn-lt"/>
              </a:rPr>
              <a:t>Notes view: </a:t>
            </a:r>
            <a:fld id="{128CEAFE-FA94-43E5-B0FF-D47E1CCDD1B4}" type="slidenum">
              <a:rPr lang="en-US" smtClean="0">
                <a:sym typeface="+mn-lt"/>
              </a:rPr>
              <a:pPr/>
              <a:t>85</a:t>
            </a:fld>
            <a:endParaRPr lang="en-US">
              <a:sym typeface="+mn-lt"/>
            </a:endParaRPr>
          </a:p>
        </p:txBody>
      </p:sp>
    </p:spTree>
    <p:extLst>
      <p:ext uri="{BB962C8B-B14F-4D97-AF65-F5344CB8AC3E}">
        <p14:creationId xmlns:p14="http://schemas.microsoft.com/office/powerpoint/2010/main" val="3106428631"/>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sym typeface="+mn-lt"/>
              </a:rPr>
              <a:t>Notes view: </a:t>
            </a:r>
            <a:fld id="{128CEAFE-FA94-43E5-B0FF-D47E1CCDD1B4}" type="slidenum">
              <a:rPr lang="en-US" smtClean="0">
                <a:sym typeface="+mn-lt"/>
              </a:rPr>
              <a:pPr/>
              <a:t>86</a:t>
            </a:fld>
            <a:endParaRPr lang="en-US">
              <a:sym typeface="+mn-lt"/>
            </a:endParaRPr>
          </a:p>
        </p:txBody>
      </p:sp>
    </p:spTree>
    <p:extLst>
      <p:ext uri="{BB962C8B-B14F-4D97-AF65-F5344CB8AC3E}">
        <p14:creationId xmlns:p14="http://schemas.microsoft.com/office/powerpoint/2010/main" val="3521311963"/>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sym typeface="+mn-lt"/>
              </a:rPr>
              <a:t>Notes view: </a:t>
            </a:r>
            <a:fld id="{128CEAFE-FA94-43E5-B0FF-D47E1CCDD1B4}" type="slidenum">
              <a:rPr lang="en-US" smtClean="0">
                <a:sym typeface="+mn-lt"/>
              </a:rPr>
              <a:pPr/>
              <a:t>87</a:t>
            </a:fld>
            <a:endParaRPr lang="en-US">
              <a:sym typeface="+mn-lt"/>
            </a:endParaRPr>
          </a:p>
        </p:txBody>
      </p:sp>
    </p:spTree>
    <p:extLst>
      <p:ext uri="{BB962C8B-B14F-4D97-AF65-F5344CB8AC3E}">
        <p14:creationId xmlns:p14="http://schemas.microsoft.com/office/powerpoint/2010/main" val="4033154421"/>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88</a:t>
            </a:fld>
            <a:endParaRPr lang="en-US"/>
          </a:p>
        </p:txBody>
      </p:sp>
    </p:spTree>
    <p:extLst>
      <p:ext uri="{BB962C8B-B14F-4D97-AF65-F5344CB8AC3E}">
        <p14:creationId xmlns:p14="http://schemas.microsoft.com/office/powerpoint/2010/main" val="1832965332"/>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89</a:t>
            </a:fld>
            <a:endParaRPr lang="en-US"/>
          </a:p>
        </p:txBody>
      </p:sp>
    </p:spTree>
    <p:extLst>
      <p:ext uri="{BB962C8B-B14F-4D97-AF65-F5344CB8AC3E}">
        <p14:creationId xmlns:p14="http://schemas.microsoft.com/office/powerpoint/2010/main" val="329354359"/>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90</a:t>
            </a:fld>
            <a:endParaRPr lang="en-US"/>
          </a:p>
        </p:txBody>
      </p:sp>
    </p:spTree>
    <p:extLst>
      <p:ext uri="{BB962C8B-B14F-4D97-AF65-F5344CB8AC3E}">
        <p14:creationId xmlns:p14="http://schemas.microsoft.com/office/powerpoint/2010/main" val="3488790246"/>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6E6F73"/>
                </a:solidFill>
                <a:effectLst/>
                <a:uLnTx/>
                <a:uFillTx/>
                <a:latin typeface="Trebuchet MS"/>
                <a:ea typeface="+mn-ea"/>
                <a:cs typeface="+mn-cs"/>
              </a:rPr>
              <a:t>Notes view: </a:t>
            </a:r>
            <a:fld id="{128CEAFE-FA94-43E5-B0FF-D47E1CCDD1B4}" type="slidenum">
              <a:rPr kumimoji="0" lang="en-US" sz="1400" b="0" i="0" u="none" strike="noStrike" kern="1200" cap="none" spc="0" normalizeH="0" baseline="0" noProof="0" smtClean="0">
                <a:ln>
                  <a:noFill/>
                </a:ln>
                <a:solidFill>
                  <a:srgbClr val="6E6F73"/>
                </a:solidFill>
                <a:effectLst/>
                <a:uLnTx/>
                <a:uFillTx/>
                <a:latin typeface="Trebuchet MS"/>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400" b="0" i="0" u="none" strike="noStrike" kern="1200" cap="none" spc="0" normalizeH="0" baseline="0" noProof="0">
              <a:ln>
                <a:noFill/>
              </a:ln>
              <a:solidFill>
                <a:srgbClr val="6E6F73"/>
              </a:solidFill>
              <a:effectLst/>
              <a:uLnTx/>
              <a:uFillTx/>
              <a:latin typeface="Trebuchet MS"/>
              <a:ea typeface="+mn-ea"/>
              <a:cs typeface="+mn-cs"/>
            </a:endParaRPr>
          </a:p>
        </p:txBody>
      </p:sp>
    </p:spTree>
    <p:extLst>
      <p:ext uri="{BB962C8B-B14F-4D97-AF65-F5344CB8AC3E}">
        <p14:creationId xmlns:p14="http://schemas.microsoft.com/office/powerpoint/2010/main" val="801930076"/>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Notes view: </a:t>
            </a:r>
            <a:fld id="{128CEAFE-FA94-43E5-B0FF-D47E1CCDD1B4}" type="slidenum">
              <a:rPr lang="en-US" smtClean="0"/>
              <a:pPr/>
              <a:t>92</a:t>
            </a:fld>
            <a:endParaRPr lang="en-US"/>
          </a:p>
        </p:txBody>
      </p:sp>
    </p:spTree>
    <p:extLst>
      <p:ext uri="{BB962C8B-B14F-4D97-AF65-F5344CB8AC3E}">
        <p14:creationId xmlns:p14="http://schemas.microsoft.com/office/powerpoint/2010/main" val="1746976720"/>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r>
              <a:rPr lang="en-US"/>
              <a:t>備注視圖：</a:t>
            </a:r>
            <a:fld id="{128CEAFE-FA94-43E5-B0FF-D47E1CCDD1B4}" type="slidenum">
              <a:rPr lang="en-US" smtClean="0"/>
              <a:pPr/>
              <a:t>93</a:t>
            </a:fld>
            <a:endParaRPr lang="en-US"/>
          </a:p>
        </p:txBody>
      </p:sp>
    </p:spTree>
    <p:extLst>
      <p:ext uri="{BB962C8B-B14F-4D97-AF65-F5344CB8AC3E}">
        <p14:creationId xmlns:p14="http://schemas.microsoft.com/office/powerpoint/2010/main" val="3824169321"/>
      </p:ext>
    </p:extLst>
  </p:cSld>
  <p:clrMapOvr>
    <a:masterClrMapping/>
  </p:clrMapOvr>
</p:notes>
</file>

<file path=ppt/slideLayouts/_rels/slideLayout1.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tags" Target="../tags/tag5.xml"/><Relationship Id="rId7" Type="http://schemas.openxmlformats.org/officeDocument/2006/relationships/image" Target="../media/image2.emf"/><Relationship Id="rId2" Type="http://schemas.openxmlformats.org/officeDocument/2006/relationships/tags" Target="../tags/tag4.xml"/><Relationship Id="rId1" Type="http://schemas.openxmlformats.org/officeDocument/2006/relationships/tags" Target="../tags/tag3.xml"/><Relationship Id="rId6" Type="http://schemas.openxmlformats.org/officeDocument/2006/relationships/oleObject" Target="../embeddings/oleObject2.bin"/><Relationship Id="rId5" Type="http://schemas.openxmlformats.org/officeDocument/2006/relationships/slideMaster" Target="../slideMasters/slideMaster1.xml"/><Relationship Id="rId4" Type="http://schemas.openxmlformats.org/officeDocument/2006/relationships/tags" Target="../tags/tag6.xml"/><Relationship Id="rId9" Type="http://schemas.openxmlformats.org/officeDocument/2006/relationships/image" Target="../media/image4.jpe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1.xml"/><Relationship Id="rId1" Type="http://schemas.openxmlformats.org/officeDocument/2006/relationships/tags" Target="../tags/tag7.xml"/><Relationship Id="rId5" Type="http://schemas.openxmlformats.org/officeDocument/2006/relationships/image" Target="../media/image8.png"/><Relationship Id="rId4" Type="http://schemas.openxmlformats.org/officeDocument/2006/relationships/image" Target="../media/image7.emf"/></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1.xml"/><Relationship Id="rId1" Type="http://schemas.openxmlformats.org/officeDocument/2006/relationships/tags" Target="../tags/tag8.xml"/><Relationship Id="rId5" Type="http://schemas.openxmlformats.org/officeDocument/2006/relationships/image" Target="../media/image9.png"/><Relationship Id="rId4" Type="http://schemas.openxmlformats.org/officeDocument/2006/relationships/image" Target="../media/image7.emf"/></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3" Type="http://schemas.openxmlformats.org/officeDocument/2006/relationships/tags" Target="../tags/tag11.xml"/><Relationship Id="rId7" Type="http://schemas.openxmlformats.org/officeDocument/2006/relationships/image" Target="../media/image4.jpeg"/><Relationship Id="rId2" Type="http://schemas.openxmlformats.org/officeDocument/2006/relationships/tags" Target="../tags/tag10.xml"/><Relationship Id="rId1" Type="http://schemas.openxmlformats.org/officeDocument/2006/relationships/tags" Target="../tags/tag9.xml"/><Relationship Id="rId6" Type="http://schemas.openxmlformats.org/officeDocument/2006/relationships/image" Target="../media/image2.emf"/><Relationship Id="rId5" Type="http://schemas.openxmlformats.org/officeDocument/2006/relationships/oleObject" Target="../embeddings/oleObject4.bin"/><Relationship Id="rId4"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tags" Target="../tags/tag14.xml"/><Relationship Id="rId7" Type="http://schemas.openxmlformats.org/officeDocument/2006/relationships/image" Target="../media/image2.emf"/><Relationship Id="rId2" Type="http://schemas.openxmlformats.org/officeDocument/2006/relationships/tags" Target="../tags/tag13.xml"/><Relationship Id="rId1" Type="http://schemas.openxmlformats.org/officeDocument/2006/relationships/tags" Target="../tags/tag12.xml"/><Relationship Id="rId6" Type="http://schemas.openxmlformats.org/officeDocument/2006/relationships/oleObject" Target="../embeddings/oleObject5.bin"/><Relationship Id="rId5" Type="http://schemas.openxmlformats.org/officeDocument/2006/relationships/slideMaster" Target="../slideMasters/slideMaster1.xml"/><Relationship Id="rId4" Type="http://schemas.openxmlformats.org/officeDocument/2006/relationships/tags" Target="../tags/tag15.xml"/><Relationship Id="rId9" Type="http://schemas.openxmlformats.org/officeDocument/2006/relationships/image" Target="../media/image4.jpe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1.xml"/><Relationship Id="rId1" Type="http://schemas.openxmlformats.org/officeDocument/2006/relationships/tags" Target="../tags/tag16.xml"/><Relationship Id="rId5" Type="http://schemas.openxmlformats.org/officeDocument/2006/relationships/image" Target="../media/image5.png"/><Relationship Id="rId4" Type="http://schemas.openxmlformats.org/officeDocument/2006/relationships/image" Target="../media/image7.emf"/></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1.xml"/><Relationship Id="rId1" Type="http://schemas.openxmlformats.org/officeDocument/2006/relationships/tags" Target="../tags/tag17.xml"/><Relationship Id="rId5" Type="http://schemas.openxmlformats.org/officeDocument/2006/relationships/image" Target="../media/image9.png"/><Relationship Id="rId4" Type="http://schemas.openxmlformats.org/officeDocument/2006/relationships/image" Target="../media/image2.emf"/></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3" Type="http://schemas.openxmlformats.org/officeDocument/2006/relationships/tags" Target="../tags/tag20.xml"/><Relationship Id="rId7" Type="http://schemas.openxmlformats.org/officeDocument/2006/relationships/image" Target="../media/image4.jpeg"/><Relationship Id="rId2" Type="http://schemas.openxmlformats.org/officeDocument/2006/relationships/tags" Target="../tags/tag19.xml"/><Relationship Id="rId1" Type="http://schemas.openxmlformats.org/officeDocument/2006/relationships/tags" Target="../tags/tag18.xml"/><Relationship Id="rId6" Type="http://schemas.openxmlformats.org/officeDocument/2006/relationships/image" Target="../media/image2.emf"/><Relationship Id="rId5" Type="http://schemas.openxmlformats.org/officeDocument/2006/relationships/oleObject" Target="../embeddings/oleObject6.bin"/><Relationship Id="rId4" Type="http://schemas.openxmlformats.org/officeDocument/2006/relationships/slideMaster" Target="../slideMasters/slideMaster1.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9.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22.xml"/><Relationship Id="rId1" Type="http://schemas.openxmlformats.org/officeDocument/2006/relationships/tags" Target="../tags/tag21.xml"/><Relationship Id="rId5" Type="http://schemas.openxmlformats.org/officeDocument/2006/relationships/image" Target="../media/image1.emf"/><Relationship Id="rId4" Type="http://schemas.openxmlformats.org/officeDocument/2006/relationships/oleObject" Target="../embeddings/oleObject7.bin"/></Relationships>
</file>

<file path=ppt/slideLayouts/_rels/slideLayout60.xml.rels><?xml version="1.0" encoding="UTF-8" standalone="yes"?>
<Relationships xmlns="http://schemas.openxmlformats.org/package/2006/relationships"><Relationship Id="rId3" Type="http://schemas.openxmlformats.org/officeDocument/2006/relationships/oleObject" Target="../embeddings/oleObject8.bin"/><Relationship Id="rId2" Type="http://schemas.openxmlformats.org/officeDocument/2006/relationships/slideMaster" Target="../slideMasters/slideMaster1.xml"/><Relationship Id="rId1" Type="http://schemas.openxmlformats.org/officeDocument/2006/relationships/tags" Target="../tags/tag23.xml"/><Relationship Id="rId4" Type="http://schemas.openxmlformats.org/officeDocument/2006/relationships/image" Target="../media/image1.emf"/></Relationships>
</file>

<file path=ppt/slideLayouts/_rels/slideLayout61.xml.rels><?xml version="1.0" encoding="UTF-8" standalone="yes"?>
<Relationships xmlns="http://schemas.openxmlformats.org/package/2006/relationships"><Relationship Id="rId3" Type="http://schemas.openxmlformats.org/officeDocument/2006/relationships/oleObject" Target="../embeddings/oleObject9.bin"/><Relationship Id="rId2" Type="http://schemas.openxmlformats.org/officeDocument/2006/relationships/slideMaster" Target="../slideMasters/slideMaster1.xml"/><Relationship Id="rId1" Type="http://schemas.openxmlformats.org/officeDocument/2006/relationships/tags" Target="../tags/tag24.xml"/><Relationship Id="rId4" Type="http://schemas.openxmlformats.org/officeDocument/2006/relationships/image" Target="../media/image1.emf"/></Relationships>
</file>

<file path=ppt/slideLayouts/_rels/slideLayout62.xml.rels><?xml version="1.0" encoding="UTF-8" standalone="yes"?>
<Relationships xmlns="http://schemas.openxmlformats.org/package/2006/relationships"><Relationship Id="rId3" Type="http://schemas.openxmlformats.org/officeDocument/2006/relationships/oleObject" Target="../embeddings/oleObject10.bin"/><Relationship Id="rId2" Type="http://schemas.openxmlformats.org/officeDocument/2006/relationships/slideMaster" Target="../slideMasters/slideMaster1.xml"/><Relationship Id="rId1" Type="http://schemas.openxmlformats.org/officeDocument/2006/relationships/tags" Target="../tags/tag25.xml"/><Relationship Id="rId5" Type="http://schemas.openxmlformats.org/officeDocument/2006/relationships/image" Target="../media/image3.png"/><Relationship Id="rId4" Type="http://schemas.openxmlformats.org/officeDocument/2006/relationships/image" Target="../media/image1.emf"/></Relationships>
</file>

<file path=ppt/slideLayouts/_rels/slideLayout63.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27.xml"/><Relationship Id="rId1" Type="http://schemas.openxmlformats.org/officeDocument/2006/relationships/tags" Target="../tags/tag26.xml"/><Relationship Id="rId5" Type="http://schemas.openxmlformats.org/officeDocument/2006/relationships/image" Target="../media/image1.emf"/><Relationship Id="rId4" Type="http://schemas.openxmlformats.org/officeDocument/2006/relationships/oleObject" Target="../embeddings/oleObject11.bin"/></Relationships>
</file>

<file path=ppt/slideLayouts/_rels/slideLayout64.xml.rels><?xml version="1.0" encoding="UTF-8" standalone="yes"?>
<Relationships xmlns="http://schemas.openxmlformats.org/package/2006/relationships"><Relationship Id="rId3" Type="http://schemas.openxmlformats.org/officeDocument/2006/relationships/oleObject" Target="../embeddings/oleObject12.bin"/><Relationship Id="rId2" Type="http://schemas.openxmlformats.org/officeDocument/2006/relationships/slideMaster" Target="../slideMasters/slideMaster1.xml"/><Relationship Id="rId1" Type="http://schemas.openxmlformats.org/officeDocument/2006/relationships/tags" Target="../tags/tag28.xml"/><Relationship Id="rId4" Type="http://schemas.openxmlformats.org/officeDocument/2006/relationships/image" Target="../media/image1.emf"/></Relationships>
</file>

<file path=ppt/slideLayouts/_rels/slideLayout65.xml.rels><?xml version="1.0" encoding="UTF-8" standalone="yes"?>
<Relationships xmlns="http://schemas.openxmlformats.org/package/2006/relationships"><Relationship Id="rId3" Type="http://schemas.openxmlformats.org/officeDocument/2006/relationships/oleObject" Target="../embeddings/oleObject13.bin"/><Relationship Id="rId2" Type="http://schemas.openxmlformats.org/officeDocument/2006/relationships/slideMaster" Target="../slideMasters/slideMaster1.xml"/><Relationship Id="rId1" Type="http://schemas.openxmlformats.org/officeDocument/2006/relationships/tags" Target="../tags/tag29.xml"/><Relationship Id="rId4" Type="http://schemas.openxmlformats.org/officeDocument/2006/relationships/image" Target="../media/image1.emf"/></Relationships>
</file>

<file path=ppt/slideLayouts/_rels/slideLayout66.xml.rels><?xml version="1.0" encoding="UTF-8" standalone="yes"?>
<Relationships xmlns="http://schemas.openxmlformats.org/package/2006/relationships"><Relationship Id="rId3" Type="http://schemas.openxmlformats.org/officeDocument/2006/relationships/oleObject" Target="../embeddings/oleObject14.bin"/><Relationship Id="rId2" Type="http://schemas.openxmlformats.org/officeDocument/2006/relationships/slideMaster" Target="../slideMasters/slideMaster1.xml"/><Relationship Id="rId1" Type="http://schemas.openxmlformats.org/officeDocument/2006/relationships/tags" Target="../tags/tag30.xml"/><Relationship Id="rId5" Type="http://schemas.openxmlformats.org/officeDocument/2006/relationships/image" Target="../media/image3.png"/><Relationship Id="rId4" Type="http://schemas.openxmlformats.org/officeDocument/2006/relationships/image" Target="../media/image1.emf"/></Relationships>
</file>

<file path=ppt/slideLayouts/_rels/slideLayout67.xml.rels><?xml version="1.0" encoding="UTF-8" standalone="yes"?>
<Relationships xmlns="http://schemas.openxmlformats.org/package/2006/relationships"><Relationship Id="rId3" Type="http://schemas.openxmlformats.org/officeDocument/2006/relationships/oleObject" Target="../embeddings/oleObject15.bin"/><Relationship Id="rId2" Type="http://schemas.openxmlformats.org/officeDocument/2006/relationships/slideMaster" Target="../slideMasters/slideMaster1.xml"/><Relationship Id="rId1" Type="http://schemas.openxmlformats.org/officeDocument/2006/relationships/tags" Target="../tags/tag31.xml"/><Relationship Id="rId5" Type="http://schemas.openxmlformats.org/officeDocument/2006/relationships/image" Target="../media/image5.png"/><Relationship Id="rId4" Type="http://schemas.openxmlformats.org/officeDocument/2006/relationships/image" Target="../media/image1.emf"/></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9.xml.rels><?xml version="1.0" encoding="UTF-8" standalone="yes"?>
<Relationships xmlns="http://schemas.openxmlformats.org/package/2006/relationships"><Relationship Id="rId3" Type="http://schemas.openxmlformats.org/officeDocument/2006/relationships/oleObject" Target="../embeddings/oleObject16.bin"/><Relationship Id="rId2" Type="http://schemas.openxmlformats.org/officeDocument/2006/relationships/slideMaster" Target="../slideMasters/slideMaster1.xml"/><Relationship Id="rId1" Type="http://schemas.openxmlformats.org/officeDocument/2006/relationships/tags" Target="../tags/tag32.xml"/><Relationship Id="rId5" Type="http://schemas.openxmlformats.org/officeDocument/2006/relationships/image" Target="../media/image11.png"/><Relationship Id="rId4" Type="http://schemas.openxmlformats.org/officeDocument/2006/relationships/image" Target="../media/image10.emf"/></Relationships>
</file>

<file path=ppt/slideLayouts/_rels/slideLayout70.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34.xml"/><Relationship Id="rId1" Type="http://schemas.openxmlformats.org/officeDocument/2006/relationships/tags" Target="../tags/tag33.xml"/><Relationship Id="rId5" Type="http://schemas.openxmlformats.org/officeDocument/2006/relationships/image" Target="../media/image12.emf"/><Relationship Id="rId4" Type="http://schemas.openxmlformats.org/officeDocument/2006/relationships/oleObject" Target="../embeddings/oleObject17.bin"/></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4.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2.xml"/></Relationships>
</file>

<file path=ppt/slideLayouts/_rels/slideLayout75.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2.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8.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tags" Target="../tags/tag39.xml"/><Relationship Id="rId7" Type="http://schemas.openxmlformats.org/officeDocument/2006/relationships/image" Target="../media/image2.emf"/><Relationship Id="rId2" Type="http://schemas.openxmlformats.org/officeDocument/2006/relationships/tags" Target="../tags/tag38.xml"/><Relationship Id="rId1" Type="http://schemas.openxmlformats.org/officeDocument/2006/relationships/tags" Target="../tags/tag37.xml"/><Relationship Id="rId6" Type="http://schemas.openxmlformats.org/officeDocument/2006/relationships/oleObject" Target="../embeddings/oleObject2.bin"/><Relationship Id="rId5" Type="http://schemas.openxmlformats.org/officeDocument/2006/relationships/slideMaster" Target="../slideMasters/slideMaster3.xml"/><Relationship Id="rId4" Type="http://schemas.openxmlformats.org/officeDocument/2006/relationships/tags" Target="../tags/tag40.xml"/><Relationship Id="rId9" Type="http://schemas.openxmlformats.org/officeDocument/2006/relationships/image" Target="../media/image4.jpeg"/></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8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8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8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8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8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90.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91.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3.xml"/><Relationship Id="rId1" Type="http://schemas.openxmlformats.org/officeDocument/2006/relationships/tags" Target="../tags/tag41.xml"/><Relationship Id="rId5" Type="http://schemas.openxmlformats.org/officeDocument/2006/relationships/image" Target="../media/image8.png"/><Relationship Id="rId4" Type="http://schemas.openxmlformats.org/officeDocument/2006/relationships/image" Target="../media/image7.emf"/></Relationships>
</file>

<file path=ppt/slideLayouts/_rels/slideLayout9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9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9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9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96.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9.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3.xml"/><Relationship Id="rId1" Type="http://schemas.openxmlformats.org/officeDocument/2006/relationships/tags" Target="../tags/tag42.xml"/><Relationship Id="rId5" Type="http://schemas.openxmlformats.org/officeDocument/2006/relationships/image" Target="../media/image9.png"/><Relationship Id="rId4" Type="http://schemas.openxmlformats.org/officeDocument/2006/relationships/image" Target="../media/image7.emf"/></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4.xml.rels><?xml version="1.0" encoding="UTF-8" standalone="yes"?>
<Relationships xmlns="http://schemas.openxmlformats.org/package/2006/relationships"><Relationship Id="rId3" Type="http://schemas.openxmlformats.org/officeDocument/2006/relationships/tags" Target="../tags/tag45.xml"/><Relationship Id="rId7" Type="http://schemas.openxmlformats.org/officeDocument/2006/relationships/image" Target="../media/image4.jpeg"/><Relationship Id="rId2" Type="http://schemas.openxmlformats.org/officeDocument/2006/relationships/tags" Target="../tags/tag44.xml"/><Relationship Id="rId1" Type="http://schemas.openxmlformats.org/officeDocument/2006/relationships/tags" Target="../tags/tag43.xml"/><Relationship Id="rId6" Type="http://schemas.openxmlformats.org/officeDocument/2006/relationships/image" Target="../media/image2.emf"/><Relationship Id="rId5" Type="http://schemas.openxmlformats.org/officeDocument/2006/relationships/oleObject" Target="../embeddings/oleObject4.bin"/><Relationship Id="rId4" Type="http://schemas.openxmlformats.org/officeDocument/2006/relationships/slideMaster" Target="../slideMasters/slideMaster3.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6.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tags" Target="../tags/tag48.xml"/><Relationship Id="rId7" Type="http://schemas.openxmlformats.org/officeDocument/2006/relationships/image" Target="../media/image2.emf"/><Relationship Id="rId2" Type="http://schemas.openxmlformats.org/officeDocument/2006/relationships/tags" Target="../tags/tag47.xml"/><Relationship Id="rId1" Type="http://schemas.openxmlformats.org/officeDocument/2006/relationships/tags" Target="../tags/tag46.xml"/><Relationship Id="rId6" Type="http://schemas.openxmlformats.org/officeDocument/2006/relationships/oleObject" Target="../embeddings/oleObject5.bin"/><Relationship Id="rId5" Type="http://schemas.openxmlformats.org/officeDocument/2006/relationships/slideMaster" Target="../slideMasters/slideMaster3.xml"/><Relationship Id="rId4" Type="http://schemas.openxmlformats.org/officeDocument/2006/relationships/tags" Target="../tags/tag49.xml"/><Relationship Id="rId9" Type="http://schemas.openxmlformats.org/officeDocument/2006/relationships/image" Target="../media/image4.jpeg"/></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11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11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11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11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11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118.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3.xml"/><Relationship Id="rId1" Type="http://schemas.openxmlformats.org/officeDocument/2006/relationships/tags" Target="../tags/tag50.xml"/><Relationship Id="rId5" Type="http://schemas.openxmlformats.org/officeDocument/2006/relationships/image" Target="../media/image5.png"/><Relationship Id="rId4" Type="http://schemas.openxmlformats.org/officeDocument/2006/relationships/image" Target="../media/image7.emf"/></Relationships>
</file>

<file path=ppt/slideLayouts/_rels/slideLayout11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12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12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122.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12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12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12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8.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3.xml"/><Relationship Id="rId1" Type="http://schemas.openxmlformats.org/officeDocument/2006/relationships/tags" Target="../tags/tag51.xml"/><Relationship Id="rId5" Type="http://schemas.openxmlformats.org/officeDocument/2006/relationships/image" Target="../media/image9.png"/><Relationship Id="rId4" Type="http://schemas.openxmlformats.org/officeDocument/2006/relationships/image" Target="../media/image2.emf"/></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4.xml.rels><?xml version="1.0" encoding="UTF-8" standalone="yes"?>
<Relationships xmlns="http://schemas.openxmlformats.org/package/2006/relationships"><Relationship Id="rId3" Type="http://schemas.openxmlformats.org/officeDocument/2006/relationships/tags" Target="../tags/tag54.xml"/><Relationship Id="rId7" Type="http://schemas.openxmlformats.org/officeDocument/2006/relationships/image" Target="../media/image4.jpeg"/><Relationship Id="rId2" Type="http://schemas.openxmlformats.org/officeDocument/2006/relationships/tags" Target="../tags/tag53.xml"/><Relationship Id="rId1" Type="http://schemas.openxmlformats.org/officeDocument/2006/relationships/tags" Target="../tags/tag52.xml"/><Relationship Id="rId6" Type="http://schemas.openxmlformats.org/officeDocument/2006/relationships/image" Target="../media/image2.emf"/><Relationship Id="rId5" Type="http://schemas.openxmlformats.org/officeDocument/2006/relationships/oleObject" Target="../embeddings/oleObject6.bin"/><Relationship Id="rId4" Type="http://schemas.openxmlformats.org/officeDocument/2006/relationships/slideMaster" Target="../slideMasters/slideMaster3.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6.xml.rels><?xml version="1.0" encoding="UTF-8" standalone="yes"?>
<Relationships xmlns="http://schemas.openxmlformats.org/package/2006/relationships"><Relationship Id="rId3" Type="http://schemas.openxmlformats.org/officeDocument/2006/relationships/slideMaster" Target="../slideMasters/slideMaster3.xml"/><Relationship Id="rId2" Type="http://schemas.openxmlformats.org/officeDocument/2006/relationships/tags" Target="../tags/tag56.xml"/><Relationship Id="rId1" Type="http://schemas.openxmlformats.org/officeDocument/2006/relationships/tags" Target="../tags/tag55.xml"/><Relationship Id="rId5" Type="http://schemas.openxmlformats.org/officeDocument/2006/relationships/image" Target="../media/image1.emf"/><Relationship Id="rId4" Type="http://schemas.openxmlformats.org/officeDocument/2006/relationships/oleObject" Target="../embeddings/oleObject7.bin"/></Relationships>
</file>

<file path=ppt/slideLayouts/_rels/slideLayout137.xml.rels><?xml version="1.0" encoding="UTF-8" standalone="yes"?>
<Relationships xmlns="http://schemas.openxmlformats.org/package/2006/relationships"><Relationship Id="rId3" Type="http://schemas.openxmlformats.org/officeDocument/2006/relationships/oleObject" Target="../embeddings/oleObject8.bin"/><Relationship Id="rId2" Type="http://schemas.openxmlformats.org/officeDocument/2006/relationships/slideMaster" Target="../slideMasters/slideMaster3.xml"/><Relationship Id="rId1" Type="http://schemas.openxmlformats.org/officeDocument/2006/relationships/tags" Target="../tags/tag57.xml"/><Relationship Id="rId4" Type="http://schemas.openxmlformats.org/officeDocument/2006/relationships/image" Target="../media/image1.emf"/></Relationships>
</file>

<file path=ppt/slideLayouts/_rels/slideLayout138.xml.rels><?xml version="1.0" encoding="UTF-8" standalone="yes"?>
<Relationships xmlns="http://schemas.openxmlformats.org/package/2006/relationships"><Relationship Id="rId3" Type="http://schemas.openxmlformats.org/officeDocument/2006/relationships/oleObject" Target="../embeddings/oleObject9.bin"/><Relationship Id="rId2" Type="http://schemas.openxmlformats.org/officeDocument/2006/relationships/slideMaster" Target="../slideMasters/slideMaster3.xml"/><Relationship Id="rId1" Type="http://schemas.openxmlformats.org/officeDocument/2006/relationships/tags" Target="../tags/tag58.xml"/><Relationship Id="rId4" Type="http://schemas.openxmlformats.org/officeDocument/2006/relationships/image" Target="../media/image1.emf"/></Relationships>
</file>

<file path=ppt/slideLayouts/_rels/slideLayout139.xml.rels><?xml version="1.0" encoding="UTF-8" standalone="yes"?>
<Relationships xmlns="http://schemas.openxmlformats.org/package/2006/relationships"><Relationship Id="rId3" Type="http://schemas.openxmlformats.org/officeDocument/2006/relationships/oleObject" Target="../embeddings/oleObject10.bin"/><Relationship Id="rId2" Type="http://schemas.openxmlformats.org/officeDocument/2006/relationships/slideMaster" Target="../slideMasters/slideMaster3.xml"/><Relationship Id="rId1" Type="http://schemas.openxmlformats.org/officeDocument/2006/relationships/tags" Target="../tags/tag59.xml"/><Relationship Id="rId5" Type="http://schemas.openxmlformats.org/officeDocument/2006/relationships/image" Target="../media/image3.png"/><Relationship Id="rId4" Type="http://schemas.openxmlformats.org/officeDocument/2006/relationships/image" Target="../media/image1.emf"/></Relationships>
</file>

<file path=ppt/slideLayouts/_rels/slideLayout140.xml.rels><?xml version="1.0" encoding="UTF-8" standalone="yes"?>
<Relationships xmlns="http://schemas.openxmlformats.org/package/2006/relationships"><Relationship Id="rId3" Type="http://schemas.openxmlformats.org/officeDocument/2006/relationships/slideMaster" Target="../slideMasters/slideMaster3.xml"/><Relationship Id="rId2" Type="http://schemas.openxmlformats.org/officeDocument/2006/relationships/tags" Target="../tags/tag61.xml"/><Relationship Id="rId1" Type="http://schemas.openxmlformats.org/officeDocument/2006/relationships/tags" Target="../tags/tag60.xml"/><Relationship Id="rId5" Type="http://schemas.openxmlformats.org/officeDocument/2006/relationships/image" Target="../media/image1.emf"/><Relationship Id="rId4" Type="http://schemas.openxmlformats.org/officeDocument/2006/relationships/oleObject" Target="../embeddings/oleObject11.bin"/></Relationships>
</file>

<file path=ppt/slideLayouts/_rels/slideLayout141.xml.rels><?xml version="1.0" encoding="UTF-8" standalone="yes"?>
<Relationships xmlns="http://schemas.openxmlformats.org/package/2006/relationships"><Relationship Id="rId3" Type="http://schemas.openxmlformats.org/officeDocument/2006/relationships/oleObject" Target="../embeddings/oleObject12.bin"/><Relationship Id="rId2" Type="http://schemas.openxmlformats.org/officeDocument/2006/relationships/slideMaster" Target="../slideMasters/slideMaster3.xml"/><Relationship Id="rId1" Type="http://schemas.openxmlformats.org/officeDocument/2006/relationships/tags" Target="../tags/tag62.xml"/><Relationship Id="rId4" Type="http://schemas.openxmlformats.org/officeDocument/2006/relationships/image" Target="../media/image1.emf"/></Relationships>
</file>

<file path=ppt/slideLayouts/_rels/slideLayout142.xml.rels><?xml version="1.0" encoding="UTF-8" standalone="yes"?>
<Relationships xmlns="http://schemas.openxmlformats.org/package/2006/relationships"><Relationship Id="rId3" Type="http://schemas.openxmlformats.org/officeDocument/2006/relationships/oleObject" Target="../embeddings/oleObject13.bin"/><Relationship Id="rId2" Type="http://schemas.openxmlformats.org/officeDocument/2006/relationships/slideMaster" Target="../slideMasters/slideMaster3.xml"/><Relationship Id="rId1" Type="http://schemas.openxmlformats.org/officeDocument/2006/relationships/tags" Target="../tags/tag63.xml"/><Relationship Id="rId4" Type="http://schemas.openxmlformats.org/officeDocument/2006/relationships/image" Target="../media/image1.emf"/></Relationships>
</file>

<file path=ppt/slideLayouts/_rels/slideLayout143.xml.rels><?xml version="1.0" encoding="UTF-8" standalone="yes"?>
<Relationships xmlns="http://schemas.openxmlformats.org/package/2006/relationships"><Relationship Id="rId3" Type="http://schemas.openxmlformats.org/officeDocument/2006/relationships/oleObject" Target="../embeddings/oleObject14.bin"/><Relationship Id="rId2" Type="http://schemas.openxmlformats.org/officeDocument/2006/relationships/slideMaster" Target="../slideMasters/slideMaster3.xml"/><Relationship Id="rId1" Type="http://schemas.openxmlformats.org/officeDocument/2006/relationships/tags" Target="../tags/tag64.xml"/><Relationship Id="rId5" Type="http://schemas.openxmlformats.org/officeDocument/2006/relationships/image" Target="../media/image3.png"/><Relationship Id="rId4" Type="http://schemas.openxmlformats.org/officeDocument/2006/relationships/image" Target="../media/image1.emf"/></Relationships>
</file>

<file path=ppt/slideLayouts/_rels/slideLayout144.xml.rels><?xml version="1.0" encoding="UTF-8" standalone="yes"?>
<Relationships xmlns="http://schemas.openxmlformats.org/package/2006/relationships"><Relationship Id="rId3" Type="http://schemas.openxmlformats.org/officeDocument/2006/relationships/oleObject" Target="../embeddings/oleObject15.bin"/><Relationship Id="rId2" Type="http://schemas.openxmlformats.org/officeDocument/2006/relationships/slideMaster" Target="../slideMasters/slideMaster3.xml"/><Relationship Id="rId1" Type="http://schemas.openxmlformats.org/officeDocument/2006/relationships/tags" Target="../tags/tag65.xml"/><Relationship Id="rId5" Type="http://schemas.openxmlformats.org/officeDocument/2006/relationships/image" Target="../media/image5.png"/><Relationship Id="rId4" Type="http://schemas.openxmlformats.org/officeDocument/2006/relationships/image" Target="../media/image1.emf"/></Relationships>
</file>

<file path=ppt/slideLayouts/_rels/slideLayout145.xml.rels><?xml version="1.0" encoding="UTF-8" standalone="yes"?>
<Relationships xmlns="http://schemas.openxmlformats.org/package/2006/relationships"><Relationship Id="rId3" Type="http://schemas.openxmlformats.org/officeDocument/2006/relationships/oleObject" Target="../embeddings/oleObject19.bin"/><Relationship Id="rId2" Type="http://schemas.openxmlformats.org/officeDocument/2006/relationships/slideMaster" Target="../slideMasters/slideMaster3.xml"/><Relationship Id="rId1" Type="http://schemas.openxmlformats.org/officeDocument/2006/relationships/tags" Target="../tags/tag66.xml"/><Relationship Id="rId4" Type="http://schemas.openxmlformats.org/officeDocument/2006/relationships/image" Target="../media/image10.emf"/></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Title Slide">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userDrawn="1">
            <p:custDataLst>
              <p:tags r:id="rId1"/>
            </p:custDataLst>
            <p:extLst>
              <p:ext uri="{D42A27DB-BD31-4B8C-83A1-F6EECF244321}">
                <p14:modId xmlns:p14="http://schemas.microsoft.com/office/powerpoint/2010/main" val="39856122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384" imgH="384" progId="TCLayout.ActiveDocument.1">
                  <p:embed/>
                </p:oleObj>
              </mc:Choice>
              <mc:Fallback>
                <p:oleObj name="think-cell Slide" r:id="rId6" imgW="384" imgH="384" progId="TCLayout.ActiveDocument.1">
                  <p:embed/>
                  <p:pic>
                    <p:nvPicPr>
                      <p:cNvPr id="4" name="Object 3"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3" name="Rectangle 2" hidden="1"/>
          <p:cNvSpPr/>
          <p:nvPr userDrawn="1">
            <p:custDataLst>
              <p:tags r:id="rId2"/>
            </p:custDataLst>
          </p:nvPr>
        </p:nvSpPr>
        <p:spPr>
          <a:xfrm>
            <a:off x="0" y="0"/>
            <a:ext cx="158750" cy="158750"/>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eaLnBrk="1">
              <a:lnSpc>
                <a:spcPct val="93000"/>
              </a:lnSpc>
              <a:spcBef>
                <a:spcPct val="0"/>
              </a:spcBef>
              <a:spcAft>
                <a:spcPct val="0"/>
              </a:spcAft>
            </a:pPr>
            <a:endParaRPr lang="en-US" sz="5400" b="0" i="0" baseline="0">
              <a:solidFill>
                <a:srgbClr val="FFFFFF"/>
              </a:solidFill>
              <a:latin typeface="Trebuchet MS" panose="020B0603020202020204" pitchFamily="34" charset="0"/>
              <a:ea typeface="+mj-ea"/>
              <a:cs typeface="+mj-cs"/>
              <a:sym typeface="Trebuchet MS" panose="020B0603020202020204" pitchFamily="34" charset="0"/>
            </a:endParaRPr>
          </a:p>
        </p:txBody>
      </p:sp>
      <p:sp>
        <p:nvSpPr>
          <p:cNvPr id="14" name="Rectangle 13"/>
          <p:cNvSpPr/>
          <p:nvPr userDrawn="1"/>
        </p:nvSpPr>
        <p:spPr>
          <a:xfrm>
            <a:off x="0" y="5279183"/>
            <a:ext cx="12192000" cy="1578817"/>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l">
              <a:lnSpc>
                <a:spcPct val="90000"/>
              </a:lnSpc>
              <a:spcAft>
                <a:spcPts val="1000"/>
              </a:spcAft>
            </a:pPr>
            <a:endParaRPr lang="en-US" sz="1200">
              <a:solidFill>
                <a:schemeClr val="bg1"/>
              </a:solidFill>
              <a:latin typeface="+mn-lt"/>
              <a:sym typeface="Trebuchet MS" panose="020B0603020202020204" pitchFamily="34" charset="0"/>
            </a:endParaRPr>
          </a:p>
        </p:txBody>
      </p:sp>
      <p:pic>
        <p:nvPicPr>
          <p:cNvPr id="18" name="Picture 17"/>
          <p:cNvPicPr>
            <a:picLocks noChangeAspect="1"/>
          </p:cNvPicPr>
          <p:nvPr userDrawn="1"/>
        </p:nvPicPr>
        <p:blipFill rotWithShape="1">
          <a:blip r:embed="rId8">
            <a:extLst>
              <a:ext uri="{28A0092B-C50C-407E-A947-70E740481C1C}">
                <a14:useLocalDpi xmlns:a14="http://schemas.microsoft.com/office/drawing/2010/main" val="0"/>
              </a:ext>
            </a:extLst>
          </a:blip>
          <a:srcRect l="1731" t="8741" r="102" b="27"/>
          <a:stretch/>
        </p:blipFill>
        <p:spPr>
          <a:xfrm rot="16200000" flipH="1">
            <a:off x="8471921" y="1973272"/>
            <a:ext cx="580573" cy="6858000"/>
          </a:xfrm>
          <a:prstGeom prst="rect">
            <a:avLst/>
          </a:prstGeom>
        </p:spPr>
      </p:pic>
      <p:pic>
        <p:nvPicPr>
          <p:cNvPr id="15" name="TitleAndEndImages"/>
          <p:cNvPicPr>
            <a:picLocks noChangeAspect="1"/>
          </p:cNvPicPr>
          <p:nvPr userDrawn="1">
            <p:custDataLst>
              <p:tags r:id="rId3"/>
            </p:custDataLst>
          </p:nvPr>
        </p:nvPicPr>
        <p:blipFill rotWithShape="1">
          <a:blip r:embed="rId9">
            <a:extLst>
              <a:ext uri="{28A0092B-C50C-407E-A947-70E740481C1C}">
                <a14:useLocalDpi xmlns:a14="http://schemas.microsoft.com/office/drawing/2010/main" val="0"/>
              </a:ext>
            </a:extLst>
          </a:blip>
          <a:srcRect b="23056"/>
          <a:stretch/>
        </p:blipFill>
        <p:spPr>
          <a:xfrm flipH="1">
            <a:off x="0" y="0"/>
            <a:ext cx="12192000" cy="5276850"/>
          </a:xfrm>
          <a:prstGeom prst="rect">
            <a:avLst/>
          </a:prstGeom>
        </p:spPr>
      </p:pic>
      <p:sp>
        <p:nvSpPr>
          <p:cNvPr id="20" name="Picture Placeholder 8"/>
          <p:cNvSpPr>
            <a:spLocks noGrp="1"/>
          </p:cNvSpPr>
          <p:nvPr>
            <p:ph type="pic" sz="quarter" idx="13" hasCustomPrompt="1"/>
          </p:nvPr>
        </p:nvSpPr>
        <p:spPr>
          <a:xfrm>
            <a:off x="9366561" y="5570642"/>
            <a:ext cx="1867935" cy="896833"/>
          </a:xfrm>
          <a:prstGeom prst="rect">
            <a:avLst/>
          </a:prstGeom>
        </p:spPr>
        <p:txBody>
          <a:bodyPr anchor="b"/>
          <a:lstStyle>
            <a:lvl1pPr algn="ctr">
              <a:defRPr sz="1600">
                <a:solidFill>
                  <a:schemeClr val="tx1"/>
                </a:solidFill>
                <a:latin typeface="Trebuchet MS" panose="020B0603020202020204" pitchFamily="34" charset="0"/>
                <a:sym typeface="Trebuchet MS" panose="020B0603020202020204" pitchFamily="34" charset="0"/>
              </a:defRPr>
            </a:lvl1pPr>
          </a:lstStyle>
          <a:p>
            <a:r>
              <a:rPr lang="en-US"/>
              <a:t>Logo</a:t>
            </a:r>
          </a:p>
        </p:txBody>
      </p:sp>
      <p:sp>
        <p:nvSpPr>
          <p:cNvPr id="21" name="Rectangle 20"/>
          <p:cNvSpPr/>
          <p:nvPr userDrawn="1"/>
        </p:nvSpPr>
        <p:spPr bwMode="black">
          <a:xfrm>
            <a:off x="630936" y="626200"/>
            <a:ext cx="8125200" cy="5529600"/>
          </a:xfrm>
          <a:prstGeom prst="rect">
            <a:avLst/>
          </a:prstGeom>
          <a:gradFill flip="none" rotWithShape="1">
            <a:gsLst>
              <a:gs pos="0">
                <a:schemeClr val="accent1">
                  <a:alpha val="90000"/>
                </a:schemeClr>
              </a:gs>
              <a:gs pos="100000">
                <a:schemeClr val="tx2">
                  <a:alpha val="90000"/>
                </a:schemeClr>
              </a:gs>
            </a:gsLst>
            <a:lin ang="189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lnSpc>
                <a:spcPct val="95000"/>
              </a:lnSpc>
            </a:pPr>
            <a:endParaRPr lang="en-US" sz="2000">
              <a:solidFill>
                <a:prstClr val="white"/>
              </a:solidFill>
              <a:latin typeface="+mn-lt"/>
              <a:sym typeface="Trebuchet MS" panose="020B0603020202020204" pitchFamily="34" charset="0"/>
            </a:endParaRPr>
          </a:p>
        </p:txBody>
      </p:sp>
      <p:sp>
        <p:nvSpPr>
          <p:cNvPr id="22" name="Text Placeholder 6"/>
          <p:cNvSpPr>
            <a:spLocks noGrp="1"/>
          </p:cNvSpPr>
          <p:nvPr>
            <p:ph type="body" sz="quarter" idx="12" hasCustomPrompt="1"/>
          </p:nvPr>
        </p:nvSpPr>
        <p:spPr bwMode="black">
          <a:xfrm>
            <a:off x="1117415" y="6207842"/>
            <a:ext cx="6868800" cy="327148"/>
          </a:xfrm>
          <a:prstGeom prst="rect">
            <a:avLst/>
          </a:prstGeom>
          <a:noFill/>
        </p:spPr>
        <p:txBody>
          <a:bodyPr anchor="ctr"/>
          <a:lstStyle>
            <a:lvl1pPr algn="l">
              <a:lnSpc>
                <a:spcPct val="110000"/>
              </a:lnSpc>
              <a:buNone/>
              <a:defRPr sz="1200" b="1" cap="all" baseline="0">
                <a:solidFill>
                  <a:schemeClr val="accent5"/>
                </a:solidFill>
                <a:latin typeface="+mn-lt"/>
                <a:sym typeface="Trebuchet MS" panose="020B0603020202020204" pitchFamily="34" charset="0"/>
              </a:defRPr>
            </a:lvl1pPr>
            <a:lvl2pPr algn="ctr">
              <a:buNone/>
              <a:defRPr/>
            </a:lvl2pPr>
            <a:lvl3pPr marL="0" indent="0" algn="ctr">
              <a:buNone/>
              <a:defRPr/>
            </a:lvl3pPr>
            <a:lvl4pPr marL="228600" indent="0" algn="ctr">
              <a:buNone/>
              <a:defRPr/>
            </a:lvl4pPr>
            <a:lvl5pPr marL="457200" indent="0" algn="ctr">
              <a:buNone/>
              <a:defRPr/>
            </a:lvl5pPr>
          </a:lstStyle>
          <a:p>
            <a:pPr lvl="0"/>
            <a:r>
              <a:rPr lang="en-US"/>
              <a:t>Click to edit date/place</a:t>
            </a:r>
          </a:p>
        </p:txBody>
      </p:sp>
      <p:sp>
        <p:nvSpPr>
          <p:cNvPr id="26" name="Subtitle 2"/>
          <p:cNvSpPr>
            <a:spLocks noGrp="1"/>
          </p:cNvSpPr>
          <p:nvPr>
            <p:ph type="subTitle" idx="1" hasCustomPrompt="1"/>
          </p:nvPr>
        </p:nvSpPr>
        <p:spPr bwMode="white">
          <a:xfrm>
            <a:off x="1117415" y="5495706"/>
            <a:ext cx="6868800" cy="436195"/>
          </a:xfrm>
          <a:prstGeom prst="rect">
            <a:avLst/>
          </a:prstGeom>
        </p:spPr>
        <p:txBody>
          <a:bodyPr anchor="ctr"/>
          <a:lstStyle>
            <a:lvl1pPr marL="0" indent="0" algn="l">
              <a:lnSpc>
                <a:spcPct val="110000"/>
              </a:lnSpc>
              <a:buNone/>
              <a:defRPr sz="1600" baseline="0">
                <a:solidFill>
                  <a:schemeClr val="bg1"/>
                </a:solidFill>
                <a:latin typeface="+mn-lt"/>
                <a:sym typeface="Trebuchet MS" panose="020B0603020202020204" pitchFamily="34"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Subtitle in sentence case</a:t>
            </a:r>
          </a:p>
        </p:txBody>
      </p:sp>
      <p:sp>
        <p:nvSpPr>
          <p:cNvPr id="27" name="Title 1"/>
          <p:cNvSpPr>
            <a:spLocks noGrp="1"/>
          </p:cNvSpPr>
          <p:nvPr>
            <p:ph type="ctrTitle" hasCustomPrompt="1"/>
          </p:nvPr>
        </p:nvSpPr>
        <p:spPr bwMode="ltGray">
          <a:xfrm>
            <a:off x="1117415" y="1886242"/>
            <a:ext cx="6868800" cy="3138423"/>
          </a:xfrm>
          <a:prstGeom prst="rect">
            <a:avLst/>
          </a:prstGeom>
        </p:spPr>
        <p:txBody>
          <a:bodyPr anchor="b">
            <a:normAutofit/>
          </a:bodyPr>
          <a:lstStyle>
            <a:lvl1pPr algn="l">
              <a:lnSpc>
                <a:spcPct val="93000"/>
              </a:lnSpc>
              <a:defRPr sz="5400" baseline="0">
                <a:solidFill>
                  <a:schemeClr val="bg1"/>
                </a:solidFill>
                <a:latin typeface="+mj-lt"/>
                <a:sym typeface="Trebuchet MS" panose="020B0603020202020204" pitchFamily="34" charset="0"/>
              </a:defRPr>
            </a:lvl1pPr>
          </a:lstStyle>
          <a:p>
            <a:r>
              <a:rPr lang="en-US"/>
              <a:t>Title in Title Case</a:t>
            </a:r>
          </a:p>
        </p:txBody>
      </p:sp>
      <p:sp>
        <p:nvSpPr>
          <p:cNvPr id="33" name="Freeform 32"/>
          <p:cNvSpPr>
            <a:spLocks noChangeAspect="1"/>
          </p:cNvSpPr>
          <p:nvPr userDrawn="1">
            <p:custDataLst>
              <p:tags r:id="rId4"/>
            </p:custDataLst>
          </p:nvPr>
        </p:nvSpPr>
        <p:spPr bwMode="auto">
          <a:xfrm>
            <a:off x="1117415" y="1112679"/>
            <a:ext cx="2327644" cy="486479"/>
          </a:xfrm>
          <a:custGeom>
            <a:avLst/>
            <a:gdLst>
              <a:gd name="connsiteX0" fmla="*/ 8982072 w 11499847"/>
              <a:gd name="connsiteY0" fmla="*/ 1919288 h 2403475"/>
              <a:gd name="connsiteX1" fmla="*/ 8982072 w 11499847"/>
              <a:gd name="connsiteY1" fmla="*/ 2105026 h 2403475"/>
              <a:gd name="connsiteX2" fmla="*/ 9098233 w 11499847"/>
              <a:gd name="connsiteY2" fmla="*/ 2105026 h 2403475"/>
              <a:gd name="connsiteX3" fmla="*/ 9164880 w 11499847"/>
              <a:gd name="connsiteY3" fmla="*/ 2080233 h 2403475"/>
              <a:gd name="connsiteX4" fmla="*/ 9191622 w 11499847"/>
              <a:gd name="connsiteY4" fmla="*/ 2011737 h 2403475"/>
              <a:gd name="connsiteX5" fmla="*/ 9164880 w 11499847"/>
              <a:gd name="connsiteY5" fmla="*/ 1944501 h 2403475"/>
              <a:gd name="connsiteX6" fmla="*/ 9098233 w 11499847"/>
              <a:gd name="connsiteY6" fmla="*/ 1919288 h 2403475"/>
              <a:gd name="connsiteX7" fmla="*/ 8982072 w 11499847"/>
              <a:gd name="connsiteY7" fmla="*/ 1919288 h 2403475"/>
              <a:gd name="connsiteX8" fmla="*/ 7280272 w 11499847"/>
              <a:gd name="connsiteY8" fmla="*/ 1919288 h 2403475"/>
              <a:gd name="connsiteX9" fmla="*/ 7280272 w 11499847"/>
              <a:gd name="connsiteY9" fmla="*/ 2097088 h 2403475"/>
              <a:gd name="connsiteX10" fmla="*/ 7404503 w 11499847"/>
              <a:gd name="connsiteY10" fmla="*/ 2097088 h 2403475"/>
              <a:gd name="connsiteX11" fmla="*/ 7469027 w 11499847"/>
              <a:gd name="connsiteY11" fmla="*/ 2073423 h 2403475"/>
              <a:gd name="connsiteX12" fmla="*/ 7494585 w 11499847"/>
              <a:gd name="connsiteY12" fmla="*/ 2008502 h 2403475"/>
              <a:gd name="connsiteX13" fmla="*/ 7469027 w 11499847"/>
              <a:gd name="connsiteY13" fmla="*/ 1943581 h 2403475"/>
              <a:gd name="connsiteX14" fmla="*/ 7404503 w 11499847"/>
              <a:gd name="connsiteY14" fmla="*/ 1919288 h 2403475"/>
              <a:gd name="connsiteX15" fmla="*/ 7280272 w 11499847"/>
              <a:gd name="connsiteY15" fmla="*/ 1919288 h 2403475"/>
              <a:gd name="connsiteX16" fmla="*/ 7945015 w 11499847"/>
              <a:gd name="connsiteY16" fmla="*/ 1909763 h 2403475"/>
              <a:gd name="connsiteX17" fmla="*/ 7813574 w 11499847"/>
              <a:gd name="connsiteY17" fmla="*/ 1965330 h 2403475"/>
              <a:gd name="connsiteX18" fmla="*/ 7759697 w 11499847"/>
              <a:gd name="connsiteY18" fmla="*/ 2100368 h 2403475"/>
              <a:gd name="connsiteX19" fmla="*/ 7813574 w 11499847"/>
              <a:gd name="connsiteY19" fmla="*/ 2235406 h 2403475"/>
              <a:gd name="connsiteX20" fmla="*/ 7945015 w 11499847"/>
              <a:gd name="connsiteY20" fmla="*/ 2290763 h 2403475"/>
              <a:gd name="connsiteX21" fmla="*/ 8077086 w 11499847"/>
              <a:gd name="connsiteY21" fmla="*/ 2235825 h 2403475"/>
              <a:gd name="connsiteX22" fmla="*/ 8131172 w 11499847"/>
              <a:gd name="connsiteY22" fmla="*/ 2100368 h 2403475"/>
              <a:gd name="connsiteX23" fmla="*/ 8076876 w 11499847"/>
              <a:gd name="connsiteY23" fmla="*/ 1965330 h 2403475"/>
              <a:gd name="connsiteX24" fmla="*/ 7945015 w 11499847"/>
              <a:gd name="connsiteY24" fmla="*/ 1909763 h 2403475"/>
              <a:gd name="connsiteX25" fmla="*/ 8899522 w 11499847"/>
              <a:gd name="connsiteY25" fmla="*/ 1844675 h 2403475"/>
              <a:gd name="connsiteX26" fmla="*/ 9098598 w 11499847"/>
              <a:gd name="connsiteY26" fmla="*/ 1844675 h 2403475"/>
              <a:gd name="connsiteX27" fmla="*/ 9228521 w 11499847"/>
              <a:gd name="connsiteY27" fmla="*/ 1892741 h 2403475"/>
              <a:gd name="connsiteX28" fmla="*/ 9277347 w 11499847"/>
              <a:gd name="connsiteY28" fmla="*/ 2011236 h 2403475"/>
              <a:gd name="connsiteX29" fmla="*/ 9228521 w 11499847"/>
              <a:gd name="connsiteY29" fmla="*/ 2129521 h 2403475"/>
              <a:gd name="connsiteX30" fmla="*/ 9098598 w 11499847"/>
              <a:gd name="connsiteY30" fmla="*/ 2177796 h 2403475"/>
              <a:gd name="connsiteX31" fmla="*/ 8982086 w 11499847"/>
              <a:gd name="connsiteY31" fmla="*/ 2177796 h 2403475"/>
              <a:gd name="connsiteX32" fmla="*/ 8982086 w 11499847"/>
              <a:gd name="connsiteY32" fmla="*/ 2355850 h 2403475"/>
              <a:gd name="connsiteX33" fmla="*/ 8899522 w 11499847"/>
              <a:gd name="connsiteY33" fmla="*/ 2355850 h 2403475"/>
              <a:gd name="connsiteX34" fmla="*/ 8899522 w 11499847"/>
              <a:gd name="connsiteY34" fmla="*/ 1844675 h 2403475"/>
              <a:gd name="connsiteX35" fmla="*/ 8324847 w 11499847"/>
              <a:gd name="connsiteY35" fmla="*/ 1844675 h 2403475"/>
              <a:gd name="connsiteX36" fmla="*/ 8407608 w 11499847"/>
              <a:gd name="connsiteY36" fmla="*/ 1844675 h 2403475"/>
              <a:gd name="connsiteX37" fmla="*/ 8407608 w 11499847"/>
              <a:gd name="connsiteY37" fmla="*/ 2158090 h 2403475"/>
              <a:gd name="connsiteX38" fmla="*/ 8443017 w 11499847"/>
              <a:gd name="connsiteY38" fmla="*/ 2252595 h 2403475"/>
              <a:gd name="connsiteX39" fmla="*/ 8537931 w 11499847"/>
              <a:gd name="connsiteY39" fmla="*/ 2291066 h 2403475"/>
              <a:gd name="connsiteX40" fmla="*/ 8631797 w 11499847"/>
              <a:gd name="connsiteY40" fmla="*/ 2252595 h 2403475"/>
              <a:gd name="connsiteX41" fmla="*/ 8667415 w 11499847"/>
              <a:gd name="connsiteY41" fmla="*/ 2158090 h 2403475"/>
              <a:gd name="connsiteX42" fmla="*/ 8667415 w 11499847"/>
              <a:gd name="connsiteY42" fmla="*/ 1844675 h 2403475"/>
              <a:gd name="connsiteX43" fmla="*/ 8748710 w 11499847"/>
              <a:gd name="connsiteY43" fmla="*/ 1844675 h 2403475"/>
              <a:gd name="connsiteX44" fmla="*/ 8748710 w 11499847"/>
              <a:gd name="connsiteY44" fmla="*/ 2158717 h 2403475"/>
              <a:gd name="connsiteX45" fmla="*/ 8688577 w 11499847"/>
              <a:gd name="connsiteY45" fmla="*/ 2307793 h 2403475"/>
              <a:gd name="connsiteX46" fmla="*/ 8537093 w 11499847"/>
              <a:gd name="connsiteY46" fmla="*/ 2366963 h 2403475"/>
              <a:gd name="connsiteX47" fmla="*/ 8385399 w 11499847"/>
              <a:gd name="connsiteY47" fmla="*/ 2307793 h 2403475"/>
              <a:gd name="connsiteX48" fmla="*/ 8324847 w 11499847"/>
              <a:gd name="connsiteY48" fmla="*/ 2158717 h 2403475"/>
              <a:gd name="connsiteX49" fmla="*/ 8324847 w 11499847"/>
              <a:gd name="connsiteY49" fmla="*/ 1844675 h 2403475"/>
              <a:gd name="connsiteX50" fmla="*/ 7197722 w 11499847"/>
              <a:gd name="connsiteY50" fmla="*/ 1844675 h 2403475"/>
              <a:gd name="connsiteX51" fmla="*/ 7404196 w 11499847"/>
              <a:gd name="connsiteY51" fmla="*/ 1844675 h 2403475"/>
              <a:gd name="connsiteX52" fmla="*/ 7531336 w 11499847"/>
              <a:gd name="connsiteY52" fmla="*/ 1891906 h 2403475"/>
              <a:gd name="connsiteX53" fmla="*/ 7578727 w 11499847"/>
              <a:gd name="connsiteY53" fmla="*/ 2008937 h 2403475"/>
              <a:gd name="connsiteX54" fmla="*/ 7548455 w 11499847"/>
              <a:gd name="connsiteY54" fmla="*/ 2106950 h 2403475"/>
              <a:gd name="connsiteX55" fmla="*/ 7464947 w 11499847"/>
              <a:gd name="connsiteY55" fmla="*/ 2161495 h 2403475"/>
              <a:gd name="connsiteX56" fmla="*/ 7525699 w 11499847"/>
              <a:gd name="connsiteY56" fmla="*/ 2258673 h 2403475"/>
              <a:gd name="connsiteX57" fmla="*/ 7586660 w 11499847"/>
              <a:gd name="connsiteY57" fmla="*/ 2355850 h 2403475"/>
              <a:gd name="connsiteX58" fmla="*/ 7491044 w 11499847"/>
              <a:gd name="connsiteY58" fmla="*/ 2355850 h 2403475"/>
              <a:gd name="connsiteX59" fmla="*/ 7434676 w 11499847"/>
              <a:gd name="connsiteY59" fmla="*/ 2263479 h 2403475"/>
              <a:gd name="connsiteX60" fmla="*/ 7378099 w 11499847"/>
              <a:gd name="connsiteY60" fmla="*/ 2171108 h 2403475"/>
              <a:gd name="connsiteX61" fmla="*/ 7280395 w 11499847"/>
              <a:gd name="connsiteY61" fmla="*/ 2171108 h 2403475"/>
              <a:gd name="connsiteX62" fmla="*/ 7280395 w 11499847"/>
              <a:gd name="connsiteY62" fmla="*/ 2355850 h 2403475"/>
              <a:gd name="connsiteX63" fmla="*/ 7197722 w 11499847"/>
              <a:gd name="connsiteY63" fmla="*/ 2355850 h 2403475"/>
              <a:gd name="connsiteX64" fmla="*/ 7197722 w 11499847"/>
              <a:gd name="connsiteY64" fmla="*/ 1844675 h 2403475"/>
              <a:gd name="connsiteX65" fmla="*/ 7945016 w 11499847"/>
              <a:gd name="connsiteY65" fmla="*/ 1833563 h 2403475"/>
              <a:gd name="connsiteX66" fmla="*/ 8136527 w 11499847"/>
              <a:gd name="connsiteY66" fmla="*/ 1911974 h 2403475"/>
              <a:gd name="connsiteX67" fmla="*/ 8215310 w 11499847"/>
              <a:gd name="connsiteY67" fmla="*/ 2100368 h 2403475"/>
              <a:gd name="connsiteX68" fmla="*/ 8136527 w 11499847"/>
              <a:gd name="connsiteY68" fmla="*/ 2288762 h 2403475"/>
              <a:gd name="connsiteX69" fmla="*/ 7945016 w 11499847"/>
              <a:gd name="connsiteY69" fmla="*/ 2366963 h 2403475"/>
              <a:gd name="connsiteX70" fmla="*/ 7754134 w 11499847"/>
              <a:gd name="connsiteY70" fmla="*/ 2288762 h 2403475"/>
              <a:gd name="connsiteX71" fmla="*/ 7675560 w 11499847"/>
              <a:gd name="connsiteY71" fmla="*/ 2100368 h 2403475"/>
              <a:gd name="connsiteX72" fmla="*/ 7754134 w 11499847"/>
              <a:gd name="connsiteY72" fmla="*/ 1911974 h 2403475"/>
              <a:gd name="connsiteX73" fmla="*/ 7945016 w 11499847"/>
              <a:gd name="connsiteY73" fmla="*/ 1833563 h 2403475"/>
              <a:gd name="connsiteX74" fmla="*/ 6834872 w 11499847"/>
              <a:gd name="connsiteY74" fmla="*/ 1833563 h 2403475"/>
              <a:gd name="connsiteX75" fmla="*/ 6921875 w 11499847"/>
              <a:gd name="connsiteY75" fmla="*/ 1845482 h 2403475"/>
              <a:gd name="connsiteX76" fmla="*/ 6996090 w 11499847"/>
              <a:gd name="connsiteY76" fmla="*/ 1881028 h 2403475"/>
              <a:gd name="connsiteX77" fmla="*/ 6974496 w 11499847"/>
              <a:gd name="connsiteY77" fmla="*/ 1914692 h 2403475"/>
              <a:gd name="connsiteX78" fmla="*/ 6952903 w 11499847"/>
              <a:gd name="connsiteY78" fmla="*/ 1948356 h 2403475"/>
              <a:gd name="connsiteX79" fmla="*/ 6897556 w 11499847"/>
              <a:gd name="connsiteY79" fmla="*/ 1919501 h 2403475"/>
              <a:gd name="connsiteX80" fmla="*/ 6834243 w 11499847"/>
              <a:gd name="connsiteY80" fmla="*/ 1910301 h 2403475"/>
              <a:gd name="connsiteX81" fmla="*/ 6703424 w 11499847"/>
              <a:gd name="connsiteY81" fmla="*/ 1965084 h 2403475"/>
              <a:gd name="connsiteX82" fmla="*/ 6650384 w 11499847"/>
              <a:gd name="connsiteY82" fmla="*/ 2100368 h 2403475"/>
              <a:gd name="connsiteX83" fmla="*/ 6701957 w 11499847"/>
              <a:gd name="connsiteY83" fmla="*/ 2236070 h 2403475"/>
              <a:gd name="connsiteX84" fmla="*/ 6831308 w 11499847"/>
              <a:gd name="connsiteY84" fmla="*/ 2291062 h 2403475"/>
              <a:gd name="connsiteX85" fmla="*/ 6945984 w 11499847"/>
              <a:gd name="connsiteY85" fmla="*/ 2250498 h 2403475"/>
              <a:gd name="connsiteX86" fmla="*/ 6999863 w 11499847"/>
              <a:gd name="connsiteY86" fmla="*/ 2148460 h 2403475"/>
              <a:gd name="connsiteX87" fmla="*/ 6825438 w 11499847"/>
              <a:gd name="connsiteY87" fmla="*/ 2148460 h 2403475"/>
              <a:gd name="connsiteX88" fmla="*/ 6849128 w 11499847"/>
              <a:gd name="connsiteY88" fmla="*/ 2111241 h 2403475"/>
              <a:gd name="connsiteX89" fmla="*/ 6873028 w 11499847"/>
              <a:gd name="connsiteY89" fmla="*/ 2074022 h 2403475"/>
              <a:gd name="connsiteX90" fmla="*/ 7078061 w 11499847"/>
              <a:gd name="connsiteY90" fmla="*/ 2074022 h 2403475"/>
              <a:gd name="connsiteX91" fmla="*/ 7080787 w 11499847"/>
              <a:gd name="connsiteY91" fmla="*/ 2090540 h 2403475"/>
              <a:gd name="connsiteX92" fmla="*/ 7081835 w 11499847"/>
              <a:gd name="connsiteY92" fmla="*/ 2110613 h 2403475"/>
              <a:gd name="connsiteX93" fmla="*/ 7011813 w 11499847"/>
              <a:gd name="connsiteY93" fmla="*/ 2293362 h 2403475"/>
              <a:gd name="connsiteX94" fmla="*/ 6830470 w 11499847"/>
              <a:gd name="connsiteY94" fmla="*/ 2366963 h 2403475"/>
              <a:gd name="connsiteX95" fmla="*/ 6642417 w 11499847"/>
              <a:gd name="connsiteY95" fmla="*/ 2289389 h 2403475"/>
              <a:gd name="connsiteX96" fmla="*/ 6565897 w 11499847"/>
              <a:gd name="connsiteY96" fmla="*/ 2100368 h 2403475"/>
              <a:gd name="connsiteX97" fmla="*/ 6644514 w 11499847"/>
              <a:gd name="connsiteY97" fmla="*/ 1911346 h 2403475"/>
              <a:gd name="connsiteX98" fmla="*/ 6834872 w 11499847"/>
              <a:gd name="connsiteY98" fmla="*/ 1833563 h 2403475"/>
              <a:gd name="connsiteX99" fmla="*/ 501650 w 11499847"/>
              <a:gd name="connsiteY99" fmla="*/ 1403350 h 2403475"/>
              <a:gd name="connsiteX100" fmla="*/ 501650 w 11499847"/>
              <a:gd name="connsiteY100" fmla="*/ 1925638 h 2403475"/>
              <a:gd name="connsiteX101" fmla="*/ 842112 w 11499847"/>
              <a:gd name="connsiteY101" fmla="*/ 1925638 h 2403475"/>
              <a:gd name="connsiteX102" fmla="*/ 1182574 w 11499847"/>
              <a:gd name="connsiteY102" fmla="*/ 1925638 h 2403475"/>
              <a:gd name="connsiteX103" fmla="*/ 1375900 w 11499847"/>
              <a:gd name="connsiteY103" fmla="*/ 1849684 h 2403475"/>
              <a:gd name="connsiteX104" fmla="*/ 1455738 w 11499847"/>
              <a:gd name="connsiteY104" fmla="*/ 1662720 h 2403475"/>
              <a:gd name="connsiteX105" fmla="*/ 1375900 w 11499847"/>
              <a:gd name="connsiteY105" fmla="*/ 1477635 h 2403475"/>
              <a:gd name="connsiteX106" fmla="*/ 1182574 w 11499847"/>
              <a:gd name="connsiteY106" fmla="*/ 1403350 h 2403475"/>
              <a:gd name="connsiteX107" fmla="*/ 501650 w 11499847"/>
              <a:gd name="connsiteY107" fmla="*/ 1403350 h 2403475"/>
              <a:gd name="connsiteX108" fmla="*/ 7349808 w 11499847"/>
              <a:gd name="connsiteY108" fmla="*/ 1012825 h 2403475"/>
              <a:gd name="connsiteX109" fmla="*/ 7218292 w 11499847"/>
              <a:gd name="connsiteY109" fmla="*/ 1067952 h 2403475"/>
              <a:gd name="connsiteX110" fmla="*/ 7164385 w 11499847"/>
              <a:gd name="connsiteY110" fmla="*/ 1202427 h 2403475"/>
              <a:gd name="connsiteX111" fmla="*/ 7218292 w 11499847"/>
              <a:gd name="connsiteY111" fmla="*/ 1336903 h 2403475"/>
              <a:gd name="connsiteX112" fmla="*/ 7349808 w 11499847"/>
              <a:gd name="connsiteY112" fmla="*/ 1392238 h 2403475"/>
              <a:gd name="connsiteX113" fmla="*/ 7481953 w 11499847"/>
              <a:gd name="connsiteY113" fmla="*/ 1337320 h 2403475"/>
              <a:gd name="connsiteX114" fmla="*/ 7535860 w 11499847"/>
              <a:gd name="connsiteY114" fmla="*/ 1202427 h 2403475"/>
              <a:gd name="connsiteX115" fmla="*/ 7481534 w 11499847"/>
              <a:gd name="connsiteY115" fmla="*/ 1067952 h 2403475"/>
              <a:gd name="connsiteX116" fmla="*/ 7349808 w 11499847"/>
              <a:gd name="connsiteY116" fmla="*/ 1012825 h 2403475"/>
              <a:gd name="connsiteX117" fmla="*/ 10448922 w 11499847"/>
              <a:gd name="connsiteY117" fmla="*/ 946150 h 2403475"/>
              <a:gd name="connsiteX118" fmla="*/ 10552110 w 11499847"/>
              <a:gd name="connsiteY118" fmla="*/ 946150 h 2403475"/>
              <a:gd name="connsiteX119" fmla="*/ 10671172 w 11499847"/>
              <a:gd name="connsiteY119" fmla="*/ 1139825 h 2403475"/>
              <a:gd name="connsiteX120" fmla="*/ 10790235 w 11499847"/>
              <a:gd name="connsiteY120" fmla="*/ 1333501 h 2403475"/>
              <a:gd name="connsiteX121" fmla="*/ 10790235 w 11499847"/>
              <a:gd name="connsiteY121" fmla="*/ 946150 h 2403475"/>
              <a:gd name="connsiteX122" fmla="*/ 10869610 w 11499847"/>
              <a:gd name="connsiteY122" fmla="*/ 946150 h 2403475"/>
              <a:gd name="connsiteX123" fmla="*/ 10869610 w 11499847"/>
              <a:gd name="connsiteY123" fmla="*/ 1458913 h 2403475"/>
              <a:gd name="connsiteX124" fmla="*/ 10772772 w 11499847"/>
              <a:gd name="connsiteY124" fmla="*/ 1458913 h 2403475"/>
              <a:gd name="connsiteX125" fmla="*/ 10650535 w 11499847"/>
              <a:gd name="connsiteY125" fmla="*/ 1260475 h 2403475"/>
              <a:gd name="connsiteX126" fmla="*/ 10528297 w 11499847"/>
              <a:gd name="connsiteY126" fmla="*/ 1062038 h 2403475"/>
              <a:gd name="connsiteX127" fmla="*/ 10528297 w 11499847"/>
              <a:gd name="connsiteY127" fmla="*/ 1458913 h 2403475"/>
              <a:gd name="connsiteX128" fmla="*/ 10448922 w 11499847"/>
              <a:gd name="connsiteY128" fmla="*/ 1458913 h 2403475"/>
              <a:gd name="connsiteX129" fmla="*/ 10185397 w 11499847"/>
              <a:gd name="connsiteY129" fmla="*/ 946150 h 2403475"/>
              <a:gd name="connsiteX130" fmla="*/ 10267947 w 11499847"/>
              <a:gd name="connsiteY130" fmla="*/ 946150 h 2403475"/>
              <a:gd name="connsiteX131" fmla="*/ 10267947 w 11499847"/>
              <a:gd name="connsiteY131" fmla="*/ 1458913 h 2403475"/>
              <a:gd name="connsiteX132" fmla="*/ 10185397 w 11499847"/>
              <a:gd name="connsiteY132" fmla="*/ 1458913 h 2403475"/>
              <a:gd name="connsiteX133" fmla="*/ 9656760 w 11499847"/>
              <a:gd name="connsiteY133" fmla="*/ 946150 h 2403475"/>
              <a:gd name="connsiteX134" fmla="*/ 10059985 w 11499847"/>
              <a:gd name="connsiteY134" fmla="*/ 946150 h 2403475"/>
              <a:gd name="connsiteX135" fmla="*/ 10059985 w 11499847"/>
              <a:gd name="connsiteY135" fmla="*/ 1022350 h 2403475"/>
              <a:gd name="connsiteX136" fmla="*/ 9899648 w 11499847"/>
              <a:gd name="connsiteY136" fmla="*/ 1022350 h 2403475"/>
              <a:gd name="connsiteX137" fmla="*/ 9899648 w 11499847"/>
              <a:gd name="connsiteY137" fmla="*/ 1458913 h 2403475"/>
              <a:gd name="connsiteX138" fmla="*/ 9817098 w 11499847"/>
              <a:gd name="connsiteY138" fmla="*/ 1458913 h 2403475"/>
              <a:gd name="connsiteX139" fmla="*/ 9817098 w 11499847"/>
              <a:gd name="connsiteY139" fmla="*/ 1022350 h 2403475"/>
              <a:gd name="connsiteX140" fmla="*/ 9656760 w 11499847"/>
              <a:gd name="connsiteY140" fmla="*/ 1022350 h 2403475"/>
              <a:gd name="connsiteX141" fmla="*/ 9336085 w 11499847"/>
              <a:gd name="connsiteY141" fmla="*/ 946150 h 2403475"/>
              <a:gd name="connsiteX142" fmla="*/ 9418635 w 11499847"/>
              <a:gd name="connsiteY142" fmla="*/ 946150 h 2403475"/>
              <a:gd name="connsiteX143" fmla="*/ 9418635 w 11499847"/>
              <a:gd name="connsiteY143" fmla="*/ 1382713 h 2403475"/>
              <a:gd name="connsiteX144" fmla="*/ 9671048 w 11499847"/>
              <a:gd name="connsiteY144" fmla="*/ 1382713 h 2403475"/>
              <a:gd name="connsiteX145" fmla="*/ 9671048 w 11499847"/>
              <a:gd name="connsiteY145" fmla="*/ 1458913 h 2403475"/>
              <a:gd name="connsiteX146" fmla="*/ 9336085 w 11499847"/>
              <a:gd name="connsiteY146" fmla="*/ 1458913 h 2403475"/>
              <a:gd name="connsiteX147" fmla="*/ 8766172 w 11499847"/>
              <a:gd name="connsiteY147" fmla="*/ 946150 h 2403475"/>
              <a:gd name="connsiteX148" fmla="*/ 8848414 w 11499847"/>
              <a:gd name="connsiteY148" fmla="*/ 946150 h 2403475"/>
              <a:gd name="connsiteX149" fmla="*/ 8848414 w 11499847"/>
              <a:gd name="connsiteY149" fmla="*/ 1260391 h 2403475"/>
              <a:gd name="connsiteX150" fmla="*/ 8883900 w 11499847"/>
              <a:gd name="connsiteY150" fmla="*/ 1355146 h 2403475"/>
              <a:gd name="connsiteX151" fmla="*/ 8978249 w 11499847"/>
              <a:gd name="connsiteY151" fmla="*/ 1393718 h 2403475"/>
              <a:gd name="connsiteX152" fmla="*/ 9071972 w 11499847"/>
              <a:gd name="connsiteY152" fmla="*/ 1355146 h 2403475"/>
              <a:gd name="connsiteX153" fmla="*/ 9107457 w 11499847"/>
              <a:gd name="connsiteY153" fmla="*/ 1260391 h 2403475"/>
              <a:gd name="connsiteX154" fmla="*/ 9107457 w 11499847"/>
              <a:gd name="connsiteY154" fmla="*/ 946150 h 2403475"/>
              <a:gd name="connsiteX155" fmla="*/ 9188447 w 11499847"/>
              <a:gd name="connsiteY155" fmla="*/ 946150 h 2403475"/>
              <a:gd name="connsiteX156" fmla="*/ 9188447 w 11499847"/>
              <a:gd name="connsiteY156" fmla="*/ 1261230 h 2403475"/>
              <a:gd name="connsiteX157" fmla="*/ 9128539 w 11499847"/>
              <a:gd name="connsiteY157" fmla="*/ 1410489 h 2403475"/>
              <a:gd name="connsiteX158" fmla="*/ 8977623 w 11499847"/>
              <a:gd name="connsiteY158" fmla="*/ 1470025 h 2403475"/>
              <a:gd name="connsiteX159" fmla="*/ 8826497 w 11499847"/>
              <a:gd name="connsiteY159" fmla="*/ 1410489 h 2403475"/>
              <a:gd name="connsiteX160" fmla="*/ 8766172 w 11499847"/>
              <a:gd name="connsiteY160" fmla="*/ 1261230 h 2403475"/>
              <a:gd name="connsiteX161" fmla="*/ 8766172 w 11499847"/>
              <a:gd name="connsiteY161" fmla="*/ 946150 h 2403475"/>
              <a:gd name="connsiteX162" fmla="*/ 7737472 w 11499847"/>
              <a:gd name="connsiteY162" fmla="*/ 946150 h 2403475"/>
              <a:gd name="connsiteX163" fmla="*/ 7839072 w 11499847"/>
              <a:gd name="connsiteY163" fmla="*/ 946150 h 2403475"/>
              <a:gd name="connsiteX164" fmla="*/ 7958134 w 11499847"/>
              <a:gd name="connsiteY164" fmla="*/ 1139825 h 2403475"/>
              <a:gd name="connsiteX165" fmla="*/ 8077197 w 11499847"/>
              <a:gd name="connsiteY165" fmla="*/ 1333501 h 2403475"/>
              <a:gd name="connsiteX166" fmla="*/ 8077197 w 11499847"/>
              <a:gd name="connsiteY166" fmla="*/ 946150 h 2403475"/>
              <a:gd name="connsiteX167" fmla="*/ 8156572 w 11499847"/>
              <a:gd name="connsiteY167" fmla="*/ 946150 h 2403475"/>
              <a:gd name="connsiteX168" fmla="*/ 8156572 w 11499847"/>
              <a:gd name="connsiteY168" fmla="*/ 1458913 h 2403475"/>
              <a:gd name="connsiteX169" fmla="*/ 8061322 w 11499847"/>
              <a:gd name="connsiteY169" fmla="*/ 1458913 h 2403475"/>
              <a:gd name="connsiteX170" fmla="*/ 7939084 w 11499847"/>
              <a:gd name="connsiteY170" fmla="*/ 1260475 h 2403475"/>
              <a:gd name="connsiteX171" fmla="*/ 7815259 w 11499847"/>
              <a:gd name="connsiteY171" fmla="*/ 1062038 h 2403475"/>
              <a:gd name="connsiteX172" fmla="*/ 7815259 w 11499847"/>
              <a:gd name="connsiteY172" fmla="*/ 1458913 h 2403475"/>
              <a:gd name="connsiteX173" fmla="*/ 7737472 w 11499847"/>
              <a:gd name="connsiteY173" fmla="*/ 1458913 h 2403475"/>
              <a:gd name="connsiteX174" fmla="*/ 11253544 w 11499847"/>
              <a:gd name="connsiteY174" fmla="*/ 936625 h 2403475"/>
              <a:gd name="connsiteX175" fmla="*/ 11340315 w 11499847"/>
              <a:gd name="connsiteY175" fmla="*/ 948334 h 2403475"/>
              <a:gd name="connsiteX176" fmla="*/ 11414331 w 11499847"/>
              <a:gd name="connsiteY176" fmla="*/ 984090 h 2403475"/>
              <a:gd name="connsiteX177" fmla="*/ 11392795 w 11499847"/>
              <a:gd name="connsiteY177" fmla="*/ 1017545 h 2403475"/>
              <a:gd name="connsiteX178" fmla="*/ 11371260 w 11499847"/>
              <a:gd name="connsiteY178" fmla="*/ 1051209 h 2403475"/>
              <a:gd name="connsiteX179" fmla="*/ 11316270 w 11499847"/>
              <a:gd name="connsiteY179" fmla="*/ 1022354 h 2403475"/>
              <a:gd name="connsiteX180" fmla="*/ 11252917 w 11499847"/>
              <a:gd name="connsiteY180" fmla="*/ 1013363 h 2403475"/>
              <a:gd name="connsiteX181" fmla="*/ 11122657 w 11499847"/>
              <a:gd name="connsiteY181" fmla="*/ 1067936 h 2403475"/>
              <a:gd name="connsiteX182" fmla="*/ 11069549 w 11499847"/>
              <a:gd name="connsiteY182" fmla="*/ 1203221 h 2403475"/>
              <a:gd name="connsiteX183" fmla="*/ 11120984 w 11499847"/>
              <a:gd name="connsiteY183" fmla="*/ 1338923 h 2403475"/>
              <a:gd name="connsiteX184" fmla="*/ 11249990 w 11499847"/>
              <a:gd name="connsiteY184" fmla="*/ 1394124 h 2403475"/>
              <a:gd name="connsiteX185" fmla="*/ 11364360 w 11499847"/>
              <a:gd name="connsiteY185" fmla="*/ 1353350 h 2403475"/>
              <a:gd name="connsiteX186" fmla="*/ 11418095 w 11499847"/>
              <a:gd name="connsiteY186" fmla="*/ 1251521 h 2403475"/>
              <a:gd name="connsiteX187" fmla="*/ 11244136 w 11499847"/>
              <a:gd name="connsiteY187" fmla="*/ 1251521 h 2403475"/>
              <a:gd name="connsiteX188" fmla="*/ 11267971 w 11499847"/>
              <a:gd name="connsiteY188" fmla="*/ 1214303 h 2403475"/>
              <a:gd name="connsiteX189" fmla="*/ 11291598 w 11499847"/>
              <a:gd name="connsiteY189" fmla="*/ 1177084 h 2403475"/>
              <a:gd name="connsiteX190" fmla="*/ 11496083 w 11499847"/>
              <a:gd name="connsiteY190" fmla="*/ 1177084 h 2403475"/>
              <a:gd name="connsiteX191" fmla="*/ 11498802 w 11499847"/>
              <a:gd name="connsiteY191" fmla="*/ 1193393 h 2403475"/>
              <a:gd name="connsiteX192" fmla="*/ 11499847 w 11499847"/>
              <a:gd name="connsiteY192" fmla="*/ 1213466 h 2403475"/>
              <a:gd name="connsiteX193" fmla="*/ 11430222 w 11499847"/>
              <a:gd name="connsiteY193" fmla="*/ 1396215 h 2403475"/>
              <a:gd name="connsiteX194" fmla="*/ 11249154 w 11499847"/>
              <a:gd name="connsiteY194" fmla="*/ 1470025 h 2403475"/>
              <a:gd name="connsiteX195" fmla="*/ 11061813 w 11499847"/>
              <a:gd name="connsiteY195" fmla="*/ 1392242 h 2403475"/>
              <a:gd name="connsiteX196" fmla="*/ 10985497 w 11499847"/>
              <a:gd name="connsiteY196" fmla="*/ 1203221 h 2403475"/>
              <a:gd name="connsiteX197" fmla="*/ 11063695 w 11499847"/>
              <a:gd name="connsiteY197" fmla="*/ 1014408 h 2403475"/>
              <a:gd name="connsiteX198" fmla="*/ 11253544 w 11499847"/>
              <a:gd name="connsiteY198" fmla="*/ 936625 h 2403475"/>
              <a:gd name="connsiteX199" fmla="*/ 8471697 w 11499847"/>
              <a:gd name="connsiteY199" fmla="*/ 936625 h 2403475"/>
              <a:gd name="connsiteX200" fmla="*/ 8556850 w 11499847"/>
              <a:gd name="connsiteY200" fmla="*/ 949798 h 2403475"/>
              <a:gd name="connsiteX201" fmla="*/ 8626729 w 11499847"/>
              <a:gd name="connsiteY201" fmla="*/ 984717 h 2403475"/>
              <a:gd name="connsiteX202" fmla="*/ 8606225 w 11499847"/>
              <a:gd name="connsiteY202" fmla="*/ 1017336 h 2403475"/>
              <a:gd name="connsiteX203" fmla="*/ 8585722 w 11499847"/>
              <a:gd name="connsiteY203" fmla="*/ 1049745 h 2403475"/>
              <a:gd name="connsiteX204" fmla="*/ 8528605 w 11499847"/>
              <a:gd name="connsiteY204" fmla="*/ 1021099 h 2403475"/>
              <a:gd name="connsiteX205" fmla="*/ 8471070 w 11499847"/>
              <a:gd name="connsiteY205" fmla="*/ 1011063 h 2403475"/>
              <a:gd name="connsiteX206" fmla="*/ 8404328 w 11499847"/>
              <a:gd name="connsiteY206" fmla="*/ 1032181 h 2403475"/>
              <a:gd name="connsiteX207" fmla="*/ 8382570 w 11499847"/>
              <a:gd name="connsiteY207" fmla="*/ 1084246 h 2403475"/>
              <a:gd name="connsiteX208" fmla="*/ 8412697 w 11499847"/>
              <a:gd name="connsiteY208" fmla="*/ 1135474 h 2403475"/>
              <a:gd name="connsiteX209" fmla="*/ 8493038 w 11499847"/>
              <a:gd name="connsiteY209" fmla="*/ 1165165 h 2403475"/>
              <a:gd name="connsiteX210" fmla="*/ 8600786 w 11499847"/>
              <a:gd name="connsiteY210" fmla="*/ 1212421 h 2403475"/>
              <a:gd name="connsiteX211" fmla="*/ 8648697 w 11499847"/>
              <a:gd name="connsiteY211" fmla="*/ 1314250 h 2403475"/>
              <a:gd name="connsiteX212" fmla="*/ 8601413 w 11499847"/>
              <a:gd name="connsiteY212" fmla="*/ 1425906 h 2403475"/>
              <a:gd name="connsiteX213" fmla="*/ 8468140 w 11499847"/>
              <a:gd name="connsiteY213" fmla="*/ 1470025 h 2403475"/>
              <a:gd name="connsiteX214" fmla="*/ 8363531 w 11499847"/>
              <a:gd name="connsiteY214" fmla="*/ 1452461 h 2403475"/>
              <a:gd name="connsiteX215" fmla="*/ 8286747 w 11499847"/>
              <a:gd name="connsiteY215" fmla="*/ 1411479 h 2403475"/>
              <a:gd name="connsiteX216" fmla="*/ 8307251 w 11499847"/>
              <a:gd name="connsiteY216" fmla="*/ 1379069 h 2403475"/>
              <a:gd name="connsiteX217" fmla="*/ 8327754 w 11499847"/>
              <a:gd name="connsiteY217" fmla="*/ 1346450 h 2403475"/>
              <a:gd name="connsiteX218" fmla="*/ 8395541 w 11499847"/>
              <a:gd name="connsiteY218" fmla="*/ 1381578 h 2403475"/>
              <a:gd name="connsiteX219" fmla="*/ 8468768 w 11499847"/>
              <a:gd name="connsiteY219" fmla="*/ 1395378 h 2403475"/>
              <a:gd name="connsiteX220" fmla="*/ 8541367 w 11499847"/>
              <a:gd name="connsiteY220" fmla="*/ 1373633 h 2403475"/>
              <a:gd name="connsiteX221" fmla="*/ 8566055 w 11499847"/>
              <a:gd name="connsiteY221" fmla="*/ 1319477 h 2403475"/>
              <a:gd name="connsiteX222" fmla="*/ 8535509 w 11499847"/>
              <a:gd name="connsiteY222" fmla="*/ 1268458 h 2403475"/>
              <a:gd name="connsiteX223" fmla="*/ 8455587 w 11499847"/>
              <a:gd name="connsiteY223" fmla="*/ 1238348 h 2403475"/>
              <a:gd name="connsiteX224" fmla="*/ 8347630 w 11499847"/>
              <a:gd name="connsiteY224" fmla="*/ 1191511 h 2403475"/>
              <a:gd name="connsiteX225" fmla="*/ 8299928 w 11499847"/>
              <a:gd name="connsiteY225" fmla="*/ 1089264 h 2403475"/>
              <a:gd name="connsiteX226" fmla="*/ 8345329 w 11499847"/>
              <a:gd name="connsiteY226" fmla="*/ 979489 h 2403475"/>
              <a:gd name="connsiteX227" fmla="*/ 8471697 w 11499847"/>
              <a:gd name="connsiteY227" fmla="*/ 936625 h 2403475"/>
              <a:gd name="connsiteX228" fmla="*/ 7349808 w 11499847"/>
              <a:gd name="connsiteY228" fmla="*/ 936625 h 2403475"/>
              <a:gd name="connsiteX229" fmla="*/ 7541183 w 11499847"/>
              <a:gd name="connsiteY229" fmla="*/ 1014826 h 2403475"/>
              <a:gd name="connsiteX230" fmla="*/ 7619997 w 11499847"/>
              <a:gd name="connsiteY230" fmla="*/ 1203221 h 2403475"/>
              <a:gd name="connsiteX231" fmla="*/ 7541183 w 11499847"/>
              <a:gd name="connsiteY231" fmla="*/ 1391615 h 2403475"/>
              <a:gd name="connsiteX232" fmla="*/ 7349808 w 11499847"/>
              <a:gd name="connsiteY232" fmla="*/ 1470025 h 2403475"/>
              <a:gd name="connsiteX233" fmla="*/ 7158642 w 11499847"/>
              <a:gd name="connsiteY233" fmla="*/ 1391615 h 2403475"/>
              <a:gd name="connsiteX234" fmla="*/ 7080247 w 11499847"/>
              <a:gd name="connsiteY234" fmla="*/ 1203221 h 2403475"/>
              <a:gd name="connsiteX235" fmla="*/ 7158642 w 11499847"/>
              <a:gd name="connsiteY235" fmla="*/ 1014826 h 2403475"/>
              <a:gd name="connsiteX236" fmla="*/ 7349808 w 11499847"/>
              <a:gd name="connsiteY236" fmla="*/ 936625 h 2403475"/>
              <a:gd name="connsiteX237" fmla="*/ 6837427 w 11499847"/>
              <a:gd name="connsiteY237" fmla="*/ 936625 h 2403475"/>
              <a:gd name="connsiteX238" fmla="*/ 6932756 w 11499847"/>
              <a:gd name="connsiteY238" fmla="*/ 951680 h 2403475"/>
              <a:gd name="connsiteX239" fmla="*/ 7008810 w 11499847"/>
              <a:gd name="connsiteY239" fmla="*/ 993499 h 2403475"/>
              <a:gd name="connsiteX240" fmla="*/ 6987439 w 11499847"/>
              <a:gd name="connsiteY240" fmla="*/ 1026745 h 2403475"/>
              <a:gd name="connsiteX241" fmla="*/ 6966278 w 11499847"/>
              <a:gd name="connsiteY241" fmla="*/ 1059991 h 2403475"/>
              <a:gd name="connsiteX242" fmla="*/ 6904891 w 11499847"/>
              <a:gd name="connsiteY242" fmla="*/ 1024863 h 2403475"/>
              <a:gd name="connsiteX243" fmla="*/ 6833027 w 11499847"/>
              <a:gd name="connsiteY243" fmla="*/ 1012526 h 2403475"/>
              <a:gd name="connsiteX244" fmla="*/ 6703338 w 11499847"/>
              <a:gd name="connsiteY244" fmla="*/ 1067727 h 2403475"/>
              <a:gd name="connsiteX245" fmla="*/ 6649912 w 11499847"/>
              <a:gd name="connsiteY245" fmla="*/ 1203221 h 2403475"/>
              <a:gd name="connsiteX246" fmla="*/ 6703338 w 11499847"/>
              <a:gd name="connsiteY246" fmla="*/ 1338923 h 2403475"/>
              <a:gd name="connsiteX247" fmla="*/ 6833027 w 11499847"/>
              <a:gd name="connsiteY247" fmla="*/ 1393915 h 2403475"/>
              <a:gd name="connsiteX248" fmla="*/ 6904891 w 11499847"/>
              <a:gd name="connsiteY248" fmla="*/ 1381787 h 2403475"/>
              <a:gd name="connsiteX249" fmla="*/ 6966278 w 11499847"/>
              <a:gd name="connsiteY249" fmla="*/ 1346450 h 2403475"/>
              <a:gd name="connsiteX250" fmla="*/ 6987439 w 11499847"/>
              <a:gd name="connsiteY250" fmla="*/ 1379696 h 2403475"/>
              <a:gd name="connsiteX251" fmla="*/ 7008810 w 11499847"/>
              <a:gd name="connsiteY251" fmla="*/ 1412942 h 2403475"/>
              <a:gd name="connsiteX252" fmla="*/ 6932756 w 11499847"/>
              <a:gd name="connsiteY252" fmla="*/ 1454970 h 2403475"/>
              <a:gd name="connsiteX253" fmla="*/ 6837427 w 11499847"/>
              <a:gd name="connsiteY253" fmla="*/ 1470025 h 2403475"/>
              <a:gd name="connsiteX254" fmla="*/ 6644674 w 11499847"/>
              <a:gd name="connsiteY254" fmla="*/ 1392242 h 2403475"/>
              <a:gd name="connsiteX255" fmla="*/ 6565897 w 11499847"/>
              <a:gd name="connsiteY255" fmla="*/ 1203221 h 2403475"/>
              <a:gd name="connsiteX256" fmla="*/ 6644674 w 11499847"/>
              <a:gd name="connsiteY256" fmla="*/ 1014408 h 2403475"/>
              <a:gd name="connsiteX257" fmla="*/ 6837427 w 11499847"/>
              <a:gd name="connsiteY257" fmla="*/ 936625 h 2403475"/>
              <a:gd name="connsiteX258" fmla="*/ 501650 w 11499847"/>
              <a:gd name="connsiteY258" fmla="*/ 477838 h 2403475"/>
              <a:gd name="connsiteX259" fmla="*/ 501650 w 11499847"/>
              <a:gd name="connsiteY259" fmla="*/ 981076 h 2403475"/>
              <a:gd name="connsiteX260" fmla="*/ 786010 w 11499847"/>
              <a:gd name="connsiteY260" fmla="*/ 981076 h 2403475"/>
              <a:gd name="connsiteX261" fmla="*/ 1070579 w 11499847"/>
              <a:gd name="connsiteY261" fmla="*/ 981076 h 2403475"/>
              <a:gd name="connsiteX262" fmla="*/ 1253188 w 11499847"/>
              <a:gd name="connsiteY262" fmla="*/ 908588 h 2403475"/>
              <a:gd name="connsiteX263" fmla="*/ 1327150 w 11499847"/>
              <a:gd name="connsiteY263" fmla="*/ 727681 h 2403475"/>
              <a:gd name="connsiteX264" fmla="*/ 1253188 w 11499847"/>
              <a:gd name="connsiteY264" fmla="*/ 548446 h 2403475"/>
              <a:gd name="connsiteX265" fmla="*/ 1070579 w 11499847"/>
              <a:gd name="connsiteY265" fmla="*/ 477838 h 2403475"/>
              <a:gd name="connsiteX266" fmla="*/ 501650 w 11499847"/>
              <a:gd name="connsiteY266" fmla="*/ 477838 h 2403475"/>
              <a:gd name="connsiteX267" fmla="*/ 6675435 w 11499847"/>
              <a:gd name="connsiteY267" fmla="*/ 336550 h 2403475"/>
              <a:gd name="connsiteX268" fmla="*/ 6675435 w 11499847"/>
              <a:gd name="connsiteY268" fmla="*/ 487363 h 2403475"/>
              <a:gd name="connsiteX269" fmla="*/ 6808467 w 11499847"/>
              <a:gd name="connsiteY269" fmla="*/ 487363 h 2403475"/>
              <a:gd name="connsiteX270" fmla="*/ 6865570 w 11499847"/>
              <a:gd name="connsiteY270" fmla="*/ 465370 h 2403475"/>
              <a:gd name="connsiteX271" fmla="*/ 6888160 w 11499847"/>
              <a:gd name="connsiteY271" fmla="*/ 411957 h 2403475"/>
              <a:gd name="connsiteX272" fmla="*/ 6865570 w 11499847"/>
              <a:gd name="connsiteY272" fmla="*/ 358334 h 2403475"/>
              <a:gd name="connsiteX273" fmla="*/ 6808467 w 11499847"/>
              <a:gd name="connsiteY273" fmla="*/ 336550 h 2403475"/>
              <a:gd name="connsiteX274" fmla="*/ 6675435 w 11499847"/>
              <a:gd name="connsiteY274" fmla="*/ 336550 h 2403475"/>
              <a:gd name="connsiteX275" fmla="*/ 6675435 w 11499847"/>
              <a:gd name="connsiteY275" fmla="*/ 122238 h 2403475"/>
              <a:gd name="connsiteX276" fmla="*/ 6675435 w 11499847"/>
              <a:gd name="connsiteY276" fmla="*/ 265113 h 2403475"/>
              <a:gd name="connsiteX277" fmla="*/ 6795279 w 11499847"/>
              <a:gd name="connsiteY277" fmla="*/ 265113 h 2403475"/>
              <a:gd name="connsiteX278" fmla="*/ 6848404 w 11499847"/>
              <a:gd name="connsiteY278" fmla="*/ 244673 h 2403475"/>
              <a:gd name="connsiteX279" fmla="*/ 6869110 w 11499847"/>
              <a:gd name="connsiteY279" fmla="*/ 193571 h 2403475"/>
              <a:gd name="connsiteX280" fmla="*/ 6848404 w 11499847"/>
              <a:gd name="connsiteY280" fmla="*/ 142679 h 2403475"/>
              <a:gd name="connsiteX281" fmla="*/ 6795279 w 11499847"/>
              <a:gd name="connsiteY281" fmla="*/ 122238 h 2403475"/>
              <a:gd name="connsiteX282" fmla="*/ 6675435 w 11499847"/>
              <a:gd name="connsiteY282" fmla="*/ 122238 h 2403475"/>
              <a:gd name="connsiteX283" fmla="*/ 8850791 w 11499847"/>
              <a:gd name="connsiteY283" fmla="*/ 114300 h 2403475"/>
              <a:gd name="connsiteX284" fmla="*/ 8719837 w 11499847"/>
              <a:gd name="connsiteY284" fmla="*/ 169657 h 2403475"/>
              <a:gd name="connsiteX285" fmla="*/ 8666160 w 11499847"/>
              <a:gd name="connsiteY285" fmla="*/ 304905 h 2403475"/>
              <a:gd name="connsiteX286" fmla="*/ 8719837 w 11499847"/>
              <a:gd name="connsiteY286" fmla="*/ 439943 h 2403475"/>
              <a:gd name="connsiteX287" fmla="*/ 8850791 w 11499847"/>
              <a:gd name="connsiteY287" fmla="*/ 495300 h 2403475"/>
              <a:gd name="connsiteX288" fmla="*/ 8982163 w 11499847"/>
              <a:gd name="connsiteY288" fmla="*/ 440153 h 2403475"/>
              <a:gd name="connsiteX289" fmla="*/ 9036048 w 11499847"/>
              <a:gd name="connsiteY289" fmla="*/ 304905 h 2403475"/>
              <a:gd name="connsiteX290" fmla="*/ 8981954 w 11499847"/>
              <a:gd name="connsiteY290" fmla="*/ 169657 h 2403475"/>
              <a:gd name="connsiteX291" fmla="*/ 8850791 w 11499847"/>
              <a:gd name="connsiteY291" fmla="*/ 114300 h 2403475"/>
              <a:gd name="connsiteX292" fmla="*/ 7335415 w 11499847"/>
              <a:gd name="connsiteY292" fmla="*/ 114300 h 2403475"/>
              <a:gd name="connsiteX293" fmla="*/ 7203974 w 11499847"/>
              <a:gd name="connsiteY293" fmla="*/ 169657 h 2403475"/>
              <a:gd name="connsiteX294" fmla="*/ 7150097 w 11499847"/>
              <a:gd name="connsiteY294" fmla="*/ 304905 h 2403475"/>
              <a:gd name="connsiteX295" fmla="*/ 7203974 w 11499847"/>
              <a:gd name="connsiteY295" fmla="*/ 439943 h 2403475"/>
              <a:gd name="connsiteX296" fmla="*/ 7335415 w 11499847"/>
              <a:gd name="connsiteY296" fmla="*/ 495300 h 2403475"/>
              <a:gd name="connsiteX297" fmla="*/ 7467486 w 11499847"/>
              <a:gd name="connsiteY297" fmla="*/ 440153 h 2403475"/>
              <a:gd name="connsiteX298" fmla="*/ 7521572 w 11499847"/>
              <a:gd name="connsiteY298" fmla="*/ 304905 h 2403475"/>
              <a:gd name="connsiteX299" fmla="*/ 7467067 w 11499847"/>
              <a:gd name="connsiteY299" fmla="*/ 169657 h 2403475"/>
              <a:gd name="connsiteX300" fmla="*/ 7335415 w 11499847"/>
              <a:gd name="connsiteY300" fmla="*/ 114300 h 2403475"/>
              <a:gd name="connsiteX301" fmla="*/ 9237660 w 11499847"/>
              <a:gd name="connsiteY301" fmla="*/ 49213 h 2403475"/>
              <a:gd name="connsiteX302" fmla="*/ 9339260 w 11499847"/>
              <a:gd name="connsiteY302" fmla="*/ 49213 h 2403475"/>
              <a:gd name="connsiteX303" fmla="*/ 9458322 w 11499847"/>
              <a:gd name="connsiteY303" fmla="*/ 242888 h 2403475"/>
              <a:gd name="connsiteX304" fmla="*/ 9578972 w 11499847"/>
              <a:gd name="connsiteY304" fmla="*/ 436563 h 2403475"/>
              <a:gd name="connsiteX305" fmla="*/ 9578972 w 11499847"/>
              <a:gd name="connsiteY305" fmla="*/ 49213 h 2403475"/>
              <a:gd name="connsiteX306" fmla="*/ 9656760 w 11499847"/>
              <a:gd name="connsiteY306" fmla="*/ 49213 h 2403475"/>
              <a:gd name="connsiteX307" fmla="*/ 9656760 w 11499847"/>
              <a:gd name="connsiteY307" fmla="*/ 560388 h 2403475"/>
              <a:gd name="connsiteX308" fmla="*/ 9561510 w 11499847"/>
              <a:gd name="connsiteY308" fmla="*/ 560388 h 2403475"/>
              <a:gd name="connsiteX309" fmla="*/ 9439272 w 11499847"/>
              <a:gd name="connsiteY309" fmla="*/ 363538 h 2403475"/>
              <a:gd name="connsiteX310" fmla="*/ 9317035 w 11499847"/>
              <a:gd name="connsiteY310" fmla="*/ 165101 h 2403475"/>
              <a:gd name="connsiteX311" fmla="*/ 9317035 w 11499847"/>
              <a:gd name="connsiteY311" fmla="*/ 560388 h 2403475"/>
              <a:gd name="connsiteX312" fmla="*/ 9237660 w 11499847"/>
              <a:gd name="connsiteY312" fmla="*/ 560388 h 2403475"/>
              <a:gd name="connsiteX313" fmla="*/ 8126410 w 11499847"/>
              <a:gd name="connsiteY313" fmla="*/ 49213 h 2403475"/>
              <a:gd name="connsiteX314" fmla="*/ 8529635 w 11499847"/>
              <a:gd name="connsiteY314" fmla="*/ 49213 h 2403475"/>
              <a:gd name="connsiteX315" fmla="*/ 8529635 w 11499847"/>
              <a:gd name="connsiteY315" fmla="*/ 125413 h 2403475"/>
              <a:gd name="connsiteX316" fmla="*/ 8369298 w 11499847"/>
              <a:gd name="connsiteY316" fmla="*/ 125413 h 2403475"/>
              <a:gd name="connsiteX317" fmla="*/ 8369298 w 11499847"/>
              <a:gd name="connsiteY317" fmla="*/ 560388 h 2403475"/>
              <a:gd name="connsiteX318" fmla="*/ 8285160 w 11499847"/>
              <a:gd name="connsiteY318" fmla="*/ 560388 h 2403475"/>
              <a:gd name="connsiteX319" fmla="*/ 8285160 w 11499847"/>
              <a:gd name="connsiteY319" fmla="*/ 125413 h 2403475"/>
              <a:gd name="connsiteX320" fmla="*/ 8126410 w 11499847"/>
              <a:gd name="connsiteY320" fmla="*/ 125413 h 2403475"/>
              <a:gd name="connsiteX321" fmla="*/ 6592885 w 11499847"/>
              <a:gd name="connsiteY321" fmla="*/ 49213 h 2403475"/>
              <a:gd name="connsiteX322" fmla="*/ 6795851 w 11499847"/>
              <a:gd name="connsiteY322" fmla="*/ 49213 h 2403475"/>
              <a:gd name="connsiteX323" fmla="*/ 6907775 w 11499847"/>
              <a:gd name="connsiteY323" fmla="*/ 87875 h 2403475"/>
              <a:gd name="connsiteX324" fmla="*/ 6952670 w 11499847"/>
              <a:gd name="connsiteY324" fmla="*/ 185680 h 2403475"/>
              <a:gd name="connsiteX325" fmla="*/ 6936382 w 11499847"/>
              <a:gd name="connsiteY325" fmla="*/ 245658 h 2403475"/>
              <a:gd name="connsiteX326" fmla="*/ 6892114 w 11499847"/>
              <a:gd name="connsiteY326" fmla="*/ 288709 h 2403475"/>
              <a:gd name="connsiteX327" fmla="*/ 6950791 w 11499847"/>
              <a:gd name="connsiteY327" fmla="*/ 339492 h 2403475"/>
              <a:gd name="connsiteX328" fmla="*/ 6972298 w 11499847"/>
              <a:gd name="connsiteY328" fmla="*/ 412845 h 2403475"/>
              <a:gd name="connsiteX329" fmla="*/ 6926359 w 11499847"/>
              <a:gd name="connsiteY329" fmla="*/ 517546 h 2403475"/>
              <a:gd name="connsiteX330" fmla="*/ 6808798 w 11499847"/>
              <a:gd name="connsiteY330" fmla="*/ 560388 h 2403475"/>
              <a:gd name="connsiteX331" fmla="*/ 6592885 w 11499847"/>
              <a:gd name="connsiteY331" fmla="*/ 560388 h 2403475"/>
              <a:gd name="connsiteX332" fmla="*/ 6592885 w 11499847"/>
              <a:gd name="connsiteY332" fmla="*/ 49213 h 2403475"/>
              <a:gd name="connsiteX333" fmla="*/ 8850790 w 11499847"/>
              <a:gd name="connsiteY333" fmla="*/ 38100 h 2403475"/>
              <a:gd name="connsiteX334" fmla="*/ 9041603 w 11499847"/>
              <a:gd name="connsiteY334" fmla="*/ 116301 h 2403475"/>
              <a:gd name="connsiteX335" fmla="*/ 9120185 w 11499847"/>
              <a:gd name="connsiteY335" fmla="*/ 304905 h 2403475"/>
              <a:gd name="connsiteX336" fmla="*/ 9041603 w 11499847"/>
              <a:gd name="connsiteY336" fmla="*/ 493090 h 2403475"/>
              <a:gd name="connsiteX337" fmla="*/ 8850790 w 11499847"/>
              <a:gd name="connsiteY337" fmla="*/ 571500 h 2403475"/>
              <a:gd name="connsiteX338" fmla="*/ 8660186 w 11499847"/>
              <a:gd name="connsiteY338" fmla="*/ 493090 h 2403475"/>
              <a:gd name="connsiteX339" fmla="*/ 8582022 w 11499847"/>
              <a:gd name="connsiteY339" fmla="*/ 304905 h 2403475"/>
              <a:gd name="connsiteX340" fmla="*/ 8660186 w 11499847"/>
              <a:gd name="connsiteY340" fmla="*/ 116301 h 2403475"/>
              <a:gd name="connsiteX341" fmla="*/ 8850790 w 11499847"/>
              <a:gd name="connsiteY341" fmla="*/ 38100 h 2403475"/>
              <a:gd name="connsiteX342" fmla="*/ 7870035 w 11499847"/>
              <a:gd name="connsiteY342" fmla="*/ 38100 h 2403475"/>
              <a:gd name="connsiteX343" fmla="*/ 7871499 w 11499847"/>
              <a:gd name="connsiteY343" fmla="*/ 38100 h 2403475"/>
              <a:gd name="connsiteX344" fmla="*/ 7955187 w 11499847"/>
              <a:gd name="connsiteY344" fmla="*/ 51273 h 2403475"/>
              <a:gd name="connsiteX345" fmla="*/ 8025067 w 11499847"/>
              <a:gd name="connsiteY345" fmla="*/ 86401 h 2403475"/>
              <a:gd name="connsiteX346" fmla="*/ 8004563 w 11499847"/>
              <a:gd name="connsiteY346" fmla="*/ 118811 h 2403475"/>
              <a:gd name="connsiteX347" fmla="*/ 7984060 w 11499847"/>
              <a:gd name="connsiteY347" fmla="*/ 151429 h 2403475"/>
              <a:gd name="connsiteX348" fmla="*/ 7926943 w 11499847"/>
              <a:gd name="connsiteY348" fmla="*/ 122574 h 2403475"/>
              <a:gd name="connsiteX349" fmla="*/ 7869198 w 11499847"/>
              <a:gd name="connsiteY349" fmla="*/ 112538 h 2403475"/>
              <a:gd name="connsiteX350" fmla="*/ 7802666 w 11499847"/>
              <a:gd name="connsiteY350" fmla="*/ 133865 h 2403475"/>
              <a:gd name="connsiteX351" fmla="*/ 7780907 w 11499847"/>
              <a:gd name="connsiteY351" fmla="*/ 185721 h 2403475"/>
              <a:gd name="connsiteX352" fmla="*/ 7811035 w 11499847"/>
              <a:gd name="connsiteY352" fmla="*/ 236949 h 2403475"/>
              <a:gd name="connsiteX353" fmla="*/ 7891166 w 11499847"/>
              <a:gd name="connsiteY353" fmla="*/ 266849 h 2403475"/>
              <a:gd name="connsiteX354" fmla="*/ 7998914 w 11499847"/>
              <a:gd name="connsiteY354" fmla="*/ 313896 h 2403475"/>
              <a:gd name="connsiteX355" fmla="*/ 8047035 w 11499847"/>
              <a:gd name="connsiteY355" fmla="*/ 415934 h 2403475"/>
              <a:gd name="connsiteX356" fmla="*/ 7999751 w 11499847"/>
              <a:gd name="connsiteY356" fmla="*/ 527381 h 2403475"/>
              <a:gd name="connsiteX357" fmla="*/ 7866478 w 11499847"/>
              <a:gd name="connsiteY357" fmla="*/ 571500 h 2403475"/>
              <a:gd name="connsiteX358" fmla="*/ 7761659 w 11499847"/>
              <a:gd name="connsiteY358" fmla="*/ 554145 h 2403475"/>
              <a:gd name="connsiteX359" fmla="*/ 7685085 w 11499847"/>
              <a:gd name="connsiteY359" fmla="*/ 512954 h 2403475"/>
              <a:gd name="connsiteX360" fmla="*/ 7725883 w 11499847"/>
              <a:gd name="connsiteY360" fmla="*/ 447925 h 2403475"/>
              <a:gd name="connsiteX361" fmla="*/ 7793879 w 11499847"/>
              <a:gd name="connsiteY361" fmla="*/ 483053 h 2403475"/>
              <a:gd name="connsiteX362" fmla="*/ 7867106 w 11499847"/>
              <a:gd name="connsiteY362" fmla="*/ 497063 h 2403475"/>
              <a:gd name="connsiteX363" fmla="*/ 7939496 w 11499847"/>
              <a:gd name="connsiteY363" fmla="*/ 475108 h 2403475"/>
              <a:gd name="connsiteX364" fmla="*/ 7964393 w 11499847"/>
              <a:gd name="connsiteY364" fmla="*/ 420952 h 2403475"/>
              <a:gd name="connsiteX365" fmla="*/ 7933847 w 11499847"/>
              <a:gd name="connsiteY365" fmla="*/ 369933 h 2403475"/>
              <a:gd name="connsiteX366" fmla="*/ 7853925 w 11499847"/>
              <a:gd name="connsiteY366" fmla="*/ 339823 h 2403475"/>
              <a:gd name="connsiteX367" fmla="*/ 7745968 w 11499847"/>
              <a:gd name="connsiteY367" fmla="*/ 292986 h 2403475"/>
              <a:gd name="connsiteX368" fmla="*/ 7698266 w 11499847"/>
              <a:gd name="connsiteY368" fmla="*/ 190739 h 2403475"/>
              <a:gd name="connsiteX369" fmla="*/ 7743666 w 11499847"/>
              <a:gd name="connsiteY369" fmla="*/ 80964 h 2403475"/>
              <a:gd name="connsiteX370" fmla="*/ 7870035 w 11499847"/>
              <a:gd name="connsiteY370" fmla="*/ 38100 h 2403475"/>
              <a:gd name="connsiteX371" fmla="*/ 7334624 w 11499847"/>
              <a:gd name="connsiteY371" fmla="*/ 38100 h 2403475"/>
              <a:gd name="connsiteX372" fmla="*/ 7525363 w 11499847"/>
              <a:gd name="connsiteY372" fmla="*/ 116301 h 2403475"/>
              <a:gd name="connsiteX373" fmla="*/ 7604123 w 11499847"/>
              <a:gd name="connsiteY373" fmla="*/ 304905 h 2403475"/>
              <a:gd name="connsiteX374" fmla="*/ 7525363 w 11499847"/>
              <a:gd name="connsiteY374" fmla="*/ 493090 h 2403475"/>
              <a:gd name="connsiteX375" fmla="*/ 7334624 w 11499847"/>
              <a:gd name="connsiteY375" fmla="*/ 571500 h 2403475"/>
              <a:gd name="connsiteX376" fmla="*/ 7144094 w 11499847"/>
              <a:gd name="connsiteY376" fmla="*/ 493090 h 2403475"/>
              <a:gd name="connsiteX377" fmla="*/ 7065960 w 11499847"/>
              <a:gd name="connsiteY377" fmla="*/ 304905 h 2403475"/>
              <a:gd name="connsiteX378" fmla="*/ 7144094 w 11499847"/>
              <a:gd name="connsiteY378" fmla="*/ 116301 h 2403475"/>
              <a:gd name="connsiteX379" fmla="*/ 7334624 w 11499847"/>
              <a:gd name="connsiteY379" fmla="*/ 38100 h 2403475"/>
              <a:gd name="connsiteX380" fmla="*/ 2766077 w 11499847"/>
              <a:gd name="connsiteY380" fmla="*/ 0 h 2403475"/>
              <a:gd name="connsiteX381" fmla="*/ 3146531 w 11499847"/>
              <a:gd name="connsiteY381" fmla="*/ 51449 h 2403475"/>
              <a:gd name="connsiteX382" fmla="*/ 3467375 w 11499847"/>
              <a:gd name="connsiteY382" fmla="*/ 204124 h 2403475"/>
              <a:gd name="connsiteX383" fmla="*/ 3340627 w 11499847"/>
              <a:gd name="connsiteY383" fmla="*/ 403228 h 2403475"/>
              <a:gd name="connsiteX384" fmla="*/ 3213880 w 11499847"/>
              <a:gd name="connsiteY384" fmla="*/ 602542 h 2403475"/>
              <a:gd name="connsiteX385" fmla="*/ 3009743 w 11499847"/>
              <a:gd name="connsiteY385" fmla="*/ 496716 h 2403475"/>
              <a:gd name="connsiteX386" fmla="*/ 2766077 w 11499847"/>
              <a:gd name="connsiteY386" fmla="*/ 457606 h 2403475"/>
              <a:gd name="connsiteX387" fmla="*/ 2232314 w 11499847"/>
              <a:gd name="connsiteY387" fmla="*/ 681180 h 2403475"/>
              <a:gd name="connsiteX388" fmla="*/ 2012073 w 11499847"/>
              <a:gd name="connsiteY388" fmla="*/ 1198391 h 2403475"/>
              <a:gd name="connsiteX389" fmla="*/ 2232314 w 11499847"/>
              <a:gd name="connsiteY389" fmla="*/ 1721250 h 2403475"/>
              <a:gd name="connsiteX390" fmla="*/ 2766077 w 11499847"/>
              <a:gd name="connsiteY390" fmla="*/ 1942732 h 2403475"/>
              <a:gd name="connsiteX391" fmla="*/ 3050111 w 11499847"/>
              <a:gd name="connsiteY391" fmla="*/ 1886682 h 2403475"/>
              <a:gd name="connsiteX392" fmla="*/ 3289594 w 11499847"/>
              <a:gd name="connsiteY392" fmla="*/ 1722086 h 2403475"/>
              <a:gd name="connsiteX393" fmla="*/ 3543925 w 11499847"/>
              <a:gd name="connsiteY393" fmla="*/ 1095493 h 2403475"/>
              <a:gd name="connsiteX394" fmla="*/ 3921866 w 11499847"/>
              <a:gd name="connsiteY394" fmla="*/ 345714 h 2403475"/>
              <a:gd name="connsiteX395" fmla="*/ 4300646 w 11499847"/>
              <a:gd name="connsiteY395" fmla="*/ 92441 h 2403475"/>
              <a:gd name="connsiteX396" fmla="*/ 4787977 w 11499847"/>
              <a:gd name="connsiteY396" fmla="*/ 0 h 2403475"/>
              <a:gd name="connsiteX397" fmla="*/ 5168221 w 11499847"/>
              <a:gd name="connsiteY397" fmla="*/ 54796 h 2403475"/>
              <a:gd name="connsiteX398" fmla="*/ 5489275 w 11499847"/>
              <a:gd name="connsiteY398" fmla="*/ 210607 h 2403475"/>
              <a:gd name="connsiteX399" fmla="*/ 5364200 w 11499847"/>
              <a:gd name="connsiteY399" fmla="*/ 409921 h 2403475"/>
              <a:gd name="connsiteX400" fmla="*/ 5239125 w 11499847"/>
              <a:gd name="connsiteY400" fmla="*/ 609025 h 2403475"/>
              <a:gd name="connsiteX401" fmla="*/ 5031643 w 11499847"/>
              <a:gd name="connsiteY401" fmla="*/ 500480 h 2403475"/>
              <a:gd name="connsiteX402" fmla="*/ 4784631 w 11499847"/>
              <a:gd name="connsiteY402" fmla="*/ 460952 h 2403475"/>
              <a:gd name="connsiteX403" fmla="*/ 4264462 w 11499847"/>
              <a:gd name="connsiteY403" fmla="*/ 679089 h 2403475"/>
              <a:gd name="connsiteX404" fmla="*/ 4050287 w 11499847"/>
              <a:gd name="connsiteY404" fmla="*/ 1198391 h 2403475"/>
              <a:gd name="connsiteX405" fmla="*/ 4262370 w 11499847"/>
              <a:gd name="connsiteY405" fmla="*/ 1725223 h 2403475"/>
              <a:gd name="connsiteX406" fmla="*/ 4778147 w 11499847"/>
              <a:gd name="connsiteY406" fmla="*/ 1945870 h 2403475"/>
              <a:gd name="connsiteX407" fmla="*/ 5191438 w 11499847"/>
              <a:gd name="connsiteY407" fmla="*/ 1804280 h 2403475"/>
              <a:gd name="connsiteX408" fmla="*/ 5426737 w 11499847"/>
              <a:gd name="connsiteY408" fmla="*/ 1445390 h 2403475"/>
              <a:gd name="connsiteX409" fmla="*/ 4708917 w 11499847"/>
              <a:gd name="connsiteY409" fmla="*/ 1445390 h 2403475"/>
              <a:gd name="connsiteX410" fmla="*/ 4850515 w 11499847"/>
              <a:gd name="connsiteY410" fmla="*/ 1223279 h 2403475"/>
              <a:gd name="connsiteX411" fmla="*/ 4992113 w 11499847"/>
              <a:gd name="connsiteY411" fmla="*/ 1000960 h 2403475"/>
              <a:gd name="connsiteX412" fmla="*/ 5457901 w 11499847"/>
              <a:gd name="connsiteY412" fmla="*/ 1000960 h 2403475"/>
              <a:gd name="connsiteX413" fmla="*/ 5924108 w 11499847"/>
              <a:gd name="connsiteY413" fmla="*/ 1000960 h 2403475"/>
              <a:gd name="connsiteX414" fmla="*/ 5936030 w 11499847"/>
              <a:gd name="connsiteY414" fmla="*/ 1100094 h 2403475"/>
              <a:gd name="connsiteX415" fmla="*/ 5940422 w 11499847"/>
              <a:gd name="connsiteY415" fmla="*/ 1201738 h 2403475"/>
              <a:gd name="connsiteX416" fmla="*/ 5600963 w 11499847"/>
              <a:gd name="connsiteY416" fmla="*/ 2050860 h 2403475"/>
              <a:gd name="connsiteX417" fmla="*/ 4764970 w 11499847"/>
              <a:gd name="connsiteY417" fmla="*/ 2403475 h 2403475"/>
              <a:gd name="connsiteX418" fmla="*/ 4178290 w 11499847"/>
              <a:gd name="connsiteY418" fmla="*/ 2262513 h 2403475"/>
              <a:gd name="connsiteX419" fmla="*/ 3757265 w 11499847"/>
              <a:gd name="connsiteY419" fmla="*/ 1886682 h 2403475"/>
              <a:gd name="connsiteX420" fmla="*/ 3332469 w 11499847"/>
              <a:gd name="connsiteY420" fmla="*/ 2263558 h 2403475"/>
              <a:gd name="connsiteX421" fmla="*/ 2749555 w 11499847"/>
              <a:gd name="connsiteY421" fmla="*/ 2403475 h 2403475"/>
              <a:gd name="connsiteX422" fmla="*/ 2242563 w 11499847"/>
              <a:gd name="connsiteY422" fmla="*/ 2295766 h 2403475"/>
              <a:gd name="connsiteX423" fmla="*/ 1844121 w 11499847"/>
              <a:gd name="connsiteY423" fmla="*/ 2005266 h 2403475"/>
              <a:gd name="connsiteX424" fmla="*/ 1583096 w 11499847"/>
              <a:gd name="connsiteY424" fmla="*/ 2257493 h 2403475"/>
              <a:gd name="connsiteX425" fmla="*/ 1188838 w 11499847"/>
              <a:gd name="connsiteY425" fmla="*/ 2354117 h 2403475"/>
              <a:gd name="connsiteX426" fmla="*/ 0 w 11499847"/>
              <a:gd name="connsiteY426" fmla="*/ 2354117 h 2403475"/>
              <a:gd name="connsiteX427" fmla="*/ 0 w 11499847"/>
              <a:gd name="connsiteY427" fmla="*/ 1201738 h 2403475"/>
              <a:gd name="connsiteX428" fmla="*/ 0 w 11499847"/>
              <a:gd name="connsiteY428" fmla="*/ 49358 h 2403475"/>
              <a:gd name="connsiteX429" fmla="*/ 538575 w 11499847"/>
              <a:gd name="connsiteY429" fmla="*/ 49358 h 2403475"/>
              <a:gd name="connsiteX430" fmla="*/ 1076940 w 11499847"/>
              <a:gd name="connsiteY430" fmla="*/ 49358 h 2403475"/>
              <a:gd name="connsiteX431" fmla="*/ 1523487 w 11499847"/>
              <a:gd name="connsiteY431" fmla="*/ 176099 h 2403475"/>
              <a:gd name="connsiteX432" fmla="*/ 1774892 w 11499847"/>
              <a:gd name="connsiteY432" fmla="*/ 500480 h 2403475"/>
              <a:gd name="connsiteX433" fmla="*/ 2196549 w 11499847"/>
              <a:gd name="connsiteY433" fmla="*/ 137826 h 2403475"/>
              <a:gd name="connsiteX434" fmla="*/ 2766077 w 11499847"/>
              <a:gd name="connsiteY434" fmla="*/ 0 h 2403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Lst>
            <a:rect l="l" t="t" r="r" b="b"/>
            <a:pathLst>
              <a:path w="11499847" h="2403475">
                <a:moveTo>
                  <a:pt x="8982072" y="1919288"/>
                </a:moveTo>
                <a:cubicBezTo>
                  <a:pt x="8982072" y="2105026"/>
                  <a:pt x="8982072" y="2105026"/>
                  <a:pt x="8982072" y="2105026"/>
                </a:cubicBezTo>
                <a:cubicBezTo>
                  <a:pt x="9098233" y="2105026"/>
                  <a:pt x="9098233" y="2105026"/>
                  <a:pt x="9098233" y="2105026"/>
                </a:cubicBezTo>
                <a:cubicBezTo>
                  <a:pt x="9124975" y="2105026"/>
                  <a:pt x="9148166" y="2096202"/>
                  <a:pt x="9164880" y="2080233"/>
                </a:cubicBezTo>
                <a:cubicBezTo>
                  <a:pt x="9181594" y="2064055"/>
                  <a:pt x="9191622" y="2040732"/>
                  <a:pt x="9191622" y="2011737"/>
                </a:cubicBezTo>
                <a:cubicBezTo>
                  <a:pt x="9191622" y="1983792"/>
                  <a:pt x="9181594" y="1960680"/>
                  <a:pt x="9164880" y="1944501"/>
                </a:cubicBezTo>
                <a:cubicBezTo>
                  <a:pt x="9148166" y="1928323"/>
                  <a:pt x="9124975" y="1919288"/>
                  <a:pt x="9098233" y="1919288"/>
                </a:cubicBezTo>
                <a:cubicBezTo>
                  <a:pt x="8982072" y="1919288"/>
                  <a:pt x="8982072" y="1919288"/>
                  <a:pt x="8982072" y="1919288"/>
                </a:cubicBezTo>
                <a:close/>
                <a:moveTo>
                  <a:pt x="7280272" y="1919288"/>
                </a:moveTo>
                <a:cubicBezTo>
                  <a:pt x="7280272" y="2097088"/>
                  <a:pt x="7280272" y="2097088"/>
                  <a:pt x="7280272" y="2097088"/>
                </a:cubicBezTo>
                <a:cubicBezTo>
                  <a:pt x="7404503" y="2097088"/>
                  <a:pt x="7404503" y="2097088"/>
                  <a:pt x="7404503" y="2097088"/>
                </a:cubicBezTo>
                <a:cubicBezTo>
                  <a:pt x="7430689" y="2097088"/>
                  <a:pt x="7453105" y="2088711"/>
                  <a:pt x="7469027" y="2073423"/>
                </a:cubicBezTo>
                <a:cubicBezTo>
                  <a:pt x="7485158" y="2058136"/>
                  <a:pt x="7494585" y="2035937"/>
                  <a:pt x="7494585" y="2008502"/>
                </a:cubicBezTo>
                <a:cubicBezTo>
                  <a:pt x="7494585" y="1981487"/>
                  <a:pt x="7485158" y="1959078"/>
                  <a:pt x="7469027" y="1943581"/>
                </a:cubicBezTo>
                <a:cubicBezTo>
                  <a:pt x="7453105" y="1927874"/>
                  <a:pt x="7430689" y="1919288"/>
                  <a:pt x="7404503" y="1919288"/>
                </a:cubicBezTo>
                <a:cubicBezTo>
                  <a:pt x="7280272" y="1919288"/>
                  <a:pt x="7280272" y="1919288"/>
                  <a:pt x="7280272" y="1919288"/>
                </a:cubicBezTo>
                <a:close/>
                <a:moveTo>
                  <a:pt x="7945015" y="1909763"/>
                </a:moveTo>
                <a:cubicBezTo>
                  <a:pt x="7893445" y="1909763"/>
                  <a:pt x="7847115" y="1930941"/>
                  <a:pt x="7813574" y="1965330"/>
                </a:cubicBezTo>
                <a:cubicBezTo>
                  <a:pt x="7780242" y="1999719"/>
                  <a:pt x="7759697" y="2047317"/>
                  <a:pt x="7759697" y="2100368"/>
                </a:cubicBezTo>
                <a:cubicBezTo>
                  <a:pt x="7759697" y="2153419"/>
                  <a:pt x="7780242" y="2201227"/>
                  <a:pt x="7813574" y="2235406"/>
                </a:cubicBezTo>
                <a:cubicBezTo>
                  <a:pt x="7847115" y="2269795"/>
                  <a:pt x="7893445" y="2290763"/>
                  <a:pt x="7945015" y="2290763"/>
                </a:cubicBezTo>
                <a:cubicBezTo>
                  <a:pt x="7997215" y="2290763"/>
                  <a:pt x="8043544" y="2270004"/>
                  <a:pt x="8077086" y="2235825"/>
                </a:cubicBezTo>
                <a:cubicBezTo>
                  <a:pt x="8110628" y="2201437"/>
                  <a:pt x="8131172" y="2153838"/>
                  <a:pt x="8131172" y="2100368"/>
                </a:cubicBezTo>
                <a:cubicBezTo>
                  <a:pt x="8131172" y="2047317"/>
                  <a:pt x="8110418" y="1999719"/>
                  <a:pt x="8076876" y="1965330"/>
                </a:cubicBezTo>
                <a:cubicBezTo>
                  <a:pt x="8043334" y="1930941"/>
                  <a:pt x="7996796" y="1909763"/>
                  <a:pt x="7945015" y="1909763"/>
                </a:cubicBezTo>
                <a:close/>
                <a:moveTo>
                  <a:pt x="8899522" y="1844675"/>
                </a:moveTo>
                <a:cubicBezTo>
                  <a:pt x="9098598" y="1844675"/>
                  <a:pt x="9098598" y="1844675"/>
                  <a:pt x="9098598" y="1844675"/>
                </a:cubicBezTo>
                <a:cubicBezTo>
                  <a:pt x="9152872" y="1844675"/>
                  <a:pt x="9197507" y="1862857"/>
                  <a:pt x="9228521" y="1892741"/>
                </a:cubicBezTo>
                <a:cubicBezTo>
                  <a:pt x="9259744" y="1922835"/>
                  <a:pt x="9277347" y="1964423"/>
                  <a:pt x="9277347" y="2011236"/>
                </a:cubicBezTo>
                <a:cubicBezTo>
                  <a:pt x="9277347" y="2057839"/>
                  <a:pt x="9259744" y="2099427"/>
                  <a:pt x="9228521" y="2129521"/>
                </a:cubicBezTo>
                <a:cubicBezTo>
                  <a:pt x="9197507" y="2159405"/>
                  <a:pt x="9152872" y="2177796"/>
                  <a:pt x="9098598" y="2177796"/>
                </a:cubicBezTo>
                <a:cubicBezTo>
                  <a:pt x="8982086" y="2177796"/>
                  <a:pt x="8982086" y="2177796"/>
                  <a:pt x="8982086" y="2177796"/>
                </a:cubicBezTo>
                <a:cubicBezTo>
                  <a:pt x="8982086" y="2355850"/>
                  <a:pt x="8982086" y="2355850"/>
                  <a:pt x="8982086" y="2355850"/>
                </a:cubicBezTo>
                <a:cubicBezTo>
                  <a:pt x="8899522" y="2355850"/>
                  <a:pt x="8899522" y="2355850"/>
                  <a:pt x="8899522" y="2355850"/>
                </a:cubicBezTo>
                <a:cubicBezTo>
                  <a:pt x="8899522" y="1844675"/>
                  <a:pt x="8899522" y="1844675"/>
                  <a:pt x="8899522" y="1844675"/>
                </a:cubicBezTo>
                <a:close/>
                <a:moveTo>
                  <a:pt x="8324847" y="1844675"/>
                </a:moveTo>
                <a:cubicBezTo>
                  <a:pt x="8407608" y="1844675"/>
                  <a:pt x="8407608" y="1844675"/>
                  <a:pt x="8407608" y="1844675"/>
                </a:cubicBezTo>
                <a:cubicBezTo>
                  <a:pt x="8407608" y="2158090"/>
                  <a:pt x="8407608" y="2158090"/>
                  <a:pt x="8407608" y="2158090"/>
                </a:cubicBezTo>
                <a:cubicBezTo>
                  <a:pt x="8407608" y="2195307"/>
                  <a:pt x="8420389" y="2228551"/>
                  <a:pt x="8443017" y="2252595"/>
                </a:cubicBezTo>
                <a:cubicBezTo>
                  <a:pt x="8465855" y="2276431"/>
                  <a:pt x="8498331" y="2291066"/>
                  <a:pt x="8537931" y="2291066"/>
                </a:cubicBezTo>
                <a:cubicBezTo>
                  <a:pt x="8576692" y="2291066"/>
                  <a:pt x="8609168" y="2276431"/>
                  <a:pt x="8631797" y="2252595"/>
                </a:cubicBezTo>
                <a:cubicBezTo>
                  <a:pt x="8654425" y="2228551"/>
                  <a:pt x="8667415" y="2195307"/>
                  <a:pt x="8667415" y="2158090"/>
                </a:cubicBezTo>
                <a:cubicBezTo>
                  <a:pt x="8667415" y="1844675"/>
                  <a:pt x="8667415" y="1844675"/>
                  <a:pt x="8667415" y="1844675"/>
                </a:cubicBezTo>
                <a:cubicBezTo>
                  <a:pt x="8748710" y="1844675"/>
                  <a:pt x="8748710" y="1844675"/>
                  <a:pt x="8748710" y="1844675"/>
                </a:cubicBezTo>
                <a:cubicBezTo>
                  <a:pt x="8748710" y="2158717"/>
                  <a:pt x="8748710" y="2158717"/>
                  <a:pt x="8748710" y="2158717"/>
                </a:cubicBezTo>
                <a:cubicBezTo>
                  <a:pt x="8748710" y="2218724"/>
                  <a:pt x="8726291" y="2270785"/>
                  <a:pt x="8688577" y="2307793"/>
                </a:cubicBezTo>
                <a:cubicBezTo>
                  <a:pt x="8650863" y="2345010"/>
                  <a:pt x="8597854" y="2366963"/>
                  <a:pt x="8537093" y="2366963"/>
                </a:cubicBezTo>
                <a:cubicBezTo>
                  <a:pt x="8476331" y="2366963"/>
                  <a:pt x="8423322" y="2345010"/>
                  <a:pt x="8385399" y="2307793"/>
                </a:cubicBezTo>
                <a:cubicBezTo>
                  <a:pt x="8347475" y="2270785"/>
                  <a:pt x="8324847" y="2218724"/>
                  <a:pt x="8324847" y="2158717"/>
                </a:cubicBezTo>
                <a:cubicBezTo>
                  <a:pt x="8324847" y="1844675"/>
                  <a:pt x="8324847" y="1844675"/>
                  <a:pt x="8324847" y="1844675"/>
                </a:cubicBezTo>
                <a:close/>
                <a:moveTo>
                  <a:pt x="7197722" y="1844675"/>
                </a:moveTo>
                <a:cubicBezTo>
                  <a:pt x="7404196" y="1844675"/>
                  <a:pt x="7404196" y="1844675"/>
                  <a:pt x="7404196" y="1844675"/>
                </a:cubicBezTo>
                <a:cubicBezTo>
                  <a:pt x="7457641" y="1844675"/>
                  <a:pt x="7501065" y="1862439"/>
                  <a:pt x="7531336" y="1891906"/>
                </a:cubicBezTo>
                <a:cubicBezTo>
                  <a:pt x="7561608" y="1921581"/>
                  <a:pt x="7578727" y="1962542"/>
                  <a:pt x="7578727" y="2008937"/>
                </a:cubicBezTo>
                <a:cubicBezTo>
                  <a:pt x="7578727" y="2047390"/>
                  <a:pt x="7568080" y="2080827"/>
                  <a:pt x="7548455" y="2106950"/>
                </a:cubicBezTo>
                <a:cubicBezTo>
                  <a:pt x="7529040" y="2133073"/>
                  <a:pt x="7500647" y="2152091"/>
                  <a:pt x="7464947" y="2161495"/>
                </a:cubicBezTo>
                <a:cubicBezTo>
                  <a:pt x="7525699" y="2258673"/>
                  <a:pt x="7525699" y="2258673"/>
                  <a:pt x="7525699" y="2258673"/>
                </a:cubicBezTo>
                <a:cubicBezTo>
                  <a:pt x="7586660" y="2355850"/>
                  <a:pt x="7586660" y="2355850"/>
                  <a:pt x="7586660" y="2355850"/>
                </a:cubicBezTo>
                <a:cubicBezTo>
                  <a:pt x="7491044" y="2355850"/>
                  <a:pt x="7491044" y="2355850"/>
                  <a:pt x="7491044" y="2355850"/>
                </a:cubicBezTo>
                <a:cubicBezTo>
                  <a:pt x="7434676" y="2263479"/>
                  <a:pt x="7434676" y="2263479"/>
                  <a:pt x="7434676" y="2263479"/>
                </a:cubicBezTo>
                <a:cubicBezTo>
                  <a:pt x="7378099" y="2171108"/>
                  <a:pt x="7378099" y="2171108"/>
                  <a:pt x="7378099" y="2171108"/>
                </a:cubicBezTo>
                <a:cubicBezTo>
                  <a:pt x="7280395" y="2171108"/>
                  <a:pt x="7280395" y="2171108"/>
                  <a:pt x="7280395" y="2171108"/>
                </a:cubicBezTo>
                <a:cubicBezTo>
                  <a:pt x="7280395" y="2355850"/>
                  <a:pt x="7280395" y="2355850"/>
                  <a:pt x="7280395" y="2355850"/>
                </a:cubicBezTo>
                <a:cubicBezTo>
                  <a:pt x="7197722" y="2355850"/>
                  <a:pt x="7197722" y="2355850"/>
                  <a:pt x="7197722" y="2355850"/>
                </a:cubicBezTo>
                <a:cubicBezTo>
                  <a:pt x="7197722" y="1844675"/>
                  <a:pt x="7197722" y="1844675"/>
                  <a:pt x="7197722" y="1844675"/>
                </a:cubicBezTo>
                <a:close/>
                <a:moveTo>
                  <a:pt x="7945016" y="1833563"/>
                </a:moveTo>
                <a:cubicBezTo>
                  <a:pt x="8020028" y="1833563"/>
                  <a:pt x="8087706" y="1863673"/>
                  <a:pt x="8136527" y="1911974"/>
                </a:cubicBezTo>
                <a:cubicBezTo>
                  <a:pt x="8185138" y="1960274"/>
                  <a:pt x="8215310" y="2026976"/>
                  <a:pt x="8215310" y="2100368"/>
                </a:cubicBezTo>
                <a:cubicBezTo>
                  <a:pt x="8215310" y="2173760"/>
                  <a:pt x="8185138" y="2240461"/>
                  <a:pt x="8136527" y="2288762"/>
                </a:cubicBezTo>
                <a:cubicBezTo>
                  <a:pt x="8087706" y="2337063"/>
                  <a:pt x="8020028" y="2366963"/>
                  <a:pt x="7945016" y="2366963"/>
                </a:cubicBezTo>
                <a:cubicBezTo>
                  <a:pt x="7870004" y="2366963"/>
                  <a:pt x="7802745" y="2337063"/>
                  <a:pt x="7754134" y="2288762"/>
                </a:cubicBezTo>
                <a:cubicBezTo>
                  <a:pt x="7705523" y="2240461"/>
                  <a:pt x="7675560" y="2173760"/>
                  <a:pt x="7675560" y="2100368"/>
                </a:cubicBezTo>
                <a:cubicBezTo>
                  <a:pt x="7675560" y="2026976"/>
                  <a:pt x="7705523" y="1960274"/>
                  <a:pt x="7754134" y="1911974"/>
                </a:cubicBezTo>
                <a:cubicBezTo>
                  <a:pt x="7802745" y="1863673"/>
                  <a:pt x="7870004" y="1833563"/>
                  <a:pt x="7945016" y="1833563"/>
                </a:cubicBezTo>
                <a:close/>
                <a:moveTo>
                  <a:pt x="6834872" y="1833563"/>
                </a:moveTo>
                <a:cubicBezTo>
                  <a:pt x="6865690" y="1833563"/>
                  <a:pt x="6894831" y="1837536"/>
                  <a:pt x="6921875" y="1845482"/>
                </a:cubicBezTo>
                <a:cubicBezTo>
                  <a:pt x="6948919" y="1853218"/>
                  <a:pt x="6973658" y="1865136"/>
                  <a:pt x="6996090" y="1881028"/>
                </a:cubicBezTo>
                <a:cubicBezTo>
                  <a:pt x="6974496" y="1914692"/>
                  <a:pt x="6974496" y="1914692"/>
                  <a:pt x="6974496" y="1914692"/>
                </a:cubicBezTo>
                <a:cubicBezTo>
                  <a:pt x="6952903" y="1948356"/>
                  <a:pt x="6952903" y="1948356"/>
                  <a:pt x="6952903" y="1948356"/>
                </a:cubicBezTo>
                <a:cubicBezTo>
                  <a:pt x="6935712" y="1935183"/>
                  <a:pt x="6917263" y="1925774"/>
                  <a:pt x="6897556" y="1919501"/>
                </a:cubicBezTo>
                <a:cubicBezTo>
                  <a:pt x="6877850" y="1913228"/>
                  <a:pt x="6856885" y="1910301"/>
                  <a:pt x="6834243" y="1910301"/>
                </a:cubicBezTo>
                <a:cubicBezTo>
                  <a:pt x="6782461" y="1910301"/>
                  <a:pt x="6736548" y="1931001"/>
                  <a:pt x="6703424" y="1965084"/>
                </a:cubicBezTo>
                <a:cubicBezTo>
                  <a:pt x="6670510" y="1999166"/>
                  <a:pt x="6650384" y="2046631"/>
                  <a:pt x="6650384" y="2100368"/>
                </a:cubicBezTo>
                <a:cubicBezTo>
                  <a:pt x="6650384" y="2154105"/>
                  <a:pt x="6669671" y="2201779"/>
                  <a:pt x="6701957" y="2236070"/>
                </a:cubicBezTo>
                <a:cubicBezTo>
                  <a:pt x="6734242" y="2270152"/>
                  <a:pt x="6779526" y="2291062"/>
                  <a:pt x="6831308" y="2291062"/>
                </a:cubicBezTo>
                <a:cubicBezTo>
                  <a:pt x="6878898" y="2291062"/>
                  <a:pt x="6917473" y="2275798"/>
                  <a:pt x="6945984" y="2250498"/>
                </a:cubicBezTo>
                <a:cubicBezTo>
                  <a:pt x="6974496" y="2225197"/>
                  <a:pt x="6992735" y="2189442"/>
                  <a:pt x="6999863" y="2148460"/>
                </a:cubicBezTo>
                <a:cubicBezTo>
                  <a:pt x="6825438" y="2148460"/>
                  <a:pt x="6825438" y="2148460"/>
                  <a:pt x="6825438" y="2148460"/>
                </a:cubicBezTo>
                <a:cubicBezTo>
                  <a:pt x="6849128" y="2111241"/>
                  <a:pt x="6849128" y="2111241"/>
                  <a:pt x="6849128" y="2111241"/>
                </a:cubicBezTo>
                <a:cubicBezTo>
                  <a:pt x="6873028" y="2074022"/>
                  <a:pt x="6873028" y="2074022"/>
                  <a:pt x="6873028" y="2074022"/>
                </a:cubicBezTo>
                <a:cubicBezTo>
                  <a:pt x="7078061" y="2074022"/>
                  <a:pt x="7078061" y="2074022"/>
                  <a:pt x="7078061" y="2074022"/>
                </a:cubicBezTo>
                <a:cubicBezTo>
                  <a:pt x="7079319" y="2078204"/>
                  <a:pt x="7080158" y="2083849"/>
                  <a:pt x="7080787" y="2090540"/>
                </a:cubicBezTo>
                <a:cubicBezTo>
                  <a:pt x="7081415" y="2096813"/>
                  <a:pt x="7081835" y="2103922"/>
                  <a:pt x="7081835" y="2110613"/>
                </a:cubicBezTo>
                <a:cubicBezTo>
                  <a:pt x="7081835" y="2183378"/>
                  <a:pt x="7056258" y="2247361"/>
                  <a:pt x="7011813" y="2293362"/>
                </a:cubicBezTo>
                <a:cubicBezTo>
                  <a:pt x="6967788" y="2339363"/>
                  <a:pt x="6904894" y="2366963"/>
                  <a:pt x="6830470" y="2366963"/>
                </a:cubicBezTo>
                <a:cubicBezTo>
                  <a:pt x="6756255" y="2366963"/>
                  <a:pt x="6690007" y="2337481"/>
                  <a:pt x="6642417" y="2289389"/>
                </a:cubicBezTo>
                <a:cubicBezTo>
                  <a:pt x="6595037" y="2241088"/>
                  <a:pt x="6565897" y="2174387"/>
                  <a:pt x="6565897" y="2100368"/>
                </a:cubicBezTo>
                <a:cubicBezTo>
                  <a:pt x="6565897" y="2026139"/>
                  <a:pt x="6595876" y="1959438"/>
                  <a:pt x="6644514" y="1911346"/>
                </a:cubicBezTo>
                <a:cubicBezTo>
                  <a:pt x="6692942" y="1863255"/>
                  <a:pt x="6760238" y="1833563"/>
                  <a:pt x="6834872" y="1833563"/>
                </a:cubicBezTo>
                <a:close/>
                <a:moveTo>
                  <a:pt x="501650" y="1403350"/>
                </a:moveTo>
                <a:cubicBezTo>
                  <a:pt x="501650" y="1403350"/>
                  <a:pt x="501650" y="1403350"/>
                  <a:pt x="501650" y="1925638"/>
                </a:cubicBezTo>
                <a:cubicBezTo>
                  <a:pt x="501650" y="1925638"/>
                  <a:pt x="501650" y="1925638"/>
                  <a:pt x="842112" y="1925638"/>
                </a:cubicBezTo>
                <a:cubicBezTo>
                  <a:pt x="842112" y="1925638"/>
                  <a:pt x="842112" y="1925638"/>
                  <a:pt x="1182574" y="1925638"/>
                </a:cubicBezTo>
                <a:cubicBezTo>
                  <a:pt x="1258233" y="1925638"/>
                  <a:pt x="1326576" y="1896842"/>
                  <a:pt x="1375900" y="1849684"/>
                </a:cubicBezTo>
                <a:cubicBezTo>
                  <a:pt x="1425224" y="1802317"/>
                  <a:pt x="1455738" y="1736796"/>
                  <a:pt x="1455738" y="1662720"/>
                </a:cubicBezTo>
                <a:cubicBezTo>
                  <a:pt x="1455738" y="1588853"/>
                  <a:pt x="1425224" y="1523958"/>
                  <a:pt x="1375900" y="1477635"/>
                </a:cubicBezTo>
                <a:cubicBezTo>
                  <a:pt x="1326576" y="1431103"/>
                  <a:pt x="1258233" y="1403350"/>
                  <a:pt x="1182574" y="1403350"/>
                </a:cubicBezTo>
                <a:cubicBezTo>
                  <a:pt x="1182574" y="1403350"/>
                  <a:pt x="1182574" y="1403350"/>
                  <a:pt x="501650" y="1403350"/>
                </a:cubicBezTo>
                <a:close/>
                <a:moveTo>
                  <a:pt x="7349808" y="1012825"/>
                </a:moveTo>
                <a:cubicBezTo>
                  <a:pt x="7297999" y="1012825"/>
                  <a:pt x="7251643" y="1033706"/>
                  <a:pt x="7218292" y="1067952"/>
                </a:cubicBezTo>
                <a:cubicBezTo>
                  <a:pt x="7184731" y="1102197"/>
                  <a:pt x="7164385" y="1149598"/>
                  <a:pt x="7164385" y="1202427"/>
                </a:cubicBezTo>
                <a:cubicBezTo>
                  <a:pt x="7164385" y="1255466"/>
                  <a:pt x="7184731" y="1302866"/>
                  <a:pt x="7218292" y="1336903"/>
                </a:cubicBezTo>
                <a:cubicBezTo>
                  <a:pt x="7251643" y="1371148"/>
                  <a:pt x="7297999" y="1392238"/>
                  <a:pt x="7349808" y="1392238"/>
                </a:cubicBezTo>
                <a:cubicBezTo>
                  <a:pt x="7401827" y="1392238"/>
                  <a:pt x="7448393" y="1371357"/>
                  <a:pt x="7481953" y="1337320"/>
                </a:cubicBezTo>
                <a:cubicBezTo>
                  <a:pt x="7515304" y="1303075"/>
                  <a:pt x="7535860" y="1255675"/>
                  <a:pt x="7535860" y="1202427"/>
                </a:cubicBezTo>
                <a:cubicBezTo>
                  <a:pt x="7535860" y="1149598"/>
                  <a:pt x="7515304" y="1102197"/>
                  <a:pt x="7481534" y="1067952"/>
                </a:cubicBezTo>
                <a:cubicBezTo>
                  <a:pt x="7447973" y="1033706"/>
                  <a:pt x="7401408" y="1012825"/>
                  <a:pt x="7349808" y="1012825"/>
                </a:cubicBezTo>
                <a:close/>
                <a:moveTo>
                  <a:pt x="10448922" y="946150"/>
                </a:moveTo>
                <a:lnTo>
                  <a:pt x="10552110" y="946150"/>
                </a:lnTo>
                <a:lnTo>
                  <a:pt x="10671172" y="1139825"/>
                </a:lnTo>
                <a:lnTo>
                  <a:pt x="10790235" y="1333501"/>
                </a:lnTo>
                <a:lnTo>
                  <a:pt x="10790235" y="946150"/>
                </a:lnTo>
                <a:lnTo>
                  <a:pt x="10869610" y="946150"/>
                </a:lnTo>
                <a:lnTo>
                  <a:pt x="10869610" y="1458913"/>
                </a:lnTo>
                <a:lnTo>
                  <a:pt x="10772772" y="1458913"/>
                </a:lnTo>
                <a:lnTo>
                  <a:pt x="10650535" y="1260475"/>
                </a:lnTo>
                <a:lnTo>
                  <a:pt x="10528297" y="1062038"/>
                </a:lnTo>
                <a:lnTo>
                  <a:pt x="10528297" y="1458913"/>
                </a:lnTo>
                <a:lnTo>
                  <a:pt x="10448922" y="1458913"/>
                </a:lnTo>
                <a:close/>
                <a:moveTo>
                  <a:pt x="10185397" y="946150"/>
                </a:moveTo>
                <a:lnTo>
                  <a:pt x="10267947" y="946150"/>
                </a:lnTo>
                <a:lnTo>
                  <a:pt x="10267947" y="1458913"/>
                </a:lnTo>
                <a:lnTo>
                  <a:pt x="10185397" y="1458913"/>
                </a:lnTo>
                <a:close/>
                <a:moveTo>
                  <a:pt x="9656760" y="946150"/>
                </a:moveTo>
                <a:lnTo>
                  <a:pt x="10059985" y="946150"/>
                </a:lnTo>
                <a:lnTo>
                  <a:pt x="10059985" y="1022350"/>
                </a:lnTo>
                <a:lnTo>
                  <a:pt x="9899648" y="1022350"/>
                </a:lnTo>
                <a:lnTo>
                  <a:pt x="9899648" y="1458913"/>
                </a:lnTo>
                <a:lnTo>
                  <a:pt x="9817098" y="1458913"/>
                </a:lnTo>
                <a:lnTo>
                  <a:pt x="9817098" y="1022350"/>
                </a:lnTo>
                <a:lnTo>
                  <a:pt x="9656760" y="1022350"/>
                </a:lnTo>
                <a:close/>
                <a:moveTo>
                  <a:pt x="9336085" y="946150"/>
                </a:moveTo>
                <a:lnTo>
                  <a:pt x="9418635" y="946150"/>
                </a:lnTo>
                <a:lnTo>
                  <a:pt x="9418635" y="1382713"/>
                </a:lnTo>
                <a:lnTo>
                  <a:pt x="9671048" y="1382713"/>
                </a:lnTo>
                <a:lnTo>
                  <a:pt x="9671048" y="1458913"/>
                </a:lnTo>
                <a:lnTo>
                  <a:pt x="9336085" y="1458913"/>
                </a:lnTo>
                <a:close/>
                <a:moveTo>
                  <a:pt x="8766172" y="946150"/>
                </a:moveTo>
                <a:cubicBezTo>
                  <a:pt x="8848414" y="946150"/>
                  <a:pt x="8848414" y="946150"/>
                  <a:pt x="8848414" y="946150"/>
                </a:cubicBezTo>
                <a:cubicBezTo>
                  <a:pt x="8848414" y="1260391"/>
                  <a:pt x="8848414" y="1260391"/>
                  <a:pt x="8848414" y="1260391"/>
                </a:cubicBezTo>
                <a:cubicBezTo>
                  <a:pt x="8848414" y="1297706"/>
                  <a:pt x="8861356" y="1331038"/>
                  <a:pt x="8883900" y="1355146"/>
                </a:cubicBezTo>
                <a:cubicBezTo>
                  <a:pt x="8906443" y="1379044"/>
                  <a:pt x="8939006" y="1393718"/>
                  <a:pt x="8978249" y="1393718"/>
                </a:cubicBezTo>
                <a:cubicBezTo>
                  <a:pt x="9017074" y="1393718"/>
                  <a:pt x="9049219" y="1379044"/>
                  <a:pt x="9071972" y="1355146"/>
                </a:cubicBezTo>
                <a:cubicBezTo>
                  <a:pt x="9094515" y="1331038"/>
                  <a:pt x="9107457" y="1297706"/>
                  <a:pt x="9107457" y="1260391"/>
                </a:cubicBezTo>
                <a:cubicBezTo>
                  <a:pt x="9107457" y="946150"/>
                  <a:pt x="9107457" y="946150"/>
                  <a:pt x="9107457" y="946150"/>
                </a:cubicBezTo>
                <a:cubicBezTo>
                  <a:pt x="9188447" y="946150"/>
                  <a:pt x="9188447" y="946150"/>
                  <a:pt x="9188447" y="946150"/>
                </a:cubicBezTo>
                <a:cubicBezTo>
                  <a:pt x="9188447" y="1261230"/>
                  <a:pt x="9188447" y="1261230"/>
                  <a:pt x="9188447" y="1261230"/>
                </a:cubicBezTo>
                <a:cubicBezTo>
                  <a:pt x="9188447" y="1321185"/>
                  <a:pt x="9166112" y="1373384"/>
                  <a:pt x="9128539" y="1410489"/>
                </a:cubicBezTo>
                <a:cubicBezTo>
                  <a:pt x="9090758" y="1447804"/>
                  <a:pt x="9038156" y="1470025"/>
                  <a:pt x="8977623" y="1470025"/>
                </a:cubicBezTo>
                <a:cubicBezTo>
                  <a:pt x="8917089" y="1470025"/>
                  <a:pt x="8864278" y="1447804"/>
                  <a:pt x="8826497" y="1410489"/>
                </a:cubicBezTo>
                <a:cubicBezTo>
                  <a:pt x="8788716" y="1373384"/>
                  <a:pt x="8766172" y="1321185"/>
                  <a:pt x="8766172" y="1261230"/>
                </a:cubicBezTo>
                <a:cubicBezTo>
                  <a:pt x="8766172" y="946150"/>
                  <a:pt x="8766172" y="946150"/>
                  <a:pt x="8766172" y="946150"/>
                </a:cubicBezTo>
                <a:close/>
                <a:moveTo>
                  <a:pt x="7737472" y="946150"/>
                </a:moveTo>
                <a:lnTo>
                  <a:pt x="7839072" y="946150"/>
                </a:lnTo>
                <a:lnTo>
                  <a:pt x="7958134" y="1139825"/>
                </a:lnTo>
                <a:lnTo>
                  <a:pt x="8077197" y="1333501"/>
                </a:lnTo>
                <a:lnTo>
                  <a:pt x="8077197" y="946150"/>
                </a:lnTo>
                <a:lnTo>
                  <a:pt x="8156572" y="946150"/>
                </a:lnTo>
                <a:lnTo>
                  <a:pt x="8156572" y="1458913"/>
                </a:lnTo>
                <a:lnTo>
                  <a:pt x="8061322" y="1458913"/>
                </a:lnTo>
                <a:lnTo>
                  <a:pt x="7939084" y="1260475"/>
                </a:lnTo>
                <a:lnTo>
                  <a:pt x="7815259" y="1062038"/>
                </a:lnTo>
                <a:lnTo>
                  <a:pt x="7815259" y="1458913"/>
                </a:lnTo>
                <a:lnTo>
                  <a:pt x="7737472" y="1458913"/>
                </a:lnTo>
                <a:close/>
                <a:moveTo>
                  <a:pt x="11253544" y="936625"/>
                </a:moveTo>
                <a:cubicBezTo>
                  <a:pt x="11284280" y="936625"/>
                  <a:pt x="11313343" y="940389"/>
                  <a:pt x="11340315" y="948334"/>
                </a:cubicBezTo>
                <a:cubicBezTo>
                  <a:pt x="11367287" y="956071"/>
                  <a:pt x="11391959" y="967989"/>
                  <a:pt x="11414331" y="984090"/>
                </a:cubicBezTo>
                <a:cubicBezTo>
                  <a:pt x="11392795" y="1017545"/>
                  <a:pt x="11392795" y="1017545"/>
                  <a:pt x="11392795" y="1017545"/>
                </a:cubicBezTo>
                <a:cubicBezTo>
                  <a:pt x="11371260" y="1051209"/>
                  <a:pt x="11371260" y="1051209"/>
                  <a:pt x="11371260" y="1051209"/>
                </a:cubicBezTo>
                <a:cubicBezTo>
                  <a:pt x="11354114" y="1038036"/>
                  <a:pt x="11335715" y="1028627"/>
                  <a:pt x="11316270" y="1022354"/>
                </a:cubicBezTo>
                <a:cubicBezTo>
                  <a:pt x="11296616" y="1016290"/>
                  <a:pt x="11275498" y="1013363"/>
                  <a:pt x="11252917" y="1013363"/>
                </a:cubicBezTo>
                <a:cubicBezTo>
                  <a:pt x="11201273" y="1013363"/>
                  <a:pt x="11155483" y="1034063"/>
                  <a:pt x="11122657" y="1067936"/>
                </a:cubicBezTo>
                <a:cubicBezTo>
                  <a:pt x="11089622" y="1102019"/>
                  <a:pt x="11069549" y="1149692"/>
                  <a:pt x="11069549" y="1203221"/>
                </a:cubicBezTo>
                <a:cubicBezTo>
                  <a:pt x="11069549" y="1256958"/>
                  <a:pt x="11088785" y="1304631"/>
                  <a:pt x="11120984" y="1338923"/>
                </a:cubicBezTo>
                <a:cubicBezTo>
                  <a:pt x="11153393" y="1373214"/>
                  <a:pt x="11198346" y="1394124"/>
                  <a:pt x="11249990" y="1394124"/>
                </a:cubicBezTo>
                <a:cubicBezTo>
                  <a:pt x="11297452" y="1394124"/>
                  <a:pt x="11335924" y="1378860"/>
                  <a:pt x="11364360" y="1353350"/>
                </a:cubicBezTo>
                <a:cubicBezTo>
                  <a:pt x="11392795" y="1328050"/>
                  <a:pt x="11410986" y="1292295"/>
                  <a:pt x="11418095" y="1251521"/>
                </a:cubicBezTo>
                <a:cubicBezTo>
                  <a:pt x="11244136" y="1251521"/>
                  <a:pt x="11244136" y="1251521"/>
                  <a:pt x="11244136" y="1251521"/>
                </a:cubicBezTo>
                <a:cubicBezTo>
                  <a:pt x="11267971" y="1214303"/>
                  <a:pt x="11267971" y="1214303"/>
                  <a:pt x="11267971" y="1214303"/>
                </a:cubicBezTo>
                <a:cubicBezTo>
                  <a:pt x="11291598" y="1177084"/>
                  <a:pt x="11291598" y="1177084"/>
                  <a:pt x="11291598" y="1177084"/>
                </a:cubicBezTo>
                <a:cubicBezTo>
                  <a:pt x="11496083" y="1177084"/>
                  <a:pt x="11496083" y="1177084"/>
                  <a:pt x="11496083" y="1177084"/>
                </a:cubicBezTo>
                <a:cubicBezTo>
                  <a:pt x="11497338" y="1181057"/>
                  <a:pt x="11498174" y="1186911"/>
                  <a:pt x="11498802" y="1193393"/>
                </a:cubicBezTo>
                <a:cubicBezTo>
                  <a:pt x="11499429" y="1199875"/>
                  <a:pt x="11499847" y="1206984"/>
                  <a:pt x="11499847" y="1213466"/>
                </a:cubicBezTo>
                <a:cubicBezTo>
                  <a:pt x="11499847" y="1286231"/>
                  <a:pt x="11474339" y="1350214"/>
                  <a:pt x="11430222" y="1396215"/>
                </a:cubicBezTo>
                <a:cubicBezTo>
                  <a:pt x="11386105" y="1442216"/>
                  <a:pt x="11323379" y="1470025"/>
                  <a:pt x="11249154" y="1470025"/>
                </a:cubicBezTo>
                <a:cubicBezTo>
                  <a:pt x="11175137" y="1470025"/>
                  <a:pt x="11109066" y="1440334"/>
                  <a:pt x="11061813" y="1392242"/>
                </a:cubicBezTo>
                <a:cubicBezTo>
                  <a:pt x="11014351" y="1344150"/>
                  <a:pt x="10985497" y="1277449"/>
                  <a:pt x="10985497" y="1203221"/>
                </a:cubicBezTo>
                <a:cubicBezTo>
                  <a:pt x="10985497" y="1129201"/>
                  <a:pt x="11015187" y="1062500"/>
                  <a:pt x="11063695" y="1014408"/>
                </a:cubicBezTo>
                <a:cubicBezTo>
                  <a:pt x="11111994" y="966317"/>
                  <a:pt x="11179110" y="936625"/>
                  <a:pt x="11253544" y="936625"/>
                </a:cubicBezTo>
                <a:close/>
                <a:moveTo>
                  <a:pt x="8471697" y="936625"/>
                </a:moveTo>
                <a:cubicBezTo>
                  <a:pt x="8502452" y="936625"/>
                  <a:pt x="8530906" y="941434"/>
                  <a:pt x="8556850" y="949798"/>
                </a:cubicBezTo>
                <a:cubicBezTo>
                  <a:pt x="8582793" y="958162"/>
                  <a:pt x="8606225" y="970080"/>
                  <a:pt x="8626729" y="984717"/>
                </a:cubicBezTo>
                <a:cubicBezTo>
                  <a:pt x="8626729" y="984717"/>
                  <a:pt x="8626729" y="984717"/>
                  <a:pt x="8606225" y="1017336"/>
                </a:cubicBezTo>
                <a:cubicBezTo>
                  <a:pt x="8606225" y="1017336"/>
                  <a:pt x="8606225" y="1017336"/>
                  <a:pt x="8585722" y="1049745"/>
                </a:cubicBezTo>
                <a:cubicBezTo>
                  <a:pt x="8566474" y="1037409"/>
                  <a:pt x="8547644" y="1027581"/>
                  <a:pt x="8528605" y="1021099"/>
                </a:cubicBezTo>
                <a:cubicBezTo>
                  <a:pt x="8509775" y="1014617"/>
                  <a:pt x="8490736" y="1011063"/>
                  <a:pt x="8471070" y="1011063"/>
                </a:cubicBezTo>
                <a:cubicBezTo>
                  <a:pt x="8441151" y="1011063"/>
                  <a:pt x="8418974" y="1019217"/>
                  <a:pt x="8404328" y="1032181"/>
                </a:cubicBezTo>
                <a:cubicBezTo>
                  <a:pt x="8389683" y="1045354"/>
                  <a:pt x="8382570" y="1063755"/>
                  <a:pt x="8382570" y="1084246"/>
                </a:cubicBezTo>
                <a:cubicBezTo>
                  <a:pt x="8382570" y="1108292"/>
                  <a:pt x="8393449" y="1123556"/>
                  <a:pt x="8412697" y="1135474"/>
                </a:cubicBezTo>
                <a:cubicBezTo>
                  <a:pt x="8432155" y="1147183"/>
                  <a:pt x="8459772" y="1155338"/>
                  <a:pt x="8493038" y="1165165"/>
                </a:cubicBezTo>
                <a:cubicBezTo>
                  <a:pt x="8532789" y="1177293"/>
                  <a:pt x="8571704" y="1190257"/>
                  <a:pt x="8600786" y="1212421"/>
                </a:cubicBezTo>
                <a:cubicBezTo>
                  <a:pt x="8629658" y="1234585"/>
                  <a:pt x="8648697" y="1265740"/>
                  <a:pt x="8648697" y="1314250"/>
                </a:cubicBezTo>
                <a:cubicBezTo>
                  <a:pt x="8648697" y="1359205"/>
                  <a:pt x="8632169" y="1398097"/>
                  <a:pt x="8601413" y="1425906"/>
                </a:cubicBezTo>
                <a:cubicBezTo>
                  <a:pt x="8570658" y="1453507"/>
                  <a:pt x="8525467" y="1470025"/>
                  <a:pt x="8468140" y="1470025"/>
                </a:cubicBezTo>
                <a:cubicBezTo>
                  <a:pt x="8427552" y="1470025"/>
                  <a:pt x="8393031" y="1463125"/>
                  <a:pt x="8363531" y="1452461"/>
                </a:cubicBezTo>
                <a:cubicBezTo>
                  <a:pt x="8333821" y="1441797"/>
                  <a:pt x="8308715" y="1427161"/>
                  <a:pt x="8286747" y="1411479"/>
                </a:cubicBezTo>
                <a:cubicBezTo>
                  <a:pt x="8286747" y="1411479"/>
                  <a:pt x="8286747" y="1411479"/>
                  <a:pt x="8307251" y="1379069"/>
                </a:cubicBezTo>
                <a:cubicBezTo>
                  <a:pt x="8307251" y="1379069"/>
                  <a:pt x="8307251" y="1379069"/>
                  <a:pt x="8327754" y="1346450"/>
                </a:cubicBezTo>
                <a:cubicBezTo>
                  <a:pt x="8349931" y="1360669"/>
                  <a:pt x="8372318" y="1373005"/>
                  <a:pt x="8395541" y="1381578"/>
                </a:cubicBezTo>
                <a:cubicBezTo>
                  <a:pt x="8418765" y="1390360"/>
                  <a:pt x="8442825" y="1395378"/>
                  <a:pt x="8468768" y="1395378"/>
                </a:cubicBezTo>
                <a:cubicBezTo>
                  <a:pt x="8500569" y="1395378"/>
                  <a:pt x="8525048" y="1387224"/>
                  <a:pt x="8541367" y="1373633"/>
                </a:cubicBezTo>
                <a:cubicBezTo>
                  <a:pt x="8557686" y="1360041"/>
                  <a:pt x="8566055" y="1341014"/>
                  <a:pt x="8566055" y="1319477"/>
                </a:cubicBezTo>
                <a:cubicBezTo>
                  <a:pt x="8566055" y="1295640"/>
                  <a:pt x="8554967" y="1280376"/>
                  <a:pt x="8535509" y="1268458"/>
                </a:cubicBezTo>
                <a:cubicBezTo>
                  <a:pt x="8516261" y="1256540"/>
                  <a:pt x="8488644" y="1248176"/>
                  <a:pt x="8455587" y="1238348"/>
                </a:cubicBezTo>
                <a:cubicBezTo>
                  <a:pt x="8415417" y="1226221"/>
                  <a:pt x="8376502" y="1213466"/>
                  <a:pt x="8347630" y="1191511"/>
                </a:cubicBezTo>
                <a:cubicBezTo>
                  <a:pt x="8318758" y="1169556"/>
                  <a:pt x="8299928" y="1138192"/>
                  <a:pt x="8299928" y="1089264"/>
                </a:cubicBezTo>
                <a:cubicBezTo>
                  <a:pt x="8299928" y="1044727"/>
                  <a:pt x="8315829" y="1006463"/>
                  <a:pt x="8345329" y="979489"/>
                </a:cubicBezTo>
                <a:cubicBezTo>
                  <a:pt x="8374828" y="952516"/>
                  <a:pt x="8417718" y="936625"/>
                  <a:pt x="8471697" y="936625"/>
                </a:cubicBezTo>
                <a:close/>
                <a:moveTo>
                  <a:pt x="7349808" y="936625"/>
                </a:moveTo>
                <a:cubicBezTo>
                  <a:pt x="7424849" y="936625"/>
                  <a:pt x="7492344" y="966526"/>
                  <a:pt x="7541183" y="1014826"/>
                </a:cubicBezTo>
                <a:cubicBezTo>
                  <a:pt x="7590023" y="1063127"/>
                  <a:pt x="7619997" y="1129828"/>
                  <a:pt x="7619997" y="1203221"/>
                </a:cubicBezTo>
                <a:cubicBezTo>
                  <a:pt x="7619997" y="1276613"/>
                  <a:pt x="7590023" y="1343314"/>
                  <a:pt x="7541183" y="1391615"/>
                </a:cubicBezTo>
                <a:cubicBezTo>
                  <a:pt x="7492344" y="1440125"/>
                  <a:pt x="7424849" y="1470025"/>
                  <a:pt x="7349808" y="1470025"/>
                </a:cubicBezTo>
                <a:cubicBezTo>
                  <a:pt x="7274767" y="1470025"/>
                  <a:pt x="7207272" y="1440125"/>
                  <a:pt x="7158642" y="1391615"/>
                </a:cubicBezTo>
                <a:cubicBezTo>
                  <a:pt x="7110012" y="1343314"/>
                  <a:pt x="7080247" y="1276613"/>
                  <a:pt x="7080247" y="1203221"/>
                </a:cubicBezTo>
                <a:cubicBezTo>
                  <a:pt x="7080247" y="1129828"/>
                  <a:pt x="7110012" y="1063127"/>
                  <a:pt x="7158642" y="1014826"/>
                </a:cubicBezTo>
                <a:cubicBezTo>
                  <a:pt x="7207272" y="966526"/>
                  <a:pt x="7274767" y="936625"/>
                  <a:pt x="7349808" y="936625"/>
                </a:cubicBezTo>
                <a:close/>
                <a:moveTo>
                  <a:pt x="6837427" y="936625"/>
                </a:moveTo>
                <a:cubicBezTo>
                  <a:pt x="6874092" y="936625"/>
                  <a:pt x="6904891" y="941852"/>
                  <a:pt x="6932756" y="951680"/>
                </a:cubicBezTo>
                <a:cubicBezTo>
                  <a:pt x="6960412" y="961507"/>
                  <a:pt x="6984925" y="975726"/>
                  <a:pt x="7008810" y="993499"/>
                </a:cubicBezTo>
                <a:cubicBezTo>
                  <a:pt x="7008810" y="993499"/>
                  <a:pt x="7008810" y="993499"/>
                  <a:pt x="6987439" y="1026745"/>
                </a:cubicBezTo>
                <a:cubicBezTo>
                  <a:pt x="6987439" y="1026745"/>
                  <a:pt x="6987439" y="1026745"/>
                  <a:pt x="6966278" y="1059991"/>
                </a:cubicBezTo>
                <a:cubicBezTo>
                  <a:pt x="6946584" y="1044727"/>
                  <a:pt x="6926680" y="1032809"/>
                  <a:pt x="6904891" y="1024863"/>
                </a:cubicBezTo>
                <a:cubicBezTo>
                  <a:pt x="6883101" y="1016708"/>
                  <a:pt x="6859845" y="1012526"/>
                  <a:pt x="6833027" y="1012526"/>
                </a:cubicBezTo>
                <a:cubicBezTo>
                  <a:pt x="6782115" y="1012526"/>
                  <a:pt x="6736441" y="1033436"/>
                  <a:pt x="6703338" y="1067727"/>
                </a:cubicBezTo>
                <a:cubicBezTo>
                  <a:pt x="6670444" y="1102019"/>
                  <a:pt x="6649912" y="1149483"/>
                  <a:pt x="6649912" y="1203221"/>
                </a:cubicBezTo>
                <a:cubicBezTo>
                  <a:pt x="6649912" y="1256958"/>
                  <a:pt x="6670444" y="1304631"/>
                  <a:pt x="6703338" y="1338923"/>
                </a:cubicBezTo>
                <a:cubicBezTo>
                  <a:pt x="6736441" y="1373214"/>
                  <a:pt x="6782115" y="1393915"/>
                  <a:pt x="6833027" y="1393915"/>
                </a:cubicBezTo>
                <a:cubicBezTo>
                  <a:pt x="6859845" y="1393915"/>
                  <a:pt x="6883101" y="1389733"/>
                  <a:pt x="6904891" y="1381787"/>
                </a:cubicBezTo>
                <a:cubicBezTo>
                  <a:pt x="6926680" y="1373633"/>
                  <a:pt x="6946584" y="1361923"/>
                  <a:pt x="6966278" y="1346450"/>
                </a:cubicBezTo>
                <a:cubicBezTo>
                  <a:pt x="6966278" y="1346450"/>
                  <a:pt x="6966278" y="1346450"/>
                  <a:pt x="6987439" y="1379696"/>
                </a:cubicBezTo>
                <a:cubicBezTo>
                  <a:pt x="6987439" y="1379696"/>
                  <a:pt x="6987439" y="1379696"/>
                  <a:pt x="7008810" y="1412942"/>
                </a:cubicBezTo>
                <a:cubicBezTo>
                  <a:pt x="6984925" y="1430924"/>
                  <a:pt x="6960412" y="1445143"/>
                  <a:pt x="6932756" y="1454970"/>
                </a:cubicBezTo>
                <a:cubicBezTo>
                  <a:pt x="6904891" y="1464589"/>
                  <a:pt x="6874092" y="1470025"/>
                  <a:pt x="6837427" y="1470025"/>
                </a:cubicBezTo>
                <a:cubicBezTo>
                  <a:pt x="6761373" y="1470025"/>
                  <a:pt x="6693491" y="1440334"/>
                  <a:pt x="6644674" y="1392242"/>
                </a:cubicBezTo>
                <a:cubicBezTo>
                  <a:pt x="6595648" y="1344150"/>
                  <a:pt x="6565897" y="1277449"/>
                  <a:pt x="6565897" y="1203221"/>
                </a:cubicBezTo>
                <a:cubicBezTo>
                  <a:pt x="6565897" y="1129201"/>
                  <a:pt x="6595648" y="1062500"/>
                  <a:pt x="6644674" y="1014408"/>
                </a:cubicBezTo>
                <a:cubicBezTo>
                  <a:pt x="6693491" y="966107"/>
                  <a:pt x="6761373" y="936625"/>
                  <a:pt x="6837427" y="936625"/>
                </a:cubicBezTo>
                <a:close/>
                <a:moveTo>
                  <a:pt x="501650" y="477838"/>
                </a:moveTo>
                <a:cubicBezTo>
                  <a:pt x="501650" y="477838"/>
                  <a:pt x="501650" y="477838"/>
                  <a:pt x="501650" y="981076"/>
                </a:cubicBezTo>
                <a:cubicBezTo>
                  <a:pt x="501650" y="981076"/>
                  <a:pt x="501650" y="981076"/>
                  <a:pt x="786010" y="981076"/>
                </a:cubicBezTo>
                <a:cubicBezTo>
                  <a:pt x="786010" y="981076"/>
                  <a:pt x="786010" y="981076"/>
                  <a:pt x="1070579" y="981076"/>
                </a:cubicBezTo>
                <a:cubicBezTo>
                  <a:pt x="1142870" y="981076"/>
                  <a:pt x="1207013" y="953710"/>
                  <a:pt x="1253188" y="908588"/>
                </a:cubicBezTo>
                <a:cubicBezTo>
                  <a:pt x="1299153" y="863466"/>
                  <a:pt x="1327150" y="800169"/>
                  <a:pt x="1327150" y="727681"/>
                </a:cubicBezTo>
                <a:cubicBezTo>
                  <a:pt x="1327150" y="655402"/>
                  <a:pt x="1299153" y="592942"/>
                  <a:pt x="1253188" y="548446"/>
                </a:cubicBezTo>
                <a:cubicBezTo>
                  <a:pt x="1207013" y="503951"/>
                  <a:pt x="1142870" y="477838"/>
                  <a:pt x="1070579" y="477838"/>
                </a:cubicBezTo>
                <a:cubicBezTo>
                  <a:pt x="1070579" y="477838"/>
                  <a:pt x="1070579" y="477838"/>
                  <a:pt x="501650" y="477838"/>
                </a:cubicBezTo>
                <a:close/>
                <a:moveTo>
                  <a:pt x="6675435" y="336550"/>
                </a:moveTo>
                <a:cubicBezTo>
                  <a:pt x="6675435" y="487363"/>
                  <a:pt x="6675435" y="487363"/>
                  <a:pt x="6675435" y="487363"/>
                </a:cubicBezTo>
                <a:cubicBezTo>
                  <a:pt x="6808467" y="487363"/>
                  <a:pt x="6808467" y="487363"/>
                  <a:pt x="6808467" y="487363"/>
                </a:cubicBezTo>
                <a:cubicBezTo>
                  <a:pt x="6831475" y="487363"/>
                  <a:pt x="6851346" y="478985"/>
                  <a:pt x="6865570" y="465370"/>
                </a:cubicBezTo>
                <a:cubicBezTo>
                  <a:pt x="6879793" y="451755"/>
                  <a:pt x="6888160" y="432903"/>
                  <a:pt x="6888160" y="411957"/>
                </a:cubicBezTo>
                <a:cubicBezTo>
                  <a:pt x="6888160" y="390801"/>
                  <a:pt x="6879793" y="371949"/>
                  <a:pt x="6865570" y="358334"/>
                </a:cubicBezTo>
                <a:cubicBezTo>
                  <a:pt x="6851346" y="344719"/>
                  <a:pt x="6831475" y="336550"/>
                  <a:pt x="6808467" y="336550"/>
                </a:cubicBezTo>
                <a:cubicBezTo>
                  <a:pt x="6675435" y="336550"/>
                  <a:pt x="6675435" y="336550"/>
                  <a:pt x="6675435" y="336550"/>
                </a:cubicBezTo>
                <a:close/>
                <a:moveTo>
                  <a:pt x="6675435" y="122238"/>
                </a:moveTo>
                <a:cubicBezTo>
                  <a:pt x="6675435" y="265113"/>
                  <a:pt x="6675435" y="265113"/>
                  <a:pt x="6675435" y="265113"/>
                </a:cubicBezTo>
                <a:cubicBezTo>
                  <a:pt x="6795279" y="265113"/>
                  <a:pt x="6795279" y="265113"/>
                  <a:pt x="6795279" y="265113"/>
                </a:cubicBezTo>
                <a:cubicBezTo>
                  <a:pt x="6816822" y="265113"/>
                  <a:pt x="6835228" y="257396"/>
                  <a:pt x="6848404" y="244673"/>
                </a:cubicBezTo>
                <a:cubicBezTo>
                  <a:pt x="6861372" y="231949"/>
                  <a:pt x="6869110" y="214012"/>
                  <a:pt x="6869110" y="193571"/>
                </a:cubicBezTo>
                <a:cubicBezTo>
                  <a:pt x="6869110" y="173131"/>
                  <a:pt x="6861372" y="155402"/>
                  <a:pt x="6848404" y="142679"/>
                </a:cubicBezTo>
                <a:cubicBezTo>
                  <a:pt x="6835228" y="129747"/>
                  <a:pt x="6816822" y="122238"/>
                  <a:pt x="6795279" y="122238"/>
                </a:cubicBezTo>
                <a:cubicBezTo>
                  <a:pt x="6675435" y="122238"/>
                  <a:pt x="6675435" y="122238"/>
                  <a:pt x="6675435" y="122238"/>
                </a:cubicBezTo>
                <a:close/>
                <a:moveTo>
                  <a:pt x="8850791" y="114300"/>
                </a:moveTo>
                <a:cubicBezTo>
                  <a:pt x="8799203" y="114300"/>
                  <a:pt x="8753045" y="135269"/>
                  <a:pt x="8719837" y="169657"/>
                </a:cubicBezTo>
                <a:cubicBezTo>
                  <a:pt x="8686419" y="204046"/>
                  <a:pt x="8666160" y="251645"/>
                  <a:pt x="8666160" y="304905"/>
                </a:cubicBezTo>
                <a:cubicBezTo>
                  <a:pt x="8666160" y="357956"/>
                  <a:pt x="8686419" y="405554"/>
                  <a:pt x="8719837" y="439943"/>
                </a:cubicBezTo>
                <a:cubicBezTo>
                  <a:pt x="8753045" y="474332"/>
                  <a:pt x="8799203" y="495300"/>
                  <a:pt x="8850791" y="495300"/>
                </a:cubicBezTo>
                <a:cubicBezTo>
                  <a:pt x="8902588" y="495300"/>
                  <a:pt x="8948954" y="474541"/>
                  <a:pt x="8982163" y="440153"/>
                </a:cubicBezTo>
                <a:cubicBezTo>
                  <a:pt x="9015580" y="405974"/>
                  <a:pt x="9036048" y="358375"/>
                  <a:pt x="9036048" y="304905"/>
                </a:cubicBezTo>
                <a:cubicBezTo>
                  <a:pt x="9036048" y="251645"/>
                  <a:pt x="9015371" y="204046"/>
                  <a:pt x="8981954" y="169657"/>
                </a:cubicBezTo>
                <a:cubicBezTo>
                  <a:pt x="8948536" y="135269"/>
                  <a:pt x="8902170" y="114300"/>
                  <a:pt x="8850791" y="114300"/>
                </a:cubicBezTo>
                <a:close/>
                <a:moveTo>
                  <a:pt x="7335415" y="114300"/>
                </a:moveTo>
                <a:cubicBezTo>
                  <a:pt x="7283845" y="114300"/>
                  <a:pt x="7237515" y="135269"/>
                  <a:pt x="7203974" y="169657"/>
                </a:cubicBezTo>
                <a:cubicBezTo>
                  <a:pt x="7170642" y="204046"/>
                  <a:pt x="7150097" y="251645"/>
                  <a:pt x="7150097" y="304905"/>
                </a:cubicBezTo>
                <a:cubicBezTo>
                  <a:pt x="7150097" y="357956"/>
                  <a:pt x="7170642" y="405554"/>
                  <a:pt x="7203974" y="439943"/>
                </a:cubicBezTo>
                <a:cubicBezTo>
                  <a:pt x="7237515" y="474332"/>
                  <a:pt x="7283845" y="495300"/>
                  <a:pt x="7335415" y="495300"/>
                </a:cubicBezTo>
                <a:cubicBezTo>
                  <a:pt x="7387405" y="495300"/>
                  <a:pt x="7433944" y="474541"/>
                  <a:pt x="7467486" y="440153"/>
                </a:cubicBezTo>
                <a:cubicBezTo>
                  <a:pt x="7501028" y="405974"/>
                  <a:pt x="7521572" y="358375"/>
                  <a:pt x="7521572" y="304905"/>
                </a:cubicBezTo>
                <a:cubicBezTo>
                  <a:pt x="7521572" y="251645"/>
                  <a:pt x="7500818" y="204046"/>
                  <a:pt x="7467067" y="169657"/>
                </a:cubicBezTo>
                <a:cubicBezTo>
                  <a:pt x="7433525" y="135269"/>
                  <a:pt x="7386986" y="114300"/>
                  <a:pt x="7335415" y="114300"/>
                </a:cubicBezTo>
                <a:close/>
                <a:moveTo>
                  <a:pt x="9237660" y="49213"/>
                </a:moveTo>
                <a:lnTo>
                  <a:pt x="9339260" y="49213"/>
                </a:lnTo>
                <a:lnTo>
                  <a:pt x="9458322" y="242888"/>
                </a:lnTo>
                <a:lnTo>
                  <a:pt x="9578972" y="436563"/>
                </a:lnTo>
                <a:lnTo>
                  <a:pt x="9578972" y="49213"/>
                </a:lnTo>
                <a:lnTo>
                  <a:pt x="9656760" y="49213"/>
                </a:lnTo>
                <a:lnTo>
                  <a:pt x="9656760" y="560388"/>
                </a:lnTo>
                <a:lnTo>
                  <a:pt x="9561510" y="560388"/>
                </a:lnTo>
                <a:lnTo>
                  <a:pt x="9439272" y="363538"/>
                </a:lnTo>
                <a:lnTo>
                  <a:pt x="9317035" y="165101"/>
                </a:lnTo>
                <a:lnTo>
                  <a:pt x="9317035" y="560388"/>
                </a:lnTo>
                <a:lnTo>
                  <a:pt x="9237660" y="560388"/>
                </a:lnTo>
                <a:close/>
                <a:moveTo>
                  <a:pt x="8126410" y="49213"/>
                </a:moveTo>
                <a:lnTo>
                  <a:pt x="8529635" y="49213"/>
                </a:lnTo>
                <a:lnTo>
                  <a:pt x="8529635" y="125413"/>
                </a:lnTo>
                <a:lnTo>
                  <a:pt x="8369298" y="125413"/>
                </a:lnTo>
                <a:lnTo>
                  <a:pt x="8369298" y="560388"/>
                </a:lnTo>
                <a:lnTo>
                  <a:pt x="8285160" y="560388"/>
                </a:lnTo>
                <a:lnTo>
                  <a:pt x="8285160" y="125413"/>
                </a:lnTo>
                <a:lnTo>
                  <a:pt x="8126410" y="125413"/>
                </a:lnTo>
                <a:close/>
                <a:moveTo>
                  <a:pt x="6592885" y="49213"/>
                </a:moveTo>
                <a:cubicBezTo>
                  <a:pt x="6795851" y="49213"/>
                  <a:pt x="6795851" y="49213"/>
                  <a:pt x="6795851" y="49213"/>
                </a:cubicBezTo>
                <a:cubicBezTo>
                  <a:pt x="6840537" y="49213"/>
                  <a:pt x="6879794" y="63633"/>
                  <a:pt x="6907775" y="87875"/>
                </a:cubicBezTo>
                <a:cubicBezTo>
                  <a:pt x="6935756" y="112117"/>
                  <a:pt x="6952670" y="146182"/>
                  <a:pt x="6952670" y="185680"/>
                </a:cubicBezTo>
                <a:cubicBezTo>
                  <a:pt x="6952670" y="208041"/>
                  <a:pt x="6946823" y="228103"/>
                  <a:pt x="6936382" y="245658"/>
                </a:cubicBezTo>
                <a:cubicBezTo>
                  <a:pt x="6925733" y="263004"/>
                  <a:pt x="6910698" y="277633"/>
                  <a:pt x="6892114" y="288709"/>
                </a:cubicBezTo>
                <a:cubicBezTo>
                  <a:pt x="6916963" y="300621"/>
                  <a:pt x="6937009" y="318176"/>
                  <a:pt x="6950791" y="339492"/>
                </a:cubicBezTo>
                <a:cubicBezTo>
                  <a:pt x="6964572" y="360808"/>
                  <a:pt x="6972298" y="385677"/>
                  <a:pt x="6972298" y="412845"/>
                </a:cubicBezTo>
                <a:cubicBezTo>
                  <a:pt x="6972298" y="454015"/>
                  <a:pt x="6955384" y="491005"/>
                  <a:pt x="6926359" y="517546"/>
                </a:cubicBezTo>
                <a:cubicBezTo>
                  <a:pt x="6897543" y="544087"/>
                  <a:pt x="6856616" y="560388"/>
                  <a:pt x="6808798" y="560388"/>
                </a:cubicBezTo>
                <a:cubicBezTo>
                  <a:pt x="6592885" y="560388"/>
                  <a:pt x="6592885" y="560388"/>
                  <a:pt x="6592885" y="560388"/>
                </a:cubicBezTo>
                <a:cubicBezTo>
                  <a:pt x="6592885" y="49213"/>
                  <a:pt x="6592885" y="49213"/>
                  <a:pt x="6592885" y="49213"/>
                </a:cubicBezTo>
                <a:close/>
                <a:moveTo>
                  <a:pt x="8850790" y="38100"/>
                </a:moveTo>
                <a:cubicBezTo>
                  <a:pt x="8925610" y="38100"/>
                  <a:pt x="8992907" y="68001"/>
                  <a:pt x="9041603" y="116301"/>
                </a:cubicBezTo>
                <a:cubicBezTo>
                  <a:pt x="9090299" y="164602"/>
                  <a:pt x="9120185" y="231303"/>
                  <a:pt x="9120185" y="304905"/>
                </a:cubicBezTo>
                <a:cubicBezTo>
                  <a:pt x="9120185" y="378297"/>
                  <a:pt x="9090299" y="444998"/>
                  <a:pt x="9041603" y="493090"/>
                </a:cubicBezTo>
                <a:cubicBezTo>
                  <a:pt x="8992907" y="541600"/>
                  <a:pt x="8925610" y="571500"/>
                  <a:pt x="8850790" y="571500"/>
                </a:cubicBezTo>
                <a:cubicBezTo>
                  <a:pt x="8775761" y="571500"/>
                  <a:pt x="8708673" y="541600"/>
                  <a:pt x="8660186" y="493090"/>
                </a:cubicBezTo>
                <a:cubicBezTo>
                  <a:pt x="8611699" y="444998"/>
                  <a:pt x="8582022" y="378297"/>
                  <a:pt x="8582022" y="304905"/>
                </a:cubicBezTo>
                <a:cubicBezTo>
                  <a:pt x="8582022" y="231303"/>
                  <a:pt x="8611699" y="164602"/>
                  <a:pt x="8660186" y="116301"/>
                </a:cubicBezTo>
                <a:cubicBezTo>
                  <a:pt x="8708673" y="68001"/>
                  <a:pt x="8775761" y="38100"/>
                  <a:pt x="8850790" y="38100"/>
                </a:cubicBezTo>
                <a:close/>
                <a:moveTo>
                  <a:pt x="7870035" y="38100"/>
                </a:moveTo>
                <a:cubicBezTo>
                  <a:pt x="7871499" y="38100"/>
                  <a:pt x="7871499" y="38100"/>
                  <a:pt x="7871499" y="38100"/>
                </a:cubicBezTo>
                <a:cubicBezTo>
                  <a:pt x="7901627" y="38309"/>
                  <a:pt x="7929663" y="42909"/>
                  <a:pt x="7955187" y="51273"/>
                </a:cubicBezTo>
                <a:cubicBezTo>
                  <a:pt x="7981131" y="59637"/>
                  <a:pt x="8004563" y="71764"/>
                  <a:pt x="8025067" y="86401"/>
                </a:cubicBezTo>
                <a:cubicBezTo>
                  <a:pt x="8004563" y="118811"/>
                  <a:pt x="8004563" y="118811"/>
                  <a:pt x="8004563" y="118811"/>
                </a:cubicBezTo>
                <a:cubicBezTo>
                  <a:pt x="7984060" y="151429"/>
                  <a:pt x="7984060" y="151429"/>
                  <a:pt x="7984060" y="151429"/>
                </a:cubicBezTo>
                <a:cubicBezTo>
                  <a:pt x="7964811" y="138884"/>
                  <a:pt x="7945982" y="129265"/>
                  <a:pt x="7926943" y="122574"/>
                </a:cubicBezTo>
                <a:cubicBezTo>
                  <a:pt x="7908113" y="116092"/>
                  <a:pt x="7889074" y="112538"/>
                  <a:pt x="7869198" y="112538"/>
                </a:cubicBezTo>
                <a:cubicBezTo>
                  <a:pt x="7839280" y="112538"/>
                  <a:pt x="7817312" y="120692"/>
                  <a:pt x="7802666" y="133865"/>
                </a:cubicBezTo>
                <a:cubicBezTo>
                  <a:pt x="7788021" y="147038"/>
                  <a:pt x="7780907" y="165230"/>
                  <a:pt x="7780907" y="185721"/>
                </a:cubicBezTo>
                <a:cubicBezTo>
                  <a:pt x="7780907" y="209767"/>
                  <a:pt x="7791787" y="225031"/>
                  <a:pt x="7811035" y="236949"/>
                </a:cubicBezTo>
                <a:cubicBezTo>
                  <a:pt x="7830283" y="248658"/>
                  <a:pt x="7857900" y="257022"/>
                  <a:pt x="7891166" y="266849"/>
                </a:cubicBezTo>
                <a:cubicBezTo>
                  <a:pt x="7931127" y="278977"/>
                  <a:pt x="7970042" y="291941"/>
                  <a:pt x="7998914" y="313896"/>
                </a:cubicBezTo>
                <a:cubicBezTo>
                  <a:pt x="8027996" y="336060"/>
                  <a:pt x="8047035" y="367424"/>
                  <a:pt x="8047035" y="415934"/>
                </a:cubicBezTo>
                <a:cubicBezTo>
                  <a:pt x="8047035" y="460889"/>
                  <a:pt x="8030506" y="499781"/>
                  <a:pt x="7999751" y="527381"/>
                </a:cubicBezTo>
                <a:cubicBezTo>
                  <a:pt x="7968787" y="554982"/>
                  <a:pt x="7923804" y="571500"/>
                  <a:pt x="7866478" y="571500"/>
                </a:cubicBezTo>
                <a:cubicBezTo>
                  <a:pt x="7825890" y="571500"/>
                  <a:pt x="7791368" y="564809"/>
                  <a:pt x="7761659" y="554145"/>
                </a:cubicBezTo>
                <a:cubicBezTo>
                  <a:pt x="7731950" y="543272"/>
                  <a:pt x="7707053" y="528845"/>
                  <a:pt x="7685085" y="512954"/>
                </a:cubicBezTo>
                <a:cubicBezTo>
                  <a:pt x="7725883" y="447925"/>
                  <a:pt x="7725883" y="447925"/>
                  <a:pt x="7725883" y="447925"/>
                </a:cubicBezTo>
                <a:cubicBezTo>
                  <a:pt x="7748269" y="462353"/>
                  <a:pt x="7770656" y="474480"/>
                  <a:pt x="7793879" y="483053"/>
                </a:cubicBezTo>
                <a:cubicBezTo>
                  <a:pt x="7816893" y="491835"/>
                  <a:pt x="7841163" y="497063"/>
                  <a:pt x="7867106" y="497063"/>
                </a:cubicBezTo>
                <a:cubicBezTo>
                  <a:pt x="7898907" y="497063"/>
                  <a:pt x="7923177" y="488699"/>
                  <a:pt x="7939496" y="475108"/>
                </a:cubicBezTo>
                <a:cubicBezTo>
                  <a:pt x="7956024" y="461516"/>
                  <a:pt x="7964393" y="442489"/>
                  <a:pt x="7964393" y="420952"/>
                </a:cubicBezTo>
                <a:cubicBezTo>
                  <a:pt x="7964393" y="397324"/>
                  <a:pt x="7953095" y="381851"/>
                  <a:pt x="7933847" y="369933"/>
                </a:cubicBezTo>
                <a:cubicBezTo>
                  <a:pt x="7914389" y="358224"/>
                  <a:pt x="7886982" y="349860"/>
                  <a:pt x="7853925" y="339823"/>
                </a:cubicBezTo>
                <a:cubicBezTo>
                  <a:pt x="7813755" y="327696"/>
                  <a:pt x="7774840" y="314941"/>
                  <a:pt x="7745968" y="292986"/>
                </a:cubicBezTo>
                <a:cubicBezTo>
                  <a:pt x="7717095" y="271031"/>
                  <a:pt x="7698266" y="239667"/>
                  <a:pt x="7698266" y="190739"/>
                </a:cubicBezTo>
                <a:cubicBezTo>
                  <a:pt x="7698266" y="146202"/>
                  <a:pt x="7714166" y="107938"/>
                  <a:pt x="7743666" y="80964"/>
                </a:cubicBezTo>
                <a:cubicBezTo>
                  <a:pt x="7772957" y="53991"/>
                  <a:pt x="7815847" y="38100"/>
                  <a:pt x="7870035" y="38100"/>
                </a:cubicBezTo>
                <a:close/>
                <a:moveTo>
                  <a:pt x="7334624" y="38100"/>
                </a:moveTo>
                <a:cubicBezTo>
                  <a:pt x="7409415" y="38100"/>
                  <a:pt x="7476894" y="68001"/>
                  <a:pt x="7525363" y="116301"/>
                </a:cubicBezTo>
                <a:cubicBezTo>
                  <a:pt x="7574040" y="164602"/>
                  <a:pt x="7604123" y="231303"/>
                  <a:pt x="7604123" y="304905"/>
                </a:cubicBezTo>
                <a:cubicBezTo>
                  <a:pt x="7604123" y="378297"/>
                  <a:pt x="7574040" y="444998"/>
                  <a:pt x="7525363" y="493090"/>
                </a:cubicBezTo>
                <a:cubicBezTo>
                  <a:pt x="7476894" y="541600"/>
                  <a:pt x="7409415" y="571500"/>
                  <a:pt x="7334624" y="571500"/>
                </a:cubicBezTo>
                <a:cubicBezTo>
                  <a:pt x="7259833" y="571500"/>
                  <a:pt x="7192562" y="541600"/>
                  <a:pt x="7144094" y="493090"/>
                </a:cubicBezTo>
                <a:cubicBezTo>
                  <a:pt x="7095626" y="444998"/>
                  <a:pt x="7065960" y="378297"/>
                  <a:pt x="7065960" y="304905"/>
                </a:cubicBezTo>
                <a:cubicBezTo>
                  <a:pt x="7065960" y="231303"/>
                  <a:pt x="7095626" y="164602"/>
                  <a:pt x="7144094" y="116301"/>
                </a:cubicBezTo>
                <a:cubicBezTo>
                  <a:pt x="7192562" y="68001"/>
                  <a:pt x="7259833" y="38100"/>
                  <a:pt x="7334624" y="38100"/>
                </a:cubicBezTo>
                <a:close/>
                <a:moveTo>
                  <a:pt x="2766077" y="0"/>
                </a:moveTo>
                <a:cubicBezTo>
                  <a:pt x="2901191" y="0"/>
                  <a:pt x="3028777" y="17359"/>
                  <a:pt x="3146531" y="51449"/>
                </a:cubicBezTo>
                <a:cubicBezTo>
                  <a:pt x="3264077" y="85540"/>
                  <a:pt x="3372000" y="136571"/>
                  <a:pt x="3467375" y="204124"/>
                </a:cubicBezTo>
                <a:cubicBezTo>
                  <a:pt x="3467375" y="204124"/>
                  <a:pt x="3467375" y="204124"/>
                  <a:pt x="3340627" y="403228"/>
                </a:cubicBezTo>
                <a:cubicBezTo>
                  <a:pt x="3340627" y="403228"/>
                  <a:pt x="3340627" y="403228"/>
                  <a:pt x="3213880" y="602542"/>
                </a:cubicBezTo>
                <a:cubicBezTo>
                  <a:pt x="3153015" y="556321"/>
                  <a:pt x="3084622" y="520976"/>
                  <a:pt x="3009743" y="496716"/>
                </a:cubicBezTo>
                <a:cubicBezTo>
                  <a:pt x="2934865" y="472455"/>
                  <a:pt x="2853295" y="459279"/>
                  <a:pt x="2766077" y="457606"/>
                </a:cubicBezTo>
                <a:cubicBezTo>
                  <a:pt x="2556923" y="459279"/>
                  <a:pt x="2368473" y="545655"/>
                  <a:pt x="2232314" y="681180"/>
                </a:cubicBezTo>
                <a:cubicBezTo>
                  <a:pt x="2095946" y="816496"/>
                  <a:pt x="2012073" y="1000960"/>
                  <a:pt x="2012073" y="1198391"/>
                </a:cubicBezTo>
                <a:cubicBezTo>
                  <a:pt x="2012073" y="1399378"/>
                  <a:pt x="2095946" y="1585307"/>
                  <a:pt x="2232314" y="1721250"/>
                </a:cubicBezTo>
                <a:cubicBezTo>
                  <a:pt x="2368473" y="1856984"/>
                  <a:pt x="2556923" y="1942732"/>
                  <a:pt x="2766077" y="1942732"/>
                </a:cubicBezTo>
                <a:cubicBezTo>
                  <a:pt x="2868145" y="1942732"/>
                  <a:pt x="2962893" y="1923700"/>
                  <a:pt x="3050111" y="1886682"/>
                </a:cubicBezTo>
                <a:cubicBezTo>
                  <a:pt x="3137328" y="1849664"/>
                  <a:pt x="3217225" y="1794450"/>
                  <a:pt x="3289594" y="1722086"/>
                </a:cubicBezTo>
                <a:cubicBezTo>
                  <a:pt x="3462565" y="1549125"/>
                  <a:pt x="3493101" y="1332661"/>
                  <a:pt x="3543925" y="1095493"/>
                </a:cubicBezTo>
                <a:cubicBezTo>
                  <a:pt x="3595168" y="858533"/>
                  <a:pt x="3666699" y="600869"/>
                  <a:pt x="3921866" y="345714"/>
                </a:cubicBezTo>
                <a:cubicBezTo>
                  <a:pt x="4028953" y="238633"/>
                  <a:pt x="4155701" y="152256"/>
                  <a:pt x="4300646" y="92441"/>
                </a:cubicBezTo>
                <a:cubicBezTo>
                  <a:pt x="4445590" y="32836"/>
                  <a:pt x="4608522" y="0"/>
                  <a:pt x="4787977" y="0"/>
                </a:cubicBezTo>
                <a:cubicBezTo>
                  <a:pt x="4922882" y="0"/>
                  <a:pt x="5050676" y="18823"/>
                  <a:pt x="5168221" y="54796"/>
                </a:cubicBezTo>
                <a:cubicBezTo>
                  <a:pt x="5285976" y="90559"/>
                  <a:pt x="5393900" y="143054"/>
                  <a:pt x="5489275" y="210607"/>
                </a:cubicBezTo>
                <a:cubicBezTo>
                  <a:pt x="5489275" y="210607"/>
                  <a:pt x="5489275" y="210607"/>
                  <a:pt x="5364200" y="409921"/>
                </a:cubicBezTo>
                <a:cubicBezTo>
                  <a:pt x="5364200" y="409921"/>
                  <a:pt x="5364200" y="409921"/>
                  <a:pt x="5239125" y="609025"/>
                </a:cubicBezTo>
                <a:cubicBezTo>
                  <a:pt x="5176588" y="563014"/>
                  <a:pt x="5107357" y="525996"/>
                  <a:pt x="5031643" y="500480"/>
                </a:cubicBezTo>
                <a:cubicBezTo>
                  <a:pt x="4955929" y="474965"/>
                  <a:pt x="4873522" y="460952"/>
                  <a:pt x="4784631" y="460952"/>
                </a:cubicBezTo>
                <a:cubicBezTo>
                  <a:pt x="4580495" y="460952"/>
                  <a:pt x="4396857" y="544818"/>
                  <a:pt x="4264462" y="679089"/>
                </a:cubicBezTo>
                <a:cubicBezTo>
                  <a:pt x="4131857" y="813149"/>
                  <a:pt x="4050287" y="997614"/>
                  <a:pt x="4050287" y="1198391"/>
                </a:cubicBezTo>
                <a:cubicBezTo>
                  <a:pt x="4050287" y="1402724"/>
                  <a:pt x="4131021" y="1589489"/>
                  <a:pt x="4262370" y="1725223"/>
                </a:cubicBezTo>
                <a:cubicBezTo>
                  <a:pt x="4393720" y="1861167"/>
                  <a:pt x="4575477" y="1945870"/>
                  <a:pt x="4778147" y="1945870"/>
                </a:cubicBezTo>
                <a:cubicBezTo>
                  <a:pt x="4939406" y="1945870"/>
                  <a:pt x="5080167" y="1893165"/>
                  <a:pt x="5191438" y="1804280"/>
                </a:cubicBezTo>
                <a:cubicBezTo>
                  <a:pt x="5302499" y="1715394"/>
                  <a:pt x="5384070" y="1590326"/>
                  <a:pt x="5426737" y="1445390"/>
                </a:cubicBezTo>
                <a:cubicBezTo>
                  <a:pt x="5426737" y="1445390"/>
                  <a:pt x="5426737" y="1445390"/>
                  <a:pt x="4708917" y="1445390"/>
                </a:cubicBezTo>
                <a:cubicBezTo>
                  <a:pt x="4708917" y="1445390"/>
                  <a:pt x="4708917" y="1445390"/>
                  <a:pt x="4850515" y="1223279"/>
                </a:cubicBezTo>
                <a:cubicBezTo>
                  <a:pt x="4850515" y="1223279"/>
                  <a:pt x="4850515" y="1223279"/>
                  <a:pt x="4992113" y="1000960"/>
                </a:cubicBezTo>
                <a:cubicBezTo>
                  <a:pt x="4992113" y="1000960"/>
                  <a:pt x="4992113" y="1000960"/>
                  <a:pt x="5457901" y="1000960"/>
                </a:cubicBezTo>
                <a:cubicBezTo>
                  <a:pt x="5457901" y="1000960"/>
                  <a:pt x="5457901" y="1000960"/>
                  <a:pt x="5924108" y="1000960"/>
                </a:cubicBezTo>
                <a:cubicBezTo>
                  <a:pt x="5928919" y="1033796"/>
                  <a:pt x="5933102" y="1066840"/>
                  <a:pt x="5936030" y="1100094"/>
                </a:cubicBezTo>
                <a:cubicBezTo>
                  <a:pt x="5938749" y="1133557"/>
                  <a:pt x="5940422" y="1167229"/>
                  <a:pt x="5940422" y="1201738"/>
                </a:cubicBezTo>
                <a:cubicBezTo>
                  <a:pt x="5940422" y="1532602"/>
                  <a:pt x="5812001" y="1833141"/>
                  <a:pt x="5600963" y="2050860"/>
                </a:cubicBezTo>
                <a:cubicBezTo>
                  <a:pt x="5389717" y="2268578"/>
                  <a:pt x="5095854" y="2403475"/>
                  <a:pt x="4764970" y="2403475"/>
                </a:cubicBezTo>
                <a:cubicBezTo>
                  <a:pt x="4549331" y="2403475"/>
                  <a:pt x="4350006" y="2352653"/>
                  <a:pt x="4178290" y="2262513"/>
                </a:cubicBezTo>
                <a:cubicBezTo>
                  <a:pt x="4006784" y="2172372"/>
                  <a:pt x="3862676" y="2043121"/>
                  <a:pt x="3757265" y="1886682"/>
                </a:cubicBezTo>
                <a:cubicBezTo>
                  <a:pt x="3647040" y="2044794"/>
                  <a:pt x="3502931" y="2173836"/>
                  <a:pt x="3332469" y="2263558"/>
                </a:cubicBezTo>
                <a:cubicBezTo>
                  <a:pt x="3162009" y="2353490"/>
                  <a:pt x="2965403" y="2403475"/>
                  <a:pt x="2749555" y="2403475"/>
                </a:cubicBezTo>
                <a:cubicBezTo>
                  <a:pt x="2566961" y="2403475"/>
                  <a:pt x="2395664" y="2364993"/>
                  <a:pt x="2242563" y="2295766"/>
                </a:cubicBezTo>
                <a:cubicBezTo>
                  <a:pt x="2089461" y="2226540"/>
                  <a:pt x="1954347" y="2126988"/>
                  <a:pt x="1844121" y="2005266"/>
                </a:cubicBezTo>
                <a:cubicBezTo>
                  <a:pt x="1783258" y="2108792"/>
                  <a:pt x="1694366" y="2196214"/>
                  <a:pt x="1583096" y="2257493"/>
                </a:cubicBezTo>
                <a:cubicBezTo>
                  <a:pt x="1472034" y="2318772"/>
                  <a:pt x="1338593" y="2354117"/>
                  <a:pt x="1188838" y="2354117"/>
                </a:cubicBezTo>
                <a:cubicBezTo>
                  <a:pt x="1188838" y="2354117"/>
                  <a:pt x="1188838" y="2354117"/>
                  <a:pt x="0" y="2354117"/>
                </a:cubicBezTo>
                <a:cubicBezTo>
                  <a:pt x="0" y="2354117"/>
                  <a:pt x="0" y="2354117"/>
                  <a:pt x="0" y="1201738"/>
                </a:cubicBezTo>
                <a:cubicBezTo>
                  <a:pt x="0" y="1201738"/>
                  <a:pt x="0" y="1201738"/>
                  <a:pt x="0" y="49358"/>
                </a:cubicBezTo>
                <a:cubicBezTo>
                  <a:pt x="0" y="49358"/>
                  <a:pt x="0" y="49358"/>
                  <a:pt x="538575" y="49358"/>
                </a:cubicBezTo>
                <a:cubicBezTo>
                  <a:pt x="538575" y="49358"/>
                  <a:pt x="538575" y="49358"/>
                  <a:pt x="1076940" y="49358"/>
                </a:cubicBezTo>
                <a:cubicBezTo>
                  <a:pt x="1249702" y="49358"/>
                  <a:pt x="1402804" y="96206"/>
                  <a:pt x="1523487" y="176099"/>
                </a:cubicBezTo>
                <a:cubicBezTo>
                  <a:pt x="1643960" y="255992"/>
                  <a:pt x="1732223" y="368720"/>
                  <a:pt x="1774892" y="500480"/>
                </a:cubicBezTo>
                <a:cubicBezTo>
                  <a:pt x="1883653" y="350524"/>
                  <a:pt x="2027552" y="225457"/>
                  <a:pt x="2196549" y="137826"/>
                </a:cubicBezTo>
                <a:cubicBezTo>
                  <a:pt x="2365129" y="50195"/>
                  <a:pt x="2558596" y="0"/>
                  <a:pt x="276607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p>
        </p:txBody>
      </p:sp>
    </p:spTree>
    <p:extLst>
      <p:ext uri="{BB962C8B-B14F-4D97-AF65-F5344CB8AC3E}">
        <p14:creationId xmlns:p14="http://schemas.microsoft.com/office/powerpoint/2010/main" val="151518358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chemeClr val="bg2"/>
        </a:solidFill>
        <a:effectLst/>
      </p:bgPr>
    </p:bg>
    <p:spTree>
      <p:nvGrpSpPr>
        <p:cNvPr id="1" name=""/>
        <p:cNvGrpSpPr/>
        <p:nvPr/>
      </p:nvGrpSpPr>
      <p:grpSpPr>
        <a:xfrm>
          <a:off x="0" y="0"/>
          <a:ext cx="0" cy="0"/>
          <a:chOff x="0" y="0"/>
          <a:chExt cx="0" cy="0"/>
        </a:xfrm>
      </p:grpSpPr>
      <p:sp>
        <p:nvSpPr>
          <p:cNvPr id="3" name="Date Placeholder 2"/>
          <p:cNvSpPr>
            <a:spLocks noGrp="1"/>
          </p:cNvSpPr>
          <p:nvPr>
            <p:ph type="dt" sz="half" idx="10"/>
          </p:nvPr>
        </p:nvSpPr>
        <p:spPr>
          <a:xfrm>
            <a:off x="9677400" y="6405036"/>
            <a:ext cx="1482051" cy="153888"/>
          </a:xfrm>
          <a:prstGeom prst="rect">
            <a:avLst/>
          </a:prstGeom>
        </p:spPr>
        <p:txBody>
          <a:bodyPr/>
          <a:lstStyle>
            <a:lvl1pPr>
              <a:defRPr>
                <a:latin typeface="+mn-lt"/>
                <a:sym typeface="Trebuchet MS" panose="020B0603020202020204" pitchFamily="34" charset="0"/>
              </a:defRPr>
            </a:lvl1pPr>
          </a:lstStyle>
          <a:p>
            <a:endParaRPr lang="en-US"/>
          </a:p>
        </p:txBody>
      </p:sp>
      <p:sp>
        <p:nvSpPr>
          <p:cNvPr id="7"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2024 by Boston Consulting Group. All rights reserved.</a:t>
            </a:r>
          </a:p>
        </p:txBody>
      </p:sp>
      <p:sp>
        <p:nvSpPr>
          <p:cNvPr id="5" name="Title 4"/>
          <p:cNvSpPr>
            <a:spLocks noGrp="1"/>
          </p:cNvSpPr>
          <p:nvPr>
            <p:ph type="title" hasCustomPrompt="1"/>
          </p:nvPr>
        </p:nvSpPr>
        <p:spPr>
          <a:xfrm>
            <a:off x="630000" y="622800"/>
            <a:ext cx="10933200" cy="470898"/>
          </a:xfrm>
          <a:prstGeom prst="rect">
            <a:avLst/>
          </a:prstGeom>
        </p:spPr>
        <p:txBody>
          <a:bodyPr vert="horz" wrap="square" lIns="0" tIns="0" rIns="0" bIns="0" anchor="t" anchorCtr="0">
            <a:spAutoFit/>
          </a:bodyPr>
          <a:lstStyle>
            <a:lvl1pPr marL="0" indent="0" algn="l">
              <a:lnSpc>
                <a:spcPct val="90000"/>
              </a:lnSpc>
              <a:spcBef>
                <a:spcPct val="0"/>
              </a:spcBef>
              <a:spcAft>
                <a:spcPts val="0"/>
              </a:spcAft>
              <a:defRPr sz="3400" b="0" i="0" u="none" kern="1200" spc="0">
                <a:solidFill>
                  <a:schemeClr val="tx2">
                    <a:lumMod val="100000"/>
                  </a:schemeClr>
                </a:solidFill>
                <a:latin typeface="+mj-lt"/>
                <a:sym typeface="Trebuchet MS" panose="020B0603020202020204" pitchFamily="34" charset="0"/>
              </a:defRPr>
            </a:lvl1pPr>
          </a:lstStyle>
          <a:p>
            <a:pPr lvl="0"/>
            <a:r>
              <a:rPr lang="en-US"/>
              <a:t>Click to add title</a:t>
            </a:r>
          </a:p>
        </p:txBody>
      </p:sp>
    </p:spTree>
    <p:extLst>
      <p:ext uri="{BB962C8B-B14F-4D97-AF65-F5344CB8AC3E}">
        <p14:creationId xmlns:p14="http://schemas.microsoft.com/office/powerpoint/2010/main" val="165731206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itle and Text">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FCE4FFF-81B3-4CDA-B0A1-3363FFB22A6A}"/>
              </a:ext>
            </a:extLst>
          </p:cNvPr>
          <p:cNvSpPr>
            <a:spLocks noGrp="1"/>
          </p:cNvSpPr>
          <p:nvPr>
            <p:ph type="title" hasCustomPrompt="1"/>
          </p:nvPr>
        </p:nvSpPr>
        <p:spPr>
          <a:xfrm>
            <a:off x="630000" y="622800"/>
            <a:ext cx="10933350" cy="470898"/>
          </a:xfrm>
        </p:spPr>
        <p:txBody>
          <a:bodyPr/>
          <a:lstStyle>
            <a:lvl1pPr>
              <a:defRPr sz="3400"/>
            </a:lvl1pPr>
          </a:lstStyle>
          <a:p>
            <a:r>
              <a:rPr lang="en-US"/>
              <a:t>Click to add title</a:t>
            </a:r>
          </a:p>
        </p:txBody>
      </p:sp>
      <p:sp>
        <p:nvSpPr>
          <p:cNvPr id="8" name="Text Placeholder 7">
            <a:extLst>
              <a:ext uri="{FF2B5EF4-FFF2-40B4-BE49-F238E27FC236}">
                <a16:creationId xmlns:a16="http://schemas.microsoft.com/office/drawing/2014/main" id="{1F54B2F8-C51F-4566-BAC0-8A0C8E575488}"/>
              </a:ext>
            </a:extLst>
          </p:cNvPr>
          <p:cNvSpPr>
            <a:spLocks noGrp="1"/>
          </p:cNvSpPr>
          <p:nvPr>
            <p:ph type="body" sz="quarter" idx="10"/>
          </p:nvPr>
        </p:nvSpPr>
        <p:spPr>
          <a:xfrm>
            <a:off x="629399" y="2085628"/>
            <a:ext cx="10933801" cy="4089131"/>
          </a:xfrm>
        </p:spPr>
        <p:txBody>
          <a:bodyPr/>
          <a:lstStyle>
            <a:lvl1pPr>
              <a:lnSpc>
                <a:spcPct val="100000"/>
              </a:lnSpc>
              <a:spcBef>
                <a:spcPts val="0"/>
              </a:spcBef>
              <a:spcAft>
                <a:spcPts val="0"/>
              </a:spcAft>
              <a:defRPr sz="2000"/>
            </a:lvl1pPr>
            <a:lvl2pPr>
              <a:lnSpc>
                <a:spcPct val="100000"/>
              </a:lnSpc>
              <a:spcBef>
                <a:spcPts val="0"/>
              </a:spcBef>
              <a:spcAft>
                <a:spcPts val="0"/>
              </a:spcAft>
              <a:defRPr sz="2000"/>
            </a:lvl2pPr>
            <a:lvl3pPr>
              <a:lnSpc>
                <a:spcPct val="100000"/>
              </a:lnSpc>
              <a:spcBef>
                <a:spcPts val="0"/>
              </a:spcBef>
              <a:spcAft>
                <a:spcPts val="0"/>
              </a:spcAft>
              <a:defRPr sz="2000"/>
            </a:lvl3pPr>
            <a:lvl4pPr>
              <a:lnSpc>
                <a:spcPct val="100000"/>
              </a:lnSpc>
              <a:spcBef>
                <a:spcPts val="0"/>
              </a:spcBef>
              <a:spcAft>
                <a:spcPts val="0"/>
              </a:spcAft>
              <a:defRPr sz="2800"/>
            </a:lvl4pPr>
            <a:lvl5pPr>
              <a:lnSpc>
                <a:spcPct val="100000"/>
              </a:lnSpc>
              <a:spcBef>
                <a:spcPts val="0"/>
              </a:spcBef>
              <a:spcAft>
                <a:spcPts val="0"/>
              </a:spcAft>
              <a:defRPr sz="28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2024 by Boston Consulting Group. All rights reserved.</a:t>
            </a:r>
          </a:p>
        </p:txBody>
      </p:sp>
    </p:spTree>
    <p:extLst>
      <p:ext uri="{BB962C8B-B14F-4D97-AF65-F5344CB8AC3E}">
        <p14:creationId xmlns:p14="http://schemas.microsoft.com/office/powerpoint/2010/main" val="273000349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Gray slice heading">
    <p:bg>
      <p:bgPr>
        <a:solidFill>
          <a:schemeClr val="bg1"/>
        </a:solidFill>
        <a:effectLst/>
      </p:bgPr>
    </p:bg>
    <p:spTree>
      <p:nvGrpSpPr>
        <p:cNvPr id="1" name=""/>
        <p:cNvGrpSpPr/>
        <p:nvPr/>
      </p:nvGrpSpPr>
      <p:grpSpPr>
        <a:xfrm>
          <a:off x="0" y="0"/>
          <a:ext cx="0" cy="0"/>
          <a:chOff x="0" y="0"/>
          <a:chExt cx="0" cy="0"/>
        </a:xfrm>
      </p:grpSpPr>
      <p:sp>
        <p:nvSpPr>
          <p:cNvPr id="8" name="Rectangle 7"/>
          <p:cNvSpPr/>
          <p:nvPr userDrawn="1"/>
        </p:nvSpPr>
        <p:spPr bwMode="ltGray">
          <a:xfrm>
            <a:off x="1" y="-1309"/>
            <a:ext cx="4694400" cy="6859309"/>
          </a:xfrm>
          <a:prstGeom prst="rect">
            <a:avLst/>
          </a:prstGeom>
          <a:solidFill>
            <a:srgbClr val="F2F2F2"/>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lnSpc>
                <a:spcPct val="90000"/>
              </a:lnSpc>
              <a:spcAft>
                <a:spcPts val="1000"/>
              </a:spcAft>
            </a:pPr>
            <a:endParaRPr lang="en-US" sz="1200">
              <a:solidFill>
                <a:schemeClr val="bg1"/>
              </a:solidFill>
              <a:latin typeface="+mn-lt"/>
            </a:endParaRPr>
          </a:p>
        </p:txBody>
      </p:sp>
      <p:sp>
        <p:nvSpPr>
          <p:cNvPr id="3" name="Date Placeholder 2"/>
          <p:cNvSpPr>
            <a:spLocks noGrp="1"/>
          </p:cNvSpPr>
          <p:nvPr>
            <p:ph type="dt" sz="half" idx="10"/>
          </p:nvPr>
        </p:nvSpPr>
        <p:spPr>
          <a:xfrm>
            <a:off x="9677400" y="6405036"/>
            <a:ext cx="1482051" cy="153888"/>
          </a:xfrm>
          <a:prstGeom prst="rect">
            <a:avLst/>
          </a:prstGeom>
        </p:spPr>
        <p:txBody>
          <a:bodyPr/>
          <a:lstStyle>
            <a:lvl1pPr>
              <a:defRPr>
                <a:latin typeface="+mn-lt"/>
                <a:sym typeface="Trebuchet MS" panose="020B0603020202020204" pitchFamily="34" charset="0"/>
              </a:defRPr>
            </a:lvl1pPr>
          </a:lstStyle>
          <a:p>
            <a:endParaRPr lang="en-US"/>
          </a:p>
        </p:txBody>
      </p:sp>
      <p:sp>
        <p:nvSpPr>
          <p:cNvPr id="9" name="Title 1"/>
          <p:cNvSpPr>
            <a:spLocks noGrp="1"/>
          </p:cNvSpPr>
          <p:nvPr>
            <p:ph type="title" hasCustomPrompt="1"/>
          </p:nvPr>
        </p:nvSpPr>
        <p:spPr bwMode="ltGray">
          <a:xfrm>
            <a:off x="630000" y="1544274"/>
            <a:ext cx="3452400" cy="1495794"/>
          </a:xfrm>
          <a:noFill/>
        </p:spPr>
        <p:txBody>
          <a:bodyPr wrap="square" lIns="0" tIns="0" rIns="320040" bIns="0" anchor="b">
            <a:noAutofit/>
          </a:bodyPr>
          <a:lstStyle>
            <a:lvl1pPr>
              <a:defRPr sz="3200">
                <a:solidFill>
                  <a:schemeClr val="tx2"/>
                </a:solidFill>
                <a:latin typeface="+mj-lt"/>
              </a:defRPr>
            </a:lvl1pPr>
          </a:lstStyle>
          <a:p>
            <a:r>
              <a:rPr lang="en-US"/>
              <a:t>Click to add title</a:t>
            </a:r>
          </a:p>
        </p:txBody>
      </p:sp>
      <p:sp>
        <p:nvSpPr>
          <p:cNvPr id="11"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2024 by Boston Consulting Group. All rights reserved.</a:t>
            </a:r>
          </a:p>
        </p:txBody>
      </p:sp>
    </p:spTree>
    <p:extLst>
      <p:ext uri="{BB962C8B-B14F-4D97-AF65-F5344CB8AC3E}">
        <p14:creationId xmlns:p14="http://schemas.microsoft.com/office/powerpoint/2010/main" val="205271040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preserve="1">
  <p:cSld name="Section header box">
    <p:bg bwMode="grayWhite">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bwMode="blackWhite">
          <a:xfrm>
            <a:off x="1284742" y="2668041"/>
            <a:ext cx="9620491" cy="3201026"/>
          </a:xfrm>
          <a:prstGeom prst="rect">
            <a:avLst/>
          </a:prstGeom>
          <a:ln w="9525">
            <a:solidFill>
              <a:schemeClr val="bg1"/>
            </a:solidFill>
          </a:ln>
        </p:spPr>
        <p:txBody>
          <a:bodyPr lIns="274320" tIns="274320" rIns="274320" bIns="137160" anchor="b">
            <a:noAutofit/>
          </a:bodyPr>
          <a:lstStyle>
            <a:lvl1pPr marL="0" algn="l" defTabSz="914400" rtl="0" eaLnBrk="1" fontAlgn="auto" latinLnBrk="0" hangingPunct="1">
              <a:lnSpc>
                <a:spcPts val="6000"/>
              </a:lnSpc>
              <a:spcBef>
                <a:spcPts val="0"/>
              </a:spcBef>
              <a:spcAft>
                <a:spcPts val="0"/>
              </a:spcAft>
              <a:defRPr lang="en-US" sz="5400" kern="1200" baseline="0" dirty="0">
                <a:solidFill>
                  <a:schemeClr val="bg1"/>
                </a:solidFill>
                <a:latin typeface="+mj-lt"/>
                <a:ea typeface="+mn-ea"/>
                <a:cs typeface="Arial" panose="020B0604020202020204" pitchFamily="34" charset="0"/>
                <a:sym typeface="Trebuchet MS" panose="020B0603020202020204" pitchFamily="34" charset="0"/>
              </a:defRPr>
            </a:lvl1pPr>
          </a:lstStyle>
          <a:p>
            <a:r>
              <a:rPr lang="en-US"/>
              <a:t>Click to add big statement text</a:t>
            </a:r>
          </a:p>
        </p:txBody>
      </p:sp>
      <p:sp>
        <p:nvSpPr>
          <p:cNvPr id="4" name="TextBox 3"/>
          <p:cNvSpPr txBox="1"/>
          <p:nvPr/>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
        <p:nvSpPr>
          <p:cNvPr id="3" name="Date Placeholder 2"/>
          <p:cNvSpPr>
            <a:spLocks noGrp="1"/>
          </p:cNvSpPr>
          <p:nvPr>
            <p:ph type="dt" sz="half" idx="10"/>
          </p:nvPr>
        </p:nvSpPr>
        <p:spPr>
          <a:xfrm>
            <a:off x="9677400" y="6405036"/>
            <a:ext cx="1482051" cy="153888"/>
          </a:xfrm>
          <a:prstGeom prst="rect">
            <a:avLst/>
          </a:prstGeom>
        </p:spPr>
        <p:txBody>
          <a:bodyPr/>
          <a:lstStyle>
            <a:lvl1pPr>
              <a:defRPr>
                <a:solidFill>
                  <a:schemeClr val="bg1"/>
                </a:solidFill>
                <a:latin typeface="+mn-lt"/>
                <a:sym typeface="Trebuchet MS" panose="020B0603020202020204" pitchFamily="34" charset="0"/>
              </a:defRPr>
            </a:lvl1pPr>
          </a:lstStyle>
          <a:p>
            <a:endParaRPr lang="en-US"/>
          </a:p>
        </p:txBody>
      </p:sp>
      <p:sp>
        <p:nvSpPr>
          <p:cNvPr id="12"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2024 by Boston Consulting Group. All rights reserved.</a:t>
            </a:r>
          </a:p>
        </p:txBody>
      </p:sp>
      <p:sp>
        <p:nvSpPr>
          <p:cNvPr id="59" name="Rectangle 58"/>
          <p:cNvSpPr/>
          <p:nvPr userDrawn="1"/>
        </p:nvSpPr>
        <p:spPr bwMode="white">
          <a:xfrm>
            <a:off x="1284743" y="1428131"/>
            <a:ext cx="947672" cy="947672"/>
          </a:xfrm>
          <a:prstGeom prst="rect">
            <a:avLst/>
          </a:prstGeom>
          <a:noFill/>
          <a:ln>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l"/>
            <a:endParaRPr lang="en-US" sz="1200">
              <a:solidFill>
                <a:schemeClr val="bg1"/>
              </a:solidFill>
              <a:latin typeface="+mn-lt"/>
              <a:sym typeface="Trebuchet MS" panose="020B0603020202020204" pitchFamily="34" charset="0"/>
            </a:endParaRPr>
          </a:p>
        </p:txBody>
      </p:sp>
    </p:spTree>
    <p:extLst>
      <p:ext uri="{BB962C8B-B14F-4D97-AF65-F5344CB8AC3E}">
        <p14:creationId xmlns:p14="http://schemas.microsoft.com/office/powerpoint/2010/main" val="71232340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preserve="1" userDrawn="1">
  <p:cSld name="Section header line">
    <p:bg bwMode="blackWhite">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sp>
        <p:nvSpPr>
          <p:cNvPr id="5" name="TextBox 4"/>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
        <p:nvSpPr>
          <p:cNvPr id="4" name="Date Placeholder 3"/>
          <p:cNvSpPr>
            <a:spLocks noGrp="1"/>
          </p:cNvSpPr>
          <p:nvPr>
            <p:ph type="dt" sz="half" idx="10"/>
          </p:nvPr>
        </p:nvSpPr>
        <p:spPr>
          <a:xfrm>
            <a:off x="9677400" y="6405036"/>
            <a:ext cx="1482051" cy="153888"/>
          </a:xfrm>
          <a:prstGeom prst="rect">
            <a:avLst/>
          </a:prstGeom>
        </p:spPr>
        <p:txBody>
          <a:bodyPr/>
          <a:lstStyle>
            <a:lvl1pPr>
              <a:defRPr>
                <a:solidFill>
                  <a:schemeClr val="bg1"/>
                </a:solidFill>
                <a:latin typeface="+mn-lt"/>
                <a:sym typeface="Trebuchet MS" panose="020B0603020202020204" pitchFamily="34" charset="0"/>
              </a:defRPr>
            </a:lvl1pPr>
          </a:lstStyle>
          <a:p>
            <a:endParaRPr lang="en-US"/>
          </a:p>
        </p:txBody>
      </p:sp>
      <p:sp>
        <p:nvSpPr>
          <p:cNvPr id="147" name="Title 1"/>
          <p:cNvSpPr>
            <a:spLocks noGrp="1"/>
          </p:cNvSpPr>
          <p:nvPr>
            <p:ph type="title" hasCustomPrompt="1"/>
          </p:nvPr>
        </p:nvSpPr>
        <p:spPr bwMode="blackWhite">
          <a:xfrm>
            <a:off x="630000" y="3826800"/>
            <a:ext cx="10936800" cy="2041200"/>
          </a:xfrm>
        </p:spPr>
        <p:txBody>
          <a:bodyPr anchor="t">
            <a:noAutofit/>
          </a:bodyPr>
          <a:lstStyle>
            <a:lvl1pPr>
              <a:defRPr sz="5400">
                <a:solidFill>
                  <a:schemeClr val="bg1"/>
                </a:solidFill>
                <a:latin typeface="+mj-lt"/>
                <a:sym typeface="Trebuchet MS" panose="020B0603020202020204" pitchFamily="34" charset="0"/>
              </a:defRPr>
            </a:lvl1pPr>
          </a:lstStyle>
          <a:p>
            <a:r>
              <a:rPr lang="en-US"/>
              <a:t>Click to add big statement text</a:t>
            </a:r>
          </a:p>
        </p:txBody>
      </p:sp>
      <p:cxnSp>
        <p:nvCxnSpPr>
          <p:cNvPr id="148" name="Straight Connector 147"/>
          <p:cNvCxnSpPr/>
          <p:nvPr userDrawn="1"/>
        </p:nvCxnSpPr>
        <p:spPr bwMode="white">
          <a:xfrm>
            <a:off x="618898" y="3680016"/>
            <a:ext cx="11576304" cy="0"/>
          </a:xfrm>
          <a:prstGeom prst="line">
            <a:avLst/>
          </a:prstGeom>
          <a:ln w="19050" cmpd="sng">
            <a:solidFill>
              <a:schemeClr val="bg1"/>
            </a:solidFill>
            <a:miter lim="800000"/>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0505854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preserve="1" userDrawn="1">
  <p:cSld name="White one third">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pic>
        <p:nvPicPr>
          <p:cNvPr id="16" name="Picture 15"/>
          <p:cNvPicPr>
            <a:picLocks noChangeAspect="1"/>
          </p:cNvPicPr>
          <p:nvPr userDrawn="1"/>
        </p:nvPicPr>
        <p:blipFill rotWithShape="1">
          <a:blip r:embed="rId2">
            <a:extLst>
              <a:ext uri="{28A0092B-C50C-407E-A947-70E740481C1C}">
                <a14:useLocalDpi xmlns:a14="http://schemas.microsoft.com/office/drawing/2010/main" val="0"/>
              </a:ext>
            </a:extLst>
          </a:blip>
          <a:srcRect l="29398" t="8741" r="101" b="27"/>
          <a:stretch/>
        </p:blipFill>
        <p:spPr bwMode="ltGray">
          <a:xfrm flipV="1">
            <a:off x="4064994" y="0"/>
            <a:ext cx="416951" cy="6858000"/>
          </a:xfrm>
          <a:prstGeom prst="rect">
            <a:avLst/>
          </a:prstGeom>
        </p:spPr>
      </p:pic>
      <p:sp>
        <p:nvSpPr>
          <p:cNvPr id="17" name="Date Placeholder 1"/>
          <p:cNvSpPr>
            <a:spLocks noGrp="1"/>
          </p:cNvSpPr>
          <p:nvPr>
            <p:ph type="dt" sz="half" idx="31"/>
          </p:nvPr>
        </p:nvSpPr>
        <p:spPr>
          <a:xfrm>
            <a:off x="9677400" y="6405036"/>
            <a:ext cx="1482051" cy="153888"/>
          </a:xfrm>
          <a:prstGeom prst="rect">
            <a:avLst/>
          </a:prstGeom>
        </p:spPr>
        <p:txBody>
          <a:bodyPr/>
          <a:lstStyle>
            <a:lvl1pPr>
              <a:defRPr>
                <a:solidFill>
                  <a:schemeClr val="bg1"/>
                </a:solidFill>
                <a:latin typeface="+mn-lt"/>
                <a:sym typeface="Trebuchet MS" panose="020B0603020202020204" pitchFamily="34" charset="0"/>
              </a:defRPr>
            </a:lvl1pPr>
          </a:lstStyle>
          <a:p>
            <a:endParaRPr lang="en-US"/>
          </a:p>
        </p:txBody>
      </p:sp>
      <p:sp>
        <p:nvSpPr>
          <p:cNvPr id="25"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2024 by Boston Consulting Group. All rights reserved.</a:t>
            </a:r>
          </a:p>
        </p:txBody>
      </p:sp>
      <p:sp>
        <p:nvSpPr>
          <p:cNvPr id="20" name="TextBox 19"/>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
        <p:nvSpPr>
          <p:cNvPr id="26" name="Rectangle 25"/>
          <p:cNvSpPr/>
          <p:nvPr userDrawn="1"/>
        </p:nvSpPr>
        <p:spPr bwMode="white">
          <a:xfrm>
            <a:off x="0" y="0"/>
            <a:ext cx="4079508"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endParaRPr lang="en-US" sz="1200">
              <a:solidFill>
                <a:schemeClr val="bg1"/>
              </a:solidFill>
              <a:latin typeface="+mn-lt"/>
              <a:sym typeface="Trebuchet MS" panose="020B0603020202020204" pitchFamily="34" charset="0"/>
            </a:endParaRPr>
          </a:p>
        </p:txBody>
      </p:sp>
      <p:sp>
        <p:nvSpPr>
          <p:cNvPr id="27" name="Title 4"/>
          <p:cNvSpPr>
            <a:spLocks noGrp="1"/>
          </p:cNvSpPr>
          <p:nvPr>
            <p:ph type="title" hasCustomPrompt="1"/>
          </p:nvPr>
        </p:nvSpPr>
        <p:spPr>
          <a:xfrm>
            <a:off x="630000" y="2681103"/>
            <a:ext cx="3127881" cy="1495794"/>
          </a:xfrm>
          <a:prstGeom prst="rect">
            <a:avLst/>
          </a:prstGeom>
        </p:spPr>
        <p:txBody>
          <a:bodyPr anchor="ctr">
            <a:noAutofit/>
          </a:bodyPr>
          <a:lstStyle>
            <a:lvl1pPr>
              <a:defRPr sz="3200">
                <a:solidFill>
                  <a:schemeClr val="tx2"/>
                </a:solidFill>
                <a:latin typeface="+mj-lt"/>
                <a:sym typeface="Trebuchet MS" panose="020B0603020202020204" pitchFamily="34" charset="0"/>
              </a:defRPr>
            </a:lvl1pPr>
          </a:lstStyle>
          <a:p>
            <a:r>
              <a:rPr lang="en-US"/>
              <a:t>Click to add title</a:t>
            </a:r>
          </a:p>
        </p:txBody>
      </p:sp>
    </p:spTree>
    <p:extLst>
      <p:ext uri="{BB962C8B-B14F-4D97-AF65-F5344CB8AC3E}">
        <p14:creationId xmlns:p14="http://schemas.microsoft.com/office/powerpoint/2010/main" val="388427764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preserve="1" userDrawn="1">
  <p:cSld name="Green highlight">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pic>
        <p:nvPicPr>
          <p:cNvPr id="10" name="Picture 9"/>
          <p:cNvPicPr>
            <a:picLocks noChangeAspect="1"/>
          </p:cNvPicPr>
          <p:nvPr userDrawn="1"/>
        </p:nvPicPr>
        <p:blipFill rotWithShape="1">
          <a:blip r:embed="rId2">
            <a:extLst>
              <a:ext uri="{28A0092B-C50C-407E-A947-70E740481C1C}">
                <a14:useLocalDpi xmlns:a14="http://schemas.microsoft.com/office/drawing/2010/main" val="0"/>
              </a:ext>
            </a:extLst>
          </a:blip>
          <a:srcRect l="29398" t="8741" r="101" b="27"/>
          <a:stretch/>
        </p:blipFill>
        <p:spPr bwMode="ltGray">
          <a:xfrm flipV="1">
            <a:off x="7165606" y="0"/>
            <a:ext cx="416951" cy="6858000"/>
          </a:xfrm>
          <a:prstGeom prst="rect">
            <a:avLst/>
          </a:prstGeom>
        </p:spPr>
      </p:pic>
      <p:sp>
        <p:nvSpPr>
          <p:cNvPr id="13" name="Rectangle 12"/>
          <p:cNvSpPr/>
          <p:nvPr userDrawn="1"/>
        </p:nvSpPr>
        <p:spPr bwMode="white">
          <a:xfrm>
            <a:off x="0" y="0"/>
            <a:ext cx="7171956"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endParaRPr lang="en-US" sz="1200">
              <a:solidFill>
                <a:schemeClr val="bg1"/>
              </a:solidFill>
              <a:latin typeface="+mn-lt"/>
              <a:sym typeface="Trebuchet MS" panose="020B0603020202020204" pitchFamily="34" charset="0"/>
            </a:endParaRPr>
          </a:p>
        </p:txBody>
      </p:sp>
      <p:sp>
        <p:nvSpPr>
          <p:cNvPr id="16" name="Date Placeholder 2"/>
          <p:cNvSpPr>
            <a:spLocks noGrp="1"/>
          </p:cNvSpPr>
          <p:nvPr>
            <p:ph type="dt" sz="half" idx="10"/>
          </p:nvPr>
        </p:nvSpPr>
        <p:spPr>
          <a:xfrm>
            <a:off x="9677400" y="6405036"/>
            <a:ext cx="1482051" cy="153888"/>
          </a:xfrm>
          <a:prstGeom prst="rect">
            <a:avLst/>
          </a:prstGeom>
        </p:spPr>
        <p:txBody>
          <a:bodyPr/>
          <a:lstStyle>
            <a:lvl1pPr>
              <a:defRPr>
                <a:solidFill>
                  <a:schemeClr val="bg1"/>
                </a:solidFill>
                <a:latin typeface="+mn-lt"/>
                <a:sym typeface="Trebuchet MS" panose="020B0603020202020204" pitchFamily="34" charset="0"/>
              </a:defRPr>
            </a:lvl1pPr>
          </a:lstStyle>
          <a:p>
            <a:endParaRPr lang="en-US"/>
          </a:p>
        </p:txBody>
      </p:sp>
      <p:sp>
        <p:nvSpPr>
          <p:cNvPr id="20"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2024 by Boston Consulting Group. All rights reserved.</a:t>
            </a:r>
          </a:p>
        </p:txBody>
      </p:sp>
      <p:sp>
        <p:nvSpPr>
          <p:cNvPr id="17" name="TextBox 16"/>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
        <p:nvSpPr>
          <p:cNvPr id="23" name="Title 3"/>
          <p:cNvSpPr>
            <a:spLocks noGrp="1"/>
          </p:cNvSpPr>
          <p:nvPr>
            <p:ph type="title" hasCustomPrompt="1"/>
          </p:nvPr>
        </p:nvSpPr>
        <p:spPr>
          <a:xfrm>
            <a:off x="630000" y="622800"/>
            <a:ext cx="6256800" cy="470898"/>
          </a:xfrm>
          <a:prstGeom prst="rect">
            <a:avLst/>
          </a:prstGeom>
        </p:spPr>
        <p:txBody>
          <a:bodyPr vert="horz" wrap="square" lIns="0" tIns="0" rIns="0" bIns="0" anchor="t" anchorCtr="0">
            <a:spAutoFit/>
          </a:bodyPr>
          <a:lstStyle>
            <a:lvl1pPr marL="0" indent="0" algn="l">
              <a:lnSpc>
                <a:spcPct val="90000"/>
              </a:lnSpc>
              <a:spcBef>
                <a:spcPct val="0"/>
              </a:spcBef>
              <a:spcAft>
                <a:spcPts val="0"/>
              </a:spcAft>
              <a:defRPr sz="3400" b="0" i="0" u="none" kern="1200" spc="0">
                <a:solidFill>
                  <a:schemeClr val="tx2">
                    <a:lumMod val="100000"/>
                  </a:schemeClr>
                </a:solidFill>
                <a:latin typeface="+mj-lt"/>
                <a:sym typeface="Trebuchet MS" panose="020B0603020202020204" pitchFamily="34" charset="0"/>
              </a:defRPr>
            </a:lvl1pPr>
          </a:lstStyle>
          <a:p>
            <a:pPr lvl="0"/>
            <a:r>
              <a:rPr lang="en-US"/>
              <a:t>Click to add title</a:t>
            </a:r>
          </a:p>
        </p:txBody>
      </p:sp>
    </p:spTree>
    <p:extLst>
      <p:ext uri="{BB962C8B-B14F-4D97-AF65-F5344CB8AC3E}">
        <p14:creationId xmlns:p14="http://schemas.microsoft.com/office/powerpoint/2010/main" val="359226384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preserve="1" userDrawn="1">
  <p:cSld name="Green one third">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pic>
        <p:nvPicPr>
          <p:cNvPr id="10" name="Picture 9"/>
          <p:cNvPicPr>
            <a:picLocks noChangeAspect="1"/>
          </p:cNvPicPr>
          <p:nvPr userDrawn="1"/>
        </p:nvPicPr>
        <p:blipFill rotWithShape="1">
          <a:blip r:embed="rId2">
            <a:extLst>
              <a:ext uri="{28A0092B-C50C-407E-A947-70E740481C1C}">
                <a14:useLocalDpi xmlns:a14="http://schemas.microsoft.com/office/drawing/2010/main" val="0"/>
              </a:ext>
            </a:extLst>
          </a:blip>
          <a:srcRect l="29398" t="8741" r="101" b="27"/>
          <a:stretch/>
        </p:blipFill>
        <p:spPr bwMode="ltGray">
          <a:xfrm flipH="1">
            <a:off x="3671068" y="0"/>
            <a:ext cx="416951" cy="6858000"/>
          </a:xfrm>
          <a:prstGeom prst="rect">
            <a:avLst/>
          </a:prstGeom>
        </p:spPr>
      </p:pic>
      <p:sp>
        <p:nvSpPr>
          <p:cNvPr id="11" name="Title 4"/>
          <p:cNvSpPr>
            <a:spLocks noGrp="1"/>
          </p:cNvSpPr>
          <p:nvPr>
            <p:ph type="title" hasCustomPrompt="1"/>
          </p:nvPr>
        </p:nvSpPr>
        <p:spPr>
          <a:xfrm>
            <a:off x="630000" y="2681103"/>
            <a:ext cx="3127881" cy="1495794"/>
          </a:xfrm>
          <a:prstGeom prst="rect">
            <a:avLst/>
          </a:prstGeom>
        </p:spPr>
        <p:txBody>
          <a:bodyPr anchor="ctr">
            <a:noAutofit/>
          </a:bodyPr>
          <a:lstStyle>
            <a:lvl1pPr>
              <a:defRPr sz="3200">
                <a:solidFill>
                  <a:schemeClr val="bg1"/>
                </a:solidFill>
                <a:latin typeface="+mj-lt"/>
                <a:sym typeface="Trebuchet MS" panose="020B0603020202020204" pitchFamily="34" charset="0"/>
              </a:defRPr>
            </a:lvl1pPr>
          </a:lstStyle>
          <a:p>
            <a:r>
              <a:rPr lang="en-US"/>
              <a:t>Click to add title</a:t>
            </a:r>
          </a:p>
        </p:txBody>
      </p:sp>
      <p:sp>
        <p:nvSpPr>
          <p:cNvPr id="13" name="Rectangle 12"/>
          <p:cNvSpPr/>
          <p:nvPr userDrawn="1"/>
        </p:nvSpPr>
        <p:spPr bwMode="white">
          <a:xfrm>
            <a:off x="4080763" y="-1309"/>
            <a:ext cx="8111237" cy="685930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endParaRPr lang="en-US" sz="1200">
              <a:solidFill>
                <a:schemeClr val="bg1"/>
              </a:solidFill>
              <a:latin typeface="+mn-lt"/>
              <a:sym typeface="Trebuchet MS" panose="020B0603020202020204" pitchFamily="34" charset="0"/>
            </a:endParaRPr>
          </a:p>
        </p:txBody>
      </p:sp>
      <p:sp>
        <p:nvSpPr>
          <p:cNvPr id="16"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2024 by Boston Consulting Group. All rights reserved.</a:t>
            </a:r>
          </a:p>
        </p:txBody>
      </p:sp>
      <p:sp>
        <p:nvSpPr>
          <p:cNvPr id="12" name="Date Placeholder 1"/>
          <p:cNvSpPr>
            <a:spLocks noGrp="1"/>
          </p:cNvSpPr>
          <p:nvPr>
            <p:ph type="dt" sz="half" idx="29"/>
          </p:nvPr>
        </p:nvSpPr>
        <p:spPr>
          <a:xfrm>
            <a:off x="9677400" y="6405036"/>
            <a:ext cx="1482051" cy="153888"/>
          </a:xfrm>
          <a:prstGeom prst="rect">
            <a:avLst/>
          </a:prstGeom>
        </p:spPr>
        <p:txBody>
          <a:bodyPr/>
          <a:lstStyle>
            <a:lvl1pPr>
              <a:defRPr>
                <a:solidFill>
                  <a:schemeClr val="bg1">
                    <a:lumMod val="50000"/>
                  </a:schemeClr>
                </a:solidFill>
                <a:latin typeface="+mn-lt"/>
                <a:sym typeface="Trebuchet MS" panose="020B0603020202020204" pitchFamily="34" charset="0"/>
              </a:defRPr>
            </a:lvl1pPr>
          </a:lstStyle>
          <a:p>
            <a:endParaRPr lang="en-US"/>
          </a:p>
        </p:txBody>
      </p:sp>
      <p:sp>
        <p:nvSpPr>
          <p:cNvPr id="15" name="TextBox 14"/>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lumMod val="50000"/>
                  </a:schemeClr>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lumMod val="50000"/>
                </a:schemeClr>
              </a:solidFill>
              <a:latin typeface="+mn-lt"/>
              <a:ea typeface="+mn-ea"/>
              <a:cs typeface="+mn-cs"/>
              <a:sym typeface="Trebuchet MS" panose="020B0603020202020204" pitchFamily="34" charset="0"/>
            </a:endParaRPr>
          </a:p>
        </p:txBody>
      </p:sp>
    </p:spTree>
    <p:extLst>
      <p:ext uri="{BB962C8B-B14F-4D97-AF65-F5344CB8AC3E}">
        <p14:creationId xmlns:p14="http://schemas.microsoft.com/office/powerpoint/2010/main" val="165149677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showMasterSp="0" preserve="1" userDrawn="1">
  <p:cSld name="Green half">
    <p:bg bwMode="grayWhite">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pic>
        <p:nvPicPr>
          <p:cNvPr id="11" name="Picture 10"/>
          <p:cNvPicPr>
            <a:picLocks noChangeAspect="1"/>
          </p:cNvPicPr>
          <p:nvPr userDrawn="1"/>
        </p:nvPicPr>
        <p:blipFill rotWithShape="1">
          <a:blip r:embed="rId2">
            <a:extLst>
              <a:ext uri="{28A0092B-C50C-407E-A947-70E740481C1C}">
                <a14:useLocalDpi xmlns:a14="http://schemas.microsoft.com/office/drawing/2010/main" val="0"/>
              </a:ext>
            </a:extLst>
          </a:blip>
          <a:srcRect l="29398" t="8741" r="101" b="27"/>
          <a:stretch/>
        </p:blipFill>
        <p:spPr bwMode="ltGray">
          <a:xfrm flipH="1">
            <a:off x="5689582" y="0"/>
            <a:ext cx="416951" cy="6858000"/>
          </a:xfrm>
          <a:prstGeom prst="rect">
            <a:avLst/>
          </a:prstGeom>
        </p:spPr>
      </p:pic>
      <p:sp>
        <p:nvSpPr>
          <p:cNvPr id="12" name="Rectangle 11"/>
          <p:cNvSpPr/>
          <p:nvPr userDrawn="1"/>
        </p:nvSpPr>
        <p:spPr>
          <a:xfrm>
            <a:off x="6096000" y="0"/>
            <a:ext cx="6096000" cy="6858000"/>
          </a:xfrm>
          <a:prstGeom prst="rect">
            <a:avLst/>
          </a:prstGeom>
          <a:solidFill>
            <a:schemeClr val="bg2"/>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l">
              <a:lnSpc>
                <a:spcPct val="90000"/>
              </a:lnSpc>
              <a:spcAft>
                <a:spcPts val="1000"/>
              </a:spcAft>
            </a:pPr>
            <a:endParaRPr lang="en-US" sz="1200">
              <a:solidFill>
                <a:schemeClr val="bg1"/>
              </a:solidFill>
              <a:latin typeface="+mn-lt"/>
              <a:sym typeface="Trebuchet MS" panose="020B0603020202020204" pitchFamily="34" charset="0"/>
            </a:endParaRPr>
          </a:p>
        </p:txBody>
      </p:sp>
      <p:sp>
        <p:nvSpPr>
          <p:cNvPr id="13" name="Picture Placeholder 18"/>
          <p:cNvSpPr>
            <a:spLocks noGrp="1"/>
          </p:cNvSpPr>
          <p:nvPr>
            <p:ph type="pic" sz="quarter" idx="14" hasCustomPrompt="1"/>
          </p:nvPr>
        </p:nvSpPr>
        <p:spPr>
          <a:xfrm>
            <a:off x="6092021" y="0"/>
            <a:ext cx="6099977" cy="6858000"/>
          </a:xfrm>
          <a:prstGeom prst="rect">
            <a:avLst/>
          </a:prstGeom>
          <a:noFill/>
        </p:spPr>
        <p:txBody>
          <a:bodyPr lIns="914400" tIns="914400" rIns="914400" bIns="914400"/>
          <a:lstStyle>
            <a:lvl1pPr algn="ctr">
              <a:defRPr sz="1800" baseline="0">
                <a:latin typeface="Trebuchet MS" panose="020B0603020202020204" pitchFamily="34" charset="0"/>
                <a:sym typeface="Trebuchet MS" panose="020B0603020202020204" pitchFamily="34" charset="0"/>
              </a:defRPr>
            </a:lvl1pPr>
          </a:lstStyle>
          <a:p>
            <a:r>
              <a:rPr lang="en-US"/>
              <a:t>Click icon below to insert an image or remove this placeholder to use the whitespace in another way</a:t>
            </a:r>
          </a:p>
        </p:txBody>
      </p:sp>
      <p:sp>
        <p:nvSpPr>
          <p:cNvPr id="14" name="Title 1"/>
          <p:cNvSpPr>
            <a:spLocks noGrp="1"/>
          </p:cNvSpPr>
          <p:nvPr>
            <p:ph type="title" hasCustomPrompt="1"/>
          </p:nvPr>
        </p:nvSpPr>
        <p:spPr bwMode="black">
          <a:xfrm>
            <a:off x="630000" y="1785600"/>
            <a:ext cx="4388400" cy="3286800"/>
          </a:xfrm>
          <a:prstGeom prst="rect">
            <a:avLst/>
          </a:prstGeom>
          <a:noFill/>
        </p:spPr>
        <p:txBody>
          <a:bodyPr wrap="square" lIns="0" tIns="0" rIns="320040" bIns="0" anchor="ctr">
            <a:noAutofit/>
          </a:bodyPr>
          <a:lstStyle>
            <a:lvl1pPr>
              <a:defRPr sz="4400">
                <a:solidFill>
                  <a:schemeClr val="bg1"/>
                </a:solidFill>
                <a:latin typeface="+mj-lt"/>
                <a:sym typeface="Trebuchet MS" panose="020B0603020202020204" pitchFamily="34" charset="0"/>
              </a:defRPr>
            </a:lvl1pPr>
          </a:lstStyle>
          <a:p>
            <a:r>
              <a:rPr lang="en-US"/>
              <a:t>Click to add title</a:t>
            </a:r>
          </a:p>
        </p:txBody>
      </p:sp>
      <p:sp>
        <p:nvSpPr>
          <p:cNvPr id="15" name="TextBox 14"/>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lumMod val="50000"/>
                  </a:schemeClr>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800" kern="1200">
              <a:solidFill>
                <a:schemeClr val="bg1">
                  <a:lumMod val="50000"/>
                </a:schemeClr>
              </a:solidFill>
              <a:latin typeface="+mn-lt"/>
              <a:ea typeface="+mn-ea"/>
              <a:cs typeface="+mn-cs"/>
              <a:sym typeface="Trebuchet MS" panose="020B0603020202020204" pitchFamily="34" charset="0"/>
            </a:endParaRPr>
          </a:p>
        </p:txBody>
      </p:sp>
      <p:sp>
        <p:nvSpPr>
          <p:cNvPr id="16" name="Date Placeholder 2"/>
          <p:cNvSpPr>
            <a:spLocks noGrp="1"/>
          </p:cNvSpPr>
          <p:nvPr>
            <p:ph type="dt" sz="half" idx="15"/>
          </p:nvPr>
        </p:nvSpPr>
        <p:spPr>
          <a:xfrm>
            <a:off x="9677400" y="6405036"/>
            <a:ext cx="1482051" cy="153888"/>
          </a:xfrm>
          <a:prstGeom prst="rect">
            <a:avLst/>
          </a:prstGeom>
        </p:spPr>
        <p:txBody>
          <a:bodyPr/>
          <a:lstStyle>
            <a:lvl1pPr>
              <a:defRPr>
                <a:solidFill>
                  <a:schemeClr val="bg1">
                    <a:lumMod val="50000"/>
                  </a:schemeClr>
                </a:solidFill>
                <a:latin typeface="+mn-lt"/>
                <a:sym typeface="Trebuchet MS" panose="020B0603020202020204" pitchFamily="34" charset="0"/>
              </a:defRPr>
            </a:lvl1pPr>
          </a:lstStyle>
          <a:p>
            <a:endParaRPr lang="en-US"/>
          </a:p>
        </p:txBody>
      </p:sp>
      <p:sp>
        <p:nvSpPr>
          <p:cNvPr id="21"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2024 by Boston Consulting Group. All rights reserved.</a:t>
            </a:r>
          </a:p>
        </p:txBody>
      </p:sp>
    </p:spTree>
    <p:extLst>
      <p:ext uri="{BB962C8B-B14F-4D97-AF65-F5344CB8AC3E}">
        <p14:creationId xmlns:p14="http://schemas.microsoft.com/office/powerpoint/2010/main" val="192352417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preserve="1" userDrawn="1">
  <p:cSld name="Green two third">
    <p:bg bwMode="grayWhite">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pic>
        <p:nvPicPr>
          <p:cNvPr id="9" name="Picture 8"/>
          <p:cNvPicPr>
            <a:picLocks noChangeAspect="1"/>
          </p:cNvPicPr>
          <p:nvPr userDrawn="1"/>
        </p:nvPicPr>
        <p:blipFill rotWithShape="1">
          <a:blip r:embed="rId2">
            <a:extLst>
              <a:ext uri="{28A0092B-C50C-407E-A947-70E740481C1C}">
                <a14:useLocalDpi xmlns:a14="http://schemas.microsoft.com/office/drawing/2010/main" val="0"/>
              </a:ext>
            </a:extLst>
          </a:blip>
          <a:srcRect l="29398" t="8741" r="101" b="27"/>
          <a:stretch/>
        </p:blipFill>
        <p:spPr bwMode="ltGray">
          <a:xfrm flipH="1">
            <a:off x="7409849" y="0"/>
            <a:ext cx="416951" cy="6858000"/>
          </a:xfrm>
          <a:prstGeom prst="rect">
            <a:avLst/>
          </a:prstGeom>
        </p:spPr>
      </p:pic>
      <p:sp>
        <p:nvSpPr>
          <p:cNvPr id="10" name="Rectangle 9"/>
          <p:cNvSpPr/>
          <p:nvPr userDrawn="1"/>
        </p:nvSpPr>
        <p:spPr bwMode="gray">
          <a:xfrm>
            <a:off x="7819543" y="0"/>
            <a:ext cx="4372457"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endParaRPr lang="en-US" sz="1200">
              <a:solidFill>
                <a:schemeClr val="bg1"/>
              </a:solidFill>
              <a:latin typeface="+mn-lt"/>
              <a:sym typeface="Trebuchet MS" panose="020B0603020202020204" pitchFamily="34" charset="0"/>
            </a:endParaRPr>
          </a:p>
        </p:txBody>
      </p:sp>
      <p:sp>
        <p:nvSpPr>
          <p:cNvPr id="11" name="Picture Placeholder 5"/>
          <p:cNvSpPr>
            <a:spLocks noGrp="1"/>
          </p:cNvSpPr>
          <p:nvPr>
            <p:ph type="pic" sz="quarter" idx="11" hasCustomPrompt="1"/>
          </p:nvPr>
        </p:nvSpPr>
        <p:spPr>
          <a:xfrm>
            <a:off x="7820025" y="0"/>
            <a:ext cx="4371975" cy="6858000"/>
          </a:xfrm>
          <a:prstGeom prst="rect">
            <a:avLst/>
          </a:prstGeom>
          <a:noFill/>
        </p:spPr>
        <p:txBody>
          <a:bodyPr lIns="182880" tIns="914400" rIns="182880" bIns="914400"/>
          <a:lstStyle>
            <a:lvl1pPr algn="ctr">
              <a:defRPr sz="1600">
                <a:solidFill>
                  <a:schemeClr val="tx1"/>
                </a:solidFill>
                <a:latin typeface="Trebuchet MS" panose="020B0603020202020204" pitchFamily="34" charset="0"/>
                <a:sym typeface="Trebuchet MS" panose="020B0603020202020204" pitchFamily="34" charset="0"/>
              </a:defRPr>
            </a:lvl1pPr>
          </a:lstStyle>
          <a:p>
            <a:r>
              <a:rPr lang="en-US"/>
              <a:t>Click icon below to insert an image or remove this placeholder to use the whitespace in another way</a:t>
            </a:r>
          </a:p>
        </p:txBody>
      </p:sp>
      <p:sp>
        <p:nvSpPr>
          <p:cNvPr id="12" name="Date Placeholder 2"/>
          <p:cNvSpPr>
            <a:spLocks noGrp="1"/>
          </p:cNvSpPr>
          <p:nvPr>
            <p:ph type="dt" sz="half" idx="12"/>
          </p:nvPr>
        </p:nvSpPr>
        <p:spPr>
          <a:xfrm>
            <a:off x="9677400" y="6405036"/>
            <a:ext cx="1482051" cy="153888"/>
          </a:xfrm>
          <a:prstGeom prst="rect">
            <a:avLst/>
          </a:prstGeom>
        </p:spPr>
        <p:txBody>
          <a:bodyPr/>
          <a:lstStyle>
            <a:lvl1pPr>
              <a:defRPr>
                <a:solidFill>
                  <a:schemeClr val="bg1">
                    <a:lumMod val="50000"/>
                  </a:schemeClr>
                </a:solidFill>
                <a:latin typeface="+mn-lt"/>
                <a:sym typeface="Trebuchet MS" panose="020B0603020202020204" pitchFamily="34" charset="0"/>
              </a:defRPr>
            </a:lvl1pPr>
          </a:lstStyle>
          <a:p>
            <a:endParaRPr lang="en-US"/>
          </a:p>
        </p:txBody>
      </p:sp>
      <p:sp>
        <p:nvSpPr>
          <p:cNvPr id="15" name="Copyright"/>
          <p:cNvSpPr txBox="1"/>
          <p:nvPr userDrawn="1"/>
        </p:nvSpPr>
        <p:spPr>
          <a:xfrm rot="16200000">
            <a:off x="9486900" y="3916394"/>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2024 by Boston Consulting Group. All rights reserved.</a:t>
            </a:r>
          </a:p>
        </p:txBody>
      </p:sp>
      <p:sp>
        <p:nvSpPr>
          <p:cNvPr id="14" name="Title 1"/>
          <p:cNvSpPr>
            <a:spLocks noGrp="1"/>
          </p:cNvSpPr>
          <p:nvPr>
            <p:ph type="title" hasCustomPrompt="1"/>
          </p:nvPr>
        </p:nvSpPr>
        <p:spPr bwMode="blackWhite">
          <a:xfrm>
            <a:off x="630000" y="1804650"/>
            <a:ext cx="6247552" cy="3286800"/>
          </a:xfrm>
          <a:prstGeom prst="rect">
            <a:avLst/>
          </a:prstGeom>
        </p:spPr>
        <p:txBody>
          <a:bodyPr anchor="ctr">
            <a:noAutofit/>
          </a:bodyPr>
          <a:lstStyle>
            <a:lvl1pPr>
              <a:defRPr sz="4400">
                <a:solidFill>
                  <a:schemeClr val="bg1"/>
                </a:solidFill>
                <a:latin typeface="+mj-lt"/>
                <a:sym typeface="Trebuchet MS" panose="020B0603020202020204" pitchFamily="34" charset="0"/>
              </a:defRPr>
            </a:lvl1pPr>
          </a:lstStyle>
          <a:p>
            <a:r>
              <a:rPr lang="en-US"/>
              <a:t>Click to edit title</a:t>
            </a:r>
          </a:p>
        </p:txBody>
      </p:sp>
      <p:sp>
        <p:nvSpPr>
          <p:cNvPr id="13" name="TextBox 12"/>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lumMod val="50000"/>
                  </a:schemeClr>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800" kern="1200">
              <a:solidFill>
                <a:schemeClr val="bg1">
                  <a:lumMod val="50000"/>
                </a:schemeClr>
              </a:solidFill>
              <a:latin typeface="+mn-lt"/>
              <a:ea typeface="+mn-ea"/>
              <a:cs typeface="+mn-cs"/>
              <a:sym typeface="Trebuchet MS" panose="020B0603020202020204" pitchFamily="34" charset="0"/>
            </a:endParaRPr>
          </a:p>
        </p:txBody>
      </p:sp>
    </p:spTree>
    <p:extLst>
      <p:ext uri="{BB962C8B-B14F-4D97-AF65-F5344CB8AC3E}">
        <p14:creationId xmlns:p14="http://schemas.microsoft.com/office/powerpoint/2010/main" val="63280906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preserve="1" userDrawn="1">
  <p:cSld name="Left arrow">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sp>
        <p:nvSpPr>
          <p:cNvPr id="16" name="Freeform 14"/>
          <p:cNvSpPr/>
          <p:nvPr userDrawn="1"/>
        </p:nvSpPr>
        <p:spPr bwMode="ltGray">
          <a:xfrm>
            <a:off x="1524" y="1310"/>
            <a:ext cx="4088312" cy="6858000"/>
          </a:xfrm>
          <a:custGeom>
            <a:avLst/>
            <a:gdLst>
              <a:gd name="connsiteX0" fmla="*/ 0 w 4088312"/>
              <a:gd name="connsiteY0" fmla="*/ 0 h 6858000"/>
              <a:gd name="connsiteX1" fmla="*/ 3264933 w 4088312"/>
              <a:gd name="connsiteY1" fmla="*/ 0 h 6858000"/>
              <a:gd name="connsiteX2" fmla="*/ 4088312 w 4088312"/>
              <a:gd name="connsiteY2" fmla="*/ 3429000 h 6858000"/>
              <a:gd name="connsiteX3" fmla="*/ 3264933 w 4088312"/>
              <a:gd name="connsiteY3" fmla="*/ 6858000 h 6858000"/>
              <a:gd name="connsiteX4" fmla="*/ 0 w 4088312"/>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8312" h="6858000">
                <a:moveTo>
                  <a:pt x="0" y="0"/>
                </a:moveTo>
                <a:lnTo>
                  <a:pt x="3264933" y="0"/>
                </a:lnTo>
                <a:lnTo>
                  <a:pt x="4088312" y="3429000"/>
                </a:lnTo>
                <a:lnTo>
                  <a:pt x="3264933" y="6858000"/>
                </a:lnTo>
                <a:lnTo>
                  <a:pt x="0" y="6858000"/>
                </a:lnTo>
                <a:close/>
              </a:path>
            </a:pathLst>
          </a:custGeom>
          <a:solidFill>
            <a:schemeClr val="bg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p>
            <a:pPr>
              <a:lnSpc>
                <a:spcPct val="90000"/>
              </a:lnSpc>
              <a:spcAft>
                <a:spcPts val="1000"/>
              </a:spcAft>
            </a:pPr>
            <a:endParaRPr lang="en-US" sz="1200">
              <a:solidFill>
                <a:prstClr val="white"/>
              </a:solidFill>
              <a:latin typeface="+mn-lt"/>
              <a:sym typeface="Trebuchet MS" panose="020B0603020202020204" pitchFamily="34" charset="0"/>
            </a:endParaRPr>
          </a:p>
        </p:txBody>
      </p:sp>
      <p:sp>
        <p:nvSpPr>
          <p:cNvPr id="5" name="Date Placeholder 4"/>
          <p:cNvSpPr>
            <a:spLocks noGrp="1"/>
          </p:cNvSpPr>
          <p:nvPr>
            <p:ph type="dt" sz="half" idx="10"/>
          </p:nvPr>
        </p:nvSpPr>
        <p:spPr>
          <a:xfrm>
            <a:off x="9677400" y="6405036"/>
            <a:ext cx="1482051" cy="153888"/>
          </a:xfrm>
          <a:prstGeom prst="rect">
            <a:avLst/>
          </a:prstGeom>
        </p:spPr>
        <p:txBody>
          <a:bodyPr/>
          <a:lstStyle>
            <a:lvl1pPr>
              <a:defRPr>
                <a:solidFill>
                  <a:schemeClr val="bg1"/>
                </a:solidFill>
                <a:latin typeface="+mn-lt"/>
                <a:sym typeface="Trebuchet MS" panose="020B0603020202020204" pitchFamily="34" charset="0"/>
              </a:defRPr>
            </a:lvl1pPr>
          </a:lstStyle>
          <a:p>
            <a:endParaRPr lang="en-US"/>
          </a:p>
        </p:txBody>
      </p:sp>
      <p:sp>
        <p:nvSpPr>
          <p:cNvPr id="19"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2024 by Boston Consulting Group. All rights reserved.</a:t>
            </a:r>
          </a:p>
        </p:txBody>
      </p:sp>
      <p:sp>
        <p:nvSpPr>
          <p:cNvPr id="12" name="TextBox 11"/>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
        <p:nvSpPr>
          <p:cNvPr id="17" name="Title 2"/>
          <p:cNvSpPr>
            <a:spLocks noGrp="1"/>
          </p:cNvSpPr>
          <p:nvPr>
            <p:ph type="title" hasCustomPrompt="1"/>
          </p:nvPr>
        </p:nvSpPr>
        <p:spPr>
          <a:xfrm>
            <a:off x="630000" y="2764203"/>
            <a:ext cx="2478638" cy="1314311"/>
          </a:xfrm>
          <a:prstGeom prst="rect">
            <a:avLst/>
          </a:prstGeom>
        </p:spPr>
        <p:txBody>
          <a:bodyPr anchor="ctr">
            <a:noAutofit/>
          </a:bodyPr>
          <a:lstStyle>
            <a:lvl1pPr>
              <a:defRPr sz="3200" baseline="0">
                <a:solidFill>
                  <a:schemeClr val="tx2"/>
                </a:solidFill>
                <a:latin typeface="+mj-lt"/>
                <a:sym typeface="Trebuchet MS" panose="020B0603020202020204" pitchFamily="34" charset="0"/>
              </a:defRPr>
            </a:lvl1pPr>
          </a:lstStyle>
          <a:p>
            <a:r>
              <a:rPr lang="en-US">
                <a:solidFill>
                  <a:schemeClr val="tx2"/>
                </a:solidFill>
              </a:rPr>
              <a:t>Click to add title</a:t>
            </a:r>
          </a:p>
        </p:txBody>
      </p:sp>
      <p:pic>
        <p:nvPicPr>
          <p:cNvPr id="9" name="Picture 8"/>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3132442" y="3590399"/>
            <a:ext cx="1365250" cy="3382962"/>
          </a:xfrm>
          <a:custGeom>
            <a:avLst/>
            <a:gdLst>
              <a:gd name="connsiteX0" fmla="*/ 919541 w 1365250"/>
              <a:gd name="connsiteY0" fmla="*/ 0 h 3382962"/>
              <a:gd name="connsiteX1" fmla="*/ 1365250 w 1365250"/>
              <a:gd name="connsiteY1" fmla="*/ 0 h 3382962"/>
              <a:gd name="connsiteX2" fmla="*/ 1365250 w 1365250"/>
              <a:gd name="connsiteY2" fmla="*/ 3382962 h 3382962"/>
              <a:gd name="connsiteX3" fmla="*/ 0 w 1365250"/>
              <a:gd name="connsiteY3" fmla="*/ 3382962 h 3382962"/>
              <a:gd name="connsiteX4" fmla="*/ 0 w 1365250"/>
              <a:gd name="connsiteY4" fmla="*/ 3264716 h 3382962"/>
              <a:gd name="connsiteX5" fmla="*/ 129871 w 1365250"/>
              <a:gd name="connsiteY5" fmla="*/ 3267601 h 3382962"/>
              <a:gd name="connsiteX6" fmla="*/ 0 w 1365250"/>
              <a:gd name="connsiteY6" fmla="*/ 0 h 3382962"/>
              <a:gd name="connsiteX7" fmla="*/ 909386 w 1365250"/>
              <a:gd name="connsiteY7" fmla="*/ 0 h 3382962"/>
              <a:gd name="connsiteX8" fmla="*/ 0 w 1365250"/>
              <a:gd name="connsiteY8" fmla="*/ 2985607 h 3382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65250" h="3382962">
                <a:moveTo>
                  <a:pt x="919541" y="0"/>
                </a:moveTo>
                <a:lnTo>
                  <a:pt x="1365250" y="0"/>
                </a:lnTo>
                <a:lnTo>
                  <a:pt x="1365250" y="3382962"/>
                </a:lnTo>
                <a:lnTo>
                  <a:pt x="0" y="3382962"/>
                </a:lnTo>
                <a:lnTo>
                  <a:pt x="0" y="3264716"/>
                </a:lnTo>
                <a:lnTo>
                  <a:pt x="129871" y="3267601"/>
                </a:lnTo>
                <a:close/>
                <a:moveTo>
                  <a:pt x="0" y="0"/>
                </a:moveTo>
                <a:lnTo>
                  <a:pt x="909386" y="0"/>
                </a:lnTo>
                <a:lnTo>
                  <a:pt x="0" y="2985607"/>
                </a:lnTo>
                <a:close/>
              </a:path>
            </a:pathLst>
          </a:cu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6725773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preserve="1" userDrawn="1">
  <p:cSld name="Green left arrow">
    <p:bg>
      <p:bgPr>
        <a:solidFill>
          <a:srgbClr val="F2F2F2"/>
        </a:solidFill>
        <a:effectLst/>
      </p:bgPr>
    </p:bg>
    <p:spTree>
      <p:nvGrpSpPr>
        <p:cNvPr id="1" name=""/>
        <p:cNvGrpSpPr/>
        <p:nvPr/>
      </p:nvGrpSpPr>
      <p:grpSpPr>
        <a:xfrm>
          <a:off x="0" y="0"/>
          <a:ext cx="0" cy="0"/>
          <a:chOff x="0" y="0"/>
          <a:chExt cx="0" cy="0"/>
        </a:xfrm>
      </p:grpSpPr>
      <p:sp>
        <p:nvSpPr>
          <p:cNvPr id="16" name="Freeform 14"/>
          <p:cNvSpPr/>
          <p:nvPr userDrawn="1"/>
        </p:nvSpPr>
        <p:spPr bwMode="ltGray">
          <a:xfrm>
            <a:off x="0" y="0"/>
            <a:ext cx="4088312" cy="6858000"/>
          </a:xfrm>
          <a:custGeom>
            <a:avLst/>
            <a:gdLst>
              <a:gd name="connsiteX0" fmla="*/ 0 w 4088312"/>
              <a:gd name="connsiteY0" fmla="*/ 0 h 6858000"/>
              <a:gd name="connsiteX1" fmla="*/ 3264933 w 4088312"/>
              <a:gd name="connsiteY1" fmla="*/ 0 h 6858000"/>
              <a:gd name="connsiteX2" fmla="*/ 4088312 w 4088312"/>
              <a:gd name="connsiteY2" fmla="*/ 3429000 h 6858000"/>
              <a:gd name="connsiteX3" fmla="*/ 3264933 w 4088312"/>
              <a:gd name="connsiteY3" fmla="*/ 6858000 h 6858000"/>
              <a:gd name="connsiteX4" fmla="*/ 0 w 4088312"/>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8312" h="6858000">
                <a:moveTo>
                  <a:pt x="0" y="0"/>
                </a:moveTo>
                <a:lnTo>
                  <a:pt x="3264933" y="0"/>
                </a:lnTo>
                <a:lnTo>
                  <a:pt x="4088312" y="3429000"/>
                </a:lnTo>
                <a:lnTo>
                  <a:pt x="3264933" y="6858000"/>
                </a:lnTo>
                <a:lnTo>
                  <a:pt x="0" y="6858000"/>
                </a:lnTo>
                <a:close/>
              </a:path>
            </a:pathLst>
          </a:custGeom>
          <a:gradFill>
            <a:gsLst>
              <a:gs pos="0">
                <a:schemeClr val="tx2"/>
              </a:gs>
              <a:gs pos="100000">
                <a:schemeClr val="accent2"/>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p>
            <a:pPr>
              <a:lnSpc>
                <a:spcPct val="90000"/>
              </a:lnSpc>
              <a:spcAft>
                <a:spcPts val="1000"/>
              </a:spcAft>
            </a:pPr>
            <a:endParaRPr lang="en-US" sz="1200">
              <a:solidFill>
                <a:prstClr val="white"/>
              </a:solidFill>
              <a:latin typeface="+mn-lt"/>
              <a:sym typeface="Trebuchet MS" panose="020B0603020202020204" pitchFamily="34" charset="0"/>
            </a:endParaRPr>
          </a:p>
        </p:txBody>
      </p:sp>
      <p:sp>
        <p:nvSpPr>
          <p:cNvPr id="3" name="Title 2"/>
          <p:cNvSpPr>
            <a:spLocks noGrp="1"/>
          </p:cNvSpPr>
          <p:nvPr>
            <p:ph type="title" hasCustomPrompt="1"/>
          </p:nvPr>
        </p:nvSpPr>
        <p:spPr>
          <a:xfrm>
            <a:off x="630000" y="2764203"/>
            <a:ext cx="2478638" cy="1314311"/>
          </a:xfrm>
        </p:spPr>
        <p:txBody>
          <a:bodyPr anchor="ctr" anchorCtr="0">
            <a:noAutofit/>
          </a:bodyPr>
          <a:lstStyle>
            <a:lvl1pPr>
              <a:defRPr sz="3200" baseline="0">
                <a:solidFill>
                  <a:srgbClr val="FFFFFF"/>
                </a:solidFill>
                <a:latin typeface="+mj-lt"/>
              </a:defRPr>
            </a:lvl1pPr>
          </a:lstStyle>
          <a:p>
            <a:r>
              <a:rPr lang="en-US"/>
              <a:t>Click to add title</a:t>
            </a:r>
          </a:p>
        </p:txBody>
      </p:sp>
      <p:sp>
        <p:nvSpPr>
          <p:cNvPr id="13" name="Date Placeholder 3"/>
          <p:cNvSpPr>
            <a:spLocks noGrp="1"/>
          </p:cNvSpPr>
          <p:nvPr>
            <p:ph type="dt" sz="half" idx="2"/>
          </p:nvPr>
        </p:nvSpPr>
        <p:spPr>
          <a:xfrm>
            <a:off x="9677400" y="6405036"/>
            <a:ext cx="1482051" cy="153888"/>
          </a:xfrm>
          <a:prstGeom prst="rect">
            <a:avLst/>
          </a:prstGeom>
        </p:spPr>
        <p:txBody>
          <a:bodyPr vert="horz" wrap="square" lIns="0" tIns="0" rIns="0" bIns="0" rtlCol="0" anchor="b">
            <a:spAutoFit/>
          </a:bodyPr>
          <a:lstStyle>
            <a:lvl1pPr algn="r">
              <a:defRPr sz="1000">
                <a:solidFill>
                  <a:schemeClr val="bg1">
                    <a:lumMod val="50000"/>
                  </a:schemeClr>
                </a:solidFill>
                <a:latin typeface="+mn-lt"/>
                <a:sym typeface="Trebuchet MS" panose="020B0603020202020204" pitchFamily="34" charset="0"/>
              </a:defRPr>
            </a:lvl1pPr>
          </a:lstStyle>
          <a:p>
            <a:endParaRPr lang="en-US"/>
          </a:p>
        </p:txBody>
      </p:sp>
      <p:sp>
        <p:nvSpPr>
          <p:cNvPr id="14" name="TextBox 13"/>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lumMod val="50000"/>
                  </a:schemeClr>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lumMod val="50000"/>
                </a:schemeClr>
              </a:solidFill>
              <a:latin typeface="+mn-lt"/>
              <a:ea typeface="+mn-ea"/>
              <a:cs typeface="+mn-cs"/>
              <a:sym typeface="Trebuchet MS" panose="020B0603020202020204" pitchFamily="34" charset="0"/>
            </a:endParaRPr>
          </a:p>
        </p:txBody>
      </p:sp>
      <p:sp>
        <p:nvSpPr>
          <p:cNvPr id="15"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2024 by Boston Consulting Group. All rights reserved.</a:t>
            </a:r>
          </a:p>
        </p:txBody>
      </p:sp>
      <p:pic>
        <p:nvPicPr>
          <p:cNvPr id="9" name="Picture 8"/>
          <p:cNvPicPr>
            <a:picLocks noChangeAspect="1"/>
          </p:cNvPicPr>
          <p:nvPr userDrawn="1"/>
        </p:nvPicPr>
        <p:blipFill rotWithShape="1">
          <a:blip r:embed="rId2">
            <a:extLst>
              <a:ext uri="{28A0092B-C50C-407E-A947-70E740481C1C}">
                <a14:useLocalDpi xmlns:a14="http://schemas.microsoft.com/office/drawing/2010/main" val="0"/>
              </a:ext>
            </a:extLst>
          </a:blip>
          <a:srcRect t="6216" b="7716"/>
          <a:stretch/>
        </p:blipFill>
        <p:spPr>
          <a:xfrm rot="120000">
            <a:off x="2174642" y="3402828"/>
            <a:ext cx="2694666" cy="3461745"/>
          </a:xfrm>
          <a:custGeom>
            <a:avLst/>
            <a:gdLst>
              <a:gd name="connsiteX0" fmla="*/ 0 w 2694666"/>
              <a:gd name="connsiteY0" fmla="*/ 0 h 3461745"/>
              <a:gd name="connsiteX1" fmla="*/ 2694666 w 2694666"/>
              <a:gd name="connsiteY1" fmla="*/ 0 h 3461745"/>
              <a:gd name="connsiteX2" fmla="*/ 2694666 w 2694666"/>
              <a:gd name="connsiteY2" fmla="*/ 3461745 h 3461745"/>
              <a:gd name="connsiteX3" fmla="*/ 1325678 w 2694666"/>
              <a:gd name="connsiteY3" fmla="*/ 3461745 h 3461745"/>
              <a:gd name="connsiteX4" fmla="*/ 1671729 w 2694666"/>
              <a:gd name="connsiteY4" fmla="*/ 3449661 h 3461745"/>
              <a:gd name="connsiteX5" fmla="*/ 1894583 w 2694666"/>
              <a:gd name="connsiteY5" fmla="*/ 6023 h 3461745"/>
              <a:gd name="connsiteX6" fmla="*/ 1847153 w 2694666"/>
              <a:gd name="connsiteY6" fmla="*/ 12445 h 3461745"/>
              <a:gd name="connsiteX7" fmla="*/ 1149427 w 2694666"/>
              <a:gd name="connsiteY7" fmla="*/ 3461745 h 3461745"/>
              <a:gd name="connsiteX8" fmla="*/ 0 w 2694666"/>
              <a:gd name="connsiteY8" fmla="*/ 3461745 h 3461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94666" h="3461745">
                <a:moveTo>
                  <a:pt x="0" y="0"/>
                </a:moveTo>
                <a:lnTo>
                  <a:pt x="2694666" y="0"/>
                </a:lnTo>
                <a:lnTo>
                  <a:pt x="2694666" y="3461745"/>
                </a:lnTo>
                <a:lnTo>
                  <a:pt x="1325678" y="3461745"/>
                </a:lnTo>
                <a:lnTo>
                  <a:pt x="1671729" y="3449661"/>
                </a:lnTo>
                <a:lnTo>
                  <a:pt x="1894583" y="6023"/>
                </a:lnTo>
                <a:lnTo>
                  <a:pt x="1847153" y="12445"/>
                </a:lnTo>
                <a:lnTo>
                  <a:pt x="1149427" y="3461745"/>
                </a:lnTo>
                <a:lnTo>
                  <a:pt x="0" y="3461745"/>
                </a:lnTo>
                <a:close/>
              </a:path>
            </a:pathLst>
          </a:custGeom>
        </p:spPr>
      </p:pic>
    </p:spTree>
    <p:extLst>
      <p:ext uri="{BB962C8B-B14F-4D97-AF65-F5344CB8AC3E}">
        <p14:creationId xmlns:p14="http://schemas.microsoft.com/office/powerpoint/2010/main" val="367917419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showMasterSp="0" preserve="1" userDrawn="1">
  <p:cSld name="Arrow one third">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userDrawn="1">
            <p:custDataLst>
              <p:tags r:id="rId1"/>
            </p:custDataLst>
            <p:extLst>
              <p:ext uri="{D42A27DB-BD31-4B8C-83A1-F6EECF244321}">
                <p14:modId xmlns:p14="http://schemas.microsoft.com/office/powerpoint/2010/main" val="3325268785"/>
              </p:ext>
            </p:ext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3" imgW="324" imgH="324" progId="TCLayout.ActiveDocument.1">
                  <p:embed/>
                </p:oleObj>
              </mc:Choice>
              <mc:Fallback>
                <p:oleObj name="think-cell Slide" r:id="rId3" imgW="324" imgH="324" progId="TCLayout.ActiveDocument.1">
                  <p:embed/>
                  <p:pic>
                    <p:nvPicPr>
                      <p:cNvPr id="3" name="Object 2" hidden="1"/>
                      <p:cNvPicPr/>
                      <p:nvPr/>
                    </p:nvPicPr>
                    <p:blipFill>
                      <a:blip r:embed="rId4"/>
                      <a:stretch>
                        <a:fillRect/>
                      </a:stretch>
                    </p:blipFill>
                    <p:spPr>
                      <a:xfrm>
                        <a:off x="1588" y="1588"/>
                        <a:ext cx="1587" cy="1587"/>
                      </a:xfrm>
                      <a:prstGeom prst="rect">
                        <a:avLst/>
                      </a:prstGeom>
                    </p:spPr>
                  </p:pic>
                </p:oleObj>
              </mc:Fallback>
            </mc:AlternateContent>
          </a:graphicData>
        </a:graphic>
      </p:graphicFrame>
      <p:sp>
        <p:nvSpPr>
          <p:cNvPr id="5" name="TextBox 4"/>
          <p:cNvSpPr txBox="1"/>
          <p:nvPr/>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800" kern="1200">
              <a:solidFill>
                <a:schemeClr val="bg1"/>
              </a:solidFill>
              <a:latin typeface="+mn-lt"/>
              <a:ea typeface="+mn-ea"/>
              <a:cs typeface="+mn-cs"/>
              <a:sym typeface="Trebuchet MS" panose="020B0603020202020204" pitchFamily="34" charset="0"/>
            </a:endParaRPr>
          </a:p>
        </p:txBody>
      </p:sp>
      <p:sp>
        <p:nvSpPr>
          <p:cNvPr id="8" name="Date Placeholder 7"/>
          <p:cNvSpPr>
            <a:spLocks noGrp="1"/>
          </p:cNvSpPr>
          <p:nvPr>
            <p:ph type="dt" sz="half" idx="11"/>
          </p:nvPr>
        </p:nvSpPr>
        <p:spPr>
          <a:xfrm>
            <a:off x="9677400" y="6405036"/>
            <a:ext cx="1482051" cy="153888"/>
          </a:xfrm>
          <a:prstGeom prst="rect">
            <a:avLst/>
          </a:prstGeom>
        </p:spPr>
        <p:txBody>
          <a:bodyPr/>
          <a:lstStyle>
            <a:lvl1pPr>
              <a:defRPr>
                <a:solidFill>
                  <a:schemeClr val="bg1"/>
                </a:solidFill>
                <a:latin typeface="+mn-lt"/>
                <a:sym typeface="Trebuchet MS" panose="020B0603020202020204" pitchFamily="34" charset="0"/>
              </a:defRPr>
            </a:lvl1pPr>
          </a:lstStyle>
          <a:p>
            <a:endParaRPr lang="en-US"/>
          </a:p>
        </p:txBody>
      </p:sp>
      <p:sp>
        <p:nvSpPr>
          <p:cNvPr id="12"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2024 by Boston Consulting Group. All rights reserved.</a:t>
            </a:r>
          </a:p>
        </p:txBody>
      </p:sp>
      <p:sp>
        <p:nvSpPr>
          <p:cNvPr id="13" name="Pentagon 3"/>
          <p:cNvSpPr/>
          <p:nvPr userDrawn="1"/>
        </p:nvSpPr>
        <p:spPr bwMode="white">
          <a:xfrm>
            <a:off x="1" y="0"/>
            <a:ext cx="5426920" cy="6858000"/>
          </a:xfrm>
          <a:prstGeom prst="homePlate">
            <a:avLst>
              <a:gd name="adj" fmla="val 12939"/>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90000"/>
              </a:lnSpc>
              <a:spcAft>
                <a:spcPts val="1000"/>
              </a:spcAft>
            </a:pPr>
            <a:endParaRPr lang="en-US" sz="1200">
              <a:solidFill>
                <a:prstClr val="white"/>
              </a:solidFill>
              <a:latin typeface="+mn-lt"/>
              <a:sym typeface="Trebuchet MS" panose="020B0603020202020204" pitchFamily="34" charset="0"/>
            </a:endParaRPr>
          </a:p>
        </p:txBody>
      </p:sp>
      <p:sp>
        <p:nvSpPr>
          <p:cNvPr id="14" name="Title 1"/>
          <p:cNvSpPr>
            <a:spLocks noGrp="1"/>
          </p:cNvSpPr>
          <p:nvPr>
            <p:ph type="title" hasCustomPrompt="1"/>
          </p:nvPr>
        </p:nvSpPr>
        <p:spPr>
          <a:xfrm>
            <a:off x="630000" y="1785600"/>
            <a:ext cx="4062235" cy="3286800"/>
          </a:xfrm>
          <a:prstGeom prst="rect">
            <a:avLst/>
          </a:prstGeom>
        </p:spPr>
        <p:txBody>
          <a:bodyPr anchor="ctr">
            <a:noAutofit/>
          </a:bodyPr>
          <a:lstStyle>
            <a:lvl1pPr>
              <a:defRPr sz="4400" b="0">
                <a:solidFill>
                  <a:schemeClr val="tx2"/>
                </a:solidFill>
                <a:latin typeface="+mj-lt"/>
                <a:sym typeface="Trebuchet MS" panose="020B0603020202020204" pitchFamily="34" charset="0"/>
              </a:defRPr>
            </a:lvl1pPr>
          </a:lstStyle>
          <a:p>
            <a:r>
              <a:rPr lang="en-US"/>
              <a:t>Click to add title</a:t>
            </a:r>
          </a:p>
        </p:txBody>
      </p:sp>
      <p:pic>
        <p:nvPicPr>
          <p:cNvPr id="15" name="Picture 14"/>
          <p:cNvPicPr>
            <a:picLocks noChangeAspect="1" noChangeArrowheads="1"/>
          </p:cNvPicPr>
          <p:nvPr userDrawn="1"/>
        </p:nvPicPr>
        <p:blipFill>
          <a:blip r:embed="rId5">
            <a:extLst>
              <a:ext uri="{28A0092B-C50C-407E-A947-70E740481C1C}">
                <a14:useLocalDpi xmlns:a14="http://schemas.microsoft.com/office/drawing/2010/main" val="0"/>
              </a:ext>
            </a:extLst>
          </a:blip>
          <a:srcRect/>
          <a:stretch>
            <a:fillRect/>
          </a:stretch>
        </p:blipFill>
        <p:spPr bwMode="auto">
          <a:xfrm>
            <a:off x="4581525" y="3394392"/>
            <a:ext cx="1298575" cy="3571875"/>
          </a:xfrm>
          <a:custGeom>
            <a:avLst/>
            <a:gdLst>
              <a:gd name="connsiteX0" fmla="*/ 0 w 1298575"/>
              <a:gd name="connsiteY0" fmla="*/ 0 h 3571875"/>
              <a:gd name="connsiteX1" fmla="*/ 1298575 w 1298575"/>
              <a:gd name="connsiteY1" fmla="*/ 0 h 3571875"/>
              <a:gd name="connsiteX2" fmla="*/ 1298575 w 1298575"/>
              <a:gd name="connsiteY2" fmla="*/ 3571875 h 3571875"/>
              <a:gd name="connsiteX3" fmla="*/ 0 w 1298575"/>
              <a:gd name="connsiteY3" fmla="*/ 3571875 h 3571875"/>
              <a:gd name="connsiteX4" fmla="*/ 0 w 1298575"/>
              <a:gd name="connsiteY4" fmla="*/ 3465683 h 3571875"/>
              <a:gd name="connsiteX5" fmla="*/ 139700 w 1298575"/>
              <a:gd name="connsiteY5" fmla="*/ 3466783 h 3571875"/>
              <a:gd name="connsiteX6" fmla="*/ 841375 w 1298575"/>
              <a:gd name="connsiteY6" fmla="*/ 21908 h 3571875"/>
              <a:gd name="connsiteX7" fmla="*/ 0 w 1298575"/>
              <a:gd name="connsiteY7" fmla="*/ 2642743 h 3571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8575" h="3571875">
                <a:moveTo>
                  <a:pt x="0" y="0"/>
                </a:moveTo>
                <a:lnTo>
                  <a:pt x="1298575" y="0"/>
                </a:lnTo>
                <a:lnTo>
                  <a:pt x="1298575" y="3571875"/>
                </a:lnTo>
                <a:lnTo>
                  <a:pt x="0" y="3571875"/>
                </a:lnTo>
                <a:lnTo>
                  <a:pt x="0" y="3465683"/>
                </a:lnTo>
                <a:lnTo>
                  <a:pt x="139700" y="3466783"/>
                </a:lnTo>
                <a:lnTo>
                  <a:pt x="841375" y="21908"/>
                </a:lnTo>
                <a:lnTo>
                  <a:pt x="0" y="2642743"/>
                </a:lnTo>
                <a:close/>
              </a:path>
            </a:pathLst>
          </a:cu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0920821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Sp="0" preserve="1" userDrawn="1">
  <p:cSld name="Green arrow one third">
    <p:bg>
      <p:bgPr>
        <a:solidFill>
          <a:srgbClr val="F2F2F2"/>
        </a:solidFill>
        <a:effectLst/>
      </p:bgPr>
    </p:bg>
    <p:spTree>
      <p:nvGrpSpPr>
        <p:cNvPr id="1" name=""/>
        <p:cNvGrpSpPr/>
        <p:nvPr/>
      </p:nvGrpSpPr>
      <p:grpSpPr>
        <a:xfrm>
          <a:off x="0" y="0"/>
          <a:ext cx="0" cy="0"/>
          <a:chOff x="0" y="0"/>
          <a:chExt cx="0" cy="0"/>
        </a:xfrm>
      </p:grpSpPr>
      <p:sp>
        <p:nvSpPr>
          <p:cNvPr id="13" name="Pentagon 3"/>
          <p:cNvSpPr/>
          <p:nvPr userDrawn="1"/>
        </p:nvSpPr>
        <p:spPr bwMode="white">
          <a:xfrm>
            <a:off x="1" y="0"/>
            <a:ext cx="5426920" cy="6858000"/>
          </a:xfrm>
          <a:prstGeom prst="homePlate">
            <a:avLst>
              <a:gd name="adj" fmla="val 12939"/>
            </a:avLst>
          </a:prstGeom>
          <a:gradFill>
            <a:gsLst>
              <a:gs pos="0">
                <a:schemeClr val="tx2"/>
              </a:gs>
              <a:gs pos="100000">
                <a:schemeClr val="accent2"/>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90000"/>
              </a:lnSpc>
              <a:spcAft>
                <a:spcPts val="1000"/>
              </a:spcAft>
            </a:pPr>
            <a:endParaRPr lang="en-US" sz="1200">
              <a:solidFill>
                <a:prstClr val="white"/>
              </a:solidFill>
              <a:latin typeface="+mn-lt"/>
              <a:sym typeface="Trebuchet MS" panose="020B0603020202020204" pitchFamily="34" charset="0"/>
            </a:endParaRPr>
          </a:p>
        </p:txBody>
      </p:sp>
      <p:sp>
        <p:nvSpPr>
          <p:cNvPr id="14" name="Title 1"/>
          <p:cNvSpPr>
            <a:spLocks noGrp="1"/>
          </p:cNvSpPr>
          <p:nvPr>
            <p:ph type="title" hasCustomPrompt="1"/>
          </p:nvPr>
        </p:nvSpPr>
        <p:spPr>
          <a:xfrm>
            <a:off x="630000" y="1785600"/>
            <a:ext cx="4062235" cy="3286800"/>
          </a:xfrm>
          <a:prstGeom prst="rect">
            <a:avLst/>
          </a:prstGeom>
        </p:spPr>
        <p:txBody>
          <a:bodyPr anchor="ctr">
            <a:noAutofit/>
          </a:bodyPr>
          <a:lstStyle>
            <a:lvl1pPr>
              <a:defRPr sz="4400" b="0">
                <a:solidFill>
                  <a:srgbClr val="FFFFFF"/>
                </a:solidFill>
                <a:latin typeface="+mj-lt"/>
                <a:sym typeface="Trebuchet MS" panose="020B0603020202020204" pitchFamily="34" charset="0"/>
              </a:defRPr>
            </a:lvl1pPr>
          </a:lstStyle>
          <a:p>
            <a:r>
              <a:rPr lang="en-US"/>
              <a:t>Click to add title</a:t>
            </a:r>
          </a:p>
        </p:txBody>
      </p:sp>
      <p:sp>
        <p:nvSpPr>
          <p:cNvPr id="11" name="Date Placeholder 3"/>
          <p:cNvSpPr>
            <a:spLocks noGrp="1"/>
          </p:cNvSpPr>
          <p:nvPr>
            <p:ph type="dt" sz="half" idx="2"/>
          </p:nvPr>
        </p:nvSpPr>
        <p:spPr>
          <a:xfrm>
            <a:off x="9677400" y="6405036"/>
            <a:ext cx="1482051" cy="153888"/>
          </a:xfrm>
          <a:prstGeom prst="rect">
            <a:avLst/>
          </a:prstGeom>
        </p:spPr>
        <p:txBody>
          <a:bodyPr vert="horz" wrap="square" lIns="0" tIns="0" rIns="0" bIns="0" rtlCol="0" anchor="b">
            <a:spAutoFit/>
          </a:bodyPr>
          <a:lstStyle>
            <a:lvl1pPr algn="r">
              <a:defRPr sz="1000">
                <a:solidFill>
                  <a:schemeClr val="bg1">
                    <a:lumMod val="50000"/>
                  </a:schemeClr>
                </a:solidFill>
                <a:latin typeface="+mn-lt"/>
                <a:sym typeface="Trebuchet MS" panose="020B0603020202020204" pitchFamily="34" charset="0"/>
              </a:defRPr>
            </a:lvl1pPr>
          </a:lstStyle>
          <a:p>
            <a:endParaRPr lang="en-US"/>
          </a:p>
        </p:txBody>
      </p:sp>
      <p:sp>
        <p:nvSpPr>
          <p:cNvPr id="16" name="TextBox 15"/>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lumMod val="50000"/>
                  </a:schemeClr>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lumMod val="50000"/>
                </a:schemeClr>
              </a:solidFill>
              <a:latin typeface="+mn-lt"/>
              <a:ea typeface="+mn-ea"/>
              <a:cs typeface="+mn-cs"/>
              <a:sym typeface="Trebuchet MS" panose="020B0603020202020204" pitchFamily="34" charset="0"/>
            </a:endParaRPr>
          </a:p>
        </p:txBody>
      </p:sp>
      <p:sp>
        <p:nvSpPr>
          <p:cNvPr id="17"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2024 by Boston Consulting Group. All rights reserved.</a:t>
            </a:r>
          </a:p>
        </p:txBody>
      </p:sp>
      <p:pic>
        <p:nvPicPr>
          <p:cNvPr id="9" name="Picture 8"/>
          <p:cNvPicPr>
            <a:picLocks noChangeAspect="1"/>
          </p:cNvPicPr>
          <p:nvPr userDrawn="1"/>
        </p:nvPicPr>
        <p:blipFill rotWithShape="1">
          <a:blip r:embed="rId2">
            <a:extLst>
              <a:ext uri="{28A0092B-C50C-407E-A947-70E740481C1C}">
                <a14:useLocalDpi xmlns:a14="http://schemas.microsoft.com/office/drawing/2010/main" val="0"/>
              </a:ext>
            </a:extLst>
          </a:blip>
          <a:srcRect t="7562" b="6867"/>
          <a:stretch/>
        </p:blipFill>
        <p:spPr>
          <a:xfrm>
            <a:off x="3578059" y="3416300"/>
            <a:ext cx="2694666" cy="3441700"/>
          </a:xfrm>
          <a:custGeom>
            <a:avLst/>
            <a:gdLst>
              <a:gd name="connsiteX0" fmla="*/ 2040063 w 2694666"/>
              <a:gd name="connsiteY0" fmla="*/ 0 h 3441700"/>
              <a:gd name="connsiteX1" fmla="*/ 2694666 w 2694666"/>
              <a:gd name="connsiteY1" fmla="*/ 0 h 3441700"/>
              <a:gd name="connsiteX2" fmla="*/ 2694666 w 2694666"/>
              <a:gd name="connsiteY2" fmla="*/ 3441700 h 3441700"/>
              <a:gd name="connsiteX3" fmla="*/ 1510783 w 2694666"/>
              <a:gd name="connsiteY3" fmla="*/ 3441700 h 3441700"/>
              <a:gd name="connsiteX4" fmla="*/ 1816742 w 2694666"/>
              <a:gd name="connsiteY4" fmla="*/ 365420 h 3441700"/>
              <a:gd name="connsiteX5" fmla="*/ 2022641 w 2694666"/>
              <a:gd name="connsiteY5" fmla="*/ 379413 h 3441700"/>
              <a:gd name="connsiteX6" fmla="*/ 0 w 2694666"/>
              <a:gd name="connsiteY6" fmla="*/ 0 h 3441700"/>
              <a:gd name="connsiteX7" fmla="*/ 1846270 w 2694666"/>
              <a:gd name="connsiteY7" fmla="*/ 0 h 3441700"/>
              <a:gd name="connsiteX8" fmla="*/ 1848810 w 2694666"/>
              <a:gd name="connsiteY8" fmla="*/ 12700 h 3441700"/>
              <a:gd name="connsiteX9" fmla="*/ 1777372 w 2694666"/>
              <a:gd name="connsiteY9" fmla="*/ 362744 h 3441700"/>
              <a:gd name="connsiteX10" fmla="*/ 1780172 w 2694666"/>
              <a:gd name="connsiteY10" fmla="*/ 362934 h 3441700"/>
              <a:gd name="connsiteX11" fmla="*/ 1144340 w 2694666"/>
              <a:gd name="connsiteY11" fmla="*/ 3441700 h 3441700"/>
              <a:gd name="connsiteX12" fmla="*/ 0 w 2694666"/>
              <a:gd name="connsiteY12" fmla="*/ 3441700 h 344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94666" h="3441700">
                <a:moveTo>
                  <a:pt x="2040063" y="0"/>
                </a:moveTo>
                <a:lnTo>
                  <a:pt x="2694666" y="0"/>
                </a:lnTo>
                <a:lnTo>
                  <a:pt x="2694666" y="3441700"/>
                </a:lnTo>
                <a:lnTo>
                  <a:pt x="1510783" y="3441700"/>
                </a:lnTo>
                <a:lnTo>
                  <a:pt x="1816742" y="365420"/>
                </a:lnTo>
                <a:lnTo>
                  <a:pt x="2022641" y="379413"/>
                </a:lnTo>
                <a:close/>
                <a:moveTo>
                  <a:pt x="0" y="0"/>
                </a:moveTo>
                <a:lnTo>
                  <a:pt x="1846270" y="0"/>
                </a:lnTo>
                <a:lnTo>
                  <a:pt x="1848810" y="12700"/>
                </a:lnTo>
                <a:lnTo>
                  <a:pt x="1777372" y="362744"/>
                </a:lnTo>
                <a:lnTo>
                  <a:pt x="1780172" y="362934"/>
                </a:lnTo>
                <a:lnTo>
                  <a:pt x="1144340" y="3441700"/>
                </a:lnTo>
                <a:lnTo>
                  <a:pt x="0" y="3441700"/>
                </a:lnTo>
                <a:close/>
              </a:path>
            </a:pathLst>
          </a:custGeom>
        </p:spPr>
      </p:pic>
    </p:spTree>
    <p:extLst>
      <p:ext uri="{BB962C8B-B14F-4D97-AF65-F5344CB8AC3E}">
        <p14:creationId xmlns:p14="http://schemas.microsoft.com/office/powerpoint/2010/main" val="297419212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Sp="0" preserve="1" userDrawn="1">
  <p:cSld name="Arrow half">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sp>
        <p:nvSpPr>
          <p:cNvPr id="8" name="Date Placeholder 7"/>
          <p:cNvSpPr>
            <a:spLocks noGrp="1"/>
          </p:cNvSpPr>
          <p:nvPr>
            <p:ph type="dt" sz="half" idx="16"/>
          </p:nvPr>
        </p:nvSpPr>
        <p:spPr>
          <a:xfrm>
            <a:off x="9677400" y="6405036"/>
            <a:ext cx="1482051" cy="153888"/>
          </a:xfrm>
          <a:prstGeom prst="rect">
            <a:avLst/>
          </a:prstGeom>
        </p:spPr>
        <p:txBody>
          <a:bodyPr/>
          <a:lstStyle>
            <a:lvl1pPr>
              <a:defRPr>
                <a:solidFill>
                  <a:schemeClr val="bg1"/>
                </a:solidFill>
                <a:latin typeface="+mn-lt"/>
                <a:sym typeface="Trebuchet MS" panose="020B0603020202020204" pitchFamily="34" charset="0"/>
              </a:defRPr>
            </a:lvl1pPr>
          </a:lstStyle>
          <a:p>
            <a:endParaRPr lang="en-US"/>
          </a:p>
        </p:txBody>
      </p:sp>
      <p:sp>
        <p:nvSpPr>
          <p:cNvPr id="18"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2024 by Boston Consulting Group. All rights reserved.</a:t>
            </a:r>
          </a:p>
        </p:txBody>
      </p:sp>
      <p:sp>
        <p:nvSpPr>
          <p:cNvPr id="15" name="TextBox 14"/>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
        <p:nvSpPr>
          <p:cNvPr id="14" name="Pentagon 8"/>
          <p:cNvSpPr/>
          <p:nvPr userDrawn="1"/>
        </p:nvSpPr>
        <p:spPr bwMode="white">
          <a:xfrm>
            <a:off x="0" y="0"/>
            <a:ext cx="6363546" cy="6858000"/>
          </a:xfrm>
          <a:prstGeom prst="homePlate">
            <a:avLst>
              <a:gd name="adj" fmla="val 12939"/>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90000"/>
              </a:lnSpc>
              <a:spcAft>
                <a:spcPts val="1000"/>
              </a:spcAft>
            </a:pPr>
            <a:endParaRPr lang="en-US" sz="1200">
              <a:solidFill>
                <a:prstClr val="white"/>
              </a:solidFill>
              <a:latin typeface="+mn-lt"/>
              <a:sym typeface="Trebuchet MS" panose="020B0603020202020204" pitchFamily="34" charset="0"/>
            </a:endParaRPr>
          </a:p>
        </p:txBody>
      </p:sp>
      <p:sp>
        <p:nvSpPr>
          <p:cNvPr id="16" name="Title 2"/>
          <p:cNvSpPr>
            <a:spLocks noGrp="1"/>
          </p:cNvSpPr>
          <p:nvPr>
            <p:ph type="title" hasCustomPrompt="1"/>
          </p:nvPr>
        </p:nvSpPr>
        <p:spPr>
          <a:xfrm>
            <a:off x="630000" y="622800"/>
            <a:ext cx="4673646" cy="470898"/>
          </a:xfrm>
          <a:prstGeom prst="rect">
            <a:avLst/>
          </a:prstGeom>
        </p:spPr>
        <p:txBody>
          <a:bodyPr vert="horz" wrap="square" lIns="0" tIns="0" rIns="0" bIns="0" anchor="t" anchorCtr="0">
            <a:spAutoFit/>
          </a:bodyPr>
          <a:lstStyle>
            <a:lvl1pPr marL="0" indent="0" algn="l">
              <a:lnSpc>
                <a:spcPct val="90000"/>
              </a:lnSpc>
              <a:spcBef>
                <a:spcPct val="0"/>
              </a:spcBef>
              <a:spcAft>
                <a:spcPts val="0"/>
              </a:spcAft>
              <a:defRPr sz="3400" b="0" i="0" u="none" kern="1200" spc="0">
                <a:solidFill>
                  <a:schemeClr val="tx2">
                    <a:lumMod val="100000"/>
                  </a:schemeClr>
                </a:solidFill>
                <a:latin typeface="+mj-lt"/>
                <a:sym typeface="Trebuchet MS" panose="020B0603020202020204" pitchFamily="34" charset="0"/>
              </a:defRPr>
            </a:lvl1pPr>
          </a:lstStyle>
          <a:p>
            <a:pPr lvl="0"/>
            <a:r>
              <a:rPr lang="en-US"/>
              <a:t>Click to add title</a:t>
            </a:r>
          </a:p>
        </p:txBody>
      </p:sp>
      <p:pic>
        <p:nvPicPr>
          <p:cNvPr id="9" name="Picture 8"/>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5397806" y="3589606"/>
            <a:ext cx="1365250" cy="3382962"/>
          </a:xfrm>
          <a:custGeom>
            <a:avLst/>
            <a:gdLst>
              <a:gd name="connsiteX0" fmla="*/ 920598 w 1365250"/>
              <a:gd name="connsiteY0" fmla="*/ 0 h 3382962"/>
              <a:gd name="connsiteX1" fmla="*/ 1365250 w 1365250"/>
              <a:gd name="connsiteY1" fmla="*/ 0 h 3382962"/>
              <a:gd name="connsiteX2" fmla="*/ 1365250 w 1365250"/>
              <a:gd name="connsiteY2" fmla="*/ 3382962 h 3382962"/>
              <a:gd name="connsiteX3" fmla="*/ 0 w 1365250"/>
              <a:gd name="connsiteY3" fmla="*/ 3382962 h 3382962"/>
              <a:gd name="connsiteX4" fmla="*/ 0 w 1365250"/>
              <a:gd name="connsiteY4" fmla="*/ 3320782 h 3382962"/>
              <a:gd name="connsiteX5" fmla="*/ 126694 w 1365250"/>
              <a:gd name="connsiteY5" fmla="*/ 3320782 h 3382962"/>
              <a:gd name="connsiteX6" fmla="*/ 0 w 1365250"/>
              <a:gd name="connsiteY6" fmla="*/ 0 h 3382962"/>
              <a:gd name="connsiteX7" fmla="*/ 908172 w 1365250"/>
              <a:gd name="connsiteY7" fmla="*/ 0 h 3382962"/>
              <a:gd name="connsiteX8" fmla="*/ 0 w 1365250"/>
              <a:gd name="connsiteY8" fmla="*/ 2890357 h 3382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65250" h="3382962">
                <a:moveTo>
                  <a:pt x="920598" y="0"/>
                </a:moveTo>
                <a:lnTo>
                  <a:pt x="1365250" y="0"/>
                </a:lnTo>
                <a:lnTo>
                  <a:pt x="1365250" y="3382962"/>
                </a:lnTo>
                <a:lnTo>
                  <a:pt x="0" y="3382962"/>
                </a:lnTo>
                <a:lnTo>
                  <a:pt x="0" y="3320782"/>
                </a:lnTo>
                <a:lnTo>
                  <a:pt x="126694" y="3320782"/>
                </a:lnTo>
                <a:close/>
                <a:moveTo>
                  <a:pt x="0" y="0"/>
                </a:moveTo>
                <a:lnTo>
                  <a:pt x="908172" y="0"/>
                </a:lnTo>
                <a:lnTo>
                  <a:pt x="0" y="2890357"/>
                </a:lnTo>
                <a:close/>
              </a:path>
            </a:pathLst>
          </a:cu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9287176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preserve="1" userDrawn="1">
  <p:cSld name="Green arrow half">
    <p:bg>
      <p:bgPr>
        <a:solidFill>
          <a:srgbClr val="F2F2F2"/>
        </a:solidFill>
        <a:effectLst/>
      </p:bgPr>
    </p:bg>
    <p:spTree>
      <p:nvGrpSpPr>
        <p:cNvPr id="1" name=""/>
        <p:cNvGrpSpPr/>
        <p:nvPr/>
      </p:nvGrpSpPr>
      <p:grpSpPr>
        <a:xfrm>
          <a:off x="0" y="0"/>
          <a:ext cx="0" cy="0"/>
          <a:chOff x="0" y="0"/>
          <a:chExt cx="0" cy="0"/>
        </a:xfrm>
      </p:grpSpPr>
      <p:sp>
        <p:nvSpPr>
          <p:cNvPr id="14" name="Pentagon 8"/>
          <p:cNvSpPr/>
          <p:nvPr userDrawn="1"/>
        </p:nvSpPr>
        <p:spPr bwMode="white">
          <a:xfrm>
            <a:off x="0" y="0"/>
            <a:ext cx="6363546" cy="6858000"/>
          </a:xfrm>
          <a:prstGeom prst="homePlate">
            <a:avLst>
              <a:gd name="adj" fmla="val 12939"/>
            </a:avLst>
          </a:prstGeom>
          <a:gradFill>
            <a:gsLst>
              <a:gs pos="0">
                <a:schemeClr val="tx2"/>
              </a:gs>
              <a:gs pos="100000">
                <a:schemeClr val="accent2"/>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90000"/>
              </a:lnSpc>
              <a:spcAft>
                <a:spcPts val="1000"/>
              </a:spcAft>
            </a:pPr>
            <a:endParaRPr lang="en-US" sz="1200">
              <a:solidFill>
                <a:prstClr val="white"/>
              </a:solidFill>
              <a:latin typeface="+mn-lt"/>
              <a:sym typeface="Trebuchet MS" panose="020B0603020202020204" pitchFamily="34" charset="0"/>
            </a:endParaRPr>
          </a:p>
        </p:txBody>
      </p:sp>
      <p:sp>
        <p:nvSpPr>
          <p:cNvPr id="16" name="Title 2"/>
          <p:cNvSpPr>
            <a:spLocks noGrp="1"/>
          </p:cNvSpPr>
          <p:nvPr>
            <p:ph type="title" hasCustomPrompt="1"/>
          </p:nvPr>
        </p:nvSpPr>
        <p:spPr>
          <a:xfrm>
            <a:off x="630000" y="622800"/>
            <a:ext cx="4673646" cy="470898"/>
          </a:xfrm>
          <a:prstGeom prst="rect">
            <a:avLst/>
          </a:prstGeom>
        </p:spPr>
        <p:txBody>
          <a:bodyPr vert="horz" wrap="square" lIns="0" tIns="0" rIns="0" bIns="0" anchor="t" anchorCtr="0">
            <a:spAutoFit/>
          </a:bodyPr>
          <a:lstStyle>
            <a:lvl1pPr marL="0" indent="0" algn="l">
              <a:lnSpc>
                <a:spcPct val="90000"/>
              </a:lnSpc>
              <a:spcBef>
                <a:spcPct val="0"/>
              </a:spcBef>
              <a:spcAft>
                <a:spcPts val="0"/>
              </a:spcAft>
              <a:defRPr sz="3400" b="0" i="0" u="none" kern="1200" spc="0">
                <a:solidFill>
                  <a:srgbClr val="FFFFFF"/>
                </a:solidFill>
                <a:latin typeface="+mj-lt"/>
                <a:sym typeface="Trebuchet MS" panose="020B0603020202020204" pitchFamily="34" charset="0"/>
              </a:defRPr>
            </a:lvl1pPr>
          </a:lstStyle>
          <a:p>
            <a:pPr lvl="0"/>
            <a:r>
              <a:rPr lang="en-US"/>
              <a:t>Click to add title</a:t>
            </a:r>
          </a:p>
        </p:txBody>
      </p:sp>
      <p:sp>
        <p:nvSpPr>
          <p:cNvPr id="12" name="Date Placeholder 3"/>
          <p:cNvSpPr>
            <a:spLocks noGrp="1"/>
          </p:cNvSpPr>
          <p:nvPr>
            <p:ph type="dt" sz="half" idx="2"/>
          </p:nvPr>
        </p:nvSpPr>
        <p:spPr>
          <a:xfrm>
            <a:off x="9677400" y="6405036"/>
            <a:ext cx="1482051" cy="153888"/>
          </a:xfrm>
          <a:prstGeom prst="rect">
            <a:avLst/>
          </a:prstGeom>
        </p:spPr>
        <p:txBody>
          <a:bodyPr vert="horz" wrap="square" lIns="0" tIns="0" rIns="0" bIns="0" rtlCol="0" anchor="b">
            <a:spAutoFit/>
          </a:bodyPr>
          <a:lstStyle>
            <a:lvl1pPr algn="r">
              <a:defRPr sz="1000">
                <a:solidFill>
                  <a:schemeClr val="bg1">
                    <a:lumMod val="50000"/>
                  </a:schemeClr>
                </a:solidFill>
                <a:latin typeface="+mn-lt"/>
                <a:sym typeface="Trebuchet MS" panose="020B0603020202020204" pitchFamily="34" charset="0"/>
              </a:defRPr>
            </a:lvl1pPr>
          </a:lstStyle>
          <a:p>
            <a:endParaRPr lang="en-US"/>
          </a:p>
        </p:txBody>
      </p:sp>
      <p:sp>
        <p:nvSpPr>
          <p:cNvPr id="13" name="TextBox 12"/>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lumMod val="50000"/>
                  </a:schemeClr>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lumMod val="50000"/>
                </a:schemeClr>
              </a:solidFill>
              <a:latin typeface="+mn-lt"/>
              <a:ea typeface="+mn-ea"/>
              <a:cs typeface="+mn-cs"/>
              <a:sym typeface="Trebuchet MS" panose="020B0603020202020204" pitchFamily="34" charset="0"/>
            </a:endParaRPr>
          </a:p>
        </p:txBody>
      </p:sp>
      <p:sp>
        <p:nvSpPr>
          <p:cNvPr id="19"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2024 by Boston Consulting Group. All rights reserved.</a:t>
            </a:r>
          </a:p>
        </p:txBody>
      </p:sp>
      <p:pic>
        <p:nvPicPr>
          <p:cNvPr id="9" name="Picture 8"/>
          <p:cNvPicPr>
            <a:picLocks noChangeAspect="1"/>
          </p:cNvPicPr>
          <p:nvPr userDrawn="1"/>
        </p:nvPicPr>
        <p:blipFill rotWithShape="1">
          <a:blip r:embed="rId2">
            <a:extLst>
              <a:ext uri="{28A0092B-C50C-407E-A947-70E740481C1C}">
                <a14:useLocalDpi xmlns:a14="http://schemas.microsoft.com/office/drawing/2010/main" val="0"/>
              </a:ext>
            </a:extLst>
          </a:blip>
          <a:srcRect t="9052" b="6867"/>
          <a:stretch/>
        </p:blipFill>
        <p:spPr>
          <a:xfrm rot="120000">
            <a:off x="4460172" y="3407803"/>
            <a:ext cx="2694666" cy="3456551"/>
          </a:xfrm>
          <a:custGeom>
            <a:avLst/>
            <a:gdLst>
              <a:gd name="connsiteX0" fmla="*/ 2136534 w 2694666"/>
              <a:gd name="connsiteY0" fmla="*/ 0 h 3456551"/>
              <a:gd name="connsiteX1" fmla="*/ 2694666 w 2694666"/>
              <a:gd name="connsiteY1" fmla="*/ 0 h 3456551"/>
              <a:gd name="connsiteX2" fmla="*/ 2694666 w 2694666"/>
              <a:gd name="connsiteY2" fmla="*/ 3456551 h 3456551"/>
              <a:gd name="connsiteX3" fmla="*/ 1957033 w 2694666"/>
              <a:gd name="connsiteY3" fmla="*/ 3456551 h 3456551"/>
              <a:gd name="connsiteX4" fmla="*/ 1856842 w 2694666"/>
              <a:gd name="connsiteY4" fmla="*/ 432620 h 3456551"/>
              <a:gd name="connsiteX5" fmla="*/ 1914577 w 2694666"/>
              <a:gd name="connsiteY5" fmla="*/ 426057 h 3456551"/>
              <a:gd name="connsiteX6" fmla="*/ 0 w 2694666"/>
              <a:gd name="connsiteY6" fmla="*/ 0 h 3456551"/>
              <a:gd name="connsiteX7" fmla="*/ 1841687 w 2694666"/>
              <a:gd name="connsiteY7" fmla="*/ 0 h 3456551"/>
              <a:gd name="connsiteX8" fmla="*/ 1142595 w 2694666"/>
              <a:gd name="connsiteY8" fmla="*/ 3456551 h 3456551"/>
              <a:gd name="connsiteX9" fmla="*/ 0 w 2694666"/>
              <a:gd name="connsiteY9" fmla="*/ 3456551 h 3456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4666" h="3456551">
                <a:moveTo>
                  <a:pt x="2136534" y="0"/>
                </a:moveTo>
                <a:lnTo>
                  <a:pt x="2694666" y="0"/>
                </a:lnTo>
                <a:lnTo>
                  <a:pt x="2694666" y="3456551"/>
                </a:lnTo>
                <a:lnTo>
                  <a:pt x="1957033" y="3456551"/>
                </a:lnTo>
                <a:lnTo>
                  <a:pt x="1856842" y="432620"/>
                </a:lnTo>
                <a:lnTo>
                  <a:pt x="1914577" y="426057"/>
                </a:lnTo>
                <a:close/>
                <a:moveTo>
                  <a:pt x="0" y="0"/>
                </a:moveTo>
                <a:lnTo>
                  <a:pt x="1841687" y="0"/>
                </a:lnTo>
                <a:lnTo>
                  <a:pt x="1142595" y="3456551"/>
                </a:lnTo>
                <a:lnTo>
                  <a:pt x="0" y="3456551"/>
                </a:lnTo>
                <a:close/>
              </a:path>
            </a:pathLst>
          </a:custGeom>
        </p:spPr>
      </p:pic>
    </p:spTree>
    <p:extLst>
      <p:ext uri="{BB962C8B-B14F-4D97-AF65-F5344CB8AC3E}">
        <p14:creationId xmlns:p14="http://schemas.microsoft.com/office/powerpoint/2010/main" val="243807868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showMasterSp="0" preserve="1" userDrawn="1">
  <p:cSld name="Arrow two third">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sp>
        <p:nvSpPr>
          <p:cNvPr id="12" name="Freeform 18"/>
          <p:cNvSpPr/>
          <p:nvPr userDrawn="1"/>
        </p:nvSpPr>
        <p:spPr bwMode="white">
          <a:xfrm>
            <a:off x="0" y="0"/>
            <a:ext cx="8446239" cy="6858000"/>
          </a:xfrm>
          <a:custGeom>
            <a:avLst/>
            <a:gdLst>
              <a:gd name="connsiteX0" fmla="*/ 0 w 8446239"/>
              <a:gd name="connsiteY0" fmla="*/ 0 h 6858000"/>
              <a:gd name="connsiteX1" fmla="*/ 7645979 w 8446239"/>
              <a:gd name="connsiteY1" fmla="*/ 0 h 6858000"/>
              <a:gd name="connsiteX2" fmla="*/ 8446239 w 8446239"/>
              <a:gd name="connsiteY2" fmla="*/ 3429000 h 6858000"/>
              <a:gd name="connsiteX3" fmla="*/ 7645979 w 8446239"/>
              <a:gd name="connsiteY3" fmla="*/ 6858000 h 6858000"/>
              <a:gd name="connsiteX4" fmla="*/ 0 w 8446239"/>
              <a:gd name="connsiteY4" fmla="*/ 6858000 h 6858000"/>
              <a:gd name="connsiteX5" fmla="*/ 0 w 8446239"/>
              <a:gd name="connsiteY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46239" h="6858000">
                <a:moveTo>
                  <a:pt x="0" y="0"/>
                </a:moveTo>
                <a:lnTo>
                  <a:pt x="7645979" y="0"/>
                </a:lnTo>
                <a:lnTo>
                  <a:pt x="8446239" y="3429000"/>
                </a:lnTo>
                <a:lnTo>
                  <a:pt x="7645979" y="6858000"/>
                </a:lnTo>
                <a:lnTo>
                  <a:pt x="0" y="6858000"/>
                </a:lnTo>
                <a:lnTo>
                  <a:pt x="0" y="0"/>
                </a:lnTo>
                <a:close/>
              </a:path>
            </a:pathLst>
          </a:custGeom>
          <a:solidFill>
            <a:schemeClr val="bg2"/>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l">
              <a:lnSpc>
                <a:spcPct val="90000"/>
              </a:lnSpc>
              <a:spcAft>
                <a:spcPts val="1000"/>
              </a:spcAft>
            </a:pPr>
            <a:endParaRPr lang="en-US" sz="1200">
              <a:solidFill>
                <a:schemeClr val="bg1"/>
              </a:solidFill>
              <a:latin typeface="+mn-lt"/>
              <a:sym typeface="Trebuchet MS" panose="020B0603020202020204" pitchFamily="34" charset="0"/>
            </a:endParaRPr>
          </a:p>
        </p:txBody>
      </p:sp>
      <p:sp>
        <p:nvSpPr>
          <p:cNvPr id="13" name="Date Placeholder 4"/>
          <p:cNvSpPr>
            <a:spLocks noGrp="1"/>
          </p:cNvSpPr>
          <p:nvPr>
            <p:ph type="dt" sz="half" idx="10"/>
          </p:nvPr>
        </p:nvSpPr>
        <p:spPr>
          <a:xfrm>
            <a:off x="9677400" y="6405036"/>
            <a:ext cx="1482051" cy="153888"/>
          </a:xfrm>
          <a:prstGeom prst="rect">
            <a:avLst/>
          </a:prstGeom>
        </p:spPr>
        <p:txBody>
          <a:bodyPr/>
          <a:lstStyle>
            <a:lvl1pPr>
              <a:defRPr>
                <a:solidFill>
                  <a:schemeClr val="bg1"/>
                </a:solidFill>
                <a:latin typeface="+mn-lt"/>
                <a:sym typeface="Trebuchet MS" panose="020B0603020202020204" pitchFamily="34" charset="0"/>
              </a:defRPr>
            </a:lvl1pPr>
          </a:lstStyle>
          <a:p>
            <a:endParaRPr lang="en-US"/>
          </a:p>
        </p:txBody>
      </p:sp>
      <p:sp>
        <p:nvSpPr>
          <p:cNvPr id="9"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2024 by Boston Consulting Group. All rights reserved.</a:t>
            </a:r>
          </a:p>
        </p:txBody>
      </p:sp>
      <p:sp>
        <p:nvSpPr>
          <p:cNvPr id="15" name="TextBox 14"/>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
        <p:nvSpPr>
          <p:cNvPr id="11" name="Title 3"/>
          <p:cNvSpPr>
            <a:spLocks noGrp="1"/>
          </p:cNvSpPr>
          <p:nvPr>
            <p:ph type="title" hasCustomPrompt="1"/>
          </p:nvPr>
        </p:nvSpPr>
        <p:spPr>
          <a:xfrm>
            <a:off x="630000" y="622800"/>
            <a:ext cx="6256800" cy="470898"/>
          </a:xfrm>
          <a:prstGeom prst="rect">
            <a:avLst/>
          </a:prstGeom>
        </p:spPr>
        <p:txBody>
          <a:bodyPr vert="horz" wrap="square" lIns="0" tIns="0" rIns="0" bIns="0" anchor="t" anchorCtr="0">
            <a:spAutoFit/>
          </a:bodyPr>
          <a:lstStyle>
            <a:lvl1pPr marL="0" indent="0" algn="l">
              <a:lnSpc>
                <a:spcPct val="90000"/>
              </a:lnSpc>
              <a:spcBef>
                <a:spcPct val="0"/>
              </a:spcBef>
              <a:spcAft>
                <a:spcPts val="0"/>
              </a:spcAft>
              <a:defRPr sz="3400" b="0" i="0" u="none" kern="1200" spc="0">
                <a:solidFill>
                  <a:schemeClr val="tx2">
                    <a:lumMod val="100000"/>
                  </a:schemeClr>
                </a:solidFill>
                <a:latin typeface="+mj-lt"/>
                <a:sym typeface="Trebuchet MS" panose="020B0603020202020204" pitchFamily="34" charset="0"/>
              </a:defRPr>
            </a:lvl1pPr>
          </a:lstStyle>
          <a:p>
            <a:pPr lvl="0"/>
            <a:r>
              <a:rPr lang="en-US"/>
              <a:t>Click to add title</a:t>
            </a:r>
          </a:p>
        </p:txBody>
      </p:sp>
      <p:pic>
        <p:nvPicPr>
          <p:cNvPr id="16" name="Picture 15"/>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7490339" y="3589606"/>
            <a:ext cx="1365250" cy="3382962"/>
          </a:xfrm>
          <a:custGeom>
            <a:avLst/>
            <a:gdLst>
              <a:gd name="connsiteX0" fmla="*/ 911531 w 1365250"/>
              <a:gd name="connsiteY0" fmla="*/ 0 h 3382962"/>
              <a:gd name="connsiteX1" fmla="*/ 1365250 w 1365250"/>
              <a:gd name="connsiteY1" fmla="*/ 0 h 3382962"/>
              <a:gd name="connsiteX2" fmla="*/ 1365250 w 1365250"/>
              <a:gd name="connsiteY2" fmla="*/ 3382962 h 3382962"/>
              <a:gd name="connsiteX3" fmla="*/ 107988 w 1365250"/>
              <a:gd name="connsiteY3" fmla="*/ 3382962 h 3382962"/>
              <a:gd name="connsiteX4" fmla="*/ 111422 w 1365250"/>
              <a:gd name="connsiteY4" fmla="*/ 3368118 h 3382962"/>
              <a:gd name="connsiteX5" fmla="*/ 129661 w 1365250"/>
              <a:gd name="connsiteY5" fmla="*/ 3368407 h 3382962"/>
              <a:gd name="connsiteX6" fmla="*/ 890411 w 1365250"/>
              <a:gd name="connsiteY6" fmla="*/ 0 h 3382962"/>
              <a:gd name="connsiteX7" fmla="*/ 897808 w 1365250"/>
              <a:gd name="connsiteY7" fmla="*/ 0 h 3382962"/>
              <a:gd name="connsiteX8" fmla="*/ 870584 w 1365250"/>
              <a:gd name="connsiteY8" fmla="*/ 85726 h 3382962"/>
              <a:gd name="connsiteX9" fmla="*/ 0 w 1365250"/>
              <a:gd name="connsiteY9" fmla="*/ 0 h 3382962"/>
              <a:gd name="connsiteX10" fmla="*/ 852736 w 1365250"/>
              <a:gd name="connsiteY10" fmla="*/ 0 h 3382962"/>
              <a:gd name="connsiteX11" fmla="*/ 0 w 1365250"/>
              <a:gd name="connsiteY11" fmla="*/ 1883543 h 3382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5250" h="3382962">
                <a:moveTo>
                  <a:pt x="911531" y="0"/>
                </a:moveTo>
                <a:lnTo>
                  <a:pt x="1365250" y="0"/>
                </a:lnTo>
                <a:lnTo>
                  <a:pt x="1365250" y="3382962"/>
                </a:lnTo>
                <a:lnTo>
                  <a:pt x="107988" y="3382962"/>
                </a:lnTo>
                <a:lnTo>
                  <a:pt x="111422" y="3368118"/>
                </a:lnTo>
                <a:lnTo>
                  <a:pt x="129661" y="3368407"/>
                </a:lnTo>
                <a:close/>
                <a:moveTo>
                  <a:pt x="890411" y="0"/>
                </a:moveTo>
                <a:lnTo>
                  <a:pt x="897808" y="0"/>
                </a:lnTo>
                <a:lnTo>
                  <a:pt x="870584" y="85726"/>
                </a:lnTo>
                <a:close/>
                <a:moveTo>
                  <a:pt x="0" y="0"/>
                </a:moveTo>
                <a:lnTo>
                  <a:pt x="852736" y="0"/>
                </a:lnTo>
                <a:lnTo>
                  <a:pt x="0" y="1883543"/>
                </a:lnTo>
                <a:close/>
              </a:path>
            </a:pathLst>
          </a:cu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0028018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preserve="1" userDrawn="1">
  <p:cSld name="Green arrow two third">
    <p:bg>
      <p:bgPr>
        <a:solidFill>
          <a:srgbClr val="F2F2F2"/>
        </a:solidFill>
        <a:effectLst/>
      </p:bgPr>
    </p:bg>
    <p:spTree>
      <p:nvGrpSpPr>
        <p:cNvPr id="1" name=""/>
        <p:cNvGrpSpPr/>
        <p:nvPr/>
      </p:nvGrpSpPr>
      <p:grpSpPr>
        <a:xfrm>
          <a:off x="0" y="0"/>
          <a:ext cx="0" cy="0"/>
          <a:chOff x="0" y="0"/>
          <a:chExt cx="0" cy="0"/>
        </a:xfrm>
      </p:grpSpPr>
      <p:sp>
        <p:nvSpPr>
          <p:cNvPr id="12" name="Freeform 18"/>
          <p:cNvSpPr/>
          <p:nvPr userDrawn="1"/>
        </p:nvSpPr>
        <p:spPr bwMode="white">
          <a:xfrm>
            <a:off x="0" y="0"/>
            <a:ext cx="8446239" cy="6858000"/>
          </a:xfrm>
          <a:custGeom>
            <a:avLst/>
            <a:gdLst>
              <a:gd name="connsiteX0" fmla="*/ 0 w 8446239"/>
              <a:gd name="connsiteY0" fmla="*/ 0 h 6858000"/>
              <a:gd name="connsiteX1" fmla="*/ 7645979 w 8446239"/>
              <a:gd name="connsiteY1" fmla="*/ 0 h 6858000"/>
              <a:gd name="connsiteX2" fmla="*/ 8446239 w 8446239"/>
              <a:gd name="connsiteY2" fmla="*/ 3429000 h 6858000"/>
              <a:gd name="connsiteX3" fmla="*/ 7645979 w 8446239"/>
              <a:gd name="connsiteY3" fmla="*/ 6858000 h 6858000"/>
              <a:gd name="connsiteX4" fmla="*/ 0 w 8446239"/>
              <a:gd name="connsiteY4" fmla="*/ 6858000 h 6858000"/>
              <a:gd name="connsiteX5" fmla="*/ 0 w 8446239"/>
              <a:gd name="connsiteY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46239" h="6858000">
                <a:moveTo>
                  <a:pt x="0" y="0"/>
                </a:moveTo>
                <a:lnTo>
                  <a:pt x="7645979" y="0"/>
                </a:lnTo>
                <a:lnTo>
                  <a:pt x="8446239" y="3429000"/>
                </a:lnTo>
                <a:lnTo>
                  <a:pt x="7645979" y="6858000"/>
                </a:lnTo>
                <a:lnTo>
                  <a:pt x="0" y="6858000"/>
                </a:lnTo>
                <a:lnTo>
                  <a:pt x="0" y="0"/>
                </a:lnTo>
                <a:close/>
              </a:path>
            </a:pathLst>
          </a:custGeom>
          <a:gradFill>
            <a:gsLst>
              <a:gs pos="0">
                <a:schemeClr val="tx2"/>
              </a:gs>
              <a:gs pos="100000">
                <a:schemeClr val="accent2"/>
              </a:gs>
            </a:gsLst>
            <a:lin ang="8100000" scaled="1"/>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l">
              <a:lnSpc>
                <a:spcPct val="90000"/>
              </a:lnSpc>
              <a:spcAft>
                <a:spcPts val="1000"/>
              </a:spcAft>
            </a:pPr>
            <a:endParaRPr lang="en-US" sz="1200">
              <a:solidFill>
                <a:schemeClr val="bg1"/>
              </a:solidFill>
              <a:latin typeface="+mn-lt"/>
              <a:sym typeface="Trebuchet MS" panose="020B0603020202020204" pitchFamily="34" charset="0"/>
            </a:endParaRPr>
          </a:p>
        </p:txBody>
      </p:sp>
      <p:sp>
        <p:nvSpPr>
          <p:cNvPr id="11" name="Title 3"/>
          <p:cNvSpPr>
            <a:spLocks noGrp="1"/>
          </p:cNvSpPr>
          <p:nvPr>
            <p:ph type="title" hasCustomPrompt="1"/>
          </p:nvPr>
        </p:nvSpPr>
        <p:spPr>
          <a:xfrm>
            <a:off x="630000" y="622800"/>
            <a:ext cx="6256800" cy="470898"/>
          </a:xfrm>
          <a:prstGeom prst="rect">
            <a:avLst/>
          </a:prstGeom>
        </p:spPr>
        <p:txBody>
          <a:bodyPr vert="horz" wrap="square" lIns="0" tIns="0" rIns="0" bIns="0" anchor="t" anchorCtr="0">
            <a:spAutoFit/>
          </a:bodyPr>
          <a:lstStyle>
            <a:lvl1pPr marL="0" indent="0" algn="l">
              <a:lnSpc>
                <a:spcPct val="90000"/>
              </a:lnSpc>
              <a:spcBef>
                <a:spcPct val="0"/>
              </a:spcBef>
              <a:spcAft>
                <a:spcPts val="0"/>
              </a:spcAft>
              <a:defRPr sz="3400" b="0" i="0" u="none" kern="1200" spc="0">
                <a:solidFill>
                  <a:srgbClr val="FFFFFF"/>
                </a:solidFill>
                <a:latin typeface="+mj-lt"/>
                <a:sym typeface="Trebuchet MS" panose="020B0603020202020204" pitchFamily="34" charset="0"/>
              </a:defRPr>
            </a:lvl1pPr>
          </a:lstStyle>
          <a:p>
            <a:pPr lvl="0"/>
            <a:r>
              <a:rPr lang="en-US"/>
              <a:t>Click to add title</a:t>
            </a:r>
          </a:p>
        </p:txBody>
      </p:sp>
      <p:sp>
        <p:nvSpPr>
          <p:cNvPr id="17" name="Date Placeholder 3"/>
          <p:cNvSpPr>
            <a:spLocks noGrp="1"/>
          </p:cNvSpPr>
          <p:nvPr>
            <p:ph type="dt" sz="half" idx="2"/>
          </p:nvPr>
        </p:nvSpPr>
        <p:spPr>
          <a:xfrm>
            <a:off x="9677400" y="6405036"/>
            <a:ext cx="1482051" cy="153888"/>
          </a:xfrm>
          <a:prstGeom prst="rect">
            <a:avLst/>
          </a:prstGeom>
        </p:spPr>
        <p:txBody>
          <a:bodyPr vert="horz" wrap="square" lIns="0" tIns="0" rIns="0" bIns="0" rtlCol="0" anchor="b">
            <a:spAutoFit/>
          </a:bodyPr>
          <a:lstStyle>
            <a:lvl1pPr algn="r">
              <a:defRPr sz="1000">
                <a:solidFill>
                  <a:schemeClr val="bg1">
                    <a:lumMod val="50000"/>
                  </a:schemeClr>
                </a:solidFill>
                <a:latin typeface="+mn-lt"/>
                <a:sym typeface="Trebuchet MS" panose="020B0603020202020204" pitchFamily="34" charset="0"/>
              </a:defRPr>
            </a:lvl1pPr>
          </a:lstStyle>
          <a:p>
            <a:endParaRPr lang="en-US"/>
          </a:p>
        </p:txBody>
      </p:sp>
      <p:sp>
        <p:nvSpPr>
          <p:cNvPr id="18" name="TextBox 17"/>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lumMod val="50000"/>
                  </a:schemeClr>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lumMod val="50000"/>
                </a:schemeClr>
              </a:solidFill>
              <a:latin typeface="+mn-lt"/>
              <a:ea typeface="+mn-ea"/>
              <a:cs typeface="+mn-cs"/>
              <a:sym typeface="Trebuchet MS" panose="020B0603020202020204" pitchFamily="34" charset="0"/>
            </a:endParaRPr>
          </a:p>
        </p:txBody>
      </p:sp>
      <p:sp>
        <p:nvSpPr>
          <p:cNvPr id="19"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2024 by Boston Consulting Group. All rights reserved.</a:t>
            </a:r>
          </a:p>
        </p:txBody>
      </p:sp>
      <p:pic>
        <p:nvPicPr>
          <p:cNvPr id="9" name="Picture 8"/>
          <p:cNvPicPr>
            <a:picLocks noChangeAspect="1"/>
          </p:cNvPicPr>
          <p:nvPr userDrawn="1"/>
        </p:nvPicPr>
        <p:blipFill rotWithShape="1">
          <a:blip r:embed="rId2">
            <a:extLst>
              <a:ext uri="{28A0092B-C50C-407E-A947-70E740481C1C}">
                <a14:useLocalDpi xmlns:a14="http://schemas.microsoft.com/office/drawing/2010/main" val="0"/>
              </a:ext>
            </a:extLst>
          </a:blip>
          <a:srcRect t="9052" b="6867"/>
          <a:stretch/>
        </p:blipFill>
        <p:spPr>
          <a:xfrm rot="120000">
            <a:off x="6567628" y="3407803"/>
            <a:ext cx="2694666" cy="3456551"/>
          </a:xfrm>
          <a:custGeom>
            <a:avLst/>
            <a:gdLst>
              <a:gd name="connsiteX0" fmla="*/ 2068299 w 2694666"/>
              <a:gd name="connsiteY0" fmla="*/ 0 h 3456551"/>
              <a:gd name="connsiteX1" fmla="*/ 2694666 w 2694666"/>
              <a:gd name="connsiteY1" fmla="*/ 0 h 3456551"/>
              <a:gd name="connsiteX2" fmla="*/ 2694666 w 2694666"/>
              <a:gd name="connsiteY2" fmla="*/ 3456551 h 3456551"/>
              <a:gd name="connsiteX3" fmla="*/ 1434992 w 2694666"/>
              <a:gd name="connsiteY3" fmla="*/ 3456551 h 3456551"/>
              <a:gd name="connsiteX4" fmla="*/ 0 w 2694666"/>
              <a:gd name="connsiteY4" fmla="*/ 0 h 3456551"/>
              <a:gd name="connsiteX5" fmla="*/ 1825478 w 2694666"/>
              <a:gd name="connsiteY5" fmla="*/ 0 h 3456551"/>
              <a:gd name="connsiteX6" fmla="*/ 1138791 w 2694666"/>
              <a:gd name="connsiteY6" fmla="*/ 3456551 h 3456551"/>
              <a:gd name="connsiteX7" fmla="*/ 0 w 2694666"/>
              <a:gd name="connsiteY7" fmla="*/ 3456551 h 3456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4666" h="3456551">
                <a:moveTo>
                  <a:pt x="2068299" y="0"/>
                </a:moveTo>
                <a:lnTo>
                  <a:pt x="2694666" y="0"/>
                </a:lnTo>
                <a:lnTo>
                  <a:pt x="2694666" y="3456551"/>
                </a:lnTo>
                <a:lnTo>
                  <a:pt x="1434992" y="3456551"/>
                </a:lnTo>
                <a:close/>
                <a:moveTo>
                  <a:pt x="0" y="0"/>
                </a:moveTo>
                <a:lnTo>
                  <a:pt x="1825478" y="0"/>
                </a:lnTo>
                <a:lnTo>
                  <a:pt x="1138791" y="3456551"/>
                </a:lnTo>
                <a:lnTo>
                  <a:pt x="0" y="3456551"/>
                </a:lnTo>
                <a:close/>
              </a:path>
            </a:pathLst>
          </a:custGeom>
        </p:spPr>
      </p:pic>
    </p:spTree>
    <p:extLst>
      <p:ext uri="{BB962C8B-B14F-4D97-AF65-F5344CB8AC3E}">
        <p14:creationId xmlns:p14="http://schemas.microsoft.com/office/powerpoint/2010/main" val="336986575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showMasterSp="0" preserve="1" userDrawn="1">
  <p:cSld name="Big statement green">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sp>
        <p:nvSpPr>
          <p:cNvPr id="3" name="TextBox 2"/>
          <p:cNvSpPr txBox="1"/>
          <p:nvPr/>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
        <p:nvSpPr>
          <p:cNvPr id="4" name="Date Placeholder 3"/>
          <p:cNvSpPr>
            <a:spLocks noGrp="1"/>
          </p:cNvSpPr>
          <p:nvPr>
            <p:ph type="dt" sz="half" idx="10"/>
          </p:nvPr>
        </p:nvSpPr>
        <p:spPr>
          <a:xfrm>
            <a:off x="9677400" y="6405036"/>
            <a:ext cx="1482051" cy="153888"/>
          </a:xfrm>
          <a:prstGeom prst="rect">
            <a:avLst/>
          </a:prstGeom>
        </p:spPr>
        <p:txBody>
          <a:bodyPr/>
          <a:lstStyle>
            <a:lvl1pPr>
              <a:defRPr>
                <a:solidFill>
                  <a:schemeClr val="bg1"/>
                </a:solidFill>
                <a:latin typeface="+mn-lt"/>
                <a:sym typeface="Trebuchet MS" panose="020B0603020202020204" pitchFamily="34" charset="0"/>
              </a:defRPr>
            </a:lvl1pPr>
          </a:lstStyle>
          <a:p>
            <a:endParaRPr lang="en-US"/>
          </a:p>
        </p:txBody>
      </p:sp>
      <p:sp>
        <p:nvSpPr>
          <p:cNvPr id="9"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2024 by Boston Consulting Group. All rights reserved.</a:t>
            </a:r>
          </a:p>
        </p:txBody>
      </p:sp>
      <p:sp>
        <p:nvSpPr>
          <p:cNvPr id="8" name="Title 1"/>
          <p:cNvSpPr>
            <a:spLocks noGrp="1"/>
          </p:cNvSpPr>
          <p:nvPr>
            <p:ph type="title" hasCustomPrompt="1"/>
          </p:nvPr>
        </p:nvSpPr>
        <p:spPr>
          <a:xfrm>
            <a:off x="630000" y="3826333"/>
            <a:ext cx="10933200" cy="1606550"/>
          </a:xfrm>
        </p:spPr>
        <p:txBody>
          <a:bodyPr anchor="b">
            <a:noAutofit/>
          </a:bodyPr>
          <a:lstStyle>
            <a:lvl1pPr marL="0" algn="l" defTabSz="914400" rtl="0" eaLnBrk="1" fontAlgn="auto" latinLnBrk="0" hangingPunct="1">
              <a:lnSpc>
                <a:spcPts val="6000"/>
              </a:lnSpc>
              <a:spcBef>
                <a:spcPts val="0"/>
              </a:spcBef>
              <a:spcAft>
                <a:spcPts val="0"/>
              </a:spcAft>
              <a:defRPr lang="en-US" sz="5400" kern="1200" baseline="0" dirty="0">
                <a:solidFill>
                  <a:schemeClr val="bg1"/>
                </a:solidFill>
                <a:latin typeface="+mj-lt"/>
                <a:ea typeface="+mn-ea"/>
                <a:cs typeface="Arial" panose="020B0604020202020204" pitchFamily="34" charset="0"/>
                <a:sym typeface="Trebuchet MS" panose="020B0603020202020204" pitchFamily="34" charset="0"/>
              </a:defRPr>
            </a:lvl1pPr>
          </a:lstStyle>
          <a:p>
            <a:r>
              <a:rPr lang="en-US"/>
              <a:t>Click to add big statement text</a:t>
            </a:r>
          </a:p>
        </p:txBody>
      </p:sp>
    </p:spTree>
    <p:extLst>
      <p:ext uri="{BB962C8B-B14F-4D97-AF65-F5344CB8AC3E}">
        <p14:creationId xmlns:p14="http://schemas.microsoft.com/office/powerpoint/2010/main" val="27055804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Big statement icon">
    <p:bg>
      <p:bgPr>
        <a:solidFill>
          <a:schemeClr val="bg1">
            <a:lumMod val="95000"/>
          </a:schemeClr>
        </a:solidFill>
        <a:effectLst/>
      </p:bgPr>
    </p:bg>
    <p:spTree>
      <p:nvGrpSpPr>
        <p:cNvPr id="1" name=""/>
        <p:cNvGrpSpPr/>
        <p:nvPr/>
      </p:nvGrpSpPr>
      <p:grpSpPr>
        <a:xfrm>
          <a:off x="0" y="0"/>
          <a:ext cx="0" cy="0"/>
          <a:chOff x="0" y="0"/>
          <a:chExt cx="0" cy="0"/>
        </a:xfrm>
      </p:grpSpPr>
      <p:sp>
        <p:nvSpPr>
          <p:cNvPr id="3" name="Date Placeholder 2"/>
          <p:cNvSpPr>
            <a:spLocks noGrp="1"/>
          </p:cNvSpPr>
          <p:nvPr>
            <p:ph type="dt" sz="half" idx="10"/>
          </p:nvPr>
        </p:nvSpPr>
        <p:spPr>
          <a:xfrm>
            <a:off x="9677400" y="6405036"/>
            <a:ext cx="1482051" cy="153888"/>
          </a:xfrm>
          <a:prstGeom prst="rect">
            <a:avLst/>
          </a:prstGeom>
        </p:spPr>
        <p:txBody>
          <a:bodyPr/>
          <a:lstStyle>
            <a:lvl1pPr>
              <a:defRPr>
                <a:solidFill>
                  <a:schemeClr val="bg1">
                    <a:lumMod val="50000"/>
                  </a:schemeClr>
                </a:solidFill>
                <a:latin typeface="+mn-lt"/>
                <a:sym typeface="Trebuchet MS" panose="020B0603020202020204" pitchFamily="34" charset="0"/>
              </a:defRPr>
            </a:lvl1pPr>
          </a:lstStyle>
          <a:p>
            <a:endParaRPr lang="en-US"/>
          </a:p>
        </p:txBody>
      </p:sp>
      <p:sp>
        <p:nvSpPr>
          <p:cNvPr id="9"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2024 by Boston Consulting Group. All rights reserved.</a:t>
            </a:r>
          </a:p>
        </p:txBody>
      </p:sp>
      <p:sp>
        <p:nvSpPr>
          <p:cNvPr id="6" name="Rectangle 5"/>
          <p:cNvSpPr/>
          <p:nvPr userDrawn="1"/>
        </p:nvSpPr>
        <p:spPr bwMode="white">
          <a:xfrm>
            <a:off x="630000" y="625475"/>
            <a:ext cx="932688" cy="932688"/>
          </a:xfrm>
          <a:prstGeom prst="rect">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l"/>
            <a:endParaRPr lang="en-US" sz="1200">
              <a:solidFill>
                <a:schemeClr val="bg1"/>
              </a:solidFill>
              <a:latin typeface="+mn-lt"/>
              <a:sym typeface="Trebuchet MS" panose="020B0603020202020204" pitchFamily="34" charset="0"/>
            </a:endParaRPr>
          </a:p>
        </p:txBody>
      </p:sp>
      <p:sp>
        <p:nvSpPr>
          <p:cNvPr id="7" name="Title 1"/>
          <p:cNvSpPr>
            <a:spLocks noGrp="1"/>
          </p:cNvSpPr>
          <p:nvPr>
            <p:ph type="title" hasCustomPrompt="1"/>
          </p:nvPr>
        </p:nvSpPr>
        <p:spPr>
          <a:xfrm>
            <a:off x="630000" y="3826333"/>
            <a:ext cx="10933200" cy="1606550"/>
          </a:xfrm>
          <a:prstGeom prst="rect">
            <a:avLst/>
          </a:prstGeom>
        </p:spPr>
        <p:txBody>
          <a:bodyPr anchor="b">
            <a:noAutofit/>
          </a:bodyPr>
          <a:lstStyle>
            <a:lvl1pPr marL="0" algn="l" defTabSz="914400" rtl="0" eaLnBrk="1" fontAlgn="auto" latinLnBrk="0" hangingPunct="1">
              <a:lnSpc>
                <a:spcPts val="6000"/>
              </a:lnSpc>
              <a:spcBef>
                <a:spcPts val="0"/>
              </a:spcBef>
              <a:spcAft>
                <a:spcPts val="0"/>
              </a:spcAft>
              <a:defRPr lang="en-US" sz="5400" kern="1200" baseline="0" dirty="0">
                <a:solidFill>
                  <a:schemeClr val="accent4"/>
                </a:solidFill>
                <a:latin typeface="+mj-lt"/>
                <a:ea typeface="+mn-ea"/>
                <a:cs typeface="Arial" panose="020B0604020202020204" pitchFamily="34" charset="0"/>
                <a:sym typeface="Trebuchet MS" panose="020B0603020202020204" pitchFamily="34" charset="0"/>
              </a:defRPr>
            </a:lvl1pPr>
          </a:lstStyle>
          <a:p>
            <a:r>
              <a:rPr lang="en-US"/>
              <a:t>Click to add big statement text</a:t>
            </a:r>
          </a:p>
        </p:txBody>
      </p:sp>
    </p:spTree>
    <p:extLst>
      <p:ext uri="{BB962C8B-B14F-4D97-AF65-F5344CB8AC3E}">
        <p14:creationId xmlns:p14="http://schemas.microsoft.com/office/powerpoint/2010/main" val="337966267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2.xml><?xml version="1.0" encoding="utf-8"?>
<p:sldLayout xmlns:a="http://schemas.openxmlformats.org/drawingml/2006/main" xmlns:r="http://schemas.openxmlformats.org/officeDocument/2006/relationships" xmlns:p="http://schemas.openxmlformats.org/presentationml/2006/main" showMasterSp="0" preserve="1" userDrawn="1">
  <p:cSld name="Quote">
    <p:bg>
      <p:bgPr>
        <a:solidFill>
          <a:schemeClr val="accent1"/>
        </a:solidFill>
        <a:effectLst/>
      </p:bgPr>
    </p:bg>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1"/>
            </p:custDataLst>
            <p:extLst>
              <p:ext uri="{D42A27DB-BD31-4B8C-83A1-F6EECF244321}">
                <p14:modId xmlns:p14="http://schemas.microsoft.com/office/powerpoint/2010/main" val="842619711"/>
              </p:ext>
            </p:ext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3" imgW="324" imgH="324" progId="TCLayout.ActiveDocument.1">
                  <p:embed/>
                </p:oleObj>
              </mc:Choice>
              <mc:Fallback>
                <p:oleObj name="think-cell Slide" r:id="rId3" imgW="324" imgH="324" progId="TCLayout.ActiveDocument.1">
                  <p:embed/>
                  <p:pic>
                    <p:nvPicPr>
                      <p:cNvPr id="2" name="Object 1" hidden="1"/>
                      <p:cNvPicPr/>
                      <p:nvPr/>
                    </p:nvPicPr>
                    <p:blipFill>
                      <a:blip r:embed="rId4"/>
                      <a:stretch>
                        <a:fillRect/>
                      </a:stretch>
                    </p:blipFill>
                    <p:spPr>
                      <a:xfrm>
                        <a:off x="1588" y="1588"/>
                        <a:ext cx="1587" cy="1587"/>
                      </a:xfrm>
                      <a:prstGeom prst="rect">
                        <a:avLst/>
                      </a:prstGeom>
                    </p:spPr>
                  </p:pic>
                </p:oleObj>
              </mc:Fallback>
            </mc:AlternateContent>
          </a:graphicData>
        </a:graphic>
      </p:graphicFrame>
      <p:sp>
        <p:nvSpPr>
          <p:cNvPr id="6" name="TextBox 5"/>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pic>
        <p:nvPicPr>
          <p:cNvPr id="7" name="Picture 6"/>
          <p:cNvPicPr>
            <a:picLocks noChangeAspect="1"/>
          </p:cNvPicPr>
          <p:nvPr userDrawn="1"/>
        </p:nvPicPr>
        <p:blipFill rotWithShape="1">
          <a:blip r:embed="rId5">
            <a:extLst>
              <a:ext uri="{28A0092B-C50C-407E-A947-70E740481C1C}">
                <a14:useLocalDpi xmlns:a14="http://schemas.microsoft.com/office/drawing/2010/main" val="0"/>
              </a:ext>
            </a:extLst>
          </a:blip>
          <a:srcRect r="3634" b="1258"/>
          <a:stretch/>
        </p:blipFill>
        <p:spPr>
          <a:xfrm rot="16200000" flipH="1">
            <a:off x="6797461" y="101443"/>
            <a:ext cx="769257" cy="10019821"/>
          </a:xfrm>
          <a:custGeom>
            <a:avLst/>
            <a:gdLst>
              <a:gd name="connsiteX0" fmla="*/ 0 w 769257"/>
              <a:gd name="connsiteY0" fmla="*/ 0 h 10019821"/>
              <a:gd name="connsiteX1" fmla="*/ 0 w 769257"/>
              <a:gd name="connsiteY1" fmla="*/ 4631160 h 10019821"/>
              <a:gd name="connsiteX2" fmla="*/ 216750 w 769257"/>
              <a:gd name="connsiteY2" fmla="*/ 999646 h 10019821"/>
              <a:gd name="connsiteX3" fmla="*/ 197800 w 769257"/>
              <a:gd name="connsiteY3" fmla="*/ 10019821 h 10019821"/>
              <a:gd name="connsiteX4" fmla="*/ 769257 w 769257"/>
              <a:gd name="connsiteY4" fmla="*/ 10019821 h 10019821"/>
              <a:gd name="connsiteX5" fmla="*/ 769257 w 769257"/>
              <a:gd name="connsiteY5" fmla="*/ 0 h 10019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9257" h="10019821">
                <a:moveTo>
                  <a:pt x="0" y="0"/>
                </a:moveTo>
                <a:lnTo>
                  <a:pt x="0" y="4631160"/>
                </a:lnTo>
                <a:lnTo>
                  <a:pt x="216750" y="999646"/>
                </a:lnTo>
                <a:lnTo>
                  <a:pt x="197800" y="10019821"/>
                </a:lnTo>
                <a:lnTo>
                  <a:pt x="769257" y="10019821"/>
                </a:lnTo>
                <a:lnTo>
                  <a:pt x="769257" y="0"/>
                </a:lnTo>
                <a:close/>
              </a:path>
            </a:pathLst>
          </a:custGeom>
        </p:spPr>
      </p:pic>
      <p:sp>
        <p:nvSpPr>
          <p:cNvPr id="59" name="Freeform 58"/>
          <p:cNvSpPr>
            <a:spLocks/>
          </p:cNvSpPr>
          <p:nvPr/>
        </p:nvSpPr>
        <p:spPr bwMode="white">
          <a:xfrm flipH="1">
            <a:off x="0" y="0"/>
            <a:ext cx="12192000" cy="5867335"/>
          </a:xfrm>
          <a:custGeom>
            <a:avLst/>
            <a:gdLst>
              <a:gd name="connsiteX0" fmla="*/ 12192000 w 12192000"/>
              <a:gd name="connsiteY0" fmla="*/ 0 h 5867335"/>
              <a:gd name="connsiteX1" fmla="*/ 0 w 12192000"/>
              <a:gd name="connsiteY1" fmla="*/ 0 h 5867335"/>
              <a:gd name="connsiteX2" fmla="*/ 0 w 12192000"/>
              <a:gd name="connsiteY2" fmla="*/ 4945992 h 5867335"/>
              <a:gd name="connsiteX3" fmla="*/ 9041587 w 12192000"/>
              <a:gd name="connsiteY3" fmla="*/ 4945992 h 5867335"/>
              <a:gd name="connsiteX4" fmla="*/ 9974275 w 12192000"/>
              <a:gd name="connsiteY4" fmla="*/ 5867335 h 5867335"/>
              <a:gd name="connsiteX5" fmla="*/ 9974275 w 12192000"/>
              <a:gd name="connsiteY5" fmla="*/ 4945992 h 5867335"/>
              <a:gd name="connsiteX6" fmla="*/ 12192000 w 12192000"/>
              <a:gd name="connsiteY6" fmla="*/ 4945992 h 586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92000" h="5867335">
                <a:moveTo>
                  <a:pt x="12192000" y="0"/>
                </a:moveTo>
                <a:lnTo>
                  <a:pt x="0" y="0"/>
                </a:lnTo>
                <a:lnTo>
                  <a:pt x="0" y="4945992"/>
                </a:lnTo>
                <a:lnTo>
                  <a:pt x="9041587" y="4945992"/>
                </a:lnTo>
                <a:lnTo>
                  <a:pt x="9974275" y="5867335"/>
                </a:lnTo>
                <a:lnTo>
                  <a:pt x="9974275" y="4945992"/>
                </a:lnTo>
                <a:lnTo>
                  <a:pt x="12192000" y="4945992"/>
                </a:lnTo>
                <a:close/>
              </a:path>
            </a:pathLst>
          </a:custGeom>
          <a:solidFill>
            <a:schemeClr val="tx2"/>
          </a:solidFill>
          <a:ln>
            <a:noFill/>
          </a:ln>
          <a:effectLst/>
        </p:spPr>
        <p:txBody>
          <a:bodyPr vert="horz" wrap="square" lIns="91440" tIns="45720" rIns="91440" bIns="45720" numCol="1" anchor="t" anchorCtr="0" compatLnSpc="1">
            <a:prstTxWarp prst="textNoShape">
              <a:avLst/>
            </a:prstTxWarp>
            <a:noAutofit/>
          </a:bodyPr>
          <a:lstStyle/>
          <a:p>
            <a:endParaRPr lang="en-US">
              <a:latin typeface="+mn-lt"/>
              <a:sym typeface="Trebuchet MS" panose="020B0603020202020204" pitchFamily="34" charset="0"/>
            </a:endParaRPr>
          </a:p>
        </p:txBody>
      </p:sp>
    </p:spTree>
    <p:extLst>
      <p:ext uri="{BB962C8B-B14F-4D97-AF65-F5344CB8AC3E}">
        <p14:creationId xmlns:p14="http://schemas.microsoft.com/office/powerpoint/2010/main" val="120217922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preserve="1" userDrawn="1">
  <p:cSld name="Special gray">
    <p:bg>
      <p:bgPr>
        <a:solidFill>
          <a:schemeClr val="tx1">
            <a:lumMod val="50000"/>
          </a:schemeClr>
        </a:solidFill>
        <a:effectLst/>
      </p:bgPr>
    </p:bg>
    <p:spTree>
      <p:nvGrpSpPr>
        <p:cNvPr id="1" name=""/>
        <p:cNvGrpSpPr/>
        <p:nvPr/>
      </p:nvGrpSpPr>
      <p:grpSpPr>
        <a:xfrm>
          <a:off x="0" y="0"/>
          <a:ext cx="0" cy="0"/>
          <a:chOff x="0" y="0"/>
          <a:chExt cx="0" cy="0"/>
        </a:xfrm>
      </p:grpSpPr>
      <p:sp>
        <p:nvSpPr>
          <p:cNvPr id="5" name="TextBox 4"/>
          <p:cNvSpPr txBox="1"/>
          <p:nvPr userDrawn="1"/>
        </p:nvSpPr>
        <p:spPr bwMode="white">
          <a:xfrm>
            <a:off x="11167872" y="6404400"/>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
        <p:nvSpPr>
          <p:cNvPr id="2" name="Date Placeholder 1"/>
          <p:cNvSpPr>
            <a:spLocks noGrp="1"/>
          </p:cNvSpPr>
          <p:nvPr>
            <p:ph type="dt" sz="half" idx="14"/>
          </p:nvPr>
        </p:nvSpPr>
        <p:spPr bwMode="white">
          <a:xfrm>
            <a:off x="9677400" y="6405036"/>
            <a:ext cx="1482051" cy="153888"/>
          </a:xfrm>
          <a:prstGeom prst="rect">
            <a:avLst/>
          </a:prstGeom>
        </p:spPr>
        <p:txBody>
          <a:bodyPr/>
          <a:lstStyle>
            <a:lvl1pPr>
              <a:defRPr>
                <a:solidFill>
                  <a:schemeClr val="bg1"/>
                </a:solidFill>
                <a:latin typeface="+mn-lt"/>
                <a:sym typeface="Trebuchet MS" panose="020B0603020202020204" pitchFamily="34" charset="0"/>
              </a:defRPr>
            </a:lvl1pPr>
          </a:lstStyle>
          <a:p>
            <a:endParaRPr lang="en-US"/>
          </a:p>
        </p:txBody>
      </p:sp>
      <p:sp>
        <p:nvSpPr>
          <p:cNvPr id="11"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2024 by Boston Consulting Group. All rights reserved.</a:t>
            </a:r>
          </a:p>
        </p:txBody>
      </p:sp>
      <p:sp>
        <p:nvSpPr>
          <p:cNvPr id="4" name="Title 3"/>
          <p:cNvSpPr>
            <a:spLocks noGrp="1"/>
          </p:cNvSpPr>
          <p:nvPr>
            <p:ph type="title" hasCustomPrompt="1"/>
          </p:nvPr>
        </p:nvSpPr>
        <p:spPr>
          <a:xfrm>
            <a:off x="630000" y="622800"/>
            <a:ext cx="10933200" cy="470898"/>
          </a:xfrm>
        </p:spPr>
        <p:txBody>
          <a:bodyPr/>
          <a:lstStyle>
            <a:lvl1pPr>
              <a:defRPr sz="3400">
                <a:solidFill>
                  <a:schemeClr val="bg1"/>
                </a:solidFill>
                <a:latin typeface="+mj-lt"/>
                <a:sym typeface="Trebuchet MS" panose="020B0603020202020204" pitchFamily="34" charset="0"/>
              </a:defRPr>
            </a:lvl1pPr>
          </a:lstStyle>
          <a:p>
            <a:r>
              <a:rPr lang="en-US"/>
              <a:t>Click to add title</a:t>
            </a:r>
          </a:p>
        </p:txBody>
      </p:sp>
    </p:spTree>
    <p:extLst>
      <p:ext uri="{BB962C8B-B14F-4D97-AF65-F5344CB8AC3E}">
        <p14:creationId xmlns:p14="http://schemas.microsoft.com/office/powerpoint/2010/main" val="183007393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4.xml><?xml version="1.0" encoding="utf-8"?>
<p:sldLayout xmlns:a="http://schemas.openxmlformats.org/drawingml/2006/main" xmlns:r="http://schemas.openxmlformats.org/officeDocument/2006/relationships" xmlns:p="http://schemas.openxmlformats.org/presentationml/2006/main" type="blank" preserve="1">
  <p:cSld name="Blank">
    <p:bg>
      <p:bgPr>
        <a:solidFill>
          <a:schemeClr val="bg2"/>
        </a:solidFill>
        <a:effectLst/>
      </p:bgPr>
    </p:bg>
    <p:spTree>
      <p:nvGrpSpPr>
        <p:cNvPr id="1" name=""/>
        <p:cNvGrpSpPr/>
        <p:nvPr/>
      </p:nvGrpSpPr>
      <p:grpSpPr>
        <a:xfrm>
          <a:off x="0" y="0"/>
          <a:ext cx="0" cy="0"/>
          <a:chOff x="0" y="0"/>
          <a:chExt cx="0" cy="0"/>
        </a:xfrm>
      </p:grpSpPr>
      <p:sp>
        <p:nvSpPr>
          <p:cNvPr id="5" name="Date Placeholder 4"/>
          <p:cNvSpPr>
            <a:spLocks noGrp="1"/>
          </p:cNvSpPr>
          <p:nvPr>
            <p:ph type="dt" sz="half" idx="12"/>
          </p:nvPr>
        </p:nvSpPr>
        <p:spPr>
          <a:xfrm>
            <a:off x="9677400" y="6405036"/>
            <a:ext cx="1482051" cy="153888"/>
          </a:xfrm>
          <a:prstGeom prst="rect">
            <a:avLst/>
          </a:prstGeom>
        </p:spPr>
        <p:txBody>
          <a:bodyPr/>
          <a:lstStyle>
            <a:lvl1pPr>
              <a:defRPr>
                <a:solidFill>
                  <a:schemeClr val="bg1">
                    <a:lumMod val="50000"/>
                  </a:schemeClr>
                </a:solidFill>
                <a:latin typeface="+mn-lt"/>
                <a:sym typeface="Trebuchet MS" panose="020B0603020202020204" pitchFamily="34" charset="0"/>
              </a:defRPr>
            </a:lvl1pPr>
          </a:lstStyle>
          <a:p>
            <a:endParaRPr lang="en-US"/>
          </a:p>
        </p:txBody>
      </p:sp>
      <p:sp>
        <p:nvSpPr>
          <p:cNvPr id="7"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2024 by Boston Consulting Group. All rights reserved.</a:t>
            </a:r>
          </a:p>
        </p:txBody>
      </p:sp>
    </p:spTree>
    <p:extLst>
      <p:ext uri="{BB962C8B-B14F-4D97-AF65-F5344CB8AC3E}">
        <p14:creationId xmlns:p14="http://schemas.microsoft.com/office/powerpoint/2010/main" val="301425206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5.xml><?xml version="1.0" encoding="utf-8"?>
<p:sldLayout xmlns:a="http://schemas.openxmlformats.org/drawingml/2006/main" xmlns:r="http://schemas.openxmlformats.org/officeDocument/2006/relationships" xmlns:p="http://schemas.openxmlformats.org/presentationml/2006/main" showMasterSp="0" preserve="1" userDrawn="1">
  <p:cSld name="Blank green">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sp>
        <p:nvSpPr>
          <p:cNvPr id="7" name="TextBox 6"/>
          <p:cNvSpPr txBox="1"/>
          <p:nvPr userDrawn="1"/>
        </p:nvSpPr>
        <p:spPr bwMode="white">
          <a:xfrm>
            <a:off x="11167872" y="6404400"/>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
        <p:nvSpPr>
          <p:cNvPr id="2" name="Date Placeholder 1"/>
          <p:cNvSpPr>
            <a:spLocks noGrp="1"/>
          </p:cNvSpPr>
          <p:nvPr>
            <p:ph type="dt" sz="half" idx="12"/>
          </p:nvPr>
        </p:nvSpPr>
        <p:spPr>
          <a:xfrm>
            <a:off x="9677400" y="6405036"/>
            <a:ext cx="1482051" cy="153888"/>
          </a:xfrm>
          <a:prstGeom prst="rect">
            <a:avLst/>
          </a:prstGeom>
        </p:spPr>
        <p:txBody>
          <a:bodyPr/>
          <a:lstStyle>
            <a:lvl1pPr>
              <a:defRPr>
                <a:solidFill>
                  <a:schemeClr val="bg1"/>
                </a:solidFill>
                <a:latin typeface="+mn-lt"/>
                <a:sym typeface="Trebuchet MS" panose="020B0603020202020204" pitchFamily="34" charset="0"/>
              </a:defRPr>
            </a:lvl1pPr>
          </a:lstStyle>
          <a:p>
            <a:endParaRPr lang="en-US"/>
          </a:p>
        </p:txBody>
      </p:sp>
      <p:sp>
        <p:nvSpPr>
          <p:cNvPr id="9"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2024 by Boston Consulting Group. All rights reserved.</a:t>
            </a:r>
          </a:p>
        </p:txBody>
      </p:sp>
    </p:spTree>
    <p:extLst>
      <p:ext uri="{BB962C8B-B14F-4D97-AF65-F5344CB8AC3E}">
        <p14:creationId xmlns:p14="http://schemas.microsoft.com/office/powerpoint/2010/main" val="290231099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p:cSld name="Disclaimer">
    <p:bg>
      <p:bgPr>
        <a:solidFill>
          <a:schemeClr val="bg2"/>
        </a:solidFill>
        <a:effectLst/>
      </p:bgPr>
    </p:bg>
    <p:spTree>
      <p:nvGrpSpPr>
        <p:cNvPr id="1" name=""/>
        <p:cNvGrpSpPr/>
        <p:nvPr/>
      </p:nvGrpSpPr>
      <p:grpSpPr>
        <a:xfrm>
          <a:off x="0" y="0"/>
          <a:ext cx="0" cy="0"/>
          <a:chOff x="0" y="0"/>
          <a:chExt cx="0" cy="0"/>
        </a:xfrm>
      </p:grpSpPr>
      <p:sp>
        <p:nvSpPr>
          <p:cNvPr id="6" name="Rectangle 5"/>
          <p:cNvSpPr/>
          <p:nvPr/>
        </p:nvSpPr>
        <p:spPr>
          <a:xfrm>
            <a:off x="5021826" y="1664256"/>
            <a:ext cx="6209072" cy="3323987"/>
          </a:xfrm>
          <a:prstGeom prst="rect">
            <a:avLst/>
          </a:prstGeom>
        </p:spPr>
        <p:txBody>
          <a:bodyPr wrap="square" lIns="0" tIns="0" rIns="0" bIns="0" anchor="ctr">
            <a:spAutoFit/>
          </a:bodyPr>
          <a:lstStyle/>
          <a:p>
            <a:pPr indent="0">
              <a:lnSpc>
                <a:spcPct val="100000"/>
              </a:lnSpc>
            </a:pPr>
            <a:r>
              <a:rPr lang="en-US" sz="900" b="0">
                <a:latin typeface="+mn-lt"/>
                <a:sym typeface="Trebuchet MS" panose="020B0603020202020204" pitchFamily="34" charset="0"/>
              </a:rPr>
              <a:t>The services and materials provided by Boston Consulting Group (BCG) are subject to BCG's Standard Terms </a:t>
            </a:r>
            <a:br>
              <a:rPr lang="en-US" sz="900" b="0">
                <a:latin typeface="+mn-lt"/>
                <a:sym typeface="Trebuchet MS" panose="020B0603020202020204" pitchFamily="34" charset="0"/>
              </a:rPr>
            </a:br>
            <a:r>
              <a:rPr lang="en-US" sz="900" b="0">
                <a:latin typeface="+mn-lt"/>
                <a:sym typeface="Trebuchet MS" panose="020B0603020202020204" pitchFamily="34" charset="0"/>
              </a:rPr>
              <a:t>(a copy of which is available upon request) or such other agreement as may have been previously executed by BCG. BCG does not provide legal, accounting, or tax advice. The Client is responsible for obtaining independent advice concerning these matters. This advice may affect the guidance given by BCG. Further, BCG has made no undertaking </a:t>
            </a:r>
            <a:br>
              <a:rPr lang="en-US" sz="900" b="0">
                <a:latin typeface="+mn-lt"/>
                <a:sym typeface="Trebuchet MS" panose="020B0603020202020204" pitchFamily="34" charset="0"/>
              </a:rPr>
            </a:br>
            <a:r>
              <a:rPr lang="en-US" sz="900" b="0">
                <a:latin typeface="+mn-lt"/>
                <a:sym typeface="Trebuchet MS" panose="020B0603020202020204" pitchFamily="34" charset="0"/>
              </a:rPr>
              <a:t>to update these materials after the date hereof, notwithstanding that such information may become outdated </a:t>
            </a:r>
            <a:br>
              <a:rPr lang="en-US" sz="900" b="0">
                <a:latin typeface="+mn-lt"/>
                <a:sym typeface="Trebuchet MS" panose="020B0603020202020204" pitchFamily="34" charset="0"/>
              </a:rPr>
            </a:br>
            <a:r>
              <a:rPr lang="en-US" sz="900" b="0">
                <a:latin typeface="+mn-lt"/>
                <a:sym typeface="Trebuchet MS" panose="020B0603020202020204" pitchFamily="34" charset="0"/>
              </a:rPr>
              <a:t>or inaccurate.</a:t>
            </a:r>
          </a:p>
          <a:p>
            <a:pPr indent="0">
              <a:lnSpc>
                <a:spcPct val="100000"/>
              </a:lnSpc>
            </a:pPr>
            <a:r>
              <a:rPr lang="en-US" sz="900" b="0">
                <a:latin typeface="+mn-lt"/>
                <a:sym typeface="Trebuchet MS" panose="020B0603020202020204" pitchFamily="34" charset="0"/>
              </a:rPr>
              <a:t> </a:t>
            </a:r>
          </a:p>
          <a:p>
            <a:pPr indent="0">
              <a:lnSpc>
                <a:spcPct val="100000"/>
              </a:lnSpc>
            </a:pPr>
            <a:r>
              <a:rPr lang="en-US" sz="900" b="0">
                <a:latin typeface="+mn-lt"/>
                <a:sym typeface="Trebuchet MS" panose="020B0603020202020204" pitchFamily="34" charset="0"/>
              </a:rPr>
              <a:t>The materials contained in this presentation are designed for the sole use by the board of directors or senior management of the Client and solely for the limited purposes described in the presentation. The materials shall not be copied or given to any person or entity other than the Client (“Third Party”) without the prior written consent of BCG. These materials serve only as the focus for discussion; they are incomplete without the accompanying oral commentary and may not be relied on as a stand-alone document. Further, Third Parties may not, and it is unreasonable for any Third Party to, rely on these materials for any purpose whatsoever. To the fullest extent permitted by law (and except to the extent otherwise agreed in a signed writing by BCG), BCG shall have no liability whatsoever to any Third Party, and any Third Party hereby waives any rights and claims it may have at any time against BCG with regard to the services, this presentation, or other materials, including the accuracy or completeness thereof. Receipt and review of this document shall be deemed agreement with and consideration for the foregoing.</a:t>
            </a:r>
          </a:p>
          <a:p>
            <a:pPr indent="0">
              <a:lnSpc>
                <a:spcPct val="100000"/>
              </a:lnSpc>
            </a:pPr>
            <a:endParaRPr lang="en-US" sz="900" b="0">
              <a:latin typeface="+mn-lt"/>
              <a:sym typeface="Trebuchet MS" panose="020B0603020202020204" pitchFamily="34" charset="0"/>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900" b="0">
                <a:latin typeface="+mn-lt"/>
                <a:sym typeface="Trebuchet MS" panose="020B0603020202020204" pitchFamily="34" charset="0"/>
              </a:rPr>
              <a:t>BCG does not provide fairness opinions or valuations of market transactions, and these materials should not be relied on or construed as such. Further, the financial evaluations, projected market and financial information, and conclusions contained in these materials are based upon standard valuation methodologies, are not definitive forecasts, and are not guaranteed by BCG. BCG has used public and/or confidential data and assumptions provided to BCG by the Client. BCG has not independently verified the data and assumptions used in these analyses. Changes in the underlying data or operating assumptions will clearly impact the analyses and conclusions.</a:t>
            </a:r>
          </a:p>
        </p:txBody>
      </p:sp>
      <p:sp>
        <p:nvSpPr>
          <p:cNvPr id="7" name="Title 6"/>
          <p:cNvSpPr txBox="1">
            <a:spLocks/>
          </p:cNvSpPr>
          <p:nvPr/>
        </p:nvSpPr>
        <p:spPr>
          <a:xfrm>
            <a:off x="639044" y="2973076"/>
            <a:ext cx="3199529" cy="706347"/>
          </a:xfrm>
          <a:prstGeom prst="rect">
            <a:avLst/>
          </a:prstGeom>
        </p:spPr>
        <p:txBody>
          <a:bodyPr vert="horz" wrap="square" lIns="0" tIns="0" rIns="0" bIns="0" rtlCol="0" anchor="ctr">
            <a:sp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defRPr>
            </a:lvl1pPr>
          </a:lstStyle>
          <a:p>
            <a:r>
              <a:rPr lang="en-US" sz="5100">
                <a:gradFill>
                  <a:gsLst>
                    <a:gs pos="100000">
                      <a:schemeClr val="tx2"/>
                    </a:gs>
                    <a:gs pos="2000">
                      <a:schemeClr val="accent2"/>
                    </a:gs>
                  </a:gsLst>
                  <a:lin ang="2700000" scaled="0"/>
                </a:gradFill>
                <a:latin typeface="+mn-lt"/>
                <a:sym typeface="Trebuchet MS" panose="020B0603020202020204" pitchFamily="34" charset="0"/>
              </a:rPr>
              <a:t>Disclaimer</a:t>
            </a:r>
          </a:p>
        </p:txBody>
      </p:sp>
      <p:cxnSp>
        <p:nvCxnSpPr>
          <p:cNvPr id="9" name="Straight Connector 8"/>
          <p:cNvCxnSpPr/>
          <p:nvPr/>
        </p:nvCxnSpPr>
        <p:spPr>
          <a:xfrm>
            <a:off x="4367898" y="1630185"/>
            <a:ext cx="0" cy="3392129"/>
          </a:xfrm>
          <a:prstGeom prst="line">
            <a:avLst/>
          </a:prstGeom>
          <a:ln w="9525">
            <a:solidFill>
              <a:schemeClr val="tx2"/>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 name="Date Placeholder 1"/>
          <p:cNvSpPr>
            <a:spLocks noGrp="1"/>
          </p:cNvSpPr>
          <p:nvPr>
            <p:ph type="dt" sz="half" idx="10"/>
          </p:nvPr>
        </p:nvSpPr>
        <p:spPr>
          <a:xfrm>
            <a:off x="9677400" y="6405036"/>
            <a:ext cx="1482051" cy="153888"/>
          </a:xfrm>
          <a:prstGeom prst="rect">
            <a:avLst/>
          </a:prstGeom>
        </p:spPr>
        <p:txBody>
          <a:bodyPr/>
          <a:lstStyle>
            <a:lvl1pPr>
              <a:defRPr>
                <a:solidFill>
                  <a:schemeClr val="bg1">
                    <a:lumMod val="50000"/>
                  </a:schemeClr>
                </a:solidFill>
                <a:latin typeface="+mn-lt"/>
                <a:sym typeface="Trebuchet MS" panose="020B0603020202020204" pitchFamily="34" charset="0"/>
              </a:defRPr>
            </a:lvl1pPr>
          </a:lstStyle>
          <a:p>
            <a:endParaRPr lang="en-US"/>
          </a:p>
        </p:txBody>
      </p:sp>
      <p:sp>
        <p:nvSpPr>
          <p:cNvPr id="10"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2024 by Boston Consulting Group. All rights reserved.</a:t>
            </a:r>
          </a:p>
        </p:txBody>
      </p:sp>
    </p:spTree>
    <p:extLst>
      <p:ext uri="{BB962C8B-B14F-4D97-AF65-F5344CB8AC3E}">
        <p14:creationId xmlns:p14="http://schemas.microsoft.com/office/powerpoint/2010/main" val="82490696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7.xml><?xml version="1.0" encoding="utf-8"?>
<p:sldLayout xmlns:a="http://schemas.openxmlformats.org/drawingml/2006/main" xmlns:r="http://schemas.openxmlformats.org/officeDocument/2006/relationships" xmlns:p="http://schemas.openxmlformats.org/presentationml/2006/main" showMasterSp="0" type="blank" preserve="1">
  <p:cSld name="End">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1"/>
            </p:custDataLst>
            <p:extLst>
              <p:ext uri="{D42A27DB-BD31-4B8C-83A1-F6EECF244321}">
                <p14:modId xmlns:p14="http://schemas.microsoft.com/office/powerpoint/2010/main" val="735369323"/>
              </p:ext>
            </p:ext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384" imgH="384" progId="TCLayout.ActiveDocument.1">
                  <p:embed/>
                </p:oleObj>
              </mc:Choice>
              <mc:Fallback>
                <p:oleObj name="think-cell Slide" r:id="rId5" imgW="384" imgH="384" progId="TCLayout.ActiveDocument.1">
                  <p:embed/>
                  <p:pic>
                    <p:nvPicPr>
                      <p:cNvPr id="2" name="Object 1" hidden="1"/>
                      <p:cNvPicPr/>
                      <p:nvPr/>
                    </p:nvPicPr>
                    <p:blipFill>
                      <a:blip r:embed="rId6"/>
                      <a:stretch>
                        <a:fillRect/>
                      </a:stretch>
                    </p:blipFill>
                    <p:spPr>
                      <a:xfrm>
                        <a:off x="1588" y="1588"/>
                        <a:ext cx="1587" cy="1587"/>
                      </a:xfrm>
                      <a:prstGeom prst="rect">
                        <a:avLst/>
                      </a:prstGeom>
                    </p:spPr>
                  </p:pic>
                </p:oleObj>
              </mc:Fallback>
            </mc:AlternateContent>
          </a:graphicData>
        </a:graphic>
      </p:graphicFrame>
      <p:pic>
        <p:nvPicPr>
          <p:cNvPr id="9" name="TitleAndEndImages"/>
          <p:cNvPicPr>
            <a:picLocks noChangeAspect="1"/>
          </p:cNvPicPr>
          <p:nvPr userDrawn="1">
            <p:custDataLst>
              <p:tags r:id="rId2"/>
            </p:custDataLst>
          </p:nvPr>
        </p:nvPicPr>
        <p:blipFill>
          <a:blip r:embed="rId7">
            <a:extLst>
              <a:ext uri="{28A0092B-C50C-407E-A947-70E740481C1C}">
                <a14:useLocalDpi xmlns:a14="http://schemas.microsoft.com/office/drawing/2010/main" val="0"/>
              </a:ext>
            </a:extLst>
          </a:blip>
          <a:stretch>
            <a:fillRect/>
          </a:stretch>
        </p:blipFill>
        <p:spPr>
          <a:xfrm flipH="1">
            <a:off x="0" y="0"/>
            <a:ext cx="12192000" cy="6858000"/>
          </a:xfrm>
          <a:prstGeom prst="rect">
            <a:avLst/>
          </a:prstGeom>
        </p:spPr>
      </p:pic>
      <p:sp>
        <p:nvSpPr>
          <p:cNvPr id="8" name="Rectangle 7"/>
          <p:cNvSpPr/>
          <p:nvPr userDrawn="1"/>
        </p:nvSpPr>
        <p:spPr bwMode="black">
          <a:xfrm>
            <a:off x="630936" y="626200"/>
            <a:ext cx="8125200" cy="5529600"/>
          </a:xfrm>
          <a:prstGeom prst="rect">
            <a:avLst/>
          </a:prstGeom>
          <a:gradFill flip="none" rotWithShape="1">
            <a:gsLst>
              <a:gs pos="0">
                <a:schemeClr val="accent1">
                  <a:alpha val="90000"/>
                </a:schemeClr>
              </a:gs>
              <a:gs pos="100000">
                <a:schemeClr val="tx2">
                  <a:alpha val="90000"/>
                </a:schemeClr>
              </a:gs>
            </a:gsLst>
            <a:lin ang="189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lnSpc>
                <a:spcPct val="95000"/>
              </a:lnSpc>
            </a:pPr>
            <a:endParaRPr lang="en-US" sz="2000">
              <a:solidFill>
                <a:prstClr val="white"/>
              </a:solidFill>
              <a:latin typeface="+mn-lt"/>
              <a:sym typeface="Trebuchet MS" panose="020B0603020202020204" pitchFamily="34" charset="0"/>
            </a:endParaRPr>
          </a:p>
        </p:txBody>
      </p:sp>
      <p:sp>
        <p:nvSpPr>
          <p:cNvPr id="15" name="TextBox 14"/>
          <p:cNvSpPr txBox="1"/>
          <p:nvPr/>
        </p:nvSpPr>
        <p:spPr bwMode="white">
          <a:xfrm>
            <a:off x="924979" y="5715178"/>
            <a:ext cx="840801" cy="170110"/>
          </a:xfrm>
          <a:prstGeom prst="rect">
            <a:avLst/>
          </a:prstGeom>
          <a:noFill/>
        </p:spPr>
        <p:txBody>
          <a:bodyPr wrap="none" lIns="0" tIns="0" rIns="0" bIns="0" rtlCol="0" anchor="b">
            <a:noAutofit/>
          </a:bodyPr>
          <a:lstStyle/>
          <a:p>
            <a:pPr>
              <a:lnSpc>
                <a:spcPct val="90000"/>
              </a:lnSpc>
              <a:spcAft>
                <a:spcPts val="600"/>
              </a:spcAft>
            </a:pPr>
            <a:r>
              <a:rPr lang="en-US" sz="1200">
                <a:solidFill>
                  <a:schemeClr val="bg1"/>
                </a:solidFill>
                <a:latin typeface="+mn-lt"/>
                <a:sym typeface="Trebuchet MS" panose="020B0603020202020204" pitchFamily="34" charset="0"/>
              </a:rPr>
              <a:t>bcg.com</a:t>
            </a:r>
          </a:p>
        </p:txBody>
      </p:sp>
      <p:sp>
        <p:nvSpPr>
          <p:cNvPr id="7" name="Freeform 6"/>
          <p:cNvSpPr>
            <a:spLocks noChangeAspect="1"/>
          </p:cNvSpPr>
          <p:nvPr userDrawn="1">
            <p:custDataLst>
              <p:tags r:id="rId3"/>
            </p:custDataLst>
          </p:nvPr>
        </p:nvSpPr>
        <p:spPr bwMode="auto">
          <a:xfrm>
            <a:off x="2676858" y="2969513"/>
            <a:ext cx="4033357" cy="842974"/>
          </a:xfrm>
          <a:custGeom>
            <a:avLst/>
            <a:gdLst>
              <a:gd name="connsiteX0" fmla="*/ 8982072 w 11499847"/>
              <a:gd name="connsiteY0" fmla="*/ 1919288 h 2403475"/>
              <a:gd name="connsiteX1" fmla="*/ 8982072 w 11499847"/>
              <a:gd name="connsiteY1" fmla="*/ 2105026 h 2403475"/>
              <a:gd name="connsiteX2" fmla="*/ 9098233 w 11499847"/>
              <a:gd name="connsiteY2" fmla="*/ 2105026 h 2403475"/>
              <a:gd name="connsiteX3" fmla="*/ 9164880 w 11499847"/>
              <a:gd name="connsiteY3" fmla="*/ 2080233 h 2403475"/>
              <a:gd name="connsiteX4" fmla="*/ 9191622 w 11499847"/>
              <a:gd name="connsiteY4" fmla="*/ 2011737 h 2403475"/>
              <a:gd name="connsiteX5" fmla="*/ 9164880 w 11499847"/>
              <a:gd name="connsiteY5" fmla="*/ 1944501 h 2403475"/>
              <a:gd name="connsiteX6" fmla="*/ 9098233 w 11499847"/>
              <a:gd name="connsiteY6" fmla="*/ 1919288 h 2403475"/>
              <a:gd name="connsiteX7" fmla="*/ 8982072 w 11499847"/>
              <a:gd name="connsiteY7" fmla="*/ 1919288 h 2403475"/>
              <a:gd name="connsiteX8" fmla="*/ 7280272 w 11499847"/>
              <a:gd name="connsiteY8" fmla="*/ 1919288 h 2403475"/>
              <a:gd name="connsiteX9" fmla="*/ 7280272 w 11499847"/>
              <a:gd name="connsiteY9" fmla="*/ 2097088 h 2403475"/>
              <a:gd name="connsiteX10" fmla="*/ 7404503 w 11499847"/>
              <a:gd name="connsiteY10" fmla="*/ 2097088 h 2403475"/>
              <a:gd name="connsiteX11" fmla="*/ 7469027 w 11499847"/>
              <a:gd name="connsiteY11" fmla="*/ 2073423 h 2403475"/>
              <a:gd name="connsiteX12" fmla="*/ 7494585 w 11499847"/>
              <a:gd name="connsiteY12" fmla="*/ 2008502 h 2403475"/>
              <a:gd name="connsiteX13" fmla="*/ 7469027 w 11499847"/>
              <a:gd name="connsiteY13" fmla="*/ 1943581 h 2403475"/>
              <a:gd name="connsiteX14" fmla="*/ 7404503 w 11499847"/>
              <a:gd name="connsiteY14" fmla="*/ 1919288 h 2403475"/>
              <a:gd name="connsiteX15" fmla="*/ 7280272 w 11499847"/>
              <a:gd name="connsiteY15" fmla="*/ 1919288 h 2403475"/>
              <a:gd name="connsiteX16" fmla="*/ 7945015 w 11499847"/>
              <a:gd name="connsiteY16" fmla="*/ 1909763 h 2403475"/>
              <a:gd name="connsiteX17" fmla="*/ 7813574 w 11499847"/>
              <a:gd name="connsiteY17" fmla="*/ 1965330 h 2403475"/>
              <a:gd name="connsiteX18" fmla="*/ 7759697 w 11499847"/>
              <a:gd name="connsiteY18" fmla="*/ 2100368 h 2403475"/>
              <a:gd name="connsiteX19" fmla="*/ 7813574 w 11499847"/>
              <a:gd name="connsiteY19" fmla="*/ 2235406 h 2403475"/>
              <a:gd name="connsiteX20" fmla="*/ 7945015 w 11499847"/>
              <a:gd name="connsiteY20" fmla="*/ 2290763 h 2403475"/>
              <a:gd name="connsiteX21" fmla="*/ 8077086 w 11499847"/>
              <a:gd name="connsiteY21" fmla="*/ 2235825 h 2403475"/>
              <a:gd name="connsiteX22" fmla="*/ 8131172 w 11499847"/>
              <a:gd name="connsiteY22" fmla="*/ 2100368 h 2403475"/>
              <a:gd name="connsiteX23" fmla="*/ 8076876 w 11499847"/>
              <a:gd name="connsiteY23" fmla="*/ 1965330 h 2403475"/>
              <a:gd name="connsiteX24" fmla="*/ 7945015 w 11499847"/>
              <a:gd name="connsiteY24" fmla="*/ 1909763 h 2403475"/>
              <a:gd name="connsiteX25" fmla="*/ 8899522 w 11499847"/>
              <a:gd name="connsiteY25" fmla="*/ 1844675 h 2403475"/>
              <a:gd name="connsiteX26" fmla="*/ 9098598 w 11499847"/>
              <a:gd name="connsiteY26" fmla="*/ 1844675 h 2403475"/>
              <a:gd name="connsiteX27" fmla="*/ 9228521 w 11499847"/>
              <a:gd name="connsiteY27" fmla="*/ 1892741 h 2403475"/>
              <a:gd name="connsiteX28" fmla="*/ 9277347 w 11499847"/>
              <a:gd name="connsiteY28" fmla="*/ 2011236 h 2403475"/>
              <a:gd name="connsiteX29" fmla="*/ 9228521 w 11499847"/>
              <a:gd name="connsiteY29" fmla="*/ 2129521 h 2403475"/>
              <a:gd name="connsiteX30" fmla="*/ 9098598 w 11499847"/>
              <a:gd name="connsiteY30" fmla="*/ 2177796 h 2403475"/>
              <a:gd name="connsiteX31" fmla="*/ 8982086 w 11499847"/>
              <a:gd name="connsiteY31" fmla="*/ 2177796 h 2403475"/>
              <a:gd name="connsiteX32" fmla="*/ 8982086 w 11499847"/>
              <a:gd name="connsiteY32" fmla="*/ 2355850 h 2403475"/>
              <a:gd name="connsiteX33" fmla="*/ 8899522 w 11499847"/>
              <a:gd name="connsiteY33" fmla="*/ 2355850 h 2403475"/>
              <a:gd name="connsiteX34" fmla="*/ 8899522 w 11499847"/>
              <a:gd name="connsiteY34" fmla="*/ 1844675 h 2403475"/>
              <a:gd name="connsiteX35" fmla="*/ 8324847 w 11499847"/>
              <a:gd name="connsiteY35" fmla="*/ 1844675 h 2403475"/>
              <a:gd name="connsiteX36" fmla="*/ 8407608 w 11499847"/>
              <a:gd name="connsiteY36" fmla="*/ 1844675 h 2403475"/>
              <a:gd name="connsiteX37" fmla="*/ 8407608 w 11499847"/>
              <a:gd name="connsiteY37" fmla="*/ 2158090 h 2403475"/>
              <a:gd name="connsiteX38" fmla="*/ 8443017 w 11499847"/>
              <a:gd name="connsiteY38" fmla="*/ 2252595 h 2403475"/>
              <a:gd name="connsiteX39" fmla="*/ 8537931 w 11499847"/>
              <a:gd name="connsiteY39" fmla="*/ 2291066 h 2403475"/>
              <a:gd name="connsiteX40" fmla="*/ 8631797 w 11499847"/>
              <a:gd name="connsiteY40" fmla="*/ 2252595 h 2403475"/>
              <a:gd name="connsiteX41" fmla="*/ 8667415 w 11499847"/>
              <a:gd name="connsiteY41" fmla="*/ 2158090 h 2403475"/>
              <a:gd name="connsiteX42" fmla="*/ 8667415 w 11499847"/>
              <a:gd name="connsiteY42" fmla="*/ 1844675 h 2403475"/>
              <a:gd name="connsiteX43" fmla="*/ 8748710 w 11499847"/>
              <a:gd name="connsiteY43" fmla="*/ 1844675 h 2403475"/>
              <a:gd name="connsiteX44" fmla="*/ 8748710 w 11499847"/>
              <a:gd name="connsiteY44" fmla="*/ 2158717 h 2403475"/>
              <a:gd name="connsiteX45" fmla="*/ 8688577 w 11499847"/>
              <a:gd name="connsiteY45" fmla="*/ 2307793 h 2403475"/>
              <a:gd name="connsiteX46" fmla="*/ 8537093 w 11499847"/>
              <a:gd name="connsiteY46" fmla="*/ 2366963 h 2403475"/>
              <a:gd name="connsiteX47" fmla="*/ 8385399 w 11499847"/>
              <a:gd name="connsiteY47" fmla="*/ 2307793 h 2403475"/>
              <a:gd name="connsiteX48" fmla="*/ 8324847 w 11499847"/>
              <a:gd name="connsiteY48" fmla="*/ 2158717 h 2403475"/>
              <a:gd name="connsiteX49" fmla="*/ 8324847 w 11499847"/>
              <a:gd name="connsiteY49" fmla="*/ 1844675 h 2403475"/>
              <a:gd name="connsiteX50" fmla="*/ 7197722 w 11499847"/>
              <a:gd name="connsiteY50" fmla="*/ 1844675 h 2403475"/>
              <a:gd name="connsiteX51" fmla="*/ 7404196 w 11499847"/>
              <a:gd name="connsiteY51" fmla="*/ 1844675 h 2403475"/>
              <a:gd name="connsiteX52" fmla="*/ 7531336 w 11499847"/>
              <a:gd name="connsiteY52" fmla="*/ 1891906 h 2403475"/>
              <a:gd name="connsiteX53" fmla="*/ 7578727 w 11499847"/>
              <a:gd name="connsiteY53" fmla="*/ 2008937 h 2403475"/>
              <a:gd name="connsiteX54" fmla="*/ 7548455 w 11499847"/>
              <a:gd name="connsiteY54" fmla="*/ 2106950 h 2403475"/>
              <a:gd name="connsiteX55" fmla="*/ 7464947 w 11499847"/>
              <a:gd name="connsiteY55" fmla="*/ 2161495 h 2403475"/>
              <a:gd name="connsiteX56" fmla="*/ 7525699 w 11499847"/>
              <a:gd name="connsiteY56" fmla="*/ 2258673 h 2403475"/>
              <a:gd name="connsiteX57" fmla="*/ 7586660 w 11499847"/>
              <a:gd name="connsiteY57" fmla="*/ 2355850 h 2403475"/>
              <a:gd name="connsiteX58" fmla="*/ 7491044 w 11499847"/>
              <a:gd name="connsiteY58" fmla="*/ 2355850 h 2403475"/>
              <a:gd name="connsiteX59" fmla="*/ 7434676 w 11499847"/>
              <a:gd name="connsiteY59" fmla="*/ 2263479 h 2403475"/>
              <a:gd name="connsiteX60" fmla="*/ 7378099 w 11499847"/>
              <a:gd name="connsiteY60" fmla="*/ 2171108 h 2403475"/>
              <a:gd name="connsiteX61" fmla="*/ 7280395 w 11499847"/>
              <a:gd name="connsiteY61" fmla="*/ 2171108 h 2403475"/>
              <a:gd name="connsiteX62" fmla="*/ 7280395 w 11499847"/>
              <a:gd name="connsiteY62" fmla="*/ 2355850 h 2403475"/>
              <a:gd name="connsiteX63" fmla="*/ 7197722 w 11499847"/>
              <a:gd name="connsiteY63" fmla="*/ 2355850 h 2403475"/>
              <a:gd name="connsiteX64" fmla="*/ 7197722 w 11499847"/>
              <a:gd name="connsiteY64" fmla="*/ 1844675 h 2403475"/>
              <a:gd name="connsiteX65" fmla="*/ 7945016 w 11499847"/>
              <a:gd name="connsiteY65" fmla="*/ 1833563 h 2403475"/>
              <a:gd name="connsiteX66" fmla="*/ 8136527 w 11499847"/>
              <a:gd name="connsiteY66" fmla="*/ 1911974 h 2403475"/>
              <a:gd name="connsiteX67" fmla="*/ 8215310 w 11499847"/>
              <a:gd name="connsiteY67" fmla="*/ 2100368 h 2403475"/>
              <a:gd name="connsiteX68" fmla="*/ 8136527 w 11499847"/>
              <a:gd name="connsiteY68" fmla="*/ 2288762 h 2403475"/>
              <a:gd name="connsiteX69" fmla="*/ 7945016 w 11499847"/>
              <a:gd name="connsiteY69" fmla="*/ 2366963 h 2403475"/>
              <a:gd name="connsiteX70" fmla="*/ 7754134 w 11499847"/>
              <a:gd name="connsiteY70" fmla="*/ 2288762 h 2403475"/>
              <a:gd name="connsiteX71" fmla="*/ 7675560 w 11499847"/>
              <a:gd name="connsiteY71" fmla="*/ 2100368 h 2403475"/>
              <a:gd name="connsiteX72" fmla="*/ 7754134 w 11499847"/>
              <a:gd name="connsiteY72" fmla="*/ 1911974 h 2403475"/>
              <a:gd name="connsiteX73" fmla="*/ 7945016 w 11499847"/>
              <a:gd name="connsiteY73" fmla="*/ 1833563 h 2403475"/>
              <a:gd name="connsiteX74" fmla="*/ 6834872 w 11499847"/>
              <a:gd name="connsiteY74" fmla="*/ 1833563 h 2403475"/>
              <a:gd name="connsiteX75" fmla="*/ 6921875 w 11499847"/>
              <a:gd name="connsiteY75" fmla="*/ 1845482 h 2403475"/>
              <a:gd name="connsiteX76" fmla="*/ 6996090 w 11499847"/>
              <a:gd name="connsiteY76" fmla="*/ 1881028 h 2403475"/>
              <a:gd name="connsiteX77" fmla="*/ 6974496 w 11499847"/>
              <a:gd name="connsiteY77" fmla="*/ 1914692 h 2403475"/>
              <a:gd name="connsiteX78" fmla="*/ 6952903 w 11499847"/>
              <a:gd name="connsiteY78" fmla="*/ 1948356 h 2403475"/>
              <a:gd name="connsiteX79" fmla="*/ 6897556 w 11499847"/>
              <a:gd name="connsiteY79" fmla="*/ 1919501 h 2403475"/>
              <a:gd name="connsiteX80" fmla="*/ 6834243 w 11499847"/>
              <a:gd name="connsiteY80" fmla="*/ 1910301 h 2403475"/>
              <a:gd name="connsiteX81" fmla="*/ 6703424 w 11499847"/>
              <a:gd name="connsiteY81" fmla="*/ 1965084 h 2403475"/>
              <a:gd name="connsiteX82" fmla="*/ 6650384 w 11499847"/>
              <a:gd name="connsiteY82" fmla="*/ 2100368 h 2403475"/>
              <a:gd name="connsiteX83" fmla="*/ 6701957 w 11499847"/>
              <a:gd name="connsiteY83" fmla="*/ 2236070 h 2403475"/>
              <a:gd name="connsiteX84" fmla="*/ 6831308 w 11499847"/>
              <a:gd name="connsiteY84" fmla="*/ 2291062 h 2403475"/>
              <a:gd name="connsiteX85" fmla="*/ 6945984 w 11499847"/>
              <a:gd name="connsiteY85" fmla="*/ 2250498 h 2403475"/>
              <a:gd name="connsiteX86" fmla="*/ 6999863 w 11499847"/>
              <a:gd name="connsiteY86" fmla="*/ 2148460 h 2403475"/>
              <a:gd name="connsiteX87" fmla="*/ 6825438 w 11499847"/>
              <a:gd name="connsiteY87" fmla="*/ 2148460 h 2403475"/>
              <a:gd name="connsiteX88" fmla="*/ 6849128 w 11499847"/>
              <a:gd name="connsiteY88" fmla="*/ 2111241 h 2403475"/>
              <a:gd name="connsiteX89" fmla="*/ 6873028 w 11499847"/>
              <a:gd name="connsiteY89" fmla="*/ 2074022 h 2403475"/>
              <a:gd name="connsiteX90" fmla="*/ 7078061 w 11499847"/>
              <a:gd name="connsiteY90" fmla="*/ 2074022 h 2403475"/>
              <a:gd name="connsiteX91" fmla="*/ 7080787 w 11499847"/>
              <a:gd name="connsiteY91" fmla="*/ 2090540 h 2403475"/>
              <a:gd name="connsiteX92" fmla="*/ 7081835 w 11499847"/>
              <a:gd name="connsiteY92" fmla="*/ 2110613 h 2403475"/>
              <a:gd name="connsiteX93" fmla="*/ 7011813 w 11499847"/>
              <a:gd name="connsiteY93" fmla="*/ 2293362 h 2403475"/>
              <a:gd name="connsiteX94" fmla="*/ 6830470 w 11499847"/>
              <a:gd name="connsiteY94" fmla="*/ 2366963 h 2403475"/>
              <a:gd name="connsiteX95" fmla="*/ 6642417 w 11499847"/>
              <a:gd name="connsiteY95" fmla="*/ 2289389 h 2403475"/>
              <a:gd name="connsiteX96" fmla="*/ 6565897 w 11499847"/>
              <a:gd name="connsiteY96" fmla="*/ 2100368 h 2403475"/>
              <a:gd name="connsiteX97" fmla="*/ 6644514 w 11499847"/>
              <a:gd name="connsiteY97" fmla="*/ 1911346 h 2403475"/>
              <a:gd name="connsiteX98" fmla="*/ 6834872 w 11499847"/>
              <a:gd name="connsiteY98" fmla="*/ 1833563 h 2403475"/>
              <a:gd name="connsiteX99" fmla="*/ 501650 w 11499847"/>
              <a:gd name="connsiteY99" fmla="*/ 1403350 h 2403475"/>
              <a:gd name="connsiteX100" fmla="*/ 501650 w 11499847"/>
              <a:gd name="connsiteY100" fmla="*/ 1925638 h 2403475"/>
              <a:gd name="connsiteX101" fmla="*/ 842112 w 11499847"/>
              <a:gd name="connsiteY101" fmla="*/ 1925638 h 2403475"/>
              <a:gd name="connsiteX102" fmla="*/ 1182574 w 11499847"/>
              <a:gd name="connsiteY102" fmla="*/ 1925638 h 2403475"/>
              <a:gd name="connsiteX103" fmla="*/ 1375900 w 11499847"/>
              <a:gd name="connsiteY103" fmla="*/ 1849684 h 2403475"/>
              <a:gd name="connsiteX104" fmla="*/ 1455738 w 11499847"/>
              <a:gd name="connsiteY104" fmla="*/ 1662720 h 2403475"/>
              <a:gd name="connsiteX105" fmla="*/ 1375900 w 11499847"/>
              <a:gd name="connsiteY105" fmla="*/ 1477635 h 2403475"/>
              <a:gd name="connsiteX106" fmla="*/ 1182574 w 11499847"/>
              <a:gd name="connsiteY106" fmla="*/ 1403350 h 2403475"/>
              <a:gd name="connsiteX107" fmla="*/ 501650 w 11499847"/>
              <a:gd name="connsiteY107" fmla="*/ 1403350 h 2403475"/>
              <a:gd name="connsiteX108" fmla="*/ 7349808 w 11499847"/>
              <a:gd name="connsiteY108" fmla="*/ 1012825 h 2403475"/>
              <a:gd name="connsiteX109" fmla="*/ 7218292 w 11499847"/>
              <a:gd name="connsiteY109" fmla="*/ 1067952 h 2403475"/>
              <a:gd name="connsiteX110" fmla="*/ 7164385 w 11499847"/>
              <a:gd name="connsiteY110" fmla="*/ 1202427 h 2403475"/>
              <a:gd name="connsiteX111" fmla="*/ 7218292 w 11499847"/>
              <a:gd name="connsiteY111" fmla="*/ 1336903 h 2403475"/>
              <a:gd name="connsiteX112" fmla="*/ 7349808 w 11499847"/>
              <a:gd name="connsiteY112" fmla="*/ 1392238 h 2403475"/>
              <a:gd name="connsiteX113" fmla="*/ 7481953 w 11499847"/>
              <a:gd name="connsiteY113" fmla="*/ 1337320 h 2403475"/>
              <a:gd name="connsiteX114" fmla="*/ 7535860 w 11499847"/>
              <a:gd name="connsiteY114" fmla="*/ 1202427 h 2403475"/>
              <a:gd name="connsiteX115" fmla="*/ 7481534 w 11499847"/>
              <a:gd name="connsiteY115" fmla="*/ 1067952 h 2403475"/>
              <a:gd name="connsiteX116" fmla="*/ 7349808 w 11499847"/>
              <a:gd name="connsiteY116" fmla="*/ 1012825 h 2403475"/>
              <a:gd name="connsiteX117" fmla="*/ 10448922 w 11499847"/>
              <a:gd name="connsiteY117" fmla="*/ 946150 h 2403475"/>
              <a:gd name="connsiteX118" fmla="*/ 10552110 w 11499847"/>
              <a:gd name="connsiteY118" fmla="*/ 946150 h 2403475"/>
              <a:gd name="connsiteX119" fmla="*/ 10671172 w 11499847"/>
              <a:gd name="connsiteY119" fmla="*/ 1139825 h 2403475"/>
              <a:gd name="connsiteX120" fmla="*/ 10790235 w 11499847"/>
              <a:gd name="connsiteY120" fmla="*/ 1333501 h 2403475"/>
              <a:gd name="connsiteX121" fmla="*/ 10790235 w 11499847"/>
              <a:gd name="connsiteY121" fmla="*/ 946150 h 2403475"/>
              <a:gd name="connsiteX122" fmla="*/ 10869610 w 11499847"/>
              <a:gd name="connsiteY122" fmla="*/ 946150 h 2403475"/>
              <a:gd name="connsiteX123" fmla="*/ 10869610 w 11499847"/>
              <a:gd name="connsiteY123" fmla="*/ 1458913 h 2403475"/>
              <a:gd name="connsiteX124" fmla="*/ 10772772 w 11499847"/>
              <a:gd name="connsiteY124" fmla="*/ 1458913 h 2403475"/>
              <a:gd name="connsiteX125" fmla="*/ 10650535 w 11499847"/>
              <a:gd name="connsiteY125" fmla="*/ 1260475 h 2403475"/>
              <a:gd name="connsiteX126" fmla="*/ 10528297 w 11499847"/>
              <a:gd name="connsiteY126" fmla="*/ 1062038 h 2403475"/>
              <a:gd name="connsiteX127" fmla="*/ 10528297 w 11499847"/>
              <a:gd name="connsiteY127" fmla="*/ 1458913 h 2403475"/>
              <a:gd name="connsiteX128" fmla="*/ 10448922 w 11499847"/>
              <a:gd name="connsiteY128" fmla="*/ 1458913 h 2403475"/>
              <a:gd name="connsiteX129" fmla="*/ 10185397 w 11499847"/>
              <a:gd name="connsiteY129" fmla="*/ 946150 h 2403475"/>
              <a:gd name="connsiteX130" fmla="*/ 10267947 w 11499847"/>
              <a:gd name="connsiteY130" fmla="*/ 946150 h 2403475"/>
              <a:gd name="connsiteX131" fmla="*/ 10267947 w 11499847"/>
              <a:gd name="connsiteY131" fmla="*/ 1458913 h 2403475"/>
              <a:gd name="connsiteX132" fmla="*/ 10185397 w 11499847"/>
              <a:gd name="connsiteY132" fmla="*/ 1458913 h 2403475"/>
              <a:gd name="connsiteX133" fmla="*/ 9656760 w 11499847"/>
              <a:gd name="connsiteY133" fmla="*/ 946150 h 2403475"/>
              <a:gd name="connsiteX134" fmla="*/ 10059985 w 11499847"/>
              <a:gd name="connsiteY134" fmla="*/ 946150 h 2403475"/>
              <a:gd name="connsiteX135" fmla="*/ 10059985 w 11499847"/>
              <a:gd name="connsiteY135" fmla="*/ 1022350 h 2403475"/>
              <a:gd name="connsiteX136" fmla="*/ 9899648 w 11499847"/>
              <a:gd name="connsiteY136" fmla="*/ 1022350 h 2403475"/>
              <a:gd name="connsiteX137" fmla="*/ 9899648 w 11499847"/>
              <a:gd name="connsiteY137" fmla="*/ 1458913 h 2403475"/>
              <a:gd name="connsiteX138" fmla="*/ 9817098 w 11499847"/>
              <a:gd name="connsiteY138" fmla="*/ 1458913 h 2403475"/>
              <a:gd name="connsiteX139" fmla="*/ 9817098 w 11499847"/>
              <a:gd name="connsiteY139" fmla="*/ 1022350 h 2403475"/>
              <a:gd name="connsiteX140" fmla="*/ 9656760 w 11499847"/>
              <a:gd name="connsiteY140" fmla="*/ 1022350 h 2403475"/>
              <a:gd name="connsiteX141" fmla="*/ 9336085 w 11499847"/>
              <a:gd name="connsiteY141" fmla="*/ 946150 h 2403475"/>
              <a:gd name="connsiteX142" fmla="*/ 9418635 w 11499847"/>
              <a:gd name="connsiteY142" fmla="*/ 946150 h 2403475"/>
              <a:gd name="connsiteX143" fmla="*/ 9418635 w 11499847"/>
              <a:gd name="connsiteY143" fmla="*/ 1382713 h 2403475"/>
              <a:gd name="connsiteX144" fmla="*/ 9671048 w 11499847"/>
              <a:gd name="connsiteY144" fmla="*/ 1382713 h 2403475"/>
              <a:gd name="connsiteX145" fmla="*/ 9671048 w 11499847"/>
              <a:gd name="connsiteY145" fmla="*/ 1458913 h 2403475"/>
              <a:gd name="connsiteX146" fmla="*/ 9336085 w 11499847"/>
              <a:gd name="connsiteY146" fmla="*/ 1458913 h 2403475"/>
              <a:gd name="connsiteX147" fmla="*/ 8766172 w 11499847"/>
              <a:gd name="connsiteY147" fmla="*/ 946150 h 2403475"/>
              <a:gd name="connsiteX148" fmla="*/ 8848414 w 11499847"/>
              <a:gd name="connsiteY148" fmla="*/ 946150 h 2403475"/>
              <a:gd name="connsiteX149" fmla="*/ 8848414 w 11499847"/>
              <a:gd name="connsiteY149" fmla="*/ 1260391 h 2403475"/>
              <a:gd name="connsiteX150" fmla="*/ 8883900 w 11499847"/>
              <a:gd name="connsiteY150" fmla="*/ 1355146 h 2403475"/>
              <a:gd name="connsiteX151" fmla="*/ 8978249 w 11499847"/>
              <a:gd name="connsiteY151" fmla="*/ 1393718 h 2403475"/>
              <a:gd name="connsiteX152" fmla="*/ 9071972 w 11499847"/>
              <a:gd name="connsiteY152" fmla="*/ 1355146 h 2403475"/>
              <a:gd name="connsiteX153" fmla="*/ 9107457 w 11499847"/>
              <a:gd name="connsiteY153" fmla="*/ 1260391 h 2403475"/>
              <a:gd name="connsiteX154" fmla="*/ 9107457 w 11499847"/>
              <a:gd name="connsiteY154" fmla="*/ 946150 h 2403475"/>
              <a:gd name="connsiteX155" fmla="*/ 9188447 w 11499847"/>
              <a:gd name="connsiteY155" fmla="*/ 946150 h 2403475"/>
              <a:gd name="connsiteX156" fmla="*/ 9188447 w 11499847"/>
              <a:gd name="connsiteY156" fmla="*/ 1261230 h 2403475"/>
              <a:gd name="connsiteX157" fmla="*/ 9128539 w 11499847"/>
              <a:gd name="connsiteY157" fmla="*/ 1410489 h 2403475"/>
              <a:gd name="connsiteX158" fmla="*/ 8977623 w 11499847"/>
              <a:gd name="connsiteY158" fmla="*/ 1470025 h 2403475"/>
              <a:gd name="connsiteX159" fmla="*/ 8826497 w 11499847"/>
              <a:gd name="connsiteY159" fmla="*/ 1410489 h 2403475"/>
              <a:gd name="connsiteX160" fmla="*/ 8766172 w 11499847"/>
              <a:gd name="connsiteY160" fmla="*/ 1261230 h 2403475"/>
              <a:gd name="connsiteX161" fmla="*/ 8766172 w 11499847"/>
              <a:gd name="connsiteY161" fmla="*/ 946150 h 2403475"/>
              <a:gd name="connsiteX162" fmla="*/ 7737472 w 11499847"/>
              <a:gd name="connsiteY162" fmla="*/ 946150 h 2403475"/>
              <a:gd name="connsiteX163" fmla="*/ 7839072 w 11499847"/>
              <a:gd name="connsiteY163" fmla="*/ 946150 h 2403475"/>
              <a:gd name="connsiteX164" fmla="*/ 7958134 w 11499847"/>
              <a:gd name="connsiteY164" fmla="*/ 1139825 h 2403475"/>
              <a:gd name="connsiteX165" fmla="*/ 8077197 w 11499847"/>
              <a:gd name="connsiteY165" fmla="*/ 1333501 h 2403475"/>
              <a:gd name="connsiteX166" fmla="*/ 8077197 w 11499847"/>
              <a:gd name="connsiteY166" fmla="*/ 946150 h 2403475"/>
              <a:gd name="connsiteX167" fmla="*/ 8156572 w 11499847"/>
              <a:gd name="connsiteY167" fmla="*/ 946150 h 2403475"/>
              <a:gd name="connsiteX168" fmla="*/ 8156572 w 11499847"/>
              <a:gd name="connsiteY168" fmla="*/ 1458913 h 2403475"/>
              <a:gd name="connsiteX169" fmla="*/ 8061322 w 11499847"/>
              <a:gd name="connsiteY169" fmla="*/ 1458913 h 2403475"/>
              <a:gd name="connsiteX170" fmla="*/ 7939084 w 11499847"/>
              <a:gd name="connsiteY170" fmla="*/ 1260475 h 2403475"/>
              <a:gd name="connsiteX171" fmla="*/ 7815259 w 11499847"/>
              <a:gd name="connsiteY171" fmla="*/ 1062038 h 2403475"/>
              <a:gd name="connsiteX172" fmla="*/ 7815259 w 11499847"/>
              <a:gd name="connsiteY172" fmla="*/ 1458913 h 2403475"/>
              <a:gd name="connsiteX173" fmla="*/ 7737472 w 11499847"/>
              <a:gd name="connsiteY173" fmla="*/ 1458913 h 2403475"/>
              <a:gd name="connsiteX174" fmla="*/ 11253544 w 11499847"/>
              <a:gd name="connsiteY174" fmla="*/ 936625 h 2403475"/>
              <a:gd name="connsiteX175" fmla="*/ 11340315 w 11499847"/>
              <a:gd name="connsiteY175" fmla="*/ 948334 h 2403475"/>
              <a:gd name="connsiteX176" fmla="*/ 11414331 w 11499847"/>
              <a:gd name="connsiteY176" fmla="*/ 984090 h 2403475"/>
              <a:gd name="connsiteX177" fmla="*/ 11392795 w 11499847"/>
              <a:gd name="connsiteY177" fmla="*/ 1017545 h 2403475"/>
              <a:gd name="connsiteX178" fmla="*/ 11371260 w 11499847"/>
              <a:gd name="connsiteY178" fmla="*/ 1051209 h 2403475"/>
              <a:gd name="connsiteX179" fmla="*/ 11316270 w 11499847"/>
              <a:gd name="connsiteY179" fmla="*/ 1022354 h 2403475"/>
              <a:gd name="connsiteX180" fmla="*/ 11252917 w 11499847"/>
              <a:gd name="connsiteY180" fmla="*/ 1013363 h 2403475"/>
              <a:gd name="connsiteX181" fmla="*/ 11122657 w 11499847"/>
              <a:gd name="connsiteY181" fmla="*/ 1067936 h 2403475"/>
              <a:gd name="connsiteX182" fmla="*/ 11069549 w 11499847"/>
              <a:gd name="connsiteY182" fmla="*/ 1203221 h 2403475"/>
              <a:gd name="connsiteX183" fmla="*/ 11120984 w 11499847"/>
              <a:gd name="connsiteY183" fmla="*/ 1338923 h 2403475"/>
              <a:gd name="connsiteX184" fmla="*/ 11249990 w 11499847"/>
              <a:gd name="connsiteY184" fmla="*/ 1394124 h 2403475"/>
              <a:gd name="connsiteX185" fmla="*/ 11364360 w 11499847"/>
              <a:gd name="connsiteY185" fmla="*/ 1353350 h 2403475"/>
              <a:gd name="connsiteX186" fmla="*/ 11418095 w 11499847"/>
              <a:gd name="connsiteY186" fmla="*/ 1251521 h 2403475"/>
              <a:gd name="connsiteX187" fmla="*/ 11244136 w 11499847"/>
              <a:gd name="connsiteY187" fmla="*/ 1251521 h 2403475"/>
              <a:gd name="connsiteX188" fmla="*/ 11267971 w 11499847"/>
              <a:gd name="connsiteY188" fmla="*/ 1214303 h 2403475"/>
              <a:gd name="connsiteX189" fmla="*/ 11291598 w 11499847"/>
              <a:gd name="connsiteY189" fmla="*/ 1177084 h 2403475"/>
              <a:gd name="connsiteX190" fmla="*/ 11496083 w 11499847"/>
              <a:gd name="connsiteY190" fmla="*/ 1177084 h 2403475"/>
              <a:gd name="connsiteX191" fmla="*/ 11498802 w 11499847"/>
              <a:gd name="connsiteY191" fmla="*/ 1193393 h 2403475"/>
              <a:gd name="connsiteX192" fmla="*/ 11499847 w 11499847"/>
              <a:gd name="connsiteY192" fmla="*/ 1213466 h 2403475"/>
              <a:gd name="connsiteX193" fmla="*/ 11430222 w 11499847"/>
              <a:gd name="connsiteY193" fmla="*/ 1396215 h 2403475"/>
              <a:gd name="connsiteX194" fmla="*/ 11249154 w 11499847"/>
              <a:gd name="connsiteY194" fmla="*/ 1470025 h 2403475"/>
              <a:gd name="connsiteX195" fmla="*/ 11061813 w 11499847"/>
              <a:gd name="connsiteY195" fmla="*/ 1392242 h 2403475"/>
              <a:gd name="connsiteX196" fmla="*/ 10985497 w 11499847"/>
              <a:gd name="connsiteY196" fmla="*/ 1203221 h 2403475"/>
              <a:gd name="connsiteX197" fmla="*/ 11063695 w 11499847"/>
              <a:gd name="connsiteY197" fmla="*/ 1014408 h 2403475"/>
              <a:gd name="connsiteX198" fmla="*/ 11253544 w 11499847"/>
              <a:gd name="connsiteY198" fmla="*/ 936625 h 2403475"/>
              <a:gd name="connsiteX199" fmla="*/ 8471697 w 11499847"/>
              <a:gd name="connsiteY199" fmla="*/ 936625 h 2403475"/>
              <a:gd name="connsiteX200" fmla="*/ 8556850 w 11499847"/>
              <a:gd name="connsiteY200" fmla="*/ 949798 h 2403475"/>
              <a:gd name="connsiteX201" fmla="*/ 8626729 w 11499847"/>
              <a:gd name="connsiteY201" fmla="*/ 984717 h 2403475"/>
              <a:gd name="connsiteX202" fmla="*/ 8606225 w 11499847"/>
              <a:gd name="connsiteY202" fmla="*/ 1017336 h 2403475"/>
              <a:gd name="connsiteX203" fmla="*/ 8585722 w 11499847"/>
              <a:gd name="connsiteY203" fmla="*/ 1049745 h 2403475"/>
              <a:gd name="connsiteX204" fmla="*/ 8528605 w 11499847"/>
              <a:gd name="connsiteY204" fmla="*/ 1021099 h 2403475"/>
              <a:gd name="connsiteX205" fmla="*/ 8471070 w 11499847"/>
              <a:gd name="connsiteY205" fmla="*/ 1011063 h 2403475"/>
              <a:gd name="connsiteX206" fmla="*/ 8404328 w 11499847"/>
              <a:gd name="connsiteY206" fmla="*/ 1032181 h 2403475"/>
              <a:gd name="connsiteX207" fmla="*/ 8382570 w 11499847"/>
              <a:gd name="connsiteY207" fmla="*/ 1084246 h 2403475"/>
              <a:gd name="connsiteX208" fmla="*/ 8412697 w 11499847"/>
              <a:gd name="connsiteY208" fmla="*/ 1135474 h 2403475"/>
              <a:gd name="connsiteX209" fmla="*/ 8493038 w 11499847"/>
              <a:gd name="connsiteY209" fmla="*/ 1165165 h 2403475"/>
              <a:gd name="connsiteX210" fmla="*/ 8600786 w 11499847"/>
              <a:gd name="connsiteY210" fmla="*/ 1212421 h 2403475"/>
              <a:gd name="connsiteX211" fmla="*/ 8648697 w 11499847"/>
              <a:gd name="connsiteY211" fmla="*/ 1314250 h 2403475"/>
              <a:gd name="connsiteX212" fmla="*/ 8601413 w 11499847"/>
              <a:gd name="connsiteY212" fmla="*/ 1425906 h 2403475"/>
              <a:gd name="connsiteX213" fmla="*/ 8468140 w 11499847"/>
              <a:gd name="connsiteY213" fmla="*/ 1470025 h 2403475"/>
              <a:gd name="connsiteX214" fmla="*/ 8363531 w 11499847"/>
              <a:gd name="connsiteY214" fmla="*/ 1452461 h 2403475"/>
              <a:gd name="connsiteX215" fmla="*/ 8286747 w 11499847"/>
              <a:gd name="connsiteY215" fmla="*/ 1411479 h 2403475"/>
              <a:gd name="connsiteX216" fmla="*/ 8307251 w 11499847"/>
              <a:gd name="connsiteY216" fmla="*/ 1379069 h 2403475"/>
              <a:gd name="connsiteX217" fmla="*/ 8327754 w 11499847"/>
              <a:gd name="connsiteY217" fmla="*/ 1346450 h 2403475"/>
              <a:gd name="connsiteX218" fmla="*/ 8395541 w 11499847"/>
              <a:gd name="connsiteY218" fmla="*/ 1381578 h 2403475"/>
              <a:gd name="connsiteX219" fmla="*/ 8468768 w 11499847"/>
              <a:gd name="connsiteY219" fmla="*/ 1395378 h 2403475"/>
              <a:gd name="connsiteX220" fmla="*/ 8541367 w 11499847"/>
              <a:gd name="connsiteY220" fmla="*/ 1373633 h 2403475"/>
              <a:gd name="connsiteX221" fmla="*/ 8566055 w 11499847"/>
              <a:gd name="connsiteY221" fmla="*/ 1319477 h 2403475"/>
              <a:gd name="connsiteX222" fmla="*/ 8535509 w 11499847"/>
              <a:gd name="connsiteY222" fmla="*/ 1268458 h 2403475"/>
              <a:gd name="connsiteX223" fmla="*/ 8455587 w 11499847"/>
              <a:gd name="connsiteY223" fmla="*/ 1238348 h 2403475"/>
              <a:gd name="connsiteX224" fmla="*/ 8347630 w 11499847"/>
              <a:gd name="connsiteY224" fmla="*/ 1191511 h 2403475"/>
              <a:gd name="connsiteX225" fmla="*/ 8299928 w 11499847"/>
              <a:gd name="connsiteY225" fmla="*/ 1089264 h 2403475"/>
              <a:gd name="connsiteX226" fmla="*/ 8345329 w 11499847"/>
              <a:gd name="connsiteY226" fmla="*/ 979489 h 2403475"/>
              <a:gd name="connsiteX227" fmla="*/ 8471697 w 11499847"/>
              <a:gd name="connsiteY227" fmla="*/ 936625 h 2403475"/>
              <a:gd name="connsiteX228" fmla="*/ 7349808 w 11499847"/>
              <a:gd name="connsiteY228" fmla="*/ 936625 h 2403475"/>
              <a:gd name="connsiteX229" fmla="*/ 7541183 w 11499847"/>
              <a:gd name="connsiteY229" fmla="*/ 1014826 h 2403475"/>
              <a:gd name="connsiteX230" fmla="*/ 7619997 w 11499847"/>
              <a:gd name="connsiteY230" fmla="*/ 1203221 h 2403475"/>
              <a:gd name="connsiteX231" fmla="*/ 7541183 w 11499847"/>
              <a:gd name="connsiteY231" fmla="*/ 1391615 h 2403475"/>
              <a:gd name="connsiteX232" fmla="*/ 7349808 w 11499847"/>
              <a:gd name="connsiteY232" fmla="*/ 1470025 h 2403475"/>
              <a:gd name="connsiteX233" fmla="*/ 7158642 w 11499847"/>
              <a:gd name="connsiteY233" fmla="*/ 1391615 h 2403475"/>
              <a:gd name="connsiteX234" fmla="*/ 7080247 w 11499847"/>
              <a:gd name="connsiteY234" fmla="*/ 1203221 h 2403475"/>
              <a:gd name="connsiteX235" fmla="*/ 7158642 w 11499847"/>
              <a:gd name="connsiteY235" fmla="*/ 1014826 h 2403475"/>
              <a:gd name="connsiteX236" fmla="*/ 7349808 w 11499847"/>
              <a:gd name="connsiteY236" fmla="*/ 936625 h 2403475"/>
              <a:gd name="connsiteX237" fmla="*/ 6837427 w 11499847"/>
              <a:gd name="connsiteY237" fmla="*/ 936625 h 2403475"/>
              <a:gd name="connsiteX238" fmla="*/ 6932756 w 11499847"/>
              <a:gd name="connsiteY238" fmla="*/ 951680 h 2403475"/>
              <a:gd name="connsiteX239" fmla="*/ 7008810 w 11499847"/>
              <a:gd name="connsiteY239" fmla="*/ 993499 h 2403475"/>
              <a:gd name="connsiteX240" fmla="*/ 6987439 w 11499847"/>
              <a:gd name="connsiteY240" fmla="*/ 1026745 h 2403475"/>
              <a:gd name="connsiteX241" fmla="*/ 6966278 w 11499847"/>
              <a:gd name="connsiteY241" fmla="*/ 1059991 h 2403475"/>
              <a:gd name="connsiteX242" fmla="*/ 6904891 w 11499847"/>
              <a:gd name="connsiteY242" fmla="*/ 1024863 h 2403475"/>
              <a:gd name="connsiteX243" fmla="*/ 6833027 w 11499847"/>
              <a:gd name="connsiteY243" fmla="*/ 1012526 h 2403475"/>
              <a:gd name="connsiteX244" fmla="*/ 6703338 w 11499847"/>
              <a:gd name="connsiteY244" fmla="*/ 1067727 h 2403475"/>
              <a:gd name="connsiteX245" fmla="*/ 6649912 w 11499847"/>
              <a:gd name="connsiteY245" fmla="*/ 1203221 h 2403475"/>
              <a:gd name="connsiteX246" fmla="*/ 6703338 w 11499847"/>
              <a:gd name="connsiteY246" fmla="*/ 1338923 h 2403475"/>
              <a:gd name="connsiteX247" fmla="*/ 6833027 w 11499847"/>
              <a:gd name="connsiteY247" fmla="*/ 1393915 h 2403475"/>
              <a:gd name="connsiteX248" fmla="*/ 6904891 w 11499847"/>
              <a:gd name="connsiteY248" fmla="*/ 1381787 h 2403475"/>
              <a:gd name="connsiteX249" fmla="*/ 6966278 w 11499847"/>
              <a:gd name="connsiteY249" fmla="*/ 1346450 h 2403475"/>
              <a:gd name="connsiteX250" fmla="*/ 6987439 w 11499847"/>
              <a:gd name="connsiteY250" fmla="*/ 1379696 h 2403475"/>
              <a:gd name="connsiteX251" fmla="*/ 7008810 w 11499847"/>
              <a:gd name="connsiteY251" fmla="*/ 1412942 h 2403475"/>
              <a:gd name="connsiteX252" fmla="*/ 6932756 w 11499847"/>
              <a:gd name="connsiteY252" fmla="*/ 1454970 h 2403475"/>
              <a:gd name="connsiteX253" fmla="*/ 6837427 w 11499847"/>
              <a:gd name="connsiteY253" fmla="*/ 1470025 h 2403475"/>
              <a:gd name="connsiteX254" fmla="*/ 6644674 w 11499847"/>
              <a:gd name="connsiteY254" fmla="*/ 1392242 h 2403475"/>
              <a:gd name="connsiteX255" fmla="*/ 6565897 w 11499847"/>
              <a:gd name="connsiteY255" fmla="*/ 1203221 h 2403475"/>
              <a:gd name="connsiteX256" fmla="*/ 6644674 w 11499847"/>
              <a:gd name="connsiteY256" fmla="*/ 1014408 h 2403475"/>
              <a:gd name="connsiteX257" fmla="*/ 6837427 w 11499847"/>
              <a:gd name="connsiteY257" fmla="*/ 936625 h 2403475"/>
              <a:gd name="connsiteX258" fmla="*/ 501650 w 11499847"/>
              <a:gd name="connsiteY258" fmla="*/ 477838 h 2403475"/>
              <a:gd name="connsiteX259" fmla="*/ 501650 w 11499847"/>
              <a:gd name="connsiteY259" fmla="*/ 981076 h 2403475"/>
              <a:gd name="connsiteX260" fmla="*/ 786010 w 11499847"/>
              <a:gd name="connsiteY260" fmla="*/ 981076 h 2403475"/>
              <a:gd name="connsiteX261" fmla="*/ 1070579 w 11499847"/>
              <a:gd name="connsiteY261" fmla="*/ 981076 h 2403475"/>
              <a:gd name="connsiteX262" fmla="*/ 1253188 w 11499847"/>
              <a:gd name="connsiteY262" fmla="*/ 908588 h 2403475"/>
              <a:gd name="connsiteX263" fmla="*/ 1327150 w 11499847"/>
              <a:gd name="connsiteY263" fmla="*/ 727681 h 2403475"/>
              <a:gd name="connsiteX264" fmla="*/ 1253188 w 11499847"/>
              <a:gd name="connsiteY264" fmla="*/ 548446 h 2403475"/>
              <a:gd name="connsiteX265" fmla="*/ 1070579 w 11499847"/>
              <a:gd name="connsiteY265" fmla="*/ 477838 h 2403475"/>
              <a:gd name="connsiteX266" fmla="*/ 501650 w 11499847"/>
              <a:gd name="connsiteY266" fmla="*/ 477838 h 2403475"/>
              <a:gd name="connsiteX267" fmla="*/ 6675435 w 11499847"/>
              <a:gd name="connsiteY267" fmla="*/ 336550 h 2403475"/>
              <a:gd name="connsiteX268" fmla="*/ 6675435 w 11499847"/>
              <a:gd name="connsiteY268" fmla="*/ 487363 h 2403475"/>
              <a:gd name="connsiteX269" fmla="*/ 6808467 w 11499847"/>
              <a:gd name="connsiteY269" fmla="*/ 487363 h 2403475"/>
              <a:gd name="connsiteX270" fmla="*/ 6865570 w 11499847"/>
              <a:gd name="connsiteY270" fmla="*/ 465370 h 2403475"/>
              <a:gd name="connsiteX271" fmla="*/ 6888160 w 11499847"/>
              <a:gd name="connsiteY271" fmla="*/ 411957 h 2403475"/>
              <a:gd name="connsiteX272" fmla="*/ 6865570 w 11499847"/>
              <a:gd name="connsiteY272" fmla="*/ 358334 h 2403475"/>
              <a:gd name="connsiteX273" fmla="*/ 6808467 w 11499847"/>
              <a:gd name="connsiteY273" fmla="*/ 336550 h 2403475"/>
              <a:gd name="connsiteX274" fmla="*/ 6675435 w 11499847"/>
              <a:gd name="connsiteY274" fmla="*/ 336550 h 2403475"/>
              <a:gd name="connsiteX275" fmla="*/ 6675435 w 11499847"/>
              <a:gd name="connsiteY275" fmla="*/ 122238 h 2403475"/>
              <a:gd name="connsiteX276" fmla="*/ 6675435 w 11499847"/>
              <a:gd name="connsiteY276" fmla="*/ 265113 h 2403475"/>
              <a:gd name="connsiteX277" fmla="*/ 6795279 w 11499847"/>
              <a:gd name="connsiteY277" fmla="*/ 265113 h 2403475"/>
              <a:gd name="connsiteX278" fmla="*/ 6848404 w 11499847"/>
              <a:gd name="connsiteY278" fmla="*/ 244673 h 2403475"/>
              <a:gd name="connsiteX279" fmla="*/ 6869110 w 11499847"/>
              <a:gd name="connsiteY279" fmla="*/ 193571 h 2403475"/>
              <a:gd name="connsiteX280" fmla="*/ 6848404 w 11499847"/>
              <a:gd name="connsiteY280" fmla="*/ 142679 h 2403475"/>
              <a:gd name="connsiteX281" fmla="*/ 6795279 w 11499847"/>
              <a:gd name="connsiteY281" fmla="*/ 122238 h 2403475"/>
              <a:gd name="connsiteX282" fmla="*/ 6675435 w 11499847"/>
              <a:gd name="connsiteY282" fmla="*/ 122238 h 2403475"/>
              <a:gd name="connsiteX283" fmla="*/ 8850791 w 11499847"/>
              <a:gd name="connsiteY283" fmla="*/ 114300 h 2403475"/>
              <a:gd name="connsiteX284" fmla="*/ 8719837 w 11499847"/>
              <a:gd name="connsiteY284" fmla="*/ 169657 h 2403475"/>
              <a:gd name="connsiteX285" fmla="*/ 8666160 w 11499847"/>
              <a:gd name="connsiteY285" fmla="*/ 304905 h 2403475"/>
              <a:gd name="connsiteX286" fmla="*/ 8719837 w 11499847"/>
              <a:gd name="connsiteY286" fmla="*/ 439943 h 2403475"/>
              <a:gd name="connsiteX287" fmla="*/ 8850791 w 11499847"/>
              <a:gd name="connsiteY287" fmla="*/ 495300 h 2403475"/>
              <a:gd name="connsiteX288" fmla="*/ 8982163 w 11499847"/>
              <a:gd name="connsiteY288" fmla="*/ 440153 h 2403475"/>
              <a:gd name="connsiteX289" fmla="*/ 9036048 w 11499847"/>
              <a:gd name="connsiteY289" fmla="*/ 304905 h 2403475"/>
              <a:gd name="connsiteX290" fmla="*/ 8981954 w 11499847"/>
              <a:gd name="connsiteY290" fmla="*/ 169657 h 2403475"/>
              <a:gd name="connsiteX291" fmla="*/ 8850791 w 11499847"/>
              <a:gd name="connsiteY291" fmla="*/ 114300 h 2403475"/>
              <a:gd name="connsiteX292" fmla="*/ 7335415 w 11499847"/>
              <a:gd name="connsiteY292" fmla="*/ 114300 h 2403475"/>
              <a:gd name="connsiteX293" fmla="*/ 7203974 w 11499847"/>
              <a:gd name="connsiteY293" fmla="*/ 169657 h 2403475"/>
              <a:gd name="connsiteX294" fmla="*/ 7150097 w 11499847"/>
              <a:gd name="connsiteY294" fmla="*/ 304905 h 2403475"/>
              <a:gd name="connsiteX295" fmla="*/ 7203974 w 11499847"/>
              <a:gd name="connsiteY295" fmla="*/ 439943 h 2403475"/>
              <a:gd name="connsiteX296" fmla="*/ 7335415 w 11499847"/>
              <a:gd name="connsiteY296" fmla="*/ 495300 h 2403475"/>
              <a:gd name="connsiteX297" fmla="*/ 7467486 w 11499847"/>
              <a:gd name="connsiteY297" fmla="*/ 440153 h 2403475"/>
              <a:gd name="connsiteX298" fmla="*/ 7521572 w 11499847"/>
              <a:gd name="connsiteY298" fmla="*/ 304905 h 2403475"/>
              <a:gd name="connsiteX299" fmla="*/ 7467067 w 11499847"/>
              <a:gd name="connsiteY299" fmla="*/ 169657 h 2403475"/>
              <a:gd name="connsiteX300" fmla="*/ 7335415 w 11499847"/>
              <a:gd name="connsiteY300" fmla="*/ 114300 h 2403475"/>
              <a:gd name="connsiteX301" fmla="*/ 9237660 w 11499847"/>
              <a:gd name="connsiteY301" fmla="*/ 49213 h 2403475"/>
              <a:gd name="connsiteX302" fmla="*/ 9339260 w 11499847"/>
              <a:gd name="connsiteY302" fmla="*/ 49213 h 2403475"/>
              <a:gd name="connsiteX303" fmla="*/ 9458322 w 11499847"/>
              <a:gd name="connsiteY303" fmla="*/ 242888 h 2403475"/>
              <a:gd name="connsiteX304" fmla="*/ 9578972 w 11499847"/>
              <a:gd name="connsiteY304" fmla="*/ 436563 h 2403475"/>
              <a:gd name="connsiteX305" fmla="*/ 9578972 w 11499847"/>
              <a:gd name="connsiteY305" fmla="*/ 49213 h 2403475"/>
              <a:gd name="connsiteX306" fmla="*/ 9656760 w 11499847"/>
              <a:gd name="connsiteY306" fmla="*/ 49213 h 2403475"/>
              <a:gd name="connsiteX307" fmla="*/ 9656760 w 11499847"/>
              <a:gd name="connsiteY307" fmla="*/ 560388 h 2403475"/>
              <a:gd name="connsiteX308" fmla="*/ 9561510 w 11499847"/>
              <a:gd name="connsiteY308" fmla="*/ 560388 h 2403475"/>
              <a:gd name="connsiteX309" fmla="*/ 9439272 w 11499847"/>
              <a:gd name="connsiteY309" fmla="*/ 363538 h 2403475"/>
              <a:gd name="connsiteX310" fmla="*/ 9317035 w 11499847"/>
              <a:gd name="connsiteY310" fmla="*/ 165101 h 2403475"/>
              <a:gd name="connsiteX311" fmla="*/ 9317035 w 11499847"/>
              <a:gd name="connsiteY311" fmla="*/ 560388 h 2403475"/>
              <a:gd name="connsiteX312" fmla="*/ 9237660 w 11499847"/>
              <a:gd name="connsiteY312" fmla="*/ 560388 h 2403475"/>
              <a:gd name="connsiteX313" fmla="*/ 8126410 w 11499847"/>
              <a:gd name="connsiteY313" fmla="*/ 49213 h 2403475"/>
              <a:gd name="connsiteX314" fmla="*/ 8529635 w 11499847"/>
              <a:gd name="connsiteY314" fmla="*/ 49213 h 2403475"/>
              <a:gd name="connsiteX315" fmla="*/ 8529635 w 11499847"/>
              <a:gd name="connsiteY315" fmla="*/ 125413 h 2403475"/>
              <a:gd name="connsiteX316" fmla="*/ 8369298 w 11499847"/>
              <a:gd name="connsiteY316" fmla="*/ 125413 h 2403475"/>
              <a:gd name="connsiteX317" fmla="*/ 8369298 w 11499847"/>
              <a:gd name="connsiteY317" fmla="*/ 560388 h 2403475"/>
              <a:gd name="connsiteX318" fmla="*/ 8285160 w 11499847"/>
              <a:gd name="connsiteY318" fmla="*/ 560388 h 2403475"/>
              <a:gd name="connsiteX319" fmla="*/ 8285160 w 11499847"/>
              <a:gd name="connsiteY319" fmla="*/ 125413 h 2403475"/>
              <a:gd name="connsiteX320" fmla="*/ 8126410 w 11499847"/>
              <a:gd name="connsiteY320" fmla="*/ 125413 h 2403475"/>
              <a:gd name="connsiteX321" fmla="*/ 6592885 w 11499847"/>
              <a:gd name="connsiteY321" fmla="*/ 49213 h 2403475"/>
              <a:gd name="connsiteX322" fmla="*/ 6795851 w 11499847"/>
              <a:gd name="connsiteY322" fmla="*/ 49213 h 2403475"/>
              <a:gd name="connsiteX323" fmla="*/ 6907775 w 11499847"/>
              <a:gd name="connsiteY323" fmla="*/ 87875 h 2403475"/>
              <a:gd name="connsiteX324" fmla="*/ 6952670 w 11499847"/>
              <a:gd name="connsiteY324" fmla="*/ 185680 h 2403475"/>
              <a:gd name="connsiteX325" fmla="*/ 6936382 w 11499847"/>
              <a:gd name="connsiteY325" fmla="*/ 245658 h 2403475"/>
              <a:gd name="connsiteX326" fmla="*/ 6892114 w 11499847"/>
              <a:gd name="connsiteY326" fmla="*/ 288709 h 2403475"/>
              <a:gd name="connsiteX327" fmla="*/ 6950791 w 11499847"/>
              <a:gd name="connsiteY327" fmla="*/ 339492 h 2403475"/>
              <a:gd name="connsiteX328" fmla="*/ 6972298 w 11499847"/>
              <a:gd name="connsiteY328" fmla="*/ 412845 h 2403475"/>
              <a:gd name="connsiteX329" fmla="*/ 6926359 w 11499847"/>
              <a:gd name="connsiteY329" fmla="*/ 517546 h 2403475"/>
              <a:gd name="connsiteX330" fmla="*/ 6808798 w 11499847"/>
              <a:gd name="connsiteY330" fmla="*/ 560388 h 2403475"/>
              <a:gd name="connsiteX331" fmla="*/ 6592885 w 11499847"/>
              <a:gd name="connsiteY331" fmla="*/ 560388 h 2403475"/>
              <a:gd name="connsiteX332" fmla="*/ 6592885 w 11499847"/>
              <a:gd name="connsiteY332" fmla="*/ 49213 h 2403475"/>
              <a:gd name="connsiteX333" fmla="*/ 8850790 w 11499847"/>
              <a:gd name="connsiteY333" fmla="*/ 38100 h 2403475"/>
              <a:gd name="connsiteX334" fmla="*/ 9041603 w 11499847"/>
              <a:gd name="connsiteY334" fmla="*/ 116301 h 2403475"/>
              <a:gd name="connsiteX335" fmla="*/ 9120185 w 11499847"/>
              <a:gd name="connsiteY335" fmla="*/ 304905 h 2403475"/>
              <a:gd name="connsiteX336" fmla="*/ 9041603 w 11499847"/>
              <a:gd name="connsiteY336" fmla="*/ 493090 h 2403475"/>
              <a:gd name="connsiteX337" fmla="*/ 8850790 w 11499847"/>
              <a:gd name="connsiteY337" fmla="*/ 571500 h 2403475"/>
              <a:gd name="connsiteX338" fmla="*/ 8660186 w 11499847"/>
              <a:gd name="connsiteY338" fmla="*/ 493090 h 2403475"/>
              <a:gd name="connsiteX339" fmla="*/ 8582022 w 11499847"/>
              <a:gd name="connsiteY339" fmla="*/ 304905 h 2403475"/>
              <a:gd name="connsiteX340" fmla="*/ 8660186 w 11499847"/>
              <a:gd name="connsiteY340" fmla="*/ 116301 h 2403475"/>
              <a:gd name="connsiteX341" fmla="*/ 8850790 w 11499847"/>
              <a:gd name="connsiteY341" fmla="*/ 38100 h 2403475"/>
              <a:gd name="connsiteX342" fmla="*/ 7870035 w 11499847"/>
              <a:gd name="connsiteY342" fmla="*/ 38100 h 2403475"/>
              <a:gd name="connsiteX343" fmla="*/ 7871499 w 11499847"/>
              <a:gd name="connsiteY343" fmla="*/ 38100 h 2403475"/>
              <a:gd name="connsiteX344" fmla="*/ 7955187 w 11499847"/>
              <a:gd name="connsiteY344" fmla="*/ 51273 h 2403475"/>
              <a:gd name="connsiteX345" fmla="*/ 8025067 w 11499847"/>
              <a:gd name="connsiteY345" fmla="*/ 86401 h 2403475"/>
              <a:gd name="connsiteX346" fmla="*/ 8004563 w 11499847"/>
              <a:gd name="connsiteY346" fmla="*/ 118811 h 2403475"/>
              <a:gd name="connsiteX347" fmla="*/ 7984060 w 11499847"/>
              <a:gd name="connsiteY347" fmla="*/ 151429 h 2403475"/>
              <a:gd name="connsiteX348" fmla="*/ 7926943 w 11499847"/>
              <a:gd name="connsiteY348" fmla="*/ 122574 h 2403475"/>
              <a:gd name="connsiteX349" fmla="*/ 7869198 w 11499847"/>
              <a:gd name="connsiteY349" fmla="*/ 112538 h 2403475"/>
              <a:gd name="connsiteX350" fmla="*/ 7802666 w 11499847"/>
              <a:gd name="connsiteY350" fmla="*/ 133865 h 2403475"/>
              <a:gd name="connsiteX351" fmla="*/ 7780907 w 11499847"/>
              <a:gd name="connsiteY351" fmla="*/ 185721 h 2403475"/>
              <a:gd name="connsiteX352" fmla="*/ 7811035 w 11499847"/>
              <a:gd name="connsiteY352" fmla="*/ 236949 h 2403475"/>
              <a:gd name="connsiteX353" fmla="*/ 7891166 w 11499847"/>
              <a:gd name="connsiteY353" fmla="*/ 266849 h 2403475"/>
              <a:gd name="connsiteX354" fmla="*/ 7998914 w 11499847"/>
              <a:gd name="connsiteY354" fmla="*/ 313896 h 2403475"/>
              <a:gd name="connsiteX355" fmla="*/ 8047035 w 11499847"/>
              <a:gd name="connsiteY355" fmla="*/ 415934 h 2403475"/>
              <a:gd name="connsiteX356" fmla="*/ 7999751 w 11499847"/>
              <a:gd name="connsiteY356" fmla="*/ 527381 h 2403475"/>
              <a:gd name="connsiteX357" fmla="*/ 7866478 w 11499847"/>
              <a:gd name="connsiteY357" fmla="*/ 571500 h 2403475"/>
              <a:gd name="connsiteX358" fmla="*/ 7761659 w 11499847"/>
              <a:gd name="connsiteY358" fmla="*/ 554145 h 2403475"/>
              <a:gd name="connsiteX359" fmla="*/ 7685085 w 11499847"/>
              <a:gd name="connsiteY359" fmla="*/ 512954 h 2403475"/>
              <a:gd name="connsiteX360" fmla="*/ 7725883 w 11499847"/>
              <a:gd name="connsiteY360" fmla="*/ 447925 h 2403475"/>
              <a:gd name="connsiteX361" fmla="*/ 7793879 w 11499847"/>
              <a:gd name="connsiteY361" fmla="*/ 483053 h 2403475"/>
              <a:gd name="connsiteX362" fmla="*/ 7867106 w 11499847"/>
              <a:gd name="connsiteY362" fmla="*/ 497063 h 2403475"/>
              <a:gd name="connsiteX363" fmla="*/ 7939496 w 11499847"/>
              <a:gd name="connsiteY363" fmla="*/ 475108 h 2403475"/>
              <a:gd name="connsiteX364" fmla="*/ 7964393 w 11499847"/>
              <a:gd name="connsiteY364" fmla="*/ 420952 h 2403475"/>
              <a:gd name="connsiteX365" fmla="*/ 7933847 w 11499847"/>
              <a:gd name="connsiteY365" fmla="*/ 369933 h 2403475"/>
              <a:gd name="connsiteX366" fmla="*/ 7853925 w 11499847"/>
              <a:gd name="connsiteY366" fmla="*/ 339823 h 2403475"/>
              <a:gd name="connsiteX367" fmla="*/ 7745968 w 11499847"/>
              <a:gd name="connsiteY367" fmla="*/ 292986 h 2403475"/>
              <a:gd name="connsiteX368" fmla="*/ 7698266 w 11499847"/>
              <a:gd name="connsiteY368" fmla="*/ 190739 h 2403475"/>
              <a:gd name="connsiteX369" fmla="*/ 7743666 w 11499847"/>
              <a:gd name="connsiteY369" fmla="*/ 80964 h 2403475"/>
              <a:gd name="connsiteX370" fmla="*/ 7870035 w 11499847"/>
              <a:gd name="connsiteY370" fmla="*/ 38100 h 2403475"/>
              <a:gd name="connsiteX371" fmla="*/ 7334624 w 11499847"/>
              <a:gd name="connsiteY371" fmla="*/ 38100 h 2403475"/>
              <a:gd name="connsiteX372" fmla="*/ 7525363 w 11499847"/>
              <a:gd name="connsiteY372" fmla="*/ 116301 h 2403475"/>
              <a:gd name="connsiteX373" fmla="*/ 7604123 w 11499847"/>
              <a:gd name="connsiteY373" fmla="*/ 304905 h 2403475"/>
              <a:gd name="connsiteX374" fmla="*/ 7525363 w 11499847"/>
              <a:gd name="connsiteY374" fmla="*/ 493090 h 2403475"/>
              <a:gd name="connsiteX375" fmla="*/ 7334624 w 11499847"/>
              <a:gd name="connsiteY375" fmla="*/ 571500 h 2403475"/>
              <a:gd name="connsiteX376" fmla="*/ 7144094 w 11499847"/>
              <a:gd name="connsiteY376" fmla="*/ 493090 h 2403475"/>
              <a:gd name="connsiteX377" fmla="*/ 7065960 w 11499847"/>
              <a:gd name="connsiteY377" fmla="*/ 304905 h 2403475"/>
              <a:gd name="connsiteX378" fmla="*/ 7144094 w 11499847"/>
              <a:gd name="connsiteY378" fmla="*/ 116301 h 2403475"/>
              <a:gd name="connsiteX379" fmla="*/ 7334624 w 11499847"/>
              <a:gd name="connsiteY379" fmla="*/ 38100 h 2403475"/>
              <a:gd name="connsiteX380" fmla="*/ 2766077 w 11499847"/>
              <a:gd name="connsiteY380" fmla="*/ 0 h 2403475"/>
              <a:gd name="connsiteX381" fmla="*/ 3146531 w 11499847"/>
              <a:gd name="connsiteY381" fmla="*/ 51449 h 2403475"/>
              <a:gd name="connsiteX382" fmla="*/ 3467375 w 11499847"/>
              <a:gd name="connsiteY382" fmla="*/ 204124 h 2403475"/>
              <a:gd name="connsiteX383" fmla="*/ 3340627 w 11499847"/>
              <a:gd name="connsiteY383" fmla="*/ 403228 h 2403475"/>
              <a:gd name="connsiteX384" fmla="*/ 3213880 w 11499847"/>
              <a:gd name="connsiteY384" fmla="*/ 602542 h 2403475"/>
              <a:gd name="connsiteX385" fmla="*/ 3009743 w 11499847"/>
              <a:gd name="connsiteY385" fmla="*/ 496716 h 2403475"/>
              <a:gd name="connsiteX386" fmla="*/ 2766077 w 11499847"/>
              <a:gd name="connsiteY386" fmla="*/ 457606 h 2403475"/>
              <a:gd name="connsiteX387" fmla="*/ 2232314 w 11499847"/>
              <a:gd name="connsiteY387" fmla="*/ 681180 h 2403475"/>
              <a:gd name="connsiteX388" fmla="*/ 2012073 w 11499847"/>
              <a:gd name="connsiteY388" fmla="*/ 1198391 h 2403475"/>
              <a:gd name="connsiteX389" fmla="*/ 2232314 w 11499847"/>
              <a:gd name="connsiteY389" fmla="*/ 1721250 h 2403475"/>
              <a:gd name="connsiteX390" fmla="*/ 2766077 w 11499847"/>
              <a:gd name="connsiteY390" fmla="*/ 1942732 h 2403475"/>
              <a:gd name="connsiteX391" fmla="*/ 3050111 w 11499847"/>
              <a:gd name="connsiteY391" fmla="*/ 1886682 h 2403475"/>
              <a:gd name="connsiteX392" fmla="*/ 3289594 w 11499847"/>
              <a:gd name="connsiteY392" fmla="*/ 1722086 h 2403475"/>
              <a:gd name="connsiteX393" fmla="*/ 3543925 w 11499847"/>
              <a:gd name="connsiteY393" fmla="*/ 1095493 h 2403475"/>
              <a:gd name="connsiteX394" fmla="*/ 3921866 w 11499847"/>
              <a:gd name="connsiteY394" fmla="*/ 345714 h 2403475"/>
              <a:gd name="connsiteX395" fmla="*/ 4300646 w 11499847"/>
              <a:gd name="connsiteY395" fmla="*/ 92441 h 2403475"/>
              <a:gd name="connsiteX396" fmla="*/ 4787977 w 11499847"/>
              <a:gd name="connsiteY396" fmla="*/ 0 h 2403475"/>
              <a:gd name="connsiteX397" fmla="*/ 5168221 w 11499847"/>
              <a:gd name="connsiteY397" fmla="*/ 54796 h 2403475"/>
              <a:gd name="connsiteX398" fmla="*/ 5489275 w 11499847"/>
              <a:gd name="connsiteY398" fmla="*/ 210607 h 2403475"/>
              <a:gd name="connsiteX399" fmla="*/ 5364200 w 11499847"/>
              <a:gd name="connsiteY399" fmla="*/ 409921 h 2403475"/>
              <a:gd name="connsiteX400" fmla="*/ 5239125 w 11499847"/>
              <a:gd name="connsiteY400" fmla="*/ 609025 h 2403475"/>
              <a:gd name="connsiteX401" fmla="*/ 5031643 w 11499847"/>
              <a:gd name="connsiteY401" fmla="*/ 500480 h 2403475"/>
              <a:gd name="connsiteX402" fmla="*/ 4784631 w 11499847"/>
              <a:gd name="connsiteY402" fmla="*/ 460952 h 2403475"/>
              <a:gd name="connsiteX403" fmla="*/ 4264462 w 11499847"/>
              <a:gd name="connsiteY403" fmla="*/ 679089 h 2403475"/>
              <a:gd name="connsiteX404" fmla="*/ 4050287 w 11499847"/>
              <a:gd name="connsiteY404" fmla="*/ 1198391 h 2403475"/>
              <a:gd name="connsiteX405" fmla="*/ 4262370 w 11499847"/>
              <a:gd name="connsiteY405" fmla="*/ 1725223 h 2403475"/>
              <a:gd name="connsiteX406" fmla="*/ 4778147 w 11499847"/>
              <a:gd name="connsiteY406" fmla="*/ 1945870 h 2403475"/>
              <a:gd name="connsiteX407" fmla="*/ 5191438 w 11499847"/>
              <a:gd name="connsiteY407" fmla="*/ 1804280 h 2403475"/>
              <a:gd name="connsiteX408" fmla="*/ 5426737 w 11499847"/>
              <a:gd name="connsiteY408" fmla="*/ 1445390 h 2403475"/>
              <a:gd name="connsiteX409" fmla="*/ 4708917 w 11499847"/>
              <a:gd name="connsiteY409" fmla="*/ 1445390 h 2403475"/>
              <a:gd name="connsiteX410" fmla="*/ 4850515 w 11499847"/>
              <a:gd name="connsiteY410" fmla="*/ 1223279 h 2403475"/>
              <a:gd name="connsiteX411" fmla="*/ 4992113 w 11499847"/>
              <a:gd name="connsiteY411" fmla="*/ 1000960 h 2403475"/>
              <a:gd name="connsiteX412" fmla="*/ 5457901 w 11499847"/>
              <a:gd name="connsiteY412" fmla="*/ 1000960 h 2403475"/>
              <a:gd name="connsiteX413" fmla="*/ 5924108 w 11499847"/>
              <a:gd name="connsiteY413" fmla="*/ 1000960 h 2403475"/>
              <a:gd name="connsiteX414" fmla="*/ 5936030 w 11499847"/>
              <a:gd name="connsiteY414" fmla="*/ 1100094 h 2403475"/>
              <a:gd name="connsiteX415" fmla="*/ 5940422 w 11499847"/>
              <a:gd name="connsiteY415" fmla="*/ 1201738 h 2403475"/>
              <a:gd name="connsiteX416" fmla="*/ 5600963 w 11499847"/>
              <a:gd name="connsiteY416" fmla="*/ 2050860 h 2403475"/>
              <a:gd name="connsiteX417" fmla="*/ 4764970 w 11499847"/>
              <a:gd name="connsiteY417" fmla="*/ 2403475 h 2403475"/>
              <a:gd name="connsiteX418" fmla="*/ 4178290 w 11499847"/>
              <a:gd name="connsiteY418" fmla="*/ 2262513 h 2403475"/>
              <a:gd name="connsiteX419" fmla="*/ 3757265 w 11499847"/>
              <a:gd name="connsiteY419" fmla="*/ 1886682 h 2403475"/>
              <a:gd name="connsiteX420" fmla="*/ 3332469 w 11499847"/>
              <a:gd name="connsiteY420" fmla="*/ 2263558 h 2403475"/>
              <a:gd name="connsiteX421" fmla="*/ 2749555 w 11499847"/>
              <a:gd name="connsiteY421" fmla="*/ 2403475 h 2403475"/>
              <a:gd name="connsiteX422" fmla="*/ 2242563 w 11499847"/>
              <a:gd name="connsiteY422" fmla="*/ 2295766 h 2403475"/>
              <a:gd name="connsiteX423" fmla="*/ 1844121 w 11499847"/>
              <a:gd name="connsiteY423" fmla="*/ 2005266 h 2403475"/>
              <a:gd name="connsiteX424" fmla="*/ 1583096 w 11499847"/>
              <a:gd name="connsiteY424" fmla="*/ 2257493 h 2403475"/>
              <a:gd name="connsiteX425" fmla="*/ 1188838 w 11499847"/>
              <a:gd name="connsiteY425" fmla="*/ 2354117 h 2403475"/>
              <a:gd name="connsiteX426" fmla="*/ 0 w 11499847"/>
              <a:gd name="connsiteY426" fmla="*/ 2354117 h 2403475"/>
              <a:gd name="connsiteX427" fmla="*/ 0 w 11499847"/>
              <a:gd name="connsiteY427" fmla="*/ 1201738 h 2403475"/>
              <a:gd name="connsiteX428" fmla="*/ 0 w 11499847"/>
              <a:gd name="connsiteY428" fmla="*/ 49358 h 2403475"/>
              <a:gd name="connsiteX429" fmla="*/ 538575 w 11499847"/>
              <a:gd name="connsiteY429" fmla="*/ 49358 h 2403475"/>
              <a:gd name="connsiteX430" fmla="*/ 1076940 w 11499847"/>
              <a:gd name="connsiteY430" fmla="*/ 49358 h 2403475"/>
              <a:gd name="connsiteX431" fmla="*/ 1523487 w 11499847"/>
              <a:gd name="connsiteY431" fmla="*/ 176099 h 2403475"/>
              <a:gd name="connsiteX432" fmla="*/ 1774892 w 11499847"/>
              <a:gd name="connsiteY432" fmla="*/ 500480 h 2403475"/>
              <a:gd name="connsiteX433" fmla="*/ 2196549 w 11499847"/>
              <a:gd name="connsiteY433" fmla="*/ 137826 h 2403475"/>
              <a:gd name="connsiteX434" fmla="*/ 2766077 w 11499847"/>
              <a:gd name="connsiteY434" fmla="*/ 0 h 2403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Lst>
            <a:rect l="l" t="t" r="r" b="b"/>
            <a:pathLst>
              <a:path w="11499847" h="2403475">
                <a:moveTo>
                  <a:pt x="8982072" y="1919288"/>
                </a:moveTo>
                <a:cubicBezTo>
                  <a:pt x="8982072" y="2105026"/>
                  <a:pt x="8982072" y="2105026"/>
                  <a:pt x="8982072" y="2105026"/>
                </a:cubicBezTo>
                <a:cubicBezTo>
                  <a:pt x="9098233" y="2105026"/>
                  <a:pt x="9098233" y="2105026"/>
                  <a:pt x="9098233" y="2105026"/>
                </a:cubicBezTo>
                <a:cubicBezTo>
                  <a:pt x="9124975" y="2105026"/>
                  <a:pt x="9148166" y="2096202"/>
                  <a:pt x="9164880" y="2080233"/>
                </a:cubicBezTo>
                <a:cubicBezTo>
                  <a:pt x="9181594" y="2064055"/>
                  <a:pt x="9191622" y="2040732"/>
                  <a:pt x="9191622" y="2011737"/>
                </a:cubicBezTo>
                <a:cubicBezTo>
                  <a:pt x="9191622" y="1983792"/>
                  <a:pt x="9181594" y="1960680"/>
                  <a:pt x="9164880" y="1944501"/>
                </a:cubicBezTo>
                <a:cubicBezTo>
                  <a:pt x="9148166" y="1928323"/>
                  <a:pt x="9124975" y="1919288"/>
                  <a:pt x="9098233" y="1919288"/>
                </a:cubicBezTo>
                <a:cubicBezTo>
                  <a:pt x="8982072" y="1919288"/>
                  <a:pt x="8982072" y="1919288"/>
                  <a:pt x="8982072" y="1919288"/>
                </a:cubicBezTo>
                <a:close/>
                <a:moveTo>
                  <a:pt x="7280272" y="1919288"/>
                </a:moveTo>
                <a:cubicBezTo>
                  <a:pt x="7280272" y="2097088"/>
                  <a:pt x="7280272" y="2097088"/>
                  <a:pt x="7280272" y="2097088"/>
                </a:cubicBezTo>
                <a:cubicBezTo>
                  <a:pt x="7404503" y="2097088"/>
                  <a:pt x="7404503" y="2097088"/>
                  <a:pt x="7404503" y="2097088"/>
                </a:cubicBezTo>
                <a:cubicBezTo>
                  <a:pt x="7430689" y="2097088"/>
                  <a:pt x="7453105" y="2088711"/>
                  <a:pt x="7469027" y="2073423"/>
                </a:cubicBezTo>
                <a:cubicBezTo>
                  <a:pt x="7485158" y="2058136"/>
                  <a:pt x="7494585" y="2035937"/>
                  <a:pt x="7494585" y="2008502"/>
                </a:cubicBezTo>
                <a:cubicBezTo>
                  <a:pt x="7494585" y="1981487"/>
                  <a:pt x="7485158" y="1959078"/>
                  <a:pt x="7469027" y="1943581"/>
                </a:cubicBezTo>
                <a:cubicBezTo>
                  <a:pt x="7453105" y="1927874"/>
                  <a:pt x="7430689" y="1919288"/>
                  <a:pt x="7404503" y="1919288"/>
                </a:cubicBezTo>
                <a:cubicBezTo>
                  <a:pt x="7280272" y="1919288"/>
                  <a:pt x="7280272" y="1919288"/>
                  <a:pt x="7280272" y="1919288"/>
                </a:cubicBezTo>
                <a:close/>
                <a:moveTo>
                  <a:pt x="7945015" y="1909763"/>
                </a:moveTo>
                <a:cubicBezTo>
                  <a:pt x="7893445" y="1909763"/>
                  <a:pt x="7847115" y="1930941"/>
                  <a:pt x="7813574" y="1965330"/>
                </a:cubicBezTo>
                <a:cubicBezTo>
                  <a:pt x="7780242" y="1999719"/>
                  <a:pt x="7759697" y="2047317"/>
                  <a:pt x="7759697" y="2100368"/>
                </a:cubicBezTo>
                <a:cubicBezTo>
                  <a:pt x="7759697" y="2153419"/>
                  <a:pt x="7780242" y="2201227"/>
                  <a:pt x="7813574" y="2235406"/>
                </a:cubicBezTo>
                <a:cubicBezTo>
                  <a:pt x="7847115" y="2269795"/>
                  <a:pt x="7893445" y="2290763"/>
                  <a:pt x="7945015" y="2290763"/>
                </a:cubicBezTo>
                <a:cubicBezTo>
                  <a:pt x="7997215" y="2290763"/>
                  <a:pt x="8043544" y="2270004"/>
                  <a:pt x="8077086" y="2235825"/>
                </a:cubicBezTo>
                <a:cubicBezTo>
                  <a:pt x="8110628" y="2201437"/>
                  <a:pt x="8131172" y="2153838"/>
                  <a:pt x="8131172" y="2100368"/>
                </a:cubicBezTo>
                <a:cubicBezTo>
                  <a:pt x="8131172" y="2047317"/>
                  <a:pt x="8110418" y="1999719"/>
                  <a:pt x="8076876" y="1965330"/>
                </a:cubicBezTo>
                <a:cubicBezTo>
                  <a:pt x="8043334" y="1930941"/>
                  <a:pt x="7996796" y="1909763"/>
                  <a:pt x="7945015" y="1909763"/>
                </a:cubicBezTo>
                <a:close/>
                <a:moveTo>
                  <a:pt x="8899522" y="1844675"/>
                </a:moveTo>
                <a:cubicBezTo>
                  <a:pt x="9098598" y="1844675"/>
                  <a:pt x="9098598" y="1844675"/>
                  <a:pt x="9098598" y="1844675"/>
                </a:cubicBezTo>
                <a:cubicBezTo>
                  <a:pt x="9152872" y="1844675"/>
                  <a:pt x="9197507" y="1862857"/>
                  <a:pt x="9228521" y="1892741"/>
                </a:cubicBezTo>
                <a:cubicBezTo>
                  <a:pt x="9259744" y="1922835"/>
                  <a:pt x="9277347" y="1964423"/>
                  <a:pt x="9277347" y="2011236"/>
                </a:cubicBezTo>
                <a:cubicBezTo>
                  <a:pt x="9277347" y="2057839"/>
                  <a:pt x="9259744" y="2099427"/>
                  <a:pt x="9228521" y="2129521"/>
                </a:cubicBezTo>
                <a:cubicBezTo>
                  <a:pt x="9197507" y="2159405"/>
                  <a:pt x="9152872" y="2177796"/>
                  <a:pt x="9098598" y="2177796"/>
                </a:cubicBezTo>
                <a:cubicBezTo>
                  <a:pt x="8982086" y="2177796"/>
                  <a:pt x="8982086" y="2177796"/>
                  <a:pt x="8982086" y="2177796"/>
                </a:cubicBezTo>
                <a:cubicBezTo>
                  <a:pt x="8982086" y="2355850"/>
                  <a:pt x="8982086" y="2355850"/>
                  <a:pt x="8982086" y="2355850"/>
                </a:cubicBezTo>
                <a:cubicBezTo>
                  <a:pt x="8899522" y="2355850"/>
                  <a:pt x="8899522" y="2355850"/>
                  <a:pt x="8899522" y="2355850"/>
                </a:cubicBezTo>
                <a:cubicBezTo>
                  <a:pt x="8899522" y="1844675"/>
                  <a:pt x="8899522" y="1844675"/>
                  <a:pt x="8899522" y="1844675"/>
                </a:cubicBezTo>
                <a:close/>
                <a:moveTo>
                  <a:pt x="8324847" y="1844675"/>
                </a:moveTo>
                <a:cubicBezTo>
                  <a:pt x="8407608" y="1844675"/>
                  <a:pt x="8407608" y="1844675"/>
                  <a:pt x="8407608" y="1844675"/>
                </a:cubicBezTo>
                <a:cubicBezTo>
                  <a:pt x="8407608" y="2158090"/>
                  <a:pt x="8407608" y="2158090"/>
                  <a:pt x="8407608" y="2158090"/>
                </a:cubicBezTo>
                <a:cubicBezTo>
                  <a:pt x="8407608" y="2195307"/>
                  <a:pt x="8420389" y="2228551"/>
                  <a:pt x="8443017" y="2252595"/>
                </a:cubicBezTo>
                <a:cubicBezTo>
                  <a:pt x="8465855" y="2276431"/>
                  <a:pt x="8498331" y="2291066"/>
                  <a:pt x="8537931" y="2291066"/>
                </a:cubicBezTo>
                <a:cubicBezTo>
                  <a:pt x="8576692" y="2291066"/>
                  <a:pt x="8609168" y="2276431"/>
                  <a:pt x="8631797" y="2252595"/>
                </a:cubicBezTo>
                <a:cubicBezTo>
                  <a:pt x="8654425" y="2228551"/>
                  <a:pt x="8667415" y="2195307"/>
                  <a:pt x="8667415" y="2158090"/>
                </a:cubicBezTo>
                <a:cubicBezTo>
                  <a:pt x="8667415" y="1844675"/>
                  <a:pt x="8667415" y="1844675"/>
                  <a:pt x="8667415" y="1844675"/>
                </a:cubicBezTo>
                <a:cubicBezTo>
                  <a:pt x="8748710" y="1844675"/>
                  <a:pt x="8748710" y="1844675"/>
                  <a:pt x="8748710" y="1844675"/>
                </a:cubicBezTo>
                <a:cubicBezTo>
                  <a:pt x="8748710" y="2158717"/>
                  <a:pt x="8748710" y="2158717"/>
                  <a:pt x="8748710" y="2158717"/>
                </a:cubicBezTo>
                <a:cubicBezTo>
                  <a:pt x="8748710" y="2218724"/>
                  <a:pt x="8726291" y="2270785"/>
                  <a:pt x="8688577" y="2307793"/>
                </a:cubicBezTo>
                <a:cubicBezTo>
                  <a:pt x="8650863" y="2345010"/>
                  <a:pt x="8597854" y="2366963"/>
                  <a:pt x="8537093" y="2366963"/>
                </a:cubicBezTo>
                <a:cubicBezTo>
                  <a:pt x="8476331" y="2366963"/>
                  <a:pt x="8423322" y="2345010"/>
                  <a:pt x="8385399" y="2307793"/>
                </a:cubicBezTo>
                <a:cubicBezTo>
                  <a:pt x="8347475" y="2270785"/>
                  <a:pt x="8324847" y="2218724"/>
                  <a:pt x="8324847" y="2158717"/>
                </a:cubicBezTo>
                <a:cubicBezTo>
                  <a:pt x="8324847" y="1844675"/>
                  <a:pt x="8324847" y="1844675"/>
                  <a:pt x="8324847" y="1844675"/>
                </a:cubicBezTo>
                <a:close/>
                <a:moveTo>
                  <a:pt x="7197722" y="1844675"/>
                </a:moveTo>
                <a:cubicBezTo>
                  <a:pt x="7404196" y="1844675"/>
                  <a:pt x="7404196" y="1844675"/>
                  <a:pt x="7404196" y="1844675"/>
                </a:cubicBezTo>
                <a:cubicBezTo>
                  <a:pt x="7457641" y="1844675"/>
                  <a:pt x="7501065" y="1862439"/>
                  <a:pt x="7531336" y="1891906"/>
                </a:cubicBezTo>
                <a:cubicBezTo>
                  <a:pt x="7561608" y="1921581"/>
                  <a:pt x="7578727" y="1962542"/>
                  <a:pt x="7578727" y="2008937"/>
                </a:cubicBezTo>
                <a:cubicBezTo>
                  <a:pt x="7578727" y="2047390"/>
                  <a:pt x="7568080" y="2080827"/>
                  <a:pt x="7548455" y="2106950"/>
                </a:cubicBezTo>
                <a:cubicBezTo>
                  <a:pt x="7529040" y="2133073"/>
                  <a:pt x="7500647" y="2152091"/>
                  <a:pt x="7464947" y="2161495"/>
                </a:cubicBezTo>
                <a:cubicBezTo>
                  <a:pt x="7525699" y="2258673"/>
                  <a:pt x="7525699" y="2258673"/>
                  <a:pt x="7525699" y="2258673"/>
                </a:cubicBezTo>
                <a:cubicBezTo>
                  <a:pt x="7586660" y="2355850"/>
                  <a:pt x="7586660" y="2355850"/>
                  <a:pt x="7586660" y="2355850"/>
                </a:cubicBezTo>
                <a:cubicBezTo>
                  <a:pt x="7491044" y="2355850"/>
                  <a:pt x="7491044" y="2355850"/>
                  <a:pt x="7491044" y="2355850"/>
                </a:cubicBezTo>
                <a:cubicBezTo>
                  <a:pt x="7434676" y="2263479"/>
                  <a:pt x="7434676" y="2263479"/>
                  <a:pt x="7434676" y="2263479"/>
                </a:cubicBezTo>
                <a:cubicBezTo>
                  <a:pt x="7378099" y="2171108"/>
                  <a:pt x="7378099" y="2171108"/>
                  <a:pt x="7378099" y="2171108"/>
                </a:cubicBezTo>
                <a:cubicBezTo>
                  <a:pt x="7280395" y="2171108"/>
                  <a:pt x="7280395" y="2171108"/>
                  <a:pt x="7280395" y="2171108"/>
                </a:cubicBezTo>
                <a:cubicBezTo>
                  <a:pt x="7280395" y="2355850"/>
                  <a:pt x="7280395" y="2355850"/>
                  <a:pt x="7280395" y="2355850"/>
                </a:cubicBezTo>
                <a:cubicBezTo>
                  <a:pt x="7197722" y="2355850"/>
                  <a:pt x="7197722" y="2355850"/>
                  <a:pt x="7197722" y="2355850"/>
                </a:cubicBezTo>
                <a:cubicBezTo>
                  <a:pt x="7197722" y="1844675"/>
                  <a:pt x="7197722" y="1844675"/>
                  <a:pt x="7197722" y="1844675"/>
                </a:cubicBezTo>
                <a:close/>
                <a:moveTo>
                  <a:pt x="7945016" y="1833563"/>
                </a:moveTo>
                <a:cubicBezTo>
                  <a:pt x="8020028" y="1833563"/>
                  <a:pt x="8087706" y="1863673"/>
                  <a:pt x="8136527" y="1911974"/>
                </a:cubicBezTo>
                <a:cubicBezTo>
                  <a:pt x="8185138" y="1960274"/>
                  <a:pt x="8215310" y="2026976"/>
                  <a:pt x="8215310" y="2100368"/>
                </a:cubicBezTo>
                <a:cubicBezTo>
                  <a:pt x="8215310" y="2173760"/>
                  <a:pt x="8185138" y="2240461"/>
                  <a:pt x="8136527" y="2288762"/>
                </a:cubicBezTo>
                <a:cubicBezTo>
                  <a:pt x="8087706" y="2337063"/>
                  <a:pt x="8020028" y="2366963"/>
                  <a:pt x="7945016" y="2366963"/>
                </a:cubicBezTo>
                <a:cubicBezTo>
                  <a:pt x="7870004" y="2366963"/>
                  <a:pt x="7802745" y="2337063"/>
                  <a:pt x="7754134" y="2288762"/>
                </a:cubicBezTo>
                <a:cubicBezTo>
                  <a:pt x="7705523" y="2240461"/>
                  <a:pt x="7675560" y="2173760"/>
                  <a:pt x="7675560" y="2100368"/>
                </a:cubicBezTo>
                <a:cubicBezTo>
                  <a:pt x="7675560" y="2026976"/>
                  <a:pt x="7705523" y="1960274"/>
                  <a:pt x="7754134" y="1911974"/>
                </a:cubicBezTo>
                <a:cubicBezTo>
                  <a:pt x="7802745" y="1863673"/>
                  <a:pt x="7870004" y="1833563"/>
                  <a:pt x="7945016" y="1833563"/>
                </a:cubicBezTo>
                <a:close/>
                <a:moveTo>
                  <a:pt x="6834872" y="1833563"/>
                </a:moveTo>
                <a:cubicBezTo>
                  <a:pt x="6865690" y="1833563"/>
                  <a:pt x="6894831" y="1837536"/>
                  <a:pt x="6921875" y="1845482"/>
                </a:cubicBezTo>
                <a:cubicBezTo>
                  <a:pt x="6948919" y="1853218"/>
                  <a:pt x="6973658" y="1865136"/>
                  <a:pt x="6996090" y="1881028"/>
                </a:cubicBezTo>
                <a:cubicBezTo>
                  <a:pt x="6974496" y="1914692"/>
                  <a:pt x="6974496" y="1914692"/>
                  <a:pt x="6974496" y="1914692"/>
                </a:cubicBezTo>
                <a:cubicBezTo>
                  <a:pt x="6952903" y="1948356"/>
                  <a:pt x="6952903" y="1948356"/>
                  <a:pt x="6952903" y="1948356"/>
                </a:cubicBezTo>
                <a:cubicBezTo>
                  <a:pt x="6935712" y="1935183"/>
                  <a:pt x="6917263" y="1925774"/>
                  <a:pt x="6897556" y="1919501"/>
                </a:cubicBezTo>
                <a:cubicBezTo>
                  <a:pt x="6877850" y="1913228"/>
                  <a:pt x="6856885" y="1910301"/>
                  <a:pt x="6834243" y="1910301"/>
                </a:cubicBezTo>
                <a:cubicBezTo>
                  <a:pt x="6782461" y="1910301"/>
                  <a:pt x="6736548" y="1931001"/>
                  <a:pt x="6703424" y="1965084"/>
                </a:cubicBezTo>
                <a:cubicBezTo>
                  <a:pt x="6670510" y="1999166"/>
                  <a:pt x="6650384" y="2046631"/>
                  <a:pt x="6650384" y="2100368"/>
                </a:cubicBezTo>
                <a:cubicBezTo>
                  <a:pt x="6650384" y="2154105"/>
                  <a:pt x="6669671" y="2201779"/>
                  <a:pt x="6701957" y="2236070"/>
                </a:cubicBezTo>
                <a:cubicBezTo>
                  <a:pt x="6734242" y="2270152"/>
                  <a:pt x="6779526" y="2291062"/>
                  <a:pt x="6831308" y="2291062"/>
                </a:cubicBezTo>
                <a:cubicBezTo>
                  <a:pt x="6878898" y="2291062"/>
                  <a:pt x="6917473" y="2275798"/>
                  <a:pt x="6945984" y="2250498"/>
                </a:cubicBezTo>
                <a:cubicBezTo>
                  <a:pt x="6974496" y="2225197"/>
                  <a:pt x="6992735" y="2189442"/>
                  <a:pt x="6999863" y="2148460"/>
                </a:cubicBezTo>
                <a:cubicBezTo>
                  <a:pt x="6825438" y="2148460"/>
                  <a:pt x="6825438" y="2148460"/>
                  <a:pt x="6825438" y="2148460"/>
                </a:cubicBezTo>
                <a:cubicBezTo>
                  <a:pt x="6849128" y="2111241"/>
                  <a:pt x="6849128" y="2111241"/>
                  <a:pt x="6849128" y="2111241"/>
                </a:cubicBezTo>
                <a:cubicBezTo>
                  <a:pt x="6873028" y="2074022"/>
                  <a:pt x="6873028" y="2074022"/>
                  <a:pt x="6873028" y="2074022"/>
                </a:cubicBezTo>
                <a:cubicBezTo>
                  <a:pt x="7078061" y="2074022"/>
                  <a:pt x="7078061" y="2074022"/>
                  <a:pt x="7078061" y="2074022"/>
                </a:cubicBezTo>
                <a:cubicBezTo>
                  <a:pt x="7079319" y="2078204"/>
                  <a:pt x="7080158" y="2083849"/>
                  <a:pt x="7080787" y="2090540"/>
                </a:cubicBezTo>
                <a:cubicBezTo>
                  <a:pt x="7081415" y="2096813"/>
                  <a:pt x="7081835" y="2103922"/>
                  <a:pt x="7081835" y="2110613"/>
                </a:cubicBezTo>
                <a:cubicBezTo>
                  <a:pt x="7081835" y="2183378"/>
                  <a:pt x="7056258" y="2247361"/>
                  <a:pt x="7011813" y="2293362"/>
                </a:cubicBezTo>
                <a:cubicBezTo>
                  <a:pt x="6967788" y="2339363"/>
                  <a:pt x="6904894" y="2366963"/>
                  <a:pt x="6830470" y="2366963"/>
                </a:cubicBezTo>
                <a:cubicBezTo>
                  <a:pt x="6756255" y="2366963"/>
                  <a:pt x="6690007" y="2337481"/>
                  <a:pt x="6642417" y="2289389"/>
                </a:cubicBezTo>
                <a:cubicBezTo>
                  <a:pt x="6595037" y="2241088"/>
                  <a:pt x="6565897" y="2174387"/>
                  <a:pt x="6565897" y="2100368"/>
                </a:cubicBezTo>
                <a:cubicBezTo>
                  <a:pt x="6565897" y="2026139"/>
                  <a:pt x="6595876" y="1959438"/>
                  <a:pt x="6644514" y="1911346"/>
                </a:cubicBezTo>
                <a:cubicBezTo>
                  <a:pt x="6692942" y="1863255"/>
                  <a:pt x="6760238" y="1833563"/>
                  <a:pt x="6834872" y="1833563"/>
                </a:cubicBezTo>
                <a:close/>
                <a:moveTo>
                  <a:pt x="501650" y="1403350"/>
                </a:moveTo>
                <a:cubicBezTo>
                  <a:pt x="501650" y="1403350"/>
                  <a:pt x="501650" y="1403350"/>
                  <a:pt x="501650" y="1925638"/>
                </a:cubicBezTo>
                <a:cubicBezTo>
                  <a:pt x="501650" y="1925638"/>
                  <a:pt x="501650" y="1925638"/>
                  <a:pt x="842112" y="1925638"/>
                </a:cubicBezTo>
                <a:cubicBezTo>
                  <a:pt x="842112" y="1925638"/>
                  <a:pt x="842112" y="1925638"/>
                  <a:pt x="1182574" y="1925638"/>
                </a:cubicBezTo>
                <a:cubicBezTo>
                  <a:pt x="1258233" y="1925638"/>
                  <a:pt x="1326576" y="1896842"/>
                  <a:pt x="1375900" y="1849684"/>
                </a:cubicBezTo>
                <a:cubicBezTo>
                  <a:pt x="1425224" y="1802317"/>
                  <a:pt x="1455738" y="1736796"/>
                  <a:pt x="1455738" y="1662720"/>
                </a:cubicBezTo>
                <a:cubicBezTo>
                  <a:pt x="1455738" y="1588853"/>
                  <a:pt x="1425224" y="1523958"/>
                  <a:pt x="1375900" y="1477635"/>
                </a:cubicBezTo>
                <a:cubicBezTo>
                  <a:pt x="1326576" y="1431103"/>
                  <a:pt x="1258233" y="1403350"/>
                  <a:pt x="1182574" y="1403350"/>
                </a:cubicBezTo>
                <a:cubicBezTo>
                  <a:pt x="1182574" y="1403350"/>
                  <a:pt x="1182574" y="1403350"/>
                  <a:pt x="501650" y="1403350"/>
                </a:cubicBezTo>
                <a:close/>
                <a:moveTo>
                  <a:pt x="7349808" y="1012825"/>
                </a:moveTo>
                <a:cubicBezTo>
                  <a:pt x="7297999" y="1012825"/>
                  <a:pt x="7251643" y="1033706"/>
                  <a:pt x="7218292" y="1067952"/>
                </a:cubicBezTo>
                <a:cubicBezTo>
                  <a:pt x="7184731" y="1102197"/>
                  <a:pt x="7164385" y="1149598"/>
                  <a:pt x="7164385" y="1202427"/>
                </a:cubicBezTo>
                <a:cubicBezTo>
                  <a:pt x="7164385" y="1255466"/>
                  <a:pt x="7184731" y="1302866"/>
                  <a:pt x="7218292" y="1336903"/>
                </a:cubicBezTo>
                <a:cubicBezTo>
                  <a:pt x="7251643" y="1371148"/>
                  <a:pt x="7297999" y="1392238"/>
                  <a:pt x="7349808" y="1392238"/>
                </a:cubicBezTo>
                <a:cubicBezTo>
                  <a:pt x="7401827" y="1392238"/>
                  <a:pt x="7448393" y="1371357"/>
                  <a:pt x="7481953" y="1337320"/>
                </a:cubicBezTo>
                <a:cubicBezTo>
                  <a:pt x="7515304" y="1303075"/>
                  <a:pt x="7535860" y="1255675"/>
                  <a:pt x="7535860" y="1202427"/>
                </a:cubicBezTo>
                <a:cubicBezTo>
                  <a:pt x="7535860" y="1149598"/>
                  <a:pt x="7515304" y="1102197"/>
                  <a:pt x="7481534" y="1067952"/>
                </a:cubicBezTo>
                <a:cubicBezTo>
                  <a:pt x="7447973" y="1033706"/>
                  <a:pt x="7401408" y="1012825"/>
                  <a:pt x="7349808" y="1012825"/>
                </a:cubicBezTo>
                <a:close/>
                <a:moveTo>
                  <a:pt x="10448922" y="946150"/>
                </a:moveTo>
                <a:lnTo>
                  <a:pt x="10552110" y="946150"/>
                </a:lnTo>
                <a:lnTo>
                  <a:pt x="10671172" y="1139825"/>
                </a:lnTo>
                <a:lnTo>
                  <a:pt x="10790235" y="1333501"/>
                </a:lnTo>
                <a:lnTo>
                  <a:pt x="10790235" y="946150"/>
                </a:lnTo>
                <a:lnTo>
                  <a:pt x="10869610" y="946150"/>
                </a:lnTo>
                <a:lnTo>
                  <a:pt x="10869610" y="1458913"/>
                </a:lnTo>
                <a:lnTo>
                  <a:pt x="10772772" y="1458913"/>
                </a:lnTo>
                <a:lnTo>
                  <a:pt x="10650535" y="1260475"/>
                </a:lnTo>
                <a:lnTo>
                  <a:pt x="10528297" y="1062038"/>
                </a:lnTo>
                <a:lnTo>
                  <a:pt x="10528297" y="1458913"/>
                </a:lnTo>
                <a:lnTo>
                  <a:pt x="10448922" y="1458913"/>
                </a:lnTo>
                <a:close/>
                <a:moveTo>
                  <a:pt x="10185397" y="946150"/>
                </a:moveTo>
                <a:lnTo>
                  <a:pt x="10267947" y="946150"/>
                </a:lnTo>
                <a:lnTo>
                  <a:pt x="10267947" y="1458913"/>
                </a:lnTo>
                <a:lnTo>
                  <a:pt x="10185397" y="1458913"/>
                </a:lnTo>
                <a:close/>
                <a:moveTo>
                  <a:pt x="9656760" y="946150"/>
                </a:moveTo>
                <a:lnTo>
                  <a:pt x="10059985" y="946150"/>
                </a:lnTo>
                <a:lnTo>
                  <a:pt x="10059985" y="1022350"/>
                </a:lnTo>
                <a:lnTo>
                  <a:pt x="9899648" y="1022350"/>
                </a:lnTo>
                <a:lnTo>
                  <a:pt x="9899648" y="1458913"/>
                </a:lnTo>
                <a:lnTo>
                  <a:pt x="9817098" y="1458913"/>
                </a:lnTo>
                <a:lnTo>
                  <a:pt x="9817098" y="1022350"/>
                </a:lnTo>
                <a:lnTo>
                  <a:pt x="9656760" y="1022350"/>
                </a:lnTo>
                <a:close/>
                <a:moveTo>
                  <a:pt x="9336085" y="946150"/>
                </a:moveTo>
                <a:lnTo>
                  <a:pt x="9418635" y="946150"/>
                </a:lnTo>
                <a:lnTo>
                  <a:pt x="9418635" y="1382713"/>
                </a:lnTo>
                <a:lnTo>
                  <a:pt x="9671048" y="1382713"/>
                </a:lnTo>
                <a:lnTo>
                  <a:pt x="9671048" y="1458913"/>
                </a:lnTo>
                <a:lnTo>
                  <a:pt x="9336085" y="1458913"/>
                </a:lnTo>
                <a:close/>
                <a:moveTo>
                  <a:pt x="8766172" y="946150"/>
                </a:moveTo>
                <a:cubicBezTo>
                  <a:pt x="8848414" y="946150"/>
                  <a:pt x="8848414" y="946150"/>
                  <a:pt x="8848414" y="946150"/>
                </a:cubicBezTo>
                <a:cubicBezTo>
                  <a:pt x="8848414" y="1260391"/>
                  <a:pt x="8848414" y="1260391"/>
                  <a:pt x="8848414" y="1260391"/>
                </a:cubicBezTo>
                <a:cubicBezTo>
                  <a:pt x="8848414" y="1297706"/>
                  <a:pt x="8861356" y="1331038"/>
                  <a:pt x="8883900" y="1355146"/>
                </a:cubicBezTo>
                <a:cubicBezTo>
                  <a:pt x="8906443" y="1379044"/>
                  <a:pt x="8939006" y="1393718"/>
                  <a:pt x="8978249" y="1393718"/>
                </a:cubicBezTo>
                <a:cubicBezTo>
                  <a:pt x="9017074" y="1393718"/>
                  <a:pt x="9049219" y="1379044"/>
                  <a:pt x="9071972" y="1355146"/>
                </a:cubicBezTo>
                <a:cubicBezTo>
                  <a:pt x="9094515" y="1331038"/>
                  <a:pt x="9107457" y="1297706"/>
                  <a:pt x="9107457" y="1260391"/>
                </a:cubicBezTo>
                <a:cubicBezTo>
                  <a:pt x="9107457" y="946150"/>
                  <a:pt x="9107457" y="946150"/>
                  <a:pt x="9107457" y="946150"/>
                </a:cubicBezTo>
                <a:cubicBezTo>
                  <a:pt x="9188447" y="946150"/>
                  <a:pt x="9188447" y="946150"/>
                  <a:pt x="9188447" y="946150"/>
                </a:cubicBezTo>
                <a:cubicBezTo>
                  <a:pt x="9188447" y="1261230"/>
                  <a:pt x="9188447" y="1261230"/>
                  <a:pt x="9188447" y="1261230"/>
                </a:cubicBezTo>
                <a:cubicBezTo>
                  <a:pt x="9188447" y="1321185"/>
                  <a:pt x="9166112" y="1373384"/>
                  <a:pt x="9128539" y="1410489"/>
                </a:cubicBezTo>
                <a:cubicBezTo>
                  <a:pt x="9090758" y="1447804"/>
                  <a:pt x="9038156" y="1470025"/>
                  <a:pt x="8977623" y="1470025"/>
                </a:cubicBezTo>
                <a:cubicBezTo>
                  <a:pt x="8917089" y="1470025"/>
                  <a:pt x="8864278" y="1447804"/>
                  <a:pt x="8826497" y="1410489"/>
                </a:cubicBezTo>
                <a:cubicBezTo>
                  <a:pt x="8788716" y="1373384"/>
                  <a:pt x="8766172" y="1321185"/>
                  <a:pt x="8766172" y="1261230"/>
                </a:cubicBezTo>
                <a:cubicBezTo>
                  <a:pt x="8766172" y="946150"/>
                  <a:pt x="8766172" y="946150"/>
                  <a:pt x="8766172" y="946150"/>
                </a:cubicBezTo>
                <a:close/>
                <a:moveTo>
                  <a:pt x="7737472" y="946150"/>
                </a:moveTo>
                <a:lnTo>
                  <a:pt x="7839072" y="946150"/>
                </a:lnTo>
                <a:lnTo>
                  <a:pt x="7958134" y="1139825"/>
                </a:lnTo>
                <a:lnTo>
                  <a:pt x="8077197" y="1333501"/>
                </a:lnTo>
                <a:lnTo>
                  <a:pt x="8077197" y="946150"/>
                </a:lnTo>
                <a:lnTo>
                  <a:pt x="8156572" y="946150"/>
                </a:lnTo>
                <a:lnTo>
                  <a:pt x="8156572" y="1458913"/>
                </a:lnTo>
                <a:lnTo>
                  <a:pt x="8061322" y="1458913"/>
                </a:lnTo>
                <a:lnTo>
                  <a:pt x="7939084" y="1260475"/>
                </a:lnTo>
                <a:lnTo>
                  <a:pt x="7815259" y="1062038"/>
                </a:lnTo>
                <a:lnTo>
                  <a:pt x="7815259" y="1458913"/>
                </a:lnTo>
                <a:lnTo>
                  <a:pt x="7737472" y="1458913"/>
                </a:lnTo>
                <a:close/>
                <a:moveTo>
                  <a:pt x="11253544" y="936625"/>
                </a:moveTo>
                <a:cubicBezTo>
                  <a:pt x="11284280" y="936625"/>
                  <a:pt x="11313343" y="940389"/>
                  <a:pt x="11340315" y="948334"/>
                </a:cubicBezTo>
                <a:cubicBezTo>
                  <a:pt x="11367287" y="956071"/>
                  <a:pt x="11391959" y="967989"/>
                  <a:pt x="11414331" y="984090"/>
                </a:cubicBezTo>
                <a:cubicBezTo>
                  <a:pt x="11392795" y="1017545"/>
                  <a:pt x="11392795" y="1017545"/>
                  <a:pt x="11392795" y="1017545"/>
                </a:cubicBezTo>
                <a:cubicBezTo>
                  <a:pt x="11371260" y="1051209"/>
                  <a:pt x="11371260" y="1051209"/>
                  <a:pt x="11371260" y="1051209"/>
                </a:cubicBezTo>
                <a:cubicBezTo>
                  <a:pt x="11354114" y="1038036"/>
                  <a:pt x="11335715" y="1028627"/>
                  <a:pt x="11316270" y="1022354"/>
                </a:cubicBezTo>
                <a:cubicBezTo>
                  <a:pt x="11296616" y="1016290"/>
                  <a:pt x="11275498" y="1013363"/>
                  <a:pt x="11252917" y="1013363"/>
                </a:cubicBezTo>
                <a:cubicBezTo>
                  <a:pt x="11201273" y="1013363"/>
                  <a:pt x="11155483" y="1034063"/>
                  <a:pt x="11122657" y="1067936"/>
                </a:cubicBezTo>
                <a:cubicBezTo>
                  <a:pt x="11089622" y="1102019"/>
                  <a:pt x="11069549" y="1149692"/>
                  <a:pt x="11069549" y="1203221"/>
                </a:cubicBezTo>
                <a:cubicBezTo>
                  <a:pt x="11069549" y="1256958"/>
                  <a:pt x="11088785" y="1304631"/>
                  <a:pt x="11120984" y="1338923"/>
                </a:cubicBezTo>
                <a:cubicBezTo>
                  <a:pt x="11153393" y="1373214"/>
                  <a:pt x="11198346" y="1394124"/>
                  <a:pt x="11249990" y="1394124"/>
                </a:cubicBezTo>
                <a:cubicBezTo>
                  <a:pt x="11297452" y="1394124"/>
                  <a:pt x="11335924" y="1378860"/>
                  <a:pt x="11364360" y="1353350"/>
                </a:cubicBezTo>
                <a:cubicBezTo>
                  <a:pt x="11392795" y="1328050"/>
                  <a:pt x="11410986" y="1292295"/>
                  <a:pt x="11418095" y="1251521"/>
                </a:cubicBezTo>
                <a:cubicBezTo>
                  <a:pt x="11244136" y="1251521"/>
                  <a:pt x="11244136" y="1251521"/>
                  <a:pt x="11244136" y="1251521"/>
                </a:cubicBezTo>
                <a:cubicBezTo>
                  <a:pt x="11267971" y="1214303"/>
                  <a:pt x="11267971" y="1214303"/>
                  <a:pt x="11267971" y="1214303"/>
                </a:cubicBezTo>
                <a:cubicBezTo>
                  <a:pt x="11291598" y="1177084"/>
                  <a:pt x="11291598" y="1177084"/>
                  <a:pt x="11291598" y="1177084"/>
                </a:cubicBezTo>
                <a:cubicBezTo>
                  <a:pt x="11496083" y="1177084"/>
                  <a:pt x="11496083" y="1177084"/>
                  <a:pt x="11496083" y="1177084"/>
                </a:cubicBezTo>
                <a:cubicBezTo>
                  <a:pt x="11497338" y="1181057"/>
                  <a:pt x="11498174" y="1186911"/>
                  <a:pt x="11498802" y="1193393"/>
                </a:cubicBezTo>
                <a:cubicBezTo>
                  <a:pt x="11499429" y="1199875"/>
                  <a:pt x="11499847" y="1206984"/>
                  <a:pt x="11499847" y="1213466"/>
                </a:cubicBezTo>
                <a:cubicBezTo>
                  <a:pt x="11499847" y="1286231"/>
                  <a:pt x="11474339" y="1350214"/>
                  <a:pt x="11430222" y="1396215"/>
                </a:cubicBezTo>
                <a:cubicBezTo>
                  <a:pt x="11386105" y="1442216"/>
                  <a:pt x="11323379" y="1470025"/>
                  <a:pt x="11249154" y="1470025"/>
                </a:cubicBezTo>
                <a:cubicBezTo>
                  <a:pt x="11175137" y="1470025"/>
                  <a:pt x="11109066" y="1440334"/>
                  <a:pt x="11061813" y="1392242"/>
                </a:cubicBezTo>
                <a:cubicBezTo>
                  <a:pt x="11014351" y="1344150"/>
                  <a:pt x="10985497" y="1277449"/>
                  <a:pt x="10985497" y="1203221"/>
                </a:cubicBezTo>
                <a:cubicBezTo>
                  <a:pt x="10985497" y="1129201"/>
                  <a:pt x="11015187" y="1062500"/>
                  <a:pt x="11063695" y="1014408"/>
                </a:cubicBezTo>
                <a:cubicBezTo>
                  <a:pt x="11111994" y="966317"/>
                  <a:pt x="11179110" y="936625"/>
                  <a:pt x="11253544" y="936625"/>
                </a:cubicBezTo>
                <a:close/>
                <a:moveTo>
                  <a:pt x="8471697" y="936625"/>
                </a:moveTo>
                <a:cubicBezTo>
                  <a:pt x="8502452" y="936625"/>
                  <a:pt x="8530906" y="941434"/>
                  <a:pt x="8556850" y="949798"/>
                </a:cubicBezTo>
                <a:cubicBezTo>
                  <a:pt x="8582793" y="958162"/>
                  <a:pt x="8606225" y="970080"/>
                  <a:pt x="8626729" y="984717"/>
                </a:cubicBezTo>
                <a:cubicBezTo>
                  <a:pt x="8626729" y="984717"/>
                  <a:pt x="8626729" y="984717"/>
                  <a:pt x="8606225" y="1017336"/>
                </a:cubicBezTo>
                <a:cubicBezTo>
                  <a:pt x="8606225" y="1017336"/>
                  <a:pt x="8606225" y="1017336"/>
                  <a:pt x="8585722" y="1049745"/>
                </a:cubicBezTo>
                <a:cubicBezTo>
                  <a:pt x="8566474" y="1037409"/>
                  <a:pt x="8547644" y="1027581"/>
                  <a:pt x="8528605" y="1021099"/>
                </a:cubicBezTo>
                <a:cubicBezTo>
                  <a:pt x="8509775" y="1014617"/>
                  <a:pt x="8490736" y="1011063"/>
                  <a:pt x="8471070" y="1011063"/>
                </a:cubicBezTo>
                <a:cubicBezTo>
                  <a:pt x="8441151" y="1011063"/>
                  <a:pt x="8418974" y="1019217"/>
                  <a:pt x="8404328" y="1032181"/>
                </a:cubicBezTo>
                <a:cubicBezTo>
                  <a:pt x="8389683" y="1045354"/>
                  <a:pt x="8382570" y="1063755"/>
                  <a:pt x="8382570" y="1084246"/>
                </a:cubicBezTo>
                <a:cubicBezTo>
                  <a:pt x="8382570" y="1108292"/>
                  <a:pt x="8393449" y="1123556"/>
                  <a:pt x="8412697" y="1135474"/>
                </a:cubicBezTo>
                <a:cubicBezTo>
                  <a:pt x="8432155" y="1147183"/>
                  <a:pt x="8459772" y="1155338"/>
                  <a:pt x="8493038" y="1165165"/>
                </a:cubicBezTo>
                <a:cubicBezTo>
                  <a:pt x="8532789" y="1177293"/>
                  <a:pt x="8571704" y="1190257"/>
                  <a:pt x="8600786" y="1212421"/>
                </a:cubicBezTo>
                <a:cubicBezTo>
                  <a:pt x="8629658" y="1234585"/>
                  <a:pt x="8648697" y="1265740"/>
                  <a:pt x="8648697" y="1314250"/>
                </a:cubicBezTo>
                <a:cubicBezTo>
                  <a:pt x="8648697" y="1359205"/>
                  <a:pt x="8632169" y="1398097"/>
                  <a:pt x="8601413" y="1425906"/>
                </a:cubicBezTo>
                <a:cubicBezTo>
                  <a:pt x="8570658" y="1453507"/>
                  <a:pt x="8525467" y="1470025"/>
                  <a:pt x="8468140" y="1470025"/>
                </a:cubicBezTo>
                <a:cubicBezTo>
                  <a:pt x="8427552" y="1470025"/>
                  <a:pt x="8393031" y="1463125"/>
                  <a:pt x="8363531" y="1452461"/>
                </a:cubicBezTo>
                <a:cubicBezTo>
                  <a:pt x="8333821" y="1441797"/>
                  <a:pt x="8308715" y="1427161"/>
                  <a:pt x="8286747" y="1411479"/>
                </a:cubicBezTo>
                <a:cubicBezTo>
                  <a:pt x="8286747" y="1411479"/>
                  <a:pt x="8286747" y="1411479"/>
                  <a:pt x="8307251" y="1379069"/>
                </a:cubicBezTo>
                <a:cubicBezTo>
                  <a:pt x="8307251" y="1379069"/>
                  <a:pt x="8307251" y="1379069"/>
                  <a:pt x="8327754" y="1346450"/>
                </a:cubicBezTo>
                <a:cubicBezTo>
                  <a:pt x="8349931" y="1360669"/>
                  <a:pt x="8372318" y="1373005"/>
                  <a:pt x="8395541" y="1381578"/>
                </a:cubicBezTo>
                <a:cubicBezTo>
                  <a:pt x="8418765" y="1390360"/>
                  <a:pt x="8442825" y="1395378"/>
                  <a:pt x="8468768" y="1395378"/>
                </a:cubicBezTo>
                <a:cubicBezTo>
                  <a:pt x="8500569" y="1395378"/>
                  <a:pt x="8525048" y="1387224"/>
                  <a:pt x="8541367" y="1373633"/>
                </a:cubicBezTo>
                <a:cubicBezTo>
                  <a:pt x="8557686" y="1360041"/>
                  <a:pt x="8566055" y="1341014"/>
                  <a:pt x="8566055" y="1319477"/>
                </a:cubicBezTo>
                <a:cubicBezTo>
                  <a:pt x="8566055" y="1295640"/>
                  <a:pt x="8554967" y="1280376"/>
                  <a:pt x="8535509" y="1268458"/>
                </a:cubicBezTo>
                <a:cubicBezTo>
                  <a:pt x="8516261" y="1256540"/>
                  <a:pt x="8488644" y="1248176"/>
                  <a:pt x="8455587" y="1238348"/>
                </a:cubicBezTo>
                <a:cubicBezTo>
                  <a:pt x="8415417" y="1226221"/>
                  <a:pt x="8376502" y="1213466"/>
                  <a:pt x="8347630" y="1191511"/>
                </a:cubicBezTo>
                <a:cubicBezTo>
                  <a:pt x="8318758" y="1169556"/>
                  <a:pt x="8299928" y="1138192"/>
                  <a:pt x="8299928" y="1089264"/>
                </a:cubicBezTo>
                <a:cubicBezTo>
                  <a:pt x="8299928" y="1044727"/>
                  <a:pt x="8315829" y="1006463"/>
                  <a:pt x="8345329" y="979489"/>
                </a:cubicBezTo>
                <a:cubicBezTo>
                  <a:pt x="8374828" y="952516"/>
                  <a:pt x="8417718" y="936625"/>
                  <a:pt x="8471697" y="936625"/>
                </a:cubicBezTo>
                <a:close/>
                <a:moveTo>
                  <a:pt x="7349808" y="936625"/>
                </a:moveTo>
                <a:cubicBezTo>
                  <a:pt x="7424849" y="936625"/>
                  <a:pt x="7492344" y="966526"/>
                  <a:pt x="7541183" y="1014826"/>
                </a:cubicBezTo>
                <a:cubicBezTo>
                  <a:pt x="7590023" y="1063127"/>
                  <a:pt x="7619997" y="1129828"/>
                  <a:pt x="7619997" y="1203221"/>
                </a:cubicBezTo>
                <a:cubicBezTo>
                  <a:pt x="7619997" y="1276613"/>
                  <a:pt x="7590023" y="1343314"/>
                  <a:pt x="7541183" y="1391615"/>
                </a:cubicBezTo>
                <a:cubicBezTo>
                  <a:pt x="7492344" y="1440125"/>
                  <a:pt x="7424849" y="1470025"/>
                  <a:pt x="7349808" y="1470025"/>
                </a:cubicBezTo>
                <a:cubicBezTo>
                  <a:pt x="7274767" y="1470025"/>
                  <a:pt x="7207272" y="1440125"/>
                  <a:pt x="7158642" y="1391615"/>
                </a:cubicBezTo>
                <a:cubicBezTo>
                  <a:pt x="7110012" y="1343314"/>
                  <a:pt x="7080247" y="1276613"/>
                  <a:pt x="7080247" y="1203221"/>
                </a:cubicBezTo>
                <a:cubicBezTo>
                  <a:pt x="7080247" y="1129828"/>
                  <a:pt x="7110012" y="1063127"/>
                  <a:pt x="7158642" y="1014826"/>
                </a:cubicBezTo>
                <a:cubicBezTo>
                  <a:pt x="7207272" y="966526"/>
                  <a:pt x="7274767" y="936625"/>
                  <a:pt x="7349808" y="936625"/>
                </a:cubicBezTo>
                <a:close/>
                <a:moveTo>
                  <a:pt x="6837427" y="936625"/>
                </a:moveTo>
                <a:cubicBezTo>
                  <a:pt x="6874092" y="936625"/>
                  <a:pt x="6904891" y="941852"/>
                  <a:pt x="6932756" y="951680"/>
                </a:cubicBezTo>
                <a:cubicBezTo>
                  <a:pt x="6960412" y="961507"/>
                  <a:pt x="6984925" y="975726"/>
                  <a:pt x="7008810" y="993499"/>
                </a:cubicBezTo>
                <a:cubicBezTo>
                  <a:pt x="7008810" y="993499"/>
                  <a:pt x="7008810" y="993499"/>
                  <a:pt x="6987439" y="1026745"/>
                </a:cubicBezTo>
                <a:cubicBezTo>
                  <a:pt x="6987439" y="1026745"/>
                  <a:pt x="6987439" y="1026745"/>
                  <a:pt x="6966278" y="1059991"/>
                </a:cubicBezTo>
                <a:cubicBezTo>
                  <a:pt x="6946584" y="1044727"/>
                  <a:pt x="6926680" y="1032809"/>
                  <a:pt x="6904891" y="1024863"/>
                </a:cubicBezTo>
                <a:cubicBezTo>
                  <a:pt x="6883101" y="1016708"/>
                  <a:pt x="6859845" y="1012526"/>
                  <a:pt x="6833027" y="1012526"/>
                </a:cubicBezTo>
                <a:cubicBezTo>
                  <a:pt x="6782115" y="1012526"/>
                  <a:pt x="6736441" y="1033436"/>
                  <a:pt x="6703338" y="1067727"/>
                </a:cubicBezTo>
                <a:cubicBezTo>
                  <a:pt x="6670444" y="1102019"/>
                  <a:pt x="6649912" y="1149483"/>
                  <a:pt x="6649912" y="1203221"/>
                </a:cubicBezTo>
                <a:cubicBezTo>
                  <a:pt x="6649912" y="1256958"/>
                  <a:pt x="6670444" y="1304631"/>
                  <a:pt x="6703338" y="1338923"/>
                </a:cubicBezTo>
                <a:cubicBezTo>
                  <a:pt x="6736441" y="1373214"/>
                  <a:pt x="6782115" y="1393915"/>
                  <a:pt x="6833027" y="1393915"/>
                </a:cubicBezTo>
                <a:cubicBezTo>
                  <a:pt x="6859845" y="1393915"/>
                  <a:pt x="6883101" y="1389733"/>
                  <a:pt x="6904891" y="1381787"/>
                </a:cubicBezTo>
                <a:cubicBezTo>
                  <a:pt x="6926680" y="1373633"/>
                  <a:pt x="6946584" y="1361923"/>
                  <a:pt x="6966278" y="1346450"/>
                </a:cubicBezTo>
                <a:cubicBezTo>
                  <a:pt x="6966278" y="1346450"/>
                  <a:pt x="6966278" y="1346450"/>
                  <a:pt x="6987439" y="1379696"/>
                </a:cubicBezTo>
                <a:cubicBezTo>
                  <a:pt x="6987439" y="1379696"/>
                  <a:pt x="6987439" y="1379696"/>
                  <a:pt x="7008810" y="1412942"/>
                </a:cubicBezTo>
                <a:cubicBezTo>
                  <a:pt x="6984925" y="1430924"/>
                  <a:pt x="6960412" y="1445143"/>
                  <a:pt x="6932756" y="1454970"/>
                </a:cubicBezTo>
                <a:cubicBezTo>
                  <a:pt x="6904891" y="1464589"/>
                  <a:pt x="6874092" y="1470025"/>
                  <a:pt x="6837427" y="1470025"/>
                </a:cubicBezTo>
                <a:cubicBezTo>
                  <a:pt x="6761373" y="1470025"/>
                  <a:pt x="6693491" y="1440334"/>
                  <a:pt x="6644674" y="1392242"/>
                </a:cubicBezTo>
                <a:cubicBezTo>
                  <a:pt x="6595648" y="1344150"/>
                  <a:pt x="6565897" y="1277449"/>
                  <a:pt x="6565897" y="1203221"/>
                </a:cubicBezTo>
                <a:cubicBezTo>
                  <a:pt x="6565897" y="1129201"/>
                  <a:pt x="6595648" y="1062500"/>
                  <a:pt x="6644674" y="1014408"/>
                </a:cubicBezTo>
                <a:cubicBezTo>
                  <a:pt x="6693491" y="966107"/>
                  <a:pt x="6761373" y="936625"/>
                  <a:pt x="6837427" y="936625"/>
                </a:cubicBezTo>
                <a:close/>
                <a:moveTo>
                  <a:pt x="501650" y="477838"/>
                </a:moveTo>
                <a:cubicBezTo>
                  <a:pt x="501650" y="477838"/>
                  <a:pt x="501650" y="477838"/>
                  <a:pt x="501650" y="981076"/>
                </a:cubicBezTo>
                <a:cubicBezTo>
                  <a:pt x="501650" y="981076"/>
                  <a:pt x="501650" y="981076"/>
                  <a:pt x="786010" y="981076"/>
                </a:cubicBezTo>
                <a:cubicBezTo>
                  <a:pt x="786010" y="981076"/>
                  <a:pt x="786010" y="981076"/>
                  <a:pt x="1070579" y="981076"/>
                </a:cubicBezTo>
                <a:cubicBezTo>
                  <a:pt x="1142870" y="981076"/>
                  <a:pt x="1207013" y="953710"/>
                  <a:pt x="1253188" y="908588"/>
                </a:cubicBezTo>
                <a:cubicBezTo>
                  <a:pt x="1299153" y="863466"/>
                  <a:pt x="1327150" y="800169"/>
                  <a:pt x="1327150" y="727681"/>
                </a:cubicBezTo>
                <a:cubicBezTo>
                  <a:pt x="1327150" y="655402"/>
                  <a:pt x="1299153" y="592942"/>
                  <a:pt x="1253188" y="548446"/>
                </a:cubicBezTo>
                <a:cubicBezTo>
                  <a:pt x="1207013" y="503951"/>
                  <a:pt x="1142870" y="477838"/>
                  <a:pt x="1070579" y="477838"/>
                </a:cubicBezTo>
                <a:cubicBezTo>
                  <a:pt x="1070579" y="477838"/>
                  <a:pt x="1070579" y="477838"/>
                  <a:pt x="501650" y="477838"/>
                </a:cubicBezTo>
                <a:close/>
                <a:moveTo>
                  <a:pt x="6675435" y="336550"/>
                </a:moveTo>
                <a:cubicBezTo>
                  <a:pt x="6675435" y="487363"/>
                  <a:pt x="6675435" y="487363"/>
                  <a:pt x="6675435" y="487363"/>
                </a:cubicBezTo>
                <a:cubicBezTo>
                  <a:pt x="6808467" y="487363"/>
                  <a:pt x="6808467" y="487363"/>
                  <a:pt x="6808467" y="487363"/>
                </a:cubicBezTo>
                <a:cubicBezTo>
                  <a:pt x="6831475" y="487363"/>
                  <a:pt x="6851346" y="478985"/>
                  <a:pt x="6865570" y="465370"/>
                </a:cubicBezTo>
                <a:cubicBezTo>
                  <a:pt x="6879793" y="451755"/>
                  <a:pt x="6888160" y="432903"/>
                  <a:pt x="6888160" y="411957"/>
                </a:cubicBezTo>
                <a:cubicBezTo>
                  <a:pt x="6888160" y="390801"/>
                  <a:pt x="6879793" y="371949"/>
                  <a:pt x="6865570" y="358334"/>
                </a:cubicBezTo>
                <a:cubicBezTo>
                  <a:pt x="6851346" y="344719"/>
                  <a:pt x="6831475" y="336550"/>
                  <a:pt x="6808467" y="336550"/>
                </a:cubicBezTo>
                <a:cubicBezTo>
                  <a:pt x="6675435" y="336550"/>
                  <a:pt x="6675435" y="336550"/>
                  <a:pt x="6675435" y="336550"/>
                </a:cubicBezTo>
                <a:close/>
                <a:moveTo>
                  <a:pt x="6675435" y="122238"/>
                </a:moveTo>
                <a:cubicBezTo>
                  <a:pt x="6675435" y="265113"/>
                  <a:pt x="6675435" y="265113"/>
                  <a:pt x="6675435" y="265113"/>
                </a:cubicBezTo>
                <a:cubicBezTo>
                  <a:pt x="6795279" y="265113"/>
                  <a:pt x="6795279" y="265113"/>
                  <a:pt x="6795279" y="265113"/>
                </a:cubicBezTo>
                <a:cubicBezTo>
                  <a:pt x="6816822" y="265113"/>
                  <a:pt x="6835228" y="257396"/>
                  <a:pt x="6848404" y="244673"/>
                </a:cubicBezTo>
                <a:cubicBezTo>
                  <a:pt x="6861372" y="231949"/>
                  <a:pt x="6869110" y="214012"/>
                  <a:pt x="6869110" y="193571"/>
                </a:cubicBezTo>
                <a:cubicBezTo>
                  <a:pt x="6869110" y="173131"/>
                  <a:pt x="6861372" y="155402"/>
                  <a:pt x="6848404" y="142679"/>
                </a:cubicBezTo>
                <a:cubicBezTo>
                  <a:pt x="6835228" y="129747"/>
                  <a:pt x="6816822" y="122238"/>
                  <a:pt x="6795279" y="122238"/>
                </a:cubicBezTo>
                <a:cubicBezTo>
                  <a:pt x="6675435" y="122238"/>
                  <a:pt x="6675435" y="122238"/>
                  <a:pt x="6675435" y="122238"/>
                </a:cubicBezTo>
                <a:close/>
                <a:moveTo>
                  <a:pt x="8850791" y="114300"/>
                </a:moveTo>
                <a:cubicBezTo>
                  <a:pt x="8799203" y="114300"/>
                  <a:pt x="8753045" y="135269"/>
                  <a:pt x="8719837" y="169657"/>
                </a:cubicBezTo>
                <a:cubicBezTo>
                  <a:pt x="8686419" y="204046"/>
                  <a:pt x="8666160" y="251645"/>
                  <a:pt x="8666160" y="304905"/>
                </a:cubicBezTo>
                <a:cubicBezTo>
                  <a:pt x="8666160" y="357956"/>
                  <a:pt x="8686419" y="405554"/>
                  <a:pt x="8719837" y="439943"/>
                </a:cubicBezTo>
                <a:cubicBezTo>
                  <a:pt x="8753045" y="474332"/>
                  <a:pt x="8799203" y="495300"/>
                  <a:pt x="8850791" y="495300"/>
                </a:cubicBezTo>
                <a:cubicBezTo>
                  <a:pt x="8902588" y="495300"/>
                  <a:pt x="8948954" y="474541"/>
                  <a:pt x="8982163" y="440153"/>
                </a:cubicBezTo>
                <a:cubicBezTo>
                  <a:pt x="9015580" y="405974"/>
                  <a:pt x="9036048" y="358375"/>
                  <a:pt x="9036048" y="304905"/>
                </a:cubicBezTo>
                <a:cubicBezTo>
                  <a:pt x="9036048" y="251645"/>
                  <a:pt x="9015371" y="204046"/>
                  <a:pt x="8981954" y="169657"/>
                </a:cubicBezTo>
                <a:cubicBezTo>
                  <a:pt x="8948536" y="135269"/>
                  <a:pt x="8902170" y="114300"/>
                  <a:pt x="8850791" y="114300"/>
                </a:cubicBezTo>
                <a:close/>
                <a:moveTo>
                  <a:pt x="7335415" y="114300"/>
                </a:moveTo>
                <a:cubicBezTo>
                  <a:pt x="7283845" y="114300"/>
                  <a:pt x="7237515" y="135269"/>
                  <a:pt x="7203974" y="169657"/>
                </a:cubicBezTo>
                <a:cubicBezTo>
                  <a:pt x="7170642" y="204046"/>
                  <a:pt x="7150097" y="251645"/>
                  <a:pt x="7150097" y="304905"/>
                </a:cubicBezTo>
                <a:cubicBezTo>
                  <a:pt x="7150097" y="357956"/>
                  <a:pt x="7170642" y="405554"/>
                  <a:pt x="7203974" y="439943"/>
                </a:cubicBezTo>
                <a:cubicBezTo>
                  <a:pt x="7237515" y="474332"/>
                  <a:pt x="7283845" y="495300"/>
                  <a:pt x="7335415" y="495300"/>
                </a:cubicBezTo>
                <a:cubicBezTo>
                  <a:pt x="7387405" y="495300"/>
                  <a:pt x="7433944" y="474541"/>
                  <a:pt x="7467486" y="440153"/>
                </a:cubicBezTo>
                <a:cubicBezTo>
                  <a:pt x="7501028" y="405974"/>
                  <a:pt x="7521572" y="358375"/>
                  <a:pt x="7521572" y="304905"/>
                </a:cubicBezTo>
                <a:cubicBezTo>
                  <a:pt x="7521572" y="251645"/>
                  <a:pt x="7500818" y="204046"/>
                  <a:pt x="7467067" y="169657"/>
                </a:cubicBezTo>
                <a:cubicBezTo>
                  <a:pt x="7433525" y="135269"/>
                  <a:pt x="7386986" y="114300"/>
                  <a:pt x="7335415" y="114300"/>
                </a:cubicBezTo>
                <a:close/>
                <a:moveTo>
                  <a:pt x="9237660" y="49213"/>
                </a:moveTo>
                <a:lnTo>
                  <a:pt x="9339260" y="49213"/>
                </a:lnTo>
                <a:lnTo>
                  <a:pt x="9458322" y="242888"/>
                </a:lnTo>
                <a:lnTo>
                  <a:pt x="9578972" y="436563"/>
                </a:lnTo>
                <a:lnTo>
                  <a:pt x="9578972" y="49213"/>
                </a:lnTo>
                <a:lnTo>
                  <a:pt x="9656760" y="49213"/>
                </a:lnTo>
                <a:lnTo>
                  <a:pt x="9656760" y="560388"/>
                </a:lnTo>
                <a:lnTo>
                  <a:pt x="9561510" y="560388"/>
                </a:lnTo>
                <a:lnTo>
                  <a:pt x="9439272" y="363538"/>
                </a:lnTo>
                <a:lnTo>
                  <a:pt x="9317035" y="165101"/>
                </a:lnTo>
                <a:lnTo>
                  <a:pt x="9317035" y="560388"/>
                </a:lnTo>
                <a:lnTo>
                  <a:pt x="9237660" y="560388"/>
                </a:lnTo>
                <a:close/>
                <a:moveTo>
                  <a:pt x="8126410" y="49213"/>
                </a:moveTo>
                <a:lnTo>
                  <a:pt x="8529635" y="49213"/>
                </a:lnTo>
                <a:lnTo>
                  <a:pt x="8529635" y="125413"/>
                </a:lnTo>
                <a:lnTo>
                  <a:pt x="8369298" y="125413"/>
                </a:lnTo>
                <a:lnTo>
                  <a:pt x="8369298" y="560388"/>
                </a:lnTo>
                <a:lnTo>
                  <a:pt x="8285160" y="560388"/>
                </a:lnTo>
                <a:lnTo>
                  <a:pt x="8285160" y="125413"/>
                </a:lnTo>
                <a:lnTo>
                  <a:pt x="8126410" y="125413"/>
                </a:lnTo>
                <a:close/>
                <a:moveTo>
                  <a:pt x="6592885" y="49213"/>
                </a:moveTo>
                <a:cubicBezTo>
                  <a:pt x="6795851" y="49213"/>
                  <a:pt x="6795851" y="49213"/>
                  <a:pt x="6795851" y="49213"/>
                </a:cubicBezTo>
                <a:cubicBezTo>
                  <a:pt x="6840537" y="49213"/>
                  <a:pt x="6879794" y="63633"/>
                  <a:pt x="6907775" y="87875"/>
                </a:cubicBezTo>
                <a:cubicBezTo>
                  <a:pt x="6935756" y="112117"/>
                  <a:pt x="6952670" y="146182"/>
                  <a:pt x="6952670" y="185680"/>
                </a:cubicBezTo>
                <a:cubicBezTo>
                  <a:pt x="6952670" y="208041"/>
                  <a:pt x="6946823" y="228103"/>
                  <a:pt x="6936382" y="245658"/>
                </a:cubicBezTo>
                <a:cubicBezTo>
                  <a:pt x="6925733" y="263004"/>
                  <a:pt x="6910698" y="277633"/>
                  <a:pt x="6892114" y="288709"/>
                </a:cubicBezTo>
                <a:cubicBezTo>
                  <a:pt x="6916963" y="300621"/>
                  <a:pt x="6937009" y="318176"/>
                  <a:pt x="6950791" y="339492"/>
                </a:cubicBezTo>
                <a:cubicBezTo>
                  <a:pt x="6964572" y="360808"/>
                  <a:pt x="6972298" y="385677"/>
                  <a:pt x="6972298" y="412845"/>
                </a:cubicBezTo>
                <a:cubicBezTo>
                  <a:pt x="6972298" y="454015"/>
                  <a:pt x="6955384" y="491005"/>
                  <a:pt x="6926359" y="517546"/>
                </a:cubicBezTo>
                <a:cubicBezTo>
                  <a:pt x="6897543" y="544087"/>
                  <a:pt x="6856616" y="560388"/>
                  <a:pt x="6808798" y="560388"/>
                </a:cubicBezTo>
                <a:cubicBezTo>
                  <a:pt x="6592885" y="560388"/>
                  <a:pt x="6592885" y="560388"/>
                  <a:pt x="6592885" y="560388"/>
                </a:cubicBezTo>
                <a:cubicBezTo>
                  <a:pt x="6592885" y="49213"/>
                  <a:pt x="6592885" y="49213"/>
                  <a:pt x="6592885" y="49213"/>
                </a:cubicBezTo>
                <a:close/>
                <a:moveTo>
                  <a:pt x="8850790" y="38100"/>
                </a:moveTo>
                <a:cubicBezTo>
                  <a:pt x="8925610" y="38100"/>
                  <a:pt x="8992907" y="68001"/>
                  <a:pt x="9041603" y="116301"/>
                </a:cubicBezTo>
                <a:cubicBezTo>
                  <a:pt x="9090299" y="164602"/>
                  <a:pt x="9120185" y="231303"/>
                  <a:pt x="9120185" y="304905"/>
                </a:cubicBezTo>
                <a:cubicBezTo>
                  <a:pt x="9120185" y="378297"/>
                  <a:pt x="9090299" y="444998"/>
                  <a:pt x="9041603" y="493090"/>
                </a:cubicBezTo>
                <a:cubicBezTo>
                  <a:pt x="8992907" y="541600"/>
                  <a:pt x="8925610" y="571500"/>
                  <a:pt x="8850790" y="571500"/>
                </a:cubicBezTo>
                <a:cubicBezTo>
                  <a:pt x="8775761" y="571500"/>
                  <a:pt x="8708673" y="541600"/>
                  <a:pt x="8660186" y="493090"/>
                </a:cubicBezTo>
                <a:cubicBezTo>
                  <a:pt x="8611699" y="444998"/>
                  <a:pt x="8582022" y="378297"/>
                  <a:pt x="8582022" y="304905"/>
                </a:cubicBezTo>
                <a:cubicBezTo>
                  <a:pt x="8582022" y="231303"/>
                  <a:pt x="8611699" y="164602"/>
                  <a:pt x="8660186" y="116301"/>
                </a:cubicBezTo>
                <a:cubicBezTo>
                  <a:pt x="8708673" y="68001"/>
                  <a:pt x="8775761" y="38100"/>
                  <a:pt x="8850790" y="38100"/>
                </a:cubicBezTo>
                <a:close/>
                <a:moveTo>
                  <a:pt x="7870035" y="38100"/>
                </a:moveTo>
                <a:cubicBezTo>
                  <a:pt x="7871499" y="38100"/>
                  <a:pt x="7871499" y="38100"/>
                  <a:pt x="7871499" y="38100"/>
                </a:cubicBezTo>
                <a:cubicBezTo>
                  <a:pt x="7901627" y="38309"/>
                  <a:pt x="7929663" y="42909"/>
                  <a:pt x="7955187" y="51273"/>
                </a:cubicBezTo>
                <a:cubicBezTo>
                  <a:pt x="7981131" y="59637"/>
                  <a:pt x="8004563" y="71764"/>
                  <a:pt x="8025067" y="86401"/>
                </a:cubicBezTo>
                <a:cubicBezTo>
                  <a:pt x="8004563" y="118811"/>
                  <a:pt x="8004563" y="118811"/>
                  <a:pt x="8004563" y="118811"/>
                </a:cubicBezTo>
                <a:cubicBezTo>
                  <a:pt x="7984060" y="151429"/>
                  <a:pt x="7984060" y="151429"/>
                  <a:pt x="7984060" y="151429"/>
                </a:cubicBezTo>
                <a:cubicBezTo>
                  <a:pt x="7964811" y="138884"/>
                  <a:pt x="7945982" y="129265"/>
                  <a:pt x="7926943" y="122574"/>
                </a:cubicBezTo>
                <a:cubicBezTo>
                  <a:pt x="7908113" y="116092"/>
                  <a:pt x="7889074" y="112538"/>
                  <a:pt x="7869198" y="112538"/>
                </a:cubicBezTo>
                <a:cubicBezTo>
                  <a:pt x="7839280" y="112538"/>
                  <a:pt x="7817312" y="120692"/>
                  <a:pt x="7802666" y="133865"/>
                </a:cubicBezTo>
                <a:cubicBezTo>
                  <a:pt x="7788021" y="147038"/>
                  <a:pt x="7780907" y="165230"/>
                  <a:pt x="7780907" y="185721"/>
                </a:cubicBezTo>
                <a:cubicBezTo>
                  <a:pt x="7780907" y="209767"/>
                  <a:pt x="7791787" y="225031"/>
                  <a:pt x="7811035" y="236949"/>
                </a:cubicBezTo>
                <a:cubicBezTo>
                  <a:pt x="7830283" y="248658"/>
                  <a:pt x="7857900" y="257022"/>
                  <a:pt x="7891166" y="266849"/>
                </a:cubicBezTo>
                <a:cubicBezTo>
                  <a:pt x="7931127" y="278977"/>
                  <a:pt x="7970042" y="291941"/>
                  <a:pt x="7998914" y="313896"/>
                </a:cubicBezTo>
                <a:cubicBezTo>
                  <a:pt x="8027996" y="336060"/>
                  <a:pt x="8047035" y="367424"/>
                  <a:pt x="8047035" y="415934"/>
                </a:cubicBezTo>
                <a:cubicBezTo>
                  <a:pt x="8047035" y="460889"/>
                  <a:pt x="8030506" y="499781"/>
                  <a:pt x="7999751" y="527381"/>
                </a:cubicBezTo>
                <a:cubicBezTo>
                  <a:pt x="7968787" y="554982"/>
                  <a:pt x="7923804" y="571500"/>
                  <a:pt x="7866478" y="571500"/>
                </a:cubicBezTo>
                <a:cubicBezTo>
                  <a:pt x="7825890" y="571500"/>
                  <a:pt x="7791368" y="564809"/>
                  <a:pt x="7761659" y="554145"/>
                </a:cubicBezTo>
                <a:cubicBezTo>
                  <a:pt x="7731950" y="543272"/>
                  <a:pt x="7707053" y="528845"/>
                  <a:pt x="7685085" y="512954"/>
                </a:cubicBezTo>
                <a:cubicBezTo>
                  <a:pt x="7725883" y="447925"/>
                  <a:pt x="7725883" y="447925"/>
                  <a:pt x="7725883" y="447925"/>
                </a:cubicBezTo>
                <a:cubicBezTo>
                  <a:pt x="7748269" y="462353"/>
                  <a:pt x="7770656" y="474480"/>
                  <a:pt x="7793879" y="483053"/>
                </a:cubicBezTo>
                <a:cubicBezTo>
                  <a:pt x="7816893" y="491835"/>
                  <a:pt x="7841163" y="497063"/>
                  <a:pt x="7867106" y="497063"/>
                </a:cubicBezTo>
                <a:cubicBezTo>
                  <a:pt x="7898907" y="497063"/>
                  <a:pt x="7923177" y="488699"/>
                  <a:pt x="7939496" y="475108"/>
                </a:cubicBezTo>
                <a:cubicBezTo>
                  <a:pt x="7956024" y="461516"/>
                  <a:pt x="7964393" y="442489"/>
                  <a:pt x="7964393" y="420952"/>
                </a:cubicBezTo>
                <a:cubicBezTo>
                  <a:pt x="7964393" y="397324"/>
                  <a:pt x="7953095" y="381851"/>
                  <a:pt x="7933847" y="369933"/>
                </a:cubicBezTo>
                <a:cubicBezTo>
                  <a:pt x="7914389" y="358224"/>
                  <a:pt x="7886982" y="349860"/>
                  <a:pt x="7853925" y="339823"/>
                </a:cubicBezTo>
                <a:cubicBezTo>
                  <a:pt x="7813755" y="327696"/>
                  <a:pt x="7774840" y="314941"/>
                  <a:pt x="7745968" y="292986"/>
                </a:cubicBezTo>
                <a:cubicBezTo>
                  <a:pt x="7717095" y="271031"/>
                  <a:pt x="7698266" y="239667"/>
                  <a:pt x="7698266" y="190739"/>
                </a:cubicBezTo>
                <a:cubicBezTo>
                  <a:pt x="7698266" y="146202"/>
                  <a:pt x="7714166" y="107938"/>
                  <a:pt x="7743666" y="80964"/>
                </a:cubicBezTo>
                <a:cubicBezTo>
                  <a:pt x="7772957" y="53991"/>
                  <a:pt x="7815847" y="38100"/>
                  <a:pt x="7870035" y="38100"/>
                </a:cubicBezTo>
                <a:close/>
                <a:moveTo>
                  <a:pt x="7334624" y="38100"/>
                </a:moveTo>
                <a:cubicBezTo>
                  <a:pt x="7409415" y="38100"/>
                  <a:pt x="7476894" y="68001"/>
                  <a:pt x="7525363" y="116301"/>
                </a:cubicBezTo>
                <a:cubicBezTo>
                  <a:pt x="7574040" y="164602"/>
                  <a:pt x="7604123" y="231303"/>
                  <a:pt x="7604123" y="304905"/>
                </a:cubicBezTo>
                <a:cubicBezTo>
                  <a:pt x="7604123" y="378297"/>
                  <a:pt x="7574040" y="444998"/>
                  <a:pt x="7525363" y="493090"/>
                </a:cubicBezTo>
                <a:cubicBezTo>
                  <a:pt x="7476894" y="541600"/>
                  <a:pt x="7409415" y="571500"/>
                  <a:pt x="7334624" y="571500"/>
                </a:cubicBezTo>
                <a:cubicBezTo>
                  <a:pt x="7259833" y="571500"/>
                  <a:pt x="7192562" y="541600"/>
                  <a:pt x="7144094" y="493090"/>
                </a:cubicBezTo>
                <a:cubicBezTo>
                  <a:pt x="7095626" y="444998"/>
                  <a:pt x="7065960" y="378297"/>
                  <a:pt x="7065960" y="304905"/>
                </a:cubicBezTo>
                <a:cubicBezTo>
                  <a:pt x="7065960" y="231303"/>
                  <a:pt x="7095626" y="164602"/>
                  <a:pt x="7144094" y="116301"/>
                </a:cubicBezTo>
                <a:cubicBezTo>
                  <a:pt x="7192562" y="68001"/>
                  <a:pt x="7259833" y="38100"/>
                  <a:pt x="7334624" y="38100"/>
                </a:cubicBezTo>
                <a:close/>
                <a:moveTo>
                  <a:pt x="2766077" y="0"/>
                </a:moveTo>
                <a:cubicBezTo>
                  <a:pt x="2901191" y="0"/>
                  <a:pt x="3028777" y="17359"/>
                  <a:pt x="3146531" y="51449"/>
                </a:cubicBezTo>
                <a:cubicBezTo>
                  <a:pt x="3264077" y="85540"/>
                  <a:pt x="3372000" y="136571"/>
                  <a:pt x="3467375" y="204124"/>
                </a:cubicBezTo>
                <a:cubicBezTo>
                  <a:pt x="3467375" y="204124"/>
                  <a:pt x="3467375" y="204124"/>
                  <a:pt x="3340627" y="403228"/>
                </a:cubicBezTo>
                <a:cubicBezTo>
                  <a:pt x="3340627" y="403228"/>
                  <a:pt x="3340627" y="403228"/>
                  <a:pt x="3213880" y="602542"/>
                </a:cubicBezTo>
                <a:cubicBezTo>
                  <a:pt x="3153015" y="556321"/>
                  <a:pt x="3084622" y="520976"/>
                  <a:pt x="3009743" y="496716"/>
                </a:cubicBezTo>
                <a:cubicBezTo>
                  <a:pt x="2934865" y="472455"/>
                  <a:pt x="2853295" y="459279"/>
                  <a:pt x="2766077" y="457606"/>
                </a:cubicBezTo>
                <a:cubicBezTo>
                  <a:pt x="2556923" y="459279"/>
                  <a:pt x="2368473" y="545655"/>
                  <a:pt x="2232314" y="681180"/>
                </a:cubicBezTo>
                <a:cubicBezTo>
                  <a:pt x="2095946" y="816496"/>
                  <a:pt x="2012073" y="1000960"/>
                  <a:pt x="2012073" y="1198391"/>
                </a:cubicBezTo>
                <a:cubicBezTo>
                  <a:pt x="2012073" y="1399378"/>
                  <a:pt x="2095946" y="1585307"/>
                  <a:pt x="2232314" y="1721250"/>
                </a:cubicBezTo>
                <a:cubicBezTo>
                  <a:pt x="2368473" y="1856984"/>
                  <a:pt x="2556923" y="1942732"/>
                  <a:pt x="2766077" y="1942732"/>
                </a:cubicBezTo>
                <a:cubicBezTo>
                  <a:pt x="2868145" y="1942732"/>
                  <a:pt x="2962893" y="1923700"/>
                  <a:pt x="3050111" y="1886682"/>
                </a:cubicBezTo>
                <a:cubicBezTo>
                  <a:pt x="3137328" y="1849664"/>
                  <a:pt x="3217225" y="1794450"/>
                  <a:pt x="3289594" y="1722086"/>
                </a:cubicBezTo>
                <a:cubicBezTo>
                  <a:pt x="3462565" y="1549125"/>
                  <a:pt x="3493101" y="1332661"/>
                  <a:pt x="3543925" y="1095493"/>
                </a:cubicBezTo>
                <a:cubicBezTo>
                  <a:pt x="3595168" y="858533"/>
                  <a:pt x="3666699" y="600869"/>
                  <a:pt x="3921866" y="345714"/>
                </a:cubicBezTo>
                <a:cubicBezTo>
                  <a:pt x="4028953" y="238633"/>
                  <a:pt x="4155701" y="152256"/>
                  <a:pt x="4300646" y="92441"/>
                </a:cubicBezTo>
                <a:cubicBezTo>
                  <a:pt x="4445590" y="32836"/>
                  <a:pt x="4608522" y="0"/>
                  <a:pt x="4787977" y="0"/>
                </a:cubicBezTo>
                <a:cubicBezTo>
                  <a:pt x="4922882" y="0"/>
                  <a:pt x="5050676" y="18823"/>
                  <a:pt x="5168221" y="54796"/>
                </a:cubicBezTo>
                <a:cubicBezTo>
                  <a:pt x="5285976" y="90559"/>
                  <a:pt x="5393900" y="143054"/>
                  <a:pt x="5489275" y="210607"/>
                </a:cubicBezTo>
                <a:cubicBezTo>
                  <a:pt x="5489275" y="210607"/>
                  <a:pt x="5489275" y="210607"/>
                  <a:pt x="5364200" y="409921"/>
                </a:cubicBezTo>
                <a:cubicBezTo>
                  <a:pt x="5364200" y="409921"/>
                  <a:pt x="5364200" y="409921"/>
                  <a:pt x="5239125" y="609025"/>
                </a:cubicBezTo>
                <a:cubicBezTo>
                  <a:pt x="5176588" y="563014"/>
                  <a:pt x="5107357" y="525996"/>
                  <a:pt x="5031643" y="500480"/>
                </a:cubicBezTo>
                <a:cubicBezTo>
                  <a:pt x="4955929" y="474965"/>
                  <a:pt x="4873522" y="460952"/>
                  <a:pt x="4784631" y="460952"/>
                </a:cubicBezTo>
                <a:cubicBezTo>
                  <a:pt x="4580495" y="460952"/>
                  <a:pt x="4396857" y="544818"/>
                  <a:pt x="4264462" y="679089"/>
                </a:cubicBezTo>
                <a:cubicBezTo>
                  <a:pt x="4131857" y="813149"/>
                  <a:pt x="4050287" y="997614"/>
                  <a:pt x="4050287" y="1198391"/>
                </a:cubicBezTo>
                <a:cubicBezTo>
                  <a:pt x="4050287" y="1402724"/>
                  <a:pt x="4131021" y="1589489"/>
                  <a:pt x="4262370" y="1725223"/>
                </a:cubicBezTo>
                <a:cubicBezTo>
                  <a:pt x="4393720" y="1861167"/>
                  <a:pt x="4575477" y="1945870"/>
                  <a:pt x="4778147" y="1945870"/>
                </a:cubicBezTo>
                <a:cubicBezTo>
                  <a:pt x="4939406" y="1945870"/>
                  <a:pt x="5080167" y="1893165"/>
                  <a:pt x="5191438" y="1804280"/>
                </a:cubicBezTo>
                <a:cubicBezTo>
                  <a:pt x="5302499" y="1715394"/>
                  <a:pt x="5384070" y="1590326"/>
                  <a:pt x="5426737" y="1445390"/>
                </a:cubicBezTo>
                <a:cubicBezTo>
                  <a:pt x="5426737" y="1445390"/>
                  <a:pt x="5426737" y="1445390"/>
                  <a:pt x="4708917" y="1445390"/>
                </a:cubicBezTo>
                <a:cubicBezTo>
                  <a:pt x="4708917" y="1445390"/>
                  <a:pt x="4708917" y="1445390"/>
                  <a:pt x="4850515" y="1223279"/>
                </a:cubicBezTo>
                <a:cubicBezTo>
                  <a:pt x="4850515" y="1223279"/>
                  <a:pt x="4850515" y="1223279"/>
                  <a:pt x="4992113" y="1000960"/>
                </a:cubicBezTo>
                <a:cubicBezTo>
                  <a:pt x="4992113" y="1000960"/>
                  <a:pt x="4992113" y="1000960"/>
                  <a:pt x="5457901" y="1000960"/>
                </a:cubicBezTo>
                <a:cubicBezTo>
                  <a:pt x="5457901" y="1000960"/>
                  <a:pt x="5457901" y="1000960"/>
                  <a:pt x="5924108" y="1000960"/>
                </a:cubicBezTo>
                <a:cubicBezTo>
                  <a:pt x="5928919" y="1033796"/>
                  <a:pt x="5933102" y="1066840"/>
                  <a:pt x="5936030" y="1100094"/>
                </a:cubicBezTo>
                <a:cubicBezTo>
                  <a:pt x="5938749" y="1133557"/>
                  <a:pt x="5940422" y="1167229"/>
                  <a:pt x="5940422" y="1201738"/>
                </a:cubicBezTo>
                <a:cubicBezTo>
                  <a:pt x="5940422" y="1532602"/>
                  <a:pt x="5812001" y="1833141"/>
                  <a:pt x="5600963" y="2050860"/>
                </a:cubicBezTo>
                <a:cubicBezTo>
                  <a:pt x="5389717" y="2268578"/>
                  <a:pt x="5095854" y="2403475"/>
                  <a:pt x="4764970" y="2403475"/>
                </a:cubicBezTo>
                <a:cubicBezTo>
                  <a:pt x="4549331" y="2403475"/>
                  <a:pt x="4350006" y="2352653"/>
                  <a:pt x="4178290" y="2262513"/>
                </a:cubicBezTo>
                <a:cubicBezTo>
                  <a:pt x="4006784" y="2172372"/>
                  <a:pt x="3862676" y="2043121"/>
                  <a:pt x="3757265" y="1886682"/>
                </a:cubicBezTo>
                <a:cubicBezTo>
                  <a:pt x="3647040" y="2044794"/>
                  <a:pt x="3502931" y="2173836"/>
                  <a:pt x="3332469" y="2263558"/>
                </a:cubicBezTo>
                <a:cubicBezTo>
                  <a:pt x="3162009" y="2353490"/>
                  <a:pt x="2965403" y="2403475"/>
                  <a:pt x="2749555" y="2403475"/>
                </a:cubicBezTo>
                <a:cubicBezTo>
                  <a:pt x="2566961" y="2403475"/>
                  <a:pt x="2395664" y="2364993"/>
                  <a:pt x="2242563" y="2295766"/>
                </a:cubicBezTo>
                <a:cubicBezTo>
                  <a:pt x="2089461" y="2226540"/>
                  <a:pt x="1954347" y="2126988"/>
                  <a:pt x="1844121" y="2005266"/>
                </a:cubicBezTo>
                <a:cubicBezTo>
                  <a:pt x="1783258" y="2108792"/>
                  <a:pt x="1694366" y="2196214"/>
                  <a:pt x="1583096" y="2257493"/>
                </a:cubicBezTo>
                <a:cubicBezTo>
                  <a:pt x="1472034" y="2318772"/>
                  <a:pt x="1338593" y="2354117"/>
                  <a:pt x="1188838" y="2354117"/>
                </a:cubicBezTo>
                <a:cubicBezTo>
                  <a:pt x="1188838" y="2354117"/>
                  <a:pt x="1188838" y="2354117"/>
                  <a:pt x="0" y="2354117"/>
                </a:cubicBezTo>
                <a:cubicBezTo>
                  <a:pt x="0" y="2354117"/>
                  <a:pt x="0" y="2354117"/>
                  <a:pt x="0" y="1201738"/>
                </a:cubicBezTo>
                <a:cubicBezTo>
                  <a:pt x="0" y="1201738"/>
                  <a:pt x="0" y="1201738"/>
                  <a:pt x="0" y="49358"/>
                </a:cubicBezTo>
                <a:cubicBezTo>
                  <a:pt x="0" y="49358"/>
                  <a:pt x="0" y="49358"/>
                  <a:pt x="538575" y="49358"/>
                </a:cubicBezTo>
                <a:cubicBezTo>
                  <a:pt x="538575" y="49358"/>
                  <a:pt x="538575" y="49358"/>
                  <a:pt x="1076940" y="49358"/>
                </a:cubicBezTo>
                <a:cubicBezTo>
                  <a:pt x="1249702" y="49358"/>
                  <a:pt x="1402804" y="96206"/>
                  <a:pt x="1523487" y="176099"/>
                </a:cubicBezTo>
                <a:cubicBezTo>
                  <a:pt x="1643960" y="255992"/>
                  <a:pt x="1732223" y="368720"/>
                  <a:pt x="1774892" y="500480"/>
                </a:cubicBezTo>
                <a:cubicBezTo>
                  <a:pt x="1883653" y="350524"/>
                  <a:pt x="2027552" y="225457"/>
                  <a:pt x="2196549" y="137826"/>
                </a:cubicBezTo>
                <a:cubicBezTo>
                  <a:pt x="2365129" y="50195"/>
                  <a:pt x="2558596" y="0"/>
                  <a:pt x="276607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p>
        </p:txBody>
      </p:sp>
    </p:spTree>
    <p:extLst>
      <p:ext uri="{BB962C8B-B14F-4D97-AF65-F5344CB8AC3E}">
        <p14:creationId xmlns:p14="http://schemas.microsoft.com/office/powerpoint/2010/main" val="366124750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p:cSld name="Layout guide">
    <p:spTree>
      <p:nvGrpSpPr>
        <p:cNvPr id="1" name=""/>
        <p:cNvGrpSpPr/>
        <p:nvPr/>
      </p:nvGrpSpPr>
      <p:grpSpPr>
        <a:xfrm>
          <a:off x="0" y="0"/>
          <a:ext cx="0" cy="0"/>
          <a:chOff x="0" y="0"/>
          <a:chExt cx="0" cy="0"/>
        </a:xfrm>
      </p:grpSpPr>
      <p:grpSp>
        <p:nvGrpSpPr>
          <p:cNvPr id="49" name="Group 48"/>
          <p:cNvGrpSpPr/>
          <p:nvPr userDrawn="1"/>
        </p:nvGrpSpPr>
        <p:grpSpPr>
          <a:xfrm>
            <a:off x="-600" y="-1"/>
            <a:ext cx="12193800" cy="6858001"/>
            <a:chOff x="-600" y="-1"/>
            <a:chExt cx="12193800" cy="6858001"/>
          </a:xfrm>
        </p:grpSpPr>
        <p:sp>
          <p:nvSpPr>
            <p:cNvPr id="50" name="No fly zone"/>
            <p:cNvSpPr/>
            <p:nvPr/>
          </p:nvSpPr>
          <p:spPr>
            <a:xfrm>
              <a:off x="0" y="-1"/>
              <a:ext cx="12193200" cy="6858000"/>
            </a:xfrm>
            <a:custGeom>
              <a:avLst/>
              <a:gdLst>
                <a:gd name="connsiteX0" fmla="*/ 630001 w 12193200"/>
                <a:gd name="connsiteY0" fmla="*/ 622800 h 6858000"/>
                <a:gd name="connsiteX1" fmla="*/ 630001 w 12193200"/>
                <a:gd name="connsiteY1" fmla="*/ 6160597 h 6858000"/>
                <a:gd name="connsiteX2" fmla="*/ 11562000 w 12193200"/>
                <a:gd name="connsiteY2" fmla="*/ 6160597 h 6858000"/>
                <a:gd name="connsiteX3" fmla="*/ 11562000 w 12193200"/>
                <a:gd name="connsiteY3" fmla="*/ 622800 h 6858000"/>
                <a:gd name="connsiteX4" fmla="*/ 0 w 12193200"/>
                <a:gd name="connsiteY4" fmla="*/ 0 h 6858000"/>
                <a:gd name="connsiteX5" fmla="*/ 12193200 w 12193200"/>
                <a:gd name="connsiteY5" fmla="*/ 0 h 6858000"/>
                <a:gd name="connsiteX6" fmla="*/ 12193200 w 12193200"/>
                <a:gd name="connsiteY6" fmla="*/ 622800 h 6858000"/>
                <a:gd name="connsiteX7" fmla="*/ 12192000 w 12193200"/>
                <a:gd name="connsiteY7" fmla="*/ 622800 h 6858000"/>
                <a:gd name="connsiteX8" fmla="*/ 12192000 w 12193200"/>
                <a:gd name="connsiteY8" fmla="*/ 6160597 h 6858000"/>
                <a:gd name="connsiteX9" fmla="*/ 12193200 w 12193200"/>
                <a:gd name="connsiteY9" fmla="*/ 6160597 h 6858000"/>
                <a:gd name="connsiteX10" fmla="*/ 12193200 w 12193200"/>
                <a:gd name="connsiteY10" fmla="*/ 6858000 h 6858000"/>
                <a:gd name="connsiteX11" fmla="*/ 12192000 w 12193200"/>
                <a:gd name="connsiteY11" fmla="*/ 6858000 h 6858000"/>
                <a:gd name="connsiteX12" fmla="*/ 11562000 w 12193200"/>
                <a:gd name="connsiteY12" fmla="*/ 6858000 h 6858000"/>
                <a:gd name="connsiteX13" fmla="*/ 630001 w 12193200"/>
                <a:gd name="connsiteY13" fmla="*/ 6858000 h 6858000"/>
                <a:gd name="connsiteX14" fmla="*/ 1 w 12193200"/>
                <a:gd name="connsiteY14" fmla="*/ 6858000 h 6858000"/>
                <a:gd name="connsiteX15" fmla="*/ 1 w 12193200"/>
                <a:gd name="connsiteY15" fmla="*/ 6160597 h 6858000"/>
                <a:gd name="connsiteX16" fmla="*/ 1 w 12193200"/>
                <a:gd name="connsiteY16" fmla="*/ 622800 h 6858000"/>
                <a:gd name="connsiteX17" fmla="*/ 0 w 12193200"/>
                <a:gd name="connsiteY17" fmla="*/ 6228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193200" h="6858000">
                  <a:moveTo>
                    <a:pt x="630001" y="622800"/>
                  </a:moveTo>
                  <a:lnTo>
                    <a:pt x="630001" y="6160597"/>
                  </a:lnTo>
                  <a:lnTo>
                    <a:pt x="11562000" y="6160597"/>
                  </a:lnTo>
                  <a:lnTo>
                    <a:pt x="11562000" y="622800"/>
                  </a:lnTo>
                  <a:close/>
                  <a:moveTo>
                    <a:pt x="0" y="0"/>
                  </a:moveTo>
                  <a:lnTo>
                    <a:pt x="12193200" y="0"/>
                  </a:lnTo>
                  <a:lnTo>
                    <a:pt x="12193200" y="622800"/>
                  </a:lnTo>
                  <a:lnTo>
                    <a:pt x="12192000" y="622800"/>
                  </a:lnTo>
                  <a:lnTo>
                    <a:pt x="12192000" y="6160597"/>
                  </a:lnTo>
                  <a:lnTo>
                    <a:pt x="12193200" y="6160597"/>
                  </a:lnTo>
                  <a:lnTo>
                    <a:pt x="12193200" y="6858000"/>
                  </a:lnTo>
                  <a:lnTo>
                    <a:pt x="12192000" y="6858000"/>
                  </a:lnTo>
                  <a:lnTo>
                    <a:pt x="11562000" y="6858000"/>
                  </a:lnTo>
                  <a:lnTo>
                    <a:pt x="630001" y="6858000"/>
                  </a:lnTo>
                  <a:lnTo>
                    <a:pt x="1" y="6858000"/>
                  </a:lnTo>
                  <a:lnTo>
                    <a:pt x="1" y="6160597"/>
                  </a:lnTo>
                  <a:lnTo>
                    <a:pt x="1" y="622800"/>
                  </a:lnTo>
                  <a:lnTo>
                    <a:pt x="0" y="622800"/>
                  </a:lnTo>
                  <a:close/>
                </a:path>
              </a:pathLst>
            </a:custGeom>
            <a:solidFill>
              <a:srgbClr val="FFEFEF">
                <a:alpha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tx1"/>
                </a:solidFill>
                <a:latin typeface="+mn-lt"/>
              </a:endParaRPr>
            </a:p>
          </p:txBody>
        </p:sp>
        <p:grpSp>
          <p:nvGrpSpPr>
            <p:cNvPr id="51" name="Baselines / anchors"/>
            <p:cNvGrpSpPr/>
            <p:nvPr userDrawn="1"/>
          </p:nvGrpSpPr>
          <p:grpSpPr>
            <a:xfrm>
              <a:off x="-600" y="622800"/>
              <a:ext cx="12193200" cy="5536800"/>
              <a:chOff x="12623800" y="622800"/>
              <a:chExt cx="11176000" cy="5536800"/>
            </a:xfrm>
          </p:grpSpPr>
          <p:cxnSp>
            <p:nvCxnSpPr>
              <p:cNvPr id="77" name="Straight Connector 76"/>
              <p:cNvCxnSpPr/>
              <p:nvPr/>
            </p:nvCxnSpPr>
            <p:spPr>
              <a:xfrm>
                <a:off x="12623800" y="622800"/>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12623800" y="914211"/>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a:off x="12623800" y="1205622"/>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a:off x="12623800" y="1497600"/>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a:off x="12623800" y="1788444"/>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a:off x="12623800" y="2079855"/>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12623800" y="2371266"/>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12623800" y="2662677"/>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12623800" y="2954088"/>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12623800" y="3245499"/>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12623800" y="3536910"/>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12623800" y="3828321"/>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p:nvCxnSpPr>
            <p:spPr>
              <a:xfrm>
                <a:off x="12623800" y="4119732"/>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12623800" y="4411143"/>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12623800" y="4702554"/>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12623800" y="4993965"/>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p:nvPr/>
            </p:nvCxnSpPr>
            <p:spPr>
              <a:xfrm>
                <a:off x="12623800" y="5285376"/>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a:off x="12623800" y="5576787"/>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12623800" y="5868198"/>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a:off x="12623800" y="6159600"/>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grpSp>
        <p:grpSp>
          <p:nvGrpSpPr>
            <p:cNvPr id="52" name="Gutter space"/>
            <p:cNvGrpSpPr/>
            <p:nvPr userDrawn="1"/>
          </p:nvGrpSpPr>
          <p:grpSpPr>
            <a:xfrm>
              <a:off x="1277000" y="623550"/>
              <a:ext cx="9638000" cy="5537047"/>
              <a:chOff x="1277000" y="623550"/>
              <a:chExt cx="9638000" cy="5537047"/>
            </a:xfrm>
          </p:grpSpPr>
          <p:sp>
            <p:nvSpPr>
              <p:cNvPr id="66" name="Rectangle 34"/>
              <p:cNvSpPr>
                <a:spLocks noChangeArrowheads="1"/>
              </p:cNvSpPr>
              <p:nvPr/>
            </p:nvSpPr>
            <p:spPr bwMode="auto">
              <a:xfrm>
                <a:off x="6887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67" name="Rectangle 35"/>
              <p:cNvSpPr>
                <a:spLocks noChangeArrowheads="1"/>
              </p:cNvSpPr>
              <p:nvPr/>
            </p:nvSpPr>
            <p:spPr bwMode="auto">
              <a:xfrm>
                <a:off x="8757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68" name="Rectangle 36"/>
              <p:cNvSpPr>
                <a:spLocks noChangeArrowheads="1"/>
              </p:cNvSpPr>
              <p:nvPr/>
            </p:nvSpPr>
            <p:spPr bwMode="auto">
              <a:xfrm>
                <a:off x="7822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69" name="Rectangle 37"/>
              <p:cNvSpPr>
                <a:spLocks noChangeArrowheads="1"/>
              </p:cNvSpPr>
              <p:nvPr/>
            </p:nvSpPr>
            <p:spPr bwMode="auto">
              <a:xfrm>
                <a:off x="9692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70" name="Rectangle 38"/>
              <p:cNvSpPr>
                <a:spLocks noChangeArrowheads="1"/>
              </p:cNvSpPr>
              <p:nvPr/>
            </p:nvSpPr>
            <p:spPr bwMode="auto">
              <a:xfrm>
                <a:off x="10627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71" name="Rectangle 39"/>
              <p:cNvSpPr>
                <a:spLocks noChangeArrowheads="1"/>
              </p:cNvSpPr>
              <p:nvPr/>
            </p:nvSpPr>
            <p:spPr bwMode="auto">
              <a:xfrm>
                <a:off x="5952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72" name="Rectangle 40"/>
              <p:cNvSpPr>
                <a:spLocks noChangeArrowheads="1"/>
              </p:cNvSpPr>
              <p:nvPr/>
            </p:nvSpPr>
            <p:spPr bwMode="auto">
              <a:xfrm>
                <a:off x="1277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73" name="Rectangle 41"/>
              <p:cNvSpPr>
                <a:spLocks noChangeArrowheads="1"/>
              </p:cNvSpPr>
              <p:nvPr/>
            </p:nvSpPr>
            <p:spPr bwMode="auto">
              <a:xfrm>
                <a:off x="2212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74" name="Rectangle 42"/>
              <p:cNvSpPr>
                <a:spLocks noChangeArrowheads="1"/>
              </p:cNvSpPr>
              <p:nvPr/>
            </p:nvSpPr>
            <p:spPr bwMode="auto">
              <a:xfrm>
                <a:off x="3147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75" name="Rectangle 43"/>
              <p:cNvSpPr>
                <a:spLocks noChangeArrowheads="1"/>
              </p:cNvSpPr>
              <p:nvPr/>
            </p:nvSpPr>
            <p:spPr bwMode="auto">
              <a:xfrm>
                <a:off x="4082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76" name="Rectangle 44"/>
              <p:cNvSpPr>
                <a:spLocks noChangeArrowheads="1"/>
              </p:cNvSpPr>
              <p:nvPr/>
            </p:nvSpPr>
            <p:spPr bwMode="auto">
              <a:xfrm>
                <a:off x="5017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grpSp>
        <p:sp>
          <p:nvSpPr>
            <p:cNvPr id="53" name="Slide edges"/>
            <p:cNvSpPr>
              <a:spLocks/>
            </p:cNvSpPr>
            <p:nvPr/>
          </p:nvSpPr>
          <p:spPr bwMode="auto">
            <a:xfrm>
              <a:off x="-600" y="0"/>
              <a:ext cx="12193200" cy="6858000"/>
            </a:xfrm>
            <a:custGeom>
              <a:avLst/>
              <a:gdLst>
                <a:gd name="T0" fmla="*/ 6024 w 6026"/>
                <a:gd name="T1" fmla="*/ 3394 h 3396"/>
                <a:gd name="T2" fmla="*/ 6024 w 6026"/>
                <a:gd name="T3" fmla="*/ 3391 h 3396"/>
                <a:gd name="T4" fmla="*/ 5 w 6026"/>
                <a:gd name="T5" fmla="*/ 3391 h 3396"/>
                <a:gd name="T6" fmla="*/ 5 w 6026"/>
                <a:gd name="T7" fmla="*/ 5 h 3396"/>
                <a:gd name="T8" fmla="*/ 6021 w 6026"/>
                <a:gd name="T9" fmla="*/ 5 h 3396"/>
                <a:gd name="T10" fmla="*/ 6021 w 6026"/>
                <a:gd name="T11" fmla="*/ 3394 h 3396"/>
                <a:gd name="T12" fmla="*/ 6024 w 6026"/>
                <a:gd name="T13" fmla="*/ 3394 h 3396"/>
                <a:gd name="T14" fmla="*/ 6024 w 6026"/>
                <a:gd name="T15" fmla="*/ 3391 h 3396"/>
                <a:gd name="T16" fmla="*/ 6024 w 6026"/>
                <a:gd name="T17" fmla="*/ 3394 h 3396"/>
                <a:gd name="T18" fmla="*/ 6026 w 6026"/>
                <a:gd name="T19" fmla="*/ 3394 h 3396"/>
                <a:gd name="T20" fmla="*/ 6026 w 6026"/>
                <a:gd name="T21" fmla="*/ 0 h 3396"/>
                <a:gd name="T22" fmla="*/ 0 w 6026"/>
                <a:gd name="T23" fmla="*/ 0 h 3396"/>
                <a:gd name="T24" fmla="*/ 0 w 6026"/>
                <a:gd name="T25" fmla="*/ 3396 h 3396"/>
                <a:gd name="T26" fmla="*/ 6026 w 6026"/>
                <a:gd name="T27" fmla="*/ 3396 h 3396"/>
                <a:gd name="T28" fmla="*/ 6026 w 6026"/>
                <a:gd name="T29" fmla="*/ 3394 h 3396"/>
                <a:gd name="T30" fmla="*/ 6024 w 6026"/>
                <a:gd name="T31" fmla="*/ 3394 h 3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026" h="3396">
                  <a:moveTo>
                    <a:pt x="6024" y="3394"/>
                  </a:moveTo>
                  <a:lnTo>
                    <a:pt x="6024" y="3391"/>
                  </a:lnTo>
                  <a:lnTo>
                    <a:pt x="5" y="3391"/>
                  </a:lnTo>
                  <a:lnTo>
                    <a:pt x="5" y="5"/>
                  </a:lnTo>
                  <a:lnTo>
                    <a:pt x="6021" y="5"/>
                  </a:lnTo>
                  <a:lnTo>
                    <a:pt x="6021" y="3394"/>
                  </a:lnTo>
                  <a:lnTo>
                    <a:pt x="6024" y="3394"/>
                  </a:lnTo>
                  <a:lnTo>
                    <a:pt x="6024" y="3391"/>
                  </a:lnTo>
                  <a:lnTo>
                    <a:pt x="6024" y="3394"/>
                  </a:lnTo>
                  <a:lnTo>
                    <a:pt x="6026" y="3394"/>
                  </a:lnTo>
                  <a:lnTo>
                    <a:pt x="6026" y="0"/>
                  </a:lnTo>
                  <a:lnTo>
                    <a:pt x="0" y="0"/>
                  </a:lnTo>
                  <a:lnTo>
                    <a:pt x="0" y="3396"/>
                  </a:lnTo>
                  <a:lnTo>
                    <a:pt x="6026" y="3396"/>
                  </a:lnTo>
                  <a:lnTo>
                    <a:pt x="6026" y="3394"/>
                  </a:lnTo>
                  <a:lnTo>
                    <a:pt x="6024" y="3394"/>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mn-lt"/>
                <a:ea typeface="+mn-ea"/>
                <a:cs typeface="+mn-cs"/>
              </a:endParaRPr>
            </a:p>
          </p:txBody>
        </p:sp>
        <p:sp>
          <p:nvSpPr>
            <p:cNvPr id="54" name="Footnote measure"/>
            <p:cNvSpPr>
              <a:spLocks noChangeArrowheads="1"/>
            </p:cNvSpPr>
            <p:nvPr/>
          </p:nvSpPr>
          <p:spPr bwMode="auto">
            <a:xfrm>
              <a:off x="629400" y="6159600"/>
              <a:ext cx="10933200" cy="378584"/>
            </a:xfrm>
            <a:prstGeom prst="rect">
              <a:avLst/>
            </a:prstGeom>
            <a:solidFill>
              <a:schemeClr val="accent3">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57" name="Whitespace measure"/>
            <p:cNvSpPr>
              <a:spLocks noChangeArrowheads="1"/>
            </p:cNvSpPr>
            <p:nvPr/>
          </p:nvSpPr>
          <p:spPr bwMode="auto">
            <a:xfrm>
              <a:off x="629400" y="1497600"/>
              <a:ext cx="10932229" cy="583200"/>
            </a:xfrm>
            <a:prstGeom prst="rect">
              <a:avLst/>
            </a:prstGeom>
            <a:solidFill>
              <a:schemeClr val="accent3">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grpSp>
          <p:nvGrpSpPr>
            <p:cNvPr id="58" name="Five column measure"/>
            <p:cNvGrpSpPr/>
            <p:nvPr userDrawn="1"/>
          </p:nvGrpSpPr>
          <p:grpSpPr>
            <a:xfrm>
              <a:off x="629400" y="5975122"/>
              <a:ext cx="10933200" cy="79536"/>
              <a:chOff x="629400" y="5975122"/>
              <a:chExt cx="10933200" cy="79536"/>
            </a:xfrm>
          </p:grpSpPr>
          <p:sp>
            <p:nvSpPr>
              <p:cNvPr id="61" name="Rectangle 5"/>
              <p:cNvSpPr>
                <a:spLocks noChangeArrowheads="1"/>
              </p:cNvSpPr>
              <p:nvPr/>
            </p:nvSpPr>
            <p:spPr bwMode="auto">
              <a:xfrm>
                <a:off x="2880128" y="5975122"/>
                <a:ext cx="1930288" cy="79536"/>
              </a:xfrm>
              <a:prstGeom prst="rect">
                <a:avLst/>
              </a:prstGeom>
              <a:solidFill>
                <a:schemeClr val="accent5">
                  <a:alpha val="1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62" name="Rectangle 7"/>
              <p:cNvSpPr>
                <a:spLocks noChangeArrowheads="1"/>
              </p:cNvSpPr>
              <p:nvPr/>
            </p:nvSpPr>
            <p:spPr bwMode="auto">
              <a:xfrm>
                <a:off x="9626194" y="5975122"/>
                <a:ext cx="1936406" cy="79536"/>
              </a:xfrm>
              <a:prstGeom prst="rect">
                <a:avLst/>
              </a:prstGeom>
              <a:solidFill>
                <a:schemeClr val="accent5">
                  <a:alpha val="1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63" name="Rectangle 9"/>
              <p:cNvSpPr>
                <a:spLocks noChangeArrowheads="1"/>
              </p:cNvSpPr>
              <p:nvPr/>
            </p:nvSpPr>
            <p:spPr bwMode="auto">
              <a:xfrm>
                <a:off x="7372407" y="5975122"/>
                <a:ext cx="1936406" cy="79536"/>
              </a:xfrm>
              <a:prstGeom prst="rect">
                <a:avLst/>
              </a:prstGeom>
              <a:solidFill>
                <a:schemeClr val="accent5">
                  <a:alpha val="1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64" name="Rectangle 11"/>
              <p:cNvSpPr>
                <a:spLocks noChangeArrowheads="1"/>
              </p:cNvSpPr>
              <p:nvPr/>
            </p:nvSpPr>
            <p:spPr bwMode="auto">
              <a:xfrm>
                <a:off x="5127797" y="5975122"/>
                <a:ext cx="1927229" cy="79536"/>
              </a:xfrm>
              <a:prstGeom prst="rect">
                <a:avLst/>
              </a:prstGeom>
              <a:solidFill>
                <a:schemeClr val="accent5">
                  <a:alpha val="1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65" name="Rectangle 13"/>
              <p:cNvSpPr>
                <a:spLocks noChangeArrowheads="1"/>
              </p:cNvSpPr>
              <p:nvPr/>
            </p:nvSpPr>
            <p:spPr bwMode="auto">
              <a:xfrm>
                <a:off x="629400" y="5975122"/>
                <a:ext cx="1933347" cy="79536"/>
              </a:xfrm>
              <a:prstGeom prst="rect">
                <a:avLst/>
              </a:prstGeom>
              <a:solidFill>
                <a:schemeClr val="accent5">
                  <a:alpha val="1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grpSp>
        <p:sp>
          <p:nvSpPr>
            <p:cNvPr id="59" name="Live area"/>
            <p:cNvSpPr/>
            <p:nvPr/>
          </p:nvSpPr>
          <p:spPr>
            <a:xfrm>
              <a:off x="629400" y="2080801"/>
              <a:ext cx="10933200" cy="4078800"/>
            </a:xfrm>
            <a:custGeom>
              <a:avLst/>
              <a:gdLst>
                <a:gd name="connsiteX0" fmla="*/ 0 w 10931999"/>
                <a:gd name="connsiteY0" fmla="*/ 0 h 5537797"/>
                <a:gd name="connsiteX1" fmla="*/ 10931999 w 10931999"/>
                <a:gd name="connsiteY1" fmla="*/ 0 h 5537797"/>
                <a:gd name="connsiteX2" fmla="*/ 10931999 w 10931999"/>
                <a:gd name="connsiteY2" fmla="*/ 5537797 h 5537797"/>
                <a:gd name="connsiteX3" fmla="*/ 0 w 10931999"/>
                <a:gd name="connsiteY3" fmla="*/ 5537797 h 5537797"/>
              </a:gdLst>
              <a:ahLst/>
              <a:cxnLst>
                <a:cxn ang="0">
                  <a:pos x="connsiteX0" y="connsiteY0"/>
                </a:cxn>
                <a:cxn ang="0">
                  <a:pos x="connsiteX1" y="connsiteY1"/>
                </a:cxn>
                <a:cxn ang="0">
                  <a:pos x="connsiteX2" y="connsiteY2"/>
                </a:cxn>
                <a:cxn ang="0">
                  <a:pos x="connsiteX3" y="connsiteY3"/>
                </a:cxn>
              </a:cxnLst>
              <a:rect l="l" t="t" r="r" b="b"/>
              <a:pathLst>
                <a:path w="10931999" h="5537797">
                  <a:moveTo>
                    <a:pt x="0" y="0"/>
                  </a:moveTo>
                  <a:lnTo>
                    <a:pt x="10931999" y="0"/>
                  </a:lnTo>
                  <a:lnTo>
                    <a:pt x="10931999" y="5537797"/>
                  </a:lnTo>
                  <a:lnTo>
                    <a:pt x="0" y="5537797"/>
                  </a:lnTo>
                  <a:close/>
                </a:path>
              </a:pathLst>
            </a:custGeom>
            <a:noFill/>
            <a:ln w="9525">
              <a:solidFill>
                <a:srgbClr val="E71C57">
                  <a:alpha val="35000"/>
                </a:srgbClr>
              </a:solid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90000"/>
                </a:lnSpc>
                <a:spcAft>
                  <a:spcPts val="1000"/>
                </a:spcAft>
              </a:pPr>
              <a:endParaRPr lang="en-US" sz="1200">
                <a:solidFill>
                  <a:schemeClr val="bg1"/>
                </a:solidFill>
                <a:latin typeface="+mn-lt"/>
              </a:endParaRPr>
            </a:p>
          </p:txBody>
        </p:sp>
        <p:sp>
          <p:nvSpPr>
            <p:cNvPr id="60" name="Footnote example"/>
            <p:cNvSpPr txBox="1"/>
            <p:nvPr/>
          </p:nvSpPr>
          <p:spPr>
            <a:xfrm>
              <a:off x="630000" y="6144442"/>
              <a:ext cx="9030914" cy="415498"/>
            </a:xfrm>
            <a:prstGeom prst="rect">
              <a:avLst/>
            </a:prstGeom>
            <a:noFill/>
          </p:spPr>
          <p:txBody>
            <a:bodyPr wrap="square" lIns="0" tIns="0" rIns="0" bIns="0" rtlCol="0" anchor="b">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bg1">
                      <a:lumMod val="50000"/>
                    </a:schemeClr>
                  </a:solidFill>
                  <a:effectLst/>
                  <a:uLnTx/>
                  <a:uFillTx/>
                  <a:latin typeface="+mn-lt"/>
                  <a:ea typeface="+mn-ea"/>
                  <a:cs typeface="+mn-cs"/>
                  <a:sym typeface="Trebuchet MS" panose="020B0603020202020204" pitchFamily="34" charset="0"/>
                </a:rPr>
                <a:t>1. </a:t>
              </a:r>
              <a:r>
                <a:rPr kumimoji="0" lang="en-US" sz="1000" b="0" i="0" u="none" strike="noStrike" kern="1200" cap="none" spc="0" normalizeH="0" baseline="0" noProof="0" err="1">
                  <a:ln>
                    <a:noFill/>
                  </a:ln>
                  <a:solidFill>
                    <a:schemeClr val="bg1">
                      <a:lumMod val="50000"/>
                    </a:schemeClr>
                  </a:solidFill>
                  <a:effectLst/>
                  <a:uLnTx/>
                  <a:uFillTx/>
                  <a:latin typeface="+mn-lt"/>
                  <a:ea typeface="+mn-ea"/>
                  <a:cs typeface="+mn-cs"/>
                  <a:sym typeface="Trebuchet MS" panose="020B0603020202020204" pitchFamily="34" charset="0"/>
                </a:rPr>
                <a:t>xxxx</a:t>
              </a:r>
              <a:r>
                <a:rPr kumimoji="0" lang="en-US" sz="1000" b="0" i="0" u="none" strike="noStrike" kern="1200" cap="none" spc="0" normalizeH="0" baseline="0" noProof="0">
                  <a:ln>
                    <a:noFill/>
                  </a:ln>
                  <a:solidFill>
                    <a:schemeClr val="bg1">
                      <a:lumMod val="50000"/>
                    </a:schemeClr>
                  </a:solidFill>
                  <a:effectLst/>
                  <a:uLnTx/>
                  <a:uFillTx/>
                  <a:latin typeface="+mn-lt"/>
                  <a:ea typeface="+mn-ea"/>
                  <a:cs typeface="+mn-cs"/>
                  <a:sym typeface="Trebuchet MS" panose="020B0603020202020204" pitchFamily="34" charset="0"/>
                </a:rPr>
                <a:t>  2. </a:t>
              </a:r>
              <a:r>
                <a:rPr kumimoji="0" lang="en-US" sz="1000" b="0" i="0" u="none" strike="noStrike" kern="1200" cap="none" spc="0" normalizeH="0" baseline="0" noProof="0" err="1">
                  <a:ln>
                    <a:noFill/>
                  </a:ln>
                  <a:solidFill>
                    <a:schemeClr val="bg1">
                      <a:lumMod val="50000"/>
                    </a:schemeClr>
                  </a:solidFill>
                  <a:effectLst/>
                  <a:uLnTx/>
                  <a:uFillTx/>
                  <a:latin typeface="+mn-lt"/>
                  <a:ea typeface="+mn-ea"/>
                  <a:cs typeface="+mn-cs"/>
                  <a:sym typeface="Trebuchet MS" panose="020B0603020202020204" pitchFamily="34" charset="0"/>
                </a:rPr>
                <a:t>xxxx</a:t>
              </a:r>
              <a:r>
                <a:rPr kumimoji="0" lang="en-US" sz="1000" b="0" i="0" u="none" strike="noStrike" kern="1200" cap="none" spc="0" normalizeH="0" baseline="0" noProof="0">
                  <a:ln>
                    <a:noFill/>
                  </a:ln>
                  <a:solidFill>
                    <a:schemeClr val="bg1">
                      <a:lumMod val="50000"/>
                    </a:schemeClr>
                  </a:solidFill>
                  <a:effectLst/>
                  <a:uLnTx/>
                  <a:uFillTx/>
                  <a:latin typeface="+mn-lt"/>
                  <a:ea typeface="+mn-ea"/>
                  <a:cs typeface="+mn-cs"/>
                  <a:sym typeface="Trebuchet MS" panose="020B0603020202020204" pitchFamily="34" charset="0"/>
                </a:rPr>
                <a:t>  3. List footnotes in numerical order. Footnote numbers are not bracketed. Use 10pt font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bg1">
                      <a:lumMod val="50000"/>
                    </a:schemeClr>
                  </a:solidFill>
                  <a:effectLst/>
                  <a:uLnTx/>
                  <a:uFillTx/>
                  <a:latin typeface="+mn-lt"/>
                  <a:ea typeface="+mn-ea"/>
                  <a:cs typeface="+mn-cs"/>
                  <a:sym typeface="Trebuchet MS" panose="020B0603020202020204" pitchFamily="34" charset="0"/>
                </a:rPr>
                <a:t>Note: Do not put a period at the end of the note or the source</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bg1">
                      <a:lumMod val="50000"/>
                    </a:schemeClr>
                  </a:solidFill>
                  <a:effectLst/>
                  <a:uLnTx/>
                  <a:uFillTx/>
                  <a:latin typeface="+mn-lt"/>
                  <a:ea typeface="+mn-ea"/>
                  <a:cs typeface="+mn-cs"/>
                  <a:sym typeface="Trebuchet MS" panose="020B0603020202020204" pitchFamily="34" charset="0"/>
                </a:rPr>
                <a:t>Source: Include a source for every chart that you use. Separate sources with a semicolon; BCG-related sources go at the end</a:t>
              </a:r>
            </a:p>
          </p:txBody>
        </p:sp>
      </p:grpSp>
      <p:sp>
        <p:nvSpPr>
          <p:cNvPr id="2" name="Date Placeholder 1"/>
          <p:cNvSpPr>
            <a:spLocks noGrp="1"/>
          </p:cNvSpPr>
          <p:nvPr>
            <p:ph type="dt" sz="half" idx="10"/>
          </p:nvPr>
        </p:nvSpPr>
        <p:spPr/>
        <p:txBody>
          <a:bodyPr/>
          <a:lstStyle>
            <a:lvl1pPr>
              <a:defRPr>
                <a:solidFill>
                  <a:schemeClr val="bg1">
                    <a:lumMod val="50000"/>
                  </a:schemeClr>
                </a:solidFill>
                <a:latin typeface="+mn-lt"/>
                <a:sym typeface="Trebuchet MS" panose="020B0603020202020204" pitchFamily="34" charset="0"/>
              </a:defRPr>
            </a:lvl1pPr>
          </a:lstStyle>
          <a:p>
            <a:endParaRPr lang="en-US"/>
          </a:p>
        </p:txBody>
      </p:sp>
      <p:sp>
        <p:nvSpPr>
          <p:cNvPr id="56"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2024 by Boston Consulting Group. All rights reserved.</a:t>
            </a:r>
          </a:p>
        </p:txBody>
      </p:sp>
    </p:spTree>
    <p:extLst>
      <p:ext uri="{BB962C8B-B14F-4D97-AF65-F5344CB8AC3E}">
        <p14:creationId xmlns:p14="http://schemas.microsoft.com/office/powerpoint/2010/main" val="369599376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Sp="0" preserve="1" userDrawn="1">
  <p:cSld name="D. Title Slide">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userDrawn="1">
            <p:custDataLst>
              <p:tags r:id="rId1"/>
            </p:custDataLst>
            <p:extLst>
              <p:ext uri="{D42A27DB-BD31-4B8C-83A1-F6EECF244321}">
                <p14:modId xmlns:p14="http://schemas.microsoft.com/office/powerpoint/2010/main" val="3665489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384" imgH="384" progId="TCLayout.ActiveDocument.1">
                  <p:embed/>
                </p:oleObj>
              </mc:Choice>
              <mc:Fallback>
                <p:oleObj name="think-cell Slide" r:id="rId6" imgW="384" imgH="384" progId="TCLayout.ActiveDocument.1">
                  <p:embed/>
                  <p:pic>
                    <p:nvPicPr>
                      <p:cNvPr id="3" name="Object 2"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Rectangle 1" hidden="1"/>
          <p:cNvSpPr/>
          <p:nvPr userDrawn="1">
            <p:custDataLst>
              <p:tags r:id="rId2"/>
            </p:custDataLst>
          </p:nvPr>
        </p:nvSpPr>
        <p:spPr>
          <a:xfrm>
            <a:off x="0" y="0"/>
            <a:ext cx="158750" cy="158750"/>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eaLnBrk="1">
              <a:lnSpc>
                <a:spcPct val="93000"/>
              </a:lnSpc>
              <a:spcBef>
                <a:spcPct val="0"/>
              </a:spcBef>
              <a:spcAft>
                <a:spcPct val="0"/>
              </a:spcAft>
            </a:pPr>
            <a:endParaRPr lang="en-US" sz="5400" b="0" i="0" baseline="0">
              <a:solidFill>
                <a:srgbClr val="FFFFFF"/>
              </a:solidFill>
              <a:latin typeface="Trebuchet MS" panose="020B0603020202020204" pitchFamily="34" charset="0"/>
              <a:ea typeface="+mj-ea"/>
              <a:cs typeface="+mj-cs"/>
              <a:sym typeface="Trebuchet MS" panose="020B0603020202020204" pitchFamily="34" charset="0"/>
            </a:endParaRPr>
          </a:p>
        </p:txBody>
      </p:sp>
      <p:sp>
        <p:nvSpPr>
          <p:cNvPr id="14" name="Rectangle 13"/>
          <p:cNvSpPr/>
          <p:nvPr userDrawn="1"/>
        </p:nvSpPr>
        <p:spPr>
          <a:xfrm>
            <a:off x="0" y="5279183"/>
            <a:ext cx="12192000" cy="1578817"/>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l">
              <a:lnSpc>
                <a:spcPct val="90000"/>
              </a:lnSpc>
              <a:spcAft>
                <a:spcPts val="1000"/>
              </a:spcAft>
            </a:pPr>
            <a:endParaRPr lang="en-US" sz="1200">
              <a:solidFill>
                <a:schemeClr val="bg1"/>
              </a:solidFill>
              <a:latin typeface="+mn-lt"/>
              <a:sym typeface="Trebuchet MS" panose="020B0603020202020204" pitchFamily="34" charset="0"/>
            </a:endParaRPr>
          </a:p>
        </p:txBody>
      </p:sp>
      <p:pic>
        <p:nvPicPr>
          <p:cNvPr id="18" name="Picture 17"/>
          <p:cNvPicPr>
            <a:picLocks noChangeAspect="1"/>
          </p:cNvPicPr>
          <p:nvPr userDrawn="1"/>
        </p:nvPicPr>
        <p:blipFill rotWithShape="1">
          <a:blip r:embed="rId8">
            <a:extLst>
              <a:ext uri="{28A0092B-C50C-407E-A947-70E740481C1C}">
                <a14:useLocalDpi xmlns:a14="http://schemas.microsoft.com/office/drawing/2010/main" val="0"/>
              </a:ext>
            </a:extLst>
          </a:blip>
          <a:srcRect l="1731" t="8741" r="102" b="27"/>
          <a:stretch/>
        </p:blipFill>
        <p:spPr>
          <a:xfrm rot="16200000" flipH="1">
            <a:off x="8471921" y="1973272"/>
            <a:ext cx="580573" cy="6858000"/>
          </a:xfrm>
          <a:prstGeom prst="rect">
            <a:avLst/>
          </a:prstGeom>
        </p:spPr>
      </p:pic>
      <p:pic>
        <p:nvPicPr>
          <p:cNvPr id="15" name="TitleAndEndImages"/>
          <p:cNvPicPr>
            <a:picLocks noChangeAspect="1"/>
          </p:cNvPicPr>
          <p:nvPr userDrawn="1">
            <p:custDataLst>
              <p:tags r:id="rId3"/>
            </p:custDataLst>
          </p:nvPr>
        </p:nvPicPr>
        <p:blipFill rotWithShape="1">
          <a:blip r:embed="rId9">
            <a:extLst>
              <a:ext uri="{28A0092B-C50C-407E-A947-70E740481C1C}">
                <a14:useLocalDpi xmlns:a14="http://schemas.microsoft.com/office/drawing/2010/main" val="0"/>
              </a:ext>
            </a:extLst>
          </a:blip>
          <a:srcRect b="23056"/>
          <a:stretch/>
        </p:blipFill>
        <p:spPr>
          <a:xfrm flipH="1">
            <a:off x="0" y="0"/>
            <a:ext cx="12192000" cy="5276850"/>
          </a:xfrm>
          <a:prstGeom prst="rect">
            <a:avLst/>
          </a:prstGeom>
        </p:spPr>
      </p:pic>
      <p:sp>
        <p:nvSpPr>
          <p:cNvPr id="20" name="Picture Placeholder 8"/>
          <p:cNvSpPr>
            <a:spLocks noGrp="1"/>
          </p:cNvSpPr>
          <p:nvPr>
            <p:ph type="pic" sz="quarter" idx="13" hasCustomPrompt="1"/>
          </p:nvPr>
        </p:nvSpPr>
        <p:spPr>
          <a:xfrm>
            <a:off x="9366561" y="5570642"/>
            <a:ext cx="1867935" cy="896833"/>
          </a:xfrm>
          <a:prstGeom prst="rect">
            <a:avLst/>
          </a:prstGeom>
        </p:spPr>
        <p:txBody>
          <a:bodyPr anchor="b"/>
          <a:lstStyle>
            <a:lvl1pPr algn="ctr">
              <a:defRPr sz="1600">
                <a:solidFill>
                  <a:schemeClr val="tx1"/>
                </a:solidFill>
                <a:latin typeface="Trebuchet MS" panose="020B0603020202020204" pitchFamily="34" charset="0"/>
                <a:sym typeface="Trebuchet MS" panose="020B0603020202020204" pitchFamily="34" charset="0"/>
              </a:defRPr>
            </a:lvl1pPr>
          </a:lstStyle>
          <a:p>
            <a:r>
              <a:rPr lang="en-US"/>
              <a:t>Logo</a:t>
            </a:r>
          </a:p>
        </p:txBody>
      </p:sp>
      <p:sp>
        <p:nvSpPr>
          <p:cNvPr id="21" name="Rectangle 20"/>
          <p:cNvSpPr/>
          <p:nvPr userDrawn="1"/>
        </p:nvSpPr>
        <p:spPr bwMode="black">
          <a:xfrm>
            <a:off x="630936" y="626200"/>
            <a:ext cx="8125200" cy="5529600"/>
          </a:xfrm>
          <a:prstGeom prst="rect">
            <a:avLst/>
          </a:prstGeom>
          <a:gradFill flip="none" rotWithShape="1">
            <a:gsLst>
              <a:gs pos="0">
                <a:schemeClr val="accent1">
                  <a:alpha val="90000"/>
                </a:schemeClr>
              </a:gs>
              <a:gs pos="100000">
                <a:schemeClr val="tx2">
                  <a:alpha val="90000"/>
                </a:schemeClr>
              </a:gs>
            </a:gsLst>
            <a:lin ang="189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lnSpc>
                <a:spcPct val="95000"/>
              </a:lnSpc>
            </a:pPr>
            <a:endParaRPr lang="en-US" sz="2000">
              <a:solidFill>
                <a:prstClr val="white"/>
              </a:solidFill>
              <a:latin typeface="+mn-lt"/>
              <a:sym typeface="Trebuchet MS" panose="020B0603020202020204" pitchFamily="34" charset="0"/>
            </a:endParaRPr>
          </a:p>
        </p:txBody>
      </p:sp>
      <p:sp>
        <p:nvSpPr>
          <p:cNvPr id="22" name="Text Placeholder 6"/>
          <p:cNvSpPr>
            <a:spLocks noGrp="1"/>
          </p:cNvSpPr>
          <p:nvPr>
            <p:ph type="body" sz="quarter" idx="12" hasCustomPrompt="1"/>
          </p:nvPr>
        </p:nvSpPr>
        <p:spPr bwMode="black">
          <a:xfrm>
            <a:off x="1117415" y="6207842"/>
            <a:ext cx="6868800" cy="327148"/>
          </a:xfrm>
          <a:prstGeom prst="rect">
            <a:avLst/>
          </a:prstGeom>
          <a:noFill/>
        </p:spPr>
        <p:txBody>
          <a:bodyPr anchor="ctr"/>
          <a:lstStyle>
            <a:lvl1pPr algn="l">
              <a:lnSpc>
                <a:spcPct val="110000"/>
              </a:lnSpc>
              <a:buNone/>
              <a:defRPr sz="1200" b="1" cap="all" baseline="0">
                <a:solidFill>
                  <a:schemeClr val="accent5"/>
                </a:solidFill>
                <a:latin typeface="+mn-lt"/>
                <a:sym typeface="Trebuchet MS" panose="020B0603020202020204" pitchFamily="34" charset="0"/>
              </a:defRPr>
            </a:lvl1pPr>
            <a:lvl2pPr algn="ctr">
              <a:buNone/>
              <a:defRPr/>
            </a:lvl2pPr>
            <a:lvl3pPr marL="0" indent="0" algn="ctr">
              <a:buNone/>
              <a:defRPr/>
            </a:lvl3pPr>
            <a:lvl4pPr marL="228600" indent="0" algn="ctr">
              <a:buNone/>
              <a:defRPr/>
            </a:lvl4pPr>
            <a:lvl5pPr marL="457200" indent="0" algn="ctr">
              <a:buNone/>
              <a:defRPr/>
            </a:lvl5pPr>
          </a:lstStyle>
          <a:p>
            <a:pPr lvl="0"/>
            <a:r>
              <a:rPr lang="en-US"/>
              <a:t>Click to edit date/place</a:t>
            </a:r>
          </a:p>
        </p:txBody>
      </p:sp>
      <p:sp>
        <p:nvSpPr>
          <p:cNvPr id="26" name="Subtitle 2"/>
          <p:cNvSpPr>
            <a:spLocks noGrp="1"/>
          </p:cNvSpPr>
          <p:nvPr>
            <p:ph type="subTitle" idx="1" hasCustomPrompt="1"/>
          </p:nvPr>
        </p:nvSpPr>
        <p:spPr bwMode="white">
          <a:xfrm>
            <a:off x="1117415" y="5495706"/>
            <a:ext cx="6868800" cy="436195"/>
          </a:xfrm>
          <a:prstGeom prst="rect">
            <a:avLst/>
          </a:prstGeom>
        </p:spPr>
        <p:txBody>
          <a:bodyPr anchor="ctr"/>
          <a:lstStyle>
            <a:lvl1pPr marL="0" indent="0" algn="l">
              <a:lnSpc>
                <a:spcPct val="110000"/>
              </a:lnSpc>
              <a:buNone/>
              <a:defRPr sz="1600">
                <a:solidFill>
                  <a:schemeClr val="bg1"/>
                </a:solidFill>
                <a:latin typeface="+mn-lt"/>
                <a:sym typeface="Trebuchet MS" panose="020B0603020202020204" pitchFamily="34"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Subtitle in sentence case</a:t>
            </a:r>
          </a:p>
        </p:txBody>
      </p:sp>
      <p:sp>
        <p:nvSpPr>
          <p:cNvPr id="27" name="Title 1"/>
          <p:cNvSpPr>
            <a:spLocks noGrp="1"/>
          </p:cNvSpPr>
          <p:nvPr>
            <p:ph type="ctrTitle" hasCustomPrompt="1"/>
          </p:nvPr>
        </p:nvSpPr>
        <p:spPr bwMode="ltGray">
          <a:xfrm>
            <a:off x="1117415" y="1886242"/>
            <a:ext cx="6868800" cy="3138423"/>
          </a:xfrm>
        </p:spPr>
        <p:txBody>
          <a:bodyPr anchor="b">
            <a:normAutofit/>
          </a:bodyPr>
          <a:lstStyle>
            <a:lvl1pPr algn="l">
              <a:lnSpc>
                <a:spcPct val="93000"/>
              </a:lnSpc>
              <a:defRPr sz="5400">
                <a:solidFill>
                  <a:schemeClr val="bg1"/>
                </a:solidFill>
                <a:latin typeface="+mj-lt"/>
                <a:sym typeface="Trebuchet MS" panose="020B0603020202020204" pitchFamily="34" charset="0"/>
              </a:defRPr>
            </a:lvl1pPr>
          </a:lstStyle>
          <a:p>
            <a:r>
              <a:rPr lang="en-US"/>
              <a:t>Title in Title Case</a:t>
            </a:r>
          </a:p>
        </p:txBody>
      </p:sp>
      <p:sp>
        <p:nvSpPr>
          <p:cNvPr id="13" name="Freeform 12"/>
          <p:cNvSpPr>
            <a:spLocks noChangeAspect="1"/>
          </p:cNvSpPr>
          <p:nvPr userDrawn="1">
            <p:custDataLst>
              <p:tags r:id="rId4"/>
            </p:custDataLst>
          </p:nvPr>
        </p:nvSpPr>
        <p:spPr bwMode="auto">
          <a:xfrm>
            <a:off x="1117415" y="1112679"/>
            <a:ext cx="2327644" cy="486479"/>
          </a:xfrm>
          <a:custGeom>
            <a:avLst/>
            <a:gdLst>
              <a:gd name="connsiteX0" fmla="*/ 8982072 w 11499847"/>
              <a:gd name="connsiteY0" fmla="*/ 1919288 h 2403475"/>
              <a:gd name="connsiteX1" fmla="*/ 8982072 w 11499847"/>
              <a:gd name="connsiteY1" fmla="*/ 2105026 h 2403475"/>
              <a:gd name="connsiteX2" fmla="*/ 9098233 w 11499847"/>
              <a:gd name="connsiteY2" fmla="*/ 2105026 h 2403475"/>
              <a:gd name="connsiteX3" fmla="*/ 9164880 w 11499847"/>
              <a:gd name="connsiteY3" fmla="*/ 2080233 h 2403475"/>
              <a:gd name="connsiteX4" fmla="*/ 9191622 w 11499847"/>
              <a:gd name="connsiteY4" fmla="*/ 2011737 h 2403475"/>
              <a:gd name="connsiteX5" fmla="*/ 9164880 w 11499847"/>
              <a:gd name="connsiteY5" fmla="*/ 1944501 h 2403475"/>
              <a:gd name="connsiteX6" fmla="*/ 9098233 w 11499847"/>
              <a:gd name="connsiteY6" fmla="*/ 1919288 h 2403475"/>
              <a:gd name="connsiteX7" fmla="*/ 8982072 w 11499847"/>
              <a:gd name="connsiteY7" fmla="*/ 1919288 h 2403475"/>
              <a:gd name="connsiteX8" fmla="*/ 7280272 w 11499847"/>
              <a:gd name="connsiteY8" fmla="*/ 1919288 h 2403475"/>
              <a:gd name="connsiteX9" fmla="*/ 7280272 w 11499847"/>
              <a:gd name="connsiteY9" fmla="*/ 2097088 h 2403475"/>
              <a:gd name="connsiteX10" fmla="*/ 7404503 w 11499847"/>
              <a:gd name="connsiteY10" fmla="*/ 2097088 h 2403475"/>
              <a:gd name="connsiteX11" fmla="*/ 7469027 w 11499847"/>
              <a:gd name="connsiteY11" fmla="*/ 2073423 h 2403475"/>
              <a:gd name="connsiteX12" fmla="*/ 7494585 w 11499847"/>
              <a:gd name="connsiteY12" fmla="*/ 2008502 h 2403475"/>
              <a:gd name="connsiteX13" fmla="*/ 7469027 w 11499847"/>
              <a:gd name="connsiteY13" fmla="*/ 1943581 h 2403475"/>
              <a:gd name="connsiteX14" fmla="*/ 7404503 w 11499847"/>
              <a:gd name="connsiteY14" fmla="*/ 1919288 h 2403475"/>
              <a:gd name="connsiteX15" fmla="*/ 7280272 w 11499847"/>
              <a:gd name="connsiteY15" fmla="*/ 1919288 h 2403475"/>
              <a:gd name="connsiteX16" fmla="*/ 7945015 w 11499847"/>
              <a:gd name="connsiteY16" fmla="*/ 1909763 h 2403475"/>
              <a:gd name="connsiteX17" fmla="*/ 7813574 w 11499847"/>
              <a:gd name="connsiteY17" fmla="*/ 1965330 h 2403475"/>
              <a:gd name="connsiteX18" fmla="*/ 7759697 w 11499847"/>
              <a:gd name="connsiteY18" fmla="*/ 2100368 h 2403475"/>
              <a:gd name="connsiteX19" fmla="*/ 7813574 w 11499847"/>
              <a:gd name="connsiteY19" fmla="*/ 2235406 h 2403475"/>
              <a:gd name="connsiteX20" fmla="*/ 7945015 w 11499847"/>
              <a:gd name="connsiteY20" fmla="*/ 2290763 h 2403475"/>
              <a:gd name="connsiteX21" fmla="*/ 8077086 w 11499847"/>
              <a:gd name="connsiteY21" fmla="*/ 2235825 h 2403475"/>
              <a:gd name="connsiteX22" fmla="*/ 8131172 w 11499847"/>
              <a:gd name="connsiteY22" fmla="*/ 2100368 h 2403475"/>
              <a:gd name="connsiteX23" fmla="*/ 8076876 w 11499847"/>
              <a:gd name="connsiteY23" fmla="*/ 1965330 h 2403475"/>
              <a:gd name="connsiteX24" fmla="*/ 7945015 w 11499847"/>
              <a:gd name="connsiteY24" fmla="*/ 1909763 h 2403475"/>
              <a:gd name="connsiteX25" fmla="*/ 8899522 w 11499847"/>
              <a:gd name="connsiteY25" fmla="*/ 1844675 h 2403475"/>
              <a:gd name="connsiteX26" fmla="*/ 9098598 w 11499847"/>
              <a:gd name="connsiteY26" fmla="*/ 1844675 h 2403475"/>
              <a:gd name="connsiteX27" fmla="*/ 9228521 w 11499847"/>
              <a:gd name="connsiteY27" fmla="*/ 1892741 h 2403475"/>
              <a:gd name="connsiteX28" fmla="*/ 9277347 w 11499847"/>
              <a:gd name="connsiteY28" fmla="*/ 2011236 h 2403475"/>
              <a:gd name="connsiteX29" fmla="*/ 9228521 w 11499847"/>
              <a:gd name="connsiteY29" fmla="*/ 2129521 h 2403475"/>
              <a:gd name="connsiteX30" fmla="*/ 9098598 w 11499847"/>
              <a:gd name="connsiteY30" fmla="*/ 2177796 h 2403475"/>
              <a:gd name="connsiteX31" fmla="*/ 8982086 w 11499847"/>
              <a:gd name="connsiteY31" fmla="*/ 2177796 h 2403475"/>
              <a:gd name="connsiteX32" fmla="*/ 8982086 w 11499847"/>
              <a:gd name="connsiteY32" fmla="*/ 2355850 h 2403475"/>
              <a:gd name="connsiteX33" fmla="*/ 8899522 w 11499847"/>
              <a:gd name="connsiteY33" fmla="*/ 2355850 h 2403475"/>
              <a:gd name="connsiteX34" fmla="*/ 8899522 w 11499847"/>
              <a:gd name="connsiteY34" fmla="*/ 1844675 h 2403475"/>
              <a:gd name="connsiteX35" fmla="*/ 8324847 w 11499847"/>
              <a:gd name="connsiteY35" fmla="*/ 1844675 h 2403475"/>
              <a:gd name="connsiteX36" fmla="*/ 8407608 w 11499847"/>
              <a:gd name="connsiteY36" fmla="*/ 1844675 h 2403475"/>
              <a:gd name="connsiteX37" fmla="*/ 8407608 w 11499847"/>
              <a:gd name="connsiteY37" fmla="*/ 2158090 h 2403475"/>
              <a:gd name="connsiteX38" fmla="*/ 8443017 w 11499847"/>
              <a:gd name="connsiteY38" fmla="*/ 2252595 h 2403475"/>
              <a:gd name="connsiteX39" fmla="*/ 8537931 w 11499847"/>
              <a:gd name="connsiteY39" fmla="*/ 2291066 h 2403475"/>
              <a:gd name="connsiteX40" fmla="*/ 8631797 w 11499847"/>
              <a:gd name="connsiteY40" fmla="*/ 2252595 h 2403475"/>
              <a:gd name="connsiteX41" fmla="*/ 8667415 w 11499847"/>
              <a:gd name="connsiteY41" fmla="*/ 2158090 h 2403475"/>
              <a:gd name="connsiteX42" fmla="*/ 8667415 w 11499847"/>
              <a:gd name="connsiteY42" fmla="*/ 1844675 h 2403475"/>
              <a:gd name="connsiteX43" fmla="*/ 8748710 w 11499847"/>
              <a:gd name="connsiteY43" fmla="*/ 1844675 h 2403475"/>
              <a:gd name="connsiteX44" fmla="*/ 8748710 w 11499847"/>
              <a:gd name="connsiteY44" fmla="*/ 2158717 h 2403475"/>
              <a:gd name="connsiteX45" fmla="*/ 8688577 w 11499847"/>
              <a:gd name="connsiteY45" fmla="*/ 2307793 h 2403475"/>
              <a:gd name="connsiteX46" fmla="*/ 8537093 w 11499847"/>
              <a:gd name="connsiteY46" fmla="*/ 2366963 h 2403475"/>
              <a:gd name="connsiteX47" fmla="*/ 8385399 w 11499847"/>
              <a:gd name="connsiteY47" fmla="*/ 2307793 h 2403475"/>
              <a:gd name="connsiteX48" fmla="*/ 8324847 w 11499847"/>
              <a:gd name="connsiteY48" fmla="*/ 2158717 h 2403475"/>
              <a:gd name="connsiteX49" fmla="*/ 8324847 w 11499847"/>
              <a:gd name="connsiteY49" fmla="*/ 1844675 h 2403475"/>
              <a:gd name="connsiteX50" fmla="*/ 7197722 w 11499847"/>
              <a:gd name="connsiteY50" fmla="*/ 1844675 h 2403475"/>
              <a:gd name="connsiteX51" fmla="*/ 7404196 w 11499847"/>
              <a:gd name="connsiteY51" fmla="*/ 1844675 h 2403475"/>
              <a:gd name="connsiteX52" fmla="*/ 7531336 w 11499847"/>
              <a:gd name="connsiteY52" fmla="*/ 1891906 h 2403475"/>
              <a:gd name="connsiteX53" fmla="*/ 7578727 w 11499847"/>
              <a:gd name="connsiteY53" fmla="*/ 2008937 h 2403475"/>
              <a:gd name="connsiteX54" fmla="*/ 7548455 w 11499847"/>
              <a:gd name="connsiteY54" fmla="*/ 2106950 h 2403475"/>
              <a:gd name="connsiteX55" fmla="*/ 7464947 w 11499847"/>
              <a:gd name="connsiteY55" fmla="*/ 2161495 h 2403475"/>
              <a:gd name="connsiteX56" fmla="*/ 7525699 w 11499847"/>
              <a:gd name="connsiteY56" fmla="*/ 2258673 h 2403475"/>
              <a:gd name="connsiteX57" fmla="*/ 7586660 w 11499847"/>
              <a:gd name="connsiteY57" fmla="*/ 2355850 h 2403475"/>
              <a:gd name="connsiteX58" fmla="*/ 7491044 w 11499847"/>
              <a:gd name="connsiteY58" fmla="*/ 2355850 h 2403475"/>
              <a:gd name="connsiteX59" fmla="*/ 7434676 w 11499847"/>
              <a:gd name="connsiteY59" fmla="*/ 2263479 h 2403475"/>
              <a:gd name="connsiteX60" fmla="*/ 7378099 w 11499847"/>
              <a:gd name="connsiteY60" fmla="*/ 2171108 h 2403475"/>
              <a:gd name="connsiteX61" fmla="*/ 7280395 w 11499847"/>
              <a:gd name="connsiteY61" fmla="*/ 2171108 h 2403475"/>
              <a:gd name="connsiteX62" fmla="*/ 7280395 w 11499847"/>
              <a:gd name="connsiteY62" fmla="*/ 2355850 h 2403475"/>
              <a:gd name="connsiteX63" fmla="*/ 7197722 w 11499847"/>
              <a:gd name="connsiteY63" fmla="*/ 2355850 h 2403475"/>
              <a:gd name="connsiteX64" fmla="*/ 7197722 w 11499847"/>
              <a:gd name="connsiteY64" fmla="*/ 1844675 h 2403475"/>
              <a:gd name="connsiteX65" fmla="*/ 7945016 w 11499847"/>
              <a:gd name="connsiteY65" fmla="*/ 1833563 h 2403475"/>
              <a:gd name="connsiteX66" fmla="*/ 8136527 w 11499847"/>
              <a:gd name="connsiteY66" fmla="*/ 1911974 h 2403475"/>
              <a:gd name="connsiteX67" fmla="*/ 8215310 w 11499847"/>
              <a:gd name="connsiteY67" fmla="*/ 2100368 h 2403475"/>
              <a:gd name="connsiteX68" fmla="*/ 8136527 w 11499847"/>
              <a:gd name="connsiteY68" fmla="*/ 2288762 h 2403475"/>
              <a:gd name="connsiteX69" fmla="*/ 7945016 w 11499847"/>
              <a:gd name="connsiteY69" fmla="*/ 2366963 h 2403475"/>
              <a:gd name="connsiteX70" fmla="*/ 7754134 w 11499847"/>
              <a:gd name="connsiteY70" fmla="*/ 2288762 h 2403475"/>
              <a:gd name="connsiteX71" fmla="*/ 7675560 w 11499847"/>
              <a:gd name="connsiteY71" fmla="*/ 2100368 h 2403475"/>
              <a:gd name="connsiteX72" fmla="*/ 7754134 w 11499847"/>
              <a:gd name="connsiteY72" fmla="*/ 1911974 h 2403475"/>
              <a:gd name="connsiteX73" fmla="*/ 7945016 w 11499847"/>
              <a:gd name="connsiteY73" fmla="*/ 1833563 h 2403475"/>
              <a:gd name="connsiteX74" fmla="*/ 6834872 w 11499847"/>
              <a:gd name="connsiteY74" fmla="*/ 1833563 h 2403475"/>
              <a:gd name="connsiteX75" fmla="*/ 6921875 w 11499847"/>
              <a:gd name="connsiteY75" fmla="*/ 1845482 h 2403475"/>
              <a:gd name="connsiteX76" fmla="*/ 6996090 w 11499847"/>
              <a:gd name="connsiteY76" fmla="*/ 1881028 h 2403475"/>
              <a:gd name="connsiteX77" fmla="*/ 6974496 w 11499847"/>
              <a:gd name="connsiteY77" fmla="*/ 1914692 h 2403475"/>
              <a:gd name="connsiteX78" fmla="*/ 6952903 w 11499847"/>
              <a:gd name="connsiteY78" fmla="*/ 1948356 h 2403475"/>
              <a:gd name="connsiteX79" fmla="*/ 6897556 w 11499847"/>
              <a:gd name="connsiteY79" fmla="*/ 1919501 h 2403475"/>
              <a:gd name="connsiteX80" fmla="*/ 6834243 w 11499847"/>
              <a:gd name="connsiteY80" fmla="*/ 1910301 h 2403475"/>
              <a:gd name="connsiteX81" fmla="*/ 6703424 w 11499847"/>
              <a:gd name="connsiteY81" fmla="*/ 1965084 h 2403475"/>
              <a:gd name="connsiteX82" fmla="*/ 6650384 w 11499847"/>
              <a:gd name="connsiteY82" fmla="*/ 2100368 h 2403475"/>
              <a:gd name="connsiteX83" fmla="*/ 6701957 w 11499847"/>
              <a:gd name="connsiteY83" fmla="*/ 2236070 h 2403475"/>
              <a:gd name="connsiteX84" fmla="*/ 6831308 w 11499847"/>
              <a:gd name="connsiteY84" fmla="*/ 2291062 h 2403475"/>
              <a:gd name="connsiteX85" fmla="*/ 6945984 w 11499847"/>
              <a:gd name="connsiteY85" fmla="*/ 2250498 h 2403475"/>
              <a:gd name="connsiteX86" fmla="*/ 6999863 w 11499847"/>
              <a:gd name="connsiteY86" fmla="*/ 2148460 h 2403475"/>
              <a:gd name="connsiteX87" fmla="*/ 6825438 w 11499847"/>
              <a:gd name="connsiteY87" fmla="*/ 2148460 h 2403475"/>
              <a:gd name="connsiteX88" fmla="*/ 6849128 w 11499847"/>
              <a:gd name="connsiteY88" fmla="*/ 2111241 h 2403475"/>
              <a:gd name="connsiteX89" fmla="*/ 6873028 w 11499847"/>
              <a:gd name="connsiteY89" fmla="*/ 2074022 h 2403475"/>
              <a:gd name="connsiteX90" fmla="*/ 7078061 w 11499847"/>
              <a:gd name="connsiteY90" fmla="*/ 2074022 h 2403475"/>
              <a:gd name="connsiteX91" fmla="*/ 7080787 w 11499847"/>
              <a:gd name="connsiteY91" fmla="*/ 2090540 h 2403475"/>
              <a:gd name="connsiteX92" fmla="*/ 7081835 w 11499847"/>
              <a:gd name="connsiteY92" fmla="*/ 2110613 h 2403475"/>
              <a:gd name="connsiteX93" fmla="*/ 7011813 w 11499847"/>
              <a:gd name="connsiteY93" fmla="*/ 2293362 h 2403475"/>
              <a:gd name="connsiteX94" fmla="*/ 6830470 w 11499847"/>
              <a:gd name="connsiteY94" fmla="*/ 2366963 h 2403475"/>
              <a:gd name="connsiteX95" fmla="*/ 6642417 w 11499847"/>
              <a:gd name="connsiteY95" fmla="*/ 2289389 h 2403475"/>
              <a:gd name="connsiteX96" fmla="*/ 6565897 w 11499847"/>
              <a:gd name="connsiteY96" fmla="*/ 2100368 h 2403475"/>
              <a:gd name="connsiteX97" fmla="*/ 6644514 w 11499847"/>
              <a:gd name="connsiteY97" fmla="*/ 1911346 h 2403475"/>
              <a:gd name="connsiteX98" fmla="*/ 6834872 w 11499847"/>
              <a:gd name="connsiteY98" fmla="*/ 1833563 h 2403475"/>
              <a:gd name="connsiteX99" fmla="*/ 501650 w 11499847"/>
              <a:gd name="connsiteY99" fmla="*/ 1403350 h 2403475"/>
              <a:gd name="connsiteX100" fmla="*/ 501650 w 11499847"/>
              <a:gd name="connsiteY100" fmla="*/ 1925638 h 2403475"/>
              <a:gd name="connsiteX101" fmla="*/ 842112 w 11499847"/>
              <a:gd name="connsiteY101" fmla="*/ 1925638 h 2403475"/>
              <a:gd name="connsiteX102" fmla="*/ 1182574 w 11499847"/>
              <a:gd name="connsiteY102" fmla="*/ 1925638 h 2403475"/>
              <a:gd name="connsiteX103" fmla="*/ 1375900 w 11499847"/>
              <a:gd name="connsiteY103" fmla="*/ 1849684 h 2403475"/>
              <a:gd name="connsiteX104" fmla="*/ 1455738 w 11499847"/>
              <a:gd name="connsiteY104" fmla="*/ 1662720 h 2403475"/>
              <a:gd name="connsiteX105" fmla="*/ 1375900 w 11499847"/>
              <a:gd name="connsiteY105" fmla="*/ 1477635 h 2403475"/>
              <a:gd name="connsiteX106" fmla="*/ 1182574 w 11499847"/>
              <a:gd name="connsiteY106" fmla="*/ 1403350 h 2403475"/>
              <a:gd name="connsiteX107" fmla="*/ 501650 w 11499847"/>
              <a:gd name="connsiteY107" fmla="*/ 1403350 h 2403475"/>
              <a:gd name="connsiteX108" fmla="*/ 7349808 w 11499847"/>
              <a:gd name="connsiteY108" fmla="*/ 1012825 h 2403475"/>
              <a:gd name="connsiteX109" fmla="*/ 7218292 w 11499847"/>
              <a:gd name="connsiteY109" fmla="*/ 1067952 h 2403475"/>
              <a:gd name="connsiteX110" fmla="*/ 7164385 w 11499847"/>
              <a:gd name="connsiteY110" fmla="*/ 1202427 h 2403475"/>
              <a:gd name="connsiteX111" fmla="*/ 7218292 w 11499847"/>
              <a:gd name="connsiteY111" fmla="*/ 1336903 h 2403475"/>
              <a:gd name="connsiteX112" fmla="*/ 7349808 w 11499847"/>
              <a:gd name="connsiteY112" fmla="*/ 1392238 h 2403475"/>
              <a:gd name="connsiteX113" fmla="*/ 7481953 w 11499847"/>
              <a:gd name="connsiteY113" fmla="*/ 1337320 h 2403475"/>
              <a:gd name="connsiteX114" fmla="*/ 7535860 w 11499847"/>
              <a:gd name="connsiteY114" fmla="*/ 1202427 h 2403475"/>
              <a:gd name="connsiteX115" fmla="*/ 7481534 w 11499847"/>
              <a:gd name="connsiteY115" fmla="*/ 1067952 h 2403475"/>
              <a:gd name="connsiteX116" fmla="*/ 7349808 w 11499847"/>
              <a:gd name="connsiteY116" fmla="*/ 1012825 h 2403475"/>
              <a:gd name="connsiteX117" fmla="*/ 10448922 w 11499847"/>
              <a:gd name="connsiteY117" fmla="*/ 946150 h 2403475"/>
              <a:gd name="connsiteX118" fmla="*/ 10552110 w 11499847"/>
              <a:gd name="connsiteY118" fmla="*/ 946150 h 2403475"/>
              <a:gd name="connsiteX119" fmla="*/ 10671172 w 11499847"/>
              <a:gd name="connsiteY119" fmla="*/ 1139825 h 2403475"/>
              <a:gd name="connsiteX120" fmla="*/ 10790235 w 11499847"/>
              <a:gd name="connsiteY120" fmla="*/ 1333501 h 2403475"/>
              <a:gd name="connsiteX121" fmla="*/ 10790235 w 11499847"/>
              <a:gd name="connsiteY121" fmla="*/ 946150 h 2403475"/>
              <a:gd name="connsiteX122" fmla="*/ 10869610 w 11499847"/>
              <a:gd name="connsiteY122" fmla="*/ 946150 h 2403475"/>
              <a:gd name="connsiteX123" fmla="*/ 10869610 w 11499847"/>
              <a:gd name="connsiteY123" fmla="*/ 1458913 h 2403475"/>
              <a:gd name="connsiteX124" fmla="*/ 10772772 w 11499847"/>
              <a:gd name="connsiteY124" fmla="*/ 1458913 h 2403475"/>
              <a:gd name="connsiteX125" fmla="*/ 10650535 w 11499847"/>
              <a:gd name="connsiteY125" fmla="*/ 1260475 h 2403475"/>
              <a:gd name="connsiteX126" fmla="*/ 10528297 w 11499847"/>
              <a:gd name="connsiteY126" fmla="*/ 1062038 h 2403475"/>
              <a:gd name="connsiteX127" fmla="*/ 10528297 w 11499847"/>
              <a:gd name="connsiteY127" fmla="*/ 1458913 h 2403475"/>
              <a:gd name="connsiteX128" fmla="*/ 10448922 w 11499847"/>
              <a:gd name="connsiteY128" fmla="*/ 1458913 h 2403475"/>
              <a:gd name="connsiteX129" fmla="*/ 10185397 w 11499847"/>
              <a:gd name="connsiteY129" fmla="*/ 946150 h 2403475"/>
              <a:gd name="connsiteX130" fmla="*/ 10267947 w 11499847"/>
              <a:gd name="connsiteY130" fmla="*/ 946150 h 2403475"/>
              <a:gd name="connsiteX131" fmla="*/ 10267947 w 11499847"/>
              <a:gd name="connsiteY131" fmla="*/ 1458913 h 2403475"/>
              <a:gd name="connsiteX132" fmla="*/ 10185397 w 11499847"/>
              <a:gd name="connsiteY132" fmla="*/ 1458913 h 2403475"/>
              <a:gd name="connsiteX133" fmla="*/ 9656760 w 11499847"/>
              <a:gd name="connsiteY133" fmla="*/ 946150 h 2403475"/>
              <a:gd name="connsiteX134" fmla="*/ 10059985 w 11499847"/>
              <a:gd name="connsiteY134" fmla="*/ 946150 h 2403475"/>
              <a:gd name="connsiteX135" fmla="*/ 10059985 w 11499847"/>
              <a:gd name="connsiteY135" fmla="*/ 1022350 h 2403475"/>
              <a:gd name="connsiteX136" fmla="*/ 9899648 w 11499847"/>
              <a:gd name="connsiteY136" fmla="*/ 1022350 h 2403475"/>
              <a:gd name="connsiteX137" fmla="*/ 9899648 w 11499847"/>
              <a:gd name="connsiteY137" fmla="*/ 1458913 h 2403475"/>
              <a:gd name="connsiteX138" fmla="*/ 9817098 w 11499847"/>
              <a:gd name="connsiteY138" fmla="*/ 1458913 h 2403475"/>
              <a:gd name="connsiteX139" fmla="*/ 9817098 w 11499847"/>
              <a:gd name="connsiteY139" fmla="*/ 1022350 h 2403475"/>
              <a:gd name="connsiteX140" fmla="*/ 9656760 w 11499847"/>
              <a:gd name="connsiteY140" fmla="*/ 1022350 h 2403475"/>
              <a:gd name="connsiteX141" fmla="*/ 9336085 w 11499847"/>
              <a:gd name="connsiteY141" fmla="*/ 946150 h 2403475"/>
              <a:gd name="connsiteX142" fmla="*/ 9418635 w 11499847"/>
              <a:gd name="connsiteY142" fmla="*/ 946150 h 2403475"/>
              <a:gd name="connsiteX143" fmla="*/ 9418635 w 11499847"/>
              <a:gd name="connsiteY143" fmla="*/ 1382713 h 2403475"/>
              <a:gd name="connsiteX144" fmla="*/ 9671048 w 11499847"/>
              <a:gd name="connsiteY144" fmla="*/ 1382713 h 2403475"/>
              <a:gd name="connsiteX145" fmla="*/ 9671048 w 11499847"/>
              <a:gd name="connsiteY145" fmla="*/ 1458913 h 2403475"/>
              <a:gd name="connsiteX146" fmla="*/ 9336085 w 11499847"/>
              <a:gd name="connsiteY146" fmla="*/ 1458913 h 2403475"/>
              <a:gd name="connsiteX147" fmla="*/ 8766172 w 11499847"/>
              <a:gd name="connsiteY147" fmla="*/ 946150 h 2403475"/>
              <a:gd name="connsiteX148" fmla="*/ 8848414 w 11499847"/>
              <a:gd name="connsiteY148" fmla="*/ 946150 h 2403475"/>
              <a:gd name="connsiteX149" fmla="*/ 8848414 w 11499847"/>
              <a:gd name="connsiteY149" fmla="*/ 1260391 h 2403475"/>
              <a:gd name="connsiteX150" fmla="*/ 8883900 w 11499847"/>
              <a:gd name="connsiteY150" fmla="*/ 1355146 h 2403475"/>
              <a:gd name="connsiteX151" fmla="*/ 8978249 w 11499847"/>
              <a:gd name="connsiteY151" fmla="*/ 1393718 h 2403475"/>
              <a:gd name="connsiteX152" fmla="*/ 9071972 w 11499847"/>
              <a:gd name="connsiteY152" fmla="*/ 1355146 h 2403475"/>
              <a:gd name="connsiteX153" fmla="*/ 9107457 w 11499847"/>
              <a:gd name="connsiteY153" fmla="*/ 1260391 h 2403475"/>
              <a:gd name="connsiteX154" fmla="*/ 9107457 w 11499847"/>
              <a:gd name="connsiteY154" fmla="*/ 946150 h 2403475"/>
              <a:gd name="connsiteX155" fmla="*/ 9188447 w 11499847"/>
              <a:gd name="connsiteY155" fmla="*/ 946150 h 2403475"/>
              <a:gd name="connsiteX156" fmla="*/ 9188447 w 11499847"/>
              <a:gd name="connsiteY156" fmla="*/ 1261230 h 2403475"/>
              <a:gd name="connsiteX157" fmla="*/ 9128539 w 11499847"/>
              <a:gd name="connsiteY157" fmla="*/ 1410489 h 2403475"/>
              <a:gd name="connsiteX158" fmla="*/ 8977623 w 11499847"/>
              <a:gd name="connsiteY158" fmla="*/ 1470025 h 2403475"/>
              <a:gd name="connsiteX159" fmla="*/ 8826497 w 11499847"/>
              <a:gd name="connsiteY159" fmla="*/ 1410489 h 2403475"/>
              <a:gd name="connsiteX160" fmla="*/ 8766172 w 11499847"/>
              <a:gd name="connsiteY160" fmla="*/ 1261230 h 2403475"/>
              <a:gd name="connsiteX161" fmla="*/ 8766172 w 11499847"/>
              <a:gd name="connsiteY161" fmla="*/ 946150 h 2403475"/>
              <a:gd name="connsiteX162" fmla="*/ 7737472 w 11499847"/>
              <a:gd name="connsiteY162" fmla="*/ 946150 h 2403475"/>
              <a:gd name="connsiteX163" fmla="*/ 7839072 w 11499847"/>
              <a:gd name="connsiteY163" fmla="*/ 946150 h 2403475"/>
              <a:gd name="connsiteX164" fmla="*/ 7958134 w 11499847"/>
              <a:gd name="connsiteY164" fmla="*/ 1139825 h 2403475"/>
              <a:gd name="connsiteX165" fmla="*/ 8077197 w 11499847"/>
              <a:gd name="connsiteY165" fmla="*/ 1333501 h 2403475"/>
              <a:gd name="connsiteX166" fmla="*/ 8077197 w 11499847"/>
              <a:gd name="connsiteY166" fmla="*/ 946150 h 2403475"/>
              <a:gd name="connsiteX167" fmla="*/ 8156572 w 11499847"/>
              <a:gd name="connsiteY167" fmla="*/ 946150 h 2403475"/>
              <a:gd name="connsiteX168" fmla="*/ 8156572 w 11499847"/>
              <a:gd name="connsiteY168" fmla="*/ 1458913 h 2403475"/>
              <a:gd name="connsiteX169" fmla="*/ 8061322 w 11499847"/>
              <a:gd name="connsiteY169" fmla="*/ 1458913 h 2403475"/>
              <a:gd name="connsiteX170" fmla="*/ 7939084 w 11499847"/>
              <a:gd name="connsiteY170" fmla="*/ 1260475 h 2403475"/>
              <a:gd name="connsiteX171" fmla="*/ 7815259 w 11499847"/>
              <a:gd name="connsiteY171" fmla="*/ 1062038 h 2403475"/>
              <a:gd name="connsiteX172" fmla="*/ 7815259 w 11499847"/>
              <a:gd name="connsiteY172" fmla="*/ 1458913 h 2403475"/>
              <a:gd name="connsiteX173" fmla="*/ 7737472 w 11499847"/>
              <a:gd name="connsiteY173" fmla="*/ 1458913 h 2403475"/>
              <a:gd name="connsiteX174" fmla="*/ 11253544 w 11499847"/>
              <a:gd name="connsiteY174" fmla="*/ 936625 h 2403475"/>
              <a:gd name="connsiteX175" fmla="*/ 11340315 w 11499847"/>
              <a:gd name="connsiteY175" fmla="*/ 948334 h 2403475"/>
              <a:gd name="connsiteX176" fmla="*/ 11414331 w 11499847"/>
              <a:gd name="connsiteY176" fmla="*/ 984090 h 2403475"/>
              <a:gd name="connsiteX177" fmla="*/ 11392795 w 11499847"/>
              <a:gd name="connsiteY177" fmla="*/ 1017545 h 2403475"/>
              <a:gd name="connsiteX178" fmla="*/ 11371260 w 11499847"/>
              <a:gd name="connsiteY178" fmla="*/ 1051209 h 2403475"/>
              <a:gd name="connsiteX179" fmla="*/ 11316270 w 11499847"/>
              <a:gd name="connsiteY179" fmla="*/ 1022354 h 2403475"/>
              <a:gd name="connsiteX180" fmla="*/ 11252917 w 11499847"/>
              <a:gd name="connsiteY180" fmla="*/ 1013363 h 2403475"/>
              <a:gd name="connsiteX181" fmla="*/ 11122657 w 11499847"/>
              <a:gd name="connsiteY181" fmla="*/ 1067936 h 2403475"/>
              <a:gd name="connsiteX182" fmla="*/ 11069549 w 11499847"/>
              <a:gd name="connsiteY182" fmla="*/ 1203221 h 2403475"/>
              <a:gd name="connsiteX183" fmla="*/ 11120984 w 11499847"/>
              <a:gd name="connsiteY183" fmla="*/ 1338923 h 2403475"/>
              <a:gd name="connsiteX184" fmla="*/ 11249990 w 11499847"/>
              <a:gd name="connsiteY184" fmla="*/ 1394124 h 2403475"/>
              <a:gd name="connsiteX185" fmla="*/ 11364360 w 11499847"/>
              <a:gd name="connsiteY185" fmla="*/ 1353350 h 2403475"/>
              <a:gd name="connsiteX186" fmla="*/ 11418095 w 11499847"/>
              <a:gd name="connsiteY186" fmla="*/ 1251521 h 2403475"/>
              <a:gd name="connsiteX187" fmla="*/ 11244136 w 11499847"/>
              <a:gd name="connsiteY187" fmla="*/ 1251521 h 2403475"/>
              <a:gd name="connsiteX188" fmla="*/ 11267971 w 11499847"/>
              <a:gd name="connsiteY188" fmla="*/ 1214303 h 2403475"/>
              <a:gd name="connsiteX189" fmla="*/ 11291598 w 11499847"/>
              <a:gd name="connsiteY189" fmla="*/ 1177084 h 2403475"/>
              <a:gd name="connsiteX190" fmla="*/ 11496083 w 11499847"/>
              <a:gd name="connsiteY190" fmla="*/ 1177084 h 2403475"/>
              <a:gd name="connsiteX191" fmla="*/ 11498802 w 11499847"/>
              <a:gd name="connsiteY191" fmla="*/ 1193393 h 2403475"/>
              <a:gd name="connsiteX192" fmla="*/ 11499847 w 11499847"/>
              <a:gd name="connsiteY192" fmla="*/ 1213466 h 2403475"/>
              <a:gd name="connsiteX193" fmla="*/ 11430222 w 11499847"/>
              <a:gd name="connsiteY193" fmla="*/ 1396215 h 2403475"/>
              <a:gd name="connsiteX194" fmla="*/ 11249154 w 11499847"/>
              <a:gd name="connsiteY194" fmla="*/ 1470025 h 2403475"/>
              <a:gd name="connsiteX195" fmla="*/ 11061813 w 11499847"/>
              <a:gd name="connsiteY195" fmla="*/ 1392242 h 2403475"/>
              <a:gd name="connsiteX196" fmla="*/ 10985497 w 11499847"/>
              <a:gd name="connsiteY196" fmla="*/ 1203221 h 2403475"/>
              <a:gd name="connsiteX197" fmla="*/ 11063695 w 11499847"/>
              <a:gd name="connsiteY197" fmla="*/ 1014408 h 2403475"/>
              <a:gd name="connsiteX198" fmla="*/ 11253544 w 11499847"/>
              <a:gd name="connsiteY198" fmla="*/ 936625 h 2403475"/>
              <a:gd name="connsiteX199" fmla="*/ 8471697 w 11499847"/>
              <a:gd name="connsiteY199" fmla="*/ 936625 h 2403475"/>
              <a:gd name="connsiteX200" fmla="*/ 8556850 w 11499847"/>
              <a:gd name="connsiteY200" fmla="*/ 949798 h 2403475"/>
              <a:gd name="connsiteX201" fmla="*/ 8626729 w 11499847"/>
              <a:gd name="connsiteY201" fmla="*/ 984717 h 2403475"/>
              <a:gd name="connsiteX202" fmla="*/ 8606225 w 11499847"/>
              <a:gd name="connsiteY202" fmla="*/ 1017336 h 2403475"/>
              <a:gd name="connsiteX203" fmla="*/ 8585722 w 11499847"/>
              <a:gd name="connsiteY203" fmla="*/ 1049745 h 2403475"/>
              <a:gd name="connsiteX204" fmla="*/ 8528605 w 11499847"/>
              <a:gd name="connsiteY204" fmla="*/ 1021099 h 2403475"/>
              <a:gd name="connsiteX205" fmla="*/ 8471070 w 11499847"/>
              <a:gd name="connsiteY205" fmla="*/ 1011063 h 2403475"/>
              <a:gd name="connsiteX206" fmla="*/ 8404328 w 11499847"/>
              <a:gd name="connsiteY206" fmla="*/ 1032181 h 2403475"/>
              <a:gd name="connsiteX207" fmla="*/ 8382570 w 11499847"/>
              <a:gd name="connsiteY207" fmla="*/ 1084246 h 2403475"/>
              <a:gd name="connsiteX208" fmla="*/ 8412697 w 11499847"/>
              <a:gd name="connsiteY208" fmla="*/ 1135474 h 2403475"/>
              <a:gd name="connsiteX209" fmla="*/ 8493038 w 11499847"/>
              <a:gd name="connsiteY209" fmla="*/ 1165165 h 2403475"/>
              <a:gd name="connsiteX210" fmla="*/ 8600786 w 11499847"/>
              <a:gd name="connsiteY210" fmla="*/ 1212421 h 2403475"/>
              <a:gd name="connsiteX211" fmla="*/ 8648697 w 11499847"/>
              <a:gd name="connsiteY211" fmla="*/ 1314250 h 2403475"/>
              <a:gd name="connsiteX212" fmla="*/ 8601413 w 11499847"/>
              <a:gd name="connsiteY212" fmla="*/ 1425906 h 2403475"/>
              <a:gd name="connsiteX213" fmla="*/ 8468140 w 11499847"/>
              <a:gd name="connsiteY213" fmla="*/ 1470025 h 2403475"/>
              <a:gd name="connsiteX214" fmla="*/ 8363531 w 11499847"/>
              <a:gd name="connsiteY214" fmla="*/ 1452461 h 2403475"/>
              <a:gd name="connsiteX215" fmla="*/ 8286747 w 11499847"/>
              <a:gd name="connsiteY215" fmla="*/ 1411479 h 2403475"/>
              <a:gd name="connsiteX216" fmla="*/ 8307251 w 11499847"/>
              <a:gd name="connsiteY216" fmla="*/ 1379069 h 2403475"/>
              <a:gd name="connsiteX217" fmla="*/ 8327754 w 11499847"/>
              <a:gd name="connsiteY217" fmla="*/ 1346450 h 2403475"/>
              <a:gd name="connsiteX218" fmla="*/ 8395541 w 11499847"/>
              <a:gd name="connsiteY218" fmla="*/ 1381578 h 2403475"/>
              <a:gd name="connsiteX219" fmla="*/ 8468768 w 11499847"/>
              <a:gd name="connsiteY219" fmla="*/ 1395378 h 2403475"/>
              <a:gd name="connsiteX220" fmla="*/ 8541367 w 11499847"/>
              <a:gd name="connsiteY220" fmla="*/ 1373633 h 2403475"/>
              <a:gd name="connsiteX221" fmla="*/ 8566055 w 11499847"/>
              <a:gd name="connsiteY221" fmla="*/ 1319477 h 2403475"/>
              <a:gd name="connsiteX222" fmla="*/ 8535509 w 11499847"/>
              <a:gd name="connsiteY222" fmla="*/ 1268458 h 2403475"/>
              <a:gd name="connsiteX223" fmla="*/ 8455587 w 11499847"/>
              <a:gd name="connsiteY223" fmla="*/ 1238348 h 2403475"/>
              <a:gd name="connsiteX224" fmla="*/ 8347630 w 11499847"/>
              <a:gd name="connsiteY224" fmla="*/ 1191511 h 2403475"/>
              <a:gd name="connsiteX225" fmla="*/ 8299928 w 11499847"/>
              <a:gd name="connsiteY225" fmla="*/ 1089264 h 2403475"/>
              <a:gd name="connsiteX226" fmla="*/ 8345329 w 11499847"/>
              <a:gd name="connsiteY226" fmla="*/ 979489 h 2403475"/>
              <a:gd name="connsiteX227" fmla="*/ 8471697 w 11499847"/>
              <a:gd name="connsiteY227" fmla="*/ 936625 h 2403475"/>
              <a:gd name="connsiteX228" fmla="*/ 7349808 w 11499847"/>
              <a:gd name="connsiteY228" fmla="*/ 936625 h 2403475"/>
              <a:gd name="connsiteX229" fmla="*/ 7541183 w 11499847"/>
              <a:gd name="connsiteY229" fmla="*/ 1014826 h 2403475"/>
              <a:gd name="connsiteX230" fmla="*/ 7619997 w 11499847"/>
              <a:gd name="connsiteY230" fmla="*/ 1203221 h 2403475"/>
              <a:gd name="connsiteX231" fmla="*/ 7541183 w 11499847"/>
              <a:gd name="connsiteY231" fmla="*/ 1391615 h 2403475"/>
              <a:gd name="connsiteX232" fmla="*/ 7349808 w 11499847"/>
              <a:gd name="connsiteY232" fmla="*/ 1470025 h 2403475"/>
              <a:gd name="connsiteX233" fmla="*/ 7158642 w 11499847"/>
              <a:gd name="connsiteY233" fmla="*/ 1391615 h 2403475"/>
              <a:gd name="connsiteX234" fmla="*/ 7080247 w 11499847"/>
              <a:gd name="connsiteY234" fmla="*/ 1203221 h 2403475"/>
              <a:gd name="connsiteX235" fmla="*/ 7158642 w 11499847"/>
              <a:gd name="connsiteY235" fmla="*/ 1014826 h 2403475"/>
              <a:gd name="connsiteX236" fmla="*/ 7349808 w 11499847"/>
              <a:gd name="connsiteY236" fmla="*/ 936625 h 2403475"/>
              <a:gd name="connsiteX237" fmla="*/ 6837427 w 11499847"/>
              <a:gd name="connsiteY237" fmla="*/ 936625 h 2403475"/>
              <a:gd name="connsiteX238" fmla="*/ 6932756 w 11499847"/>
              <a:gd name="connsiteY238" fmla="*/ 951680 h 2403475"/>
              <a:gd name="connsiteX239" fmla="*/ 7008810 w 11499847"/>
              <a:gd name="connsiteY239" fmla="*/ 993499 h 2403475"/>
              <a:gd name="connsiteX240" fmla="*/ 6987439 w 11499847"/>
              <a:gd name="connsiteY240" fmla="*/ 1026745 h 2403475"/>
              <a:gd name="connsiteX241" fmla="*/ 6966278 w 11499847"/>
              <a:gd name="connsiteY241" fmla="*/ 1059991 h 2403475"/>
              <a:gd name="connsiteX242" fmla="*/ 6904891 w 11499847"/>
              <a:gd name="connsiteY242" fmla="*/ 1024863 h 2403475"/>
              <a:gd name="connsiteX243" fmla="*/ 6833027 w 11499847"/>
              <a:gd name="connsiteY243" fmla="*/ 1012526 h 2403475"/>
              <a:gd name="connsiteX244" fmla="*/ 6703338 w 11499847"/>
              <a:gd name="connsiteY244" fmla="*/ 1067727 h 2403475"/>
              <a:gd name="connsiteX245" fmla="*/ 6649912 w 11499847"/>
              <a:gd name="connsiteY245" fmla="*/ 1203221 h 2403475"/>
              <a:gd name="connsiteX246" fmla="*/ 6703338 w 11499847"/>
              <a:gd name="connsiteY246" fmla="*/ 1338923 h 2403475"/>
              <a:gd name="connsiteX247" fmla="*/ 6833027 w 11499847"/>
              <a:gd name="connsiteY247" fmla="*/ 1393915 h 2403475"/>
              <a:gd name="connsiteX248" fmla="*/ 6904891 w 11499847"/>
              <a:gd name="connsiteY248" fmla="*/ 1381787 h 2403475"/>
              <a:gd name="connsiteX249" fmla="*/ 6966278 w 11499847"/>
              <a:gd name="connsiteY249" fmla="*/ 1346450 h 2403475"/>
              <a:gd name="connsiteX250" fmla="*/ 6987439 w 11499847"/>
              <a:gd name="connsiteY250" fmla="*/ 1379696 h 2403475"/>
              <a:gd name="connsiteX251" fmla="*/ 7008810 w 11499847"/>
              <a:gd name="connsiteY251" fmla="*/ 1412942 h 2403475"/>
              <a:gd name="connsiteX252" fmla="*/ 6932756 w 11499847"/>
              <a:gd name="connsiteY252" fmla="*/ 1454970 h 2403475"/>
              <a:gd name="connsiteX253" fmla="*/ 6837427 w 11499847"/>
              <a:gd name="connsiteY253" fmla="*/ 1470025 h 2403475"/>
              <a:gd name="connsiteX254" fmla="*/ 6644674 w 11499847"/>
              <a:gd name="connsiteY254" fmla="*/ 1392242 h 2403475"/>
              <a:gd name="connsiteX255" fmla="*/ 6565897 w 11499847"/>
              <a:gd name="connsiteY255" fmla="*/ 1203221 h 2403475"/>
              <a:gd name="connsiteX256" fmla="*/ 6644674 w 11499847"/>
              <a:gd name="connsiteY256" fmla="*/ 1014408 h 2403475"/>
              <a:gd name="connsiteX257" fmla="*/ 6837427 w 11499847"/>
              <a:gd name="connsiteY257" fmla="*/ 936625 h 2403475"/>
              <a:gd name="connsiteX258" fmla="*/ 501650 w 11499847"/>
              <a:gd name="connsiteY258" fmla="*/ 477838 h 2403475"/>
              <a:gd name="connsiteX259" fmla="*/ 501650 w 11499847"/>
              <a:gd name="connsiteY259" fmla="*/ 981076 h 2403475"/>
              <a:gd name="connsiteX260" fmla="*/ 786010 w 11499847"/>
              <a:gd name="connsiteY260" fmla="*/ 981076 h 2403475"/>
              <a:gd name="connsiteX261" fmla="*/ 1070579 w 11499847"/>
              <a:gd name="connsiteY261" fmla="*/ 981076 h 2403475"/>
              <a:gd name="connsiteX262" fmla="*/ 1253188 w 11499847"/>
              <a:gd name="connsiteY262" fmla="*/ 908588 h 2403475"/>
              <a:gd name="connsiteX263" fmla="*/ 1327150 w 11499847"/>
              <a:gd name="connsiteY263" fmla="*/ 727681 h 2403475"/>
              <a:gd name="connsiteX264" fmla="*/ 1253188 w 11499847"/>
              <a:gd name="connsiteY264" fmla="*/ 548446 h 2403475"/>
              <a:gd name="connsiteX265" fmla="*/ 1070579 w 11499847"/>
              <a:gd name="connsiteY265" fmla="*/ 477838 h 2403475"/>
              <a:gd name="connsiteX266" fmla="*/ 501650 w 11499847"/>
              <a:gd name="connsiteY266" fmla="*/ 477838 h 2403475"/>
              <a:gd name="connsiteX267" fmla="*/ 6675435 w 11499847"/>
              <a:gd name="connsiteY267" fmla="*/ 336550 h 2403475"/>
              <a:gd name="connsiteX268" fmla="*/ 6675435 w 11499847"/>
              <a:gd name="connsiteY268" fmla="*/ 487363 h 2403475"/>
              <a:gd name="connsiteX269" fmla="*/ 6808467 w 11499847"/>
              <a:gd name="connsiteY269" fmla="*/ 487363 h 2403475"/>
              <a:gd name="connsiteX270" fmla="*/ 6865570 w 11499847"/>
              <a:gd name="connsiteY270" fmla="*/ 465370 h 2403475"/>
              <a:gd name="connsiteX271" fmla="*/ 6888160 w 11499847"/>
              <a:gd name="connsiteY271" fmla="*/ 411957 h 2403475"/>
              <a:gd name="connsiteX272" fmla="*/ 6865570 w 11499847"/>
              <a:gd name="connsiteY272" fmla="*/ 358334 h 2403475"/>
              <a:gd name="connsiteX273" fmla="*/ 6808467 w 11499847"/>
              <a:gd name="connsiteY273" fmla="*/ 336550 h 2403475"/>
              <a:gd name="connsiteX274" fmla="*/ 6675435 w 11499847"/>
              <a:gd name="connsiteY274" fmla="*/ 336550 h 2403475"/>
              <a:gd name="connsiteX275" fmla="*/ 6675435 w 11499847"/>
              <a:gd name="connsiteY275" fmla="*/ 122238 h 2403475"/>
              <a:gd name="connsiteX276" fmla="*/ 6675435 w 11499847"/>
              <a:gd name="connsiteY276" fmla="*/ 265113 h 2403475"/>
              <a:gd name="connsiteX277" fmla="*/ 6795279 w 11499847"/>
              <a:gd name="connsiteY277" fmla="*/ 265113 h 2403475"/>
              <a:gd name="connsiteX278" fmla="*/ 6848404 w 11499847"/>
              <a:gd name="connsiteY278" fmla="*/ 244673 h 2403475"/>
              <a:gd name="connsiteX279" fmla="*/ 6869110 w 11499847"/>
              <a:gd name="connsiteY279" fmla="*/ 193571 h 2403475"/>
              <a:gd name="connsiteX280" fmla="*/ 6848404 w 11499847"/>
              <a:gd name="connsiteY280" fmla="*/ 142679 h 2403475"/>
              <a:gd name="connsiteX281" fmla="*/ 6795279 w 11499847"/>
              <a:gd name="connsiteY281" fmla="*/ 122238 h 2403475"/>
              <a:gd name="connsiteX282" fmla="*/ 6675435 w 11499847"/>
              <a:gd name="connsiteY282" fmla="*/ 122238 h 2403475"/>
              <a:gd name="connsiteX283" fmla="*/ 8850791 w 11499847"/>
              <a:gd name="connsiteY283" fmla="*/ 114300 h 2403475"/>
              <a:gd name="connsiteX284" fmla="*/ 8719837 w 11499847"/>
              <a:gd name="connsiteY284" fmla="*/ 169657 h 2403475"/>
              <a:gd name="connsiteX285" fmla="*/ 8666160 w 11499847"/>
              <a:gd name="connsiteY285" fmla="*/ 304905 h 2403475"/>
              <a:gd name="connsiteX286" fmla="*/ 8719837 w 11499847"/>
              <a:gd name="connsiteY286" fmla="*/ 439943 h 2403475"/>
              <a:gd name="connsiteX287" fmla="*/ 8850791 w 11499847"/>
              <a:gd name="connsiteY287" fmla="*/ 495300 h 2403475"/>
              <a:gd name="connsiteX288" fmla="*/ 8982163 w 11499847"/>
              <a:gd name="connsiteY288" fmla="*/ 440153 h 2403475"/>
              <a:gd name="connsiteX289" fmla="*/ 9036048 w 11499847"/>
              <a:gd name="connsiteY289" fmla="*/ 304905 h 2403475"/>
              <a:gd name="connsiteX290" fmla="*/ 8981954 w 11499847"/>
              <a:gd name="connsiteY290" fmla="*/ 169657 h 2403475"/>
              <a:gd name="connsiteX291" fmla="*/ 8850791 w 11499847"/>
              <a:gd name="connsiteY291" fmla="*/ 114300 h 2403475"/>
              <a:gd name="connsiteX292" fmla="*/ 7335415 w 11499847"/>
              <a:gd name="connsiteY292" fmla="*/ 114300 h 2403475"/>
              <a:gd name="connsiteX293" fmla="*/ 7203974 w 11499847"/>
              <a:gd name="connsiteY293" fmla="*/ 169657 h 2403475"/>
              <a:gd name="connsiteX294" fmla="*/ 7150097 w 11499847"/>
              <a:gd name="connsiteY294" fmla="*/ 304905 h 2403475"/>
              <a:gd name="connsiteX295" fmla="*/ 7203974 w 11499847"/>
              <a:gd name="connsiteY295" fmla="*/ 439943 h 2403475"/>
              <a:gd name="connsiteX296" fmla="*/ 7335415 w 11499847"/>
              <a:gd name="connsiteY296" fmla="*/ 495300 h 2403475"/>
              <a:gd name="connsiteX297" fmla="*/ 7467486 w 11499847"/>
              <a:gd name="connsiteY297" fmla="*/ 440153 h 2403475"/>
              <a:gd name="connsiteX298" fmla="*/ 7521572 w 11499847"/>
              <a:gd name="connsiteY298" fmla="*/ 304905 h 2403475"/>
              <a:gd name="connsiteX299" fmla="*/ 7467067 w 11499847"/>
              <a:gd name="connsiteY299" fmla="*/ 169657 h 2403475"/>
              <a:gd name="connsiteX300" fmla="*/ 7335415 w 11499847"/>
              <a:gd name="connsiteY300" fmla="*/ 114300 h 2403475"/>
              <a:gd name="connsiteX301" fmla="*/ 9237660 w 11499847"/>
              <a:gd name="connsiteY301" fmla="*/ 49213 h 2403475"/>
              <a:gd name="connsiteX302" fmla="*/ 9339260 w 11499847"/>
              <a:gd name="connsiteY302" fmla="*/ 49213 h 2403475"/>
              <a:gd name="connsiteX303" fmla="*/ 9458322 w 11499847"/>
              <a:gd name="connsiteY303" fmla="*/ 242888 h 2403475"/>
              <a:gd name="connsiteX304" fmla="*/ 9578972 w 11499847"/>
              <a:gd name="connsiteY304" fmla="*/ 436563 h 2403475"/>
              <a:gd name="connsiteX305" fmla="*/ 9578972 w 11499847"/>
              <a:gd name="connsiteY305" fmla="*/ 49213 h 2403475"/>
              <a:gd name="connsiteX306" fmla="*/ 9656760 w 11499847"/>
              <a:gd name="connsiteY306" fmla="*/ 49213 h 2403475"/>
              <a:gd name="connsiteX307" fmla="*/ 9656760 w 11499847"/>
              <a:gd name="connsiteY307" fmla="*/ 560388 h 2403475"/>
              <a:gd name="connsiteX308" fmla="*/ 9561510 w 11499847"/>
              <a:gd name="connsiteY308" fmla="*/ 560388 h 2403475"/>
              <a:gd name="connsiteX309" fmla="*/ 9439272 w 11499847"/>
              <a:gd name="connsiteY309" fmla="*/ 363538 h 2403475"/>
              <a:gd name="connsiteX310" fmla="*/ 9317035 w 11499847"/>
              <a:gd name="connsiteY310" fmla="*/ 165101 h 2403475"/>
              <a:gd name="connsiteX311" fmla="*/ 9317035 w 11499847"/>
              <a:gd name="connsiteY311" fmla="*/ 560388 h 2403475"/>
              <a:gd name="connsiteX312" fmla="*/ 9237660 w 11499847"/>
              <a:gd name="connsiteY312" fmla="*/ 560388 h 2403475"/>
              <a:gd name="connsiteX313" fmla="*/ 8126410 w 11499847"/>
              <a:gd name="connsiteY313" fmla="*/ 49213 h 2403475"/>
              <a:gd name="connsiteX314" fmla="*/ 8529635 w 11499847"/>
              <a:gd name="connsiteY314" fmla="*/ 49213 h 2403475"/>
              <a:gd name="connsiteX315" fmla="*/ 8529635 w 11499847"/>
              <a:gd name="connsiteY315" fmla="*/ 125413 h 2403475"/>
              <a:gd name="connsiteX316" fmla="*/ 8369298 w 11499847"/>
              <a:gd name="connsiteY316" fmla="*/ 125413 h 2403475"/>
              <a:gd name="connsiteX317" fmla="*/ 8369298 w 11499847"/>
              <a:gd name="connsiteY317" fmla="*/ 560388 h 2403475"/>
              <a:gd name="connsiteX318" fmla="*/ 8285160 w 11499847"/>
              <a:gd name="connsiteY318" fmla="*/ 560388 h 2403475"/>
              <a:gd name="connsiteX319" fmla="*/ 8285160 w 11499847"/>
              <a:gd name="connsiteY319" fmla="*/ 125413 h 2403475"/>
              <a:gd name="connsiteX320" fmla="*/ 8126410 w 11499847"/>
              <a:gd name="connsiteY320" fmla="*/ 125413 h 2403475"/>
              <a:gd name="connsiteX321" fmla="*/ 6592885 w 11499847"/>
              <a:gd name="connsiteY321" fmla="*/ 49213 h 2403475"/>
              <a:gd name="connsiteX322" fmla="*/ 6795851 w 11499847"/>
              <a:gd name="connsiteY322" fmla="*/ 49213 h 2403475"/>
              <a:gd name="connsiteX323" fmla="*/ 6907775 w 11499847"/>
              <a:gd name="connsiteY323" fmla="*/ 87875 h 2403475"/>
              <a:gd name="connsiteX324" fmla="*/ 6952670 w 11499847"/>
              <a:gd name="connsiteY324" fmla="*/ 185680 h 2403475"/>
              <a:gd name="connsiteX325" fmla="*/ 6936382 w 11499847"/>
              <a:gd name="connsiteY325" fmla="*/ 245658 h 2403475"/>
              <a:gd name="connsiteX326" fmla="*/ 6892114 w 11499847"/>
              <a:gd name="connsiteY326" fmla="*/ 288709 h 2403475"/>
              <a:gd name="connsiteX327" fmla="*/ 6950791 w 11499847"/>
              <a:gd name="connsiteY327" fmla="*/ 339492 h 2403475"/>
              <a:gd name="connsiteX328" fmla="*/ 6972298 w 11499847"/>
              <a:gd name="connsiteY328" fmla="*/ 412845 h 2403475"/>
              <a:gd name="connsiteX329" fmla="*/ 6926359 w 11499847"/>
              <a:gd name="connsiteY329" fmla="*/ 517546 h 2403475"/>
              <a:gd name="connsiteX330" fmla="*/ 6808798 w 11499847"/>
              <a:gd name="connsiteY330" fmla="*/ 560388 h 2403475"/>
              <a:gd name="connsiteX331" fmla="*/ 6592885 w 11499847"/>
              <a:gd name="connsiteY331" fmla="*/ 560388 h 2403475"/>
              <a:gd name="connsiteX332" fmla="*/ 6592885 w 11499847"/>
              <a:gd name="connsiteY332" fmla="*/ 49213 h 2403475"/>
              <a:gd name="connsiteX333" fmla="*/ 8850790 w 11499847"/>
              <a:gd name="connsiteY333" fmla="*/ 38100 h 2403475"/>
              <a:gd name="connsiteX334" fmla="*/ 9041603 w 11499847"/>
              <a:gd name="connsiteY334" fmla="*/ 116301 h 2403475"/>
              <a:gd name="connsiteX335" fmla="*/ 9120185 w 11499847"/>
              <a:gd name="connsiteY335" fmla="*/ 304905 h 2403475"/>
              <a:gd name="connsiteX336" fmla="*/ 9041603 w 11499847"/>
              <a:gd name="connsiteY336" fmla="*/ 493090 h 2403475"/>
              <a:gd name="connsiteX337" fmla="*/ 8850790 w 11499847"/>
              <a:gd name="connsiteY337" fmla="*/ 571500 h 2403475"/>
              <a:gd name="connsiteX338" fmla="*/ 8660186 w 11499847"/>
              <a:gd name="connsiteY338" fmla="*/ 493090 h 2403475"/>
              <a:gd name="connsiteX339" fmla="*/ 8582022 w 11499847"/>
              <a:gd name="connsiteY339" fmla="*/ 304905 h 2403475"/>
              <a:gd name="connsiteX340" fmla="*/ 8660186 w 11499847"/>
              <a:gd name="connsiteY340" fmla="*/ 116301 h 2403475"/>
              <a:gd name="connsiteX341" fmla="*/ 8850790 w 11499847"/>
              <a:gd name="connsiteY341" fmla="*/ 38100 h 2403475"/>
              <a:gd name="connsiteX342" fmla="*/ 7870035 w 11499847"/>
              <a:gd name="connsiteY342" fmla="*/ 38100 h 2403475"/>
              <a:gd name="connsiteX343" fmla="*/ 7871499 w 11499847"/>
              <a:gd name="connsiteY343" fmla="*/ 38100 h 2403475"/>
              <a:gd name="connsiteX344" fmla="*/ 7955187 w 11499847"/>
              <a:gd name="connsiteY344" fmla="*/ 51273 h 2403475"/>
              <a:gd name="connsiteX345" fmla="*/ 8025067 w 11499847"/>
              <a:gd name="connsiteY345" fmla="*/ 86401 h 2403475"/>
              <a:gd name="connsiteX346" fmla="*/ 8004563 w 11499847"/>
              <a:gd name="connsiteY346" fmla="*/ 118811 h 2403475"/>
              <a:gd name="connsiteX347" fmla="*/ 7984060 w 11499847"/>
              <a:gd name="connsiteY347" fmla="*/ 151429 h 2403475"/>
              <a:gd name="connsiteX348" fmla="*/ 7926943 w 11499847"/>
              <a:gd name="connsiteY348" fmla="*/ 122574 h 2403475"/>
              <a:gd name="connsiteX349" fmla="*/ 7869198 w 11499847"/>
              <a:gd name="connsiteY349" fmla="*/ 112538 h 2403475"/>
              <a:gd name="connsiteX350" fmla="*/ 7802666 w 11499847"/>
              <a:gd name="connsiteY350" fmla="*/ 133865 h 2403475"/>
              <a:gd name="connsiteX351" fmla="*/ 7780907 w 11499847"/>
              <a:gd name="connsiteY351" fmla="*/ 185721 h 2403475"/>
              <a:gd name="connsiteX352" fmla="*/ 7811035 w 11499847"/>
              <a:gd name="connsiteY352" fmla="*/ 236949 h 2403475"/>
              <a:gd name="connsiteX353" fmla="*/ 7891166 w 11499847"/>
              <a:gd name="connsiteY353" fmla="*/ 266849 h 2403475"/>
              <a:gd name="connsiteX354" fmla="*/ 7998914 w 11499847"/>
              <a:gd name="connsiteY354" fmla="*/ 313896 h 2403475"/>
              <a:gd name="connsiteX355" fmla="*/ 8047035 w 11499847"/>
              <a:gd name="connsiteY355" fmla="*/ 415934 h 2403475"/>
              <a:gd name="connsiteX356" fmla="*/ 7999751 w 11499847"/>
              <a:gd name="connsiteY356" fmla="*/ 527381 h 2403475"/>
              <a:gd name="connsiteX357" fmla="*/ 7866478 w 11499847"/>
              <a:gd name="connsiteY357" fmla="*/ 571500 h 2403475"/>
              <a:gd name="connsiteX358" fmla="*/ 7761659 w 11499847"/>
              <a:gd name="connsiteY358" fmla="*/ 554145 h 2403475"/>
              <a:gd name="connsiteX359" fmla="*/ 7685085 w 11499847"/>
              <a:gd name="connsiteY359" fmla="*/ 512954 h 2403475"/>
              <a:gd name="connsiteX360" fmla="*/ 7725883 w 11499847"/>
              <a:gd name="connsiteY360" fmla="*/ 447925 h 2403475"/>
              <a:gd name="connsiteX361" fmla="*/ 7793879 w 11499847"/>
              <a:gd name="connsiteY361" fmla="*/ 483053 h 2403475"/>
              <a:gd name="connsiteX362" fmla="*/ 7867106 w 11499847"/>
              <a:gd name="connsiteY362" fmla="*/ 497063 h 2403475"/>
              <a:gd name="connsiteX363" fmla="*/ 7939496 w 11499847"/>
              <a:gd name="connsiteY363" fmla="*/ 475108 h 2403475"/>
              <a:gd name="connsiteX364" fmla="*/ 7964393 w 11499847"/>
              <a:gd name="connsiteY364" fmla="*/ 420952 h 2403475"/>
              <a:gd name="connsiteX365" fmla="*/ 7933847 w 11499847"/>
              <a:gd name="connsiteY365" fmla="*/ 369933 h 2403475"/>
              <a:gd name="connsiteX366" fmla="*/ 7853925 w 11499847"/>
              <a:gd name="connsiteY366" fmla="*/ 339823 h 2403475"/>
              <a:gd name="connsiteX367" fmla="*/ 7745968 w 11499847"/>
              <a:gd name="connsiteY367" fmla="*/ 292986 h 2403475"/>
              <a:gd name="connsiteX368" fmla="*/ 7698266 w 11499847"/>
              <a:gd name="connsiteY368" fmla="*/ 190739 h 2403475"/>
              <a:gd name="connsiteX369" fmla="*/ 7743666 w 11499847"/>
              <a:gd name="connsiteY369" fmla="*/ 80964 h 2403475"/>
              <a:gd name="connsiteX370" fmla="*/ 7870035 w 11499847"/>
              <a:gd name="connsiteY370" fmla="*/ 38100 h 2403475"/>
              <a:gd name="connsiteX371" fmla="*/ 7334624 w 11499847"/>
              <a:gd name="connsiteY371" fmla="*/ 38100 h 2403475"/>
              <a:gd name="connsiteX372" fmla="*/ 7525363 w 11499847"/>
              <a:gd name="connsiteY372" fmla="*/ 116301 h 2403475"/>
              <a:gd name="connsiteX373" fmla="*/ 7604123 w 11499847"/>
              <a:gd name="connsiteY373" fmla="*/ 304905 h 2403475"/>
              <a:gd name="connsiteX374" fmla="*/ 7525363 w 11499847"/>
              <a:gd name="connsiteY374" fmla="*/ 493090 h 2403475"/>
              <a:gd name="connsiteX375" fmla="*/ 7334624 w 11499847"/>
              <a:gd name="connsiteY375" fmla="*/ 571500 h 2403475"/>
              <a:gd name="connsiteX376" fmla="*/ 7144094 w 11499847"/>
              <a:gd name="connsiteY376" fmla="*/ 493090 h 2403475"/>
              <a:gd name="connsiteX377" fmla="*/ 7065960 w 11499847"/>
              <a:gd name="connsiteY377" fmla="*/ 304905 h 2403475"/>
              <a:gd name="connsiteX378" fmla="*/ 7144094 w 11499847"/>
              <a:gd name="connsiteY378" fmla="*/ 116301 h 2403475"/>
              <a:gd name="connsiteX379" fmla="*/ 7334624 w 11499847"/>
              <a:gd name="connsiteY379" fmla="*/ 38100 h 2403475"/>
              <a:gd name="connsiteX380" fmla="*/ 2766077 w 11499847"/>
              <a:gd name="connsiteY380" fmla="*/ 0 h 2403475"/>
              <a:gd name="connsiteX381" fmla="*/ 3146531 w 11499847"/>
              <a:gd name="connsiteY381" fmla="*/ 51449 h 2403475"/>
              <a:gd name="connsiteX382" fmla="*/ 3467375 w 11499847"/>
              <a:gd name="connsiteY382" fmla="*/ 204124 h 2403475"/>
              <a:gd name="connsiteX383" fmla="*/ 3340627 w 11499847"/>
              <a:gd name="connsiteY383" fmla="*/ 403228 h 2403475"/>
              <a:gd name="connsiteX384" fmla="*/ 3213880 w 11499847"/>
              <a:gd name="connsiteY384" fmla="*/ 602542 h 2403475"/>
              <a:gd name="connsiteX385" fmla="*/ 3009743 w 11499847"/>
              <a:gd name="connsiteY385" fmla="*/ 496716 h 2403475"/>
              <a:gd name="connsiteX386" fmla="*/ 2766077 w 11499847"/>
              <a:gd name="connsiteY386" fmla="*/ 457606 h 2403475"/>
              <a:gd name="connsiteX387" fmla="*/ 2232314 w 11499847"/>
              <a:gd name="connsiteY387" fmla="*/ 681180 h 2403475"/>
              <a:gd name="connsiteX388" fmla="*/ 2012073 w 11499847"/>
              <a:gd name="connsiteY388" fmla="*/ 1198391 h 2403475"/>
              <a:gd name="connsiteX389" fmla="*/ 2232314 w 11499847"/>
              <a:gd name="connsiteY389" fmla="*/ 1721250 h 2403475"/>
              <a:gd name="connsiteX390" fmla="*/ 2766077 w 11499847"/>
              <a:gd name="connsiteY390" fmla="*/ 1942732 h 2403475"/>
              <a:gd name="connsiteX391" fmla="*/ 3050111 w 11499847"/>
              <a:gd name="connsiteY391" fmla="*/ 1886682 h 2403475"/>
              <a:gd name="connsiteX392" fmla="*/ 3289594 w 11499847"/>
              <a:gd name="connsiteY392" fmla="*/ 1722086 h 2403475"/>
              <a:gd name="connsiteX393" fmla="*/ 3543925 w 11499847"/>
              <a:gd name="connsiteY393" fmla="*/ 1095493 h 2403475"/>
              <a:gd name="connsiteX394" fmla="*/ 3921866 w 11499847"/>
              <a:gd name="connsiteY394" fmla="*/ 345714 h 2403475"/>
              <a:gd name="connsiteX395" fmla="*/ 4300646 w 11499847"/>
              <a:gd name="connsiteY395" fmla="*/ 92441 h 2403475"/>
              <a:gd name="connsiteX396" fmla="*/ 4787977 w 11499847"/>
              <a:gd name="connsiteY396" fmla="*/ 0 h 2403475"/>
              <a:gd name="connsiteX397" fmla="*/ 5168221 w 11499847"/>
              <a:gd name="connsiteY397" fmla="*/ 54796 h 2403475"/>
              <a:gd name="connsiteX398" fmla="*/ 5489275 w 11499847"/>
              <a:gd name="connsiteY398" fmla="*/ 210607 h 2403475"/>
              <a:gd name="connsiteX399" fmla="*/ 5364200 w 11499847"/>
              <a:gd name="connsiteY399" fmla="*/ 409921 h 2403475"/>
              <a:gd name="connsiteX400" fmla="*/ 5239125 w 11499847"/>
              <a:gd name="connsiteY400" fmla="*/ 609025 h 2403475"/>
              <a:gd name="connsiteX401" fmla="*/ 5031643 w 11499847"/>
              <a:gd name="connsiteY401" fmla="*/ 500480 h 2403475"/>
              <a:gd name="connsiteX402" fmla="*/ 4784631 w 11499847"/>
              <a:gd name="connsiteY402" fmla="*/ 460952 h 2403475"/>
              <a:gd name="connsiteX403" fmla="*/ 4264462 w 11499847"/>
              <a:gd name="connsiteY403" fmla="*/ 679089 h 2403475"/>
              <a:gd name="connsiteX404" fmla="*/ 4050287 w 11499847"/>
              <a:gd name="connsiteY404" fmla="*/ 1198391 h 2403475"/>
              <a:gd name="connsiteX405" fmla="*/ 4262370 w 11499847"/>
              <a:gd name="connsiteY405" fmla="*/ 1725223 h 2403475"/>
              <a:gd name="connsiteX406" fmla="*/ 4778147 w 11499847"/>
              <a:gd name="connsiteY406" fmla="*/ 1945870 h 2403475"/>
              <a:gd name="connsiteX407" fmla="*/ 5191438 w 11499847"/>
              <a:gd name="connsiteY407" fmla="*/ 1804280 h 2403475"/>
              <a:gd name="connsiteX408" fmla="*/ 5426737 w 11499847"/>
              <a:gd name="connsiteY408" fmla="*/ 1445390 h 2403475"/>
              <a:gd name="connsiteX409" fmla="*/ 4708917 w 11499847"/>
              <a:gd name="connsiteY409" fmla="*/ 1445390 h 2403475"/>
              <a:gd name="connsiteX410" fmla="*/ 4850515 w 11499847"/>
              <a:gd name="connsiteY410" fmla="*/ 1223279 h 2403475"/>
              <a:gd name="connsiteX411" fmla="*/ 4992113 w 11499847"/>
              <a:gd name="connsiteY411" fmla="*/ 1000960 h 2403475"/>
              <a:gd name="connsiteX412" fmla="*/ 5457901 w 11499847"/>
              <a:gd name="connsiteY412" fmla="*/ 1000960 h 2403475"/>
              <a:gd name="connsiteX413" fmla="*/ 5924108 w 11499847"/>
              <a:gd name="connsiteY413" fmla="*/ 1000960 h 2403475"/>
              <a:gd name="connsiteX414" fmla="*/ 5936030 w 11499847"/>
              <a:gd name="connsiteY414" fmla="*/ 1100094 h 2403475"/>
              <a:gd name="connsiteX415" fmla="*/ 5940422 w 11499847"/>
              <a:gd name="connsiteY415" fmla="*/ 1201738 h 2403475"/>
              <a:gd name="connsiteX416" fmla="*/ 5600963 w 11499847"/>
              <a:gd name="connsiteY416" fmla="*/ 2050860 h 2403475"/>
              <a:gd name="connsiteX417" fmla="*/ 4764970 w 11499847"/>
              <a:gd name="connsiteY417" fmla="*/ 2403475 h 2403475"/>
              <a:gd name="connsiteX418" fmla="*/ 4178290 w 11499847"/>
              <a:gd name="connsiteY418" fmla="*/ 2262513 h 2403475"/>
              <a:gd name="connsiteX419" fmla="*/ 3757265 w 11499847"/>
              <a:gd name="connsiteY419" fmla="*/ 1886682 h 2403475"/>
              <a:gd name="connsiteX420" fmla="*/ 3332469 w 11499847"/>
              <a:gd name="connsiteY420" fmla="*/ 2263558 h 2403475"/>
              <a:gd name="connsiteX421" fmla="*/ 2749555 w 11499847"/>
              <a:gd name="connsiteY421" fmla="*/ 2403475 h 2403475"/>
              <a:gd name="connsiteX422" fmla="*/ 2242563 w 11499847"/>
              <a:gd name="connsiteY422" fmla="*/ 2295766 h 2403475"/>
              <a:gd name="connsiteX423" fmla="*/ 1844121 w 11499847"/>
              <a:gd name="connsiteY423" fmla="*/ 2005266 h 2403475"/>
              <a:gd name="connsiteX424" fmla="*/ 1583096 w 11499847"/>
              <a:gd name="connsiteY424" fmla="*/ 2257493 h 2403475"/>
              <a:gd name="connsiteX425" fmla="*/ 1188838 w 11499847"/>
              <a:gd name="connsiteY425" fmla="*/ 2354117 h 2403475"/>
              <a:gd name="connsiteX426" fmla="*/ 0 w 11499847"/>
              <a:gd name="connsiteY426" fmla="*/ 2354117 h 2403475"/>
              <a:gd name="connsiteX427" fmla="*/ 0 w 11499847"/>
              <a:gd name="connsiteY427" fmla="*/ 1201738 h 2403475"/>
              <a:gd name="connsiteX428" fmla="*/ 0 w 11499847"/>
              <a:gd name="connsiteY428" fmla="*/ 49358 h 2403475"/>
              <a:gd name="connsiteX429" fmla="*/ 538575 w 11499847"/>
              <a:gd name="connsiteY429" fmla="*/ 49358 h 2403475"/>
              <a:gd name="connsiteX430" fmla="*/ 1076940 w 11499847"/>
              <a:gd name="connsiteY430" fmla="*/ 49358 h 2403475"/>
              <a:gd name="connsiteX431" fmla="*/ 1523487 w 11499847"/>
              <a:gd name="connsiteY431" fmla="*/ 176099 h 2403475"/>
              <a:gd name="connsiteX432" fmla="*/ 1774892 w 11499847"/>
              <a:gd name="connsiteY432" fmla="*/ 500480 h 2403475"/>
              <a:gd name="connsiteX433" fmla="*/ 2196549 w 11499847"/>
              <a:gd name="connsiteY433" fmla="*/ 137826 h 2403475"/>
              <a:gd name="connsiteX434" fmla="*/ 2766077 w 11499847"/>
              <a:gd name="connsiteY434" fmla="*/ 0 h 2403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Lst>
            <a:rect l="l" t="t" r="r" b="b"/>
            <a:pathLst>
              <a:path w="11499847" h="2403475">
                <a:moveTo>
                  <a:pt x="8982072" y="1919288"/>
                </a:moveTo>
                <a:cubicBezTo>
                  <a:pt x="8982072" y="2105026"/>
                  <a:pt x="8982072" y="2105026"/>
                  <a:pt x="8982072" y="2105026"/>
                </a:cubicBezTo>
                <a:cubicBezTo>
                  <a:pt x="9098233" y="2105026"/>
                  <a:pt x="9098233" y="2105026"/>
                  <a:pt x="9098233" y="2105026"/>
                </a:cubicBezTo>
                <a:cubicBezTo>
                  <a:pt x="9124975" y="2105026"/>
                  <a:pt x="9148166" y="2096202"/>
                  <a:pt x="9164880" y="2080233"/>
                </a:cubicBezTo>
                <a:cubicBezTo>
                  <a:pt x="9181594" y="2064055"/>
                  <a:pt x="9191622" y="2040732"/>
                  <a:pt x="9191622" y="2011737"/>
                </a:cubicBezTo>
                <a:cubicBezTo>
                  <a:pt x="9191622" y="1983792"/>
                  <a:pt x="9181594" y="1960680"/>
                  <a:pt x="9164880" y="1944501"/>
                </a:cubicBezTo>
                <a:cubicBezTo>
                  <a:pt x="9148166" y="1928323"/>
                  <a:pt x="9124975" y="1919288"/>
                  <a:pt x="9098233" y="1919288"/>
                </a:cubicBezTo>
                <a:cubicBezTo>
                  <a:pt x="8982072" y="1919288"/>
                  <a:pt x="8982072" y="1919288"/>
                  <a:pt x="8982072" y="1919288"/>
                </a:cubicBezTo>
                <a:close/>
                <a:moveTo>
                  <a:pt x="7280272" y="1919288"/>
                </a:moveTo>
                <a:cubicBezTo>
                  <a:pt x="7280272" y="2097088"/>
                  <a:pt x="7280272" y="2097088"/>
                  <a:pt x="7280272" y="2097088"/>
                </a:cubicBezTo>
                <a:cubicBezTo>
                  <a:pt x="7404503" y="2097088"/>
                  <a:pt x="7404503" y="2097088"/>
                  <a:pt x="7404503" y="2097088"/>
                </a:cubicBezTo>
                <a:cubicBezTo>
                  <a:pt x="7430689" y="2097088"/>
                  <a:pt x="7453105" y="2088711"/>
                  <a:pt x="7469027" y="2073423"/>
                </a:cubicBezTo>
                <a:cubicBezTo>
                  <a:pt x="7485158" y="2058136"/>
                  <a:pt x="7494585" y="2035937"/>
                  <a:pt x="7494585" y="2008502"/>
                </a:cubicBezTo>
                <a:cubicBezTo>
                  <a:pt x="7494585" y="1981487"/>
                  <a:pt x="7485158" y="1959078"/>
                  <a:pt x="7469027" y="1943581"/>
                </a:cubicBezTo>
                <a:cubicBezTo>
                  <a:pt x="7453105" y="1927874"/>
                  <a:pt x="7430689" y="1919288"/>
                  <a:pt x="7404503" y="1919288"/>
                </a:cubicBezTo>
                <a:cubicBezTo>
                  <a:pt x="7280272" y="1919288"/>
                  <a:pt x="7280272" y="1919288"/>
                  <a:pt x="7280272" y="1919288"/>
                </a:cubicBezTo>
                <a:close/>
                <a:moveTo>
                  <a:pt x="7945015" y="1909763"/>
                </a:moveTo>
                <a:cubicBezTo>
                  <a:pt x="7893445" y="1909763"/>
                  <a:pt x="7847115" y="1930941"/>
                  <a:pt x="7813574" y="1965330"/>
                </a:cubicBezTo>
                <a:cubicBezTo>
                  <a:pt x="7780242" y="1999719"/>
                  <a:pt x="7759697" y="2047317"/>
                  <a:pt x="7759697" y="2100368"/>
                </a:cubicBezTo>
                <a:cubicBezTo>
                  <a:pt x="7759697" y="2153419"/>
                  <a:pt x="7780242" y="2201227"/>
                  <a:pt x="7813574" y="2235406"/>
                </a:cubicBezTo>
                <a:cubicBezTo>
                  <a:pt x="7847115" y="2269795"/>
                  <a:pt x="7893445" y="2290763"/>
                  <a:pt x="7945015" y="2290763"/>
                </a:cubicBezTo>
                <a:cubicBezTo>
                  <a:pt x="7997215" y="2290763"/>
                  <a:pt x="8043544" y="2270004"/>
                  <a:pt x="8077086" y="2235825"/>
                </a:cubicBezTo>
                <a:cubicBezTo>
                  <a:pt x="8110628" y="2201437"/>
                  <a:pt x="8131172" y="2153838"/>
                  <a:pt x="8131172" y="2100368"/>
                </a:cubicBezTo>
                <a:cubicBezTo>
                  <a:pt x="8131172" y="2047317"/>
                  <a:pt x="8110418" y="1999719"/>
                  <a:pt x="8076876" y="1965330"/>
                </a:cubicBezTo>
                <a:cubicBezTo>
                  <a:pt x="8043334" y="1930941"/>
                  <a:pt x="7996796" y="1909763"/>
                  <a:pt x="7945015" y="1909763"/>
                </a:cubicBezTo>
                <a:close/>
                <a:moveTo>
                  <a:pt x="8899522" y="1844675"/>
                </a:moveTo>
                <a:cubicBezTo>
                  <a:pt x="9098598" y="1844675"/>
                  <a:pt x="9098598" y="1844675"/>
                  <a:pt x="9098598" y="1844675"/>
                </a:cubicBezTo>
                <a:cubicBezTo>
                  <a:pt x="9152872" y="1844675"/>
                  <a:pt x="9197507" y="1862857"/>
                  <a:pt x="9228521" y="1892741"/>
                </a:cubicBezTo>
                <a:cubicBezTo>
                  <a:pt x="9259744" y="1922835"/>
                  <a:pt x="9277347" y="1964423"/>
                  <a:pt x="9277347" y="2011236"/>
                </a:cubicBezTo>
                <a:cubicBezTo>
                  <a:pt x="9277347" y="2057839"/>
                  <a:pt x="9259744" y="2099427"/>
                  <a:pt x="9228521" y="2129521"/>
                </a:cubicBezTo>
                <a:cubicBezTo>
                  <a:pt x="9197507" y="2159405"/>
                  <a:pt x="9152872" y="2177796"/>
                  <a:pt x="9098598" y="2177796"/>
                </a:cubicBezTo>
                <a:cubicBezTo>
                  <a:pt x="8982086" y="2177796"/>
                  <a:pt x="8982086" y="2177796"/>
                  <a:pt x="8982086" y="2177796"/>
                </a:cubicBezTo>
                <a:cubicBezTo>
                  <a:pt x="8982086" y="2355850"/>
                  <a:pt x="8982086" y="2355850"/>
                  <a:pt x="8982086" y="2355850"/>
                </a:cubicBezTo>
                <a:cubicBezTo>
                  <a:pt x="8899522" y="2355850"/>
                  <a:pt x="8899522" y="2355850"/>
                  <a:pt x="8899522" y="2355850"/>
                </a:cubicBezTo>
                <a:cubicBezTo>
                  <a:pt x="8899522" y="1844675"/>
                  <a:pt x="8899522" y="1844675"/>
                  <a:pt x="8899522" y="1844675"/>
                </a:cubicBezTo>
                <a:close/>
                <a:moveTo>
                  <a:pt x="8324847" y="1844675"/>
                </a:moveTo>
                <a:cubicBezTo>
                  <a:pt x="8407608" y="1844675"/>
                  <a:pt x="8407608" y="1844675"/>
                  <a:pt x="8407608" y="1844675"/>
                </a:cubicBezTo>
                <a:cubicBezTo>
                  <a:pt x="8407608" y="2158090"/>
                  <a:pt x="8407608" y="2158090"/>
                  <a:pt x="8407608" y="2158090"/>
                </a:cubicBezTo>
                <a:cubicBezTo>
                  <a:pt x="8407608" y="2195307"/>
                  <a:pt x="8420389" y="2228551"/>
                  <a:pt x="8443017" y="2252595"/>
                </a:cubicBezTo>
                <a:cubicBezTo>
                  <a:pt x="8465855" y="2276431"/>
                  <a:pt x="8498331" y="2291066"/>
                  <a:pt x="8537931" y="2291066"/>
                </a:cubicBezTo>
                <a:cubicBezTo>
                  <a:pt x="8576692" y="2291066"/>
                  <a:pt x="8609168" y="2276431"/>
                  <a:pt x="8631797" y="2252595"/>
                </a:cubicBezTo>
                <a:cubicBezTo>
                  <a:pt x="8654425" y="2228551"/>
                  <a:pt x="8667415" y="2195307"/>
                  <a:pt x="8667415" y="2158090"/>
                </a:cubicBezTo>
                <a:cubicBezTo>
                  <a:pt x="8667415" y="1844675"/>
                  <a:pt x="8667415" y="1844675"/>
                  <a:pt x="8667415" y="1844675"/>
                </a:cubicBezTo>
                <a:cubicBezTo>
                  <a:pt x="8748710" y="1844675"/>
                  <a:pt x="8748710" y="1844675"/>
                  <a:pt x="8748710" y="1844675"/>
                </a:cubicBezTo>
                <a:cubicBezTo>
                  <a:pt x="8748710" y="2158717"/>
                  <a:pt x="8748710" y="2158717"/>
                  <a:pt x="8748710" y="2158717"/>
                </a:cubicBezTo>
                <a:cubicBezTo>
                  <a:pt x="8748710" y="2218724"/>
                  <a:pt x="8726291" y="2270785"/>
                  <a:pt x="8688577" y="2307793"/>
                </a:cubicBezTo>
                <a:cubicBezTo>
                  <a:pt x="8650863" y="2345010"/>
                  <a:pt x="8597854" y="2366963"/>
                  <a:pt x="8537093" y="2366963"/>
                </a:cubicBezTo>
                <a:cubicBezTo>
                  <a:pt x="8476331" y="2366963"/>
                  <a:pt x="8423322" y="2345010"/>
                  <a:pt x="8385399" y="2307793"/>
                </a:cubicBezTo>
                <a:cubicBezTo>
                  <a:pt x="8347475" y="2270785"/>
                  <a:pt x="8324847" y="2218724"/>
                  <a:pt x="8324847" y="2158717"/>
                </a:cubicBezTo>
                <a:cubicBezTo>
                  <a:pt x="8324847" y="1844675"/>
                  <a:pt x="8324847" y="1844675"/>
                  <a:pt x="8324847" y="1844675"/>
                </a:cubicBezTo>
                <a:close/>
                <a:moveTo>
                  <a:pt x="7197722" y="1844675"/>
                </a:moveTo>
                <a:cubicBezTo>
                  <a:pt x="7404196" y="1844675"/>
                  <a:pt x="7404196" y="1844675"/>
                  <a:pt x="7404196" y="1844675"/>
                </a:cubicBezTo>
                <a:cubicBezTo>
                  <a:pt x="7457641" y="1844675"/>
                  <a:pt x="7501065" y="1862439"/>
                  <a:pt x="7531336" y="1891906"/>
                </a:cubicBezTo>
                <a:cubicBezTo>
                  <a:pt x="7561608" y="1921581"/>
                  <a:pt x="7578727" y="1962542"/>
                  <a:pt x="7578727" y="2008937"/>
                </a:cubicBezTo>
                <a:cubicBezTo>
                  <a:pt x="7578727" y="2047390"/>
                  <a:pt x="7568080" y="2080827"/>
                  <a:pt x="7548455" y="2106950"/>
                </a:cubicBezTo>
                <a:cubicBezTo>
                  <a:pt x="7529040" y="2133073"/>
                  <a:pt x="7500647" y="2152091"/>
                  <a:pt x="7464947" y="2161495"/>
                </a:cubicBezTo>
                <a:cubicBezTo>
                  <a:pt x="7525699" y="2258673"/>
                  <a:pt x="7525699" y="2258673"/>
                  <a:pt x="7525699" y="2258673"/>
                </a:cubicBezTo>
                <a:cubicBezTo>
                  <a:pt x="7586660" y="2355850"/>
                  <a:pt x="7586660" y="2355850"/>
                  <a:pt x="7586660" y="2355850"/>
                </a:cubicBezTo>
                <a:cubicBezTo>
                  <a:pt x="7491044" y="2355850"/>
                  <a:pt x="7491044" y="2355850"/>
                  <a:pt x="7491044" y="2355850"/>
                </a:cubicBezTo>
                <a:cubicBezTo>
                  <a:pt x="7434676" y="2263479"/>
                  <a:pt x="7434676" y="2263479"/>
                  <a:pt x="7434676" y="2263479"/>
                </a:cubicBezTo>
                <a:cubicBezTo>
                  <a:pt x="7378099" y="2171108"/>
                  <a:pt x="7378099" y="2171108"/>
                  <a:pt x="7378099" y="2171108"/>
                </a:cubicBezTo>
                <a:cubicBezTo>
                  <a:pt x="7280395" y="2171108"/>
                  <a:pt x="7280395" y="2171108"/>
                  <a:pt x="7280395" y="2171108"/>
                </a:cubicBezTo>
                <a:cubicBezTo>
                  <a:pt x="7280395" y="2355850"/>
                  <a:pt x="7280395" y="2355850"/>
                  <a:pt x="7280395" y="2355850"/>
                </a:cubicBezTo>
                <a:cubicBezTo>
                  <a:pt x="7197722" y="2355850"/>
                  <a:pt x="7197722" y="2355850"/>
                  <a:pt x="7197722" y="2355850"/>
                </a:cubicBezTo>
                <a:cubicBezTo>
                  <a:pt x="7197722" y="1844675"/>
                  <a:pt x="7197722" y="1844675"/>
                  <a:pt x="7197722" y="1844675"/>
                </a:cubicBezTo>
                <a:close/>
                <a:moveTo>
                  <a:pt x="7945016" y="1833563"/>
                </a:moveTo>
                <a:cubicBezTo>
                  <a:pt x="8020028" y="1833563"/>
                  <a:pt x="8087706" y="1863673"/>
                  <a:pt x="8136527" y="1911974"/>
                </a:cubicBezTo>
                <a:cubicBezTo>
                  <a:pt x="8185138" y="1960274"/>
                  <a:pt x="8215310" y="2026976"/>
                  <a:pt x="8215310" y="2100368"/>
                </a:cubicBezTo>
                <a:cubicBezTo>
                  <a:pt x="8215310" y="2173760"/>
                  <a:pt x="8185138" y="2240461"/>
                  <a:pt x="8136527" y="2288762"/>
                </a:cubicBezTo>
                <a:cubicBezTo>
                  <a:pt x="8087706" y="2337063"/>
                  <a:pt x="8020028" y="2366963"/>
                  <a:pt x="7945016" y="2366963"/>
                </a:cubicBezTo>
                <a:cubicBezTo>
                  <a:pt x="7870004" y="2366963"/>
                  <a:pt x="7802745" y="2337063"/>
                  <a:pt x="7754134" y="2288762"/>
                </a:cubicBezTo>
                <a:cubicBezTo>
                  <a:pt x="7705523" y="2240461"/>
                  <a:pt x="7675560" y="2173760"/>
                  <a:pt x="7675560" y="2100368"/>
                </a:cubicBezTo>
                <a:cubicBezTo>
                  <a:pt x="7675560" y="2026976"/>
                  <a:pt x="7705523" y="1960274"/>
                  <a:pt x="7754134" y="1911974"/>
                </a:cubicBezTo>
                <a:cubicBezTo>
                  <a:pt x="7802745" y="1863673"/>
                  <a:pt x="7870004" y="1833563"/>
                  <a:pt x="7945016" y="1833563"/>
                </a:cubicBezTo>
                <a:close/>
                <a:moveTo>
                  <a:pt x="6834872" y="1833563"/>
                </a:moveTo>
                <a:cubicBezTo>
                  <a:pt x="6865690" y="1833563"/>
                  <a:pt x="6894831" y="1837536"/>
                  <a:pt x="6921875" y="1845482"/>
                </a:cubicBezTo>
                <a:cubicBezTo>
                  <a:pt x="6948919" y="1853218"/>
                  <a:pt x="6973658" y="1865136"/>
                  <a:pt x="6996090" y="1881028"/>
                </a:cubicBezTo>
                <a:cubicBezTo>
                  <a:pt x="6974496" y="1914692"/>
                  <a:pt x="6974496" y="1914692"/>
                  <a:pt x="6974496" y="1914692"/>
                </a:cubicBezTo>
                <a:cubicBezTo>
                  <a:pt x="6952903" y="1948356"/>
                  <a:pt x="6952903" y="1948356"/>
                  <a:pt x="6952903" y="1948356"/>
                </a:cubicBezTo>
                <a:cubicBezTo>
                  <a:pt x="6935712" y="1935183"/>
                  <a:pt x="6917263" y="1925774"/>
                  <a:pt x="6897556" y="1919501"/>
                </a:cubicBezTo>
                <a:cubicBezTo>
                  <a:pt x="6877850" y="1913228"/>
                  <a:pt x="6856885" y="1910301"/>
                  <a:pt x="6834243" y="1910301"/>
                </a:cubicBezTo>
                <a:cubicBezTo>
                  <a:pt x="6782461" y="1910301"/>
                  <a:pt x="6736548" y="1931001"/>
                  <a:pt x="6703424" y="1965084"/>
                </a:cubicBezTo>
                <a:cubicBezTo>
                  <a:pt x="6670510" y="1999166"/>
                  <a:pt x="6650384" y="2046631"/>
                  <a:pt x="6650384" y="2100368"/>
                </a:cubicBezTo>
                <a:cubicBezTo>
                  <a:pt x="6650384" y="2154105"/>
                  <a:pt x="6669671" y="2201779"/>
                  <a:pt x="6701957" y="2236070"/>
                </a:cubicBezTo>
                <a:cubicBezTo>
                  <a:pt x="6734242" y="2270152"/>
                  <a:pt x="6779526" y="2291062"/>
                  <a:pt x="6831308" y="2291062"/>
                </a:cubicBezTo>
                <a:cubicBezTo>
                  <a:pt x="6878898" y="2291062"/>
                  <a:pt x="6917473" y="2275798"/>
                  <a:pt x="6945984" y="2250498"/>
                </a:cubicBezTo>
                <a:cubicBezTo>
                  <a:pt x="6974496" y="2225197"/>
                  <a:pt x="6992735" y="2189442"/>
                  <a:pt x="6999863" y="2148460"/>
                </a:cubicBezTo>
                <a:cubicBezTo>
                  <a:pt x="6825438" y="2148460"/>
                  <a:pt x="6825438" y="2148460"/>
                  <a:pt x="6825438" y="2148460"/>
                </a:cubicBezTo>
                <a:cubicBezTo>
                  <a:pt x="6849128" y="2111241"/>
                  <a:pt x="6849128" y="2111241"/>
                  <a:pt x="6849128" y="2111241"/>
                </a:cubicBezTo>
                <a:cubicBezTo>
                  <a:pt x="6873028" y="2074022"/>
                  <a:pt x="6873028" y="2074022"/>
                  <a:pt x="6873028" y="2074022"/>
                </a:cubicBezTo>
                <a:cubicBezTo>
                  <a:pt x="7078061" y="2074022"/>
                  <a:pt x="7078061" y="2074022"/>
                  <a:pt x="7078061" y="2074022"/>
                </a:cubicBezTo>
                <a:cubicBezTo>
                  <a:pt x="7079319" y="2078204"/>
                  <a:pt x="7080158" y="2083849"/>
                  <a:pt x="7080787" y="2090540"/>
                </a:cubicBezTo>
                <a:cubicBezTo>
                  <a:pt x="7081415" y="2096813"/>
                  <a:pt x="7081835" y="2103922"/>
                  <a:pt x="7081835" y="2110613"/>
                </a:cubicBezTo>
                <a:cubicBezTo>
                  <a:pt x="7081835" y="2183378"/>
                  <a:pt x="7056258" y="2247361"/>
                  <a:pt x="7011813" y="2293362"/>
                </a:cubicBezTo>
                <a:cubicBezTo>
                  <a:pt x="6967788" y="2339363"/>
                  <a:pt x="6904894" y="2366963"/>
                  <a:pt x="6830470" y="2366963"/>
                </a:cubicBezTo>
                <a:cubicBezTo>
                  <a:pt x="6756255" y="2366963"/>
                  <a:pt x="6690007" y="2337481"/>
                  <a:pt x="6642417" y="2289389"/>
                </a:cubicBezTo>
                <a:cubicBezTo>
                  <a:pt x="6595037" y="2241088"/>
                  <a:pt x="6565897" y="2174387"/>
                  <a:pt x="6565897" y="2100368"/>
                </a:cubicBezTo>
                <a:cubicBezTo>
                  <a:pt x="6565897" y="2026139"/>
                  <a:pt x="6595876" y="1959438"/>
                  <a:pt x="6644514" y="1911346"/>
                </a:cubicBezTo>
                <a:cubicBezTo>
                  <a:pt x="6692942" y="1863255"/>
                  <a:pt x="6760238" y="1833563"/>
                  <a:pt x="6834872" y="1833563"/>
                </a:cubicBezTo>
                <a:close/>
                <a:moveTo>
                  <a:pt x="501650" y="1403350"/>
                </a:moveTo>
                <a:cubicBezTo>
                  <a:pt x="501650" y="1403350"/>
                  <a:pt x="501650" y="1403350"/>
                  <a:pt x="501650" y="1925638"/>
                </a:cubicBezTo>
                <a:cubicBezTo>
                  <a:pt x="501650" y="1925638"/>
                  <a:pt x="501650" y="1925638"/>
                  <a:pt x="842112" y="1925638"/>
                </a:cubicBezTo>
                <a:cubicBezTo>
                  <a:pt x="842112" y="1925638"/>
                  <a:pt x="842112" y="1925638"/>
                  <a:pt x="1182574" y="1925638"/>
                </a:cubicBezTo>
                <a:cubicBezTo>
                  <a:pt x="1258233" y="1925638"/>
                  <a:pt x="1326576" y="1896842"/>
                  <a:pt x="1375900" y="1849684"/>
                </a:cubicBezTo>
                <a:cubicBezTo>
                  <a:pt x="1425224" y="1802317"/>
                  <a:pt x="1455738" y="1736796"/>
                  <a:pt x="1455738" y="1662720"/>
                </a:cubicBezTo>
                <a:cubicBezTo>
                  <a:pt x="1455738" y="1588853"/>
                  <a:pt x="1425224" y="1523958"/>
                  <a:pt x="1375900" y="1477635"/>
                </a:cubicBezTo>
                <a:cubicBezTo>
                  <a:pt x="1326576" y="1431103"/>
                  <a:pt x="1258233" y="1403350"/>
                  <a:pt x="1182574" y="1403350"/>
                </a:cubicBezTo>
                <a:cubicBezTo>
                  <a:pt x="1182574" y="1403350"/>
                  <a:pt x="1182574" y="1403350"/>
                  <a:pt x="501650" y="1403350"/>
                </a:cubicBezTo>
                <a:close/>
                <a:moveTo>
                  <a:pt x="7349808" y="1012825"/>
                </a:moveTo>
                <a:cubicBezTo>
                  <a:pt x="7297999" y="1012825"/>
                  <a:pt x="7251643" y="1033706"/>
                  <a:pt x="7218292" y="1067952"/>
                </a:cubicBezTo>
                <a:cubicBezTo>
                  <a:pt x="7184731" y="1102197"/>
                  <a:pt x="7164385" y="1149598"/>
                  <a:pt x="7164385" y="1202427"/>
                </a:cubicBezTo>
                <a:cubicBezTo>
                  <a:pt x="7164385" y="1255466"/>
                  <a:pt x="7184731" y="1302866"/>
                  <a:pt x="7218292" y="1336903"/>
                </a:cubicBezTo>
                <a:cubicBezTo>
                  <a:pt x="7251643" y="1371148"/>
                  <a:pt x="7297999" y="1392238"/>
                  <a:pt x="7349808" y="1392238"/>
                </a:cubicBezTo>
                <a:cubicBezTo>
                  <a:pt x="7401827" y="1392238"/>
                  <a:pt x="7448393" y="1371357"/>
                  <a:pt x="7481953" y="1337320"/>
                </a:cubicBezTo>
                <a:cubicBezTo>
                  <a:pt x="7515304" y="1303075"/>
                  <a:pt x="7535860" y="1255675"/>
                  <a:pt x="7535860" y="1202427"/>
                </a:cubicBezTo>
                <a:cubicBezTo>
                  <a:pt x="7535860" y="1149598"/>
                  <a:pt x="7515304" y="1102197"/>
                  <a:pt x="7481534" y="1067952"/>
                </a:cubicBezTo>
                <a:cubicBezTo>
                  <a:pt x="7447973" y="1033706"/>
                  <a:pt x="7401408" y="1012825"/>
                  <a:pt x="7349808" y="1012825"/>
                </a:cubicBezTo>
                <a:close/>
                <a:moveTo>
                  <a:pt x="10448922" y="946150"/>
                </a:moveTo>
                <a:lnTo>
                  <a:pt x="10552110" y="946150"/>
                </a:lnTo>
                <a:lnTo>
                  <a:pt x="10671172" y="1139825"/>
                </a:lnTo>
                <a:lnTo>
                  <a:pt x="10790235" y="1333501"/>
                </a:lnTo>
                <a:lnTo>
                  <a:pt x="10790235" y="946150"/>
                </a:lnTo>
                <a:lnTo>
                  <a:pt x="10869610" y="946150"/>
                </a:lnTo>
                <a:lnTo>
                  <a:pt x="10869610" y="1458913"/>
                </a:lnTo>
                <a:lnTo>
                  <a:pt x="10772772" y="1458913"/>
                </a:lnTo>
                <a:lnTo>
                  <a:pt x="10650535" y="1260475"/>
                </a:lnTo>
                <a:lnTo>
                  <a:pt x="10528297" y="1062038"/>
                </a:lnTo>
                <a:lnTo>
                  <a:pt x="10528297" y="1458913"/>
                </a:lnTo>
                <a:lnTo>
                  <a:pt x="10448922" y="1458913"/>
                </a:lnTo>
                <a:close/>
                <a:moveTo>
                  <a:pt x="10185397" y="946150"/>
                </a:moveTo>
                <a:lnTo>
                  <a:pt x="10267947" y="946150"/>
                </a:lnTo>
                <a:lnTo>
                  <a:pt x="10267947" y="1458913"/>
                </a:lnTo>
                <a:lnTo>
                  <a:pt x="10185397" y="1458913"/>
                </a:lnTo>
                <a:close/>
                <a:moveTo>
                  <a:pt x="9656760" y="946150"/>
                </a:moveTo>
                <a:lnTo>
                  <a:pt x="10059985" y="946150"/>
                </a:lnTo>
                <a:lnTo>
                  <a:pt x="10059985" y="1022350"/>
                </a:lnTo>
                <a:lnTo>
                  <a:pt x="9899648" y="1022350"/>
                </a:lnTo>
                <a:lnTo>
                  <a:pt x="9899648" y="1458913"/>
                </a:lnTo>
                <a:lnTo>
                  <a:pt x="9817098" y="1458913"/>
                </a:lnTo>
                <a:lnTo>
                  <a:pt x="9817098" y="1022350"/>
                </a:lnTo>
                <a:lnTo>
                  <a:pt x="9656760" y="1022350"/>
                </a:lnTo>
                <a:close/>
                <a:moveTo>
                  <a:pt x="9336085" y="946150"/>
                </a:moveTo>
                <a:lnTo>
                  <a:pt x="9418635" y="946150"/>
                </a:lnTo>
                <a:lnTo>
                  <a:pt x="9418635" y="1382713"/>
                </a:lnTo>
                <a:lnTo>
                  <a:pt x="9671048" y="1382713"/>
                </a:lnTo>
                <a:lnTo>
                  <a:pt x="9671048" y="1458913"/>
                </a:lnTo>
                <a:lnTo>
                  <a:pt x="9336085" y="1458913"/>
                </a:lnTo>
                <a:close/>
                <a:moveTo>
                  <a:pt x="8766172" y="946150"/>
                </a:moveTo>
                <a:cubicBezTo>
                  <a:pt x="8848414" y="946150"/>
                  <a:pt x="8848414" y="946150"/>
                  <a:pt x="8848414" y="946150"/>
                </a:cubicBezTo>
                <a:cubicBezTo>
                  <a:pt x="8848414" y="1260391"/>
                  <a:pt x="8848414" y="1260391"/>
                  <a:pt x="8848414" y="1260391"/>
                </a:cubicBezTo>
                <a:cubicBezTo>
                  <a:pt x="8848414" y="1297706"/>
                  <a:pt x="8861356" y="1331038"/>
                  <a:pt x="8883900" y="1355146"/>
                </a:cubicBezTo>
                <a:cubicBezTo>
                  <a:pt x="8906443" y="1379044"/>
                  <a:pt x="8939006" y="1393718"/>
                  <a:pt x="8978249" y="1393718"/>
                </a:cubicBezTo>
                <a:cubicBezTo>
                  <a:pt x="9017074" y="1393718"/>
                  <a:pt x="9049219" y="1379044"/>
                  <a:pt x="9071972" y="1355146"/>
                </a:cubicBezTo>
                <a:cubicBezTo>
                  <a:pt x="9094515" y="1331038"/>
                  <a:pt x="9107457" y="1297706"/>
                  <a:pt x="9107457" y="1260391"/>
                </a:cubicBezTo>
                <a:cubicBezTo>
                  <a:pt x="9107457" y="946150"/>
                  <a:pt x="9107457" y="946150"/>
                  <a:pt x="9107457" y="946150"/>
                </a:cubicBezTo>
                <a:cubicBezTo>
                  <a:pt x="9188447" y="946150"/>
                  <a:pt x="9188447" y="946150"/>
                  <a:pt x="9188447" y="946150"/>
                </a:cubicBezTo>
                <a:cubicBezTo>
                  <a:pt x="9188447" y="1261230"/>
                  <a:pt x="9188447" y="1261230"/>
                  <a:pt x="9188447" y="1261230"/>
                </a:cubicBezTo>
                <a:cubicBezTo>
                  <a:pt x="9188447" y="1321185"/>
                  <a:pt x="9166112" y="1373384"/>
                  <a:pt x="9128539" y="1410489"/>
                </a:cubicBezTo>
                <a:cubicBezTo>
                  <a:pt x="9090758" y="1447804"/>
                  <a:pt x="9038156" y="1470025"/>
                  <a:pt x="8977623" y="1470025"/>
                </a:cubicBezTo>
                <a:cubicBezTo>
                  <a:pt x="8917089" y="1470025"/>
                  <a:pt x="8864278" y="1447804"/>
                  <a:pt x="8826497" y="1410489"/>
                </a:cubicBezTo>
                <a:cubicBezTo>
                  <a:pt x="8788716" y="1373384"/>
                  <a:pt x="8766172" y="1321185"/>
                  <a:pt x="8766172" y="1261230"/>
                </a:cubicBezTo>
                <a:cubicBezTo>
                  <a:pt x="8766172" y="946150"/>
                  <a:pt x="8766172" y="946150"/>
                  <a:pt x="8766172" y="946150"/>
                </a:cubicBezTo>
                <a:close/>
                <a:moveTo>
                  <a:pt x="7737472" y="946150"/>
                </a:moveTo>
                <a:lnTo>
                  <a:pt x="7839072" y="946150"/>
                </a:lnTo>
                <a:lnTo>
                  <a:pt x="7958134" y="1139825"/>
                </a:lnTo>
                <a:lnTo>
                  <a:pt x="8077197" y="1333501"/>
                </a:lnTo>
                <a:lnTo>
                  <a:pt x="8077197" y="946150"/>
                </a:lnTo>
                <a:lnTo>
                  <a:pt x="8156572" y="946150"/>
                </a:lnTo>
                <a:lnTo>
                  <a:pt x="8156572" y="1458913"/>
                </a:lnTo>
                <a:lnTo>
                  <a:pt x="8061322" y="1458913"/>
                </a:lnTo>
                <a:lnTo>
                  <a:pt x="7939084" y="1260475"/>
                </a:lnTo>
                <a:lnTo>
                  <a:pt x="7815259" y="1062038"/>
                </a:lnTo>
                <a:lnTo>
                  <a:pt x="7815259" y="1458913"/>
                </a:lnTo>
                <a:lnTo>
                  <a:pt x="7737472" y="1458913"/>
                </a:lnTo>
                <a:close/>
                <a:moveTo>
                  <a:pt x="11253544" y="936625"/>
                </a:moveTo>
                <a:cubicBezTo>
                  <a:pt x="11284280" y="936625"/>
                  <a:pt x="11313343" y="940389"/>
                  <a:pt x="11340315" y="948334"/>
                </a:cubicBezTo>
                <a:cubicBezTo>
                  <a:pt x="11367287" y="956071"/>
                  <a:pt x="11391959" y="967989"/>
                  <a:pt x="11414331" y="984090"/>
                </a:cubicBezTo>
                <a:cubicBezTo>
                  <a:pt x="11392795" y="1017545"/>
                  <a:pt x="11392795" y="1017545"/>
                  <a:pt x="11392795" y="1017545"/>
                </a:cubicBezTo>
                <a:cubicBezTo>
                  <a:pt x="11371260" y="1051209"/>
                  <a:pt x="11371260" y="1051209"/>
                  <a:pt x="11371260" y="1051209"/>
                </a:cubicBezTo>
                <a:cubicBezTo>
                  <a:pt x="11354114" y="1038036"/>
                  <a:pt x="11335715" y="1028627"/>
                  <a:pt x="11316270" y="1022354"/>
                </a:cubicBezTo>
                <a:cubicBezTo>
                  <a:pt x="11296616" y="1016290"/>
                  <a:pt x="11275498" y="1013363"/>
                  <a:pt x="11252917" y="1013363"/>
                </a:cubicBezTo>
                <a:cubicBezTo>
                  <a:pt x="11201273" y="1013363"/>
                  <a:pt x="11155483" y="1034063"/>
                  <a:pt x="11122657" y="1067936"/>
                </a:cubicBezTo>
                <a:cubicBezTo>
                  <a:pt x="11089622" y="1102019"/>
                  <a:pt x="11069549" y="1149692"/>
                  <a:pt x="11069549" y="1203221"/>
                </a:cubicBezTo>
                <a:cubicBezTo>
                  <a:pt x="11069549" y="1256958"/>
                  <a:pt x="11088785" y="1304631"/>
                  <a:pt x="11120984" y="1338923"/>
                </a:cubicBezTo>
                <a:cubicBezTo>
                  <a:pt x="11153393" y="1373214"/>
                  <a:pt x="11198346" y="1394124"/>
                  <a:pt x="11249990" y="1394124"/>
                </a:cubicBezTo>
                <a:cubicBezTo>
                  <a:pt x="11297452" y="1394124"/>
                  <a:pt x="11335924" y="1378860"/>
                  <a:pt x="11364360" y="1353350"/>
                </a:cubicBezTo>
                <a:cubicBezTo>
                  <a:pt x="11392795" y="1328050"/>
                  <a:pt x="11410986" y="1292295"/>
                  <a:pt x="11418095" y="1251521"/>
                </a:cubicBezTo>
                <a:cubicBezTo>
                  <a:pt x="11244136" y="1251521"/>
                  <a:pt x="11244136" y="1251521"/>
                  <a:pt x="11244136" y="1251521"/>
                </a:cubicBezTo>
                <a:cubicBezTo>
                  <a:pt x="11267971" y="1214303"/>
                  <a:pt x="11267971" y="1214303"/>
                  <a:pt x="11267971" y="1214303"/>
                </a:cubicBezTo>
                <a:cubicBezTo>
                  <a:pt x="11291598" y="1177084"/>
                  <a:pt x="11291598" y="1177084"/>
                  <a:pt x="11291598" y="1177084"/>
                </a:cubicBezTo>
                <a:cubicBezTo>
                  <a:pt x="11496083" y="1177084"/>
                  <a:pt x="11496083" y="1177084"/>
                  <a:pt x="11496083" y="1177084"/>
                </a:cubicBezTo>
                <a:cubicBezTo>
                  <a:pt x="11497338" y="1181057"/>
                  <a:pt x="11498174" y="1186911"/>
                  <a:pt x="11498802" y="1193393"/>
                </a:cubicBezTo>
                <a:cubicBezTo>
                  <a:pt x="11499429" y="1199875"/>
                  <a:pt x="11499847" y="1206984"/>
                  <a:pt x="11499847" y="1213466"/>
                </a:cubicBezTo>
                <a:cubicBezTo>
                  <a:pt x="11499847" y="1286231"/>
                  <a:pt x="11474339" y="1350214"/>
                  <a:pt x="11430222" y="1396215"/>
                </a:cubicBezTo>
                <a:cubicBezTo>
                  <a:pt x="11386105" y="1442216"/>
                  <a:pt x="11323379" y="1470025"/>
                  <a:pt x="11249154" y="1470025"/>
                </a:cubicBezTo>
                <a:cubicBezTo>
                  <a:pt x="11175137" y="1470025"/>
                  <a:pt x="11109066" y="1440334"/>
                  <a:pt x="11061813" y="1392242"/>
                </a:cubicBezTo>
                <a:cubicBezTo>
                  <a:pt x="11014351" y="1344150"/>
                  <a:pt x="10985497" y="1277449"/>
                  <a:pt x="10985497" y="1203221"/>
                </a:cubicBezTo>
                <a:cubicBezTo>
                  <a:pt x="10985497" y="1129201"/>
                  <a:pt x="11015187" y="1062500"/>
                  <a:pt x="11063695" y="1014408"/>
                </a:cubicBezTo>
                <a:cubicBezTo>
                  <a:pt x="11111994" y="966317"/>
                  <a:pt x="11179110" y="936625"/>
                  <a:pt x="11253544" y="936625"/>
                </a:cubicBezTo>
                <a:close/>
                <a:moveTo>
                  <a:pt x="8471697" y="936625"/>
                </a:moveTo>
                <a:cubicBezTo>
                  <a:pt x="8502452" y="936625"/>
                  <a:pt x="8530906" y="941434"/>
                  <a:pt x="8556850" y="949798"/>
                </a:cubicBezTo>
                <a:cubicBezTo>
                  <a:pt x="8582793" y="958162"/>
                  <a:pt x="8606225" y="970080"/>
                  <a:pt x="8626729" y="984717"/>
                </a:cubicBezTo>
                <a:cubicBezTo>
                  <a:pt x="8626729" y="984717"/>
                  <a:pt x="8626729" y="984717"/>
                  <a:pt x="8606225" y="1017336"/>
                </a:cubicBezTo>
                <a:cubicBezTo>
                  <a:pt x="8606225" y="1017336"/>
                  <a:pt x="8606225" y="1017336"/>
                  <a:pt x="8585722" y="1049745"/>
                </a:cubicBezTo>
                <a:cubicBezTo>
                  <a:pt x="8566474" y="1037409"/>
                  <a:pt x="8547644" y="1027581"/>
                  <a:pt x="8528605" y="1021099"/>
                </a:cubicBezTo>
                <a:cubicBezTo>
                  <a:pt x="8509775" y="1014617"/>
                  <a:pt x="8490736" y="1011063"/>
                  <a:pt x="8471070" y="1011063"/>
                </a:cubicBezTo>
                <a:cubicBezTo>
                  <a:pt x="8441151" y="1011063"/>
                  <a:pt x="8418974" y="1019217"/>
                  <a:pt x="8404328" y="1032181"/>
                </a:cubicBezTo>
                <a:cubicBezTo>
                  <a:pt x="8389683" y="1045354"/>
                  <a:pt x="8382570" y="1063755"/>
                  <a:pt x="8382570" y="1084246"/>
                </a:cubicBezTo>
                <a:cubicBezTo>
                  <a:pt x="8382570" y="1108292"/>
                  <a:pt x="8393449" y="1123556"/>
                  <a:pt x="8412697" y="1135474"/>
                </a:cubicBezTo>
                <a:cubicBezTo>
                  <a:pt x="8432155" y="1147183"/>
                  <a:pt x="8459772" y="1155338"/>
                  <a:pt x="8493038" y="1165165"/>
                </a:cubicBezTo>
                <a:cubicBezTo>
                  <a:pt x="8532789" y="1177293"/>
                  <a:pt x="8571704" y="1190257"/>
                  <a:pt x="8600786" y="1212421"/>
                </a:cubicBezTo>
                <a:cubicBezTo>
                  <a:pt x="8629658" y="1234585"/>
                  <a:pt x="8648697" y="1265740"/>
                  <a:pt x="8648697" y="1314250"/>
                </a:cubicBezTo>
                <a:cubicBezTo>
                  <a:pt x="8648697" y="1359205"/>
                  <a:pt x="8632169" y="1398097"/>
                  <a:pt x="8601413" y="1425906"/>
                </a:cubicBezTo>
                <a:cubicBezTo>
                  <a:pt x="8570658" y="1453507"/>
                  <a:pt x="8525467" y="1470025"/>
                  <a:pt x="8468140" y="1470025"/>
                </a:cubicBezTo>
                <a:cubicBezTo>
                  <a:pt x="8427552" y="1470025"/>
                  <a:pt x="8393031" y="1463125"/>
                  <a:pt x="8363531" y="1452461"/>
                </a:cubicBezTo>
                <a:cubicBezTo>
                  <a:pt x="8333821" y="1441797"/>
                  <a:pt x="8308715" y="1427161"/>
                  <a:pt x="8286747" y="1411479"/>
                </a:cubicBezTo>
                <a:cubicBezTo>
                  <a:pt x="8286747" y="1411479"/>
                  <a:pt x="8286747" y="1411479"/>
                  <a:pt x="8307251" y="1379069"/>
                </a:cubicBezTo>
                <a:cubicBezTo>
                  <a:pt x="8307251" y="1379069"/>
                  <a:pt x="8307251" y="1379069"/>
                  <a:pt x="8327754" y="1346450"/>
                </a:cubicBezTo>
                <a:cubicBezTo>
                  <a:pt x="8349931" y="1360669"/>
                  <a:pt x="8372318" y="1373005"/>
                  <a:pt x="8395541" y="1381578"/>
                </a:cubicBezTo>
                <a:cubicBezTo>
                  <a:pt x="8418765" y="1390360"/>
                  <a:pt x="8442825" y="1395378"/>
                  <a:pt x="8468768" y="1395378"/>
                </a:cubicBezTo>
                <a:cubicBezTo>
                  <a:pt x="8500569" y="1395378"/>
                  <a:pt x="8525048" y="1387224"/>
                  <a:pt x="8541367" y="1373633"/>
                </a:cubicBezTo>
                <a:cubicBezTo>
                  <a:pt x="8557686" y="1360041"/>
                  <a:pt x="8566055" y="1341014"/>
                  <a:pt x="8566055" y="1319477"/>
                </a:cubicBezTo>
                <a:cubicBezTo>
                  <a:pt x="8566055" y="1295640"/>
                  <a:pt x="8554967" y="1280376"/>
                  <a:pt x="8535509" y="1268458"/>
                </a:cubicBezTo>
                <a:cubicBezTo>
                  <a:pt x="8516261" y="1256540"/>
                  <a:pt x="8488644" y="1248176"/>
                  <a:pt x="8455587" y="1238348"/>
                </a:cubicBezTo>
                <a:cubicBezTo>
                  <a:pt x="8415417" y="1226221"/>
                  <a:pt x="8376502" y="1213466"/>
                  <a:pt x="8347630" y="1191511"/>
                </a:cubicBezTo>
                <a:cubicBezTo>
                  <a:pt x="8318758" y="1169556"/>
                  <a:pt x="8299928" y="1138192"/>
                  <a:pt x="8299928" y="1089264"/>
                </a:cubicBezTo>
                <a:cubicBezTo>
                  <a:pt x="8299928" y="1044727"/>
                  <a:pt x="8315829" y="1006463"/>
                  <a:pt x="8345329" y="979489"/>
                </a:cubicBezTo>
                <a:cubicBezTo>
                  <a:pt x="8374828" y="952516"/>
                  <a:pt x="8417718" y="936625"/>
                  <a:pt x="8471697" y="936625"/>
                </a:cubicBezTo>
                <a:close/>
                <a:moveTo>
                  <a:pt x="7349808" y="936625"/>
                </a:moveTo>
                <a:cubicBezTo>
                  <a:pt x="7424849" y="936625"/>
                  <a:pt x="7492344" y="966526"/>
                  <a:pt x="7541183" y="1014826"/>
                </a:cubicBezTo>
                <a:cubicBezTo>
                  <a:pt x="7590023" y="1063127"/>
                  <a:pt x="7619997" y="1129828"/>
                  <a:pt x="7619997" y="1203221"/>
                </a:cubicBezTo>
                <a:cubicBezTo>
                  <a:pt x="7619997" y="1276613"/>
                  <a:pt x="7590023" y="1343314"/>
                  <a:pt x="7541183" y="1391615"/>
                </a:cubicBezTo>
                <a:cubicBezTo>
                  <a:pt x="7492344" y="1440125"/>
                  <a:pt x="7424849" y="1470025"/>
                  <a:pt x="7349808" y="1470025"/>
                </a:cubicBezTo>
                <a:cubicBezTo>
                  <a:pt x="7274767" y="1470025"/>
                  <a:pt x="7207272" y="1440125"/>
                  <a:pt x="7158642" y="1391615"/>
                </a:cubicBezTo>
                <a:cubicBezTo>
                  <a:pt x="7110012" y="1343314"/>
                  <a:pt x="7080247" y="1276613"/>
                  <a:pt x="7080247" y="1203221"/>
                </a:cubicBezTo>
                <a:cubicBezTo>
                  <a:pt x="7080247" y="1129828"/>
                  <a:pt x="7110012" y="1063127"/>
                  <a:pt x="7158642" y="1014826"/>
                </a:cubicBezTo>
                <a:cubicBezTo>
                  <a:pt x="7207272" y="966526"/>
                  <a:pt x="7274767" y="936625"/>
                  <a:pt x="7349808" y="936625"/>
                </a:cubicBezTo>
                <a:close/>
                <a:moveTo>
                  <a:pt x="6837427" y="936625"/>
                </a:moveTo>
                <a:cubicBezTo>
                  <a:pt x="6874092" y="936625"/>
                  <a:pt x="6904891" y="941852"/>
                  <a:pt x="6932756" y="951680"/>
                </a:cubicBezTo>
                <a:cubicBezTo>
                  <a:pt x="6960412" y="961507"/>
                  <a:pt x="6984925" y="975726"/>
                  <a:pt x="7008810" y="993499"/>
                </a:cubicBezTo>
                <a:cubicBezTo>
                  <a:pt x="7008810" y="993499"/>
                  <a:pt x="7008810" y="993499"/>
                  <a:pt x="6987439" y="1026745"/>
                </a:cubicBezTo>
                <a:cubicBezTo>
                  <a:pt x="6987439" y="1026745"/>
                  <a:pt x="6987439" y="1026745"/>
                  <a:pt x="6966278" y="1059991"/>
                </a:cubicBezTo>
                <a:cubicBezTo>
                  <a:pt x="6946584" y="1044727"/>
                  <a:pt x="6926680" y="1032809"/>
                  <a:pt x="6904891" y="1024863"/>
                </a:cubicBezTo>
                <a:cubicBezTo>
                  <a:pt x="6883101" y="1016708"/>
                  <a:pt x="6859845" y="1012526"/>
                  <a:pt x="6833027" y="1012526"/>
                </a:cubicBezTo>
                <a:cubicBezTo>
                  <a:pt x="6782115" y="1012526"/>
                  <a:pt x="6736441" y="1033436"/>
                  <a:pt x="6703338" y="1067727"/>
                </a:cubicBezTo>
                <a:cubicBezTo>
                  <a:pt x="6670444" y="1102019"/>
                  <a:pt x="6649912" y="1149483"/>
                  <a:pt x="6649912" y="1203221"/>
                </a:cubicBezTo>
                <a:cubicBezTo>
                  <a:pt x="6649912" y="1256958"/>
                  <a:pt x="6670444" y="1304631"/>
                  <a:pt x="6703338" y="1338923"/>
                </a:cubicBezTo>
                <a:cubicBezTo>
                  <a:pt x="6736441" y="1373214"/>
                  <a:pt x="6782115" y="1393915"/>
                  <a:pt x="6833027" y="1393915"/>
                </a:cubicBezTo>
                <a:cubicBezTo>
                  <a:pt x="6859845" y="1393915"/>
                  <a:pt x="6883101" y="1389733"/>
                  <a:pt x="6904891" y="1381787"/>
                </a:cubicBezTo>
                <a:cubicBezTo>
                  <a:pt x="6926680" y="1373633"/>
                  <a:pt x="6946584" y="1361923"/>
                  <a:pt x="6966278" y="1346450"/>
                </a:cubicBezTo>
                <a:cubicBezTo>
                  <a:pt x="6966278" y="1346450"/>
                  <a:pt x="6966278" y="1346450"/>
                  <a:pt x="6987439" y="1379696"/>
                </a:cubicBezTo>
                <a:cubicBezTo>
                  <a:pt x="6987439" y="1379696"/>
                  <a:pt x="6987439" y="1379696"/>
                  <a:pt x="7008810" y="1412942"/>
                </a:cubicBezTo>
                <a:cubicBezTo>
                  <a:pt x="6984925" y="1430924"/>
                  <a:pt x="6960412" y="1445143"/>
                  <a:pt x="6932756" y="1454970"/>
                </a:cubicBezTo>
                <a:cubicBezTo>
                  <a:pt x="6904891" y="1464589"/>
                  <a:pt x="6874092" y="1470025"/>
                  <a:pt x="6837427" y="1470025"/>
                </a:cubicBezTo>
                <a:cubicBezTo>
                  <a:pt x="6761373" y="1470025"/>
                  <a:pt x="6693491" y="1440334"/>
                  <a:pt x="6644674" y="1392242"/>
                </a:cubicBezTo>
                <a:cubicBezTo>
                  <a:pt x="6595648" y="1344150"/>
                  <a:pt x="6565897" y="1277449"/>
                  <a:pt x="6565897" y="1203221"/>
                </a:cubicBezTo>
                <a:cubicBezTo>
                  <a:pt x="6565897" y="1129201"/>
                  <a:pt x="6595648" y="1062500"/>
                  <a:pt x="6644674" y="1014408"/>
                </a:cubicBezTo>
                <a:cubicBezTo>
                  <a:pt x="6693491" y="966107"/>
                  <a:pt x="6761373" y="936625"/>
                  <a:pt x="6837427" y="936625"/>
                </a:cubicBezTo>
                <a:close/>
                <a:moveTo>
                  <a:pt x="501650" y="477838"/>
                </a:moveTo>
                <a:cubicBezTo>
                  <a:pt x="501650" y="477838"/>
                  <a:pt x="501650" y="477838"/>
                  <a:pt x="501650" y="981076"/>
                </a:cubicBezTo>
                <a:cubicBezTo>
                  <a:pt x="501650" y="981076"/>
                  <a:pt x="501650" y="981076"/>
                  <a:pt x="786010" y="981076"/>
                </a:cubicBezTo>
                <a:cubicBezTo>
                  <a:pt x="786010" y="981076"/>
                  <a:pt x="786010" y="981076"/>
                  <a:pt x="1070579" y="981076"/>
                </a:cubicBezTo>
                <a:cubicBezTo>
                  <a:pt x="1142870" y="981076"/>
                  <a:pt x="1207013" y="953710"/>
                  <a:pt x="1253188" y="908588"/>
                </a:cubicBezTo>
                <a:cubicBezTo>
                  <a:pt x="1299153" y="863466"/>
                  <a:pt x="1327150" y="800169"/>
                  <a:pt x="1327150" y="727681"/>
                </a:cubicBezTo>
                <a:cubicBezTo>
                  <a:pt x="1327150" y="655402"/>
                  <a:pt x="1299153" y="592942"/>
                  <a:pt x="1253188" y="548446"/>
                </a:cubicBezTo>
                <a:cubicBezTo>
                  <a:pt x="1207013" y="503951"/>
                  <a:pt x="1142870" y="477838"/>
                  <a:pt x="1070579" y="477838"/>
                </a:cubicBezTo>
                <a:cubicBezTo>
                  <a:pt x="1070579" y="477838"/>
                  <a:pt x="1070579" y="477838"/>
                  <a:pt x="501650" y="477838"/>
                </a:cubicBezTo>
                <a:close/>
                <a:moveTo>
                  <a:pt x="6675435" y="336550"/>
                </a:moveTo>
                <a:cubicBezTo>
                  <a:pt x="6675435" y="487363"/>
                  <a:pt x="6675435" y="487363"/>
                  <a:pt x="6675435" y="487363"/>
                </a:cubicBezTo>
                <a:cubicBezTo>
                  <a:pt x="6808467" y="487363"/>
                  <a:pt x="6808467" y="487363"/>
                  <a:pt x="6808467" y="487363"/>
                </a:cubicBezTo>
                <a:cubicBezTo>
                  <a:pt x="6831475" y="487363"/>
                  <a:pt x="6851346" y="478985"/>
                  <a:pt x="6865570" y="465370"/>
                </a:cubicBezTo>
                <a:cubicBezTo>
                  <a:pt x="6879793" y="451755"/>
                  <a:pt x="6888160" y="432903"/>
                  <a:pt x="6888160" y="411957"/>
                </a:cubicBezTo>
                <a:cubicBezTo>
                  <a:pt x="6888160" y="390801"/>
                  <a:pt x="6879793" y="371949"/>
                  <a:pt x="6865570" y="358334"/>
                </a:cubicBezTo>
                <a:cubicBezTo>
                  <a:pt x="6851346" y="344719"/>
                  <a:pt x="6831475" y="336550"/>
                  <a:pt x="6808467" y="336550"/>
                </a:cubicBezTo>
                <a:cubicBezTo>
                  <a:pt x="6675435" y="336550"/>
                  <a:pt x="6675435" y="336550"/>
                  <a:pt x="6675435" y="336550"/>
                </a:cubicBezTo>
                <a:close/>
                <a:moveTo>
                  <a:pt x="6675435" y="122238"/>
                </a:moveTo>
                <a:cubicBezTo>
                  <a:pt x="6675435" y="265113"/>
                  <a:pt x="6675435" y="265113"/>
                  <a:pt x="6675435" y="265113"/>
                </a:cubicBezTo>
                <a:cubicBezTo>
                  <a:pt x="6795279" y="265113"/>
                  <a:pt x="6795279" y="265113"/>
                  <a:pt x="6795279" y="265113"/>
                </a:cubicBezTo>
                <a:cubicBezTo>
                  <a:pt x="6816822" y="265113"/>
                  <a:pt x="6835228" y="257396"/>
                  <a:pt x="6848404" y="244673"/>
                </a:cubicBezTo>
                <a:cubicBezTo>
                  <a:pt x="6861372" y="231949"/>
                  <a:pt x="6869110" y="214012"/>
                  <a:pt x="6869110" y="193571"/>
                </a:cubicBezTo>
                <a:cubicBezTo>
                  <a:pt x="6869110" y="173131"/>
                  <a:pt x="6861372" y="155402"/>
                  <a:pt x="6848404" y="142679"/>
                </a:cubicBezTo>
                <a:cubicBezTo>
                  <a:pt x="6835228" y="129747"/>
                  <a:pt x="6816822" y="122238"/>
                  <a:pt x="6795279" y="122238"/>
                </a:cubicBezTo>
                <a:cubicBezTo>
                  <a:pt x="6675435" y="122238"/>
                  <a:pt x="6675435" y="122238"/>
                  <a:pt x="6675435" y="122238"/>
                </a:cubicBezTo>
                <a:close/>
                <a:moveTo>
                  <a:pt x="8850791" y="114300"/>
                </a:moveTo>
                <a:cubicBezTo>
                  <a:pt x="8799203" y="114300"/>
                  <a:pt x="8753045" y="135269"/>
                  <a:pt x="8719837" y="169657"/>
                </a:cubicBezTo>
                <a:cubicBezTo>
                  <a:pt x="8686419" y="204046"/>
                  <a:pt x="8666160" y="251645"/>
                  <a:pt x="8666160" y="304905"/>
                </a:cubicBezTo>
                <a:cubicBezTo>
                  <a:pt x="8666160" y="357956"/>
                  <a:pt x="8686419" y="405554"/>
                  <a:pt x="8719837" y="439943"/>
                </a:cubicBezTo>
                <a:cubicBezTo>
                  <a:pt x="8753045" y="474332"/>
                  <a:pt x="8799203" y="495300"/>
                  <a:pt x="8850791" y="495300"/>
                </a:cubicBezTo>
                <a:cubicBezTo>
                  <a:pt x="8902588" y="495300"/>
                  <a:pt x="8948954" y="474541"/>
                  <a:pt x="8982163" y="440153"/>
                </a:cubicBezTo>
                <a:cubicBezTo>
                  <a:pt x="9015580" y="405974"/>
                  <a:pt x="9036048" y="358375"/>
                  <a:pt x="9036048" y="304905"/>
                </a:cubicBezTo>
                <a:cubicBezTo>
                  <a:pt x="9036048" y="251645"/>
                  <a:pt x="9015371" y="204046"/>
                  <a:pt x="8981954" y="169657"/>
                </a:cubicBezTo>
                <a:cubicBezTo>
                  <a:pt x="8948536" y="135269"/>
                  <a:pt x="8902170" y="114300"/>
                  <a:pt x="8850791" y="114300"/>
                </a:cubicBezTo>
                <a:close/>
                <a:moveTo>
                  <a:pt x="7335415" y="114300"/>
                </a:moveTo>
                <a:cubicBezTo>
                  <a:pt x="7283845" y="114300"/>
                  <a:pt x="7237515" y="135269"/>
                  <a:pt x="7203974" y="169657"/>
                </a:cubicBezTo>
                <a:cubicBezTo>
                  <a:pt x="7170642" y="204046"/>
                  <a:pt x="7150097" y="251645"/>
                  <a:pt x="7150097" y="304905"/>
                </a:cubicBezTo>
                <a:cubicBezTo>
                  <a:pt x="7150097" y="357956"/>
                  <a:pt x="7170642" y="405554"/>
                  <a:pt x="7203974" y="439943"/>
                </a:cubicBezTo>
                <a:cubicBezTo>
                  <a:pt x="7237515" y="474332"/>
                  <a:pt x="7283845" y="495300"/>
                  <a:pt x="7335415" y="495300"/>
                </a:cubicBezTo>
                <a:cubicBezTo>
                  <a:pt x="7387405" y="495300"/>
                  <a:pt x="7433944" y="474541"/>
                  <a:pt x="7467486" y="440153"/>
                </a:cubicBezTo>
                <a:cubicBezTo>
                  <a:pt x="7501028" y="405974"/>
                  <a:pt x="7521572" y="358375"/>
                  <a:pt x="7521572" y="304905"/>
                </a:cubicBezTo>
                <a:cubicBezTo>
                  <a:pt x="7521572" y="251645"/>
                  <a:pt x="7500818" y="204046"/>
                  <a:pt x="7467067" y="169657"/>
                </a:cubicBezTo>
                <a:cubicBezTo>
                  <a:pt x="7433525" y="135269"/>
                  <a:pt x="7386986" y="114300"/>
                  <a:pt x="7335415" y="114300"/>
                </a:cubicBezTo>
                <a:close/>
                <a:moveTo>
                  <a:pt x="9237660" y="49213"/>
                </a:moveTo>
                <a:lnTo>
                  <a:pt x="9339260" y="49213"/>
                </a:lnTo>
                <a:lnTo>
                  <a:pt x="9458322" y="242888"/>
                </a:lnTo>
                <a:lnTo>
                  <a:pt x="9578972" y="436563"/>
                </a:lnTo>
                <a:lnTo>
                  <a:pt x="9578972" y="49213"/>
                </a:lnTo>
                <a:lnTo>
                  <a:pt x="9656760" y="49213"/>
                </a:lnTo>
                <a:lnTo>
                  <a:pt x="9656760" y="560388"/>
                </a:lnTo>
                <a:lnTo>
                  <a:pt x="9561510" y="560388"/>
                </a:lnTo>
                <a:lnTo>
                  <a:pt x="9439272" y="363538"/>
                </a:lnTo>
                <a:lnTo>
                  <a:pt x="9317035" y="165101"/>
                </a:lnTo>
                <a:lnTo>
                  <a:pt x="9317035" y="560388"/>
                </a:lnTo>
                <a:lnTo>
                  <a:pt x="9237660" y="560388"/>
                </a:lnTo>
                <a:close/>
                <a:moveTo>
                  <a:pt x="8126410" y="49213"/>
                </a:moveTo>
                <a:lnTo>
                  <a:pt x="8529635" y="49213"/>
                </a:lnTo>
                <a:lnTo>
                  <a:pt x="8529635" y="125413"/>
                </a:lnTo>
                <a:lnTo>
                  <a:pt x="8369298" y="125413"/>
                </a:lnTo>
                <a:lnTo>
                  <a:pt x="8369298" y="560388"/>
                </a:lnTo>
                <a:lnTo>
                  <a:pt x="8285160" y="560388"/>
                </a:lnTo>
                <a:lnTo>
                  <a:pt x="8285160" y="125413"/>
                </a:lnTo>
                <a:lnTo>
                  <a:pt x="8126410" y="125413"/>
                </a:lnTo>
                <a:close/>
                <a:moveTo>
                  <a:pt x="6592885" y="49213"/>
                </a:moveTo>
                <a:cubicBezTo>
                  <a:pt x="6795851" y="49213"/>
                  <a:pt x="6795851" y="49213"/>
                  <a:pt x="6795851" y="49213"/>
                </a:cubicBezTo>
                <a:cubicBezTo>
                  <a:pt x="6840537" y="49213"/>
                  <a:pt x="6879794" y="63633"/>
                  <a:pt x="6907775" y="87875"/>
                </a:cubicBezTo>
                <a:cubicBezTo>
                  <a:pt x="6935756" y="112117"/>
                  <a:pt x="6952670" y="146182"/>
                  <a:pt x="6952670" y="185680"/>
                </a:cubicBezTo>
                <a:cubicBezTo>
                  <a:pt x="6952670" y="208041"/>
                  <a:pt x="6946823" y="228103"/>
                  <a:pt x="6936382" y="245658"/>
                </a:cubicBezTo>
                <a:cubicBezTo>
                  <a:pt x="6925733" y="263004"/>
                  <a:pt x="6910698" y="277633"/>
                  <a:pt x="6892114" y="288709"/>
                </a:cubicBezTo>
                <a:cubicBezTo>
                  <a:pt x="6916963" y="300621"/>
                  <a:pt x="6937009" y="318176"/>
                  <a:pt x="6950791" y="339492"/>
                </a:cubicBezTo>
                <a:cubicBezTo>
                  <a:pt x="6964572" y="360808"/>
                  <a:pt x="6972298" y="385677"/>
                  <a:pt x="6972298" y="412845"/>
                </a:cubicBezTo>
                <a:cubicBezTo>
                  <a:pt x="6972298" y="454015"/>
                  <a:pt x="6955384" y="491005"/>
                  <a:pt x="6926359" y="517546"/>
                </a:cubicBezTo>
                <a:cubicBezTo>
                  <a:pt x="6897543" y="544087"/>
                  <a:pt x="6856616" y="560388"/>
                  <a:pt x="6808798" y="560388"/>
                </a:cubicBezTo>
                <a:cubicBezTo>
                  <a:pt x="6592885" y="560388"/>
                  <a:pt x="6592885" y="560388"/>
                  <a:pt x="6592885" y="560388"/>
                </a:cubicBezTo>
                <a:cubicBezTo>
                  <a:pt x="6592885" y="49213"/>
                  <a:pt x="6592885" y="49213"/>
                  <a:pt x="6592885" y="49213"/>
                </a:cubicBezTo>
                <a:close/>
                <a:moveTo>
                  <a:pt x="8850790" y="38100"/>
                </a:moveTo>
                <a:cubicBezTo>
                  <a:pt x="8925610" y="38100"/>
                  <a:pt x="8992907" y="68001"/>
                  <a:pt x="9041603" y="116301"/>
                </a:cubicBezTo>
                <a:cubicBezTo>
                  <a:pt x="9090299" y="164602"/>
                  <a:pt x="9120185" y="231303"/>
                  <a:pt x="9120185" y="304905"/>
                </a:cubicBezTo>
                <a:cubicBezTo>
                  <a:pt x="9120185" y="378297"/>
                  <a:pt x="9090299" y="444998"/>
                  <a:pt x="9041603" y="493090"/>
                </a:cubicBezTo>
                <a:cubicBezTo>
                  <a:pt x="8992907" y="541600"/>
                  <a:pt x="8925610" y="571500"/>
                  <a:pt x="8850790" y="571500"/>
                </a:cubicBezTo>
                <a:cubicBezTo>
                  <a:pt x="8775761" y="571500"/>
                  <a:pt x="8708673" y="541600"/>
                  <a:pt x="8660186" y="493090"/>
                </a:cubicBezTo>
                <a:cubicBezTo>
                  <a:pt x="8611699" y="444998"/>
                  <a:pt x="8582022" y="378297"/>
                  <a:pt x="8582022" y="304905"/>
                </a:cubicBezTo>
                <a:cubicBezTo>
                  <a:pt x="8582022" y="231303"/>
                  <a:pt x="8611699" y="164602"/>
                  <a:pt x="8660186" y="116301"/>
                </a:cubicBezTo>
                <a:cubicBezTo>
                  <a:pt x="8708673" y="68001"/>
                  <a:pt x="8775761" y="38100"/>
                  <a:pt x="8850790" y="38100"/>
                </a:cubicBezTo>
                <a:close/>
                <a:moveTo>
                  <a:pt x="7870035" y="38100"/>
                </a:moveTo>
                <a:cubicBezTo>
                  <a:pt x="7871499" y="38100"/>
                  <a:pt x="7871499" y="38100"/>
                  <a:pt x="7871499" y="38100"/>
                </a:cubicBezTo>
                <a:cubicBezTo>
                  <a:pt x="7901627" y="38309"/>
                  <a:pt x="7929663" y="42909"/>
                  <a:pt x="7955187" y="51273"/>
                </a:cubicBezTo>
                <a:cubicBezTo>
                  <a:pt x="7981131" y="59637"/>
                  <a:pt x="8004563" y="71764"/>
                  <a:pt x="8025067" y="86401"/>
                </a:cubicBezTo>
                <a:cubicBezTo>
                  <a:pt x="8004563" y="118811"/>
                  <a:pt x="8004563" y="118811"/>
                  <a:pt x="8004563" y="118811"/>
                </a:cubicBezTo>
                <a:cubicBezTo>
                  <a:pt x="7984060" y="151429"/>
                  <a:pt x="7984060" y="151429"/>
                  <a:pt x="7984060" y="151429"/>
                </a:cubicBezTo>
                <a:cubicBezTo>
                  <a:pt x="7964811" y="138884"/>
                  <a:pt x="7945982" y="129265"/>
                  <a:pt x="7926943" y="122574"/>
                </a:cubicBezTo>
                <a:cubicBezTo>
                  <a:pt x="7908113" y="116092"/>
                  <a:pt x="7889074" y="112538"/>
                  <a:pt x="7869198" y="112538"/>
                </a:cubicBezTo>
                <a:cubicBezTo>
                  <a:pt x="7839280" y="112538"/>
                  <a:pt x="7817312" y="120692"/>
                  <a:pt x="7802666" y="133865"/>
                </a:cubicBezTo>
                <a:cubicBezTo>
                  <a:pt x="7788021" y="147038"/>
                  <a:pt x="7780907" y="165230"/>
                  <a:pt x="7780907" y="185721"/>
                </a:cubicBezTo>
                <a:cubicBezTo>
                  <a:pt x="7780907" y="209767"/>
                  <a:pt x="7791787" y="225031"/>
                  <a:pt x="7811035" y="236949"/>
                </a:cubicBezTo>
                <a:cubicBezTo>
                  <a:pt x="7830283" y="248658"/>
                  <a:pt x="7857900" y="257022"/>
                  <a:pt x="7891166" y="266849"/>
                </a:cubicBezTo>
                <a:cubicBezTo>
                  <a:pt x="7931127" y="278977"/>
                  <a:pt x="7970042" y="291941"/>
                  <a:pt x="7998914" y="313896"/>
                </a:cubicBezTo>
                <a:cubicBezTo>
                  <a:pt x="8027996" y="336060"/>
                  <a:pt x="8047035" y="367424"/>
                  <a:pt x="8047035" y="415934"/>
                </a:cubicBezTo>
                <a:cubicBezTo>
                  <a:pt x="8047035" y="460889"/>
                  <a:pt x="8030506" y="499781"/>
                  <a:pt x="7999751" y="527381"/>
                </a:cubicBezTo>
                <a:cubicBezTo>
                  <a:pt x="7968787" y="554982"/>
                  <a:pt x="7923804" y="571500"/>
                  <a:pt x="7866478" y="571500"/>
                </a:cubicBezTo>
                <a:cubicBezTo>
                  <a:pt x="7825890" y="571500"/>
                  <a:pt x="7791368" y="564809"/>
                  <a:pt x="7761659" y="554145"/>
                </a:cubicBezTo>
                <a:cubicBezTo>
                  <a:pt x="7731950" y="543272"/>
                  <a:pt x="7707053" y="528845"/>
                  <a:pt x="7685085" y="512954"/>
                </a:cubicBezTo>
                <a:cubicBezTo>
                  <a:pt x="7725883" y="447925"/>
                  <a:pt x="7725883" y="447925"/>
                  <a:pt x="7725883" y="447925"/>
                </a:cubicBezTo>
                <a:cubicBezTo>
                  <a:pt x="7748269" y="462353"/>
                  <a:pt x="7770656" y="474480"/>
                  <a:pt x="7793879" y="483053"/>
                </a:cubicBezTo>
                <a:cubicBezTo>
                  <a:pt x="7816893" y="491835"/>
                  <a:pt x="7841163" y="497063"/>
                  <a:pt x="7867106" y="497063"/>
                </a:cubicBezTo>
                <a:cubicBezTo>
                  <a:pt x="7898907" y="497063"/>
                  <a:pt x="7923177" y="488699"/>
                  <a:pt x="7939496" y="475108"/>
                </a:cubicBezTo>
                <a:cubicBezTo>
                  <a:pt x="7956024" y="461516"/>
                  <a:pt x="7964393" y="442489"/>
                  <a:pt x="7964393" y="420952"/>
                </a:cubicBezTo>
                <a:cubicBezTo>
                  <a:pt x="7964393" y="397324"/>
                  <a:pt x="7953095" y="381851"/>
                  <a:pt x="7933847" y="369933"/>
                </a:cubicBezTo>
                <a:cubicBezTo>
                  <a:pt x="7914389" y="358224"/>
                  <a:pt x="7886982" y="349860"/>
                  <a:pt x="7853925" y="339823"/>
                </a:cubicBezTo>
                <a:cubicBezTo>
                  <a:pt x="7813755" y="327696"/>
                  <a:pt x="7774840" y="314941"/>
                  <a:pt x="7745968" y="292986"/>
                </a:cubicBezTo>
                <a:cubicBezTo>
                  <a:pt x="7717095" y="271031"/>
                  <a:pt x="7698266" y="239667"/>
                  <a:pt x="7698266" y="190739"/>
                </a:cubicBezTo>
                <a:cubicBezTo>
                  <a:pt x="7698266" y="146202"/>
                  <a:pt x="7714166" y="107938"/>
                  <a:pt x="7743666" y="80964"/>
                </a:cubicBezTo>
                <a:cubicBezTo>
                  <a:pt x="7772957" y="53991"/>
                  <a:pt x="7815847" y="38100"/>
                  <a:pt x="7870035" y="38100"/>
                </a:cubicBezTo>
                <a:close/>
                <a:moveTo>
                  <a:pt x="7334624" y="38100"/>
                </a:moveTo>
                <a:cubicBezTo>
                  <a:pt x="7409415" y="38100"/>
                  <a:pt x="7476894" y="68001"/>
                  <a:pt x="7525363" y="116301"/>
                </a:cubicBezTo>
                <a:cubicBezTo>
                  <a:pt x="7574040" y="164602"/>
                  <a:pt x="7604123" y="231303"/>
                  <a:pt x="7604123" y="304905"/>
                </a:cubicBezTo>
                <a:cubicBezTo>
                  <a:pt x="7604123" y="378297"/>
                  <a:pt x="7574040" y="444998"/>
                  <a:pt x="7525363" y="493090"/>
                </a:cubicBezTo>
                <a:cubicBezTo>
                  <a:pt x="7476894" y="541600"/>
                  <a:pt x="7409415" y="571500"/>
                  <a:pt x="7334624" y="571500"/>
                </a:cubicBezTo>
                <a:cubicBezTo>
                  <a:pt x="7259833" y="571500"/>
                  <a:pt x="7192562" y="541600"/>
                  <a:pt x="7144094" y="493090"/>
                </a:cubicBezTo>
                <a:cubicBezTo>
                  <a:pt x="7095626" y="444998"/>
                  <a:pt x="7065960" y="378297"/>
                  <a:pt x="7065960" y="304905"/>
                </a:cubicBezTo>
                <a:cubicBezTo>
                  <a:pt x="7065960" y="231303"/>
                  <a:pt x="7095626" y="164602"/>
                  <a:pt x="7144094" y="116301"/>
                </a:cubicBezTo>
                <a:cubicBezTo>
                  <a:pt x="7192562" y="68001"/>
                  <a:pt x="7259833" y="38100"/>
                  <a:pt x="7334624" y="38100"/>
                </a:cubicBezTo>
                <a:close/>
                <a:moveTo>
                  <a:pt x="2766077" y="0"/>
                </a:moveTo>
                <a:cubicBezTo>
                  <a:pt x="2901191" y="0"/>
                  <a:pt x="3028777" y="17359"/>
                  <a:pt x="3146531" y="51449"/>
                </a:cubicBezTo>
                <a:cubicBezTo>
                  <a:pt x="3264077" y="85540"/>
                  <a:pt x="3372000" y="136571"/>
                  <a:pt x="3467375" y="204124"/>
                </a:cubicBezTo>
                <a:cubicBezTo>
                  <a:pt x="3467375" y="204124"/>
                  <a:pt x="3467375" y="204124"/>
                  <a:pt x="3340627" y="403228"/>
                </a:cubicBezTo>
                <a:cubicBezTo>
                  <a:pt x="3340627" y="403228"/>
                  <a:pt x="3340627" y="403228"/>
                  <a:pt x="3213880" y="602542"/>
                </a:cubicBezTo>
                <a:cubicBezTo>
                  <a:pt x="3153015" y="556321"/>
                  <a:pt x="3084622" y="520976"/>
                  <a:pt x="3009743" y="496716"/>
                </a:cubicBezTo>
                <a:cubicBezTo>
                  <a:pt x="2934865" y="472455"/>
                  <a:pt x="2853295" y="459279"/>
                  <a:pt x="2766077" y="457606"/>
                </a:cubicBezTo>
                <a:cubicBezTo>
                  <a:pt x="2556923" y="459279"/>
                  <a:pt x="2368473" y="545655"/>
                  <a:pt x="2232314" y="681180"/>
                </a:cubicBezTo>
                <a:cubicBezTo>
                  <a:pt x="2095946" y="816496"/>
                  <a:pt x="2012073" y="1000960"/>
                  <a:pt x="2012073" y="1198391"/>
                </a:cubicBezTo>
                <a:cubicBezTo>
                  <a:pt x="2012073" y="1399378"/>
                  <a:pt x="2095946" y="1585307"/>
                  <a:pt x="2232314" y="1721250"/>
                </a:cubicBezTo>
                <a:cubicBezTo>
                  <a:pt x="2368473" y="1856984"/>
                  <a:pt x="2556923" y="1942732"/>
                  <a:pt x="2766077" y="1942732"/>
                </a:cubicBezTo>
                <a:cubicBezTo>
                  <a:pt x="2868145" y="1942732"/>
                  <a:pt x="2962893" y="1923700"/>
                  <a:pt x="3050111" y="1886682"/>
                </a:cubicBezTo>
                <a:cubicBezTo>
                  <a:pt x="3137328" y="1849664"/>
                  <a:pt x="3217225" y="1794450"/>
                  <a:pt x="3289594" y="1722086"/>
                </a:cubicBezTo>
                <a:cubicBezTo>
                  <a:pt x="3462565" y="1549125"/>
                  <a:pt x="3493101" y="1332661"/>
                  <a:pt x="3543925" y="1095493"/>
                </a:cubicBezTo>
                <a:cubicBezTo>
                  <a:pt x="3595168" y="858533"/>
                  <a:pt x="3666699" y="600869"/>
                  <a:pt x="3921866" y="345714"/>
                </a:cubicBezTo>
                <a:cubicBezTo>
                  <a:pt x="4028953" y="238633"/>
                  <a:pt x="4155701" y="152256"/>
                  <a:pt x="4300646" y="92441"/>
                </a:cubicBezTo>
                <a:cubicBezTo>
                  <a:pt x="4445590" y="32836"/>
                  <a:pt x="4608522" y="0"/>
                  <a:pt x="4787977" y="0"/>
                </a:cubicBezTo>
                <a:cubicBezTo>
                  <a:pt x="4922882" y="0"/>
                  <a:pt x="5050676" y="18823"/>
                  <a:pt x="5168221" y="54796"/>
                </a:cubicBezTo>
                <a:cubicBezTo>
                  <a:pt x="5285976" y="90559"/>
                  <a:pt x="5393900" y="143054"/>
                  <a:pt x="5489275" y="210607"/>
                </a:cubicBezTo>
                <a:cubicBezTo>
                  <a:pt x="5489275" y="210607"/>
                  <a:pt x="5489275" y="210607"/>
                  <a:pt x="5364200" y="409921"/>
                </a:cubicBezTo>
                <a:cubicBezTo>
                  <a:pt x="5364200" y="409921"/>
                  <a:pt x="5364200" y="409921"/>
                  <a:pt x="5239125" y="609025"/>
                </a:cubicBezTo>
                <a:cubicBezTo>
                  <a:pt x="5176588" y="563014"/>
                  <a:pt x="5107357" y="525996"/>
                  <a:pt x="5031643" y="500480"/>
                </a:cubicBezTo>
                <a:cubicBezTo>
                  <a:pt x="4955929" y="474965"/>
                  <a:pt x="4873522" y="460952"/>
                  <a:pt x="4784631" y="460952"/>
                </a:cubicBezTo>
                <a:cubicBezTo>
                  <a:pt x="4580495" y="460952"/>
                  <a:pt x="4396857" y="544818"/>
                  <a:pt x="4264462" y="679089"/>
                </a:cubicBezTo>
                <a:cubicBezTo>
                  <a:pt x="4131857" y="813149"/>
                  <a:pt x="4050287" y="997614"/>
                  <a:pt x="4050287" y="1198391"/>
                </a:cubicBezTo>
                <a:cubicBezTo>
                  <a:pt x="4050287" y="1402724"/>
                  <a:pt x="4131021" y="1589489"/>
                  <a:pt x="4262370" y="1725223"/>
                </a:cubicBezTo>
                <a:cubicBezTo>
                  <a:pt x="4393720" y="1861167"/>
                  <a:pt x="4575477" y="1945870"/>
                  <a:pt x="4778147" y="1945870"/>
                </a:cubicBezTo>
                <a:cubicBezTo>
                  <a:pt x="4939406" y="1945870"/>
                  <a:pt x="5080167" y="1893165"/>
                  <a:pt x="5191438" y="1804280"/>
                </a:cubicBezTo>
                <a:cubicBezTo>
                  <a:pt x="5302499" y="1715394"/>
                  <a:pt x="5384070" y="1590326"/>
                  <a:pt x="5426737" y="1445390"/>
                </a:cubicBezTo>
                <a:cubicBezTo>
                  <a:pt x="5426737" y="1445390"/>
                  <a:pt x="5426737" y="1445390"/>
                  <a:pt x="4708917" y="1445390"/>
                </a:cubicBezTo>
                <a:cubicBezTo>
                  <a:pt x="4708917" y="1445390"/>
                  <a:pt x="4708917" y="1445390"/>
                  <a:pt x="4850515" y="1223279"/>
                </a:cubicBezTo>
                <a:cubicBezTo>
                  <a:pt x="4850515" y="1223279"/>
                  <a:pt x="4850515" y="1223279"/>
                  <a:pt x="4992113" y="1000960"/>
                </a:cubicBezTo>
                <a:cubicBezTo>
                  <a:pt x="4992113" y="1000960"/>
                  <a:pt x="4992113" y="1000960"/>
                  <a:pt x="5457901" y="1000960"/>
                </a:cubicBezTo>
                <a:cubicBezTo>
                  <a:pt x="5457901" y="1000960"/>
                  <a:pt x="5457901" y="1000960"/>
                  <a:pt x="5924108" y="1000960"/>
                </a:cubicBezTo>
                <a:cubicBezTo>
                  <a:pt x="5928919" y="1033796"/>
                  <a:pt x="5933102" y="1066840"/>
                  <a:pt x="5936030" y="1100094"/>
                </a:cubicBezTo>
                <a:cubicBezTo>
                  <a:pt x="5938749" y="1133557"/>
                  <a:pt x="5940422" y="1167229"/>
                  <a:pt x="5940422" y="1201738"/>
                </a:cubicBezTo>
                <a:cubicBezTo>
                  <a:pt x="5940422" y="1532602"/>
                  <a:pt x="5812001" y="1833141"/>
                  <a:pt x="5600963" y="2050860"/>
                </a:cubicBezTo>
                <a:cubicBezTo>
                  <a:pt x="5389717" y="2268578"/>
                  <a:pt x="5095854" y="2403475"/>
                  <a:pt x="4764970" y="2403475"/>
                </a:cubicBezTo>
                <a:cubicBezTo>
                  <a:pt x="4549331" y="2403475"/>
                  <a:pt x="4350006" y="2352653"/>
                  <a:pt x="4178290" y="2262513"/>
                </a:cubicBezTo>
                <a:cubicBezTo>
                  <a:pt x="4006784" y="2172372"/>
                  <a:pt x="3862676" y="2043121"/>
                  <a:pt x="3757265" y="1886682"/>
                </a:cubicBezTo>
                <a:cubicBezTo>
                  <a:pt x="3647040" y="2044794"/>
                  <a:pt x="3502931" y="2173836"/>
                  <a:pt x="3332469" y="2263558"/>
                </a:cubicBezTo>
                <a:cubicBezTo>
                  <a:pt x="3162009" y="2353490"/>
                  <a:pt x="2965403" y="2403475"/>
                  <a:pt x="2749555" y="2403475"/>
                </a:cubicBezTo>
                <a:cubicBezTo>
                  <a:pt x="2566961" y="2403475"/>
                  <a:pt x="2395664" y="2364993"/>
                  <a:pt x="2242563" y="2295766"/>
                </a:cubicBezTo>
                <a:cubicBezTo>
                  <a:pt x="2089461" y="2226540"/>
                  <a:pt x="1954347" y="2126988"/>
                  <a:pt x="1844121" y="2005266"/>
                </a:cubicBezTo>
                <a:cubicBezTo>
                  <a:pt x="1783258" y="2108792"/>
                  <a:pt x="1694366" y="2196214"/>
                  <a:pt x="1583096" y="2257493"/>
                </a:cubicBezTo>
                <a:cubicBezTo>
                  <a:pt x="1472034" y="2318772"/>
                  <a:pt x="1338593" y="2354117"/>
                  <a:pt x="1188838" y="2354117"/>
                </a:cubicBezTo>
                <a:cubicBezTo>
                  <a:pt x="1188838" y="2354117"/>
                  <a:pt x="1188838" y="2354117"/>
                  <a:pt x="0" y="2354117"/>
                </a:cubicBezTo>
                <a:cubicBezTo>
                  <a:pt x="0" y="2354117"/>
                  <a:pt x="0" y="2354117"/>
                  <a:pt x="0" y="1201738"/>
                </a:cubicBezTo>
                <a:cubicBezTo>
                  <a:pt x="0" y="1201738"/>
                  <a:pt x="0" y="1201738"/>
                  <a:pt x="0" y="49358"/>
                </a:cubicBezTo>
                <a:cubicBezTo>
                  <a:pt x="0" y="49358"/>
                  <a:pt x="0" y="49358"/>
                  <a:pt x="538575" y="49358"/>
                </a:cubicBezTo>
                <a:cubicBezTo>
                  <a:pt x="538575" y="49358"/>
                  <a:pt x="538575" y="49358"/>
                  <a:pt x="1076940" y="49358"/>
                </a:cubicBezTo>
                <a:cubicBezTo>
                  <a:pt x="1249702" y="49358"/>
                  <a:pt x="1402804" y="96206"/>
                  <a:pt x="1523487" y="176099"/>
                </a:cubicBezTo>
                <a:cubicBezTo>
                  <a:pt x="1643960" y="255992"/>
                  <a:pt x="1732223" y="368720"/>
                  <a:pt x="1774892" y="500480"/>
                </a:cubicBezTo>
                <a:cubicBezTo>
                  <a:pt x="1883653" y="350524"/>
                  <a:pt x="2027552" y="225457"/>
                  <a:pt x="2196549" y="137826"/>
                </a:cubicBezTo>
                <a:cubicBezTo>
                  <a:pt x="2365129" y="50195"/>
                  <a:pt x="2558596" y="0"/>
                  <a:pt x="276607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p>
        </p:txBody>
      </p:sp>
    </p:spTree>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D. Title Only">
    <p:spTree>
      <p:nvGrpSpPr>
        <p:cNvPr id="1" name=""/>
        <p:cNvGrpSpPr/>
        <p:nvPr/>
      </p:nvGrpSpPr>
      <p:grpSpPr>
        <a:xfrm>
          <a:off x="0" y="0"/>
          <a:ext cx="0" cy="0"/>
          <a:chOff x="0" y="0"/>
          <a:chExt cx="0" cy="0"/>
        </a:xfrm>
      </p:grpSpPr>
      <p:sp>
        <p:nvSpPr>
          <p:cNvPr id="57" name="Date Placeholder 56"/>
          <p:cNvSpPr>
            <a:spLocks noGrp="1"/>
          </p:cNvSpPr>
          <p:nvPr>
            <p:ph type="dt" sz="half" idx="14"/>
          </p:nvPr>
        </p:nvSpPr>
        <p:spPr/>
        <p:txBody>
          <a:bodyPr/>
          <a:lstStyle>
            <a:lvl1pPr>
              <a:defRPr>
                <a:solidFill>
                  <a:schemeClr val="bg1">
                    <a:lumMod val="50000"/>
                  </a:schemeClr>
                </a:solidFill>
                <a:latin typeface="+mn-lt"/>
                <a:sym typeface="Trebuchet MS" panose="020B0603020202020204" pitchFamily="34" charset="0"/>
              </a:defRPr>
            </a:lvl1pPr>
          </a:lstStyle>
          <a:p>
            <a:endParaRPr lang="en-US"/>
          </a:p>
        </p:txBody>
      </p:sp>
      <p:sp>
        <p:nvSpPr>
          <p:cNvPr id="7"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2024 by Boston Consulting Group. All rights reserved.</a:t>
            </a:r>
          </a:p>
        </p:txBody>
      </p:sp>
      <p:sp>
        <p:nvSpPr>
          <p:cNvPr id="8" name="Title 7"/>
          <p:cNvSpPr>
            <a:spLocks noGrp="1"/>
          </p:cNvSpPr>
          <p:nvPr>
            <p:ph type="title" hasCustomPrompt="1"/>
          </p:nvPr>
        </p:nvSpPr>
        <p:spPr>
          <a:xfrm>
            <a:off x="630000" y="622800"/>
            <a:ext cx="10933350" cy="332399"/>
          </a:xfrm>
        </p:spPr>
        <p:txBody>
          <a:bodyPr/>
          <a:lstStyle>
            <a:lvl1pPr>
              <a:defRPr>
                <a:latin typeface="+mj-lt"/>
                <a:sym typeface="Trebuchet MS" panose="020B0603020202020204" pitchFamily="34" charset="0"/>
              </a:defRPr>
            </a:lvl1pPr>
          </a:lstStyle>
          <a:p>
            <a:r>
              <a:rPr lang="en-US"/>
              <a:t>Click to add title</a:t>
            </a:r>
          </a:p>
        </p:txBody>
      </p:sp>
    </p:spTree>
    <p:extLst>
      <p:ext uri="{BB962C8B-B14F-4D97-AF65-F5344CB8AC3E}">
        <p14:creationId xmlns:p14="http://schemas.microsoft.com/office/powerpoint/2010/main" val="222069856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4320" userDrawn="1">
          <p15:clr>
            <a:srgbClr val="FBAE40"/>
          </p15:clr>
        </p15:guide>
      </p15:sldGuideLst>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D. Title an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B083126-25E7-42D8-B799-608CFD4DF6C3}"/>
              </a:ext>
            </a:extLst>
          </p:cNvPr>
          <p:cNvSpPr>
            <a:spLocks noGrp="1"/>
          </p:cNvSpPr>
          <p:nvPr>
            <p:ph type="title" hasCustomPrompt="1"/>
          </p:nvPr>
        </p:nvSpPr>
        <p:spPr/>
        <p:txBody>
          <a:bodyPr/>
          <a:lstStyle/>
          <a:p>
            <a:r>
              <a:rPr lang="en-US"/>
              <a:t>Click to add title</a:t>
            </a:r>
          </a:p>
        </p:txBody>
      </p:sp>
      <p:sp>
        <p:nvSpPr>
          <p:cNvPr id="6" name="Text Placeholder 5">
            <a:extLst>
              <a:ext uri="{FF2B5EF4-FFF2-40B4-BE49-F238E27FC236}">
                <a16:creationId xmlns:a16="http://schemas.microsoft.com/office/drawing/2014/main" id="{FAD1DA01-0E73-44DE-A132-B4FF1E70A315}"/>
              </a:ext>
            </a:extLst>
          </p:cNvPr>
          <p:cNvSpPr>
            <a:spLocks noGrp="1"/>
          </p:cNvSpPr>
          <p:nvPr>
            <p:ph type="body" sz="quarter" idx="10"/>
          </p:nvPr>
        </p:nvSpPr>
        <p:spPr>
          <a:xfrm>
            <a:off x="629400" y="2085628"/>
            <a:ext cx="10933950" cy="4072976"/>
          </a:xfrm>
        </p:spPr>
        <p:txBody>
          <a:bodyPr/>
          <a:lstStyle>
            <a:lvl1pPr>
              <a:lnSpc>
                <a:spcPct val="100000"/>
              </a:lnSpc>
              <a:spcBef>
                <a:spcPts val="0"/>
              </a:spcBef>
              <a:spcAft>
                <a:spcPts val="0"/>
              </a:spcAft>
              <a:defRPr/>
            </a:lvl1pPr>
            <a:lvl2pPr>
              <a:lnSpc>
                <a:spcPct val="100000"/>
              </a:lnSpc>
              <a:spcBef>
                <a:spcPts val="0"/>
              </a:spcBef>
              <a:spcAft>
                <a:spcPts val="0"/>
              </a:spcAft>
              <a:defRPr/>
            </a:lvl2pPr>
            <a:lvl3pPr>
              <a:lnSpc>
                <a:spcPct val="100000"/>
              </a:lnSpc>
              <a:spcBef>
                <a:spcPts val="0"/>
              </a:spcBef>
              <a:spcAft>
                <a:spcPts val="0"/>
              </a:spcAft>
              <a:defRPr/>
            </a:lvl3pPr>
            <a:lvl4pPr>
              <a:lnSpc>
                <a:spcPct val="100000"/>
              </a:lnSpc>
              <a:spcBef>
                <a:spcPts val="0"/>
              </a:spcBef>
              <a:spcAft>
                <a:spcPts val="0"/>
              </a:spcAft>
              <a:defRPr/>
            </a:lvl4pPr>
            <a:lvl5pPr>
              <a:lnSpc>
                <a:spcPct val="100000"/>
              </a:lnSpc>
              <a:spcBef>
                <a:spcPts val="0"/>
              </a:spcBef>
              <a:spcAft>
                <a:spcPts val="0"/>
              </a:spcAf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2024 by Boston Consulting Group. All rights reserved.</a:t>
            </a:r>
          </a:p>
        </p:txBody>
      </p:sp>
    </p:spTree>
    <p:extLst>
      <p:ext uri="{BB962C8B-B14F-4D97-AF65-F5344CB8AC3E}">
        <p14:creationId xmlns:p14="http://schemas.microsoft.com/office/powerpoint/2010/main" val="40434002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D. Gray slice heading">
    <p:bg>
      <p:bgPr>
        <a:solidFill>
          <a:schemeClr val="bg1"/>
        </a:solidFill>
        <a:effectLst/>
      </p:bgPr>
    </p:bg>
    <p:spTree>
      <p:nvGrpSpPr>
        <p:cNvPr id="1" name=""/>
        <p:cNvGrpSpPr/>
        <p:nvPr/>
      </p:nvGrpSpPr>
      <p:grpSpPr>
        <a:xfrm>
          <a:off x="0" y="0"/>
          <a:ext cx="0" cy="0"/>
          <a:chOff x="0" y="0"/>
          <a:chExt cx="0" cy="0"/>
        </a:xfrm>
      </p:grpSpPr>
      <p:sp>
        <p:nvSpPr>
          <p:cNvPr id="4" name="Date Placeholder 3"/>
          <p:cNvSpPr>
            <a:spLocks noGrp="1"/>
          </p:cNvSpPr>
          <p:nvPr>
            <p:ph type="dt" sz="half" idx="14"/>
          </p:nvPr>
        </p:nvSpPr>
        <p:spPr/>
        <p:txBody>
          <a:bodyPr/>
          <a:lstStyle>
            <a:lvl1pPr>
              <a:defRPr>
                <a:solidFill>
                  <a:schemeClr val="bg1">
                    <a:lumMod val="50000"/>
                  </a:schemeClr>
                </a:solidFill>
                <a:latin typeface="+mn-lt"/>
                <a:sym typeface="Trebuchet MS" panose="020B0603020202020204" pitchFamily="34" charset="0"/>
              </a:defRPr>
            </a:lvl1pPr>
          </a:lstStyle>
          <a:p>
            <a:endParaRPr lang="en-US"/>
          </a:p>
        </p:txBody>
      </p:sp>
      <p:sp>
        <p:nvSpPr>
          <p:cNvPr id="11"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2024 by Boston Consulting Group. All rights reserved.</a:t>
            </a:r>
          </a:p>
        </p:txBody>
      </p:sp>
      <p:sp>
        <p:nvSpPr>
          <p:cNvPr id="7" name="Rectangle 6"/>
          <p:cNvSpPr/>
          <p:nvPr userDrawn="1"/>
        </p:nvSpPr>
        <p:spPr bwMode="white">
          <a:xfrm>
            <a:off x="1" y="-1309"/>
            <a:ext cx="4694400" cy="6859309"/>
          </a:xfrm>
          <a:prstGeom prst="rect">
            <a:avLst/>
          </a:prstGeom>
          <a:solidFill>
            <a:srgbClr val="F2F2F2"/>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lnSpc>
                <a:spcPct val="90000"/>
              </a:lnSpc>
              <a:spcAft>
                <a:spcPts val="1000"/>
              </a:spcAft>
            </a:pPr>
            <a:endParaRPr lang="en-US" sz="1200">
              <a:solidFill>
                <a:schemeClr val="bg1"/>
              </a:solidFill>
              <a:latin typeface="+mn-lt"/>
              <a:sym typeface="Trebuchet MS" panose="020B0603020202020204" pitchFamily="34" charset="0"/>
            </a:endParaRPr>
          </a:p>
        </p:txBody>
      </p:sp>
      <p:sp>
        <p:nvSpPr>
          <p:cNvPr id="8" name="Subtitle 2"/>
          <p:cNvSpPr>
            <a:spLocks noGrp="1"/>
          </p:cNvSpPr>
          <p:nvPr>
            <p:ph type="subTitle" idx="13" hasCustomPrompt="1"/>
          </p:nvPr>
        </p:nvSpPr>
        <p:spPr>
          <a:xfrm>
            <a:off x="630000" y="2158987"/>
            <a:ext cx="3744000" cy="541687"/>
          </a:xfrm>
          <a:prstGeom prst="rect">
            <a:avLst/>
          </a:prstGeom>
        </p:spPr>
        <p:txBody>
          <a:bodyPr>
            <a:noAutofit/>
          </a:bodyPr>
          <a:lstStyle>
            <a:lvl1pPr marL="0" indent="0" algn="l">
              <a:buNone/>
              <a:defRPr sz="1600">
                <a:solidFill>
                  <a:schemeClr val="tx2"/>
                </a:solidFill>
                <a:latin typeface="+mn-lt"/>
                <a:sym typeface="Trebuchet MS" panose="020B0603020202020204" pitchFamily="34"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subtitle</a:t>
            </a:r>
          </a:p>
        </p:txBody>
      </p:sp>
      <p:sp>
        <p:nvSpPr>
          <p:cNvPr id="9" name="Title 4"/>
          <p:cNvSpPr>
            <a:spLocks noGrp="1"/>
          </p:cNvSpPr>
          <p:nvPr>
            <p:ph type="title" hasCustomPrompt="1"/>
          </p:nvPr>
        </p:nvSpPr>
        <p:spPr>
          <a:xfrm>
            <a:off x="630000" y="1227048"/>
            <a:ext cx="3744000" cy="664797"/>
          </a:xfrm>
        </p:spPr>
        <p:txBody>
          <a:bodyPr anchor="t">
            <a:noAutofit/>
          </a:bodyPr>
          <a:lstStyle>
            <a:lvl1pPr>
              <a:defRPr sz="2400">
                <a:solidFill>
                  <a:schemeClr val="tx2"/>
                </a:solidFill>
                <a:latin typeface="+mj-lt"/>
                <a:sym typeface="Trebuchet MS" panose="020B0603020202020204" pitchFamily="34" charset="0"/>
              </a:defRPr>
            </a:lvl1pPr>
          </a:lstStyle>
          <a:p>
            <a:r>
              <a:rPr lang="en-US"/>
              <a:t>Click to add title</a:t>
            </a:r>
          </a:p>
        </p:txBody>
      </p:sp>
    </p:spTree>
    <p:extLst>
      <p:ext uri="{BB962C8B-B14F-4D97-AF65-F5344CB8AC3E}">
        <p14:creationId xmlns:p14="http://schemas.microsoft.com/office/powerpoint/2010/main" val="390075308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D. Section header box">
    <p:spTree>
      <p:nvGrpSpPr>
        <p:cNvPr id="1" name=""/>
        <p:cNvGrpSpPr/>
        <p:nvPr/>
      </p:nvGrpSpPr>
      <p:grpSpPr>
        <a:xfrm>
          <a:off x="0" y="0"/>
          <a:ext cx="0" cy="0"/>
          <a:chOff x="0" y="0"/>
          <a:chExt cx="0" cy="0"/>
        </a:xfrm>
      </p:grpSpPr>
      <p:sp>
        <p:nvSpPr>
          <p:cNvPr id="9" name="Date Placeholder 8"/>
          <p:cNvSpPr>
            <a:spLocks noGrp="1"/>
          </p:cNvSpPr>
          <p:nvPr>
            <p:ph type="dt" sz="half" idx="10"/>
          </p:nvPr>
        </p:nvSpPr>
        <p:spPr/>
        <p:txBody>
          <a:bodyPr/>
          <a:lstStyle>
            <a:lvl1pPr>
              <a:defRPr>
                <a:solidFill>
                  <a:schemeClr val="bg1">
                    <a:lumMod val="50000"/>
                  </a:schemeClr>
                </a:solidFill>
                <a:latin typeface="+mn-lt"/>
                <a:sym typeface="Trebuchet MS" panose="020B0603020202020204" pitchFamily="34" charset="0"/>
              </a:defRPr>
            </a:lvl1pPr>
          </a:lstStyle>
          <a:p>
            <a:endParaRPr lang="en-US"/>
          </a:p>
        </p:txBody>
      </p:sp>
      <p:sp>
        <p:nvSpPr>
          <p:cNvPr id="12"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2024 by Boston Consulting Group. All rights reserved.</a:t>
            </a:r>
          </a:p>
        </p:txBody>
      </p:sp>
      <p:sp>
        <p:nvSpPr>
          <p:cNvPr id="8" name="Title 1"/>
          <p:cNvSpPr>
            <a:spLocks noGrp="1"/>
          </p:cNvSpPr>
          <p:nvPr>
            <p:ph type="title" hasCustomPrompt="1"/>
          </p:nvPr>
        </p:nvSpPr>
        <p:spPr bwMode="blackWhite">
          <a:xfrm>
            <a:off x="1284742" y="2668041"/>
            <a:ext cx="9620491" cy="3201026"/>
          </a:xfrm>
          <a:prstGeom prst="rect">
            <a:avLst/>
          </a:prstGeom>
          <a:ln w="9525">
            <a:noFill/>
          </a:ln>
          <a:extLst>
            <a:ext uri="{91240B29-F687-4F45-9708-019B960494DF}">
              <a14:hiddenLine xmlns:a14="http://schemas.microsoft.com/office/drawing/2010/main" w="9525">
                <a:solidFill>
                  <a:schemeClr val="bg1"/>
                </a:solidFill>
              </a14:hiddenLine>
            </a:ext>
          </a:extLst>
        </p:spPr>
        <p:txBody>
          <a:bodyPr lIns="274320" tIns="274320" rIns="274320" bIns="137160" anchor="b">
            <a:noAutofit/>
          </a:bodyPr>
          <a:lstStyle>
            <a:lvl1pPr marL="0" algn="l" defTabSz="914400" rtl="0" eaLnBrk="1" fontAlgn="auto" latinLnBrk="0" hangingPunct="1">
              <a:lnSpc>
                <a:spcPts val="6000"/>
              </a:lnSpc>
              <a:spcBef>
                <a:spcPts val="0"/>
              </a:spcBef>
              <a:spcAft>
                <a:spcPts val="0"/>
              </a:spcAft>
              <a:defRPr lang="en-US" sz="5400" kern="1200" baseline="0" dirty="0">
                <a:solidFill>
                  <a:schemeClr val="tx2"/>
                </a:solidFill>
                <a:latin typeface="+mj-lt"/>
                <a:ea typeface="+mn-ea"/>
                <a:cs typeface="Arial" panose="020B0604020202020204" pitchFamily="34" charset="0"/>
                <a:sym typeface="Trebuchet MS" panose="020B0603020202020204" pitchFamily="34" charset="0"/>
              </a:defRPr>
            </a:lvl1pPr>
          </a:lstStyle>
          <a:p>
            <a:r>
              <a:rPr lang="en-US"/>
              <a:t>Click to add section title</a:t>
            </a:r>
          </a:p>
        </p:txBody>
      </p:sp>
      <p:sp>
        <p:nvSpPr>
          <p:cNvPr id="11" name="Rectangle 10"/>
          <p:cNvSpPr/>
          <p:nvPr userDrawn="1"/>
        </p:nvSpPr>
        <p:spPr bwMode="white">
          <a:xfrm>
            <a:off x="1280693" y="1424081"/>
            <a:ext cx="951721" cy="951721"/>
          </a:xfrm>
          <a:prstGeom prst="rect">
            <a:avLst/>
          </a:prstGeom>
          <a:noFill/>
          <a:ln>
            <a:solidFill>
              <a:schemeClr val="tx2"/>
            </a:solid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l"/>
            <a:endParaRPr lang="en-US" sz="1200">
              <a:solidFill>
                <a:schemeClr val="bg1"/>
              </a:solidFill>
              <a:latin typeface="+mn-lt"/>
              <a:sym typeface="Trebuchet MS" panose="020B0603020202020204" pitchFamily="34" charset="0"/>
            </a:endParaRPr>
          </a:p>
        </p:txBody>
      </p:sp>
    </p:spTree>
    <p:extLst>
      <p:ext uri="{BB962C8B-B14F-4D97-AF65-F5344CB8AC3E}">
        <p14:creationId xmlns:p14="http://schemas.microsoft.com/office/powerpoint/2010/main" val="281990472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D. Section header line">
    <p:bg bwMode="blackWhite">
      <p:bgPr>
        <a:solidFill>
          <a:schemeClr val="bg1"/>
        </a:solidFill>
        <a:effectLst/>
      </p:bgPr>
    </p:bg>
    <p:spTree>
      <p:nvGrpSpPr>
        <p:cNvPr id="1" name=""/>
        <p:cNvGrpSpPr/>
        <p:nvPr/>
      </p:nvGrpSpPr>
      <p:grpSpPr>
        <a:xfrm>
          <a:off x="0" y="0"/>
          <a:ext cx="0" cy="0"/>
          <a:chOff x="0" y="0"/>
          <a:chExt cx="0" cy="0"/>
        </a:xfrm>
      </p:grpSpPr>
      <p:sp>
        <p:nvSpPr>
          <p:cNvPr id="9" name="Date Placeholder 8"/>
          <p:cNvSpPr>
            <a:spLocks noGrp="1"/>
          </p:cNvSpPr>
          <p:nvPr>
            <p:ph type="dt" sz="half" idx="10"/>
          </p:nvPr>
        </p:nvSpPr>
        <p:spPr/>
        <p:txBody>
          <a:bodyPr/>
          <a:lstStyle>
            <a:lvl1pPr>
              <a:defRPr>
                <a:solidFill>
                  <a:schemeClr val="bg1">
                    <a:lumMod val="50000"/>
                  </a:schemeClr>
                </a:solidFill>
                <a:latin typeface="+mn-lt"/>
                <a:sym typeface="Trebuchet MS" panose="020B0603020202020204" pitchFamily="34" charset="0"/>
              </a:defRPr>
            </a:lvl1pPr>
          </a:lstStyle>
          <a:p>
            <a:endParaRPr lang="en-US"/>
          </a:p>
        </p:txBody>
      </p:sp>
      <p:sp>
        <p:nvSpPr>
          <p:cNvPr id="7" name="Title 1"/>
          <p:cNvSpPr>
            <a:spLocks noGrp="1"/>
          </p:cNvSpPr>
          <p:nvPr>
            <p:ph type="title" hasCustomPrompt="1"/>
          </p:nvPr>
        </p:nvSpPr>
        <p:spPr bwMode="blackWhite">
          <a:xfrm>
            <a:off x="630000" y="3826800"/>
            <a:ext cx="10936800" cy="2041200"/>
          </a:xfrm>
        </p:spPr>
        <p:txBody>
          <a:bodyPr anchor="t">
            <a:noAutofit/>
          </a:bodyPr>
          <a:lstStyle>
            <a:lvl1pPr>
              <a:defRPr sz="5400">
                <a:solidFill>
                  <a:schemeClr val="tx2"/>
                </a:solidFill>
                <a:latin typeface="+mj-lt"/>
                <a:sym typeface="Trebuchet MS" panose="020B0603020202020204" pitchFamily="34" charset="0"/>
              </a:defRPr>
            </a:lvl1pPr>
          </a:lstStyle>
          <a:p>
            <a:r>
              <a:rPr lang="en-US"/>
              <a:t>Click to add section title</a:t>
            </a:r>
          </a:p>
        </p:txBody>
      </p:sp>
      <p:cxnSp>
        <p:nvCxnSpPr>
          <p:cNvPr id="10" name="Straight Connector 9"/>
          <p:cNvCxnSpPr/>
          <p:nvPr userDrawn="1"/>
        </p:nvCxnSpPr>
        <p:spPr bwMode="white">
          <a:xfrm>
            <a:off x="630000" y="3680016"/>
            <a:ext cx="11558587" cy="0"/>
          </a:xfrm>
          <a:prstGeom prst="line">
            <a:avLst/>
          </a:prstGeom>
          <a:ln w="19050" cmpd="sng">
            <a:solidFill>
              <a:schemeClr val="tx2"/>
            </a:solidFill>
            <a:miter lim="800000"/>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8052390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35.xml><?xml version="1.0" encoding="utf-8"?>
<p:sldLayout xmlns:a="http://schemas.openxmlformats.org/drawingml/2006/main" xmlns:r="http://schemas.openxmlformats.org/officeDocument/2006/relationships" xmlns:p="http://schemas.openxmlformats.org/presentationml/2006/main" showMasterSp="0" preserve="1" userDrawn="1">
  <p:cSld name="D. White one third">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pic>
        <p:nvPicPr>
          <p:cNvPr id="10" name="Picture 9"/>
          <p:cNvPicPr>
            <a:picLocks noChangeAspect="1"/>
          </p:cNvPicPr>
          <p:nvPr userDrawn="1"/>
        </p:nvPicPr>
        <p:blipFill rotWithShape="1">
          <a:blip r:embed="rId2">
            <a:extLst>
              <a:ext uri="{28A0092B-C50C-407E-A947-70E740481C1C}">
                <a14:useLocalDpi xmlns:a14="http://schemas.microsoft.com/office/drawing/2010/main" val="0"/>
              </a:ext>
            </a:extLst>
          </a:blip>
          <a:srcRect l="29398" t="8741" r="101" b="27"/>
          <a:stretch/>
        </p:blipFill>
        <p:spPr bwMode="ltGray">
          <a:xfrm flipV="1">
            <a:off x="4064994" y="0"/>
            <a:ext cx="416951" cy="6858000"/>
          </a:xfrm>
          <a:prstGeom prst="rect">
            <a:avLst/>
          </a:prstGeom>
        </p:spPr>
      </p:pic>
      <p:sp>
        <p:nvSpPr>
          <p:cNvPr id="18" name="Date Placeholder 1"/>
          <p:cNvSpPr>
            <a:spLocks noGrp="1"/>
          </p:cNvSpPr>
          <p:nvPr>
            <p:ph type="dt" sz="half" idx="31"/>
          </p:nvPr>
        </p:nvSpPr>
        <p:spPr>
          <a:xfrm>
            <a:off x="9677400" y="6405036"/>
            <a:ext cx="1482051" cy="153888"/>
          </a:xfrm>
          <a:prstGeom prst="rect">
            <a:avLst/>
          </a:prstGeom>
        </p:spPr>
        <p:txBody>
          <a:bodyPr/>
          <a:lstStyle>
            <a:lvl1pPr>
              <a:defRPr>
                <a:solidFill>
                  <a:schemeClr val="bg1"/>
                </a:solidFill>
                <a:latin typeface="+mn-lt"/>
                <a:sym typeface="Trebuchet MS" panose="020B0603020202020204" pitchFamily="34" charset="0"/>
              </a:defRPr>
            </a:lvl1pPr>
          </a:lstStyle>
          <a:p>
            <a:endParaRPr lang="en-US"/>
          </a:p>
        </p:txBody>
      </p:sp>
      <p:sp>
        <p:nvSpPr>
          <p:cNvPr id="20" name="TextBox 19"/>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
        <p:nvSpPr>
          <p:cNvPr id="22"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2024 by Boston Consulting Group. All rights reserved.</a:t>
            </a:r>
          </a:p>
        </p:txBody>
      </p:sp>
      <p:sp>
        <p:nvSpPr>
          <p:cNvPr id="24" name="Rectangle 23"/>
          <p:cNvSpPr/>
          <p:nvPr userDrawn="1"/>
        </p:nvSpPr>
        <p:spPr bwMode="white">
          <a:xfrm>
            <a:off x="0" y="0"/>
            <a:ext cx="4079508"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endParaRPr lang="en-US" sz="1200">
              <a:solidFill>
                <a:schemeClr val="bg1"/>
              </a:solidFill>
              <a:latin typeface="+mn-lt"/>
              <a:sym typeface="Trebuchet MS" panose="020B0603020202020204" pitchFamily="34" charset="0"/>
            </a:endParaRPr>
          </a:p>
        </p:txBody>
      </p:sp>
      <p:sp>
        <p:nvSpPr>
          <p:cNvPr id="25" name="Title 4"/>
          <p:cNvSpPr>
            <a:spLocks noGrp="1"/>
          </p:cNvSpPr>
          <p:nvPr>
            <p:ph type="title" hasCustomPrompt="1"/>
          </p:nvPr>
        </p:nvSpPr>
        <p:spPr>
          <a:xfrm>
            <a:off x="630000" y="2681103"/>
            <a:ext cx="3127881" cy="1495794"/>
          </a:xfrm>
          <a:prstGeom prst="rect">
            <a:avLst/>
          </a:prstGeom>
        </p:spPr>
        <p:txBody>
          <a:bodyPr anchor="ctr">
            <a:noAutofit/>
          </a:bodyPr>
          <a:lstStyle>
            <a:lvl1pPr>
              <a:defRPr sz="2400">
                <a:solidFill>
                  <a:schemeClr val="tx2"/>
                </a:solidFill>
                <a:latin typeface="+mj-lt"/>
                <a:sym typeface="Trebuchet MS" panose="020B0603020202020204" pitchFamily="34" charset="0"/>
              </a:defRPr>
            </a:lvl1pPr>
          </a:lstStyle>
          <a:p>
            <a:r>
              <a:rPr lang="en-US"/>
              <a:t>Click to add title</a:t>
            </a:r>
          </a:p>
        </p:txBody>
      </p:sp>
    </p:spTree>
    <p:extLst>
      <p:ext uri="{BB962C8B-B14F-4D97-AF65-F5344CB8AC3E}">
        <p14:creationId xmlns:p14="http://schemas.microsoft.com/office/powerpoint/2010/main" val="252236646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36.xml><?xml version="1.0" encoding="utf-8"?>
<p:sldLayout xmlns:a="http://schemas.openxmlformats.org/drawingml/2006/main" xmlns:r="http://schemas.openxmlformats.org/officeDocument/2006/relationships" xmlns:p="http://schemas.openxmlformats.org/presentationml/2006/main" showMasterSp="0" preserve="1" userDrawn="1">
  <p:cSld name="D. Green highlight">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pic>
        <p:nvPicPr>
          <p:cNvPr id="10" name="Picture 9"/>
          <p:cNvPicPr>
            <a:picLocks noChangeAspect="1"/>
          </p:cNvPicPr>
          <p:nvPr userDrawn="1"/>
        </p:nvPicPr>
        <p:blipFill rotWithShape="1">
          <a:blip r:embed="rId2">
            <a:extLst>
              <a:ext uri="{28A0092B-C50C-407E-A947-70E740481C1C}">
                <a14:useLocalDpi xmlns:a14="http://schemas.microsoft.com/office/drawing/2010/main" val="0"/>
              </a:ext>
            </a:extLst>
          </a:blip>
          <a:srcRect l="29398" t="8741" r="101" b="27"/>
          <a:stretch/>
        </p:blipFill>
        <p:spPr bwMode="ltGray">
          <a:xfrm flipV="1">
            <a:off x="7165606" y="0"/>
            <a:ext cx="416951" cy="6858000"/>
          </a:xfrm>
          <a:prstGeom prst="rect">
            <a:avLst/>
          </a:prstGeom>
        </p:spPr>
      </p:pic>
      <p:sp>
        <p:nvSpPr>
          <p:cNvPr id="14" name="Rectangle 13"/>
          <p:cNvSpPr/>
          <p:nvPr userDrawn="1"/>
        </p:nvSpPr>
        <p:spPr bwMode="white">
          <a:xfrm>
            <a:off x="0" y="0"/>
            <a:ext cx="7171956"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endParaRPr lang="en-US" sz="1200">
              <a:solidFill>
                <a:schemeClr val="bg1"/>
              </a:solidFill>
              <a:latin typeface="+mn-lt"/>
              <a:sym typeface="Trebuchet MS" panose="020B0603020202020204" pitchFamily="34" charset="0"/>
            </a:endParaRPr>
          </a:p>
        </p:txBody>
      </p:sp>
      <p:sp>
        <p:nvSpPr>
          <p:cNvPr id="18" name="Date Placeholder 2"/>
          <p:cNvSpPr>
            <a:spLocks noGrp="1"/>
          </p:cNvSpPr>
          <p:nvPr>
            <p:ph type="dt" sz="half" idx="10"/>
          </p:nvPr>
        </p:nvSpPr>
        <p:spPr>
          <a:xfrm>
            <a:off x="9677400" y="6405036"/>
            <a:ext cx="1482051" cy="153888"/>
          </a:xfrm>
          <a:prstGeom prst="rect">
            <a:avLst/>
          </a:prstGeom>
        </p:spPr>
        <p:txBody>
          <a:bodyPr/>
          <a:lstStyle>
            <a:lvl1pPr>
              <a:defRPr>
                <a:solidFill>
                  <a:schemeClr val="bg1"/>
                </a:solidFill>
                <a:latin typeface="+mn-lt"/>
                <a:sym typeface="Trebuchet MS" panose="020B0603020202020204" pitchFamily="34" charset="0"/>
              </a:defRPr>
            </a:lvl1pPr>
          </a:lstStyle>
          <a:p>
            <a:endParaRPr lang="en-US"/>
          </a:p>
        </p:txBody>
      </p:sp>
      <p:sp>
        <p:nvSpPr>
          <p:cNvPr id="19" name="TextBox 18"/>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
        <p:nvSpPr>
          <p:cNvPr id="21"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2024 by Boston Consulting Group. All rights reserved.</a:t>
            </a:r>
          </a:p>
        </p:txBody>
      </p:sp>
      <p:sp>
        <p:nvSpPr>
          <p:cNvPr id="2" name="Title 1"/>
          <p:cNvSpPr>
            <a:spLocks noGrp="1"/>
          </p:cNvSpPr>
          <p:nvPr>
            <p:ph type="title" hasCustomPrompt="1"/>
          </p:nvPr>
        </p:nvSpPr>
        <p:spPr>
          <a:xfrm>
            <a:off x="630000" y="622800"/>
            <a:ext cx="6276529" cy="332399"/>
          </a:xfrm>
          <a:prstGeom prst="rect">
            <a:avLst/>
          </a:prstGeom>
        </p:spPr>
        <p:txBody>
          <a:bodyPr/>
          <a:lstStyle>
            <a:lvl1pPr>
              <a:defRPr>
                <a:latin typeface="+mj-lt"/>
                <a:sym typeface="Trebuchet MS" panose="020B0603020202020204" pitchFamily="34" charset="0"/>
              </a:defRPr>
            </a:lvl1pPr>
          </a:lstStyle>
          <a:p>
            <a:r>
              <a:rPr lang="en-US"/>
              <a:t>Click to add title</a:t>
            </a:r>
          </a:p>
        </p:txBody>
      </p:sp>
    </p:spTree>
    <p:extLst>
      <p:ext uri="{BB962C8B-B14F-4D97-AF65-F5344CB8AC3E}">
        <p14:creationId xmlns:p14="http://schemas.microsoft.com/office/powerpoint/2010/main" val="348294563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37.xml><?xml version="1.0" encoding="utf-8"?>
<p:sldLayout xmlns:a="http://schemas.openxmlformats.org/drawingml/2006/main" xmlns:r="http://schemas.openxmlformats.org/officeDocument/2006/relationships" xmlns:p="http://schemas.openxmlformats.org/presentationml/2006/main" showMasterSp="0" preserve="1" userDrawn="1">
  <p:cSld name="D. Four column green">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pic>
        <p:nvPicPr>
          <p:cNvPr id="16" name="Picture 15"/>
          <p:cNvPicPr>
            <a:picLocks noChangeAspect="1"/>
          </p:cNvPicPr>
          <p:nvPr userDrawn="1"/>
        </p:nvPicPr>
        <p:blipFill rotWithShape="1">
          <a:blip r:embed="rId2">
            <a:extLst>
              <a:ext uri="{28A0092B-C50C-407E-A947-70E740481C1C}">
                <a14:useLocalDpi xmlns:a14="http://schemas.microsoft.com/office/drawing/2010/main" val="0"/>
              </a:ext>
            </a:extLst>
          </a:blip>
          <a:srcRect l="29398" t="8741" r="101" b="27"/>
          <a:stretch/>
        </p:blipFill>
        <p:spPr bwMode="ltGray">
          <a:xfrm flipV="1">
            <a:off x="9029246" y="0"/>
            <a:ext cx="416951" cy="6858000"/>
          </a:xfrm>
          <a:prstGeom prst="rect">
            <a:avLst/>
          </a:prstGeom>
        </p:spPr>
      </p:pic>
      <p:sp>
        <p:nvSpPr>
          <p:cNvPr id="10" name="Rectangle 9"/>
          <p:cNvSpPr/>
          <p:nvPr userDrawn="1"/>
        </p:nvSpPr>
        <p:spPr bwMode="white">
          <a:xfrm>
            <a:off x="0" y="0"/>
            <a:ext cx="9034272"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endParaRPr lang="en-US" sz="1200">
              <a:solidFill>
                <a:schemeClr val="bg1"/>
              </a:solidFill>
              <a:latin typeface="+mn-lt"/>
              <a:sym typeface="Trebuchet MS" panose="020B0603020202020204" pitchFamily="34" charset="0"/>
            </a:endParaRPr>
          </a:p>
        </p:txBody>
      </p:sp>
      <p:sp>
        <p:nvSpPr>
          <p:cNvPr id="13" name="Date Placeholder 4"/>
          <p:cNvSpPr>
            <a:spLocks noGrp="1"/>
          </p:cNvSpPr>
          <p:nvPr>
            <p:ph type="dt" sz="half" idx="10"/>
          </p:nvPr>
        </p:nvSpPr>
        <p:spPr>
          <a:xfrm>
            <a:off x="9677400" y="6405036"/>
            <a:ext cx="1482051" cy="153888"/>
          </a:xfrm>
        </p:spPr>
        <p:txBody>
          <a:bodyPr/>
          <a:lstStyle>
            <a:lvl1pPr>
              <a:defRPr>
                <a:solidFill>
                  <a:schemeClr val="bg1"/>
                </a:solidFill>
                <a:latin typeface="+mn-lt"/>
                <a:sym typeface="Trebuchet MS" panose="020B0603020202020204" pitchFamily="34" charset="0"/>
              </a:defRPr>
            </a:lvl1pPr>
          </a:lstStyle>
          <a:p>
            <a:endParaRPr lang="en-US"/>
          </a:p>
        </p:txBody>
      </p:sp>
      <p:sp>
        <p:nvSpPr>
          <p:cNvPr id="22"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2024 by Boston Consulting Group. All rights reserved.</a:t>
            </a:r>
          </a:p>
        </p:txBody>
      </p:sp>
      <p:sp>
        <p:nvSpPr>
          <p:cNvPr id="15" name="TextBox 14"/>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
        <p:nvSpPr>
          <p:cNvPr id="2" name="Title 1"/>
          <p:cNvSpPr>
            <a:spLocks noGrp="1"/>
          </p:cNvSpPr>
          <p:nvPr>
            <p:ph type="title" hasCustomPrompt="1"/>
          </p:nvPr>
        </p:nvSpPr>
        <p:spPr>
          <a:xfrm>
            <a:off x="630000" y="622800"/>
            <a:ext cx="8101584" cy="332399"/>
          </a:xfrm>
          <a:prstGeom prst="rect">
            <a:avLst/>
          </a:prstGeom>
        </p:spPr>
        <p:txBody>
          <a:bodyPr/>
          <a:lstStyle>
            <a:lvl1pPr>
              <a:defRPr>
                <a:latin typeface="+mj-lt"/>
                <a:sym typeface="Trebuchet MS" panose="020B0603020202020204" pitchFamily="34" charset="0"/>
              </a:defRPr>
            </a:lvl1pPr>
          </a:lstStyle>
          <a:p>
            <a:r>
              <a:rPr lang="en-US"/>
              <a:t>Click to add title</a:t>
            </a:r>
          </a:p>
        </p:txBody>
      </p:sp>
    </p:spTree>
    <p:extLst>
      <p:ext uri="{BB962C8B-B14F-4D97-AF65-F5344CB8AC3E}">
        <p14:creationId xmlns:p14="http://schemas.microsoft.com/office/powerpoint/2010/main" val="379392254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38.xml><?xml version="1.0" encoding="utf-8"?>
<p:sldLayout xmlns:a="http://schemas.openxmlformats.org/drawingml/2006/main" xmlns:r="http://schemas.openxmlformats.org/officeDocument/2006/relationships" xmlns:p="http://schemas.openxmlformats.org/presentationml/2006/main" showMasterSp="0" preserve="1" userDrawn="1">
  <p:cSld name="D. Green one third">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pic>
        <p:nvPicPr>
          <p:cNvPr id="23" name="Picture 22"/>
          <p:cNvPicPr>
            <a:picLocks noChangeAspect="1"/>
          </p:cNvPicPr>
          <p:nvPr userDrawn="1"/>
        </p:nvPicPr>
        <p:blipFill rotWithShape="1">
          <a:blip r:embed="rId2">
            <a:extLst>
              <a:ext uri="{28A0092B-C50C-407E-A947-70E740481C1C}">
                <a14:useLocalDpi xmlns:a14="http://schemas.microsoft.com/office/drawing/2010/main" val="0"/>
              </a:ext>
            </a:extLst>
          </a:blip>
          <a:srcRect l="29398" t="8741" r="101" b="27"/>
          <a:stretch/>
        </p:blipFill>
        <p:spPr bwMode="ltGray">
          <a:xfrm flipH="1">
            <a:off x="3671068" y="0"/>
            <a:ext cx="416951" cy="6858000"/>
          </a:xfrm>
          <a:prstGeom prst="rect">
            <a:avLst/>
          </a:prstGeom>
        </p:spPr>
      </p:pic>
      <p:sp>
        <p:nvSpPr>
          <p:cNvPr id="24" name="Title 4"/>
          <p:cNvSpPr>
            <a:spLocks noGrp="1"/>
          </p:cNvSpPr>
          <p:nvPr>
            <p:ph type="title" hasCustomPrompt="1"/>
          </p:nvPr>
        </p:nvSpPr>
        <p:spPr>
          <a:xfrm>
            <a:off x="630000" y="2681103"/>
            <a:ext cx="3127881" cy="1495794"/>
          </a:xfrm>
          <a:prstGeom prst="rect">
            <a:avLst/>
          </a:prstGeom>
        </p:spPr>
        <p:txBody>
          <a:bodyPr anchor="ctr">
            <a:noAutofit/>
          </a:bodyPr>
          <a:lstStyle>
            <a:lvl1pPr>
              <a:defRPr sz="2400">
                <a:solidFill>
                  <a:schemeClr val="bg1"/>
                </a:solidFill>
                <a:latin typeface="+mj-lt"/>
                <a:sym typeface="Trebuchet MS" panose="020B0603020202020204" pitchFamily="34" charset="0"/>
              </a:defRPr>
            </a:lvl1pPr>
          </a:lstStyle>
          <a:p>
            <a:r>
              <a:rPr lang="en-US"/>
              <a:t>Click to add title</a:t>
            </a:r>
          </a:p>
        </p:txBody>
      </p:sp>
      <p:sp>
        <p:nvSpPr>
          <p:cNvPr id="26" name="Rectangle 25"/>
          <p:cNvSpPr/>
          <p:nvPr userDrawn="1"/>
        </p:nvSpPr>
        <p:spPr bwMode="ltGray">
          <a:xfrm>
            <a:off x="4080763" y="-1309"/>
            <a:ext cx="8111237" cy="685930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endParaRPr lang="en-US" sz="1200">
              <a:solidFill>
                <a:schemeClr val="bg1"/>
              </a:solidFill>
              <a:latin typeface="+mn-lt"/>
              <a:sym typeface="Trebuchet MS" panose="020B0603020202020204" pitchFamily="34" charset="0"/>
            </a:endParaRPr>
          </a:p>
        </p:txBody>
      </p:sp>
      <p:sp>
        <p:nvSpPr>
          <p:cNvPr id="25" name="Date Placeholder 1"/>
          <p:cNvSpPr>
            <a:spLocks noGrp="1"/>
          </p:cNvSpPr>
          <p:nvPr>
            <p:ph type="dt" sz="half" idx="29"/>
          </p:nvPr>
        </p:nvSpPr>
        <p:spPr>
          <a:xfrm>
            <a:off x="9677400" y="6405036"/>
            <a:ext cx="1482051" cy="153888"/>
          </a:xfrm>
          <a:prstGeom prst="rect">
            <a:avLst/>
          </a:prstGeom>
        </p:spPr>
        <p:txBody>
          <a:bodyPr/>
          <a:lstStyle>
            <a:lvl1pPr>
              <a:defRPr>
                <a:solidFill>
                  <a:schemeClr val="bg1">
                    <a:lumMod val="50000"/>
                  </a:schemeClr>
                </a:solidFill>
                <a:latin typeface="+mn-lt"/>
                <a:sym typeface="Trebuchet MS" panose="020B0603020202020204" pitchFamily="34" charset="0"/>
              </a:defRPr>
            </a:lvl1pPr>
          </a:lstStyle>
          <a:p>
            <a:endParaRPr lang="en-US"/>
          </a:p>
        </p:txBody>
      </p:sp>
      <p:sp>
        <p:nvSpPr>
          <p:cNvPr id="29"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2024 by Boston Consulting Group. All rights reserved.</a:t>
            </a:r>
          </a:p>
        </p:txBody>
      </p:sp>
      <p:sp>
        <p:nvSpPr>
          <p:cNvPr id="28" name="TextBox 27"/>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lumMod val="50000"/>
                  </a:schemeClr>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lumMod val="50000"/>
                </a:schemeClr>
              </a:solidFill>
              <a:latin typeface="+mn-lt"/>
              <a:ea typeface="+mn-ea"/>
              <a:cs typeface="+mn-cs"/>
              <a:sym typeface="Trebuchet MS" panose="020B0603020202020204" pitchFamily="34" charset="0"/>
            </a:endParaRPr>
          </a:p>
        </p:txBody>
      </p:sp>
    </p:spTree>
    <p:extLst>
      <p:ext uri="{BB962C8B-B14F-4D97-AF65-F5344CB8AC3E}">
        <p14:creationId xmlns:p14="http://schemas.microsoft.com/office/powerpoint/2010/main" val="306045207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39.xml><?xml version="1.0" encoding="utf-8"?>
<p:sldLayout xmlns:a="http://schemas.openxmlformats.org/drawingml/2006/main" xmlns:r="http://schemas.openxmlformats.org/officeDocument/2006/relationships" xmlns:p="http://schemas.openxmlformats.org/presentationml/2006/main" showMasterSp="0" preserve="1" userDrawn="1">
  <p:cSld name="D. Green half">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pic>
        <p:nvPicPr>
          <p:cNvPr id="10" name="Picture 9"/>
          <p:cNvPicPr>
            <a:picLocks noChangeAspect="1"/>
          </p:cNvPicPr>
          <p:nvPr userDrawn="1"/>
        </p:nvPicPr>
        <p:blipFill rotWithShape="1">
          <a:blip r:embed="rId2">
            <a:extLst>
              <a:ext uri="{28A0092B-C50C-407E-A947-70E740481C1C}">
                <a14:useLocalDpi xmlns:a14="http://schemas.microsoft.com/office/drawing/2010/main" val="0"/>
              </a:ext>
            </a:extLst>
          </a:blip>
          <a:srcRect l="29398" t="8741" r="101" b="27"/>
          <a:stretch/>
        </p:blipFill>
        <p:spPr bwMode="ltGray">
          <a:xfrm flipH="1">
            <a:off x="5689582" y="0"/>
            <a:ext cx="416951" cy="6858000"/>
          </a:xfrm>
          <a:prstGeom prst="rect">
            <a:avLst/>
          </a:prstGeom>
        </p:spPr>
      </p:pic>
      <p:sp>
        <p:nvSpPr>
          <p:cNvPr id="11" name="Rectangle 10"/>
          <p:cNvSpPr/>
          <p:nvPr userDrawn="1"/>
        </p:nvSpPr>
        <p:spPr>
          <a:xfrm>
            <a:off x="6096000" y="0"/>
            <a:ext cx="6096000" cy="6858000"/>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l">
              <a:lnSpc>
                <a:spcPct val="90000"/>
              </a:lnSpc>
              <a:spcAft>
                <a:spcPts val="1000"/>
              </a:spcAft>
            </a:pPr>
            <a:endParaRPr lang="en-US" sz="1200">
              <a:solidFill>
                <a:schemeClr val="bg1"/>
              </a:solidFill>
              <a:latin typeface="+mn-lt"/>
              <a:sym typeface="Trebuchet MS" panose="020B0603020202020204" pitchFamily="34" charset="0"/>
            </a:endParaRPr>
          </a:p>
        </p:txBody>
      </p:sp>
      <p:sp>
        <p:nvSpPr>
          <p:cNvPr id="12" name="Picture Placeholder 18"/>
          <p:cNvSpPr>
            <a:spLocks noGrp="1"/>
          </p:cNvSpPr>
          <p:nvPr>
            <p:ph type="pic" sz="quarter" idx="14" hasCustomPrompt="1"/>
          </p:nvPr>
        </p:nvSpPr>
        <p:spPr>
          <a:xfrm>
            <a:off x="6092021" y="0"/>
            <a:ext cx="6099977" cy="6858000"/>
          </a:xfrm>
          <a:prstGeom prst="rect">
            <a:avLst/>
          </a:prstGeom>
          <a:noFill/>
        </p:spPr>
        <p:txBody>
          <a:bodyPr lIns="914400" tIns="914400" rIns="914400" bIns="914400"/>
          <a:lstStyle>
            <a:lvl1pPr algn="ctr">
              <a:defRPr sz="1800" baseline="0">
                <a:latin typeface="Trebuchet MS" panose="020B0603020202020204" pitchFamily="34" charset="0"/>
                <a:sym typeface="Trebuchet MS" panose="020B0603020202020204" pitchFamily="34" charset="0"/>
              </a:defRPr>
            </a:lvl1pPr>
          </a:lstStyle>
          <a:p>
            <a:r>
              <a:rPr lang="en-US"/>
              <a:t>Click icon below to insert an image or remove this placeholder to use the whitespace in another way</a:t>
            </a:r>
          </a:p>
        </p:txBody>
      </p:sp>
      <p:sp>
        <p:nvSpPr>
          <p:cNvPr id="13" name="Title 1"/>
          <p:cNvSpPr>
            <a:spLocks noGrp="1"/>
          </p:cNvSpPr>
          <p:nvPr>
            <p:ph type="title" hasCustomPrompt="1"/>
          </p:nvPr>
        </p:nvSpPr>
        <p:spPr bwMode="blackWhite">
          <a:xfrm>
            <a:off x="630000" y="1785600"/>
            <a:ext cx="4388400" cy="3286800"/>
          </a:xfrm>
          <a:prstGeom prst="rect">
            <a:avLst/>
          </a:prstGeom>
          <a:noFill/>
        </p:spPr>
        <p:txBody>
          <a:bodyPr wrap="square" lIns="0" tIns="0" rIns="320040" bIns="0" anchor="ctr">
            <a:noAutofit/>
          </a:bodyPr>
          <a:lstStyle>
            <a:lvl1pPr>
              <a:defRPr sz="4400">
                <a:solidFill>
                  <a:schemeClr val="bg1"/>
                </a:solidFill>
                <a:latin typeface="+mj-lt"/>
                <a:sym typeface="Trebuchet MS" panose="020B0603020202020204" pitchFamily="34" charset="0"/>
              </a:defRPr>
            </a:lvl1pPr>
          </a:lstStyle>
          <a:p>
            <a:r>
              <a:rPr lang="en-US"/>
              <a:t>Click to add title</a:t>
            </a:r>
          </a:p>
        </p:txBody>
      </p:sp>
      <p:sp>
        <p:nvSpPr>
          <p:cNvPr id="14" name="TextBox 13"/>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lumMod val="50000"/>
                  </a:schemeClr>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800" kern="1200">
              <a:solidFill>
                <a:schemeClr val="bg1">
                  <a:lumMod val="50000"/>
                </a:schemeClr>
              </a:solidFill>
              <a:latin typeface="+mn-lt"/>
              <a:ea typeface="+mn-ea"/>
              <a:cs typeface="+mn-cs"/>
              <a:sym typeface="Trebuchet MS" panose="020B0603020202020204" pitchFamily="34" charset="0"/>
            </a:endParaRPr>
          </a:p>
        </p:txBody>
      </p:sp>
      <p:sp>
        <p:nvSpPr>
          <p:cNvPr id="15" name="Date Placeholder 2"/>
          <p:cNvSpPr>
            <a:spLocks noGrp="1"/>
          </p:cNvSpPr>
          <p:nvPr>
            <p:ph type="dt" sz="half" idx="15"/>
          </p:nvPr>
        </p:nvSpPr>
        <p:spPr>
          <a:xfrm>
            <a:off x="9677400" y="6405036"/>
            <a:ext cx="1482051" cy="153888"/>
          </a:xfrm>
          <a:prstGeom prst="rect">
            <a:avLst/>
          </a:prstGeom>
        </p:spPr>
        <p:txBody>
          <a:bodyPr/>
          <a:lstStyle>
            <a:lvl1pPr>
              <a:defRPr>
                <a:solidFill>
                  <a:schemeClr val="bg1">
                    <a:lumMod val="50000"/>
                  </a:schemeClr>
                </a:solidFill>
                <a:latin typeface="+mn-lt"/>
                <a:sym typeface="Trebuchet MS" panose="020B0603020202020204" pitchFamily="34" charset="0"/>
              </a:defRPr>
            </a:lvl1pPr>
          </a:lstStyle>
          <a:p>
            <a:endParaRPr lang="en-US"/>
          </a:p>
        </p:txBody>
      </p:sp>
      <p:sp>
        <p:nvSpPr>
          <p:cNvPr id="17"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2024 by Boston Consulting Group. All rights reserved.</a:t>
            </a:r>
          </a:p>
        </p:txBody>
      </p:sp>
    </p:spTree>
    <p:extLst>
      <p:ext uri="{BB962C8B-B14F-4D97-AF65-F5344CB8AC3E}">
        <p14:creationId xmlns:p14="http://schemas.microsoft.com/office/powerpoint/2010/main" val="193016598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40.xml><?xml version="1.0" encoding="utf-8"?>
<p:sldLayout xmlns:a="http://schemas.openxmlformats.org/drawingml/2006/main" xmlns:r="http://schemas.openxmlformats.org/officeDocument/2006/relationships" xmlns:p="http://schemas.openxmlformats.org/presentationml/2006/main" showMasterSp="0" preserve="1" userDrawn="1">
  <p:cSld name="D. Green two third">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pic>
        <p:nvPicPr>
          <p:cNvPr id="10" name="Picture 9"/>
          <p:cNvPicPr>
            <a:picLocks noChangeAspect="1"/>
          </p:cNvPicPr>
          <p:nvPr userDrawn="1"/>
        </p:nvPicPr>
        <p:blipFill rotWithShape="1">
          <a:blip r:embed="rId2">
            <a:extLst>
              <a:ext uri="{28A0092B-C50C-407E-A947-70E740481C1C}">
                <a14:useLocalDpi xmlns:a14="http://schemas.microsoft.com/office/drawing/2010/main" val="0"/>
              </a:ext>
            </a:extLst>
          </a:blip>
          <a:srcRect l="29398" t="8741" r="101" b="27"/>
          <a:stretch/>
        </p:blipFill>
        <p:spPr bwMode="ltGray">
          <a:xfrm flipH="1">
            <a:off x="7409849" y="0"/>
            <a:ext cx="416951" cy="6858000"/>
          </a:xfrm>
          <a:prstGeom prst="rect">
            <a:avLst/>
          </a:prstGeom>
        </p:spPr>
      </p:pic>
      <p:sp>
        <p:nvSpPr>
          <p:cNvPr id="11" name="Rectangle 10"/>
          <p:cNvSpPr/>
          <p:nvPr userDrawn="1"/>
        </p:nvSpPr>
        <p:spPr bwMode="gray">
          <a:xfrm>
            <a:off x="7819543" y="0"/>
            <a:ext cx="4372457"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endParaRPr lang="en-US" sz="1200">
              <a:solidFill>
                <a:schemeClr val="bg1"/>
              </a:solidFill>
              <a:latin typeface="+mn-lt"/>
              <a:sym typeface="Trebuchet MS" panose="020B0603020202020204" pitchFamily="34" charset="0"/>
            </a:endParaRPr>
          </a:p>
        </p:txBody>
      </p:sp>
      <p:sp>
        <p:nvSpPr>
          <p:cNvPr id="12" name="Picture Placeholder 5"/>
          <p:cNvSpPr>
            <a:spLocks noGrp="1"/>
          </p:cNvSpPr>
          <p:nvPr>
            <p:ph type="pic" sz="quarter" idx="11" hasCustomPrompt="1"/>
          </p:nvPr>
        </p:nvSpPr>
        <p:spPr>
          <a:xfrm>
            <a:off x="7820025" y="0"/>
            <a:ext cx="4371975" cy="6858000"/>
          </a:xfrm>
          <a:prstGeom prst="rect">
            <a:avLst/>
          </a:prstGeom>
          <a:noFill/>
        </p:spPr>
        <p:txBody>
          <a:bodyPr lIns="182880" tIns="914400" rIns="182880" bIns="914400"/>
          <a:lstStyle>
            <a:lvl1pPr algn="ctr">
              <a:defRPr sz="1600">
                <a:solidFill>
                  <a:schemeClr val="tx1"/>
                </a:solidFill>
                <a:latin typeface="Trebuchet MS" panose="020B0603020202020204" pitchFamily="34" charset="0"/>
                <a:sym typeface="Trebuchet MS" panose="020B0603020202020204" pitchFamily="34" charset="0"/>
              </a:defRPr>
            </a:lvl1pPr>
          </a:lstStyle>
          <a:p>
            <a:r>
              <a:rPr lang="en-US"/>
              <a:t>Click icon below to insert an image or remove this placeholder to use the whitespace in another way</a:t>
            </a:r>
          </a:p>
        </p:txBody>
      </p:sp>
      <p:sp>
        <p:nvSpPr>
          <p:cNvPr id="13" name="Date Placeholder 2"/>
          <p:cNvSpPr>
            <a:spLocks noGrp="1"/>
          </p:cNvSpPr>
          <p:nvPr>
            <p:ph type="dt" sz="half" idx="12"/>
          </p:nvPr>
        </p:nvSpPr>
        <p:spPr>
          <a:xfrm>
            <a:off x="9677400" y="6405036"/>
            <a:ext cx="1482051" cy="153888"/>
          </a:xfrm>
          <a:prstGeom prst="rect">
            <a:avLst/>
          </a:prstGeom>
        </p:spPr>
        <p:txBody>
          <a:bodyPr/>
          <a:lstStyle>
            <a:lvl1pPr>
              <a:defRPr>
                <a:solidFill>
                  <a:schemeClr val="bg1">
                    <a:lumMod val="50000"/>
                  </a:schemeClr>
                </a:solidFill>
                <a:latin typeface="+mn-lt"/>
                <a:sym typeface="Trebuchet MS" panose="020B0603020202020204" pitchFamily="34" charset="0"/>
              </a:defRPr>
            </a:lvl1pPr>
          </a:lstStyle>
          <a:p>
            <a:endParaRPr lang="en-US"/>
          </a:p>
        </p:txBody>
      </p:sp>
      <p:sp>
        <p:nvSpPr>
          <p:cNvPr id="9"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2024 by Boston Consulting Group. All rights reserved.</a:t>
            </a:r>
          </a:p>
        </p:txBody>
      </p:sp>
      <p:sp>
        <p:nvSpPr>
          <p:cNvPr id="15" name="Title 1"/>
          <p:cNvSpPr>
            <a:spLocks noGrp="1"/>
          </p:cNvSpPr>
          <p:nvPr>
            <p:ph type="title" hasCustomPrompt="1"/>
          </p:nvPr>
        </p:nvSpPr>
        <p:spPr bwMode="black">
          <a:xfrm>
            <a:off x="630936" y="1785600"/>
            <a:ext cx="6247552" cy="3286800"/>
          </a:xfrm>
          <a:prstGeom prst="rect">
            <a:avLst/>
          </a:prstGeom>
        </p:spPr>
        <p:txBody>
          <a:bodyPr anchor="ctr">
            <a:noAutofit/>
          </a:bodyPr>
          <a:lstStyle>
            <a:lvl1pPr>
              <a:defRPr sz="4400">
                <a:solidFill>
                  <a:schemeClr val="bg1"/>
                </a:solidFill>
                <a:latin typeface="+mj-lt"/>
                <a:sym typeface="Trebuchet MS" panose="020B0603020202020204" pitchFamily="34" charset="0"/>
              </a:defRPr>
            </a:lvl1pPr>
          </a:lstStyle>
          <a:p>
            <a:r>
              <a:rPr lang="en-US"/>
              <a:t>Click to add title</a:t>
            </a:r>
          </a:p>
        </p:txBody>
      </p:sp>
      <p:sp>
        <p:nvSpPr>
          <p:cNvPr id="14" name="TextBox 13"/>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lumMod val="50000"/>
                  </a:schemeClr>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800" kern="1200">
              <a:solidFill>
                <a:schemeClr val="bg1">
                  <a:lumMod val="50000"/>
                </a:schemeClr>
              </a:solidFill>
              <a:latin typeface="+mn-lt"/>
              <a:ea typeface="+mn-ea"/>
              <a:cs typeface="+mn-cs"/>
              <a:sym typeface="Trebuchet MS" panose="020B0603020202020204" pitchFamily="34" charset="0"/>
            </a:endParaRPr>
          </a:p>
        </p:txBody>
      </p:sp>
    </p:spTree>
    <p:extLst>
      <p:ext uri="{BB962C8B-B14F-4D97-AF65-F5344CB8AC3E}">
        <p14:creationId xmlns:p14="http://schemas.microsoft.com/office/powerpoint/2010/main" val="329057896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41.xml><?xml version="1.0" encoding="utf-8"?>
<p:sldLayout xmlns:a="http://schemas.openxmlformats.org/drawingml/2006/main" xmlns:r="http://schemas.openxmlformats.org/officeDocument/2006/relationships" xmlns:p="http://schemas.openxmlformats.org/presentationml/2006/main" showMasterSp="0" preserve="1" userDrawn="1">
  <p:cSld name="D. Left arrow">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userDrawn="1">
            <p:custDataLst>
              <p:tags r:id="rId1"/>
            </p:custDataLst>
            <p:extLst>
              <p:ext uri="{D42A27DB-BD31-4B8C-83A1-F6EECF244321}">
                <p14:modId xmlns:p14="http://schemas.microsoft.com/office/powerpoint/2010/main" val="4279571629"/>
              </p:ext>
            </p:ext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3" imgW="324" imgH="324" progId="TCLayout.ActiveDocument.1">
                  <p:embed/>
                </p:oleObj>
              </mc:Choice>
              <mc:Fallback>
                <p:oleObj name="think-cell Slide" r:id="rId3" imgW="324" imgH="324" progId="TCLayout.ActiveDocument.1">
                  <p:embed/>
                  <p:pic>
                    <p:nvPicPr>
                      <p:cNvPr id="3" name="Object 2" hidden="1"/>
                      <p:cNvPicPr/>
                      <p:nvPr/>
                    </p:nvPicPr>
                    <p:blipFill>
                      <a:blip r:embed="rId4"/>
                      <a:stretch>
                        <a:fillRect/>
                      </a:stretch>
                    </p:blipFill>
                    <p:spPr>
                      <a:xfrm>
                        <a:off x="1588" y="1588"/>
                        <a:ext cx="1587" cy="1587"/>
                      </a:xfrm>
                      <a:prstGeom prst="rect">
                        <a:avLst/>
                      </a:prstGeom>
                    </p:spPr>
                  </p:pic>
                </p:oleObj>
              </mc:Fallback>
            </mc:AlternateContent>
          </a:graphicData>
        </a:graphic>
      </p:graphicFrame>
      <p:sp>
        <p:nvSpPr>
          <p:cNvPr id="10" name="Freeform 14"/>
          <p:cNvSpPr/>
          <p:nvPr userDrawn="1"/>
        </p:nvSpPr>
        <p:spPr bwMode="ltGray">
          <a:xfrm>
            <a:off x="1524" y="1310"/>
            <a:ext cx="4088312" cy="6858000"/>
          </a:xfrm>
          <a:custGeom>
            <a:avLst/>
            <a:gdLst>
              <a:gd name="connsiteX0" fmla="*/ 0 w 4088312"/>
              <a:gd name="connsiteY0" fmla="*/ 0 h 6858000"/>
              <a:gd name="connsiteX1" fmla="*/ 3264933 w 4088312"/>
              <a:gd name="connsiteY1" fmla="*/ 0 h 6858000"/>
              <a:gd name="connsiteX2" fmla="*/ 4088312 w 4088312"/>
              <a:gd name="connsiteY2" fmla="*/ 3429000 h 6858000"/>
              <a:gd name="connsiteX3" fmla="*/ 3264933 w 4088312"/>
              <a:gd name="connsiteY3" fmla="*/ 6858000 h 6858000"/>
              <a:gd name="connsiteX4" fmla="*/ 0 w 4088312"/>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8312" h="6858000">
                <a:moveTo>
                  <a:pt x="0" y="0"/>
                </a:moveTo>
                <a:lnTo>
                  <a:pt x="3264933" y="0"/>
                </a:lnTo>
                <a:lnTo>
                  <a:pt x="4088312" y="3429000"/>
                </a:lnTo>
                <a:lnTo>
                  <a:pt x="3264933" y="6858000"/>
                </a:lnTo>
                <a:lnTo>
                  <a:pt x="0" y="685800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p>
            <a:pPr>
              <a:lnSpc>
                <a:spcPct val="90000"/>
              </a:lnSpc>
              <a:spcAft>
                <a:spcPts val="1000"/>
              </a:spcAft>
            </a:pPr>
            <a:endParaRPr lang="en-US" sz="1200">
              <a:solidFill>
                <a:prstClr val="white"/>
              </a:solidFill>
              <a:latin typeface="+mn-lt"/>
              <a:sym typeface="Trebuchet MS" panose="020B0603020202020204" pitchFamily="34" charset="0"/>
            </a:endParaRPr>
          </a:p>
        </p:txBody>
      </p:sp>
      <p:sp>
        <p:nvSpPr>
          <p:cNvPr id="13" name="Date Placeholder 4"/>
          <p:cNvSpPr>
            <a:spLocks noGrp="1"/>
          </p:cNvSpPr>
          <p:nvPr>
            <p:ph type="dt" sz="half" idx="10"/>
          </p:nvPr>
        </p:nvSpPr>
        <p:spPr>
          <a:xfrm>
            <a:off x="9677400" y="6405036"/>
            <a:ext cx="1482051" cy="153888"/>
          </a:xfrm>
          <a:prstGeom prst="rect">
            <a:avLst/>
          </a:prstGeom>
        </p:spPr>
        <p:txBody>
          <a:bodyPr/>
          <a:lstStyle>
            <a:lvl1pPr>
              <a:defRPr>
                <a:solidFill>
                  <a:schemeClr val="bg1"/>
                </a:solidFill>
                <a:latin typeface="+mn-lt"/>
                <a:sym typeface="Trebuchet MS" panose="020B0603020202020204" pitchFamily="34" charset="0"/>
              </a:defRPr>
            </a:lvl1pPr>
          </a:lstStyle>
          <a:p>
            <a:endParaRPr lang="en-US"/>
          </a:p>
        </p:txBody>
      </p:sp>
      <p:sp>
        <p:nvSpPr>
          <p:cNvPr id="11"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2024 by Boston Consulting Group. All rights reserved.</a:t>
            </a:r>
          </a:p>
        </p:txBody>
      </p:sp>
      <p:sp>
        <p:nvSpPr>
          <p:cNvPr id="18" name="TextBox 17"/>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
        <p:nvSpPr>
          <p:cNvPr id="20" name="Title 2"/>
          <p:cNvSpPr>
            <a:spLocks noGrp="1"/>
          </p:cNvSpPr>
          <p:nvPr>
            <p:ph type="title" hasCustomPrompt="1"/>
          </p:nvPr>
        </p:nvSpPr>
        <p:spPr>
          <a:xfrm>
            <a:off x="630000" y="2764203"/>
            <a:ext cx="2478638" cy="1314311"/>
          </a:xfrm>
          <a:prstGeom prst="rect">
            <a:avLst/>
          </a:prstGeom>
        </p:spPr>
        <p:txBody>
          <a:bodyPr anchor="ctr">
            <a:noAutofit/>
          </a:bodyPr>
          <a:lstStyle>
            <a:lvl1pPr>
              <a:defRPr sz="2400">
                <a:solidFill>
                  <a:schemeClr val="tx2"/>
                </a:solidFill>
                <a:latin typeface="+mj-lt"/>
                <a:sym typeface="Trebuchet MS" panose="020B0603020202020204" pitchFamily="34" charset="0"/>
              </a:defRPr>
            </a:lvl1pPr>
          </a:lstStyle>
          <a:p>
            <a:r>
              <a:rPr lang="en-US">
                <a:solidFill>
                  <a:schemeClr val="tx2"/>
                </a:solidFill>
              </a:rPr>
              <a:t>Click to add title</a:t>
            </a:r>
          </a:p>
        </p:txBody>
      </p:sp>
      <p:pic>
        <p:nvPicPr>
          <p:cNvPr id="12" name="Picture 11"/>
          <p:cNvPicPr>
            <a:picLocks noChangeAspect="1" noChangeArrowheads="1"/>
          </p:cNvPicPr>
          <p:nvPr userDrawn="1"/>
        </p:nvPicPr>
        <p:blipFill>
          <a:blip r:embed="rId5">
            <a:extLst>
              <a:ext uri="{28A0092B-C50C-407E-A947-70E740481C1C}">
                <a14:useLocalDpi xmlns:a14="http://schemas.microsoft.com/office/drawing/2010/main" val="0"/>
              </a:ext>
            </a:extLst>
          </a:blip>
          <a:srcRect/>
          <a:stretch>
            <a:fillRect/>
          </a:stretch>
        </p:blipFill>
        <p:spPr bwMode="auto">
          <a:xfrm>
            <a:off x="3132442" y="3590399"/>
            <a:ext cx="1365250" cy="3382962"/>
          </a:xfrm>
          <a:custGeom>
            <a:avLst/>
            <a:gdLst>
              <a:gd name="connsiteX0" fmla="*/ 919541 w 1365250"/>
              <a:gd name="connsiteY0" fmla="*/ 0 h 3382962"/>
              <a:gd name="connsiteX1" fmla="*/ 1365250 w 1365250"/>
              <a:gd name="connsiteY1" fmla="*/ 0 h 3382962"/>
              <a:gd name="connsiteX2" fmla="*/ 1365250 w 1365250"/>
              <a:gd name="connsiteY2" fmla="*/ 3382962 h 3382962"/>
              <a:gd name="connsiteX3" fmla="*/ 0 w 1365250"/>
              <a:gd name="connsiteY3" fmla="*/ 3382962 h 3382962"/>
              <a:gd name="connsiteX4" fmla="*/ 0 w 1365250"/>
              <a:gd name="connsiteY4" fmla="*/ 3264716 h 3382962"/>
              <a:gd name="connsiteX5" fmla="*/ 129871 w 1365250"/>
              <a:gd name="connsiteY5" fmla="*/ 3267601 h 3382962"/>
              <a:gd name="connsiteX6" fmla="*/ 0 w 1365250"/>
              <a:gd name="connsiteY6" fmla="*/ 0 h 3382962"/>
              <a:gd name="connsiteX7" fmla="*/ 909386 w 1365250"/>
              <a:gd name="connsiteY7" fmla="*/ 0 h 3382962"/>
              <a:gd name="connsiteX8" fmla="*/ 0 w 1365250"/>
              <a:gd name="connsiteY8" fmla="*/ 2985607 h 3382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65250" h="3382962">
                <a:moveTo>
                  <a:pt x="919541" y="0"/>
                </a:moveTo>
                <a:lnTo>
                  <a:pt x="1365250" y="0"/>
                </a:lnTo>
                <a:lnTo>
                  <a:pt x="1365250" y="3382962"/>
                </a:lnTo>
                <a:lnTo>
                  <a:pt x="0" y="3382962"/>
                </a:lnTo>
                <a:lnTo>
                  <a:pt x="0" y="3264716"/>
                </a:lnTo>
                <a:lnTo>
                  <a:pt x="129871" y="3267601"/>
                </a:lnTo>
                <a:close/>
                <a:moveTo>
                  <a:pt x="0" y="0"/>
                </a:moveTo>
                <a:lnTo>
                  <a:pt x="909386" y="0"/>
                </a:lnTo>
                <a:lnTo>
                  <a:pt x="0" y="2985607"/>
                </a:lnTo>
                <a:close/>
              </a:path>
            </a:pathLst>
          </a:cu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423215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42.xml><?xml version="1.0" encoding="utf-8"?>
<p:sldLayout xmlns:a="http://schemas.openxmlformats.org/drawingml/2006/main" xmlns:r="http://schemas.openxmlformats.org/officeDocument/2006/relationships" xmlns:p="http://schemas.openxmlformats.org/presentationml/2006/main" showMasterSp="0" preserve="1" userDrawn="1">
  <p:cSld name="D. Green left arrow">
    <p:bg>
      <p:bgPr>
        <a:solidFill>
          <a:schemeClr val="bg1"/>
        </a:solidFill>
        <a:effectLst/>
      </p:bgPr>
    </p:bg>
    <p:spTree>
      <p:nvGrpSpPr>
        <p:cNvPr id="1" name=""/>
        <p:cNvGrpSpPr/>
        <p:nvPr/>
      </p:nvGrpSpPr>
      <p:grpSpPr>
        <a:xfrm>
          <a:off x="0" y="0"/>
          <a:ext cx="0" cy="0"/>
          <a:chOff x="0" y="0"/>
          <a:chExt cx="0" cy="0"/>
        </a:xfrm>
      </p:grpSpPr>
      <p:sp>
        <p:nvSpPr>
          <p:cNvPr id="10" name="Freeform 14"/>
          <p:cNvSpPr/>
          <p:nvPr userDrawn="1"/>
        </p:nvSpPr>
        <p:spPr bwMode="ltGray">
          <a:xfrm>
            <a:off x="1524" y="1310"/>
            <a:ext cx="4088312" cy="6858000"/>
          </a:xfrm>
          <a:custGeom>
            <a:avLst/>
            <a:gdLst>
              <a:gd name="connsiteX0" fmla="*/ 0 w 4088312"/>
              <a:gd name="connsiteY0" fmla="*/ 0 h 6858000"/>
              <a:gd name="connsiteX1" fmla="*/ 3264933 w 4088312"/>
              <a:gd name="connsiteY1" fmla="*/ 0 h 6858000"/>
              <a:gd name="connsiteX2" fmla="*/ 4088312 w 4088312"/>
              <a:gd name="connsiteY2" fmla="*/ 3429000 h 6858000"/>
              <a:gd name="connsiteX3" fmla="*/ 3264933 w 4088312"/>
              <a:gd name="connsiteY3" fmla="*/ 6858000 h 6858000"/>
              <a:gd name="connsiteX4" fmla="*/ 0 w 4088312"/>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8312" h="6858000">
                <a:moveTo>
                  <a:pt x="0" y="0"/>
                </a:moveTo>
                <a:lnTo>
                  <a:pt x="3264933" y="0"/>
                </a:lnTo>
                <a:lnTo>
                  <a:pt x="4088312" y="3429000"/>
                </a:lnTo>
                <a:lnTo>
                  <a:pt x="3264933" y="6858000"/>
                </a:lnTo>
                <a:lnTo>
                  <a:pt x="0" y="6858000"/>
                </a:lnTo>
                <a:close/>
              </a:path>
            </a:pathLst>
          </a:custGeom>
          <a:gradFill>
            <a:gsLst>
              <a:gs pos="0">
                <a:schemeClr val="tx2"/>
              </a:gs>
              <a:gs pos="100000">
                <a:schemeClr val="accent2"/>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p>
            <a:pPr>
              <a:lnSpc>
                <a:spcPct val="90000"/>
              </a:lnSpc>
              <a:spcAft>
                <a:spcPts val="1000"/>
              </a:spcAft>
            </a:pPr>
            <a:endParaRPr lang="en-US" sz="1200">
              <a:solidFill>
                <a:prstClr val="white"/>
              </a:solidFill>
              <a:latin typeface="+mn-lt"/>
              <a:sym typeface="Trebuchet MS" panose="020B0603020202020204" pitchFamily="34" charset="0"/>
            </a:endParaRPr>
          </a:p>
        </p:txBody>
      </p:sp>
      <p:sp>
        <p:nvSpPr>
          <p:cNvPr id="5" name="Title 4"/>
          <p:cNvSpPr>
            <a:spLocks noGrp="1"/>
          </p:cNvSpPr>
          <p:nvPr>
            <p:ph type="title" hasCustomPrompt="1"/>
          </p:nvPr>
        </p:nvSpPr>
        <p:spPr>
          <a:xfrm>
            <a:off x="630000" y="2764203"/>
            <a:ext cx="2478638" cy="1314311"/>
          </a:xfrm>
        </p:spPr>
        <p:txBody>
          <a:bodyPr anchor="ctr" anchorCtr="0">
            <a:noAutofit/>
          </a:bodyPr>
          <a:lstStyle>
            <a:lvl1pPr>
              <a:defRPr>
                <a:solidFill>
                  <a:srgbClr val="FFFFFF"/>
                </a:solidFill>
                <a:latin typeface="+mj-lt"/>
              </a:defRPr>
            </a:lvl1pPr>
          </a:lstStyle>
          <a:p>
            <a:r>
              <a:rPr lang="en-US"/>
              <a:t>Click to add title</a:t>
            </a:r>
          </a:p>
        </p:txBody>
      </p:sp>
      <p:sp>
        <p:nvSpPr>
          <p:cNvPr id="15" name="Date Placeholder 3"/>
          <p:cNvSpPr>
            <a:spLocks noGrp="1"/>
          </p:cNvSpPr>
          <p:nvPr>
            <p:ph type="dt" sz="half" idx="2"/>
          </p:nvPr>
        </p:nvSpPr>
        <p:spPr>
          <a:xfrm>
            <a:off x="9677400" y="6405036"/>
            <a:ext cx="1482051" cy="153888"/>
          </a:xfrm>
          <a:prstGeom prst="rect">
            <a:avLst/>
          </a:prstGeom>
        </p:spPr>
        <p:txBody>
          <a:bodyPr vert="horz" wrap="square" lIns="0" tIns="0" rIns="0" bIns="0" rtlCol="0" anchor="b">
            <a:spAutoFit/>
          </a:bodyPr>
          <a:lstStyle>
            <a:lvl1pPr algn="r">
              <a:defRPr sz="1000">
                <a:solidFill>
                  <a:schemeClr val="bg1">
                    <a:lumMod val="50000"/>
                  </a:schemeClr>
                </a:solidFill>
                <a:latin typeface="+mn-lt"/>
                <a:sym typeface="Trebuchet MS" panose="020B0603020202020204" pitchFamily="34" charset="0"/>
              </a:defRPr>
            </a:lvl1pPr>
          </a:lstStyle>
          <a:p>
            <a:endParaRPr lang="en-US"/>
          </a:p>
        </p:txBody>
      </p:sp>
      <p:sp>
        <p:nvSpPr>
          <p:cNvPr id="16" name="TextBox 15"/>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lumMod val="50000"/>
                  </a:schemeClr>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lumMod val="50000"/>
                </a:schemeClr>
              </a:solidFill>
              <a:latin typeface="+mn-lt"/>
              <a:ea typeface="+mn-ea"/>
              <a:cs typeface="+mn-cs"/>
              <a:sym typeface="Trebuchet MS" panose="020B0603020202020204" pitchFamily="34" charset="0"/>
            </a:endParaRPr>
          </a:p>
        </p:txBody>
      </p:sp>
      <p:sp>
        <p:nvSpPr>
          <p:cNvPr id="17"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2024 by Boston Consulting Group. All rights reserved.</a:t>
            </a:r>
          </a:p>
        </p:txBody>
      </p:sp>
      <p:pic>
        <p:nvPicPr>
          <p:cNvPr id="9" name="Picture 8"/>
          <p:cNvPicPr>
            <a:picLocks noChangeAspect="1"/>
          </p:cNvPicPr>
          <p:nvPr userDrawn="1"/>
        </p:nvPicPr>
        <p:blipFill rotWithShape="1">
          <a:blip r:embed="rId2">
            <a:extLst>
              <a:ext uri="{28A0092B-C50C-407E-A947-70E740481C1C}">
                <a14:useLocalDpi xmlns:a14="http://schemas.microsoft.com/office/drawing/2010/main" val="0"/>
              </a:ext>
            </a:extLst>
          </a:blip>
          <a:srcRect t="6216" b="7716"/>
          <a:stretch/>
        </p:blipFill>
        <p:spPr>
          <a:xfrm rot="120000">
            <a:off x="2174642" y="3402828"/>
            <a:ext cx="2694666" cy="3461745"/>
          </a:xfrm>
          <a:custGeom>
            <a:avLst/>
            <a:gdLst>
              <a:gd name="connsiteX0" fmla="*/ 0 w 2694666"/>
              <a:gd name="connsiteY0" fmla="*/ 0 h 3461745"/>
              <a:gd name="connsiteX1" fmla="*/ 2694666 w 2694666"/>
              <a:gd name="connsiteY1" fmla="*/ 0 h 3461745"/>
              <a:gd name="connsiteX2" fmla="*/ 2694666 w 2694666"/>
              <a:gd name="connsiteY2" fmla="*/ 3461745 h 3461745"/>
              <a:gd name="connsiteX3" fmla="*/ 1325678 w 2694666"/>
              <a:gd name="connsiteY3" fmla="*/ 3461745 h 3461745"/>
              <a:gd name="connsiteX4" fmla="*/ 1671729 w 2694666"/>
              <a:gd name="connsiteY4" fmla="*/ 3449661 h 3461745"/>
              <a:gd name="connsiteX5" fmla="*/ 1894583 w 2694666"/>
              <a:gd name="connsiteY5" fmla="*/ 6023 h 3461745"/>
              <a:gd name="connsiteX6" fmla="*/ 1847153 w 2694666"/>
              <a:gd name="connsiteY6" fmla="*/ 12445 h 3461745"/>
              <a:gd name="connsiteX7" fmla="*/ 1149427 w 2694666"/>
              <a:gd name="connsiteY7" fmla="*/ 3461745 h 3461745"/>
              <a:gd name="connsiteX8" fmla="*/ 0 w 2694666"/>
              <a:gd name="connsiteY8" fmla="*/ 3461745 h 3461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94666" h="3461745">
                <a:moveTo>
                  <a:pt x="0" y="0"/>
                </a:moveTo>
                <a:lnTo>
                  <a:pt x="2694666" y="0"/>
                </a:lnTo>
                <a:lnTo>
                  <a:pt x="2694666" y="3461745"/>
                </a:lnTo>
                <a:lnTo>
                  <a:pt x="1325678" y="3461745"/>
                </a:lnTo>
                <a:lnTo>
                  <a:pt x="1671729" y="3449661"/>
                </a:lnTo>
                <a:lnTo>
                  <a:pt x="1894583" y="6023"/>
                </a:lnTo>
                <a:lnTo>
                  <a:pt x="1847153" y="12445"/>
                </a:lnTo>
                <a:lnTo>
                  <a:pt x="1149427" y="3461745"/>
                </a:lnTo>
                <a:lnTo>
                  <a:pt x="0" y="3461745"/>
                </a:lnTo>
                <a:close/>
              </a:path>
            </a:pathLst>
          </a:custGeom>
        </p:spPr>
      </p:pic>
    </p:spTree>
    <p:extLst>
      <p:ext uri="{BB962C8B-B14F-4D97-AF65-F5344CB8AC3E}">
        <p14:creationId xmlns:p14="http://schemas.microsoft.com/office/powerpoint/2010/main" val="399791618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43.xml><?xml version="1.0" encoding="utf-8"?>
<p:sldLayout xmlns:a="http://schemas.openxmlformats.org/drawingml/2006/main" xmlns:r="http://schemas.openxmlformats.org/officeDocument/2006/relationships" xmlns:p="http://schemas.openxmlformats.org/presentationml/2006/main" showMasterSp="0" preserve="1" userDrawn="1">
  <p:cSld name="D. Arrow one third">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sp>
        <p:nvSpPr>
          <p:cNvPr id="9" name="TextBox 8"/>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800" kern="1200">
              <a:solidFill>
                <a:schemeClr val="bg1"/>
              </a:solidFill>
              <a:latin typeface="+mn-lt"/>
              <a:ea typeface="+mn-ea"/>
              <a:cs typeface="+mn-cs"/>
              <a:sym typeface="Trebuchet MS" panose="020B0603020202020204" pitchFamily="34" charset="0"/>
            </a:endParaRPr>
          </a:p>
        </p:txBody>
      </p:sp>
      <p:sp>
        <p:nvSpPr>
          <p:cNvPr id="10" name="Date Placeholder 7"/>
          <p:cNvSpPr>
            <a:spLocks noGrp="1"/>
          </p:cNvSpPr>
          <p:nvPr>
            <p:ph type="dt" sz="half" idx="11"/>
          </p:nvPr>
        </p:nvSpPr>
        <p:spPr>
          <a:xfrm>
            <a:off x="9677400" y="6405036"/>
            <a:ext cx="1482051" cy="153888"/>
          </a:xfrm>
          <a:prstGeom prst="rect">
            <a:avLst/>
          </a:prstGeom>
        </p:spPr>
        <p:txBody>
          <a:bodyPr/>
          <a:lstStyle>
            <a:lvl1pPr>
              <a:defRPr>
                <a:solidFill>
                  <a:schemeClr val="bg1"/>
                </a:solidFill>
                <a:latin typeface="+mn-lt"/>
                <a:sym typeface="Trebuchet MS" panose="020B0603020202020204" pitchFamily="34" charset="0"/>
              </a:defRPr>
            </a:lvl1pPr>
          </a:lstStyle>
          <a:p>
            <a:endParaRPr lang="en-US"/>
          </a:p>
        </p:txBody>
      </p:sp>
      <p:sp>
        <p:nvSpPr>
          <p:cNvPr id="17"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2024 by Boston Consulting Group. All rights reserved.</a:t>
            </a:r>
          </a:p>
        </p:txBody>
      </p:sp>
      <p:sp>
        <p:nvSpPr>
          <p:cNvPr id="19" name="Pentagon 3"/>
          <p:cNvSpPr/>
          <p:nvPr userDrawn="1"/>
        </p:nvSpPr>
        <p:spPr bwMode="white">
          <a:xfrm>
            <a:off x="1" y="0"/>
            <a:ext cx="5426920" cy="6858000"/>
          </a:xfrm>
          <a:prstGeom prst="homePlate">
            <a:avLst>
              <a:gd name="adj" fmla="val 1293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90000"/>
              </a:lnSpc>
              <a:spcAft>
                <a:spcPts val="1000"/>
              </a:spcAft>
            </a:pPr>
            <a:endParaRPr lang="en-US" sz="1200">
              <a:solidFill>
                <a:prstClr val="white"/>
              </a:solidFill>
              <a:latin typeface="+mn-lt"/>
              <a:sym typeface="Trebuchet MS" panose="020B0603020202020204" pitchFamily="34" charset="0"/>
            </a:endParaRPr>
          </a:p>
        </p:txBody>
      </p:sp>
      <p:sp>
        <p:nvSpPr>
          <p:cNvPr id="20" name="Title 1"/>
          <p:cNvSpPr>
            <a:spLocks noGrp="1"/>
          </p:cNvSpPr>
          <p:nvPr>
            <p:ph type="title" hasCustomPrompt="1"/>
          </p:nvPr>
        </p:nvSpPr>
        <p:spPr>
          <a:xfrm>
            <a:off x="630000" y="1785600"/>
            <a:ext cx="4062235" cy="3286800"/>
          </a:xfrm>
          <a:prstGeom prst="rect">
            <a:avLst/>
          </a:prstGeom>
        </p:spPr>
        <p:txBody>
          <a:bodyPr anchor="ctr">
            <a:noAutofit/>
          </a:bodyPr>
          <a:lstStyle>
            <a:lvl1pPr>
              <a:defRPr sz="4400" b="0">
                <a:solidFill>
                  <a:schemeClr val="tx2"/>
                </a:solidFill>
                <a:latin typeface="+mj-lt"/>
                <a:sym typeface="Trebuchet MS" panose="020B0603020202020204" pitchFamily="34" charset="0"/>
              </a:defRPr>
            </a:lvl1pPr>
          </a:lstStyle>
          <a:p>
            <a:r>
              <a:rPr lang="en-US"/>
              <a:t>Click to add title</a:t>
            </a:r>
          </a:p>
        </p:txBody>
      </p:sp>
      <p:pic>
        <p:nvPicPr>
          <p:cNvPr id="11" name="Picture 10"/>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4581525" y="3394392"/>
            <a:ext cx="1298575" cy="3571875"/>
          </a:xfrm>
          <a:custGeom>
            <a:avLst/>
            <a:gdLst>
              <a:gd name="connsiteX0" fmla="*/ 0 w 1298575"/>
              <a:gd name="connsiteY0" fmla="*/ 0 h 3571875"/>
              <a:gd name="connsiteX1" fmla="*/ 1298575 w 1298575"/>
              <a:gd name="connsiteY1" fmla="*/ 0 h 3571875"/>
              <a:gd name="connsiteX2" fmla="*/ 1298575 w 1298575"/>
              <a:gd name="connsiteY2" fmla="*/ 3571875 h 3571875"/>
              <a:gd name="connsiteX3" fmla="*/ 0 w 1298575"/>
              <a:gd name="connsiteY3" fmla="*/ 3571875 h 3571875"/>
              <a:gd name="connsiteX4" fmla="*/ 0 w 1298575"/>
              <a:gd name="connsiteY4" fmla="*/ 3465683 h 3571875"/>
              <a:gd name="connsiteX5" fmla="*/ 139700 w 1298575"/>
              <a:gd name="connsiteY5" fmla="*/ 3466783 h 3571875"/>
              <a:gd name="connsiteX6" fmla="*/ 841375 w 1298575"/>
              <a:gd name="connsiteY6" fmla="*/ 21908 h 3571875"/>
              <a:gd name="connsiteX7" fmla="*/ 0 w 1298575"/>
              <a:gd name="connsiteY7" fmla="*/ 2642743 h 3571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8575" h="3571875">
                <a:moveTo>
                  <a:pt x="0" y="0"/>
                </a:moveTo>
                <a:lnTo>
                  <a:pt x="1298575" y="0"/>
                </a:lnTo>
                <a:lnTo>
                  <a:pt x="1298575" y="3571875"/>
                </a:lnTo>
                <a:lnTo>
                  <a:pt x="0" y="3571875"/>
                </a:lnTo>
                <a:lnTo>
                  <a:pt x="0" y="3465683"/>
                </a:lnTo>
                <a:lnTo>
                  <a:pt x="139700" y="3466783"/>
                </a:lnTo>
                <a:lnTo>
                  <a:pt x="841375" y="21908"/>
                </a:lnTo>
                <a:lnTo>
                  <a:pt x="0" y="2642743"/>
                </a:lnTo>
                <a:close/>
              </a:path>
            </a:pathLst>
          </a:cu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3769922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44.xml><?xml version="1.0" encoding="utf-8"?>
<p:sldLayout xmlns:a="http://schemas.openxmlformats.org/drawingml/2006/main" xmlns:r="http://schemas.openxmlformats.org/officeDocument/2006/relationships" xmlns:p="http://schemas.openxmlformats.org/presentationml/2006/main" showMasterSp="0" preserve="1" userDrawn="1">
  <p:cSld name="D. Green arrow one third">
    <p:bg>
      <p:bgPr>
        <a:solidFill>
          <a:schemeClr val="bg1"/>
        </a:solidFill>
        <a:effectLst/>
      </p:bgPr>
    </p:bg>
    <p:spTree>
      <p:nvGrpSpPr>
        <p:cNvPr id="1" name=""/>
        <p:cNvGrpSpPr/>
        <p:nvPr/>
      </p:nvGrpSpPr>
      <p:grpSpPr>
        <a:xfrm>
          <a:off x="0" y="0"/>
          <a:ext cx="0" cy="0"/>
          <a:chOff x="0" y="0"/>
          <a:chExt cx="0" cy="0"/>
        </a:xfrm>
      </p:grpSpPr>
      <p:sp>
        <p:nvSpPr>
          <p:cNvPr id="19" name="Pentagon 3"/>
          <p:cNvSpPr/>
          <p:nvPr userDrawn="1"/>
        </p:nvSpPr>
        <p:spPr bwMode="white">
          <a:xfrm>
            <a:off x="1" y="0"/>
            <a:ext cx="5426920" cy="6858000"/>
          </a:xfrm>
          <a:prstGeom prst="homePlate">
            <a:avLst>
              <a:gd name="adj" fmla="val 12939"/>
            </a:avLst>
          </a:prstGeom>
          <a:gradFill>
            <a:gsLst>
              <a:gs pos="0">
                <a:schemeClr val="tx2"/>
              </a:gs>
              <a:gs pos="100000">
                <a:schemeClr val="accent2"/>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90000"/>
              </a:lnSpc>
              <a:spcAft>
                <a:spcPts val="1000"/>
              </a:spcAft>
            </a:pPr>
            <a:endParaRPr lang="en-US" sz="1200">
              <a:solidFill>
                <a:prstClr val="white"/>
              </a:solidFill>
              <a:latin typeface="+mn-lt"/>
              <a:sym typeface="Trebuchet MS" panose="020B0603020202020204" pitchFamily="34" charset="0"/>
            </a:endParaRPr>
          </a:p>
        </p:txBody>
      </p:sp>
      <p:sp>
        <p:nvSpPr>
          <p:cNvPr id="20" name="Title 1"/>
          <p:cNvSpPr>
            <a:spLocks noGrp="1"/>
          </p:cNvSpPr>
          <p:nvPr>
            <p:ph type="title" hasCustomPrompt="1"/>
          </p:nvPr>
        </p:nvSpPr>
        <p:spPr>
          <a:xfrm>
            <a:off x="630000" y="1785600"/>
            <a:ext cx="4062235" cy="3286800"/>
          </a:xfrm>
          <a:prstGeom prst="rect">
            <a:avLst/>
          </a:prstGeom>
        </p:spPr>
        <p:txBody>
          <a:bodyPr anchor="ctr">
            <a:noAutofit/>
          </a:bodyPr>
          <a:lstStyle>
            <a:lvl1pPr>
              <a:defRPr sz="4400" b="0">
                <a:solidFill>
                  <a:srgbClr val="FFFFFF"/>
                </a:solidFill>
                <a:latin typeface="+mj-lt"/>
                <a:sym typeface="Trebuchet MS" panose="020B0603020202020204" pitchFamily="34" charset="0"/>
              </a:defRPr>
            </a:lvl1pPr>
          </a:lstStyle>
          <a:p>
            <a:r>
              <a:rPr lang="en-US"/>
              <a:t>Click to add title</a:t>
            </a:r>
          </a:p>
        </p:txBody>
      </p:sp>
      <p:sp>
        <p:nvSpPr>
          <p:cNvPr id="13" name="Date Placeholder 3"/>
          <p:cNvSpPr>
            <a:spLocks noGrp="1"/>
          </p:cNvSpPr>
          <p:nvPr>
            <p:ph type="dt" sz="half" idx="2"/>
          </p:nvPr>
        </p:nvSpPr>
        <p:spPr>
          <a:xfrm>
            <a:off x="9677400" y="6405036"/>
            <a:ext cx="1482051" cy="153888"/>
          </a:xfrm>
          <a:prstGeom prst="rect">
            <a:avLst/>
          </a:prstGeom>
        </p:spPr>
        <p:txBody>
          <a:bodyPr vert="horz" wrap="square" lIns="0" tIns="0" rIns="0" bIns="0" rtlCol="0" anchor="b">
            <a:spAutoFit/>
          </a:bodyPr>
          <a:lstStyle>
            <a:lvl1pPr algn="r">
              <a:defRPr sz="1000">
                <a:solidFill>
                  <a:schemeClr val="bg1">
                    <a:lumMod val="50000"/>
                  </a:schemeClr>
                </a:solidFill>
                <a:latin typeface="+mn-lt"/>
                <a:sym typeface="Trebuchet MS" panose="020B0603020202020204" pitchFamily="34" charset="0"/>
              </a:defRPr>
            </a:lvl1pPr>
          </a:lstStyle>
          <a:p>
            <a:endParaRPr lang="en-US"/>
          </a:p>
        </p:txBody>
      </p:sp>
      <p:sp>
        <p:nvSpPr>
          <p:cNvPr id="14" name="TextBox 13"/>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lumMod val="50000"/>
                  </a:schemeClr>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lumMod val="50000"/>
                </a:schemeClr>
              </a:solidFill>
              <a:latin typeface="+mn-lt"/>
              <a:ea typeface="+mn-ea"/>
              <a:cs typeface="+mn-cs"/>
              <a:sym typeface="Trebuchet MS" panose="020B0603020202020204" pitchFamily="34" charset="0"/>
            </a:endParaRPr>
          </a:p>
        </p:txBody>
      </p:sp>
      <p:sp>
        <p:nvSpPr>
          <p:cNvPr id="15"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2024 by Boston Consulting Group. All rights reserved.</a:t>
            </a:r>
          </a:p>
        </p:txBody>
      </p:sp>
      <p:pic>
        <p:nvPicPr>
          <p:cNvPr id="9" name="Picture 8"/>
          <p:cNvPicPr>
            <a:picLocks noChangeAspect="1"/>
          </p:cNvPicPr>
          <p:nvPr userDrawn="1"/>
        </p:nvPicPr>
        <p:blipFill rotWithShape="1">
          <a:blip r:embed="rId2">
            <a:extLst>
              <a:ext uri="{28A0092B-C50C-407E-A947-70E740481C1C}">
                <a14:useLocalDpi xmlns:a14="http://schemas.microsoft.com/office/drawing/2010/main" val="0"/>
              </a:ext>
            </a:extLst>
          </a:blip>
          <a:srcRect t="7562" b="6867"/>
          <a:stretch/>
        </p:blipFill>
        <p:spPr>
          <a:xfrm>
            <a:off x="3578059" y="3416300"/>
            <a:ext cx="2694666" cy="3441700"/>
          </a:xfrm>
          <a:custGeom>
            <a:avLst/>
            <a:gdLst>
              <a:gd name="connsiteX0" fmla="*/ 2040063 w 2694666"/>
              <a:gd name="connsiteY0" fmla="*/ 0 h 3441700"/>
              <a:gd name="connsiteX1" fmla="*/ 2694666 w 2694666"/>
              <a:gd name="connsiteY1" fmla="*/ 0 h 3441700"/>
              <a:gd name="connsiteX2" fmla="*/ 2694666 w 2694666"/>
              <a:gd name="connsiteY2" fmla="*/ 3441700 h 3441700"/>
              <a:gd name="connsiteX3" fmla="*/ 1510783 w 2694666"/>
              <a:gd name="connsiteY3" fmla="*/ 3441700 h 3441700"/>
              <a:gd name="connsiteX4" fmla="*/ 1816742 w 2694666"/>
              <a:gd name="connsiteY4" fmla="*/ 365420 h 3441700"/>
              <a:gd name="connsiteX5" fmla="*/ 2022641 w 2694666"/>
              <a:gd name="connsiteY5" fmla="*/ 379413 h 3441700"/>
              <a:gd name="connsiteX6" fmla="*/ 0 w 2694666"/>
              <a:gd name="connsiteY6" fmla="*/ 0 h 3441700"/>
              <a:gd name="connsiteX7" fmla="*/ 1846270 w 2694666"/>
              <a:gd name="connsiteY7" fmla="*/ 0 h 3441700"/>
              <a:gd name="connsiteX8" fmla="*/ 1848810 w 2694666"/>
              <a:gd name="connsiteY8" fmla="*/ 12700 h 3441700"/>
              <a:gd name="connsiteX9" fmla="*/ 1777372 w 2694666"/>
              <a:gd name="connsiteY9" fmla="*/ 362744 h 3441700"/>
              <a:gd name="connsiteX10" fmla="*/ 1780172 w 2694666"/>
              <a:gd name="connsiteY10" fmla="*/ 362934 h 3441700"/>
              <a:gd name="connsiteX11" fmla="*/ 1144340 w 2694666"/>
              <a:gd name="connsiteY11" fmla="*/ 3441700 h 3441700"/>
              <a:gd name="connsiteX12" fmla="*/ 0 w 2694666"/>
              <a:gd name="connsiteY12" fmla="*/ 3441700 h 344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94666" h="3441700">
                <a:moveTo>
                  <a:pt x="2040063" y="0"/>
                </a:moveTo>
                <a:lnTo>
                  <a:pt x="2694666" y="0"/>
                </a:lnTo>
                <a:lnTo>
                  <a:pt x="2694666" y="3441700"/>
                </a:lnTo>
                <a:lnTo>
                  <a:pt x="1510783" y="3441700"/>
                </a:lnTo>
                <a:lnTo>
                  <a:pt x="1816742" y="365420"/>
                </a:lnTo>
                <a:lnTo>
                  <a:pt x="2022641" y="379413"/>
                </a:lnTo>
                <a:close/>
                <a:moveTo>
                  <a:pt x="0" y="0"/>
                </a:moveTo>
                <a:lnTo>
                  <a:pt x="1846270" y="0"/>
                </a:lnTo>
                <a:lnTo>
                  <a:pt x="1848810" y="12700"/>
                </a:lnTo>
                <a:lnTo>
                  <a:pt x="1777372" y="362744"/>
                </a:lnTo>
                <a:lnTo>
                  <a:pt x="1780172" y="362934"/>
                </a:lnTo>
                <a:lnTo>
                  <a:pt x="1144340" y="3441700"/>
                </a:lnTo>
                <a:lnTo>
                  <a:pt x="0" y="3441700"/>
                </a:lnTo>
                <a:close/>
              </a:path>
            </a:pathLst>
          </a:custGeom>
        </p:spPr>
      </p:pic>
    </p:spTree>
    <p:extLst>
      <p:ext uri="{BB962C8B-B14F-4D97-AF65-F5344CB8AC3E}">
        <p14:creationId xmlns:p14="http://schemas.microsoft.com/office/powerpoint/2010/main" val="58935686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45.xml><?xml version="1.0" encoding="utf-8"?>
<p:sldLayout xmlns:a="http://schemas.openxmlformats.org/drawingml/2006/main" xmlns:r="http://schemas.openxmlformats.org/officeDocument/2006/relationships" xmlns:p="http://schemas.openxmlformats.org/presentationml/2006/main" showMasterSp="0" preserve="1" userDrawn="1">
  <p:cSld name="D. Arrow half">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sp>
        <p:nvSpPr>
          <p:cNvPr id="9" name="Pentagon 8"/>
          <p:cNvSpPr/>
          <p:nvPr/>
        </p:nvSpPr>
        <p:spPr bwMode="white">
          <a:xfrm>
            <a:off x="0" y="0"/>
            <a:ext cx="6363546" cy="6858000"/>
          </a:xfrm>
          <a:prstGeom prst="homePlate">
            <a:avLst>
              <a:gd name="adj" fmla="val 1293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90000"/>
              </a:lnSpc>
              <a:spcAft>
                <a:spcPts val="1000"/>
              </a:spcAft>
            </a:pPr>
            <a:endParaRPr lang="en-US" sz="1200">
              <a:solidFill>
                <a:prstClr val="white"/>
              </a:solidFill>
              <a:latin typeface="+mn-lt"/>
              <a:sym typeface="Trebuchet MS" panose="020B0603020202020204" pitchFamily="34" charset="0"/>
            </a:endParaRPr>
          </a:p>
        </p:txBody>
      </p:sp>
      <p:sp>
        <p:nvSpPr>
          <p:cNvPr id="3" name="Title 2"/>
          <p:cNvSpPr>
            <a:spLocks noGrp="1"/>
          </p:cNvSpPr>
          <p:nvPr>
            <p:ph type="title" hasCustomPrompt="1"/>
          </p:nvPr>
        </p:nvSpPr>
        <p:spPr>
          <a:xfrm>
            <a:off x="630000" y="622800"/>
            <a:ext cx="4747822" cy="332399"/>
          </a:xfrm>
          <a:prstGeom prst="rect">
            <a:avLst/>
          </a:prstGeom>
        </p:spPr>
        <p:txBody>
          <a:bodyPr/>
          <a:lstStyle>
            <a:lvl1pPr>
              <a:defRPr>
                <a:latin typeface="+mj-lt"/>
                <a:sym typeface="Trebuchet MS" panose="020B0603020202020204" pitchFamily="34" charset="0"/>
              </a:defRPr>
            </a:lvl1pPr>
          </a:lstStyle>
          <a:p>
            <a:r>
              <a:rPr lang="en-US"/>
              <a:t>Click to add title</a:t>
            </a:r>
          </a:p>
        </p:txBody>
      </p:sp>
      <p:sp>
        <p:nvSpPr>
          <p:cNvPr id="13" name="Date Placeholder 4"/>
          <p:cNvSpPr>
            <a:spLocks noGrp="1"/>
          </p:cNvSpPr>
          <p:nvPr>
            <p:ph type="dt" sz="half" idx="10"/>
          </p:nvPr>
        </p:nvSpPr>
        <p:spPr>
          <a:xfrm>
            <a:off x="9677400" y="6405036"/>
            <a:ext cx="1482051" cy="153888"/>
          </a:xfrm>
        </p:spPr>
        <p:txBody>
          <a:bodyPr/>
          <a:lstStyle>
            <a:lvl1pPr>
              <a:defRPr>
                <a:solidFill>
                  <a:schemeClr val="bg1"/>
                </a:solidFill>
                <a:latin typeface="+mn-lt"/>
                <a:sym typeface="Trebuchet MS" panose="020B0603020202020204" pitchFamily="34" charset="0"/>
              </a:defRPr>
            </a:lvl1pPr>
          </a:lstStyle>
          <a:p>
            <a:endParaRPr lang="en-US"/>
          </a:p>
        </p:txBody>
      </p:sp>
      <p:sp>
        <p:nvSpPr>
          <p:cNvPr id="18"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2024 by Boston Consulting Group. All rights reserved.</a:t>
            </a:r>
          </a:p>
        </p:txBody>
      </p:sp>
      <p:sp>
        <p:nvSpPr>
          <p:cNvPr id="16" name="TextBox 15"/>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pic>
        <p:nvPicPr>
          <p:cNvPr id="10" name="Picture 9"/>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5397806" y="3589606"/>
            <a:ext cx="1365250" cy="3382962"/>
          </a:xfrm>
          <a:custGeom>
            <a:avLst/>
            <a:gdLst>
              <a:gd name="connsiteX0" fmla="*/ 920598 w 1365250"/>
              <a:gd name="connsiteY0" fmla="*/ 0 h 3382962"/>
              <a:gd name="connsiteX1" fmla="*/ 1365250 w 1365250"/>
              <a:gd name="connsiteY1" fmla="*/ 0 h 3382962"/>
              <a:gd name="connsiteX2" fmla="*/ 1365250 w 1365250"/>
              <a:gd name="connsiteY2" fmla="*/ 3382962 h 3382962"/>
              <a:gd name="connsiteX3" fmla="*/ 0 w 1365250"/>
              <a:gd name="connsiteY3" fmla="*/ 3382962 h 3382962"/>
              <a:gd name="connsiteX4" fmla="*/ 0 w 1365250"/>
              <a:gd name="connsiteY4" fmla="*/ 3320782 h 3382962"/>
              <a:gd name="connsiteX5" fmla="*/ 126694 w 1365250"/>
              <a:gd name="connsiteY5" fmla="*/ 3320782 h 3382962"/>
              <a:gd name="connsiteX6" fmla="*/ 0 w 1365250"/>
              <a:gd name="connsiteY6" fmla="*/ 0 h 3382962"/>
              <a:gd name="connsiteX7" fmla="*/ 908172 w 1365250"/>
              <a:gd name="connsiteY7" fmla="*/ 0 h 3382962"/>
              <a:gd name="connsiteX8" fmla="*/ 0 w 1365250"/>
              <a:gd name="connsiteY8" fmla="*/ 2890357 h 3382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65250" h="3382962">
                <a:moveTo>
                  <a:pt x="920598" y="0"/>
                </a:moveTo>
                <a:lnTo>
                  <a:pt x="1365250" y="0"/>
                </a:lnTo>
                <a:lnTo>
                  <a:pt x="1365250" y="3382962"/>
                </a:lnTo>
                <a:lnTo>
                  <a:pt x="0" y="3382962"/>
                </a:lnTo>
                <a:lnTo>
                  <a:pt x="0" y="3320782"/>
                </a:lnTo>
                <a:lnTo>
                  <a:pt x="126694" y="3320782"/>
                </a:lnTo>
                <a:close/>
                <a:moveTo>
                  <a:pt x="0" y="0"/>
                </a:moveTo>
                <a:lnTo>
                  <a:pt x="908172" y="0"/>
                </a:lnTo>
                <a:lnTo>
                  <a:pt x="0" y="2890357"/>
                </a:lnTo>
                <a:close/>
              </a:path>
            </a:pathLst>
          </a:cu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6980954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46.xml><?xml version="1.0" encoding="utf-8"?>
<p:sldLayout xmlns:a="http://schemas.openxmlformats.org/drawingml/2006/main" xmlns:r="http://schemas.openxmlformats.org/officeDocument/2006/relationships" xmlns:p="http://schemas.openxmlformats.org/presentationml/2006/main" showMasterSp="0" preserve="1" userDrawn="1">
  <p:cSld name="D. Green arrow half">
    <p:bg>
      <p:bgPr>
        <a:solidFill>
          <a:schemeClr val="bg1"/>
        </a:solidFill>
        <a:effectLst/>
      </p:bgPr>
    </p:bg>
    <p:spTree>
      <p:nvGrpSpPr>
        <p:cNvPr id="1" name=""/>
        <p:cNvGrpSpPr/>
        <p:nvPr/>
      </p:nvGrpSpPr>
      <p:grpSpPr>
        <a:xfrm>
          <a:off x="0" y="0"/>
          <a:ext cx="0" cy="0"/>
          <a:chOff x="0" y="0"/>
          <a:chExt cx="0" cy="0"/>
        </a:xfrm>
      </p:grpSpPr>
      <p:sp>
        <p:nvSpPr>
          <p:cNvPr id="9" name="Pentagon 8"/>
          <p:cNvSpPr/>
          <p:nvPr/>
        </p:nvSpPr>
        <p:spPr bwMode="white">
          <a:xfrm>
            <a:off x="0" y="0"/>
            <a:ext cx="6363546" cy="6858000"/>
          </a:xfrm>
          <a:prstGeom prst="homePlate">
            <a:avLst>
              <a:gd name="adj" fmla="val 12939"/>
            </a:avLst>
          </a:prstGeom>
          <a:gradFill>
            <a:gsLst>
              <a:gs pos="0">
                <a:schemeClr val="tx2"/>
              </a:gs>
              <a:gs pos="100000">
                <a:schemeClr val="accent2"/>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90000"/>
              </a:lnSpc>
              <a:spcAft>
                <a:spcPts val="1000"/>
              </a:spcAft>
            </a:pPr>
            <a:endParaRPr lang="en-US" sz="1200">
              <a:solidFill>
                <a:prstClr val="white"/>
              </a:solidFill>
              <a:latin typeface="+mn-lt"/>
              <a:sym typeface="Trebuchet MS" panose="020B0603020202020204" pitchFamily="34" charset="0"/>
            </a:endParaRPr>
          </a:p>
        </p:txBody>
      </p:sp>
      <p:sp>
        <p:nvSpPr>
          <p:cNvPr id="3" name="Title 2"/>
          <p:cNvSpPr>
            <a:spLocks noGrp="1"/>
          </p:cNvSpPr>
          <p:nvPr>
            <p:ph type="title" hasCustomPrompt="1"/>
          </p:nvPr>
        </p:nvSpPr>
        <p:spPr>
          <a:xfrm>
            <a:off x="630000" y="622800"/>
            <a:ext cx="4747822" cy="332399"/>
          </a:xfrm>
          <a:prstGeom prst="rect">
            <a:avLst/>
          </a:prstGeom>
        </p:spPr>
        <p:txBody>
          <a:bodyPr/>
          <a:lstStyle>
            <a:lvl1pPr>
              <a:defRPr>
                <a:solidFill>
                  <a:srgbClr val="FFFFFF"/>
                </a:solidFill>
                <a:latin typeface="+mj-lt"/>
                <a:sym typeface="Trebuchet MS" panose="020B0603020202020204" pitchFamily="34" charset="0"/>
              </a:defRPr>
            </a:lvl1pPr>
          </a:lstStyle>
          <a:p>
            <a:r>
              <a:rPr lang="en-US"/>
              <a:t>Click to add title</a:t>
            </a:r>
          </a:p>
        </p:txBody>
      </p:sp>
      <p:sp>
        <p:nvSpPr>
          <p:cNvPr id="11" name="Date Placeholder 3"/>
          <p:cNvSpPr>
            <a:spLocks noGrp="1"/>
          </p:cNvSpPr>
          <p:nvPr>
            <p:ph type="dt" sz="half" idx="2"/>
          </p:nvPr>
        </p:nvSpPr>
        <p:spPr>
          <a:xfrm>
            <a:off x="9677400" y="6405036"/>
            <a:ext cx="1482051" cy="153888"/>
          </a:xfrm>
          <a:prstGeom prst="rect">
            <a:avLst/>
          </a:prstGeom>
        </p:spPr>
        <p:txBody>
          <a:bodyPr vert="horz" wrap="square" lIns="0" tIns="0" rIns="0" bIns="0" rtlCol="0" anchor="b">
            <a:spAutoFit/>
          </a:bodyPr>
          <a:lstStyle>
            <a:lvl1pPr algn="r">
              <a:defRPr sz="1000">
                <a:solidFill>
                  <a:schemeClr val="bg1">
                    <a:lumMod val="50000"/>
                  </a:schemeClr>
                </a:solidFill>
                <a:latin typeface="+mn-lt"/>
                <a:sym typeface="Trebuchet MS" panose="020B0603020202020204" pitchFamily="34" charset="0"/>
              </a:defRPr>
            </a:lvl1pPr>
          </a:lstStyle>
          <a:p>
            <a:endParaRPr lang="en-US"/>
          </a:p>
        </p:txBody>
      </p:sp>
      <p:sp>
        <p:nvSpPr>
          <p:cNvPr id="14" name="TextBox 13"/>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lumMod val="50000"/>
                  </a:schemeClr>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lumMod val="50000"/>
                </a:schemeClr>
              </a:solidFill>
              <a:latin typeface="+mn-lt"/>
              <a:ea typeface="+mn-ea"/>
              <a:cs typeface="+mn-cs"/>
              <a:sym typeface="Trebuchet MS" panose="020B0603020202020204" pitchFamily="34" charset="0"/>
            </a:endParaRPr>
          </a:p>
        </p:txBody>
      </p:sp>
      <p:sp>
        <p:nvSpPr>
          <p:cNvPr id="15"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2024 by Boston Consulting Group. All rights reserved.</a:t>
            </a:r>
          </a:p>
        </p:txBody>
      </p:sp>
      <p:pic>
        <p:nvPicPr>
          <p:cNvPr id="10" name="Picture 9"/>
          <p:cNvPicPr>
            <a:picLocks noChangeAspect="1"/>
          </p:cNvPicPr>
          <p:nvPr userDrawn="1"/>
        </p:nvPicPr>
        <p:blipFill rotWithShape="1">
          <a:blip r:embed="rId2">
            <a:extLst>
              <a:ext uri="{28A0092B-C50C-407E-A947-70E740481C1C}">
                <a14:useLocalDpi xmlns:a14="http://schemas.microsoft.com/office/drawing/2010/main" val="0"/>
              </a:ext>
            </a:extLst>
          </a:blip>
          <a:srcRect t="9052" b="6867"/>
          <a:stretch/>
        </p:blipFill>
        <p:spPr>
          <a:xfrm rot="120000">
            <a:off x="4460172" y="3407803"/>
            <a:ext cx="2694666" cy="3456551"/>
          </a:xfrm>
          <a:custGeom>
            <a:avLst/>
            <a:gdLst>
              <a:gd name="connsiteX0" fmla="*/ 2136534 w 2694666"/>
              <a:gd name="connsiteY0" fmla="*/ 0 h 3456551"/>
              <a:gd name="connsiteX1" fmla="*/ 2694666 w 2694666"/>
              <a:gd name="connsiteY1" fmla="*/ 0 h 3456551"/>
              <a:gd name="connsiteX2" fmla="*/ 2694666 w 2694666"/>
              <a:gd name="connsiteY2" fmla="*/ 3456551 h 3456551"/>
              <a:gd name="connsiteX3" fmla="*/ 1957033 w 2694666"/>
              <a:gd name="connsiteY3" fmla="*/ 3456551 h 3456551"/>
              <a:gd name="connsiteX4" fmla="*/ 1856842 w 2694666"/>
              <a:gd name="connsiteY4" fmla="*/ 432620 h 3456551"/>
              <a:gd name="connsiteX5" fmla="*/ 1914577 w 2694666"/>
              <a:gd name="connsiteY5" fmla="*/ 426057 h 3456551"/>
              <a:gd name="connsiteX6" fmla="*/ 0 w 2694666"/>
              <a:gd name="connsiteY6" fmla="*/ 0 h 3456551"/>
              <a:gd name="connsiteX7" fmla="*/ 1841687 w 2694666"/>
              <a:gd name="connsiteY7" fmla="*/ 0 h 3456551"/>
              <a:gd name="connsiteX8" fmla="*/ 1142595 w 2694666"/>
              <a:gd name="connsiteY8" fmla="*/ 3456551 h 3456551"/>
              <a:gd name="connsiteX9" fmla="*/ 0 w 2694666"/>
              <a:gd name="connsiteY9" fmla="*/ 3456551 h 3456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4666" h="3456551">
                <a:moveTo>
                  <a:pt x="2136534" y="0"/>
                </a:moveTo>
                <a:lnTo>
                  <a:pt x="2694666" y="0"/>
                </a:lnTo>
                <a:lnTo>
                  <a:pt x="2694666" y="3456551"/>
                </a:lnTo>
                <a:lnTo>
                  <a:pt x="1957033" y="3456551"/>
                </a:lnTo>
                <a:lnTo>
                  <a:pt x="1856842" y="432620"/>
                </a:lnTo>
                <a:lnTo>
                  <a:pt x="1914577" y="426057"/>
                </a:lnTo>
                <a:close/>
                <a:moveTo>
                  <a:pt x="0" y="0"/>
                </a:moveTo>
                <a:lnTo>
                  <a:pt x="1841687" y="0"/>
                </a:lnTo>
                <a:lnTo>
                  <a:pt x="1142595" y="3456551"/>
                </a:lnTo>
                <a:lnTo>
                  <a:pt x="0" y="3456551"/>
                </a:lnTo>
                <a:close/>
              </a:path>
            </a:pathLst>
          </a:custGeom>
        </p:spPr>
      </p:pic>
    </p:spTree>
    <p:extLst>
      <p:ext uri="{BB962C8B-B14F-4D97-AF65-F5344CB8AC3E}">
        <p14:creationId xmlns:p14="http://schemas.microsoft.com/office/powerpoint/2010/main" val="196902738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47.xml><?xml version="1.0" encoding="utf-8"?>
<p:sldLayout xmlns:a="http://schemas.openxmlformats.org/drawingml/2006/main" xmlns:r="http://schemas.openxmlformats.org/officeDocument/2006/relationships" xmlns:p="http://schemas.openxmlformats.org/presentationml/2006/main" showMasterSp="0" preserve="1" userDrawn="1">
  <p:cSld name="D. Arrow two third">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sp>
        <p:nvSpPr>
          <p:cNvPr id="12" name="Freeform 18"/>
          <p:cNvSpPr/>
          <p:nvPr userDrawn="1"/>
        </p:nvSpPr>
        <p:spPr bwMode="white">
          <a:xfrm>
            <a:off x="0" y="0"/>
            <a:ext cx="8446239" cy="6858000"/>
          </a:xfrm>
          <a:custGeom>
            <a:avLst/>
            <a:gdLst>
              <a:gd name="connsiteX0" fmla="*/ 0 w 8446239"/>
              <a:gd name="connsiteY0" fmla="*/ 0 h 6858000"/>
              <a:gd name="connsiteX1" fmla="*/ 7645979 w 8446239"/>
              <a:gd name="connsiteY1" fmla="*/ 0 h 6858000"/>
              <a:gd name="connsiteX2" fmla="*/ 8446239 w 8446239"/>
              <a:gd name="connsiteY2" fmla="*/ 3429000 h 6858000"/>
              <a:gd name="connsiteX3" fmla="*/ 7645979 w 8446239"/>
              <a:gd name="connsiteY3" fmla="*/ 6858000 h 6858000"/>
              <a:gd name="connsiteX4" fmla="*/ 0 w 8446239"/>
              <a:gd name="connsiteY4" fmla="*/ 6858000 h 6858000"/>
              <a:gd name="connsiteX5" fmla="*/ 0 w 8446239"/>
              <a:gd name="connsiteY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46239" h="6858000">
                <a:moveTo>
                  <a:pt x="0" y="0"/>
                </a:moveTo>
                <a:lnTo>
                  <a:pt x="7645979" y="0"/>
                </a:lnTo>
                <a:lnTo>
                  <a:pt x="8446239" y="3429000"/>
                </a:lnTo>
                <a:lnTo>
                  <a:pt x="7645979" y="6858000"/>
                </a:lnTo>
                <a:lnTo>
                  <a:pt x="0" y="6858000"/>
                </a:lnTo>
                <a:lnTo>
                  <a:pt x="0" y="0"/>
                </a:lnTo>
                <a:close/>
              </a:path>
            </a:pathLst>
          </a:cu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l">
              <a:lnSpc>
                <a:spcPct val="90000"/>
              </a:lnSpc>
              <a:spcAft>
                <a:spcPts val="1000"/>
              </a:spcAft>
            </a:pPr>
            <a:endParaRPr lang="en-US" sz="1200">
              <a:solidFill>
                <a:schemeClr val="bg1"/>
              </a:solidFill>
              <a:latin typeface="+mn-lt"/>
              <a:sym typeface="Trebuchet MS" panose="020B0603020202020204" pitchFamily="34" charset="0"/>
            </a:endParaRPr>
          </a:p>
        </p:txBody>
      </p:sp>
      <p:sp>
        <p:nvSpPr>
          <p:cNvPr id="13" name="Date Placeholder 4"/>
          <p:cNvSpPr>
            <a:spLocks noGrp="1"/>
          </p:cNvSpPr>
          <p:nvPr>
            <p:ph type="dt" sz="half" idx="10"/>
          </p:nvPr>
        </p:nvSpPr>
        <p:spPr>
          <a:xfrm>
            <a:off x="9677400" y="6405036"/>
            <a:ext cx="1482051" cy="153888"/>
          </a:xfrm>
        </p:spPr>
        <p:txBody>
          <a:bodyPr/>
          <a:lstStyle>
            <a:lvl1pPr>
              <a:defRPr>
                <a:solidFill>
                  <a:schemeClr val="bg1"/>
                </a:solidFill>
                <a:latin typeface="+mn-lt"/>
                <a:sym typeface="Trebuchet MS" panose="020B0603020202020204" pitchFamily="34" charset="0"/>
              </a:defRPr>
            </a:lvl1pPr>
          </a:lstStyle>
          <a:p>
            <a:endParaRPr lang="en-US"/>
          </a:p>
        </p:txBody>
      </p:sp>
      <p:sp>
        <p:nvSpPr>
          <p:cNvPr id="9"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2024 by Boston Consulting Group. All rights reserved.</a:t>
            </a:r>
          </a:p>
        </p:txBody>
      </p:sp>
      <p:sp>
        <p:nvSpPr>
          <p:cNvPr id="15" name="TextBox 14"/>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
        <p:nvSpPr>
          <p:cNvPr id="2" name="Title 1"/>
          <p:cNvSpPr>
            <a:spLocks noGrp="1"/>
          </p:cNvSpPr>
          <p:nvPr>
            <p:ph type="title" hasCustomPrompt="1"/>
          </p:nvPr>
        </p:nvSpPr>
        <p:spPr>
          <a:xfrm>
            <a:off x="630000" y="622800"/>
            <a:ext cx="6254496" cy="332399"/>
          </a:xfrm>
          <a:prstGeom prst="rect">
            <a:avLst/>
          </a:prstGeom>
        </p:spPr>
        <p:txBody>
          <a:bodyPr/>
          <a:lstStyle>
            <a:lvl1pPr>
              <a:defRPr>
                <a:latin typeface="+mj-lt"/>
                <a:sym typeface="Trebuchet MS" panose="020B0603020202020204" pitchFamily="34" charset="0"/>
              </a:defRPr>
            </a:lvl1pPr>
          </a:lstStyle>
          <a:p>
            <a:r>
              <a:rPr lang="en-US"/>
              <a:t>Click to add title</a:t>
            </a:r>
          </a:p>
        </p:txBody>
      </p:sp>
      <p:pic>
        <p:nvPicPr>
          <p:cNvPr id="11" name="Picture 10"/>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7490339" y="3589606"/>
            <a:ext cx="1365250" cy="3382962"/>
          </a:xfrm>
          <a:custGeom>
            <a:avLst/>
            <a:gdLst>
              <a:gd name="connsiteX0" fmla="*/ 911531 w 1365250"/>
              <a:gd name="connsiteY0" fmla="*/ 0 h 3382962"/>
              <a:gd name="connsiteX1" fmla="*/ 1365250 w 1365250"/>
              <a:gd name="connsiteY1" fmla="*/ 0 h 3382962"/>
              <a:gd name="connsiteX2" fmla="*/ 1365250 w 1365250"/>
              <a:gd name="connsiteY2" fmla="*/ 3382962 h 3382962"/>
              <a:gd name="connsiteX3" fmla="*/ 107988 w 1365250"/>
              <a:gd name="connsiteY3" fmla="*/ 3382962 h 3382962"/>
              <a:gd name="connsiteX4" fmla="*/ 111422 w 1365250"/>
              <a:gd name="connsiteY4" fmla="*/ 3368118 h 3382962"/>
              <a:gd name="connsiteX5" fmla="*/ 129661 w 1365250"/>
              <a:gd name="connsiteY5" fmla="*/ 3368407 h 3382962"/>
              <a:gd name="connsiteX6" fmla="*/ 890411 w 1365250"/>
              <a:gd name="connsiteY6" fmla="*/ 0 h 3382962"/>
              <a:gd name="connsiteX7" fmla="*/ 897808 w 1365250"/>
              <a:gd name="connsiteY7" fmla="*/ 0 h 3382962"/>
              <a:gd name="connsiteX8" fmla="*/ 870584 w 1365250"/>
              <a:gd name="connsiteY8" fmla="*/ 85726 h 3382962"/>
              <a:gd name="connsiteX9" fmla="*/ 0 w 1365250"/>
              <a:gd name="connsiteY9" fmla="*/ 0 h 3382962"/>
              <a:gd name="connsiteX10" fmla="*/ 852736 w 1365250"/>
              <a:gd name="connsiteY10" fmla="*/ 0 h 3382962"/>
              <a:gd name="connsiteX11" fmla="*/ 0 w 1365250"/>
              <a:gd name="connsiteY11" fmla="*/ 1883543 h 3382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5250" h="3382962">
                <a:moveTo>
                  <a:pt x="911531" y="0"/>
                </a:moveTo>
                <a:lnTo>
                  <a:pt x="1365250" y="0"/>
                </a:lnTo>
                <a:lnTo>
                  <a:pt x="1365250" y="3382962"/>
                </a:lnTo>
                <a:lnTo>
                  <a:pt x="107988" y="3382962"/>
                </a:lnTo>
                <a:lnTo>
                  <a:pt x="111422" y="3368118"/>
                </a:lnTo>
                <a:lnTo>
                  <a:pt x="129661" y="3368407"/>
                </a:lnTo>
                <a:close/>
                <a:moveTo>
                  <a:pt x="890411" y="0"/>
                </a:moveTo>
                <a:lnTo>
                  <a:pt x="897808" y="0"/>
                </a:lnTo>
                <a:lnTo>
                  <a:pt x="870584" y="85726"/>
                </a:lnTo>
                <a:close/>
                <a:moveTo>
                  <a:pt x="0" y="0"/>
                </a:moveTo>
                <a:lnTo>
                  <a:pt x="852736" y="0"/>
                </a:lnTo>
                <a:lnTo>
                  <a:pt x="0" y="1883543"/>
                </a:lnTo>
                <a:close/>
              </a:path>
            </a:pathLst>
          </a:cu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568364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48.xml><?xml version="1.0" encoding="utf-8"?>
<p:sldLayout xmlns:a="http://schemas.openxmlformats.org/drawingml/2006/main" xmlns:r="http://schemas.openxmlformats.org/officeDocument/2006/relationships" xmlns:p="http://schemas.openxmlformats.org/presentationml/2006/main" showMasterSp="0" preserve="1" userDrawn="1">
  <p:cSld name="D. Green arrow two third">
    <p:bg>
      <p:bgPr>
        <a:solidFill>
          <a:schemeClr val="bg1"/>
        </a:solidFill>
        <a:effectLst/>
      </p:bgPr>
    </p:bg>
    <p:spTree>
      <p:nvGrpSpPr>
        <p:cNvPr id="1" name=""/>
        <p:cNvGrpSpPr/>
        <p:nvPr/>
      </p:nvGrpSpPr>
      <p:grpSpPr>
        <a:xfrm>
          <a:off x="0" y="0"/>
          <a:ext cx="0" cy="0"/>
          <a:chOff x="0" y="0"/>
          <a:chExt cx="0" cy="0"/>
        </a:xfrm>
      </p:grpSpPr>
      <p:sp>
        <p:nvSpPr>
          <p:cNvPr id="12" name="Freeform 18"/>
          <p:cNvSpPr/>
          <p:nvPr userDrawn="1"/>
        </p:nvSpPr>
        <p:spPr bwMode="white">
          <a:xfrm>
            <a:off x="0" y="0"/>
            <a:ext cx="8446239" cy="6858000"/>
          </a:xfrm>
          <a:custGeom>
            <a:avLst/>
            <a:gdLst>
              <a:gd name="connsiteX0" fmla="*/ 0 w 8446239"/>
              <a:gd name="connsiteY0" fmla="*/ 0 h 6858000"/>
              <a:gd name="connsiteX1" fmla="*/ 7645979 w 8446239"/>
              <a:gd name="connsiteY1" fmla="*/ 0 h 6858000"/>
              <a:gd name="connsiteX2" fmla="*/ 8446239 w 8446239"/>
              <a:gd name="connsiteY2" fmla="*/ 3429000 h 6858000"/>
              <a:gd name="connsiteX3" fmla="*/ 7645979 w 8446239"/>
              <a:gd name="connsiteY3" fmla="*/ 6858000 h 6858000"/>
              <a:gd name="connsiteX4" fmla="*/ 0 w 8446239"/>
              <a:gd name="connsiteY4" fmla="*/ 6858000 h 6858000"/>
              <a:gd name="connsiteX5" fmla="*/ 0 w 8446239"/>
              <a:gd name="connsiteY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46239" h="6858000">
                <a:moveTo>
                  <a:pt x="0" y="0"/>
                </a:moveTo>
                <a:lnTo>
                  <a:pt x="7645979" y="0"/>
                </a:lnTo>
                <a:lnTo>
                  <a:pt x="8446239" y="3429000"/>
                </a:lnTo>
                <a:lnTo>
                  <a:pt x="7645979" y="6858000"/>
                </a:lnTo>
                <a:lnTo>
                  <a:pt x="0" y="6858000"/>
                </a:lnTo>
                <a:lnTo>
                  <a:pt x="0" y="0"/>
                </a:lnTo>
                <a:close/>
              </a:path>
            </a:pathLst>
          </a:custGeom>
          <a:gradFill>
            <a:gsLst>
              <a:gs pos="0">
                <a:schemeClr val="tx2"/>
              </a:gs>
              <a:gs pos="100000">
                <a:schemeClr val="accent2"/>
              </a:gs>
            </a:gsLst>
            <a:lin ang="8100000" scaled="1"/>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l">
              <a:lnSpc>
                <a:spcPct val="90000"/>
              </a:lnSpc>
              <a:spcAft>
                <a:spcPts val="1000"/>
              </a:spcAft>
            </a:pPr>
            <a:endParaRPr lang="en-US" sz="1200">
              <a:solidFill>
                <a:schemeClr val="bg1"/>
              </a:solidFill>
              <a:latin typeface="+mn-lt"/>
              <a:sym typeface="Trebuchet MS" panose="020B0603020202020204" pitchFamily="34" charset="0"/>
            </a:endParaRPr>
          </a:p>
        </p:txBody>
      </p:sp>
      <p:sp>
        <p:nvSpPr>
          <p:cNvPr id="2" name="Title 1"/>
          <p:cNvSpPr>
            <a:spLocks noGrp="1"/>
          </p:cNvSpPr>
          <p:nvPr>
            <p:ph type="title" hasCustomPrompt="1"/>
          </p:nvPr>
        </p:nvSpPr>
        <p:spPr>
          <a:xfrm>
            <a:off x="630000" y="622800"/>
            <a:ext cx="6254496" cy="332399"/>
          </a:xfrm>
          <a:prstGeom prst="rect">
            <a:avLst/>
          </a:prstGeom>
        </p:spPr>
        <p:txBody>
          <a:bodyPr/>
          <a:lstStyle>
            <a:lvl1pPr>
              <a:defRPr>
                <a:solidFill>
                  <a:srgbClr val="FFFFFF"/>
                </a:solidFill>
                <a:latin typeface="+mj-lt"/>
                <a:sym typeface="Trebuchet MS" panose="020B0603020202020204" pitchFamily="34" charset="0"/>
              </a:defRPr>
            </a:lvl1pPr>
          </a:lstStyle>
          <a:p>
            <a:r>
              <a:rPr lang="en-US"/>
              <a:t>Click to add title</a:t>
            </a:r>
          </a:p>
        </p:txBody>
      </p:sp>
      <p:sp>
        <p:nvSpPr>
          <p:cNvPr id="17" name="Date Placeholder 3"/>
          <p:cNvSpPr>
            <a:spLocks noGrp="1"/>
          </p:cNvSpPr>
          <p:nvPr>
            <p:ph type="dt" sz="half" idx="2"/>
          </p:nvPr>
        </p:nvSpPr>
        <p:spPr>
          <a:xfrm>
            <a:off x="9677400" y="6405036"/>
            <a:ext cx="1482051" cy="153888"/>
          </a:xfrm>
          <a:prstGeom prst="rect">
            <a:avLst/>
          </a:prstGeom>
        </p:spPr>
        <p:txBody>
          <a:bodyPr vert="horz" wrap="square" lIns="0" tIns="0" rIns="0" bIns="0" rtlCol="0" anchor="b">
            <a:spAutoFit/>
          </a:bodyPr>
          <a:lstStyle>
            <a:lvl1pPr algn="r">
              <a:defRPr sz="1000">
                <a:solidFill>
                  <a:schemeClr val="bg1">
                    <a:lumMod val="50000"/>
                  </a:schemeClr>
                </a:solidFill>
                <a:latin typeface="+mn-lt"/>
                <a:sym typeface="Trebuchet MS" panose="020B0603020202020204" pitchFamily="34" charset="0"/>
              </a:defRPr>
            </a:lvl1pPr>
          </a:lstStyle>
          <a:p>
            <a:endParaRPr lang="en-US"/>
          </a:p>
        </p:txBody>
      </p:sp>
      <p:sp>
        <p:nvSpPr>
          <p:cNvPr id="18" name="TextBox 17"/>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lumMod val="50000"/>
                  </a:schemeClr>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lumMod val="50000"/>
                </a:schemeClr>
              </a:solidFill>
              <a:latin typeface="+mn-lt"/>
              <a:ea typeface="+mn-ea"/>
              <a:cs typeface="+mn-cs"/>
              <a:sym typeface="Trebuchet MS" panose="020B0603020202020204" pitchFamily="34" charset="0"/>
            </a:endParaRPr>
          </a:p>
        </p:txBody>
      </p:sp>
      <p:sp>
        <p:nvSpPr>
          <p:cNvPr id="19"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2024 by Boston Consulting Group. All rights reserved.</a:t>
            </a:r>
          </a:p>
        </p:txBody>
      </p:sp>
      <p:pic>
        <p:nvPicPr>
          <p:cNvPr id="9" name="Picture 8"/>
          <p:cNvPicPr>
            <a:picLocks noChangeAspect="1"/>
          </p:cNvPicPr>
          <p:nvPr userDrawn="1"/>
        </p:nvPicPr>
        <p:blipFill rotWithShape="1">
          <a:blip r:embed="rId2">
            <a:extLst>
              <a:ext uri="{28A0092B-C50C-407E-A947-70E740481C1C}">
                <a14:useLocalDpi xmlns:a14="http://schemas.microsoft.com/office/drawing/2010/main" val="0"/>
              </a:ext>
            </a:extLst>
          </a:blip>
          <a:srcRect t="9052" b="6867"/>
          <a:stretch/>
        </p:blipFill>
        <p:spPr>
          <a:xfrm rot="120000">
            <a:off x="6567628" y="3407803"/>
            <a:ext cx="2694666" cy="3456551"/>
          </a:xfrm>
          <a:custGeom>
            <a:avLst/>
            <a:gdLst>
              <a:gd name="connsiteX0" fmla="*/ 2068299 w 2694666"/>
              <a:gd name="connsiteY0" fmla="*/ 0 h 3456551"/>
              <a:gd name="connsiteX1" fmla="*/ 2694666 w 2694666"/>
              <a:gd name="connsiteY1" fmla="*/ 0 h 3456551"/>
              <a:gd name="connsiteX2" fmla="*/ 2694666 w 2694666"/>
              <a:gd name="connsiteY2" fmla="*/ 3456551 h 3456551"/>
              <a:gd name="connsiteX3" fmla="*/ 1434992 w 2694666"/>
              <a:gd name="connsiteY3" fmla="*/ 3456551 h 3456551"/>
              <a:gd name="connsiteX4" fmla="*/ 0 w 2694666"/>
              <a:gd name="connsiteY4" fmla="*/ 0 h 3456551"/>
              <a:gd name="connsiteX5" fmla="*/ 1825478 w 2694666"/>
              <a:gd name="connsiteY5" fmla="*/ 0 h 3456551"/>
              <a:gd name="connsiteX6" fmla="*/ 1138791 w 2694666"/>
              <a:gd name="connsiteY6" fmla="*/ 3456551 h 3456551"/>
              <a:gd name="connsiteX7" fmla="*/ 0 w 2694666"/>
              <a:gd name="connsiteY7" fmla="*/ 3456551 h 3456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4666" h="3456551">
                <a:moveTo>
                  <a:pt x="2068299" y="0"/>
                </a:moveTo>
                <a:lnTo>
                  <a:pt x="2694666" y="0"/>
                </a:lnTo>
                <a:lnTo>
                  <a:pt x="2694666" y="3456551"/>
                </a:lnTo>
                <a:lnTo>
                  <a:pt x="1434992" y="3456551"/>
                </a:lnTo>
                <a:close/>
                <a:moveTo>
                  <a:pt x="0" y="0"/>
                </a:moveTo>
                <a:lnTo>
                  <a:pt x="1825478" y="0"/>
                </a:lnTo>
                <a:lnTo>
                  <a:pt x="1138791" y="3456551"/>
                </a:lnTo>
                <a:lnTo>
                  <a:pt x="0" y="3456551"/>
                </a:lnTo>
                <a:close/>
              </a:path>
            </a:pathLst>
          </a:custGeom>
        </p:spPr>
      </p:pic>
    </p:spTree>
    <p:extLst>
      <p:ext uri="{BB962C8B-B14F-4D97-AF65-F5344CB8AC3E}">
        <p14:creationId xmlns:p14="http://schemas.microsoft.com/office/powerpoint/2010/main" val="398493982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49.xml><?xml version="1.0" encoding="utf-8"?>
<p:sldLayout xmlns:a="http://schemas.openxmlformats.org/drawingml/2006/main" xmlns:r="http://schemas.openxmlformats.org/officeDocument/2006/relationships" xmlns:p="http://schemas.openxmlformats.org/presentationml/2006/main" showMasterSp="0" preserve="1" userDrawn="1">
  <p:cSld name="D. Big statement green">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sp>
        <p:nvSpPr>
          <p:cNvPr id="7" name="Date Placeholder 4"/>
          <p:cNvSpPr>
            <a:spLocks noGrp="1"/>
          </p:cNvSpPr>
          <p:nvPr>
            <p:ph type="dt" sz="half" idx="10"/>
          </p:nvPr>
        </p:nvSpPr>
        <p:spPr>
          <a:xfrm>
            <a:off x="9677400" y="6405036"/>
            <a:ext cx="1482051" cy="153888"/>
          </a:xfrm>
        </p:spPr>
        <p:txBody>
          <a:bodyPr/>
          <a:lstStyle>
            <a:lvl1pPr>
              <a:defRPr>
                <a:solidFill>
                  <a:schemeClr val="bg1"/>
                </a:solidFill>
                <a:latin typeface="+mn-lt"/>
                <a:sym typeface="Trebuchet MS" panose="020B0603020202020204" pitchFamily="34" charset="0"/>
              </a:defRPr>
            </a:lvl1pPr>
          </a:lstStyle>
          <a:p>
            <a:endParaRPr lang="en-US"/>
          </a:p>
        </p:txBody>
      </p:sp>
      <p:sp>
        <p:nvSpPr>
          <p:cNvPr id="9"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2024 by Boston Consulting Group. All rights reserved.</a:t>
            </a:r>
          </a:p>
        </p:txBody>
      </p:sp>
      <p:sp>
        <p:nvSpPr>
          <p:cNvPr id="10" name="TextBox 9"/>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
        <p:nvSpPr>
          <p:cNvPr id="11" name="Title 1"/>
          <p:cNvSpPr>
            <a:spLocks noGrp="1"/>
          </p:cNvSpPr>
          <p:nvPr>
            <p:ph type="title" hasCustomPrompt="1"/>
          </p:nvPr>
        </p:nvSpPr>
        <p:spPr>
          <a:xfrm>
            <a:off x="630000" y="3826333"/>
            <a:ext cx="10933200" cy="1606550"/>
          </a:xfrm>
        </p:spPr>
        <p:txBody>
          <a:bodyPr anchor="b">
            <a:noAutofit/>
          </a:bodyPr>
          <a:lstStyle>
            <a:lvl1pPr marL="0" algn="l" defTabSz="914400" rtl="0" eaLnBrk="1" fontAlgn="auto" latinLnBrk="0" hangingPunct="1">
              <a:lnSpc>
                <a:spcPts val="6000"/>
              </a:lnSpc>
              <a:spcBef>
                <a:spcPts val="0"/>
              </a:spcBef>
              <a:spcAft>
                <a:spcPts val="0"/>
              </a:spcAft>
              <a:defRPr lang="en-US" sz="5400" kern="1200" baseline="0" dirty="0">
                <a:solidFill>
                  <a:schemeClr val="bg1"/>
                </a:solidFill>
                <a:latin typeface="+mj-lt"/>
                <a:ea typeface="+mn-ea"/>
                <a:cs typeface="Arial" panose="020B0604020202020204" pitchFamily="34" charset="0"/>
                <a:sym typeface="Trebuchet MS" panose="020B0603020202020204" pitchFamily="34" charset="0"/>
              </a:defRPr>
            </a:lvl1pPr>
          </a:lstStyle>
          <a:p>
            <a:r>
              <a:rPr lang="en-US"/>
              <a:t>Click to add big statement text</a:t>
            </a:r>
          </a:p>
        </p:txBody>
      </p:sp>
    </p:spTree>
    <p:extLst>
      <p:ext uri="{BB962C8B-B14F-4D97-AF65-F5344CB8AC3E}">
        <p14:creationId xmlns:p14="http://schemas.microsoft.com/office/powerpoint/2010/main" val="58507585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D. Big statement icon">
    <p:bg>
      <p:bgPr>
        <a:solidFill>
          <a:schemeClr val="bg1"/>
        </a:solidFill>
        <a:effectLst/>
      </p:bgPr>
    </p:bg>
    <p:spTree>
      <p:nvGrpSpPr>
        <p:cNvPr id="1" name=""/>
        <p:cNvGrpSpPr/>
        <p:nvPr/>
      </p:nvGrpSpPr>
      <p:grpSpPr>
        <a:xfrm>
          <a:off x="0" y="0"/>
          <a:ext cx="0" cy="0"/>
          <a:chOff x="0" y="0"/>
          <a:chExt cx="0" cy="0"/>
        </a:xfrm>
      </p:grpSpPr>
      <p:sp>
        <p:nvSpPr>
          <p:cNvPr id="8" name="Date Placeholder 7"/>
          <p:cNvSpPr>
            <a:spLocks noGrp="1"/>
          </p:cNvSpPr>
          <p:nvPr>
            <p:ph type="dt" sz="half" idx="10"/>
          </p:nvPr>
        </p:nvSpPr>
        <p:spPr/>
        <p:txBody>
          <a:bodyPr/>
          <a:lstStyle>
            <a:lvl1pPr>
              <a:defRPr>
                <a:latin typeface="+mn-lt"/>
                <a:sym typeface="Trebuchet MS" panose="020B0603020202020204" pitchFamily="34" charset="0"/>
              </a:defRPr>
            </a:lvl1pPr>
          </a:lstStyle>
          <a:p>
            <a:endParaRPr lang="en-US"/>
          </a:p>
        </p:txBody>
      </p:sp>
      <p:sp>
        <p:nvSpPr>
          <p:cNvPr id="11"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2024 by Boston Consulting Group. All rights reserved.</a:t>
            </a:r>
          </a:p>
        </p:txBody>
      </p:sp>
      <p:sp>
        <p:nvSpPr>
          <p:cNvPr id="6" name="Rectangle 5"/>
          <p:cNvSpPr/>
          <p:nvPr userDrawn="1"/>
        </p:nvSpPr>
        <p:spPr bwMode="white">
          <a:xfrm>
            <a:off x="630000" y="625475"/>
            <a:ext cx="932688" cy="932688"/>
          </a:xfrm>
          <a:prstGeom prst="rect">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l"/>
            <a:endParaRPr lang="en-US" sz="1200">
              <a:solidFill>
                <a:schemeClr val="bg1"/>
              </a:solidFill>
              <a:latin typeface="+mn-lt"/>
              <a:sym typeface="Trebuchet MS" panose="020B0603020202020204" pitchFamily="34" charset="0"/>
            </a:endParaRPr>
          </a:p>
        </p:txBody>
      </p:sp>
      <p:sp>
        <p:nvSpPr>
          <p:cNvPr id="7" name="Title 1"/>
          <p:cNvSpPr>
            <a:spLocks noGrp="1"/>
          </p:cNvSpPr>
          <p:nvPr>
            <p:ph type="title" hasCustomPrompt="1"/>
          </p:nvPr>
        </p:nvSpPr>
        <p:spPr>
          <a:xfrm>
            <a:off x="630000" y="3826333"/>
            <a:ext cx="10933200" cy="1606550"/>
          </a:xfrm>
          <a:prstGeom prst="rect">
            <a:avLst/>
          </a:prstGeom>
        </p:spPr>
        <p:txBody>
          <a:bodyPr anchor="b">
            <a:noAutofit/>
          </a:bodyPr>
          <a:lstStyle>
            <a:lvl1pPr marL="0" algn="l" defTabSz="914400" rtl="0" eaLnBrk="1" fontAlgn="auto" latinLnBrk="0" hangingPunct="1">
              <a:lnSpc>
                <a:spcPts val="6000"/>
              </a:lnSpc>
              <a:spcBef>
                <a:spcPts val="0"/>
              </a:spcBef>
              <a:spcAft>
                <a:spcPts val="0"/>
              </a:spcAft>
              <a:defRPr lang="en-US" sz="5400" kern="1200" baseline="0" dirty="0">
                <a:solidFill>
                  <a:schemeClr val="accent4"/>
                </a:solidFill>
                <a:latin typeface="+mj-lt"/>
                <a:ea typeface="+mn-ea"/>
                <a:cs typeface="Arial" panose="020B0604020202020204" pitchFamily="34" charset="0"/>
                <a:sym typeface="Trebuchet MS" panose="020B0603020202020204" pitchFamily="34" charset="0"/>
              </a:defRPr>
            </a:lvl1pPr>
          </a:lstStyle>
          <a:p>
            <a:r>
              <a:rPr lang="en-US"/>
              <a:t>Click to add big statement text</a:t>
            </a:r>
          </a:p>
        </p:txBody>
      </p:sp>
    </p:spTree>
    <p:extLst>
      <p:ext uri="{BB962C8B-B14F-4D97-AF65-F5344CB8AC3E}">
        <p14:creationId xmlns:p14="http://schemas.microsoft.com/office/powerpoint/2010/main" val="393619210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51.xml><?xml version="1.0" encoding="utf-8"?>
<p:sldLayout xmlns:a="http://schemas.openxmlformats.org/drawingml/2006/main" xmlns:r="http://schemas.openxmlformats.org/officeDocument/2006/relationships" xmlns:p="http://schemas.openxmlformats.org/presentationml/2006/main" showMasterSp="0" preserve="1" userDrawn="1">
  <p:cSld name="D. Quote">
    <p:bg>
      <p:bgPr>
        <a:solidFill>
          <a:schemeClr val="accent1"/>
        </a:solidFill>
        <a:effectLst/>
      </p:bgPr>
    </p:bg>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userDrawn="1">
            <p:custDataLst>
              <p:tags r:id="rId1"/>
            </p:custDataLst>
            <p:extLst>
              <p:ext uri="{D42A27DB-BD31-4B8C-83A1-F6EECF244321}">
                <p14:modId xmlns:p14="http://schemas.microsoft.com/office/powerpoint/2010/main" val="4066580690"/>
              </p:ext>
            </p:ext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3" imgW="384" imgH="384" progId="TCLayout.ActiveDocument.1">
                  <p:embed/>
                </p:oleObj>
              </mc:Choice>
              <mc:Fallback>
                <p:oleObj name="think-cell Slide" r:id="rId3" imgW="384" imgH="384" progId="TCLayout.ActiveDocument.1">
                  <p:embed/>
                  <p:pic>
                    <p:nvPicPr>
                      <p:cNvPr id="3" name="Object 2" hidden="1"/>
                      <p:cNvPicPr/>
                      <p:nvPr/>
                    </p:nvPicPr>
                    <p:blipFill>
                      <a:blip r:embed="rId4"/>
                      <a:stretch>
                        <a:fillRect/>
                      </a:stretch>
                    </p:blipFill>
                    <p:spPr>
                      <a:xfrm>
                        <a:off x="1588" y="1588"/>
                        <a:ext cx="1587" cy="1587"/>
                      </a:xfrm>
                      <a:prstGeom prst="rect">
                        <a:avLst/>
                      </a:prstGeom>
                    </p:spPr>
                  </p:pic>
                </p:oleObj>
              </mc:Fallback>
            </mc:AlternateContent>
          </a:graphicData>
        </a:graphic>
      </p:graphicFrame>
      <p:sp>
        <p:nvSpPr>
          <p:cNvPr id="6" name="TextBox 5"/>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
        <p:nvSpPr>
          <p:cNvPr id="2" name="Date Placeholder 1"/>
          <p:cNvSpPr>
            <a:spLocks noGrp="1"/>
          </p:cNvSpPr>
          <p:nvPr>
            <p:ph type="dt" sz="half" idx="10"/>
          </p:nvPr>
        </p:nvSpPr>
        <p:spPr/>
        <p:txBody>
          <a:bodyPr/>
          <a:lstStyle>
            <a:lvl1pPr>
              <a:defRPr>
                <a:solidFill>
                  <a:schemeClr val="bg1"/>
                </a:solidFill>
                <a:latin typeface="+mn-lt"/>
                <a:sym typeface="Trebuchet MS" panose="020B0603020202020204" pitchFamily="34" charset="0"/>
              </a:defRPr>
            </a:lvl1pPr>
          </a:lstStyle>
          <a:p>
            <a:endParaRPr lang="en-US"/>
          </a:p>
        </p:txBody>
      </p:sp>
      <p:pic>
        <p:nvPicPr>
          <p:cNvPr id="7" name="Picture 6"/>
          <p:cNvPicPr>
            <a:picLocks noChangeAspect="1"/>
          </p:cNvPicPr>
          <p:nvPr userDrawn="1"/>
        </p:nvPicPr>
        <p:blipFill rotWithShape="1">
          <a:blip r:embed="rId5">
            <a:extLst>
              <a:ext uri="{28A0092B-C50C-407E-A947-70E740481C1C}">
                <a14:useLocalDpi xmlns:a14="http://schemas.microsoft.com/office/drawing/2010/main" val="0"/>
              </a:ext>
            </a:extLst>
          </a:blip>
          <a:srcRect r="3634" b="1258"/>
          <a:stretch/>
        </p:blipFill>
        <p:spPr>
          <a:xfrm rot="16200000" flipH="1">
            <a:off x="6797461" y="101443"/>
            <a:ext cx="769257" cy="10019821"/>
          </a:xfrm>
          <a:custGeom>
            <a:avLst/>
            <a:gdLst>
              <a:gd name="connsiteX0" fmla="*/ 0 w 769257"/>
              <a:gd name="connsiteY0" fmla="*/ 0 h 10019821"/>
              <a:gd name="connsiteX1" fmla="*/ 0 w 769257"/>
              <a:gd name="connsiteY1" fmla="*/ 4631160 h 10019821"/>
              <a:gd name="connsiteX2" fmla="*/ 216750 w 769257"/>
              <a:gd name="connsiteY2" fmla="*/ 999646 h 10019821"/>
              <a:gd name="connsiteX3" fmla="*/ 197800 w 769257"/>
              <a:gd name="connsiteY3" fmla="*/ 10019821 h 10019821"/>
              <a:gd name="connsiteX4" fmla="*/ 769257 w 769257"/>
              <a:gd name="connsiteY4" fmla="*/ 10019821 h 10019821"/>
              <a:gd name="connsiteX5" fmla="*/ 769257 w 769257"/>
              <a:gd name="connsiteY5" fmla="*/ 0 h 10019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9257" h="10019821">
                <a:moveTo>
                  <a:pt x="0" y="0"/>
                </a:moveTo>
                <a:lnTo>
                  <a:pt x="0" y="4631160"/>
                </a:lnTo>
                <a:lnTo>
                  <a:pt x="216750" y="999646"/>
                </a:lnTo>
                <a:lnTo>
                  <a:pt x="197800" y="10019821"/>
                </a:lnTo>
                <a:lnTo>
                  <a:pt x="769257" y="10019821"/>
                </a:lnTo>
                <a:lnTo>
                  <a:pt x="769257" y="0"/>
                </a:lnTo>
                <a:close/>
              </a:path>
            </a:pathLst>
          </a:custGeom>
        </p:spPr>
      </p:pic>
      <p:sp>
        <p:nvSpPr>
          <p:cNvPr id="59" name="Freeform 58"/>
          <p:cNvSpPr>
            <a:spLocks/>
          </p:cNvSpPr>
          <p:nvPr/>
        </p:nvSpPr>
        <p:spPr bwMode="white">
          <a:xfrm flipH="1">
            <a:off x="0" y="0"/>
            <a:ext cx="12192000" cy="5867335"/>
          </a:xfrm>
          <a:custGeom>
            <a:avLst/>
            <a:gdLst>
              <a:gd name="connsiteX0" fmla="*/ 12192000 w 12192000"/>
              <a:gd name="connsiteY0" fmla="*/ 0 h 5867335"/>
              <a:gd name="connsiteX1" fmla="*/ 0 w 12192000"/>
              <a:gd name="connsiteY1" fmla="*/ 0 h 5867335"/>
              <a:gd name="connsiteX2" fmla="*/ 0 w 12192000"/>
              <a:gd name="connsiteY2" fmla="*/ 4945992 h 5867335"/>
              <a:gd name="connsiteX3" fmla="*/ 9041587 w 12192000"/>
              <a:gd name="connsiteY3" fmla="*/ 4945992 h 5867335"/>
              <a:gd name="connsiteX4" fmla="*/ 9974275 w 12192000"/>
              <a:gd name="connsiteY4" fmla="*/ 5867335 h 5867335"/>
              <a:gd name="connsiteX5" fmla="*/ 9974275 w 12192000"/>
              <a:gd name="connsiteY5" fmla="*/ 4945992 h 5867335"/>
              <a:gd name="connsiteX6" fmla="*/ 12192000 w 12192000"/>
              <a:gd name="connsiteY6" fmla="*/ 4945992 h 586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92000" h="5867335">
                <a:moveTo>
                  <a:pt x="12192000" y="0"/>
                </a:moveTo>
                <a:lnTo>
                  <a:pt x="0" y="0"/>
                </a:lnTo>
                <a:lnTo>
                  <a:pt x="0" y="4945992"/>
                </a:lnTo>
                <a:lnTo>
                  <a:pt x="9041587" y="4945992"/>
                </a:lnTo>
                <a:lnTo>
                  <a:pt x="9974275" y="5867335"/>
                </a:lnTo>
                <a:lnTo>
                  <a:pt x="9974275" y="4945992"/>
                </a:lnTo>
                <a:lnTo>
                  <a:pt x="12192000" y="4945992"/>
                </a:lnTo>
                <a:close/>
              </a:path>
            </a:pathLst>
          </a:custGeom>
          <a:solidFill>
            <a:schemeClr val="tx2"/>
          </a:solidFill>
          <a:ln>
            <a:noFill/>
          </a:ln>
          <a:effectLst/>
        </p:spPr>
        <p:txBody>
          <a:bodyPr vert="horz" wrap="square" lIns="91440" tIns="45720" rIns="91440" bIns="45720" numCol="1" anchor="t" anchorCtr="0" compatLnSpc="1">
            <a:prstTxWarp prst="textNoShape">
              <a:avLst/>
            </a:prstTxWarp>
            <a:noAutofit/>
          </a:bodyPr>
          <a:lstStyle/>
          <a:p>
            <a:endParaRPr lang="en-US">
              <a:latin typeface="+mn-lt"/>
              <a:sym typeface="Trebuchet MS" panose="020B0603020202020204" pitchFamily="34" charset="0"/>
            </a:endParaRPr>
          </a:p>
        </p:txBody>
      </p:sp>
    </p:spTree>
    <p:extLst>
      <p:ext uri="{BB962C8B-B14F-4D97-AF65-F5344CB8AC3E}">
        <p14:creationId xmlns:p14="http://schemas.microsoft.com/office/powerpoint/2010/main" val="374194137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52.xml><?xml version="1.0" encoding="utf-8"?>
<p:sldLayout xmlns:a="http://schemas.openxmlformats.org/drawingml/2006/main" xmlns:r="http://schemas.openxmlformats.org/officeDocument/2006/relationships" xmlns:p="http://schemas.openxmlformats.org/presentationml/2006/main" showMasterSp="0" preserve="1" userDrawn="1">
  <p:cSld name="D. Special gray">
    <p:bg>
      <p:bgPr>
        <a:solidFill>
          <a:schemeClr val="tx1">
            <a:lumMod val="50000"/>
          </a:schemeClr>
        </a:solidFill>
        <a:effectLst/>
      </p:bgPr>
    </p:bg>
    <p:spTree>
      <p:nvGrpSpPr>
        <p:cNvPr id="1" name=""/>
        <p:cNvGrpSpPr/>
        <p:nvPr/>
      </p:nvGrpSpPr>
      <p:grpSpPr>
        <a:xfrm>
          <a:off x="0" y="0"/>
          <a:ext cx="0" cy="0"/>
          <a:chOff x="0" y="0"/>
          <a:chExt cx="0" cy="0"/>
        </a:xfrm>
      </p:grpSpPr>
      <p:sp>
        <p:nvSpPr>
          <p:cNvPr id="5" name="TextBox 4"/>
          <p:cNvSpPr txBox="1"/>
          <p:nvPr/>
        </p:nvSpPr>
        <p:spPr bwMode="white">
          <a:xfrm>
            <a:off x="11167872" y="6404400"/>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
        <p:nvSpPr>
          <p:cNvPr id="3" name="Date Placeholder 2"/>
          <p:cNvSpPr>
            <a:spLocks noGrp="1"/>
          </p:cNvSpPr>
          <p:nvPr>
            <p:ph type="dt" sz="half" idx="10"/>
          </p:nvPr>
        </p:nvSpPr>
        <p:spPr/>
        <p:txBody>
          <a:bodyPr/>
          <a:lstStyle>
            <a:lvl1pPr>
              <a:defRPr>
                <a:solidFill>
                  <a:schemeClr val="bg1"/>
                </a:solidFill>
                <a:latin typeface="+mn-lt"/>
                <a:sym typeface="Trebuchet MS" panose="020B0603020202020204" pitchFamily="34" charset="0"/>
              </a:defRPr>
            </a:lvl1pPr>
          </a:lstStyle>
          <a:p>
            <a:endParaRPr lang="en-US"/>
          </a:p>
        </p:txBody>
      </p:sp>
      <p:sp>
        <p:nvSpPr>
          <p:cNvPr id="11"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2024 by Boston Consulting Group. All rights reserved.</a:t>
            </a:r>
          </a:p>
        </p:txBody>
      </p:sp>
      <p:sp>
        <p:nvSpPr>
          <p:cNvPr id="2" name="Title 1"/>
          <p:cNvSpPr>
            <a:spLocks noGrp="1"/>
          </p:cNvSpPr>
          <p:nvPr>
            <p:ph type="title" hasCustomPrompt="1"/>
          </p:nvPr>
        </p:nvSpPr>
        <p:spPr>
          <a:xfrm>
            <a:off x="630000" y="622800"/>
            <a:ext cx="10933200" cy="332399"/>
          </a:xfrm>
        </p:spPr>
        <p:txBody>
          <a:bodyPr/>
          <a:lstStyle>
            <a:lvl1pPr>
              <a:defRPr>
                <a:solidFill>
                  <a:schemeClr val="bg1"/>
                </a:solidFill>
                <a:latin typeface="+mj-lt"/>
                <a:sym typeface="Trebuchet MS" panose="020B0603020202020204" pitchFamily="34" charset="0"/>
              </a:defRPr>
            </a:lvl1pPr>
          </a:lstStyle>
          <a:p>
            <a:r>
              <a:rPr lang="en-US"/>
              <a:t>Click to add title</a:t>
            </a:r>
          </a:p>
        </p:txBody>
      </p:sp>
    </p:spTree>
    <p:extLst>
      <p:ext uri="{BB962C8B-B14F-4D97-AF65-F5344CB8AC3E}">
        <p14:creationId xmlns:p14="http://schemas.microsoft.com/office/powerpoint/2010/main" val="254837553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53.xml><?xml version="1.0" encoding="utf-8"?>
<p:sldLayout xmlns:a="http://schemas.openxmlformats.org/drawingml/2006/main" xmlns:r="http://schemas.openxmlformats.org/officeDocument/2006/relationships" xmlns:p="http://schemas.openxmlformats.org/presentationml/2006/main" showMasterSp="0" preserve="1" userDrawn="1">
  <p:cSld name="D. Table of contents">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sp>
        <p:nvSpPr>
          <p:cNvPr id="13" name="Freeform 12"/>
          <p:cNvSpPr/>
          <p:nvPr/>
        </p:nvSpPr>
        <p:spPr bwMode="ltGray">
          <a:xfrm>
            <a:off x="0" y="0"/>
            <a:ext cx="4088312" cy="6858000"/>
          </a:xfrm>
          <a:custGeom>
            <a:avLst/>
            <a:gdLst>
              <a:gd name="connsiteX0" fmla="*/ 0 w 4088312"/>
              <a:gd name="connsiteY0" fmla="*/ 0 h 6858000"/>
              <a:gd name="connsiteX1" fmla="*/ 3264933 w 4088312"/>
              <a:gd name="connsiteY1" fmla="*/ 0 h 6858000"/>
              <a:gd name="connsiteX2" fmla="*/ 4088312 w 4088312"/>
              <a:gd name="connsiteY2" fmla="*/ 3429000 h 6858000"/>
              <a:gd name="connsiteX3" fmla="*/ 3264933 w 4088312"/>
              <a:gd name="connsiteY3" fmla="*/ 6858000 h 6858000"/>
              <a:gd name="connsiteX4" fmla="*/ 0 w 4088312"/>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8312" h="6858000">
                <a:moveTo>
                  <a:pt x="0" y="0"/>
                </a:moveTo>
                <a:lnTo>
                  <a:pt x="3264933" y="0"/>
                </a:lnTo>
                <a:lnTo>
                  <a:pt x="4088312" y="3429000"/>
                </a:lnTo>
                <a:lnTo>
                  <a:pt x="3264933" y="6858000"/>
                </a:lnTo>
                <a:lnTo>
                  <a:pt x="0" y="685800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p>
            <a:pPr>
              <a:lnSpc>
                <a:spcPct val="90000"/>
              </a:lnSpc>
              <a:spcAft>
                <a:spcPts val="1000"/>
              </a:spcAft>
            </a:pPr>
            <a:endParaRPr lang="en-US" sz="1200">
              <a:solidFill>
                <a:prstClr val="white"/>
              </a:solidFill>
              <a:latin typeface="+mn-lt"/>
              <a:sym typeface="Trebuchet MS" panose="020B0603020202020204" pitchFamily="34" charset="0"/>
            </a:endParaRPr>
          </a:p>
        </p:txBody>
      </p:sp>
      <p:sp>
        <p:nvSpPr>
          <p:cNvPr id="17" name="Freeform 12"/>
          <p:cNvSpPr/>
          <p:nvPr userDrawn="1"/>
        </p:nvSpPr>
        <p:spPr bwMode="ltGray">
          <a:xfrm>
            <a:off x="0" y="0"/>
            <a:ext cx="4088312" cy="6858000"/>
          </a:xfrm>
          <a:custGeom>
            <a:avLst/>
            <a:gdLst>
              <a:gd name="connsiteX0" fmla="*/ 0 w 4088312"/>
              <a:gd name="connsiteY0" fmla="*/ 0 h 6858000"/>
              <a:gd name="connsiteX1" fmla="*/ 3264933 w 4088312"/>
              <a:gd name="connsiteY1" fmla="*/ 0 h 6858000"/>
              <a:gd name="connsiteX2" fmla="*/ 4088312 w 4088312"/>
              <a:gd name="connsiteY2" fmla="*/ 3429000 h 6858000"/>
              <a:gd name="connsiteX3" fmla="*/ 3264933 w 4088312"/>
              <a:gd name="connsiteY3" fmla="*/ 6858000 h 6858000"/>
              <a:gd name="connsiteX4" fmla="*/ 0 w 4088312"/>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8312" h="6858000">
                <a:moveTo>
                  <a:pt x="0" y="0"/>
                </a:moveTo>
                <a:lnTo>
                  <a:pt x="3264933" y="0"/>
                </a:lnTo>
                <a:lnTo>
                  <a:pt x="4088312" y="3429000"/>
                </a:lnTo>
                <a:lnTo>
                  <a:pt x="3264933" y="6858000"/>
                </a:lnTo>
                <a:lnTo>
                  <a:pt x="0" y="685800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p>
            <a:pPr>
              <a:lnSpc>
                <a:spcPct val="90000"/>
              </a:lnSpc>
              <a:spcAft>
                <a:spcPts val="1000"/>
              </a:spcAft>
            </a:pPr>
            <a:endParaRPr lang="en-US" sz="1200">
              <a:solidFill>
                <a:prstClr val="white"/>
              </a:solidFill>
              <a:latin typeface="+mn-lt"/>
              <a:sym typeface="Trebuchet MS" panose="020B0603020202020204" pitchFamily="34" charset="0"/>
            </a:endParaRPr>
          </a:p>
        </p:txBody>
      </p:sp>
      <p:sp>
        <p:nvSpPr>
          <p:cNvPr id="20" name="TextBox 19"/>
          <p:cNvSpPr txBox="1"/>
          <p:nvPr userDrawn="1"/>
        </p:nvSpPr>
        <p:spPr>
          <a:xfrm>
            <a:off x="630000" y="2577934"/>
            <a:ext cx="2819400" cy="1761764"/>
          </a:xfrm>
          <a:prstGeom prst="rect">
            <a:avLst/>
          </a:prstGeom>
          <a:noFill/>
        </p:spPr>
        <p:txBody>
          <a:bodyPr wrap="square" lIns="0" tIns="0" rIns="0" bIns="0" rtlCol="0" anchor="ctr">
            <a:spAutoFit/>
          </a:bodyPr>
          <a:lstStyle/>
          <a:p>
            <a:pPr marL="0" indent="0">
              <a:lnSpc>
                <a:spcPct val="106000"/>
              </a:lnSpc>
              <a:spcAft>
                <a:spcPts val="700"/>
              </a:spcAft>
              <a:buFontTx/>
              <a:buNone/>
            </a:pPr>
            <a:r>
              <a:rPr lang="en-US" sz="5400">
                <a:solidFill>
                  <a:schemeClr val="tx2"/>
                </a:solidFill>
                <a:latin typeface="+mn-lt"/>
                <a:sym typeface="Trebuchet MS" panose="020B0603020202020204" pitchFamily="34" charset="0"/>
              </a:rPr>
              <a:t>Table of contents</a:t>
            </a:r>
          </a:p>
        </p:txBody>
      </p:sp>
      <p:sp>
        <p:nvSpPr>
          <p:cNvPr id="15" name="Date Placeholder 4"/>
          <p:cNvSpPr>
            <a:spLocks noGrp="1"/>
          </p:cNvSpPr>
          <p:nvPr>
            <p:ph type="dt" sz="half" idx="10"/>
          </p:nvPr>
        </p:nvSpPr>
        <p:spPr>
          <a:xfrm>
            <a:off x="9677400" y="6405036"/>
            <a:ext cx="1482051" cy="153888"/>
          </a:xfrm>
        </p:spPr>
        <p:txBody>
          <a:bodyPr/>
          <a:lstStyle>
            <a:lvl1pPr>
              <a:defRPr>
                <a:solidFill>
                  <a:schemeClr val="bg1"/>
                </a:solidFill>
                <a:latin typeface="+mn-lt"/>
                <a:sym typeface="Trebuchet MS" panose="020B0603020202020204" pitchFamily="34" charset="0"/>
              </a:defRPr>
            </a:lvl1pPr>
          </a:lstStyle>
          <a:p>
            <a:endParaRPr lang="en-US"/>
          </a:p>
        </p:txBody>
      </p:sp>
      <p:sp>
        <p:nvSpPr>
          <p:cNvPr id="24"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2024 by Boston Consulting Group. All rights reserved.</a:t>
            </a:r>
          </a:p>
        </p:txBody>
      </p:sp>
      <p:sp>
        <p:nvSpPr>
          <p:cNvPr id="19" name="TextBox 18"/>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pic>
        <p:nvPicPr>
          <p:cNvPr id="10" name="Picture 9"/>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3108638" y="3586748"/>
            <a:ext cx="1365250" cy="3382962"/>
          </a:xfrm>
          <a:custGeom>
            <a:avLst/>
            <a:gdLst>
              <a:gd name="connsiteX0" fmla="*/ 942801 w 1365250"/>
              <a:gd name="connsiteY0" fmla="*/ 0 h 3382962"/>
              <a:gd name="connsiteX1" fmla="*/ 1365250 w 1365250"/>
              <a:gd name="connsiteY1" fmla="*/ 0 h 3382962"/>
              <a:gd name="connsiteX2" fmla="*/ 1365250 w 1365250"/>
              <a:gd name="connsiteY2" fmla="*/ 3382962 h 3382962"/>
              <a:gd name="connsiteX3" fmla="*/ 128720 w 1365250"/>
              <a:gd name="connsiteY3" fmla="*/ 3382962 h 3382962"/>
              <a:gd name="connsiteX4" fmla="*/ 0 w 1365250"/>
              <a:gd name="connsiteY4" fmla="*/ 0 h 3382962"/>
              <a:gd name="connsiteX5" fmla="*/ 929501 w 1365250"/>
              <a:gd name="connsiteY5" fmla="*/ 0 h 3382962"/>
              <a:gd name="connsiteX6" fmla="*/ 0 w 1365250"/>
              <a:gd name="connsiteY6" fmla="*/ 2860398 h 3382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5250" h="3382962">
                <a:moveTo>
                  <a:pt x="942801" y="0"/>
                </a:moveTo>
                <a:lnTo>
                  <a:pt x="1365250" y="0"/>
                </a:lnTo>
                <a:lnTo>
                  <a:pt x="1365250" y="3382962"/>
                </a:lnTo>
                <a:lnTo>
                  <a:pt x="128720" y="3382962"/>
                </a:lnTo>
                <a:close/>
                <a:moveTo>
                  <a:pt x="0" y="0"/>
                </a:moveTo>
                <a:lnTo>
                  <a:pt x="929501" y="0"/>
                </a:lnTo>
                <a:lnTo>
                  <a:pt x="0" y="2860398"/>
                </a:lnTo>
                <a:close/>
              </a:path>
            </a:pathLst>
          </a:cu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2390906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54.xml><?xml version="1.0" encoding="utf-8"?>
<p:sldLayout xmlns:a="http://schemas.openxmlformats.org/drawingml/2006/main" xmlns:r="http://schemas.openxmlformats.org/officeDocument/2006/relationships" xmlns:p="http://schemas.openxmlformats.org/presentationml/2006/main" showMasterSp="0" preserve="1">
  <p:cSld name="D. Blank green">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sp>
        <p:nvSpPr>
          <p:cNvPr id="6" name="Date Placeholder 4"/>
          <p:cNvSpPr>
            <a:spLocks noGrp="1"/>
          </p:cNvSpPr>
          <p:nvPr>
            <p:ph type="dt" sz="half" idx="10"/>
          </p:nvPr>
        </p:nvSpPr>
        <p:spPr>
          <a:xfrm>
            <a:off x="9677400" y="6405036"/>
            <a:ext cx="1482051" cy="153888"/>
          </a:xfrm>
        </p:spPr>
        <p:txBody>
          <a:bodyPr/>
          <a:lstStyle>
            <a:lvl1pPr>
              <a:defRPr>
                <a:solidFill>
                  <a:schemeClr val="bg1"/>
                </a:solidFill>
                <a:latin typeface="+mn-lt"/>
                <a:sym typeface="Trebuchet MS" panose="020B0603020202020204" pitchFamily="34" charset="0"/>
              </a:defRPr>
            </a:lvl1pPr>
          </a:lstStyle>
          <a:p>
            <a:endParaRPr lang="en-US"/>
          </a:p>
        </p:txBody>
      </p:sp>
      <p:sp>
        <p:nvSpPr>
          <p:cNvPr id="9"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2024 by Boston Consulting Group. All rights reserved.</a:t>
            </a:r>
          </a:p>
        </p:txBody>
      </p:sp>
      <p:sp>
        <p:nvSpPr>
          <p:cNvPr id="11" name="TextBox 10"/>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Tree>
    <p:extLst>
      <p:ext uri="{BB962C8B-B14F-4D97-AF65-F5344CB8AC3E}">
        <p14:creationId xmlns:p14="http://schemas.microsoft.com/office/powerpoint/2010/main" val="164082768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p:cSld name="D. Blank">
    <p:bg>
      <p:bgPr>
        <a:solidFill>
          <a:schemeClr val="bg1"/>
        </a:solidFill>
        <a:effectLst/>
      </p:bgPr>
    </p:bg>
    <p:spTree>
      <p:nvGrpSpPr>
        <p:cNvPr id="1" name=""/>
        <p:cNvGrpSpPr/>
        <p:nvPr/>
      </p:nvGrpSpPr>
      <p:grpSpPr>
        <a:xfrm>
          <a:off x="0" y="0"/>
          <a:ext cx="0" cy="0"/>
          <a:chOff x="0" y="0"/>
          <a:chExt cx="0" cy="0"/>
        </a:xfrm>
      </p:grpSpPr>
      <p:sp>
        <p:nvSpPr>
          <p:cNvPr id="7" name="Date Placeholder 6"/>
          <p:cNvSpPr>
            <a:spLocks noGrp="1"/>
          </p:cNvSpPr>
          <p:nvPr>
            <p:ph type="dt" sz="half" idx="10"/>
          </p:nvPr>
        </p:nvSpPr>
        <p:spPr/>
        <p:txBody>
          <a:bodyPr/>
          <a:lstStyle>
            <a:lvl1pPr>
              <a:defRPr>
                <a:latin typeface="+mn-lt"/>
                <a:sym typeface="Trebuchet MS" panose="020B0603020202020204" pitchFamily="34" charset="0"/>
              </a:defRPr>
            </a:lvl1pPr>
          </a:lstStyle>
          <a:p>
            <a:endParaRPr lang="en-US"/>
          </a:p>
        </p:txBody>
      </p:sp>
      <p:sp>
        <p:nvSpPr>
          <p:cNvPr id="5"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2024 by Boston Consulting Group. All rights reserved.</a:t>
            </a:r>
          </a:p>
        </p:txBody>
      </p:sp>
    </p:spTree>
    <p:extLst>
      <p:ext uri="{BB962C8B-B14F-4D97-AF65-F5344CB8AC3E}">
        <p14:creationId xmlns:p14="http://schemas.microsoft.com/office/powerpoint/2010/main" val="157118530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p:cSld name="D. Disclaimer">
    <p:spTree>
      <p:nvGrpSpPr>
        <p:cNvPr id="1" name=""/>
        <p:cNvGrpSpPr/>
        <p:nvPr/>
      </p:nvGrpSpPr>
      <p:grpSpPr>
        <a:xfrm>
          <a:off x="0" y="0"/>
          <a:ext cx="0" cy="0"/>
          <a:chOff x="0" y="0"/>
          <a:chExt cx="0" cy="0"/>
        </a:xfrm>
      </p:grpSpPr>
      <p:sp>
        <p:nvSpPr>
          <p:cNvPr id="6" name="Rectangle 5"/>
          <p:cNvSpPr/>
          <p:nvPr/>
        </p:nvSpPr>
        <p:spPr>
          <a:xfrm>
            <a:off x="5021826" y="1664256"/>
            <a:ext cx="6209072" cy="3323987"/>
          </a:xfrm>
          <a:prstGeom prst="rect">
            <a:avLst/>
          </a:prstGeom>
        </p:spPr>
        <p:txBody>
          <a:bodyPr wrap="square" lIns="0" tIns="0" rIns="0" bIns="0" anchor="ctr">
            <a:spAutoFit/>
          </a:bodyPr>
          <a:lstStyle/>
          <a:p>
            <a:pPr indent="0">
              <a:lnSpc>
                <a:spcPct val="100000"/>
              </a:lnSpc>
            </a:pPr>
            <a:r>
              <a:rPr lang="en-US" sz="900" b="0">
                <a:latin typeface="+mn-lt"/>
                <a:sym typeface="Trebuchet MS" panose="020B0603020202020204" pitchFamily="34" charset="0"/>
              </a:rPr>
              <a:t>The services and materials provided by Boston Consulting Group (BCG) are subject to BCG's Standard Terms </a:t>
            </a:r>
            <a:br>
              <a:rPr lang="en-US" sz="900" b="0">
                <a:latin typeface="+mn-lt"/>
                <a:sym typeface="Trebuchet MS" panose="020B0603020202020204" pitchFamily="34" charset="0"/>
              </a:rPr>
            </a:br>
            <a:r>
              <a:rPr lang="en-US" sz="900" b="0">
                <a:latin typeface="+mn-lt"/>
                <a:sym typeface="Trebuchet MS" panose="020B0603020202020204" pitchFamily="34" charset="0"/>
              </a:rPr>
              <a:t>(a copy of which is available upon request) or such other agreement as may have been previously executed by BCG. BCG does not provide legal, accounting, or tax advice. The Client is responsible for obtaining independent advice concerning these matters. This advice may affect the guidance given by BCG. Further, BCG has made no undertaking </a:t>
            </a:r>
            <a:br>
              <a:rPr lang="en-US" sz="900" b="0">
                <a:latin typeface="+mn-lt"/>
                <a:sym typeface="Trebuchet MS" panose="020B0603020202020204" pitchFamily="34" charset="0"/>
              </a:rPr>
            </a:br>
            <a:r>
              <a:rPr lang="en-US" sz="900" b="0">
                <a:latin typeface="+mn-lt"/>
                <a:sym typeface="Trebuchet MS" panose="020B0603020202020204" pitchFamily="34" charset="0"/>
              </a:rPr>
              <a:t>to update these materials after the date hereof, notwithstanding that such information may become outdated </a:t>
            </a:r>
            <a:br>
              <a:rPr lang="en-US" sz="900" b="0">
                <a:latin typeface="+mn-lt"/>
                <a:sym typeface="Trebuchet MS" panose="020B0603020202020204" pitchFamily="34" charset="0"/>
              </a:rPr>
            </a:br>
            <a:r>
              <a:rPr lang="en-US" sz="900" b="0">
                <a:latin typeface="+mn-lt"/>
                <a:sym typeface="Trebuchet MS" panose="020B0603020202020204" pitchFamily="34" charset="0"/>
              </a:rPr>
              <a:t>or inaccurate.</a:t>
            </a:r>
          </a:p>
          <a:p>
            <a:pPr indent="0">
              <a:lnSpc>
                <a:spcPct val="100000"/>
              </a:lnSpc>
            </a:pPr>
            <a:r>
              <a:rPr lang="en-US" sz="900" b="0">
                <a:latin typeface="+mn-lt"/>
                <a:sym typeface="Trebuchet MS" panose="020B0603020202020204" pitchFamily="34" charset="0"/>
              </a:rPr>
              <a:t> </a:t>
            </a:r>
          </a:p>
          <a:p>
            <a:pPr indent="0">
              <a:lnSpc>
                <a:spcPct val="100000"/>
              </a:lnSpc>
            </a:pPr>
            <a:r>
              <a:rPr lang="en-US" sz="900" b="0">
                <a:latin typeface="+mn-lt"/>
                <a:sym typeface="Trebuchet MS" panose="020B0603020202020204" pitchFamily="34" charset="0"/>
              </a:rPr>
              <a:t>The materials contained in this presentation are designed for the sole use by the board of directors or senior management of the Client and solely for the limited purposes described in the presentation. The materials shall not be copied or given to any person or entity other than the Client (“Third Party”) without the prior written consent of BCG. These materials serve only as the focus for discussion; they are incomplete without the accompanying oral commentary and may not be relied on as a stand-alone document. Further, Third Parties may not, and it is unreasonable for any Third Party to, rely on these materials for any purpose whatsoever. To the fullest extent permitted by law (and except to the extent otherwise agreed in a signed writing by BCG), BCG shall have no liability whatsoever to any Third Party, and any Third Party hereby waives any rights and claims it may have at any time against BCG with regard to the services, this presentation, or other materials, including the accuracy or completeness thereof. Receipt and review </a:t>
            </a:r>
            <a:br>
              <a:rPr lang="en-US" sz="900" b="0">
                <a:latin typeface="+mn-lt"/>
                <a:sym typeface="Trebuchet MS" panose="020B0603020202020204" pitchFamily="34" charset="0"/>
              </a:rPr>
            </a:br>
            <a:r>
              <a:rPr lang="en-US" sz="900" b="0">
                <a:latin typeface="+mn-lt"/>
                <a:sym typeface="Trebuchet MS" panose="020B0603020202020204" pitchFamily="34" charset="0"/>
              </a:rPr>
              <a:t>of this document shall be deemed agreement with and consideration for the foregoing.</a:t>
            </a:r>
          </a:p>
          <a:p>
            <a:pPr indent="0">
              <a:lnSpc>
                <a:spcPct val="100000"/>
              </a:lnSpc>
            </a:pPr>
            <a:endParaRPr lang="en-US" sz="900" b="0">
              <a:latin typeface="+mn-lt"/>
              <a:sym typeface="Trebuchet MS" panose="020B0603020202020204" pitchFamily="34" charset="0"/>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900" b="0">
                <a:latin typeface="+mn-lt"/>
                <a:sym typeface="Trebuchet MS" panose="020B0603020202020204" pitchFamily="34" charset="0"/>
              </a:rPr>
              <a:t>BCG does not provide fairness opinions or valuations of market transactions, and these materials should not be relied </a:t>
            </a:r>
            <a:br>
              <a:rPr lang="en-US" sz="900" b="0">
                <a:latin typeface="+mn-lt"/>
                <a:sym typeface="Trebuchet MS" panose="020B0603020202020204" pitchFamily="34" charset="0"/>
              </a:rPr>
            </a:br>
            <a:r>
              <a:rPr lang="en-US" sz="900" b="0">
                <a:latin typeface="+mn-lt"/>
                <a:sym typeface="Trebuchet MS" panose="020B0603020202020204" pitchFamily="34" charset="0"/>
              </a:rPr>
              <a:t>on or construed as such. Further, the financial evaluations, projected market and financial information, and conclusions contained in these materials are based upon standard valuation methodologies, are not definitive forecasts, and are not guaranteed by BCG. BCG has used public and/or confidential data and assumptions provided to BCG by the Client. BCG has not independently verified the data and assumptions used in these analyses. Changes in the underlying data </a:t>
            </a:r>
            <a:br>
              <a:rPr lang="en-US" sz="900" b="0">
                <a:latin typeface="+mn-lt"/>
                <a:sym typeface="Trebuchet MS" panose="020B0603020202020204" pitchFamily="34" charset="0"/>
              </a:rPr>
            </a:br>
            <a:r>
              <a:rPr lang="en-US" sz="900" b="0">
                <a:latin typeface="+mn-lt"/>
                <a:sym typeface="Trebuchet MS" panose="020B0603020202020204" pitchFamily="34" charset="0"/>
              </a:rPr>
              <a:t>or operating assumptions will clearly impact the analyses and conclusions.</a:t>
            </a:r>
          </a:p>
        </p:txBody>
      </p:sp>
      <p:sp>
        <p:nvSpPr>
          <p:cNvPr id="7" name="Title 6"/>
          <p:cNvSpPr txBox="1">
            <a:spLocks/>
          </p:cNvSpPr>
          <p:nvPr/>
        </p:nvSpPr>
        <p:spPr>
          <a:xfrm>
            <a:off x="639044" y="2973076"/>
            <a:ext cx="3199529" cy="706347"/>
          </a:xfrm>
          <a:prstGeom prst="rect">
            <a:avLst/>
          </a:prstGeom>
        </p:spPr>
        <p:txBody>
          <a:bodyPr vert="horz" wrap="square" lIns="0" tIns="0" rIns="0" bIns="0" rtlCol="0" anchor="ctr">
            <a:sp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defRPr>
            </a:lvl1pPr>
          </a:lstStyle>
          <a:p>
            <a:r>
              <a:rPr lang="en-US" sz="5100">
                <a:gradFill>
                  <a:gsLst>
                    <a:gs pos="100000">
                      <a:schemeClr val="tx2"/>
                    </a:gs>
                    <a:gs pos="2000">
                      <a:schemeClr val="accent2"/>
                    </a:gs>
                  </a:gsLst>
                  <a:lin ang="2700000" scaled="0"/>
                </a:gradFill>
                <a:latin typeface="+mn-lt"/>
                <a:sym typeface="Trebuchet MS" panose="020B0603020202020204" pitchFamily="34" charset="0"/>
              </a:rPr>
              <a:t>Disclaimer</a:t>
            </a:r>
          </a:p>
        </p:txBody>
      </p:sp>
      <p:cxnSp>
        <p:nvCxnSpPr>
          <p:cNvPr id="9" name="Straight Connector 8"/>
          <p:cNvCxnSpPr/>
          <p:nvPr/>
        </p:nvCxnSpPr>
        <p:spPr>
          <a:xfrm>
            <a:off x="4367898" y="1630185"/>
            <a:ext cx="0" cy="3392129"/>
          </a:xfrm>
          <a:prstGeom prst="line">
            <a:avLst/>
          </a:prstGeom>
          <a:ln w="9525">
            <a:solidFill>
              <a:schemeClr val="tx2"/>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4" name="Date Placeholder 3"/>
          <p:cNvSpPr>
            <a:spLocks noGrp="1"/>
          </p:cNvSpPr>
          <p:nvPr>
            <p:ph type="dt" sz="half" idx="10"/>
          </p:nvPr>
        </p:nvSpPr>
        <p:spPr/>
        <p:txBody>
          <a:bodyPr/>
          <a:lstStyle>
            <a:lvl1pPr>
              <a:defRPr>
                <a:latin typeface="+mn-lt"/>
                <a:sym typeface="Trebuchet MS" panose="020B0603020202020204" pitchFamily="34" charset="0"/>
              </a:defRPr>
            </a:lvl1pPr>
          </a:lstStyle>
          <a:p>
            <a:endParaRPr lang="en-US"/>
          </a:p>
        </p:txBody>
      </p:sp>
      <p:sp>
        <p:nvSpPr>
          <p:cNvPr id="10"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2024 by Boston Consulting Group. All rights reserved.</a:t>
            </a:r>
          </a:p>
        </p:txBody>
      </p:sp>
    </p:spTree>
    <p:extLst>
      <p:ext uri="{BB962C8B-B14F-4D97-AF65-F5344CB8AC3E}">
        <p14:creationId xmlns:p14="http://schemas.microsoft.com/office/powerpoint/2010/main" val="241322118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57.xml><?xml version="1.0" encoding="utf-8"?>
<p:sldLayout xmlns:a="http://schemas.openxmlformats.org/drawingml/2006/main" xmlns:r="http://schemas.openxmlformats.org/officeDocument/2006/relationships" xmlns:p="http://schemas.openxmlformats.org/presentationml/2006/main" showMasterSp="0" type="blank" preserve="1">
  <p:cSld name="D. End">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1"/>
            </p:custDataLst>
            <p:extLst>
              <p:ext uri="{D42A27DB-BD31-4B8C-83A1-F6EECF244321}">
                <p14:modId xmlns:p14="http://schemas.microsoft.com/office/powerpoint/2010/main" val="387538226"/>
              </p:ext>
            </p:ext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384" imgH="384" progId="TCLayout.ActiveDocument.1">
                  <p:embed/>
                </p:oleObj>
              </mc:Choice>
              <mc:Fallback>
                <p:oleObj name="think-cell Slide" r:id="rId5" imgW="384" imgH="384" progId="TCLayout.ActiveDocument.1">
                  <p:embed/>
                  <p:pic>
                    <p:nvPicPr>
                      <p:cNvPr id="2" name="Object 1" hidden="1"/>
                      <p:cNvPicPr/>
                      <p:nvPr/>
                    </p:nvPicPr>
                    <p:blipFill>
                      <a:blip r:embed="rId6"/>
                      <a:stretch>
                        <a:fillRect/>
                      </a:stretch>
                    </p:blipFill>
                    <p:spPr>
                      <a:xfrm>
                        <a:off x="1588" y="1588"/>
                        <a:ext cx="1587" cy="1587"/>
                      </a:xfrm>
                      <a:prstGeom prst="rect">
                        <a:avLst/>
                      </a:prstGeom>
                    </p:spPr>
                  </p:pic>
                </p:oleObj>
              </mc:Fallback>
            </mc:AlternateContent>
          </a:graphicData>
        </a:graphic>
      </p:graphicFrame>
      <p:pic>
        <p:nvPicPr>
          <p:cNvPr id="9" name="TitleAndEndImages"/>
          <p:cNvPicPr>
            <a:picLocks noChangeAspect="1"/>
          </p:cNvPicPr>
          <p:nvPr userDrawn="1">
            <p:custDataLst>
              <p:tags r:id="rId2"/>
            </p:custDataLst>
          </p:nvPr>
        </p:nvPicPr>
        <p:blipFill>
          <a:blip r:embed="rId7">
            <a:extLst>
              <a:ext uri="{28A0092B-C50C-407E-A947-70E740481C1C}">
                <a14:useLocalDpi xmlns:a14="http://schemas.microsoft.com/office/drawing/2010/main" val="0"/>
              </a:ext>
            </a:extLst>
          </a:blip>
          <a:stretch>
            <a:fillRect/>
          </a:stretch>
        </p:blipFill>
        <p:spPr>
          <a:xfrm flipH="1">
            <a:off x="0" y="0"/>
            <a:ext cx="12192000" cy="6858000"/>
          </a:xfrm>
          <a:prstGeom prst="rect">
            <a:avLst/>
          </a:prstGeom>
        </p:spPr>
      </p:pic>
      <p:sp>
        <p:nvSpPr>
          <p:cNvPr id="8" name="Rectangle 7"/>
          <p:cNvSpPr/>
          <p:nvPr userDrawn="1"/>
        </p:nvSpPr>
        <p:spPr bwMode="black">
          <a:xfrm>
            <a:off x="630936" y="626200"/>
            <a:ext cx="8125200" cy="5529600"/>
          </a:xfrm>
          <a:prstGeom prst="rect">
            <a:avLst/>
          </a:prstGeom>
          <a:gradFill flip="none" rotWithShape="1">
            <a:gsLst>
              <a:gs pos="0">
                <a:schemeClr val="accent1">
                  <a:alpha val="90000"/>
                </a:schemeClr>
              </a:gs>
              <a:gs pos="100000">
                <a:schemeClr val="tx2">
                  <a:alpha val="90000"/>
                </a:schemeClr>
              </a:gs>
            </a:gsLst>
            <a:lin ang="189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lnSpc>
                <a:spcPct val="95000"/>
              </a:lnSpc>
            </a:pPr>
            <a:endParaRPr lang="en-US" sz="2000">
              <a:solidFill>
                <a:prstClr val="white"/>
              </a:solidFill>
              <a:latin typeface="+mn-lt"/>
              <a:sym typeface="Trebuchet MS" panose="020B0603020202020204" pitchFamily="34" charset="0"/>
            </a:endParaRPr>
          </a:p>
        </p:txBody>
      </p:sp>
      <p:sp>
        <p:nvSpPr>
          <p:cNvPr id="15" name="TextBox 14"/>
          <p:cNvSpPr txBox="1"/>
          <p:nvPr/>
        </p:nvSpPr>
        <p:spPr bwMode="white">
          <a:xfrm>
            <a:off x="924979" y="5715178"/>
            <a:ext cx="840801" cy="170110"/>
          </a:xfrm>
          <a:prstGeom prst="rect">
            <a:avLst/>
          </a:prstGeom>
          <a:noFill/>
        </p:spPr>
        <p:txBody>
          <a:bodyPr wrap="none" lIns="0" tIns="0" rIns="0" bIns="0" rtlCol="0" anchor="b">
            <a:noAutofit/>
          </a:bodyPr>
          <a:lstStyle/>
          <a:p>
            <a:pPr>
              <a:lnSpc>
                <a:spcPct val="90000"/>
              </a:lnSpc>
              <a:spcAft>
                <a:spcPts val="600"/>
              </a:spcAft>
            </a:pPr>
            <a:r>
              <a:rPr lang="en-US" sz="1200">
                <a:solidFill>
                  <a:schemeClr val="bg1"/>
                </a:solidFill>
                <a:latin typeface="+mn-lt"/>
                <a:sym typeface="Trebuchet MS" panose="020B0603020202020204" pitchFamily="34" charset="0"/>
              </a:rPr>
              <a:t>bcg.com</a:t>
            </a:r>
          </a:p>
        </p:txBody>
      </p:sp>
      <p:sp>
        <p:nvSpPr>
          <p:cNvPr id="10" name="Freeform 9"/>
          <p:cNvSpPr>
            <a:spLocks noChangeAspect="1"/>
          </p:cNvSpPr>
          <p:nvPr userDrawn="1">
            <p:custDataLst>
              <p:tags r:id="rId3"/>
            </p:custDataLst>
          </p:nvPr>
        </p:nvSpPr>
        <p:spPr bwMode="auto">
          <a:xfrm>
            <a:off x="2676857" y="2969513"/>
            <a:ext cx="4033357" cy="842974"/>
          </a:xfrm>
          <a:custGeom>
            <a:avLst/>
            <a:gdLst>
              <a:gd name="connsiteX0" fmla="*/ 8982072 w 11499847"/>
              <a:gd name="connsiteY0" fmla="*/ 1919288 h 2403475"/>
              <a:gd name="connsiteX1" fmla="*/ 8982072 w 11499847"/>
              <a:gd name="connsiteY1" fmla="*/ 2105026 h 2403475"/>
              <a:gd name="connsiteX2" fmla="*/ 9098233 w 11499847"/>
              <a:gd name="connsiteY2" fmla="*/ 2105026 h 2403475"/>
              <a:gd name="connsiteX3" fmla="*/ 9164880 w 11499847"/>
              <a:gd name="connsiteY3" fmla="*/ 2080233 h 2403475"/>
              <a:gd name="connsiteX4" fmla="*/ 9191622 w 11499847"/>
              <a:gd name="connsiteY4" fmla="*/ 2011737 h 2403475"/>
              <a:gd name="connsiteX5" fmla="*/ 9164880 w 11499847"/>
              <a:gd name="connsiteY5" fmla="*/ 1944501 h 2403475"/>
              <a:gd name="connsiteX6" fmla="*/ 9098233 w 11499847"/>
              <a:gd name="connsiteY6" fmla="*/ 1919288 h 2403475"/>
              <a:gd name="connsiteX7" fmla="*/ 8982072 w 11499847"/>
              <a:gd name="connsiteY7" fmla="*/ 1919288 h 2403475"/>
              <a:gd name="connsiteX8" fmla="*/ 7280272 w 11499847"/>
              <a:gd name="connsiteY8" fmla="*/ 1919288 h 2403475"/>
              <a:gd name="connsiteX9" fmla="*/ 7280272 w 11499847"/>
              <a:gd name="connsiteY9" fmla="*/ 2097088 h 2403475"/>
              <a:gd name="connsiteX10" fmla="*/ 7404503 w 11499847"/>
              <a:gd name="connsiteY10" fmla="*/ 2097088 h 2403475"/>
              <a:gd name="connsiteX11" fmla="*/ 7469027 w 11499847"/>
              <a:gd name="connsiteY11" fmla="*/ 2073423 h 2403475"/>
              <a:gd name="connsiteX12" fmla="*/ 7494585 w 11499847"/>
              <a:gd name="connsiteY12" fmla="*/ 2008502 h 2403475"/>
              <a:gd name="connsiteX13" fmla="*/ 7469027 w 11499847"/>
              <a:gd name="connsiteY13" fmla="*/ 1943581 h 2403475"/>
              <a:gd name="connsiteX14" fmla="*/ 7404503 w 11499847"/>
              <a:gd name="connsiteY14" fmla="*/ 1919288 h 2403475"/>
              <a:gd name="connsiteX15" fmla="*/ 7280272 w 11499847"/>
              <a:gd name="connsiteY15" fmla="*/ 1919288 h 2403475"/>
              <a:gd name="connsiteX16" fmla="*/ 7945015 w 11499847"/>
              <a:gd name="connsiteY16" fmla="*/ 1909763 h 2403475"/>
              <a:gd name="connsiteX17" fmla="*/ 7813574 w 11499847"/>
              <a:gd name="connsiteY17" fmla="*/ 1965330 h 2403475"/>
              <a:gd name="connsiteX18" fmla="*/ 7759697 w 11499847"/>
              <a:gd name="connsiteY18" fmla="*/ 2100368 h 2403475"/>
              <a:gd name="connsiteX19" fmla="*/ 7813574 w 11499847"/>
              <a:gd name="connsiteY19" fmla="*/ 2235406 h 2403475"/>
              <a:gd name="connsiteX20" fmla="*/ 7945015 w 11499847"/>
              <a:gd name="connsiteY20" fmla="*/ 2290763 h 2403475"/>
              <a:gd name="connsiteX21" fmla="*/ 8077086 w 11499847"/>
              <a:gd name="connsiteY21" fmla="*/ 2235825 h 2403475"/>
              <a:gd name="connsiteX22" fmla="*/ 8131172 w 11499847"/>
              <a:gd name="connsiteY22" fmla="*/ 2100368 h 2403475"/>
              <a:gd name="connsiteX23" fmla="*/ 8076876 w 11499847"/>
              <a:gd name="connsiteY23" fmla="*/ 1965330 h 2403475"/>
              <a:gd name="connsiteX24" fmla="*/ 7945015 w 11499847"/>
              <a:gd name="connsiteY24" fmla="*/ 1909763 h 2403475"/>
              <a:gd name="connsiteX25" fmla="*/ 8899522 w 11499847"/>
              <a:gd name="connsiteY25" fmla="*/ 1844675 h 2403475"/>
              <a:gd name="connsiteX26" fmla="*/ 9098598 w 11499847"/>
              <a:gd name="connsiteY26" fmla="*/ 1844675 h 2403475"/>
              <a:gd name="connsiteX27" fmla="*/ 9228521 w 11499847"/>
              <a:gd name="connsiteY27" fmla="*/ 1892741 h 2403475"/>
              <a:gd name="connsiteX28" fmla="*/ 9277347 w 11499847"/>
              <a:gd name="connsiteY28" fmla="*/ 2011236 h 2403475"/>
              <a:gd name="connsiteX29" fmla="*/ 9228521 w 11499847"/>
              <a:gd name="connsiteY29" fmla="*/ 2129521 h 2403475"/>
              <a:gd name="connsiteX30" fmla="*/ 9098598 w 11499847"/>
              <a:gd name="connsiteY30" fmla="*/ 2177796 h 2403475"/>
              <a:gd name="connsiteX31" fmla="*/ 8982086 w 11499847"/>
              <a:gd name="connsiteY31" fmla="*/ 2177796 h 2403475"/>
              <a:gd name="connsiteX32" fmla="*/ 8982086 w 11499847"/>
              <a:gd name="connsiteY32" fmla="*/ 2355850 h 2403475"/>
              <a:gd name="connsiteX33" fmla="*/ 8899522 w 11499847"/>
              <a:gd name="connsiteY33" fmla="*/ 2355850 h 2403475"/>
              <a:gd name="connsiteX34" fmla="*/ 8899522 w 11499847"/>
              <a:gd name="connsiteY34" fmla="*/ 1844675 h 2403475"/>
              <a:gd name="connsiteX35" fmla="*/ 8324847 w 11499847"/>
              <a:gd name="connsiteY35" fmla="*/ 1844675 h 2403475"/>
              <a:gd name="connsiteX36" fmla="*/ 8407608 w 11499847"/>
              <a:gd name="connsiteY36" fmla="*/ 1844675 h 2403475"/>
              <a:gd name="connsiteX37" fmla="*/ 8407608 w 11499847"/>
              <a:gd name="connsiteY37" fmla="*/ 2158090 h 2403475"/>
              <a:gd name="connsiteX38" fmla="*/ 8443017 w 11499847"/>
              <a:gd name="connsiteY38" fmla="*/ 2252595 h 2403475"/>
              <a:gd name="connsiteX39" fmla="*/ 8537931 w 11499847"/>
              <a:gd name="connsiteY39" fmla="*/ 2291066 h 2403475"/>
              <a:gd name="connsiteX40" fmla="*/ 8631797 w 11499847"/>
              <a:gd name="connsiteY40" fmla="*/ 2252595 h 2403475"/>
              <a:gd name="connsiteX41" fmla="*/ 8667415 w 11499847"/>
              <a:gd name="connsiteY41" fmla="*/ 2158090 h 2403475"/>
              <a:gd name="connsiteX42" fmla="*/ 8667415 w 11499847"/>
              <a:gd name="connsiteY42" fmla="*/ 1844675 h 2403475"/>
              <a:gd name="connsiteX43" fmla="*/ 8748710 w 11499847"/>
              <a:gd name="connsiteY43" fmla="*/ 1844675 h 2403475"/>
              <a:gd name="connsiteX44" fmla="*/ 8748710 w 11499847"/>
              <a:gd name="connsiteY44" fmla="*/ 2158717 h 2403475"/>
              <a:gd name="connsiteX45" fmla="*/ 8688577 w 11499847"/>
              <a:gd name="connsiteY45" fmla="*/ 2307793 h 2403475"/>
              <a:gd name="connsiteX46" fmla="*/ 8537093 w 11499847"/>
              <a:gd name="connsiteY46" fmla="*/ 2366963 h 2403475"/>
              <a:gd name="connsiteX47" fmla="*/ 8385399 w 11499847"/>
              <a:gd name="connsiteY47" fmla="*/ 2307793 h 2403475"/>
              <a:gd name="connsiteX48" fmla="*/ 8324847 w 11499847"/>
              <a:gd name="connsiteY48" fmla="*/ 2158717 h 2403475"/>
              <a:gd name="connsiteX49" fmla="*/ 8324847 w 11499847"/>
              <a:gd name="connsiteY49" fmla="*/ 1844675 h 2403475"/>
              <a:gd name="connsiteX50" fmla="*/ 7197722 w 11499847"/>
              <a:gd name="connsiteY50" fmla="*/ 1844675 h 2403475"/>
              <a:gd name="connsiteX51" fmla="*/ 7404196 w 11499847"/>
              <a:gd name="connsiteY51" fmla="*/ 1844675 h 2403475"/>
              <a:gd name="connsiteX52" fmla="*/ 7531336 w 11499847"/>
              <a:gd name="connsiteY52" fmla="*/ 1891906 h 2403475"/>
              <a:gd name="connsiteX53" fmla="*/ 7578727 w 11499847"/>
              <a:gd name="connsiteY53" fmla="*/ 2008937 h 2403475"/>
              <a:gd name="connsiteX54" fmla="*/ 7548455 w 11499847"/>
              <a:gd name="connsiteY54" fmla="*/ 2106950 h 2403475"/>
              <a:gd name="connsiteX55" fmla="*/ 7464947 w 11499847"/>
              <a:gd name="connsiteY55" fmla="*/ 2161495 h 2403475"/>
              <a:gd name="connsiteX56" fmla="*/ 7525699 w 11499847"/>
              <a:gd name="connsiteY56" fmla="*/ 2258673 h 2403475"/>
              <a:gd name="connsiteX57" fmla="*/ 7586660 w 11499847"/>
              <a:gd name="connsiteY57" fmla="*/ 2355850 h 2403475"/>
              <a:gd name="connsiteX58" fmla="*/ 7491044 w 11499847"/>
              <a:gd name="connsiteY58" fmla="*/ 2355850 h 2403475"/>
              <a:gd name="connsiteX59" fmla="*/ 7434676 w 11499847"/>
              <a:gd name="connsiteY59" fmla="*/ 2263479 h 2403475"/>
              <a:gd name="connsiteX60" fmla="*/ 7378099 w 11499847"/>
              <a:gd name="connsiteY60" fmla="*/ 2171108 h 2403475"/>
              <a:gd name="connsiteX61" fmla="*/ 7280395 w 11499847"/>
              <a:gd name="connsiteY61" fmla="*/ 2171108 h 2403475"/>
              <a:gd name="connsiteX62" fmla="*/ 7280395 w 11499847"/>
              <a:gd name="connsiteY62" fmla="*/ 2355850 h 2403475"/>
              <a:gd name="connsiteX63" fmla="*/ 7197722 w 11499847"/>
              <a:gd name="connsiteY63" fmla="*/ 2355850 h 2403475"/>
              <a:gd name="connsiteX64" fmla="*/ 7197722 w 11499847"/>
              <a:gd name="connsiteY64" fmla="*/ 1844675 h 2403475"/>
              <a:gd name="connsiteX65" fmla="*/ 7945016 w 11499847"/>
              <a:gd name="connsiteY65" fmla="*/ 1833563 h 2403475"/>
              <a:gd name="connsiteX66" fmla="*/ 8136527 w 11499847"/>
              <a:gd name="connsiteY66" fmla="*/ 1911974 h 2403475"/>
              <a:gd name="connsiteX67" fmla="*/ 8215310 w 11499847"/>
              <a:gd name="connsiteY67" fmla="*/ 2100368 h 2403475"/>
              <a:gd name="connsiteX68" fmla="*/ 8136527 w 11499847"/>
              <a:gd name="connsiteY68" fmla="*/ 2288762 h 2403475"/>
              <a:gd name="connsiteX69" fmla="*/ 7945016 w 11499847"/>
              <a:gd name="connsiteY69" fmla="*/ 2366963 h 2403475"/>
              <a:gd name="connsiteX70" fmla="*/ 7754134 w 11499847"/>
              <a:gd name="connsiteY70" fmla="*/ 2288762 h 2403475"/>
              <a:gd name="connsiteX71" fmla="*/ 7675560 w 11499847"/>
              <a:gd name="connsiteY71" fmla="*/ 2100368 h 2403475"/>
              <a:gd name="connsiteX72" fmla="*/ 7754134 w 11499847"/>
              <a:gd name="connsiteY72" fmla="*/ 1911974 h 2403475"/>
              <a:gd name="connsiteX73" fmla="*/ 7945016 w 11499847"/>
              <a:gd name="connsiteY73" fmla="*/ 1833563 h 2403475"/>
              <a:gd name="connsiteX74" fmla="*/ 6834872 w 11499847"/>
              <a:gd name="connsiteY74" fmla="*/ 1833563 h 2403475"/>
              <a:gd name="connsiteX75" fmla="*/ 6921875 w 11499847"/>
              <a:gd name="connsiteY75" fmla="*/ 1845482 h 2403475"/>
              <a:gd name="connsiteX76" fmla="*/ 6996090 w 11499847"/>
              <a:gd name="connsiteY76" fmla="*/ 1881028 h 2403475"/>
              <a:gd name="connsiteX77" fmla="*/ 6974496 w 11499847"/>
              <a:gd name="connsiteY77" fmla="*/ 1914692 h 2403475"/>
              <a:gd name="connsiteX78" fmla="*/ 6952903 w 11499847"/>
              <a:gd name="connsiteY78" fmla="*/ 1948356 h 2403475"/>
              <a:gd name="connsiteX79" fmla="*/ 6897556 w 11499847"/>
              <a:gd name="connsiteY79" fmla="*/ 1919501 h 2403475"/>
              <a:gd name="connsiteX80" fmla="*/ 6834243 w 11499847"/>
              <a:gd name="connsiteY80" fmla="*/ 1910301 h 2403475"/>
              <a:gd name="connsiteX81" fmla="*/ 6703424 w 11499847"/>
              <a:gd name="connsiteY81" fmla="*/ 1965084 h 2403475"/>
              <a:gd name="connsiteX82" fmla="*/ 6650384 w 11499847"/>
              <a:gd name="connsiteY82" fmla="*/ 2100368 h 2403475"/>
              <a:gd name="connsiteX83" fmla="*/ 6701957 w 11499847"/>
              <a:gd name="connsiteY83" fmla="*/ 2236070 h 2403475"/>
              <a:gd name="connsiteX84" fmla="*/ 6831308 w 11499847"/>
              <a:gd name="connsiteY84" fmla="*/ 2291062 h 2403475"/>
              <a:gd name="connsiteX85" fmla="*/ 6945984 w 11499847"/>
              <a:gd name="connsiteY85" fmla="*/ 2250498 h 2403475"/>
              <a:gd name="connsiteX86" fmla="*/ 6999863 w 11499847"/>
              <a:gd name="connsiteY86" fmla="*/ 2148460 h 2403475"/>
              <a:gd name="connsiteX87" fmla="*/ 6825438 w 11499847"/>
              <a:gd name="connsiteY87" fmla="*/ 2148460 h 2403475"/>
              <a:gd name="connsiteX88" fmla="*/ 6849128 w 11499847"/>
              <a:gd name="connsiteY88" fmla="*/ 2111241 h 2403475"/>
              <a:gd name="connsiteX89" fmla="*/ 6873028 w 11499847"/>
              <a:gd name="connsiteY89" fmla="*/ 2074022 h 2403475"/>
              <a:gd name="connsiteX90" fmla="*/ 7078061 w 11499847"/>
              <a:gd name="connsiteY90" fmla="*/ 2074022 h 2403475"/>
              <a:gd name="connsiteX91" fmla="*/ 7080787 w 11499847"/>
              <a:gd name="connsiteY91" fmla="*/ 2090540 h 2403475"/>
              <a:gd name="connsiteX92" fmla="*/ 7081835 w 11499847"/>
              <a:gd name="connsiteY92" fmla="*/ 2110613 h 2403475"/>
              <a:gd name="connsiteX93" fmla="*/ 7011813 w 11499847"/>
              <a:gd name="connsiteY93" fmla="*/ 2293362 h 2403475"/>
              <a:gd name="connsiteX94" fmla="*/ 6830470 w 11499847"/>
              <a:gd name="connsiteY94" fmla="*/ 2366963 h 2403475"/>
              <a:gd name="connsiteX95" fmla="*/ 6642417 w 11499847"/>
              <a:gd name="connsiteY95" fmla="*/ 2289389 h 2403475"/>
              <a:gd name="connsiteX96" fmla="*/ 6565897 w 11499847"/>
              <a:gd name="connsiteY96" fmla="*/ 2100368 h 2403475"/>
              <a:gd name="connsiteX97" fmla="*/ 6644514 w 11499847"/>
              <a:gd name="connsiteY97" fmla="*/ 1911346 h 2403475"/>
              <a:gd name="connsiteX98" fmla="*/ 6834872 w 11499847"/>
              <a:gd name="connsiteY98" fmla="*/ 1833563 h 2403475"/>
              <a:gd name="connsiteX99" fmla="*/ 501650 w 11499847"/>
              <a:gd name="connsiteY99" fmla="*/ 1403350 h 2403475"/>
              <a:gd name="connsiteX100" fmla="*/ 501650 w 11499847"/>
              <a:gd name="connsiteY100" fmla="*/ 1925638 h 2403475"/>
              <a:gd name="connsiteX101" fmla="*/ 842112 w 11499847"/>
              <a:gd name="connsiteY101" fmla="*/ 1925638 h 2403475"/>
              <a:gd name="connsiteX102" fmla="*/ 1182574 w 11499847"/>
              <a:gd name="connsiteY102" fmla="*/ 1925638 h 2403475"/>
              <a:gd name="connsiteX103" fmla="*/ 1375900 w 11499847"/>
              <a:gd name="connsiteY103" fmla="*/ 1849684 h 2403475"/>
              <a:gd name="connsiteX104" fmla="*/ 1455738 w 11499847"/>
              <a:gd name="connsiteY104" fmla="*/ 1662720 h 2403475"/>
              <a:gd name="connsiteX105" fmla="*/ 1375900 w 11499847"/>
              <a:gd name="connsiteY105" fmla="*/ 1477635 h 2403475"/>
              <a:gd name="connsiteX106" fmla="*/ 1182574 w 11499847"/>
              <a:gd name="connsiteY106" fmla="*/ 1403350 h 2403475"/>
              <a:gd name="connsiteX107" fmla="*/ 501650 w 11499847"/>
              <a:gd name="connsiteY107" fmla="*/ 1403350 h 2403475"/>
              <a:gd name="connsiteX108" fmla="*/ 7349808 w 11499847"/>
              <a:gd name="connsiteY108" fmla="*/ 1012825 h 2403475"/>
              <a:gd name="connsiteX109" fmla="*/ 7218292 w 11499847"/>
              <a:gd name="connsiteY109" fmla="*/ 1067952 h 2403475"/>
              <a:gd name="connsiteX110" fmla="*/ 7164385 w 11499847"/>
              <a:gd name="connsiteY110" fmla="*/ 1202427 h 2403475"/>
              <a:gd name="connsiteX111" fmla="*/ 7218292 w 11499847"/>
              <a:gd name="connsiteY111" fmla="*/ 1336903 h 2403475"/>
              <a:gd name="connsiteX112" fmla="*/ 7349808 w 11499847"/>
              <a:gd name="connsiteY112" fmla="*/ 1392238 h 2403475"/>
              <a:gd name="connsiteX113" fmla="*/ 7481953 w 11499847"/>
              <a:gd name="connsiteY113" fmla="*/ 1337320 h 2403475"/>
              <a:gd name="connsiteX114" fmla="*/ 7535860 w 11499847"/>
              <a:gd name="connsiteY114" fmla="*/ 1202427 h 2403475"/>
              <a:gd name="connsiteX115" fmla="*/ 7481534 w 11499847"/>
              <a:gd name="connsiteY115" fmla="*/ 1067952 h 2403475"/>
              <a:gd name="connsiteX116" fmla="*/ 7349808 w 11499847"/>
              <a:gd name="connsiteY116" fmla="*/ 1012825 h 2403475"/>
              <a:gd name="connsiteX117" fmla="*/ 10448922 w 11499847"/>
              <a:gd name="connsiteY117" fmla="*/ 946150 h 2403475"/>
              <a:gd name="connsiteX118" fmla="*/ 10552110 w 11499847"/>
              <a:gd name="connsiteY118" fmla="*/ 946150 h 2403475"/>
              <a:gd name="connsiteX119" fmla="*/ 10671172 w 11499847"/>
              <a:gd name="connsiteY119" fmla="*/ 1139825 h 2403475"/>
              <a:gd name="connsiteX120" fmla="*/ 10790235 w 11499847"/>
              <a:gd name="connsiteY120" fmla="*/ 1333501 h 2403475"/>
              <a:gd name="connsiteX121" fmla="*/ 10790235 w 11499847"/>
              <a:gd name="connsiteY121" fmla="*/ 946150 h 2403475"/>
              <a:gd name="connsiteX122" fmla="*/ 10869610 w 11499847"/>
              <a:gd name="connsiteY122" fmla="*/ 946150 h 2403475"/>
              <a:gd name="connsiteX123" fmla="*/ 10869610 w 11499847"/>
              <a:gd name="connsiteY123" fmla="*/ 1458913 h 2403475"/>
              <a:gd name="connsiteX124" fmla="*/ 10772772 w 11499847"/>
              <a:gd name="connsiteY124" fmla="*/ 1458913 h 2403475"/>
              <a:gd name="connsiteX125" fmla="*/ 10650535 w 11499847"/>
              <a:gd name="connsiteY125" fmla="*/ 1260475 h 2403475"/>
              <a:gd name="connsiteX126" fmla="*/ 10528297 w 11499847"/>
              <a:gd name="connsiteY126" fmla="*/ 1062038 h 2403475"/>
              <a:gd name="connsiteX127" fmla="*/ 10528297 w 11499847"/>
              <a:gd name="connsiteY127" fmla="*/ 1458913 h 2403475"/>
              <a:gd name="connsiteX128" fmla="*/ 10448922 w 11499847"/>
              <a:gd name="connsiteY128" fmla="*/ 1458913 h 2403475"/>
              <a:gd name="connsiteX129" fmla="*/ 10185397 w 11499847"/>
              <a:gd name="connsiteY129" fmla="*/ 946150 h 2403475"/>
              <a:gd name="connsiteX130" fmla="*/ 10267947 w 11499847"/>
              <a:gd name="connsiteY130" fmla="*/ 946150 h 2403475"/>
              <a:gd name="connsiteX131" fmla="*/ 10267947 w 11499847"/>
              <a:gd name="connsiteY131" fmla="*/ 1458913 h 2403475"/>
              <a:gd name="connsiteX132" fmla="*/ 10185397 w 11499847"/>
              <a:gd name="connsiteY132" fmla="*/ 1458913 h 2403475"/>
              <a:gd name="connsiteX133" fmla="*/ 9656760 w 11499847"/>
              <a:gd name="connsiteY133" fmla="*/ 946150 h 2403475"/>
              <a:gd name="connsiteX134" fmla="*/ 10059985 w 11499847"/>
              <a:gd name="connsiteY134" fmla="*/ 946150 h 2403475"/>
              <a:gd name="connsiteX135" fmla="*/ 10059985 w 11499847"/>
              <a:gd name="connsiteY135" fmla="*/ 1022350 h 2403475"/>
              <a:gd name="connsiteX136" fmla="*/ 9899648 w 11499847"/>
              <a:gd name="connsiteY136" fmla="*/ 1022350 h 2403475"/>
              <a:gd name="connsiteX137" fmla="*/ 9899648 w 11499847"/>
              <a:gd name="connsiteY137" fmla="*/ 1458913 h 2403475"/>
              <a:gd name="connsiteX138" fmla="*/ 9817098 w 11499847"/>
              <a:gd name="connsiteY138" fmla="*/ 1458913 h 2403475"/>
              <a:gd name="connsiteX139" fmla="*/ 9817098 w 11499847"/>
              <a:gd name="connsiteY139" fmla="*/ 1022350 h 2403475"/>
              <a:gd name="connsiteX140" fmla="*/ 9656760 w 11499847"/>
              <a:gd name="connsiteY140" fmla="*/ 1022350 h 2403475"/>
              <a:gd name="connsiteX141" fmla="*/ 9336085 w 11499847"/>
              <a:gd name="connsiteY141" fmla="*/ 946150 h 2403475"/>
              <a:gd name="connsiteX142" fmla="*/ 9418635 w 11499847"/>
              <a:gd name="connsiteY142" fmla="*/ 946150 h 2403475"/>
              <a:gd name="connsiteX143" fmla="*/ 9418635 w 11499847"/>
              <a:gd name="connsiteY143" fmla="*/ 1382713 h 2403475"/>
              <a:gd name="connsiteX144" fmla="*/ 9671048 w 11499847"/>
              <a:gd name="connsiteY144" fmla="*/ 1382713 h 2403475"/>
              <a:gd name="connsiteX145" fmla="*/ 9671048 w 11499847"/>
              <a:gd name="connsiteY145" fmla="*/ 1458913 h 2403475"/>
              <a:gd name="connsiteX146" fmla="*/ 9336085 w 11499847"/>
              <a:gd name="connsiteY146" fmla="*/ 1458913 h 2403475"/>
              <a:gd name="connsiteX147" fmla="*/ 8766172 w 11499847"/>
              <a:gd name="connsiteY147" fmla="*/ 946150 h 2403475"/>
              <a:gd name="connsiteX148" fmla="*/ 8848414 w 11499847"/>
              <a:gd name="connsiteY148" fmla="*/ 946150 h 2403475"/>
              <a:gd name="connsiteX149" fmla="*/ 8848414 w 11499847"/>
              <a:gd name="connsiteY149" fmla="*/ 1260391 h 2403475"/>
              <a:gd name="connsiteX150" fmla="*/ 8883900 w 11499847"/>
              <a:gd name="connsiteY150" fmla="*/ 1355146 h 2403475"/>
              <a:gd name="connsiteX151" fmla="*/ 8978249 w 11499847"/>
              <a:gd name="connsiteY151" fmla="*/ 1393718 h 2403475"/>
              <a:gd name="connsiteX152" fmla="*/ 9071972 w 11499847"/>
              <a:gd name="connsiteY152" fmla="*/ 1355146 h 2403475"/>
              <a:gd name="connsiteX153" fmla="*/ 9107457 w 11499847"/>
              <a:gd name="connsiteY153" fmla="*/ 1260391 h 2403475"/>
              <a:gd name="connsiteX154" fmla="*/ 9107457 w 11499847"/>
              <a:gd name="connsiteY154" fmla="*/ 946150 h 2403475"/>
              <a:gd name="connsiteX155" fmla="*/ 9188447 w 11499847"/>
              <a:gd name="connsiteY155" fmla="*/ 946150 h 2403475"/>
              <a:gd name="connsiteX156" fmla="*/ 9188447 w 11499847"/>
              <a:gd name="connsiteY156" fmla="*/ 1261230 h 2403475"/>
              <a:gd name="connsiteX157" fmla="*/ 9128539 w 11499847"/>
              <a:gd name="connsiteY157" fmla="*/ 1410489 h 2403475"/>
              <a:gd name="connsiteX158" fmla="*/ 8977623 w 11499847"/>
              <a:gd name="connsiteY158" fmla="*/ 1470025 h 2403475"/>
              <a:gd name="connsiteX159" fmla="*/ 8826497 w 11499847"/>
              <a:gd name="connsiteY159" fmla="*/ 1410489 h 2403475"/>
              <a:gd name="connsiteX160" fmla="*/ 8766172 w 11499847"/>
              <a:gd name="connsiteY160" fmla="*/ 1261230 h 2403475"/>
              <a:gd name="connsiteX161" fmla="*/ 8766172 w 11499847"/>
              <a:gd name="connsiteY161" fmla="*/ 946150 h 2403475"/>
              <a:gd name="connsiteX162" fmla="*/ 7737472 w 11499847"/>
              <a:gd name="connsiteY162" fmla="*/ 946150 h 2403475"/>
              <a:gd name="connsiteX163" fmla="*/ 7839072 w 11499847"/>
              <a:gd name="connsiteY163" fmla="*/ 946150 h 2403475"/>
              <a:gd name="connsiteX164" fmla="*/ 7958134 w 11499847"/>
              <a:gd name="connsiteY164" fmla="*/ 1139825 h 2403475"/>
              <a:gd name="connsiteX165" fmla="*/ 8077197 w 11499847"/>
              <a:gd name="connsiteY165" fmla="*/ 1333501 h 2403475"/>
              <a:gd name="connsiteX166" fmla="*/ 8077197 w 11499847"/>
              <a:gd name="connsiteY166" fmla="*/ 946150 h 2403475"/>
              <a:gd name="connsiteX167" fmla="*/ 8156572 w 11499847"/>
              <a:gd name="connsiteY167" fmla="*/ 946150 h 2403475"/>
              <a:gd name="connsiteX168" fmla="*/ 8156572 w 11499847"/>
              <a:gd name="connsiteY168" fmla="*/ 1458913 h 2403475"/>
              <a:gd name="connsiteX169" fmla="*/ 8061322 w 11499847"/>
              <a:gd name="connsiteY169" fmla="*/ 1458913 h 2403475"/>
              <a:gd name="connsiteX170" fmla="*/ 7939084 w 11499847"/>
              <a:gd name="connsiteY170" fmla="*/ 1260475 h 2403475"/>
              <a:gd name="connsiteX171" fmla="*/ 7815259 w 11499847"/>
              <a:gd name="connsiteY171" fmla="*/ 1062038 h 2403475"/>
              <a:gd name="connsiteX172" fmla="*/ 7815259 w 11499847"/>
              <a:gd name="connsiteY172" fmla="*/ 1458913 h 2403475"/>
              <a:gd name="connsiteX173" fmla="*/ 7737472 w 11499847"/>
              <a:gd name="connsiteY173" fmla="*/ 1458913 h 2403475"/>
              <a:gd name="connsiteX174" fmla="*/ 11253544 w 11499847"/>
              <a:gd name="connsiteY174" fmla="*/ 936625 h 2403475"/>
              <a:gd name="connsiteX175" fmla="*/ 11340315 w 11499847"/>
              <a:gd name="connsiteY175" fmla="*/ 948334 h 2403475"/>
              <a:gd name="connsiteX176" fmla="*/ 11414331 w 11499847"/>
              <a:gd name="connsiteY176" fmla="*/ 984090 h 2403475"/>
              <a:gd name="connsiteX177" fmla="*/ 11392795 w 11499847"/>
              <a:gd name="connsiteY177" fmla="*/ 1017545 h 2403475"/>
              <a:gd name="connsiteX178" fmla="*/ 11371260 w 11499847"/>
              <a:gd name="connsiteY178" fmla="*/ 1051209 h 2403475"/>
              <a:gd name="connsiteX179" fmla="*/ 11316270 w 11499847"/>
              <a:gd name="connsiteY179" fmla="*/ 1022354 h 2403475"/>
              <a:gd name="connsiteX180" fmla="*/ 11252917 w 11499847"/>
              <a:gd name="connsiteY180" fmla="*/ 1013363 h 2403475"/>
              <a:gd name="connsiteX181" fmla="*/ 11122657 w 11499847"/>
              <a:gd name="connsiteY181" fmla="*/ 1067936 h 2403475"/>
              <a:gd name="connsiteX182" fmla="*/ 11069549 w 11499847"/>
              <a:gd name="connsiteY182" fmla="*/ 1203221 h 2403475"/>
              <a:gd name="connsiteX183" fmla="*/ 11120984 w 11499847"/>
              <a:gd name="connsiteY183" fmla="*/ 1338923 h 2403475"/>
              <a:gd name="connsiteX184" fmla="*/ 11249990 w 11499847"/>
              <a:gd name="connsiteY184" fmla="*/ 1394124 h 2403475"/>
              <a:gd name="connsiteX185" fmla="*/ 11364360 w 11499847"/>
              <a:gd name="connsiteY185" fmla="*/ 1353350 h 2403475"/>
              <a:gd name="connsiteX186" fmla="*/ 11418095 w 11499847"/>
              <a:gd name="connsiteY186" fmla="*/ 1251521 h 2403475"/>
              <a:gd name="connsiteX187" fmla="*/ 11244136 w 11499847"/>
              <a:gd name="connsiteY187" fmla="*/ 1251521 h 2403475"/>
              <a:gd name="connsiteX188" fmla="*/ 11267971 w 11499847"/>
              <a:gd name="connsiteY188" fmla="*/ 1214303 h 2403475"/>
              <a:gd name="connsiteX189" fmla="*/ 11291598 w 11499847"/>
              <a:gd name="connsiteY189" fmla="*/ 1177084 h 2403475"/>
              <a:gd name="connsiteX190" fmla="*/ 11496083 w 11499847"/>
              <a:gd name="connsiteY190" fmla="*/ 1177084 h 2403475"/>
              <a:gd name="connsiteX191" fmla="*/ 11498802 w 11499847"/>
              <a:gd name="connsiteY191" fmla="*/ 1193393 h 2403475"/>
              <a:gd name="connsiteX192" fmla="*/ 11499847 w 11499847"/>
              <a:gd name="connsiteY192" fmla="*/ 1213466 h 2403475"/>
              <a:gd name="connsiteX193" fmla="*/ 11430222 w 11499847"/>
              <a:gd name="connsiteY193" fmla="*/ 1396215 h 2403475"/>
              <a:gd name="connsiteX194" fmla="*/ 11249154 w 11499847"/>
              <a:gd name="connsiteY194" fmla="*/ 1470025 h 2403475"/>
              <a:gd name="connsiteX195" fmla="*/ 11061813 w 11499847"/>
              <a:gd name="connsiteY195" fmla="*/ 1392242 h 2403475"/>
              <a:gd name="connsiteX196" fmla="*/ 10985497 w 11499847"/>
              <a:gd name="connsiteY196" fmla="*/ 1203221 h 2403475"/>
              <a:gd name="connsiteX197" fmla="*/ 11063695 w 11499847"/>
              <a:gd name="connsiteY197" fmla="*/ 1014408 h 2403475"/>
              <a:gd name="connsiteX198" fmla="*/ 11253544 w 11499847"/>
              <a:gd name="connsiteY198" fmla="*/ 936625 h 2403475"/>
              <a:gd name="connsiteX199" fmla="*/ 8471697 w 11499847"/>
              <a:gd name="connsiteY199" fmla="*/ 936625 h 2403475"/>
              <a:gd name="connsiteX200" fmla="*/ 8556850 w 11499847"/>
              <a:gd name="connsiteY200" fmla="*/ 949798 h 2403475"/>
              <a:gd name="connsiteX201" fmla="*/ 8626729 w 11499847"/>
              <a:gd name="connsiteY201" fmla="*/ 984717 h 2403475"/>
              <a:gd name="connsiteX202" fmla="*/ 8606225 w 11499847"/>
              <a:gd name="connsiteY202" fmla="*/ 1017336 h 2403475"/>
              <a:gd name="connsiteX203" fmla="*/ 8585722 w 11499847"/>
              <a:gd name="connsiteY203" fmla="*/ 1049745 h 2403475"/>
              <a:gd name="connsiteX204" fmla="*/ 8528605 w 11499847"/>
              <a:gd name="connsiteY204" fmla="*/ 1021099 h 2403475"/>
              <a:gd name="connsiteX205" fmla="*/ 8471070 w 11499847"/>
              <a:gd name="connsiteY205" fmla="*/ 1011063 h 2403475"/>
              <a:gd name="connsiteX206" fmla="*/ 8404328 w 11499847"/>
              <a:gd name="connsiteY206" fmla="*/ 1032181 h 2403475"/>
              <a:gd name="connsiteX207" fmla="*/ 8382570 w 11499847"/>
              <a:gd name="connsiteY207" fmla="*/ 1084246 h 2403475"/>
              <a:gd name="connsiteX208" fmla="*/ 8412697 w 11499847"/>
              <a:gd name="connsiteY208" fmla="*/ 1135474 h 2403475"/>
              <a:gd name="connsiteX209" fmla="*/ 8493038 w 11499847"/>
              <a:gd name="connsiteY209" fmla="*/ 1165165 h 2403475"/>
              <a:gd name="connsiteX210" fmla="*/ 8600786 w 11499847"/>
              <a:gd name="connsiteY210" fmla="*/ 1212421 h 2403475"/>
              <a:gd name="connsiteX211" fmla="*/ 8648697 w 11499847"/>
              <a:gd name="connsiteY211" fmla="*/ 1314250 h 2403475"/>
              <a:gd name="connsiteX212" fmla="*/ 8601413 w 11499847"/>
              <a:gd name="connsiteY212" fmla="*/ 1425906 h 2403475"/>
              <a:gd name="connsiteX213" fmla="*/ 8468140 w 11499847"/>
              <a:gd name="connsiteY213" fmla="*/ 1470025 h 2403475"/>
              <a:gd name="connsiteX214" fmla="*/ 8363531 w 11499847"/>
              <a:gd name="connsiteY214" fmla="*/ 1452461 h 2403475"/>
              <a:gd name="connsiteX215" fmla="*/ 8286747 w 11499847"/>
              <a:gd name="connsiteY215" fmla="*/ 1411479 h 2403475"/>
              <a:gd name="connsiteX216" fmla="*/ 8307251 w 11499847"/>
              <a:gd name="connsiteY216" fmla="*/ 1379069 h 2403475"/>
              <a:gd name="connsiteX217" fmla="*/ 8327754 w 11499847"/>
              <a:gd name="connsiteY217" fmla="*/ 1346450 h 2403475"/>
              <a:gd name="connsiteX218" fmla="*/ 8395541 w 11499847"/>
              <a:gd name="connsiteY218" fmla="*/ 1381578 h 2403475"/>
              <a:gd name="connsiteX219" fmla="*/ 8468768 w 11499847"/>
              <a:gd name="connsiteY219" fmla="*/ 1395378 h 2403475"/>
              <a:gd name="connsiteX220" fmla="*/ 8541367 w 11499847"/>
              <a:gd name="connsiteY220" fmla="*/ 1373633 h 2403475"/>
              <a:gd name="connsiteX221" fmla="*/ 8566055 w 11499847"/>
              <a:gd name="connsiteY221" fmla="*/ 1319477 h 2403475"/>
              <a:gd name="connsiteX222" fmla="*/ 8535509 w 11499847"/>
              <a:gd name="connsiteY222" fmla="*/ 1268458 h 2403475"/>
              <a:gd name="connsiteX223" fmla="*/ 8455587 w 11499847"/>
              <a:gd name="connsiteY223" fmla="*/ 1238348 h 2403475"/>
              <a:gd name="connsiteX224" fmla="*/ 8347630 w 11499847"/>
              <a:gd name="connsiteY224" fmla="*/ 1191511 h 2403475"/>
              <a:gd name="connsiteX225" fmla="*/ 8299928 w 11499847"/>
              <a:gd name="connsiteY225" fmla="*/ 1089264 h 2403475"/>
              <a:gd name="connsiteX226" fmla="*/ 8345329 w 11499847"/>
              <a:gd name="connsiteY226" fmla="*/ 979489 h 2403475"/>
              <a:gd name="connsiteX227" fmla="*/ 8471697 w 11499847"/>
              <a:gd name="connsiteY227" fmla="*/ 936625 h 2403475"/>
              <a:gd name="connsiteX228" fmla="*/ 7349808 w 11499847"/>
              <a:gd name="connsiteY228" fmla="*/ 936625 h 2403475"/>
              <a:gd name="connsiteX229" fmla="*/ 7541183 w 11499847"/>
              <a:gd name="connsiteY229" fmla="*/ 1014826 h 2403475"/>
              <a:gd name="connsiteX230" fmla="*/ 7619997 w 11499847"/>
              <a:gd name="connsiteY230" fmla="*/ 1203221 h 2403475"/>
              <a:gd name="connsiteX231" fmla="*/ 7541183 w 11499847"/>
              <a:gd name="connsiteY231" fmla="*/ 1391615 h 2403475"/>
              <a:gd name="connsiteX232" fmla="*/ 7349808 w 11499847"/>
              <a:gd name="connsiteY232" fmla="*/ 1470025 h 2403475"/>
              <a:gd name="connsiteX233" fmla="*/ 7158642 w 11499847"/>
              <a:gd name="connsiteY233" fmla="*/ 1391615 h 2403475"/>
              <a:gd name="connsiteX234" fmla="*/ 7080247 w 11499847"/>
              <a:gd name="connsiteY234" fmla="*/ 1203221 h 2403475"/>
              <a:gd name="connsiteX235" fmla="*/ 7158642 w 11499847"/>
              <a:gd name="connsiteY235" fmla="*/ 1014826 h 2403475"/>
              <a:gd name="connsiteX236" fmla="*/ 7349808 w 11499847"/>
              <a:gd name="connsiteY236" fmla="*/ 936625 h 2403475"/>
              <a:gd name="connsiteX237" fmla="*/ 6837427 w 11499847"/>
              <a:gd name="connsiteY237" fmla="*/ 936625 h 2403475"/>
              <a:gd name="connsiteX238" fmla="*/ 6932756 w 11499847"/>
              <a:gd name="connsiteY238" fmla="*/ 951680 h 2403475"/>
              <a:gd name="connsiteX239" fmla="*/ 7008810 w 11499847"/>
              <a:gd name="connsiteY239" fmla="*/ 993499 h 2403475"/>
              <a:gd name="connsiteX240" fmla="*/ 6987439 w 11499847"/>
              <a:gd name="connsiteY240" fmla="*/ 1026745 h 2403475"/>
              <a:gd name="connsiteX241" fmla="*/ 6966278 w 11499847"/>
              <a:gd name="connsiteY241" fmla="*/ 1059991 h 2403475"/>
              <a:gd name="connsiteX242" fmla="*/ 6904891 w 11499847"/>
              <a:gd name="connsiteY242" fmla="*/ 1024863 h 2403475"/>
              <a:gd name="connsiteX243" fmla="*/ 6833027 w 11499847"/>
              <a:gd name="connsiteY243" fmla="*/ 1012526 h 2403475"/>
              <a:gd name="connsiteX244" fmla="*/ 6703338 w 11499847"/>
              <a:gd name="connsiteY244" fmla="*/ 1067727 h 2403475"/>
              <a:gd name="connsiteX245" fmla="*/ 6649912 w 11499847"/>
              <a:gd name="connsiteY245" fmla="*/ 1203221 h 2403475"/>
              <a:gd name="connsiteX246" fmla="*/ 6703338 w 11499847"/>
              <a:gd name="connsiteY246" fmla="*/ 1338923 h 2403475"/>
              <a:gd name="connsiteX247" fmla="*/ 6833027 w 11499847"/>
              <a:gd name="connsiteY247" fmla="*/ 1393915 h 2403475"/>
              <a:gd name="connsiteX248" fmla="*/ 6904891 w 11499847"/>
              <a:gd name="connsiteY248" fmla="*/ 1381787 h 2403475"/>
              <a:gd name="connsiteX249" fmla="*/ 6966278 w 11499847"/>
              <a:gd name="connsiteY249" fmla="*/ 1346450 h 2403475"/>
              <a:gd name="connsiteX250" fmla="*/ 6987439 w 11499847"/>
              <a:gd name="connsiteY250" fmla="*/ 1379696 h 2403475"/>
              <a:gd name="connsiteX251" fmla="*/ 7008810 w 11499847"/>
              <a:gd name="connsiteY251" fmla="*/ 1412942 h 2403475"/>
              <a:gd name="connsiteX252" fmla="*/ 6932756 w 11499847"/>
              <a:gd name="connsiteY252" fmla="*/ 1454970 h 2403475"/>
              <a:gd name="connsiteX253" fmla="*/ 6837427 w 11499847"/>
              <a:gd name="connsiteY253" fmla="*/ 1470025 h 2403475"/>
              <a:gd name="connsiteX254" fmla="*/ 6644674 w 11499847"/>
              <a:gd name="connsiteY254" fmla="*/ 1392242 h 2403475"/>
              <a:gd name="connsiteX255" fmla="*/ 6565897 w 11499847"/>
              <a:gd name="connsiteY255" fmla="*/ 1203221 h 2403475"/>
              <a:gd name="connsiteX256" fmla="*/ 6644674 w 11499847"/>
              <a:gd name="connsiteY256" fmla="*/ 1014408 h 2403475"/>
              <a:gd name="connsiteX257" fmla="*/ 6837427 w 11499847"/>
              <a:gd name="connsiteY257" fmla="*/ 936625 h 2403475"/>
              <a:gd name="connsiteX258" fmla="*/ 501650 w 11499847"/>
              <a:gd name="connsiteY258" fmla="*/ 477838 h 2403475"/>
              <a:gd name="connsiteX259" fmla="*/ 501650 w 11499847"/>
              <a:gd name="connsiteY259" fmla="*/ 981076 h 2403475"/>
              <a:gd name="connsiteX260" fmla="*/ 786010 w 11499847"/>
              <a:gd name="connsiteY260" fmla="*/ 981076 h 2403475"/>
              <a:gd name="connsiteX261" fmla="*/ 1070579 w 11499847"/>
              <a:gd name="connsiteY261" fmla="*/ 981076 h 2403475"/>
              <a:gd name="connsiteX262" fmla="*/ 1253188 w 11499847"/>
              <a:gd name="connsiteY262" fmla="*/ 908588 h 2403475"/>
              <a:gd name="connsiteX263" fmla="*/ 1327150 w 11499847"/>
              <a:gd name="connsiteY263" fmla="*/ 727681 h 2403475"/>
              <a:gd name="connsiteX264" fmla="*/ 1253188 w 11499847"/>
              <a:gd name="connsiteY264" fmla="*/ 548446 h 2403475"/>
              <a:gd name="connsiteX265" fmla="*/ 1070579 w 11499847"/>
              <a:gd name="connsiteY265" fmla="*/ 477838 h 2403475"/>
              <a:gd name="connsiteX266" fmla="*/ 501650 w 11499847"/>
              <a:gd name="connsiteY266" fmla="*/ 477838 h 2403475"/>
              <a:gd name="connsiteX267" fmla="*/ 6675435 w 11499847"/>
              <a:gd name="connsiteY267" fmla="*/ 336550 h 2403475"/>
              <a:gd name="connsiteX268" fmla="*/ 6675435 w 11499847"/>
              <a:gd name="connsiteY268" fmla="*/ 487363 h 2403475"/>
              <a:gd name="connsiteX269" fmla="*/ 6808467 w 11499847"/>
              <a:gd name="connsiteY269" fmla="*/ 487363 h 2403475"/>
              <a:gd name="connsiteX270" fmla="*/ 6865570 w 11499847"/>
              <a:gd name="connsiteY270" fmla="*/ 465370 h 2403475"/>
              <a:gd name="connsiteX271" fmla="*/ 6888160 w 11499847"/>
              <a:gd name="connsiteY271" fmla="*/ 411957 h 2403475"/>
              <a:gd name="connsiteX272" fmla="*/ 6865570 w 11499847"/>
              <a:gd name="connsiteY272" fmla="*/ 358334 h 2403475"/>
              <a:gd name="connsiteX273" fmla="*/ 6808467 w 11499847"/>
              <a:gd name="connsiteY273" fmla="*/ 336550 h 2403475"/>
              <a:gd name="connsiteX274" fmla="*/ 6675435 w 11499847"/>
              <a:gd name="connsiteY274" fmla="*/ 336550 h 2403475"/>
              <a:gd name="connsiteX275" fmla="*/ 6675435 w 11499847"/>
              <a:gd name="connsiteY275" fmla="*/ 122238 h 2403475"/>
              <a:gd name="connsiteX276" fmla="*/ 6675435 w 11499847"/>
              <a:gd name="connsiteY276" fmla="*/ 265113 h 2403475"/>
              <a:gd name="connsiteX277" fmla="*/ 6795279 w 11499847"/>
              <a:gd name="connsiteY277" fmla="*/ 265113 h 2403475"/>
              <a:gd name="connsiteX278" fmla="*/ 6848404 w 11499847"/>
              <a:gd name="connsiteY278" fmla="*/ 244673 h 2403475"/>
              <a:gd name="connsiteX279" fmla="*/ 6869110 w 11499847"/>
              <a:gd name="connsiteY279" fmla="*/ 193571 h 2403475"/>
              <a:gd name="connsiteX280" fmla="*/ 6848404 w 11499847"/>
              <a:gd name="connsiteY280" fmla="*/ 142679 h 2403475"/>
              <a:gd name="connsiteX281" fmla="*/ 6795279 w 11499847"/>
              <a:gd name="connsiteY281" fmla="*/ 122238 h 2403475"/>
              <a:gd name="connsiteX282" fmla="*/ 6675435 w 11499847"/>
              <a:gd name="connsiteY282" fmla="*/ 122238 h 2403475"/>
              <a:gd name="connsiteX283" fmla="*/ 8850791 w 11499847"/>
              <a:gd name="connsiteY283" fmla="*/ 114300 h 2403475"/>
              <a:gd name="connsiteX284" fmla="*/ 8719837 w 11499847"/>
              <a:gd name="connsiteY284" fmla="*/ 169657 h 2403475"/>
              <a:gd name="connsiteX285" fmla="*/ 8666160 w 11499847"/>
              <a:gd name="connsiteY285" fmla="*/ 304905 h 2403475"/>
              <a:gd name="connsiteX286" fmla="*/ 8719837 w 11499847"/>
              <a:gd name="connsiteY286" fmla="*/ 439943 h 2403475"/>
              <a:gd name="connsiteX287" fmla="*/ 8850791 w 11499847"/>
              <a:gd name="connsiteY287" fmla="*/ 495300 h 2403475"/>
              <a:gd name="connsiteX288" fmla="*/ 8982163 w 11499847"/>
              <a:gd name="connsiteY288" fmla="*/ 440153 h 2403475"/>
              <a:gd name="connsiteX289" fmla="*/ 9036048 w 11499847"/>
              <a:gd name="connsiteY289" fmla="*/ 304905 h 2403475"/>
              <a:gd name="connsiteX290" fmla="*/ 8981954 w 11499847"/>
              <a:gd name="connsiteY290" fmla="*/ 169657 h 2403475"/>
              <a:gd name="connsiteX291" fmla="*/ 8850791 w 11499847"/>
              <a:gd name="connsiteY291" fmla="*/ 114300 h 2403475"/>
              <a:gd name="connsiteX292" fmla="*/ 7335415 w 11499847"/>
              <a:gd name="connsiteY292" fmla="*/ 114300 h 2403475"/>
              <a:gd name="connsiteX293" fmla="*/ 7203974 w 11499847"/>
              <a:gd name="connsiteY293" fmla="*/ 169657 h 2403475"/>
              <a:gd name="connsiteX294" fmla="*/ 7150097 w 11499847"/>
              <a:gd name="connsiteY294" fmla="*/ 304905 h 2403475"/>
              <a:gd name="connsiteX295" fmla="*/ 7203974 w 11499847"/>
              <a:gd name="connsiteY295" fmla="*/ 439943 h 2403475"/>
              <a:gd name="connsiteX296" fmla="*/ 7335415 w 11499847"/>
              <a:gd name="connsiteY296" fmla="*/ 495300 h 2403475"/>
              <a:gd name="connsiteX297" fmla="*/ 7467486 w 11499847"/>
              <a:gd name="connsiteY297" fmla="*/ 440153 h 2403475"/>
              <a:gd name="connsiteX298" fmla="*/ 7521572 w 11499847"/>
              <a:gd name="connsiteY298" fmla="*/ 304905 h 2403475"/>
              <a:gd name="connsiteX299" fmla="*/ 7467067 w 11499847"/>
              <a:gd name="connsiteY299" fmla="*/ 169657 h 2403475"/>
              <a:gd name="connsiteX300" fmla="*/ 7335415 w 11499847"/>
              <a:gd name="connsiteY300" fmla="*/ 114300 h 2403475"/>
              <a:gd name="connsiteX301" fmla="*/ 9237660 w 11499847"/>
              <a:gd name="connsiteY301" fmla="*/ 49213 h 2403475"/>
              <a:gd name="connsiteX302" fmla="*/ 9339260 w 11499847"/>
              <a:gd name="connsiteY302" fmla="*/ 49213 h 2403475"/>
              <a:gd name="connsiteX303" fmla="*/ 9458322 w 11499847"/>
              <a:gd name="connsiteY303" fmla="*/ 242888 h 2403475"/>
              <a:gd name="connsiteX304" fmla="*/ 9578972 w 11499847"/>
              <a:gd name="connsiteY304" fmla="*/ 436563 h 2403475"/>
              <a:gd name="connsiteX305" fmla="*/ 9578972 w 11499847"/>
              <a:gd name="connsiteY305" fmla="*/ 49213 h 2403475"/>
              <a:gd name="connsiteX306" fmla="*/ 9656760 w 11499847"/>
              <a:gd name="connsiteY306" fmla="*/ 49213 h 2403475"/>
              <a:gd name="connsiteX307" fmla="*/ 9656760 w 11499847"/>
              <a:gd name="connsiteY307" fmla="*/ 560388 h 2403475"/>
              <a:gd name="connsiteX308" fmla="*/ 9561510 w 11499847"/>
              <a:gd name="connsiteY308" fmla="*/ 560388 h 2403475"/>
              <a:gd name="connsiteX309" fmla="*/ 9439272 w 11499847"/>
              <a:gd name="connsiteY309" fmla="*/ 363538 h 2403475"/>
              <a:gd name="connsiteX310" fmla="*/ 9317035 w 11499847"/>
              <a:gd name="connsiteY310" fmla="*/ 165101 h 2403475"/>
              <a:gd name="connsiteX311" fmla="*/ 9317035 w 11499847"/>
              <a:gd name="connsiteY311" fmla="*/ 560388 h 2403475"/>
              <a:gd name="connsiteX312" fmla="*/ 9237660 w 11499847"/>
              <a:gd name="connsiteY312" fmla="*/ 560388 h 2403475"/>
              <a:gd name="connsiteX313" fmla="*/ 8126410 w 11499847"/>
              <a:gd name="connsiteY313" fmla="*/ 49213 h 2403475"/>
              <a:gd name="connsiteX314" fmla="*/ 8529635 w 11499847"/>
              <a:gd name="connsiteY314" fmla="*/ 49213 h 2403475"/>
              <a:gd name="connsiteX315" fmla="*/ 8529635 w 11499847"/>
              <a:gd name="connsiteY315" fmla="*/ 125413 h 2403475"/>
              <a:gd name="connsiteX316" fmla="*/ 8369298 w 11499847"/>
              <a:gd name="connsiteY316" fmla="*/ 125413 h 2403475"/>
              <a:gd name="connsiteX317" fmla="*/ 8369298 w 11499847"/>
              <a:gd name="connsiteY317" fmla="*/ 560388 h 2403475"/>
              <a:gd name="connsiteX318" fmla="*/ 8285160 w 11499847"/>
              <a:gd name="connsiteY318" fmla="*/ 560388 h 2403475"/>
              <a:gd name="connsiteX319" fmla="*/ 8285160 w 11499847"/>
              <a:gd name="connsiteY319" fmla="*/ 125413 h 2403475"/>
              <a:gd name="connsiteX320" fmla="*/ 8126410 w 11499847"/>
              <a:gd name="connsiteY320" fmla="*/ 125413 h 2403475"/>
              <a:gd name="connsiteX321" fmla="*/ 6592885 w 11499847"/>
              <a:gd name="connsiteY321" fmla="*/ 49213 h 2403475"/>
              <a:gd name="connsiteX322" fmla="*/ 6795851 w 11499847"/>
              <a:gd name="connsiteY322" fmla="*/ 49213 h 2403475"/>
              <a:gd name="connsiteX323" fmla="*/ 6907775 w 11499847"/>
              <a:gd name="connsiteY323" fmla="*/ 87875 h 2403475"/>
              <a:gd name="connsiteX324" fmla="*/ 6952670 w 11499847"/>
              <a:gd name="connsiteY324" fmla="*/ 185680 h 2403475"/>
              <a:gd name="connsiteX325" fmla="*/ 6936382 w 11499847"/>
              <a:gd name="connsiteY325" fmla="*/ 245658 h 2403475"/>
              <a:gd name="connsiteX326" fmla="*/ 6892114 w 11499847"/>
              <a:gd name="connsiteY326" fmla="*/ 288709 h 2403475"/>
              <a:gd name="connsiteX327" fmla="*/ 6950791 w 11499847"/>
              <a:gd name="connsiteY327" fmla="*/ 339492 h 2403475"/>
              <a:gd name="connsiteX328" fmla="*/ 6972298 w 11499847"/>
              <a:gd name="connsiteY328" fmla="*/ 412845 h 2403475"/>
              <a:gd name="connsiteX329" fmla="*/ 6926359 w 11499847"/>
              <a:gd name="connsiteY329" fmla="*/ 517546 h 2403475"/>
              <a:gd name="connsiteX330" fmla="*/ 6808798 w 11499847"/>
              <a:gd name="connsiteY330" fmla="*/ 560388 h 2403475"/>
              <a:gd name="connsiteX331" fmla="*/ 6592885 w 11499847"/>
              <a:gd name="connsiteY331" fmla="*/ 560388 h 2403475"/>
              <a:gd name="connsiteX332" fmla="*/ 6592885 w 11499847"/>
              <a:gd name="connsiteY332" fmla="*/ 49213 h 2403475"/>
              <a:gd name="connsiteX333" fmla="*/ 8850790 w 11499847"/>
              <a:gd name="connsiteY333" fmla="*/ 38100 h 2403475"/>
              <a:gd name="connsiteX334" fmla="*/ 9041603 w 11499847"/>
              <a:gd name="connsiteY334" fmla="*/ 116301 h 2403475"/>
              <a:gd name="connsiteX335" fmla="*/ 9120185 w 11499847"/>
              <a:gd name="connsiteY335" fmla="*/ 304905 h 2403475"/>
              <a:gd name="connsiteX336" fmla="*/ 9041603 w 11499847"/>
              <a:gd name="connsiteY336" fmla="*/ 493090 h 2403475"/>
              <a:gd name="connsiteX337" fmla="*/ 8850790 w 11499847"/>
              <a:gd name="connsiteY337" fmla="*/ 571500 h 2403475"/>
              <a:gd name="connsiteX338" fmla="*/ 8660186 w 11499847"/>
              <a:gd name="connsiteY338" fmla="*/ 493090 h 2403475"/>
              <a:gd name="connsiteX339" fmla="*/ 8582022 w 11499847"/>
              <a:gd name="connsiteY339" fmla="*/ 304905 h 2403475"/>
              <a:gd name="connsiteX340" fmla="*/ 8660186 w 11499847"/>
              <a:gd name="connsiteY340" fmla="*/ 116301 h 2403475"/>
              <a:gd name="connsiteX341" fmla="*/ 8850790 w 11499847"/>
              <a:gd name="connsiteY341" fmla="*/ 38100 h 2403475"/>
              <a:gd name="connsiteX342" fmla="*/ 7870035 w 11499847"/>
              <a:gd name="connsiteY342" fmla="*/ 38100 h 2403475"/>
              <a:gd name="connsiteX343" fmla="*/ 7871499 w 11499847"/>
              <a:gd name="connsiteY343" fmla="*/ 38100 h 2403475"/>
              <a:gd name="connsiteX344" fmla="*/ 7955187 w 11499847"/>
              <a:gd name="connsiteY344" fmla="*/ 51273 h 2403475"/>
              <a:gd name="connsiteX345" fmla="*/ 8025067 w 11499847"/>
              <a:gd name="connsiteY345" fmla="*/ 86401 h 2403475"/>
              <a:gd name="connsiteX346" fmla="*/ 8004563 w 11499847"/>
              <a:gd name="connsiteY346" fmla="*/ 118811 h 2403475"/>
              <a:gd name="connsiteX347" fmla="*/ 7984060 w 11499847"/>
              <a:gd name="connsiteY347" fmla="*/ 151429 h 2403475"/>
              <a:gd name="connsiteX348" fmla="*/ 7926943 w 11499847"/>
              <a:gd name="connsiteY348" fmla="*/ 122574 h 2403475"/>
              <a:gd name="connsiteX349" fmla="*/ 7869198 w 11499847"/>
              <a:gd name="connsiteY349" fmla="*/ 112538 h 2403475"/>
              <a:gd name="connsiteX350" fmla="*/ 7802666 w 11499847"/>
              <a:gd name="connsiteY350" fmla="*/ 133865 h 2403475"/>
              <a:gd name="connsiteX351" fmla="*/ 7780907 w 11499847"/>
              <a:gd name="connsiteY351" fmla="*/ 185721 h 2403475"/>
              <a:gd name="connsiteX352" fmla="*/ 7811035 w 11499847"/>
              <a:gd name="connsiteY352" fmla="*/ 236949 h 2403475"/>
              <a:gd name="connsiteX353" fmla="*/ 7891166 w 11499847"/>
              <a:gd name="connsiteY353" fmla="*/ 266849 h 2403475"/>
              <a:gd name="connsiteX354" fmla="*/ 7998914 w 11499847"/>
              <a:gd name="connsiteY354" fmla="*/ 313896 h 2403475"/>
              <a:gd name="connsiteX355" fmla="*/ 8047035 w 11499847"/>
              <a:gd name="connsiteY355" fmla="*/ 415934 h 2403475"/>
              <a:gd name="connsiteX356" fmla="*/ 7999751 w 11499847"/>
              <a:gd name="connsiteY356" fmla="*/ 527381 h 2403475"/>
              <a:gd name="connsiteX357" fmla="*/ 7866478 w 11499847"/>
              <a:gd name="connsiteY357" fmla="*/ 571500 h 2403475"/>
              <a:gd name="connsiteX358" fmla="*/ 7761659 w 11499847"/>
              <a:gd name="connsiteY358" fmla="*/ 554145 h 2403475"/>
              <a:gd name="connsiteX359" fmla="*/ 7685085 w 11499847"/>
              <a:gd name="connsiteY359" fmla="*/ 512954 h 2403475"/>
              <a:gd name="connsiteX360" fmla="*/ 7725883 w 11499847"/>
              <a:gd name="connsiteY360" fmla="*/ 447925 h 2403475"/>
              <a:gd name="connsiteX361" fmla="*/ 7793879 w 11499847"/>
              <a:gd name="connsiteY361" fmla="*/ 483053 h 2403475"/>
              <a:gd name="connsiteX362" fmla="*/ 7867106 w 11499847"/>
              <a:gd name="connsiteY362" fmla="*/ 497063 h 2403475"/>
              <a:gd name="connsiteX363" fmla="*/ 7939496 w 11499847"/>
              <a:gd name="connsiteY363" fmla="*/ 475108 h 2403475"/>
              <a:gd name="connsiteX364" fmla="*/ 7964393 w 11499847"/>
              <a:gd name="connsiteY364" fmla="*/ 420952 h 2403475"/>
              <a:gd name="connsiteX365" fmla="*/ 7933847 w 11499847"/>
              <a:gd name="connsiteY365" fmla="*/ 369933 h 2403475"/>
              <a:gd name="connsiteX366" fmla="*/ 7853925 w 11499847"/>
              <a:gd name="connsiteY366" fmla="*/ 339823 h 2403475"/>
              <a:gd name="connsiteX367" fmla="*/ 7745968 w 11499847"/>
              <a:gd name="connsiteY367" fmla="*/ 292986 h 2403475"/>
              <a:gd name="connsiteX368" fmla="*/ 7698266 w 11499847"/>
              <a:gd name="connsiteY368" fmla="*/ 190739 h 2403475"/>
              <a:gd name="connsiteX369" fmla="*/ 7743666 w 11499847"/>
              <a:gd name="connsiteY369" fmla="*/ 80964 h 2403475"/>
              <a:gd name="connsiteX370" fmla="*/ 7870035 w 11499847"/>
              <a:gd name="connsiteY370" fmla="*/ 38100 h 2403475"/>
              <a:gd name="connsiteX371" fmla="*/ 7334624 w 11499847"/>
              <a:gd name="connsiteY371" fmla="*/ 38100 h 2403475"/>
              <a:gd name="connsiteX372" fmla="*/ 7525363 w 11499847"/>
              <a:gd name="connsiteY372" fmla="*/ 116301 h 2403475"/>
              <a:gd name="connsiteX373" fmla="*/ 7604123 w 11499847"/>
              <a:gd name="connsiteY373" fmla="*/ 304905 h 2403475"/>
              <a:gd name="connsiteX374" fmla="*/ 7525363 w 11499847"/>
              <a:gd name="connsiteY374" fmla="*/ 493090 h 2403475"/>
              <a:gd name="connsiteX375" fmla="*/ 7334624 w 11499847"/>
              <a:gd name="connsiteY375" fmla="*/ 571500 h 2403475"/>
              <a:gd name="connsiteX376" fmla="*/ 7144094 w 11499847"/>
              <a:gd name="connsiteY376" fmla="*/ 493090 h 2403475"/>
              <a:gd name="connsiteX377" fmla="*/ 7065960 w 11499847"/>
              <a:gd name="connsiteY377" fmla="*/ 304905 h 2403475"/>
              <a:gd name="connsiteX378" fmla="*/ 7144094 w 11499847"/>
              <a:gd name="connsiteY378" fmla="*/ 116301 h 2403475"/>
              <a:gd name="connsiteX379" fmla="*/ 7334624 w 11499847"/>
              <a:gd name="connsiteY379" fmla="*/ 38100 h 2403475"/>
              <a:gd name="connsiteX380" fmla="*/ 2766077 w 11499847"/>
              <a:gd name="connsiteY380" fmla="*/ 0 h 2403475"/>
              <a:gd name="connsiteX381" fmla="*/ 3146531 w 11499847"/>
              <a:gd name="connsiteY381" fmla="*/ 51449 h 2403475"/>
              <a:gd name="connsiteX382" fmla="*/ 3467375 w 11499847"/>
              <a:gd name="connsiteY382" fmla="*/ 204124 h 2403475"/>
              <a:gd name="connsiteX383" fmla="*/ 3340627 w 11499847"/>
              <a:gd name="connsiteY383" fmla="*/ 403228 h 2403475"/>
              <a:gd name="connsiteX384" fmla="*/ 3213880 w 11499847"/>
              <a:gd name="connsiteY384" fmla="*/ 602542 h 2403475"/>
              <a:gd name="connsiteX385" fmla="*/ 3009743 w 11499847"/>
              <a:gd name="connsiteY385" fmla="*/ 496716 h 2403475"/>
              <a:gd name="connsiteX386" fmla="*/ 2766077 w 11499847"/>
              <a:gd name="connsiteY386" fmla="*/ 457606 h 2403475"/>
              <a:gd name="connsiteX387" fmla="*/ 2232314 w 11499847"/>
              <a:gd name="connsiteY387" fmla="*/ 681180 h 2403475"/>
              <a:gd name="connsiteX388" fmla="*/ 2012073 w 11499847"/>
              <a:gd name="connsiteY388" fmla="*/ 1198391 h 2403475"/>
              <a:gd name="connsiteX389" fmla="*/ 2232314 w 11499847"/>
              <a:gd name="connsiteY389" fmla="*/ 1721250 h 2403475"/>
              <a:gd name="connsiteX390" fmla="*/ 2766077 w 11499847"/>
              <a:gd name="connsiteY390" fmla="*/ 1942732 h 2403475"/>
              <a:gd name="connsiteX391" fmla="*/ 3050111 w 11499847"/>
              <a:gd name="connsiteY391" fmla="*/ 1886682 h 2403475"/>
              <a:gd name="connsiteX392" fmla="*/ 3289594 w 11499847"/>
              <a:gd name="connsiteY392" fmla="*/ 1722086 h 2403475"/>
              <a:gd name="connsiteX393" fmla="*/ 3543925 w 11499847"/>
              <a:gd name="connsiteY393" fmla="*/ 1095493 h 2403475"/>
              <a:gd name="connsiteX394" fmla="*/ 3921866 w 11499847"/>
              <a:gd name="connsiteY394" fmla="*/ 345714 h 2403475"/>
              <a:gd name="connsiteX395" fmla="*/ 4300646 w 11499847"/>
              <a:gd name="connsiteY395" fmla="*/ 92441 h 2403475"/>
              <a:gd name="connsiteX396" fmla="*/ 4787977 w 11499847"/>
              <a:gd name="connsiteY396" fmla="*/ 0 h 2403475"/>
              <a:gd name="connsiteX397" fmla="*/ 5168221 w 11499847"/>
              <a:gd name="connsiteY397" fmla="*/ 54796 h 2403475"/>
              <a:gd name="connsiteX398" fmla="*/ 5489275 w 11499847"/>
              <a:gd name="connsiteY398" fmla="*/ 210607 h 2403475"/>
              <a:gd name="connsiteX399" fmla="*/ 5364200 w 11499847"/>
              <a:gd name="connsiteY399" fmla="*/ 409921 h 2403475"/>
              <a:gd name="connsiteX400" fmla="*/ 5239125 w 11499847"/>
              <a:gd name="connsiteY400" fmla="*/ 609025 h 2403475"/>
              <a:gd name="connsiteX401" fmla="*/ 5031643 w 11499847"/>
              <a:gd name="connsiteY401" fmla="*/ 500480 h 2403475"/>
              <a:gd name="connsiteX402" fmla="*/ 4784631 w 11499847"/>
              <a:gd name="connsiteY402" fmla="*/ 460952 h 2403475"/>
              <a:gd name="connsiteX403" fmla="*/ 4264462 w 11499847"/>
              <a:gd name="connsiteY403" fmla="*/ 679089 h 2403475"/>
              <a:gd name="connsiteX404" fmla="*/ 4050287 w 11499847"/>
              <a:gd name="connsiteY404" fmla="*/ 1198391 h 2403475"/>
              <a:gd name="connsiteX405" fmla="*/ 4262370 w 11499847"/>
              <a:gd name="connsiteY405" fmla="*/ 1725223 h 2403475"/>
              <a:gd name="connsiteX406" fmla="*/ 4778147 w 11499847"/>
              <a:gd name="connsiteY406" fmla="*/ 1945870 h 2403475"/>
              <a:gd name="connsiteX407" fmla="*/ 5191438 w 11499847"/>
              <a:gd name="connsiteY407" fmla="*/ 1804280 h 2403475"/>
              <a:gd name="connsiteX408" fmla="*/ 5426737 w 11499847"/>
              <a:gd name="connsiteY408" fmla="*/ 1445390 h 2403475"/>
              <a:gd name="connsiteX409" fmla="*/ 4708917 w 11499847"/>
              <a:gd name="connsiteY409" fmla="*/ 1445390 h 2403475"/>
              <a:gd name="connsiteX410" fmla="*/ 4850515 w 11499847"/>
              <a:gd name="connsiteY410" fmla="*/ 1223279 h 2403475"/>
              <a:gd name="connsiteX411" fmla="*/ 4992113 w 11499847"/>
              <a:gd name="connsiteY411" fmla="*/ 1000960 h 2403475"/>
              <a:gd name="connsiteX412" fmla="*/ 5457901 w 11499847"/>
              <a:gd name="connsiteY412" fmla="*/ 1000960 h 2403475"/>
              <a:gd name="connsiteX413" fmla="*/ 5924108 w 11499847"/>
              <a:gd name="connsiteY413" fmla="*/ 1000960 h 2403475"/>
              <a:gd name="connsiteX414" fmla="*/ 5936030 w 11499847"/>
              <a:gd name="connsiteY414" fmla="*/ 1100094 h 2403475"/>
              <a:gd name="connsiteX415" fmla="*/ 5940422 w 11499847"/>
              <a:gd name="connsiteY415" fmla="*/ 1201738 h 2403475"/>
              <a:gd name="connsiteX416" fmla="*/ 5600963 w 11499847"/>
              <a:gd name="connsiteY416" fmla="*/ 2050860 h 2403475"/>
              <a:gd name="connsiteX417" fmla="*/ 4764970 w 11499847"/>
              <a:gd name="connsiteY417" fmla="*/ 2403475 h 2403475"/>
              <a:gd name="connsiteX418" fmla="*/ 4178290 w 11499847"/>
              <a:gd name="connsiteY418" fmla="*/ 2262513 h 2403475"/>
              <a:gd name="connsiteX419" fmla="*/ 3757265 w 11499847"/>
              <a:gd name="connsiteY419" fmla="*/ 1886682 h 2403475"/>
              <a:gd name="connsiteX420" fmla="*/ 3332469 w 11499847"/>
              <a:gd name="connsiteY420" fmla="*/ 2263558 h 2403475"/>
              <a:gd name="connsiteX421" fmla="*/ 2749555 w 11499847"/>
              <a:gd name="connsiteY421" fmla="*/ 2403475 h 2403475"/>
              <a:gd name="connsiteX422" fmla="*/ 2242563 w 11499847"/>
              <a:gd name="connsiteY422" fmla="*/ 2295766 h 2403475"/>
              <a:gd name="connsiteX423" fmla="*/ 1844121 w 11499847"/>
              <a:gd name="connsiteY423" fmla="*/ 2005266 h 2403475"/>
              <a:gd name="connsiteX424" fmla="*/ 1583096 w 11499847"/>
              <a:gd name="connsiteY424" fmla="*/ 2257493 h 2403475"/>
              <a:gd name="connsiteX425" fmla="*/ 1188838 w 11499847"/>
              <a:gd name="connsiteY425" fmla="*/ 2354117 h 2403475"/>
              <a:gd name="connsiteX426" fmla="*/ 0 w 11499847"/>
              <a:gd name="connsiteY426" fmla="*/ 2354117 h 2403475"/>
              <a:gd name="connsiteX427" fmla="*/ 0 w 11499847"/>
              <a:gd name="connsiteY427" fmla="*/ 1201738 h 2403475"/>
              <a:gd name="connsiteX428" fmla="*/ 0 w 11499847"/>
              <a:gd name="connsiteY428" fmla="*/ 49358 h 2403475"/>
              <a:gd name="connsiteX429" fmla="*/ 538575 w 11499847"/>
              <a:gd name="connsiteY429" fmla="*/ 49358 h 2403475"/>
              <a:gd name="connsiteX430" fmla="*/ 1076940 w 11499847"/>
              <a:gd name="connsiteY430" fmla="*/ 49358 h 2403475"/>
              <a:gd name="connsiteX431" fmla="*/ 1523487 w 11499847"/>
              <a:gd name="connsiteY431" fmla="*/ 176099 h 2403475"/>
              <a:gd name="connsiteX432" fmla="*/ 1774892 w 11499847"/>
              <a:gd name="connsiteY432" fmla="*/ 500480 h 2403475"/>
              <a:gd name="connsiteX433" fmla="*/ 2196549 w 11499847"/>
              <a:gd name="connsiteY433" fmla="*/ 137826 h 2403475"/>
              <a:gd name="connsiteX434" fmla="*/ 2766077 w 11499847"/>
              <a:gd name="connsiteY434" fmla="*/ 0 h 2403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Lst>
            <a:rect l="l" t="t" r="r" b="b"/>
            <a:pathLst>
              <a:path w="11499847" h="2403475">
                <a:moveTo>
                  <a:pt x="8982072" y="1919288"/>
                </a:moveTo>
                <a:cubicBezTo>
                  <a:pt x="8982072" y="2105026"/>
                  <a:pt x="8982072" y="2105026"/>
                  <a:pt x="8982072" y="2105026"/>
                </a:cubicBezTo>
                <a:cubicBezTo>
                  <a:pt x="9098233" y="2105026"/>
                  <a:pt x="9098233" y="2105026"/>
                  <a:pt x="9098233" y="2105026"/>
                </a:cubicBezTo>
                <a:cubicBezTo>
                  <a:pt x="9124975" y="2105026"/>
                  <a:pt x="9148166" y="2096202"/>
                  <a:pt x="9164880" y="2080233"/>
                </a:cubicBezTo>
                <a:cubicBezTo>
                  <a:pt x="9181594" y="2064055"/>
                  <a:pt x="9191622" y="2040732"/>
                  <a:pt x="9191622" y="2011737"/>
                </a:cubicBezTo>
                <a:cubicBezTo>
                  <a:pt x="9191622" y="1983792"/>
                  <a:pt x="9181594" y="1960680"/>
                  <a:pt x="9164880" y="1944501"/>
                </a:cubicBezTo>
                <a:cubicBezTo>
                  <a:pt x="9148166" y="1928323"/>
                  <a:pt x="9124975" y="1919288"/>
                  <a:pt x="9098233" y="1919288"/>
                </a:cubicBezTo>
                <a:cubicBezTo>
                  <a:pt x="8982072" y="1919288"/>
                  <a:pt x="8982072" y="1919288"/>
                  <a:pt x="8982072" y="1919288"/>
                </a:cubicBezTo>
                <a:close/>
                <a:moveTo>
                  <a:pt x="7280272" y="1919288"/>
                </a:moveTo>
                <a:cubicBezTo>
                  <a:pt x="7280272" y="2097088"/>
                  <a:pt x="7280272" y="2097088"/>
                  <a:pt x="7280272" y="2097088"/>
                </a:cubicBezTo>
                <a:cubicBezTo>
                  <a:pt x="7404503" y="2097088"/>
                  <a:pt x="7404503" y="2097088"/>
                  <a:pt x="7404503" y="2097088"/>
                </a:cubicBezTo>
                <a:cubicBezTo>
                  <a:pt x="7430689" y="2097088"/>
                  <a:pt x="7453105" y="2088711"/>
                  <a:pt x="7469027" y="2073423"/>
                </a:cubicBezTo>
                <a:cubicBezTo>
                  <a:pt x="7485158" y="2058136"/>
                  <a:pt x="7494585" y="2035937"/>
                  <a:pt x="7494585" y="2008502"/>
                </a:cubicBezTo>
                <a:cubicBezTo>
                  <a:pt x="7494585" y="1981487"/>
                  <a:pt x="7485158" y="1959078"/>
                  <a:pt x="7469027" y="1943581"/>
                </a:cubicBezTo>
                <a:cubicBezTo>
                  <a:pt x="7453105" y="1927874"/>
                  <a:pt x="7430689" y="1919288"/>
                  <a:pt x="7404503" y="1919288"/>
                </a:cubicBezTo>
                <a:cubicBezTo>
                  <a:pt x="7280272" y="1919288"/>
                  <a:pt x="7280272" y="1919288"/>
                  <a:pt x="7280272" y="1919288"/>
                </a:cubicBezTo>
                <a:close/>
                <a:moveTo>
                  <a:pt x="7945015" y="1909763"/>
                </a:moveTo>
                <a:cubicBezTo>
                  <a:pt x="7893445" y="1909763"/>
                  <a:pt x="7847115" y="1930941"/>
                  <a:pt x="7813574" y="1965330"/>
                </a:cubicBezTo>
                <a:cubicBezTo>
                  <a:pt x="7780242" y="1999719"/>
                  <a:pt x="7759697" y="2047317"/>
                  <a:pt x="7759697" y="2100368"/>
                </a:cubicBezTo>
                <a:cubicBezTo>
                  <a:pt x="7759697" y="2153419"/>
                  <a:pt x="7780242" y="2201227"/>
                  <a:pt x="7813574" y="2235406"/>
                </a:cubicBezTo>
                <a:cubicBezTo>
                  <a:pt x="7847115" y="2269795"/>
                  <a:pt x="7893445" y="2290763"/>
                  <a:pt x="7945015" y="2290763"/>
                </a:cubicBezTo>
                <a:cubicBezTo>
                  <a:pt x="7997215" y="2290763"/>
                  <a:pt x="8043544" y="2270004"/>
                  <a:pt x="8077086" y="2235825"/>
                </a:cubicBezTo>
                <a:cubicBezTo>
                  <a:pt x="8110628" y="2201437"/>
                  <a:pt x="8131172" y="2153838"/>
                  <a:pt x="8131172" y="2100368"/>
                </a:cubicBezTo>
                <a:cubicBezTo>
                  <a:pt x="8131172" y="2047317"/>
                  <a:pt x="8110418" y="1999719"/>
                  <a:pt x="8076876" y="1965330"/>
                </a:cubicBezTo>
                <a:cubicBezTo>
                  <a:pt x="8043334" y="1930941"/>
                  <a:pt x="7996796" y="1909763"/>
                  <a:pt x="7945015" y="1909763"/>
                </a:cubicBezTo>
                <a:close/>
                <a:moveTo>
                  <a:pt x="8899522" y="1844675"/>
                </a:moveTo>
                <a:cubicBezTo>
                  <a:pt x="9098598" y="1844675"/>
                  <a:pt x="9098598" y="1844675"/>
                  <a:pt x="9098598" y="1844675"/>
                </a:cubicBezTo>
                <a:cubicBezTo>
                  <a:pt x="9152872" y="1844675"/>
                  <a:pt x="9197507" y="1862857"/>
                  <a:pt x="9228521" y="1892741"/>
                </a:cubicBezTo>
                <a:cubicBezTo>
                  <a:pt x="9259744" y="1922835"/>
                  <a:pt x="9277347" y="1964423"/>
                  <a:pt x="9277347" y="2011236"/>
                </a:cubicBezTo>
                <a:cubicBezTo>
                  <a:pt x="9277347" y="2057839"/>
                  <a:pt x="9259744" y="2099427"/>
                  <a:pt x="9228521" y="2129521"/>
                </a:cubicBezTo>
                <a:cubicBezTo>
                  <a:pt x="9197507" y="2159405"/>
                  <a:pt x="9152872" y="2177796"/>
                  <a:pt x="9098598" y="2177796"/>
                </a:cubicBezTo>
                <a:cubicBezTo>
                  <a:pt x="8982086" y="2177796"/>
                  <a:pt x="8982086" y="2177796"/>
                  <a:pt x="8982086" y="2177796"/>
                </a:cubicBezTo>
                <a:cubicBezTo>
                  <a:pt x="8982086" y="2355850"/>
                  <a:pt x="8982086" y="2355850"/>
                  <a:pt x="8982086" y="2355850"/>
                </a:cubicBezTo>
                <a:cubicBezTo>
                  <a:pt x="8899522" y="2355850"/>
                  <a:pt x="8899522" y="2355850"/>
                  <a:pt x="8899522" y="2355850"/>
                </a:cubicBezTo>
                <a:cubicBezTo>
                  <a:pt x="8899522" y="1844675"/>
                  <a:pt x="8899522" y="1844675"/>
                  <a:pt x="8899522" y="1844675"/>
                </a:cubicBezTo>
                <a:close/>
                <a:moveTo>
                  <a:pt x="8324847" y="1844675"/>
                </a:moveTo>
                <a:cubicBezTo>
                  <a:pt x="8407608" y="1844675"/>
                  <a:pt x="8407608" y="1844675"/>
                  <a:pt x="8407608" y="1844675"/>
                </a:cubicBezTo>
                <a:cubicBezTo>
                  <a:pt x="8407608" y="2158090"/>
                  <a:pt x="8407608" y="2158090"/>
                  <a:pt x="8407608" y="2158090"/>
                </a:cubicBezTo>
                <a:cubicBezTo>
                  <a:pt x="8407608" y="2195307"/>
                  <a:pt x="8420389" y="2228551"/>
                  <a:pt x="8443017" y="2252595"/>
                </a:cubicBezTo>
                <a:cubicBezTo>
                  <a:pt x="8465855" y="2276431"/>
                  <a:pt x="8498331" y="2291066"/>
                  <a:pt x="8537931" y="2291066"/>
                </a:cubicBezTo>
                <a:cubicBezTo>
                  <a:pt x="8576692" y="2291066"/>
                  <a:pt x="8609168" y="2276431"/>
                  <a:pt x="8631797" y="2252595"/>
                </a:cubicBezTo>
                <a:cubicBezTo>
                  <a:pt x="8654425" y="2228551"/>
                  <a:pt x="8667415" y="2195307"/>
                  <a:pt x="8667415" y="2158090"/>
                </a:cubicBezTo>
                <a:cubicBezTo>
                  <a:pt x="8667415" y="1844675"/>
                  <a:pt x="8667415" y="1844675"/>
                  <a:pt x="8667415" y="1844675"/>
                </a:cubicBezTo>
                <a:cubicBezTo>
                  <a:pt x="8748710" y="1844675"/>
                  <a:pt x="8748710" y="1844675"/>
                  <a:pt x="8748710" y="1844675"/>
                </a:cubicBezTo>
                <a:cubicBezTo>
                  <a:pt x="8748710" y="2158717"/>
                  <a:pt x="8748710" y="2158717"/>
                  <a:pt x="8748710" y="2158717"/>
                </a:cubicBezTo>
                <a:cubicBezTo>
                  <a:pt x="8748710" y="2218724"/>
                  <a:pt x="8726291" y="2270785"/>
                  <a:pt x="8688577" y="2307793"/>
                </a:cubicBezTo>
                <a:cubicBezTo>
                  <a:pt x="8650863" y="2345010"/>
                  <a:pt x="8597854" y="2366963"/>
                  <a:pt x="8537093" y="2366963"/>
                </a:cubicBezTo>
                <a:cubicBezTo>
                  <a:pt x="8476331" y="2366963"/>
                  <a:pt x="8423322" y="2345010"/>
                  <a:pt x="8385399" y="2307793"/>
                </a:cubicBezTo>
                <a:cubicBezTo>
                  <a:pt x="8347475" y="2270785"/>
                  <a:pt x="8324847" y="2218724"/>
                  <a:pt x="8324847" y="2158717"/>
                </a:cubicBezTo>
                <a:cubicBezTo>
                  <a:pt x="8324847" y="1844675"/>
                  <a:pt x="8324847" y="1844675"/>
                  <a:pt x="8324847" y="1844675"/>
                </a:cubicBezTo>
                <a:close/>
                <a:moveTo>
                  <a:pt x="7197722" y="1844675"/>
                </a:moveTo>
                <a:cubicBezTo>
                  <a:pt x="7404196" y="1844675"/>
                  <a:pt x="7404196" y="1844675"/>
                  <a:pt x="7404196" y="1844675"/>
                </a:cubicBezTo>
                <a:cubicBezTo>
                  <a:pt x="7457641" y="1844675"/>
                  <a:pt x="7501065" y="1862439"/>
                  <a:pt x="7531336" y="1891906"/>
                </a:cubicBezTo>
                <a:cubicBezTo>
                  <a:pt x="7561608" y="1921581"/>
                  <a:pt x="7578727" y="1962542"/>
                  <a:pt x="7578727" y="2008937"/>
                </a:cubicBezTo>
                <a:cubicBezTo>
                  <a:pt x="7578727" y="2047390"/>
                  <a:pt x="7568080" y="2080827"/>
                  <a:pt x="7548455" y="2106950"/>
                </a:cubicBezTo>
                <a:cubicBezTo>
                  <a:pt x="7529040" y="2133073"/>
                  <a:pt x="7500647" y="2152091"/>
                  <a:pt x="7464947" y="2161495"/>
                </a:cubicBezTo>
                <a:cubicBezTo>
                  <a:pt x="7525699" y="2258673"/>
                  <a:pt x="7525699" y="2258673"/>
                  <a:pt x="7525699" y="2258673"/>
                </a:cubicBezTo>
                <a:cubicBezTo>
                  <a:pt x="7586660" y="2355850"/>
                  <a:pt x="7586660" y="2355850"/>
                  <a:pt x="7586660" y="2355850"/>
                </a:cubicBezTo>
                <a:cubicBezTo>
                  <a:pt x="7491044" y="2355850"/>
                  <a:pt x="7491044" y="2355850"/>
                  <a:pt x="7491044" y="2355850"/>
                </a:cubicBezTo>
                <a:cubicBezTo>
                  <a:pt x="7434676" y="2263479"/>
                  <a:pt x="7434676" y="2263479"/>
                  <a:pt x="7434676" y="2263479"/>
                </a:cubicBezTo>
                <a:cubicBezTo>
                  <a:pt x="7378099" y="2171108"/>
                  <a:pt x="7378099" y="2171108"/>
                  <a:pt x="7378099" y="2171108"/>
                </a:cubicBezTo>
                <a:cubicBezTo>
                  <a:pt x="7280395" y="2171108"/>
                  <a:pt x="7280395" y="2171108"/>
                  <a:pt x="7280395" y="2171108"/>
                </a:cubicBezTo>
                <a:cubicBezTo>
                  <a:pt x="7280395" y="2355850"/>
                  <a:pt x="7280395" y="2355850"/>
                  <a:pt x="7280395" y="2355850"/>
                </a:cubicBezTo>
                <a:cubicBezTo>
                  <a:pt x="7197722" y="2355850"/>
                  <a:pt x="7197722" y="2355850"/>
                  <a:pt x="7197722" y="2355850"/>
                </a:cubicBezTo>
                <a:cubicBezTo>
                  <a:pt x="7197722" y="1844675"/>
                  <a:pt x="7197722" y="1844675"/>
                  <a:pt x="7197722" y="1844675"/>
                </a:cubicBezTo>
                <a:close/>
                <a:moveTo>
                  <a:pt x="7945016" y="1833563"/>
                </a:moveTo>
                <a:cubicBezTo>
                  <a:pt x="8020028" y="1833563"/>
                  <a:pt x="8087706" y="1863673"/>
                  <a:pt x="8136527" y="1911974"/>
                </a:cubicBezTo>
                <a:cubicBezTo>
                  <a:pt x="8185138" y="1960274"/>
                  <a:pt x="8215310" y="2026976"/>
                  <a:pt x="8215310" y="2100368"/>
                </a:cubicBezTo>
                <a:cubicBezTo>
                  <a:pt x="8215310" y="2173760"/>
                  <a:pt x="8185138" y="2240461"/>
                  <a:pt x="8136527" y="2288762"/>
                </a:cubicBezTo>
                <a:cubicBezTo>
                  <a:pt x="8087706" y="2337063"/>
                  <a:pt x="8020028" y="2366963"/>
                  <a:pt x="7945016" y="2366963"/>
                </a:cubicBezTo>
                <a:cubicBezTo>
                  <a:pt x="7870004" y="2366963"/>
                  <a:pt x="7802745" y="2337063"/>
                  <a:pt x="7754134" y="2288762"/>
                </a:cubicBezTo>
                <a:cubicBezTo>
                  <a:pt x="7705523" y="2240461"/>
                  <a:pt x="7675560" y="2173760"/>
                  <a:pt x="7675560" y="2100368"/>
                </a:cubicBezTo>
                <a:cubicBezTo>
                  <a:pt x="7675560" y="2026976"/>
                  <a:pt x="7705523" y="1960274"/>
                  <a:pt x="7754134" y="1911974"/>
                </a:cubicBezTo>
                <a:cubicBezTo>
                  <a:pt x="7802745" y="1863673"/>
                  <a:pt x="7870004" y="1833563"/>
                  <a:pt x="7945016" y="1833563"/>
                </a:cubicBezTo>
                <a:close/>
                <a:moveTo>
                  <a:pt x="6834872" y="1833563"/>
                </a:moveTo>
                <a:cubicBezTo>
                  <a:pt x="6865690" y="1833563"/>
                  <a:pt x="6894831" y="1837536"/>
                  <a:pt x="6921875" y="1845482"/>
                </a:cubicBezTo>
                <a:cubicBezTo>
                  <a:pt x="6948919" y="1853218"/>
                  <a:pt x="6973658" y="1865136"/>
                  <a:pt x="6996090" y="1881028"/>
                </a:cubicBezTo>
                <a:cubicBezTo>
                  <a:pt x="6974496" y="1914692"/>
                  <a:pt x="6974496" y="1914692"/>
                  <a:pt x="6974496" y="1914692"/>
                </a:cubicBezTo>
                <a:cubicBezTo>
                  <a:pt x="6952903" y="1948356"/>
                  <a:pt x="6952903" y="1948356"/>
                  <a:pt x="6952903" y="1948356"/>
                </a:cubicBezTo>
                <a:cubicBezTo>
                  <a:pt x="6935712" y="1935183"/>
                  <a:pt x="6917263" y="1925774"/>
                  <a:pt x="6897556" y="1919501"/>
                </a:cubicBezTo>
                <a:cubicBezTo>
                  <a:pt x="6877850" y="1913228"/>
                  <a:pt x="6856885" y="1910301"/>
                  <a:pt x="6834243" y="1910301"/>
                </a:cubicBezTo>
                <a:cubicBezTo>
                  <a:pt x="6782461" y="1910301"/>
                  <a:pt x="6736548" y="1931001"/>
                  <a:pt x="6703424" y="1965084"/>
                </a:cubicBezTo>
                <a:cubicBezTo>
                  <a:pt x="6670510" y="1999166"/>
                  <a:pt x="6650384" y="2046631"/>
                  <a:pt x="6650384" y="2100368"/>
                </a:cubicBezTo>
                <a:cubicBezTo>
                  <a:pt x="6650384" y="2154105"/>
                  <a:pt x="6669671" y="2201779"/>
                  <a:pt x="6701957" y="2236070"/>
                </a:cubicBezTo>
                <a:cubicBezTo>
                  <a:pt x="6734242" y="2270152"/>
                  <a:pt x="6779526" y="2291062"/>
                  <a:pt x="6831308" y="2291062"/>
                </a:cubicBezTo>
                <a:cubicBezTo>
                  <a:pt x="6878898" y="2291062"/>
                  <a:pt x="6917473" y="2275798"/>
                  <a:pt x="6945984" y="2250498"/>
                </a:cubicBezTo>
                <a:cubicBezTo>
                  <a:pt x="6974496" y="2225197"/>
                  <a:pt x="6992735" y="2189442"/>
                  <a:pt x="6999863" y="2148460"/>
                </a:cubicBezTo>
                <a:cubicBezTo>
                  <a:pt x="6825438" y="2148460"/>
                  <a:pt x="6825438" y="2148460"/>
                  <a:pt x="6825438" y="2148460"/>
                </a:cubicBezTo>
                <a:cubicBezTo>
                  <a:pt x="6849128" y="2111241"/>
                  <a:pt x="6849128" y="2111241"/>
                  <a:pt x="6849128" y="2111241"/>
                </a:cubicBezTo>
                <a:cubicBezTo>
                  <a:pt x="6873028" y="2074022"/>
                  <a:pt x="6873028" y="2074022"/>
                  <a:pt x="6873028" y="2074022"/>
                </a:cubicBezTo>
                <a:cubicBezTo>
                  <a:pt x="7078061" y="2074022"/>
                  <a:pt x="7078061" y="2074022"/>
                  <a:pt x="7078061" y="2074022"/>
                </a:cubicBezTo>
                <a:cubicBezTo>
                  <a:pt x="7079319" y="2078204"/>
                  <a:pt x="7080158" y="2083849"/>
                  <a:pt x="7080787" y="2090540"/>
                </a:cubicBezTo>
                <a:cubicBezTo>
                  <a:pt x="7081415" y="2096813"/>
                  <a:pt x="7081835" y="2103922"/>
                  <a:pt x="7081835" y="2110613"/>
                </a:cubicBezTo>
                <a:cubicBezTo>
                  <a:pt x="7081835" y="2183378"/>
                  <a:pt x="7056258" y="2247361"/>
                  <a:pt x="7011813" y="2293362"/>
                </a:cubicBezTo>
                <a:cubicBezTo>
                  <a:pt x="6967788" y="2339363"/>
                  <a:pt x="6904894" y="2366963"/>
                  <a:pt x="6830470" y="2366963"/>
                </a:cubicBezTo>
                <a:cubicBezTo>
                  <a:pt x="6756255" y="2366963"/>
                  <a:pt x="6690007" y="2337481"/>
                  <a:pt x="6642417" y="2289389"/>
                </a:cubicBezTo>
                <a:cubicBezTo>
                  <a:pt x="6595037" y="2241088"/>
                  <a:pt x="6565897" y="2174387"/>
                  <a:pt x="6565897" y="2100368"/>
                </a:cubicBezTo>
                <a:cubicBezTo>
                  <a:pt x="6565897" y="2026139"/>
                  <a:pt x="6595876" y="1959438"/>
                  <a:pt x="6644514" y="1911346"/>
                </a:cubicBezTo>
                <a:cubicBezTo>
                  <a:pt x="6692942" y="1863255"/>
                  <a:pt x="6760238" y="1833563"/>
                  <a:pt x="6834872" y="1833563"/>
                </a:cubicBezTo>
                <a:close/>
                <a:moveTo>
                  <a:pt x="501650" y="1403350"/>
                </a:moveTo>
                <a:cubicBezTo>
                  <a:pt x="501650" y="1403350"/>
                  <a:pt x="501650" y="1403350"/>
                  <a:pt x="501650" y="1925638"/>
                </a:cubicBezTo>
                <a:cubicBezTo>
                  <a:pt x="501650" y="1925638"/>
                  <a:pt x="501650" y="1925638"/>
                  <a:pt x="842112" y="1925638"/>
                </a:cubicBezTo>
                <a:cubicBezTo>
                  <a:pt x="842112" y="1925638"/>
                  <a:pt x="842112" y="1925638"/>
                  <a:pt x="1182574" y="1925638"/>
                </a:cubicBezTo>
                <a:cubicBezTo>
                  <a:pt x="1258233" y="1925638"/>
                  <a:pt x="1326576" y="1896842"/>
                  <a:pt x="1375900" y="1849684"/>
                </a:cubicBezTo>
                <a:cubicBezTo>
                  <a:pt x="1425224" y="1802317"/>
                  <a:pt x="1455738" y="1736796"/>
                  <a:pt x="1455738" y="1662720"/>
                </a:cubicBezTo>
                <a:cubicBezTo>
                  <a:pt x="1455738" y="1588853"/>
                  <a:pt x="1425224" y="1523958"/>
                  <a:pt x="1375900" y="1477635"/>
                </a:cubicBezTo>
                <a:cubicBezTo>
                  <a:pt x="1326576" y="1431103"/>
                  <a:pt x="1258233" y="1403350"/>
                  <a:pt x="1182574" y="1403350"/>
                </a:cubicBezTo>
                <a:cubicBezTo>
                  <a:pt x="1182574" y="1403350"/>
                  <a:pt x="1182574" y="1403350"/>
                  <a:pt x="501650" y="1403350"/>
                </a:cubicBezTo>
                <a:close/>
                <a:moveTo>
                  <a:pt x="7349808" y="1012825"/>
                </a:moveTo>
                <a:cubicBezTo>
                  <a:pt x="7297999" y="1012825"/>
                  <a:pt x="7251643" y="1033706"/>
                  <a:pt x="7218292" y="1067952"/>
                </a:cubicBezTo>
                <a:cubicBezTo>
                  <a:pt x="7184731" y="1102197"/>
                  <a:pt x="7164385" y="1149598"/>
                  <a:pt x="7164385" y="1202427"/>
                </a:cubicBezTo>
                <a:cubicBezTo>
                  <a:pt x="7164385" y="1255466"/>
                  <a:pt x="7184731" y="1302866"/>
                  <a:pt x="7218292" y="1336903"/>
                </a:cubicBezTo>
                <a:cubicBezTo>
                  <a:pt x="7251643" y="1371148"/>
                  <a:pt x="7297999" y="1392238"/>
                  <a:pt x="7349808" y="1392238"/>
                </a:cubicBezTo>
                <a:cubicBezTo>
                  <a:pt x="7401827" y="1392238"/>
                  <a:pt x="7448393" y="1371357"/>
                  <a:pt x="7481953" y="1337320"/>
                </a:cubicBezTo>
                <a:cubicBezTo>
                  <a:pt x="7515304" y="1303075"/>
                  <a:pt x="7535860" y="1255675"/>
                  <a:pt x="7535860" y="1202427"/>
                </a:cubicBezTo>
                <a:cubicBezTo>
                  <a:pt x="7535860" y="1149598"/>
                  <a:pt x="7515304" y="1102197"/>
                  <a:pt x="7481534" y="1067952"/>
                </a:cubicBezTo>
                <a:cubicBezTo>
                  <a:pt x="7447973" y="1033706"/>
                  <a:pt x="7401408" y="1012825"/>
                  <a:pt x="7349808" y="1012825"/>
                </a:cubicBezTo>
                <a:close/>
                <a:moveTo>
                  <a:pt x="10448922" y="946150"/>
                </a:moveTo>
                <a:lnTo>
                  <a:pt x="10552110" y="946150"/>
                </a:lnTo>
                <a:lnTo>
                  <a:pt x="10671172" y="1139825"/>
                </a:lnTo>
                <a:lnTo>
                  <a:pt x="10790235" y="1333501"/>
                </a:lnTo>
                <a:lnTo>
                  <a:pt x="10790235" y="946150"/>
                </a:lnTo>
                <a:lnTo>
                  <a:pt x="10869610" y="946150"/>
                </a:lnTo>
                <a:lnTo>
                  <a:pt x="10869610" y="1458913"/>
                </a:lnTo>
                <a:lnTo>
                  <a:pt x="10772772" y="1458913"/>
                </a:lnTo>
                <a:lnTo>
                  <a:pt x="10650535" y="1260475"/>
                </a:lnTo>
                <a:lnTo>
                  <a:pt x="10528297" y="1062038"/>
                </a:lnTo>
                <a:lnTo>
                  <a:pt x="10528297" y="1458913"/>
                </a:lnTo>
                <a:lnTo>
                  <a:pt x="10448922" y="1458913"/>
                </a:lnTo>
                <a:close/>
                <a:moveTo>
                  <a:pt x="10185397" y="946150"/>
                </a:moveTo>
                <a:lnTo>
                  <a:pt x="10267947" y="946150"/>
                </a:lnTo>
                <a:lnTo>
                  <a:pt x="10267947" y="1458913"/>
                </a:lnTo>
                <a:lnTo>
                  <a:pt x="10185397" y="1458913"/>
                </a:lnTo>
                <a:close/>
                <a:moveTo>
                  <a:pt x="9656760" y="946150"/>
                </a:moveTo>
                <a:lnTo>
                  <a:pt x="10059985" y="946150"/>
                </a:lnTo>
                <a:lnTo>
                  <a:pt x="10059985" y="1022350"/>
                </a:lnTo>
                <a:lnTo>
                  <a:pt x="9899648" y="1022350"/>
                </a:lnTo>
                <a:lnTo>
                  <a:pt x="9899648" y="1458913"/>
                </a:lnTo>
                <a:lnTo>
                  <a:pt x="9817098" y="1458913"/>
                </a:lnTo>
                <a:lnTo>
                  <a:pt x="9817098" y="1022350"/>
                </a:lnTo>
                <a:lnTo>
                  <a:pt x="9656760" y="1022350"/>
                </a:lnTo>
                <a:close/>
                <a:moveTo>
                  <a:pt x="9336085" y="946150"/>
                </a:moveTo>
                <a:lnTo>
                  <a:pt x="9418635" y="946150"/>
                </a:lnTo>
                <a:lnTo>
                  <a:pt x="9418635" y="1382713"/>
                </a:lnTo>
                <a:lnTo>
                  <a:pt x="9671048" y="1382713"/>
                </a:lnTo>
                <a:lnTo>
                  <a:pt x="9671048" y="1458913"/>
                </a:lnTo>
                <a:lnTo>
                  <a:pt x="9336085" y="1458913"/>
                </a:lnTo>
                <a:close/>
                <a:moveTo>
                  <a:pt x="8766172" y="946150"/>
                </a:moveTo>
                <a:cubicBezTo>
                  <a:pt x="8848414" y="946150"/>
                  <a:pt x="8848414" y="946150"/>
                  <a:pt x="8848414" y="946150"/>
                </a:cubicBezTo>
                <a:cubicBezTo>
                  <a:pt x="8848414" y="1260391"/>
                  <a:pt x="8848414" y="1260391"/>
                  <a:pt x="8848414" y="1260391"/>
                </a:cubicBezTo>
                <a:cubicBezTo>
                  <a:pt x="8848414" y="1297706"/>
                  <a:pt x="8861356" y="1331038"/>
                  <a:pt x="8883900" y="1355146"/>
                </a:cubicBezTo>
                <a:cubicBezTo>
                  <a:pt x="8906443" y="1379044"/>
                  <a:pt x="8939006" y="1393718"/>
                  <a:pt x="8978249" y="1393718"/>
                </a:cubicBezTo>
                <a:cubicBezTo>
                  <a:pt x="9017074" y="1393718"/>
                  <a:pt x="9049219" y="1379044"/>
                  <a:pt x="9071972" y="1355146"/>
                </a:cubicBezTo>
                <a:cubicBezTo>
                  <a:pt x="9094515" y="1331038"/>
                  <a:pt x="9107457" y="1297706"/>
                  <a:pt x="9107457" y="1260391"/>
                </a:cubicBezTo>
                <a:cubicBezTo>
                  <a:pt x="9107457" y="946150"/>
                  <a:pt x="9107457" y="946150"/>
                  <a:pt x="9107457" y="946150"/>
                </a:cubicBezTo>
                <a:cubicBezTo>
                  <a:pt x="9188447" y="946150"/>
                  <a:pt x="9188447" y="946150"/>
                  <a:pt x="9188447" y="946150"/>
                </a:cubicBezTo>
                <a:cubicBezTo>
                  <a:pt x="9188447" y="1261230"/>
                  <a:pt x="9188447" y="1261230"/>
                  <a:pt x="9188447" y="1261230"/>
                </a:cubicBezTo>
                <a:cubicBezTo>
                  <a:pt x="9188447" y="1321185"/>
                  <a:pt x="9166112" y="1373384"/>
                  <a:pt x="9128539" y="1410489"/>
                </a:cubicBezTo>
                <a:cubicBezTo>
                  <a:pt x="9090758" y="1447804"/>
                  <a:pt x="9038156" y="1470025"/>
                  <a:pt x="8977623" y="1470025"/>
                </a:cubicBezTo>
                <a:cubicBezTo>
                  <a:pt x="8917089" y="1470025"/>
                  <a:pt x="8864278" y="1447804"/>
                  <a:pt x="8826497" y="1410489"/>
                </a:cubicBezTo>
                <a:cubicBezTo>
                  <a:pt x="8788716" y="1373384"/>
                  <a:pt x="8766172" y="1321185"/>
                  <a:pt x="8766172" y="1261230"/>
                </a:cubicBezTo>
                <a:cubicBezTo>
                  <a:pt x="8766172" y="946150"/>
                  <a:pt x="8766172" y="946150"/>
                  <a:pt x="8766172" y="946150"/>
                </a:cubicBezTo>
                <a:close/>
                <a:moveTo>
                  <a:pt x="7737472" y="946150"/>
                </a:moveTo>
                <a:lnTo>
                  <a:pt x="7839072" y="946150"/>
                </a:lnTo>
                <a:lnTo>
                  <a:pt x="7958134" y="1139825"/>
                </a:lnTo>
                <a:lnTo>
                  <a:pt x="8077197" y="1333501"/>
                </a:lnTo>
                <a:lnTo>
                  <a:pt x="8077197" y="946150"/>
                </a:lnTo>
                <a:lnTo>
                  <a:pt x="8156572" y="946150"/>
                </a:lnTo>
                <a:lnTo>
                  <a:pt x="8156572" y="1458913"/>
                </a:lnTo>
                <a:lnTo>
                  <a:pt x="8061322" y="1458913"/>
                </a:lnTo>
                <a:lnTo>
                  <a:pt x="7939084" y="1260475"/>
                </a:lnTo>
                <a:lnTo>
                  <a:pt x="7815259" y="1062038"/>
                </a:lnTo>
                <a:lnTo>
                  <a:pt x="7815259" y="1458913"/>
                </a:lnTo>
                <a:lnTo>
                  <a:pt x="7737472" y="1458913"/>
                </a:lnTo>
                <a:close/>
                <a:moveTo>
                  <a:pt x="11253544" y="936625"/>
                </a:moveTo>
                <a:cubicBezTo>
                  <a:pt x="11284280" y="936625"/>
                  <a:pt x="11313343" y="940389"/>
                  <a:pt x="11340315" y="948334"/>
                </a:cubicBezTo>
                <a:cubicBezTo>
                  <a:pt x="11367287" y="956071"/>
                  <a:pt x="11391959" y="967989"/>
                  <a:pt x="11414331" y="984090"/>
                </a:cubicBezTo>
                <a:cubicBezTo>
                  <a:pt x="11392795" y="1017545"/>
                  <a:pt x="11392795" y="1017545"/>
                  <a:pt x="11392795" y="1017545"/>
                </a:cubicBezTo>
                <a:cubicBezTo>
                  <a:pt x="11371260" y="1051209"/>
                  <a:pt x="11371260" y="1051209"/>
                  <a:pt x="11371260" y="1051209"/>
                </a:cubicBezTo>
                <a:cubicBezTo>
                  <a:pt x="11354114" y="1038036"/>
                  <a:pt x="11335715" y="1028627"/>
                  <a:pt x="11316270" y="1022354"/>
                </a:cubicBezTo>
                <a:cubicBezTo>
                  <a:pt x="11296616" y="1016290"/>
                  <a:pt x="11275498" y="1013363"/>
                  <a:pt x="11252917" y="1013363"/>
                </a:cubicBezTo>
                <a:cubicBezTo>
                  <a:pt x="11201273" y="1013363"/>
                  <a:pt x="11155483" y="1034063"/>
                  <a:pt x="11122657" y="1067936"/>
                </a:cubicBezTo>
                <a:cubicBezTo>
                  <a:pt x="11089622" y="1102019"/>
                  <a:pt x="11069549" y="1149692"/>
                  <a:pt x="11069549" y="1203221"/>
                </a:cubicBezTo>
                <a:cubicBezTo>
                  <a:pt x="11069549" y="1256958"/>
                  <a:pt x="11088785" y="1304631"/>
                  <a:pt x="11120984" y="1338923"/>
                </a:cubicBezTo>
                <a:cubicBezTo>
                  <a:pt x="11153393" y="1373214"/>
                  <a:pt x="11198346" y="1394124"/>
                  <a:pt x="11249990" y="1394124"/>
                </a:cubicBezTo>
                <a:cubicBezTo>
                  <a:pt x="11297452" y="1394124"/>
                  <a:pt x="11335924" y="1378860"/>
                  <a:pt x="11364360" y="1353350"/>
                </a:cubicBezTo>
                <a:cubicBezTo>
                  <a:pt x="11392795" y="1328050"/>
                  <a:pt x="11410986" y="1292295"/>
                  <a:pt x="11418095" y="1251521"/>
                </a:cubicBezTo>
                <a:cubicBezTo>
                  <a:pt x="11244136" y="1251521"/>
                  <a:pt x="11244136" y="1251521"/>
                  <a:pt x="11244136" y="1251521"/>
                </a:cubicBezTo>
                <a:cubicBezTo>
                  <a:pt x="11267971" y="1214303"/>
                  <a:pt x="11267971" y="1214303"/>
                  <a:pt x="11267971" y="1214303"/>
                </a:cubicBezTo>
                <a:cubicBezTo>
                  <a:pt x="11291598" y="1177084"/>
                  <a:pt x="11291598" y="1177084"/>
                  <a:pt x="11291598" y="1177084"/>
                </a:cubicBezTo>
                <a:cubicBezTo>
                  <a:pt x="11496083" y="1177084"/>
                  <a:pt x="11496083" y="1177084"/>
                  <a:pt x="11496083" y="1177084"/>
                </a:cubicBezTo>
                <a:cubicBezTo>
                  <a:pt x="11497338" y="1181057"/>
                  <a:pt x="11498174" y="1186911"/>
                  <a:pt x="11498802" y="1193393"/>
                </a:cubicBezTo>
                <a:cubicBezTo>
                  <a:pt x="11499429" y="1199875"/>
                  <a:pt x="11499847" y="1206984"/>
                  <a:pt x="11499847" y="1213466"/>
                </a:cubicBezTo>
                <a:cubicBezTo>
                  <a:pt x="11499847" y="1286231"/>
                  <a:pt x="11474339" y="1350214"/>
                  <a:pt x="11430222" y="1396215"/>
                </a:cubicBezTo>
                <a:cubicBezTo>
                  <a:pt x="11386105" y="1442216"/>
                  <a:pt x="11323379" y="1470025"/>
                  <a:pt x="11249154" y="1470025"/>
                </a:cubicBezTo>
                <a:cubicBezTo>
                  <a:pt x="11175137" y="1470025"/>
                  <a:pt x="11109066" y="1440334"/>
                  <a:pt x="11061813" y="1392242"/>
                </a:cubicBezTo>
                <a:cubicBezTo>
                  <a:pt x="11014351" y="1344150"/>
                  <a:pt x="10985497" y="1277449"/>
                  <a:pt x="10985497" y="1203221"/>
                </a:cubicBezTo>
                <a:cubicBezTo>
                  <a:pt x="10985497" y="1129201"/>
                  <a:pt x="11015187" y="1062500"/>
                  <a:pt x="11063695" y="1014408"/>
                </a:cubicBezTo>
                <a:cubicBezTo>
                  <a:pt x="11111994" y="966317"/>
                  <a:pt x="11179110" y="936625"/>
                  <a:pt x="11253544" y="936625"/>
                </a:cubicBezTo>
                <a:close/>
                <a:moveTo>
                  <a:pt x="8471697" y="936625"/>
                </a:moveTo>
                <a:cubicBezTo>
                  <a:pt x="8502452" y="936625"/>
                  <a:pt x="8530906" y="941434"/>
                  <a:pt x="8556850" y="949798"/>
                </a:cubicBezTo>
                <a:cubicBezTo>
                  <a:pt x="8582793" y="958162"/>
                  <a:pt x="8606225" y="970080"/>
                  <a:pt x="8626729" y="984717"/>
                </a:cubicBezTo>
                <a:cubicBezTo>
                  <a:pt x="8626729" y="984717"/>
                  <a:pt x="8626729" y="984717"/>
                  <a:pt x="8606225" y="1017336"/>
                </a:cubicBezTo>
                <a:cubicBezTo>
                  <a:pt x="8606225" y="1017336"/>
                  <a:pt x="8606225" y="1017336"/>
                  <a:pt x="8585722" y="1049745"/>
                </a:cubicBezTo>
                <a:cubicBezTo>
                  <a:pt x="8566474" y="1037409"/>
                  <a:pt x="8547644" y="1027581"/>
                  <a:pt x="8528605" y="1021099"/>
                </a:cubicBezTo>
                <a:cubicBezTo>
                  <a:pt x="8509775" y="1014617"/>
                  <a:pt x="8490736" y="1011063"/>
                  <a:pt x="8471070" y="1011063"/>
                </a:cubicBezTo>
                <a:cubicBezTo>
                  <a:pt x="8441151" y="1011063"/>
                  <a:pt x="8418974" y="1019217"/>
                  <a:pt x="8404328" y="1032181"/>
                </a:cubicBezTo>
                <a:cubicBezTo>
                  <a:pt x="8389683" y="1045354"/>
                  <a:pt x="8382570" y="1063755"/>
                  <a:pt x="8382570" y="1084246"/>
                </a:cubicBezTo>
                <a:cubicBezTo>
                  <a:pt x="8382570" y="1108292"/>
                  <a:pt x="8393449" y="1123556"/>
                  <a:pt x="8412697" y="1135474"/>
                </a:cubicBezTo>
                <a:cubicBezTo>
                  <a:pt x="8432155" y="1147183"/>
                  <a:pt x="8459772" y="1155338"/>
                  <a:pt x="8493038" y="1165165"/>
                </a:cubicBezTo>
                <a:cubicBezTo>
                  <a:pt x="8532789" y="1177293"/>
                  <a:pt x="8571704" y="1190257"/>
                  <a:pt x="8600786" y="1212421"/>
                </a:cubicBezTo>
                <a:cubicBezTo>
                  <a:pt x="8629658" y="1234585"/>
                  <a:pt x="8648697" y="1265740"/>
                  <a:pt x="8648697" y="1314250"/>
                </a:cubicBezTo>
                <a:cubicBezTo>
                  <a:pt x="8648697" y="1359205"/>
                  <a:pt x="8632169" y="1398097"/>
                  <a:pt x="8601413" y="1425906"/>
                </a:cubicBezTo>
                <a:cubicBezTo>
                  <a:pt x="8570658" y="1453507"/>
                  <a:pt x="8525467" y="1470025"/>
                  <a:pt x="8468140" y="1470025"/>
                </a:cubicBezTo>
                <a:cubicBezTo>
                  <a:pt x="8427552" y="1470025"/>
                  <a:pt x="8393031" y="1463125"/>
                  <a:pt x="8363531" y="1452461"/>
                </a:cubicBezTo>
                <a:cubicBezTo>
                  <a:pt x="8333821" y="1441797"/>
                  <a:pt x="8308715" y="1427161"/>
                  <a:pt x="8286747" y="1411479"/>
                </a:cubicBezTo>
                <a:cubicBezTo>
                  <a:pt x="8286747" y="1411479"/>
                  <a:pt x="8286747" y="1411479"/>
                  <a:pt x="8307251" y="1379069"/>
                </a:cubicBezTo>
                <a:cubicBezTo>
                  <a:pt x="8307251" y="1379069"/>
                  <a:pt x="8307251" y="1379069"/>
                  <a:pt x="8327754" y="1346450"/>
                </a:cubicBezTo>
                <a:cubicBezTo>
                  <a:pt x="8349931" y="1360669"/>
                  <a:pt x="8372318" y="1373005"/>
                  <a:pt x="8395541" y="1381578"/>
                </a:cubicBezTo>
                <a:cubicBezTo>
                  <a:pt x="8418765" y="1390360"/>
                  <a:pt x="8442825" y="1395378"/>
                  <a:pt x="8468768" y="1395378"/>
                </a:cubicBezTo>
                <a:cubicBezTo>
                  <a:pt x="8500569" y="1395378"/>
                  <a:pt x="8525048" y="1387224"/>
                  <a:pt x="8541367" y="1373633"/>
                </a:cubicBezTo>
                <a:cubicBezTo>
                  <a:pt x="8557686" y="1360041"/>
                  <a:pt x="8566055" y="1341014"/>
                  <a:pt x="8566055" y="1319477"/>
                </a:cubicBezTo>
                <a:cubicBezTo>
                  <a:pt x="8566055" y="1295640"/>
                  <a:pt x="8554967" y="1280376"/>
                  <a:pt x="8535509" y="1268458"/>
                </a:cubicBezTo>
                <a:cubicBezTo>
                  <a:pt x="8516261" y="1256540"/>
                  <a:pt x="8488644" y="1248176"/>
                  <a:pt x="8455587" y="1238348"/>
                </a:cubicBezTo>
                <a:cubicBezTo>
                  <a:pt x="8415417" y="1226221"/>
                  <a:pt x="8376502" y="1213466"/>
                  <a:pt x="8347630" y="1191511"/>
                </a:cubicBezTo>
                <a:cubicBezTo>
                  <a:pt x="8318758" y="1169556"/>
                  <a:pt x="8299928" y="1138192"/>
                  <a:pt x="8299928" y="1089264"/>
                </a:cubicBezTo>
                <a:cubicBezTo>
                  <a:pt x="8299928" y="1044727"/>
                  <a:pt x="8315829" y="1006463"/>
                  <a:pt x="8345329" y="979489"/>
                </a:cubicBezTo>
                <a:cubicBezTo>
                  <a:pt x="8374828" y="952516"/>
                  <a:pt x="8417718" y="936625"/>
                  <a:pt x="8471697" y="936625"/>
                </a:cubicBezTo>
                <a:close/>
                <a:moveTo>
                  <a:pt x="7349808" y="936625"/>
                </a:moveTo>
                <a:cubicBezTo>
                  <a:pt x="7424849" y="936625"/>
                  <a:pt x="7492344" y="966526"/>
                  <a:pt x="7541183" y="1014826"/>
                </a:cubicBezTo>
                <a:cubicBezTo>
                  <a:pt x="7590023" y="1063127"/>
                  <a:pt x="7619997" y="1129828"/>
                  <a:pt x="7619997" y="1203221"/>
                </a:cubicBezTo>
                <a:cubicBezTo>
                  <a:pt x="7619997" y="1276613"/>
                  <a:pt x="7590023" y="1343314"/>
                  <a:pt x="7541183" y="1391615"/>
                </a:cubicBezTo>
                <a:cubicBezTo>
                  <a:pt x="7492344" y="1440125"/>
                  <a:pt x="7424849" y="1470025"/>
                  <a:pt x="7349808" y="1470025"/>
                </a:cubicBezTo>
                <a:cubicBezTo>
                  <a:pt x="7274767" y="1470025"/>
                  <a:pt x="7207272" y="1440125"/>
                  <a:pt x="7158642" y="1391615"/>
                </a:cubicBezTo>
                <a:cubicBezTo>
                  <a:pt x="7110012" y="1343314"/>
                  <a:pt x="7080247" y="1276613"/>
                  <a:pt x="7080247" y="1203221"/>
                </a:cubicBezTo>
                <a:cubicBezTo>
                  <a:pt x="7080247" y="1129828"/>
                  <a:pt x="7110012" y="1063127"/>
                  <a:pt x="7158642" y="1014826"/>
                </a:cubicBezTo>
                <a:cubicBezTo>
                  <a:pt x="7207272" y="966526"/>
                  <a:pt x="7274767" y="936625"/>
                  <a:pt x="7349808" y="936625"/>
                </a:cubicBezTo>
                <a:close/>
                <a:moveTo>
                  <a:pt x="6837427" y="936625"/>
                </a:moveTo>
                <a:cubicBezTo>
                  <a:pt x="6874092" y="936625"/>
                  <a:pt x="6904891" y="941852"/>
                  <a:pt x="6932756" y="951680"/>
                </a:cubicBezTo>
                <a:cubicBezTo>
                  <a:pt x="6960412" y="961507"/>
                  <a:pt x="6984925" y="975726"/>
                  <a:pt x="7008810" y="993499"/>
                </a:cubicBezTo>
                <a:cubicBezTo>
                  <a:pt x="7008810" y="993499"/>
                  <a:pt x="7008810" y="993499"/>
                  <a:pt x="6987439" y="1026745"/>
                </a:cubicBezTo>
                <a:cubicBezTo>
                  <a:pt x="6987439" y="1026745"/>
                  <a:pt x="6987439" y="1026745"/>
                  <a:pt x="6966278" y="1059991"/>
                </a:cubicBezTo>
                <a:cubicBezTo>
                  <a:pt x="6946584" y="1044727"/>
                  <a:pt x="6926680" y="1032809"/>
                  <a:pt x="6904891" y="1024863"/>
                </a:cubicBezTo>
                <a:cubicBezTo>
                  <a:pt x="6883101" y="1016708"/>
                  <a:pt x="6859845" y="1012526"/>
                  <a:pt x="6833027" y="1012526"/>
                </a:cubicBezTo>
                <a:cubicBezTo>
                  <a:pt x="6782115" y="1012526"/>
                  <a:pt x="6736441" y="1033436"/>
                  <a:pt x="6703338" y="1067727"/>
                </a:cubicBezTo>
                <a:cubicBezTo>
                  <a:pt x="6670444" y="1102019"/>
                  <a:pt x="6649912" y="1149483"/>
                  <a:pt x="6649912" y="1203221"/>
                </a:cubicBezTo>
                <a:cubicBezTo>
                  <a:pt x="6649912" y="1256958"/>
                  <a:pt x="6670444" y="1304631"/>
                  <a:pt x="6703338" y="1338923"/>
                </a:cubicBezTo>
                <a:cubicBezTo>
                  <a:pt x="6736441" y="1373214"/>
                  <a:pt x="6782115" y="1393915"/>
                  <a:pt x="6833027" y="1393915"/>
                </a:cubicBezTo>
                <a:cubicBezTo>
                  <a:pt x="6859845" y="1393915"/>
                  <a:pt x="6883101" y="1389733"/>
                  <a:pt x="6904891" y="1381787"/>
                </a:cubicBezTo>
                <a:cubicBezTo>
                  <a:pt x="6926680" y="1373633"/>
                  <a:pt x="6946584" y="1361923"/>
                  <a:pt x="6966278" y="1346450"/>
                </a:cubicBezTo>
                <a:cubicBezTo>
                  <a:pt x="6966278" y="1346450"/>
                  <a:pt x="6966278" y="1346450"/>
                  <a:pt x="6987439" y="1379696"/>
                </a:cubicBezTo>
                <a:cubicBezTo>
                  <a:pt x="6987439" y="1379696"/>
                  <a:pt x="6987439" y="1379696"/>
                  <a:pt x="7008810" y="1412942"/>
                </a:cubicBezTo>
                <a:cubicBezTo>
                  <a:pt x="6984925" y="1430924"/>
                  <a:pt x="6960412" y="1445143"/>
                  <a:pt x="6932756" y="1454970"/>
                </a:cubicBezTo>
                <a:cubicBezTo>
                  <a:pt x="6904891" y="1464589"/>
                  <a:pt x="6874092" y="1470025"/>
                  <a:pt x="6837427" y="1470025"/>
                </a:cubicBezTo>
                <a:cubicBezTo>
                  <a:pt x="6761373" y="1470025"/>
                  <a:pt x="6693491" y="1440334"/>
                  <a:pt x="6644674" y="1392242"/>
                </a:cubicBezTo>
                <a:cubicBezTo>
                  <a:pt x="6595648" y="1344150"/>
                  <a:pt x="6565897" y="1277449"/>
                  <a:pt x="6565897" y="1203221"/>
                </a:cubicBezTo>
                <a:cubicBezTo>
                  <a:pt x="6565897" y="1129201"/>
                  <a:pt x="6595648" y="1062500"/>
                  <a:pt x="6644674" y="1014408"/>
                </a:cubicBezTo>
                <a:cubicBezTo>
                  <a:pt x="6693491" y="966107"/>
                  <a:pt x="6761373" y="936625"/>
                  <a:pt x="6837427" y="936625"/>
                </a:cubicBezTo>
                <a:close/>
                <a:moveTo>
                  <a:pt x="501650" y="477838"/>
                </a:moveTo>
                <a:cubicBezTo>
                  <a:pt x="501650" y="477838"/>
                  <a:pt x="501650" y="477838"/>
                  <a:pt x="501650" y="981076"/>
                </a:cubicBezTo>
                <a:cubicBezTo>
                  <a:pt x="501650" y="981076"/>
                  <a:pt x="501650" y="981076"/>
                  <a:pt x="786010" y="981076"/>
                </a:cubicBezTo>
                <a:cubicBezTo>
                  <a:pt x="786010" y="981076"/>
                  <a:pt x="786010" y="981076"/>
                  <a:pt x="1070579" y="981076"/>
                </a:cubicBezTo>
                <a:cubicBezTo>
                  <a:pt x="1142870" y="981076"/>
                  <a:pt x="1207013" y="953710"/>
                  <a:pt x="1253188" y="908588"/>
                </a:cubicBezTo>
                <a:cubicBezTo>
                  <a:pt x="1299153" y="863466"/>
                  <a:pt x="1327150" y="800169"/>
                  <a:pt x="1327150" y="727681"/>
                </a:cubicBezTo>
                <a:cubicBezTo>
                  <a:pt x="1327150" y="655402"/>
                  <a:pt x="1299153" y="592942"/>
                  <a:pt x="1253188" y="548446"/>
                </a:cubicBezTo>
                <a:cubicBezTo>
                  <a:pt x="1207013" y="503951"/>
                  <a:pt x="1142870" y="477838"/>
                  <a:pt x="1070579" y="477838"/>
                </a:cubicBezTo>
                <a:cubicBezTo>
                  <a:pt x="1070579" y="477838"/>
                  <a:pt x="1070579" y="477838"/>
                  <a:pt x="501650" y="477838"/>
                </a:cubicBezTo>
                <a:close/>
                <a:moveTo>
                  <a:pt x="6675435" y="336550"/>
                </a:moveTo>
                <a:cubicBezTo>
                  <a:pt x="6675435" y="487363"/>
                  <a:pt x="6675435" y="487363"/>
                  <a:pt x="6675435" y="487363"/>
                </a:cubicBezTo>
                <a:cubicBezTo>
                  <a:pt x="6808467" y="487363"/>
                  <a:pt x="6808467" y="487363"/>
                  <a:pt x="6808467" y="487363"/>
                </a:cubicBezTo>
                <a:cubicBezTo>
                  <a:pt x="6831475" y="487363"/>
                  <a:pt x="6851346" y="478985"/>
                  <a:pt x="6865570" y="465370"/>
                </a:cubicBezTo>
                <a:cubicBezTo>
                  <a:pt x="6879793" y="451755"/>
                  <a:pt x="6888160" y="432903"/>
                  <a:pt x="6888160" y="411957"/>
                </a:cubicBezTo>
                <a:cubicBezTo>
                  <a:pt x="6888160" y="390801"/>
                  <a:pt x="6879793" y="371949"/>
                  <a:pt x="6865570" y="358334"/>
                </a:cubicBezTo>
                <a:cubicBezTo>
                  <a:pt x="6851346" y="344719"/>
                  <a:pt x="6831475" y="336550"/>
                  <a:pt x="6808467" y="336550"/>
                </a:cubicBezTo>
                <a:cubicBezTo>
                  <a:pt x="6675435" y="336550"/>
                  <a:pt x="6675435" y="336550"/>
                  <a:pt x="6675435" y="336550"/>
                </a:cubicBezTo>
                <a:close/>
                <a:moveTo>
                  <a:pt x="6675435" y="122238"/>
                </a:moveTo>
                <a:cubicBezTo>
                  <a:pt x="6675435" y="265113"/>
                  <a:pt x="6675435" y="265113"/>
                  <a:pt x="6675435" y="265113"/>
                </a:cubicBezTo>
                <a:cubicBezTo>
                  <a:pt x="6795279" y="265113"/>
                  <a:pt x="6795279" y="265113"/>
                  <a:pt x="6795279" y="265113"/>
                </a:cubicBezTo>
                <a:cubicBezTo>
                  <a:pt x="6816822" y="265113"/>
                  <a:pt x="6835228" y="257396"/>
                  <a:pt x="6848404" y="244673"/>
                </a:cubicBezTo>
                <a:cubicBezTo>
                  <a:pt x="6861372" y="231949"/>
                  <a:pt x="6869110" y="214012"/>
                  <a:pt x="6869110" y="193571"/>
                </a:cubicBezTo>
                <a:cubicBezTo>
                  <a:pt x="6869110" y="173131"/>
                  <a:pt x="6861372" y="155402"/>
                  <a:pt x="6848404" y="142679"/>
                </a:cubicBezTo>
                <a:cubicBezTo>
                  <a:pt x="6835228" y="129747"/>
                  <a:pt x="6816822" y="122238"/>
                  <a:pt x="6795279" y="122238"/>
                </a:cubicBezTo>
                <a:cubicBezTo>
                  <a:pt x="6675435" y="122238"/>
                  <a:pt x="6675435" y="122238"/>
                  <a:pt x="6675435" y="122238"/>
                </a:cubicBezTo>
                <a:close/>
                <a:moveTo>
                  <a:pt x="8850791" y="114300"/>
                </a:moveTo>
                <a:cubicBezTo>
                  <a:pt x="8799203" y="114300"/>
                  <a:pt x="8753045" y="135269"/>
                  <a:pt x="8719837" y="169657"/>
                </a:cubicBezTo>
                <a:cubicBezTo>
                  <a:pt x="8686419" y="204046"/>
                  <a:pt x="8666160" y="251645"/>
                  <a:pt x="8666160" y="304905"/>
                </a:cubicBezTo>
                <a:cubicBezTo>
                  <a:pt x="8666160" y="357956"/>
                  <a:pt x="8686419" y="405554"/>
                  <a:pt x="8719837" y="439943"/>
                </a:cubicBezTo>
                <a:cubicBezTo>
                  <a:pt x="8753045" y="474332"/>
                  <a:pt x="8799203" y="495300"/>
                  <a:pt x="8850791" y="495300"/>
                </a:cubicBezTo>
                <a:cubicBezTo>
                  <a:pt x="8902588" y="495300"/>
                  <a:pt x="8948954" y="474541"/>
                  <a:pt x="8982163" y="440153"/>
                </a:cubicBezTo>
                <a:cubicBezTo>
                  <a:pt x="9015580" y="405974"/>
                  <a:pt x="9036048" y="358375"/>
                  <a:pt x="9036048" y="304905"/>
                </a:cubicBezTo>
                <a:cubicBezTo>
                  <a:pt x="9036048" y="251645"/>
                  <a:pt x="9015371" y="204046"/>
                  <a:pt x="8981954" y="169657"/>
                </a:cubicBezTo>
                <a:cubicBezTo>
                  <a:pt x="8948536" y="135269"/>
                  <a:pt x="8902170" y="114300"/>
                  <a:pt x="8850791" y="114300"/>
                </a:cubicBezTo>
                <a:close/>
                <a:moveTo>
                  <a:pt x="7335415" y="114300"/>
                </a:moveTo>
                <a:cubicBezTo>
                  <a:pt x="7283845" y="114300"/>
                  <a:pt x="7237515" y="135269"/>
                  <a:pt x="7203974" y="169657"/>
                </a:cubicBezTo>
                <a:cubicBezTo>
                  <a:pt x="7170642" y="204046"/>
                  <a:pt x="7150097" y="251645"/>
                  <a:pt x="7150097" y="304905"/>
                </a:cubicBezTo>
                <a:cubicBezTo>
                  <a:pt x="7150097" y="357956"/>
                  <a:pt x="7170642" y="405554"/>
                  <a:pt x="7203974" y="439943"/>
                </a:cubicBezTo>
                <a:cubicBezTo>
                  <a:pt x="7237515" y="474332"/>
                  <a:pt x="7283845" y="495300"/>
                  <a:pt x="7335415" y="495300"/>
                </a:cubicBezTo>
                <a:cubicBezTo>
                  <a:pt x="7387405" y="495300"/>
                  <a:pt x="7433944" y="474541"/>
                  <a:pt x="7467486" y="440153"/>
                </a:cubicBezTo>
                <a:cubicBezTo>
                  <a:pt x="7501028" y="405974"/>
                  <a:pt x="7521572" y="358375"/>
                  <a:pt x="7521572" y="304905"/>
                </a:cubicBezTo>
                <a:cubicBezTo>
                  <a:pt x="7521572" y="251645"/>
                  <a:pt x="7500818" y="204046"/>
                  <a:pt x="7467067" y="169657"/>
                </a:cubicBezTo>
                <a:cubicBezTo>
                  <a:pt x="7433525" y="135269"/>
                  <a:pt x="7386986" y="114300"/>
                  <a:pt x="7335415" y="114300"/>
                </a:cubicBezTo>
                <a:close/>
                <a:moveTo>
                  <a:pt x="9237660" y="49213"/>
                </a:moveTo>
                <a:lnTo>
                  <a:pt x="9339260" y="49213"/>
                </a:lnTo>
                <a:lnTo>
                  <a:pt x="9458322" y="242888"/>
                </a:lnTo>
                <a:lnTo>
                  <a:pt x="9578972" y="436563"/>
                </a:lnTo>
                <a:lnTo>
                  <a:pt x="9578972" y="49213"/>
                </a:lnTo>
                <a:lnTo>
                  <a:pt x="9656760" y="49213"/>
                </a:lnTo>
                <a:lnTo>
                  <a:pt x="9656760" y="560388"/>
                </a:lnTo>
                <a:lnTo>
                  <a:pt x="9561510" y="560388"/>
                </a:lnTo>
                <a:lnTo>
                  <a:pt x="9439272" y="363538"/>
                </a:lnTo>
                <a:lnTo>
                  <a:pt x="9317035" y="165101"/>
                </a:lnTo>
                <a:lnTo>
                  <a:pt x="9317035" y="560388"/>
                </a:lnTo>
                <a:lnTo>
                  <a:pt x="9237660" y="560388"/>
                </a:lnTo>
                <a:close/>
                <a:moveTo>
                  <a:pt x="8126410" y="49213"/>
                </a:moveTo>
                <a:lnTo>
                  <a:pt x="8529635" y="49213"/>
                </a:lnTo>
                <a:lnTo>
                  <a:pt x="8529635" y="125413"/>
                </a:lnTo>
                <a:lnTo>
                  <a:pt x="8369298" y="125413"/>
                </a:lnTo>
                <a:lnTo>
                  <a:pt x="8369298" y="560388"/>
                </a:lnTo>
                <a:lnTo>
                  <a:pt x="8285160" y="560388"/>
                </a:lnTo>
                <a:lnTo>
                  <a:pt x="8285160" y="125413"/>
                </a:lnTo>
                <a:lnTo>
                  <a:pt x="8126410" y="125413"/>
                </a:lnTo>
                <a:close/>
                <a:moveTo>
                  <a:pt x="6592885" y="49213"/>
                </a:moveTo>
                <a:cubicBezTo>
                  <a:pt x="6795851" y="49213"/>
                  <a:pt x="6795851" y="49213"/>
                  <a:pt x="6795851" y="49213"/>
                </a:cubicBezTo>
                <a:cubicBezTo>
                  <a:pt x="6840537" y="49213"/>
                  <a:pt x="6879794" y="63633"/>
                  <a:pt x="6907775" y="87875"/>
                </a:cubicBezTo>
                <a:cubicBezTo>
                  <a:pt x="6935756" y="112117"/>
                  <a:pt x="6952670" y="146182"/>
                  <a:pt x="6952670" y="185680"/>
                </a:cubicBezTo>
                <a:cubicBezTo>
                  <a:pt x="6952670" y="208041"/>
                  <a:pt x="6946823" y="228103"/>
                  <a:pt x="6936382" y="245658"/>
                </a:cubicBezTo>
                <a:cubicBezTo>
                  <a:pt x="6925733" y="263004"/>
                  <a:pt x="6910698" y="277633"/>
                  <a:pt x="6892114" y="288709"/>
                </a:cubicBezTo>
                <a:cubicBezTo>
                  <a:pt x="6916963" y="300621"/>
                  <a:pt x="6937009" y="318176"/>
                  <a:pt x="6950791" y="339492"/>
                </a:cubicBezTo>
                <a:cubicBezTo>
                  <a:pt x="6964572" y="360808"/>
                  <a:pt x="6972298" y="385677"/>
                  <a:pt x="6972298" y="412845"/>
                </a:cubicBezTo>
                <a:cubicBezTo>
                  <a:pt x="6972298" y="454015"/>
                  <a:pt x="6955384" y="491005"/>
                  <a:pt x="6926359" y="517546"/>
                </a:cubicBezTo>
                <a:cubicBezTo>
                  <a:pt x="6897543" y="544087"/>
                  <a:pt x="6856616" y="560388"/>
                  <a:pt x="6808798" y="560388"/>
                </a:cubicBezTo>
                <a:cubicBezTo>
                  <a:pt x="6592885" y="560388"/>
                  <a:pt x="6592885" y="560388"/>
                  <a:pt x="6592885" y="560388"/>
                </a:cubicBezTo>
                <a:cubicBezTo>
                  <a:pt x="6592885" y="49213"/>
                  <a:pt x="6592885" y="49213"/>
                  <a:pt x="6592885" y="49213"/>
                </a:cubicBezTo>
                <a:close/>
                <a:moveTo>
                  <a:pt x="8850790" y="38100"/>
                </a:moveTo>
                <a:cubicBezTo>
                  <a:pt x="8925610" y="38100"/>
                  <a:pt x="8992907" y="68001"/>
                  <a:pt x="9041603" y="116301"/>
                </a:cubicBezTo>
                <a:cubicBezTo>
                  <a:pt x="9090299" y="164602"/>
                  <a:pt x="9120185" y="231303"/>
                  <a:pt x="9120185" y="304905"/>
                </a:cubicBezTo>
                <a:cubicBezTo>
                  <a:pt x="9120185" y="378297"/>
                  <a:pt x="9090299" y="444998"/>
                  <a:pt x="9041603" y="493090"/>
                </a:cubicBezTo>
                <a:cubicBezTo>
                  <a:pt x="8992907" y="541600"/>
                  <a:pt x="8925610" y="571500"/>
                  <a:pt x="8850790" y="571500"/>
                </a:cubicBezTo>
                <a:cubicBezTo>
                  <a:pt x="8775761" y="571500"/>
                  <a:pt x="8708673" y="541600"/>
                  <a:pt x="8660186" y="493090"/>
                </a:cubicBezTo>
                <a:cubicBezTo>
                  <a:pt x="8611699" y="444998"/>
                  <a:pt x="8582022" y="378297"/>
                  <a:pt x="8582022" y="304905"/>
                </a:cubicBezTo>
                <a:cubicBezTo>
                  <a:pt x="8582022" y="231303"/>
                  <a:pt x="8611699" y="164602"/>
                  <a:pt x="8660186" y="116301"/>
                </a:cubicBezTo>
                <a:cubicBezTo>
                  <a:pt x="8708673" y="68001"/>
                  <a:pt x="8775761" y="38100"/>
                  <a:pt x="8850790" y="38100"/>
                </a:cubicBezTo>
                <a:close/>
                <a:moveTo>
                  <a:pt x="7870035" y="38100"/>
                </a:moveTo>
                <a:cubicBezTo>
                  <a:pt x="7871499" y="38100"/>
                  <a:pt x="7871499" y="38100"/>
                  <a:pt x="7871499" y="38100"/>
                </a:cubicBezTo>
                <a:cubicBezTo>
                  <a:pt x="7901627" y="38309"/>
                  <a:pt x="7929663" y="42909"/>
                  <a:pt x="7955187" y="51273"/>
                </a:cubicBezTo>
                <a:cubicBezTo>
                  <a:pt x="7981131" y="59637"/>
                  <a:pt x="8004563" y="71764"/>
                  <a:pt x="8025067" y="86401"/>
                </a:cubicBezTo>
                <a:cubicBezTo>
                  <a:pt x="8004563" y="118811"/>
                  <a:pt x="8004563" y="118811"/>
                  <a:pt x="8004563" y="118811"/>
                </a:cubicBezTo>
                <a:cubicBezTo>
                  <a:pt x="7984060" y="151429"/>
                  <a:pt x="7984060" y="151429"/>
                  <a:pt x="7984060" y="151429"/>
                </a:cubicBezTo>
                <a:cubicBezTo>
                  <a:pt x="7964811" y="138884"/>
                  <a:pt x="7945982" y="129265"/>
                  <a:pt x="7926943" y="122574"/>
                </a:cubicBezTo>
                <a:cubicBezTo>
                  <a:pt x="7908113" y="116092"/>
                  <a:pt x="7889074" y="112538"/>
                  <a:pt x="7869198" y="112538"/>
                </a:cubicBezTo>
                <a:cubicBezTo>
                  <a:pt x="7839280" y="112538"/>
                  <a:pt x="7817312" y="120692"/>
                  <a:pt x="7802666" y="133865"/>
                </a:cubicBezTo>
                <a:cubicBezTo>
                  <a:pt x="7788021" y="147038"/>
                  <a:pt x="7780907" y="165230"/>
                  <a:pt x="7780907" y="185721"/>
                </a:cubicBezTo>
                <a:cubicBezTo>
                  <a:pt x="7780907" y="209767"/>
                  <a:pt x="7791787" y="225031"/>
                  <a:pt x="7811035" y="236949"/>
                </a:cubicBezTo>
                <a:cubicBezTo>
                  <a:pt x="7830283" y="248658"/>
                  <a:pt x="7857900" y="257022"/>
                  <a:pt x="7891166" y="266849"/>
                </a:cubicBezTo>
                <a:cubicBezTo>
                  <a:pt x="7931127" y="278977"/>
                  <a:pt x="7970042" y="291941"/>
                  <a:pt x="7998914" y="313896"/>
                </a:cubicBezTo>
                <a:cubicBezTo>
                  <a:pt x="8027996" y="336060"/>
                  <a:pt x="8047035" y="367424"/>
                  <a:pt x="8047035" y="415934"/>
                </a:cubicBezTo>
                <a:cubicBezTo>
                  <a:pt x="8047035" y="460889"/>
                  <a:pt x="8030506" y="499781"/>
                  <a:pt x="7999751" y="527381"/>
                </a:cubicBezTo>
                <a:cubicBezTo>
                  <a:pt x="7968787" y="554982"/>
                  <a:pt x="7923804" y="571500"/>
                  <a:pt x="7866478" y="571500"/>
                </a:cubicBezTo>
                <a:cubicBezTo>
                  <a:pt x="7825890" y="571500"/>
                  <a:pt x="7791368" y="564809"/>
                  <a:pt x="7761659" y="554145"/>
                </a:cubicBezTo>
                <a:cubicBezTo>
                  <a:pt x="7731950" y="543272"/>
                  <a:pt x="7707053" y="528845"/>
                  <a:pt x="7685085" y="512954"/>
                </a:cubicBezTo>
                <a:cubicBezTo>
                  <a:pt x="7725883" y="447925"/>
                  <a:pt x="7725883" y="447925"/>
                  <a:pt x="7725883" y="447925"/>
                </a:cubicBezTo>
                <a:cubicBezTo>
                  <a:pt x="7748269" y="462353"/>
                  <a:pt x="7770656" y="474480"/>
                  <a:pt x="7793879" y="483053"/>
                </a:cubicBezTo>
                <a:cubicBezTo>
                  <a:pt x="7816893" y="491835"/>
                  <a:pt x="7841163" y="497063"/>
                  <a:pt x="7867106" y="497063"/>
                </a:cubicBezTo>
                <a:cubicBezTo>
                  <a:pt x="7898907" y="497063"/>
                  <a:pt x="7923177" y="488699"/>
                  <a:pt x="7939496" y="475108"/>
                </a:cubicBezTo>
                <a:cubicBezTo>
                  <a:pt x="7956024" y="461516"/>
                  <a:pt x="7964393" y="442489"/>
                  <a:pt x="7964393" y="420952"/>
                </a:cubicBezTo>
                <a:cubicBezTo>
                  <a:pt x="7964393" y="397324"/>
                  <a:pt x="7953095" y="381851"/>
                  <a:pt x="7933847" y="369933"/>
                </a:cubicBezTo>
                <a:cubicBezTo>
                  <a:pt x="7914389" y="358224"/>
                  <a:pt x="7886982" y="349860"/>
                  <a:pt x="7853925" y="339823"/>
                </a:cubicBezTo>
                <a:cubicBezTo>
                  <a:pt x="7813755" y="327696"/>
                  <a:pt x="7774840" y="314941"/>
                  <a:pt x="7745968" y="292986"/>
                </a:cubicBezTo>
                <a:cubicBezTo>
                  <a:pt x="7717095" y="271031"/>
                  <a:pt x="7698266" y="239667"/>
                  <a:pt x="7698266" y="190739"/>
                </a:cubicBezTo>
                <a:cubicBezTo>
                  <a:pt x="7698266" y="146202"/>
                  <a:pt x="7714166" y="107938"/>
                  <a:pt x="7743666" y="80964"/>
                </a:cubicBezTo>
                <a:cubicBezTo>
                  <a:pt x="7772957" y="53991"/>
                  <a:pt x="7815847" y="38100"/>
                  <a:pt x="7870035" y="38100"/>
                </a:cubicBezTo>
                <a:close/>
                <a:moveTo>
                  <a:pt x="7334624" y="38100"/>
                </a:moveTo>
                <a:cubicBezTo>
                  <a:pt x="7409415" y="38100"/>
                  <a:pt x="7476894" y="68001"/>
                  <a:pt x="7525363" y="116301"/>
                </a:cubicBezTo>
                <a:cubicBezTo>
                  <a:pt x="7574040" y="164602"/>
                  <a:pt x="7604123" y="231303"/>
                  <a:pt x="7604123" y="304905"/>
                </a:cubicBezTo>
                <a:cubicBezTo>
                  <a:pt x="7604123" y="378297"/>
                  <a:pt x="7574040" y="444998"/>
                  <a:pt x="7525363" y="493090"/>
                </a:cubicBezTo>
                <a:cubicBezTo>
                  <a:pt x="7476894" y="541600"/>
                  <a:pt x="7409415" y="571500"/>
                  <a:pt x="7334624" y="571500"/>
                </a:cubicBezTo>
                <a:cubicBezTo>
                  <a:pt x="7259833" y="571500"/>
                  <a:pt x="7192562" y="541600"/>
                  <a:pt x="7144094" y="493090"/>
                </a:cubicBezTo>
                <a:cubicBezTo>
                  <a:pt x="7095626" y="444998"/>
                  <a:pt x="7065960" y="378297"/>
                  <a:pt x="7065960" y="304905"/>
                </a:cubicBezTo>
                <a:cubicBezTo>
                  <a:pt x="7065960" y="231303"/>
                  <a:pt x="7095626" y="164602"/>
                  <a:pt x="7144094" y="116301"/>
                </a:cubicBezTo>
                <a:cubicBezTo>
                  <a:pt x="7192562" y="68001"/>
                  <a:pt x="7259833" y="38100"/>
                  <a:pt x="7334624" y="38100"/>
                </a:cubicBezTo>
                <a:close/>
                <a:moveTo>
                  <a:pt x="2766077" y="0"/>
                </a:moveTo>
                <a:cubicBezTo>
                  <a:pt x="2901191" y="0"/>
                  <a:pt x="3028777" y="17359"/>
                  <a:pt x="3146531" y="51449"/>
                </a:cubicBezTo>
                <a:cubicBezTo>
                  <a:pt x="3264077" y="85540"/>
                  <a:pt x="3372000" y="136571"/>
                  <a:pt x="3467375" y="204124"/>
                </a:cubicBezTo>
                <a:cubicBezTo>
                  <a:pt x="3467375" y="204124"/>
                  <a:pt x="3467375" y="204124"/>
                  <a:pt x="3340627" y="403228"/>
                </a:cubicBezTo>
                <a:cubicBezTo>
                  <a:pt x="3340627" y="403228"/>
                  <a:pt x="3340627" y="403228"/>
                  <a:pt x="3213880" y="602542"/>
                </a:cubicBezTo>
                <a:cubicBezTo>
                  <a:pt x="3153015" y="556321"/>
                  <a:pt x="3084622" y="520976"/>
                  <a:pt x="3009743" y="496716"/>
                </a:cubicBezTo>
                <a:cubicBezTo>
                  <a:pt x="2934865" y="472455"/>
                  <a:pt x="2853295" y="459279"/>
                  <a:pt x="2766077" y="457606"/>
                </a:cubicBezTo>
                <a:cubicBezTo>
                  <a:pt x="2556923" y="459279"/>
                  <a:pt x="2368473" y="545655"/>
                  <a:pt x="2232314" y="681180"/>
                </a:cubicBezTo>
                <a:cubicBezTo>
                  <a:pt x="2095946" y="816496"/>
                  <a:pt x="2012073" y="1000960"/>
                  <a:pt x="2012073" y="1198391"/>
                </a:cubicBezTo>
                <a:cubicBezTo>
                  <a:pt x="2012073" y="1399378"/>
                  <a:pt x="2095946" y="1585307"/>
                  <a:pt x="2232314" y="1721250"/>
                </a:cubicBezTo>
                <a:cubicBezTo>
                  <a:pt x="2368473" y="1856984"/>
                  <a:pt x="2556923" y="1942732"/>
                  <a:pt x="2766077" y="1942732"/>
                </a:cubicBezTo>
                <a:cubicBezTo>
                  <a:pt x="2868145" y="1942732"/>
                  <a:pt x="2962893" y="1923700"/>
                  <a:pt x="3050111" y="1886682"/>
                </a:cubicBezTo>
                <a:cubicBezTo>
                  <a:pt x="3137328" y="1849664"/>
                  <a:pt x="3217225" y="1794450"/>
                  <a:pt x="3289594" y="1722086"/>
                </a:cubicBezTo>
                <a:cubicBezTo>
                  <a:pt x="3462565" y="1549125"/>
                  <a:pt x="3493101" y="1332661"/>
                  <a:pt x="3543925" y="1095493"/>
                </a:cubicBezTo>
                <a:cubicBezTo>
                  <a:pt x="3595168" y="858533"/>
                  <a:pt x="3666699" y="600869"/>
                  <a:pt x="3921866" y="345714"/>
                </a:cubicBezTo>
                <a:cubicBezTo>
                  <a:pt x="4028953" y="238633"/>
                  <a:pt x="4155701" y="152256"/>
                  <a:pt x="4300646" y="92441"/>
                </a:cubicBezTo>
                <a:cubicBezTo>
                  <a:pt x="4445590" y="32836"/>
                  <a:pt x="4608522" y="0"/>
                  <a:pt x="4787977" y="0"/>
                </a:cubicBezTo>
                <a:cubicBezTo>
                  <a:pt x="4922882" y="0"/>
                  <a:pt x="5050676" y="18823"/>
                  <a:pt x="5168221" y="54796"/>
                </a:cubicBezTo>
                <a:cubicBezTo>
                  <a:pt x="5285976" y="90559"/>
                  <a:pt x="5393900" y="143054"/>
                  <a:pt x="5489275" y="210607"/>
                </a:cubicBezTo>
                <a:cubicBezTo>
                  <a:pt x="5489275" y="210607"/>
                  <a:pt x="5489275" y="210607"/>
                  <a:pt x="5364200" y="409921"/>
                </a:cubicBezTo>
                <a:cubicBezTo>
                  <a:pt x="5364200" y="409921"/>
                  <a:pt x="5364200" y="409921"/>
                  <a:pt x="5239125" y="609025"/>
                </a:cubicBezTo>
                <a:cubicBezTo>
                  <a:pt x="5176588" y="563014"/>
                  <a:pt x="5107357" y="525996"/>
                  <a:pt x="5031643" y="500480"/>
                </a:cubicBezTo>
                <a:cubicBezTo>
                  <a:pt x="4955929" y="474965"/>
                  <a:pt x="4873522" y="460952"/>
                  <a:pt x="4784631" y="460952"/>
                </a:cubicBezTo>
                <a:cubicBezTo>
                  <a:pt x="4580495" y="460952"/>
                  <a:pt x="4396857" y="544818"/>
                  <a:pt x="4264462" y="679089"/>
                </a:cubicBezTo>
                <a:cubicBezTo>
                  <a:pt x="4131857" y="813149"/>
                  <a:pt x="4050287" y="997614"/>
                  <a:pt x="4050287" y="1198391"/>
                </a:cubicBezTo>
                <a:cubicBezTo>
                  <a:pt x="4050287" y="1402724"/>
                  <a:pt x="4131021" y="1589489"/>
                  <a:pt x="4262370" y="1725223"/>
                </a:cubicBezTo>
                <a:cubicBezTo>
                  <a:pt x="4393720" y="1861167"/>
                  <a:pt x="4575477" y="1945870"/>
                  <a:pt x="4778147" y="1945870"/>
                </a:cubicBezTo>
                <a:cubicBezTo>
                  <a:pt x="4939406" y="1945870"/>
                  <a:pt x="5080167" y="1893165"/>
                  <a:pt x="5191438" y="1804280"/>
                </a:cubicBezTo>
                <a:cubicBezTo>
                  <a:pt x="5302499" y="1715394"/>
                  <a:pt x="5384070" y="1590326"/>
                  <a:pt x="5426737" y="1445390"/>
                </a:cubicBezTo>
                <a:cubicBezTo>
                  <a:pt x="5426737" y="1445390"/>
                  <a:pt x="5426737" y="1445390"/>
                  <a:pt x="4708917" y="1445390"/>
                </a:cubicBezTo>
                <a:cubicBezTo>
                  <a:pt x="4708917" y="1445390"/>
                  <a:pt x="4708917" y="1445390"/>
                  <a:pt x="4850515" y="1223279"/>
                </a:cubicBezTo>
                <a:cubicBezTo>
                  <a:pt x="4850515" y="1223279"/>
                  <a:pt x="4850515" y="1223279"/>
                  <a:pt x="4992113" y="1000960"/>
                </a:cubicBezTo>
                <a:cubicBezTo>
                  <a:pt x="4992113" y="1000960"/>
                  <a:pt x="4992113" y="1000960"/>
                  <a:pt x="5457901" y="1000960"/>
                </a:cubicBezTo>
                <a:cubicBezTo>
                  <a:pt x="5457901" y="1000960"/>
                  <a:pt x="5457901" y="1000960"/>
                  <a:pt x="5924108" y="1000960"/>
                </a:cubicBezTo>
                <a:cubicBezTo>
                  <a:pt x="5928919" y="1033796"/>
                  <a:pt x="5933102" y="1066840"/>
                  <a:pt x="5936030" y="1100094"/>
                </a:cubicBezTo>
                <a:cubicBezTo>
                  <a:pt x="5938749" y="1133557"/>
                  <a:pt x="5940422" y="1167229"/>
                  <a:pt x="5940422" y="1201738"/>
                </a:cubicBezTo>
                <a:cubicBezTo>
                  <a:pt x="5940422" y="1532602"/>
                  <a:pt x="5812001" y="1833141"/>
                  <a:pt x="5600963" y="2050860"/>
                </a:cubicBezTo>
                <a:cubicBezTo>
                  <a:pt x="5389717" y="2268578"/>
                  <a:pt x="5095854" y="2403475"/>
                  <a:pt x="4764970" y="2403475"/>
                </a:cubicBezTo>
                <a:cubicBezTo>
                  <a:pt x="4549331" y="2403475"/>
                  <a:pt x="4350006" y="2352653"/>
                  <a:pt x="4178290" y="2262513"/>
                </a:cubicBezTo>
                <a:cubicBezTo>
                  <a:pt x="4006784" y="2172372"/>
                  <a:pt x="3862676" y="2043121"/>
                  <a:pt x="3757265" y="1886682"/>
                </a:cubicBezTo>
                <a:cubicBezTo>
                  <a:pt x="3647040" y="2044794"/>
                  <a:pt x="3502931" y="2173836"/>
                  <a:pt x="3332469" y="2263558"/>
                </a:cubicBezTo>
                <a:cubicBezTo>
                  <a:pt x="3162009" y="2353490"/>
                  <a:pt x="2965403" y="2403475"/>
                  <a:pt x="2749555" y="2403475"/>
                </a:cubicBezTo>
                <a:cubicBezTo>
                  <a:pt x="2566961" y="2403475"/>
                  <a:pt x="2395664" y="2364993"/>
                  <a:pt x="2242563" y="2295766"/>
                </a:cubicBezTo>
                <a:cubicBezTo>
                  <a:pt x="2089461" y="2226540"/>
                  <a:pt x="1954347" y="2126988"/>
                  <a:pt x="1844121" y="2005266"/>
                </a:cubicBezTo>
                <a:cubicBezTo>
                  <a:pt x="1783258" y="2108792"/>
                  <a:pt x="1694366" y="2196214"/>
                  <a:pt x="1583096" y="2257493"/>
                </a:cubicBezTo>
                <a:cubicBezTo>
                  <a:pt x="1472034" y="2318772"/>
                  <a:pt x="1338593" y="2354117"/>
                  <a:pt x="1188838" y="2354117"/>
                </a:cubicBezTo>
                <a:cubicBezTo>
                  <a:pt x="1188838" y="2354117"/>
                  <a:pt x="1188838" y="2354117"/>
                  <a:pt x="0" y="2354117"/>
                </a:cubicBezTo>
                <a:cubicBezTo>
                  <a:pt x="0" y="2354117"/>
                  <a:pt x="0" y="2354117"/>
                  <a:pt x="0" y="1201738"/>
                </a:cubicBezTo>
                <a:cubicBezTo>
                  <a:pt x="0" y="1201738"/>
                  <a:pt x="0" y="1201738"/>
                  <a:pt x="0" y="49358"/>
                </a:cubicBezTo>
                <a:cubicBezTo>
                  <a:pt x="0" y="49358"/>
                  <a:pt x="0" y="49358"/>
                  <a:pt x="538575" y="49358"/>
                </a:cubicBezTo>
                <a:cubicBezTo>
                  <a:pt x="538575" y="49358"/>
                  <a:pt x="538575" y="49358"/>
                  <a:pt x="1076940" y="49358"/>
                </a:cubicBezTo>
                <a:cubicBezTo>
                  <a:pt x="1249702" y="49358"/>
                  <a:pt x="1402804" y="96206"/>
                  <a:pt x="1523487" y="176099"/>
                </a:cubicBezTo>
                <a:cubicBezTo>
                  <a:pt x="1643960" y="255992"/>
                  <a:pt x="1732223" y="368720"/>
                  <a:pt x="1774892" y="500480"/>
                </a:cubicBezTo>
                <a:cubicBezTo>
                  <a:pt x="1883653" y="350524"/>
                  <a:pt x="2027552" y="225457"/>
                  <a:pt x="2196549" y="137826"/>
                </a:cubicBezTo>
                <a:cubicBezTo>
                  <a:pt x="2365129" y="50195"/>
                  <a:pt x="2558596" y="0"/>
                  <a:pt x="276607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p>
        </p:txBody>
      </p:sp>
    </p:spTree>
    <p:extLst>
      <p:ext uri="{BB962C8B-B14F-4D97-AF65-F5344CB8AC3E}">
        <p14:creationId xmlns:p14="http://schemas.microsoft.com/office/powerpoint/2010/main" val="235162189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p:cSld name="D. Layout guide">
    <p:spTree>
      <p:nvGrpSpPr>
        <p:cNvPr id="1" name=""/>
        <p:cNvGrpSpPr/>
        <p:nvPr/>
      </p:nvGrpSpPr>
      <p:grpSpPr>
        <a:xfrm>
          <a:off x="0" y="0"/>
          <a:ext cx="0" cy="0"/>
          <a:chOff x="0" y="0"/>
          <a:chExt cx="0" cy="0"/>
        </a:xfrm>
      </p:grpSpPr>
      <p:grpSp>
        <p:nvGrpSpPr>
          <p:cNvPr id="144" name="Group 143"/>
          <p:cNvGrpSpPr/>
          <p:nvPr userDrawn="1"/>
        </p:nvGrpSpPr>
        <p:grpSpPr>
          <a:xfrm>
            <a:off x="-600" y="-1"/>
            <a:ext cx="12193800" cy="6858001"/>
            <a:chOff x="-600" y="-1"/>
            <a:chExt cx="12193800" cy="6858001"/>
          </a:xfrm>
        </p:grpSpPr>
        <p:sp>
          <p:nvSpPr>
            <p:cNvPr id="145" name="No fly zone"/>
            <p:cNvSpPr/>
            <p:nvPr/>
          </p:nvSpPr>
          <p:spPr>
            <a:xfrm>
              <a:off x="0" y="-1"/>
              <a:ext cx="12193200" cy="6858000"/>
            </a:xfrm>
            <a:custGeom>
              <a:avLst/>
              <a:gdLst>
                <a:gd name="connsiteX0" fmla="*/ 630001 w 12193200"/>
                <a:gd name="connsiteY0" fmla="*/ 622800 h 6858000"/>
                <a:gd name="connsiteX1" fmla="*/ 630001 w 12193200"/>
                <a:gd name="connsiteY1" fmla="*/ 6160597 h 6858000"/>
                <a:gd name="connsiteX2" fmla="*/ 11562000 w 12193200"/>
                <a:gd name="connsiteY2" fmla="*/ 6160597 h 6858000"/>
                <a:gd name="connsiteX3" fmla="*/ 11562000 w 12193200"/>
                <a:gd name="connsiteY3" fmla="*/ 622800 h 6858000"/>
                <a:gd name="connsiteX4" fmla="*/ 0 w 12193200"/>
                <a:gd name="connsiteY4" fmla="*/ 0 h 6858000"/>
                <a:gd name="connsiteX5" fmla="*/ 12193200 w 12193200"/>
                <a:gd name="connsiteY5" fmla="*/ 0 h 6858000"/>
                <a:gd name="connsiteX6" fmla="*/ 12193200 w 12193200"/>
                <a:gd name="connsiteY6" fmla="*/ 622800 h 6858000"/>
                <a:gd name="connsiteX7" fmla="*/ 12192000 w 12193200"/>
                <a:gd name="connsiteY7" fmla="*/ 622800 h 6858000"/>
                <a:gd name="connsiteX8" fmla="*/ 12192000 w 12193200"/>
                <a:gd name="connsiteY8" fmla="*/ 6160597 h 6858000"/>
                <a:gd name="connsiteX9" fmla="*/ 12193200 w 12193200"/>
                <a:gd name="connsiteY9" fmla="*/ 6160597 h 6858000"/>
                <a:gd name="connsiteX10" fmla="*/ 12193200 w 12193200"/>
                <a:gd name="connsiteY10" fmla="*/ 6858000 h 6858000"/>
                <a:gd name="connsiteX11" fmla="*/ 12192000 w 12193200"/>
                <a:gd name="connsiteY11" fmla="*/ 6858000 h 6858000"/>
                <a:gd name="connsiteX12" fmla="*/ 11562000 w 12193200"/>
                <a:gd name="connsiteY12" fmla="*/ 6858000 h 6858000"/>
                <a:gd name="connsiteX13" fmla="*/ 630001 w 12193200"/>
                <a:gd name="connsiteY13" fmla="*/ 6858000 h 6858000"/>
                <a:gd name="connsiteX14" fmla="*/ 1 w 12193200"/>
                <a:gd name="connsiteY14" fmla="*/ 6858000 h 6858000"/>
                <a:gd name="connsiteX15" fmla="*/ 1 w 12193200"/>
                <a:gd name="connsiteY15" fmla="*/ 6160597 h 6858000"/>
                <a:gd name="connsiteX16" fmla="*/ 1 w 12193200"/>
                <a:gd name="connsiteY16" fmla="*/ 622800 h 6858000"/>
                <a:gd name="connsiteX17" fmla="*/ 0 w 12193200"/>
                <a:gd name="connsiteY17" fmla="*/ 6228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193200" h="6858000">
                  <a:moveTo>
                    <a:pt x="630001" y="622800"/>
                  </a:moveTo>
                  <a:lnTo>
                    <a:pt x="630001" y="6160597"/>
                  </a:lnTo>
                  <a:lnTo>
                    <a:pt x="11562000" y="6160597"/>
                  </a:lnTo>
                  <a:lnTo>
                    <a:pt x="11562000" y="622800"/>
                  </a:lnTo>
                  <a:close/>
                  <a:moveTo>
                    <a:pt x="0" y="0"/>
                  </a:moveTo>
                  <a:lnTo>
                    <a:pt x="12193200" y="0"/>
                  </a:lnTo>
                  <a:lnTo>
                    <a:pt x="12193200" y="622800"/>
                  </a:lnTo>
                  <a:lnTo>
                    <a:pt x="12192000" y="622800"/>
                  </a:lnTo>
                  <a:lnTo>
                    <a:pt x="12192000" y="6160597"/>
                  </a:lnTo>
                  <a:lnTo>
                    <a:pt x="12193200" y="6160597"/>
                  </a:lnTo>
                  <a:lnTo>
                    <a:pt x="12193200" y="6858000"/>
                  </a:lnTo>
                  <a:lnTo>
                    <a:pt x="12192000" y="6858000"/>
                  </a:lnTo>
                  <a:lnTo>
                    <a:pt x="11562000" y="6858000"/>
                  </a:lnTo>
                  <a:lnTo>
                    <a:pt x="630001" y="6858000"/>
                  </a:lnTo>
                  <a:lnTo>
                    <a:pt x="1" y="6858000"/>
                  </a:lnTo>
                  <a:lnTo>
                    <a:pt x="1" y="6160597"/>
                  </a:lnTo>
                  <a:lnTo>
                    <a:pt x="1" y="622800"/>
                  </a:lnTo>
                  <a:lnTo>
                    <a:pt x="0" y="622800"/>
                  </a:lnTo>
                  <a:close/>
                </a:path>
              </a:pathLst>
            </a:custGeom>
            <a:solidFill>
              <a:srgbClr val="FFEFEF">
                <a:alpha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tx1"/>
                </a:solidFill>
                <a:latin typeface="+mn-lt"/>
              </a:endParaRPr>
            </a:p>
          </p:txBody>
        </p:sp>
        <p:grpSp>
          <p:nvGrpSpPr>
            <p:cNvPr id="146" name="Baselines / anchors"/>
            <p:cNvGrpSpPr/>
            <p:nvPr userDrawn="1"/>
          </p:nvGrpSpPr>
          <p:grpSpPr>
            <a:xfrm>
              <a:off x="-600" y="622800"/>
              <a:ext cx="12193200" cy="5536800"/>
              <a:chOff x="12623800" y="622800"/>
              <a:chExt cx="11176000" cy="5536800"/>
            </a:xfrm>
          </p:grpSpPr>
          <p:cxnSp>
            <p:nvCxnSpPr>
              <p:cNvPr id="170" name="Straight Connector 169"/>
              <p:cNvCxnSpPr/>
              <p:nvPr/>
            </p:nvCxnSpPr>
            <p:spPr>
              <a:xfrm>
                <a:off x="12623800" y="622800"/>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a:off x="12623800" y="914211"/>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72" name="Straight Connector 171"/>
              <p:cNvCxnSpPr/>
              <p:nvPr/>
            </p:nvCxnSpPr>
            <p:spPr>
              <a:xfrm>
                <a:off x="12623800" y="1205622"/>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a:off x="12623800" y="1497600"/>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a:off x="12623800" y="1788444"/>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a:off x="12623800" y="2079855"/>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a:off x="12623800" y="2371266"/>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a:off x="12623800" y="2662677"/>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a:off x="12623800" y="2954088"/>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12623800" y="3245499"/>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a:off x="12623800" y="3536910"/>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a:off x="12623800" y="3828321"/>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a:off x="12623800" y="4119732"/>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a:off x="12623800" y="4411143"/>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a:off x="12623800" y="4702554"/>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a:off x="12623800" y="4993965"/>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a:off x="12623800" y="5285376"/>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a:off x="12623800" y="5576787"/>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a:off x="12623800" y="5868198"/>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a:off x="12623800" y="6159600"/>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grpSp>
        <p:grpSp>
          <p:nvGrpSpPr>
            <p:cNvPr id="147" name="Gutter space"/>
            <p:cNvGrpSpPr/>
            <p:nvPr userDrawn="1"/>
          </p:nvGrpSpPr>
          <p:grpSpPr>
            <a:xfrm>
              <a:off x="1277000" y="623550"/>
              <a:ext cx="9638000" cy="5537047"/>
              <a:chOff x="1277000" y="623550"/>
              <a:chExt cx="9638000" cy="5537047"/>
            </a:xfrm>
          </p:grpSpPr>
          <p:sp>
            <p:nvSpPr>
              <p:cNvPr id="159" name="Rectangle 34"/>
              <p:cNvSpPr>
                <a:spLocks noChangeArrowheads="1"/>
              </p:cNvSpPr>
              <p:nvPr/>
            </p:nvSpPr>
            <p:spPr bwMode="auto">
              <a:xfrm>
                <a:off x="6887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160" name="Rectangle 35"/>
              <p:cNvSpPr>
                <a:spLocks noChangeArrowheads="1"/>
              </p:cNvSpPr>
              <p:nvPr/>
            </p:nvSpPr>
            <p:spPr bwMode="auto">
              <a:xfrm>
                <a:off x="8757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161" name="Rectangle 36"/>
              <p:cNvSpPr>
                <a:spLocks noChangeArrowheads="1"/>
              </p:cNvSpPr>
              <p:nvPr/>
            </p:nvSpPr>
            <p:spPr bwMode="auto">
              <a:xfrm>
                <a:off x="7822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162" name="Rectangle 37"/>
              <p:cNvSpPr>
                <a:spLocks noChangeArrowheads="1"/>
              </p:cNvSpPr>
              <p:nvPr/>
            </p:nvSpPr>
            <p:spPr bwMode="auto">
              <a:xfrm>
                <a:off x="9692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163" name="Rectangle 38"/>
              <p:cNvSpPr>
                <a:spLocks noChangeArrowheads="1"/>
              </p:cNvSpPr>
              <p:nvPr/>
            </p:nvSpPr>
            <p:spPr bwMode="auto">
              <a:xfrm>
                <a:off x="10627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164" name="Rectangle 39"/>
              <p:cNvSpPr>
                <a:spLocks noChangeArrowheads="1"/>
              </p:cNvSpPr>
              <p:nvPr/>
            </p:nvSpPr>
            <p:spPr bwMode="auto">
              <a:xfrm>
                <a:off x="5952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165" name="Rectangle 40"/>
              <p:cNvSpPr>
                <a:spLocks noChangeArrowheads="1"/>
              </p:cNvSpPr>
              <p:nvPr/>
            </p:nvSpPr>
            <p:spPr bwMode="auto">
              <a:xfrm>
                <a:off x="1277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166" name="Rectangle 41"/>
              <p:cNvSpPr>
                <a:spLocks noChangeArrowheads="1"/>
              </p:cNvSpPr>
              <p:nvPr/>
            </p:nvSpPr>
            <p:spPr bwMode="auto">
              <a:xfrm>
                <a:off x="2212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167" name="Rectangle 42"/>
              <p:cNvSpPr>
                <a:spLocks noChangeArrowheads="1"/>
              </p:cNvSpPr>
              <p:nvPr/>
            </p:nvSpPr>
            <p:spPr bwMode="auto">
              <a:xfrm>
                <a:off x="3147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168" name="Rectangle 43"/>
              <p:cNvSpPr>
                <a:spLocks noChangeArrowheads="1"/>
              </p:cNvSpPr>
              <p:nvPr/>
            </p:nvSpPr>
            <p:spPr bwMode="auto">
              <a:xfrm>
                <a:off x="4082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169" name="Rectangle 44"/>
              <p:cNvSpPr>
                <a:spLocks noChangeArrowheads="1"/>
              </p:cNvSpPr>
              <p:nvPr/>
            </p:nvSpPr>
            <p:spPr bwMode="auto">
              <a:xfrm>
                <a:off x="5017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grpSp>
        <p:sp>
          <p:nvSpPr>
            <p:cNvPr id="148" name="Slide edges"/>
            <p:cNvSpPr>
              <a:spLocks/>
            </p:cNvSpPr>
            <p:nvPr/>
          </p:nvSpPr>
          <p:spPr bwMode="auto">
            <a:xfrm>
              <a:off x="-600" y="0"/>
              <a:ext cx="12193200" cy="6858000"/>
            </a:xfrm>
            <a:custGeom>
              <a:avLst/>
              <a:gdLst>
                <a:gd name="T0" fmla="*/ 6024 w 6026"/>
                <a:gd name="T1" fmla="*/ 3394 h 3396"/>
                <a:gd name="T2" fmla="*/ 6024 w 6026"/>
                <a:gd name="T3" fmla="*/ 3391 h 3396"/>
                <a:gd name="T4" fmla="*/ 5 w 6026"/>
                <a:gd name="T5" fmla="*/ 3391 h 3396"/>
                <a:gd name="T6" fmla="*/ 5 w 6026"/>
                <a:gd name="T7" fmla="*/ 5 h 3396"/>
                <a:gd name="T8" fmla="*/ 6021 w 6026"/>
                <a:gd name="T9" fmla="*/ 5 h 3396"/>
                <a:gd name="T10" fmla="*/ 6021 w 6026"/>
                <a:gd name="T11" fmla="*/ 3394 h 3396"/>
                <a:gd name="T12" fmla="*/ 6024 w 6026"/>
                <a:gd name="T13" fmla="*/ 3394 h 3396"/>
                <a:gd name="T14" fmla="*/ 6024 w 6026"/>
                <a:gd name="T15" fmla="*/ 3391 h 3396"/>
                <a:gd name="T16" fmla="*/ 6024 w 6026"/>
                <a:gd name="T17" fmla="*/ 3394 h 3396"/>
                <a:gd name="T18" fmla="*/ 6026 w 6026"/>
                <a:gd name="T19" fmla="*/ 3394 h 3396"/>
                <a:gd name="T20" fmla="*/ 6026 w 6026"/>
                <a:gd name="T21" fmla="*/ 0 h 3396"/>
                <a:gd name="T22" fmla="*/ 0 w 6026"/>
                <a:gd name="T23" fmla="*/ 0 h 3396"/>
                <a:gd name="T24" fmla="*/ 0 w 6026"/>
                <a:gd name="T25" fmla="*/ 3396 h 3396"/>
                <a:gd name="T26" fmla="*/ 6026 w 6026"/>
                <a:gd name="T27" fmla="*/ 3396 h 3396"/>
                <a:gd name="T28" fmla="*/ 6026 w 6026"/>
                <a:gd name="T29" fmla="*/ 3394 h 3396"/>
                <a:gd name="T30" fmla="*/ 6024 w 6026"/>
                <a:gd name="T31" fmla="*/ 3394 h 3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026" h="3396">
                  <a:moveTo>
                    <a:pt x="6024" y="3394"/>
                  </a:moveTo>
                  <a:lnTo>
                    <a:pt x="6024" y="3391"/>
                  </a:lnTo>
                  <a:lnTo>
                    <a:pt x="5" y="3391"/>
                  </a:lnTo>
                  <a:lnTo>
                    <a:pt x="5" y="5"/>
                  </a:lnTo>
                  <a:lnTo>
                    <a:pt x="6021" y="5"/>
                  </a:lnTo>
                  <a:lnTo>
                    <a:pt x="6021" y="3394"/>
                  </a:lnTo>
                  <a:lnTo>
                    <a:pt x="6024" y="3394"/>
                  </a:lnTo>
                  <a:lnTo>
                    <a:pt x="6024" y="3391"/>
                  </a:lnTo>
                  <a:lnTo>
                    <a:pt x="6024" y="3394"/>
                  </a:lnTo>
                  <a:lnTo>
                    <a:pt x="6026" y="3394"/>
                  </a:lnTo>
                  <a:lnTo>
                    <a:pt x="6026" y="0"/>
                  </a:lnTo>
                  <a:lnTo>
                    <a:pt x="0" y="0"/>
                  </a:lnTo>
                  <a:lnTo>
                    <a:pt x="0" y="3396"/>
                  </a:lnTo>
                  <a:lnTo>
                    <a:pt x="6026" y="3396"/>
                  </a:lnTo>
                  <a:lnTo>
                    <a:pt x="6026" y="3394"/>
                  </a:lnTo>
                  <a:lnTo>
                    <a:pt x="6024" y="3394"/>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mn-lt"/>
                <a:ea typeface="+mn-ea"/>
                <a:cs typeface="+mn-cs"/>
              </a:endParaRPr>
            </a:p>
          </p:txBody>
        </p:sp>
        <p:sp>
          <p:nvSpPr>
            <p:cNvPr id="149" name="Footnote measure"/>
            <p:cNvSpPr>
              <a:spLocks noChangeArrowheads="1"/>
            </p:cNvSpPr>
            <p:nvPr/>
          </p:nvSpPr>
          <p:spPr bwMode="auto">
            <a:xfrm>
              <a:off x="629400" y="6159600"/>
              <a:ext cx="10933200" cy="378584"/>
            </a:xfrm>
            <a:prstGeom prst="rect">
              <a:avLst/>
            </a:prstGeom>
            <a:solidFill>
              <a:schemeClr val="accent3">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150" name="Whitespace measure"/>
            <p:cNvSpPr>
              <a:spLocks noChangeArrowheads="1"/>
            </p:cNvSpPr>
            <p:nvPr/>
          </p:nvSpPr>
          <p:spPr bwMode="auto">
            <a:xfrm>
              <a:off x="629400" y="1497600"/>
              <a:ext cx="10932229" cy="583200"/>
            </a:xfrm>
            <a:prstGeom prst="rect">
              <a:avLst/>
            </a:prstGeom>
            <a:solidFill>
              <a:schemeClr val="accent3">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grpSp>
          <p:nvGrpSpPr>
            <p:cNvPr id="151" name="Five column measure"/>
            <p:cNvGrpSpPr/>
            <p:nvPr userDrawn="1"/>
          </p:nvGrpSpPr>
          <p:grpSpPr>
            <a:xfrm>
              <a:off x="629400" y="5975122"/>
              <a:ext cx="10933200" cy="79536"/>
              <a:chOff x="629400" y="5975122"/>
              <a:chExt cx="10933200" cy="79536"/>
            </a:xfrm>
          </p:grpSpPr>
          <p:sp>
            <p:nvSpPr>
              <p:cNvPr id="154" name="Rectangle 5"/>
              <p:cNvSpPr>
                <a:spLocks noChangeArrowheads="1"/>
              </p:cNvSpPr>
              <p:nvPr/>
            </p:nvSpPr>
            <p:spPr bwMode="auto">
              <a:xfrm>
                <a:off x="2880128" y="5975122"/>
                <a:ext cx="1930288" cy="79536"/>
              </a:xfrm>
              <a:prstGeom prst="rect">
                <a:avLst/>
              </a:prstGeom>
              <a:solidFill>
                <a:schemeClr val="accent5">
                  <a:alpha val="1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155" name="Rectangle 7"/>
              <p:cNvSpPr>
                <a:spLocks noChangeArrowheads="1"/>
              </p:cNvSpPr>
              <p:nvPr/>
            </p:nvSpPr>
            <p:spPr bwMode="auto">
              <a:xfrm>
                <a:off x="9626194" y="5975122"/>
                <a:ext cx="1936406" cy="79536"/>
              </a:xfrm>
              <a:prstGeom prst="rect">
                <a:avLst/>
              </a:prstGeom>
              <a:solidFill>
                <a:schemeClr val="accent5">
                  <a:alpha val="1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156" name="Rectangle 9"/>
              <p:cNvSpPr>
                <a:spLocks noChangeArrowheads="1"/>
              </p:cNvSpPr>
              <p:nvPr/>
            </p:nvSpPr>
            <p:spPr bwMode="auto">
              <a:xfrm>
                <a:off x="7372407" y="5975122"/>
                <a:ext cx="1936406" cy="79536"/>
              </a:xfrm>
              <a:prstGeom prst="rect">
                <a:avLst/>
              </a:prstGeom>
              <a:solidFill>
                <a:schemeClr val="accent5">
                  <a:alpha val="1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157" name="Rectangle 11"/>
              <p:cNvSpPr>
                <a:spLocks noChangeArrowheads="1"/>
              </p:cNvSpPr>
              <p:nvPr/>
            </p:nvSpPr>
            <p:spPr bwMode="auto">
              <a:xfrm>
                <a:off x="5127797" y="5975122"/>
                <a:ext cx="1927229" cy="79536"/>
              </a:xfrm>
              <a:prstGeom prst="rect">
                <a:avLst/>
              </a:prstGeom>
              <a:solidFill>
                <a:schemeClr val="accent5">
                  <a:alpha val="1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158" name="Rectangle 13"/>
              <p:cNvSpPr>
                <a:spLocks noChangeArrowheads="1"/>
              </p:cNvSpPr>
              <p:nvPr/>
            </p:nvSpPr>
            <p:spPr bwMode="auto">
              <a:xfrm>
                <a:off x="629400" y="5975122"/>
                <a:ext cx="1933347" cy="79536"/>
              </a:xfrm>
              <a:prstGeom prst="rect">
                <a:avLst/>
              </a:prstGeom>
              <a:solidFill>
                <a:schemeClr val="accent5">
                  <a:alpha val="1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grpSp>
        <p:sp>
          <p:nvSpPr>
            <p:cNvPr id="152" name="Live area"/>
            <p:cNvSpPr/>
            <p:nvPr/>
          </p:nvSpPr>
          <p:spPr>
            <a:xfrm>
              <a:off x="629400" y="2080801"/>
              <a:ext cx="10933200" cy="4078800"/>
            </a:xfrm>
            <a:custGeom>
              <a:avLst/>
              <a:gdLst>
                <a:gd name="connsiteX0" fmla="*/ 0 w 10931999"/>
                <a:gd name="connsiteY0" fmla="*/ 0 h 5537797"/>
                <a:gd name="connsiteX1" fmla="*/ 10931999 w 10931999"/>
                <a:gd name="connsiteY1" fmla="*/ 0 h 5537797"/>
                <a:gd name="connsiteX2" fmla="*/ 10931999 w 10931999"/>
                <a:gd name="connsiteY2" fmla="*/ 5537797 h 5537797"/>
                <a:gd name="connsiteX3" fmla="*/ 0 w 10931999"/>
                <a:gd name="connsiteY3" fmla="*/ 5537797 h 5537797"/>
              </a:gdLst>
              <a:ahLst/>
              <a:cxnLst>
                <a:cxn ang="0">
                  <a:pos x="connsiteX0" y="connsiteY0"/>
                </a:cxn>
                <a:cxn ang="0">
                  <a:pos x="connsiteX1" y="connsiteY1"/>
                </a:cxn>
                <a:cxn ang="0">
                  <a:pos x="connsiteX2" y="connsiteY2"/>
                </a:cxn>
                <a:cxn ang="0">
                  <a:pos x="connsiteX3" y="connsiteY3"/>
                </a:cxn>
              </a:cxnLst>
              <a:rect l="l" t="t" r="r" b="b"/>
              <a:pathLst>
                <a:path w="10931999" h="5537797">
                  <a:moveTo>
                    <a:pt x="0" y="0"/>
                  </a:moveTo>
                  <a:lnTo>
                    <a:pt x="10931999" y="0"/>
                  </a:lnTo>
                  <a:lnTo>
                    <a:pt x="10931999" y="5537797"/>
                  </a:lnTo>
                  <a:lnTo>
                    <a:pt x="0" y="5537797"/>
                  </a:lnTo>
                  <a:close/>
                </a:path>
              </a:pathLst>
            </a:custGeom>
            <a:noFill/>
            <a:ln w="9525">
              <a:solidFill>
                <a:srgbClr val="E71C57">
                  <a:alpha val="35000"/>
                </a:srgbClr>
              </a:solid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90000"/>
                </a:lnSpc>
                <a:spcAft>
                  <a:spcPts val="1000"/>
                </a:spcAft>
              </a:pPr>
              <a:endParaRPr lang="en-US" sz="1200">
                <a:solidFill>
                  <a:schemeClr val="bg1"/>
                </a:solidFill>
                <a:latin typeface="+mn-lt"/>
              </a:endParaRPr>
            </a:p>
          </p:txBody>
        </p:sp>
        <p:sp>
          <p:nvSpPr>
            <p:cNvPr id="153" name="Footnote example"/>
            <p:cNvSpPr txBox="1"/>
            <p:nvPr/>
          </p:nvSpPr>
          <p:spPr>
            <a:xfrm>
              <a:off x="630000" y="6144442"/>
              <a:ext cx="9030914" cy="415498"/>
            </a:xfrm>
            <a:prstGeom prst="rect">
              <a:avLst/>
            </a:prstGeom>
            <a:noFill/>
          </p:spPr>
          <p:txBody>
            <a:bodyPr wrap="square" lIns="0" tIns="0" rIns="0" bIns="0" rtlCol="0" anchor="b">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bg1">
                      <a:lumMod val="50000"/>
                    </a:schemeClr>
                  </a:solidFill>
                  <a:effectLst/>
                  <a:uLnTx/>
                  <a:uFillTx/>
                  <a:latin typeface="+mn-lt"/>
                  <a:ea typeface="+mn-ea"/>
                  <a:cs typeface="+mn-cs"/>
                  <a:sym typeface="Trebuchet MS" panose="020B0603020202020204" pitchFamily="34" charset="0"/>
                </a:rPr>
                <a:t>1. </a:t>
              </a:r>
              <a:r>
                <a:rPr kumimoji="0" lang="en-US" sz="1000" b="0" i="0" u="none" strike="noStrike" kern="1200" cap="none" spc="0" normalizeH="0" baseline="0" noProof="0" err="1">
                  <a:ln>
                    <a:noFill/>
                  </a:ln>
                  <a:solidFill>
                    <a:schemeClr val="bg1">
                      <a:lumMod val="50000"/>
                    </a:schemeClr>
                  </a:solidFill>
                  <a:effectLst/>
                  <a:uLnTx/>
                  <a:uFillTx/>
                  <a:latin typeface="+mn-lt"/>
                  <a:ea typeface="+mn-ea"/>
                  <a:cs typeface="+mn-cs"/>
                  <a:sym typeface="Trebuchet MS" panose="020B0603020202020204" pitchFamily="34" charset="0"/>
                </a:rPr>
                <a:t>xxxx</a:t>
              </a:r>
              <a:r>
                <a:rPr kumimoji="0" lang="en-US" sz="1000" b="0" i="0" u="none" strike="noStrike" kern="1200" cap="none" spc="0" normalizeH="0" baseline="0" noProof="0">
                  <a:ln>
                    <a:noFill/>
                  </a:ln>
                  <a:solidFill>
                    <a:schemeClr val="bg1">
                      <a:lumMod val="50000"/>
                    </a:schemeClr>
                  </a:solidFill>
                  <a:effectLst/>
                  <a:uLnTx/>
                  <a:uFillTx/>
                  <a:latin typeface="+mn-lt"/>
                  <a:ea typeface="+mn-ea"/>
                  <a:cs typeface="+mn-cs"/>
                  <a:sym typeface="Trebuchet MS" panose="020B0603020202020204" pitchFamily="34" charset="0"/>
                </a:rPr>
                <a:t>  2. </a:t>
              </a:r>
              <a:r>
                <a:rPr kumimoji="0" lang="en-US" sz="1000" b="0" i="0" u="none" strike="noStrike" kern="1200" cap="none" spc="0" normalizeH="0" baseline="0" noProof="0" err="1">
                  <a:ln>
                    <a:noFill/>
                  </a:ln>
                  <a:solidFill>
                    <a:schemeClr val="bg1">
                      <a:lumMod val="50000"/>
                    </a:schemeClr>
                  </a:solidFill>
                  <a:effectLst/>
                  <a:uLnTx/>
                  <a:uFillTx/>
                  <a:latin typeface="+mn-lt"/>
                  <a:ea typeface="+mn-ea"/>
                  <a:cs typeface="+mn-cs"/>
                  <a:sym typeface="Trebuchet MS" panose="020B0603020202020204" pitchFamily="34" charset="0"/>
                </a:rPr>
                <a:t>xxxx</a:t>
              </a:r>
              <a:r>
                <a:rPr kumimoji="0" lang="en-US" sz="1000" b="0" i="0" u="none" strike="noStrike" kern="1200" cap="none" spc="0" normalizeH="0" baseline="0" noProof="0">
                  <a:ln>
                    <a:noFill/>
                  </a:ln>
                  <a:solidFill>
                    <a:schemeClr val="bg1">
                      <a:lumMod val="50000"/>
                    </a:schemeClr>
                  </a:solidFill>
                  <a:effectLst/>
                  <a:uLnTx/>
                  <a:uFillTx/>
                  <a:latin typeface="+mn-lt"/>
                  <a:ea typeface="+mn-ea"/>
                  <a:cs typeface="+mn-cs"/>
                  <a:sym typeface="Trebuchet MS" panose="020B0603020202020204" pitchFamily="34" charset="0"/>
                </a:rPr>
                <a:t>  3. List footnotes in numerical order. Footnote numbers are not bracketed. Use 10pt font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bg1">
                      <a:lumMod val="50000"/>
                    </a:schemeClr>
                  </a:solidFill>
                  <a:effectLst/>
                  <a:uLnTx/>
                  <a:uFillTx/>
                  <a:latin typeface="+mn-lt"/>
                  <a:ea typeface="+mn-ea"/>
                  <a:cs typeface="+mn-cs"/>
                  <a:sym typeface="Trebuchet MS" panose="020B0603020202020204" pitchFamily="34" charset="0"/>
                </a:rPr>
                <a:t>Note: Do not put a period at the end of the note or the source</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bg1">
                      <a:lumMod val="50000"/>
                    </a:schemeClr>
                  </a:solidFill>
                  <a:effectLst/>
                  <a:uLnTx/>
                  <a:uFillTx/>
                  <a:latin typeface="+mn-lt"/>
                  <a:ea typeface="+mn-ea"/>
                  <a:cs typeface="+mn-cs"/>
                  <a:sym typeface="Trebuchet MS" panose="020B0603020202020204" pitchFamily="34" charset="0"/>
                </a:rPr>
                <a:t>Source: Include a source for every chart that you use. Separate sources with a semicolon; BCG-related sources go at the end</a:t>
              </a:r>
            </a:p>
          </p:txBody>
        </p:sp>
      </p:grpSp>
      <p:sp>
        <p:nvSpPr>
          <p:cNvPr id="2" name="Date Placeholder 1"/>
          <p:cNvSpPr>
            <a:spLocks noGrp="1"/>
          </p:cNvSpPr>
          <p:nvPr>
            <p:ph type="dt" sz="half" idx="10"/>
          </p:nvPr>
        </p:nvSpPr>
        <p:spPr/>
        <p:txBody>
          <a:bodyPr/>
          <a:lstStyle>
            <a:lvl1pPr>
              <a:defRPr>
                <a:solidFill>
                  <a:schemeClr val="bg1">
                    <a:lumMod val="50000"/>
                  </a:schemeClr>
                </a:solidFill>
                <a:latin typeface="+mn-lt"/>
                <a:sym typeface="Trebuchet MS" panose="020B0603020202020204" pitchFamily="34" charset="0"/>
              </a:defRPr>
            </a:lvl1pPr>
          </a:lstStyle>
          <a:p>
            <a:endParaRPr lang="en-US"/>
          </a:p>
        </p:txBody>
      </p:sp>
      <p:sp>
        <p:nvSpPr>
          <p:cNvPr id="56"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2024 by Boston Consulting Group. All rights reserved.</a:t>
            </a:r>
          </a:p>
        </p:txBody>
      </p:sp>
    </p:spTree>
    <p:extLst>
      <p:ext uri="{BB962C8B-B14F-4D97-AF65-F5344CB8AC3E}">
        <p14:creationId xmlns:p14="http://schemas.microsoft.com/office/powerpoint/2010/main" val="381875407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59.xml><?xml version="1.0" encoding="utf-8"?>
<p:sldLayout xmlns:a="http://schemas.openxmlformats.org/drawingml/2006/main" xmlns:r="http://schemas.openxmlformats.org/officeDocument/2006/relationships" xmlns:p="http://schemas.openxmlformats.org/presentationml/2006/main" showMasterSp="0" preserve="1" userDrawn="1">
  <p:cSld name="Agenda Section Header Overview">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userDrawn="1">
            <p:custDataLst>
              <p:tags r:id="rId1"/>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4" imgW="270" imgH="270" progId="TCLayout.ActiveDocument.1">
                  <p:embed/>
                </p:oleObj>
              </mc:Choice>
              <mc:Fallback>
                <p:oleObj name="think-cell Slide" r:id="rId4" imgW="270" imgH="270" progId="TCLayout.ActiveDocument.1">
                  <p:embed/>
                  <p:pic>
                    <p:nvPicPr>
                      <p:cNvPr id="3" name="Object 2" hidden="1"/>
                      <p:cNvPicPr/>
                      <p:nvPr/>
                    </p:nvPicPr>
                    <p:blipFill>
                      <a:blip r:embed="rId5"/>
                      <a:stretch>
                        <a:fillRect/>
                      </a:stretch>
                    </p:blipFill>
                    <p:spPr>
                      <a:xfrm>
                        <a:off x="1588" y="1588"/>
                        <a:ext cx="1587" cy="1587"/>
                      </a:xfrm>
                      <a:prstGeom prst="rect">
                        <a:avLst/>
                      </a:prstGeom>
                    </p:spPr>
                  </p:pic>
                </p:oleObj>
              </mc:Fallback>
            </mc:AlternateContent>
          </a:graphicData>
        </a:graphic>
      </p:graphicFrame>
      <p:sp>
        <p:nvSpPr>
          <p:cNvPr id="7" name="TextBox 6"/>
          <p:cNvSpPr txBox="1"/>
          <p:nvPr userDrawn="1"/>
        </p:nvSpPr>
        <p:spPr bwMode="white">
          <a:xfrm>
            <a:off x="11167872" y="6404400"/>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Trebuchet MS" panose="020B0603020202020204" pitchFamily="34" charset="0"/>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Trebuchet MS" panose="020B0603020202020204" pitchFamily="34" charset="0"/>
              <a:ea typeface="+mn-ea"/>
              <a:cs typeface="+mn-cs"/>
              <a:sym typeface="Trebuchet MS" panose="020B0603020202020204" pitchFamily="34" charset="0"/>
            </a:endParaRPr>
          </a:p>
        </p:txBody>
      </p:sp>
      <p:sp>
        <p:nvSpPr>
          <p:cNvPr id="9"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Trebuchet MS" panose="020B0603020202020204" pitchFamily="34" charset="0"/>
                <a:sym typeface="Trebuchet MS" panose="020B0603020202020204" pitchFamily="34" charset="0"/>
              </a:rPr>
              <a:t>Copyright © 2024 by Boston Consulting Group. All rights reserved.</a:t>
            </a:r>
          </a:p>
        </p:txBody>
      </p:sp>
      <p:sp>
        <p:nvSpPr>
          <p:cNvPr id="11" name="Rectangle 10"/>
          <p:cNvSpPr/>
          <p:nvPr userDrawn="1"/>
        </p:nvSpPr>
        <p:spPr bwMode="invGray">
          <a:xfrm>
            <a:off x="1388145" y="4691187"/>
            <a:ext cx="929337" cy="995874"/>
          </a:xfrm>
          <a:prstGeom prst="rect">
            <a:avLst/>
          </a:prstGeom>
          <a:noFill/>
          <a:ln w="9525">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auto">
              <a:lnSpc>
                <a:spcPct val="95000"/>
              </a:lnSpc>
              <a:spcBef>
                <a:spcPts val="0"/>
              </a:spcBef>
              <a:spcAft>
                <a:spcPts val="0"/>
              </a:spcAft>
            </a:pPr>
            <a:endParaRPr lang="en-US" sz="2000">
              <a:solidFill>
                <a:prstClr val="white"/>
              </a:solidFill>
              <a:latin typeface="Trebuchet MS" panose="020B0603020202020204" pitchFamily="34" charset="0"/>
            </a:endParaRPr>
          </a:p>
        </p:txBody>
      </p:sp>
      <p:sp>
        <p:nvSpPr>
          <p:cNvPr id="12" name="Rectangle 11"/>
          <p:cNvSpPr/>
          <p:nvPr userDrawn="1">
            <p:custDataLst>
              <p:tags r:id="rId2"/>
            </p:custDataLst>
          </p:nvPr>
        </p:nvSpPr>
        <p:spPr>
          <a:xfrm>
            <a:off x="2509482" y="4691187"/>
            <a:ext cx="1570152" cy="1468176"/>
          </a:xfrm>
          <a:prstGeom prst="rect">
            <a:avLst/>
          </a:prstGeom>
          <a:noFill/>
          <a:ln w="9525" cmpd="sng">
            <a:solidFill>
              <a:srgbClr val="FFFFFF"/>
            </a:solidFill>
            <a:prstDash val="solid"/>
            <a:miter lim="800000"/>
          </a:ln>
          <a:extLst>
            <a:ext uri="{909E8E84-426E-40DD-AFC4-6F175D3DCCD1}">
              <a14:hiddenFill xmlns:a14="http://schemas.microsoft.com/office/drawing/2010/main">
                <a:solidFill>
                  <a:schemeClr val="tx1">
                    <a:lumMod val="60000"/>
                    <a:lumOff val="40000"/>
                  </a:schemeClr>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180000" rIns="182880" bIns="182880" numCol="1" spcCol="0" rtlCol="0" fromWordArt="0" anchor="t" anchorCtr="0" forceAA="0" compatLnSpc="1">
            <a:prstTxWarp prst="textNoShape">
              <a:avLst/>
            </a:prstTxWarp>
            <a:noAutofit/>
          </a:bodyPr>
          <a:lstStyle/>
          <a:p>
            <a:pPr>
              <a:lnSpc>
                <a:spcPct val="95000"/>
              </a:lnSpc>
            </a:pPr>
            <a:endParaRPr lang="en-US" sz="1200">
              <a:solidFill>
                <a:srgbClr val="FFFFFF"/>
              </a:solidFill>
              <a:latin typeface="Trebuchet MS" panose="020B0603020202020204" pitchFamily="34" charset="0"/>
            </a:endParaRPr>
          </a:p>
        </p:txBody>
      </p:sp>
      <p:sp>
        <p:nvSpPr>
          <p:cNvPr id="2" name="TextBox 1"/>
          <p:cNvSpPr txBox="1"/>
          <p:nvPr userDrawn="1"/>
        </p:nvSpPr>
        <p:spPr>
          <a:xfrm>
            <a:off x="630000" y="907199"/>
            <a:ext cx="3448800" cy="3488400"/>
          </a:xfrm>
          <a:prstGeom prst="rect">
            <a:avLst/>
          </a:prstGeom>
          <a:noFill/>
          <a:ln>
            <a:solidFill>
              <a:schemeClr val="bg1"/>
            </a:solidFill>
          </a:ln>
        </p:spPr>
        <p:txBody>
          <a:bodyPr wrap="square" lIns="612000" tIns="468000" rIns="0" bIns="0" rtlCol="0" anchor="t">
            <a:spAutoFit/>
          </a:bodyPr>
          <a:lstStyle/>
          <a:p>
            <a:pPr>
              <a:lnSpc>
                <a:spcPct val="90000"/>
              </a:lnSpc>
              <a:spcAft>
                <a:spcPts val="600"/>
              </a:spcAft>
            </a:pPr>
            <a:endParaRPr lang="en-US" sz="5400">
              <a:solidFill>
                <a:schemeClr val="bg1"/>
              </a:solidFill>
            </a:endParaRPr>
          </a:p>
        </p:txBody>
      </p:sp>
      <p:sp>
        <p:nvSpPr>
          <p:cNvPr id="10" name="TextBox 1"/>
          <p:cNvSpPr txBox="1"/>
          <p:nvPr userDrawn="1"/>
        </p:nvSpPr>
        <p:spPr>
          <a:xfrm>
            <a:off x="1109949" y="1115416"/>
            <a:ext cx="2488182" cy="896399"/>
          </a:xfrm>
          <a:prstGeom prst="rect">
            <a:avLst/>
          </a:prstGeom>
          <a:noFill/>
        </p:spPr>
        <p:txBody>
          <a:bodyPr wrap="none" rtlCol="0">
            <a:spAutoFit/>
          </a:bodyPr>
          <a:lstStyle/>
          <a:p>
            <a:pPr algn="ctr" fontAlgn="auto">
              <a:lnSpc>
                <a:spcPct val="95000"/>
              </a:lnSpc>
              <a:spcBef>
                <a:spcPts val="0"/>
              </a:spcBef>
              <a:spcAft>
                <a:spcPts val="0"/>
              </a:spcAft>
            </a:pPr>
            <a:r>
              <a:rPr lang="en-US" sz="5400">
                <a:solidFill>
                  <a:schemeClr val="bg1"/>
                </a:solidFill>
                <a:latin typeface="+mj-lt"/>
              </a:rPr>
              <a:t>Agenda</a:t>
            </a:r>
          </a:p>
        </p:txBody>
      </p:sp>
    </p:spTree>
    <p:extLst>
      <p:ext uri="{BB962C8B-B14F-4D97-AF65-F5344CB8AC3E}">
        <p14:creationId xmlns:p14="http://schemas.microsoft.com/office/powerpoint/2010/main" val="257031406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60.xml><?xml version="1.0" encoding="utf-8"?>
<p:sldLayout xmlns:a="http://schemas.openxmlformats.org/drawingml/2006/main" xmlns:r="http://schemas.openxmlformats.org/officeDocument/2006/relationships" xmlns:p="http://schemas.openxmlformats.org/presentationml/2006/main" showMasterSp="0" preserve="1" userDrawn="1">
  <p:cSld name="Agenda Section Header">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userDrawn="1">
            <p:custDataLst>
              <p:tags r:id="rId1"/>
            </p:custDataLst>
            <p:extLst>
              <p:ext uri="{D42A27DB-BD31-4B8C-83A1-F6EECF244321}">
                <p14:modId xmlns:p14="http://schemas.microsoft.com/office/powerpoint/2010/main" val="1963492020"/>
              </p:ext>
            </p:ext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3" imgW="270" imgH="270" progId="TCLayout.ActiveDocument.1">
                  <p:embed/>
                </p:oleObj>
              </mc:Choice>
              <mc:Fallback>
                <p:oleObj name="think-cell Slide" r:id="rId3" imgW="270" imgH="270" progId="TCLayout.ActiveDocument.1">
                  <p:embed/>
                  <p:pic>
                    <p:nvPicPr>
                      <p:cNvPr id="3" name="Object 2" hidden="1"/>
                      <p:cNvPicPr/>
                      <p:nvPr/>
                    </p:nvPicPr>
                    <p:blipFill>
                      <a:blip r:embed="rId4"/>
                      <a:stretch>
                        <a:fillRect/>
                      </a:stretch>
                    </p:blipFill>
                    <p:spPr>
                      <a:xfrm>
                        <a:off x="1588" y="1588"/>
                        <a:ext cx="1587" cy="1587"/>
                      </a:xfrm>
                      <a:prstGeom prst="rect">
                        <a:avLst/>
                      </a:prstGeom>
                    </p:spPr>
                  </p:pic>
                </p:oleObj>
              </mc:Fallback>
            </mc:AlternateContent>
          </a:graphicData>
        </a:graphic>
      </p:graphicFrame>
      <p:sp>
        <p:nvSpPr>
          <p:cNvPr id="7" name="TextBox 6"/>
          <p:cNvSpPr txBox="1"/>
          <p:nvPr userDrawn="1"/>
        </p:nvSpPr>
        <p:spPr bwMode="white">
          <a:xfrm>
            <a:off x="11167872" y="6404400"/>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Trebuchet MS" panose="020B0603020202020204" pitchFamily="34" charset="0"/>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Trebuchet MS" panose="020B0603020202020204" pitchFamily="34" charset="0"/>
              <a:ea typeface="+mn-ea"/>
              <a:cs typeface="+mn-cs"/>
              <a:sym typeface="Trebuchet MS" panose="020B0603020202020204" pitchFamily="34" charset="0"/>
            </a:endParaRPr>
          </a:p>
        </p:txBody>
      </p:sp>
      <p:sp>
        <p:nvSpPr>
          <p:cNvPr id="9"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Trebuchet MS" panose="020B0603020202020204" pitchFamily="34" charset="0"/>
                <a:sym typeface="Trebuchet MS" panose="020B0603020202020204" pitchFamily="34" charset="0"/>
              </a:rPr>
              <a:t>Copyright © 2024 by Boston Consulting Group. All rights reserved.</a:t>
            </a:r>
          </a:p>
        </p:txBody>
      </p:sp>
      <p:sp>
        <p:nvSpPr>
          <p:cNvPr id="10" name="Rectangle 9"/>
          <p:cNvSpPr/>
          <p:nvPr userDrawn="1"/>
        </p:nvSpPr>
        <p:spPr bwMode="white">
          <a:xfrm>
            <a:off x="1284743" y="1428131"/>
            <a:ext cx="947672" cy="947672"/>
          </a:xfrm>
          <a:prstGeom prst="rect">
            <a:avLst/>
          </a:prstGeom>
          <a:noFill/>
          <a:ln w="9525">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l"/>
            <a:endParaRPr lang="en-US" sz="1200">
              <a:solidFill>
                <a:schemeClr val="bg1"/>
              </a:solidFill>
              <a:latin typeface="Trebuchet MS" panose="020B0603020202020204" pitchFamily="34" charset="0"/>
              <a:sym typeface="Trebuchet MS" panose="020B0603020202020204" pitchFamily="34" charset="0"/>
            </a:endParaRPr>
          </a:p>
        </p:txBody>
      </p:sp>
      <p:sp>
        <p:nvSpPr>
          <p:cNvPr id="13" name="Rectangle 12"/>
          <p:cNvSpPr/>
          <p:nvPr userDrawn="1"/>
        </p:nvSpPr>
        <p:spPr>
          <a:xfrm>
            <a:off x="1285200" y="2667600"/>
            <a:ext cx="9619200" cy="3200400"/>
          </a:xfrm>
          <a:prstGeom prst="rect">
            <a:avLst/>
          </a:prstGeom>
          <a:noFill/>
          <a:ln w="9525">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auto">
              <a:spcBef>
                <a:spcPts val="0"/>
              </a:spcBef>
              <a:spcAft>
                <a:spcPts val="0"/>
              </a:spcAft>
            </a:pPr>
            <a:endParaRPr lang="en-US" sz="2000">
              <a:solidFill>
                <a:prstClr val="white"/>
              </a:solidFill>
              <a:latin typeface="Trebuchet MS" panose="020B0603020202020204" pitchFamily="34" charset="0"/>
            </a:endParaRPr>
          </a:p>
        </p:txBody>
      </p:sp>
    </p:spTree>
    <p:extLst>
      <p:ext uri="{BB962C8B-B14F-4D97-AF65-F5344CB8AC3E}">
        <p14:creationId xmlns:p14="http://schemas.microsoft.com/office/powerpoint/2010/main" val="37292859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61.xml><?xml version="1.0" encoding="utf-8"?>
<p:sldLayout xmlns:a="http://schemas.openxmlformats.org/drawingml/2006/main" xmlns:r="http://schemas.openxmlformats.org/officeDocument/2006/relationships" xmlns:p="http://schemas.openxmlformats.org/presentationml/2006/main" showMasterSp="0" preserve="1" userDrawn="1">
  <p:cSld name="Agenda Full Width Overview">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userDrawn="1">
            <p:custDataLst>
              <p:tags r:id="rId1"/>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3" imgW="270" imgH="270" progId="TCLayout.ActiveDocument.1">
                  <p:embed/>
                </p:oleObj>
              </mc:Choice>
              <mc:Fallback>
                <p:oleObj name="think-cell Slide" r:id="rId3" imgW="270" imgH="270" progId="TCLayout.ActiveDocument.1">
                  <p:embed/>
                  <p:pic>
                    <p:nvPicPr>
                      <p:cNvPr id="3" name="Object 2" hidden="1"/>
                      <p:cNvPicPr/>
                      <p:nvPr/>
                    </p:nvPicPr>
                    <p:blipFill>
                      <a:blip r:embed="rId4"/>
                      <a:stretch>
                        <a:fillRect/>
                      </a:stretch>
                    </p:blipFill>
                    <p:spPr>
                      <a:xfrm>
                        <a:off x="1588" y="1588"/>
                        <a:ext cx="1587" cy="1587"/>
                      </a:xfrm>
                      <a:prstGeom prst="rect">
                        <a:avLst/>
                      </a:prstGeom>
                    </p:spPr>
                  </p:pic>
                </p:oleObj>
              </mc:Fallback>
            </mc:AlternateContent>
          </a:graphicData>
        </a:graphic>
      </p:graphicFrame>
      <p:sp>
        <p:nvSpPr>
          <p:cNvPr id="7" name="TextBox 6"/>
          <p:cNvSpPr txBox="1"/>
          <p:nvPr userDrawn="1"/>
        </p:nvSpPr>
        <p:spPr bwMode="white">
          <a:xfrm>
            <a:off x="11167872" y="6404400"/>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Trebuchet MS" panose="020B0603020202020204" pitchFamily="34" charset="0"/>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Trebuchet MS" panose="020B0603020202020204" pitchFamily="34" charset="0"/>
              <a:ea typeface="+mn-ea"/>
              <a:cs typeface="+mn-cs"/>
              <a:sym typeface="Trebuchet MS" panose="020B0603020202020204" pitchFamily="34" charset="0"/>
            </a:endParaRPr>
          </a:p>
        </p:txBody>
      </p:sp>
      <p:sp>
        <p:nvSpPr>
          <p:cNvPr id="9"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Trebuchet MS" panose="020B0603020202020204" pitchFamily="34" charset="0"/>
                <a:sym typeface="Trebuchet MS" panose="020B0603020202020204" pitchFamily="34" charset="0"/>
              </a:rPr>
              <a:t>Copyright © 2024 by Boston Consulting Group. All rights reserved.</a:t>
            </a:r>
          </a:p>
        </p:txBody>
      </p:sp>
      <p:sp>
        <p:nvSpPr>
          <p:cNvPr id="10" name="Title 1"/>
          <p:cNvSpPr txBox="1">
            <a:spLocks/>
          </p:cNvSpPr>
          <p:nvPr userDrawn="1"/>
        </p:nvSpPr>
        <p:spPr>
          <a:xfrm>
            <a:off x="630000" y="622800"/>
            <a:ext cx="7189998" cy="470898"/>
          </a:xfrm>
          <a:prstGeom prst="rect">
            <a:avLst/>
          </a:prstGeom>
        </p:spPr>
        <p:txBody>
          <a:bodyPr vert="horz" wrap="square" lIns="0" tIns="0" rIns="0" bIns="0" rtlCol="0" anchor="t" anchorCtr="0">
            <a:spAutoFit/>
          </a:bodyPr>
          <a:lstStyle>
            <a:lvl1pPr marL="0" indent="0" algn="l" defTabSz="914400" rtl="0" eaLnBrk="1" latinLnBrk="0" hangingPunct="1">
              <a:lnSpc>
                <a:spcPct val="90000"/>
              </a:lnSpc>
              <a:spcBef>
                <a:spcPct val="0"/>
              </a:spcBef>
              <a:spcAft>
                <a:spcPts val="0"/>
              </a:spcAft>
              <a:buNone/>
              <a:defRPr sz="3400" b="0" i="0" u="none" kern="1200" spc="0">
                <a:solidFill>
                  <a:schemeClr val="tx2">
                    <a:lumMod val="100000"/>
                  </a:schemeClr>
                </a:solidFill>
                <a:latin typeface="Trebuchet MS" panose="020B0603020202020204" pitchFamily="34" charset="0"/>
                <a:ea typeface="+mj-ea"/>
                <a:cs typeface="+mj-cs"/>
                <a:sym typeface="Trebuchet MS" panose="020B0603020202020204" pitchFamily="34" charset="0"/>
              </a:defRPr>
            </a:lvl1pPr>
          </a:lstStyle>
          <a:p>
            <a:r>
              <a:rPr lang="en-US">
                <a:solidFill>
                  <a:schemeClr val="bg1"/>
                </a:solidFill>
              </a:rPr>
              <a:t>Agenda</a:t>
            </a:r>
          </a:p>
        </p:txBody>
      </p:sp>
      <p:cxnSp>
        <p:nvCxnSpPr>
          <p:cNvPr id="13" name="Straight Connector 12"/>
          <p:cNvCxnSpPr/>
          <p:nvPr userDrawn="1"/>
        </p:nvCxnSpPr>
        <p:spPr bwMode="white">
          <a:xfrm>
            <a:off x="618898" y="1206000"/>
            <a:ext cx="11576304" cy="0"/>
          </a:xfrm>
          <a:prstGeom prst="line">
            <a:avLst/>
          </a:prstGeom>
          <a:ln w="9525" cmpd="sng">
            <a:solidFill>
              <a:schemeClr val="bg1"/>
            </a:solidFill>
            <a:miter lim="800000"/>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1607717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62.xml><?xml version="1.0" encoding="utf-8"?>
<p:sldLayout xmlns:a="http://schemas.openxmlformats.org/drawingml/2006/main" xmlns:r="http://schemas.openxmlformats.org/officeDocument/2006/relationships" xmlns:p="http://schemas.openxmlformats.org/presentationml/2006/main" showMasterSp="0" preserve="1" userDrawn="1">
  <p:cSld name="Agenda Two-Thirds">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1"/>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3" imgW="270" imgH="270" progId="TCLayout.ActiveDocument.1">
                  <p:embed/>
                </p:oleObj>
              </mc:Choice>
              <mc:Fallback>
                <p:oleObj name="think-cell Slide" r:id="rId3" imgW="270" imgH="270" progId="TCLayout.ActiveDocument.1">
                  <p:embed/>
                  <p:pic>
                    <p:nvPicPr>
                      <p:cNvPr id="2" name="Object 1" hidden="1"/>
                      <p:cNvPicPr/>
                      <p:nvPr/>
                    </p:nvPicPr>
                    <p:blipFill>
                      <a:blip r:embed="rId4"/>
                      <a:stretch>
                        <a:fillRect/>
                      </a:stretch>
                    </p:blipFill>
                    <p:spPr>
                      <a:xfrm>
                        <a:off x="1588" y="1588"/>
                        <a:ext cx="1587" cy="1587"/>
                      </a:xfrm>
                      <a:prstGeom prst="rect">
                        <a:avLst/>
                      </a:prstGeom>
                    </p:spPr>
                  </p:pic>
                </p:oleObj>
              </mc:Fallback>
            </mc:AlternateContent>
          </a:graphicData>
        </a:graphic>
      </p:graphicFrame>
      <p:pic>
        <p:nvPicPr>
          <p:cNvPr id="10" name="Picture 9"/>
          <p:cNvPicPr>
            <a:picLocks noChangeAspect="1"/>
          </p:cNvPicPr>
          <p:nvPr userDrawn="1"/>
        </p:nvPicPr>
        <p:blipFill rotWithShape="1">
          <a:blip r:embed="rId5">
            <a:extLst>
              <a:ext uri="{28A0092B-C50C-407E-A947-70E740481C1C}">
                <a14:useLocalDpi xmlns:a14="http://schemas.microsoft.com/office/drawing/2010/main" val="0"/>
              </a:ext>
            </a:extLst>
          </a:blip>
          <a:srcRect l="29398" t="8741" r="101" b="27"/>
          <a:stretch/>
        </p:blipFill>
        <p:spPr bwMode="ltGray">
          <a:xfrm flipH="1">
            <a:off x="3671068" y="0"/>
            <a:ext cx="416951" cy="6858000"/>
          </a:xfrm>
          <a:prstGeom prst="rect">
            <a:avLst/>
          </a:prstGeom>
        </p:spPr>
      </p:pic>
      <p:sp>
        <p:nvSpPr>
          <p:cNvPr id="13" name="Rectangle 12"/>
          <p:cNvSpPr/>
          <p:nvPr userDrawn="1"/>
        </p:nvSpPr>
        <p:spPr bwMode="white">
          <a:xfrm>
            <a:off x="4080763" y="-1309"/>
            <a:ext cx="8111237" cy="685930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endParaRPr lang="en-US" sz="1200">
              <a:solidFill>
                <a:schemeClr val="bg1"/>
              </a:solidFill>
              <a:latin typeface="+mn-lt"/>
              <a:sym typeface="Trebuchet MS" panose="020B0603020202020204" pitchFamily="34" charset="0"/>
            </a:endParaRPr>
          </a:p>
        </p:txBody>
      </p:sp>
      <p:sp>
        <p:nvSpPr>
          <p:cNvPr id="16"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2024 by Boston Consulting Group. All rights reserved.</a:t>
            </a:r>
          </a:p>
        </p:txBody>
      </p:sp>
      <p:sp>
        <p:nvSpPr>
          <p:cNvPr id="15" name="TextBox 14"/>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lumMod val="50000"/>
                  </a:schemeClr>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lumMod val="50000"/>
                </a:schemeClr>
              </a:solidFill>
              <a:latin typeface="+mn-lt"/>
              <a:ea typeface="+mn-ea"/>
              <a:cs typeface="+mn-cs"/>
              <a:sym typeface="Trebuchet MS" panose="020B0603020202020204" pitchFamily="34" charset="0"/>
            </a:endParaRPr>
          </a:p>
        </p:txBody>
      </p:sp>
      <p:sp>
        <p:nvSpPr>
          <p:cNvPr id="17" name="TextBox 16"/>
          <p:cNvSpPr txBox="1"/>
          <p:nvPr userDrawn="1"/>
        </p:nvSpPr>
        <p:spPr>
          <a:xfrm>
            <a:off x="630000" y="3207715"/>
            <a:ext cx="1547143" cy="443198"/>
          </a:xfrm>
          <a:prstGeom prst="rect">
            <a:avLst/>
          </a:prstGeom>
          <a:noFill/>
        </p:spPr>
        <p:txBody>
          <a:bodyPr wrap="square" lIns="0" tIns="0" rIns="0" bIns="0" rtlCol="0" anchor="t">
            <a:spAutoFit/>
          </a:bodyPr>
          <a:lstStyle/>
          <a:p>
            <a:pPr>
              <a:lnSpc>
                <a:spcPct val="90000"/>
              </a:lnSpc>
              <a:spcAft>
                <a:spcPts val="600"/>
              </a:spcAft>
            </a:pPr>
            <a:r>
              <a:rPr lang="en-US" sz="3200">
                <a:solidFill>
                  <a:schemeClr val="bg1"/>
                </a:solidFill>
              </a:rPr>
              <a:t>Agenda</a:t>
            </a:r>
          </a:p>
        </p:txBody>
      </p:sp>
    </p:spTree>
    <p:extLst>
      <p:ext uri="{BB962C8B-B14F-4D97-AF65-F5344CB8AC3E}">
        <p14:creationId xmlns:p14="http://schemas.microsoft.com/office/powerpoint/2010/main" val="227019094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p:cSld name="Agenda D. Section Header Overview">
    <p:bg>
      <p:bgPr>
        <a:solidFill>
          <a:schemeClr val="bg1"/>
        </a:solidFill>
        <a:effectLst/>
      </p:bgPr>
    </p:bg>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1"/>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4" imgW="270" imgH="270" progId="TCLayout.ActiveDocument.1">
                  <p:embed/>
                </p:oleObj>
              </mc:Choice>
              <mc:Fallback>
                <p:oleObj name="think-cell Slide" r:id="rId4" imgW="270" imgH="270" progId="TCLayout.ActiveDocument.1">
                  <p:embed/>
                  <p:pic>
                    <p:nvPicPr>
                      <p:cNvPr id="2" name="Object 1" hidden="1"/>
                      <p:cNvPicPr/>
                      <p:nvPr/>
                    </p:nvPicPr>
                    <p:blipFill>
                      <a:blip r:embed="rId5"/>
                      <a:stretch>
                        <a:fillRect/>
                      </a:stretch>
                    </p:blipFill>
                    <p:spPr>
                      <a:xfrm>
                        <a:off x="1588" y="1588"/>
                        <a:ext cx="1587" cy="1587"/>
                      </a:xfrm>
                      <a:prstGeom prst="rect">
                        <a:avLst/>
                      </a:prstGeom>
                    </p:spPr>
                  </p:pic>
                </p:oleObj>
              </mc:Fallback>
            </mc:AlternateContent>
          </a:graphicData>
        </a:graphic>
      </p:graphicFrame>
      <p:sp>
        <p:nvSpPr>
          <p:cNvPr id="5"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Trebuchet MS" panose="020B0603020202020204" pitchFamily="34" charset="0"/>
                <a:sym typeface="Trebuchet MS" panose="020B0603020202020204" pitchFamily="34" charset="0"/>
              </a:rPr>
              <a:t>Copyright © 2024 by Boston Consulting Group. All rights reserved.</a:t>
            </a:r>
          </a:p>
        </p:txBody>
      </p:sp>
      <p:sp>
        <p:nvSpPr>
          <p:cNvPr id="8" name="Rectangle 7"/>
          <p:cNvSpPr/>
          <p:nvPr userDrawn="1"/>
        </p:nvSpPr>
        <p:spPr bwMode="invGray">
          <a:xfrm>
            <a:off x="1388145" y="4691187"/>
            <a:ext cx="929337" cy="995874"/>
          </a:xfrm>
          <a:prstGeom prst="rect">
            <a:avLst/>
          </a:prstGeom>
          <a:noFill/>
          <a:ln w="9525">
            <a:solidFill>
              <a:schemeClr val="accent4"/>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auto">
              <a:lnSpc>
                <a:spcPct val="95000"/>
              </a:lnSpc>
              <a:spcBef>
                <a:spcPts val="0"/>
              </a:spcBef>
              <a:spcAft>
                <a:spcPts val="0"/>
              </a:spcAft>
            </a:pPr>
            <a:endParaRPr lang="en-US" sz="2000">
              <a:solidFill>
                <a:prstClr val="white"/>
              </a:solidFill>
              <a:latin typeface="Trebuchet MS" panose="020B0603020202020204" pitchFamily="34" charset="0"/>
            </a:endParaRPr>
          </a:p>
        </p:txBody>
      </p:sp>
      <p:sp>
        <p:nvSpPr>
          <p:cNvPr id="10" name="Rectangle 9"/>
          <p:cNvSpPr/>
          <p:nvPr userDrawn="1">
            <p:custDataLst>
              <p:tags r:id="rId2"/>
            </p:custDataLst>
          </p:nvPr>
        </p:nvSpPr>
        <p:spPr>
          <a:xfrm>
            <a:off x="2509482" y="4691187"/>
            <a:ext cx="1570152" cy="1468176"/>
          </a:xfrm>
          <a:prstGeom prst="rect">
            <a:avLst/>
          </a:prstGeom>
          <a:noFill/>
          <a:ln w="9525" cmpd="sng">
            <a:solidFill>
              <a:schemeClr val="accent4"/>
            </a:solidFill>
            <a:prstDash val="solid"/>
            <a:miter lim="800000"/>
          </a:ln>
          <a:extLst>
            <a:ext uri="{909E8E84-426E-40DD-AFC4-6F175D3DCCD1}">
              <a14:hiddenFill xmlns:a14="http://schemas.microsoft.com/office/drawing/2010/main">
                <a:solidFill>
                  <a:schemeClr val="tx1">
                    <a:lumMod val="60000"/>
                    <a:lumOff val="40000"/>
                  </a:schemeClr>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180000" rIns="182880" bIns="182880" numCol="1" spcCol="0" rtlCol="0" fromWordArt="0" anchor="t" anchorCtr="0" forceAA="0" compatLnSpc="1">
            <a:prstTxWarp prst="textNoShape">
              <a:avLst/>
            </a:prstTxWarp>
            <a:noAutofit/>
          </a:bodyPr>
          <a:lstStyle/>
          <a:p>
            <a:pPr>
              <a:lnSpc>
                <a:spcPct val="95000"/>
              </a:lnSpc>
            </a:pPr>
            <a:endParaRPr lang="en-US" sz="1200">
              <a:solidFill>
                <a:srgbClr val="FFFFFF"/>
              </a:solidFill>
              <a:latin typeface="Trebuchet MS" panose="020B0603020202020204" pitchFamily="34" charset="0"/>
            </a:endParaRPr>
          </a:p>
        </p:txBody>
      </p:sp>
      <p:sp>
        <p:nvSpPr>
          <p:cNvPr id="11" name="TextBox 10"/>
          <p:cNvSpPr txBox="1"/>
          <p:nvPr userDrawn="1"/>
        </p:nvSpPr>
        <p:spPr>
          <a:xfrm>
            <a:off x="630000" y="907198"/>
            <a:ext cx="3448800" cy="3488400"/>
          </a:xfrm>
          <a:prstGeom prst="rect">
            <a:avLst/>
          </a:prstGeom>
          <a:noFill/>
          <a:ln>
            <a:solidFill>
              <a:schemeClr val="accent4"/>
            </a:solidFill>
          </a:ln>
        </p:spPr>
        <p:txBody>
          <a:bodyPr wrap="square" lIns="612000" tIns="468000" rIns="0" bIns="0" rtlCol="0" anchor="t">
            <a:spAutoFit/>
          </a:bodyPr>
          <a:lstStyle/>
          <a:p>
            <a:pPr>
              <a:lnSpc>
                <a:spcPct val="90000"/>
              </a:lnSpc>
              <a:spcAft>
                <a:spcPts val="600"/>
              </a:spcAft>
            </a:pPr>
            <a:endParaRPr lang="en-US" sz="5400">
              <a:solidFill>
                <a:schemeClr val="accent4"/>
              </a:solidFill>
            </a:endParaRPr>
          </a:p>
        </p:txBody>
      </p:sp>
      <p:sp>
        <p:nvSpPr>
          <p:cNvPr id="9" name="TextBox 1"/>
          <p:cNvSpPr txBox="1"/>
          <p:nvPr userDrawn="1"/>
        </p:nvSpPr>
        <p:spPr>
          <a:xfrm>
            <a:off x="1109949" y="1115416"/>
            <a:ext cx="2488182" cy="896399"/>
          </a:xfrm>
          <a:prstGeom prst="rect">
            <a:avLst/>
          </a:prstGeom>
          <a:noFill/>
        </p:spPr>
        <p:txBody>
          <a:bodyPr wrap="none" rtlCol="0">
            <a:spAutoFit/>
          </a:bodyPr>
          <a:lstStyle>
            <a:defPPr>
              <a:defRPr lang="en-US"/>
            </a:defPPr>
            <a:lvl1pPr algn="ctr" fontAlgn="auto">
              <a:lnSpc>
                <a:spcPct val="95000"/>
              </a:lnSpc>
              <a:spcBef>
                <a:spcPts val="0"/>
              </a:spcBef>
              <a:spcAft>
                <a:spcPts val="0"/>
              </a:spcAft>
              <a:defRPr sz="5400">
                <a:solidFill>
                  <a:schemeClr val="accent4"/>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r>
              <a:rPr lang="en-US"/>
              <a:t>Agenda</a:t>
            </a:r>
          </a:p>
        </p:txBody>
      </p:sp>
    </p:spTree>
    <p:extLst>
      <p:ext uri="{BB962C8B-B14F-4D97-AF65-F5344CB8AC3E}">
        <p14:creationId xmlns:p14="http://schemas.microsoft.com/office/powerpoint/2010/main" val="186557670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p:cSld name="Agenda D. Section Header">
    <p:bg>
      <p:bgPr>
        <a:solidFill>
          <a:schemeClr val="bg1"/>
        </a:solidFill>
        <a:effectLst/>
      </p:bgPr>
    </p:bg>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1"/>
            </p:custDataLst>
            <p:extLst>
              <p:ext uri="{D42A27DB-BD31-4B8C-83A1-F6EECF244321}">
                <p14:modId xmlns:p14="http://schemas.microsoft.com/office/powerpoint/2010/main" val="2440061710"/>
              </p:ext>
            </p:ext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3" imgW="270" imgH="270" progId="TCLayout.ActiveDocument.1">
                  <p:embed/>
                </p:oleObj>
              </mc:Choice>
              <mc:Fallback>
                <p:oleObj name="think-cell Slide" r:id="rId3" imgW="270" imgH="270" progId="TCLayout.ActiveDocument.1">
                  <p:embed/>
                  <p:pic>
                    <p:nvPicPr>
                      <p:cNvPr id="2" name="Object 1" hidden="1"/>
                      <p:cNvPicPr/>
                      <p:nvPr/>
                    </p:nvPicPr>
                    <p:blipFill>
                      <a:blip r:embed="rId4"/>
                      <a:stretch>
                        <a:fillRect/>
                      </a:stretch>
                    </p:blipFill>
                    <p:spPr>
                      <a:xfrm>
                        <a:off x="1588" y="1588"/>
                        <a:ext cx="1587" cy="1587"/>
                      </a:xfrm>
                      <a:prstGeom prst="rect">
                        <a:avLst/>
                      </a:prstGeom>
                    </p:spPr>
                  </p:pic>
                </p:oleObj>
              </mc:Fallback>
            </mc:AlternateContent>
          </a:graphicData>
        </a:graphic>
      </p:graphicFrame>
      <p:sp>
        <p:nvSpPr>
          <p:cNvPr id="5"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Trebuchet MS" panose="020B0603020202020204" pitchFamily="34" charset="0"/>
                <a:sym typeface="Trebuchet MS" panose="020B0603020202020204" pitchFamily="34" charset="0"/>
              </a:rPr>
              <a:t>Copyright © 2024 by Boston Consulting Group. All rights reserved.</a:t>
            </a:r>
          </a:p>
        </p:txBody>
      </p:sp>
      <p:sp>
        <p:nvSpPr>
          <p:cNvPr id="8" name="Rectangle 7"/>
          <p:cNvSpPr/>
          <p:nvPr userDrawn="1"/>
        </p:nvSpPr>
        <p:spPr bwMode="white">
          <a:xfrm>
            <a:off x="1284743" y="1428131"/>
            <a:ext cx="947672" cy="947672"/>
          </a:xfrm>
          <a:prstGeom prst="rect">
            <a:avLst/>
          </a:prstGeom>
          <a:noFill/>
          <a:ln w="9525">
            <a:solidFill>
              <a:schemeClr val="accent4"/>
            </a:solid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l"/>
            <a:endParaRPr lang="en-US" sz="1200">
              <a:solidFill>
                <a:schemeClr val="bg1"/>
              </a:solidFill>
              <a:latin typeface="Trebuchet MS" panose="020B0603020202020204" pitchFamily="34" charset="0"/>
              <a:sym typeface="Trebuchet MS" panose="020B0603020202020204" pitchFamily="34" charset="0"/>
            </a:endParaRPr>
          </a:p>
        </p:txBody>
      </p:sp>
      <p:sp>
        <p:nvSpPr>
          <p:cNvPr id="10" name="Rectangle 9"/>
          <p:cNvSpPr/>
          <p:nvPr userDrawn="1"/>
        </p:nvSpPr>
        <p:spPr>
          <a:xfrm>
            <a:off x="1285200" y="2667600"/>
            <a:ext cx="9619200" cy="3200400"/>
          </a:xfrm>
          <a:prstGeom prst="rect">
            <a:avLst/>
          </a:prstGeom>
          <a:noFill/>
          <a:ln w="9525">
            <a:solidFill>
              <a:schemeClr val="accent4"/>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auto">
              <a:spcBef>
                <a:spcPts val="0"/>
              </a:spcBef>
              <a:spcAft>
                <a:spcPts val="0"/>
              </a:spcAft>
            </a:pPr>
            <a:endParaRPr lang="en-US" sz="2000">
              <a:solidFill>
                <a:prstClr val="white"/>
              </a:solidFill>
              <a:latin typeface="Trebuchet MS" panose="020B0603020202020204" pitchFamily="34" charset="0"/>
            </a:endParaRPr>
          </a:p>
        </p:txBody>
      </p:sp>
    </p:spTree>
    <p:extLst>
      <p:ext uri="{BB962C8B-B14F-4D97-AF65-F5344CB8AC3E}">
        <p14:creationId xmlns:p14="http://schemas.microsoft.com/office/powerpoint/2010/main" val="320614077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p:cSld name="Agenda D. Full Width Overview">
    <p:bg>
      <p:bgPr>
        <a:solidFill>
          <a:schemeClr val="bg1"/>
        </a:solidFill>
        <a:effectLst/>
      </p:bgPr>
    </p:bg>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1"/>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3" imgW="270" imgH="270" progId="TCLayout.ActiveDocument.1">
                  <p:embed/>
                </p:oleObj>
              </mc:Choice>
              <mc:Fallback>
                <p:oleObj name="think-cell Slide" r:id="rId3" imgW="270" imgH="270" progId="TCLayout.ActiveDocument.1">
                  <p:embed/>
                  <p:pic>
                    <p:nvPicPr>
                      <p:cNvPr id="2" name="Object 1" hidden="1"/>
                      <p:cNvPicPr/>
                      <p:nvPr/>
                    </p:nvPicPr>
                    <p:blipFill>
                      <a:blip r:embed="rId4"/>
                      <a:stretch>
                        <a:fillRect/>
                      </a:stretch>
                    </p:blipFill>
                    <p:spPr>
                      <a:xfrm>
                        <a:off x="1588" y="1588"/>
                        <a:ext cx="1587" cy="1587"/>
                      </a:xfrm>
                      <a:prstGeom prst="rect">
                        <a:avLst/>
                      </a:prstGeom>
                    </p:spPr>
                  </p:pic>
                </p:oleObj>
              </mc:Fallback>
            </mc:AlternateContent>
          </a:graphicData>
        </a:graphic>
      </p:graphicFrame>
      <p:sp>
        <p:nvSpPr>
          <p:cNvPr id="5"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Trebuchet MS" panose="020B0603020202020204" pitchFamily="34" charset="0"/>
                <a:sym typeface="Trebuchet MS" panose="020B0603020202020204" pitchFamily="34" charset="0"/>
              </a:rPr>
              <a:t>Copyright © 2024 by Boston Consulting Group. All rights reserved.</a:t>
            </a:r>
          </a:p>
        </p:txBody>
      </p:sp>
      <p:sp>
        <p:nvSpPr>
          <p:cNvPr id="7" name="Title 1"/>
          <p:cNvSpPr txBox="1">
            <a:spLocks/>
          </p:cNvSpPr>
          <p:nvPr userDrawn="1"/>
        </p:nvSpPr>
        <p:spPr>
          <a:xfrm>
            <a:off x="630000" y="622800"/>
            <a:ext cx="7189998" cy="470898"/>
          </a:xfrm>
          <a:prstGeom prst="rect">
            <a:avLst/>
          </a:prstGeom>
        </p:spPr>
        <p:txBody>
          <a:bodyPr vert="horz" wrap="square" lIns="0" tIns="0" rIns="0" bIns="0" rtlCol="0" anchor="t" anchorCtr="0">
            <a:spAutoFit/>
          </a:bodyPr>
          <a:lstStyle>
            <a:lvl1pPr marL="0" indent="0" algn="l" defTabSz="914400" rtl="0" eaLnBrk="1" latinLnBrk="0" hangingPunct="1">
              <a:lnSpc>
                <a:spcPct val="90000"/>
              </a:lnSpc>
              <a:spcBef>
                <a:spcPct val="0"/>
              </a:spcBef>
              <a:spcAft>
                <a:spcPts val="0"/>
              </a:spcAft>
              <a:buNone/>
              <a:defRPr sz="3400" b="0" i="0" u="none" kern="1200" spc="0">
                <a:solidFill>
                  <a:schemeClr val="tx2">
                    <a:lumMod val="100000"/>
                  </a:schemeClr>
                </a:solidFill>
                <a:latin typeface="Trebuchet MS" panose="020B0603020202020204" pitchFamily="34" charset="0"/>
                <a:ea typeface="+mj-ea"/>
                <a:cs typeface="+mj-cs"/>
                <a:sym typeface="Trebuchet MS" panose="020B0603020202020204" pitchFamily="34" charset="0"/>
              </a:defRPr>
            </a:lvl1pPr>
          </a:lstStyle>
          <a:p>
            <a:r>
              <a:rPr lang="en-US">
                <a:solidFill>
                  <a:schemeClr val="accent4"/>
                </a:solidFill>
              </a:rPr>
              <a:t>Agenda</a:t>
            </a:r>
          </a:p>
        </p:txBody>
      </p:sp>
      <p:cxnSp>
        <p:nvCxnSpPr>
          <p:cNvPr id="9" name="Straight Connector 8"/>
          <p:cNvCxnSpPr/>
          <p:nvPr userDrawn="1"/>
        </p:nvCxnSpPr>
        <p:spPr bwMode="white">
          <a:xfrm>
            <a:off x="618898" y="1206000"/>
            <a:ext cx="11576304" cy="0"/>
          </a:xfrm>
          <a:prstGeom prst="line">
            <a:avLst/>
          </a:prstGeom>
          <a:ln w="9525" cmpd="sng">
            <a:solidFill>
              <a:schemeClr val="accent4"/>
            </a:solidFill>
            <a:miter lim="800000"/>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0433964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66.xml><?xml version="1.0" encoding="utf-8"?>
<p:sldLayout xmlns:a="http://schemas.openxmlformats.org/drawingml/2006/main" xmlns:r="http://schemas.openxmlformats.org/officeDocument/2006/relationships" xmlns:p="http://schemas.openxmlformats.org/presentationml/2006/main" showMasterSp="0" preserve="1" userDrawn="1">
  <p:cSld name="Agenda D. Two-Thirds">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1"/>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3" imgW="270" imgH="270" progId="TCLayout.ActiveDocument.1">
                  <p:embed/>
                </p:oleObj>
              </mc:Choice>
              <mc:Fallback>
                <p:oleObj name="think-cell Slide" r:id="rId3" imgW="270" imgH="270" progId="TCLayout.ActiveDocument.1">
                  <p:embed/>
                  <p:pic>
                    <p:nvPicPr>
                      <p:cNvPr id="2" name="Object 1" hidden="1"/>
                      <p:cNvPicPr/>
                      <p:nvPr/>
                    </p:nvPicPr>
                    <p:blipFill>
                      <a:blip r:embed="rId4"/>
                      <a:stretch>
                        <a:fillRect/>
                      </a:stretch>
                    </p:blipFill>
                    <p:spPr>
                      <a:xfrm>
                        <a:off x="1588" y="1588"/>
                        <a:ext cx="1587" cy="1587"/>
                      </a:xfrm>
                      <a:prstGeom prst="rect">
                        <a:avLst/>
                      </a:prstGeom>
                    </p:spPr>
                  </p:pic>
                </p:oleObj>
              </mc:Fallback>
            </mc:AlternateContent>
          </a:graphicData>
        </a:graphic>
      </p:graphicFrame>
      <p:pic>
        <p:nvPicPr>
          <p:cNvPr id="23" name="Picture 22"/>
          <p:cNvPicPr>
            <a:picLocks noChangeAspect="1"/>
          </p:cNvPicPr>
          <p:nvPr userDrawn="1"/>
        </p:nvPicPr>
        <p:blipFill rotWithShape="1">
          <a:blip r:embed="rId5">
            <a:extLst>
              <a:ext uri="{28A0092B-C50C-407E-A947-70E740481C1C}">
                <a14:useLocalDpi xmlns:a14="http://schemas.microsoft.com/office/drawing/2010/main" val="0"/>
              </a:ext>
            </a:extLst>
          </a:blip>
          <a:srcRect l="29398" t="8741" r="101" b="27"/>
          <a:stretch/>
        </p:blipFill>
        <p:spPr bwMode="ltGray">
          <a:xfrm flipH="1">
            <a:off x="3671068" y="0"/>
            <a:ext cx="416951" cy="6858000"/>
          </a:xfrm>
          <a:prstGeom prst="rect">
            <a:avLst/>
          </a:prstGeom>
        </p:spPr>
      </p:pic>
      <p:sp>
        <p:nvSpPr>
          <p:cNvPr id="26" name="Rectangle 25"/>
          <p:cNvSpPr/>
          <p:nvPr userDrawn="1"/>
        </p:nvSpPr>
        <p:spPr bwMode="ltGray">
          <a:xfrm>
            <a:off x="4080763" y="-1309"/>
            <a:ext cx="8111237" cy="685930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endParaRPr lang="en-US" sz="1200">
              <a:solidFill>
                <a:schemeClr val="bg1"/>
              </a:solidFill>
              <a:latin typeface="+mn-lt"/>
              <a:sym typeface="Trebuchet MS" panose="020B0603020202020204" pitchFamily="34" charset="0"/>
            </a:endParaRPr>
          </a:p>
        </p:txBody>
      </p:sp>
      <p:sp>
        <p:nvSpPr>
          <p:cNvPr id="29"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2024 by Boston Consulting Group. All rights reserved.</a:t>
            </a:r>
          </a:p>
        </p:txBody>
      </p:sp>
      <p:sp>
        <p:nvSpPr>
          <p:cNvPr id="28" name="TextBox 27"/>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lumMod val="50000"/>
                  </a:schemeClr>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lumMod val="50000"/>
                </a:schemeClr>
              </a:solidFill>
              <a:latin typeface="+mn-lt"/>
              <a:ea typeface="+mn-ea"/>
              <a:cs typeface="+mn-cs"/>
              <a:sym typeface="Trebuchet MS" panose="020B0603020202020204" pitchFamily="34" charset="0"/>
            </a:endParaRPr>
          </a:p>
        </p:txBody>
      </p:sp>
      <p:sp>
        <p:nvSpPr>
          <p:cNvPr id="10" name="TextBox 9"/>
          <p:cNvSpPr txBox="1"/>
          <p:nvPr userDrawn="1"/>
        </p:nvSpPr>
        <p:spPr>
          <a:xfrm>
            <a:off x="630000" y="3262145"/>
            <a:ext cx="1161047" cy="332399"/>
          </a:xfrm>
          <a:prstGeom prst="rect">
            <a:avLst/>
          </a:prstGeom>
          <a:noFill/>
        </p:spPr>
        <p:txBody>
          <a:bodyPr wrap="square" lIns="0" tIns="0" rIns="0" bIns="0" rtlCol="0" anchor="t">
            <a:spAutoFit/>
          </a:bodyPr>
          <a:lstStyle/>
          <a:p>
            <a:pPr>
              <a:lnSpc>
                <a:spcPct val="90000"/>
              </a:lnSpc>
              <a:spcAft>
                <a:spcPts val="600"/>
              </a:spcAft>
            </a:pPr>
            <a:r>
              <a:rPr lang="en-US" sz="2400">
                <a:solidFill>
                  <a:schemeClr val="bg1"/>
                </a:solidFill>
              </a:rPr>
              <a:t>Agenda</a:t>
            </a:r>
          </a:p>
        </p:txBody>
      </p:sp>
    </p:spTree>
    <p:extLst>
      <p:ext uri="{BB962C8B-B14F-4D97-AF65-F5344CB8AC3E}">
        <p14:creationId xmlns:p14="http://schemas.microsoft.com/office/powerpoint/2010/main" val="178479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67.xml><?xml version="1.0" encoding="utf-8"?>
<p:sldLayout xmlns:a="http://schemas.openxmlformats.org/drawingml/2006/main" xmlns:r="http://schemas.openxmlformats.org/officeDocument/2006/relationships" xmlns:p="http://schemas.openxmlformats.org/presentationml/2006/main" showMasterSp="0" preserve="1" userDrawn="1">
  <p:cSld name="Agenda D. Table of Contents">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1"/>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3" imgW="270" imgH="270" progId="TCLayout.ActiveDocument.1">
                  <p:embed/>
                </p:oleObj>
              </mc:Choice>
              <mc:Fallback>
                <p:oleObj name="think-cell Slide" r:id="rId3" imgW="270" imgH="270" progId="TCLayout.ActiveDocument.1">
                  <p:embed/>
                  <p:pic>
                    <p:nvPicPr>
                      <p:cNvPr id="2" name="Object 1" hidden="1"/>
                      <p:cNvPicPr/>
                      <p:nvPr/>
                    </p:nvPicPr>
                    <p:blipFill>
                      <a:blip r:embed="rId4"/>
                      <a:stretch>
                        <a:fillRect/>
                      </a:stretch>
                    </p:blipFill>
                    <p:spPr>
                      <a:xfrm>
                        <a:off x="1588" y="1588"/>
                        <a:ext cx="1587" cy="1587"/>
                      </a:xfrm>
                      <a:prstGeom prst="rect">
                        <a:avLst/>
                      </a:prstGeom>
                    </p:spPr>
                  </p:pic>
                </p:oleObj>
              </mc:Fallback>
            </mc:AlternateContent>
          </a:graphicData>
        </a:graphic>
      </p:graphicFrame>
      <p:sp>
        <p:nvSpPr>
          <p:cNvPr id="13" name="Freeform 12"/>
          <p:cNvSpPr/>
          <p:nvPr/>
        </p:nvSpPr>
        <p:spPr bwMode="ltGray">
          <a:xfrm>
            <a:off x="0" y="0"/>
            <a:ext cx="4088312" cy="6858000"/>
          </a:xfrm>
          <a:custGeom>
            <a:avLst/>
            <a:gdLst>
              <a:gd name="connsiteX0" fmla="*/ 0 w 4088312"/>
              <a:gd name="connsiteY0" fmla="*/ 0 h 6858000"/>
              <a:gd name="connsiteX1" fmla="*/ 3264933 w 4088312"/>
              <a:gd name="connsiteY1" fmla="*/ 0 h 6858000"/>
              <a:gd name="connsiteX2" fmla="*/ 4088312 w 4088312"/>
              <a:gd name="connsiteY2" fmla="*/ 3429000 h 6858000"/>
              <a:gd name="connsiteX3" fmla="*/ 3264933 w 4088312"/>
              <a:gd name="connsiteY3" fmla="*/ 6858000 h 6858000"/>
              <a:gd name="connsiteX4" fmla="*/ 0 w 4088312"/>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8312" h="6858000">
                <a:moveTo>
                  <a:pt x="0" y="0"/>
                </a:moveTo>
                <a:lnTo>
                  <a:pt x="3264933" y="0"/>
                </a:lnTo>
                <a:lnTo>
                  <a:pt x="4088312" y="3429000"/>
                </a:lnTo>
                <a:lnTo>
                  <a:pt x="3264933" y="6858000"/>
                </a:lnTo>
                <a:lnTo>
                  <a:pt x="0" y="685800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p>
            <a:pPr>
              <a:lnSpc>
                <a:spcPct val="90000"/>
              </a:lnSpc>
              <a:spcAft>
                <a:spcPts val="1000"/>
              </a:spcAft>
            </a:pPr>
            <a:endParaRPr lang="en-US" sz="1200">
              <a:solidFill>
                <a:prstClr val="white"/>
              </a:solidFill>
              <a:latin typeface="Trebuchet MS" panose="020B0603020202020204" pitchFamily="34" charset="0"/>
              <a:sym typeface="Trebuchet MS" panose="020B0603020202020204" pitchFamily="34" charset="0"/>
            </a:endParaRPr>
          </a:p>
        </p:txBody>
      </p:sp>
      <p:sp>
        <p:nvSpPr>
          <p:cNvPr id="17" name="Freeform 12"/>
          <p:cNvSpPr/>
          <p:nvPr userDrawn="1"/>
        </p:nvSpPr>
        <p:spPr bwMode="ltGray">
          <a:xfrm>
            <a:off x="0" y="0"/>
            <a:ext cx="4088312" cy="6858000"/>
          </a:xfrm>
          <a:custGeom>
            <a:avLst/>
            <a:gdLst>
              <a:gd name="connsiteX0" fmla="*/ 0 w 4088312"/>
              <a:gd name="connsiteY0" fmla="*/ 0 h 6858000"/>
              <a:gd name="connsiteX1" fmla="*/ 3264933 w 4088312"/>
              <a:gd name="connsiteY1" fmla="*/ 0 h 6858000"/>
              <a:gd name="connsiteX2" fmla="*/ 4088312 w 4088312"/>
              <a:gd name="connsiteY2" fmla="*/ 3429000 h 6858000"/>
              <a:gd name="connsiteX3" fmla="*/ 3264933 w 4088312"/>
              <a:gd name="connsiteY3" fmla="*/ 6858000 h 6858000"/>
              <a:gd name="connsiteX4" fmla="*/ 0 w 4088312"/>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8312" h="6858000">
                <a:moveTo>
                  <a:pt x="0" y="0"/>
                </a:moveTo>
                <a:lnTo>
                  <a:pt x="3264933" y="0"/>
                </a:lnTo>
                <a:lnTo>
                  <a:pt x="4088312" y="3429000"/>
                </a:lnTo>
                <a:lnTo>
                  <a:pt x="3264933" y="6858000"/>
                </a:lnTo>
                <a:lnTo>
                  <a:pt x="0" y="685800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p>
            <a:pPr>
              <a:lnSpc>
                <a:spcPct val="90000"/>
              </a:lnSpc>
              <a:spcAft>
                <a:spcPts val="1000"/>
              </a:spcAft>
            </a:pPr>
            <a:endParaRPr lang="en-US" sz="1200">
              <a:solidFill>
                <a:prstClr val="white"/>
              </a:solidFill>
              <a:latin typeface="Trebuchet MS" panose="020B0603020202020204" pitchFamily="34" charset="0"/>
              <a:sym typeface="Trebuchet MS" panose="020B0603020202020204" pitchFamily="34" charset="0"/>
            </a:endParaRPr>
          </a:p>
        </p:txBody>
      </p:sp>
      <p:sp>
        <p:nvSpPr>
          <p:cNvPr id="20" name="TextBox 19"/>
          <p:cNvSpPr txBox="1"/>
          <p:nvPr userDrawn="1"/>
        </p:nvSpPr>
        <p:spPr>
          <a:xfrm>
            <a:off x="630000" y="2577934"/>
            <a:ext cx="2819400" cy="1761764"/>
          </a:xfrm>
          <a:prstGeom prst="rect">
            <a:avLst/>
          </a:prstGeom>
          <a:noFill/>
        </p:spPr>
        <p:txBody>
          <a:bodyPr wrap="square" lIns="0" tIns="0" rIns="0" bIns="0" rtlCol="0" anchor="ctr">
            <a:spAutoFit/>
          </a:bodyPr>
          <a:lstStyle/>
          <a:p>
            <a:pPr marL="0" indent="0">
              <a:lnSpc>
                <a:spcPct val="106000"/>
              </a:lnSpc>
              <a:spcAft>
                <a:spcPts val="700"/>
              </a:spcAft>
              <a:buFontTx/>
              <a:buNone/>
            </a:pPr>
            <a:r>
              <a:rPr lang="en-US" sz="5400">
                <a:solidFill>
                  <a:schemeClr val="tx2"/>
                </a:solidFill>
                <a:latin typeface="Trebuchet MS" panose="020B0603020202020204" pitchFamily="34" charset="0"/>
                <a:sym typeface="Trebuchet MS" panose="020B0603020202020204" pitchFamily="34" charset="0"/>
              </a:rPr>
              <a:t>Table of contents</a:t>
            </a:r>
          </a:p>
        </p:txBody>
      </p:sp>
      <p:sp>
        <p:nvSpPr>
          <p:cNvPr id="24"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Trebuchet MS" panose="020B0603020202020204" pitchFamily="34" charset="0"/>
                <a:sym typeface="Trebuchet MS" panose="020B0603020202020204" pitchFamily="34" charset="0"/>
              </a:rPr>
              <a:t>Copyright © 2024 by Boston Consulting Group. All rights reserved.</a:t>
            </a:r>
          </a:p>
        </p:txBody>
      </p:sp>
      <p:sp>
        <p:nvSpPr>
          <p:cNvPr id="19" name="TextBox 18"/>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Trebuchet MS" panose="020B0603020202020204" pitchFamily="34" charset="0"/>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Trebuchet MS" panose="020B0603020202020204" pitchFamily="34" charset="0"/>
              <a:ea typeface="+mn-ea"/>
              <a:cs typeface="+mn-cs"/>
              <a:sym typeface="Trebuchet MS" panose="020B0603020202020204" pitchFamily="34" charset="0"/>
            </a:endParaRPr>
          </a:p>
        </p:txBody>
      </p:sp>
      <p:pic>
        <p:nvPicPr>
          <p:cNvPr id="9" name="Picture 8"/>
          <p:cNvPicPr>
            <a:picLocks noChangeAspect="1" noChangeArrowheads="1"/>
          </p:cNvPicPr>
          <p:nvPr userDrawn="1"/>
        </p:nvPicPr>
        <p:blipFill>
          <a:blip r:embed="rId5">
            <a:extLst>
              <a:ext uri="{28A0092B-C50C-407E-A947-70E740481C1C}">
                <a14:useLocalDpi xmlns:a14="http://schemas.microsoft.com/office/drawing/2010/main" val="0"/>
              </a:ext>
            </a:extLst>
          </a:blip>
          <a:srcRect/>
          <a:stretch>
            <a:fillRect/>
          </a:stretch>
        </p:blipFill>
        <p:spPr bwMode="auto">
          <a:xfrm>
            <a:off x="3108638" y="3586748"/>
            <a:ext cx="1365250" cy="3382962"/>
          </a:xfrm>
          <a:custGeom>
            <a:avLst/>
            <a:gdLst>
              <a:gd name="connsiteX0" fmla="*/ 942801 w 1365250"/>
              <a:gd name="connsiteY0" fmla="*/ 0 h 3382962"/>
              <a:gd name="connsiteX1" fmla="*/ 1365250 w 1365250"/>
              <a:gd name="connsiteY1" fmla="*/ 0 h 3382962"/>
              <a:gd name="connsiteX2" fmla="*/ 1365250 w 1365250"/>
              <a:gd name="connsiteY2" fmla="*/ 3382962 h 3382962"/>
              <a:gd name="connsiteX3" fmla="*/ 128720 w 1365250"/>
              <a:gd name="connsiteY3" fmla="*/ 3382962 h 3382962"/>
              <a:gd name="connsiteX4" fmla="*/ 0 w 1365250"/>
              <a:gd name="connsiteY4" fmla="*/ 0 h 3382962"/>
              <a:gd name="connsiteX5" fmla="*/ 929501 w 1365250"/>
              <a:gd name="connsiteY5" fmla="*/ 0 h 3382962"/>
              <a:gd name="connsiteX6" fmla="*/ 0 w 1365250"/>
              <a:gd name="connsiteY6" fmla="*/ 2860398 h 3382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5250" h="3382962">
                <a:moveTo>
                  <a:pt x="942801" y="0"/>
                </a:moveTo>
                <a:lnTo>
                  <a:pt x="1365250" y="0"/>
                </a:lnTo>
                <a:lnTo>
                  <a:pt x="1365250" y="3382962"/>
                </a:lnTo>
                <a:lnTo>
                  <a:pt x="128720" y="3382962"/>
                </a:lnTo>
                <a:close/>
                <a:moveTo>
                  <a:pt x="0" y="0"/>
                </a:moveTo>
                <a:lnTo>
                  <a:pt x="929501" y="0"/>
                </a:lnTo>
                <a:lnTo>
                  <a:pt x="0" y="2860398"/>
                </a:lnTo>
                <a:close/>
              </a:path>
            </a:pathLst>
          </a:cu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3365785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68.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3400" b="0" i="0">
                <a:solidFill>
                  <a:srgbClr val="29B974"/>
                </a:solidFill>
                <a:latin typeface="Trebuchet MS"/>
                <a:cs typeface="Trebuchet MS"/>
              </a:defRPr>
            </a:lvl1pPr>
          </a:lstStyle>
          <a:p>
            <a:endParaRPr/>
          </a:p>
        </p:txBody>
      </p:sp>
      <p:sp>
        <p:nvSpPr>
          <p:cNvPr id="3" name="Holder 3"/>
          <p:cNvSpPr>
            <a:spLocks noGrp="1"/>
          </p:cNvSpPr>
          <p:nvPr>
            <p:ph type="body" idx="1"/>
          </p:nvPr>
        </p:nvSpPr>
        <p:spPr/>
        <p:txBody>
          <a:bodyPr lIns="0" tIns="0" rIns="0" bIns="0"/>
          <a:lstStyle>
            <a:lvl1pPr>
              <a:defRPr b="0" i="0">
                <a:solidFill>
                  <a:schemeClr val="tx1"/>
                </a:solidFill>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8/21/26</a:t>
            </a:fld>
            <a:endParaRPr lang="en-US"/>
          </a:p>
        </p:txBody>
      </p:sp>
      <p:sp>
        <p:nvSpPr>
          <p:cNvPr id="6" name="Holder 6"/>
          <p:cNvSpPr>
            <a:spLocks noGrp="1"/>
          </p:cNvSpPr>
          <p:nvPr>
            <p:ph type="sldNum" sz="quarter" idx="7"/>
          </p:nvPr>
        </p:nvSpPr>
        <p:spPr/>
        <p:txBody>
          <a:bodyPr lIns="0" tIns="0" rIns="0" bIns="0"/>
          <a:lstStyle>
            <a:lvl1pPr>
              <a:defRPr sz="1000" b="0" i="0">
                <a:solidFill>
                  <a:srgbClr val="7E7E7E"/>
                </a:solidFill>
                <a:latin typeface="Trebuchet MS"/>
                <a:cs typeface="Trebuchet MS"/>
              </a:defRPr>
            </a:lvl1pPr>
          </a:lstStyle>
          <a:p>
            <a:pPr marL="104775">
              <a:lnSpc>
                <a:spcPct val="100000"/>
              </a:lnSpc>
              <a:spcBef>
                <a:spcPts val="35"/>
              </a:spcBef>
            </a:pPr>
            <a:fld id="{81D60167-4931-47E6-BA6A-407CBD079E47}" type="slidenum">
              <a:rPr spc="-50" dirty="0"/>
              <a:t>‹#›</a:t>
            </a:fld>
            <a:endParaRPr spc="-50"/>
          </a:p>
        </p:txBody>
      </p:sp>
    </p:spTree>
    <p:extLst>
      <p:ext uri="{BB962C8B-B14F-4D97-AF65-F5344CB8AC3E}">
        <p14:creationId xmlns:p14="http://schemas.microsoft.com/office/powerpoint/2010/main" val="1284053620"/>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showMasterSp="0" userDrawn="1">
  <p:cSld name="D. Custom Layout 8">
    <p:bg>
      <p:bgPr>
        <a:solidFill>
          <a:srgbClr val="FFFFFF"/>
        </a:solidFill>
        <a:effectLst/>
      </p:bgPr>
    </p:bg>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userDrawn="1">
            <p:custDataLst>
              <p:tags r:id="rId1"/>
            </p:custDataLst>
            <p:extLst>
              <p:ext uri="{D42A27DB-BD31-4B8C-83A1-F6EECF244321}">
                <p14:modId xmlns:p14="http://schemas.microsoft.com/office/powerpoint/2010/main" val="307516688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52" imgH="355" progId="TCLayout.ActiveDocument.1">
                  <p:embed/>
                </p:oleObj>
              </mc:Choice>
              <mc:Fallback>
                <p:oleObj name="think-cell Slide" r:id="rId3" imgW="352" imgH="355" progId="TCLayout.ActiveDocument.1">
                  <p:embed/>
                  <p:pic>
                    <p:nvPicPr>
                      <p:cNvPr id="3" name="Object 2" hidden="1"/>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2" name="Rectangle 11"/>
          <p:cNvSpPr/>
          <p:nvPr userDrawn="1"/>
        </p:nvSpPr>
        <p:spPr>
          <a:xfrm>
            <a:off x="0" y="0"/>
            <a:ext cx="4284133" cy="6857999"/>
          </a:xfrm>
          <a:prstGeom prst="rect">
            <a:avLst/>
          </a:prstGeom>
          <a:solidFill>
            <a:srgbClr val="295E7E"/>
          </a:solidFill>
          <a:ln w="317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1"/>
            <a:endParaRPr lang="en-US" sz="2800">
              <a:solidFill>
                <a:srgbClr val="FFFFFF"/>
              </a:solidFill>
              <a:latin typeface="+mn-lt"/>
              <a:ea typeface="+mn-ea"/>
              <a:cs typeface="+mn-cs"/>
              <a:sym typeface="+mn-lt"/>
            </a:endParaRPr>
          </a:p>
        </p:txBody>
      </p:sp>
      <p:sp>
        <p:nvSpPr>
          <p:cNvPr id="14" name="TextBox 13"/>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lumMod val="50000"/>
                  </a:schemeClr>
                </a:solidFill>
                <a:latin typeface="+mn-lt"/>
                <a:ea typeface="+mn-ea"/>
                <a:cs typeface="+mn-cs"/>
                <a:sym typeface="+mn-lt"/>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800" kern="1200">
              <a:solidFill>
                <a:schemeClr val="bg1">
                  <a:lumMod val="50000"/>
                </a:schemeClr>
              </a:solidFill>
              <a:latin typeface="+mn-lt"/>
              <a:ea typeface="+mn-ea"/>
              <a:cs typeface="+mn-cs"/>
              <a:sym typeface="+mn-lt"/>
            </a:endParaRPr>
          </a:p>
        </p:txBody>
      </p:sp>
      <p:sp>
        <p:nvSpPr>
          <p:cNvPr id="15" name="Date Placeholder 2"/>
          <p:cNvSpPr>
            <a:spLocks noGrp="1"/>
          </p:cNvSpPr>
          <p:nvPr>
            <p:ph type="dt" sz="half" idx="15"/>
          </p:nvPr>
        </p:nvSpPr>
        <p:spPr>
          <a:xfrm>
            <a:off x="9677400" y="6405036"/>
            <a:ext cx="1482051" cy="153888"/>
          </a:xfrm>
          <a:prstGeom prst="rect">
            <a:avLst/>
          </a:prstGeom>
        </p:spPr>
        <p:txBody>
          <a:bodyPr/>
          <a:lstStyle>
            <a:lvl1pPr eaLnBrk="1">
              <a:defRPr>
                <a:solidFill>
                  <a:schemeClr val="bg1">
                    <a:lumMod val="50000"/>
                  </a:schemeClr>
                </a:solidFill>
                <a:latin typeface="+mn-lt"/>
                <a:ea typeface="+mn-ea"/>
                <a:cs typeface="+mn-cs"/>
                <a:sym typeface="+mn-lt"/>
              </a:defRPr>
            </a:lvl1pPr>
          </a:lstStyle>
          <a:p>
            <a:endParaRPr lang="en-US"/>
          </a:p>
        </p:txBody>
      </p:sp>
      <p:sp>
        <p:nvSpPr>
          <p:cNvPr id="17" name="Copyright" hidden="1"/>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ea typeface="+mn-ea"/>
                <a:cs typeface="+mn-cs"/>
                <a:sym typeface="+mn-lt"/>
              </a:rPr>
              <a:t>Copyright © 2020 by Boston Consulting Group. All rights reserved.</a:t>
            </a:r>
          </a:p>
        </p:txBody>
      </p:sp>
      <p:sp>
        <p:nvSpPr>
          <p:cNvPr id="31" name="Title 1"/>
          <p:cNvSpPr>
            <a:spLocks noGrp="1"/>
          </p:cNvSpPr>
          <p:nvPr>
            <p:ph type="title" hasCustomPrompt="1"/>
          </p:nvPr>
        </p:nvSpPr>
        <p:spPr bwMode="blackWhite">
          <a:xfrm>
            <a:off x="630000" y="622800"/>
            <a:ext cx="3157464" cy="443198"/>
          </a:xfrm>
          <a:prstGeom prst="rect">
            <a:avLst/>
          </a:prstGeom>
          <a:noFill/>
        </p:spPr>
        <p:txBody>
          <a:bodyPr wrap="square" lIns="0" tIns="0" rIns="320040" bIns="0" anchor="t">
            <a:spAutoFit/>
          </a:bodyPr>
          <a:lstStyle>
            <a:lvl1pPr>
              <a:defRPr sz="3200">
                <a:solidFill>
                  <a:srgbClr val="FFFFFF"/>
                </a:solidFill>
                <a:latin typeface="+mj-lt"/>
                <a:ea typeface="+mj-ea"/>
                <a:cs typeface="+mj-cs"/>
                <a:sym typeface="+mj-lt"/>
              </a:defRPr>
            </a:lvl1pPr>
          </a:lstStyle>
          <a:p>
            <a:r>
              <a:rPr lang="en-US"/>
              <a:t>Title</a:t>
            </a:r>
          </a:p>
        </p:txBody>
      </p:sp>
      <p:pic>
        <p:nvPicPr>
          <p:cNvPr id="10" name="Picture 9">
            <a:extLst>
              <a:ext uri="{FF2B5EF4-FFF2-40B4-BE49-F238E27FC236}">
                <a16:creationId xmlns:a16="http://schemas.microsoft.com/office/drawing/2014/main" id="{6DB99854-E6E3-4CCD-BC52-7BAD30642E4E}"/>
              </a:ext>
            </a:extLst>
          </p:cNvPr>
          <p:cNvPicPr>
            <a:picLocks noChangeAspect="1"/>
          </p:cNvPicPr>
          <p:nvPr userDrawn="1"/>
        </p:nvPicPr>
        <p:blipFill rotWithShape="1">
          <a:blip r:embed="rId5">
            <a:extLst>
              <a:ext uri="{28A0092B-C50C-407E-A947-70E740481C1C}">
                <a14:useLocalDpi xmlns:a14="http://schemas.microsoft.com/office/drawing/2010/main" val="0"/>
              </a:ext>
            </a:extLst>
          </a:blip>
          <a:srcRect r="36219" b="45156"/>
          <a:stretch/>
        </p:blipFill>
        <p:spPr>
          <a:xfrm>
            <a:off x="2314809" y="5040700"/>
            <a:ext cx="1969324" cy="1822114"/>
          </a:xfrm>
          <a:prstGeom prst="rect">
            <a:avLst/>
          </a:prstGeom>
        </p:spPr>
      </p:pic>
    </p:spTree>
    <p:extLst>
      <p:ext uri="{BB962C8B-B14F-4D97-AF65-F5344CB8AC3E}">
        <p14:creationId xmlns:p14="http://schemas.microsoft.com/office/powerpoint/2010/main" val="21697251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70.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graphicFrame>
        <p:nvGraphicFramePr>
          <p:cNvPr id="6" name="Object 5" hidden="1">
            <a:extLst>
              <a:ext uri="{FF2B5EF4-FFF2-40B4-BE49-F238E27FC236}">
                <a16:creationId xmlns:a16="http://schemas.microsoft.com/office/drawing/2014/main" id="{1210EF01-527E-4A29-A8E3-BBCD98DBCB31}"/>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395" imgH="394" progId="TCLayout.ActiveDocument.1">
                  <p:embed/>
                </p:oleObj>
              </mc:Choice>
              <mc:Fallback>
                <p:oleObj name="think-cell Slide" r:id="rId4" imgW="395" imgH="394" progId="TCLayout.ActiveDocument.1">
                  <p:embed/>
                  <p:pic>
                    <p:nvPicPr>
                      <p:cNvPr id="6" name="Object 5" hidden="1">
                        <a:extLst>
                          <a:ext uri="{FF2B5EF4-FFF2-40B4-BE49-F238E27FC236}">
                            <a16:creationId xmlns:a16="http://schemas.microsoft.com/office/drawing/2014/main" id="{1210EF01-527E-4A29-A8E3-BBCD98DBCB31}"/>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5" name="Rectangle 4" hidden="1">
            <a:extLst>
              <a:ext uri="{FF2B5EF4-FFF2-40B4-BE49-F238E27FC236}">
                <a16:creationId xmlns:a16="http://schemas.microsoft.com/office/drawing/2014/main" id="{03064ABD-B20E-4DB8-9D79-2F57BC01CDCE}"/>
              </a:ext>
            </a:extLst>
          </p:cNvPr>
          <p:cNvSpPr/>
          <p:nvPr userDrawn="1">
            <p:custDataLst>
              <p:tags r:id="rId2"/>
            </p:custDataLst>
          </p:nvPr>
        </p:nvSpPr>
        <p:spPr>
          <a:xfrm>
            <a:off x="0" y="0"/>
            <a:ext cx="158750" cy="158750"/>
          </a:xfrm>
          <a:prstGeom prst="rect">
            <a:avLst/>
          </a:prstGeom>
          <a:solidFill>
            <a:schemeClr val="accent6"/>
          </a:solidFill>
          <a:ln w="9525" cap="rnd" cmpd="sng" algn="ctr">
            <a:noFill/>
            <a:prstDash val="sysDot"/>
            <a:round/>
          </a:ln>
          <a:effectLst/>
        </p:spPr>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90000"/>
              </a:lnSpc>
              <a:spcBef>
                <a:spcPts val="0"/>
              </a:spcBef>
              <a:spcAft>
                <a:spcPts val="1000"/>
              </a:spcAft>
              <a:buClrTx/>
              <a:buSzTx/>
              <a:buFontTx/>
              <a:buNone/>
              <a:tabLst/>
            </a:pPr>
            <a:endParaRPr kumimoji="0" lang="en-US" sz="2400" b="0" i="0" u="none" strike="noStrike" kern="0" cap="none" spc="0" normalizeH="0" baseline="0" noProof="0">
              <a:ln>
                <a:noFill/>
              </a:ln>
              <a:solidFill>
                <a:prstClr val="white"/>
              </a:solidFill>
              <a:effectLst/>
              <a:uLnTx/>
              <a:uFillTx/>
              <a:latin typeface="Work Sans SemiBold" panose="020B0604020202020204" charset="0"/>
              <a:ea typeface="+mj-ea"/>
              <a:cs typeface="+mj-cs"/>
              <a:sym typeface="Work Sans SemiBold" panose="020B0604020202020204" charset="0"/>
            </a:endParaRPr>
          </a:p>
        </p:txBody>
      </p:sp>
      <p:sp>
        <p:nvSpPr>
          <p:cNvPr id="4" name="Rectangle 3">
            <a:extLst>
              <a:ext uri="{FF2B5EF4-FFF2-40B4-BE49-F238E27FC236}">
                <a16:creationId xmlns:a16="http://schemas.microsoft.com/office/drawing/2014/main" id="{9FDFBFD2-1F20-463E-9C66-451FE5AACB3E}"/>
              </a:ext>
            </a:extLst>
          </p:cNvPr>
          <p:cNvSpPr/>
          <p:nvPr userDrawn="1"/>
        </p:nvSpPr>
        <p:spPr>
          <a:xfrm>
            <a:off x="0" y="3800484"/>
            <a:ext cx="12192000" cy="3057515"/>
          </a:xfrm>
          <a:prstGeom prst="rect">
            <a:avLst/>
          </a:prstGeom>
          <a:solidFill>
            <a:srgbClr val="F4FAF4"/>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sz="1200">
              <a:solidFill>
                <a:srgbClr val="FFFFFF"/>
              </a:solidFill>
              <a:latin typeface="+mn-lt"/>
              <a:ea typeface="+mn-ea"/>
              <a:cs typeface="+mn-cs"/>
              <a:sym typeface="+mn-lt"/>
            </a:endParaRPr>
          </a:p>
        </p:txBody>
      </p:sp>
      <p:sp>
        <p:nvSpPr>
          <p:cNvPr id="2" name="Title 1">
            <a:extLst>
              <a:ext uri="{FF2B5EF4-FFF2-40B4-BE49-F238E27FC236}">
                <a16:creationId xmlns:a16="http://schemas.microsoft.com/office/drawing/2014/main" id="{F2374DE0-1F5C-4119-A798-6DE3CAD6A41E}"/>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1BF51568-AE71-42FE-B196-D8A6BC73C426}"/>
              </a:ext>
            </a:extLst>
          </p:cNvPr>
          <p:cNvSpPr>
            <a:spLocks noGrp="1"/>
          </p:cNvSpPr>
          <p:nvPr>
            <p:ph type="dt" sz="half" idx="10"/>
          </p:nvPr>
        </p:nvSpPr>
        <p:spPr/>
        <p:txBody>
          <a:bodyPr/>
          <a:lstStyle/>
          <a:p>
            <a:endParaRPr lang="en-US"/>
          </a:p>
        </p:txBody>
      </p:sp>
      <p:sp>
        <p:nvSpPr>
          <p:cNvPr id="7" name="TextBox 6">
            <a:extLst>
              <a:ext uri="{FF2B5EF4-FFF2-40B4-BE49-F238E27FC236}">
                <a16:creationId xmlns:a16="http://schemas.microsoft.com/office/drawing/2014/main" id="{6932E472-D1D7-4E1F-A171-906A5C621B7C}"/>
              </a:ext>
            </a:extLst>
          </p:cNvPr>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lumMod val="50000"/>
                  </a:schemeClr>
                </a:solidFill>
                <a:latin typeface="+mn-lt"/>
                <a:ea typeface="+mn-ea"/>
                <a:cs typeface="+mn-cs"/>
                <a:sym typeface="+mn-lt"/>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800" kern="1200">
              <a:solidFill>
                <a:schemeClr val="bg1">
                  <a:lumMod val="50000"/>
                </a:schemeClr>
              </a:solidFill>
              <a:latin typeface="+mn-lt"/>
              <a:ea typeface="+mn-ea"/>
              <a:cs typeface="+mn-cs"/>
              <a:sym typeface="+mn-lt"/>
            </a:endParaRPr>
          </a:p>
        </p:txBody>
      </p:sp>
    </p:spTree>
    <p:extLst>
      <p:ext uri="{BB962C8B-B14F-4D97-AF65-F5344CB8AC3E}">
        <p14:creationId xmlns:p14="http://schemas.microsoft.com/office/powerpoint/2010/main" val="339765834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71.xml><?xml version="1.0" encoding="utf-8"?>
<p:sldLayout xmlns:a="http://schemas.openxmlformats.org/drawingml/2006/main" xmlns:r="http://schemas.openxmlformats.org/officeDocument/2006/relationships" xmlns:p="http://schemas.openxmlformats.org/presentationml/2006/main" showMasterSp="0" type="obj">
  <p:cSld name="Two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1F1F1"/>
          </a:solidFill>
        </p:spPr>
        <p:txBody>
          <a:bodyPr wrap="square" lIns="0" tIns="0" rIns="0" bIns="0" rtlCol="0"/>
          <a:lstStyle/>
          <a:p>
            <a:endParaRPr/>
          </a:p>
        </p:txBody>
      </p:sp>
      <p:sp>
        <p:nvSpPr>
          <p:cNvPr id="2" name="Holder 2"/>
          <p:cNvSpPr>
            <a:spLocks noGrp="1"/>
          </p:cNvSpPr>
          <p:nvPr>
            <p:ph type="title"/>
          </p:nvPr>
        </p:nvSpPr>
        <p:spPr/>
        <p:txBody>
          <a:bodyPr lIns="0" tIns="0" rIns="0" bIns="0"/>
          <a:lstStyle>
            <a:lvl1pPr>
              <a:defRPr sz="2400" b="0" i="0">
                <a:solidFill>
                  <a:srgbClr val="29B974"/>
                </a:solidFill>
                <a:latin typeface="Trebuchet MS"/>
                <a:cs typeface="Trebuchet MS"/>
              </a:defRPr>
            </a:lvl1pPr>
          </a:lstStyle>
          <a:p>
            <a:endParaRPr/>
          </a:p>
        </p:txBody>
      </p:sp>
      <p:sp>
        <p:nvSpPr>
          <p:cNvPr id="3" name="Holder 3"/>
          <p:cNvSpPr>
            <a:spLocks noGrp="1"/>
          </p:cNvSpPr>
          <p:nvPr>
            <p:ph sz="half" idx="2"/>
          </p:nvPr>
        </p:nvSpPr>
        <p:spPr>
          <a:xfrm>
            <a:off x="1411986" y="2676524"/>
            <a:ext cx="3891915" cy="3468370"/>
          </a:xfrm>
          <a:prstGeom prst="rect">
            <a:avLst/>
          </a:prstGeom>
        </p:spPr>
        <p:txBody>
          <a:bodyPr wrap="square" lIns="0" tIns="0" rIns="0" bIns="0">
            <a:spAutoFit/>
          </a:bodyPr>
          <a:lstStyle>
            <a:lvl1pPr>
              <a:defRPr sz="1600" b="0" i="0">
                <a:solidFill>
                  <a:srgbClr val="565656"/>
                </a:solidFill>
                <a:latin typeface="Trebuchet MS"/>
                <a:cs typeface="Trebuchet MS"/>
              </a:defRPr>
            </a:lvl1pPr>
          </a:lstStyle>
          <a:p>
            <a:endParaRPr/>
          </a:p>
        </p:txBody>
      </p:sp>
      <p:sp>
        <p:nvSpPr>
          <p:cNvPr id="4" name="Holder 4"/>
          <p:cNvSpPr>
            <a:spLocks noGrp="1"/>
          </p:cNvSpPr>
          <p:nvPr>
            <p:ph sz="half" idx="3"/>
          </p:nvPr>
        </p:nvSpPr>
        <p:spPr>
          <a:xfrm>
            <a:off x="6297929" y="2091109"/>
            <a:ext cx="3829684" cy="3856990"/>
          </a:xfrm>
          <a:prstGeom prst="rect">
            <a:avLst/>
          </a:prstGeom>
        </p:spPr>
        <p:txBody>
          <a:bodyPr wrap="square" lIns="0" tIns="0" rIns="0" bIns="0">
            <a:spAutoFit/>
          </a:bodyPr>
          <a:lstStyle>
            <a:lvl1pPr>
              <a:defRPr sz="3200" b="0" i="0">
                <a:solidFill>
                  <a:srgbClr val="3DAC92"/>
                </a:solidFill>
                <a:latin typeface="Trebuchet MS"/>
                <a:cs typeface="Trebuchet MS"/>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8/21/26</a:t>
            </a:fld>
            <a:endParaRPr lang="en-US"/>
          </a:p>
        </p:txBody>
      </p:sp>
      <p:sp>
        <p:nvSpPr>
          <p:cNvPr id="7" name="Holder 7"/>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888490520"/>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914400" y="2125980"/>
            <a:ext cx="10363200" cy="1440180"/>
          </a:xfrm>
          <a:prstGeom prst="rect">
            <a:avLst/>
          </a:prstGeom>
        </p:spPr>
        <p:txBody>
          <a:bodyPr wrap="square" lIns="0" tIns="0" rIns="0" bIns="0">
            <a:spAutoFit/>
          </a:bodyPr>
          <a:lstStyle>
            <a:lvl1pPr>
              <a:defRPr sz="3400" b="0" i="0">
                <a:solidFill>
                  <a:srgbClr val="29B974"/>
                </a:solidFill>
                <a:latin typeface="Trebuchet MS"/>
                <a:cs typeface="Trebuchet MS"/>
              </a:defRPr>
            </a:lvl1pPr>
          </a:lstStyle>
          <a:p>
            <a:endParaRPr/>
          </a:p>
        </p:txBody>
      </p:sp>
      <p:sp>
        <p:nvSpPr>
          <p:cNvPr id="3" name="Holder 3"/>
          <p:cNvSpPr>
            <a:spLocks noGrp="1"/>
          </p:cNvSpPr>
          <p:nvPr>
            <p:ph type="subTitle" idx="4"/>
          </p:nvPr>
        </p:nvSpPr>
        <p:spPr>
          <a:xfrm>
            <a:off x="1828800" y="3840480"/>
            <a:ext cx="8534400" cy="1714500"/>
          </a:xfrm>
          <a:prstGeom prst="rect">
            <a:avLst/>
          </a:prstGeom>
        </p:spPr>
        <p:txBody>
          <a:bodyPr wrap="square" lIns="0" tIns="0" rIns="0" bIns="0">
            <a:spAutoFit/>
          </a:bodyPr>
          <a:lstStyle>
            <a:lvl1pPr>
              <a:defRPr b="0" i="0">
                <a:solidFill>
                  <a:schemeClr val="tx1"/>
                </a:solidFill>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8/21/26</a:t>
            </a:fld>
            <a:endParaRPr lang="en-US"/>
          </a:p>
        </p:txBody>
      </p:sp>
      <p:sp>
        <p:nvSpPr>
          <p:cNvPr id="6" name="Holder 6"/>
          <p:cNvSpPr>
            <a:spLocks noGrp="1"/>
          </p:cNvSpPr>
          <p:nvPr>
            <p:ph type="sldNum" sz="quarter" idx="7"/>
          </p:nvPr>
        </p:nvSpPr>
        <p:spPr/>
        <p:txBody>
          <a:bodyPr lIns="0" tIns="0" rIns="0" bIns="0"/>
          <a:lstStyle>
            <a:lvl1pPr>
              <a:defRPr sz="1000" b="0" i="0">
                <a:solidFill>
                  <a:srgbClr val="7E7E7E"/>
                </a:solidFill>
                <a:latin typeface="Trebuchet MS"/>
                <a:cs typeface="Trebuchet MS"/>
              </a:defRPr>
            </a:lvl1pPr>
          </a:lstStyle>
          <a:p>
            <a:pPr marL="104775">
              <a:lnSpc>
                <a:spcPct val="100000"/>
              </a:lnSpc>
              <a:spcBef>
                <a:spcPts val="35"/>
              </a:spcBef>
            </a:pPr>
            <a:fld id="{81D60167-4931-47E6-BA6A-407CBD079E47}" type="slidenum">
              <a:rPr spc="-50" dirty="0"/>
              <a:t>‹#›</a:t>
            </a:fld>
            <a:endParaRPr spc="-50"/>
          </a:p>
        </p:txBody>
      </p:sp>
    </p:spTree>
    <p:extLst>
      <p:ext uri="{BB962C8B-B14F-4D97-AF65-F5344CB8AC3E}">
        <p14:creationId xmlns:p14="http://schemas.microsoft.com/office/powerpoint/2010/main" val="1378680639"/>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3400" b="0" i="0">
                <a:solidFill>
                  <a:srgbClr val="29B974"/>
                </a:solidFill>
                <a:latin typeface="Trebuchet MS"/>
                <a:cs typeface="Trebuchet MS"/>
              </a:defRPr>
            </a:lvl1pPr>
          </a:lstStyle>
          <a:p>
            <a:endParaRPr/>
          </a:p>
        </p:txBody>
      </p:sp>
      <p:sp>
        <p:nvSpPr>
          <p:cNvPr id="3" name="Holder 3"/>
          <p:cNvSpPr>
            <a:spLocks noGrp="1"/>
          </p:cNvSpPr>
          <p:nvPr>
            <p:ph type="body" idx="1"/>
          </p:nvPr>
        </p:nvSpPr>
        <p:spPr/>
        <p:txBody>
          <a:bodyPr lIns="0" tIns="0" rIns="0" bIns="0"/>
          <a:lstStyle>
            <a:lvl1pPr>
              <a:defRPr b="0" i="0">
                <a:solidFill>
                  <a:schemeClr val="tx1"/>
                </a:solidFill>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8/21/26</a:t>
            </a:fld>
            <a:endParaRPr lang="en-US"/>
          </a:p>
        </p:txBody>
      </p:sp>
      <p:sp>
        <p:nvSpPr>
          <p:cNvPr id="6" name="Holder 6"/>
          <p:cNvSpPr>
            <a:spLocks noGrp="1"/>
          </p:cNvSpPr>
          <p:nvPr>
            <p:ph type="sldNum" sz="quarter" idx="7"/>
          </p:nvPr>
        </p:nvSpPr>
        <p:spPr/>
        <p:txBody>
          <a:bodyPr lIns="0" tIns="0" rIns="0" bIns="0"/>
          <a:lstStyle>
            <a:lvl1pPr>
              <a:defRPr sz="1000" b="0" i="0">
                <a:solidFill>
                  <a:srgbClr val="7E7E7E"/>
                </a:solidFill>
                <a:latin typeface="Trebuchet MS"/>
                <a:cs typeface="Trebuchet MS"/>
              </a:defRPr>
            </a:lvl1pPr>
          </a:lstStyle>
          <a:p>
            <a:pPr marL="104775">
              <a:lnSpc>
                <a:spcPct val="100000"/>
              </a:lnSpc>
              <a:spcBef>
                <a:spcPts val="35"/>
              </a:spcBef>
            </a:pPr>
            <a:fld id="{81D60167-4931-47E6-BA6A-407CBD079E47}" type="slidenum">
              <a:rPr spc="-50" dirty="0"/>
              <a:t>‹#›</a:t>
            </a:fld>
            <a:endParaRPr spc="-50"/>
          </a:p>
        </p:txBody>
      </p:sp>
    </p:spTree>
    <p:extLst>
      <p:ext uri="{BB962C8B-B14F-4D97-AF65-F5344CB8AC3E}">
        <p14:creationId xmlns:p14="http://schemas.microsoft.com/office/powerpoint/2010/main" val="545592905"/>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showMasterSp="0" type="obj" preserve="1">
  <p:cSld name="Two Content">
    <p:bg>
      <p:bgPr>
        <a:solidFill>
          <a:schemeClr val="bg1"/>
        </a:solidFill>
        <a:effectLst/>
      </p:bgPr>
    </p:bg>
    <p:spTree>
      <p:nvGrpSpPr>
        <p:cNvPr id="1" name=""/>
        <p:cNvGrpSpPr/>
        <p:nvPr/>
      </p:nvGrpSpPr>
      <p:grpSpPr>
        <a:xfrm>
          <a:off x="0" y="0"/>
          <a:ext cx="0" cy="0"/>
          <a:chOff x="0" y="0"/>
          <a:chExt cx="0" cy="0"/>
        </a:xfrm>
      </p:grpSpPr>
      <p:pic>
        <p:nvPicPr>
          <p:cNvPr id="16" name="bg object 16"/>
          <p:cNvPicPr/>
          <p:nvPr/>
        </p:nvPicPr>
        <p:blipFill>
          <a:blip r:embed="rId2" cstate="print"/>
          <a:stretch>
            <a:fillRect/>
          </a:stretch>
        </p:blipFill>
        <p:spPr>
          <a:xfrm>
            <a:off x="0" y="0"/>
            <a:ext cx="12192000" cy="6858000"/>
          </a:xfrm>
          <a:prstGeom prst="rect">
            <a:avLst/>
          </a:prstGeom>
        </p:spPr>
      </p:pic>
      <p:sp>
        <p:nvSpPr>
          <p:cNvPr id="2" name="Holder 2"/>
          <p:cNvSpPr>
            <a:spLocks noGrp="1"/>
          </p:cNvSpPr>
          <p:nvPr>
            <p:ph type="title"/>
          </p:nvPr>
        </p:nvSpPr>
        <p:spPr/>
        <p:txBody>
          <a:bodyPr lIns="0" tIns="0" rIns="0" bIns="0"/>
          <a:lstStyle>
            <a:lvl1pPr>
              <a:defRPr sz="3400" b="0" i="0">
                <a:solidFill>
                  <a:srgbClr val="29B974"/>
                </a:solidFill>
                <a:latin typeface="Trebuchet MS"/>
                <a:cs typeface="Trebuchet MS"/>
              </a:defRPr>
            </a:lvl1pPr>
          </a:lstStyle>
          <a:p>
            <a:endParaRPr/>
          </a:p>
        </p:txBody>
      </p:sp>
      <p:sp>
        <p:nvSpPr>
          <p:cNvPr id="3" name="Holder 3"/>
          <p:cNvSpPr>
            <a:spLocks noGrp="1"/>
          </p:cNvSpPr>
          <p:nvPr>
            <p:ph sz="half" idx="2"/>
          </p:nvPr>
        </p:nvSpPr>
        <p:spPr>
          <a:xfrm>
            <a:off x="742594" y="2169032"/>
            <a:ext cx="4500245" cy="3439795"/>
          </a:xfrm>
          <a:prstGeom prst="rect">
            <a:avLst/>
          </a:prstGeom>
        </p:spPr>
        <p:txBody>
          <a:bodyPr wrap="square" lIns="0" tIns="0" rIns="0" bIns="0">
            <a:spAutoFit/>
          </a:bodyPr>
          <a:lstStyle>
            <a:lvl1pPr>
              <a:defRPr sz="1600" b="0" i="0">
                <a:solidFill>
                  <a:srgbClr val="565656"/>
                </a:solidFill>
                <a:latin typeface="Trebuchet MS"/>
                <a:cs typeface="Trebuchet MS"/>
              </a:defRPr>
            </a:lvl1pPr>
          </a:lstStyle>
          <a:p>
            <a:endParaRPr/>
          </a:p>
        </p:txBody>
      </p:sp>
      <p:sp>
        <p:nvSpPr>
          <p:cNvPr id="4" name="Holder 4"/>
          <p:cNvSpPr>
            <a:spLocks noGrp="1"/>
          </p:cNvSpPr>
          <p:nvPr>
            <p:ph sz="half" idx="3"/>
          </p:nvPr>
        </p:nvSpPr>
        <p:spPr>
          <a:xfrm>
            <a:off x="6733158" y="2169032"/>
            <a:ext cx="4757420" cy="3439795"/>
          </a:xfrm>
          <a:prstGeom prst="rect">
            <a:avLst/>
          </a:prstGeom>
        </p:spPr>
        <p:txBody>
          <a:bodyPr wrap="square" lIns="0" tIns="0" rIns="0" bIns="0">
            <a:spAutoFit/>
          </a:bodyPr>
          <a:lstStyle>
            <a:lvl1pPr>
              <a:defRPr sz="1600" b="0" i="0">
                <a:solidFill>
                  <a:schemeClr val="bg1"/>
                </a:solidFill>
                <a:latin typeface="Trebuchet MS"/>
                <a:cs typeface="Trebuchet MS"/>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8/21/26</a:t>
            </a:fld>
            <a:endParaRPr lang="en-US"/>
          </a:p>
        </p:txBody>
      </p:sp>
      <p:sp>
        <p:nvSpPr>
          <p:cNvPr id="7" name="Holder 7"/>
          <p:cNvSpPr>
            <a:spLocks noGrp="1"/>
          </p:cNvSpPr>
          <p:nvPr>
            <p:ph type="sldNum" sz="quarter" idx="7"/>
          </p:nvPr>
        </p:nvSpPr>
        <p:spPr/>
        <p:txBody>
          <a:bodyPr lIns="0" tIns="0" rIns="0" bIns="0"/>
          <a:lstStyle>
            <a:lvl1pPr>
              <a:defRPr sz="1000" b="0" i="0">
                <a:solidFill>
                  <a:srgbClr val="7E7E7E"/>
                </a:solidFill>
                <a:latin typeface="Trebuchet MS"/>
                <a:cs typeface="Trebuchet MS"/>
              </a:defRPr>
            </a:lvl1pPr>
          </a:lstStyle>
          <a:p>
            <a:pPr marL="104775">
              <a:lnSpc>
                <a:spcPct val="100000"/>
              </a:lnSpc>
              <a:spcBef>
                <a:spcPts val="35"/>
              </a:spcBef>
            </a:pPr>
            <a:fld id="{81D60167-4931-47E6-BA6A-407CBD079E47}" type="slidenum">
              <a:rPr spc="-50" dirty="0"/>
              <a:t>‹#›</a:t>
            </a:fld>
            <a:endParaRPr spc="-50"/>
          </a:p>
        </p:txBody>
      </p:sp>
    </p:spTree>
    <p:extLst>
      <p:ext uri="{BB962C8B-B14F-4D97-AF65-F5344CB8AC3E}">
        <p14:creationId xmlns:p14="http://schemas.microsoft.com/office/powerpoint/2010/main" val="3669054902"/>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showMasterSp="0" type="obj" preserve="1">
  <p:cSld name="Title Only">
    <p:bg>
      <p:bgPr>
        <a:solidFill>
          <a:schemeClr val="bg1"/>
        </a:solidFill>
        <a:effectLst/>
      </p:bgPr>
    </p:bg>
    <p:spTree>
      <p:nvGrpSpPr>
        <p:cNvPr id="1" name=""/>
        <p:cNvGrpSpPr/>
        <p:nvPr/>
      </p:nvGrpSpPr>
      <p:grpSpPr>
        <a:xfrm>
          <a:off x="0" y="0"/>
          <a:ext cx="0" cy="0"/>
          <a:chOff x="0" y="0"/>
          <a:chExt cx="0" cy="0"/>
        </a:xfrm>
      </p:grpSpPr>
      <p:pic>
        <p:nvPicPr>
          <p:cNvPr id="16" name="bg object 16"/>
          <p:cNvPicPr/>
          <p:nvPr/>
        </p:nvPicPr>
        <p:blipFill>
          <a:blip r:embed="rId2" cstate="print"/>
          <a:stretch>
            <a:fillRect/>
          </a:stretch>
        </p:blipFill>
        <p:spPr>
          <a:xfrm>
            <a:off x="0" y="0"/>
            <a:ext cx="12192000" cy="6858000"/>
          </a:xfrm>
          <a:prstGeom prst="rect">
            <a:avLst/>
          </a:prstGeom>
        </p:spPr>
      </p:pic>
      <p:sp>
        <p:nvSpPr>
          <p:cNvPr id="17" name="bg object 17"/>
          <p:cNvSpPr/>
          <p:nvPr/>
        </p:nvSpPr>
        <p:spPr>
          <a:xfrm>
            <a:off x="619505" y="3671696"/>
            <a:ext cx="11572875" cy="19050"/>
          </a:xfrm>
          <a:custGeom>
            <a:avLst/>
            <a:gdLst/>
            <a:ahLst/>
            <a:cxnLst/>
            <a:rect l="l" t="t" r="r" b="b"/>
            <a:pathLst>
              <a:path w="11572875" h="19050">
                <a:moveTo>
                  <a:pt x="0" y="19050"/>
                </a:moveTo>
                <a:lnTo>
                  <a:pt x="11572494" y="19050"/>
                </a:lnTo>
                <a:lnTo>
                  <a:pt x="11572494" y="0"/>
                </a:lnTo>
                <a:lnTo>
                  <a:pt x="0" y="0"/>
                </a:lnTo>
                <a:lnTo>
                  <a:pt x="0" y="19050"/>
                </a:lnTo>
                <a:close/>
              </a:path>
            </a:pathLst>
          </a:custGeom>
          <a:solidFill>
            <a:srgbClr val="FFFFFF"/>
          </a:solidFill>
        </p:spPr>
        <p:txBody>
          <a:bodyPr wrap="square" lIns="0" tIns="0" rIns="0" bIns="0" rtlCol="0"/>
          <a:lstStyle/>
          <a:p>
            <a:endParaRPr/>
          </a:p>
        </p:txBody>
      </p:sp>
      <p:sp>
        <p:nvSpPr>
          <p:cNvPr id="2" name="Holder 2"/>
          <p:cNvSpPr>
            <a:spLocks noGrp="1"/>
          </p:cNvSpPr>
          <p:nvPr>
            <p:ph type="title"/>
          </p:nvPr>
        </p:nvSpPr>
        <p:spPr/>
        <p:txBody>
          <a:bodyPr lIns="0" tIns="0" rIns="0" bIns="0"/>
          <a:lstStyle>
            <a:lvl1pPr>
              <a:defRPr sz="3400" b="0" i="0">
                <a:solidFill>
                  <a:srgbClr val="29B974"/>
                </a:solidFill>
                <a:latin typeface="Trebuchet MS"/>
                <a:cs typeface="Trebuchet MS"/>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8/21/26</a:t>
            </a:fld>
            <a:endParaRPr lang="en-US"/>
          </a:p>
        </p:txBody>
      </p:sp>
      <p:sp>
        <p:nvSpPr>
          <p:cNvPr id="5" name="Holder 5"/>
          <p:cNvSpPr>
            <a:spLocks noGrp="1"/>
          </p:cNvSpPr>
          <p:nvPr>
            <p:ph type="sldNum" sz="quarter" idx="7"/>
          </p:nvPr>
        </p:nvSpPr>
        <p:spPr/>
        <p:txBody>
          <a:bodyPr lIns="0" tIns="0" rIns="0" bIns="0"/>
          <a:lstStyle>
            <a:lvl1pPr>
              <a:defRPr sz="1000" b="0" i="0">
                <a:solidFill>
                  <a:srgbClr val="7E7E7E"/>
                </a:solidFill>
                <a:latin typeface="Trebuchet MS"/>
                <a:cs typeface="Trebuchet MS"/>
              </a:defRPr>
            </a:lvl1pPr>
          </a:lstStyle>
          <a:p>
            <a:pPr marL="104775">
              <a:lnSpc>
                <a:spcPct val="100000"/>
              </a:lnSpc>
              <a:spcBef>
                <a:spcPts val="35"/>
              </a:spcBef>
            </a:pPr>
            <a:fld id="{81D60167-4931-47E6-BA6A-407CBD079E47}" type="slidenum">
              <a:rPr spc="-50" dirty="0"/>
              <a:t>‹#›</a:t>
            </a:fld>
            <a:endParaRPr spc="-50"/>
          </a:p>
        </p:txBody>
      </p:sp>
    </p:spTree>
    <p:extLst>
      <p:ext uri="{BB962C8B-B14F-4D97-AF65-F5344CB8AC3E}">
        <p14:creationId xmlns:p14="http://schemas.microsoft.com/office/powerpoint/2010/main" val="480784301"/>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8/21/26</a:t>
            </a:fld>
            <a:endParaRPr lang="en-US"/>
          </a:p>
        </p:txBody>
      </p:sp>
      <p:sp>
        <p:nvSpPr>
          <p:cNvPr id="4" name="Holder 4"/>
          <p:cNvSpPr>
            <a:spLocks noGrp="1"/>
          </p:cNvSpPr>
          <p:nvPr>
            <p:ph type="sldNum" sz="quarter" idx="7"/>
          </p:nvPr>
        </p:nvSpPr>
        <p:spPr/>
        <p:txBody>
          <a:bodyPr lIns="0" tIns="0" rIns="0" bIns="0"/>
          <a:lstStyle>
            <a:lvl1pPr>
              <a:defRPr sz="1000" b="0" i="0">
                <a:solidFill>
                  <a:srgbClr val="7E7E7E"/>
                </a:solidFill>
                <a:latin typeface="Trebuchet MS"/>
                <a:cs typeface="Trebuchet MS"/>
              </a:defRPr>
            </a:lvl1pPr>
          </a:lstStyle>
          <a:p>
            <a:pPr marL="104775">
              <a:lnSpc>
                <a:spcPct val="100000"/>
              </a:lnSpc>
              <a:spcBef>
                <a:spcPts val="35"/>
              </a:spcBef>
            </a:pPr>
            <a:fld id="{81D60167-4931-47E6-BA6A-407CBD079E47}" type="slidenum">
              <a:rPr spc="-50" dirty="0"/>
              <a:t>‹#›</a:t>
            </a:fld>
            <a:endParaRPr spc="-50"/>
          </a:p>
        </p:txBody>
      </p:sp>
    </p:spTree>
    <p:extLst>
      <p:ext uri="{BB962C8B-B14F-4D97-AF65-F5344CB8AC3E}">
        <p14:creationId xmlns:p14="http://schemas.microsoft.com/office/powerpoint/2010/main" val="3467796913"/>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showMasterSp="0">
  <p:cSld name="Section header box">
    <p:bg bwMode="grayWhite">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bwMode="blackWhite">
          <a:xfrm>
            <a:off x="1284742" y="2668041"/>
            <a:ext cx="9620491" cy="3201026"/>
          </a:xfrm>
          <a:prstGeom prst="rect">
            <a:avLst/>
          </a:prstGeom>
          <a:ln w="9525">
            <a:solidFill>
              <a:schemeClr val="bg1"/>
            </a:solidFill>
          </a:ln>
        </p:spPr>
        <p:txBody>
          <a:bodyPr lIns="274320" tIns="274320" rIns="274320" bIns="137160" anchor="b">
            <a:noAutofit/>
          </a:bodyPr>
          <a:lstStyle>
            <a:lvl1pPr marL="0" algn="l" defTabSz="914400" rtl="0" eaLnBrk="1" fontAlgn="auto" latinLnBrk="0" hangingPunct="1">
              <a:lnSpc>
                <a:spcPts val="6000"/>
              </a:lnSpc>
              <a:spcBef>
                <a:spcPts val="0"/>
              </a:spcBef>
              <a:spcAft>
                <a:spcPts val="0"/>
              </a:spcAft>
              <a:defRPr lang="en-US" sz="5400" kern="1200" baseline="0" dirty="0">
                <a:solidFill>
                  <a:schemeClr val="bg1"/>
                </a:solidFill>
                <a:latin typeface="+mj-lt"/>
                <a:ea typeface="+mn-ea"/>
                <a:cs typeface="Arial" panose="020B0604020202020204" pitchFamily="34" charset="0"/>
                <a:sym typeface="Trebuchet MS" panose="020B0603020202020204" pitchFamily="34" charset="0"/>
              </a:defRPr>
            </a:lvl1pPr>
          </a:lstStyle>
          <a:p>
            <a:r>
              <a:rPr lang="en-US"/>
              <a:t>Click to add big statement text</a:t>
            </a:r>
          </a:p>
        </p:txBody>
      </p:sp>
      <p:sp>
        <p:nvSpPr>
          <p:cNvPr id="4" name="TextBox 3"/>
          <p:cNvSpPr txBox="1"/>
          <p:nvPr/>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
        <p:nvSpPr>
          <p:cNvPr id="3" name="Date Placeholder 2"/>
          <p:cNvSpPr>
            <a:spLocks noGrp="1"/>
          </p:cNvSpPr>
          <p:nvPr>
            <p:ph type="dt" sz="half" idx="10"/>
          </p:nvPr>
        </p:nvSpPr>
        <p:spPr>
          <a:xfrm>
            <a:off x="9677400" y="6405036"/>
            <a:ext cx="1482051" cy="153888"/>
          </a:xfrm>
          <a:prstGeom prst="rect">
            <a:avLst/>
          </a:prstGeom>
        </p:spPr>
        <p:txBody>
          <a:bodyPr/>
          <a:lstStyle>
            <a:lvl1pPr>
              <a:defRPr>
                <a:solidFill>
                  <a:schemeClr val="bg1"/>
                </a:solidFill>
                <a:latin typeface="+mn-lt"/>
                <a:sym typeface="Trebuchet MS" panose="020B0603020202020204" pitchFamily="34" charset="0"/>
              </a:defRPr>
            </a:lvl1pPr>
          </a:lstStyle>
          <a:p>
            <a:endParaRPr lang="en-US"/>
          </a:p>
        </p:txBody>
      </p:sp>
      <p:sp>
        <p:nvSpPr>
          <p:cNvPr id="12"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2024 by Boston Consulting Group. All rights reserved.</a:t>
            </a:r>
          </a:p>
        </p:txBody>
      </p:sp>
      <p:sp>
        <p:nvSpPr>
          <p:cNvPr id="59" name="Rectangle 58"/>
          <p:cNvSpPr/>
          <p:nvPr userDrawn="1"/>
        </p:nvSpPr>
        <p:spPr bwMode="white">
          <a:xfrm>
            <a:off x="1284743" y="1428131"/>
            <a:ext cx="947672" cy="947672"/>
          </a:xfrm>
          <a:prstGeom prst="rect">
            <a:avLst/>
          </a:prstGeom>
          <a:noFill/>
          <a:ln>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l"/>
            <a:endParaRPr lang="en-US" sz="1200">
              <a:solidFill>
                <a:schemeClr val="bg1"/>
              </a:solidFill>
              <a:latin typeface="+mn-lt"/>
              <a:sym typeface="Trebuchet MS" panose="020B0603020202020204" pitchFamily="34" charset="0"/>
            </a:endParaRPr>
          </a:p>
        </p:txBody>
      </p:sp>
    </p:spTree>
    <p:extLst>
      <p:ext uri="{BB962C8B-B14F-4D97-AF65-F5344CB8AC3E}">
        <p14:creationId xmlns:p14="http://schemas.microsoft.com/office/powerpoint/2010/main" val="171256620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78.xml><?xml version="1.0" encoding="utf-8"?>
<p:sldLayout xmlns:a="http://schemas.openxmlformats.org/drawingml/2006/main" xmlns:r="http://schemas.openxmlformats.org/officeDocument/2006/relationships" xmlns:p="http://schemas.openxmlformats.org/presentationml/2006/main" showMasterSp="0" preserve="1" userDrawn="1">
  <p:cSld name="Title Slide">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userDrawn="1">
            <p:custDataLst>
              <p:tags r:id="rId1"/>
            </p:custDataLst>
            <p:extLst>
              <p:ext uri="{D42A27DB-BD31-4B8C-83A1-F6EECF244321}">
                <p14:modId xmlns:p14="http://schemas.microsoft.com/office/powerpoint/2010/main" val="39856122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384" imgH="384" progId="TCLayout.ActiveDocument.1">
                  <p:embed/>
                </p:oleObj>
              </mc:Choice>
              <mc:Fallback>
                <p:oleObj name="think-cell Slide" r:id="rId6" imgW="384" imgH="384" progId="TCLayout.ActiveDocument.1">
                  <p:embed/>
                  <p:pic>
                    <p:nvPicPr>
                      <p:cNvPr id="4" name="Object 3"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3" name="Rectangle 2" hidden="1"/>
          <p:cNvSpPr/>
          <p:nvPr userDrawn="1">
            <p:custDataLst>
              <p:tags r:id="rId2"/>
            </p:custDataLst>
          </p:nvPr>
        </p:nvSpPr>
        <p:spPr>
          <a:xfrm>
            <a:off x="0" y="0"/>
            <a:ext cx="158750" cy="158750"/>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eaLnBrk="1">
              <a:lnSpc>
                <a:spcPct val="93000"/>
              </a:lnSpc>
              <a:spcBef>
                <a:spcPct val="0"/>
              </a:spcBef>
              <a:spcAft>
                <a:spcPct val="0"/>
              </a:spcAft>
            </a:pPr>
            <a:endParaRPr lang="en-US" sz="5400" b="0" i="0" baseline="0">
              <a:solidFill>
                <a:srgbClr val="FFFFFF"/>
              </a:solidFill>
              <a:latin typeface="Trebuchet MS" panose="020B0603020202020204" pitchFamily="34" charset="0"/>
              <a:ea typeface="+mj-ea"/>
              <a:cs typeface="+mj-cs"/>
              <a:sym typeface="Trebuchet MS" panose="020B0603020202020204" pitchFamily="34" charset="0"/>
            </a:endParaRPr>
          </a:p>
        </p:txBody>
      </p:sp>
      <p:sp>
        <p:nvSpPr>
          <p:cNvPr id="14" name="Rectangle 13"/>
          <p:cNvSpPr/>
          <p:nvPr userDrawn="1"/>
        </p:nvSpPr>
        <p:spPr>
          <a:xfrm>
            <a:off x="0" y="5279183"/>
            <a:ext cx="12192000" cy="1578817"/>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l">
              <a:lnSpc>
                <a:spcPct val="90000"/>
              </a:lnSpc>
              <a:spcAft>
                <a:spcPts val="1000"/>
              </a:spcAft>
            </a:pPr>
            <a:endParaRPr lang="en-US" sz="1200">
              <a:solidFill>
                <a:schemeClr val="bg1"/>
              </a:solidFill>
              <a:latin typeface="+mn-lt"/>
              <a:sym typeface="Trebuchet MS" panose="020B0603020202020204" pitchFamily="34" charset="0"/>
            </a:endParaRPr>
          </a:p>
        </p:txBody>
      </p:sp>
      <p:pic>
        <p:nvPicPr>
          <p:cNvPr id="18" name="Picture 17"/>
          <p:cNvPicPr>
            <a:picLocks noChangeAspect="1"/>
          </p:cNvPicPr>
          <p:nvPr userDrawn="1"/>
        </p:nvPicPr>
        <p:blipFill rotWithShape="1">
          <a:blip r:embed="rId8">
            <a:extLst>
              <a:ext uri="{28A0092B-C50C-407E-A947-70E740481C1C}">
                <a14:useLocalDpi xmlns:a14="http://schemas.microsoft.com/office/drawing/2010/main" val="0"/>
              </a:ext>
            </a:extLst>
          </a:blip>
          <a:srcRect l="1731" t="8741" r="102" b="27"/>
          <a:stretch/>
        </p:blipFill>
        <p:spPr>
          <a:xfrm rot="16200000" flipH="1">
            <a:off x="8471921" y="1973272"/>
            <a:ext cx="580573" cy="6858000"/>
          </a:xfrm>
          <a:prstGeom prst="rect">
            <a:avLst/>
          </a:prstGeom>
        </p:spPr>
      </p:pic>
      <p:pic>
        <p:nvPicPr>
          <p:cNvPr id="15" name="TitleAndEndImages"/>
          <p:cNvPicPr>
            <a:picLocks noChangeAspect="1"/>
          </p:cNvPicPr>
          <p:nvPr userDrawn="1">
            <p:custDataLst>
              <p:tags r:id="rId3"/>
            </p:custDataLst>
          </p:nvPr>
        </p:nvPicPr>
        <p:blipFill rotWithShape="1">
          <a:blip r:embed="rId9">
            <a:extLst>
              <a:ext uri="{28A0092B-C50C-407E-A947-70E740481C1C}">
                <a14:useLocalDpi xmlns:a14="http://schemas.microsoft.com/office/drawing/2010/main" val="0"/>
              </a:ext>
            </a:extLst>
          </a:blip>
          <a:srcRect b="23056"/>
          <a:stretch/>
        </p:blipFill>
        <p:spPr>
          <a:xfrm flipH="1">
            <a:off x="0" y="0"/>
            <a:ext cx="12192000" cy="5276850"/>
          </a:xfrm>
          <a:prstGeom prst="rect">
            <a:avLst/>
          </a:prstGeom>
        </p:spPr>
      </p:pic>
      <p:sp>
        <p:nvSpPr>
          <p:cNvPr id="20" name="Picture Placeholder 8"/>
          <p:cNvSpPr>
            <a:spLocks noGrp="1"/>
          </p:cNvSpPr>
          <p:nvPr>
            <p:ph type="pic" sz="quarter" idx="13" hasCustomPrompt="1"/>
          </p:nvPr>
        </p:nvSpPr>
        <p:spPr>
          <a:xfrm>
            <a:off x="9366561" y="5570642"/>
            <a:ext cx="1867935" cy="896833"/>
          </a:xfrm>
          <a:prstGeom prst="rect">
            <a:avLst/>
          </a:prstGeom>
        </p:spPr>
        <p:txBody>
          <a:bodyPr anchor="b"/>
          <a:lstStyle>
            <a:lvl1pPr algn="ctr">
              <a:defRPr sz="1600">
                <a:solidFill>
                  <a:schemeClr val="tx1"/>
                </a:solidFill>
                <a:latin typeface="Trebuchet MS" panose="020B0603020202020204" pitchFamily="34" charset="0"/>
                <a:sym typeface="Trebuchet MS" panose="020B0603020202020204" pitchFamily="34" charset="0"/>
              </a:defRPr>
            </a:lvl1pPr>
          </a:lstStyle>
          <a:p>
            <a:r>
              <a:rPr lang="en-US"/>
              <a:t>Logo</a:t>
            </a:r>
          </a:p>
        </p:txBody>
      </p:sp>
      <p:sp>
        <p:nvSpPr>
          <p:cNvPr id="21" name="Rectangle 20"/>
          <p:cNvSpPr/>
          <p:nvPr userDrawn="1"/>
        </p:nvSpPr>
        <p:spPr bwMode="black">
          <a:xfrm>
            <a:off x="630936" y="626200"/>
            <a:ext cx="8125200" cy="5529600"/>
          </a:xfrm>
          <a:prstGeom prst="rect">
            <a:avLst/>
          </a:prstGeom>
          <a:gradFill flip="none" rotWithShape="1">
            <a:gsLst>
              <a:gs pos="0">
                <a:schemeClr val="accent1">
                  <a:alpha val="90000"/>
                </a:schemeClr>
              </a:gs>
              <a:gs pos="100000">
                <a:schemeClr val="tx2">
                  <a:alpha val="90000"/>
                </a:schemeClr>
              </a:gs>
            </a:gsLst>
            <a:lin ang="189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lnSpc>
                <a:spcPct val="95000"/>
              </a:lnSpc>
            </a:pPr>
            <a:endParaRPr lang="en-US" sz="2000">
              <a:solidFill>
                <a:prstClr val="white"/>
              </a:solidFill>
              <a:latin typeface="+mn-lt"/>
              <a:sym typeface="Trebuchet MS" panose="020B0603020202020204" pitchFamily="34" charset="0"/>
            </a:endParaRPr>
          </a:p>
        </p:txBody>
      </p:sp>
      <p:sp>
        <p:nvSpPr>
          <p:cNvPr id="22" name="Text Placeholder 6"/>
          <p:cNvSpPr>
            <a:spLocks noGrp="1"/>
          </p:cNvSpPr>
          <p:nvPr>
            <p:ph type="body" sz="quarter" idx="12" hasCustomPrompt="1"/>
          </p:nvPr>
        </p:nvSpPr>
        <p:spPr bwMode="black">
          <a:xfrm>
            <a:off x="1117415" y="6207842"/>
            <a:ext cx="6868800" cy="327148"/>
          </a:xfrm>
          <a:prstGeom prst="rect">
            <a:avLst/>
          </a:prstGeom>
          <a:noFill/>
        </p:spPr>
        <p:txBody>
          <a:bodyPr anchor="ctr"/>
          <a:lstStyle>
            <a:lvl1pPr algn="l">
              <a:lnSpc>
                <a:spcPct val="110000"/>
              </a:lnSpc>
              <a:buNone/>
              <a:defRPr sz="1200" b="1" cap="all" baseline="0">
                <a:solidFill>
                  <a:schemeClr val="accent5"/>
                </a:solidFill>
                <a:latin typeface="+mn-lt"/>
                <a:sym typeface="Trebuchet MS" panose="020B0603020202020204" pitchFamily="34" charset="0"/>
              </a:defRPr>
            </a:lvl1pPr>
            <a:lvl2pPr algn="ctr">
              <a:buNone/>
              <a:defRPr/>
            </a:lvl2pPr>
            <a:lvl3pPr marL="0" indent="0" algn="ctr">
              <a:buNone/>
              <a:defRPr/>
            </a:lvl3pPr>
            <a:lvl4pPr marL="228600" indent="0" algn="ctr">
              <a:buNone/>
              <a:defRPr/>
            </a:lvl4pPr>
            <a:lvl5pPr marL="457200" indent="0" algn="ctr">
              <a:buNone/>
              <a:defRPr/>
            </a:lvl5pPr>
          </a:lstStyle>
          <a:p>
            <a:pPr lvl="0"/>
            <a:r>
              <a:rPr lang="en-US"/>
              <a:t>Click to edit date/place</a:t>
            </a:r>
          </a:p>
        </p:txBody>
      </p:sp>
      <p:sp>
        <p:nvSpPr>
          <p:cNvPr id="26" name="Subtitle 2"/>
          <p:cNvSpPr>
            <a:spLocks noGrp="1"/>
          </p:cNvSpPr>
          <p:nvPr>
            <p:ph type="subTitle" idx="1" hasCustomPrompt="1"/>
          </p:nvPr>
        </p:nvSpPr>
        <p:spPr bwMode="white">
          <a:xfrm>
            <a:off x="1117415" y="5495706"/>
            <a:ext cx="6868800" cy="436195"/>
          </a:xfrm>
          <a:prstGeom prst="rect">
            <a:avLst/>
          </a:prstGeom>
        </p:spPr>
        <p:txBody>
          <a:bodyPr anchor="ctr"/>
          <a:lstStyle>
            <a:lvl1pPr marL="0" indent="0" algn="l">
              <a:lnSpc>
                <a:spcPct val="110000"/>
              </a:lnSpc>
              <a:buNone/>
              <a:defRPr sz="1600" baseline="0">
                <a:solidFill>
                  <a:schemeClr val="bg1"/>
                </a:solidFill>
                <a:latin typeface="+mn-lt"/>
                <a:sym typeface="Trebuchet MS" panose="020B0603020202020204" pitchFamily="34"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Subtitle in sentence case</a:t>
            </a:r>
          </a:p>
        </p:txBody>
      </p:sp>
      <p:sp>
        <p:nvSpPr>
          <p:cNvPr id="27" name="Title 1"/>
          <p:cNvSpPr>
            <a:spLocks noGrp="1"/>
          </p:cNvSpPr>
          <p:nvPr>
            <p:ph type="ctrTitle" hasCustomPrompt="1"/>
          </p:nvPr>
        </p:nvSpPr>
        <p:spPr bwMode="ltGray">
          <a:xfrm>
            <a:off x="1117415" y="1886242"/>
            <a:ext cx="6868800" cy="3138423"/>
          </a:xfrm>
          <a:prstGeom prst="rect">
            <a:avLst/>
          </a:prstGeom>
        </p:spPr>
        <p:txBody>
          <a:bodyPr anchor="b">
            <a:normAutofit/>
          </a:bodyPr>
          <a:lstStyle>
            <a:lvl1pPr algn="l">
              <a:lnSpc>
                <a:spcPct val="93000"/>
              </a:lnSpc>
              <a:defRPr sz="5400" baseline="0">
                <a:solidFill>
                  <a:schemeClr val="bg1"/>
                </a:solidFill>
                <a:latin typeface="+mj-lt"/>
                <a:sym typeface="Trebuchet MS" panose="020B0603020202020204" pitchFamily="34" charset="0"/>
              </a:defRPr>
            </a:lvl1pPr>
          </a:lstStyle>
          <a:p>
            <a:r>
              <a:rPr lang="en-US"/>
              <a:t>Title in Title Case</a:t>
            </a:r>
          </a:p>
        </p:txBody>
      </p:sp>
      <p:sp>
        <p:nvSpPr>
          <p:cNvPr id="33" name="Freeform 32"/>
          <p:cNvSpPr>
            <a:spLocks noChangeAspect="1"/>
          </p:cNvSpPr>
          <p:nvPr userDrawn="1">
            <p:custDataLst>
              <p:tags r:id="rId4"/>
            </p:custDataLst>
          </p:nvPr>
        </p:nvSpPr>
        <p:spPr bwMode="auto">
          <a:xfrm>
            <a:off x="1117415" y="1112679"/>
            <a:ext cx="2327644" cy="486479"/>
          </a:xfrm>
          <a:custGeom>
            <a:avLst/>
            <a:gdLst>
              <a:gd name="connsiteX0" fmla="*/ 8982072 w 11499847"/>
              <a:gd name="connsiteY0" fmla="*/ 1919288 h 2403475"/>
              <a:gd name="connsiteX1" fmla="*/ 8982072 w 11499847"/>
              <a:gd name="connsiteY1" fmla="*/ 2105026 h 2403475"/>
              <a:gd name="connsiteX2" fmla="*/ 9098233 w 11499847"/>
              <a:gd name="connsiteY2" fmla="*/ 2105026 h 2403475"/>
              <a:gd name="connsiteX3" fmla="*/ 9164880 w 11499847"/>
              <a:gd name="connsiteY3" fmla="*/ 2080233 h 2403475"/>
              <a:gd name="connsiteX4" fmla="*/ 9191622 w 11499847"/>
              <a:gd name="connsiteY4" fmla="*/ 2011737 h 2403475"/>
              <a:gd name="connsiteX5" fmla="*/ 9164880 w 11499847"/>
              <a:gd name="connsiteY5" fmla="*/ 1944501 h 2403475"/>
              <a:gd name="connsiteX6" fmla="*/ 9098233 w 11499847"/>
              <a:gd name="connsiteY6" fmla="*/ 1919288 h 2403475"/>
              <a:gd name="connsiteX7" fmla="*/ 8982072 w 11499847"/>
              <a:gd name="connsiteY7" fmla="*/ 1919288 h 2403475"/>
              <a:gd name="connsiteX8" fmla="*/ 7280272 w 11499847"/>
              <a:gd name="connsiteY8" fmla="*/ 1919288 h 2403475"/>
              <a:gd name="connsiteX9" fmla="*/ 7280272 w 11499847"/>
              <a:gd name="connsiteY9" fmla="*/ 2097088 h 2403475"/>
              <a:gd name="connsiteX10" fmla="*/ 7404503 w 11499847"/>
              <a:gd name="connsiteY10" fmla="*/ 2097088 h 2403475"/>
              <a:gd name="connsiteX11" fmla="*/ 7469027 w 11499847"/>
              <a:gd name="connsiteY11" fmla="*/ 2073423 h 2403475"/>
              <a:gd name="connsiteX12" fmla="*/ 7494585 w 11499847"/>
              <a:gd name="connsiteY12" fmla="*/ 2008502 h 2403475"/>
              <a:gd name="connsiteX13" fmla="*/ 7469027 w 11499847"/>
              <a:gd name="connsiteY13" fmla="*/ 1943581 h 2403475"/>
              <a:gd name="connsiteX14" fmla="*/ 7404503 w 11499847"/>
              <a:gd name="connsiteY14" fmla="*/ 1919288 h 2403475"/>
              <a:gd name="connsiteX15" fmla="*/ 7280272 w 11499847"/>
              <a:gd name="connsiteY15" fmla="*/ 1919288 h 2403475"/>
              <a:gd name="connsiteX16" fmla="*/ 7945015 w 11499847"/>
              <a:gd name="connsiteY16" fmla="*/ 1909763 h 2403475"/>
              <a:gd name="connsiteX17" fmla="*/ 7813574 w 11499847"/>
              <a:gd name="connsiteY17" fmla="*/ 1965330 h 2403475"/>
              <a:gd name="connsiteX18" fmla="*/ 7759697 w 11499847"/>
              <a:gd name="connsiteY18" fmla="*/ 2100368 h 2403475"/>
              <a:gd name="connsiteX19" fmla="*/ 7813574 w 11499847"/>
              <a:gd name="connsiteY19" fmla="*/ 2235406 h 2403475"/>
              <a:gd name="connsiteX20" fmla="*/ 7945015 w 11499847"/>
              <a:gd name="connsiteY20" fmla="*/ 2290763 h 2403475"/>
              <a:gd name="connsiteX21" fmla="*/ 8077086 w 11499847"/>
              <a:gd name="connsiteY21" fmla="*/ 2235825 h 2403475"/>
              <a:gd name="connsiteX22" fmla="*/ 8131172 w 11499847"/>
              <a:gd name="connsiteY22" fmla="*/ 2100368 h 2403475"/>
              <a:gd name="connsiteX23" fmla="*/ 8076876 w 11499847"/>
              <a:gd name="connsiteY23" fmla="*/ 1965330 h 2403475"/>
              <a:gd name="connsiteX24" fmla="*/ 7945015 w 11499847"/>
              <a:gd name="connsiteY24" fmla="*/ 1909763 h 2403475"/>
              <a:gd name="connsiteX25" fmla="*/ 8899522 w 11499847"/>
              <a:gd name="connsiteY25" fmla="*/ 1844675 h 2403475"/>
              <a:gd name="connsiteX26" fmla="*/ 9098598 w 11499847"/>
              <a:gd name="connsiteY26" fmla="*/ 1844675 h 2403475"/>
              <a:gd name="connsiteX27" fmla="*/ 9228521 w 11499847"/>
              <a:gd name="connsiteY27" fmla="*/ 1892741 h 2403475"/>
              <a:gd name="connsiteX28" fmla="*/ 9277347 w 11499847"/>
              <a:gd name="connsiteY28" fmla="*/ 2011236 h 2403475"/>
              <a:gd name="connsiteX29" fmla="*/ 9228521 w 11499847"/>
              <a:gd name="connsiteY29" fmla="*/ 2129521 h 2403475"/>
              <a:gd name="connsiteX30" fmla="*/ 9098598 w 11499847"/>
              <a:gd name="connsiteY30" fmla="*/ 2177796 h 2403475"/>
              <a:gd name="connsiteX31" fmla="*/ 8982086 w 11499847"/>
              <a:gd name="connsiteY31" fmla="*/ 2177796 h 2403475"/>
              <a:gd name="connsiteX32" fmla="*/ 8982086 w 11499847"/>
              <a:gd name="connsiteY32" fmla="*/ 2355850 h 2403475"/>
              <a:gd name="connsiteX33" fmla="*/ 8899522 w 11499847"/>
              <a:gd name="connsiteY33" fmla="*/ 2355850 h 2403475"/>
              <a:gd name="connsiteX34" fmla="*/ 8899522 w 11499847"/>
              <a:gd name="connsiteY34" fmla="*/ 1844675 h 2403475"/>
              <a:gd name="connsiteX35" fmla="*/ 8324847 w 11499847"/>
              <a:gd name="connsiteY35" fmla="*/ 1844675 h 2403475"/>
              <a:gd name="connsiteX36" fmla="*/ 8407608 w 11499847"/>
              <a:gd name="connsiteY36" fmla="*/ 1844675 h 2403475"/>
              <a:gd name="connsiteX37" fmla="*/ 8407608 w 11499847"/>
              <a:gd name="connsiteY37" fmla="*/ 2158090 h 2403475"/>
              <a:gd name="connsiteX38" fmla="*/ 8443017 w 11499847"/>
              <a:gd name="connsiteY38" fmla="*/ 2252595 h 2403475"/>
              <a:gd name="connsiteX39" fmla="*/ 8537931 w 11499847"/>
              <a:gd name="connsiteY39" fmla="*/ 2291066 h 2403475"/>
              <a:gd name="connsiteX40" fmla="*/ 8631797 w 11499847"/>
              <a:gd name="connsiteY40" fmla="*/ 2252595 h 2403475"/>
              <a:gd name="connsiteX41" fmla="*/ 8667415 w 11499847"/>
              <a:gd name="connsiteY41" fmla="*/ 2158090 h 2403475"/>
              <a:gd name="connsiteX42" fmla="*/ 8667415 w 11499847"/>
              <a:gd name="connsiteY42" fmla="*/ 1844675 h 2403475"/>
              <a:gd name="connsiteX43" fmla="*/ 8748710 w 11499847"/>
              <a:gd name="connsiteY43" fmla="*/ 1844675 h 2403475"/>
              <a:gd name="connsiteX44" fmla="*/ 8748710 w 11499847"/>
              <a:gd name="connsiteY44" fmla="*/ 2158717 h 2403475"/>
              <a:gd name="connsiteX45" fmla="*/ 8688577 w 11499847"/>
              <a:gd name="connsiteY45" fmla="*/ 2307793 h 2403475"/>
              <a:gd name="connsiteX46" fmla="*/ 8537093 w 11499847"/>
              <a:gd name="connsiteY46" fmla="*/ 2366963 h 2403475"/>
              <a:gd name="connsiteX47" fmla="*/ 8385399 w 11499847"/>
              <a:gd name="connsiteY47" fmla="*/ 2307793 h 2403475"/>
              <a:gd name="connsiteX48" fmla="*/ 8324847 w 11499847"/>
              <a:gd name="connsiteY48" fmla="*/ 2158717 h 2403475"/>
              <a:gd name="connsiteX49" fmla="*/ 8324847 w 11499847"/>
              <a:gd name="connsiteY49" fmla="*/ 1844675 h 2403475"/>
              <a:gd name="connsiteX50" fmla="*/ 7197722 w 11499847"/>
              <a:gd name="connsiteY50" fmla="*/ 1844675 h 2403475"/>
              <a:gd name="connsiteX51" fmla="*/ 7404196 w 11499847"/>
              <a:gd name="connsiteY51" fmla="*/ 1844675 h 2403475"/>
              <a:gd name="connsiteX52" fmla="*/ 7531336 w 11499847"/>
              <a:gd name="connsiteY52" fmla="*/ 1891906 h 2403475"/>
              <a:gd name="connsiteX53" fmla="*/ 7578727 w 11499847"/>
              <a:gd name="connsiteY53" fmla="*/ 2008937 h 2403475"/>
              <a:gd name="connsiteX54" fmla="*/ 7548455 w 11499847"/>
              <a:gd name="connsiteY54" fmla="*/ 2106950 h 2403475"/>
              <a:gd name="connsiteX55" fmla="*/ 7464947 w 11499847"/>
              <a:gd name="connsiteY55" fmla="*/ 2161495 h 2403475"/>
              <a:gd name="connsiteX56" fmla="*/ 7525699 w 11499847"/>
              <a:gd name="connsiteY56" fmla="*/ 2258673 h 2403475"/>
              <a:gd name="connsiteX57" fmla="*/ 7586660 w 11499847"/>
              <a:gd name="connsiteY57" fmla="*/ 2355850 h 2403475"/>
              <a:gd name="connsiteX58" fmla="*/ 7491044 w 11499847"/>
              <a:gd name="connsiteY58" fmla="*/ 2355850 h 2403475"/>
              <a:gd name="connsiteX59" fmla="*/ 7434676 w 11499847"/>
              <a:gd name="connsiteY59" fmla="*/ 2263479 h 2403475"/>
              <a:gd name="connsiteX60" fmla="*/ 7378099 w 11499847"/>
              <a:gd name="connsiteY60" fmla="*/ 2171108 h 2403475"/>
              <a:gd name="connsiteX61" fmla="*/ 7280395 w 11499847"/>
              <a:gd name="connsiteY61" fmla="*/ 2171108 h 2403475"/>
              <a:gd name="connsiteX62" fmla="*/ 7280395 w 11499847"/>
              <a:gd name="connsiteY62" fmla="*/ 2355850 h 2403475"/>
              <a:gd name="connsiteX63" fmla="*/ 7197722 w 11499847"/>
              <a:gd name="connsiteY63" fmla="*/ 2355850 h 2403475"/>
              <a:gd name="connsiteX64" fmla="*/ 7197722 w 11499847"/>
              <a:gd name="connsiteY64" fmla="*/ 1844675 h 2403475"/>
              <a:gd name="connsiteX65" fmla="*/ 7945016 w 11499847"/>
              <a:gd name="connsiteY65" fmla="*/ 1833563 h 2403475"/>
              <a:gd name="connsiteX66" fmla="*/ 8136527 w 11499847"/>
              <a:gd name="connsiteY66" fmla="*/ 1911974 h 2403475"/>
              <a:gd name="connsiteX67" fmla="*/ 8215310 w 11499847"/>
              <a:gd name="connsiteY67" fmla="*/ 2100368 h 2403475"/>
              <a:gd name="connsiteX68" fmla="*/ 8136527 w 11499847"/>
              <a:gd name="connsiteY68" fmla="*/ 2288762 h 2403475"/>
              <a:gd name="connsiteX69" fmla="*/ 7945016 w 11499847"/>
              <a:gd name="connsiteY69" fmla="*/ 2366963 h 2403475"/>
              <a:gd name="connsiteX70" fmla="*/ 7754134 w 11499847"/>
              <a:gd name="connsiteY70" fmla="*/ 2288762 h 2403475"/>
              <a:gd name="connsiteX71" fmla="*/ 7675560 w 11499847"/>
              <a:gd name="connsiteY71" fmla="*/ 2100368 h 2403475"/>
              <a:gd name="connsiteX72" fmla="*/ 7754134 w 11499847"/>
              <a:gd name="connsiteY72" fmla="*/ 1911974 h 2403475"/>
              <a:gd name="connsiteX73" fmla="*/ 7945016 w 11499847"/>
              <a:gd name="connsiteY73" fmla="*/ 1833563 h 2403475"/>
              <a:gd name="connsiteX74" fmla="*/ 6834872 w 11499847"/>
              <a:gd name="connsiteY74" fmla="*/ 1833563 h 2403475"/>
              <a:gd name="connsiteX75" fmla="*/ 6921875 w 11499847"/>
              <a:gd name="connsiteY75" fmla="*/ 1845482 h 2403475"/>
              <a:gd name="connsiteX76" fmla="*/ 6996090 w 11499847"/>
              <a:gd name="connsiteY76" fmla="*/ 1881028 h 2403475"/>
              <a:gd name="connsiteX77" fmla="*/ 6974496 w 11499847"/>
              <a:gd name="connsiteY77" fmla="*/ 1914692 h 2403475"/>
              <a:gd name="connsiteX78" fmla="*/ 6952903 w 11499847"/>
              <a:gd name="connsiteY78" fmla="*/ 1948356 h 2403475"/>
              <a:gd name="connsiteX79" fmla="*/ 6897556 w 11499847"/>
              <a:gd name="connsiteY79" fmla="*/ 1919501 h 2403475"/>
              <a:gd name="connsiteX80" fmla="*/ 6834243 w 11499847"/>
              <a:gd name="connsiteY80" fmla="*/ 1910301 h 2403475"/>
              <a:gd name="connsiteX81" fmla="*/ 6703424 w 11499847"/>
              <a:gd name="connsiteY81" fmla="*/ 1965084 h 2403475"/>
              <a:gd name="connsiteX82" fmla="*/ 6650384 w 11499847"/>
              <a:gd name="connsiteY82" fmla="*/ 2100368 h 2403475"/>
              <a:gd name="connsiteX83" fmla="*/ 6701957 w 11499847"/>
              <a:gd name="connsiteY83" fmla="*/ 2236070 h 2403475"/>
              <a:gd name="connsiteX84" fmla="*/ 6831308 w 11499847"/>
              <a:gd name="connsiteY84" fmla="*/ 2291062 h 2403475"/>
              <a:gd name="connsiteX85" fmla="*/ 6945984 w 11499847"/>
              <a:gd name="connsiteY85" fmla="*/ 2250498 h 2403475"/>
              <a:gd name="connsiteX86" fmla="*/ 6999863 w 11499847"/>
              <a:gd name="connsiteY86" fmla="*/ 2148460 h 2403475"/>
              <a:gd name="connsiteX87" fmla="*/ 6825438 w 11499847"/>
              <a:gd name="connsiteY87" fmla="*/ 2148460 h 2403475"/>
              <a:gd name="connsiteX88" fmla="*/ 6849128 w 11499847"/>
              <a:gd name="connsiteY88" fmla="*/ 2111241 h 2403475"/>
              <a:gd name="connsiteX89" fmla="*/ 6873028 w 11499847"/>
              <a:gd name="connsiteY89" fmla="*/ 2074022 h 2403475"/>
              <a:gd name="connsiteX90" fmla="*/ 7078061 w 11499847"/>
              <a:gd name="connsiteY90" fmla="*/ 2074022 h 2403475"/>
              <a:gd name="connsiteX91" fmla="*/ 7080787 w 11499847"/>
              <a:gd name="connsiteY91" fmla="*/ 2090540 h 2403475"/>
              <a:gd name="connsiteX92" fmla="*/ 7081835 w 11499847"/>
              <a:gd name="connsiteY92" fmla="*/ 2110613 h 2403475"/>
              <a:gd name="connsiteX93" fmla="*/ 7011813 w 11499847"/>
              <a:gd name="connsiteY93" fmla="*/ 2293362 h 2403475"/>
              <a:gd name="connsiteX94" fmla="*/ 6830470 w 11499847"/>
              <a:gd name="connsiteY94" fmla="*/ 2366963 h 2403475"/>
              <a:gd name="connsiteX95" fmla="*/ 6642417 w 11499847"/>
              <a:gd name="connsiteY95" fmla="*/ 2289389 h 2403475"/>
              <a:gd name="connsiteX96" fmla="*/ 6565897 w 11499847"/>
              <a:gd name="connsiteY96" fmla="*/ 2100368 h 2403475"/>
              <a:gd name="connsiteX97" fmla="*/ 6644514 w 11499847"/>
              <a:gd name="connsiteY97" fmla="*/ 1911346 h 2403475"/>
              <a:gd name="connsiteX98" fmla="*/ 6834872 w 11499847"/>
              <a:gd name="connsiteY98" fmla="*/ 1833563 h 2403475"/>
              <a:gd name="connsiteX99" fmla="*/ 501650 w 11499847"/>
              <a:gd name="connsiteY99" fmla="*/ 1403350 h 2403475"/>
              <a:gd name="connsiteX100" fmla="*/ 501650 w 11499847"/>
              <a:gd name="connsiteY100" fmla="*/ 1925638 h 2403475"/>
              <a:gd name="connsiteX101" fmla="*/ 842112 w 11499847"/>
              <a:gd name="connsiteY101" fmla="*/ 1925638 h 2403475"/>
              <a:gd name="connsiteX102" fmla="*/ 1182574 w 11499847"/>
              <a:gd name="connsiteY102" fmla="*/ 1925638 h 2403475"/>
              <a:gd name="connsiteX103" fmla="*/ 1375900 w 11499847"/>
              <a:gd name="connsiteY103" fmla="*/ 1849684 h 2403475"/>
              <a:gd name="connsiteX104" fmla="*/ 1455738 w 11499847"/>
              <a:gd name="connsiteY104" fmla="*/ 1662720 h 2403475"/>
              <a:gd name="connsiteX105" fmla="*/ 1375900 w 11499847"/>
              <a:gd name="connsiteY105" fmla="*/ 1477635 h 2403475"/>
              <a:gd name="connsiteX106" fmla="*/ 1182574 w 11499847"/>
              <a:gd name="connsiteY106" fmla="*/ 1403350 h 2403475"/>
              <a:gd name="connsiteX107" fmla="*/ 501650 w 11499847"/>
              <a:gd name="connsiteY107" fmla="*/ 1403350 h 2403475"/>
              <a:gd name="connsiteX108" fmla="*/ 7349808 w 11499847"/>
              <a:gd name="connsiteY108" fmla="*/ 1012825 h 2403475"/>
              <a:gd name="connsiteX109" fmla="*/ 7218292 w 11499847"/>
              <a:gd name="connsiteY109" fmla="*/ 1067952 h 2403475"/>
              <a:gd name="connsiteX110" fmla="*/ 7164385 w 11499847"/>
              <a:gd name="connsiteY110" fmla="*/ 1202427 h 2403475"/>
              <a:gd name="connsiteX111" fmla="*/ 7218292 w 11499847"/>
              <a:gd name="connsiteY111" fmla="*/ 1336903 h 2403475"/>
              <a:gd name="connsiteX112" fmla="*/ 7349808 w 11499847"/>
              <a:gd name="connsiteY112" fmla="*/ 1392238 h 2403475"/>
              <a:gd name="connsiteX113" fmla="*/ 7481953 w 11499847"/>
              <a:gd name="connsiteY113" fmla="*/ 1337320 h 2403475"/>
              <a:gd name="connsiteX114" fmla="*/ 7535860 w 11499847"/>
              <a:gd name="connsiteY114" fmla="*/ 1202427 h 2403475"/>
              <a:gd name="connsiteX115" fmla="*/ 7481534 w 11499847"/>
              <a:gd name="connsiteY115" fmla="*/ 1067952 h 2403475"/>
              <a:gd name="connsiteX116" fmla="*/ 7349808 w 11499847"/>
              <a:gd name="connsiteY116" fmla="*/ 1012825 h 2403475"/>
              <a:gd name="connsiteX117" fmla="*/ 10448922 w 11499847"/>
              <a:gd name="connsiteY117" fmla="*/ 946150 h 2403475"/>
              <a:gd name="connsiteX118" fmla="*/ 10552110 w 11499847"/>
              <a:gd name="connsiteY118" fmla="*/ 946150 h 2403475"/>
              <a:gd name="connsiteX119" fmla="*/ 10671172 w 11499847"/>
              <a:gd name="connsiteY119" fmla="*/ 1139825 h 2403475"/>
              <a:gd name="connsiteX120" fmla="*/ 10790235 w 11499847"/>
              <a:gd name="connsiteY120" fmla="*/ 1333501 h 2403475"/>
              <a:gd name="connsiteX121" fmla="*/ 10790235 w 11499847"/>
              <a:gd name="connsiteY121" fmla="*/ 946150 h 2403475"/>
              <a:gd name="connsiteX122" fmla="*/ 10869610 w 11499847"/>
              <a:gd name="connsiteY122" fmla="*/ 946150 h 2403475"/>
              <a:gd name="connsiteX123" fmla="*/ 10869610 w 11499847"/>
              <a:gd name="connsiteY123" fmla="*/ 1458913 h 2403475"/>
              <a:gd name="connsiteX124" fmla="*/ 10772772 w 11499847"/>
              <a:gd name="connsiteY124" fmla="*/ 1458913 h 2403475"/>
              <a:gd name="connsiteX125" fmla="*/ 10650535 w 11499847"/>
              <a:gd name="connsiteY125" fmla="*/ 1260475 h 2403475"/>
              <a:gd name="connsiteX126" fmla="*/ 10528297 w 11499847"/>
              <a:gd name="connsiteY126" fmla="*/ 1062038 h 2403475"/>
              <a:gd name="connsiteX127" fmla="*/ 10528297 w 11499847"/>
              <a:gd name="connsiteY127" fmla="*/ 1458913 h 2403475"/>
              <a:gd name="connsiteX128" fmla="*/ 10448922 w 11499847"/>
              <a:gd name="connsiteY128" fmla="*/ 1458913 h 2403475"/>
              <a:gd name="connsiteX129" fmla="*/ 10185397 w 11499847"/>
              <a:gd name="connsiteY129" fmla="*/ 946150 h 2403475"/>
              <a:gd name="connsiteX130" fmla="*/ 10267947 w 11499847"/>
              <a:gd name="connsiteY130" fmla="*/ 946150 h 2403475"/>
              <a:gd name="connsiteX131" fmla="*/ 10267947 w 11499847"/>
              <a:gd name="connsiteY131" fmla="*/ 1458913 h 2403475"/>
              <a:gd name="connsiteX132" fmla="*/ 10185397 w 11499847"/>
              <a:gd name="connsiteY132" fmla="*/ 1458913 h 2403475"/>
              <a:gd name="connsiteX133" fmla="*/ 9656760 w 11499847"/>
              <a:gd name="connsiteY133" fmla="*/ 946150 h 2403475"/>
              <a:gd name="connsiteX134" fmla="*/ 10059985 w 11499847"/>
              <a:gd name="connsiteY134" fmla="*/ 946150 h 2403475"/>
              <a:gd name="connsiteX135" fmla="*/ 10059985 w 11499847"/>
              <a:gd name="connsiteY135" fmla="*/ 1022350 h 2403475"/>
              <a:gd name="connsiteX136" fmla="*/ 9899648 w 11499847"/>
              <a:gd name="connsiteY136" fmla="*/ 1022350 h 2403475"/>
              <a:gd name="connsiteX137" fmla="*/ 9899648 w 11499847"/>
              <a:gd name="connsiteY137" fmla="*/ 1458913 h 2403475"/>
              <a:gd name="connsiteX138" fmla="*/ 9817098 w 11499847"/>
              <a:gd name="connsiteY138" fmla="*/ 1458913 h 2403475"/>
              <a:gd name="connsiteX139" fmla="*/ 9817098 w 11499847"/>
              <a:gd name="connsiteY139" fmla="*/ 1022350 h 2403475"/>
              <a:gd name="connsiteX140" fmla="*/ 9656760 w 11499847"/>
              <a:gd name="connsiteY140" fmla="*/ 1022350 h 2403475"/>
              <a:gd name="connsiteX141" fmla="*/ 9336085 w 11499847"/>
              <a:gd name="connsiteY141" fmla="*/ 946150 h 2403475"/>
              <a:gd name="connsiteX142" fmla="*/ 9418635 w 11499847"/>
              <a:gd name="connsiteY142" fmla="*/ 946150 h 2403475"/>
              <a:gd name="connsiteX143" fmla="*/ 9418635 w 11499847"/>
              <a:gd name="connsiteY143" fmla="*/ 1382713 h 2403475"/>
              <a:gd name="connsiteX144" fmla="*/ 9671048 w 11499847"/>
              <a:gd name="connsiteY144" fmla="*/ 1382713 h 2403475"/>
              <a:gd name="connsiteX145" fmla="*/ 9671048 w 11499847"/>
              <a:gd name="connsiteY145" fmla="*/ 1458913 h 2403475"/>
              <a:gd name="connsiteX146" fmla="*/ 9336085 w 11499847"/>
              <a:gd name="connsiteY146" fmla="*/ 1458913 h 2403475"/>
              <a:gd name="connsiteX147" fmla="*/ 8766172 w 11499847"/>
              <a:gd name="connsiteY147" fmla="*/ 946150 h 2403475"/>
              <a:gd name="connsiteX148" fmla="*/ 8848414 w 11499847"/>
              <a:gd name="connsiteY148" fmla="*/ 946150 h 2403475"/>
              <a:gd name="connsiteX149" fmla="*/ 8848414 w 11499847"/>
              <a:gd name="connsiteY149" fmla="*/ 1260391 h 2403475"/>
              <a:gd name="connsiteX150" fmla="*/ 8883900 w 11499847"/>
              <a:gd name="connsiteY150" fmla="*/ 1355146 h 2403475"/>
              <a:gd name="connsiteX151" fmla="*/ 8978249 w 11499847"/>
              <a:gd name="connsiteY151" fmla="*/ 1393718 h 2403475"/>
              <a:gd name="connsiteX152" fmla="*/ 9071972 w 11499847"/>
              <a:gd name="connsiteY152" fmla="*/ 1355146 h 2403475"/>
              <a:gd name="connsiteX153" fmla="*/ 9107457 w 11499847"/>
              <a:gd name="connsiteY153" fmla="*/ 1260391 h 2403475"/>
              <a:gd name="connsiteX154" fmla="*/ 9107457 w 11499847"/>
              <a:gd name="connsiteY154" fmla="*/ 946150 h 2403475"/>
              <a:gd name="connsiteX155" fmla="*/ 9188447 w 11499847"/>
              <a:gd name="connsiteY155" fmla="*/ 946150 h 2403475"/>
              <a:gd name="connsiteX156" fmla="*/ 9188447 w 11499847"/>
              <a:gd name="connsiteY156" fmla="*/ 1261230 h 2403475"/>
              <a:gd name="connsiteX157" fmla="*/ 9128539 w 11499847"/>
              <a:gd name="connsiteY157" fmla="*/ 1410489 h 2403475"/>
              <a:gd name="connsiteX158" fmla="*/ 8977623 w 11499847"/>
              <a:gd name="connsiteY158" fmla="*/ 1470025 h 2403475"/>
              <a:gd name="connsiteX159" fmla="*/ 8826497 w 11499847"/>
              <a:gd name="connsiteY159" fmla="*/ 1410489 h 2403475"/>
              <a:gd name="connsiteX160" fmla="*/ 8766172 w 11499847"/>
              <a:gd name="connsiteY160" fmla="*/ 1261230 h 2403475"/>
              <a:gd name="connsiteX161" fmla="*/ 8766172 w 11499847"/>
              <a:gd name="connsiteY161" fmla="*/ 946150 h 2403475"/>
              <a:gd name="connsiteX162" fmla="*/ 7737472 w 11499847"/>
              <a:gd name="connsiteY162" fmla="*/ 946150 h 2403475"/>
              <a:gd name="connsiteX163" fmla="*/ 7839072 w 11499847"/>
              <a:gd name="connsiteY163" fmla="*/ 946150 h 2403475"/>
              <a:gd name="connsiteX164" fmla="*/ 7958134 w 11499847"/>
              <a:gd name="connsiteY164" fmla="*/ 1139825 h 2403475"/>
              <a:gd name="connsiteX165" fmla="*/ 8077197 w 11499847"/>
              <a:gd name="connsiteY165" fmla="*/ 1333501 h 2403475"/>
              <a:gd name="connsiteX166" fmla="*/ 8077197 w 11499847"/>
              <a:gd name="connsiteY166" fmla="*/ 946150 h 2403475"/>
              <a:gd name="connsiteX167" fmla="*/ 8156572 w 11499847"/>
              <a:gd name="connsiteY167" fmla="*/ 946150 h 2403475"/>
              <a:gd name="connsiteX168" fmla="*/ 8156572 w 11499847"/>
              <a:gd name="connsiteY168" fmla="*/ 1458913 h 2403475"/>
              <a:gd name="connsiteX169" fmla="*/ 8061322 w 11499847"/>
              <a:gd name="connsiteY169" fmla="*/ 1458913 h 2403475"/>
              <a:gd name="connsiteX170" fmla="*/ 7939084 w 11499847"/>
              <a:gd name="connsiteY170" fmla="*/ 1260475 h 2403475"/>
              <a:gd name="connsiteX171" fmla="*/ 7815259 w 11499847"/>
              <a:gd name="connsiteY171" fmla="*/ 1062038 h 2403475"/>
              <a:gd name="connsiteX172" fmla="*/ 7815259 w 11499847"/>
              <a:gd name="connsiteY172" fmla="*/ 1458913 h 2403475"/>
              <a:gd name="connsiteX173" fmla="*/ 7737472 w 11499847"/>
              <a:gd name="connsiteY173" fmla="*/ 1458913 h 2403475"/>
              <a:gd name="connsiteX174" fmla="*/ 11253544 w 11499847"/>
              <a:gd name="connsiteY174" fmla="*/ 936625 h 2403475"/>
              <a:gd name="connsiteX175" fmla="*/ 11340315 w 11499847"/>
              <a:gd name="connsiteY175" fmla="*/ 948334 h 2403475"/>
              <a:gd name="connsiteX176" fmla="*/ 11414331 w 11499847"/>
              <a:gd name="connsiteY176" fmla="*/ 984090 h 2403475"/>
              <a:gd name="connsiteX177" fmla="*/ 11392795 w 11499847"/>
              <a:gd name="connsiteY177" fmla="*/ 1017545 h 2403475"/>
              <a:gd name="connsiteX178" fmla="*/ 11371260 w 11499847"/>
              <a:gd name="connsiteY178" fmla="*/ 1051209 h 2403475"/>
              <a:gd name="connsiteX179" fmla="*/ 11316270 w 11499847"/>
              <a:gd name="connsiteY179" fmla="*/ 1022354 h 2403475"/>
              <a:gd name="connsiteX180" fmla="*/ 11252917 w 11499847"/>
              <a:gd name="connsiteY180" fmla="*/ 1013363 h 2403475"/>
              <a:gd name="connsiteX181" fmla="*/ 11122657 w 11499847"/>
              <a:gd name="connsiteY181" fmla="*/ 1067936 h 2403475"/>
              <a:gd name="connsiteX182" fmla="*/ 11069549 w 11499847"/>
              <a:gd name="connsiteY182" fmla="*/ 1203221 h 2403475"/>
              <a:gd name="connsiteX183" fmla="*/ 11120984 w 11499847"/>
              <a:gd name="connsiteY183" fmla="*/ 1338923 h 2403475"/>
              <a:gd name="connsiteX184" fmla="*/ 11249990 w 11499847"/>
              <a:gd name="connsiteY184" fmla="*/ 1394124 h 2403475"/>
              <a:gd name="connsiteX185" fmla="*/ 11364360 w 11499847"/>
              <a:gd name="connsiteY185" fmla="*/ 1353350 h 2403475"/>
              <a:gd name="connsiteX186" fmla="*/ 11418095 w 11499847"/>
              <a:gd name="connsiteY186" fmla="*/ 1251521 h 2403475"/>
              <a:gd name="connsiteX187" fmla="*/ 11244136 w 11499847"/>
              <a:gd name="connsiteY187" fmla="*/ 1251521 h 2403475"/>
              <a:gd name="connsiteX188" fmla="*/ 11267971 w 11499847"/>
              <a:gd name="connsiteY188" fmla="*/ 1214303 h 2403475"/>
              <a:gd name="connsiteX189" fmla="*/ 11291598 w 11499847"/>
              <a:gd name="connsiteY189" fmla="*/ 1177084 h 2403475"/>
              <a:gd name="connsiteX190" fmla="*/ 11496083 w 11499847"/>
              <a:gd name="connsiteY190" fmla="*/ 1177084 h 2403475"/>
              <a:gd name="connsiteX191" fmla="*/ 11498802 w 11499847"/>
              <a:gd name="connsiteY191" fmla="*/ 1193393 h 2403475"/>
              <a:gd name="connsiteX192" fmla="*/ 11499847 w 11499847"/>
              <a:gd name="connsiteY192" fmla="*/ 1213466 h 2403475"/>
              <a:gd name="connsiteX193" fmla="*/ 11430222 w 11499847"/>
              <a:gd name="connsiteY193" fmla="*/ 1396215 h 2403475"/>
              <a:gd name="connsiteX194" fmla="*/ 11249154 w 11499847"/>
              <a:gd name="connsiteY194" fmla="*/ 1470025 h 2403475"/>
              <a:gd name="connsiteX195" fmla="*/ 11061813 w 11499847"/>
              <a:gd name="connsiteY195" fmla="*/ 1392242 h 2403475"/>
              <a:gd name="connsiteX196" fmla="*/ 10985497 w 11499847"/>
              <a:gd name="connsiteY196" fmla="*/ 1203221 h 2403475"/>
              <a:gd name="connsiteX197" fmla="*/ 11063695 w 11499847"/>
              <a:gd name="connsiteY197" fmla="*/ 1014408 h 2403475"/>
              <a:gd name="connsiteX198" fmla="*/ 11253544 w 11499847"/>
              <a:gd name="connsiteY198" fmla="*/ 936625 h 2403475"/>
              <a:gd name="connsiteX199" fmla="*/ 8471697 w 11499847"/>
              <a:gd name="connsiteY199" fmla="*/ 936625 h 2403475"/>
              <a:gd name="connsiteX200" fmla="*/ 8556850 w 11499847"/>
              <a:gd name="connsiteY200" fmla="*/ 949798 h 2403475"/>
              <a:gd name="connsiteX201" fmla="*/ 8626729 w 11499847"/>
              <a:gd name="connsiteY201" fmla="*/ 984717 h 2403475"/>
              <a:gd name="connsiteX202" fmla="*/ 8606225 w 11499847"/>
              <a:gd name="connsiteY202" fmla="*/ 1017336 h 2403475"/>
              <a:gd name="connsiteX203" fmla="*/ 8585722 w 11499847"/>
              <a:gd name="connsiteY203" fmla="*/ 1049745 h 2403475"/>
              <a:gd name="connsiteX204" fmla="*/ 8528605 w 11499847"/>
              <a:gd name="connsiteY204" fmla="*/ 1021099 h 2403475"/>
              <a:gd name="connsiteX205" fmla="*/ 8471070 w 11499847"/>
              <a:gd name="connsiteY205" fmla="*/ 1011063 h 2403475"/>
              <a:gd name="connsiteX206" fmla="*/ 8404328 w 11499847"/>
              <a:gd name="connsiteY206" fmla="*/ 1032181 h 2403475"/>
              <a:gd name="connsiteX207" fmla="*/ 8382570 w 11499847"/>
              <a:gd name="connsiteY207" fmla="*/ 1084246 h 2403475"/>
              <a:gd name="connsiteX208" fmla="*/ 8412697 w 11499847"/>
              <a:gd name="connsiteY208" fmla="*/ 1135474 h 2403475"/>
              <a:gd name="connsiteX209" fmla="*/ 8493038 w 11499847"/>
              <a:gd name="connsiteY209" fmla="*/ 1165165 h 2403475"/>
              <a:gd name="connsiteX210" fmla="*/ 8600786 w 11499847"/>
              <a:gd name="connsiteY210" fmla="*/ 1212421 h 2403475"/>
              <a:gd name="connsiteX211" fmla="*/ 8648697 w 11499847"/>
              <a:gd name="connsiteY211" fmla="*/ 1314250 h 2403475"/>
              <a:gd name="connsiteX212" fmla="*/ 8601413 w 11499847"/>
              <a:gd name="connsiteY212" fmla="*/ 1425906 h 2403475"/>
              <a:gd name="connsiteX213" fmla="*/ 8468140 w 11499847"/>
              <a:gd name="connsiteY213" fmla="*/ 1470025 h 2403475"/>
              <a:gd name="connsiteX214" fmla="*/ 8363531 w 11499847"/>
              <a:gd name="connsiteY214" fmla="*/ 1452461 h 2403475"/>
              <a:gd name="connsiteX215" fmla="*/ 8286747 w 11499847"/>
              <a:gd name="connsiteY215" fmla="*/ 1411479 h 2403475"/>
              <a:gd name="connsiteX216" fmla="*/ 8307251 w 11499847"/>
              <a:gd name="connsiteY216" fmla="*/ 1379069 h 2403475"/>
              <a:gd name="connsiteX217" fmla="*/ 8327754 w 11499847"/>
              <a:gd name="connsiteY217" fmla="*/ 1346450 h 2403475"/>
              <a:gd name="connsiteX218" fmla="*/ 8395541 w 11499847"/>
              <a:gd name="connsiteY218" fmla="*/ 1381578 h 2403475"/>
              <a:gd name="connsiteX219" fmla="*/ 8468768 w 11499847"/>
              <a:gd name="connsiteY219" fmla="*/ 1395378 h 2403475"/>
              <a:gd name="connsiteX220" fmla="*/ 8541367 w 11499847"/>
              <a:gd name="connsiteY220" fmla="*/ 1373633 h 2403475"/>
              <a:gd name="connsiteX221" fmla="*/ 8566055 w 11499847"/>
              <a:gd name="connsiteY221" fmla="*/ 1319477 h 2403475"/>
              <a:gd name="connsiteX222" fmla="*/ 8535509 w 11499847"/>
              <a:gd name="connsiteY222" fmla="*/ 1268458 h 2403475"/>
              <a:gd name="connsiteX223" fmla="*/ 8455587 w 11499847"/>
              <a:gd name="connsiteY223" fmla="*/ 1238348 h 2403475"/>
              <a:gd name="connsiteX224" fmla="*/ 8347630 w 11499847"/>
              <a:gd name="connsiteY224" fmla="*/ 1191511 h 2403475"/>
              <a:gd name="connsiteX225" fmla="*/ 8299928 w 11499847"/>
              <a:gd name="connsiteY225" fmla="*/ 1089264 h 2403475"/>
              <a:gd name="connsiteX226" fmla="*/ 8345329 w 11499847"/>
              <a:gd name="connsiteY226" fmla="*/ 979489 h 2403475"/>
              <a:gd name="connsiteX227" fmla="*/ 8471697 w 11499847"/>
              <a:gd name="connsiteY227" fmla="*/ 936625 h 2403475"/>
              <a:gd name="connsiteX228" fmla="*/ 7349808 w 11499847"/>
              <a:gd name="connsiteY228" fmla="*/ 936625 h 2403475"/>
              <a:gd name="connsiteX229" fmla="*/ 7541183 w 11499847"/>
              <a:gd name="connsiteY229" fmla="*/ 1014826 h 2403475"/>
              <a:gd name="connsiteX230" fmla="*/ 7619997 w 11499847"/>
              <a:gd name="connsiteY230" fmla="*/ 1203221 h 2403475"/>
              <a:gd name="connsiteX231" fmla="*/ 7541183 w 11499847"/>
              <a:gd name="connsiteY231" fmla="*/ 1391615 h 2403475"/>
              <a:gd name="connsiteX232" fmla="*/ 7349808 w 11499847"/>
              <a:gd name="connsiteY232" fmla="*/ 1470025 h 2403475"/>
              <a:gd name="connsiteX233" fmla="*/ 7158642 w 11499847"/>
              <a:gd name="connsiteY233" fmla="*/ 1391615 h 2403475"/>
              <a:gd name="connsiteX234" fmla="*/ 7080247 w 11499847"/>
              <a:gd name="connsiteY234" fmla="*/ 1203221 h 2403475"/>
              <a:gd name="connsiteX235" fmla="*/ 7158642 w 11499847"/>
              <a:gd name="connsiteY235" fmla="*/ 1014826 h 2403475"/>
              <a:gd name="connsiteX236" fmla="*/ 7349808 w 11499847"/>
              <a:gd name="connsiteY236" fmla="*/ 936625 h 2403475"/>
              <a:gd name="connsiteX237" fmla="*/ 6837427 w 11499847"/>
              <a:gd name="connsiteY237" fmla="*/ 936625 h 2403475"/>
              <a:gd name="connsiteX238" fmla="*/ 6932756 w 11499847"/>
              <a:gd name="connsiteY238" fmla="*/ 951680 h 2403475"/>
              <a:gd name="connsiteX239" fmla="*/ 7008810 w 11499847"/>
              <a:gd name="connsiteY239" fmla="*/ 993499 h 2403475"/>
              <a:gd name="connsiteX240" fmla="*/ 6987439 w 11499847"/>
              <a:gd name="connsiteY240" fmla="*/ 1026745 h 2403475"/>
              <a:gd name="connsiteX241" fmla="*/ 6966278 w 11499847"/>
              <a:gd name="connsiteY241" fmla="*/ 1059991 h 2403475"/>
              <a:gd name="connsiteX242" fmla="*/ 6904891 w 11499847"/>
              <a:gd name="connsiteY242" fmla="*/ 1024863 h 2403475"/>
              <a:gd name="connsiteX243" fmla="*/ 6833027 w 11499847"/>
              <a:gd name="connsiteY243" fmla="*/ 1012526 h 2403475"/>
              <a:gd name="connsiteX244" fmla="*/ 6703338 w 11499847"/>
              <a:gd name="connsiteY244" fmla="*/ 1067727 h 2403475"/>
              <a:gd name="connsiteX245" fmla="*/ 6649912 w 11499847"/>
              <a:gd name="connsiteY245" fmla="*/ 1203221 h 2403475"/>
              <a:gd name="connsiteX246" fmla="*/ 6703338 w 11499847"/>
              <a:gd name="connsiteY246" fmla="*/ 1338923 h 2403475"/>
              <a:gd name="connsiteX247" fmla="*/ 6833027 w 11499847"/>
              <a:gd name="connsiteY247" fmla="*/ 1393915 h 2403475"/>
              <a:gd name="connsiteX248" fmla="*/ 6904891 w 11499847"/>
              <a:gd name="connsiteY248" fmla="*/ 1381787 h 2403475"/>
              <a:gd name="connsiteX249" fmla="*/ 6966278 w 11499847"/>
              <a:gd name="connsiteY249" fmla="*/ 1346450 h 2403475"/>
              <a:gd name="connsiteX250" fmla="*/ 6987439 w 11499847"/>
              <a:gd name="connsiteY250" fmla="*/ 1379696 h 2403475"/>
              <a:gd name="connsiteX251" fmla="*/ 7008810 w 11499847"/>
              <a:gd name="connsiteY251" fmla="*/ 1412942 h 2403475"/>
              <a:gd name="connsiteX252" fmla="*/ 6932756 w 11499847"/>
              <a:gd name="connsiteY252" fmla="*/ 1454970 h 2403475"/>
              <a:gd name="connsiteX253" fmla="*/ 6837427 w 11499847"/>
              <a:gd name="connsiteY253" fmla="*/ 1470025 h 2403475"/>
              <a:gd name="connsiteX254" fmla="*/ 6644674 w 11499847"/>
              <a:gd name="connsiteY254" fmla="*/ 1392242 h 2403475"/>
              <a:gd name="connsiteX255" fmla="*/ 6565897 w 11499847"/>
              <a:gd name="connsiteY255" fmla="*/ 1203221 h 2403475"/>
              <a:gd name="connsiteX256" fmla="*/ 6644674 w 11499847"/>
              <a:gd name="connsiteY256" fmla="*/ 1014408 h 2403475"/>
              <a:gd name="connsiteX257" fmla="*/ 6837427 w 11499847"/>
              <a:gd name="connsiteY257" fmla="*/ 936625 h 2403475"/>
              <a:gd name="connsiteX258" fmla="*/ 501650 w 11499847"/>
              <a:gd name="connsiteY258" fmla="*/ 477838 h 2403475"/>
              <a:gd name="connsiteX259" fmla="*/ 501650 w 11499847"/>
              <a:gd name="connsiteY259" fmla="*/ 981076 h 2403475"/>
              <a:gd name="connsiteX260" fmla="*/ 786010 w 11499847"/>
              <a:gd name="connsiteY260" fmla="*/ 981076 h 2403475"/>
              <a:gd name="connsiteX261" fmla="*/ 1070579 w 11499847"/>
              <a:gd name="connsiteY261" fmla="*/ 981076 h 2403475"/>
              <a:gd name="connsiteX262" fmla="*/ 1253188 w 11499847"/>
              <a:gd name="connsiteY262" fmla="*/ 908588 h 2403475"/>
              <a:gd name="connsiteX263" fmla="*/ 1327150 w 11499847"/>
              <a:gd name="connsiteY263" fmla="*/ 727681 h 2403475"/>
              <a:gd name="connsiteX264" fmla="*/ 1253188 w 11499847"/>
              <a:gd name="connsiteY264" fmla="*/ 548446 h 2403475"/>
              <a:gd name="connsiteX265" fmla="*/ 1070579 w 11499847"/>
              <a:gd name="connsiteY265" fmla="*/ 477838 h 2403475"/>
              <a:gd name="connsiteX266" fmla="*/ 501650 w 11499847"/>
              <a:gd name="connsiteY266" fmla="*/ 477838 h 2403475"/>
              <a:gd name="connsiteX267" fmla="*/ 6675435 w 11499847"/>
              <a:gd name="connsiteY267" fmla="*/ 336550 h 2403475"/>
              <a:gd name="connsiteX268" fmla="*/ 6675435 w 11499847"/>
              <a:gd name="connsiteY268" fmla="*/ 487363 h 2403475"/>
              <a:gd name="connsiteX269" fmla="*/ 6808467 w 11499847"/>
              <a:gd name="connsiteY269" fmla="*/ 487363 h 2403475"/>
              <a:gd name="connsiteX270" fmla="*/ 6865570 w 11499847"/>
              <a:gd name="connsiteY270" fmla="*/ 465370 h 2403475"/>
              <a:gd name="connsiteX271" fmla="*/ 6888160 w 11499847"/>
              <a:gd name="connsiteY271" fmla="*/ 411957 h 2403475"/>
              <a:gd name="connsiteX272" fmla="*/ 6865570 w 11499847"/>
              <a:gd name="connsiteY272" fmla="*/ 358334 h 2403475"/>
              <a:gd name="connsiteX273" fmla="*/ 6808467 w 11499847"/>
              <a:gd name="connsiteY273" fmla="*/ 336550 h 2403475"/>
              <a:gd name="connsiteX274" fmla="*/ 6675435 w 11499847"/>
              <a:gd name="connsiteY274" fmla="*/ 336550 h 2403475"/>
              <a:gd name="connsiteX275" fmla="*/ 6675435 w 11499847"/>
              <a:gd name="connsiteY275" fmla="*/ 122238 h 2403475"/>
              <a:gd name="connsiteX276" fmla="*/ 6675435 w 11499847"/>
              <a:gd name="connsiteY276" fmla="*/ 265113 h 2403475"/>
              <a:gd name="connsiteX277" fmla="*/ 6795279 w 11499847"/>
              <a:gd name="connsiteY277" fmla="*/ 265113 h 2403475"/>
              <a:gd name="connsiteX278" fmla="*/ 6848404 w 11499847"/>
              <a:gd name="connsiteY278" fmla="*/ 244673 h 2403475"/>
              <a:gd name="connsiteX279" fmla="*/ 6869110 w 11499847"/>
              <a:gd name="connsiteY279" fmla="*/ 193571 h 2403475"/>
              <a:gd name="connsiteX280" fmla="*/ 6848404 w 11499847"/>
              <a:gd name="connsiteY280" fmla="*/ 142679 h 2403475"/>
              <a:gd name="connsiteX281" fmla="*/ 6795279 w 11499847"/>
              <a:gd name="connsiteY281" fmla="*/ 122238 h 2403475"/>
              <a:gd name="connsiteX282" fmla="*/ 6675435 w 11499847"/>
              <a:gd name="connsiteY282" fmla="*/ 122238 h 2403475"/>
              <a:gd name="connsiteX283" fmla="*/ 8850791 w 11499847"/>
              <a:gd name="connsiteY283" fmla="*/ 114300 h 2403475"/>
              <a:gd name="connsiteX284" fmla="*/ 8719837 w 11499847"/>
              <a:gd name="connsiteY284" fmla="*/ 169657 h 2403475"/>
              <a:gd name="connsiteX285" fmla="*/ 8666160 w 11499847"/>
              <a:gd name="connsiteY285" fmla="*/ 304905 h 2403475"/>
              <a:gd name="connsiteX286" fmla="*/ 8719837 w 11499847"/>
              <a:gd name="connsiteY286" fmla="*/ 439943 h 2403475"/>
              <a:gd name="connsiteX287" fmla="*/ 8850791 w 11499847"/>
              <a:gd name="connsiteY287" fmla="*/ 495300 h 2403475"/>
              <a:gd name="connsiteX288" fmla="*/ 8982163 w 11499847"/>
              <a:gd name="connsiteY288" fmla="*/ 440153 h 2403475"/>
              <a:gd name="connsiteX289" fmla="*/ 9036048 w 11499847"/>
              <a:gd name="connsiteY289" fmla="*/ 304905 h 2403475"/>
              <a:gd name="connsiteX290" fmla="*/ 8981954 w 11499847"/>
              <a:gd name="connsiteY290" fmla="*/ 169657 h 2403475"/>
              <a:gd name="connsiteX291" fmla="*/ 8850791 w 11499847"/>
              <a:gd name="connsiteY291" fmla="*/ 114300 h 2403475"/>
              <a:gd name="connsiteX292" fmla="*/ 7335415 w 11499847"/>
              <a:gd name="connsiteY292" fmla="*/ 114300 h 2403475"/>
              <a:gd name="connsiteX293" fmla="*/ 7203974 w 11499847"/>
              <a:gd name="connsiteY293" fmla="*/ 169657 h 2403475"/>
              <a:gd name="connsiteX294" fmla="*/ 7150097 w 11499847"/>
              <a:gd name="connsiteY294" fmla="*/ 304905 h 2403475"/>
              <a:gd name="connsiteX295" fmla="*/ 7203974 w 11499847"/>
              <a:gd name="connsiteY295" fmla="*/ 439943 h 2403475"/>
              <a:gd name="connsiteX296" fmla="*/ 7335415 w 11499847"/>
              <a:gd name="connsiteY296" fmla="*/ 495300 h 2403475"/>
              <a:gd name="connsiteX297" fmla="*/ 7467486 w 11499847"/>
              <a:gd name="connsiteY297" fmla="*/ 440153 h 2403475"/>
              <a:gd name="connsiteX298" fmla="*/ 7521572 w 11499847"/>
              <a:gd name="connsiteY298" fmla="*/ 304905 h 2403475"/>
              <a:gd name="connsiteX299" fmla="*/ 7467067 w 11499847"/>
              <a:gd name="connsiteY299" fmla="*/ 169657 h 2403475"/>
              <a:gd name="connsiteX300" fmla="*/ 7335415 w 11499847"/>
              <a:gd name="connsiteY300" fmla="*/ 114300 h 2403475"/>
              <a:gd name="connsiteX301" fmla="*/ 9237660 w 11499847"/>
              <a:gd name="connsiteY301" fmla="*/ 49213 h 2403475"/>
              <a:gd name="connsiteX302" fmla="*/ 9339260 w 11499847"/>
              <a:gd name="connsiteY302" fmla="*/ 49213 h 2403475"/>
              <a:gd name="connsiteX303" fmla="*/ 9458322 w 11499847"/>
              <a:gd name="connsiteY303" fmla="*/ 242888 h 2403475"/>
              <a:gd name="connsiteX304" fmla="*/ 9578972 w 11499847"/>
              <a:gd name="connsiteY304" fmla="*/ 436563 h 2403475"/>
              <a:gd name="connsiteX305" fmla="*/ 9578972 w 11499847"/>
              <a:gd name="connsiteY305" fmla="*/ 49213 h 2403475"/>
              <a:gd name="connsiteX306" fmla="*/ 9656760 w 11499847"/>
              <a:gd name="connsiteY306" fmla="*/ 49213 h 2403475"/>
              <a:gd name="connsiteX307" fmla="*/ 9656760 w 11499847"/>
              <a:gd name="connsiteY307" fmla="*/ 560388 h 2403475"/>
              <a:gd name="connsiteX308" fmla="*/ 9561510 w 11499847"/>
              <a:gd name="connsiteY308" fmla="*/ 560388 h 2403475"/>
              <a:gd name="connsiteX309" fmla="*/ 9439272 w 11499847"/>
              <a:gd name="connsiteY309" fmla="*/ 363538 h 2403475"/>
              <a:gd name="connsiteX310" fmla="*/ 9317035 w 11499847"/>
              <a:gd name="connsiteY310" fmla="*/ 165101 h 2403475"/>
              <a:gd name="connsiteX311" fmla="*/ 9317035 w 11499847"/>
              <a:gd name="connsiteY311" fmla="*/ 560388 h 2403475"/>
              <a:gd name="connsiteX312" fmla="*/ 9237660 w 11499847"/>
              <a:gd name="connsiteY312" fmla="*/ 560388 h 2403475"/>
              <a:gd name="connsiteX313" fmla="*/ 8126410 w 11499847"/>
              <a:gd name="connsiteY313" fmla="*/ 49213 h 2403475"/>
              <a:gd name="connsiteX314" fmla="*/ 8529635 w 11499847"/>
              <a:gd name="connsiteY314" fmla="*/ 49213 h 2403475"/>
              <a:gd name="connsiteX315" fmla="*/ 8529635 w 11499847"/>
              <a:gd name="connsiteY315" fmla="*/ 125413 h 2403475"/>
              <a:gd name="connsiteX316" fmla="*/ 8369298 w 11499847"/>
              <a:gd name="connsiteY316" fmla="*/ 125413 h 2403475"/>
              <a:gd name="connsiteX317" fmla="*/ 8369298 w 11499847"/>
              <a:gd name="connsiteY317" fmla="*/ 560388 h 2403475"/>
              <a:gd name="connsiteX318" fmla="*/ 8285160 w 11499847"/>
              <a:gd name="connsiteY318" fmla="*/ 560388 h 2403475"/>
              <a:gd name="connsiteX319" fmla="*/ 8285160 w 11499847"/>
              <a:gd name="connsiteY319" fmla="*/ 125413 h 2403475"/>
              <a:gd name="connsiteX320" fmla="*/ 8126410 w 11499847"/>
              <a:gd name="connsiteY320" fmla="*/ 125413 h 2403475"/>
              <a:gd name="connsiteX321" fmla="*/ 6592885 w 11499847"/>
              <a:gd name="connsiteY321" fmla="*/ 49213 h 2403475"/>
              <a:gd name="connsiteX322" fmla="*/ 6795851 w 11499847"/>
              <a:gd name="connsiteY322" fmla="*/ 49213 h 2403475"/>
              <a:gd name="connsiteX323" fmla="*/ 6907775 w 11499847"/>
              <a:gd name="connsiteY323" fmla="*/ 87875 h 2403475"/>
              <a:gd name="connsiteX324" fmla="*/ 6952670 w 11499847"/>
              <a:gd name="connsiteY324" fmla="*/ 185680 h 2403475"/>
              <a:gd name="connsiteX325" fmla="*/ 6936382 w 11499847"/>
              <a:gd name="connsiteY325" fmla="*/ 245658 h 2403475"/>
              <a:gd name="connsiteX326" fmla="*/ 6892114 w 11499847"/>
              <a:gd name="connsiteY326" fmla="*/ 288709 h 2403475"/>
              <a:gd name="connsiteX327" fmla="*/ 6950791 w 11499847"/>
              <a:gd name="connsiteY327" fmla="*/ 339492 h 2403475"/>
              <a:gd name="connsiteX328" fmla="*/ 6972298 w 11499847"/>
              <a:gd name="connsiteY328" fmla="*/ 412845 h 2403475"/>
              <a:gd name="connsiteX329" fmla="*/ 6926359 w 11499847"/>
              <a:gd name="connsiteY329" fmla="*/ 517546 h 2403475"/>
              <a:gd name="connsiteX330" fmla="*/ 6808798 w 11499847"/>
              <a:gd name="connsiteY330" fmla="*/ 560388 h 2403475"/>
              <a:gd name="connsiteX331" fmla="*/ 6592885 w 11499847"/>
              <a:gd name="connsiteY331" fmla="*/ 560388 h 2403475"/>
              <a:gd name="connsiteX332" fmla="*/ 6592885 w 11499847"/>
              <a:gd name="connsiteY332" fmla="*/ 49213 h 2403475"/>
              <a:gd name="connsiteX333" fmla="*/ 8850790 w 11499847"/>
              <a:gd name="connsiteY333" fmla="*/ 38100 h 2403475"/>
              <a:gd name="connsiteX334" fmla="*/ 9041603 w 11499847"/>
              <a:gd name="connsiteY334" fmla="*/ 116301 h 2403475"/>
              <a:gd name="connsiteX335" fmla="*/ 9120185 w 11499847"/>
              <a:gd name="connsiteY335" fmla="*/ 304905 h 2403475"/>
              <a:gd name="connsiteX336" fmla="*/ 9041603 w 11499847"/>
              <a:gd name="connsiteY336" fmla="*/ 493090 h 2403475"/>
              <a:gd name="connsiteX337" fmla="*/ 8850790 w 11499847"/>
              <a:gd name="connsiteY337" fmla="*/ 571500 h 2403475"/>
              <a:gd name="connsiteX338" fmla="*/ 8660186 w 11499847"/>
              <a:gd name="connsiteY338" fmla="*/ 493090 h 2403475"/>
              <a:gd name="connsiteX339" fmla="*/ 8582022 w 11499847"/>
              <a:gd name="connsiteY339" fmla="*/ 304905 h 2403475"/>
              <a:gd name="connsiteX340" fmla="*/ 8660186 w 11499847"/>
              <a:gd name="connsiteY340" fmla="*/ 116301 h 2403475"/>
              <a:gd name="connsiteX341" fmla="*/ 8850790 w 11499847"/>
              <a:gd name="connsiteY341" fmla="*/ 38100 h 2403475"/>
              <a:gd name="connsiteX342" fmla="*/ 7870035 w 11499847"/>
              <a:gd name="connsiteY342" fmla="*/ 38100 h 2403475"/>
              <a:gd name="connsiteX343" fmla="*/ 7871499 w 11499847"/>
              <a:gd name="connsiteY343" fmla="*/ 38100 h 2403475"/>
              <a:gd name="connsiteX344" fmla="*/ 7955187 w 11499847"/>
              <a:gd name="connsiteY344" fmla="*/ 51273 h 2403475"/>
              <a:gd name="connsiteX345" fmla="*/ 8025067 w 11499847"/>
              <a:gd name="connsiteY345" fmla="*/ 86401 h 2403475"/>
              <a:gd name="connsiteX346" fmla="*/ 8004563 w 11499847"/>
              <a:gd name="connsiteY346" fmla="*/ 118811 h 2403475"/>
              <a:gd name="connsiteX347" fmla="*/ 7984060 w 11499847"/>
              <a:gd name="connsiteY347" fmla="*/ 151429 h 2403475"/>
              <a:gd name="connsiteX348" fmla="*/ 7926943 w 11499847"/>
              <a:gd name="connsiteY348" fmla="*/ 122574 h 2403475"/>
              <a:gd name="connsiteX349" fmla="*/ 7869198 w 11499847"/>
              <a:gd name="connsiteY349" fmla="*/ 112538 h 2403475"/>
              <a:gd name="connsiteX350" fmla="*/ 7802666 w 11499847"/>
              <a:gd name="connsiteY350" fmla="*/ 133865 h 2403475"/>
              <a:gd name="connsiteX351" fmla="*/ 7780907 w 11499847"/>
              <a:gd name="connsiteY351" fmla="*/ 185721 h 2403475"/>
              <a:gd name="connsiteX352" fmla="*/ 7811035 w 11499847"/>
              <a:gd name="connsiteY352" fmla="*/ 236949 h 2403475"/>
              <a:gd name="connsiteX353" fmla="*/ 7891166 w 11499847"/>
              <a:gd name="connsiteY353" fmla="*/ 266849 h 2403475"/>
              <a:gd name="connsiteX354" fmla="*/ 7998914 w 11499847"/>
              <a:gd name="connsiteY354" fmla="*/ 313896 h 2403475"/>
              <a:gd name="connsiteX355" fmla="*/ 8047035 w 11499847"/>
              <a:gd name="connsiteY355" fmla="*/ 415934 h 2403475"/>
              <a:gd name="connsiteX356" fmla="*/ 7999751 w 11499847"/>
              <a:gd name="connsiteY356" fmla="*/ 527381 h 2403475"/>
              <a:gd name="connsiteX357" fmla="*/ 7866478 w 11499847"/>
              <a:gd name="connsiteY357" fmla="*/ 571500 h 2403475"/>
              <a:gd name="connsiteX358" fmla="*/ 7761659 w 11499847"/>
              <a:gd name="connsiteY358" fmla="*/ 554145 h 2403475"/>
              <a:gd name="connsiteX359" fmla="*/ 7685085 w 11499847"/>
              <a:gd name="connsiteY359" fmla="*/ 512954 h 2403475"/>
              <a:gd name="connsiteX360" fmla="*/ 7725883 w 11499847"/>
              <a:gd name="connsiteY360" fmla="*/ 447925 h 2403475"/>
              <a:gd name="connsiteX361" fmla="*/ 7793879 w 11499847"/>
              <a:gd name="connsiteY361" fmla="*/ 483053 h 2403475"/>
              <a:gd name="connsiteX362" fmla="*/ 7867106 w 11499847"/>
              <a:gd name="connsiteY362" fmla="*/ 497063 h 2403475"/>
              <a:gd name="connsiteX363" fmla="*/ 7939496 w 11499847"/>
              <a:gd name="connsiteY363" fmla="*/ 475108 h 2403475"/>
              <a:gd name="connsiteX364" fmla="*/ 7964393 w 11499847"/>
              <a:gd name="connsiteY364" fmla="*/ 420952 h 2403475"/>
              <a:gd name="connsiteX365" fmla="*/ 7933847 w 11499847"/>
              <a:gd name="connsiteY365" fmla="*/ 369933 h 2403475"/>
              <a:gd name="connsiteX366" fmla="*/ 7853925 w 11499847"/>
              <a:gd name="connsiteY366" fmla="*/ 339823 h 2403475"/>
              <a:gd name="connsiteX367" fmla="*/ 7745968 w 11499847"/>
              <a:gd name="connsiteY367" fmla="*/ 292986 h 2403475"/>
              <a:gd name="connsiteX368" fmla="*/ 7698266 w 11499847"/>
              <a:gd name="connsiteY368" fmla="*/ 190739 h 2403475"/>
              <a:gd name="connsiteX369" fmla="*/ 7743666 w 11499847"/>
              <a:gd name="connsiteY369" fmla="*/ 80964 h 2403475"/>
              <a:gd name="connsiteX370" fmla="*/ 7870035 w 11499847"/>
              <a:gd name="connsiteY370" fmla="*/ 38100 h 2403475"/>
              <a:gd name="connsiteX371" fmla="*/ 7334624 w 11499847"/>
              <a:gd name="connsiteY371" fmla="*/ 38100 h 2403475"/>
              <a:gd name="connsiteX372" fmla="*/ 7525363 w 11499847"/>
              <a:gd name="connsiteY372" fmla="*/ 116301 h 2403475"/>
              <a:gd name="connsiteX373" fmla="*/ 7604123 w 11499847"/>
              <a:gd name="connsiteY373" fmla="*/ 304905 h 2403475"/>
              <a:gd name="connsiteX374" fmla="*/ 7525363 w 11499847"/>
              <a:gd name="connsiteY374" fmla="*/ 493090 h 2403475"/>
              <a:gd name="connsiteX375" fmla="*/ 7334624 w 11499847"/>
              <a:gd name="connsiteY375" fmla="*/ 571500 h 2403475"/>
              <a:gd name="connsiteX376" fmla="*/ 7144094 w 11499847"/>
              <a:gd name="connsiteY376" fmla="*/ 493090 h 2403475"/>
              <a:gd name="connsiteX377" fmla="*/ 7065960 w 11499847"/>
              <a:gd name="connsiteY377" fmla="*/ 304905 h 2403475"/>
              <a:gd name="connsiteX378" fmla="*/ 7144094 w 11499847"/>
              <a:gd name="connsiteY378" fmla="*/ 116301 h 2403475"/>
              <a:gd name="connsiteX379" fmla="*/ 7334624 w 11499847"/>
              <a:gd name="connsiteY379" fmla="*/ 38100 h 2403475"/>
              <a:gd name="connsiteX380" fmla="*/ 2766077 w 11499847"/>
              <a:gd name="connsiteY380" fmla="*/ 0 h 2403475"/>
              <a:gd name="connsiteX381" fmla="*/ 3146531 w 11499847"/>
              <a:gd name="connsiteY381" fmla="*/ 51449 h 2403475"/>
              <a:gd name="connsiteX382" fmla="*/ 3467375 w 11499847"/>
              <a:gd name="connsiteY382" fmla="*/ 204124 h 2403475"/>
              <a:gd name="connsiteX383" fmla="*/ 3340627 w 11499847"/>
              <a:gd name="connsiteY383" fmla="*/ 403228 h 2403475"/>
              <a:gd name="connsiteX384" fmla="*/ 3213880 w 11499847"/>
              <a:gd name="connsiteY384" fmla="*/ 602542 h 2403475"/>
              <a:gd name="connsiteX385" fmla="*/ 3009743 w 11499847"/>
              <a:gd name="connsiteY385" fmla="*/ 496716 h 2403475"/>
              <a:gd name="connsiteX386" fmla="*/ 2766077 w 11499847"/>
              <a:gd name="connsiteY386" fmla="*/ 457606 h 2403475"/>
              <a:gd name="connsiteX387" fmla="*/ 2232314 w 11499847"/>
              <a:gd name="connsiteY387" fmla="*/ 681180 h 2403475"/>
              <a:gd name="connsiteX388" fmla="*/ 2012073 w 11499847"/>
              <a:gd name="connsiteY388" fmla="*/ 1198391 h 2403475"/>
              <a:gd name="connsiteX389" fmla="*/ 2232314 w 11499847"/>
              <a:gd name="connsiteY389" fmla="*/ 1721250 h 2403475"/>
              <a:gd name="connsiteX390" fmla="*/ 2766077 w 11499847"/>
              <a:gd name="connsiteY390" fmla="*/ 1942732 h 2403475"/>
              <a:gd name="connsiteX391" fmla="*/ 3050111 w 11499847"/>
              <a:gd name="connsiteY391" fmla="*/ 1886682 h 2403475"/>
              <a:gd name="connsiteX392" fmla="*/ 3289594 w 11499847"/>
              <a:gd name="connsiteY392" fmla="*/ 1722086 h 2403475"/>
              <a:gd name="connsiteX393" fmla="*/ 3543925 w 11499847"/>
              <a:gd name="connsiteY393" fmla="*/ 1095493 h 2403475"/>
              <a:gd name="connsiteX394" fmla="*/ 3921866 w 11499847"/>
              <a:gd name="connsiteY394" fmla="*/ 345714 h 2403475"/>
              <a:gd name="connsiteX395" fmla="*/ 4300646 w 11499847"/>
              <a:gd name="connsiteY395" fmla="*/ 92441 h 2403475"/>
              <a:gd name="connsiteX396" fmla="*/ 4787977 w 11499847"/>
              <a:gd name="connsiteY396" fmla="*/ 0 h 2403475"/>
              <a:gd name="connsiteX397" fmla="*/ 5168221 w 11499847"/>
              <a:gd name="connsiteY397" fmla="*/ 54796 h 2403475"/>
              <a:gd name="connsiteX398" fmla="*/ 5489275 w 11499847"/>
              <a:gd name="connsiteY398" fmla="*/ 210607 h 2403475"/>
              <a:gd name="connsiteX399" fmla="*/ 5364200 w 11499847"/>
              <a:gd name="connsiteY399" fmla="*/ 409921 h 2403475"/>
              <a:gd name="connsiteX400" fmla="*/ 5239125 w 11499847"/>
              <a:gd name="connsiteY400" fmla="*/ 609025 h 2403475"/>
              <a:gd name="connsiteX401" fmla="*/ 5031643 w 11499847"/>
              <a:gd name="connsiteY401" fmla="*/ 500480 h 2403475"/>
              <a:gd name="connsiteX402" fmla="*/ 4784631 w 11499847"/>
              <a:gd name="connsiteY402" fmla="*/ 460952 h 2403475"/>
              <a:gd name="connsiteX403" fmla="*/ 4264462 w 11499847"/>
              <a:gd name="connsiteY403" fmla="*/ 679089 h 2403475"/>
              <a:gd name="connsiteX404" fmla="*/ 4050287 w 11499847"/>
              <a:gd name="connsiteY404" fmla="*/ 1198391 h 2403475"/>
              <a:gd name="connsiteX405" fmla="*/ 4262370 w 11499847"/>
              <a:gd name="connsiteY405" fmla="*/ 1725223 h 2403475"/>
              <a:gd name="connsiteX406" fmla="*/ 4778147 w 11499847"/>
              <a:gd name="connsiteY406" fmla="*/ 1945870 h 2403475"/>
              <a:gd name="connsiteX407" fmla="*/ 5191438 w 11499847"/>
              <a:gd name="connsiteY407" fmla="*/ 1804280 h 2403475"/>
              <a:gd name="connsiteX408" fmla="*/ 5426737 w 11499847"/>
              <a:gd name="connsiteY408" fmla="*/ 1445390 h 2403475"/>
              <a:gd name="connsiteX409" fmla="*/ 4708917 w 11499847"/>
              <a:gd name="connsiteY409" fmla="*/ 1445390 h 2403475"/>
              <a:gd name="connsiteX410" fmla="*/ 4850515 w 11499847"/>
              <a:gd name="connsiteY410" fmla="*/ 1223279 h 2403475"/>
              <a:gd name="connsiteX411" fmla="*/ 4992113 w 11499847"/>
              <a:gd name="connsiteY411" fmla="*/ 1000960 h 2403475"/>
              <a:gd name="connsiteX412" fmla="*/ 5457901 w 11499847"/>
              <a:gd name="connsiteY412" fmla="*/ 1000960 h 2403475"/>
              <a:gd name="connsiteX413" fmla="*/ 5924108 w 11499847"/>
              <a:gd name="connsiteY413" fmla="*/ 1000960 h 2403475"/>
              <a:gd name="connsiteX414" fmla="*/ 5936030 w 11499847"/>
              <a:gd name="connsiteY414" fmla="*/ 1100094 h 2403475"/>
              <a:gd name="connsiteX415" fmla="*/ 5940422 w 11499847"/>
              <a:gd name="connsiteY415" fmla="*/ 1201738 h 2403475"/>
              <a:gd name="connsiteX416" fmla="*/ 5600963 w 11499847"/>
              <a:gd name="connsiteY416" fmla="*/ 2050860 h 2403475"/>
              <a:gd name="connsiteX417" fmla="*/ 4764970 w 11499847"/>
              <a:gd name="connsiteY417" fmla="*/ 2403475 h 2403475"/>
              <a:gd name="connsiteX418" fmla="*/ 4178290 w 11499847"/>
              <a:gd name="connsiteY418" fmla="*/ 2262513 h 2403475"/>
              <a:gd name="connsiteX419" fmla="*/ 3757265 w 11499847"/>
              <a:gd name="connsiteY419" fmla="*/ 1886682 h 2403475"/>
              <a:gd name="connsiteX420" fmla="*/ 3332469 w 11499847"/>
              <a:gd name="connsiteY420" fmla="*/ 2263558 h 2403475"/>
              <a:gd name="connsiteX421" fmla="*/ 2749555 w 11499847"/>
              <a:gd name="connsiteY421" fmla="*/ 2403475 h 2403475"/>
              <a:gd name="connsiteX422" fmla="*/ 2242563 w 11499847"/>
              <a:gd name="connsiteY422" fmla="*/ 2295766 h 2403475"/>
              <a:gd name="connsiteX423" fmla="*/ 1844121 w 11499847"/>
              <a:gd name="connsiteY423" fmla="*/ 2005266 h 2403475"/>
              <a:gd name="connsiteX424" fmla="*/ 1583096 w 11499847"/>
              <a:gd name="connsiteY424" fmla="*/ 2257493 h 2403475"/>
              <a:gd name="connsiteX425" fmla="*/ 1188838 w 11499847"/>
              <a:gd name="connsiteY425" fmla="*/ 2354117 h 2403475"/>
              <a:gd name="connsiteX426" fmla="*/ 0 w 11499847"/>
              <a:gd name="connsiteY426" fmla="*/ 2354117 h 2403475"/>
              <a:gd name="connsiteX427" fmla="*/ 0 w 11499847"/>
              <a:gd name="connsiteY427" fmla="*/ 1201738 h 2403475"/>
              <a:gd name="connsiteX428" fmla="*/ 0 w 11499847"/>
              <a:gd name="connsiteY428" fmla="*/ 49358 h 2403475"/>
              <a:gd name="connsiteX429" fmla="*/ 538575 w 11499847"/>
              <a:gd name="connsiteY429" fmla="*/ 49358 h 2403475"/>
              <a:gd name="connsiteX430" fmla="*/ 1076940 w 11499847"/>
              <a:gd name="connsiteY430" fmla="*/ 49358 h 2403475"/>
              <a:gd name="connsiteX431" fmla="*/ 1523487 w 11499847"/>
              <a:gd name="connsiteY431" fmla="*/ 176099 h 2403475"/>
              <a:gd name="connsiteX432" fmla="*/ 1774892 w 11499847"/>
              <a:gd name="connsiteY432" fmla="*/ 500480 h 2403475"/>
              <a:gd name="connsiteX433" fmla="*/ 2196549 w 11499847"/>
              <a:gd name="connsiteY433" fmla="*/ 137826 h 2403475"/>
              <a:gd name="connsiteX434" fmla="*/ 2766077 w 11499847"/>
              <a:gd name="connsiteY434" fmla="*/ 0 h 2403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Lst>
            <a:rect l="l" t="t" r="r" b="b"/>
            <a:pathLst>
              <a:path w="11499847" h="2403475">
                <a:moveTo>
                  <a:pt x="8982072" y="1919288"/>
                </a:moveTo>
                <a:cubicBezTo>
                  <a:pt x="8982072" y="2105026"/>
                  <a:pt x="8982072" y="2105026"/>
                  <a:pt x="8982072" y="2105026"/>
                </a:cubicBezTo>
                <a:cubicBezTo>
                  <a:pt x="9098233" y="2105026"/>
                  <a:pt x="9098233" y="2105026"/>
                  <a:pt x="9098233" y="2105026"/>
                </a:cubicBezTo>
                <a:cubicBezTo>
                  <a:pt x="9124975" y="2105026"/>
                  <a:pt x="9148166" y="2096202"/>
                  <a:pt x="9164880" y="2080233"/>
                </a:cubicBezTo>
                <a:cubicBezTo>
                  <a:pt x="9181594" y="2064055"/>
                  <a:pt x="9191622" y="2040732"/>
                  <a:pt x="9191622" y="2011737"/>
                </a:cubicBezTo>
                <a:cubicBezTo>
                  <a:pt x="9191622" y="1983792"/>
                  <a:pt x="9181594" y="1960680"/>
                  <a:pt x="9164880" y="1944501"/>
                </a:cubicBezTo>
                <a:cubicBezTo>
                  <a:pt x="9148166" y="1928323"/>
                  <a:pt x="9124975" y="1919288"/>
                  <a:pt x="9098233" y="1919288"/>
                </a:cubicBezTo>
                <a:cubicBezTo>
                  <a:pt x="8982072" y="1919288"/>
                  <a:pt x="8982072" y="1919288"/>
                  <a:pt x="8982072" y="1919288"/>
                </a:cubicBezTo>
                <a:close/>
                <a:moveTo>
                  <a:pt x="7280272" y="1919288"/>
                </a:moveTo>
                <a:cubicBezTo>
                  <a:pt x="7280272" y="2097088"/>
                  <a:pt x="7280272" y="2097088"/>
                  <a:pt x="7280272" y="2097088"/>
                </a:cubicBezTo>
                <a:cubicBezTo>
                  <a:pt x="7404503" y="2097088"/>
                  <a:pt x="7404503" y="2097088"/>
                  <a:pt x="7404503" y="2097088"/>
                </a:cubicBezTo>
                <a:cubicBezTo>
                  <a:pt x="7430689" y="2097088"/>
                  <a:pt x="7453105" y="2088711"/>
                  <a:pt x="7469027" y="2073423"/>
                </a:cubicBezTo>
                <a:cubicBezTo>
                  <a:pt x="7485158" y="2058136"/>
                  <a:pt x="7494585" y="2035937"/>
                  <a:pt x="7494585" y="2008502"/>
                </a:cubicBezTo>
                <a:cubicBezTo>
                  <a:pt x="7494585" y="1981487"/>
                  <a:pt x="7485158" y="1959078"/>
                  <a:pt x="7469027" y="1943581"/>
                </a:cubicBezTo>
                <a:cubicBezTo>
                  <a:pt x="7453105" y="1927874"/>
                  <a:pt x="7430689" y="1919288"/>
                  <a:pt x="7404503" y="1919288"/>
                </a:cubicBezTo>
                <a:cubicBezTo>
                  <a:pt x="7280272" y="1919288"/>
                  <a:pt x="7280272" y="1919288"/>
                  <a:pt x="7280272" y="1919288"/>
                </a:cubicBezTo>
                <a:close/>
                <a:moveTo>
                  <a:pt x="7945015" y="1909763"/>
                </a:moveTo>
                <a:cubicBezTo>
                  <a:pt x="7893445" y="1909763"/>
                  <a:pt x="7847115" y="1930941"/>
                  <a:pt x="7813574" y="1965330"/>
                </a:cubicBezTo>
                <a:cubicBezTo>
                  <a:pt x="7780242" y="1999719"/>
                  <a:pt x="7759697" y="2047317"/>
                  <a:pt x="7759697" y="2100368"/>
                </a:cubicBezTo>
                <a:cubicBezTo>
                  <a:pt x="7759697" y="2153419"/>
                  <a:pt x="7780242" y="2201227"/>
                  <a:pt x="7813574" y="2235406"/>
                </a:cubicBezTo>
                <a:cubicBezTo>
                  <a:pt x="7847115" y="2269795"/>
                  <a:pt x="7893445" y="2290763"/>
                  <a:pt x="7945015" y="2290763"/>
                </a:cubicBezTo>
                <a:cubicBezTo>
                  <a:pt x="7997215" y="2290763"/>
                  <a:pt x="8043544" y="2270004"/>
                  <a:pt x="8077086" y="2235825"/>
                </a:cubicBezTo>
                <a:cubicBezTo>
                  <a:pt x="8110628" y="2201437"/>
                  <a:pt x="8131172" y="2153838"/>
                  <a:pt x="8131172" y="2100368"/>
                </a:cubicBezTo>
                <a:cubicBezTo>
                  <a:pt x="8131172" y="2047317"/>
                  <a:pt x="8110418" y="1999719"/>
                  <a:pt x="8076876" y="1965330"/>
                </a:cubicBezTo>
                <a:cubicBezTo>
                  <a:pt x="8043334" y="1930941"/>
                  <a:pt x="7996796" y="1909763"/>
                  <a:pt x="7945015" y="1909763"/>
                </a:cubicBezTo>
                <a:close/>
                <a:moveTo>
                  <a:pt x="8899522" y="1844675"/>
                </a:moveTo>
                <a:cubicBezTo>
                  <a:pt x="9098598" y="1844675"/>
                  <a:pt x="9098598" y="1844675"/>
                  <a:pt x="9098598" y="1844675"/>
                </a:cubicBezTo>
                <a:cubicBezTo>
                  <a:pt x="9152872" y="1844675"/>
                  <a:pt x="9197507" y="1862857"/>
                  <a:pt x="9228521" y="1892741"/>
                </a:cubicBezTo>
                <a:cubicBezTo>
                  <a:pt x="9259744" y="1922835"/>
                  <a:pt x="9277347" y="1964423"/>
                  <a:pt x="9277347" y="2011236"/>
                </a:cubicBezTo>
                <a:cubicBezTo>
                  <a:pt x="9277347" y="2057839"/>
                  <a:pt x="9259744" y="2099427"/>
                  <a:pt x="9228521" y="2129521"/>
                </a:cubicBezTo>
                <a:cubicBezTo>
                  <a:pt x="9197507" y="2159405"/>
                  <a:pt x="9152872" y="2177796"/>
                  <a:pt x="9098598" y="2177796"/>
                </a:cubicBezTo>
                <a:cubicBezTo>
                  <a:pt x="8982086" y="2177796"/>
                  <a:pt x="8982086" y="2177796"/>
                  <a:pt x="8982086" y="2177796"/>
                </a:cubicBezTo>
                <a:cubicBezTo>
                  <a:pt x="8982086" y="2355850"/>
                  <a:pt x="8982086" y="2355850"/>
                  <a:pt x="8982086" y="2355850"/>
                </a:cubicBezTo>
                <a:cubicBezTo>
                  <a:pt x="8899522" y="2355850"/>
                  <a:pt x="8899522" y="2355850"/>
                  <a:pt x="8899522" y="2355850"/>
                </a:cubicBezTo>
                <a:cubicBezTo>
                  <a:pt x="8899522" y="1844675"/>
                  <a:pt x="8899522" y="1844675"/>
                  <a:pt x="8899522" y="1844675"/>
                </a:cubicBezTo>
                <a:close/>
                <a:moveTo>
                  <a:pt x="8324847" y="1844675"/>
                </a:moveTo>
                <a:cubicBezTo>
                  <a:pt x="8407608" y="1844675"/>
                  <a:pt x="8407608" y="1844675"/>
                  <a:pt x="8407608" y="1844675"/>
                </a:cubicBezTo>
                <a:cubicBezTo>
                  <a:pt x="8407608" y="2158090"/>
                  <a:pt x="8407608" y="2158090"/>
                  <a:pt x="8407608" y="2158090"/>
                </a:cubicBezTo>
                <a:cubicBezTo>
                  <a:pt x="8407608" y="2195307"/>
                  <a:pt x="8420389" y="2228551"/>
                  <a:pt x="8443017" y="2252595"/>
                </a:cubicBezTo>
                <a:cubicBezTo>
                  <a:pt x="8465855" y="2276431"/>
                  <a:pt x="8498331" y="2291066"/>
                  <a:pt x="8537931" y="2291066"/>
                </a:cubicBezTo>
                <a:cubicBezTo>
                  <a:pt x="8576692" y="2291066"/>
                  <a:pt x="8609168" y="2276431"/>
                  <a:pt x="8631797" y="2252595"/>
                </a:cubicBezTo>
                <a:cubicBezTo>
                  <a:pt x="8654425" y="2228551"/>
                  <a:pt x="8667415" y="2195307"/>
                  <a:pt x="8667415" y="2158090"/>
                </a:cubicBezTo>
                <a:cubicBezTo>
                  <a:pt x="8667415" y="1844675"/>
                  <a:pt x="8667415" y="1844675"/>
                  <a:pt x="8667415" y="1844675"/>
                </a:cubicBezTo>
                <a:cubicBezTo>
                  <a:pt x="8748710" y="1844675"/>
                  <a:pt x="8748710" y="1844675"/>
                  <a:pt x="8748710" y="1844675"/>
                </a:cubicBezTo>
                <a:cubicBezTo>
                  <a:pt x="8748710" y="2158717"/>
                  <a:pt x="8748710" y="2158717"/>
                  <a:pt x="8748710" y="2158717"/>
                </a:cubicBezTo>
                <a:cubicBezTo>
                  <a:pt x="8748710" y="2218724"/>
                  <a:pt x="8726291" y="2270785"/>
                  <a:pt x="8688577" y="2307793"/>
                </a:cubicBezTo>
                <a:cubicBezTo>
                  <a:pt x="8650863" y="2345010"/>
                  <a:pt x="8597854" y="2366963"/>
                  <a:pt x="8537093" y="2366963"/>
                </a:cubicBezTo>
                <a:cubicBezTo>
                  <a:pt x="8476331" y="2366963"/>
                  <a:pt x="8423322" y="2345010"/>
                  <a:pt x="8385399" y="2307793"/>
                </a:cubicBezTo>
                <a:cubicBezTo>
                  <a:pt x="8347475" y="2270785"/>
                  <a:pt x="8324847" y="2218724"/>
                  <a:pt x="8324847" y="2158717"/>
                </a:cubicBezTo>
                <a:cubicBezTo>
                  <a:pt x="8324847" y="1844675"/>
                  <a:pt x="8324847" y="1844675"/>
                  <a:pt x="8324847" y="1844675"/>
                </a:cubicBezTo>
                <a:close/>
                <a:moveTo>
                  <a:pt x="7197722" y="1844675"/>
                </a:moveTo>
                <a:cubicBezTo>
                  <a:pt x="7404196" y="1844675"/>
                  <a:pt x="7404196" y="1844675"/>
                  <a:pt x="7404196" y="1844675"/>
                </a:cubicBezTo>
                <a:cubicBezTo>
                  <a:pt x="7457641" y="1844675"/>
                  <a:pt x="7501065" y="1862439"/>
                  <a:pt x="7531336" y="1891906"/>
                </a:cubicBezTo>
                <a:cubicBezTo>
                  <a:pt x="7561608" y="1921581"/>
                  <a:pt x="7578727" y="1962542"/>
                  <a:pt x="7578727" y="2008937"/>
                </a:cubicBezTo>
                <a:cubicBezTo>
                  <a:pt x="7578727" y="2047390"/>
                  <a:pt x="7568080" y="2080827"/>
                  <a:pt x="7548455" y="2106950"/>
                </a:cubicBezTo>
                <a:cubicBezTo>
                  <a:pt x="7529040" y="2133073"/>
                  <a:pt x="7500647" y="2152091"/>
                  <a:pt x="7464947" y="2161495"/>
                </a:cubicBezTo>
                <a:cubicBezTo>
                  <a:pt x="7525699" y="2258673"/>
                  <a:pt x="7525699" y="2258673"/>
                  <a:pt x="7525699" y="2258673"/>
                </a:cubicBezTo>
                <a:cubicBezTo>
                  <a:pt x="7586660" y="2355850"/>
                  <a:pt x="7586660" y="2355850"/>
                  <a:pt x="7586660" y="2355850"/>
                </a:cubicBezTo>
                <a:cubicBezTo>
                  <a:pt x="7491044" y="2355850"/>
                  <a:pt x="7491044" y="2355850"/>
                  <a:pt x="7491044" y="2355850"/>
                </a:cubicBezTo>
                <a:cubicBezTo>
                  <a:pt x="7434676" y="2263479"/>
                  <a:pt x="7434676" y="2263479"/>
                  <a:pt x="7434676" y="2263479"/>
                </a:cubicBezTo>
                <a:cubicBezTo>
                  <a:pt x="7378099" y="2171108"/>
                  <a:pt x="7378099" y="2171108"/>
                  <a:pt x="7378099" y="2171108"/>
                </a:cubicBezTo>
                <a:cubicBezTo>
                  <a:pt x="7280395" y="2171108"/>
                  <a:pt x="7280395" y="2171108"/>
                  <a:pt x="7280395" y="2171108"/>
                </a:cubicBezTo>
                <a:cubicBezTo>
                  <a:pt x="7280395" y="2355850"/>
                  <a:pt x="7280395" y="2355850"/>
                  <a:pt x="7280395" y="2355850"/>
                </a:cubicBezTo>
                <a:cubicBezTo>
                  <a:pt x="7197722" y="2355850"/>
                  <a:pt x="7197722" y="2355850"/>
                  <a:pt x="7197722" y="2355850"/>
                </a:cubicBezTo>
                <a:cubicBezTo>
                  <a:pt x="7197722" y="1844675"/>
                  <a:pt x="7197722" y="1844675"/>
                  <a:pt x="7197722" y="1844675"/>
                </a:cubicBezTo>
                <a:close/>
                <a:moveTo>
                  <a:pt x="7945016" y="1833563"/>
                </a:moveTo>
                <a:cubicBezTo>
                  <a:pt x="8020028" y="1833563"/>
                  <a:pt x="8087706" y="1863673"/>
                  <a:pt x="8136527" y="1911974"/>
                </a:cubicBezTo>
                <a:cubicBezTo>
                  <a:pt x="8185138" y="1960274"/>
                  <a:pt x="8215310" y="2026976"/>
                  <a:pt x="8215310" y="2100368"/>
                </a:cubicBezTo>
                <a:cubicBezTo>
                  <a:pt x="8215310" y="2173760"/>
                  <a:pt x="8185138" y="2240461"/>
                  <a:pt x="8136527" y="2288762"/>
                </a:cubicBezTo>
                <a:cubicBezTo>
                  <a:pt x="8087706" y="2337063"/>
                  <a:pt x="8020028" y="2366963"/>
                  <a:pt x="7945016" y="2366963"/>
                </a:cubicBezTo>
                <a:cubicBezTo>
                  <a:pt x="7870004" y="2366963"/>
                  <a:pt x="7802745" y="2337063"/>
                  <a:pt x="7754134" y="2288762"/>
                </a:cubicBezTo>
                <a:cubicBezTo>
                  <a:pt x="7705523" y="2240461"/>
                  <a:pt x="7675560" y="2173760"/>
                  <a:pt x="7675560" y="2100368"/>
                </a:cubicBezTo>
                <a:cubicBezTo>
                  <a:pt x="7675560" y="2026976"/>
                  <a:pt x="7705523" y="1960274"/>
                  <a:pt x="7754134" y="1911974"/>
                </a:cubicBezTo>
                <a:cubicBezTo>
                  <a:pt x="7802745" y="1863673"/>
                  <a:pt x="7870004" y="1833563"/>
                  <a:pt x="7945016" y="1833563"/>
                </a:cubicBezTo>
                <a:close/>
                <a:moveTo>
                  <a:pt x="6834872" y="1833563"/>
                </a:moveTo>
                <a:cubicBezTo>
                  <a:pt x="6865690" y="1833563"/>
                  <a:pt x="6894831" y="1837536"/>
                  <a:pt x="6921875" y="1845482"/>
                </a:cubicBezTo>
                <a:cubicBezTo>
                  <a:pt x="6948919" y="1853218"/>
                  <a:pt x="6973658" y="1865136"/>
                  <a:pt x="6996090" y="1881028"/>
                </a:cubicBezTo>
                <a:cubicBezTo>
                  <a:pt x="6974496" y="1914692"/>
                  <a:pt x="6974496" y="1914692"/>
                  <a:pt x="6974496" y="1914692"/>
                </a:cubicBezTo>
                <a:cubicBezTo>
                  <a:pt x="6952903" y="1948356"/>
                  <a:pt x="6952903" y="1948356"/>
                  <a:pt x="6952903" y="1948356"/>
                </a:cubicBezTo>
                <a:cubicBezTo>
                  <a:pt x="6935712" y="1935183"/>
                  <a:pt x="6917263" y="1925774"/>
                  <a:pt x="6897556" y="1919501"/>
                </a:cubicBezTo>
                <a:cubicBezTo>
                  <a:pt x="6877850" y="1913228"/>
                  <a:pt x="6856885" y="1910301"/>
                  <a:pt x="6834243" y="1910301"/>
                </a:cubicBezTo>
                <a:cubicBezTo>
                  <a:pt x="6782461" y="1910301"/>
                  <a:pt x="6736548" y="1931001"/>
                  <a:pt x="6703424" y="1965084"/>
                </a:cubicBezTo>
                <a:cubicBezTo>
                  <a:pt x="6670510" y="1999166"/>
                  <a:pt x="6650384" y="2046631"/>
                  <a:pt x="6650384" y="2100368"/>
                </a:cubicBezTo>
                <a:cubicBezTo>
                  <a:pt x="6650384" y="2154105"/>
                  <a:pt x="6669671" y="2201779"/>
                  <a:pt x="6701957" y="2236070"/>
                </a:cubicBezTo>
                <a:cubicBezTo>
                  <a:pt x="6734242" y="2270152"/>
                  <a:pt x="6779526" y="2291062"/>
                  <a:pt x="6831308" y="2291062"/>
                </a:cubicBezTo>
                <a:cubicBezTo>
                  <a:pt x="6878898" y="2291062"/>
                  <a:pt x="6917473" y="2275798"/>
                  <a:pt x="6945984" y="2250498"/>
                </a:cubicBezTo>
                <a:cubicBezTo>
                  <a:pt x="6974496" y="2225197"/>
                  <a:pt x="6992735" y="2189442"/>
                  <a:pt x="6999863" y="2148460"/>
                </a:cubicBezTo>
                <a:cubicBezTo>
                  <a:pt x="6825438" y="2148460"/>
                  <a:pt x="6825438" y="2148460"/>
                  <a:pt x="6825438" y="2148460"/>
                </a:cubicBezTo>
                <a:cubicBezTo>
                  <a:pt x="6849128" y="2111241"/>
                  <a:pt x="6849128" y="2111241"/>
                  <a:pt x="6849128" y="2111241"/>
                </a:cubicBezTo>
                <a:cubicBezTo>
                  <a:pt x="6873028" y="2074022"/>
                  <a:pt x="6873028" y="2074022"/>
                  <a:pt x="6873028" y="2074022"/>
                </a:cubicBezTo>
                <a:cubicBezTo>
                  <a:pt x="7078061" y="2074022"/>
                  <a:pt x="7078061" y="2074022"/>
                  <a:pt x="7078061" y="2074022"/>
                </a:cubicBezTo>
                <a:cubicBezTo>
                  <a:pt x="7079319" y="2078204"/>
                  <a:pt x="7080158" y="2083849"/>
                  <a:pt x="7080787" y="2090540"/>
                </a:cubicBezTo>
                <a:cubicBezTo>
                  <a:pt x="7081415" y="2096813"/>
                  <a:pt x="7081835" y="2103922"/>
                  <a:pt x="7081835" y="2110613"/>
                </a:cubicBezTo>
                <a:cubicBezTo>
                  <a:pt x="7081835" y="2183378"/>
                  <a:pt x="7056258" y="2247361"/>
                  <a:pt x="7011813" y="2293362"/>
                </a:cubicBezTo>
                <a:cubicBezTo>
                  <a:pt x="6967788" y="2339363"/>
                  <a:pt x="6904894" y="2366963"/>
                  <a:pt x="6830470" y="2366963"/>
                </a:cubicBezTo>
                <a:cubicBezTo>
                  <a:pt x="6756255" y="2366963"/>
                  <a:pt x="6690007" y="2337481"/>
                  <a:pt x="6642417" y="2289389"/>
                </a:cubicBezTo>
                <a:cubicBezTo>
                  <a:pt x="6595037" y="2241088"/>
                  <a:pt x="6565897" y="2174387"/>
                  <a:pt x="6565897" y="2100368"/>
                </a:cubicBezTo>
                <a:cubicBezTo>
                  <a:pt x="6565897" y="2026139"/>
                  <a:pt x="6595876" y="1959438"/>
                  <a:pt x="6644514" y="1911346"/>
                </a:cubicBezTo>
                <a:cubicBezTo>
                  <a:pt x="6692942" y="1863255"/>
                  <a:pt x="6760238" y="1833563"/>
                  <a:pt x="6834872" y="1833563"/>
                </a:cubicBezTo>
                <a:close/>
                <a:moveTo>
                  <a:pt x="501650" y="1403350"/>
                </a:moveTo>
                <a:cubicBezTo>
                  <a:pt x="501650" y="1403350"/>
                  <a:pt x="501650" y="1403350"/>
                  <a:pt x="501650" y="1925638"/>
                </a:cubicBezTo>
                <a:cubicBezTo>
                  <a:pt x="501650" y="1925638"/>
                  <a:pt x="501650" y="1925638"/>
                  <a:pt x="842112" y="1925638"/>
                </a:cubicBezTo>
                <a:cubicBezTo>
                  <a:pt x="842112" y="1925638"/>
                  <a:pt x="842112" y="1925638"/>
                  <a:pt x="1182574" y="1925638"/>
                </a:cubicBezTo>
                <a:cubicBezTo>
                  <a:pt x="1258233" y="1925638"/>
                  <a:pt x="1326576" y="1896842"/>
                  <a:pt x="1375900" y="1849684"/>
                </a:cubicBezTo>
                <a:cubicBezTo>
                  <a:pt x="1425224" y="1802317"/>
                  <a:pt x="1455738" y="1736796"/>
                  <a:pt x="1455738" y="1662720"/>
                </a:cubicBezTo>
                <a:cubicBezTo>
                  <a:pt x="1455738" y="1588853"/>
                  <a:pt x="1425224" y="1523958"/>
                  <a:pt x="1375900" y="1477635"/>
                </a:cubicBezTo>
                <a:cubicBezTo>
                  <a:pt x="1326576" y="1431103"/>
                  <a:pt x="1258233" y="1403350"/>
                  <a:pt x="1182574" y="1403350"/>
                </a:cubicBezTo>
                <a:cubicBezTo>
                  <a:pt x="1182574" y="1403350"/>
                  <a:pt x="1182574" y="1403350"/>
                  <a:pt x="501650" y="1403350"/>
                </a:cubicBezTo>
                <a:close/>
                <a:moveTo>
                  <a:pt x="7349808" y="1012825"/>
                </a:moveTo>
                <a:cubicBezTo>
                  <a:pt x="7297999" y="1012825"/>
                  <a:pt x="7251643" y="1033706"/>
                  <a:pt x="7218292" y="1067952"/>
                </a:cubicBezTo>
                <a:cubicBezTo>
                  <a:pt x="7184731" y="1102197"/>
                  <a:pt x="7164385" y="1149598"/>
                  <a:pt x="7164385" y="1202427"/>
                </a:cubicBezTo>
                <a:cubicBezTo>
                  <a:pt x="7164385" y="1255466"/>
                  <a:pt x="7184731" y="1302866"/>
                  <a:pt x="7218292" y="1336903"/>
                </a:cubicBezTo>
                <a:cubicBezTo>
                  <a:pt x="7251643" y="1371148"/>
                  <a:pt x="7297999" y="1392238"/>
                  <a:pt x="7349808" y="1392238"/>
                </a:cubicBezTo>
                <a:cubicBezTo>
                  <a:pt x="7401827" y="1392238"/>
                  <a:pt x="7448393" y="1371357"/>
                  <a:pt x="7481953" y="1337320"/>
                </a:cubicBezTo>
                <a:cubicBezTo>
                  <a:pt x="7515304" y="1303075"/>
                  <a:pt x="7535860" y="1255675"/>
                  <a:pt x="7535860" y="1202427"/>
                </a:cubicBezTo>
                <a:cubicBezTo>
                  <a:pt x="7535860" y="1149598"/>
                  <a:pt x="7515304" y="1102197"/>
                  <a:pt x="7481534" y="1067952"/>
                </a:cubicBezTo>
                <a:cubicBezTo>
                  <a:pt x="7447973" y="1033706"/>
                  <a:pt x="7401408" y="1012825"/>
                  <a:pt x="7349808" y="1012825"/>
                </a:cubicBezTo>
                <a:close/>
                <a:moveTo>
                  <a:pt x="10448922" y="946150"/>
                </a:moveTo>
                <a:lnTo>
                  <a:pt x="10552110" y="946150"/>
                </a:lnTo>
                <a:lnTo>
                  <a:pt x="10671172" y="1139825"/>
                </a:lnTo>
                <a:lnTo>
                  <a:pt x="10790235" y="1333501"/>
                </a:lnTo>
                <a:lnTo>
                  <a:pt x="10790235" y="946150"/>
                </a:lnTo>
                <a:lnTo>
                  <a:pt x="10869610" y="946150"/>
                </a:lnTo>
                <a:lnTo>
                  <a:pt x="10869610" y="1458913"/>
                </a:lnTo>
                <a:lnTo>
                  <a:pt x="10772772" y="1458913"/>
                </a:lnTo>
                <a:lnTo>
                  <a:pt x="10650535" y="1260475"/>
                </a:lnTo>
                <a:lnTo>
                  <a:pt x="10528297" y="1062038"/>
                </a:lnTo>
                <a:lnTo>
                  <a:pt x="10528297" y="1458913"/>
                </a:lnTo>
                <a:lnTo>
                  <a:pt x="10448922" y="1458913"/>
                </a:lnTo>
                <a:close/>
                <a:moveTo>
                  <a:pt x="10185397" y="946150"/>
                </a:moveTo>
                <a:lnTo>
                  <a:pt x="10267947" y="946150"/>
                </a:lnTo>
                <a:lnTo>
                  <a:pt x="10267947" y="1458913"/>
                </a:lnTo>
                <a:lnTo>
                  <a:pt x="10185397" y="1458913"/>
                </a:lnTo>
                <a:close/>
                <a:moveTo>
                  <a:pt x="9656760" y="946150"/>
                </a:moveTo>
                <a:lnTo>
                  <a:pt x="10059985" y="946150"/>
                </a:lnTo>
                <a:lnTo>
                  <a:pt x="10059985" y="1022350"/>
                </a:lnTo>
                <a:lnTo>
                  <a:pt x="9899648" y="1022350"/>
                </a:lnTo>
                <a:lnTo>
                  <a:pt x="9899648" y="1458913"/>
                </a:lnTo>
                <a:lnTo>
                  <a:pt x="9817098" y="1458913"/>
                </a:lnTo>
                <a:lnTo>
                  <a:pt x="9817098" y="1022350"/>
                </a:lnTo>
                <a:lnTo>
                  <a:pt x="9656760" y="1022350"/>
                </a:lnTo>
                <a:close/>
                <a:moveTo>
                  <a:pt x="9336085" y="946150"/>
                </a:moveTo>
                <a:lnTo>
                  <a:pt x="9418635" y="946150"/>
                </a:lnTo>
                <a:lnTo>
                  <a:pt x="9418635" y="1382713"/>
                </a:lnTo>
                <a:lnTo>
                  <a:pt x="9671048" y="1382713"/>
                </a:lnTo>
                <a:lnTo>
                  <a:pt x="9671048" y="1458913"/>
                </a:lnTo>
                <a:lnTo>
                  <a:pt x="9336085" y="1458913"/>
                </a:lnTo>
                <a:close/>
                <a:moveTo>
                  <a:pt x="8766172" y="946150"/>
                </a:moveTo>
                <a:cubicBezTo>
                  <a:pt x="8848414" y="946150"/>
                  <a:pt x="8848414" y="946150"/>
                  <a:pt x="8848414" y="946150"/>
                </a:cubicBezTo>
                <a:cubicBezTo>
                  <a:pt x="8848414" y="1260391"/>
                  <a:pt x="8848414" y="1260391"/>
                  <a:pt x="8848414" y="1260391"/>
                </a:cubicBezTo>
                <a:cubicBezTo>
                  <a:pt x="8848414" y="1297706"/>
                  <a:pt x="8861356" y="1331038"/>
                  <a:pt x="8883900" y="1355146"/>
                </a:cubicBezTo>
                <a:cubicBezTo>
                  <a:pt x="8906443" y="1379044"/>
                  <a:pt x="8939006" y="1393718"/>
                  <a:pt x="8978249" y="1393718"/>
                </a:cubicBezTo>
                <a:cubicBezTo>
                  <a:pt x="9017074" y="1393718"/>
                  <a:pt x="9049219" y="1379044"/>
                  <a:pt x="9071972" y="1355146"/>
                </a:cubicBezTo>
                <a:cubicBezTo>
                  <a:pt x="9094515" y="1331038"/>
                  <a:pt x="9107457" y="1297706"/>
                  <a:pt x="9107457" y="1260391"/>
                </a:cubicBezTo>
                <a:cubicBezTo>
                  <a:pt x="9107457" y="946150"/>
                  <a:pt x="9107457" y="946150"/>
                  <a:pt x="9107457" y="946150"/>
                </a:cubicBezTo>
                <a:cubicBezTo>
                  <a:pt x="9188447" y="946150"/>
                  <a:pt x="9188447" y="946150"/>
                  <a:pt x="9188447" y="946150"/>
                </a:cubicBezTo>
                <a:cubicBezTo>
                  <a:pt x="9188447" y="1261230"/>
                  <a:pt x="9188447" y="1261230"/>
                  <a:pt x="9188447" y="1261230"/>
                </a:cubicBezTo>
                <a:cubicBezTo>
                  <a:pt x="9188447" y="1321185"/>
                  <a:pt x="9166112" y="1373384"/>
                  <a:pt x="9128539" y="1410489"/>
                </a:cubicBezTo>
                <a:cubicBezTo>
                  <a:pt x="9090758" y="1447804"/>
                  <a:pt x="9038156" y="1470025"/>
                  <a:pt x="8977623" y="1470025"/>
                </a:cubicBezTo>
                <a:cubicBezTo>
                  <a:pt x="8917089" y="1470025"/>
                  <a:pt x="8864278" y="1447804"/>
                  <a:pt x="8826497" y="1410489"/>
                </a:cubicBezTo>
                <a:cubicBezTo>
                  <a:pt x="8788716" y="1373384"/>
                  <a:pt x="8766172" y="1321185"/>
                  <a:pt x="8766172" y="1261230"/>
                </a:cubicBezTo>
                <a:cubicBezTo>
                  <a:pt x="8766172" y="946150"/>
                  <a:pt x="8766172" y="946150"/>
                  <a:pt x="8766172" y="946150"/>
                </a:cubicBezTo>
                <a:close/>
                <a:moveTo>
                  <a:pt x="7737472" y="946150"/>
                </a:moveTo>
                <a:lnTo>
                  <a:pt x="7839072" y="946150"/>
                </a:lnTo>
                <a:lnTo>
                  <a:pt x="7958134" y="1139825"/>
                </a:lnTo>
                <a:lnTo>
                  <a:pt x="8077197" y="1333501"/>
                </a:lnTo>
                <a:lnTo>
                  <a:pt x="8077197" y="946150"/>
                </a:lnTo>
                <a:lnTo>
                  <a:pt x="8156572" y="946150"/>
                </a:lnTo>
                <a:lnTo>
                  <a:pt x="8156572" y="1458913"/>
                </a:lnTo>
                <a:lnTo>
                  <a:pt x="8061322" y="1458913"/>
                </a:lnTo>
                <a:lnTo>
                  <a:pt x="7939084" y="1260475"/>
                </a:lnTo>
                <a:lnTo>
                  <a:pt x="7815259" y="1062038"/>
                </a:lnTo>
                <a:lnTo>
                  <a:pt x="7815259" y="1458913"/>
                </a:lnTo>
                <a:lnTo>
                  <a:pt x="7737472" y="1458913"/>
                </a:lnTo>
                <a:close/>
                <a:moveTo>
                  <a:pt x="11253544" y="936625"/>
                </a:moveTo>
                <a:cubicBezTo>
                  <a:pt x="11284280" y="936625"/>
                  <a:pt x="11313343" y="940389"/>
                  <a:pt x="11340315" y="948334"/>
                </a:cubicBezTo>
                <a:cubicBezTo>
                  <a:pt x="11367287" y="956071"/>
                  <a:pt x="11391959" y="967989"/>
                  <a:pt x="11414331" y="984090"/>
                </a:cubicBezTo>
                <a:cubicBezTo>
                  <a:pt x="11392795" y="1017545"/>
                  <a:pt x="11392795" y="1017545"/>
                  <a:pt x="11392795" y="1017545"/>
                </a:cubicBezTo>
                <a:cubicBezTo>
                  <a:pt x="11371260" y="1051209"/>
                  <a:pt x="11371260" y="1051209"/>
                  <a:pt x="11371260" y="1051209"/>
                </a:cubicBezTo>
                <a:cubicBezTo>
                  <a:pt x="11354114" y="1038036"/>
                  <a:pt x="11335715" y="1028627"/>
                  <a:pt x="11316270" y="1022354"/>
                </a:cubicBezTo>
                <a:cubicBezTo>
                  <a:pt x="11296616" y="1016290"/>
                  <a:pt x="11275498" y="1013363"/>
                  <a:pt x="11252917" y="1013363"/>
                </a:cubicBezTo>
                <a:cubicBezTo>
                  <a:pt x="11201273" y="1013363"/>
                  <a:pt x="11155483" y="1034063"/>
                  <a:pt x="11122657" y="1067936"/>
                </a:cubicBezTo>
                <a:cubicBezTo>
                  <a:pt x="11089622" y="1102019"/>
                  <a:pt x="11069549" y="1149692"/>
                  <a:pt x="11069549" y="1203221"/>
                </a:cubicBezTo>
                <a:cubicBezTo>
                  <a:pt x="11069549" y="1256958"/>
                  <a:pt x="11088785" y="1304631"/>
                  <a:pt x="11120984" y="1338923"/>
                </a:cubicBezTo>
                <a:cubicBezTo>
                  <a:pt x="11153393" y="1373214"/>
                  <a:pt x="11198346" y="1394124"/>
                  <a:pt x="11249990" y="1394124"/>
                </a:cubicBezTo>
                <a:cubicBezTo>
                  <a:pt x="11297452" y="1394124"/>
                  <a:pt x="11335924" y="1378860"/>
                  <a:pt x="11364360" y="1353350"/>
                </a:cubicBezTo>
                <a:cubicBezTo>
                  <a:pt x="11392795" y="1328050"/>
                  <a:pt x="11410986" y="1292295"/>
                  <a:pt x="11418095" y="1251521"/>
                </a:cubicBezTo>
                <a:cubicBezTo>
                  <a:pt x="11244136" y="1251521"/>
                  <a:pt x="11244136" y="1251521"/>
                  <a:pt x="11244136" y="1251521"/>
                </a:cubicBezTo>
                <a:cubicBezTo>
                  <a:pt x="11267971" y="1214303"/>
                  <a:pt x="11267971" y="1214303"/>
                  <a:pt x="11267971" y="1214303"/>
                </a:cubicBezTo>
                <a:cubicBezTo>
                  <a:pt x="11291598" y="1177084"/>
                  <a:pt x="11291598" y="1177084"/>
                  <a:pt x="11291598" y="1177084"/>
                </a:cubicBezTo>
                <a:cubicBezTo>
                  <a:pt x="11496083" y="1177084"/>
                  <a:pt x="11496083" y="1177084"/>
                  <a:pt x="11496083" y="1177084"/>
                </a:cubicBezTo>
                <a:cubicBezTo>
                  <a:pt x="11497338" y="1181057"/>
                  <a:pt x="11498174" y="1186911"/>
                  <a:pt x="11498802" y="1193393"/>
                </a:cubicBezTo>
                <a:cubicBezTo>
                  <a:pt x="11499429" y="1199875"/>
                  <a:pt x="11499847" y="1206984"/>
                  <a:pt x="11499847" y="1213466"/>
                </a:cubicBezTo>
                <a:cubicBezTo>
                  <a:pt x="11499847" y="1286231"/>
                  <a:pt x="11474339" y="1350214"/>
                  <a:pt x="11430222" y="1396215"/>
                </a:cubicBezTo>
                <a:cubicBezTo>
                  <a:pt x="11386105" y="1442216"/>
                  <a:pt x="11323379" y="1470025"/>
                  <a:pt x="11249154" y="1470025"/>
                </a:cubicBezTo>
                <a:cubicBezTo>
                  <a:pt x="11175137" y="1470025"/>
                  <a:pt x="11109066" y="1440334"/>
                  <a:pt x="11061813" y="1392242"/>
                </a:cubicBezTo>
                <a:cubicBezTo>
                  <a:pt x="11014351" y="1344150"/>
                  <a:pt x="10985497" y="1277449"/>
                  <a:pt x="10985497" y="1203221"/>
                </a:cubicBezTo>
                <a:cubicBezTo>
                  <a:pt x="10985497" y="1129201"/>
                  <a:pt x="11015187" y="1062500"/>
                  <a:pt x="11063695" y="1014408"/>
                </a:cubicBezTo>
                <a:cubicBezTo>
                  <a:pt x="11111994" y="966317"/>
                  <a:pt x="11179110" y="936625"/>
                  <a:pt x="11253544" y="936625"/>
                </a:cubicBezTo>
                <a:close/>
                <a:moveTo>
                  <a:pt x="8471697" y="936625"/>
                </a:moveTo>
                <a:cubicBezTo>
                  <a:pt x="8502452" y="936625"/>
                  <a:pt x="8530906" y="941434"/>
                  <a:pt x="8556850" y="949798"/>
                </a:cubicBezTo>
                <a:cubicBezTo>
                  <a:pt x="8582793" y="958162"/>
                  <a:pt x="8606225" y="970080"/>
                  <a:pt x="8626729" y="984717"/>
                </a:cubicBezTo>
                <a:cubicBezTo>
                  <a:pt x="8626729" y="984717"/>
                  <a:pt x="8626729" y="984717"/>
                  <a:pt x="8606225" y="1017336"/>
                </a:cubicBezTo>
                <a:cubicBezTo>
                  <a:pt x="8606225" y="1017336"/>
                  <a:pt x="8606225" y="1017336"/>
                  <a:pt x="8585722" y="1049745"/>
                </a:cubicBezTo>
                <a:cubicBezTo>
                  <a:pt x="8566474" y="1037409"/>
                  <a:pt x="8547644" y="1027581"/>
                  <a:pt x="8528605" y="1021099"/>
                </a:cubicBezTo>
                <a:cubicBezTo>
                  <a:pt x="8509775" y="1014617"/>
                  <a:pt x="8490736" y="1011063"/>
                  <a:pt x="8471070" y="1011063"/>
                </a:cubicBezTo>
                <a:cubicBezTo>
                  <a:pt x="8441151" y="1011063"/>
                  <a:pt x="8418974" y="1019217"/>
                  <a:pt x="8404328" y="1032181"/>
                </a:cubicBezTo>
                <a:cubicBezTo>
                  <a:pt x="8389683" y="1045354"/>
                  <a:pt x="8382570" y="1063755"/>
                  <a:pt x="8382570" y="1084246"/>
                </a:cubicBezTo>
                <a:cubicBezTo>
                  <a:pt x="8382570" y="1108292"/>
                  <a:pt x="8393449" y="1123556"/>
                  <a:pt x="8412697" y="1135474"/>
                </a:cubicBezTo>
                <a:cubicBezTo>
                  <a:pt x="8432155" y="1147183"/>
                  <a:pt x="8459772" y="1155338"/>
                  <a:pt x="8493038" y="1165165"/>
                </a:cubicBezTo>
                <a:cubicBezTo>
                  <a:pt x="8532789" y="1177293"/>
                  <a:pt x="8571704" y="1190257"/>
                  <a:pt x="8600786" y="1212421"/>
                </a:cubicBezTo>
                <a:cubicBezTo>
                  <a:pt x="8629658" y="1234585"/>
                  <a:pt x="8648697" y="1265740"/>
                  <a:pt x="8648697" y="1314250"/>
                </a:cubicBezTo>
                <a:cubicBezTo>
                  <a:pt x="8648697" y="1359205"/>
                  <a:pt x="8632169" y="1398097"/>
                  <a:pt x="8601413" y="1425906"/>
                </a:cubicBezTo>
                <a:cubicBezTo>
                  <a:pt x="8570658" y="1453507"/>
                  <a:pt x="8525467" y="1470025"/>
                  <a:pt x="8468140" y="1470025"/>
                </a:cubicBezTo>
                <a:cubicBezTo>
                  <a:pt x="8427552" y="1470025"/>
                  <a:pt x="8393031" y="1463125"/>
                  <a:pt x="8363531" y="1452461"/>
                </a:cubicBezTo>
                <a:cubicBezTo>
                  <a:pt x="8333821" y="1441797"/>
                  <a:pt x="8308715" y="1427161"/>
                  <a:pt x="8286747" y="1411479"/>
                </a:cubicBezTo>
                <a:cubicBezTo>
                  <a:pt x="8286747" y="1411479"/>
                  <a:pt x="8286747" y="1411479"/>
                  <a:pt x="8307251" y="1379069"/>
                </a:cubicBezTo>
                <a:cubicBezTo>
                  <a:pt x="8307251" y="1379069"/>
                  <a:pt x="8307251" y="1379069"/>
                  <a:pt x="8327754" y="1346450"/>
                </a:cubicBezTo>
                <a:cubicBezTo>
                  <a:pt x="8349931" y="1360669"/>
                  <a:pt x="8372318" y="1373005"/>
                  <a:pt x="8395541" y="1381578"/>
                </a:cubicBezTo>
                <a:cubicBezTo>
                  <a:pt x="8418765" y="1390360"/>
                  <a:pt x="8442825" y="1395378"/>
                  <a:pt x="8468768" y="1395378"/>
                </a:cubicBezTo>
                <a:cubicBezTo>
                  <a:pt x="8500569" y="1395378"/>
                  <a:pt x="8525048" y="1387224"/>
                  <a:pt x="8541367" y="1373633"/>
                </a:cubicBezTo>
                <a:cubicBezTo>
                  <a:pt x="8557686" y="1360041"/>
                  <a:pt x="8566055" y="1341014"/>
                  <a:pt x="8566055" y="1319477"/>
                </a:cubicBezTo>
                <a:cubicBezTo>
                  <a:pt x="8566055" y="1295640"/>
                  <a:pt x="8554967" y="1280376"/>
                  <a:pt x="8535509" y="1268458"/>
                </a:cubicBezTo>
                <a:cubicBezTo>
                  <a:pt x="8516261" y="1256540"/>
                  <a:pt x="8488644" y="1248176"/>
                  <a:pt x="8455587" y="1238348"/>
                </a:cubicBezTo>
                <a:cubicBezTo>
                  <a:pt x="8415417" y="1226221"/>
                  <a:pt x="8376502" y="1213466"/>
                  <a:pt x="8347630" y="1191511"/>
                </a:cubicBezTo>
                <a:cubicBezTo>
                  <a:pt x="8318758" y="1169556"/>
                  <a:pt x="8299928" y="1138192"/>
                  <a:pt x="8299928" y="1089264"/>
                </a:cubicBezTo>
                <a:cubicBezTo>
                  <a:pt x="8299928" y="1044727"/>
                  <a:pt x="8315829" y="1006463"/>
                  <a:pt x="8345329" y="979489"/>
                </a:cubicBezTo>
                <a:cubicBezTo>
                  <a:pt x="8374828" y="952516"/>
                  <a:pt x="8417718" y="936625"/>
                  <a:pt x="8471697" y="936625"/>
                </a:cubicBezTo>
                <a:close/>
                <a:moveTo>
                  <a:pt x="7349808" y="936625"/>
                </a:moveTo>
                <a:cubicBezTo>
                  <a:pt x="7424849" y="936625"/>
                  <a:pt x="7492344" y="966526"/>
                  <a:pt x="7541183" y="1014826"/>
                </a:cubicBezTo>
                <a:cubicBezTo>
                  <a:pt x="7590023" y="1063127"/>
                  <a:pt x="7619997" y="1129828"/>
                  <a:pt x="7619997" y="1203221"/>
                </a:cubicBezTo>
                <a:cubicBezTo>
                  <a:pt x="7619997" y="1276613"/>
                  <a:pt x="7590023" y="1343314"/>
                  <a:pt x="7541183" y="1391615"/>
                </a:cubicBezTo>
                <a:cubicBezTo>
                  <a:pt x="7492344" y="1440125"/>
                  <a:pt x="7424849" y="1470025"/>
                  <a:pt x="7349808" y="1470025"/>
                </a:cubicBezTo>
                <a:cubicBezTo>
                  <a:pt x="7274767" y="1470025"/>
                  <a:pt x="7207272" y="1440125"/>
                  <a:pt x="7158642" y="1391615"/>
                </a:cubicBezTo>
                <a:cubicBezTo>
                  <a:pt x="7110012" y="1343314"/>
                  <a:pt x="7080247" y="1276613"/>
                  <a:pt x="7080247" y="1203221"/>
                </a:cubicBezTo>
                <a:cubicBezTo>
                  <a:pt x="7080247" y="1129828"/>
                  <a:pt x="7110012" y="1063127"/>
                  <a:pt x="7158642" y="1014826"/>
                </a:cubicBezTo>
                <a:cubicBezTo>
                  <a:pt x="7207272" y="966526"/>
                  <a:pt x="7274767" y="936625"/>
                  <a:pt x="7349808" y="936625"/>
                </a:cubicBezTo>
                <a:close/>
                <a:moveTo>
                  <a:pt x="6837427" y="936625"/>
                </a:moveTo>
                <a:cubicBezTo>
                  <a:pt x="6874092" y="936625"/>
                  <a:pt x="6904891" y="941852"/>
                  <a:pt x="6932756" y="951680"/>
                </a:cubicBezTo>
                <a:cubicBezTo>
                  <a:pt x="6960412" y="961507"/>
                  <a:pt x="6984925" y="975726"/>
                  <a:pt x="7008810" y="993499"/>
                </a:cubicBezTo>
                <a:cubicBezTo>
                  <a:pt x="7008810" y="993499"/>
                  <a:pt x="7008810" y="993499"/>
                  <a:pt x="6987439" y="1026745"/>
                </a:cubicBezTo>
                <a:cubicBezTo>
                  <a:pt x="6987439" y="1026745"/>
                  <a:pt x="6987439" y="1026745"/>
                  <a:pt x="6966278" y="1059991"/>
                </a:cubicBezTo>
                <a:cubicBezTo>
                  <a:pt x="6946584" y="1044727"/>
                  <a:pt x="6926680" y="1032809"/>
                  <a:pt x="6904891" y="1024863"/>
                </a:cubicBezTo>
                <a:cubicBezTo>
                  <a:pt x="6883101" y="1016708"/>
                  <a:pt x="6859845" y="1012526"/>
                  <a:pt x="6833027" y="1012526"/>
                </a:cubicBezTo>
                <a:cubicBezTo>
                  <a:pt x="6782115" y="1012526"/>
                  <a:pt x="6736441" y="1033436"/>
                  <a:pt x="6703338" y="1067727"/>
                </a:cubicBezTo>
                <a:cubicBezTo>
                  <a:pt x="6670444" y="1102019"/>
                  <a:pt x="6649912" y="1149483"/>
                  <a:pt x="6649912" y="1203221"/>
                </a:cubicBezTo>
                <a:cubicBezTo>
                  <a:pt x="6649912" y="1256958"/>
                  <a:pt x="6670444" y="1304631"/>
                  <a:pt x="6703338" y="1338923"/>
                </a:cubicBezTo>
                <a:cubicBezTo>
                  <a:pt x="6736441" y="1373214"/>
                  <a:pt x="6782115" y="1393915"/>
                  <a:pt x="6833027" y="1393915"/>
                </a:cubicBezTo>
                <a:cubicBezTo>
                  <a:pt x="6859845" y="1393915"/>
                  <a:pt x="6883101" y="1389733"/>
                  <a:pt x="6904891" y="1381787"/>
                </a:cubicBezTo>
                <a:cubicBezTo>
                  <a:pt x="6926680" y="1373633"/>
                  <a:pt x="6946584" y="1361923"/>
                  <a:pt x="6966278" y="1346450"/>
                </a:cubicBezTo>
                <a:cubicBezTo>
                  <a:pt x="6966278" y="1346450"/>
                  <a:pt x="6966278" y="1346450"/>
                  <a:pt x="6987439" y="1379696"/>
                </a:cubicBezTo>
                <a:cubicBezTo>
                  <a:pt x="6987439" y="1379696"/>
                  <a:pt x="6987439" y="1379696"/>
                  <a:pt x="7008810" y="1412942"/>
                </a:cubicBezTo>
                <a:cubicBezTo>
                  <a:pt x="6984925" y="1430924"/>
                  <a:pt x="6960412" y="1445143"/>
                  <a:pt x="6932756" y="1454970"/>
                </a:cubicBezTo>
                <a:cubicBezTo>
                  <a:pt x="6904891" y="1464589"/>
                  <a:pt x="6874092" y="1470025"/>
                  <a:pt x="6837427" y="1470025"/>
                </a:cubicBezTo>
                <a:cubicBezTo>
                  <a:pt x="6761373" y="1470025"/>
                  <a:pt x="6693491" y="1440334"/>
                  <a:pt x="6644674" y="1392242"/>
                </a:cubicBezTo>
                <a:cubicBezTo>
                  <a:pt x="6595648" y="1344150"/>
                  <a:pt x="6565897" y="1277449"/>
                  <a:pt x="6565897" y="1203221"/>
                </a:cubicBezTo>
                <a:cubicBezTo>
                  <a:pt x="6565897" y="1129201"/>
                  <a:pt x="6595648" y="1062500"/>
                  <a:pt x="6644674" y="1014408"/>
                </a:cubicBezTo>
                <a:cubicBezTo>
                  <a:pt x="6693491" y="966107"/>
                  <a:pt x="6761373" y="936625"/>
                  <a:pt x="6837427" y="936625"/>
                </a:cubicBezTo>
                <a:close/>
                <a:moveTo>
                  <a:pt x="501650" y="477838"/>
                </a:moveTo>
                <a:cubicBezTo>
                  <a:pt x="501650" y="477838"/>
                  <a:pt x="501650" y="477838"/>
                  <a:pt x="501650" y="981076"/>
                </a:cubicBezTo>
                <a:cubicBezTo>
                  <a:pt x="501650" y="981076"/>
                  <a:pt x="501650" y="981076"/>
                  <a:pt x="786010" y="981076"/>
                </a:cubicBezTo>
                <a:cubicBezTo>
                  <a:pt x="786010" y="981076"/>
                  <a:pt x="786010" y="981076"/>
                  <a:pt x="1070579" y="981076"/>
                </a:cubicBezTo>
                <a:cubicBezTo>
                  <a:pt x="1142870" y="981076"/>
                  <a:pt x="1207013" y="953710"/>
                  <a:pt x="1253188" y="908588"/>
                </a:cubicBezTo>
                <a:cubicBezTo>
                  <a:pt x="1299153" y="863466"/>
                  <a:pt x="1327150" y="800169"/>
                  <a:pt x="1327150" y="727681"/>
                </a:cubicBezTo>
                <a:cubicBezTo>
                  <a:pt x="1327150" y="655402"/>
                  <a:pt x="1299153" y="592942"/>
                  <a:pt x="1253188" y="548446"/>
                </a:cubicBezTo>
                <a:cubicBezTo>
                  <a:pt x="1207013" y="503951"/>
                  <a:pt x="1142870" y="477838"/>
                  <a:pt x="1070579" y="477838"/>
                </a:cubicBezTo>
                <a:cubicBezTo>
                  <a:pt x="1070579" y="477838"/>
                  <a:pt x="1070579" y="477838"/>
                  <a:pt x="501650" y="477838"/>
                </a:cubicBezTo>
                <a:close/>
                <a:moveTo>
                  <a:pt x="6675435" y="336550"/>
                </a:moveTo>
                <a:cubicBezTo>
                  <a:pt x="6675435" y="487363"/>
                  <a:pt x="6675435" y="487363"/>
                  <a:pt x="6675435" y="487363"/>
                </a:cubicBezTo>
                <a:cubicBezTo>
                  <a:pt x="6808467" y="487363"/>
                  <a:pt x="6808467" y="487363"/>
                  <a:pt x="6808467" y="487363"/>
                </a:cubicBezTo>
                <a:cubicBezTo>
                  <a:pt x="6831475" y="487363"/>
                  <a:pt x="6851346" y="478985"/>
                  <a:pt x="6865570" y="465370"/>
                </a:cubicBezTo>
                <a:cubicBezTo>
                  <a:pt x="6879793" y="451755"/>
                  <a:pt x="6888160" y="432903"/>
                  <a:pt x="6888160" y="411957"/>
                </a:cubicBezTo>
                <a:cubicBezTo>
                  <a:pt x="6888160" y="390801"/>
                  <a:pt x="6879793" y="371949"/>
                  <a:pt x="6865570" y="358334"/>
                </a:cubicBezTo>
                <a:cubicBezTo>
                  <a:pt x="6851346" y="344719"/>
                  <a:pt x="6831475" y="336550"/>
                  <a:pt x="6808467" y="336550"/>
                </a:cubicBezTo>
                <a:cubicBezTo>
                  <a:pt x="6675435" y="336550"/>
                  <a:pt x="6675435" y="336550"/>
                  <a:pt x="6675435" y="336550"/>
                </a:cubicBezTo>
                <a:close/>
                <a:moveTo>
                  <a:pt x="6675435" y="122238"/>
                </a:moveTo>
                <a:cubicBezTo>
                  <a:pt x="6675435" y="265113"/>
                  <a:pt x="6675435" y="265113"/>
                  <a:pt x="6675435" y="265113"/>
                </a:cubicBezTo>
                <a:cubicBezTo>
                  <a:pt x="6795279" y="265113"/>
                  <a:pt x="6795279" y="265113"/>
                  <a:pt x="6795279" y="265113"/>
                </a:cubicBezTo>
                <a:cubicBezTo>
                  <a:pt x="6816822" y="265113"/>
                  <a:pt x="6835228" y="257396"/>
                  <a:pt x="6848404" y="244673"/>
                </a:cubicBezTo>
                <a:cubicBezTo>
                  <a:pt x="6861372" y="231949"/>
                  <a:pt x="6869110" y="214012"/>
                  <a:pt x="6869110" y="193571"/>
                </a:cubicBezTo>
                <a:cubicBezTo>
                  <a:pt x="6869110" y="173131"/>
                  <a:pt x="6861372" y="155402"/>
                  <a:pt x="6848404" y="142679"/>
                </a:cubicBezTo>
                <a:cubicBezTo>
                  <a:pt x="6835228" y="129747"/>
                  <a:pt x="6816822" y="122238"/>
                  <a:pt x="6795279" y="122238"/>
                </a:cubicBezTo>
                <a:cubicBezTo>
                  <a:pt x="6675435" y="122238"/>
                  <a:pt x="6675435" y="122238"/>
                  <a:pt x="6675435" y="122238"/>
                </a:cubicBezTo>
                <a:close/>
                <a:moveTo>
                  <a:pt x="8850791" y="114300"/>
                </a:moveTo>
                <a:cubicBezTo>
                  <a:pt x="8799203" y="114300"/>
                  <a:pt x="8753045" y="135269"/>
                  <a:pt x="8719837" y="169657"/>
                </a:cubicBezTo>
                <a:cubicBezTo>
                  <a:pt x="8686419" y="204046"/>
                  <a:pt x="8666160" y="251645"/>
                  <a:pt x="8666160" y="304905"/>
                </a:cubicBezTo>
                <a:cubicBezTo>
                  <a:pt x="8666160" y="357956"/>
                  <a:pt x="8686419" y="405554"/>
                  <a:pt x="8719837" y="439943"/>
                </a:cubicBezTo>
                <a:cubicBezTo>
                  <a:pt x="8753045" y="474332"/>
                  <a:pt x="8799203" y="495300"/>
                  <a:pt x="8850791" y="495300"/>
                </a:cubicBezTo>
                <a:cubicBezTo>
                  <a:pt x="8902588" y="495300"/>
                  <a:pt x="8948954" y="474541"/>
                  <a:pt x="8982163" y="440153"/>
                </a:cubicBezTo>
                <a:cubicBezTo>
                  <a:pt x="9015580" y="405974"/>
                  <a:pt x="9036048" y="358375"/>
                  <a:pt x="9036048" y="304905"/>
                </a:cubicBezTo>
                <a:cubicBezTo>
                  <a:pt x="9036048" y="251645"/>
                  <a:pt x="9015371" y="204046"/>
                  <a:pt x="8981954" y="169657"/>
                </a:cubicBezTo>
                <a:cubicBezTo>
                  <a:pt x="8948536" y="135269"/>
                  <a:pt x="8902170" y="114300"/>
                  <a:pt x="8850791" y="114300"/>
                </a:cubicBezTo>
                <a:close/>
                <a:moveTo>
                  <a:pt x="7335415" y="114300"/>
                </a:moveTo>
                <a:cubicBezTo>
                  <a:pt x="7283845" y="114300"/>
                  <a:pt x="7237515" y="135269"/>
                  <a:pt x="7203974" y="169657"/>
                </a:cubicBezTo>
                <a:cubicBezTo>
                  <a:pt x="7170642" y="204046"/>
                  <a:pt x="7150097" y="251645"/>
                  <a:pt x="7150097" y="304905"/>
                </a:cubicBezTo>
                <a:cubicBezTo>
                  <a:pt x="7150097" y="357956"/>
                  <a:pt x="7170642" y="405554"/>
                  <a:pt x="7203974" y="439943"/>
                </a:cubicBezTo>
                <a:cubicBezTo>
                  <a:pt x="7237515" y="474332"/>
                  <a:pt x="7283845" y="495300"/>
                  <a:pt x="7335415" y="495300"/>
                </a:cubicBezTo>
                <a:cubicBezTo>
                  <a:pt x="7387405" y="495300"/>
                  <a:pt x="7433944" y="474541"/>
                  <a:pt x="7467486" y="440153"/>
                </a:cubicBezTo>
                <a:cubicBezTo>
                  <a:pt x="7501028" y="405974"/>
                  <a:pt x="7521572" y="358375"/>
                  <a:pt x="7521572" y="304905"/>
                </a:cubicBezTo>
                <a:cubicBezTo>
                  <a:pt x="7521572" y="251645"/>
                  <a:pt x="7500818" y="204046"/>
                  <a:pt x="7467067" y="169657"/>
                </a:cubicBezTo>
                <a:cubicBezTo>
                  <a:pt x="7433525" y="135269"/>
                  <a:pt x="7386986" y="114300"/>
                  <a:pt x="7335415" y="114300"/>
                </a:cubicBezTo>
                <a:close/>
                <a:moveTo>
                  <a:pt x="9237660" y="49213"/>
                </a:moveTo>
                <a:lnTo>
                  <a:pt x="9339260" y="49213"/>
                </a:lnTo>
                <a:lnTo>
                  <a:pt x="9458322" y="242888"/>
                </a:lnTo>
                <a:lnTo>
                  <a:pt x="9578972" y="436563"/>
                </a:lnTo>
                <a:lnTo>
                  <a:pt x="9578972" y="49213"/>
                </a:lnTo>
                <a:lnTo>
                  <a:pt x="9656760" y="49213"/>
                </a:lnTo>
                <a:lnTo>
                  <a:pt x="9656760" y="560388"/>
                </a:lnTo>
                <a:lnTo>
                  <a:pt x="9561510" y="560388"/>
                </a:lnTo>
                <a:lnTo>
                  <a:pt x="9439272" y="363538"/>
                </a:lnTo>
                <a:lnTo>
                  <a:pt x="9317035" y="165101"/>
                </a:lnTo>
                <a:lnTo>
                  <a:pt x="9317035" y="560388"/>
                </a:lnTo>
                <a:lnTo>
                  <a:pt x="9237660" y="560388"/>
                </a:lnTo>
                <a:close/>
                <a:moveTo>
                  <a:pt x="8126410" y="49213"/>
                </a:moveTo>
                <a:lnTo>
                  <a:pt x="8529635" y="49213"/>
                </a:lnTo>
                <a:lnTo>
                  <a:pt x="8529635" y="125413"/>
                </a:lnTo>
                <a:lnTo>
                  <a:pt x="8369298" y="125413"/>
                </a:lnTo>
                <a:lnTo>
                  <a:pt x="8369298" y="560388"/>
                </a:lnTo>
                <a:lnTo>
                  <a:pt x="8285160" y="560388"/>
                </a:lnTo>
                <a:lnTo>
                  <a:pt x="8285160" y="125413"/>
                </a:lnTo>
                <a:lnTo>
                  <a:pt x="8126410" y="125413"/>
                </a:lnTo>
                <a:close/>
                <a:moveTo>
                  <a:pt x="6592885" y="49213"/>
                </a:moveTo>
                <a:cubicBezTo>
                  <a:pt x="6795851" y="49213"/>
                  <a:pt x="6795851" y="49213"/>
                  <a:pt x="6795851" y="49213"/>
                </a:cubicBezTo>
                <a:cubicBezTo>
                  <a:pt x="6840537" y="49213"/>
                  <a:pt x="6879794" y="63633"/>
                  <a:pt x="6907775" y="87875"/>
                </a:cubicBezTo>
                <a:cubicBezTo>
                  <a:pt x="6935756" y="112117"/>
                  <a:pt x="6952670" y="146182"/>
                  <a:pt x="6952670" y="185680"/>
                </a:cubicBezTo>
                <a:cubicBezTo>
                  <a:pt x="6952670" y="208041"/>
                  <a:pt x="6946823" y="228103"/>
                  <a:pt x="6936382" y="245658"/>
                </a:cubicBezTo>
                <a:cubicBezTo>
                  <a:pt x="6925733" y="263004"/>
                  <a:pt x="6910698" y="277633"/>
                  <a:pt x="6892114" y="288709"/>
                </a:cubicBezTo>
                <a:cubicBezTo>
                  <a:pt x="6916963" y="300621"/>
                  <a:pt x="6937009" y="318176"/>
                  <a:pt x="6950791" y="339492"/>
                </a:cubicBezTo>
                <a:cubicBezTo>
                  <a:pt x="6964572" y="360808"/>
                  <a:pt x="6972298" y="385677"/>
                  <a:pt x="6972298" y="412845"/>
                </a:cubicBezTo>
                <a:cubicBezTo>
                  <a:pt x="6972298" y="454015"/>
                  <a:pt x="6955384" y="491005"/>
                  <a:pt x="6926359" y="517546"/>
                </a:cubicBezTo>
                <a:cubicBezTo>
                  <a:pt x="6897543" y="544087"/>
                  <a:pt x="6856616" y="560388"/>
                  <a:pt x="6808798" y="560388"/>
                </a:cubicBezTo>
                <a:cubicBezTo>
                  <a:pt x="6592885" y="560388"/>
                  <a:pt x="6592885" y="560388"/>
                  <a:pt x="6592885" y="560388"/>
                </a:cubicBezTo>
                <a:cubicBezTo>
                  <a:pt x="6592885" y="49213"/>
                  <a:pt x="6592885" y="49213"/>
                  <a:pt x="6592885" y="49213"/>
                </a:cubicBezTo>
                <a:close/>
                <a:moveTo>
                  <a:pt x="8850790" y="38100"/>
                </a:moveTo>
                <a:cubicBezTo>
                  <a:pt x="8925610" y="38100"/>
                  <a:pt x="8992907" y="68001"/>
                  <a:pt x="9041603" y="116301"/>
                </a:cubicBezTo>
                <a:cubicBezTo>
                  <a:pt x="9090299" y="164602"/>
                  <a:pt x="9120185" y="231303"/>
                  <a:pt x="9120185" y="304905"/>
                </a:cubicBezTo>
                <a:cubicBezTo>
                  <a:pt x="9120185" y="378297"/>
                  <a:pt x="9090299" y="444998"/>
                  <a:pt x="9041603" y="493090"/>
                </a:cubicBezTo>
                <a:cubicBezTo>
                  <a:pt x="8992907" y="541600"/>
                  <a:pt x="8925610" y="571500"/>
                  <a:pt x="8850790" y="571500"/>
                </a:cubicBezTo>
                <a:cubicBezTo>
                  <a:pt x="8775761" y="571500"/>
                  <a:pt x="8708673" y="541600"/>
                  <a:pt x="8660186" y="493090"/>
                </a:cubicBezTo>
                <a:cubicBezTo>
                  <a:pt x="8611699" y="444998"/>
                  <a:pt x="8582022" y="378297"/>
                  <a:pt x="8582022" y="304905"/>
                </a:cubicBezTo>
                <a:cubicBezTo>
                  <a:pt x="8582022" y="231303"/>
                  <a:pt x="8611699" y="164602"/>
                  <a:pt x="8660186" y="116301"/>
                </a:cubicBezTo>
                <a:cubicBezTo>
                  <a:pt x="8708673" y="68001"/>
                  <a:pt x="8775761" y="38100"/>
                  <a:pt x="8850790" y="38100"/>
                </a:cubicBezTo>
                <a:close/>
                <a:moveTo>
                  <a:pt x="7870035" y="38100"/>
                </a:moveTo>
                <a:cubicBezTo>
                  <a:pt x="7871499" y="38100"/>
                  <a:pt x="7871499" y="38100"/>
                  <a:pt x="7871499" y="38100"/>
                </a:cubicBezTo>
                <a:cubicBezTo>
                  <a:pt x="7901627" y="38309"/>
                  <a:pt x="7929663" y="42909"/>
                  <a:pt x="7955187" y="51273"/>
                </a:cubicBezTo>
                <a:cubicBezTo>
                  <a:pt x="7981131" y="59637"/>
                  <a:pt x="8004563" y="71764"/>
                  <a:pt x="8025067" y="86401"/>
                </a:cubicBezTo>
                <a:cubicBezTo>
                  <a:pt x="8004563" y="118811"/>
                  <a:pt x="8004563" y="118811"/>
                  <a:pt x="8004563" y="118811"/>
                </a:cubicBezTo>
                <a:cubicBezTo>
                  <a:pt x="7984060" y="151429"/>
                  <a:pt x="7984060" y="151429"/>
                  <a:pt x="7984060" y="151429"/>
                </a:cubicBezTo>
                <a:cubicBezTo>
                  <a:pt x="7964811" y="138884"/>
                  <a:pt x="7945982" y="129265"/>
                  <a:pt x="7926943" y="122574"/>
                </a:cubicBezTo>
                <a:cubicBezTo>
                  <a:pt x="7908113" y="116092"/>
                  <a:pt x="7889074" y="112538"/>
                  <a:pt x="7869198" y="112538"/>
                </a:cubicBezTo>
                <a:cubicBezTo>
                  <a:pt x="7839280" y="112538"/>
                  <a:pt x="7817312" y="120692"/>
                  <a:pt x="7802666" y="133865"/>
                </a:cubicBezTo>
                <a:cubicBezTo>
                  <a:pt x="7788021" y="147038"/>
                  <a:pt x="7780907" y="165230"/>
                  <a:pt x="7780907" y="185721"/>
                </a:cubicBezTo>
                <a:cubicBezTo>
                  <a:pt x="7780907" y="209767"/>
                  <a:pt x="7791787" y="225031"/>
                  <a:pt x="7811035" y="236949"/>
                </a:cubicBezTo>
                <a:cubicBezTo>
                  <a:pt x="7830283" y="248658"/>
                  <a:pt x="7857900" y="257022"/>
                  <a:pt x="7891166" y="266849"/>
                </a:cubicBezTo>
                <a:cubicBezTo>
                  <a:pt x="7931127" y="278977"/>
                  <a:pt x="7970042" y="291941"/>
                  <a:pt x="7998914" y="313896"/>
                </a:cubicBezTo>
                <a:cubicBezTo>
                  <a:pt x="8027996" y="336060"/>
                  <a:pt x="8047035" y="367424"/>
                  <a:pt x="8047035" y="415934"/>
                </a:cubicBezTo>
                <a:cubicBezTo>
                  <a:pt x="8047035" y="460889"/>
                  <a:pt x="8030506" y="499781"/>
                  <a:pt x="7999751" y="527381"/>
                </a:cubicBezTo>
                <a:cubicBezTo>
                  <a:pt x="7968787" y="554982"/>
                  <a:pt x="7923804" y="571500"/>
                  <a:pt x="7866478" y="571500"/>
                </a:cubicBezTo>
                <a:cubicBezTo>
                  <a:pt x="7825890" y="571500"/>
                  <a:pt x="7791368" y="564809"/>
                  <a:pt x="7761659" y="554145"/>
                </a:cubicBezTo>
                <a:cubicBezTo>
                  <a:pt x="7731950" y="543272"/>
                  <a:pt x="7707053" y="528845"/>
                  <a:pt x="7685085" y="512954"/>
                </a:cubicBezTo>
                <a:cubicBezTo>
                  <a:pt x="7725883" y="447925"/>
                  <a:pt x="7725883" y="447925"/>
                  <a:pt x="7725883" y="447925"/>
                </a:cubicBezTo>
                <a:cubicBezTo>
                  <a:pt x="7748269" y="462353"/>
                  <a:pt x="7770656" y="474480"/>
                  <a:pt x="7793879" y="483053"/>
                </a:cubicBezTo>
                <a:cubicBezTo>
                  <a:pt x="7816893" y="491835"/>
                  <a:pt x="7841163" y="497063"/>
                  <a:pt x="7867106" y="497063"/>
                </a:cubicBezTo>
                <a:cubicBezTo>
                  <a:pt x="7898907" y="497063"/>
                  <a:pt x="7923177" y="488699"/>
                  <a:pt x="7939496" y="475108"/>
                </a:cubicBezTo>
                <a:cubicBezTo>
                  <a:pt x="7956024" y="461516"/>
                  <a:pt x="7964393" y="442489"/>
                  <a:pt x="7964393" y="420952"/>
                </a:cubicBezTo>
                <a:cubicBezTo>
                  <a:pt x="7964393" y="397324"/>
                  <a:pt x="7953095" y="381851"/>
                  <a:pt x="7933847" y="369933"/>
                </a:cubicBezTo>
                <a:cubicBezTo>
                  <a:pt x="7914389" y="358224"/>
                  <a:pt x="7886982" y="349860"/>
                  <a:pt x="7853925" y="339823"/>
                </a:cubicBezTo>
                <a:cubicBezTo>
                  <a:pt x="7813755" y="327696"/>
                  <a:pt x="7774840" y="314941"/>
                  <a:pt x="7745968" y="292986"/>
                </a:cubicBezTo>
                <a:cubicBezTo>
                  <a:pt x="7717095" y="271031"/>
                  <a:pt x="7698266" y="239667"/>
                  <a:pt x="7698266" y="190739"/>
                </a:cubicBezTo>
                <a:cubicBezTo>
                  <a:pt x="7698266" y="146202"/>
                  <a:pt x="7714166" y="107938"/>
                  <a:pt x="7743666" y="80964"/>
                </a:cubicBezTo>
                <a:cubicBezTo>
                  <a:pt x="7772957" y="53991"/>
                  <a:pt x="7815847" y="38100"/>
                  <a:pt x="7870035" y="38100"/>
                </a:cubicBezTo>
                <a:close/>
                <a:moveTo>
                  <a:pt x="7334624" y="38100"/>
                </a:moveTo>
                <a:cubicBezTo>
                  <a:pt x="7409415" y="38100"/>
                  <a:pt x="7476894" y="68001"/>
                  <a:pt x="7525363" y="116301"/>
                </a:cubicBezTo>
                <a:cubicBezTo>
                  <a:pt x="7574040" y="164602"/>
                  <a:pt x="7604123" y="231303"/>
                  <a:pt x="7604123" y="304905"/>
                </a:cubicBezTo>
                <a:cubicBezTo>
                  <a:pt x="7604123" y="378297"/>
                  <a:pt x="7574040" y="444998"/>
                  <a:pt x="7525363" y="493090"/>
                </a:cubicBezTo>
                <a:cubicBezTo>
                  <a:pt x="7476894" y="541600"/>
                  <a:pt x="7409415" y="571500"/>
                  <a:pt x="7334624" y="571500"/>
                </a:cubicBezTo>
                <a:cubicBezTo>
                  <a:pt x="7259833" y="571500"/>
                  <a:pt x="7192562" y="541600"/>
                  <a:pt x="7144094" y="493090"/>
                </a:cubicBezTo>
                <a:cubicBezTo>
                  <a:pt x="7095626" y="444998"/>
                  <a:pt x="7065960" y="378297"/>
                  <a:pt x="7065960" y="304905"/>
                </a:cubicBezTo>
                <a:cubicBezTo>
                  <a:pt x="7065960" y="231303"/>
                  <a:pt x="7095626" y="164602"/>
                  <a:pt x="7144094" y="116301"/>
                </a:cubicBezTo>
                <a:cubicBezTo>
                  <a:pt x="7192562" y="68001"/>
                  <a:pt x="7259833" y="38100"/>
                  <a:pt x="7334624" y="38100"/>
                </a:cubicBezTo>
                <a:close/>
                <a:moveTo>
                  <a:pt x="2766077" y="0"/>
                </a:moveTo>
                <a:cubicBezTo>
                  <a:pt x="2901191" y="0"/>
                  <a:pt x="3028777" y="17359"/>
                  <a:pt x="3146531" y="51449"/>
                </a:cubicBezTo>
                <a:cubicBezTo>
                  <a:pt x="3264077" y="85540"/>
                  <a:pt x="3372000" y="136571"/>
                  <a:pt x="3467375" y="204124"/>
                </a:cubicBezTo>
                <a:cubicBezTo>
                  <a:pt x="3467375" y="204124"/>
                  <a:pt x="3467375" y="204124"/>
                  <a:pt x="3340627" y="403228"/>
                </a:cubicBezTo>
                <a:cubicBezTo>
                  <a:pt x="3340627" y="403228"/>
                  <a:pt x="3340627" y="403228"/>
                  <a:pt x="3213880" y="602542"/>
                </a:cubicBezTo>
                <a:cubicBezTo>
                  <a:pt x="3153015" y="556321"/>
                  <a:pt x="3084622" y="520976"/>
                  <a:pt x="3009743" y="496716"/>
                </a:cubicBezTo>
                <a:cubicBezTo>
                  <a:pt x="2934865" y="472455"/>
                  <a:pt x="2853295" y="459279"/>
                  <a:pt x="2766077" y="457606"/>
                </a:cubicBezTo>
                <a:cubicBezTo>
                  <a:pt x="2556923" y="459279"/>
                  <a:pt x="2368473" y="545655"/>
                  <a:pt x="2232314" y="681180"/>
                </a:cubicBezTo>
                <a:cubicBezTo>
                  <a:pt x="2095946" y="816496"/>
                  <a:pt x="2012073" y="1000960"/>
                  <a:pt x="2012073" y="1198391"/>
                </a:cubicBezTo>
                <a:cubicBezTo>
                  <a:pt x="2012073" y="1399378"/>
                  <a:pt x="2095946" y="1585307"/>
                  <a:pt x="2232314" y="1721250"/>
                </a:cubicBezTo>
                <a:cubicBezTo>
                  <a:pt x="2368473" y="1856984"/>
                  <a:pt x="2556923" y="1942732"/>
                  <a:pt x="2766077" y="1942732"/>
                </a:cubicBezTo>
                <a:cubicBezTo>
                  <a:pt x="2868145" y="1942732"/>
                  <a:pt x="2962893" y="1923700"/>
                  <a:pt x="3050111" y="1886682"/>
                </a:cubicBezTo>
                <a:cubicBezTo>
                  <a:pt x="3137328" y="1849664"/>
                  <a:pt x="3217225" y="1794450"/>
                  <a:pt x="3289594" y="1722086"/>
                </a:cubicBezTo>
                <a:cubicBezTo>
                  <a:pt x="3462565" y="1549125"/>
                  <a:pt x="3493101" y="1332661"/>
                  <a:pt x="3543925" y="1095493"/>
                </a:cubicBezTo>
                <a:cubicBezTo>
                  <a:pt x="3595168" y="858533"/>
                  <a:pt x="3666699" y="600869"/>
                  <a:pt x="3921866" y="345714"/>
                </a:cubicBezTo>
                <a:cubicBezTo>
                  <a:pt x="4028953" y="238633"/>
                  <a:pt x="4155701" y="152256"/>
                  <a:pt x="4300646" y="92441"/>
                </a:cubicBezTo>
                <a:cubicBezTo>
                  <a:pt x="4445590" y="32836"/>
                  <a:pt x="4608522" y="0"/>
                  <a:pt x="4787977" y="0"/>
                </a:cubicBezTo>
                <a:cubicBezTo>
                  <a:pt x="4922882" y="0"/>
                  <a:pt x="5050676" y="18823"/>
                  <a:pt x="5168221" y="54796"/>
                </a:cubicBezTo>
                <a:cubicBezTo>
                  <a:pt x="5285976" y="90559"/>
                  <a:pt x="5393900" y="143054"/>
                  <a:pt x="5489275" y="210607"/>
                </a:cubicBezTo>
                <a:cubicBezTo>
                  <a:pt x="5489275" y="210607"/>
                  <a:pt x="5489275" y="210607"/>
                  <a:pt x="5364200" y="409921"/>
                </a:cubicBezTo>
                <a:cubicBezTo>
                  <a:pt x="5364200" y="409921"/>
                  <a:pt x="5364200" y="409921"/>
                  <a:pt x="5239125" y="609025"/>
                </a:cubicBezTo>
                <a:cubicBezTo>
                  <a:pt x="5176588" y="563014"/>
                  <a:pt x="5107357" y="525996"/>
                  <a:pt x="5031643" y="500480"/>
                </a:cubicBezTo>
                <a:cubicBezTo>
                  <a:pt x="4955929" y="474965"/>
                  <a:pt x="4873522" y="460952"/>
                  <a:pt x="4784631" y="460952"/>
                </a:cubicBezTo>
                <a:cubicBezTo>
                  <a:pt x="4580495" y="460952"/>
                  <a:pt x="4396857" y="544818"/>
                  <a:pt x="4264462" y="679089"/>
                </a:cubicBezTo>
                <a:cubicBezTo>
                  <a:pt x="4131857" y="813149"/>
                  <a:pt x="4050287" y="997614"/>
                  <a:pt x="4050287" y="1198391"/>
                </a:cubicBezTo>
                <a:cubicBezTo>
                  <a:pt x="4050287" y="1402724"/>
                  <a:pt x="4131021" y="1589489"/>
                  <a:pt x="4262370" y="1725223"/>
                </a:cubicBezTo>
                <a:cubicBezTo>
                  <a:pt x="4393720" y="1861167"/>
                  <a:pt x="4575477" y="1945870"/>
                  <a:pt x="4778147" y="1945870"/>
                </a:cubicBezTo>
                <a:cubicBezTo>
                  <a:pt x="4939406" y="1945870"/>
                  <a:pt x="5080167" y="1893165"/>
                  <a:pt x="5191438" y="1804280"/>
                </a:cubicBezTo>
                <a:cubicBezTo>
                  <a:pt x="5302499" y="1715394"/>
                  <a:pt x="5384070" y="1590326"/>
                  <a:pt x="5426737" y="1445390"/>
                </a:cubicBezTo>
                <a:cubicBezTo>
                  <a:pt x="5426737" y="1445390"/>
                  <a:pt x="5426737" y="1445390"/>
                  <a:pt x="4708917" y="1445390"/>
                </a:cubicBezTo>
                <a:cubicBezTo>
                  <a:pt x="4708917" y="1445390"/>
                  <a:pt x="4708917" y="1445390"/>
                  <a:pt x="4850515" y="1223279"/>
                </a:cubicBezTo>
                <a:cubicBezTo>
                  <a:pt x="4850515" y="1223279"/>
                  <a:pt x="4850515" y="1223279"/>
                  <a:pt x="4992113" y="1000960"/>
                </a:cubicBezTo>
                <a:cubicBezTo>
                  <a:pt x="4992113" y="1000960"/>
                  <a:pt x="4992113" y="1000960"/>
                  <a:pt x="5457901" y="1000960"/>
                </a:cubicBezTo>
                <a:cubicBezTo>
                  <a:pt x="5457901" y="1000960"/>
                  <a:pt x="5457901" y="1000960"/>
                  <a:pt x="5924108" y="1000960"/>
                </a:cubicBezTo>
                <a:cubicBezTo>
                  <a:pt x="5928919" y="1033796"/>
                  <a:pt x="5933102" y="1066840"/>
                  <a:pt x="5936030" y="1100094"/>
                </a:cubicBezTo>
                <a:cubicBezTo>
                  <a:pt x="5938749" y="1133557"/>
                  <a:pt x="5940422" y="1167229"/>
                  <a:pt x="5940422" y="1201738"/>
                </a:cubicBezTo>
                <a:cubicBezTo>
                  <a:pt x="5940422" y="1532602"/>
                  <a:pt x="5812001" y="1833141"/>
                  <a:pt x="5600963" y="2050860"/>
                </a:cubicBezTo>
                <a:cubicBezTo>
                  <a:pt x="5389717" y="2268578"/>
                  <a:pt x="5095854" y="2403475"/>
                  <a:pt x="4764970" y="2403475"/>
                </a:cubicBezTo>
                <a:cubicBezTo>
                  <a:pt x="4549331" y="2403475"/>
                  <a:pt x="4350006" y="2352653"/>
                  <a:pt x="4178290" y="2262513"/>
                </a:cubicBezTo>
                <a:cubicBezTo>
                  <a:pt x="4006784" y="2172372"/>
                  <a:pt x="3862676" y="2043121"/>
                  <a:pt x="3757265" y="1886682"/>
                </a:cubicBezTo>
                <a:cubicBezTo>
                  <a:pt x="3647040" y="2044794"/>
                  <a:pt x="3502931" y="2173836"/>
                  <a:pt x="3332469" y="2263558"/>
                </a:cubicBezTo>
                <a:cubicBezTo>
                  <a:pt x="3162009" y="2353490"/>
                  <a:pt x="2965403" y="2403475"/>
                  <a:pt x="2749555" y="2403475"/>
                </a:cubicBezTo>
                <a:cubicBezTo>
                  <a:pt x="2566961" y="2403475"/>
                  <a:pt x="2395664" y="2364993"/>
                  <a:pt x="2242563" y="2295766"/>
                </a:cubicBezTo>
                <a:cubicBezTo>
                  <a:pt x="2089461" y="2226540"/>
                  <a:pt x="1954347" y="2126988"/>
                  <a:pt x="1844121" y="2005266"/>
                </a:cubicBezTo>
                <a:cubicBezTo>
                  <a:pt x="1783258" y="2108792"/>
                  <a:pt x="1694366" y="2196214"/>
                  <a:pt x="1583096" y="2257493"/>
                </a:cubicBezTo>
                <a:cubicBezTo>
                  <a:pt x="1472034" y="2318772"/>
                  <a:pt x="1338593" y="2354117"/>
                  <a:pt x="1188838" y="2354117"/>
                </a:cubicBezTo>
                <a:cubicBezTo>
                  <a:pt x="1188838" y="2354117"/>
                  <a:pt x="1188838" y="2354117"/>
                  <a:pt x="0" y="2354117"/>
                </a:cubicBezTo>
                <a:cubicBezTo>
                  <a:pt x="0" y="2354117"/>
                  <a:pt x="0" y="2354117"/>
                  <a:pt x="0" y="1201738"/>
                </a:cubicBezTo>
                <a:cubicBezTo>
                  <a:pt x="0" y="1201738"/>
                  <a:pt x="0" y="1201738"/>
                  <a:pt x="0" y="49358"/>
                </a:cubicBezTo>
                <a:cubicBezTo>
                  <a:pt x="0" y="49358"/>
                  <a:pt x="0" y="49358"/>
                  <a:pt x="538575" y="49358"/>
                </a:cubicBezTo>
                <a:cubicBezTo>
                  <a:pt x="538575" y="49358"/>
                  <a:pt x="538575" y="49358"/>
                  <a:pt x="1076940" y="49358"/>
                </a:cubicBezTo>
                <a:cubicBezTo>
                  <a:pt x="1249702" y="49358"/>
                  <a:pt x="1402804" y="96206"/>
                  <a:pt x="1523487" y="176099"/>
                </a:cubicBezTo>
                <a:cubicBezTo>
                  <a:pt x="1643960" y="255992"/>
                  <a:pt x="1732223" y="368720"/>
                  <a:pt x="1774892" y="500480"/>
                </a:cubicBezTo>
                <a:cubicBezTo>
                  <a:pt x="1883653" y="350524"/>
                  <a:pt x="2027552" y="225457"/>
                  <a:pt x="2196549" y="137826"/>
                </a:cubicBezTo>
                <a:cubicBezTo>
                  <a:pt x="2365129" y="50195"/>
                  <a:pt x="2558596" y="0"/>
                  <a:pt x="276607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p>
        </p:txBody>
      </p:sp>
    </p:spTree>
    <p:extLst>
      <p:ext uri="{BB962C8B-B14F-4D97-AF65-F5344CB8AC3E}">
        <p14:creationId xmlns:p14="http://schemas.microsoft.com/office/powerpoint/2010/main" val="358790846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chemeClr val="bg2"/>
        </a:solidFill>
        <a:effectLst/>
      </p:bgPr>
    </p:bg>
    <p:spTree>
      <p:nvGrpSpPr>
        <p:cNvPr id="1" name=""/>
        <p:cNvGrpSpPr/>
        <p:nvPr/>
      </p:nvGrpSpPr>
      <p:grpSpPr>
        <a:xfrm>
          <a:off x="0" y="0"/>
          <a:ext cx="0" cy="0"/>
          <a:chOff x="0" y="0"/>
          <a:chExt cx="0" cy="0"/>
        </a:xfrm>
      </p:grpSpPr>
      <p:sp>
        <p:nvSpPr>
          <p:cNvPr id="3" name="Date Placeholder 2"/>
          <p:cNvSpPr>
            <a:spLocks noGrp="1"/>
          </p:cNvSpPr>
          <p:nvPr>
            <p:ph type="dt" sz="half" idx="10"/>
          </p:nvPr>
        </p:nvSpPr>
        <p:spPr>
          <a:xfrm>
            <a:off x="9677400" y="6405036"/>
            <a:ext cx="1482051" cy="153888"/>
          </a:xfrm>
          <a:prstGeom prst="rect">
            <a:avLst/>
          </a:prstGeom>
        </p:spPr>
        <p:txBody>
          <a:bodyPr/>
          <a:lstStyle>
            <a:lvl1pPr>
              <a:defRPr>
                <a:latin typeface="+mn-lt"/>
                <a:sym typeface="Trebuchet MS" panose="020B0603020202020204" pitchFamily="34" charset="0"/>
              </a:defRPr>
            </a:lvl1pPr>
          </a:lstStyle>
          <a:p>
            <a:endParaRPr lang="en-US"/>
          </a:p>
        </p:txBody>
      </p:sp>
      <p:sp>
        <p:nvSpPr>
          <p:cNvPr id="7"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2022 by Boston Consulting Group. All rights reserved.</a:t>
            </a:r>
          </a:p>
        </p:txBody>
      </p:sp>
      <p:sp>
        <p:nvSpPr>
          <p:cNvPr id="5" name="Title 4"/>
          <p:cNvSpPr>
            <a:spLocks noGrp="1"/>
          </p:cNvSpPr>
          <p:nvPr>
            <p:ph type="title" hasCustomPrompt="1"/>
          </p:nvPr>
        </p:nvSpPr>
        <p:spPr>
          <a:xfrm>
            <a:off x="630000" y="622800"/>
            <a:ext cx="10933200" cy="470898"/>
          </a:xfrm>
          <a:prstGeom prst="rect">
            <a:avLst/>
          </a:prstGeom>
        </p:spPr>
        <p:txBody>
          <a:bodyPr vert="horz" wrap="square" lIns="0" tIns="0" rIns="0" bIns="0" anchor="t" anchorCtr="0">
            <a:spAutoFit/>
          </a:bodyPr>
          <a:lstStyle>
            <a:lvl1pPr marL="0" indent="0" algn="l">
              <a:lnSpc>
                <a:spcPct val="90000"/>
              </a:lnSpc>
              <a:spcBef>
                <a:spcPct val="0"/>
              </a:spcBef>
              <a:spcAft>
                <a:spcPts val="0"/>
              </a:spcAft>
              <a:defRPr sz="3400" b="0" i="0" u="none" kern="1200" spc="0">
                <a:solidFill>
                  <a:schemeClr val="tx2">
                    <a:lumMod val="100000"/>
                  </a:schemeClr>
                </a:solidFill>
                <a:latin typeface="+mj-lt"/>
                <a:sym typeface="Trebuchet MS" panose="020B0603020202020204" pitchFamily="34" charset="0"/>
              </a:defRPr>
            </a:lvl1pPr>
          </a:lstStyle>
          <a:p>
            <a:pPr lvl="0"/>
            <a:r>
              <a:rPr lang="en-US"/>
              <a:t>Click to add title</a:t>
            </a:r>
          </a:p>
        </p:txBody>
      </p:sp>
    </p:spTree>
    <p:extLst>
      <p:ext uri="{BB962C8B-B14F-4D97-AF65-F5344CB8AC3E}">
        <p14:creationId xmlns:p14="http://schemas.microsoft.com/office/powerpoint/2010/main" val="83595911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Title and Text">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FCE4FFF-81B3-4CDA-B0A1-3363FFB22A6A}"/>
              </a:ext>
            </a:extLst>
          </p:cNvPr>
          <p:cNvSpPr>
            <a:spLocks noGrp="1"/>
          </p:cNvSpPr>
          <p:nvPr>
            <p:ph type="title" hasCustomPrompt="1"/>
          </p:nvPr>
        </p:nvSpPr>
        <p:spPr>
          <a:xfrm>
            <a:off x="630000" y="622800"/>
            <a:ext cx="10933350" cy="470898"/>
          </a:xfrm>
        </p:spPr>
        <p:txBody>
          <a:bodyPr/>
          <a:lstStyle>
            <a:lvl1pPr>
              <a:defRPr sz="3400"/>
            </a:lvl1pPr>
          </a:lstStyle>
          <a:p>
            <a:r>
              <a:rPr lang="en-US"/>
              <a:t>Click to add title</a:t>
            </a:r>
          </a:p>
        </p:txBody>
      </p:sp>
      <p:sp>
        <p:nvSpPr>
          <p:cNvPr id="8" name="Text Placeholder 7">
            <a:extLst>
              <a:ext uri="{FF2B5EF4-FFF2-40B4-BE49-F238E27FC236}">
                <a16:creationId xmlns:a16="http://schemas.microsoft.com/office/drawing/2014/main" id="{1F54B2F8-C51F-4566-BAC0-8A0C8E575488}"/>
              </a:ext>
            </a:extLst>
          </p:cNvPr>
          <p:cNvSpPr>
            <a:spLocks noGrp="1"/>
          </p:cNvSpPr>
          <p:nvPr>
            <p:ph type="body" sz="quarter" idx="10"/>
          </p:nvPr>
        </p:nvSpPr>
        <p:spPr>
          <a:xfrm>
            <a:off x="629399" y="2085628"/>
            <a:ext cx="10933801" cy="4089131"/>
          </a:xfrm>
        </p:spPr>
        <p:txBody>
          <a:bodyPr/>
          <a:lstStyle>
            <a:lvl1pPr>
              <a:lnSpc>
                <a:spcPct val="100000"/>
              </a:lnSpc>
              <a:spcBef>
                <a:spcPts val="0"/>
              </a:spcBef>
              <a:spcAft>
                <a:spcPts val="0"/>
              </a:spcAft>
              <a:defRPr sz="2000"/>
            </a:lvl1pPr>
            <a:lvl2pPr>
              <a:lnSpc>
                <a:spcPct val="100000"/>
              </a:lnSpc>
              <a:spcBef>
                <a:spcPts val="0"/>
              </a:spcBef>
              <a:spcAft>
                <a:spcPts val="0"/>
              </a:spcAft>
              <a:defRPr sz="2000"/>
            </a:lvl2pPr>
            <a:lvl3pPr>
              <a:lnSpc>
                <a:spcPct val="100000"/>
              </a:lnSpc>
              <a:spcBef>
                <a:spcPts val="0"/>
              </a:spcBef>
              <a:spcAft>
                <a:spcPts val="0"/>
              </a:spcAft>
              <a:defRPr sz="2000"/>
            </a:lvl3pPr>
            <a:lvl4pPr>
              <a:lnSpc>
                <a:spcPct val="100000"/>
              </a:lnSpc>
              <a:spcBef>
                <a:spcPts val="0"/>
              </a:spcBef>
              <a:spcAft>
                <a:spcPts val="0"/>
              </a:spcAft>
              <a:defRPr sz="2800"/>
            </a:lvl4pPr>
            <a:lvl5pPr>
              <a:lnSpc>
                <a:spcPct val="100000"/>
              </a:lnSpc>
              <a:spcBef>
                <a:spcPts val="0"/>
              </a:spcBef>
              <a:spcAft>
                <a:spcPts val="0"/>
              </a:spcAft>
              <a:defRPr sz="28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2022 by Boston Consulting Group. All rights reserved.</a:t>
            </a:r>
          </a:p>
        </p:txBody>
      </p:sp>
    </p:spTree>
    <p:extLst>
      <p:ext uri="{BB962C8B-B14F-4D97-AF65-F5344CB8AC3E}">
        <p14:creationId xmlns:p14="http://schemas.microsoft.com/office/powerpoint/2010/main" val="61001893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Gray slice heading">
    <p:bg>
      <p:bgPr>
        <a:solidFill>
          <a:schemeClr val="bg1"/>
        </a:solidFill>
        <a:effectLst/>
      </p:bgPr>
    </p:bg>
    <p:spTree>
      <p:nvGrpSpPr>
        <p:cNvPr id="1" name=""/>
        <p:cNvGrpSpPr/>
        <p:nvPr/>
      </p:nvGrpSpPr>
      <p:grpSpPr>
        <a:xfrm>
          <a:off x="0" y="0"/>
          <a:ext cx="0" cy="0"/>
          <a:chOff x="0" y="0"/>
          <a:chExt cx="0" cy="0"/>
        </a:xfrm>
      </p:grpSpPr>
      <p:sp>
        <p:nvSpPr>
          <p:cNvPr id="8" name="Rectangle 7"/>
          <p:cNvSpPr/>
          <p:nvPr userDrawn="1"/>
        </p:nvSpPr>
        <p:spPr bwMode="ltGray">
          <a:xfrm>
            <a:off x="1" y="-1309"/>
            <a:ext cx="4694400" cy="6859309"/>
          </a:xfrm>
          <a:prstGeom prst="rect">
            <a:avLst/>
          </a:prstGeom>
          <a:solidFill>
            <a:srgbClr val="F2F2F2"/>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lnSpc>
                <a:spcPct val="90000"/>
              </a:lnSpc>
              <a:spcAft>
                <a:spcPts val="1000"/>
              </a:spcAft>
            </a:pPr>
            <a:endParaRPr lang="en-US" sz="1200">
              <a:solidFill>
                <a:schemeClr val="bg1"/>
              </a:solidFill>
              <a:latin typeface="+mn-lt"/>
            </a:endParaRPr>
          </a:p>
        </p:txBody>
      </p:sp>
      <p:sp>
        <p:nvSpPr>
          <p:cNvPr id="3" name="Date Placeholder 2"/>
          <p:cNvSpPr>
            <a:spLocks noGrp="1"/>
          </p:cNvSpPr>
          <p:nvPr>
            <p:ph type="dt" sz="half" idx="10"/>
          </p:nvPr>
        </p:nvSpPr>
        <p:spPr>
          <a:xfrm>
            <a:off x="9677400" y="6405036"/>
            <a:ext cx="1482051" cy="153888"/>
          </a:xfrm>
          <a:prstGeom prst="rect">
            <a:avLst/>
          </a:prstGeom>
        </p:spPr>
        <p:txBody>
          <a:bodyPr/>
          <a:lstStyle>
            <a:lvl1pPr>
              <a:defRPr>
                <a:latin typeface="+mn-lt"/>
                <a:sym typeface="Trebuchet MS" panose="020B0603020202020204" pitchFamily="34" charset="0"/>
              </a:defRPr>
            </a:lvl1pPr>
          </a:lstStyle>
          <a:p>
            <a:endParaRPr lang="en-US"/>
          </a:p>
        </p:txBody>
      </p:sp>
      <p:sp>
        <p:nvSpPr>
          <p:cNvPr id="9" name="Title 1"/>
          <p:cNvSpPr>
            <a:spLocks noGrp="1"/>
          </p:cNvSpPr>
          <p:nvPr>
            <p:ph type="title" hasCustomPrompt="1"/>
          </p:nvPr>
        </p:nvSpPr>
        <p:spPr bwMode="ltGray">
          <a:xfrm>
            <a:off x="630000" y="1544274"/>
            <a:ext cx="3452400" cy="1495794"/>
          </a:xfrm>
          <a:noFill/>
        </p:spPr>
        <p:txBody>
          <a:bodyPr wrap="square" lIns="0" tIns="0" rIns="320040" bIns="0" anchor="b">
            <a:noAutofit/>
          </a:bodyPr>
          <a:lstStyle>
            <a:lvl1pPr>
              <a:defRPr sz="3200">
                <a:solidFill>
                  <a:schemeClr val="tx2"/>
                </a:solidFill>
                <a:latin typeface="+mj-lt"/>
              </a:defRPr>
            </a:lvl1pPr>
          </a:lstStyle>
          <a:p>
            <a:r>
              <a:rPr lang="en-US"/>
              <a:t>Click to add title</a:t>
            </a:r>
          </a:p>
        </p:txBody>
      </p:sp>
      <p:sp>
        <p:nvSpPr>
          <p:cNvPr id="11"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2022 by Boston Consulting Group. All rights reserved.</a:t>
            </a:r>
          </a:p>
        </p:txBody>
      </p:sp>
    </p:spTree>
    <p:extLst>
      <p:ext uri="{BB962C8B-B14F-4D97-AF65-F5344CB8AC3E}">
        <p14:creationId xmlns:p14="http://schemas.microsoft.com/office/powerpoint/2010/main" val="208650437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82.xml><?xml version="1.0" encoding="utf-8"?>
<p:sldLayout xmlns:a="http://schemas.openxmlformats.org/drawingml/2006/main" xmlns:r="http://schemas.openxmlformats.org/officeDocument/2006/relationships" xmlns:p="http://schemas.openxmlformats.org/presentationml/2006/main" showMasterSp="0" preserve="1">
  <p:cSld name="Section header box">
    <p:bg bwMode="grayWhite">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bwMode="blackWhite">
          <a:xfrm>
            <a:off x="1284742" y="2668041"/>
            <a:ext cx="9620491" cy="3201026"/>
          </a:xfrm>
          <a:prstGeom prst="rect">
            <a:avLst/>
          </a:prstGeom>
          <a:ln w="9525">
            <a:solidFill>
              <a:schemeClr val="bg1"/>
            </a:solidFill>
          </a:ln>
        </p:spPr>
        <p:txBody>
          <a:bodyPr lIns="274320" tIns="274320" rIns="274320" bIns="137160" anchor="b">
            <a:noAutofit/>
          </a:bodyPr>
          <a:lstStyle>
            <a:lvl1pPr marL="0" algn="l" defTabSz="914400" rtl="0" eaLnBrk="1" fontAlgn="auto" latinLnBrk="0" hangingPunct="1">
              <a:lnSpc>
                <a:spcPts val="6000"/>
              </a:lnSpc>
              <a:spcBef>
                <a:spcPts val="0"/>
              </a:spcBef>
              <a:spcAft>
                <a:spcPts val="0"/>
              </a:spcAft>
              <a:defRPr lang="en-US" sz="5400" kern="1200" baseline="0" dirty="0">
                <a:solidFill>
                  <a:schemeClr val="bg1"/>
                </a:solidFill>
                <a:latin typeface="+mj-lt"/>
                <a:ea typeface="+mn-ea"/>
                <a:cs typeface="Arial" panose="020B0604020202020204" pitchFamily="34" charset="0"/>
                <a:sym typeface="Trebuchet MS" panose="020B0603020202020204" pitchFamily="34" charset="0"/>
              </a:defRPr>
            </a:lvl1pPr>
          </a:lstStyle>
          <a:p>
            <a:r>
              <a:rPr lang="en-US"/>
              <a:t>Click to add big statement text</a:t>
            </a:r>
          </a:p>
        </p:txBody>
      </p:sp>
      <p:sp>
        <p:nvSpPr>
          <p:cNvPr id="4" name="TextBox 3"/>
          <p:cNvSpPr txBox="1"/>
          <p:nvPr/>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
        <p:nvSpPr>
          <p:cNvPr id="3" name="Date Placeholder 2"/>
          <p:cNvSpPr>
            <a:spLocks noGrp="1"/>
          </p:cNvSpPr>
          <p:nvPr>
            <p:ph type="dt" sz="half" idx="10"/>
          </p:nvPr>
        </p:nvSpPr>
        <p:spPr>
          <a:xfrm>
            <a:off x="9677400" y="6405036"/>
            <a:ext cx="1482051" cy="153888"/>
          </a:xfrm>
          <a:prstGeom prst="rect">
            <a:avLst/>
          </a:prstGeom>
        </p:spPr>
        <p:txBody>
          <a:bodyPr/>
          <a:lstStyle>
            <a:lvl1pPr>
              <a:defRPr>
                <a:solidFill>
                  <a:schemeClr val="bg1"/>
                </a:solidFill>
                <a:latin typeface="+mn-lt"/>
                <a:sym typeface="Trebuchet MS" panose="020B0603020202020204" pitchFamily="34" charset="0"/>
              </a:defRPr>
            </a:lvl1pPr>
          </a:lstStyle>
          <a:p>
            <a:endParaRPr lang="en-US"/>
          </a:p>
        </p:txBody>
      </p:sp>
      <p:sp>
        <p:nvSpPr>
          <p:cNvPr id="12"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2022 by Boston Consulting Group. All rights reserved.</a:t>
            </a:r>
          </a:p>
        </p:txBody>
      </p:sp>
      <p:sp>
        <p:nvSpPr>
          <p:cNvPr id="59" name="Rectangle 58"/>
          <p:cNvSpPr/>
          <p:nvPr userDrawn="1"/>
        </p:nvSpPr>
        <p:spPr bwMode="white">
          <a:xfrm>
            <a:off x="1284743" y="1428131"/>
            <a:ext cx="947672" cy="947672"/>
          </a:xfrm>
          <a:prstGeom prst="rect">
            <a:avLst/>
          </a:prstGeom>
          <a:noFill/>
          <a:ln>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l"/>
            <a:endParaRPr lang="en-US" sz="1200">
              <a:solidFill>
                <a:schemeClr val="bg1"/>
              </a:solidFill>
              <a:latin typeface="+mn-lt"/>
              <a:sym typeface="Trebuchet MS" panose="020B0603020202020204" pitchFamily="34" charset="0"/>
            </a:endParaRPr>
          </a:p>
        </p:txBody>
      </p:sp>
    </p:spTree>
    <p:extLst>
      <p:ext uri="{BB962C8B-B14F-4D97-AF65-F5344CB8AC3E}">
        <p14:creationId xmlns:p14="http://schemas.microsoft.com/office/powerpoint/2010/main" val="321181779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83.xml><?xml version="1.0" encoding="utf-8"?>
<p:sldLayout xmlns:a="http://schemas.openxmlformats.org/drawingml/2006/main" xmlns:r="http://schemas.openxmlformats.org/officeDocument/2006/relationships" xmlns:p="http://schemas.openxmlformats.org/presentationml/2006/main" showMasterSp="0" preserve="1" userDrawn="1">
  <p:cSld name="Section header line">
    <p:bg bwMode="blackWhite">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sp>
        <p:nvSpPr>
          <p:cNvPr id="5" name="TextBox 4"/>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
        <p:nvSpPr>
          <p:cNvPr id="4" name="Date Placeholder 3"/>
          <p:cNvSpPr>
            <a:spLocks noGrp="1"/>
          </p:cNvSpPr>
          <p:nvPr>
            <p:ph type="dt" sz="half" idx="10"/>
          </p:nvPr>
        </p:nvSpPr>
        <p:spPr>
          <a:xfrm>
            <a:off x="9677400" y="6405036"/>
            <a:ext cx="1482051" cy="153888"/>
          </a:xfrm>
          <a:prstGeom prst="rect">
            <a:avLst/>
          </a:prstGeom>
        </p:spPr>
        <p:txBody>
          <a:bodyPr/>
          <a:lstStyle>
            <a:lvl1pPr>
              <a:defRPr>
                <a:solidFill>
                  <a:schemeClr val="bg1"/>
                </a:solidFill>
                <a:latin typeface="+mn-lt"/>
                <a:sym typeface="Trebuchet MS" panose="020B0603020202020204" pitchFamily="34" charset="0"/>
              </a:defRPr>
            </a:lvl1pPr>
          </a:lstStyle>
          <a:p>
            <a:endParaRPr lang="en-US"/>
          </a:p>
        </p:txBody>
      </p:sp>
      <p:sp>
        <p:nvSpPr>
          <p:cNvPr id="147" name="Title 1"/>
          <p:cNvSpPr>
            <a:spLocks noGrp="1"/>
          </p:cNvSpPr>
          <p:nvPr>
            <p:ph type="title" hasCustomPrompt="1"/>
          </p:nvPr>
        </p:nvSpPr>
        <p:spPr bwMode="blackWhite">
          <a:xfrm>
            <a:off x="630000" y="3826800"/>
            <a:ext cx="10936800" cy="2041200"/>
          </a:xfrm>
        </p:spPr>
        <p:txBody>
          <a:bodyPr anchor="t">
            <a:noAutofit/>
          </a:bodyPr>
          <a:lstStyle>
            <a:lvl1pPr>
              <a:defRPr sz="5400">
                <a:solidFill>
                  <a:schemeClr val="bg1"/>
                </a:solidFill>
                <a:latin typeface="+mj-lt"/>
                <a:sym typeface="Trebuchet MS" panose="020B0603020202020204" pitchFamily="34" charset="0"/>
              </a:defRPr>
            </a:lvl1pPr>
          </a:lstStyle>
          <a:p>
            <a:r>
              <a:rPr lang="en-US"/>
              <a:t>Click to add big statement text</a:t>
            </a:r>
          </a:p>
        </p:txBody>
      </p:sp>
      <p:cxnSp>
        <p:nvCxnSpPr>
          <p:cNvPr id="148" name="Straight Connector 147"/>
          <p:cNvCxnSpPr/>
          <p:nvPr userDrawn="1"/>
        </p:nvCxnSpPr>
        <p:spPr bwMode="white">
          <a:xfrm>
            <a:off x="618898" y="3680016"/>
            <a:ext cx="11576304" cy="0"/>
          </a:xfrm>
          <a:prstGeom prst="line">
            <a:avLst/>
          </a:prstGeom>
          <a:ln w="19050" cmpd="sng">
            <a:solidFill>
              <a:schemeClr val="bg1"/>
            </a:solidFill>
            <a:miter lim="800000"/>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1364534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84.xml><?xml version="1.0" encoding="utf-8"?>
<p:sldLayout xmlns:a="http://schemas.openxmlformats.org/drawingml/2006/main" xmlns:r="http://schemas.openxmlformats.org/officeDocument/2006/relationships" xmlns:p="http://schemas.openxmlformats.org/presentationml/2006/main" showMasterSp="0" preserve="1" userDrawn="1">
  <p:cSld name="White one third">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pic>
        <p:nvPicPr>
          <p:cNvPr id="16" name="Picture 15"/>
          <p:cNvPicPr>
            <a:picLocks noChangeAspect="1"/>
          </p:cNvPicPr>
          <p:nvPr userDrawn="1"/>
        </p:nvPicPr>
        <p:blipFill rotWithShape="1">
          <a:blip r:embed="rId2">
            <a:extLst>
              <a:ext uri="{28A0092B-C50C-407E-A947-70E740481C1C}">
                <a14:useLocalDpi xmlns:a14="http://schemas.microsoft.com/office/drawing/2010/main" val="0"/>
              </a:ext>
            </a:extLst>
          </a:blip>
          <a:srcRect l="29398" t="8741" r="101" b="27"/>
          <a:stretch/>
        </p:blipFill>
        <p:spPr bwMode="ltGray">
          <a:xfrm flipV="1">
            <a:off x="4064994" y="0"/>
            <a:ext cx="416951" cy="6858000"/>
          </a:xfrm>
          <a:prstGeom prst="rect">
            <a:avLst/>
          </a:prstGeom>
        </p:spPr>
      </p:pic>
      <p:sp>
        <p:nvSpPr>
          <p:cNvPr id="17" name="Date Placeholder 1"/>
          <p:cNvSpPr>
            <a:spLocks noGrp="1"/>
          </p:cNvSpPr>
          <p:nvPr>
            <p:ph type="dt" sz="half" idx="31"/>
          </p:nvPr>
        </p:nvSpPr>
        <p:spPr>
          <a:xfrm>
            <a:off x="9677400" y="6405036"/>
            <a:ext cx="1482051" cy="153888"/>
          </a:xfrm>
          <a:prstGeom prst="rect">
            <a:avLst/>
          </a:prstGeom>
        </p:spPr>
        <p:txBody>
          <a:bodyPr/>
          <a:lstStyle>
            <a:lvl1pPr>
              <a:defRPr>
                <a:solidFill>
                  <a:schemeClr val="bg1"/>
                </a:solidFill>
                <a:latin typeface="+mn-lt"/>
                <a:sym typeface="Trebuchet MS" panose="020B0603020202020204" pitchFamily="34" charset="0"/>
              </a:defRPr>
            </a:lvl1pPr>
          </a:lstStyle>
          <a:p>
            <a:endParaRPr lang="en-US"/>
          </a:p>
        </p:txBody>
      </p:sp>
      <p:sp>
        <p:nvSpPr>
          <p:cNvPr id="25"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2022 by Boston Consulting Group. All rights reserved.</a:t>
            </a:r>
          </a:p>
        </p:txBody>
      </p:sp>
      <p:sp>
        <p:nvSpPr>
          <p:cNvPr id="20" name="TextBox 19"/>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
        <p:nvSpPr>
          <p:cNvPr id="26" name="Rectangle 25"/>
          <p:cNvSpPr/>
          <p:nvPr userDrawn="1"/>
        </p:nvSpPr>
        <p:spPr bwMode="white">
          <a:xfrm>
            <a:off x="0" y="0"/>
            <a:ext cx="4079508"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endParaRPr lang="en-US" sz="1200">
              <a:solidFill>
                <a:schemeClr val="bg1"/>
              </a:solidFill>
              <a:latin typeface="+mn-lt"/>
              <a:sym typeface="Trebuchet MS" panose="020B0603020202020204" pitchFamily="34" charset="0"/>
            </a:endParaRPr>
          </a:p>
        </p:txBody>
      </p:sp>
      <p:sp>
        <p:nvSpPr>
          <p:cNvPr id="27" name="Title 4"/>
          <p:cNvSpPr>
            <a:spLocks noGrp="1"/>
          </p:cNvSpPr>
          <p:nvPr>
            <p:ph type="title" hasCustomPrompt="1"/>
          </p:nvPr>
        </p:nvSpPr>
        <p:spPr>
          <a:xfrm>
            <a:off x="630000" y="2681103"/>
            <a:ext cx="3127881" cy="1495794"/>
          </a:xfrm>
          <a:prstGeom prst="rect">
            <a:avLst/>
          </a:prstGeom>
        </p:spPr>
        <p:txBody>
          <a:bodyPr anchor="ctr">
            <a:noAutofit/>
          </a:bodyPr>
          <a:lstStyle>
            <a:lvl1pPr>
              <a:defRPr sz="3200">
                <a:solidFill>
                  <a:schemeClr val="tx2"/>
                </a:solidFill>
                <a:latin typeface="+mj-lt"/>
                <a:sym typeface="Trebuchet MS" panose="020B0603020202020204" pitchFamily="34" charset="0"/>
              </a:defRPr>
            </a:lvl1pPr>
          </a:lstStyle>
          <a:p>
            <a:r>
              <a:rPr lang="en-US"/>
              <a:t>Click to add title</a:t>
            </a:r>
          </a:p>
        </p:txBody>
      </p:sp>
    </p:spTree>
    <p:extLst>
      <p:ext uri="{BB962C8B-B14F-4D97-AF65-F5344CB8AC3E}">
        <p14:creationId xmlns:p14="http://schemas.microsoft.com/office/powerpoint/2010/main" val="400948669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85.xml><?xml version="1.0" encoding="utf-8"?>
<p:sldLayout xmlns:a="http://schemas.openxmlformats.org/drawingml/2006/main" xmlns:r="http://schemas.openxmlformats.org/officeDocument/2006/relationships" xmlns:p="http://schemas.openxmlformats.org/presentationml/2006/main" showMasterSp="0" preserve="1" userDrawn="1">
  <p:cSld name="Green highlight">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pic>
        <p:nvPicPr>
          <p:cNvPr id="10" name="Picture 9"/>
          <p:cNvPicPr>
            <a:picLocks noChangeAspect="1"/>
          </p:cNvPicPr>
          <p:nvPr userDrawn="1"/>
        </p:nvPicPr>
        <p:blipFill rotWithShape="1">
          <a:blip r:embed="rId2">
            <a:extLst>
              <a:ext uri="{28A0092B-C50C-407E-A947-70E740481C1C}">
                <a14:useLocalDpi xmlns:a14="http://schemas.microsoft.com/office/drawing/2010/main" val="0"/>
              </a:ext>
            </a:extLst>
          </a:blip>
          <a:srcRect l="29398" t="8741" r="101" b="27"/>
          <a:stretch/>
        </p:blipFill>
        <p:spPr bwMode="ltGray">
          <a:xfrm flipV="1">
            <a:off x="7165606" y="0"/>
            <a:ext cx="416951" cy="6858000"/>
          </a:xfrm>
          <a:prstGeom prst="rect">
            <a:avLst/>
          </a:prstGeom>
        </p:spPr>
      </p:pic>
      <p:sp>
        <p:nvSpPr>
          <p:cNvPr id="13" name="Rectangle 12"/>
          <p:cNvSpPr/>
          <p:nvPr userDrawn="1"/>
        </p:nvSpPr>
        <p:spPr bwMode="white">
          <a:xfrm>
            <a:off x="0" y="0"/>
            <a:ext cx="7171956"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endParaRPr lang="en-US" sz="1200">
              <a:solidFill>
                <a:schemeClr val="bg1"/>
              </a:solidFill>
              <a:latin typeface="+mn-lt"/>
              <a:sym typeface="Trebuchet MS" panose="020B0603020202020204" pitchFamily="34" charset="0"/>
            </a:endParaRPr>
          </a:p>
        </p:txBody>
      </p:sp>
      <p:sp>
        <p:nvSpPr>
          <p:cNvPr id="16" name="Date Placeholder 2"/>
          <p:cNvSpPr>
            <a:spLocks noGrp="1"/>
          </p:cNvSpPr>
          <p:nvPr>
            <p:ph type="dt" sz="half" idx="10"/>
          </p:nvPr>
        </p:nvSpPr>
        <p:spPr>
          <a:xfrm>
            <a:off x="9677400" y="6405036"/>
            <a:ext cx="1482051" cy="153888"/>
          </a:xfrm>
          <a:prstGeom prst="rect">
            <a:avLst/>
          </a:prstGeom>
        </p:spPr>
        <p:txBody>
          <a:bodyPr/>
          <a:lstStyle>
            <a:lvl1pPr>
              <a:defRPr>
                <a:solidFill>
                  <a:schemeClr val="bg1"/>
                </a:solidFill>
                <a:latin typeface="+mn-lt"/>
                <a:sym typeface="Trebuchet MS" panose="020B0603020202020204" pitchFamily="34" charset="0"/>
              </a:defRPr>
            </a:lvl1pPr>
          </a:lstStyle>
          <a:p>
            <a:endParaRPr lang="en-US"/>
          </a:p>
        </p:txBody>
      </p:sp>
      <p:sp>
        <p:nvSpPr>
          <p:cNvPr id="20"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2022 by Boston Consulting Group. All rights reserved.</a:t>
            </a:r>
          </a:p>
        </p:txBody>
      </p:sp>
      <p:sp>
        <p:nvSpPr>
          <p:cNvPr id="17" name="TextBox 16"/>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
        <p:nvSpPr>
          <p:cNvPr id="23" name="Title 3"/>
          <p:cNvSpPr>
            <a:spLocks noGrp="1"/>
          </p:cNvSpPr>
          <p:nvPr>
            <p:ph type="title" hasCustomPrompt="1"/>
          </p:nvPr>
        </p:nvSpPr>
        <p:spPr>
          <a:xfrm>
            <a:off x="630000" y="622800"/>
            <a:ext cx="6256800" cy="470898"/>
          </a:xfrm>
          <a:prstGeom prst="rect">
            <a:avLst/>
          </a:prstGeom>
        </p:spPr>
        <p:txBody>
          <a:bodyPr vert="horz" wrap="square" lIns="0" tIns="0" rIns="0" bIns="0" anchor="t" anchorCtr="0">
            <a:spAutoFit/>
          </a:bodyPr>
          <a:lstStyle>
            <a:lvl1pPr marL="0" indent="0" algn="l">
              <a:lnSpc>
                <a:spcPct val="90000"/>
              </a:lnSpc>
              <a:spcBef>
                <a:spcPct val="0"/>
              </a:spcBef>
              <a:spcAft>
                <a:spcPts val="0"/>
              </a:spcAft>
              <a:defRPr sz="3400" b="0" i="0" u="none" kern="1200" spc="0">
                <a:solidFill>
                  <a:schemeClr val="tx2">
                    <a:lumMod val="100000"/>
                  </a:schemeClr>
                </a:solidFill>
                <a:latin typeface="+mj-lt"/>
                <a:sym typeface="Trebuchet MS" panose="020B0603020202020204" pitchFamily="34" charset="0"/>
              </a:defRPr>
            </a:lvl1pPr>
          </a:lstStyle>
          <a:p>
            <a:pPr lvl="0"/>
            <a:r>
              <a:rPr lang="en-US"/>
              <a:t>Click to add title</a:t>
            </a:r>
          </a:p>
        </p:txBody>
      </p:sp>
    </p:spTree>
    <p:extLst>
      <p:ext uri="{BB962C8B-B14F-4D97-AF65-F5344CB8AC3E}">
        <p14:creationId xmlns:p14="http://schemas.microsoft.com/office/powerpoint/2010/main" val="127134105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86.xml><?xml version="1.0" encoding="utf-8"?>
<p:sldLayout xmlns:a="http://schemas.openxmlformats.org/drawingml/2006/main" xmlns:r="http://schemas.openxmlformats.org/officeDocument/2006/relationships" xmlns:p="http://schemas.openxmlformats.org/presentationml/2006/main" showMasterSp="0" preserve="1" userDrawn="1">
  <p:cSld name="Green one third">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pic>
        <p:nvPicPr>
          <p:cNvPr id="10" name="Picture 9"/>
          <p:cNvPicPr>
            <a:picLocks noChangeAspect="1"/>
          </p:cNvPicPr>
          <p:nvPr userDrawn="1"/>
        </p:nvPicPr>
        <p:blipFill rotWithShape="1">
          <a:blip r:embed="rId2">
            <a:extLst>
              <a:ext uri="{28A0092B-C50C-407E-A947-70E740481C1C}">
                <a14:useLocalDpi xmlns:a14="http://schemas.microsoft.com/office/drawing/2010/main" val="0"/>
              </a:ext>
            </a:extLst>
          </a:blip>
          <a:srcRect l="29398" t="8741" r="101" b="27"/>
          <a:stretch/>
        </p:blipFill>
        <p:spPr bwMode="ltGray">
          <a:xfrm flipH="1">
            <a:off x="3671068" y="0"/>
            <a:ext cx="416951" cy="6858000"/>
          </a:xfrm>
          <a:prstGeom prst="rect">
            <a:avLst/>
          </a:prstGeom>
        </p:spPr>
      </p:pic>
      <p:sp>
        <p:nvSpPr>
          <p:cNvPr id="11" name="Title 4"/>
          <p:cNvSpPr>
            <a:spLocks noGrp="1"/>
          </p:cNvSpPr>
          <p:nvPr>
            <p:ph type="title" hasCustomPrompt="1"/>
          </p:nvPr>
        </p:nvSpPr>
        <p:spPr>
          <a:xfrm>
            <a:off x="630000" y="2681103"/>
            <a:ext cx="3127881" cy="1495794"/>
          </a:xfrm>
          <a:prstGeom prst="rect">
            <a:avLst/>
          </a:prstGeom>
        </p:spPr>
        <p:txBody>
          <a:bodyPr anchor="ctr">
            <a:noAutofit/>
          </a:bodyPr>
          <a:lstStyle>
            <a:lvl1pPr>
              <a:defRPr sz="3200">
                <a:solidFill>
                  <a:schemeClr val="bg1"/>
                </a:solidFill>
                <a:latin typeface="+mj-lt"/>
                <a:sym typeface="Trebuchet MS" panose="020B0603020202020204" pitchFamily="34" charset="0"/>
              </a:defRPr>
            </a:lvl1pPr>
          </a:lstStyle>
          <a:p>
            <a:r>
              <a:rPr lang="en-US"/>
              <a:t>Click to add title</a:t>
            </a:r>
          </a:p>
        </p:txBody>
      </p:sp>
      <p:sp>
        <p:nvSpPr>
          <p:cNvPr id="13" name="Rectangle 12"/>
          <p:cNvSpPr/>
          <p:nvPr userDrawn="1"/>
        </p:nvSpPr>
        <p:spPr bwMode="white">
          <a:xfrm>
            <a:off x="4080763" y="-1309"/>
            <a:ext cx="8111237" cy="685930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endParaRPr lang="en-US" sz="1200">
              <a:solidFill>
                <a:schemeClr val="bg1"/>
              </a:solidFill>
              <a:latin typeface="+mn-lt"/>
              <a:sym typeface="Trebuchet MS" panose="020B0603020202020204" pitchFamily="34" charset="0"/>
            </a:endParaRPr>
          </a:p>
        </p:txBody>
      </p:sp>
      <p:sp>
        <p:nvSpPr>
          <p:cNvPr id="16"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2022 by Boston Consulting Group. All rights reserved.</a:t>
            </a:r>
          </a:p>
        </p:txBody>
      </p:sp>
      <p:sp>
        <p:nvSpPr>
          <p:cNvPr id="12" name="Date Placeholder 1"/>
          <p:cNvSpPr>
            <a:spLocks noGrp="1"/>
          </p:cNvSpPr>
          <p:nvPr>
            <p:ph type="dt" sz="half" idx="29"/>
          </p:nvPr>
        </p:nvSpPr>
        <p:spPr>
          <a:xfrm>
            <a:off x="9677400" y="6405036"/>
            <a:ext cx="1482051" cy="153888"/>
          </a:xfrm>
          <a:prstGeom prst="rect">
            <a:avLst/>
          </a:prstGeom>
        </p:spPr>
        <p:txBody>
          <a:bodyPr/>
          <a:lstStyle>
            <a:lvl1pPr>
              <a:defRPr>
                <a:solidFill>
                  <a:schemeClr val="bg1">
                    <a:lumMod val="50000"/>
                  </a:schemeClr>
                </a:solidFill>
                <a:latin typeface="+mn-lt"/>
                <a:sym typeface="Trebuchet MS" panose="020B0603020202020204" pitchFamily="34" charset="0"/>
              </a:defRPr>
            </a:lvl1pPr>
          </a:lstStyle>
          <a:p>
            <a:endParaRPr lang="en-US"/>
          </a:p>
        </p:txBody>
      </p:sp>
      <p:sp>
        <p:nvSpPr>
          <p:cNvPr id="15" name="TextBox 14"/>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lumMod val="50000"/>
                  </a:schemeClr>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lumMod val="50000"/>
                </a:schemeClr>
              </a:solidFill>
              <a:latin typeface="+mn-lt"/>
              <a:ea typeface="+mn-ea"/>
              <a:cs typeface="+mn-cs"/>
              <a:sym typeface="Trebuchet MS" panose="020B0603020202020204" pitchFamily="34" charset="0"/>
            </a:endParaRPr>
          </a:p>
        </p:txBody>
      </p:sp>
    </p:spTree>
    <p:extLst>
      <p:ext uri="{BB962C8B-B14F-4D97-AF65-F5344CB8AC3E}">
        <p14:creationId xmlns:p14="http://schemas.microsoft.com/office/powerpoint/2010/main" val="167853165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87.xml><?xml version="1.0" encoding="utf-8"?>
<p:sldLayout xmlns:a="http://schemas.openxmlformats.org/drawingml/2006/main" xmlns:r="http://schemas.openxmlformats.org/officeDocument/2006/relationships" xmlns:p="http://schemas.openxmlformats.org/presentationml/2006/main" showMasterSp="0" preserve="1" userDrawn="1">
  <p:cSld name="Green half">
    <p:bg bwMode="grayWhite">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pic>
        <p:nvPicPr>
          <p:cNvPr id="11" name="Picture 10"/>
          <p:cNvPicPr>
            <a:picLocks noChangeAspect="1"/>
          </p:cNvPicPr>
          <p:nvPr userDrawn="1"/>
        </p:nvPicPr>
        <p:blipFill rotWithShape="1">
          <a:blip r:embed="rId2">
            <a:extLst>
              <a:ext uri="{28A0092B-C50C-407E-A947-70E740481C1C}">
                <a14:useLocalDpi xmlns:a14="http://schemas.microsoft.com/office/drawing/2010/main" val="0"/>
              </a:ext>
            </a:extLst>
          </a:blip>
          <a:srcRect l="29398" t="8741" r="101" b="27"/>
          <a:stretch/>
        </p:blipFill>
        <p:spPr bwMode="ltGray">
          <a:xfrm flipH="1">
            <a:off x="5689582" y="0"/>
            <a:ext cx="416951" cy="6858000"/>
          </a:xfrm>
          <a:prstGeom prst="rect">
            <a:avLst/>
          </a:prstGeom>
        </p:spPr>
      </p:pic>
      <p:sp>
        <p:nvSpPr>
          <p:cNvPr id="12" name="Rectangle 11"/>
          <p:cNvSpPr/>
          <p:nvPr userDrawn="1"/>
        </p:nvSpPr>
        <p:spPr>
          <a:xfrm>
            <a:off x="6096000" y="0"/>
            <a:ext cx="6096000" cy="6858000"/>
          </a:xfrm>
          <a:prstGeom prst="rect">
            <a:avLst/>
          </a:prstGeom>
          <a:solidFill>
            <a:schemeClr val="bg2"/>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l">
              <a:lnSpc>
                <a:spcPct val="90000"/>
              </a:lnSpc>
              <a:spcAft>
                <a:spcPts val="1000"/>
              </a:spcAft>
            </a:pPr>
            <a:endParaRPr lang="en-US" sz="1200">
              <a:solidFill>
                <a:schemeClr val="bg1"/>
              </a:solidFill>
              <a:latin typeface="+mn-lt"/>
              <a:sym typeface="Trebuchet MS" panose="020B0603020202020204" pitchFamily="34" charset="0"/>
            </a:endParaRPr>
          </a:p>
        </p:txBody>
      </p:sp>
      <p:sp>
        <p:nvSpPr>
          <p:cNvPr id="13" name="Picture Placeholder 18"/>
          <p:cNvSpPr>
            <a:spLocks noGrp="1"/>
          </p:cNvSpPr>
          <p:nvPr>
            <p:ph type="pic" sz="quarter" idx="14" hasCustomPrompt="1"/>
          </p:nvPr>
        </p:nvSpPr>
        <p:spPr>
          <a:xfrm>
            <a:off x="6092021" y="0"/>
            <a:ext cx="6099977" cy="6858000"/>
          </a:xfrm>
          <a:prstGeom prst="rect">
            <a:avLst/>
          </a:prstGeom>
          <a:noFill/>
        </p:spPr>
        <p:txBody>
          <a:bodyPr lIns="914400" tIns="914400" rIns="914400" bIns="914400"/>
          <a:lstStyle>
            <a:lvl1pPr algn="ctr">
              <a:defRPr sz="1800" baseline="0">
                <a:latin typeface="Trebuchet MS" panose="020B0603020202020204" pitchFamily="34" charset="0"/>
                <a:sym typeface="Trebuchet MS" panose="020B0603020202020204" pitchFamily="34" charset="0"/>
              </a:defRPr>
            </a:lvl1pPr>
          </a:lstStyle>
          <a:p>
            <a:r>
              <a:rPr lang="en-US"/>
              <a:t>Click icon below to insert an image or remove this placeholder to use the whitespace in another way</a:t>
            </a:r>
          </a:p>
        </p:txBody>
      </p:sp>
      <p:sp>
        <p:nvSpPr>
          <p:cNvPr id="14" name="Title 1"/>
          <p:cNvSpPr>
            <a:spLocks noGrp="1"/>
          </p:cNvSpPr>
          <p:nvPr>
            <p:ph type="title" hasCustomPrompt="1"/>
          </p:nvPr>
        </p:nvSpPr>
        <p:spPr bwMode="black">
          <a:xfrm>
            <a:off x="630000" y="1785600"/>
            <a:ext cx="4388400" cy="3286800"/>
          </a:xfrm>
          <a:prstGeom prst="rect">
            <a:avLst/>
          </a:prstGeom>
          <a:noFill/>
        </p:spPr>
        <p:txBody>
          <a:bodyPr wrap="square" lIns="0" tIns="0" rIns="320040" bIns="0" anchor="ctr">
            <a:noAutofit/>
          </a:bodyPr>
          <a:lstStyle>
            <a:lvl1pPr>
              <a:defRPr sz="4400">
                <a:solidFill>
                  <a:schemeClr val="bg1"/>
                </a:solidFill>
                <a:latin typeface="+mj-lt"/>
                <a:sym typeface="Trebuchet MS" panose="020B0603020202020204" pitchFamily="34" charset="0"/>
              </a:defRPr>
            </a:lvl1pPr>
          </a:lstStyle>
          <a:p>
            <a:r>
              <a:rPr lang="en-US"/>
              <a:t>Click to add title</a:t>
            </a:r>
          </a:p>
        </p:txBody>
      </p:sp>
      <p:sp>
        <p:nvSpPr>
          <p:cNvPr id="15" name="TextBox 14"/>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lumMod val="50000"/>
                  </a:schemeClr>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800" kern="1200">
              <a:solidFill>
                <a:schemeClr val="bg1">
                  <a:lumMod val="50000"/>
                </a:schemeClr>
              </a:solidFill>
              <a:latin typeface="+mn-lt"/>
              <a:ea typeface="+mn-ea"/>
              <a:cs typeface="+mn-cs"/>
              <a:sym typeface="Trebuchet MS" panose="020B0603020202020204" pitchFamily="34" charset="0"/>
            </a:endParaRPr>
          </a:p>
        </p:txBody>
      </p:sp>
      <p:sp>
        <p:nvSpPr>
          <p:cNvPr id="16" name="Date Placeholder 2"/>
          <p:cNvSpPr>
            <a:spLocks noGrp="1"/>
          </p:cNvSpPr>
          <p:nvPr>
            <p:ph type="dt" sz="half" idx="15"/>
          </p:nvPr>
        </p:nvSpPr>
        <p:spPr>
          <a:xfrm>
            <a:off x="9677400" y="6405036"/>
            <a:ext cx="1482051" cy="153888"/>
          </a:xfrm>
          <a:prstGeom prst="rect">
            <a:avLst/>
          </a:prstGeom>
        </p:spPr>
        <p:txBody>
          <a:bodyPr/>
          <a:lstStyle>
            <a:lvl1pPr>
              <a:defRPr>
                <a:solidFill>
                  <a:schemeClr val="bg1">
                    <a:lumMod val="50000"/>
                  </a:schemeClr>
                </a:solidFill>
                <a:latin typeface="+mn-lt"/>
                <a:sym typeface="Trebuchet MS" panose="020B0603020202020204" pitchFamily="34" charset="0"/>
              </a:defRPr>
            </a:lvl1pPr>
          </a:lstStyle>
          <a:p>
            <a:endParaRPr lang="en-US"/>
          </a:p>
        </p:txBody>
      </p:sp>
      <p:sp>
        <p:nvSpPr>
          <p:cNvPr id="21"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2022 by Boston Consulting Group. All rights reserved.</a:t>
            </a:r>
          </a:p>
        </p:txBody>
      </p:sp>
    </p:spTree>
    <p:extLst>
      <p:ext uri="{BB962C8B-B14F-4D97-AF65-F5344CB8AC3E}">
        <p14:creationId xmlns:p14="http://schemas.microsoft.com/office/powerpoint/2010/main" val="175447054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88.xml><?xml version="1.0" encoding="utf-8"?>
<p:sldLayout xmlns:a="http://schemas.openxmlformats.org/drawingml/2006/main" xmlns:r="http://schemas.openxmlformats.org/officeDocument/2006/relationships" xmlns:p="http://schemas.openxmlformats.org/presentationml/2006/main" showMasterSp="0" preserve="1" userDrawn="1">
  <p:cSld name="Green two third">
    <p:bg bwMode="grayWhite">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pic>
        <p:nvPicPr>
          <p:cNvPr id="9" name="Picture 8"/>
          <p:cNvPicPr>
            <a:picLocks noChangeAspect="1"/>
          </p:cNvPicPr>
          <p:nvPr userDrawn="1"/>
        </p:nvPicPr>
        <p:blipFill rotWithShape="1">
          <a:blip r:embed="rId2">
            <a:extLst>
              <a:ext uri="{28A0092B-C50C-407E-A947-70E740481C1C}">
                <a14:useLocalDpi xmlns:a14="http://schemas.microsoft.com/office/drawing/2010/main" val="0"/>
              </a:ext>
            </a:extLst>
          </a:blip>
          <a:srcRect l="29398" t="8741" r="101" b="27"/>
          <a:stretch/>
        </p:blipFill>
        <p:spPr bwMode="ltGray">
          <a:xfrm flipH="1">
            <a:off x="7409849" y="0"/>
            <a:ext cx="416951" cy="6858000"/>
          </a:xfrm>
          <a:prstGeom prst="rect">
            <a:avLst/>
          </a:prstGeom>
        </p:spPr>
      </p:pic>
      <p:sp>
        <p:nvSpPr>
          <p:cNvPr id="10" name="Rectangle 9"/>
          <p:cNvSpPr/>
          <p:nvPr userDrawn="1"/>
        </p:nvSpPr>
        <p:spPr bwMode="gray">
          <a:xfrm>
            <a:off x="7819543" y="0"/>
            <a:ext cx="4372457"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endParaRPr lang="en-US" sz="1200">
              <a:solidFill>
                <a:schemeClr val="bg1"/>
              </a:solidFill>
              <a:latin typeface="+mn-lt"/>
              <a:sym typeface="Trebuchet MS" panose="020B0603020202020204" pitchFamily="34" charset="0"/>
            </a:endParaRPr>
          </a:p>
        </p:txBody>
      </p:sp>
      <p:sp>
        <p:nvSpPr>
          <p:cNvPr id="11" name="Picture Placeholder 5"/>
          <p:cNvSpPr>
            <a:spLocks noGrp="1"/>
          </p:cNvSpPr>
          <p:nvPr>
            <p:ph type="pic" sz="quarter" idx="11" hasCustomPrompt="1"/>
          </p:nvPr>
        </p:nvSpPr>
        <p:spPr>
          <a:xfrm>
            <a:off x="7820025" y="0"/>
            <a:ext cx="4371975" cy="6858000"/>
          </a:xfrm>
          <a:prstGeom prst="rect">
            <a:avLst/>
          </a:prstGeom>
          <a:noFill/>
        </p:spPr>
        <p:txBody>
          <a:bodyPr lIns="182880" tIns="914400" rIns="182880" bIns="914400"/>
          <a:lstStyle>
            <a:lvl1pPr algn="ctr">
              <a:defRPr sz="1600">
                <a:solidFill>
                  <a:schemeClr val="tx1"/>
                </a:solidFill>
                <a:latin typeface="Trebuchet MS" panose="020B0603020202020204" pitchFamily="34" charset="0"/>
                <a:sym typeface="Trebuchet MS" panose="020B0603020202020204" pitchFamily="34" charset="0"/>
              </a:defRPr>
            </a:lvl1pPr>
          </a:lstStyle>
          <a:p>
            <a:r>
              <a:rPr lang="en-US"/>
              <a:t>Click icon below to insert an image or remove this placeholder to use the whitespace in another way</a:t>
            </a:r>
          </a:p>
        </p:txBody>
      </p:sp>
      <p:sp>
        <p:nvSpPr>
          <p:cNvPr id="12" name="Date Placeholder 2"/>
          <p:cNvSpPr>
            <a:spLocks noGrp="1"/>
          </p:cNvSpPr>
          <p:nvPr>
            <p:ph type="dt" sz="half" idx="12"/>
          </p:nvPr>
        </p:nvSpPr>
        <p:spPr>
          <a:xfrm>
            <a:off x="9677400" y="6405036"/>
            <a:ext cx="1482051" cy="153888"/>
          </a:xfrm>
          <a:prstGeom prst="rect">
            <a:avLst/>
          </a:prstGeom>
        </p:spPr>
        <p:txBody>
          <a:bodyPr/>
          <a:lstStyle>
            <a:lvl1pPr>
              <a:defRPr>
                <a:solidFill>
                  <a:schemeClr val="bg1">
                    <a:lumMod val="50000"/>
                  </a:schemeClr>
                </a:solidFill>
                <a:latin typeface="+mn-lt"/>
                <a:sym typeface="Trebuchet MS" panose="020B0603020202020204" pitchFamily="34" charset="0"/>
              </a:defRPr>
            </a:lvl1pPr>
          </a:lstStyle>
          <a:p>
            <a:endParaRPr lang="en-US"/>
          </a:p>
        </p:txBody>
      </p:sp>
      <p:sp>
        <p:nvSpPr>
          <p:cNvPr id="15" name="Copyright"/>
          <p:cNvSpPr txBox="1"/>
          <p:nvPr userDrawn="1"/>
        </p:nvSpPr>
        <p:spPr>
          <a:xfrm rot="16200000">
            <a:off x="9486900" y="3916394"/>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2022 by Boston Consulting Group. All rights reserved.</a:t>
            </a:r>
          </a:p>
        </p:txBody>
      </p:sp>
      <p:sp>
        <p:nvSpPr>
          <p:cNvPr id="14" name="Title 1"/>
          <p:cNvSpPr>
            <a:spLocks noGrp="1"/>
          </p:cNvSpPr>
          <p:nvPr>
            <p:ph type="title" hasCustomPrompt="1"/>
          </p:nvPr>
        </p:nvSpPr>
        <p:spPr bwMode="blackWhite">
          <a:xfrm>
            <a:off x="630000" y="1804650"/>
            <a:ext cx="6247552" cy="3286800"/>
          </a:xfrm>
          <a:prstGeom prst="rect">
            <a:avLst/>
          </a:prstGeom>
        </p:spPr>
        <p:txBody>
          <a:bodyPr anchor="ctr">
            <a:noAutofit/>
          </a:bodyPr>
          <a:lstStyle>
            <a:lvl1pPr>
              <a:defRPr sz="4400">
                <a:solidFill>
                  <a:schemeClr val="bg1"/>
                </a:solidFill>
                <a:latin typeface="+mj-lt"/>
                <a:sym typeface="Trebuchet MS" panose="020B0603020202020204" pitchFamily="34" charset="0"/>
              </a:defRPr>
            </a:lvl1pPr>
          </a:lstStyle>
          <a:p>
            <a:r>
              <a:rPr lang="en-US"/>
              <a:t>Click to edit title</a:t>
            </a:r>
          </a:p>
        </p:txBody>
      </p:sp>
      <p:sp>
        <p:nvSpPr>
          <p:cNvPr id="13" name="TextBox 12"/>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lumMod val="50000"/>
                  </a:schemeClr>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800" kern="1200">
              <a:solidFill>
                <a:schemeClr val="bg1">
                  <a:lumMod val="50000"/>
                </a:schemeClr>
              </a:solidFill>
              <a:latin typeface="+mn-lt"/>
              <a:ea typeface="+mn-ea"/>
              <a:cs typeface="+mn-cs"/>
              <a:sym typeface="Trebuchet MS" panose="020B0603020202020204" pitchFamily="34" charset="0"/>
            </a:endParaRPr>
          </a:p>
        </p:txBody>
      </p:sp>
    </p:spTree>
    <p:extLst>
      <p:ext uri="{BB962C8B-B14F-4D97-AF65-F5344CB8AC3E}">
        <p14:creationId xmlns:p14="http://schemas.microsoft.com/office/powerpoint/2010/main" val="98553152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89.xml><?xml version="1.0" encoding="utf-8"?>
<p:sldLayout xmlns:a="http://schemas.openxmlformats.org/drawingml/2006/main" xmlns:r="http://schemas.openxmlformats.org/officeDocument/2006/relationships" xmlns:p="http://schemas.openxmlformats.org/presentationml/2006/main" showMasterSp="0" preserve="1" userDrawn="1">
  <p:cSld name="Left arrow">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sp>
        <p:nvSpPr>
          <p:cNvPr id="16" name="Freeform 14"/>
          <p:cNvSpPr/>
          <p:nvPr userDrawn="1"/>
        </p:nvSpPr>
        <p:spPr bwMode="ltGray">
          <a:xfrm>
            <a:off x="1524" y="1310"/>
            <a:ext cx="4088312" cy="6858000"/>
          </a:xfrm>
          <a:custGeom>
            <a:avLst/>
            <a:gdLst>
              <a:gd name="connsiteX0" fmla="*/ 0 w 4088312"/>
              <a:gd name="connsiteY0" fmla="*/ 0 h 6858000"/>
              <a:gd name="connsiteX1" fmla="*/ 3264933 w 4088312"/>
              <a:gd name="connsiteY1" fmla="*/ 0 h 6858000"/>
              <a:gd name="connsiteX2" fmla="*/ 4088312 w 4088312"/>
              <a:gd name="connsiteY2" fmla="*/ 3429000 h 6858000"/>
              <a:gd name="connsiteX3" fmla="*/ 3264933 w 4088312"/>
              <a:gd name="connsiteY3" fmla="*/ 6858000 h 6858000"/>
              <a:gd name="connsiteX4" fmla="*/ 0 w 4088312"/>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8312" h="6858000">
                <a:moveTo>
                  <a:pt x="0" y="0"/>
                </a:moveTo>
                <a:lnTo>
                  <a:pt x="3264933" y="0"/>
                </a:lnTo>
                <a:lnTo>
                  <a:pt x="4088312" y="3429000"/>
                </a:lnTo>
                <a:lnTo>
                  <a:pt x="3264933" y="6858000"/>
                </a:lnTo>
                <a:lnTo>
                  <a:pt x="0" y="6858000"/>
                </a:lnTo>
                <a:close/>
              </a:path>
            </a:pathLst>
          </a:custGeom>
          <a:solidFill>
            <a:schemeClr val="bg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p>
            <a:pPr>
              <a:lnSpc>
                <a:spcPct val="90000"/>
              </a:lnSpc>
              <a:spcAft>
                <a:spcPts val="1000"/>
              </a:spcAft>
            </a:pPr>
            <a:endParaRPr lang="en-US" sz="1200">
              <a:solidFill>
                <a:prstClr val="white"/>
              </a:solidFill>
              <a:latin typeface="+mn-lt"/>
              <a:sym typeface="Trebuchet MS" panose="020B0603020202020204" pitchFamily="34" charset="0"/>
            </a:endParaRPr>
          </a:p>
        </p:txBody>
      </p:sp>
      <p:sp>
        <p:nvSpPr>
          <p:cNvPr id="5" name="Date Placeholder 4"/>
          <p:cNvSpPr>
            <a:spLocks noGrp="1"/>
          </p:cNvSpPr>
          <p:nvPr>
            <p:ph type="dt" sz="half" idx="10"/>
          </p:nvPr>
        </p:nvSpPr>
        <p:spPr>
          <a:xfrm>
            <a:off x="9677400" y="6405036"/>
            <a:ext cx="1482051" cy="153888"/>
          </a:xfrm>
          <a:prstGeom prst="rect">
            <a:avLst/>
          </a:prstGeom>
        </p:spPr>
        <p:txBody>
          <a:bodyPr/>
          <a:lstStyle>
            <a:lvl1pPr>
              <a:defRPr>
                <a:solidFill>
                  <a:schemeClr val="bg1"/>
                </a:solidFill>
                <a:latin typeface="+mn-lt"/>
                <a:sym typeface="Trebuchet MS" panose="020B0603020202020204" pitchFamily="34" charset="0"/>
              </a:defRPr>
            </a:lvl1pPr>
          </a:lstStyle>
          <a:p>
            <a:endParaRPr lang="en-US"/>
          </a:p>
        </p:txBody>
      </p:sp>
      <p:sp>
        <p:nvSpPr>
          <p:cNvPr id="19"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2022 by Boston Consulting Group. All rights reserved.</a:t>
            </a:r>
          </a:p>
        </p:txBody>
      </p:sp>
      <p:sp>
        <p:nvSpPr>
          <p:cNvPr id="12" name="TextBox 11"/>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
        <p:nvSpPr>
          <p:cNvPr id="17" name="Title 2"/>
          <p:cNvSpPr>
            <a:spLocks noGrp="1"/>
          </p:cNvSpPr>
          <p:nvPr>
            <p:ph type="title" hasCustomPrompt="1"/>
          </p:nvPr>
        </p:nvSpPr>
        <p:spPr>
          <a:xfrm>
            <a:off x="630000" y="2764203"/>
            <a:ext cx="2478638" cy="1314311"/>
          </a:xfrm>
          <a:prstGeom prst="rect">
            <a:avLst/>
          </a:prstGeom>
        </p:spPr>
        <p:txBody>
          <a:bodyPr anchor="ctr">
            <a:noAutofit/>
          </a:bodyPr>
          <a:lstStyle>
            <a:lvl1pPr>
              <a:defRPr sz="3200" baseline="0">
                <a:solidFill>
                  <a:schemeClr val="tx2"/>
                </a:solidFill>
                <a:latin typeface="+mj-lt"/>
                <a:sym typeface="Trebuchet MS" panose="020B0603020202020204" pitchFamily="34" charset="0"/>
              </a:defRPr>
            </a:lvl1pPr>
          </a:lstStyle>
          <a:p>
            <a:r>
              <a:rPr lang="en-US">
                <a:solidFill>
                  <a:schemeClr val="tx2"/>
                </a:solidFill>
              </a:rPr>
              <a:t>Click to add title</a:t>
            </a:r>
          </a:p>
        </p:txBody>
      </p:sp>
      <p:pic>
        <p:nvPicPr>
          <p:cNvPr id="9" name="Picture 8"/>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3132442" y="3590399"/>
            <a:ext cx="1365250" cy="3382962"/>
          </a:xfrm>
          <a:custGeom>
            <a:avLst/>
            <a:gdLst>
              <a:gd name="connsiteX0" fmla="*/ 919541 w 1365250"/>
              <a:gd name="connsiteY0" fmla="*/ 0 h 3382962"/>
              <a:gd name="connsiteX1" fmla="*/ 1365250 w 1365250"/>
              <a:gd name="connsiteY1" fmla="*/ 0 h 3382962"/>
              <a:gd name="connsiteX2" fmla="*/ 1365250 w 1365250"/>
              <a:gd name="connsiteY2" fmla="*/ 3382962 h 3382962"/>
              <a:gd name="connsiteX3" fmla="*/ 0 w 1365250"/>
              <a:gd name="connsiteY3" fmla="*/ 3382962 h 3382962"/>
              <a:gd name="connsiteX4" fmla="*/ 0 w 1365250"/>
              <a:gd name="connsiteY4" fmla="*/ 3264716 h 3382962"/>
              <a:gd name="connsiteX5" fmla="*/ 129871 w 1365250"/>
              <a:gd name="connsiteY5" fmla="*/ 3267601 h 3382962"/>
              <a:gd name="connsiteX6" fmla="*/ 0 w 1365250"/>
              <a:gd name="connsiteY6" fmla="*/ 0 h 3382962"/>
              <a:gd name="connsiteX7" fmla="*/ 909386 w 1365250"/>
              <a:gd name="connsiteY7" fmla="*/ 0 h 3382962"/>
              <a:gd name="connsiteX8" fmla="*/ 0 w 1365250"/>
              <a:gd name="connsiteY8" fmla="*/ 2985607 h 3382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65250" h="3382962">
                <a:moveTo>
                  <a:pt x="919541" y="0"/>
                </a:moveTo>
                <a:lnTo>
                  <a:pt x="1365250" y="0"/>
                </a:lnTo>
                <a:lnTo>
                  <a:pt x="1365250" y="3382962"/>
                </a:lnTo>
                <a:lnTo>
                  <a:pt x="0" y="3382962"/>
                </a:lnTo>
                <a:lnTo>
                  <a:pt x="0" y="3264716"/>
                </a:lnTo>
                <a:lnTo>
                  <a:pt x="129871" y="3267601"/>
                </a:lnTo>
                <a:close/>
                <a:moveTo>
                  <a:pt x="0" y="0"/>
                </a:moveTo>
                <a:lnTo>
                  <a:pt x="909386" y="0"/>
                </a:lnTo>
                <a:lnTo>
                  <a:pt x="0" y="2985607"/>
                </a:lnTo>
                <a:close/>
              </a:path>
            </a:pathLst>
          </a:cu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9382144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90.xml><?xml version="1.0" encoding="utf-8"?>
<p:sldLayout xmlns:a="http://schemas.openxmlformats.org/drawingml/2006/main" xmlns:r="http://schemas.openxmlformats.org/officeDocument/2006/relationships" xmlns:p="http://schemas.openxmlformats.org/presentationml/2006/main" showMasterSp="0" preserve="1" userDrawn="1">
  <p:cSld name="Green left arrow">
    <p:bg>
      <p:bgPr>
        <a:solidFill>
          <a:srgbClr val="F2F2F2"/>
        </a:solidFill>
        <a:effectLst/>
      </p:bgPr>
    </p:bg>
    <p:spTree>
      <p:nvGrpSpPr>
        <p:cNvPr id="1" name=""/>
        <p:cNvGrpSpPr/>
        <p:nvPr/>
      </p:nvGrpSpPr>
      <p:grpSpPr>
        <a:xfrm>
          <a:off x="0" y="0"/>
          <a:ext cx="0" cy="0"/>
          <a:chOff x="0" y="0"/>
          <a:chExt cx="0" cy="0"/>
        </a:xfrm>
      </p:grpSpPr>
      <p:sp>
        <p:nvSpPr>
          <p:cNvPr id="16" name="Freeform 14"/>
          <p:cNvSpPr/>
          <p:nvPr userDrawn="1"/>
        </p:nvSpPr>
        <p:spPr bwMode="ltGray">
          <a:xfrm>
            <a:off x="0" y="0"/>
            <a:ext cx="4088312" cy="6858000"/>
          </a:xfrm>
          <a:custGeom>
            <a:avLst/>
            <a:gdLst>
              <a:gd name="connsiteX0" fmla="*/ 0 w 4088312"/>
              <a:gd name="connsiteY0" fmla="*/ 0 h 6858000"/>
              <a:gd name="connsiteX1" fmla="*/ 3264933 w 4088312"/>
              <a:gd name="connsiteY1" fmla="*/ 0 h 6858000"/>
              <a:gd name="connsiteX2" fmla="*/ 4088312 w 4088312"/>
              <a:gd name="connsiteY2" fmla="*/ 3429000 h 6858000"/>
              <a:gd name="connsiteX3" fmla="*/ 3264933 w 4088312"/>
              <a:gd name="connsiteY3" fmla="*/ 6858000 h 6858000"/>
              <a:gd name="connsiteX4" fmla="*/ 0 w 4088312"/>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8312" h="6858000">
                <a:moveTo>
                  <a:pt x="0" y="0"/>
                </a:moveTo>
                <a:lnTo>
                  <a:pt x="3264933" y="0"/>
                </a:lnTo>
                <a:lnTo>
                  <a:pt x="4088312" y="3429000"/>
                </a:lnTo>
                <a:lnTo>
                  <a:pt x="3264933" y="6858000"/>
                </a:lnTo>
                <a:lnTo>
                  <a:pt x="0" y="6858000"/>
                </a:lnTo>
                <a:close/>
              </a:path>
            </a:pathLst>
          </a:custGeom>
          <a:gradFill>
            <a:gsLst>
              <a:gs pos="0">
                <a:schemeClr val="tx2"/>
              </a:gs>
              <a:gs pos="100000">
                <a:schemeClr val="accent2"/>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p>
            <a:pPr>
              <a:lnSpc>
                <a:spcPct val="90000"/>
              </a:lnSpc>
              <a:spcAft>
                <a:spcPts val="1000"/>
              </a:spcAft>
            </a:pPr>
            <a:endParaRPr lang="en-US" sz="1200">
              <a:solidFill>
                <a:prstClr val="white"/>
              </a:solidFill>
              <a:latin typeface="+mn-lt"/>
              <a:sym typeface="Trebuchet MS" panose="020B0603020202020204" pitchFamily="34" charset="0"/>
            </a:endParaRPr>
          </a:p>
        </p:txBody>
      </p:sp>
      <p:sp>
        <p:nvSpPr>
          <p:cNvPr id="3" name="Title 2"/>
          <p:cNvSpPr>
            <a:spLocks noGrp="1"/>
          </p:cNvSpPr>
          <p:nvPr>
            <p:ph type="title" hasCustomPrompt="1"/>
          </p:nvPr>
        </p:nvSpPr>
        <p:spPr>
          <a:xfrm>
            <a:off x="630000" y="2764203"/>
            <a:ext cx="2478638" cy="1314311"/>
          </a:xfrm>
        </p:spPr>
        <p:txBody>
          <a:bodyPr anchor="ctr" anchorCtr="0">
            <a:noAutofit/>
          </a:bodyPr>
          <a:lstStyle>
            <a:lvl1pPr>
              <a:defRPr sz="3200" baseline="0">
                <a:solidFill>
                  <a:srgbClr val="FFFFFF"/>
                </a:solidFill>
                <a:latin typeface="+mj-lt"/>
              </a:defRPr>
            </a:lvl1pPr>
          </a:lstStyle>
          <a:p>
            <a:r>
              <a:rPr lang="en-US"/>
              <a:t>Click to add title</a:t>
            </a:r>
          </a:p>
        </p:txBody>
      </p:sp>
      <p:sp>
        <p:nvSpPr>
          <p:cNvPr id="13" name="Date Placeholder 3"/>
          <p:cNvSpPr>
            <a:spLocks noGrp="1"/>
          </p:cNvSpPr>
          <p:nvPr>
            <p:ph type="dt" sz="half" idx="2"/>
          </p:nvPr>
        </p:nvSpPr>
        <p:spPr>
          <a:xfrm>
            <a:off x="9677400" y="6405036"/>
            <a:ext cx="1482051" cy="153888"/>
          </a:xfrm>
          <a:prstGeom prst="rect">
            <a:avLst/>
          </a:prstGeom>
        </p:spPr>
        <p:txBody>
          <a:bodyPr vert="horz" wrap="square" lIns="0" tIns="0" rIns="0" bIns="0" rtlCol="0" anchor="b">
            <a:spAutoFit/>
          </a:bodyPr>
          <a:lstStyle>
            <a:lvl1pPr algn="r">
              <a:defRPr sz="1000">
                <a:solidFill>
                  <a:schemeClr val="bg1">
                    <a:lumMod val="50000"/>
                  </a:schemeClr>
                </a:solidFill>
                <a:latin typeface="+mn-lt"/>
                <a:sym typeface="Trebuchet MS" panose="020B0603020202020204" pitchFamily="34" charset="0"/>
              </a:defRPr>
            </a:lvl1pPr>
          </a:lstStyle>
          <a:p>
            <a:endParaRPr lang="en-US"/>
          </a:p>
        </p:txBody>
      </p:sp>
      <p:sp>
        <p:nvSpPr>
          <p:cNvPr id="14" name="TextBox 13"/>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lumMod val="50000"/>
                  </a:schemeClr>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lumMod val="50000"/>
                </a:schemeClr>
              </a:solidFill>
              <a:latin typeface="+mn-lt"/>
              <a:ea typeface="+mn-ea"/>
              <a:cs typeface="+mn-cs"/>
              <a:sym typeface="Trebuchet MS" panose="020B0603020202020204" pitchFamily="34" charset="0"/>
            </a:endParaRPr>
          </a:p>
        </p:txBody>
      </p:sp>
      <p:sp>
        <p:nvSpPr>
          <p:cNvPr id="15"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2022 by Boston Consulting Group. All rights reserved.</a:t>
            </a:r>
          </a:p>
        </p:txBody>
      </p:sp>
      <p:pic>
        <p:nvPicPr>
          <p:cNvPr id="9" name="Picture 8"/>
          <p:cNvPicPr>
            <a:picLocks noChangeAspect="1"/>
          </p:cNvPicPr>
          <p:nvPr userDrawn="1"/>
        </p:nvPicPr>
        <p:blipFill rotWithShape="1">
          <a:blip r:embed="rId2">
            <a:extLst>
              <a:ext uri="{28A0092B-C50C-407E-A947-70E740481C1C}">
                <a14:useLocalDpi xmlns:a14="http://schemas.microsoft.com/office/drawing/2010/main" val="0"/>
              </a:ext>
            </a:extLst>
          </a:blip>
          <a:srcRect t="6216" b="7716"/>
          <a:stretch/>
        </p:blipFill>
        <p:spPr>
          <a:xfrm rot="120000">
            <a:off x="2174642" y="3402828"/>
            <a:ext cx="2694666" cy="3461745"/>
          </a:xfrm>
          <a:custGeom>
            <a:avLst/>
            <a:gdLst>
              <a:gd name="connsiteX0" fmla="*/ 0 w 2694666"/>
              <a:gd name="connsiteY0" fmla="*/ 0 h 3461745"/>
              <a:gd name="connsiteX1" fmla="*/ 2694666 w 2694666"/>
              <a:gd name="connsiteY1" fmla="*/ 0 h 3461745"/>
              <a:gd name="connsiteX2" fmla="*/ 2694666 w 2694666"/>
              <a:gd name="connsiteY2" fmla="*/ 3461745 h 3461745"/>
              <a:gd name="connsiteX3" fmla="*/ 1325678 w 2694666"/>
              <a:gd name="connsiteY3" fmla="*/ 3461745 h 3461745"/>
              <a:gd name="connsiteX4" fmla="*/ 1671729 w 2694666"/>
              <a:gd name="connsiteY4" fmla="*/ 3449661 h 3461745"/>
              <a:gd name="connsiteX5" fmla="*/ 1894583 w 2694666"/>
              <a:gd name="connsiteY5" fmla="*/ 6023 h 3461745"/>
              <a:gd name="connsiteX6" fmla="*/ 1847153 w 2694666"/>
              <a:gd name="connsiteY6" fmla="*/ 12445 h 3461745"/>
              <a:gd name="connsiteX7" fmla="*/ 1149427 w 2694666"/>
              <a:gd name="connsiteY7" fmla="*/ 3461745 h 3461745"/>
              <a:gd name="connsiteX8" fmla="*/ 0 w 2694666"/>
              <a:gd name="connsiteY8" fmla="*/ 3461745 h 3461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94666" h="3461745">
                <a:moveTo>
                  <a:pt x="0" y="0"/>
                </a:moveTo>
                <a:lnTo>
                  <a:pt x="2694666" y="0"/>
                </a:lnTo>
                <a:lnTo>
                  <a:pt x="2694666" y="3461745"/>
                </a:lnTo>
                <a:lnTo>
                  <a:pt x="1325678" y="3461745"/>
                </a:lnTo>
                <a:lnTo>
                  <a:pt x="1671729" y="3449661"/>
                </a:lnTo>
                <a:lnTo>
                  <a:pt x="1894583" y="6023"/>
                </a:lnTo>
                <a:lnTo>
                  <a:pt x="1847153" y="12445"/>
                </a:lnTo>
                <a:lnTo>
                  <a:pt x="1149427" y="3461745"/>
                </a:lnTo>
                <a:lnTo>
                  <a:pt x="0" y="3461745"/>
                </a:lnTo>
                <a:close/>
              </a:path>
            </a:pathLst>
          </a:custGeom>
        </p:spPr>
      </p:pic>
    </p:spTree>
    <p:extLst>
      <p:ext uri="{BB962C8B-B14F-4D97-AF65-F5344CB8AC3E}">
        <p14:creationId xmlns:p14="http://schemas.microsoft.com/office/powerpoint/2010/main" val="377302564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91.xml><?xml version="1.0" encoding="utf-8"?>
<p:sldLayout xmlns:a="http://schemas.openxmlformats.org/drawingml/2006/main" xmlns:r="http://schemas.openxmlformats.org/officeDocument/2006/relationships" xmlns:p="http://schemas.openxmlformats.org/presentationml/2006/main" showMasterSp="0" preserve="1" userDrawn="1">
  <p:cSld name="Arrow one third">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userDrawn="1">
            <p:custDataLst>
              <p:tags r:id="rId1"/>
            </p:custDataLst>
            <p:extLst>
              <p:ext uri="{D42A27DB-BD31-4B8C-83A1-F6EECF244321}">
                <p14:modId xmlns:p14="http://schemas.microsoft.com/office/powerpoint/2010/main" val="3325268785"/>
              </p:ext>
            </p:ext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3" imgW="324" imgH="324" progId="TCLayout.ActiveDocument.1">
                  <p:embed/>
                </p:oleObj>
              </mc:Choice>
              <mc:Fallback>
                <p:oleObj name="think-cell Slide" r:id="rId3" imgW="324" imgH="324" progId="TCLayout.ActiveDocument.1">
                  <p:embed/>
                  <p:pic>
                    <p:nvPicPr>
                      <p:cNvPr id="3" name="Object 2" hidden="1"/>
                      <p:cNvPicPr/>
                      <p:nvPr/>
                    </p:nvPicPr>
                    <p:blipFill>
                      <a:blip r:embed="rId4"/>
                      <a:stretch>
                        <a:fillRect/>
                      </a:stretch>
                    </p:blipFill>
                    <p:spPr>
                      <a:xfrm>
                        <a:off x="1588" y="1588"/>
                        <a:ext cx="1587" cy="1587"/>
                      </a:xfrm>
                      <a:prstGeom prst="rect">
                        <a:avLst/>
                      </a:prstGeom>
                    </p:spPr>
                  </p:pic>
                </p:oleObj>
              </mc:Fallback>
            </mc:AlternateContent>
          </a:graphicData>
        </a:graphic>
      </p:graphicFrame>
      <p:sp>
        <p:nvSpPr>
          <p:cNvPr id="5" name="TextBox 4"/>
          <p:cNvSpPr txBox="1"/>
          <p:nvPr/>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800" kern="1200">
              <a:solidFill>
                <a:schemeClr val="bg1"/>
              </a:solidFill>
              <a:latin typeface="+mn-lt"/>
              <a:ea typeface="+mn-ea"/>
              <a:cs typeface="+mn-cs"/>
              <a:sym typeface="Trebuchet MS" panose="020B0603020202020204" pitchFamily="34" charset="0"/>
            </a:endParaRPr>
          </a:p>
        </p:txBody>
      </p:sp>
      <p:sp>
        <p:nvSpPr>
          <p:cNvPr id="8" name="Date Placeholder 7"/>
          <p:cNvSpPr>
            <a:spLocks noGrp="1"/>
          </p:cNvSpPr>
          <p:nvPr>
            <p:ph type="dt" sz="half" idx="11"/>
          </p:nvPr>
        </p:nvSpPr>
        <p:spPr>
          <a:xfrm>
            <a:off x="9677400" y="6405036"/>
            <a:ext cx="1482051" cy="153888"/>
          </a:xfrm>
          <a:prstGeom prst="rect">
            <a:avLst/>
          </a:prstGeom>
        </p:spPr>
        <p:txBody>
          <a:bodyPr/>
          <a:lstStyle>
            <a:lvl1pPr>
              <a:defRPr>
                <a:solidFill>
                  <a:schemeClr val="bg1"/>
                </a:solidFill>
                <a:latin typeface="+mn-lt"/>
                <a:sym typeface="Trebuchet MS" panose="020B0603020202020204" pitchFamily="34" charset="0"/>
              </a:defRPr>
            </a:lvl1pPr>
          </a:lstStyle>
          <a:p>
            <a:endParaRPr lang="en-US"/>
          </a:p>
        </p:txBody>
      </p:sp>
      <p:sp>
        <p:nvSpPr>
          <p:cNvPr id="12"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2022 by Boston Consulting Group. All rights reserved.</a:t>
            </a:r>
          </a:p>
        </p:txBody>
      </p:sp>
      <p:sp>
        <p:nvSpPr>
          <p:cNvPr id="13" name="Pentagon 3"/>
          <p:cNvSpPr/>
          <p:nvPr userDrawn="1"/>
        </p:nvSpPr>
        <p:spPr bwMode="white">
          <a:xfrm>
            <a:off x="1" y="0"/>
            <a:ext cx="5426920" cy="6858000"/>
          </a:xfrm>
          <a:prstGeom prst="homePlate">
            <a:avLst>
              <a:gd name="adj" fmla="val 12939"/>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90000"/>
              </a:lnSpc>
              <a:spcAft>
                <a:spcPts val="1000"/>
              </a:spcAft>
            </a:pPr>
            <a:endParaRPr lang="en-US" sz="1200">
              <a:solidFill>
                <a:prstClr val="white"/>
              </a:solidFill>
              <a:latin typeface="+mn-lt"/>
              <a:sym typeface="Trebuchet MS" panose="020B0603020202020204" pitchFamily="34" charset="0"/>
            </a:endParaRPr>
          </a:p>
        </p:txBody>
      </p:sp>
      <p:sp>
        <p:nvSpPr>
          <p:cNvPr id="14" name="Title 1"/>
          <p:cNvSpPr>
            <a:spLocks noGrp="1"/>
          </p:cNvSpPr>
          <p:nvPr>
            <p:ph type="title" hasCustomPrompt="1"/>
          </p:nvPr>
        </p:nvSpPr>
        <p:spPr>
          <a:xfrm>
            <a:off x="630000" y="1785600"/>
            <a:ext cx="4062235" cy="3286800"/>
          </a:xfrm>
          <a:prstGeom prst="rect">
            <a:avLst/>
          </a:prstGeom>
        </p:spPr>
        <p:txBody>
          <a:bodyPr anchor="ctr">
            <a:noAutofit/>
          </a:bodyPr>
          <a:lstStyle>
            <a:lvl1pPr>
              <a:defRPr sz="4400" b="0">
                <a:solidFill>
                  <a:schemeClr val="tx2"/>
                </a:solidFill>
                <a:latin typeface="+mj-lt"/>
                <a:sym typeface="Trebuchet MS" panose="020B0603020202020204" pitchFamily="34" charset="0"/>
              </a:defRPr>
            </a:lvl1pPr>
          </a:lstStyle>
          <a:p>
            <a:r>
              <a:rPr lang="en-US"/>
              <a:t>Click to add title</a:t>
            </a:r>
          </a:p>
        </p:txBody>
      </p:sp>
      <p:pic>
        <p:nvPicPr>
          <p:cNvPr id="15" name="Picture 14"/>
          <p:cNvPicPr>
            <a:picLocks noChangeAspect="1" noChangeArrowheads="1"/>
          </p:cNvPicPr>
          <p:nvPr userDrawn="1"/>
        </p:nvPicPr>
        <p:blipFill>
          <a:blip r:embed="rId5">
            <a:extLst>
              <a:ext uri="{28A0092B-C50C-407E-A947-70E740481C1C}">
                <a14:useLocalDpi xmlns:a14="http://schemas.microsoft.com/office/drawing/2010/main" val="0"/>
              </a:ext>
            </a:extLst>
          </a:blip>
          <a:srcRect/>
          <a:stretch>
            <a:fillRect/>
          </a:stretch>
        </p:blipFill>
        <p:spPr bwMode="auto">
          <a:xfrm>
            <a:off x="4581525" y="3394392"/>
            <a:ext cx="1298575" cy="3571875"/>
          </a:xfrm>
          <a:custGeom>
            <a:avLst/>
            <a:gdLst>
              <a:gd name="connsiteX0" fmla="*/ 0 w 1298575"/>
              <a:gd name="connsiteY0" fmla="*/ 0 h 3571875"/>
              <a:gd name="connsiteX1" fmla="*/ 1298575 w 1298575"/>
              <a:gd name="connsiteY1" fmla="*/ 0 h 3571875"/>
              <a:gd name="connsiteX2" fmla="*/ 1298575 w 1298575"/>
              <a:gd name="connsiteY2" fmla="*/ 3571875 h 3571875"/>
              <a:gd name="connsiteX3" fmla="*/ 0 w 1298575"/>
              <a:gd name="connsiteY3" fmla="*/ 3571875 h 3571875"/>
              <a:gd name="connsiteX4" fmla="*/ 0 w 1298575"/>
              <a:gd name="connsiteY4" fmla="*/ 3465683 h 3571875"/>
              <a:gd name="connsiteX5" fmla="*/ 139700 w 1298575"/>
              <a:gd name="connsiteY5" fmla="*/ 3466783 h 3571875"/>
              <a:gd name="connsiteX6" fmla="*/ 841375 w 1298575"/>
              <a:gd name="connsiteY6" fmla="*/ 21908 h 3571875"/>
              <a:gd name="connsiteX7" fmla="*/ 0 w 1298575"/>
              <a:gd name="connsiteY7" fmla="*/ 2642743 h 3571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8575" h="3571875">
                <a:moveTo>
                  <a:pt x="0" y="0"/>
                </a:moveTo>
                <a:lnTo>
                  <a:pt x="1298575" y="0"/>
                </a:lnTo>
                <a:lnTo>
                  <a:pt x="1298575" y="3571875"/>
                </a:lnTo>
                <a:lnTo>
                  <a:pt x="0" y="3571875"/>
                </a:lnTo>
                <a:lnTo>
                  <a:pt x="0" y="3465683"/>
                </a:lnTo>
                <a:lnTo>
                  <a:pt x="139700" y="3466783"/>
                </a:lnTo>
                <a:lnTo>
                  <a:pt x="841375" y="21908"/>
                </a:lnTo>
                <a:lnTo>
                  <a:pt x="0" y="2642743"/>
                </a:lnTo>
                <a:close/>
              </a:path>
            </a:pathLst>
          </a:cu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3372925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92.xml><?xml version="1.0" encoding="utf-8"?>
<p:sldLayout xmlns:a="http://schemas.openxmlformats.org/drawingml/2006/main" xmlns:r="http://schemas.openxmlformats.org/officeDocument/2006/relationships" xmlns:p="http://schemas.openxmlformats.org/presentationml/2006/main" showMasterSp="0" preserve="1" userDrawn="1">
  <p:cSld name="Green arrow one third">
    <p:bg>
      <p:bgPr>
        <a:solidFill>
          <a:srgbClr val="F2F2F2"/>
        </a:solidFill>
        <a:effectLst/>
      </p:bgPr>
    </p:bg>
    <p:spTree>
      <p:nvGrpSpPr>
        <p:cNvPr id="1" name=""/>
        <p:cNvGrpSpPr/>
        <p:nvPr/>
      </p:nvGrpSpPr>
      <p:grpSpPr>
        <a:xfrm>
          <a:off x="0" y="0"/>
          <a:ext cx="0" cy="0"/>
          <a:chOff x="0" y="0"/>
          <a:chExt cx="0" cy="0"/>
        </a:xfrm>
      </p:grpSpPr>
      <p:sp>
        <p:nvSpPr>
          <p:cNvPr id="13" name="Pentagon 3"/>
          <p:cNvSpPr/>
          <p:nvPr userDrawn="1"/>
        </p:nvSpPr>
        <p:spPr bwMode="white">
          <a:xfrm>
            <a:off x="1" y="0"/>
            <a:ext cx="5426920" cy="6858000"/>
          </a:xfrm>
          <a:prstGeom prst="homePlate">
            <a:avLst>
              <a:gd name="adj" fmla="val 12939"/>
            </a:avLst>
          </a:prstGeom>
          <a:gradFill>
            <a:gsLst>
              <a:gs pos="0">
                <a:schemeClr val="tx2"/>
              </a:gs>
              <a:gs pos="100000">
                <a:schemeClr val="accent2"/>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90000"/>
              </a:lnSpc>
              <a:spcAft>
                <a:spcPts val="1000"/>
              </a:spcAft>
            </a:pPr>
            <a:endParaRPr lang="en-US" sz="1200">
              <a:solidFill>
                <a:prstClr val="white"/>
              </a:solidFill>
              <a:latin typeface="+mn-lt"/>
              <a:sym typeface="Trebuchet MS" panose="020B0603020202020204" pitchFamily="34" charset="0"/>
            </a:endParaRPr>
          </a:p>
        </p:txBody>
      </p:sp>
      <p:sp>
        <p:nvSpPr>
          <p:cNvPr id="14" name="Title 1"/>
          <p:cNvSpPr>
            <a:spLocks noGrp="1"/>
          </p:cNvSpPr>
          <p:nvPr>
            <p:ph type="title" hasCustomPrompt="1"/>
          </p:nvPr>
        </p:nvSpPr>
        <p:spPr>
          <a:xfrm>
            <a:off x="630000" y="1785600"/>
            <a:ext cx="4062235" cy="3286800"/>
          </a:xfrm>
          <a:prstGeom prst="rect">
            <a:avLst/>
          </a:prstGeom>
        </p:spPr>
        <p:txBody>
          <a:bodyPr anchor="ctr">
            <a:noAutofit/>
          </a:bodyPr>
          <a:lstStyle>
            <a:lvl1pPr>
              <a:defRPr sz="4400" b="0">
                <a:solidFill>
                  <a:srgbClr val="FFFFFF"/>
                </a:solidFill>
                <a:latin typeface="+mj-lt"/>
                <a:sym typeface="Trebuchet MS" panose="020B0603020202020204" pitchFamily="34" charset="0"/>
              </a:defRPr>
            </a:lvl1pPr>
          </a:lstStyle>
          <a:p>
            <a:r>
              <a:rPr lang="en-US"/>
              <a:t>Click to add title</a:t>
            </a:r>
          </a:p>
        </p:txBody>
      </p:sp>
      <p:sp>
        <p:nvSpPr>
          <p:cNvPr id="11" name="Date Placeholder 3"/>
          <p:cNvSpPr>
            <a:spLocks noGrp="1"/>
          </p:cNvSpPr>
          <p:nvPr>
            <p:ph type="dt" sz="half" idx="2"/>
          </p:nvPr>
        </p:nvSpPr>
        <p:spPr>
          <a:xfrm>
            <a:off x="9677400" y="6405036"/>
            <a:ext cx="1482051" cy="153888"/>
          </a:xfrm>
          <a:prstGeom prst="rect">
            <a:avLst/>
          </a:prstGeom>
        </p:spPr>
        <p:txBody>
          <a:bodyPr vert="horz" wrap="square" lIns="0" tIns="0" rIns="0" bIns="0" rtlCol="0" anchor="b">
            <a:spAutoFit/>
          </a:bodyPr>
          <a:lstStyle>
            <a:lvl1pPr algn="r">
              <a:defRPr sz="1000">
                <a:solidFill>
                  <a:schemeClr val="bg1">
                    <a:lumMod val="50000"/>
                  </a:schemeClr>
                </a:solidFill>
                <a:latin typeface="+mn-lt"/>
                <a:sym typeface="Trebuchet MS" panose="020B0603020202020204" pitchFamily="34" charset="0"/>
              </a:defRPr>
            </a:lvl1pPr>
          </a:lstStyle>
          <a:p>
            <a:endParaRPr lang="en-US"/>
          </a:p>
        </p:txBody>
      </p:sp>
      <p:sp>
        <p:nvSpPr>
          <p:cNvPr id="16" name="TextBox 15"/>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lumMod val="50000"/>
                  </a:schemeClr>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lumMod val="50000"/>
                </a:schemeClr>
              </a:solidFill>
              <a:latin typeface="+mn-lt"/>
              <a:ea typeface="+mn-ea"/>
              <a:cs typeface="+mn-cs"/>
              <a:sym typeface="Trebuchet MS" panose="020B0603020202020204" pitchFamily="34" charset="0"/>
            </a:endParaRPr>
          </a:p>
        </p:txBody>
      </p:sp>
      <p:sp>
        <p:nvSpPr>
          <p:cNvPr id="17"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2022 by Boston Consulting Group. All rights reserved.</a:t>
            </a:r>
          </a:p>
        </p:txBody>
      </p:sp>
      <p:pic>
        <p:nvPicPr>
          <p:cNvPr id="9" name="Picture 8"/>
          <p:cNvPicPr>
            <a:picLocks noChangeAspect="1"/>
          </p:cNvPicPr>
          <p:nvPr userDrawn="1"/>
        </p:nvPicPr>
        <p:blipFill rotWithShape="1">
          <a:blip r:embed="rId2">
            <a:extLst>
              <a:ext uri="{28A0092B-C50C-407E-A947-70E740481C1C}">
                <a14:useLocalDpi xmlns:a14="http://schemas.microsoft.com/office/drawing/2010/main" val="0"/>
              </a:ext>
            </a:extLst>
          </a:blip>
          <a:srcRect t="7562" b="6867"/>
          <a:stretch/>
        </p:blipFill>
        <p:spPr>
          <a:xfrm>
            <a:off x="3578059" y="3416300"/>
            <a:ext cx="2694666" cy="3441700"/>
          </a:xfrm>
          <a:custGeom>
            <a:avLst/>
            <a:gdLst>
              <a:gd name="connsiteX0" fmla="*/ 2040063 w 2694666"/>
              <a:gd name="connsiteY0" fmla="*/ 0 h 3441700"/>
              <a:gd name="connsiteX1" fmla="*/ 2694666 w 2694666"/>
              <a:gd name="connsiteY1" fmla="*/ 0 h 3441700"/>
              <a:gd name="connsiteX2" fmla="*/ 2694666 w 2694666"/>
              <a:gd name="connsiteY2" fmla="*/ 3441700 h 3441700"/>
              <a:gd name="connsiteX3" fmla="*/ 1510783 w 2694666"/>
              <a:gd name="connsiteY3" fmla="*/ 3441700 h 3441700"/>
              <a:gd name="connsiteX4" fmla="*/ 1816742 w 2694666"/>
              <a:gd name="connsiteY4" fmla="*/ 365420 h 3441700"/>
              <a:gd name="connsiteX5" fmla="*/ 2022641 w 2694666"/>
              <a:gd name="connsiteY5" fmla="*/ 379413 h 3441700"/>
              <a:gd name="connsiteX6" fmla="*/ 0 w 2694666"/>
              <a:gd name="connsiteY6" fmla="*/ 0 h 3441700"/>
              <a:gd name="connsiteX7" fmla="*/ 1846270 w 2694666"/>
              <a:gd name="connsiteY7" fmla="*/ 0 h 3441700"/>
              <a:gd name="connsiteX8" fmla="*/ 1848810 w 2694666"/>
              <a:gd name="connsiteY8" fmla="*/ 12700 h 3441700"/>
              <a:gd name="connsiteX9" fmla="*/ 1777372 w 2694666"/>
              <a:gd name="connsiteY9" fmla="*/ 362744 h 3441700"/>
              <a:gd name="connsiteX10" fmla="*/ 1780172 w 2694666"/>
              <a:gd name="connsiteY10" fmla="*/ 362934 h 3441700"/>
              <a:gd name="connsiteX11" fmla="*/ 1144340 w 2694666"/>
              <a:gd name="connsiteY11" fmla="*/ 3441700 h 3441700"/>
              <a:gd name="connsiteX12" fmla="*/ 0 w 2694666"/>
              <a:gd name="connsiteY12" fmla="*/ 3441700 h 344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94666" h="3441700">
                <a:moveTo>
                  <a:pt x="2040063" y="0"/>
                </a:moveTo>
                <a:lnTo>
                  <a:pt x="2694666" y="0"/>
                </a:lnTo>
                <a:lnTo>
                  <a:pt x="2694666" y="3441700"/>
                </a:lnTo>
                <a:lnTo>
                  <a:pt x="1510783" y="3441700"/>
                </a:lnTo>
                <a:lnTo>
                  <a:pt x="1816742" y="365420"/>
                </a:lnTo>
                <a:lnTo>
                  <a:pt x="2022641" y="379413"/>
                </a:lnTo>
                <a:close/>
                <a:moveTo>
                  <a:pt x="0" y="0"/>
                </a:moveTo>
                <a:lnTo>
                  <a:pt x="1846270" y="0"/>
                </a:lnTo>
                <a:lnTo>
                  <a:pt x="1848810" y="12700"/>
                </a:lnTo>
                <a:lnTo>
                  <a:pt x="1777372" y="362744"/>
                </a:lnTo>
                <a:lnTo>
                  <a:pt x="1780172" y="362934"/>
                </a:lnTo>
                <a:lnTo>
                  <a:pt x="1144340" y="3441700"/>
                </a:lnTo>
                <a:lnTo>
                  <a:pt x="0" y="3441700"/>
                </a:lnTo>
                <a:close/>
              </a:path>
            </a:pathLst>
          </a:custGeom>
        </p:spPr>
      </p:pic>
    </p:spTree>
    <p:extLst>
      <p:ext uri="{BB962C8B-B14F-4D97-AF65-F5344CB8AC3E}">
        <p14:creationId xmlns:p14="http://schemas.microsoft.com/office/powerpoint/2010/main" val="394749725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93.xml><?xml version="1.0" encoding="utf-8"?>
<p:sldLayout xmlns:a="http://schemas.openxmlformats.org/drawingml/2006/main" xmlns:r="http://schemas.openxmlformats.org/officeDocument/2006/relationships" xmlns:p="http://schemas.openxmlformats.org/presentationml/2006/main" showMasterSp="0" preserve="1" userDrawn="1">
  <p:cSld name="Arrow half">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sp>
        <p:nvSpPr>
          <p:cNvPr id="8" name="Date Placeholder 7"/>
          <p:cNvSpPr>
            <a:spLocks noGrp="1"/>
          </p:cNvSpPr>
          <p:nvPr>
            <p:ph type="dt" sz="half" idx="16"/>
          </p:nvPr>
        </p:nvSpPr>
        <p:spPr>
          <a:xfrm>
            <a:off x="9677400" y="6405036"/>
            <a:ext cx="1482051" cy="153888"/>
          </a:xfrm>
          <a:prstGeom prst="rect">
            <a:avLst/>
          </a:prstGeom>
        </p:spPr>
        <p:txBody>
          <a:bodyPr/>
          <a:lstStyle>
            <a:lvl1pPr>
              <a:defRPr>
                <a:solidFill>
                  <a:schemeClr val="bg1"/>
                </a:solidFill>
                <a:latin typeface="+mn-lt"/>
                <a:sym typeface="Trebuchet MS" panose="020B0603020202020204" pitchFamily="34" charset="0"/>
              </a:defRPr>
            </a:lvl1pPr>
          </a:lstStyle>
          <a:p>
            <a:endParaRPr lang="en-US"/>
          </a:p>
        </p:txBody>
      </p:sp>
      <p:sp>
        <p:nvSpPr>
          <p:cNvPr id="18"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2022 by Boston Consulting Group. All rights reserved.</a:t>
            </a:r>
          </a:p>
        </p:txBody>
      </p:sp>
      <p:sp>
        <p:nvSpPr>
          <p:cNvPr id="15" name="TextBox 14"/>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
        <p:nvSpPr>
          <p:cNvPr id="14" name="Pentagon 8"/>
          <p:cNvSpPr/>
          <p:nvPr userDrawn="1"/>
        </p:nvSpPr>
        <p:spPr bwMode="white">
          <a:xfrm>
            <a:off x="0" y="0"/>
            <a:ext cx="6363546" cy="6858000"/>
          </a:xfrm>
          <a:prstGeom prst="homePlate">
            <a:avLst>
              <a:gd name="adj" fmla="val 12939"/>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90000"/>
              </a:lnSpc>
              <a:spcAft>
                <a:spcPts val="1000"/>
              </a:spcAft>
            </a:pPr>
            <a:endParaRPr lang="en-US" sz="1200">
              <a:solidFill>
                <a:prstClr val="white"/>
              </a:solidFill>
              <a:latin typeface="+mn-lt"/>
              <a:sym typeface="Trebuchet MS" panose="020B0603020202020204" pitchFamily="34" charset="0"/>
            </a:endParaRPr>
          </a:p>
        </p:txBody>
      </p:sp>
      <p:sp>
        <p:nvSpPr>
          <p:cNvPr id="16" name="Title 2"/>
          <p:cNvSpPr>
            <a:spLocks noGrp="1"/>
          </p:cNvSpPr>
          <p:nvPr>
            <p:ph type="title" hasCustomPrompt="1"/>
          </p:nvPr>
        </p:nvSpPr>
        <p:spPr>
          <a:xfrm>
            <a:off x="630000" y="622800"/>
            <a:ext cx="4673646" cy="470898"/>
          </a:xfrm>
          <a:prstGeom prst="rect">
            <a:avLst/>
          </a:prstGeom>
        </p:spPr>
        <p:txBody>
          <a:bodyPr vert="horz" wrap="square" lIns="0" tIns="0" rIns="0" bIns="0" anchor="t" anchorCtr="0">
            <a:spAutoFit/>
          </a:bodyPr>
          <a:lstStyle>
            <a:lvl1pPr marL="0" indent="0" algn="l">
              <a:lnSpc>
                <a:spcPct val="90000"/>
              </a:lnSpc>
              <a:spcBef>
                <a:spcPct val="0"/>
              </a:spcBef>
              <a:spcAft>
                <a:spcPts val="0"/>
              </a:spcAft>
              <a:defRPr sz="3400" b="0" i="0" u="none" kern="1200" spc="0">
                <a:solidFill>
                  <a:schemeClr val="tx2">
                    <a:lumMod val="100000"/>
                  </a:schemeClr>
                </a:solidFill>
                <a:latin typeface="+mj-lt"/>
                <a:sym typeface="Trebuchet MS" panose="020B0603020202020204" pitchFamily="34" charset="0"/>
              </a:defRPr>
            </a:lvl1pPr>
          </a:lstStyle>
          <a:p>
            <a:pPr lvl="0"/>
            <a:r>
              <a:rPr lang="en-US"/>
              <a:t>Click to add title</a:t>
            </a:r>
          </a:p>
        </p:txBody>
      </p:sp>
      <p:pic>
        <p:nvPicPr>
          <p:cNvPr id="9" name="Picture 8"/>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5397806" y="3589606"/>
            <a:ext cx="1365250" cy="3382962"/>
          </a:xfrm>
          <a:custGeom>
            <a:avLst/>
            <a:gdLst>
              <a:gd name="connsiteX0" fmla="*/ 920598 w 1365250"/>
              <a:gd name="connsiteY0" fmla="*/ 0 h 3382962"/>
              <a:gd name="connsiteX1" fmla="*/ 1365250 w 1365250"/>
              <a:gd name="connsiteY1" fmla="*/ 0 h 3382962"/>
              <a:gd name="connsiteX2" fmla="*/ 1365250 w 1365250"/>
              <a:gd name="connsiteY2" fmla="*/ 3382962 h 3382962"/>
              <a:gd name="connsiteX3" fmla="*/ 0 w 1365250"/>
              <a:gd name="connsiteY3" fmla="*/ 3382962 h 3382962"/>
              <a:gd name="connsiteX4" fmla="*/ 0 w 1365250"/>
              <a:gd name="connsiteY4" fmla="*/ 3320782 h 3382962"/>
              <a:gd name="connsiteX5" fmla="*/ 126694 w 1365250"/>
              <a:gd name="connsiteY5" fmla="*/ 3320782 h 3382962"/>
              <a:gd name="connsiteX6" fmla="*/ 0 w 1365250"/>
              <a:gd name="connsiteY6" fmla="*/ 0 h 3382962"/>
              <a:gd name="connsiteX7" fmla="*/ 908172 w 1365250"/>
              <a:gd name="connsiteY7" fmla="*/ 0 h 3382962"/>
              <a:gd name="connsiteX8" fmla="*/ 0 w 1365250"/>
              <a:gd name="connsiteY8" fmla="*/ 2890357 h 3382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65250" h="3382962">
                <a:moveTo>
                  <a:pt x="920598" y="0"/>
                </a:moveTo>
                <a:lnTo>
                  <a:pt x="1365250" y="0"/>
                </a:lnTo>
                <a:lnTo>
                  <a:pt x="1365250" y="3382962"/>
                </a:lnTo>
                <a:lnTo>
                  <a:pt x="0" y="3382962"/>
                </a:lnTo>
                <a:lnTo>
                  <a:pt x="0" y="3320782"/>
                </a:lnTo>
                <a:lnTo>
                  <a:pt x="126694" y="3320782"/>
                </a:lnTo>
                <a:close/>
                <a:moveTo>
                  <a:pt x="0" y="0"/>
                </a:moveTo>
                <a:lnTo>
                  <a:pt x="908172" y="0"/>
                </a:lnTo>
                <a:lnTo>
                  <a:pt x="0" y="2890357"/>
                </a:lnTo>
                <a:close/>
              </a:path>
            </a:pathLst>
          </a:cu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6887861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ext>
  </p:extLst>
</p:sldLayout>
</file>

<file path=ppt/slideLayouts/slideLayout94.xml><?xml version="1.0" encoding="utf-8"?>
<p:sldLayout xmlns:a="http://schemas.openxmlformats.org/drawingml/2006/main" xmlns:r="http://schemas.openxmlformats.org/officeDocument/2006/relationships" xmlns:p="http://schemas.openxmlformats.org/presentationml/2006/main" showMasterSp="0" preserve="1" userDrawn="1">
  <p:cSld name="Green arrow half">
    <p:bg>
      <p:bgPr>
        <a:solidFill>
          <a:srgbClr val="F2F2F2"/>
        </a:solidFill>
        <a:effectLst/>
      </p:bgPr>
    </p:bg>
    <p:spTree>
      <p:nvGrpSpPr>
        <p:cNvPr id="1" name=""/>
        <p:cNvGrpSpPr/>
        <p:nvPr/>
      </p:nvGrpSpPr>
      <p:grpSpPr>
        <a:xfrm>
          <a:off x="0" y="0"/>
          <a:ext cx="0" cy="0"/>
          <a:chOff x="0" y="0"/>
          <a:chExt cx="0" cy="0"/>
        </a:xfrm>
      </p:grpSpPr>
      <p:sp>
        <p:nvSpPr>
          <p:cNvPr id="14" name="Pentagon 8"/>
          <p:cNvSpPr/>
          <p:nvPr userDrawn="1"/>
        </p:nvSpPr>
        <p:spPr bwMode="white">
          <a:xfrm>
            <a:off x="0" y="0"/>
            <a:ext cx="6363546" cy="6858000"/>
          </a:xfrm>
          <a:prstGeom prst="homePlate">
            <a:avLst>
              <a:gd name="adj" fmla="val 12939"/>
            </a:avLst>
          </a:prstGeom>
          <a:gradFill>
            <a:gsLst>
              <a:gs pos="0">
                <a:schemeClr val="tx2"/>
              </a:gs>
              <a:gs pos="100000">
                <a:schemeClr val="accent2"/>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90000"/>
              </a:lnSpc>
              <a:spcAft>
                <a:spcPts val="1000"/>
              </a:spcAft>
            </a:pPr>
            <a:endParaRPr lang="en-US" sz="1200">
              <a:solidFill>
                <a:prstClr val="white"/>
              </a:solidFill>
              <a:latin typeface="+mn-lt"/>
              <a:sym typeface="Trebuchet MS" panose="020B0603020202020204" pitchFamily="34" charset="0"/>
            </a:endParaRPr>
          </a:p>
        </p:txBody>
      </p:sp>
      <p:sp>
        <p:nvSpPr>
          <p:cNvPr id="16" name="Title 2"/>
          <p:cNvSpPr>
            <a:spLocks noGrp="1"/>
          </p:cNvSpPr>
          <p:nvPr>
            <p:ph type="title" hasCustomPrompt="1"/>
          </p:nvPr>
        </p:nvSpPr>
        <p:spPr>
          <a:xfrm>
            <a:off x="630000" y="622800"/>
            <a:ext cx="4673646" cy="470898"/>
          </a:xfrm>
          <a:prstGeom prst="rect">
            <a:avLst/>
          </a:prstGeom>
        </p:spPr>
        <p:txBody>
          <a:bodyPr vert="horz" wrap="square" lIns="0" tIns="0" rIns="0" bIns="0" anchor="t" anchorCtr="0">
            <a:spAutoFit/>
          </a:bodyPr>
          <a:lstStyle>
            <a:lvl1pPr marL="0" indent="0" algn="l">
              <a:lnSpc>
                <a:spcPct val="90000"/>
              </a:lnSpc>
              <a:spcBef>
                <a:spcPct val="0"/>
              </a:spcBef>
              <a:spcAft>
                <a:spcPts val="0"/>
              </a:spcAft>
              <a:defRPr sz="3400" b="0" i="0" u="none" kern="1200" spc="0">
                <a:solidFill>
                  <a:srgbClr val="FFFFFF"/>
                </a:solidFill>
                <a:latin typeface="+mj-lt"/>
                <a:sym typeface="Trebuchet MS" panose="020B0603020202020204" pitchFamily="34" charset="0"/>
              </a:defRPr>
            </a:lvl1pPr>
          </a:lstStyle>
          <a:p>
            <a:pPr lvl="0"/>
            <a:r>
              <a:rPr lang="en-US"/>
              <a:t>Click to add title</a:t>
            </a:r>
          </a:p>
        </p:txBody>
      </p:sp>
      <p:sp>
        <p:nvSpPr>
          <p:cNvPr id="12" name="Date Placeholder 3"/>
          <p:cNvSpPr>
            <a:spLocks noGrp="1"/>
          </p:cNvSpPr>
          <p:nvPr>
            <p:ph type="dt" sz="half" idx="2"/>
          </p:nvPr>
        </p:nvSpPr>
        <p:spPr>
          <a:xfrm>
            <a:off x="9677400" y="6405036"/>
            <a:ext cx="1482051" cy="153888"/>
          </a:xfrm>
          <a:prstGeom prst="rect">
            <a:avLst/>
          </a:prstGeom>
        </p:spPr>
        <p:txBody>
          <a:bodyPr vert="horz" wrap="square" lIns="0" tIns="0" rIns="0" bIns="0" rtlCol="0" anchor="b">
            <a:spAutoFit/>
          </a:bodyPr>
          <a:lstStyle>
            <a:lvl1pPr algn="r">
              <a:defRPr sz="1000">
                <a:solidFill>
                  <a:schemeClr val="bg1">
                    <a:lumMod val="50000"/>
                  </a:schemeClr>
                </a:solidFill>
                <a:latin typeface="+mn-lt"/>
                <a:sym typeface="Trebuchet MS" panose="020B0603020202020204" pitchFamily="34" charset="0"/>
              </a:defRPr>
            </a:lvl1pPr>
          </a:lstStyle>
          <a:p>
            <a:endParaRPr lang="en-US"/>
          </a:p>
        </p:txBody>
      </p:sp>
      <p:sp>
        <p:nvSpPr>
          <p:cNvPr id="13" name="TextBox 12"/>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lumMod val="50000"/>
                  </a:schemeClr>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lumMod val="50000"/>
                </a:schemeClr>
              </a:solidFill>
              <a:latin typeface="+mn-lt"/>
              <a:ea typeface="+mn-ea"/>
              <a:cs typeface="+mn-cs"/>
              <a:sym typeface="Trebuchet MS" panose="020B0603020202020204" pitchFamily="34" charset="0"/>
            </a:endParaRPr>
          </a:p>
        </p:txBody>
      </p:sp>
      <p:sp>
        <p:nvSpPr>
          <p:cNvPr id="19"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2022 by Boston Consulting Group. All rights reserved.</a:t>
            </a:r>
          </a:p>
        </p:txBody>
      </p:sp>
      <p:pic>
        <p:nvPicPr>
          <p:cNvPr id="9" name="Picture 8"/>
          <p:cNvPicPr>
            <a:picLocks noChangeAspect="1"/>
          </p:cNvPicPr>
          <p:nvPr userDrawn="1"/>
        </p:nvPicPr>
        <p:blipFill rotWithShape="1">
          <a:blip r:embed="rId2">
            <a:extLst>
              <a:ext uri="{28A0092B-C50C-407E-A947-70E740481C1C}">
                <a14:useLocalDpi xmlns:a14="http://schemas.microsoft.com/office/drawing/2010/main" val="0"/>
              </a:ext>
            </a:extLst>
          </a:blip>
          <a:srcRect t="9052" b="6867"/>
          <a:stretch/>
        </p:blipFill>
        <p:spPr>
          <a:xfrm rot="120000">
            <a:off x="4460172" y="3407803"/>
            <a:ext cx="2694666" cy="3456551"/>
          </a:xfrm>
          <a:custGeom>
            <a:avLst/>
            <a:gdLst>
              <a:gd name="connsiteX0" fmla="*/ 2136534 w 2694666"/>
              <a:gd name="connsiteY0" fmla="*/ 0 h 3456551"/>
              <a:gd name="connsiteX1" fmla="*/ 2694666 w 2694666"/>
              <a:gd name="connsiteY1" fmla="*/ 0 h 3456551"/>
              <a:gd name="connsiteX2" fmla="*/ 2694666 w 2694666"/>
              <a:gd name="connsiteY2" fmla="*/ 3456551 h 3456551"/>
              <a:gd name="connsiteX3" fmla="*/ 1957033 w 2694666"/>
              <a:gd name="connsiteY3" fmla="*/ 3456551 h 3456551"/>
              <a:gd name="connsiteX4" fmla="*/ 1856842 w 2694666"/>
              <a:gd name="connsiteY4" fmla="*/ 432620 h 3456551"/>
              <a:gd name="connsiteX5" fmla="*/ 1914577 w 2694666"/>
              <a:gd name="connsiteY5" fmla="*/ 426057 h 3456551"/>
              <a:gd name="connsiteX6" fmla="*/ 0 w 2694666"/>
              <a:gd name="connsiteY6" fmla="*/ 0 h 3456551"/>
              <a:gd name="connsiteX7" fmla="*/ 1841687 w 2694666"/>
              <a:gd name="connsiteY7" fmla="*/ 0 h 3456551"/>
              <a:gd name="connsiteX8" fmla="*/ 1142595 w 2694666"/>
              <a:gd name="connsiteY8" fmla="*/ 3456551 h 3456551"/>
              <a:gd name="connsiteX9" fmla="*/ 0 w 2694666"/>
              <a:gd name="connsiteY9" fmla="*/ 3456551 h 3456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4666" h="3456551">
                <a:moveTo>
                  <a:pt x="2136534" y="0"/>
                </a:moveTo>
                <a:lnTo>
                  <a:pt x="2694666" y="0"/>
                </a:lnTo>
                <a:lnTo>
                  <a:pt x="2694666" y="3456551"/>
                </a:lnTo>
                <a:lnTo>
                  <a:pt x="1957033" y="3456551"/>
                </a:lnTo>
                <a:lnTo>
                  <a:pt x="1856842" y="432620"/>
                </a:lnTo>
                <a:lnTo>
                  <a:pt x="1914577" y="426057"/>
                </a:lnTo>
                <a:close/>
                <a:moveTo>
                  <a:pt x="0" y="0"/>
                </a:moveTo>
                <a:lnTo>
                  <a:pt x="1841687" y="0"/>
                </a:lnTo>
                <a:lnTo>
                  <a:pt x="1142595" y="3456551"/>
                </a:lnTo>
                <a:lnTo>
                  <a:pt x="0" y="3456551"/>
                </a:lnTo>
                <a:close/>
              </a:path>
            </a:pathLst>
          </a:custGeom>
        </p:spPr>
      </p:pic>
    </p:spTree>
    <p:extLst>
      <p:ext uri="{BB962C8B-B14F-4D97-AF65-F5344CB8AC3E}">
        <p14:creationId xmlns:p14="http://schemas.microsoft.com/office/powerpoint/2010/main" val="86723609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ext>
  </p:extLst>
</p:sldLayout>
</file>

<file path=ppt/slideLayouts/slideLayout95.xml><?xml version="1.0" encoding="utf-8"?>
<p:sldLayout xmlns:a="http://schemas.openxmlformats.org/drawingml/2006/main" xmlns:r="http://schemas.openxmlformats.org/officeDocument/2006/relationships" xmlns:p="http://schemas.openxmlformats.org/presentationml/2006/main" showMasterSp="0" preserve="1" userDrawn="1">
  <p:cSld name="Arrow two third">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sp>
        <p:nvSpPr>
          <p:cNvPr id="12" name="Freeform 18"/>
          <p:cNvSpPr/>
          <p:nvPr userDrawn="1"/>
        </p:nvSpPr>
        <p:spPr bwMode="white">
          <a:xfrm>
            <a:off x="0" y="0"/>
            <a:ext cx="8446239" cy="6858000"/>
          </a:xfrm>
          <a:custGeom>
            <a:avLst/>
            <a:gdLst>
              <a:gd name="connsiteX0" fmla="*/ 0 w 8446239"/>
              <a:gd name="connsiteY0" fmla="*/ 0 h 6858000"/>
              <a:gd name="connsiteX1" fmla="*/ 7645979 w 8446239"/>
              <a:gd name="connsiteY1" fmla="*/ 0 h 6858000"/>
              <a:gd name="connsiteX2" fmla="*/ 8446239 w 8446239"/>
              <a:gd name="connsiteY2" fmla="*/ 3429000 h 6858000"/>
              <a:gd name="connsiteX3" fmla="*/ 7645979 w 8446239"/>
              <a:gd name="connsiteY3" fmla="*/ 6858000 h 6858000"/>
              <a:gd name="connsiteX4" fmla="*/ 0 w 8446239"/>
              <a:gd name="connsiteY4" fmla="*/ 6858000 h 6858000"/>
              <a:gd name="connsiteX5" fmla="*/ 0 w 8446239"/>
              <a:gd name="connsiteY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46239" h="6858000">
                <a:moveTo>
                  <a:pt x="0" y="0"/>
                </a:moveTo>
                <a:lnTo>
                  <a:pt x="7645979" y="0"/>
                </a:lnTo>
                <a:lnTo>
                  <a:pt x="8446239" y="3429000"/>
                </a:lnTo>
                <a:lnTo>
                  <a:pt x="7645979" y="6858000"/>
                </a:lnTo>
                <a:lnTo>
                  <a:pt x="0" y="6858000"/>
                </a:lnTo>
                <a:lnTo>
                  <a:pt x="0" y="0"/>
                </a:lnTo>
                <a:close/>
              </a:path>
            </a:pathLst>
          </a:custGeom>
          <a:solidFill>
            <a:schemeClr val="bg2"/>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l">
              <a:lnSpc>
                <a:spcPct val="90000"/>
              </a:lnSpc>
              <a:spcAft>
                <a:spcPts val="1000"/>
              </a:spcAft>
            </a:pPr>
            <a:endParaRPr lang="en-US" sz="1200">
              <a:solidFill>
                <a:schemeClr val="bg1"/>
              </a:solidFill>
              <a:latin typeface="+mn-lt"/>
              <a:sym typeface="Trebuchet MS" panose="020B0603020202020204" pitchFamily="34" charset="0"/>
            </a:endParaRPr>
          </a:p>
        </p:txBody>
      </p:sp>
      <p:sp>
        <p:nvSpPr>
          <p:cNvPr id="13" name="Date Placeholder 4"/>
          <p:cNvSpPr>
            <a:spLocks noGrp="1"/>
          </p:cNvSpPr>
          <p:nvPr>
            <p:ph type="dt" sz="half" idx="10"/>
          </p:nvPr>
        </p:nvSpPr>
        <p:spPr>
          <a:xfrm>
            <a:off x="9677400" y="6405036"/>
            <a:ext cx="1482051" cy="153888"/>
          </a:xfrm>
          <a:prstGeom prst="rect">
            <a:avLst/>
          </a:prstGeom>
        </p:spPr>
        <p:txBody>
          <a:bodyPr/>
          <a:lstStyle>
            <a:lvl1pPr>
              <a:defRPr>
                <a:solidFill>
                  <a:schemeClr val="bg1"/>
                </a:solidFill>
                <a:latin typeface="+mn-lt"/>
                <a:sym typeface="Trebuchet MS" panose="020B0603020202020204" pitchFamily="34" charset="0"/>
              </a:defRPr>
            </a:lvl1pPr>
          </a:lstStyle>
          <a:p>
            <a:endParaRPr lang="en-US"/>
          </a:p>
        </p:txBody>
      </p:sp>
      <p:sp>
        <p:nvSpPr>
          <p:cNvPr id="9"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2022 by Boston Consulting Group. All rights reserved.</a:t>
            </a:r>
          </a:p>
        </p:txBody>
      </p:sp>
      <p:sp>
        <p:nvSpPr>
          <p:cNvPr id="15" name="TextBox 14"/>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
        <p:nvSpPr>
          <p:cNvPr id="11" name="Title 3"/>
          <p:cNvSpPr>
            <a:spLocks noGrp="1"/>
          </p:cNvSpPr>
          <p:nvPr>
            <p:ph type="title" hasCustomPrompt="1"/>
          </p:nvPr>
        </p:nvSpPr>
        <p:spPr>
          <a:xfrm>
            <a:off x="630000" y="622800"/>
            <a:ext cx="6256800" cy="470898"/>
          </a:xfrm>
          <a:prstGeom prst="rect">
            <a:avLst/>
          </a:prstGeom>
        </p:spPr>
        <p:txBody>
          <a:bodyPr vert="horz" wrap="square" lIns="0" tIns="0" rIns="0" bIns="0" anchor="t" anchorCtr="0">
            <a:spAutoFit/>
          </a:bodyPr>
          <a:lstStyle>
            <a:lvl1pPr marL="0" indent="0" algn="l">
              <a:lnSpc>
                <a:spcPct val="90000"/>
              </a:lnSpc>
              <a:spcBef>
                <a:spcPct val="0"/>
              </a:spcBef>
              <a:spcAft>
                <a:spcPts val="0"/>
              </a:spcAft>
              <a:defRPr sz="3400" b="0" i="0" u="none" kern="1200" spc="0">
                <a:solidFill>
                  <a:schemeClr val="tx2">
                    <a:lumMod val="100000"/>
                  </a:schemeClr>
                </a:solidFill>
                <a:latin typeface="+mj-lt"/>
                <a:sym typeface="Trebuchet MS" panose="020B0603020202020204" pitchFamily="34" charset="0"/>
              </a:defRPr>
            </a:lvl1pPr>
          </a:lstStyle>
          <a:p>
            <a:pPr lvl="0"/>
            <a:r>
              <a:rPr lang="en-US"/>
              <a:t>Click to add title</a:t>
            </a:r>
          </a:p>
        </p:txBody>
      </p:sp>
      <p:pic>
        <p:nvPicPr>
          <p:cNvPr id="16" name="Picture 15"/>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7490339" y="3589606"/>
            <a:ext cx="1365250" cy="3382962"/>
          </a:xfrm>
          <a:custGeom>
            <a:avLst/>
            <a:gdLst>
              <a:gd name="connsiteX0" fmla="*/ 911531 w 1365250"/>
              <a:gd name="connsiteY0" fmla="*/ 0 h 3382962"/>
              <a:gd name="connsiteX1" fmla="*/ 1365250 w 1365250"/>
              <a:gd name="connsiteY1" fmla="*/ 0 h 3382962"/>
              <a:gd name="connsiteX2" fmla="*/ 1365250 w 1365250"/>
              <a:gd name="connsiteY2" fmla="*/ 3382962 h 3382962"/>
              <a:gd name="connsiteX3" fmla="*/ 107988 w 1365250"/>
              <a:gd name="connsiteY3" fmla="*/ 3382962 h 3382962"/>
              <a:gd name="connsiteX4" fmla="*/ 111422 w 1365250"/>
              <a:gd name="connsiteY4" fmla="*/ 3368118 h 3382962"/>
              <a:gd name="connsiteX5" fmla="*/ 129661 w 1365250"/>
              <a:gd name="connsiteY5" fmla="*/ 3368407 h 3382962"/>
              <a:gd name="connsiteX6" fmla="*/ 890411 w 1365250"/>
              <a:gd name="connsiteY6" fmla="*/ 0 h 3382962"/>
              <a:gd name="connsiteX7" fmla="*/ 897808 w 1365250"/>
              <a:gd name="connsiteY7" fmla="*/ 0 h 3382962"/>
              <a:gd name="connsiteX8" fmla="*/ 870584 w 1365250"/>
              <a:gd name="connsiteY8" fmla="*/ 85726 h 3382962"/>
              <a:gd name="connsiteX9" fmla="*/ 0 w 1365250"/>
              <a:gd name="connsiteY9" fmla="*/ 0 h 3382962"/>
              <a:gd name="connsiteX10" fmla="*/ 852736 w 1365250"/>
              <a:gd name="connsiteY10" fmla="*/ 0 h 3382962"/>
              <a:gd name="connsiteX11" fmla="*/ 0 w 1365250"/>
              <a:gd name="connsiteY11" fmla="*/ 1883543 h 3382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5250" h="3382962">
                <a:moveTo>
                  <a:pt x="911531" y="0"/>
                </a:moveTo>
                <a:lnTo>
                  <a:pt x="1365250" y="0"/>
                </a:lnTo>
                <a:lnTo>
                  <a:pt x="1365250" y="3382962"/>
                </a:lnTo>
                <a:lnTo>
                  <a:pt x="107988" y="3382962"/>
                </a:lnTo>
                <a:lnTo>
                  <a:pt x="111422" y="3368118"/>
                </a:lnTo>
                <a:lnTo>
                  <a:pt x="129661" y="3368407"/>
                </a:lnTo>
                <a:close/>
                <a:moveTo>
                  <a:pt x="890411" y="0"/>
                </a:moveTo>
                <a:lnTo>
                  <a:pt x="897808" y="0"/>
                </a:lnTo>
                <a:lnTo>
                  <a:pt x="870584" y="85726"/>
                </a:lnTo>
                <a:close/>
                <a:moveTo>
                  <a:pt x="0" y="0"/>
                </a:moveTo>
                <a:lnTo>
                  <a:pt x="852736" y="0"/>
                </a:lnTo>
                <a:lnTo>
                  <a:pt x="0" y="1883543"/>
                </a:lnTo>
                <a:close/>
              </a:path>
            </a:pathLst>
          </a:cu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0554941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96.xml><?xml version="1.0" encoding="utf-8"?>
<p:sldLayout xmlns:a="http://schemas.openxmlformats.org/drawingml/2006/main" xmlns:r="http://schemas.openxmlformats.org/officeDocument/2006/relationships" xmlns:p="http://schemas.openxmlformats.org/presentationml/2006/main" showMasterSp="0" preserve="1" userDrawn="1">
  <p:cSld name="Green arrow two third">
    <p:bg>
      <p:bgPr>
        <a:solidFill>
          <a:srgbClr val="F2F2F2"/>
        </a:solidFill>
        <a:effectLst/>
      </p:bgPr>
    </p:bg>
    <p:spTree>
      <p:nvGrpSpPr>
        <p:cNvPr id="1" name=""/>
        <p:cNvGrpSpPr/>
        <p:nvPr/>
      </p:nvGrpSpPr>
      <p:grpSpPr>
        <a:xfrm>
          <a:off x="0" y="0"/>
          <a:ext cx="0" cy="0"/>
          <a:chOff x="0" y="0"/>
          <a:chExt cx="0" cy="0"/>
        </a:xfrm>
      </p:grpSpPr>
      <p:sp>
        <p:nvSpPr>
          <p:cNvPr id="12" name="Freeform 18"/>
          <p:cNvSpPr/>
          <p:nvPr userDrawn="1"/>
        </p:nvSpPr>
        <p:spPr bwMode="white">
          <a:xfrm>
            <a:off x="0" y="0"/>
            <a:ext cx="8446239" cy="6858000"/>
          </a:xfrm>
          <a:custGeom>
            <a:avLst/>
            <a:gdLst>
              <a:gd name="connsiteX0" fmla="*/ 0 w 8446239"/>
              <a:gd name="connsiteY0" fmla="*/ 0 h 6858000"/>
              <a:gd name="connsiteX1" fmla="*/ 7645979 w 8446239"/>
              <a:gd name="connsiteY1" fmla="*/ 0 h 6858000"/>
              <a:gd name="connsiteX2" fmla="*/ 8446239 w 8446239"/>
              <a:gd name="connsiteY2" fmla="*/ 3429000 h 6858000"/>
              <a:gd name="connsiteX3" fmla="*/ 7645979 w 8446239"/>
              <a:gd name="connsiteY3" fmla="*/ 6858000 h 6858000"/>
              <a:gd name="connsiteX4" fmla="*/ 0 w 8446239"/>
              <a:gd name="connsiteY4" fmla="*/ 6858000 h 6858000"/>
              <a:gd name="connsiteX5" fmla="*/ 0 w 8446239"/>
              <a:gd name="connsiteY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46239" h="6858000">
                <a:moveTo>
                  <a:pt x="0" y="0"/>
                </a:moveTo>
                <a:lnTo>
                  <a:pt x="7645979" y="0"/>
                </a:lnTo>
                <a:lnTo>
                  <a:pt x="8446239" y="3429000"/>
                </a:lnTo>
                <a:lnTo>
                  <a:pt x="7645979" y="6858000"/>
                </a:lnTo>
                <a:lnTo>
                  <a:pt x="0" y="6858000"/>
                </a:lnTo>
                <a:lnTo>
                  <a:pt x="0" y="0"/>
                </a:lnTo>
                <a:close/>
              </a:path>
            </a:pathLst>
          </a:custGeom>
          <a:gradFill>
            <a:gsLst>
              <a:gs pos="0">
                <a:schemeClr val="tx2"/>
              </a:gs>
              <a:gs pos="100000">
                <a:schemeClr val="accent2"/>
              </a:gs>
            </a:gsLst>
            <a:lin ang="8100000" scaled="1"/>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l">
              <a:lnSpc>
                <a:spcPct val="90000"/>
              </a:lnSpc>
              <a:spcAft>
                <a:spcPts val="1000"/>
              </a:spcAft>
            </a:pPr>
            <a:endParaRPr lang="en-US" sz="1200">
              <a:solidFill>
                <a:schemeClr val="bg1"/>
              </a:solidFill>
              <a:latin typeface="+mn-lt"/>
              <a:sym typeface="Trebuchet MS" panose="020B0603020202020204" pitchFamily="34" charset="0"/>
            </a:endParaRPr>
          </a:p>
        </p:txBody>
      </p:sp>
      <p:sp>
        <p:nvSpPr>
          <p:cNvPr id="11" name="Title 3"/>
          <p:cNvSpPr>
            <a:spLocks noGrp="1"/>
          </p:cNvSpPr>
          <p:nvPr>
            <p:ph type="title" hasCustomPrompt="1"/>
          </p:nvPr>
        </p:nvSpPr>
        <p:spPr>
          <a:xfrm>
            <a:off x="630000" y="622800"/>
            <a:ext cx="6256800" cy="470898"/>
          </a:xfrm>
          <a:prstGeom prst="rect">
            <a:avLst/>
          </a:prstGeom>
        </p:spPr>
        <p:txBody>
          <a:bodyPr vert="horz" wrap="square" lIns="0" tIns="0" rIns="0" bIns="0" anchor="t" anchorCtr="0">
            <a:spAutoFit/>
          </a:bodyPr>
          <a:lstStyle>
            <a:lvl1pPr marL="0" indent="0" algn="l">
              <a:lnSpc>
                <a:spcPct val="90000"/>
              </a:lnSpc>
              <a:spcBef>
                <a:spcPct val="0"/>
              </a:spcBef>
              <a:spcAft>
                <a:spcPts val="0"/>
              </a:spcAft>
              <a:defRPr sz="3400" b="0" i="0" u="none" kern="1200" spc="0">
                <a:solidFill>
                  <a:srgbClr val="FFFFFF"/>
                </a:solidFill>
                <a:latin typeface="+mj-lt"/>
                <a:sym typeface="Trebuchet MS" panose="020B0603020202020204" pitchFamily="34" charset="0"/>
              </a:defRPr>
            </a:lvl1pPr>
          </a:lstStyle>
          <a:p>
            <a:pPr lvl="0"/>
            <a:r>
              <a:rPr lang="en-US"/>
              <a:t>Click to add title</a:t>
            </a:r>
          </a:p>
        </p:txBody>
      </p:sp>
      <p:sp>
        <p:nvSpPr>
          <p:cNvPr id="17" name="Date Placeholder 3"/>
          <p:cNvSpPr>
            <a:spLocks noGrp="1"/>
          </p:cNvSpPr>
          <p:nvPr>
            <p:ph type="dt" sz="half" idx="2"/>
          </p:nvPr>
        </p:nvSpPr>
        <p:spPr>
          <a:xfrm>
            <a:off x="9677400" y="6405036"/>
            <a:ext cx="1482051" cy="153888"/>
          </a:xfrm>
          <a:prstGeom prst="rect">
            <a:avLst/>
          </a:prstGeom>
        </p:spPr>
        <p:txBody>
          <a:bodyPr vert="horz" wrap="square" lIns="0" tIns="0" rIns="0" bIns="0" rtlCol="0" anchor="b">
            <a:spAutoFit/>
          </a:bodyPr>
          <a:lstStyle>
            <a:lvl1pPr algn="r">
              <a:defRPr sz="1000">
                <a:solidFill>
                  <a:schemeClr val="bg1">
                    <a:lumMod val="50000"/>
                  </a:schemeClr>
                </a:solidFill>
                <a:latin typeface="+mn-lt"/>
                <a:sym typeface="Trebuchet MS" panose="020B0603020202020204" pitchFamily="34" charset="0"/>
              </a:defRPr>
            </a:lvl1pPr>
          </a:lstStyle>
          <a:p>
            <a:endParaRPr lang="en-US"/>
          </a:p>
        </p:txBody>
      </p:sp>
      <p:sp>
        <p:nvSpPr>
          <p:cNvPr id="18" name="TextBox 17"/>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lumMod val="50000"/>
                  </a:schemeClr>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lumMod val="50000"/>
                </a:schemeClr>
              </a:solidFill>
              <a:latin typeface="+mn-lt"/>
              <a:ea typeface="+mn-ea"/>
              <a:cs typeface="+mn-cs"/>
              <a:sym typeface="Trebuchet MS" panose="020B0603020202020204" pitchFamily="34" charset="0"/>
            </a:endParaRPr>
          </a:p>
        </p:txBody>
      </p:sp>
      <p:sp>
        <p:nvSpPr>
          <p:cNvPr id="19"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2022 by Boston Consulting Group. All rights reserved.</a:t>
            </a:r>
          </a:p>
        </p:txBody>
      </p:sp>
      <p:pic>
        <p:nvPicPr>
          <p:cNvPr id="9" name="Picture 8"/>
          <p:cNvPicPr>
            <a:picLocks noChangeAspect="1"/>
          </p:cNvPicPr>
          <p:nvPr userDrawn="1"/>
        </p:nvPicPr>
        <p:blipFill rotWithShape="1">
          <a:blip r:embed="rId2">
            <a:extLst>
              <a:ext uri="{28A0092B-C50C-407E-A947-70E740481C1C}">
                <a14:useLocalDpi xmlns:a14="http://schemas.microsoft.com/office/drawing/2010/main" val="0"/>
              </a:ext>
            </a:extLst>
          </a:blip>
          <a:srcRect t="9052" b="6867"/>
          <a:stretch/>
        </p:blipFill>
        <p:spPr>
          <a:xfrm rot="120000">
            <a:off x="6567628" y="3407803"/>
            <a:ext cx="2694666" cy="3456551"/>
          </a:xfrm>
          <a:custGeom>
            <a:avLst/>
            <a:gdLst>
              <a:gd name="connsiteX0" fmla="*/ 2068299 w 2694666"/>
              <a:gd name="connsiteY0" fmla="*/ 0 h 3456551"/>
              <a:gd name="connsiteX1" fmla="*/ 2694666 w 2694666"/>
              <a:gd name="connsiteY1" fmla="*/ 0 h 3456551"/>
              <a:gd name="connsiteX2" fmla="*/ 2694666 w 2694666"/>
              <a:gd name="connsiteY2" fmla="*/ 3456551 h 3456551"/>
              <a:gd name="connsiteX3" fmla="*/ 1434992 w 2694666"/>
              <a:gd name="connsiteY3" fmla="*/ 3456551 h 3456551"/>
              <a:gd name="connsiteX4" fmla="*/ 0 w 2694666"/>
              <a:gd name="connsiteY4" fmla="*/ 0 h 3456551"/>
              <a:gd name="connsiteX5" fmla="*/ 1825478 w 2694666"/>
              <a:gd name="connsiteY5" fmla="*/ 0 h 3456551"/>
              <a:gd name="connsiteX6" fmla="*/ 1138791 w 2694666"/>
              <a:gd name="connsiteY6" fmla="*/ 3456551 h 3456551"/>
              <a:gd name="connsiteX7" fmla="*/ 0 w 2694666"/>
              <a:gd name="connsiteY7" fmla="*/ 3456551 h 3456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4666" h="3456551">
                <a:moveTo>
                  <a:pt x="2068299" y="0"/>
                </a:moveTo>
                <a:lnTo>
                  <a:pt x="2694666" y="0"/>
                </a:lnTo>
                <a:lnTo>
                  <a:pt x="2694666" y="3456551"/>
                </a:lnTo>
                <a:lnTo>
                  <a:pt x="1434992" y="3456551"/>
                </a:lnTo>
                <a:close/>
                <a:moveTo>
                  <a:pt x="0" y="0"/>
                </a:moveTo>
                <a:lnTo>
                  <a:pt x="1825478" y="0"/>
                </a:lnTo>
                <a:lnTo>
                  <a:pt x="1138791" y="3456551"/>
                </a:lnTo>
                <a:lnTo>
                  <a:pt x="0" y="3456551"/>
                </a:lnTo>
                <a:close/>
              </a:path>
            </a:pathLst>
          </a:custGeom>
        </p:spPr>
      </p:pic>
    </p:spTree>
    <p:extLst>
      <p:ext uri="{BB962C8B-B14F-4D97-AF65-F5344CB8AC3E}">
        <p14:creationId xmlns:p14="http://schemas.microsoft.com/office/powerpoint/2010/main" val="263620756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97.xml><?xml version="1.0" encoding="utf-8"?>
<p:sldLayout xmlns:a="http://schemas.openxmlformats.org/drawingml/2006/main" xmlns:r="http://schemas.openxmlformats.org/officeDocument/2006/relationships" xmlns:p="http://schemas.openxmlformats.org/presentationml/2006/main" showMasterSp="0" preserve="1" userDrawn="1">
  <p:cSld name="Big statement green">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sp>
        <p:nvSpPr>
          <p:cNvPr id="3" name="TextBox 2"/>
          <p:cNvSpPr txBox="1"/>
          <p:nvPr/>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
        <p:nvSpPr>
          <p:cNvPr id="4" name="Date Placeholder 3"/>
          <p:cNvSpPr>
            <a:spLocks noGrp="1"/>
          </p:cNvSpPr>
          <p:nvPr>
            <p:ph type="dt" sz="half" idx="10"/>
          </p:nvPr>
        </p:nvSpPr>
        <p:spPr>
          <a:xfrm>
            <a:off x="9677400" y="6405036"/>
            <a:ext cx="1482051" cy="153888"/>
          </a:xfrm>
          <a:prstGeom prst="rect">
            <a:avLst/>
          </a:prstGeom>
        </p:spPr>
        <p:txBody>
          <a:bodyPr/>
          <a:lstStyle>
            <a:lvl1pPr>
              <a:defRPr>
                <a:solidFill>
                  <a:schemeClr val="bg1"/>
                </a:solidFill>
                <a:latin typeface="+mn-lt"/>
                <a:sym typeface="Trebuchet MS" panose="020B0603020202020204" pitchFamily="34" charset="0"/>
              </a:defRPr>
            </a:lvl1pPr>
          </a:lstStyle>
          <a:p>
            <a:endParaRPr lang="en-US"/>
          </a:p>
        </p:txBody>
      </p:sp>
      <p:sp>
        <p:nvSpPr>
          <p:cNvPr id="9"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2022 by Boston Consulting Group. All rights reserved.</a:t>
            </a:r>
          </a:p>
        </p:txBody>
      </p:sp>
      <p:sp>
        <p:nvSpPr>
          <p:cNvPr id="8" name="Title 1"/>
          <p:cNvSpPr>
            <a:spLocks noGrp="1"/>
          </p:cNvSpPr>
          <p:nvPr>
            <p:ph type="title" hasCustomPrompt="1"/>
          </p:nvPr>
        </p:nvSpPr>
        <p:spPr>
          <a:xfrm>
            <a:off x="630000" y="3826333"/>
            <a:ext cx="10933200" cy="1606550"/>
          </a:xfrm>
        </p:spPr>
        <p:txBody>
          <a:bodyPr anchor="b">
            <a:noAutofit/>
          </a:bodyPr>
          <a:lstStyle>
            <a:lvl1pPr marL="0" algn="l" defTabSz="914400" rtl="0" eaLnBrk="1" fontAlgn="auto" latinLnBrk="0" hangingPunct="1">
              <a:lnSpc>
                <a:spcPts val="6000"/>
              </a:lnSpc>
              <a:spcBef>
                <a:spcPts val="0"/>
              </a:spcBef>
              <a:spcAft>
                <a:spcPts val="0"/>
              </a:spcAft>
              <a:defRPr lang="en-US" sz="5400" kern="1200" baseline="0" dirty="0">
                <a:solidFill>
                  <a:schemeClr val="bg1"/>
                </a:solidFill>
                <a:latin typeface="+mj-lt"/>
                <a:ea typeface="+mn-ea"/>
                <a:cs typeface="Arial" panose="020B0604020202020204" pitchFamily="34" charset="0"/>
                <a:sym typeface="Trebuchet MS" panose="020B0603020202020204" pitchFamily="34" charset="0"/>
              </a:defRPr>
            </a:lvl1pPr>
          </a:lstStyle>
          <a:p>
            <a:r>
              <a:rPr lang="en-US"/>
              <a:t>Click to add big statement text</a:t>
            </a:r>
          </a:p>
        </p:txBody>
      </p:sp>
    </p:spTree>
    <p:extLst>
      <p:ext uri="{BB962C8B-B14F-4D97-AF65-F5344CB8AC3E}">
        <p14:creationId xmlns:p14="http://schemas.microsoft.com/office/powerpoint/2010/main" val="260915576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Big statement icon">
    <p:bg>
      <p:bgPr>
        <a:solidFill>
          <a:schemeClr val="bg1">
            <a:lumMod val="95000"/>
          </a:schemeClr>
        </a:solidFill>
        <a:effectLst/>
      </p:bgPr>
    </p:bg>
    <p:spTree>
      <p:nvGrpSpPr>
        <p:cNvPr id="1" name=""/>
        <p:cNvGrpSpPr/>
        <p:nvPr/>
      </p:nvGrpSpPr>
      <p:grpSpPr>
        <a:xfrm>
          <a:off x="0" y="0"/>
          <a:ext cx="0" cy="0"/>
          <a:chOff x="0" y="0"/>
          <a:chExt cx="0" cy="0"/>
        </a:xfrm>
      </p:grpSpPr>
      <p:sp>
        <p:nvSpPr>
          <p:cNvPr id="3" name="Date Placeholder 2"/>
          <p:cNvSpPr>
            <a:spLocks noGrp="1"/>
          </p:cNvSpPr>
          <p:nvPr>
            <p:ph type="dt" sz="half" idx="10"/>
          </p:nvPr>
        </p:nvSpPr>
        <p:spPr>
          <a:xfrm>
            <a:off x="9677400" y="6405036"/>
            <a:ext cx="1482051" cy="153888"/>
          </a:xfrm>
          <a:prstGeom prst="rect">
            <a:avLst/>
          </a:prstGeom>
        </p:spPr>
        <p:txBody>
          <a:bodyPr/>
          <a:lstStyle>
            <a:lvl1pPr>
              <a:defRPr>
                <a:solidFill>
                  <a:schemeClr val="bg1">
                    <a:lumMod val="50000"/>
                  </a:schemeClr>
                </a:solidFill>
                <a:latin typeface="+mn-lt"/>
                <a:sym typeface="Trebuchet MS" panose="020B0603020202020204" pitchFamily="34" charset="0"/>
              </a:defRPr>
            </a:lvl1pPr>
          </a:lstStyle>
          <a:p>
            <a:endParaRPr lang="en-US"/>
          </a:p>
        </p:txBody>
      </p:sp>
      <p:sp>
        <p:nvSpPr>
          <p:cNvPr id="9"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2022 by Boston Consulting Group. All rights reserved.</a:t>
            </a:r>
          </a:p>
        </p:txBody>
      </p:sp>
      <p:sp>
        <p:nvSpPr>
          <p:cNvPr id="6" name="Rectangle 5"/>
          <p:cNvSpPr/>
          <p:nvPr userDrawn="1"/>
        </p:nvSpPr>
        <p:spPr bwMode="white">
          <a:xfrm>
            <a:off x="630000" y="625475"/>
            <a:ext cx="932688" cy="932688"/>
          </a:xfrm>
          <a:prstGeom prst="rect">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l"/>
            <a:endParaRPr lang="en-US" sz="1200">
              <a:solidFill>
                <a:schemeClr val="bg1"/>
              </a:solidFill>
              <a:latin typeface="+mn-lt"/>
              <a:sym typeface="Trebuchet MS" panose="020B0603020202020204" pitchFamily="34" charset="0"/>
            </a:endParaRPr>
          </a:p>
        </p:txBody>
      </p:sp>
      <p:sp>
        <p:nvSpPr>
          <p:cNvPr id="7" name="Title 1"/>
          <p:cNvSpPr>
            <a:spLocks noGrp="1"/>
          </p:cNvSpPr>
          <p:nvPr>
            <p:ph type="title" hasCustomPrompt="1"/>
          </p:nvPr>
        </p:nvSpPr>
        <p:spPr>
          <a:xfrm>
            <a:off x="630000" y="3826333"/>
            <a:ext cx="10933200" cy="1606550"/>
          </a:xfrm>
          <a:prstGeom prst="rect">
            <a:avLst/>
          </a:prstGeom>
        </p:spPr>
        <p:txBody>
          <a:bodyPr anchor="b">
            <a:noAutofit/>
          </a:bodyPr>
          <a:lstStyle>
            <a:lvl1pPr marL="0" algn="l" defTabSz="914400" rtl="0" eaLnBrk="1" fontAlgn="auto" latinLnBrk="0" hangingPunct="1">
              <a:lnSpc>
                <a:spcPts val="6000"/>
              </a:lnSpc>
              <a:spcBef>
                <a:spcPts val="0"/>
              </a:spcBef>
              <a:spcAft>
                <a:spcPts val="0"/>
              </a:spcAft>
              <a:defRPr lang="en-US" sz="5400" kern="1200" baseline="0" dirty="0">
                <a:solidFill>
                  <a:schemeClr val="accent4"/>
                </a:solidFill>
                <a:latin typeface="+mj-lt"/>
                <a:ea typeface="+mn-ea"/>
                <a:cs typeface="Arial" panose="020B0604020202020204" pitchFamily="34" charset="0"/>
                <a:sym typeface="Trebuchet MS" panose="020B0603020202020204" pitchFamily="34" charset="0"/>
              </a:defRPr>
            </a:lvl1pPr>
          </a:lstStyle>
          <a:p>
            <a:r>
              <a:rPr lang="en-US"/>
              <a:t>Click to add big statement text</a:t>
            </a:r>
          </a:p>
        </p:txBody>
      </p:sp>
    </p:spTree>
    <p:extLst>
      <p:ext uri="{BB962C8B-B14F-4D97-AF65-F5344CB8AC3E}">
        <p14:creationId xmlns:p14="http://schemas.microsoft.com/office/powerpoint/2010/main" val="271687300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99.xml><?xml version="1.0" encoding="utf-8"?>
<p:sldLayout xmlns:a="http://schemas.openxmlformats.org/drawingml/2006/main" xmlns:r="http://schemas.openxmlformats.org/officeDocument/2006/relationships" xmlns:p="http://schemas.openxmlformats.org/presentationml/2006/main" showMasterSp="0" preserve="1" userDrawn="1">
  <p:cSld name="Quote">
    <p:bg>
      <p:bgPr>
        <a:solidFill>
          <a:schemeClr val="accent1"/>
        </a:solidFill>
        <a:effectLst/>
      </p:bgPr>
    </p:bg>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1"/>
            </p:custDataLst>
            <p:extLst>
              <p:ext uri="{D42A27DB-BD31-4B8C-83A1-F6EECF244321}">
                <p14:modId xmlns:p14="http://schemas.microsoft.com/office/powerpoint/2010/main" val="842619711"/>
              </p:ext>
            </p:ext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3" imgW="324" imgH="324" progId="TCLayout.ActiveDocument.1">
                  <p:embed/>
                </p:oleObj>
              </mc:Choice>
              <mc:Fallback>
                <p:oleObj name="think-cell Slide" r:id="rId3" imgW="324" imgH="324" progId="TCLayout.ActiveDocument.1">
                  <p:embed/>
                  <p:pic>
                    <p:nvPicPr>
                      <p:cNvPr id="2" name="Object 1" hidden="1"/>
                      <p:cNvPicPr/>
                      <p:nvPr/>
                    </p:nvPicPr>
                    <p:blipFill>
                      <a:blip r:embed="rId4"/>
                      <a:stretch>
                        <a:fillRect/>
                      </a:stretch>
                    </p:blipFill>
                    <p:spPr>
                      <a:xfrm>
                        <a:off x="1588" y="1588"/>
                        <a:ext cx="1587" cy="1587"/>
                      </a:xfrm>
                      <a:prstGeom prst="rect">
                        <a:avLst/>
                      </a:prstGeom>
                    </p:spPr>
                  </p:pic>
                </p:oleObj>
              </mc:Fallback>
            </mc:AlternateContent>
          </a:graphicData>
        </a:graphic>
      </p:graphicFrame>
      <p:sp>
        <p:nvSpPr>
          <p:cNvPr id="6" name="TextBox 5"/>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pic>
        <p:nvPicPr>
          <p:cNvPr id="7" name="Picture 6"/>
          <p:cNvPicPr>
            <a:picLocks noChangeAspect="1"/>
          </p:cNvPicPr>
          <p:nvPr userDrawn="1"/>
        </p:nvPicPr>
        <p:blipFill rotWithShape="1">
          <a:blip r:embed="rId5">
            <a:extLst>
              <a:ext uri="{28A0092B-C50C-407E-A947-70E740481C1C}">
                <a14:useLocalDpi xmlns:a14="http://schemas.microsoft.com/office/drawing/2010/main" val="0"/>
              </a:ext>
            </a:extLst>
          </a:blip>
          <a:srcRect r="3634" b="1258"/>
          <a:stretch/>
        </p:blipFill>
        <p:spPr>
          <a:xfrm rot="16200000" flipH="1">
            <a:off x="6797461" y="101443"/>
            <a:ext cx="769257" cy="10019821"/>
          </a:xfrm>
          <a:custGeom>
            <a:avLst/>
            <a:gdLst>
              <a:gd name="connsiteX0" fmla="*/ 0 w 769257"/>
              <a:gd name="connsiteY0" fmla="*/ 0 h 10019821"/>
              <a:gd name="connsiteX1" fmla="*/ 0 w 769257"/>
              <a:gd name="connsiteY1" fmla="*/ 4631160 h 10019821"/>
              <a:gd name="connsiteX2" fmla="*/ 216750 w 769257"/>
              <a:gd name="connsiteY2" fmla="*/ 999646 h 10019821"/>
              <a:gd name="connsiteX3" fmla="*/ 197800 w 769257"/>
              <a:gd name="connsiteY3" fmla="*/ 10019821 h 10019821"/>
              <a:gd name="connsiteX4" fmla="*/ 769257 w 769257"/>
              <a:gd name="connsiteY4" fmla="*/ 10019821 h 10019821"/>
              <a:gd name="connsiteX5" fmla="*/ 769257 w 769257"/>
              <a:gd name="connsiteY5" fmla="*/ 0 h 10019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9257" h="10019821">
                <a:moveTo>
                  <a:pt x="0" y="0"/>
                </a:moveTo>
                <a:lnTo>
                  <a:pt x="0" y="4631160"/>
                </a:lnTo>
                <a:lnTo>
                  <a:pt x="216750" y="999646"/>
                </a:lnTo>
                <a:lnTo>
                  <a:pt x="197800" y="10019821"/>
                </a:lnTo>
                <a:lnTo>
                  <a:pt x="769257" y="10019821"/>
                </a:lnTo>
                <a:lnTo>
                  <a:pt x="769257" y="0"/>
                </a:lnTo>
                <a:close/>
              </a:path>
            </a:pathLst>
          </a:custGeom>
        </p:spPr>
      </p:pic>
      <p:sp>
        <p:nvSpPr>
          <p:cNvPr id="59" name="Freeform 58"/>
          <p:cNvSpPr>
            <a:spLocks/>
          </p:cNvSpPr>
          <p:nvPr/>
        </p:nvSpPr>
        <p:spPr bwMode="white">
          <a:xfrm flipH="1">
            <a:off x="0" y="0"/>
            <a:ext cx="12192000" cy="5867335"/>
          </a:xfrm>
          <a:custGeom>
            <a:avLst/>
            <a:gdLst>
              <a:gd name="connsiteX0" fmla="*/ 12192000 w 12192000"/>
              <a:gd name="connsiteY0" fmla="*/ 0 h 5867335"/>
              <a:gd name="connsiteX1" fmla="*/ 0 w 12192000"/>
              <a:gd name="connsiteY1" fmla="*/ 0 h 5867335"/>
              <a:gd name="connsiteX2" fmla="*/ 0 w 12192000"/>
              <a:gd name="connsiteY2" fmla="*/ 4945992 h 5867335"/>
              <a:gd name="connsiteX3" fmla="*/ 9041587 w 12192000"/>
              <a:gd name="connsiteY3" fmla="*/ 4945992 h 5867335"/>
              <a:gd name="connsiteX4" fmla="*/ 9974275 w 12192000"/>
              <a:gd name="connsiteY4" fmla="*/ 5867335 h 5867335"/>
              <a:gd name="connsiteX5" fmla="*/ 9974275 w 12192000"/>
              <a:gd name="connsiteY5" fmla="*/ 4945992 h 5867335"/>
              <a:gd name="connsiteX6" fmla="*/ 12192000 w 12192000"/>
              <a:gd name="connsiteY6" fmla="*/ 4945992 h 586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92000" h="5867335">
                <a:moveTo>
                  <a:pt x="12192000" y="0"/>
                </a:moveTo>
                <a:lnTo>
                  <a:pt x="0" y="0"/>
                </a:lnTo>
                <a:lnTo>
                  <a:pt x="0" y="4945992"/>
                </a:lnTo>
                <a:lnTo>
                  <a:pt x="9041587" y="4945992"/>
                </a:lnTo>
                <a:lnTo>
                  <a:pt x="9974275" y="5867335"/>
                </a:lnTo>
                <a:lnTo>
                  <a:pt x="9974275" y="4945992"/>
                </a:lnTo>
                <a:lnTo>
                  <a:pt x="12192000" y="4945992"/>
                </a:lnTo>
                <a:close/>
              </a:path>
            </a:pathLst>
          </a:custGeom>
          <a:solidFill>
            <a:schemeClr val="tx2"/>
          </a:solidFill>
          <a:ln>
            <a:noFill/>
          </a:ln>
          <a:effectLst/>
        </p:spPr>
        <p:txBody>
          <a:bodyPr vert="horz" wrap="square" lIns="91440" tIns="45720" rIns="91440" bIns="45720" numCol="1" anchor="t" anchorCtr="0" compatLnSpc="1">
            <a:prstTxWarp prst="textNoShape">
              <a:avLst/>
            </a:prstTxWarp>
            <a:noAutofit/>
          </a:bodyPr>
          <a:lstStyle/>
          <a:p>
            <a:endParaRPr lang="en-US">
              <a:latin typeface="+mn-lt"/>
              <a:sym typeface="Trebuchet MS" panose="020B0603020202020204" pitchFamily="34" charset="0"/>
            </a:endParaRPr>
          </a:p>
        </p:txBody>
      </p:sp>
    </p:spTree>
    <p:extLst>
      <p:ext uri="{BB962C8B-B14F-4D97-AF65-F5344CB8AC3E}">
        <p14:creationId xmlns:p14="http://schemas.microsoft.com/office/powerpoint/2010/main" val="246244709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00.xml><?xml version="1.0" encoding="utf-8"?>
<p:sldLayout xmlns:a="http://schemas.openxmlformats.org/drawingml/2006/main" xmlns:r="http://schemas.openxmlformats.org/officeDocument/2006/relationships" xmlns:p="http://schemas.openxmlformats.org/presentationml/2006/main" showMasterSp="0" preserve="1" userDrawn="1">
  <p:cSld name="Special gray">
    <p:bg>
      <p:bgPr>
        <a:solidFill>
          <a:schemeClr val="tx1">
            <a:lumMod val="50000"/>
          </a:schemeClr>
        </a:solidFill>
        <a:effectLst/>
      </p:bgPr>
    </p:bg>
    <p:spTree>
      <p:nvGrpSpPr>
        <p:cNvPr id="1" name=""/>
        <p:cNvGrpSpPr/>
        <p:nvPr/>
      </p:nvGrpSpPr>
      <p:grpSpPr>
        <a:xfrm>
          <a:off x="0" y="0"/>
          <a:ext cx="0" cy="0"/>
          <a:chOff x="0" y="0"/>
          <a:chExt cx="0" cy="0"/>
        </a:xfrm>
      </p:grpSpPr>
      <p:sp>
        <p:nvSpPr>
          <p:cNvPr id="5" name="TextBox 4"/>
          <p:cNvSpPr txBox="1"/>
          <p:nvPr userDrawn="1"/>
        </p:nvSpPr>
        <p:spPr bwMode="white">
          <a:xfrm>
            <a:off x="11167872" y="6404400"/>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
        <p:nvSpPr>
          <p:cNvPr id="2" name="Date Placeholder 1"/>
          <p:cNvSpPr>
            <a:spLocks noGrp="1"/>
          </p:cNvSpPr>
          <p:nvPr>
            <p:ph type="dt" sz="half" idx="14"/>
          </p:nvPr>
        </p:nvSpPr>
        <p:spPr bwMode="white">
          <a:xfrm>
            <a:off x="9677400" y="6405036"/>
            <a:ext cx="1482051" cy="153888"/>
          </a:xfrm>
          <a:prstGeom prst="rect">
            <a:avLst/>
          </a:prstGeom>
        </p:spPr>
        <p:txBody>
          <a:bodyPr/>
          <a:lstStyle>
            <a:lvl1pPr>
              <a:defRPr>
                <a:solidFill>
                  <a:schemeClr val="bg1"/>
                </a:solidFill>
                <a:latin typeface="+mn-lt"/>
                <a:sym typeface="Trebuchet MS" panose="020B0603020202020204" pitchFamily="34" charset="0"/>
              </a:defRPr>
            </a:lvl1pPr>
          </a:lstStyle>
          <a:p>
            <a:endParaRPr lang="en-US"/>
          </a:p>
        </p:txBody>
      </p:sp>
      <p:sp>
        <p:nvSpPr>
          <p:cNvPr id="11"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2022 by Boston Consulting Group. All rights reserved.</a:t>
            </a:r>
          </a:p>
        </p:txBody>
      </p:sp>
      <p:sp>
        <p:nvSpPr>
          <p:cNvPr id="4" name="Title 3"/>
          <p:cNvSpPr>
            <a:spLocks noGrp="1"/>
          </p:cNvSpPr>
          <p:nvPr>
            <p:ph type="title" hasCustomPrompt="1"/>
          </p:nvPr>
        </p:nvSpPr>
        <p:spPr>
          <a:xfrm>
            <a:off x="630000" y="622800"/>
            <a:ext cx="10933200" cy="470898"/>
          </a:xfrm>
        </p:spPr>
        <p:txBody>
          <a:bodyPr/>
          <a:lstStyle>
            <a:lvl1pPr>
              <a:defRPr sz="3400">
                <a:solidFill>
                  <a:schemeClr val="bg1"/>
                </a:solidFill>
                <a:latin typeface="+mj-lt"/>
                <a:sym typeface="Trebuchet MS" panose="020B0603020202020204" pitchFamily="34" charset="0"/>
              </a:defRPr>
            </a:lvl1pPr>
          </a:lstStyle>
          <a:p>
            <a:r>
              <a:rPr lang="en-US"/>
              <a:t>Click to add title</a:t>
            </a:r>
          </a:p>
        </p:txBody>
      </p:sp>
    </p:spTree>
    <p:extLst>
      <p:ext uri="{BB962C8B-B14F-4D97-AF65-F5344CB8AC3E}">
        <p14:creationId xmlns:p14="http://schemas.microsoft.com/office/powerpoint/2010/main" val="94779778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01.xml><?xml version="1.0" encoding="utf-8"?>
<p:sldLayout xmlns:a="http://schemas.openxmlformats.org/drawingml/2006/main" xmlns:r="http://schemas.openxmlformats.org/officeDocument/2006/relationships" xmlns:p="http://schemas.openxmlformats.org/presentationml/2006/main" type="blank" preserve="1">
  <p:cSld name="Blank">
    <p:bg>
      <p:bgPr>
        <a:solidFill>
          <a:schemeClr val="bg2"/>
        </a:solidFill>
        <a:effectLst/>
      </p:bgPr>
    </p:bg>
    <p:spTree>
      <p:nvGrpSpPr>
        <p:cNvPr id="1" name=""/>
        <p:cNvGrpSpPr/>
        <p:nvPr/>
      </p:nvGrpSpPr>
      <p:grpSpPr>
        <a:xfrm>
          <a:off x="0" y="0"/>
          <a:ext cx="0" cy="0"/>
          <a:chOff x="0" y="0"/>
          <a:chExt cx="0" cy="0"/>
        </a:xfrm>
      </p:grpSpPr>
      <p:sp>
        <p:nvSpPr>
          <p:cNvPr id="5" name="Date Placeholder 4"/>
          <p:cNvSpPr>
            <a:spLocks noGrp="1"/>
          </p:cNvSpPr>
          <p:nvPr>
            <p:ph type="dt" sz="half" idx="12"/>
          </p:nvPr>
        </p:nvSpPr>
        <p:spPr>
          <a:xfrm>
            <a:off x="9677400" y="6405036"/>
            <a:ext cx="1482051" cy="153888"/>
          </a:xfrm>
          <a:prstGeom prst="rect">
            <a:avLst/>
          </a:prstGeom>
        </p:spPr>
        <p:txBody>
          <a:bodyPr/>
          <a:lstStyle>
            <a:lvl1pPr>
              <a:defRPr>
                <a:solidFill>
                  <a:schemeClr val="bg1">
                    <a:lumMod val="50000"/>
                  </a:schemeClr>
                </a:solidFill>
                <a:latin typeface="+mn-lt"/>
                <a:sym typeface="Trebuchet MS" panose="020B0603020202020204" pitchFamily="34" charset="0"/>
              </a:defRPr>
            </a:lvl1pPr>
          </a:lstStyle>
          <a:p>
            <a:endParaRPr lang="en-US"/>
          </a:p>
        </p:txBody>
      </p:sp>
      <p:sp>
        <p:nvSpPr>
          <p:cNvPr id="7"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2022 by Boston Consulting Group. All rights reserved.</a:t>
            </a:r>
          </a:p>
        </p:txBody>
      </p:sp>
    </p:spTree>
    <p:extLst>
      <p:ext uri="{BB962C8B-B14F-4D97-AF65-F5344CB8AC3E}">
        <p14:creationId xmlns:p14="http://schemas.microsoft.com/office/powerpoint/2010/main" val="23273267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02.xml><?xml version="1.0" encoding="utf-8"?>
<p:sldLayout xmlns:a="http://schemas.openxmlformats.org/drawingml/2006/main" xmlns:r="http://schemas.openxmlformats.org/officeDocument/2006/relationships" xmlns:p="http://schemas.openxmlformats.org/presentationml/2006/main" showMasterSp="0" preserve="1" userDrawn="1">
  <p:cSld name="Blank green">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sp>
        <p:nvSpPr>
          <p:cNvPr id="7" name="TextBox 6"/>
          <p:cNvSpPr txBox="1"/>
          <p:nvPr userDrawn="1"/>
        </p:nvSpPr>
        <p:spPr bwMode="white">
          <a:xfrm>
            <a:off x="11167872" y="6404400"/>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
        <p:nvSpPr>
          <p:cNvPr id="2" name="Date Placeholder 1"/>
          <p:cNvSpPr>
            <a:spLocks noGrp="1"/>
          </p:cNvSpPr>
          <p:nvPr>
            <p:ph type="dt" sz="half" idx="12"/>
          </p:nvPr>
        </p:nvSpPr>
        <p:spPr>
          <a:xfrm>
            <a:off x="9677400" y="6405036"/>
            <a:ext cx="1482051" cy="153888"/>
          </a:xfrm>
          <a:prstGeom prst="rect">
            <a:avLst/>
          </a:prstGeom>
        </p:spPr>
        <p:txBody>
          <a:bodyPr/>
          <a:lstStyle>
            <a:lvl1pPr>
              <a:defRPr>
                <a:solidFill>
                  <a:schemeClr val="bg1"/>
                </a:solidFill>
                <a:latin typeface="+mn-lt"/>
                <a:sym typeface="Trebuchet MS" panose="020B0603020202020204" pitchFamily="34" charset="0"/>
              </a:defRPr>
            </a:lvl1pPr>
          </a:lstStyle>
          <a:p>
            <a:endParaRPr lang="en-US"/>
          </a:p>
        </p:txBody>
      </p:sp>
      <p:sp>
        <p:nvSpPr>
          <p:cNvPr id="9"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2022 by Boston Consulting Group. All rights reserved.</a:t>
            </a:r>
          </a:p>
        </p:txBody>
      </p:sp>
    </p:spTree>
    <p:extLst>
      <p:ext uri="{BB962C8B-B14F-4D97-AF65-F5344CB8AC3E}">
        <p14:creationId xmlns:p14="http://schemas.microsoft.com/office/powerpoint/2010/main" val="125685811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p:cSld name="Disclaimer">
    <p:bg>
      <p:bgPr>
        <a:solidFill>
          <a:schemeClr val="bg2"/>
        </a:solidFill>
        <a:effectLst/>
      </p:bgPr>
    </p:bg>
    <p:spTree>
      <p:nvGrpSpPr>
        <p:cNvPr id="1" name=""/>
        <p:cNvGrpSpPr/>
        <p:nvPr/>
      </p:nvGrpSpPr>
      <p:grpSpPr>
        <a:xfrm>
          <a:off x="0" y="0"/>
          <a:ext cx="0" cy="0"/>
          <a:chOff x="0" y="0"/>
          <a:chExt cx="0" cy="0"/>
        </a:xfrm>
      </p:grpSpPr>
      <p:sp>
        <p:nvSpPr>
          <p:cNvPr id="6" name="Rectangle 5"/>
          <p:cNvSpPr/>
          <p:nvPr/>
        </p:nvSpPr>
        <p:spPr>
          <a:xfrm>
            <a:off x="5021826" y="1664256"/>
            <a:ext cx="6209072" cy="3323987"/>
          </a:xfrm>
          <a:prstGeom prst="rect">
            <a:avLst/>
          </a:prstGeom>
        </p:spPr>
        <p:txBody>
          <a:bodyPr wrap="square" lIns="0" tIns="0" rIns="0" bIns="0" anchor="ctr">
            <a:spAutoFit/>
          </a:bodyPr>
          <a:lstStyle/>
          <a:p>
            <a:pPr indent="0">
              <a:lnSpc>
                <a:spcPct val="100000"/>
              </a:lnSpc>
            </a:pPr>
            <a:r>
              <a:rPr lang="en-US" sz="900" b="0">
                <a:latin typeface="+mn-lt"/>
                <a:sym typeface="Trebuchet MS" panose="020B0603020202020204" pitchFamily="34" charset="0"/>
              </a:rPr>
              <a:t>The services and materials provided by Boston Consulting Group (BCG) are subject to BCG's Standard Terms </a:t>
            </a:r>
            <a:br>
              <a:rPr lang="en-US" sz="900" b="0">
                <a:latin typeface="+mn-lt"/>
                <a:sym typeface="Trebuchet MS" panose="020B0603020202020204" pitchFamily="34" charset="0"/>
              </a:rPr>
            </a:br>
            <a:r>
              <a:rPr lang="en-US" sz="900" b="0">
                <a:latin typeface="+mn-lt"/>
                <a:sym typeface="Trebuchet MS" panose="020B0603020202020204" pitchFamily="34" charset="0"/>
              </a:rPr>
              <a:t>(a copy of which is available upon request) or such other agreement as may have been previously executed by BCG. BCG does not provide legal, accounting, or tax advice. The Client is responsible for obtaining independent advice concerning these matters. This advice may affect the guidance given by BCG. Further, BCG has made no undertaking </a:t>
            </a:r>
            <a:br>
              <a:rPr lang="en-US" sz="900" b="0">
                <a:latin typeface="+mn-lt"/>
                <a:sym typeface="Trebuchet MS" panose="020B0603020202020204" pitchFamily="34" charset="0"/>
              </a:rPr>
            </a:br>
            <a:r>
              <a:rPr lang="en-US" sz="900" b="0">
                <a:latin typeface="+mn-lt"/>
                <a:sym typeface="Trebuchet MS" panose="020B0603020202020204" pitchFamily="34" charset="0"/>
              </a:rPr>
              <a:t>to update these materials after the date hereof, notwithstanding that such information may become outdated </a:t>
            </a:r>
            <a:br>
              <a:rPr lang="en-US" sz="900" b="0">
                <a:latin typeface="+mn-lt"/>
                <a:sym typeface="Trebuchet MS" panose="020B0603020202020204" pitchFamily="34" charset="0"/>
              </a:rPr>
            </a:br>
            <a:r>
              <a:rPr lang="en-US" sz="900" b="0">
                <a:latin typeface="+mn-lt"/>
                <a:sym typeface="Trebuchet MS" panose="020B0603020202020204" pitchFamily="34" charset="0"/>
              </a:rPr>
              <a:t>or inaccurate.</a:t>
            </a:r>
          </a:p>
          <a:p>
            <a:pPr indent="0">
              <a:lnSpc>
                <a:spcPct val="100000"/>
              </a:lnSpc>
            </a:pPr>
            <a:r>
              <a:rPr lang="en-US" sz="900" b="0">
                <a:latin typeface="+mn-lt"/>
                <a:sym typeface="Trebuchet MS" panose="020B0603020202020204" pitchFamily="34" charset="0"/>
              </a:rPr>
              <a:t> </a:t>
            </a:r>
          </a:p>
          <a:p>
            <a:pPr indent="0">
              <a:lnSpc>
                <a:spcPct val="100000"/>
              </a:lnSpc>
            </a:pPr>
            <a:r>
              <a:rPr lang="en-US" sz="900" b="0">
                <a:latin typeface="+mn-lt"/>
                <a:sym typeface="Trebuchet MS" panose="020B0603020202020204" pitchFamily="34" charset="0"/>
              </a:rPr>
              <a:t>The materials contained in this presentation are designed for the sole use by the board of directors or senior management of the Client and solely for the limited purposes described in the presentation. The materials shall not be copied or given to any person or entity other than the Client (“Third Party”) without the prior written consent of BCG. These materials serve only as the focus for discussion; they are incomplete without the accompanying oral commentary and may not be relied on as a stand-alone document. Further, Third Parties may not, and it is unreasonable for any Third Party to, rely on these materials for any purpose whatsoever. To the fullest extent permitted by law (and except to the extent otherwise agreed in a signed writing by BCG), BCG shall have no liability whatsoever to any Third Party, and any Third Party hereby waives any rights and claims it may have at any time against BCG with regard to the services, this presentation, or other materials, including the accuracy or completeness thereof. Receipt and review of this document shall be deemed agreement with and consideration for the foregoing.</a:t>
            </a:r>
          </a:p>
          <a:p>
            <a:pPr indent="0">
              <a:lnSpc>
                <a:spcPct val="100000"/>
              </a:lnSpc>
            </a:pPr>
            <a:endParaRPr lang="en-US" sz="900" b="0">
              <a:latin typeface="+mn-lt"/>
              <a:sym typeface="Trebuchet MS" panose="020B0603020202020204" pitchFamily="34" charset="0"/>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900" b="0">
                <a:latin typeface="+mn-lt"/>
                <a:sym typeface="Trebuchet MS" panose="020B0603020202020204" pitchFamily="34" charset="0"/>
              </a:rPr>
              <a:t>BCG does not provide fairness opinions or valuations of market transactions, and these materials should not be relied on or construed as such. Further, the financial evaluations, projected market and financial information, and conclusions contained in these materials are based upon standard valuation methodologies, are not definitive forecasts, and are not guaranteed by BCG. BCG has used public and/or confidential data and assumptions provided to BCG by the Client. BCG has not independently verified the data and assumptions used in these analyses. Changes in the underlying data or operating assumptions will clearly impact the analyses and conclusions.</a:t>
            </a:r>
          </a:p>
        </p:txBody>
      </p:sp>
      <p:sp>
        <p:nvSpPr>
          <p:cNvPr id="7" name="Title 6"/>
          <p:cNvSpPr txBox="1">
            <a:spLocks/>
          </p:cNvSpPr>
          <p:nvPr/>
        </p:nvSpPr>
        <p:spPr>
          <a:xfrm>
            <a:off x="639044" y="2973076"/>
            <a:ext cx="3199529" cy="706347"/>
          </a:xfrm>
          <a:prstGeom prst="rect">
            <a:avLst/>
          </a:prstGeom>
        </p:spPr>
        <p:txBody>
          <a:bodyPr vert="horz" wrap="square" lIns="0" tIns="0" rIns="0" bIns="0" rtlCol="0" anchor="ctr">
            <a:sp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defRPr>
            </a:lvl1pPr>
          </a:lstStyle>
          <a:p>
            <a:r>
              <a:rPr lang="en-US" sz="5100">
                <a:gradFill>
                  <a:gsLst>
                    <a:gs pos="100000">
                      <a:schemeClr val="tx2"/>
                    </a:gs>
                    <a:gs pos="2000">
                      <a:schemeClr val="accent2"/>
                    </a:gs>
                  </a:gsLst>
                  <a:lin ang="2700000" scaled="0"/>
                </a:gradFill>
                <a:latin typeface="+mn-lt"/>
                <a:sym typeface="Trebuchet MS" panose="020B0603020202020204" pitchFamily="34" charset="0"/>
              </a:rPr>
              <a:t>Disclaimer</a:t>
            </a:r>
          </a:p>
        </p:txBody>
      </p:sp>
      <p:cxnSp>
        <p:nvCxnSpPr>
          <p:cNvPr id="9" name="Straight Connector 8"/>
          <p:cNvCxnSpPr/>
          <p:nvPr/>
        </p:nvCxnSpPr>
        <p:spPr>
          <a:xfrm>
            <a:off x="4367898" y="1630185"/>
            <a:ext cx="0" cy="3392129"/>
          </a:xfrm>
          <a:prstGeom prst="line">
            <a:avLst/>
          </a:prstGeom>
          <a:ln w="9525">
            <a:solidFill>
              <a:schemeClr val="tx2"/>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 name="Date Placeholder 1"/>
          <p:cNvSpPr>
            <a:spLocks noGrp="1"/>
          </p:cNvSpPr>
          <p:nvPr>
            <p:ph type="dt" sz="half" idx="10"/>
          </p:nvPr>
        </p:nvSpPr>
        <p:spPr>
          <a:xfrm>
            <a:off x="9677400" y="6405036"/>
            <a:ext cx="1482051" cy="153888"/>
          </a:xfrm>
          <a:prstGeom prst="rect">
            <a:avLst/>
          </a:prstGeom>
        </p:spPr>
        <p:txBody>
          <a:bodyPr/>
          <a:lstStyle>
            <a:lvl1pPr>
              <a:defRPr>
                <a:solidFill>
                  <a:schemeClr val="bg1">
                    <a:lumMod val="50000"/>
                  </a:schemeClr>
                </a:solidFill>
                <a:latin typeface="+mn-lt"/>
                <a:sym typeface="Trebuchet MS" panose="020B0603020202020204" pitchFamily="34" charset="0"/>
              </a:defRPr>
            </a:lvl1pPr>
          </a:lstStyle>
          <a:p>
            <a:endParaRPr lang="en-US"/>
          </a:p>
        </p:txBody>
      </p:sp>
      <p:sp>
        <p:nvSpPr>
          <p:cNvPr id="10"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2022 by Boston Consulting Group. All rights reserved.</a:t>
            </a:r>
          </a:p>
        </p:txBody>
      </p:sp>
    </p:spTree>
    <p:extLst>
      <p:ext uri="{BB962C8B-B14F-4D97-AF65-F5344CB8AC3E}">
        <p14:creationId xmlns:p14="http://schemas.microsoft.com/office/powerpoint/2010/main" val="9762931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04.xml><?xml version="1.0" encoding="utf-8"?>
<p:sldLayout xmlns:a="http://schemas.openxmlformats.org/drawingml/2006/main" xmlns:r="http://schemas.openxmlformats.org/officeDocument/2006/relationships" xmlns:p="http://schemas.openxmlformats.org/presentationml/2006/main" showMasterSp="0" type="blank" preserve="1">
  <p:cSld name="End">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1"/>
            </p:custDataLst>
            <p:extLst>
              <p:ext uri="{D42A27DB-BD31-4B8C-83A1-F6EECF244321}">
                <p14:modId xmlns:p14="http://schemas.microsoft.com/office/powerpoint/2010/main" val="735369323"/>
              </p:ext>
            </p:ext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384" imgH="384" progId="TCLayout.ActiveDocument.1">
                  <p:embed/>
                </p:oleObj>
              </mc:Choice>
              <mc:Fallback>
                <p:oleObj name="think-cell Slide" r:id="rId5" imgW="384" imgH="384" progId="TCLayout.ActiveDocument.1">
                  <p:embed/>
                  <p:pic>
                    <p:nvPicPr>
                      <p:cNvPr id="2" name="Object 1" hidden="1"/>
                      <p:cNvPicPr/>
                      <p:nvPr/>
                    </p:nvPicPr>
                    <p:blipFill>
                      <a:blip r:embed="rId6"/>
                      <a:stretch>
                        <a:fillRect/>
                      </a:stretch>
                    </p:blipFill>
                    <p:spPr>
                      <a:xfrm>
                        <a:off x="1588" y="1588"/>
                        <a:ext cx="1587" cy="1587"/>
                      </a:xfrm>
                      <a:prstGeom prst="rect">
                        <a:avLst/>
                      </a:prstGeom>
                    </p:spPr>
                  </p:pic>
                </p:oleObj>
              </mc:Fallback>
            </mc:AlternateContent>
          </a:graphicData>
        </a:graphic>
      </p:graphicFrame>
      <p:pic>
        <p:nvPicPr>
          <p:cNvPr id="9" name="TitleAndEndImages"/>
          <p:cNvPicPr>
            <a:picLocks noChangeAspect="1"/>
          </p:cNvPicPr>
          <p:nvPr userDrawn="1">
            <p:custDataLst>
              <p:tags r:id="rId2"/>
            </p:custDataLst>
          </p:nvPr>
        </p:nvPicPr>
        <p:blipFill>
          <a:blip r:embed="rId7">
            <a:extLst>
              <a:ext uri="{28A0092B-C50C-407E-A947-70E740481C1C}">
                <a14:useLocalDpi xmlns:a14="http://schemas.microsoft.com/office/drawing/2010/main" val="0"/>
              </a:ext>
            </a:extLst>
          </a:blip>
          <a:stretch>
            <a:fillRect/>
          </a:stretch>
        </p:blipFill>
        <p:spPr>
          <a:xfrm flipH="1">
            <a:off x="0" y="0"/>
            <a:ext cx="12192000" cy="6858000"/>
          </a:xfrm>
          <a:prstGeom prst="rect">
            <a:avLst/>
          </a:prstGeom>
        </p:spPr>
      </p:pic>
      <p:sp>
        <p:nvSpPr>
          <p:cNvPr id="8" name="Rectangle 7"/>
          <p:cNvSpPr/>
          <p:nvPr userDrawn="1"/>
        </p:nvSpPr>
        <p:spPr bwMode="black">
          <a:xfrm>
            <a:off x="630936" y="626200"/>
            <a:ext cx="8125200" cy="5529600"/>
          </a:xfrm>
          <a:prstGeom prst="rect">
            <a:avLst/>
          </a:prstGeom>
          <a:gradFill flip="none" rotWithShape="1">
            <a:gsLst>
              <a:gs pos="0">
                <a:schemeClr val="accent1">
                  <a:alpha val="90000"/>
                </a:schemeClr>
              </a:gs>
              <a:gs pos="100000">
                <a:schemeClr val="tx2">
                  <a:alpha val="90000"/>
                </a:schemeClr>
              </a:gs>
            </a:gsLst>
            <a:lin ang="189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lnSpc>
                <a:spcPct val="95000"/>
              </a:lnSpc>
            </a:pPr>
            <a:endParaRPr lang="en-US" sz="2000">
              <a:solidFill>
                <a:prstClr val="white"/>
              </a:solidFill>
              <a:latin typeface="+mn-lt"/>
              <a:sym typeface="Trebuchet MS" panose="020B0603020202020204" pitchFamily="34" charset="0"/>
            </a:endParaRPr>
          </a:p>
        </p:txBody>
      </p:sp>
      <p:sp>
        <p:nvSpPr>
          <p:cNvPr id="15" name="TextBox 14"/>
          <p:cNvSpPr txBox="1"/>
          <p:nvPr/>
        </p:nvSpPr>
        <p:spPr bwMode="white">
          <a:xfrm>
            <a:off x="924979" y="5715178"/>
            <a:ext cx="840801" cy="170110"/>
          </a:xfrm>
          <a:prstGeom prst="rect">
            <a:avLst/>
          </a:prstGeom>
          <a:noFill/>
        </p:spPr>
        <p:txBody>
          <a:bodyPr wrap="none" lIns="0" tIns="0" rIns="0" bIns="0" rtlCol="0" anchor="b">
            <a:noAutofit/>
          </a:bodyPr>
          <a:lstStyle/>
          <a:p>
            <a:pPr>
              <a:lnSpc>
                <a:spcPct val="90000"/>
              </a:lnSpc>
              <a:spcAft>
                <a:spcPts val="600"/>
              </a:spcAft>
            </a:pPr>
            <a:r>
              <a:rPr lang="en-US" sz="1200">
                <a:solidFill>
                  <a:schemeClr val="bg1"/>
                </a:solidFill>
                <a:latin typeface="+mn-lt"/>
                <a:sym typeface="Trebuchet MS" panose="020B0603020202020204" pitchFamily="34" charset="0"/>
              </a:rPr>
              <a:t>bcg.com</a:t>
            </a:r>
          </a:p>
        </p:txBody>
      </p:sp>
      <p:sp>
        <p:nvSpPr>
          <p:cNvPr id="7" name="Freeform 6"/>
          <p:cNvSpPr>
            <a:spLocks noChangeAspect="1"/>
          </p:cNvSpPr>
          <p:nvPr userDrawn="1">
            <p:custDataLst>
              <p:tags r:id="rId3"/>
            </p:custDataLst>
          </p:nvPr>
        </p:nvSpPr>
        <p:spPr bwMode="auto">
          <a:xfrm>
            <a:off x="2676858" y="2969513"/>
            <a:ext cx="4033357" cy="842974"/>
          </a:xfrm>
          <a:custGeom>
            <a:avLst/>
            <a:gdLst>
              <a:gd name="connsiteX0" fmla="*/ 8982072 w 11499847"/>
              <a:gd name="connsiteY0" fmla="*/ 1919288 h 2403475"/>
              <a:gd name="connsiteX1" fmla="*/ 8982072 w 11499847"/>
              <a:gd name="connsiteY1" fmla="*/ 2105026 h 2403475"/>
              <a:gd name="connsiteX2" fmla="*/ 9098233 w 11499847"/>
              <a:gd name="connsiteY2" fmla="*/ 2105026 h 2403475"/>
              <a:gd name="connsiteX3" fmla="*/ 9164880 w 11499847"/>
              <a:gd name="connsiteY3" fmla="*/ 2080233 h 2403475"/>
              <a:gd name="connsiteX4" fmla="*/ 9191622 w 11499847"/>
              <a:gd name="connsiteY4" fmla="*/ 2011737 h 2403475"/>
              <a:gd name="connsiteX5" fmla="*/ 9164880 w 11499847"/>
              <a:gd name="connsiteY5" fmla="*/ 1944501 h 2403475"/>
              <a:gd name="connsiteX6" fmla="*/ 9098233 w 11499847"/>
              <a:gd name="connsiteY6" fmla="*/ 1919288 h 2403475"/>
              <a:gd name="connsiteX7" fmla="*/ 8982072 w 11499847"/>
              <a:gd name="connsiteY7" fmla="*/ 1919288 h 2403475"/>
              <a:gd name="connsiteX8" fmla="*/ 7280272 w 11499847"/>
              <a:gd name="connsiteY8" fmla="*/ 1919288 h 2403475"/>
              <a:gd name="connsiteX9" fmla="*/ 7280272 w 11499847"/>
              <a:gd name="connsiteY9" fmla="*/ 2097088 h 2403475"/>
              <a:gd name="connsiteX10" fmla="*/ 7404503 w 11499847"/>
              <a:gd name="connsiteY10" fmla="*/ 2097088 h 2403475"/>
              <a:gd name="connsiteX11" fmla="*/ 7469027 w 11499847"/>
              <a:gd name="connsiteY11" fmla="*/ 2073423 h 2403475"/>
              <a:gd name="connsiteX12" fmla="*/ 7494585 w 11499847"/>
              <a:gd name="connsiteY12" fmla="*/ 2008502 h 2403475"/>
              <a:gd name="connsiteX13" fmla="*/ 7469027 w 11499847"/>
              <a:gd name="connsiteY13" fmla="*/ 1943581 h 2403475"/>
              <a:gd name="connsiteX14" fmla="*/ 7404503 w 11499847"/>
              <a:gd name="connsiteY14" fmla="*/ 1919288 h 2403475"/>
              <a:gd name="connsiteX15" fmla="*/ 7280272 w 11499847"/>
              <a:gd name="connsiteY15" fmla="*/ 1919288 h 2403475"/>
              <a:gd name="connsiteX16" fmla="*/ 7945015 w 11499847"/>
              <a:gd name="connsiteY16" fmla="*/ 1909763 h 2403475"/>
              <a:gd name="connsiteX17" fmla="*/ 7813574 w 11499847"/>
              <a:gd name="connsiteY17" fmla="*/ 1965330 h 2403475"/>
              <a:gd name="connsiteX18" fmla="*/ 7759697 w 11499847"/>
              <a:gd name="connsiteY18" fmla="*/ 2100368 h 2403475"/>
              <a:gd name="connsiteX19" fmla="*/ 7813574 w 11499847"/>
              <a:gd name="connsiteY19" fmla="*/ 2235406 h 2403475"/>
              <a:gd name="connsiteX20" fmla="*/ 7945015 w 11499847"/>
              <a:gd name="connsiteY20" fmla="*/ 2290763 h 2403475"/>
              <a:gd name="connsiteX21" fmla="*/ 8077086 w 11499847"/>
              <a:gd name="connsiteY21" fmla="*/ 2235825 h 2403475"/>
              <a:gd name="connsiteX22" fmla="*/ 8131172 w 11499847"/>
              <a:gd name="connsiteY22" fmla="*/ 2100368 h 2403475"/>
              <a:gd name="connsiteX23" fmla="*/ 8076876 w 11499847"/>
              <a:gd name="connsiteY23" fmla="*/ 1965330 h 2403475"/>
              <a:gd name="connsiteX24" fmla="*/ 7945015 w 11499847"/>
              <a:gd name="connsiteY24" fmla="*/ 1909763 h 2403475"/>
              <a:gd name="connsiteX25" fmla="*/ 8899522 w 11499847"/>
              <a:gd name="connsiteY25" fmla="*/ 1844675 h 2403475"/>
              <a:gd name="connsiteX26" fmla="*/ 9098598 w 11499847"/>
              <a:gd name="connsiteY26" fmla="*/ 1844675 h 2403475"/>
              <a:gd name="connsiteX27" fmla="*/ 9228521 w 11499847"/>
              <a:gd name="connsiteY27" fmla="*/ 1892741 h 2403475"/>
              <a:gd name="connsiteX28" fmla="*/ 9277347 w 11499847"/>
              <a:gd name="connsiteY28" fmla="*/ 2011236 h 2403475"/>
              <a:gd name="connsiteX29" fmla="*/ 9228521 w 11499847"/>
              <a:gd name="connsiteY29" fmla="*/ 2129521 h 2403475"/>
              <a:gd name="connsiteX30" fmla="*/ 9098598 w 11499847"/>
              <a:gd name="connsiteY30" fmla="*/ 2177796 h 2403475"/>
              <a:gd name="connsiteX31" fmla="*/ 8982086 w 11499847"/>
              <a:gd name="connsiteY31" fmla="*/ 2177796 h 2403475"/>
              <a:gd name="connsiteX32" fmla="*/ 8982086 w 11499847"/>
              <a:gd name="connsiteY32" fmla="*/ 2355850 h 2403475"/>
              <a:gd name="connsiteX33" fmla="*/ 8899522 w 11499847"/>
              <a:gd name="connsiteY33" fmla="*/ 2355850 h 2403475"/>
              <a:gd name="connsiteX34" fmla="*/ 8899522 w 11499847"/>
              <a:gd name="connsiteY34" fmla="*/ 1844675 h 2403475"/>
              <a:gd name="connsiteX35" fmla="*/ 8324847 w 11499847"/>
              <a:gd name="connsiteY35" fmla="*/ 1844675 h 2403475"/>
              <a:gd name="connsiteX36" fmla="*/ 8407608 w 11499847"/>
              <a:gd name="connsiteY36" fmla="*/ 1844675 h 2403475"/>
              <a:gd name="connsiteX37" fmla="*/ 8407608 w 11499847"/>
              <a:gd name="connsiteY37" fmla="*/ 2158090 h 2403475"/>
              <a:gd name="connsiteX38" fmla="*/ 8443017 w 11499847"/>
              <a:gd name="connsiteY38" fmla="*/ 2252595 h 2403475"/>
              <a:gd name="connsiteX39" fmla="*/ 8537931 w 11499847"/>
              <a:gd name="connsiteY39" fmla="*/ 2291066 h 2403475"/>
              <a:gd name="connsiteX40" fmla="*/ 8631797 w 11499847"/>
              <a:gd name="connsiteY40" fmla="*/ 2252595 h 2403475"/>
              <a:gd name="connsiteX41" fmla="*/ 8667415 w 11499847"/>
              <a:gd name="connsiteY41" fmla="*/ 2158090 h 2403475"/>
              <a:gd name="connsiteX42" fmla="*/ 8667415 w 11499847"/>
              <a:gd name="connsiteY42" fmla="*/ 1844675 h 2403475"/>
              <a:gd name="connsiteX43" fmla="*/ 8748710 w 11499847"/>
              <a:gd name="connsiteY43" fmla="*/ 1844675 h 2403475"/>
              <a:gd name="connsiteX44" fmla="*/ 8748710 w 11499847"/>
              <a:gd name="connsiteY44" fmla="*/ 2158717 h 2403475"/>
              <a:gd name="connsiteX45" fmla="*/ 8688577 w 11499847"/>
              <a:gd name="connsiteY45" fmla="*/ 2307793 h 2403475"/>
              <a:gd name="connsiteX46" fmla="*/ 8537093 w 11499847"/>
              <a:gd name="connsiteY46" fmla="*/ 2366963 h 2403475"/>
              <a:gd name="connsiteX47" fmla="*/ 8385399 w 11499847"/>
              <a:gd name="connsiteY47" fmla="*/ 2307793 h 2403475"/>
              <a:gd name="connsiteX48" fmla="*/ 8324847 w 11499847"/>
              <a:gd name="connsiteY48" fmla="*/ 2158717 h 2403475"/>
              <a:gd name="connsiteX49" fmla="*/ 8324847 w 11499847"/>
              <a:gd name="connsiteY49" fmla="*/ 1844675 h 2403475"/>
              <a:gd name="connsiteX50" fmla="*/ 7197722 w 11499847"/>
              <a:gd name="connsiteY50" fmla="*/ 1844675 h 2403475"/>
              <a:gd name="connsiteX51" fmla="*/ 7404196 w 11499847"/>
              <a:gd name="connsiteY51" fmla="*/ 1844675 h 2403475"/>
              <a:gd name="connsiteX52" fmla="*/ 7531336 w 11499847"/>
              <a:gd name="connsiteY52" fmla="*/ 1891906 h 2403475"/>
              <a:gd name="connsiteX53" fmla="*/ 7578727 w 11499847"/>
              <a:gd name="connsiteY53" fmla="*/ 2008937 h 2403475"/>
              <a:gd name="connsiteX54" fmla="*/ 7548455 w 11499847"/>
              <a:gd name="connsiteY54" fmla="*/ 2106950 h 2403475"/>
              <a:gd name="connsiteX55" fmla="*/ 7464947 w 11499847"/>
              <a:gd name="connsiteY55" fmla="*/ 2161495 h 2403475"/>
              <a:gd name="connsiteX56" fmla="*/ 7525699 w 11499847"/>
              <a:gd name="connsiteY56" fmla="*/ 2258673 h 2403475"/>
              <a:gd name="connsiteX57" fmla="*/ 7586660 w 11499847"/>
              <a:gd name="connsiteY57" fmla="*/ 2355850 h 2403475"/>
              <a:gd name="connsiteX58" fmla="*/ 7491044 w 11499847"/>
              <a:gd name="connsiteY58" fmla="*/ 2355850 h 2403475"/>
              <a:gd name="connsiteX59" fmla="*/ 7434676 w 11499847"/>
              <a:gd name="connsiteY59" fmla="*/ 2263479 h 2403475"/>
              <a:gd name="connsiteX60" fmla="*/ 7378099 w 11499847"/>
              <a:gd name="connsiteY60" fmla="*/ 2171108 h 2403475"/>
              <a:gd name="connsiteX61" fmla="*/ 7280395 w 11499847"/>
              <a:gd name="connsiteY61" fmla="*/ 2171108 h 2403475"/>
              <a:gd name="connsiteX62" fmla="*/ 7280395 w 11499847"/>
              <a:gd name="connsiteY62" fmla="*/ 2355850 h 2403475"/>
              <a:gd name="connsiteX63" fmla="*/ 7197722 w 11499847"/>
              <a:gd name="connsiteY63" fmla="*/ 2355850 h 2403475"/>
              <a:gd name="connsiteX64" fmla="*/ 7197722 w 11499847"/>
              <a:gd name="connsiteY64" fmla="*/ 1844675 h 2403475"/>
              <a:gd name="connsiteX65" fmla="*/ 7945016 w 11499847"/>
              <a:gd name="connsiteY65" fmla="*/ 1833563 h 2403475"/>
              <a:gd name="connsiteX66" fmla="*/ 8136527 w 11499847"/>
              <a:gd name="connsiteY66" fmla="*/ 1911974 h 2403475"/>
              <a:gd name="connsiteX67" fmla="*/ 8215310 w 11499847"/>
              <a:gd name="connsiteY67" fmla="*/ 2100368 h 2403475"/>
              <a:gd name="connsiteX68" fmla="*/ 8136527 w 11499847"/>
              <a:gd name="connsiteY68" fmla="*/ 2288762 h 2403475"/>
              <a:gd name="connsiteX69" fmla="*/ 7945016 w 11499847"/>
              <a:gd name="connsiteY69" fmla="*/ 2366963 h 2403475"/>
              <a:gd name="connsiteX70" fmla="*/ 7754134 w 11499847"/>
              <a:gd name="connsiteY70" fmla="*/ 2288762 h 2403475"/>
              <a:gd name="connsiteX71" fmla="*/ 7675560 w 11499847"/>
              <a:gd name="connsiteY71" fmla="*/ 2100368 h 2403475"/>
              <a:gd name="connsiteX72" fmla="*/ 7754134 w 11499847"/>
              <a:gd name="connsiteY72" fmla="*/ 1911974 h 2403475"/>
              <a:gd name="connsiteX73" fmla="*/ 7945016 w 11499847"/>
              <a:gd name="connsiteY73" fmla="*/ 1833563 h 2403475"/>
              <a:gd name="connsiteX74" fmla="*/ 6834872 w 11499847"/>
              <a:gd name="connsiteY74" fmla="*/ 1833563 h 2403475"/>
              <a:gd name="connsiteX75" fmla="*/ 6921875 w 11499847"/>
              <a:gd name="connsiteY75" fmla="*/ 1845482 h 2403475"/>
              <a:gd name="connsiteX76" fmla="*/ 6996090 w 11499847"/>
              <a:gd name="connsiteY76" fmla="*/ 1881028 h 2403475"/>
              <a:gd name="connsiteX77" fmla="*/ 6974496 w 11499847"/>
              <a:gd name="connsiteY77" fmla="*/ 1914692 h 2403475"/>
              <a:gd name="connsiteX78" fmla="*/ 6952903 w 11499847"/>
              <a:gd name="connsiteY78" fmla="*/ 1948356 h 2403475"/>
              <a:gd name="connsiteX79" fmla="*/ 6897556 w 11499847"/>
              <a:gd name="connsiteY79" fmla="*/ 1919501 h 2403475"/>
              <a:gd name="connsiteX80" fmla="*/ 6834243 w 11499847"/>
              <a:gd name="connsiteY80" fmla="*/ 1910301 h 2403475"/>
              <a:gd name="connsiteX81" fmla="*/ 6703424 w 11499847"/>
              <a:gd name="connsiteY81" fmla="*/ 1965084 h 2403475"/>
              <a:gd name="connsiteX82" fmla="*/ 6650384 w 11499847"/>
              <a:gd name="connsiteY82" fmla="*/ 2100368 h 2403475"/>
              <a:gd name="connsiteX83" fmla="*/ 6701957 w 11499847"/>
              <a:gd name="connsiteY83" fmla="*/ 2236070 h 2403475"/>
              <a:gd name="connsiteX84" fmla="*/ 6831308 w 11499847"/>
              <a:gd name="connsiteY84" fmla="*/ 2291062 h 2403475"/>
              <a:gd name="connsiteX85" fmla="*/ 6945984 w 11499847"/>
              <a:gd name="connsiteY85" fmla="*/ 2250498 h 2403475"/>
              <a:gd name="connsiteX86" fmla="*/ 6999863 w 11499847"/>
              <a:gd name="connsiteY86" fmla="*/ 2148460 h 2403475"/>
              <a:gd name="connsiteX87" fmla="*/ 6825438 w 11499847"/>
              <a:gd name="connsiteY87" fmla="*/ 2148460 h 2403475"/>
              <a:gd name="connsiteX88" fmla="*/ 6849128 w 11499847"/>
              <a:gd name="connsiteY88" fmla="*/ 2111241 h 2403475"/>
              <a:gd name="connsiteX89" fmla="*/ 6873028 w 11499847"/>
              <a:gd name="connsiteY89" fmla="*/ 2074022 h 2403475"/>
              <a:gd name="connsiteX90" fmla="*/ 7078061 w 11499847"/>
              <a:gd name="connsiteY90" fmla="*/ 2074022 h 2403475"/>
              <a:gd name="connsiteX91" fmla="*/ 7080787 w 11499847"/>
              <a:gd name="connsiteY91" fmla="*/ 2090540 h 2403475"/>
              <a:gd name="connsiteX92" fmla="*/ 7081835 w 11499847"/>
              <a:gd name="connsiteY92" fmla="*/ 2110613 h 2403475"/>
              <a:gd name="connsiteX93" fmla="*/ 7011813 w 11499847"/>
              <a:gd name="connsiteY93" fmla="*/ 2293362 h 2403475"/>
              <a:gd name="connsiteX94" fmla="*/ 6830470 w 11499847"/>
              <a:gd name="connsiteY94" fmla="*/ 2366963 h 2403475"/>
              <a:gd name="connsiteX95" fmla="*/ 6642417 w 11499847"/>
              <a:gd name="connsiteY95" fmla="*/ 2289389 h 2403475"/>
              <a:gd name="connsiteX96" fmla="*/ 6565897 w 11499847"/>
              <a:gd name="connsiteY96" fmla="*/ 2100368 h 2403475"/>
              <a:gd name="connsiteX97" fmla="*/ 6644514 w 11499847"/>
              <a:gd name="connsiteY97" fmla="*/ 1911346 h 2403475"/>
              <a:gd name="connsiteX98" fmla="*/ 6834872 w 11499847"/>
              <a:gd name="connsiteY98" fmla="*/ 1833563 h 2403475"/>
              <a:gd name="connsiteX99" fmla="*/ 501650 w 11499847"/>
              <a:gd name="connsiteY99" fmla="*/ 1403350 h 2403475"/>
              <a:gd name="connsiteX100" fmla="*/ 501650 w 11499847"/>
              <a:gd name="connsiteY100" fmla="*/ 1925638 h 2403475"/>
              <a:gd name="connsiteX101" fmla="*/ 842112 w 11499847"/>
              <a:gd name="connsiteY101" fmla="*/ 1925638 h 2403475"/>
              <a:gd name="connsiteX102" fmla="*/ 1182574 w 11499847"/>
              <a:gd name="connsiteY102" fmla="*/ 1925638 h 2403475"/>
              <a:gd name="connsiteX103" fmla="*/ 1375900 w 11499847"/>
              <a:gd name="connsiteY103" fmla="*/ 1849684 h 2403475"/>
              <a:gd name="connsiteX104" fmla="*/ 1455738 w 11499847"/>
              <a:gd name="connsiteY104" fmla="*/ 1662720 h 2403475"/>
              <a:gd name="connsiteX105" fmla="*/ 1375900 w 11499847"/>
              <a:gd name="connsiteY105" fmla="*/ 1477635 h 2403475"/>
              <a:gd name="connsiteX106" fmla="*/ 1182574 w 11499847"/>
              <a:gd name="connsiteY106" fmla="*/ 1403350 h 2403475"/>
              <a:gd name="connsiteX107" fmla="*/ 501650 w 11499847"/>
              <a:gd name="connsiteY107" fmla="*/ 1403350 h 2403475"/>
              <a:gd name="connsiteX108" fmla="*/ 7349808 w 11499847"/>
              <a:gd name="connsiteY108" fmla="*/ 1012825 h 2403475"/>
              <a:gd name="connsiteX109" fmla="*/ 7218292 w 11499847"/>
              <a:gd name="connsiteY109" fmla="*/ 1067952 h 2403475"/>
              <a:gd name="connsiteX110" fmla="*/ 7164385 w 11499847"/>
              <a:gd name="connsiteY110" fmla="*/ 1202427 h 2403475"/>
              <a:gd name="connsiteX111" fmla="*/ 7218292 w 11499847"/>
              <a:gd name="connsiteY111" fmla="*/ 1336903 h 2403475"/>
              <a:gd name="connsiteX112" fmla="*/ 7349808 w 11499847"/>
              <a:gd name="connsiteY112" fmla="*/ 1392238 h 2403475"/>
              <a:gd name="connsiteX113" fmla="*/ 7481953 w 11499847"/>
              <a:gd name="connsiteY113" fmla="*/ 1337320 h 2403475"/>
              <a:gd name="connsiteX114" fmla="*/ 7535860 w 11499847"/>
              <a:gd name="connsiteY114" fmla="*/ 1202427 h 2403475"/>
              <a:gd name="connsiteX115" fmla="*/ 7481534 w 11499847"/>
              <a:gd name="connsiteY115" fmla="*/ 1067952 h 2403475"/>
              <a:gd name="connsiteX116" fmla="*/ 7349808 w 11499847"/>
              <a:gd name="connsiteY116" fmla="*/ 1012825 h 2403475"/>
              <a:gd name="connsiteX117" fmla="*/ 10448922 w 11499847"/>
              <a:gd name="connsiteY117" fmla="*/ 946150 h 2403475"/>
              <a:gd name="connsiteX118" fmla="*/ 10552110 w 11499847"/>
              <a:gd name="connsiteY118" fmla="*/ 946150 h 2403475"/>
              <a:gd name="connsiteX119" fmla="*/ 10671172 w 11499847"/>
              <a:gd name="connsiteY119" fmla="*/ 1139825 h 2403475"/>
              <a:gd name="connsiteX120" fmla="*/ 10790235 w 11499847"/>
              <a:gd name="connsiteY120" fmla="*/ 1333501 h 2403475"/>
              <a:gd name="connsiteX121" fmla="*/ 10790235 w 11499847"/>
              <a:gd name="connsiteY121" fmla="*/ 946150 h 2403475"/>
              <a:gd name="connsiteX122" fmla="*/ 10869610 w 11499847"/>
              <a:gd name="connsiteY122" fmla="*/ 946150 h 2403475"/>
              <a:gd name="connsiteX123" fmla="*/ 10869610 w 11499847"/>
              <a:gd name="connsiteY123" fmla="*/ 1458913 h 2403475"/>
              <a:gd name="connsiteX124" fmla="*/ 10772772 w 11499847"/>
              <a:gd name="connsiteY124" fmla="*/ 1458913 h 2403475"/>
              <a:gd name="connsiteX125" fmla="*/ 10650535 w 11499847"/>
              <a:gd name="connsiteY125" fmla="*/ 1260475 h 2403475"/>
              <a:gd name="connsiteX126" fmla="*/ 10528297 w 11499847"/>
              <a:gd name="connsiteY126" fmla="*/ 1062038 h 2403475"/>
              <a:gd name="connsiteX127" fmla="*/ 10528297 w 11499847"/>
              <a:gd name="connsiteY127" fmla="*/ 1458913 h 2403475"/>
              <a:gd name="connsiteX128" fmla="*/ 10448922 w 11499847"/>
              <a:gd name="connsiteY128" fmla="*/ 1458913 h 2403475"/>
              <a:gd name="connsiteX129" fmla="*/ 10185397 w 11499847"/>
              <a:gd name="connsiteY129" fmla="*/ 946150 h 2403475"/>
              <a:gd name="connsiteX130" fmla="*/ 10267947 w 11499847"/>
              <a:gd name="connsiteY130" fmla="*/ 946150 h 2403475"/>
              <a:gd name="connsiteX131" fmla="*/ 10267947 w 11499847"/>
              <a:gd name="connsiteY131" fmla="*/ 1458913 h 2403475"/>
              <a:gd name="connsiteX132" fmla="*/ 10185397 w 11499847"/>
              <a:gd name="connsiteY132" fmla="*/ 1458913 h 2403475"/>
              <a:gd name="connsiteX133" fmla="*/ 9656760 w 11499847"/>
              <a:gd name="connsiteY133" fmla="*/ 946150 h 2403475"/>
              <a:gd name="connsiteX134" fmla="*/ 10059985 w 11499847"/>
              <a:gd name="connsiteY134" fmla="*/ 946150 h 2403475"/>
              <a:gd name="connsiteX135" fmla="*/ 10059985 w 11499847"/>
              <a:gd name="connsiteY135" fmla="*/ 1022350 h 2403475"/>
              <a:gd name="connsiteX136" fmla="*/ 9899648 w 11499847"/>
              <a:gd name="connsiteY136" fmla="*/ 1022350 h 2403475"/>
              <a:gd name="connsiteX137" fmla="*/ 9899648 w 11499847"/>
              <a:gd name="connsiteY137" fmla="*/ 1458913 h 2403475"/>
              <a:gd name="connsiteX138" fmla="*/ 9817098 w 11499847"/>
              <a:gd name="connsiteY138" fmla="*/ 1458913 h 2403475"/>
              <a:gd name="connsiteX139" fmla="*/ 9817098 w 11499847"/>
              <a:gd name="connsiteY139" fmla="*/ 1022350 h 2403475"/>
              <a:gd name="connsiteX140" fmla="*/ 9656760 w 11499847"/>
              <a:gd name="connsiteY140" fmla="*/ 1022350 h 2403475"/>
              <a:gd name="connsiteX141" fmla="*/ 9336085 w 11499847"/>
              <a:gd name="connsiteY141" fmla="*/ 946150 h 2403475"/>
              <a:gd name="connsiteX142" fmla="*/ 9418635 w 11499847"/>
              <a:gd name="connsiteY142" fmla="*/ 946150 h 2403475"/>
              <a:gd name="connsiteX143" fmla="*/ 9418635 w 11499847"/>
              <a:gd name="connsiteY143" fmla="*/ 1382713 h 2403475"/>
              <a:gd name="connsiteX144" fmla="*/ 9671048 w 11499847"/>
              <a:gd name="connsiteY144" fmla="*/ 1382713 h 2403475"/>
              <a:gd name="connsiteX145" fmla="*/ 9671048 w 11499847"/>
              <a:gd name="connsiteY145" fmla="*/ 1458913 h 2403475"/>
              <a:gd name="connsiteX146" fmla="*/ 9336085 w 11499847"/>
              <a:gd name="connsiteY146" fmla="*/ 1458913 h 2403475"/>
              <a:gd name="connsiteX147" fmla="*/ 8766172 w 11499847"/>
              <a:gd name="connsiteY147" fmla="*/ 946150 h 2403475"/>
              <a:gd name="connsiteX148" fmla="*/ 8848414 w 11499847"/>
              <a:gd name="connsiteY148" fmla="*/ 946150 h 2403475"/>
              <a:gd name="connsiteX149" fmla="*/ 8848414 w 11499847"/>
              <a:gd name="connsiteY149" fmla="*/ 1260391 h 2403475"/>
              <a:gd name="connsiteX150" fmla="*/ 8883900 w 11499847"/>
              <a:gd name="connsiteY150" fmla="*/ 1355146 h 2403475"/>
              <a:gd name="connsiteX151" fmla="*/ 8978249 w 11499847"/>
              <a:gd name="connsiteY151" fmla="*/ 1393718 h 2403475"/>
              <a:gd name="connsiteX152" fmla="*/ 9071972 w 11499847"/>
              <a:gd name="connsiteY152" fmla="*/ 1355146 h 2403475"/>
              <a:gd name="connsiteX153" fmla="*/ 9107457 w 11499847"/>
              <a:gd name="connsiteY153" fmla="*/ 1260391 h 2403475"/>
              <a:gd name="connsiteX154" fmla="*/ 9107457 w 11499847"/>
              <a:gd name="connsiteY154" fmla="*/ 946150 h 2403475"/>
              <a:gd name="connsiteX155" fmla="*/ 9188447 w 11499847"/>
              <a:gd name="connsiteY155" fmla="*/ 946150 h 2403475"/>
              <a:gd name="connsiteX156" fmla="*/ 9188447 w 11499847"/>
              <a:gd name="connsiteY156" fmla="*/ 1261230 h 2403475"/>
              <a:gd name="connsiteX157" fmla="*/ 9128539 w 11499847"/>
              <a:gd name="connsiteY157" fmla="*/ 1410489 h 2403475"/>
              <a:gd name="connsiteX158" fmla="*/ 8977623 w 11499847"/>
              <a:gd name="connsiteY158" fmla="*/ 1470025 h 2403475"/>
              <a:gd name="connsiteX159" fmla="*/ 8826497 w 11499847"/>
              <a:gd name="connsiteY159" fmla="*/ 1410489 h 2403475"/>
              <a:gd name="connsiteX160" fmla="*/ 8766172 w 11499847"/>
              <a:gd name="connsiteY160" fmla="*/ 1261230 h 2403475"/>
              <a:gd name="connsiteX161" fmla="*/ 8766172 w 11499847"/>
              <a:gd name="connsiteY161" fmla="*/ 946150 h 2403475"/>
              <a:gd name="connsiteX162" fmla="*/ 7737472 w 11499847"/>
              <a:gd name="connsiteY162" fmla="*/ 946150 h 2403475"/>
              <a:gd name="connsiteX163" fmla="*/ 7839072 w 11499847"/>
              <a:gd name="connsiteY163" fmla="*/ 946150 h 2403475"/>
              <a:gd name="connsiteX164" fmla="*/ 7958134 w 11499847"/>
              <a:gd name="connsiteY164" fmla="*/ 1139825 h 2403475"/>
              <a:gd name="connsiteX165" fmla="*/ 8077197 w 11499847"/>
              <a:gd name="connsiteY165" fmla="*/ 1333501 h 2403475"/>
              <a:gd name="connsiteX166" fmla="*/ 8077197 w 11499847"/>
              <a:gd name="connsiteY166" fmla="*/ 946150 h 2403475"/>
              <a:gd name="connsiteX167" fmla="*/ 8156572 w 11499847"/>
              <a:gd name="connsiteY167" fmla="*/ 946150 h 2403475"/>
              <a:gd name="connsiteX168" fmla="*/ 8156572 w 11499847"/>
              <a:gd name="connsiteY168" fmla="*/ 1458913 h 2403475"/>
              <a:gd name="connsiteX169" fmla="*/ 8061322 w 11499847"/>
              <a:gd name="connsiteY169" fmla="*/ 1458913 h 2403475"/>
              <a:gd name="connsiteX170" fmla="*/ 7939084 w 11499847"/>
              <a:gd name="connsiteY170" fmla="*/ 1260475 h 2403475"/>
              <a:gd name="connsiteX171" fmla="*/ 7815259 w 11499847"/>
              <a:gd name="connsiteY171" fmla="*/ 1062038 h 2403475"/>
              <a:gd name="connsiteX172" fmla="*/ 7815259 w 11499847"/>
              <a:gd name="connsiteY172" fmla="*/ 1458913 h 2403475"/>
              <a:gd name="connsiteX173" fmla="*/ 7737472 w 11499847"/>
              <a:gd name="connsiteY173" fmla="*/ 1458913 h 2403475"/>
              <a:gd name="connsiteX174" fmla="*/ 11253544 w 11499847"/>
              <a:gd name="connsiteY174" fmla="*/ 936625 h 2403475"/>
              <a:gd name="connsiteX175" fmla="*/ 11340315 w 11499847"/>
              <a:gd name="connsiteY175" fmla="*/ 948334 h 2403475"/>
              <a:gd name="connsiteX176" fmla="*/ 11414331 w 11499847"/>
              <a:gd name="connsiteY176" fmla="*/ 984090 h 2403475"/>
              <a:gd name="connsiteX177" fmla="*/ 11392795 w 11499847"/>
              <a:gd name="connsiteY177" fmla="*/ 1017545 h 2403475"/>
              <a:gd name="connsiteX178" fmla="*/ 11371260 w 11499847"/>
              <a:gd name="connsiteY178" fmla="*/ 1051209 h 2403475"/>
              <a:gd name="connsiteX179" fmla="*/ 11316270 w 11499847"/>
              <a:gd name="connsiteY179" fmla="*/ 1022354 h 2403475"/>
              <a:gd name="connsiteX180" fmla="*/ 11252917 w 11499847"/>
              <a:gd name="connsiteY180" fmla="*/ 1013363 h 2403475"/>
              <a:gd name="connsiteX181" fmla="*/ 11122657 w 11499847"/>
              <a:gd name="connsiteY181" fmla="*/ 1067936 h 2403475"/>
              <a:gd name="connsiteX182" fmla="*/ 11069549 w 11499847"/>
              <a:gd name="connsiteY182" fmla="*/ 1203221 h 2403475"/>
              <a:gd name="connsiteX183" fmla="*/ 11120984 w 11499847"/>
              <a:gd name="connsiteY183" fmla="*/ 1338923 h 2403475"/>
              <a:gd name="connsiteX184" fmla="*/ 11249990 w 11499847"/>
              <a:gd name="connsiteY184" fmla="*/ 1394124 h 2403475"/>
              <a:gd name="connsiteX185" fmla="*/ 11364360 w 11499847"/>
              <a:gd name="connsiteY185" fmla="*/ 1353350 h 2403475"/>
              <a:gd name="connsiteX186" fmla="*/ 11418095 w 11499847"/>
              <a:gd name="connsiteY186" fmla="*/ 1251521 h 2403475"/>
              <a:gd name="connsiteX187" fmla="*/ 11244136 w 11499847"/>
              <a:gd name="connsiteY187" fmla="*/ 1251521 h 2403475"/>
              <a:gd name="connsiteX188" fmla="*/ 11267971 w 11499847"/>
              <a:gd name="connsiteY188" fmla="*/ 1214303 h 2403475"/>
              <a:gd name="connsiteX189" fmla="*/ 11291598 w 11499847"/>
              <a:gd name="connsiteY189" fmla="*/ 1177084 h 2403475"/>
              <a:gd name="connsiteX190" fmla="*/ 11496083 w 11499847"/>
              <a:gd name="connsiteY190" fmla="*/ 1177084 h 2403475"/>
              <a:gd name="connsiteX191" fmla="*/ 11498802 w 11499847"/>
              <a:gd name="connsiteY191" fmla="*/ 1193393 h 2403475"/>
              <a:gd name="connsiteX192" fmla="*/ 11499847 w 11499847"/>
              <a:gd name="connsiteY192" fmla="*/ 1213466 h 2403475"/>
              <a:gd name="connsiteX193" fmla="*/ 11430222 w 11499847"/>
              <a:gd name="connsiteY193" fmla="*/ 1396215 h 2403475"/>
              <a:gd name="connsiteX194" fmla="*/ 11249154 w 11499847"/>
              <a:gd name="connsiteY194" fmla="*/ 1470025 h 2403475"/>
              <a:gd name="connsiteX195" fmla="*/ 11061813 w 11499847"/>
              <a:gd name="connsiteY195" fmla="*/ 1392242 h 2403475"/>
              <a:gd name="connsiteX196" fmla="*/ 10985497 w 11499847"/>
              <a:gd name="connsiteY196" fmla="*/ 1203221 h 2403475"/>
              <a:gd name="connsiteX197" fmla="*/ 11063695 w 11499847"/>
              <a:gd name="connsiteY197" fmla="*/ 1014408 h 2403475"/>
              <a:gd name="connsiteX198" fmla="*/ 11253544 w 11499847"/>
              <a:gd name="connsiteY198" fmla="*/ 936625 h 2403475"/>
              <a:gd name="connsiteX199" fmla="*/ 8471697 w 11499847"/>
              <a:gd name="connsiteY199" fmla="*/ 936625 h 2403475"/>
              <a:gd name="connsiteX200" fmla="*/ 8556850 w 11499847"/>
              <a:gd name="connsiteY200" fmla="*/ 949798 h 2403475"/>
              <a:gd name="connsiteX201" fmla="*/ 8626729 w 11499847"/>
              <a:gd name="connsiteY201" fmla="*/ 984717 h 2403475"/>
              <a:gd name="connsiteX202" fmla="*/ 8606225 w 11499847"/>
              <a:gd name="connsiteY202" fmla="*/ 1017336 h 2403475"/>
              <a:gd name="connsiteX203" fmla="*/ 8585722 w 11499847"/>
              <a:gd name="connsiteY203" fmla="*/ 1049745 h 2403475"/>
              <a:gd name="connsiteX204" fmla="*/ 8528605 w 11499847"/>
              <a:gd name="connsiteY204" fmla="*/ 1021099 h 2403475"/>
              <a:gd name="connsiteX205" fmla="*/ 8471070 w 11499847"/>
              <a:gd name="connsiteY205" fmla="*/ 1011063 h 2403475"/>
              <a:gd name="connsiteX206" fmla="*/ 8404328 w 11499847"/>
              <a:gd name="connsiteY206" fmla="*/ 1032181 h 2403475"/>
              <a:gd name="connsiteX207" fmla="*/ 8382570 w 11499847"/>
              <a:gd name="connsiteY207" fmla="*/ 1084246 h 2403475"/>
              <a:gd name="connsiteX208" fmla="*/ 8412697 w 11499847"/>
              <a:gd name="connsiteY208" fmla="*/ 1135474 h 2403475"/>
              <a:gd name="connsiteX209" fmla="*/ 8493038 w 11499847"/>
              <a:gd name="connsiteY209" fmla="*/ 1165165 h 2403475"/>
              <a:gd name="connsiteX210" fmla="*/ 8600786 w 11499847"/>
              <a:gd name="connsiteY210" fmla="*/ 1212421 h 2403475"/>
              <a:gd name="connsiteX211" fmla="*/ 8648697 w 11499847"/>
              <a:gd name="connsiteY211" fmla="*/ 1314250 h 2403475"/>
              <a:gd name="connsiteX212" fmla="*/ 8601413 w 11499847"/>
              <a:gd name="connsiteY212" fmla="*/ 1425906 h 2403475"/>
              <a:gd name="connsiteX213" fmla="*/ 8468140 w 11499847"/>
              <a:gd name="connsiteY213" fmla="*/ 1470025 h 2403475"/>
              <a:gd name="connsiteX214" fmla="*/ 8363531 w 11499847"/>
              <a:gd name="connsiteY214" fmla="*/ 1452461 h 2403475"/>
              <a:gd name="connsiteX215" fmla="*/ 8286747 w 11499847"/>
              <a:gd name="connsiteY215" fmla="*/ 1411479 h 2403475"/>
              <a:gd name="connsiteX216" fmla="*/ 8307251 w 11499847"/>
              <a:gd name="connsiteY216" fmla="*/ 1379069 h 2403475"/>
              <a:gd name="connsiteX217" fmla="*/ 8327754 w 11499847"/>
              <a:gd name="connsiteY217" fmla="*/ 1346450 h 2403475"/>
              <a:gd name="connsiteX218" fmla="*/ 8395541 w 11499847"/>
              <a:gd name="connsiteY218" fmla="*/ 1381578 h 2403475"/>
              <a:gd name="connsiteX219" fmla="*/ 8468768 w 11499847"/>
              <a:gd name="connsiteY219" fmla="*/ 1395378 h 2403475"/>
              <a:gd name="connsiteX220" fmla="*/ 8541367 w 11499847"/>
              <a:gd name="connsiteY220" fmla="*/ 1373633 h 2403475"/>
              <a:gd name="connsiteX221" fmla="*/ 8566055 w 11499847"/>
              <a:gd name="connsiteY221" fmla="*/ 1319477 h 2403475"/>
              <a:gd name="connsiteX222" fmla="*/ 8535509 w 11499847"/>
              <a:gd name="connsiteY222" fmla="*/ 1268458 h 2403475"/>
              <a:gd name="connsiteX223" fmla="*/ 8455587 w 11499847"/>
              <a:gd name="connsiteY223" fmla="*/ 1238348 h 2403475"/>
              <a:gd name="connsiteX224" fmla="*/ 8347630 w 11499847"/>
              <a:gd name="connsiteY224" fmla="*/ 1191511 h 2403475"/>
              <a:gd name="connsiteX225" fmla="*/ 8299928 w 11499847"/>
              <a:gd name="connsiteY225" fmla="*/ 1089264 h 2403475"/>
              <a:gd name="connsiteX226" fmla="*/ 8345329 w 11499847"/>
              <a:gd name="connsiteY226" fmla="*/ 979489 h 2403475"/>
              <a:gd name="connsiteX227" fmla="*/ 8471697 w 11499847"/>
              <a:gd name="connsiteY227" fmla="*/ 936625 h 2403475"/>
              <a:gd name="connsiteX228" fmla="*/ 7349808 w 11499847"/>
              <a:gd name="connsiteY228" fmla="*/ 936625 h 2403475"/>
              <a:gd name="connsiteX229" fmla="*/ 7541183 w 11499847"/>
              <a:gd name="connsiteY229" fmla="*/ 1014826 h 2403475"/>
              <a:gd name="connsiteX230" fmla="*/ 7619997 w 11499847"/>
              <a:gd name="connsiteY230" fmla="*/ 1203221 h 2403475"/>
              <a:gd name="connsiteX231" fmla="*/ 7541183 w 11499847"/>
              <a:gd name="connsiteY231" fmla="*/ 1391615 h 2403475"/>
              <a:gd name="connsiteX232" fmla="*/ 7349808 w 11499847"/>
              <a:gd name="connsiteY232" fmla="*/ 1470025 h 2403475"/>
              <a:gd name="connsiteX233" fmla="*/ 7158642 w 11499847"/>
              <a:gd name="connsiteY233" fmla="*/ 1391615 h 2403475"/>
              <a:gd name="connsiteX234" fmla="*/ 7080247 w 11499847"/>
              <a:gd name="connsiteY234" fmla="*/ 1203221 h 2403475"/>
              <a:gd name="connsiteX235" fmla="*/ 7158642 w 11499847"/>
              <a:gd name="connsiteY235" fmla="*/ 1014826 h 2403475"/>
              <a:gd name="connsiteX236" fmla="*/ 7349808 w 11499847"/>
              <a:gd name="connsiteY236" fmla="*/ 936625 h 2403475"/>
              <a:gd name="connsiteX237" fmla="*/ 6837427 w 11499847"/>
              <a:gd name="connsiteY237" fmla="*/ 936625 h 2403475"/>
              <a:gd name="connsiteX238" fmla="*/ 6932756 w 11499847"/>
              <a:gd name="connsiteY238" fmla="*/ 951680 h 2403475"/>
              <a:gd name="connsiteX239" fmla="*/ 7008810 w 11499847"/>
              <a:gd name="connsiteY239" fmla="*/ 993499 h 2403475"/>
              <a:gd name="connsiteX240" fmla="*/ 6987439 w 11499847"/>
              <a:gd name="connsiteY240" fmla="*/ 1026745 h 2403475"/>
              <a:gd name="connsiteX241" fmla="*/ 6966278 w 11499847"/>
              <a:gd name="connsiteY241" fmla="*/ 1059991 h 2403475"/>
              <a:gd name="connsiteX242" fmla="*/ 6904891 w 11499847"/>
              <a:gd name="connsiteY242" fmla="*/ 1024863 h 2403475"/>
              <a:gd name="connsiteX243" fmla="*/ 6833027 w 11499847"/>
              <a:gd name="connsiteY243" fmla="*/ 1012526 h 2403475"/>
              <a:gd name="connsiteX244" fmla="*/ 6703338 w 11499847"/>
              <a:gd name="connsiteY244" fmla="*/ 1067727 h 2403475"/>
              <a:gd name="connsiteX245" fmla="*/ 6649912 w 11499847"/>
              <a:gd name="connsiteY245" fmla="*/ 1203221 h 2403475"/>
              <a:gd name="connsiteX246" fmla="*/ 6703338 w 11499847"/>
              <a:gd name="connsiteY246" fmla="*/ 1338923 h 2403475"/>
              <a:gd name="connsiteX247" fmla="*/ 6833027 w 11499847"/>
              <a:gd name="connsiteY247" fmla="*/ 1393915 h 2403475"/>
              <a:gd name="connsiteX248" fmla="*/ 6904891 w 11499847"/>
              <a:gd name="connsiteY248" fmla="*/ 1381787 h 2403475"/>
              <a:gd name="connsiteX249" fmla="*/ 6966278 w 11499847"/>
              <a:gd name="connsiteY249" fmla="*/ 1346450 h 2403475"/>
              <a:gd name="connsiteX250" fmla="*/ 6987439 w 11499847"/>
              <a:gd name="connsiteY250" fmla="*/ 1379696 h 2403475"/>
              <a:gd name="connsiteX251" fmla="*/ 7008810 w 11499847"/>
              <a:gd name="connsiteY251" fmla="*/ 1412942 h 2403475"/>
              <a:gd name="connsiteX252" fmla="*/ 6932756 w 11499847"/>
              <a:gd name="connsiteY252" fmla="*/ 1454970 h 2403475"/>
              <a:gd name="connsiteX253" fmla="*/ 6837427 w 11499847"/>
              <a:gd name="connsiteY253" fmla="*/ 1470025 h 2403475"/>
              <a:gd name="connsiteX254" fmla="*/ 6644674 w 11499847"/>
              <a:gd name="connsiteY254" fmla="*/ 1392242 h 2403475"/>
              <a:gd name="connsiteX255" fmla="*/ 6565897 w 11499847"/>
              <a:gd name="connsiteY255" fmla="*/ 1203221 h 2403475"/>
              <a:gd name="connsiteX256" fmla="*/ 6644674 w 11499847"/>
              <a:gd name="connsiteY256" fmla="*/ 1014408 h 2403475"/>
              <a:gd name="connsiteX257" fmla="*/ 6837427 w 11499847"/>
              <a:gd name="connsiteY257" fmla="*/ 936625 h 2403475"/>
              <a:gd name="connsiteX258" fmla="*/ 501650 w 11499847"/>
              <a:gd name="connsiteY258" fmla="*/ 477838 h 2403475"/>
              <a:gd name="connsiteX259" fmla="*/ 501650 w 11499847"/>
              <a:gd name="connsiteY259" fmla="*/ 981076 h 2403475"/>
              <a:gd name="connsiteX260" fmla="*/ 786010 w 11499847"/>
              <a:gd name="connsiteY260" fmla="*/ 981076 h 2403475"/>
              <a:gd name="connsiteX261" fmla="*/ 1070579 w 11499847"/>
              <a:gd name="connsiteY261" fmla="*/ 981076 h 2403475"/>
              <a:gd name="connsiteX262" fmla="*/ 1253188 w 11499847"/>
              <a:gd name="connsiteY262" fmla="*/ 908588 h 2403475"/>
              <a:gd name="connsiteX263" fmla="*/ 1327150 w 11499847"/>
              <a:gd name="connsiteY263" fmla="*/ 727681 h 2403475"/>
              <a:gd name="connsiteX264" fmla="*/ 1253188 w 11499847"/>
              <a:gd name="connsiteY264" fmla="*/ 548446 h 2403475"/>
              <a:gd name="connsiteX265" fmla="*/ 1070579 w 11499847"/>
              <a:gd name="connsiteY265" fmla="*/ 477838 h 2403475"/>
              <a:gd name="connsiteX266" fmla="*/ 501650 w 11499847"/>
              <a:gd name="connsiteY266" fmla="*/ 477838 h 2403475"/>
              <a:gd name="connsiteX267" fmla="*/ 6675435 w 11499847"/>
              <a:gd name="connsiteY267" fmla="*/ 336550 h 2403475"/>
              <a:gd name="connsiteX268" fmla="*/ 6675435 w 11499847"/>
              <a:gd name="connsiteY268" fmla="*/ 487363 h 2403475"/>
              <a:gd name="connsiteX269" fmla="*/ 6808467 w 11499847"/>
              <a:gd name="connsiteY269" fmla="*/ 487363 h 2403475"/>
              <a:gd name="connsiteX270" fmla="*/ 6865570 w 11499847"/>
              <a:gd name="connsiteY270" fmla="*/ 465370 h 2403475"/>
              <a:gd name="connsiteX271" fmla="*/ 6888160 w 11499847"/>
              <a:gd name="connsiteY271" fmla="*/ 411957 h 2403475"/>
              <a:gd name="connsiteX272" fmla="*/ 6865570 w 11499847"/>
              <a:gd name="connsiteY272" fmla="*/ 358334 h 2403475"/>
              <a:gd name="connsiteX273" fmla="*/ 6808467 w 11499847"/>
              <a:gd name="connsiteY273" fmla="*/ 336550 h 2403475"/>
              <a:gd name="connsiteX274" fmla="*/ 6675435 w 11499847"/>
              <a:gd name="connsiteY274" fmla="*/ 336550 h 2403475"/>
              <a:gd name="connsiteX275" fmla="*/ 6675435 w 11499847"/>
              <a:gd name="connsiteY275" fmla="*/ 122238 h 2403475"/>
              <a:gd name="connsiteX276" fmla="*/ 6675435 w 11499847"/>
              <a:gd name="connsiteY276" fmla="*/ 265113 h 2403475"/>
              <a:gd name="connsiteX277" fmla="*/ 6795279 w 11499847"/>
              <a:gd name="connsiteY277" fmla="*/ 265113 h 2403475"/>
              <a:gd name="connsiteX278" fmla="*/ 6848404 w 11499847"/>
              <a:gd name="connsiteY278" fmla="*/ 244673 h 2403475"/>
              <a:gd name="connsiteX279" fmla="*/ 6869110 w 11499847"/>
              <a:gd name="connsiteY279" fmla="*/ 193571 h 2403475"/>
              <a:gd name="connsiteX280" fmla="*/ 6848404 w 11499847"/>
              <a:gd name="connsiteY280" fmla="*/ 142679 h 2403475"/>
              <a:gd name="connsiteX281" fmla="*/ 6795279 w 11499847"/>
              <a:gd name="connsiteY281" fmla="*/ 122238 h 2403475"/>
              <a:gd name="connsiteX282" fmla="*/ 6675435 w 11499847"/>
              <a:gd name="connsiteY282" fmla="*/ 122238 h 2403475"/>
              <a:gd name="connsiteX283" fmla="*/ 8850791 w 11499847"/>
              <a:gd name="connsiteY283" fmla="*/ 114300 h 2403475"/>
              <a:gd name="connsiteX284" fmla="*/ 8719837 w 11499847"/>
              <a:gd name="connsiteY284" fmla="*/ 169657 h 2403475"/>
              <a:gd name="connsiteX285" fmla="*/ 8666160 w 11499847"/>
              <a:gd name="connsiteY285" fmla="*/ 304905 h 2403475"/>
              <a:gd name="connsiteX286" fmla="*/ 8719837 w 11499847"/>
              <a:gd name="connsiteY286" fmla="*/ 439943 h 2403475"/>
              <a:gd name="connsiteX287" fmla="*/ 8850791 w 11499847"/>
              <a:gd name="connsiteY287" fmla="*/ 495300 h 2403475"/>
              <a:gd name="connsiteX288" fmla="*/ 8982163 w 11499847"/>
              <a:gd name="connsiteY288" fmla="*/ 440153 h 2403475"/>
              <a:gd name="connsiteX289" fmla="*/ 9036048 w 11499847"/>
              <a:gd name="connsiteY289" fmla="*/ 304905 h 2403475"/>
              <a:gd name="connsiteX290" fmla="*/ 8981954 w 11499847"/>
              <a:gd name="connsiteY290" fmla="*/ 169657 h 2403475"/>
              <a:gd name="connsiteX291" fmla="*/ 8850791 w 11499847"/>
              <a:gd name="connsiteY291" fmla="*/ 114300 h 2403475"/>
              <a:gd name="connsiteX292" fmla="*/ 7335415 w 11499847"/>
              <a:gd name="connsiteY292" fmla="*/ 114300 h 2403475"/>
              <a:gd name="connsiteX293" fmla="*/ 7203974 w 11499847"/>
              <a:gd name="connsiteY293" fmla="*/ 169657 h 2403475"/>
              <a:gd name="connsiteX294" fmla="*/ 7150097 w 11499847"/>
              <a:gd name="connsiteY294" fmla="*/ 304905 h 2403475"/>
              <a:gd name="connsiteX295" fmla="*/ 7203974 w 11499847"/>
              <a:gd name="connsiteY295" fmla="*/ 439943 h 2403475"/>
              <a:gd name="connsiteX296" fmla="*/ 7335415 w 11499847"/>
              <a:gd name="connsiteY296" fmla="*/ 495300 h 2403475"/>
              <a:gd name="connsiteX297" fmla="*/ 7467486 w 11499847"/>
              <a:gd name="connsiteY297" fmla="*/ 440153 h 2403475"/>
              <a:gd name="connsiteX298" fmla="*/ 7521572 w 11499847"/>
              <a:gd name="connsiteY298" fmla="*/ 304905 h 2403475"/>
              <a:gd name="connsiteX299" fmla="*/ 7467067 w 11499847"/>
              <a:gd name="connsiteY299" fmla="*/ 169657 h 2403475"/>
              <a:gd name="connsiteX300" fmla="*/ 7335415 w 11499847"/>
              <a:gd name="connsiteY300" fmla="*/ 114300 h 2403475"/>
              <a:gd name="connsiteX301" fmla="*/ 9237660 w 11499847"/>
              <a:gd name="connsiteY301" fmla="*/ 49213 h 2403475"/>
              <a:gd name="connsiteX302" fmla="*/ 9339260 w 11499847"/>
              <a:gd name="connsiteY302" fmla="*/ 49213 h 2403475"/>
              <a:gd name="connsiteX303" fmla="*/ 9458322 w 11499847"/>
              <a:gd name="connsiteY303" fmla="*/ 242888 h 2403475"/>
              <a:gd name="connsiteX304" fmla="*/ 9578972 w 11499847"/>
              <a:gd name="connsiteY304" fmla="*/ 436563 h 2403475"/>
              <a:gd name="connsiteX305" fmla="*/ 9578972 w 11499847"/>
              <a:gd name="connsiteY305" fmla="*/ 49213 h 2403475"/>
              <a:gd name="connsiteX306" fmla="*/ 9656760 w 11499847"/>
              <a:gd name="connsiteY306" fmla="*/ 49213 h 2403475"/>
              <a:gd name="connsiteX307" fmla="*/ 9656760 w 11499847"/>
              <a:gd name="connsiteY307" fmla="*/ 560388 h 2403475"/>
              <a:gd name="connsiteX308" fmla="*/ 9561510 w 11499847"/>
              <a:gd name="connsiteY308" fmla="*/ 560388 h 2403475"/>
              <a:gd name="connsiteX309" fmla="*/ 9439272 w 11499847"/>
              <a:gd name="connsiteY309" fmla="*/ 363538 h 2403475"/>
              <a:gd name="connsiteX310" fmla="*/ 9317035 w 11499847"/>
              <a:gd name="connsiteY310" fmla="*/ 165101 h 2403475"/>
              <a:gd name="connsiteX311" fmla="*/ 9317035 w 11499847"/>
              <a:gd name="connsiteY311" fmla="*/ 560388 h 2403475"/>
              <a:gd name="connsiteX312" fmla="*/ 9237660 w 11499847"/>
              <a:gd name="connsiteY312" fmla="*/ 560388 h 2403475"/>
              <a:gd name="connsiteX313" fmla="*/ 8126410 w 11499847"/>
              <a:gd name="connsiteY313" fmla="*/ 49213 h 2403475"/>
              <a:gd name="connsiteX314" fmla="*/ 8529635 w 11499847"/>
              <a:gd name="connsiteY314" fmla="*/ 49213 h 2403475"/>
              <a:gd name="connsiteX315" fmla="*/ 8529635 w 11499847"/>
              <a:gd name="connsiteY315" fmla="*/ 125413 h 2403475"/>
              <a:gd name="connsiteX316" fmla="*/ 8369298 w 11499847"/>
              <a:gd name="connsiteY316" fmla="*/ 125413 h 2403475"/>
              <a:gd name="connsiteX317" fmla="*/ 8369298 w 11499847"/>
              <a:gd name="connsiteY317" fmla="*/ 560388 h 2403475"/>
              <a:gd name="connsiteX318" fmla="*/ 8285160 w 11499847"/>
              <a:gd name="connsiteY318" fmla="*/ 560388 h 2403475"/>
              <a:gd name="connsiteX319" fmla="*/ 8285160 w 11499847"/>
              <a:gd name="connsiteY319" fmla="*/ 125413 h 2403475"/>
              <a:gd name="connsiteX320" fmla="*/ 8126410 w 11499847"/>
              <a:gd name="connsiteY320" fmla="*/ 125413 h 2403475"/>
              <a:gd name="connsiteX321" fmla="*/ 6592885 w 11499847"/>
              <a:gd name="connsiteY321" fmla="*/ 49213 h 2403475"/>
              <a:gd name="connsiteX322" fmla="*/ 6795851 w 11499847"/>
              <a:gd name="connsiteY322" fmla="*/ 49213 h 2403475"/>
              <a:gd name="connsiteX323" fmla="*/ 6907775 w 11499847"/>
              <a:gd name="connsiteY323" fmla="*/ 87875 h 2403475"/>
              <a:gd name="connsiteX324" fmla="*/ 6952670 w 11499847"/>
              <a:gd name="connsiteY324" fmla="*/ 185680 h 2403475"/>
              <a:gd name="connsiteX325" fmla="*/ 6936382 w 11499847"/>
              <a:gd name="connsiteY325" fmla="*/ 245658 h 2403475"/>
              <a:gd name="connsiteX326" fmla="*/ 6892114 w 11499847"/>
              <a:gd name="connsiteY326" fmla="*/ 288709 h 2403475"/>
              <a:gd name="connsiteX327" fmla="*/ 6950791 w 11499847"/>
              <a:gd name="connsiteY327" fmla="*/ 339492 h 2403475"/>
              <a:gd name="connsiteX328" fmla="*/ 6972298 w 11499847"/>
              <a:gd name="connsiteY328" fmla="*/ 412845 h 2403475"/>
              <a:gd name="connsiteX329" fmla="*/ 6926359 w 11499847"/>
              <a:gd name="connsiteY329" fmla="*/ 517546 h 2403475"/>
              <a:gd name="connsiteX330" fmla="*/ 6808798 w 11499847"/>
              <a:gd name="connsiteY330" fmla="*/ 560388 h 2403475"/>
              <a:gd name="connsiteX331" fmla="*/ 6592885 w 11499847"/>
              <a:gd name="connsiteY331" fmla="*/ 560388 h 2403475"/>
              <a:gd name="connsiteX332" fmla="*/ 6592885 w 11499847"/>
              <a:gd name="connsiteY332" fmla="*/ 49213 h 2403475"/>
              <a:gd name="connsiteX333" fmla="*/ 8850790 w 11499847"/>
              <a:gd name="connsiteY333" fmla="*/ 38100 h 2403475"/>
              <a:gd name="connsiteX334" fmla="*/ 9041603 w 11499847"/>
              <a:gd name="connsiteY334" fmla="*/ 116301 h 2403475"/>
              <a:gd name="connsiteX335" fmla="*/ 9120185 w 11499847"/>
              <a:gd name="connsiteY335" fmla="*/ 304905 h 2403475"/>
              <a:gd name="connsiteX336" fmla="*/ 9041603 w 11499847"/>
              <a:gd name="connsiteY336" fmla="*/ 493090 h 2403475"/>
              <a:gd name="connsiteX337" fmla="*/ 8850790 w 11499847"/>
              <a:gd name="connsiteY337" fmla="*/ 571500 h 2403475"/>
              <a:gd name="connsiteX338" fmla="*/ 8660186 w 11499847"/>
              <a:gd name="connsiteY338" fmla="*/ 493090 h 2403475"/>
              <a:gd name="connsiteX339" fmla="*/ 8582022 w 11499847"/>
              <a:gd name="connsiteY339" fmla="*/ 304905 h 2403475"/>
              <a:gd name="connsiteX340" fmla="*/ 8660186 w 11499847"/>
              <a:gd name="connsiteY340" fmla="*/ 116301 h 2403475"/>
              <a:gd name="connsiteX341" fmla="*/ 8850790 w 11499847"/>
              <a:gd name="connsiteY341" fmla="*/ 38100 h 2403475"/>
              <a:gd name="connsiteX342" fmla="*/ 7870035 w 11499847"/>
              <a:gd name="connsiteY342" fmla="*/ 38100 h 2403475"/>
              <a:gd name="connsiteX343" fmla="*/ 7871499 w 11499847"/>
              <a:gd name="connsiteY343" fmla="*/ 38100 h 2403475"/>
              <a:gd name="connsiteX344" fmla="*/ 7955187 w 11499847"/>
              <a:gd name="connsiteY344" fmla="*/ 51273 h 2403475"/>
              <a:gd name="connsiteX345" fmla="*/ 8025067 w 11499847"/>
              <a:gd name="connsiteY345" fmla="*/ 86401 h 2403475"/>
              <a:gd name="connsiteX346" fmla="*/ 8004563 w 11499847"/>
              <a:gd name="connsiteY346" fmla="*/ 118811 h 2403475"/>
              <a:gd name="connsiteX347" fmla="*/ 7984060 w 11499847"/>
              <a:gd name="connsiteY347" fmla="*/ 151429 h 2403475"/>
              <a:gd name="connsiteX348" fmla="*/ 7926943 w 11499847"/>
              <a:gd name="connsiteY348" fmla="*/ 122574 h 2403475"/>
              <a:gd name="connsiteX349" fmla="*/ 7869198 w 11499847"/>
              <a:gd name="connsiteY349" fmla="*/ 112538 h 2403475"/>
              <a:gd name="connsiteX350" fmla="*/ 7802666 w 11499847"/>
              <a:gd name="connsiteY350" fmla="*/ 133865 h 2403475"/>
              <a:gd name="connsiteX351" fmla="*/ 7780907 w 11499847"/>
              <a:gd name="connsiteY351" fmla="*/ 185721 h 2403475"/>
              <a:gd name="connsiteX352" fmla="*/ 7811035 w 11499847"/>
              <a:gd name="connsiteY352" fmla="*/ 236949 h 2403475"/>
              <a:gd name="connsiteX353" fmla="*/ 7891166 w 11499847"/>
              <a:gd name="connsiteY353" fmla="*/ 266849 h 2403475"/>
              <a:gd name="connsiteX354" fmla="*/ 7998914 w 11499847"/>
              <a:gd name="connsiteY354" fmla="*/ 313896 h 2403475"/>
              <a:gd name="connsiteX355" fmla="*/ 8047035 w 11499847"/>
              <a:gd name="connsiteY355" fmla="*/ 415934 h 2403475"/>
              <a:gd name="connsiteX356" fmla="*/ 7999751 w 11499847"/>
              <a:gd name="connsiteY356" fmla="*/ 527381 h 2403475"/>
              <a:gd name="connsiteX357" fmla="*/ 7866478 w 11499847"/>
              <a:gd name="connsiteY357" fmla="*/ 571500 h 2403475"/>
              <a:gd name="connsiteX358" fmla="*/ 7761659 w 11499847"/>
              <a:gd name="connsiteY358" fmla="*/ 554145 h 2403475"/>
              <a:gd name="connsiteX359" fmla="*/ 7685085 w 11499847"/>
              <a:gd name="connsiteY359" fmla="*/ 512954 h 2403475"/>
              <a:gd name="connsiteX360" fmla="*/ 7725883 w 11499847"/>
              <a:gd name="connsiteY360" fmla="*/ 447925 h 2403475"/>
              <a:gd name="connsiteX361" fmla="*/ 7793879 w 11499847"/>
              <a:gd name="connsiteY361" fmla="*/ 483053 h 2403475"/>
              <a:gd name="connsiteX362" fmla="*/ 7867106 w 11499847"/>
              <a:gd name="connsiteY362" fmla="*/ 497063 h 2403475"/>
              <a:gd name="connsiteX363" fmla="*/ 7939496 w 11499847"/>
              <a:gd name="connsiteY363" fmla="*/ 475108 h 2403475"/>
              <a:gd name="connsiteX364" fmla="*/ 7964393 w 11499847"/>
              <a:gd name="connsiteY364" fmla="*/ 420952 h 2403475"/>
              <a:gd name="connsiteX365" fmla="*/ 7933847 w 11499847"/>
              <a:gd name="connsiteY365" fmla="*/ 369933 h 2403475"/>
              <a:gd name="connsiteX366" fmla="*/ 7853925 w 11499847"/>
              <a:gd name="connsiteY366" fmla="*/ 339823 h 2403475"/>
              <a:gd name="connsiteX367" fmla="*/ 7745968 w 11499847"/>
              <a:gd name="connsiteY367" fmla="*/ 292986 h 2403475"/>
              <a:gd name="connsiteX368" fmla="*/ 7698266 w 11499847"/>
              <a:gd name="connsiteY368" fmla="*/ 190739 h 2403475"/>
              <a:gd name="connsiteX369" fmla="*/ 7743666 w 11499847"/>
              <a:gd name="connsiteY369" fmla="*/ 80964 h 2403475"/>
              <a:gd name="connsiteX370" fmla="*/ 7870035 w 11499847"/>
              <a:gd name="connsiteY370" fmla="*/ 38100 h 2403475"/>
              <a:gd name="connsiteX371" fmla="*/ 7334624 w 11499847"/>
              <a:gd name="connsiteY371" fmla="*/ 38100 h 2403475"/>
              <a:gd name="connsiteX372" fmla="*/ 7525363 w 11499847"/>
              <a:gd name="connsiteY372" fmla="*/ 116301 h 2403475"/>
              <a:gd name="connsiteX373" fmla="*/ 7604123 w 11499847"/>
              <a:gd name="connsiteY373" fmla="*/ 304905 h 2403475"/>
              <a:gd name="connsiteX374" fmla="*/ 7525363 w 11499847"/>
              <a:gd name="connsiteY374" fmla="*/ 493090 h 2403475"/>
              <a:gd name="connsiteX375" fmla="*/ 7334624 w 11499847"/>
              <a:gd name="connsiteY375" fmla="*/ 571500 h 2403475"/>
              <a:gd name="connsiteX376" fmla="*/ 7144094 w 11499847"/>
              <a:gd name="connsiteY376" fmla="*/ 493090 h 2403475"/>
              <a:gd name="connsiteX377" fmla="*/ 7065960 w 11499847"/>
              <a:gd name="connsiteY377" fmla="*/ 304905 h 2403475"/>
              <a:gd name="connsiteX378" fmla="*/ 7144094 w 11499847"/>
              <a:gd name="connsiteY378" fmla="*/ 116301 h 2403475"/>
              <a:gd name="connsiteX379" fmla="*/ 7334624 w 11499847"/>
              <a:gd name="connsiteY379" fmla="*/ 38100 h 2403475"/>
              <a:gd name="connsiteX380" fmla="*/ 2766077 w 11499847"/>
              <a:gd name="connsiteY380" fmla="*/ 0 h 2403475"/>
              <a:gd name="connsiteX381" fmla="*/ 3146531 w 11499847"/>
              <a:gd name="connsiteY381" fmla="*/ 51449 h 2403475"/>
              <a:gd name="connsiteX382" fmla="*/ 3467375 w 11499847"/>
              <a:gd name="connsiteY382" fmla="*/ 204124 h 2403475"/>
              <a:gd name="connsiteX383" fmla="*/ 3340627 w 11499847"/>
              <a:gd name="connsiteY383" fmla="*/ 403228 h 2403475"/>
              <a:gd name="connsiteX384" fmla="*/ 3213880 w 11499847"/>
              <a:gd name="connsiteY384" fmla="*/ 602542 h 2403475"/>
              <a:gd name="connsiteX385" fmla="*/ 3009743 w 11499847"/>
              <a:gd name="connsiteY385" fmla="*/ 496716 h 2403475"/>
              <a:gd name="connsiteX386" fmla="*/ 2766077 w 11499847"/>
              <a:gd name="connsiteY386" fmla="*/ 457606 h 2403475"/>
              <a:gd name="connsiteX387" fmla="*/ 2232314 w 11499847"/>
              <a:gd name="connsiteY387" fmla="*/ 681180 h 2403475"/>
              <a:gd name="connsiteX388" fmla="*/ 2012073 w 11499847"/>
              <a:gd name="connsiteY388" fmla="*/ 1198391 h 2403475"/>
              <a:gd name="connsiteX389" fmla="*/ 2232314 w 11499847"/>
              <a:gd name="connsiteY389" fmla="*/ 1721250 h 2403475"/>
              <a:gd name="connsiteX390" fmla="*/ 2766077 w 11499847"/>
              <a:gd name="connsiteY390" fmla="*/ 1942732 h 2403475"/>
              <a:gd name="connsiteX391" fmla="*/ 3050111 w 11499847"/>
              <a:gd name="connsiteY391" fmla="*/ 1886682 h 2403475"/>
              <a:gd name="connsiteX392" fmla="*/ 3289594 w 11499847"/>
              <a:gd name="connsiteY392" fmla="*/ 1722086 h 2403475"/>
              <a:gd name="connsiteX393" fmla="*/ 3543925 w 11499847"/>
              <a:gd name="connsiteY393" fmla="*/ 1095493 h 2403475"/>
              <a:gd name="connsiteX394" fmla="*/ 3921866 w 11499847"/>
              <a:gd name="connsiteY394" fmla="*/ 345714 h 2403475"/>
              <a:gd name="connsiteX395" fmla="*/ 4300646 w 11499847"/>
              <a:gd name="connsiteY395" fmla="*/ 92441 h 2403475"/>
              <a:gd name="connsiteX396" fmla="*/ 4787977 w 11499847"/>
              <a:gd name="connsiteY396" fmla="*/ 0 h 2403475"/>
              <a:gd name="connsiteX397" fmla="*/ 5168221 w 11499847"/>
              <a:gd name="connsiteY397" fmla="*/ 54796 h 2403475"/>
              <a:gd name="connsiteX398" fmla="*/ 5489275 w 11499847"/>
              <a:gd name="connsiteY398" fmla="*/ 210607 h 2403475"/>
              <a:gd name="connsiteX399" fmla="*/ 5364200 w 11499847"/>
              <a:gd name="connsiteY399" fmla="*/ 409921 h 2403475"/>
              <a:gd name="connsiteX400" fmla="*/ 5239125 w 11499847"/>
              <a:gd name="connsiteY400" fmla="*/ 609025 h 2403475"/>
              <a:gd name="connsiteX401" fmla="*/ 5031643 w 11499847"/>
              <a:gd name="connsiteY401" fmla="*/ 500480 h 2403475"/>
              <a:gd name="connsiteX402" fmla="*/ 4784631 w 11499847"/>
              <a:gd name="connsiteY402" fmla="*/ 460952 h 2403475"/>
              <a:gd name="connsiteX403" fmla="*/ 4264462 w 11499847"/>
              <a:gd name="connsiteY403" fmla="*/ 679089 h 2403475"/>
              <a:gd name="connsiteX404" fmla="*/ 4050287 w 11499847"/>
              <a:gd name="connsiteY404" fmla="*/ 1198391 h 2403475"/>
              <a:gd name="connsiteX405" fmla="*/ 4262370 w 11499847"/>
              <a:gd name="connsiteY405" fmla="*/ 1725223 h 2403475"/>
              <a:gd name="connsiteX406" fmla="*/ 4778147 w 11499847"/>
              <a:gd name="connsiteY406" fmla="*/ 1945870 h 2403475"/>
              <a:gd name="connsiteX407" fmla="*/ 5191438 w 11499847"/>
              <a:gd name="connsiteY407" fmla="*/ 1804280 h 2403475"/>
              <a:gd name="connsiteX408" fmla="*/ 5426737 w 11499847"/>
              <a:gd name="connsiteY408" fmla="*/ 1445390 h 2403475"/>
              <a:gd name="connsiteX409" fmla="*/ 4708917 w 11499847"/>
              <a:gd name="connsiteY409" fmla="*/ 1445390 h 2403475"/>
              <a:gd name="connsiteX410" fmla="*/ 4850515 w 11499847"/>
              <a:gd name="connsiteY410" fmla="*/ 1223279 h 2403475"/>
              <a:gd name="connsiteX411" fmla="*/ 4992113 w 11499847"/>
              <a:gd name="connsiteY411" fmla="*/ 1000960 h 2403475"/>
              <a:gd name="connsiteX412" fmla="*/ 5457901 w 11499847"/>
              <a:gd name="connsiteY412" fmla="*/ 1000960 h 2403475"/>
              <a:gd name="connsiteX413" fmla="*/ 5924108 w 11499847"/>
              <a:gd name="connsiteY413" fmla="*/ 1000960 h 2403475"/>
              <a:gd name="connsiteX414" fmla="*/ 5936030 w 11499847"/>
              <a:gd name="connsiteY414" fmla="*/ 1100094 h 2403475"/>
              <a:gd name="connsiteX415" fmla="*/ 5940422 w 11499847"/>
              <a:gd name="connsiteY415" fmla="*/ 1201738 h 2403475"/>
              <a:gd name="connsiteX416" fmla="*/ 5600963 w 11499847"/>
              <a:gd name="connsiteY416" fmla="*/ 2050860 h 2403475"/>
              <a:gd name="connsiteX417" fmla="*/ 4764970 w 11499847"/>
              <a:gd name="connsiteY417" fmla="*/ 2403475 h 2403475"/>
              <a:gd name="connsiteX418" fmla="*/ 4178290 w 11499847"/>
              <a:gd name="connsiteY418" fmla="*/ 2262513 h 2403475"/>
              <a:gd name="connsiteX419" fmla="*/ 3757265 w 11499847"/>
              <a:gd name="connsiteY419" fmla="*/ 1886682 h 2403475"/>
              <a:gd name="connsiteX420" fmla="*/ 3332469 w 11499847"/>
              <a:gd name="connsiteY420" fmla="*/ 2263558 h 2403475"/>
              <a:gd name="connsiteX421" fmla="*/ 2749555 w 11499847"/>
              <a:gd name="connsiteY421" fmla="*/ 2403475 h 2403475"/>
              <a:gd name="connsiteX422" fmla="*/ 2242563 w 11499847"/>
              <a:gd name="connsiteY422" fmla="*/ 2295766 h 2403475"/>
              <a:gd name="connsiteX423" fmla="*/ 1844121 w 11499847"/>
              <a:gd name="connsiteY423" fmla="*/ 2005266 h 2403475"/>
              <a:gd name="connsiteX424" fmla="*/ 1583096 w 11499847"/>
              <a:gd name="connsiteY424" fmla="*/ 2257493 h 2403475"/>
              <a:gd name="connsiteX425" fmla="*/ 1188838 w 11499847"/>
              <a:gd name="connsiteY425" fmla="*/ 2354117 h 2403475"/>
              <a:gd name="connsiteX426" fmla="*/ 0 w 11499847"/>
              <a:gd name="connsiteY426" fmla="*/ 2354117 h 2403475"/>
              <a:gd name="connsiteX427" fmla="*/ 0 w 11499847"/>
              <a:gd name="connsiteY427" fmla="*/ 1201738 h 2403475"/>
              <a:gd name="connsiteX428" fmla="*/ 0 w 11499847"/>
              <a:gd name="connsiteY428" fmla="*/ 49358 h 2403475"/>
              <a:gd name="connsiteX429" fmla="*/ 538575 w 11499847"/>
              <a:gd name="connsiteY429" fmla="*/ 49358 h 2403475"/>
              <a:gd name="connsiteX430" fmla="*/ 1076940 w 11499847"/>
              <a:gd name="connsiteY430" fmla="*/ 49358 h 2403475"/>
              <a:gd name="connsiteX431" fmla="*/ 1523487 w 11499847"/>
              <a:gd name="connsiteY431" fmla="*/ 176099 h 2403475"/>
              <a:gd name="connsiteX432" fmla="*/ 1774892 w 11499847"/>
              <a:gd name="connsiteY432" fmla="*/ 500480 h 2403475"/>
              <a:gd name="connsiteX433" fmla="*/ 2196549 w 11499847"/>
              <a:gd name="connsiteY433" fmla="*/ 137826 h 2403475"/>
              <a:gd name="connsiteX434" fmla="*/ 2766077 w 11499847"/>
              <a:gd name="connsiteY434" fmla="*/ 0 h 2403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Lst>
            <a:rect l="l" t="t" r="r" b="b"/>
            <a:pathLst>
              <a:path w="11499847" h="2403475">
                <a:moveTo>
                  <a:pt x="8982072" y="1919288"/>
                </a:moveTo>
                <a:cubicBezTo>
                  <a:pt x="8982072" y="2105026"/>
                  <a:pt x="8982072" y="2105026"/>
                  <a:pt x="8982072" y="2105026"/>
                </a:cubicBezTo>
                <a:cubicBezTo>
                  <a:pt x="9098233" y="2105026"/>
                  <a:pt x="9098233" y="2105026"/>
                  <a:pt x="9098233" y="2105026"/>
                </a:cubicBezTo>
                <a:cubicBezTo>
                  <a:pt x="9124975" y="2105026"/>
                  <a:pt x="9148166" y="2096202"/>
                  <a:pt x="9164880" y="2080233"/>
                </a:cubicBezTo>
                <a:cubicBezTo>
                  <a:pt x="9181594" y="2064055"/>
                  <a:pt x="9191622" y="2040732"/>
                  <a:pt x="9191622" y="2011737"/>
                </a:cubicBezTo>
                <a:cubicBezTo>
                  <a:pt x="9191622" y="1983792"/>
                  <a:pt x="9181594" y="1960680"/>
                  <a:pt x="9164880" y="1944501"/>
                </a:cubicBezTo>
                <a:cubicBezTo>
                  <a:pt x="9148166" y="1928323"/>
                  <a:pt x="9124975" y="1919288"/>
                  <a:pt x="9098233" y="1919288"/>
                </a:cubicBezTo>
                <a:cubicBezTo>
                  <a:pt x="8982072" y="1919288"/>
                  <a:pt x="8982072" y="1919288"/>
                  <a:pt x="8982072" y="1919288"/>
                </a:cubicBezTo>
                <a:close/>
                <a:moveTo>
                  <a:pt x="7280272" y="1919288"/>
                </a:moveTo>
                <a:cubicBezTo>
                  <a:pt x="7280272" y="2097088"/>
                  <a:pt x="7280272" y="2097088"/>
                  <a:pt x="7280272" y="2097088"/>
                </a:cubicBezTo>
                <a:cubicBezTo>
                  <a:pt x="7404503" y="2097088"/>
                  <a:pt x="7404503" y="2097088"/>
                  <a:pt x="7404503" y="2097088"/>
                </a:cubicBezTo>
                <a:cubicBezTo>
                  <a:pt x="7430689" y="2097088"/>
                  <a:pt x="7453105" y="2088711"/>
                  <a:pt x="7469027" y="2073423"/>
                </a:cubicBezTo>
                <a:cubicBezTo>
                  <a:pt x="7485158" y="2058136"/>
                  <a:pt x="7494585" y="2035937"/>
                  <a:pt x="7494585" y="2008502"/>
                </a:cubicBezTo>
                <a:cubicBezTo>
                  <a:pt x="7494585" y="1981487"/>
                  <a:pt x="7485158" y="1959078"/>
                  <a:pt x="7469027" y="1943581"/>
                </a:cubicBezTo>
                <a:cubicBezTo>
                  <a:pt x="7453105" y="1927874"/>
                  <a:pt x="7430689" y="1919288"/>
                  <a:pt x="7404503" y="1919288"/>
                </a:cubicBezTo>
                <a:cubicBezTo>
                  <a:pt x="7280272" y="1919288"/>
                  <a:pt x="7280272" y="1919288"/>
                  <a:pt x="7280272" y="1919288"/>
                </a:cubicBezTo>
                <a:close/>
                <a:moveTo>
                  <a:pt x="7945015" y="1909763"/>
                </a:moveTo>
                <a:cubicBezTo>
                  <a:pt x="7893445" y="1909763"/>
                  <a:pt x="7847115" y="1930941"/>
                  <a:pt x="7813574" y="1965330"/>
                </a:cubicBezTo>
                <a:cubicBezTo>
                  <a:pt x="7780242" y="1999719"/>
                  <a:pt x="7759697" y="2047317"/>
                  <a:pt x="7759697" y="2100368"/>
                </a:cubicBezTo>
                <a:cubicBezTo>
                  <a:pt x="7759697" y="2153419"/>
                  <a:pt x="7780242" y="2201227"/>
                  <a:pt x="7813574" y="2235406"/>
                </a:cubicBezTo>
                <a:cubicBezTo>
                  <a:pt x="7847115" y="2269795"/>
                  <a:pt x="7893445" y="2290763"/>
                  <a:pt x="7945015" y="2290763"/>
                </a:cubicBezTo>
                <a:cubicBezTo>
                  <a:pt x="7997215" y="2290763"/>
                  <a:pt x="8043544" y="2270004"/>
                  <a:pt x="8077086" y="2235825"/>
                </a:cubicBezTo>
                <a:cubicBezTo>
                  <a:pt x="8110628" y="2201437"/>
                  <a:pt x="8131172" y="2153838"/>
                  <a:pt x="8131172" y="2100368"/>
                </a:cubicBezTo>
                <a:cubicBezTo>
                  <a:pt x="8131172" y="2047317"/>
                  <a:pt x="8110418" y="1999719"/>
                  <a:pt x="8076876" y="1965330"/>
                </a:cubicBezTo>
                <a:cubicBezTo>
                  <a:pt x="8043334" y="1930941"/>
                  <a:pt x="7996796" y="1909763"/>
                  <a:pt x="7945015" y="1909763"/>
                </a:cubicBezTo>
                <a:close/>
                <a:moveTo>
                  <a:pt x="8899522" y="1844675"/>
                </a:moveTo>
                <a:cubicBezTo>
                  <a:pt x="9098598" y="1844675"/>
                  <a:pt x="9098598" y="1844675"/>
                  <a:pt x="9098598" y="1844675"/>
                </a:cubicBezTo>
                <a:cubicBezTo>
                  <a:pt x="9152872" y="1844675"/>
                  <a:pt x="9197507" y="1862857"/>
                  <a:pt x="9228521" y="1892741"/>
                </a:cubicBezTo>
                <a:cubicBezTo>
                  <a:pt x="9259744" y="1922835"/>
                  <a:pt x="9277347" y="1964423"/>
                  <a:pt x="9277347" y="2011236"/>
                </a:cubicBezTo>
                <a:cubicBezTo>
                  <a:pt x="9277347" y="2057839"/>
                  <a:pt x="9259744" y="2099427"/>
                  <a:pt x="9228521" y="2129521"/>
                </a:cubicBezTo>
                <a:cubicBezTo>
                  <a:pt x="9197507" y="2159405"/>
                  <a:pt x="9152872" y="2177796"/>
                  <a:pt x="9098598" y="2177796"/>
                </a:cubicBezTo>
                <a:cubicBezTo>
                  <a:pt x="8982086" y="2177796"/>
                  <a:pt x="8982086" y="2177796"/>
                  <a:pt x="8982086" y="2177796"/>
                </a:cubicBezTo>
                <a:cubicBezTo>
                  <a:pt x="8982086" y="2355850"/>
                  <a:pt x="8982086" y="2355850"/>
                  <a:pt x="8982086" y="2355850"/>
                </a:cubicBezTo>
                <a:cubicBezTo>
                  <a:pt x="8899522" y="2355850"/>
                  <a:pt x="8899522" y="2355850"/>
                  <a:pt x="8899522" y="2355850"/>
                </a:cubicBezTo>
                <a:cubicBezTo>
                  <a:pt x="8899522" y="1844675"/>
                  <a:pt x="8899522" y="1844675"/>
                  <a:pt x="8899522" y="1844675"/>
                </a:cubicBezTo>
                <a:close/>
                <a:moveTo>
                  <a:pt x="8324847" y="1844675"/>
                </a:moveTo>
                <a:cubicBezTo>
                  <a:pt x="8407608" y="1844675"/>
                  <a:pt x="8407608" y="1844675"/>
                  <a:pt x="8407608" y="1844675"/>
                </a:cubicBezTo>
                <a:cubicBezTo>
                  <a:pt x="8407608" y="2158090"/>
                  <a:pt x="8407608" y="2158090"/>
                  <a:pt x="8407608" y="2158090"/>
                </a:cubicBezTo>
                <a:cubicBezTo>
                  <a:pt x="8407608" y="2195307"/>
                  <a:pt x="8420389" y="2228551"/>
                  <a:pt x="8443017" y="2252595"/>
                </a:cubicBezTo>
                <a:cubicBezTo>
                  <a:pt x="8465855" y="2276431"/>
                  <a:pt x="8498331" y="2291066"/>
                  <a:pt x="8537931" y="2291066"/>
                </a:cubicBezTo>
                <a:cubicBezTo>
                  <a:pt x="8576692" y="2291066"/>
                  <a:pt x="8609168" y="2276431"/>
                  <a:pt x="8631797" y="2252595"/>
                </a:cubicBezTo>
                <a:cubicBezTo>
                  <a:pt x="8654425" y="2228551"/>
                  <a:pt x="8667415" y="2195307"/>
                  <a:pt x="8667415" y="2158090"/>
                </a:cubicBezTo>
                <a:cubicBezTo>
                  <a:pt x="8667415" y="1844675"/>
                  <a:pt x="8667415" y="1844675"/>
                  <a:pt x="8667415" y="1844675"/>
                </a:cubicBezTo>
                <a:cubicBezTo>
                  <a:pt x="8748710" y="1844675"/>
                  <a:pt x="8748710" y="1844675"/>
                  <a:pt x="8748710" y="1844675"/>
                </a:cubicBezTo>
                <a:cubicBezTo>
                  <a:pt x="8748710" y="2158717"/>
                  <a:pt x="8748710" y="2158717"/>
                  <a:pt x="8748710" y="2158717"/>
                </a:cubicBezTo>
                <a:cubicBezTo>
                  <a:pt x="8748710" y="2218724"/>
                  <a:pt x="8726291" y="2270785"/>
                  <a:pt x="8688577" y="2307793"/>
                </a:cubicBezTo>
                <a:cubicBezTo>
                  <a:pt x="8650863" y="2345010"/>
                  <a:pt x="8597854" y="2366963"/>
                  <a:pt x="8537093" y="2366963"/>
                </a:cubicBezTo>
                <a:cubicBezTo>
                  <a:pt x="8476331" y="2366963"/>
                  <a:pt x="8423322" y="2345010"/>
                  <a:pt x="8385399" y="2307793"/>
                </a:cubicBezTo>
                <a:cubicBezTo>
                  <a:pt x="8347475" y="2270785"/>
                  <a:pt x="8324847" y="2218724"/>
                  <a:pt x="8324847" y="2158717"/>
                </a:cubicBezTo>
                <a:cubicBezTo>
                  <a:pt x="8324847" y="1844675"/>
                  <a:pt x="8324847" y="1844675"/>
                  <a:pt x="8324847" y="1844675"/>
                </a:cubicBezTo>
                <a:close/>
                <a:moveTo>
                  <a:pt x="7197722" y="1844675"/>
                </a:moveTo>
                <a:cubicBezTo>
                  <a:pt x="7404196" y="1844675"/>
                  <a:pt x="7404196" y="1844675"/>
                  <a:pt x="7404196" y="1844675"/>
                </a:cubicBezTo>
                <a:cubicBezTo>
                  <a:pt x="7457641" y="1844675"/>
                  <a:pt x="7501065" y="1862439"/>
                  <a:pt x="7531336" y="1891906"/>
                </a:cubicBezTo>
                <a:cubicBezTo>
                  <a:pt x="7561608" y="1921581"/>
                  <a:pt x="7578727" y="1962542"/>
                  <a:pt x="7578727" y="2008937"/>
                </a:cubicBezTo>
                <a:cubicBezTo>
                  <a:pt x="7578727" y="2047390"/>
                  <a:pt x="7568080" y="2080827"/>
                  <a:pt x="7548455" y="2106950"/>
                </a:cubicBezTo>
                <a:cubicBezTo>
                  <a:pt x="7529040" y="2133073"/>
                  <a:pt x="7500647" y="2152091"/>
                  <a:pt x="7464947" y="2161495"/>
                </a:cubicBezTo>
                <a:cubicBezTo>
                  <a:pt x="7525699" y="2258673"/>
                  <a:pt x="7525699" y="2258673"/>
                  <a:pt x="7525699" y="2258673"/>
                </a:cubicBezTo>
                <a:cubicBezTo>
                  <a:pt x="7586660" y="2355850"/>
                  <a:pt x="7586660" y="2355850"/>
                  <a:pt x="7586660" y="2355850"/>
                </a:cubicBezTo>
                <a:cubicBezTo>
                  <a:pt x="7491044" y="2355850"/>
                  <a:pt x="7491044" y="2355850"/>
                  <a:pt x="7491044" y="2355850"/>
                </a:cubicBezTo>
                <a:cubicBezTo>
                  <a:pt x="7434676" y="2263479"/>
                  <a:pt x="7434676" y="2263479"/>
                  <a:pt x="7434676" y="2263479"/>
                </a:cubicBezTo>
                <a:cubicBezTo>
                  <a:pt x="7378099" y="2171108"/>
                  <a:pt x="7378099" y="2171108"/>
                  <a:pt x="7378099" y="2171108"/>
                </a:cubicBezTo>
                <a:cubicBezTo>
                  <a:pt x="7280395" y="2171108"/>
                  <a:pt x="7280395" y="2171108"/>
                  <a:pt x="7280395" y="2171108"/>
                </a:cubicBezTo>
                <a:cubicBezTo>
                  <a:pt x="7280395" y="2355850"/>
                  <a:pt x="7280395" y="2355850"/>
                  <a:pt x="7280395" y="2355850"/>
                </a:cubicBezTo>
                <a:cubicBezTo>
                  <a:pt x="7197722" y="2355850"/>
                  <a:pt x="7197722" y="2355850"/>
                  <a:pt x="7197722" y="2355850"/>
                </a:cubicBezTo>
                <a:cubicBezTo>
                  <a:pt x="7197722" y="1844675"/>
                  <a:pt x="7197722" y="1844675"/>
                  <a:pt x="7197722" y="1844675"/>
                </a:cubicBezTo>
                <a:close/>
                <a:moveTo>
                  <a:pt x="7945016" y="1833563"/>
                </a:moveTo>
                <a:cubicBezTo>
                  <a:pt x="8020028" y="1833563"/>
                  <a:pt x="8087706" y="1863673"/>
                  <a:pt x="8136527" y="1911974"/>
                </a:cubicBezTo>
                <a:cubicBezTo>
                  <a:pt x="8185138" y="1960274"/>
                  <a:pt x="8215310" y="2026976"/>
                  <a:pt x="8215310" y="2100368"/>
                </a:cubicBezTo>
                <a:cubicBezTo>
                  <a:pt x="8215310" y="2173760"/>
                  <a:pt x="8185138" y="2240461"/>
                  <a:pt x="8136527" y="2288762"/>
                </a:cubicBezTo>
                <a:cubicBezTo>
                  <a:pt x="8087706" y="2337063"/>
                  <a:pt x="8020028" y="2366963"/>
                  <a:pt x="7945016" y="2366963"/>
                </a:cubicBezTo>
                <a:cubicBezTo>
                  <a:pt x="7870004" y="2366963"/>
                  <a:pt x="7802745" y="2337063"/>
                  <a:pt x="7754134" y="2288762"/>
                </a:cubicBezTo>
                <a:cubicBezTo>
                  <a:pt x="7705523" y="2240461"/>
                  <a:pt x="7675560" y="2173760"/>
                  <a:pt x="7675560" y="2100368"/>
                </a:cubicBezTo>
                <a:cubicBezTo>
                  <a:pt x="7675560" y="2026976"/>
                  <a:pt x="7705523" y="1960274"/>
                  <a:pt x="7754134" y="1911974"/>
                </a:cubicBezTo>
                <a:cubicBezTo>
                  <a:pt x="7802745" y="1863673"/>
                  <a:pt x="7870004" y="1833563"/>
                  <a:pt x="7945016" y="1833563"/>
                </a:cubicBezTo>
                <a:close/>
                <a:moveTo>
                  <a:pt x="6834872" y="1833563"/>
                </a:moveTo>
                <a:cubicBezTo>
                  <a:pt x="6865690" y="1833563"/>
                  <a:pt x="6894831" y="1837536"/>
                  <a:pt x="6921875" y="1845482"/>
                </a:cubicBezTo>
                <a:cubicBezTo>
                  <a:pt x="6948919" y="1853218"/>
                  <a:pt x="6973658" y="1865136"/>
                  <a:pt x="6996090" y="1881028"/>
                </a:cubicBezTo>
                <a:cubicBezTo>
                  <a:pt x="6974496" y="1914692"/>
                  <a:pt x="6974496" y="1914692"/>
                  <a:pt x="6974496" y="1914692"/>
                </a:cubicBezTo>
                <a:cubicBezTo>
                  <a:pt x="6952903" y="1948356"/>
                  <a:pt x="6952903" y="1948356"/>
                  <a:pt x="6952903" y="1948356"/>
                </a:cubicBezTo>
                <a:cubicBezTo>
                  <a:pt x="6935712" y="1935183"/>
                  <a:pt x="6917263" y="1925774"/>
                  <a:pt x="6897556" y="1919501"/>
                </a:cubicBezTo>
                <a:cubicBezTo>
                  <a:pt x="6877850" y="1913228"/>
                  <a:pt x="6856885" y="1910301"/>
                  <a:pt x="6834243" y="1910301"/>
                </a:cubicBezTo>
                <a:cubicBezTo>
                  <a:pt x="6782461" y="1910301"/>
                  <a:pt x="6736548" y="1931001"/>
                  <a:pt x="6703424" y="1965084"/>
                </a:cubicBezTo>
                <a:cubicBezTo>
                  <a:pt x="6670510" y="1999166"/>
                  <a:pt x="6650384" y="2046631"/>
                  <a:pt x="6650384" y="2100368"/>
                </a:cubicBezTo>
                <a:cubicBezTo>
                  <a:pt x="6650384" y="2154105"/>
                  <a:pt x="6669671" y="2201779"/>
                  <a:pt x="6701957" y="2236070"/>
                </a:cubicBezTo>
                <a:cubicBezTo>
                  <a:pt x="6734242" y="2270152"/>
                  <a:pt x="6779526" y="2291062"/>
                  <a:pt x="6831308" y="2291062"/>
                </a:cubicBezTo>
                <a:cubicBezTo>
                  <a:pt x="6878898" y="2291062"/>
                  <a:pt x="6917473" y="2275798"/>
                  <a:pt x="6945984" y="2250498"/>
                </a:cubicBezTo>
                <a:cubicBezTo>
                  <a:pt x="6974496" y="2225197"/>
                  <a:pt x="6992735" y="2189442"/>
                  <a:pt x="6999863" y="2148460"/>
                </a:cubicBezTo>
                <a:cubicBezTo>
                  <a:pt x="6825438" y="2148460"/>
                  <a:pt x="6825438" y="2148460"/>
                  <a:pt x="6825438" y="2148460"/>
                </a:cubicBezTo>
                <a:cubicBezTo>
                  <a:pt x="6849128" y="2111241"/>
                  <a:pt x="6849128" y="2111241"/>
                  <a:pt x="6849128" y="2111241"/>
                </a:cubicBezTo>
                <a:cubicBezTo>
                  <a:pt x="6873028" y="2074022"/>
                  <a:pt x="6873028" y="2074022"/>
                  <a:pt x="6873028" y="2074022"/>
                </a:cubicBezTo>
                <a:cubicBezTo>
                  <a:pt x="7078061" y="2074022"/>
                  <a:pt x="7078061" y="2074022"/>
                  <a:pt x="7078061" y="2074022"/>
                </a:cubicBezTo>
                <a:cubicBezTo>
                  <a:pt x="7079319" y="2078204"/>
                  <a:pt x="7080158" y="2083849"/>
                  <a:pt x="7080787" y="2090540"/>
                </a:cubicBezTo>
                <a:cubicBezTo>
                  <a:pt x="7081415" y="2096813"/>
                  <a:pt x="7081835" y="2103922"/>
                  <a:pt x="7081835" y="2110613"/>
                </a:cubicBezTo>
                <a:cubicBezTo>
                  <a:pt x="7081835" y="2183378"/>
                  <a:pt x="7056258" y="2247361"/>
                  <a:pt x="7011813" y="2293362"/>
                </a:cubicBezTo>
                <a:cubicBezTo>
                  <a:pt x="6967788" y="2339363"/>
                  <a:pt x="6904894" y="2366963"/>
                  <a:pt x="6830470" y="2366963"/>
                </a:cubicBezTo>
                <a:cubicBezTo>
                  <a:pt x="6756255" y="2366963"/>
                  <a:pt x="6690007" y="2337481"/>
                  <a:pt x="6642417" y="2289389"/>
                </a:cubicBezTo>
                <a:cubicBezTo>
                  <a:pt x="6595037" y="2241088"/>
                  <a:pt x="6565897" y="2174387"/>
                  <a:pt x="6565897" y="2100368"/>
                </a:cubicBezTo>
                <a:cubicBezTo>
                  <a:pt x="6565897" y="2026139"/>
                  <a:pt x="6595876" y="1959438"/>
                  <a:pt x="6644514" y="1911346"/>
                </a:cubicBezTo>
                <a:cubicBezTo>
                  <a:pt x="6692942" y="1863255"/>
                  <a:pt x="6760238" y="1833563"/>
                  <a:pt x="6834872" y="1833563"/>
                </a:cubicBezTo>
                <a:close/>
                <a:moveTo>
                  <a:pt x="501650" y="1403350"/>
                </a:moveTo>
                <a:cubicBezTo>
                  <a:pt x="501650" y="1403350"/>
                  <a:pt x="501650" y="1403350"/>
                  <a:pt x="501650" y="1925638"/>
                </a:cubicBezTo>
                <a:cubicBezTo>
                  <a:pt x="501650" y="1925638"/>
                  <a:pt x="501650" y="1925638"/>
                  <a:pt x="842112" y="1925638"/>
                </a:cubicBezTo>
                <a:cubicBezTo>
                  <a:pt x="842112" y="1925638"/>
                  <a:pt x="842112" y="1925638"/>
                  <a:pt x="1182574" y="1925638"/>
                </a:cubicBezTo>
                <a:cubicBezTo>
                  <a:pt x="1258233" y="1925638"/>
                  <a:pt x="1326576" y="1896842"/>
                  <a:pt x="1375900" y="1849684"/>
                </a:cubicBezTo>
                <a:cubicBezTo>
                  <a:pt x="1425224" y="1802317"/>
                  <a:pt x="1455738" y="1736796"/>
                  <a:pt x="1455738" y="1662720"/>
                </a:cubicBezTo>
                <a:cubicBezTo>
                  <a:pt x="1455738" y="1588853"/>
                  <a:pt x="1425224" y="1523958"/>
                  <a:pt x="1375900" y="1477635"/>
                </a:cubicBezTo>
                <a:cubicBezTo>
                  <a:pt x="1326576" y="1431103"/>
                  <a:pt x="1258233" y="1403350"/>
                  <a:pt x="1182574" y="1403350"/>
                </a:cubicBezTo>
                <a:cubicBezTo>
                  <a:pt x="1182574" y="1403350"/>
                  <a:pt x="1182574" y="1403350"/>
                  <a:pt x="501650" y="1403350"/>
                </a:cubicBezTo>
                <a:close/>
                <a:moveTo>
                  <a:pt x="7349808" y="1012825"/>
                </a:moveTo>
                <a:cubicBezTo>
                  <a:pt x="7297999" y="1012825"/>
                  <a:pt x="7251643" y="1033706"/>
                  <a:pt x="7218292" y="1067952"/>
                </a:cubicBezTo>
                <a:cubicBezTo>
                  <a:pt x="7184731" y="1102197"/>
                  <a:pt x="7164385" y="1149598"/>
                  <a:pt x="7164385" y="1202427"/>
                </a:cubicBezTo>
                <a:cubicBezTo>
                  <a:pt x="7164385" y="1255466"/>
                  <a:pt x="7184731" y="1302866"/>
                  <a:pt x="7218292" y="1336903"/>
                </a:cubicBezTo>
                <a:cubicBezTo>
                  <a:pt x="7251643" y="1371148"/>
                  <a:pt x="7297999" y="1392238"/>
                  <a:pt x="7349808" y="1392238"/>
                </a:cubicBezTo>
                <a:cubicBezTo>
                  <a:pt x="7401827" y="1392238"/>
                  <a:pt x="7448393" y="1371357"/>
                  <a:pt x="7481953" y="1337320"/>
                </a:cubicBezTo>
                <a:cubicBezTo>
                  <a:pt x="7515304" y="1303075"/>
                  <a:pt x="7535860" y="1255675"/>
                  <a:pt x="7535860" y="1202427"/>
                </a:cubicBezTo>
                <a:cubicBezTo>
                  <a:pt x="7535860" y="1149598"/>
                  <a:pt x="7515304" y="1102197"/>
                  <a:pt x="7481534" y="1067952"/>
                </a:cubicBezTo>
                <a:cubicBezTo>
                  <a:pt x="7447973" y="1033706"/>
                  <a:pt x="7401408" y="1012825"/>
                  <a:pt x="7349808" y="1012825"/>
                </a:cubicBezTo>
                <a:close/>
                <a:moveTo>
                  <a:pt x="10448922" y="946150"/>
                </a:moveTo>
                <a:lnTo>
                  <a:pt x="10552110" y="946150"/>
                </a:lnTo>
                <a:lnTo>
                  <a:pt x="10671172" y="1139825"/>
                </a:lnTo>
                <a:lnTo>
                  <a:pt x="10790235" y="1333501"/>
                </a:lnTo>
                <a:lnTo>
                  <a:pt x="10790235" y="946150"/>
                </a:lnTo>
                <a:lnTo>
                  <a:pt x="10869610" y="946150"/>
                </a:lnTo>
                <a:lnTo>
                  <a:pt x="10869610" y="1458913"/>
                </a:lnTo>
                <a:lnTo>
                  <a:pt x="10772772" y="1458913"/>
                </a:lnTo>
                <a:lnTo>
                  <a:pt x="10650535" y="1260475"/>
                </a:lnTo>
                <a:lnTo>
                  <a:pt x="10528297" y="1062038"/>
                </a:lnTo>
                <a:lnTo>
                  <a:pt x="10528297" y="1458913"/>
                </a:lnTo>
                <a:lnTo>
                  <a:pt x="10448922" y="1458913"/>
                </a:lnTo>
                <a:close/>
                <a:moveTo>
                  <a:pt x="10185397" y="946150"/>
                </a:moveTo>
                <a:lnTo>
                  <a:pt x="10267947" y="946150"/>
                </a:lnTo>
                <a:lnTo>
                  <a:pt x="10267947" y="1458913"/>
                </a:lnTo>
                <a:lnTo>
                  <a:pt x="10185397" y="1458913"/>
                </a:lnTo>
                <a:close/>
                <a:moveTo>
                  <a:pt x="9656760" y="946150"/>
                </a:moveTo>
                <a:lnTo>
                  <a:pt x="10059985" y="946150"/>
                </a:lnTo>
                <a:lnTo>
                  <a:pt x="10059985" y="1022350"/>
                </a:lnTo>
                <a:lnTo>
                  <a:pt x="9899648" y="1022350"/>
                </a:lnTo>
                <a:lnTo>
                  <a:pt x="9899648" y="1458913"/>
                </a:lnTo>
                <a:lnTo>
                  <a:pt x="9817098" y="1458913"/>
                </a:lnTo>
                <a:lnTo>
                  <a:pt x="9817098" y="1022350"/>
                </a:lnTo>
                <a:lnTo>
                  <a:pt x="9656760" y="1022350"/>
                </a:lnTo>
                <a:close/>
                <a:moveTo>
                  <a:pt x="9336085" y="946150"/>
                </a:moveTo>
                <a:lnTo>
                  <a:pt x="9418635" y="946150"/>
                </a:lnTo>
                <a:lnTo>
                  <a:pt x="9418635" y="1382713"/>
                </a:lnTo>
                <a:lnTo>
                  <a:pt x="9671048" y="1382713"/>
                </a:lnTo>
                <a:lnTo>
                  <a:pt x="9671048" y="1458913"/>
                </a:lnTo>
                <a:lnTo>
                  <a:pt x="9336085" y="1458913"/>
                </a:lnTo>
                <a:close/>
                <a:moveTo>
                  <a:pt x="8766172" y="946150"/>
                </a:moveTo>
                <a:cubicBezTo>
                  <a:pt x="8848414" y="946150"/>
                  <a:pt x="8848414" y="946150"/>
                  <a:pt x="8848414" y="946150"/>
                </a:cubicBezTo>
                <a:cubicBezTo>
                  <a:pt x="8848414" y="1260391"/>
                  <a:pt x="8848414" y="1260391"/>
                  <a:pt x="8848414" y="1260391"/>
                </a:cubicBezTo>
                <a:cubicBezTo>
                  <a:pt x="8848414" y="1297706"/>
                  <a:pt x="8861356" y="1331038"/>
                  <a:pt x="8883900" y="1355146"/>
                </a:cubicBezTo>
                <a:cubicBezTo>
                  <a:pt x="8906443" y="1379044"/>
                  <a:pt x="8939006" y="1393718"/>
                  <a:pt x="8978249" y="1393718"/>
                </a:cubicBezTo>
                <a:cubicBezTo>
                  <a:pt x="9017074" y="1393718"/>
                  <a:pt x="9049219" y="1379044"/>
                  <a:pt x="9071972" y="1355146"/>
                </a:cubicBezTo>
                <a:cubicBezTo>
                  <a:pt x="9094515" y="1331038"/>
                  <a:pt x="9107457" y="1297706"/>
                  <a:pt x="9107457" y="1260391"/>
                </a:cubicBezTo>
                <a:cubicBezTo>
                  <a:pt x="9107457" y="946150"/>
                  <a:pt x="9107457" y="946150"/>
                  <a:pt x="9107457" y="946150"/>
                </a:cubicBezTo>
                <a:cubicBezTo>
                  <a:pt x="9188447" y="946150"/>
                  <a:pt x="9188447" y="946150"/>
                  <a:pt x="9188447" y="946150"/>
                </a:cubicBezTo>
                <a:cubicBezTo>
                  <a:pt x="9188447" y="1261230"/>
                  <a:pt x="9188447" y="1261230"/>
                  <a:pt x="9188447" y="1261230"/>
                </a:cubicBezTo>
                <a:cubicBezTo>
                  <a:pt x="9188447" y="1321185"/>
                  <a:pt x="9166112" y="1373384"/>
                  <a:pt x="9128539" y="1410489"/>
                </a:cubicBezTo>
                <a:cubicBezTo>
                  <a:pt x="9090758" y="1447804"/>
                  <a:pt x="9038156" y="1470025"/>
                  <a:pt x="8977623" y="1470025"/>
                </a:cubicBezTo>
                <a:cubicBezTo>
                  <a:pt x="8917089" y="1470025"/>
                  <a:pt x="8864278" y="1447804"/>
                  <a:pt x="8826497" y="1410489"/>
                </a:cubicBezTo>
                <a:cubicBezTo>
                  <a:pt x="8788716" y="1373384"/>
                  <a:pt x="8766172" y="1321185"/>
                  <a:pt x="8766172" y="1261230"/>
                </a:cubicBezTo>
                <a:cubicBezTo>
                  <a:pt x="8766172" y="946150"/>
                  <a:pt x="8766172" y="946150"/>
                  <a:pt x="8766172" y="946150"/>
                </a:cubicBezTo>
                <a:close/>
                <a:moveTo>
                  <a:pt x="7737472" y="946150"/>
                </a:moveTo>
                <a:lnTo>
                  <a:pt x="7839072" y="946150"/>
                </a:lnTo>
                <a:lnTo>
                  <a:pt x="7958134" y="1139825"/>
                </a:lnTo>
                <a:lnTo>
                  <a:pt x="8077197" y="1333501"/>
                </a:lnTo>
                <a:lnTo>
                  <a:pt x="8077197" y="946150"/>
                </a:lnTo>
                <a:lnTo>
                  <a:pt x="8156572" y="946150"/>
                </a:lnTo>
                <a:lnTo>
                  <a:pt x="8156572" y="1458913"/>
                </a:lnTo>
                <a:lnTo>
                  <a:pt x="8061322" y="1458913"/>
                </a:lnTo>
                <a:lnTo>
                  <a:pt x="7939084" y="1260475"/>
                </a:lnTo>
                <a:lnTo>
                  <a:pt x="7815259" y="1062038"/>
                </a:lnTo>
                <a:lnTo>
                  <a:pt x="7815259" y="1458913"/>
                </a:lnTo>
                <a:lnTo>
                  <a:pt x="7737472" y="1458913"/>
                </a:lnTo>
                <a:close/>
                <a:moveTo>
                  <a:pt x="11253544" y="936625"/>
                </a:moveTo>
                <a:cubicBezTo>
                  <a:pt x="11284280" y="936625"/>
                  <a:pt x="11313343" y="940389"/>
                  <a:pt x="11340315" y="948334"/>
                </a:cubicBezTo>
                <a:cubicBezTo>
                  <a:pt x="11367287" y="956071"/>
                  <a:pt x="11391959" y="967989"/>
                  <a:pt x="11414331" y="984090"/>
                </a:cubicBezTo>
                <a:cubicBezTo>
                  <a:pt x="11392795" y="1017545"/>
                  <a:pt x="11392795" y="1017545"/>
                  <a:pt x="11392795" y="1017545"/>
                </a:cubicBezTo>
                <a:cubicBezTo>
                  <a:pt x="11371260" y="1051209"/>
                  <a:pt x="11371260" y="1051209"/>
                  <a:pt x="11371260" y="1051209"/>
                </a:cubicBezTo>
                <a:cubicBezTo>
                  <a:pt x="11354114" y="1038036"/>
                  <a:pt x="11335715" y="1028627"/>
                  <a:pt x="11316270" y="1022354"/>
                </a:cubicBezTo>
                <a:cubicBezTo>
                  <a:pt x="11296616" y="1016290"/>
                  <a:pt x="11275498" y="1013363"/>
                  <a:pt x="11252917" y="1013363"/>
                </a:cubicBezTo>
                <a:cubicBezTo>
                  <a:pt x="11201273" y="1013363"/>
                  <a:pt x="11155483" y="1034063"/>
                  <a:pt x="11122657" y="1067936"/>
                </a:cubicBezTo>
                <a:cubicBezTo>
                  <a:pt x="11089622" y="1102019"/>
                  <a:pt x="11069549" y="1149692"/>
                  <a:pt x="11069549" y="1203221"/>
                </a:cubicBezTo>
                <a:cubicBezTo>
                  <a:pt x="11069549" y="1256958"/>
                  <a:pt x="11088785" y="1304631"/>
                  <a:pt x="11120984" y="1338923"/>
                </a:cubicBezTo>
                <a:cubicBezTo>
                  <a:pt x="11153393" y="1373214"/>
                  <a:pt x="11198346" y="1394124"/>
                  <a:pt x="11249990" y="1394124"/>
                </a:cubicBezTo>
                <a:cubicBezTo>
                  <a:pt x="11297452" y="1394124"/>
                  <a:pt x="11335924" y="1378860"/>
                  <a:pt x="11364360" y="1353350"/>
                </a:cubicBezTo>
                <a:cubicBezTo>
                  <a:pt x="11392795" y="1328050"/>
                  <a:pt x="11410986" y="1292295"/>
                  <a:pt x="11418095" y="1251521"/>
                </a:cubicBezTo>
                <a:cubicBezTo>
                  <a:pt x="11244136" y="1251521"/>
                  <a:pt x="11244136" y="1251521"/>
                  <a:pt x="11244136" y="1251521"/>
                </a:cubicBezTo>
                <a:cubicBezTo>
                  <a:pt x="11267971" y="1214303"/>
                  <a:pt x="11267971" y="1214303"/>
                  <a:pt x="11267971" y="1214303"/>
                </a:cubicBezTo>
                <a:cubicBezTo>
                  <a:pt x="11291598" y="1177084"/>
                  <a:pt x="11291598" y="1177084"/>
                  <a:pt x="11291598" y="1177084"/>
                </a:cubicBezTo>
                <a:cubicBezTo>
                  <a:pt x="11496083" y="1177084"/>
                  <a:pt x="11496083" y="1177084"/>
                  <a:pt x="11496083" y="1177084"/>
                </a:cubicBezTo>
                <a:cubicBezTo>
                  <a:pt x="11497338" y="1181057"/>
                  <a:pt x="11498174" y="1186911"/>
                  <a:pt x="11498802" y="1193393"/>
                </a:cubicBezTo>
                <a:cubicBezTo>
                  <a:pt x="11499429" y="1199875"/>
                  <a:pt x="11499847" y="1206984"/>
                  <a:pt x="11499847" y="1213466"/>
                </a:cubicBezTo>
                <a:cubicBezTo>
                  <a:pt x="11499847" y="1286231"/>
                  <a:pt x="11474339" y="1350214"/>
                  <a:pt x="11430222" y="1396215"/>
                </a:cubicBezTo>
                <a:cubicBezTo>
                  <a:pt x="11386105" y="1442216"/>
                  <a:pt x="11323379" y="1470025"/>
                  <a:pt x="11249154" y="1470025"/>
                </a:cubicBezTo>
                <a:cubicBezTo>
                  <a:pt x="11175137" y="1470025"/>
                  <a:pt x="11109066" y="1440334"/>
                  <a:pt x="11061813" y="1392242"/>
                </a:cubicBezTo>
                <a:cubicBezTo>
                  <a:pt x="11014351" y="1344150"/>
                  <a:pt x="10985497" y="1277449"/>
                  <a:pt x="10985497" y="1203221"/>
                </a:cubicBezTo>
                <a:cubicBezTo>
                  <a:pt x="10985497" y="1129201"/>
                  <a:pt x="11015187" y="1062500"/>
                  <a:pt x="11063695" y="1014408"/>
                </a:cubicBezTo>
                <a:cubicBezTo>
                  <a:pt x="11111994" y="966317"/>
                  <a:pt x="11179110" y="936625"/>
                  <a:pt x="11253544" y="936625"/>
                </a:cubicBezTo>
                <a:close/>
                <a:moveTo>
                  <a:pt x="8471697" y="936625"/>
                </a:moveTo>
                <a:cubicBezTo>
                  <a:pt x="8502452" y="936625"/>
                  <a:pt x="8530906" y="941434"/>
                  <a:pt x="8556850" y="949798"/>
                </a:cubicBezTo>
                <a:cubicBezTo>
                  <a:pt x="8582793" y="958162"/>
                  <a:pt x="8606225" y="970080"/>
                  <a:pt x="8626729" y="984717"/>
                </a:cubicBezTo>
                <a:cubicBezTo>
                  <a:pt x="8626729" y="984717"/>
                  <a:pt x="8626729" y="984717"/>
                  <a:pt x="8606225" y="1017336"/>
                </a:cubicBezTo>
                <a:cubicBezTo>
                  <a:pt x="8606225" y="1017336"/>
                  <a:pt x="8606225" y="1017336"/>
                  <a:pt x="8585722" y="1049745"/>
                </a:cubicBezTo>
                <a:cubicBezTo>
                  <a:pt x="8566474" y="1037409"/>
                  <a:pt x="8547644" y="1027581"/>
                  <a:pt x="8528605" y="1021099"/>
                </a:cubicBezTo>
                <a:cubicBezTo>
                  <a:pt x="8509775" y="1014617"/>
                  <a:pt x="8490736" y="1011063"/>
                  <a:pt x="8471070" y="1011063"/>
                </a:cubicBezTo>
                <a:cubicBezTo>
                  <a:pt x="8441151" y="1011063"/>
                  <a:pt x="8418974" y="1019217"/>
                  <a:pt x="8404328" y="1032181"/>
                </a:cubicBezTo>
                <a:cubicBezTo>
                  <a:pt x="8389683" y="1045354"/>
                  <a:pt x="8382570" y="1063755"/>
                  <a:pt x="8382570" y="1084246"/>
                </a:cubicBezTo>
                <a:cubicBezTo>
                  <a:pt x="8382570" y="1108292"/>
                  <a:pt x="8393449" y="1123556"/>
                  <a:pt x="8412697" y="1135474"/>
                </a:cubicBezTo>
                <a:cubicBezTo>
                  <a:pt x="8432155" y="1147183"/>
                  <a:pt x="8459772" y="1155338"/>
                  <a:pt x="8493038" y="1165165"/>
                </a:cubicBezTo>
                <a:cubicBezTo>
                  <a:pt x="8532789" y="1177293"/>
                  <a:pt x="8571704" y="1190257"/>
                  <a:pt x="8600786" y="1212421"/>
                </a:cubicBezTo>
                <a:cubicBezTo>
                  <a:pt x="8629658" y="1234585"/>
                  <a:pt x="8648697" y="1265740"/>
                  <a:pt x="8648697" y="1314250"/>
                </a:cubicBezTo>
                <a:cubicBezTo>
                  <a:pt x="8648697" y="1359205"/>
                  <a:pt x="8632169" y="1398097"/>
                  <a:pt x="8601413" y="1425906"/>
                </a:cubicBezTo>
                <a:cubicBezTo>
                  <a:pt x="8570658" y="1453507"/>
                  <a:pt x="8525467" y="1470025"/>
                  <a:pt x="8468140" y="1470025"/>
                </a:cubicBezTo>
                <a:cubicBezTo>
                  <a:pt x="8427552" y="1470025"/>
                  <a:pt x="8393031" y="1463125"/>
                  <a:pt x="8363531" y="1452461"/>
                </a:cubicBezTo>
                <a:cubicBezTo>
                  <a:pt x="8333821" y="1441797"/>
                  <a:pt x="8308715" y="1427161"/>
                  <a:pt x="8286747" y="1411479"/>
                </a:cubicBezTo>
                <a:cubicBezTo>
                  <a:pt x="8286747" y="1411479"/>
                  <a:pt x="8286747" y="1411479"/>
                  <a:pt x="8307251" y="1379069"/>
                </a:cubicBezTo>
                <a:cubicBezTo>
                  <a:pt x="8307251" y="1379069"/>
                  <a:pt x="8307251" y="1379069"/>
                  <a:pt x="8327754" y="1346450"/>
                </a:cubicBezTo>
                <a:cubicBezTo>
                  <a:pt x="8349931" y="1360669"/>
                  <a:pt x="8372318" y="1373005"/>
                  <a:pt x="8395541" y="1381578"/>
                </a:cubicBezTo>
                <a:cubicBezTo>
                  <a:pt x="8418765" y="1390360"/>
                  <a:pt x="8442825" y="1395378"/>
                  <a:pt x="8468768" y="1395378"/>
                </a:cubicBezTo>
                <a:cubicBezTo>
                  <a:pt x="8500569" y="1395378"/>
                  <a:pt x="8525048" y="1387224"/>
                  <a:pt x="8541367" y="1373633"/>
                </a:cubicBezTo>
                <a:cubicBezTo>
                  <a:pt x="8557686" y="1360041"/>
                  <a:pt x="8566055" y="1341014"/>
                  <a:pt x="8566055" y="1319477"/>
                </a:cubicBezTo>
                <a:cubicBezTo>
                  <a:pt x="8566055" y="1295640"/>
                  <a:pt x="8554967" y="1280376"/>
                  <a:pt x="8535509" y="1268458"/>
                </a:cubicBezTo>
                <a:cubicBezTo>
                  <a:pt x="8516261" y="1256540"/>
                  <a:pt x="8488644" y="1248176"/>
                  <a:pt x="8455587" y="1238348"/>
                </a:cubicBezTo>
                <a:cubicBezTo>
                  <a:pt x="8415417" y="1226221"/>
                  <a:pt x="8376502" y="1213466"/>
                  <a:pt x="8347630" y="1191511"/>
                </a:cubicBezTo>
                <a:cubicBezTo>
                  <a:pt x="8318758" y="1169556"/>
                  <a:pt x="8299928" y="1138192"/>
                  <a:pt x="8299928" y="1089264"/>
                </a:cubicBezTo>
                <a:cubicBezTo>
                  <a:pt x="8299928" y="1044727"/>
                  <a:pt x="8315829" y="1006463"/>
                  <a:pt x="8345329" y="979489"/>
                </a:cubicBezTo>
                <a:cubicBezTo>
                  <a:pt x="8374828" y="952516"/>
                  <a:pt x="8417718" y="936625"/>
                  <a:pt x="8471697" y="936625"/>
                </a:cubicBezTo>
                <a:close/>
                <a:moveTo>
                  <a:pt x="7349808" y="936625"/>
                </a:moveTo>
                <a:cubicBezTo>
                  <a:pt x="7424849" y="936625"/>
                  <a:pt x="7492344" y="966526"/>
                  <a:pt x="7541183" y="1014826"/>
                </a:cubicBezTo>
                <a:cubicBezTo>
                  <a:pt x="7590023" y="1063127"/>
                  <a:pt x="7619997" y="1129828"/>
                  <a:pt x="7619997" y="1203221"/>
                </a:cubicBezTo>
                <a:cubicBezTo>
                  <a:pt x="7619997" y="1276613"/>
                  <a:pt x="7590023" y="1343314"/>
                  <a:pt x="7541183" y="1391615"/>
                </a:cubicBezTo>
                <a:cubicBezTo>
                  <a:pt x="7492344" y="1440125"/>
                  <a:pt x="7424849" y="1470025"/>
                  <a:pt x="7349808" y="1470025"/>
                </a:cubicBezTo>
                <a:cubicBezTo>
                  <a:pt x="7274767" y="1470025"/>
                  <a:pt x="7207272" y="1440125"/>
                  <a:pt x="7158642" y="1391615"/>
                </a:cubicBezTo>
                <a:cubicBezTo>
                  <a:pt x="7110012" y="1343314"/>
                  <a:pt x="7080247" y="1276613"/>
                  <a:pt x="7080247" y="1203221"/>
                </a:cubicBezTo>
                <a:cubicBezTo>
                  <a:pt x="7080247" y="1129828"/>
                  <a:pt x="7110012" y="1063127"/>
                  <a:pt x="7158642" y="1014826"/>
                </a:cubicBezTo>
                <a:cubicBezTo>
                  <a:pt x="7207272" y="966526"/>
                  <a:pt x="7274767" y="936625"/>
                  <a:pt x="7349808" y="936625"/>
                </a:cubicBezTo>
                <a:close/>
                <a:moveTo>
                  <a:pt x="6837427" y="936625"/>
                </a:moveTo>
                <a:cubicBezTo>
                  <a:pt x="6874092" y="936625"/>
                  <a:pt x="6904891" y="941852"/>
                  <a:pt x="6932756" y="951680"/>
                </a:cubicBezTo>
                <a:cubicBezTo>
                  <a:pt x="6960412" y="961507"/>
                  <a:pt x="6984925" y="975726"/>
                  <a:pt x="7008810" y="993499"/>
                </a:cubicBezTo>
                <a:cubicBezTo>
                  <a:pt x="7008810" y="993499"/>
                  <a:pt x="7008810" y="993499"/>
                  <a:pt x="6987439" y="1026745"/>
                </a:cubicBezTo>
                <a:cubicBezTo>
                  <a:pt x="6987439" y="1026745"/>
                  <a:pt x="6987439" y="1026745"/>
                  <a:pt x="6966278" y="1059991"/>
                </a:cubicBezTo>
                <a:cubicBezTo>
                  <a:pt x="6946584" y="1044727"/>
                  <a:pt x="6926680" y="1032809"/>
                  <a:pt x="6904891" y="1024863"/>
                </a:cubicBezTo>
                <a:cubicBezTo>
                  <a:pt x="6883101" y="1016708"/>
                  <a:pt x="6859845" y="1012526"/>
                  <a:pt x="6833027" y="1012526"/>
                </a:cubicBezTo>
                <a:cubicBezTo>
                  <a:pt x="6782115" y="1012526"/>
                  <a:pt x="6736441" y="1033436"/>
                  <a:pt x="6703338" y="1067727"/>
                </a:cubicBezTo>
                <a:cubicBezTo>
                  <a:pt x="6670444" y="1102019"/>
                  <a:pt x="6649912" y="1149483"/>
                  <a:pt x="6649912" y="1203221"/>
                </a:cubicBezTo>
                <a:cubicBezTo>
                  <a:pt x="6649912" y="1256958"/>
                  <a:pt x="6670444" y="1304631"/>
                  <a:pt x="6703338" y="1338923"/>
                </a:cubicBezTo>
                <a:cubicBezTo>
                  <a:pt x="6736441" y="1373214"/>
                  <a:pt x="6782115" y="1393915"/>
                  <a:pt x="6833027" y="1393915"/>
                </a:cubicBezTo>
                <a:cubicBezTo>
                  <a:pt x="6859845" y="1393915"/>
                  <a:pt x="6883101" y="1389733"/>
                  <a:pt x="6904891" y="1381787"/>
                </a:cubicBezTo>
                <a:cubicBezTo>
                  <a:pt x="6926680" y="1373633"/>
                  <a:pt x="6946584" y="1361923"/>
                  <a:pt x="6966278" y="1346450"/>
                </a:cubicBezTo>
                <a:cubicBezTo>
                  <a:pt x="6966278" y="1346450"/>
                  <a:pt x="6966278" y="1346450"/>
                  <a:pt x="6987439" y="1379696"/>
                </a:cubicBezTo>
                <a:cubicBezTo>
                  <a:pt x="6987439" y="1379696"/>
                  <a:pt x="6987439" y="1379696"/>
                  <a:pt x="7008810" y="1412942"/>
                </a:cubicBezTo>
                <a:cubicBezTo>
                  <a:pt x="6984925" y="1430924"/>
                  <a:pt x="6960412" y="1445143"/>
                  <a:pt x="6932756" y="1454970"/>
                </a:cubicBezTo>
                <a:cubicBezTo>
                  <a:pt x="6904891" y="1464589"/>
                  <a:pt x="6874092" y="1470025"/>
                  <a:pt x="6837427" y="1470025"/>
                </a:cubicBezTo>
                <a:cubicBezTo>
                  <a:pt x="6761373" y="1470025"/>
                  <a:pt x="6693491" y="1440334"/>
                  <a:pt x="6644674" y="1392242"/>
                </a:cubicBezTo>
                <a:cubicBezTo>
                  <a:pt x="6595648" y="1344150"/>
                  <a:pt x="6565897" y="1277449"/>
                  <a:pt x="6565897" y="1203221"/>
                </a:cubicBezTo>
                <a:cubicBezTo>
                  <a:pt x="6565897" y="1129201"/>
                  <a:pt x="6595648" y="1062500"/>
                  <a:pt x="6644674" y="1014408"/>
                </a:cubicBezTo>
                <a:cubicBezTo>
                  <a:pt x="6693491" y="966107"/>
                  <a:pt x="6761373" y="936625"/>
                  <a:pt x="6837427" y="936625"/>
                </a:cubicBezTo>
                <a:close/>
                <a:moveTo>
                  <a:pt x="501650" y="477838"/>
                </a:moveTo>
                <a:cubicBezTo>
                  <a:pt x="501650" y="477838"/>
                  <a:pt x="501650" y="477838"/>
                  <a:pt x="501650" y="981076"/>
                </a:cubicBezTo>
                <a:cubicBezTo>
                  <a:pt x="501650" y="981076"/>
                  <a:pt x="501650" y="981076"/>
                  <a:pt x="786010" y="981076"/>
                </a:cubicBezTo>
                <a:cubicBezTo>
                  <a:pt x="786010" y="981076"/>
                  <a:pt x="786010" y="981076"/>
                  <a:pt x="1070579" y="981076"/>
                </a:cubicBezTo>
                <a:cubicBezTo>
                  <a:pt x="1142870" y="981076"/>
                  <a:pt x="1207013" y="953710"/>
                  <a:pt x="1253188" y="908588"/>
                </a:cubicBezTo>
                <a:cubicBezTo>
                  <a:pt x="1299153" y="863466"/>
                  <a:pt x="1327150" y="800169"/>
                  <a:pt x="1327150" y="727681"/>
                </a:cubicBezTo>
                <a:cubicBezTo>
                  <a:pt x="1327150" y="655402"/>
                  <a:pt x="1299153" y="592942"/>
                  <a:pt x="1253188" y="548446"/>
                </a:cubicBezTo>
                <a:cubicBezTo>
                  <a:pt x="1207013" y="503951"/>
                  <a:pt x="1142870" y="477838"/>
                  <a:pt x="1070579" y="477838"/>
                </a:cubicBezTo>
                <a:cubicBezTo>
                  <a:pt x="1070579" y="477838"/>
                  <a:pt x="1070579" y="477838"/>
                  <a:pt x="501650" y="477838"/>
                </a:cubicBezTo>
                <a:close/>
                <a:moveTo>
                  <a:pt x="6675435" y="336550"/>
                </a:moveTo>
                <a:cubicBezTo>
                  <a:pt x="6675435" y="487363"/>
                  <a:pt x="6675435" y="487363"/>
                  <a:pt x="6675435" y="487363"/>
                </a:cubicBezTo>
                <a:cubicBezTo>
                  <a:pt x="6808467" y="487363"/>
                  <a:pt x="6808467" y="487363"/>
                  <a:pt x="6808467" y="487363"/>
                </a:cubicBezTo>
                <a:cubicBezTo>
                  <a:pt x="6831475" y="487363"/>
                  <a:pt x="6851346" y="478985"/>
                  <a:pt x="6865570" y="465370"/>
                </a:cubicBezTo>
                <a:cubicBezTo>
                  <a:pt x="6879793" y="451755"/>
                  <a:pt x="6888160" y="432903"/>
                  <a:pt x="6888160" y="411957"/>
                </a:cubicBezTo>
                <a:cubicBezTo>
                  <a:pt x="6888160" y="390801"/>
                  <a:pt x="6879793" y="371949"/>
                  <a:pt x="6865570" y="358334"/>
                </a:cubicBezTo>
                <a:cubicBezTo>
                  <a:pt x="6851346" y="344719"/>
                  <a:pt x="6831475" y="336550"/>
                  <a:pt x="6808467" y="336550"/>
                </a:cubicBezTo>
                <a:cubicBezTo>
                  <a:pt x="6675435" y="336550"/>
                  <a:pt x="6675435" y="336550"/>
                  <a:pt x="6675435" y="336550"/>
                </a:cubicBezTo>
                <a:close/>
                <a:moveTo>
                  <a:pt x="6675435" y="122238"/>
                </a:moveTo>
                <a:cubicBezTo>
                  <a:pt x="6675435" y="265113"/>
                  <a:pt x="6675435" y="265113"/>
                  <a:pt x="6675435" y="265113"/>
                </a:cubicBezTo>
                <a:cubicBezTo>
                  <a:pt x="6795279" y="265113"/>
                  <a:pt x="6795279" y="265113"/>
                  <a:pt x="6795279" y="265113"/>
                </a:cubicBezTo>
                <a:cubicBezTo>
                  <a:pt x="6816822" y="265113"/>
                  <a:pt x="6835228" y="257396"/>
                  <a:pt x="6848404" y="244673"/>
                </a:cubicBezTo>
                <a:cubicBezTo>
                  <a:pt x="6861372" y="231949"/>
                  <a:pt x="6869110" y="214012"/>
                  <a:pt x="6869110" y="193571"/>
                </a:cubicBezTo>
                <a:cubicBezTo>
                  <a:pt x="6869110" y="173131"/>
                  <a:pt x="6861372" y="155402"/>
                  <a:pt x="6848404" y="142679"/>
                </a:cubicBezTo>
                <a:cubicBezTo>
                  <a:pt x="6835228" y="129747"/>
                  <a:pt x="6816822" y="122238"/>
                  <a:pt x="6795279" y="122238"/>
                </a:cubicBezTo>
                <a:cubicBezTo>
                  <a:pt x="6675435" y="122238"/>
                  <a:pt x="6675435" y="122238"/>
                  <a:pt x="6675435" y="122238"/>
                </a:cubicBezTo>
                <a:close/>
                <a:moveTo>
                  <a:pt x="8850791" y="114300"/>
                </a:moveTo>
                <a:cubicBezTo>
                  <a:pt x="8799203" y="114300"/>
                  <a:pt x="8753045" y="135269"/>
                  <a:pt x="8719837" y="169657"/>
                </a:cubicBezTo>
                <a:cubicBezTo>
                  <a:pt x="8686419" y="204046"/>
                  <a:pt x="8666160" y="251645"/>
                  <a:pt x="8666160" y="304905"/>
                </a:cubicBezTo>
                <a:cubicBezTo>
                  <a:pt x="8666160" y="357956"/>
                  <a:pt x="8686419" y="405554"/>
                  <a:pt x="8719837" y="439943"/>
                </a:cubicBezTo>
                <a:cubicBezTo>
                  <a:pt x="8753045" y="474332"/>
                  <a:pt x="8799203" y="495300"/>
                  <a:pt x="8850791" y="495300"/>
                </a:cubicBezTo>
                <a:cubicBezTo>
                  <a:pt x="8902588" y="495300"/>
                  <a:pt x="8948954" y="474541"/>
                  <a:pt x="8982163" y="440153"/>
                </a:cubicBezTo>
                <a:cubicBezTo>
                  <a:pt x="9015580" y="405974"/>
                  <a:pt x="9036048" y="358375"/>
                  <a:pt x="9036048" y="304905"/>
                </a:cubicBezTo>
                <a:cubicBezTo>
                  <a:pt x="9036048" y="251645"/>
                  <a:pt x="9015371" y="204046"/>
                  <a:pt x="8981954" y="169657"/>
                </a:cubicBezTo>
                <a:cubicBezTo>
                  <a:pt x="8948536" y="135269"/>
                  <a:pt x="8902170" y="114300"/>
                  <a:pt x="8850791" y="114300"/>
                </a:cubicBezTo>
                <a:close/>
                <a:moveTo>
                  <a:pt x="7335415" y="114300"/>
                </a:moveTo>
                <a:cubicBezTo>
                  <a:pt x="7283845" y="114300"/>
                  <a:pt x="7237515" y="135269"/>
                  <a:pt x="7203974" y="169657"/>
                </a:cubicBezTo>
                <a:cubicBezTo>
                  <a:pt x="7170642" y="204046"/>
                  <a:pt x="7150097" y="251645"/>
                  <a:pt x="7150097" y="304905"/>
                </a:cubicBezTo>
                <a:cubicBezTo>
                  <a:pt x="7150097" y="357956"/>
                  <a:pt x="7170642" y="405554"/>
                  <a:pt x="7203974" y="439943"/>
                </a:cubicBezTo>
                <a:cubicBezTo>
                  <a:pt x="7237515" y="474332"/>
                  <a:pt x="7283845" y="495300"/>
                  <a:pt x="7335415" y="495300"/>
                </a:cubicBezTo>
                <a:cubicBezTo>
                  <a:pt x="7387405" y="495300"/>
                  <a:pt x="7433944" y="474541"/>
                  <a:pt x="7467486" y="440153"/>
                </a:cubicBezTo>
                <a:cubicBezTo>
                  <a:pt x="7501028" y="405974"/>
                  <a:pt x="7521572" y="358375"/>
                  <a:pt x="7521572" y="304905"/>
                </a:cubicBezTo>
                <a:cubicBezTo>
                  <a:pt x="7521572" y="251645"/>
                  <a:pt x="7500818" y="204046"/>
                  <a:pt x="7467067" y="169657"/>
                </a:cubicBezTo>
                <a:cubicBezTo>
                  <a:pt x="7433525" y="135269"/>
                  <a:pt x="7386986" y="114300"/>
                  <a:pt x="7335415" y="114300"/>
                </a:cubicBezTo>
                <a:close/>
                <a:moveTo>
                  <a:pt x="9237660" y="49213"/>
                </a:moveTo>
                <a:lnTo>
                  <a:pt x="9339260" y="49213"/>
                </a:lnTo>
                <a:lnTo>
                  <a:pt x="9458322" y="242888"/>
                </a:lnTo>
                <a:lnTo>
                  <a:pt x="9578972" y="436563"/>
                </a:lnTo>
                <a:lnTo>
                  <a:pt x="9578972" y="49213"/>
                </a:lnTo>
                <a:lnTo>
                  <a:pt x="9656760" y="49213"/>
                </a:lnTo>
                <a:lnTo>
                  <a:pt x="9656760" y="560388"/>
                </a:lnTo>
                <a:lnTo>
                  <a:pt x="9561510" y="560388"/>
                </a:lnTo>
                <a:lnTo>
                  <a:pt x="9439272" y="363538"/>
                </a:lnTo>
                <a:lnTo>
                  <a:pt x="9317035" y="165101"/>
                </a:lnTo>
                <a:lnTo>
                  <a:pt x="9317035" y="560388"/>
                </a:lnTo>
                <a:lnTo>
                  <a:pt x="9237660" y="560388"/>
                </a:lnTo>
                <a:close/>
                <a:moveTo>
                  <a:pt x="8126410" y="49213"/>
                </a:moveTo>
                <a:lnTo>
                  <a:pt x="8529635" y="49213"/>
                </a:lnTo>
                <a:lnTo>
                  <a:pt x="8529635" y="125413"/>
                </a:lnTo>
                <a:lnTo>
                  <a:pt x="8369298" y="125413"/>
                </a:lnTo>
                <a:lnTo>
                  <a:pt x="8369298" y="560388"/>
                </a:lnTo>
                <a:lnTo>
                  <a:pt x="8285160" y="560388"/>
                </a:lnTo>
                <a:lnTo>
                  <a:pt x="8285160" y="125413"/>
                </a:lnTo>
                <a:lnTo>
                  <a:pt x="8126410" y="125413"/>
                </a:lnTo>
                <a:close/>
                <a:moveTo>
                  <a:pt x="6592885" y="49213"/>
                </a:moveTo>
                <a:cubicBezTo>
                  <a:pt x="6795851" y="49213"/>
                  <a:pt x="6795851" y="49213"/>
                  <a:pt x="6795851" y="49213"/>
                </a:cubicBezTo>
                <a:cubicBezTo>
                  <a:pt x="6840537" y="49213"/>
                  <a:pt x="6879794" y="63633"/>
                  <a:pt x="6907775" y="87875"/>
                </a:cubicBezTo>
                <a:cubicBezTo>
                  <a:pt x="6935756" y="112117"/>
                  <a:pt x="6952670" y="146182"/>
                  <a:pt x="6952670" y="185680"/>
                </a:cubicBezTo>
                <a:cubicBezTo>
                  <a:pt x="6952670" y="208041"/>
                  <a:pt x="6946823" y="228103"/>
                  <a:pt x="6936382" y="245658"/>
                </a:cubicBezTo>
                <a:cubicBezTo>
                  <a:pt x="6925733" y="263004"/>
                  <a:pt x="6910698" y="277633"/>
                  <a:pt x="6892114" y="288709"/>
                </a:cubicBezTo>
                <a:cubicBezTo>
                  <a:pt x="6916963" y="300621"/>
                  <a:pt x="6937009" y="318176"/>
                  <a:pt x="6950791" y="339492"/>
                </a:cubicBezTo>
                <a:cubicBezTo>
                  <a:pt x="6964572" y="360808"/>
                  <a:pt x="6972298" y="385677"/>
                  <a:pt x="6972298" y="412845"/>
                </a:cubicBezTo>
                <a:cubicBezTo>
                  <a:pt x="6972298" y="454015"/>
                  <a:pt x="6955384" y="491005"/>
                  <a:pt x="6926359" y="517546"/>
                </a:cubicBezTo>
                <a:cubicBezTo>
                  <a:pt x="6897543" y="544087"/>
                  <a:pt x="6856616" y="560388"/>
                  <a:pt x="6808798" y="560388"/>
                </a:cubicBezTo>
                <a:cubicBezTo>
                  <a:pt x="6592885" y="560388"/>
                  <a:pt x="6592885" y="560388"/>
                  <a:pt x="6592885" y="560388"/>
                </a:cubicBezTo>
                <a:cubicBezTo>
                  <a:pt x="6592885" y="49213"/>
                  <a:pt x="6592885" y="49213"/>
                  <a:pt x="6592885" y="49213"/>
                </a:cubicBezTo>
                <a:close/>
                <a:moveTo>
                  <a:pt x="8850790" y="38100"/>
                </a:moveTo>
                <a:cubicBezTo>
                  <a:pt x="8925610" y="38100"/>
                  <a:pt x="8992907" y="68001"/>
                  <a:pt x="9041603" y="116301"/>
                </a:cubicBezTo>
                <a:cubicBezTo>
                  <a:pt x="9090299" y="164602"/>
                  <a:pt x="9120185" y="231303"/>
                  <a:pt x="9120185" y="304905"/>
                </a:cubicBezTo>
                <a:cubicBezTo>
                  <a:pt x="9120185" y="378297"/>
                  <a:pt x="9090299" y="444998"/>
                  <a:pt x="9041603" y="493090"/>
                </a:cubicBezTo>
                <a:cubicBezTo>
                  <a:pt x="8992907" y="541600"/>
                  <a:pt x="8925610" y="571500"/>
                  <a:pt x="8850790" y="571500"/>
                </a:cubicBezTo>
                <a:cubicBezTo>
                  <a:pt x="8775761" y="571500"/>
                  <a:pt x="8708673" y="541600"/>
                  <a:pt x="8660186" y="493090"/>
                </a:cubicBezTo>
                <a:cubicBezTo>
                  <a:pt x="8611699" y="444998"/>
                  <a:pt x="8582022" y="378297"/>
                  <a:pt x="8582022" y="304905"/>
                </a:cubicBezTo>
                <a:cubicBezTo>
                  <a:pt x="8582022" y="231303"/>
                  <a:pt x="8611699" y="164602"/>
                  <a:pt x="8660186" y="116301"/>
                </a:cubicBezTo>
                <a:cubicBezTo>
                  <a:pt x="8708673" y="68001"/>
                  <a:pt x="8775761" y="38100"/>
                  <a:pt x="8850790" y="38100"/>
                </a:cubicBezTo>
                <a:close/>
                <a:moveTo>
                  <a:pt x="7870035" y="38100"/>
                </a:moveTo>
                <a:cubicBezTo>
                  <a:pt x="7871499" y="38100"/>
                  <a:pt x="7871499" y="38100"/>
                  <a:pt x="7871499" y="38100"/>
                </a:cubicBezTo>
                <a:cubicBezTo>
                  <a:pt x="7901627" y="38309"/>
                  <a:pt x="7929663" y="42909"/>
                  <a:pt x="7955187" y="51273"/>
                </a:cubicBezTo>
                <a:cubicBezTo>
                  <a:pt x="7981131" y="59637"/>
                  <a:pt x="8004563" y="71764"/>
                  <a:pt x="8025067" y="86401"/>
                </a:cubicBezTo>
                <a:cubicBezTo>
                  <a:pt x="8004563" y="118811"/>
                  <a:pt x="8004563" y="118811"/>
                  <a:pt x="8004563" y="118811"/>
                </a:cubicBezTo>
                <a:cubicBezTo>
                  <a:pt x="7984060" y="151429"/>
                  <a:pt x="7984060" y="151429"/>
                  <a:pt x="7984060" y="151429"/>
                </a:cubicBezTo>
                <a:cubicBezTo>
                  <a:pt x="7964811" y="138884"/>
                  <a:pt x="7945982" y="129265"/>
                  <a:pt x="7926943" y="122574"/>
                </a:cubicBezTo>
                <a:cubicBezTo>
                  <a:pt x="7908113" y="116092"/>
                  <a:pt x="7889074" y="112538"/>
                  <a:pt x="7869198" y="112538"/>
                </a:cubicBezTo>
                <a:cubicBezTo>
                  <a:pt x="7839280" y="112538"/>
                  <a:pt x="7817312" y="120692"/>
                  <a:pt x="7802666" y="133865"/>
                </a:cubicBezTo>
                <a:cubicBezTo>
                  <a:pt x="7788021" y="147038"/>
                  <a:pt x="7780907" y="165230"/>
                  <a:pt x="7780907" y="185721"/>
                </a:cubicBezTo>
                <a:cubicBezTo>
                  <a:pt x="7780907" y="209767"/>
                  <a:pt x="7791787" y="225031"/>
                  <a:pt x="7811035" y="236949"/>
                </a:cubicBezTo>
                <a:cubicBezTo>
                  <a:pt x="7830283" y="248658"/>
                  <a:pt x="7857900" y="257022"/>
                  <a:pt x="7891166" y="266849"/>
                </a:cubicBezTo>
                <a:cubicBezTo>
                  <a:pt x="7931127" y="278977"/>
                  <a:pt x="7970042" y="291941"/>
                  <a:pt x="7998914" y="313896"/>
                </a:cubicBezTo>
                <a:cubicBezTo>
                  <a:pt x="8027996" y="336060"/>
                  <a:pt x="8047035" y="367424"/>
                  <a:pt x="8047035" y="415934"/>
                </a:cubicBezTo>
                <a:cubicBezTo>
                  <a:pt x="8047035" y="460889"/>
                  <a:pt x="8030506" y="499781"/>
                  <a:pt x="7999751" y="527381"/>
                </a:cubicBezTo>
                <a:cubicBezTo>
                  <a:pt x="7968787" y="554982"/>
                  <a:pt x="7923804" y="571500"/>
                  <a:pt x="7866478" y="571500"/>
                </a:cubicBezTo>
                <a:cubicBezTo>
                  <a:pt x="7825890" y="571500"/>
                  <a:pt x="7791368" y="564809"/>
                  <a:pt x="7761659" y="554145"/>
                </a:cubicBezTo>
                <a:cubicBezTo>
                  <a:pt x="7731950" y="543272"/>
                  <a:pt x="7707053" y="528845"/>
                  <a:pt x="7685085" y="512954"/>
                </a:cubicBezTo>
                <a:cubicBezTo>
                  <a:pt x="7725883" y="447925"/>
                  <a:pt x="7725883" y="447925"/>
                  <a:pt x="7725883" y="447925"/>
                </a:cubicBezTo>
                <a:cubicBezTo>
                  <a:pt x="7748269" y="462353"/>
                  <a:pt x="7770656" y="474480"/>
                  <a:pt x="7793879" y="483053"/>
                </a:cubicBezTo>
                <a:cubicBezTo>
                  <a:pt x="7816893" y="491835"/>
                  <a:pt x="7841163" y="497063"/>
                  <a:pt x="7867106" y="497063"/>
                </a:cubicBezTo>
                <a:cubicBezTo>
                  <a:pt x="7898907" y="497063"/>
                  <a:pt x="7923177" y="488699"/>
                  <a:pt x="7939496" y="475108"/>
                </a:cubicBezTo>
                <a:cubicBezTo>
                  <a:pt x="7956024" y="461516"/>
                  <a:pt x="7964393" y="442489"/>
                  <a:pt x="7964393" y="420952"/>
                </a:cubicBezTo>
                <a:cubicBezTo>
                  <a:pt x="7964393" y="397324"/>
                  <a:pt x="7953095" y="381851"/>
                  <a:pt x="7933847" y="369933"/>
                </a:cubicBezTo>
                <a:cubicBezTo>
                  <a:pt x="7914389" y="358224"/>
                  <a:pt x="7886982" y="349860"/>
                  <a:pt x="7853925" y="339823"/>
                </a:cubicBezTo>
                <a:cubicBezTo>
                  <a:pt x="7813755" y="327696"/>
                  <a:pt x="7774840" y="314941"/>
                  <a:pt x="7745968" y="292986"/>
                </a:cubicBezTo>
                <a:cubicBezTo>
                  <a:pt x="7717095" y="271031"/>
                  <a:pt x="7698266" y="239667"/>
                  <a:pt x="7698266" y="190739"/>
                </a:cubicBezTo>
                <a:cubicBezTo>
                  <a:pt x="7698266" y="146202"/>
                  <a:pt x="7714166" y="107938"/>
                  <a:pt x="7743666" y="80964"/>
                </a:cubicBezTo>
                <a:cubicBezTo>
                  <a:pt x="7772957" y="53991"/>
                  <a:pt x="7815847" y="38100"/>
                  <a:pt x="7870035" y="38100"/>
                </a:cubicBezTo>
                <a:close/>
                <a:moveTo>
                  <a:pt x="7334624" y="38100"/>
                </a:moveTo>
                <a:cubicBezTo>
                  <a:pt x="7409415" y="38100"/>
                  <a:pt x="7476894" y="68001"/>
                  <a:pt x="7525363" y="116301"/>
                </a:cubicBezTo>
                <a:cubicBezTo>
                  <a:pt x="7574040" y="164602"/>
                  <a:pt x="7604123" y="231303"/>
                  <a:pt x="7604123" y="304905"/>
                </a:cubicBezTo>
                <a:cubicBezTo>
                  <a:pt x="7604123" y="378297"/>
                  <a:pt x="7574040" y="444998"/>
                  <a:pt x="7525363" y="493090"/>
                </a:cubicBezTo>
                <a:cubicBezTo>
                  <a:pt x="7476894" y="541600"/>
                  <a:pt x="7409415" y="571500"/>
                  <a:pt x="7334624" y="571500"/>
                </a:cubicBezTo>
                <a:cubicBezTo>
                  <a:pt x="7259833" y="571500"/>
                  <a:pt x="7192562" y="541600"/>
                  <a:pt x="7144094" y="493090"/>
                </a:cubicBezTo>
                <a:cubicBezTo>
                  <a:pt x="7095626" y="444998"/>
                  <a:pt x="7065960" y="378297"/>
                  <a:pt x="7065960" y="304905"/>
                </a:cubicBezTo>
                <a:cubicBezTo>
                  <a:pt x="7065960" y="231303"/>
                  <a:pt x="7095626" y="164602"/>
                  <a:pt x="7144094" y="116301"/>
                </a:cubicBezTo>
                <a:cubicBezTo>
                  <a:pt x="7192562" y="68001"/>
                  <a:pt x="7259833" y="38100"/>
                  <a:pt x="7334624" y="38100"/>
                </a:cubicBezTo>
                <a:close/>
                <a:moveTo>
                  <a:pt x="2766077" y="0"/>
                </a:moveTo>
                <a:cubicBezTo>
                  <a:pt x="2901191" y="0"/>
                  <a:pt x="3028777" y="17359"/>
                  <a:pt x="3146531" y="51449"/>
                </a:cubicBezTo>
                <a:cubicBezTo>
                  <a:pt x="3264077" y="85540"/>
                  <a:pt x="3372000" y="136571"/>
                  <a:pt x="3467375" y="204124"/>
                </a:cubicBezTo>
                <a:cubicBezTo>
                  <a:pt x="3467375" y="204124"/>
                  <a:pt x="3467375" y="204124"/>
                  <a:pt x="3340627" y="403228"/>
                </a:cubicBezTo>
                <a:cubicBezTo>
                  <a:pt x="3340627" y="403228"/>
                  <a:pt x="3340627" y="403228"/>
                  <a:pt x="3213880" y="602542"/>
                </a:cubicBezTo>
                <a:cubicBezTo>
                  <a:pt x="3153015" y="556321"/>
                  <a:pt x="3084622" y="520976"/>
                  <a:pt x="3009743" y="496716"/>
                </a:cubicBezTo>
                <a:cubicBezTo>
                  <a:pt x="2934865" y="472455"/>
                  <a:pt x="2853295" y="459279"/>
                  <a:pt x="2766077" y="457606"/>
                </a:cubicBezTo>
                <a:cubicBezTo>
                  <a:pt x="2556923" y="459279"/>
                  <a:pt x="2368473" y="545655"/>
                  <a:pt x="2232314" y="681180"/>
                </a:cubicBezTo>
                <a:cubicBezTo>
                  <a:pt x="2095946" y="816496"/>
                  <a:pt x="2012073" y="1000960"/>
                  <a:pt x="2012073" y="1198391"/>
                </a:cubicBezTo>
                <a:cubicBezTo>
                  <a:pt x="2012073" y="1399378"/>
                  <a:pt x="2095946" y="1585307"/>
                  <a:pt x="2232314" y="1721250"/>
                </a:cubicBezTo>
                <a:cubicBezTo>
                  <a:pt x="2368473" y="1856984"/>
                  <a:pt x="2556923" y="1942732"/>
                  <a:pt x="2766077" y="1942732"/>
                </a:cubicBezTo>
                <a:cubicBezTo>
                  <a:pt x="2868145" y="1942732"/>
                  <a:pt x="2962893" y="1923700"/>
                  <a:pt x="3050111" y="1886682"/>
                </a:cubicBezTo>
                <a:cubicBezTo>
                  <a:pt x="3137328" y="1849664"/>
                  <a:pt x="3217225" y="1794450"/>
                  <a:pt x="3289594" y="1722086"/>
                </a:cubicBezTo>
                <a:cubicBezTo>
                  <a:pt x="3462565" y="1549125"/>
                  <a:pt x="3493101" y="1332661"/>
                  <a:pt x="3543925" y="1095493"/>
                </a:cubicBezTo>
                <a:cubicBezTo>
                  <a:pt x="3595168" y="858533"/>
                  <a:pt x="3666699" y="600869"/>
                  <a:pt x="3921866" y="345714"/>
                </a:cubicBezTo>
                <a:cubicBezTo>
                  <a:pt x="4028953" y="238633"/>
                  <a:pt x="4155701" y="152256"/>
                  <a:pt x="4300646" y="92441"/>
                </a:cubicBezTo>
                <a:cubicBezTo>
                  <a:pt x="4445590" y="32836"/>
                  <a:pt x="4608522" y="0"/>
                  <a:pt x="4787977" y="0"/>
                </a:cubicBezTo>
                <a:cubicBezTo>
                  <a:pt x="4922882" y="0"/>
                  <a:pt x="5050676" y="18823"/>
                  <a:pt x="5168221" y="54796"/>
                </a:cubicBezTo>
                <a:cubicBezTo>
                  <a:pt x="5285976" y="90559"/>
                  <a:pt x="5393900" y="143054"/>
                  <a:pt x="5489275" y="210607"/>
                </a:cubicBezTo>
                <a:cubicBezTo>
                  <a:pt x="5489275" y="210607"/>
                  <a:pt x="5489275" y="210607"/>
                  <a:pt x="5364200" y="409921"/>
                </a:cubicBezTo>
                <a:cubicBezTo>
                  <a:pt x="5364200" y="409921"/>
                  <a:pt x="5364200" y="409921"/>
                  <a:pt x="5239125" y="609025"/>
                </a:cubicBezTo>
                <a:cubicBezTo>
                  <a:pt x="5176588" y="563014"/>
                  <a:pt x="5107357" y="525996"/>
                  <a:pt x="5031643" y="500480"/>
                </a:cubicBezTo>
                <a:cubicBezTo>
                  <a:pt x="4955929" y="474965"/>
                  <a:pt x="4873522" y="460952"/>
                  <a:pt x="4784631" y="460952"/>
                </a:cubicBezTo>
                <a:cubicBezTo>
                  <a:pt x="4580495" y="460952"/>
                  <a:pt x="4396857" y="544818"/>
                  <a:pt x="4264462" y="679089"/>
                </a:cubicBezTo>
                <a:cubicBezTo>
                  <a:pt x="4131857" y="813149"/>
                  <a:pt x="4050287" y="997614"/>
                  <a:pt x="4050287" y="1198391"/>
                </a:cubicBezTo>
                <a:cubicBezTo>
                  <a:pt x="4050287" y="1402724"/>
                  <a:pt x="4131021" y="1589489"/>
                  <a:pt x="4262370" y="1725223"/>
                </a:cubicBezTo>
                <a:cubicBezTo>
                  <a:pt x="4393720" y="1861167"/>
                  <a:pt x="4575477" y="1945870"/>
                  <a:pt x="4778147" y="1945870"/>
                </a:cubicBezTo>
                <a:cubicBezTo>
                  <a:pt x="4939406" y="1945870"/>
                  <a:pt x="5080167" y="1893165"/>
                  <a:pt x="5191438" y="1804280"/>
                </a:cubicBezTo>
                <a:cubicBezTo>
                  <a:pt x="5302499" y="1715394"/>
                  <a:pt x="5384070" y="1590326"/>
                  <a:pt x="5426737" y="1445390"/>
                </a:cubicBezTo>
                <a:cubicBezTo>
                  <a:pt x="5426737" y="1445390"/>
                  <a:pt x="5426737" y="1445390"/>
                  <a:pt x="4708917" y="1445390"/>
                </a:cubicBezTo>
                <a:cubicBezTo>
                  <a:pt x="4708917" y="1445390"/>
                  <a:pt x="4708917" y="1445390"/>
                  <a:pt x="4850515" y="1223279"/>
                </a:cubicBezTo>
                <a:cubicBezTo>
                  <a:pt x="4850515" y="1223279"/>
                  <a:pt x="4850515" y="1223279"/>
                  <a:pt x="4992113" y="1000960"/>
                </a:cubicBezTo>
                <a:cubicBezTo>
                  <a:pt x="4992113" y="1000960"/>
                  <a:pt x="4992113" y="1000960"/>
                  <a:pt x="5457901" y="1000960"/>
                </a:cubicBezTo>
                <a:cubicBezTo>
                  <a:pt x="5457901" y="1000960"/>
                  <a:pt x="5457901" y="1000960"/>
                  <a:pt x="5924108" y="1000960"/>
                </a:cubicBezTo>
                <a:cubicBezTo>
                  <a:pt x="5928919" y="1033796"/>
                  <a:pt x="5933102" y="1066840"/>
                  <a:pt x="5936030" y="1100094"/>
                </a:cubicBezTo>
                <a:cubicBezTo>
                  <a:pt x="5938749" y="1133557"/>
                  <a:pt x="5940422" y="1167229"/>
                  <a:pt x="5940422" y="1201738"/>
                </a:cubicBezTo>
                <a:cubicBezTo>
                  <a:pt x="5940422" y="1532602"/>
                  <a:pt x="5812001" y="1833141"/>
                  <a:pt x="5600963" y="2050860"/>
                </a:cubicBezTo>
                <a:cubicBezTo>
                  <a:pt x="5389717" y="2268578"/>
                  <a:pt x="5095854" y="2403475"/>
                  <a:pt x="4764970" y="2403475"/>
                </a:cubicBezTo>
                <a:cubicBezTo>
                  <a:pt x="4549331" y="2403475"/>
                  <a:pt x="4350006" y="2352653"/>
                  <a:pt x="4178290" y="2262513"/>
                </a:cubicBezTo>
                <a:cubicBezTo>
                  <a:pt x="4006784" y="2172372"/>
                  <a:pt x="3862676" y="2043121"/>
                  <a:pt x="3757265" y="1886682"/>
                </a:cubicBezTo>
                <a:cubicBezTo>
                  <a:pt x="3647040" y="2044794"/>
                  <a:pt x="3502931" y="2173836"/>
                  <a:pt x="3332469" y="2263558"/>
                </a:cubicBezTo>
                <a:cubicBezTo>
                  <a:pt x="3162009" y="2353490"/>
                  <a:pt x="2965403" y="2403475"/>
                  <a:pt x="2749555" y="2403475"/>
                </a:cubicBezTo>
                <a:cubicBezTo>
                  <a:pt x="2566961" y="2403475"/>
                  <a:pt x="2395664" y="2364993"/>
                  <a:pt x="2242563" y="2295766"/>
                </a:cubicBezTo>
                <a:cubicBezTo>
                  <a:pt x="2089461" y="2226540"/>
                  <a:pt x="1954347" y="2126988"/>
                  <a:pt x="1844121" y="2005266"/>
                </a:cubicBezTo>
                <a:cubicBezTo>
                  <a:pt x="1783258" y="2108792"/>
                  <a:pt x="1694366" y="2196214"/>
                  <a:pt x="1583096" y="2257493"/>
                </a:cubicBezTo>
                <a:cubicBezTo>
                  <a:pt x="1472034" y="2318772"/>
                  <a:pt x="1338593" y="2354117"/>
                  <a:pt x="1188838" y="2354117"/>
                </a:cubicBezTo>
                <a:cubicBezTo>
                  <a:pt x="1188838" y="2354117"/>
                  <a:pt x="1188838" y="2354117"/>
                  <a:pt x="0" y="2354117"/>
                </a:cubicBezTo>
                <a:cubicBezTo>
                  <a:pt x="0" y="2354117"/>
                  <a:pt x="0" y="2354117"/>
                  <a:pt x="0" y="1201738"/>
                </a:cubicBezTo>
                <a:cubicBezTo>
                  <a:pt x="0" y="1201738"/>
                  <a:pt x="0" y="1201738"/>
                  <a:pt x="0" y="49358"/>
                </a:cubicBezTo>
                <a:cubicBezTo>
                  <a:pt x="0" y="49358"/>
                  <a:pt x="0" y="49358"/>
                  <a:pt x="538575" y="49358"/>
                </a:cubicBezTo>
                <a:cubicBezTo>
                  <a:pt x="538575" y="49358"/>
                  <a:pt x="538575" y="49358"/>
                  <a:pt x="1076940" y="49358"/>
                </a:cubicBezTo>
                <a:cubicBezTo>
                  <a:pt x="1249702" y="49358"/>
                  <a:pt x="1402804" y="96206"/>
                  <a:pt x="1523487" y="176099"/>
                </a:cubicBezTo>
                <a:cubicBezTo>
                  <a:pt x="1643960" y="255992"/>
                  <a:pt x="1732223" y="368720"/>
                  <a:pt x="1774892" y="500480"/>
                </a:cubicBezTo>
                <a:cubicBezTo>
                  <a:pt x="1883653" y="350524"/>
                  <a:pt x="2027552" y="225457"/>
                  <a:pt x="2196549" y="137826"/>
                </a:cubicBezTo>
                <a:cubicBezTo>
                  <a:pt x="2365129" y="50195"/>
                  <a:pt x="2558596" y="0"/>
                  <a:pt x="276607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p>
        </p:txBody>
      </p:sp>
    </p:spTree>
    <p:extLst>
      <p:ext uri="{BB962C8B-B14F-4D97-AF65-F5344CB8AC3E}">
        <p14:creationId xmlns:p14="http://schemas.microsoft.com/office/powerpoint/2010/main" val="412946857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p:cSld name="Layout guide">
    <p:spTree>
      <p:nvGrpSpPr>
        <p:cNvPr id="1" name=""/>
        <p:cNvGrpSpPr/>
        <p:nvPr/>
      </p:nvGrpSpPr>
      <p:grpSpPr>
        <a:xfrm>
          <a:off x="0" y="0"/>
          <a:ext cx="0" cy="0"/>
          <a:chOff x="0" y="0"/>
          <a:chExt cx="0" cy="0"/>
        </a:xfrm>
      </p:grpSpPr>
      <p:grpSp>
        <p:nvGrpSpPr>
          <p:cNvPr id="49" name="Group 48"/>
          <p:cNvGrpSpPr/>
          <p:nvPr userDrawn="1"/>
        </p:nvGrpSpPr>
        <p:grpSpPr>
          <a:xfrm>
            <a:off x="-600" y="-1"/>
            <a:ext cx="12193800" cy="6858001"/>
            <a:chOff x="-600" y="-1"/>
            <a:chExt cx="12193800" cy="6858001"/>
          </a:xfrm>
        </p:grpSpPr>
        <p:sp>
          <p:nvSpPr>
            <p:cNvPr id="50" name="No fly zone"/>
            <p:cNvSpPr/>
            <p:nvPr/>
          </p:nvSpPr>
          <p:spPr>
            <a:xfrm>
              <a:off x="0" y="-1"/>
              <a:ext cx="12193200" cy="6858000"/>
            </a:xfrm>
            <a:custGeom>
              <a:avLst/>
              <a:gdLst>
                <a:gd name="connsiteX0" fmla="*/ 630001 w 12193200"/>
                <a:gd name="connsiteY0" fmla="*/ 622800 h 6858000"/>
                <a:gd name="connsiteX1" fmla="*/ 630001 w 12193200"/>
                <a:gd name="connsiteY1" fmla="*/ 6160597 h 6858000"/>
                <a:gd name="connsiteX2" fmla="*/ 11562000 w 12193200"/>
                <a:gd name="connsiteY2" fmla="*/ 6160597 h 6858000"/>
                <a:gd name="connsiteX3" fmla="*/ 11562000 w 12193200"/>
                <a:gd name="connsiteY3" fmla="*/ 622800 h 6858000"/>
                <a:gd name="connsiteX4" fmla="*/ 0 w 12193200"/>
                <a:gd name="connsiteY4" fmla="*/ 0 h 6858000"/>
                <a:gd name="connsiteX5" fmla="*/ 12193200 w 12193200"/>
                <a:gd name="connsiteY5" fmla="*/ 0 h 6858000"/>
                <a:gd name="connsiteX6" fmla="*/ 12193200 w 12193200"/>
                <a:gd name="connsiteY6" fmla="*/ 622800 h 6858000"/>
                <a:gd name="connsiteX7" fmla="*/ 12192000 w 12193200"/>
                <a:gd name="connsiteY7" fmla="*/ 622800 h 6858000"/>
                <a:gd name="connsiteX8" fmla="*/ 12192000 w 12193200"/>
                <a:gd name="connsiteY8" fmla="*/ 6160597 h 6858000"/>
                <a:gd name="connsiteX9" fmla="*/ 12193200 w 12193200"/>
                <a:gd name="connsiteY9" fmla="*/ 6160597 h 6858000"/>
                <a:gd name="connsiteX10" fmla="*/ 12193200 w 12193200"/>
                <a:gd name="connsiteY10" fmla="*/ 6858000 h 6858000"/>
                <a:gd name="connsiteX11" fmla="*/ 12192000 w 12193200"/>
                <a:gd name="connsiteY11" fmla="*/ 6858000 h 6858000"/>
                <a:gd name="connsiteX12" fmla="*/ 11562000 w 12193200"/>
                <a:gd name="connsiteY12" fmla="*/ 6858000 h 6858000"/>
                <a:gd name="connsiteX13" fmla="*/ 630001 w 12193200"/>
                <a:gd name="connsiteY13" fmla="*/ 6858000 h 6858000"/>
                <a:gd name="connsiteX14" fmla="*/ 1 w 12193200"/>
                <a:gd name="connsiteY14" fmla="*/ 6858000 h 6858000"/>
                <a:gd name="connsiteX15" fmla="*/ 1 w 12193200"/>
                <a:gd name="connsiteY15" fmla="*/ 6160597 h 6858000"/>
                <a:gd name="connsiteX16" fmla="*/ 1 w 12193200"/>
                <a:gd name="connsiteY16" fmla="*/ 622800 h 6858000"/>
                <a:gd name="connsiteX17" fmla="*/ 0 w 12193200"/>
                <a:gd name="connsiteY17" fmla="*/ 6228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193200" h="6858000">
                  <a:moveTo>
                    <a:pt x="630001" y="622800"/>
                  </a:moveTo>
                  <a:lnTo>
                    <a:pt x="630001" y="6160597"/>
                  </a:lnTo>
                  <a:lnTo>
                    <a:pt x="11562000" y="6160597"/>
                  </a:lnTo>
                  <a:lnTo>
                    <a:pt x="11562000" y="622800"/>
                  </a:lnTo>
                  <a:close/>
                  <a:moveTo>
                    <a:pt x="0" y="0"/>
                  </a:moveTo>
                  <a:lnTo>
                    <a:pt x="12193200" y="0"/>
                  </a:lnTo>
                  <a:lnTo>
                    <a:pt x="12193200" y="622800"/>
                  </a:lnTo>
                  <a:lnTo>
                    <a:pt x="12192000" y="622800"/>
                  </a:lnTo>
                  <a:lnTo>
                    <a:pt x="12192000" y="6160597"/>
                  </a:lnTo>
                  <a:lnTo>
                    <a:pt x="12193200" y="6160597"/>
                  </a:lnTo>
                  <a:lnTo>
                    <a:pt x="12193200" y="6858000"/>
                  </a:lnTo>
                  <a:lnTo>
                    <a:pt x="12192000" y="6858000"/>
                  </a:lnTo>
                  <a:lnTo>
                    <a:pt x="11562000" y="6858000"/>
                  </a:lnTo>
                  <a:lnTo>
                    <a:pt x="630001" y="6858000"/>
                  </a:lnTo>
                  <a:lnTo>
                    <a:pt x="1" y="6858000"/>
                  </a:lnTo>
                  <a:lnTo>
                    <a:pt x="1" y="6160597"/>
                  </a:lnTo>
                  <a:lnTo>
                    <a:pt x="1" y="622800"/>
                  </a:lnTo>
                  <a:lnTo>
                    <a:pt x="0" y="622800"/>
                  </a:lnTo>
                  <a:close/>
                </a:path>
              </a:pathLst>
            </a:custGeom>
            <a:solidFill>
              <a:srgbClr val="FFEFEF">
                <a:alpha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tx1"/>
                </a:solidFill>
                <a:latin typeface="+mn-lt"/>
              </a:endParaRPr>
            </a:p>
          </p:txBody>
        </p:sp>
        <p:grpSp>
          <p:nvGrpSpPr>
            <p:cNvPr id="51" name="Baselines / anchors"/>
            <p:cNvGrpSpPr/>
            <p:nvPr userDrawn="1"/>
          </p:nvGrpSpPr>
          <p:grpSpPr>
            <a:xfrm>
              <a:off x="-600" y="622800"/>
              <a:ext cx="12193200" cy="5536800"/>
              <a:chOff x="12623800" y="622800"/>
              <a:chExt cx="11176000" cy="5536800"/>
            </a:xfrm>
          </p:grpSpPr>
          <p:cxnSp>
            <p:nvCxnSpPr>
              <p:cNvPr id="77" name="Straight Connector 76"/>
              <p:cNvCxnSpPr/>
              <p:nvPr/>
            </p:nvCxnSpPr>
            <p:spPr>
              <a:xfrm>
                <a:off x="12623800" y="622800"/>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12623800" y="914211"/>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a:off x="12623800" y="1205622"/>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a:off x="12623800" y="1497600"/>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a:off x="12623800" y="1788444"/>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a:off x="12623800" y="2079855"/>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12623800" y="2371266"/>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12623800" y="2662677"/>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12623800" y="2954088"/>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12623800" y="3245499"/>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12623800" y="3536910"/>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12623800" y="3828321"/>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p:nvCxnSpPr>
            <p:spPr>
              <a:xfrm>
                <a:off x="12623800" y="4119732"/>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12623800" y="4411143"/>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12623800" y="4702554"/>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12623800" y="4993965"/>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p:nvPr/>
            </p:nvCxnSpPr>
            <p:spPr>
              <a:xfrm>
                <a:off x="12623800" y="5285376"/>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a:off x="12623800" y="5576787"/>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12623800" y="5868198"/>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a:off x="12623800" y="6159600"/>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grpSp>
        <p:grpSp>
          <p:nvGrpSpPr>
            <p:cNvPr id="52" name="Gutter space"/>
            <p:cNvGrpSpPr/>
            <p:nvPr userDrawn="1"/>
          </p:nvGrpSpPr>
          <p:grpSpPr>
            <a:xfrm>
              <a:off x="1277000" y="623550"/>
              <a:ext cx="9638000" cy="5537047"/>
              <a:chOff x="1277000" y="623550"/>
              <a:chExt cx="9638000" cy="5537047"/>
            </a:xfrm>
          </p:grpSpPr>
          <p:sp>
            <p:nvSpPr>
              <p:cNvPr id="66" name="Rectangle 34"/>
              <p:cNvSpPr>
                <a:spLocks noChangeArrowheads="1"/>
              </p:cNvSpPr>
              <p:nvPr/>
            </p:nvSpPr>
            <p:spPr bwMode="auto">
              <a:xfrm>
                <a:off x="6887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67" name="Rectangle 35"/>
              <p:cNvSpPr>
                <a:spLocks noChangeArrowheads="1"/>
              </p:cNvSpPr>
              <p:nvPr/>
            </p:nvSpPr>
            <p:spPr bwMode="auto">
              <a:xfrm>
                <a:off x="8757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68" name="Rectangle 36"/>
              <p:cNvSpPr>
                <a:spLocks noChangeArrowheads="1"/>
              </p:cNvSpPr>
              <p:nvPr/>
            </p:nvSpPr>
            <p:spPr bwMode="auto">
              <a:xfrm>
                <a:off x="7822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69" name="Rectangle 37"/>
              <p:cNvSpPr>
                <a:spLocks noChangeArrowheads="1"/>
              </p:cNvSpPr>
              <p:nvPr/>
            </p:nvSpPr>
            <p:spPr bwMode="auto">
              <a:xfrm>
                <a:off x="9692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70" name="Rectangle 38"/>
              <p:cNvSpPr>
                <a:spLocks noChangeArrowheads="1"/>
              </p:cNvSpPr>
              <p:nvPr/>
            </p:nvSpPr>
            <p:spPr bwMode="auto">
              <a:xfrm>
                <a:off x="10627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71" name="Rectangle 39"/>
              <p:cNvSpPr>
                <a:spLocks noChangeArrowheads="1"/>
              </p:cNvSpPr>
              <p:nvPr/>
            </p:nvSpPr>
            <p:spPr bwMode="auto">
              <a:xfrm>
                <a:off x="5952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72" name="Rectangle 40"/>
              <p:cNvSpPr>
                <a:spLocks noChangeArrowheads="1"/>
              </p:cNvSpPr>
              <p:nvPr/>
            </p:nvSpPr>
            <p:spPr bwMode="auto">
              <a:xfrm>
                <a:off x="1277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73" name="Rectangle 41"/>
              <p:cNvSpPr>
                <a:spLocks noChangeArrowheads="1"/>
              </p:cNvSpPr>
              <p:nvPr/>
            </p:nvSpPr>
            <p:spPr bwMode="auto">
              <a:xfrm>
                <a:off x="2212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74" name="Rectangle 42"/>
              <p:cNvSpPr>
                <a:spLocks noChangeArrowheads="1"/>
              </p:cNvSpPr>
              <p:nvPr/>
            </p:nvSpPr>
            <p:spPr bwMode="auto">
              <a:xfrm>
                <a:off x="3147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75" name="Rectangle 43"/>
              <p:cNvSpPr>
                <a:spLocks noChangeArrowheads="1"/>
              </p:cNvSpPr>
              <p:nvPr/>
            </p:nvSpPr>
            <p:spPr bwMode="auto">
              <a:xfrm>
                <a:off x="4082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76" name="Rectangle 44"/>
              <p:cNvSpPr>
                <a:spLocks noChangeArrowheads="1"/>
              </p:cNvSpPr>
              <p:nvPr/>
            </p:nvSpPr>
            <p:spPr bwMode="auto">
              <a:xfrm>
                <a:off x="5017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grpSp>
        <p:sp>
          <p:nvSpPr>
            <p:cNvPr id="53" name="Slide edges"/>
            <p:cNvSpPr>
              <a:spLocks/>
            </p:cNvSpPr>
            <p:nvPr/>
          </p:nvSpPr>
          <p:spPr bwMode="auto">
            <a:xfrm>
              <a:off x="-600" y="0"/>
              <a:ext cx="12193200" cy="6858000"/>
            </a:xfrm>
            <a:custGeom>
              <a:avLst/>
              <a:gdLst>
                <a:gd name="T0" fmla="*/ 6024 w 6026"/>
                <a:gd name="T1" fmla="*/ 3394 h 3396"/>
                <a:gd name="T2" fmla="*/ 6024 w 6026"/>
                <a:gd name="T3" fmla="*/ 3391 h 3396"/>
                <a:gd name="T4" fmla="*/ 5 w 6026"/>
                <a:gd name="T5" fmla="*/ 3391 h 3396"/>
                <a:gd name="T6" fmla="*/ 5 w 6026"/>
                <a:gd name="T7" fmla="*/ 5 h 3396"/>
                <a:gd name="T8" fmla="*/ 6021 w 6026"/>
                <a:gd name="T9" fmla="*/ 5 h 3396"/>
                <a:gd name="T10" fmla="*/ 6021 w 6026"/>
                <a:gd name="T11" fmla="*/ 3394 h 3396"/>
                <a:gd name="T12" fmla="*/ 6024 w 6026"/>
                <a:gd name="T13" fmla="*/ 3394 h 3396"/>
                <a:gd name="T14" fmla="*/ 6024 w 6026"/>
                <a:gd name="T15" fmla="*/ 3391 h 3396"/>
                <a:gd name="T16" fmla="*/ 6024 w 6026"/>
                <a:gd name="T17" fmla="*/ 3394 h 3396"/>
                <a:gd name="T18" fmla="*/ 6026 w 6026"/>
                <a:gd name="T19" fmla="*/ 3394 h 3396"/>
                <a:gd name="T20" fmla="*/ 6026 w 6026"/>
                <a:gd name="T21" fmla="*/ 0 h 3396"/>
                <a:gd name="T22" fmla="*/ 0 w 6026"/>
                <a:gd name="T23" fmla="*/ 0 h 3396"/>
                <a:gd name="T24" fmla="*/ 0 w 6026"/>
                <a:gd name="T25" fmla="*/ 3396 h 3396"/>
                <a:gd name="T26" fmla="*/ 6026 w 6026"/>
                <a:gd name="T27" fmla="*/ 3396 h 3396"/>
                <a:gd name="T28" fmla="*/ 6026 w 6026"/>
                <a:gd name="T29" fmla="*/ 3394 h 3396"/>
                <a:gd name="T30" fmla="*/ 6024 w 6026"/>
                <a:gd name="T31" fmla="*/ 3394 h 3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026" h="3396">
                  <a:moveTo>
                    <a:pt x="6024" y="3394"/>
                  </a:moveTo>
                  <a:lnTo>
                    <a:pt x="6024" y="3391"/>
                  </a:lnTo>
                  <a:lnTo>
                    <a:pt x="5" y="3391"/>
                  </a:lnTo>
                  <a:lnTo>
                    <a:pt x="5" y="5"/>
                  </a:lnTo>
                  <a:lnTo>
                    <a:pt x="6021" y="5"/>
                  </a:lnTo>
                  <a:lnTo>
                    <a:pt x="6021" y="3394"/>
                  </a:lnTo>
                  <a:lnTo>
                    <a:pt x="6024" y="3394"/>
                  </a:lnTo>
                  <a:lnTo>
                    <a:pt x="6024" y="3391"/>
                  </a:lnTo>
                  <a:lnTo>
                    <a:pt x="6024" y="3394"/>
                  </a:lnTo>
                  <a:lnTo>
                    <a:pt x="6026" y="3394"/>
                  </a:lnTo>
                  <a:lnTo>
                    <a:pt x="6026" y="0"/>
                  </a:lnTo>
                  <a:lnTo>
                    <a:pt x="0" y="0"/>
                  </a:lnTo>
                  <a:lnTo>
                    <a:pt x="0" y="3396"/>
                  </a:lnTo>
                  <a:lnTo>
                    <a:pt x="6026" y="3396"/>
                  </a:lnTo>
                  <a:lnTo>
                    <a:pt x="6026" y="3394"/>
                  </a:lnTo>
                  <a:lnTo>
                    <a:pt x="6024" y="3394"/>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mn-lt"/>
                <a:ea typeface="+mn-ea"/>
                <a:cs typeface="+mn-cs"/>
              </a:endParaRPr>
            </a:p>
          </p:txBody>
        </p:sp>
        <p:sp>
          <p:nvSpPr>
            <p:cNvPr id="54" name="Footnote measure"/>
            <p:cNvSpPr>
              <a:spLocks noChangeArrowheads="1"/>
            </p:cNvSpPr>
            <p:nvPr/>
          </p:nvSpPr>
          <p:spPr bwMode="auto">
            <a:xfrm>
              <a:off x="629400" y="6159600"/>
              <a:ext cx="10933200" cy="378584"/>
            </a:xfrm>
            <a:prstGeom prst="rect">
              <a:avLst/>
            </a:prstGeom>
            <a:solidFill>
              <a:schemeClr val="accent3">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57" name="Whitespace measure"/>
            <p:cNvSpPr>
              <a:spLocks noChangeArrowheads="1"/>
            </p:cNvSpPr>
            <p:nvPr/>
          </p:nvSpPr>
          <p:spPr bwMode="auto">
            <a:xfrm>
              <a:off x="629400" y="1497600"/>
              <a:ext cx="10932229" cy="583200"/>
            </a:xfrm>
            <a:prstGeom prst="rect">
              <a:avLst/>
            </a:prstGeom>
            <a:solidFill>
              <a:schemeClr val="accent3">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grpSp>
          <p:nvGrpSpPr>
            <p:cNvPr id="58" name="Five column measure"/>
            <p:cNvGrpSpPr/>
            <p:nvPr userDrawn="1"/>
          </p:nvGrpSpPr>
          <p:grpSpPr>
            <a:xfrm>
              <a:off x="629400" y="5975122"/>
              <a:ext cx="10933200" cy="79536"/>
              <a:chOff x="629400" y="5975122"/>
              <a:chExt cx="10933200" cy="79536"/>
            </a:xfrm>
          </p:grpSpPr>
          <p:sp>
            <p:nvSpPr>
              <p:cNvPr id="61" name="Rectangle 5"/>
              <p:cNvSpPr>
                <a:spLocks noChangeArrowheads="1"/>
              </p:cNvSpPr>
              <p:nvPr/>
            </p:nvSpPr>
            <p:spPr bwMode="auto">
              <a:xfrm>
                <a:off x="2880128" y="5975122"/>
                <a:ext cx="1930288" cy="79536"/>
              </a:xfrm>
              <a:prstGeom prst="rect">
                <a:avLst/>
              </a:prstGeom>
              <a:solidFill>
                <a:schemeClr val="accent5">
                  <a:alpha val="1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62" name="Rectangle 7"/>
              <p:cNvSpPr>
                <a:spLocks noChangeArrowheads="1"/>
              </p:cNvSpPr>
              <p:nvPr/>
            </p:nvSpPr>
            <p:spPr bwMode="auto">
              <a:xfrm>
                <a:off x="9626194" y="5975122"/>
                <a:ext cx="1936406" cy="79536"/>
              </a:xfrm>
              <a:prstGeom prst="rect">
                <a:avLst/>
              </a:prstGeom>
              <a:solidFill>
                <a:schemeClr val="accent5">
                  <a:alpha val="1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63" name="Rectangle 9"/>
              <p:cNvSpPr>
                <a:spLocks noChangeArrowheads="1"/>
              </p:cNvSpPr>
              <p:nvPr/>
            </p:nvSpPr>
            <p:spPr bwMode="auto">
              <a:xfrm>
                <a:off x="7372407" y="5975122"/>
                <a:ext cx="1936406" cy="79536"/>
              </a:xfrm>
              <a:prstGeom prst="rect">
                <a:avLst/>
              </a:prstGeom>
              <a:solidFill>
                <a:schemeClr val="accent5">
                  <a:alpha val="1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64" name="Rectangle 11"/>
              <p:cNvSpPr>
                <a:spLocks noChangeArrowheads="1"/>
              </p:cNvSpPr>
              <p:nvPr/>
            </p:nvSpPr>
            <p:spPr bwMode="auto">
              <a:xfrm>
                <a:off x="5127797" y="5975122"/>
                <a:ext cx="1927229" cy="79536"/>
              </a:xfrm>
              <a:prstGeom prst="rect">
                <a:avLst/>
              </a:prstGeom>
              <a:solidFill>
                <a:schemeClr val="accent5">
                  <a:alpha val="1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65" name="Rectangle 13"/>
              <p:cNvSpPr>
                <a:spLocks noChangeArrowheads="1"/>
              </p:cNvSpPr>
              <p:nvPr/>
            </p:nvSpPr>
            <p:spPr bwMode="auto">
              <a:xfrm>
                <a:off x="629400" y="5975122"/>
                <a:ext cx="1933347" cy="79536"/>
              </a:xfrm>
              <a:prstGeom prst="rect">
                <a:avLst/>
              </a:prstGeom>
              <a:solidFill>
                <a:schemeClr val="accent5">
                  <a:alpha val="1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grpSp>
        <p:sp>
          <p:nvSpPr>
            <p:cNvPr id="59" name="Live area"/>
            <p:cNvSpPr/>
            <p:nvPr/>
          </p:nvSpPr>
          <p:spPr>
            <a:xfrm>
              <a:off x="629400" y="2080801"/>
              <a:ext cx="10933200" cy="4078800"/>
            </a:xfrm>
            <a:custGeom>
              <a:avLst/>
              <a:gdLst>
                <a:gd name="connsiteX0" fmla="*/ 0 w 10931999"/>
                <a:gd name="connsiteY0" fmla="*/ 0 h 5537797"/>
                <a:gd name="connsiteX1" fmla="*/ 10931999 w 10931999"/>
                <a:gd name="connsiteY1" fmla="*/ 0 h 5537797"/>
                <a:gd name="connsiteX2" fmla="*/ 10931999 w 10931999"/>
                <a:gd name="connsiteY2" fmla="*/ 5537797 h 5537797"/>
                <a:gd name="connsiteX3" fmla="*/ 0 w 10931999"/>
                <a:gd name="connsiteY3" fmla="*/ 5537797 h 5537797"/>
              </a:gdLst>
              <a:ahLst/>
              <a:cxnLst>
                <a:cxn ang="0">
                  <a:pos x="connsiteX0" y="connsiteY0"/>
                </a:cxn>
                <a:cxn ang="0">
                  <a:pos x="connsiteX1" y="connsiteY1"/>
                </a:cxn>
                <a:cxn ang="0">
                  <a:pos x="connsiteX2" y="connsiteY2"/>
                </a:cxn>
                <a:cxn ang="0">
                  <a:pos x="connsiteX3" y="connsiteY3"/>
                </a:cxn>
              </a:cxnLst>
              <a:rect l="l" t="t" r="r" b="b"/>
              <a:pathLst>
                <a:path w="10931999" h="5537797">
                  <a:moveTo>
                    <a:pt x="0" y="0"/>
                  </a:moveTo>
                  <a:lnTo>
                    <a:pt x="10931999" y="0"/>
                  </a:lnTo>
                  <a:lnTo>
                    <a:pt x="10931999" y="5537797"/>
                  </a:lnTo>
                  <a:lnTo>
                    <a:pt x="0" y="5537797"/>
                  </a:lnTo>
                  <a:close/>
                </a:path>
              </a:pathLst>
            </a:custGeom>
            <a:noFill/>
            <a:ln w="9525">
              <a:solidFill>
                <a:srgbClr val="E71C57">
                  <a:alpha val="35000"/>
                </a:srgbClr>
              </a:solid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90000"/>
                </a:lnSpc>
                <a:spcAft>
                  <a:spcPts val="1000"/>
                </a:spcAft>
              </a:pPr>
              <a:endParaRPr lang="en-US" sz="1200">
                <a:solidFill>
                  <a:schemeClr val="bg1"/>
                </a:solidFill>
                <a:latin typeface="+mn-lt"/>
              </a:endParaRPr>
            </a:p>
          </p:txBody>
        </p:sp>
        <p:sp>
          <p:nvSpPr>
            <p:cNvPr id="60" name="Footnote example"/>
            <p:cNvSpPr txBox="1"/>
            <p:nvPr/>
          </p:nvSpPr>
          <p:spPr>
            <a:xfrm>
              <a:off x="630000" y="6144442"/>
              <a:ext cx="9030914" cy="415498"/>
            </a:xfrm>
            <a:prstGeom prst="rect">
              <a:avLst/>
            </a:prstGeom>
            <a:noFill/>
          </p:spPr>
          <p:txBody>
            <a:bodyPr wrap="square" lIns="0" tIns="0" rIns="0" bIns="0" rtlCol="0" anchor="b">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bg1">
                      <a:lumMod val="50000"/>
                    </a:schemeClr>
                  </a:solidFill>
                  <a:effectLst/>
                  <a:uLnTx/>
                  <a:uFillTx/>
                  <a:latin typeface="+mn-lt"/>
                  <a:ea typeface="+mn-ea"/>
                  <a:cs typeface="+mn-cs"/>
                  <a:sym typeface="Trebuchet MS" panose="020B0603020202020204" pitchFamily="34" charset="0"/>
                </a:rPr>
                <a:t>1. </a:t>
              </a:r>
              <a:r>
                <a:rPr kumimoji="0" lang="en-US" sz="1000" b="0" i="0" u="none" strike="noStrike" kern="1200" cap="none" spc="0" normalizeH="0" baseline="0" noProof="0" err="1">
                  <a:ln>
                    <a:noFill/>
                  </a:ln>
                  <a:solidFill>
                    <a:schemeClr val="bg1">
                      <a:lumMod val="50000"/>
                    </a:schemeClr>
                  </a:solidFill>
                  <a:effectLst/>
                  <a:uLnTx/>
                  <a:uFillTx/>
                  <a:latin typeface="+mn-lt"/>
                  <a:ea typeface="+mn-ea"/>
                  <a:cs typeface="+mn-cs"/>
                  <a:sym typeface="Trebuchet MS" panose="020B0603020202020204" pitchFamily="34" charset="0"/>
                </a:rPr>
                <a:t>xxxx</a:t>
              </a:r>
              <a:r>
                <a:rPr kumimoji="0" lang="en-US" sz="1000" b="0" i="0" u="none" strike="noStrike" kern="1200" cap="none" spc="0" normalizeH="0" baseline="0" noProof="0">
                  <a:ln>
                    <a:noFill/>
                  </a:ln>
                  <a:solidFill>
                    <a:schemeClr val="bg1">
                      <a:lumMod val="50000"/>
                    </a:schemeClr>
                  </a:solidFill>
                  <a:effectLst/>
                  <a:uLnTx/>
                  <a:uFillTx/>
                  <a:latin typeface="+mn-lt"/>
                  <a:ea typeface="+mn-ea"/>
                  <a:cs typeface="+mn-cs"/>
                  <a:sym typeface="Trebuchet MS" panose="020B0603020202020204" pitchFamily="34" charset="0"/>
                </a:rPr>
                <a:t>  2. </a:t>
              </a:r>
              <a:r>
                <a:rPr kumimoji="0" lang="en-US" sz="1000" b="0" i="0" u="none" strike="noStrike" kern="1200" cap="none" spc="0" normalizeH="0" baseline="0" noProof="0" err="1">
                  <a:ln>
                    <a:noFill/>
                  </a:ln>
                  <a:solidFill>
                    <a:schemeClr val="bg1">
                      <a:lumMod val="50000"/>
                    </a:schemeClr>
                  </a:solidFill>
                  <a:effectLst/>
                  <a:uLnTx/>
                  <a:uFillTx/>
                  <a:latin typeface="+mn-lt"/>
                  <a:ea typeface="+mn-ea"/>
                  <a:cs typeface="+mn-cs"/>
                  <a:sym typeface="Trebuchet MS" panose="020B0603020202020204" pitchFamily="34" charset="0"/>
                </a:rPr>
                <a:t>xxxx</a:t>
              </a:r>
              <a:r>
                <a:rPr kumimoji="0" lang="en-US" sz="1000" b="0" i="0" u="none" strike="noStrike" kern="1200" cap="none" spc="0" normalizeH="0" baseline="0" noProof="0">
                  <a:ln>
                    <a:noFill/>
                  </a:ln>
                  <a:solidFill>
                    <a:schemeClr val="bg1">
                      <a:lumMod val="50000"/>
                    </a:schemeClr>
                  </a:solidFill>
                  <a:effectLst/>
                  <a:uLnTx/>
                  <a:uFillTx/>
                  <a:latin typeface="+mn-lt"/>
                  <a:ea typeface="+mn-ea"/>
                  <a:cs typeface="+mn-cs"/>
                  <a:sym typeface="Trebuchet MS" panose="020B0603020202020204" pitchFamily="34" charset="0"/>
                </a:rPr>
                <a:t>  3. List footnotes in numerical order. Footnote numbers are not bracketed. Use 10pt font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bg1">
                      <a:lumMod val="50000"/>
                    </a:schemeClr>
                  </a:solidFill>
                  <a:effectLst/>
                  <a:uLnTx/>
                  <a:uFillTx/>
                  <a:latin typeface="+mn-lt"/>
                  <a:ea typeface="+mn-ea"/>
                  <a:cs typeface="+mn-cs"/>
                  <a:sym typeface="Trebuchet MS" panose="020B0603020202020204" pitchFamily="34" charset="0"/>
                </a:rPr>
                <a:t>Note: Do not put a period at the end of the note or the source</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bg1">
                      <a:lumMod val="50000"/>
                    </a:schemeClr>
                  </a:solidFill>
                  <a:effectLst/>
                  <a:uLnTx/>
                  <a:uFillTx/>
                  <a:latin typeface="+mn-lt"/>
                  <a:ea typeface="+mn-ea"/>
                  <a:cs typeface="+mn-cs"/>
                  <a:sym typeface="Trebuchet MS" panose="020B0603020202020204" pitchFamily="34" charset="0"/>
                </a:rPr>
                <a:t>Source: Include a source for every chart that you use. Separate sources with a semicolon; BCG-related sources go at the end</a:t>
              </a:r>
            </a:p>
          </p:txBody>
        </p:sp>
      </p:grpSp>
      <p:sp>
        <p:nvSpPr>
          <p:cNvPr id="2" name="Date Placeholder 1"/>
          <p:cNvSpPr>
            <a:spLocks noGrp="1"/>
          </p:cNvSpPr>
          <p:nvPr>
            <p:ph type="dt" sz="half" idx="10"/>
          </p:nvPr>
        </p:nvSpPr>
        <p:spPr/>
        <p:txBody>
          <a:bodyPr/>
          <a:lstStyle>
            <a:lvl1pPr>
              <a:defRPr>
                <a:solidFill>
                  <a:schemeClr val="bg1">
                    <a:lumMod val="50000"/>
                  </a:schemeClr>
                </a:solidFill>
                <a:latin typeface="+mn-lt"/>
                <a:sym typeface="Trebuchet MS" panose="020B0603020202020204" pitchFamily="34" charset="0"/>
              </a:defRPr>
            </a:lvl1pPr>
          </a:lstStyle>
          <a:p>
            <a:endParaRPr lang="en-US"/>
          </a:p>
        </p:txBody>
      </p:sp>
      <p:sp>
        <p:nvSpPr>
          <p:cNvPr id="56"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2022 by Boston Consulting Group. All rights reserved.</a:t>
            </a:r>
          </a:p>
        </p:txBody>
      </p:sp>
    </p:spTree>
    <p:extLst>
      <p:ext uri="{BB962C8B-B14F-4D97-AF65-F5344CB8AC3E}">
        <p14:creationId xmlns:p14="http://schemas.microsoft.com/office/powerpoint/2010/main" val="115427269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06.xml><?xml version="1.0" encoding="utf-8"?>
<p:sldLayout xmlns:a="http://schemas.openxmlformats.org/drawingml/2006/main" xmlns:r="http://schemas.openxmlformats.org/officeDocument/2006/relationships" xmlns:p="http://schemas.openxmlformats.org/presentationml/2006/main" showMasterSp="0" preserve="1" userDrawn="1">
  <p:cSld name="D. Title Slide">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userDrawn="1">
            <p:custDataLst>
              <p:tags r:id="rId1"/>
            </p:custDataLst>
            <p:extLst>
              <p:ext uri="{D42A27DB-BD31-4B8C-83A1-F6EECF244321}">
                <p14:modId xmlns:p14="http://schemas.microsoft.com/office/powerpoint/2010/main" val="3665489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384" imgH="384" progId="TCLayout.ActiveDocument.1">
                  <p:embed/>
                </p:oleObj>
              </mc:Choice>
              <mc:Fallback>
                <p:oleObj name="think-cell Slide" r:id="rId6" imgW="384" imgH="384" progId="TCLayout.ActiveDocument.1">
                  <p:embed/>
                  <p:pic>
                    <p:nvPicPr>
                      <p:cNvPr id="3" name="Object 2"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Rectangle 1" hidden="1"/>
          <p:cNvSpPr/>
          <p:nvPr userDrawn="1">
            <p:custDataLst>
              <p:tags r:id="rId2"/>
            </p:custDataLst>
          </p:nvPr>
        </p:nvSpPr>
        <p:spPr>
          <a:xfrm>
            <a:off x="0" y="0"/>
            <a:ext cx="158750" cy="158750"/>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eaLnBrk="1">
              <a:lnSpc>
                <a:spcPct val="93000"/>
              </a:lnSpc>
              <a:spcBef>
                <a:spcPct val="0"/>
              </a:spcBef>
              <a:spcAft>
                <a:spcPct val="0"/>
              </a:spcAft>
            </a:pPr>
            <a:endParaRPr lang="en-US" sz="5400" b="0" i="0" baseline="0">
              <a:solidFill>
                <a:srgbClr val="FFFFFF"/>
              </a:solidFill>
              <a:latin typeface="Trebuchet MS" panose="020B0603020202020204" pitchFamily="34" charset="0"/>
              <a:ea typeface="+mj-ea"/>
              <a:cs typeface="+mj-cs"/>
              <a:sym typeface="Trebuchet MS" panose="020B0603020202020204" pitchFamily="34" charset="0"/>
            </a:endParaRPr>
          </a:p>
        </p:txBody>
      </p:sp>
      <p:sp>
        <p:nvSpPr>
          <p:cNvPr id="14" name="Rectangle 13"/>
          <p:cNvSpPr/>
          <p:nvPr userDrawn="1"/>
        </p:nvSpPr>
        <p:spPr>
          <a:xfrm>
            <a:off x="0" y="5279183"/>
            <a:ext cx="12192000" cy="1578817"/>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l">
              <a:lnSpc>
                <a:spcPct val="90000"/>
              </a:lnSpc>
              <a:spcAft>
                <a:spcPts val="1000"/>
              </a:spcAft>
            </a:pPr>
            <a:endParaRPr lang="en-US" sz="1200">
              <a:solidFill>
                <a:schemeClr val="bg1"/>
              </a:solidFill>
              <a:latin typeface="+mn-lt"/>
              <a:sym typeface="Trebuchet MS" panose="020B0603020202020204" pitchFamily="34" charset="0"/>
            </a:endParaRPr>
          </a:p>
        </p:txBody>
      </p:sp>
      <p:pic>
        <p:nvPicPr>
          <p:cNvPr id="18" name="Picture 17"/>
          <p:cNvPicPr>
            <a:picLocks noChangeAspect="1"/>
          </p:cNvPicPr>
          <p:nvPr userDrawn="1"/>
        </p:nvPicPr>
        <p:blipFill rotWithShape="1">
          <a:blip r:embed="rId8">
            <a:extLst>
              <a:ext uri="{28A0092B-C50C-407E-A947-70E740481C1C}">
                <a14:useLocalDpi xmlns:a14="http://schemas.microsoft.com/office/drawing/2010/main" val="0"/>
              </a:ext>
            </a:extLst>
          </a:blip>
          <a:srcRect l="1731" t="8741" r="102" b="27"/>
          <a:stretch/>
        </p:blipFill>
        <p:spPr>
          <a:xfrm rot="16200000" flipH="1">
            <a:off x="8471921" y="1973272"/>
            <a:ext cx="580573" cy="6858000"/>
          </a:xfrm>
          <a:prstGeom prst="rect">
            <a:avLst/>
          </a:prstGeom>
        </p:spPr>
      </p:pic>
      <p:pic>
        <p:nvPicPr>
          <p:cNvPr id="15" name="TitleAndEndImages"/>
          <p:cNvPicPr>
            <a:picLocks noChangeAspect="1"/>
          </p:cNvPicPr>
          <p:nvPr userDrawn="1">
            <p:custDataLst>
              <p:tags r:id="rId3"/>
            </p:custDataLst>
          </p:nvPr>
        </p:nvPicPr>
        <p:blipFill rotWithShape="1">
          <a:blip r:embed="rId9">
            <a:extLst>
              <a:ext uri="{28A0092B-C50C-407E-A947-70E740481C1C}">
                <a14:useLocalDpi xmlns:a14="http://schemas.microsoft.com/office/drawing/2010/main" val="0"/>
              </a:ext>
            </a:extLst>
          </a:blip>
          <a:srcRect b="23056"/>
          <a:stretch/>
        </p:blipFill>
        <p:spPr>
          <a:xfrm flipH="1">
            <a:off x="0" y="0"/>
            <a:ext cx="12192000" cy="5276850"/>
          </a:xfrm>
          <a:prstGeom prst="rect">
            <a:avLst/>
          </a:prstGeom>
        </p:spPr>
      </p:pic>
      <p:sp>
        <p:nvSpPr>
          <p:cNvPr id="20" name="Picture Placeholder 8"/>
          <p:cNvSpPr>
            <a:spLocks noGrp="1"/>
          </p:cNvSpPr>
          <p:nvPr>
            <p:ph type="pic" sz="quarter" idx="13" hasCustomPrompt="1"/>
          </p:nvPr>
        </p:nvSpPr>
        <p:spPr>
          <a:xfrm>
            <a:off x="9366561" y="5570642"/>
            <a:ext cx="1867935" cy="896833"/>
          </a:xfrm>
          <a:prstGeom prst="rect">
            <a:avLst/>
          </a:prstGeom>
        </p:spPr>
        <p:txBody>
          <a:bodyPr anchor="b"/>
          <a:lstStyle>
            <a:lvl1pPr algn="ctr">
              <a:defRPr sz="1600">
                <a:solidFill>
                  <a:schemeClr val="tx1"/>
                </a:solidFill>
                <a:latin typeface="Trebuchet MS" panose="020B0603020202020204" pitchFamily="34" charset="0"/>
                <a:sym typeface="Trebuchet MS" panose="020B0603020202020204" pitchFamily="34" charset="0"/>
              </a:defRPr>
            </a:lvl1pPr>
          </a:lstStyle>
          <a:p>
            <a:r>
              <a:rPr lang="en-US"/>
              <a:t>Logo</a:t>
            </a:r>
          </a:p>
        </p:txBody>
      </p:sp>
      <p:sp>
        <p:nvSpPr>
          <p:cNvPr id="21" name="Rectangle 20"/>
          <p:cNvSpPr/>
          <p:nvPr userDrawn="1"/>
        </p:nvSpPr>
        <p:spPr bwMode="black">
          <a:xfrm>
            <a:off x="630936" y="626200"/>
            <a:ext cx="8125200" cy="5529600"/>
          </a:xfrm>
          <a:prstGeom prst="rect">
            <a:avLst/>
          </a:prstGeom>
          <a:gradFill flip="none" rotWithShape="1">
            <a:gsLst>
              <a:gs pos="0">
                <a:schemeClr val="accent1">
                  <a:alpha val="90000"/>
                </a:schemeClr>
              </a:gs>
              <a:gs pos="100000">
                <a:schemeClr val="tx2">
                  <a:alpha val="90000"/>
                </a:schemeClr>
              </a:gs>
            </a:gsLst>
            <a:lin ang="189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lnSpc>
                <a:spcPct val="95000"/>
              </a:lnSpc>
            </a:pPr>
            <a:endParaRPr lang="en-US" sz="2000">
              <a:solidFill>
                <a:prstClr val="white"/>
              </a:solidFill>
              <a:latin typeface="+mn-lt"/>
              <a:sym typeface="Trebuchet MS" panose="020B0603020202020204" pitchFamily="34" charset="0"/>
            </a:endParaRPr>
          </a:p>
        </p:txBody>
      </p:sp>
      <p:sp>
        <p:nvSpPr>
          <p:cNvPr id="22" name="Text Placeholder 6"/>
          <p:cNvSpPr>
            <a:spLocks noGrp="1"/>
          </p:cNvSpPr>
          <p:nvPr>
            <p:ph type="body" sz="quarter" idx="12" hasCustomPrompt="1"/>
          </p:nvPr>
        </p:nvSpPr>
        <p:spPr bwMode="black">
          <a:xfrm>
            <a:off x="1117415" y="6207842"/>
            <a:ext cx="6868800" cy="327148"/>
          </a:xfrm>
          <a:prstGeom prst="rect">
            <a:avLst/>
          </a:prstGeom>
          <a:noFill/>
        </p:spPr>
        <p:txBody>
          <a:bodyPr anchor="ctr"/>
          <a:lstStyle>
            <a:lvl1pPr algn="l">
              <a:lnSpc>
                <a:spcPct val="110000"/>
              </a:lnSpc>
              <a:buNone/>
              <a:defRPr sz="1200" b="1" cap="all" baseline="0">
                <a:solidFill>
                  <a:schemeClr val="accent5"/>
                </a:solidFill>
                <a:latin typeface="+mn-lt"/>
                <a:sym typeface="Trebuchet MS" panose="020B0603020202020204" pitchFamily="34" charset="0"/>
              </a:defRPr>
            </a:lvl1pPr>
            <a:lvl2pPr algn="ctr">
              <a:buNone/>
              <a:defRPr/>
            </a:lvl2pPr>
            <a:lvl3pPr marL="0" indent="0" algn="ctr">
              <a:buNone/>
              <a:defRPr/>
            </a:lvl3pPr>
            <a:lvl4pPr marL="228600" indent="0" algn="ctr">
              <a:buNone/>
              <a:defRPr/>
            </a:lvl4pPr>
            <a:lvl5pPr marL="457200" indent="0" algn="ctr">
              <a:buNone/>
              <a:defRPr/>
            </a:lvl5pPr>
          </a:lstStyle>
          <a:p>
            <a:pPr lvl="0"/>
            <a:r>
              <a:rPr lang="en-US"/>
              <a:t>Click to edit date/place</a:t>
            </a:r>
          </a:p>
        </p:txBody>
      </p:sp>
      <p:sp>
        <p:nvSpPr>
          <p:cNvPr id="26" name="Subtitle 2"/>
          <p:cNvSpPr>
            <a:spLocks noGrp="1"/>
          </p:cNvSpPr>
          <p:nvPr>
            <p:ph type="subTitle" idx="1" hasCustomPrompt="1"/>
          </p:nvPr>
        </p:nvSpPr>
        <p:spPr bwMode="white">
          <a:xfrm>
            <a:off x="1117415" y="5495706"/>
            <a:ext cx="6868800" cy="436195"/>
          </a:xfrm>
          <a:prstGeom prst="rect">
            <a:avLst/>
          </a:prstGeom>
        </p:spPr>
        <p:txBody>
          <a:bodyPr anchor="ctr"/>
          <a:lstStyle>
            <a:lvl1pPr marL="0" indent="0" algn="l">
              <a:lnSpc>
                <a:spcPct val="110000"/>
              </a:lnSpc>
              <a:buNone/>
              <a:defRPr sz="1600">
                <a:solidFill>
                  <a:schemeClr val="bg1"/>
                </a:solidFill>
                <a:latin typeface="+mn-lt"/>
                <a:sym typeface="Trebuchet MS" panose="020B0603020202020204" pitchFamily="34"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Subtitle in sentence case</a:t>
            </a:r>
          </a:p>
        </p:txBody>
      </p:sp>
      <p:sp>
        <p:nvSpPr>
          <p:cNvPr id="27" name="Title 1"/>
          <p:cNvSpPr>
            <a:spLocks noGrp="1"/>
          </p:cNvSpPr>
          <p:nvPr>
            <p:ph type="ctrTitle" hasCustomPrompt="1"/>
          </p:nvPr>
        </p:nvSpPr>
        <p:spPr bwMode="ltGray">
          <a:xfrm>
            <a:off x="1117415" y="1886242"/>
            <a:ext cx="6868800" cy="3138423"/>
          </a:xfrm>
        </p:spPr>
        <p:txBody>
          <a:bodyPr anchor="b">
            <a:normAutofit/>
          </a:bodyPr>
          <a:lstStyle>
            <a:lvl1pPr algn="l">
              <a:lnSpc>
                <a:spcPct val="93000"/>
              </a:lnSpc>
              <a:defRPr sz="5400">
                <a:solidFill>
                  <a:schemeClr val="bg1"/>
                </a:solidFill>
                <a:latin typeface="+mj-lt"/>
                <a:sym typeface="Trebuchet MS" panose="020B0603020202020204" pitchFamily="34" charset="0"/>
              </a:defRPr>
            </a:lvl1pPr>
          </a:lstStyle>
          <a:p>
            <a:r>
              <a:rPr lang="en-US"/>
              <a:t>Title in Title Case</a:t>
            </a:r>
          </a:p>
        </p:txBody>
      </p:sp>
      <p:sp>
        <p:nvSpPr>
          <p:cNvPr id="13" name="Freeform 12"/>
          <p:cNvSpPr>
            <a:spLocks noChangeAspect="1"/>
          </p:cNvSpPr>
          <p:nvPr userDrawn="1">
            <p:custDataLst>
              <p:tags r:id="rId4"/>
            </p:custDataLst>
          </p:nvPr>
        </p:nvSpPr>
        <p:spPr bwMode="auto">
          <a:xfrm>
            <a:off x="1117415" y="1112679"/>
            <a:ext cx="2327644" cy="486479"/>
          </a:xfrm>
          <a:custGeom>
            <a:avLst/>
            <a:gdLst>
              <a:gd name="connsiteX0" fmla="*/ 8982072 w 11499847"/>
              <a:gd name="connsiteY0" fmla="*/ 1919288 h 2403475"/>
              <a:gd name="connsiteX1" fmla="*/ 8982072 w 11499847"/>
              <a:gd name="connsiteY1" fmla="*/ 2105026 h 2403475"/>
              <a:gd name="connsiteX2" fmla="*/ 9098233 w 11499847"/>
              <a:gd name="connsiteY2" fmla="*/ 2105026 h 2403475"/>
              <a:gd name="connsiteX3" fmla="*/ 9164880 w 11499847"/>
              <a:gd name="connsiteY3" fmla="*/ 2080233 h 2403475"/>
              <a:gd name="connsiteX4" fmla="*/ 9191622 w 11499847"/>
              <a:gd name="connsiteY4" fmla="*/ 2011737 h 2403475"/>
              <a:gd name="connsiteX5" fmla="*/ 9164880 w 11499847"/>
              <a:gd name="connsiteY5" fmla="*/ 1944501 h 2403475"/>
              <a:gd name="connsiteX6" fmla="*/ 9098233 w 11499847"/>
              <a:gd name="connsiteY6" fmla="*/ 1919288 h 2403475"/>
              <a:gd name="connsiteX7" fmla="*/ 8982072 w 11499847"/>
              <a:gd name="connsiteY7" fmla="*/ 1919288 h 2403475"/>
              <a:gd name="connsiteX8" fmla="*/ 7280272 w 11499847"/>
              <a:gd name="connsiteY8" fmla="*/ 1919288 h 2403475"/>
              <a:gd name="connsiteX9" fmla="*/ 7280272 w 11499847"/>
              <a:gd name="connsiteY9" fmla="*/ 2097088 h 2403475"/>
              <a:gd name="connsiteX10" fmla="*/ 7404503 w 11499847"/>
              <a:gd name="connsiteY10" fmla="*/ 2097088 h 2403475"/>
              <a:gd name="connsiteX11" fmla="*/ 7469027 w 11499847"/>
              <a:gd name="connsiteY11" fmla="*/ 2073423 h 2403475"/>
              <a:gd name="connsiteX12" fmla="*/ 7494585 w 11499847"/>
              <a:gd name="connsiteY12" fmla="*/ 2008502 h 2403475"/>
              <a:gd name="connsiteX13" fmla="*/ 7469027 w 11499847"/>
              <a:gd name="connsiteY13" fmla="*/ 1943581 h 2403475"/>
              <a:gd name="connsiteX14" fmla="*/ 7404503 w 11499847"/>
              <a:gd name="connsiteY14" fmla="*/ 1919288 h 2403475"/>
              <a:gd name="connsiteX15" fmla="*/ 7280272 w 11499847"/>
              <a:gd name="connsiteY15" fmla="*/ 1919288 h 2403475"/>
              <a:gd name="connsiteX16" fmla="*/ 7945015 w 11499847"/>
              <a:gd name="connsiteY16" fmla="*/ 1909763 h 2403475"/>
              <a:gd name="connsiteX17" fmla="*/ 7813574 w 11499847"/>
              <a:gd name="connsiteY17" fmla="*/ 1965330 h 2403475"/>
              <a:gd name="connsiteX18" fmla="*/ 7759697 w 11499847"/>
              <a:gd name="connsiteY18" fmla="*/ 2100368 h 2403475"/>
              <a:gd name="connsiteX19" fmla="*/ 7813574 w 11499847"/>
              <a:gd name="connsiteY19" fmla="*/ 2235406 h 2403475"/>
              <a:gd name="connsiteX20" fmla="*/ 7945015 w 11499847"/>
              <a:gd name="connsiteY20" fmla="*/ 2290763 h 2403475"/>
              <a:gd name="connsiteX21" fmla="*/ 8077086 w 11499847"/>
              <a:gd name="connsiteY21" fmla="*/ 2235825 h 2403475"/>
              <a:gd name="connsiteX22" fmla="*/ 8131172 w 11499847"/>
              <a:gd name="connsiteY22" fmla="*/ 2100368 h 2403475"/>
              <a:gd name="connsiteX23" fmla="*/ 8076876 w 11499847"/>
              <a:gd name="connsiteY23" fmla="*/ 1965330 h 2403475"/>
              <a:gd name="connsiteX24" fmla="*/ 7945015 w 11499847"/>
              <a:gd name="connsiteY24" fmla="*/ 1909763 h 2403475"/>
              <a:gd name="connsiteX25" fmla="*/ 8899522 w 11499847"/>
              <a:gd name="connsiteY25" fmla="*/ 1844675 h 2403475"/>
              <a:gd name="connsiteX26" fmla="*/ 9098598 w 11499847"/>
              <a:gd name="connsiteY26" fmla="*/ 1844675 h 2403475"/>
              <a:gd name="connsiteX27" fmla="*/ 9228521 w 11499847"/>
              <a:gd name="connsiteY27" fmla="*/ 1892741 h 2403475"/>
              <a:gd name="connsiteX28" fmla="*/ 9277347 w 11499847"/>
              <a:gd name="connsiteY28" fmla="*/ 2011236 h 2403475"/>
              <a:gd name="connsiteX29" fmla="*/ 9228521 w 11499847"/>
              <a:gd name="connsiteY29" fmla="*/ 2129521 h 2403475"/>
              <a:gd name="connsiteX30" fmla="*/ 9098598 w 11499847"/>
              <a:gd name="connsiteY30" fmla="*/ 2177796 h 2403475"/>
              <a:gd name="connsiteX31" fmla="*/ 8982086 w 11499847"/>
              <a:gd name="connsiteY31" fmla="*/ 2177796 h 2403475"/>
              <a:gd name="connsiteX32" fmla="*/ 8982086 w 11499847"/>
              <a:gd name="connsiteY32" fmla="*/ 2355850 h 2403475"/>
              <a:gd name="connsiteX33" fmla="*/ 8899522 w 11499847"/>
              <a:gd name="connsiteY33" fmla="*/ 2355850 h 2403475"/>
              <a:gd name="connsiteX34" fmla="*/ 8899522 w 11499847"/>
              <a:gd name="connsiteY34" fmla="*/ 1844675 h 2403475"/>
              <a:gd name="connsiteX35" fmla="*/ 8324847 w 11499847"/>
              <a:gd name="connsiteY35" fmla="*/ 1844675 h 2403475"/>
              <a:gd name="connsiteX36" fmla="*/ 8407608 w 11499847"/>
              <a:gd name="connsiteY36" fmla="*/ 1844675 h 2403475"/>
              <a:gd name="connsiteX37" fmla="*/ 8407608 w 11499847"/>
              <a:gd name="connsiteY37" fmla="*/ 2158090 h 2403475"/>
              <a:gd name="connsiteX38" fmla="*/ 8443017 w 11499847"/>
              <a:gd name="connsiteY38" fmla="*/ 2252595 h 2403475"/>
              <a:gd name="connsiteX39" fmla="*/ 8537931 w 11499847"/>
              <a:gd name="connsiteY39" fmla="*/ 2291066 h 2403475"/>
              <a:gd name="connsiteX40" fmla="*/ 8631797 w 11499847"/>
              <a:gd name="connsiteY40" fmla="*/ 2252595 h 2403475"/>
              <a:gd name="connsiteX41" fmla="*/ 8667415 w 11499847"/>
              <a:gd name="connsiteY41" fmla="*/ 2158090 h 2403475"/>
              <a:gd name="connsiteX42" fmla="*/ 8667415 w 11499847"/>
              <a:gd name="connsiteY42" fmla="*/ 1844675 h 2403475"/>
              <a:gd name="connsiteX43" fmla="*/ 8748710 w 11499847"/>
              <a:gd name="connsiteY43" fmla="*/ 1844675 h 2403475"/>
              <a:gd name="connsiteX44" fmla="*/ 8748710 w 11499847"/>
              <a:gd name="connsiteY44" fmla="*/ 2158717 h 2403475"/>
              <a:gd name="connsiteX45" fmla="*/ 8688577 w 11499847"/>
              <a:gd name="connsiteY45" fmla="*/ 2307793 h 2403475"/>
              <a:gd name="connsiteX46" fmla="*/ 8537093 w 11499847"/>
              <a:gd name="connsiteY46" fmla="*/ 2366963 h 2403475"/>
              <a:gd name="connsiteX47" fmla="*/ 8385399 w 11499847"/>
              <a:gd name="connsiteY47" fmla="*/ 2307793 h 2403475"/>
              <a:gd name="connsiteX48" fmla="*/ 8324847 w 11499847"/>
              <a:gd name="connsiteY48" fmla="*/ 2158717 h 2403475"/>
              <a:gd name="connsiteX49" fmla="*/ 8324847 w 11499847"/>
              <a:gd name="connsiteY49" fmla="*/ 1844675 h 2403475"/>
              <a:gd name="connsiteX50" fmla="*/ 7197722 w 11499847"/>
              <a:gd name="connsiteY50" fmla="*/ 1844675 h 2403475"/>
              <a:gd name="connsiteX51" fmla="*/ 7404196 w 11499847"/>
              <a:gd name="connsiteY51" fmla="*/ 1844675 h 2403475"/>
              <a:gd name="connsiteX52" fmla="*/ 7531336 w 11499847"/>
              <a:gd name="connsiteY52" fmla="*/ 1891906 h 2403475"/>
              <a:gd name="connsiteX53" fmla="*/ 7578727 w 11499847"/>
              <a:gd name="connsiteY53" fmla="*/ 2008937 h 2403475"/>
              <a:gd name="connsiteX54" fmla="*/ 7548455 w 11499847"/>
              <a:gd name="connsiteY54" fmla="*/ 2106950 h 2403475"/>
              <a:gd name="connsiteX55" fmla="*/ 7464947 w 11499847"/>
              <a:gd name="connsiteY55" fmla="*/ 2161495 h 2403475"/>
              <a:gd name="connsiteX56" fmla="*/ 7525699 w 11499847"/>
              <a:gd name="connsiteY56" fmla="*/ 2258673 h 2403475"/>
              <a:gd name="connsiteX57" fmla="*/ 7586660 w 11499847"/>
              <a:gd name="connsiteY57" fmla="*/ 2355850 h 2403475"/>
              <a:gd name="connsiteX58" fmla="*/ 7491044 w 11499847"/>
              <a:gd name="connsiteY58" fmla="*/ 2355850 h 2403475"/>
              <a:gd name="connsiteX59" fmla="*/ 7434676 w 11499847"/>
              <a:gd name="connsiteY59" fmla="*/ 2263479 h 2403475"/>
              <a:gd name="connsiteX60" fmla="*/ 7378099 w 11499847"/>
              <a:gd name="connsiteY60" fmla="*/ 2171108 h 2403475"/>
              <a:gd name="connsiteX61" fmla="*/ 7280395 w 11499847"/>
              <a:gd name="connsiteY61" fmla="*/ 2171108 h 2403475"/>
              <a:gd name="connsiteX62" fmla="*/ 7280395 w 11499847"/>
              <a:gd name="connsiteY62" fmla="*/ 2355850 h 2403475"/>
              <a:gd name="connsiteX63" fmla="*/ 7197722 w 11499847"/>
              <a:gd name="connsiteY63" fmla="*/ 2355850 h 2403475"/>
              <a:gd name="connsiteX64" fmla="*/ 7197722 w 11499847"/>
              <a:gd name="connsiteY64" fmla="*/ 1844675 h 2403475"/>
              <a:gd name="connsiteX65" fmla="*/ 7945016 w 11499847"/>
              <a:gd name="connsiteY65" fmla="*/ 1833563 h 2403475"/>
              <a:gd name="connsiteX66" fmla="*/ 8136527 w 11499847"/>
              <a:gd name="connsiteY66" fmla="*/ 1911974 h 2403475"/>
              <a:gd name="connsiteX67" fmla="*/ 8215310 w 11499847"/>
              <a:gd name="connsiteY67" fmla="*/ 2100368 h 2403475"/>
              <a:gd name="connsiteX68" fmla="*/ 8136527 w 11499847"/>
              <a:gd name="connsiteY68" fmla="*/ 2288762 h 2403475"/>
              <a:gd name="connsiteX69" fmla="*/ 7945016 w 11499847"/>
              <a:gd name="connsiteY69" fmla="*/ 2366963 h 2403475"/>
              <a:gd name="connsiteX70" fmla="*/ 7754134 w 11499847"/>
              <a:gd name="connsiteY70" fmla="*/ 2288762 h 2403475"/>
              <a:gd name="connsiteX71" fmla="*/ 7675560 w 11499847"/>
              <a:gd name="connsiteY71" fmla="*/ 2100368 h 2403475"/>
              <a:gd name="connsiteX72" fmla="*/ 7754134 w 11499847"/>
              <a:gd name="connsiteY72" fmla="*/ 1911974 h 2403475"/>
              <a:gd name="connsiteX73" fmla="*/ 7945016 w 11499847"/>
              <a:gd name="connsiteY73" fmla="*/ 1833563 h 2403475"/>
              <a:gd name="connsiteX74" fmla="*/ 6834872 w 11499847"/>
              <a:gd name="connsiteY74" fmla="*/ 1833563 h 2403475"/>
              <a:gd name="connsiteX75" fmla="*/ 6921875 w 11499847"/>
              <a:gd name="connsiteY75" fmla="*/ 1845482 h 2403475"/>
              <a:gd name="connsiteX76" fmla="*/ 6996090 w 11499847"/>
              <a:gd name="connsiteY76" fmla="*/ 1881028 h 2403475"/>
              <a:gd name="connsiteX77" fmla="*/ 6974496 w 11499847"/>
              <a:gd name="connsiteY77" fmla="*/ 1914692 h 2403475"/>
              <a:gd name="connsiteX78" fmla="*/ 6952903 w 11499847"/>
              <a:gd name="connsiteY78" fmla="*/ 1948356 h 2403475"/>
              <a:gd name="connsiteX79" fmla="*/ 6897556 w 11499847"/>
              <a:gd name="connsiteY79" fmla="*/ 1919501 h 2403475"/>
              <a:gd name="connsiteX80" fmla="*/ 6834243 w 11499847"/>
              <a:gd name="connsiteY80" fmla="*/ 1910301 h 2403475"/>
              <a:gd name="connsiteX81" fmla="*/ 6703424 w 11499847"/>
              <a:gd name="connsiteY81" fmla="*/ 1965084 h 2403475"/>
              <a:gd name="connsiteX82" fmla="*/ 6650384 w 11499847"/>
              <a:gd name="connsiteY82" fmla="*/ 2100368 h 2403475"/>
              <a:gd name="connsiteX83" fmla="*/ 6701957 w 11499847"/>
              <a:gd name="connsiteY83" fmla="*/ 2236070 h 2403475"/>
              <a:gd name="connsiteX84" fmla="*/ 6831308 w 11499847"/>
              <a:gd name="connsiteY84" fmla="*/ 2291062 h 2403475"/>
              <a:gd name="connsiteX85" fmla="*/ 6945984 w 11499847"/>
              <a:gd name="connsiteY85" fmla="*/ 2250498 h 2403475"/>
              <a:gd name="connsiteX86" fmla="*/ 6999863 w 11499847"/>
              <a:gd name="connsiteY86" fmla="*/ 2148460 h 2403475"/>
              <a:gd name="connsiteX87" fmla="*/ 6825438 w 11499847"/>
              <a:gd name="connsiteY87" fmla="*/ 2148460 h 2403475"/>
              <a:gd name="connsiteX88" fmla="*/ 6849128 w 11499847"/>
              <a:gd name="connsiteY88" fmla="*/ 2111241 h 2403475"/>
              <a:gd name="connsiteX89" fmla="*/ 6873028 w 11499847"/>
              <a:gd name="connsiteY89" fmla="*/ 2074022 h 2403475"/>
              <a:gd name="connsiteX90" fmla="*/ 7078061 w 11499847"/>
              <a:gd name="connsiteY90" fmla="*/ 2074022 h 2403475"/>
              <a:gd name="connsiteX91" fmla="*/ 7080787 w 11499847"/>
              <a:gd name="connsiteY91" fmla="*/ 2090540 h 2403475"/>
              <a:gd name="connsiteX92" fmla="*/ 7081835 w 11499847"/>
              <a:gd name="connsiteY92" fmla="*/ 2110613 h 2403475"/>
              <a:gd name="connsiteX93" fmla="*/ 7011813 w 11499847"/>
              <a:gd name="connsiteY93" fmla="*/ 2293362 h 2403475"/>
              <a:gd name="connsiteX94" fmla="*/ 6830470 w 11499847"/>
              <a:gd name="connsiteY94" fmla="*/ 2366963 h 2403475"/>
              <a:gd name="connsiteX95" fmla="*/ 6642417 w 11499847"/>
              <a:gd name="connsiteY95" fmla="*/ 2289389 h 2403475"/>
              <a:gd name="connsiteX96" fmla="*/ 6565897 w 11499847"/>
              <a:gd name="connsiteY96" fmla="*/ 2100368 h 2403475"/>
              <a:gd name="connsiteX97" fmla="*/ 6644514 w 11499847"/>
              <a:gd name="connsiteY97" fmla="*/ 1911346 h 2403475"/>
              <a:gd name="connsiteX98" fmla="*/ 6834872 w 11499847"/>
              <a:gd name="connsiteY98" fmla="*/ 1833563 h 2403475"/>
              <a:gd name="connsiteX99" fmla="*/ 501650 w 11499847"/>
              <a:gd name="connsiteY99" fmla="*/ 1403350 h 2403475"/>
              <a:gd name="connsiteX100" fmla="*/ 501650 w 11499847"/>
              <a:gd name="connsiteY100" fmla="*/ 1925638 h 2403475"/>
              <a:gd name="connsiteX101" fmla="*/ 842112 w 11499847"/>
              <a:gd name="connsiteY101" fmla="*/ 1925638 h 2403475"/>
              <a:gd name="connsiteX102" fmla="*/ 1182574 w 11499847"/>
              <a:gd name="connsiteY102" fmla="*/ 1925638 h 2403475"/>
              <a:gd name="connsiteX103" fmla="*/ 1375900 w 11499847"/>
              <a:gd name="connsiteY103" fmla="*/ 1849684 h 2403475"/>
              <a:gd name="connsiteX104" fmla="*/ 1455738 w 11499847"/>
              <a:gd name="connsiteY104" fmla="*/ 1662720 h 2403475"/>
              <a:gd name="connsiteX105" fmla="*/ 1375900 w 11499847"/>
              <a:gd name="connsiteY105" fmla="*/ 1477635 h 2403475"/>
              <a:gd name="connsiteX106" fmla="*/ 1182574 w 11499847"/>
              <a:gd name="connsiteY106" fmla="*/ 1403350 h 2403475"/>
              <a:gd name="connsiteX107" fmla="*/ 501650 w 11499847"/>
              <a:gd name="connsiteY107" fmla="*/ 1403350 h 2403475"/>
              <a:gd name="connsiteX108" fmla="*/ 7349808 w 11499847"/>
              <a:gd name="connsiteY108" fmla="*/ 1012825 h 2403475"/>
              <a:gd name="connsiteX109" fmla="*/ 7218292 w 11499847"/>
              <a:gd name="connsiteY109" fmla="*/ 1067952 h 2403475"/>
              <a:gd name="connsiteX110" fmla="*/ 7164385 w 11499847"/>
              <a:gd name="connsiteY110" fmla="*/ 1202427 h 2403475"/>
              <a:gd name="connsiteX111" fmla="*/ 7218292 w 11499847"/>
              <a:gd name="connsiteY111" fmla="*/ 1336903 h 2403475"/>
              <a:gd name="connsiteX112" fmla="*/ 7349808 w 11499847"/>
              <a:gd name="connsiteY112" fmla="*/ 1392238 h 2403475"/>
              <a:gd name="connsiteX113" fmla="*/ 7481953 w 11499847"/>
              <a:gd name="connsiteY113" fmla="*/ 1337320 h 2403475"/>
              <a:gd name="connsiteX114" fmla="*/ 7535860 w 11499847"/>
              <a:gd name="connsiteY114" fmla="*/ 1202427 h 2403475"/>
              <a:gd name="connsiteX115" fmla="*/ 7481534 w 11499847"/>
              <a:gd name="connsiteY115" fmla="*/ 1067952 h 2403475"/>
              <a:gd name="connsiteX116" fmla="*/ 7349808 w 11499847"/>
              <a:gd name="connsiteY116" fmla="*/ 1012825 h 2403475"/>
              <a:gd name="connsiteX117" fmla="*/ 10448922 w 11499847"/>
              <a:gd name="connsiteY117" fmla="*/ 946150 h 2403475"/>
              <a:gd name="connsiteX118" fmla="*/ 10552110 w 11499847"/>
              <a:gd name="connsiteY118" fmla="*/ 946150 h 2403475"/>
              <a:gd name="connsiteX119" fmla="*/ 10671172 w 11499847"/>
              <a:gd name="connsiteY119" fmla="*/ 1139825 h 2403475"/>
              <a:gd name="connsiteX120" fmla="*/ 10790235 w 11499847"/>
              <a:gd name="connsiteY120" fmla="*/ 1333501 h 2403475"/>
              <a:gd name="connsiteX121" fmla="*/ 10790235 w 11499847"/>
              <a:gd name="connsiteY121" fmla="*/ 946150 h 2403475"/>
              <a:gd name="connsiteX122" fmla="*/ 10869610 w 11499847"/>
              <a:gd name="connsiteY122" fmla="*/ 946150 h 2403475"/>
              <a:gd name="connsiteX123" fmla="*/ 10869610 w 11499847"/>
              <a:gd name="connsiteY123" fmla="*/ 1458913 h 2403475"/>
              <a:gd name="connsiteX124" fmla="*/ 10772772 w 11499847"/>
              <a:gd name="connsiteY124" fmla="*/ 1458913 h 2403475"/>
              <a:gd name="connsiteX125" fmla="*/ 10650535 w 11499847"/>
              <a:gd name="connsiteY125" fmla="*/ 1260475 h 2403475"/>
              <a:gd name="connsiteX126" fmla="*/ 10528297 w 11499847"/>
              <a:gd name="connsiteY126" fmla="*/ 1062038 h 2403475"/>
              <a:gd name="connsiteX127" fmla="*/ 10528297 w 11499847"/>
              <a:gd name="connsiteY127" fmla="*/ 1458913 h 2403475"/>
              <a:gd name="connsiteX128" fmla="*/ 10448922 w 11499847"/>
              <a:gd name="connsiteY128" fmla="*/ 1458913 h 2403475"/>
              <a:gd name="connsiteX129" fmla="*/ 10185397 w 11499847"/>
              <a:gd name="connsiteY129" fmla="*/ 946150 h 2403475"/>
              <a:gd name="connsiteX130" fmla="*/ 10267947 w 11499847"/>
              <a:gd name="connsiteY130" fmla="*/ 946150 h 2403475"/>
              <a:gd name="connsiteX131" fmla="*/ 10267947 w 11499847"/>
              <a:gd name="connsiteY131" fmla="*/ 1458913 h 2403475"/>
              <a:gd name="connsiteX132" fmla="*/ 10185397 w 11499847"/>
              <a:gd name="connsiteY132" fmla="*/ 1458913 h 2403475"/>
              <a:gd name="connsiteX133" fmla="*/ 9656760 w 11499847"/>
              <a:gd name="connsiteY133" fmla="*/ 946150 h 2403475"/>
              <a:gd name="connsiteX134" fmla="*/ 10059985 w 11499847"/>
              <a:gd name="connsiteY134" fmla="*/ 946150 h 2403475"/>
              <a:gd name="connsiteX135" fmla="*/ 10059985 w 11499847"/>
              <a:gd name="connsiteY135" fmla="*/ 1022350 h 2403475"/>
              <a:gd name="connsiteX136" fmla="*/ 9899648 w 11499847"/>
              <a:gd name="connsiteY136" fmla="*/ 1022350 h 2403475"/>
              <a:gd name="connsiteX137" fmla="*/ 9899648 w 11499847"/>
              <a:gd name="connsiteY137" fmla="*/ 1458913 h 2403475"/>
              <a:gd name="connsiteX138" fmla="*/ 9817098 w 11499847"/>
              <a:gd name="connsiteY138" fmla="*/ 1458913 h 2403475"/>
              <a:gd name="connsiteX139" fmla="*/ 9817098 w 11499847"/>
              <a:gd name="connsiteY139" fmla="*/ 1022350 h 2403475"/>
              <a:gd name="connsiteX140" fmla="*/ 9656760 w 11499847"/>
              <a:gd name="connsiteY140" fmla="*/ 1022350 h 2403475"/>
              <a:gd name="connsiteX141" fmla="*/ 9336085 w 11499847"/>
              <a:gd name="connsiteY141" fmla="*/ 946150 h 2403475"/>
              <a:gd name="connsiteX142" fmla="*/ 9418635 w 11499847"/>
              <a:gd name="connsiteY142" fmla="*/ 946150 h 2403475"/>
              <a:gd name="connsiteX143" fmla="*/ 9418635 w 11499847"/>
              <a:gd name="connsiteY143" fmla="*/ 1382713 h 2403475"/>
              <a:gd name="connsiteX144" fmla="*/ 9671048 w 11499847"/>
              <a:gd name="connsiteY144" fmla="*/ 1382713 h 2403475"/>
              <a:gd name="connsiteX145" fmla="*/ 9671048 w 11499847"/>
              <a:gd name="connsiteY145" fmla="*/ 1458913 h 2403475"/>
              <a:gd name="connsiteX146" fmla="*/ 9336085 w 11499847"/>
              <a:gd name="connsiteY146" fmla="*/ 1458913 h 2403475"/>
              <a:gd name="connsiteX147" fmla="*/ 8766172 w 11499847"/>
              <a:gd name="connsiteY147" fmla="*/ 946150 h 2403475"/>
              <a:gd name="connsiteX148" fmla="*/ 8848414 w 11499847"/>
              <a:gd name="connsiteY148" fmla="*/ 946150 h 2403475"/>
              <a:gd name="connsiteX149" fmla="*/ 8848414 w 11499847"/>
              <a:gd name="connsiteY149" fmla="*/ 1260391 h 2403475"/>
              <a:gd name="connsiteX150" fmla="*/ 8883900 w 11499847"/>
              <a:gd name="connsiteY150" fmla="*/ 1355146 h 2403475"/>
              <a:gd name="connsiteX151" fmla="*/ 8978249 w 11499847"/>
              <a:gd name="connsiteY151" fmla="*/ 1393718 h 2403475"/>
              <a:gd name="connsiteX152" fmla="*/ 9071972 w 11499847"/>
              <a:gd name="connsiteY152" fmla="*/ 1355146 h 2403475"/>
              <a:gd name="connsiteX153" fmla="*/ 9107457 w 11499847"/>
              <a:gd name="connsiteY153" fmla="*/ 1260391 h 2403475"/>
              <a:gd name="connsiteX154" fmla="*/ 9107457 w 11499847"/>
              <a:gd name="connsiteY154" fmla="*/ 946150 h 2403475"/>
              <a:gd name="connsiteX155" fmla="*/ 9188447 w 11499847"/>
              <a:gd name="connsiteY155" fmla="*/ 946150 h 2403475"/>
              <a:gd name="connsiteX156" fmla="*/ 9188447 w 11499847"/>
              <a:gd name="connsiteY156" fmla="*/ 1261230 h 2403475"/>
              <a:gd name="connsiteX157" fmla="*/ 9128539 w 11499847"/>
              <a:gd name="connsiteY157" fmla="*/ 1410489 h 2403475"/>
              <a:gd name="connsiteX158" fmla="*/ 8977623 w 11499847"/>
              <a:gd name="connsiteY158" fmla="*/ 1470025 h 2403475"/>
              <a:gd name="connsiteX159" fmla="*/ 8826497 w 11499847"/>
              <a:gd name="connsiteY159" fmla="*/ 1410489 h 2403475"/>
              <a:gd name="connsiteX160" fmla="*/ 8766172 w 11499847"/>
              <a:gd name="connsiteY160" fmla="*/ 1261230 h 2403475"/>
              <a:gd name="connsiteX161" fmla="*/ 8766172 w 11499847"/>
              <a:gd name="connsiteY161" fmla="*/ 946150 h 2403475"/>
              <a:gd name="connsiteX162" fmla="*/ 7737472 w 11499847"/>
              <a:gd name="connsiteY162" fmla="*/ 946150 h 2403475"/>
              <a:gd name="connsiteX163" fmla="*/ 7839072 w 11499847"/>
              <a:gd name="connsiteY163" fmla="*/ 946150 h 2403475"/>
              <a:gd name="connsiteX164" fmla="*/ 7958134 w 11499847"/>
              <a:gd name="connsiteY164" fmla="*/ 1139825 h 2403475"/>
              <a:gd name="connsiteX165" fmla="*/ 8077197 w 11499847"/>
              <a:gd name="connsiteY165" fmla="*/ 1333501 h 2403475"/>
              <a:gd name="connsiteX166" fmla="*/ 8077197 w 11499847"/>
              <a:gd name="connsiteY166" fmla="*/ 946150 h 2403475"/>
              <a:gd name="connsiteX167" fmla="*/ 8156572 w 11499847"/>
              <a:gd name="connsiteY167" fmla="*/ 946150 h 2403475"/>
              <a:gd name="connsiteX168" fmla="*/ 8156572 w 11499847"/>
              <a:gd name="connsiteY168" fmla="*/ 1458913 h 2403475"/>
              <a:gd name="connsiteX169" fmla="*/ 8061322 w 11499847"/>
              <a:gd name="connsiteY169" fmla="*/ 1458913 h 2403475"/>
              <a:gd name="connsiteX170" fmla="*/ 7939084 w 11499847"/>
              <a:gd name="connsiteY170" fmla="*/ 1260475 h 2403475"/>
              <a:gd name="connsiteX171" fmla="*/ 7815259 w 11499847"/>
              <a:gd name="connsiteY171" fmla="*/ 1062038 h 2403475"/>
              <a:gd name="connsiteX172" fmla="*/ 7815259 w 11499847"/>
              <a:gd name="connsiteY172" fmla="*/ 1458913 h 2403475"/>
              <a:gd name="connsiteX173" fmla="*/ 7737472 w 11499847"/>
              <a:gd name="connsiteY173" fmla="*/ 1458913 h 2403475"/>
              <a:gd name="connsiteX174" fmla="*/ 11253544 w 11499847"/>
              <a:gd name="connsiteY174" fmla="*/ 936625 h 2403475"/>
              <a:gd name="connsiteX175" fmla="*/ 11340315 w 11499847"/>
              <a:gd name="connsiteY175" fmla="*/ 948334 h 2403475"/>
              <a:gd name="connsiteX176" fmla="*/ 11414331 w 11499847"/>
              <a:gd name="connsiteY176" fmla="*/ 984090 h 2403475"/>
              <a:gd name="connsiteX177" fmla="*/ 11392795 w 11499847"/>
              <a:gd name="connsiteY177" fmla="*/ 1017545 h 2403475"/>
              <a:gd name="connsiteX178" fmla="*/ 11371260 w 11499847"/>
              <a:gd name="connsiteY178" fmla="*/ 1051209 h 2403475"/>
              <a:gd name="connsiteX179" fmla="*/ 11316270 w 11499847"/>
              <a:gd name="connsiteY179" fmla="*/ 1022354 h 2403475"/>
              <a:gd name="connsiteX180" fmla="*/ 11252917 w 11499847"/>
              <a:gd name="connsiteY180" fmla="*/ 1013363 h 2403475"/>
              <a:gd name="connsiteX181" fmla="*/ 11122657 w 11499847"/>
              <a:gd name="connsiteY181" fmla="*/ 1067936 h 2403475"/>
              <a:gd name="connsiteX182" fmla="*/ 11069549 w 11499847"/>
              <a:gd name="connsiteY182" fmla="*/ 1203221 h 2403475"/>
              <a:gd name="connsiteX183" fmla="*/ 11120984 w 11499847"/>
              <a:gd name="connsiteY183" fmla="*/ 1338923 h 2403475"/>
              <a:gd name="connsiteX184" fmla="*/ 11249990 w 11499847"/>
              <a:gd name="connsiteY184" fmla="*/ 1394124 h 2403475"/>
              <a:gd name="connsiteX185" fmla="*/ 11364360 w 11499847"/>
              <a:gd name="connsiteY185" fmla="*/ 1353350 h 2403475"/>
              <a:gd name="connsiteX186" fmla="*/ 11418095 w 11499847"/>
              <a:gd name="connsiteY186" fmla="*/ 1251521 h 2403475"/>
              <a:gd name="connsiteX187" fmla="*/ 11244136 w 11499847"/>
              <a:gd name="connsiteY187" fmla="*/ 1251521 h 2403475"/>
              <a:gd name="connsiteX188" fmla="*/ 11267971 w 11499847"/>
              <a:gd name="connsiteY188" fmla="*/ 1214303 h 2403475"/>
              <a:gd name="connsiteX189" fmla="*/ 11291598 w 11499847"/>
              <a:gd name="connsiteY189" fmla="*/ 1177084 h 2403475"/>
              <a:gd name="connsiteX190" fmla="*/ 11496083 w 11499847"/>
              <a:gd name="connsiteY190" fmla="*/ 1177084 h 2403475"/>
              <a:gd name="connsiteX191" fmla="*/ 11498802 w 11499847"/>
              <a:gd name="connsiteY191" fmla="*/ 1193393 h 2403475"/>
              <a:gd name="connsiteX192" fmla="*/ 11499847 w 11499847"/>
              <a:gd name="connsiteY192" fmla="*/ 1213466 h 2403475"/>
              <a:gd name="connsiteX193" fmla="*/ 11430222 w 11499847"/>
              <a:gd name="connsiteY193" fmla="*/ 1396215 h 2403475"/>
              <a:gd name="connsiteX194" fmla="*/ 11249154 w 11499847"/>
              <a:gd name="connsiteY194" fmla="*/ 1470025 h 2403475"/>
              <a:gd name="connsiteX195" fmla="*/ 11061813 w 11499847"/>
              <a:gd name="connsiteY195" fmla="*/ 1392242 h 2403475"/>
              <a:gd name="connsiteX196" fmla="*/ 10985497 w 11499847"/>
              <a:gd name="connsiteY196" fmla="*/ 1203221 h 2403475"/>
              <a:gd name="connsiteX197" fmla="*/ 11063695 w 11499847"/>
              <a:gd name="connsiteY197" fmla="*/ 1014408 h 2403475"/>
              <a:gd name="connsiteX198" fmla="*/ 11253544 w 11499847"/>
              <a:gd name="connsiteY198" fmla="*/ 936625 h 2403475"/>
              <a:gd name="connsiteX199" fmla="*/ 8471697 w 11499847"/>
              <a:gd name="connsiteY199" fmla="*/ 936625 h 2403475"/>
              <a:gd name="connsiteX200" fmla="*/ 8556850 w 11499847"/>
              <a:gd name="connsiteY200" fmla="*/ 949798 h 2403475"/>
              <a:gd name="connsiteX201" fmla="*/ 8626729 w 11499847"/>
              <a:gd name="connsiteY201" fmla="*/ 984717 h 2403475"/>
              <a:gd name="connsiteX202" fmla="*/ 8606225 w 11499847"/>
              <a:gd name="connsiteY202" fmla="*/ 1017336 h 2403475"/>
              <a:gd name="connsiteX203" fmla="*/ 8585722 w 11499847"/>
              <a:gd name="connsiteY203" fmla="*/ 1049745 h 2403475"/>
              <a:gd name="connsiteX204" fmla="*/ 8528605 w 11499847"/>
              <a:gd name="connsiteY204" fmla="*/ 1021099 h 2403475"/>
              <a:gd name="connsiteX205" fmla="*/ 8471070 w 11499847"/>
              <a:gd name="connsiteY205" fmla="*/ 1011063 h 2403475"/>
              <a:gd name="connsiteX206" fmla="*/ 8404328 w 11499847"/>
              <a:gd name="connsiteY206" fmla="*/ 1032181 h 2403475"/>
              <a:gd name="connsiteX207" fmla="*/ 8382570 w 11499847"/>
              <a:gd name="connsiteY207" fmla="*/ 1084246 h 2403475"/>
              <a:gd name="connsiteX208" fmla="*/ 8412697 w 11499847"/>
              <a:gd name="connsiteY208" fmla="*/ 1135474 h 2403475"/>
              <a:gd name="connsiteX209" fmla="*/ 8493038 w 11499847"/>
              <a:gd name="connsiteY209" fmla="*/ 1165165 h 2403475"/>
              <a:gd name="connsiteX210" fmla="*/ 8600786 w 11499847"/>
              <a:gd name="connsiteY210" fmla="*/ 1212421 h 2403475"/>
              <a:gd name="connsiteX211" fmla="*/ 8648697 w 11499847"/>
              <a:gd name="connsiteY211" fmla="*/ 1314250 h 2403475"/>
              <a:gd name="connsiteX212" fmla="*/ 8601413 w 11499847"/>
              <a:gd name="connsiteY212" fmla="*/ 1425906 h 2403475"/>
              <a:gd name="connsiteX213" fmla="*/ 8468140 w 11499847"/>
              <a:gd name="connsiteY213" fmla="*/ 1470025 h 2403475"/>
              <a:gd name="connsiteX214" fmla="*/ 8363531 w 11499847"/>
              <a:gd name="connsiteY214" fmla="*/ 1452461 h 2403475"/>
              <a:gd name="connsiteX215" fmla="*/ 8286747 w 11499847"/>
              <a:gd name="connsiteY215" fmla="*/ 1411479 h 2403475"/>
              <a:gd name="connsiteX216" fmla="*/ 8307251 w 11499847"/>
              <a:gd name="connsiteY216" fmla="*/ 1379069 h 2403475"/>
              <a:gd name="connsiteX217" fmla="*/ 8327754 w 11499847"/>
              <a:gd name="connsiteY217" fmla="*/ 1346450 h 2403475"/>
              <a:gd name="connsiteX218" fmla="*/ 8395541 w 11499847"/>
              <a:gd name="connsiteY218" fmla="*/ 1381578 h 2403475"/>
              <a:gd name="connsiteX219" fmla="*/ 8468768 w 11499847"/>
              <a:gd name="connsiteY219" fmla="*/ 1395378 h 2403475"/>
              <a:gd name="connsiteX220" fmla="*/ 8541367 w 11499847"/>
              <a:gd name="connsiteY220" fmla="*/ 1373633 h 2403475"/>
              <a:gd name="connsiteX221" fmla="*/ 8566055 w 11499847"/>
              <a:gd name="connsiteY221" fmla="*/ 1319477 h 2403475"/>
              <a:gd name="connsiteX222" fmla="*/ 8535509 w 11499847"/>
              <a:gd name="connsiteY222" fmla="*/ 1268458 h 2403475"/>
              <a:gd name="connsiteX223" fmla="*/ 8455587 w 11499847"/>
              <a:gd name="connsiteY223" fmla="*/ 1238348 h 2403475"/>
              <a:gd name="connsiteX224" fmla="*/ 8347630 w 11499847"/>
              <a:gd name="connsiteY224" fmla="*/ 1191511 h 2403475"/>
              <a:gd name="connsiteX225" fmla="*/ 8299928 w 11499847"/>
              <a:gd name="connsiteY225" fmla="*/ 1089264 h 2403475"/>
              <a:gd name="connsiteX226" fmla="*/ 8345329 w 11499847"/>
              <a:gd name="connsiteY226" fmla="*/ 979489 h 2403475"/>
              <a:gd name="connsiteX227" fmla="*/ 8471697 w 11499847"/>
              <a:gd name="connsiteY227" fmla="*/ 936625 h 2403475"/>
              <a:gd name="connsiteX228" fmla="*/ 7349808 w 11499847"/>
              <a:gd name="connsiteY228" fmla="*/ 936625 h 2403475"/>
              <a:gd name="connsiteX229" fmla="*/ 7541183 w 11499847"/>
              <a:gd name="connsiteY229" fmla="*/ 1014826 h 2403475"/>
              <a:gd name="connsiteX230" fmla="*/ 7619997 w 11499847"/>
              <a:gd name="connsiteY230" fmla="*/ 1203221 h 2403475"/>
              <a:gd name="connsiteX231" fmla="*/ 7541183 w 11499847"/>
              <a:gd name="connsiteY231" fmla="*/ 1391615 h 2403475"/>
              <a:gd name="connsiteX232" fmla="*/ 7349808 w 11499847"/>
              <a:gd name="connsiteY232" fmla="*/ 1470025 h 2403475"/>
              <a:gd name="connsiteX233" fmla="*/ 7158642 w 11499847"/>
              <a:gd name="connsiteY233" fmla="*/ 1391615 h 2403475"/>
              <a:gd name="connsiteX234" fmla="*/ 7080247 w 11499847"/>
              <a:gd name="connsiteY234" fmla="*/ 1203221 h 2403475"/>
              <a:gd name="connsiteX235" fmla="*/ 7158642 w 11499847"/>
              <a:gd name="connsiteY235" fmla="*/ 1014826 h 2403475"/>
              <a:gd name="connsiteX236" fmla="*/ 7349808 w 11499847"/>
              <a:gd name="connsiteY236" fmla="*/ 936625 h 2403475"/>
              <a:gd name="connsiteX237" fmla="*/ 6837427 w 11499847"/>
              <a:gd name="connsiteY237" fmla="*/ 936625 h 2403475"/>
              <a:gd name="connsiteX238" fmla="*/ 6932756 w 11499847"/>
              <a:gd name="connsiteY238" fmla="*/ 951680 h 2403475"/>
              <a:gd name="connsiteX239" fmla="*/ 7008810 w 11499847"/>
              <a:gd name="connsiteY239" fmla="*/ 993499 h 2403475"/>
              <a:gd name="connsiteX240" fmla="*/ 6987439 w 11499847"/>
              <a:gd name="connsiteY240" fmla="*/ 1026745 h 2403475"/>
              <a:gd name="connsiteX241" fmla="*/ 6966278 w 11499847"/>
              <a:gd name="connsiteY241" fmla="*/ 1059991 h 2403475"/>
              <a:gd name="connsiteX242" fmla="*/ 6904891 w 11499847"/>
              <a:gd name="connsiteY242" fmla="*/ 1024863 h 2403475"/>
              <a:gd name="connsiteX243" fmla="*/ 6833027 w 11499847"/>
              <a:gd name="connsiteY243" fmla="*/ 1012526 h 2403475"/>
              <a:gd name="connsiteX244" fmla="*/ 6703338 w 11499847"/>
              <a:gd name="connsiteY244" fmla="*/ 1067727 h 2403475"/>
              <a:gd name="connsiteX245" fmla="*/ 6649912 w 11499847"/>
              <a:gd name="connsiteY245" fmla="*/ 1203221 h 2403475"/>
              <a:gd name="connsiteX246" fmla="*/ 6703338 w 11499847"/>
              <a:gd name="connsiteY246" fmla="*/ 1338923 h 2403475"/>
              <a:gd name="connsiteX247" fmla="*/ 6833027 w 11499847"/>
              <a:gd name="connsiteY247" fmla="*/ 1393915 h 2403475"/>
              <a:gd name="connsiteX248" fmla="*/ 6904891 w 11499847"/>
              <a:gd name="connsiteY248" fmla="*/ 1381787 h 2403475"/>
              <a:gd name="connsiteX249" fmla="*/ 6966278 w 11499847"/>
              <a:gd name="connsiteY249" fmla="*/ 1346450 h 2403475"/>
              <a:gd name="connsiteX250" fmla="*/ 6987439 w 11499847"/>
              <a:gd name="connsiteY250" fmla="*/ 1379696 h 2403475"/>
              <a:gd name="connsiteX251" fmla="*/ 7008810 w 11499847"/>
              <a:gd name="connsiteY251" fmla="*/ 1412942 h 2403475"/>
              <a:gd name="connsiteX252" fmla="*/ 6932756 w 11499847"/>
              <a:gd name="connsiteY252" fmla="*/ 1454970 h 2403475"/>
              <a:gd name="connsiteX253" fmla="*/ 6837427 w 11499847"/>
              <a:gd name="connsiteY253" fmla="*/ 1470025 h 2403475"/>
              <a:gd name="connsiteX254" fmla="*/ 6644674 w 11499847"/>
              <a:gd name="connsiteY254" fmla="*/ 1392242 h 2403475"/>
              <a:gd name="connsiteX255" fmla="*/ 6565897 w 11499847"/>
              <a:gd name="connsiteY255" fmla="*/ 1203221 h 2403475"/>
              <a:gd name="connsiteX256" fmla="*/ 6644674 w 11499847"/>
              <a:gd name="connsiteY256" fmla="*/ 1014408 h 2403475"/>
              <a:gd name="connsiteX257" fmla="*/ 6837427 w 11499847"/>
              <a:gd name="connsiteY257" fmla="*/ 936625 h 2403475"/>
              <a:gd name="connsiteX258" fmla="*/ 501650 w 11499847"/>
              <a:gd name="connsiteY258" fmla="*/ 477838 h 2403475"/>
              <a:gd name="connsiteX259" fmla="*/ 501650 w 11499847"/>
              <a:gd name="connsiteY259" fmla="*/ 981076 h 2403475"/>
              <a:gd name="connsiteX260" fmla="*/ 786010 w 11499847"/>
              <a:gd name="connsiteY260" fmla="*/ 981076 h 2403475"/>
              <a:gd name="connsiteX261" fmla="*/ 1070579 w 11499847"/>
              <a:gd name="connsiteY261" fmla="*/ 981076 h 2403475"/>
              <a:gd name="connsiteX262" fmla="*/ 1253188 w 11499847"/>
              <a:gd name="connsiteY262" fmla="*/ 908588 h 2403475"/>
              <a:gd name="connsiteX263" fmla="*/ 1327150 w 11499847"/>
              <a:gd name="connsiteY263" fmla="*/ 727681 h 2403475"/>
              <a:gd name="connsiteX264" fmla="*/ 1253188 w 11499847"/>
              <a:gd name="connsiteY264" fmla="*/ 548446 h 2403475"/>
              <a:gd name="connsiteX265" fmla="*/ 1070579 w 11499847"/>
              <a:gd name="connsiteY265" fmla="*/ 477838 h 2403475"/>
              <a:gd name="connsiteX266" fmla="*/ 501650 w 11499847"/>
              <a:gd name="connsiteY266" fmla="*/ 477838 h 2403475"/>
              <a:gd name="connsiteX267" fmla="*/ 6675435 w 11499847"/>
              <a:gd name="connsiteY267" fmla="*/ 336550 h 2403475"/>
              <a:gd name="connsiteX268" fmla="*/ 6675435 w 11499847"/>
              <a:gd name="connsiteY268" fmla="*/ 487363 h 2403475"/>
              <a:gd name="connsiteX269" fmla="*/ 6808467 w 11499847"/>
              <a:gd name="connsiteY269" fmla="*/ 487363 h 2403475"/>
              <a:gd name="connsiteX270" fmla="*/ 6865570 w 11499847"/>
              <a:gd name="connsiteY270" fmla="*/ 465370 h 2403475"/>
              <a:gd name="connsiteX271" fmla="*/ 6888160 w 11499847"/>
              <a:gd name="connsiteY271" fmla="*/ 411957 h 2403475"/>
              <a:gd name="connsiteX272" fmla="*/ 6865570 w 11499847"/>
              <a:gd name="connsiteY272" fmla="*/ 358334 h 2403475"/>
              <a:gd name="connsiteX273" fmla="*/ 6808467 w 11499847"/>
              <a:gd name="connsiteY273" fmla="*/ 336550 h 2403475"/>
              <a:gd name="connsiteX274" fmla="*/ 6675435 w 11499847"/>
              <a:gd name="connsiteY274" fmla="*/ 336550 h 2403475"/>
              <a:gd name="connsiteX275" fmla="*/ 6675435 w 11499847"/>
              <a:gd name="connsiteY275" fmla="*/ 122238 h 2403475"/>
              <a:gd name="connsiteX276" fmla="*/ 6675435 w 11499847"/>
              <a:gd name="connsiteY276" fmla="*/ 265113 h 2403475"/>
              <a:gd name="connsiteX277" fmla="*/ 6795279 w 11499847"/>
              <a:gd name="connsiteY277" fmla="*/ 265113 h 2403475"/>
              <a:gd name="connsiteX278" fmla="*/ 6848404 w 11499847"/>
              <a:gd name="connsiteY278" fmla="*/ 244673 h 2403475"/>
              <a:gd name="connsiteX279" fmla="*/ 6869110 w 11499847"/>
              <a:gd name="connsiteY279" fmla="*/ 193571 h 2403475"/>
              <a:gd name="connsiteX280" fmla="*/ 6848404 w 11499847"/>
              <a:gd name="connsiteY280" fmla="*/ 142679 h 2403475"/>
              <a:gd name="connsiteX281" fmla="*/ 6795279 w 11499847"/>
              <a:gd name="connsiteY281" fmla="*/ 122238 h 2403475"/>
              <a:gd name="connsiteX282" fmla="*/ 6675435 w 11499847"/>
              <a:gd name="connsiteY282" fmla="*/ 122238 h 2403475"/>
              <a:gd name="connsiteX283" fmla="*/ 8850791 w 11499847"/>
              <a:gd name="connsiteY283" fmla="*/ 114300 h 2403475"/>
              <a:gd name="connsiteX284" fmla="*/ 8719837 w 11499847"/>
              <a:gd name="connsiteY284" fmla="*/ 169657 h 2403475"/>
              <a:gd name="connsiteX285" fmla="*/ 8666160 w 11499847"/>
              <a:gd name="connsiteY285" fmla="*/ 304905 h 2403475"/>
              <a:gd name="connsiteX286" fmla="*/ 8719837 w 11499847"/>
              <a:gd name="connsiteY286" fmla="*/ 439943 h 2403475"/>
              <a:gd name="connsiteX287" fmla="*/ 8850791 w 11499847"/>
              <a:gd name="connsiteY287" fmla="*/ 495300 h 2403475"/>
              <a:gd name="connsiteX288" fmla="*/ 8982163 w 11499847"/>
              <a:gd name="connsiteY288" fmla="*/ 440153 h 2403475"/>
              <a:gd name="connsiteX289" fmla="*/ 9036048 w 11499847"/>
              <a:gd name="connsiteY289" fmla="*/ 304905 h 2403475"/>
              <a:gd name="connsiteX290" fmla="*/ 8981954 w 11499847"/>
              <a:gd name="connsiteY290" fmla="*/ 169657 h 2403475"/>
              <a:gd name="connsiteX291" fmla="*/ 8850791 w 11499847"/>
              <a:gd name="connsiteY291" fmla="*/ 114300 h 2403475"/>
              <a:gd name="connsiteX292" fmla="*/ 7335415 w 11499847"/>
              <a:gd name="connsiteY292" fmla="*/ 114300 h 2403475"/>
              <a:gd name="connsiteX293" fmla="*/ 7203974 w 11499847"/>
              <a:gd name="connsiteY293" fmla="*/ 169657 h 2403475"/>
              <a:gd name="connsiteX294" fmla="*/ 7150097 w 11499847"/>
              <a:gd name="connsiteY294" fmla="*/ 304905 h 2403475"/>
              <a:gd name="connsiteX295" fmla="*/ 7203974 w 11499847"/>
              <a:gd name="connsiteY295" fmla="*/ 439943 h 2403475"/>
              <a:gd name="connsiteX296" fmla="*/ 7335415 w 11499847"/>
              <a:gd name="connsiteY296" fmla="*/ 495300 h 2403475"/>
              <a:gd name="connsiteX297" fmla="*/ 7467486 w 11499847"/>
              <a:gd name="connsiteY297" fmla="*/ 440153 h 2403475"/>
              <a:gd name="connsiteX298" fmla="*/ 7521572 w 11499847"/>
              <a:gd name="connsiteY298" fmla="*/ 304905 h 2403475"/>
              <a:gd name="connsiteX299" fmla="*/ 7467067 w 11499847"/>
              <a:gd name="connsiteY299" fmla="*/ 169657 h 2403475"/>
              <a:gd name="connsiteX300" fmla="*/ 7335415 w 11499847"/>
              <a:gd name="connsiteY300" fmla="*/ 114300 h 2403475"/>
              <a:gd name="connsiteX301" fmla="*/ 9237660 w 11499847"/>
              <a:gd name="connsiteY301" fmla="*/ 49213 h 2403475"/>
              <a:gd name="connsiteX302" fmla="*/ 9339260 w 11499847"/>
              <a:gd name="connsiteY302" fmla="*/ 49213 h 2403475"/>
              <a:gd name="connsiteX303" fmla="*/ 9458322 w 11499847"/>
              <a:gd name="connsiteY303" fmla="*/ 242888 h 2403475"/>
              <a:gd name="connsiteX304" fmla="*/ 9578972 w 11499847"/>
              <a:gd name="connsiteY304" fmla="*/ 436563 h 2403475"/>
              <a:gd name="connsiteX305" fmla="*/ 9578972 w 11499847"/>
              <a:gd name="connsiteY305" fmla="*/ 49213 h 2403475"/>
              <a:gd name="connsiteX306" fmla="*/ 9656760 w 11499847"/>
              <a:gd name="connsiteY306" fmla="*/ 49213 h 2403475"/>
              <a:gd name="connsiteX307" fmla="*/ 9656760 w 11499847"/>
              <a:gd name="connsiteY307" fmla="*/ 560388 h 2403475"/>
              <a:gd name="connsiteX308" fmla="*/ 9561510 w 11499847"/>
              <a:gd name="connsiteY308" fmla="*/ 560388 h 2403475"/>
              <a:gd name="connsiteX309" fmla="*/ 9439272 w 11499847"/>
              <a:gd name="connsiteY309" fmla="*/ 363538 h 2403475"/>
              <a:gd name="connsiteX310" fmla="*/ 9317035 w 11499847"/>
              <a:gd name="connsiteY310" fmla="*/ 165101 h 2403475"/>
              <a:gd name="connsiteX311" fmla="*/ 9317035 w 11499847"/>
              <a:gd name="connsiteY311" fmla="*/ 560388 h 2403475"/>
              <a:gd name="connsiteX312" fmla="*/ 9237660 w 11499847"/>
              <a:gd name="connsiteY312" fmla="*/ 560388 h 2403475"/>
              <a:gd name="connsiteX313" fmla="*/ 8126410 w 11499847"/>
              <a:gd name="connsiteY313" fmla="*/ 49213 h 2403475"/>
              <a:gd name="connsiteX314" fmla="*/ 8529635 w 11499847"/>
              <a:gd name="connsiteY314" fmla="*/ 49213 h 2403475"/>
              <a:gd name="connsiteX315" fmla="*/ 8529635 w 11499847"/>
              <a:gd name="connsiteY315" fmla="*/ 125413 h 2403475"/>
              <a:gd name="connsiteX316" fmla="*/ 8369298 w 11499847"/>
              <a:gd name="connsiteY316" fmla="*/ 125413 h 2403475"/>
              <a:gd name="connsiteX317" fmla="*/ 8369298 w 11499847"/>
              <a:gd name="connsiteY317" fmla="*/ 560388 h 2403475"/>
              <a:gd name="connsiteX318" fmla="*/ 8285160 w 11499847"/>
              <a:gd name="connsiteY318" fmla="*/ 560388 h 2403475"/>
              <a:gd name="connsiteX319" fmla="*/ 8285160 w 11499847"/>
              <a:gd name="connsiteY319" fmla="*/ 125413 h 2403475"/>
              <a:gd name="connsiteX320" fmla="*/ 8126410 w 11499847"/>
              <a:gd name="connsiteY320" fmla="*/ 125413 h 2403475"/>
              <a:gd name="connsiteX321" fmla="*/ 6592885 w 11499847"/>
              <a:gd name="connsiteY321" fmla="*/ 49213 h 2403475"/>
              <a:gd name="connsiteX322" fmla="*/ 6795851 w 11499847"/>
              <a:gd name="connsiteY322" fmla="*/ 49213 h 2403475"/>
              <a:gd name="connsiteX323" fmla="*/ 6907775 w 11499847"/>
              <a:gd name="connsiteY323" fmla="*/ 87875 h 2403475"/>
              <a:gd name="connsiteX324" fmla="*/ 6952670 w 11499847"/>
              <a:gd name="connsiteY324" fmla="*/ 185680 h 2403475"/>
              <a:gd name="connsiteX325" fmla="*/ 6936382 w 11499847"/>
              <a:gd name="connsiteY325" fmla="*/ 245658 h 2403475"/>
              <a:gd name="connsiteX326" fmla="*/ 6892114 w 11499847"/>
              <a:gd name="connsiteY326" fmla="*/ 288709 h 2403475"/>
              <a:gd name="connsiteX327" fmla="*/ 6950791 w 11499847"/>
              <a:gd name="connsiteY327" fmla="*/ 339492 h 2403475"/>
              <a:gd name="connsiteX328" fmla="*/ 6972298 w 11499847"/>
              <a:gd name="connsiteY328" fmla="*/ 412845 h 2403475"/>
              <a:gd name="connsiteX329" fmla="*/ 6926359 w 11499847"/>
              <a:gd name="connsiteY329" fmla="*/ 517546 h 2403475"/>
              <a:gd name="connsiteX330" fmla="*/ 6808798 w 11499847"/>
              <a:gd name="connsiteY330" fmla="*/ 560388 h 2403475"/>
              <a:gd name="connsiteX331" fmla="*/ 6592885 w 11499847"/>
              <a:gd name="connsiteY331" fmla="*/ 560388 h 2403475"/>
              <a:gd name="connsiteX332" fmla="*/ 6592885 w 11499847"/>
              <a:gd name="connsiteY332" fmla="*/ 49213 h 2403475"/>
              <a:gd name="connsiteX333" fmla="*/ 8850790 w 11499847"/>
              <a:gd name="connsiteY333" fmla="*/ 38100 h 2403475"/>
              <a:gd name="connsiteX334" fmla="*/ 9041603 w 11499847"/>
              <a:gd name="connsiteY334" fmla="*/ 116301 h 2403475"/>
              <a:gd name="connsiteX335" fmla="*/ 9120185 w 11499847"/>
              <a:gd name="connsiteY335" fmla="*/ 304905 h 2403475"/>
              <a:gd name="connsiteX336" fmla="*/ 9041603 w 11499847"/>
              <a:gd name="connsiteY336" fmla="*/ 493090 h 2403475"/>
              <a:gd name="connsiteX337" fmla="*/ 8850790 w 11499847"/>
              <a:gd name="connsiteY337" fmla="*/ 571500 h 2403475"/>
              <a:gd name="connsiteX338" fmla="*/ 8660186 w 11499847"/>
              <a:gd name="connsiteY338" fmla="*/ 493090 h 2403475"/>
              <a:gd name="connsiteX339" fmla="*/ 8582022 w 11499847"/>
              <a:gd name="connsiteY339" fmla="*/ 304905 h 2403475"/>
              <a:gd name="connsiteX340" fmla="*/ 8660186 w 11499847"/>
              <a:gd name="connsiteY340" fmla="*/ 116301 h 2403475"/>
              <a:gd name="connsiteX341" fmla="*/ 8850790 w 11499847"/>
              <a:gd name="connsiteY341" fmla="*/ 38100 h 2403475"/>
              <a:gd name="connsiteX342" fmla="*/ 7870035 w 11499847"/>
              <a:gd name="connsiteY342" fmla="*/ 38100 h 2403475"/>
              <a:gd name="connsiteX343" fmla="*/ 7871499 w 11499847"/>
              <a:gd name="connsiteY343" fmla="*/ 38100 h 2403475"/>
              <a:gd name="connsiteX344" fmla="*/ 7955187 w 11499847"/>
              <a:gd name="connsiteY344" fmla="*/ 51273 h 2403475"/>
              <a:gd name="connsiteX345" fmla="*/ 8025067 w 11499847"/>
              <a:gd name="connsiteY345" fmla="*/ 86401 h 2403475"/>
              <a:gd name="connsiteX346" fmla="*/ 8004563 w 11499847"/>
              <a:gd name="connsiteY346" fmla="*/ 118811 h 2403475"/>
              <a:gd name="connsiteX347" fmla="*/ 7984060 w 11499847"/>
              <a:gd name="connsiteY347" fmla="*/ 151429 h 2403475"/>
              <a:gd name="connsiteX348" fmla="*/ 7926943 w 11499847"/>
              <a:gd name="connsiteY348" fmla="*/ 122574 h 2403475"/>
              <a:gd name="connsiteX349" fmla="*/ 7869198 w 11499847"/>
              <a:gd name="connsiteY349" fmla="*/ 112538 h 2403475"/>
              <a:gd name="connsiteX350" fmla="*/ 7802666 w 11499847"/>
              <a:gd name="connsiteY350" fmla="*/ 133865 h 2403475"/>
              <a:gd name="connsiteX351" fmla="*/ 7780907 w 11499847"/>
              <a:gd name="connsiteY351" fmla="*/ 185721 h 2403475"/>
              <a:gd name="connsiteX352" fmla="*/ 7811035 w 11499847"/>
              <a:gd name="connsiteY352" fmla="*/ 236949 h 2403475"/>
              <a:gd name="connsiteX353" fmla="*/ 7891166 w 11499847"/>
              <a:gd name="connsiteY353" fmla="*/ 266849 h 2403475"/>
              <a:gd name="connsiteX354" fmla="*/ 7998914 w 11499847"/>
              <a:gd name="connsiteY354" fmla="*/ 313896 h 2403475"/>
              <a:gd name="connsiteX355" fmla="*/ 8047035 w 11499847"/>
              <a:gd name="connsiteY355" fmla="*/ 415934 h 2403475"/>
              <a:gd name="connsiteX356" fmla="*/ 7999751 w 11499847"/>
              <a:gd name="connsiteY356" fmla="*/ 527381 h 2403475"/>
              <a:gd name="connsiteX357" fmla="*/ 7866478 w 11499847"/>
              <a:gd name="connsiteY357" fmla="*/ 571500 h 2403475"/>
              <a:gd name="connsiteX358" fmla="*/ 7761659 w 11499847"/>
              <a:gd name="connsiteY358" fmla="*/ 554145 h 2403475"/>
              <a:gd name="connsiteX359" fmla="*/ 7685085 w 11499847"/>
              <a:gd name="connsiteY359" fmla="*/ 512954 h 2403475"/>
              <a:gd name="connsiteX360" fmla="*/ 7725883 w 11499847"/>
              <a:gd name="connsiteY360" fmla="*/ 447925 h 2403475"/>
              <a:gd name="connsiteX361" fmla="*/ 7793879 w 11499847"/>
              <a:gd name="connsiteY361" fmla="*/ 483053 h 2403475"/>
              <a:gd name="connsiteX362" fmla="*/ 7867106 w 11499847"/>
              <a:gd name="connsiteY362" fmla="*/ 497063 h 2403475"/>
              <a:gd name="connsiteX363" fmla="*/ 7939496 w 11499847"/>
              <a:gd name="connsiteY363" fmla="*/ 475108 h 2403475"/>
              <a:gd name="connsiteX364" fmla="*/ 7964393 w 11499847"/>
              <a:gd name="connsiteY364" fmla="*/ 420952 h 2403475"/>
              <a:gd name="connsiteX365" fmla="*/ 7933847 w 11499847"/>
              <a:gd name="connsiteY365" fmla="*/ 369933 h 2403475"/>
              <a:gd name="connsiteX366" fmla="*/ 7853925 w 11499847"/>
              <a:gd name="connsiteY366" fmla="*/ 339823 h 2403475"/>
              <a:gd name="connsiteX367" fmla="*/ 7745968 w 11499847"/>
              <a:gd name="connsiteY367" fmla="*/ 292986 h 2403475"/>
              <a:gd name="connsiteX368" fmla="*/ 7698266 w 11499847"/>
              <a:gd name="connsiteY368" fmla="*/ 190739 h 2403475"/>
              <a:gd name="connsiteX369" fmla="*/ 7743666 w 11499847"/>
              <a:gd name="connsiteY369" fmla="*/ 80964 h 2403475"/>
              <a:gd name="connsiteX370" fmla="*/ 7870035 w 11499847"/>
              <a:gd name="connsiteY370" fmla="*/ 38100 h 2403475"/>
              <a:gd name="connsiteX371" fmla="*/ 7334624 w 11499847"/>
              <a:gd name="connsiteY371" fmla="*/ 38100 h 2403475"/>
              <a:gd name="connsiteX372" fmla="*/ 7525363 w 11499847"/>
              <a:gd name="connsiteY372" fmla="*/ 116301 h 2403475"/>
              <a:gd name="connsiteX373" fmla="*/ 7604123 w 11499847"/>
              <a:gd name="connsiteY373" fmla="*/ 304905 h 2403475"/>
              <a:gd name="connsiteX374" fmla="*/ 7525363 w 11499847"/>
              <a:gd name="connsiteY374" fmla="*/ 493090 h 2403475"/>
              <a:gd name="connsiteX375" fmla="*/ 7334624 w 11499847"/>
              <a:gd name="connsiteY375" fmla="*/ 571500 h 2403475"/>
              <a:gd name="connsiteX376" fmla="*/ 7144094 w 11499847"/>
              <a:gd name="connsiteY376" fmla="*/ 493090 h 2403475"/>
              <a:gd name="connsiteX377" fmla="*/ 7065960 w 11499847"/>
              <a:gd name="connsiteY377" fmla="*/ 304905 h 2403475"/>
              <a:gd name="connsiteX378" fmla="*/ 7144094 w 11499847"/>
              <a:gd name="connsiteY378" fmla="*/ 116301 h 2403475"/>
              <a:gd name="connsiteX379" fmla="*/ 7334624 w 11499847"/>
              <a:gd name="connsiteY379" fmla="*/ 38100 h 2403475"/>
              <a:gd name="connsiteX380" fmla="*/ 2766077 w 11499847"/>
              <a:gd name="connsiteY380" fmla="*/ 0 h 2403475"/>
              <a:gd name="connsiteX381" fmla="*/ 3146531 w 11499847"/>
              <a:gd name="connsiteY381" fmla="*/ 51449 h 2403475"/>
              <a:gd name="connsiteX382" fmla="*/ 3467375 w 11499847"/>
              <a:gd name="connsiteY382" fmla="*/ 204124 h 2403475"/>
              <a:gd name="connsiteX383" fmla="*/ 3340627 w 11499847"/>
              <a:gd name="connsiteY383" fmla="*/ 403228 h 2403475"/>
              <a:gd name="connsiteX384" fmla="*/ 3213880 w 11499847"/>
              <a:gd name="connsiteY384" fmla="*/ 602542 h 2403475"/>
              <a:gd name="connsiteX385" fmla="*/ 3009743 w 11499847"/>
              <a:gd name="connsiteY385" fmla="*/ 496716 h 2403475"/>
              <a:gd name="connsiteX386" fmla="*/ 2766077 w 11499847"/>
              <a:gd name="connsiteY386" fmla="*/ 457606 h 2403475"/>
              <a:gd name="connsiteX387" fmla="*/ 2232314 w 11499847"/>
              <a:gd name="connsiteY387" fmla="*/ 681180 h 2403475"/>
              <a:gd name="connsiteX388" fmla="*/ 2012073 w 11499847"/>
              <a:gd name="connsiteY388" fmla="*/ 1198391 h 2403475"/>
              <a:gd name="connsiteX389" fmla="*/ 2232314 w 11499847"/>
              <a:gd name="connsiteY389" fmla="*/ 1721250 h 2403475"/>
              <a:gd name="connsiteX390" fmla="*/ 2766077 w 11499847"/>
              <a:gd name="connsiteY390" fmla="*/ 1942732 h 2403475"/>
              <a:gd name="connsiteX391" fmla="*/ 3050111 w 11499847"/>
              <a:gd name="connsiteY391" fmla="*/ 1886682 h 2403475"/>
              <a:gd name="connsiteX392" fmla="*/ 3289594 w 11499847"/>
              <a:gd name="connsiteY392" fmla="*/ 1722086 h 2403475"/>
              <a:gd name="connsiteX393" fmla="*/ 3543925 w 11499847"/>
              <a:gd name="connsiteY393" fmla="*/ 1095493 h 2403475"/>
              <a:gd name="connsiteX394" fmla="*/ 3921866 w 11499847"/>
              <a:gd name="connsiteY394" fmla="*/ 345714 h 2403475"/>
              <a:gd name="connsiteX395" fmla="*/ 4300646 w 11499847"/>
              <a:gd name="connsiteY395" fmla="*/ 92441 h 2403475"/>
              <a:gd name="connsiteX396" fmla="*/ 4787977 w 11499847"/>
              <a:gd name="connsiteY396" fmla="*/ 0 h 2403475"/>
              <a:gd name="connsiteX397" fmla="*/ 5168221 w 11499847"/>
              <a:gd name="connsiteY397" fmla="*/ 54796 h 2403475"/>
              <a:gd name="connsiteX398" fmla="*/ 5489275 w 11499847"/>
              <a:gd name="connsiteY398" fmla="*/ 210607 h 2403475"/>
              <a:gd name="connsiteX399" fmla="*/ 5364200 w 11499847"/>
              <a:gd name="connsiteY399" fmla="*/ 409921 h 2403475"/>
              <a:gd name="connsiteX400" fmla="*/ 5239125 w 11499847"/>
              <a:gd name="connsiteY400" fmla="*/ 609025 h 2403475"/>
              <a:gd name="connsiteX401" fmla="*/ 5031643 w 11499847"/>
              <a:gd name="connsiteY401" fmla="*/ 500480 h 2403475"/>
              <a:gd name="connsiteX402" fmla="*/ 4784631 w 11499847"/>
              <a:gd name="connsiteY402" fmla="*/ 460952 h 2403475"/>
              <a:gd name="connsiteX403" fmla="*/ 4264462 w 11499847"/>
              <a:gd name="connsiteY403" fmla="*/ 679089 h 2403475"/>
              <a:gd name="connsiteX404" fmla="*/ 4050287 w 11499847"/>
              <a:gd name="connsiteY404" fmla="*/ 1198391 h 2403475"/>
              <a:gd name="connsiteX405" fmla="*/ 4262370 w 11499847"/>
              <a:gd name="connsiteY405" fmla="*/ 1725223 h 2403475"/>
              <a:gd name="connsiteX406" fmla="*/ 4778147 w 11499847"/>
              <a:gd name="connsiteY406" fmla="*/ 1945870 h 2403475"/>
              <a:gd name="connsiteX407" fmla="*/ 5191438 w 11499847"/>
              <a:gd name="connsiteY407" fmla="*/ 1804280 h 2403475"/>
              <a:gd name="connsiteX408" fmla="*/ 5426737 w 11499847"/>
              <a:gd name="connsiteY408" fmla="*/ 1445390 h 2403475"/>
              <a:gd name="connsiteX409" fmla="*/ 4708917 w 11499847"/>
              <a:gd name="connsiteY409" fmla="*/ 1445390 h 2403475"/>
              <a:gd name="connsiteX410" fmla="*/ 4850515 w 11499847"/>
              <a:gd name="connsiteY410" fmla="*/ 1223279 h 2403475"/>
              <a:gd name="connsiteX411" fmla="*/ 4992113 w 11499847"/>
              <a:gd name="connsiteY411" fmla="*/ 1000960 h 2403475"/>
              <a:gd name="connsiteX412" fmla="*/ 5457901 w 11499847"/>
              <a:gd name="connsiteY412" fmla="*/ 1000960 h 2403475"/>
              <a:gd name="connsiteX413" fmla="*/ 5924108 w 11499847"/>
              <a:gd name="connsiteY413" fmla="*/ 1000960 h 2403475"/>
              <a:gd name="connsiteX414" fmla="*/ 5936030 w 11499847"/>
              <a:gd name="connsiteY414" fmla="*/ 1100094 h 2403475"/>
              <a:gd name="connsiteX415" fmla="*/ 5940422 w 11499847"/>
              <a:gd name="connsiteY415" fmla="*/ 1201738 h 2403475"/>
              <a:gd name="connsiteX416" fmla="*/ 5600963 w 11499847"/>
              <a:gd name="connsiteY416" fmla="*/ 2050860 h 2403475"/>
              <a:gd name="connsiteX417" fmla="*/ 4764970 w 11499847"/>
              <a:gd name="connsiteY417" fmla="*/ 2403475 h 2403475"/>
              <a:gd name="connsiteX418" fmla="*/ 4178290 w 11499847"/>
              <a:gd name="connsiteY418" fmla="*/ 2262513 h 2403475"/>
              <a:gd name="connsiteX419" fmla="*/ 3757265 w 11499847"/>
              <a:gd name="connsiteY419" fmla="*/ 1886682 h 2403475"/>
              <a:gd name="connsiteX420" fmla="*/ 3332469 w 11499847"/>
              <a:gd name="connsiteY420" fmla="*/ 2263558 h 2403475"/>
              <a:gd name="connsiteX421" fmla="*/ 2749555 w 11499847"/>
              <a:gd name="connsiteY421" fmla="*/ 2403475 h 2403475"/>
              <a:gd name="connsiteX422" fmla="*/ 2242563 w 11499847"/>
              <a:gd name="connsiteY422" fmla="*/ 2295766 h 2403475"/>
              <a:gd name="connsiteX423" fmla="*/ 1844121 w 11499847"/>
              <a:gd name="connsiteY423" fmla="*/ 2005266 h 2403475"/>
              <a:gd name="connsiteX424" fmla="*/ 1583096 w 11499847"/>
              <a:gd name="connsiteY424" fmla="*/ 2257493 h 2403475"/>
              <a:gd name="connsiteX425" fmla="*/ 1188838 w 11499847"/>
              <a:gd name="connsiteY425" fmla="*/ 2354117 h 2403475"/>
              <a:gd name="connsiteX426" fmla="*/ 0 w 11499847"/>
              <a:gd name="connsiteY426" fmla="*/ 2354117 h 2403475"/>
              <a:gd name="connsiteX427" fmla="*/ 0 w 11499847"/>
              <a:gd name="connsiteY427" fmla="*/ 1201738 h 2403475"/>
              <a:gd name="connsiteX428" fmla="*/ 0 w 11499847"/>
              <a:gd name="connsiteY428" fmla="*/ 49358 h 2403475"/>
              <a:gd name="connsiteX429" fmla="*/ 538575 w 11499847"/>
              <a:gd name="connsiteY429" fmla="*/ 49358 h 2403475"/>
              <a:gd name="connsiteX430" fmla="*/ 1076940 w 11499847"/>
              <a:gd name="connsiteY430" fmla="*/ 49358 h 2403475"/>
              <a:gd name="connsiteX431" fmla="*/ 1523487 w 11499847"/>
              <a:gd name="connsiteY431" fmla="*/ 176099 h 2403475"/>
              <a:gd name="connsiteX432" fmla="*/ 1774892 w 11499847"/>
              <a:gd name="connsiteY432" fmla="*/ 500480 h 2403475"/>
              <a:gd name="connsiteX433" fmla="*/ 2196549 w 11499847"/>
              <a:gd name="connsiteY433" fmla="*/ 137826 h 2403475"/>
              <a:gd name="connsiteX434" fmla="*/ 2766077 w 11499847"/>
              <a:gd name="connsiteY434" fmla="*/ 0 h 2403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Lst>
            <a:rect l="l" t="t" r="r" b="b"/>
            <a:pathLst>
              <a:path w="11499847" h="2403475">
                <a:moveTo>
                  <a:pt x="8982072" y="1919288"/>
                </a:moveTo>
                <a:cubicBezTo>
                  <a:pt x="8982072" y="2105026"/>
                  <a:pt x="8982072" y="2105026"/>
                  <a:pt x="8982072" y="2105026"/>
                </a:cubicBezTo>
                <a:cubicBezTo>
                  <a:pt x="9098233" y="2105026"/>
                  <a:pt x="9098233" y="2105026"/>
                  <a:pt x="9098233" y="2105026"/>
                </a:cubicBezTo>
                <a:cubicBezTo>
                  <a:pt x="9124975" y="2105026"/>
                  <a:pt x="9148166" y="2096202"/>
                  <a:pt x="9164880" y="2080233"/>
                </a:cubicBezTo>
                <a:cubicBezTo>
                  <a:pt x="9181594" y="2064055"/>
                  <a:pt x="9191622" y="2040732"/>
                  <a:pt x="9191622" y="2011737"/>
                </a:cubicBezTo>
                <a:cubicBezTo>
                  <a:pt x="9191622" y="1983792"/>
                  <a:pt x="9181594" y="1960680"/>
                  <a:pt x="9164880" y="1944501"/>
                </a:cubicBezTo>
                <a:cubicBezTo>
                  <a:pt x="9148166" y="1928323"/>
                  <a:pt x="9124975" y="1919288"/>
                  <a:pt x="9098233" y="1919288"/>
                </a:cubicBezTo>
                <a:cubicBezTo>
                  <a:pt x="8982072" y="1919288"/>
                  <a:pt x="8982072" y="1919288"/>
                  <a:pt x="8982072" y="1919288"/>
                </a:cubicBezTo>
                <a:close/>
                <a:moveTo>
                  <a:pt x="7280272" y="1919288"/>
                </a:moveTo>
                <a:cubicBezTo>
                  <a:pt x="7280272" y="2097088"/>
                  <a:pt x="7280272" y="2097088"/>
                  <a:pt x="7280272" y="2097088"/>
                </a:cubicBezTo>
                <a:cubicBezTo>
                  <a:pt x="7404503" y="2097088"/>
                  <a:pt x="7404503" y="2097088"/>
                  <a:pt x="7404503" y="2097088"/>
                </a:cubicBezTo>
                <a:cubicBezTo>
                  <a:pt x="7430689" y="2097088"/>
                  <a:pt x="7453105" y="2088711"/>
                  <a:pt x="7469027" y="2073423"/>
                </a:cubicBezTo>
                <a:cubicBezTo>
                  <a:pt x="7485158" y="2058136"/>
                  <a:pt x="7494585" y="2035937"/>
                  <a:pt x="7494585" y="2008502"/>
                </a:cubicBezTo>
                <a:cubicBezTo>
                  <a:pt x="7494585" y="1981487"/>
                  <a:pt x="7485158" y="1959078"/>
                  <a:pt x="7469027" y="1943581"/>
                </a:cubicBezTo>
                <a:cubicBezTo>
                  <a:pt x="7453105" y="1927874"/>
                  <a:pt x="7430689" y="1919288"/>
                  <a:pt x="7404503" y="1919288"/>
                </a:cubicBezTo>
                <a:cubicBezTo>
                  <a:pt x="7280272" y="1919288"/>
                  <a:pt x="7280272" y="1919288"/>
                  <a:pt x="7280272" y="1919288"/>
                </a:cubicBezTo>
                <a:close/>
                <a:moveTo>
                  <a:pt x="7945015" y="1909763"/>
                </a:moveTo>
                <a:cubicBezTo>
                  <a:pt x="7893445" y="1909763"/>
                  <a:pt x="7847115" y="1930941"/>
                  <a:pt x="7813574" y="1965330"/>
                </a:cubicBezTo>
                <a:cubicBezTo>
                  <a:pt x="7780242" y="1999719"/>
                  <a:pt x="7759697" y="2047317"/>
                  <a:pt x="7759697" y="2100368"/>
                </a:cubicBezTo>
                <a:cubicBezTo>
                  <a:pt x="7759697" y="2153419"/>
                  <a:pt x="7780242" y="2201227"/>
                  <a:pt x="7813574" y="2235406"/>
                </a:cubicBezTo>
                <a:cubicBezTo>
                  <a:pt x="7847115" y="2269795"/>
                  <a:pt x="7893445" y="2290763"/>
                  <a:pt x="7945015" y="2290763"/>
                </a:cubicBezTo>
                <a:cubicBezTo>
                  <a:pt x="7997215" y="2290763"/>
                  <a:pt x="8043544" y="2270004"/>
                  <a:pt x="8077086" y="2235825"/>
                </a:cubicBezTo>
                <a:cubicBezTo>
                  <a:pt x="8110628" y="2201437"/>
                  <a:pt x="8131172" y="2153838"/>
                  <a:pt x="8131172" y="2100368"/>
                </a:cubicBezTo>
                <a:cubicBezTo>
                  <a:pt x="8131172" y="2047317"/>
                  <a:pt x="8110418" y="1999719"/>
                  <a:pt x="8076876" y="1965330"/>
                </a:cubicBezTo>
                <a:cubicBezTo>
                  <a:pt x="8043334" y="1930941"/>
                  <a:pt x="7996796" y="1909763"/>
                  <a:pt x="7945015" y="1909763"/>
                </a:cubicBezTo>
                <a:close/>
                <a:moveTo>
                  <a:pt x="8899522" y="1844675"/>
                </a:moveTo>
                <a:cubicBezTo>
                  <a:pt x="9098598" y="1844675"/>
                  <a:pt x="9098598" y="1844675"/>
                  <a:pt x="9098598" y="1844675"/>
                </a:cubicBezTo>
                <a:cubicBezTo>
                  <a:pt x="9152872" y="1844675"/>
                  <a:pt x="9197507" y="1862857"/>
                  <a:pt x="9228521" y="1892741"/>
                </a:cubicBezTo>
                <a:cubicBezTo>
                  <a:pt x="9259744" y="1922835"/>
                  <a:pt x="9277347" y="1964423"/>
                  <a:pt x="9277347" y="2011236"/>
                </a:cubicBezTo>
                <a:cubicBezTo>
                  <a:pt x="9277347" y="2057839"/>
                  <a:pt x="9259744" y="2099427"/>
                  <a:pt x="9228521" y="2129521"/>
                </a:cubicBezTo>
                <a:cubicBezTo>
                  <a:pt x="9197507" y="2159405"/>
                  <a:pt x="9152872" y="2177796"/>
                  <a:pt x="9098598" y="2177796"/>
                </a:cubicBezTo>
                <a:cubicBezTo>
                  <a:pt x="8982086" y="2177796"/>
                  <a:pt x="8982086" y="2177796"/>
                  <a:pt x="8982086" y="2177796"/>
                </a:cubicBezTo>
                <a:cubicBezTo>
                  <a:pt x="8982086" y="2355850"/>
                  <a:pt x="8982086" y="2355850"/>
                  <a:pt x="8982086" y="2355850"/>
                </a:cubicBezTo>
                <a:cubicBezTo>
                  <a:pt x="8899522" y="2355850"/>
                  <a:pt x="8899522" y="2355850"/>
                  <a:pt x="8899522" y="2355850"/>
                </a:cubicBezTo>
                <a:cubicBezTo>
                  <a:pt x="8899522" y="1844675"/>
                  <a:pt x="8899522" y="1844675"/>
                  <a:pt x="8899522" y="1844675"/>
                </a:cubicBezTo>
                <a:close/>
                <a:moveTo>
                  <a:pt x="8324847" y="1844675"/>
                </a:moveTo>
                <a:cubicBezTo>
                  <a:pt x="8407608" y="1844675"/>
                  <a:pt x="8407608" y="1844675"/>
                  <a:pt x="8407608" y="1844675"/>
                </a:cubicBezTo>
                <a:cubicBezTo>
                  <a:pt x="8407608" y="2158090"/>
                  <a:pt x="8407608" y="2158090"/>
                  <a:pt x="8407608" y="2158090"/>
                </a:cubicBezTo>
                <a:cubicBezTo>
                  <a:pt x="8407608" y="2195307"/>
                  <a:pt x="8420389" y="2228551"/>
                  <a:pt x="8443017" y="2252595"/>
                </a:cubicBezTo>
                <a:cubicBezTo>
                  <a:pt x="8465855" y="2276431"/>
                  <a:pt x="8498331" y="2291066"/>
                  <a:pt x="8537931" y="2291066"/>
                </a:cubicBezTo>
                <a:cubicBezTo>
                  <a:pt x="8576692" y="2291066"/>
                  <a:pt x="8609168" y="2276431"/>
                  <a:pt x="8631797" y="2252595"/>
                </a:cubicBezTo>
                <a:cubicBezTo>
                  <a:pt x="8654425" y="2228551"/>
                  <a:pt x="8667415" y="2195307"/>
                  <a:pt x="8667415" y="2158090"/>
                </a:cubicBezTo>
                <a:cubicBezTo>
                  <a:pt x="8667415" y="1844675"/>
                  <a:pt x="8667415" y="1844675"/>
                  <a:pt x="8667415" y="1844675"/>
                </a:cubicBezTo>
                <a:cubicBezTo>
                  <a:pt x="8748710" y="1844675"/>
                  <a:pt x="8748710" y="1844675"/>
                  <a:pt x="8748710" y="1844675"/>
                </a:cubicBezTo>
                <a:cubicBezTo>
                  <a:pt x="8748710" y="2158717"/>
                  <a:pt x="8748710" y="2158717"/>
                  <a:pt x="8748710" y="2158717"/>
                </a:cubicBezTo>
                <a:cubicBezTo>
                  <a:pt x="8748710" y="2218724"/>
                  <a:pt x="8726291" y="2270785"/>
                  <a:pt x="8688577" y="2307793"/>
                </a:cubicBezTo>
                <a:cubicBezTo>
                  <a:pt x="8650863" y="2345010"/>
                  <a:pt x="8597854" y="2366963"/>
                  <a:pt x="8537093" y="2366963"/>
                </a:cubicBezTo>
                <a:cubicBezTo>
                  <a:pt x="8476331" y="2366963"/>
                  <a:pt x="8423322" y="2345010"/>
                  <a:pt x="8385399" y="2307793"/>
                </a:cubicBezTo>
                <a:cubicBezTo>
                  <a:pt x="8347475" y="2270785"/>
                  <a:pt x="8324847" y="2218724"/>
                  <a:pt x="8324847" y="2158717"/>
                </a:cubicBezTo>
                <a:cubicBezTo>
                  <a:pt x="8324847" y="1844675"/>
                  <a:pt x="8324847" y="1844675"/>
                  <a:pt x="8324847" y="1844675"/>
                </a:cubicBezTo>
                <a:close/>
                <a:moveTo>
                  <a:pt x="7197722" y="1844675"/>
                </a:moveTo>
                <a:cubicBezTo>
                  <a:pt x="7404196" y="1844675"/>
                  <a:pt x="7404196" y="1844675"/>
                  <a:pt x="7404196" y="1844675"/>
                </a:cubicBezTo>
                <a:cubicBezTo>
                  <a:pt x="7457641" y="1844675"/>
                  <a:pt x="7501065" y="1862439"/>
                  <a:pt x="7531336" y="1891906"/>
                </a:cubicBezTo>
                <a:cubicBezTo>
                  <a:pt x="7561608" y="1921581"/>
                  <a:pt x="7578727" y="1962542"/>
                  <a:pt x="7578727" y="2008937"/>
                </a:cubicBezTo>
                <a:cubicBezTo>
                  <a:pt x="7578727" y="2047390"/>
                  <a:pt x="7568080" y="2080827"/>
                  <a:pt x="7548455" y="2106950"/>
                </a:cubicBezTo>
                <a:cubicBezTo>
                  <a:pt x="7529040" y="2133073"/>
                  <a:pt x="7500647" y="2152091"/>
                  <a:pt x="7464947" y="2161495"/>
                </a:cubicBezTo>
                <a:cubicBezTo>
                  <a:pt x="7525699" y="2258673"/>
                  <a:pt x="7525699" y="2258673"/>
                  <a:pt x="7525699" y="2258673"/>
                </a:cubicBezTo>
                <a:cubicBezTo>
                  <a:pt x="7586660" y="2355850"/>
                  <a:pt x="7586660" y="2355850"/>
                  <a:pt x="7586660" y="2355850"/>
                </a:cubicBezTo>
                <a:cubicBezTo>
                  <a:pt x="7491044" y="2355850"/>
                  <a:pt x="7491044" y="2355850"/>
                  <a:pt x="7491044" y="2355850"/>
                </a:cubicBezTo>
                <a:cubicBezTo>
                  <a:pt x="7434676" y="2263479"/>
                  <a:pt x="7434676" y="2263479"/>
                  <a:pt x="7434676" y="2263479"/>
                </a:cubicBezTo>
                <a:cubicBezTo>
                  <a:pt x="7378099" y="2171108"/>
                  <a:pt x="7378099" y="2171108"/>
                  <a:pt x="7378099" y="2171108"/>
                </a:cubicBezTo>
                <a:cubicBezTo>
                  <a:pt x="7280395" y="2171108"/>
                  <a:pt x="7280395" y="2171108"/>
                  <a:pt x="7280395" y="2171108"/>
                </a:cubicBezTo>
                <a:cubicBezTo>
                  <a:pt x="7280395" y="2355850"/>
                  <a:pt x="7280395" y="2355850"/>
                  <a:pt x="7280395" y="2355850"/>
                </a:cubicBezTo>
                <a:cubicBezTo>
                  <a:pt x="7197722" y="2355850"/>
                  <a:pt x="7197722" y="2355850"/>
                  <a:pt x="7197722" y="2355850"/>
                </a:cubicBezTo>
                <a:cubicBezTo>
                  <a:pt x="7197722" y="1844675"/>
                  <a:pt x="7197722" y="1844675"/>
                  <a:pt x="7197722" y="1844675"/>
                </a:cubicBezTo>
                <a:close/>
                <a:moveTo>
                  <a:pt x="7945016" y="1833563"/>
                </a:moveTo>
                <a:cubicBezTo>
                  <a:pt x="8020028" y="1833563"/>
                  <a:pt x="8087706" y="1863673"/>
                  <a:pt x="8136527" y="1911974"/>
                </a:cubicBezTo>
                <a:cubicBezTo>
                  <a:pt x="8185138" y="1960274"/>
                  <a:pt x="8215310" y="2026976"/>
                  <a:pt x="8215310" y="2100368"/>
                </a:cubicBezTo>
                <a:cubicBezTo>
                  <a:pt x="8215310" y="2173760"/>
                  <a:pt x="8185138" y="2240461"/>
                  <a:pt x="8136527" y="2288762"/>
                </a:cubicBezTo>
                <a:cubicBezTo>
                  <a:pt x="8087706" y="2337063"/>
                  <a:pt x="8020028" y="2366963"/>
                  <a:pt x="7945016" y="2366963"/>
                </a:cubicBezTo>
                <a:cubicBezTo>
                  <a:pt x="7870004" y="2366963"/>
                  <a:pt x="7802745" y="2337063"/>
                  <a:pt x="7754134" y="2288762"/>
                </a:cubicBezTo>
                <a:cubicBezTo>
                  <a:pt x="7705523" y="2240461"/>
                  <a:pt x="7675560" y="2173760"/>
                  <a:pt x="7675560" y="2100368"/>
                </a:cubicBezTo>
                <a:cubicBezTo>
                  <a:pt x="7675560" y="2026976"/>
                  <a:pt x="7705523" y="1960274"/>
                  <a:pt x="7754134" y="1911974"/>
                </a:cubicBezTo>
                <a:cubicBezTo>
                  <a:pt x="7802745" y="1863673"/>
                  <a:pt x="7870004" y="1833563"/>
                  <a:pt x="7945016" y="1833563"/>
                </a:cubicBezTo>
                <a:close/>
                <a:moveTo>
                  <a:pt x="6834872" y="1833563"/>
                </a:moveTo>
                <a:cubicBezTo>
                  <a:pt x="6865690" y="1833563"/>
                  <a:pt x="6894831" y="1837536"/>
                  <a:pt x="6921875" y="1845482"/>
                </a:cubicBezTo>
                <a:cubicBezTo>
                  <a:pt x="6948919" y="1853218"/>
                  <a:pt x="6973658" y="1865136"/>
                  <a:pt x="6996090" y="1881028"/>
                </a:cubicBezTo>
                <a:cubicBezTo>
                  <a:pt x="6974496" y="1914692"/>
                  <a:pt x="6974496" y="1914692"/>
                  <a:pt x="6974496" y="1914692"/>
                </a:cubicBezTo>
                <a:cubicBezTo>
                  <a:pt x="6952903" y="1948356"/>
                  <a:pt x="6952903" y="1948356"/>
                  <a:pt x="6952903" y="1948356"/>
                </a:cubicBezTo>
                <a:cubicBezTo>
                  <a:pt x="6935712" y="1935183"/>
                  <a:pt x="6917263" y="1925774"/>
                  <a:pt x="6897556" y="1919501"/>
                </a:cubicBezTo>
                <a:cubicBezTo>
                  <a:pt x="6877850" y="1913228"/>
                  <a:pt x="6856885" y="1910301"/>
                  <a:pt x="6834243" y="1910301"/>
                </a:cubicBezTo>
                <a:cubicBezTo>
                  <a:pt x="6782461" y="1910301"/>
                  <a:pt x="6736548" y="1931001"/>
                  <a:pt x="6703424" y="1965084"/>
                </a:cubicBezTo>
                <a:cubicBezTo>
                  <a:pt x="6670510" y="1999166"/>
                  <a:pt x="6650384" y="2046631"/>
                  <a:pt x="6650384" y="2100368"/>
                </a:cubicBezTo>
                <a:cubicBezTo>
                  <a:pt x="6650384" y="2154105"/>
                  <a:pt x="6669671" y="2201779"/>
                  <a:pt x="6701957" y="2236070"/>
                </a:cubicBezTo>
                <a:cubicBezTo>
                  <a:pt x="6734242" y="2270152"/>
                  <a:pt x="6779526" y="2291062"/>
                  <a:pt x="6831308" y="2291062"/>
                </a:cubicBezTo>
                <a:cubicBezTo>
                  <a:pt x="6878898" y="2291062"/>
                  <a:pt x="6917473" y="2275798"/>
                  <a:pt x="6945984" y="2250498"/>
                </a:cubicBezTo>
                <a:cubicBezTo>
                  <a:pt x="6974496" y="2225197"/>
                  <a:pt x="6992735" y="2189442"/>
                  <a:pt x="6999863" y="2148460"/>
                </a:cubicBezTo>
                <a:cubicBezTo>
                  <a:pt x="6825438" y="2148460"/>
                  <a:pt x="6825438" y="2148460"/>
                  <a:pt x="6825438" y="2148460"/>
                </a:cubicBezTo>
                <a:cubicBezTo>
                  <a:pt x="6849128" y="2111241"/>
                  <a:pt x="6849128" y="2111241"/>
                  <a:pt x="6849128" y="2111241"/>
                </a:cubicBezTo>
                <a:cubicBezTo>
                  <a:pt x="6873028" y="2074022"/>
                  <a:pt x="6873028" y="2074022"/>
                  <a:pt x="6873028" y="2074022"/>
                </a:cubicBezTo>
                <a:cubicBezTo>
                  <a:pt x="7078061" y="2074022"/>
                  <a:pt x="7078061" y="2074022"/>
                  <a:pt x="7078061" y="2074022"/>
                </a:cubicBezTo>
                <a:cubicBezTo>
                  <a:pt x="7079319" y="2078204"/>
                  <a:pt x="7080158" y="2083849"/>
                  <a:pt x="7080787" y="2090540"/>
                </a:cubicBezTo>
                <a:cubicBezTo>
                  <a:pt x="7081415" y="2096813"/>
                  <a:pt x="7081835" y="2103922"/>
                  <a:pt x="7081835" y="2110613"/>
                </a:cubicBezTo>
                <a:cubicBezTo>
                  <a:pt x="7081835" y="2183378"/>
                  <a:pt x="7056258" y="2247361"/>
                  <a:pt x="7011813" y="2293362"/>
                </a:cubicBezTo>
                <a:cubicBezTo>
                  <a:pt x="6967788" y="2339363"/>
                  <a:pt x="6904894" y="2366963"/>
                  <a:pt x="6830470" y="2366963"/>
                </a:cubicBezTo>
                <a:cubicBezTo>
                  <a:pt x="6756255" y="2366963"/>
                  <a:pt x="6690007" y="2337481"/>
                  <a:pt x="6642417" y="2289389"/>
                </a:cubicBezTo>
                <a:cubicBezTo>
                  <a:pt x="6595037" y="2241088"/>
                  <a:pt x="6565897" y="2174387"/>
                  <a:pt x="6565897" y="2100368"/>
                </a:cubicBezTo>
                <a:cubicBezTo>
                  <a:pt x="6565897" y="2026139"/>
                  <a:pt x="6595876" y="1959438"/>
                  <a:pt x="6644514" y="1911346"/>
                </a:cubicBezTo>
                <a:cubicBezTo>
                  <a:pt x="6692942" y="1863255"/>
                  <a:pt x="6760238" y="1833563"/>
                  <a:pt x="6834872" y="1833563"/>
                </a:cubicBezTo>
                <a:close/>
                <a:moveTo>
                  <a:pt x="501650" y="1403350"/>
                </a:moveTo>
                <a:cubicBezTo>
                  <a:pt x="501650" y="1403350"/>
                  <a:pt x="501650" y="1403350"/>
                  <a:pt x="501650" y="1925638"/>
                </a:cubicBezTo>
                <a:cubicBezTo>
                  <a:pt x="501650" y="1925638"/>
                  <a:pt x="501650" y="1925638"/>
                  <a:pt x="842112" y="1925638"/>
                </a:cubicBezTo>
                <a:cubicBezTo>
                  <a:pt x="842112" y="1925638"/>
                  <a:pt x="842112" y="1925638"/>
                  <a:pt x="1182574" y="1925638"/>
                </a:cubicBezTo>
                <a:cubicBezTo>
                  <a:pt x="1258233" y="1925638"/>
                  <a:pt x="1326576" y="1896842"/>
                  <a:pt x="1375900" y="1849684"/>
                </a:cubicBezTo>
                <a:cubicBezTo>
                  <a:pt x="1425224" y="1802317"/>
                  <a:pt x="1455738" y="1736796"/>
                  <a:pt x="1455738" y="1662720"/>
                </a:cubicBezTo>
                <a:cubicBezTo>
                  <a:pt x="1455738" y="1588853"/>
                  <a:pt x="1425224" y="1523958"/>
                  <a:pt x="1375900" y="1477635"/>
                </a:cubicBezTo>
                <a:cubicBezTo>
                  <a:pt x="1326576" y="1431103"/>
                  <a:pt x="1258233" y="1403350"/>
                  <a:pt x="1182574" y="1403350"/>
                </a:cubicBezTo>
                <a:cubicBezTo>
                  <a:pt x="1182574" y="1403350"/>
                  <a:pt x="1182574" y="1403350"/>
                  <a:pt x="501650" y="1403350"/>
                </a:cubicBezTo>
                <a:close/>
                <a:moveTo>
                  <a:pt x="7349808" y="1012825"/>
                </a:moveTo>
                <a:cubicBezTo>
                  <a:pt x="7297999" y="1012825"/>
                  <a:pt x="7251643" y="1033706"/>
                  <a:pt x="7218292" y="1067952"/>
                </a:cubicBezTo>
                <a:cubicBezTo>
                  <a:pt x="7184731" y="1102197"/>
                  <a:pt x="7164385" y="1149598"/>
                  <a:pt x="7164385" y="1202427"/>
                </a:cubicBezTo>
                <a:cubicBezTo>
                  <a:pt x="7164385" y="1255466"/>
                  <a:pt x="7184731" y="1302866"/>
                  <a:pt x="7218292" y="1336903"/>
                </a:cubicBezTo>
                <a:cubicBezTo>
                  <a:pt x="7251643" y="1371148"/>
                  <a:pt x="7297999" y="1392238"/>
                  <a:pt x="7349808" y="1392238"/>
                </a:cubicBezTo>
                <a:cubicBezTo>
                  <a:pt x="7401827" y="1392238"/>
                  <a:pt x="7448393" y="1371357"/>
                  <a:pt x="7481953" y="1337320"/>
                </a:cubicBezTo>
                <a:cubicBezTo>
                  <a:pt x="7515304" y="1303075"/>
                  <a:pt x="7535860" y="1255675"/>
                  <a:pt x="7535860" y="1202427"/>
                </a:cubicBezTo>
                <a:cubicBezTo>
                  <a:pt x="7535860" y="1149598"/>
                  <a:pt x="7515304" y="1102197"/>
                  <a:pt x="7481534" y="1067952"/>
                </a:cubicBezTo>
                <a:cubicBezTo>
                  <a:pt x="7447973" y="1033706"/>
                  <a:pt x="7401408" y="1012825"/>
                  <a:pt x="7349808" y="1012825"/>
                </a:cubicBezTo>
                <a:close/>
                <a:moveTo>
                  <a:pt x="10448922" y="946150"/>
                </a:moveTo>
                <a:lnTo>
                  <a:pt x="10552110" y="946150"/>
                </a:lnTo>
                <a:lnTo>
                  <a:pt x="10671172" y="1139825"/>
                </a:lnTo>
                <a:lnTo>
                  <a:pt x="10790235" y="1333501"/>
                </a:lnTo>
                <a:lnTo>
                  <a:pt x="10790235" y="946150"/>
                </a:lnTo>
                <a:lnTo>
                  <a:pt x="10869610" y="946150"/>
                </a:lnTo>
                <a:lnTo>
                  <a:pt x="10869610" y="1458913"/>
                </a:lnTo>
                <a:lnTo>
                  <a:pt x="10772772" y="1458913"/>
                </a:lnTo>
                <a:lnTo>
                  <a:pt x="10650535" y="1260475"/>
                </a:lnTo>
                <a:lnTo>
                  <a:pt x="10528297" y="1062038"/>
                </a:lnTo>
                <a:lnTo>
                  <a:pt x="10528297" y="1458913"/>
                </a:lnTo>
                <a:lnTo>
                  <a:pt x="10448922" y="1458913"/>
                </a:lnTo>
                <a:close/>
                <a:moveTo>
                  <a:pt x="10185397" y="946150"/>
                </a:moveTo>
                <a:lnTo>
                  <a:pt x="10267947" y="946150"/>
                </a:lnTo>
                <a:lnTo>
                  <a:pt x="10267947" y="1458913"/>
                </a:lnTo>
                <a:lnTo>
                  <a:pt x="10185397" y="1458913"/>
                </a:lnTo>
                <a:close/>
                <a:moveTo>
                  <a:pt x="9656760" y="946150"/>
                </a:moveTo>
                <a:lnTo>
                  <a:pt x="10059985" y="946150"/>
                </a:lnTo>
                <a:lnTo>
                  <a:pt x="10059985" y="1022350"/>
                </a:lnTo>
                <a:lnTo>
                  <a:pt x="9899648" y="1022350"/>
                </a:lnTo>
                <a:lnTo>
                  <a:pt x="9899648" y="1458913"/>
                </a:lnTo>
                <a:lnTo>
                  <a:pt x="9817098" y="1458913"/>
                </a:lnTo>
                <a:lnTo>
                  <a:pt x="9817098" y="1022350"/>
                </a:lnTo>
                <a:lnTo>
                  <a:pt x="9656760" y="1022350"/>
                </a:lnTo>
                <a:close/>
                <a:moveTo>
                  <a:pt x="9336085" y="946150"/>
                </a:moveTo>
                <a:lnTo>
                  <a:pt x="9418635" y="946150"/>
                </a:lnTo>
                <a:lnTo>
                  <a:pt x="9418635" y="1382713"/>
                </a:lnTo>
                <a:lnTo>
                  <a:pt x="9671048" y="1382713"/>
                </a:lnTo>
                <a:lnTo>
                  <a:pt x="9671048" y="1458913"/>
                </a:lnTo>
                <a:lnTo>
                  <a:pt x="9336085" y="1458913"/>
                </a:lnTo>
                <a:close/>
                <a:moveTo>
                  <a:pt x="8766172" y="946150"/>
                </a:moveTo>
                <a:cubicBezTo>
                  <a:pt x="8848414" y="946150"/>
                  <a:pt x="8848414" y="946150"/>
                  <a:pt x="8848414" y="946150"/>
                </a:cubicBezTo>
                <a:cubicBezTo>
                  <a:pt x="8848414" y="1260391"/>
                  <a:pt x="8848414" y="1260391"/>
                  <a:pt x="8848414" y="1260391"/>
                </a:cubicBezTo>
                <a:cubicBezTo>
                  <a:pt x="8848414" y="1297706"/>
                  <a:pt x="8861356" y="1331038"/>
                  <a:pt x="8883900" y="1355146"/>
                </a:cubicBezTo>
                <a:cubicBezTo>
                  <a:pt x="8906443" y="1379044"/>
                  <a:pt x="8939006" y="1393718"/>
                  <a:pt x="8978249" y="1393718"/>
                </a:cubicBezTo>
                <a:cubicBezTo>
                  <a:pt x="9017074" y="1393718"/>
                  <a:pt x="9049219" y="1379044"/>
                  <a:pt x="9071972" y="1355146"/>
                </a:cubicBezTo>
                <a:cubicBezTo>
                  <a:pt x="9094515" y="1331038"/>
                  <a:pt x="9107457" y="1297706"/>
                  <a:pt x="9107457" y="1260391"/>
                </a:cubicBezTo>
                <a:cubicBezTo>
                  <a:pt x="9107457" y="946150"/>
                  <a:pt x="9107457" y="946150"/>
                  <a:pt x="9107457" y="946150"/>
                </a:cubicBezTo>
                <a:cubicBezTo>
                  <a:pt x="9188447" y="946150"/>
                  <a:pt x="9188447" y="946150"/>
                  <a:pt x="9188447" y="946150"/>
                </a:cubicBezTo>
                <a:cubicBezTo>
                  <a:pt x="9188447" y="1261230"/>
                  <a:pt x="9188447" y="1261230"/>
                  <a:pt x="9188447" y="1261230"/>
                </a:cubicBezTo>
                <a:cubicBezTo>
                  <a:pt x="9188447" y="1321185"/>
                  <a:pt x="9166112" y="1373384"/>
                  <a:pt x="9128539" y="1410489"/>
                </a:cubicBezTo>
                <a:cubicBezTo>
                  <a:pt x="9090758" y="1447804"/>
                  <a:pt x="9038156" y="1470025"/>
                  <a:pt x="8977623" y="1470025"/>
                </a:cubicBezTo>
                <a:cubicBezTo>
                  <a:pt x="8917089" y="1470025"/>
                  <a:pt x="8864278" y="1447804"/>
                  <a:pt x="8826497" y="1410489"/>
                </a:cubicBezTo>
                <a:cubicBezTo>
                  <a:pt x="8788716" y="1373384"/>
                  <a:pt x="8766172" y="1321185"/>
                  <a:pt x="8766172" y="1261230"/>
                </a:cubicBezTo>
                <a:cubicBezTo>
                  <a:pt x="8766172" y="946150"/>
                  <a:pt x="8766172" y="946150"/>
                  <a:pt x="8766172" y="946150"/>
                </a:cubicBezTo>
                <a:close/>
                <a:moveTo>
                  <a:pt x="7737472" y="946150"/>
                </a:moveTo>
                <a:lnTo>
                  <a:pt x="7839072" y="946150"/>
                </a:lnTo>
                <a:lnTo>
                  <a:pt x="7958134" y="1139825"/>
                </a:lnTo>
                <a:lnTo>
                  <a:pt x="8077197" y="1333501"/>
                </a:lnTo>
                <a:lnTo>
                  <a:pt x="8077197" y="946150"/>
                </a:lnTo>
                <a:lnTo>
                  <a:pt x="8156572" y="946150"/>
                </a:lnTo>
                <a:lnTo>
                  <a:pt x="8156572" y="1458913"/>
                </a:lnTo>
                <a:lnTo>
                  <a:pt x="8061322" y="1458913"/>
                </a:lnTo>
                <a:lnTo>
                  <a:pt x="7939084" y="1260475"/>
                </a:lnTo>
                <a:lnTo>
                  <a:pt x="7815259" y="1062038"/>
                </a:lnTo>
                <a:lnTo>
                  <a:pt x="7815259" y="1458913"/>
                </a:lnTo>
                <a:lnTo>
                  <a:pt x="7737472" y="1458913"/>
                </a:lnTo>
                <a:close/>
                <a:moveTo>
                  <a:pt x="11253544" y="936625"/>
                </a:moveTo>
                <a:cubicBezTo>
                  <a:pt x="11284280" y="936625"/>
                  <a:pt x="11313343" y="940389"/>
                  <a:pt x="11340315" y="948334"/>
                </a:cubicBezTo>
                <a:cubicBezTo>
                  <a:pt x="11367287" y="956071"/>
                  <a:pt x="11391959" y="967989"/>
                  <a:pt x="11414331" y="984090"/>
                </a:cubicBezTo>
                <a:cubicBezTo>
                  <a:pt x="11392795" y="1017545"/>
                  <a:pt x="11392795" y="1017545"/>
                  <a:pt x="11392795" y="1017545"/>
                </a:cubicBezTo>
                <a:cubicBezTo>
                  <a:pt x="11371260" y="1051209"/>
                  <a:pt x="11371260" y="1051209"/>
                  <a:pt x="11371260" y="1051209"/>
                </a:cubicBezTo>
                <a:cubicBezTo>
                  <a:pt x="11354114" y="1038036"/>
                  <a:pt x="11335715" y="1028627"/>
                  <a:pt x="11316270" y="1022354"/>
                </a:cubicBezTo>
                <a:cubicBezTo>
                  <a:pt x="11296616" y="1016290"/>
                  <a:pt x="11275498" y="1013363"/>
                  <a:pt x="11252917" y="1013363"/>
                </a:cubicBezTo>
                <a:cubicBezTo>
                  <a:pt x="11201273" y="1013363"/>
                  <a:pt x="11155483" y="1034063"/>
                  <a:pt x="11122657" y="1067936"/>
                </a:cubicBezTo>
                <a:cubicBezTo>
                  <a:pt x="11089622" y="1102019"/>
                  <a:pt x="11069549" y="1149692"/>
                  <a:pt x="11069549" y="1203221"/>
                </a:cubicBezTo>
                <a:cubicBezTo>
                  <a:pt x="11069549" y="1256958"/>
                  <a:pt x="11088785" y="1304631"/>
                  <a:pt x="11120984" y="1338923"/>
                </a:cubicBezTo>
                <a:cubicBezTo>
                  <a:pt x="11153393" y="1373214"/>
                  <a:pt x="11198346" y="1394124"/>
                  <a:pt x="11249990" y="1394124"/>
                </a:cubicBezTo>
                <a:cubicBezTo>
                  <a:pt x="11297452" y="1394124"/>
                  <a:pt x="11335924" y="1378860"/>
                  <a:pt x="11364360" y="1353350"/>
                </a:cubicBezTo>
                <a:cubicBezTo>
                  <a:pt x="11392795" y="1328050"/>
                  <a:pt x="11410986" y="1292295"/>
                  <a:pt x="11418095" y="1251521"/>
                </a:cubicBezTo>
                <a:cubicBezTo>
                  <a:pt x="11244136" y="1251521"/>
                  <a:pt x="11244136" y="1251521"/>
                  <a:pt x="11244136" y="1251521"/>
                </a:cubicBezTo>
                <a:cubicBezTo>
                  <a:pt x="11267971" y="1214303"/>
                  <a:pt x="11267971" y="1214303"/>
                  <a:pt x="11267971" y="1214303"/>
                </a:cubicBezTo>
                <a:cubicBezTo>
                  <a:pt x="11291598" y="1177084"/>
                  <a:pt x="11291598" y="1177084"/>
                  <a:pt x="11291598" y="1177084"/>
                </a:cubicBezTo>
                <a:cubicBezTo>
                  <a:pt x="11496083" y="1177084"/>
                  <a:pt x="11496083" y="1177084"/>
                  <a:pt x="11496083" y="1177084"/>
                </a:cubicBezTo>
                <a:cubicBezTo>
                  <a:pt x="11497338" y="1181057"/>
                  <a:pt x="11498174" y="1186911"/>
                  <a:pt x="11498802" y="1193393"/>
                </a:cubicBezTo>
                <a:cubicBezTo>
                  <a:pt x="11499429" y="1199875"/>
                  <a:pt x="11499847" y="1206984"/>
                  <a:pt x="11499847" y="1213466"/>
                </a:cubicBezTo>
                <a:cubicBezTo>
                  <a:pt x="11499847" y="1286231"/>
                  <a:pt x="11474339" y="1350214"/>
                  <a:pt x="11430222" y="1396215"/>
                </a:cubicBezTo>
                <a:cubicBezTo>
                  <a:pt x="11386105" y="1442216"/>
                  <a:pt x="11323379" y="1470025"/>
                  <a:pt x="11249154" y="1470025"/>
                </a:cubicBezTo>
                <a:cubicBezTo>
                  <a:pt x="11175137" y="1470025"/>
                  <a:pt x="11109066" y="1440334"/>
                  <a:pt x="11061813" y="1392242"/>
                </a:cubicBezTo>
                <a:cubicBezTo>
                  <a:pt x="11014351" y="1344150"/>
                  <a:pt x="10985497" y="1277449"/>
                  <a:pt x="10985497" y="1203221"/>
                </a:cubicBezTo>
                <a:cubicBezTo>
                  <a:pt x="10985497" y="1129201"/>
                  <a:pt x="11015187" y="1062500"/>
                  <a:pt x="11063695" y="1014408"/>
                </a:cubicBezTo>
                <a:cubicBezTo>
                  <a:pt x="11111994" y="966317"/>
                  <a:pt x="11179110" y="936625"/>
                  <a:pt x="11253544" y="936625"/>
                </a:cubicBezTo>
                <a:close/>
                <a:moveTo>
                  <a:pt x="8471697" y="936625"/>
                </a:moveTo>
                <a:cubicBezTo>
                  <a:pt x="8502452" y="936625"/>
                  <a:pt x="8530906" y="941434"/>
                  <a:pt x="8556850" y="949798"/>
                </a:cubicBezTo>
                <a:cubicBezTo>
                  <a:pt x="8582793" y="958162"/>
                  <a:pt x="8606225" y="970080"/>
                  <a:pt x="8626729" y="984717"/>
                </a:cubicBezTo>
                <a:cubicBezTo>
                  <a:pt x="8626729" y="984717"/>
                  <a:pt x="8626729" y="984717"/>
                  <a:pt x="8606225" y="1017336"/>
                </a:cubicBezTo>
                <a:cubicBezTo>
                  <a:pt x="8606225" y="1017336"/>
                  <a:pt x="8606225" y="1017336"/>
                  <a:pt x="8585722" y="1049745"/>
                </a:cubicBezTo>
                <a:cubicBezTo>
                  <a:pt x="8566474" y="1037409"/>
                  <a:pt x="8547644" y="1027581"/>
                  <a:pt x="8528605" y="1021099"/>
                </a:cubicBezTo>
                <a:cubicBezTo>
                  <a:pt x="8509775" y="1014617"/>
                  <a:pt x="8490736" y="1011063"/>
                  <a:pt x="8471070" y="1011063"/>
                </a:cubicBezTo>
                <a:cubicBezTo>
                  <a:pt x="8441151" y="1011063"/>
                  <a:pt x="8418974" y="1019217"/>
                  <a:pt x="8404328" y="1032181"/>
                </a:cubicBezTo>
                <a:cubicBezTo>
                  <a:pt x="8389683" y="1045354"/>
                  <a:pt x="8382570" y="1063755"/>
                  <a:pt x="8382570" y="1084246"/>
                </a:cubicBezTo>
                <a:cubicBezTo>
                  <a:pt x="8382570" y="1108292"/>
                  <a:pt x="8393449" y="1123556"/>
                  <a:pt x="8412697" y="1135474"/>
                </a:cubicBezTo>
                <a:cubicBezTo>
                  <a:pt x="8432155" y="1147183"/>
                  <a:pt x="8459772" y="1155338"/>
                  <a:pt x="8493038" y="1165165"/>
                </a:cubicBezTo>
                <a:cubicBezTo>
                  <a:pt x="8532789" y="1177293"/>
                  <a:pt x="8571704" y="1190257"/>
                  <a:pt x="8600786" y="1212421"/>
                </a:cubicBezTo>
                <a:cubicBezTo>
                  <a:pt x="8629658" y="1234585"/>
                  <a:pt x="8648697" y="1265740"/>
                  <a:pt x="8648697" y="1314250"/>
                </a:cubicBezTo>
                <a:cubicBezTo>
                  <a:pt x="8648697" y="1359205"/>
                  <a:pt x="8632169" y="1398097"/>
                  <a:pt x="8601413" y="1425906"/>
                </a:cubicBezTo>
                <a:cubicBezTo>
                  <a:pt x="8570658" y="1453507"/>
                  <a:pt x="8525467" y="1470025"/>
                  <a:pt x="8468140" y="1470025"/>
                </a:cubicBezTo>
                <a:cubicBezTo>
                  <a:pt x="8427552" y="1470025"/>
                  <a:pt x="8393031" y="1463125"/>
                  <a:pt x="8363531" y="1452461"/>
                </a:cubicBezTo>
                <a:cubicBezTo>
                  <a:pt x="8333821" y="1441797"/>
                  <a:pt x="8308715" y="1427161"/>
                  <a:pt x="8286747" y="1411479"/>
                </a:cubicBezTo>
                <a:cubicBezTo>
                  <a:pt x="8286747" y="1411479"/>
                  <a:pt x="8286747" y="1411479"/>
                  <a:pt x="8307251" y="1379069"/>
                </a:cubicBezTo>
                <a:cubicBezTo>
                  <a:pt x="8307251" y="1379069"/>
                  <a:pt x="8307251" y="1379069"/>
                  <a:pt x="8327754" y="1346450"/>
                </a:cubicBezTo>
                <a:cubicBezTo>
                  <a:pt x="8349931" y="1360669"/>
                  <a:pt x="8372318" y="1373005"/>
                  <a:pt x="8395541" y="1381578"/>
                </a:cubicBezTo>
                <a:cubicBezTo>
                  <a:pt x="8418765" y="1390360"/>
                  <a:pt x="8442825" y="1395378"/>
                  <a:pt x="8468768" y="1395378"/>
                </a:cubicBezTo>
                <a:cubicBezTo>
                  <a:pt x="8500569" y="1395378"/>
                  <a:pt x="8525048" y="1387224"/>
                  <a:pt x="8541367" y="1373633"/>
                </a:cubicBezTo>
                <a:cubicBezTo>
                  <a:pt x="8557686" y="1360041"/>
                  <a:pt x="8566055" y="1341014"/>
                  <a:pt x="8566055" y="1319477"/>
                </a:cubicBezTo>
                <a:cubicBezTo>
                  <a:pt x="8566055" y="1295640"/>
                  <a:pt x="8554967" y="1280376"/>
                  <a:pt x="8535509" y="1268458"/>
                </a:cubicBezTo>
                <a:cubicBezTo>
                  <a:pt x="8516261" y="1256540"/>
                  <a:pt x="8488644" y="1248176"/>
                  <a:pt x="8455587" y="1238348"/>
                </a:cubicBezTo>
                <a:cubicBezTo>
                  <a:pt x="8415417" y="1226221"/>
                  <a:pt x="8376502" y="1213466"/>
                  <a:pt x="8347630" y="1191511"/>
                </a:cubicBezTo>
                <a:cubicBezTo>
                  <a:pt x="8318758" y="1169556"/>
                  <a:pt x="8299928" y="1138192"/>
                  <a:pt x="8299928" y="1089264"/>
                </a:cubicBezTo>
                <a:cubicBezTo>
                  <a:pt x="8299928" y="1044727"/>
                  <a:pt x="8315829" y="1006463"/>
                  <a:pt x="8345329" y="979489"/>
                </a:cubicBezTo>
                <a:cubicBezTo>
                  <a:pt x="8374828" y="952516"/>
                  <a:pt x="8417718" y="936625"/>
                  <a:pt x="8471697" y="936625"/>
                </a:cubicBezTo>
                <a:close/>
                <a:moveTo>
                  <a:pt x="7349808" y="936625"/>
                </a:moveTo>
                <a:cubicBezTo>
                  <a:pt x="7424849" y="936625"/>
                  <a:pt x="7492344" y="966526"/>
                  <a:pt x="7541183" y="1014826"/>
                </a:cubicBezTo>
                <a:cubicBezTo>
                  <a:pt x="7590023" y="1063127"/>
                  <a:pt x="7619997" y="1129828"/>
                  <a:pt x="7619997" y="1203221"/>
                </a:cubicBezTo>
                <a:cubicBezTo>
                  <a:pt x="7619997" y="1276613"/>
                  <a:pt x="7590023" y="1343314"/>
                  <a:pt x="7541183" y="1391615"/>
                </a:cubicBezTo>
                <a:cubicBezTo>
                  <a:pt x="7492344" y="1440125"/>
                  <a:pt x="7424849" y="1470025"/>
                  <a:pt x="7349808" y="1470025"/>
                </a:cubicBezTo>
                <a:cubicBezTo>
                  <a:pt x="7274767" y="1470025"/>
                  <a:pt x="7207272" y="1440125"/>
                  <a:pt x="7158642" y="1391615"/>
                </a:cubicBezTo>
                <a:cubicBezTo>
                  <a:pt x="7110012" y="1343314"/>
                  <a:pt x="7080247" y="1276613"/>
                  <a:pt x="7080247" y="1203221"/>
                </a:cubicBezTo>
                <a:cubicBezTo>
                  <a:pt x="7080247" y="1129828"/>
                  <a:pt x="7110012" y="1063127"/>
                  <a:pt x="7158642" y="1014826"/>
                </a:cubicBezTo>
                <a:cubicBezTo>
                  <a:pt x="7207272" y="966526"/>
                  <a:pt x="7274767" y="936625"/>
                  <a:pt x="7349808" y="936625"/>
                </a:cubicBezTo>
                <a:close/>
                <a:moveTo>
                  <a:pt x="6837427" y="936625"/>
                </a:moveTo>
                <a:cubicBezTo>
                  <a:pt x="6874092" y="936625"/>
                  <a:pt x="6904891" y="941852"/>
                  <a:pt x="6932756" y="951680"/>
                </a:cubicBezTo>
                <a:cubicBezTo>
                  <a:pt x="6960412" y="961507"/>
                  <a:pt x="6984925" y="975726"/>
                  <a:pt x="7008810" y="993499"/>
                </a:cubicBezTo>
                <a:cubicBezTo>
                  <a:pt x="7008810" y="993499"/>
                  <a:pt x="7008810" y="993499"/>
                  <a:pt x="6987439" y="1026745"/>
                </a:cubicBezTo>
                <a:cubicBezTo>
                  <a:pt x="6987439" y="1026745"/>
                  <a:pt x="6987439" y="1026745"/>
                  <a:pt x="6966278" y="1059991"/>
                </a:cubicBezTo>
                <a:cubicBezTo>
                  <a:pt x="6946584" y="1044727"/>
                  <a:pt x="6926680" y="1032809"/>
                  <a:pt x="6904891" y="1024863"/>
                </a:cubicBezTo>
                <a:cubicBezTo>
                  <a:pt x="6883101" y="1016708"/>
                  <a:pt x="6859845" y="1012526"/>
                  <a:pt x="6833027" y="1012526"/>
                </a:cubicBezTo>
                <a:cubicBezTo>
                  <a:pt x="6782115" y="1012526"/>
                  <a:pt x="6736441" y="1033436"/>
                  <a:pt x="6703338" y="1067727"/>
                </a:cubicBezTo>
                <a:cubicBezTo>
                  <a:pt x="6670444" y="1102019"/>
                  <a:pt x="6649912" y="1149483"/>
                  <a:pt x="6649912" y="1203221"/>
                </a:cubicBezTo>
                <a:cubicBezTo>
                  <a:pt x="6649912" y="1256958"/>
                  <a:pt x="6670444" y="1304631"/>
                  <a:pt x="6703338" y="1338923"/>
                </a:cubicBezTo>
                <a:cubicBezTo>
                  <a:pt x="6736441" y="1373214"/>
                  <a:pt x="6782115" y="1393915"/>
                  <a:pt x="6833027" y="1393915"/>
                </a:cubicBezTo>
                <a:cubicBezTo>
                  <a:pt x="6859845" y="1393915"/>
                  <a:pt x="6883101" y="1389733"/>
                  <a:pt x="6904891" y="1381787"/>
                </a:cubicBezTo>
                <a:cubicBezTo>
                  <a:pt x="6926680" y="1373633"/>
                  <a:pt x="6946584" y="1361923"/>
                  <a:pt x="6966278" y="1346450"/>
                </a:cubicBezTo>
                <a:cubicBezTo>
                  <a:pt x="6966278" y="1346450"/>
                  <a:pt x="6966278" y="1346450"/>
                  <a:pt x="6987439" y="1379696"/>
                </a:cubicBezTo>
                <a:cubicBezTo>
                  <a:pt x="6987439" y="1379696"/>
                  <a:pt x="6987439" y="1379696"/>
                  <a:pt x="7008810" y="1412942"/>
                </a:cubicBezTo>
                <a:cubicBezTo>
                  <a:pt x="6984925" y="1430924"/>
                  <a:pt x="6960412" y="1445143"/>
                  <a:pt x="6932756" y="1454970"/>
                </a:cubicBezTo>
                <a:cubicBezTo>
                  <a:pt x="6904891" y="1464589"/>
                  <a:pt x="6874092" y="1470025"/>
                  <a:pt x="6837427" y="1470025"/>
                </a:cubicBezTo>
                <a:cubicBezTo>
                  <a:pt x="6761373" y="1470025"/>
                  <a:pt x="6693491" y="1440334"/>
                  <a:pt x="6644674" y="1392242"/>
                </a:cubicBezTo>
                <a:cubicBezTo>
                  <a:pt x="6595648" y="1344150"/>
                  <a:pt x="6565897" y="1277449"/>
                  <a:pt x="6565897" y="1203221"/>
                </a:cubicBezTo>
                <a:cubicBezTo>
                  <a:pt x="6565897" y="1129201"/>
                  <a:pt x="6595648" y="1062500"/>
                  <a:pt x="6644674" y="1014408"/>
                </a:cubicBezTo>
                <a:cubicBezTo>
                  <a:pt x="6693491" y="966107"/>
                  <a:pt x="6761373" y="936625"/>
                  <a:pt x="6837427" y="936625"/>
                </a:cubicBezTo>
                <a:close/>
                <a:moveTo>
                  <a:pt x="501650" y="477838"/>
                </a:moveTo>
                <a:cubicBezTo>
                  <a:pt x="501650" y="477838"/>
                  <a:pt x="501650" y="477838"/>
                  <a:pt x="501650" y="981076"/>
                </a:cubicBezTo>
                <a:cubicBezTo>
                  <a:pt x="501650" y="981076"/>
                  <a:pt x="501650" y="981076"/>
                  <a:pt x="786010" y="981076"/>
                </a:cubicBezTo>
                <a:cubicBezTo>
                  <a:pt x="786010" y="981076"/>
                  <a:pt x="786010" y="981076"/>
                  <a:pt x="1070579" y="981076"/>
                </a:cubicBezTo>
                <a:cubicBezTo>
                  <a:pt x="1142870" y="981076"/>
                  <a:pt x="1207013" y="953710"/>
                  <a:pt x="1253188" y="908588"/>
                </a:cubicBezTo>
                <a:cubicBezTo>
                  <a:pt x="1299153" y="863466"/>
                  <a:pt x="1327150" y="800169"/>
                  <a:pt x="1327150" y="727681"/>
                </a:cubicBezTo>
                <a:cubicBezTo>
                  <a:pt x="1327150" y="655402"/>
                  <a:pt x="1299153" y="592942"/>
                  <a:pt x="1253188" y="548446"/>
                </a:cubicBezTo>
                <a:cubicBezTo>
                  <a:pt x="1207013" y="503951"/>
                  <a:pt x="1142870" y="477838"/>
                  <a:pt x="1070579" y="477838"/>
                </a:cubicBezTo>
                <a:cubicBezTo>
                  <a:pt x="1070579" y="477838"/>
                  <a:pt x="1070579" y="477838"/>
                  <a:pt x="501650" y="477838"/>
                </a:cubicBezTo>
                <a:close/>
                <a:moveTo>
                  <a:pt x="6675435" y="336550"/>
                </a:moveTo>
                <a:cubicBezTo>
                  <a:pt x="6675435" y="487363"/>
                  <a:pt x="6675435" y="487363"/>
                  <a:pt x="6675435" y="487363"/>
                </a:cubicBezTo>
                <a:cubicBezTo>
                  <a:pt x="6808467" y="487363"/>
                  <a:pt x="6808467" y="487363"/>
                  <a:pt x="6808467" y="487363"/>
                </a:cubicBezTo>
                <a:cubicBezTo>
                  <a:pt x="6831475" y="487363"/>
                  <a:pt x="6851346" y="478985"/>
                  <a:pt x="6865570" y="465370"/>
                </a:cubicBezTo>
                <a:cubicBezTo>
                  <a:pt x="6879793" y="451755"/>
                  <a:pt x="6888160" y="432903"/>
                  <a:pt x="6888160" y="411957"/>
                </a:cubicBezTo>
                <a:cubicBezTo>
                  <a:pt x="6888160" y="390801"/>
                  <a:pt x="6879793" y="371949"/>
                  <a:pt x="6865570" y="358334"/>
                </a:cubicBezTo>
                <a:cubicBezTo>
                  <a:pt x="6851346" y="344719"/>
                  <a:pt x="6831475" y="336550"/>
                  <a:pt x="6808467" y="336550"/>
                </a:cubicBezTo>
                <a:cubicBezTo>
                  <a:pt x="6675435" y="336550"/>
                  <a:pt x="6675435" y="336550"/>
                  <a:pt x="6675435" y="336550"/>
                </a:cubicBezTo>
                <a:close/>
                <a:moveTo>
                  <a:pt x="6675435" y="122238"/>
                </a:moveTo>
                <a:cubicBezTo>
                  <a:pt x="6675435" y="265113"/>
                  <a:pt x="6675435" y="265113"/>
                  <a:pt x="6675435" y="265113"/>
                </a:cubicBezTo>
                <a:cubicBezTo>
                  <a:pt x="6795279" y="265113"/>
                  <a:pt x="6795279" y="265113"/>
                  <a:pt x="6795279" y="265113"/>
                </a:cubicBezTo>
                <a:cubicBezTo>
                  <a:pt x="6816822" y="265113"/>
                  <a:pt x="6835228" y="257396"/>
                  <a:pt x="6848404" y="244673"/>
                </a:cubicBezTo>
                <a:cubicBezTo>
                  <a:pt x="6861372" y="231949"/>
                  <a:pt x="6869110" y="214012"/>
                  <a:pt x="6869110" y="193571"/>
                </a:cubicBezTo>
                <a:cubicBezTo>
                  <a:pt x="6869110" y="173131"/>
                  <a:pt x="6861372" y="155402"/>
                  <a:pt x="6848404" y="142679"/>
                </a:cubicBezTo>
                <a:cubicBezTo>
                  <a:pt x="6835228" y="129747"/>
                  <a:pt x="6816822" y="122238"/>
                  <a:pt x="6795279" y="122238"/>
                </a:cubicBezTo>
                <a:cubicBezTo>
                  <a:pt x="6675435" y="122238"/>
                  <a:pt x="6675435" y="122238"/>
                  <a:pt x="6675435" y="122238"/>
                </a:cubicBezTo>
                <a:close/>
                <a:moveTo>
                  <a:pt x="8850791" y="114300"/>
                </a:moveTo>
                <a:cubicBezTo>
                  <a:pt x="8799203" y="114300"/>
                  <a:pt x="8753045" y="135269"/>
                  <a:pt x="8719837" y="169657"/>
                </a:cubicBezTo>
                <a:cubicBezTo>
                  <a:pt x="8686419" y="204046"/>
                  <a:pt x="8666160" y="251645"/>
                  <a:pt x="8666160" y="304905"/>
                </a:cubicBezTo>
                <a:cubicBezTo>
                  <a:pt x="8666160" y="357956"/>
                  <a:pt x="8686419" y="405554"/>
                  <a:pt x="8719837" y="439943"/>
                </a:cubicBezTo>
                <a:cubicBezTo>
                  <a:pt x="8753045" y="474332"/>
                  <a:pt x="8799203" y="495300"/>
                  <a:pt x="8850791" y="495300"/>
                </a:cubicBezTo>
                <a:cubicBezTo>
                  <a:pt x="8902588" y="495300"/>
                  <a:pt x="8948954" y="474541"/>
                  <a:pt x="8982163" y="440153"/>
                </a:cubicBezTo>
                <a:cubicBezTo>
                  <a:pt x="9015580" y="405974"/>
                  <a:pt x="9036048" y="358375"/>
                  <a:pt x="9036048" y="304905"/>
                </a:cubicBezTo>
                <a:cubicBezTo>
                  <a:pt x="9036048" y="251645"/>
                  <a:pt x="9015371" y="204046"/>
                  <a:pt x="8981954" y="169657"/>
                </a:cubicBezTo>
                <a:cubicBezTo>
                  <a:pt x="8948536" y="135269"/>
                  <a:pt x="8902170" y="114300"/>
                  <a:pt x="8850791" y="114300"/>
                </a:cubicBezTo>
                <a:close/>
                <a:moveTo>
                  <a:pt x="7335415" y="114300"/>
                </a:moveTo>
                <a:cubicBezTo>
                  <a:pt x="7283845" y="114300"/>
                  <a:pt x="7237515" y="135269"/>
                  <a:pt x="7203974" y="169657"/>
                </a:cubicBezTo>
                <a:cubicBezTo>
                  <a:pt x="7170642" y="204046"/>
                  <a:pt x="7150097" y="251645"/>
                  <a:pt x="7150097" y="304905"/>
                </a:cubicBezTo>
                <a:cubicBezTo>
                  <a:pt x="7150097" y="357956"/>
                  <a:pt x="7170642" y="405554"/>
                  <a:pt x="7203974" y="439943"/>
                </a:cubicBezTo>
                <a:cubicBezTo>
                  <a:pt x="7237515" y="474332"/>
                  <a:pt x="7283845" y="495300"/>
                  <a:pt x="7335415" y="495300"/>
                </a:cubicBezTo>
                <a:cubicBezTo>
                  <a:pt x="7387405" y="495300"/>
                  <a:pt x="7433944" y="474541"/>
                  <a:pt x="7467486" y="440153"/>
                </a:cubicBezTo>
                <a:cubicBezTo>
                  <a:pt x="7501028" y="405974"/>
                  <a:pt x="7521572" y="358375"/>
                  <a:pt x="7521572" y="304905"/>
                </a:cubicBezTo>
                <a:cubicBezTo>
                  <a:pt x="7521572" y="251645"/>
                  <a:pt x="7500818" y="204046"/>
                  <a:pt x="7467067" y="169657"/>
                </a:cubicBezTo>
                <a:cubicBezTo>
                  <a:pt x="7433525" y="135269"/>
                  <a:pt x="7386986" y="114300"/>
                  <a:pt x="7335415" y="114300"/>
                </a:cubicBezTo>
                <a:close/>
                <a:moveTo>
                  <a:pt x="9237660" y="49213"/>
                </a:moveTo>
                <a:lnTo>
                  <a:pt x="9339260" y="49213"/>
                </a:lnTo>
                <a:lnTo>
                  <a:pt x="9458322" y="242888"/>
                </a:lnTo>
                <a:lnTo>
                  <a:pt x="9578972" y="436563"/>
                </a:lnTo>
                <a:lnTo>
                  <a:pt x="9578972" y="49213"/>
                </a:lnTo>
                <a:lnTo>
                  <a:pt x="9656760" y="49213"/>
                </a:lnTo>
                <a:lnTo>
                  <a:pt x="9656760" y="560388"/>
                </a:lnTo>
                <a:lnTo>
                  <a:pt x="9561510" y="560388"/>
                </a:lnTo>
                <a:lnTo>
                  <a:pt x="9439272" y="363538"/>
                </a:lnTo>
                <a:lnTo>
                  <a:pt x="9317035" y="165101"/>
                </a:lnTo>
                <a:lnTo>
                  <a:pt x="9317035" y="560388"/>
                </a:lnTo>
                <a:lnTo>
                  <a:pt x="9237660" y="560388"/>
                </a:lnTo>
                <a:close/>
                <a:moveTo>
                  <a:pt x="8126410" y="49213"/>
                </a:moveTo>
                <a:lnTo>
                  <a:pt x="8529635" y="49213"/>
                </a:lnTo>
                <a:lnTo>
                  <a:pt x="8529635" y="125413"/>
                </a:lnTo>
                <a:lnTo>
                  <a:pt x="8369298" y="125413"/>
                </a:lnTo>
                <a:lnTo>
                  <a:pt x="8369298" y="560388"/>
                </a:lnTo>
                <a:lnTo>
                  <a:pt x="8285160" y="560388"/>
                </a:lnTo>
                <a:lnTo>
                  <a:pt x="8285160" y="125413"/>
                </a:lnTo>
                <a:lnTo>
                  <a:pt x="8126410" y="125413"/>
                </a:lnTo>
                <a:close/>
                <a:moveTo>
                  <a:pt x="6592885" y="49213"/>
                </a:moveTo>
                <a:cubicBezTo>
                  <a:pt x="6795851" y="49213"/>
                  <a:pt x="6795851" y="49213"/>
                  <a:pt x="6795851" y="49213"/>
                </a:cubicBezTo>
                <a:cubicBezTo>
                  <a:pt x="6840537" y="49213"/>
                  <a:pt x="6879794" y="63633"/>
                  <a:pt x="6907775" y="87875"/>
                </a:cubicBezTo>
                <a:cubicBezTo>
                  <a:pt x="6935756" y="112117"/>
                  <a:pt x="6952670" y="146182"/>
                  <a:pt x="6952670" y="185680"/>
                </a:cubicBezTo>
                <a:cubicBezTo>
                  <a:pt x="6952670" y="208041"/>
                  <a:pt x="6946823" y="228103"/>
                  <a:pt x="6936382" y="245658"/>
                </a:cubicBezTo>
                <a:cubicBezTo>
                  <a:pt x="6925733" y="263004"/>
                  <a:pt x="6910698" y="277633"/>
                  <a:pt x="6892114" y="288709"/>
                </a:cubicBezTo>
                <a:cubicBezTo>
                  <a:pt x="6916963" y="300621"/>
                  <a:pt x="6937009" y="318176"/>
                  <a:pt x="6950791" y="339492"/>
                </a:cubicBezTo>
                <a:cubicBezTo>
                  <a:pt x="6964572" y="360808"/>
                  <a:pt x="6972298" y="385677"/>
                  <a:pt x="6972298" y="412845"/>
                </a:cubicBezTo>
                <a:cubicBezTo>
                  <a:pt x="6972298" y="454015"/>
                  <a:pt x="6955384" y="491005"/>
                  <a:pt x="6926359" y="517546"/>
                </a:cubicBezTo>
                <a:cubicBezTo>
                  <a:pt x="6897543" y="544087"/>
                  <a:pt x="6856616" y="560388"/>
                  <a:pt x="6808798" y="560388"/>
                </a:cubicBezTo>
                <a:cubicBezTo>
                  <a:pt x="6592885" y="560388"/>
                  <a:pt x="6592885" y="560388"/>
                  <a:pt x="6592885" y="560388"/>
                </a:cubicBezTo>
                <a:cubicBezTo>
                  <a:pt x="6592885" y="49213"/>
                  <a:pt x="6592885" y="49213"/>
                  <a:pt x="6592885" y="49213"/>
                </a:cubicBezTo>
                <a:close/>
                <a:moveTo>
                  <a:pt x="8850790" y="38100"/>
                </a:moveTo>
                <a:cubicBezTo>
                  <a:pt x="8925610" y="38100"/>
                  <a:pt x="8992907" y="68001"/>
                  <a:pt x="9041603" y="116301"/>
                </a:cubicBezTo>
                <a:cubicBezTo>
                  <a:pt x="9090299" y="164602"/>
                  <a:pt x="9120185" y="231303"/>
                  <a:pt x="9120185" y="304905"/>
                </a:cubicBezTo>
                <a:cubicBezTo>
                  <a:pt x="9120185" y="378297"/>
                  <a:pt x="9090299" y="444998"/>
                  <a:pt x="9041603" y="493090"/>
                </a:cubicBezTo>
                <a:cubicBezTo>
                  <a:pt x="8992907" y="541600"/>
                  <a:pt x="8925610" y="571500"/>
                  <a:pt x="8850790" y="571500"/>
                </a:cubicBezTo>
                <a:cubicBezTo>
                  <a:pt x="8775761" y="571500"/>
                  <a:pt x="8708673" y="541600"/>
                  <a:pt x="8660186" y="493090"/>
                </a:cubicBezTo>
                <a:cubicBezTo>
                  <a:pt x="8611699" y="444998"/>
                  <a:pt x="8582022" y="378297"/>
                  <a:pt x="8582022" y="304905"/>
                </a:cubicBezTo>
                <a:cubicBezTo>
                  <a:pt x="8582022" y="231303"/>
                  <a:pt x="8611699" y="164602"/>
                  <a:pt x="8660186" y="116301"/>
                </a:cubicBezTo>
                <a:cubicBezTo>
                  <a:pt x="8708673" y="68001"/>
                  <a:pt x="8775761" y="38100"/>
                  <a:pt x="8850790" y="38100"/>
                </a:cubicBezTo>
                <a:close/>
                <a:moveTo>
                  <a:pt x="7870035" y="38100"/>
                </a:moveTo>
                <a:cubicBezTo>
                  <a:pt x="7871499" y="38100"/>
                  <a:pt x="7871499" y="38100"/>
                  <a:pt x="7871499" y="38100"/>
                </a:cubicBezTo>
                <a:cubicBezTo>
                  <a:pt x="7901627" y="38309"/>
                  <a:pt x="7929663" y="42909"/>
                  <a:pt x="7955187" y="51273"/>
                </a:cubicBezTo>
                <a:cubicBezTo>
                  <a:pt x="7981131" y="59637"/>
                  <a:pt x="8004563" y="71764"/>
                  <a:pt x="8025067" y="86401"/>
                </a:cubicBezTo>
                <a:cubicBezTo>
                  <a:pt x="8004563" y="118811"/>
                  <a:pt x="8004563" y="118811"/>
                  <a:pt x="8004563" y="118811"/>
                </a:cubicBezTo>
                <a:cubicBezTo>
                  <a:pt x="7984060" y="151429"/>
                  <a:pt x="7984060" y="151429"/>
                  <a:pt x="7984060" y="151429"/>
                </a:cubicBezTo>
                <a:cubicBezTo>
                  <a:pt x="7964811" y="138884"/>
                  <a:pt x="7945982" y="129265"/>
                  <a:pt x="7926943" y="122574"/>
                </a:cubicBezTo>
                <a:cubicBezTo>
                  <a:pt x="7908113" y="116092"/>
                  <a:pt x="7889074" y="112538"/>
                  <a:pt x="7869198" y="112538"/>
                </a:cubicBezTo>
                <a:cubicBezTo>
                  <a:pt x="7839280" y="112538"/>
                  <a:pt x="7817312" y="120692"/>
                  <a:pt x="7802666" y="133865"/>
                </a:cubicBezTo>
                <a:cubicBezTo>
                  <a:pt x="7788021" y="147038"/>
                  <a:pt x="7780907" y="165230"/>
                  <a:pt x="7780907" y="185721"/>
                </a:cubicBezTo>
                <a:cubicBezTo>
                  <a:pt x="7780907" y="209767"/>
                  <a:pt x="7791787" y="225031"/>
                  <a:pt x="7811035" y="236949"/>
                </a:cubicBezTo>
                <a:cubicBezTo>
                  <a:pt x="7830283" y="248658"/>
                  <a:pt x="7857900" y="257022"/>
                  <a:pt x="7891166" y="266849"/>
                </a:cubicBezTo>
                <a:cubicBezTo>
                  <a:pt x="7931127" y="278977"/>
                  <a:pt x="7970042" y="291941"/>
                  <a:pt x="7998914" y="313896"/>
                </a:cubicBezTo>
                <a:cubicBezTo>
                  <a:pt x="8027996" y="336060"/>
                  <a:pt x="8047035" y="367424"/>
                  <a:pt x="8047035" y="415934"/>
                </a:cubicBezTo>
                <a:cubicBezTo>
                  <a:pt x="8047035" y="460889"/>
                  <a:pt x="8030506" y="499781"/>
                  <a:pt x="7999751" y="527381"/>
                </a:cubicBezTo>
                <a:cubicBezTo>
                  <a:pt x="7968787" y="554982"/>
                  <a:pt x="7923804" y="571500"/>
                  <a:pt x="7866478" y="571500"/>
                </a:cubicBezTo>
                <a:cubicBezTo>
                  <a:pt x="7825890" y="571500"/>
                  <a:pt x="7791368" y="564809"/>
                  <a:pt x="7761659" y="554145"/>
                </a:cubicBezTo>
                <a:cubicBezTo>
                  <a:pt x="7731950" y="543272"/>
                  <a:pt x="7707053" y="528845"/>
                  <a:pt x="7685085" y="512954"/>
                </a:cubicBezTo>
                <a:cubicBezTo>
                  <a:pt x="7725883" y="447925"/>
                  <a:pt x="7725883" y="447925"/>
                  <a:pt x="7725883" y="447925"/>
                </a:cubicBezTo>
                <a:cubicBezTo>
                  <a:pt x="7748269" y="462353"/>
                  <a:pt x="7770656" y="474480"/>
                  <a:pt x="7793879" y="483053"/>
                </a:cubicBezTo>
                <a:cubicBezTo>
                  <a:pt x="7816893" y="491835"/>
                  <a:pt x="7841163" y="497063"/>
                  <a:pt x="7867106" y="497063"/>
                </a:cubicBezTo>
                <a:cubicBezTo>
                  <a:pt x="7898907" y="497063"/>
                  <a:pt x="7923177" y="488699"/>
                  <a:pt x="7939496" y="475108"/>
                </a:cubicBezTo>
                <a:cubicBezTo>
                  <a:pt x="7956024" y="461516"/>
                  <a:pt x="7964393" y="442489"/>
                  <a:pt x="7964393" y="420952"/>
                </a:cubicBezTo>
                <a:cubicBezTo>
                  <a:pt x="7964393" y="397324"/>
                  <a:pt x="7953095" y="381851"/>
                  <a:pt x="7933847" y="369933"/>
                </a:cubicBezTo>
                <a:cubicBezTo>
                  <a:pt x="7914389" y="358224"/>
                  <a:pt x="7886982" y="349860"/>
                  <a:pt x="7853925" y="339823"/>
                </a:cubicBezTo>
                <a:cubicBezTo>
                  <a:pt x="7813755" y="327696"/>
                  <a:pt x="7774840" y="314941"/>
                  <a:pt x="7745968" y="292986"/>
                </a:cubicBezTo>
                <a:cubicBezTo>
                  <a:pt x="7717095" y="271031"/>
                  <a:pt x="7698266" y="239667"/>
                  <a:pt x="7698266" y="190739"/>
                </a:cubicBezTo>
                <a:cubicBezTo>
                  <a:pt x="7698266" y="146202"/>
                  <a:pt x="7714166" y="107938"/>
                  <a:pt x="7743666" y="80964"/>
                </a:cubicBezTo>
                <a:cubicBezTo>
                  <a:pt x="7772957" y="53991"/>
                  <a:pt x="7815847" y="38100"/>
                  <a:pt x="7870035" y="38100"/>
                </a:cubicBezTo>
                <a:close/>
                <a:moveTo>
                  <a:pt x="7334624" y="38100"/>
                </a:moveTo>
                <a:cubicBezTo>
                  <a:pt x="7409415" y="38100"/>
                  <a:pt x="7476894" y="68001"/>
                  <a:pt x="7525363" y="116301"/>
                </a:cubicBezTo>
                <a:cubicBezTo>
                  <a:pt x="7574040" y="164602"/>
                  <a:pt x="7604123" y="231303"/>
                  <a:pt x="7604123" y="304905"/>
                </a:cubicBezTo>
                <a:cubicBezTo>
                  <a:pt x="7604123" y="378297"/>
                  <a:pt x="7574040" y="444998"/>
                  <a:pt x="7525363" y="493090"/>
                </a:cubicBezTo>
                <a:cubicBezTo>
                  <a:pt x="7476894" y="541600"/>
                  <a:pt x="7409415" y="571500"/>
                  <a:pt x="7334624" y="571500"/>
                </a:cubicBezTo>
                <a:cubicBezTo>
                  <a:pt x="7259833" y="571500"/>
                  <a:pt x="7192562" y="541600"/>
                  <a:pt x="7144094" y="493090"/>
                </a:cubicBezTo>
                <a:cubicBezTo>
                  <a:pt x="7095626" y="444998"/>
                  <a:pt x="7065960" y="378297"/>
                  <a:pt x="7065960" y="304905"/>
                </a:cubicBezTo>
                <a:cubicBezTo>
                  <a:pt x="7065960" y="231303"/>
                  <a:pt x="7095626" y="164602"/>
                  <a:pt x="7144094" y="116301"/>
                </a:cubicBezTo>
                <a:cubicBezTo>
                  <a:pt x="7192562" y="68001"/>
                  <a:pt x="7259833" y="38100"/>
                  <a:pt x="7334624" y="38100"/>
                </a:cubicBezTo>
                <a:close/>
                <a:moveTo>
                  <a:pt x="2766077" y="0"/>
                </a:moveTo>
                <a:cubicBezTo>
                  <a:pt x="2901191" y="0"/>
                  <a:pt x="3028777" y="17359"/>
                  <a:pt x="3146531" y="51449"/>
                </a:cubicBezTo>
                <a:cubicBezTo>
                  <a:pt x="3264077" y="85540"/>
                  <a:pt x="3372000" y="136571"/>
                  <a:pt x="3467375" y="204124"/>
                </a:cubicBezTo>
                <a:cubicBezTo>
                  <a:pt x="3467375" y="204124"/>
                  <a:pt x="3467375" y="204124"/>
                  <a:pt x="3340627" y="403228"/>
                </a:cubicBezTo>
                <a:cubicBezTo>
                  <a:pt x="3340627" y="403228"/>
                  <a:pt x="3340627" y="403228"/>
                  <a:pt x="3213880" y="602542"/>
                </a:cubicBezTo>
                <a:cubicBezTo>
                  <a:pt x="3153015" y="556321"/>
                  <a:pt x="3084622" y="520976"/>
                  <a:pt x="3009743" y="496716"/>
                </a:cubicBezTo>
                <a:cubicBezTo>
                  <a:pt x="2934865" y="472455"/>
                  <a:pt x="2853295" y="459279"/>
                  <a:pt x="2766077" y="457606"/>
                </a:cubicBezTo>
                <a:cubicBezTo>
                  <a:pt x="2556923" y="459279"/>
                  <a:pt x="2368473" y="545655"/>
                  <a:pt x="2232314" y="681180"/>
                </a:cubicBezTo>
                <a:cubicBezTo>
                  <a:pt x="2095946" y="816496"/>
                  <a:pt x="2012073" y="1000960"/>
                  <a:pt x="2012073" y="1198391"/>
                </a:cubicBezTo>
                <a:cubicBezTo>
                  <a:pt x="2012073" y="1399378"/>
                  <a:pt x="2095946" y="1585307"/>
                  <a:pt x="2232314" y="1721250"/>
                </a:cubicBezTo>
                <a:cubicBezTo>
                  <a:pt x="2368473" y="1856984"/>
                  <a:pt x="2556923" y="1942732"/>
                  <a:pt x="2766077" y="1942732"/>
                </a:cubicBezTo>
                <a:cubicBezTo>
                  <a:pt x="2868145" y="1942732"/>
                  <a:pt x="2962893" y="1923700"/>
                  <a:pt x="3050111" y="1886682"/>
                </a:cubicBezTo>
                <a:cubicBezTo>
                  <a:pt x="3137328" y="1849664"/>
                  <a:pt x="3217225" y="1794450"/>
                  <a:pt x="3289594" y="1722086"/>
                </a:cubicBezTo>
                <a:cubicBezTo>
                  <a:pt x="3462565" y="1549125"/>
                  <a:pt x="3493101" y="1332661"/>
                  <a:pt x="3543925" y="1095493"/>
                </a:cubicBezTo>
                <a:cubicBezTo>
                  <a:pt x="3595168" y="858533"/>
                  <a:pt x="3666699" y="600869"/>
                  <a:pt x="3921866" y="345714"/>
                </a:cubicBezTo>
                <a:cubicBezTo>
                  <a:pt x="4028953" y="238633"/>
                  <a:pt x="4155701" y="152256"/>
                  <a:pt x="4300646" y="92441"/>
                </a:cubicBezTo>
                <a:cubicBezTo>
                  <a:pt x="4445590" y="32836"/>
                  <a:pt x="4608522" y="0"/>
                  <a:pt x="4787977" y="0"/>
                </a:cubicBezTo>
                <a:cubicBezTo>
                  <a:pt x="4922882" y="0"/>
                  <a:pt x="5050676" y="18823"/>
                  <a:pt x="5168221" y="54796"/>
                </a:cubicBezTo>
                <a:cubicBezTo>
                  <a:pt x="5285976" y="90559"/>
                  <a:pt x="5393900" y="143054"/>
                  <a:pt x="5489275" y="210607"/>
                </a:cubicBezTo>
                <a:cubicBezTo>
                  <a:pt x="5489275" y="210607"/>
                  <a:pt x="5489275" y="210607"/>
                  <a:pt x="5364200" y="409921"/>
                </a:cubicBezTo>
                <a:cubicBezTo>
                  <a:pt x="5364200" y="409921"/>
                  <a:pt x="5364200" y="409921"/>
                  <a:pt x="5239125" y="609025"/>
                </a:cubicBezTo>
                <a:cubicBezTo>
                  <a:pt x="5176588" y="563014"/>
                  <a:pt x="5107357" y="525996"/>
                  <a:pt x="5031643" y="500480"/>
                </a:cubicBezTo>
                <a:cubicBezTo>
                  <a:pt x="4955929" y="474965"/>
                  <a:pt x="4873522" y="460952"/>
                  <a:pt x="4784631" y="460952"/>
                </a:cubicBezTo>
                <a:cubicBezTo>
                  <a:pt x="4580495" y="460952"/>
                  <a:pt x="4396857" y="544818"/>
                  <a:pt x="4264462" y="679089"/>
                </a:cubicBezTo>
                <a:cubicBezTo>
                  <a:pt x="4131857" y="813149"/>
                  <a:pt x="4050287" y="997614"/>
                  <a:pt x="4050287" y="1198391"/>
                </a:cubicBezTo>
                <a:cubicBezTo>
                  <a:pt x="4050287" y="1402724"/>
                  <a:pt x="4131021" y="1589489"/>
                  <a:pt x="4262370" y="1725223"/>
                </a:cubicBezTo>
                <a:cubicBezTo>
                  <a:pt x="4393720" y="1861167"/>
                  <a:pt x="4575477" y="1945870"/>
                  <a:pt x="4778147" y="1945870"/>
                </a:cubicBezTo>
                <a:cubicBezTo>
                  <a:pt x="4939406" y="1945870"/>
                  <a:pt x="5080167" y="1893165"/>
                  <a:pt x="5191438" y="1804280"/>
                </a:cubicBezTo>
                <a:cubicBezTo>
                  <a:pt x="5302499" y="1715394"/>
                  <a:pt x="5384070" y="1590326"/>
                  <a:pt x="5426737" y="1445390"/>
                </a:cubicBezTo>
                <a:cubicBezTo>
                  <a:pt x="5426737" y="1445390"/>
                  <a:pt x="5426737" y="1445390"/>
                  <a:pt x="4708917" y="1445390"/>
                </a:cubicBezTo>
                <a:cubicBezTo>
                  <a:pt x="4708917" y="1445390"/>
                  <a:pt x="4708917" y="1445390"/>
                  <a:pt x="4850515" y="1223279"/>
                </a:cubicBezTo>
                <a:cubicBezTo>
                  <a:pt x="4850515" y="1223279"/>
                  <a:pt x="4850515" y="1223279"/>
                  <a:pt x="4992113" y="1000960"/>
                </a:cubicBezTo>
                <a:cubicBezTo>
                  <a:pt x="4992113" y="1000960"/>
                  <a:pt x="4992113" y="1000960"/>
                  <a:pt x="5457901" y="1000960"/>
                </a:cubicBezTo>
                <a:cubicBezTo>
                  <a:pt x="5457901" y="1000960"/>
                  <a:pt x="5457901" y="1000960"/>
                  <a:pt x="5924108" y="1000960"/>
                </a:cubicBezTo>
                <a:cubicBezTo>
                  <a:pt x="5928919" y="1033796"/>
                  <a:pt x="5933102" y="1066840"/>
                  <a:pt x="5936030" y="1100094"/>
                </a:cubicBezTo>
                <a:cubicBezTo>
                  <a:pt x="5938749" y="1133557"/>
                  <a:pt x="5940422" y="1167229"/>
                  <a:pt x="5940422" y="1201738"/>
                </a:cubicBezTo>
                <a:cubicBezTo>
                  <a:pt x="5940422" y="1532602"/>
                  <a:pt x="5812001" y="1833141"/>
                  <a:pt x="5600963" y="2050860"/>
                </a:cubicBezTo>
                <a:cubicBezTo>
                  <a:pt x="5389717" y="2268578"/>
                  <a:pt x="5095854" y="2403475"/>
                  <a:pt x="4764970" y="2403475"/>
                </a:cubicBezTo>
                <a:cubicBezTo>
                  <a:pt x="4549331" y="2403475"/>
                  <a:pt x="4350006" y="2352653"/>
                  <a:pt x="4178290" y="2262513"/>
                </a:cubicBezTo>
                <a:cubicBezTo>
                  <a:pt x="4006784" y="2172372"/>
                  <a:pt x="3862676" y="2043121"/>
                  <a:pt x="3757265" y="1886682"/>
                </a:cubicBezTo>
                <a:cubicBezTo>
                  <a:pt x="3647040" y="2044794"/>
                  <a:pt x="3502931" y="2173836"/>
                  <a:pt x="3332469" y="2263558"/>
                </a:cubicBezTo>
                <a:cubicBezTo>
                  <a:pt x="3162009" y="2353490"/>
                  <a:pt x="2965403" y="2403475"/>
                  <a:pt x="2749555" y="2403475"/>
                </a:cubicBezTo>
                <a:cubicBezTo>
                  <a:pt x="2566961" y="2403475"/>
                  <a:pt x="2395664" y="2364993"/>
                  <a:pt x="2242563" y="2295766"/>
                </a:cubicBezTo>
                <a:cubicBezTo>
                  <a:pt x="2089461" y="2226540"/>
                  <a:pt x="1954347" y="2126988"/>
                  <a:pt x="1844121" y="2005266"/>
                </a:cubicBezTo>
                <a:cubicBezTo>
                  <a:pt x="1783258" y="2108792"/>
                  <a:pt x="1694366" y="2196214"/>
                  <a:pt x="1583096" y="2257493"/>
                </a:cubicBezTo>
                <a:cubicBezTo>
                  <a:pt x="1472034" y="2318772"/>
                  <a:pt x="1338593" y="2354117"/>
                  <a:pt x="1188838" y="2354117"/>
                </a:cubicBezTo>
                <a:cubicBezTo>
                  <a:pt x="1188838" y="2354117"/>
                  <a:pt x="1188838" y="2354117"/>
                  <a:pt x="0" y="2354117"/>
                </a:cubicBezTo>
                <a:cubicBezTo>
                  <a:pt x="0" y="2354117"/>
                  <a:pt x="0" y="2354117"/>
                  <a:pt x="0" y="1201738"/>
                </a:cubicBezTo>
                <a:cubicBezTo>
                  <a:pt x="0" y="1201738"/>
                  <a:pt x="0" y="1201738"/>
                  <a:pt x="0" y="49358"/>
                </a:cubicBezTo>
                <a:cubicBezTo>
                  <a:pt x="0" y="49358"/>
                  <a:pt x="0" y="49358"/>
                  <a:pt x="538575" y="49358"/>
                </a:cubicBezTo>
                <a:cubicBezTo>
                  <a:pt x="538575" y="49358"/>
                  <a:pt x="538575" y="49358"/>
                  <a:pt x="1076940" y="49358"/>
                </a:cubicBezTo>
                <a:cubicBezTo>
                  <a:pt x="1249702" y="49358"/>
                  <a:pt x="1402804" y="96206"/>
                  <a:pt x="1523487" y="176099"/>
                </a:cubicBezTo>
                <a:cubicBezTo>
                  <a:pt x="1643960" y="255992"/>
                  <a:pt x="1732223" y="368720"/>
                  <a:pt x="1774892" y="500480"/>
                </a:cubicBezTo>
                <a:cubicBezTo>
                  <a:pt x="1883653" y="350524"/>
                  <a:pt x="2027552" y="225457"/>
                  <a:pt x="2196549" y="137826"/>
                </a:cubicBezTo>
                <a:cubicBezTo>
                  <a:pt x="2365129" y="50195"/>
                  <a:pt x="2558596" y="0"/>
                  <a:pt x="276607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p>
        </p:txBody>
      </p:sp>
    </p:spTree>
    <p:extLst>
      <p:ext uri="{BB962C8B-B14F-4D97-AF65-F5344CB8AC3E}">
        <p14:creationId xmlns:p14="http://schemas.microsoft.com/office/powerpoint/2010/main" val="154749579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ext>
  </p:extLst>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D. Title Only">
    <p:spTree>
      <p:nvGrpSpPr>
        <p:cNvPr id="1" name=""/>
        <p:cNvGrpSpPr/>
        <p:nvPr/>
      </p:nvGrpSpPr>
      <p:grpSpPr>
        <a:xfrm>
          <a:off x="0" y="0"/>
          <a:ext cx="0" cy="0"/>
          <a:chOff x="0" y="0"/>
          <a:chExt cx="0" cy="0"/>
        </a:xfrm>
      </p:grpSpPr>
      <p:sp>
        <p:nvSpPr>
          <p:cNvPr id="57" name="Date Placeholder 56"/>
          <p:cNvSpPr>
            <a:spLocks noGrp="1"/>
          </p:cNvSpPr>
          <p:nvPr>
            <p:ph type="dt" sz="half" idx="14"/>
          </p:nvPr>
        </p:nvSpPr>
        <p:spPr/>
        <p:txBody>
          <a:bodyPr/>
          <a:lstStyle>
            <a:lvl1pPr>
              <a:defRPr>
                <a:solidFill>
                  <a:schemeClr val="bg1">
                    <a:lumMod val="50000"/>
                  </a:schemeClr>
                </a:solidFill>
                <a:latin typeface="+mn-lt"/>
                <a:sym typeface="Trebuchet MS" panose="020B0603020202020204" pitchFamily="34" charset="0"/>
              </a:defRPr>
            </a:lvl1pPr>
          </a:lstStyle>
          <a:p>
            <a:endParaRPr lang="en-US"/>
          </a:p>
        </p:txBody>
      </p:sp>
      <p:sp>
        <p:nvSpPr>
          <p:cNvPr id="7"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2022 by Boston Consulting Group. All rights reserved.</a:t>
            </a:r>
          </a:p>
        </p:txBody>
      </p:sp>
      <p:sp>
        <p:nvSpPr>
          <p:cNvPr id="8" name="Title 7"/>
          <p:cNvSpPr>
            <a:spLocks noGrp="1"/>
          </p:cNvSpPr>
          <p:nvPr>
            <p:ph type="title" hasCustomPrompt="1"/>
          </p:nvPr>
        </p:nvSpPr>
        <p:spPr>
          <a:xfrm>
            <a:off x="630000" y="622800"/>
            <a:ext cx="10933350" cy="332399"/>
          </a:xfrm>
        </p:spPr>
        <p:txBody>
          <a:bodyPr/>
          <a:lstStyle>
            <a:lvl1pPr>
              <a:defRPr>
                <a:latin typeface="+mj-lt"/>
                <a:sym typeface="Trebuchet MS" panose="020B0603020202020204" pitchFamily="34" charset="0"/>
              </a:defRPr>
            </a:lvl1pPr>
          </a:lstStyle>
          <a:p>
            <a:r>
              <a:rPr lang="en-US"/>
              <a:t>Click to add title</a:t>
            </a:r>
          </a:p>
        </p:txBody>
      </p:sp>
    </p:spTree>
    <p:extLst>
      <p:ext uri="{BB962C8B-B14F-4D97-AF65-F5344CB8AC3E}">
        <p14:creationId xmlns:p14="http://schemas.microsoft.com/office/powerpoint/2010/main" val="45402997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4320">
          <p15:clr>
            <a:srgbClr val="FBAE40"/>
          </p15:clr>
        </p15:guide>
      </p15:sldGuideLst>
    </p:ext>
  </p:extLst>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D. Title an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B083126-25E7-42D8-B799-608CFD4DF6C3}"/>
              </a:ext>
            </a:extLst>
          </p:cNvPr>
          <p:cNvSpPr>
            <a:spLocks noGrp="1"/>
          </p:cNvSpPr>
          <p:nvPr>
            <p:ph type="title" hasCustomPrompt="1"/>
          </p:nvPr>
        </p:nvSpPr>
        <p:spPr/>
        <p:txBody>
          <a:bodyPr/>
          <a:lstStyle/>
          <a:p>
            <a:r>
              <a:rPr lang="en-US"/>
              <a:t>Click to add title</a:t>
            </a:r>
          </a:p>
        </p:txBody>
      </p:sp>
      <p:sp>
        <p:nvSpPr>
          <p:cNvPr id="6" name="Text Placeholder 5">
            <a:extLst>
              <a:ext uri="{FF2B5EF4-FFF2-40B4-BE49-F238E27FC236}">
                <a16:creationId xmlns:a16="http://schemas.microsoft.com/office/drawing/2014/main" id="{FAD1DA01-0E73-44DE-A132-B4FF1E70A315}"/>
              </a:ext>
            </a:extLst>
          </p:cNvPr>
          <p:cNvSpPr>
            <a:spLocks noGrp="1"/>
          </p:cNvSpPr>
          <p:nvPr>
            <p:ph type="body" sz="quarter" idx="10"/>
          </p:nvPr>
        </p:nvSpPr>
        <p:spPr>
          <a:xfrm>
            <a:off x="629400" y="2085628"/>
            <a:ext cx="10933950" cy="4072976"/>
          </a:xfrm>
        </p:spPr>
        <p:txBody>
          <a:bodyPr/>
          <a:lstStyle>
            <a:lvl1pPr>
              <a:lnSpc>
                <a:spcPct val="100000"/>
              </a:lnSpc>
              <a:spcBef>
                <a:spcPts val="0"/>
              </a:spcBef>
              <a:spcAft>
                <a:spcPts val="0"/>
              </a:spcAft>
              <a:defRPr/>
            </a:lvl1pPr>
            <a:lvl2pPr>
              <a:lnSpc>
                <a:spcPct val="100000"/>
              </a:lnSpc>
              <a:spcBef>
                <a:spcPts val="0"/>
              </a:spcBef>
              <a:spcAft>
                <a:spcPts val="0"/>
              </a:spcAft>
              <a:defRPr/>
            </a:lvl2pPr>
            <a:lvl3pPr>
              <a:lnSpc>
                <a:spcPct val="100000"/>
              </a:lnSpc>
              <a:spcBef>
                <a:spcPts val="0"/>
              </a:spcBef>
              <a:spcAft>
                <a:spcPts val="0"/>
              </a:spcAft>
              <a:defRPr/>
            </a:lvl3pPr>
            <a:lvl4pPr>
              <a:lnSpc>
                <a:spcPct val="100000"/>
              </a:lnSpc>
              <a:spcBef>
                <a:spcPts val="0"/>
              </a:spcBef>
              <a:spcAft>
                <a:spcPts val="0"/>
              </a:spcAft>
              <a:defRPr/>
            </a:lvl4pPr>
            <a:lvl5pPr>
              <a:lnSpc>
                <a:spcPct val="100000"/>
              </a:lnSpc>
              <a:spcBef>
                <a:spcPts val="0"/>
              </a:spcBef>
              <a:spcAft>
                <a:spcPts val="0"/>
              </a:spcAft>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2022 by Boston Consulting Group. All rights reserved.</a:t>
            </a:r>
          </a:p>
        </p:txBody>
      </p:sp>
    </p:spTree>
    <p:extLst>
      <p:ext uri="{BB962C8B-B14F-4D97-AF65-F5344CB8AC3E}">
        <p14:creationId xmlns:p14="http://schemas.microsoft.com/office/powerpoint/2010/main" val="306526097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D. Gray slice heading">
    <p:bg>
      <p:bgPr>
        <a:solidFill>
          <a:schemeClr val="bg1"/>
        </a:solidFill>
        <a:effectLst/>
      </p:bgPr>
    </p:bg>
    <p:spTree>
      <p:nvGrpSpPr>
        <p:cNvPr id="1" name=""/>
        <p:cNvGrpSpPr/>
        <p:nvPr/>
      </p:nvGrpSpPr>
      <p:grpSpPr>
        <a:xfrm>
          <a:off x="0" y="0"/>
          <a:ext cx="0" cy="0"/>
          <a:chOff x="0" y="0"/>
          <a:chExt cx="0" cy="0"/>
        </a:xfrm>
      </p:grpSpPr>
      <p:sp>
        <p:nvSpPr>
          <p:cNvPr id="4" name="Date Placeholder 3"/>
          <p:cNvSpPr>
            <a:spLocks noGrp="1"/>
          </p:cNvSpPr>
          <p:nvPr>
            <p:ph type="dt" sz="half" idx="14"/>
          </p:nvPr>
        </p:nvSpPr>
        <p:spPr/>
        <p:txBody>
          <a:bodyPr/>
          <a:lstStyle>
            <a:lvl1pPr>
              <a:defRPr>
                <a:solidFill>
                  <a:schemeClr val="bg1">
                    <a:lumMod val="50000"/>
                  </a:schemeClr>
                </a:solidFill>
                <a:latin typeface="+mn-lt"/>
                <a:sym typeface="Trebuchet MS" panose="020B0603020202020204" pitchFamily="34" charset="0"/>
              </a:defRPr>
            </a:lvl1pPr>
          </a:lstStyle>
          <a:p>
            <a:endParaRPr lang="en-US"/>
          </a:p>
        </p:txBody>
      </p:sp>
      <p:sp>
        <p:nvSpPr>
          <p:cNvPr id="11"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2022 by Boston Consulting Group. All rights reserved.</a:t>
            </a:r>
          </a:p>
        </p:txBody>
      </p:sp>
      <p:sp>
        <p:nvSpPr>
          <p:cNvPr id="7" name="Rectangle 6"/>
          <p:cNvSpPr/>
          <p:nvPr userDrawn="1"/>
        </p:nvSpPr>
        <p:spPr bwMode="white">
          <a:xfrm>
            <a:off x="1" y="-1309"/>
            <a:ext cx="4694400" cy="6859309"/>
          </a:xfrm>
          <a:prstGeom prst="rect">
            <a:avLst/>
          </a:prstGeom>
          <a:solidFill>
            <a:srgbClr val="F2F2F2"/>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lnSpc>
                <a:spcPct val="90000"/>
              </a:lnSpc>
              <a:spcAft>
                <a:spcPts val="1000"/>
              </a:spcAft>
            </a:pPr>
            <a:endParaRPr lang="en-US" sz="1200">
              <a:solidFill>
                <a:schemeClr val="bg1"/>
              </a:solidFill>
              <a:latin typeface="+mn-lt"/>
              <a:sym typeface="Trebuchet MS" panose="020B0603020202020204" pitchFamily="34" charset="0"/>
            </a:endParaRPr>
          </a:p>
        </p:txBody>
      </p:sp>
      <p:sp>
        <p:nvSpPr>
          <p:cNvPr id="8" name="Subtitle 2"/>
          <p:cNvSpPr>
            <a:spLocks noGrp="1"/>
          </p:cNvSpPr>
          <p:nvPr>
            <p:ph type="subTitle" idx="13" hasCustomPrompt="1"/>
          </p:nvPr>
        </p:nvSpPr>
        <p:spPr>
          <a:xfrm>
            <a:off x="630000" y="2158987"/>
            <a:ext cx="3744000" cy="541687"/>
          </a:xfrm>
          <a:prstGeom prst="rect">
            <a:avLst/>
          </a:prstGeom>
        </p:spPr>
        <p:txBody>
          <a:bodyPr>
            <a:noAutofit/>
          </a:bodyPr>
          <a:lstStyle>
            <a:lvl1pPr marL="0" indent="0" algn="l">
              <a:buNone/>
              <a:defRPr sz="1600">
                <a:solidFill>
                  <a:schemeClr val="tx2"/>
                </a:solidFill>
                <a:latin typeface="+mn-lt"/>
                <a:sym typeface="Trebuchet MS" panose="020B0603020202020204" pitchFamily="34"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subtitle</a:t>
            </a:r>
          </a:p>
        </p:txBody>
      </p:sp>
      <p:sp>
        <p:nvSpPr>
          <p:cNvPr id="9" name="Title 4"/>
          <p:cNvSpPr>
            <a:spLocks noGrp="1"/>
          </p:cNvSpPr>
          <p:nvPr>
            <p:ph type="title" hasCustomPrompt="1"/>
          </p:nvPr>
        </p:nvSpPr>
        <p:spPr>
          <a:xfrm>
            <a:off x="630000" y="1227048"/>
            <a:ext cx="3744000" cy="664797"/>
          </a:xfrm>
        </p:spPr>
        <p:txBody>
          <a:bodyPr anchor="t">
            <a:noAutofit/>
          </a:bodyPr>
          <a:lstStyle>
            <a:lvl1pPr>
              <a:defRPr sz="2400">
                <a:solidFill>
                  <a:schemeClr val="tx2"/>
                </a:solidFill>
                <a:latin typeface="+mj-lt"/>
                <a:sym typeface="Trebuchet MS" panose="020B0603020202020204" pitchFamily="34" charset="0"/>
              </a:defRPr>
            </a:lvl1pPr>
          </a:lstStyle>
          <a:p>
            <a:r>
              <a:rPr lang="en-US"/>
              <a:t>Click to add title</a:t>
            </a:r>
          </a:p>
        </p:txBody>
      </p:sp>
    </p:spTree>
    <p:extLst>
      <p:ext uri="{BB962C8B-B14F-4D97-AF65-F5344CB8AC3E}">
        <p14:creationId xmlns:p14="http://schemas.microsoft.com/office/powerpoint/2010/main" val="209649034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D. Section header box">
    <p:spTree>
      <p:nvGrpSpPr>
        <p:cNvPr id="1" name=""/>
        <p:cNvGrpSpPr/>
        <p:nvPr/>
      </p:nvGrpSpPr>
      <p:grpSpPr>
        <a:xfrm>
          <a:off x="0" y="0"/>
          <a:ext cx="0" cy="0"/>
          <a:chOff x="0" y="0"/>
          <a:chExt cx="0" cy="0"/>
        </a:xfrm>
      </p:grpSpPr>
      <p:sp>
        <p:nvSpPr>
          <p:cNvPr id="9" name="Date Placeholder 8"/>
          <p:cNvSpPr>
            <a:spLocks noGrp="1"/>
          </p:cNvSpPr>
          <p:nvPr>
            <p:ph type="dt" sz="half" idx="10"/>
          </p:nvPr>
        </p:nvSpPr>
        <p:spPr/>
        <p:txBody>
          <a:bodyPr/>
          <a:lstStyle>
            <a:lvl1pPr>
              <a:defRPr>
                <a:solidFill>
                  <a:schemeClr val="bg1">
                    <a:lumMod val="50000"/>
                  </a:schemeClr>
                </a:solidFill>
                <a:latin typeface="+mn-lt"/>
                <a:sym typeface="Trebuchet MS" panose="020B0603020202020204" pitchFamily="34" charset="0"/>
              </a:defRPr>
            </a:lvl1pPr>
          </a:lstStyle>
          <a:p>
            <a:endParaRPr lang="en-US"/>
          </a:p>
        </p:txBody>
      </p:sp>
      <p:sp>
        <p:nvSpPr>
          <p:cNvPr id="12"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2022 by Boston Consulting Group. All rights reserved.</a:t>
            </a:r>
          </a:p>
        </p:txBody>
      </p:sp>
      <p:sp>
        <p:nvSpPr>
          <p:cNvPr id="8" name="Title 1"/>
          <p:cNvSpPr>
            <a:spLocks noGrp="1"/>
          </p:cNvSpPr>
          <p:nvPr>
            <p:ph type="title" hasCustomPrompt="1"/>
          </p:nvPr>
        </p:nvSpPr>
        <p:spPr bwMode="blackWhite">
          <a:xfrm>
            <a:off x="1284742" y="2668041"/>
            <a:ext cx="9620491" cy="3201026"/>
          </a:xfrm>
          <a:prstGeom prst="rect">
            <a:avLst/>
          </a:prstGeom>
          <a:ln w="9525">
            <a:noFill/>
          </a:ln>
          <a:extLst>
            <a:ext uri="{91240B29-F687-4F45-9708-019B960494DF}">
              <a14:hiddenLine xmlns:a14="http://schemas.microsoft.com/office/drawing/2010/main" w="9525">
                <a:solidFill>
                  <a:schemeClr val="bg1"/>
                </a:solidFill>
              </a14:hiddenLine>
            </a:ext>
          </a:extLst>
        </p:spPr>
        <p:txBody>
          <a:bodyPr lIns="274320" tIns="274320" rIns="274320" bIns="137160" anchor="b">
            <a:noAutofit/>
          </a:bodyPr>
          <a:lstStyle>
            <a:lvl1pPr marL="0" algn="l" defTabSz="914400" rtl="0" eaLnBrk="1" fontAlgn="auto" latinLnBrk="0" hangingPunct="1">
              <a:lnSpc>
                <a:spcPts val="6000"/>
              </a:lnSpc>
              <a:spcBef>
                <a:spcPts val="0"/>
              </a:spcBef>
              <a:spcAft>
                <a:spcPts val="0"/>
              </a:spcAft>
              <a:defRPr lang="en-US" sz="5400" kern="1200" baseline="0" dirty="0">
                <a:solidFill>
                  <a:schemeClr val="tx2"/>
                </a:solidFill>
                <a:latin typeface="+mj-lt"/>
                <a:ea typeface="+mn-ea"/>
                <a:cs typeface="Arial" panose="020B0604020202020204" pitchFamily="34" charset="0"/>
                <a:sym typeface="Trebuchet MS" panose="020B0603020202020204" pitchFamily="34" charset="0"/>
              </a:defRPr>
            </a:lvl1pPr>
          </a:lstStyle>
          <a:p>
            <a:r>
              <a:rPr lang="en-US"/>
              <a:t>Click to add section title</a:t>
            </a:r>
          </a:p>
        </p:txBody>
      </p:sp>
      <p:sp>
        <p:nvSpPr>
          <p:cNvPr id="11" name="Rectangle 10"/>
          <p:cNvSpPr/>
          <p:nvPr userDrawn="1"/>
        </p:nvSpPr>
        <p:spPr bwMode="white">
          <a:xfrm>
            <a:off x="1280693" y="1424081"/>
            <a:ext cx="951721" cy="951721"/>
          </a:xfrm>
          <a:prstGeom prst="rect">
            <a:avLst/>
          </a:prstGeom>
          <a:noFill/>
          <a:ln>
            <a:solidFill>
              <a:schemeClr val="tx2"/>
            </a:solid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l"/>
            <a:endParaRPr lang="en-US" sz="1200">
              <a:solidFill>
                <a:schemeClr val="bg1"/>
              </a:solidFill>
              <a:latin typeface="+mn-lt"/>
              <a:sym typeface="Trebuchet MS" panose="020B0603020202020204" pitchFamily="34" charset="0"/>
            </a:endParaRPr>
          </a:p>
        </p:txBody>
      </p:sp>
    </p:spTree>
    <p:extLst>
      <p:ext uri="{BB962C8B-B14F-4D97-AF65-F5344CB8AC3E}">
        <p14:creationId xmlns:p14="http://schemas.microsoft.com/office/powerpoint/2010/main" val="313071672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D. Section header line">
    <p:bg bwMode="blackWhite">
      <p:bgPr>
        <a:solidFill>
          <a:schemeClr val="bg1"/>
        </a:solidFill>
        <a:effectLst/>
      </p:bgPr>
    </p:bg>
    <p:spTree>
      <p:nvGrpSpPr>
        <p:cNvPr id="1" name=""/>
        <p:cNvGrpSpPr/>
        <p:nvPr/>
      </p:nvGrpSpPr>
      <p:grpSpPr>
        <a:xfrm>
          <a:off x="0" y="0"/>
          <a:ext cx="0" cy="0"/>
          <a:chOff x="0" y="0"/>
          <a:chExt cx="0" cy="0"/>
        </a:xfrm>
      </p:grpSpPr>
      <p:sp>
        <p:nvSpPr>
          <p:cNvPr id="9" name="Date Placeholder 8"/>
          <p:cNvSpPr>
            <a:spLocks noGrp="1"/>
          </p:cNvSpPr>
          <p:nvPr>
            <p:ph type="dt" sz="half" idx="10"/>
          </p:nvPr>
        </p:nvSpPr>
        <p:spPr/>
        <p:txBody>
          <a:bodyPr/>
          <a:lstStyle>
            <a:lvl1pPr>
              <a:defRPr>
                <a:solidFill>
                  <a:schemeClr val="bg1">
                    <a:lumMod val="50000"/>
                  </a:schemeClr>
                </a:solidFill>
                <a:latin typeface="+mn-lt"/>
                <a:sym typeface="Trebuchet MS" panose="020B0603020202020204" pitchFamily="34" charset="0"/>
              </a:defRPr>
            </a:lvl1pPr>
          </a:lstStyle>
          <a:p>
            <a:endParaRPr lang="en-US"/>
          </a:p>
        </p:txBody>
      </p:sp>
      <p:sp>
        <p:nvSpPr>
          <p:cNvPr id="7" name="Title 1"/>
          <p:cNvSpPr>
            <a:spLocks noGrp="1"/>
          </p:cNvSpPr>
          <p:nvPr>
            <p:ph type="title" hasCustomPrompt="1"/>
          </p:nvPr>
        </p:nvSpPr>
        <p:spPr bwMode="blackWhite">
          <a:xfrm>
            <a:off x="630000" y="3826800"/>
            <a:ext cx="10936800" cy="2041200"/>
          </a:xfrm>
        </p:spPr>
        <p:txBody>
          <a:bodyPr anchor="t">
            <a:noAutofit/>
          </a:bodyPr>
          <a:lstStyle>
            <a:lvl1pPr>
              <a:defRPr sz="5400">
                <a:solidFill>
                  <a:schemeClr val="tx2"/>
                </a:solidFill>
                <a:latin typeface="+mj-lt"/>
                <a:sym typeface="Trebuchet MS" panose="020B0603020202020204" pitchFamily="34" charset="0"/>
              </a:defRPr>
            </a:lvl1pPr>
          </a:lstStyle>
          <a:p>
            <a:r>
              <a:rPr lang="en-US"/>
              <a:t>Click to add section title</a:t>
            </a:r>
          </a:p>
        </p:txBody>
      </p:sp>
      <p:cxnSp>
        <p:nvCxnSpPr>
          <p:cNvPr id="10" name="Straight Connector 9"/>
          <p:cNvCxnSpPr/>
          <p:nvPr userDrawn="1"/>
        </p:nvCxnSpPr>
        <p:spPr bwMode="white">
          <a:xfrm>
            <a:off x="630000" y="3680016"/>
            <a:ext cx="11558587" cy="0"/>
          </a:xfrm>
          <a:prstGeom prst="line">
            <a:avLst/>
          </a:prstGeom>
          <a:ln w="19050" cmpd="sng">
            <a:solidFill>
              <a:schemeClr val="tx2"/>
            </a:solidFill>
            <a:miter lim="800000"/>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8621494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12.xml><?xml version="1.0" encoding="utf-8"?>
<p:sldLayout xmlns:a="http://schemas.openxmlformats.org/drawingml/2006/main" xmlns:r="http://schemas.openxmlformats.org/officeDocument/2006/relationships" xmlns:p="http://schemas.openxmlformats.org/presentationml/2006/main" showMasterSp="0" preserve="1" userDrawn="1">
  <p:cSld name="D. White one third">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pic>
        <p:nvPicPr>
          <p:cNvPr id="10" name="Picture 9"/>
          <p:cNvPicPr>
            <a:picLocks noChangeAspect="1"/>
          </p:cNvPicPr>
          <p:nvPr userDrawn="1"/>
        </p:nvPicPr>
        <p:blipFill rotWithShape="1">
          <a:blip r:embed="rId2">
            <a:extLst>
              <a:ext uri="{28A0092B-C50C-407E-A947-70E740481C1C}">
                <a14:useLocalDpi xmlns:a14="http://schemas.microsoft.com/office/drawing/2010/main" val="0"/>
              </a:ext>
            </a:extLst>
          </a:blip>
          <a:srcRect l="29398" t="8741" r="101" b="27"/>
          <a:stretch/>
        </p:blipFill>
        <p:spPr bwMode="ltGray">
          <a:xfrm flipV="1">
            <a:off x="4064994" y="0"/>
            <a:ext cx="416951" cy="6858000"/>
          </a:xfrm>
          <a:prstGeom prst="rect">
            <a:avLst/>
          </a:prstGeom>
        </p:spPr>
      </p:pic>
      <p:sp>
        <p:nvSpPr>
          <p:cNvPr id="18" name="Date Placeholder 1"/>
          <p:cNvSpPr>
            <a:spLocks noGrp="1"/>
          </p:cNvSpPr>
          <p:nvPr>
            <p:ph type="dt" sz="half" idx="31"/>
          </p:nvPr>
        </p:nvSpPr>
        <p:spPr>
          <a:xfrm>
            <a:off x="9677400" y="6405036"/>
            <a:ext cx="1482051" cy="153888"/>
          </a:xfrm>
          <a:prstGeom prst="rect">
            <a:avLst/>
          </a:prstGeom>
        </p:spPr>
        <p:txBody>
          <a:bodyPr/>
          <a:lstStyle>
            <a:lvl1pPr>
              <a:defRPr>
                <a:solidFill>
                  <a:schemeClr val="bg1"/>
                </a:solidFill>
                <a:latin typeface="+mn-lt"/>
                <a:sym typeface="Trebuchet MS" panose="020B0603020202020204" pitchFamily="34" charset="0"/>
              </a:defRPr>
            </a:lvl1pPr>
          </a:lstStyle>
          <a:p>
            <a:endParaRPr lang="en-US"/>
          </a:p>
        </p:txBody>
      </p:sp>
      <p:sp>
        <p:nvSpPr>
          <p:cNvPr id="20" name="TextBox 19"/>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
        <p:nvSpPr>
          <p:cNvPr id="22"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2022 by Boston Consulting Group. All rights reserved.</a:t>
            </a:r>
          </a:p>
        </p:txBody>
      </p:sp>
      <p:sp>
        <p:nvSpPr>
          <p:cNvPr id="24" name="Rectangle 23"/>
          <p:cNvSpPr/>
          <p:nvPr userDrawn="1"/>
        </p:nvSpPr>
        <p:spPr bwMode="white">
          <a:xfrm>
            <a:off x="0" y="0"/>
            <a:ext cx="4079508"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endParaRPr lang="en-US" sz="1200">
              <a:solidFill>
                <a:schemeClr val="bg1"/>
              </a:solidFill>
              <a:latin typeface="+mn-lt"/>
              <a:sym typeface="Trebuchet MS" panose="020B0603020202020204" pitchFamily="34" charset="0"/>
            </a:endParaRPr>
          </a:p>
        </p:txBody>
      </p:sp>
      <p:sp>
        <p:nvSpPr>
          <p:cNvPr id="25" name="Title 4"/>
          <p:cNvSpPr>
            <a:spLocks noGrp="1"/>
          </p:cNvSpPr>
          <p:nvPr>
            <p:ph type="title" hasCustomPrompt="1"/>
          </p:nvPr>
        </p:nvSpPr>
        <p:spPr>
          <a:xfrm>
            <a:off x="630000" y="2681103"/>
            <a:ext cx="3127881" cy="1495794"/>
          </a:xfrm>
          <a:prstGeom prst="rect">
            <a:avLst/>
          </a:prstGeom>
        </p:spPr>
        <p:txBody>
          <a:bodyPr anchor="ctr">
            <a:noAutofit/>
          </a:bodyPr>
          <a:lstStyle>
            <a:lvl1pPr>
              <a:defRPr sz="2400">
                <a:solidFill>
                  <a:schemeClr val="tx2"/>
                </a:solidFill>
                <a:latin typeface="+mj-lt"/>
                <a:sym typeface="Trebuchet MS" panose="020B0603020202020204" pitchFamily="34" charset="0"/>
              </a:defRPr>
            </a:lvl1pPr>
          </a:lstStyle>
          <a:p>
            <a:r>
              <a:rPr lang="en-US"/>
              <a:t>Click to add title</a:t>
            </a:r>
          </a:p>
        </p:txBody>
      </p:sp>
    </p:spTree>
    <p:extLst>
      <p:ext uri="{BB962C8B-B14F-4D97-AF65-F5344CB8AC3E}">
        <p14:creationId xmlns:p14="http://schemas.microsoft.com/office/powerpoint/2010/main" val="36826774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13.xml><?xml version="1.0" encoding="utf-8"?>
<p:sldLayout xmlns:a="http://schemas.openxmlformats.org/drawingml/2006/main" xmlns:r="http://schemas.openxmlformats.org/officeDocument/2006/relationships" xmlns:p="http://schemas.openxmlformats.org/presentationml/2006/main" showMasterSp="0" preserve="1" userDrawn="1">
  <p:cSld name="D. Green highlight">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pic>
        <p:nvPicPr>
          <p:cNvPr id="10" name="Picture 9"/>
          <p:cNvPicPr>
            <a:picLocks noChangeAspect="1"/>
          </p:cNvPicPr>
          <p:nvPr userDrawn="1"/>
        </p:nvPicPr>
        <p:blipFill rotWithShape="1">
          <a:blip r:embed="rId2">
            <a:extLst>
              <a:ext uri="{28A0092B-C50C-407E-A947-70E740481C1C}">
                <a14:useLocalDpi xmlns:a14="http://schemas.microsoft.com/office/drawing/2010/main" val="0"/>
              </a:ext>
            </a:extLst>
          </a:blip>
          <a:srcRect l="29398" t="8741" r="101" b="27"/>
          <a:stretch/>
        </p:blipFill>
        <p:spPr bwMode="ltGray">
          <a:xfrm flipV="1">
            <a:off x="7165606" y="0"/>
            <a:ext cx="416951" cy="6858000"/>
          </a:xfrm>
          <a:prstGeom prst="rect">
            <a:avLst/>
          </a:prstGeom>
        </p:spPr>
      </p:pic>
      <p:sp>
        <p:nvSpPr>
          <p:cNvPr id="14" name="Rectangle 13"/>
          <p:cNvSpPr/>
          <p:nvPr userDrawn="1"/>
        </p:nvSpPr>
        <p:spPr bwMode="white">
          <a:xfrm>
            <a:off x="0" y="0"/>
            <a:ext cx="7171956"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endParaRPr lang="en-US" sz="1200">
              <a:solidFill>
                <a:schemeClr val="bg1"/>
              </a:solidFill>
              <a:latin typeface="+mn-lt"/>
              <a:sym typeface="Trebuchet MS" panose="020B0603020202020204" pitchFamily="34" charset="0"/>
            </a:endParaRPr>
          </a:p>
        </p:txBody>
      </p:sp>
      <p:sp>
        <p:nvSpPr>
          <p:cNvPr id="18" name="Date Placeholder 2"/>
          <p:cNvSpPr>
            <a:spLocks noGrp="1"/>
          </p:cNvSpPr>
          <p:nvPr>
            <p:ph type="dt" sz="half" idx="10"/>
          </p:nvPr>
        </p:nvSpPr>
        <p:spPr>
          <a:xfrm>
            <a:off x="9677400" y="6405036"/>
            <a:ext cx="1482051" cy="153888"/>
          </a:xfrm>
          <a:prstGeom prst="rect">
            <a:avLst/>
          </a:prstGeom>
        </p:spPr>
        <p:txBody>
          <a:bodyPr/>
          <a:lstStyle>
            <a:lvl1pPr>
              <a:defRPr>
                <a:solidFill>
                  <a:schemeClr val="bg1"/>
                </a:solidFill>
                <a:latin typeface="+mn-lt"/>
                <a:sym typeface="Trebuchet MS" panose="020B0603020202020204" pitchFamily="34" charset="0"/>
              </a:defRPr>
            </a:lvl1pPr>
          </a:lstStyle>
          <a:p>
            <a:endParaRPr lang="en-US"/>
          </a:p>
        </p:txBody>
      </p:sp>
      <p:sp>
        <p:nvSpPr>
          <p:cNvPr id="19" name="TextBox 18"/>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
        <p:nvSpPr>
          <p:cNvPr id="21"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2022 by Boston Consulting Group. All rights reserved.</a:t>
            </a:r>
          </a:p>
        </p:txBody>
      </p:sp>
      <p:sp>
        <p:nvSpPr>
          <p:cNvPr id="2" name="Title 1"/>
          <p:cNvSpPr>
            <a:spLocks noGrp="1"/>
          </p:cNvSpPr>
          <p:nvPr>
            <p:ph type="title" hasCustomPrompt="1"/>
          </p:nvPr>
        </p:nvSpPr>
        <p:spPr>
          <a:xfrm>
            <a:off x="630000" y="622800"/>
            <a:ext cx="6276529" cy="332399"/>
          </a:xfrm>
          <a:prstGeom prst="rect">
            <a:avLst/>
          </a:prstGeom>
        </p:spPr>
        <p:txBody>
          <a:bodyPr/>
          <a:lstStyle>
            <a:lvl1pPr>
              <a:defRPr>
                <a:latin typeface="+mj-lt"/>
                <a:sym typeface="Trebuchet MS" panose="020B0603020202020204" pitchFamily="34" charset="0"/>
              </a:defRPr>
            </a:lvl1pPr>
          </a:lstStyle>
          <a:p>
            <a:r>
              <a:rPr lang="en-US"/>
              <a:t>Click to add title</a:t>
            </a:r>
          </a:p>
        </p:txBody>
      </p:sp>
    </p:spTree>
    <p:extLst>
      <p:ext uri="{BB962C8B-B14F-4D97-AF65-F5344CB8AC3E}">
        <p14:creationId xmlns:p14="http://schemas.microsoft.com/office/powerpoint/2010/main" val="78978283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14.xml><?xml version="1.0" encoding="utf-8"?>
<p:sldLayout xmlns:a="http://schemas.openxmlformats.org/drawingml/2006/main" xmlns:r="http://schemas.openxmlformats.org/officeDocument/2006/relationships" xmlns:p="http://schemas.openxmlformats.org/presentationml/2006/main" showMasterSp="0" preserve="1" userDrawn="1">
  <p:cSld name="D. Four column green">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pic>
        <p:nvPicPr>
          <p:cNvPr id="16" name="Picture 15"/>
          <p:cNvPicPr>
            <a:picLocks noChangeAspect="1"/>
          </p:cNvPicPr>
          <p:nvPr userDrawn="1"/>
        </p:nvPicPr>
        <p:blipFill rotWithShape="1">
          <a:blip r:embed="rId2">
            <a:extLst>
              <a:ext uri="{28A0092B-C50C-407E-A947-70E740481C1C}">
                <a14:useLocalDpi xmlns:a14="http://schemas.microsoft.com/office/drawing/2010/main" val="0"/>
              </a:ext>
            </a:extLst>
          </a:blip>
          <a:srcRect l="29398" t="8741" r="101" b="27"/>
          <a:stretch/>
        </p:blipFill>
        <p:spPr bwMode="ltGray">
          <a:xfrm flipV="1">
            <a:off x="9029246" y="0"/>
            <a:ext cx="416951" cy="6858000"/>
          </a:xfrm>
          <a:prstGeom prst="rect">
            <a:avLst/>
          </a:prstGeom>
        </p:spPr>
      </p:pic>
      <p:sp>
        <p:nvSpPr>
          <p:cNvPr id="10" name="Rectangle 9"/>
          <p:cNvSpPr/>
          <p:nvPr userDrawn="1"/>
        </p:nvSpPr>
        <p:spPr bwMode="white">
          <a:xfrm>
            <a:off x="0" y="0"/>
            <a:ext cx="9034272"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endParaRPr lang="en-US" sz="1200">
              <a:solidFill>
                <a:schemeClr val="bg1"/>
              </a:solidFill>
              <a:latin typeface="+mn-lt"/>
              <a:sym typeface="Trebuchet MS" panose="020B0603020202020204" pitchFamily="34" charset="0"/>
            </a:endParaRPr>
          </a:p>
        </p:txBody>
      </p:sp>
      <p:sp>
        <p:nvSpPr>
          <p:cNvPr id="13" name="Date Placeholder 4"/>
          <p:cNvSpPr>
            <a:spLocks noGrp="1"/>
          </p:cNvSpPr>
          <p:nvPr>
            <p:ph type="dt" sz="half" idx="10"/>
          </p:nvPr>
        </p:nvSpPr>
        <p:spPr>
          <a:xfrm>
            <a:off x="9677400" y="6405036"/>
            <a:ext cx="1482051" cy="153888"/>
          </a:xfrm>
        </p:spPr>
        <p:txBody>
          <a:bodyPr/>
          <a:lstStyle>
            <a:lvl1pPr>
              <a:defRPr>
                <a:solidFill>
                  <a:schemeClr val="bg1"/>
                </a:solidFill>
                <a:latin typeface="+mn-lt"/>
                <a:sym typeface="Trebuchet MS" panose="020B0603020202020204" pitchFamily="34" charset="0"/>
              </a:defRPr>
            </a:lvl1pPr>
          </a:lstStyle>
          <a:p>
            <a:endParaRPr lang="en-US"/>
          </a:p>
        </p:txBody>
      </p:sp>
      <p:sp>
        <p:nvSpPr>
          <p:cNvPr id="22"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2022 by Boston Consulting Group. All rights reserved.</a:t>
            </a:r>
          </a:p>
        </p:txBody>
      </p:sp>
      <p:sp>
        <p:nvSpPr>
          <p:cNvPr id="15" name="TextBox 14"/>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
        <p:nvSpPr>
          <p:cNvPr id="2" name="Title 1"/>
          <p:cNvSpPr>
            <a:spLocks noGrp="1"/>
          </p:cNvSpPr>
          <p:nvPr>
            <p:ph type="title" hasCustomPrompt="1"/>
          </p:nvPr>
        </p:nvSpPr>
        <p:spPr>
          <a:xfrm>
            <a:off x="630000" y="622800"/>
            <a:ext cx="8101584" cy="332399"/>
          </a:xfrm>
          <a:prstGeom prst="rect">
            <a:avLst/>
          </a:prstGeom>
        </p:spPr>
        <p:txBody>
          <a:bodyPr/>
          <a:lstStyle>
            <a:lvl1pPr>
              <a:defRPr>
                <a:latin typeface="+mj-lt"/>
                <a:sym typeface="Trebuchet MS" panose="020B0603020202020204" pitchFamily="34" charset="0"/>
              </a:defRPr>
            </a:lvl1pPr>
          </a:lstStyle>
          <a:p>
            <a:r>
              <a:rPr lang="en-US"/>
              <a:t>Click to add title</a:t>
            </a:r>
          </a:p>
        </p:txBody>
      </p:sp>
    </p:spTree>
    <p:extLst>
      <p:ext uri="{BB962C8B-B14F-4D97-AF65-F5344CB8AC3E}">
        <p14:creationId xmlns:p14="http://schemas.microsoft.com/office/powerpoint/2010/main" val="149153749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15.xml><?xml version="1.0" encoding="utf-8"?>
<p:sldLayout xmlns:a="http://schemas.openxmlformats.org/drawingml/2006/main" xmlns:r="http://schemas.openxmlformats.org/officeDocument/2006/relationships" xmlns:p="http://schemas.openxmlformats.org/presentationml/2006/main" showMasterSp="0" preserve="1" userDrawn="1">
  <p:cSld name="D. Green one third">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pic>
        <p:nvPicPr>
          <p:cNvPr id="23" name="Picture 22"/>
          <p:cNvPicPr>
            <a:picLocks noChangeAspect="1"/>
          </p:cNvPicPr>
          <p:nvPr userDrawn="1"/>
        </p:nvPicPr>
        <p:blipFill rotWithShape="1">
          <a:blip r:embed="rId2">
            <a:extLst>
              <a:ext uri="{28A0092B-C50C-407E-A947-70E740481C1C}">
                <a14:useLocalDpi xmlns:a14="http://schemas.microsoft.com/office/drawing/2010/main" val="0"/>
              </a:ext>
            </a:extLst>
          </a:blip>
          <a:srcRect l="29398" t="8741" r="101" b="27"/>
          <a:stretch/>
        </p:blipFill>
        <p:spPr bwMode="ltGray">
          <a:xfrm flipH="1">
            <a:off x="3671068" y="0"/>
            <a:ext cx="416951" cy="6858000"/>
          </a:xfrm>
          <a:prstGeom prst="rect">
            <a:avLst/>
          </a:prstGeom>
        </p:spPr>
      </p:pic>
      <p:sp>
        <p:nvSpPr>
          <p:cNvPr id="24" name="Title 4"/>
          <p:cNvSpPr>
            <a:spLocks noGrp="1"/>
          </p:cNvSpPr>
          <p:nvPr>
            <p:ph type="title" hasCustomPrompt="1"/>
          </p:nvPr>
        </p:nvSpPr>
        <p:spPr>
          <a:xfrm>
            <a:off x="630000" y="2681103"/>
            <a:ext cx="3127881" cy="1495794"/>
          </a:xfrm>
          <a:prstGeom prst="rect">
            <a:avLst/>
          </a:prstGeom>
        </p:spPr>
        <p:txBody>
          <a:bodyPr anchor="ctr">
            <a:noAutofit/>
          </a:bodyPr>
          <a:lstStyle>
            <a:lvl1pPr>
              <a:defRPr sz="2400">
                <a:solidFill>
                  <a:schemeClr val="bg1"/>
                </a:solidFill>
                <a:latin typeface="+mj-lt"/>
                <a:sym typeface="Trebuchet MS" panose="020B0603020202020204" pitchFamily="34" charset="0"/>
              </a:defRPr>
            </a:lvl1pPr>
          </a:lstStyle>
          <a:p>
            <a:r>
              <a:rPr lang="en-US"/>
              <a:t>Click to add title</a:t>
            </a:r>
          </a:p>
        </p:txBody>
      </p:sp>
      <p:sp>
        <p:nvSpPr>
          <p:cNvPr id="26" name="Rectangle 25"/>
          <p:cNvSpPr/>
          <p:nvPr userDrawn="1"/>
        </p:nvSpPr>
        <p:spPr bwMode="ltGray">
          <a:xfrm>
            <a:off x="4080763" y="-1309"/>
            <a:ext cx="8111237" cy="685930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endParaRPr lang="en-US" sz="1200">
              <a:solidFill>
                <a:schemeClr val="bg1"/>
              </a:solidFill>
              <a:latin typeface="+mn-lt"/>
              <a:sym typeface="Trebuchet MS" panose="020B0603020202020204" pitchFamily="34" charset="0"/>
            </a:endParaRPr>
          </a:p>
        </p:txBody>
      </p:sp>
      <p:sp>
        <p:nvSpPr>
          <p:cNvPr id="25" name="Date Placeholder 1"/>
          <p:cNvSpPr>
            <a:spLocks noGrp="1"/>
          </p:cNvSpPr>
          <p:nvPr>
            <p:ph type="dt" sz="half" idx="29"/>
          </p:nvPr>
        </p:nvSpPr>
        <p:spPr>
          <a:xfrm>
            <a:off x="9677400" y="6405036"/>
            <a:ext cx="1482051" cy="153888"/>
          </a:xfrm>
          <a:prstGeom prst="rect">
            <a:avLst/>
          </a:prstGeom>
        </p:spPr>
        <p:txBody>
          <a:bodyPr/>
          <a:lstStyle>
            <a:lvl1pPr>
              <a:defRPr>
                <a:solidFill>
                  <a:schemeClr val="bg1">
                    <a:lumMod val="50000"/>
                  </a:schemeClr>
                </a:solidFill>
                <a:latin typeface="+mn-lt"/>
                <a:sym typeface="Trebuchet MS" panose="020B0603020202020204" pitchFamily="34" charset="0"/>
              </a:defRPr>
            </a:lvl1pPr>
          </a:lstStyle>
          <a:p>
            <a:endParaRPr lang="en-US"/>
          </a:p>
        </p:txBody>
      </p:sp>
      <p:sp>
        <p:nvSpPr>
          <p:cNvPr id="29"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2022 by Boston Consulting Group. All rights reserved.</a:t>
            </a:r>
          </a:p>
        </p:txBody>
      </p:sp>
      <p:sp>
        <p:nvSpPr>
          <p:cNvPr id="28" name="TextBox 27"/>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lumMod val="50000"/>
                  </a:schemeClr>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lumMod val="50000"/>
                </a:schemeClr>
              </a:solidFill>
              <a:latin typeface="+mn-lt"/>
              <a:ea typeface="+mn-ea"/>
              <a:cs typeface="+mn-cs"/>
              <a:sym typeface="Trebuchet MS" panose="020B0603020202020204" pitchFamily="34" charset="0"/>
            </a:endParaRPr>
          </a:p>
        </p:txBody>
      </p:sp>
    </p:spTree>
    <p:extLst>
      <p:ext uri="{BB962C8B-B14F-4D97-AF65-F5344CB8AC3E}">
        <p14:creationId xmlns:p14="http://schemas.microsoft.com/office/powerpoint/2010/main" val="98666264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16.xml><?xml version="1.0" encoding="utf-8"?>
<p:sldLayout xmlns:a="http://schemas.openxmlformats.org/drawingml/2006/main" xmlns:r="http://schemas.openxmlformats.org/officeDocument/2006/relationships" xmlns:p="http://schemas.openxmlformats.org/presentationml/2006/main" showMasterSp="0" preserve="1" userDrawn="1">
  <p:cSld name="D. Green half">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pic>
        <p:nvPicPr>
          <p:cNvPr id="10" name="Picture 9"/>
          <p:cNvPicPr>
            <a:picLocks noChangeAspect="1"/>
          </p:cNvPicPr>
          <p:nvPr userDrawn="1"/>
        </p:nvPicPr>
        <p:blipFill rotWithShape="1">
          <a:blip r:embed="rId2">
            <a:extLst>
              <a:ext uri="{28A0092B-C50C-407E-A947-70E740481C1C}">
                <a14:useLocalDpi xmlns:a14="http://schemas.microsoft.com/office/drawing/2010/main" val="0"/>
              </a:ext>
            </a:extLst>
          </a:blip>
          <a:srcRect l="29398" t="8741" r="101" b="27"/>
          <a:stretch/>
        </p:blipFill>
        <p:spPr bwMode="ltGray">
          <a:xfrm flipH="1">
            <a:off x="5689582" y="0"/>
            <a:ext cx="416951" cy="6858000"/>
          </a:xfrm>
          <a:prstGeom prst="rect">
            <a:avLst/>
          </a:prstGeom>
        </p:spPr>
      </p:pic>
      <p:sp>
        <p:nvSpPr>
          <p:cNvPr id="11" name="Rectangle 10"/>
          <p:cNvSpPr/>
          <p:nvPr userDrawn="1"/>
        </p:nvSpPr>
        <p:spPr>
          <a:xfrm>
            <a:off x="6096000" y="0"/>
            <a:ext cx="6096000" cy="6858000"/>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l">
              <a:lnSpc>
                <a:spcPct val="90000"/>
              </a:lnSpc>
              <a:spcAft>
                <a:spcPts val="1000"/>
              </a:spcAft>
            </a:pPr>
            <a:endParaRPr lang="en-US" sz="1200">
              <a:solidFill>
                <a:schemeClr val="bg1"/>
              </a:solidFill>
              <a:latin typeface="+mn-lt"/>
              <a:sym typeface="Trebuchet MS" panose="020B0603020202020204" pitchFamily="34" charset="0"/>
            </a:endParaRPr>
          </a:p>
        </p:txBody>
      </p:sp>
      <p:sp>
        <p:nvSpPr>
          <p:cNvPr id="12" name="Picture Placeholder 18"/>
          <p:cNvSpPr>
            <a:spLocks noGrp="1"/>
          </p:cNvSpPr>
          <p:nvPr>
            <p:ph type="pic" sz="quarter" idx="14" hasCustomPrompt="1"/>
          </p:nvPr>
        </p:nvSpPr>
        <p:spPr>
          <a:xfrm>
            <a:off x="6092021" y="0"/>
            <a:ext cx="6099977" cy="6858000"/>
          </a:xfrm>
          <a:prstGeom prst="rect">
            <a:avLst/>
          </a:prstGeom>
          <a:noFill/>
        </p:spPr>
        <p:txBody>
          <a:bodyPr lIns="914400" tIns="914400" rIns="914400" bIns="914400"/>
          <a:lstStyle>
            <a:lvl1pPr algn="ctr">
              <a:defRPr sz="1800" baseline="0">
                <a:latin typeface="Trebuchet MS" panose="020B0603020202020204" pitchFamily="34" charset="0"/>
                <a:sym typeface="Trebuchet MS" panose="020B0603020202020204" pitchFamily="34" charset="0"/>
              </a:defRPr>
            </a:lvl1pPr>
          </a:lstStyle>
          <a:p>
            <a:r>
              <a:rPr lang="en-US"/>
              <a:t>Click icon below to insert an image or remove this placeholder to use the whitespace in another way</a:t>
            </a:r>
          </a:p>
        </p:txBody>
      </p:sp>
      <p:sp>
        <p:nvSpPr>
          <p:cNvPr id="13" name="Title 1"/>
          <p:cNvSpPr>
            <a:spLocks noGrp="1"/>
          </p:cNvSpPr>
          <p:nvPr>
            <p:ph type="title" hasCustomPrompt="1"/>
          </p:nvPr>
        </p:nvSpPr>
        <p:spPr bwMode="blackWhite">
          <a:xfrm>
            <a:off x="630000" y="1785600"/>
            <a:ext cx="4388400" cy="3286800"/>
          </a:xfrm>
          <a:prstGeom prst="rect">
            <a:avLst/>
          </a:prstGeom>
          <a:noFill/>
        </p:spPr>
        <p:txBody>
          <a:bodyPr wrap="square" lIns="0" tIns="0" rIns="320040" bIns="0" anchor="ctr">
            <a:noAutofit/>
          </a:bodyPr>
          <a:lstStyle>
            <a:lvl1pPr>
              <a:defRPr sz="4400">
                <a:solidFill>
                  <a:schemeClr val="bg1"/>
                </a:solidFill>
                <a:latin typeface="+mj-lt"/>
                <a:sym typeface="Trebuchet MS" panose="020B0603020202020204" pitchFamily="34" charset="0"/>
              </a:defRPr>
            </a:lvl1pPr>
          </a:lstStyle>
          <a:p>
            <a:r>
              <a:rPr lang="en-US"/>
              <a:t>Click to add title</a:t>
            </a:r>
          </a:p>
        </p:txBody>
      </p:sp>
      <p:sp>
        <p:nvSpPr>
          <p:cNvPr id="14" name="TextBox 13"/>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lumMod val="50000"/>
                  </a:schemeClr>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800" kern="1200">
              <a:solidFill>
                <a:schemeClr val="bg1">
                  <a:lumMod val="50000"/>
                </a:schemeClr>
              </a:solidFill>
              <a:latin typeface="+mn-lt"/>
              <a:ea typeface="+mn-ea"/>
              <a:cs typeface="+mn-cs"/>
              <a:sym typeface="Trebuchet MS" panose="020B0603020202020204" pitchFamily="34" charset="0"/>
            </a:endParaRPr>
          </a:p>
        </p:txBody>
      </p:sp>
      <p:sp>
        <p:nvSpPr>
          <p:cNvPr id="15" name="Date Placeholder 2"/>
          <p:cNvSpPr>
            <a:spLocks noGrp="1"/>
          </p:cNvSpPr>
          <p:nvPr>
            <p:ph type="dt" sz="half" idx="15"/>
          </p:nvPr>
        </p:nvSpPr>
        <p:spPr>
          <a:xfrm>
            <a:off x="9677400" y="6405036"/>
            <a:ext cx="1482051" cy="153888"/>
          </a:xfrm>
          <a:prstGeom prst="rect">
            <a:avLst/>
          </a:prstGeom>
        </p:spPr>
        <p:txBody>
          <a:bodyPr/>
          <a:lstStyle>
            <a:lvl1pPr>
              <a:defRPr>
                <a:solidFill>
                  <a:schemeClr val="bg1">
                    <a:lumMod val="50000"/>
                  </a:schemeClr>
                </a:solidFill>
                <a:latin typeface="+mn-lt"/>
                <a:sym typeface="Trebuchet MS" panose="020B0603020202020204" pitchFamily="34" charset="0"/>
              </a:defRPr>
            </a:lvl1pPr>
          </a:lstStyle>
          <a:p>
            <a:endParaRPr lang="en-US"/>
          </a:p>
        </p:txBody>
      </p:sp>
      <p:sp>
        <p:nvSpPr>
          <p:cNvPr id="17"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2022 by Boston Consulting Group. All rights reserved.</a:t>
            </a:r>
          </a:p>
        </p:txBody>
      </p:sp>
    </p:spTree>
    <p:extLst>
      <p:ext uri="{BB962C8B-B14F-4D97-AF65-F5344CB8AC3E}">
        <p14:creationId xmlns:p14="http://schemas.microsoft.com/office/powerpoint/2010/main" val="157935557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17.xml><?xml version="1.0" encoding="utf-8"?>
<p:sldLayout xmlns:a="http://schemas.openxmlformats.org/drawingml/2006/main" xmlns:r="http://schemas.openxmlformats.org/officeDocument/2006/relationships" xmlns:p="http://schemas.openxmlformats.org/presentationml/2006/main" showMasterSp="0" preserve="1" userDrawn="1">
  <p:cSld name="D. Green two third">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pic>
        <p:nvPicPr>
          <p:cNvPr id="10" name="Picture 9"/>
          <p:cNvPicPr>
            <a:picLocks noChangeAspect="1"/>
          </p:cNvPicPr>
          <p:nvPr userDrawn="1"/>
        </p:nvPicPr>
        <p:blipFill rotWithShape="1">
          <a:blip r:embed="rId2">
            <a:extLst>
              <a:ext uri="{28A0092B-C50C-407E-A947-70E740481C1C}">
                <a14:useLocalDpi xmlns:a14="http://schemas.microsoft.com/office/drawing/2010/main" val="0"/>
              </a:ext>
            </a:extLst>
          </a:blip>
          <a:srcRect l="29398" t="8741" r="101" b="27"/>
          <a:stretch/>
        </p:blipFill>
        <p:spPr bwMode="ltGray">
          <a:xfrm flipH="1">
            <a:off x="7409849" y="0"/>
            <a:ext cx="416951" cy="6858000"/>
          </a:xfrm>
          <a:prstGeom prst="rect">
            <a:avLst/>
          </a:prstGeom>
        </p:spPr>
      </p:pic>
      <p:sp>
        <p:nvSpPr>
          <p:cNvPr id="11" name="Rectangle 10"/>
          <p:cNvSpPr/>
          <p:nvPr userDrawn="1"/>
        </p:nvSpPr>
        <p:spPr bwMode="gray">
          <a:xfrm>
            <a:off x="7819543" y="0"/>
            <a:ext cx="4372457"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endParaRPr lang="en-US" sz="1200">
              <a:solidFill>
                <a:schemeClr val="bg1"/>
              </a:solidFill>
              <a:latin typeface="+mn-lt"/>
              <a:sym typeface="Trebuchet MS" panose="020B0603020202020204" pitchFamily="34" charset="0"/>
            </a:endParaRPr>
          </a:p>
        </p:txBody>
      </p:sp>
      <p:sp>
        <p:nvSpPr>
          <p:cNvPr id="12" name="Picture Placeholder 5"/>
          <p:cNvSpPr>
            <a:spLocks noGrp="1"/>
          </p:cNvSpPr>
          <p:nvPr>
            <p:ph type="pic" sz="quarter" idx="11" hasCustomPrompt="1"/>
          </p:nvPr>
        </p:nvSpPr>
        <p:spPr>
          <a:xfrm>
            <a:off x="7820025" y="0"/>
            <a:ext cx="4371975" cy="6858000"/>
          </a:xfrm>
          <a:prstGeom prst="rect">
            <a:avLst/>
          </a:prstGeom>
          <a:noFill/>
        </p:spPr>
        <p:txBody>
          <a:bodyPr lIns="182880" tIns="914400" rIns="182880" bIns="914400"/>
          <a:lstStyle>
            <a:lvl1pPr algn="ctr">
              <a:defRPr sz="1600">
                <a:solidFill>
                  <a:schemeClr val="tx1"/>
                </a:solidFill>
                <a:latin typeface="Trebuchet MS" panose="020B0603020202020204" pitchFamily="34" charset="0"/>
                <a:sym typeface="Trebuchet MS" panose="020B0603020202020204" pitchFamily="34" charset="0"/>
              </a:defRPr>
            </a:lvl1pPr>
          </a:lstStyle>
          <a:p>
            <a:r>
              <a:rPr lang="en-US"/>
              <a:t>Click icon below to insert an image or remove this placeholder to use the whitespace in another way</a:t>
            </a:r>
          </a:p>
        </p:txBody>
      </p:sp>
      <p:sp>
        <p:nvSpPr>
          <p:cNvPr id="13" name="Date Placeholder 2"/>
          <p:cNvSpPr>
            <a:spLocks noGrp="1"/>
          </p:cNvSpPr>
          <p:nvPr>
            <p:ph type="dt" sz="half" idx="12"/>
          </p:nvPr>
        </p:nvSpPr>
        <p:spPr>
          <a:xfrm>
            <a:off x="9677400" y="6405036"/>
            <a:ext cx="1482051" cy="153888"/>
          </a:xfrm>
          <a:prstGeom prst="rect">
            <a:avLst/>
          </a:prstGeom>
        </p:spPr>
        <p:txBody>
          <a:bodyPr/>
          <a:lstStyle>
            <a:lvl1pPr>
              <a:defRPr>
                <a:solidFill>
                  <a:schemeClr val="bg1">
                    <a:lumMod val="50000"/>
                  </a:schemeClr>
                </a:solidFill>
                <a:latin typeface="+mn-lt"/>
                <a:sym typeface="Trebuchet MS" panose="020B0603020202020204" pitchFamily="34" charset="0"/>
              </a:defRPr>
            </a:lvl1pPr>
          </a:lstStyle>
          <a:p>
            <a:endParaRPr lang="en-US"/>
          </a:p>
        </p:txBody>
      </p:sp>
      <p:sp>
        <p:nvSpPr>
          <p:cNvPr id="9"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2022 by Boston Consulting Group. All rights reserved.</a:t>
            </a:r>
          </a:p>
        </p:txBody>
      </p:sp>
      <p:sp>
        <p:nvSpPr>
          <p:cNvPr id="15" name="Title 1"/>
          <p:cNvSpPr>
            <a:spLocks noGrp="1"/>
          </p:cNvSpPr>
          <p:nvPr>
            <p:ph type="title" hasCustomPrompt="1"/>
          </p:nvPr>
        </p:nvSpPr>
        <p:spPr bwMode="black">
          <a:xfrm>
            <a:off x="630936" y="1785600"/>
            <a:ext cx="6247552" cy="3286800"/>
          </a:xfrm>
          <a:prstGeom prst="rect">
            <a:avLst/>
          </a:prstGeom>
        </p:spPr>
        <p:txBody>
          <a:bodyPr anchor="ctr">
            <a:noAutofit/>
          </a:bodyPr>
          <a:lstStyle>
            <a:lvl1pPr>
              <a:defRPr sz="4400">
                <a:solidFill>
                  <a:schemeClr val="bg1"/>
                </a:solidFill>
                <a:latin typeface="+mj-lt"/>
                <a:sym typeface="Trebuchet MS" panose="020B0603020202020204" pitchFamily="34" charset="0"/>
              </a:defRPr>
            </a:lvl1pPr>
          </a:lstStyle>
          <a:p>
            <a:r>
              <a:rPr lang="en-US"/>
              <a:t>Click to add title</a:t>
            </a:r>
          </a:p>
        </p:txBody>
      </p:sp>
      <p:sp>
        <p:nvSpPr>
          <p:cNvPr id="14" name="TextBox 13"/>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lumMod val="50000"/>
                  </a:schemeClr>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800" kern="1200">
              <a:solidFill>
                <a:schemeClr val="bg1">
                  <a:lumMod val="50000"/>
                </a:schemeClr>
              </a:solidFill>
              <a:latin typeface="+mn-lt"/>
              <a:ea typeface="+mn-ea"/>
              <a:cs typeface="+mn-cs"/>
              <a:sym typeface="Trebuchet MS" panose="020B0603020202020204" pitchFamily="34" charset="0"/>
            </a:endParaRPr>
          </a:p>
        </p:txBody>
      </p:sp>
    </p:spTree>
    <p:extLst>
      <p:ext uri="{BB962C8B-B14F-4D97-AF65-F5344CB8AC3E}">
        <p14:creationId xmlns:p14="http://schemas.microsoft.com/office/powerpoint/2010/main" val="385467737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18.xml><?xml version="1.0" encoding="utf-8"?>
<p:sldLayout xmlns:a="http://schemas.openxmlformats.org/drawingml/2006/main" xmlns:r="http://schemas.openxmlformats.org/officeDocument/2006/relationships" xmlns:p="http://schemas.openxmlformats.org/presentationml/2006/main" showMasterSp="0" preserve="1" userDrawn="1">
  <p:cSld name="D. Left arrow">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userDrawn="1">
            <p:custDataLst>
              <p:tags r:id="rId1"/>
            </p:custDataLst>
            <p:extLst>
              <p:ext uri="{D42A27DB-BD31-4B8C-83A1-F6EECF244321}">
                <p14:modId xmlns:p14="http://schemas.microsoft.com/office/powerpoint/2010/main" val="4279571629"/>
              </p:ext>
            </p:ext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3" imgW="324" imgH="324" progId="TCLayout.ActiveDocument.1">
                  <p:embed/>
                </p:oleObj>
              </mc:Choice>
              <mc:Fallback>
                <p:oleObj name="think-cell Slide" r:id="rId3" imgW="324" imgH="324" progId="TCLayout.ActiveDocument.1">
                  <p:embed/>
                  <p:pic>
                    <p:nvPicPr>
                      <p:cNvPr id="3" name="Object 2" hidden="1"/>
                      <p:cNvPicPr/>
                      <p:nvPr/>
                    </p:nvPicPr>
                    <p:blipFill>
                      <a:blip r:embed="rId4"/>
                      <a:stretch>
                        <a:fillRect/>
                      </a:stretch>
                    </p:blipFill>
                    <p:spPr>
                      <a:xfrm>
                        <a:off x="1588" y="1588"/>
                        <a:ext cx="1587" cy="1587"/>
                      </a:xfrm>
                      <a:prstGeom prst="rect">
                        <a:avLst/>
                      </a:prstGeom>
                    </p:spPr>
                  </p:pic>
                </p:oleObj>
              </mc:Fallback>
            </mc:AlternateContent>
          </a:graphicData>
        </a:graphic>
      </p:graphicFrame>
      <p:sp>
        <p:nvSpPr>
          <p:cNvPr id="10" name="Freeform 14"/>
          <p:cNvSpPr/>
          <p:nvPr userDrawn="1"/>
        </p:nvSpPr>
        <p:spPr bwMode="ltGray">
          <a:xfrm>
            <a:off x="1524" y="1310"/>
            <a:ext cx="4088312" cy="6858000"/>
          </a:xfrm>
          <a:custGeom>
            <a:avLst/>
            <a:gdLst>
              <a:gd name="connsiteX0" fmla="*/ 0 w 4088312"/>
              <a:gd name="connsiteY0" fmla="*/ 0 h 6858000"/>
              <a:gd name="connsiteX1" fmla="*/ 3264933 w 4088312"/>
              <a:gd name="connsiteY1" fmla="*/ 0 h 6858000"/>
              <a:gd name="connsiteX2" fmla="*/ 4088312 w 4088312"/>
              <a:gd name="connsiteY2" fmla="*/ 3429000 h 6858000"/>
              <a:gd name="connsiteX3" fmla="*/ 3264933 w 4088312"/>
              <a:gd name="connsiteY3" fmla="*/ 6858000 h 6858000"/>
              <a:gd name="connsiteX4" fmla="*/ 0 w 4088312"/>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8312" h="6858000">
                <a:moveTo>
                  <a:pt x="0" y="0"/>
                </a:moveTo>
                <a:lnTo>
                  <a:pt x="3264933" y="0"/>
                </a:lnTo>
                <a:lnTo>
                  <a:pt x="4088312" y="3429000"/>
                </a:lnTo>
                <a:lnTo>
                  <a:pt x="3264933" y="6858000"/>
                </a:lnTo>
                <a:lnTo>
                  <a:pt x="0" y="685800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p>
            <a:pPr>
              <a:lnSpc>
                <a:spcPct val="90000"/>
              </a:lnSpc>
              <a:spcAft>
                <a:spcPts val="1000"/>
              </a:spcAft>
            </a:pPr>
            <a:endParaRPr lang="en-US" sz="1200">
              <a:solidFill>
                <a:prstClr val="white"/>
              </a:solidFill>
              <a:latin typeface="+mn-lt"/>
              <a:sym typeface="Trebuchet MS" panose="020B0603020202020204" pitchFamily="34" charset="0"/>
            </a:endParaRPr>
          </a:p>
        </p:txBody>
      </p:sp>
      <p:sp>
        <p:nvSpPr>
          <p:cNvPr id="13" name="Date Placeholder 4"/>
          <p:cNvSpPr>
            <a:spLocks noGrp="1"/>
          </p:cNvSpPr>
          <p:nvPr>
            <p:ph type="dt" sz="half" idx="10"/>
          </p:nvPr>
        </p:nvSpPr>
        <p:spPr>
          <a:xfrm>
            <a:off x="9677400" y="6405036"/>
            <a:ext cx="1482051" cy="153888"/>
          </a:xfrm>
          <a:prstGeom prst="rect">
            <a:avLst/>
          </a:prstGeom>
        </p:spPr>
        <p:txBody>
          <a:bodyPr/>
          <a:lstStyle>
            <a:lvl1pPr>
              <a:defRPr>
                <a:solidFill>
                  <a:schemeClr val="bg1"/>
                </a:solidFill>
                <a:latin typeface="+mn-lt"/>
                <a:sym typeface="Trebuchet MS" panose="020B0603020202020204" pitchFamily="34" charset="0"/>
              </a:defRPr>
            </a:lvl1pPr>
          </a:lstStyle>
          <a:p>
            <a:endParaRPr lang="en-US"/>
          </a:p>
        </p:txBody>
      </p:sp>
      <p:sp>
        <p:nvSpPr>
          <p:cNvPr id="11"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2022 by Boston Consulting Group. All rights reserved.</a:t>
            </a:r>
          </a:p>
        </p:txBody>
      </p:sp>
      <p:sp>
        <p:nvSpPr>
          <p:cNvPr id="18" name="TextBox 17"/>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
        <p:nvSpPr>
          <p:cNvPr id="20" name="Title 2"/>
          <p:cNvSpPr>
            <a:spLocks noGrp="1"/>
          </p:cNvSpPr>
          <p:nvPr>
            <p:ph type="title" hasCustomPrompt="1"/>
          </p:nvPr>
        </p:nvSpPr>
        <p:spPr>
          <a:xfrm>
            <a:off x="630000" y="2764203"/>
            <a:ext cx="2478638" cy="1314311"/>
          </a:xfrm>
          <a:prstGeom prst="rect">
            <a:avLst/>
          </a:prstGeom>
        </p:spPr>
        <p:txBody>
          <a:bodyPr anchor="ctr">
            <a:noAutofit/>
          </a:bodyPr>
          <a:lstStyle>
            <a:lvl1pPr>
              <a:defRPr sz="2400">
                <a:solidFill>
                  <a:schemeClr val="tx2"/>
                </a:solidFill>
                <a:latin typeface="+mj-lt"/>
                <a:sym typeface="Trebuchet MS" panose="020B0603020202020204" pitchFamily="34" charset="0"/>
              </a:defRPr>
            </a:lvl1pPr>
          </a:lstStyle>
          <a:p>
            <a:r>
              <a:rPr lang="en-US">
                <a:solidFill>
                  <a:schemeClr val="tx2"/>
                </a:solidFill>
              </a:rPr>
              <a:t>Click to add title</a:t>
            </a:r>
          </a:p>
        </p:txBody>
      </p:sp>
      <p:pic>
        <p:nvPicPr>
          <p:cNvPr id="12" name="Picture 11"/>
          <p:cNvPicPr>
            <a:picLocks noChangeAspect="1" noChangeArrowheads="1"/>
          </p:cNvPicPr>
          <p:nvPr userDrawn="1"/>
        </p:nvPicPr>
        <p:blipFill>
          <a:blip r:embed="rId5">
            <a:extLst>
              <a:ext uri="{28A0092B-C50C-407E-A947-70E740481C1C}">
                <a14:useLocalDpi xmlns:a14="http://schemas.microsoft.com/office/drawing/2010/main" val="0"/>
              </a:ext>
            </a:extLst>
          </a:blip>
          <a:srcRect/>
          <a:stretch>
            <a:fillRect/>
          </a:stretch>
        </p:blipFill>
        <p:spPr bwMode="auto">
          <a:xfrm>
            <a:off x="3132442" y="3590399"/>
            <a:ext cx="1365250" cy="3382962"/>
          </a:xfrm>
          <a:custGeom>
            <a:avLst/>
            <a:gdLst>
              <a:gd name="connsiteX0" fmla="*/ 919541 w 1365250"/>
              <a:gd name="connsiteY0" fmla="*/ 0 h 3382962"/>
              <a:gd name="connsiteX1" fmla="*/ 1365250 w 1365250"/>
              <a:gd name="connsiteY1" fmla="*/ 0 h 3382962"/>
              <a:gd name="connsiteX2" fmla="*/ 1365250 w 1365250"/>
              <a:gd name="connsiteY2" fmla="*/ 3382962 h 3382962"/>
              <a:gd name="connsiteX3" fmla="*/ 0 w 1365250"/>
              <a:gd name="connsiteY3" fmla="*/ 3382962 h 3382962"/>
              <a:gd name="connsiteX4" fmla="*/ 0 w 1365250"/>
              <a:gd name="connsiteY4" fmla="*/ 3264716 h 3382962"/>
              <a:gd name="connsiteX5" fmla="*/ 129871 w 1365250"/>
              <a:gd name="connsiteY5" fmla="*/ 3267601 h 3382962"/>
              <a:gd name="connsiteX6" fmla="*/ 0 w 1365250"/>
              <a:gd name="connsiteY6" fmla="*/ 0 h 3382962"/>
              <a:gd name="connsiteX7" fmla="*/ 909386 w 1365250"/>
              <a:gd name="connsiteY7" fmla="*/ 0 h 3382962"/>
              <a:gd name="connsiteX8" fmla="*/ 0 w 1365250"/>
              <a:gd name="connsiteY8" fmla="*/ 2985607 h 3382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65250" h="3382962">
                <a:moveTo>
                  <a:pt x="919541" y="0"/>
                </a:moveTo>
                <a:lnTo>
                  <a:pt x="1365250" y="0"/>
                </a:lnTo>
                <a:lnTo>
                  <a:pt x="1365250" y="3382962"/>
                </a:lnTo>
                <a:lnTo>
                  <a:pt x="0" y="3382962"/>
                </a:lnTo>
                <a:lnTo>
                  <a:pt x="0" y="3264716"/>
                </a:lnTo>
                <a:lnTo>
                  <a:pt x="129871" y="3267601"/>
                </a:lnTo>
                <a:close/>
                <a:moveTo>
                  <a:pt x="0" y="0"/>
                </a:moveTo>
                <a:lnTo>
                  <a:pt x="909386" y="0"/>
                </a:lnTo>
                <a:lnTo>
                  <a:pt x="0" y="2985607"/>
                </a:lnTo>
                <a:close/>
              </a:path>
            </a:pathLst>
          </a:cu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8843674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19.xml><?xml version="1.0" encoding="utf-8"?>
<p:sldLayout xmlns:a="http://schemas.openxmlformats.org/drawingml/2006/main" xmlns:r="http://schemas.openxmlformats.org/officeDocument/2006/relationships" xmlns:p="http://schemas.openxmlformats.org/presentationml/2006/main" showMasterSp="0" preserve="1" userDrawn="1">
  <p:cSld name="D. Green left arrow">
    <p:bg>
      <p:bgPr>
        <a:solidFill>
          <a:schemeClr val="bg1"/>
        </a:solidFill>
        <a:effectLst/>
      </p:bgPr>
    </p:bg>
    <p:spTree>
      <p:nvGrpSpPr>
        <p:cNvPr id="1" name=""/>
        <p:cNvGrpSpPr/>
        <p:nvPr/>
      </p:nvGrpSpPr>
      <p:grpSpPr>
        <a:xfrm>
          <a:off x="0" y="0"/>
          <a:ext cx="0" cy="0"/>
          <a:chOff x="0" y="0"/>
          <a:chExt cx="0" cy="0"/>
        </a:xfrm>
      </p:grpSpPr>
      <p:sp>
        <p:nvSpPr>
          <p:cNvPr id="10" name="Freeform 14"/>
          <p:cNvSpPr/>
          <p:nvPr userDrawn="1"/>
        </p:nvSpPr>
        <p:spPr bwMode="ltGray">
          <a:xfrm>
            <a:off x="1524" y="1310"/>
            <a:ext cx="4088312" cy="6858000"/>
          </a:xfrm>
          <a:custGeom>
            <a:avLst/>
            <a:gdLst>
              <a:gd name="connsiteX0" fmla="*/ 0 w 4088312"/>
              <a:gd name="connsiteY0" fmla="*/ 0 h 6858000"/>
              <a:gd name="connsiteX1" fmla="*/ 3264933 w 4088312"/>
              <a:gd name="connsiteY1" fmla="*/ 0 h 6858000"/>
              <a:gd name="connsiteX2" fmla="*/ 4088312 w 4088312"/>
              <a:gd name="connsiteY2" fmla="*/ 3429000 h 6858000"/>
              <a:gd name="connsiteX3" fmla="*/ 3264933 w 4088312"/>
              <a:gd name="connsiteY3" fmla="*/ 6858000 h 6858000"/>
              <a:gd name="connsiteX4" fmla="*/ 0 w 4088312"/>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8312" h="6858000">
                <a:moveTo>
                  <a:pt x="0" y="0"/>
                </a:moveTo>
                <a:lnTo>
                  <a:pt x="3264933" y="0"/>
                </a:lnTo>
                <a:lnTo>
                  <a:pt x="4088312" y="3429000"/>
                </a:lnTo>
                <a:lnTo>
                  <a:pt x="3264933" y="6858000"/>
                </a:lnTo>
                <a:lnTo>
                  <a:pt x="0" y="6858000"/>
                </a:lnTo>
                <a:close/>
              </a:path>
            </a:pathLst>
          </a:custGeom>
          <a:gradFill>
            <a:gsLst>
              <a:gs pos="0">
                <a:schemeClr val="tx2"/>
              </a:gs>
              <a:gs pos="100000">
                <a:schemeClr val="accent2"/>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p>
            <a:pPr>
              <a:lnSpc>
                <a:spcPct val="90000"/>
              </a:lnSpc>
              <a:spcAft>
                <a:spcPts val="1000"/>
              </a:spcAft>
            </a:pPr>
            <a:endParaRPr lang="en-US" sz="1200">
              <a:solidFill>
                <a:prstClr val="white"/>
              </a:solidFill>
              <a:latin typeface="+mn-lt"/>
              <a:sym typeface="Trebuchet MS" panose="020B0603020202020204" pitchFamily="34" charset="0"/>
            </a:endParaRPr>
          </a:p>
        </p:txBody>
      </p:sp>
      <p:sp>
        <p:nvSpPr>
          <p:cNvPr id="5" name="Title 4"/>
          <p:cNvSpPr>
            <a:spLocks noGrp="1"/>
          </p:cNvSpPr>
          <p:nvPr>
            <p:ph type="title" hasCustomPrompt="1"/>
          </p:nvPr>
        </p:nvSpPr>
        <p:spPr>
          <a:xfrm>
            <a:off x="630000" y="2764203"/>
            <a:ext cx="2478638" cy="1314311"/>
          </a:xfrm>
        </p:spPr>
        <p:txBody>
          <a:bodyPr anchor="ctr" anchorCtr="0">
            <a:noAutofit/>
          </a:bodyPr>
          <a:lstStyle>
            <a:lvl1pPr>
              <a:defRPr>
                <a:solidFill>
                  <a:srgbClr val="FFFFFF"/>
                </a:solidFill>
                <a:latin typeface="+mj-lt"/>
              </a:defRPr>
            </a:lvl1pPr>
          </a:lstStyle>
          <a:p>
            <a:r>
              <a:rPr lang="en-US"/>
              <a:t>Click to add title</a:t>
            </a:r>
          </a:p>
        </p:txBody>
      </p:sp>
      <p:sp>
        <p:nvSpPr>
          <p:cNvPr id="15" name="Date Placeholder 3"/>
          <p:cNvSpPr>
            <a:spLocks noGrp="1"/>
          </p:cNvSpPr>
          <p:nvPr>
            <p:ph type="dt" sz="half" idx="2"/>
          </p:nvPr>
        </p:nvSpPr>
        <p:spPr>
          <a:xfrm>
            <a:off x="9677400" y="6405036"/>
            <a:ext cx="1482051" cy="153888"/>
          </a:xfrm>
          <a:prstGeom prst="rect">
            <a:avLst/>
          </a:prstGeom>
        </p:spPr>
        <p:txBody>
          <a:bodyPr vert="horz" wrap="square" lIns="0" tIns="0" rIns="0" bIns="0" rtlCol="0" anchor="b">
            <a:spAutoFit/>
          </a:bodyPr>
          <a:lstStyle>
            <a:lvl1pPr algn="r">
              <a:defRPr sz="1000">
                <a:solidFill>
                  <a:schemeClr val="bg1">
                    <a:lumMod val="50000"/>
                  </a:schemeClr>
                </a:solidFill>
                <a:latin typeface="+mn-lt"/>
                <a:sym typeface="Trebuchet MS" panose="020B0603020202020204" pitchFamily="34" charset="0"/>
              </a:defRPr>
            </a:lvl1pPr>
          </a:lstStyle>
          <a:p>
            <a:endParaRPr lang="en-US"/>
          </a:p>
        </p:txBody>
      </p:sp>
      <p:sp>
        <p:nvSpPr>
          <p:cNvPr id="16" name="TextBox 15"/>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lumMod val="50000"/>
                  </a:schemeClr>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lumMod val="50000"/>
                </a:schemeClr>
              </a:solidFill>
              <a:latin typeface="+mn-lt"/>
              <a:ea typeface="+mn-ea"/>
              <a:cs typeface="+mn-cs"/>
              <a:sym typeface="Trebuchet MS" panose="020B0603020202020204" pitchFamily="34" charset="0"/>
            </a:endParaRPr>
          </a:p>
        </p:txBody>
      </p:sp>
      <p:sp>
        <p:nvSpPr>
          <p:cNvPr id="17"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2022 by Boston Consulting Group. All rights reserved.</a:t>
            </a:r>
          </a:p>
        </p:txBody>
      </p:sp>
      <p:pic>
        <p:nvPicPr>
          <p:cNvPr id="9" name="Picture 8"/>
          <p:cNvPicPr>
            <a:picLocks noChangeAspect="1"/>
          </p:cNvPicPr>
          <p:nvPr userDrawn="1"/>
        </p:nvPicPr>
        <p:blipFill rotWithShape="1">
          <a:blip r:embed="rId2">
            <a:extLst>
              <a:ext uri="{28A0092B-C50C-407E-A947-70E740481C1C}">
                <a14:useLocalDpi xmlns:a14="http://schemas.microsoft.com/office/drawing/2010/main" val="0"/>
              </a:ext>
            </a:extLst>
          </a:blip>
          <a:srcRect t="6216" b="7716"/>
          <a:stretch/>
        </p:blipFill>
        <p:spPr>
          <a:xfrm rot="120000">
            <a:off x="2174642" y="3402828"/>
            <a:ext cx="2694666" cy="3461745"/>
          </a:xfrm>
          <a:custGeom>
            <a:avLst/>
            <a:gdLst>
              <a:gd name="connsiteX0" fmla="*/ 0 w 2694666"/>
              <a:gd name="connsiteY0" fmla="*/ 0 h 3461745"/>
              <a:gd name="connsiteX1" fmla="*/ 2694666 w 2694666"/>
              <a:gd name="connsiteY1" fmla="*/ 0 h 3461745"/>
              <a:gd name="connsiteX2" fmla="*/ 2694666 w 2694666"/>
              <a:gd name="connsiteY2" fmla="*/ 3461745 h 3461745"/>
              <a:gd name="connsiteX3" fmla="*/ 1325678 w 2694666"/>
              <a:gd name="connsiteY3" fmla="*/ 3461745 h 3461745"/>
              <a:gd name="connsiteX4" fmla="*/ 1671729 w 2694666"/>
              <a:gd name="connsiteY4" fmla="*/ 3449661 h 3461745"/>
              <a:gd name="connsiteX5" fmla="*/ 1894583 w 2694666"/>
              <a:gd name="connsiteY5" fmla="*/ 6023 h 3461745"/>
              <a:gd name="connsiteX6" fmla="*/ 1847153 w 2694666"/>
              <a:gd name="connsiteY6" fmla="*/ 12445 h 3461745"/>
              <a:gd name="connsiteX7" fmla="*/ 1149427 w 2694666"/>
              <a:gd name="connsiteY7" fmla="*/ 3461745 h 3461745"/>
              <a:gd name="connsiteX8" fmla="*/ 0 w 2694666"/>
              <a:gd name="connsiteY8" fmla="*/ 3461745 h 3461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94666" h="3461745">
                <a:moveTo>
                  <a:pt x="0" y="0"/>
                </a:moveTo>
                <a:lnTo>
                  <a:pt x="2694666" y="0"/>
                </a:lnTo>
                <a:lnTo>
                  <a:pt x="2694666" y="3461745"/>
                </a:lnTo>
                <a:lnTo>
                  <a:pt x="1325678" y="3461745"/>
                </a:lnTo>
                <a:lnTo>
                  <a:pt x="1671729" y="3449661"/>
                </a:lnTo>
                <a:lnTo>
                  <a:pt x="1894583" y="6023"/>
                </a:lnTo>
                <a:lnTo>
                  <a:pt x="1847153" y="12445"/>
                </a:lnTo>
                <a:lnTo>
                  <a:pt x="1149427" y="3461745"/>
                </a:lnTo>
                <a:lnTo>
                  <a:pt x="0" y="3461745"/>
                </a:lnTo>
                <a:close/>
              </a:path>
            </a:pathLst>
          </a:custGeom>
        </p:spPr>
      </p:pic>
    </p:spTree>
    <p:extLst>
      <p:ext uri="{BB962C8B-B14F-4D97-AF65-F5344CB8AC3E}">
        <p14:creationId xmlns:p14="http://schemas.microsoft.com/office/powerpoint/2010/main" val="27974393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20.xml><?xml version="1.0" encoding="utf-8"?>
<p:sldLayout xmlns:a="http://schemas.openxmlformats.org/drawingml/2006/main" xmlns:r="http://schemas.openxmlformats.org/officeDocument/2006/relationships" xmlns:p="http://schemas.openxmlformats.org/presentationml/2006/main" showMasterSp="0" preserve="1" userDrawn="1">
  <p:cSld name="D. Arrow one third">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sp>
        <p:nvSpPr>
          <p:cNvPr id="9" name="TextBox 8"/>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800" kern="1200">
              <a:solidFill>
                <a:schemeClr val="bg1"/>
              </a:solidFill>
              <a:latin typeface="+mn-lt"/>
              <a:ea typeface="+mn-ea"/>
              <a:cs typeface="+mn-cs"/>
              <a:sym typeface="Trebuchet MS" panose="020B0603020202020204" pitchFamily="34" charset="0"/>
            </a:endParaRPr>
          </a:p>
        </p:txBody>
      </p:sp>
      <p:sp>
        <p:nvSpPr>
          <p:cNvPr id="10" name="Date Placeholder 7"/>
          <p:cNvSpPr>
            <a:spLocks noGrp="1"/>
          </p:cNvSpPr>
          <p:nvPr>
            <p:ph type="dt" sz="half" idx="11"/>
          </p:nvPr>
        </p:nvSpPr>
        <p:spPr>
          <a:xfrm>
            <a:off x="9677400" y="6405036"/>
            <a:ext cx="1482051" cy="153888"/>
          </a:xfrm>
          <a:prstGeom prst="rect">
            <a:avLst/>
          </a:prstGeom>
        </p:spPr>
        <p:txBody>
          <a:bodyPr/>
          <a:lstStyle>
            <a:lvl1pPr>
              <a:defRPr>
                <a:solidFill>
                  <a:schemeClr val="bg1"/>
                </a:solidFill>
                <a:latin typeface="+mn-lt"/>
                <a:sym typeface="Trebuchet MS" panose="020B0603020202020204" pitchFamily="34" charset="0"/>
              </a:defRPr>
            </a:lvl1pPr>
          </a:lstStyle>
          <a:p>
            <a:endParaRPr lang="en-US"/>
          </a:p>
        </p:txBody>
      </p:sp>
      <p:sp>
        <p:nvSpPr>
          <p:cNvPr id="17"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2022 by Boston Consulting Group. All rights reserved.</a:t>
            </a:r>
          </a:p>
        </p:txBody>
      </p:sp>
      <p:sp>
        <p:nvSpPr>
          <p:cNvPr id="19" name="Pentagon 3"/>
          <p:cNvSpPr/>
          <p:nvPr userDrawn="1"/>
        </p:nvSpPr>
        <p:spPr bwMode="white">
          <a:xfrm>
            <a:off x="1" y="0"/>
            <a:ext cx="5426920" cy="6858000"/>
          </a:xfrm>
          <a:prstGeom prst="homePlate">
            <a:avLst>
              <a:gd name="adj" fmla="val 1293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90000"/>
              </a:lnSpc>
              <a:spcAft>
                <a:spcPts val="1000"/>
              </a:spcAft>
            </a:pPr>
            <a:endParaRPr lang="en-US" sz="1200">
              <a:solidFill>
                <a:prstClr val="white"/>
              </a:solidFill>
              <a:latin typeface="+mn-lt"/>
              <a:sym typeface="Trebuchet MS" panose="020B0603020202020204" pitchFamily="34" charset="0"/>
            </a:endParaRPr>
          </a:p>
        </p:txBody>
      </p:sp>
      <p:sp>
        <p:nvSpPr>
          <p:cNvPr id="20" name="Title 1"/>
          <p:cNvSpPr>
            <a:spLocks noGrp="1"/>
          </p:cNvSpPr>
          <p:nvPr>
            <p:ph type="title" hasCustomPrompt="1"/>
          </p:nvPr>
        </p:nvSpPr>
        <p:spPr>
          <a:xfrm>
            <a:off x="630000" y="1785600"/>
            <a:ext cx="4062235" cy="3286800"/>
          </a:xfrm>
          <a:prstGeom prst="rect">
            <a:avLst/>
          </a:prstGeom>
        </p:spPr>
        <p:txBody>
          <a:bodyPr anchor="ctr">
            <a:noAutofit/>
          </a:bodyPr>
          <a:lstStyle>
            <a:lvl1pPr>
              <a:defRPr sz="4400" b="0">
                <a:solidFill>
                  <a:schemeClr val="tx2"/>
                </a:solidFill>
                <a:latin typeface="+mj-lt"/>
                <a:sym typeface="Trebuchet MS" panose="020B0603020202020204" pitchFamily="34" charset="0"/>
              </a:defRPr>
            </a:lvl1pPr>
          </a:lstStyle>
          <a:p>
            <a:r>
              <a:rPr lang="en-US"/>
              <a:t>Click to add title</a:t>
            </a:r>
          </a:p>
        </p:txBody>
      </p:sp>
      <p:pic>
        <p:nvPicPr>
          <p:cNvPr id="11" name="Picture 10"/>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4581525" y="3394392"/>
            <a:ext cx="1298575" cy="3571875"/>
          </a:xfrm>
          <a:custGeom>
            <a:avLst/>
            <a:gdLst>
              <a:gd name="connsiteX0" fmla="*/ 0 w 1298575"/>
              <a:gd name="connsiteY0" fmla="*/ 0 h 3571875"/>
              <a:gd name="connsiteX1" fmla="*/ 1298575 w 1298575"/>
              <a:gd name="connsiteY1" fmla="*/ 0 h 3571875"/>
              <a:gd name="connsiteX2" fmla="*/ 1298575 w 1298575"/>
              <a:gd name="connsiteY2" fmla="*/ 3571875 h 3571875"/>
              <a:gd name="connsiteX3" fmla="*/ 0 w 1298575"/>
              <a:gd name="connsiteY3" fmla="*/ 3571875 h 3571875"/>
              <a:gd name="connsiteX4" fmla="*/ 0 w 1298575"/>
              <a:gd name="connsiteY4" fmla="*/ 3465683 h 3571875"/>
              <a:gd name="connsiteX5" fmla="*/ 139700 w 1298575"/>
              <a:gd name="connsiteY5" fmla="*/ 3466783 h 3571875"/>
              <a:gd name="connsiteX6" fmla="*/ 841375 w 1298575"/>
              <a:gd name="connsiteY6" fmla="*/ 21908 h 3571875"/>
              <a:gd name="connsiteX7" fmla="*/ 0 w 1298575"/>
              <a:gd name="connsiteY7" fmla="*/ 2642743 h 3571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8575" h="3571875">
                <a:moveTo>
                  <a:pt x="0" y="0"/>
                </a:moveTo>
                <a:lnTo>
                  <a:pt x="1298575" y="0"/>
                </a:lnTo>
                <a:lnTo>
                  <a:pt x="1298575" y="3571875"/>
                </a:lnTo>
                <a:lnTo>
                  <a:pt x="0" y="3571875"/>
                </a:lnTo>
                <a:lnTo>
                  <a:pt x="0" y="3465683"/>
                </a:lnTo>
                <a:lnTo>
                  <a:pt x="139700" y="3466783"/>
                </a:lnTo>
                <a:lnTo>
                  <a:pt x="841375" y="21908"/>
                </a:lnTo>
                <a:lnTo>
                  <a:pt x="0" y="2642743"/>
                </a:lnTo>
                <a:close/>
              </a:path>
            </a:pathLst>
          </a:cu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3158071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21.xml><?xml version="1.0" encoding="utf-8"?>
<p:sldLayout xmlns:a="http://schemas.openxmlformats.org/drawingml/2006/main" xmlns:r="http://schemas.openxmlformats.org/officeDocument/2006/relationships" xmlns:p="http://schemas.openxmlformats.org/presentationml/2006/main" showMasterSp="0" preserve="1" userDrawn="1">
  <p:cSld name="D. Green arrow one third">
    <p:bg>
      <p:bgPr>
        <a:solidFill>
          <a:schemeClr val="bg1"/>
        </a:solidFill>
        <a:effectLst/>
      </p:bgPr>
    </p:bg>
    <p:spTree>
      <p:nvGrpSpPr>
        <p:cNvPr id="1" name=""/>
        <p:cNvGrpSpPr/>
        <p:nvPr/>
      </p:nvGrpSpPr>
      <p:grpSpPr>
        <a:xfrm>
          <a:off x="0" y="0"/>
          <a:ext cx="0" cy="0"/>
          <a:chOff x="0" y="0"/>
          <a:chExt cx="0" cy="0"/>
        </a:xfrm>
      </p:grpSpPr>
      <p:sp>
        <p:nvSpPr>
          <p:cNvPr id="19" name="Pentagon 3"/>
          <p:cNvSpPr/>
          <p:nvPr userDrawn="1"/>
        </p:nvSpPr>
        <p:spPr bwMode="white">
          <a:xfrm>
            <a:off x="1" y="0"/>
            <a:ext cx="5426920" cy="6858000"/>
          </a:xfrm>
          <a:prstGeom prst="homePlate">
            <a:avLst>
              <a:gd name="adj" fmla="val 12939"/>
            </a:avLst>
          </a:prstGeom>
          <a:gradFill>
            <a:gsLst>
              <a:gs pos="0">
                <a:schemeClr val="tx2"/>
              </a:gs>
              <a:gs pos="100000">
                <a:schemeClr val="accent2"/>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90000"/>
              </a:lnSpc>
              <a:spcAft>
                <a:spcPts val="1000"/>
              </a:spcAft>
            </a:pPr>
            <a:endParaRPr lang="en-US" sz="1200">
              <a:solidFill>
                <a:prstClr val="white"/>
              </a:solidFill>
              <a:latin typeface="+mn-lt"/>
              <a:sym typeface="Trebuchet MS" panose="020B0603020202020204" pitchFamily="34" charset="0"/>
            </a:endParaRPr>
          </a:p>
        </p:txBody>
      </p:sp>
      <p:sp>
        <p:nvSpPr>
          <p:cNvPr id="20" name="Title 1"/>
          <p:cNvSpPr>
            <a:spLocks noGrp="1"/>
          </p:cNvSpPr>
          <p:nvPr>
            <p:ph type="title" hasCustomPrompt="1"/>
          </p:nvPr>
        </p:nvSpPr>
        <p:spPr>
          <a:xfrm>
            <a:off x="630000" y="1785600"/>
            <a:ext cx="4062235" cy="3286800"/>
          </a:xfrm>
          <a:prstGeom prst="rect">
            <a:avLst/>
          </a:prstGeom>
        </p:spPr>
        <p:txBody>
          <a:bodyPr anchor="ctr">
            <a:noAutofit/>
          </a:bodyPr>
          <a:lstStyle>
            <a:lvl1pPr>
              <a:defRPr sz="4400" b="0">
                <a:solidFill>
                  <a:srgbClr val="FFFFFF"/>
                </a:solidFill>
                <a:latin typeface="+mj-lt"/>
                <a:sym typeface="Trebuchet MS" panose="020B0603020202020204" pitchFamily="34" charset="0"/>
              </a:defRPr>
            </a:lvl1pPr>
          </a:lstStyle>
          <a:p>
            <a:r>
              <a:rPr lang="en-US"/>
              <a:t>Click to add title</a:t>
            </a:r>
          </a:p>
        </p:txBody>
      </p:sp>
      <p:sp>
        <p:nvSpPr>
          <p:cNvPr id="13" name="Date Placeholder 3"/>
          <p:cNvSpPr>
            <a:spLocks noGrp="1"/>
          </p:cNvSpPr>
          <p:nvPr>
            <p:ph type="dt" sz="half" idx="2"/>
          </p:nvPr>
        </p:nvSpPr>
        <p:spPr>
          <a:xfrm>
            <a:off x="9677400" y="6405036"/>
            <a:ext cx="1482051" cy="153888"/>
          </a:xfrm>
          <a:prstGeom prst="rect">
            <a:avLst/>
          </a:prstGeom>
        </p:spPr>
        <p:txBody>
          <a:bodyPr vert="horz" wrap="square" lIns="0" tIns="0" rIns="0" bIns="0" rtlCol="0" anchor="b">
            <a:spAutoFit/>
          </a:bodyPr>
          <a:lstStyle>
            <a:lvl1pPr algn="r">
              <a:defRPr sz="1000">
                <a:solidFill>
                  <a:schemeClr val="bg1">
                    <a:lumMod val="50000"/>
                  </a:schemeClr>
                </a:solidFill>
                <a:latin typeface="+mn-lt"/>
                <a:sym typeface="Trebuchet MS" panose="020B0603020202020204" pitchFamily="34" charset="0"/>
              </a:defRPr>
            </a:lvl1pPr>
          </a:lstStyle>
          <a:p>
            <a:endParaRPr lang="en-US"/>
          </a:p>
        </p:txBody>
      </p:sp>
      <p:sp>
        <p:nvSpPr>
          <p:cNvPr id="14" name="TextBox 13"/>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lumMod val="50000"/>
                  </a:schemeClr>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lumMod val="50000"/>
                </a:schemeClr>
              </a:solidFill>
              <a:latin typeface="+mn-lt"/>
              <a:ea typeface="+mn-ea"/>
              <a:cs typeface="+mn-cs"/>
              <a:sym typeface="Trebuchet MS" panose="020B0603020202020204" pitchFamily="34" charset="0"/>
            </a:endParaRPr>
          </a:p>
        </p:txBody>
      </p:sp>
      <p:sp>
        <p:nvSpPr>
          <p:cNvPr id="15"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2022 by Boston Consulting Group. All rights reserved.</a:t>
            </a:r>
          </a:p>
        </p:txBody>
      </p:sp>
      <p:pic>
        <p:nvPicPr>
          <p:cNvPr id="9" name="Picture 8"/>
          <p:cNvPicPr>
            <a:picLocks noChangeAspect="1"/>
          </p:cNvPicPr>
          <p:nvPr userDrawn="1"/>
        </p:nvPicPr>
        <p:blipFill rotWithShape="1">
          <a:blip r:embed="rId2">
            <a:extLst>
              <a:ext uri="{28A0092B-C50C-407E-A947-70E740481C1C}">
                <a14:useLocalDpi xmlns:a14="http://schemas.microsoft.com/office/drawing/2010/main" val="0"/>
              </a:ext>
            </a:extLst>
          </a:blip>
          <a:srcRect t="7562" b="6867"/>
          <a:stretch/>
        </p:blipFill>
        <p:spPr>
          <a:xfrm>
            <a:off x="3578059" y="3416300"/>
            <a:ext cx="2694666" cy="3441700"/>
          </a:xfrm>
          <a:custGeom>
            <a:avLst/>
            <a:gdLst>
              <a:gd name="connsiteX0" fmla="*/ 2040063 w 2694666"/>
              <a:gd name="connsiteY0" fmla="*/ 0 h 3441700"/>
              <a:gd name="connsiteX1" fmla="*/ 2694666 w 2694666"/>
              <a:gd name="connsiteY1" fmla="*/ 0 h 3441700"/>
              <a:gd name="connsiteX2" fmla="*/ 2694666 w 2694666"/>
              <a:gd name="connsiteY2" fmla="*/ 3441700 h 3441700"/>
              <a:gd name="connsiteX3" fmla="*/ 1510783 w 2694666"/>
              <a:gd name="connsiteY3" fmla="*/ 3441700 h 3441700"/>
              <a:gd name="connsiteX4" fmla="*/ 1816742 w 2694666"/>
              <a:gd name="connsiteY4" fmla="*/ 365420 h 3441700"/>
              <a:gd name="connsiteX5" fmla="*/ 2022641 w 2694666"/>
              <a:gd name="connsiteY5" fmla="*/ 379413 h 3441700"/>
              <a:gd name="connsiteX6" fmla="*/ 0 w 2694666"/>
              <a:gd name="connsiteY6" fmla="*/ 0 h 3441700"/>
              <a:gd name="connsiteX7" fmla="*/ 1846270 w 2694666"/>
              <a:gd name="connsiteY7" fmla="*/ 0 h 3441700"/>
              <a:gd name="connsiteX8" fmla="*/ 1848810 w 2694666"/>
              <a:gd name="connsiteY8" fmla="*/ 12700 h 3441700"/>
              <a:gd name="connsiteX9" fmla="*/ 1777372 w 2694666"/>
              <a:gd name="connsiteY9" fmla="*/ 362744 h 3441700"/>
              <a:gd name="connsiteX10" fmla="*/ 1780172 w 2694666"/>
              <a:gd name="connsiteY10" fmla="*/ 362934 h 3441700"/>
              <a:gd name="connsiteX11" fmla="*/ 1144340 w 2694666"/>
              <a:gd name="connsiteY11" fmla="*/ 3441700 h 3441700"/>
              <a:gd name="connsiteX12" fmla="*/ 0 w 2694666"/>
              <a:gd name="connsiteY12" fmla="*/ 3441700 h 344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94666" h="3441700">
                <a:moveTo>
                  <a:pt x="2040063" y="0"/>
                </a:moveTo>
                <a:lnTo>
                  <a:pt x="2694666" y="0"/>
                </a:lnTo>
                <a:lnTo>
                  <a:pt x="2694666" y="3441700"/>
                </a:lnTo>
                <a:lnTo>
                  <a:pt x="1510783" y="3441700"/>
                </a:lnTo>
                <a:lnTo>
                  <a:pt x="1816742" y="365420"/>
                </a:lnTo>
                <a:lnTo>
                  <a:pt x="2022641" y="379413"/>
                </a:lnTo>
                <a:close/>
                <a:moveTo>
                  <a:pt x="0" y="0"/>
                </a:moveTo>
                <a:lnTo>
                  <a:pt x="1846270" y="0"/>
                </a:lnTo>
                <a:lnTo>
                  <a:pt x="1848810" y="12700"/>
                </a:lnTo>
                <a:lnTo>
                  <a:pt x="1777372" y="362744"/>
                </a:lnTo>
                <a:lnTo>
                  <a:pt x="1780172" y="362934"/>
                </a:lnTo>
                <a:lnTo>
                  <a:pt x="1144340" y="3441700"/>
                </a:lnTo>
                <a:lnTo>
                  <a:pt x="0" y="3441700"/>
                </a:lnTo>
                <a:close/>
              </a:path>
            </a:pathLst>
          </a:custGeom>
        </p:spPr>
      </p:pic>
    </p:spTree>
    <p:extLst>
      <p:ext uri="{BB962C8B-B14F-4D97-AF65-F5344CB8AC3E}">
        <p14:creationId xmlns:p14="http://schemas.microsoft.com/office/powerpoint/2010/main" val="95999319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22.xml><?xml version="1.0" encoding="utf-8"?>
<p:sldLayout xmlns:a="http://schemas.openxmlformats.org/drawingml/2006/main" xmlns:r="http://schemas.openxmlformats.org/officeDocument/2006/relationships" xmlns:p="http://schemas.openxmlformats.org/presentationml/2006/main" showMasterSp="0" preserve="1" userDrawn="1">
  <p:cSld name="D. Arrow half">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sp>
        <p:nvSpPr>
          <p:cNvPr id="9" name="Pentagon 8"/>
          <p:cNvSpPr/>
          <p:nvPr/>
        </p:nvSpPr>
        <p:spPr bwMode="white">
          <a:xfrm>
            <a:off x="0" y="0"/>
            <a:ext cx="6363546" cy="6858000"/>
          </a:xfrm>
          <a:prstGeom prst="homePlate">
            <a:avLst>
              <a:gd name="adj" fmla="val 1293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90000"/>
              </a:lnSpc>
              <a:spcAft>
                <a:spcPts val="1000"/>
              </a:spcAft>
            </a:pPr>
            <a:endParaRPr lang="en-US" sz="1200">
              <a:solidFill>
                <a:prstClr val="white"/>
              </a:solidFill>
              <a:latin typeface="+mn-lt"/>
              <a:sym typeface="Trebuchet MS" panose="020B0603020202020204" pitchFamily="34" charset="0"/>
            </a:endParaRPr>
          </a:p>
        </p:txBody>
      </p:sp>
      <p:sp>
        <p:nvSpPr>
          <p:cNvPr id="3" name="Title 2"/>
          <p:cNvSpPr>
            <a:spLocks noGrp="1"/>
          </p:cNvSpPr>
          <p:nvPr>
            <p:ph type="title" hasCustomPrompt="1"/>
          </p:nvPr>
        </p:nvSpPr>
        <p:spPr>
          <a:xfrm>
            <a:off x="630000" y="622800"/>
            <a:ext cx="4747822" cy="332399"/>
          </a:xfrm>
          <a:prstGeom prst="rect">
            <a:avLst/>
          </a:prstGeom>
        </p:spPr>
        <p:txBody>
          <a:bodyPr/>
          <a:lstStyle>
            <a:lvl1pPr>
              <a:defRPr>
                <a:latin typeface="+mj-lt"/>
                <a:sym typeface="Trebuchet MS" panose="020B0603020202020204" pitchFamily="34" charset="0"/>
              </a:defRPr>
            </a:lvl1pPr>
          </a:lstStyle>
          <a:p>
            <a:r>
              <a:rPr lang="en-US"/>
              <a:t>Click to add title</a:t>
            </a:r>
          </a:p>
        </p:txBody>
      </p:sp>
      <p:sp>
        <p:nvSpPr>
          <p:cNvPr id="13" name="Date Placeholder 4"/>
          <p:cNvSpPr>
            <a:spLocks noGrp="1"/>
          </p:cNvSpPr>
          <p:nvPr>
            <p:ph type="dt" sz="half" idx="10"/>
          </p:nvPr>
        </p:nvSpPr>
        <p:spPr>
          <a:xfrm>
            <a:off x="9677400" y="6405036"/>
            <a:ext cx="1482051" cy="153888"/>
          </a:xfrm>
        </p:spPr>
        <p:txBody>
          <a:bodyPr/>
          <a:lstStyle>
            <a:lvl1pPr>
              <a:defRPr>
                <a:solidFill>
                  <a:schemeClr val="bg1"/>
                </a:solidFill>
                <a:latin typeface="+mn-lt"/>
                <a:sym typeface="Trebuchet MS" panose="020B0603020202020204" pitchFamily="34" charset="0"/>
              </a:defRPr>
            </a:lvl1pPr>
          </a:lstStyle>
          <a:p>
            <a:endParaRPr lang="en-US"/>
          </a:p>
        </p:txBody>
      </p:sp>
      <p:sp>
        <p:nvSpPr>
          <p:cNvPr id="18"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2022 by Boston Consulting Group. All rights reserved.</a:t>
            </a:r>
          </a:p>
        </p:txBody>
      </p:sp>
      <p:sp>
        <p:nvSpPr>
          <p:cNvPr id="16" name="TextBox 15"/>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pic>
        <p:nvPicPr>
          <p:cNvPr id="10" name="Picture 9"/>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5397806" y="3589606"/>
            <a:ext cx="1365250" cy="3382962"/>
          </a:xfrm>
          <a:custGeom>
            <a:avLst/>
            <a:gdLst>
              <a:gd name="connsiteX0" fmla="*/ 920598 w 1365250"/>
              <a:gd name="connsiteY0" fmla="*/ 0 h 3382962"/>
              <a:gd name="connsiteX1" fmla="*/ 1365250 w 1365250"/>
              <a:gd name="connsiteY1" fmla="*/ 0 h 3382962"/>
              <a:gd name="connsiteX2" fmla="*/ 1365250 w 1365250"/>
              <a:gd name="connsiteY2" fmla="*/ 3382962 h 3382962"/>
              <a:gd name="connsiteX3" fmla="*/ 0 w 1365250"/>
              <a:gd name="connsiteY3" fmla="*/ 3382962 h 3382962"/>
              <a:gd name="connsiteX4" fmla="*/ 0 w 1365250"/>
              <a:gd name="connsiteY4" fmla="*/ 3320782 h 3382962"/>
              <a:gd name="connsiteX5" fmla="*/ 126694 w 1365250"/>
              <a:gd name="connsiteY5" fmla="*/ 3320782 h 3382962"/>
              <a:gd name="connsiteX6" fmla="*/ 0 w 1365250"/>
              <a:gd name="connsiteY6" fmla="*/ 0 h 3382962"/>
              <a:gd name="connsiteX7" fmla="*/ 908172 w 1365250"/>
              <a:gd name="connsiteY7" fmla="*/ 0 h 3382962"/>
              <a:gd name="connsiteX8" fmla="*/ 0 w 1365250"/>
              <a:gd name="connsiteY8" fmla="*/ 2890357 h 3382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65250" h="3382962">
                <a:moveTo>
                  <a:pt x="920598" y="0"/>
                </a:moveTo>
                <a:lnTo>
                  <a:pt x="1365250" y="0"/>
                </a:lnTo>
                <a:lnTo>
                  <a:pt x="1365250" y="3382962"/>
                </a:lnTo>
                <a:lnTo>
                  <a:pt x="0" y="3382962"/>
                </a:lnTo>
                <a:lnTo>
                  <a:pt x="0" y="3320782"/>
                </a:lnTo>
                <a:lnTo>
                  <a:pt x="126694" y="3320782"/>
                </a:lnTo>
                <a:close/>
                <a:moveTo>
                  <a:pt x="0" y="0"/>
                </a:moveTo>
                <a:lnTo>
                  <a:pt x="908172" y="0"/>
                </a:lnTo>
                <a:lnTo>
                  <a:pt x="0" y="2890357"/>
                </a:lnTo>
                <a:close/>
              </a:path>
            </a:pathLst>
          </a:cu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5960509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23.xml><?xml version="1.0" encoding="utf-8"?>
<p:sldLayout xmlns:a="http://schemas.openxmlformats.org/drawingml/2006/main" xmlns:r="http://schemas.openxmlformats.org/officeDocument/2006/relationships" xmlns:p="http://schemas.openxmlformats.org/presentationml/2006/main" showMasterSp="0" preserve="1" userDrawn="1">
  <p:cSld name="D. Green arrow half">
    <p:bg>
      <p:bgPr>
        <a:solidFill>
          <a:schemeClr val="bg1"/>
        </a:solidFill>
        <a:effectLst/>
      </p:bgPr>
    </p:bg>
    <p:spTree>
      <p:nvGrpSpPr>
        <p:cNvPr id="1" name=""/>
        <p:cNvGrpSpPr/>
        <p:nvPr/>
      </p:nvGrpSpPr>
      <p:grpSpPr>
        <a:xfrm>
          <a:off x="0" y="0"/>
          <a:ext cx="0" cy="0"/>
          <a:chOff x="0" y="0"/>
          <a:chExt cx="0" cy="0"/>
        </a:xfrm>
      </p:grpSpPr>
      <p:sp>
        <p:nvSpPr>
          <p:cNvPr id="9" name="Pentagon 8"/>
          <p:cNvSpPr/>
          <p:nvPr/>
        </p:nvSpPr>
        <p:spPr bwMode="white">
          <a:xfrm>
            <a:off x="0" y="0"/>
            <a:ext cx="6363546" cy="6858000"/>
          </a:xfrm>
          <a:prstGeom prst="homePlate">
            <a:avLst>
              <a:gd name="adj" fmla="val 12939"/>
            </a:avLst>
          </a:prstGeom>
          <a:gradFill>
            <a:gsLst>
              <a:gs pos="0">
                <a:schemeClr val="tx2"/>
              </a:gs>
              <a:gs pos="100000">
                <a:schemeClr val="accent2"/>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90000"/>
              </a:lnSpc>
              <a:spcAft>
                <a:spcPts val="1000"/>
              </a:spcAft>
            </a:pPr>
            <a:endParaRPr lang="en-US" sz="1200">
              <a:solidFill>
                <a:prstClr val="white"/>
              </a:solidFill>
              <a:latin typeface="+mn-lt"/>
              <a:sym typeface="Trebuchet MS" panose="020B0603020202020204" pitchFamily="34" charset="0"/>
            </a:endParaRPr>
          </a:p>
        </p:txBody>
      </p:sp>
      <p:sp>
        <p:nvSpPr>
          <p:cNvPr id="3" name="Title 2"/>
          <p:cNvSpPr>
            <a:spLocks noGrp="1"/>
          </p:cNvSpPr>
          <p:nvPr>
            <p:ph type="title" hasCustomPrompt="1"/>
          </p:nvPr>
        </p:nvSpPr>
        <p:spPr>
          <a:xfrm>
            <a:off x="630000" y="622800"/>
            <a:ext cx="4747822" cy="332399"/>
          </a:xfrm>
          <a:prstGeom prst="rect">
            <a:avLst/>
          </a:prstGeom>
        </p:spPr>
        <p:txBody>
          <a:bodyPr/>
          <a:lstStyle>
            <a:lvl1pPr>
              <a:defRPr>
                <a:solidFill>
                  <a:srgbClr val="FFFFFF"/>
                </a:solidFill>
                <a:latin typeface="+mj-lt"/>
                <a:sym typeface="Trebuchet MS" panose="020B0603020202020204" pitchFamily="34" charset="0"/>
              </a:defRPr>
            </a:lvl1pPr>
          </a:lstStyle>
          <a:p>
            <a:r>
              <a:rPr lang="en-US"/>
              <a:t>Click to add title</a:t>
            </a:r>
          </a:p>
        </p:txBody>
      </p:sp>
      <p:sp>
        <p:nvSpPr>
          <p:cNvPr id="11" name="Date Placeholder 3"/>
          <p:cNvSpPr>
            <a:spLocks noGrp="1"/>
          </p:cNvSpPr>
          <p:nvPr>
            <p:ph type="dt" sz="half" idx="2"/>
          </p:nvPr>
        </p:nvSpPr>
        <p:spPr>
          <a:xfrm>
            <a:off x="9677400" y="6405036"/>
            <a:ext cx="1482051" cy="153888"/>
          </a:xfrm>
          <a:prstGeom prst="rect">
            <a:avLst/>
          </a:prstGeom>
        </p:spPr>
        <p:txBody>
          <a:bodyPr vert="horz" wrap="square" lIns="0" tIns="0" rIns="0" bIns="0" rtlCol="0" anchor="b">
            <a:spAutoFit/>
          </a:bodyPr>
          <a:lstStyle>
            <a:lvl1pPr algn="r">
              <a:defRPr sz="1000">
                <a:solidFill>
                  <a:schemeClr val="bg1">
                    <a:lumMod val="50000"/>
                  </a:schemeClr>
                </a:solidFill>
                <a:latin typeface="+mn-lt"/>
                <a:sym typeface="Trebuchet MS" panose="020B0603020202020204" pitchFamily="34" charset="0"/>
              </a:defRPr>
            </a:lvl1pPr>
          </a:lstStyle>
          <a:p>
            <a:endParaRPr lang="en-US"/>
          </a:p>
        </p:txBody>
      </p:sp>
      <p:sp>
        <p:nvSpPr>
          <p:cNvPr id="14" name="TextBox 13"/>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lumMod val="50000"/>
                  </a:schemeClr>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lumMod val="50000"/>
                </a:schemeClr>
              </a:solidFill>
              <a:latin typeface="+mn-lt"/>
              <a:ea typeface="+mn-ea"/>
              <a:cs typeface="+mn-cs"/>
              <a:sym typeface="Trebuchet MS" panose="020B0603020202020204" pitchFamily="34" charset="0"/>
            </a:endParaRPr>
          </a:p>
        </p:txBody>
      </p:sp>
      <p:sp>
        <p:nvSpPr>
          <p:cNvPr id="15"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2022 by Boston Consulting Group. All rights reserved.</a:t>
            </a:r>
          </a:p>
        </p:txBody>
      </p:sp>
      <p:pic>
        <p:nvPicPr>
          <p:cNvPr id="10" name="Picture 9"/>
          <p:cNvPicPr>
            <a:picLocks noChangeAspect="1"/>
          </p:cNvPicPr>
          <p:nvPr userDrawn="1"/>
        </p:nvPicPr>
        <p:blipFill rotWithShape="1">
          <a:blip r:embed="rId2">
            <a:extLst>
              <a:ext uri="{28A0092B-C50C-407E-A947-70E740481C1C}">
                <a14:useLocalDpi xmlns:a14="http://schemas.microsoft.com/office/drawing/2010/main" val="0"/>
              </a:ext>
            </a:extLst>
          </a:blip>
          <a:srcRect t="9052" b="6867"/>
          <a:stretch/>
        </p:blipFill>
        <p:spPr>
          <a:xfrm rot="120000">
            <a:off x="4460172" y="3407803"/>
            <a:ext cx="2694666" cy="3456551"/>
          </a:xfrm>
          <a:custGeom>
            <a:avLst/>
            <a:gdLst>
              <a:gd name="connsiteX0" fmla="*/ 2136534 w 2694666"/>
              <a:gd name="connsiteY0" fmla="*/ 0 h 3456551"/>
              <a:gd name="connsiteX1" fmla="*/ 2694666 w 2694666"/>
              <a:gd name="connsiteY1" fmla="*/ 0 h 3456551"/>
              <a:gd name="connsiteX2" fmla="*/ 2694666 w 2694666"/>
              <a:gd name="connsiteY2" fmla="*/ 3456551 h 3456551"/>
              <a:gd name="connsiteX3" fmla="*/ 1957033 w 2694666"/>
              <a:gd name="connsiteY3" fmla="*/ 3456551 h 3456551"/>
              <a:gd name="connsiteX4" fmla="*/ 1856842 w 2694666"/>
              <a:gd name="connsiteY4" fmla="*/ 432620 h 3456551"/>
              <a:gd name="connsiteX5" fmla="*/ 1914577 w 2694666"/>
              <a:gd name="connsiteY5" fmla="*/ 426057 h 3456551"/>
              <a:gd name="connsiteX6" fmla="*/ 0 w 2694666"/>
              <a:gd name="connsiteY6" fmla="*/ 0 h 3456551"/>
              <a:gd name="connsiteX7" fmla="*/ 1841687 w 2694666"/>
              <a:gd name="connsiteY7" fmla="*/ 0 h 3456551"/>
              <a:gd name="connsiteX8" fmla="*/ 1142595 w 2694666"/>
              <a:gd name="connsiteY8" fmla="*/ 3456551 h 3456551"/>
              <a:gd name="connsiteX9" fmla="*/ 0 w 2694666"/>
              <a:gd name="connsiteY9" fmla="*/ 3456551 h 3456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4666" h="3456551">
                <a:moveTo>
                  <a:pt x="2136534" y="0"/>
                </a:moveTo>
                <a:lnTo>
                  <a:pt x="2694666" y="0"/>
                </a:lnTo>
                <a:lnTo>
                  <a:pt x="2694666" y="3456551"/>
                </a:lnTo>
                <a:lnTo>
                  <a:pt x="1957033" y="3456551"/>
                </a:lnTo>
                <a:lnTo>
                  <a:pt x="1856842" y="432620"/>
                </a:lnTo>
                <a:lnTo>
                  <a:pt x="1914577" y="426057"/>
                </a:lnTo>
                <a:close/>
                <a:moveTo>
                  <a:pt x="0" y="0"/>
                </a:moveTo>
                <a:lnTo>
                  <a:pt x="1841687" y="0"/>
                </a:lnTo>
                <a:lnTo>
                  <a:pt x="1142595" y="3456551"/>
                </a:lnTo>
                <a:lnTo>
                  <a:pt x="0" y="3456551"/>
                </a:lnTo>
                <a:close/>
              </a:path>
            </a:pathLst>
          </a:custGeom>
        </p:spPr>
      </p:pic>
    </p:spTree>
    <p:extLst>
      <p:ext uri="{BB962C8B-B14F-4D97-AF65-F5344CB8AC3E}">
        <p14:creationId xmlns:p14="http://schemas.microsoft.com/office/powerpoint/2010/main" val="204108451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24.xml><?xml version="1.0" encoding="utf-8"?>
<p:sldLayout xmlns:a="http://schemas.openxmlformats.org/drawingml/2006/main" xmlns:r="http://schemas.openxmlformats.org/officeDocument/2006/relationships" xmlns:p="http://schemas.openxmlformats.org/presentationml/2006/main" showMasterSp="0" preserve="1" userDrawn="1">
  <p:cSld name="D. Arrow two third">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sp>
        <p:nvSpPr>
          <p:cNvPr id="12" name="Freeform 18"/>
          <p:cNvSpPr/>
          <p:nvPr userDrawn="1"/>
        </p:nvSpPr>
        <p:spPr bwMode="white">
          <a:xfrm>
            <a:off x="0" y="0"/>
            <a:ext cx="8446239" cy="6858000"/>
          </a:xfrm>
          <a:custGeom>
            <a:avLst/>
            <a:gdLst>
              <a:gd name="connsiteX0" fmla="*/ 0 w 8446239"/>
              <a:gd name="connsiteY0" fmla="*/ 0 h 6858000"/>
              <a:gd name="connsiteX1" fmla="*/ 7645979 w 8446239"/>
              <a:gd name="connsiteY1" fmla="*/ 0 h 6858000"/>
              <a:gd name="connsiteX2" fmla="*/ 8446239 w 8446239"/>
              <a:gd name="connsiteY2" fmla="*/ 3429000 h 6858000"/>
              <a:gd name="connsiteX3" fmla="*/ 7645979 w 8446239"/>
              <a:gd name="connsiteY3" fmla="*/ 6858000 h 6858000"/>
              <a:gd name="connsiteX4" fmla="*/ 0 w 8446239"/>
              <a:gd name="connsiteY4" fmla="*/ 6858000 h 6858000"/>
              <a:gd name="connsiteX5" fmla="*/ 0 w 8446239"/>
              <a:gd name="connsiteY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46239" h="6858000">
                <a:moveTo>
                  <a:pt x="0" y="0"/>
                </a:moveTo>
                <a:lnTo>
                  <a:pt x="7645979" y="0"/>
                </a:lnTo>
                <a:lnTo>
                  <a:pt x="8446239" y="3429000"/>
                </a:lnTo>
                <a:lnTo>
                  <a:pt x="7645979" y="6858000"/>
                </a:lnTo>
                <a:lnTo>
                  <a:pt x="0" y="6858000"/>
                </a:lnTo>
                <a:lnTo>
                  <a:pt x="0" y="0"/>
                </a:lnTo>
                <a:close/>
              </a:path>
            </a:pathLst>
          </a:cu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l">
              <a:lnSpc>
                <a:spcPct val="90000"/>
              </a:lnSpc>
              <a:spcAft>
                <a:spcPts val="1000"/>
              </a:spcAft>
            </a:pPr>
            <a:endParaRPr lang="en-US" sz="1200">
              <a:solidFill>
                <a:schemeClr val="bg1"/>
              </a:solidFill>
              <a:latin typeface="+mn-lt"/>
              <a:sym typeface="Trebuchet MS" panose="020B0603020202020204" pitchFamily="34" charset="0"/>
            </a:endParaRPr>
          </a:p>
        </p:txBody>
      </p:sp>
      <p:sp>
        <p:nvSpPr>
          <p:cNvPr id="13" name="Date Placeholder 4"/>
          <p:cNvSpPr>
            <a:spLocks noGrp="1"/>
          </p:cNvSpPr>
          <p:nvPr>
            <p:ph type="dt" sz="half" idx="10"/>
          </p:nvPr>
        </p:nvSpPr>
        <p:spPr>
          <a:xfrm>
            <a:off x="9677400" y="6405036"/>
            <a:ext cx="1482051" cy="153888"/>
          </a:xfrm>
        </p:spPr>
        <p:txBody>
          <a:bodyPr/>
          <a:lstStyle>
            <a:lvl1pPr>
              <a:defRPr>
                <a:solidFill>
                  <a:schemeClr val="bg1"/>
                </a:solidFill>
                <a:latin typeface="+mn-lt"/>
                <a:sym typeface="Trebuchet MS" panose="020B0603020202020204" pitchFamily="34" charset="0"/>
              </a:defRPr>
            </a:lvl1pPr>
          </a:lstStyle>
          <a:p>
            <a:endParaRPr lang="en-US"/>
          </a:p>
        </p:txBody>
      </p:sp>
      <p:sp>
        <p:nvSpPr>
          <p:cNvPr id="9"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2022 by Boston Consulting Group. All rights reserved.</a:t>
            </a:r>
          </a:p>
        </p:txBody>
      </p:sp>
      <p:sp>
        <p:nvSpPr>
          <p:cNvPr id="15" name="TextBox 14"/>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
        <p:nvSpPr>
          <p:cNvPr id="2" name="Title 1"/>
          <p:cNvSpPr>
            <a:spLocks noGrp="1"/>
          </p:cNvSpPr>
          <p:nvPr>
            <p:ph type="title" hasCustomPrompt="1"/>
          </p:nvPr>
        </p:nvSpPr>
        <p:spPr>
          <a:xfrm>
            <a:off x="630000" y="622800"/>
            <a:ext cx="6254496" cy="332399"/>
          </a:xfrm>
          <a:prstGeom prst="rect">
            <a:avLst/>
          </a:prstGeom>
        </p:spPr>
        <p:txBody>
          <a:bodyPr/>
          <a:lstStyle>
            <a:lvl1pPr>
              <a:defRPr>
                <a:latin typeface="+mj-lt"/>
                <a:sym typeface="Trebuchet MS" panose="020B0603020202020204" pitchFamily="34" charset="0"/>
              </a:defRPr>
            </a:lvl1pPr>
          </a:lstStyle>
          <a:p>
            <a:r>
              <a:rPr lang="en-US"/>
              <a:t>Click to add title</a:t>
            </a:r>
          </a:p>
        </p:txBody>
      </p:sp>
      <p:pic>
        <p:nvPicPr>
          <p:cNvPr id="11" name="Picture 10"/>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7490339" y="3589606"/>
            <a:ext cx="1365250" cy="3382962"/>
          </a:xfrm>
          <a:custGeom>
            <a:avLst/>
            <a:gdLst>
              <a:gd name="connsiteX0" fmla="*/ 911531 w 1365250"/>
              <a:gd name="connsiteY0" fmla="*/ 0 h 3382962"/>
              <a:gd name="connsiteX1" fmla="*/ 1365250 w 1365250"/>
              <a:gd name="connsiteY1" fmla="*/ 0 h 3382962"/>
              <a:gd name="connsiteX2" fmla="*/ 1365250 w 1365250"/>
              <a:gd name="connsiteY2" fmla="*/ 3382962 h 3382962"/>
              <a:gd name="connsiteX3" fmla="*/ 107988 w 1365250"/>
              <a:gd name="connsiteY3" fmla="*/ 3382962 h 3382962"/>
              <a:gd name="connsiteX4" fmla="*/ 111422 w 1365250"/>
              <a:gd name="connsiteY4" fmla="*/ 3368118 h 3382962"/>
              <a:gd name="connsiteX5" fmla="*/ 129661 w 1365250"/>
              <a:gd name="connsiteY5" fmla="*/ 3368407 h 3382962"/>
              <a:gd name="connsiteX6" fmla="*/ 890411 w 1365250"/>
              <a:gd name="connsiteY6" fmla="*/ 0 h 3382962"/>
              <a:gd name="connsiteX7" fmla="*/ 897808 w 1365250"/>
              <a:gd name="connsiteY7" fmla="*/ 0 h 3382962"/>
              <a:gd name="connsiteX8" fmla="*/ 870584 w 1365250"/>
              <a:gd name="connsiteY8" fmla="*/ 85726 h 3382962"/>
              <a:gd name="connsiteX9" fmla="*/ 0 w 1365250"/>
              <a:gd name="connsiteY9" fmla="*/ 0 h 3382962"/>
              <a:gd name="connsiteX10" fmla="*/ 852736 w 1365250"/>
              <a:gd name="connsiteY10" fmla="*/ 0 h 3382962"/>
              <a:gd name="connsiteX11" fmla="*/ 0 w 1365250"/>
              <a:gd name="connsiteY11" fmla="*/ 1883543 h 3382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5250" h="3382962">
                <a:moveTo>
                  <a:pt x="911531" y="0"/>
                </a:moveTo>
                <a:lnTo>
                  <a:pt x="1365250" y="0"/>
                </a:lnTo>
                <a:lnTo>
                  <a:pt x="1365250" y="3382962"/>
                </a:lnTo>
                <a:lnTo>
                  <a:pt x="107988" y="3382962"/>
                </a:lnTo>
                <a:lnTo>
                  <a:pt x="111422" y="3368118"/>
                </a:lnTo>
                <a:lnTo>
                  <a:pt x="129661" y="3368407"/>
                </a:lnTo>
                <a:close/>
                <a:moveTo>
                  <a:pt x="890411" y="0"/>
                </a:moveTo>
                <a:lnTo>
                  <a:pt x="897808" y="0"/>
                </a:lnTo>
                <a:lnTo>
                  <a:pt x="870584" y="85726"/>
                </a:lnTo>
                <a:close/>
                <a:moveTo>
                  <a:pt x="0" y="0"/>
                </a:moveTo>
                <a:lnTo>
                  <a:pt x="852736" y="0"/>
                </a:lnTo>
                <a:lnTo>
                  <a:pt x="0" y="1883543"/>
                </a:lnTo>
                <a:close/>
              </a:path>
            </a:pathLst>
          </a:cu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2006999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25.xml><?xml version="1.0" encoding="utf-8"?>
<p:sldLayout xmlns:a="http://schemas.openxmlformats.org/drawingml/2006/main" xmlns:r="http://schemas.openxmlformats.org/officeDocument/2006/relationships" xmlns:p="http://schemas.openxmlformats.org/presentationml/2006/main" showMasterSp="0" preserve="1" userDrawn="1">
  <p:cSld name="D. Green arrow two third">
    <p:bg>
      <p:bgPr>
        <a:solidFill>
          <a:schemeClr val="bg1"/>
        </a:solidFill>
        <a:effectLst/>
      </p:bgPr>
    </p:bg>
    <p:spTree>
      <p:nvGrpSpPr>
        <p:cNvPr id="1" name=""/>
        <p:cNvGrpSpPr/>
        <p:nvPr/>
      </p:nvGrpSpPr>
      <p:grpSpPr>
        <a:xfrm>
          <a:off x="0" y="0"/>
          <a:ext cx="0" cy="0"/>
          <a:chOff x="0" y="0"/>
          <a:chExt cx="0" cy="0"/>
        </a:xfrm>
      </p:grpSpPr>
      <p:sp>
        <p:nvSpPr>
          <p:cNvPr id="12" name="Freeform 18"/>
          <p:cNvSpPr/>
          <p:nvPr userDrawn="1"/>
        </p:nvSpPr>
        <p:spPr bwMode="white">
          <a:xfrm>
            <a:off x="0" y="0"/>
            <a:ext cx="8446239" cy="6858000"/>
          </a:xfrm>
          <a:custGeom>
            <a:avLst/>
            <a:gdLst>
              <a:gd name="connsiteX0" fmla="*/ 0 w 8446239"/>
              <a:gd name="connsiteY0" fmla="*/ 0 h 6858000"/>
              <a:gd name="connsiteX1" fmla="*/ 7645979 w 8446239"/>
              <a:gd name="connsiteY1" fmla="*/ 0 h 6858000"/>
              <a:gd name="connsiteX2" fmla="*/ 8446239 w 8446239"/>
              <a:gd name="connsiteY2" fmla="*/ 3429000 h 6858000"/>
              <a:gd name="connsiteX3" fmla="*/ 7645979 w 8446239"/>
              <a:gd name="connsiteY3" fmla="*/ 6858000 h 6858000"/>
              <a:gd name="connsiteX4" fmla="*/ 0 w 8446239"/>
              <a:gd name="connsiteY4" fmla="*/ 6858000 h 6858000"/>
              <a:gd name="connsiteX5" fmla="*/ 0 w 8446239"/>
              <a:gd name="connsiteY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46239" h="6858000">
                <a:moveTo>
                  <a:pt x="0" y="0"/>
                </a:moveTo>
                <a:lnTo>
                  <a:pt x="7645979" y="0"/>
                </a:lnTo>
                <a:lnTo>
                  <a:pt x="8446239" y="3429000"/>
                </a:lnTo>
                <a:lnTo>
                  <a:pt x="7645979" y="6858000"/>
                </a:lnTo>
                <a:lnTo>
                  <a:pt x="0" y="6858000"/>
                </a:lnTo>
                <a:lnTo>
                  <a:pt x="0" y="0"/>
                </a:lnTo>
                <a:close/>
              </a:path>
            </a:pathLst>
          </a:custGeom>
          <a:gradFill>
            <a:gsLst>
              <a:gs pos="0">
                <a:schemeClr val="tx2"/>
              </a:gs>
              <a:gs pos="100000">
                <a:schemeClr val="accent2"/>
              </a:gs>
            </a:gsLst>
            <a:lin ang="8100000" scaled="1"/>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l">
              <a:lnSpc>
                <a:spcPct val="90000"/>
              </a:lnSpc>
              <a:spcAft>
                <a:spcPts val="1000"/>
              </a:spcAft>
            </a:pPr>
            <a:endParaRPr lang="en-US" sz="1200">
              <a:solidFill>
                <a:schemeClr val="bg1"/>
              </a:solidFill>
              <a:latin typeface="+mn-lt"/>
              <a:sym typeface="Trebuchet MS" panose="020B0603020202020204" pitchFamily="34" charset="0"/>
            </a:endParaRPr>
          </a:p>
        </p:txBody>
      </p:sp>
      <p:sp>
        <p:nvSpPr>
          <p:cNvPr id="2" name="Title 1"/>
          <p:cNvSpPr>
            <a:spLocks noGrp="1"/>
          </p:cNvSpPr>
          <p:nvPr>
            <p:ph type="title" hasCustomPrompt="1"/>
          </p:nvPr>
        </p:nvSpPr>
        <p:spPr>
          <a:xfrm>
            <a:off x="630000" y="622800"/>
            <a:ext cx="6254496" cy="332399"/>
          </a:xfrm>
          <a:prstGeom prst="rect">
            <a:avLst/>
          </a:prstGeom>
        </p:spPr>
        <p:txBody>
          <a:bodyPr/>
          <a:lstStyle>
            <a:lvl1pPr>
              <a:defRPr>
                <a:solidFill>
                  <a:srgbClr val="FFFFFF"/>
                </a:solidFill>
                <a:latin typeface="+mj-lt"/>
                <a:sym typeface="Trebuchet MS" panose="020B0603020202020204" pitchFamily="34" charset="0"/>
              </a:defRPr>
            </a:lvl1pPr>
          </a:lstStyle>
          <a:p>
            <a:r>
              <a:rPr lang="en-US"/>
              <a:t>Click to add title</a:t>
            </a:r>
          </a:p>
        </p:txBody>
      </p:sp>
      <p:sp>
        <p:nvSpPr>
          <p:cNvPr id="17" name="Date Placeholder 3"/>
          <p:cNvSpPr>
            <a:spLocks noGrp="1"/>
          </p:cNvSpPr>
          <p:nvPr>
            <p:ph type="dt" sz="half" idx="2"/>
          </p:nvPr>
        </p:nvSpPr>
        <p:spPr>
          <a:xfrm>
            <a:off x="9677400" y="6405036"/>
            <a:ext cx="1482051" cy="153888"/>
          </a:xfrm>
          <a:prstGeom prst="rect">
            <a:avLst/>
          </a:prstGeom>
        </p:spPr>
        <p:txBody>
          <a:bodyPr vert="horz" wrap="square" lIns="0" tIns="0" rIns="0" bIns="0" rtlCol="0" anchor="b">
            <a:spAutoFit/>
          </a:bodyPr>
          <a:lstStyle>
            <a:lvl1pPr algn="r">
              <a:defRPr sz="1000">
                <a:solidFill>
                  <a:schemeClr val="bg1">
                    <a:lumMod val="50000"/>
                  </a:schemeClr>
                </a:solidFill>
                <a:latin typeface="+mn-lt"/>
                <a:sym typeface="Trebuchet MS" panose="020B0603020202020204" pitchFamily="34" charset="0"/>
              </a:defRPr>
            </a:lvl1pPr>
          </a:lstStyle>
          <a:p>
            <a:endParaRPr lang="en-US"/>
          </a:p>
        </p:txBody>
      </p:sp>
      <p:sp>
        <p:nvSpPr>
          <p:cNvPr id="18" name="TextBox 17"/>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lumMod val="50000"/>
                  </a:schemeClr>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lumMod val="50000"/>
                </a:schemeClr>
              </a:solidFill>
              <a:latin typeface="+mn-lt"/>
              <a:ea typeface="+mn-ea"/>
              <a:cs typeface="+mn-cs"/>
              <a:sym typeface="Trebuchet MS" panose="020B0603020202020204" pitchFamily="34" charset="0"/>
            </a:endParaRPr>
          </a:p>
        </p:txBody>
      </p:sp>
      <p:sp>
        <p:nvSpPr>
          <p:cNvPr id="19"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2022 by Boston Consulting Group. All rights reserved.</a:t>
            </a:r>
          </a:p>
        </p:txBody>
      </p:sp>
      <p:pic>
        <p:nvPicPr>
          <p:cNvPr id="9" name="Picture 8"/>
          <p:cNvPicPr>
            <a:picLocks noChangeAspect="1"/>
          </p:cNvPicPr>
          <p:nvPr userDrawn="1"/>
        </p:nvPicPr>
        <p:blipFill rotWithShape="1">
          <a:blip r:embed="rId2">
            <a:extLst>
              <a:ext uri="{28A0092B-C50C-407E-A947-70E740481C1C}">
                <a14:useLocalDpi xmlns:a14="http://schemas.microsoft.com/office/drawing/2010/main" val="0"/>
              </a:ext>
            </a:extLst>
          </a:blip>
          <a:srcRect t="9052" b="6867"/>
          <a:stretch/>
        </p:blipFill>
        <p:spPr>
          <a:xfrm rot="120000">
            <a:off x="6567628" y="3407803"/>
            <a:ext cx="2694666" cy="3456551"/>
          </a:xfrm>
          <a:custGeom>
            <a:avLst/>
            <a:gdLst>
              <a:gd name="connsiteX0" fmla="*/ 2068299 w 2694666"/>
              <a:gd name="connsiteY0" fmla="*/ 0 h 3456551"/>
              <a:gd name="connsiteX1" fmla="*/ 2694666 w 2694666"/>
              <a:gd name="connsiteY1" fmla="*/ 0 h 3456551"/>
              <a:gd name="connsiteX2" fmla="*/ 2694666 w 2694666"/>
              <a:gd name="connsiteY2" fmla="*/ 3456551 h 3456551"/>
              <a:gd name="connsiteX3" fmla="*/ 1434992 w 2694666"/>
              <a:gd name="connsiteY3" fmla="*/ 3456551 h 3456551"/>
              <a:gd name="connsiteX4" fmla="*/ 0 w 2694666"/>
              <a:gd name="connsiteY4" fmla="*/ 0 h 3456551"/>
              <a:gd name="connsiteX5" fmla="*/ 1825478 w 2694666"/>
              <a:gd name="connsiteY5" fmla="*/ 0 h 3456551"/>
              <a:gd name="connsiteX6" fmla="*/ 1138791 w 2694666"/>
              <a:gd name="connsiteY6" fmla="*/ 3456551 h 3456551"/>
              <a:gd name="connsiteX7" fmla="*/ 0 w 2694666"/>
              <a:gd name="connsiteY7" fmla="*/ 3456551 h 3456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4666" h="3456551">
                <a:moveTo>
                  <a:pt x="2068299" y="0"/>
                </a:moveTo>
                <a:lnTo>
                  <a:pt x="2694666" y="0"/>
                </a:lnTo>
                <a:lnTo>
                  <a:pt x="2694666" y="3456551"/>
                </a:lnTo>
                <a:lnTo>
                  <a:pt x="1434992" y="3456551"/>
                </a:lnTo>
                <a:close/>
                <a:moveTo>
                  <a:pt x="0" y="0"/>
                </a:moveTo>
                <a:lnTo>
                  <a:pt x="1825478" y="0"/>
                </a:lnTo>
                <a:lnTo>
                  <a:pt x="1138791" y="3456551"/>
                </a:lnTo>
                <a:lnTo>
                  <a:pt x="0" y="3456551"/>
                </a:lnTo>
                <a:close/>
              </a:path>
            </a:pathLst>
          </a:custGeom>
        </p:spPr>
      </p:pic>
    </p:spTree>
    <p:extLst>
      <p:ext uri="{BB962C8B-B14F-4D97-AF65-F5344CB8AC3E}">
        <p14:creationId xmlns:p14="http://schemas.microsoft.com/office/powerpoint/2010/main" val="400838189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26.xml><?xml version="1.0" encoding="utf-8"?>
<p:sldLayout xmlns:a="http://schemas.openxmlformats.org/drawingml/2006/main" xmlns:r="http://schemas.openxmlformats.org/officeDocument/2006/relationships" xmlns:p="http://schemas.openxmlformats.org/presentationml/2006/main" showMasterSp="0" preserve="1" userDrawn="1">
  <p:cSld name="D. Big statement green">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sp>
        <p:nvSpPr>
          <p:cNvPr id="7" name="Date Placeholder 4"/>
          <p:cNvSpPr>
            <a:spLocks noGrp="1"/>
          </p:cNvSpPr>
          <p:nvPr>
            <p:ph type="dt" sz="half" idx="10"/>
          </p:nvPr>
        </p:nvSpPr>
        <p:spPr>
          <a:xfrm>
            <a:off x="9677400" y="6405036"/>
            <a:ext cx="1482051" cy="153888"/>
          </a:xfrm>
        </p:spPr>
        <p:txBody>
          <a:bodyPr/>
          <a:lstStyle>
            <a:lvl1pPr>
              <a:defRPr>
                <a:solidFill>
                  <a:schemeClr val="bg1"/>
                </a:solidFill>
                <a:latin typeface="+mn-lt"/>
                <a:sym typeface="Trebuchet MS" panose="020B0603020202020204" pitchFamily="34" charset="0"/>
              </a:defRPr>
            </a:lvl1pPr>
          </a:lstStyle>
          <a:p>
            <a:endParaRPr lang="en-US"/>
          </a:p>
        </p:txBody>
      </p:sp>
      <p:sp>
        <p:nvSpPr>
          <p:cNvPr id="9"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2022 by Boston Consulting Group. All rights reserved.</a:t>
            </a:r>
          </a:p>
        </p:txBody>
      </p:sp>
      <p:sp>
        <p:nvSpPr>
          <p:cNvPr id="10" name="TextBox 9"/>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
        <p:nvSpPr>
          <p:cNvPr id="11" name="Title 1"/>
          <p:cNvSpPr>
            <a:spLocks noGrp="1"/>
          </p:cNvSpPr>
          <p:nvPr>
            <p:ph type="title" hasCustomPrompt="1"/>
          </p:nvPr>
        </p:nvSpPr>
        <p:spPr>
          <a:xfrm>
            <a:off x="630000" y="3826333"/>
            <a:ext cx="10933200" cy="1606550"/>
          </a:xfrm>
        </p:spPr>
        <p:txBody>
          <a:bodyPr anchor="b">
            <a:noAutofit/>
          </a:bodyPr>
          <a:lstStyle>
            <a:lvl1pPr marL="0" algn="l" defTabSz="914400" rtl="0" eaLnBrk="1" fontAlgn="auto" latinLnBrk="0" hangingPunct="1">
              <a:lnSpc>
                <a:spcPts val="6000"/>
              </a:lnSpc>
              <a:spcBef>
                <a:spcPts val="0"/>
              </a:spcBef>
              <a:spcAft>
                <a:spcPts val="0"/>
              </a:spcAft>
              <a:defRPr lang="en-US" sz="5400" kern="1200" baseline="0" dirty="0">
                <a:solidFill>
                  <a:schemeClr val="bg1"/>
                </a:solidFill>
                <a:latin typeface="+mj-lt"/>
                <a:ea typeface="+mn-ea"/>
                <a:cs typeface="Arial" panose="020B0604020202020204" pitchFamily="34" charset="0"/>
                <a:sym typeface="Trebuchet MS" panose="020B0603020202020204" pitchFamily="34" charset="0"/>
              </a:defRPr>
            </a:lvl1pPr>
          </a:lstStyle>
          <a:p>
            <a:r>
              <a:rPr lang="en-US"/>
              <a:t>Click to add big statement text</a:t>
            </a:r>
          </a:p>
        </p:txBody>
      </p:sp>
    </p:spTree>
    <p:extLst>
      <p:ext uri="{BB962C8B-B14F-4D97-AF65-F5344CB8AC3E}">
        <p14:creationId xmlns:p14="http://schemas.microsoft.com/office/powerpoint/2010/main" val="38689686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D. Big statement icon">
    <p:bg>
      <p:bgPr>
        <a:solidFill>
          <a:schemeClr val="bg1"/>
        </a:solidFill>
        <a:effectLst/>
      </p:bgPr>
    </p:bg>
    <p:spTree>
      <p:nvGrpSpPr>
        <p:cNvPr id="1" name=""/>
        <p:cNvGrpSpPr/>
        <p:nvPr/>
      </p:nvGrpSpPr>
      <p:grpSpPr>
        <a:xfrm>
          <a:off x="0" y="0"/>
          <a:ext cx="0" cy="0"/>
          <a:chOff x="0" y="0"/>
          <a:chExt cx="0" cy="0"/>
        </a:xfrm>
      </p:grpSpPr>
      <p:sp>
        <p:nvSpPr>
          <p:cNvPr id="8" name="Date Placeholder 7"/>
          <p:cNvSpPr>
            <a:spLocks noGrp="1"/>
          </p:cNvSpPr>
          <p:nvPr>
            <p:ph type="dt" sz="half" idx="10"/>
          </p:nvPr>
        </p:nvSpPr>
        <p:spPr/>
        <p:txBody>
          <a:bodyPr/>
          <a:lstStyle>
            <a:lvl1pPr>
              <a:defRPr>
                <a:latin typeface="+mn-lt"/>
                <a:sym typeface="Trebuchet MS" panose="020B0603020202020204" pitchFamily="34" charset="0"/>
              </a:defRPr>
            </a:lvl1pPr>
          </a:lstStyle>
          <a:p>
            <a:endParaRPr lang="en-US"/>
          </a:p>
        </p:txBody>
      </p:sp>
      <p:sp>
        <p:nvSpPr>
          <p:cNvPr id="11"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2022 by Boston Consulting Group. All rights reserved.</a:t>
            </a:r>
          </a:p>
        </p:txBody>
      </p:sp>
      <p:sp>
        <p:nvSpPr>
          <p:cNvPr id="6" name="Rectangle 5"/>
          <p:cNvSpPr/>
          <p:nvPr userDrawn="1"/>
        </p:nvSpPr>
        <p:spPr bwMode="white">
          <a:xfrm>
            <a:off x="630000" y="625475"/>
            <a:ext cx="932688" cy="932688"/>
          </a:xfrm>
          <a:prstGeom prst="rect">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l"/>
            <a:endParaRPr lang="en-US" sz="1200">
              <a:solidFill>
                <a:schemeClr val="bg1"/>
              </a:solidFill>
              <a:latin typeface="+mn-lt"/>
              <a:sym typeface="Trebuchet MS" panose="020B0603020202020204" pitchFamily="34" charset="0"/>
            </a:endParaRPr>
          </a:p>
        </p:txBody>
      </p:sp>
      <p:sp>
        <p:nvSpPr>
          <p:cNvPr id="7" name="Title 1"/>
          <p:cNvSpPr>
            <a:spLocks noGrp="1"/>
          </p:cNvSpPr>
          <p:nvPr>
            <p:ph type="title" hasCustomPrompt="1"/>
          </p:nvPr>
        </p:nvSpPr>
        <p:spPr>
          <a:xfrm>
            <a:off x="630000" y="3826333"/>
            <a:ext cx="10933200" cy="1606550"/>
          </a:xfrm>
          <a:prstGeom prst="rect">
            <a:avLst/>
          </a:prstGeom>
        </p:spPr>
        <p:txBody>
          <a:bodyPr anchor="b">
            <a:noAutofit/>
          </a:bodyPr>
          <a:lstStyle>
            <a:lvl1pPr marL="0" algn="l" defTabSz="914400" rtl="0" eaLnBrk="1" fontAlgn="auto" latinLnBrk="0" hangingPunct="1">
              <a:lnSpc>
                <a:spcPts val="6000"/>
              </a:lnSpc>
              <a:spcBef>
                <a:spcPts val="0"/>
              </a:spcBef>
              <a:spcAft>
                <a:spcPts val="0"/>
              </a:spcAft>
              <a:defRPr lang="en-US" sz="5400" kern="1200" baseline="0" dirty="0">
                <a:solidFill>
                  <a:schemeClr val="accent4"/>
                </a:solidFill>
                <a:latin typeface="+mj-lt"/>
                <a:ea typeface="+mn-ea"/>
                <a:cs typeface="Arial" panose="020B0604020202020204" pitchFamily="34" charset="0"/>
                <a:sym typeface="Trebuchet MS" panose="020B0603020202020204" pitchFamily="34" charset="0"/>
              </a:defRPr>
            </a:lvl1pPr>
          </a:lstStyle>
          <a:p>
            <a:r>
              <a:rPr lang="en-US"/>
              <a:t>Click to add big statement text</a:t>
            </a:r>
          </a:p>
        </p:txBody>
      </p:sp>
    </p:spTree>
    <p:extLst>
      <p:ext uri="{BB962C8B-B14F-4D97-AF65-F5344CB8AC3E}">
        <p14:creationId xmlns:p14="http://schemas.microsoft.com/office/powerpoint/2010/main" val="185776430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28.xml><?xml version="1.0" encoding="utf-8"?>
<p:sldLayout xmlns:a="http://schemas.openxmlformats.org/drawingml/2006/main" xmlns:r="http://schemas.openxmlformats.org/officeDocument/2006/relationships" xmlns:p="http://schemas.openxmlformats.org/presentationml/2006/main" showMasterSp="0" preserve="1" userDrawn="1">
  <p:cSld name="D. Quote">
    <p:bg>
      <p:bgPr>
        <a:solidFill>
          <a:schemeClr val="accent1"/>
        </a:solidFill>
        <a:effectLst/>
      </p:bgPr>
    </p:bg>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userDrawn="1">
            <p:custDataLst>
              <p:tags r:id="rId1"/>
            </p:custDataLst>
            <p:extLst>
              <p:ext uri="{D42A27DB-BD31-4B8C-83A1-F6EECF244321}">
                <p14:modId xmlns:p14="http://schemas.microsoft.com/office/powerpoint/2010/main" val="4066580690"/>
              </p:ext>
            </p:ext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3" imgW="384" imgH="384" progId="TCLayout.ActiveDocument.1">
                  <p:embed/>
                </p:oleObj>
              </mc:Choice>
              <mc:Fallback>
                <p:oleObj name="think-cell Slide" r:id="rId3" imgW="384" imgH="384" progId="TCLayout.ActiveDocument.1">
                  <p:embed/>
                  <p:pic>
                    <p:nvPicPr>
                      <p:cNvPr id="3" name="Object 2" hidden="1"/>
                      <p:cNvPicPr/>
                      <p:nvPr/>
                    </p:nvPicPr>
                    <p:blipFill>
                      <a:blip r:embed="rId4"/>
                      <a:stretch>
                        <a:fillRect/>
                      </a:stretch>
                    </p:blipFill>
                    <p:spPr>
                      <a:xfrm>
                        <a:off x="1588" y="1588"/>
                        <a:ext cx="1587" cy="1587"/>
                      </a:xfrm>
                      <a:prstGeom prst="rect">
                        <a:avLst/>
                      </a:prstGeom>
                    </p:spPr>
                  </p:pic>
                </p:oleObj>
              </mc:Fallback>
            </mc:AlternateContent>
          </a:graphicData>
        </a:graphic>
      </p:graphicFrame>
      <p:sp>
        <p:nvSpPr>
          <p:cNvPr id="6" name="TextBox 5"/>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
        <p:nvSpPr>
          <p:cNvPr id="2" name="Date Placeholder 1"/>
          <p:cNvSpPr>
            <a:spLocks noGrp="1"/>
          </p:cNvSpPr>
          <p:nvPr>
            <p:ph type="dt" sz="half" idx="10"/>
          </p:nvPr>
        </p:nvSpPr>
        <p:spPr/>
        <p:txBody>
          <a:bodyPr/>
          <a:lstStyle>
            <a:lvl1pPr>
              <a:defRPr>
                <a:solidFill>
                  <a:schemeClr val="bg1"/>
                </a:solidFill>
                <a:latin typeface="+mn-lt"/>
                <a:sym typeface="Trebuchet MS" panose="020B0603020202020204" pitchFamily="34" charset="0"/>
              </a:defRPr>
            </a:lvl1pPr>
          </a:lstStyle>
          <a:p>
            <a:endParaRPr lang="en-US"/>
          </a:p>
        </p:txBody>
      </p:sp>
      <p:pic>
        <p:nvPicPr>
          <p:cNvPr id="7" name="Picture 6"/>
          <p:cNvPicPr>
            <a:picLocks noChangeAspect="1"/>
          </p:cNvPicPr>
          <p:nvPr userDrawn="1"/>
        </p:nvPicPr>
        <p:blipFill rotWithShape="1">
          <a:blip r:embed="rId5">
            <a:extLst>
              <a:ext uri="{28A0092B-C50C-407E-A947-70E740481C1C}">
                <a14:useLocalDpi xmlns:a14="http://schemas.microsoft.com/office/drawing/2010/main" val="0"/>
              </a:ext>
            </a:extLst>
          </a:blip>
          <a:srcRect r="3634" b="1258"/>
          <a:stretch/>
        </p:blipFill>
        <p:spPr>
          <a:xfrm rot="16200000" flipH="1">
            <a:off x="6797461" y="101443"/>
            <a:ext cx="769257" cy="10019821"/>
          </a:xfrm>
          <a:custGeom>
            <a:avLst/>
            <a:gdLst>
              <a:gd name="connsiteX0" fmla="*/ 0 w 769257"/>
              <a:gd name="connsiteY0" fmla="*/ 0 h 10019821"/>
              <a:gd name="connsiteX1" fmla="*/ 0 w 769257"/>
              <a:gd name="connsiteY1" fmla="*/ 4631160 h 10019821"/>
              <a:gd name="connsiteX2" fmla="*/ 216750 w 769257"/>
              <a:gd name="connsiteY2" fmla="*/ 999646 h 10019821"/>
              <a:gd name="connsiteX3" fmla="*/ 197800 w 769257"/>
              <a:gd name="connsiteY3" fmla="*/ 10019821 h 10019821"/>
              <a:gd name="connsiteX4" fmla="*/ 769257 w 769257"/>
              <a:gd name="connsiteY4" fmla="*/ 10019821 h 10019821"/>
              <a:gd name="connsiteX5" fmla="*/ 769257 w 769257"/>
              <a:gd name="connsiteY5" fmla="*/ 0 h 10019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9257" h="10019821">
                <a:moveTo>
                  <a:pt x="0" y="0"/>
                </a:moveTo>
                <a:lnTo>
                  <a:pt x="0" y="4631160"/>
                </a:lnTo>
                <a:lnTo>
                  <a:pt x="216750" y="999646"/>
                </a:lnTo>
                <a:lnTo>
                  <a:pt x="197800" y="10019821"/>
                </a:lnTo>
                <a:lnTo>
                  <a:pt x="769257" y="10019821"/>
                </a:lnTo>
                <a:lnTo>
                  <a:pt x="769257" y="0"/>
                </a:lnTo>
                <a:close/>
              </a:path>
            </a:pathLst>
          </a:custGeom>
        </p:spPr>
      </p:pic>
      <p:sp>
        <p:nvSpPr>
          <p:cNvPr id="59" name="Freeform 58"/>
          <p:cNvSpPr>
            <a:spLocks/>
          </p:cNvSpPr>
          <p:nvPr/>
        </p:nvSpPr>
        <p:spPr bwMode="white">
          <a:xfrm flipH="1">
            <a:off x="0" y="0"/>
            <a:ext cx="12192000" cy="5867335"/>
          </a:xfrm>
          <a:custGeom>
            <a:avLst/>
            <a:gdLst>
              <a:gd name="connsiteX0" fmla="*/ 12192000 w 12192000"/>
              <a:gd name="connsiteY0" fmla="*/ 0 h 5867335"/>
              <a:gd name="connsiteX1" fmla="*/ 0 w 12192000"/>
              <a:gd name="connsiteY1" fmla="*/ 0 h 5867335"/>
              <a:gd name="connsiteX2" fmla="*/ 0 w 12192000"/>
              <a:gd name="connsiteY2" fmla="*/ 4945992 h 5867335"/>
              <a:gd name="connsiteX3" fmla="*/ 9041587 w 12192000"/>
              <a:gd name="connsiteY3" fmla="*/ 4945992 h 5867335"/>
              <a:gd name="connsiteX4" fmla="*/ 9974275 w 12192000"/>
              <a:gd name="connsiteY4" fmla="*/ 5867335 h 5867335"/>
              <a:gd name="connsiteX5" fmla="*/ 9974275 w 12192000"/>
              <a:gd name="connsiteY5" fmla="*/ 4945992 h 5867335"/>
              <a:gd name="connsiteX6" fmla="*/ 12192000 w 12192000"/>
              <a:gd name="connsiteY6" fmla="*/ 4945992 h 586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92000" h="5867335">
                <a:moveTo>
                  <a:pt x="12192000" y="0"/>
                </a:moveTo>
                <a:lnTo>
                  <a:pt x="0" y="0"/>
                </a:lnTo>
                <a:lnTo>
                  <a:pt x="0" y="4945992"/>
                </a:lnTo>
                <a:lnTo>
                  <a:pt x="9041587" y="4945992"/>
                </a:lnTo>
                <a:lnTo>
                  <a:pt x="9974275" y="5867335"/>
                </a:lnTo>
                <a:lnTo>
                  <a:pt x="9974275" y="4945992"/>
                </a:lnTo>
                <a:lnTo>
                  <a:pt x="12192000" y="4945992"/>
                </a:lnTo>
                <a:close/>
              </a:path>
            </a:pathLst>
          </a:custGeom>
          <a:solidFill>
            <a:schemeClr val="tx2"/>
          </a:solidFill>
          <a:ln>
            <a:noFill/>
          </a:ln>
          <a:effectLst/>
        </p:spPr>
        <p:txBody>
          <a:bodyPr vert="horz" wrap="square" lIns="91440" tIns="45720" rIns="91440" bIns="45720" numCol="1" anchor="t" anchorCtr="0" compatLnSpc="1">
            <a:prstTxWarp prst="textNoShape">
              <a:avLst/>
            </a:prstTxWarp>
            <a:noAutofit/>
          </a:bodyPr>
          <a:lstStyle/>
          <a:p>
            <a:endParaRPr lang="en-US">
              <a:latin typeface="+mn-lt"/>
              <a:sym typeface="Trebuchet MS" panose="020B0603020202020204" pitchFamily="34" charset="0"/>
            </a:endParaRPr>
          </a:p>
        </p:txBody>
      </p:sp>
    </p:spTree>
    <p:extLst>
      <p:ext uri="{BB962C8B-B14F-4D97-AF65-F5344CB8AC3E}">
        <p14:creationId xmlns:p14="http://schemas.microsoft.com/office/powerpoint/2010/main" val="170336897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29.xml><?xml version="1.0" encoding="utf-8"?>
<p:sldLayout xmlns:a="http://schemas.openxmlformats.org/drawingml/2006/main" xmlns:r="http://schemas.openxmlformats.org/officeDocument/2006/relationships" xmlns:p="http://schemas.openxmlformats.org/presentationml/2006/main" showMasterSp="0" preserve="1" userDrawn="1">
  <p:cSld name="D. Special gray">
    <p:bg>
      <p:bgPr>
        <a:solidFill>
          <a:schemeClr val="tx1">
            <a:lumMod val="50000"/>
          </a:schemeClr>
        </a:solidFill>
        <a:effectLst/>
      </p:bgPr>
    </p:bg>
    <p:spTree>
      <p:nvGrpSpPr>
        <p:cNvPr id="1" name=""/>
        <p:cNvGrpSpPr/>
        <p:nvPr/>
      </p:nvGrpSpPr>
      <p:grpSpPr>
        <a:xfrm>
          <a:off x="0" y="0"/>
          <a:ext cx="0" cy="0"/>
          <a:chOff x="0" y="0"/>
          <a:chExt cx="0" cy="0"/>
        </a:xfrm>
      </p:grpSpPr>
      <p:sp>
        <p:nvSpPr>
          <p:cNvPr id="5" name="TextBox 4"/>
          <p:cNvSpPr txBox="1"/>
          <p:nvPr/>
        </p:nvSpPr>
        <p:spPr bwMode="white">
          <a:xfrm>
            <a:off x="11167872" y="6404400"/>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
        <p:nvSpPr>
          <p:cNvPr id="3" name="Date Placeholder 2"/>
          <p:cNvSpPr>
            <a:spLocks noGrp="1"/>
          </p:cNvSpPr>
          <p:nvPr>
            <p:ph type="dt" sz="half" idx="10"/>
          </p:nvPr>
        </p:nvSpPr>
        <p:spPr/>
        <p:txBody>
          <a:bodyPr/>
          <a:lstStyle>
            <a:lvl1pPr>
              <a:defRPr>
                <a:solidFill>
                  <a:schemeClr val="bg1"/>
                </a:solidFill>
                <a:latin typeface="+mn-lt"/>
                <a:sym typeface="Trebuchet MS" panose="020B0603020202020204" pitchFamily="34" charset="0"/>
              </a:defRPr>
            </a:lvl1pPr>
          </a:lstStyle>
          <a:p>
            <a:endParaRPr lang="en-US"/>
          </a:p>
        </p:txBody>
      </p:sp>
      <p:sp>
        <p:nvSpPr>
          <p:cNvPr id="11"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2022 by Boston Consulting Group. All rights reserved.</a:t>
            </a:r>
          </a:p>
        </p:txBody>
      </p:sp>
      <p:sp>
        <p:nvSpPr>
          <p:cNvPr id="2" name="Title 1"/>
          <p:cNvSpPr>
            <a:spLocks noGrp="1"/>
          </p:cNvSpPr>
          <p:nvPr>
            <p:ph type="title" hasCustomPrompt="1"/>
          </p:nvPr>
        </p:nvSpPr>
        <p:spPr>
          <a:xfrm>
            <a:off x="630000" y="622800"/>
            <a:ext cx="10933200" cy="332399"/>
          </a:xfrm>
        </p:spPr>
        <p:txBody>
          <a:bodyPr/>
          <a:lstStyle>
            <a:lvl1pPr>
              <a:defRPr>
                <a:solidFill>
                  <a:schemeClr val="bg1"/>
                </a:solidFill>
                <a:latin typeface="+mj-lt"/>
                <a:sym typeface="Trebuchet MS" panose="020B0603020202020204" pitchFamily="34" charset="0"/>
              </a:defRPr>
            </a:lvl1pPr>
          </a:lstStyle>
          <a:p>
            <a:r>
              <a:rPr lang="en-US"/>
              <a:t>Click to add title</a:t>
            </a:r>
          </a:p>
        </p:txBody>
      </p:sp>
    </p:spTree>
    <p:extLst>
      <p:ext uri="{BB962C8B-B14F-4D97-AF65-F5344CB8AC3E}">
        <p14:creationId xmlns:p14="http://schemas.microsoft.com/office/powerpoint/2010/main" val="75065678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30.xml><?xml version="1.0" encoding="utf-8"?>
<p:sldLayout xmlns:a="http://schemas.openxmlformats.org/drawingml/2006/main" xmlns:r="http://schemas.openxmlformats.org/officeDocument/2006/relationships" xmlns:p="http://schemas.openxmlformats.org/presentationml/2006/main" showMasterSp="0" preserve="1" userDrawn="1">
  <p:cSld name="D. Table of contents">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sp>
        <p:nvSpPr>
          <p:cNvPr id="13" name="Freeform 12"/>
          <p:cNvSpPr/>
          <p:nvPr/>
        </p:nvSpPr>
        <p:spPr bwMode="ltGray">
          <a:xfrm>
            <a:off x="0" y="0"/>
            <a:ext cx="4088312" cy="6858000"/>
          </a:xfrm>
          <a:custGeom>
            <a:avLst/>
            <a:gdLst>
              <a:gd name="connsiteX0" fmla="*/ 0 w 4088312"/>
              <a:gd name="connsiteY0" fmla="*/ 0 h 6858000"/>
              <a:gd name="connsiteX1" fmla="*/ 3264933 w 4088312"/>
              <a:gd name="connsiteY1" fmla="*/ 0 h 6858000"/>
              <a:gd name="connsiteX2" fmla="*/ 4088312 w 4088312"/>
              <a:gd name="connsiteY2" fmla="*/ 3429000 h 6858000"/>
              <a:gd name="connsiteX3" fmla="*/ 3264933 w 4088312"/>
              <a:gd name="connsiteY3" fmla="*/ 6858000 h 6858000"/>
              <a:gd name="connsiteX4" fmla="*/ 0 w 4088312"/>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8312" h="6858000">
                <a:moveTo>
                  <a:pt x="0" y="0"/>
                </a:moveTo>
                <a:lnTo>
                  <a:pt x="3264933" y="0"/>
                </a:lnTo>
                <a:lnTo>
                  <a:pt x="4088312" y="3429000"/>
                </a:lnTo>
                <a:lnTo>
                  <a:pt x="3264933" y="6858000"/>
                </a:lnTo>
                <a:lnTo>
                  <a:pt x="0" y="685800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p>
            <a:pPr>
              <a:lnSpc>
                <a:spcPct val="90000"/>
              </a:lnSpc>
              <a:spcAft>
                <a:spcPts val="1000"/>
              </a:spcAft>
            </a:pPr>
            <a:endParaRPr lang="en-US" sz="1200">
              <a:solidFill>
                <a:prstClr val="white"/>
              </a:solidFill>
              <a:latin typeface="+mn-lt"/>
              <a:sym typeface="Trebuchet MS" panose="020B0603020202020204" pitchFamily="34" charset="0"/>
            </a:endParaRPr>
          </a:p>
        </p:txBody>
      </p:sp>
      <p:sp>
        <p:nvSpPr>
          <p:cNvPr id="17" name="Freeform 12"/>
          <p:cNvSpPr/>
          <p:nvPr userDrawn="1"/>
        </p:nvSpPr>
        <p:spPr bwMode="ltGray">
          <a:xfrm>
            <a:off x="0" y="0"/>
            <a:ext cx="4088312" cy="6858000"/>
          </a:xfrm>
          <a:custGeom>
            <a:avLst/>
            <a:gdLst>
              <a:gd name="connsiteX0" fmla="*/ 0 w 4088312"/>
              <a:gd name="connsiteY0" fmla="*/ 0 h 6858000"/>
              <a:gd name="connsiteX1" fmla="*/ 3264933 w 4088312"/>
              <a:gd name="connsiteY1" fmla="*/ 0 h 6858000"/>
              <a:gd name="connsiteX2" fmla="*/ 4088312 w 4088312"/>
              <a:gd name="connsiteY2" fmla="*/ 3429000 h 6858000"/>
              <a:gd name="connsiteX3" fmla="*/ 3264933 w 4088312"/>
              <a:gd name="connsiteY3" fmla="*/ 6858000 h 6858000"/>
              <a:gd name="connsiteX4" fmla="*/ 0 w 4088312"/>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8312" h="6858000">
                <a:moveTo>
                  <a:pt x="0" y="0"/>
                </a:moveTo>
                <a:lnTo>
                  <a:pt x="3264933" y="0"/>
                </a:lnTo>
                <a:lnTo>
                  <a:pt x="4088312" y="3429000"/>
                </a:lnTo>
                <a:lnTo>
                  <a:pt x="3264933" y="6858000"/>
                </a:lnTo>
                <a:lnTo>
                  <a:pt x="0" y="685800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p>
            <a:pPr>
              <a:lnSpc>
                <a:spcPct val="90000"/>
              </a:lnSpc>
              <a:spcAft>
                <a:spcPts val="1000"/>
              </a:spcAft>
            </a:pPr>
            <a:endParaRPr lang="en-US" sz="1200">
              <a:solidFill>
                <a:prstClr val="white"/>
              </a:solidFill>
              <a:latin typeface="+mn-lt"/>
              <a:sym typeface="Trebuchet MS" panose="020B0603020202020204" pitchFamily="34" charset="0"/>
            </a:endParaRPr>
          </a:p>
        </p:txBody>
      </p:sp>
      <p:sp>
        <p:nvSpPr>
          <p:cNvPr id="20" name="TextBox 19"/>
          <p:cNvSpPr txBox="1"/>
          <p:nvPr userDrawn="1"/>
        </p:nvSpPr>
        <p:spPr>
          <a:xfrm>
            <a:off x="630000" y="2577934"/>
            <a:ext cx="2819400" cy="1761764"/>
          </a:xfrm>
          <a:prstGeom prst="rect">
            <a:avLst/>
          </a:prstGeom>
          <a:noFill/>
        </p:spPr>
        <p:txBody>
          <a:bodyPr wrap="square" lIns="0" tIns="0" rIns="0" bIns="0" rtlCol="0" anchor="ctr">
            <a:spAutoFit/>
          </a:bodyPr>
          <a:lstStyle/>
          <a:p>
            <a:pPr marL="0" indent="0">
              <a:lnSpc>
                <a:spcPct val="106000"/>
              </a:lnSpc>
              <a:spcAft>
                <a:spcPts val="700"/>
              </a:spcAft>
              <a:buFontTx/>
              <a:buNone/>
            </a:pPr>
            <a:r>
              <a:rPr lang="en-US" sz="5400">
                <a:solidFill>
                  <a:schemeClr val="tx2"/>
                </a:solidFill>
                <a:latin typeface="+mn-lt"/>
                <a:sym typeface="Trebuchet MS" panose="020B0603020202020204" pitchFamily="34" charset="0"/>
              </a:rPr>
              <a:t>Table of contents</a:t>
            </a:r>
          </a:p>
        </p:txBody>
      </p:sp>
      <p:sp>
        <p:nvSpPr>
          <p:cNvPr id="15" name="Date Placeholder 4"/>
          <p:cNvSpPr>
            <a:spLocks noGrp="1"/>
          </p:cNvSpPr>
          <p:nvPr>
            <p:ph type="dt" sz="half" idx="10"/>
          </p:nvPr>
        </p:nvSpPr>
        <p:spPr>
          <a:xfrm>
            <a:off x="9677400" y="6405036"/>
            <a:ext cx="1482051" cy="153888"/>
          </a:xfrm>
        </p:spPr>
        <p:txBody>
          <a:bodyPr/>
          <a:lstStyle>
            <a:lvl1pPr>
              <a:defRPr>
                <a:solidFill>
                  <a:schemeClr val="bg1"/>
                </a:solidFill>
                <a:latin typeface="+mn-lt"/>
                <a:sym typeface="Trebuchet MS" panose="020B0603020202020204" pitchFamily="34" charset="0"/>
              </a:defRPr>
            </a:lvl1pPr>
          </a:lstStyle>
          <a:p>
            <a:endParaRPr lang="en-US"/>
          </a:p>
        </p:txBody>
      </p:sp>
      <p:sp>
        <p:nvSpPr>
          <p:cNvPr id="24"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2022 by Boston Consulting Group. All rights reserved.</a:t>
            </a:r>
          </a:p>
        </p:txBody>
      </p:sp>
      <p:sp>
        <p:nvSpPr>
          <p:cNvPr id="19" name="TextBox 18"/>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pic>
        <p:nvPicPr>
          <p:cNvPr id="10" name="Picture 9"/>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3108638" y="3586748"/>
            <a:ext cx="1365250" cy="3382962"/>
          </a:xfrm>
          <a:custGeom>
            <a:avLst/>
            <a:gdLst>
              <a:gd name="connsiteX0" fmla="*/ 942801 w 1365250"/>
              <a:gd name="connsiteY0" fmla="*/ 0 h 3382962"/>
              <a:gd name="connsiteX1" fmla="*/ 1365250 w 1365250"/>
              <a:gd name="connsiteY1" fmla="*/ 0 h 3382962"/>
              <a:gd name="connsiteX2" fmla="*/ 1365250 w 1365250"/>
              <a:gd name="connsiteY2" fmla="*/ 3382962 h 3382962"/>
              <a:gd name="connsiteX3" fmla="*/ 128720 w 1365250"/>
              <a:gd name="connsiteY3" fmla="*/ 3382962 h 3382962"/>
              <a:gd name="connsiteX4" fmla="*/ 0 w 1365250"/>
              <a:gd name="connsiteY4" fmla="*/ 0 h 3382962"/>
              <a:gd name="connsiteX5" fmla="*/ 929501 w 1365250"/>
              <a:gd name="connsiteY5" fmla="*/ 0 h 3382962"/>
              <a:gd name="connsiteX6" fmla="*/ 0 w 1365250"/>
              <a:gd name="connsiteY6" fmla="*/ 2860398 h 3382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5250" h="3382962">
                <a:moveTo>
                  <a:pt x="942801" y="0"/>
                </a:moveTo>
                <a:lnTo>
                  <a:pt x="1365250" y="0"/>
                </a:lnTo>
                <a:lnTo>
                  <a:pt x="1365250" y="3382962"/>
                </a:lnTo>
                <a:lnTo>
                  <a:pt x="128720" y="3382962"/>
                </a:lnTo>
                <a:close/>
                <a:moveTo>
                  <a:pt x="0" y="0"/>
                </a:moveTo>
                <a:lnTo>
                  <a:pt x="929501" y="0"/>
                </a:lnTo>
                <a:lnTo>
                  <a:pt x="0" y="2860398"/>
                </a:lnTo>
                <a:close/>
              </a:path>
            </a:pathLst>
          </a:cu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7885795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31.xml><?xml version="1.0" encoding="utf-8"?>
<p:sldLayout xmlns:a="http://schemas.openxmlformats.org/drawingml/2006/main" xmlns:r="http://schemas.openxmlformats.org/officeDocument/2006/relationships" xmlns:p="http://schemas.openxmlformats.org/presentationml/2006/main" showMasterSp="0" preserve="1">
  <p:cSld name="D. Blank green">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sp>
        <p:nvSpPr>
          <p:cNvPr id="6" name="Date Placeholder 4"/>
          <p:cNvSpPr>
            <a:spLocks noGrp="1"/>
          </p:cNvSpPr>
          <p:nvPr>
            <p:ph type="dt" sz="half" idx="10"/>
          </p:nvPr>
        </p:nvSpPr>
        <p:spPr>
          <a:xfrm>
            <a:off x="9677400" y="6405036"/>
            <a:ext cx="1482051" cy="153888"/>
          </a:xfrm>
        </p:spPr>
        <p:txBody>
          <a:bodyPr/>
          <a:lstStyle>
            <a:lvl1pPr>
              <a:defRPr>
                <a:solidFill>
                  <a:schemeClr val="bg1"/>
                </a:solidFill>
                <a:latin typeface="+mn-lt"/>
                <a:sym typeface="Trebuchet MS" panose="020B0603020202020204" pitchFamily="34" charset="0"/>
              </a:defRPr>
            </a:lvl1pPr>
          </a:lstStyle>
          <a:p>
            <a:endParaRPr lang="en-US"/>
          </a:p>
        </p:txBody>
      </p:sp>
      <p:sp>
        <p:nvSpPr>
          <p:cNvPr id="9"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2022 by Boston Consulting Group. All rights reserved.</a:t>
            </a:r>
          </a:p>
        </p:txBody>
      </p:sp>
      <p:sp>
        <p:nvSpPr>
          <p:cNvPr id="11" name="TextBox 10"/>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Tree>
    <p:extLst>
      <p:ext uri="{BB962C8B-B14F-4D97-AF65-F5344CB8AC3E}">
        <p14:creationId xmlns:p14="http://schemas.microsoft.com/office/powerpoint/2010/main" val="64717719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p:cSld name="D. Blank">
    <p:bg>
      <p:bgPr>
        <a:solidFill>
          <a:schemeClr val="bg1"/>
        </a:solidFill>
        <a:effectLst/>
      </p:bgPr>
    </p:bg>
    <p:spTree>
      <p:nvGrpSpPr>
        <p:cNvPr id="1" name=""/>
        <p:cNvGrpSpPr/>
        <p:nvPr/>
      </p:nvGrpSpPr>
      <p:grpSpPr>
        <a:xfrm>
          <a:off x="0" y="0"/>
          <a:ext cx="0" cy="0"/>
          <a:chOff x="0" y="0"/>
          <a:chExt cx="0" cy="0"/>
        </a:xfrm>
      </p:grpSpPr>
      <p:sp>
        <p:nvSpPr>
          <p:cNvPr id="7" name="Date Placeholder 6"/>
          <p:cNvSpPr>
            <a:spLocks noGrp="1"/>
          </p:cNvSpPr>
          <p:nvPr>
            <p:ph type="dt" sz="half" idx="10"/>
          </p:nvPr>
        </p:nvSpPr>
        <p:spPr/>
        <p:txBody>
          <a:bodyPr/>
          <a:lstStyle>
            <a:lvl1pPr>
              <a:defRPr>
                <a:latin typeface="+mn-lt"/>
                <a:sym typeface="Trebuchet MS" panose="020B0603020202020204" pitchFamily="34" charset="0"/>
              </a:defRPr>
            </a:lvl1pPr>
          </a:lstStyle>
          <a:p>
            <a:endParaRPr lang="en-US"/>
          </a:p>
        </p:txBody>
      </p:sp>
      <p:sp>
        <p:nvSpPr>
          <p:cNvPr id="5"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2022 by Boston Consulting Group. All rights reserved.</a:t>
            </a:r>
          </a:p>
        </p:txBody>
      </p:sp>
    </p:spTree>
    <p:extLst>
      <p:ext uri="{BB962C8B-B14F-4D97-AF65-F5344CB8AC3E}">
        <p14:creationId xmlns:p14="http://schemas.microsoft.com/office/powerpoint/2010/main" val="133695151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p:cSld name="D. Disclaimer">
    <p:spTree>
      <p:nvGrpSpPr>
        <p:cNvPr id="1" name=""/>
        <p:cNvGrpSpPr/>
        <p:nvPr/>
      </p:nvGrpSpPr>
      <p:grpSpPr>
        <a:xfrm>
          <a:off x="0" y="0"/>
          <a:ext cx="0" cy="0"/>
          <a:chOff x="0" y="0"/>
          <a:chExt cx="0" cy="0"/>
        </a:xfrm>
      </p:grpSpPr>
      <p:sp>
        <p:nvSpPr>
          <p:cNvPr id="6" name="Rectangle 5"/>
          <p:cNvSpPr/>
          <p:nvPr/>
        </p:nvSpPr>
        <p:spPr>
          <a:xfrm>
            <a:off x="5021826" y="1664256"/>
            <a:ext cx="6209072" cy="3323987"/>
          </a:xfrm>
          <a:prstGeom prst="rect">
            <a:avLst/>
          </a:prstGeom>
        </p:spPr>
        <p:txBody>
          <a:bodyPr wrap="square" lIns="0" tIns="0" rIns="0" bIns="0" anchor="ctr">
            <a:spAutoFit/>
          </a:bodyPr>
          <a:lstStyle/>
          <a:p>
            <a:pPr indent="0">
              <a:lnSpc>
                <a:spcPct val="100000"/>
              </a:lnSpc>
            </a:pPr>
            <a:r>
              <a:rPr lang="en-US" sz="900" b="0">
                <a:latin typeface="+mn-lt"/>
                <a:sym typeface="Trebuchet MS" panose="020B0603020202020204" pitchFamily="34" charset="0"/>
              </a:rPr>
              <a:t>The services and materials provided by Boston Consulting Group (BCG) are subject to BCG's Standard Terms </a:t>
            </a:r>
            <a:br>
              <a:rPr lang="en-US" sz="900" b="0">
                <a:latin typeface="+mn-lt"/>
                <a:sym typeface="Trebuchet MS" panose="020B0603020202020204" pitchFamily="34" charset="0"/>
              </a:rPr>
            </a:br>
            <a:r>
              <a:rPr lang="en-US" sz="900" b="0">
                <a:latin typeface="+mn-lt"/>
                <a:sym typeface="Trebuchet MS" panose="020B0603020202020204" pitchFamily="34" charset="0"/>
              </a:rPr>
              <a:t>(a copy of which is available upon request) or such other agreement as may have been previously executed by BCG. BCG does not provide legal, accounting, or tax advice. The Client is responsible for obtaining independent advice concerning these matters. This advice may affect the guidance given by BCG. Further, BCG has made no undertaking </a:t>
            </a:r>
            <a:br>
              <a:rPr lang="en-US" sz="900" b="0">
                <a:latin typeface="+mn-lt"/>
                <a:sym typeface="Trebuchet MS" panose="020B0603020202020204" pitchFamily="34" charset="0"/>
              </a:rPr>
            </a:br>
            <a:r>
              <a:rPr lang="en-US" sz="900" b="0">
                <a:latin typeface="+mn-lt"/>
                <a:sym typeface="Trebuchet MS" panose="020B0603020202020204" pitchFamily="34" charset="0"/>
              </a:rPr>
              <a:t>to update these materials after the date hereof, notwithstanding that such information may become outdated </a:t>
            </a:r>
            <a:br>
              <a:rPr lang="en-US" sz="900" b="0">
                <a:latin typeface="+mn-lt"/>
                <a:sym typeface="Trebuchet MS" panose="020B0603020202020204" pitchFamily="34" charset="0"/>
              </a:rPr>
            </a:br>
            <a:r>
              <a:rPr lang="en-US" sz="900" b="0">
                <a:latin typeface="+mn-lt"/>
                <a:sym typeface="Trebuchet MS" panose="020B0603020202020204" pitchFamily="34" charset="0"/>
              </a:rPr>
              <a:t>or inaccurate.</a:t>
            </a:r>
          </a:p>
          <a:p>
            <a:pPr indent="0">
              <a:lnSpc>
                <a:spcPct val="100000"/>
              </a:lnSpc>
            </a:pPr>
            <a:r>
              <a:rPr lang="en-US" sz="900" b="0">
                <a:latin typeface="+mn-lt"/>
                <a:sym typeface="Trebuchet MS" panose="020B0603020202020204" pitchFamily="34" charset="0"/>
              </a:rPr>
              <a:t> </a:t>
            </a:r>
          </a:p>
          <a:p>
            <a:pPr indent="0">
              <a:lnSpc>
                <a:spcPct val="100000"/>
              </a:lnSpc>
            </a:pPr>
            <a:r>
              <a:rPr lang="en-US" sz="900" b="0">
                <a:latin typeface="+mn-lt"/>
                <a:sym typeface="Trebuchet MS" panose="020B0603020202020204" pitchFamily="34" charset="0"/>
              </a:rPr>
              <a:t>The materials contained in this presentation are designed for the sole use by the board of directors or senior management of the Client and solely for the limited purposes described in the presentation. The materials shall not be copied or given to any person or entity other than the Client (“Third Party”) without the prior written consent of BCG. These materials serve only as the focus for discussion; they are incomplete without the accompanying oral commentary and may not be relied on as a stand-alone document. Further, Third Parties may not, and it is unreasonable for any Third Party to, rely on these materials for any purpose whatsoever. To the fullest extent permitted by law (and except to the extent otherwise agreed in a signed writing by BCG), BCG shall have no liability whatsoever to any Third Party, and any Third Party hereby waives any rights and claims it may have at any time against BCG with regard to the services, this presentation, or other materials, including the accuracy or completeness thereof. Receipt and review </a:t>
            </a:r>
            <a:br>
              <a:rPr lang="en-US" sz="900" b="0">
                <a:latin typeface="+mn-lt"/>
                <a:sym typeface="Trebuchet MS" panose="020B0603020202020204" pitchFamily="34" charset="0"/>
              </a:rPr>
            </a:br>
            <a:r>
              <a:rPr lang="en-US" sz="900" b="0">
                <a:latin typeface="+mn-lt"/>
                <a:sym typeface="Trebuchet MS" panose="020B0603020202020204" pitchFamily="34" charset="0"/>
              </a:rPr>
              <a:t>of this document shall be deemed agreement with and consideration for the foregoing.</a:t>
            </a:r>
          </a:p>
          <a:p>
            <a:pPr indent="0">
              <a:lnSpc>
                <a:spcPct val="100000"/>
              </a:lnSpc>
            </a:pPr>
            <a:endParaRPr lang="en-US" sz="900" b="0">
              <a:latin typeface="+mn-lt"/>
              <a:sym typeface="Trebuchet MS" panose="020B0603020202020204" pitchFamily="34" charset="0"/>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900" b="0">
                <a:latin typeface="+mn-lt"/>
                <a:sym typeface="Trebuchet MS" panose="020B0603020202020204" pitchFamily="34" charset="0"/>
              </a:rPr>
              <a:t>BCG does not provide fairness opinions or valuations of market transactions, and these materials should not be relied </a:t>
            </a:r>
            <a:br>
              <a:rPr lang="en-US" sz="900" b="0">
                <a:latin typeface="+mn-lt"/>
                <a:sym typeface="Trebuchet MS" panose="020B0603020202020204" pitchFamily="34" charset="0"/>
              </a:rPr>
            </a:br>
            <a:r>
              <a:rPr lang="en-US" sz="900" b="0">
                <a:latin typeface="+mn-lt"/>
                <a:sym typeface="Trebuchet MS" panose="020B0603020202020204" pitchFamily="34" charset="0"/>
              </a:rPr>
              <a:t>on or construed as such. Further, the financial evaluations, projected market and financial information, and conclusions contained in these materials are based upon standard valuation methodologies, are not definitive forecasts, and are not guaranteed by BCG. BCG has used public and/or confidential data and assumptions provided to BCG by the Client. BCG has not independently verified the data and assumptions used in these analyses. Changes in the underlying data </a:t>
            </a:r>
            <a:br>
              <a:rPr lang="en-US" sz="900" b="0">
                <a:latin typeface="+mn-lt"/>
                <a:sym typeface="Trebuchet MS" panose="020B0603020202020204" pitchFamily="34" charset="0"/>
              </a:rPr>
            </a:br>
            <a:r>
              <a:rPr lang="en-US" sz="900" b="0">
                <a:latin typeface="+mn-lt"/>
                <a:sym typeface="Trebuchet MS" panose="020B0603020202020204" pitchFamily="34" charset="0"/>
              </a:rPr>
              <a:t>or operating assumptions will clearly impact the analyses and conclusions.</a:t>
            </a:r>
          </a:p>
        </p:txBody>
      </p:sp>
      <p:sp>
        <p:nvSpPr>
          <p:cNvPr id="7" name="Title 6"/>
          <p:cNvSpPr txBox="1">
            <a:spLocks/>
          </p:cNvSpPr>
          <p:nvPr/>
        </p:nvSpPr>
        <p:spPr>
          <a:xfrm>
            <a:off x="639044" y="2973076"/>
            <a:ext cx="3199529" cy="706347"/>
          </a:xfrm>
          <a:prstGeom prst="rect">
            <a:avLst/>
          </a:prstGeom>
        </p:spPr>
        <p:txBody>
          <a:bodyPr vert="horz" wrap="square" lIns="0" tIns="0" rIns="0" bIns="0" rtlCol="0" anchor="ctr">
            <a:sp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defRPr>
            </a:lvl1pPr>
          </a:lstStyle>
          <a:p>
            <a:r>
              <a:rPr lang="en-US" sz="5100">
                <a:gradFill>
                  <a:gsLst>
                    <a:gs pos="100000">
                      <a:schemeClr val="tx2"/>
                    </a:gs>
                    <a:gs pos="2000">
                      <a:schemeClr val="accent2"/>
                    </a:gs>
                  </a:gsLst>
                  <a:lin ang="2700000" scaled="0"/>
                </a:gradFill>
                <a:latin typeface="+mn-lt"/>
                <a:sym typeface="Trebuchet MS" panose="020B0603020202020204" pitchFamily="34" charset="0"/>
              </a:rPr>
              <a:t>Disclaimer</a:t>
            </a:r>
          </a:p>
        </p:txBody>
      </p:sp>
      <p:cxnSp>
        <p:nvCxnSpPr>
          <p:cNvPr id="9" name="Straight Connector 8"/>
          <p:cNvCxnSpPr/>
          <p:nvPr/>
        </p:nvCxnSpPr>
        <p:spPr>
          <a:xfrm>
            <a:off x="4367898" y="1630185"/>
            <a:ext cx="0" cy="3392129"/>
          </a:xfrm>
          <a:prstGeom prst="line">
            <a:avLst/>
          </a:prstGeom>
          <a:ln w="9525">
            <a:solidFill>
              <a:schemeClr val="tx2"/>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4" name="Date Placeholder 3"/>
          <p:cNvSpPr>
            <a:spLocks noGrp="1"/>
          </p:cNvSpPr>
          <p:nvPr>
            <p:ph type="dt" sz="half" idx="10"/>
          </p:nvPr>
        </p:nvSpPr>
        <p:spPr/>
        <p:txBody>
          <a:bodyPr/>
          <a:lstStyle>
            <a:lvl1pPr>
              <a:defRPr>
                <a:latin typeface="+mn-lt"/>
                <a:sym typeface="Trebuchet MS" panose="020B0603020202020204" pitchFamily="34" charset="0"/>
              </a:defRPr>
            </a:lvl1pPr>
          </a:lstStyle>
          <a:p>
            <a:endParaRPr lang="en-US"/>
          </a:p>
        </p:txBody>
      </p:sp>
      <p:sp>
        <p:nvSpPr>
          <p:cNvPr id="10"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2022 by Boston Consulting Group. All rights reserved.</a:t>
            </a:r>
          </a:p>
        </p:txBody>
      </p:sp>
    </p:spTree>
    <p:extLst>
      <p:ext uri="{BB962C8B-B14F-4D97-AF65-F5344CB8AC3E}">
        <p14:creationId xmlns:p14="http://schemas.microsoft.com/office/powerpoint/2010/main" val="35013708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34.xml><?xml version="1.0" encoding="utf-8"?>
<p:sldLayout xmlns:a="http://schemas.openxmlformats.org/drawingml/2006/main" xmlns:r="http://schemas.openxmlformats.org/officeDocument/2006/relationships" xmlns:p="http://schemas.openxmlformats.org/presentationml/2006/main" showMasterSp="0" type="blank" preserve="1">
  <p:cSld name="D. End">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1"/>
            </p:custDataLst>
            <p:extLst>
              <p:ext uri="{D42A27DB-BD31-4B8C-83A1-F6EECF244321}">
                <p14:modId xmlns:p14="http://schemas.microsoft.com/office/powerpoint/2010/main" val="387538226"/>
              </p:ext>
            </p:ext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384" imgH="384" progId="TCLayout.ActiveDocument.1">
                  <p:embed/>
                </p:oleObj>
              </mc:Choice>
              <mc:Fallback>
                <p:oleObj name="think-cell Slide" r:id="rId5" imgW="384" imgH="384" progId="TCLayout.ActiveDocument.1">
                  <p:embed/>
                  <p:pic>
                    <p:nvPicPr>
                      <p:cNvPr id="2" name="Object 1" hidden="1"/>
                      <p:cNvPicPr/>
                      <p:nvPr/>
                    </p:nvPicPr>
                    <p:blipFill>
                      <a:blip r:embed="rId6"/>
                      <a:stretch>
                        <a:fillRect/>
                      </a:stretch>
                    </p:blipFill>
                    <p:spPr>
                      <a:xfrm>
                        <a:off x="1588" y="1588"/>
                        <a:ext cx="1587" cy="1587"/>
                      </a:xfrm>
                      <a:prstGeom prst="rect">
                        <a:avLst/>
                      </a:prstGeom>
                    </p:spPr>
                  </p:pic>
                </p:oleObj>
              </mc:Fallback>
            </mc:AlternateContent>
          </a:graphicData>
        </a:graphic>
      </p:graphicFrame>
      <p:pic>
        <p:nvPicPr>
          <p:cNvPr id="9" name="TitleAndEndImages"/>
          <p:cNvPicPr>
            <a:picLocks noChangeAspect="1"/>
          </p:cNvPicPr>
          <p:nvPr userDrawn="1">
            <p:custDataLst>
              <p:tags r:id="rId2"/>
            </p:custDataLst>
          </p:nvPr>
        </p:nvPicPr>
        <p:blipFill>
          <a:blip r:embed="rId7">
            <a:extLst>
              <a:ext uri="{28A0092B-C50C-407E-A947-70E740481C1C}">
                <a14:useLocalDpi xmlns:a14="http://schemas.microsoft.com/office/drawing/2010/main" val="0"/>
              </a:ext>
            </a:extLst>
          </a:blip>
          <a:stretch>
            <a:fillRect/>
          </a:stretch>
        </p:blipFill>
        <p:spPr>
          <a:xfrm flipH="1">
            <a:off x="0" y="0"/>
            <a:ext cx="12192000" cy="6858000"/>
          </a:xfrm>
          <a:prstGeom prst="rect">
            <a:avLst/>
          </a:prstGeom>
        </p:spPr>
      </p:pic>
      <p:sp>
        <p:nvSpPr>
          <p:cNvPr id="8" name="Rectangle 7"/>
          <p:cNvSpPr/>
          <p:nvPr userDrawn="1"/>
        </p:nvSpPr>
        <p:spPr bwMode="black">
          <a:xfrm>
            <a:off x="630936" y="626200"/>
            <a:ext cx="8125200" cy="5529600"/>
          </a:xfrm>
          <a:prstGeom prst="rect">
            <a:avLst/>
          </a:prstGeom>
          <a:gradFill flip="none" rotWithShape="1">
            <a:gsLst>
              <a:gs pos="0">
                <a:schemeClr val="accent1">
                  <a:alpha val="90000"/>
                </a:schemeClr>
              </a:gs>
              <a:gs pos="100000">
                <a:schemeClr val="tx2">
                  <a:alpha val="90000"/>
                </a:schemeClr>
              </a:gs>
            </a:gsLst>
            <a:lin ang="189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lnSpc>
                <a:spcPct val="95000"/>
              </a:lnSpc>
            </a:pPr>
            <a:endParaRPr lang="en-US" sz="2000">
              <a:solidFill>
                <a:prstClr val="white"/>
              </a:solidFill>
              <a:latin typeface="+mn-lt"/>
              <a:sym typeface="Trebuchet MS" panose="020B0603020202020204" pitchFamily="34" charset="0"/>
            </a:endParaRPr>
          </a:p>
        </p:txBody>
      </p:sp>
      <p:sp>
        <p:nvSpPr>
          <p:cNvPr id="15" name="TextBox 14"/>
          <p:cNvSpPr txBox="1"/>
          <p:nvPr/>
        </p:nvSpPr>
        <p:spPr bwMode="white">
          <a:xfrm>
            <a:off x="924979" y="5715178"/>
            <a:ext cx="840801" cy="170110"/>
          </a:xfrm>
          <a:prstGeom prst="rect">
            <a:avLst/>
          </a:prstGeom>
          <a:noFill/>
        </p:spPr>
        <p:txBody>
          <a:bodyPr wrap="none" lIns="0" tIns="0" rIns="0" bIns="0" rtlCol="0" anchor="b">
            <a:noAutofit/>
          </a:bodyPr>
          <a:lstStyle/>
          <a:p>
            <a:pPr>
              <a:lnSpc>
                <a:spcPct val="90000"/>
              </a:lnSpc>
              <a:spcAft>
                <a:spcPts val="600"/>
              </a:spcAft>
            </a:pPr>
            <a:r>
              <a:rPr lang="en-US" sz="1200">
                <a:solidFill>
                  <a:schemeClr val="bg1"/>
                </a:solidFill>
                <a:latin typeface="+mn-lt"/>
                <a:sym typeface="Trebuchet MS" panose="020B0603020202020204" pitchFamily="34" charset="0"/>
              </a:rPr>
              <a:t>bcg.com</a:t>
            </a:r>
          </a:p>
        </p:txBody>
      </p:sp>
      <p:sp>
        <p:nvSpPr>
          <p:cNvPr id="10" name="Freeform 9"/>
          <p:cNvSpPr>
            <a:spLocks noChangeAspect="1"/>
          </p:cNvSpPr>
          <p:nvPr userDrawn="1">
            <p:custDataLst>
              <p:tags r:id="rId3"/>
            </p:custDataLst>
          </p:nvPr>
        </p:nvSpPr>
        <p:spPr bwMode="auto">
          <a:xfrm>
            <a:off x="2676857" y="2969513"/>
            <a:ext cx="4033357" cy="842974"/>
          </a:xfrm>
          <a:custGeom>
            <a:avLst/>
            <a:gdLst>
              <a:gd name="connsiteX0" fmla="*/ 8982072 w 11499847"/>
              <a:gd name="connsiteY0" fmla="*/ 1919288 h 2403475"/>
              <a:gd name="connsiteX1" fmla="*/ 8982072 w 11499847"/>
              <a:gd name="connsiteY1" fmla="*/ 2105026 h 2403475"/>
              <a:gd name="connsiteX2" fmla="*/ 9098233 w 11499847"/>
              <a:gd name="connsiteY2" fmla="*/ 2105026 h 2403475"/>
              <a:gd name="connsiteX3" fmla="*/ 9164880 w 11499847"/>
              <a:gd name="connsiteY3" fmla="*/ 2080233 h 2403475"/>
              <a:gd name="connsiteX4" fmla="*/ 9191622 w 11499847"/>
              <a:gd name="connsiteY4" fmla="*/ 2011737 h 2403475"/>
              <a:gd name="connsiteX5" fmla="*/ 9164880 w 11499847"/>
              <a:gd name="connsiteY5" fmla="*/ 1944501 h 2403475"/>
              <a:gd name="connsiteX6" fmla="*/ 9098233 w 11499847"/>
              <a:gd name="connsiteY6" fmla="*/ 1919288 h 2403475"/>
              <a:gd name="connsiteX7" fmla="*/ 8982072 w 11499847"/>
              <a:gd name="connsiteY7" fmla="*/ 1919288 h 2403475"/>
              <a:gd name="connsiteX8" fmla="*/ 7280272 w 11499847"/>
              <a:gd name="connsiteY8" fmla="*/ 1919288 h 2403475"/>
              <a:gd name="connsiteX9" fmla="*/ 7280272 w 11499847"/>
              <a:gd name="connsiteY9" fmla="*/ 2097088 h 2403475"/>
              <a:gd name="connsiteX10" fmla="*/ 7404503 w 11499847"/>
              <a:gd name="connsiteY10" fmla="*/ 2097088 h 2403475"/>
              <a:gd name="connsiteX11" fmla="*/ 7469027 w 11499847"/>
              <a:gd name="connsiteY11" fmla="*/ 2073423 h 2403475"/>
              <a:gd name="connsiteX12" fmla="*/ 7494585 w 11499847"/>
              <a:gd name="connsiteY12" fmla="*/ 2008502 h 2403475"/>
              <a:gd name="connsiteX13" fmla="*/ 7469027 w 11499847"/>
              <a:gd name="connsiteY13" fmla="*/ 1943581 h 2403475"/>
              <a:gd name="connsiteX14" fmla="*/ 7404503 w 11499847"/>
              <a:gd name="connsiteY14" fmla="*/ 1919288 h 2403475"/>
              <a:gd name="connsiteX15" fmla="*/ 7280272 w 11499847"/>
              <a:gd name="connsiteY15" fmla="*/ 1919288 h 2403475"/>
              <a:gd name="connsiteX16" fmla="*/ 7945015 w 11499847"/>
              <a:gd name="connsiteY16" fmla="*/ 1909763 h 2403475"/>
              <a:gd name="connsiteX17" fmla="*/ 7813574 w 11499847"/>
              <a:gd name="connsiteY17" fmla="*/ 1965330 h 2403475"/>
              <a:gd name="connsiteX18" fmla="*/ 7759697 w 11499847"/>
              <a:gd name="connsiteY18" fmla="*/ 2100368 h 2403475"/>
              <a:gd name="connsiteX19" fmla="*/ 7813574 w 11499847"/>
              <a:gd name="connsiteY19" fmla="*/ 2235406 h 2403475"/>
              <a:gd name="connsiteX20" fmla="*/ 7945015 w 11499847"/>
              <a:gd name="connsiteY20" fmla="*/ 2290763 h 2403475"/>
              <a:gd name="connsiteX21" fmla="*/ 8077086 w 11499847"/>
              <a:gd name="connsiteY21" fmla="*/ 2235825 h 2403475"/>
              <a:gd name="connsiteX22" fmla="*/ 8131172 w 11499847"/>
              <a:gd name="connsiteY22" fmla="*/ 2100368 h 2403475"/>
              <a:gd name="connsiteX23" fmla="*/ 8076876 w 11499847"/>
              <a:gd name="connsiteY23" fmla="*/ 1965330 h 2403475"/>
              <a:gd name="connsiteX24" fmla="*/ 7945015 w 11499847"/>
              <a:gd name="connsiteY24" fmla="*/ 1909763 h 2403475"/>
              <a:gd name="connsiteX25" fmla="*/ 8899522 w 11499847"/>
              <a:gd name="connsiteY25" fmla="*/ 1844675 h 2403475"/>
              <a:gd name="connsiteX26" fmla="*/ 9098598 w 11499847"/>
              <a:gd name="connsiteY26" fmla="*/ 1844675 h 2403475"/>
              <a:gd name="connsiteX27" fmla="*/ 9228521 w 11499847"/>
              <a:gd name="connsiteY27" fmla="*/ 1892741 h 2403475"/>
              <a:gd name="connsiteX28" fmla="*/ 9277347 w 11499847"/>
              <a:gd name="connsiteY28" fmla="*/ 2011236 h 2403475"/>
              <a:gd name="connsiteX29" fmla="*/ 9228521 w 11499847"/>
              <a:gd name="connsiteY29" fmla="*/ 2129521 h 2403475"/>
              <a:gd name="connsiteX30" fmla="*/ 9098598 w 11499847"/>
              <a:gd name="connsiteY30" fmla="*/ 2177796 h 2403475"/>
              <a:gd name="connsiteX31" fmla="*/ 8982086 w 11499847"/>
              <a:gd name="connsiteY31" fmla="*/ 2177796 h 2403475"/>
              <a:gd name="connsiteX32" fmla="*/ 8982086 w 11499847"/>
              <a:gd name="connsiteY32" fmla="*/ 2355850 h 2403475"/>
              <a:gd name="connsiteX33" fmla="*/ 8899522 w 11499847"/>
              <a:gd name="connsiteY33" fmla="*/ 2355850 h 2403475"/>
              <a:gd name="connsiteX34" fmla="*/ 8899522 w 11499847"/>
              <a:gd name="connsiteY34" fmla="*/ 1844675 h 2403475"/>
              <a:gd name="connsiteX35" fmla="*/ 8324847 w 11499847"/>
              <a:gd name="connsiteY35" fmla="*/ 1844675 h 2403475"/>
              <a:gd name="connsiteX36" fmla="*/ 8407608 w 11499847"/>
              <a:gd name="connsiteY36" fmla="*/ 1844675 h 2403475"/>
              <a:gd name="connsiteX37" fmla="*/ 8407608 w 11499847"/>
              <a:gd name="connsiteY37" fmla="*/ 2158090 h 2403475"/>
              <a:gd name="connsiteX38" fmla="*/ 8443017 w 11499847"/>
              <a:gd name="connsiteY38" fmla="*/ 2252595 h 2403475"/>
              <a:gd name="connsiteX39" fmla="*/ 8537931 w 11499847"/>
              <a:gd name="connsiteY39" fmla="*/ 2291066 h 2403475"/>
              <a:gd name="connsiteX40" fmla="*/ 8631797 w 11499847"/>
              <a:gd name="connsiteY40" fmla="*/ 2252595 h 2403475"/>
              <a:gd name="connsiteX41" fmla="*/ 8667415 w 11499847"/>
              <a:gd name="connsiteY41" fmla="*/ 2158090 h 2403475"/>
              <a:gd name="connsiteX42" fmla="*/ 8667415 w 11499847"/>
              <a:gd name="connsiteY42" fmla="*/ 1844675 h 2403475"/>
              <a:gd name="connsiteX43" fmla="*/ 8748710 w 11499847"/>
              <a:gd name="connsiteY43" fmla="*/ 1844675 h 2403475"/>
              <a:gd name="connsiteX44" fmla="*/ 8748710 w 11499847"/>
              <a:gd name="connsiteY44" fmla="*/ 2158717 h 2403475"/>
              <a:gd name="connsiteX45" fmla="*/ 8688577 w 11499847"/>
              <a:gd name="connsiteY45" fmla="*/ 2307793 h 2403475"/>
              <a:gd name="connsiteX46" fmla="*/ 8537093 w 11499847"/>
              <a:gd name="connsiteY46" fmla="*/ 2366963 h 2403475"/>
              <a:gd name="connsiteX47" fmla="*/ 8385399 w 11499847"/>
              <a:gd name="connsiteY47" fmla="*/ 2307793 h 2403475"/>
              <a:gd name="connsiteX48" fmla="*/ 8324847 w 11499847"/>
              <a:gd name="connsiteY48" fmla="*/ 2158717 h 2403475"/>
              <a:gd name="connsiteX49" fmla="*/ 8324847 w 11499847"/>
              <a:gd name="connsiteY49" fmla="*/ 1844675 h 2403475"/>
              <a:gd name="connsiteX50" fmla="*/ 7197722 w 11499847"/>
              <a:gd name="connsiteY50" fmla="*/ 1844675 h 2403475"/>
              <a:gd name="connsiteX51" fmla="*/ 7404196 w 11499847"/>
              <a:gd name="connsiteY51" fmla="*/ 1844675 h 2403475"/>
              <a:gd name="connsiteX52" fmla="*/ 7531336 w 11499847"/>
              <a:gd name="connsiteY52" fmla="*/ 1891906 h 2403475"/>
              <a:gd name="connsiteX53" fmla="*/ 7578727 w 11499847"/>
              <a:gd name="connsiteY53" fmla="*/ 2008937 h 2403475"/>
              <a:gd name="connsiteX54" fmla="*/ 7548455 w 11499847"/>
              <a:gd name="connsiteY54" fmla="*/ 2106950 h 2403475"/>
              <a:gd name="connsiteX55" fmla="*/ 7464947 w 11499847"/>
              <a:gd name="connsiteY55" fmla="*/ 2161495 h 2403475"/>
              <a:gd name="connsiteX56" fmla="*/ 7525699 w 11499847"/>
              <a:gd name="connsiteY56" fmla="*/ 2258673 h 2403475"/>
              <a:gd name="connsiteX57" fmla="*/ 7586660 w 11499847"/>
              <a:gd name="connsiteY57" fmla="*/ 2355850 h 2403475"/>
              <a:gd name="connsiteX58" fmla="*/ 7491044 w 11499847"/>
              <a:gd name="connsiteY58" fmla="*/ 2355850 h 2403475"/>
              <a:gd name="connsiteX59" fmla="*/ 7434676 w 11499847"/>
              <a:gd name="connsiteY59" fmla="*/ 2263479 h 2403475"/>
              <a:gd name="connsiteX60" fmla="*/ 7378099 w 11499847"/>
              <a:gd name="connsiteY60" fmla="*/ 2171108 h 2403475"/>
              <a:gd name="connsiteX61" fmla="*/ 7280395 w 11499847"/>
              <a:gd name="connsiteY61" fmla="*/ 2171108 h 2403475"/>
              <a:gd name="connsiteX62" fmla="*/ 7280395 w 11499847"/>
              <a:gd name="connsiteY62" fmla="*/ 2355850 h 2403475"/>
              <a:gd name="connsiteX63" fmla="*/ 7197722 w 11499847"/>
              <a:gd name="connsiteY63" fmla="*/ 2355850 h 2403475"/>
              <a:gd name="connsiteX64" fmla="*/ 7197722 w 11499847"/>
              <a:gd name="connsiteY64" fmla="*/ 1844675 h 2403475"/>
              <a:gd name="connsiteX65" fmla="*/ 7945016 w 11499847"/>
              <a:gd name="connsiteY65" fmla="*/ 1833563 h 2403475"/>
              <a:gd name="connsiteX66" fmla="*/ 8136527 w 11499847"/>
              <a:gd name="connsiteY66" fmla="*/ 1911974 h 2403475"/>
              <a:gd name="connsiteX67" fmla="*/ 8215310 w 11499847"/>
              <a:gd name="connsiteY67" fmla="*/ 2100368 h 2403475"/>
              <a:gd name="connsiteX68" fmla="*/ 8136527 w 11499847"/>
              <a:gd name="connsiteY68" fmla="*/ 2288762 h 2403475"/>
              <a:gd name="connsiteX69" fmla="*/ 7945016 w 11499847"/>
              <a:gd name="connsiteY69" fmla="*/ 2366963 h 2403475"/>
              <a:gd name="connsiteX70" fmla="*/ 7754134 w 11499847"/>
              <a:gd name="connsiteY70" fmla="*/ 2288762 h 2403475"/>
              <a:gd name="connsiteX71" fmla="*/ 7675560 w 11499847"/>
              <a:gd name="connsiteY71" fmla="*/ 2100368 h 2403475"/>
              <a:gd name="connsiteX72" fmla="*/ 7754134 w 11499847"/>
              <a:gd name="connsiteY72" fmla="*/ 1911974 h 2403475"/>
              <a:gd name="connsiteX73" fmla="*/ 7945016 w 11499847"/>
              <a:gd name="connsiteY73" fmla="*/ 1833563 h 2403475"/>
              <a:gd name="connsiteX74" fmla="*/ 6834872 w 11499847"/>
              <a:gd name="connsiteY74" fmla="*/ 1833563 h 2403475"/>
              <a:gd name="connsiteX75" fmla="*/ 6921875 w 11499847"/>
              <a:gd name="connsiteY75" fmla="*/ 1845482 h 2403475"/>
              <a:gd name="connsiteX76" fmla="*/ 6996090 w 11499847"/>
              <a:gd name="connsiteY76" fmla="*/ 1881028 h 2403475"/>
              <a:gd name="connsiteX77" fmla="*/ 6974496 w 11499847"/>
              <a:gd name="connsiteY77" fmla="*/ 1914692 h 2403475"/>
              <a:gd name="connsiteX78" fmla="*/ 6952903 w 11499847"/>
              <a:gd name="connsiteY78" fmla="*/ 1948356 h 2403475"/>
              <a:gd name="connsiteX79" fmla="*/ 6897556 w 11499847"/>
              <a:gd name="connsiteY79" fmla="*/ 1919501 h 2403475"/>
              <a:gd name="connsiteX80" fmla="*/ 6834243 w 11499847"/>
              <a:gd name="connsiteY80" fmla="*/ 1910301 h 2403475"/>
              <a:gd name="connsiteX81" fmla="*/ 6703424 w 11499847"/>
              <a:gd name="connsiteY81" fmla="*/ 1965084 h 2403475"/>
              <a:gd name="connsiteX82" fmla="*/ 6650384 w 11499847"/>
              <a:gd name="connsiteY82" fmla="*/ 2100368 h 2403475"/>
              <a:gd name="connsiteX83" fmla="*/ 6701957 w 11499847"/>
              <a:gd name="connsiteY83" fmla="*/ 2236070 h 2403475"/>
              <a:gd name="connsiteX84" fmla="*/ 6831308 w 11499847"/>
              <a:gd name="connsiteY84" fmla="*/ 2291062 h 2403475"/>
              <a:gd name="connsiteX85" fmla="*/ 6945984 w 11499847"/>
              <a:gd name="connsiteY85" fmla="*/ 2250498 h 2403475"/>
              <a:gd name="connsiteX86" fmla="*/ 6999863 w 11499847"/>
              <a:gd name="connsiteY86" fmla="*/ 2148460 h 2403475"/>
              <a:gd name="connsiteX87" fmla="*/ 6825438 w 11499847"/>
              <a:gd name="connsiteY87" fmla="*/ 2148460 h 2403475"/>
              <a:gd name="connsiteX88" fmla="*/ 6849128 w 11499847"/>
              <a:gd name="connsiteY88" fmla="*/ 2111241 h 2403475"/>
              <a:gd name="connsiteX89" fmla="*/ 6873028 w 11499847"/>
              <a:gd name="connsiteY89" fmla="*/ 2074022 h 2403475"/>
              <a:gd name="connsiteX90" fmla="*/ 7078061 w 11499847"/>
              <a:gd name="connsiteY90" fmla="*/ 2074022 h 2403475"/>
              <a:gd name="connsiteX91" fmla="*/ 7080787 w 11499847"/>
              <a:gd name="connsiteY91" fmla="*/ 2090540 h 2403475"/>
              <a:gd name="connsiteX92" fmla="*/ 7081835 w 11499847"/>
              <a:gd name="connsiteY92" fmla="*/ 2110613 h 2403475"/>
              <a:gd name="connsiteX93" fmla="*/ 7011813 w 11499847"/>
              <a:gd name="connsiteY93" fmla="*/ 2293362 h 2403475"/>
              <a:gd name="connsiteX94" fmla="*/ 6830470 w 11499847"/>
              <a:gd name="connsiteY94" fmla="*/ 2366963 h 2403475"/>
              <a:gd name="connsiteX95" fmla="*/ 6642417 w 11499847"/>
              <a:gd name="connsiteY95" fmla="*/ 2289389 h 2403475"/>
              <a:gd name="connsiteX96" fmla="*/ 6565897 w 11499847"/>
              <a:gd name="connsiteY96" fmla="*/ 2100368 h 2403475"/>
              <a:gd name="connsiteX97" fmla="*/ 6644514 w 11499847"/>
              <a:gd name="connsiteY97" fmla="*/ 1911346 h 2403475"/>
              <a:gd name="connsiteX98" fmla="*/ 6834872 w 11499847"/>
              <a:gd name="connsiteY98" fmla="*/ 1833563 h 2403475"/>
              <a:gd name="connsiteX99" fmla="*/ 501650 w 11499847"/>
              <a:gd name="connsiteY99" fmla="*/ 1403350 h 2403475"/>
              <a:gd name="connsiteX100" fmla="*/ 501650 w 11499847"/>
              <a:gd name="connsiteY100" fmla="*/ 1925638 h 2403475"/>
              <a:gd name="connsiteX101" fmla="*/ 842112 w 11499847"/>
              <a:gd name="connsiteY101" fmla="*/ 1925638 h 2403475"/>
              <a:gd name="connsiteX102" fmla="*/ 1182574 w 11499847"/>
              <a:gd name="connsiteY102" fmla="*/ 1925638 h 2403475"/>
              <a:gd name="connsiteX103" fmla="*/ 1375900 w 11499847"/>
              <a:gd name="connsiteY103" fmla="*/ 1849684 h 2403475"/>
              <a:gd name="connsiteX104" fmla="*/ 1455738 w 11499847"/>
              <a:gd name="connsiteY104" fmla="*/ 1662720 h 2403475"/>
              <a:gd name="connsiteX105" fmla="*/ 1375900 w 11499847"/>
              <a:gd name="connsiteY105" fmla="*/ 1477635 h 2403475"/>
              <a:gd name="connsiteX106" fmla="*/ 1182574 w 11499847"/>
              <a:gd name="connsiteY106" fmla="*/ 1403350 h 2403475"/>
              <a:gd name="connsiteX107" fmla="*/ 501650 w 11499847"/>
              <a:gd name="connsiteY107" fmla="*/ 1403350 h 2403475"/>
              <a:gd name="connsiteX108" fmla="*/ 7349808 w 11499847"/>
              <a:gd name="connsiteY108" fmla="*/ 1012825 h 2403475"/>
              <a:gd name="connsiteX109" fmla="*/ 7218292 w 11499847"/>
              <a:gd name="connsiteY109" fmla="*/ 1067952 h 2403475"/>
              <a:gd name="connsiteX110" fmla="*/ 7164385 w 11499847"/>
              <a:gd name="connsiteY110" fmla="*/ 1202427 h 2403475"/>
              <a:gd name="connsiteX111" fmla="*/ 7218292 w 11499847"/>
              <a:gd name="connsiteY111" fmla="*/ 1336903 h 2403475"/>
              <a:gd name="connsiteX112" fmla="*/ 7349808 w 11499847"/>
              <a:gd name="connsiteY112" fmla="*/ 1392238 h 2403475"/>
              <a:gd name="connsiteX113" fmla="*/ 7481953 w 11499847"/>
              <a:gd name="connsiteY113" fmla="*/ 1337320 h 2403475"/>
              <a:gd name="connsiteX114" fmla="*/ 7535860 w 11499847"/>
              <a:gd name="connsiteY114" fmla="*/ 1202427 h 2403475"/>
              <a:gd name="connsiteX115" fmla="*/ 7481534 w 11499847"/>
              <a:gd name="connsiteY115" fmla="*/ 1067952 h 2403475"/>
              <a:gd name="connsiteX116" fmla="*/ 7349808 w 11499847"/>
              <a:gd name="connsiteY116" fmla="*/ 1012825 h 2403475"/>
              <a:gd name="connsiteX117" fmla="*/ 10448922 w 11499847"/>
              <a:gd name="connsiteY117" fmla="*/ 946150 h 2403475"/>
              <a:gd name="connsiteX118" fmla="*/ 10552110 w 11499847"/>
              <a:gd name="connsiteY118" fmla="*/ 946150 h 2403475"/>
              <a:gd name="connsiteX119" fmla="*/ 10671172 w 11499847"/>
              <a:gd name="connsiteY119" fmla="*/ 1139825 h 2403475"/>
              <a:gd name="connsiteX120" fmla="*/ 10790235 w 11499847"/>
              <a:gd name="connsiteY120" fmla="*/ 1333501 h 2403475"/>
              <a:gd name="connsiteX121" fmla="*/ 10790235 w 11499847"/>
              <a:gd name="connsiteY121" fmla="*/ 946150 h 2403475"/>
              <a:gd name="connsiteX122" fmla="*/ 10869610 w 11499847"/>
              <a:gd name="connsiteY122" fmla="*/ 946150 h 2403475"/>
              <a:gd name="connsiteX123" fmla="*/ 10869610 w 11499847"/>
              <a:gd name="connsiteY123" fmla="*/ 1458913 h 2403475"/>
              <a:gd name="connsiteX124" fmla="*/ 10772772 w 11499847"/>
              <a:gd name="connsiteY124" fmla="*/ 1458913 h 2403475"/>
              <a:gd name="connsiteX125" fmla="*/ 10650535 w 11499847"/>
              <a:gd name="connsiteY125" fmla="*/ 1260475 h 2403475"/>
              <a:gd name="connsiteX126" fmla="*/ 10528297 w 11499847"/>
              <a:gd name="connsiteY126" fmla="*/ 1062038 h 2403475"/>
              <a:gd name="connsiteX127" fmla="*/ 10528297 w 11499847"/>
              <a:gd name="connsiteY127" fmla="*/ 1458913 h 2403475"/>
              <a:gd name="connsiteX128" fmla="*/ 10448922 w 11499847"/>
              <a:gd name="connsiteY128" fmla="*/ 1458913 h 2403475"/>
              <a:gd name="connsiteX129" fmla="*/ 10185397 w 11499847"/>
              <a:gd name="connsiteY129" fmla="*/ 946150 h 2403475"/>
              <a:gd name="connsiteX130" fmla="*/ 10267947 w 11499847"/>
              <a:gd name="connsiteY130" fmla="*/ 946150 h 2403475"/>
              <a:gd name="connsiteX131" fmla="*/ 10267947 w 11499847"/>
              <a:gd name="connsiteY131" fmla="*/ 1458913 h 2403475"/>
              <a:gd name="connsiteX132" fmla="*/ 10185397 w 11499847"/>
              <a:gd name="connsiteY132" fmla="*/ 1458913 h 2403475"/>
              <a:gd name="connsiteX133" fmla="*/ 9656760 w 11499847"/>
              <a:gd name="connsiteY133" fmla="*/ 946150 h 2403475"/>
              <a:gd name="connsiteX134" fmla="*/ 10059985 w 11499847"/>
              <a:gd name="connsiteY134" fmla="*/ 946150 h 2403475"/>
              <a:gd name="connsiteX135" fmla="*/ 10059985 w 11499847"/>
              <a:gd name="connsiteY135" fmla="*/ 1022350 h 2403475"/>
              <a:gd name="connsiteX136" fmla="*/ 9899648 w 11499847"/>
              <a:gd name="connsiteY136" fmla="*/ 1022350 h 2403475"/>
              <a:gd name="connsiteX137" fmla="*/ 9899648 w 11499847"/>
              <a:gd name="connsiteY137" fmla="*/ 1458913 h 2403475"/>
              <a:gd name="connsiteX138" fmla="*/ 9817098 w 11499847"/>
              <a:gd name="connsiteY138" fmla="*/ 1458913 h 2403475"/>
              <a:gd name="connsiteX139" fmla="*/ 9817098 w 11499847"/>
              <a:gd name="connsiteY139" fmla="*/ 1022350 h 2403475"/>
              <a:gd name="connsiteX140" fmla="*/ 9656760 w 11499847"/>
              <a:gd name="connsiteY140" fmla="*/ 1022350 h 2403475"/>
              <a:gd name="connsiteX141" fmla="*/ 9336085 w 11499847"/>
              <a:gd name="connsiteY141" fmla="*/ 946150 h 2403475"/>
              <a:gd name="connsiteX142" fmla="*/ 9418635 w 11499847"/>
              <a:gd name="connsiteY142" fmla="*/ 946150 h 2403475"/>
              <a:gd name="connsiteX143" fmla="*/ 9418635 w 11499847"/>
              <a:gd name="connsiteY143" fmla="*/ 1382713 h 2403475"/>
              <a:gd name="connsiteX144" fmla="*/ 9671048 w 11499847"/>
              <a:gd name="connsiteY144" fmla="*/ 1382713 h 2403475"/>
              <a:gd name="connsiteX145" fmla="*/ 9671048 w 11499847"/>
              <a:gd name="connsiteY145" fmla="*/ 1458913 h 2403475"/>
              <a:gd name="connsiteX146" fmla="*/ 9336085 w 11499847"/>
              <a:gd name="connsiteY146" fmla="*/ 1458913 h 2403475"/>
              <a:gd name="connsiteX147" fmla="*/ 8766172 w 11499847"/>
              <a:gd name="connsiteY147" fmla="*/ 946150 h 2403475"/>
              <a:gd name="connsiteX148" fmla="*/ 8848414 w 11499847"/>
              <a:gd name="connsiteY148" fmla="*/ 946150 h 2403475"/>
              <a:gd name="connsiteX149" fmla="*/ 8848414 w 11499847"/>
              <a:gd name="connsiteY149" fmla="*/ 1260391 h 2403475"/>
              <a:gd name="connsiteX150" fmla="*/ 8883900 w 11499847"/>
              <a:gd name="connsiteY150" fmla="*/ 1355146 h 2403475"/>
              <a:gd name="connsiteX151" fmla="*/ 8978249 w 11499847"/>
              <a:gd name="connsiteY151" fmla="*/ 1393718 h 2403475"/>
              <a:gd name="connsiteX152" fmla="*/ 9071972 w 11499847"/>
              <a:gd name="connsiteY152" fmla="*/ 1355146 h 2403475"/>
              <a:gd name="connsiteX153" fmla="*/ 9107457 w 11499847"/>
              <a:gd name="connsiteY153" fmla="*/ 1260391 h 2403475"/>
              <a:gd name="connsiteX154" fmla="*/ 9107457 w 11499847"/>
              <a:gd name="connsiteY154" fmla="*/ 946150 h 2403475"/>
              <a:gd name="connsiteX155" fmla="*/ 9188447 w 11499847"/>
              <a:gd name="connsiteY155" fmla="*/ 946150 h 2403475"/>
              <a:gd name="connsiteX156" fmla="*/ 9188447 w 11499847"/>
              <a:gd name="connsiteY156" fmla="*/ 1261230 h 2403475"/>
              <a:gd name="connsiteX157" fmla="*/ 9128539 w 11499847"/>
              <a:gd name="connsiteY157" fmla="*/ 1410489 h 2403475"/>
              <a:gd name="connsiteX158" fmla="*/ 8977623 w 11499847"/>
              <a:gd name="connsiteY158" fmla="*/ 1470025 h 2403475"/>
              <a:gd name="connsiteX159" fmla="*/ 8826497 w 11499847"/>
              <a:gd name="connsiteY159" fmla="*/ 1410489 h 2403475"/>
              <a:gd name="connsiteX160" fmla="*/ 8766172 w 11499847"/>
              <a:gd name="connsiteY160" fmla="*/ 1261230 h 2403475"/>
              <a:gd name="connsiteX161" fmla="*/ 8766172 w 11499847"/>
              <a:gd name="connsiteY161" fmla="*/ 946150 h 2403475"/>
              <a:gd name="connsiteX162" fmla="*/ 7737472 w 11499847"/>
              <a:gd name="connsiteY162" fmla="*/ 946150 h 2403475"/>
              <a:gd name="connsiteX163" fmla="*/ 7839072 w 11499847"/>
              <a:gd name="connsiteY163" fmla="*/ 946150 h 2403475"/>
              <a:gd name="connsiteX164" fmla="*/ 7958134 w 11499847"/>
              <a:gd name="connsiteY164" fmla="*/ 1139825 h 2403475"/>
              <a:gd name="connsiteX165" fmla="*/ 8077197 w 11499847"/>
              <a:gd name="connsiteY165" fmla="*/ 1333501 h 2403475"/>
              <a:gd name="connsiteX166" fmla="*/ 8077197 w 11499847"/>
              <a:gd name="connsiteY166" fmla="*/ 946150 h 2403475"/>
              <a:gd name="connsiteX167" fmla="*/ 8156572 w 11499847"/>
              <a:gd name="connsiteY167" fmla="*/ 946150 h 2403475"/>
              <a:gd name="connsiteX168" fmla="*/ 8156572 w 11499847"/>
              <a:gd name="connsiteY168" fmla="*/ 1458913 h 2403475"/>
              <a:gd name="connsiteX169" fmla="*/ 8061322 w 11499847"/>
              <a:gd name="connsiteY169" fmla="*/ 1458913 h 2403475"/>
              <a:gd name="connsiteX170" fmla="*/ 7939084 w 11499847"/>
              <a:gd name="connsiteY170" fmla="*/ 1260475 h 2403475"/>
              <a:gd name="connsiteX171" fmla="*/ 7815259 w 11499847"/>
              <a:gd name="connsiteY171" fmla="*/ 1062038 h 2403475"/>
              <a:gd name="connsiteX172" fmla="*/ 7815259 w 11499847"/>
              <a:gd name="connsiteY172" fmla="*/ 1458913 h 2403475"/>
              <a:gd name="connsiteX173" fmla="*/ 7737472 w 11499847"/>
              <a:gd name="connsiteY173" fmla="*/ 1458913 h 2403475"/>
              <a:gd name="connsiteX174" fmla="*/ 11253544 w 11499847"/>
              <a:gd name="connsiteY174" fmla="*/ 936625 h 2403475"/>
              <a:gd name="connsiteX175" fmla="*/ 11340315 w 11499847"/>
              <a:gd name="connsiteY175" fmla="*/ 948334 h 2403475"/>
              <a:gd name="connsiteX176" fmla="*/ 11414331 w 11499847"/>
              <a:gd name="connsiteY176" fmla="*/ 984090 h 2403475"/>
              <a:gd name="connsiteX177" fmla="*/ 11392795 w 11499847"/>
              <a:gd name="connsiteY177" fmla="*/ 1017545 h 2403475"/>
              <a:gd name="connsiteX178" fmla="*/ 11371260 w 11499847"/>
              <a:gd name="connsiteY178" fmla="*/ 1051209 h 2403475"/>
              <a:gd name="connsiteX179" fmla="*/ 11316270 w 11499847"/>
              <a:gd name="connsiteY179" fmla="*/ 1022354 h 2403475"/>
              <a:gd name="connsiteX180" fmla="*/ 11252917 w 11499847"/>
              <a:gd name="connsiteY180" fmla="*/ 1013363 h 2403475"/>
              <a:gd name="connsiteX181" fmla="*/ 11122657 w 11499847"/>
              <a:gd name="connsiteY181" fmla="*/ 1067936 h 2403475"/>
              <a:gd name="connsiteX182" fmla="*/ 11069549 w 11499847"/>
              <a:gd name="connsiteY182" fmla="*/ 1203221 h 2403475"/>
              <a:gd name="connsiteX183" fmla="*/ 11120984 w 11499847"/>
              <a:gd name="connsiteY183" fmla="*/ 1338923 h 2403475"/>
              <a:gd name="connsiteX184" fmla="*/ 11249990 w 11499847"/>
              <a:gd name="connsiteY184" fmla="*/ 1394124 h 2403475"/>
              <a:gd name="connsiteX185" fmla="*/ 11364360 w 11499847"/>
              <a:gd name="connsiteY185" fmla="*/ 1353350 h 2403475"/>
              <a:gd name="connsiteX186" fmla="*/ 11418095 w 11499847"/>
              <a:gd name="connsiteY186" fmla="*/ 1251521 h 2403475"/>
              <a:gd name="connsiteX187" fmla="*/ 11244136 w 11499847"/>
              <a:gd name="connsiteY187" fmla="*/ 1251521 h 2403475"/>
              <a:gd name="connsiteX188" fmla="*/ 11267971 w 11499847"/>
              <a:gd name="connsiteY188" fmla="*/ 1214303 h 2403475"/>
              <a:gd name="connsiteX189" fmla="*/ 11291598 w 11499847"/>
              <a:gd name="connsiteY189" fmla="*/ 1177084 h 2403475"/>
              <a:gd name="connsiteX190" fmla="*/ 11496083 w 11499847"/>
              <a:gd name="connsiteY190" fmla="*/ 1177084 h 2403475"/>
              <a:gd name="connsiteX191" fmla="*/ 11498802 w 11499847"/>
              <a:gd name="connsiteY191" fmla="*/ 1193393 h 2403475"/>
              <a:gd name="connsiteX192" fmla="*/ 11499847 w 11499847"/>
              <a:gd name="connsiteY192" fmla="*/ 1213466 h 2403475"/>
              <a:gd name="connsiteX193" fmla="*/ 11430222 w 11499847"/>
              <a:gd name="connsiteY193" fmla="*/ 1396215 h 2403475"/>
              <a:gd name="connsiteX194" fmla="*/ 11249154 w 11499847"/>
              <a:gd name="connsiteY194" fmla="*/ 1470025 h 2403475"/>
              <a:gd name="connsiteX195" fmla="*/ 11061813 w 11499847"/>
              <a:gd name="connsiteY195" fmla="*/ 1392242 h 2403475"/>
              <a:gd name="connsiteX196" fmla="*/ 10985497 w 11499847"/>
              <a:gd name="connsiteY196" fmla="*/ 1203221 h 2403475"/>
              <a:gd name="connsiteX197" fmla="*/ 11063695 w 11499847"/>
              <a:gd name="connsiteY197" fmla="*/ 1014408 h 2403475"/>
              <a:gd name="connsiteX198" fmla="*/ 11253544 w 11499847"/>
              <a:gd name="connsiteY198" fmla="*/ 936625 h 2403475"/>
              <a:gd name="connsiteX199" fmla="*/ 8471697 w 11499847"/>
              <a:gd name="connsiteY199" fmla="*/ 936625 h 2403475"/>
              <a:gd name="connsiteX200" fmla="*/ 8556850 w 11499847"/>
              <a:gd name="connsiteY200" fmla="*/ 949798 h 2403475"/>
              <a:gd name="connsiteX201" fmla="*/ 8626729 w 11499847"/>
              <a:gd name="connsiteY201" fmla="*/ 984717 h 2403475"/>
              <a:gd name="connsiteX202" fmla="*/ 8606225 w 11499847"/>
              <a:gd name="connsiteY202" fmla="*/ 1017336 h 2403475"/>
              <a:gd name="connsiteX203" fmla="*/ 8585722 w 11499847"/>
              <a:gd name="connsiteY203" fmla="*/ 1049745 h 2403475"/>
              <a:gd name="connsiteX204" fmla="*/ 8528605 w 11499847"/>
              <a:gd name="connsiteY204" fmla="*/ 1021099 h 2403475"/>
              <a:gd name="connsiteX205" fmla="*/ 8471070 w 11499847"/>
              <a:gd name="connsiteY205" fmla="*/ 1011063 h 2403475"/>
              <a:gd name="connsiteX206" fmla="*/ 8404328 w 11499847"/>
              <a:gd name="connsiteY206" fmla="*/ 1032181 h 2403475"/>
              <a:gd name="connsiteX207" fmla="*/ 8382570 w 11499847"/>
              <a:gd name="connsiteY207" fmla="*/ 1084246 h 2403475"/>
              <a:gd name="connsiteX208" fmla="*/ 8412697 w 11499847"/>
              <a:gd name="connsiteY208" fmla="*/ 1135474 h 2403475"/>
              <a:gd name="connsiteX209" fmla="*/ 8493038 w 11499847"/>
              <a:gd name="connsiteY209" fmla="*/ 1165165 h 2403475"/>
              <a:gd name="connsiteX210" fmla="*/ 8600786 w 11499847"/>
              <a:gd name="connsiteY210" fmla="*/ 1212421 h 2403475"/>
              <a:gd name="connsiteX211" fmla="*/ 8648697 w 11499847"/>
              <a:gd name="connsiteY211" fmla="*/ 1314250 h 2403475"/>
              <a:gd name="connsiteX212" fmla="*/ 8601413 w 11499847"/>
              <a:gd name="connsiteY212" fmla="*/ 1425906 h 2403475"/>
              <a:gd name="connsiteX213" fmla="*/ 8468140 w 11499847"/>
              <a:gd name="connsiteY213" fmla="*/ 1470025 h 2403475"/>
              <a:gd name="connsiteX214" fmla="*/ 8363531 w 11499847"/>
              <a:gd name="connsiteY214" fmla="*/ 1452461 h 2403475"/>
              <a:gd name="connsiteX215" fmla="*/ 8286747 w 11499847"/>
              <a:gd name="connsiteY215" fmla="*/ 1411479 h 2403475"/>
              <a:gd name="connsiteX216" fmla="*/ 8307251 w 11499847"/>
              <a:gd name="connsiteY216" fmla="*/ 1379069 h 2403475"/>
              <a:gd name="connsiteX217" fmla="*/ 8327754 w 11499847"/>
              <a:gd name="connsiteY217" fmla="*/ 1346450 h 2403475"/>
              <a:gd name="connsiteX218" fmla="*/ 8395541 w 11499847"/>
              <a:gd name="connsiteY218" fmla="*/ 1381578 h 2403475"/>
              <a:gd name="connsiteX219" fmla="*/ 8468768 w 11499847"/>
              <a:gd name="connsiteY219" fmla="*/ 1395378 h 2403475"/>
              <a:gd name="connsiteX220" fmla="*/ 8541367 w 11499847"/>
              <a:gd name="connsiteY220" fmla="*/ 1373633 h 2403475"/>
              <a:gd name="connsiteX221" fmla="*/ 8566055 w 11499847"/>
              <a:gd name="connsiteY221" fmla="*/ 1319477 h 2403475"/>
              <a:gd name="connsiteX222" fmla="*/ 8535509 w 11499847"/>
              <a:gd name="connsiteY222" fmla="*/ 1268458 h 2403475"/>
              <a:gd name="connsiteX223" fmla="*/ 8455587 w 11499847"/>
              <a:gd name="connsiteY223" fmla="*/ 1238348 h 2403475"/>
              <a:gd name="connsiteX224" fmla="*/ 8347630 w 11499847"/>
              <a:gd name="connsiteY224" fmla="*/ 1191511 h 2403475"/>
              <a:gd name="connsiteX225" fmla="*/ 8299928 w 11499847"/>
              <a:gd name="connsiteY225" fmla="*/ 1089264 h 2403475"/>
              <a:gd name="connsiteX226" fmla="*/ 8345329 w 11499847"/>
              <a:gd name="connsiteY226" fmla="*/ 979489 h 2403475"/>
              <a:gd name="connsiteX227" fmla="*/ 8471697 w 11499847"/>
              <a:gd name="connsiteY227" fmla="*/ 936625 h 2403475"/>
              <a:gd name="connsiteX228" fmla="*/ 7349808 w 11499847"/>
              <a:gd name="connsiteY228" fmla="*/ 936625 h 2403475"/>
              <a:gd name="connsiteX229" fmla="*/ 7541183 w 11499847"/>
              <a:gd name="connsiteY229" fmla="*/ 1014826 h 2403475"/>
              <a:gd name="connsiteX230" fmla="*/ 7619997 w 11499847"/>
              <a:gd name="connsiteY230" fmla="*/ 1203221 h 2403475"/>
              <a:gd name="connsiteX231" fmla="*/ 7541183 w 11499847"/>
              <a:gd name="connsiteY231" fmla="*/ 1391615 h 2403475"/>
              <a:gd name="connsiteX232" fmla="*/ 7349808 w 11499847"/>
              <a:gd name="connsiteY232" fmla="*/ 1470025 h 2403475"/>
              <a:gd name="connsiteX233" fmla="*/ 7158642 w 11499847"/>
              <a:gd name="connsiteY233" fmla="*/ 1391615 h 2403475"/>
              <a:gd name="connsiteX234" fmla="*/ 7080247 w 11499847"/>
              <a:gd name="connsiteY234" fmla="*/ 1203221 h 2403475"/>
              <a:gd name="connsiteX235" fmla="*/ 7158642 w 11499847"/>
              <a:gd name="connsiteY235" fmla="*/ 1014826 h 2403475"/>
              <a:gd name="connsiteX236" fmla="*/ 7349808 w 11499847"/>
              <a:gd name="connsiteY236" fmla="*/ 936625 h 2403475"/>
              <a:gd name="connsiteX237" fmla="*/ 6837427 w 11499847"/>
              <a:gd name="connsiteY237" fmla="*/ 936625 h 2403475"/>
              <a:gd name="connsiteX238" fmla="*/ 6932756 w 11499847"/>
              <a:gd name="connsiteY238" fmla="*/ 951680 h 2403475"/>
              <a:gd name="connsiteX239" fmla="*/ 7008810 w 11499847"/>
              <a:gd name="connsiteY239" fmla="*/ 993499 h 2403475"/>
              <a:gd name="connsiteX240" fmla="*/ 6987439 w 11499847"/>
              <a:gd name="connsiteY240" fmla="*/ 1026745 h 2403475"/>
              <a:gd name="connsiteX241" fmla="*/ 6966278 w 11499847"/>
              <a:gd name="connsiteY241" fmla="*/ 1059991 h 2403475"/>
              <a:gd name="connsiteX242" fmla="*/ 6904891 w 11499847"/>
              <a:gd name="connsiteY242" fmla="*/ 1024863 h 2403475"/>
              <a:gd name="connsiteX243" fmla="*/ 6833027 w 11499847"/>
              <a:gd name="connsiteY243" fmla="*/ 1012526 h 2403475"/>
              <a:gd name="connsiteX244" fmla="*/ 6703338 w 11499847"/>
              <a:gd name="connsiteY244" fmla="*/ 1067727 h 2403475"/>
              <a:gd name="connsiteX245" fmla="*/ 6649912 w 11499847"/>
              <a:gd name="connsiteY245" fmla="*/ 1203221 h 2403475"/>
              <a:gd name="connsiteX246" fmla="*/ 6703338 w 11499847"/>
              <a:gd name="connsiteY246" fmla="*/ 1338923 h 2403475"/>
              <a:gd name="connsiteX247" fmla="*/ 6833027 w 11499847"/>
              <a:gd name="connsiteY247" fmla="*/ 1393915 h 2403475"/>
              <a:gd name="connsiteX248" fmla="*/ 6904891 w 11499847"/>
              <a:gd name="connsiteY248" fmla="*/ 1381787 h 2403475"/>
              <a:gd name="connsiteX249" fmla="*/ 6966278 w 11499847"/>
              <a:gd name="connsiteY249" fmla="*/ 1346450 h 2403475"/>
              <a:gd name="connsiteX250" fmla="*/ 6987439 w 11499847"/>
              <a:gd name="connsiteY250" fmla="*/ 1379696 h 2403475"/>
              <a:gd name="connsiteX251" fmla="*/ 7008810 w 11499847"/>
              <a:gd name="connsiteY251" fmla="*/ 1412942 h 2403475"/>
              <a:gd name="connsiteX252" fmla="*/ 6932756 w 11499847"/>
              <a:gd name="connsiteY252" fmla="*/ 1454970 h 2403475"/>
              <a:gd name="connsiteX253" fmla="*/ 6837427 w 11499847"/>
              <a:gd name="connsiteY253" fmla="*/ 1470025 h 2403475"/>
              <a:gd name="connsiteX254" fmla="*/ 6644674 w 11499847"/>
              <a:gd name="connsiteY254" fmla="*/ 1392242 h 2403475"/>
              <a:gd name="connsiteX255" fmla="*/ 6565897 w 11499847"/>
              <a:gd name="connsiteY255" fmla="*/ 1203221 h 2403475"/>
              <a:gd name="connsiteX256" fmla="*/ 6644674 w 11499847"/>
              <a:gd name="connsiteY256" fmla="*/ 1014408 h 2403475"/>
              <a:gd name="connsiteX257" fmla="*/ 6837427 w 11499847"/>
              <a:gd name="connsiteY257" fmla="*/ 936625 h 2403475"/>
              <a:gd name="connsiteX258" fmla="*/ 501650 w 11499847"/>
              <a:gd name="connsiteY258" fmla="*/ 477838 h 2403475"/>
              <a:gd name="connsiteX259" fmla="*/ 501650 w 11499847"/>
              <a:gd name="connsiteY259" fmla="*/ 981076 h 2403475"/>
              <a:gd name="connsiteX260" fmla="*/ 786010 w 11499847"/>
              <a:gd name="connsiteY260" fmla="*/ 981076 h 2403475"/>
              <a:gd name="connsiteX261" fmla="*/ 1070579 w 11499847"/>
              <a:gd name="connsiteY261" fmla="*/ 981076 h 2403475"/>
              <a:gd name="connsiteX262" fmla="*/ 1253188 w 11499847"/>
              <a:gd name="connsiteY262" fmla="*/ 908588 h 2403475"/>
              <a:gd name="connsiteX263" fmla="*/ 1327150 w 11499847"/>
              <a:gd name="connsiteY263" fmla="*/ 727681 h 2403475"/>
              <a:gd name="connsiteX264" fmla="*/ 1253188 w 11499847"/>
              <a:gd name="connsiteY264" fmla="*/ 548446 h 2403475"/>
              <a:gd name="connsiteX265" fmla="*/ 1070579 w 11499847"/>
              <a:gd name="connsiteY265" fmla="*/ 477838 h 2403475"/>
              <a:gd name="connsiteX266" fmla="*/ 501650 w 11499847"/>
              <a:gd name="connsiteY266" fmla="*/ 477838 h 2403475"/>
              <a:gd name="connsiteX267" fmla="*/ 6675435 w 11499847"/>
              <a:gd name="connsiteY267" fmla="*/ 336550 h 2403475"/>
              <a:gd name="connsiteX268" fmla="*/ 6675435 w 11499847"/>
              <a:gd name="connsiteY268" fmla="*/ 487363 h 2403475"/>
              <a:gd name="connsiteX269" fmla="*/ 6808467 w 11499847"/>
              <a:gd name="connsiteY269" fmla="*/ 487363 h 2403475"/>
              <a:gd name="connsiteX270" fmla="*/ 6865570 w 11499847"/>
              <a:gd name="connsiteY270" fmla="*/ 465370 h 2403475"/>
              <a:gd name="connsiteX271" fmla="*/ 6888160 w 11499847"/>
              <a:gd name="connsiteY271" fmla="*/ 411957 h 2403475"/>
              <a:gd name="connsiteX272" fmla="*/ 6865570 w 11499847"/>
              <a:gd name="connsiteY272" fmla="*/ 358334 h 2403475"/>
              <a:gd name="connsiteX273" fmla="*/ 6808467 w 11499847"/>
              <a:gd name="connsiteY273" fmla="*/ 336550 h 2403475"/>
              <a:gd name="connsiteX274" fmla="*/ 6675435 w 11499847"/>
              <a:gd name="connsiteY274" fmla="*/ 336550 h 2403475"/>
              <a:gd name="connsiteX275" fmla="*/ 6675435 w 11499847"/>
              <a:gd name="connsiteY275" fmla="*/ 122238 h 2403475"/>
              <a:gd name="connsiteX276" fmla="*/ 6675435 w 11499847"/>
              <a:gd name="connsiteY276" fmla="*/ 265113 h 2403475"/>
              <a:gd name="connsiteX277" fmla="*/ 6795279 w 11499847"/>
              <a:gd name="connsiteY277" fmla="*/ 265113 h 2403475"/>
              <a:gd name="connsiteX278" fmla="*/ 6848404 w 11499847"/>
              <a:gd name="connsiteY278" fmla="*/ 244673 h 2403475"/>
              <a:gd name="connsiteX279" fmla="*/ 6869110 w 11499847"/>
              <a:gd name="connsiteY279" fmla="*/ 193571 h 2403475"/>
              <a:gd name="connsiteX280" fmla="*/ 6848404 w 11499847"/>
              <a:gd name="connsiteY280" fmla="*/ 142679 h 2403475"/>
              <a:gd name="connsiteX281" fmla="*/ 6795279 w 11499847"/>
              <a:gd name="connsiteY281" fmla="*/ 122238 h 2403475"/>
              <a:gd name="connsiteX282" fmla="*/ 6675435 w 11499847"/>
              <a:gd name="connsiteY282" fmla="*/ 122238 h 2403475"/>
              <a:gd name="connsiteX283" fmla="*/ 8850791 w 11499847"/>
              <a:gd name="connsiteY283" fmla="*/ 114300 h 2403475"/>
              <a:gd name="connsiteX284" fmla="*/ 8719837 w 11499847"/>
              <a:gd name="connsiteY284" fmla="*/ 169657 h 2403475"/>
              <a:gd name="connsiteX285" fmla="*/ 8666160 w 11499847"/>
              <a:gd name="connsiteY285" fmla="*/ 304905 h 2403475"/>
              <a:gd name="connsiteX286" fmla="*/ 8719837 w 11499847"/>
              <a:gd name="connsiteY286" fmla="*/ 439943 h 2403475"/>
              <a:gd name="connsiteX287" fmla="*/ 8850791 w 11499847"/>
              <a:gd name="connsiteY287" fmla="*/ 495300 h 2403475"/>
              <a:gd name="connsiteX288" fmla="*/ 8982163 w 11499847"/>
              <a:gd name="connsiteY288" fmla="*/ 440153 h 2403475"/>
              <a:gd name="connsiteX289" fmla="*/ 9036048 w 11499847"/>
              <a:gd name="connsiteY289" fmla="*/ 304905 h 2403475"/>
              <a:gd name="connsiteX290" fmla="*/ 8981954 w 11499847"/>
              <a:gd name="connsiteY290" fmla="*/ 169657 h 2403475"/>
              <a:gd name="connsiteX291" fmla="*/ 8850791 w 11499847"/>
              <a:gd name="connsiteY291" fmla="*/ 114300 h 2403475"/>
              <a:gd name="connsiteX292" fmla="*/ 7335415 w 11499847"/>
              <a:gd name="connsiteY292" fmla="*/ 114300 h 2403475"/>
              <a:gd name="connsiteX293" fmla="*/ 7203974 w 11499847"/>
              <a:gd name="connsiteY293" fmla="*/ 169657 h 2403475"/>
              <a:gd name="connsiteX294" fmla="*/ 7150097 w 11499847"/>
              <a:gd name="connsiteY294" fmla="*/ 304905 h 2403475"/>
              <a:gd name="connsiteX295" fmla="*/ 7203974 w 11499847"/>
              <a:gd name="connsiteY295" fmla="*/ 439943 h 2403475"/>
              <a:gd name="connsiteX296" fmla="*/ 7335415 w 11499847"/>
              <a:gd name="connsiteY296" fmla="*/ 495300 h 2403475"/>
              <a:gd name="connsiteX297" fmla="*/ 7467486 w 11499847"/>
              <a:gd name="connsiteY297" fmla="*/ 440153 h 2403475"/>
              <a:gd name="connsiteX298" fmla="*/ 7521572 w 11499847"/>
              <a:gd name="connsiteY298" fmla="*/ 304905 h 2403475"/>
              <a:gd name="connsiteX299" fmla="*/ 7467067 w 11499847"/>
              <a:gd name="connsiteY299" fmla="*/ 169657 h 2403475"/>
              <a:gd name="connsiteX300" fmla="*/ 7335415 w 11499847"/>
              <a:gd name="connsiteY300" fmla="*/ 114300 h 2403475"/>
              <a:gd name="connsiteX301" fmla="*/ 9237660 w 11499847"/>
              <a:gd name="connsiteY301" fmla="*/ 49213 h 2403475"/>
              <a:gd name="connsiteX302" fmla="*/ 9339260 w 11499847"/>
              <a:gd name="connsiteY302" fmla="*/ 49213 h 2403475"/>
              <a:gd name="connsiteX303" fmla="*/ 9458322 w 11499847"/>
              <a:gd name="connsiteY303" fmla="*/ 242888 h 2403475"/>
              <a:gd name="connsiteX304" fmla="*/ 9578972 w 11499847"/>
              <a:gd name="connsiteY304" fmla="*/ 436563 h 2403475"/>
              <a:gd name="connsiteX305" fmla="*/ 9578972 w 11499847"/>
              <a:gd name="connsiteY305" fmla="*/ 49213 h 2403475"/>
              <a:gd name="connsiteX306" fmla="*/ 9656760 w 11499847"/>
              <a:gd name="connsiteY306" fmla="*/ 49213 h 2403475"/>
              <a:gd name="connsiteX307" fmla="*/ 9656760 w 11499847"/>
              <a:gd name="connsiteY307" fmla="*/ 560388 h 2403475"/>
              <a:gd name="connsiteX308" fmla="*/ 9561510 w 11499847"/>
              <a:gd name="connsiteY308" fmla="*/ 560388 h 2403475"/>
              <a:gd name="connsiteX309" fmla="*/ 9439272 w 11499847"/>
              <a:gd name="connsiteY309" fmla="*/ 363538 h 2403475"/>
              <a:gd name="connsiteX310" fmla="*/ 9317035 w 11499847"/>
              <a:gd name="connsiteY310" fmla="*/ 165101 h 2403475"/>
              <a:gd name="connsiteX311" fmla="*/ 9317035 w 11499847"/>
              <a:gd name="connsiteY311" fmla="*/ 560388 h 2403475"/>
              <a:gd name="connsiteX312" fmla="*/ 9237660 w 11499847"/>
              <a:gd name="connsiteY312" fmla="*/ 560388 h 2403475"/>
              <a:gd name="connsiteX313" fmla="*/ 8126410 w 11499847"/>
              <a:gd name="connsiteY313" fmla="*/ 49213 h 2403475"/>
              <a:gd name="connsiteX314" fmla="*/ 8529635 w 11499847"/>
              <a:gd name="connsiteY314" fmla="*/ 49213 h 2403475"/>
              <a:gd name="connsiteX315" fmla="*/ 8529635 w 11499847"/>
              <a:gd name="connsiteY315" fmla="*/ 125413 h 2403475"/>
              <a:gd name="connsiteX316" fmla="*/ 8369298 w 11499847"/>
              <a:gd name="connsiteY316" fmla="*/ 125413 h 2403475"/>
              <a:gd name="connsiteX317" fmla="*/ 8369298 w 11499847"/>
              <a:gd name="connsiteY317" fmla="*/ 560388 h 2403475"/>
              <a:gd name="connsiteX318" fmla="*/ 8285160 w 11499847"/>
              <a:gd name="connsiteY318" fmla="*/ 560388 h 2403475"/>
              <a:gd name="connsiteX319" fmla="*/ 8285160 w 11499847"/>
              <a:gd name="connsiteY319" fmla="*/ 125413 h 2403475"/>
              <a:gd name="connsiteX320" fmla="*/ 8126410 w 11499847"/>
              <a:gd name="connsiteY320" fmla="*/ 125413 h 2403475"/>
              <a:gd name="connsiteX321" fmla="*/ 6592885 w 11499847"/>
              <a:gd name="connsiteY321" fmla="*/ 49213 h 2403475"/>
              <a:gd name="connsiteX322" fmla="*/ 6795851 w 11499847"/>
              <a:gd name="connsiteY322" fmla="*/ 49213 h 2403475"/>
              <a:gd name="connsiteX323" fmla="*/ 6907775 w 11499847"/>
              <a:gd name="connsiteY323" fmla="*/ 87875 h 2403475"/>
              <a:gd name="connsiteX324" fmla="*/ 6952670 w 11499847"/>
              <a:gd name="connsiteY324" fmla="*/ 185680 h 2403475"/>
              <a:gd name="connsiteX325" fmla="*/ 6936382 w 11499847"/>
              <a:gd name="connsiteY325" fmla="*/ 245658 h 2403475"/>
              <a:gd name="connsiteX326" fmla="*/ 6892114 w 11499847"/>
              <a:gd name="connsiteY326" fmla="*/ 288709 h 2403475"/>
              <a:gd name="connsiteX327" fmla="*/ 6950791 w 11499847"/>
              <a:gd name="connsiteY327" fmla="*/ 339492 h 2403475"/>
              <a:gd name="connsiteX328" fmla="*/ 6972298 w 11499847"/>
              <a:gd name="connsiteY328" fmla="*/ 412845 h 2403475"/>
              <a:gd name="connsiteX329" fmla="*/ 6926359 w 11499847"/>
              <a:gd name="connsiteY329" fmla="*/ 517546 h 2403475"/>
              <a:gd name="connsiteX330" fmla="*/ 6808798 w 11499847"/>
              <a:gd name="connsiteY330" fmla="*/ 560388 h 2403475"/>
              <a:gd name="connsiteX331" fmla="*/ 6592885 w 11499847"/>
              <a:gd name="connsiteY331" fmla="*/ 560388 h 2403475"/>
              <a:gd name="connsiteX332" fmla="*/ 6592885 w 11499847"/>
              <a:gd name="connsiteY332" fmla="*/ 49213 h 2403475"/>
              <a:gd name="connsiteX333" fmla="*/ 8850790 w 11499847"/>
              <a:gd name="connsiteY333" fmla="*/ 38100 h 2403475"/>
              <a:gd name="connsiteX334" fmla="*/ 9041603 w 11499847"/>
              <a:gd name="connsiteY334" fmla="*/ 116301 h 2403475"/>
              <a:gd name="connsiteX335" fmla="*/ 9120185 w 11499847"/>
              <a:gd name="connsiteY335" fmla="*/ 304905 h 2403475"/>
              <a:gd name="connsiteX336" fmla="*/ 9041603 w 11499847"/>
              <a:gd name="connsiteY336" fmla="*/ 493090 h 2403475"/>
              <a:gd name="connsiteX337" fmla="*/ 8850790 w 11499847"/>
              <a:gd name="connsiteY337" fmla="*/ 571500 h 2403475"/>
              <a:gd name="connsiteX338" fmla="*/ 8660186 w 11499847"/>
              <a:gd name="connsiteY338" fmla="*/ 493090 h 2403475"/>
              <a:gd name="connsiteX339" fmla="*/ 8582022 w 11499847"/>
              <a:gd name="connsiteY339" fmla="*/ 304905 h 2403475"/>
              <a:gd name="connsiteX340" fmla="*/ 8660186 w 11499847"/>
              <a:gd name="connsiteY340" fmla="*/ 116301 h 2403475"/>
              <a:gd name="connsiteX341" fmla="*/ 8850790 w 11499847"/>
              <a:gd name="connsiteY341" fmla="*/ 38100 h 2403475"/>
              <a:gd name="connsiteX342" fmla="*/ 7870035 w 11499847"/>
              <a:gd name="connsiteY342" fmla="*/ 38100 h 2403475"/>
              <a:gd name="connsiteX343" fmla="*/ 7871499 w 11499847"/>
              <a:gd name="connsiteY343" fmla="*/ 38100 h 2403475"/>
              <a:gd name="connsiteX344" fmla="*/ 7955187 w 11499847"/>
              <a:gd name="connsiteY344" fmla="*/ 51273 h 2403475"/>
              <a:gd name="connsiteX345" fmla="*/ 8025067 w 11499847"/>
              <a:gd name="connsiteY345" fmla="*/ 86401 h 2403475"/>
              <a:gd name="connsiteX346" fmla="*/ 8004563 w 11499847"/>
              <a:gd name="connsiteY346" fmla="*/ 118811 h 2403475"/>
              <a:gd name="connsiteX347" fmla="*/ 7984060 w 11499847"/>
              <a:gd name="connsiteY347" fmla="*/ 151429 h 2403475"/>
              <a:gd name="connsiteX348" fmla="*/ 7926943 w 11499847"/>
              <a:gd name="connsiteY348" fmla="*/ 122574 h 2403475"/>
              <a:gd name="connsiteX349" fmla="*/ 7869198 w 11499847"/>
              <a:gd name="connsiteY349" fmla="*/ 112538 h 2403475"/>
              <a:gd name="connsiteX350" fmla="*/ 7802666 w 11499847"/>
              <a:gd name="connsiteY350" fmla="*/ 133865 h 2403475"/>
              <a:gd name="connsiteX351" fmla="*/ 7780907 w 11499847"/>
              <a:gd name="connsiteY351" fmla="*/ 185721 h 2403475"/>
              <a:gd name="connsiteX352" fmla="*/ 7811035 w 11499847"/>
              <a:gd name="connsiteY352" fmla="*/ 236949 h 2403475"/>
              <a:gd name="connsiteX353" fmla="*/ 7891166 w 11499847"/>
              <a:gd name="connsiteY353" fmla="*/ 266849 h 2403475"/>
              <a:gd name="connsiteX354" fmla="*/ 7998914 w 11499847"/>
              <a:gd name="connsiteY354" fmla="*/ 313896 h 2403475"/>
              <a:gd name="connsiteX355" fmla="*/ 8047035 w 11499847"/>
              <a:gd name="connsiteY355" fmla="*/ 415934 h 2403475"/>
              <a:gd name="connsiteX356" fmla="*/ 7999751 w 11499847"/>
              <a:gd name="connsiteY356" fmla="*/ 527381 h 2403475"/>
              <a:gd name="connsiteX357" fmla="*/ 7866478 w 11499847"/>
              <a:gd name="connsiteY357" fmla="*/ 571500 h 2403475"/>
              <a:gd name="connsiteX358" fmla="*/ 7761659 w 11499847"/>
              <a:gd name="connsiteY358" fmla="*/ 554145 h 2403475"/>
              <a:gd name="connsiteX359" fmla="*/ 7685085 w 11499847"/>
              <a:gd name="connsiteY359" fmla="*/ 512954 h 2403475"/>
              <a:gd name="connsiteX360" fmla="*/ 7725883 w 11499847"/>
              <a:gd name="connsiteY360" fmla="*/ 447925 h 2403475"/>
              <a:gd name="connsiteX361" fmla="*/ 7793879 w 11499847"/>
              <a:gd name="connsiteY361" fmla="*/ 483053 h 2403475"/>
              <a:gd name="connsiteX362" fmla="*/ 7867106 w 11499847"/>
              <a:gd name="connsiteY362" fmla="*/ 497063 h 2403475"/>
              <a:gd name="connsiteX363" fmla="*/ 7939496 w 11499847"/>
              <a:gd name="connsiteY363" fmla="*/ 475108 h 2403475"/>
              <a:gd name="connsiteX364" fmla="*/ 7964393 w 11499847"/>
              <a:gd name="connsiteY364" fmla="*/ 420952 h 2403475"/>
              <a:gd name="connsiteX365" fmla="*/ 7933847 w 11499847"/>
              <a:gd name="connsiteY365" fmla="*/ 369933 h 2403475"/>
              <a:gd name="connsiteX366" fmla="*/ 7853925 w 11499847"/>
              <a:gd name="connsiteY366" fmla="*/ 339823 h 2403475"/>
              <a:gd name="connsiteX367" fmla="*/ 7745968 w 11499847"/>
              <a:gd name="connsiteY367" fmla="*/ 292986 h 2403475"/>
              <a:gd name="connsiteX368" fmla="*/ 7698266 w 11499847"/>
              <a:gd name="connsiteY368" fmla="*/ 190739 h 2403475"/>
              <a:gd name="connsiteX369" fmla="*/ 7743666 w 11499847"/>
              <a:gd name="connsiteY369" fmla="*/ 80964 h 2403475"/>
              <a:gd name="connsiteX370" fmla="*/ 7870035 w 11499847"/>
              <a:gd name="connsiteY370" fmla="*/ 38100 h 2403475"/>
              <a:gd name="connsiteX371" fmla="*/ 7334624 w 11499847"/>
              <a:gd name="connsiteY371" fmla="*/ 38100 h 2403475"/>
              <a:gd name="connsiteX372" fmla="*/ 7525363 w 11499847"/>
              <a:gd name="connsiteY372" fmla="*/ 116301 h 2403475"/>
              <a:gd name="connsiteX373" fmla="*/ 7604123 w 11499847"/>
              <a:gd name="connsiteY373" fmla="*/ 304905 h 2403475"/>
              <a:gd name="connsiteX374" fmla="*/ 7525363 w 11499847"/>
              <a:gd name="connsiteY374" fmla="*/ 493090 h 2403475"/>
              <a:gd name="connsiteX375" fmla="*/ 7334624 w 11499847"/>
              <a:gd name="connsiteY375" fmla="*/ 571500 h 2403475"/>
              <a:gd name="connsiteX376" fmla="*/ 7144094 w 11499847"/>
              <a:gd name="connsiteY376" fmla="*/ 493090 h 2403475"/>
              <a:gd name="connsiteX377" fmla="*/ 7065960 w 11499847"/>
              <a:gd name="connsiteY377" fmla="*/ 304905 h 2403475"/>
              <a:gd name="connsiteX378" fmla="*/ 7144094 w 11499847"/>
              <a:gd name="connsiteY378" fmla="*/ 116301 h 2403475"/>
              <a:gd name="connsiteX379" fmla="*/ 7334624 w 11499847"/>
              <a:gd name="connsiteY379" fmla="*/ 38100 h 2403475"/>
              <a:gd name="connsiteX380" fmla="*/ 2766077 w 11499847"/>
              <a:gd name="connsiteY380" fmla="*/ 0 h 2403475"/>
              <a:gd name="connsiteX381" fmla="*/ 3146531 w 11499847"/>
              <a:gd name="connsiteY381" fmla="*/ 51449 h 2403475"/>
              <a:gd name="connsiteX382" fmla="*/ 3467375 w 11499847"/>
              <a:gd name="connsiteY382" fmla="*/ 204124 h 2403475"/>
              <a:gd name="connsiteX383" fmla="*/ 3340627 w 11499847"/>
              <a:gd name="connsiteY383" fmla="*/ 403228 h 2403475"/>
              <a:gd name="connsiteX384" fmla="*/ 3213880 w 11499847"/>
              <a:gd name="connsiteY384" fmla="*/ 602542 h 2403475"/>
              <a:gd name="connsiteX385" fmla="*/ 3009743 w 11499847"/>
              <a:gd name="connsiteY385" fmla="*/ 496716 h 2403475"/>
              <a:gd name="connsiteX386" fmla="*/ 2766077 w 11499847"/>
              <a:gd name="connsiteY386" fmla="*/ 457606 h 2403475"/>
              <a:gd name="connsiteX387" fmla="*/ 2232314 w 11499847"/>
              <a:gd name="connsiteY387" fmla="*/ 681180 h 2403475"/>
              <a:gd name="connsiteX388" fmla="*/ 2012073 w 11499847"/>
              <a:gd name="connsiteY388" fmla="*/ 1198391 h 2403475"/>
              <a:gd name="connsiteX389" fmla="*/ 2232314 w 11499847"/>
              <a:gd name="connsiteY389" fmla="*/ 1721250 h 2403475"/>
              <a:gd name="connsiteX390" fmla="*/ 2766077 w 11499847"/>
              <a:gd name="connsiteY390" fmla="*/ 1942732 h 2403475"/>
              <a:gd name="connsiteX391" fmla="*/ 3050111 w 11499847"/>
              <a:gd name="connsiteY391" fmla="*/ 1886682 h 2403475"/>
              <a:gd name="connsiteX392" fmla="*/ 3289594 w 11499847"/>
              <a:gd name="connsiteY392" fmla="*/ 1722086 h 2403475"/>
              <a:gd name="connsiteX393" fmla="*/ 3543925 w 11499847"/>
              <a:gd name="connsiteY393" fmla="*/ 1095493 h 2403475"/>
              <a:gd name="connsiteX394" fmla="*/ 3921866 w 11499847"/>
              <a:gd name="connsiteY394" fmla="*/ 345714 h 2403475"/>
              <a:gd name="connsiteX395" fmla="*/ 4300646 w 11499847"/>
              <a:gd name="connsiteY395" fmla="*/ 92441 h 2403475"/>
              <a:gd name="connsiteX396" fmla="*/ 4787977 w 11499847"/>
              <a:gd name="connsiteY396" fmla="*/ 0 h 2403475"/>
              <a:gd name="connsiteX397" fmla="*/ 5168221 w 11499847"/>
              <a:gd name="connsiteY397" fmla="*/ 54796 h 2403475"/>
              <a:gd name="connsiteX398" fmla="*/ 5489275 w 11499847"/>
              <a:gd name="connsiteY398" fmla="*/ 210607 h 2403475"/>
              <a:gd name="connsiteX399" fmla="*/ 5364200 w 11499847"/>
              <a:gd name="connsiteY399" fmla="*/ 409921 h 2403475"/>
              <a:gd name="connsiteX400" fmla="*/ 5239125 w 11499847"/>
              <a:gd name="connsiteY400" fmla="*/ 609025 h 2403475"/>
              <a:gd name="connsiteX401" fmla="*/ 5031643 w 11499847"/>
              <a:gd name="connsiteY401" fmla="*/ 500480 h 2403475"/>
              <a:gd name="connsiteX402" fmla="*/ 4784631 w 11499847"/>
              <a:gd name="connsiteY402" fmla="*/ 460952 h 2403475"/>
              <a:gd name="connsiteX403" fmla="*/ 4264462 w 11499847"/>
              <a:gd name="connsiteY403" fmla="*/ 679089 h 2403475"/>
              <a:gd name="connsiteX404" fmla="*/ 4050287 w 11499847"/>
              <a:gd name="connsiteY404" fmla="*/ 1198391 h 2403475"/>
              <a:gd name="connsiteX405" fmla="*/ 4262370 w 11499847"/>
              <a:gd name="connsiteY405" fmla="*/ 1725223 h 2403475"/>
              <a:gd name="connsiteX406" fmla="*/ 4778147 w 11499847"/>
              <a:gd name="connsiteY406" fmla="*/ 1945870 h 2403475"/>
              <a:gd name="connsiteX407" fmla="*/ 5191438 w 11499847"/>
              <a:gd name="connsiteY407" fmla="*/ 1804280 h 2403475"/>
              <a:gd name="connsiteX408" fmla="*/ 5426737 w 11499847"/>
              <a:gd name="connsiteY408" fmla="*/ 1445390 h 2403475"/>
              <a:gd name="connsiteX409" fmla="*/ 4708917 w 11499847"/>
              <a:gd name="connsiteY409" fmla="*/ 1445390 h 2403475"/>
              <a:gd name="connsiteX410" fmla="*/ 4850515 w 11499847"/>
              <a:gd name="connsiteY410" fmla="*/ 1223279 h 2403475"/>
              <a:gd name="connsiteX411" fmla="*/ 4992113 w 11499847"/>
              <a:gd name="connsiteY411" fmla="*/ 1000960 h 2403475"/>
              <a:gd name="connsiteX412" fmla="*/ 5457901 w 11499847"/>
              <a:gd name="connsiteY412" fmla="*/ 1000960 h 2403475"/>
              <a:gd name="connsiteX413" fmla="*/ 5924108 w 11499847"/>
              <a:gd name="connsiteY413" fmla="*/ 1000960 h 2403475"/>
              <a:gd name="connsiteX414" fmla="*/ 5936030 w 11499847"/>
              <a:gd name="connsiteY414" fmla="*/ 1100094 h 2403475"/>
              <a:gd name="connsiteX415" fmla="*/ 5940422 w 11499847"/>
              <a:gd name="connsiteY415" fmla="*/ 1201738 h 2403475"/>
              <a:gd name="connsiteX416" fmla="*/ 5600963 w 11499847"/>
              <a:gd name="connsiteY416" fmla="*/ 2050860 h 2403475"/>
              <a:gd name="connsiteX417" fmla="*/ 4764970 w 11499847"/>
              <a:gd name="connsiteY417" fmla="*/ 2403475 h 2403475"/>
              <a:gd name="connsiteX418" fmla="*/ 4178290 w 11499847"/>
              <a:gd name="connsiteY418" fmla="*/ 2262513 h 2403475"/>
              <a:gd name="connsiteX419" fmla="*/ 3757265 w 11499847"/>
              <a:gd name="connsiteY419" fmla="*/ 1886682 h 2403475"/>
              <a:gd name="connsiteX420" fmla="*/ 3332469 w 11499847"/>
              <a:gd name="connsiteY420" fmla="*/ 2263558 h 2403475"/>
              <a:gd name="connsiteX421" fmla="*/ 2749555 w 11499847"/>
              <a:gd name="connsiteY421" fmla="*/ 2403475 h 2403475"/>
              <a:gd name="connsiteX422" fmla="*/ 2242563 w 11499847"/>
              <a:gd name="connsiteY422" fmla="*/ 2295766 h 2403475"/>
              <a:gd name="connsiteX423" fmla="*/ 1844121 w 11499847"/>
              <a:gd name="connsiteY423" fmla="*/ 2005266 h 2403475"/>
              <a:gd name="connsiteX424" fmla="*/ 1583096 w 11499847"/>
              <a:gd name="connsiteY424" fmla="*/ 2257493 h 2403475"/>
              <a:gd name="connsiteX425" fmla="*/ 1188838 w 11499847"/>
              <a:gd name="connsiteY425" fmla="*/ 2354117 h 2403475"/>
              <a:gd name="connsiteX426" fmla="*/ 0 w 11499847"/>
              <a:gd name="connsiteY426" fmla="*/ 2354117 h 2403475"/>
              <a:gd name="connsiteX427" fmla="*/ 0 w 11499847"/>
              <a:gd name="connsiteY427" fmla="*/ 1201738 h 2403475"/>
              <a:gd name="connsiteX428" fmla="*/ 0 w 11499847"/>
              <a:gd name="connsiteY428" fmla="*/ 49358 h 2403475"/>
              <a:gd name="connsiteX429" fmla="*/ 538575 w 11499847"/>
              <a:gd name="connsiteY429" fmla="*/ 49358 h 2403475"/>
              <a:gd name="connsiteX430" fmla="*/ 1076940 w 11499847"/>
              <a:gd name="connsiteY430" fmla="*/ 49358 h 2403475"/>
              <a:gd name="connsiteX431" fmla="*/ 1523487 w 11499847"/>
              <a:gd name="connsiteY431" fmla="*/ 176099 h 2403475"/>
              <a:gd name="connsiteX432" fmla="*/ 1774892 w 11499847"/>
              <a:gd name="connsiteY432" fmla="*/ 500480 h 2403475"/>
              <a:gd name="connsiteX433" fmla="*/ 2196549 w 11499847"/>
              <a:gd name="connsiteY433" fmla="*/ 137826 h 2403475"/>
              <a:gd name="connsiteX434" fmla="*/ 2766077 w 11499847"/>
              <a:gd name="connsiteY434" fmla="*/ 0 h 2403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Lst>
            <a:rect l="l" t="t" r="r" b="b"/>
            <a:pathLst>
              <a:path w="11499847" h="2403475">
                <a:moveTo>
                  <a:pt x="8982072" y="1919288"/>
                </a:moveTo>
                <a:cubicBezTo>
                  <a:pt x="8982072" y="2105026"/>
                  <a:pt x="8982072" y="2105026"/>
                  <a:pt x="8982072" y="2105026"/>
                </a:cubicBezTo>
                <a:cubicBezTo>
                  <a:pt x="9098233" y="2105026"/>
                  <a:pt x="9098233" y="2105026"/>
                  <a:pt x="9098233" y="2105026"/>
                </a:cubicBezTo>
                <a:cubicBezTo>
                  <a:pt x="9124975" y="2105026"/>
                  <a:pt x="9148166" y="2096202"/>
                  <a:pt x="9164880" y="2080233"/>
                </a:cubicBezTo>
                <a:cubicBezTo>
                  <a:pt x="9181594" y="2064055"/>
                  <a:pt x="9191622" y="2040732"/>
                  <a:pt x="9191622" y="2011737"/>
                </a:cubicBezTo>
                <a:cubicBezTo>
                  <a:pt x="9191622" y="1983792"/>
                  <a:pt x="9181594" y="1960680"/>
                  <a:pt x="9164880" y="1944501"/>
                </a:cubicBezTo>
                <a:cubicBezTo>
                  <a:pt x="9148166" y="1928323"/>
                  <a:pt x="9124975" y="1919288"/>
                  <a:pt x="9098233" y="1919288"/>
                </a:cubicBezTo>
                <a:cubicBezTo>
                  <a:pt x="8982072" y="1919288"/>
                  <a:pt x="8982072" y="1919288"/>
                  <a:pt x="8982072" y="1919288"/>
                </a:cubicBezTo>
                <a:close/>
                <a:moveTo>
                  <a:pt x="7280272" y="1919288"/>
                </a:moveTo>
                <a:cubicBezTo>
                  <a:pt x="7280272" y="2097088"/>
                  <a:pt x="7280272" y="2097088"/>
                  <a:pt x="7280272" y="2097088"/>
                </a:cubicBezTo>
                <a:cubicBezTo>
                  <a:pt x="7404503" y="2097088"/>
                  <a:pt x="7404503" y="2097088"/>
                  <a:pt x="7404503" y="2097088"/>
                </a:cubicBezTo>
                <a:cubicBezTo>
                  <a:pt x="7430689" y="2097088"/>
                  <a:pt x="7453105" y="2088711"/>
                  <a:pt x="7469027" y="2073423"/>
                </a:cubicBezTo>
                <a:cubicBezTo>
                  <a:pt x="7485158" y="2058136"/>
                  <a:pt x="7494585" y="2035937"/>
                  <a:pt x="7494585" y="2008502"/>
                </a:cubicBezTo>
                <a:cubicBezTo>
                  <a:pt x="7494585" y="1981487"/>
                  <a:pt x="7485158" y="1959078"/>
                  <a:pt x="7469027" y="1943581"/>
                </a:cubicBezTo>
                <a:cubicBezTo>
                  <a:pt x="7453105" y="1927874"/>
                  <a:pt x="7430689" y="1919288"/>
                  <a:pt x="7404503" y="1919288"/>
                </a:cubicBezTo>
                <a:cubicBezTo>
                  <a:pt x="7280272" y="1919288"/>
                  <a:pt x="7280272" y="1919288"/>
                  <a:pt x="7280272" y="1919288"/>
                </a:cubicBezTo>
                <a:close/>
                <a:moveTo>
                  <a:pt x="7945015" y="1909763"/>
                </a:moveTo>
                <a:cubicBezTo>
                  <a:pt x="7893445" y="1909763"/>
                  <a:pt x="7847115" y="1930941"/>
                  <a:pt x="7813574" y="1965330"/>
                </a:cubicBezTo>
                <a:cubicBezTo>
                  <a:pt x="7780242" y="1999719"/>
                  <a:pt x="7759697" y="2047317"/>
                  <a:pt x="7759697" y="2100368"/>
                </a:cubicBezTo>
                <a:cubicBezTo>
                  <a:pt x="7759697" y="2153419"/>
                  <a:pt x="7780242" y="2201227"/>
                  <a:pt x="7813574" y="2235406"/>
                </a:cubicBezTo>
                <a:cubicBezTo>
                  <a:pt x="7847115" y="2269795"/>
                  <a:pt x="7893445" y="2290763"/>
                  <a:pt x="7945015" y="2290763"/>
                </a:cubicBezTo>
                <a:cubicBezTo>
                  <a:pt x="7997215" y="2290763"/>
                  <a:pt x="8043544" y="2270004"/>
                  <a:pt x="8077086" y="2235825"/>
                </a:cubicBezTo>
                <a:cubicBezTo>
                  <a:pt x="8110628" y="2201437"/>
                  <a:pt x="8131172" y="2153838"/>
                  <a:pt x="8131172" y="2100368"/>
                </a:cubicBezTo>
                <a:cubicBezTo>
                  <a:pt x="8131172" y="2047317"/>
                  <a:pt x="8110418" y="1999719"/>
                  <a:pt x="8076876" y="1965330"/>
                </a:cubicBezTo>
                <a:cubicBezTo>
                  <a:pt x="8043334" y="1930941"/>
                  <a:pt x="7996796" y="1909763"/>
                  <a:pt x="7945015" y="1909763"/>
                </a:cubicBezTo>
                <a:close/>
                <a:moveTo>
                  <a:pt x="8899522" y="1844675"/>
                </a:moveTo>
                <a:cubicBezTo>
                  <a:pt x="9098598" y="1844675"/>
                  <a:pt x="9098598" y="1844675"/>
                  <a:pt x="9098598" y="1844675"/>
                </a:cubicBezTo>
                <a:cubicBezTo>
                  <a:pt x="9152872" y="1844675"/>
                  <a:pt x="9197507" y="1862857"/>
                  <a:pt x="9228521" y="1892741"/>
                </a:cubicBezTo>
                <a:cubicBezTo>
                  <a:pt x="9259744" y="1922835"/>
                  <a:pt x="9277347" y="1964423"/>
                  <a:pt x="9277347" y="2011236"/>
                </a:cubicBezTo>
                <a:cubicBezTo>
                  <a:pt x="9277347" y="2057839"/>
                  <a:pt x="9259744" y="2099427"/>
                  <a:pt x="9228521" y="2129521"/>
                </a:cubicBezTo>
                <a:cubicBezTo>
                  <a:pt x="9197507" y="2159405"/>
                  <a:pt x="9152872" y="2177796"/>
                  <a:pt x="9098598" y="2177796"/>
                </a:cubicBezTo>
                <a:cubicBezTo>
                  <a:pt x="8982086" y="2177796"/>
                  <a:pt x="8982086" y="2177796"/>
                  <a:pt x="8982086" y="2177796"/>
                </a:cubicBezTo>
                <a:cubicBezTo>
                  <a:pt x="8982086" y="2355850"/>
                  <a:pt x="8982086" y="2355850"/>
                  <a:pt x="8982086" y="2355850"/>
                </a:cubicBezTo>
                <a:cubicBezTo>
                  <a:pt x="8899522" y="2355850"/>
                  <a:pt x="8899522" y="2355850"/>
                  <a:pt x="8899522" y="2355850"/>
                </a:cubicBezTo>
                <a:cubicBezTo>
                  <a:pt x="8899522" y="1844675"/>
                  <a:pt x="8899522" y="1844675"/>
                  <a:pt x="8899522" y="1844675"/>
                </a:cubicBezTo>
                <a:close/>
                <a:moveTo>
                  <a:pt x="8324847" y="1844675"/>
                </a:moveTo>
                <a:cubicBezTo>
                  <a:pt x="8407608" y="1844675"/>
                  <a:pt x="8407608" y="1844675"/>
                  <a:pt x="8407608" y="1844675"/>
                </a:cubicBezTo>
                <a:cubicBezTo>
                  <a:pt x="8407608" y="2158090"/>
                  <a:pt x="8407608" y="2158090"/>
                  <a:pt x="8407608" y="2158090"/>
                </a:cubicBezTo>
                <a:cubicBezTo>
                  <a:pt x="8407608" y="2195307"/>
                  <a:pt x="8420389" y="2228551"/>
                  <a:pt x="8443017" y="2252595"/>
                </a:cubicBezTo>
                <a:cubicBezTo>
                  <a:pt x="8465855" y="2276431"/>
                  <a:pt x="8498331" y="2291066"/>
                  <a:pt x="8537931" y="2291066"/>
                </a:cubicBezTo>
                <a:cubicBezTo>
                  <a:pt x="8576692" y="2291066"/>
                  <a:pt x="8609168" y="2276431"/>
                  <a:pt x="8631797" y="2252595"/>
                </a:cubicBezTo>
                <a:cubicBezTo>
                  <a:pt x="8654425" y="2228551"/>
                  <a:pt x="8667415" y="2195307"/>
                  <a:pt x="8667415" y="2158090"/>
                </a:cubicBezTo>
                <a:cubicBezTo>
                  <a:pt x="8667415" y="1844675"/>
                  <a:pt x="8667415" y="1844675"/>
                  <a:pt x="8667415" y="1844675"/>
                </a:cubicBezTo>
                <a:cubicBezTo>
                  <a:pt x="8748710" y="1844675"/>
                  <a:pt x="8748710" y="1844675"/>
                  <a:pt x="8748710" y="1844675"/>
                </a:cubicBezTo>
                <a:cubicBezTo>
                  <a:pt x="8748710" y="2158717"/>
                  <a:pt x="8748710" y="2158717"/>
                  <a:pt x="8748710" y="2158717"/>
                </a:cubicBezTo>
                <a:cubicBezTo>
                  <a:pt x="8748710" y="2218724"/>
                  <a:pt x="8726291" y="2270785"/>
                  <a:pt x="8688577" y="2307793"/>
                </a:cubicBezTo>
                <a:cubicBezTo>
                  <a:pt x="8650863" y="2345010"/>
                  <a:pt x="8597854" y="2366963"/>
                  <a:pt x="8537093" y="2366963"/>
                </a:cubicBezTo>
                <a:cubicBezTo>
                  <a:pt x="8476331" y="2366963"/>
                  <a:pt x="8423322" y="2345010"/>
                  <a:pt x="8385399" y="2307793"/>
                </a:cubicBezTo>
                <a:cubicBezTo>
                  <a:pt x="8347475" y="2270785"/>
                  <a:pt x="8324847" y="2218724"/>
                  <a:pt x="8324847" y="2158717"/>
                </a:cubicBezTo>
                <a:cubicBezTo>
                  <a:pt x="8324847" y="1844675"/>
                  <a:pt x="8324847" y="1844675"/>
                  <a:pt x="8324847" y="1844675"/>
                </a:cubicBezTo>
                <a:close/>
                <a:moveTo>
                  <a:pt x="7197722" y="1844675"/>
                </a:moveTo>
                <a:cubicBezTo>
                  <a:pt x="7404196" y="1844675"/>
                  <a:pt x="7404196" y="1844675"/>
                  <a:pt x="7404196" y="1844675"/>
                </a:cubicBezTo>
                <a:cubicBezTo>
                  <a:pt x="7457641" y="1844675"/>
                  <a:pt x="7501065" y="1862439"/>
                  <a:pt x="7531336" y="1891906"/>
                </a:cubicBezTo>
                <a:cubicBezTo>
                  <a:pt x="7561608" y="1921581"/>
                  <a:pt x="7578727" y="1962542"/>
                  <a:pt x="7578727" y="2008937"/>
                </a:cubicBezTo>
                <a:cubicBezTo>
                  <a:pt x="7578727" y="2047390"/>
                  <a:pt x="7568080" y="2080827"/>
                  <a:pt x="7548455" y="2106950"/>
                </a:cubicBezTo>
                <a:cubicBezTo>
                  <a:pt x="7529040" y="2133073"/>
                  <a:pt x="7500647" y="2152091"/>
                  <a:pt x="7464947" y="2161495"/>
                </a:cubicBezTo>
                <a:cubicBezTo>
                  <a:pt x="7525699" y="2258673"/>
                  <a:pt x="7525699" y="2258673"/>
                  <a:pt x="7525699" y="2258673"/>
                </a:cubicBezTo>
                <a:cubicBezTo>
                  <a:pt x="7586660" y="2355850"/>
                  <a:pt x="7586660" y="2355850"/>
                  <a:pt x="7586660" y="2355850"/>
                </a:cubicBezTo>
                <a:cubicBezTo>
                  <a:pt x="7491044" y="2355850"/>
                  <a:pt x="7491044" y="2355850"/>
                  <a:pt x="7491044" y="2355850"/>
                </a:cubicBezTo>
                <a:cubicBezTo>
                  <a:pt x="7434676" y="2263479"/>
                  <a:pt x="7434676" y="2263479"/>
                  <a:pt x="7434676" y="2263479"/>
                </a:cubicBezTo>
                <a:cubicBezTo>
                  <a:pt x="7378099" y="2171108"/>
                  <a:pt x="7378099" y="2171108"/>
                  <a:pt x="7378099" y="2171108"/>
                </a:cubicBezTo>
                <a:cubicBezTo>
                  <a:pt x="7280395" y="2171108"/>
                  <a:pt x="7280395" y="2171108"/>
                  <a:pt x="7280395" y="2171108"/>
                </a:cubicBezTo>
                <a:cubicBezTo>
                  <a:pt x="7280395" y="2355850"/>
                  <a:pt x="7280395" y="2355850"/>
                  <a:pt x="7280395" y="2355850"/>
                </a:cubicBezTo>
                <a:cubicBezTo>
                  <a:pt x="7197722" y="2355850"/>
                  <a:pt x="7197722" y="2355850"/>
                  <a:pt x="7197722" y="2355850"/>
                </a:cubicBezTo>
                <a:cubicBezTo>
                  <a:pt x="7197722" y="1844675"/>
                  <a:pt x="7197722" y="1844675"/>
                  <a:pt x="7197722" y="1844675"/>
                </a:cubicBezTo>
                <a:close/>
                <a:moveTo>
                  <a:pt x="7945016" y="1833563"/>
                </a:moveTo>
                <a:cubicBezTo>
                  <a:pt x="8020028" y="1833563"/>
                  <a:pt x="8087706" y="1863673"/>
                  <a:pt x="8136527" y="1911974"/>
                </a:cubicBezTo>
                <a:cubicBezTo>
                  <a:pt x="8185138" y="1960274"/>
                  <a:pt x="8215310" y="2026976"/>
                  <a:pt x="8215310" y="2100368"/>
                </a:cubicBezTo>
                <a:cubicBezTo>
                  <a:pt x="8215310" y="2173760"/>
                  <a:pt x="8185138" y="2240461"/>
                  <a:pt x="8136527" y="2288762"/>
                </a:cubicBezTo>
                <a:cubicBezTo>
                  <a:pt x="8087706" y="2337063"/>
                  <a:pt x="8020028" y="2366963"/>
                  <a:pt x="7945016" y="2366963"/>
                </a:cubicBezTo>
                <a:cubicBezTo>
                  <a:pt x="7870004" y="2366963"/>
                  <a:pt x="7802745" y="2337063"/>
                  <a:pt x="7754134" y="2288762"/>
                </a:cubicBezTo>
                <a:cubicBezTo>
                  <a:pt x="7705523" y="2240461"/>
                  <a:pt x="7675560" y="2173760"/>
                  <a:pt x="7675560" y="2100368"/>
                </a:cubicBezTo>
                <a:cubicBezTo>
                  <a:pt x="7675560" y="2026976"/>
                  <a:pt x="7705523" y="1960274"/>
                  <a:pt x="7754134" y="1911974"/>
                </a:cubicBezTo>
                <a:cubicBezTo>
                  <a:pt x="7802745" y="1863673"/>
                  <a:pt x="7870004" y="1833563"/>
                  <a:pt x="7945016" y="1833563"/>
                </a:cubicBezTo>
                <a:close/>
                <a:moveTo>
                  <a:pt x="6834872" y="1833563"/>
                </a:moveTo>
                <a:cubicBezTo>
                  <a:pt x="6865690" y="1833563"/>
                  <a:pt x="6894831" y="1837536"/>
                  <a:pt x="6921875" y="1845482"/>
                </a:cubicBezTo>
                <a:cubicBezTo>
                  <a:pt x="6948919" y="1853218"/>
                  <a:pt x="6973658" y="1865136"/>
                  <a:pt x="6996090" y="1881028"/>
                </a:cubicBezTo>
                <a:cubicBezTo>
                  <a:pt x="6974496" y="1914692"/>
                  <a:pt x="6974496" y="1914692"/>
                  <a:pt x="6974496" y="1914692"/>
                </a:cubicBezTo>
                <a:cubicBezTo>
                  <a:pt x="6952903" y="1948356"/>
                  <a:pt x="6952903" y="1948356"/>
                  <a:pt x="6952903" y="1948356"/>
                </a:cubicBezTo>
                <a:cubicBezTo>
                  <a:pt x="6935712" y="1935183"/>
                  <a:pt x="6917263" y="1925774"/>
                  <a:pt x="6897556" y="1919501"/>
                </a:cubicBezTo>
                <a:cubicBezTo>
                  <a:pt x="6877850" y="1913228"/>
                  <a:pt x="6856885" y="1910301"/>
                  <a:pt x="6834243" y="1910301"/>
                </a:cubicBezTo>
                <a:cubicBezTo>
                  <a:pt x="6782461" y="1910301"/>
                  <a:pt x="6736548" y="1931001"/>
                  <a:pt x="6703424" y="1965084"/>
                </a:cubicBezTo>
                <a:cubicBezTo>
                  <a:pt x="6670510" y="1999166"/>
                  <a:pt x="6650384" y="2046631"/>
                  <a:pt x="6650384" y="2100368"/>
                </a:cubicBezTo>
                <a:cubicBezTo>
                  <a:pt x="6650384" y="2154105"/>
                  <a:pt x="6669671" y="2201779"/>
                  <a:pt x="6701957" y="2236070"/>
                </a:cubicBezTo>
                <a:cubicBezTo>
                  <a:pt x="6734242" y="2270152"/>
                  <a:pt x="6779526" y="2291062"/>
                  <a:pt x="6831308" y="2291062"/>
                </a:cubicBezTo>
                <a:cubicBezTo>
                  <a:pt x="6878898" y="2291062"/>
                  <a:pt x="6917473" y="2275798"/>
                  <a:pt x="6945984" y="2250498"/>
                </a:cubicBezTo>
                <a:cubicBezTo>
                  <a:pt x="6974496" y="2225197"/>
                  <a:pt x="6992735" y="2189442"/>
                  <a:pt x="6999863" y="2148460"/>
                </a:cubicBezTo>
                <a:cubicBezTo>
                  <a:pt x="6825438" y="2148460"/>
                  <a:pt x="6825438" y="2148460"/>
                  <a:pt x="6825438" y="2148460"/>
                </a:cubicBezTo>
                <a:cubicBezTo>
                  <a:pt x="6849128" y="2111241"/>
                  <a:pt x="6849128" y="2111241"/>
                  <a:pt x="6849128" y="2111241"/>
                </a:cubicBezTo>
                <a:cubicBezTo>
                  <a:pt x="6873028" y="2074022"/>
                  <a:pt x="6873028" y="2074022"/>
                  <a:pt x="6873028" y="2074022"/>
                </a:cubicBezTo>
                <a:cubicBezTo>
                  <a:pt x="7078061" y="2074022"/>
                  <a:pt x="7078061" y="2074022"/>
                  <a:pt x="7078061" y="2074022"/>
                </a:cubicBezTo>
                <a:cubicBezTo>
                  <a:pt x="7079319" y="2078204"/>
                  <a:pt x="7080158" y="2083849"/>
                  <a:pt x="7080787" y="2090540"/>
                </a:cubicBezTo>
                <a:cubicBezTo>
                  <a:pt x="7081415" y="2096813"/>
                  <a:pt x="7081835" y="2103922"/>
                  <a:pt x="7081835" y="2110613"/>
                </a:cubicBezTo>
                <a:cubicBezTo>
                  <a:pt x="7081835" y="2183378"/>
                  <a:pt x="7056258" y="2247361"/>
                  <a:pt x="7011813" y="2293362"/>
                </a:cubicBezTo>
                <a:cubicBezTo>
                  <a:pt x="6967788" y="2339363"/>
                  <a:pt x="6904894" y="2366963"/>
                  <a:pt x="6830470" y="2366963"/>
                </a:cubicBezTo>
                <a:cubicBezTo>
                  <a:pt x="6756255" y="2366963"/>
                  <a:pt x="6690007" y="2337481"/>
                  <a:pt x="6642417" y="2289389"/>
                </a:cubicBezTo>
                <a:cubicBezTo>
                  <a:pt x="6595037" y="2241088"/>
                  <a:pt x="6565897" y="2174387"/>
                  <a:pt x="6565897" y="2100368"/>
                </a:cubicBezTo>
                <a:cubicBezTo>
                  <a:pt x="6565897" y="2026139"/>
                  <a:pt x="6595876" y="1959438"/>
                  <a:pt x="6644514" y="1911346"/>
                </a:cubicBezTo>
                <a:cubicBezTo>
                  <a:pt x="6692942" y="1863255"/>
                  <a:pt x="6760238" y="1833563"/>
                  <a:pt x="6834872" y="1833563"/>
                </a:cubicBezTo>
                <a:close/>
                <a:moveTo>
                  <a:pt x="501650" y="1403350"/>
                </a:moveTo>
                <a:cubicBezTo>
                  <a:pt x="501650" y="1403350"/>
                  <a:pt x="501650" y="1403350"/>
                  <a:pt x="501650" y="1925638"/>
                </a:cubicBezTo>
                <a:cubicBezTo>
                  <a:pt x="501650" y="1925638"/>
                  <a:pt x="501650" y="1925638"/>
                  <a:pt x="842112" y="1925638"/>
                </a:cubicBezTo>
                <a:cubicBezTo>
                  <a:pt x="842112" y="1925638"/>
                  <a:pt x="842112" y="1925638"/>
                  <a:pt x="1182574" y="1925638"/>
                </a:cubicBezTo>
                <a:cubicBezTo>
                  <a:pt x="1258233" y="1925638"/>
                  <a:pt x="1326576" y="1896842"/>
                  <a:pt x="1375900" y="1849684"/>
                </a:cubicBezTo>
                <a:cubicBezTo>
                  <a:pt x="1425224" y="1802317"/>
                  <a:pt x="1455738" y="1736796"/>
                  <a:pt x="1455738" y="1662720"/>
                </a:cubicBezTo>
                <a:cubicBezTo>
                  <a:pt x="1455738" y="1588853"/>
                  <a:pt x="1425224" y="1523958"/>
                  <a:pt x="1375900" y="1477635"/>
                </a:cubicBezTo>
                <a:cubicBezTo>
                  <a:pt x="1326576" y="1431103"/>
                  <a:pt x="1258233" y="1403350"/>
                  <a:pt x="1182574" y="1403350"/>
                </a:cubicBezTo>
                <a:cubicBezTo>
                  <a:pt x="1182574" y="1403350"/>
                  <a:pt x="1182574" y="1403350"/>
                  <a:pt x="501650" y="1403350"/>
                </a:cubicBezTo>
                <a:close/>
                <a:moveTo>
                  <a:pt x="7349808" y="1012825"/>
                </a:moveTo>
                <a:cubicBezTo>
                  <a:pt x="7297999" y="1012825"/>
                  <a:pt x="7251643" y="1033706"/>
                  <a:pt x="7218292" y="1067952"/>
                </a:cubicBezTo>
                <a:cubicBezTo>
                  <a:pt x="7184731" y="1102197"/>
                  <a:pt x="7164385" y="1149598"/>
                  <a:pt x="7164385" y="1202427"/>
                </a:cubicBezTo>
                <a:cubicBezTo>
                  <a:pt x="7164385" y="1255466"/>
                  <a:pt x="7184731" y="1302866"/>
                  <a:pt x="7218292" y="1336903"/>
                </a:cubicBezTo>
                <a:cubicBezTo>
                  <a:pt x="7251643" y="1371148"/>
                  <a:pt x="7297999" y="1392238"/>
                  <a:pt x="7349808" y="1392238"/>
                </a:cubicBezTo>
                <a:cubicBezTo>
                  <a:pt x="7401827" y="1392238"/>
                  <a:pt x="7448393" y="1371357"/>
                  <a:pt x="7481953" y="1337320"/>
                </a:cubicBezTo>
                <a:cubicBezTo>
                  <a:pt x="7515304" y="1303075"/>
                  <a:pt x="7535860" y="1255675"/>
                  <a:pt x="7535860" y="1202427"/>
                </a:cubicBezTo>
                <a:cubicBezTo>
                  <a:pt x="7535860" y="1149598"/>
                  <a:pt x="7515304" y="1102197"/>
                  <a:pt x="7481534" y="1067952"/>
                </a:cubicBezTo>
                <a:cubicBezTo>
                  <a:pt x="7447973" y="1033706"/>
                  <a:pt x="7401408" y="1012825"/>
                  <a:pt x="7349808" y="1012825"/>
                </a:cubicBezTo>
                <a:close/>
                <a:moveTo>
                  <a:pt x="10448922" y="946150"/>
                </a:moveTo>
                <a:lnTo>
                  <a:pt x="10552110" y="946150"/>
                </a:lnTo>
                <a:lnTo>
                  <a:pt x="10671172" y="1139825"/>
                </a:lnTo>
                <a:lnTo>
                  <a:pt x="10790235" y="1333501"/>
                </a:lnTo>
                <a:lnTo>
                  <a:pt x="10790235" y="946150"/>
                </a:lnTo>
                <a:lnTo>
                  <a:pt x="10869610" y="946150"/>
                </a:lnTo>
                <a:lnTo>
                  <a:pt x="10869610" y="1458913"/>
                </a:lnTo>
                <a:lnTo>
                  <a:pt x="10772772" y="1458913"/>
                </a:lnTo>
                <a:lnTo>
                  <a:pt x="10650535" y="1260475"/>
                </a:lnTo>
                <a:lnTo>
                  <a:pt x="10528297" y="1062038"/>
                </a:lnTo>
                <a:lnTo>
                  <a:pt x="10528297" y="1458913"/>
                </a:lnTo>
                <a:lnTo>
                  <a:pt x="10448922" y="1458913"/>
                </a:lnTo>
                <a:close/>
                <a:moveTo>
                  <a:pt x="10185397" y="946150"/>
                </a:moveTo>
                <a:lnTo>
                  <a:pt x="10267947" y="946150"/>
                </a:lnTo>
                <a:lnTo>
                  <a:pt x="10267947" y="1458913"/>
                </a:lnTo>
                <a:lnTo>
                  <a:pt x="10185397" y="1458913"/>
                </a:lnTo>
                <a:close/>
                <a:moveTo>
                  <a:pt x="9656760" y="946150"/>
                </a:moveTo>
                <a:lnTo>
                  <a:pt x="10059985" y="946150"/>
                </a:lnTo>
                <a:lnTo>
                  <a:pt x="10059985" y="1022350"/>
                </a:lnTo>
                <a:lnTo>
                  <a:pt x="9899648" y="1022350"/>
                </a:lnTo>
                <a:lnTo>
                  <a:pt x="9899648" y="1458913"/>
                </a:lnTo>
                <a:lnTo>
                  <a:pt x="9817098" y="1458913"/>
                </a:lnTo>
                <a:lnTo>
                  <a:pt x="9817098" y="1022350"/>
                </a:lnTo>
                <a:lnTo>
                  <a:pt x="9656760" y="1022350"/>
                </a:lnTo>
                <a:close/>
                <a:moveTo>
                  <a:pt x="9336085" y="946150"/>
                </a:moveTo>
                <a:lnTo>
                  <a:pt x="9418635" y="946150"/>
                </a:lnTo>
                <a:lnTo>
                  <a:pt x="9418635" y="1382713"/>
                </a:lnTo>
                <a:lnTo>
                  <a:pt x="9671048" y="1382713"/>
                </a:lnTo>
                <a:lnTo>
                  <a:pt x="9671048" y="1458913"/>
                </a:lnTo>
                <a:lnTo>
                  <a:pt x="9336085" y="1458913"/>
                </a:lnTo>
                <a:close/>
                <a:moveTo>
                  <a:pt x="8766172" y="946150"/>
                </a:moveTo>
                <a:cubicBezTo>
                  <a:pt x="8848414" y="946150"/>
                  <a:pt x="8848414" y="946150"/>
                  <a:pt x="8848414" y="946150"/>
                </a:cubicBezTo>
                <a:cubicBezTo>
                  <a:pt x="8848414" y="1260391"/>
                  <a:pt x="8848414" y="1260391"/>
                  <a:pt x="8848414" y="1260391"/>
                </a:cubicBezTo>
                <a:cubicBezTo>
                  <a:pt x="8848414" y="1297706"/>
                  <a:pt x="8861356" y="1331038"/>
                  <a:pt x="8883900" y="1355146"/>
                </a:cubicBezTo>
                <a:cubicBezTo>
                  <a:pt x="8906443" y="1379044"/>
                  <a:pt x="8939006" y="1393718"/>
                  <a:pt x="8978249" y="1393718"/>
                </a:cubicBezTo>
                <a:cubicBezTo>
                  <a:pt x="9017074" y="1393718"/>
                  <a:pt x="9049219" y="1379044"/>
                  <a:pt x="9071972" y="1355146"/>
                </a:cubicBezTo>
                <a:cubicBezTo>
                  <a:pt x="9094515" y="1331038"/>
                  <a:pt x="9107457" y="1297706"/>
                  <a:pt x="9107457" y="1260391"/>
                </a:cubicBezTo>
                <a:cubicBezTo>
                  <a:pt x="9107457" y="946150"/>
                  <a:pt x="9107457" y="946150"/>
                  <a:pt x="9107457" y="946150"/>
                </a:cubicBezTo>
                <a:cubicBezTo>
                  <a:pt x="9188447" y="946150"/>
                  <a:pt x="9188447" y="946150"/>
                  <a:pt x="9188447" y="946150"/>
                </a:cubicBezTo>
                <a:cubicBezTo>
                  <a:pt x="9188447" y="1261230"/>
                  <a:pt x="9188447" y="1261230"/>
                  <a:pt x="9188447" y="1261230"/>
                </a:cubicBezTo>
                <a:cubicBezTo>
                  <a:pt x="9188447" y="1321185"/>
                  <a:pt x="9166112" y="1373384"/>
                  <a:pt x="9128539" y="1410489"/>
                </a:cubicBezTo>
                <a:cubicBezTo>
                  <a:pt x="9090758" y="1447804"/>
                  <a:pt x="9038156" y="1470025"/>
                  <a:pt x="8977623" y="1470025"/>
                </a:cubicBezTo>
                <a:cubicBezTo>
                  <a:pt x="8917089" y="1470025"/>
                  <a:pt x="8864278" y="1447804"/>
                  <a:pt x="8826497" y="1410489"/>
                </a:cubicBezTo>
                <a:cubicBezTo>
                  <a:pt x="8788716" y="1373384"/>
                  <a:pt x="8766172" y="1321185"/>
                  <a:pt x="8766172" y="1261230"/>
                </a:cubicBezTo>
                <a:cubicBezTo>
                  <a:pt x="8766172" y="946150"/>
                  <a:pt x="8766172" y="946150"/>
                  <a:pt x="8766172" y="946150"/>
                </a:cubicBezTo>
                <a:close/>
                <a:moveTo>
                  <a:pt x="7737472" y="946150"/>
                </a:moveTo>
                <a:lnTo>
                  <a:pt x="7839072" y="946150"/>
                </a:lnTo>
                <a:lnTo>
                  <a:pt x="7958134" y="1139825"/>
                </a:lnTo>
                <a:lnTo>
                  <a:pt x="8077197" y="1333501"/>
                </a:lnTo>
                <a:lnTo>
                  <a:pt x="8077197" y="946150"/>
                </a:lnTo>
                <a:lnTo>
                  <a:pt x="8156572" y="946150"/>
                </a:lnTo>
                <a:lnTo>
                  <a:pt x="8156572" y="1458913"/>
                </a:lnTo>
                <a:lnTo>
                  <a:pt x="8061322" y="1458913"/>
                </a:lnTo>
                <a:lnTo>
                  <a:pt x="7939084" y="1260475"/>
                </a:lnTo>
                <a:lnTo>
                  <a:pt x="7815259" y="1062038"/>
                </a:lnTo>
                <a:lnTo>
                  <a:pt x="7815259" y="1458913"/>
                </a:lnTo>
                <a:lnTo>
                  <a:pt x="7737472" y="1458913"/>
                </a:lnTo>
                <a:close/>
                <a:moveTo>
                  <a:pt x="11253544" y="936625"/>
                </a:moveTo>
                <a:cubicBezTo>
                  <a:pt x="11284280" y="936625"/>
                  <a:pt x="11313343" y="940389"/>
                  <a:pt x="11340315" y="948334"/>
                </a:cubicBezTo>
                <a:cubicBezTo>
                  <a:pt x="11367287" y="956071"/>
                  <a:pt x="11391959" y="967989"/>
                  <a:pt x="11414331" y="984090"/>
                </a:cubicBezTo>
                <a:cubicBezTo>
                  <a:pt x="11392795" y="1017545"/>
                  <a:pt x="11392795" y="1017545"/>
                  <a:pt x="11392795" y="1017545"/>
                </a:cubicBezTo>
                <a:cubicBezTo>
                  <a:pt x="11371260" y="1051209"/>
                  <a:pt x="11371260" y="1051209"/>
                  <a:pt x="11371260" y="1051209"/>
                </a:cubicBezTo>
                <a:cubicBezTo>
                  <a:pt x="11354114" y="1038036"/>
                  <a:pt x="11335715" y="1028627"/>
                  <a:pt x="11316270" y="1022354"/>
                </a:cubicBezTo>
                <a:cubicBezTo>
                  <a:pt x="11296616" y="1016290"/>
                  <a:pt x="11275498" y="1013363"/>
                  <a:pt x="11252917" y="1013363"/>
                </a:cubicBezTo>
                <a:cubicBezTo>
                  <a:pt x="11201273" y="1013363"/>
                  <a:pt x="11155483" y="1034063"/>
                  <a:pt x="11122657" y="1067936"/>
                </a:cubicBezTo>
                <a:cubicBezTo>
                  <a:pt x="11089622" y="1102019"/>
                  <a:pt x="11069549" y="1149692"/>
                  <a:pt x="11069549" y="1203221"/>
                </a:cubicBezTo>
                <a:cubicBezTo>
                  <a:pt x="11069549" y="1256958"/>
                  <a:pt x="11088785" y="1304631"/>
                  <a:pt x="11120984" y="1338923"/>
                </a:cubicBezTo>
                <a:cubicBezTo>
                  <a:pt x="11153393" y="1373214"/>
                  <a:pt x="11198346" y="1394124"/>
                  <a:pt x="11249990" y="1394124"/>
                </a:cubicBezTo>
                <a:cubicBezTo>
                  <a:pt x="11297452" y="1394124"/>
                  <a:pt x="11335924" y="1378860"/>
                  <a:pt x="11364360" y="1353350"/>
                </a:cubicBezTo>
                <a:cubicBezTo>
                  <a:pt x="11392795" y="1328050"/>
                  <a:pt x="11410986" y="1292295"/>
                  <a:pt x="11418095" y="1251521"/>
                </a:cubicBezTo>
                <a:cubicBezTo>
                  <a:pt x="11244136" y="1251521"/>
                  <a:pt x="11244136" y="1251521"/>
                  <a:pt x="11244136" y="1251521"/>
                </a:cubicBezTo>
                <a:cubicBezTo>
                  <a:pt x="11267971" y="1214303"/>
                  <a:pt x="11267971" y="1214303"/>
                  <a:pt x="11267971" y="1214303"/>
                </a:cubicBezTo>
                <a:cubicBezTo>
                  <a:pt x="11291598" y="1177084"/>
                  <a:pt x="11291598" y="1177084"/>
                  <a:pt x="11291598" y="1177084"/>
                </a:cubicBezTo>
                <a:cubicBezTo>
                  <a:pt x="11496083" y="1177084"/>
                  <a:pt x="11496083" y="1177084"/>
                  <a:pt x="11496083" y="1177084"/>
                </a:cubicBezTo>
                <a:cubicBezTo>
                  <a:pt x="11497338" y="1181057"/>
                  <a:pt x="11498174" y="1186911"/>
                  <a:pt x="11498802" y="1193393"/>
                </a:cubicBezTo>
                <a:cubicBezTo>
                  <a:pt x="11499429" y="1199875"/>
                  <a:pt x="11499847" y="1206984"/>
                  <a:pt x="11499847" y="1213466"/>
                </a:cubicBezTo>
                <a:cubicBezTo>
                  <a:pt x="11499847" y="1286231"/>
                  <a:pt x="11474339" y="1350214"/>
                  <a:pt x="11430222" y="1396215"/>
                </a:cubicBezTo>
                <a:cubicBezTo>
                  <a:pt x="11386105" y="1442216"/>
                  <a:pt x="11323379" y="1470025"/>
                  <a:pt x="11249154" y="1470025"/>
                </a:cubicBezTo>
                <a:cubicBezTo>
                  <a:pt x="11175137" y="1470025"/>
                  <a:pt x="11109066" y="1440334"/>
                  <a:pt x="11061813" y="1392242"/>
                </a:cubicBezTo>
                <a:cubicBezTo>
                  <a:pt x="11014351" y="1344150"/>
                  <a:pt x="10985497" y="1277449"/>
                  <a:pt x="10985497" y="1203221"/>
                </a:cubicBezTo>
                <a:cubicBezTo>
                  <a:pt x="10985497" y="1129201"/>
                  <a:pt x="11015187" y="1062500"/>
                  <a:pt x="11063695" y="1014408"/>
                </a:cubicBezTo>
                <a:cubicBezTo>
                  <a:pt x="11111994" y="966317"/>
                  <a:pt x="11179110" y="936625"/>
                  <a:pt x="11253544" y="936625"/>
                </a:cubicBezTo>
                <a:close/>
                <a:moveTo>
                  <a:pt x="8471697" y="936625"/>
                </a:moveTo>
                <a:cubicBezTo>
                  <a:pt x="8502452" y="936625"/>
                  <a:pt x="8530906" y="941434"/>
                  <a:pt x="8556850" y="949798"/>
                </a:cubicBezTo>
                <a:cubicBezTo>
                  <a:pt x="8582793" y="958162"/>
                  <a:pt x="8606225" y="970080"/>
                  <a:pt x="8626729" y="984717"/>
                </a:cubicBezTo>
                <a:cubicBezTo>
                  <a:pt x="8626729" y="984717"/>
                  <a:pt x="8626729" y="984717"/>
                  <a:pt x="8606225" y="1017336"/>
                </a:cubicBezTo>
                <a:cubicBezTo>
                  <a:pt x="8606225" y="1017336"/>
                  <a:pt x="8606225" y="1017336"/>
                  <a:pt x="8585722" y="1049745"/>
                </a:cubicBezTo>
                <a:cubicBezTo>
                  <a:pt x="8566474" y="1037409"/>
                  <a:pt x="8547644" y="1027581"/>
                  <a:pt x="8528605" y="1021099"/>
                </a:cubicBezTo>
                <a:cubicBezTo>
                  <a:pt x="8509775" y="1014617"/>
                  <a:pt x="8490736" y="1011063"/>
                  <a:pt x="8471070" y="1011063"/>
                </a:cubicBezTo>
                <a:cubicBezTo>
                  <a:pt x="8441151" y="1011063"/>
                  <a:pt x="8418974" y="1019217"/>
                  <a:pt x="8404328" y="1032181"/>
                </a:cubicBezTo>
                <a:cubicBezTo>
                  <a:pt x="8389683" y="1045354"/>
                  <a:pt x="8382570" y="1063755"/>
                  <a:pt x="8382570" y="1084246"/>
                </a:cubicBezTo>
                <a:cubicBezTo>
                  <a:pt x="8382570" y="1108292"/>
                  <a:pt x="8393449" y="1123556"/>
                  <a:pt x="8412697" y="1135474"/>
                </a:cubicBezTo>
                <a:cubicBezTo>
                  <a:pt x="8432155" y="1147183"/>
                  <a:pt x="8459772" y="1155338"/>
                  <a:pt x="8493038" y="1165165"/>
                </a:cubicBezTo>
                <a:cubicBezTo>
                  <a:pt x="8532789" y="1177293"/>
                  <a:pt x="8571704" y="1190257"/>
                  <a:pt x="8600786" y="1212421"/>
                </a:cubicBezTo>
                <a:cubicBezTo>
                  <a:pt x="8629658" y="1234585"/>
                  <a:pt x="8648697" y="1265740"/>
                  <a:pt x="8648697" y="1314250"/>
                </a:cubicBezTo>
                <a:cubicBezTo>
                  <a:pt x="8648697" y="1359205"/>
                  <a:pt x="8632169" y="1398097"/>
                  <a:pt x="8601413" y="1425906"/>
                </a:cubicBezTo>
                <a:cubicBezTo>
                  <a:pt x="8570658" y="1453507"/>
                  <a:pt x="8525467" y="1470025"/>
                  <a:pt x="8468140" y="1470025"/>
                </a:cubicBezTo>
                <a:cubicBezTo>
                  <a:pt x="8427552" y="1470025"/>
                  <a:pt x="8393031" y="1463125"/>
                  <a:pt x="8363531" y="1452461"/>
                </a:cubicBezTo>
                <a:cubicBezTo>
                  <a:pt x="8333821" y="1441797"/>
                  <a:pt x="8308715" y="1427161"/>
                  <a:pt x="8286747" y="1411479"/>
                </a:cubicBezTo>
                <a:cubicBezTo>
                  <a:pt x="8286747" y="1411479"/>
                  <a:pt x="8286747" y="1411479"/>
                  <a:pt x="8307251" y="1379069"/>
                </a:cubicBezTo>
                <a:cubicBezTo>
                  <a:pt x="8307251" y="1379069"/>
                  <a:pt x="8307251" y="1379069"/>
                  <a:pt x="8327754" y="1346450"/>
                </a:cubicBezTo>
                <a:cubicBezTo>
                  <a:pt x="8349931" y="1360669"/>
                  <a:pt x="8372318" y="1373005"/>
                  <a:pt x="8395541" y="1381578"/>
                </a:cubicBezTo>
                <a:cubicBezTo>
                  <a:pt x="8418765" y="1390360"/>
                  <a:pt x="8442825" y="1395378"/>
                  <a:pt x="8468768" y="1395378"/>
                </a:cubicBezTo>
                <a:cubicBezTo>
                  <a:pt x="8500569" y="1395378"/>
                  <a:pt x="8525048" y="1387224"/>
                  <a:pt x="8541367" y="1373633"/>
                </a:cubicBezTo>
                <a:cubicBezTo>
                  <a:pt x="8557686" y="1360041"/>
                  <a:pt x="8566055" y="1341014"/>
                  <a:pt x="8566055" y="1319477"/>
                </a:cubicBezTo>
                <a:cubicBezTo>
                  <a:pt x="8566055" y="1295640"/>
                  <a:pt x="8554967" y="1280376"/>
                  <a:pt x="8535509" y="1268458"/>
                </a:cubicBezTo>
                <a:cubicBezTo>
                  <a:pt x="8516261" y="1256540"/>
                  <a:pt x="8488644" y="1248176"/>
                  <a:pt x="8455587" y="1238348"/>
                </a:cubicBezTo>
                <a:cubicBezTo>
                  <a:pt x="8415417" y="1226221"/>
                  <a:pt x="8376502" y="1213466"/>
                  <a:pt x="8347630" y="1191511"/>
                </a:cubicBezTo>
                <a:cubicBezTo>
                  <a:pt x="8318758" y="1169556"/>
                  <a:pt x="8299928" y="1138192"/>
                  <a:pt x="8299928" y="1089264"/>
                </a:cubicBezTo>
                <a:cubicBezTo>
                  <a:pt x="8299928" y="1044727"/>
                  <a:pt x="8315829" y="1006463"/>
                  <a:pt x="8345329" y="979489"/>
                </a:cubicBezTo>
                <a:cubicBezTo>
                  <a:pt x="8374828" y="952516"/>
                  <a:pt x="8417718" y="936625"/>
                  <a:pt x="8471697" y="936625"/>
                </a:cubicBezTo>
                <a:close/>
                <a:moveTo>
                  <a:pt x="7349808" y="936625"/>
                </a:moveTo>
                <a:cubicBezTo>
                  <a:pt x="7424849" y="936625"/>
                  <a:pt x="7492344" y="966526"/>
                  <a:pt x="7541183" y="1014826"/>
                </a:cubicBezTo>
                <a:cubicBezTo>
                  <a:pt x="7590023" y="1063127"/>
                  <a:pt x="7619997" y="1129828"/>
                  <a:pt x="7619997" y="1203221"/>
                </a:cubicBezTo>
                <a:cubicBezTo>
                  <a:pt x="7619997" y="1276613"/>
                  <a:pt x="7590023" y="1343314"/>
                  <a:pt x="7541183" y="1391615"/>
                </a:cubicBezTo>
                <a:cubicBezTo>
                  <a:pt x="7492344" y="1440125"/>
                  <a:pt x="7424849" y="1470025"/>
                  <a:pt x="7349808" y="1470025"/>
                </a:cubicBezTo>
                <a:cubicBezTo>
                  <a:pt x="7274767" y="1470025"/>
                  <a:pt x="7207272" y="1440125"/>
                  <a:pt x="7158642" y="1391615"/>
                </a:cubicBezTo>
                <a:cubicBezTo>
                  <a:pt x="7110012" y="1343314"/>
                  <a:pt x="7080247" y="1276613"/>
                  <a:pt x="7080247" y="1203221"/>
                </a:cubicBezTo>
                <a:cubicBezTo>
                  <a:pt x="7080247" y="1129828"/>
                  <a:pt x="7110012" y="1063127"/>
                  <a:pt x="7158642" y="1014826"/>
                </a:cubicBezTo>
                <a:cubicBezTo>
                  <a:pt x="7207272" y="966526"/>
                  <a:pt x="7274767" y="936625"/>
                  <a:pt x="7349808" y="936625"/>
                </a:cubicBezTo>
                <a:close/>
                <a:moveTo>
                  <a:pt x="6837427" y="936625"/>
                </a:moveTo>
                <a:cubicBezTo>
                  <a:pt x="6874092" y="936625"/>
                  <a:pt x="6904891" y="941852"/>
                  <a:pt x="6932756" y="951680"/>
                </a:cubicBezTo>
                <a:cubicBezTo>
                  <a:pt x="6960412" y="961507"/>
                  <a:pt x="6984925" y="975726"/>
                  <a:pt x="7008810" y="993499"/>
                </a:cubicBezTo>
                <a:cubicBezTo>
                  <a:pt x="7008810" y="993499"/>
                  <a:pt x="7008810" y="993499"/>
                  <a:pt x="6987439" y="1026745"/>
                </a:cubicBezTo>
                <a:cubicBezTo>
                  <a:pt x="6987439" y="1026745"/>
                  <a:pt x="6987439" y="1026745"/>
                  <a:pt x="6966278" y="1059991"/>
                </a:cubicBezTo>
                <a:cubicBezTo>
                  <a:pt x="6946584" y="1044727"/>
                  <a:pt x="6926680" y="1032809"/>
                  <a:pt x="6904891" y="1024863"/>
                </a:cubicBezTo>
                <a:cubicBezTo>
                  <a:pt x="6883101" y="1016708"/>
                  <a:pt x="6859845" y="1012526"/>
                  <a:pt x="6833027" y="1012526"/>
                </a:cubicBezTo>
                <a:cubicBezTo>
                  <a:pt x="6782115" y="1012526"/>
                  <a:pt x="6736441" y="1033436"/>
                  <a:pt x="6703338" y="1067727"/>
                </a:cubicBezTo>
                <a:cubicBezTo>
                  <a:pt x="6670444" y="1102019"/>
                  <a:pt x="6649912" y="1149483"/>
                  <a:pt x="6649912" y="1203221"/>
                </a:cubicBezTo>
                <a:cubicBezTo>
                  <a:pt x="6649912" y="1256958"/>
                  <a:pt x="6670444" y="1304631"/>
                  <a:pt x="6703338" y="1338923"/>
                </a:cubicBezTo>
                <a:cubicBezTo>
                  <a:pt x="6736441" y="1373214"/>
                  <a:pt x="6782115" y="1393915"/>
                  <a:pt x="6833027" y="1393915"/>
                </a:cubicBezTo>
                <a:cubicBezTo>
                  <a:pt x="6859845" y="1393915"/>
                  <a:pt x="6883101" y="1389733"/>
                  <a:pt x="6904891" y="1381787"/>
                </a:cubicBezTo>
                <a:cubicBezTo>
                  <a:pt x="6926680" y="1373633"/>
                  <a:pt x="6946584" y="1361923"/>
                  <a:pt x="6966278" y="1346450"/>
                </a:cubicBezTo>
                <a:cubicBezTo>
                  <a:pt x="6966278" y="1346450"/>
                  <a:pt x="6966278" y="1346450"/>
                  <a:pt x="6987439" y="1379696"/>
                </a:cubicBezTo>
                <a:cubicBezTo>
                  <a:pt x="6987439" y="1379696"/>
                  <a:pt x="6987439" y="1379696"/>
                  <a:pt x="7008810" y="1412942"/>
                </a:cubicBezTo>
                <a:cubicBezTo>
                  <a:pt x="6984925" y="1430924"/>
                  <a:pt x="6960412" y="1445143"/>
                  <a:pt x="6932756" y="1454970"/>
                </a:cubicBezTo>
                <a:cubicBezTo>
                  <a:pt x="6904891" y="1464589"/>
                  <a:pt x="6874092" y="1470025"/>
                  <a:pt x="6837427" y="1470025"/>
                </a:cubicBezTo>
                <a:cubicBezTo>
                  <a:pt x="6761373" y="1470025"/>
                  <a:pt x="6693491" y="1440334"/>
                  <a:pt x="6644674" y="1392242"/>
                </a:cubicBezTo>
                <a:cubicBezTo>
                  <a:pt x="6595648" y="1344150"/>
                  <a:pt x="6565897" y="1277449"/>
                  <a:pt x="6565897" y="1203221"/>
                </a:cubicBezTo>
                <a:cubicBezTo>
                  <a:pt x="6565897" y="1129201"/>
                  <a:pt x="6595648" y="1062500"/>
                  <a:pt x="6644674" y="1014408"/>
                </a:cubicBezTo>
                <a:cubicBezTo>
                  <a:pt x="6693491" y="966107"/>
                  <a:pt x="6761373" y="936625"/>
                  <a:pt x="6837427" y="936625"/>
                </a:cubicBezTo>
                <a:close/>
                <a:moveTo>
                  <a:pt x="501650" y="477838"/>
                </a:moveTo>
                <a:cubicBezTo>
                  <a:pt x="501650" y="477838"/>
                  <a:pt x="501650" y="477838"/>
                  <a:pt x="501650" y="981076"/>
                </a:cubicBezTo>
                <a:cubicBezTo>
                  <a:pt x="501650" y="981076"/>
                  <a:pt x="501650" y="981076"/>
                  <a:pt x="786010" y="981076"/>
                </a:cubicBezTo>
                <a:cubicBezTo>
                  <a:pt x="786010" y="981076"/>
                  <a:pt x="786010" y="981076"/>
                  <a:pt x="1070579" y="981076"/>
                </a:cubicBezTo>
                <a:cubicBezTo>
                  <a:pt x="1142870" y="981076"/>
                  <a:pt x="1207013" y="953710"/>
                  <a:pt x="1253188" y="908588"/>
                </a:cubicBezTo>
                <a:cubicBezTo>
                  <a:pt x="1299153" y="863466"/>
                  <a:pt x="1327150" y="800169"/>
                  <a:pt x="1327150" y="727681"/>
                </a:cubicBezTo>
                <a:cubicBezTo>
                  <a:pt x="1327150" y="655402"/>
                  <a:pt x="1299153" y="592942"/>
                  <a:pt x="1253188" y="548446"/>
                </a:cubicBezTo>
                <a:cubicBezTo>
                  <a:pt x="1207013" y="503951"/>
                  <a:pt x="1142870" y="477838"/>
                  <a:pt x="1070579" y="477838"/>
                </a:cubicBezTo>
                <a:cubicBezTo>
                  <a:pt x="1070579" y="477838"/>
                  <a:pt x="1070579" y="477838"/>
                  <a:pt x="501650" y="477838"/>
                </a:cubicBezTo>
                <a:close/>
                <a:moveTo>
                  <a:pt x="6675435" y="336550"/>
                </a:moveTo>
                <a:cubicBezTo>
                  <a:pt x="6675435" y="487363"/>
                  <a:pt x="6675435" y="487363"/>
                  <a:pt x="6675435" y="487363"/>
                </a:cubicBezTo>
                <a:cubicBezTo>
                  <a:pt x="6808467" y="487363"/>
                  <a:pt x="6808467" y="487363"/>
                  <a:pt x="6808467" y="487363"/>
                </a:cubicBezTo>
                <a:cubicBezTo>
                  <a:pt x="6831475" y="487363"/>
                  <a:pt x="6851346" y="478985"/>
                  <a:pt x="6865570" y="465370"/>
                </a:cubicBezTo>
                <a:cubicBezTo>
                  <a:pt x="6879793" y="451755"/>
                  <a:pt x="6888160" y="432903"/>
                  <a:pt x="6888160" y="411957"/>
                </a:cubicBezTo>
                <a:cubicBezTo>
                  <a:pt x="6888160" y="390801"/>
                  <a:pt x="6879793" y="371949"/>
                  <a:pt x="6865570" y="358334"/>
                </a:cubicBezTo>
                <a:cubicBezTo>
                  <a:pt x="6851346" y="344719"/>
                  <a:pt x="6831475" y="336550"/>
                  <a:pt x="6808467" y="336550"/>
                </a:cubicBezTo>
                <a:cubicBezTo>
                  <a:pt x="6675435" y="336550"/>
                  <a:pt x="6675435" y="336550"/>
                  <a:pt x="6675435" y="336550"/>
                </a:cubicBezTo>
                <a:close/>
                <a:moveTo>
                  <a:pt x="6675435" y="122238"/>
                </a:moveTo>
                <a:cubicBezTo>
                  <a:pt x="6675435" y="265113"/>
                  <a:pt x="6675435" y="265113"/>
                  <a:pt x="6675435" y="265113"/>
                </a:cubicBezTo>
                <a:cubicBezTo>
                  <a:pt x="6795279" y="265113"/>
                  <a:pt x="6795279" y="265113"/>
                  <a:pt x="6795279" y="265113"/>
                </a:cubicBezTo>
                <a:cubicBezTo>
                  <a:pt x="6816822" y="265113"/>
                  <a:pt x="6835228" y="257396"/>
                  <a:pt x="6848404" y="244673"/>
                </a:cubicBezTo>
                <a:cubicBezTo>
                  <a:pt x="6861372" y="231949"/>
                  <a:pt x="6869110" y="214012"/>
                  <a:pt x="6869110" y="193571"/>
                </a:cubicBezTo>
                <a:cubicBezTo>
                  <a:pt x="6869110" y="173131"/>
                  <a:pt x="6861372" y="155402"/>
                  <a:pt x="6848404" y="142679"/>
                </a:cubicBezTo>
                <a:cubicBezTo>
                  <a:pt x="6835228" y="129747"/>
                  <a:pt x="6816822" y="122238"/>
                  <a:pt x="6795279" y="122238"/>
                </a:cubicBezTo>
                <a:cubicBezTo>
                  <a:pt x="6675435" y="122238"/>
                  <a:pt x="6675435" y="122238"/>
                  <a:pt x="6675435" y="122238"/>
                </a:cubicBezTo>
                <a:close/>
                <a:moveTo>
                  <a:pt x="8850791" y="114300"/>
                </a:moveTo>
                <a:cubicBezTo>
                  <a:pt x="8799203" y="114300"/>
                  <a:pt x="8753045" y="135269"/>
                  <a:pt x="8719837" y="169657"/>
                </a:cubicBezTo>
                <a:cubicBezTo>
                  <a:pt x="8686419" y="204046"/>
                  <a:pt x="8666160" y="251645"/>
                  <a:pt x="8666160" y="304905"/>
                </a:cubicBezTo>
                <a:cubicBezTo>
                  <a:pt x="8666160" y="357956"/>
                  <a:pt x="8686419" y="405554"/>
                  <a:pt x="8719837" y="439943"/>
                </a:cubicBezTo>
                <a:cubicBezTo>
                  <a:pt x="8753045" y="474332"/>
                  <a:pt x="8799203" y="495300"/>
                  <a:pt x="8850791" y="495300"/>
                </a:cubicBezTo>
                <a:cubicBezTo>
                  <a:pt x="8902588" y="495300"/>
                  <a:pt x="8948954" y="474541"/>
                  <a:pt x="8982163" y="440153"/>
                </a:cubicBezTo>
                <a:cubicBezTo>
                  <a:pt x="9015580" y="405974"/>
                  <a:pt x="9036048" y="358375"/>
                  <a:pt x="9036048" y="304905"/>
                </a:cubicBezTo>
                <a:cubicBezTo>
                  <a:pt x="9036048" y="251645"/>
                  <a:pt x="9015371" y="204046"/>
                  <a:pt x="8981954" y="169657"/>
                </a:cubicBezTo>
                <a:cubicBezTo>
                  <a:pt x="8948536" y="135269"/>
                  <a:pt x="8902170" y="114300"/>
                  <a:pt x="8850791" y="114300"/>
                </a:cubicBezTo>
                <a:close/>
                <a:moveTo>
                  <a:pt x="7335415" y="114300"/>
                </a:moveTo>
                <a:cubicBezTo>
                  <a:pt x="7283845" y="114300"/>
                  <a:pt x="7237515" y="135269"/>
                  <a:pt x="7203974" y="169657"/>
                </a:cubicBezTo>
                <a:cubicBezTo>
                  <a:pt x="7170642" y="204046"/>
                  <a:pt x="7150097" y="251645"/>
                  <a:pt x="7150097" y="304905"/>
                </a:cubicBezTo>
                <a:cubicBezTo>
                  <a:pt x="7150097" y="357956"/>
                  <a:pt x="7170642" y="405554"/>
                  <a:pt x="7203974" y="439943"/>
                </a:cubicBezTo>
                <a:cubicBezTo>
                  <a:pt x="7237515" y="474332"/>
                  <a:pt x="7283845" y="495300"/>
                  <a:pt x="7335415" y="495300"/>
                </a:cubicBezTo>
                <a:cubicBezTo>
                  <a:pt x="7387405" y="495300"/>
                  <a:pt x="7433944" y="474541"/>
                  <a:pt x="7467486" y="440153"/>
                </a:cubicBezTo>
                <a:cubicBezTo>
                  <a:pt x="7501028" y="405974"/>
                  <a:pt x="7521572" y="358375"/>
                  <a:pt x="7521572" y="304905"/>
                </a:cubicBezTo>
                <a:cubicBezTo>
                  <a:pt x="7521572" y="251645"/>
                  <a:pt x="7500818" y="204046"/>
                  <a:pt x="7467067" y="169657"/>
                </a:cubicBezTo>
                <a:cubicBezTo>
                  <a:pt x="7433525" y="135269"/>
                  <a:pt x="7386986" y="114300"/>
                  <a:pt x="7335415" y="114300"/>
                </a:cubicBezTo>
                <a:close/>
                <a:moveTo>
                  <a:pt x="9237660" y="49213"/>
                </a:moveTo>
                <a:lnTo>
                  <a:pt x="9339260" y="49213"/>
                </a:lnTo>
                <a:lnTo>
                  <a:pt x="9458322" y="242888"/>
                </a:lnTo>
                <a:lnTo>
                  <a:pt x="9578972" y="436563"/>
                </a:lnTo>
                <a:lnTo>
                  <a:pt x="9578972" y="49213"/>
                </a:lnTo>
                <a:lnTo>
                  <a:pt x="9656760" y="49213"/>
                </a:lnTo>
                <a:lnTo>
                  <a:pt x="9656760" y="560388"/>
                </a:lnTo>
                <a:lnTo>
                  <a:pt x="9561510" y="560388"/>
                </a:lnTo>
                <a:lnTo>
                  <a:pt x="9439272" y="363538"/>
                </a:lnTo>
                <a:lnTo>
                  <a:pt x="9317035" y="165101"/>
                </a:lnTo>
                <a:lnTo>
                  <a:pt x="9317035" y="560388"/>
                </a:lnTo>
                <a:lnTo>
                  <a:pt x="9237660" y="560388"/>
                </a:lnTo>
                <a:close/>
                <a:moveTo>
                  <a:pt x="8126410" y="49213"/>
                </a:moveTo>
                <a:lnTo>
                  <a:pt x="8529635" y="49213"/>
                </a:lnTo>
                <a:lnTo>
                  <a:pt x="8529635" y="125413"/>
                </a:lnTo>
                <a:lnTo>
                  <a:pt x="8369298" y="125413"/>
                </a:lnTo>
                <a:lnTo>
                  <a:pt x="8369298" y="560388"/>
                </a:lnTo>
                <a:lnTo>
                  <a:pt x="8285160" y="560388"/>
                </a:lnTo>
                <a:lnTo>
                  <a:pt x="8285160" y="125413"/>
                </a:lnTo>
                <a:lnTo>
                  <a:pt x="8126410" y="125413"/>
                </a:lnTo>
                <a:close/>
                <a:moveTo>
                  <a:pt x="6592885" y="49213"/>
                </a:moveTo>
                <a:cubicBezTo>
                  <a:pt x="6795851" y="49213"/>
                  <a:pt x="6795851" y="49213"/>
                  <a:pt x="6795851" y="49213"/>
                </a:cubicBezTo>
                <a:cubicBezTo>
                  <a:pt x="6840537" y="49213"/>
                  <a:pt x="6879794" y="63633"/>
                  <a:pt x="6907775" y="87875"/>
                </a:cubicBezTo>
                <a:cubicBezTo>
                  <a:pt x="6935756" y="112117"/>
                  <a:pt x="6952670" y="146182"/>
                  <a:pt x="6952670" y="185680"/>
                </a:cubicBezTo>
                <a:cubicBezTo>
                  <a:pt x="6952670" y="208041"/>
                  <a:pt x="6946823" y="228103"/>
                  <a:pt x="6936382" y="245658"/>
                </a:cubicBezTo>
                <a:cubicBezTo>
                  <a:pt x="6925733" y="263004"/>
                  <a:pt x="6910698" y="277633"/>
                  <a:pt x="6892114" y="288709"/>
                </a:cubicBezTo>
                <a:cubicBezTo>
                  <a:pt x="6916963" y="300621"/>
                  <a:pt x="6937009" y="318176"/>
                  <a:pt x="6950791" y="339492"/>
                </a:cubicBezTo>
                <a:cubicBezTo>
                  <a:pt x="6964572" y="360808"/>
                  <a:pt x="6972298" y="385677"/>
                  <a:pt x="6972298" y="412845"/>
                </a:cubicBezTo>
                <a:cubicBezTo>
                  <a:pt x="6972298" y="454015"/>
                  <a:pt x="6955384" y="491005"/>
                  <a:pt x="6926359" y="517546"/>
                </a:cubicBezTo>
                <a:cubicBezTo>
                  <a:pt x="6897543" y="544087"/>
                  <a:pt x="6856616" y="560388"/>
                  <a:pt x="6808798" y="560388"/>
                </a:cubicBezTo>
                <a:cubicBezTo>
                  <a:pt x="6592885" y="560388"/>
                  <a:pt x="6592885" y="560388"/>
                  <a:pt x="6592885" y="560388"/>
                </a:cubicBezTo>
                <a:cubicBezTo>
                  <a:pt x="6592885" y="49213"/>
                  <a:pt x="6592885" y="49213"/>
                  <a:pt x="6592885" y="49213"/>
                </a:cubicBezTo>
                <a:close/>
                <a:moveTo>
                  <a:pt x="8850790" y="38100"/>
                </a:moveTo>
                <a:cubicBezTo>
                  <a:pt x="8925610" y="38100"/>
                  <a:pt x="8992907" y="68001"/>
                  <a:pt x="9041603" y="116301"/>
                </a:cubicBezTo>
                <a:cubicBezTo>
                  <a:pt x="9090299" y="164602"/>
                  <a:pt x="9120185" y="231303"/>
                  <a:pt x="9120185" y="304905"/>
                </a:cubicBezTo>
                <a:cubicBezTo>
                  <a:pt x="9120185" y="378297"/>
                  <a:pt x="9090299" y="444998"/>
                  <a:pt x="9041603" y="493090"/>
                </a:cubicBezTo>
                <a:cubicBezTo>
                  <a:pt x="8992907" y="541600"/>
                  <a:pt x="8925610" y="571500"/>
                  <a:pt x="8850790" y="571500"/>
                </a:cubicBezTo>
                <a:cubicBezTo>
                  <a:pt x="8775761" y="571500"/>
                  <a:pt x="8708673" y="541600"/>
                  <a:pt x="8660186" y="493090"/>
                </a:cubicBezTo>
                <a:cubicBezTo>
                  <a:pt x="8611699" y="444998"/>
                  <a:pt x="8582022" y="378297"/>
                  <a:pt x="8582022" y="304905"/>
                </a:cubicBezTo>
                <a:cubicBezTo>
                  <a:pt x="8582022" y="231303"/>
                  <a:pt x="8611699" y="164602"/>
                  <a:pt x="8660186" y="116301"/>
                </a:cubicBezTo>
                <a:cubicBezTo>
                  <a:pt x="8708673" y="68001"/>
                  <a:pt x="8775761" y="38100"/>
                  <a:pt x="8850790" y="38100"/>
                </a:cubicBezTo>
                <a:close/>
                <a:moveTo>
                  <a:pt x="7870035" y="38100"/>
                </a:moveTo>
                <a:cubicBezTo>
                  <a:pt x="7871499" y="38100"/>
                  <a:pt x="7871499" y="38100"/>
                  <a:pt x="7871499" y="38100"/>
                </a:cubicBezTo>
                <a:cubicBezTo>
                  <a:pt x="7901627" y="38309"/>
                  <a:pt x="7929663" y="42909"/>
                  <a:pt x="7955187" y="51273"/>
                </a:cubicBezTo>
                <a:cubicBezTo>
                  <a:pt x="7981131" y="59637"/>
                  <a:pt x="8004563" y="71764"/>
                  <a:pt x="8025067" y="86401"/>
                </a:cubicBezTo>
                <a:cubicBezTo>
                  <a:pt x="8004563" y="118811"/>
                  <a:pt x="8004563" y="118811"/>
                  <a:pt x="8004563" y="118811"/>
                </a:cubicBezTo>
                <a:cubicBezTo>
                  <a:pt x="7984060" y="151429"/>
                  <a:pt x="7984060" y="151429"/>
                  <a:pt x="7984060" y="151429"/>
                </a:cubicBezTo>
                <a:cubicBezTo>
                  <a:pt x="7964811" y="138884"/>
                  <a:pt x="7945982" y="129265"/>
                  <a:pt x="7926943" y="122574"/>
                </a:cubicBezTo>
                <a:cubicBezTo>
                  <a:pt x="7908113" y="116092"/>
                  <a:pt x="7889074" y="112538"/>
                  <a:pt x="7869198" y="112538"/>
                </a:cubicBezTo>
                <a:cubicBezTo>
                  <a:pt x="7839280" y="112538"/>
                  <a:pt x="7817312" y="120692"/>
                  <a:pt x="7802666" y="133865"/>
                </a:cubicBezTo>
                <a:cubicBezTo>
                  <a:pt x="7788021" y="147038"/>
                  <a:pt x="7780907" y="165230"/>
                  <a:pt x="7780907" y="185721"/>
                </a:cubicBezTo>
                <a:cubicBezTo>
                  <a:pt x="7780907" y="209767"/>
                  <a:pt x="7791787" y="225031"/>
                  <a:pt x="7811035" y="236949"/>
                </a:cubicBezTo>
                <a:cubicBezTo>
                  <a:pt x="7830283" y="248658"/>
                  <a:pt x="7857900" y="257022"/>
                  <a:pt x="7891166" y="266849"/>
                </a:cubicBezTo>
                <a:cubicBezTo>
                  <a:pt x="7931127" y="278977"/>
                  <a:pt x="7970042" y="291941"/>
                  <a:pt x="7998914" y="313896"/>
                </a:cubicBezTo>
                <a:cubicBezTo>
                  <a:pt x="8027996" y="336060"/>
                  <a:pt x="8047035" y="367424"/>
                  <a:pt x="8047035" y="415934"/>
                </a:cubicBezTo>
                <a:cubicBezTo>
                  <a:pt x="8047035" y="460889"/>
                  <a:pt x="8030506" y="499781"/>
                  <a:pt x="7999751" y="527381"/>
                </a:cubicBezTo>
                <a:cubicBezTo>
                  <a:pt x="7968787" y="554982"/>
                  <a:pt x="7923804" y="571500"/>
                  <a:pt x="7866478" y="571500"/>
                </a:cubicBezTo>
                <a:cubicBezTo>
                  <a:pt x="7825890" y="571500"/>
                  <a:pt x="7791368" y="564809"/>
                  <a:pt x="7761659" y="554145"/>
                </a:cubicBezTo>
                <a:cubicBezTo>
                  <a:pt x="7731950" y="543272"/>
                  <a:pt x="7707053" y="528845"/>
                  <a:pt x="7685085" y="512954"/>
                </a:cubicBezTo>
                <a:cubicBezTo>
                  <a:pt x="7725883" y="447925"/>
                  <a:pt x="7725883" y="447925"/>
                  <a:pt x="7725883" y="447925"/>
                </a:cubicBezTo>
                <a:cubicBezTo>
                  <a:pt x="7748269" y="462353"/>
                  <a:pt x="7770656" y="474480"/>
                  <a:pt x="7793879" y="483053"/>
                </a:cubicBezTo>
                <a:cubicBezTo>
                  <a:pt x="7816893" y="491835"/>
                  <a:pt x="7841163" y="497063"/>
                  <a:pt x="7867106" y="497063"/>
                </a:cubicBezTo>
                <a:cubicBezTo>
                  <a:pt x="7898907" y="497063"/>
                  <a:pt x="7923177" y="488699"/>
                  <a:pt x="7939496" y="475108"/>
                </a:cubicBezTo>
                <a:cubicBezTo>
                  <a:pt x="7956024" y="461516"/>
                  <a:pt x="7964393" y="442489"/>
                  <a:pt x="7964393" y="420952"/>
                </a:cubicBezTo>
                <a:cubicBezTo>
                  <a:pt x="7964393" y="397324"/>
                  <a:pt x="7953095" y="381851"/>
                  <a:pt x="7933847" y="369933"/>
                </a:cubicBezTo>
                <a:cubicBezTo>
                  <a:pt x="7914389" y="358224"/>
                  <a:pt x="7886982" y="349860"/>
                  <a:pt x="7853925" y="339823"/>
                </a:cubicBezTo>
                <a:cubicBezTo>
                  <a:pt x="7813755" y="327696"/>
                  <a:pt x="7774840" y="314941"/>
                  <a:pt x="7745968" y="292986"/>
                </a:cubicBezTo>
                <a:cubicBezTo>
                  <a:pt x="7717095" y="271031"/>
                  <a:pt x="7698266" y="239667"/>
                  <a:pt x="7698266" y="190739"/>
                </a:cubicBezTo>
                <a:cubicBezTo>
                  <a:pt x="7698266" y="146202"/>
                  <a:pt x="7714166" y="107938"/>
                  <a:pt x="7743666" y="80964"/>
                </a:cubicBezTo>
                <a:cubicBezTo>
                  <a:pt x="7772957" y="53991"/>
                  <a:pt x="7815847" y="38100"/>
                  <a:pt x="7870035" y="38100"/>
                </a:cubicBezTo>
                <a:close/>
                <a:moveTo>
                  <a:pt x="7334624" y="38100"/>
                </a:moveTo>
                <a:cubicBezTo>
                  <a:pt x="7409415" y="38100"/>
                  <a:pt x="7476894" y="68001"/>
                  <a:pt x="7525363" y="116301"/>
                </a:cubicBezTo>
                <a:cubicBezTo>
                  <a:pt x="7574040" y="164602"/>
                  <a:pt x="7604123" y="231303"/>
                  <a:pt x="7604123" y="304905"/>
                </a:cubicBezTo>
                <a:cubicBezTo>
                  <a:pt x="7604123" y="378297"/>
                  <a:pt x="7574040" y="444998"/>
                  <a:pt x="7525363" y="493090"/>
                </a:cubicBezTo>
                <a:cubicBezTo>
                  <a:pt x="7476894" y="541600"/>
                  <a:pt x="7409415" y="571500"/>
                  <a:pt x="7334624" y="571500"/>
                </a:cubicBezTo>
                <a:cubicBezTo>
                  <a:pt x="7259833" y="571500"/>
                  <a:pt x="7192562" y="541600"/>
                  <a:pt x="7144094" y="493090"/>
                </a:cubicBezTo>
                <a:cubicBezTo>
                  <a:pt x="7095626" y="444998"/>
                  <a:pt x="7065960" y="378297"/>
                  <a:pt x="7065960" y="304905"/>
                </a:cubicBezTo>
                <a:cubicBezTo>
                  <a:pt x="7065960" y="231303"/>
                  <a:pt x="7095626" y="164602"/>
                  <a:pt x="7144094" y="116301"/>
                </a:cubicBezTo>
                <a:cubicBezTo>
                  <a:pt x="7192562" y="68001"/>
                  <a:pt x="7259833" y="38100"/>
                  <a:pt x="7334624" y="38100"/>
                </a:cubicBezTo>
                <a:close/>
                <a:moveTo>
                  <a:pt x="2766077" y="0"/>
                </a:moveTo>
                <a:cubicBezTo>
                  <a:pt x="2901191" y="0"/>
                  <a:pt x="3028777" y="17359"/>
                  <a:pt x="3146531" y="51449"/>
                </a:cubicBezTo>
                <a:cubicBezTo>
                  <a:pt x="3264077" y="85540"/>
                  <a:pt x="3372000" y="136571"/>
                  <a:pt x="3467375" y="204124"/>
                </a:cubicBezTo>
                <a:cubicBezTo>
                  <a:pt x="3467375" y="204124"/>
                  <a:pt x="3467375" y="204124"/>
                  <a:pt x="3340627" y="403228"/>
                </a:cubicBezTo>
                <a:cubicBezTo>
                  <a:pt x="3340627" y="403228"/>
                  <a:pt x="3340627" y="403228"/>
                  <a:pt x="3213880" y="602542"/>
                </a:cubicBezTo>
                <a:cubicBezTo>
                  <a:pt x="3153015" y="556321"/>
                  <a:pt x="3084622" y="520976"/>
                  <a:pt x="3009743" y="496716"/>
                </a:cubicBezTo>
                <a:cubicBezTo>
                  <a:pt x="2934865" y="472455"/>
                  <a:pt x="2853295" y="459279"/>
                  <a:pt x="2766077" y="457606"/>
                </a:cubicBezTo>
                <a:cubicBezTo>
                  <a:pt x="2556923" y="459279"/>
                  <a:pt x="2368473" y="545655"/>
                  <a:pt x="2232314" y="681180"/>
                </a:cubicBezTo>
                <a:cubicBezTo>
                  <a:pt x="2095946" y="816496"/>
                  <a:pt x="2012073" y="1000960"/>
                  <a:pt x="2012073" y="1198391"/>
                </a:cubicBezTo>
                <a:cubicBezTo>
                  <a:pt x="2012073" y="1399378"/>
                  <a:pt x="2095946" y="1585307"/>
                  <a:pt x="2232314" y="1721250"/>
                </a:cubicBezTo>
                <a:cubicBezTo>
                  <a:pt x="2368473" y="1856984"/>
                  <a:pt x="2556923" y="1942732"/>
                  <a:pt x="2766077" y="1942732"/>
                </a:cubicBezTo>
                <a:cubicBezTo>
                  <a:pt x="2868145" y="1942732"/>
                  <a:pt x="2962893" y="1923700"/>
                  <a:pt x="3050111" y="1886682"/>
                </a:cubicBezTo>
                <a:cubicBezTo>
                  <a:pt x="3137328" y="1849664"/>
                  <a:pt x="3217225" y="1794450"/>
                  <a:pt x="3289594" y="1722086"/>
                </a:cubicBezTo>
                <a:cubicBezTo>
                  <a:pt x="3462565" y="1549125"/>
                  <a:pt x="3493101" y="1332661"/>
                  <a:pt x="3543925" y="1095493"/>
                </a:cubicBezTo>
                <a:cubicBezTo>
                  <a:pt x="3595168" y="858533"/>
                  <a:pt x="3666699" y="600869"/>
                  <a:pt x="3921866" y="345714"/>
                </a:cubicBezTo>
                <a:cubicBezTo>
                  <a:pt x="4028953" y="238633"/>
                  <a:pt x="4155701" y="152256"/>
                  <a:pt x="4300646" y="92441"/>
                </a:cubicBezTo>
                <a:cubicBezTo>
                  <a:pt x="4445590" y="32836"/>
                  <a:pt x="4608522" y="0"/>
                  <a:pt x="4787977" y="0"/>
                </a:cubicBezTo>
                <a:cubicBezTo>
                  <a:pt x="4922882" y="0"/>
                  <a:pt x="5050676" y="18823"/>
                  <a:pt x="5168221" y="54796"/>
                </a:cubicBezTo>
                <a:cubicBezTo>
                  <a:pt x="5285976" y="90559"/>
                  <a:pt x="5393900" y="143054"/>
                  <a:pt x="5489275" y="210607"/>
                </a:cubicBezTo>
                <a:cubicBezTo>
                  <a:pt x="5489275" y="210607"/>
                  <a:pt x="5489275" y="210607"/>
                  <a:pt x="5364200" y="409921"/>
                </a:cubicBezTo>
                <a:cubicBezTo>
                  <a:pt x="5364200" y="409921"/>
                  <a:pt x="5364200" y="409921"/>
                  <a:pt x="5239125" y="609025"/>
                </a:cubicBezTo>
                <a:cubicBezTo>
                  <a:pt x="5176588" y="563014"/>
                  <a:pt x="5107357" y="525996"/>
                  <a:pt x="5031643" y="500480"/>
                </a:cubicBezTo>
                <a:cubicBezTo>
                  <a:pt x="4955929" y="474965"/>
                  <a:pt x="4873522" y="460952"/>
                  <a:pt x="4784631" y="460952"/>
                </a:cubicBezTo>
                <a:cubicBezTo>
                  <a:pt x="4580495" y="460952"/>
                  <a:pt x="4396857" y="544818"/>
                  <a:pt x="4264462" y="679089"/>
                </a:cubicBezTo>
                <a:cubicBezTo>
                  <a:pt x="4131857" y="813149"/>
                  <a:pt x="4050287" y="997614"/>
                  <a:pt x="4050287" y="1198391"/>
                </a:cubicBezTo>
                <a:cubicBezTo>
                  <a:pt x="4050287" y="1402724"/>
                  <a:pt x="4131021" y="1589489"/>
                  <a:pt x="4262370" y="1725223"/>
                </a:cubicBezTo>
                <a:cubicBezTo>
                  <a:pt x="4393720" y="1861167"/>
                  <a:pt x="4575477" y="1945870"/>
                  <a:pt x="4778147" y="1945870"/>
                </a:cubicBezTo>
                <a:cubicBezTo>
                  <a:pt x="4939406" y="1945870"/>
                  <a:pt x="5080167" y="1893165"/>
                  <a:pt x="5191438" y="1804280"/>
                </a:cubicBezTo>
                <a:cubicBezTo>
                  <a:pt x="5302499" y="1715394"/>
                  <a:pt x="5384070" y="1590326"/>
                  <a:pt x="5426737" y="1445390"/>
                </a:cubicBezTo>
                <a:cubicBezTo>
                  <a:pt x="5426737" y="1445390"/>
                  <a:pt x="5426737" y="1445390"/>
                  <a:pt x="4708917" y="1445390"/>
                </a:cubicBezTo>
                <a:cubicBezTo>
                  <a:pt x="4708917" y="1445390"/>
                  <a:pt x="4708917" y="1445390"/>
                  <a:pt x="4850515" y="1223279"/>
                </a:cubicBezTo>
                <a:cubicBezTo>
                  <a:pt x="4850515" y="1223279"/>
                  <a:pt x="4850515" y="1223279"/>
                  <a:pt x="4992113" y="1000960"/>
                </a:cubicBezTo>
                <a:cubicBezTo>
                  <a:pt x="4992113" y="1000960"/>
                  <a:pt x="4992113" y="1000960"/>
                  <a:pt x="5457901" y="1000960"/>
                </a:cubicBezTo>
                <a:cubicBezTo>
                  <a:pt x="5457901" y="1000960"/>
                  <a:pt x="5457901" y="1000960"/>
                  <a:pt x="5924108" y="1000960"/>
                </a:cubicBezTo>
                <a:cubicBezTo>
                  <a:pt x="5928919" y="1033796"/>
                  <a:pt x="5933102" y="1066840"/>
                  <a:pt x="5936030" y="1100094"/>
                </a:cubicBezTo>
                <a:cubicBezTo>
                  <a:pt x="5938749" y="1133557"/>
                  <a:pt x="5940422" y="1167229"/>
                  <a:pt x="5940422" y="1201738"/>
                </a:cubicBezTo>
                <a:cubicBezTo>
                  <a:pt x="5940422" y="1532602"/>
                  <a:pt x="5812001" y="1833141"/>
                  <a:pt x="5600963" y="2050860"/>
                </a:cubicBezTo>
                <a:cubicBezTo>
                  <a:pt x="5389717" y="2268578"/>
                  <a:pt x="5095854" y="2403475"/>
                  <a:pt x="4764970" y="2403475"/>
                </a:cubicBezTo>
                <a:cubicBezTo>
                  <a:pt x="4549331" y="2403475"/>
                  <a:pt x="4350006" y="2352653"/>
                  <a:pt x="4178290" y="2262513"/>
                </a:cubicBezTo>
                <a:cubicBezTo>
                  <a:pt x="4006784" y="2172372"/>
                  <a:pt x="3862676" y="2043121"/>
                  <a:pt x="3757265" y="1886682"/>
                </a:cubicBezTo>
                <a:cubicBezTo>
                  <a:pt x="3647040" y="2044794"/>
                  <a:pt x="3502931" y="2173836"/>
                  <a:pt x="3332469" y="2263558"/>
                </a:cubicBezTo>
                <a:cubicBezTo>
                  <a:pt x="3162009" y="2353490"/>
                  <a:pt x="2965403" y="2403475"/>
                  <a:pt x="2749555" y="2403475"/>
                </a:cubicBezTo>
                <a:cubicBezTo>
                  <a:pt x="2566961" y="2403475"/>
                  <a:pt x="2395664" y="2364993"/>
                  <a:pt x="2242563" y="2295766"/>
                </a:cubicBezTo>
                <a:cubicBezTo>
                  <a:pt x="2089461" y="2226540"/>
                  <a:pt x="1954347" y="2126988"/>
                  <a:pt x="1844121" y="2005266"/>
                </a:cubicBezTo>
                <a:cubicBezTo>
                  <a:pt x="1783258" y="2108792"/>
                  <a:pt x="1694366" y="2196214"/>
                  <a:pt x="1583096" y="2257493"/>
                </a:cubicBezTo>
                <a:cubicBezTo>
                  <a:pt x="1472034" y="2318772"/>
                  <a:pt x="1338593" y="2354117"/>
                  <a:pt x="1188838" y="2354117"/>
                </a:cubicBezTo>
                <a:cubicBezTo>
                  <a:pt x="1188838" y="2354117"/>
                  <a:pt x="1188838" y="2354117"/>
                  <a:pt x="0" y="2354117"/>
                </a:cubicBezTo>
                <a:cubicBezTo>
                  <a:pt x="0" y="2354117"/>
                  <a:pt x="0" y="2354117"/>
                  <a:pt x="0" y="1201738"/>
                </a:cubicBezTo>
                <a:cubicBezTo>
                  <a:pt x="0" y="1201738"/>
                  <a:pt x="0" y="1201738"/>
                  <a:pt x="0" y="49358"/>
                </a:cubicBezTo>
                <a:cubicBezTo>
                  <a:pt x="0" y="49358"/>
                  <a:pt x="0" y="49358"/>
                  <a:pt x="538575" y="49358"/>
                </a:cubicBezTo>
                <a:cubicBezTo>
                  <a:pt x="538575" y="49358"/>
                  <a:pt x="538575" y="49358"/>
                  <a:pt x="1076940" y="49358"/>
                </a:cubicBezTo>
                <a:cubicBezTo>
                  <a:pt x="1249702" y="49358"/>
                  <a:pt x="1402804" y="96206"/>
                  <a:pt x="1523487" y="176099"/>
                </a:cubicBezTo>
                <a:cubicBezTo>
                  <a:pt x="1643960" y="255992"/>
                  <a:pt x="1732223" y="368720"/>
                  <a:pt x="1774892" y="500480"/>
                </a:cubicBezTo>
                <a:cubicBezTo>
                  <a:pt x="1883653" y="350524"/>
                  <a:pt x="2027552" y="225457"/>
                  <a:pt x="2196549" y="137826"/>
                </a:cubicBezTo>
                <a:cubicBezTo>
                  <a:pt x="2365129" y="50195"/>
                  <a:pt x="2558596" y="0"/>
                  <a:pt x="276607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p>
        </p:txBody>
      </p:sp>
    </p:spTree>
    <p:extLst>
      <p:ext uri="{BB962C8B-B14F-4D97-AF65-F5344CB8AC3E}">
        <p14:creationId xmlns:p14="http://schemas.microsoft.com/office/powerpoint/2010/main" val="409237587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p:cSld name="D. Layout guide">
    <p:spTree>
      <p:nvGrpSpPr>
        <p:cNvPr id="1" name=""/>
        <p:cNvGrpSpPr/>
        <p:nvPr/>
      </p:nvGrpSpPr>
      <p:grpSpPr>
        <a:xfrm>
          <a:off x="0" y="0"/>
          <a:ext cx="0" cy="0"/>
          <a:chOff x="0" y="0"/>
          <a:chExt cx="0" cy="0"/>
        </a:xfrm>
      </p:grpSpPr>
      <p:grpSp>
        <p:nvGrpSpPr>
          <p:cNvPr id="144" name="Group 143"/>
          <p:cNvGrpSpPr/>
          <p:nvPr userDrawn="1"/>
        </p:nvGrpSpPr>
        <p:grpSpPr>
          <a:xfrm>
            <a:off x="-600" y="-1"/>
            <a:ext cx="12193800" cy="6858001"/>
            <a:chOff x="-600" y="-1"/>
            <a:chExt cx="12193800" cy="6858001"/>
          </a:xfrm>
        </p:grpSpPr>
        <p:sp>
          <p:nvSpPr>
            <p:cNvPr id="145" name="No fly zone"/>
            <p:cNvSpPr/>
            <p:nvPr/>
          </p:nvSpPr>
          <p:spPr>
            <a:xfrm>
              <a:off x="0" y="-1"/>
              <a:ext cx="12193200" cy="6858000"/>
            </a:xfrm>
            <a:custGeom>
              <a:avLst/>
              <a:gdLst>
                <a:gd name="connsiteX0" fmla="*/ 630001 w 12193200"/>
                <a:gd name="connsiteY0" fmla="*/ 622800 h 6858000"/>
                <a:gd name="connsiteX1" fmla="*/ 630001 w 12193200"/>
                <a:gd name="connsiteY1" fmla="*/ 6160597 h 6858000"/>
                <a:gd name="connsiteX2" fmla="*/ 11562000 w 12193200"/>
                <a:gd name="connsiteY2" fmla="*/ 6160597 h 6858000"/>
                <a:gd name="connsiteX3" fmla="*/ 11562000 w 12193200"/>
                <a:gd name="connsiteY3" fmla="*/ 622800 h 6858000"/>
                <a:gd name="connsiteX4" fmla="*/ 0 w 12193200"/>
                <a:gd name="connsiteY4" fmla="*/ 0 h 6858000"/>
                <a:gd name="connsiteX5" fmla="*/ 12193200 w 12193200"/>
                <a:gd name="connsiteY5" fmla="*/ 0 h 6858000"/>
                <a:gd name="connsiteX6" fmla="*/ 12193200 w 12193200"/>
                <a:gd name="connsiteY6" fmla="*/ 622800 h 6858000"/>
                <a:gd name="connsiteX7" fmla="*/ 12192000 w 12193200"/>
                <a:gd name="connsiteY7" fmla="*/ 622800 h 6858000"/>
                <a:gd name="connsiteX8" fmla="*/ 12192000 w 12193200"/>
                <a:gd name="connsiteY8" fmla="*/ 6160597 h 6858000"/>
                <a:gd name="connsiteX9" fmla="*/ 12193200 w 12193200"/>
                <a:gd name="connsiteY9" fmla="*/ 6160597 h 6858000"/>
                <a:gd name="connsiteX10" fmla="*/ 12193200 w 12193200"/>
                <a:gd name="connsiteY10" fmla="*/ 6858000 h 6858000"/>
                <a:gd name="connsiteX11" fmla="*/ 12192000 w 12193200"/>
                <a:gd name="connsiteY11" fmla="*/ 6858000 h 6858000"/>
                <a:gd name="connsiteX12" fmla="*/ 11562000 w 12193200"/>
                <a:gd name="connsiteY12" fmla="*/ 6858000 h 6858000"/>
                <a:gd name="connsiteX13" fmla="*/ 630001 w 12193200"/>
                <a:gd name="connsiteY13" fmla="*/ 6858000 h 6858000"/>
                <a:gd name="connsiteX14" fmla="*/ 1 w 12193200"/>
                <a:gd name="connsiteY14" fmla="*/ 6858000 h 6858000"/>
                <a:gd name="connsiteX15" fmla="*/ 1 w 12193200"/>
                <a:gd name="connsiteY15" fmla="*/ 6160597 h 6858000"/>
                <a:gd name="connsiteX16" fmla="*/ 1 w 12193200"/>
                <a:gd name="connsiteY16" fmla="*/ 622800 h 6858000"/>
                <a:gd name="connsiteX17" fmla="*/ 0 w 12193200"/>
                <a:gd name="connsiteY17" fmla="*/ 6228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193200" h="6858000">
                  <a:moveTo>
                    <a:pt x="630001" y="622800"/>
                  </a:moveTo>
                  <a:lnTo>
                    <a:pt x="630001" y="6160597"/>
                  </a:lnTo>
                  <a:lnTo>
                    <a:pt x="11562000" y="6160597"/>
                  </a:lnTo>
                  <a:lnTo>
                    <a:pt x="11562000" y="622800"/>
                  </a:lnTo>
                  <a:close/>
                  <a:moveTo>
                    <a:pt x="0" y="0"/>
                  </a:moveTo>
                  <a:lnTo>
                    <a:pt x="12193200" y="0"/>
                  </a:lnTo>
                  <a:lnTo>
                    <a:pt x="12193200" y="622800"/>
                  </a:lnTo>
                  <a:lnTo>
                    <a:pt x="12192000" y="622800"/>
                  </a:lnTo>
                  <a:lnTo>
                    <a:pt x="12192000" y="6160597"/>
                  </a:lnTo>
                  <a:lnTo>
                    <a:pt x="12193200" y="6160597"/>
                  </a:lnTo>
                  <a:lnTo>
                    <a:pt x="12193200" y="6858000"/>
                  </a:lnTo>
                  <a:lnTo>
                    <a:pt x="12192000" y="6858000"/>
                  </a:lnTo>
                  <a:lnTo>
                    <a:pt x="11562000" y="6858000"/>
                  </a:lnTo>
                  <a:lnTo>
                    <a:pt x="630001" y="6858000"/>
                  </a:lnTo>
                  <a:lnTo>
                    <a:pt x="1" y="6858000"/>
                  </a:lnTo>
                  <a:lnTo>
                    <a:pt x="1" y="6160597"/>
                  </a:lnTo>
                  <a:lnTo>
                    <a:pt x="1" y="622800"/>
                  </a:lnTo>
                  <a:lnTo>
                    <a:pt x="0" y="622800"/>
                  </a:lnTo>
                  <a:close/>
                </a:path>
              </a:pathLst>
            </a:custGeom>
            <a:solidFill>
              <a:srgbClr val="FFEFEF">
                <a:alpha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tx1"/>
                </a:solidFill>
                <a:latin typeface="+mn-lt"/>
              </a:endParaRPr>
            </a:p>
          </p:txBody>
        </p:sp>
        <p:grpSp>
          <p:nvGrpSpPr>
            <p:cNvPr id="146" name="Baselines / anchors"/>
            <p:cNvGrpSpPr/>
            <p:nvPr userDrawn="1"/>
          </p:nvGrpSpPr>
          <p:grpSpPr>
            <a:xfrm>
              <a:off x="-600" y="622800"/>
              <a:ext cx="12193200" cy="5536800"/>
              <a:chOff x="12623800" y="622800"/>
              <a:chExt cx="11176000" cy="5536800"/>
            </a:xfrm>
          </p:grpSpPr>
          <p:cxnSp>
            <p:nvCxnSpPr>
              <p:cNvPr id="170" name="Straight Connector 169"/>
              <p:cNvCxnSpPr/>
              <p:nvPr/>
            </p:nvCxnSpPr>
            <p:spPr>
              <a:xfrm>
                <a:off x="12623800" y="622800"/>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a:off x="12623800" y="914211"/>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72" name="Straight Connector 171"/>
              <p:cNvCxnSpPr/>
              <p:nvPr/>
            </p:nvCxnSpPr>
            <p:spPr>
              <a:xfrm>
                <a:off x="12623800" y="1205622"/>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a:off x="12623800" y="1497600"/>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a:off x="12623800" y="1788444"/>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a:off x="12623800" y="2079855"/>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a:off x="12623800" y="2371266"/>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a:off x="12623800" y="2662677"/>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a:off x="12623800" y="2954088"/>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12623800" y="3245499"/>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a:off x="12623800" y="3536910"/>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a:off x="12623800" y="3828321"/>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a:off x="12623800" y="4119732"/>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a:off x="12623800" y="4411143"/>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a:off x="12623800" y="4702554"/>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a:off x="12623800" y="4993965"/>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a:off x="12623800" y="5285376"/>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a:off x="12623800" y="5576787"/>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a:off x="12623800" y="5868198"/>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a:off x="12623800" y="6159600"/>
                <a:ext cx="11176000" cy="0"/>
              </a:xfrm>
              <a:prstGeom prst="line">
                <a:avLst/>
              </a:prstGeom>
              <a:ln w="9525">
                <a:solidFill>
                  <a:srgbClr val="30C1D7">
                    <a:alpha val="40000"/>
                  </a:srgbClr>
                </a:solidFill>
                <a:miter lim="800000"/>
              </a:ln>
            </p:spPr>
            <p:style>
              <a:lnRef idx="1">
                <a:schemeClr val="accent1"/>
              </a:lnRef>
              <a:fillRef idx="0">
                <a:schemeClr val="accent1"/>
              </a:fillRef>
              <a:effectRef idx="0">
                <a:schemeClr val="accent1"/>
              </a:effectRef>
              <a:fontRef idx="minor">
                <a:schemeClr val="tx1"/>
              </a:fontRef>
            </p:style>
          </p:cxnSp>
        </p:grpSp>
        <p:grpSp>
          <p:nvGrpSpPr>
            <p:cNvPr id="147" name="Gutter space"/>
            <p:cNvGrpSpPr/>
            <p:nvPr userDrawn="1"/>
          </p:nvGrpSpPr>
          <p:grpSpPr>
            <a:xfrm>
              <a:off x="1277000" y="623550"/>
              <a:ext cx="9638000" cy="5537047"/>
              <a:chOff x="1277000" y="623550"/>
              <a:chExt cx="9638000" cy="5537047"/>
            </a:xfrm>
          </p:grpSpPr>
          <p:sp>
            <p:nvSpPr>
              <p:cNvPr id="159" name="Rectangle 34"/>
              <p:cNvSpPr>
                <a:spLocks noChangeArrowheads="1"/>
              </p:cNvSpPr>
              <p:nvPr/>
            </p:nvSpPr>
            <p:spPr bwMode="auto">
              <a:xfrm>
                <a:off x="6887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160" name="Rectangle 35"/>
              <p:cNvSpPr>
                <a:spLocks noChangeArrowheads="1"/>
              </p:cNvSpPr>
              <p:nvPr/>
            </p:nvSpPr>
            <p:spPr bwMode="auto">
              <a:xfrm>
                <a:off x="8757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161" name="Rectangle 36"/>
              <p:cNvSpPr>
                <a:spLocks noChangeArrowheads="1"/>
              </p:cNvSpPr>
              <p:nvPr/>
            </p:nvSpPr>
            <p:spPr bwMode="auto">
              <a:xfrm>
                <a:off x="7822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162" name="Rectangle 37"/>
              <p:cNvSpPr>
                <a:spLocks noChangeArrowheads="1"/>
              </p:cNvSpPr>
              <p:nvPr/>
            </p:nvSpPr>
            <p:spPr bwMode="auto">
              <a:xfrm>
                <a:off x="9692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163" name="Rectangle 38"/>
              <p:cNvSpPr>
                <a:spLocks noChangeArrowheads="1"/>
              </p:cNvSpPr>
              <p:nvPr/>
            </p:nvSpPr>
            <p:spPr bwMode="auto">
              <a:xfrm>
                <a:off x="10627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164" name="Rectangle 39"/>
              <p:cNvSpPr>
                <a:spLocks noChangeArrowheads="1"/>
              </p:cNvSpPr>
              <p:nvPr/>
            </p:nvSpPr>
            <p:spPr bwMode="auto">
              <a:xfrm>
                <a:off x="5952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165" name="Rectangle 40"/>
              <p:cNvSpPr>
                <a:spLocks noChangeArrowheads="1"/>
              </p:cNvSpPr>
              <p:nvPr/>
            </p:nvSpPr>
            <p:spPr bwMode="auto">
              <a:xfrm>
                <a:off x="1277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166" name="Rectangle 41"/>
              <p:cNvSpPr>
                <a:spLocks noChangeArrowheads="1"/>
              </p:cNvSpPr>
              <p:nvPr/>
            </p:nvSpPr>
            <p:spPr bwMode="auto">
              <a:xfrm>
                <a:off x="2212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167" name="Rectangle 42"/>
              <p:cNvSpPr>
                <a:spLocks noChangeArrowheads="1"/>
              </p:cNvSpPr>
              <p:nvPr/>
            </p:nvSpPr>
            <p:spPr bwMode="auto">
              <a:xfrm>
                <a:off x="3147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168" name="Rectangle 43"/>
              <p:cNvSpPr>
                <a:spLocks noChangeArrowheads="1"/>
              </p:cNvSpPr>
              <p:nvPr/>
            </p:nvSpPr>
            <p:spPr bwMode="auto">
              <a:xfrm>
                <a:off x="4082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169" name="Rectangle 44"/>
              <p:cNvSpPr>
                <a:spLocks noChangeArrowheads="1"/>
              </p:cNvSpPr>
              <p:nvPr/>
            </p:nvSpPr>
            <p:spPr bwMode="auto">
              <a:xfrm>
                <a:off x="5017000" y="623550"/>
                <a:ext cx="288000" cy="5537047"/>
              </a:xfrm>
              <a:prstGeom prst="rect">
                <a:avLst/>
              </a:prstGeom>
              <a:solidFill>
                <a:schemeClr val="accent5">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grpSp>
        <p:sp>
          <p:nvSpPr>
            <p:cNvPr id="148" name="Slide edges"/>
            <p:cNvSpPr>
              <a:spLocks/>
            </p:cNvSpPr>
            <p:nvPr/>
          </p:nvSpPr>
          <p:spPr bwMode="auto">
            <a:xfrm>
              <a:off x="-600" y="0"/>
              <a:ext cx="12193200" cy="6858000"/>
            </a:xfrm>
            <a:custGeom>
              <a:avLst/>
              <a:gdLst>
                <a:gd name="T0" fmla="*/ 6024 w 6026"/>
                <a:gd name="T1" fmla="*/ 3394 h 3396"/>
                <a:gd name="T2" fmla="*/ 6024 w 6026"/>
                <a:gd name="T3" fmla="*/ 3391 h 3396"/>
                <a:gd name="T4" fmla="*/ 5 w 6026"/>
                <a:gd name="T5" fmla="*/ 3391 h 3396"/>
                <a:gd name="T6" fmla="*/ 5 w 6026"/>
                <a:gd name="T7" fmla="*/ 5 h 3396"/>
                <a:gd name="T8" fmla="*/ 6021 w 6026"/>
                <a:gd name="T9" fmla="*/ 5 h 3396"/>
                <a:gd name="T10" fmla="*/ 6021 w 6026"/>
                <a:gd name="T11" fmla="*/ 3394 h 3396"/>
                <a:gd name="T12" fmla="*/ 6024 w 6026"/>
                <a:gd name="T13" fmla="*/ 3394 h 3396"/>
                <a:gd name="T14" fmla="*/ 6024 w 6026"/>
                <a:gd name="T15" fmla="*/ 3391 h 3396"/>
                <a:gd name="T16" fmla="*/ 6024 w 6026"/>
                <a:gd name="T17" fmla="*/ 3394 h 3396"/>
                <a:gd name="T18" fmla="*/ 6026 w 6026"/>
                <a:gd name="T19" fmla="*/ 3394 h 3396"/>
                <a:gd name="T20" fmla="*/ 6026 w 6026"/>
                <a:gd name="T21" fmla="*/ 0 h 3396"/>
                <a:gd name="T22" fmla="*/ 0 w 6026"/>
                <a:gd name="T23" fmla="*/ 0 h 3396"/>
                <a:gd name="T24" fmla="*/ 0 w 6026"/>
                <a:gd name="T25" fmla="*/ 3396 h 3396"/>
                <a:gd name="T26" fmla="*/ 6026 w 6026"/>
                <a:gd name="T27" fmla="*/ 3396 h 3396"/>
                <a:gd name="T28" fmla="*/ 6026 w 6026"/>
                <a:gd name="T29" fmla="*/ 3394 h 3396"/>
                <a:gd name="T30" fmla="*/ 6024 w 6026"/>
                <a:gd name="T31" fmla="*/ 3394 h 3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026" h="3396">
                  <a:moveTo>
                    <a:pt x="6024" y="3394"/>
                  </a:moveTo>
                  <a:lnTo>
                    <a:pt x="6024" y="3391"/>
                  </a:lnTo>
                  <a:lnTo>
                    <a:pt x="5" y="3391"/>
                  </a:lnTo>
                  <a:lnTo>
                    <a:pt x="5" y="5"/>
                  </a:lnTo>
                  <a:lnTo>
                    <a:pt x="6021" y="5"/>
                  </a:lnTo>
                  <a:lnTo>
                    <a:pt x="6021" y="3394"/>
                  </a:lnTo>
                  <a:lnTo>
                    <a:pt x="6024" y="3394"/>
                  </a:lnTo>
                  <a:lnTo>
                    <a:pt x="6024" y="3391"/>
                  </a:lnTo>
                  <a:lnTo>
                    <a:pt x="6024" y="3394"/>
                  </a:lnTo>
                  <a:lnTo>
                    <a:pt x="6026" y="3394"/>
                  </a:lnTo>
                  <a:lnTo>
                    <a:pt x="6026" y="0"/>
                  </a:lnTo>
                  <a:lnTo>
                    <a:pt x="0" y="0"/>
                  </a:lnTo>
                  <a:lnTo>
                    <a:pt x="0" y="3396"/>
                  </a:lnTo>
                  <a:lnTo>
                    <a:pt x="6026" y="3396"/>
                  </a:lnTo>
                  <a:lnTo>
                    <a:pt x="6026" y="3394"/>
                  </a:lnTo>
                  <a:lnTo>
                    <a:pt x="6024" y="3394"/>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mn-lt"/>
                <a:ea typeface="+mn-ea"/>
                <a:cs typeface="+mn-cs"/>
              </a:endParaRPr>
            </a:p>
          </p:txBody>
        </p:sp>
        <p:sp>
          <p:nvSpPr>
            <p:cNvPr id="149" name="Footnote measure"/>
            <p:cNvSpPr>
              <a:spLocks noChangeArrowheads="1"/>
            </p:cNvSpPr>
            <p:nvPr/>
          </p:nvSpPr>
          <p:spPr bwMode="auto">
            <a:xfrm>
              <a:off x="629400" y="6159600"/>
              <a:ext cx="10933200" cy="378584"/>
            </a:xfrm>
            <a:prstGeom prst="rect">
              <a:avLst/>
            </a:prstGeom>
            <a:solidFill>
              <a:schemeClr val="accent3">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150" name="Whitespace measure"/>
            <p:cNvSpPr>
              <a:spLocks noChangeArrowheads="1"/>
            </p:cNvSpPr>
            <p:nvPr/>
          </p:nvSpPr>
          <p:spPr bwMode="auto">
            <a:xfrm>
              <a:off x="629400" y="1497600"/>
              <a:ext cx="10932229" cy="583200"/>
            </a:xfrm>
            <a:prstGeom prst="rect">
              <a:avLst/>
            </a:prstGeom>
            <a:solidFill>
              <a:schemeClr val="accent3">
                <a:alpha val="1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grpSp>
          <p:nvGrpSpPr>
            <p:cNvPr id="151" name="Five column measure"/>
            <p:cNvGrpSpPr/>
            <p:nvPr userDrawn="1"/>
          </p:nvGrpSpPr>
          <p:grpSpPr>
            <a:xfrm>
              <a:off x="629400" y="5975122"/>
              <a:ext cx="10933200" cy="79536"/>
              <a:chOff x="629400" y="5975122"/>
              <a:chExt cx="10933200" cy="79536"/>
            </a:xfrm>
          </p:grpSpPr>
          <p:sp>
            <p:nvSpPr>
              <p:cNvPr id="154" name="Rectangle 5"/>
              <p:cNvSpPr>
                <a:spLocks noChangeArrowheads="1"/>
              </p:cNvSpPr>
              <p:nvPr/>
            </p:nvSpPr>
            <p:spPr bwMode="auto">
              <a:xfrm>
                <a:off x="2880128" y="5975122"/>
                <a:ext cx="1930288" cy="79536"/>
              </a:xfrm>
              <a:prstGeom prst="rect">
                <a:avLst/>
              </a:prstGeom>
              <a:solidFill>
                <a:schemeClr val="accent5">
                  <a:alpha val="1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155" name="Rectangle 7"/>
              <p:cNvSpPr>
                <a:spLocks noChangeArrowheads="1"/>
              </p:cNvSpPr>
              <p:nvPr/>
            </p:nvSpPr>
            <p:spPr bwMode="auto">
              <a:xfrm>
                <a:off x="9626194" y="5975122"/>
                <a:ext cx="1936406" cy="79536"/>
              </a:xfrm>
              <a:prstGeom prst="rect">
                <a:avLst/>
              </a:prstGeom>
              <a:solidFill>
                <a:schemeClr val="accent5">
                  <a:alpha val="1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156" name="Rectangle 9"/>
              <p:cNvSpPr>
                <a:spLocks noChangeArrowheads="1"/>
              </p:cNvSpPr>
              <p:nvPr/>
            </p:nvSpPr>
            <p:spPr bwMode="auto">
              <a:xfrm>
                <a:off x="7372407" y="5975122"/>
                <a:ext cx="1936406" cy="79536"/>
              </a:xfrm>
              <a:prstGeom prst="rect">
                <a:avLst/>
              </a:prstGeom>
              <a:solidFill>
                <a:schemeClr val="accent5">
                  <a:alpha val="1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157" name="Rectangle 11"/>
              <p:cNvSpPr>
                <a:spLocks noChangeArrowheads="1"/>
              </p:cNvSpPr>
              <p:nvPr/>
            </p:nvSpPr>
            <p:spPr bwMode="auto">
              <a:xfrm>
                <a:off x="5127797" y="5975122"/>
                <a:ext cx="1927229" cy="79536"/>
              </a:xfrm>
              <a:prstGeom prst="rect">
                <a:avLst/>
              </a:prstGeom>
              <a:solidFill>
                <a:schemeClr val="accent5">
                  <a:alpha val="1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158" name="Rectangle 13"/>
              <p:cNvSpPr>
                <a:spLocks noChangeArrowheads="1"/>
              </p:cNvSpPr>
              <p:nvPr/>
            </p:nvSpPr>
            <p:spPr bwMode="auto">
              <a:xfrm>
                <a:off x="629400" y="5975122"/>
                <a:ext cx="1933347" cy="79536"/>
              </a:xfrm>
              <a:prstGeom prst="rect">
                <a:avLst/>
              </a:prstGeom>
              <a:solidFill>
                <a:schemeClr val="accent5">
                  <a:alpha val="1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grpSp>
        <p:sp>
          <p:nvSpPr>
            <p:cNvPr id="152" name="Live area"/>
            <p:cNvSpPr/>
            <p:nvPr/>
          </p:nvSpPr>
          <p:spPr>
            <a:xfrm>
              <a:off x="629400" y="2080801"/>
              <a:ext cx="10933200" cy="4078800"/>
            </a:xfrm>
            <a:custGeom>
              <a:avLst/>
              <a:gdLst>
                <a:gd name="connsiteX0" fmla="*/ 0 w 10931999"/>
                <a:gd name="connsiteY0" fmla="*/ 0 h 5537797"/>
                <a:gd name="connsiteX1" fmla="*/ 10931999 w 10931999"/>
                <a:gd name="connsiteY1" fmla="*/ 0 h 5537797"/>
                <a:gd name="connsiteX2" fmla="*/ 10931999 w 10931999"/>
                <a:gd name="connsiteY2" fmla="*/ 5537797 h 5537797"/>
                <a:gd name="connsiteX3" fmla="*/ 0 w 10931999"/>
                <a:gd name="connsiteY3" fmla="*/ 5537797 h 5537797"/>
              </a:gdLst>
              <a:ahLst/>
              <a:cxnLst>
                <a:cxn ang="0">
                  <a:pos x="connsiteX0" y="connsiteY0"/>
                </a:cxn>
                <a:cxn ang="0">
                  <a:pos x="connsiteX1" y="connsiteY1"/>
                </a:cxn>
                <a:cxn ang="0">
                  <a:pos x="connsiteX2" y="connsiteY2"/>
                </a:cxn>
                <a:cxn ang="0">
                  <a:pos x="connsiteX3" y="connsiteY3"/>
                </a:cxn>
              </a:cxnLst>
              <a:rect l="l" t="t" r="r" b="b"/>
              <a:pathLst>
                <a:path w="10931999" h="5537797">
                  <a:moveTo>
                    <a:pt x="0" y="0"/>
                  </a:moveTo>
                  <a:lnTo>
                    <a:pt x="10931999" y="0"/>
                  </a:lnTo>
                  <a:lnTo>
                    <a:pt x="10931999" y="5537797"/>
                  </a:lnTo>
                  <a:lnTo>
                    <a:pt x="0" y="5537797"/>
                  </a:lnTo>
                  <a:close/>
                </a:path>
              </a:pathLst>
            </a:custGeom>
            <a:noFill/>
            <a:ln w="9525">
              <a:solidFill>
                <a:srgbClr val="E71C57">
                  <a:alpha val="35000"/>
                </a:srgbClr>
              </a:solid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90000"/>
                </a:lnSpc>
                <a:spcAft>
                  <a:spcPts val="1000"/>
                </a:spcAft>
              </a:pPr>
              <a:endParaRPr lang="en-US" sz="1200">
                <a:solidFill>
                  <a:schemeClr val="bg1"/>
                </a:solidFill>
                <a:latin typeface="+mn-lt"/>
              </a:endParaRPr>
            </a:p>
          </p:txBody>
        </p:sp>
        <p:sp>
          <p:nvSpPr>
            <p:cNvPr id="153" name="Footnote example"/>
            <p:cNvSpPr txBox="1"/>
            <p:nvPr/>
          </p:nvSpPr>
          <p:spPr>
            <a:xfrm>
              <a:off x="630000" y="6144442"/>
              <a:ext cx="9030914" cy="415498"/>
            </a:xfrm>
            <a:prstGeom prst="rect">
              <a:avLst/>
            </a:prstGeom>
            <a:noFill/>
          </p:spPr>
          <p:txBody>
            <a:bodyPr wrap="square" lIns="0" tIns="0" rIns="0" bIns="0" rtlCol="0" anchor="b">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bg1">
                      <a:lumMod val="50000"/>
                    </a:schemeClr>
                  </a:solidFill>
                  <a:effectLst/>
                  <a:uLnTx/>
                  <a:uFillTx/>
                  <a:latin typeface="+mn-lt"/>
                  <a:ea typeface="+mn-ea"/>
                  <a:cs typeface="+mn-cs"/>
                  <a:sym typeface="Trebuchet MS" panose="020B0603020202020204" pitchFamily="34" charset="0"/>
                </a:rPr>
                <a:t>1. </a:t>
              </a:r>
              <a:r>
                <a:rPr kumimoji="0" lang="en-US" sz="1000" b="0" i="0" u="none" strike="noStrike" kern="1200" cap="none" spc="0" normalizeH="0" baseline="0" noProof="0" err="1">
                  <a:ln>
                    <a:noFill/>
                  </a:ln>
                  <a:solidFill>
                    <a:schemeClr val="bg1">
                      <a:lumMod val="50000"/>
                    </a:schemeClr>
                  </a:solidFill>
                  <a:effectLst/>
                  <a:uLnTx/>
                  <a:uFillTx/>
                  <a:latin typeface="+mn-lt"/>
                  <a:ea typeface="+mn-ea"/>
                  <a:cs typeface="+mn-cs"/>
                  <a:sym typeface="Trebuchet MS" panose="020B0603020202020204" pitchFamily="34" charset="0"/>
                </a:rPr>
                <a:t>xxxx</a:t>
              </a:r>
              <a:r>
                <a:rPr kumimoji="0" lang="en-US" sz="1000" b="0" i="0" u="none" strike="noStrike" kern="1200" cap="none" spc="0" normalizeH="0" baseline="0" noProof="0">
                  <a:ln>
                    <a:noFill/>
                  </a:ln>
                  <a:solidFill>
                    <a:schemeClr val="bg1">
                      <a:lumMod val="50000"/>
                    </a:schemeClr>
                  </a:solidFill>
                  <a:effectLst/>
                  <a:uLnTx/>
                  <a:uFillTx/>
                  <a:latin typeface="+mn-lt"/>
                  <a:ea typeface="+mn-ea"/>
                  <a:cs typeface="+mn-cs"/>
                  <a:sym typeface="Trebuchet MS" panose="020B0603020202020204" pitchFamily="34" charset="0"/>
                </a:rPr>
                <a:t>  2. </a:t>
              </a:r>
              <a:r>
                <a:rPr kumimoji="0" lang="en-US" sz="1000" b="0" i="0" u="none" strike="noStrike" kern="1200" cap="none" spc="0" normalizeH="0" baseline="0" noProof="0" err="1">
                  <a:ln>
                    <a:noFill/>
                  </a:ln>
                  <a:solidFill>
                    <a:schemeClr val="bg1">
                      <a:lumMod val="50000"/>
                    </a:schemeClr>
                  </a:solidFill>
                  <a:effectLst/>
                  <a:uLnTx/>
                  <a:uFillTx/>
                  <a:latin typeface="+mn-lt"/>
                  <a:ea typeface="+mn-ea"/>
                  <a:cs typeface="+mn-cs"/>
                  <a:sym typeface="Trebuchet MS" panose="020B0603020202020204" pitchFamily="34" charset="0"/>
                </a:rPr>
                <a:t>xxxx</a:t>
              </a:r>
              <a:r>
                <a:rPr kumimoji="0" lang="en-US" sz="1000" b="0" i="0" u="none" strike="noStrike" kern="1200" cap="none" spc="0" normalizeH="0" baseline="0" noProof="0">
                  <a:ln>
                    <a:noFill/>
                  </a:ln>
                  <a:solidFill>
                    <a:schemeClr val="bg1">
                      <a:lumMod val="50000"/>
                    </a:schemeClr>
                  </a:solidFill>
                  <a:effectLst/>
                  <a:uLnTx/>
                  <a:uFillTx/>
                  <a:latin typeface="+mn-lt"/>
                  <a:ea typeface="+mn-ea"/>
                  <a:cs typeface="+mn-cs"/>
                  <a:sym typeface="Trebuchet MS" panose="020B0603020202020204" pitchFamily="34" charset="0"/>
                </a:rPr>
                <a:t>  3. List footnotes in numerical order. Footnote numbers are not bracketed. Use 10pt font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bg1">
                      <a:lumMod val="50000"/>
                    </a:schemeClr>
                  </a:solidFill>
                  <a:effectLst/>
                  <a:uLnTx/>
                  <a:uFillTx/>
                  <a:latin typeface="+mn-lt"/>
                  <a:ea typeface="+mn-ea"/>
                  <a:cs typeface="+mn-cs"/>
                  <a:sym typeface="Trebuchet MS" panose="020B0603020202020204" pitchFamily="34" charset="0"/>
                </a:rPr>
                <a:t>Note: Do not put a period at the end of the note or the source</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bg1">
                      <a:lumMod val="50000"/>
                    </a:schemeClr>
                  </a:solidFill>
                  <a:effectLst/>
                  <a:uLnTx/>
                  <a:uFillTx/>
                  <a:latin typeface="+mn-lt"/>
                  <a:ea typeface="+mn-ea"/>
                  <a:cs typeface="+mn-cs"/>
                  <a:sym typeface="Trebuchet MS" panose="020B0603020202020204" pitchFamily="34" charset="0"/>
                </a:rPr>
                <a:t>Source: Include a source for every chart that you use. Separate sources with a semicolon; BCG-related sources go at the end</a:t>
              </a:r>
            </a:p>
          </p:txBody>
        </p:sp>
      </p:grpSp>
      <p:sp>
        <p:nvSpPr>
          <p:cNvPr id="2" name="Date Placeholder 1"/>
          <p:cNvSpPr>
            <a:spLocks noGrp="1"/>
          </p:cNvSpPr>
          <p:nvPr>
            <p:ph type="dt" sz="half" idx="10"/>
          </p:nvPr>
        </p:nvSpPr>
        <p:spPr/>
        <p:txBody>
          <a:bodyPr/>
          <a:lstStyle>
            <a:lvl1pPr>
              <a:defRPr>
                <a:solidFill>
                  <a:schemeClr val="bg1">
                    <a:lumMod val="50000"/>
                  </a:schemeClr>
                </a:solidFill>
                <a:latin typeface="+mn-lt"/>
                <a:sym typeface="Trebuchet MS" panose="020B0603020202020204" pitchFamily="34" charset="0"/>
              </a:defRPr>
            </a:lvl1pPr>
          </a:lstStyle>
          <a:p>
            <a:endParaRPr lang="en-US"/>
          </a:p>
        </p:txBody>
      </p:sp>
      <p:sp>
        <p:nvSpPr>
          <p:cNvPr id="56"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2022 by Boston Consulting Group. All rights reserved.</a:t>
            </a:r>
          </a:p>
        </p:txBody>
      </p:sp>
    </p:spTree>
    <p:extLst>
      <p:ext uri="{BB962C8B-B14F-4D97-AF65-F5344CB8AC3E}">
        <p14:creationId xmlns:p14="http://schemas.microsoft.com/office/powerpoint/2010/main" val="61878484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36.xml><?xml version="1.0" encoding="utf-8"?>
<p:sldLayout xmlns:a="http://schemas.openxmlformats.org/drawingml/2006/main" xmlns:r="http://schemas.openxmlformats.org/officeDocument/2006/relationships" xmlns:p="http://schemas.openxmlformats.org/presentationml/2006/main" showMasterSp="0" preserve="1" userDrawn="1">
  <p:cSld name="Agenda Section Header Overview">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userDrawn="1">
            <p:custDataLst>
              <p:tags r:id="rId1"/>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4" imgW="270" imgH="270" progId="TCLayout.ActiveDocument.1">
                  <p:embed/>
                </p:oleObj>
              </mc:Choice>
              <mc:Fallback>
                <p:oleObj name="think-cell Slide" r:id="rId4" imgW="270" imgH="270" progId="TCLayout.ActiveDocument.1">
                  <p:embed/>
                  <p:pic>
                    <p:nvPicPr>
                      <p:cNvPr id="3" name="Object 2" hidden="1"/>
                      <p:cNvPicPr/>
                      <p:nvPr/>
                    </p:nvPicPr>
                    <p:blipFill>
                      <a:blip r:embed="rId5"/>
                      <a:stretch>
                        <a:fillRect/>
                      </a:stretch>
                    </p:blipFill>
                    <p:spPr>
                      <a:xfrm>
                        <a:off x="1588" y="1588"/>
                        <a:ext cx="1587" cy="1587"/>
                      </a:xfrm>
                      <a:prstGeom prst="rect">
                        <a:avLst/>
                      </a:prstGeom>
                    </p:spPr>
                  </p:pic>
                </p:oleObj>
              </mc:Fallback>
            </mc:AlternateContent>
          </a:graphicData>
        </a:graphic>
      </p:graphicFrame>
      <p:sp>
        <p:nvSpPr>
          <p:cNvPr id="7" name="TextBox 6"/>
          <p:cNvSpPr txBox="1"/>
          <p:nvPr userDrawn="1"/>
        </p:nvSpPr>
        <p:spPr bwMode="white">
          <a:xfrm>
            <a:off x="11167872" y="6404400"/>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Trebuchet MS" panose="020B0603020202020204" pitchFamily="34" charset="0"/>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Trebuchet MS" panose="020B0603020202020204" pitchFamily="34" charset="0"/>
              <a:ea typeface="+mn-ea"/>
              <a:cs typeface="+mn-cs"/>
              <a:sym typeface="Trebuchet MS" panose="020B0603020202020204" pitchFamily="34" charset="0"/>
            </a:endParaRPr>
          </a:p>
        </p:txBody>
      </p:sp>
      <p:sp>
        <p:nvSpPr>
          <p:cNvPr id="9"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Trebuchet MS" panose="020B0603020202020204" pitchFamily="34" charset="0"/>
                <a:sym typeface="Trebuchet MS" panose="020B0603020202020204" pitchFamily="34" charset="0"/>
              </a:rPr>
              <a:t>Copyright © 2022 by Boston Consulting Group. All rights reserved.</a:t>
            </a:r>
          </a:p>
        </p:txBody>
      </p:sp>
      <p:sp>
        <p:nvSpPr>
          <p:cNvPr id="11" name="Rectangle 10"/>
          <p:cNvSpPr/>
          <p:nvPr userDrawn="1"/>
        </p:nvSpPr>
        <p:spPr bwMode="invGray">
          <a:xfrm>
            <a:off x="1388145" y="4691187"/>
            <a:ext cx="929337" cy="995874"/>
          </a:xfrm>
          <a:prstGeom prst="rect">
            <a:avLst/>
          </a:prstGeom>
          <a:noFill/>
          <a:ln w="9525">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auto">
              <a:lnSpc>
                <a:spcPct val="95000"/>
              </a:lnSpc>
              <a:spcBef>
                <a:spcPts val="0"/>
              </a:spcBef>
              <a:spcAft>
                <a:spcPts val="0"/>
              </a:spcAft>
            </a:pPr>
            <a:endParaRPr lang="en-US" sz="2000">
              <a:solidFill>
                <a:prstClr val="white"/>
              </a:solidFill>
              <a:latin typeface="Trebuchet MS" panose="020B0603020202020204" pitchFamily="34" charset="0"/>
            </a:endParaRPr>
          </a:p>
        </p:txBody>
      </p:sp>
      <p:sp>
        <p:nvSpPr>
          <p:cNvPr id="12" name="Rectangle 11"/>
          <p:cNvSpPr/>
          <p:nvPr userDrawn="1">
            <p:custDataLst>
              <p:tags r:id="rId2"/>
            </p:custDataLst>
          </p:nvPr>
        </p:nvSpPr>
        <p:spPr>
          <a:xfrm>
            <a:off x="2509482" y="4691187"/>
            <a:ext cx="1570152" cy="1468176"/>
          </a:xfrm>
          <a:prstGeom prst="rect">
            <a:avLst/>
          </a:prstGeom>
          <a:noFill/>
          <a:ln w="9525" cmpd="sng">
            <a:solidFill>
              <a:srgbClr val="FFFFFF"/>
            </a:solidFill>
            <a:prstDash val="solid"/>
            <a:miter lim="800000"/>
          </a:ln>
          <a:extLst>
            <a:ext uri="{909E8E84-426E-40DD-AFC4-6F175D3DCCD1}">
              <a14:hiddenFill xmlns:a14="http://schemas.microsoft.com/office/drawing/2010/main">
                <a:solidFill>
                  <a:schemeClr val="tx1">
                    <a:lumMod val="60000"/>
                    <a:lumOff val="40000"/>
                  </a:schemeClr>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180000" rIns="182880" bIns="182880" numCol="1" spcCol="0" rtlCol="0" fromWordArt="0" anchor="t" anchorCtr="0" forceAA="0" compatLnSpc="1">
            <a:prstTxWarp prst="textNoShape">
              <a:avLst/>
            </a:prstTxWarp>
            <a:noAutofit/>
          </a:bodyPr>
          <a:lstStyle/>
          <a:p>
            <a:pPr>
              <a:lnSpc>
                <a:spcPct val="95000"/>
              </a:lnSpc>
            </a:pPr>
            <a:endParaRPr lang="en-US" sz="1200">
              <a:solidFill>
                <a:srgbClr val="FFFFFF"/>
              </a:solidFill>
              <a:latin typeface="Trebuchet MS" panose="020B0603020202020204" pitchFamily="34" charset="0"/>
            </a:endParaRPr>
          </a:p>
        </p:txBody>
      </p:sp>
      <p:sp>
        <p:nvSpPr>
          <p:cNvPr id="2" name="TextBox 1"/>
          <p:cNvSpPr txBox="1"/>
          <p:nvPr userDrawn="1"/>
        </p:nvSpPr>
        <p:spPr>
          <a:xfrm>
            <a:off x="630000" y="907199"/>
            <a:ext cx="3448800" cy="3488400"/>
          </a:xfrm>
          <a:prstGeom prst="rect">
            <a:avLst/>
          </a:prstGeom>
          <a:noFill/>
          <a:ln>
            <a:solidFill>
              <a:schemeClr val="bg1"/>
            </a:solidFill>
          </a:ln>
        </p:spPr>
        <p:txBody>
          <a:bodyPr wrap="square" lIns="612000" tIns="468000" rIns="0" bIns="0" rtlCol="0" anchor="t">
            <a:spAutoFit/>
          </a:bodyPr>
          <a:lstStyle/>
          <a:p>
            <a:pPr>
              <a:lnSpc>
                <a:spcPct val="90000"/>
              </a:lnSpc>
              <a:spcAft>
                <a:spcPts val="600"/>
              </a:spcAft>
            </a:pPr>
            <a:endParaRPr lang="en-US" sz="5400">
              <a:solidFill>
                <a:schemeClr val="bg1"/>
              </a:solidFill>
            </a:endParaRPr>
          </a:p>
        </p:txBody>
      </p:sp>
      <p:sp>
        <p:nvSpPr>
          <p:cNvPr id="10" name="TextBox 1"/>
          <p:cNvSpPr txBox="1"/>
          <p:nvPr userDrawn="1"/>
        </p:nvSpPr>
        <p:spPr>
          <a:xfrm>
            <a:off x="1109949" y="1115416"/>
            <a:ext cx="2488182" cy="896399"/>
          </a:xfrm>
          <a:prstGeom prst="rect">
            <a:avLst/>
          </a:prstGeom>
          <a:noFill/>
        </p:spPr>
        <p:txBody>
          <a:bodyPr wrap="none" rtlCol="0">
            <a:spAutoFit/>
          </a:bodyPr>
          <a:lstStyle/>
          <a:p>
            <a:pPr algn="ctr" fontAlgn="auto">
              <a:lnSpc>
                <a:spcPct val="95000"/>
              </a:lnSpc>
              <a:spcBef>
                <a:spcPts val="0"/>
              </a:spcBef>
              <a:spcAft>
                <a:spcPts val="0"/>
              </a:spcAft>
            </a:pPr>
            <a:r>
              <a:rPr lang="en-US" sz="5400">
                <a:solidFill>
                  <a:schemeClr val="bg1"/>
                </a:solidFill>
                <a:latin typeface="+mj-lt"/>
              </a:rPr>
              <a:t>Agenda</a:t>
            </a:r>
          </a:p>
        </p:txBody>
      </p:sp>
    </p:spTree>
    <p:extLst>
      <p:ext uri="{BB962C8B-B14F-4D97-AF65-F5344CB8AC3E}">
        <p14:creationId xmlns:p14="http://schemas.microsoft.com/office/powerpoint/2010/main" val="376059235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37.xml><?xml version="1.0" encoding="utf-8"?>
<p:sldLayout xmlns:a="http://schemas.openxmlformats.org/drawingml/2006/main" xmlns:r="http://schemas.openxmlformats.org/officeDocument/2006/relationships" xmlns:p="http://schemas.openxmlformats.org/presentationml/2006/main" showMasterSp="0" preserve="1" userDrawn="1">
  <p:cSld name="Agenda Section Header">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userDrawn="1">
            <p:custDataLst>
              <p:tags r:id="rId1"/>
            </p:custDataLst>
            <p:extLst>
              <p:ext uri="{D42A27DB-BD31-4B8C-83A1-F6EECF244321}">
                <p14:modId xmlns:p14="http://schemas.microsoft.com/office/powerpoint/2010/main" val="1963492020"/>
              </p:ext>
            </p:ext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3" imgW="270" imgH="270" progId="TCLayout.ActiveDocument.1">
                  <p:embed/>
                </p:oleObj>
              </mc:Choice>
              <mc:Fallback>
                <p:oleObj name="think-cell Slide" r:id="rId3" imgW="270" imgH="270" progId="TCLayout.ActiveDocument.1">
                  <p:embed/>
                  <p:pic>
                    <p:nvPicPr>
                      <p:cNvPr id="3" name="Object 2" hidden="1"/>
                      <p:cNvPicPr/>
                      <p:nvPr/>
                    </p:nvPicPr>
                    <p:blipFill>
                      <a:blip r:embed="rId4"/>
                      <a:stretch>
                        <a:fillRect/>
                      </a:stretch>
                    </p:blipFill>
                    <p:spPr>
                      <a:xfrm>
                        <a:off x="1588" y="1588"/>
                        <a:ext cx="1587" cy="1587"/>
                      </a:xfrm>
                      <a:prstGeom prst="rect">
                        <a:avLst/>
                      </a:prstGeom>
                    </p:spPr>
                  </p:pic>
                </p:oleObj>
              </mc:Fallback>
            </mc:AlternateContent>
          </a:graphicData>
        </a:graphic>
      </p:graphicFrame>
      <p:sp>
        <p:nvSpPr>
          <p:cNvPr id="7" name="TextBox 6"/>
          <p:cNvSpPr txBox="1"/>
          <p:nvPr userDrawn="1"/>
        </p:nvSpPr>
        <p:spPr bwMode="white">
          <a:xfrm>
            <a:off x="11167872" y="6404400"/>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Trebuchet MS" panose="020B0603020202020204" pitchFamily="34" charset="0"/>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Trebuchet MS" panose="020B0603020202020204" pitchFamily="34" charset="0"/>
              <a:ea typeface="+mn-ea"/>
              <a:cs typeface="+mn-cs"/>
              <a:sym typeface="Trebuchet MS" panose="020B0603020202020204" pitchFamily="34" charset="0"/>
            </a:endParaRPr>
          </a:p>
        </p:txBody>
      </p:sp>
      <p:sp>
        <p:nvSpPr>
          <p:cNvPr id="9"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Trebuchet MS" panose="020B0603020202020204" pitchFamily="34" charset="0"/>
                <a:sym typeface="Trebuchet MS" panose="020B0603020202020204" pitchFamily="34" charset="0"/>
              </a:rPr>
              <a:t>Copyright © 2022 by Boston Consulting Group. All rights reserved.</a:t>
            </a:r>
          </a:p>
        </p:txBody>
      </p:sp>
      <p:sp>
        <p:nvSpPr>
          <p:cNvPr id="10" name="Rectangle 9"/>
          <p:cNvSpPr/>
          <p:nvPr userDrawn="1"/>
        </p:nvSpPr>
        <p:spPr bwMode="white">
          <a:xfrm>
            <a:off x="1284743" y="1428131"/>
            <a:ext cx="947672" cy="947672"/>
          </a:xfrm>
          <a:prstGeom prst="rect">
            <a:avLst/>
          </a:prstGeom>
          <a:noFill/>
          <a:ln w="9525">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l"/>
            <a:endParaRPr lang="en-US" sz="1200">
              <a:solidFill>
                <a:schemeClr val="bg1"/>
              </a:solidFill>
              <a:latin typeface="Trebuchet MS" panose="020B0603020202020204" pitchFamily="34" charset="0"/>
              <a:sym typeface="Trebuchet MS" panose="020B0603020202020204" pitchFamily="34" charset="0"/>
            </a:endParaRPr>
          </a:p>
        </p:txBody>
      </p:sp>
      <p:sp>
        <p:nvSpPr>
          <p:cNvPr id="13" name="Rectangle 12"/>
          <p:cNvSpPr/>
          <p:nvPr userDrawn="1"/>
        </p:nvSpPr>
        <p:spPr>
          <a:xfrm>
            <a:off x="1285200" y="2667600"/>
            <a:ext cx="9619200" cy="3200400"/>
          </a:xfrm>
          <a:prstGeom prst="rect">
            <a:avLst/>
          </a:prstGeom>
          <a:noFill/>
          <a:ln w="9525">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auto">
              <a:spcBef>
                <a:spcPts val="0"/>
              </a:spcBef>
              <a:spcAft>
                <a:spcPts val="0"/>
              </a:spcAft>
            </a:pPr>
            <a:endParaRPr lang="en-US" sz="2000">
              <a:solidFill>
                <a:prstClr val="white"/>
              </a:solidFill>
              <a:latin typeface="Trebuchet MS" panose="020B0603020202020204" pitchFamily="34" charset="0"/>
            </a:endParaRPr>
          </a:p>
        </p:txBody>
      </p:sp>
    </p:spTree>
    <p:extLst>
      <p:ext uri="{BB962C8B-B14F-4D97-AF65-F5344CB8AC3E}">
        <p14:creationId xmlns:p14="http://schemas.microsoft.com/office/powerpoint/2010/main" val="36200298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38.xml><?xml version="1.0" encoding="utf-8"?>
<p:sldLayout xmlns:a="http://schemas.openxmlformats.org/drawingml/2006/main" xmlns:r="http://schemas.openxmlformats.org/officeDocument/2006/relationships" xmlns:p="http://schemas.openxmlformats.org/presentationml/2006/main" showMasterSp="0" preserve="1" userDrawn="1">
  <p:cSld name="Agenda Full Width Overview">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userDrawn="1">
            <p:custDataLst>
              <p:tags r:id="rId1"/>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3" imgW="270" imgH="270" progId="TCLayout.ActiveDocument.1">
                  <p:embed/>
                </p:oleObj>
              </mc:Choice>
              <mc:Fallback>
                <p:oleObj name="think-cell Slide" r:id="rId3" imgW="270" imgH="270" progId="TCLayout.ActiveDocument.1">
                  <p:embed/>
                  <p:pic>
                    <p:nvPicPr>
                      <p:cNvPr id="3" name="Object 2" hidden="1"/>
                      <p:cNvPicPr/>
                      <p:nvPr/>
                    </p:nvPicPr>
                    <p:blipFill>
                      <a:blip r:embed="rId4"/>
                      <a:stretch>
                        <a:fillRect/>
                      </a:stretch>
                    </p:blipFill>
                    <p:spPr>
                      <a:xfrm>
                        <a:off x="1588" y="1588"/>
                        <a:ext cx="1587" cy="1587"/>
                      </a:xfrm>
                      <a:prstGeom prst="rect">
                        <a:avLst/>
                      </a:prstGeom>
                    </p:spPr>
                  </p:pic>
                </p:oleObj>
              </mc:Fallback>
            </mc:AlternateContent>
          </a:graphicData>
        </a:graphic>
      </p:graphicFrame>
      <p:sp>
        <p:nvSpPr>
          <p:cNvPr id="7" name="TextBox 6"/>
          <p:cNvSpPr txBox="1"/>
          <p:nvPr userDrawn="1"/>
        </p:nvSpPr>
        <p:spPr bwMode="white">
          <a:xfrm>
            <a:off x="11167872" y="6404400"/>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Trebuchet MS" panose="020B0603020202020204" pitchFamily="34" charset="0"/>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Trebuchet MS" panose="020B0603020202020204" pitchFamily="34" charset="0"/>
              <a:ea typeface="+mn-ea"/>
              <a:cs typeface="+mn-cs"/>
              <a:sym typeface="Trebuchet MS" panose="020B0603020202020204" pitchFamily="34" charset="0"/>
            </a:endParaRPr>
          </a:p>
        </p:txBody>
      </p:sp>
      <p:sp>
        <p:nvSpPr>
          <p:cNvPr id="9"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Trebuchet MS" panose="020B0603020202020204" pitchFamily="34" charset="0"/>
                <a:sym typeface="Trebuchet MS" panose="020B0603020202020204" pitchFamily="34" charset="0"/>
              </a:rPr>
              <a:t>Copyright © 2022 by Boston Consulting Group. All rights reserved.</a:t>
            </a:r>
          </a:p>
        </p:txBody>
      </p:sp>
      <p:sp>
        <p:nvSpPr>
          <p:cNvPr id="10" name="Title 1"/>
          <p:cNvSpPr txBox="1">
            <a:spLocks/>
          </p:cNvSpPr>
          <p:nvPr userDrawn="1"/>
        </p:nvSpPr>
        <p:spPr>
          <a:xfrm>
            <a:off x="630000" y="622800"/>
            <a:ext cx="7189998" cy="470898"/>
          </a:xfrm>
          <a:prstGeom prst="rect">
            <a:avLst/>
          </a:prstGeom>
        </p:spPr>
        <p:txBody>
          <a:bodyPr vert="horz" wrap="square" lIns="0" tIns="0" rIns="0" bIns="0" rtlCol="0" anchor="t" anchorCtr="0">
            <a:spAutoFit/>
          </a:bodyPr>
          <a:lstStyle>
            <a:lvl1pPr marL="0" indent="0" algn="l" defTabSz="914400" rtl="0" eaLnBrk="1" latinLnBrk="0" hangingPunct="1">
              <a:lnSpc>
                <a:spcPct val="90000"/>
              </a:lnSpc>
              <a:spcBef>
                <a:spcPct val="0"/>
              </a:spcBef>
              <a:spcAft>
                <a:spcPts val="0"/>
              </a:spcAft>
              <a:buNone/>
              <a:defRPr sz="3400" b="0" i="0" u="none" kern="1200" spc="0">
                <a:solidFill>
                  <a:schemeClr val="tx2">
                    <a:lumMod val="100000"/>
                  </a:schemeClr>
                </a:solidFill>
                <a:latin typeface="Trebuchet MS" panose="020B0603020202020204" pitchFamily="34" charset="0"/>
                <a:ea typeface="+mj-ea"/>
                <a:cs typeface="+mj-cs"/>
                <a:sym typeface="Trebuchet MS" panose="020B0603020202020204" pitchFamily="34" charset="0"/>
              </a:defRPr>
            </a:lvl1pPr>
          </a:lstStyle>
          <a:p>
            <a:r>
              <a:rPr lang="en-US">
                <a:solidFill>
                  <a:schemeClr val="bg1"/>
                </a:solidFill>
              </a:rPr>
              <a:t>Agenda</a:t>
            </a:r>
          </a:p>
        </p:txBody>
      </p:sp>
      <p:cxnSp>
        <p:nvCxnSpPr>
          <p:cNvPr id="13" name="Straight Connector 12"/>
          <p:cNvCxnSpPr/>
          <p:nvPr userDrawn="1"/>
        </p:nvCxnSpPr>
        <p:spPr bwMode="white">
          <a:xfrm>
            <a:off x="618898" y="1206000"/>
            <a:ext cx="11576304" cy="0"/>
          </a:xfrm>
          <a:prstGeom prst="line">
            <a:avLst/>
          </a:prstGeom>
          <a:ln w="9525" cmpd="sng">
            <a:solidFill>
              <a:schemeClr val="bg1"/>
            </a:solidFill>
            <a:miter lim="800000"/>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349642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39.xml><?xml version="1.0" encoding="utf-8"?>
<p:sldLayout xmlns:a="http://schemas.openxmlformats.org/drawingml/2006/main" xmlns:r="http://schemas.openxmlformats.org/officeDocument/2006/relationships" xmlns:p="http://schemas.openxmlformats.org/presentationml/2006/main" showMasterSp="0" preserve="1" userDrawn="1">
  <p:cSld name="Agenda Two-Thirds">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1"/>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3" imgW="270" imgH="270" progId="TCLayout.ActiveDocument.1">
                  <p:embed/>
                </p:oleObj>
              </mc:Choice>
              <mc:Fallback>
                <p:oleObj name="think-cell Slide" r:id="rId3" imgW="270" imgH="270" progId="TCLayout.ActiveDocument.1">
                  <p:embed/>
                  <p:pic>
                    <p:nvPicPr>
                      <p:cNvPr id="2" name="Object 1" hidden="1"/>
                      <p:cNvPicPr/>
                      <p:nvPr/>
                    </p:nvPicPr>
                    <p:blipFill>
                      <a:blip r:embed="rId4"/>
                      <a:stretch>
                        <a:fillRect/>
                      </a:stretch>
                    </p:blipFill>
                    <p:spPr>
                      <a:xfrm>
                        <a:off x="1588" y="1588"/>
                        <a:ext cx="1587" cy="1587"/>
                      </a:xfrm>
                      <a:prstGeom prst="rect">
                        <a:avLst/>
                      </a:prstGeom>
                    </p:spPr>
                  </p:pic>
                </p:oleObj>
              </mc:Fallback>
            </mc:AlternateContent>
          </a:graphicData>
        </a:graphic>
      </p:graphicFrame>
      <p:pic>
        <p:nvPicPr>
          <p:cNvPr id="10" name="Picture 9"/>
          <p:cNvPicPr>
            <a:picLocks noChangeAspect="1"/>
          </p:cNvPicPr>
          <p:nvPr userDrawn="1"/>
        </p:nvPicPr>
        <p:blipFill rotWithShape="1">
          <a:blip r:embed="rId5">
            <a:extLst>
              <a:ext uri="{28A0092B-C50C-407E-A947-70E740481C1C}">
                <a14:useLocalDpi xmlns:a14="http://schemas.microsoft.com/office/drawing/2010/main" val="0"/>
              </a:ext>
            </a:extLst>
          </a:blip>
          <a:srcRect l="29398" t="8741" r="101" b="27"/>
          <a:stretch/>
        </p:blipFill>
        <p:spPr bwMode="ltGray">
          <a:xfrm flipH="1">
            <a:off x="3671068" y="0"/>
            <a:ext cx="416951" cy="6858000"/>
          </a:xfrm>
          <a:prstGeom prst="rect">
            <a:avLst/>
          </a:prstGeom>
        </p:spPr>
      </p:pic>
      <p:sp>
        <p:nvSpPr>
          <p:cNvPr id="13" name="Rectangle 12"/>
          <p:cNvSpPr/>
          <p:nvPr userDrawn="1"/>
        </p:nvSpPr>
        <p:spPr bwMode="white">
          <a:xfrm>
            <a:off x="4080763" y="-1309"/>
            <a:ext cx="8111237" cy="685930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endParaRPr lang="en-US" sz="1200">
              <a:solidFill>
                <a:schemeClr val="bg1"/>
              </a:solidFill>
              <a:latin typeface="+mn-lt"/>
              <a:sym typeface="Trebuchet MS" panose="020B0603020202020204" pitchFamily="34" charset="0"/>
            </a:endParaRPr>
          </a:p>
        </p:txBody>
      </p:sp>
      <p:sp>
        <p:nvSpPr>
          <p:cNvPr id="16"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2022 by Boston Consulting Group. All rights reserved.</a:t>
            </a:r>
          </a:p>
        </p:txBody>
      </p:sp>
      <p:sp>
        <p:nvSpPr>
          <p:cNvPr id="15" name="TextBox 14"/>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lumMod val="50000"/>
                  </a:schemeClr>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lumMod val="50000"/>
                </a:schemeClr>
              </a:solidFill>
              <a:latin typeface="+mn-lt"/>
              <a:ea typeface="+mn-ea"/>
              <a:cs typeface="+mn-cs"/>
              <a:sym typeface="Trebuchet MS" panose="020B0603020202020204" pitchFamily="34" charset="0"/>
            </a:endParaRPr>
          </a:p>
        </p:txBody>
      </p:sp>
      <p:sp>
        <p:nvSpPr>
          <p:cNvPr id="17" name="TextBox 16"/>
          <p:cNvSpPr txBox="1"/>
          <p:nvPr userDrawn="1"/>
        </p:nvSpPr>
        <p:spPr>
          <a:xfrm>
            <a:off x="630000" y="3207715"/>
            <a:ext cx="1547143" cy="443198"/>
          </a:xfrm>
          <a:prstGeom prst="rect">
            <a:avLst/>
          </a:prstGeom>
          <a:noFill/>
        </p:spPr>
        <p:txBody>
          <a:bodyPr wrap="square" lIns="0" tIns="0" rIns="0" bIns="0" rtlCol="0" anchor="t">
            <a:spAutoFit/>
          </a:bodyPr>
          <a:lstStyle/>
          <a:p>
            <a:pPr>
              <a:lnSpc>
                <a:spcPct val="90000"/>
              </a:lnSpc>
              <a:spcAft>
                <a:spcPts val="600"/>
              </a:spcAft>
            </a:pPr>
            <a:r>
              <a:rPr lang="en-US" sz="3200">
                <a:solidFill>
                  <a:schemeClr val="bg1"/>
                </a:solidFill>
              </a:rPr>
              <a:t>Agenda</a:t>
            </a:r>
          </a:p>
        </p:txBody>
      </p:sp>
    </p:spTree>
    <p:extLst>
      <p:ext uri="{BB962C8B-B14F-4D97-AF65-F5344CB8AC3E}">
        <p14:creationId xmlns:p14="http://schemas.microsoft.com/office/powerpoint/2010/main" val="121727038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p:cSld name="Agenda D. Section Header Overview">
    <p:bg>
      <p:bgPr>
        <a:solidFill>
          <a:schemeClr val="bg1"/>
        </a:solidFill>
        <a:effectLst/>
      </p:bgPr>
    </p:bg>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1"/>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4" imgW="270" imgH="270" progId="TCLayout.ActiveDocument.1">
                  <p:embed/>
                </p:oleObj>
              </mc:Choice>
              <mc:Fallback>
                <p:oleObj name="think-cell Slide" r:id="rId4" imgW="270" imgH="270" progId="TCLayout.ActiveDocument.1">
                  <p:embed/>
                  <p:pic>
                    <p:nvPicPr>
                      <p:cNvPr id="2" name="Object 1" hidden="1"/>
                      <p:cNvPicPr/>
                      <p:nvPr/>
                    </p:nvPicPr>
                    <p:blipFill>
                      <a:blip r:embed="rId5"/>
                      <a:stretch>
                        <a:fillRect/>
                      </a:stretch>
                    </p:blipFill>
                    <p:spPr>
                      <a:xfrm>
                        <a:off x="1588" y="1588"/>
                        <a:ext cx="1587" cy="1587"/>
                      </a:xfrm>
                      <a:prstGeom prst="rect">
                        <a:avLst/>
                      </a:prstGeom>
                    </p:spPr>
                  </p:pic>
                </p:oleObj>
              </mc:Fallback>
            </mc:AlternateContent>
          </a:graphicData>
        </a:graphic>
      </p:graphicFrame>
      <p:sp>
        <p:nvSpPr>
          <p:cNvPr id="5"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Trebuchet MS" panose="020B0603020202020204" pitchFamily="34" charset="0"/>
                <a:sym typeface="Trebuchet MS" panose="020B0603020202020204" pitchFamily="34" charset="0"/>
              </a:rPr>
              <a:t>Copyright © 2022 by Boston Consulting Group. All rights reserved.</a:t>
            </a:r>
          </a:p>
        </p:txBody>
      </p:sp>
      <p:sp>
        <p:nvSpPr>
          <p:cNvPr id="8" name="Rectangle 7"/>
          <p:cNvSpPr/>
          <p:nvPr userDrawn="1"/>
        </p:nvSpPr>
        <p:spPr bwMode="invGray">
          <a:xfrm>
            <a:off x="1388145" y="4691187"/>
            <a:ext cx="929337" cy="995874"/>
          </a:xfrm>
          <a:prstGeom prst="rect">
            <a:avLst/>
          </a:prstGeom>
          <a:noFill/>
          <a:ln w="9525">
            <a:solidFill>
              <a:schemeClr val="accent4"/>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auto">
              <a:lnSpc>
                <a:spcPct val="95000"/>
              </a:lnSpc>
              <a:spcBef>
                <a:spcPts val="0"/>
              </a:spcBef>
              <a:spcAft>
                <a:spcPts val="0"/>
              </a:spcAft>
            </a:pPr>
            <a:endParaRPr lang="en-US" sz="2000">
              <a:solidFill>
                <a:prstClr val="white"/>
              </a:solidFill>
              <a:latin typeface="Trebuchet MS" panose="020B0603020202020204" pitchFamily="34" charset="0"/>
            </a:endParaRPr>
          </a:p>
        </p:txBody>
      </p:sp>
      <p:sp>
        <p:nvSpPr>
          <p:cNvPr id="10" name="Rectangle 9"/>
          <p:cNvSpPr/>
          <p:nvPr userDrawn="1">
            <p:custDataLst>
              <p:tags r:id="rId2"/>
            </p:custDataLst>
          </p:nvPr>
        </p:nvSpPr>
        <p:spPr>
          <a:xfrm>
            <a:off x="2509482" y="4691187"/>
            <a:ext cx="1570152" cy="1468176"/>
          </a:xfrm>
          <a:prstGeom prst="rect">
            <a:avLst/>
          </a:prstGeom>
          <a:noFill/>
          <a:ln w="9525" cmpd="sng">
            <a:solidFill>
              <a:schemeClr val="accent4"/>
            </a:solidFill>
            <a:prstDash val="solid"/>
            <a:miter lim="800000"/>
          </a:ln>
          <a:extLst>
            <a:ext uri="{909E8E84-426E-40DD-AFC4-6F175D3DCCD1}">
              <a14:hiddenFill xmlns:a14="http://schemas.microsoft.com/office/drawing/2010/main">
                <a:solidFill>
                  <a:schemeClr val="tx1">
                    <a:lumMod val="60000"/>
                    <a:lumOff val="40000"/>
                  </a:schemeClr>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180000" rIns="182880" bIns="182880" numCol="1" spcCol="0" rtlCol="0" fromWordArt="0" anchor="t" anchorCtr="0" forceAA="0" compatLnSpc="1">
            <a:prstTxWarp prst="textNoShape">
              <a:avLst/>
            </a:prstTxWarp>
            <a:noAutofit/>
          </a:bodyPr>
          <a:lstStyle/>
          <a:p>
            <a:pPr>
              <a:lnSpc>
                <a:spcPct val="95000"/>
              </a:lnSpc>
            </a:pPr>
            <a:endParaRPr lang="en-US" sz="1200">
              <a:solidFill>
                <a:srgbClr val="FFFFFF"/>
              </a:solidFill>
              <a:latin typeface="Trebuchet MS" panose="020B0603020202020204" pitchFamily="34" charset="0"/>
            </a:endParaRPr>
          </a:p>
        </p:txBody>
      </p:sp>
      <p:sp>
        <p:nvSpPr>
          <p:cNvPr id="11" name="TextBox 10"/>
          <p:cNvSpPr txBox="1"/>
          <p:nvPr userDrawn="1"/>
        </p:nvSpPr>
        <p:spPr>
          <a:xfrm>
            <a:off x="630000" y="907198"/>
            <a:ext cx="3448800" cy="3488400"/>
          </a:xfrm>
          <a:prstGeom prst="rect">
            <a:avLst/>
          </a:prstGeom>
          <a:noFill/>
          <a:ln>
            <a:solidFill>
              <a:schemeClr val="accent4"/>
            </a:solidFill>
          </a:ln>
        </p:spPr>
        <p:txBody>
          <a:bodyPr wrap="square" lIns="612000" tIns="468000" rIns="0" bIns="0" rtlCol="0" anchor="t">
            <a:spAutoFit/>
          </a:bodyPr>
          <a:lstStyle/>
          <a:p>
            <a:pPr>
              <a:lnSpc>
                <a:spcPct val="90000"/>
              </a:lnSpc>
              <a:spcAft>
                <a:spcPts val="600"/>
              </a:spcAft>
            </a:pPr>
            <a:endParaRPr lang="en-US" sz="5400">
              <a:solidFill>
                <a:schemeClr val="accent4"/>
              </a:solidFill>
            </a:endParaRPr>
          </a:p>
        </p:txBody>
      </p:sp>
      <p:sp>
        <p:nvSpPr>
          <p:cNvPr id="9" name="TextBox 1"/>
          <p:cNvSpPr txBox="1"/>
          <p:nvPr userDrawn="1"/>
        </p:nvSpPr>
        <p:spPr>
          <a:xfrm>
            <a:off x="1109949" y="1115416"/>
            <a:ext cx="2488182" cy="896399"/>
          </a:xfrm>
          <a:prstGeom prst="rect">
            <a:avLst/>
          </a:prstGeom>
          <a:noFill/>
        </p:spPr>
        <p:txBody>
          <a:bodyPr wrap="none" rtlCol="0">
            <a:spAutoFit/>
          </a:bodyPr>
          <a:lstStyle>
            <a:defPPr>
              <a:defRPr lang="en-US"/>
            </a:defPPr>
            <a:lvl1pPr algn="ctr" fontAlgn="auto">
              <a:lnSpc>
                <a:spcPct val="95000"/>
              </a:lnSpc>
              <a:spcBef>
                <a:spcPts val="0"/>
              </a:spcBef>
              <a:spcAft>
                <a:spcPts val="0"/>
              </a:spcAft>
              <a:defRPr sz="5400">
                <a:solidFill>
                  <a:schemeClr val="accent4"/>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r>
              <a:rPr lang="en-US"/>
              <a:t>Agenda</a:t>
            </a:r>
          </a:p>
        </p:txBody>
      </p:sp>
    </p:spTree>
    <p:extLst>
      <p:ext uri="{BB962C8B-B14F-4D97-AF65-F5344CB8AC3E}">
        <p14:creationId xmlns:p14="http://schemas.microsoft.com/office/powerpoint/2010/main" val="217590497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p:cSld name="Agenda D. Section Header">
    <p:bg>
      <p:bgPr>
        <a:solidFill>
          <a:schemeClr val="bg1"/>
        </a:solidFill>
        <a:effectLst/>
      </p:bgPr>
    </p:bg>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1"/>
            </p:custDataLst>
            <p:extLst>
              <p:ext uri="{D42A27DB-BD31-4B8C-83A1-F6EECF244321}">
                <p14:modId xmlns:p14="http://schemas.microsoft.com/office/powerpoint/2010/main" val="2440061710"/>
              </p:ext>
            </p:ext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3" imgW="270" imgH="270" progId="TCLayout.ActiveDocument.1">
                  <p:embed/>
                </p:oleObj>
              </mc:Choice>
              <mc:Fallback>
                <p:oleObj name="think-cell Slide" r:id="rId3" imgW="270" imgH="270" progId="TCLayout.ActiveDocument.1">
                  <p:embed/>
                  <p:pic>
                    <p:nvPicPr>
                      <p:cNvPr id="2" name="Object 1" hidden="1"/>
                      <p:cNvPicPr/>
                      <p:nvPr/>
                    </p:nvPicPr>
                    <p:blipFill>
                      <a:blip r:embed="rId4"/>
                      <a:stretch>
                        <a:fillRect/>
                      </a:stretch>
                    </p:blipFill>
                    <p:spPr>
                      <a:xfrm>
                        <a:off x="1588" y="1588"/>
                        <a:ext cx="1587" cy="1587"/>
                      </a:xfrm>
                      <a:prstGeom prst="rect">
                        <a:avLst/>
                      </a:prstGeom>
                    </p:spPr>
                  </p:pic>
                </p:oleObj>
              </mc:Fallback>
            </mc:AlternateContent>
          </a:graphicData>
        </a:graphic>
      </p:graphicFrame>
      <p:sp>
        <p:nvSpPr>
          <p:cNvPr id="5"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Trebuchet MS" panose="020B0603020202020204" pitchFamily="34" charset="0"/>
                <a:sym typeface="Trebuchet MS" panose="020B0603020202020204" pitchFamily="34" charset="0"/>
              </a:rPr>
              <a:t>Copyright © 2022 by Boston Consulting Group. All rights reserved.</a:t>
            </a:r>
          </a:p>
        </p:txBody>
      </p:sp>
      <p:sp>
        <p:nvSpPr>
          <p:cNvPr id="8" name="Rectangle 7"/>
          <p:cNvSpPr/>
          <p:nvPr userDrawn="1"/>
        </p:nvSpPr>
        <p:spPr bwMode="white">
          <a:xfrm>
            <a:off x="1284743" y="1428131"/>
            <a:ext cx="947672" cy="947672"/>
          </a:xfrm>
          <a:prstGeom prst="rect">
            <a:avLst/>
          </a:prstGeom>
          <a:noFill/>
          <a:ln w="9525">
            <a:solidFill>
              <a:schemeClr val="accent4"/>
            </a:solid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l"/>
            <a:endParaRPr lang="en-US" sz="1200">
              <a:solidFill>
                <a:schemeClr val="bg1"/>
              </a:solidFill>
              <a:latin typeface="Trebuchet MS" panose="020B0603020202020204" pitchFamily="34" charset="0"/>
              <a:sym typeface="Trebuchet MS" panose="020B0603020202020204" pitchFamily="34" charset="0"/>
            </a:endParaRPr>
          </a:p>
        </p:txBody>
      </p:sp>
      <p:sp>
        <p:nvSpPr>
          <p:cNvPr id="10" name="Rectangle 9"/>
          <p:cNvSpPr/>
          <p:nvPr userDrawn="1"/>
        </p:nvSpPr>
        <p:spPr>
          <a:xfrm>
            <a:off x="1285200" y="2667600"/>
            <a:ext cx="9619200" cy="3200400"/>
          </a:xfrm>
          <a:prstGeom prst="rect">
            <a:avLst/>
          </a:prstGeom>
          <a:noFill/>
          <a:ln w="9525">
            <a:solidFill>
              <a:schemeClr val="accent4"/>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auto">
              <a:spcBef>
                <a:spcPts val="0"/>
              </a:spcBef>
              <a:spcAft>
                <a:spcPts val="0"/>
              </a:spcAft>
            </a:pPr>
            <a:endParaRPr lang="en-US" sz="2000">
              <a:solidFill>
                <a:prstClr val="white"/>
              </a:solidFill>
              <a:latin typeface="Trebuchet MS" panose="020B0603020202020204" pitchFamily="34" charset="0"/>
            </a:endParaRPr>
          </a:p>
        </p:txBody>
      </p:sp>
    </p:spTree>
    <p:extLst>
      <p:ext uri="{BB962C8B-B14F-4D97-AF65-F5344CB8AC3E}">
        <p14:creationId xmlns:p14="http://schemas.microsoft.com/office/powerpoint/2010/main" val="300991832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p:cSld name="Agenda D. Full Width Overview">
    <p:bg>
      <p:bgPr>
        <a:solidFill>
          <a:schemeClr val="bg1"/>
        </a:solidFill>
        <a:effectLst/>
      </p:bgPr>
    </p:bg>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1"/>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3" imgW="270" imgH="270" progId="TCLayout.ActiveDocument.1">
                  <p:embed/>
                </p:oleObj>
              </mc:Choice>
              <mc:Fallback>
                <p:oleObj name="think-cell Slide" r:id="rId3" imgW="270" imgH="270" progId="TCLayout.ActiveDocument.1">
                  <p:embed/>
                  <p:pic>
                    <p:nvPicPr>
                      <p:cNvPr id="2" name="Object 1" hidden="1"/>
                      <p:cNvPicPr/>
                      <p:nvPr/>
                    </p:nvPicPr>
                    <p:blipFill>
                      <a:blip r:embed="rId4"/>
                      <a:stretch>
                        <a:fillRect/>
                      </a:stretch>
                    </p:blipFill>
                    <p:spPr>
                      <a:xfrm>
                        <a:off x="1588" y="1588"/>
                        <a:ext cx="1587" cy="1587"/>
                      </a:xfrm>
                      <a:prstGeom prst="rect">
                        <a:avLst/>
                      </a:prstGeom>
                    </p:spPr>
                  </p:pic>
                </p:oleObj>
              </mc:Fallback>
            </mc:AlternateContent>
          </a:graphicData>
        </a:graphic>
      </p:graphicFrame>
      <p:sp>
        <p:nvSpPr>
          <p:cNvPr id="5"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Trebuchet MS" panose="020B0603020202020204" pitchFamily="34" charset="0"/>
                <a:sym typeface="Trebuchet MS" panose="020B0603020202020204" pitchFamily="34" charset="0"/>
              </a:rPr>
              <a:t>Copyright © 2022 by Boston Consulting Group. All rights reserved.</a:t>
            </a:r>
          </a:p>
        </p:txBody>
      </p:sp>
      <p:sp>
        <p:nvSpPr>
          <p:cNvPr id="7" name="Title 1"/>
          <p:cNvSpPr txBox="1">
            <a:spLocks/>
          </p:cNvSpPr>
          <p:nvPr userDrawn="1"/>
        </p:nvSpPr>
        <p:spPr>
          <a:xfrm>
            <a:off x="630000" y="622800"/>
            <a:ext cx="7189998" cy="470898"/>
          </a:xfrm>
          <a:prstGeom prst="rect">
            <a:avLst/>
          </a:prstGeom>
        </p:spPr>
        <p:txBody>
          <a:bodyPr vert="horz" wrap="square" lIns="0" tIns="0" rIns="0" bIns="0" rtlCol="0" anchor="t" anchorCtr="0">
            <a:spAutoFit/>
          </a:bodyPr>
          <a:lstStyle>
            <a:lvl1pPr marL="0" indent="0" algn="l" defTabSz="914400" rtl="0" eaLnBrk="1" latinLnBrk="0" hangingPunct="1">
              <a:lnSpc>
                <a:spcPct val="90000"/>
              </a:lnSpc>
              <a:spcBef>
                <a:spcPct val="0"/>
              </a:spcBef>
              <a:spcAft>
                <a:spcPts val="0"/>
              </a:spcAft>
              <a:buNone/>
              <a:defRPr sz="3400" b="0" i="0" u="none" kern="1200" spc="0">
                <a:solidFill>
                  <a:schemeClr val="tx2">
                    <a:lumMod val="100000"/>
                  </a:schemeClr>
                </a:solidFill>
                <a:latin typeface="Trebuchet MS" panose="020B0603020202020204" pitchFamily="34" charset="0"/>
                <a:ea typeface="+mj-ea"/>
                <a:cs typeface="+mj-cs"/>
                <a:sym typeface="Trebuchet MS" panose="020B0603020202020204" pitchFamily="34" charset="0"/>
              </a:defRPr>
            </a:lvl1pPr>
          </a:lstStyle>
          <a:p>
            <a:r>
              <a:rPr lang="en-US">
                <a:solidFill>
                  <a:schemeClr val="accent4"/>
                </a:solidFill>
              </a:rPr>
              <a:t>Agenda</a:t>
            </a:r>
          </a:p>
        </p:txBody>
      </p:sp>
      <p:cxnSp>
        <p:nvCxnSpPr>
          <p:cNvPr id="9" name="Straight Connector 8"/>
          <p:cNvCxnSpPr/>
          <p:nvPr userDrawn="1"/>
        </p:nvCxnSpPr>
        <p:spPr bwMode="white">
          <a:xfrm>
            <a:off x="618898" y="1206000"/>
            <a:ext cx="11576304" cy="0"/>
          </a:xfrm>
          <a:prstGeom prst="line">
            <a:avLst/>
          </a:prstGeom>
          <a:ln w="9525" cmpd="sng">
            <a:solidFill>
              <a:schemeClr val="accent4"/>
            </a:solidFill>
            <a:miter lim="800000"/>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5038497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43.xml><?xml version="1.0" encoding="utf-8"?>
<p:sldLayout xmlns:a="http://schemas.openxmlformats.org/drawingml/2006/main" xmlns:r="http://schemas.openxmlformats.org/officeDocument/2006/relationships" xmlns:p="http://schemas.openxmlformats.org/presentationml/2006/main" showMasterSp="0" preserve="1" userDrawn="1">
  <p:cSld name="Agenda D. Two-Thirds">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1"/>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3" imgW="270" imgH="270" progId="TCLayout.ActiveDocument.1">
                  <p:embed/>
                </p:oleObj>
              </mc:Choice>
              <mc:Fallback>
                <p:oleObj name="think-cell Slide" r:id="rId3" imgW="270" imgH="270" progId="TCLayout.ActiveDocument.1">
                  <p:embed/>
                  <p:pic>
                    <p:nvPicPr>
                      <p:cNvPr id="2" name="Object 1" hidden="1"/>
                      <p:cNvPicPr/>
                      <p:nvPr/>
                    </p:nvPicPr>
                    <p:blipFill>
                      <a:blip r:embed="rId4"/>
                      <a:stretch>
                        <a:fillRect/>
                      </a:stretch>
                    </p:blipFill>
                    <p:spPr>
                      <a:xfrm>
                        <a:off x="1588" y="1588"/>
                        <a:ext cx="1587" cy="1587"/>
                      </a:xfrm>
                      <a:prstGeom prst="rect">
                        <a:avLst/>
                      </a:prstGeom>
                    </p:spPr>
                  </p:pic>
                </p:oleObj>
              </mc:Fallback>
            </mc:AlternateContent>
          </a:graphicData>
        </a:graphic>
      </p:graphicFrame>
      <p:pic>
        <p:nvPicPr>
          <p:cNvPr id="23" name="Picture 22"/>
          <p:cNvPicPr>
            <a:picLocks noChangeAspect="1"/>
          </p:cNvPicPr>
          <p:nvPr userDrawn="1"/>
        </p:nvPicPr>
        <p:blipFill rotWithShape="1">
          <a:blip r:embed="rId5">
            <a:extLst>
              <a:ext uri="{28A0092B-C50C-407E-A947-70E740481C1C}">
                <a14:useLocalDpi xmlns:a14="http://schemas.microsoft.com/office/drawing/2010/main" val="0"/>
              </a:ext>
            </a:extLst>
          </a:blip>
          <a:srcRect l="29398" t="8741" r="101" b="27"/>
          <a:stretch/>
        </p:blipFill>
        <p:spPr bwMode="ltGray">
          <a:xfrm flipH="1">
            <a:off x="3671068" y="0"/>
            <a:ext cx="416951" cy="6858000"/>
          </a:xfrm>
          <a:prstGeom prst="rect">
            <a:avLst/>
          </a:prstGeom>
        </p:spPr>
      </p:pic>
      <p:sp>
        <p:nvSpPr>
          <p:cNvPr id="26" name="Rectangle 25"/>
          <p:cNvSpPr/>
          <p:nvPr userDrawn="1"/>
        </p:nvSpPr>
        <p:spPr bwMode="ltGray">
          <a:xfrm>
            <a:off x="4080763" y="-1309"/>
            <a:ext cx="8111237" cy="685930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endParaRPr lang="en-US" sz="1200">
              <a:solidFill>
                <a:schemeClr val="bg1"/>
              </a:solidFill>
              <a:latin typeface="+mn-lt"/>
              <a:sym typeface="Trebuchet MS" panose="020B0603020202020204" pitchFamily="34" charset="0"/>
            </a:endParaRPr>
          </a:p>
        </p:txBody>
      </p:sp>
      <p:sp>
        <p:nvSpPr>
          <p:cNvPr id="29"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2022 by Boston Consulting Group. All rights reserved.</a:t>
            </a:r>
          </a:p>
        </p:txBody>
      </p:sp>
      <p:sp>
        <p:nvSpPr>
          <p:cNvPr id="28" name="TextBox 27"/>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lumMod val="50000"/>
                  </a:schemeClr>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lumMod val="50000"/>
                </a:schemeClr>
              </a:solidFill>
              <a:latin typeface="+mn-lt"/>
              <a:ea typeface="+mn-ea"/>
              <a:cs typeface="+mn-cs"/>
              <a:sym typeface="Trebuchet MS" panose="020B0603020202020204" pitchFamily="34" charset="0"/>
            </a:endParaRPr>
          </a:p>
        </p:txBody>
      </p:sp>
      <p:sp>
        <p:nvSpPr>
          <p:cNvPr id="10" name="TextBox 9"/>
          <p:cNvSpPr txBox="1"/>
          <p:nvPr userDrawn="1"/>
        </p:nvSpPr>
        <p:spPr>
          <a:xfrm>
            <a:off x="630000" y="3262145"/>
            <a:ext cx="1161047" cy="332399"/>
          </a:xfrm>
          <a:prstGeom prst="rect">
            <a:avLst/>
          </a:prstGeom>
          <a:noFill/>
        </p:spPr>
        <p:txBody>
          <a:bodyPr wrap="square" lIns="0" tIns="0" rIns="0" bIns="0" rtlCol="0" anchor="t">
            <a:spAutoFit/>
          </a:bodyPr>
          <a:lstStyle/>
          <a:p>
            <a:pPr>
              <a:lnSpc>
                <a:spcPct val="90000"/>
              </a:lnSpc>
              <a:spcAft>
                <a:spcPts val="600"/>
              </a:spcAft>
            </a:pPr>
            <a:r>
              <a:rPr lang="en-US" sz="2400">
                <a:solidFill>
                  <a:schemeClr val="bg1"/>
                </a:solidFill>
              </a:rPr>
              <a:t>Agenda</a:t>
            </a:r>
          </a:p>
        </p:txBody>
      </p:sp>
    </p:spTree>
    <p:extLst>
      <p:ext uri="{BB962C8B-B14F-4D97-AF65-F5344CB8AC3E}">
        <p14:creationId xmlns:p14="http://schemas.microsoft.com/office/powerpoint/2010/main" val="235002965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44.xml><?xml version="1.0" encoding="utf-8"?>
<p:sldLayout xmlns:a="http://schemas.openxmlformats.org/drawingml/2006/main" xmlns:r="http://schemas.openxmlformats.org/officeDocument/2006/relationships" xmlns:p="http://schemas.openxmlformats.org/presentationml/2006/main" showMasterSp="0" preserve="1" userDrawn="1">
  <p:cSld name="Agenda D. Table of Contents">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1"/>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3" imgW="270" imgH="270" progId="TCLayout.ActiveDocument.1">
                  <p:embed/>
                </p:oleObj>
              </mc:Choice>
              <mc:Fallback>
                <p:oleObj name="think-cell Slide" r:id="rId3" imgW="270" imgH="270" progId="TCLayout.ActiveDocument.1">
                  <p:embed/>
                  <p:pic>
                    <p:nvPicPr>
                      <p:cNvPr id="2" name="Object 1" hidden="1"/>
                      <p:cNvPicPr/>
                      <p:nvPr/>
                    </p:nvPicPr>
                    <p:blipFill>
                      <a:blip r:embed="rId4"/>
                      <a:stretch>
                        <a:fillRect/>
                      </a:stretch>
                    </p:blipFill>
                    <p:spPr>
                      <a:xfrm>
                        <a:off x="1588" y="1588"/>
                        <a:ext cx="1587" cy="1587"/>
                      </a:xfrm>
                      <a:prstGeom prst="rect">
                        <a:avLst/>
                      </a:prstGeom>
                    </p:spPr>
                  </p:pic>
                </p:oleObj>
              </mc:Fallback>
            </mc:AlternateContent>
          </a:graphicData>
        </a:graphic>
      </p:graphicFrame>
      <p:sp>
        <p:nvSpPr>
          <p:cNvPr id="13" name="Freeform 12"/>
          <p:cNvSpPr/>
          <p:nvPr/>
        </p:nvSpPr>
        <p:spPr bwMode="ltGray">
          <a:xfrm>
            <a:off x="0" y="0"/>
            <a:ext cx="4088312" cy="6858000"/>
          </a:xfrm>
          <a:custGeom>
            <a:avLst/>
            <a:gdLst>
              <a:gd name="connsiteX0" fmla="*/ 0 w 4088312"/>
              <a:gd name="connsiteY0" fmla="*/ 0 h 6858000"/>
              <a:gd name="connsiteX1" fmla="*/ 3264933 w 4088312"/>
              <a:gd name="connsiteY1" fmla="*/ 0 h 6858000"/>
              <a:gd name="connsiteX2" fmla="*/ 4088312 w 4088312"/>
              <a:gd name="connsiteY2" fmla="*/ 3429000 h 6858000"/>
              <a:gd name="connsiteX3" fmla="*/ 3264933 w 4088312"/>
              <a:gd name="connsiteY3" fmla="*/ 6858000 h 6858000"/>
              <a:gd name="connsiteX4" fmla="*/ 0 w 4088312"/>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8312" h="6858000">
                <a:moveTo>
                  <a:pt x="0" y="0"/>
                </a:moveTo>
                <a:lnTo>
                  <a:pt x="3264933" y="0"/>
                </a:lnTo>
                <a:lnTo>
                  <a:pt x="4088312" y="3429000"/>
                </a:lnTo>
                <a:lnTo>
                  <a:pt x="3264933" y="6858000"/>
                </a:lnTo>
                <a:lnTo>
                  <a:pt x="0" y="685800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p>
            <a:pPr>
              <a:lnSpc>
                <a:spcPct val="90000"/>
              </a:lnSpc>
              <a:spcAft>
                <a:spcPts val="1000"/>
              </a:spcAft>
            </a:pPr>
            <a:endParaRPr lang="en-US" sz="1200">
              <a:solidFill>
                <a:prstClr val="white"/>
              </a:solidFill>
              <a:latin typeface="Trebuchet MS" panose="020B0603020202020204" pitchFamily="34" charset="0"/>
              <a:sym typeface="Trebuchet MS" panose="020B0603020202020204" pitchFamily="34" charset="0"/>
            </a:endParaRPr>
          </a:p>
        </p:txBody>
      </p:sp>
      <p:sp>
        <p:nvSpPr>
          <p:cNvPr id="17" name="Freeform 12"/>
          <p:cNvSpPr/>
          <p:nvPr userDrawn="1"/>
        </p:nvSpPr>
        <p:spPr bwMode="ltGray">
          <a:xfrm>
            <a:off x="0" y="0"/>
            <a:ext cx="4088312" cy="6858000"/>
          </a:xfrm>
          <a:custGeom>
            <a:avLst/>
            <a:gdLst>
              <a:gd name="connsiteX0" fmla="*/ 0 w 4088312"/>
              <a:gd name="connsiteY0" fmla="*/ 0 h 6858000"/>
              <a:gd name="connsiteX1" fmla="*/ 3264933 w 4088312"/>
              <a:gd name="connsiteY1" fmla="*/ 0 h 6858000"/>
              <a:gd name="connsiteX2" fmla="*/ 4088312 w 4088312"/>
              <a:gd name="connsiteY2" fmla="*/ 3429000 h 6858000"/>
              <a:gd name="connsiteX3" fmla="*/ 3264933 w 4088312"/>
              <a:gd name="connsiteY3" fmla="*/ 6858000 h 6858000"/>
              <a:gd name="connsiteX4" fmla="*/ 0 w 4088312"/>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8312" h="6858000">
                <a:moveTo>
                  <a:pt x="0" y="0"/>
                </a:moveTo>
                <a:lnTo>
                  <a:pt x="3264933" y="0"/>
                </a:lnTo>
                <a:lnTo>
                  <a:pt x="4088312" y="3429000"/>
                </a:lnTo>
                <a:lnTo>
                  <a:pt x="3264933" y="6858000"/>
                </a:lnTo>
                <a:lnTo>
                  <a:pt x="0" y="685800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p>
            <a:pPr>
              <a:lnSpc>
                <a:spcPct val="90000"/>
              </a:lnSpc>
              <a:spcAft>
                <a:spcPts val="1000"/>
              </a:spcAft>
            </a:pPr>
            <a:endParaRPr lang="en-US" sz="1200">
              <a:solidFill>
                <a:prstClr val="white"/>
              </a:solidFill>
              <a:latin typeface="Trebuchet MS" panose="020B0603020202020204" pitchFamily="34" charset="0"/>
              <a:sym typeface="Trebuchet MS" panose="020B0603020202020204" pitchFamily="34" charset="0"/>
            </a:endParaRPr>
          </a:p>
        </p:txBody>
      </p:sp>
      <p:sp>
        <p:nvSpPr>
          <p:cNvPr id="20" name="TextBox 19"/>
          <p:cNvSpPr txBox="1"/>
          <p:nvPr userDrawn="1"/>
        </p:nvSpPr>
        <p:spPr>
          <a:xfrm>
            <a:off x="630000" y="2577934"/>
            <a:ext cx="2819400" cy="1761764"/>
          </a:xfrm>
          <a:prstGeom prst="rect">
            <a:avLst/>
          </a:prstGeom>
          <a:noFill/>
        </p:spPr>
        <p:txBody>
          <a:bodyPr wrap="square" lIns="0" tIns="0" rIns="0" bIns="0" rtlCol="0" anchor="ctr">
            <a:spAutoFit/>
          </a:bodyPr>
          <a:lstStyle/>
          <a:p>
            <a:pPr marL="0" indent="0">
              <a:lnSpc>
                <a:spcPct val="106000"/>
              </a:lnSpc>
              <a:spcAft>
                <a:spcPts val="700"/>
              </a:spcAft>
              <a:buFontTx/>
              <a:buNone/>
            </a:pPr>
            <a:r>
              <a:rPr lang="en-US" sz="5400">
                <a:solidFill>
                  <a:schemeClr val="tx2"/>
                </a:solidFill>
                <a:latin typeface="Trebuchet MS" panose="020B0603020202020204" pitchFamily="34" charset="0"/>
                <a:sym typeface="Trebuchet MS" panose="020B0603020202020204" pitchFamily="34" charset="0"/>
              </a:rPr>
              <a:t>Table of contents</a:t>
            </a:r>
          </a:p>
        </p:txBody>
      </p:sp>
      <p:sp>
        <p:nvSpPr>
          <p:cNvPr id="24"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Trebuchet MS" panose="020B0603020202020204" pitchFamily="34" charset="0"/>
                <a:sym typeface="Trebuchet MS" panose="020B0603020202020204" pitchFamily="34" charset="0"/>
              </a:rPr>
              <a:t>Copyright © 2022 by Boston Consulting Group. All rights reserved.</a:t>
            </a:r>
          </a:p>
        </p:txBody>
      </p:sp>
      <p:sp>
        <p:nvSpPr>
          <p:cNvPr id="19" name="TextBox 18"/>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Trebuchet MS" panose="020B0603020202020204" pitchFamily="34" charset="0"/>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Trebuchet MS" panose="020B0603020202020204" pitchFamily="34" charset="0"/>
              <a:ea typeface="+mn-ea"/>
              <a:cs typeface="+mn-cs"/>
              <a:sym typeface="Trebuchet MS" panose="020B0603020202020204" pitchFamily="34" charset="0"/>
            </a:endParaRPr>
          </a:p>
        </p:txBody>
      </p:sp>
      <p:pic>
        <p:nvPicPr>
          <p:cNvPr id="9" name="Picture 8"/>
          <p:cNvPicPr>
            <a:picLocks noChangeAspect="1" noChangeArrowheads="1"/>
          </p:cNvPicPr>
          <p:nvPr userDrawn="1"/>
        </p:nvPicPr>
        <p:blipFill>
          <a:blip r:embed="rId5">
            <a:extLst>
              <a:ext uri="{28A0092B-C50C-407E-A947-70E740481C1C}">
                <a14:useLocalDpi xmlns:a14="http://schemas.microsoft.com/office/drawing/2010/main" val="0"/>
              </a:ext>
            </a:extLst>
          </a:blip>
          <a:srcRect/>
          <a:stretch>
            <a:fillRect/>
          </a:stretch>
        </p:blipFill>
        <p:spPr bwMode="auto">
          <a:xfrm>
            <a:off x="3108638" y="3586748"/>
            <a:ext cx="1365250" cy="3382962"/>
          </a:xfrm>
          <a:custGeom>
            <a:avLst/>
            <a:gdLst>
              <a:gd name="connsiteX0" fmla="*/ 942801 w 1365250"/>
              <a:gd name="connsiteY0" fmla="*/ 0 h 3382962"/>
              <a:gd name="connsiteX1" fmla="*/ 1365250 w 1365250"/>
              <a:gd name="connsiteY1" fmla="*/ 0 h 3382962"/>
              <a:gd name="connsiteX2" fmla="*/ 1365250 w 1365250"/>
              <a:gd name="connsiteY2" fmla="*/ 3382962 h 3382962"/>
              <a:gd name="connsiteX3" fmla="*/ 128720 w 1365250"/>
              <a:gd name="connsiteY3" fmla="*/ 3382962 h 3382962"/>
              <a:gd name="connsiteX4" fmla="*/ 0 w 1365250"/>
              <a:gd name="connsiteY4" fmla="*/ 0 h 3382962"/>
              <a:gd name="connsiteX5" fmla="*/ 929501 w 1365250"/>
              <a:gd name="connsiteY5" fmla="*/ 0 h 3382962"/>
              <a:gd name="connsiteX6" fmla="*/ 0 w 1365250"/>
              <a:gd name="connsiteY6" fmla="*/ 2860398 h 3382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5250" h="3382962">
                <a:moveTo>
                  <a:pt x="942801" y="0"/>
                </a:moveTo>
                <a:lnTo>
                  <a:pt x="1365250" y="0"/>
                </a:lnTo>
                <a:lnTo>
                  <a:pt x="1365250" y="3382962"/>
                </a:lnTo>
                <a:lnTo>
                  <a:pt x="128720" y="3382962"/>
                </a:lnTo>
                <a:close/>
                <a:moveTo>
                  <a:pt x="0" y="0"/>
                </a:moveTo>
                <a:lnTo>
                  <a:pt x="929501" y="0"/>
                </a:lnTo>
                <a:lnTo>
                  <a:pt x="0" y="2860398"/>
                </a:lnTo>
                <a:close/>
              </a:path>
            </a:pathLst>
          </a:cu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3422562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45.xml><?xml version="1.0" encoding="utf-8"?>
<p:sldLayout xmlns:a="http://schemas.openxmlformats.org/drawingml/2006/main" xmlns:r="http://schemas.openxmlformats.org/officeDocument/2006/relationships" xmlns:p="http://schemas.openxmlformats.org/presentationml/2006/main" type="obj">
  <p:cSld name="Otsikko ja sisältö">
    <p:spTree>
      <p:nvGrpSpPr>
        <p:cNvPr id="1" name=""/>
        <p:cNvGrpSpPr/>
        <p:nvPr/>
      </p:nvGrpSpPr>
      <p:grpSpPr>
        <a:xfrm>
          <a:off x="0" y="0"/>
          <a:ext cx="0" cy="0"/>
          <a:chOff x="0" y="0"/>
          <a:chExt cx="0" cy="0"/>
        </a:xfrm>
      </p:grpSpPr>
      <p:graphicFrame>
        <p:nvGraphicFramePr>
          <p:cNvPr id="7" name="Object 6" hidden="1"/>
          <p:cNvGraphicFramePr>
            <a:graphicFrameLocks noChangeAspect="1"/>
          </p:cNvGraphicFramePr>
          <p:nvPr userDrawn="1">
            <p:custDataLst>
              <p:tags r:id="rId1"/>
            </p:custDataLst>
            <p:extLst>
              <p:ext uri="{D42A27DB-BD31-4B8C-83A1-F6EECF244321}">
                <p14:modId xmlns:p14="http://schemas.microsoft.com/office/powerpoint/2010/main" val="162263532"/>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3" imgW="352" imgH="355" progId="TCLayout.ActiveDocument.1">
                  <p:embed/>
                </p:oleObj>
              </mc:Choice>
              <mc:Fallback>
                <p:oleObj name="think-cell Slide" r:id="rId3" imgW="352" imgH="355" progId="TCLayout.ActiveDocument.1">
                  <p:embed/>
                  <p:pic>
                    <p:nvPicPr>
                      <p:cNvPr id="7" name="Object 6" hidden="1"/>
                      <p:cNvPicPr/>
                      <p:nvPr/>
                    </p:nvPicPr>
                    <p:blipFill>
                      <a:blip r:embed="rId4"/>
                      <a:stretch>
                        <a:fillRect/>
                      </a:stretch>
                    </p:blipFill>
                    <p:spPr>
                      <a:xfrm>
                        <a:off x="2118" y="2118"/>
                        <a:ext cx="2116" cy="2116"/>
                      </a:xfrm>
                      <a:prstGeom prst="rect">
                        <a:avLst/>
                      </a:prstGeom>
                    </p:spPr>
                  </p:pic>
                </p:oleObj>
              </mc:Fallback>
            </mc:AlternateContent>
          </a:graphicData>
        </a:graphic>
      </p:graphicFrame>
      <p:sp>
        <p:nvSpPr>
          <p:cNvPr id="2" name="Title 1"/>
          <p:cNvSpPr>
            <a:spLocks noGrp="1"/>
          </p:cNvSpPr>
          <p:nvPr>
            <p:ph type="title"/>
          </p:nvPr>
        </p:nvSpPr>
        <p:spPr/>
        <p:txBody>
          <a:bodyPr anchor="t"/>
          <a:lstStyle>
            <a:lvl1pPr>
              <a:defRPr>
                <a:latin typeface="+mj-lt"/>
                <a:sym typeface="+mj-lt"/>
              </a:defRPr>
            </a:lvl1pPr>
          </a:lstStyle>
          <a:p>
            <a:r>
              <a:rPr lang="en-US"/>
              <a:t>Click to edit Master title style</a:t>
            </a:r>
          </a:p>
        </p:txBody>
      </p:sp>
      <p:sp>
        <p:nvSpPr>
          <p:cNvPr id="3" name="Content Placeholder 2"/>
          <p:cNvSpPr>
            <a:spLocks noGrp="1"/>
          </p:cNvSpPr>
          <p:nvPr>
            <p:ph idx="1"/>
          </p:nvPr>
        </p:nvSpPr>
        <p:spPr/>
        <p:txBody>
          <a:bodyPr>
            <a:noAutofit/>
          </a:bodyPr>
          <a:lstStyle>
            <a:lvl1pPr>
              <a:defRPr spc="-67"/>
            </a:lvl1pPr>
            <a:lvl2pPr>
              <a:defRPr spc="-67"/>
            </a:lvl2pPr>
            <a:lvl3pPr>
              <a:defRPr spc="-67"/>
            </a:lvl3pPr>
            <a:lvl4pPr>
              <a:defRPr spc="-67"/>
            </a:lvl4pPr>
            <a:lvl5pPr>
              <a:defRPr spc="-67"/>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AE007801-8113-44BE-9A7C-6B4B31EDBCDC}" type="datetime1">
              <a:rPr lang="fi-FI" smtClean="0"/>
              <a:t>21.8.2026</a:t>
            </a:fld>
            <a:endParaRPr lang="fi-FI"/>
          </a:p>
        </p:txBody>
      </p:sp>
      <p:sp>
        <p:nvSpPr>
          <p:cNvPr id="5" name="Footer Placeholder 4"/>
          <p:cNvSpPr>
            <a:spLocks noGrp="1"/>
          </p:cNvSpPr>
          <p:nvPr>
            <p:ph type="ftr" sz="quarter" idx="11"/>
          </p:nvPr>
        </p:nvSpPr>
        <p:spPr/>
        <p:txBody>
          <a:bodyPr/>
          <a:lstStyle/>
          <a:p>
            <a:r>
              <a:rPr lang="fi-FI"/>
              <a:t>Alatunnisteessa oleva esittäjän nimi</a:t>
            </a:r>
          </a:p>
        </p:txBody>
      </p:sp>
    </p:spTree>
    <p:extLst>
      <p:ext uri="{BB962C8B-B14F-4D97-AF65-F5344CB8AC3E}">
        <p14:creationId xmlns:p14="http://schemas.microsoft.com/office/powerpoint/2010/main" val="2539638730"/>
      </p:ext>
    </p:extLst>
  </p:cSld>
  <p:clrMapOvr>
    <a:masterClrMapping/>
  </p:clrMapOvr>
</p:sldLayout>
</file>

<file path=ppt/slideMasters/_rels/slideMaster1.xml.rels><?xml version="1.0" encoding="UTF-8" standalone="yes"?>
<Relationships xmlns="http://schemas.openxmlformats.org/package/2006/relationships"><Relationship Id="rId26" Type="http://schemas.openxmlformats.org/officeDocument/2006/relationships/slideLayout" Target="../slideLayouts/slideLayout26.xml"/><Relationship Id="rId21" Type="http://schemas.openxmlformats.org/officeDocument/2006/relationships/slideLayout" Target="../slideLayouts/slideLayout21.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63" Type="http://schemas.openxmlformats.org/officeDocument/2006/relationships/slideLayout" Target="../slideLayouts/slideLayout63.xml"/><Relationship Id="rId68" Type="http://schemas.openxmlformats.org/officeDocument/2006/relationships/slideLayout" Target="../slideLayouts/slideLayout68.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3" Type="http://schemas.openxmlformats.org/officeDocument/2006/relationships/slideLayout" Target="../slideLayouts/slideLayout53.xml"/><Relationship Id="rId58" Type="http://schemas.openxmlformats.org/officeDocument/2006/relationships/slideLayout" Target="../slideLayouts/slideLayout58.xml"/><Relationship Id="rId66" Type="http://schemas.openxmlformats.org/officeDocument/2006/relationships/slideLayout" Target="../slideLayouts/slideLayout66.xml"/><Relationship Id="rId74" Type="http://schemas.openxmlformats.org/officeDocument/2006/relationships/oleObject" Target="../embeddings/oleObject1.bin"/><Relationship Id="rId5" Type="http://schemas.openxmlformats.org/officeDocument/2006/relationships/slideLayout" Target="../slideLayouts/slideLayout5.xml"/><Relationship Id="rId61" Type="http://schemas.openxmlformats.org/officeDocument/2006/relationships/slideLayout" Target="../slideLayouts/slideLayout61.xml"/><Relationship Id="rId19" Type="http://schemas.openxmlformats.org/officeDocument/2006/relationships/slideLayout" Target="../slideLayouts/slideLayout1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56" Type="http://schemas.openxmlformats.org/officeDocument/2006/relationships/slideLayout" Target="../slideLayouts/slideLayout56.xml"/><Relationship Id="rId64" Type="http://schemas.openxmlformats.org/officeDocument/2006/relationships/slideLayout" Target="../slideLayouts/slideLayout64.xml"/><Relationship Id="rId69" Type="http://schemas.openxmlformats.org/officeDocument/2006/relationships/slideLayout" Target="../slideLayouts/slideLayout69.xml"/><Relationship Id="rId8" Type="http://schemas.openxmlformats.org/officeDocument/2006/relationships/slideLayout" Target="../slideLayouts/slideLayout8.xml"/><Relationship Id="rId51" Type="http://schemas.openxmlformats.org/officeDocument/2006/relationships/slideLayout" Target="../slideLayouts/slideLayout51.xml"/><Relationship Id="rId72" Type="http://schemas.openxmlformats.org/officeDocument/2006/relationships/theme" Target="../theme/theme1.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59" Type="http://schemas.openxmlformats.org/officeDocument/2006/relationships/slideLayout" Target="../slideLayouts/slideLayout59.xml"/><Relationship Id="rId67" Type="http://schemas.openxmlformats.org/officeDocument/2006/relationships/slideLayout" Target="../slideLayouts/slideLayout67.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54" Type="http://schemas.openxmlformats.org/officeDocument/2006/relationships/slideLayout" Target="../slideLayouts/slideLayout54.xml"/><Relationship Id="rId62" Type="http://schemas.openxmlformats.org/officeDocument/2006/relationships/slideLayout" Target="../slideLayouts/slideLayout62.xml"/><Relationship Id="rId70" Type="http://schemas.openxmlformats.org/officeDocument/2006/relationships/slideLayout" Target="../slideLayouts/slideLayout70.xml"/><Relationship Id="rId75" Type="http://schemas.openxmlformats.org/officeDocument/2006/relationships/image" Target="../media/image1.emf"/><Relationship Id="rId1" Type="http://schemas.openxmlformats.org/officeDocument/2006/relationships/slideLayout" Target="../slideLayouts/slideLayout1.xml"/><Relationship Id="rId6" Type="http://schemas.openxmlformats.org/officeDocument/2006/relationships/slideLayout" Target="../slideLayouts/slideLayout6.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57" Type="http://schemas.openxmlformats.org/officeDocument/2006/relationships/slideLayout" Target="../slideLayouts/slideLayout57.xml"/><Relationship Id="rId10" Type="http://schemas.openxmlformats.org/officeDocument/2006/relationships/slideLayout" Target="../slideLayouts/slideLayout10.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60" Type="http://schemas.openxmlformats.org/officeDocument/2006/relationships/slideLayout" Target="../slideLayouts/slideLayout60.xml"/><Relationship Id="rId65" Type="http://schemas.openxmlformats.org/officeDocument/2006/relationships/slideLayout" Target="../slideLayouts/slideLayout65.xml"/><Relationship Id="rId73" Type="http://schemas.openxmlformats.org/officeDocument/2006/relationships/tags" Target="../tags/tag2.xml"/><Relationship Id="rId4" Type="http://schemas.openxmlformats.org/officeDocument/2006/relationships/slideLayout" Target="../slideLayouts/slideLayout4.xml"/><Relationship Id="rId9" Type="http://schemas.openxmlformats.org/officeDocument/2006/relationships/slideLayout" Target="../slideLayouts/slideLayout9.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9" Type="http://schemas.openxmlformats.org/officeDocument/2006/relationships/slideLayout" Target="../slideLayouts/slideLayout39.xml"/><Relationship Id="rId34" Type="http://schemas.openxmlformats.org/officeDocument/2006/relationships/slideLayout" Target="../slideLayouts/slideLayout34.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7" Type="http://schemas.openxmlformats.org/officeDocument/2006/relationships/slideLayout" Target="../slideLayouts/slideLayout7.xml"/><Relationship Id="rId71" Type="http://schemas.openxmlformats.org/officeDocument/2006/relationships/slideLayout" Target="../slideLayouts/slideLayout71.xml"/></Relationships>
</file>

<file path=ppt/slideMasters/_rels/slideMaster2.xml.rels><?xml version="1.0" encoding="UTF-8" standalone="yes"?>
<Relationships xmlns="http://schemas.openxmlformats.org/package/2006/relationships"><Relationship Id="rId8" Type="http://schemas.openxmlformats.org/officeDocument/2006/relationships/tags" Target="../tags/tag35.xml"/><Relationship Id="rId3" Type="http://schemas.openxmlformats.org/officeDocument/2006/relationships/slideLayout" Target="../slideLayouts/slideLayout74.xml"/><Relationship Id="rId7" Type="http://schemas.openxmlformats.org/officeDocument/2006/relationships/theme" Target="../theme/theme2.xml"/><Relationship Id="rId2" Type="http://schemas.openxmlformats.org/officeDocument/2006/relationships/slideLayout" Target="../slideLayouts/slideLayout73.xml"/><Relationship Id="rId1" Type="http://schemas.openxmlformats.org/officeDocument/2006/relationships/slideLayout" Target="../slideLayouts/slideLayout72.xml"/><Relationship Id="rId6" Type="http://schemas.openxmlformats.org/officeDocument/2006/relationships/slideLayout" Target="../slideLayouts/slideLayout77.xml"/><Relationship Id="rId5" Type="http://schemas.openxmlformats.org/officeDocument/2006/relationships/slideLayout" Target="../slideLayouts/slideLayout76.xml"/><Relationship Id="rId10" Type="http://schemas.openxmlformats.org/officeDocument/2006/relationships/image" Target="../media/image13.emf"/><Relationship Id="rId4" Type="http://schemas.openxmlformats.org/officeDocument/2006/relationships/slideLayout" Target="../slideLayouts/slideLayout75.xml"/><Relationship Id="rId9" Type="http://schemas.openxmlformats.org/officeDocument/2006/relationships/oleObject" Target="../embeddings/oleObject18.bin"/></Relationships>
</file>

<file path=ppt/slideMasters/_rels/slideMaster3.xml.rels><?xml version="1.0" encoding="UTF-8" standalone="yes"?>
<Relationships xmlns="http://schemas.openxmlformats.org/package/2006/relationships"><Relationship Id="rId26" Type="http://schemas.openxmlformats.org/officeDocument/2006/relationships/slideLayout" Target="../slideLayouts/slideLayout103.xml"/><Relationship Id="rId21" Type="http://schemas.openxmlformats.org/officeDocument/2006/relationships/slideLayout" Target="../slideLayouts/slideLayout98.xml"/><Relationship Id="rId42" Type="http://schemas.openxmlformats.org/officeDocument/2006/relationships/slideLayout" Target="../slideLayouts/slideLayout119.xml"/><Relationship Id="rId47" Type="http://schemas.openxmlformats.org/officeDocument/2006/relationships/slideLayout" Target="../slideLayouts/slideLayout124.xml"/><Relationship Id="rId63" Type="http://schemas.openxmlformats.org/officeDocument/2006/relationships/slideLayout" Target="../slideLayouts/slideLayout140.xml"/><Relationship Id="rId68" Type="http://schemas.openxmlformats.org/officeDocument/2006/relationships/slideLayout" Target="../slideLayouts/slideLayout145.xml"/><Relationship Id="rId7" Type="http://schemas.openxmlformats.org/officeDocument/2006/relationships/slideLayout" Target="../slideLayouts/slideLayout84.xml"/><Relationship Id="rId71" Type="http://schemas.openxmlformats.org/officeDocument/2006/relationships/oleObject" Target="../embeddings/oleObject1.bin"/><Relationship Id="rId2" Type="http://schemas.openxmlformats.org/officeDocument/2006/relationships/slideLayout" Target="../slideLayouts/slideLayout79.xml"/><Relationship Id="rId16" Type="http://schemas.openxmlformats.org/officeDocument/2006/relationships/slideLayout" Target="../slideLayouts/slideLayout93.xml"/><Relationship Id="rId29" Type="http://schemas.openxmlformats.org/officeDocument/2006/relationships/slideLayout" Target="../slideLayouts/slideLayout106.xml"/><Relationship Id="rId11" Type="http://schemas.openxmlformats.org/officeDocument/2006/relationships/slideLayout" Target="../slideLayouts/slideLayout88.xml"/><Relationship Id="rId24" Type="http://schemas.openxmlformats.org/officeDocument/2006/relationships/slideLayout" Target="../slideLayouts/slideLayout101.xml"/><Relationship Id="rId32" Type="http://schemas.openxmlformats.org/officeDocument/2006/relationships/slideLayout" Target="../slideLayouts/slideLayout109.xml"/><Relationship Id="rId37" Type="http://schemas.openxmlformats.org/officeDocument/2006/relationships/slideLayout" Target="../slideLayouts/slideLayout114.xml"/><Relationship Id="rId40" Type="http://schemas.openxmlformats.org/officeDocument/2006/relationships/slideLayout" Target="../slideLayouts/slideLayout117.xml"/><Relationship Id="rId45" Type="http://schemas.openxmlformats.org/officeDocument/2006/relationships/slideLayout" Target="../slideLayouts/slideLayout122.xml"/><Relationship Id="rId53" Type="http://schemas.openxmlformats.org/officeDocument/2006/relationships/slideLayout" Target="../slideLayouts/slideLayout130.xml"/><Relationship Id="rId58" Type="http://schemas.openxmlformats.org/officeDocument/2006/relationships/slideLayout" Target="../slideLayouts/slideLayout135.xml"/><Relationship Id="rId66" Type="http://schemas.openxmlformats.org/officeDocument/2006/relationships/slideLayout" Target="../slideLayouts/slideLayout143.xml"/><Relationship Id="rId5" Type="http://schemas.openxmlformats.org/officeDocument/2006/relationships/slideLayout" Target="../slideLayouts/slideLayout82.xml"/><Relationship Id="rId61" Type="http://schemas.openxmlformats.org/officeDocument/2006/relationships/slideLayout" Target="../slideLayouts/slideLayout138.xml"/><Relationship Id="rId19" Type="http://schemas.openxmlformats.org/officeDocument/2006/relationships/slideLayout" Target="../slideLayouts/slideLayout96.xml"/><Relationship Id="rId14" Type="http://schemas.openxmlformats.org/officeDocument/2006/relationships/slideLayout" Target="../slideLayouts/slideLayout91.xml"/><Relationship Id="rId22" Type="http://schemas.openxmlformats.org/officeDocument/2006/relationships/slideLayout" Target="../slideLayouts/slideLayout99.xml"/><Relationship Id="rId27" Type="http://schemas.openxmlformats.org/officeDocument/2006/relationships/slideLayout" Target="../slideLayouts/slideLayout104.xml"/><Relationship Id="rId30" Type="http://schemas.openxmlformats.org/officeDocument/2006/relationships/slideLayout" Target="../slideLayouts/slideLayout107.xml"/><Relationship Id="rId35" Type="http://schemas.openxmlformats.org/officeDocument/2006/relationships/slideLayout" Target="../slideLayouts/slideLayout112.xml"/><Relationship Id="rId43" Type="http://schemas.openxmlformats.org/officeDocument/2006/relationships/slideLayout" Target="../slideLayouts/slideLayout120.xml"/><Relationship Id="rId48" Type="http://schemas.openxmlformats.org/officeDocument/2006/relationships/slideLayout" Target="../slideLayouts/slideLayout125.xml"/><Relationship Id="rId56" Type="http://schemas.openxmlformats.org/officeDocument/2006/relationships/slideLayout" Target="../slideLayouts/slideLayout133.xml"/><Relationship Id="rId64" Type="http://schemas.openxmlformats.org/officeDocument/2006/relationships/slideLayout" Target="../slideLayouts/slideLayout141.xml"/><Relationship Id="rId69" Type="http://schemas.openxmlformats.org/officeDocument/2006/relationships/theme" Target="../theme/theme3.xml"/><Relationship Id="rId8" Type="http://schemas.openxmlformats.org/officeDocument/2006/relationships/slideLayout" Target="../slideLayouts/slideLayout85.xml"/><Relationship Id="rId51" Type="http://schemas.openxmlformats.org/officeDocument/2006/relationships/slideLayout" Target="../slideLayouts/slideLayout128.xml"/><Relationship Id="rId72" Type="http://schemas.openxmlformats.org/officeDocument/2006/relationships/image" Target="../media/image1.emf"/><Relationship Id="rId3" Type="http://schemas.openxmlformats.org/officeDocument/2006/relationships/slideLayout" Target="../slideLayouts/slideLayout80.xml"/><Relationship Id="rId12" Type="http://schemas.openxmlformats.org/officeDocument/2006/relationships/slideLayout" Target="../slideLayouts/slideLayout89.xml"/><Relationship Id="rId17" Type="http://schemas.openxmlformats.org/officeDocument/2006/relationships/slideLayout" Target="../slideLayouts/slideLayout94.xml"/><Relationship Id="rId25" Type="http://schemas.openxmlformats.org/officeDocument/2006/relationships/slideLayout" Target="../slideLayouts/slideLayout102.xml"/><Relationship Id="rId33" Type="http://schemas.openxmlformats.org/officeDocument/2006/relationships/slideLayout" Target="../slideLayouts/slideLayout110.xml"/><Relationship Id="rId38" Type="http://schemas.openxmlformats.org/officeDocument/2006/relationships/slideLayout" Target="../slideLayouts/slideLayout115.xml"/><Relationship Id="rId46" Type="http://schemas.openxmlformats.org/officeDocument/2006/relationships/slideLayout" Target="../slideLayouts/slideLayout123.xml"/><Relationship Id="rId59" Type="http://schemas.openxmlformats.org/officeDocument/2006/relationships/slideLayout" Target="../slideLayouts/slideLayout136.xml"/><Relationship Id="rId67" Type="http://schemas.openxmlformats.org/officeDocument/2006/relationships/slideLayout" Target="../slideLayouts/slideLayout144.xml"/><Relationship Id="rId20" Type="http://schemas.openxmlformats.org/officeDocument/2006/relationships/slideLayout" Target="../slideLayouts/slideLayout97.xml"/><Relationship Id="rId41" Type="http://schemas.openxmlformats.org/officeDocument/2006/relationships/slideLayout" Target="../slideLayouts/slideLayout118.xml"/><Relationship Id="rId54" Type="http://schemas.openxmlformats.org/officeDocument/2006/relationships/slideLayout" Target="../slideLayouts/slideLayout131.xml"/><Relationship Id="rId62" Type="http://schemas.openxmlformats.org/officeDocument/2006/relationships/slideLayout" Target="../slideLayouts/slideLayout139.xml"/><Relationship Id="rId70" Type="http://schemas.openxmlformats.org/officeDocument/2006/relationships/tags" Target="../tags/tag36.xml"/><Relationship Id="rId1" Type="http://schemas.openxmlformats.org/officeDocument/2006/relationships/slideLayout" Target="../slideLayouts/slideLayout78.xml"/><Relationship Id="rId6" Type="http://schemas.openxmlformats.org/officeDocument/2006/relationships/slideLayout" Target="../slideLayouts/slideLayout83.xml"/><Relationship Id="rId15" Type="http://schemas.openxmlformats.org/officeDocument/2006/relationships/slideLayout" Target="../slideLayouts/slideLayout92.xml"/><Relationship Id="rId23" Type="http://schemas.openxmlformats.org/officeDocument/2006/relationships/slideLayout" Target="../slideLayouts/slideLayout100.xml"/><Relationship Id="rId28" Type="http://schemas.openxmlformats.org/officeDocument/2006/relationships/slideLayout" Target="../slideLayouts/slideLayout105.xml"/><Relationship Id="rId36" Type="http://schemas.openxmlformats.org/officeDocument/2006/relationships/slideLayout" Target="../slideLayouts/slideLayout113.xml"/><Relationship Id="rId49" Type="http://schemas.openxmlformats.org/officeDocument/2006/relationships/slideLayout" Target="../slideLayouts/slideLayout126.xml"/><Relationship Id="rId57" Type="http://schemas.openxmlformats.org/officeDocument/2006/relationships/slideLayout" Target="../slideLayouts/slideLayout134.xml"/><Relationship Id="rId10" Type="http://schemas.openxmlformats.org/officeDocument/2006/relationships/slideLayout" Target="../slideLayouts/slideLayout87.xml"/><Relationship Id="rId31" Type="http://schemas.openxmlformats.org/officeDocument/2006/relationships/slideLayout" Target="../slideLayouts/slideLayout108.xml"/><Relationship Id="rId44" Type="http://schemas.openxmlformats.org/officeDocument/2006/relationships/slideLayout" Target="../slideLayouts/slideLayout121.xml"/><Relationship Id="rId52" Type="http://schemas.openxmlformats.org/officeDocument/2006/relationships/slideLayout" Target="../slideLayouts/slideLayout129.xml"/><Relationship Id="rId60" Type="http://schemas.openxmlformats.org/officeDocument/2006/relationships/slideLayout" Target="../slideLayouts/slideLayout137.xml"/><Relationship Id="rId65" Type="http://schemas.openxmlformats.org/officeDocument/2006/relationships/slideLayout" Target="../slideLayouts/slideLayout142.xml"/><Relationship Id="rId4" Type="http://schemas.openxmlformats.org/officeDocument/2006/relationships/slideLayout" Target="../slideLayouts/slideLayout81.xml"/><Relationship Id="rId9" Type="http://schemas.openxmlformats.org/officeDocument/2006/relationships/slideLayout" Target="../slideLayouts/slideLayout86.xml"/><Relationship Id="rId13" Type="http://schemas.openxmlformats.org/officeDocument/2006/relationships/slideLayout" Target="../slideLayouts/slideLayout90.xml"/><Relationship Id="rId18" Type="http://schemas.openxmlformats.org/officeDocument/2006/relationships/slideLayout" Target="../slideLayouts/slideLayout95.xml"/><Relationship Id="rId39" Type="http://schemas.openxmlformats.org/officeDocument/2006/relationships/slideLayout" Target="../slideLayouts/slideLayout116.xml"/><Relationship Id="rId34" Type="http://schemas.openxmlformats.org/officeDocument/2006/relationships/slideLayout" Target="../slideLayouts/slideLayout111.xml"/><Relationship Id="rId50" Type="http://schemas.openxmlformats.org/officeDocument/2006/relationships/slideLayout" Target="../slideLayouts/slideLayout127.xml"/><Relationship Id="rId55" Type="http://schemas.openxmlformats.org/officeDocument/2006/relationships/slideLayout" Target="../slideLayouts/slideLayout132.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73"/>
            </p:custDataLst>
            <p:extLst>
              <p:ext uri="{D42A27DB-BD31-4B8C-83A1-F6EECF244321}">
                <p14:modId xmlns:p14="http://schemas.microsoft.com/office/powerpoint/2010/main" val="1194141760"/>
              </p:ext>
            </p:ext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74" imgW="270" imgH="270" progId="TCLayout.ActiveDocument.1">
                  <p:embed/>
                </p:oleObj>
              </mc:Choice>
              <mc:Fallback>
                <p:oleObj name="think-cell Slide" r:id="rId74" imgW="270" imgH="270" progId="TCLayout.ActiveDocument.1">
                  <p:embed/>
                  <p:pic>
                    <p:nvPicPr>
                      <p:cNvPr id="2" name="Object 1" hidden="1"/>
                      <p:cNvPicPr/>
                      <p:nvPr/>
                    </p:nvPicPr>
                    <p:blipFill>
                      <a:blip r:embed="rId75"/>
                      <a:stretch>
                        <a:fillRect/>
                      </a:stretch>
                    </p:blipFill>
                    <p:spPr>
                      <a:xfrm>
                        <a:off x="1588" y="1588"/>
                        <a:ext cx="1587" cy="1587"/>
                      </a:xfrm>
                      <a:prstGeom prst="rect">
                        <a:avLst/>
                      </a:prstGeom>
                    </p:spPr>
                  </p:pic>
                </p:oleObj>
              </mc:Fallback>
            </mc:AlternateContent>
          </a:graphicData>
        </a:graphic>
      </p:graphicFrame>
      <p:sp>
        <p:nvSpPr>
          <p:cNvPr id="11" name="Date Placeholder 3"/>
          <p:cNvSpPr>
            <a:spLocks noGrp="1"/>
          </p:cNvSpPr>
          <p:nvPr>
            <p:ph type="dt" sz="half" idx="2"/>
          </p:nvPr>
        </p:nvSpPr>
        <p:spPr>
          <a:xfrm>
            <a:off x="9677400" y="6405036"/>
            <a:ext cx="1482051" cy="153888"/>
          </a:xfrm>
          <a:prstGeom prst="rect">
            <a:avLst/>
          </a:prstGeom>
        </p:spPr>
        <p:txBody>
          <a:bodyPr vert="horz" wrap="square" lIns="0" tIns="0" rIns="0" bIns="0" rtlCol="0" anchor="b">
            <a:spAutoFit/>
          </a:bodyPr>
          <a:lstStyle>
            <a:lvl1pPr algn="r">
              <a:defRPr sz="1000">
                <a:solidFill>
                  <a:schemeClr val="bg1">
                    <a:lumMod val="50000"/>
                  </a:schemeClr>
                </a:solidFill>
                <a:latin typeface="+mn-lt"/>
                <a:sym typeface="Trebuchet MS" panose="020B0603020202020204" pitchFamily="34" charset="0"/>
              </a:defRPr>
            </a:lvl1pPr>
          </a:lstStyle>
          <a:p>
            <a:endParaRPr lang="en-US"/>
          </a:p>
        </p:txBody>
      </p:sp>
      <p:sp>
        <p:nvSpPr>
          <p:cNvPr id="12" name="TextBox 11"/>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lumMod val="50000"/>
                  </a:schemeClr>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lumMod val="50000"/>
                </a:schemeClr>
              </a:solidFill>
              <a:latin typeface="+mn-lt"/>
              <a:ea typeface="+mn-ea"/>
              <a:cs typeface="+mn-cs"/>
              <a:sym typeface="Trebuchet MS" panose="020B0603020202020204" pitchFamily="34" charset="0"/>
            </a:endParaRPr>
          </a:p>
        </p:txBody>
      </p:sp>
      <p:sp>
        <p:nvSpPr>
          <p:cNvPr id="9" name="Title Placeholder 1"/>
          <p:cNvSpPr>
            <a:spLocks noGrp="1"/>
          </p:cNvSpPr>
          <p:nvPr>
            <p:ph type="title"/>
          </p:nvPr>
        </p:nvSpPr>
        <p:spPr>
          <a:xfrm>
            <a:off x="630000" y="622800"/>
            <a:ext cx="10933350" cy="332399"/>
          </a:xfrm>
          <a:prstGeom prst="rect">
            <a:avLst/>
          </a:prstGeom>
        </p:spPr>
        <p:txBody>
          <a:bodyPr vert="horz" wrap="square" lIns="0" tIns="0" rIns="0" bIns="0" rtlCol="0" anchor="t">
            <a:spAutoFit/>
          </a:bodyPr>
          <a:lstStyle/>
          <a:p>
            <a:r>
              <a:rPr lang="en-US"/>
              <a:t>Click to add title</a:t>
            </a:r>
          </a:p>
        </p:txBody>
      </p:sp>
      <p:sp>
        <p:nvSpPr>
          <p:cNvPr id="4" name="Text Placeholder 3"/>
          <p:cNvSpPr>
            <a:spLocks noGrp="1"/>
          </p:cNvSpPr>
          <p:nvPr>
            <p:ph type="body" idx="1"/>
          </p:nvPr>
        </p:nvSpPr>
        <p:spPr>
          <a:xfrm>
            <a:off x="630000" y="1825625"/>
            <a:ext cx="10933350" cy="4351338"/>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35336367"/>
      </p:ext>
    </p:extLst>
  </p:cSld>
  <p:clrMap bg1="lt1" tx1="dk1" bg2="lt2" tx2="dk2" accent1="accent1" accent2="accent2" accent3="accent3" accent4="accent4" accent5="accent5" accent6="accent6" hlink="hlink" folHlink="folHlink"/>
  <p:sldLayoutIdLst>
    <p:sldLayoutId id="2147485115" r:id="rId1"/>
    <p:sldLayoutId id="2147485086" r:id="rId2"/>
    <p:sldLayoutId id="2147485183" r:id="rId3"/>
    <p:sldLayoutId id="2147485158" r:id="rId4"/>
    <p:sldLayoutId id="2147485113" r:id="rId5"/>
    <p:sldLayoutId id="2147485114" r:id="rId6"/>
    <p:sldLayoutId id="2147485154" r:id="rId7"/>
    <p:sldLayoutId id="2147485162" r:id="rId8"/>
    <p:sldLayoutId id="2147485149" r:id="rId9"/>
    <p:sldLayoutId id="2147485087" r:id="rId10"/>
    <p:sldLayoutId id="2147485112" r:id="rId11"/>
    <p:sldLayoutId id="2147485155" r:id="rId12"/>
    <p:sldLayoutId id="2147485164" r:id="rId13"/>
    <p:sldLayoutId id="2147485109" r:id="rId14"/>
    <p:sldLayoutId id="2147485165" r:id="rId15"/>
    <p:sldLayoutId id="2147485110" r:id="rId16"/>
    <p:sldLayoutId id="2147485166" r:id="rId17"/>
    <p:sldLayoutId id="2147485156" r:id="rId18"/>
    <p:sldLayoutId id="2147485167" r:id="rId19"/>
    <p:sldLayoutId id="2147485108" r:id="rId20"/>
    <p:sldLayoutId id="2147485107" r:id="rId21"/>
    <p:sldLayoutId id="2147485106" r:id="rId22"/>
    <p:sldLayoutId id="2147485090" r:id="rId23"/>
    <p:sldLayoutId id="2147485091" r:id="rId24"/>
    <p:sldLayoutId id="2147485092" r:id="rId25"/>
    <p:sldLayoutId id="2147485093" r:id="rId26"/>
    <p:sldLayoutId id="2147485116" r:id="rId27"/>
    <p:sldLayoutId id="2147485161" r:id="rId28"/>
    <p:sldLayoutId id="2147485159" r:id="rId29"/>
    <p:sldLayoutId id="2147485119" r:id="rId30"/>
    <p:sldLayoutId id="2147485184" r:id="rId31"/>
    <p:sldLayoutId id="2147485137" r:id="rId32"/>
    <p:sldLayoutId id="2147485120" r:id="rId33"/>
    <p:sldLayoutId id="2147485121" r:id="rId34"/>
    <p:sldLayoutId id="2147485141" r:id="rId35"/>
    <p:sldLayoutId id="2147485163" r:id="rId36"/>
    <p:sldLayoutId id="2147485139" r:id="rId37"/>
    <p:sldLayoutId id="2147485140" r:id="rId38"/>
    <p:sldLayoutId id="2147485122" r:id="rId39"/>
    <p:sldLayoutId id="2147485123" r:id="rId40"/>
    <p:sldLayoutId id="2147485151" r:id="rId41"/>
    <p:sldLayoutId id="2147485168" r:id="rId42"/>
    <p:sldLayoutId id="2147485127" r:id="rId43"/>
    <p:sldLayoutId id="2147485169" r:id="rId44"/>
    <p:sldLayoutId id="2147485126" r:id="rId45"/>
    <p:sldLayoutId id="2147485170" r:id="rId46"/>
    <p:sldLayoutId id="2147485153" r:id="rId47"/>
    <p:sldLayoutId id="2147485171" r:id="rId48"/>
    <p:sldLayoutId id="2147485128" r:id="rId49"/>
    <p:sldLayoutId id="2147485129" r:id="rId50"/>
    <p:sldLayoutId id="2147485130" r:id="rId51"/>
    <p:sldLayoutId id="2147485131" r:id="rId52"/>
    <p:sldLayoutId id="2147485145" r:id="rId53"/>
    <p:sldLayoutId id="2147485133" r:id="rId54"/>
    <p:sldLayoutId id="2147485144" r:id="rId55"/>
    <p:sldLayoutId id="2147485134" r:id="rId56"/>
    <p:sldLayoutId id="2147485146" r:id="rId57"/>
    <p:sldLayoutId id="2147485160" r:id="rId58"/>
    <p:sldLayoutId id="2147485172" r:id="rId59"/>
    <p:sldLayoutId id="2147485173" r:id="rId60"/>
    <p:sldLayoutId id="2147485174" r:id="rId61"/>
    <p:sldLayoutId id="2147485175" r:id="rId62"/>
    <p:sldLayoutId id="2147485176" r:id="rId63"/>
    <p:sldLayoutId id="2147485177" r:id="rId64"/>
    <p:sldLayoutId id="2147485178" r:id="rId65"/>
    <p:sldLayoutId id="2147485179" r:id="rId66"/>
    <p:sldLayoutId id="2147485180" r:id="rId67"/>
    <p:sldLayoutId id="2147485185" r:id="rId68"/>
    <p:sldLayoutId id="2147485263" r:id="rId69"/>
    <p:sldLayoutId id="2147485264" r:id="rId70"/>
    <p:sldLayoutId id="2147485266" r:id="rId71"/>
  </p:sldLayoutIdLst>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hf sldNum="0" hdr="0" ftr="0" dt="0"/>
  <p:txStyles>
    <p:titleStyle>
      <a:lvl1pPr algn="l" defTabSz="914400" rtl="0" eaLnBrk="1" latinLnBrk="0" hangingPunct="1">
        <a:lnSpc>
          <a:spcPct val="90000"/>
        </a:lnSpc>
        <a:spcBef>
          <a:spcPct val="0"/>
        </a:spcBef>
        <a:buNone/>
        <a:defRPr sz="2400" kern="1200">
          <a:solidFill>
            <a:schemeClr val="tx2"/>
          </a:solidFill>
          <a:latin typeface="+mj-lt"/>
          <a:ea typeface="+mj-ea"/>
          <a:cs typeface="+mj-cs"/>
          <a:sym typeface="Trebuchet MS" panose="020B0603020202020204" pitchFamily="34" charset="0"/>
        </a:defRPr>
      </a:lvl1pPr>
    </p:titleStyle>
    <p:body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1311" userDrawn="1">
          <p15:clr>
            <a:srgbClr val="F26B43"/>
          </p15:clr>
        </p15:guide>
        <p15:guide id="2" pos="396" userDrawn="1">
          <p15:clr>
            <a:srgbClr val="F26B43"/>
          </p15:clr>
        </p15:guide>
        <p15:guide id="3" pos="7284" userDrawn="1">
          <p15:clr>
            <a:srgbClr val="F26B43"/>
          </p15:clr>
        </p15:guide>
        <p15:guide id="4" orient="horz" pos="3881" userDrawn="1">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245A5613-7564-9D4E-5544-33C60848C52D}"/>
              </a:ext>
            </a:extLst>
          </p:cNvPr>
          <p:cNvGraphicFramePr>
            <a:graphicFrameLocks noChangeAspect="1"/>
          </p:cNvGraphicFramePr>
          <p:nvPr userDrawn="1">
            <p:custDataLst>
              <p:tags r:id="rId8"/>
            </p:custDataLst>
            <p:extLst>
              <p:ext uri="{D42A27DB-BD31-4B8C-83A1-F6EECF244321}">
                <p14:modId xmlns:p14="http://schemas.microsoft.com/office/powerpoint/2010/main" val="398798424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04" imgH="405" progId="TCLayout.ActiveDocument.1">
                  <p:embed/>
                </p:oleObj>
              </mc:Choice>
              <mc:Fallback>
                <p:oleObj name="think-cell Slide" r:id="rId9" imgW="404" imgH="405" progId="TCLayout.ActiveDocument.1">
                  <p:embed/>
                  <p:pic>
                    <p:nvPicPr>
                      <p:cNvPr id="8" name="think-cell data - do not delete" hidden="1">
                        <a:extLst>
                          <a:ext uri="{FF2B5EF4-FFF2-40B4-BE49-F238E27FC236}">
                            <a16:creationId xmlns:a16="http://schemas.microsoft.com/office/drawing/2014/main" id="{245A5613-7564-9D4E-5544-33C60848C52D}"/>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2" name="Holder 2"/>
          <p:cNvSpPr>
            <a:spLocks noGrp="1"/>
          </p:cNvSpPr>
          <p:nvPr>
            <p:ph type="title"/>
          </p:nvPr>
        </p:nvSpPr>
        <p:spPr>
          <a:xfrm>
            <a:off x="617321" y="557022"/>
            <a:ext cx="10957356" cy="703580"/>
          </a:xfrm>
          <a:prstGeom prst="rect">
            <a:avLst/>
          </a:prstGeom>
        </p:spPr>
        <p:txBody>
          <a:bodyPr wrap="square" lIns="0" tIns="0" rIns="0" bIns="0">
            <a:spAutoFit/>
          </a:bodyPr>
          <a:lstStyle>
            <a:lvl1pPr>
              <a:defRPr sz="3400" b="0" i="0">
                <a:solidFill>
                  <a:srgbClr val="29B974"/>
                </a:solidFill>
                <a:latin typeface="Trebuchet MS"/>
                <a:cs typeface="Trebuchet MS"/>
              </a:defRPr>
            </a:lvl1pPr>
          </a:lstStyle>
          <a:p>
            <a:endParaRPr/>
          </a:p>
        </p:txBody>
      </p:sp>
      <p:sp>
        <p:nvSpPr>
          <p:cNvPr id="3" name="Holder 3"/>
          <p:cNvSpPr>
            <a:spLocks noGrp="1"/>
          </p:cNvSpPr>
          <p:nvPr>
            <p:ph type="body" idx="1"/>
          </p:nvPr>
        </p:nvSpPr>
        <p:spPr>
          <a:xfrm>
            <a:off x="590842" y="2665476"/>
            <a:ext cx="6477000" cy="3188970"/>
          </a:xfrm>
          <a:prstGeom prst="rect">
            <a:avLst/>
          </a:prstGeom>
        </p:spPr>
        <p:txBody>
          <a:bodyPr wrap="square" lIns="0" tIns="0" rIns="0" bIns="0">
            <a:spAutoFit/>
          </a:bodyPr>
          <a:lstStyle>
            <a:lvl1pPr>
              <a:defRPr b="0" i="0">
                <a:solidFill>
                  <a:schemeClr val="tx1"/>
                </a:solidFill>
              </a:defRPr>
            </a:lvl1pPr>
          </a:lstStyle>
          <a:p>
            <a:endParaRPr/>
          </a:p>
        </p:txBody>
      </p:sp>
      <p:sp>
        <p:nvSpPr>
          <p:cNvPr id="4" name="Holder 4"/>
          <p:cNvSpPr>
            <a:spLocks noGrp="1"/>
          </p:cNvSpPr>
          <p:nvPr>
            <p:ph type="ftr" sz="quarter" idx="5"/>
          </p:nvPr>
        </p:nvSpPr>
        <p:spPr>
          <a:xfrm>
            <a:off x="4145280" y="6377940"/>
            <a:ext cx="3901440" cy="342900"/>
          </a:xfrm>
          <a:prstGeom prst="rect">
            <a:avLst/>
          </a:prstGeom>
        </p:spPr>
        <p:txBody>
          <a:bodyPr wrap="square" lIns="0" tIns="0" rIns="0" bIns="0">
            <a:spAutoFit/>
          </a:bodyPr>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609600" y="6377940"/>
            <a:ext cx="2804160" cy="342900"/>
          </a:xfrm>
          <a:prstGeom prst="rect">
            <a:avLst/>
          </a:prstGeom>
        </p:spPr>
        <p:txBody>
          <a:bodyPr wrap="square" lIns="0" tIns="0" rIns="0" bIns="0">
            <a:spAutoFit/>
          </a:bodyPr>
          <a:lstStyle>
            <a:lvl1pPr algn="l">
              <a:defRPr>
                <a:solidFill>
                  <a:schemeClr val="tx1">
                    <a:tint val="75000"/>
                  </a:schemeClr>
                </a:solidFill>
              </a:defRPr>
            </a:lvl1pPr>
          </a:lstStyle>
          <a:p>
            <a:fld id="{1D8BD707-D9CF-40AE-B4C6-C98DA3205C09}" type="datetimeFigureOut">
              <a:rPr lang="en-US"/>
              <a:t>8/21/26</a:t>
            </a:fld>
            <a:endParaRPr lang="en-US"/>
          </a:p>
        </p:txBody>
      </p:sp>
      <p:sp>
        <p:nvSpPr>
          <p:cNvPr id="6" name="Holder 6"/>
          <p:cNvSpPr>
            <a:spLocks noGrp="1"/>
          </p:cNvSpPr>
          <p:nvPr>
            <p:ph type="sldNum" sz="quarter" idx="7"/>
          </p:nvPr>
        </p:nvSpPr>
        <p:spPr>
          <a:xfrm>
            <a:off x="11378183" y="6399783"/>
            <a:ext cx="223520" cy="172720"/>
          </a:xfrm>
          <a:prstGeom prst="rect">
            <a:avLst/>
          </a:prstGeom>
        </p:spPr>
        <p:txBody>
          <a:bodyPr wrap="square" lIns="0" tIns="0" rIns="0" bIns="0">
            <a:spAutoFit/>
          </a:bodyPr>
          <a:lstStyle>
            <a:lvl1pPr>
              <a:defRPr sz="1000" b="0" i="0">
                <a:solidFill>
                  <a:srgbClr val="7E7E7E"/>
                </a:solidFill>
                <a:latin typeface="Trebuchet MS"/>
                <a:cs typeface="Trebuchet MS"/>
              </a:defRPr>
            </a:lvl1pPr>
          </a:lstStyle>
          <a:p>
            <a:pPr marL="104775">
              <a:lnSpc>
                <a:spcPct val="100000"/>
              </a:lnSpc>
              <a:spcBef>
                <a:spcPts val="35"/>
              </a:spcBef>
            </a:pPr>
            <a:fld id="{81D60167-4931-47E6-BA6A-407CBD079E47}" type="slidenum">
              <a:rPr spc="-50" dirty="0"/>
              <a:t>‹#›</a:t>
            </a:fld>
            <a:endParaRPr spc="-50"/>
          </a:p>
        </p:txBody>
      </p:sp>
    </p:spTree>
    <p:extLst>
      <p:ext uri="{BB962C8B-B14F-4D97-AF65-F5344CB8AC3E}">
        <p14:creationId xmlns:p14="http://schemas.microsoft.com/office/powerpoint/2010/main" val="3712594625"/>
      </p:ext>
    </p:extLst>
  </p:cSld>
  <p:clrMap bg1="lt1" tx1="dk1" bg2="lt2" tx2="dk2" accent1="accent1" accent2="accent2" accent3="accent3" accent4="accent4" accent5="accent5" accent6="accent6" hlink="hlink" folHlink="folHlink"/>
  <p:sldLayoutIdLst>
    <p:sldLayoutId id="2147485187" r:id="rId1"/>
    <p:sldLayoutId id="2147485188" r:id="rId2"/>
    <p:sldLayoutId id="2147485189" r:id="rId3"/>
    <p:sldLayoutId id="2147485190" r:id="rId4"/>
    <p:sldLayoutId id="2147485191" r:id="rId5"/>
    <p:sldLayoutId id="2147485261" r:id="rId6"/>
  </p:sldLayoutIdLst>
  <p:txStyles>
    <p:titleStyle>
      <a:lvl1pPr>
        <a:defRPr>
          <a:latin typeface="+mj-lt"/>
          <a:ea typeface="+mj-ea"/>
          <a:cs typeface="+mj-cs"/>
        </a:defRPr>
      </a:lvl1pPr>
    </p:titleStyle>
    <p:body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70"/>
            </p:custDataLst>
            <p:extLst>
              <p:ext uri="{D42A27DB-BD31-4B8C-83A1-F6EECF244321}">
                <p14:modId xmlns:p14="http://schemas.microsoft.com/office/powerpoint/2010/main" val="1194141760"/>
              </p:ext>
            </p:ext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71" imgW="270" imgH="270" progId="TCLayout.ActiveDocument.1">
                  <p:embed/>
                </p:oleObj>
              </mc:Choice>
              <mc:Fallback>
                <p:oleObj name="think-cell Slide" r:id="rId71" imgW="270" imgH="270" progId="TCLayout.ActiveDocument.1">
                  <p:embed/>
                  <p:pic>
                    <p:nvPicPr>
                      <p:cNvPr id="2" name="Object 1" hidden="1"/>
                      <p:cNvPicPr/>
                      <p:nvPr/>
                    </p:nvPicPr>
                    <p:blipFill>
                      <a:blip r:embed="rId72"/>
                      <a:stretch>
                        <a:fillRect/>
                      </a:stretch>
                    </p:blipFill>
                    <p:spPr>
                      <a:xfrm>
                        <a:off x="1588" y="1588"/>
                        <a:ext cx="1587" cy="1587"/>
                      </a:xfrm>
                      <a:prstGeom prst="rect">
                        <a:avLst/>
                      </a:prstGeom>
                    </p:spPr>
                  </p:pic>
                </p:oleObj>
              </mc:Fallback>
            </mc:AlternateContent>
          </a:graphicData>
        </a:graphic>
      </p:graphicFrame>
      <p:sp>
        <p:nvSpPr>
          <p:cNvPr id="11" name="Date Placeholder 3"/>
          <p:cNvSpPr>
            <a:spLocks noGrp="1"/>
          </p:cNvSpPr>
          <p:nvPr>
            <p:ph type="dt" sz="half" idx="2"/>
          </p:nvPr>
        </p:nvSpPr>
        <p:spPr>
          <a:xfrm>
            <a:off x="9677400" y="6405036"/>
            <a:ext cx="1482051" cy="153888"/>
          </a:xfrm>
          <a:prstGeom prst="rect">
            <a:avLst/>
          </a:prstGeom>
        </p:spPr>
        <p:txBody>
          <a:bodyPr vert="horz" wrap="square" lIns="0" tIns="0" rIns="0" bIns="0" rtlCol="0" anchor="b">
            <a:spAutoFit/>
          </a:bodyPr>
          <a:lstStyle>
            <a:lvl1pPr algn="r">
              <a:defRPr sz="1000">
                <a:solidFill>
                  <a:schemeClr val="bg1">
                    <a:lumMod val="50000"/>
                  </a:schemeClr>
                </a:solidFill>
                <a:latin typeface="+mn-lt"/>
                <a:sym typeface="Trebuchet MS" panose="020B0603020202020204" pitchFamily="34" charset="0"/>
              </a:defRPr>
            </a:lvl1pPr>
          </a:lstStyle>
          <a:p>
            <a:endParaRPr lang="en-US"/>
          </a:p>
        </p:txBody>
      </p:sp>
      <p:sp>
        <p:nvSpPr>
          <p:cNvPr id="12" name="TextBox 11"/>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lumMod val="50000"/>
                  </a:schemeClr>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lumMod val="50000"/>
                </a:schemeClr>
              </a:solidFill>
              <a:latin typeface="+mn-lt"/>
              <a:ea typeface="+mn-ea"/>
              <a:cs typeface="+mn-cs"/>
              <a:sym typeface="Trebuchet MS" panose="020B0603020202020204" pitchFamily="34" charset="0"/>
            </a:endParaRPr>
          </a:p>
        </p:txBody>
      </p:sp>
      <p:sp>
        <p:nvSpPr>
          <p:cNvPr id="9" name="Title Placeholder 1"/>
          <p:cNvSpPr>
            <a:spLocks noGrp="1"/>
          </p:cNvSpPr>
          <p:nvPr>
            <p:ph type="title"/>
          </p:nvPr>
        </p:nvSpPr>
        <p:spPr>
          <a:xfrm>
            <a:off x="630000" y="622800"/>
            <a:ext cx="10933350" cy="332399"/>
          </a:xfrm>
          <a:prstGeom prst="rect">
            <a:avLst/>
          </a:prstGeom>
        </p:spPr>
        <p:txBody>
          <a:bodyPr vert="horz" wrap="square" lIns="0" tIns="0" rIns="0" bIns="0" rtlCol="0" anchor="t">
            <a:spAutoFit/>
          </a:bodyPr>
          <a:lstStyle/>
          <a:p>
            <a:r>
              <a:rPr lang="en-US"/>
              <a:t>Click to add title</a:t>
            </a:r>
          </a:p>
        </p:txBody>
      </p:sp>
      <p:sp>
        <p:nvSpPr>
          <p:cNvPr id="4" name="Text Placeholder 3"/>
          <p:cNvSpPr>
            <a:spLocks noGrp="1"/>
          </p:cNvSpPr>
          <p:nvPr>
            <p:ph type="body" idx="1"/>
          </p:nvPr>
        </p:nvSpPr>
        <p:spPr>
          <a:xfrm>
            <a:off x="630000" y="1825625"/>
            <a:ext cx="10933350" cy="4351338"/>
          </a:xfrm>
          <a:prstGeom prst="rect">
            <a:avLst/>
          </a:prstGeom>
        </p:spPr>
        <p:txBody>
          <a:bodyPr vert="horz" lIns="0" tIns="0" rIns="0" bIns="0" rtlCol="0">
            <a:no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a:p>
            <a:pPr lvl="5"/>
            <a:r>
              <a:rPr lang="en-US"/>
              <a:t>Level six</a:t>
            </a:r>
          </a:p>
          <a:p>
            <a:pPr lvl="6"/>
            <a:r>
              <a:rPr lang="en-US"/>
              <a:t>Level seven</a:t>
            </a:r>
          </a:p>
          <a:p>
            <a:pPr lvl="7"/>
            <a:r>
              <a:rPr lang="en-US"/>
              <a:t>Level eight</a:t>
            </a:r>
          </a:p>
          <a:p>
            <a:pPr lvl="8"/>
            <a:r>
              <a:rPr lang="en-US"/>
              <a:t>Level nine</a:t>
            </a:r>
          </a:p>
        </p:txBody>
      </p:sp>
    </p:spTree>
    <p:extLst>
      <p:ext uri="{BB962C8B-B14F-4D97-AF65-F5344CB8AC3E}">
        <p14:creationId xmlns:p14="http://schemas.microsoft.com/office/powerpoint/2010/main" val="2397580355"/>
      </p:ext>
    </p:extLst>
  </p:cSld>
  <p:clrMap bg1="lt1" tx1="dk1" bg2="lt2" tx2="dk2" accent1="accent1" accent2="accent2" accent3="accent3" accent4="accent4" accent5="accent5" accent6="accent6" hlink="hlink" folHlink="folHlink"/>
  <p:sldLayoutIdLst>
    <p:sldLayoutId id="2147485193" r:id="rId1"/>
    <p:sldLayoutId id="2147485194" r:id="rId2"/>
    <p:sldLayoutId id="2147485195" r:id="rId3"/>
    <p:sldLayoutId id="2147485196" r:id="rId4"/>
    <p:sldLayoutId id="2147485197" r:id="rId5"/>
    <p:sldLayoutId id="2147485198" r:id="rId6"/>
    <p:sldLayoutId id="2147485199" r:id="rId7"/>
    <p:sldLayoutId id="2147485200" r:id="rId8"/>
    <p:sldLayoutId id="2147485201" r:id="rId9"/>
    <p:sldLayoutId id="2147485202" r:id="rId10"/>
    <p:sldLayoutId id="2147485203" r:id="rId11"/>
    <p:sldLayoutId id="2147485204" r:id="rId12"/>
    <p:sldLayoutId id="2147485205" r:id="rId13"/>
    <p:sldLayoutId id="2147485206" r:id="rId14"/>
    <p:sldLayoutId id="2147485207" r:id="rId15"/>
    <p:sldLayoutId id="2147485208" r:id="rId16"/>
    <p:sldLayoutId id="2147485209" r:id="rId17"/>
    <p:sldLayoutId id="2147485210" r:id="rId18"/>
    <p:sldLayoutId id="2147485211" r:id="rId19"/>
    <p:sldLayoutId id="2147485212" r:id="rId20"/>
    <p:sldLayoutId id="2147485213" r:id="rId21"/>
    <p:sldLayoutId id="2147485214" r:id="rId22"/>
    <p:sldLayoutId id="2147485215" r:id="rId23"/>
    <p:sldLayoutId id="2147485216" r:id="rId24"/>
    <p:sldLayoutId id="2147485217" r:id="rId25"/>
    <p:sldLayoutId id="2147485218" r:id="rId26"/>
    <p:sldLayoutId id="2147485219" r:id="rId27"/>
    <p:sldLayoutId id="2147485220" r:id="rId28"/>
    <p:sldLayoutId id="2147485221" r:id="rId29"/>
    <p:sldLayoutId id="2147485222" r:id="rId30"/>
    <p:sldLayoutId id="2147485223" r:id="rId31"/>
    <p:sldLayoutId id="2147485224" r:id="rId32"/>
    <p:sldLayoutId id="2147485225" r:id="rId33"/>
    <p:sldLayoutId id="2147485226" r:id="rId34"/>
    <p:sldLayoutId id="2147485227" r:id="rId35"/>
    <p:sldLayoutId id="2147485228" r:id="rId36"/>
    <p:sldLayoutId id="2147485229" r:id="rId37"/>
    <p:sldLayoutId id="2147485230" r:id="rId38"/>
    <p:sldLayoutId id="2147485231" r:id="rId39"/>
    <p:sldLayoutId id="2147485232" r:id="rId40"/>
    <p:sldLayoutId id="2147485233" r:id="rId41"/>
    <p:sldLayoutId id="2147485234" r:id="rId42"/>
    <p:sldLayoutId id="2147485235" r:id="rId43"/>
    <p:sldLayoutId id="2147485236" r:id="rId44"/>
    <p:sldLayoutId id="2147485237" r:id="rId45"/>
    <p:sldLayoutId id="2147485238" r:id="rId46"/>
    <p:sldLayoutId id="2147485239" r:id="rId47"/>
    <p:sldLayoutId id="2147485240" r:id="rId48"/>
    <p:sldLayoutId id="2147485241" r:id="rId49"/>
    <p:sldLayoutId id="2147485242" r:id="rId50"/>
    <p:sldLayoutId id="2147485243" r:id="rId51"/>
    <p:sldLayoutId id="2147485244" r:id="rId52"/>
    <p:sldLayoutId id="2147485245" r:id="rId53"/>
    <p:sldLayoutId id="2147485246" r:id="rId54"/>
    <p:sldLayoutId id="2147485247" r:id="rId55"/>
    <p:sldLayoutId id="2147485248" r:id="rId56"/>
    <p:sldLayoutId id="2147485249" r:id="rId57"/>
    <p:sldLayoutId id="2147485250" r:id="rId58"/>
    <p:sldLayoutId id="2147485251" r:id="rId59"/>
    <p:sldLayoutId id="2147485252" r:id="rId60"/>
    <p:sldLayoutId id="2147485253" r:id="rId61"/>
    <p:sldLayoutId id="2147485254" r:id="rId62"/>
    <p:sldLayoutId id="2147485255" r:id="rId63"/>
    <p:sldLayoutId id="2147485256" r:id="rId64"/>
    <p:sldLayoutId id="2147485257" r:id="rId65"/>
    <p:sldLayoutId id="2147485258" r:id="rId66"/>
    <p:sldLayoutId id="2147485259" r:id="rId67"/>
    <p:sldLayoutId id="2147485260" r:id="rId68"/>
  </p:sldLayoutIdLst>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hf sldNum="0" hdr="0" ftr="0" dt="0"/>
  <p:txStyles>
    <p:titleStyle>
      <a:lvl1pPr algn="l" defTabSz="914400" rtl="0" eaLnBrk="1" latinLnBrk="0" hangingPunct="1">
        <a:lnSpc>
          <a:spcPct val="90000"/>
        </a:lnSpc>
        <a:spcBef>
          <a:spcPct val="0"/>
        </a:spcBef>
        <a:buNone/>
        <a:defRPr sz="2400" kern="1200">
          <a:solidFill>
            <a:schemeClr val="tx2"/>
          </a:solidFill>
          <a:latin typeface="+mj-lt"/>
          <a:ea typeface="+mj-ea"/>
          <a:cs typeface="+mj-cs"/>
          <a:sym typeface="Trebuchet MS" panose="020B0603020202020204" pitchFamily="34" charset="0"/>
        </a:defRPr>
      </a:lvl1pPr>
    </p:titleStyle>
    <p:body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1311">
          <p15:clr>
            <a:srgbClr val="F26B43"/>
          </p15:clr>
        </p15:guide>
        <p15:guide id="2" pos="396">
          <p15:clr>
            <a:srgbClr val="F26B43"/>
          </p15:clr>
        </p15:guide>
        <p15:guide id="3" pos="7284">
          <p15:clr>
            <a:srgbClr val="F26B43"/>
          </p15:clr>
        </p15:guide>
        <p15:guide id="4" orient="horz" pos="3881">
          <p15:clr>
            <a:srgbClr val="F26B43"/>
          </p15:clr>
        </p15:guide>
      </p15:sldGuideLst>
    </p:ext>
  </p:extLst>
</p:sldMaster>
</file>

<file path=ppt/slides/_rels/slide1.xml.rels><?xml version="1.0" encoding="UTF-8" standalone="yes"?>
<Relationships xmlns="http://schemas.openxmlformats.org/package/2006/relationships"><Relationship Id="rId8" Type="http://schemas.openxmlformats.org/officeDocument/2006/relationships/tags" Target="../tags/tag74.xml"/><Relationship Id="rId13" Type="http://schemas.openxmlformats.org/officeDocument/2006/relationships/tags" Target="../tags/tag79.xml"/><Relationship Id="rId18" Type="http://schemas.openxmlformats.org/officeDocument/2006/relationships/chart" Target="../charts/chart1.xml"/><Relationship Id="rId3" Type="http://schemas.openxmlformats.org/officeDocument/2006/relationships/tags" Target="../tags/tag69.xml"/><Relationship Id="rId7" Type="http://schemas.openxmlformats.org/officeDocument/2006/relationships/tags" Target="../tags/tag73.xml"/><Relationship Id="rId12" Type="http://schemas.openxmlformats.org/officeDocument/2006/relationships/tags" Target="../tags/tag78.xml"/><Relationship Id="rId17" Type="http://schemas.openxmlformats.org/officeDocument/2006/relationships/image" Target="../media/image13.emf"/><Relationship Id="rId2" Type="http://schemas.openxmlformats.org/officeDocument/2006/relationships/tags" Target="../tags/tag68.xml"/><Relationship Id="rId16" Type="http://schemas.openxmlformats.org/officeDocument/2006/relationships/oleObject" Target="../embeddings/oleObject20.bin"/><Relationship Id="rId1" Type="http://schemas.openxmlformats.org/officeDocument/2006/relationships/tags" Target="../tags/tag67.xml"/><Relationship Id="rId6" Type="http://schemas.openxmlformats.org/officeDocument/2006/relationships/tags" Target="../tags/tag72.xml"/><Relationship Id="rId11" Type="http://schemas.openxmlformats.org/officeDocument/2006/relationships/tags" Target="../tags/tag77.xml"/><Relationship Id="rId5" Type="http://schemas.openxmlformats.org/officeDocument/2006/relationships/tags" Target="../tags/tag71.xml"/><Relationship Id="rId15" Type="http://schemas.openxmlformats.org/officeDocument/2006/relationships/notesSlide" Target="../notesSlides/notesSlide1.xml"/><Relationship Id="rId10" Type="http://schemas.openxmlformats.org/officeDocument/2006/relationships/tags" Target="../tags/tag76.xml"/><Relationship Id="rId4" Type="http://schemas.openxmlformats.org/officeDocument/2006/relationships/tags" Target="../tags/tag70.xml"/><Relationship Id="rId9" Type="http://schemas.openxmlformats.org/officeDocument/2006/relationships/tags" Target="../tags/tag75.xml"/><Relationship Id="rId14" Type="http://schemas.openxmlformats.org/officeDocument/2006/relationships/slideLayout" Target="../slideLayouts/slideLayout30.xml"/></Relationships>
</file>

<file path=ppt/slides/_rels/slide2.xml.rels><?xml version="1.0" encoding="UTF-8" standalone="yes"?>
<Relationships xmlns="http://schemas.openxmlformats.org/package/2006/relationships"><Relationship Id="rId8" Type="http://schemas.openxmlformats.org/officeDocument/2006/relationships/slideLayout" Target="../slideLayouts/slideLayout30.xml"/><Relationship Id="rId13" Type="http://schemas.openxmlformats.org/officeDocument/2006/relationships/image" Target="../media/image16.jpeg"/><Relationship Id="rId18" Type="http://schemas.microsoft.com/office/2007/relationships/hdphoto" Target="../media/hdphoto2.wdp"/><Relationship Id="rId3" Type="http://schemas.openxmlformats.org/officeDocument/2006/relationships/tags" Target="../tags/tag82.xml"/><Relationship Id="rId7" Type="http://schemas.openxmlformats.org/officeDocument/2006/relationships/tags" Target="../tags/tag86.xml"/><Relationship Id="rId12" Type="http://schemas.openxmlformats.org/officeDocument/2006/relationships/image" Target="../media/image15.jpeg"/><Relationship Id="rId17" Type="http://schemas.openxmlformats.org/officeDocument/2006/relationships/image" Target="../media/image19.jpeg"/><Relationship Id="rId2" Type="http://schemas.openxmlformats.org/officeDocument/2006/relationships/tags" Target="../tags/tag81.xml"/><Relationship Id="rId16" Type="http://schemas.openxmlformats.org/officeDocument/2006/relationships/image" Target="../media/image18.jpeg"/><Relationship Id="rId1" Type="http://schemas.openxmlformats.org/officeDocument/2006/relationships/tags" Target="../tags/tag80.xml"/><Relationship Id="rId6" Type="http://schemas.openxmlformats.org/officeDocument/2006/relationships/tags" Target="../tags/tag85.xml"/><Relationship Id="rId11" Type="http://schemas.openxmlformats.org/officeDocument/2006/relationships/image" Target="../media/image13.emf"/><Relationship Id="rId5" Type="http://schemas.openxmlformats.org/officeDocument/2006/relationships/tags" Target="../tags/tag84.xml"/><Relationship Id="rId15" Type="http://schemas.microsoft.com/office/2007/relationships/hdphoto" Target="../media/hdphoto1.wdp"/><Relationship Id="rId10" Type="http://schemas.openxmlformats.org/officeDocument/2006/relationships/oleObject" Target="../embeddings/oleObject21.bin"/><Relationship Id="rId4" Type="http://schemas.openxmlformats.org/officeDocument/2006/relationships/tags" Target="../tags/tag83.xml"/><Relationship Id="rId9" Type="http://schemas.openxmlformats.org/officeDocument/2006/relationships/notesSlide" Target="../notesSlides/notesSlide2.xml"/><Relationship Id="rId14" Type="http://schemas.openxmlformats.org/officeDocument/2006/relationships/image" Target="../media/image17.jpeg"/></Relationships>
</file>

<file path=ppt/slides/_rels/slide3.xml.rels><?xml version="1.0" encoding="UTF-8" standalone="yes"?>
<Relationships xmlns="http://schemas.openxmlformats.org/package/2006/relationships"><Relationship Id="rId3" Type="http://schemas.openxmlformats.org/officeDocument/2006/relationships/slideLayout" Target="../slideLayouts/slideLayout30.xml"/><Relationship Id="rId7" Type="http://schemas.openxmlformats.org/officeDocument/2006/relationships/image" Target="../media/image20.png"/><Relationship Id="rId2" Type="http://schemas.openxmlformats.org/officeDocument/2006/relationships/tags" Target="../tags/tag88.xml"/><Relationship Id="rId1" Type="http://schemas.openxmlformats.org/officeDocument/2006/relationships/tags" Target="../tags/tag87.xml"/><Relationship Id="rId6" Type="http://schemas.openxmlformats.org/officeDocument/2006/relationships/image" Target="../media/image13.emf"/><Relationship Id="rId5" Type="http://schemas.openxmlformats.org/officeDocument/2006/relationships/oleObject" Target="../embeddings/oleObject22.bin"/><Relationship Id="rId4"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8" Type="http://schemas.openxmlformats.org/officeDocument/2006/relationships/image" Target="../media/image22.emf"/><Relationship Id="rId3" Type="http://schemas.openxmlformats.org/officeDocument/2006/relationships/slideLayout" Target="../slideLayouts/slideLayout30.xml"/><Relationship Id="rId7" Type="http://schemas.openxmlformats.org/officeDocument/2006/relationships/image" Target="../media/image21.emf"/><Relationship Id="rId2" Type="http://schemas.openxmlformats.org/officeDocument/2006/relationships/tags" Target="../tags/tag90.xml"/><Relationship Id="rId1" Type="http://schemas.openxmlformats.org/officeDocument/2006/relationships/tags" Target="../tags/tag89.xml"/><Relationship Id="rId6" Type="http://schemas.openxmlformats.org/officeDocument/2006/relationships/image" Target="../media/image1.emf"/><Relationship Id="rId11" Type="http://schemas.openxmlformats.org/officeDocument/2006/relationships/image" Target="../media/image25.png"/><Relationship Id="rId5" Type="http://schemas.openxmlformats.org/officeDocument/2006/relationships/oleObject" Target="../embeddings/oleObject21.bin"/><Relationship Id="rId10" Type="http://schemas.openxmlformats.org/officeDocument/2006/relationships/image" Target="../media/image24.emf"/><Relationship Id="rId4" Type="http://schemas.openxmlformats.org/officeDocument/2006/relationships/notesSlide" Target="../notesSlides/notesSlide4.xml"/><Relationship Id="rId9" Type="http://schemas.openxmlformats.org/officeDocument/2006/relationships/image" Target="../media/image23.emf"/></Relationships>
</file>

<file path=ppt/slides/_rels/slide5.xml.rels><?xml version="1.0" encoding="UTF-8" standalone="yes"?>
<Relationships xmlns="http://schemas.openxmlformats.org/package/2006/relationships"><Relationship Id="rId3" Type="http://schemas.openxmlformats.org/officeDocument/2006/relationships/notesSlide" Target="../notesSlides/notesSlide5.xml"/><Relationship Id="rId2" Type="http://schemas.openxmlformats.org/officeDocument/2006/relationships/slideLayout" Target="../slideLayouts/slideLayout30.xml"/><Relationship Id="rId1" Type="http://schemas.openxmlformats.org/officeDocument/2006/relationships/tags" Target="../tags/tag91.xml"/><Relationship Id="rId5" Type="http://schemas.openxmlformats.org/officeDocument/2006/relationships/image" Target="../media/image13.emf"/><Relationship Id="rId4" Type="http://schemas.openxmlformats.org/officeDocument/2006/relationships/oleObject" Target="../embeddings/oleObject21.bin"/></Relationships>
</file>

<file path=ppt/slides/_rels/slide6.xml.rels><?xml version="1.0" encoding="UTF-8" standalone="yes"?>
<Relationships xmlns="http://schemas.openxmlformats.org/package/2006/relationships"><Relationship Id="rId8" Type="http://schemas.openxmlformats.org/officeDocument/2006/relationships/tags" Target="../tags/tag99.xml"/><Relationship Id="rId13" Type="http://schemas.openxmlformats.org/officeDocument/2006/relationships/image" Target="../media/image26.emf"/><Relationship Id="rId3" Type="http://schemas.openxmlformats.org/officeDocument/2006/relationships/tags" Target="../tags/tag94.xml"/><Relationship Id="rId7" Type="http://schemas.openxmlformats.org/officeDocument/2006/relationships/tags" Target="../tags/tag98.xml"/><Relationship Id="rId12" Type="http://schemas.openxmlformats.org/officeDocument/2006/relationships/oleObject" Target="../embeddings/oleObject23.bin"/><Relationship Id="rId2" Type="http://schemas.openxmlformats.org/officeDocument/2006/relationships/tags" Target="../tags/tag93.xml"/><Relationship Id="rId1" Type="http://schemas.openxmlformats.org/officeDocument/2006/relationships/tags" Target="../tags/tag92.xml"/><Relationship Id="rId6" Type="http://schemas.openxmlformats.org/officeDocument/2006/relationships/tags" Target="../tags/tag97.xml"/><Relationship Id="rId11" Type="http://schemas.openxmlformats.org/officeDocument/2006/relationships/notesSlide" Target="../notesSlides/notesSlide6.xml"/><Relationship Id="rId5" Type="http://schemas.openxmlformats.org/officeDocument/2006/relationships/tags" Target="../tags/tag96.xml"/><Relationship Id="rId10" Type="http://schemas.openxmlformats.org/officeDocument/2006/relationships/slideLayout" Target="../slideLayouts/slideLayout30.xml"/><Relationship Id="rId4" Type="http://schemas.openxmlformats.org/officeDocument/2006/relationships/tags" Target="../tags/tag95.xml"/><Relationship Id="rId9" Type="http://schemas.openxmlformats.org/officeDocument/2006/relationships/tags" Target="../tags/tag100.xml"/></Relationships>
</file>

<file path=ppt/slides/_rels/slide7.xml.rels><?xml version="1.0" encoding="UTF-8" standalone="yes"?>
<Relationships xmlns="http://schemas.openxmlformats.org/package/2006/relationships"><Relationship Id="rId8" Type="http://schemas.openxmlformats.org/officeDocument/2006/relationships/image" Target="../media/image29.png"/><Relationship Id="rId13" Type="http://schemas.openxmlformats.org/officeDocument/2006/relationships/image" Target="../media/image34.png"/><Relationship Id="rId18" Type="http://schemas.openxmlformats.org/officeDocument/2006/relationships/image" Target="../media/image39.png"/><Relationship Id="rId3" Type="http://schemas.openxmlformats.org/officeDocument/2006/relationships/notesSlide" Target="../notesSlides/notesSlide7.xml"/><Relationship Id="rId21" Type="http://schemas.openxmlformats.org/officeDocument/2006/relationships/image" Target="../media/image42.png"/><Relationship Id="rId7" Type="http://schemas.openxmlformats.org/officeDocument/2006/relationships/image" Target="../media/image28.png"/><Relationship Id="rId12" Type="http://schemas.openxmlformats.org/officeDocument/2006/relationships/image" Target="../media/image33.png"/><Relationship Id="rId17" Type="http://schemas.openxmlformats.org/officeDocument/2006/relationships/image" Target="../media/image38.png"/><Relationship Id="rId2" Type="http://schemas.openxmlformats.org/officeDocument/2006/relationships/slideLayout" Target="../slideLayouts/slideLayout30.xml"/><Relationship Id="rId16" Type="http://schemas.openxmlformats.org/officeDocument/2006/relationships/image" Target="../media/image37.png"/><Relationship Id="rId20" Type="http://schemas.openxmlformats.org/officeDocument/2006/relationships/image" Target="../media/image41.png"/><Relationship Id="rId1" Type="http://schemas.openxmlformats.org/officeDocument/2006/relationships/tags" Target="../tags/tag101.xml"/><Relationship Id="rId6" Type="http://schemas.openxmlformats.org/officeDocument/2006/relationships/image" Target="../media/image27.png"/><Relationship Id="rId11" Type="http://schemas.openxmlformats.org/officeDocument/2006/relationships/image" Target="../media/image32.png"/><Relationship Id="rId5" Type="http://schemas.openxmlformats.org/officeDocument/2006/relationships/image" Target="../media/image13.emf"/><Relationship Id="rId15" Type="http://schemas.openxmlformats.org/officeDocument/2006/relationships/image" Target="../media/image36.png"/><Relationship Id="rId10" Type="http://schemas.openxmlformats.org/officeDocument/2006/relationships/image" Target="../media/image31.png"/><Relationship Id="rId19" Type="http://schemas.openxmlformats.org/officeDocument/2006/relationships/image" Target="../media/image40.png"/><Relationship Id="rId4" Type="http://schemas.openxmlformats.org/officeDocument/2006/relationships/oleObject" Target="../embeddings/oleObject21.bin"/><Relationship Id="rId9" Type="http://schemas.openxmlformats.org/officeDocument/2006/relationships/image" Target="../media/image30.png"/><Relationship Id="rId14" Type="http://schemas.openxmlformats.org/officeDocument/2006/relationships/image" Target="../media/image35.png"/><Relationship Id="rId22" Type="http://schemas.openxmlformats.org/officeDocument/2006/relationships/image" Target="../media/image43.png"/></Relationships>
</file>

<file path=ppt/slides/_rels/slide8.xml.rels><?xml version="1.0" encoding="UTF-8" standalone="yes"?>
<Relationships xmlns="http://schemas.openxmlformats.org/package/2006/relationships"><Relationship Id="rId3" Type="http://schemas.openxmlformats.org/officeDocument/2006/relationships/notesSlide" Target="../notesSlides/notesSlide8.xml"/><Relationship Id="rId2" Type="http://schemas.openxmlformats.org/officeDocument/2006/relationships/slideLayout" Target="../slideLayouts/slideLayout31.xml"/><Relationship Id="rId1" Type="http://schemas.openxmlformats.org/officeDocument/2006/relationships/tags" Target="../tags/tag102.xml"/><Relationship Id="rId5" Type="http://schemas.openxmlformats.org/officeDocument/2006/relationships/image" Target="../media/image13.emf"/><Relationship Id="rId4" Type="http://schemas.openxmlformats.org/officeDocument/2006/relationships/oleObject" Target="../embeddings/oleObject21.bin"/></Relationships>
</file>

<file path=ppt/slides/_rels/slide9.xml.rels><?xml version="1.0" encoding="UTF-8" standalone="yes"?>
<Relationships xmlns="http://schemas.openxmlformats.org/package/2006/relationships"><Relationship Id="rId8" Type="http://schemas.openxmlformats.org/officeDocument/2006/relationships/tags" Target="../tags/tag110.xml"/><Relationship Id="rId13" Type="http://schemas.openxmlformats.org/officeDocument/2006/relationships/tags" Target="../tags/tag115.xml"/><Relationship Id="rId18" Type="http://schemas.openxmlformats.org/officeDocument/2006/relationships/notesSlide" Target="../notesSlides/notesSlide9.xml"/><Relationship Id="rId3" Type="http://schemas.openxmlformats.org/officeDocument/2006/relationships/tags" Target="../tags/tag105.xml"/><Relationship Id="rId21" Type="http://schemas.openxmlformats.org/officeDocument/2006/relationships/chart" Target="../charts/chart2.xml"/><Relationship Id="rId7" Type="http://schemas.openxmlformats.org/officeDocument/2006/relationships/tags" Target="../tags/tag109.xml"/><Relationship Id="rId12" Type="http://schemas.openxmlformats.org/officeDocument/2006/relationships/tags" Target="../tags/tag114.xml"/><Relationship Id="rId17" Type="http://schemas.openxmlformats.org/officeDocument/2006/relationships/slideLayout" Target="../slideLayouts/slideLayout30.xml"/><Relationship Id="rId2" Type="http://schemas.openxmlformats.org/officeDocument/2006/relationships/tags" Target="../tags/tag104.xml"/><Relationship Id="rId16" Type="http://schemas.openxmlformats.org/officeDocument/2006/relationships/tags" Target="../tags/tag118.xml"/><Relationship Id="rId20" Type="http://schemas.openxmlformats.org/officeDocument/2006/relationships/image" Target="../media/image44.emf"/><Relationship Id="rId1" Type="http://schemas.openxmlformats.org/officeDocument/2006/relationships/tags" Target="../tags/tag103.xml"/><Relationship Id="rId6" Type="http://schemas.openxmlformats.org/officeDocument/2006/relationships/tags" Target="../tags/tag108.xml"/><Relationship Id="rId11" Type="http://schemas.openxmlformats.org/officeDocument/2006/relationships/tags" Target="../tags/tag113.xml"/><Relationship Id="rId5" Type="http://schemas.openxmlformats.org/officeDocument/2006/relationships/tags" Target="../tags/tag107.xml"/><Relationship Id="rId15" Type="http://schemas.openxmlformats.org/officeDocument/2006/relationships/tags" Target="../tags/tag117.xml"/><Relationship Id="rId10" Type="http://schemas.openxmlformats.org/officeDocument/2006/relationships/tags" Target="../tags/tag112.xml"/><Relationship Id="rId19" Type="http://schemas.openxmlformats.org/officeDocument/2006/relationships/oleObject" Target="../embeddings/oleObject24.bin"/><Relationship Id="rId4" Type="http://schemas.openxmlformats.org/officeDocument/2006/relationships/tags" Target="../tags/tag106.xml"/><Relationship Id="rId9" Type="http://schemas.openxmlformats.org/officeDocument/2006/relationships/tags" Target="../tags/tag111.xml"/><Relationship Id="rId14" Type="http://schemas.openxmlformats.org/officeDocument/2006/relationships/tags" Target="../tags/tag116.xml"/><Relationship Id="rId22" Type="http://schemas.openxmlformats.org/officeDocument/2006/relationships/image" Target="../media/image45.emf"/></Relationships>
</file>

<file path=ppt/slides/_rels/slide10.xml.rels><?xml version="1.0" encoding="UTF-8" standalone="yes"?>
<Relationships xmlns="http://schemas.openxmlformats.org/package/2006/relationships"><Relationship Id="rId8" Type="http://schemas.openxmlformats.org/officeDocument/2006/relationships/image" Target="../media/image12.emf"/><Relationship Id="rId3" Type="http://schemas.openxmlformats.org/officeDocument/2006/relationships/tags" Target="../tags/tag121.xml"/><Relationship Id="rId7" Type="http://schemas.openxmlformats.org/officeDocument/2006/relationships/oleObject" Target="../embeddings/oleObject21.bin"/><Relationship Id="rId2" Type="http://schemas.openxmlformats.org/officeDocument/2006/relationships/tags" Target="../tags/tag120.xml"/><Relationship Id="rId1" Type="http://schemas.openxmlformats.org/officeDocument/2006/relationships/tags" Target="../tags/tag119.xml"/><Relationship Id="rId6" Type="http://schemas.openxmlformats.org/officeDocument/2006/relationships/notesSlide" Target="../notesSlides/notesSlide10.xml"/><Relationship Id="rId5" Type="http://schemas.openxmlformats.org/officeDocument/2006/relationships/slideLayout" Target="../slideLayouts/slideLayout30.xml"/><Relationship Id="rId4" Type="http://schemas.openxmlformats.org/officeDocument/2006/relationships/tags" Target="../tags/tag122.xml"/></Relationships>
</file>

<file path=ppt/slides/_rels/slide11.xml.rels><?xml version="1.0" encoding="UTF-8" standalone="yes"?>
<Relationships xmlns="http://schemas.openxmlformats.org/package/2006/relationships"><Relationship Id="rId3" Type="http://schemas.openxmlformats.org/officeDocument/2006/relationships/tags" Target="../tags/tag125.xml"/><Relationship Id="rId7" Type="http://schemas.openxmlformats.org/officeDocument/2006/relationships/image" Target="../media/image46.emf"/><Relationship Id="rId2" Type="http://schemas.openxmlformats.org/officeDocument/2006/relationships/tags" Target="../tags/tag124.xml"/><Relationship Id="rId1" Type="http://schemas.openxmlformats.org/officeDocument/2006/relationships/tags" Target="../tags/tag123.xml"/><Relationship Id="rId6" Type="http://schemas.openxmlformats.org/officeDocument/2006/relationships/oleObject" Target="../embeddings/oleObject25.bin"/><Relationship Id="rId5" Type="http://schemas.openxmlformats.org/officeDocument/2006/relationships/slideLayout" Target="../slideLayouts/slideLayout30.xml"/><Relationship Id="rId4" Type="http://schemas.openxmlformats.org/officeDocument/2006/relationships/tags" Target="../tags/tag126.xml"/></Relationships>
</file>

<file path=ppt/slides/_rels/slide12.xml.rels><?xml version="1.0" encoding="UTF-8" standalone="yes"?>
<Relationships xmlns="http://schemas.openxmlformats.org/package/2006/relationships"><Relationship Id="rId3" Type="http://schemas.openxmlformats.org/officeDocument/2006/relationships/notesSlide" Target="../notesSlides/notesSlide11.xml"/><Relationship Id="rId2" Type="http://schemas.openxmlformats.org/officeDocument/2006/relationships/slideLayout" Target="../slideLayouts/slideLayout30.xml"/><Relationship Id="rId1" Type="http://schemas.openxmlformats.org/officeDocument/2006/relationships/tags" Target="../tags/tag127.xml"/><Relationship Id="rId6" Type="http://schemas.openxmlformats.org/officeDocument/2006/relationships/image" Target="../media/image48.jpeg"/><Relationship Id="rId5" Type="http://schemas.openxmlformats.org/officeDocument/2006/relationships/image" Target="../media/image47.emf"/><Relationship Id="rId4" Type="http://schemas.openxmlformats.org/officeDocument/2006/relationships/oleObject" Target="../embeddings/oleObject21.bin"/></Relationships>
</file>

<file path=ppt/slides/_rels/slide13.xml.rels><?xml version="1.0" encoding="UTF-8" standalone="yes"?>
<Relationships xmlns="http://schemas.openxmlformats.org/package/2006/relationships"><Relationship Id="rId3" Type="http://schemas.openxmlformats.org/officeDocument/2006/relationships/oleObject" Target="../embeddings/oleObject21.bin"/><Relationship Id="rId2" Type="http://schemas.openxmlformats.org/officeDocument/2006/relationships/slideLayout" Target="../slideLayouts/slideLayout30.xml"/><Relationship Id="rId1" Type="http://schemas.openxmlformats.org/officeDocument/2006/relationships/tags" Target="../tags/tag128.xml"/><Relationship Id="rId4" Type="http://schemas.openxmlformats.org/officeDocument/2006/relationships/image" Target="../media/image13.emf"/></Relationships>
</file>

<file path=ppt/slides/_rels/slide14.xml.rels><?xml version="1.0" encoding="UTF-8" standalone="yes"?>
<Relationships xmlns="http://schemas.openxmlformats.org/package/2006/relationships"><Relationship Id="rId8" Type="http://schemas.openxmlformats.org/officeDocument/2006/relationships/image" Target="../media/image49.png"/><Relationship Id="rId3" Type="http://schemas.openxmlformats.org/officeDocument/2006/relationships/tags" Target="../tags/tag131.xml"/><Relationship Id="rId7" Type="http://schemas.openxmlformats.org/officeDocument/2006/relationships/image" Target="../media/image13.emf"/><Relationship Id="rId2" Type="http://schemas.openxmlformats.org/officeDocument/2006/relationships/tags" Target="../tags/tag130.xml"/><Relationship Id="rId1" Type="http://schemas.openxmlformats.org/officeDocument/2006/relationships/tags" Target="../tags/tag129.xml"/><Relationship Id="rId6" Type="http://schemas.openxmlformats.org/officeDocument/2006/relationships/oleObject" Target="../embeddings/oleObject26.bin"/><Relationship Id="rId5" Type="http://schemas.openxmlformats.org/officeDocument/2006/relationships/notesSlide" Target="../notesSlides/notesSlide12.xml"/><Relationship Id="rId4" Type="http://schemas.openxmlformats.org/officeDocument/2006/relationships/slideLayout" Target="../slideLayouts/slideLayout30.xml"/><Relationship Id="rId9" Type="http://schemas.openxmlformats.org/officeDocument/2006/relationships/image" Target="../media/image50.gif"/></Relationships>
</file>

<file path=ppt/slides/_rels/slide15.xml.rels><?xml version="1.0" encoding="UTF-8" standalone="yes"?>
<Relationships xmlns="http://schemas.openxmlformats.org/package/2006/relationships"><Relationship Id="rId13" Type="http://schemas.openxmlformats.org/officeDocument/2006/relationships/tags" Target="../tags/tag144.xml"/><Relationship Id="rId18" Type="http://schemas.openxmlformats.org/officeDocument/2006/relationships/tags" Target="../tags/tag149.xml"/><Relationship Id="rId26" Type="http://schemas.openxmlformats.org/officeDocument/2006/relationships/tags" Target="../tags/tag157.xml"/><Relationship Id="rId39" Type="http://schemas.openxmlformats.org/officeDocument/2006/relationships/image" Target="../media/image53.png"/><Relationship Id="rId21" Type="http://schemas.openxmlformats.org/officeDocument/2006/relationships/tags" Target="../tags/tag152.xml"/><Relationship Id="rId34" Type="http://schemas.openxmlformats.org/officeDocument/2006/relationships/slideLayout" Target="../slideLayouts/slideLayout30.xml"/><Relationship Id="rId42" Type="http://schemas.openxmlformats.org/officeDocument/2006/relationships/image" Target="../media/image56.jpeg"/><Relationship Id="rId7" Type="http://schemas.openxmlformats.org/officeDocument/2006/relationships/tags" Target="../tags/tag138.xml"/><Relationship Id="rId2" Type="http://schemas.openxmlformats.org/officeDocument/2006/relationships/tags" Target="../tags/tag133.xml"/><Relationship Id="rId16" Type="http://schemas.openxmlformats.org/officeDocument/2006/relationships/tags" Target="../tags/tag147.xml"/><Relationship Id="rId20" Type="http://schemas.openxmlformats.org/officeDocument/2006/relationships/tags" Target="../tags/tag151.xml"/><Relationship Id="rId29" Type="http://schemas.openxmlformats.org/officeDocument/2006/relationships/tags" Target="../tags/tag160.xml"/><Relationship Id="rId41" Type="http://schemas.openxmlformats.org/officeDocument/2006/relationships/image" Target="../media/image55.png"/><Relationship Id="rId1" Type="http://schemas.openxmlformats.org/officeDocument/2006/relationships/tags" Target="../tags/tag132.xml"/><Relationship Id="rId6" Type="http://schemas.openxmlformats.org/officeDocument/2006/relationships/tags" Target="../tags/tag137.xml"/><Relationship Id="rId11" Type="http://schemas.openxmlformats.org/officeDocument/2006/relationships/tags" Target="../tags/tag142.xml"/><Relationship Id="rId24" Type="http://schemas.openxmlformats.org/officeDocument/2006/relationships/tags" Target="../tags/tag155.xml"/><Relationship Id="rId32" Type="http://schemas.openxmlformats.org/officeDocument/2006/relationships/tags" Target="../tags/tag163.xml"/><Relationship Id="rId37" Type="http://schemas.openxmlformats.org/officeDocument/2006/relationships/image" Target="../media/image51.emf"/><Relationship Id="rId40" Type="http://schemas.openxmlformats.org/officeDocument/2006/relationships/image" Target="../media/image54.png"/><Relationship Id="rId5" Type="http://schemas.openxmlformats.org/officeDocument/2006/relationships/tags" Target="../tags/tag136.xml"/><Relationship Id="rId15" Type="http://schemas.openxmlformats.org/officeDocument/2006/relationships/tags" Target="../tags/tag146.xml"/><Relationship Id="rId23" Type="http://schemas.openxmlformats.org/officeDocument/2006/relationships/tags" Target="../tags/tag154.xml"/><Relationship Id="rId28" Type="http://schemas.openxmlformats.org/officeDocument/2006/relationships/tags" Target="../tags/tag159.xml"/><Relationship Id="rId36" Type="http://schemas.openxmlformats.org/officeDocument/2006/relationships/oleObject" Target="../embeddings/oleObject27.bin"/><Relationship Id="rId10" Type="http://schemas.openxmlformats.org/officeDocument/2006/relationships/tags" Target="../tags/tag141.xml"/><Relationship Id="rId19" Type="http://schemas.openxmlformats.org/officeDocument/2006/relationships/tags" Target="../tags/tag150.xml"/><Relationship Id="rId31" Type="http://schemas.openxmlformats.org/officeDocument/2006/relationships/tags" Target="../tags/tag162.xml"/><Relationship Id="rId4" Type="http://schemas.openxmlformats.org/officeDocument/2006/relationships/tags" Target="../tags/tag135.xml"/><Relationship Id="rId9" Type="http://schemas.openxmlformats.org/officeDocument/2006/relationships/tags" Target="../tags/tag140.xml"/><Relationship Id="rId14" Type="http://schemas.openxmlformats.org/officeDocument/2006/relationships/tags" Target="../tags/tag145.xml"/><Relationship Id="rId22" Type="http://schemas.openxmlformats.org/officeDocument/2006/relationships/tags" Target="../tags/tag153.xml"/><Relationship Id="rId27" Type="http://schemas.openxmlformats.org/officeDocument/2006/relationships/tags" Target="../tags/tag158.xml"/><Relationship Id="rId30" Type="http://schemas.openxmlformats.org/officeDocument/2006/relationships/tags" Target="../tags/tag161.xml"/><Relationship Id="rId35" Type="http://schemas.openxmlformats.org/officeDocument/2006/relationships/notesSlide" Target="../notesSlides/notesSlide13.xml"/><Relationship Id="rId43" Type="http://schemas.openxmlformats.org/officeDocument/2006/relationships/image" Target="../media/image57.png"/><Relationship Id="rId8" Type="http://schemas.openxmlformats.org/officeDocument/2006/relationships/tags" Target="../tags/tag139.xml"/><Relationship Id="rId3" Type="http://schemas.openxmlformats.org/officeDocument/2006/relationships/tags" Target="../tags/tag134.xml"/><Relationship Id="rId12" Type="http://schemas.openxmlformats.org/officeDocument/2006/relationships/tags" Target="../tags/tag143.xml"/><Relationship Id="rId17" Type="http://schemas.openxmlformats.org/officeDocument/2006/relationships/tags" Target="../tags/tag148.xml"/><Relationship Id="rId25" Type="http://schemas.openxmlformats.org/officeDocument/2006/relationships/tags" Target="../tags/tag156.xml"/><Relationship Id="rId33" Type="http://schemas.openxmlformats.org/officeDocument/2006/relationships/tags" Target="../tags/tag164.xml"/><Relationship Id="rId38" Type="http://schemas.openxmlformats.org/officeDocument/2006/relationships/image" Target="../media/image52.png"/></Relationships>
</file>

<file path=ppt/slides/_rels/slide16.xml.rels><?xml version="1.0" encoding="UTF-8" standalone="yes"?>
<Relationships xmlns="http://schemas.openxmlformats.org/package/2006/relationships"><Relationship Id="rId13" Type="http://schemas.openxmlformats.org/officeDocument/2006/relationships/tags" Target="../tags/tag177.xml"/><Relationship Id="rId18" Type="http://schemas.openxmlformats.org/officeDocument/2006/relationships/tags" Target="../tags/tag182.xml"/><Relationship Id="rId26" Type="http://schemas.openxmlformats.org/officeDocument/2006/relationships/tags" Target="../tags/tag190.xml"/><Relationship Id="rId39" Type="http://schemas.openxmlformats.org/officeDocument/2006/relationships/tags" Target="../tags/tag203.xml"/><Relationship Id="rId21" Type="http://schemas.openxmlformats.org/officeDocument/2006/relationships/tags" Target="../tags/tag185.xml"/><Relationship Id="rId34" Type="http://schemas.openxmlformats.org/officeDocument/2006/relationships/tags" Target="../tags/tag198.xml"/><Relationship Id="rId42" Type="http://schemas.openxmlformats.org/officeDocument/2006/relationships/tags" Target="../tags/tag206.xml"/><Relationship Id="rId47" Type="http://schemas.openxmlformats.org/officeDocument/2006/relationships/tags" Target="../tags/tag211.xml"/><Relationship Id="rId50" Type="http://schemas.openxmlformats.org/officeDocument/2006/relationships/tags" Target="../tags/tag214.xml"/><Relationship Id="rId55" Type="http://schemas.openxmlformats.org/officeDocument/2006/relationships/oleObject" Target="../embeddings/oleObject28.bin"/><Relationship Id="rId7" Type="http://schemas.openxmlformats.org/officeDocument/2006/relationships/tags" Target="../tags/tag171.xml"/><Relationship Id="rId2" Type="http://schemas.openxmlformats.org/officeDocument/2006/relationships/tags" Target="../tags/tag166.xml"/><Relationship Id="rId16" Type="http://schemas.openxmlformats.org/officeDocument/2006/relationships/tags" Target="../tags/tag180.xml"/><Relationship Id="rId29" Type="http://schemas.openxmlformats.org/officeDocument/2006/relationships/tags" Target="../tags/tag193.xml"/><Relationship Id="rId11" Type="http://schemas.openxmlformats.org/officeDocument/2006/relationships/tags" Target="../tags/tag175.xml"/><Relationship Id="rId24" Type="http://schemas.openxmlformats.org/officeDocument/2006/relationships/tags" Target="../tags/tag188.xml"/><Relationship Id="rId32" Type="http://schemas.openxmlformats.org/officeDocument/2006/relationships/tags" Target="../tags/tag196.xml"/><Relationship Id="rId37" Type="http://schemas.openxmlformats.org/officeDocument/2006/relationships/tags" Target="../tags/tag201.xml"/><Relationship Id="rId40" Type="http://schemas.openxmlformats.org/officeDocument/2006/relationships/tags" Target="../tags/tag204.xml"/><Relationship Id="rId45" Type="http://schemas.openxmlformats.org/officeDocument/2006/relationships/tags" Target="../tags/tag209.xml"/><Relationship Id="rId53" Type="http://schemas.openxmlformats.org/officeDocument/2006/relationships/slideLayout" Target="../slideLayouts/slideLayout30.xml"/><Relationship Id="rId5" Type="http://schemas.openxmlformats.org/officeDocument/2006/relationships/tags" Target="../tags/tag169.xml"/><Relationship Id="rId10" Type="http://schemas.openxmlformats.org/officeDocument/2006/relationships/tags" Target="../tags/tag174.xml"/><Relationship Id="rId19" Type="http://schemas.openxmlformats.org/officeDocument/2006/relationships/tags" Target="../tags/tag183.xml"/><Relationship Id="rId31" Type="http://schemas.openxmlformats.org/officeDocument/2006/relationships/tags" Target="../tags/tag195.xml"/><Relationship Id="rId44" Type="http://schemas.openxmlformats.org/officeDocument/2006/relationships/tags" Target="../tags/tag208.xml"/><Relationship Id="rId52" Type="http://schemas.openxmlformats.org/officeDocument/2006/relationships/tags" Target="../tags/tag216.xml"/><Relationship Id="rId4" Type="http://schemas.openxmlformats.org/officeDocument/2006/relationships/tags" Target="../tags/tag168.xml"/><Relationship Id="rId9" Type="http://schemas.openxmlformats.org/officeDocument/2006/relationships/tags" Target="../tags/tag173.xml"/><Relationship Id="rId14" Type="http://schemas.openxmlformats.org/officeDocument/2006/relationships/tags" Target="../tags/tag178.xml"/><Relationship Id="rId22" Type="http://schemas.openxmlformats.org/officeDocument/2006/relationships/tags" Target="../tags/tag186.xml"/><Relationship Id="rId27" Type="http://schemas.openxmlformats.org/officeDocument/2006/relationships/tags" Target="../tags/tag191.xml"/><Relationship Id="rId30" Type="http://schemas.openxmlformats.org/officeDocument/2006/relationships/tags" Target="../tags/tag194.xml"/><Relationship Id="rId35" Type="http://schemas.openxmlformats.org/officeDocument/2006/relationships/tags" Target="../tags/tag199.xml"/><Relationship Id="rId43" Type="http://schemas.openxmlformats.org/officeDocument/2006/relationships/tags" Target="../tags/tag207.xml"/><Relationship Id="rId48" Type="http://schemas.openxmlformats.org/officeDocument/2006/relationships/tags" Target="../tags/tag212.xml"/><Relationship Id="rId56" Type="http://schemas.openxmlformats.org/officeDocument/2006/relationships/image" Target="../media/image51.emf"/><Relationship Id="rId8" Type="http://schemas.openxmlformats.org/officeDocument/2006/relationships/tags" Target="../tags/tag172.xml"/><Relationship Id="rId51" Type="http://schemas.openxmlformats.org/officeDocument/2006/relationships/tags" Target="../tags/tag215.xml"/><Relationship Id="rId3" Type="http://schemas.openxmlformats.org/officeDocument/2006/relationships/tags" Target="../tags/tag167.xml"/><Relationship Id="rId12" Type="http://schemas.openxmlformats.org/officeDocument/2006/relationships/tags" Target="../tags/tag176.xml"/><Relationship Id="rId17" Type="http://schemas.openxmlformats.org/officeDocument/2006/relationships/tags" Target="../tags/tag181.xml"/><Relationship Id="rId25" Type="http://schemas.openxmlformats.org/officeDocument/2006/relationships/tags" Target="../tags/tag189.xml"/><Relationship Id="rId33" Type="http://schemas.openxmlformats.org/officeDocument/2006/relationships/tags" Target="../tags/tag197.xml"/><Relationship Id="rId38" Type="http://schemas.openxmlformats.org/officeDocument/2006/relationships/tags" Target="../tags/tag202.xml"/><Relationship Id="rId46" Type="http://schemas.openxmlformats.org/officeDocument/2006/relationships/tags" Target="../tags/tag210.xml"/><Relationship Id="rId20" Type="http://schemas.openxmlformats.org/officeDocument/2006/relationships/tags" Target="../tags/tag184.xml"/><Relationship Id="rId41" Type="http://schemas.openxmlformats.org/officeDocument/2006/relationships/tags" Target="../tags/tag205.xml"/><Relationship Id="rId54" Type="http://schemas.openxmlformats.org/officeDocument/2006/relationships/notesSlide" Target="../notesSlides/notesSlide14.xml"/><Relationship Id="rId1" Type="http://schemas.openxmlformats.org/officeDocument/2006/relationships/tags" Target="../tags/tag165.xml"/><Relationship Id="rId6" Type="http://schemas.openxmlformats.org/officeDocument/2006/relationships/tags" Target="../tags/tag170.xml"/><Relationship Id="rId15" Type="http://schemas.openxmlformats.org/officeDocument/2006/relationships/tags" Target="../tags/tag179.xml"/><Relationship Id="rId23" Type="http://schemas.openxmlformats.org/officeDocument/2006/relationships/tags" Target="../tags/tag187.xml"/><Relationship Id="rId28" Type="http://schemas.openxmlformats.org/officeDocument/2006/relationships/tags" Target="../tags/tag192.xml"/><Relationship Id="rId36" Type="http://schemas.openxmlformats.org/officeDocument/2006/relationships/tags" Target="../tags/tag200.xml"/><Relationship Id="rId49" Type="http://schemas.openxmlformats.org/officeDocument/2006/relationships/tags" Target="../tags/tag213.xml"/></Relationships>
</file>

<file path=ppt/slides/_rels/slide17.xml.rels><?xml version="1.0" encoding="UTF-8" standalone="yes"?>
<Relationships xmlns="http://schemas.openxmlformats.org/package/2006/relationships"><Relationship Id="rId8" Type="http://schemas.openxmlformats.org/officeDocument/2006/relationships/tags" Target="../tags/tag224.xml"/><Relationship Id="rId3" Type="http://schemas.openxmlformats.org/officeDocument/2006/relationships/tags" Target="../tags/tag219.xml"/><Relationship Id="rId7" Type="http://schemas.openxmlformats.org/officeDocument/2006/relationships/tags" Target="../tags/tag223.xml"/><Relationship Id="rId12" Type="http://schemas.openxmlformats.org/officeDocument/2006/relationships/image" Target="../media/image13.emf"/><Relationship Id="rId2" Type="http://schemas.openxmlformats.org/officeDocument/2006/relationships/tags" Target="../tags/tag218.xml"/><Relationship Id="rId1" Type="http://schemas.openxmlformats.org/officeDocument/2006/relationships/tags" Target="../tags/tag217.xml"/><Relationship Id="rId6" Type="http://schemas.openxmlformats.org/officeDocument/2006/relationships/tags" Target="../tags/tag222.xml"/><Relationship Id="rId11" Type="http://schemas.openxmlformats.org/officeDocument/2006/relationships/oleObject" Target="../embeddings/oleObject29.bin"/><Relationship Id="rId5" Type="http://schemas.openxmlformats.org/officeDocument/2006/relationships/tags" Target="../tags/tag221.xml"/><Relationship Id="rId10" Type="http://schemas.openxmlformats.org/officeDocument/2006/relationships/notesSlide" Target="../notesSlides/notesSlide15.xml"/><Relationship Id="rId4" Type="http://schemas.openxmlformats.org/officeDocument/2006/relationships/tags" Target="../tags/tag220.xml"/><Relationship Id="rId9" Type="http://schemas.openxmlformats.org/officeDocument/2006/relationships/slideLayout" Target="../slideLayouts/slideLayout30.xml"/></Relationships>
</file>

<file path=ppt/slides/_rels/slide18.xml.rels><?xml version="1.0" encoding="UTF-8" standalone="yes"?>
<Relationships xmlns="http://schemas.openxmlformats.org/package/2006/relationships"><Relationship Id="rId3" Type="http://schemas.openxmlformats.org/officeDocument/2006/relationships/slideLayout" Target="../slideLayouts/slideLayout30.xml"/><Relationship Id="rId2" Type="http://schemas.openxmlformats.org/officeDocument/2006/relationships/tags" Target="../tags/tag226.xml"/><Relationship Id="rId1" Type="http://schemas.openxmlformats.org/officeDocument/2006/relationships/tags" Target="../tags/tag225.xml"/><Relationship Id="rId6" Type="http://schemas.openxmlformats.org/officeDocument/2006/relationships/image" Target="../media/image13.emf"/><Relationship Id="rId5" Type="http://schemas.openxmlformats.org/officeDocument/2006/relationships/oleObject" Target="../embeddings/oleObject30.bin"/><Relationship Id="rId4" Type="http://schemas.openxmlformats.org/officeDocument/2006/relationships/notesSlide" Target="../notesSlides/notesSlide16.xml"/></Relationships>
</file>

<file path=ppt/slides/_rels/slide19.xml.rels><?xml version="1.0" encoding="UTF-8" standalone="yes"?>
<Relationships xmlns="http://schemas.openxmlformats.org/package/2006/relationships"><Relationship Id="rId8" Type="http://schemas.openxmlformats.org/officeDocument/2006/relationships/oleObject" Target="../embeddings/oleObject31.bin"/><Relationship Id="rId3" Type="http://schemas.openxmlformats.org/officeDocument/2006/relationships/tags" Target="../tags/tag229.xml"/><Relationship Id="rId7" Type="http://schemas.openxmlformats.org/officeDocument/2006/relationships/notesSlide" Target="../notesSlides/notesSlide17.xml"/><Relationship Id="rId2" Type="http://schemas.openxmlformats.org/officeDocument/2006/relationships/tags" Target="../tags/tag228.xml"/><Relationship Id="rId1" Type="http://schemas.openxmlformats.org/officeDocument/2006/relationships/tags" Target="../tags/tag227.xml"/><Relationship Id="rId6" Type="http://schemas.openxmlformats.org/officeDocument/2006/relationships/slideLayout" Target="../slideLayouts/slideLayout30.xml"/><Relationship Id="rId5" Type="http://schemas.openxmlformats.org/officeDocument/2006/relationships/tags" Target="../tags/tag231.xml"/><Relationship Id="rId4" Type="http://schemas.openxmlformats.org/officeDocument/2006/relationships/tags" Target="../tags/tag230.xml"/><Relationship Id="rId9" Type="http://schemas.openxmlformats.org/officeDocument/2006/relationships/image" Target="../media/image13.emf"/></Relationships>
</file>

<file path=ppt/slides/_rels/slide20.xml.rels><?xml version="1.0" encoding="UTF-8" standalone="yes"?>
<Relationships xmlns="http://schemas.openxmlformats.org/package/2006/relationships"><Relationship Id="rId8" Type="http://schemas.openxmlformats.org/officeDocument/2006/relationships/image" Target="../media/image58.png"/><Relationship Id="rId3" Type="http://schemas.openxmlformats.org/officeDocument/2006/relationships/tags" Target="../tags/tag234.xml"/><Relationship Id="rId7" Type="http://schemas.openxmlformats.org/officeDocument/2006/relationships/image" Target="../media/image47.emf"/><Relationship Id="rId2" Type="http://schemas.openxmlformats.org/officeDocument/2006/relationships/tags" Target="../tags/tag233.xml"/><Relationship Id="rId1" Type="http://schemas.openxmlformats.org/officeDocument/2006/relationships/tags" Target="../tags/tag232.xml"/><Relationship Id="rId6" Type="http://schemas.openxmlformats.org/officeDocument/2006/relationships/oleObject" Target="../embeddings/oleObject32.bin"/><Relationship Id="rId11" Type="http://schemas.openxmlformats.org/officeDocument/2006/relationships/image" Target="../media/image61.png"/><Relationship Id="rId5" Type="http://schemas.openxmlformats.org/officeDocument/2006/relationships/notesSlide" Target="../notesSlides/notesSlide18.xml"/><Relationship Id="rId10" Type="http://schemas.openxmlformats.org/officeDocument/2006/relationships/image" Target="../media/image60.png"/><Relationship Id="rId4" Type="http://schemas.openxmlformats.org/officeDocument/2006/relationships/slideLayout" Target="../slideLayouts/slideLayout30.xml"/><Relationship Id="rId9" Type="http://schemas.openxmlformats.org/officeDocument/2006/relationships/image" Target="../media/image59.png"/></Relationships>
</file>

<file path=ppt/slides/_rels/slide21.xml.rels><?xml version="1.0" encoding="UTF-8" standalone="yes"?>
<Relationships xmlns="http://schemas.openxmlformats.org/package/2006/relationships"><Relationship Id="rId3" Type="http://schemas.openxmlformats.org/officeDocument/2006/relationships/tags" Target="../tags/tag237.xml"/><Relationship Id="rId7" Type="http://schemas.openxmlformats.org/officeDocument/2006/relationships/image" Target="../media/image47.emf"/><Relationship Id="rId2" Type="http://schemas.openxmlformats.org/officeDocument/2006/relationships/tags" Target="../tags/tag236.xml"/><Relationship Id="rId1" Type="http://schemas.openxmlformats.org/officeDocument/2006/relationships/tags" Target="../tags/tag235.xml"/><Relationship Id="rId6" Type="http://schemas.openxmlformats.org/officeDocument/2006/relationships/oleObject" Target="../embeddings/oleObject33.bin"/><Relationship Id="rId5" Type="http://schemas.openxmlformats.org/officeDocument/2006/relationships/notesSlide" Target="../notesSlides/notesSlide19.xml"/><Relationship Id="rId4" Type="http://schemas.openxmlformats.org/officeDocument/2006/relationships/slideLayout" Target="../slideLayouts/slideLayout30.xml"/></Relationships>
</file>

<file path=ppt/slides/_rels/slide22.xml.rels><?xml version="1.0" encoding="UTF-8" standalone="yes"?>
<Relationships xmlns="http://schemas.openxmlformats.org/package/2006/relationships"><Relationship Id="rId3" Type="http://schemas.openxmlformats.org/officeDocument/2006/relationships/tags" Target="../tags/tag240.xml"/><Relationship Id="rId7" Type="http://schemas.openxmlformats.org/officeDocument/2006/relationships/image" Target="../media/image13.emf"/><Relationship Id="rId2" Type="http://schemas.openxmlformats.org/officeDocument/2006/relationships/tags" Target="../tags/tag239.xml"/><Relationship Id="rId1" Type="http://schemas.openxmlformats.org/officeDocument/2006/relationships/tags" Target="../tags/tag238.xml"/><Relationship Id="rId6" Type="http://schemas.openxmlformats.org/officeDocument/2006/relationships/oleObject" Target="../embeddings/oleObject21.bin"/><Relationship Id="rId5" Type="http://schemas.openxmlformats.org/officeDocument/2006/relationships/notesSlide" Target="../notesSlides/notesSlide20.xml"/><Relationship Id="rId4" Type="http://schemas.openxmlformats.org/officeDocument/2006/relationships/slideLayout" Target="../slideLayouts/slideLayout30.xml"/></Relationships>
</file>

<file path=ppt/slides/_rels/slide23.xml.rels><?xml version="1.0" encoding="UTF-8" standalone="yes"?>
<Relationships xmlns="http://schemas.openxmlformats.org/package/2006/relationships"><Relationship Id="rId8" Type="http://schemas.openxmlformats.org/officeDocument/2006/relationships/tags" Target="../tags/tag248.xml"/><Relationship Id="rId13" Type="http://schemas.openxmlformats.org/officeDocument/2006/relationships/tags" Target="../tags/tag253.xml"/><Relationship Id="rId18" Type="http://schemas.openxmlformats.org/officeDocument/2006/relationships/notesSlide" Target="../notesSlides/notesSlide21.xml"/><Relationship Id="rId3" Type="http://schemas.openxmlformats.org/officeDocument/2006/relationships/tags" Target="../tags/tag243.xml"/><Relationship Id="rId21" Type="http://schemas.openxmlformats.org/officeDocument/2006/relationships/chart" Target="../charts/chart3.xml"/><Relationship Id="rId7" Type="http://schemas.openxmlformats.org/officeDocument/2006/relationships/tags" Target="../tags/tag247.xml"/><Relationship Id="rId12" Type="http://schemas.openxmlformats.org/officeDocument/2006/relationships/tags" Target="../tags/tag252.xml"/><Relationship Id="rId17" Type="http://schemas.openxmlformats.org/officeDocument/2006/relationships/slideLayout" Target="../slideLayouts/slideLayout37.xml"/><Relationship Id="rId2" Type="http://schemas.openxmlformats.org/officeDocument/2006/relationships/tags" Target="../tags/tag242.xml"/><Relationship Id="rId16" Type="http://schemas.openxmlformats.org/officeDocument/2006/relationships/tags" Target="../tags/tag256.xml"/><Relationship Id="rId20" Type="http://schemas.openxmlformats.org/officeDocument/2006/relationships/image" Target="../media/image13.emf"/><Relationship Id="rId1" Type="http://schemas.openxmlformats.org/officeDocument/2006/relationships/tags" Target="../tags/tag241.xml"/><Relationship Id="rId6" Type="http://schemas.openxmlformats.org/officeDocument/2006/relationships/tags" Target="../tags/tag246.xml"/><Relationship Id="rId11" Type="http://schemas.openxmlformats.org/officeDocument/2006/relationships/tags" Target="../tags/tag251.xml"/><Relationship Id="rId5" Type="http://schemas.openxmlformats.org/officeDocument/2006/relationships/tags" Target="../tags/tag245.xml"/><Relationship Id="rId15" Type="http://schemas.openxmlformats.org/officeDocument/2006/relationships/tags" Target="../tags/tag255.xml"/><Relationship Id="rId10" Type="http://schemas.openxmlformats.org/officeDocument/2006/relationships/tags" Target="../tags/tag250.xml"/><Relationship Id="rId19" Type="http://schemas.openxmlformats.org/officeDocument/2006/relationships/oleObject" Target="../embeddings/oleObject34.bin"/><Relationship Id="rId4" Type="http://schemas.openxmlformats.org/officeDocument/2006/relationships/tags" Target="../tags/tag244.xml"/><Relationship Id="rId9" Type="http://schemas.openxmlformats.org/officeDocument/2006/relationships/tags" Target="../tags/tag249.xml"/><Relationship Id="rId14" Type="http://schemas.openxmlformats.org/officeDocument/2006/relationships/tags" Target="../tags/tag254.xml"/></Relationships>
</file>

<file path=ppt/slides/_rels/slide24.xml.rels><?xml version="1.0" encoding="UTF-8" standalone="yes"?>
<Relationships xmlns="http://schemas.openxmlformats.org/package/2006/relationships"><Relationship Id="rId8" Type="http://schemas.openxmlformats.org/officeDocument/2006/relationships/tags" Target="../tags/tag264.xml"/><Relationship Id="rId13" Type="http://schemas.openxmlformats.org/officeDocument/2006/relationships/notesSlide" Target="../notesSlides/notesSlide22.xml"/><Relationship Id="rId3" Type="http://schemas.openxmlformats.org/officeDocument/2006/relationships/tags" Target="../tags/tag259.xml"/><Relationship Id="rId7" Type="http://schemas.openxmlformats.org/officeDocument/2006/relationships/tags" Target="../tags/tag263.xml"/><Relationship Id="rId12" Type="http://schemas.openxmlformats.org/officeDocument/2006/relationships/slideLayout" Target="../slideLayouts/slideLayout30.xml"/><Relationship Id="rId2" Type="http://schemas.openxmlformats.org/officeDocument/2006/relationships/tags" Target="../tags/tag258.xml"/><Relationship Id="rId16" Type="http://schemas.openxmlformats.org/officeDocument/2006/relationships/image" Target="../media/image62.png"/><Relationship Id="rId1" Type="http://schemas.openxmlformats.org/officeDocument/2006/relationships/tags" Target="../tags/tag257.xml"/><Relationship Id="rId6" Type="http://schemas.openxmlformats.org/officeDocument/2006/relationships/tags" Target="../tags/tag262.xml"/><Relationship Id="rId11" Type="http://schemas.openxmlformats.org/officeDocument/2006/relationships/tags" Target="../tags/tag267.xml"/><Relationship Id="rId5" Type="http://schemas.openxmlformats.org/officeDocument/2006/relationships/tags" Target="../tags/tag261.xml"/><Relationship Id="rId15" Type="http://schemas.openxmlformats.org/officeDocument/2006/relationships/image" Target="../media/image13.emf"/><Relationship Id="rId10" Type="http://schemas.openxmlformats.org/officeDocument/2006/relationships/tags" Target="../tags/tag266.xml"/><Relationship Id="rId4" Type="http://schemas.openxmlformats.org/officeDocument/2006/relationships/tags" Target="../tags/tag260.xml"/><Relationship Id="rId9" Type="http://schemas.openxmlformats.org/officeDocument/2006/relationships/tags" Target="../tags/tag265.xml"/><Relationship Id="rId14" Type="http://schemas.openxmlformats.org/officeDocument/2006/relationships/oleObject" Target="../embeddings/oleObject35.bin"/></Relationships>
</file>

<file path=ppt/slides/_rels/slide25.xml.rels><?xml version="1.0" encoding="UTF-8" standalone="yes"?>
<Relationships xmlns="http://schemas.openxmlformats.org/package/2006/relationships"><Relationship Id="rId8" Type="http://schemas.openxmlformats.org/officeDocument/2006/relationships/notesSlide" Target="../notesSlides/notesSlide23.xml"/><Relationship Id="rId3" Type="http://schemas.openxmlformats.org/officeDocument/2006/relationships/tags" Target="../tags/tag270.xml"/><Relationship Id="rId7" Type="http://schemas.openxmlformats.org/officeDocument/2006/relationships/slideLayout" Target="../slideLayouts/slideLayout30.xml"/><Relationship Id="rId12" Type="http://schemas.openxmlformats.org/officeDocument/2006/relationships/image" Target="../media/image64.png"/><Relationship Id="rId2" Type="http://schemas.openxmlformats.org/officeDocument/2006/relationships/tags" Target="../tags/tag269.xml"/><Relationship Id="rId1" Type="http://schemas.openxmlformats.org/officeDocument/2006/relationships/tags" Target="../tags/tag268.xml"/><Relationship Id="rId6" Type="http://schemas.openxmlformats.org/officeDocument/2006/relationships/tags" Target="../tags/tag273.xml"/><Relationship Id="rId11" Type="http://schemas.openxmlformats.org/officeDocument/2006/relationships/image" Target="../media/image63.png"/><Relationship Id="rId5" Type="http://schemas.openxmlformats.org/officeDocument/2006/relationships/tags" Target="../tags/tag272.xml"/><Relationship Id="rId10" Type="http://schemas.openxmlformats.org/officeDocument/2006/relationships/image" Target="../media/image13.emf"/><Relationship Id="rId4" Type="http://schemas.openxmlformats.org/officeDocument/2006/relationships/tags" Target="../tags/tag271.xml"/><Relationship Id="rId9" Type="http://schemas.openxmlformats.org/officeDocument/2006/relationships/oleObject" Target="../embeddings/oleObject36.bin"/></Relationships>
</file>

<file path=ppt/slides/_rels/slide26.xml.rels><?xml version="1.0" encoding="UTF-8" standalone="yes"?>
<Relationships xmlns="http://schemas.openxmlformats.org/package/2006/relationships"><Relationship Id="rId8" Type="http://schemas.openxmlformats.org/officeDocument/2006/relationships/oleObject" Target="../embeddings/oleObject37.bin"/><Relationship Id="rId3" Type="http://schemas.openxmlformats.org/officeDocument/2006/relationships/tags" Target="../tags/tag276.xml"/><Relationship Id="rId7" Type="http://schemas.openxmlformats.org/officeDocument/2006/relationships/notesSlide" Target="../notesSlides/notesSlide24.xml"/><Relationship Id="rId2" Type="http://schemas.openxmlformats.org/officeDocument/2006/relationships/tags" Target="../tags/tag275.xml"/><Relationship Id="rId1" Type="http://schemas.openxmlformats.org/officeDocument/2006/relationships/tags" Target="../tags/tag274.xml"/><Relationship Id="rId6" Type="http://schemas.openxmlformats.org/officeDocument/2006/relationships/slideLayout" Target="../slideLayouts/slideLayout30.xml"/><Relationship Id="rId5" Type="http://schemas.openxmlformats.org/officeDocument/2006/relationships/tags" Target="../tags/tag278.xml"/><Relationship Id="rId4" Type="http://schemas.openxmlformats.org/officeDocument/2006/relationships/tags" Target="../tags/tag277.xml"/><Relationship Id="rId9" Type="http://schemas.openxmlformats.org/officeDocument/2006/relationships/image" Target="../media/image65.emf"/></Relationships>
</file>

<file path=ppt/slides/_rels/slide27.xml.rels><?xml version="1.0" encoding="UTF-8" standalone="yes"?>
<Relationships xmlns="http://schemas.openxmlformats.org/package/2006/relationships"><Relationship Id="rId8" Type="http://schemas.openxmlformats.org/officeDocument/2006/relationships/image" Target="../media/image66.png"/><Relationship Id="rId3" Type="http://schemas.openxmlformats.org/officeDocument/2006/relationships/tags" Target="../tags/tag281.xml"/><Relationship Id="rId7" Type="http://schemas.openxmlformats.org/officeDocument/2006/relationships/image" Target="../media/image12.emf"/><Relationship Id="rId2" Type="http://schemas.openxmlformats.org/officeDocument/2006/relationships/tags" Target="../tags/tag280.xml"/><Relationship Id="rId1" Type="http://schemas.openxmlformats.org/officeDocument/2006/relationships/tags" Target="../tags/tag279.xml"/><Relationship Id="rId6" Type="http://schemas.openxmlformats.org/officeDocument/2006/relationships/oleObject" Target="../embeddings/oleObject21.bin"/><Relationship Id="rId5" Type="http://schemas.openxmlformats.org/officeDocument/2006/relationships/notesSlide" Target="../notesSlides/notesSlide25.xml"/><Relationship Id="rId4" Type="http://schemas.openxmlformats.org/officeDocument/2006/relationships/slideLayout" Target="../slideLayouts/slideLayout30.xml"/><Relationship Id="rId9" Type="http://schemas.openxmlformats.org/officeDocument/2006/relationships/image" Target="../media/image67.png"/></Relationships>
</file>

<file path=ppt/slides/_rels/slide28.xml.rels><?xml version="1.0" encoding="UTF-8" standalone="yes"?>
<Relationships xmlns="http://schemas.openxmlformats.org/package/2006/relationships"><Relationship Id="rId8" Type="http://schemas.openxmlformats.org/officeDocument/2006/relationships/image" Target="../media/image67.png"/><Relationship Id="rId3" Type="http://schemas.openxmlformats.org/officeDocument/2006/relationships/slideLayout" Target="../slideLayouts/slideLayout30.xml"/><Relationship Id="rId7" Type="http://schemas.openxmlformats.org/officeDocument/2006/relationships/image" Target="../media/image66.png"/><Relationship Id="rId2" Type="http://schemas.openxmlformats.org/officeDocument/2006/relationships/tags" Target="../tags/tag283.xml"/><Relationship Id="rId1" Type="http://schemas.openxmlformats.org/officeDocument/2006/relationships/tags" Target="../tags/tag282.xml"/><Relationship Id="rId6" Type="http://schemas.openxmlformats.org/officeDocument/2006/relationships/image" Target="../media/image12.emf"/><Relationship Id="rId5" Type="http://schemas.openxmlformats.org/officeDocument/2006/relationships/oleObject" Target="../embeddings/oleObject21.bin"/><Relationship Id="rId4" Type="http://schemas.openxmlformats.org/officeDocument/2006/relationships/notesSlide" Target="../notesSlides/notesSlide26.xml"/></Relationships>
</file>

<file path=ppt/slides/_rels/slide29.xml.rels><?xml version="1.0" encoding="UTF-8" standalone="yes"?>
<Relationships xmlns="http://schemas.openxmlformats.org/package/2006/relationships"><Relationship Id="rId3" Type="http://schemas.openxmlformats.org/officeDocument/2006/relationships/notesSlide" Target="../notesSlides/notesSlide27.xml"/><Relationship Id="rId2" Type="http://schemas.openxmlformats.org/officeDocument/2006/relationships/slideLayout" Target="../slideLayouts/slideLayout5.xml"/><Relationship Id="rId1" Type="http://schemas.openxmlformats.org/officeDocument/2006/relationships/tags" Target="../tags/tag284.xml"/><Relationship Id="rId5" Type="http://schemas.openxmlformats.org/officeDocument/2006/relationships/image" Target="../media/image13.emf"/><Relationship Id="rId4" Type="http://schemas.openxmlformats.org/officeDocument/2006/relationships/oleObject" Target="../embeddings/oleObject38.bin"/></Relationships>
</file>

<file path=ppt/slides/_rels/slide30.xml.rels><?xml version="1.0" encoding="UTF-8" standalone="yes"?>
<Relationships xmlns="http://schemas.openxmlformats.org/package/2006/relationships"><Relationship Id="rId3" Type="http://schemas.openxmlformats.org/officeDocument/2006/relationships/notesSlide" Target="../notesSlides/notesSlide28.xml"/><Relationship Id="rId2" Type="http://schemas.openxmlformats.org/officeDocument/2006/relationships/slideLayout" Target="../slideLayouts/slideLayout30.xml"/><Relationship Id="rId1" Type="http://schemas.openxmlformats.org/officeDocument/2006/relationships/tags" Target="../tags/tag285.xml"/><Relationship Id="rId5" Type="http://schemas.openxmlformats.org/officeDocument/2006/relationships/image" Target="../media/image13.emf"/><Relationship Id="rId4" Type="http://schemas.openxmlformats.org/officeDocument/2006/relationships/oleObject" Target="../embeddings/oleObject21.bin"/></Relationships>
</file>

<file path=ppt/slides/_rels/slide31.xml.rels><?xml version="1.0" encoding="UTF-8" standalone="yes"?>
<Relationships xmlns="http://schemas.openxmlformats.org/package/2006/relationships"><Relationship Id="rId3" Type="http://schemas.openxmlformats.org/officeDocument/2006/relationships/notesSlide" Target="../notesSlides/notesSlide29.xml"/><Relationship Id="rId7" Type="http://schemas.openxmlformats.org/officeDocument/2006/relationships/image" Target="../media/image45.emf"/><Relationship Id="rId2" Type="http://schemas.openxmlformats.org/officeDocument/2006/relationships/slideLayout" Target="../slideLayouts/slideLayout30.xml"/><Relationship Id="rId1" Type="http://schemas.openxmlformats.org/officeDocument/2006/relationships/tags" Target="../tags/tag286.xml"/><Relationship Id="rId6" Type="http://schemas.openxmlformats.org/officeDocument/2006/relationships/image" Target="../media/image50.gif"/><Relationship Id="rId5" Type="http://schemas.openxmlformats.org/officeDocument/2006/relationships/image" Target="../media/image68.emf"/><Relationship Id="rId4" Type="http://schemas.openxmlformats.org/officeDocument/2006/relationships/oleObject" Target="../embeddings/oleObject21.bin"/></Relationships>
</file>

<file path=ppt/slides/_rels/slide32.xml.rels><?xml version="1.0" encoding="UTF-8" standalone="yes"?>
<Relationships xmlns="http://schemas.openxmlformats.org/package/2006/relationships"><Relationship Id="rId3" Type="http://schemas.openxmlformats.org/officeDocument/2006/relationships/notesSlide" Target="../notesSlides/notesSlide30.xml"/><Relationship Id="rId7" Type="http://schemas.openxmlformats.org/officeDocument/2006/relationships/image" Target="../media/image45.emf"/><Relationship Id="rId2" Type="http://schemas.openxmlformats.org/officeDocument/2006/relationships/slideLayout" Target="../slideLayouts/slideLayout30.xml"/><Relationship Id="rId1" Type="http://schemas.openxmlformats.org/officeDocument/2006/relationships/tags" Target="../tags/tag287.xml"/><Relationship Id="rId6" Type="http://schemas.openxmlformats.org/officeDocument/2006/relationships/image" Target="../media/image50.gif"/><Relationship Id="rId5" Type="http://schemas.openxmlformats.org/officeDocument/2006/relationships/image" Target="../media/image69.emf"/><Relationship Id="rId4" Type="http://schemas.openxmlformats.org/officeDocument/2006/relationships/oleObject" Target="../embeddings/oleObject21.bin"/></Relationships>
</file>

<file path=ppt/slides/_rels/slide33.xml.rels><?xml version="1.0" encoding="UTF-8" standalone="yes"?>
<Relationships xmlns="http://schemas.openxmlformats.org/package/2006/relationships"><Relationship Id="rId8" Type="http://schemas.openxmlformats.org/officeDocument/2006/relationships/tags" Target="../tags/tag295.xml"/><Relationship Id="rId13" Type="http://schemas.openxmlformats.org/officeDocument/2006/relationships/tags" Target="../tags/tag300.xml"/><Relationship Id="rId18" Type="http://schemas.openxmlformats.org/officeDocument/2006/relationships/image" Target="../media/image13.emf"/><Relationship Id="rId3" Type="http://schemas.openxmlformats.org/officeDocument/2006/relationships/tags" Target="../tags/tag290.xml"/><Relationship Id="rId7" Type="http://schemas.openxmlformats.org/officeDocument/2006/relationships/tags" Target="../tags/tag294.xml"/><Relationship Id="rId12" Type="http://schemas.openxmlformats.org/officeDocument/2006/relationships/tags" Target="../tags/tag299.xml"/><Relationship Id="rId17" Type="http://schemas.openxmlformats.org/officeDocument/2006/relationships/oleObject" Target="../embeddings/oleObject39.bin"/><Relationship Id="rId2" Type="http://schemas.openxmlformats.org/officeDocument/2006/relationships/tags" Target="../tags/tag289.xml"/><Relationship Id="rId16" Type="http://schemas.openxmlformats.org/officeDocument/2006/relationships/notesSlide" Target="../notesSlides/notesSlide31.xml"/><Relationship Id="rId1" Type="http://schemas.openxmlformats.org/officeDocument/2006/relationships/tags" Target="../tags/tag288.xml"/><Relationship Id="rId6" Type="http://schemas.openxmlformats.org/officeDocument/2006/relationships/tags" Target="../tags/tag293.xml"/><Relationship Id="rId11" Type="http://schemas.openxmlformats.org/officeDocument/2006/relationships/tags" Target="../tags/tag298.xml"/><Relationship Id="rId5" Type="http://schemas.openxmlformats.org/officeDocument/2006/relationships/tags" Target="../tags/tag292.xml"/><Relationship Id="rId15" Type="http://schemas.openxmlformats.org/officeDocument/2006/relationships/slideLayout" Target="../slideLayouts/slideLayout30.xml"/><Relationship Id="rId10" Type="http://schemas.openxmlformats.org/officeDocument/2006/relationships/tags" Target="../tags/tag297.xml"/><Relationship Id="rId19" Type="http://schemas.openxmlformats.org/officeDocument/2006/relationships/chart" Target="../charts/chart4.xml"/><Relationship Id="rId4" Type="http://schemas.openxmlformats.org/officeDocument/2006/relationships/tags" Target="../tags/tag291.xml"/><Relationship Id="rId9" Type="http://schemas.openxmlformats.org/officeDocument/2006/relationships/tags" Target="../tags/tag296.xml"/><Relationship Id="rId14" Type="http://schemas.openxmlformats.org/officeDocument/2006/relationships/tags" Target="../tags/tag301.xml"/></Relationships>
</file>

<file path=ppt/slides/_rels/slide34.xml.rels><?xml version="1.0" encoding="UTF-8" standalone="yes"?>
<Relationships xmlns="http://schemas.openxmlformats.org/package/2006/relationships"><Relationship Id="rId8" Type="http://schemas.openxmlformats.org/officeDocument/2006/relationships/tags" Target="../tags/tag309.xml"/><Relationship Id="rId13" Type="http://schemas.openxmlformats.org/officeDocument/2006/relationships/tags" Target="../tags/tag314.xml"/><Relationship Id="rId18" Type="http://schemas.openxmlformats.org/officeDocument/2006/relationships/notesSlide" Target="../notesSlides/notesSlide32.xml"/><Relationship Id="rId3" Type="http://schemas.openxmlformats.org/officeDocument/2006/relationships/tags" Target="../tags/tag304.xml"/><Relationship Id="rId21" Type="http://schemas.openxmlformats.org/officeDocument/2006/relationships/image" Target="../media/image70.png"/><Relationship Id="rId7" Type="http://schemas.openxmlformats.org/officeDocument/2006/relationships/tags" Target="../tags/tag308.xml"/><Relationship Id="rId12" Type="http://schemas.openxmlformats.org/officeDocument/2006/relationships/tags" Target="../tags/tag313.xml"/><Relationship Id="rId17" Type="http://schemas.openxmlformats.org/officeDocument/2006/relationships/slideLayout" Target="../slideLayouts/slideLayout30.xml"/><Relationship Id="rId2" Type="http://schemas.openxmlformats.org/officeDocument/2006/relationships/tags" Target="../tags/tag303.xml"/><Relationship Id="rId16" Type="http://schemas.openxmlformats.org/officeDocument/2006/relationships/tags" Target="../tags/tag317.xml"/><Relationship Id="rId20" Type="http://schemas.openxmlformats.org/officeDocument/2006/relationships/image" Target="../media/image44.emf"/><Relationship Id="rId1" Type="http://schemas.openxmlformats.org/officeDocument/2006/relationships/tags" Target="../tags/tag302.xml"/><Relationship Id="rId6" Type="http://schemas.openxmlformats.org/officeDocument/2006/relationships/tags" Target="../tags/tag307.xml"/><Relationship Id="rId11" Type="http://schemas.openxmlformats.org/officeDocument/2006/relationships/tags" Target="../tags/tag312.xml"/><Relationship Id="rId5" Type="http://schemas.openxmlformats.org/officeDocument/2006/relationships/tags" Target="../tags/tag306.xml"/><Relationship Id="rId15" Type="http://schemas.openxmlformats.org/officeDocument/2006/relationships/tags" Target="../tags/tag316.xml"/><Relationship Id="rId23" Type="http://schemas.openxmlformats.org/officeDocument/2006/relationships/image" Target="../media/image72.png"/><Relationship Id="rId10" Type="http://schemas.openxmlformats.org/officeDocument/2006/relationships/tags" Target="../tags/tag311.xml"/><Relationship Id="rId19" Type="http://schemas.openxmlformats.org/officeDocument/2006/relationships/oleObject" Target="../embeddings/oleObject40.bin"/><Relationship Id="rId4" Type="http://schemas.openxmlformats.org/officeDocument/2006/relationships/tags" Target="../tags/tag305.xml"/><Relationship Id="rId9" Type="http://schemas.openxmlformats.org/officeDocument/2006/relationships/tags" Target="../tags/tag310.xml"/><Relationship Id="rId14" Type="http://schemas.openxmlformats.org/officeDocument/2006/relationships/tags" Target="../tags/tag315.xml"/><Relationship Id="rId22" Type="http://schemas.openxmlformats.org/officeDocument/2006/relationships/image" Target="../media/image71.png"/></Relationships>
</file>

<file path=ppt/slides/_rels/slide35.xml.rels><?xml version="1.0" encoding="UTF-8" standalone="yes"?>
<Relationships xmlns="http://schemas.openxmlformats.org/package/2006/relationships"><Relationship Id="rId8" Type="http://schemas.openxmlformats.org/officeDocument/2006/relationships/image" Target="../media/image73.png"/><Relationship Id="rId3" Type="http://schemas.openxmlformats.org/officeDocument/2006/relationships/tags" Target="../tags/tag320.xml"/><Relationship Id="rId7" Type="http://schemas.openxmlformats.org/officeDocument/2006/relationships/image" Target="../media/image13.emf"/><Relationship Id="rId2" Type="http://schemas.openxmlformats.org/officeDocument/2006/relationships/tags" Target="../tags/tag319.xml"/><Relationship Id="rId1" Type="http://schemas.openxmlformats.org/officeDocument/2006/relationships/tags" Target="../tags/tag318.xml"/><Relationship Id="rId6" Type="http://schemas.openxmlformats.org/officeDocument/2006/relationships/oleObject" Target="../embeddings/oleObject40.bin"/><Relationship Id="rId5" Type="http://schemas.openxmlformats.org/officeDocument/2006/relationships/notesSlide" Target="../notesSlides/notesSlide33.xml"/><Relationship Id="rId4" Type="http://schemas.openxmlformats.org/officeDocument/2006/relationships/slideLayout" Target="../slideLayouts/slideLayout30.xml"/></Relationships>
</file>

<file path=ppt/slides/_rels/slide36.xml.rels><?xml version="1.0" encoding="UTF-8" standalone="yes"?>
<Relationships xmlns="http://schemas.openxmlformats.org/package/2006/relationships"><Relationship Id="rId8" Type="http://schemas.openxmlformats.org/officeDocument/2006/relationships/image" Target="../media/image11.png"/><Relationship Id="rId3" Type="http://schemas.openxmlformats.org/officeDocument/2006/relationships/tags" Target="../tags/tag323.xml"/><Relationship Id="rId7" Type="http://schemas.openxmlformats.org/officeDocument/2006/relationships/image" Target="../media/image12.emf"/><Relationship Id="rId2" Type="http://schemas.openxmlformats.org/officeDocument/2006/relationships/tags" Target="../tags/tag322.xml"/><Relationship Id="rId1" Type="http://schemas.openxmlformats.org/officeDocument/2006/relationships/tags" Target="../tags/tag321.xml"/><Relationship Id="rId6" Type="http://schemas.openxmlformats.org/officeDocument/2006/relationships/oleObject" Target="../embeddings/oleObject41.bin"/><Relationship Id="rId5" Type="http://schemas.openxmlformats.org/officeDocument/2006/relationships/notesSlide" Target="../notesSlides/notesSlide34.xml"/><Relationship Id="rId4" Type="http://schemas.openxmlformats.org/officeDocument/2006/relationships/slideLayout" Target="../slideLayouts/slideLayout70.xml"/><Relationship Id="rId9" Type="http://schemas.openxmlformats.org/officeDocument/2006/relationships/image" Target="../media/image74.png"/></Relationships>
</file>

<file path=ppt/slides/_rels/slide37.xml.rels><?xml version="1.0" encoding="UTF-8" standalone="yes"?>
<Relationships xmlns="http://schemas.openxmlformats.org/package/2006/relationships"><Relationship Id="rId3" Type="http://schemas.openxmlformats.org/officeDocument/2006/relationships/slideLayout" Target="../slideLayouts/slideLayout71.xml"/><Relationship Id="rId2" Type="http://schemas.openxmlformats.org/officeDocument/2006/relationships/tags" Target="../tags/tag325.xml"/><Relationship Id="rId1" Type="http://schemas.openxmlformats.org/officeDocument/2006/relationships/tags" Target="../tags/tag324.xml"/><Relationship Id="rId6" Type="http://schemas.openxmlformats.org/officeDocument/2006/relationships/image" Target="../media/image13.emf"/><Relationship Id="rId5" Type="http://schemas.openxmlformats.org/officeDocument/2006/relationships/oleObject" Target="../embeddings/oleObject40.bin"/><Relationship Id="rId4" Type="http://schemas.openxmlformats.org/officeDocument/2006/relationships/notesSlide" Target="../notesSlides/notesSlide35.xml"/></Relationships>
</file>

<file path=ppt/slides/_rels/slide38.xml.rels><?xml version="1.0" encoding="UTF-8" standalone="yes"?>
<Relationships xmlns="http://schemas.openxmlformats.org/package/2006/relationships"><Relationship Id="rId3" Type="http://schemas.openxmlformats.org/officeDocument/2006/relationships/tags" Target="../tags/tag328.xml"/><Relationship Id="rId7" Type="http://schemas.openxmlformats.org/officeDocument/2006/relationships/image" Target="../media/image13.emf"/><Relationship Id="rId2" Type="http://schemas.openxmlformats.org/officeDocument/2006/relationships/tags" Target="../tags/tag327.xml"/><Relationship Id="rId1" Type="http://schemas.openxmlformats.org/officeDocument/2006/relationships/tags" Target="../tags/tag326.xml"/><Relationship Id="rId6" Type="http://schemas.openxmlformats.org/officeDocument/2006/relationships/oleObject" Target="../embeddings/oleObject40.bin"/><Relationship Id="rId5" Type="http://schemas.openxmlformats.org/officeDocument/2006/relationships/notesSlide" Target="../notesSlides/notesSlide36.xml"/><Relationship Id="rId4" Type="http://schemas.openxmlformats.org/officeDocument/2006/relationships/slideLayout" Target="../slideLayouts/slideLayout30.xml"/></Relationships>
</file>

<file path=ppt/slides/_rels/slide39.xml.rels><?xml version="1.0" encoding="UTF-8" standalone="yes"?>
<Relationships xmlns="http://schemas.openxmlformats.org/package/2006/relationships"><Relationship Id="rId8" Type="http://schemas.openxmlformats.org/officeDocument/2006/relationships/image" Target="../media/image75.png"/><Relationship Id="rId3" Type="http://schemas.openxmlformats.org/officeDocument/2006/relationships/tags" Target="../tags/tag331.xml"/><Relationship Id="rId7" Type="http://schemas.openxmlformats.org/officeDocument/2006/relationships/image" Target="../media/image65.emf"/><Relationship Id="rId2" Type="http://schemas.openxmlformats.org/officeDocument/2006/relationships/tags" Target="../tags/tag330.xml"/><Relationship Id="rId1" Type="http://schemas.openxmlformats.org/officeDocument/2006/relationships/tags" Target="../tags/tag329.xml"/><Relationship Id="rId6" Type="http://schemas.openxmlformats.org/officeDocument/2006/relationships/oleObject" Target="../embeddings/oleObject40.bin"/><Relationship Id="rId5" Type="http://schemas.openxmlformats.org/officeDocument/2006/relationships/notesSlide" Target="../notesSlides/notesSlide37.xml"/><Relationship Id="rId4" Type="http://schemas.openxmlformats.org/officeDocument/2006/relationships/slideLayout" Target="../slideLayouts/slideLayout30.xml"/><Relationship Id="rId9" Type="http://schemas.openxmlformats.org/officeDocument/2006/relationships/image" Target="../media/image76.png"/></Relationships>
</file>

<file path=ppt/slides/_rels/slide40.xml.rels><?xml version="1.0" encoding="UTF-8" standalone="yes"?>
<Relationships xmlns="http://schemas.openxmlformats.org/package/2006/relationships"><Relationship Id="rId3" Type="http://schemas.openxmlformats.org/officeDocument/2006/relationships/notesSlide" Target="../notesSlides/notesSlide38.xml"/><Relationship Id="rId2" Type="http://schemas.openxmlformats.org/officeDocument/2006/relationships/slideLayout" Target="../slideLayouts/slideLayout5.xml"/><Relationship Id="rId1" Type="http://schemas.openxmlformats.org/officeDocument/2006/relationships/tags" Target="../tags/tag332.xml"/><Relationship Id="rId5" Type="http://schemas.openxmlformats.org/officeDocument/2006/relationships/image" Target="../media/image13.emf"/><Relationship Id="rId4" Type="http://schemas.openxmlformats.org/officeDocument/2006/relationships/oleObject" Target="../embeddings/oleObject38.bin"/></Relationships>
</file>

<file path=ppt/slides/_rels/slide41.xml.rels><?xml version="1.0" encoding="UTF-8" standalone="yes"?>
<Relationships xmlns="http://schemas.openxmlformats.org/package/2006/relationships"><Relationship Id="rId8" Type="http://schemas.openxmlformats.org/officeDocument/2006/relationships/image" Target="../media/image82.png"/><Relationship Id="rId13" Type="http://schemas.openxmlformats.org/officeDocument/2006/relationships/image" Target="../media/image87.png"/><Relationship Id="rId3" Type="http://schemas.openxmlformats.org/officeDocument/2006/relationships/image" Target="../media/image77.png"/><Relationship Id="rId7" Type="http://schemas.openxmlformats.org/officeDocument/2006/relationships/image" Target="../media/image81.png"/><Relationship Id="rId12" Type="http://schemas.openxmlformats.org/officeDocument/2006/relationships/image" Target="../media/image86.png"/><Relationship Id="rId17" Type="http://schemas.openxmlformats.org/officeDocument/2006/relationships/image" Target="../media/image91.png"/><Relationship Id="rId2" Type="http://schemas.openxmlformats.org/officeDocument/2006/relationships/notesSlide" Target="../notesSlides/notesSlide39.xml"/><Relationship Id="rId16" Type="http://schemas.openxmlformats.org/officeDocument/2006/relationships/image" Target="../media/image90.png"/><Relationship Id="rId1" Type="http://schemas.openxmlformats.org/officeDocument/2006/relationships/slideLayout" Target="../slideLayouts/slideLayout68.xml"/><Relationship Id="rId6" Type="http://schemas.openxmlformats.org/officeDocument/2006/relationships/image" Target="../media/image80.png"/><Relationship Id="rId11" Type="http://schemas.openxmlformats.org/officeDocument/2006/relationships/image" Target="../media/image85.png"/><Relationship Id="rId5" Type="http://schemas.openxmlformats.org/officeDocument/2006/relationships/image" Target="../media/image79.png"/><Relationship Id="rId15" Type="http://schemas.openxmlformats.org/officeDocument/2006/relationships/image" Target="../media/image89.png"/><Relationship Id="rId10" Type="http://schemas.openxmlformats.org/officeDocument/2006/relationships/image" Target="../media/image84.png"/><Relationship Id="rId4" Type="http://schemas.openxmlformats.org/officeDocument/2006/relationships/image" Target="../media/image78.png"/><Relationship Id="rId9" Type="http://schemas.openxmlformats.org/officeDocument/2006/relationships/image" Target="../media/image83.png"/><Relationship Id="rId14" Type="http://schemas.openxmlformats.org/officeDocument/2006/relationships/image" Target="../media/image88.png"/></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68.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68.xml"/></Relationships>
</file>

<file path=ppt/slides/_rels/slide44.xml.rels><?xml version="1.0" encoding="UTF-8" standalone="yes"?>
<Relationships xmlns="http://schemas.openxmlformats.org/package/2006/relationships"><Relationship Id="rId8" Type="http://schemas.openxmlformats.org/officeDocument/2006/relationships/image" Target="../media/image32.png"/><Relationship Id="rId13" Type="http://schemas.openxmlformats.org/officeDocument/2006/relationships/image" Target="../media/image37.png"/><Relationship Id="rId18" Type="http://schemas.openxmlformats.org/officeDocument/2006/relationships/image" Target="../media/image42.png"/><Relationship Id="rId3" Type="http://schemas.openxmlformats.org/officeDocument/2006/relationships/image" Target="../media/image27.png"/><Relationship Id="rId7" Type="http://schemas.openxmlformats.org/officeDocument/2006/relationships/image" Target="../media/image31.png"/><Relationship Id="rId12" Type="http://schemas.openxmlformats.org/officeDocument/2006/relationships/image" Target="../media/image36.png"/><Relationship Id="rId17" Type="http://schemas.openxmlformats.org/officeDocument/2006/relationships/image" Target="../media/image41.png"/><Relationship Id="rId2" Type="http://schemas.openxmlformats.org/officeDocument/2006/relationships/notesSlide" Target="../notesSlides/notesSlide42.xml"/><Relationship Id="rId16" Type="http://schemas.openxmlformats.org/officeDocument/2006/relationships/image" Target="../media/image40.png"/><Relationship Id="rId1" Type="http://schemas.openxmlformats.org/officeDocument/2006/relationships/slideLayout" Target="../slideLayouts/slideLayout68.xml"/><Relationship Id="rId6" Type="http://schemas.openxmlformats.org/officeDocument/2006/relationships/image" Target="../media/image30.png"/><Relationship Id="rId11" Type="http://schemas.openxmlformats.org/officeDocument/2006/relationships/image" Target="../media/image35.png"/><Relationship Id="rId5" Type="http://schemas.openxmlformats.org/officeDocument/2006/relationships/image" Target="../media/image29.png"/><Relationship Id="rId15" Type="http://schemas.openxmlformats.org/officeDocument/2006/relationships/image" Target="../media/image39.png"/><Relationship Id="rId10" Type="http://schemas.openxmlformats.org/officeDocument/2006/relationships/image" Target="../media/image34.png"/><Relationship Id="rId19" Type="http://schemas.openxmlformats.org/officeDocument/2006/relationships/image" Target="../media/image43.png"/><Relationship Id="rId4" Type="http://schemas.openxmlformats.org/officeDocument/2006/relationships/image" Target="../media/image28.png"/><Relationship Id="rId9" Type="http://schemas.openxmlformats.org/officeDocument/2006/relationships/image" Target="../media/image33.png"/><Relationship Id="rId14" Type="http://schemas.openxmlformats.org/officeDocument/2006/relationships/image" Target="../media/image38.png"/></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75.xml"/></Relationships>
</file>

<file path=ppt/slides/_rels/slide46.xml.rels><?xml version="1.0" encoding="UTF-8" standalone="yes"?>
<Relationships xmlns="http://schemas.openxmlformats.org/package/2006/relationships"><Relationship Id="rId3" Type="http://schemas.openxmlformats.org/officeDocument/2006/relationships/image" Target="../media/image92.png"/><Relationship Id="rId2" Type="http://schemas.openxmlformats.org/officeDocument/2006/relationships/notesSlide" Target="../notesSlides/notesSlide44.xml"/><Relationship Id="rId1" Type="http://schemas.openxmlformats.org/officeDocument/2006/relationships/slideLayout" Target="../slideLayouts/slideLayout68.xml"/></Relationships>
</file>

<file path=ppt/slides/_rels/slide47.xml.rels><?xml version="1.0" encoding="UTF-8" standalone="yes"?>
<Relationships xmlns="http://schemas.openxmlformats.org/package/2006/relationships"><Relationship Id="rId3" Type="http://schemas.openxmlformats.org/officeDocument/2006/relationships/notesSlide" Target="../notesSlides/notesSlide45.xml"/><Relationship Id="rId2" Type="http://schemas.openxmlformats.org/officeDocument/2006/relationships/slideLayout" Target="../slideLayouts/slideLayout68.xml"/><Relationship Id="rId1" Type="http://schemas.openxmlformats.org/officeDocument/2006/relationships/tags" Target="../tags/tag333.xml"/><Relationship Id="rId5" Type="http://schemas.openxmlformats.org/officeDocument/2006/relationships/image" Target="../media/image94.png"/><Relationship Id="rId4" Type="http://schemas.openxmlformats.org/officeDocument/2006/relationships/image" Target="../media/image93.png"/></Relationships>
</file>

<file path=ppt/slides/_rels/slide48.xml.rels><?xml version="1.0" encoding="UTF-8" standalone="yes"?>
<Relationships xmlns="http://schemas.openxmlformats.org/package/2006/relationships"><Relationship Id="rId8" Type="http://schemas.openxmlformats.org/officeDocument/2006/relationships/image" Target="../media/image97.jpeg"/><Relationship Id="rId13" Type="http://schemas.openxmlformats.org/officeDocument/2006/relationships/image" Target="../media/image102.jpeg"/><Relationship Id="rId18" Type="http://schemas.openxmlformats.org/officeDocument/2006/relationships/image" Target="../media/image107.jpeg"/><Relationship Id="rId3" Type="http://schemas.openxmlformats.org/officeDocument/2006/relationships/slideLayout" Target="../slideLayouts/slideLayout30.xml"/><Relationship Id="rId7" Type="http://schemas.openxmlformats.org/officeDocument/2006/relationships/image" Target="../media/image96.jpeg"/><Relationship Id="rId12" Type="http://schemas.openxmlformats.org/officeDocument/2006/relationships/image" Target="../media/image101.jpeg"/><Relationship Id="rId17" Type="http://schemas.openxmlformats.org/officeDocument/2006/relationships/image" Target="../media/image106.jpeg"/><Relationship Id="rId2" Type="http://schemas.openxmlformats.org/officeDocument/2006/relationships/tags" Target="../tags/tag335.xml"/><Relationship Id="rId16" Type="http://schemas.openxmlformats.org/officeDocument/2006/relationships/image" Target="../media/image105.jpeg"/><Relationship Id="rId20" Type="http://schemas.openxmlformats.org/officeDocument/2006/relationships/image" Target="../media/image109.jpeg"/><Relationship Id="rId1" Type="http://schemas.openxmlformats.org/officeDocument/2006/relationships/tags" Target="../tags/tag334.xml"/><Relationship Id="rId6" Type="http://schemas.openxmlformats.org/officeDocument/2006/relationships/image" Target="../media/image95.emf"/><Relationship Id="rId11" Type="http://schemas.openxmlformats.org/officeDocument/2006/relationships/image" Target="../media/image100.jpeg"/><Relationship Id="rId5" Type="http://schemas.openxmlformats.org/officeDocument/2006/relationships/oleObject" Target="../embeddings/oleObject42.bin"/><Relationship Id="rId15" Type="http://schemas.openxmlformats.org/officeDocument/2006/relationships/image" Target="../media/image104.jpeg"/><Relationship Id="rId10" Type="http://schemas.openxmlformats.org/officeDocument/2006/relationships/image" Target="../media/image99.png"/><Relationship Id="rId19" Type="http://schemas.openxmlformats.org/officeDocument/2006/relationships/image" Target="../media/image108.jpeg"/><Relationship Id="rId4" Type="http://schemas.openxmlformats.org/officeDocument/2006/relationships/notesSlide" Target="../notesSlides/notesSlide46.xml"/><Relationship Id="rId9" Type="http://schemas.openxmlformats.org/officeDocument/2006/relationships/image" Target="../media/image98.jpeg"/><Relationship Id="rId14" Type="http://schemas.openxmlformats.org/officeDocument/2006/relationships/image" Target="../media/image103.jpeg"/></Relationships>
</file>

<file path=ppt/slides/_rels/slide49.xml.rels><?xml version="1.0" encoding="UTF-8" standalone="yes"?>
<Relationships xmlns="http://schemas.openxmlformats.org/package/2006/relationships"><Relationship Id="rId3" Type="http://schemas.openxmlformats.org/officeDocument/2006/relationships/slideLayout" Target="../slideLayouts/slideLayout30.xml"/><Relationship Id="rId7" Type="http://schemas.openxmlformats.org/officeDocument/2006/relationships/image" Target="../media/image45.emf"/><Relationship Id="rId2" Type="http://schemas.openxmlformats.org/officeDocument/2006/relationships/tags" Target="../tags/tag337.xml"/><Relationship Id="rId1" Type="http://schemas.openxmlformats.org/officeDocument/2006/relationships/tags" Target="../tags/tag336.xml"/><Relationship Id="rId6" Type="http://schemas.openxmlformats.org/officeDocument/2006/relationships/image" Target="../media/image95.emf"/><Relationship Id="rId5" Type="http://schemas.openxmlformats.org/officeDocument/2006/relationships/oleObject" Target="../embeddings/oleObject43.bin"/><Relationship Id="rId4" Type="http://schemas.openxmlformats.org/officeDocument/2006/relationships/notesSlide" Target="../notesSlides/notesSlide47.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75.xml"/></Relationships>
</file>

<file path=ppt/slides/_rels/slide51.xml.rels><?xml version="1.0" encoding="UTF-8" standalone="yes"?>
<Relationships xmlns="http://schemas.openxmlformats.org/package/2006/relationships"><Relationship Id="rId8" Type="http://schemas.openxmlformats.org/officeDocument/2006/relationships/image" Target="../media/image115.png"/><Relationship Id="rId3" Type="http://schemas.openxmlformats.org/officeDocument/2006/relationships/image" Target="../media/image110.png"/><Relationship Id="rId7" Type="http://schemas.openxmlformats.org/officeDocument/2006/relationships/image" Target="../media/image114.png"/><Relationship Id="rId2" Type="http://schemas.openxmlformats.org/officeDocument/2006/relationships/notesSlide" Target="../notesSlides/notesSlide49.xml"/><Relationship Id="rId1" Type="http://schemas.openxmlformats.org/officeDocument/2006/relationships/slideLayout" Target="../slideLayouts/slideLayout73.xml"/><Relationship Id="rId6" Type="http://schemas.openxmlformats.org/officeDocument/2006/relationships/image" Target="../media/image113.png"/><Relationship Id="rId5" Type="http://schemas.openxmlformats.org/officeDocument/2006/relationships/image" Target="../media/image112.png"/><Relationship Id="rId4" Type="http://schemas.openxmlformats.org/officeDocument/2006/relationships/image" Target="../media/image111.png"/></Relationships>
</file>

<file path=ppt/slides/_rels/slide52.xml.rels><?xml version="1.0" encoding="UTF-8" standalone="yes"?>
<Relationships xmlns="http://schemas.openxmlformats.org/package/2006/relationships"><Relationship Id="rId3" Type="http://schemas.openxmlformats.org/officeDocument/2006/relationships/image" Target="../media/image116.png"/><Relationship Id="rId2" Type="http://schemas.openxmlformats.org/officeDocument/2006/relationships/notesSlide" Target="../notesSlides/notesSlide50.xml"/><Relationship Id="rId1" Type="http://schemas.openxmlformats.org/officeDocument/2006/relationships/slideLayout" Target="../slideLayouts/slideLayout73.xml"/><Relationship Id="rId6" Type="http://schemas.openxmlformats.org/officeDocument/2006/relationships/image" Target="../media/image119.png"/><Relationship Id="rId5" Type="http://schemas.openxmlformats.org/officeDocument/2006/relationships/image" Target="../media/image118.png"/><Relationship Id="rId4" Type="http://schemas.openxmlformats.org/officeDocument/2006/relationships/image" Target="../media/image117.png"/></Relationships>
</file>

<file path=ppt/slides/_rels/slide53.xml.rels><?xml version="1.0" encoding="UTF-8" standalone="yes"?>
<Relationships xmlns="http://schemas.openxmlformats.org/package/2006/relationships"><Relationship Id="rId3" Type="http://schemas.openxmlformats.org/officeDocument/2006/relationships/image" Target="../media/image14.png"/><Relationship Id="rId7" Type="http://schemas.openxmlformats.org/officeDocument/2006/relationships/image" Target="../media/image123.png"/><Relationship Id="rId2" Type="http://schemas.openxmlformats.org/officeDocument/2006/relationships/notesSlide" Target="../notesSlides/notesSlide51.xml"/><Relationship Id="rId1" Type="http://schemas.openxmlformats.org/officeDocument/2006/relationships/slideLayout" Target="../slideLayouts/slideLayout73.xml"/><Relationship Id="rId6" Type="http://schemas.openxmlformats.org/officeDocument/2006/relationships/image" Target="../media/image122.png"/><Relationship Id="rId5" Type="http://schemas.openxmlformats.org/officeDocument/2006/relationships/image" Target="../media/image121.png"/><Relationship Id="rId4" Type="http://schemas.openxmlformats.org/officeDocument/2006/relationships/image" Target="../media/image120.png"/></Relationships>
</file>

<file path=ppt/slides/_rels/slide54.xml.rels><?xml version="1.0" encoding="UTF-8" standalone="yes"?>
<Relationships xmlns="http://schemas.openxmlformats.org/package/2006/relationships"><Relationship Id="rId8" Type="http://schemas.openxmlformats.org/officeDocument/2006/relationships/image" Target="../media/image129.png"/><Relationship Id="rId13" Type="http://schemas.openxmlformats.org/officeDocument/2006/relationships/image" Target="../media/image134.png"/><Relationship Id="rId3" Type="http://schemas.openxmlformats.org/officeDocument/2006/relationships/image" Target="../media/image124.png"/><Relationship Id="rId7" Type="http://schemas.openxmlformats.org/officeDocument/2006/relationships/image" Target="../media/image128.png"/><Relationship Id="rId12" Type="http://schemas.openxmlformats.org/officeDocument/2006/relationships/image" Target="../media/image133.png"/><Relationship Id="rId2" Type="http://schemas.openxmlformats.org/officeDocument/2006/relationships/notesSlide" Target="../notesSlides/notesSlide52.xml"/><Relationship Id="rId16" Type="http://schemas.openxmlformats.org/officeDocument/2006/relationships/image" Target="../media/image137.png"/><Relationship Id="rId1" Type="http://schemas.openxmlformats.org/officeDocument/2006/relationships/slideLayout" Target="../slideLayouts/slideLayout73.xml"/><Relationship Id="rId6" Type="http://schemas.openxmlformats.org/officeDocument/2006/relationships/image" Target="../media/image127.png"/><Relationship Id="rId11" Type="http://schemas.openxmlformats.org/officeDocument/2006/relationships/image" Target="../media/image132.png"/><Relationship Id="rId5" Type="http://schemas.openxmlformats.org/officeDocument/2006/relationships/image" Target="../media/image126.png"/><Relationship Id="rId15" Type="http://schemas.openxmlformats.org/officeDocument/2006/relationships/image" Target="../media/image136.png"/><Relationship Id="rId10" Type="http://schemas.openxmlformats.org/officeDocument/2006/relationships/image" Target="../media/image131.png"/><Relationship Id="rId4" Type="http://schemas.openxmlformats.org/officeDocument/2006/relationships/image" Target="../media/image125.png"/><Relationship Id="rId9" Type="http://schemas.openxmlformats.org/officeDocument/2006/relationships/image" Target="../media/image130.png"/><Relationship Id="rId14" Type="http://schemas.openxmlformats.org/officeDocument/2006/relationships/image" Target="../media/image135.png"/></Relationships>
</file>

<file path=ppt/slides/_rels/slide55.xml.rels><?xml version="1.0" encoding="UTF-8" standalone="yes"?>
<Relationships xmlns="http://schemas.openxmlformats.org/package/2006/relationships"><Relationship Id="rId3" Type="http://schemas.openxmlformats.org/officeDocument/2006/relationships/notesSlide" Target="../notesSlides/notesSlide53.xml"/><Relationship Id="rId2" Type="http://schemas.openxmlformats.org/officeDocument/2006/relationships/slideLayout" Target="../slideLayouts/slideLayout5.xml"/><Relationship Id="rId1" Type="http://schemas.openxmlformats.org/officeDocument/2006/relationships/tags" Target="../tags/tag338.xml"/><Relationship Id="rId5" Type="http://schemas.openxmlformats.org/officeDocument/2006/relationships/image" Target="../media/image13.emf"/><Relationship Id="rId4" Type="http://schemas.openxmlformats.org/officeDocument/2006/relationships/oleObject" Target="../embeddings/oleObject38.bin"/></Relationships>
</file>

<file path=ppt/slides/_rels/slide56.xml.rels><?xml version="1.0" encoding="UTF-8" standalone="yes"?>
<Relationships xmlns="http://schemas.openxmlformats.org/package/2006/relationships"><Relationship Id="rId3" Type="http://schemas.openxmlformats.org/officeDocument/2006/relationships/notesSlide" Target="../notesSlides/notesSlide54.xml"/><Relationship Id="rId2" Type="http://schemas.openxmlformats.org/officeDocument/2006/relationships/slideLayout" Target="../slideLayouts/slideLayout124.xml"/><Relationship Id="rId1" Type="http://schemas.openxmlformats.org/officeDocument/2006/relationships/tags" Target="../tags/tag339.xml"/><Relationship Id="rId5" Type="http://schemas.openxmlformats.org/officeDocument/2006/relationships/image" Target="../media/image44.emf"/><Relationship Id="rId4" Type="http://schemas.openxmlformats.org/officeDocument/2006/relationships/oleObject" Target="../embeddings/oleObject44.bin"/></Relationships>
</file>

<file path=ppt/slides/_rels/slide57.xml.rels><?xml version="1.0" encoding="UTF-8" standalone="yes"?>
<Relationships xmlns="http://schemas.openxmlformats.org/package/2006/relationships"><Relationship Id="rId8" Type="http://schemas.microsoft.com/office/2007/relationships/hdphoto" Target="../media/hdphoto1.wdp"/><Relationship Id="rId13" Type="http://schemas.openxmlformats.org/officeDocument/2006/relationships/image" Target="../media/image139.png"/><Relationship Id="rId3" Type="http://schemas.openxmlformats.org/officeDocument/2006/relationships/notesSlide" Target="../notesSlides/notesSlide55.xml"/><Relationship Id="rId7" Type="http://schemas.openxmlformats.org/officeDocument/2006/relationships/image" Target="../media/image17.jpeg"/><Relationship Id="rId12" Type="http://schemas.openxmlformats.org/officeDocument/2006/relationships/image" Target="../media/image138.png"/><Relationship Id="rId2" Type="http://schemas.openxmlformats.org/officeDocument/2006/relationships/slideLayout" Target="../slideLayouts/slideLayout79.xml"/><Relationship Id="rId1" Type="http://schemas.openxmlformats.org/officeDocument/2006/relationships/tags" Target="../tags/tag340.xml"/><Relationship Id="rId6" Type="http://schemas.openxmlformats.org/officeDocument/2006/relationships/image" Target="../media/image16.jpeg"/><Relationship Id="rId11" Type="http://schemas.microsoft.com/office/2007/relationships/hdphoto" Target="../media/hdphoto2.wdp"/><Relationship Id="rId5" Type="http://schemas.openxmlformats.org/officeDocument/2006/relationships/image" Target="../media/image13.emf"/><Relationship Id="rId10" Type="http://schemas.openxmlformats.org/officeDocument/2006/relationships/image" Target="../media/image19.jpeg"/><Relationship Id="rId4" Type="http://schemas.openxmlformats.org/officeDocument/2006/relationships/oleObject" Target="../embeddings/oleObject45.bin"/><Relationship Id="rId9" Type="http://schemas.openxmlformats.org/officeDocument/2006/relationships/image" Target="../media/image18.jpeg"/></Relationships>
</file>

<file path=ppt/slides/_rels/slide58.xml.rels><?xml version="1.0" encoding="UTF-8" standalone="yes"?>
<Relationships xmlns="http://schemas.openxmlformats.org/package/2006/relationships"><Relationship Id="rId8" Type="http://schemas.openxmlformats.org/officeDocument/2006/relationships/image" Target="../media/image141.jpeg"/><Relationship Id="rId13" Type="http://schemas.openxmlformats.org/officeDocument/2006/relationships/image" Target="../media/image146.jpeg"/><Relationship Id="rId3" Type="http://schemas.openxmlformats.org/officeDocument/2006/relationships/slideLayout" Target="../slideLayouts/slideLayout80.xml"/><Relationship Id="rId7" Type="http://schemas.openxmlformats.org/officeDocument/2006/relationships/image" Target="../media/image140.png"/><Relationship Id="rId12" Type="http://schemas.openxmlformats.org/officeDocument/2006/relationships/image" Target="../media/image145.jpeg"/><Relationship Id="rId2" Type="http://schemas.openxmlformats.org/officeDocument/2006/relationships/tags" Target="../tags/tag342.xml"/><Relationship Id="rId16" Type="http://schemas.openxmlformats.org/officeDocument/2006/relationships/image" Target="../media/image149.jpeg"/><Relationship Id="rId1" Type="http://schemas.openxmlformats.org/officeDocument/2006/relationships/tags" Target="../tags/tag341.xml"/><Relationship Id="rId6" Type="http://schemas.openxmlformats.org/officeDocument/2006/relationships/image" Target="../media/image10.emf"/><Relationship Id="rId11" Type="http://schemas.openxmlformats.org/officeDocument/2006/relationships/image" Target="../media/image144.jpeg"/><Relationship Id="rId5" Type="http://schemas.openxmlformats.org/officeDocument/2006/relationships/oleObject" Target="../embeddings/oleObject46.bin"/><Relationship Id="rId15" Type="http://schemas.openxmlformats.org/officeDocument/2006/relationships/image" Target="../media/image148.jpeg"/><Relationship Id="rId10" Type="http://schemas.openxmlformats.org/officeDocument/2006/relationships/image" Target="../media/image143.jpeg"/><Relationship Id="rId4" Type="http://schemas.openxmlformats.org/officeDocument/2006/relationships/notesSlide" Target="../notesSlides/notesSlide56.xml"/><Relationship Id="rId9" Type="http://schemas.openxmlformats.org/officeDocument/2006/relationships/image" Target="../media/image142.png"/><Relationship Id="rId14" Type="http://schemas.openxmlformats.org/officeDocument/2006/relationships/image" Target="../media/image147.jpeg"/></Relationships>
</file>

<file path=ppt/slides/_rels/slide59.xml.rels><?xml version="1.0" encoding="UTF-8" standalone="yes"?>
<Relationships xmlns="http://schemas.openxmlformats.org/package/2006/relationships"><Relationship Id="rId8" Type="http://schemas.openxmlformats.org/officeDocument/2006/relationships/image" Target="../media/image151.jpeg"/><Relationship Id="rId3" Type="http://schemas.openxmlformats.org/officeDocument/2006/relationships/slideLayout" Target="../slideLayouts/slideLayout80.xml"/><Relationship Id="rId7" Type="http://schemas.openxmlformats.org/officeDocument/2006/relationships/image" Target="../media/image150.jpeg"/><Relationship Id="rId12" Type="http://schemas.openxmlformats.org/officeDocument/2006/relationships/image" Target="../media/image155.jpeg"/><Relationship Id="rId2" Type="http://schemas.openxmlformats.org/officeDocument/2006/relationships/tags" Target="../tags/tag344.xml"/><Relationship Id="rId1" Type="http://schemas.openxmlformats.org/officeDocument/2006/relationships/tags" Target="../tags/tag343.xml"/><Relationship Id="rId6" Type="http://schemas.openxmlformats.org/officeDocument/2006/relationships/image" Target="../media/image10.emf"/><Relationship Id="rId11" Type="http://schemas.openxmlformats.org/officeDocument/2006/relationships/image" Target="../media/image154.jpeg"/><Relationship Id="rId5" Type="http://schemas.openxmlformats.org/officeDocument/2006/relationships/oleObject" Target="../embeddings/oleObject47.bin"/><Relationship Id="rId10" Type="http://schemas.openxmlformats.org/officeDocument/2006/relationships/image" Target="../media/image153.jpeg"/><Relationship Id="rId4" Type="http://schemas.openxmlformats.org/officeDocument/2006/relationships/notesSlide" Target="../notesSlides/notesSlide57.xml"/><Relationship Id="rId9" Type="http://schemas.openxmlformats.org/officeDocument/2006/relationships/image" Target="../media/image152.jpeg"/></Relationships>
</file>

<file path=ppt/slides/_rels/slide60.xml.rels><?xml version="1.0" encoding="UTF-8" standalone="yes"?>
<Relationships xmlns="http://schemas.openxmlformats.org/package/2006/relationships"><Relationship Id="rId8" Type="http://schemas.openxmlformats.org/officeDocument/2006/relationships/tags" Target="../tags/tag352.xml"/><Relationship Id="rId13" Type="http://schemas.openxmlformats.org/officeDocument/2006/relationships/tags" Target="../tags/tag357.xml"/><Relationship Id="rId18" Type="http://schemas.openxmlformats.org/officeDocument/2006/relationships/image" Target="../media/image70.png"/><Relationship Id="rId3" Type="http://schemas.openxmlformats.org/officeDocument/2006/relationships/tags" Target="../tags/tag347.xml"/><Relationship Id="rId7" Type="http://schemas.openxmlformats.org/officeDocument/2006/relationships/tags" Target="../tags/tag351.xml"/><Relationship Id="rId12" Type="http://schemas.openxmlformats.org/officeDocument/2006/relationships/tags" Target="../tags/tag356.xml"/><Relationship Id="rId17" Type="http://schemas.openxmlformats.org/officeDocument/2006/relationships/image" Target="../media/image44.emf"/><Relationship Id="rId2" Type="http://schemas.openxmlformats.org/officeDocument/2006/relationships/tags" Target="../tags/tag346.xml"/><Relationship Id="rId16" Type="http://schemas.openxmlformats.org/officeDocument/2006/relationships/oleObject" Target="../embeddings/oleObject48.bin"/><Relationship Id="rId20" Type="http://schemas.openxmlformats.org/officeDocument/2006/relationships/image" Target="../media/image72.png"/><Relationship Id="rId1" Type="http://schemas.openxmlformats.org/officeDocument/2006/relationships/tags" Target="../tags/tag345.xml"/><Relationship Id="rId6" Type="http://schemas.openxmlformats.org/officeDocument/2006/relationships/tags" Target="../tags/tag350.xml"/><Relationship Id="rId11" Type="http://schemas.openxmlformats.org/officeDocument/2006/relationships/tags" Target="../tags/tag355.xml"/><Relationship Id="rId5" Type="http://schemas.openxmlformats.org/officeDocument/2006/relationships/tags" Target="../tags/tag349.xml"/><Relationship Id="rId15" Type="http://schemas.openxmlformats.org/officeDocument/2006/relationships/notesSlide" Target="../notesSlides/notesSlide58.xml"/><Relationship Id="rId10" Type="http://schemas.openxmlformats.org/officeDocument/2006/relationships/tags" Target="../tags/tag354.xml"/><Relationship Id="rId19" Type="http://schemas.openxmlformats.org/officeDocument/2006/relationships/image" Target="../media/image71.png"/><Relationship Id="rId4" Type="http://schemas.openxmlformats.org/officeDocument/2006/relationships/tags" Target="../tags/tag348.xml"/><Relationship Id="rId9" Type="http://schemas.openxmlformats.org/officeDocument/2006/relationships/tags" Target="../tags/tag353.xml"/><Relationship Id="rId14" Type="http://schemas.openxmlformats.org/officeDocument/2006/relationships/slideLayout" Target="../slideLayouts/slideLayout79.xml"/></Relationships>
</file>

<file path=ppt/slides/_rels/slide61.xml.rels><?xml version="1.0" encoding="UTF-8" standalone="yes"?>
<Relationships xmlns="http://schemas.openxmlformats.org/package/2006/relationships"><Relationship Id="rId8" Type="http://schemas.openxmlformats.org/officeDocument/2006/relationships/tags" Target="../tags/tag365.xml"/><Relationship Id="rId13" Type="http://schemas.openxmlformats.org/officeDocument/2006/relationships/oleObject" Target="../embeddings/oleObject49.bin"/><Relationship Id="rId3" Type="http://schemas.openxmlformats.org/officeDocument/2006/relationships/tags" Target="../tags/tag360.xml"/><Relationship Id="rId7" Type="http://schemas.openxmlformats.org/officeDocument/2006/relationships/tags" Target="../tags/tag364.xml"/><Relationship Id="rId12" Type="http://schemas.openxmlformats.org/officeDocument/2006/relationships/notesSlide" Target="../notesSlides/notesSlide59.xml"/><Relationship Id="rId17" Type="http://schemas.openxmlformats.org/officeDocument/2006/relationships/image" Target="../media/image157.png"/><Relationship Id="rId2" Type="http://schemas.openxmlformats.org/officeDocument/2006/relationships/tags" Target="../tags/tag359.xml"/><Relationship Id="rId16" Type="http://schemas.openxmlformats.org/officeDocument/2006/relationships/image" Target="../media/image156.png"/><Relationship Id="rId1" Type="http://schemas.openxmlformats.org/officeDocument/2006/relationships/tags" Target="../tags/tag358.xml"/><Relationship Id="rId6" Type="http://schemas.openxmlformats.org/officeDocument/2006/relationships/tags" Target="../tags/tag363.xml"/><Relationship Id="rId11" Type="http://schemas.openxmlformats.org/officeDocument/2006/relationships/slideLayout" Target="../slideLayouts/slideLayout79.xml"/><Relationship Id="rId5" Type="http://schemas.openxmlformats.org/officeDocument/2006/relationships/tags" Target="../tags/tag362.xml"/><Relationship Id="rId15" Type="http://schemas.openxmlformats.org/officeDocument/2006/relationships/image" Target="../media/image73.png"/><Relationship Id="rId10" Type="http://schemas.openxmlformats.org/officeDocument/2006/relationships/tags" Target="../tags/tag367.xml"/><Relationship Id="rId4" Type="http://schemas.openxmlformats.org/officeDocument/2006/relationships/tags" Target="../tags/tag361.xml"/><Relationship Id="rId9" Type="http://schemas.openxmlformats.org/officeDocument/2006/relationships/tags" Target="../tags/tag366.xml"/><Relationship Id="rId14" Type="http://schemas.openxmlformats.org/officeDocument/2006/relationships/image" Target="../media/image44.emf"/></Relationships>
</file>

<file path=ppt/slides/_rels/slide62.xml.rels><?xml version="1.0" encoding="UTF-8" standalone="yes"?>
<Relationships xmlns="http://schemas.openxmlformats.org/package/2006/relationships"><Relationship Id="rId8" Type="http://schemas.openxmlformats.org/officeDocument/2006/relationships/tags" Target="../tags/tag375.xml"/><Relationship Id="rId13" Type="http://schemas.openxmlformats.org/officeDocument/2006/relationships/tags" Target="../tags/tag380.xml"/><Relationship Id="rId18" Type="http://schemas.openxmlformats.org/officeDocument/2006/relationships/notesSlide" Target="../notesSlides/notesSlide60.xml"/><Relationship Id="rId3" Type="http://schemas.openxmlformats.org/officeDocument/2006/relationships/tags" Target="../tags/tag370.xml"/><Relationship Id="rId21" Type="http://schemas.openxmlformats.org/officeDocument/2006/relationships/chart" Target="../charts/chart5.xml"/><Relationship Id="rId7" Type="http://schemas.openxmlformats.org/officeDocument/2006/relationships/tags" Target="../tags/tag374.xml"/><Relationship Id="rId12" Type="http://schemas.openxmlformats.org/officeDocument/2006/relationships/tags" Target="../tags/tag379.xml"/><Relationship Id="rId17" Type="http://schemas.openxmlformats.org/officeDocument/2006/relationships/slideLayout" Target="../slideLayouts/slideLayout79.xml"/><Relationship Id="rId2" Type="http://schemas.openxmlformats.org/officeDocument/2006/relationships/tags" Target="../tags/tag369.xml"/><Relationship Id="rId16" Type="http://schemas.openxmlformats.org/officeDocument/2006/relationships/tags" Target="../tags/tag383.xml"/><Relationship Id="rId20" Type="http://schemas.openxmlformats.org/officeDocument/2006/relationships/image" Target="../media/image44.emf"/><Relationship Id="rId1" Type="http://schemas.openxmlformats.org/officeDocument/2006/relationships/tags" Target="../tags/tag368.xml"/><Relationship Id="rId6" Type="http://schemas.openxmlformats.org/officeDocument/2006/relationships/tags" Target="../tags/tag373.xml"/><Relationship Id="rId11" Type="http://schemas.openxmlformats.org/officeDocument/2006/relationships/tags" Target="../tags/tag378.xml"/><Relationship Id="rId5" Type="http://schemas.openxmlformats.org/officeDocument/2006/relationships/tags" Target="../tags/tag372.xml"/><Relationship Id="rId15" Type="http://schemas.openxmlformats.org/officeDocument/2006/relationships/tags" Target="../tags/tag382.xml"/><Relationship Id="rId10" Type="http://schemas.openxmlformats.org/officeDocument/2006/relationships/tags" Target="../tags/tag377.xml"/><Relationship Id="rId19" Type="http://schemas.openxmlformats.org/officeDocument/2006/relationships/oleObject" Target="../embeddings/oleObject50.bin"/><Relationship Id="rId4" Type="http://schemas.openxmlformats.org/officeDocument/2006/relationships/tags" Target="../tags/tag371.xml"/><Relationship Id="rId9" Type="http://schemas.openxmlformats.org/officeDocument/2006/relationships/tags" Target="../tags/tag376.xml"/><Relationship Id="rId14" Type="http://schemas.openxmlformats.org/officeDocument/2006/relationships/tags" Target="../tags/tag381.xml"/></Relationships>
</file>

<file path=ppt/slides/_rels/slide63.xml.rels><?xml version="1.0" encoding="UTF-8" standalone="yes"?>
<Relationships xmlns="http://schemas.openxmlformats.org/package/2006/relationships"><Relationship Id="rId8" Type="http://schemas.openxmlformats.org/officeDocument/2006/relationships/tags" Target="../tags/tag391.xml"/><Relationship Id="rId13" Type="http://schemas.openxmlformats.org/officeDocument/2006/relationships/oleObject" Target="../embeddings/oleObject51.bin"/><Relationship Id="rId3" Type="http://schemas.openxmlformats.org/officeDocument/2006/relationships/tags" Target="../tags/tag386.xml"/><Relationship Id="rId7" Type="http://schemas.openxmlformats.org/officeDocument/2006/relationships/tags" Target="../tags/tag390.xml"/><Relationship Id="rId12" Type="http://schemas.openxmlformats.org/officeDocument/2006/relationships/notesSlide" Target="../notesSlides/notesSlide61.xml"/><Relationship Id="rId17" Type="http://schemas.openxmlformats.org/officeDocument/2006/relationships/image" Target="../media/image160.png"/><Relationship Id="rId2" Type="http://schemas.openxmlformats.org/officeDocument/2006/relationships/tags" Target="../tags/tag385.xml"/><Relationship Id="rId16" Type="http://schemas.openxmlformats.org/officeDocument/2006/relationships/image" Target="../media/image159.png"/><Relationship Id="rId1" Type="http://schemas.openxmlformats.org/officeDocument/2006/relationships/tags" Target="../tags/tag384.xml"/><Relationship Id="rId6" Type="http://schemas.openxmlformats.org/officeDocument/2006/relationships/tags" Target="../tags/tag389.xml"/><Relationship Id="rId11" Type="http://schemas.openxmlformats.org/officeDocument/2006/relationships/slideLayout" Target="../slideLayouts/slideLayout79.xml"/><Relationship Id="rId5" Type="http://schemas.openxmlformats.org/officeDocument/2006/relationships/tags" Target="../tags/tag388.xml"/><Relationship Id="rId15" Type="http://schemas.openxmlformats.org/officeDocument/2006/relationships/image" Target="../media/image158.png"/><Relationship Id="rId10" Type="http://schemas.openxmlformats.org/officeDocument/2006/relationships/tags" Target="../tags/tag393.xml"/><Relationship Id="rId4" Type="http://schemas.openxmlformats.org/officeDocument/2006/relationships/tags" Target="../tags/tag387.xml"/><Relationship Id="rId9" Type="http://schemas.openxmlformats.org/officeDocument/2006/relationships/tags" Target="../tags/tag392.xml"/><Relationship Id="rId14" Type="http://schemas.openxmlformats.org/officeDocument/2006/relationships/image" Target="../media/image44.emf"/></Relationships>
</file>

<file path=ppt/slides/_rels/slide64.xml.rels><?xml version="1.0" encoding="UTF-8" standalone="yes"?>
<Relationships xmlns="http://schemas.openxmlformats.org/package/2006/relationships"><Relationship Id="rId3" Type="http://schemas.openxmlformats.org/officeDocument/2006/relationships/notesSlide" Target="../notesSlides/notesSlide62.xml"/><Relationship Id="rId2" Type="http://schemas.openxmlformats.org/officeDocument/2006/relationships/slideLayout" Target="../slideLayouts/slideLayout107.xml"/><Relationship Id="rId1" Type="http://schemas.openxmlformats.org/officeDocument/2006/relationships/tags" Target="../tags/tag394.xml"/><Relationship Id="rId5" Type="http://schemas.openxmlformats.org/officeDocument/2006/relationships/image" Target="../media/image47.emf"/><Relationship Id="rId4" Type="http://schemas.openxmlformats.org/officeDocument/2006/relationships/oleObject" Target="../embeddings/oleObject52.bin"/></Relationships>
</file>

<file path=ppt/slides/_rels/slide65.xml.rels><?xml version="1.0" encoding="UTF-8" standalone="yes"?>
<Relationships xmlns="http://schemas.openxmlformats.org/package/2006/relationships"><Relationship Id="rId8" Type="http://schemas.openxmlformats.org/officeDocument/2006/relationships/tags" Target="../tags/tag402.xml"/><Relationship Id="rId13" Type="http://schemas.openxmlformats.org/officeDocument/2006/relationships/image" Target="../media/image44.emf"/><Relationship Id="rId3" Type="http://schemas.openxmlformats.org/officeDocument/2006/relationships/tags" Target="../tags/tag397.xml"/><Relationship Id="rId7" Type="http://schemas.openxmlformats.org/officeDocument/2006/relationships/tags" Target="../tags/tag401.xml"/><Relationship Id="rId12" Type="http://schemas.openxmlformats.org/officeDocument/2006/relationships/oleObject" Target="../embeddings/oleObject53.bin"/><Relationship Id="rId17" Type="http://schemas.openxmlformats.org/officeDocument/2006/relationships/image" Target="../media/image139.png"/><Relationship Id="rId2" Type="http://schemas.openxmlformats.org/officeDocument/2006/relationships/tags" Target="../tags/tag396.xml"/><Relationship Id="rId16" Type="http://schemas.openxmlformats.org/officeDocument/2006/relationships/image" Target="../media/image163.png"/><Relationship Id="rId1" Type="http://schemas.openxmlformats.org/officeDocument/2006/relationships/tags" Target="../tags/tag395.xml"/><Relationship Id="rId6" Type="http://schemas.openxmlformats.org/officeDocument/2006/relationships/tags" Target="../tags/tag400.xml"/><Relationship Id="rId11" Type="http://schemas.openxmlformats.org/officeDocument/2006/relationships/notesSlide" Target="../notesSlides/notesSlide63.xml"/><Relationship Id="rId5" Type="http://schemas.openxmlformats.org/officeDocument/2006/relationships/tags" Target="../tags/tag399.xml"/><Relationship Id="rId15" Type="http://schemas.openxmlformats.org/officeDocument/2006/relationships/image" Target="../media/image162.png"/><Relationship Id="rId10" Type="http://schemas.openxmlformats.org/officeDocument/2006/relationships/slideLayout" Target="../slideLayouts/slideLayout79.xml"/><Relationship Id="rId4" Type="http://schemas.openxmlformats.org/officeDocument/2006/relationships/tags" Target="../tags/tag398.xml"/><Relationship Id="rId9" Type="http://schemas.openxmlformats.org/officeDocument/2006/relationships/tags" Target="../tags/tag403.xml"/><Relationship Id="rId14" Type="http://schemas.openxmlformats.org/officeDocument/2006/relationships/image" Target="../media/image161.png"/></Relationships>
</file>

<file path=ppt/slides/_rels/slide66.xml.rels><?xml version="1.0" encoding="UTF-8" standalone="yes"?>
<Relationships xmlns="http://schemas.openxmlformats.org/package/2006/relationships"><Relationship Id="rId8" Type="http://schemas.openxmlformats.org/officeDocument/2006/relationships/tags" Target="../tags/tag411.xml"/><Relationship Id="rId13" Type="http://schemas.openxmlformats.org/officeDocument/2006/relationships/notesSlide" Target="../notesSlides/notesSlide64.xml"/><Relationship Id="rId3" Type="http://schemas.openxmlformats.org/officeDocument/2006/relationships/tags" Target="../tags/tag406.xml"/><Relationship Id="rId7" Type="http://schemas.openxmlformats.org/officeDocument/2006/relationships/tags" Target="../tags/tag410.xml"/><Relationship Id="rId12" Type="http://schemas.openxmlformats.org/officeDocument/2006/relationships/slideLayout" Target="../slideLayouts/slideLayout30.xml"/><Relationship Id="rId2" Type="http://schemas.openxmlformats.org/officeDocument/2006/relationships/tags" Target="../tags/tag405.xml"/><Relationship Id="rId16" Type="http://schemas.openxmlformats.org/officeDocument/2006/relationships/chart" Target="../charts/chart6.xml"/><Relationship Id="rId1" Type="http://schemas.openxmlformats.org/officeDocument/2006/relationships/tags" Target="../tags/tag404.xml"/><Relationship Id="rId6" Type="http://schemas.openxmlformats.org/officeDocument/2006/relationships/tags" Target="../tags/tag409.xml"/><Relationship Id="rId11" Type="http://schemas.openxmlformats.org/officeDocument/2006/relationships/tags" Target="../tags/tag414.xml"/><Relationship Id="rId5" Type="http://schemas.openxmlformats.org/officeDocument/2006/relationships/tags" Target="../tags/tag408.xml"/><Relationship Id="rId15" Type="http://schemas.openxmlformats.org/officeDocument/2006/relationships/image" Target="../media/image13.emf"/><Relationship Id="rId10" Type="http://schemas.openxmlformats.org/officeDocument/2006/relationships/tags" Target="../tags/tag413.xml"/><Relationship Id="rId4" Type="http://schemas.openxmlformats.org/officeDocument/2006/relationships/tags" Target="../tags/tag407.xml"/><Relationship Id="rId9" Type="http://schemas.openxmlformats.org/officeDocument/2006/relationships/tags" Target="../tags/tag412.xml"/><Relationship Id="rId14" Type="http://schemas.openxmlformats.org/officeDocument/2006/relationships/oleObject" Target="../embeddings/oleObject54.bin"/></Relationships>
</file>

<file path=ppt/slides/_rels/slide67.xml.rels><?xml version="1.0" encoding="UTF-8" standalone="yes"?>
<Relationships xmlns="http://schemas.openxmlformats.org/package/2006/relationships"><Relationship Id="rId8" Type="http://schemas.openxmlformats.org/officeDocument/2006/relationships/tags" Target="../tags/tag422.xml"/><Relationship Id="rId13" Type="http://schemas.openxmlformats.org/officeDocument/2006/relationships/tags" Target="../tags/tag427.xml"/><Relationship Id="rId18" Type="http://schemas.openxmlformats.org/officeDocument/2006/relationships/tags" Target="../tags/tag432.xml"/><Relationship Id="rId26" Type="http://schemas.openxmlformats.org/officeDocument/2006/relationships/image" Target="../media/image164.emf"/><Relationship Id="rId3" Type="http://schemas.openxmlformats.org/officeDocument/2006/relationships/tags" Target="../tags/tag417.xml"/><Relationship Id="rId21" Type="http://schemas.openxmlformats.org/officeDocument/2006/relationships/tags" Target="../tags/tag435.xml"/><Relationship Id="rId7" Type="http://schemas.openxmlformats.org/officeDocument/2006/relationships/tags" Target="../tags/tag421.xml"/><Relationship Id="rId12" Type="http://schemas.openxmlformats.org/officeDocument/2006/relationships/tags" Target="../tags/tag426.xml"/><Relationship Id="rId17" Type="http://schemas.openxmlformats.org/officeDocument/2006/relationships/tags" Target="../tags/tag431.xml"/><Relationship Id="rId25" Type="http://schemas.openxmlformats.org/officeDocument/2006/relationships/oleObject" Target="../embeddings/oleObject55.bin"/><Relationship Id="rId2" Type="http://schemas.openxmlformats.org/officeDocument/2006/relationships/tags" Target="../tags/tag416.xml"/><Relationship Id="rId16" Type="http://schemas.openxmlformats.org/officeDocument/2006/relationships/tags" Target="../tags/tag430.xml"/><Relationship Id="rId20" Type="http://schemas.openxmlformats.org/officeDocument/2006/relationships/tags" Target="../tags/tag434.xml"/><Relationship Id="rId29" Type="http://schemas.openxmlformats.org/officeDocument/2006/relationships/chart" Target="../charts/chart9.xml"/><Relationship Id="rId1" Type="http://schemas.openxmlformats.org/officeDocument/2006/relationships/tags" Target="../tags/tag415.xml"/><Relationship Id="rId6" Type="http://schemas.openxmlformats.org/officeDocument/2006/relationships/tags" Target="../tags/tag420.xml"/><Relationship Id="rId11" Type="http://schemas.openxmlformats.org/officeDocument/2006/relationships/tags" Target="../tags/tag425.xml"/><Relationship Id="rId24" Type="http://schemas.openxmlformats.org/officeDocument/2006/relationships/notesSlide" Target="../notesSlides/notesSlide65.xml"/><Relationship Id="rId5" Type="http://schemas.openxmlformats.org/officeDocument/2006/relationships/tags" Target="../tags/tag419.xml"/><Relationship Id="rId15" Type="http://schemas.openxmlformats.org/officeDocument/2006/relationships/tags" Target="../tags/tag429.xml"/><Relationship Id="rId23" Type="http://schemas.openxmlformats.org/officeDocument/2006/relationships/slideLayout" Target="../slideLayouts/slideLayout30.xml"/><Relationship Id="rId28" Type="http://schemas.openxmlformats.org/officeDocument/2006/relationships/chart" Target="../charts/chart8.xml"/><Relationship Id="rId10" Type="http://schemas.openxmlformats.org/officeDocument/2006/relationships/tags" Target="../tags/tag424.xml"/><Relationship Id="rId19" Type="http://schemas.openxmlformats.org/officeDocument/2006/relationships/tags" Target="../tags/tag433.xml"/><Relationship Id="rId4" Type="http://schemas.openxmlformats.org/officeDocument/2006/relationships/tags" Target="../tags/tag418.xml"/><Relationship Id="rId9" Type="http://schemas.openxmlformats.org/officeDocument/2006/relationships/tags" Target="../tags/tag423.xml"/><Relationship Id="rId14" Type="http://schemas.openxmlformats.org/officeDocument/2006/relationships/tags" Target="../tags/tag428.xml"/><Relationship Id="rId22" Type="http://schemas.openxmlformats.org/officeDocument/2006/relationships/tags" Target="../tags/tag436.xml"/><Relationship Id="rId27" Type="http://schemas.openxmlformats.org/officeDocument/2006/relationships/chart" Target="../charts/chart7.xml"/></Relationships>
</file>

<file path=ppt/slides/_rels/slide68.xml.rels><?xml version="1.0" encoding="UTF-8" standalone="yes"?>
<Relationships xmlns="http://schemas.openxmlformats.org/package/2006/relationships"><Relationship Id="rId3" Type="http://schemas.openxmlformats.org/officeDocument/2006/relationships/notesSlide" Target="../notesSlides/notesSlide66.xml"/><Relationship Id="rId2" Type="http://schemas.openxmlformats.org/officeDocument/2006/relationships/slideLayout" Target="../slideLayouts/slideLayout30.xml"/><Relationship Id="rId1" Type="http://schemas.openxmlformats.org/officeDocument/2006/relationships/tags" Target="../tags/tag437.xml"/><Relationship Id="rId5" Type="http://schemas.openxmlformats.org/officeDocument/2006/relationships/image" Target="../media/image164.emf"/><Relationship Id="rId4" Type="http://schemas.openxmlformats.org/officeDocument/2006/relationships/oleObject" Target="../embeddings/oleObject56.bin"/></Relationships>
</file>

<file path=ppt/slides/_rels/slide69.xml.rels><?xml version="1.0" encoding="UTF-8" standalone="yes"?>
<Relationships xmlns="http://schemas.openxmlformats.org/package/2006/relationships"><Relationship Id="rId8" Type="http://schemas.openxmlformats.org/officeDocument/2006/relationships/image" Target="../media/image166.png"/><Relationship Id="rId13" Type="http://schemas.openxmlformats.org/officeDocument/2006/relationships/image" Target="../media/image171.png"/><Relationship Id="rId18" Type="http://schemas.openxmlformats.org/officeDocument/2006/relationships/image" Target="../media/image176.png"/><Relationship Id="rId3" Type="http://schemas.openxmlformats.org/officeDocument/2006/relationships/slideLayout" Target="../slideLayouts/slideLayout30.xml"/><Relationship Id="rId7" Type="http://schemas.openxmlformats.org/officeDocument/2006/relationships/image" Target="../media/image165.png"/><Relationship Id="rId12" Type="http://schemas.openxmlformats.org/officeDocument/2006/relationships/image" Target="../media/image170.png"/><Relationship Id="rId17" Type="http://schemas.openxmlformats.org/officeDocument/2006/relationships/image" Target="../media/image175.png"/><Relationship Id="rId2" Type="http://schemas.openxmlformats.org/officeDocument/2006/relationships/tags" Target="../tags/tag439.xml"/><Relationship Id="rId16" Type="http://schemas.openxmlformats.org/officeDocument/2006/relationships/image" Target="../media/image174.png"/><Relationship Id="rId1" Type="http://schemas.openxmlformats.org/officeDocument/2006/relationships/tags" Target="../tags/tag438.xml"/><Relationship Id="rId6" Type="http://schemas.openxmlformats.org/officeDocument/2006/relationships/image" Target="../media/image164.emf"/><Relationship Id="rId11" Type="http://schemas.openxmlformats.org/officeDocument/2006/relationships/image" Target="../media/image169.png"/><Relationship Id="rId5" Type="http://schemas.openxmlformats.org/officeDocument/2006/relationships/oleObject" Target="../embeddings/oleObject57.bin"/><Relationship Id="rId15" Type="http://schemas.openxmlformats.org/officeDocument/2006/relationships/image" Target="../media/image173.png"/><Relationship Id="rId10" Type="http://schemas.openxmlformats.org/officeDocument/2006/relationships/image" Target="../media/image168.png"/><Relationship Id="rId19" Type="http://schemas.openxmlformats.org/officeDocument/2006/relationships/image" Target="../media/image177.png"/><Relationship Id="rId4" Type="http://schemas.openxmlformats.org/officeDocument/2006/relationships/notesSlide" Target="../notesSlides/notesSlide67.xml"/><Relationship Id="rId9" Type="http://schemas.openxmlformats.org/officeDocument/2006/relationships/image" Target="../media/image167.png"/><Relationship Id="rId14" Type="http://schemas.openxmlformats.org/officeDocument/2006/relationships/image" Target="../media/image172.png"/></Relationships>
</file>

<file path=ppt/slides/_rels/slide70.xml.rels><?xml version="1.0" encoding="UTF-8" standalone="yes"?>
<Relationships xmlns="http://schemas.openxmlformats.org/package/2006/relationships"><Relationship Id="rId3" Type="http://schemas.openxmlformats.org/officeDocument/2006/relationships/slideLayout" Target="../slideLayouts/slideLayout30.xml"/><Relationship Id="rId2" Type="http://schemas.openxmlformats.org/officeDocument/2006/relationships/tags" Target="../tags/tag441.xml"/><Relationship Id="rId1" Type="http://schemas.openxmlformats.org/officeDocument/2006/relationships/tags" Target="../tags/tag440.xml"/><Relationship Id="rId6" Type="http://schemas.openxmlformats.org/officeDocument/2006/relationships/image" Target="../media/image164.emf"/><Relationship Id="rId5" Type="http://schemas.openxmlformats.org/officeDocument/2006/relationships/oleObject" Target="../embeddings/oleObject56.bin"/><Relationship Id="rId4" Type="http://schemas.openxmlformats.org/officeDocument/2006/relationships/notesSlide" Target="../notesSlides/notesSlide68.xml"/></Relationships>
</file>

<file path=ppt/slides/_rels/slide71.xml.rels><?xml version="1.0" encoding="UTF-8" standalone="yes"?>
<Relationships xmlns="http://schemas.openxmlformats.org/package/2006/relationships"><Relationship Id="rId8" Type="http://schemas.openxmlformats.org/officeDocument/2006/relationships/image" Target="../media/image183.png"/><Relationship Id="rId3" Type="http://schemas.openxmlformats.org/officeDocument/2006/relationships/image" Target="../media/image178.png"/><Relationship Id="rId7" Type="http://schemas.openxmlformats.org/officeDocument/2006/relationships/image" Target="../media/image182.png"/><Relationship Id="rId12" Type="http://schemas.openxmlformats.org/officeDocument/2006/relationships/image" Target="../media/image187.png"/><Relationship Id="rId2" Type="http://schemas.openxmlformats.org/officeDocument/2006/relationships/notesSlide" Target="../notesSlides/notesSlide69.xml"/><Relationship Id="rId1" Type="http://schemas.openxmlformats.org/officeDocument/2006/relationships/slideLayout" Target="../slideLayouts/slideLayout24.xml"/><Relationship Id="rId6" Type="http://schemas.openxmlformats.org/officeDocument/2006/relationships/image" Target="../media/image181.png"/><Relationship Id="rId11" Type="http://schemas.openxmlformats.org/officeDocument/2006/relationships/image" Target="../media/image186.png"/><Relationship Id="rId5" Type="http://schemas.openxmlformats.org/officeDocument/2006/relationships/image" Target="../media/image180.png"/><Relationship Id="rId10" Type="http://schemas.openxmlformats.org/officeDocument/2006/relationships/image" Target="../media/image185.png"/><Relationship Id="rId4" Type="http://schemas.openxmlformats.org/officeDocument/2006/relationships/image" Target="../media/image179.png"/><Relationship Id="rId9" Type="http://schemas.openxmlformats.org/officeDocument/2006/relationships/image" Target="../media/image184.png"/></Relationships>
</file>

<file path=ppt/slides/_rels/slide72.xml.rels><?xml version="1.0" encoding="UTF-8" standalone="yes"?>
<Relationships xmlns="http://schemas.openxmlformats.org/package/2006/relationships"><Relationship Id="rId8" Type="http://schemas.openxmlformats.org/officeDocument/2006/relationships/image" Target="../media/image66.png"/><Relationship Id="rId3" Type="http://schemas.openxmlformats.org/officeDocument/2006/relationships/tags" Target="../tags/tag444.xml"/><Relationship Id="rId7" Type="http://schemas.openxmlformats.org/officeDocument/2006/relationships/image" Target="../media/image12.emf"/><Relationship Id="rId2" Type="http://schemas.openxmlformats.org/officeDocument/2006/relationships/tags" Target="../tags/tag443.xml"/><Relationship Id="rId1" Type="http://schemas.openxmlformats.org/officeDocument/2006/relationships/tags" Target="../tags/tag442.xml"/><Relationship Id="rId6" Type="http://schemas.openxmlformats.org/officeDocument/2006/relationships/oleObject" Target="../embeddings/oleObject58.bin"/><Relationship Id="rId5" Type="http://schemas.openxmlformats.org/officeDocument/2006/relationships/notesSlide" Target="../notesSlides/notesSlide70.xml"/><Relationship Id="rId4" Type="http://schemas.openxmlformats.org/officeDocument/2006/relationships/slideLayout" Target="../slideLayouts/slideLayout30.xml"/><Relationship Id="rId9" Type="http://schemas.openxmlformats.org/officeDocument/2006/relationships/image" Target="../media/image67.png"/></Relationships>
</file>

<file path=ppt/slides/_rels/slide73.xml.rels><?xml version="1.0" encoding="UTF-8" standalone="yes"?>
<Relationships xmlns="http://schemas.openxmlformats.org/package/2006/relationships"><Relationship Id="rId8" Type="http://schemas.openxmlformats.org/officeDocument/2006/relationships/image" Target="../media/image67.png"/><Relationship Id="rId3" Type="http://schemas.openxmlformats.org/officeDocument/2006/relationships/slideLayout" Target="../slideLayouts/slideLayout30.xml"/><Relationship Id="rId7" Type="http://schemas.openxmlformats.org/officeDocument/2006/relationships/image" Target="../media/image66.png"/><Relationship Id="rId2" Type="http://schemas.openxmlformats.org/officeDocument/2006/relationships/tags" Target="../tags/tag446.xml"/><Relationship Id="rId1" Type="http://schemas.openxmlformats.org/officeDocument/2006/relationships/tags" Target="../tags/tag445.xml"/><Relationship Id="rId6" Type="http://schemas.openxmlformats.org/officeDocument/2006/relationships/image" Target="../media/image12.emf"/><Relationship Id="rId5" Type="http://schemas.openxmlformats.org/officeDocument/2006/relationships/oleObject" Target="../embeddings/oleObject58.bin"/><Relationship Id="rId4" Type="http://schemas.openxmlformats.org/officeDocument/2006/relationships/notesSlide" Target="../notesSlides/notesSlide71.xml"/></Relationships>
</file>

<file path=ppt/slides/_rels/slide74.xml.rels><?xml version="1.0" encoding="UTF-8" standalone="yes"?>
<Relationships xmlns="http://schemas.openxmlformats.org/package/2006/relationships"><Relationship Id="rId3" Type="http://schemas.openxmlformats.org/officeDocument/2006/relationships/notesSlide" Target="../notesSlides/notesSlide72.xml"/><Relationship Id="rId2" Type="http://schemas.openxmlformats.org/officeDocument/2006/relationships/slideLayout" Target="../slideLayouts/slideLayout6.xml"/><Relationship Id="rId1" Type="http://schemas.openxmlformats.org/officeDocument/2006/relationships/tags" Target="../tags/tag447.xml"/><Relationship Id="rId5" Type="http://schemas.openxmlformats.org/officeDocument/2006/relationships/image" Target="../media/image13.emf"/><Relationship Id="rId4" Type="http://schemas.openxmlformats.org/officeDocument/2006/relationships/oleObject" Target="../embeddings/oleObject40.bin"/></Relationships>
</file>

<file path=ppt/slides/_rels/slide75.xml.rels><?xml version="1.0" encoding="UTF-8" standalone="yes"?>
<Relationships xmlns="http://schemas.openxmlformats.org/package/2006/relationships"><Relationship Id="rId3" Type="http://schemas.openxmlformats.org/officeDocument/2006/relationships/tags" Target="../tags/tag450.xml"/><Relationship Id="rId7" Type="http://schemas.openxmlformats.org/officeDocument/2006/relationships/image" Target="../media/image10.emf"/><Relationship Id="rId2" Type="http://schemas.openxmlformats.org/officeDocument/2006/relationships/tags" Target="../tags/tag449.xml"/><Relationship Id="rId1" Type="http://schemas.openxmlformats.org/officeDocument/2006/relationships/tags" Target="../tags/tag448.xml"/><Relationship Id="rId6" Type="http://schemas.openxmlformats.org/officeDocument/2006/relationships/oleObject" Target="../embeddings/oleObject59.bin"/><Relationship Id="rId5" Type="http://schemas.openxmlformats.org/officeDocument/2006/relationships/notesSlide" Target="../notesSlides/notesSlide73.xml"/><Relationship Id="rId4" Type="http://schemas.openxmlformats.org/officeDocument/2006/relationships/slideLayout" Target="../slideLayouts/slideLayout69.xml"/></Relationships>
</file>

<file path=ppt/slides/_rels/slide76.xml.rels><?xml version="1.0" encoding="UTF-8" standalone="yes"?>
<Relationships xmlns="http://schemas.openxmlformats.org/package/2006/relationships"><Relationship Id="rId8" Type="http://schemas.openxmlformats.org/officeDocument/2006/relationships/image" Target="../media/image74.png"/><Relationship Id="rId3" Type="http://schemas.openxmlformats.org/officeDocument/2006/relationships/slideLayout" Target="../slideLayouts/slideLayout70.xml"/><Relationship Id="rId7" Type="http://schemas.openxmlformats.org/officeDocument/2006/relationships/image" Target="../media/image11.png"/><Relationship Id="rId2" Type="http://schemas.openxmlformats.org/officeDocument/2006/relationships/tags" Target="../tags/tag452.xml"/><Relationship Id="rId1" Type="http://schemas.openxmlformats.org/officeDocument/2006/relationships/tags" Target="../tags/tag451.xml"/><Relationship Id="rId6" Type="http://schemas.openxmlformats.org/officeDocument/2006/relationships/image" Target="../media/image12.emf"/><Relationship Id="rId5" Type="http://schemas.openxmlformats.org/officeDocument/2006/relationships/oleObject" Target="../embeddings/oleObject41.bin"/><Relationship Id="rId4" Type="http://schemas.openxmlformats.org/officeDocument/2006/relationships/notesSlide" Target="../notesSlides/notesSlide74.xml"/></Relationships>
</file>

<file path=ppt/slides/_rels/slide77.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454.xml"/><Relationship Id="rId1" Type="http://schemas.openxmlformats.org/officeDocument/2006/relationships/tags" Target="../tags/tag453.xml"/><Relationship Id="rId6" Type="http://schemas.openxmlformats.org/officeDocument/2006/relationships/image" Target="../media/image10.emf"/><Relationship Id="rId5" Type="http://schemas.openxmlformats.org/officeDocument/2006/relationships/oleObject" Target="../embeddings/oleObject60.bin"/><Relationship Id="rId4" Type="http://schemas.openxmlformats.org/officeDocument/2006/relationships/notesSlide" Target="../notesSlides/notesSlide75.xml"/></Relationships>
</file>

<file path=ppt/slides/_rels/slide78.xml.rels><?xml version="1.0" encoding="UTF-8" standalone="yes"?>
<Relationships xmlns="http://schemas.openxmlformats.org/package/2006/relationships"><Relationship Id="rId3" Type="http://schemas.openxmlformats.org/officeDocument/2006/relationships/slideLayout" Target="../slideLayouts/slideLayout30.xml"/><Relationship Id="rId7" Type="http://schemas.openxmlformats.org/officeDocument/2006/relationships/image" Target="../media/image188.jpeg"/><Relationship Id="rId2" Type="http://schemas.openxmlformats.org/officeDocument/2006/relationships/tags" Target="../tags/tag456.xml"/><Relationship Id="rId1" Type="http://schemas.openxmlformats.org/officeDocument/2006/relationships/tags" Target="../tags/tag455.xml"/><Relationship Id="rId6" Type="http://schemas.openxmlformats.org/officeDocument/2006/relationships/image" Target="../media/image44.emf"/><Relationship Id="rId5" Type="http://schemas.openxmlformats.org/officeDocument/2006/relationships/oleObject" Target="../embeddings/oleObject61.bin"/><Relationship Id="rId4" Type="http://schemas.openxmlformats.org/officeDocument/2006/relationships/notesSlide" Target="../notesSlides/notesSlide76.xml"/></Relationships>
</file>

<file path=ppt/slides/_rels/slide79.xml.rels><?xml version="1.0" encoding="UTF-8" standalone="yes"?>
<Relationships xmlns="http://schemas.openxmlformats.org/package/2006/relationships"><Relationship Id="rId3" Type="http://schemas.openxmlformats.org/officeDocument/2006/relationships/slideLayout" Target="../slideLayouts/slideLayout69.xml"/><Relationship Id="rId7" Type="http://schemas.openxmlformats.org/officeDocument/2006/relationships/image" Target="../media/image189.png"/><Relationship Id="rId2" Type="http://schemas.openxmlformats.org/officeDocument/2006/relationships/tags" Target="../tags/tag458.xml"/><Relationship Id="rId1" Type="http://schemas.openxmlformats.org/officeDocument/2006/relationships/tags" Target="../tags/tag457.xml"/><Relationship Id="rId6" Type="http://schemas.openxmlformats.org/officeDocument/2006/relationships/image" Target="../media/image10.emf"/><Relationship Id="rId5" Type="http://schemas.openxmlformats.org/officeDocument/2006/relationships/oleObject" Target="../embeddings/oleObject62.bin"/><Relationship Id="rId4" Type="http://schemas.openxmlformats.org/officeDocument/2006/relationships/notesSlide" Target="../notesSlides/notesSlide77.xml"/></Relationships>
</file>

<file path=ppt/slides/_rels/slide80.xml.rels><?xml version="1.0" encoding="UTF-8" standalone="yes"?>
<Relationships xmlns="http://schemas.openxmlformats.org/package/2006/relationships"><Relationship Id="rId13" Type="http://schemas.openxmlformats.org/officeDocument/2006/relationships/tags" Target="../tags/tag471.xml"/><Relationship Id="rId18" Type="http://schemas.openxmlformats.org/officeDocument/2006/relationships/tags" Target="../tags/tag476.xml"/><Relationship Id="rId26" Type="http://schemas.openxmlformats.org/officeDocument/2006/relationships/tags" Target="../tags/tag484.xml"/><Relationship Id="rId39" Type="http://schemas.openxmlformats.org/officeDocument/2006/relationships/tags" Target="../tags/tag497.xml"/><Relationship Id="rId21" Type="http://schemas.openxmlformats.org/officeDocument/2006/relationships/tags" Target="../tags/tag479.xml"/><Relationship Id="rId34" Type="http://schemas.openxmlformats.org/officeDocument/2006/relationships/tags" Target="../tags/tag492.xml"/><Relationship Id="rId42" Type="http://schemas.openxmlformats.org/officeDocument/2006/relationships/tags" Target="../tags/tag500.xml"/><Relationship Id="rId47" Type="http://schemas.openxmlformats.org/officeDocument/2006/relationships/tags" Target="../tags/tag505.xml"/><Relationship Id="rId50" Type="http://schemas.openxmlformats.org/officeDocument/2006/relationships/tags" Target="../tags/tag508.xml"/><Relationship Id="rId55" Type="http://schemas.openxmlformats.org/officeDocument/2006/relationships/slideLayout" Target="../slideLayouts/slideLayout30.xml"/><Relationship Id="rId7" Type="http://schemas.openxmlformats.org/officeDocument/2006/relationships/tags" Target="../tags/tag465.xml"/><Relationship Id="rId2" Type="http://schemas.openxmlformats.org/officeDocument/2006/relationships/tags" Target="../tags/tag460.xml"/><Relationship Id="rId16" Type="http://schemas.openxmlformats.org/officeDocument/2006/relationships/tags" Target="../tags/tag474.xml"/><Relationship Id="rId29" Type="http://schemas.openxmlformats.org/officeDocument/2006/relationships/tags" Target="../tags/tag487.xml"/><Relationship Id="rId11" Type="http://schemas.openxmlformats.org/officeDocument/2006/relationships/tags" Target="../tags/tag469.xml"/><Relationship Id="rId24" Type="http://schemas.openxmlformats.org/officeDocument/2006/relationships/tags" Target="../tags/tag482.xml"/><Relationship Id="rId32" Type="http://schemas.openxmlformats.org/officeDocument/2006/relationships/tags" Target="../tags/tag490.xml"/><Relationship Id="rId37" Type="http://schemas.openxmlformats.org/officeDocument/2006/relationships/tags" Target="../tags/tag495.xml"/><Relationship Id="rId40" Type="http://schemas.openxmlformats.org/officeDocument/2006/relationships/tags" Target="../tags/tag498.xml"/><Relationship Id="rId45" Type="http://schemas.openxmlformats.org/officeDocument/2006/relationships/tags" Target="../tags/tag503.xml"/><Relationship Id="rId53" Type="http://schemas.openxmlformats.org/officeDocument/2006/relationships/tags" Target="../tags/tag511.xml"/><Relationship Id="rId58" Type="http://schemas.openxmlformats.org/officeDocument/2006/relationships/image" Target="../media/image51.emf"/><Relationship Id="rId5" Type="http://schemas.openxmlformats.org/officeDocument/2006/relationships/tags" Target="../tags/tag463.xml"/><Relationship Id="rId19" Type="http://schemas.openxmlformats.org/officeDocument/2006/relationships/tags" Target="../tags/tag477.xml"/><Relationship Id="rId4" Type="http://schemas.openxmlformats.org/officeDocument/2006/relationships/tags" Target="../tags/tag462.xml"/><Relationship Id="rId9" Type="http://schemas.openxmlformats.org/officeDocument/2006/relationships/tags" Target="../tags/tag467.xml"/><Relationship Id="rId14" Type="http://schemas.openxmlformats.org/officeDocument/2006/relationships/tags" Target="../tags/tag472.xml"/><Relationship Id="rId22" Type="http://schemas.openxmlformats.org/officeDocument/2006/relationships/tags" Target="../tags/tag480.xml"/><Relationship Id="rId27" Type="http://schemas.openxmlformats.org/officeDocument/2006/relationships/tags" Target="../tags/tag485.xml"/><Relationship Id="rId30" Type="http://schemas.openxmlformats.org/officeDocument/2006/relationships/tags" Target="../tags/tag488.xml"/><Relationship Id="rId35" Type="http://schemas.openxmlformats.org/officeDocument/2006/relationships/tags" Target="../tags/tag493.xml"/><Relationship Id="rId43" Type="http://schemas.openxmlformats.org/officeDocument/2006/relationships/tags" Target="../tags/tag501.xml"/><Relationship Id="rId48" Type="http://schemas.openxmlformats.org/officeDocument/2006/relationships/tags" Target="../tags/tag506.xml"/><Relationship Id="rId56" Type="http://schemas.openxmlformats.org/officeDocument/2006/relationships/notesSlide" Target="../notesSlides/notesSlide78.xml"/><Relationship Id="rId8" Type="http://schemas.openxmlformats.org/officeDocument/2006/relationships/tags" Target="../tags/tag466.xml"/><Relationship Id="rId51" Type="http://schemas.openxmlformats.org/officeDocument/2006/relationships/tags" Target="../tags/tag509.xml"/><Relationship Id="rId3" Type="http://schemas.openxmlformats.org/officeDocument/2006/relationships/tags" Target="../tags/tag461.xml"/><Relationship Id="rId12" Type="http://schemas.openxmlformats.org/officeDocument/2006/relationships/tags" Target="../tags/tag470.xml"/><Relationship Id="rId17" Type="http://schemas.openxmlformats.org/officeDocument/2006/relationships/tags" Target="../tags/tag475.xml"/><Relationship Id="rId25" Type="http://schemas.openxmlformats.org/officeDocument/2006/relationships/tags" Target="../tags/tag483.xml"/><Relationship Id="rId33" Type="http://schemas.openxmlformats.org/officeDocument/2006/relationships/tags" Target="../tags/tag491.xml"/><Relationship Id="rId38" Type="http://schemas.openxmlformats.org/officeDocument/2006/relationships/tags" Target="../tags/tag496.xml"/><Relationship Id="rId46" Type="http://schemas.openxmlformats.org/officeDocument/2006/relationships/tags" Target="../tags/tag504.xml"/><Relationship Id="rId20" Type="http://schemas.openxmlformats.org/officeDocument/2006/relationships/tags" Target="../tags/tag478.xml"/><Relationship Id="rId41" Type="http://schemas.openxmlformats.org/officeDocument/2006/relationships/tags" Target="../tags/tag499.xml"/><Relationship Id="rId54" Type="http://schemas.openxmlformats.org/officeDocument/2006/relationships/tags" Target="../tags/tag512.xml"/><Relationship Id="rId1" Type="http://schemas.openxmlformats.org/officeDocument/2006/relationships/tags" Target="../tags/tag459.xml"/><Relationship Id="rId6" Type="http://schemas.openxmlformats.org/officeDocument/2006/relationships/tags" Target="../tags/tag464.xml"/><Relationship Id="rId15" Type="http://schemas.openxmlformats.org/officeDocument/2006/relationships/tags" Target="../tags/tag473.xml"/><Relationship Id="rId23" Type="http://schemas.openxmlformats.org/officeDocument/2006/relationships/tags" Target="../tags/tag481.xml"/><Relationship Id="rId28" Type="http://schemas.openxmlformats.org/officeDocument/2006/relationships/tags" Target="../tags/tag486.xml"/><Relationship Id="rId36" Type="http://schemas.openxmlformats.org/officeDocument/2006/relationships/tags" Target="../tags/tag494.xml"/><Relationship Id="rId49" Type="http://schemas.openxmlformats.org/officeDocument/2006/relationships/tags" Target="../tags/tag507.xml"/><Relationship Id="rId57" Type="http://schemas.openxmlformats.org/officeDocument/2006/relationships/oleObject" Target="../embeddings/oleObject63.bin"/><Relationship Id="rId10" Type="http://schemas.openxmlformats.org/officeDocument/2006/relationships/tags" Target="../tags/tag468.xml"/><Relationship Id="rId31" Type="http://schemas.openxmlformats.org/officeDocument/2006/relationships/tags" Target="../tags/tag489.xml"/><Relationship Id="rId44" Type="http://schemas.openxmlformats.org/officeDocument/2006/relationships/tags" Target="../tags/tag502.xml"/><Relationship Id="rId52" Type="http://schemas.openxmlformats.org/officeDocument/2006/relationships/tags" Target="../tags/tag510.xml"/></Relationships>
</file>

<file path=ppt/slides/_rels/slide81.xml.rels><?xml version="1.0" encoding="UTF-8" standalone="yes"?>
<Relationships xmlns="http://schemas.openxmlformats.org/package/2006/relationships"><Relationship Id="rId13" Type="http://schemas.openxmlformats.org/officeDocument/2006/relationships/tags" Target="../tags/tag525.xml"/><Relationship Id="rId18" Type="http://schemas.openxmlformats.org/officeDocument/2006/relationships/tags" Target="../tags/tag530.xml"/><Relationship Id="rId26" Type="http://schemas.openxmlformats.org/officeDocument/2006/relationships/tags" Target="../tags/tag538.xml"/><Relationship Id="rId39" Type="http://schemas.openxmlformats.org/officeDocument/2006/relationships/image" Target="../media/image54.png"/><Relationship Id="rId21" Type="http://schemas.openxmlformats.org/officeDocument/2006/relationships/tags" Target="../tags/tag533.xml"/><Relationship Id="rId34" Type="http://schemas.openxmlformats.org/officeDocument/2006/relationships/notesSlide" Target="../notesSlides/notesSlide79.xml"/><Relationship Id="rId42" Type="http://schemas.openxmlformats.org/officeDocument/2006/relationships/image" Target="../media/image57.png"/><Relationship Id="rId7" Type="http://schemas.openxmlformats.org/officeDocument/2006/relationships/tags" Target="../tags/tag519.xml"/><Relationship Id="rId2" Type="http://schemas.openxmlformats.org/officeDocument/2006/relationships/tags" Target="../tags/tag514.xml"/><Relationship Id="rId16" Type="http://schemas.openxmlformats.org/officeDocument/2006/relationships/tags" Target="../tags/tag528.xml"/><Relationship Id="rId20" Type="http://schemas.openxmlformats.org/officeDocument/2006/relationships/tags" Target="../tags/tag532.xml"/><Relationship Id="rId29" Type="http://schemas.openxmlformats.org/officeDocument/2006/relationships/tags" Target="../tags/tag541.xml"/><Relationship Id="rId41" Type="http://schemas.openxmlformats.org/officeDocument/2006/relationships/image" Target="../media/image56.jpeg"/><Relationship Id="rId1" Type="http://schemas.openxmlformats.org/officeDocument/2006/relationships/tags" Target="../tags/tag513.xml"/><Relationship Id="rId6" Type="http://schemas.openxmlformats.org/officeDocument/2006/relationships/tags" Target="../tags/tag518.xml"/><Relationship Id="rId11" Type="http://schemas.openxmlformats.org/officeDocument/2006/relationships/tags" Target="../tags/tag523.xml"/><Relationship Id="rId24" Type="http://schemas.openxmlformats.org/officeDocument/2006/relationships/tags" Target="../tags/tag536.xml"/><Relationship Id="rId32" Type="http://schemas.openxmlformats.org/officeDocument/2006/relationships/tags" Target="../tags/tag544.xml"/><Relationship Id="rId37" Type="http://schemas.openxmlformats.org/officeDocument/2006/relationships/image" Target="../media/image52.png"/><Relationship Id="rId40" Type="http://schemas.openxmlformats.org/officeDocument/2006/relationships/image" Target="../media/image55.png"/><Relationship Id="rId5" Type="http://schemas.openxmlformats.org/officeDocument/2006/relationships/tags" Target="../tags/tag517.xml"/><Relationship Id="rId15" Type="http://schemas.openxmlformats.org/officeDocument/2006/relationships/tags" Target="../tags/tag527.xml"/><Relationship Id="rId23" Type="http://schemas.openxmlformats.org/officeDocument/2006/relationships/tags" Target="../tags/tag535.xml"/><Relationship Id="rId28" Type="http://schemas.openxmlformats.org/officeDocument/2006/relationships/tags" Target="../tags/tag540.xml"/><Relationship Id="rId36" Type="http://schemas.openxmlformats.org/officeDocument/2006/relationships/image" Target="../media/image51.emf"/><Relationship Id="rId10" Type="http://schemas.openxmlformats.org/officeDocument/2006/relationships/tags" Target="../tags/tag522.xml"/><Relationship Id="rId19" Type="http://schemas.openxmlformats.org/officeDocument/2006/relationships/tags" Target="../tags/tag531.xml"/><Relationship Id="rId31" Type="http://schemas.openxmlformats.org/officeDocument/2006/relationships/tags" Target="../tags/tag543.xml"/><Relationship Id="rId4" Type="http://schemas.openxmlformats.org/officeDocument/2006/relationships/tags" Target="../tags/tag516.xml"/><Relationship Id="rId9" Type="http://schemas.openxmlformats.org/officeDocument/2006/relationships/tags" Target="../tags/tag521.xml"/><Relationship Id="rId14" Type="http://schemas.openxmlformats.org/officeDocument/2006/relationships/tags" Target="../tags/tag526.xml"/><Relationship Id="rId22" Type="http://schemas.openxmlformats.org/officeDocument/2006/relationships/tags" Target="../tags/tag534.xml"/><Relationship Id="rId27" Type="http://schemas.openxmlformats.org/officeDocument/2006/relationships/tags" Target="../tags/tag539.xml"/><Relationship Id="rId30" Type="http://schemas.openxmlformats.org/officeDocument/2006/relationships/tags" Target="../tags/tag542.xml"/><Relationship Id="rId35" Type="http://schemas.openxmlformats.org/officeDocument/2006/relationships/oleObject" Target="../embeddings/oleObject27.bin"/><Relationship Id="rId8" Type="http://schemas.openxmlformats.org/officeDocument/2006/relationships/tags" Target="../tags/tag520.xml"/><Relationship Id="rId3" Type="http://schemas.openxmlformats.org/officeDocument/2006/relationships/tags" Target="../tags/tag515.xml"/><Relationship Id="rId12" Type="http://schemas.openxmlformats.org/officeDocument/2006/relationships/tags" Target="../tags/tag524.xml"/><Relationship Id="rId17" Type="http://schemas.openxmlformats.org/officeDocument/2006/relationships/tags" Target="../tags/tag529.xml"/><Relationship Id="rId25" Type="http://schemas.openxmlformats.org/officeDocument/2006/relationships/tags" Target="../tags/tag537.xml"/><Relationship Id="rId33" Type="http://schemas.openxmlformats.org/officeDocument/2006/relationships/slideLayout" Target="../slideLayouts/slideLayout30.xml"/><Relationship Id="rId38" Type="http://schemas.openxmlformats.org/officeDocument/2006/relationships/image" Target="../media/image53.png"/></Relationships>
</file>

<file path=ppt/slides/_rels/slide82.xml.rels><?xml version="1.0" encoding="UTF-8" standalone="yes"?>
<Relationships xmlns="http://schemas.openxmlformats.org/package/2006/relationships"><Relationship Id="rId8" Type="http://schemas.openxmlformats.org/officeDocument/2006/relationships/image" Target="../media/image58.png"/><Relationship Id="rId3" Type="http://schemas.openxmlformats.org/officeDocument/2006/relationships/tags" Target="../tags/tag547.xml"/><Relationship Id="rId7" Type="http://schemas.openxmlformats.org/officeDocument/2006/relationships/image" Target="../media/image47.emf"/><Relationship Id="rId2" Type="http://schemas.openxmlformats.org/officeDocument/2006/relationships/tags" Target="../tags/tag546.xml"/><Relationship Id="rId1" Type="http://schemas.openxmlformats.org/officeDocument/2006/relationships/tags" Target="../tags/tag545.xml"/><Relationship Id="rId6" Type="http://schemas.openxmlformats.org/officeDocument/2006/relationships/oleObject" Target="../embeddings/oleObject32.bin"/><Relationship Id="rId11" Type="http://schemas.openxmlformats.org/officeDocument/2006/relationships/image" Target="../media/image61.png"/><Relationship Id="rId5" Type="http://schemas.openxmlformats.org/officeDocument/2006/relationships/notesSlide" Target="../notesSlides/notesSlide80.xml"/><Relationship Id="rId10" Type="http://schemas.openxmlformats.org/officeDocument/2006/relationships/image" Target="../media/image60.png"/><Relationship Id="rId4" Type="http://schemas.openxmlformats.org/officeDocument/2006/relationships/slideLayout" Target="../slideLayouts/slideLayout30.xml"/><Relationship Id="rId9" Type="http://schemas.openxmlformats.org/officeDocument/2006/relationships/image" Target="../media/image59.png"/></Relationships>
</file>

<file path=ppt/slides/_rels/slide83.xml.rels><?xml version="1.0" encoding="UTF-8" standalone="yes"?>
<Relationships xmlns="http://schemas.openxmlformats.org/package/2006/relationships"><Relationship Id="rId3" Type="http://schemas.openxmlformats.org/officeDocument/2006/relationships/tags" Target="../tags/tag550.xml"/><Relationship Id="rId7" Type="http://schemas.openxmlformats.org/officeDocument/2006/relationships/image" Target="../media/image47.emf"/><Relationship Id="rId2" Type="http://schemas.openxmlformats.org/officeDocument/2006/relationships/tags" Target="../tags/tag549.xml"/><Relationship Id="rId1" Type="http://schemas.openxmlformats.org/officeDocument/2006/relationships/tags" Target="../tags/tag548.xml"/><Relationship Id="rId6" Type="http://schemas.openxmlformats.org/officeDocument/2006/relationships/oleObject" Target="../embeddings/oleObject33.bin"/><Relationship Id="rId5" Type="http://schemas.openxmlformats.org/officeDocument/2006/relationships/notesSlide" Target="../notesSlides/notesSlide81.xml"/><Relationship Id="rId4" Type="http://schemas.openxmlformats.org/officeDocument/2006/relationships/slideLayout" Target="../slideLayouts/slideLayout30.xml"/></Relationships>
</file>

<file path=ppt/slides/_rels/slide84.xml.rels><?xml version="1.0" encoding="UTF-8" standalone="yes"?>
<Relationships xmlns="http://schemas.openxmlformats.org/package/2006/relationships"><Relationship Id="rId8" Type="http://schemas.openxmlformats.org/officeDocument/2006/relationships/slide" Target="slide55.xml"/><Relationship Id="rId13" Type="http://schemas.openxmlformats.org/officeDocument/2006/relationships/slide" Target="slide58.xml"/><Relationship Id="rId3" Type="http://schemas.openxmlformats.org/officeDocument/2006/relationships/slideLayout" Target="../slideLayouts/slideLayout2.xml"/><Relationship Id="rId7" Type="http://schemas.openxmlformats.org/officeDocument/2006/relationships/slide" Target="slide53.xml"/><Relationship Id="rId12" Type="http://schemas.openxmlformats.org/officeDocument/2006/relationships/slide" Target="slide59.xml"/><Relationship Id="rId17" Type="http://schemas.openxmlformats.org/officeDocument/2006/relationships/slide" Target="slide29.xml"/><Relationship Id="rId2" Type="http://schemas.openxmlformats.org/officeDocument/2006/relationships/tags" Target="../tags/tag552.xml"/><Relationship Id="rId16" Type="http://schemas.openxmlformats.org/officeDocument/2006/relationships/slide" Target="slide27.xml"/><Relationship Id="rId1" Type="http://schemas.openxmlformats.org/officeDocument/2006/relationships/tags" Target="../tags/tag551.xml"/><Relationship Id="rId6" Type="http://schemas.openxmlformats.org/officeDocument/2006/relationships/image" Target="../media/image12.emf"/><Relationship Id="rId11" Type="http://schemas.openxmlformats.org/officeDocument/2006/relationships/slide" Target="slide57.xml"/><Relationship Id="rId5" Type="http://schemas.openxmlformats.org/officeDocument/2006/relationships/oleObject" Target="../embeddings/oleObject64.bin"/><Relationship Id="rId15" Type="http://schemas.openxmlformats.org/officeDocument/2006/relationships/slide" Target="slide38.xml"/><Relationship Id="rId10" Type="http://schemas.openxmlformats.org/officeDocument/2006/relationships/slide" Target="slide62.xml"/><Relationship Id="rId4" Type="http://schemas.openxmlformats.org/officeDocument/2006/relationships/notesSlide" Target="../notesSlides/notesSlide82.xml"/><Relationship Id="rId9" Type="http://schemas.openxmlformats.org/officeDocument/2006/relationships/slide" Target="slide54.xml"/><Relationship Id="rId14" Type="http://schemas.openxmlformats.org/officeDocument/2006/relationships/slide" Target="slide91.xml"/></Relationships>
</file>

<file path=ppt/slides/_rels/slide85.xml.rels><?xml version="1.0" encoding="UTF-8" standalone="yes"?>
<Relationships xmlns="http://schemas.openxmlformats.org/package/2006/relationships"><Relationship Id="rId3" Type="http://schemas.openxmlformats.org/officeDocument/2006/relationships/slideLayout" Target="../slideLayouts/slideLayout30.xml"/><Relationship Id="rId2" Type="http://schemas.openxmlformats.org/officeDocument/2006/relationships/tags" Target="../tags/tag554.xml"/><Relationship Id="rId1" Type="http://schemas.openxmlformats.org/officeDocument/2006/relationships/tags" Target="../tags/tag553.xml"/><Relationship Id="rId6" Type="http://schemas.openxmlformats.org/officeDocument/2006/relationships/image" Target="../media/image26.emf"/><Relationship Id="rId5" Type="http://schemas.openxmlformats.org/officeDocument/2006/relationships/oleObject" Target="../embeddings/oleObject65.bin"/><Relationship Id="rId4" Type="http://schemas.openxmlformats.org/officeDocument/2006/relationships/notesSlide" Target="../notesSlides/notesSlide83.xml"/></Relationships>
</file>

<file path=ppt/slides/_rels/slide86.xml.rels><?xml version="1.0" encoding="UTF-8" standalone="yes"?>
<Relationships xmlns="http://schemas.openxmlformats.org/package/2006/relationships"><Relationship Id="rId3" Type="http://schemas.openxmlformats.org/officeDocument/2006/relationships/slideLayout" Target="../slideLayouts/slideLayout30.xml"/><Relationship Id="rId2" Type="http://schemas.openxmlformats.org/officeDocument/2006/relationships/tags" Target="../tags/tag556.xml"/><Relationship Id="rId1" Type="http://schemas.openxmlformats.org/officeDocument/2006/relationships/tags" Target="../tags/tag555.xml"/><Relationship Id="rId6" Type="http://schemas.openxmlformats.org/officeDocument/2006/relationships/image" Target="../media/image26.emf"/><Relationship Id="rId5" Type="http://schemas.openxmlformats.org/officeDocument/2006/relationships/oleObject" Target="../embeddings/oleObject66.bin"/><Relationship Id="rId4" Type="http://schemas.openxmlformats.org/officeDocument/2006/relationships/notesSlide" Target="../notesSlides/notesSlide84.xml"/></Relationships>
</file>

<file path=ppt/slides/_rels/slide87.xml.rels><?xml version="1.0" encoding="UTF-8" standalone="yes"?>
<Relationships xmlns="http://schemas.openxmlformats.org/package/2006/relationships"><Relationship Id="rId8" Type="http://schemas.openxmlformats.org/officeDocument/2006/relationships/tags" Target="../tags/tag564.xml"/><Relationship Id="rId13" Type="http://schemas.openxmlformats.org/officeDocument/2006/relationships/oleObject" Target="../embeddings/oleObject67.bin"/><Relationship Id="rId3" Type="http://schemas.openxmlformats.org/officeDocument/2006/relationships/tags" Target="../tags/tag559.xml"/><Relationship Id="rId7" Type="http://schemas.openxmlformats.org/officeDocument/2006/relationships/tags" Target="../tags/tag563.xml"/><Relationship Id="rId12" Type="http://schemas.openxmlformats.org/officeDocument/2006/relationships/notesSlide" Target="../notesSlides/notesSlide85.xml"/><Relationship Id="rId2" Type="http://schemas.openxmlformats.org/officeDocument/2006/relationships/tags" Target="../tags/tag558.xml"/><Relationship Id="rId1" Type="http://schemas.openxmlformats.org/officeDocument/2006/relationships/tags" Target="../tags/tag557.xml"/><Relationship Id="rId6" Type="http://schemas.openxmlformats.org/officeDocument/2006/relationships/tags" Target="../tags/tag562.xml"/><Relationship Id="rId11" Type="http://schemas.openxmlformats.org/officeDocument/2006/relationships/slideLayout" Target="../slideLayouts/slideLayout30.xml"/><Relationship Id="rId5" Type="http://schemas.openxmlformats.org/officeDocument/2006/relationships/tags" Target="../tags/tag561.xml"/><Relationship Id="rId10" Type="http://schemas.openxmlformats.org/officeDocument/2006/relationships/tags" Target="../tags/tag566.xml"/><Relationship Id="rId4" Type="http://schemas.openxmlformats.org/officeDocument/2006/relationships/tags" Target="../tags/tag560.xml"/><Relationship Id="rId9" Type="http://schemas.openxmlformats.org/officeDocument/2006/relationships/tags" Target="../tags/tag565.xml"/><Relationship Id="rId14" Type="http://schemas.openxmlformats.org/officeDocument/2006/relationships/image" Target="../media/image26.emf"/></Relationships>
</file>

<file path=ppt/slides/_rels/slide88.xml.rels><?xml version="1.0" encoding="UTF-8" standalone="yes"?>
<Relationships xmlns="http://schemas.openxmlformats.org/package/2006/relationships"><Relationship Id="rId8" Type="http://schemas.openxmlformats.org/officeDocument/2006/relationships/tags" Target="../tags/tag574.xml"/><Relationship Id="rId13" Type="http://schemas.openxmlformats.org/officeDocument/2006/relationships/tags" Target="../tags/tag579.xml"/><Relationship Id="rId18" Type="http://schemas.openxmlformats.org/officeDocument/2006/relationships/oleObject" Target="../embeddings/oleObject68.bin"/><Relationship Id="rId3" Type="http://schemas.openxmlformats.org/officeDocument/2006/relationships/tags" Target="../tags/tag569.xml"/><Relationship Id="rId7" Type="http://schemas.openxmlformats.org/officeDocument/2006/relationships/tags" Target="../tags/tag573.xml"/><Relationship Id="rId12" Type="http://schemas.openxmlformats.org/officeDocument/2006/relationships/tags" Target="../tags/tag578.xml"/><Relationship Id="rId17" Type="http://schemas.openxmlformats.org/officeDocument/2006/relationships/notesSlide" Target="../notesSlides/notesSlide86.xml"/><Relationship Id="rId2" Type="http://schemas.openxmlformats.org/officeDocument/2006/relationships/tags" Target="../tags/tag568.xml"/><Relationship Id="rId16" Type="http://schemas.openxmlformats.org/officeDocument/2006/relationships/slideLayout" Target="../slideLayouts/slideLayout30.xml"/><Relationship Id="rId1" Type="http://schemas.openxmlformats.org/officeDocument/2006/relationships/tags" Target="../tags/tag567.xml"/><Relationship Id="rId6" Type="http://schemas.openxmlformats.org/officeDocument/2006/relationships/tags" Target="../tags/tag572.xml"/><Relationship Id="rId11" Type="http://schemas.openxmlformats.org/officeDocument/2006/relationships/tags" Target="../tags/tag577.xml"/><Relationship Id="rId5" Type="http://schemas.openxmlformats.org/officeDocument/2006/relationships/tags" Target="../tags/tag571.xml"/><Relationship Id="rId15" Type="http://schemas.openxmlformats.org/officeDocument/2006/relationships/tags" Target="../tags/tag581.xml"/><Relationship Id="rId10" Type="http://schemas.openxmlformats.org/officeDocument/2006/relationships/tags" Target="../tags/tag576.xml"/><Relationship Id="rId19" Type="http://schemas.openxmlformats.org/officeDocument/2006/relationships/image" Target="../media/image26.emf"/><Relationship Id="rId4" Type="http://schemas.openxmlformats.org/officeDocument/2006/relationships/tags" Target="../tags/tag570.xml"/><Relationship Id="rId9" Type="http://schemas.openxmlformats.org/officeDocument/2006/relationships/tags" Target="../tags/tag575.xml"/><Relationship Id="rId14" Type="http://schemas.openxmlformats.org/officeDocument/2006/relationships/tags" Target="../tags/tag580.xml"/></Relationships>
</file>

<file path=ppt/slides/_rels/slide89.xml.rels><?xml version="1.0" encoding="UTF-8" standalone="yes"?>
<Relationships xmlns="http://schemas.openxmlformats.org/package/2006/relationships"><Relationship Id="rId3" Type="http://schemas.openxmlformats.org/officeDocument/2006/relationships/image" Target="../media/image190.png"/><Relationship Id="rId2" Type="http://schemas.openxmlformats.org/officeDocument/2006/relationships/notesSlide" Target="../notesSlides/notesSlide87.xml"/><Relationship Id="rId1" Type="http://schemas.openxmlformats.org/officeDocument/2006/relationships/slideLayout" Target="../slideLayouts/slideLayout30.xml"/></Relationships>
</file>

<file path=ppt/slides/_rels/slide90.xml.rels><?xml version="1.0" encoding="UTF-8" standalone="yes"?>
<Relationships xmlns="http://schemas.openxmlformats.org/package/2006/relationships"><Relationship Id="rId3" Type="http://schemas.openxmlformats.org/officeDocument/2006/relationships/slideLayout" Target="../slideLayouts/slideLayout30.xml"/><Relationship Id="rId2" Type="http://schemas.openxmlformats.org/officeDocument/2006/relationships/tags" Target="../tags/tag583.xml"/><Relationship Id="rId1" Type="http://schemas.openxmlformats.org/officeDocument/2006/relationships/tags" Target="../tags/tag582.xml"/><Relationship Id="rId6" Type="http://schemas.openxmlformats.org/officeDocument/2006/relationships/image" Target="../media/image12.emf"/><Relationship Id="rId5" Type="http://schemas.openxmlformats.org/officeDocument/2006/relationships/oleObject" Target="../embeddings/oleObject69.bin"/><Relationship Id="rId4" Type="http://schemas.openxmlformats.org/officeDocument/2006/relationships/notesSlide" Target="../notesSlides/notesSlide88.xml"/></Relationships>
</file>

<file path=ppt/slides/_rels/slide91.xml.rels><?xml version="1.0" encoding="UTF-8" standalone="yes"?>
<Relationships xmlns="http://schemas.openxmlformats.org/package/2006/relationships"><Relationship Id="rId8" Type="http://schemas.openxmlformats.org/officeDocument/2006/relationships/tags" Target="../tags/tag591.xml"/><Relationship Id="rId3" Type="http://schemas.openxmlformats.org/officeDocument/2006/relationships/tags" Target="../tags/tag586.xml"/><Relationship Id="rId7" Type="http://schemas.openxmlformats.org/officeDocument/2006/relationships/tags" Target="../tags/tag590.xml"/><Relationship Id="rId12" Type="http://schemas.openxmlformats.org/officeDocument/2006/relationships/image" Target="../media/image13.emf"/><Relationship Id="rId2" Type="http://schemas.openxmlformats.org/officeDocument/2006/relationships/tags" Target="../tags/tag585.xml"/><Relationship Id="rId1" Type="http://schemas.openxmlformats.org/officeDocument/2006/relationships/tags" Target="../tags/tag584.xml"/><Relationship Id="rId6" Type="http://schemas.openxmlformats.org/officeDocument/2006/relationships/tags" Target="../tags/tag589.xml"/><Relationship Id="rId11" Type="http://schemas.openxmlformats.org/officeDocument/2006/relationships/oleObject" Target="../embeddings/oleObject38.bin"/><Relationship Id="rId5" Type="http://schemas.openxmlformats.org/officeDocument/2006/relationships/tags" Target="../tags/tag588.xml"/><Relationship Id="rId10" Type="http://schemas.openxmlformats.org/officeDocument/2006/relationships/notesSlide" Target="../notesSlides/notesSlide89.xml"/><Relationship Id="rId4" Type="http://schemas.openxmlformats.org/officeDocument/2006/relationships/tags" Target="../tags/tag587.xml"/><Relationship Id="rId9" Type="http://schemas.openxmlformats.org/officeDocument/2006/relationships/slideLayout" Target="../slideLayouts/slideLayout30.xml"/></Relationships>
</file>

<file path=ppt/slides/_rels/slide92.xml.rels><?xml version="1.0" encoding="UTF-8" standalone="yes"?>
<Relationships xmlns="http://schemas.openxmlformats.org/package/2006/relationships"><Relationship Id="rId8" Type="http://schemas.openxmlformats.org/officeDocument/2006/relationships/notesSlide" Target="../notesSlides/notesSlide90.xml"/><Relationship Id="rId3" Type="http://schemas.openxmlformats.org/officeDocument/2006/relationships/tags" Target="../tags/tag594.xml"/><Relationship Id="rId7" Type="http://schemas.openxmlformats.org/officeDocument/2006/relationships/slideLayout" Target="../slideLayouts/slideLayout30.xml"/><Relationship Id="rId2" Type="http://schemas.openxmlformats.org/officeDocument/2006/relationships/tags" Target="../tags/tag593.xml"/><Relationship Id="rId1" Type="http://schemas.openxmlformats.org/officeDocument/2006/relationships/tags" Target="../tags/tag592.xml"/><Relationship Id="rId6" Type="http://schemas.openxmlformats.org/officeDocument/2006/relationships/tags" Target="../tags/tag597.xml"/><Relationship Id="rId11" Type="http://schemas.openxmlformats.org/officeDocument/2006/relationships/image" Target="../media/image191.png"/><Relationship Id="rId5" Type="http://schemas.openxmlformats.org/officeDocument/2006/relationships/tags" Target="../tags/tag596.xml"/><Relationship Id="rId10" Type="http://schemas.openxmlformats.org/officeDocument/2006/relationships/image" Target="../media/image12.emf"/><Relationship Id="rId4" Type="http://schemas.openxmlformats.org/officeDocument/2006/relationships/tags" Target="../tags/tag595.xml"/><Relationship Id="rId9" Type="http://schemas.openxmlformats.org/officeDocument/2006/relationships/oleObject" Target="../embeddings/oleObject40.bin"/></Relationships>
</file>

<file path=ppt/slides/_rels/slide93.xml.rels><?xml version="1.0" encoding="UTF-8" standalone="yes"?>
<Relationships xmlns="http://schemas.openxmlformats.org/package/2006/relationships"><Relationship Id="rId3" Type="http://schemas.openxmlformats.org/officeDocument/2006/relationships/notesSlide" Target="../notesSlides/notesSlide91.xml"/><Relationship Id="rId2" Type="http://schemas.openxmlformats.org/officeDocument/2006/relationships/slideLayout" Target="../slideLayouts/slideLayout30.xml"/><Relationship Id="rId1" Type="http://schemas.openxmlformats.org/officeDocument/2006/relationships/tags" Target="../tags/tag598.xml"/><Relationship Id="rId5" Type="http://schemas.openxmlformats.org/officeDocument/2006/relationships/image" Target="../media/image13.emf"/><Relationship Id="rId4" Type="http://schemas.openxmlformats.org/officeDocument/2006/relationships/oleObject" Target="../embeddings/oleObject21.bin"/></Relationships>
</file>

<file path=ppt/slides/_rels/slide94.xml.rels><?xml version="1.0" encoding="UTF-8" standalone="yes"?>
<Relationships xmlns="http://schemas.openxmlformats.org/package/2006/relationships"><Relationship Id="rId3" Type="http://schemas.openxmlformats.org/officeDocument/2006/relationships/tags" Target="../tags/tag601.xml"/><Relationship Id="rId7" Type="http://schemas.openxmlformats.org/officeDocument/2006/relationships/image" Target="../media/image47.emf"/><Relationship Id="rId2" Type="http://schemas.openxmlformats.org/officeDocument/2006/relationships/tags" Target="../tags/tag600.xml"/><Relationship Id="rId1" Type="http://schemas.openxmlformats.org/officeDocument/2006/relationships/tags" Target="../tags/tag599.xml"/><Relationship Id="rId6" Type="http://schemas.openxmlformats.org/officeDocument/2006/relationships/oleObject" Target="../embeddings/oleObject70.bin"/><Relationship Id="rId5" Type="http://schemas.openxmlformats.org/officeDocument/2006/relationships/notesSlide" Target="../notesSlides/notesSlide92.xml"/><Relationship Id="rId4" Type="http://schemas.openxmlformats.org/officeDocument/2006/relationships/slideLayout" Target="../slideLayouts/slideLayout30.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11E92A14-DECD-EEE0-46B2-E8BE4F71E3F4}"/>
              </a:ext>
            </a:extLst>
          </p:cNvPr>
          <p:cNvGraphicFramePr>
            <a:graphicFrameLocks noChangeAspect="1"/>
          </p:cNvGraphicFramePr>
          <p:nvPr>
            <p:custDataLst>
              <p:tags r:id="rId1"/>
            </p:custDataLst>
            <p:extLst>
              <p:ext uri="{D42A27DB-BD31-4B8C-83A1-F6EECF244321}">
                <p14:modId xmlns:p14="http://schemas.microsoft.com/office/powerpoint/2010/main" val="297186453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6" imgW="404" imgH="405" progId="TCLayout.ActiveDocument.1">
                  <p:embed/>
                </p:oleObj>
              </mc:Choice>
              <mc:Fallback>
                <p:oleObj name="think-cell Slide" r:id="rId16" imgW="404" imgH="405" progId="TCLayout.ActiveDocument.1">
                  <p:embed/>
                  <p:pic>
                    <p:nvPicPr>
                      <p:cNvPr id="4" name="think-cell data - do not delete" hidden="1">
                        <a:extLst>
                          <a:ext uri="{FF2B5EF4-FFF2-40B4-BE49-F238E27FC236}">
                            <a16:creationId xmlns:a16="http://schemas.microsoft.com/office/drawing/2014/main" id="{11E92A14-DECD-EEE0-46B2-E8BE4F71E3F4}"/>
                          </a:ext>
                        </a:extLst>
                      </p:cNvPr>
                      <p:cNvPicPr/>
                      <p:nvPr/>
                    </p:nvPicPr>
                    <p:blipFill>
                      <a:blip r:embed="rId17"/>
                      <a:stretch>
                        <a:fillRect/>
                      </a:stretch>
                    </p:blipFill>
                    <p:spPr>
                      <a:xfrm>
                        <a:off x="1588" y="1588"/>
                        <a:ext cx="1588" cy="1588"/>
                      </a:xfrm>
                      <a:prstGeom prst="rect">
                        <a:avLst/>
                      </a:prstGeom>
                    </p:spPr>
                  </p:pic>
                </p:oleObj>
              </mc:Fallback>
            </mc:AlternateContent>
          </a:graphicData>
        </a:graphic>
      </p:graphicFrame>
      <p:sp>
        <p:nvSpPr>
          <p:cNvPr id="3" name="Title 2">
            <a:extLst>
              <a:ext uri="{FF2B5EF4-FFF2-40B4-BE49-F238E27FC236}">
                <a16:creationId xmlns:a16="http://schemas.microsoft.com/office/drawing/2014/main" id="{B30EDF58-D15A-B94C-0DA3-FC89066BC551}"/>
              </a:ext>
            </a:extLst>
          </p:cNvPr>
          <p:cNvSpPr>
            <a:spLocks noGrp="1"/>
          </p:cNvSpPr>
          <p:nvPr>
            <p:ph type="title"/>
          </p:nvPr>
        </p:nvSpPr>
        <p:spPr>
          <a:xfrm>
            <a:off x="630000" y="622800"/>
            <a:ext cx="10933350" cy="664797"/>
          </a:xfrm>
        </p:spPr>
        <p:txBody>
          <a:bodyPr vert="horz"/>
          <a:lstStyle/>
          <a:p>
            <a:r>
              <a:rPr lang="en-US" altLang="zh-TW">
                <a:ea typeface="Microsoft YaHei" panose="020B0503020204020204" pitchFamily="34" charset="-122"/>
              </a:rPr>
              <a:t>M</a:t>
            </a:r>
            <a:r>
              <a:rPr lang="zh-TW" altLang="en-US">
                <a:ea typeface="Microsoft YaHei" panose="020B0503020204020204" pitchFamily="34" charset="-122"/>
              </a:rPr>
              <a:t>客客戶基數大，仰賴大量數據分析與線上行銷；凱基目前僅打造預測模型識別潜力</a:t>
            </a:r>
            <a:r>
              <a:rPr lang="en-US" altLang="zh-TW">
                <a:ea typeface="Microsoft YaHei" panose="020B0503020204020204" pitchFamily="34" charset="-122"/>
              </a:rPr>
              <a:t>M</a:t>
            </a:r>
            <a:r>
              <a:rPr lang="zh-TW" altLang="en-US">
                <a:ea typeface="Microsoft YaHei" panose="020B0503020204020204" pitchFamily="34" charset="-122"/>
              </a:rPr>
              <a:t>升</a:t>
            </a:r>
            <a:r>
              <a:rPr lang="en-US" altLang="zh-TW">
                <a:ea typeface="Microsoft YaHei" panose="020B0503020204020204" pitchFamily="34" charset="-122"/>
              </a:rPr>
              <a:t>A</a:t>
            </a:r>
            <a:r>
              <a:rPr lang="zh-TW" altLang="en-US">
                <a:ea typeface="Microsoft YaHei" panose="020B0503020204020204" pitchFamily="34" charset="-122"/>
              </a:rPr>
              <a:t>名單，未來應往更細緻的個性化經營，並優化新戶啟動計畫以降低零元戶</a:t>
            </a:r>
            <a:endParaRPr lang="en-US">
              <a:latin typeface="Microsoft YaHei" panose="020B0503020204020204" pitchFamily="34" charset="-122"/>
              <a:ea typeface="Microsoft YaHei" panose="020B0503020204020204" pitchFamily="34" charset="-122"/>
            </a:endParaRPr>
          </a:p>
        </p:txBody>
      </p:sp>
      <p:sp>
        <p:nvSpPr>
          <p:cNvPr id="62" name="Rectangle 61">
            <a:extLst>
              <a:ext uri="{FF2B5EF4-FFF2-40B4-BE49-F238E27FC236}">
                <a16:creationId xmlns:a16="http://schemas.microsoft.com/office/drawing/2014/main" id="{6655628B-C461-7B8D-ADFA-2A5D7892FC21}"/>
              </a:ext>
            </a:extLst>
          </p:cNvPr>
          <p:cNvSpPr/>
          <p:nvPr/>
        </p:nvSpPr>
        <p:spPr>
          <a:xfrm>
            <a:off x="644944" y="1809525"/>
            <a:ext cx="2517356" cy="537027"/>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90000"/>
              </a:lnSpc>
            </a:pPr>
            <a:r>
              <a:rPr lang="zh-TW" altLang="en-US" sz="1600" b="1">
                <a:solidFill>
                  <a:srgbClr val="575757"/>
                </a:solidFill>
                <a:latin typeface="Microsoft YaHei" panose="020B0503020204020204" pitchFamily="34" charset="-122"/>
                <a:ea typeface="Microsoft YaHei" panose="020B0503020204020204" pitchFamily="34" charset="-122"/>
              </a:rPr>
              <a:t>凱基零售客戶</a:t>
            </a:r>
            <a:r>
              <a:rPr lang="en-US" altLang="zh-TW" sz="1600" b="1">
                <a:solidFill>
                  <a:srgbClr val="575757"/>
                </a:solidFill>
                <a:latin typeface="Microsoft YaHei" panose="020B0503020204020204" pitchFamily="34" charset="-122"/>
                <a:ea typeface="Microsoft YaHei" panose="020B0503020204020204" pitchFamily="34" charset="-122"/>
              </a:rPr>
              <a:t>M</a:t>
            </a:r>
            <a:r>
              <a:rPr lang="zh-TW" altLang="en-US" sz="1600" b="1">
                <a:solidFill>
                  <a:srgbClr val="575757"/>
                </a:solidFill>
                <a:latin typeface="Microsoft YaHei" panose="020B0503020204020204" pitchFamily="34" charset="-122"/>
                <a:ea typeface="Microsoft YaHei" panose="020B0503020204020204" pitchFamily="34" charset="-122"/>
              </a:rPr>
              <a:t>客分佈 </a:t>
            </a:r>
            <a:r>
              <a:rPr lang="en-US" altLang="zh-TW" sz="1400">
                <a:solidFill>
                  <a:srgbClr val="575757"/>
                </a:solidFill>
                <a:latin typeface="Microsoft YaHei" panose="020B0503020204020204" pitchFamily="34" charset="-122"/>
                <a:ea typeface="Microsoft YaHei" panose="020B0503020204020204" pitchFamily="34" charset="-122"/>
              </a:rPr>
              <a:t>(</a:t>
            </a:r>
            <a:r>
              <a:rPr lang="zh-TW" altLang="en-US" sz="1400">
                <a:solidFill>
                  <a:srgbClr val="575757"/>
                </a:solidFill>
                <a:latin typeface="Microsoft YaHei" panose="020B0503020204020204" pitchFamily="34" charset="-122"/>
                <a:ea typeface="Microsoft YaHei" panose="020B0503020204020204" pitchFamily="34" charset="-122"/>
              </a:rPr>
              <a:t>萬人數，以</a:t>
            </a:r>
            <a:r>
              <a:rPr lang="en-US" altLang="zh-TW" sz="1400">
                <a:solidFill>
                  <a:srgbClr val="575757"/>
                </a:solidFill>
                <a:latin typeface="Microsoft YaHei" panose="020B0503020204020204" pitchFamily="34" charset="-122"/>
                <a:ea typeface="Microsoft YaHei" panose="020B0503020204020204" pitchFamily="34" charset="-122"/>
              </a:rPr>
              <a:t>'23</a:t>
            </a:r>
            <a:r>
              <a:rPr lang="zh-TW" altLang="en-US" sz="1400">
                <a:solidFill>
                  <a:srgbClr val="575757"/>
                </a:solidFill>
                <a:latin typeface="Microsoft YaHei" panose="020B0503020204020204" pitchFamily="34" charset="-122"/>
                <a:ea typeface="Microsoft YaHei" panose="020B0503020204020204" pitchFamily="34" charset="-122"/>
              </a:rPr>
              <a:t>年底資料為準</a:t>
            </a:r>
            <a:r>
              <a:rPr lang="en-US" altLang="zh-TW" sz="1400">
                <a:solidFill>
                  <a:srgbClr val="575757"/>
                </a:solidFill>
                <a:latin typeface="Microsoft YaHei" panose="020B0503020204020204" pitchFamily="34" charset="-122"/>
                <a:ea typeface="Microsoft YaHei" panose="020B0503020204020204" pitchFamily="34" charset="-122"/>
              </a:rPr>
              <a:t>)</a:t>
            </a:r>
            <a:endParaRPr lang="en-US" sz="1400">
              <a:solidFill>
                <a:srgbClr val="575757"/>
              </a:solidFill>
              <a:latin typeface="Microsoft YaHei" panose="020B0503020204020204" pitchFamily="34" charset="-122"/>
              <a:ea typeface="Microsoft YaHei" panose="020B0503020204020204" pitchFamily="34" charset="-122"/>
            </a:endParaRPr>
          </a:p>
        </p:txBody>
      </p:sp>
      <p:graphicFrame>
        <p:nvGraphicFramePr>
          <p:cNvPr id="11" name="Chart 10">
            <a:extLst>
              <a:ext uri="{FF2B5EF4-FFF2-40B4-BE49-F238E27FC236}">
                <a16:creationId xmlns:a16="http://schemas.microsoft.com/office/drawing/2014/main" id="{AAC0CB91-DA23-EA85-5C32-853D7488F741}"/>
              </a:ext>
            </a:extLst>
          </p:cNvPr>
          <p:cNvGraphicFramePr/>
          <p:nvPr>
            <p:custDataLst>
              <p:tags r:id="rId2"/>
            </p:custDataLst>
            <p:extLst>
              <p:ext uri="{D42A27DB-BD31-4B8C-83A1-F6EECF244321}">
                <p14:modId xmlns:p14="http://schemas.microsoft.com/office/powerpoint/2010/main" val="1938043143"/>
              </p:ext>
            </p:extLst>
          </p:nvPr>
        </p:nvGraphicFramePr>
        <p:xfrm>
          <a:off x="1239838" y="2736850"/>
          <a:ext cx="1570037" cy="3070225"/>
        </p:xfrm>
        <a:graphic>
          <a:graphicData uri="http://schemas.openxmlformats.org/drawingml/2006/chart">
            <c:chart xmlns:c="http://schemas.openxmlformats.org/drawingml/2006/chart" xmlns:r="http://schemas.openxmlformats.org/officeDocument/2006/relationships" r:id="rId18"/>
          </a:graphicData>
        </a:graphic>
      </p:graphicFrame>
      <p:sp>
        <p:nvSpPr>
          <p:cNvPr id="21" name="Text Placeholder 3">
            <a:extLst>
              <a:ext uri="{FF2B5EF4-FFF2-40B4-BE49-F238E27FC236}">
                <a16:creationId xmlns:a16="http://schemas.microsoft.com/office/drawing/2014/main" id="{94184B05-CB71-648A-039D-5B2FD3FE6CFD}"/>
              </a:ext>
            </a:extLst>
          </p:cNvPr>
          <p:cNvSpPr>
            <a:spLocks noGrp="1"/>
          </p:cNvSpPr>
          <p:nvPr>
            <p:custDataLst>
              <p:tags r:id="rId3"/>
            </p:custDataLst>
          </p:nvPr>
        </p:nvSpPr>
        <p:spPr bwMode="gray">
          <a:xfrm>
            <a:off x="1855788" y="2709863"/>
            <a:ext cx="338138" cy="268288"/>
          </a:xfrm>
          <a:prstGeom prst="rect">
            <a:avLst/>
          </a:prstGeom>
          <a:solidFill>
            <a:srgbClr val="29BA74"/>
          </a:solidFill>
          <a:ln>
            <a:noFill/>
          </a:ln>
          <a:effectLst/>
        </p:spPr>
        <p:txBody>
          <a:bodyPr vert="horz" wrap="none" lIns="25400" tIns="0" rIns="25400" bIns="0" rtlCol="0" anchor="ctr">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lvl="0" algn="ctr">
              <a:spcBef>
                <a:spcPct val="0"/>
              </a:spcBef>
              <a:spcAft>
                <a:spcPct val="0"/>
              </a:spcAft>
            </a:pPr>
            <a:fld id="{D322CEC1-6B31-4EE5-93FD-16FA29059D5D}" type="datetime'''''''1''''''''''''''''''''''''''''''''.''''''3'''''''''">
              <a:rPr lang="en-US" altLang="en-US" sz="1600" smtClean="0">
                <a:solidFill>
                  <a:schemeClr val="bg1"/>
                </a:solidFill>
                <a:effectLst/>
                <a:ea typeface="Microsoft YaHei" panose="020B0503020204020204" pitchFamily="34" charset="-122"/>
              </a:rPr>
              <a:pPr lvl="0" algn="ctr">
                <a:spcBef>
                  <a:spcPct val="0"/>
                </a:spcBef>
                <a:spcAft>
                  <a:spcPct val="0"/>
                </a:spcAft>
              </a:pPr>
              <a:t>1.3</a:t>
            </a:fld>
            <a:endParaRPr lang="en-US" sz="1600">
              <a:solidFill>
                <a:schemeClr val="bg1"/>
              </a:solidFill>
              <a:ea typeface="Microsoft YaHei" panose="020B0503020204020204" pitchFamily="34" charset="-122"/>
            </a:endParaRPr>
          </a:p>
        </p:txBody>
      </p:sp>
      <p:sp>
        <p:nvSpPr>
          <p:cNvPr id="122" name="Text Placeholder 3">
            <a:extLst>
              <a:ext uri="{FF2B5EF4-FFF2-40B4-BE49-F238E27FC236}">
                <a16:creationId xmlns:a16="http://schemas.microsoft.com/office/drawing/2014/main" id="{7BB89D96-9F6F-CDD2-A75F-05ACEA237B5E}"/>
              </a:ext>
            </a:extLst>
          </p:cNvPr>
          <p:cNvSpPr>
            <a:spLocks noGrp="1"/>
          </p:cNvSpPr>
          <p:nvPr>
            <p:custDataLst>
              <p:tags r:id="rId4"/>
            </p:custDataLst>
          </p:nvPr>
        </p:nvSpPr>
        <p:spPr bwMode="gray">
          <a:xfrm>
            <a:off x="1801813" y="3954463"/>
            <a:ext cx="444500" cy="268288"/>
          </a:xfrm>
          <a:prstGeom prst="rect">
            <a:avLst/>
          </a:prstGeom>
          <a:noFill/>
          <a:ln>
            <a:noFill/>
          </a:ln>
          <a:effectLst/>
          <a:extLst>
            <a:ext uri="{909E8E84-426E-40DD-AFC4-6F175D3DCCD1}">
              <a14:hiddenFill xmlns:a14="http://schemas.microsoft.com/office/drawing/2010/main">
                <a:solidFill>
                  <a:srgbClr val="318C46"/>
                </a:solidFill>
              </a14:hiddenFill>
            </a:ext>
          </a:extLst>
        </p:spPr>
        <p:txBody>
          <a:bodyPr vert="horz" wrap="none" lIns="25400" tIns="0" rIns="25400" bIns="0" rtlCol="0" anchor="ctr">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lvl="0" algn="ctr">
              <a:spcBef>
                <a:spcPct val="0"/>
              </a:spcBef>
              <a:spcAft>
                <a:spcPct val="0"/>
              </a:spcAft>
            </a:pPr>
            <a:fld id="{6C580780-AB96-4405-B6EA-A17ADAEFDD04}" type="datetime'''''''6''''''''''''7''.''''''''6'''''''''''''''">
              <a:rPr lang="en-US" altLang="en-US" sz="1600" smtClean="0">
                <a:solidFill>
                  <a:schemeClr val="bg1"/>
                </a:solidFill>
                <a:ea typeface="Microsoft YaHei" panose="020B0503020204020204" pitchFamily="34" charset="-122"/>
              </a:rPr>
              <a:pPr lvl="0" algn="ctr">
                <a:spcBef>
                  <a:spcPct val="0"/>
                </a:spcBef>
                <a:spcAft>
                  <a:spcPct val="0"/>
                </a:spcAft>
              </a:pPr>
              <a:t>67.6</a:t>
            </a:fld>
            <a:endParaRPr lang="en-US" sz="1600">
              <a:solidFill>
                <a:schemeClr val="bg1"/>
              </a:solidFill>
              <a:ea typeface="Microsoft YaHei" panose="020B0503020204020204" pitchFamily="34" charset="-122"/>
            </a:endParaRPr>
          </a:p>
        </p:txBody>
      </p:sp>
      <p:sp>
        <p:nvSpPr>
          <p:cNvPr id="140" name="Text Placeholder 3">
            <a:extLst>
              <a:ext uri="{FF2B5EF4-FFF2-40B4-BE49-F238E27FC236}">
                <a16:creationId xmlns:a16="http://schemas.microsoft.com/office/drawing/2014/main" id="{C629E82B-9ADF-C2BE-D86B-0FE59F038896}"/>
              </a:ext>
            </a:extLst>
          </p:cNvPr>
          <p:cNvSpPr>
            <a:spLocks noGrp="1"/>
          </p:cNvSpPr>
          <p:nvPr>
            <p:custDataLst>
              <p:tags r:id="rId5"/>
            </p:custDataLst>
          </p:nvPr>
        </p:nvSpPr>
        <p:spPr bwMode="gray">
          <a:xfrm>
            <a:off x="1801813" y="5380038"/>
            <a:ext cx="444500" cy="2682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ctr">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lvl="0" algn="ctr">
              <a:spcBef>
                <a:spcPct val="0"/>
              </a:spcBef>
              <a:spcAft>
                <a:spcPct val="0"/>
              </a:spcAft>
            </a:pPr>
            <a:fld id="{5A2923A8-7937-44C0-94E7-BE283592828C}" type="datetime'1''''''''''''''''''''''''''''''1''''''''.''''''3'''''''">
              <a:rPr lang="en-US" altLang="en-US" sz="1600" smtClean="0">
                <a:solidFill>
                  <a:schemeClr val="bg1"/>
                </a:solidFill>
                <a:ea typeface="Microsoft YaHei" panose="020B0503020204020204" pitchFamily="34" charset="-122"/>
              </a:rPr>
              <a:pPr lvl="0" algn="ctr">
                <a:spcBef>
                  <a:spcPct val="0"/>
                </a:spcBef>
                <a:spcAft>
                  <a:spcPct val="0"/>
                </a:spcAft>
              </a:pPr>
              <a:t>11.3</a:t>
            </a:fld>
            <a:endParaRPr lang="en-US" sz="1600">
              <a:solidFill>
                <a:schemeClr val="bg1"/>
              </a:solidFill>
              <a:ea typeface="Microsoft YaHei" panose="020B0503020204020204" pitchFamily="34" charset="-122"/>
            </a:endParaRPr>
          </a:p>
        </p:txBody>
      </p:sp>
      <p:sp>
        <p:nvSpPr>
          <p:cNvPr id="79" name="Text Placeholder 3">
            <a:extLst>
              <a:ext uri="{FF2B5EF4-FFF2-40B4-BE49-F238E27FC236}">
                <a16:creationId xmlns:a16="http://schemas.microsoft.com/office/drawing/2014/main" id="{DD619178-81BE-4D8E-AA2E-EA0487FA2492}"/>
              </a:ext>
            </a:extLst>
          </p:cNvPr>
          <p:cNvSpPr>
            <a:spLocks noGrp="1"/>
          </p:cNvSpPr>
          <p:nvPr>
            <p:custDataLst>
              <p:tags r:id="rId6"/>
            </p:custDataLst>
          </p:nvPr>
        </p:nvSpPr>
        <p:spPr bwMode="gray">
          <a:xfrm>
            <a:off x="1801813" y="2441575"/>
            <a:ext cx="444500" cy="2682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lvl="0" algn="ctr">
              <a:spcBef>
                <a:spcPct val="0"/>
              </a:spcBef>
              <a:spcAft>
                <a:spcPct val="0"/>
              </a:spcAft>
            </a:pPr>
            <a:fld id="{7CFB5A56-C153-4CC7-8D73-E27D610AB1E9}" type="datetime'''''''''80''''''''''''''''''''''.''''''''''''''''''2'''''''">
              <a:rPr lang="en-US" altLang="en-US" sz="1600" smtClean="0">
                <a:ea typeface="Microsoft YaHei" panose="020B0503020204020204" pitchFamily="34" charset="-122"/>
              </a:rPr>
              <a:pPr lvl="0" algn="ctr">
                <a:spcBef>
                  <a:spcPct val="0"/>
                </a:spcBef>
                <a:spcAft>
                  <a:spcPct val="0"/>
                </a:spcAft>
              </a:pPr>
              <a:t>80.2</a:t>
            </a:fld>
            <a:endParaRPr lang="en-US" sz="1600">
              <a:ea typeface="Microsoft YaHei" panose="020B0503020204020204" pitchFamily="34" charset="-122"/>
            </a:endParaRPr>
          </a:p>
        </p:txBody>
      </p:sp>
      <p:sp>
        <p:nvSpPr>
          <p:cNvPr id="231" name="Title 1">
            <a:extLst>
              <a:ext uri="{FF2B5EF4-FFF2-40B4-BE49-F238E27FC236}">
                <a16:creationId xmlns:a16="http://schemas.microsoft.com/office/drawing/2014/main" id="{CB09DCF3-236F-5B6A-1735-92C268A158B5}"/>
              </a:ext>
            </a:extLst>
          </p:cNvPr>
          <p:cNvSpPr txBox="1">
            <a:spLocks/>
          </p:cNvSpPr>
          <p:nvPr/>
        </p:nvSpPr>
        <p:spPr>
          <a:xfrm>
            <a:off x="9209037" y="1882550"/>
            <a:ext cx="2317869" cy="466987"/>
          </a:xfrm>
          <a:prstGeom prst="round2SameRect">
            <a:avLst/>
          </a:prstGeom>
          <a:gradFill flip="none" rotWithShape="1">
            <a:gsLst>
              <a:gs pos="0">
                <a:schemeClr val="tx2">
                  <a:alpha val="25000"/>
                </a:schemeClr>
              </a:gs>
              <a:gs pos="100000">
                <a:schemeClr val="tx2">
                  <a:alpha val="0"/>
                </a:schemeClr>
              </a:gs>
            </a:gsLst>
            <a:lin ang="5400000" scaled="1"/>
            <a:tileRect/>
          </a:gradFill>
          <a:ln w="9525" cap="rnd" cmpd="sng" algn="ctr">
            <a:gradFill flip="none" rotWithShape="1">
              <a:gsLst>
                <a:gs pos="1000">
                  <a:schemeClr val="accent1">
                    <a:lumMod val="5000"/>
                    <a:lumOff val="95000"/>
                    <a:alpha val="0"/>
                  </a:schemeClr>
                </a:gs>
                <a:gs pos="100000">
                  <a:schemeClr val="tx2"/>
                </a:gs>
              </a:gsLst>
              <a:lin ang="16200000" scaled="1"/>
              <a:tileRect/>
            </a:gra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36000" bIns="45720" numCol="1" spcCol="0" rtlCol="0" fromWordArt="0" anchor="ctr" anchorCtr="0" forceAA="0" compatLnSpc="1">
            <a:prstTxWarp prst="textNoShape">
              <a:avLst/>
            </a:prstTxWarp>
            <a:noAutofit/>
          </a:bodyPr>
          <a:lstStyle>
            <a:defPPr>
              <a:defRPr lang="en-US"/>
            </a:defPPr>
            <a:lvl1pPr algn="ctr">
              <a:lnSpc>
                <a:spcPct val="90000"/>
              </a:lnSpc>
              <a:spcAft>
                <a:spcPts val="1000"/>
              </a:spcAft>
              <a:defRPr sz="1600" b="1">
                <a:solidFill>
                  <a:schemeClr val="accent2"/>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914400" rtl="0" eaLnBrk="1" fontAlgn="auto" latinLnBrk="0" hangingPunct="1">
              <a:lnSpc>
                <a:spcPct val="90000"/>
              </a:lnSpc>
              <a:spcBef>
                <a:spcPts val="0"/>
              </a:spcBef>
              <a:spcAft>
                <a:spcPts val="1000"/>
              </a:spcAft>
              <a:buClrTx/>
              <a:buSzTx/>
              <a:buFontTx/>
              <a:buNone/>
              <a:tabLst/>
              <a:defRPr/>
            </a:pPr>
            <a:r>
              <a:rPr kumimoji="0" lang="zh-TW" altLang="en-US" sz="1800" b="1" i="0" u="none" strike="noStrike" kern="1200" cap="none" spc="0" normalizeH="0" baseline="0" noProof="0">
                <a:ln>
                  <a:noFill/>
                </a:ln>
                <a:solidFill>
                  <a:schemeClr val="tx2"/>
                </a:solidFill>
                <a:effectLst/>
                <a:uLnTx/>
                <a:uFillTx/>
                <a:latin typeface="Microsoft YaHei" panose="020B0503020204020204" pitchFamily="34" charset="-122"/>
                <a:ea typeface="Microsoft YaHei" panose="020B0503020204020204" pitchFamily="34" charset="-122"/>
                <a:sym typeface="+mn-lt"/>
              </a:rPr>
              <a:t>建議發展方向</a:t>
            </a:r>
            <a:endParaRPr kumimoji="0" lang="en-US" sz="1800" b="1" i="0" u="none" strike="noStrike" kern="1200" cap="none" spc="0" normalizeH="0" baseline="0" noProof="0">
              <a:ln>
                <a:noFill/>
              </a:ln>
              <a:solidFill>
                <a:schemeClr val="tx2"/>
              </a:solidFill>
              <a:effectLst/>
              <a:uLnTx/>
              <a:uFillTx/>
              <a:latin typeface="Microsoft YaHei" panose="020B0503020204020204" pitchFamily="34" charset="-122"/>
              <a:ea typeface="Microsoft YaHei" panose="020B0503020204020204" pitchFamily="34" charset="-122"/>
              <a:sym typeface="+mn-lt"/>
            </a:endParaRPr>
          </a:p>
        </p:txBody>
      </p:sp>
      <p:sp>
        <p:nvSpPr>
          <p:cNvPr id="9" name="Title 1">
            <a:extLst>
              <a:ext uri="{FF2B5EF4-FFF2-40B4-BE49-F238E27FC236}">
                <a16:creationId xmlns:a16="http://schemas.microsoft.com/office/drawing/2014/main" id="{C5860EB5-626A-472C-5981-7A088ECD8CE6}"/>
              </a:ext>
            </a:extLst>
          </p:cNvPr>
          <p:cNvSpPr txBox="1">
            <a:spLocks/>
          </p:cNvSpPr>
          <p:nvPr/>
        </p:nvSpPr>
        <p:spPr>
          <a:xfrm>
            <a:off x="4408488" y="1882551"/>
            <a:ext cx="4528719" cy="466987"/>
          </a:xfrm>
          <a:prstGeom prst="round2SameRect">
            <a:avLst/>
          </a:prstGeom>
          <a:gradFill flip="none" rotWithShape="1">
            <a:gsLst>
              <a:gs pos="0">
                <a:schemeClr val="tx2">
                  <a:alpha val="25000"/>
                </a:schemeClr>
              </a:gs>
              <a:gs pos="100000">
                <a:schemeClr val="tx2">
                  <a:alpha val="0"/>
                </a:schemeClr>
              </a:gs>
            </a:gsLst>
            <a:lin ang="5400000" scaled="1"/>
            <a:tileRect/>
          </a:gradFill>
          <a:ln w="9525" cap="rnd" cmpd="sng" algn="ctr">
            <a:gradFill flip="none" rotWithShape="1">
              <a:gsLst>
                <a:gs pos="1000">
                  <a:schemeClr val="accent1">
                    <a:lumMod val="5000"/>
                    <a:lumOff val="95000"/>
                    <a:alpha val="0"/>
                  </a:schemeClr>
                </a:gs>
                <a:gs pos="100000">
                  <a:schemeClr val="tx2"/>
                </a:gs>
              </a:gsLst>
              <a:lin ang="16200000" scaled="1"/>
              <a:tileRect/>
            </a:gra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36000" bIns="45720" numCol="1" spcCol="0" rtlCol="0" fromWordArt="0" anchor="ctr" anchorCtr="0" forceAA="0" compatLnSpc="1">
            <a:prstTxWarp prst="textNoShape">
              <a:avLst/>
            </a:prstTxWarp>
            <a:noAutofit/>
          </a:bodyPr>
          <a:lstStyle>
            <a:defPPr>
              <a:defRPr lang="en-US"/>
            </a:defPPr>
            <a:lvl1pPr algn="ctr">
              <a:lnSpc>
                <a:spcPct val="90000"/>
              </a:lnSpc>
              <a:spcAft>
                <a:spcPts val="1000"/>
              </a:spcAft>
              <a:defRPr sz="1600" b="1">
                <a:solidFill>
                  <a:schemeClr val="accent2"/>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914400" rtl="0" eaLnBrk="1" fontAlgn="auto" latinLnBrk="0" hangingPunct="1">
              <a:lnSpc>
                <a:spcPct val="90000"/>
              </a:lnSpc>
              <a:spcBef>
                <a:spcPts val="0"/>
              </a:spcBef>
              <a:spcAft>
                <a:spcPts val="1000"/>
              </a:spcAft>
              <a:buClrTx/>
              <a:buSzTx/>
              <a:buFontTx/>
              <a:buNone/>
              <a:tabLst/>
              <a:defRPr/>
            </a:pPr>
            <a:r>
              <a:rPr lang="zh-TW" altLang="en-US" sz="1800">
                <a:solidFill>
                  <a:schemeClr val="tx2"/>
                </a:solidFill>
                <a:latin typeface="Microsoft YaHei" panose="020B0503020204020204" pitchFamily="34" charset="-122"/>
                <a:ea typeface="Microsoft YaHei" panose="020B0503020204020204" pitchFamily="34" charset="-122"/>
                <a:sym typeface="+mn-lt"/>
              </a:rPr>
              <a:t>經營</a:t>
            </a:r>
            <a:r>
              <a:rPr kumimoji="0" lang="zh-TW" altLang="en-US" sz="1800" b="1" i="0" u="none" strike="noStrike" kern="1200" cap="none" spc="0" normalizeH="0" baseline="0" noProof="0">
                <a:ln>
                  <a:noFill/>
                </a:ln>
                <a:solidFill>
                  <a:schemeClr val="tx2"/>
                </a:solidFill>
                <a:effectLst/>
                <a:uLnTx/>
                <a:uFillTx/>
                <a:latin typeface="Microsoft YaHei" panose="020B0503020204020204" pitchFamily="34" charset="-122"/>
                <a:ea typeface="Microsoft YaHei" panose="020B0503020204020204" pitchFamily="34" charset="-122"/>
                <a:sym typeface="+mn-lt"/>
              </a:rPr>
              <a:t>現況</a:t>
            </a:r>
            <a:endParaRPr kumimoji="0" lang="en-US" sz="1800" b="1" i="0" u="none" strike="noStrike" kern="1200" cap="none" spc="0" normalizeH="0" baseline="0" noProof="0">
              <a:ln>
                <a:noFill/>
              </a:ln>
              <a:solidFill>
                <a:schemeClr val="tx2"/>
              </a:solidFill>
              <a:effectLst/>
              <a:uLnTx/>
              <a:uFillTx/>
              <a:latin typeface="Microsoft YaHei" panose="020B0503020204020204" pitchFamily="34" charset="-122"/>
              <a:ea typeface="Microsoft YaHei" panose="020B0503020204020204" pitchFamily="34" charset="-122"/>
              <a:sym typeface="+mn-lt"/>
            </a:endParaRPr>
          </a:p>
        </p:txBody>
      </p:sp>
      <p:sp>
        <p:nvSpPr>
          <p:cNvPr id="44" name="Rectangle 43">
            <a:extLst>
              <a:ext uri="{FF2B5EF4-FFF2-40B4-BE49-F238E27FC236}">
                <a16:creationId xmlns:a16="http://schemas.microsoft.com/office/drawing/2014/main" id="{769F479C-8577-E7EB-E7B5-C852E791A6F0}"/>
              </a:ext>
            </a:extLst>
          </p:cNvPr>
          <p:cNvSpPr/>
          <p:nvPr/>
        </p:nvSpPr>
        <p:spPr>
          <a:xfrm>
            <a:off x="4408488" y="2512247"/>
            <a:ext cx="4528719" cy="1323439"/>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marL="324000" lvl="1" indent="-216000">
              <a:buClr>
                <a:schemeClr val="tx2"/>
              </a:buClr>
              <a:buFont typeface="Trebuchet MS" panose="020B0603020202020204" pitchFamily="34" charset="0"/>
              <a:buChar char="•"/>
            </a:pPr>
            <a:r>
              <a:rPr lang="zh-TW" altLang="en-US" sz="1600">
                <a:solidFill>
                  <a:srgbClr val="575757"/>
                </a:solidFill>
                <a:latin typeface="Trebuchet MS" panose="020B0603020202020204" pitchFamily="34" charset="0"/>
                <a:ea typeface="Microsoft YaHei" panose="020B0503020204020204" pitchFamily="34" charset="-122"/>
              </a:rPr>
              <a:t>建立</a:t>
            </a:r>
            <a:r>
              <a:rPr lang="en-US" altLang="zh-TW" sz="1600">
                <a:solidFill>
                  <a:srgbClr val="575757"/>
                </a:solidFill>
                <a:latin typeface="Trebuchet MS" panose="020B0603020202020204" pitchFamily="34" charset="0"/>
                <a:ea typeface="Microsoft YaHei" panose="020B0503020204020204" pitchFamily="34" charset="-122"/>
              </a:rPr>
              <a:t>M</a:t>
            </a:r>
            <a:r>
              <a:rPr lang="zh-TW" altLang="en-US" sz="1600">
                <a:solidFill>
                  <a:srgbClr val="575757"/>
                </a:solidFill>
                <a:latin typeface="Trebuchet MS" panose="020B0603020202020204" pitchFamily="34" charset="0"/>
                <a:ea typeface="Microsoft YaHei" panose="020B0503020204020204" pitchFamily="34" charset="-122"/>
              </a:rPr>
              <a:t>升</a:t>
            </a:r>
            <a:r>
              <a:rPr lang="en-US" altLang="zh-TW" sz="1600">
                <a:solidFill>
                  <a:srgbClr val="575757"/>
                </a:solidFill>
                <a:latin typeface="Trebuchet MS" panose="020B0603020202020204" pitchFamily="34" charset="0"/>
                <a:ea typeface="Microsoft YaHei" panose="020B0503020204020204" pitchFamily="34" charset="-122"/>
              </a:rPr>
              <a:t>A</a:t>
            </a:r>
            <a:r>
              <a:rPr lang="zh-TW" altLang="en-US" sz="1600">
                <a:solidFill>
                  <a:srgbClr val="575757"/>
                </a:solidFill>
                <a:latin typeface="Trebuchet MS" panose="020B0603020202020204" pitchFamily="34" charset="0"/>
                <a:ea typeface="Microsoft YaHei" panose="020B0503020204020204" pitchFamily="34" charset="-122"/>
              </a:rPr>
              <a:t>預測模型，定期識別潜力升等客戶名單，並交由</a:t>
            </a:r>
            <a:r>
              <a:rPr lang="en-US" altLang="zh-TW" sz="1600">
                <a:solidFill>
                  <a:srgbClr val="575757"/>
                </a:solidFill>
                <a:latin typeface="Trebuchet MS" panose="020B0603020202020204" pitchFamily="34" charset="0"/>
                <a:ea typeface="Microsoft YaHei" panose="020B0503020204020204" pitchFamily="34" charset="-122"/>
              </a:rPr>
              <a:t>RM/PBO</a:t>
            </a:r>
            <a:r>
              <a:rPr lang="zh-TW" altLang="en-US" sz="1600">
                <a:solidFill>
                  <a:srgbClr val="575757"/>
                </a:solidFill>
                <a:latin typeface="Trebuchet MS" panose="020B0603020202020204" pitchFamily="34" charset="0"/>
                <a:ea typeface="Microsoft YaHei" panose="020B0503020204020204" pitchFamily="34" charset="-122"/>
              </a:rPr>
              <a:t>聯繫</a:t>
            </a:r>
            <a:endParaRPr lang="en-US" altLang="zh-TW" sz="1600">
              <a:solidFill>
                <a:srgbClr val="575757"/>
              </a:solidFill>
              <a:latin typeface="Trebuchet MS" panose="020B0603020202020204" pitchFamily="34" charset="0"/>
              <a:ea typeface="Microsoft YaHei" panose="020B0503020204020204" pitchFamily="34" charset="-122"/>
            </a:endParaRPr>
          </a:p>
          <a:p>
            <a:pPr marL="324000" lvl="1" indent="-216000">
              <a:buClr>
                <a:schemeClr val="tx2"/>
              </a:buClr>
              <a:buFont typeface="Trebuchet MS" panose="020B0603020202020204" pitchFamily="34" charset="0"/>
              <a:buChar char="•"/>
            </a:pPr>
            <a:r>
              <a:rPr lang="zh-TW" altLang="en-US" sz="1600">
                <a:solidFill>
                  <a:srgbClr val="575757"/>
                </a:solidFill>
                <a:latin typeface="Trebuchet MS" panose="020B0603020202020204" pitchFamily="34" charset="0"/>
                <a:ea typeface="Microsoft YaHei" panose="020B0503020204020204" pitchFamily="34" charset="-122"/>
              </a:rPr>
              <a:t>成功升等比率約</a:t>
            </a:r>
            <a:r>
              <a:rPr lang="en-US" altLang="zh-TW" sz="1600">
                <a:solidFill>
                  <a:srgbClr val="575757"/>
                </a:solidFill>
                <a:latin typeface="Trebuchet MS" panose="020B0603020202020204" pitchFamily="34" charset="0"/>
                <a:ea typeface="Microsoft YaHei" panose="020B0503020204020204" pitchFamily="34" charset="-122"/>
              </a:rPr>
              <a:t>5</a:t>
            </a:r>
            <a:r>
              <a:rPr lang="zh-TW" altLang="en-US" sz="1600">
                <a:solidFill>
                  <a:srgbClr val="575757"/>
                </a:solidFill>
                <a:latin typeface="Trebuchet MS" panose="020B0603020202020204" pitchFamily="34" charset="0"/>
                <a:ea typeface="Microsoft YaHei" panose="020B0503020204020204" pitchFamily="34" charset="-122"/>
              </a:rPr>
              <a:t>成</a:t>
            </a:r>
            <a:r>
              <a:rPr lang="en-US" altLang="zh-TW" sz="1600">
                <a:solidFill>
                  <a:srgbClr val="575757"/>
                </a:solidFill>
                <a:latin typeface="Trebuchet MS" panose="020B0603020202020204" pitchFamily="34" charset="0"/>
                <a:ea typeface="Microsoft YaHei" panose="020B0503020204020204" pitchFamily="34" charset="-122"/>
              </a:rPr>
              <a:t>(6</a:t>
            </a:r>
            <a:r>
              <a:rPr lang="zh-TW" altLang="en-US" sz="1600">
                <a:solidFill>
                  <a:srgbClr val="575757"/>
                </a:solidFill>
                <a:latin typeface="Trebuchet MS" panose="020B0603020202020204" pitchFamily="34" charset="0"/>
                <a:ea typeface="Microsoft YaHei" panose="020B0503020204020204" pitchFamily="34" charset="-122"/>
              </a:rPr>
              <a:t>個月追蹤期</a:t>
            </a:r>
            <a:r>
              <a:rPr lang="en-US" altLang="zh-TW" sz="1600">
                <a:solidFill>
                  <a:srgbClr val="575757"/>
                </a:solidFill>
                <a:latin typeface="Trebuchet MS" panose="020B0603020202020204" pitchFamily="34" charset="0"/>
                <a:ea typeface="Microsoft YaHei" panose="020B0503020204020204" pitchFamily="34" charset="-122"/>
              </a:rPr>
              <a:t>)</a:t>
            </a:r>
          </a:p>
          <a:p>
            <a:pPr marL="324000" lvl="1" indent="-216000">
              <a:buClr>
                <a:schemeClr val="tx2"/>
              </a:buClr>
              <a:buFont typeface="Trebuchet MS" panose="020B0603020202020204" pitchFamily="34" charset="0"/>
              <a:buChar char="•"/>
            </a:pPr>
            <a:r>
              <a:rPr lang="zh-TW" altLang="en-US" sz="1600">
                <a:solidFill>
                  <a:srgbClr val="575757"/>
                </a:solidFill>
                <a:latin typeface="Trebuchet MS" panose="020B0603020202020204" pitchFamily="34" charset="0"/>
                <a:ea typeface="Microsoft YaHei" panose="020B0503020204020204" pitchFamily="34" charset="-122"/>
              </a:rPr>
              <a:t>産出名單包含升等機率分數，但</a:t>
            </a:r>
            <a:r>
              <a:rPr lang="zh-TW" altLang="en-US" sz="1600" b="1">
                <a:solidFill>
                  <a:srgbClr val="29BA74"/>
                </a:solidFill>
                <a:latin typeface="Trebuchet MS" panose="020B0603020202020204" pitchFamily="34" charset="0"/>
                <a:ea typeface="Microsoft YaHei" panose="020B0503020204020204" pitchFamily="34" charset="-122"/>
              </a:rPr>
              <a:t>無針對客戶潛在適合産品推薦</a:t>
            </a:r>
            <a:endParaRPr lang="en-US" altLang="zh-TW" sz="1600" b="1">
              <a:solidFill>
                <a:srgbClr val="29BA74"/>
              </a:solidFill>
              <a:latin typeface="Trebuchet MS" panose="020B0603020202020204" pitchFamily="34" charset="0"/>
              <a:ea typeface="Microsoft YaHei" panose="020B0503020204020204" pitchFamily="34" charset="-122"/>
            </a:endParaRPr>
          </a:p>
        </p:txBody>
      </p:sp>
      <p:sp>
        <p:nvSpPr>
          <p:cNvPr id="50" name="Rectangle 49">
            <a:extLst>
              <a:ext uri="{FF2B5EF4-FFF2-40B4-BE49-F238E27FC236}">
                <a16:creationId xmlns:a16="http://schemas.microsoft.com/office/drawing/2014/main" id="{D8829828-3134-390B-2D5A-76A3E592F93B}"/>
              </a:ext>
            </a:extLst>
          </p:cNvPr>
          <p:cNvSpPr/>
          <p:nvPr/>
        </p:nvSpPr>
        <p:spPr>
          <a:xfrm>
            <a:off x="4408488" y="4008900"/>
            <a:ext cx="4528719" cy="830997"/>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marL="324000" lvl="1" indent="-216000">
              <a:buClr>
                <a:schemeClr val="tx2"/>
              </a:buClr>
              <a:buFont typeface="Trebuchet MS" panose="020B0603020202020204" pitchFamily="34" charset="0"/>
              <a:buChar char="•"/>
            </a:pPr>
            <a:r>
              <a:rPr lang="zh-TW" altLang="en-US" sz="1600">
                <a:solidFill>
                  <a:srgbClr val="575757"/>
                </a:solidFill>
                <a:latin typeface="Trebuchet MS" panose="020B0603020202020204" pitchFamily="34" charset="0"/>
                <a:ea typeface="Microsoft YaHei" panose="020B0503020204020204" pitchFamily="34" charset="-122"/>
              </a:rPr>
              <a:t>既有預測模型範圍</a:t>
            </a:r>
            <a:r>
              <a:rPr lang="zh-TW" altLang="en-US" sz="1600" b="1">
                <a:solidFill>
                  <a:srgbClr val="29BA74"/>
                </a:solidFill>
                <a:latin typeface="Trebuchet MS" panose="020B0603020202020204" pitchFamily="34" charset="0"/>
                <a:ea typeface="Microsoft YaHei" panose="020B0503020204020204" pitchFamily="34" charset="-122"/>
              </a:rPr>
              <a:t>未應用於一般</a:t>
            </a:r>
            <a:r>
              <a:rPr lang="en-US" altLang="zh-TW" sz="1600" b="1">
                <a:solidFill>
                  <a:srgbClr val="29BA74"/>
                </a:solidFill>
                <a:latin typeface="Trebuchet MS" panose="020B0603020202020204" pitchFamily="34" charset="0"/>
                <a:ea typeface="Microsoft YaHei" panose="020B0503020204020204" pitchFamily="34" charset="-122"/>
              </a:rPr>
              <a:t>M</a:t>
            </a:r>
            <a:r>
              <a:rPr lang="zh-TW" altLang="en-US" sz="1600" b="1">
                <a:solidFill>
                  <a:srgbClr val="29BA74"/>
                </a:solidFill>
                <a:latin typeface="Trebuchet MS" panose="020B0603020202020204" pitchFamily="34" charset="0"/>
                <a:ea typeface="Microsoft YaHei" panose="020B0503020204020204" pitchFamily="34" charset="-122"/>
              </a:rPr>
              <a:t>客</a:t>
            </a:r>
            <a:endParaRPr lang="en-US" altLang="zh-TW" sz="1600" b="1">
              <a:solidFill>
                <a:srgbClr val="29BA74"/>
              </a:solidFill>
              <a:latin typeface="Trebuchet MS" panose="020B0603020202020204" pitchFamily="34" charset="0"/>
              <a:ea typeface="Microsoft YaHei" panose="020B0503020204020204" pitchFamily="34" charset="-122"/>
            </a:endParaRPr>
          </a:p>
          <a:p>
            <a:pPr marL="324000" lvl="1" indent="-216000">
              <a:buClr>
                <a:schemeClr val="tx2"/>
              </a:buClr>
              <a:buFont typeface="Trebuchet MS" panose="020B0603020202020204" pitchFamily="34" charset="0"/>
              <a:buChar char="•"/>
            </a:pPr>
            <a:r>
              <a:rPr lang="zh-TW" altLang="en-US" sz="1600">
                <a:solidFill>
                  <a:srgbClr val="575757"/>
                </a:solidFill>
                <a:latin typeface="Trebuchet MS" panose="020B0603020202020204" pitchFamily="34" charset="0"/>
                <a:ea typeface="Microsoft YaHei" panose="020B0503020204020204" pitchFamily="34" charset="-122"/>
              </a:rPr>
              <a:t>目前各產品</a:t>
            </a:r>
            <a:r>
              <a:rPr lang="en-US" altLang="zh-TW" sz="1600">
                <a:solidFill>
                  <a:srgbClr val="575757"/>
                </a:solidFill>
                <a:latin typeface="Trebuchet MS" panose="020B0603020202020204" pitchFamily="34" charset="0"/>
                <a:ea typeface="Microsoft YaHei" panose="020B0503020204020204" pitchFamily="34" charset="-122"/>
              </a:rPr>
              <a:t>PM</a:t>
            </a:r>
            <a:r>
              <a:rPr lang="zh-TW" altLang="en-US" sz="1600">
                <a:solidFill>
                  <a:srgbClr val="575757"/>
                </a:solidFill>
                <a:latin typeface="Trebuchet MS" panose="020B0603020202020204" pitchFamily="34" charset="0"/>
                <a:ea typeface="Microsoft YaHei" panose="020B0503020204020204" pitchFamily="34" charset="-122"/>
              </a:rPr>
              <a:t>僅基於規則篩選產品活動名單進行</a:t>
            </a:r>
            <a:r>
              <a:rPr lang="zh-TW" altLang="en-US" sz="1600" b="1">
                <a:solidFill>
                  <a:srgbClr val="29BA74"/>
                </a:solidFill>
                <a:latin typeface="Trebuchet MS" panose="020B0603020202020204" pitchFamily="34" charset="0"/>
                <a:ea typeface="Microsoft YaHei" panose="020B0503020204020204" pitchFamily="34" charset="-122"/>
              </a:rPr>
              <a:t>單一產品</a:t>
            </a:r>
            <a:r>
              <a:rPr lang="zh-TW" altLang="en-US" sz="1600">
                <a:solidFill>
                  <a:srgbClr val="575757"/>
                </a:solidFill>
                <a:latin typeface="Trebuchet MS" panose="020B0603020202020204" pitchFamily="34" charset="0"/>
                <a:ea typeface="Microsoft YaHei" panose="020B0503020204020204" pitchFamily="34" charset="-122"/>
              </a:rPr>
              <a:t>行銷</a:t>
            </a:r>
            <a:endParaRPr lang="en-US" altLang="zh-TW" sz="1600">
              <a:solidFill>
                <a:srgbClr val="575757"/>
              </a:solidFill>
              <a:latin typeface="Trebuchet MS" panose="020B0603020202020204" pitchFamily="34" charset="0"/>
              <a:ea typeface="Microsoft YaHei" panose="020B0503020204020204" pitchFamily="34" charset="-122"/>
            </a:endParaRPr>
          </a:p>
        </p:txBody>
      </p:sp>
      <p:sp>
        <p:nvSpPr>
          <p:cNvPr id="51" name="Rectangle 50">
            <a:extLst>
              <a:ext uri="{FF2B5EF4-FFF2-40B4-BE49-F238E27FC236}">
                <a16:creationId xmlns:a16="http://schemas.microsoft.com/office/drawing/2014/main" id="{0DA8D6E6-CCC8-CE94-7DB2-23B730C98CFA}"/>
              </a:ext>
            </a:extLst>
          </p:cNvPr>
          <p:cNvSpPr/>
          <p:nvPr/>
        </p:nvSpPr>
        <p:spPr>
          <a:xfrm>
            <a:off x="4408488" y="5162360"/>
            <a:ext cx="4528719" cy="584775"/>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marL="324000" lvl="1" indent="-216000">
              <a:buClr>
                <a:schemeClr val="tx2"/>
              </a:buClr>
              <a:buFont typeface="Trebuchet MS" panose="020B0603020202020204" pitchFamily="34" charset="0"/>
              <a:buChar char="•"/>
            </a:pPr>
            <a:r>
              <a:rPr lang="zh-TW" altLang="en-US" sz="1600">
                <a:solidFill>
                  <a:schemeClr val="tx1"/>
                </a:solidFill>
                <a:latin typeface="Trebuchet MS" panose="020B0603020202020204" pitchFamily="34" charset="0"/>
                <a:ea typeface="Microsoft YaHei" panose="020B0503020204020204" pitchFamily="34" charset="-122"/>
              </a:rPr>
              <a:t>有限地針對新戶寄發</a:t>
            </a:r>
            <a:r>
              <a:rPr lang="zh-TW" altLang="en-US" sz="1600" b="1">
                <a:solidFill>
                  <a:srgbClr val="29BA74"/>
                </a:solidFill>
                <a:latin typeface="Trebuchet MS" panose="020B0603020202020204" pitchFamily="34" charset="0"/>
                <a:ea typeface="Microsoft YaHei" panose="020B0503020204020204" pitchFamily="34" charset="-122"/>
              </a:rPr>
              <a:t>新戶優惠</a:t>
            </a:r>
            <a:r>
              <a:rPr lang="en-US" altLang="zh-TW" sz="1600" b="1">
                <a:solidFill>
                  <a:srgbClr val="29BA74"/>
                </a:solidFill>
                <a:latin typeface="Trebuchet MS" panose="020B0603020202020204" pitchFamily="34" charset="0"/>
                <a:ea typeface="Microsoft YaHei" panose="020B0503020204020204" pitchFamily="34" charset="-122"/>
              </a:rPr>
              <a:t>e-DM</a:t>
            </a:r>
            <a:r>
              <a:rPr lang="zh-TW" altLang="en-US" sz="1600" b="1">
                <a:solidFill>
                  <a:srgbClr val="29BA74"/>
                </a:solidFill>
                <a:latin typeface="Trebuchet MS" panose="020B0603020202020204" pitchFamily="34" charset="0"/>
                <a:ea typeface="Microsoft YaHei" panose="020B0503020204020204" pitchFamily="34" charset="-122"/>
              </a:rPr>
              <a:t>，缺乏後續啟動客戶機制與追蹤</a:t>
            </a:r>
            <a:endParaRPr lang="en-US" altLang="zh-TW" sz="1600" b="1">
              <a:solidFill>
                <a:srgbClr val="29BA74"/>
              </a:solidFill>
              <a:latin typeface="Trebuchet MS" panose="020B0603020202020204" pitchFamily="34" charset="0"/>
              <a:ea typeface="Microsoft YaHei" panose="020B0503020204020204" pitchFamily="34" charset="-122"/>
            </a:endParaRPr>
          </a:p>
        </p:txBody>
      </p:sp>
      <p:sp>
        <p:nvSpPr>
          <p:cNvPr id="52" name="Rectangle 51">
            <a:extLst>
              <a:ext uri="{FF2B5EF4-FFF2-40B4-BE49-F238E27FC236}">
                <a16:creationId xmlns:a16="http://schemas.microsoft.com/office/drawing/2014/main" id="{B842906B-FFB9-0D4E-EAED-8C2C775F3D12}"/>
              </a:ext>
            </a:extLst>
          </p:cNvPr>
          <p:cNvSpPr/>
          <p:nvPr/>
        </p:nvSpPr>
        <p:spPr>
          <a:xfrm>
            <a:off x="9389263" y="2957830"/>
            <a:ext cx="2202209" cy="979964"/>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108000" lvl="1">
              <a:buClr>
                <a:schemeClr val="tx2"/>
              </a:buClr>
            </a:pPr>
            <a:r>
              <a:rPr lang="zh-TW" altLang="en-US" sz="1600" b="1">
                <a:solidFill>
                  <a:srgbClr val="03522D"/>
                </a:solidFill>
                <a:latin typeface="Trebuchet MS" panose="020B0603020202020204" pitchFamily="34" charset="0"/>
                <a:ea typeface="Microsoft YaHei" panose="020B0503020204020204" pitchFamily="34" charset="-122"/>
              </a:rPr>
              <a:t>優化預測模型，逐步達到個性化經營</a:t>
            </a:r>
            <a:endParaRPr lang="en-US" altLang="zh-TW" sz="1600" b="1">
              <a:solidFill>
                <a:srgbClr val="03522D"/>
              </a:solidFill>
              <a:latin typeface="Trebuchet MS" panose="020B0603020202020204" pitchFamily="34" charset="0"/>
              <a:ea typeface="Microsoft YaHei" panose="020B0503020204020204" pitchFamily="34" charset="-122"/>
            </a:endParaRPr>
          </a:p>
          <a:p>
            <a:pPr marL="324000" lvl="1" indent="-216000">
              <a:buClr>
                <a:schemeClr val="tx2"/>
              </a:buClr>
              <a:buFont typeface="Trebuchet MS" panose="020B0603020202020204" pitchFamily="34" charset="0"/>
              <a:buChar char="•"/>
            </a:pPr>
            <a:r>
              <a:rPr lang="zh-TW" altLang="en-US" sz="1400">
                <a:solidFill>
                  <a:schemeClr val="tx1"/>
                </a:solidFill>
                <a:latin typeface="Trebuchet MS" panose="020B0603020202020204" pitchFamily="34" charset="0"/>
                <a:ea typeface="Microsoft YaHei" panose="020B0503020204020204" pitchFamily="34" charset="-122"/>
              </a:rPr>
              <a:t>短期優化預測模型並擴大應用範圍，識別最佳下一步産品</a:t>
            </a:r>
            <a:endParaRPr lang="en-US" altLang="zh-TW" sz="1400">
              <a:solidFill>
                <a:schemeClr val="tx1"/>
              </a:solidFill>
              <a:latin typeface="Trebuchet MS" panose="020B0603020202020204" pitchFamily="34" charset="0"/>
              <a:ea typeface="Microsoft YaHei" panose="020B0503020204020204" pitchFamily="34" charset="-122"/>
            </a:endParaRPr>
          </a:p>
          <a:p>
            <a:pPr marL="324000" lvl="1" indent="-216000">
              <a:buClr>
                <a:schemeClr val="tx2"/>
              </a:buClr>
              <a:buFont typeface="Trebuchet MS" panose="020B0603020202020204" pitchFamily="34" charset="0"/>
              <a:buChar char="•"/>
            </a:pPr>
            <a:r>
              <a:rPr lang="zh-TW" altLang="en-US" sz="1400">
                <a:solidFill>
                  <a:schemeClr val="tx1"/>
                </a:solidFill>
                <a:latin typeface="Trebuchet MS" panose="020B0603020202020204" pitchFamily="34" charset="0"/>
                <a:ea typeface="Microsoft YaHei" panose="020B0503020204020204" pitchFamily="34" charset="-122"/>
              </a:rPr>
              <a:t>長期發展個性化經營</a:t>
            </a:r>
            <a:endParaRPr lang="en-US" altLang="zh-TW" sz="1400">
              <a:solidFill>
                <a:schemeClr val="tx1"/>
              </a:solidFill>
              <a:latin typeface="Trebuchet MS" panose="020B0603020202020204" pitchFamily="34" charset="0"/>
              <a:ea typeface="Microsoft YaHei" panose="020B0503020204020204" pitchFamily="34" charset="-122"/>
            </a:endParaRPr>
          </a:p>
        </p:txBody>
      </p:sp>
      <p:sp>
        <p:nvSpPr>
          <p:cNvPr id="53" name="Left Brace 52">
            <a:extLst>
              <a:ext uri="{FF2B5EF4-FFF2-40B4-BE49-F238E27FC236}">
                <a16:creationId xmlns:a16="http://schemas.microsoft.com/office/drawing/2014/main" id="{8C1407B9-136A-D3DF-4A29-812B2CBE7CC5}"/>
              </a:ext>
            </a:extLst>
          </p:cNvPr>
          <p:cNvSpPr/>
          <p:nvPr/>
        </p:nvSpPr>
        <p:spPr>
          <a:xfrm rot="10800000">
            <a:off x="8989594" y="2671673"/>
            <a:ext cx="148644" cy="2104253"/>
          </a:xfrm>
          <a:prstGeom prst="leftBrace">
            <a:avLst/>
          </a:prstGeom>
          <a:solidFill>
            <a:srgbClr val="C9E7CA">
              <a:alpha val="40000"/>
            </a:srgbClr>
          </a:solidFill>
          <a:ln w="9525" cap="rnd" cmpd="sng" algn="ctr">
            <a:solidFill>
              <a:srgbClr val="29BA74"/>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ea typeface="Microsoft YaHei" panose="020B0503020204020204" pitchFamily="34" charset="-122"/>
            </a:endParaRPr>
          </a:p>
        </p:txBody>
      </p:sp>
      <p:sp>
        <p:nvSpPr>
          <p:cNvPr id="54" name="Left Brace 53">
            <a:extLst>
              <a:ext uri="{FF2B5EF4-FFF2-40B4-BE49-F238E27FC236}">
                <a16:creationId xmlns:a16="http://schemas.microsoft.com/office/drawing/2014/main" id="{7BC11171-0B0E-F26C-22ED-1D3ED6355BAF}"/>
              </a:ext>
            </a:extLst>
          </p:cNvPr>
          <p:cNvSpPr/>
          <p:nvPr/>
        </p:nvSpPr>
        <p:spPr>
          <a:xfrm rot="10800000">
            <a:off x="8989594" y="5113716"/>
            <a:ext cx="128857" cy="801110"/>
          </a:xfrm>
          <a:prstGeom prst="leftBrace">
            <a:avLst/>
          </a:prstGeom>
          <a:solidFill>
            <a:srgbClr val="C9E7CA">
              <a:alpha val="40000"/>
            </a:srgbClr>
          </a:solidFill>
          <a:ln w="9525" cap="rnd" cmpd="sng" algn="ctr">
            <a:solidFill>
              <a:srgbClr val="29BA74"/>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ea typeface="Microsoft YaHei" panose="020B0503020204020204" pitchFamily="34" charset="-122"/>
            </a:endParaRPr>
          </a:p>
        </p:txBody>
      </p:sp>
      <p:sp>
        <p:nvSpPr>
          <p:cNvPr id="55" name="Rectangle 54">
            <a:extLst>
              <a:ext uri="{FF2B5EF4-FFF2-40B4-BE49-F238E27FC236}">
                <a16:creationId xmlns:a16="http://schemas.microsoft.com/office/drawing/2014/main" id="{FB839C95-ED6A-63E7-E1A5-13FD2893790D}"/>
              </a:ext>
            </a:extLst>
          </p:cNvPr>
          <p:cNvSpPr/>
          <p:nvPr/>
        </p:nvSpPr>
        <p:spPr>
          <a:xfrm>
            <a:off x="9389264" y="5075013"/>
            <a:ext cx="2202209" cy="804863"/>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108000" lvl="1">
              <a:buClr>
                <a:schemeClr val="tx2"/>
              </a:buClr>
            </a:pPr>
            <a:r>
              <a:rPr lang="zh-TW" altLang="en-US" sz="1600" b="1">
                <a:solidFill>
                  <a:srgbClr val="03522D"/>
                </a:solidFill>
                <a:latin typeface="Trebuchet MS" panose="020B0603020202020204" pitchFamily="34" charset="0"/>
                <a:ea typeface="Microsoft YaHei" panose="020B0503020204020204" pitchFamily="34" charset="-122"/>
              </a:rPr>
              <a:t>優化新戶啟動計畫</a:t>
            </a:r>
            <a:endParaRPr lang="en-US" altLang="zh-TW" sz="1600" b="1">
              <a:solidFill>
                <a:srgbClr val="03522D"/>
              </a:solidFill>
              <a:latin typeface="Trebuchet MS" panose="020B0603020202020204" pitchFamily="34" charset="0"/>
              <a:ea typeface="Microsoft YaHei" panose="020B0503020204020204" pitchFamily="34" charset="-122"/>
            </a:endParaRPr>
          </a:p>
          <a:p>
            <a:pPr marL="324000" lvl="1" indent="-216000">
              <a:buClr>
                <a:schemeClr val="tx2"/>
              </a:buClr>
              <a:buFont typeface="Trebuchet MS" panose="020B0603020202020204" pitchFamily="34" charset="0"/>
              <a:buChar char="•"/>
            </a:pPr>
            <a:r>
              <a:rPr lang="zh-TW" altLang="en-US" sz="1400">
                <a:solidFill>
                  <a:schemeClr val="tx1"/>
                </a:solidFill>
                <a:latin typeface="Trebuchet MS" panose="020B0603020202020204" pitchFamily="34" charset="0"/>
                <a:ea typeface="Microsoft YaHei" panose="020B0503020204020204" pitchFamily="34" charset="-122"/>
              </a:rPr>
              <a:t>盤點與優化新戶計畫，防止零元戶持續快速增長</a:t>
            </a:r>
            <a:endParaRPr lang="en-US" altLang="zh-TW" sz="1400">
              <a:solidFill>
                <a:schemeClr val="tx1"/>
              </a:solidFill>
              <a:latin typeface="Trebuchet MS" panose="020B0603020202020204" pitchFamily="34" charset="0"/>
              <a:ea typeface="Microsoft YaHei" panose="020B0503020204020204" pitchFamily="34" charset="-122"/>
            </a:endParaRPr>
          </a:p>
        </p:txBody>
      </p:sp>
      <p:sp>
        <p:nvSpPr>
          <p:cNvPr id="95" name="Rectangle 94">
            <a:extLst>
              <a:ext uri="{FF2B5EF4-FFF2-40B4-BE49-F238E27FC236}">
                <a16:creationId xmlns:a16="http://schemas.microsoft.com/office/drawing/2014/main" id="{BCC81381-DA4A-5104-29CC-6F976D256D3A}"/>
              </a:ext>
            </a:extLst>
          </p:cNvPr>
          <p:cNvSpPr/>
          <p:nvPr>
            <p:custDataLst>
              <p:tags r:id="rId7"/>
            </p:custDataLst>
          </p:nvPr>
        </p:nvSpPr>
        <p:spPr bwMode="gray">
          <a:xfrm>
            <a:off x="2663825" y="2787650"/>
            <a:ext cx="285750" cy="214313"/>
          </a:xfrm>
          <a:prstGeom prst="rect">
            <a:avLst/>
          </a:prstGeom>
          <a:solidFill>
            <a:srgbClr val="29BA74"/>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96" name="Rectangle 95">
            <a:extLst>
              <a:ext uri="{FF2B5EF4-FFF2-40B4-BE49-F238E27FC236}">
                <a16:creationId xmlns:a16="http://schemas.microsoft.com/office/drawing/2014/main" id="{1C39475E-16F2-7EC1-E990-9624E39EEBB1}"/>
              </a:ext>
            </a:extLst>
          </p:cNvPr>
          <p:cNvSpPr/>
          <p:nvPr>
            <p:custDataLst>
              <p:tags r:id="rId8"/>
            </p:custDataLst>
          </p:nvPr>
        </p:nvSpPr>
        <p:spPr bwMode="gray">
          <a:xfrm>
            <a:off x="2663825" y="4179888"/>
            <a:ext cx="285750" cy="214313"/>
          </a:xfrm>
          <a:prstGeom prst="rect">
            <a:avLst/>
          </a:prstGeom>
          <a:solidFill>
            <a:srgbClr val="318C46"/>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97" name="Rectangle 96">
            <a:extLst>
              <a:ext uri="{FF2B5EF4-FFF2-40B4-BE49-F238E27FC236}">
                <a16:creationId xmlns:a16="http://schemas.microsoft.com/office/drawing/2014/main" id="{AD40E34B-144F-3D2D-570D-8F9D4680452C}"/>
              </a:ext>
            </a:extLst>
          </p:cNvPr>
          <p:cNvSpPr/>
          <p:nvPr>
            <p:custDataLst>
              <p:tags r:id="rId9"/>
            </p:custDataLst>
          </p:nvPr>
        </p:nvSpPr>
        <p:spPr bwMode="gray">
          <a:xfrm>
            <a:off x="2663825" y="5303838"/>
            <a:ext cx="285750" cy="214313"/>
          </a:xfrm>
          <a:prstGeom prst="rect">
            <a:avLst/>
          </a:prstGeom>
          <a:solidFill>
            <a:srgbClr val="2A6B2A"/>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87" name="Text Placeholder 3">
            <a:extLst>
              <a:ext uri="{FF2B5EF4-FFF2-40B4-BE49-F238E27FC236}">
                <a16:creationId xmlns:a16="http://schemas.microsoft.com/office/drawing/2014/main" id="{0DACBD56-0B3D-8A9F-6FAE-800F938F3EC6}"/>
              </a:ext>
            </a:extLst>
          </p:cNvPr>
          <p:cNvSpPr>
            <a:spLocks noGrp="1"/>
          </p:cNvSpPr>
          <p:nvPr>
            <p:custDataLst>
              <p:tags r:id="rId10"/>
            </p:custDataLst>
          </p:nvPr>
        </p:nvSpPr>
        <p:spPr bwMode="gray">
          <a:xfrm>
            <a:off x="3000375" y="2763838"/>
            <a:ext cx="1382713" cy="13414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lvl="0">
              <a:spcBef>
                <a:spcPct val="0"/>
              </a:spcBef>
              <a:spcAft>
                <a:spcPct val="0"/>
              </a:spcAft>
            </a:pPr>
            <a:r>
              <a:rPr lang="zh-TW" altLang="en-US" sz="1600" b="1">
                <a:effectLst/>
                <a:ea typeface="Microsoft YaHei" panose="020B0503020204020204" pitchFamily="34" charset="-122"/>
              </a:rPr>
              <a:t>潜力M升A
(AUM 70-99萬)</a:t>
            </a:r>
            <a:endParaRPr lang="en-US" altLang="zh-TW" sz="1600" b="1">
              <a:effectLst/>
              <a:ea typeface="Microsoft YaHei" panose="020B0503020204020204" pitchFamily="34" charset="-122"/>
            </a:endParaRPr>
          </a:p>
          <a:p>
            <a:pPr lvl="0">
              <a:spcBef>
                <a:spcPct val="0"/>
              </a:spcBef>
              <a:spcAft>
                <a:spcPct val="0"/>
              </a:spcAft>
            </a:pPr>
            <a:endParaRPr lang="en-US" sz="1600" b="1">
              <a:ea typeface="Microsoft YaHei" panose="020B0503020204020204" pitchFamily="34" charset="-122"/>
            </a:endParaRPr>
          </a:p>
          <a:p>
            <a:pPr lvl="0">
              <a:spcBef>
                <a:spcPct val="0"/>
              </a:spcBef>
              <a:spcAft>
                <a:spcPct val="0"/>
              </a:spcAft>
            </a:pPr>
            <a:endParaRPr lang="en-US" sz="1600" b="1">
              <a:ea typeface="Microsoft YaHei" panose="020B0503020204020204" pitchFamily="34" charset="-122"/>
            </a:endParaRPr>
          </a:p>
          <a:p>
            <a:pPr lvl="0">
              <a:spcBef>
                <a:spcPct val="0"/>
              </a:spcBef>
              <a:spcAft>
                <a:spcPct val="0"/>
              </a:spcAft>
            </a:pPr>
            <a:endParaRPr lang="en-US" sz="1600" b="1">
              <a:ea typeface="Microsoft YaHei" panose="020B0503020204020204" pitchFamily="34" charset="-122"/>
            </a:endParaRPr>
          </a:p>
        </p:txBody>
      </p:sp>
      <p:sp>
        <p:nvSpPr>
          <p:cNvPr id="89" name="Text Placeholder 3">
            <a:extLst>
              <a:ext uri="{FF2B5EF4-FFF2-40B4-BE49-F238E27FC236}">
                <a16:creationId xmlns:a16="http://schemas.microsoft.com/office/drawing/2014/main" id="{F1197B25-E902-585C-F995-5F0AFB9195FD}"/>
              </a:ext>
            </a:extLst>
          </p:cNvPr>
          <p:cNvSpPr>
            <a:spLocks noGrp="1"/>
          </p:cNvSpPr>
          <p:nvPr>
            <p:custDataLst>
              <p:tags r:id="rId11"/>
            </p:custDataLst>
          </p:nvPr>
        </p:nvSpPr>
        <p:spPr bwMode="gray">
          <a:xfrm>
            <a:off x="3000375" y="4156075"/>
            <a:ext cx="1263650" cy="10731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lvl="0">
              <a:spcBef>
                <a:spcPct val="0"/>
              </a:spcBef>
              <a:spcAft>
                <a:spcPct val="0"/>
              </a:spcAft>
            </a:pPr>
            <a:fld id="{7364CF23-FB19-4263-A983-4B2174FB9E4A}" type="datetime'一''''般''''''''M''''''客&#10;''''''(AUM'''''''''' 1-''69''萬'')'''''">
              <a:rPr lang="zh-TW" altLang="en-US" sz="1600" b="1" smtClean="0">
                <a:ea typeface="Microsoft YaHei" panose="020B0503020204020204" pitchFamily="34" charset="-122"/>
              </a:rPr>
              <a:pPr lvl="0">
                <a:spcBef>
                  <a:spcPct val="0"/>
                </a:spcBef>
                <a:spcAft>
                  <a:spcPct val="0"/>
                </a:spcAft>
              </a:pPr>
              <a:t>一般M客
(AUM 1-69萬)</a:t>
            </a:fld>
            <a:endParaRPr lang="en-US" altLang="zh-TW" sz="1600" b="1">
              <a:effectLst/>
              <a:ea typeface="Microsoft YaHei" panose="020B0503020204020204" pitchFamily="34" charset="-122"/>
            </a:endParaRPr>
          </a:p>
          <a:p>
            <a:pPr lvl="0">
              <a:spcBef>
                <a:spcPct val="0"/>
              </a:spcBef>
              <a:spcAft>
                <a:spcPct val="0"/>
              </a:spcAft>
            </a:pPr>
            <a:endParaRPr lang="en-US" sz="1600" b="1">
              <a:ea typeface="Microsoft YaHei" panose="020B0503020204020204" pitchFamily="34" charset="-122"/>
            </a:endParaRPr>
          </a:p>
          <a:p>
            <a:pPr lvl="0">
              <a:spcBef>
                <a:spcPct val="0"/>
              </a:spcBef>
              <a:spcAft>
                <a:spcPct val="0"/>
              </a:spcAft>
            </a:pPr>
            <a:endParaRPr lang="en-US" sz="1600" b="1">
              <a:ea typeface="Microsoft YaHei" panose="020B0503020204020204" pitchFamily="34" charset="-122"/>
            </a:endParaRPr>
          </a:p>
        </p:txBody>
      </p:sp>
      <p:sp>
        <p:nvSpPr>
          <p:cNvPr id="90" name="Text Placeholder 3">
            <a:extLst>
              <a:ext uri="{FF2B5EF4-FFF2-40B4-BE49-F238E27FC236}">
                <a16:creationId xmlns:a16="http://schemas.microsoft.com/office/drawing/2014/main" id="{71557802-7FA4-594D-1D16-3EF3640850FE}"/>
              </a:ext>
            </a:extLst>
          </p:cNvPr>
          <p:cNvSpPr>
            <a:spLocks noGrp="1"/>
          </p:cNvSpPr>
          <p:nvPr>
            <p:custDataLst>
              <p:tags r:id="rId12"/>
            </p:custDataLst>
          </p:nvPr>
        </p:nvSpPr>
        <p:spPr bwMode="gray">
          <a:xfrm>
            <a:off x="3000375" y="5280025"/>
            <a:ext cx="525463" cy="2682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lvl="0">
              <a:spcBef>
                <a:spcPct val="0"/>
              </a:spcBef>
              <a:spcAft>
                <a:spcPct val="0"/>
              </a:spcAft>
            </a:pPr>
            <a:fld id="{7D07F8CE-3891-4014-89D7-7C9533E18CE6}" type="datetime'''''''''''''''''''''''''''0''''''元''''''''''''戶'">
              <a:rPr lang="zh-TW" altLang="en-US" sz="1600" b="1" smtClean="0">
                <a:effectLst/>
                <a:ea typeface="Microsoft YaHei" panose="020B0503020204020204" pitchFamily="34" charset="-122"/>
              </a:rPr>
              <a:pPr lvl="0">
                <a:spcBef>
                  <a:spcPct val="0"/>
                </a:spcBef>
                <a:spcAft>
                  <a:spcPct val="0"/>
                </a:spcAft>
              </a:pPr>
              <a:t>0元戶</a:t>
            </a:fld>
            <a:endParaRPr lang="en-US" sz="1600" b="1">
              <a:ea typeface="Microsoft YaHei" panose="020B0503020204020204" pitchFamily="34" charset="-122"/>
            </a:endParaRPr>
          </a:p>
        </p:txBody>
      </p:sp>
      <p:cxnSp>
        <p:nvCxnSpPr>
          <p:cNvPr id="105" name="Straight Connector 104">
            <a:extLst>
              <a:ext uri="{FF2B5EF4-FFF2-40B4-BE49-F238E27FC236}">
                <a16:creationId xmlns:a16="http://schemas.microsoft.com/office/drawing/2014/main" id="{9E7D13EF-7B28-496D-3948-150A29973D8B}"/>
              </a:ext>
            </a:extLst>
          </p:cNvPr>
          <p:cNvCxnSpPr>
            <a:cxnSpLocks/>
          </p:cNvCxnSpPr>
          <p:nvPr/>
        </p:nvCxnSpPr>
        <p:spPr>
          <a:xfrm>
            <a:off x="2316163" y="3762693"/>
            <a:ext cx="6195377" cy="0"/>
          </a:xfrm>
          <a:prstGeom prst="line">
            <a:avLst/>
          </a:prstGeom>
          <a:ln w="9525" cap="rnd">
            <a:solidFill>
              <a:schemeClr val="tx1">
                <a:lumMod val="20000"/>
                <a:lumOff val="80000"/>
              </a:schemeClr>
            </a:solidFill>
            <a:prstDash val="sysDot"/>
            <a:round/>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15990C5-EE25-F5F4-B5F7-6BDCC8886805}"/>
              </a:ext>
            </a:extLst>
          </p:cNvPr>
          <p:cNvCxnSpPr>
            <a:cxnSpLocks/>
          </p:cNvCxnSpPr>
          <p:nvPr/>
        </p:nvCxnSpPr>
        <p:spPr>
          <a:xfrm>
            <a:off x="2419350" y="5113716"/>
            <a:ext cx="6195377" cy="0"/>
          </a:xfrm>
          <a:prstGeom prst="line">
            <a:avLst/>
          </a:prstGeom>
          <a:ln w="9525" cap="rnd">
            <a:solidFill>
              <a:schemeClr val="tx1">
                <a:lumMod val="20000"/>
                <a:lumOff val="80000"/>
              </a:schemeClr>
            </a:solidFill>
            <a:prstDash val="sysDot"/>
            <a:round/>
          </a:ln>
        </p:spPr>
        <p:style>
          <a:lnRef idx="1">
            <a:schemeClr val="accent1"/>
          </a:lnRef>
          <a:fillRef idx="0">
            <a:schemeClr val="accent1"/>
          </a:fillRef>
          <a:effectRef idx="0">
            <a:schemeClr val="accent1"/>
          </a:effectRef>
          <a:fontRef idx="minor">
            <a:schemeClr val="tx1"/>
          </a:fontRef>
        </p:style>
      </p:cxnSp>
      <p:sp>
        <p:nvSpPr>
          <p:cNvPr id="160" name="Oval 20">
            <a:extLst>
              <a:ext uri="{FF2B5EF4-FFF2-40B4-BE49-F238E27FC236}">
                <a16:creationId xmlns:a16="http://schemas.microsoft.com/office/drawing/2014/main" id="{2361523A-FF56-FBC3-A1CF-313AFE084435}"/>
              </a:ext>
            </a:extLst>
          </p:cNvPr>
          <p:cNvSpPr>
            <a:spLocks noChangeAspect="1" noChangeArrowheads="1"/>
          </p:cNvSpPr>
          <p:nvPr/>
        </p:nvSpPr>
        <p:spPr bwMode="auto">
          <a:xfrm>
            <a:off x="9209037" y="2792710"/>
            <a:ext cx="299290" cy="299290"/>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sz="1200">
                <a:solidFill>
                  <a:schemeClr val="bg1"/>
                </a:solidFill>
                <a:ea typeface="Microsoft YaHei" panose="020B0503020204020204" pitchFamily="34" charset="-122"/>
              </a:rPr>
              <a:t>1</a:t>
            </a:r>
          </a:p>
        </p:txBody>
      </p:sp>
      <p:sp>
        <p:nvSpPr>
          <p:cNvPr id="161" name="Oval 20">
            <a:extLst>
              <a:ext uri="{FF2B5EF4-FFF2-40B4-BE49-F238E27FC236}">
                <a16:creationId xmlns:a16="http://schemas.microsoft.com/office/drawing/2014/main" id="{6104C902-F4EC-8EB5-60C4-528F6A42453C}"/>
              </a:ext>
            </a:extLst>
          </p:cNvPr>
          <p:cNvSpPr>
            <a:spLocks noChangeAspect="1" noChangeArrowheads="1"/>
          </p:cNvSpPr>
          <p:nvPr/>
        </p:nvSpPr>
        <p:spPr bwMode="auto">
          <a:xfrm>
            <a:off x="9209037" y="4933110"/>
            <a:ext cx="299290" cy="299290"/>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sz="1200">
                <a:solidFill>
                  <a:schemeClr val="bg1"/>
                </a:solidFill>
                <a:ea typeface="Microsoft YaHei" panose="020B0503020204020204" pitchFamily="34" charset="-122"/>
              </a:rPr>
              <a:t>2</a:t>
            </a:r>
          </a:p>
        </p:txBody>
      </p:sp>
      <p:sp>
        <p:nvSpPr>
          <p:cNvPr id="12" name="Textfeld 1">
            <a:extLst>
              <a:ext uri="{FF2B5EF4-FFF2-40B4-BE49-F238E27FC236}">
                <a16:creationId xmlns:a16="http://schemas.microsoft.com/office/drawing/2014/main" id="{94060893-3063-7B65-654B-05C35604F4D0}"/>
              </a:ext>
            </a:extLst>
          </p:cNvPr>
          <p:cNvSpPr txBox="1"/>
          <p:nvPr>
            <p:custDataLst>
              <p:tags r:id="rId13"/>
            </p:custDataLst>
          </p:nvPr>
        </p:nvSpPr>
        <p:spPr>
          <a:xfrm>
            <a:off x="12192000" y="1133912"/>
            <a:ext cx="3361926" cy="1212640"/>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en-US" sz="1200" b="1">
                <a:solidFill>
                  <a:srgbClr val="575757"/>
                </a:solidFill>
                <a:sym typeface="Trebuchet MS" panose="020B0603020202020204" pitchFamily="34" charset="0"/>
              </a:rPr>
              <a:t>'23 Avg AUM; '20-'23 AUM CAGR</a:t>
            </a:r>
          </a:p>
          <a:p>
            <a:pPr>
              <a:lnSpc>
                <a:spcPct val="90000"/>
              </a:lnSpc>
              <a:spcAft>
                <a:spcPts val="600"/>
              </a:spcAft>
            </a:pPr>
            <a:endParaRPr lang="en-US" sz="1200" b="1">
              <a:solidFill>
                <a:srgbClr val="575757"/>
              </a:solidFill>
              <a:sym typeface="Trebuchet MS" panose="020B0603020202020204" pitchFamily="34" charset="0"/>
            </a:endParaRPr>
          </a:p>
          <a:p>
            <a:pPr>
              <a:lnSpc>
                <a:spcPct val="90000"/>
              </a:lnSpc>
              <a:spcAft>
                <a:spcPts val="600"/>
              </a:spcAft>
            </a:pPr>
            <a:r>
              <a:rPr lang="zh-TW" altLang="en-US" sz="1200" b="1">
                <a:solidFill>
                  <a:srgbClr val="575757"/>
                </a:solidFill>
                <a:sym typeface="Trebuchet MS" panose="020B0603020202020204" pitchFamily="34" charset="0"/>
              </a:rPr>
              <a:t>僅能分出 </a:t>
            </a:r>
            <a:endParaRPr lang="en-US" altLang="zh-TW" sz="1200" b="1">
              <a:solidFill>
                <a:srgbClr val="575757"/>
              </a:solidFill>
              <a:sym typeface="Trebuchet MS" panose="020B0603020202020204" pitchFamily="34" charset="0"/>
            </a:endParaRPr>
          </a:p>
          <a:p>
            <a:pPr>
              <a:lnSpc>
                <a:spcPct val="90000"/>
              </a:lnSpc>
              <a:spcAft>
                <a:spcPts val="600"/>
              </a:spcAft>
            </a:pPr>
            <a:r>
              <a:rPr lang="en-US" sz="1200" b="1">
                <a:solidFill>
                  <a:srgbClr val="575757"/>
                </a:solidFill>
                <a:sym typeface="Trebuchet MS" panose="020B0603020202020204" pitchFamily="34" charset="0"/>
              </a:rPr>
              <a:t>70-99</a:t>
            </a:r>
            <a:r>
              <a:rPr lang="zh-TW" altLang="en-US" sz="1200" b="1">
                <a:solidFill>
                  <a:srgbClr val="575757"/>
                </a:solidFill>
                <a:sym typeface="Trebuchet MS" panose="020B0603020202020204" pitchFamily="34" charset="0"/>
              </a:rPr>
              <a:t>萬 </a:t>
            </a:r>
            <a:r>
              <a:rPr lang="en-US" altLang="zh-TW" sz="1200" b="1">
                <a:solidFill>
                  <a:srgbClr val="575757"/>
                </a:solidFill>
                <a:sym typeface="Trebuchet MS" panose="020B0603020202020204" pitchFamily="34" charset="0"/>
              </a:rPr>
              <a:t>'23 AUM 83.9</a:t>
            </a:r>
            <a:r>
              <a:rPr lang="zh-TW" altLang="en-US" sz="1200" b="1">
                <a:solidFill>
                  <a:srgbClr val="575757"/>
                </a:solidFill>
                <a:sym typeface="Trebuchet MS" panose="020B0603020202020204" pitchFamily="34" charset="0"/>
              </a:rPr>
              <a:t>萬</a:t>
            </a:r>
            <a:r>
              <a:rPr lang="en-US" altLang="zh-TW" sz="1200" b="1">
                <a:solidFill>
                  <a:srgbClr val="575757"/>
                </a:solidFill>
                <a:sym typeface="Trebuchet MS" panose="020B0603020202020204" pitchFamily="34" charset="0"/>
              </a:rPr>
              <a:t>/</a:t>
            </a:r>
            <a:r>
              <a:rPr lang="en-US" altLang="zh-TW" sz="1200" b="1" err="1">
                <a:solidFill>
                  <a:srgbClr val="575757"/>
                </a:solidFill>
                <a:sym typeface="Trebuchet MS" panose="020B0603020202020204" pitchFamily="34" charset="0"/>
              </a:rPr>
              <a:t>cagr</a:t>
            </a:r>
            <a:r>
              <a:rPr lang="en-US" altLang="zh-TW" sz="1200" b="1">
                <a:solidFill>
                  <a:srgbClr val="575757"/>
                </a:solidFill>
                <a:sym typeface="Trebuchet MS" panose="020B0603020202020204" pitchFamily="34" charset="0"/>
              </a:rPr>
              <a:t> 2%</a:t>
            </a:r>
          </a:p>
          <a:p>
            <a:pPr>
              <a:lnSpc>
                <a:spcPct val="90000"/>
              </a:lnSpc>
              <a:spcAft>
                <a:spcPts val="600"/>
              </a:spcAft>
            </a:pPr>
            <a:r>
              <a:rPr lang="en-US" sz="1200" b="1">
                <a:solidFill>
                  <a:srgbClr val="575757"/>
                </a:solidFill>
                <a:sym typeface="Trebuchet MS" panose="020B0603020202020204" pitchFamily="34" charset="0"/>
              </a:rPr>
              <a:t>30-70</a:t>
            </a:r>
            <a:r>
              <a:rPr lang="zh-TW" altLang="en-US" sz="1200" b="1">
                <a:solidFill>
                  <a:srgbClr val="575757"/>
                </a:solidFill>
                <a:sym typeface="Trebuchet MS" panose="020B0603020202020204" pitchFamily="34" charset="0"/>
              </a:rPr>
              <a:t>萬 </a:t>
            </a:r>
            <a:r>
              <a:rPr lang="en-US" altLang="zh-TW" sz="1200" b="1">
                <a:solidFill>
                  <a:srgbClr val="575757"/>
                </a:solidFill>
                <a:sym typeface="Trebuchet MS" panose="020B0603020202020204" pitchFamily="34" charset="0"/>
              </a:rPr>
              <a:t>'23 aum 46.1</a:t>
            </a:r>
            <a:r>
              <a:rPr lang="zh-TW" altLang="en-US" sz="1200" b="1">
                <a:solidFill>
                  <a:srgbClr val="575757"/>
                </a:solidFill>
                <a:sym typeface="Trebuchet MS" panose="020B0603020202020204" pitchFamily="34" charset="0"/>
              </a:rPr>
              <a:t>萬</a:t>
            </a:r>
            <a:r>
              <a:rPr lang="en-US" altLang="zh-TW" sz="1200" b="1">
                <a:solidFill>
                  <a:srgbClr val="575757"/>
                </a:solidFill>
                <a:sym typeface="Trebuchet MS" panose="020B0603020202020204" pitchFamily="34" charset="0"/>
              </a:rPr>
              <a:t>/</a:t>
            </a:r>
            <a:r>
              <a:rPr lang="zh-TW" altLang="en-US" sz="1200" b="1">
                <a:solidFill>
                  <a:srgbClr val="575757"/>
                </a:solidFill>
                <a:sym typeface="Trebuchet MS" panose="020B0603020202020204" pitchFamily="34" charset="0"/>
              </a:rPr>
              <a:t> </a:t>
            </a:r>
            <a:r>
              <a:rPr lang="en-US" altLang="zh-TW" sz="1200" b="1" err="1">
                <a:solidFill>
                  <a:srgbClr val="575757"/>
                </a:solidFill>
                <a:sym typeface="Trebuchet MS" panose="020B0603020202020204" pitchFamily="34" charset="0"/>
              </a:rPr>
              <a:t>cagr</a:t>
            </a:r>
            <a:r>
              <a:rPr lang="en-US" altLang="zh-TW" sz="1200" b="1">
                <a:solidFill>
                  <a:srgbClr val="575757"/>
                </a:solidFill>
                <a:sym typeface="Trebuchet MS" panose="020B0603020202020204" pitchFamily="34" charset="0"/>
              </a:rPr>
              <a:t>:</a:t>
            </a:r>
            <a:r>
              <a:rPr lang="zh-TW" altLang="en-US" sz="1200" b="1">
                <a:solidFill>
                  <a:srgbClr val="575757"/>
                </a:solidFill>
                <a:sym typeface="Trebuchet MS" panose="020B0603020202020204" pitchFamily="34" charset="0"/>
              </a:rPr>
              <a:t> </a:t>
            </a:r>
            <a:r>
              <a:rPr lang="en-US" altLang="zh-TW" sz="1200" b="1">
                <a:solidFill>
                  <a:srgbClr val="575757"/>
                </a:solidFill>
                <a:sym typeface="Trebuchet MS" panose="020B0603020202020204" pitchFamily="34" charset="0"/>
              </a:rPr>
              <a:t>13%</a:t>
            </a:r>
            <a:endParaRPr lang="en-US" sz="1200" b="1">
              <a:solidFill>
                <a:srgbClr val="575757"/>
              </a:solidFill>
              <a:sym typeface="Trebuchet MS" panose="020B0603020202020204" pitchFamily="34" charset="0"/>
            </a:endParaRPr>
          </a:p>
        </p:txBody>
      </p:sp>
      <p:sp>
        <p:nvSpPr>
          <p:cNvPr id="17" name="Oval 16">
            <a:extLst>
              <a:ext uri="{FF2B5EF4-FFF2-40B4-BE49-F238E27FC236}">
                <a16:creationId xmlns:a16="http://schemas.microsoft.com/office/drawing/2014/main" id="{DFF08590-6854-B26E-8A7C-9557D4D50872}"/>
              </a:ext>
            </a:extLst>
          </p:cNvPr>
          <p:cNvSpPr/>
          <p:nvPr/>
        </p:nvSpPr>
        <p:spPr>
          <a:xfrm>
            <a:off x="1579656" y="5769853"/>
            <a:ext cx="856950" cy="424405"/>
          </a:xfrm>
          <a:prstGeom prst="ellipse">
            <a:avLst/>
          </a:prstGeom>
          <a:solidFill>
            <a:srgbClr val="C9E7CA"/>
          </a:solidFill>
          <a:ln w="9525" cap="rnd" cmpd="sng" algn="ctr">
            <a:noFill/>
            <a:prstDash val="sysDot"/>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altLang="zh-TW" sz="1400" b="1">
                <a:solidFill>
                  <a:srgbClr val="575757"/>
                </a:solidFill>
                <a:latin typeface="Microsoft YaHei" panose="020B0503020204020204" pitchFamily="34" charset="-122"/>
                <a:ea typeface="Microsoft YaHei" panose="020B0503020204020204" pitchFamily="34" charset="-122"/>
              </a:rPr>
              <a:t>91%</a:t>
            </a:r>
            <a:endParaRPr lang="en-US" sz="1200" b="1">
              <a:solidFill>
                <a:srgbClr val="575757"/>
              </a:solidFill>
              <a:latin typeface="Microsoft YaHei" panose="020B0503020204020204" pitchFamily="34" charset="-122"/>
              <a:ea typeface="Microsoft YaHei" panose="020B0503020204020204" pitchFamily="34" charset="-122"/>
            </a:endParaRPr>
          </a:p>
        </p:txBody>
      </p:sp>
      <p:sp>
        <p:nvSpPr>
          <p:cNvPr id="2" name="Rectangle 1">
            <a:extLst>
              <a:ext uri="{FF2B5EF4-FFF2-40B4-BE49-F238E27FC236}">
                <a16:creationId xmlns:a16="http://schemas.microsoft.com/office/drawing/2014/main" id="{F0ACADB6-F598-2360-9A68-74AA13C42CC4}"/>
              </a:ext>
            </a:extLst>
          </p:cNvPr>
          <p:cNvSpPr/>
          <p:nvPr/>
        </p:nvSpPr>
        <p:spPr>
          <a:xfrm>
            <a:off x="564265" y="5732153"/>
            <a:ext cx="946402" cy="537027"/>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zh-TW" altLang="en-US" sz="1400">
                <a:solidFill>
                  <a:srgbClr val="575757"/>
                </a:solidFill>
                <a:latin typeface="Microsoft YaHei" panose="020B0503020204020204" pitchFamily="34" charset="-122"/>
                <a:ea typeface="Microsoft YaHei" panose="020B0503020204020204" pitchFamily="34" charset="-122"/>
              </a:rPr>
              <a:t>佔凱基</a:t>
            </a:r>
            <a:endParaRPr lang="en-US" altLang="zh-TW" sz="1400">
              <a:solidFill>
                <a:srgbClr val="575757"/>
              </a:solidFill>
              <a:latin typeface="Microsoft YaHei" panose="020B0503020204020204" pitchFamily="34" charset="-122"/>
              <a:ea typeface="Microsoft YaHei" panose="020B0503020204020204" pitchFamily="34" charset="-122"/>
            </a:endParaRPr>
          </a:p>
          <a:p>
            <a:pPr algn="ctr">
              <a:lnSpc>
                <a:spcPct val="90000"/>
              </a:lnSpc>
            </a:pPr>
            <a:r>
              <a:rPr lang="zh-TW" altLang="en-US" sz="1400">
                <a:solidFill>
                  <a:srgbClr val="575757"/>
                </a:solidFill>
                <a:latin typeface="Microsoft YaHei" panose="020B0503020204020204" pitchFamily="34" charset="-122"/>
                <a:ea typeface="Microsoft YaHei" panose="020B0503020204020204" pitchFamily="34" charset="-122"/>
              </a:rPr>
              <a:t>總客戶數</a:t>
            </a:r>
            <a:endParaRPr lang="en-US" sz="1400">
              <a:solidFill>
                <a:srgbClr val="575757"/>
              </a:solidFill>
              <a:latin typeface="Microsoft YaHei" panose="020B0503020204020204" pitchFamily="34" charset="-122"/>
              <a:ea typeface="Microsoft YaHei" panose="020B0503020204020204" pitchFamily="34" charset="-122"/>
            </a:endParaRPr>
          </a:p>
        </p:txBody>
      </p:sp>
    </p:spTree>
    <p:extLst>
      <p:ext uri="{BB962C8B-B14F-4D97-AF65-F5344CB8AC3E}">
        <p14:creationId xmlns:p14="http://schemas.microsoft.com/office/powerpoint/2010/main" val="54025329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 name="think-cell data - do not delete" hidden="1">
            <a:extLst>
              <a:ext uri="{FF2B5EF4-FFF2-40B4-BE49-F238E27FC236}">
                <a16:creationId xmlns:a16="http://schemas.microsoft.com/office/drawing/2014/main" id="{44904510-C9CC-5F4E-A858-F565A03A1731}"/>
              </a:ext>
            </a:extLst>
          </p:cNvPr>
          <p:cNvGraphicFramePr>
            <a:graphicFrameLocks noChangeAspect="1"/>
          </p:cNvGraphicFramePr>
          <p:nvPr>
            <p:custDataLst>
              <p:tags r:id="rId2"/>
            </p:custDataLst>
            <p:extLst>
              <p:ext uri="{D42A27DB-BD31-4B8C-83A1-F6EECF244321}">
                <p14:modId xmlns:p14="http://schemas.microsoft.com/office/powerpoint/2010/main" val="211003401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0" imgW="404" imgH="405" progId="TCLayout.ActiveDocument.1">
                  <p:embed/>
                </p:oleObj>
              </mc:Choice>
              <mc:Fallback>
                <p:oleObj name="think-cell Slide" r:id="rId10" imgW="404" imgH="405" progId="TCLayout.ActiveDocument.1">
                  <p:embed/>
                  <p:pic>
                    <p:nvPicPr>
                      <p:cNvPr id="50" name="think-cell data - do not delete" hidden="1">
                        <a:extLst>
                          <a:ext uri="{FF2B5EF4-FFF2-40B4-BE49-F238E27FC236}">
                            <a16:creationId xmlns:a16="http://schemas.microsoft.com/office/drawing/2014/main" id="{44904510-C9CC-5F4E-A858-F565A03A1731}"/>
                          </a:ext>
                        </a:extLst>
                      </p:cNvPr>
                      <p:cNvPicPr/>
                      <p:nvPr/>
                    </p:nvPicPr>
                    <p:blipFill>
                      <a:blip r:embed="rId11"/>
                      <a:stretch>
                        <a:fillRect/>
                      </a:stretch>
                    </p:blipFill>
                    <p:spPr>
                      <a:xfrm>
                        <a:off x="1588" y="1588"/>
                        <a:ext cx="1588" cy="1588"/>
                      </a:xfrm>
                      <a:prstGeom prst="rect">
                        <a:avLst/>
                      </a:prstGeom>
                    </p:spPr>
                  </p:pic>
                </p:oleObj>
              </mc:Fallback>
            </mc:AlternateContent>
          </a:graphicData>
        </a:graphic>
      </p:graphicFrame>
      <p:pic>
        <p:nvPicPr>
          <p:cNvPr id="93" name="Picture 92" hidden="1">
            <a:extLst>
              <a:ext uri="{FF2B5EF4-FFF2-40B4-BE49-F238E27FC236}">
                <a16:creationId xmlns:a16="http://schemas.microsoft.com/office/drawing/2014/main" id="{5592D1EB-C162-9D2A-8286-FC0FE16571AF}"/>
              </a:ext>
            </a:extLst>
          </p:cNvPr>
          <p:cNvPicPr>
            <a:picLocks noChangeAspect="1"/>
          </p:cNvPicPr>
          <p:nvPr>
            <p:custDataLst>
              <p:tags r:id="rId3"/>
            </p:custDataLst>
          </p:nvPr>
        </p:nvPicPr>
        <p:blipFill>
          <a:blip r:embed="rId12">
            <a:alphaModFix amt="57000"/>
          </a:blip>
          <a:stretch>
            <a:fillRect/>
          </a:stretch>
        </p:blipFill>
        <p:spPr>
          <a:xfrm flipH="1">
            <a:off x="1" y="0"/>
            <a:ext cx="12191999" cy="6879281"/>
          </a:xfrm>
          <a:prstGeom prst="rect">
            <a:avLst/>
          </a:prstGeom>
        </p:spPr>
      </p:pic>
      <p:sp>
        <p:nvSpPr>
          <p:cNvPr id="35" name="Right Arrow 3">
            <a:extLst>
              <a:ext uri="{FF2B5EF4-FFF2-40B4-BE49-F238E27FC236}">
                <a16:creationId xmlns:a16="http://schemas.microsoft.com/office/drawing/2014/main" id="{0F122301-B05A-6278-7F80-60080E0716E5}"/>
              </a:ext>
            </a:extLst>
          </p:cNvPr>
          <p:cNvSpPr/>
          <p:nvPr/>
        </p:nvSpPr>
        <p:spPr>
          <a:xfrm rot="10800000">
            <a:off x="2554205" y="981200"/>
            <a:ext cx="9078695" cy="2253648"/>
          </a:xfrm>
          <a:custGeom>
            <a:avLst/>
            <a:gdLst>
              <a:gd name="connsiteX0" fmla="*/ 0 w 5535827"/>
              <a:gd name="connsiteY0" fmla="*/ 564292 h 2257168"/>
              <a:gd name="connsiteX1" fmla="*/ 4407243 w 5535827"/>
              <a:gd name="connsiteY1" fmla="*/ 564292 h 2257168"/>
              <a:gd name="connsiteX2" fmla="*/ 4407243 w 5535827"/>
              <a:gd name="connsiteY2" fmla="*/ 0 h 2257168"/>
              <a:gd name="connsiteX3" fmla="*/ 5535827 w 5535827"/>
              <a:gd name="connsiteY3" fmla="*/ 1128584 h 2257168"/>
              <a:gd name="connsiteX4" fmla="*/ 4407243 w 5535827"/>
              <a:gd name="connsiteY4" fmla="*/ 2257168 h 2257168"/>
              <a:gd name="connsiteX5" fmla="*/ 4407243 w 5535827"/>
              <a:gd name="connsiteY5" fmla="*/ 1692876 h 2257168"/>
              <a:gd name="connsiteX6" fmla="*/ 0 w 5535827"/>
              <a:gd name="connsiteY6" fmla="*/ 1692876 h 2257168"/>
              <a:gd name="connsiteX7" fmla="*/ 0 w 5535827"/>
              <a:gd name="connsiteY7" fmla="*/ 564292 h 2257168"/>
              <a:gd name="connsiteX0" fmla="*/ 0 w 6993924"/>
              <a:gd name="connsiteY0" fmla="*/ 0 h 3258065"/>
              <a:gd name="connsiteX1" fmla="*/ 5865340 w 6993924"/>
              <a:gd name="connsiteY1" fmla="*/ 1565189 h 3258065"/>
              <a:gd name="connsiteX2" fmla="*/ 5865340 w 6993924"/>
              <a:gd name="connsiteY2" fmla="*/ 1000897 h 3258065"/>
              <a:gd name="connsiteX3" fmla="*/ 6993924 w 6993924"/>
              <a:gd name="connsiteY3" fmla="*/ 2129481 h 3258065"/>
              <a:gd name="connsiteX4" fmla="*/ 5865340 w 6993924"/>
              <a:gd name="connsiteY4" fmla="*/ 3258065 h 3258065"/>
              <a:gd name="connsiteX5" fmla="*/ 5865340 w 6993924"/>
              <a:gd name="connsiteY5" fmla="*/ 2693773 h 3258065"/>
              <a:gd name="connsiteX6" fmla="*/ 1458097 w 6993924"/>
              <a:gd name="connsiteY6" fmla="*/ 2693773 h 3258065"/>
              <a:gd name="connsiteX7" fmla="*/ 0 w 6993924"/>
              <a:gd name="connsiteY7" fmla="*/ 0 h 3258065"/>
              <a:gd name="connsiteX0" fmla="*/ 32951 w 7026875"/>
              <a:gd name="connsiteY0" fmla="*/ 0 h 4242486"/>
              <a:gd name="connsiteX1" fmla="*/ 5898291 w 7026875"/>
              <a:gd name="connsiteY1" fmla="*/ 1565189 h 4242486"/>
              <a:gd name="connsiteX2" fmla="*/ 5898291 w 7026875"/>
              <a:gd name="connsiteY2" fmla="*/ 1000897 h 4242486"/>
              <a:gd name="connsiteX3" fmla="*/ 7026875 w 7026875"/>
              <a:gd name="connsiteY3" fmla="*/ 2129481 h 4242486"/>
              <a:gd name="connsiteX4" fmla="*/ 5898291 w 7026875"/>
              <a:gd name="connsiteY4" fmla="*/ 3258065 h 4242486"/>
              <a:gd name="connsiteX5" fmla="*/ 5898291 w 7026875"/>
              <a:gd name="connsiteY5" fmla="*/ 2693773 h 4242486"/>
              <a:gd name="connsiteX6" fmla="*/ 0 w 7026875"/>
              <a:gd name="connsiteY6" fmla="*/ 4242486 h 4242486"/>
              <a:gd name="connsiteX7" fmla="*/ 32951 w 7026875"/>
              <a:gd name="connsiteY7" fmla="*/ 0 h 4242486"/>
              <a:gd name="connsiteX0" fmla="*/ 32951 w 7026875"/>
              <a:gd name="connsiteY0" fmla="*/ 0 h 4242486"/>
              <a:gd name="connsiteX1" fmla="*/ 5898291 w 7026875"/>
              <a:gd name="connsiteY1" fmla="*/ 1565189 h 4242486"/>
              <a:gd name="connsiteX2" fmla="*/ 5898291 w 7026875"/>
              <a:gd name="connsiteY2" fmla="*/ 1000897 h 4242486"/>
              <a:gd name="connsiteX3" fmla="*/ 7026875 w 7026875"/>
              <a:gd name="connsiteY3" fmla="*/ 2129481 h 4242486"/>
              <a:gd name="connsiteX4" fmla="*/ 5898291 w 7026875"/>
              <a:gd name="connsiteY4" fmla="*/ 3258065 h 4242486"/>
              <a:gd name="connsiteX5" fmla="*/ 5898291 w 7026875"/>
              <a:gd name="connsiteY5" fmla="*/ 2693773 h 4242486"/>
              <a:gd name="connsiteX6" fmla="*/ 0 w 7026875"/>
              <a:gd name="connsiteY6" fmla="*/ 4242486 h 4242486"/>
              <a:gd name="connsiteX7" fmla="*/ 32951 w 7026875"/>
              <a:gd name="connsiteY7" fmla="*/ 0 h 4242486"/>
              <a:gd name="connsiteX0" fmla="*/ 32951 w 7026875"/>
              <a:gd name="connsiteY0" fmla="*/ 0 h 4242486"/>
              <a:gd name="connsiteX1" fmla="*/ 5898291 w 7026875"/>
              <a:gd name="connsiteY1" fmla="*/ 1565189 h 4242486"/>
              <a:gd name="connsiteX2" fmla="*/ 5898291 w 7026875"/>
              <a:gd name="connsiteY2" fmla="*/ 1000897 h 4242486"/>
              <a:gd name="connsiteX3" fmla="*/ 7026875 w 7026875"/>
              <a:gd name="connsiteY3" fmla="*/ 2129481 h 4242486"/>
              <a:gd name="connsiteX4" fmla="*/ 5898291 w 7026875"/>
              <a:gd name="connsiteY4" fmla="*/ 3258065 h 4242486"/>
              <a:gd name="connsiteX5" fmla="*/ 5898291 w 7026875"/>
              <a:gd name="connsiteY5" fmla="*/ 2693773 h 4242486"/>
              <a:gd name="connsiteX6" fmla="*/ 0 w 7026875"/>
              <a:gd name="connsiteY6" fmla="*/ 4242486 h 4242486"/>
              <a:gd name="connsiteX7" fmla="*/ 32951 w 7026875"/>
              <a:gd name="connsiteY7" fmla="*/ 0 h 4242486"/>
              <a:gd name="connsiteX0" fmla="*/ 32951 w 7026875"/>
              <a:gd name="connsiteY0" fmla="*/ 0 h 4242486"/>
              <a:gd name="connsiteX1" fmla="*/ 5898291 w 7026875"/>
              <a:gd name="connsiteY1" fmla="*/ 1565189 h 4242486"/>
              <a:gd name="connsiteX2" fmla="*/ 5898291 w 7026875"/>
              <a:gd name="connsiteY2" fmla="*/ 1000897 h 4242486"/>
              <a:gd name="connsiteX3" fmla="*/ 7026875 w 7026875"/>
              <a:gd name="connsiteY3" fmla="*/ 2129481 h 4242486"/>
              <a:gd name="connsiteX4" fmla="*/ 5898291 w 7026875"/>
              <a:gd name="connsiteY4" fmla="*/ 3258065 h 4242486"/>
              <a:gd name="connsiteX5" fmla="*/ 5898291 w 7026875"/>
              <a:gd name="connsiteY5" fmla="*/ 2693773 h 4242486"/>
              <a:gd name="connsiteX6" fmla="*/ 0 w 7026875"/>
              <a:gd name="connsiteY6" fmla="*/ 4242486 h 4242486"/>
              <a:gd name="connsiteX7" fmla="*/ 32951 w 7026875"/>
              <a:gd name="connsiteY7" fmla="*/ 0 h 4242486"/>
              <a:gd name="connsiteX0" fmla="*/ 32951 w 7026875"/>
              <a:gd name="connsiteY0" fmla="*/ 0 h 4242486"/>
              <a:gd name="connsiteX1" fmla="*/ 5898291 w 7026875"/>
              <a:gd name="connsiteY1" fmla="*/ 1565189 h 4242486"/>
              <a:gd name="connsiteX2" fmla="*/ 5898291 w 7026875"/>
              <a:gd name="connsiteY2" fmla="*/ 1000897 h 4242486"/>
              <a:gd name="connsiteX3" fmla="*/ 7026875 w 7026875"/>
              <a:gd name="connsiteY3" fmla="*/ 2129481 h 4242486"/>
              <a:gd name="connsiteX4" fmla="*/ 5898291 w 7026875"/>
              <a:gd name="connsiteY4" fmla="*/ 3258065 h 4242486"/>
              <a:gd name="connsiteX5" fmla="*/ 5898291 w 7026875"/>
              <a:gd name="connsiteY5" fmla="*/ 2693773 h 4242486"/>
              <a:gd name="connsiteX6" fmla="*/ 0 w 7026875"/>
              <a:gd name="connsiteY6" fmla="*/ 4242486 h 4242486"/>
              <a:gd name="connsiteX7" fmla="*/ 32951 w 7026875"/>
              <a:gd name="connsiteY7" fmla="*/ 0 h 4242486"/>
              <a:gd name="connsiteX0" fmla="*/ 32951 w 7026875"/>
              <a:gd name="connsiteY0" fmla="*/ 0 h 4242486"/>
              <a:gd name="connsiteX1" fmla="*/ 5898291 w 7026875"/>
              <a:gd name="connsiteY1" fmla="*/ 1565189 h 4242486"/>
              <a:gd name="connsiteX2" fmla="*/ 5898291 w 7026875"/>
              <a:gd name="connsiteY2" fmla="*/ 1000897 h 4242486"/>
              <a:gd name="connsiteX3" fmla="*/ 7026875 w 7026875"/>
              <a:gd name="connsiteY3" fmla="*/ 2129481 h 4242486"/>
              <a:gd name="connsiteX4" fmla="*/ 5898291 w 7026875"/>
              <a:gd name="connsiteY4" fmla="*/ 3258065 h 4242486"/>
              <a:gd name="connsiteX5" fmla="*/ 5898291 w 7026875"/>
              <a:gd name="connsiteY5" fmla="*/ 2693773 h 4242486"/>
              <a:gd name="connsiteX6" fmla="*/ 0 w 7026875"/>
              <a:gd name="connsiteY6" fmla="*/ 4242486 h 4242486"/>
              <a:gd name="connsiteX7" fmla="*/ 32951 w 7026875"/>
              <a:gd name="connsiteY7" fmla="*/ 0 h 4242486"/>
              <a:gd name="connsiteX0" fmla="*/ 32951 w 7417891"/>
              <a:gd name="connsiteY0" fmla="*/ 0 h 4242486"/>
              <a:gd name="connsiteX1" fmla="*/ 5898291 w 7417891"/>
              <a:gd name="connsiteY1" fmla="*/ 1565189 h 4242486"/>
              <a:gd name="connsiteX2" fmla="*/ 5898291 w 7417891"/>
              <a:gd name="connsiteY2" fmla="*/ 1000897 h 4242486"/>
              <a:gd name="connsiteX3" fmla="*/ 7417892 w 7417891"/>
              <a:gd name="connsiteY3" fmla="*/ 2129480 h 4242486"/>
              <a:gd name="connsiteX4" fmla="*/ 5898291 w 7417891"/>
              <a:gd name="connsiteY4" fmla="*/ 3258065 h 4242486"/>
              <a:gd name="connsiteX5" fmla="*/ 5898291 w 7417891"/>
              <a:gd name="connsiteY5" fmla="*/ 2693773 h 4242486"/>
              <a:gd name="connsiteX6" fmla="*/ 0 w 7417891"/>
              <a:gd name="connsiteY6" fmla="*/ 4242486 h 4242486"/>
              <a:gd name="connsiteX7" fmla="*/ 32951 w 7417891"/>
              <a:gd name="connsiteY7" fmla="*/ 0 h 4242486"/>
              <a:gd name="connsiteX0" fmla="*/ 32951 w 7988198"/>
              <a:gd name="connsiteY0" fmla="*/ 0 h 4242486"/>
              <a:gd name="connsiteX1" fmla="*/ 5898291 w 7988198"/>
              <a:gd name="connsiteY1" fmla="*/ 1565189 h 4242486"/>
              <a:gd name="connsiteX2" fmla="*/ 5898291 w 7988198"/>
              <a:gd name="connsiteY2" fmla="*/ 1000897 h 4242486"/>
              <a:gd name="connsiteX3" fmla="*/ 7988198 w 7988198"/>
              <a:gd name="connsiteY3" fmla="*/ 2147120 h 4242486"/>
              <a:gd name="connsiteX4" fmla="*/ 5898291 w 7988198"/>
              <a:gd name="connsiteY4" fmla="*/ 3258065 h 4242486"/>
              <a:gd name="connsiteX5" fmla="*/ 5898291 w 7988198"/>
              <a:gd name="connsiteY5" fmla="*/ 2693773 h 4242486"/>
              <a:gd name="connsiteX6" fmla="*/ 0 w 7988198"/>
              <a:gd name="connsiteY6" fmla="*/ 4242486 h 4242486"/>
              <a:gd name="connsiteX7" fmla="*/ 32951 w 7988198"/>
              <a:gd name="connsiteY7" fmla="*/ 0 h 4242486"/>
              <a:gd name="connsiteX0" fmla="*/ 32951 w 5898292"/>
              <a:gd name="connsiteY0" fmla="*/ 0 h 4242486"/>
              <a:gd name="connsiteX1" fmla="*/ 5898291 w 5898292"/>
              <a:gd name="connsiteY1" fmla="*/ 1565189 h 4242486"/>
              <a:gd name="connsiteX2" fmla="*/ 5898291 w 5898292"/>
              <a:gd name="connsiteY2" fmla="*/ 1000897 h 4242486"/>
              <a:gd name="connsiteX3" fmla="*/ 5898291 w 5898292"/>
              <a:gd name="connsiteY3" fmla="*/ 3258065 h 4242486"/>
              <a:gd name="connsiteX4" fmla="*/ 5898291 w 5898292"/>
              <a:gd name="connsiteY4" fmla="*/ 2693773 h 4242486"/>
              <a:gd name="connsiteX5" fmla="*/ 0 w 5898292"/>
              <a:gd name="connsiteY5" fmla="*/ 4242486 h 4242486"/>
              <a:gd name="connsiteX6" fmla="*/ 32951 w 5898292"/>
              <a:gd name="connsiteY6" fmla="*/ 0 h 4242486"/>
              <a:gd name="connsiteX0" fmla="*/ 32951 w 5898290"/>
              <a:gd name="connsiteY0" fmla="*/ 0 h 4242486"/>
              <a:gd name="connsiteX1" fmla="*/ 5898291 w 5898290"/>
              <a:gd name="connsiteY1" fmla="*/ 1565189 h 4242486"/>
              <a:gd name="connsiteX2" fmla="*/ 5898291 w 5898290"/>
              <a:gd name="connsiteY2" fmla="*/ 3258065 h 4242486"/>
              <a:gd name="connsiteX3" fmla="*/ 5898291 w 5898290"/>
              <a:gd name="connsiteY3" fmla="*/ 2693773 h 4242486"/>
              <a:gd name="connsiteX4" fmla="*/ 0 w 5898290"/>
              <a:gd name="connsiteY4" fmla="*/ 4242486 h 4242486"/>
              <a:gd name="connsiteX5" fmla="*/ 32951 w 5898290"/>
              <a:gd name="connsiteY5" fmla="*/ 0 h 4242486"/>
              <a:gd name="connsiteX0" fmla="*/ 32951 w 5898292"/>
              <a:gd name="connsiteY0" fmla="*/ 0 h 4242486"/>
              <a:gd name="connsiteX1" fmla="*/ 5898291 w 5898292"/>
              <a:gd name="connsiteY1" fmla="*/ 1565189 h 4242486"/>
              <a:gd name="connsiteX2" fmla="*/ 5898291 w 5898292"/>
              <a:gd name="connsiteY2" fmla="*/ 2693773 h 4242486"/>
              <a:gd name="connsiteX3" fmla="*/ 0 w 5898292"/>
              <a:gd name="connsiteY3" fmla="*/ 4242486 h 4242486"/>
              <a:gd name="connsiteX4" fmla="*/ 32951 w 5898292"/>
              <a:gd name="connsiteY4" fmla="*/ 0 h 4242486"/>
              <a:gd name="connsiteX0" fmla="*/ 32951 w 5898291"/>
              <a:gd name="connsiteY0" fmla="*/ 0 h 4242486"/>
              <a:gd name="connsiteX1" fmla="*/ 5898291 w 5898291"/>
              <a:gd name="connsiteY1" fmla="*/ 1565189 h 4242486"/>
              <a:gd name="connsiteX2" fmla="*/ 5898291 w 5898291"/>
              <a:gd name="connsiteY2" fmla="*/ 2518767 h 4242486"/>
              <a:gd name="connsiteX3" fmla="*/ 0 w 5898291"/>
              <a:gd name="connsiteY3" fmla="*/ 4242486 h 4242486"/>
              <a:gd name="connsiteX4" fmla="*/ 32951 w 5898291"/>
              <a:gd name="connsiteY4" fmla="*/ 0 h 4242486"/>
              <a:gd name="connsiteX0" fmla="*/ 32951 w 5918991"/>
              <a:gd name="connsiteY0" fmla="*/ 0 h 4242486"/>
              <a:gd name="connsiteX1" fmla="*/ 5918991 w 5918991"/>
              <a:gd name="connsiteY1" fmla="*/ 1667276 h 4242486"/>
              <a:gd name="connsiteX2" fmla="*/ 5898291 w 5918991"/>
              <a:gd name="connsiteY2" fmla="*/ 2518767 h 4242486"/>
              <a:gd name="connsiteX3" fmla="*/ 0 w 5918991"/>
              <a:gd name="connsiteY3" fmla="*/ 4242486 h 4242486"/>
              <a:gd name="connsiteX4" fmla="*/ 32951 w 5918991"/>
              <a:gd name="connsiteY4" fmla="*/ 0 h 4242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8991" h="4242486">
                <a:moveTo>
                  <a:pt x="32951" y="0"/>
                </a:moveTo>
                <a:cubicBezTo>
                  <a:pt x="1790356" y="1230184"/>
                  <a:pt x="3873262" y="1499773"/>
                  <a:pt x="5918991" y="1667276"/>
                </a:cubicBezTo>
                <a:lnTo>
                  <a:pt x="5898291" y="2518767"/>
                </a:lnTo>
                <a:cubicBezTo>
                  <a:pt x="3726248" y="2705491"/>
                  <a:pt x="1784865" y="3479113"/>
                  <a:pt x="0" y="4242486"/>
                </a:cubicBezTo>
                <a:lnTo>
                  <a:pt x="32951" y="0"/>
                </a:lnTo>
                <a:close/>
              </a:path>
            </a:pathLst>
          </a:custGeom>
          <a:gradFill>
            <a:gsLst>
              <a:gs pos="0">
                <a:schemeClr val="accent4">
                  <a:lumMod val="20000"/>
                  <a:lumOff val="80000"/>
                  <a:alpha val="0"/>
                </a:schemeClr>
              </a:gs>
              <a:gs pos="100000">
                <a:schemeClr val="accent4">
                  <a:lumMod val="40000"/>
                  <a:lumOff val="60000"/>
                </a:schemeClr>
              </a:gs>
            </a:gsLst>
            <a:lin ang="0" scaled="0"/>
          </a:gra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spcAft>
                <a:spcPts val="1000"/>
              </a:spcAft>
            </a:pPr>
            <a:endParaRPr lang="en-US" sz="1200" err="1">
              <a:solidFill>
                <a:srgbClr val="FFFFFF"/>
              </a:solidFill>
              <a:latin typeface="Microsoft YaHei" panose="020B0503020204020204" pitchFamily="34" charset="-122"/>
              <a:ea typeface="Microsoft YaHei" panose="020B0503020204020204" pitchFamily="34" charset="-122"/>
              <a:sym typeface="Microsoft YaHei" panose="020B0503020204020204" pitchFamily="34" charset="-122"/>
            </a:endParaRPr>
          </a:p>
        </p:txBody>
      </p:sp>
      <p:grpSp>
        <p:nvGrpSpPr>
          <p:cNvPr id="85" name="Group 84">
            <a:extLst>
              <a:ext uri="{FF2B5EF4-FFF2-40B4-BE49-F238E27FC236}">
                <a16:creationId xmlns:a16="http://schemas.microsoft.com/office/drawing/2014/main" id="{D0CB031A-5EBA-F7BB-59F8-4C3ABEAB62C5}"/>
              </a:ext>
            </a:extLst>
          </p:cNvPr>
          <p:cNvGrpSpPr/>
          <p:nvPr/>
        </p:nvGrpSpPr>
        <p:grpSpPr>
          <a:xfrm>
            <a:off x="3029512" y="1367427"/>
            <a:ext cx="7179741" cy="1771889"/>
            <a:chOff x="3221898" y="-1218304"/>
            <a:chExt cx="6621711" cy="2072315"/>
          </a:xfrm>
        </p:grpSpPr>
        <p:sp>
          <p:nvSpPr>
            <p:cNvPr id="49" name="Freeform: Shape 48">
              <a:extLst>
                <a:ext uri="{FF2B5EF4-FFF2-40B4-BE49-F238E27FC236}">
                  <a16:creationId xmlns:a16="http://schemas.microsoft.com/office/drawing/2014/main" id="{04771A05-8511-8069-8B34-29C3D67F5C29}"/>
                </a:ext>
              </a:extLst>
            </p:cNvPr>
            <p:cNvSpPr/>
            <p:nvPr/>
          </p:nvSpPr>
          <p:spPr>
            <a:xfrm rot="5400000" flipH="1">
              <a:off x="6014852" y="-4011258"/>
              <a:ext cx="1035804" cy="6621711"/>
            </a:xfrm>
            <a:custGeom>
              <a:avLst/>
              <a:gdLst>
                <a:gd name="connsiteX0" fmla="*/ 1035804 w 1035804"/>
                <a:gd name="connsiteY0" fmla="*/ 0 h 6621711"/>
                <a:gd name="connsiteX1" fmla="*/ 0 w 1035804"/>
                <a:gd name="connsiteY1" fmla="*/ 0 h 6621711"/>
                <a:gd name="connsiteX2" fmla="*/ 0 w 1035804"/>
                <a:gd name="connsiteY2" fmla="*/ 6621711 h 6621711"/>
                <a:gd name="connsiteX3" fmla="*/ 138548 w 1035804"/>
                <a:gd name="connsiteY3" fmla="*/ 6621711 h 6621711"/>
                <a:gd name="connsiteX4" fmla="*/ 141158 w 1035804"/>
                <a:gd name="connsiteY4" fmla="*/ 6181925 h 6621711"/>
                <a:gd name="connsiteX5" fmla="*/ 1035804 w 1035804"/>
                <a:gd name="connsiteY5" fmla="*/ 0 h 6621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5804" h="6621711">
                  <a:moveTo>
                    <a:pt x="1035804" y="0"/>
                  </a:moveTo>
                  <a:lnTo>
                    <a:pt x="0" y="0"/>
                  </a:lnTo>
                  <a:lnTo>
                    <a:pt x="0" y="6621711"/>
                  </a:lnTo>
                  <a:lnTo>
                    <a:pt x="138548" y="6621711"/>
                  </a:lnTo>
                  <a:lnTo>
                    <a:pt x="141158" y="6181925"/>
                  </a:lnTo>
                  <a:cubicBezTo>
                    <a:pt x="179812" y="3862765"/>
                    <a:pt x="583662" y="1738201"/>
                    <a:pt x="1035804" y="0"/>
                  </a:cubicBezTo>
                  <a:close/>
                </a:path>
              </a:pathLst>
            </a:custGeom>
            <a:gradFill>
              <a:gsLst>
                <a:gs pos="1000">
                  <a:schemeClr val="tx2">
                    <a:alpha val="0"/>
                  </a:schemeClr>
                </a:gs>
                <a:gs pos="100000">
                  <a:schemeClr val="tx2">
                    <a:lumMod val="60000"/>
                    <a:lumOff val="40000"/>
                  </a:schemeClr>
                </a:gs>
              </a:gsLst>
              <a:lin ang="5400000" scaled="0"/>
            </a:gradFill>
            <a:ln w="9525" cap="flat" cmpd="sng" algn="ctr">
              <a:noFill/>
              <a:prstDash val="solid"/>
              <a:round/>
              <a:headEnd type="none" w="med" len="med"/>
              <a:tailEnd type="none" w="med" len="med"/>
            </a:ln>
          </p:spPr>
          <p:txBody>
            <a:bodyPr vert="horz" wrap="square" lIns="91440" tIns="45720" rIns="91440" bIns="45720" numCol="1" anchor="t" anchorCtr="0" compatLnSpc="1">
              <a:prstTxWarp prst="textNoShape">
                <a:avLst/>
              </a:prstTxWarp>
              <a:noAutofit/>
            </a:bodyPr>
            <a:lstStyle/>
            <a:p>
              <a:endParaRPr lang="en-US">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46" name="Freeform: Shape 45">
              <a:extLst>
                <a:ext uri="{FF2B5EF4-FFF2-40B4-BE49-F238E27FC236}">
                  <a16:creationId xmlns:a16="http://schemas.microsoft.com/office/drawing/2014/main" id="{5032DC7A-6FBC-0E70-9723-E2E6C6ACD488}"/>
                </a:ext>
              </a:extLst>
            </p:cNvPr>
            <p:cNvSpPr/>
            <p:nvPr/>
          </p:nvSpPr>
          <p:spPr>
            <a:xfrm rot="5400000" flipH="1">
              <a:off x="6014497" y="-2975098"/>
              <a:ext cx="1036510" cy="6621707"/>
            </a:xfrm>
            <a:custGeom>
              <a:avLst/>
              <a:gdLst>
                <a:gd name="connsiteX0" fmla="*/ 1036510 w 1036510"/>
                <a:gd name="connsiteY0" fmla="*/ 6621707 h 6621707"/>
                <a:gd name="connsiteX1" fmla="*/ 1036510 w 1036510"/>
                <a:gd name="connsiteY1" fmla="*/ 0 h 6621707"/>
                <a:gd name="connsiteX2" fmla="*/ 0 w 1036510"/>
                <a:gd name="connsiteY2" fmla="*/ 0 h 6621707"/>
                <a:gd name="connsiteX3" fmla="*/ 852092 w 1036510"/>
                <a:gd name="connsiteY3" fmla="*/ 5719682 h 6621707"/>
                <a:gd name="connsiteX4" fmla="*/ 896116 w 1036510"/>
                <a:gd name="connsiteY4" fmla="*/ 6621707 h 6621707"/>
                <a:gd name="connsiteX5" fmla="*/ 1036510 w 1036510"/>
                <a:gd name="connsiteY5" fmla="*/ 6621707 h 662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6510" h="6621707">
                  <a:moveTo>
                    <a:pt x="1036510" y="6621707"/>
                  </a:moveTo>
                  <a:lnTo>
                    <a:pt x="1036510" y="0"/>
                  </a:lnTo>
                  <a:lnTo>
                    <a:pt x="0" y="0"/>
                  </a:lnTo>
                  <a:cubicBezTo>
                    <a:pt x="528833" y="1599691"/>
                    <a:pt x="735158" y="3575546"/>
                    <a:pt x="852092" y="5719682"/>
                  </a:cubicBezTo>
                  <a:lnTo>
                    <a:pt x="896116" y="6621707"/>
                  </a:lnTo>
                  <a:lnTo>
                    <a:pt x="1036510" y="6621707"/>
                  </a:lnTo>
                  <a:close/>
                </a:path>
              </a:pathLst>
            </a:custGeom>
            <a:gradFill>
              <a:gsLst>
                <a:gs pos="100000">
                  <a:schemeClr val="tx2">
                    <a:alpha val="0"/>
                  </a:schemeClr>
                </a:gs>
                <a:gs pos="0">
                  <a:schemeClr val="accent4"/>
                </a:gs>
              </a:gsLst>
              <a:lin ang="16200000" scaled="0"/>
            </a:gradFill>
            <a:ln w="9525" cap="flat" cmpd="sng" algn="ctr">
              <a:noFill/>
              <a:prstDash val="solid"/>
              <a:round/>
              <a:headEnd type="none" w="med" len="med"/>
              <a:tailEnd type="none" w="med" len="med"/>
            </a:ln>
          </p:spPr>
          <p:txBody>
            <a:bodyPr vert="horz" wrap="square" lIns="91440" tIns="45720" rIns="91440" bIns="45720" numCol="1" anchor="t" anchorCtr="0" compatLnSpc="1">
              <a:prstTxWarp prst="textNoShape">
                <a:avLst/>
              </a:prstTxWarp>
              <a:noAutofit/>
            </a:bodyPr>
            <a:lstStyle/>
            <a:p>
              <a:endParaRPr lang="en-US">
                <a:latin typeface="Microsoft YaHei" panose="020B0503020204020204" pitchFamily="34" charset="-122"/>
                <a:ea typeface="Microsoft YaHei" panose="020B0503020204020204" pitchFamily="34" charset="-122"/>
                <a:sym typeface="Microsoft YaHei" panose="020B0503020204020204" pitchFamily="34" charset="-122"/>
              </a:endParaRPr>
            </a:p>
          </p:txBody>
        </p:sp>
      </p:grpSp>
      <p:sp>
        <p:nvSpPr>
          <p:cNvPr id="7" name="Rectangle 6">
            <a:extLst>
              <a:ext uri="{FF2B5EF4-FFF2-40B4-BE49-F238E27FC236}">
                <a16:creationId xmlns:a16="http://schemas.microsoft.com/office/drawing/2014/main" id="{D042E02A-EEA4-5951-DB61-679C7FF977B7}"/>
              </a:ext>
            </a:extLst>
          </p:cNvPr>
          <p:cNvSpPr/>
          <p:nvPr/>
        </p:nvSpPr>
        <p:spPr>
          <a:xfrm>
            <a:off x="1402371" y="3025264"/>
            <a:ext cx="2462894" cy="2733832"/>
          </a:xfrm>
          <a:prstGeom prst="rect">
            <a:avLst/>
          </a:prstGeom>
          <a:gradFill>
            <a:gsLst>
              <a:gs pos="0">
                <a:schemeClr val="bg1"/>
              </a:gs>
              <a:gs pos="100000">
                <a:schemeClr val="bg1">
                  <a:lumMod val="95000"/>
                </a:schemeClr>
              </a:gs>
            </a:gsLst>
            <a:lin ang="5400000" scaled="1"/>
          </a:gradFill>
          <a:ln w="12700" cap="rnd" cmpd="sng" algn="ctr">
            <a:gradFill>
              <a:gsLst>
                <a:gs pos="100000">
                  <a:schemeClr val="accent4">
                    <a:lumMod val="20000"/>
                    <a:lumOff val="80000"/>
                    <a:alpha val="0"/>
                  </a:schemeClr>
                </a:gs>
                <a:gs pos="0">
                  <a:schemeClr val="accent4"/>
                </a:gs>
              </a:gsLst>
              <a:lin ang="5400000" scaled="1"/>
            </a:gradFill>
            <a:prstDash val="solid"/>
            <a:round/>
            <a:headEnd type="none" w="med" len="med"/>
            <a:tailEnd type="none" w="med" len="med"/>
          </a:ln>
          <a:effectLst>
            <a:outerShdw blurRad="50800" dist="38100" dir="2700000" algn="tl" rotWithShape="0">
              <a:prstClr val="black">
                <a:alpha val="1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8" name="Rectangle 7">
            <a:extLst>
              <a:ext uri="{FF2B5EF4-FFF2-40B4-BE49-F238E27FC236}">
                <a16:creationId xmlns:a16="http://schemas.microsoft.com/office/drawing/2014/main" id="{BBAC8E5E-861C-9E38-6A3B-B335A3845971}"/>
              </a:ext>
            </a:extLst>
          </p:cNvPr>
          <p:cNvSpPr/>
          <p:nvPr/>
        </p:nvSpPr>
        <p:spPr>
          <a:xfrm>
            <a:off x="3968400" y="3025264"/>
            <a:ext cx="2462894" cy="2733832"/>
          </a:xfrm>
          <a:prstGeom prst="rect">
            <a:avLst/>
          </a:prstGeom>
          <a:gradFill>
            <a:gsLst>
              <a:gs pos="0">
                <a:schemeClr val="bg1"/>
              </a:gs>
              <a:gs pos="100000">
                <a:schemeClr val="bg1">
                  <a:lumMod val="95000"/>
                </a:schemeClr>
              </a:gs>
            </a:gsLst>
            <a:lin ang="5400000" scaled="1"/>
          </a:gradFill>
          <a:ln w="12700" cap="rnd" cmpd="sng" algn="ctr">
            <a:gradFill>
              <a:gsLst>
                <a:gs pos="100000">
                  <a:schemeClr val="accent4">
                    <a:lumMod val="20000"/>
                    <a:lumOff val="80000"/>
                    <a:alpha val="0"/>
                  </a:schemeClr>
                </a:gs>
                <a:gs pos="0">
                  <a:schemeClr val="accent4"/>
                </a:gs>
              </a:gsLst>
              <a:lin ang="5400000" scaled="1"/>
            </a:gradFill>
            <a:prstDash val="solid"/>
            <a:round/>
            <a:headEnd type="none" w="med" len="med"/>
            <a:tailEnd type="none" w="med" len="med"/>
          </a:ln>
          <a:effectLst>
            <a:outerShdw blurRad="50800" dist="38100" dir="2700000" algn="tl" rotWithShape="0">
              <a:prstClr val="black">
                <a:alpha val="1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9" name="Rectangle 8">
            <a:extLst>
              <a:ext uri="{FF2B5EF4-FFF2-40B4-BE49-F238E27FC236}">
                <a16:creationId xmlns:a16="http://schemas.microsoft.com/office/drawing/2014/main" id="{8282F688-1879-3ECB-2DC8-3946063DC4F5}"/>
              </a:ext>
            </a:extLst>
          </p:cNvPr>
          <p:cNvSpPr/>
          <p:nvPr/>
        </p:nvSpPr>
        <p:spPr>
          <a:xfrm>
            <a:off x="6534429" y="3025264"/>
            <a:ext cx="2462894" cy="2733832"/>
          </a:xfrm>
          <a:prstGeom prst="rect">
            <a:avLst/>
          </a:prstGeom>
          <a:gradFill>
            <a:gsLst>
              <a:gs pos="0">
                <a:schemeClr val="bg1"/>
              </a:gs>
              <a:gs pos="100000">
                <a:schemeClr val="bg1">
                  <a:lumMod val="95000"/>
                </a:schemeClr>
              </a:gs>
            </a:gsLst>
            <a:lin ang="5400000" scaled="1"/>
          </a:gradFill>
          <a:ln w="12700" cap="rnd" cmpd="sng" algn="ctr">
            <a:gradFill>
              <a:gsLst>
                <a:gs pos="100000">
                  <a:schemeClr val="accent4">
                    <a:lumMod val="20000"/>
                    <a:lumOff val="80000"/>
                    <a:alpha val="0"/>
                  </a:schemeClr>
                </a:gs>
                <a:gs pos="0">
                  <a:schemeClr val="accent4"/>
                </a:gs>
              </a:gsLst>
              <a:lin ang="5400000" scaled="1"/>
            </a:gradFill>
            <a:prstDash val="solid"/>
            <a:round/>
            <a:headEnd type="none" w="med" len="med"/>
            <a:tailEnd type="none" w="med" len="med"/>
          </a:ln>
          <a:effectLst>
            <a:outerShdw blurRad="50800" dist="38100" dir="2700000" algn="tl" rotWithShape="0">
              <a:prstClr val="black">
                <a:alpha val="1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10" name="Rectangle 9">
            <a:extLst>
              <a:ext uri="{FF2B5EF4-FFF2-40B4-BE49-F238E27FC236}">
                <a16:creationId xmlns:a16="http://schemas.microsoft.com/office/drawing/2014/main" id="{19254760-C793-741D-AC68-11D8E4EF505B}"/>
              </a:ext>
            </a:extLst>
          </p:cNvPr>
          <p:cNvSpPr/>
          <p:nvPr/>
        </p:nvSpPr>
        <p:spPr>
          <a:xfrm>
            <a:off x="9100457" y="3025264"/>
            <a:ext cx="2462894" cy="2733832"/>
          </a:xfrm>
          <a:prstGeom prst="rect">
            <a:avLst/>
          </a:prstGeom>
          <a:gradFill>
            <a:gsLst>
              <a:gs pos="0">
                <a:schemeClr val="bg1"/>
              </a:gs>
              <a:gs pos="100000">
                <a:schemeClr val="bg1">
                  <a:lumMod val="95000"/>
                </a:schemeClr>
              </a:gs>
            </a:gsLst>
            <a:lin ang="5400000" scaled="1"/>
          </a:gradFill>
          <a:ln w="12700" cap="rnd" cmpd="sng" algn="ctr">
            <a:gradFill>
              <a:gsLst>
                <a:gs pos="100000">
                  <a:schemeClr val="accent4">
                    <a:lumMod val="20000"/>
                    <a:lumOff val="80000"/>
                    <a:alpha val="0"/>
                  </a:schemeClr>
                </a:gs>
                <a:gs pos="0">
                  <a:schemeClr val="accent4"/>
                </a:gs>
              </a:gsLst>
              <a:lin ang="5400000" scaled="1"/>
            </a:gradFill>
            <a:prstDash val="solid"/>
            <a:round/>
            <a:headEnd type="none" w="med" len="med"/>
            <a:tailEnd type="none" w="med" len="med"/>
          </a:ln>
          <a:effectLst>
            <a:outerShdw blurRad="50800" dist="38100" dir="2700000" algn="tl" rotWithShape="0">
              <a:prstClr val="black">
                <a:alpha val="1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20" name="object 20"/>
          <p:cNvSpPr txBox="1"/>
          <p:nvPr/>
        </p:nvSpPr>
        <p:spPr>
          <a:xfrm>
            <a:off x="1475554" y="3293246"/>
            <a:ext cx="2316527" cy="658514"/>
          </a:xfrm>
          <a:prstGeom prst="rect">
            <a:avLst/>
          </a:prstGeom>
        </p:spPr>
        <p:txBody>
          <a:bodyPr vert="horz" wrap="square" lIns="0" tIns="12065" rIns="0" bIns="0" rtlCol="0">
            <a:spAutoFit/>
          </a:bodyPr>
          <a:lstStyle/>
          <a:p>
            <a:pPr marL="324000" lvl="1" indent="-216000">
              <a:buClr>
                <a:schemeClr val="tx2"/>
              </a:buClr>
              <a:buFont typeface="Trebuchet MS"/>
              <a:buChar char="•"/>
              <a:tabLst>
                <a:tab pos="227965" algn="l"/>
              </a:tabLst>
            </a:pPr>
            <a:r>
              <a:rPr lang="zh-TW" altLang="en-US" sz="1400">
                <a:latin typeface="Microsoft YaHei" panose="020B0503020204020204" pitchFamily="34" charset="-122"/>
                <a:ea typeface="Microsoft YaHei" panose="020B0503020204020204" pitchFamily="34" charset="-122"/>
                <a:cs typeface="Trebuchet MS"/>
                <a:sym typeface="Microsoft YaHei" panose="020B0503020204020204" pitchFamily="34" charset="-122"/>
              </a:rPr>
              <a:t>大眾客戶</a:t>
            </a:r>
          </a:p>
          <a:p>
            <a:pPr marL="324000" lvl="1" indent="-216000">
              <a:buClr>
                <a:schemeClr val="tx2"/>
              </a:buClr>
              <a:buFont typeface="Trebuchet MS"/>
              <a:buChar char="•"/>
              <a:tabLst>
                <a:tab pos="227965" algn="l"/>
              </a:tabLst>
            </a:pPr>
            <a:r>
              <a:rPr lang="zh-TW" altLang="en-US" sz="1400">
                <a:latin typeface="Microsoft YaHei" panose="020B0503020204020204" pitchFamily="34" charset="-122"/>
                <a:ea typeface="Microsoft YaHei" panose="020B0503020204020204" pitchFamily="34" charset="-122"/>
                <a:cs typeface="Trebuchet MS"/>
                <a:sym typeface="Microsoft YaHei" panose="020B0503020204020204" pitchFamily="34" charset="-122"/>
              </a:rPr>
              <a:t>新興富裕客戶</a:t>
            </a:r>
          </a:p>
          <a:p>
            <a:pPr marL="324000" lvl="1" indent="-216000">
              <a:buClr>
                <a:schemeClr val="tx2"/>
              </a:buClr>
              <a:buFont typeface="Trebuchet MS"/>
              <a:buChar char="•"/>
              <a:tabLst>
                <a:tab pos="227965" algn="l"/>
              </a:tabLst>
            </a:pPr>
            <a:r>
              <a:rPr lang="zh-TW" altLang="en-US" sz="1400">
                <a:latin typeface="Microsoft YaHei" panose="020B0503020204020204" pitchFamily="34" charset="-122"/>
                <a:ea typeface="Microsoft YaHei" panose="020B0503020204020204" pitchFamily="34" charset="-122"/>
                <a:cs typeface="Trebuchet MS"/>
                <a:sym typeface="Microsoft YaHei" panose="020B0503020204020204" pitchFamily="34" charset="-122"/>
              </a:rPr>
              <a:t>富裕客戶</a:t>
            </a:r>
          </a:p>
        </p:txBody>
      </p:sp>
      <p:sp>
        <p:nvSpPr>
          <p:cNvPr id="31" name="object 31"/>
          <p:cNvSpPr txBox="1"/>
          <p:nvPr/>
        </p:nvSpPr>
        <p:spPr>
          <a:xfrm>
            <a:off x="1475554" y="4053914"/>
            <a:ext cx="2316527" cy="443070"/>
          </a:xfrm>
          <a:prstGeom prst="rect">
            <a:avLst/>
          </a:prstGeom>
        </p:spPr>
        <p:txBody>
          <a:bodyPr vert="horz" wrap="square" lIns="0" tIns="12065" rIns="0" bIns="0" rtlCol="0">
            <a:spAutoFit/>
          </a:bodyPr>
          <a:lstStyle/>
          <a:p>
            <a:pPr marL="324000" marR="5080" lvl="1" indent="-216000">
              <a:buClr>
                <a:schemeClr val="tx2"/>
              </a:buClr>
              <a:buFont typeface="Trebuchet MS"/>
              <a:buChar char="•"/>
              <a:tabLst>
                <a:tab pos="227965" algn="l"/>
              </a:tabLst>
            </a:pPr>
            <a:r>
              <a:rPr lang="zh-TW" altLang="en-US" sz="1400">
                <a:latin typeface="Microsoft YaHei" panose="020B0503020204020204" pitchFamily="34" charset="-122"/>
                <a:ea typeface="Microsoft YaHei" panose="020B0503020204020204" pitchFamily="34" charset="-122"/>
                <a:cs typeface="Trebuchet MS"/>
                <a:sym typeface="Microsoft YaHei" panose="020B0503020204020204" pitchFamily="34" charset="-122"/>
              </a:rPr>
              <a:t>貢獻資産規模</a:t>
            </a:r>
            <a:endParaRPr lang="en-US" altLang="zh-TW" sz="1400">
              <a:latin typeface="Microsoft YaHei" panose="020B0503020204020204" pitchFamily="34" charset="-122"/>
              <a:ea typeface="Microsoft YaHei" panose="020B0503020204020204" pitchFamily="34" charset="-122"/>
              <a:cs typeface="Trebuchet MS"/>
              <a:sym typeface="Microsoft YaHei" panose="020B0503020204020204" pitchFamily="34" charset="-122"/>
            </a:endParaRPr>
          </a:p>
          <a:p>
            <a:pPr marL="685165" marR="5080" lvl="1" indent="-215900">
              <a:buClr>
                <a:srgbClr val="29B974"/>
              </a:buClr>
              <a:buChar char="•"/>
              <a:tabLst>
                <a:tab pos="227965" algn="l"/>
              </a:tabLst>
            </a:pPr>
            <a:endParaRPr lang="en-US" sz="1400" spc="-10">
              <a:solidFill>
                <a:srgbClr val="565656"/>
              </a:solidFill>
              <a:latin typeface="Microsoft YaHei" panose="020B0503020204020204" pitchFamily="34" charset="-122"/>
              <a:ea typeface="Microsoft YaHei" panose="020B0503020204020204" pitchFamily="34" charset="-122"/>
              <a:cs typeface="Trebuchet MS"/>
              <a:sym typeface="Microsoft YaHei" panose="020B0503020204020204" pitchFamily="34" charset="-122"/>
            </a:endParaRPr>
          </a:p>
        </p:txBody>
      </p:sp>
      <p:sp>
        <p:nvSpPr>
          <p:cNvPr id="40" name="object 40"/>
          <p:cNvSpPr txBox="1"/>
          <p:nvPr/>
        </p:nvSpPr>
        <p:spPr>
          <a:xfrm>
            <a:off x="1475554" y="5194838"/>
            <a:ext cx="2316527" cy="425758"/>
          </a:xfrm>
          <a:prstGeom prst="rect">
            <a:avLst/>
          </a:prstGeom>
        </p:spPr>
        <p:txBody>
          <a:bodyPr vert="horz" wrap="square" lIns="0" tIns="12700" rIns="0" bIns="0" rtlCol="0">
            <a:spAutoFit/>
          </a:bodyPr>
          <a:lstStyle/>
          <a:p>
            <a:pPr marL="132715" marR="126364" indent="635" algn="ctr">
              <a:lnSpc>
                <a:spcPct val="100000"/>
              </a:lnSpc>
              <a:spcBef>
                <a:spcPts val="100"/>
              </a:spcBef>
            </a:pPr>
            <a:r>
              <a:rPr lang="en-US" altLang="zh-TW" sz="1300">
                <a:solidFill>
                  <a:srgbClr val="295E7D"/>
                </a:solidFill>
                <a:latin typeface="Microsoft YaHei" panose="020B0503020204020204" pitchFamily="34" charset="-122"/>
                <a:ea typeface="Microsoft YaHei" panose="020B0503020204020204" pitchFamily="34" charset="-122"/>
                <a:cs typeface="Trebuchet MS"/>
                <a:sym typeface="Microsoft YaHei" panose="020B0503020204020204" pitchFamily="34" charset="-122"/>
              </a:rPr>
              <a:t>"</a:t>
            </a:r>
            <a:r>
              <a:rPr lang="zh-TW" altLang="en-US" sz="1300">
                <a:solidFill>
                  <a:srgbClr val="295E7D"/>
                </a:solidFill>
                <a:latin typeface="Microsoft YaHei" panose="020B0503020204020204" pitchFamily="34" charset="-122"/>
                <a:ea typeface="Microsoft YaHei" panose="020B0503020204020204" pitchFamily="34" charset="-122"/>
                <a:cs typeface="Trebuchet MS"/>
                <a:sym typeface="Microsoft YaHei" panose="020B0503020204020204" pitchFamily="34" charset="-122"/>
              </a:rPr>
              <a:t>開始儲蓄</a:t>
            </a:r>
            <a:r>
              <a:rPr lang="en-US" altLang="zh-TW" sz="1300">
                <a:solidFill>
                  <a:srgbClr val="295E7D"/>
                </a:solidFill>
                <a:latin typeface="Microsoft YaHei" panose="020B0503020204020204" pitchFamily="34" charset="-122"/>
                <a:ea typeface="Microsoft YaHei" panose="020B0503020204020204" pitchFamily="34" charset="-122"/>
                <a:cs typeface="Trebuchet MS"/>
                <a:sym typeface="Microsoft YaHei" panose="020B0503020204020204" pitchFamily="34" charset="-122"/>
              </a:rPr>
              <a:t>" </a:t>
            </a:r>
          </a:p>
          <a:p>
            <a:pPr marL="132715" marR="126364" indent="635" algn="ctr">
              <a:lnSpc>
                <a:spcPct val="100000"/>
              </a:lnSpc>
              <a:spcBef>
                <a:spcPts val="100"/>
              </a:spcBef>
            </a:pPr>
            <a:r>
              <a:rPr lang="en-US" altLang="zh-TW" sz="1300">
                <a:solidFill>
                  <a:srgbClr val="295E7D"/>
                </a:solidFill>
                <a:latin typeface="Microsoft YaHei" panose="020B0503020204020204" pitchFamily="34" charset="-122"/>
                <a:ea typeface="Microsoft YaHei" panose="020B0503020204020204" pitchFamily="34" charset="-122"/>
                <a:cs typeface="Trebuchet MS"/>
                <a:sym typeface="Microsoft YaHei" panose="020B0503020204020204" pitchFamily="34" charset="-122"/>
              </a:rPr>
              <a:t>"</a:t>
            </a:r>
            <a:r>
              <a:rPr lang="zh-TW" altLang="en-US" sz="1300">
                <a:solidFill>
                  <a:srgbClr val="295E7D"/>
                </a:solidFill>
                <a:latin typeface="Microsoft YaHei" panose="020B0503020204020204" pitchFamily="34" charset="-122"/>
                <a:ea typeface="Microsoft YaHei" panose="020B0503020204020204" pitchFamily="34" charset="-122"/>
                <a:cs typeface="Trebuchet MS"/>
                <a:sym typeface="Microsoft YaHei" panose="020B0503020204020204" pitchFamily="34" charset="-122"/>
              </a:rPr>
              <a:t>開戶立省</a:t>
            </a:r>
            <a:r>
              <a:rPr lang="en-US" altLang="zh-TW" sz="1300">
                <a:solidFill>
                  <a:srgbClr val="295E7D"/>
                </a:solidFill>
                <a:latin typeface="Microsoft YaHei" panose="020B0503020204020204" pitchFamily="34" charset="-122"/>
                <a:ea typeface="Microsoft YaHei" panose="020B0503020204020204" pitchFamily="34" charset="-122"/>
                <a:cs typeface="Trebuchet MS"/>
                <a:sym typeface="Microsoft YaHei" panose="020B0503020204020204" pitchFamily="34" charset="-122"/>
              </a:rPr>
              <a:t>$150</a:t>
            </a:r>
            <a:r>
              <a:rPr lang="zh-TW" altLang="en-US" sz="1300">
                <a:solidFill>
                  <a:srgbClr val="295E7D"/>
                </a:solidFill>
                <a:latin typeface="Microsoft YaHei" panose="020B0503020204020204" pitchFamily="34" charset="-122"/>
                <a:ea typeface="Microsoft YaHei" panose="020B0503020204020204" pitchFamily="34" charset="-122"/>
                <a:cs typeface="Trebuchet MS"/>
                <a:sym typeface="Microsoft YaHei" panose="020B0503020204020204" pitchFamily="34" charset="-122"/>
              </a:rPr>
              <a:t>，僅限今日</a:t>
            </a:r>
            <a:r>
              <a:rPr lang="en-US" altLang="zh-TW" sz="1300">
                <a:solidFill>
                  <a:srgbClr val="295E7D"/>
                </a:solidFill>
                <a:latin typeface="Microsoft YaHei" panose="020B0503020204020204" pitchFamily="34" charset="-122"/>
                <a:ea typeface="Microsoft YaHei" panose="020B0503020204020204" pitchFamily="34" charset="-122"/>
                <a:cs typeface="Trebuchet MS"/>
                <a:sym typeface="Microsoft YaHei" panose="020B0503020204020204" pitchFamily="34" charset="-122"/>
              </a:rPr>
              <a:t>"</a:t>
            </a:r>
            <a:endParaRPr lang="zh-TW" altLang="en-US" sz="1300">
              <a:latin typeface="Microsoft YaHei" panose="020B0503020204020204" pitchFamily="34" charset="-122"/>
              <a:ea typeface="Microsoft YaHei" panose="020B0503020204020204" pitchFamily="34" charset="-122"/>
              <a:cs typeface="Trebuchet MS"/>
              <a:sym typeface="Microsoft YaHei" panose="020B0503020204020204" pitchFamily="34" charset="-122"/>
            </a:endParaRPr>
          </a:p>
        </p:txBody>
      </p:sp>
      <p:sp>
        <p:nvSpPr>
          <p:cNvPr id="52" name="Title 51">
            <a:extLst>
              <a:ext uri="{FF2B5EF4-FFF2-40B4-BE49-F238E27FC236}">
                <a16:creationId xmlns:a16="http://schemas.microsoft.com/office/drawing/2014/main" id="{DDB7DB80-91A0-748E-CBFB-6ED61B53BFCE}"/>
              </a:ext>
            </a:extLst>
          </p:cNvPr>
          <p:cNvSpPr>
            <a:spLocks noGrp="1"/>
          </p:cNvSpPr>
          <p:nvPr>
            <p:ph type="title"/>
          </p:nvPr>
        </p:nvSpPr>
        <p:spPr>
          <a:xfrm>
            <a:off x="630000" y="622800"/>
            <a:ext cx="10933350" cy="664797"/>
          </a:xfrm>
        </p:spPr>
        <p:txBody>
          <a:bodyPr vert="horz">
            <a:spAutoFit/>
          </a:bodyPr>
          <a:lstStyle/>
          <a:p>
            <a:pPr>
              <a:buSzPts val="2400"/>
            </a:pPr>
            <a:r>
              <a:rPr lang="zh-TW" altLang="en-US">
                <a:ea typeface="Microsoft YaHei" panose="020B0503020204020204" pitchFamily="34" charset="-122"/>
                <a:sym typeface="Trebuchet MS" panose="020B0603020202020204" pitchFamily="34" charset="0"/>
              </a:rPr>
              <a:t>個性化經營是循序漸進的優化過程；隨著對分群精準度與對客戶理解深度，逐步打造即時且精準的行銷</a:t>
            </a:r>
            <a:endParaRPr lang="en-US">
              <a:ea typeface="Microsoft YaHei" panose="020B0503020204020204" pitchFamily="34" charset="-122"/>
            </a:endParaRPr>
          </a:p>
        </p:txBody>
      </p:sp>
      <p:sp>
        <p:nvSpPr>
          <p:cNvPr id="72" name="Rounded Rectangle 117">
            <a:extLst>
              <a:ext uri="{FF2B5EF4-FFF2-40B4-BE49-F238E27FC236}">
                <a16:creationId xmlns:a16="http://schemas.microsoft.com/office/drawing/2014/main" id="{8267EB40-CF9C-D9F2-93F8-A1B4C4FF0429}"/>
              </a:ext>
            </a:extLst>
          </p:cNvPr>
          <p:cNvSpPr/>
          <p:nvPr/>
        </p:nvSpPr>
        <p:spPr bwMode="auto">
          <a:xfrm>
            <a:off x="513344" y="3305622"/>
            <a:ext cx="747099" cy="528320"/>
          </a:xfrm>
          <a:prstGeom prst="roundRect">
            <a:avLst>
              <a:gd name="adj" fmla="val 3522"/>
            </a:avLst>
          </a:prstGeom>
          <a:noFill/>
          <a:ln w="9525" cap="flat" cmpd="sng" algn="ctr">
            <a:noFill/>
            <a:prstDash val="sysDot"/>
            <a:round/>
            <a:headEnd type="none" w="med" len="med"/>
            <a:tailEnd type="none" w="med" len="med"/>
          </a:ln>
          <a:extLst>
            <a:ext uri="{909E8E84-426E-40DD-AFC4-6F175D3DCCD1}">
              <a14:hiddenFill xmlns:a14="http://schemas.microsoft.com/office/drawing/2010/main">
                <a:solidFill>
                  <a:srgbClr val="3EAD92">
                    <a:alpha val="30196"/>
                  </a:srgbClr>
                </a:solidFill>
              </a14:hiddenFill>
            </a:ext>
            <a:ext uri="{91240B29-F687-4F45-9708-019B960494DF}">
              <a14:hiddenLine xmlns:a14="http://schemas.microsoft.com/office/drawing/2010/main" w="9525" cap="flat" cmpd="sng" algn="ctr">
                <a:solidFill>
                  <a:schemeClr val="tx2"/>
                </a:solidFill>
                <a:prstDash val="sysDot"/>
                <a:round/>
                <a:headEnd type="none" w="med" len="med"/>
                <a:tailEnd type="none" w="med" len="med"/>
              </a14:hiddenLine>
            </a:ext>
          </a:extLst>
        </p:spPr>
        <p:txBody>
          <a:bodyPr vert="horz" rtlCol="0" anchor="t"/>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indent="-349200" algn="r">
              <a:buClr>
                <a:schemeClr val="tx2"/>
              </a:buClr>
            </a:pPr>
            <a:r>
              <a:rPr lang="zh-TW" altLang="en-US" sz="1400" b="1">
                <a:solidFill>
                  <a:srgbClr val="575757"/>
                </a:solidFill>
                <a:latin typeface="Microsoft YaHei" panose="020B0503020204020204" pitchFamily="34" charset="-122"/>
                <a:ea typeface="Microsoft YaHei" panose="020B0503020204020204" pitchFamily="34" charset="-122"/>
                <a:sym typeface="Microsoft YaHei" panose="020B0503020204020204" pitchFamily="34" charset="-122"/>
              </a:rPr>
              <a:t>分群顆粒度</a:t>
            </a:r>
            <a:endParaRPr lang="en-US" altLang="zh-CN" sz="1400" b="1">
              <a:solidFill>
                <a:srgbClr val="575757"/>
              </a:solidFill>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73" name="Rounded Rectangle 117">
            <a:extLst>
              <a:ext uri="{FF2B5EF4-FFF2-40B4-BE49-F238E27FC236}">
                <a16:creationId xmlns:a16="http://schemas.microsoft.com/office/drawing/2014/main" id="{C12D6C31-EFF9-6EC4-F739-A40BC913B9C8}"/>
              </a:ext>
            </a:extLst>
          </p:cNvPr>
          <p:cNvSpPr/>
          <p:nvPr/>
        </p:nvSpPr>
        <p:spPr bwMode="auto">
          <a:xfrm>
            <a:off x="568859" y="4334454"/>
            <a:ext cx="691584" cy="528320"/>
          </a:xfrm>
          <a:prstGeom prst="roundRect">
            <a:avLst>
              <a:gd name="adj" fmla="val 12176"/>
            </a:avLst>
          </a:prstGeom>
          <a:noFill/>
          <a:ln w="9525" cap="flat" cmpd="sng" algn="ctr">
            <a:noFill/>
            <a:prstDash val="sysDot"/>
            <a:round/>
            <a:headEnd type="none" w="med" len="med"/>
            <a:tailEnd type="none" w="med" len="med"/>
          </a:ln>
          <a:extLst>
            <a:ext uri="{909E8E84-426E-40DD-AFC4-6F175D3DCCD1}">
              <a14:hiddenFill xmlns:a14="http://schemas.microsoft.com/office/drawing/2010/main">
                <a:solidFill>
                  <a:srgbClr val="3EAD92">
                    <a:alpha val="30196"/>
                  </a:srgbClr>
                </a:solidFill>
              </a14:hiddenFill>
            </a:ext>
            <a:ext uri="{91240B29-F687-4F45-9708-019B960494DF}">
              <a14:hiddenLine xmlns:a14="http://schemas.microsoft.com/office/drawing/2010/main" w="9525" cap="flat" cmpd="sng" algn="ctr">
                <a:solidFill>
                  <a:schemeClr val="tx2"/>
                </a:solidFill>
                <a:prstDash val="sysDot"/>
                <a:round/>
                <a:headEnd type="none" w="med" len="med"/>
                <a:tailEnd type="none" w="med" len="med"/>
              </a14:hiddenLine>
            </a:ext>
          </a:extLst>
        </p:spPr>
        <p:txBody>
          <a:bodyPr vert="horz" rtlCol="0" anchor="t"/>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indent="-349200" algn="r">
              <a:buClr>
                <a:schemeClr val="tx2"/>
              </a:buClr>
            </a:pPr>
            <a:r>
              <a:rPr lang="zh-TW" altLang="en-US" sz="1400" b="1">
                <a:solidFill>
                  <a:srgbClr val="575757"/>
                </a:solidFill>
                <a:latin typeface="Microsoft YaHei" panose="020B0503020204020204" pitchFamily="34" charset="-122"/>
                <a:ea typeface="Microsoft YaHei" panose="020B0503020204020204" pitchFamily="34" charset="-122"/>
                <a:sym typeface="Microsoft YaHei" panose="020B0503020204020204" pitchFamily="34" charset="-122"/>
              </a:rPr>
              <a:t>觀察深度</a:t>
            </a:r>
            <a:endParaRPr lang="en-US" altLang="zh-CN" sz="1400" b="1">
              <a:solidFill>
                <a:srgbClr val="575757"/>
              </a:solidFill>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74" name="Rounded Rectangle 117">
            <a:extLst>
              <a:ext uri="{FF2B5EF4-FFF2-40B4-BE49-F238E27FC236}">
                <a16:creationId xmlns:a16="http://schemas.microsoft.com/office/drawing/2014/main" id="{72F86ECE-028C-4540-A100-F44E8C683194}"/>
              </a:ext>
            </a:extLst>
          </p:cNvPr>
          <p:cNvSpPr/>
          <p:nvPr/>
        </p:nvSpPr>
        <p:spPr bwMode="auto">
          <a:xfrm>
            <a:off x="568859" y="5202488"/>
            <a:ext cx="691584" cy="528320"/>
          </a:xfrm>
          <a:prstGeom prst="roundRect">
            <a:avLst>
              <a:gd name="adj" fmla="val 3522"/>
            </a:avLst>
          </a:prstGeom>
          <a:noFill/>
          <a:ln w="9525" cap="flat" cmpd="sng" algn="ctr">
            <a:noFill/>
            <a:prstDash val="sysDot"/>
            <a:round/>
            <a:headEnd type="none" w="med" len="med"/>
            <a:tailEnd type="none" w="med" len="med"/>
          </a:ln>
          <a:extLst>
            <a:ext uri="{909E8E84-426E-40DD-AFC4-6F175D3DCCD1}">
              <a14:hiddenFill xmlns:a14="http://schemas.microsoft.com/office/drawing/2010/main">
                <a:solidFill>
                  <a:srgbClr val="3EAD92">
                    <a:alpha val="30196"/>
                  </a:srgbClr>
                </a:solidFill>
              </a14:hiddenFill>
            </a:ext>
            <a:ext uri="{91240B29-F687-4F45-9708-019B960494DF}">
              <a14:hiddenLine xmlns:a14="http://schemas.microsoft.com/office/drawing/2010/main" w="9525" cap="flat" cmpd="sng" algn="ctr">
                <a:solidFill>
                  <a:schemeClr val="tx2"/>
                </a:solidFill>
                <a:prstDash val="sysDot"/>
                <a:round/>
                <a:headEnd type="none" w="med" len="med"/>
                <a:tailEnd type="none" w="med" len="med"/>
              </a14:hiddenLine>
            </a:ext>
          </a:extLst>
        </p:spPr>
        <p:txBody>
          <a:bodyPr vert="horz" rtlCol="0" anchor="t"/>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indent="-349200" algn="r">
              <a:buClr>
                <a:schemeClr val="tx2"/>
              </a:buClr>
            </a:pPr>
            <a:r>
              <a:rPr lang="zh-TW" altLang="en-US" sz="1400" b="1">
                <a:solidFill>
                  <a:srgbClr val="575757"/>
                </a:solidFill>
                <a:latin typeface="Microsoft YaHei" panose="020B0503020204020204" pitchFamily="34" charset="-122"/>
                <a:ea typeface="Microsoft YaHei" panose="020B0503020204020204" pitchFamily="34" charset="-122"/>
                <a:sym typeface="Microsoft YaHei" panose="020B0503020204020204" pitchFamily="34" charset="-122"/>
              </a:rPr>
              <a:t>行銷舉例</a:t>
            </a:r>
            <a:endParaRPr lang="en-US" altLang="zh-CN" sz="1400" b="1">
              <a:solidFill>
                <a:srgbClr val="575757"/>
              </a:solidFill>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23" name="object 23"/>
          <p:cNvSpPr txBox="1"/>
          <p:nvPr/>
        </p:nvSpPr>
        <p:spPr>
          <a:xfrm>
            <a:off x="4041584" y="3289030"/>
            <a:ext cx="2110035" cy="658514"/>
          </a:xfrm>
          <a:prstGeom prst="rect">
            <a:avLst/>
          </a:prstGeom>
        </p:spPr>
        <p:txBody>
          <a:bodyPr vert="horz" wrap="square" lIns="0" tIns="12065" rIns="0" bIns="0" rtlCol="0">
            <a:spAutoFit/>
          </a:bodyPr>
          <a:lstStyle/>
          <a:p>
            <a:pPr marL="324000" marR="5080" lvl="1" indent="-216000">
              <a:buClr>
                <a:schemeClr val="tx2"/>
              </a:buClr>
              <a:buFont typeface="Trebuchet MS"/>
              <a:buChar char="•"/>
              <a:tabLst>
                <a:tab pos="227965" algn="l"/>
              </a:tabLst>
            </a:pPr>
            <a:r>
              <a:rPr lang="zh-TW" altLang="en-US" sz="1400">
                <a:latin typeface="Microsoft YaHei" panose="020B0503020204020204" pitchFamily="34" charset="-122"/>
                <a:ea typeface="Microsoft YaHei" panose="020B0503020204020204" pitchFamily="34" charset="-122"/>
                <a:cs typeface="Trebuchet MS"/>
                <a:sym typeface="Microsoft YaHei" panose="020B0503020204020204" pitchFamily="34" charset="-122"/>
              </a:rPr>
              <a:t>在新興富裕客戶中又可細化爲入門白領、創業家等</a:t>
            </a:r>
          </a:p>
        </p:txBody>
      </p:sp>
      <p:sp>
        <p:nvSpPr>
          <p:cNvPr id="39" name="object 39"/>
          <p:cNvSpPr txBox="1"/>
          <p:nvPr/>
        </p:nvSpPr>
        <p:spPr>
          <a:xfrm>
            <a:off x="4041585" y="5194838"/>
            <a:ext cx="2110035" cy="412934"/>
          </a:xfrm>
          <a:prstGeom prst="rect">
            <a:avLst/>
          </a:prstGeom>
        </p:spPr>
        <p:txBody>
          <a:bodyPr vert="horz" wrap="square" lIns="0" tIns="12700" rIns="0" bIns="0" rtlCol="0">
            <a:spAutoFit/>
          </a:bodyPr>
          <a:lstStyle/>
          <a:p>
            <a:pPr marL="12065" marR="5080" indent="-635" algn="ctr">
              <a:lnSpc>
                <a:spcPct val="100000"/>
              </a:lnSpc>
              <a:spcBef>
                <a:spcPts val="100"/>
              </a:spcBef>
            </a:pPr>
            <a:r>
              <a:rPr lang="en-US" altLang="zh-TW" sz="1300">
                <a:solidFill>
                  <a:srgbClr val="295E7D"/>
                </a:solidFill>
                <a:latin typeface="Microsoft YaHei" panose="020B0503020204020204" pitchFamily="34" charset="-122"/>
                <a:ea typeface="Microsoft YaHei" panose="020B0503020204020204" pitchFamily="34" charset="-122"/>
                <a:cs typeface="Trebuchet MS"/>
                <a:sym typeface="Microsoft YaHei" panose="020B0503020204020204" pitchFamily="34" charset="-122"/>
              </a:rPr>
              <a:t>"</a:t>
            </a:r>
            <a:r>
              <a:rPr lang="zh-TW" altLang="en-US" sz="1300">
                <a:solidFill>
                  <a:srgbClr val="295E7D"/>
                </a:solidFill>
                <a:latin typeface="Microsoft YaHei" panose="020B0503020204020204" pitchFamily="34" charset="-122"/>
                <a:ea typeface="Microsoft YaHei" panose="020B0503020204020204" pitchFamily="34" charset="-122"/>
                <a:cs typeface="Trebuchet MS"/>
                <a:sym typeface="Microsoft YaHei" panose="020B0503020204020204" pitchFamily="34" charset="-122"/>
              </a:rPr>
              <a:t>為年底假期設立一個數位儲蓄帳戶的儲蓄計劃</a:t>
            </a:r>
            <a:r>
              <a:rPr lang="en-US" altLang="zh-TW" sz="1300">
                <a:solidFill>
                  <a:srgbClr val="295E7D"/>
                </a:solidFill>
                <a:latin typeface="Microsoft YaHei" panose="020B0503020204020204" pitchFamily="34" charset="-122"/>
                <a:ea typeface="Microsoft YaHei" panose="020B0503020204020204" pitchFamily="34" charset="-122"/>
                <a:cs typeface="Trebuchet MS"/>
                <a:sym typeface="Microsoft YaHei" panose="020B0503020204020204" pitchFamily="34" charset="-122"/>
              </a:rPr>
              <a:t>"</a:t>
            </a:r>
            <a:endParaRPr lang="en-US" sz="1300">
              <a:latin typeface="Microsoft YaHei" panose="020B0503020204020204" pitchFamily="34" charset="-122"/>
              <a:ea typeface="Microsoft YaHei" panose="020B0503020204020204" pitchFamily="34" charset="-122"/>
              <a:cs typeface="Trebuchet MS"/>
              <a:sym typeface="Microsoft YaHei" panose="020B0503020204020204" pitchFamily="34" charset="-122"/>
            </a:endParaRPr>
          </a:p>
        </p:txBody>
      </p:sp>
      <p:sp>
        <p:nvSpPr>
          <p:cNvPr id="76" name="object 31">
            <a:extLst>
              <a:ext uri="{FF2B5EF4-FFF2-40B4-BE49-F238E27FC236}">
                <a16:creationId xmlns:a16="http://schemas.microsoft.com/office/drawing/2014/main" id="{E50F5C0A-5432-B7A7-670A-DF1EC8E5D013}"/>
              </a:ext>
            </a:extLst>
          </p:cNvPr>
          <p:cNvSpPr txBox="1"/>
          <p:nvPr/>
        </p:nvSpPr>
        <p:spPr>
          <a:xfrm>
            <a:off x="4041584" y="4053914"/>
            <a:ext cx="2316527" cy="873957"/>
          </a:xfrm>
          <a:prstGeom prst="rect">
            <a:avLst/>
          </a:prstGeom>
        </p:spPr>
        <p:txBody>
          <a:bodyPr vert="horz" wrap="square" lIns="0" tIns="12065" rIns="0" bIns="0" rtlCol="0">
            <a:spAutoFit/>
          </a:bodyPr>
          <a:lstStyle/>
          <a:p>
            <a:pPr marL="324000" marR="5080" lvl="1" indent="-216000">
              <a:buClr>
                <a:schemeClr val="tx2"/>
              </a:buClr>
              <a:buFont typeface="Trebuchet MS"/>
              <a:buChar char="•"/>
              <a:tabLst>
                <a:tab pos="227965" algn="l"/>
              </a:tabLst>
            </a:pPr>
            <a:r>
              <a:rPr lang="zh-TW" altLang="en-US" sz="1400">
                <a:latin typeface="Microsoft YaHei" panose="020B0503020204020204" pitchFamily="34" charset="-122"/>
                <a:ea typeface="Microsoft YaHei" panose="020B0503020204020204" pitchFamily="34" charset="-122"/>
                <a:cs typeface="Trebuchet MS"/>
                <a:sym typeface="Microsoft YaHei" panose="020B0503020204020204" pitchFamily="34" charset="-122"/>
              </a:rPr>
              <a:t>年齡</a:t>
            </a:r>
            <a:endParaRPr lang="en-US" altLang="zh-TW" sz="1400">
              <a:latin typeface="Microsoft YaHei" panose="020B0503020204020204" pitchFamily="34" charset="-122"/>
              <a:ea typeface="Microsoft YaHei" panose="020B0503020204020204" pitchFamily="34" charset="-122"/>
              <a:cs typeface="Trebuchet MS"/>
              <a:sym typeface="Microsoft YaHei" panose="020B0503020204020204" pitchFamily="34" charset="-122"/>
            </a:endParaRPr>
          </a:p>
          <a:p>
            <a:pPr marL="324000" marR="5080" lvl="1" indent="-216000">
              <a:buClr>
                <a:schemeClr val="tx2"/>
              </a:buClr>
              <a:buFont typeface="Trebuchet MS"/>
              <a:buChar char="•"/>
              <a:tabLst>
                <a:tab pos="227965" algn="l"/>
              </a:tabLst>
            </a:pPr>
            <a:r>
              <a:rPr lang="zh-TW" altLang="en-US" sz="1400">
                <a:latin typeface="Microsoft YaHei" panose="020B0503020204020204" pitchFamily="34" charset="-122"/>
                <a:ea typeface="Microsoft YaHei" panose="020B0503020204020204" pitchFamily="34" charset="-122"/>
                <a:cs typeface="Trebuchet MS"/>
                <a:sym typeface="Microsoft YaHei" panose="020B0503020204020204" pitchFamily="34" charset="-122"/>
              </a:rPr>
              <a:t>生命階段</a:t>
            </a:r>
            <a:endParaRPr lang="en-US" altLang="zh-TW" sz="1400">
              <a:latin typeface="Microsoft YaHei" panose="020B0503020204020204" pitchFamily="34" charset="-122"/>
              <a:ea typeface="Microsoft YaHei" panose="020B0503020204020204" pitchFamily="34" charset="-122"/>
              <a:cs typeface="Trebuchet MS"/>
              <a:sym typeface="Microsoft YaHei" panose="020B0503020204020204" pitchFamily="34" charset="-122"/>
            </a:endParaRPr>
          </a:p>
          <a:p>
            <a:pPr marL="324000" marR="5080" lvl="1" indent="-216000">
              <a:buClr>
                <a:schemeClr val="tx2"/>
              </a:buClr>
              <a:buFont typeface="Trebuchet MS"/>
              <a:buChar char="•"/>
              <a:tabLst>
                <a:tab pos="227965" algn="l"/>
              </a:tabLst>
            </a:pPr>
            <a:r>
              <a:rPr lang="zh-TW" altLang="en-US" sz="1400">
                <a:latin typeface="Microsoft YaHei" panose="020B0503020204020204" pitchFamily="34" charset="-122"/>
                <a:ea typeface="Microsoft YaHei" panose="020B0503020204020204" pitchFamily="34" charset="-122"/>
                <a:cs typeface="Trebuchet MS"/>
                <a:sym typeface="Microsoft YaHei" panose="020B0503020204020204" pitchFamily="34" charset="-122"/>
              </a:rPr>
              <a:t>職業特性</a:t>
            </a:r>
            <a:endParaRPr lang="en-US" altLang="zh-TW" sz="1400">
              <a:latin typeface="Microsoft YaHei" panose="020B0503020204020204" pitchFamily="34" charset="-122"/>
              <a:ea typeface="Microsoft YaHei" panose="020B0503020204020204" pitchFamily="34" charset="-122"/>
              <a:cs typeface="Trebuchet MS"/>
              <a:sym typeface="Microsoft YaHei" panose="020B0503020204020204" pitchFamily="34" charset="-122"/>
            </a:endParaRPr>
          </a:p>
          <a:p>
            <a:pPr marL="324000" marR="5080" lvl="1" indent="-216000">
              <a:buClr>
                <a:schemeClr val="tx2"/>
              </a:buClr>
              <a:buFont typeface="Trebuchet MS"/>
              <a:buChar char="•"/>
              <a:tabLst>
                <a:tab pos="227965" algn="l"/>
              </a:tabLst>
            </a:pPr>
            <a:r>
              <a:rPr lang="zh-TW" altLang="en-US" sz="1400">
                <a:latin typeface="Microsoft YaHei" panose="020B0503020204020204" pitchFamily="34" charset="-122"/>
                <a:ea typeface="Microsoft YaHei" panose="020B0503020204020204" pitchFamily="34" charset="-122"/>
                <a:cs typeface="Trebuchet MS"/>
                <a:sym typeface="Microsoft YaHei" panose="020B0503020204020204" pitchFamily="34" charset="-122"/>
              </a:rPr>
              <a:t>風險偏好</a:t>
            </a:r>
            <a:endParaRPr lang="en-US" sz="1400">
              <a:latin typeface="Microsoft YaHei" panose="020B0503020204020204" pitchFamily="34" charset="-122"/>
              <a:ea typeface="Microsoft YaHei" panose="020B0503020204020204" pitchFamily="34" charset="-122"/>
              <a:cs typeface="Trebuchet MS"/>
              <a:sym typeface="Microsoft YaHei" panose="020B0503020204020204" pitchFamily="34" charset="-122"/>
            </a:endParaRPr>
          </a:p>
        </p:txBody>
      </p:sp>
      <p:sp>
        <p:nvSpPr>
          <p:cNvPr id="37" name="object 37"/>
          <p:cNvSpPr txBox="1"/>
          <p:nvPr/>
        </p:nvSpPr>
        <p:spPr>
          <a:xfrm>
            <a:off x="6607613" y="5194838"/>
            <a:ext cx="2389710" cy="564257"/>
          </a:xfrm>
          <a:prstGeom prst="rect">
            <a:avLst/>
          </a:prstGeom>
        </p:spPr>
        <p:txBody>
          <a:bodyPr vert="horz" wrap="square" lIns="0" tIns="12700" rIns="0" bIns="0" rtlCol="0">
            <a:spAutoFit/>
          </a:bodyPr>
          <a:lstStyle/>
          <a:p>
            <a:pPr marL="12065" marR="5080" indent="-2540" algn="ctr">
              <a:lnSpc>
                <a:spcPct val="100000"/>
              </a:lnSpc>
              <a:spcBef>
                <a:spcPts val="100"/>
              </a:spcBef>
            </a:pPr>
            <a:r>
              <a:rPr lang="en-US" altLang="zh-TW" sz="1300" spc="-10">
                <a:solidFill>
                  <a:srgbClr val="295E7D"/>
                </a:solidFill>
                <a:latin typeface="Microsoft YaHei" panose="020B0503020204020204" pitchFamily="34" charset="-122"/>
                <a:ea typeface="Microsoft YaHei" panose="020B0503020204020204" pitchFamily="34" charset="-122"/>
                <a:cs typeface="Trebuchet MS"/>
                <a:sym typeface="Microsoft YaHei" panose="020B0503020204020204" pitchFamily="34" charset="-122"/>
              </a:rPr>
              <a:t>"</a:t>
            </a:r>
            <a:r>
              <a:rPr lang="zh-TW" altLang="en-US" sz="1300" spc="-10">
                <a:solidFill>
                  <a:srgbClr val="295E7D"/>
                </a:solidFill>
                <a:latin typeface="Microsoft YaHei" panose="020B0503020204020204" pitchFamily="34" charset="-122"/>
                <a:ea typeface="Microsoft YaHei" panose="020B0503020204020204" pitchFamily="34" charset="-122"/>
                <a:cs typeface="Trebuchet MS"/>
                <a:sym typeface="Microsoft YaHei" panose="020B0503020204020204" pitchFamily="34" charset="-122"/>
              </a:rPr>
              <a:t>恭喜您的年終獎金已經到帳！我們爲您準備了一個特別的優惠</a:t>
            </a:r>
            <a:r>
              <a:rPr lang="en-US" altLang="zh-TW" sz="1300" spc="-10">
                <a:solidFill>
                  <a:srgbClr val="295E7D"/>
                </a:solidFill>
                <a:latin typeface="Microsoft YaHei" panose="020B0503020204020204" pitchFamily="34" charset="-122"/>
                <a:ea typeface="Microsoft YaHei" panose="020B0503020204020204" pitchFamily="34" charset="-122"/>
                <a:cs typeface="Trebuchet MS"/>
                <a:sym typeface="Microsoft YaHei" panose="020B0503020204020204" pitchFamily="34" charset="-122"/>
              </a:rPr>
              <a:t>" </a:t>
            </a:r>
          </a:p>
          <a:p>
            <a:pPr marL="12065" marR="5080" indent="-2540" algn="ctr">
              <a:lnSpc>
                <a:spcPct val="100000"/>
              </a:lnSpc>
              <a:spcBef>
                <a:spcPts val="100"/>
              </a:spcBef>
            </a:pPr>
            <a:r>
              <a:rPr lang="en-US" altLang="zh-TW" sz="900" spc="-10">
                <a:solidFill>
                  <a:srgbClr val="575757"/>
                </a:solidFill>
                <a:latin typeface="Microsoft YaHei" panose="020B0503020204020204" pitchFamily="34" charset="-122"/>
                <a:ea typeface="Microsoft YaHei" panose="020B0503020204020204" pitchFamily="34" charset="-122"/>
                <a:cs typeface="Trebuchet MS"/>
                <a:sym typeface="Microsoft YaHei" panose="020B0503020204020204" pitchFamily="34" charset="-122"/>
              </a:rPr>
              <a:t>- </a:t>
            </a:r>
            <a:r>
              <a:rPr lang="zh-TW" altLang="en-US" sz="900" spc="-10">
                <a:solidFill>
                  <a:srgbClr val="575757"/>
                </a:solidFill>
                <a:latin typeface="Microsoft YaHei" panose="020B0503020204020204" pitchFamily="34" charset="-122"/>
                <a:ea typeface="Microsoft YaHei" panose="020B0503020204020204" pitchFamily="34" charset="-122"/>
                <a:cs typeface="Trebuchet MS"/>
                <a:sym typeface="Microsoft YaHei" panose="020B0503020204020204" pitchFamily="34" charset="-122"/>
              </a:rPr>
              <a:t>在資金到達帳戶後五秒鐘發送</a:t>
            </a:r>
            <a:endParaRPr lang="en-US" sz="1300">
              <a:solidFill>
                <a:srgbClr val="575757"/>
              </a:solidFill>
              <a:latin typeface="Microsoft YaHei" panose="020B0503020204020204" pitchFamily="34" charset="-122"/>
              <a:ea typeface="Microsoft YaHei" panose="020B0503020204020204" pitchFamily="34" charset="-122"/>
              <a:cs typeface="Trebuchet MS"/>
              <a:sym typeface="Microsoft YaHei" panose="020B0503020204020204" pitchFamily="34" charset="-122"/>
            </a:endParaRPr>
          </a:p>
        </p:txBody>
      </p:sp>
      <p:sp>
        <p:nvSpPr>
          <p:cNvPr id="77" name="object 23">
            <a:extLst>
              <a:ext uri="{FF2B5EF4-FFF2-40B4-BE49-F238E27FC236}">
                <a16:creationId xmlns:a16="http://schemas.microsoft.com/office/drawing/2014/main" id="{29631DB0-DC65-2C89-DF40-AB25CA7F7B4B}"/>
              </a:ext>
            </a:extLst>
          </p:cNvPr>
          <p:cNvSpPr txBox="1"/>
          <p:nvPr/>
        </p:nvSpPr>
        <p:spPr>
          <a:xfrm>
            <a:off x="6607613" y="3289030"/>
            <a:ext cx="2316527" cy="443070"/>
          </a:xfrm>
          <a:prstGeom prst="rect">
            <a:avLst/>
          </a:prstGeom>
        </p:spPr>
        <p:txBody>
          <a:bodyPr vert="horz" wrap="square" lIns="0" tIns="12065" rIns="0" bIns="0" rtlCol="0">
            <a:spAutoFit/>
          </a:bodyPr>
          <a:lstStyle/>
          <a:p>
            <a:pPr marL="324000" marR="5080" lvl="1" indent="-216000">
              <a:buClr>
                <a:schemeClr val="tx2"/>
              </a:buClr>
              <a:buFont typeface="Trebuchet MS"/>
              <a:buChar char="•"/>
              <a:tabLst>
                <a:tab pos="227965" algn="l"/>
              </a:tabLst>
            </a:pPr>
            <a:r>
              <a:rPr lang="zh-TW" altLang="en-US" sz="1400">
                <a:latin typeface="Microsoft YaHei" panose="020B0503020204020204" pitchFamily="34" charset="-122"/>
                <a:ea typeface="Microsoft YaHei" panose="020B0503020204020204" pitchFamily="34" charset="-122"/>
                <a:cs typeface="Trebuchet MS"/>
                <a:sym typeface="Microsoft YaHei" panose="020B0503020204020204" pitchFamily="34" charset="-122"/>
              </a:rPr>
              <a:t>根據行銷活動結果定義細分客群</a:t>
            </a:r>
            <a:endParaRPr lang="en-US" altLang="zh-TW" sz="1400">
              <a:latin typeface="Microsoft YaHei" panose="020B0503020204020204" pitchFamily="34" charset="-122"/>
              <a:ea typeface="Microsoft YaHei" panose="020B0503020204020204" pitchFamily="34" charset="-122"/>
              <a:cs typeface="Trebuchet MS"/>
              <a:sym typeface="Microsoft YaHei" panose="020B0503020204020204" pitchFamily="34" charset="-122"/>
            </a:endParaRPr>
          </a:p>
        </p:txBody>
      </p:sp>
      <p:sp>
        <p:nvSpPr>
          <p:cNvPr id="78" name="object 31">
            <a:extLst>
              <a:ext uri="{FF2B5EF4-FFF2-40B4-BE49-F238E27FC236}">
                <a16:creationId xmlns:a16="http://schemas.microsoft.com/office/drawing/2014/main" id="{AC1E4E4B-086A-1408-0F12-BE33E6F556DC}"/>
              </a:ext>
            </a:extLst>
          </p:cNvPr>
          <p:cNvSpPr txBox="1"/>
          <p:nvPr/>
        </p:nvSpPr>
        <p:spPr>
          <a:xfrm>
            <a:off x="6607613" y="4053914"/>
            <a:ext cx="2316527" cy="873957"/>
          </a:xfrm>
          <a:prstGeom prst="rect">
            <a:avLst/>
          </a:prstGeom>
        </p:spPr>
        <p:txBody>
          <a:bodyPr vert="horz" wrap="square" lIns="0" tIns="12065" rIns="0" bIns="0" rtlCol="0">
            <a:spAutoFit/>
          </a:bodyPr>
          <a:lstStyle/>
          <a:p>
            <a:pPr marL="324000" marR="5080" lvl="1" indent="-216000">
              <a:buClr>
                <a:schemeClr val="tx2"/>
              </a:buClr>
              <a:buFont typeface="Trebuchet MS"/>
              <a:buChar char="•"/>
              <a:tabLst>
                <a:tab pos="227965" algn="l"/>
              </a:tabLst>
            </a:pPr>
            <a:r>
              <a:rPr lang="zh-TW" altLang="en-US" sz="1400">
                <a:latin typeface="Microsoft YaHei" panose="020B0503020204020204" pitchFamily="34" charset="-122"/>
                <a:ea typeface="Microsoft YaHei" panose="020B0503020204020204" pitchFamily="34" charset="-122"/>
                <a:cs typeface="Trebuchet MS"/>
                <a:sym typeface="Microsoft YaHei" panose="020B0503020204020204" pitchFamily="34" charset="-122"/>
              </a:rPr>
              <a:t>偏好産品、管道</a:t>
            </a:r>
            <a:endParaRPr lang="en-US" altLang="zh-TW" sz="1400">
              <a:latin typeface="Microsoft YaHei" panose="020B0503020204020204" pitchFamily="34" charset="-122"/>
              <a:ea typeface="Microsoft YaHei" panose="020B0503020204020204" pitchFamily="34" charset="-122"/>
              <a:cs typeface="Trebuchet MS"/>
              <a:sym typeface="Microsoft YaHei" panose="020B0503020204020204" pitchFamily="34" charset="-122"/>
            </a:endParaRPr>
          </a:p>
          <a:p>
            <a:pPr marL="324000" marR="5080" lvl="1" indent="-216000">
              <a:buClr>
                <a:schemeClr val="tx2"/>
              </a:buClr>
              <a:buFont typeface="Trebuchet MS"/>
              <a:buChar char="•"/>
              <a:tabLst>
                <a:tab pos="227965" algn="l"/>
              </a:tabLst>
            </a:pPr>
            <a:r>
              <a:rPr lang="zh-TW" altLang="en-US" sz="1400">
                <a:latin typeface="Microsoft YaHei" panose="020B0503020204020204" pitchFamily="34" charset="-122"/>
                <a:ea typeface="Microsoft YaHei" panose="020B0503020204020204" pitchFamily="34" charset="-122"/>
                <a:cs typeface="Trebuchet MS"/>
                <a:sym typeface="Microsoft YaHei" panose="020B0503020204020204" pitchFamily="34" charset="-122"/>
              </a:rPr>
              <a:t>價格敏感度</a:t>
            </a:r>
            <a:endParaRPr lang="en-US" altLang="zh-TW" sz="1400">
              <a:latin typeface="Microsoft YaHei" panose="020B0503020204020204" pitchFamily="34" charset="-122"/>
              <a:ea typeface="Microsoft YaHei" panose="020B0503020204020204" pitchFamily="34" charset="-122"/>
              <a:cs typeface="Trebuchet MS"/>
              <a:sym typeface="Microsoft YaHei" panose="020B0503020204020204" pitchFamily="34" charset="-122"/>
            </a:endParaRPr>
          </a:p>
          <a:p>
            <a:pPr marL="324000" marR="5080" lvl="1" indent="-216000">
              <a:buClr>
                <a:schemeClr val="tx2"/>
              </a:buClr>
              <a:buFont typeface="Trebuchet MS"/>
              <a:buChar char="•"/>
              <a:tabLst>
                <a:tab pos="227965" algn="l"/>
              </a:tabLst>
            </a:pPr>
            <a:r>
              <a:rPr lang="zh-TW" altLang="en-US" sz="1400">
                <a:latin typeface="Microsoft YaHei" panose="020B0503020204020204" pitchFamily="34" charset="-122"/>
                <a:ea typeface="Microsoft YaHei" panose="020B0503020204020204" pitchFamily="34" charset="-122"/>
                <a:cs typeface="Trebuchet MS"/>
                <a:sym typeface="Microsoft YaHei" panose="020B0503020204020204" pitchFamily="34" charset="-122"/>
              </a:rPr>
              <a:t>消費紀錄、行為</a:t>
            </a:r>
            <a:endParaRPr lang="en-US" altLang="zh-TW" sz="1400">
              <a:latin typeface="Microsoft YaHei" panose="020B0503020204020204" pitchFamily="34" charset="-122"/>
              <a:ea typeface="Microsoft YaHei" panose="020B0503020204020204" pitchFamily="34" charset="-122"/>
              <a:cs typeface="Trebuchet MS"/>
              <a:sym typeface="Microsoft YaHei" panose="020B0503020204020204" pitchFamily="34" charset="-122"/>
            </a:endParaRPr>
          </a:p>
          <a:p>
            <a:pPr marL="324000" marR="5080" lvl="1" indent="-216000">
              <a:buClr>
                <a:schemeClr val="tx2"/>
              </a:buClr>
              <a:buFont typeface="Trebuchet MS"/>
              <a:buChar char="•"/>
              <a:tabLst>
                <a:tab pos="227965" algn="l"/>
              </a:tabLst>
            </a:pPr>
            <a:r>
              <a:rPr lang="zh-TW" altLang="en-US" sz="1400">
                <a:latin typeface="Microsoft YaHei" panose="020B0503020204020204" pitchFamily="34" charset="-122"/>
                <a:ea typeface="Microsoft YaHei" panose="020B0503020204020204" pitchFamily="34" charset="-122"/>
                <a:cs typeface="Trebuchet MS"/>
                <a:sym typeface="Microsoft YaHei" panose="020B0503020204020204" pitchFamily="34" charset="-122"/>
              </a:rPr>
              <a:t>過去行銷活動之反應</a:t>
            </a:r>
            <a:endParaRPr lang="en-US" altLang="zh-TW" sz="1400">
              <a:latin typeface="Microsoft YaHei" panose="020B0503020204020204" pitchFamily="34" charset="-122"/>
              <a:ea typeface="Microsoft YaHei" panose="020B0503020204020204" pitchFamily="34" charset="-122"/>
              <a:cs typeface="Trebuchet MS"/>
              <a:sym typeface="Microsoft YaHei" panose="020B0503020204020204" pitchFamily="34" charset="-122"/>
            </a:endParaRPr>
          </a:p>
        </p:txBody>
      </p:sp>
      <p:sp>
        <p:nvSpPr>
          <p:cNvPr id="81" name="object 23">
            <a:extLst>
              <a:ext uri="{FF2B5EF4-FFF2-40B4-BE49-F238E27FC236}">
                <a16:creationId xmlns:a16="http://schemas.microsoft.com/office/drawing/2014/main" id="{0BFD432A-93CE-5271-6EE6-5C378112CA2A}"/>
              </a:ext>
            </a:extLst>
          </p:cNvPr>
          <p:cNvSpPr txBox="1"/>
          <p:nvPr/>
        </p:nvSpPr>
        <p:spPr>
          <a:xfrm>
            <a:off x="9050986" y="3275545"/>
            <a:ext cx="2439181" cy="443070"/>
          </a:xfrm>
          <a:prstGeom prst="rect">
            <a:avLst/>
          </a:prstGeom>
        </p:spPr>
        <p:txBody>
          <a:bodyPr vert="horz" wrap="square" lIns="0" tIns="12065" rIns="0" bIns="0" rtlCol="0">
            <a:spAutoFit/>
          </a:bodyPr>
          <a:lstStyle/>
          <a:p>
            <a:pPr marL="324000" marR="5080" lvl="1" indent="-216000">
              <a:buClr>
                <a:schemeClr val="tx2"/>
              </a:buClr>
              <a:buFont typeface="Trebuchet MS"/>
              <a:buChar char="•"/>
              <a:tabLst>
                <a:tab pos="227965" algn="l"/>
              </a:tabLst>
            </a:pPr>
            <a:r>
              <a:rPr lang="zh-TW" altLang="en-US" sz="1400">
                <a:latin typeface="Microsoft YaHei" panose="020B0503020204020204" pitchFamily="34" charset="-122"/>
                <a:ea typeface="Microsoft YaHei" panose="020B0503020204020204" pitchFamily="34" charset="-122"/>
                <a:cs typeface="Trebuchet MS"/>
                <a:sym typeface="Microsoft YaHei" panose="020B0503020204020204" pitchFamily="34" charset="-122"/>
              </a:rPr>
              <a:t>行銷活動完全客製化，含語言、價格、時間、管道</a:t>
            </a:r>
            <a:endParaRPr lang="en-US" altLang="zh-TW" sz="1400">
              <a:latin typeface="Microsoft YaHei" panose="020B0503020204020204" pitchFamily="34" charset="-122"/>
              <a:ea typeface="Microsoft YaHei" panose="020B0503020204020204" pitchFamily="34" charset="-122"/>
              <a:cs typeface="Trebuchet MS"/>
              <a:sym typeface="Microsoft YaHei" panose="020B0503020204020204" pitchFamily="34" charset="-122"/>
            </a:endParaRPr>
          </a:p>
        </p:txBody>
      </p:sp>
      <p:sp>
        <p:nvSpPr>
          <p:cNvPr id="82" name="object 31">
            <a:extLst>
              <a:ext uri="{FF2B5EF4-FFF2-40B4-BE49-F238E27FC236}">
                <a16:creationId xmlns:a16="http://schemas.microsoft.com/office/drawing/2014/main" id="{B627C2C0-758C-6938-61AA-A6B6215A1581}"/>
              </a:ext>
            </a:extLst>
          </p:cNvPr>
          <p:cNvSpPr txBox="1"/>
          <p:nvPr/>
        </p:nvSpPr>
        <p:spPr>
          <a:xfrm>
            <a:off x="9050986" y="4053914"/>
            <a:ext cx="2439181" cy="1089401"/>
          </a:xfrm>
          <a:prstGeom prst="rect">
            <a:avLst/>
          </a:prstGeom>
        </p:spPr>
        <p:txBody>
          <a:bodyPr vert="horz" wrap="square" lIns="0" tIns="12065" rIns="0" bIns="0" rtlCol="0">
            <a:spAutoFit/>
          </a:bodyPr>
          <a:lstStyle/>
          <a:p>
            <a:pPr marL="324000" marR="5080" lvl="1" indent="-216000">
              <a:buClr>
                <a:schemeClr val="tx2"/>
              </a:buClr>
              <a:buFont typeface="Trebuchet MS"/>
              <a:buChar char="•"/>
              <a:tabLst>
                <a:tab pos="227965" algn="l"/>
              </a:tabLst>
            </a:pPr>
            <a:r>
              <a:rPr lang="zh-TW" altLang="en-US" sz="1400">
                <a:latin typeface="Microsoft YaHei" panose="020B0503020204020204" pitchFamily="34" charset="-122"/>
                <a:ea typeface="Microsoft YaHei" panose="020B0503020204020204" pitchFamily="34" charset="-122"/>
                <a:cs typeface="Trebuchet MS"/>
                <a:sym typeface="Microsoft YaHei" panose="020B0503020204020204" pitchFamily="34" charset="-122"/>
              </a:rPr>
              <a:t>所有可取得客戶資訊如數位足跡、公開紀錄、社交身分等</a:t>
            </a:r>
            <a:endParaRPr lang="en-US" altLang="zh-TW" sz="1400">
              <a:latin typeface="Microsoft YaHei" panose="020B0503020204020204" pitchFamily="34" charset="-122"/>
              <a:ea typeface="Microsoft YaHei" panose="020B0503020204020204" pitchFamily="34" charset="-122"/>
              <a:cs typeface="Trebuchet MS"/>
              <a:sym typeface="Microsoft YaHei" panose="020B0503020204020204" pitchFamily="34" charset="-122"/>
            </a:endParaRPr>
          </a:p>
          <a:p>
            <a:pPr marL="324000" marR="5080" lvl="1" indent="-216000">
              <a:buClr>
                <a:schemeClr val="tx2"/>
              </a:buClr>
              <a:buFont typeface="Trebuchet MS"/>
              <a:buChar char="•"/>
              <a:tabLst>
                <a:tab pos="227965" algn="l"/>
              </a:tabLst>
            </a:pPr>
            <a:r>
              <a:rPr lang="zh-TW" altLang="en-US" sz="1400">
                <a:latin typeface="Microsoft YaHei" panose="020B0503020204020204" pitchFamily="34" charset="-122"/>
                <a:ea typeface="Microsoft YaHei" panose="020B0503020204020204" pitchFamily="34" charset="-122"/>
                <a:cs typeface="Trebuchet MS"/>
                <a:sym typeface="Microsoft YaHei" panose="020B0503020204020204" pitchFamily="34" charset="-122"/>
              </a:rPr>
              <a:t>甚至利用機器學習、人工智慧提高精準度</a:t>
            </a:r>
            <a:endParaRPr lang="en-US" altLang="zh-TW" sz="1400">
              <a:latin typeface="Microsoft YaHei" panose="020B0503020204020204" pitchFamily="34" charset="-122"/>
              <a:ea typeface="Microsoft YaHei" panose="020B0503020204020204" pitchFamily="34" charset="-122"/>
              <a:cs typeface="Trebuchet MS"/>
              <a:sym typeface="Microsoft YaHei" panose="020B0503020204020204" pitchFamily="34" charset="-122"/>
            </a:endParaRPr>
          </a:p>
        </p:txBody>
      </p:sp>
      <p:sp>
        <p:nvSpPr>
          <p:cNvPr id="83" name="object 37">
            <a:extLst>
              <a:ext uri="{FF2B5EF4-FFF2-40B4-BE49-F238E27FC236}">
                <a16:creationId xmlns:a16="http://schemas.microsoft.com/office/drawing/2014/main" id="{146F3198-E591-167A-6BE5-64A103752CD2}"/>
              </a:ext>
            </a:extLst>
          </p:cNvPr>
          <p:cNvSpPr txBox="1"/>
          <p:nvPr/>
        </p:nvSpPr>
        <p:spPr>
          <a:xfrm>
            <a:off x="9173641" y="5193538"/>
            <a:ext cx="2316527" cy="412934"/>
          </a:xfrm>
          <a:prstGeom prst="rect">
            <a:avLst/>
          </a:prstGeom>
        </p:spPr>
        <p:txBody>
          <a:bodyPr vert="horz" wrap="square" lIns="0" tIns="12700" rIns="0" bIns="0" rtlCol="0">
            <a:spAutoFit/>
          </a:bodyPr>
          <a:lstStyle/>
          <a:p>
            <a:pPr marL="12065" marR="5080" indent="-2540" algn="ctr">
              <a:lnSpc>
                <a:spcPct val="100000"/>
              </a:lnSpc>
              <a:spcBef>
                <a:spcPts val="100"/>
              </a:spcBef>
            </a:pPr>
            <a:r>
              <a:rPr lang="zh-TW" altLang="en-US" sz="1300" i="1">
                <a:solidFill>
                  <a:srgbClr val="295E7E"/>
                </a:solidFill>
                <a:latin typeface="Microsoft YaHei" panose="020B0503020204020204" pitchFamily="34" charset="-122"/>
                <a:ea typeface="Microsoft YaHei" panose="020B0503020204020204" pitchFamily="34" charset="-122"/>
                <a:cs typeface="Trebuchet MS"/>
                <a:sym typeface="Microsoft YaHei" panose="020B0503020204020204" pitchFamily="34" charset="-122"/>
              </a:rPr>
              <a:t>類似客戶實際需求分群訊息但在精準的時間點、管道發送</a:t>
            </a:r>
          </a:p>
        </p:txBody>
      </p:sp>
      <p:grpSp>
        <p:nvGrpSpPr>
          <p:cNvPr id="11" name="Group 10">
            <a:extLst>
              <a:ext uri="{FF2B5EF4-FFF2-40B4-BE49-F238E27FC236}">
                <a16:creationId xmlns:a16="http://schemas.microsoft.com/office/drawing/2014/main" id="{39087FBB-C98E-29F3-9E9B-CC715D330BF1}"/>
              </a:ext>
            </a:extLst>
          </p:cNvPr>
          <p:cNvGrpSpPr/>
          <p:nvPr/>
        </p:nvGrpSpPr>
        <p:grpSpPr>
          <a:xfrm>
            <a:off x="1475554" y="3978383"/>
            <a:ext cx="2316527" cy="1187450"/>
            <a:chOff x="651542" y="4235218"/>
            <a:chExt cx="10933350" cy="1187450"/>
          </a:xfrm>
        </p:grpSpPr>
        <p:cxnSp>
          <p:nvCxnSpPr>
            <p:cNvPr id="89" name="Straight Connector 88">
              <a:extLst>
                <a:ext uri="{FF2B5EF4-FFF2-40B4-BE49-F238E27FC236}">
                  <a16:creationId xmlns:a16="http://schemas.microsoft.com/office/drawing/2014/main" id="{E77DD922-9F7A-69E2-CDCE-526464D859FA}"/>
                </a:ext>
              </a:extLst>
            </p:cNvPr>
            <p:cNvCxnSpPr/>
            <p:nvPr/>
          </p:nvCxnSpPr>
          <p:spPr>
            <a:xfrm>
              <a:off x="651542" y="4235218"/>
              <a:ext cx="10933350" cy="0"/>
            </a:xfrm>
            <a:prstGeom prst="line">
              <a:avLst/>
            </a:prstGeom>
            <a:ln w="15875" cap="rnd">
              <a:solidFill>
                <a:schemeClr val="tx1"/>
              </a:solidFill>
              <a:prstDash val="sysDot"/>
              <a:round/>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6C35F4DD-562B-4F34-50D9-AEC08984E8B3}"/>
                </a:ext>
              </a:extLst>
            </p:cNvPr>
            <p:cNvCxnSpPr/>
            <p:nvPr/>
          </p:nvCxnSpPr>
          <p:spPr>
            <a:xfrm>
              <a:off x="651542" y="5422668"/>
              <a:ext cx="10933350" cy="0"/>
            </a:xfrm>
            <a:prstGeom prst="line">
              <a:avLst/>
            </a:prstGeom>
            <a:ln w="15875" cap="rnd">
              <a:solidFill>
                <a:schemeClr val="tx1"/>
              </a:solidFill>
              <a:prstDash val="sysDot"/>
              <a:round/>
            </a:ln>
          </p:spPr>
          <p:style>
            <a:lnRef idx="1">
              <a:schemeClr val="accent1"/>
            </a:lnRef>
            <a:fillRef idx="0">
              <a:schemeClr val="accent1"/>
            </a:fillRef>
            <a:effectRef idx="0">
              <a:schemeClr val="accent1"/>
            </a:effectRef>
            <a:fontRef idx="minor">
              <a:schemeClr val="tx1"/>
            </a:fontRef>
          </p:style>
        </p:cxnSp>
      </p:grpSp>
      <p:sp>
        <p:nvSpPr>
          <p:cNvPr id="3" name="Rectangle: Rounded Corners 2">
            <a:extLst>
              <a:ext uri="{FF2B5EF4-FFF2-40B4-BE49-F238E27FC236}">
                <a16:creationId xmlns:a16="http://schemas.microsoft.com/office/drawing/2014/main" id="{27EC3836-8B0D-FC0D-A70F-D93D4B5FA1E6}"/>
              </a:ext>
            </a:extLst>
          </p:cNvPr>
          <p:cNvSpPr/>
          <p:nvPr/>
        </p:nvSpPr>
        <p:spPr>
          <a:xfrm>
            <a:off x="1626017" y="2879663"/>
            <a:ext cx="1903544" cy="356327"/>
          </a:xfrm>
          <a:prstGeom prst="roundRect">
            <a:avLst>
              <a:gd name="adj" fmla="val 164236"/>
            </a:avLst>
          </a:prstGeom>
          <a:gradFill>
            <a:gsLst>
              <a:gs pos="0">
                <a:schemeClr val="accent2"/>
              </a:gs>
              <a:gs pos="90000">
                <a:schemeClr val="tx2"/>
              </a:gs>
            </a:gsLst>
            <a:lin ang="5400000" scaled="0"/>
          </a:gradFill>
          <a:ln w="15875" cap="flat" cmpd="sng" algn="ctr">
            <a:gradFill>
              <a:gsLst>
                <a:gs pos="0">
                  <a:schemeClr val="tx2"/>
                </a:gs>
                <a:gs pos="100000">
                  <a:schemeClr val="accent1"/>
                </a:gs>
              </a:gsLst>
              <a:lin ang="5400000" scaled="1"/>
            </a:gradFill>
            <a:prstDash val="solid"/>
            <a:round/>
            <a:headEnd type="none" w="med" len="med"/>
            <a:tailEnd type="none" w="med" len="med"/>
          </a:ln>
          <a:effectLst/>
        </p:spPr>
        <p:txBody>
          <a:bodyPr vert="horz" wrap="square" lIns="0" tIns="0" rIns="0" bIns="0" numCol="1" rtlCol="0" anchor="ctr"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indent="-349200" algn="ctr">
              <a:buClr>
                <a:schemeClr val="tx2"/>
              </a:buClr>
            </a:pPr>
            <a:r>
              <a:rPr lang="zh-TW" altLang="en-US" sz="1600" b="1">
                <a:solidFill>
                  <a:srgbClr val="FFFFFF"/>
                </a:solidFill>
                <a:latin typeface="Microsoft YaHei" panose="020B0503020204020204" pitchFamily="34" charset="-122"/>
                <a:ea typeface="Microsoft YaHei" panose="020B0503020204020204" pitchFamily="34" charset="-122"/>
                <a:sym typeface="Microsoft YaHei" panose="020B0503020204020204" pitchFamily="34" charset="-122"/>
              </a:rPr>
              <a:t>基本客戶分群</a:t>
            </a:r>
            <a:endParaRPr lang="en-US" altLang="zh-CN" sz="1600">
              <a:solidFill>
                <a:srgbClr val="FFFFFF"/>
              </a:solidFill>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4" name="Rectangle: Rounded Corners 3">
            <a:extLst>
              <a:ext uri="{FF2B5EF4-FFF2-40B4-BE49-F238E27FC236}">
                <a16:creationId xmlns:a16="http://schemas.microsoft.com/office/drawing/2014/main" id="{89AC8747-D407-55C1-A5AD-8F89A965DBDB}"/>
              </a:ext>
            </a:extLst>
          </p:cNvPr>
          <p:cNvSpPr/>
          <p:nvPr/>
        </p:nvSpPr>
        <p:spPr>
          <a:xfrm>
            <a:off x="4248075" y="2879663"/>
            <a:ext cx="1903544" cy="356327"/>
          </a:xfrm>
          <a:prstGeom prst="roundRect">
            <a:avLst>
              <a:gd name="adj" fmla="val 164236"/>
            </a:avLst>
          </a:prstGeom>
          <a:gradFill>
            <a:gsLst>
              <a:gs pos="0">
                <a:schemeClr val="accent2"/>
              </a:gs>
              <a:gs pos="90000">
                <a:schemeClr val="tx2"/>
              </a:gs>
            </a:gsLst>
            <a:lin ang="5400000" scaled="0"/>
          </a:gradFill>
          <a:ln w="15875" cap="flat" cmpd="sng" algn="ctr">
            <a:gradFill>
              <a:gsLst>
                <a:gs pos="0">
                  <a:schemeClr val="tx2"/>
                </a:gs>
                <a:gs pos="100000">
                  <a:schemeClr val="accent1"/>
                </a:gs>
              </a:gsLst>
              <a:lin ang="5400000" scaled="1"/>
            </a:gradFill>
            <a:prstDash val="solid"/>
            <a:round/>
            <a:headEnd type="none" w="med" len="med"/>
            <a:tailEnd type="none" w="med" len="med"/>
          </a:ln>
          <a:effectLst/>
        </p:spPr>
        <p:txBody>
          <a:bodyPr vert="horz" wrap="square" lIns="0" tIns="0" rIns="0" bIns="0" numCol="1" rtlCol="0" anchor="ctr"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indent="-349200" algn="ctr">
              <a:buClr>
                <a:schemeClr val="tx2"/>
              </a:buClr>
            </a:pPr>
            <a:r>
              <a:rPr lang="zh-TW" altLang="en-US" sz="1600" b="1">
                <a:solidFill>
                  <a:srgbClr val="FFFFFF"/>
                </a:solidFill>
                <a:latin typeface="Microsoft YaHei" panose="020B0503020204020204" pitchFamily="34" charset="-122"/>
                <a:ea typeface="Microsoft YaHei" panose="020B0503020204020204" pitchFamily="34" charset="-122"/>
                <a:sym typeface="Microsoft YaHei" panose="020B0503020204020204" pitchFamily="34" charset="-122"/>
              </a:rPr>
              <a:t>細化客戶分群</a:t>
            </a:r>
            <a:endParaRPr lang="en-US" altLang="zh-CN" sz="1600" b="1">
              <a:solidFill>
                <a:srgbClr val="FFFFFF"/>
              </a:solidFill>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5" name="Rectangle: Rounded Corners 4">
            <a:extLst>
              <a:ext uri="{FF2B5EF4-FFF2-40B4-BE49-F238E27FC236}">
                <a16:creationId xmlns:a16="http://schemas.microsoft.com/office/drawing/2014/main" id="{817CBBB0-9B02-6E93-1505-2422437DD731}"/>
              </a:ext>
            </a:extLst>
          </p:cNvPr>
          <p:cNvSpPr/>
          <p:nvPr/>
        </p:nvSpPr>
        <p:spPr>
          <a:xfrm>
            <a:off x="6814104" y="2879663"/>
            <a:ext cx="1903544" cy="356327"/>
          </a:xfrm>
          <a:prstGeom prst="roundRect">
            <a:avLst>
              <a:gd name="adj" fmla="val 151405"/>
            </a:avLst>
          </a:prstGeom>
          <a:gradFill>
            <a:gsLst>
              <a:gs pos="0">
                <a:schemeClr val="accent2"/>
              </a:gs>
              <a:gs pos="90000">
                <a:schemeClr val="tx2"/>
              </a:gs>
            </a:gsLst>
            <a:lin ang="5400000" scaled="0"/>
          </a:gradFill>
          <a:ln w="15875" cap="flat" cmpd="sng" algn="ctr">
            <a:gradFill>
              <a:gsLst>
                <a:gs pos="0">
                  <a:schemeClr val="tx2"/>
                </a:gs>
                <a:gs pos="100000">
                  <a:schemeClr val="accent1"/>
                </a:gs>
              </a:gsLst>
              <a:lin ang="5400000" scaled="1"/>
            </a:gradFill>
            <a:prstDash val="solid"/>
            <a:round/>
            <a:headEnd type="none" w="med" len="med"/>
            <a:tailEnd type="none" w="med" len="med"/>
          </a:ln>
          <a:effectLst/>
        </p:spPr>
        <p:txBody>
          <a:bodyPr vert="horz" wrap="square" lIns="0" tIns="0" rIns="0" bIns="0" numCol="1" rtlCol="0" anchor="ctr"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indent="-349200" algn="ctr">
              <a:buClr>
                <a:schemeClr val="tx2"/>
              </a:buClr>
            </a:pPr>
            <a:r>
              <a:rPr lang="zh-TW" altLang="en-US" sz="1600" b="1">
                <a:solidFill>
                  <a:srgbClr val="FFFFFF"/>
                </a:solidFill>
                <a:latin typeface="Microsoft YaHei" panose="020B0503020204020204" pitchFamily="34" charset="-122"/>
                <a:ea typeface="Microsoft YaHei" panose="020B0503020204020204" pitchFamily="34" charset="-122"/>
                <a:sym typeface="Microsoft YaHei" panose="020B0503020204020204" pitchFamily="34" charset="-122"/>
              </a:rPr>
              <a:t>依客戶需求分群</a:t>
            </a:r>
            <a:endParaRPr lang="en-US" altLang="zh-CN" sz="1600" b="1">
              <a:solidFill>
                <a:srgbClr val="FFFFFF"/>
              </a:solidFill>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6" name="Rectangle: Rounded Corners 5">
            <a:extLst>
              <a:ext uri="{FF2B5EF4-FFF2-40B4-BE49-F238E27FC236}">
                <a16:creationId xmlns:a16="http://schemas.microsoft.com/office/drawing/2014/main" id="{17B47E6F-8DC8-FABC-F986-6EA1EA4E5B60}"/>
              </a:ext>
            </a:extLst>
          </p:cNvPr>
          <p:cNvSpPr/>
          <p:nvPr/>
        </p:nvSpPr>
        <p:spPr>
          <a:xfrm>
            <a:off x="9380133" y="2879663"/>
            <a:ext cx="1903544" cy="356327"/>
          </a:xfrm>
          <a:prstGeom prst="roundRect">
            <a:avLst>
              <a:gd name="adj" fmla="val 164236"/>
            </a:avLst>
          </a:prstGeom>
          <a:gradFill>
            <a:gsLst>
              <a:gs pos="0">
                <a:schemeClr val="accent2"/>
              </a:gs>
              <a:gs pos="90000">
                <a:schemeClr val="tx2"/>
              </a:gs>
            </a:gsLst>
            <a:lin ang="5400000" scaled="0"/>
          </a:gradFill>
          <a:ln w="15875" cap="flat" cmpd="sng" algn="ctr">
            <a:gradFill>
              <a:gsLst>
                <a:gs pos="0">
                  <a:schemeClr val="tx2"/>
                </a:gs>
                <a:gs pos="100000">
                  <a:schemeClr val="accent1"/>
                </a:gs>
              </a:gsLst>
              <a:lin ang="5400000" scaled="1"/>
            </a:gradFill>
            <a:prstDash val="solid"/>
            <a:round/>
            <a:headEnd type="none" w="med" len="med"/>
            <a:tailEnd type="none" w="med" len="med"/>
          </a:ln>
          <a:effectLst/>
        </p:spPr>
        <p:txBody>
          <a:bodyPr vert="horz" wrap="square" lIns="0" tIns="0" rIns="0" bIns="0" numCol="1" rtlCol="0" anchor="ctr"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indent="-349200" algn="ctr">
              <a:buClr>
                <a:schemeClr val="tx2"/>
              </a:buClr>
            </a:pPr>
            <a:r>
              <a:rPr lang="zh-TW" altLang="en-US" sz="1600" b="1">
                <a:solidFill>
                  <a:srgbClr val="FFFFFF"/>
                </a:solidFill>
                <a:latin typeface="Microsoft YaHei" panose="020B0503020204020204" pitchFamily="34" charset="-122"/>
                <a:ea typeface="Microsoft YaHei" panose="020B0503020204020204" pitchFamily="34" charset="-122"/>
                <a:sym typeface="Microsoft YaHei" panose="020B0503020204020204" pitchFamily="34" charset="-122"/>
              </a:rPr>
              <a:t>個性化經營</a:t>
            </a:r>
            <a:endParaRPr lang="en-US" altLang="zh-CN" sz="1600" b="1">
              <a:solidFill>
                <a:srgbClr val="FFFFFF"/>
              </a:solidFill>
              <a:latin typeface="Microsoft YaHei" panose="020B0503020204020204" pitchFamily="34" charset="-122"/>
              <a:ea typeface="Microsoft YaHei" panose="020B0503020204020204" pitchFamily="34" charset="-122"/>
              <a:sym typeface="Microsoft YaHei" panose="020B0503020204020204" pitchFamily="34" charset="-122"/>
            </a:endParaRPr>
          </a:p>
        </p:txBody>
      </p:sp>
      <p:grpSp>
        <p:nvGrpSpPr>
          <p:cNvPr id="12" name="Group 11">
            <a:extLst>
              <a:ext uri="{FF2B5EF4-FFF2-40B4-BE49-F238E27FC236}">
                <a16:creationId xmlns:a16="http://schemas.microsoft.com/office/drawing/2014/main" id="{571CF842-1152-9D0A-5678-01F677660EB6}"/>
              </a:ext>
            </a:extLst>
          </p:cNvPr>
          <p:cNvGrpSpPr/>
          <p:nvPr/>
        </p:nvGrpSpPr>
        <p:grpSpPr>
          <a:xfrm>
            <a:off x="4041584" y="3978383"/>
            <a:ext cx="2316527" cy="1187450"/>
            <a:chOff x="651542" y="4235218"/>
            <a:chExt cx="10933350" cy="1187450"/>
          </a:xfrm>
        </p:grpSpPr>
        <p:cxnSp>
          <p:nvCxnSpPr>
            <p:cNvPr id="13" name="Straight Connector 12">
              <a:extLst>
                <a:ext uri="{FF2B5EF4-FFF2-40B4-BE49-F238E27FC236}">
                  <a16:creationId xmlns:a16="http://schemas.microsoft.com/office/drawing/2014/main" id="{9FA165B1-7050-E492-80B9-50A00659EEF8}"/>
                </a:ext>
              </a:extLst>
            </p:cNvPr>
            <p:cNvCxnSpPr/>
            <p:nvPr/>
          </p:nvCxnSpPr>
          <p:spPr>
            <a:xfrm>
              <a:off x="651542" y="4235218"/>
              <a:ext cx="10933350" cy="0"/>
            </a:xfrm>
            <a:prstGeom prst="line">
              <a:avLst/>
            </a:prstGeom>
            <a:ln w="15875" cap="rnd">
              <a:solidFill>
                <a:schemeClr val="tx1"/>
              </a:solidFill>
              <a:prstDash val="sysDot"/>
              <a:roun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613E9108-B5E4-112F-3D8F-49FB93BED38E}"/>
                </a:ext>
              </a:extLst>
            </p:cNvPr>
            <p:cNvCxnSpPr/>
            <p:nvPr/>
          </p:nvCxnSpPr>
          <p:spPr>
            <a:xfrm>
              <a:off x="651542" y="5422668"/>
              <a:ext cx="10933350" cy="0"/>
            </a:xfrm>
            <a:prstGeom prst="line">
              <a:avLst/>
            </a:prstGeom>
            <a:ln w="15875" cap="rnd">
              <a:solidFill>
                <a:schemeClr val="tx1"/>
              </a:solidFill>
              <a:prstDash val="sysDot"/>
              <a:round/>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EEE8D9A1-33D9-6D61-5F8F-D5390CF8748B}"/>
              </a:ext>
            </a:extLst>
          </p:cNvPr>
          <p:cNvGrpSpPr/>
          <p:nvPr/>
        </p:nvGrpSpPr>
        <p:grpSpPr>
          <a:xfrm>
            <a:off x="6607612" y="3978383"/>
            <a:ext cx="2316527" cy="1187450"/>
            <a:chOff x="651542" y="4235218"/>
            <a:chExt cx="10933350" cy="1187450"/>
          </a:xfrm>
        </p:grpSpPr>
        <p:cxnSp>
          <p:nvCxnSpPr>
            <p:cNvPr id="16" name="Straight Connector 15">
              <a:extLst>
                <a:ext uri="{FF2B5EF4-FFF2-40B4-BE49-F238E27FC236}">
                  <a16:creationId xmlns:a16="http://schemas.microsoft.com/office/drawing/2014/main" id="{A74D31F7-789E-4022-7326-805FB339027F}"/>
                </a:ext>
              </a:extLst>
            </p:cNvPr>
            <p:cNvCxnSpPr/>
            <p:nvPr/>
          </p:nvCxnSpPr>
          <p:spPr>
            <a:xfrm>
              <a:off x="651542" y="4235218"/>
              <a:ext cx="10933350" cy="0"/>
            </a:xfrm>
            <a:prstGeom prst="line">
              <a:avLst/>
            </a:prstGeom>
            <a:ln w="15875" cap="rnd">
              <a:solidFill>
                <a:schemeClr val="tx1"/>
              </a:solidFill>
              <a:prstDash val="sysDot"/>
              <a:round/>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8BA81A6A-4642-DE23-CFFF-18D377EB4407}"/>
                </a:ext>
              </a:extLst>
            </p:cNvPr>
            <p:cNvCxnSpPr/>
            <p:nvPr/>
          </p:nvCxnSpPr>
          <p:spPr>
            <a:xfrm>
              <a:off x="651542" y="5422668"/>
              <a:ext cx="10933350" cy="0"/>
            </a:xfrm>
            <a:prstGeom prst="line">
              <a:avLst/>
            </a:prstGeom>
            <a:ln w="15875" cap="rnd">
              <a:solidFill>
                <a:schemeClr val="tx1"/>
              </a:solidFill>
              <a:prstDash val="sysDot"/>
              <a:round/>
            </a:ln>
          </p:spPr>
          <p:style>
            <a:lnRef idx="1">
              <a:schemeClr val="accent1"/>
            </a:lnRef>
            <a:fillRef idx="0">
              <a:schemeClr val="accent1"/>
            </a:fillRef>
            <a:effectRef idx="0">
              <a:schemeClr val="accent1"/>
            </a:effectRef>
            <a:fontRef idx="minor">
              <a:schemeClr val="tx1"/>
            </a:fontRef>
          </p:style>
        </p:cxnSp>
      </p:grpSp>
      <p:grpSp>
        <p:nvGrpSpPr>
          <p:cNvPr id="18" name="Group 17">
            <a:extLst>
              <a:ext uri="{FF2B5EF4-FFF2-40B4-BE49-F238E27FC236}">
                <a16:creationId xmlns:a16="http://schemas.microsoft.com/office/drawing/2014/main" id="{1637F7D3-5F11-E485-398F-1BBD4303C4C2}"/>
              </a:ext>
            </a:extLst>
          </p:cNvPr>
          <p:cNvGrpSpPr/>
          <p:nvPr/>
        </p:nvGrpSpPr>
        <p:grpSpPr>
          <a:xfrm>
            <a:off x="9173642" y="3978383"/>
            <a:ext cx="2316527" cy="1187450"/>
            <a:chOff x="651542" y="4235218"/>
            <a:chExt cx="10933350" cy="1187450"/>
          </a:xfrm>
        </p:grpSpPr>
        <p:cxnSp>
          <p:nvCxnSpPr>
            <p:cNvPr id="19" name="Straight Connector 18">
              <a:extLst>
                <a:ext uri="{FF2B5EF4-FFF2-40B4-BE49-F238E27FC236}">
                  <a16:creationId xmlns:a16="http://schemas.microsoft.com/office/drawing/2014/main" id="{B21EAA39-835D-970C-E092-E69764856A91}"/>
                </a:ext>
              </a:extLst>
            </p:cNvPr>
            <p:cNvCxnSpPr/>
            <p:nvPr/>
          </p:nvCxnSpPr>
          <p:spPr>
            <a:xfrm>
              <a:off x="651542" y="4235218"/>
              <a:ext cx="10933350" cy="0"/>
            </a:xfrm>
            <a:prstGeom prst="line">
              <a:avLst/>
            </a:prstGeom>
            <a:ln w="15875" cap="rnd">
              <a:solidFill>
                <a:schemeClr val="tx1"/>
              </a:solidFill>
              <a:prstDash val="sysDot"/>
              <a:round/>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9F87D2B8-AC19-5BFE-6C92-9D9533FDA722}"/>
                </a:ext>
              </a:extLst>
            </p:cNvPr>
            <p:cNvCxnSpPr/>
            <p:nvPr/>
          </p:nvCxnSpPr>
          <p:spPr>
            <a:xfrm>
              <a:off x="651542" y="5422668"/>
              <a:ext cx="10933350" cy="0"/>
            </a:xfrm>
            <a:prstGeom prst="line">
              <a:avLst/>
            </a:prstGeom>
            <a:ln w="15875" cap="rnd">
              <a:solidFill>
                <a:schemeClr val="tx1"/>
              </a:solidFill>
              <a:prstDash val="sysDot"/>
              <a:round/>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E7DBE9AD-6501-2690-721C-4ADA2922C4E0}"/>
              </a:ext>
            </a:extLst>
          </p:cNvPr>
          <p:cNvGrpSpPr/>
          <p:nvPr/>
        </p:nvGrpSpPr>
        <p:grpSpPr>
          <a:xfrm flipH="1">
            <a:off x="1252503" y="3115888"/>
            <a:ext cx="96204" cy="907789"/>
            <a:chOff x="1874475" y="2786059"/>
            <a:chExt cx="180616" cy="3641731"/>
          </a:xfrm>
        </p:grpSpPr>
        <p:sp>
          <p:nvSpPr>
            <p:cNvPr id="25" name="Right Bracket 24">
              <a:extLst>
                <a:ext uri="{FF2B5EF4-FFF2-40B4-BE49-F238E27FC236}">
                  <a16:creationId xmlns:a16="http://schemas.microsoft.com/office/drawing/2014/main" id="{A2801331-2FC5-FFB2-2619-F23096CD5F88}"/>
                </a:ext>
              </a:extLst>
            </p:cNvPr>
            <p:cNvSpPr/>
            <p:nvPr/>
          </p:nvSpPr>
          <p:spPr>
            <a:xfrm>
              <a:off x="1874475" y="2786059"/>
              <a:ext cx="149951" cy="3641731"/>
            </a:xfrm>
            <a:prstGeom prst="rightBracket">
              <a:avLst>
                <a:gd name="adj" fmla="val 57032"/>
              </a:avLst>
            </a:prstGeom>
            <a:ln w="9525" cap="rnd" cmpd="sng" algn="ctr">
              <a:solidFill>
                <a:srgbClr val="9A9A9A"/>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26" name="Rectangle 25">
              <a:extLst>
                <a:ext uri="{FF2B5EF4-FFF2-40B4-BE49-F238E27FC236}">
                  <a16:creationId xmlns:a16="http://schemas.microsoft.com/office/drawing/2014/main" id="{35E3AB6A-7F91-8237-86DE-793F099D129C}"/>
                </a:ext>
              </a:extLst>
            </p:cNvPr>
            <p:cNvSpPr/>
            <p:nvPr/>
          </p:nvSpPr>
          <p:spPr>
            <a:xfrm>
              <a:off x="1953491" y="3429000"/>
              <a:ext cx="101600" cy="2355850"/>
            </a:xfrm>
            <a:prstGeom prst="rect">
              <a:avLst/>
            </a:prstGeom>
            <a:solidFill>
              <a:srgbClr val="9A9A9A"/>
            </a:solidFill>
            <a:ln w="9525" cap="rnd">
              <a:noFill/>
              <a:prstDash val="sysDot"/>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spcAft>
                  <a:spcPts val="1000"/>
                </a:spcAft>
              </a:pPr>
              <a:endParaRPr lang="en-US" sz="1200">
                <a:solidFill>
                  <a:srgbClr val="FFFFFF"/>
                </a:solidFill>
                <a:latin typeface="Microsoft YaHei" panose="020B0503020204020204" pitchFamily="34" charset="-122"/>
                <a:ea typeface="Microsoft YaHei" panose="020B0503020204020204" pitchFamily="34" charset="-122"/>
                <a:sym typeface="Microsoft YaHei" panose="020B0503020204020204" pitchFamily="34" charset="-122"/>
              </a:endParaRPr>
            </a:p>
          </p:txBody>
        </p:sp>
      </p:grpSp>
      <p:grpSp>
        <p:nvGrpSpPr>
          <p:cNvPr id="28" name="Group 27">
            <a:extLst>
              <a:ext uri="{FF2B5EF4-FFF2-40B4-BE49-F238E27FC236}">
                <a16:creationId xmlns:a16="http://schemas.microsoft.com/office/drawing/2014/main" id="{CA984962-1F0E-F001-AE5E-6D0BD115BED6}"/>
              </a:ext>
            </a:extLst>
          </p:cNvPr>
          <p:cNvGrpSpPr/>
          <p:nvPr/>
        </p:nvGrpSpPr>
        <p:grpSpPr>
          <a:xfrm flipH="1">
            <a:off x="1252505" y="5184519"/>
            <a:ext cx="103139" cy="564257"/>
            <a:chOff x="1874475" y="2786059"/>
            <a:chExt cx="180616" cy="3641731"/>
          </a:xfrm>
        </p:grpSpPr>
        <p:sp>
          <p:nvSpPr>
            <p:cNvPr id="29" name="Right Bracket 28">
              <a:extLst>
                <a:ext uri="{FF2B5EF4-FFF2-40B4-BE49-F238E27FC236}">
                  <a16:creationId xmlns:a16="http://schemas.microsoft.com/office/drawing/2014/main" id="{75E417EC-48A7-2486-C308-03D014BB7FF7}"/>
                </a:ext>
              </a:extLst>
            </p:cNvPr>
            <p:cNvSpPr/>
            <p:nvPr/>
          </p:nvSpPr>
          <p:spPr>
            <a:xfrm>
              <a:off x="1874475" y="2786059"/>
              <a:ext cx="149951" cy="3641731"/>
            </a:xfrm>
            <a:prstGeom prst="rightBracket">
              <a:avLst>
                <a:gd name="adj" fmla="val 57032"/>
              </a:avLst>
            </a:prstGeom>
            <a:ln w="9525" cap="rnd" cmpd="sng" algn="ctr">
              <a:solidFill>
                <a:srgbClr val="9A9A9A"/>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30" name="Rectangle 29">
              <a:extLst>
                <a:ext uri="{FF2B5EF4-FFF2-40B4-BE49-F238E27FC236}">
                  <a16:creationId xmlns:a16="http://schemas.microsoft.com/office/drawing/2014/main" id="{6C5FDAD3-ACCE-65E6-5934-B4629260B03B}"/>
                </a:ext>
              </a:extLst>
            </p:cNvPr>
            <p:cNvSpPr/>
            <p:nvPr/>
          </p:nvSpPr>
          <p:spPr>
            <a:xfrm>
              <a:off x="1953491" y="3429000"/>
              <a:ext cx="101600" cy="2355850"/>
            </a:xfrm>
            <a:prstGeom prst="rect">
              <a:avLst/>
            </a:prstGeom>
            <a:solidFill>
              <a:srgbClr val="9A9A9A"/>
            </a:solidFill>
            <a:ln w="9525" cap="rnd">
              <a:noFill/>
              <a:prstDash val="sysDot"/>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spcAft>
                  <a:spcPts val="1000"/>
                </a:spcAft>
              </a:pPr>
              <a:endParaRPr lang="en-US" sz="1200">
                <a:solidFill>
                  <a:srgbClr val="FFFFFF"/>
                </a:solidFill>
                <a:latin typeface="Microsoft YaHei" panose="020B0503020204020204" pitchFamily="34" charset="-122"/>
                <a:ea typeface="Microsoft YaHei" panose="020B0503020204020204" pitchFamily="34" charset="-122"/>
                <a:sym typeface="Microsoft YaHei" panose="020B0503020204020204" pitchFamily="34" charset="-122"/>
              </a:endParaRPr>
            </a:p>
          </p:txBody>
        </p:sp>
      </p:grpSp>
      <p:grpSp>
        <p:nvGrpSpPr>
          <p:cNvPr id="32" name="Group 31">
            <a:extLst>
              <a:ext uri="{FF2B5EF4-FFF2-40B4-BE49-F238E27FC236}">
                <a16:creationId xmlns:a16="http://schemas.microsoft.com/office/drawing/2014/main" id="{C963CB19-FFF8-A6C7-3B20-A8BFFBF7B83C}"/>
              </a:ext>
            </a:extLst>
          </p:cNvPr>
          <p:cNvGrpSpPr/>
          <p:nvPr/>
        </p:nvGrpSpPr>
        <p:grpSpPr>
          <a:xfrm flipH="1">
            <a:off x="1252503" y="4053915"/>
            <a:ext cx="96203" cy="1016140"/>
            <a:chOff x="1874475" y="2786059"/>
            <a:chExt cx="180616" cy="3641731"/>
          </a:xfrm>
        </p:grpSpPr>
        <p:sp>
          <p:nvSpPr>
            <p:cNvPr id="33" name="Right Bracket 32">
              <a:extLst>
                <a:ext uri="{FF2B5EF4-FFF2-40B4-BE49-F238E27FC236}">
                  <a16:creationId xmlns:a16="http://schemas.microsoft.com/office/drawing/2014/main" id="{F97AFCE7-2789-2599-4A3F-8C2E3A92407E}"/>
                </a:ext>
              </a:extLst>
            </p:cNvPr>
            <p:cNvSpPr/>
            <p:nvPr/>
          </p:nvSpPr>
          <p:spPr>
            <a:xfrm>
              <a:off x="1874475" y="2786059"/>
              <a:ext cx="149951" cy="3641731"/>
            </a:xfrm>
            <a:prstGeom prst="rightBracket">
              <a:avLst>
                <a:gd name="adj" fmla="val 57032"/>
              </a:avLst>
            </a:prstGeom>
            <a:ln w="9525" cap="rnd" cmpd="sng" algn="ctr">
              <a:solidFill>
                <a:srgbClr val="9A9A9A"/>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34" name="Rectangle 33">
              <a:extLst>
                <a:ext uri="{FF2B5EF4-FFF2-40B4-BE49-F238E27FC236}">
                  <a16:creationId xmlns:a16="http://schemas.microsoft.com/office/drawing/2014/main" id="{F2348295-5B65-936E-2AA8-3B7E65ED9E44}"/>
                </a:ext>
              </a:extLst>
            </p:cNvPr>
            <p:cNvSpPr/>
            <p:nvPr/>
          </p:nvSpPr>
          <p:spPr>
            <a:xfrm>
              <a:off x="1953491" y="3429000"/>
              <a:ext cx="101600" cy="2355850"/>
            </a:xfrm>
            <a:prstGeom prst="rect">
              <a:avLst/>
            </a:prstGeom>
            <a:solidFill>
              <a:srgbClr val="9A9A9A"/>
            </a:solidFill>
            <a:ln w="9525" cap="rnd">
              <a:noFill/>
              <a:prstDash val="sysDot"/>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spcAft>
                  <a:spcPts val="1000"/>
                </a:spcAft>
              </a:pPr>
              <a:endParaRPr lang="en-US" sz="1200">
                <a:solidFill>
                  <a:srgbClr val="FFFFFF"/>
                </a:solidFill>
                <a:latin typeface="Microsoft YaHei" panose="020B0503020204020204" pitchFamily="34" charset="-122"/>
                <a:ea typeface="Microsoft YaHei" panose="020B0503020204020204" pitchFamily="34" charset="-122"/>
                <a:sym typeface="Microsoft YaHei" panose="020B0503020204020204" pitchFamily="34" charset="-122"/>
              </a:endParaRPr>
            </a:p>
          </p:txBody>
        </p:sp>
      </p:grpSp>
      <p:sp>
        <p:nvSpPr>
          <p:cNvPr id="86" name="MH_Other_3">
            <a:extLst>
              <a:ext uri="{FF2B5EF4-FFF2-40B4-BE49-F238E27FC236}">
                <a16:creationId xmlns:a16="http://schemas.microsoft.com/office/drawing/2014/main" id="{E4EEE75B-F2E2-4522-E428-84208F89610F}"/>
              </a:ext>
            </a:extLst>
          </p:cNvPr>
          <p:cNvSpPr/>
          <p:nvPr>
            <p:custDataLst>
              <p:tags r:id="rId4"/>
            </p:custDataLst>
          </p:nvPr>
        </p:nvSpPr>
        <p:spPr>
          <a:xfrm>
            <a:off x="2027265" y="2749963"/>
            <a:ext cx="1101048" cy="123080"/>
          </a:xfrm>
          <a:prstGeom prst="ellipse">
            <a:avLst/>
          </a:prstGeom>
          <a:gradFill flip="none" rotWithShape="1">
            <a:gsLst>
              <a:gs pos="97000">
                <a:schemeClr val="tx1">
                  <a:alpha val="0"/>
                </a:schemeClr>
              </a:gs>
              <a:gs pos="0">
                <a:schemeClr val="tx1">
                  <a:alpha val="54000"/>
                </a:scheme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350" i="1">
              <a:latin typeface="Microsoft YaHei" panose="020B0503020204020204" pitchFamily="34" charset="-122"/>
              <a:ea typeface="Microsoft YaHei" panose="020B0503020204020204" pitchFamily="34" charset="-122"/>
              <a:cs typeface="+mn-ea"/>
              <a:sym typeface="Microsoft YaHei" panose="020B0503020204020204" pitchFamily="34" charset="-122"/>
            </a:endParaRPr>
          </a:p>
        </p:txBody>
      </p:sp>
      <p:sp>
        <p:nvSpPr>
          <p:cNvPr id="87" name="MH_Other_3">
            <a:extLst>
              <a:ext uri="{FF2B5EF4-FFF2-40B4-BE49-F238E27FC236}">
                <a16:creationId xmlns:a16="http://schemas.microsoft.com/office/drawing/2014/main" id="{0080E347-4C22-DAA0-A19A-3FDCEAF65919}"/>
              </a:ext>
            </a:extLst>
          </p:cNvPr>
          <p:cNvSpPr/>
          <p:nvPr>
            <p:custDataLst>
              <p:tags r:id="rId5"/>
            </p:custDataLst>
          </p:nvPr>
        </p:nvSpPr>
        <p:spPr>
          <a:xfrm>
            <a:off x="4713601" y="2749963"/>
            <a:ext cx="1101048" cy="123080"/>
          </a:xfrm>
          <a:prstGeom prst="ellipse">
            <a:avLst/>
          </a:prstGeom>
          <a:gradFill flip="none" rotWithShape="1">
            <a:gsLst>
              <a:gs pos="97000">
                <a:schemeClr val="tx1">
                  <a:alpha val="0"/>
                </a:schemeClr>
              </a:gs>
              <a:gs pos="0">
                <a:schemeClr val="tx1">
                  <a:alpha val="54000"/>
                </a:scheme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350" i="1">
              <a:latin typeface="Microsoft YaHei" panose="020B0503020204020204" pitchFamily="34" charset="-122"/>
              <a:ea typeface="Microsoft YaHei" panose="020B0503020204020204" pitchFamily="34" charset="-122"/>
              <a:cs typeface="+mn-ea"/>
              <a:sym typeface="Microsoft YaHei" panose="020B0503020204020204" pitchFamily="34" charset="-122"/>
            </a:endParaRPr>
          </a:p>
        </p:txBody>
      </p:sp>
      <p:sp>
        <p:nvSpPr>
          <p:cNvPr id="88" name="MH_Other_3">
            <a:extLst>
              <a:ext uri="{FF2B5EF4-FFF2-40B4-BE49-F238E27FC236}">
                <a16:creationId xmlns:a16="http://schemas.microsoft.com/office/drawing/2014/main" id="{D524326C-1EE9-72AB-40C1-CB02DEE4C025}"/>
              </a:ext>
            </a:extLst>
          </p:cNvPr>
          <p:cNvSpPr/>
          <p:nvPr>
            <p:custDataLst>
              <p:tags r:id="rId6"/>
            </p:custDataLst>
          </p:nvPr>
        </p:nvSpPr>
        <p:spPr>
          <a:xfrm>
            <a:off x="7279631" y="2749963"/>
            <a:ext cx="1101048" cy="123080"/>
          </a:xfrm>
          <a:prstGeom prst="ellipse">
            <a:avLst/>
          </a:prstGeom>
          <a:gradFill flip="none" rotWithShape="1">
            <a:gsLst>
              <a:gs pos="97000">
                <a:schemeClr val="tx1">
                  <a:alpha val="0"/>
                </a:schemeClr>
              </a:gs>
              <a:gs pos="0">
                <a:schemeClr val="tx1">
                  <a:alpha val="54000"/>
                </a:scheme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350" i="1">
              <a:latin typeface="Microsoft YaHei" panose="020B0503020204020204" pitchFamily="34" charset="-122"/>
              <a:ea typeface="Microsoft YaHei" panose="020B0503020204020204" pitchFamily="34" charset="-122"/>
              <a:cs typeface="+mn-ea"/>
              <a:sym typeface="Microsoft YaHei" panose="020B0503020204020204" pitchFamily="34" charset="-122"/>
            </a:endParaRPr>
          </a:p>
        </p:txBody>
      </p:sp>
      <p:sp>
        <p:nvSpPr>
          <p:cNvPr id="92" name="MH_Other_3">
            <a:extLst>
              <a:ext uri="{FF2B5EF4-FFF2-40B4-BE49-F238E27FC236}">
                <a16:creationId xmlns:a16="http://schemas.microsoft.com/office/drawing/2014/main" id="{F2C10AC0-4AC9-8430-FB98-2167212A1FF3}"/>
              </a:ext>
            </a:extLst>
          </p:cNvPr>
          <p:cNvSpPr/>
          <p:nvPr>
            <p:custDataLst>
              <p:tags r:id="rId7"/>
            </p:custDataLst>
          </p:nvPr>
        </p:nvSpPr>
        <p:spPr>
          <a:xfrm>
            <a:off x="9845657" y="2749964"/>
            <a:ext cx="1101048" cy="123080"/>
          </a:xfrm>
          <a:prstGeom prst="ellipse">
            <a:avLst/>
          </a:prstGeom>
          <a:gradFill flip="none" rotWithShape="1">
            <a:gsLst>
              <a:gs pos="97000">
                <a:schemeClr val="tx1">
                  <a:alpha val="0"/>
                </a:schemeClr>
              </a:gs>
              <a:gs pos="0">
                <a:schemeClr val="tx1">
                  <a:alpha val="54000"/>
                </a:scheme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350" i="1">
              <a:latin typeface="Microsoft YaHei" panose="020B0503020204020204" pitchFamily="34" charset="-122"/>
              <a:ea typeface="Microsoft YaHei" panose="020B0503020204020204" pitchFamily="34" charset="-122"/>
              <a:cs typeface="+mn-ea"/>
              <a:sym typeface="Microsoft YaHei" panose="020B0503020204020204" pitchFamily="34" charset="-122"/>
            </a:endParaRPr>
          </a:p>
        </p:txBody>
      </p:sp>
      <p:pic>
        <p:nvPicPr>
          <p:cNvPr id="48" name="Picture 2">
            <a:extLst>
              <a:ext uri="{FF2B5EF4-FFF2-40B4-BE49-F238E27FC236}">
                <a16:creationId xmlns:a16="http://schemas.microsoft.com/office/drawing/2014/main" id="{65E920AF-BD90-BD33-09E4-3D2D338DB2BA}"/>
              </a:ext>
            </a:extLst>
          </p:cNvPr>
          <p:cNvPicPr>
            <a:picLocks noChangeAspect="1" noChangeArrowheads="1"/>
          </p:cNvPicPr>
          <p:nvPr/>
        </p:nvPicPr>
        <p:blipFill>
          <a:blip r:embed="rId13">
            <a:extLst>
              <a:ext uri="{28A0092B-C50C-407E-A947-70E740481C1C}">
                <a14:useLocalDpi xmlns:a14="http://schemas.microsoft.com/office/drawing/2010/main"/>
              </a:ext>
            </a:extLst>
          </a:blip>
          <a:stretch>
            <a:fillRect/>
          </a:stretch>
        </p:blipFill>
        <p:spPr bwMode="auto">
          <a:xfrm>
            <a:off x="9844388" y="1726506"/>
            <a:ext cx="1043842" cy="1032776"/>
          </a:xfrm>
          <a:prstGeom prst="ellipse">
            <a:avLst/>
          </a:prstGeom>
          <a:grpFill/>
          <a:ln w="28575">
            <a:solidFill>
              <a:schemeClr val="accent1"/>
            </a:solidFill>
          </a:ln>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pic>
      <p:pic>
        <p:nvPicPr>
          <p:cNvPr id="51" name="Picture 2">
            <a:extLst>
              <a:ext uri="{FF2B5EF4-FFF2-40B4-BE49-F238E27FC236}">
                <a16:creationId xmlns:a16="http://schemas.microsoft.com/office/drawing/2014/main" id="{774B8EC1-79E3-E060-9B39-3F6C8B101630}"/>
              </a:ext>
            </a:extLst>
          </p:cNvPr>
          <p:cNvPicPr>
            <a:picLocks noChangeAspect="1" noChangeArrowheads="1"/>
          </p:cNvPicPr>
          <p:nvPr/>
        </p:nvPicPr>
        <p:blipFill>
          <a:blip r:embed="rId14">
            <a:extLst>
              <a:ext uri="{BEBA8EAE-BF5A-486C-A8C5-ECC9F3942E4B}">
                <a14:imgProps xmlns:a14="http://schemas.microsoft.com/office/drawing/2010/main">
                  <a14:imgLayer r:embed="rId15">
                    <a14:imgEffect>
                      <a14:artisticPaintBrush trans="40000" brushSize="7"/>
                    </a14:imgEffect>
                  </a14:imgLayer>
                </a14:imgProps>
              </a:ext>
              <a:ext uri="{28A0092B-C50C-407E-A947-70E740481C1C}">
                <a14:useLocalDpi xmlns:a14="http://schemas.microsoft.com/office/drawing/2010/main"/>
              </a:ext>
            </a:extLst>
          </a:blip>
          <a:srcRect l="13748" b="26586"/>
          <a:stretch>
            <a:fillRect/>
          </a:stretch>
        </p:blipFill>
        <p:spPr bwMode="auto">
          <a:xfrm>
            <a:off x="7243954" y="1726506"/>
            <a:ext cx="1043842" cy="1032776"/>
          </a:xfrm>
          <a:prstGeom prst="ellipse">
            <a:avLst/>
          </a:prstGeom>
          <a:grpFill/>
          <a:ln w="28575">
            <a:solidFill>
              <a:schemeClr val="accent1"/>
            </a:solidFill>
          </a:ln>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pic>
      <p:pic>
        <p:nvPicPr>
          <p:cNvPr id="53" name="Picture 2">
            <a:extLst>
              <a:ext uri="{FF2B5EF4-FFF2-40B4-BE49-F238E27FC236}">
                <a16:creationId xmlns:a16="http://schemas.microsoft.com/office/drawing/2014/main" id="{1EC5FC55-DBDD-A537-8637-43EA685A149C}"/>
              </a:ext>
            </a:extLst>
          </p:cNvPr>
          <p:cNvPicPr>
            <a:picLocks noChangeAspect="1" noChangeArrowheads="1"/>
          </p:cNvPicPr>
          <p:nvPr/>
        </p:nvPicPr>
        <p:blipFill>
          <a:blip r:embed="rId16">
            <a:extLst>
              <a:ext uri="{BEBA8EAE-BF5A-486C-A8C5-ECC9F3942E4B}">
                <a14:imgProps xmlns:a14="http://schemas.microsoft.com/office/drawing/2010/main">
                  <a14:imgLayer r:embed="rId15">
                    <a14:imgEffect>
                      <a14:artisticWatercolorSponge/>
                    </a14:imgEffect>
                  </a14:imgLayer>
                </a14:imgProps>
              </a:ext>
              <a:ext uri="{28A0092B-C50C-407E-A947-70E740481C1C}">
                <a14:useLocalDpi xmlns:a14="http://schemas.microsoft.com/office/drawing/2010/main"/>
              </a:ext>
            </a:extLst>
          </a:blip>
          <a:srcRect l="14634" b="23730"/>
          <a:stretch>
            <a:fillRect/>
          </a:stretch>
        </p:blipFill>
        <p:spPr bwMode="auto">
          <a:xfrm>
            <a:off x="4631022" y="1726506"/>
            <a:ext cx="1043842" cy="1032776"/>
          </a:xfrm>
          <a:prstGeom prst="ellipse">
            <a:avLst/>
          </a:prstGeom>
          <a:grpFill/>
          <a:ln w="28575">
            <a:solidFill>
              <a:schemeClr val="accent1"/>
            </a:solidFill>
          </a:ln>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pic>
      <p:grpSp>
        <p:nvGrpSpPr>
          <p:cNvPr id="65" name="Group 64">
            <a:extLst>
              <a:ext uri="{FF2B5EF4-FFF2-40B4-BE49-F238E27FC236}">
                <a16:creationId xmlns:a16="http://schemas.microsoft.com/office/drawing/2014/main" id="{6AD5A03D-1821-7042-D264-B36BD34F6CF3}"/>
              </a:ext>
            </a:extLst>
          </p:cNvPr>
          <p:cNvGrpSpPr/>
          <p:nvPr/>
        </p:nvGrpSpPr>
        <p:grpSpPr>
          <a:xfrm>
            <a:off x="1982747" y="1533936"/>
            <a:ext cx="1239152" cy="1232824"/>
            <a:chOff x="1982747" y="1491280"/>
            <a:chExt cx="1239152" cy="1232824"/>
          </a:xfrm>
        </p:grpSpPr>
        <p:grpSp>
          <p:nvGrpSpPr>
            <p:cNvPr id="66" name="Group 65">
              <a:extLst>
                <a:ext uri="{FF2B5EF4-FFF2-40B4-BE49-F238E27FC236}">
                  <a16:creationId xmlns:a16="http://schemas.microsoft.com/office/drawing/2014/main" id="{16264E42-B31A-E645-2050-AFA83A7C2A0A}"/>
                </a:ext>
              </a:extLst>
            </p:cNvPr>
            <p:cNvGrpSpPr/>
            <p:nvPr/>
          </p:nvGrpSpPr>
          <p:grpSpPr>
            <a:xfrm>
              <a:off x="2092269" y="1592284"/>
              <a:ext cx="1039041" cy="1032778"/>
              <a:chOff x="641241" y="1333123"/>
              <a:chExt cx="1280161" cy="1280161"/>
            </a:xfrm>
          </p:grpSpPr>
          <p:sp>
            <p:nvSpPr>
              <p:cNvPr id="71" name="Oval 70">
                <a:extLst>
                  <a:ext uri="{FF2B5EF4-FFF2-40B4-BE49-F238E27FC236}">
                    <a16:creationId xmlns:a16="http://schemas.microsoft.com/office/drawing/2014/main" id="{E27C4E82-9180-6F19-286A-21378E8ACCED}"/>
                  </a:ext>
                </a:extLst>
              </p:cNvPr>
              <p:cNvSpPr>
                <a:spLocks noChangeAspect="1"/>
              </p:cNvSpPr>
              <p:nvPr/>
            </p:nvSpPr>
            <p:spPr>
              <a:xfrm>
                <a:off x="641241" y="1333124"/>
                <a:ext cx="1280160" cy="1280160"/>
              </a:xfrm>
              <a:prstGeom prst="ellipse">
                <a:avLst/>
              </a:prstGeom>
              <a:solidFill>
                <a:srgbClr val="F2F2F2"/>
              </a:solidFill>
              <a:ln w="52388" cap="rnd">
                <a:gradFill flip="none" rotWithShape="1">
                  <a:gsLst>
                    <a:gs pos="0">
                      <a:schemeClr val="accent5">
                        <a:lumMod val="98000"/>
                      </a:schemeClr>
                    </a:gs>
                    <a:gs pos="100000">
                      <a:schemeClr val="bg1">
                        <a:lumMod val="75000"/>
                      </a:schemeClr>
                    </a:gs>
                  </a:gsLst>
                  <a:lin ang="2700000" scaled="1"/>
                </a:gradFill>
              </a:ln>
            </p:spPr>
            <p:style>
              <a:lnRef idx="2">
                <a:schemeClr val="accent1">
                  <a:shade val="50000"/>
                </a:schemeClr>
              </a:lnRef>
              <a:fillRef idx="1">
                <a:schemeClr val="accent1"/>
              </a:fillRef>
              <a:effectRef idx="0">
                <a:schemeClr val="accent1"/>
              </a:effectRef>
              <a:fontRef idx="minor">
                <a:schemeClr val="lt1"/>
              </a:fontRef>
            </p:style>
            <p:txBody>
              <a:bodyPr lIns="102870" tIns="102870" rIns="102870" bIns="102870" rtlCol="0" anchor="ctr"/>
              <a:lstStyle/>
              <a:p>
                <a:pPr marL="0" marR="0" lvl="0" indent="0" algn="ctr" defTabSz="685800" eaLnBrk="1" fontAlgn="auto" latinLnBrk="0" hangingPunct="1">
                  <a:lnSpc>
                    <a:spcPct val="100000"/>
                  </a:lnSpc>
                  <a:spcBef>
                    <a:spcPct val="0"/>
                  </a:spcBef>
                  <a:spcAft>
                    <a:spcPct val="0"/>
                  </a:spcAft>
                  <a:buClrTx/>
                  <a:buSzTx/>
                  <a:buFontTx/>
                  <a:buNone/>
                  <a:defRPr/>
                </a:pPr>
                <a:endParaRPr kumimoji="0" lang="fi-FI" sz="900" b="0" i="0" u="none" strike="noStrike" kern="0" cap="none" spc="0" normalizeH="0" baseline="0" noProof="0">
                  <a:ln>
                    <a:noFill/>
                  </a:ln>
                  <a:solidFill>
                    <a:prstClr val="white">
                      <a:lumMod val="50000"/>
                    </a:prstClr>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grpSp>
            <p:nvGrpSpPr>
              <p:cNvPr id="75" name="Group 74">
                <a:extLst>
                  <a:ext uri="{FF2B5EF4-FFF2-40B4-BE49-F238E27FC236}">
                    <a16:creationId xmlns:a16="http://schemas.microsoft.com/office/drawing/2014/main" id="{755C0D72-6D2F-95B8-72BA-4D79E13C843A}"/>
                  </a:ext>
                </a:extLst>
              </p:cNvPr>
              <p:cNvGrpSpPr/>
              <p:nvPr/>
            </p:nvGrpSpPr>
            <p:grpSpPr>
              <a:xfrm>
                <a:off x="641241" y="1333123"/>
                <a:ext cx="1280161" cy="1280159"/>
                <a:chOff x="852518" y="1567077"/>
                <a:chExt cx="1828799" cy="1828800"/>
              </a:xfrm>
            </p:grpSpPr>
            <p:grpSp>
              <p:nvGrpSpPr>
                <p:cNvPr id="79" name="Group 33">
                  <a:extLst>
                    <a:ext uri="{FF2B5EF4-FFF2-40B4-BE49-F238E27FC236}">
                      <a16:creationId xmlns:a16="http://schemas.microsoft.com/office/drawing/2014/main" id="{7AF1B980-68FC-7ABE-AD38-47519DDC6316}"/>
                    </a:ext>
                  </a:extLst>
                </p:cNvPr>
                <p:cNvGrpSpPr/>
                <p:nvPr/>
              </p:nvGrpSpPr>
              <p:grpSpPr>
                <a:xfrm>
                  <a:off x="852518" y="1567077"/>
                  <a:ext cx="1828799" cy="1828800"/>
                  <a:chOff x="533400" y="2857500"/>
                  <a:chExt cx="1603246" cy="1603248"/>
                </a:xfrm>
              </p:grpSpPr>
              <p:pic>
                <p:nvPicPr>
                  <p:cNvPr id="84" name="Picture 2">
                    <a:extLst>
                      <a:ext uri="{FF2B5EF4-FFF2-40B4-BE49-F238E27FC236}">
                        <a16:creationId xmlns:a16="http://schemas.microsoft.com/office/drawing/2014/main" id="{3435AB0C-7E08-D2F9-F63D-048200E12F5C}"/>
                      </a:ext>
                    </a:extLst>
                  </p:cNvPr>
                  <p:cNvPicPr>
                    <a:picLocks noChangeArrowheads="1"/>
                  </p:cNvPicPr>
                  <p:nvPr/>
                </p:nvPicPr>
                <p:blipFill>
                  <a:blip r:embed="rId17">
                    <a:duotone>
                      <a:schemeClr val="bg2">
                        <a:shade val="45000"/>
                        <a:satMod val="135000"/>
                      </a:schemeClr>
                      <a:prstClr val="white"/>
                    </a:duotone>
                    <a:extLst>
                      <a:ext uri="{BEBA8EAE-BF5A-486C-A8C5-ECC9F3942E4B}">
                        <a14:imgProps xmlns:a14="http://schemas.microsoft.com/office/drawing/2010/main">
                          <a14:imgLayer r:embed="rId18">
                            <a14:imgEffect>
                              <a14:artisticMarker/>
                            </a14:imgEffect>
                          </a14:imgLayer>
                        </a14:imgProps>
                      </a:ext>
                      <a:ext uri="{28A0092B-C50C-407E-A947-70E740481C1C}">
                        <a14:useLocalDpi xmlns:a14="http://schemas.microsoft.com/office/drawing/2010/main"/>
                      </a:ext>
                    </a:extLst>
                  </a:blip>
                  <a:stretch>
                    <a:fillRect/>
                  </a:stretch>
                </p:blipFill>
                <p:spPr bwMode="auto">
                  <a:xfrm>
                    <a:off x="533400" y="3037050"/>
                    <a:ext cx="1600199" cy="1241103"/>
                  </a:xfrm>
                  <a:prstGeom prst="ellipse">
                    <a:avLst/>
                  </a:prstGeom>
                  <a:ln w="57150">
                    <a:noFill/>
                    <a:miter lim="800000"/>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a:solidFill>
                          <a:srgbClr val="D9D9D9"/>
                        </a:solidFill>
                        <a:miter lim="800000"/>
                        <a:headEnd/>
                        <a:tailEnd/>
                      </a14:hiddenLine>
                    </a:ex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pic>
              <p:sp>
                <p:nvSpPr>
                  <p:cNvPr id="91" name="Oval 90">
                    <a:extLst>
                      <a:ext uri="{FF2B5EF4-FFF2-40B4-BE49-F238E27FC236}">
                        <a16:creationId xmlns:a16="http://schemas.microsoft.com/office/drawing/2014/main" id="{45D4EF1B-6712-C365-DF0A-62FDBD812279}"/>
                      </a:ext>
                    </a:extLst>
                  </p:cNvPr>
                  <p:cNvSpPr>
                    <a:spLocks noChangeAspect="1"/>
                  </p:cNvSpPr>
                  <p:nvPr/>
                </p:nvSpPr>
                <p:spPr>
                  <a:xfrm>
                    <a:off x="533401" y="2857500"/>
                    <a:ext cx="1603245" cy="1603248"/>
                  </a:xfrm>
                  <a:prstGeom prst="ellipse">
                    <a:avLst/>
                  </a:prstGeom>
                  <a:solidFill>
                    <a:schemeClr val="bg1">
                      <a:lumMod val="95000"/>
                    </a:schemeClr>
                  </a:solidFill>
                  <a:ln w="14288" cap="flat" cmpd="sng" algn="ctr">
                    <a:solidFill>
                      <a:srgbClr val="29BA74"/>
                    </a:solidFill>
                    <a:prstDash val="solid"/>
                    <a:round/>
                    <a:headEnd type="none" w="med" len="med"/>
                    <a:tailEnd type="none" w="med" len="med"/>
                  </a:ln>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style>
                  <a:lnRef idx="1">
                    <a:schemeClr val="accent1"/>
                  </a:lnRef>
                  <a:fillRef idx="3">
                    <a:schemeClr val="accent1"/>
                  </a:fillRef>
                  <a:effectRef idx="2">
                    <a:schemeClr val="accent1"/>
                  </a:effectRef>
                  <a:fontRef idx="minor">
                    <a:schemeClr val="lt1"/>
                  </a:fontRef>
                </p:style>
                <p:txBody>
                  <a:bodyPr lIns="137160" tIns="68580" rIns="137160" bIns="68580" rtlCol="0" anchor="ctr"/>
                  <a:lstStyle/>
                  <a:p>
                    <a:pPr marL="0" marR="0" lvl="0" indent="0" algn="ctr" defTabSz="799480" eaLnBrk="1" fontAlgn="auto" latinLnBrk="0" hangingPunct="1">
                      <a:lnSpc>
                        <a:spcPct val="100000"/>
                      </a:lnSpc>
                      <a:spcBef>
                        <a:spcPct val="0"/>
                      </a:spcBef>
                      <a:spcAft>
                        <a:spcPct val="0"/>
                      </a:spcAft>
                      <a:buClrTx/>
                      <a:buSzTx/>
                      <a:buFontTx/>
                      <a:buNone/>
                      <a:defRPr/>
                    </a:pPr>
                    <a:endParaRPr kumimoji="0" lang="fi-FI" sz="1418" b="0" i="0" u="none" strike="noStrike" kern="1200" cap="none" spc="0" normalizeH="0" baseline="0" noProof="0">
                      <a:ln>
                        <a:noFill/>
                      </a:ln>
                      <a:solidFill>
                        <a:prstClr val="white"/>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grpSp>
            <p:sp>
              <p:nvSpPr>
                <p:cNvPr id="80" name="TextBox 79">
                  <a:extLst>
                    <a:ext uri="{FF2B5EF4-FFF2-40B4-BE49-F238E27FC236}">
                      <a16:creationId xmlns:a16="http://schemas.microsoft.com/office/drawing/2014/main" id="{477B6ECB-38ED-2795-711F-31FA247096F2}"/>
                    </a:ext>
                  </a:extLst>
                </p:cNvPr>
                <p:cNvSpPr txBox="1"/>
                <p:nvPr/>
              </p:nvSpPr>
              <p:spPr>
                <a:xfrm>
                  <a:off x="1467491" y="2205147"/>
                  <a:ext cx="660563" cy="985145"/>
                </a:xfrm>
                <a:prstGeom prst="rect">
                  <a:avLst/>
                </a:prstGeom>
                <a:noFill/>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txBody>
                <a:bodyPr wrap="none" lIns="93761" tIns="46880" rIns="93761" bIns="46880" rtlCol="0">
                  <a:spAutoFit/>
                </a:bodyPr>
                <a:lstStyle/>
                <a:p>
                  <a:pPr marR="0" lvl="0" algn="l" defTabSz="799480" eaLnBrk="1" fontAlgn="auto" latinLnBrk="0" hangingPunct="1">
                    <a:lnSpc>
                      <a:spcPct val="100000"/>
                    </a:lnSpc>
                    <a:spcBef>
                      <a:spcPct val="0"/>
                    </a:spcBef>
                    <a:spcAft>
                      <a:spcPct val="0"/>
                    </a:spcAft>
                    <a:buClrTx/>
                    <a:buSzTx/>
                    <a:buFontTx/>
                    <a:buNone/>
                    <a:defRPr/>
                  </a:pPr>
                  <a:r>
                    <a:rPr kumimoji="0" lang="fi-FI" sz="3000" b="0" i="0" u="none" strike="noStrike" kern="1200" cap="none" spc="0" normalizeH="0" baseline="0" noProof="0">
                      <a:ln>
                        <a:noFill/>
                      </a:ln>
                      <a:solidFill>
                        <a:prstClr val="white">
                          <a:lumMod val="65000"/>
                        </a:prstClr>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rPr>
                    <a:t>?</a:t>
                  </a:r>
                </a:p>
              </p:txBody>
            </p:sp>
          </p:grpSp>
        </p:grpSp>
        <p:grpSp>
          <p:nvGrpSpPr>
            <p:cNvPr id="67" name="Group 4">
              <a:extLst>
                <a:ext uri="{FF2B5EF4-FFF2-40B4-BE49-F238E27FC236}">
                  <a16:creationId xmlns:a16="http://schemas.microsoft.com/office/drawing/2014/main" id="{3A067F75-704A-A99B-AF3B-9BEFEA2AEE83}"/>
                </a:ext>
              </a:extLst>
            </p:cNvPr>
            <p:cNvGrpSpPr>
              <a:grpSpLocks noChangeAspect="1"/>
            </p:cNvGrpSpPr>
            <p:nvPr/>
          </p:nvGrpSpPr>
          <p:grpSpPr>
            <a:xfrm>
              <a:off x="1982747" y="1491280"/>
              <a:ext cx="1239152" cy="1232824"/>
              <a:chOff x="1682" y="0"/>
              <a:chExt cx="4316" cy="4320"/>
            </a:xfrm>
          </p:grpSpPr>
          <p:sp>
            <p:nvSpPr>
              <p:cNvPr id="68" name="AutoShape 3">
                <a:extLst>
                  <a:ext uri="{FF2B5EF4-FFF2-40B4-BE49-F238E27FC236}">
                    <a16:creationId xmlns:a16="http://schemas.microsoft.com/office/drawing/2014/main" id="{729E261F-14FE-F3EF-E31A-019FB3F020E4}"/>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02870" tIns="51435" rIns="102870" bIns="51435" numCol="1" anchor="t" anchorCtr="0" compatLnSpc="1">
                <a:prstTxWarp prst="textNoShape">
                  <a:avLst/>
                </a:prstTxWarp>
              </a:bodyPr>
              <a:lstStyle/>
              <a:p>
                <a:pPr marL="0" marR="0" lvl="0" indent="0" algn="l" defTabSz="685800" eaLnBrk="1" fontAlgn="auto" latinLnBrk="0" hangingPunct="1">
                  <a:lnSpc>
                    <a:spcPct val="100000"/>
                  </a:lnSpc>
                  <a:spcBef>
                    <a:spcPct val="0"/>
                  </a:spcBef>
                  <a:spcAft>
                    <a:spcPct val="0"/>
                  </a:spcAft>
                  <a:buClrTx/>
                  <a:buSzTx/>
                  <a:buFontTx/>
                  <a:buNone/>
                  <a:defRPr/>
                </a:pPr>
                <a:endParaRPr kumimoji="0" lang="fi-FI" sz="1350" b="0" i="0" u="none" strike="noStrike" kern="1200" cap="none" spc="0" normalizeH="0" baseline="0" noProof="0">
                  <a:ln>
                    <a:noFill/>
                  </a:ln>
                  <a:solidFill>
                    <a:srgbClr val="000000"/>
                  </a:solidFill>
                  <a:effectLst/>
                  <a:uLnTx/>
                  <a:uFillTx/>
                  <a:latin typeface="OP Chevin Pro Light"/>
                  <a:ea typeface="+mn-ea"/>
                  <a:cs typeface="+mn-cs"/>
                </a:endParaRPr>
              </a:p>
            </p:txBody>
          </p:sp>
          <p:sp>
            <p:nvSpPr>
              <p:cNvPr id="69" name="Freeform 5">
                <a:extLst>
                  <a:ext uri="{FF2B5EF4-FFF2-40B4-BE49-F238E27FC236}">
                    <a16:creationId xmlns:a16="http://schemas.microsoft.com/office/drawing/2014/main" id="{79BAAC34-A3D6-6500-8AC2-69F771606BEE}"/>
                  </a:ext>
                </a:extLst>
              </p:cNvPr>
              <p:cNvSpPr/>
              <p:nvPr/>
            </p:nvSpPr>
            <p:spPr bwMode="auto">
              <a:xfrm>
                <a:off x="3261" y="1500"/>
                <a:ext cx="1813" cy="2102"/>
              </a:xfrm>
              <a:custGeom>
                <a:avLst/>
                <a:gdLst>
                  <a:gd name="T0" fmla="*/ 903 w 968"/>
                  <a:gd name="T1" fmla="*/ 333 h 1121"/>
                  <a:gd name="T2" fmla="*/ 837 w 968"/>
                  <a:gd name="T3" fmla="*/ 227 h 1121"/>
                  <a:gd name="T4" fmla="*/ 829 w 968"/>
                  <a:gd name="T5" fmla="*/ 131 h 1121"/>
                  <a:gd name="T6" fmla="*/ 827 w 968"/>
                  <a:gd name="T7" fmla="*/ 72 h 1121"/>
                  <a:gd name="T8" fmla="*/ 815 w 968"/>
                  <a:gd name="T9" fmla="*/ 0 h 1121"/>
                  <a:gd name="T10" fmla="*/ 778 w 968"/>
                  <a:gd name="T11" fmla="*/ 39 h 1121"/>
                  <a:gd name="T12" fmla="*/ 783 w 968"/>
                  <a:gd name="T13" fmla="*/ 75 h 1121"/>
                  <a:gd name="T14" fmla="*/ 785 w 968"/>
                  <a:gd name="T15" fmla="*/ 132 h 1121"/>
                  <a:gd name="T16" fmla="*/ 796 w 968"/>
                  <a:gd name="T17" fmla="*/ 244 h 1121"/>
                  <a:gd name="T18" fmla="*/ 872 w 968"/>
                  <a:gd name="T19" fmla="*/ 364 h 1121"/>
                  <a:gd name="T20" fmla="*/ 915 w 968"/>
                  <a:gd name="T21" fmla="*/ 430 h 1121"/>
                  <a:gd name="T22" fmla="*/ 795 w 968"/>
                  <a:gd name="T23" fmla="*/ 461 h 1121"/>
                  <a:gd name="T24" fmla="*/ 778 w 968"/>
                  <a:gd name="T25" fmla="*/ 467 h 1121"/>
                  <a:gd name="T26" fmla="*/ 771 w 968"/>
                  <a:gd name="T27" fmla="*/ 484 h 1121"/>
                  <a:gd name="T28" fmla="*/ 776 w 968"/>
                  <a:gd name="T29" fmla="*/ 622 h 1121"/>
                  <a:gd name="T30" fmla="*/ 758 w 968"/>
                  <a:gd name="T31" fmla="*/ 775 h 1121"/>
                  <a:gd name="T32" fmla="*/ 624 w 968"/>
                  <a:gd name="T33" fmla="*/ 793 h 1121"/>
                  <a:gd name="T34" fmla="*/ 618 w 968"/>
                  <a:gd name="T35" fmla="*/ 793 h 1121"/>
                  <a:gd name="T36" fmla="*/ 482 w 968"/>
                  <a:gd name="T37" fmla="*/ 786 h 1121"/>
                  <a:gd name="T38" fmla="*/ 464 w 968"/>
                  <a:gd name="T39" fmla="*/ 789 h 1121"/>
                  <a:gd name="T40" fmla="*/ 454 w 968"/>
                  <a:gd name="T41" fmla="*/ 807 h 1121"/>
                  <a:gd name="T42" fmla="*/ 454 w 968"/>
                  <a:gd name="T43" fmla="*/ 1077 h 1121"/>
                  <a:gd name="T44" fmla="*/ 44 w 968"/>
                  <a:gd name="T45" fmla="*/ 1000 h 1121"/>
                  <a:gd name="T46" fmla="*/ 44 w 968"/>
                  <a:gd name="T47" fmla="*/ 749 h 1121"/>
                  <a:gd name="T48" fmla="*/ 0 w 968"/>
                  <a:gd name="T49" fmla="*/ 720 h 1121"/>
                  <a:gd name="T50" fmla="*/ 0 w 968"/>
                  <a:gd name="T51" fmla="*/ 1012 h 1121"/>
                  <a:gd name="T52" fmla="*/ 11 w 968"/>
                  <a:gd name="T53" fmla="*/ 1031 h 1121"/>
                  <a:gd name="T54" fmla="*/ 435 w 968"/>
                  <a:gd name="T55" fmla="*/ 1121 h 1121"/>
                  <a:gd name="T56" fmla="*/ 477 w 968"/>
                  <a:gd name="T57" fmla="*/ 1120 h 1121"/>
                  <a:gd name="T58" fmla="*/ 498 w 968"/>
                  <a:gd name="T59" fmla="*/ 1098 h 1121"/>
                  <a:gd name="T60" fmla="*/ 498 w 968"/>
                  <a:gd name="T61" fmla="*/ 832 h 1121"/>
                  <a:gd name="T62" fmla="*/ 612 w 968"/>
                  <a:gd name="T63" fmla="*/ 837 h 1121"/>
                  <a:gd name="T64" fmla="*/ 789 w 968"/>
                  <a:gd name="T65" fmla="*/ 806 h 1121"/>
                  <a:gd name="T66" fmla="*/ 820 w 968"/>
                  <a:gd name="T67" fmla="*/ 621 h 1121"/>
                  <a:gd name="T68" fmla="*/ 817 w 968"/>
                  <a:gd name="T69" fmla="*/ 506 h 1121"/>
                  <a:gd name="T70" fmla="*/ 956 w 968"/>
                  <a:gd name="T71" fmla="*/ 446 h 1121"/>
                  <a:gd name="T72" fmla="*/ 903 w 968"/>
                  <a:gd name="T73" fmla="*/ 333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67" h="1121">
                    <a:moveTo>
                      <a:pt x="903" y="333"/>
                    </a:moveTo>
                    <a:cubicBezTo>
                      <a:pt x="874" y="304"/>
                      <a:pt x="850" y="259"/>
                      <a:pt x="837" y="227"/>
                    </a:cubicBezTo>
                    <a:cubicBezTo>
                      <a:pt x="831" y="214"/>
                      <a:pt x="830" y="166"/>
                      <a:pt x="829" y="131"/>
                    </a:cubicBezTo>
                    <a:cubicBezTo>
                      <a:pt x="829" y="109"/>
                      <a:pt x="828" y="88"/>
                      <a:pt x="827" y="72"/>
                    </a:cubicBezTo>
                    <a:cubicBezTo>
                      <a:pt x="825" y="52"/>
                      <a:pt x="820" y="25"/>
                      <a:pt x="815" y="0"/>
                    </a:cubicBezTo>
                    <a:cubicBezTo>
                      <a:pt x="804" y="13"/>
                      <a:pt x="792" y="26"/>
                      <a:pt x="778" y="39"/>
                    </a:cubicBezTo>
                    <a:cubicBezTo>
                      <a:pt x="780" y="53"/>
                      <a:pt x="782" y="65"/>
                      <a:pt x="783" y="75"/>
                    </a:cubicBezTo>
                    <a:cubicBezTo>
                      <a:pt x="784" y="90"/>
                      <a:pt x="785" y="111"/>
                      <a:pt x="785" y="132"/>
                    </a:cubicBezTo>
                    <a:cubicBezTo>
                      <a:pt x="787" y="187"/>
                      <a:pt x="788" y="224"/>
                      <a:pt x="796" y="244"/>
                    </a:cubicBezTo>
                    <a:cubicBezTo>
                      <a:pt x="803" y="261"/>
                      <a:pt x="830" y="322"/>
                      <a:pt x="872" y="364"/>
                    </a:cubicBezTo>
                    <a:cubicBezTo>
                      <a:pt x="901" y="393"/>
                      <a:pt x="914" y="421"/>
                      <a:pt x="915" y="430"/>
                    </a:cubicBezTo>
                    <a:cubicBezTo>
                      <a:pt x="908" y="440"/>
                      <a:pt x="874" y="469"/>
                      <a:pt x="795" y="461"/>
                    </a:cubicBezTo>
                    <a:cubicBezTo>
                      <a:pt x="789" y="460"/>
                      <a:pt x="782" y="462"/>
                      <a:pt x="778" y="467"/>
                    </a:cubicBezTo>
                    <a:cubicBezTo>
                      <a:pt x="773" y="471"/>
                      <a:pt x="771" y="478"/>
                      <a:pt x="771" y="484"/>
                    </a:cubicBezTo>
                    <a:cubicBezTo>
                      <a:pt x="771" y="485"/>
                      <a:pt x="776" y="551"/>
                      <a:pt x="776" y="622"/>
                    </a:cubicBezTo>
                    <a:cubicBezTo>
                      <a:pt x="776" y="753"/>
                      <a:pt x="760" y="773"/>
                      <a:pt x="758" y="775"/>
                    </a:cubicBezTo>
                    <a:cubicBezTo>
                      <a:pt x="756" y="777"/>
                      <a:pt x="737" y="793"/>
                      <a:pt x="624" y="793"/>
                    </a:cubicBezTo>
                    <a:cubicBezTo>
                      <a:pt x="622" y="793"/>
                      <a:pt x="620" y="793"/>
                      <a:pt x="618" y="793"/>
                    </a:cubicBezTo>
                    <a:cubicBezTo>
                      <a:pt x="552" y="793"/>
                      <a:pt x="491" y="788"/>
                      <a:pt x="482" y="786"/>
                    </a:cubicBezTo>
                    <a:cubicBezTo>
                      <a:pt x="476" y="784"/>
                      <a:pt x="469" y="785"/>
                      <a:pt x="464" y="789"/>
                    </a:cubicBezTo>
                    <a:cubicBezTo>
                      <a:pt x="458" y="793"/>
                      <a:pt x="454" y="800"/>
                      <a:pt x="454" y="807"/>
                    </a:cubicBezTo>
                    <a:cubicBezTo>
                      <a:pt x="454" y="1077"/>
                      <a:pt x="454" y="1077"/>
                      <a:pt x="454" y="1077"/>
                    </a:cubicBezTo>
                    <a:cubicBezTo>
                      <a:pt x="388" y="1078"/>
                      <a:pt x="178" y="1074"/>
                      <a:pt x="44" y="1000"/>
                    </a:cubicBezTo>
                    <a:cubicBezTo>
                      <a:pt x="44" y="749"/>
                      <a:pt x="44" y="749"/>
                      <a:pt x="44" y="749"/>
                    </a:cubicBezTo>
                    <a:cubicBezTo>
                      <a:pt x="31" y="743"/>
                      <a:pt x="17" y="733"/>
                      <a:pt x="0" y="720"/>
                    </a:cubicBezTo>
                    <a:cubicBezTo>
                      <a:pt x="0" y="1012"/>
                      <a:pt x="0" y="1012"/>
                      <a:pt x="0" y="1012"/>
                    </a:cubicBezTo>
                    <a:cubicBezTo>
                      <a:pt x="0" y="1020"/>
                      <a:pt x="4" y="1027"/>
                      <a:pt x="11" y="1031"/>
                    </a:cubicBezTo>
                    <a:cubicBezTo>
                      <a:pt x="144" y="1111"/>
                      <a:pt x="347" y="1121"/>
                      <a:pt x="435" y="1121"/>
                    </a:cubicBezTo>
                    <a:cubicBezTo>
                      <a:pt x="459" y="1121"/>
                      <a:pt x="475" y="1120"/>
                      <a:pt x="477" y="1120"/>
                    </a:cubicBezTo>
                    <a:cubicBezTo>
                      <a:pt x="489" y="1119"/>
                      <a:pt x="498" y="1110"/>
                      <a:pt x="498" y="1098"/>
                    </a:cubicBezTo>
                    <a:cubicBezTo>
                      <a:pt x="498" y="832"/>
                      <a:pt x="498" y="832"/>
                      <a:pt x="498" y="832"/>
                    </a:cubicBezTo>
                    <a:cubicBezTo>
                      <a:pt x="529" y="835"/>
                      <a:pt x="576" y="837"/>
                      <a:pt x="612" y="837"/>
                    </a:cubicBezTo>
                    <a:cubicBezTo>
                      <a:pt x="742" y="839"/>
                      <a:pt x="776" y="820"/>
                      <a:pt x="789" y="806"/>
                    </a:cubicBezTo>
                    <a:cubicBezTo>
                      <a:pt x="804" y="791"/>
                      <a:pt x="821" y="757"/>
                      <a:pt x="820" y="621"/>
                    </a:cubicBezTo>
                    <a:cubicBezTo>
                      <a:pt x="820" y="576"/>
                      <a:pt x="818" y="532"/>
                      <a:pt x="817" y="506"/>
                    </a:cubicBezTo>
                    <a:cubicBezTo>
                      <a:pt x="908" y="508"/>
                      <a:pt x="948" y="464"/>
                      <a:pt x="956" y="446"/>
                    </a:cubicBezTo>
                    <a:cubicBezTo>
                      <a:pt x="968" y="417"/>
                      <a:pt x="937" y="367"/>
                      <a:pt x="903" y="333"/>
                    </a:cubicBezTo>
                    <a:close/>
                  </a:path>
                </a:pathLst>
              </a:custGeom>
              <a:solidFill>
                <a:srgbClr val="6E6F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2870" tIns="51435" rIns="102870" bIns="51435" numCol="1" anchor="t" anchorCtr="0" compatLnSpc="1">
                <a:prstTxWarp prst="textNoShape">
                  <a:avLst/>
                </a:prstTxWarp>
              </a:bodyPr>
              <a:lstStyle/>
              <a:p>
                <a:pPr marL="0" marR="0" lvl="0" indent="0" algn="l" defTabSz="685800" eaLnBrk="1" fontAlgn="auto" latinLnBrk="0" hangingPunct="1">
                  <a:lnSpc>
                    <a:spcPct val="100000"/>
                  </a:lnSpc>
                  <a:spcBef>
                    <a:spcPct val="0"/>
                  </a:spcBef>
                  <a:spcAft>
                    <a:spcPct val="0"/>
                  </a:spcAft>
                  <a:buClrTx/>
                  <a:buSzTx/>
                  <a:buFontTx/>
                  <a:buNone/>
                  <a:defRPr/>
                </a:pPr>
                <a:endParaRPr kumimoji="0" lang="fi-FI" sz="1350" b="0" i="0" u="none" strike="noStrike" kern="1200" cap="none" spc="0" normalizeH="0" baseline="0" noProof="0">
                  <a:ln>
                    <a:noFill/>
                  </a:ln>
                  <a:solidFill>
                    <a:srgbClr val="000000"/>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70" name="Freeform 6">
                <a:extLst>
                  <a:ext uri="{FF2B5EF4-FFF2-40B4-BE49-F238E27FC236}">
                    <a16:creationId xmlns:a16="http://schemas.microsoft.com/office/drawing/2014/main" id="{4E9AE535-B33C-B0F7-FAA3-64D0572B4866}"/>
                  </a:ext>
                </a:extLst>
              </p:cNvPr>
              <p:cNvSpPr/>
              <p:nvPr/>
            </p:nvSpPr>
            <p:spPr bwMode="auto">
              <a:xfrm>
                <a:off x="2450" y="701"/>
                <a:ext cx="2373" cy="2170"/>
              </a:xfrm>
              <a:custGeom>
                <a:avLst/>
                <a:gdLst>
                  <a:gd name="T0" fmla="*/ 1266 w 1267"/>
                  <a:gd name="T1" fmla="*/ 272 h 1157"/>
                  <a:gd name="T2" fmla="*/ 802 w 1267"/>
                  <a:gd name="T3" fmla="*/ 18 h 1157"/>
                  <a:gd name="T4" fmla="*/ 226 w 1267"/>
                  <a:gd name="T5" fmla="*/ 303 h 1157"/>
                  <a:gd name="T6" fmla="*/ 514 w 1267"/>
                  <a:gd name="T7" fmla="*/ 1141 h 1157"/>
                  <a:gd name="T8" fmla="*/ 524 w 1267"/>
                  <a:gd name="T9" fmla="*/ 697 h 1157"/>
                  <a:gd name="T10" fmla="*/ 933 w 1267"/>
                  <a:gd name="T11" fmla="*/ 577 h 1157"/>
                  <a:gd name="T12" fmla="*/ 870 w 1267"/>
                  <a:gd name="T13" fmla="*/ 639 h 1157"/>
                  <a:gd name="T14" fmla="*/ 878 w 1267"/>
                  <a:gd name="T15" fmla="*/ 653 h 1157"/>
                  <a:gd name="T16" fmla="*/ 1212 w 1267"/>
                  <a:gd name="T17" fmla="*/ 401 h 1157"/>
                  <a:gd name="T18" fmla="*/ 1212 w 1267"/>
                  <a:gd name="T19" fmla="*/ 401 h 1157"/>
                  <a:gd name="T20" fmla="*/ 1266 w 1267"/>
                  <a:gd name="T21" fmla="*/ 281 h 1157"/>
                  <a:gd name="T22" fmla="*/ 1266 w 1267"/>
                  <a:gd name="T23" fmla="*/ 272 h 1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67" h="1157">
                    <a:moveTo>
                      <a:pt x="1266" y="272"/>
                    </a:moveTo>
                    <a:cubicBezTo>
                      <a:pt x="1267" y="197"/>
                      <a:pt x="1145" y="39"/>
                      <a:pt x="802" y="18"/>
                    </a:cubicBezTo>
                    <a:cubicBezTo>
                      <a:pt x="501" y="0"/>
                      <a:pt x="306" y="149"/>
                      <a:pt x="226" y="303"/>
                    </a:cubicBezTo>
                    <a:cubicBezTo>
                      <a:pt x="0" y="737"/>
                      <a:pt x="477" y="1157"/>
                      <a:pt x="514" y="1141"/>
                    </a:cubicBezTo>
                    <a:cubicBezTo>
                      <a:pt x="568" y="1117"/>
                      <a:pt x="346" y="874"/>
                      <a:pt x="524" y="697"/>
                    </a:cubicBezTo>
                    <a:cubicBezTo>
                      <a:pt x="524" y="697"/>
                      <a:pt x="736" y="658"/>
                      <a:pt x="933" y="577"/>
                    </a:cubicBezTo>
                    <a:cubicBezTo>
                      <a:pt x="921" y="594"/>
                      <a:pt x="901" y="615"/>
                      <a:pt x="870" y="639"/>
                    </a:cubicBezTo>
                    <a:cubicBezTo>
                      <a:pt x="862" y="645"/>
                      <a:pt x="870" y="657"/>
                      <a:pt x="878" y="653"/>
                    </a:cubicBezTo>
                    <a:cubicBezTo>
                      <a:pt x="979" y="601"/>
                      <a:pt x="1162" y="469"/>
                      <a:pt x="1212" y="401"/>
                    </a:cubicBezTo>
                    <a:cubicBezTo>
                      <a:pt x="1212" y="401"/>
                      <a:pt x="1212" y="401"/>
                      <a:pt x="1212" y="401"/>
                    </a:cubicBezTo>
                    <a:cubicBezTo>
                      <a:pt x="1243" y="364"/>
                      <a:pt x="1263" y="324"/>
                      <a:pt x="1266" y="281"/>
                    </a:cubicBezTo>
                    <a:lnTo>
                      <a:pt x="1266" y="272"/>
                    </a:lnTo>
                    <a:close/>
                  </a:path>
                </a:pathLst>
              </a:custGeom>
              <a:solidFill>
                <a:srgbClr val="9A9A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2870" tIns="51435" rIns="102870" bIns="51435" numCol="1" anchor="t" anchorCtr="0" compatLnSpc="1">
                <a:prstTxWarp prst="textNoShape">
                  <a:avLst/>
                </a:prstTxWarp>
              </a:bodyPr>
              <a:lstStyle/>
              <a:p>
                <a:pPr marL="0" marR="0" lvl="0" indent="0" algn="l" defTabSz="685800" eaLnBrk="1" fontAlgn="auto" latinLnBrk="0" hangingPunct="1">
                  <a:lnSpc>
                    <a:spcPct val="100000"/>
                  </a:lnSpc>
                  <a:spcBef>
                    <a:spcPct val="0"/>
                  </a:spcBef>
                  <a:spcAft>
                    <a:spcPct val="0"/>
                  </a:spcAft>
                  <a:buClrTx/>
                  <a:buSzTx/>
                  <a:buFontTx/>
                  <a:buNone/>
                  <a:defRPr/>
                </a:pPr>
                <a:endParaRPr kumimoji="0" lang="fi-FI" sz="1350" b="0" i="0" u="none" strike="noStrike" kern="1200" cap="none" spc="0" normalizeH="0" baseline="0" noProof="0">
                  <a:ln>
                    <a:noFill/>
                  </a:ln>
                  <a:solidFill>
                    <a:srgbClr val="000000"/>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grpSp>
      </p:grpSp>
      <p:sp>
        <p:nvSpPr>
          <p:cNvPr id="94" name="ee4pFootnotes">
            <a:extLst>
              <a:ext uri="{FF2B5EF4-FFF2-40B4-BE49-F238E27FC236}">
                <a16:creationId xmlns:a16="http://schemas.microsoft.com/office/drawing/2014/main" id="{4A29F27D-977F-5ECC-0D40-CFD1D64EBB36}"/>
              </a:ext>
            </a:extLst>
          </p:cNvPr>
          <p:cNvSpPr>
            <a:spLocks noChangeArrowheads="1"/>
          </p:cNvSpPr>
          <p:nvPr/>
        </p:nvSpPr>
        <p:spPr bwMode="auto">
          <a:xfrm>
            <a:off x="630000" y="6144442"/>
            <a:ext cx="9030914" cy="415498"/>
          </a:xfrm>
          <a:prstGeom prst="rect">
            <a:avLst/>
          </a:prstGeom>
          <a:noFill/>
          <a:ln w="9525" algn="ctr">
            <a:noFill/>
            <a:miter lim="800000"/>
            <a:headEnd type="none" w="lg" len="lg"/>
            <a:tailEnd type="none" w="lg" len="lg"/>
          </a:ln>
        </p:spPr>
        <p:txBody>
          <a:bodyPr vert="horz" wrap="square" lIns="0" tIns="0" rIns="0" bIns="0" anchor="b" anchorCtr="0">
            <a:spAutoFit/>
          </a:bodyPr>
          <a:lstStyle/>
          <a:p>
            <a:pPr>
              <a:lnSpc>
                <a:spcPct val="90000"/>
              </a:lnSpc>
              <a:buFont typeface="Trebuchet MS" panose="020B0603020202020204" pitchFamily="34" charset="0"/>
              <a:buChar char="​"/>
            </a:pPr>
            <a:r>
              <a:rPr lang="zh-TW" altLang="en-US" sz="1000">
                <a:solidFill>
                  <a:schemeClr val="bg1">
                    <a:lumMod val="50000"/>
                  </a:schemeClr>
                </a:solidFill>
                <a:latin typeface="Trebuchet MS" panose="020B0603020202020204" pitchFamily="34" charset="0"/>
                <a:ea typeface="Microsoft YaHei" panose="020B0503020204020204" pitchFamily="34" charset="-122"/>
                <a:cs typeface="Arial" pitchFamily="34" charset="0"/>
                <a:sym typeface="Microsoft YaHei" panose="020B0503020204020204" pitchFamily="34" charset="-122"/>
              </a:rPr>
              <a:t>資料來源</a:t>
            </a:r>
            <a:r>
              <a:rPr lang="en-US" altLang="zh-TW" sz="1000">
                <a:solidFill>
                  <a:schemeClr val="bg1">
                    <a:lumMod val="50000"/>
                  </a:schemeClr>
                </a:solidFill>
                <a:latin typeface="Trebuchet MS" panose="020B0603020202020204" pitchFamily="34" charset="0"/>
                <a:ea typeface="Microsoft YaHei" panose="020B0503020204020204" pitchFamily="34" charset="-122"/>
                <a:cs typeface="Arial" pitchFamily="34" charset="0"/>
                <a:sym typeface="Microsoft YaHei" panose="020B0503020204020204" pitchFamily="34" charset="-122"/>
              </a:rPr>
              <a:t>: BCG</a:t>
            </a:r>
            <a:r>
              <a:rPr lang="zh-TW" altLang="en-US" sz="1000">
                <a:solidFill>
                  <a:schemeClr val="bg1">
                    <a:lumMod val="50000"/>
                  </a:schemeClr>
                </a:solidFill>
                <a:latin typeface="Trebuchet MS" panose="020B0603020202020204" pitchFamily="34" charset="0"/>
                <a:ea typeface="Microsoft YaHei" panose="020B0503020204020204" pitchFamily="34" charset="-122"/>
                <a:cs typeface="Arial" pitchFamily="34" charset="0"/>
                <a:sym typeface="Microsoft YaHei" panose="020B0503020204020204" pitchFamily="34" charset="-122"/>
              </a:rPr>
              <a:t>過去專案經驗；</a:t>
            </a:r>
            <a:r>
              <a:rPr lang="en-US" altLang="zh-TW" sz="1000">
                <a:solidFill>
                  <a:schemeClr val="bg1">
                    <a:lumMod val="50000"/>
                  </a:schemeClr>
                </a:solidFill>
                <a:latin typeface="Trebuchet MS" panose="020B0603020202020204" pitchFamily="34" charset="0"/>
                <a:ea typeface="Microsoft YaHei" panose="020B0503020204020204" pitchFamily="34" charset="-122"/>
                <a:cs typeface="Arial" pitchFamily="34" charset="0"/>
                <a:sym typeface="Microsoft YaHei" panose="020B0503020204020204" pitchFamily="34" charset="-122"/>
              </a:rPr>
              <a:t>BCG</a:t>
            </a:r>
            <a:r>
              <a:rPr lang="zh-TW" altLang="en-US" sz="1000">
                <a:solidFill>
                  <a:schemeClr val="bg1">
                    <a:lumMod val="50000"/>
                  </a:schemeClr>
                </a:solidFill>
                <a:latin typeface="Trebuchet MS" panose="020B0603020202020204" pitchFamily="34" charset="0"/>
                <a:ea typeface="Microsoft YaHei" panose="020B0503020204020204" pitchFamily="34" charset="-122"/>
                <a:cs typeface="Arial" pitchFamily="34" charset="0"/>
                <a:sym typeface="Microsoft YaHei" panose="020B0503020204020204" pitchFamily="34" charset="-122"/>
              </a:rPr>
              <a:t>分析</a:t>
            </a:r>
            <a:endParaRPr lang="en-US" sz="1000">
              <a:solidFill>
                <a:schemeClr val="bg1">
                  <a:lumMod val="50000"/>
                </a:schemeClr>
              </a:solidFill>
              <a:latin typeface="Trebuchet MS" panose="020B0603020202020204" pitchFamily="34" charset="0"/>
              <a:ea typeface="Microsoft YaHei" panose="020B0503020204020204" pitchFamily="34" charset="-122"/>
              <a:cs typeface="Arial" pitchFamily="34" charset="0"/>
              <a:sym typeface="Microsoft YaHei" panose="020B0503020204020204" pitchFamily="34" charset="-122"/>
            </a:endParaRPr>
          </a:p>
        </p:txBody>
      </p:sp>
      <p:sp>
        <p:nvSpPr>
          <p:cNvPr id="64" name="Arrow: Right 63">
            <a:extLst>
              <a:ext uri="{FF2B5EF4-FFF2-40B4-BE49-F238E27FC236}">
                <a16:creationId xmlns:a16="http://schemas.microsoft.com/office/drawing/2014/main" id="{5ECF9B54-FBB4-2B38-60CB-AE42C4A66E30}"/>
              </a:ext>
            </a:extLst>
          </p:cNvPr>
          <p:cNvSpPr/>
          <p:nvPr/>
        </p:nvSpPr>
        <p:spPr>
          <a:xfrm>
            <a:off x="3743787" y="3629769"/>
            <a:ext cx="336409" cy="1085139"/>
          </a:xfrm>
          <a:prstGeom prst="rightArrow">
            <a:avLst>
              <a:gd name="adj1" fmla="val 50000"/>
              <a:gd name="adj2" fmla="val 50000"/>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a typeface="Microsoft YaHei" panose="020B0503020204020204" pitchFamily="34" charset="-122"/>
            </a:endParaRPr>
          </a:p>
        </p:txBody>
      </p:sp>
      <p:sp>
        <p:nvSpPr>
          <p:cNvPr id="42" name="Oval 20">
            <a:extLst>
              <a:ext uri="{FF2B5EF4-FFF2-40B4-BE49-F238E27FC236}">
                <a16:creationId xmlns:a16="http://schemas.microsoft.com/office/drawing/2014/main" id="{CAE73F04-0ADB-9DE3-13D1-2DF400BEEA71}"/>
              </a:ext>
            </a:extLst>
          </p:cNvPr>
          <p:cNvSpPr>
            <a:spLocks noChangeAspect="1" noChangeArrowheads="1"/>
          </p:cNvSpPr>
          <p:nvPr/>
        </p:nvSpPr>
        <p:spPr bwMode="auto">
          <a:xfrm>
            <a:off x="186544" y="98006"/>
            <a:ext cx="299290" cy="299290"/>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sz="1200">
                <a:solidFill>
                  <a:schemeClr val="bg1"/>
                </a:solidFill>
                <a:ea typeface="Microsoft YaHei" panose="020B0503020204020204" pitchFamily="34" charset="-122"/>
              </a:rPr>
              <a:t>1</a:t>
            </a:r>
          </a:p>
        </p:txBody>
      </p:sp>
      <p:sp>
        <p:nvSpPr>
          <p:cNvPr id="44" name="TextBox 43">
            <a:extLst>
              <a:ext uri="{FF2B5EF4-FFF2-40B4-BE49-F238E27FC236}">
                <a16:creationId xmlns:a16="http://schemas.microsoft.com/office/drawing/2014/main" id="{1E701352-D1EB-60FB-9709-8B58E173F549}"/>
              </a:ext>
            </a:extLst>
          </p:cNvPr>
          <p:cNvSpPr txBox="1"/>
          <p:nvPr/>
        </p:nvSpPr>
        <p:spPr>
          <a:xfrm>
            <a:off x="490697" y="128208"/>
            <a:ext cx="2217333" cy="276999"/>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a:spAutoFit/>
          </a:bodyPr>
          <a:lstStyle/>
          <a:p>
            <a:r>
              <a:rPr lang="zh-TW" altLang="en-US" sz="1200">
                <a:solidFill>
                  <a:srgbClr val="575757"/>
                </a:solidFill>
                <a:latin typeface="Trebuchet MS" panose="020B0603020202020204" pitchFamily="34" charset="0"/>
                <a:ea typeface="Microsoft YaHei" panose="020B0503020204020204" pitchFamily="34" charset="-122"/>
              </a:rPr>
              <a:t>優化預測模型，個性化經營</a:t>
            </a:r>
            <a:endParaRPr lang="en-US" sz="1200">
              <a:solidFill>
                <a:srgbClr val="575757"/>
              </a:solidFill>
              <a:ea typeface="Microsoft YaHei" panose="020B0503020204020204" pitchFamily="34" charset="-122"/>
            </a:endParaRPr>
          </a:p>
        </p:txBody>
      </p:sp>
      <p:sp>
        <p:nvSpPr>
          <p:cNvPr id="55" name="Rectangle 54">
            <a:extLst>
              <a:ext uri="{FF2B5EF4-FFF2-40B4-BE49-F238E27FC236}">
                <a16:creationId xmlns:a16="http://schemas.microsoft.com/office/drawing/2014/main" id="{4906DD04-934D-D1F6-8CE7-10D6F666317C}"/>
              </a:ext>
            </a:extLst>
          </p:cNvPr>
          <p:cNvSpPr/>
          <p:nvPr/>
        </p:nvSpPr>
        <p:spPr>
          <a:xfrm>
            <a:off x="1409307" y="1491281"/>
            <a:ext cx="3802710" cy="4267814"/>
          </a:xfrm>
          <a:prstGeom prst="rect">
            <a:avLst/>
          </a:prstGeom>
          <a:noFill/>
          <a:ln w="19050" cap="rnd" cmpd="sng" algn="ctr">
            <a:solidFill>
              <a:srgbClr val="E71C57"/>
            </a:solidFill>
            <a:prstDash val="sysDot"/>
            <a:round/>
            <a:headEnd type="none" w="med" len="med"/>
            <a:tailEnd type="none" w="med" len="me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a typeface="Microsoft YaHei" panose="020B0503020204020204" pitchFamily="34" charset="-122"/>
            </a:endParaRPr>
          </a:p>
        </p:txBody>
      </p:sp>
      <p:sp>
        <p:nvSpPr>
          <p:cNvPr id="56" name="Rectangle 55">
            <a:extLst>
              <a:ext uri="{FF2B5EF4-FFF2-40B4-BE49-F238E27FC236}">
                <a16:creationId xmlns:a16="http://schemas.microsoft.com/office/drawing/2014/main" id="{7C4700A1-07D7-D78A-8F06-B86BBE4EC66C}"/>
              </a:ext>
            </a:extLst>
          </p:cNvPr>
          <p:cNvSpPr/>
          <p:nvPr/>
        </p:nvSpPr>
        <p:spPr>
          <a:xfrm>
            <a:off x="1839350" y="5933447"/>
            <a:ext cx="3304639" cy="254870"/>
          </a:xfrm>
          <a:prstGeom prst="rect">
            <a:avLst/>
          </a:prstGeom>
          <a:solidFill>
            <a:srgbClr val="FFFFFF"/>
          </a:solidFill>
          <a:ln w="9525" cap="rnd" cmpd="sng" algn="ctr">
            <a:noFill/>
            <a:prstDash val="sysDot"/>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349200">
              <a:buClr>
                <a:schemeClr val="tx2"/>
              </a:buClr>
            </a:pPr>
            <a:r>
              <a:rPr lang="zh-TW" altLang="en-US" sz="1400" i="1">
                <a:solidFill>
                  <a:srgbClr val="E71C57"/>
                </a:solidFill>
                <a:latin typeface="Trebuchet MS" panose="020B0603020202020204" pitchFamily="34" charset="0"/>
                <a:ea typeface="Microsoft YaHei" panose="020B0503020204020204" pitchFamily="34" charset="-122"/>
              </a:rPr>
              <a:t>凱基目前階段：僅針對特定產品或活動篩選客戶活動名單，並由人工方式聯繫</a:t>
            </a:r>
            <a:endParaRPr lang="en-US" altLang="zh-TW" sz="1400" i="1">
              <a:solidFill>
                <a:srgbClr val="E71C57"/>
              </a:solidFill>
              <a:latin typeface="Trebuchet MS" panose="020B0603020202020204" pitchFamily="34" charset="0"/>
              <a:ea typeface="Microsoft YaHei" panose="020B0503020204020204" pitchFamily="34" charset="-122"/>
            </a:endParaRPr>
          </a:p>
        </p:txBody>
      </p:sp>
    </p:spTree>
    <p:custDataLst>
      <p:tags r:id="rId1"/>
    </p:custDataLst>
    <p:extLst>
      <p:ext uri="{BB962C8B-B14F-4D97-AF65-F5344CB8AC3E}">
        <p14:creationId xmlns:p14="http://schemas.microsoft.com/office/powerpoint/2010/main" val="158409455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08914EE7-29FA-FFCC-042C-7F23B7022277}"/>
              </a:ext>
            </a:extLst>
          </p:cNvPr>
          <p:cNvGraphicFramePr>
            <a:graphicFrameLocks noChangeAspect="1"/>
          </p:cNvGraphicFramePr>
          <p:nvPr>
            <p:custDataLst>
              <p:tags r:id="rId1"/>
            </p:custDataLst>
            <p:extLst>
              <p:ext uri="{D42A27DB-BD31-4B8C-83A1-F6EECF244321}">
                <p14:modId xmlns:p14="http://schemas.microsoft.com/office/powerpoint/2010/main" val="398960110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404" imgH="405" progId="TCLayout.ActiveDocument.1">
                  <p:embed/>
                </p:oleObj>
              </mc:Choice>
              <mc:Fallback>
                <p:oleObj name="think-cell Slide" r:id="rId5" imgW="404" imgH="405" progId="TCLayout.ActiveDocument.1">
                  <p:embed/>
                  <p:pic>
                    <p:nvPicPr>
                      <p:cNvPr id="3" name="think-cell data - do not delete" hidden="1">
                        <a:extLst>
                          <a:ext uri="{FF2B5EF4-FFF2-40B4-BE49-F238E27FC236}">
                            <a16:creationId xmlns:a16="http://schemas.microsoft.com/office/drawing/2014/main" id="{08914EE7-29FA-FFCC-042C-7F23B7022277}"/>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5" name="TextBox 4">
            <a:extLst>
              <a:ext uri="{FF2B5EF4-FFF2-40B4-BE49-F238E27FC236}">
                <a16:creationId xmlns:a16="http://schemas.microsoft.com/office/drawing/2014/main" id="{6AA5EF66-CC9F-DF71-8423-FCAE16E89BC2}"/>
              </a:ext>
            </a:extLst>
          </p:cNvPr>
          <p:cNvSpPr txBox="1">
            <a:spLocks/>
          </p:cNvSpPr>
          <p:nvPr/>
        </p:nvSpPr>
        <p:spPr>
          <a:xfrm flipV="1">
            <a:off x="637710" y="1915121"/>
            <a:ext cx="6939662" cy="1188720"/>
          </a:xfrm>
          <a:prstGeom prst="rect">
            <a:avLst/>
          </a:prstGeom>
          <a:solidFill>
            <a:schemeClr val="bg2"/>
          </a:solidFill>
        </p:spPr>
        <p:txBody>
          <a:bodyPr vert="horz" wrap="square" lIns="0" tIns="0" rIns="0" bIns="0" rtlCol="0" anchor="t" anchorCtr="0">
            <a:noAutofit/>
          </a:bodyPr>
          <a:lstStyle>
            <a:lvl1pPr marL="0" lvl="0" indent="0" defTabSz="895350" eaLnBrk="1" latinLnBrk="0" hangingPunct="1">
              <a:buClr>
                <a:schemeClr val="tx2"/>
              </a:buClr>
              <a:buSzPct val="100000"/>
              <a:defRPr lang="x-none" sz="1400" baseline="0">
                <a:latin typeface="+mn-lt"/>
              </a:defRPr>
            </a:lvl1pPr>
            <a:lvl2pPr marL="193675" lvl="1" indent="-192088" defTabSz="895350" eaLnBrk="1" latinLnBrk="0" hangingPunct="1">
              <a:buClr>
                <a:schemeClr val="tx2"/>
              </a:buClr>
              <a:buSzPct val="100000"/>
              <a:buFont typeface="Arial" charset="0"/>
              <a:buChar char="▪"/>
              <a:defRPr lang="x-none" sz="1400" baseline="0">
                <a:latin typeface="+mn-lt"/>
              </a:defRPr>
            </a:lvl2pPr>
            <a:lvl3pPr marL="457200" lvl="2" indent="-261938" defTabSz="895350" eaLnBrk="1" latinLnBrk="0" hangingPunct="1">
              <a:buClr>
                <a:schemeClr val="tx2"/>
              </a:buClr>
              <a:buSzPct val="100000"/>
              <a:buFont typeface="Arial" charset="0"/>
              <a:buChar char="–"/>
              <a:defRPr lang="x-none" sz="1400" baseline="0">
                <a:latin typeface="+mn-lt"/>
              </a:defRPr>
            </a:lvl3pPr>
            <a:lvl4pPr marL="614363" lvl="3" indent="-155575" defTabSz="895350" eaLnBrk="1" latinLnBrk="0" hangingPunct="1">
              <a:buClr>
                <a:schemeClr val="tx2"/>
              </a:buClr>
              <a:buSzPct val="100000"/>
              <a:buFont typeface="Arial" charset="0"/>
              <a:buChar char="▫"/>
              <a:defRPr lang="x-none" sz="1400" baseline="0">
                <a:latin typeface="+mn-lt"/>
              </a:defRPr>
            </a:lvl4pPr>
            <a:lvl5pPr marL="749808" lvl="4" indent="-130175" defTabSz="895350" eaLnBrk="1" latinLnBrk="0" hangingPunct="1">
              <a:buClr>
                <a:schemeClr val="tx2"/>
              </a:buClr>
              <a:buSzPct val="100000"/>
              <a:buFont typeface="Arial" charset="0"/>
              <a:buChar char="-"/>
              <a:defRPr lang="x-none" sz="1400" baseline="0">
                <a:latin typeface="+mn-lt"/>
              </a:defRPr>
            </a:lvl5pPr>
            <a:lvl6pPr marL="749808" indent="-130175" defTabSz="895350" fontAlgn="base">
              <a:spcBef>
                <a:spcPct val="0"/>
              </a:spcBef>
              <a:spcAft>
                <a:spcPct val="0"/>
              </a:spcAft>
              <a:buClr>
                <a:schemeClr val="tx2"/>
              </a:buClr>
              <a:buSzPct val="89000"/>
              <a:buFont typeface="Arial" charset="0"/>
              <a:buChar char="-"/>
              <a:defRPr lang="x-none" baseline="0">
                <a:latin typeface="+mn-lt"/>
              </a:defRPr>
            </a:lvl6pPr>
            <a:lvl7pPr marL="749808" indent="-130175" defTabSz="895350" fontAlgn="base">
              <a:spcBef>
                <a:spcPct val="0"/>
              </a:spcBef>
              <a:spcAft>
                <a:spcPct val="0"/>
              </a:spcAft>
              <a:buClr>
                <a:schemeClr val="tx2"/>
              </a:buClr>
              <a:buSzPct val="89000"/>
              <a:buFont typeface="Arial" charset="0"/>
              <a:buChar char="-"/>
              <a:defRPr lang="x-none" baseline="0">
                <a:latin typeface="+mn-lt"/>
              </a:defRPr>
            </a:lvl7pPr>
            <a:lvl8pPr marL="749808" indent="-130175" defTabSz="895350" fontAlgn="base">
              <a:spcBef>
                <a:spcPct val="0"/>
              </a:spcBef>
              <a:spcAft>
                <a:spcPct val="0"/>
              </a:spcAft>
              <a:buClr>
                <a:schemeClr val="tx2"/>
              </a:buClr>
              <a:buSzPct val="89000"/>
              <a:buFont typeface="Arial" charset="0"/>
              <a:buChar char="-"/>
              <a:defRPr lang="x-none" baseline="0">
                <a:latin typeface="+mn-lt"/>
              </a:defRPr>
            </a:lvl8pPr>
            <a:lvl9pPr marL="749808" indent="-130175" defTabSz="895350" fontAlgn="base">
              <a:spcBef>
                <a:spcPct val="0"/>
              </a:spcBef>
              <a:spcAft>
                <a:spcPct val="0"/>
              </a:spcAft>
              <a:buClr>
                <a:schemeClr val="tx2"/>
              </a:buClr>
              <a:buSzPct val="89000"/>
              <a:buFont typeface="Arial" charset="0"/>
              <a:buChar char="-"/>
              <a:defRPr lang="x-none" baseline="0">
                <a:latin typeface="+mn-lt"/>
              </a:defRPr>
            </a:lvl9pPr>
          </a:lstStyle>
          <a:p>
            <a:pPr marL="324000" lvl="1" indent="-216000" defTabSz="1193795">
              <a:buFont typeface="Trebuchet MS" panose="020B0603020202020204" pitchFamily="34" charset="0"/>
              <a:buChar char="•"/>
            </a:pPr>
            <a:endParaRPr lang="zh-CN" altLang="en-US">
              <a:latin typeface="Trebuchet MS" panose="020B0603020202020204" pitchFamily="34" charset="0"/>
              <a:ea typeface="微软雅黑" panose="020B0503020204020204" pitchFamily="34" charset="-122"/>
              <a:cs typeface="Arial" panose="020B0604020202020204" pitchFamily="34" charset="0"/>
            </a:endParaRPr>
          </a:p>
        </p:txBody>
      </p:sp>
      <p:sp>
        <p:nvSpPr>
          <p:cNvPr id="20" name="矩形 55">
            <a:extLst>
              <a:ext uri="{FF2B5EF4-FFF2-40B4-BE49-F238E27FC236}">
                <a16:creationId xmlns:a16="http://schemas.microsoft.com/office/drawing/2014/main" id="{6A7BA8CE-3264-A05F-723D-3099DE527A53}"/>
              </a:ext>
            </a:extLst>
          </p:cNvPr>
          <p:cNvSpPr/>
          <p:nvPr/>
        </p:nvSpPr>
        <p:spPr>
          <a:xfrm>
            <a:off x="1379760" y="1982035"/>
            <a:ext cx="6055905" cy="1047967"/>
          </a:xfrm>
          <a:prstGeom prst="rect">
            <a:avLst/>
          </a:prstGeom>
          <a:solidFill>
            <a:srgbClr val="FFFFFF"/>
          </a:solidFill>
          <a:ln w="25400" cap="flat" cmpd="sng" algn="ctr">
            <a:noFill/>
            <a:prstDash val="solid"/>
          </a:ln>
          <a:effectLst>
            <a:outerShdw blurRad="63500" algn="ctr" rotWithShape="0">
              <a:schemeClr val="bg1">
                <a:lumMod val="50000"/>
                <a:alpha val="40000"/>
              </a:schemeClr>
            </a:outerShdw>
          </a:effectLst>
          <a:extLst>
            <a:ext uri="{91240B29-F687-4F45-9708-019B960494DF}">
              <a14:hiddenLine xmlns:a14="http://schemas.microsoft.com/office/drawing/2010/main" w="25400" cap="flat" cmpd="sng" algn="ctr">
                <a:solidFill>
                  <a:schemeClr val="bg1">
                    <a:lumMod val="95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7" name="Oval 106">
            <a:extLst>
              <a:ext uri="{FF2B5EF4-FFF2-40B4-BE49-F238E27FC236}">
                <a16:creationId xmlns:a16="http://schemas.microsoft.com/office/drawing/2014/main" id="{670FE423-C109-A44E-848F-AB95BBE29C25}"/>
              </a:ext>
            </a:extLst>
          </p:cNvPr>
          <p:cNvSpPr/>
          <p:nvPr/>
        </p:nvSpPr>
        <p:spPr>
          <a:xfrm>
            <a:off x="1513537" y="2271539"/>
            <a:ext cx="475435" cy="475435"/>
          </a:xfrm>
          <a:prstGeom prst="ellipse">
            <a:avLst/>
          </a:prstGeom>
          <a:gradFill flip="none" rotWithShape="1">
            <a:gsLst>
              <a:gs pos="100000">
                <a:schemeClr val="tx2">
                  <a:lumMod val="20000"/>
                  <a:lumOff val="80000"/>
                </a:schemeClr>
              </a:gs>
              <a:gs pos="54000">
                <a:schemeClr val="bg1"/>
              </a:gs>
            </a:gsLst>
            <a:path path="shape">
              <a:fillToRect l="50000" t="50000" r="50000" b="50000"/>
            </a:path>
            <a:tileRect/>
          </a:gradFill>
          <a:ln w="15875" cap="rnd" cmpd="sng" algn="ctr">
            <a:gradFill flip="none" rotWithShape="1">
              <a:gsLst>
                <a:gs pos="67000">
                  <a:schemeClr val="bg1">
                    <a:alpha val="0"/>
                  </a:schemeClr>
                </a:gs>
                <a:gs pos="100000">
                  <a:schemeClr val="tx2"/>
                </a:gs>
              </a:gsLst>
              <a:lin ang="16200000" scaled="1"/>
              <a:tileRect/>
            </a:gra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108" name="Oval 107">
            <a:extLst>
              <a:ext uri="{FF2B5EF4-FFF2-40B4-BE49-F238E27FC236}">
                <a16:creationId xmlns:a16="http://schemas.microsoft.com/office/drawing/2014/main" id="{01B5F15A-092B-E2A7-D6DD-7D2CA5103C14}"/>
              </a:ext>
            </a:extLst>
          </p:cNvPr>
          <p:cNvSpPr/>
          <p:nvPr/>
        </p:nvSpPr>
        <p:spPr>
          <a:xfrm>
            <a:off x="2178474" y="2271539"/>
            <a:ext cx="475435" cy="475435"/>
          </a:xfrm>
          <a:prstGeom prst="ellipse">
            <a:avLst/>
          </a:prstGeom>
          <a:gradFill flip="none" rotWithShape="1">
            <a:gsLst>
              <a:gs pos="100000">
                <a:schemeClr val="tx2">
                  <a:lumMod val="20000"/>
                  <a:lumOff val="80000"/>
                </a:schemeClr>
              </a:gs>
              <a:gs pos="54000">
                <a:schemeClr val="bg1"/>
              </a:gs>
            </a:gsLst>
            <a:path path="shape">
              <a:fillToRect l="50000" t="50000" r="50000" b="50000"/>
            </a:path>
            <a:tileRect/>
          </a:gradFill>
          <a:ln w="15875" cap="rnd" cmpd="sng" algn="ctr">
            <a:gradFill flip="none" rotWithShape="1">
              <a:gsLst>
                <a:gs pos="67000">
                  <a:schemeClr val="bg1">
                    <a:alpha val="0"/>
                  </a:schemeClr>
                </a:gs>
                <a:gs pos="100000">
                  <a:schemeClr val="tx2"/>
                </a:gs>
              </a:gsLst>
              <a:lin ang="16200000" scaled="1"/>
              <a:tileRect/>
            </a:gra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109" name="Oval 108">
            <a:extLst>
              <a:ext uri="{FF2B5EF4-FFF2-40B4-BE49-F238E27FC236}">
                <a16:creationId xmlns:a16="http://schemas.microsoft.com/office/drawing/2014/main" id="{71484178-D655-D46E-750A-EAD8210470E6}"/>
              </a:ext>
            </a:extLst>
          </p:cNvPr>
          <p:cNvSpPr/>
          <p:nvPr/>
        </p:nvSpPr>
        <p:spPr>
          <a:xfrm>
            <a:off x="2843411" y="2271539"/>
            <a:ext cx="475435" cy="475435"/>
          </a:xfrm>
          <a:prstGeom prst="ellipse">
            <a:avLst/>
          </a:prstGeom>
          <a:gradFill flip="none" rotWithShape="1">
            <a:gsLst>
              <a:gs pos="100000">
                <a:schemeClr val="tx2">
                  <a:lumMod val="20000"/>
                  <a:lumOff val="80000"/>
                </a:schemeClr>
              </a:gs>
              <a:gs pos="54000">
                <a:schemeClr val="bg1"/>
              </a:gs>
            </a:gsLst>
            <a:path path="shape">
              <a:fillToRect l="50000" t="50000" r="50000" b="50000"/>
            </a:path>
            <a:tileRect/>
          </a:gradFill>
          <a:ln w="15875" cap="rnd" cmpd="sng" algn="ctr">
            <a:gradFill flip="none" rotWithShape="1">
              <a:gsLst>
                <a:gs pos="67000">
                  <a:schemeClr val="bg1">
                    <a:alpha val="0"/>
                  </a:schemeClr>
                </a:gs>
                <a:gs pos="100000">
                  <a:schemeClr val="tx2"/>
                </a:gs>
              </a:gsLst>
              <a:lin ang="16200000" scaled="1"/>
              <a:tileRect/>
            </a:gra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110" name="Oval 109">
            <a:extLst>
              <a:ext uri="{FF2B5EF4-FFF2-40B4-BE49-F238E27FC236}">
                <a16:creationId xmlns:a16="http://schemas.microsoft.com/office/drawing/2014/main" id="{1AC85DDB-B47E-2617-1963-2A9F6DA4D292}"/>
              </a:ext>
            </a:extLst>
          </p:cNvPr>
          <p:cNvSpPr/>
          <p:nvPr/>
        </p:nvSpPr>
        <p:spPr>
          <a:xfrm>
            <a:off x="3508348" y="2271539"/>
            <a:ext cx="475435" cy="475435"/>
          </a:xfrm>
          <a:prstGeom prst="ellipse">
            <a:avLst/>
          </a:prstGeom>
          <a:gradFill flip="none" rotWithShape="1">
            <a:gsLst>
              <a:gs pos="100000">
                <a:schemeClr val="tx2">
                  <a:lumMod val="20000"/>
                  <a:lumOff val="80000"/>
                </a:schemeClr>
              </a:gs>
              <a:gs pos="54000">
                <a:schemeClr val="bg1"/>
              </a:gs>
            </a:gsLst>
            <a:path path="shape">
              <a:fillToRect l="50000" t="50000" r="50000" b="50000"/>
            </a:path>
            <a:tileRect/>
          </a:gradFill>
          <a:ln w="15875" cap="rnd" cmpd="sng" algn="ctr">
            <a:gradFill flip="none" rotWithShape="1">
              <a:gsLst>
                <a:gs pos="67000">
                  <a:schemeClr val="bg1">
                    <a:alpha val="0"/>
                  </a:schemeClr>
                </a:gs>
                <a:gs pos="100000">
                  <a:schemeClr val="tx2"/>
                </a:gs>
              </a:gsLst>
              <a:lin ang="16200000" scaled="1"/>
              <a:tileRect/>
            </a:gra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111" name="Oval 110">
            <a:extLst>
              <a:ext uri="{FF2B5EF4-FFF2-40B4-BE49-F238E27FC236}">
                <a16:creationId xmlns:a16="http://schemas.microsoft.com/office/drawing/2014/main" id="{EF41A01F-6209-24ED-CD81-FD29DE81925A}"/>
              </a:ext>
            </a:extLst>
          </p:cNvPr>
          <p:cNvSpPr/>
          <p:nvPr/>
        </p:nvSpPr>
        <p:spPr>
          <a:xfrm>
            <a:off x="4173285" y="2271539"/>
            <a:ext cx="475435" cy="475435"/>
          </a:xfrm>
          <a:prstGeom prst="ellipse">
            <a:avLst/>
          </a:prstGeom>
          <a:gradFill flip="none" rotWithShape="1">
            <a:gsLst>
              <a:gs pos="100000">
                <a:schemeClr val="tx2">
                  <a:lumMod val="20000"/>
                  <a:lumOff val="80000"/>
                </a:schemeClr>
              </a:gs>
              <a:gs pos="54000">
                <a:schemeClr val="bg1"/>
              </a:gs>
            </a:gsLst>
            <a:path path="shape">
              <a:fillToRect l="50000" t="50000" r="50000" b="50000"/>
            </a:path>
            <a:tileRect/>
          </a:gradFill>
          <a:ln w="15875" cap="rnd" cmpd="sng" algn="ctr">
            <a:gradFill flip="none" rotWithShape="1">
              <a:gsLst>
                <a:gs pos="67000">
                  <a:schemeClr val="bg1">
                    <a:alpha val="0"/>
                  </a:schemeClr>
                </a:gs>
                <a:gs pos="100000">
                  <a:schemeClr val="tx2"/>
                </a:gs>
              </a:gsLst>
              <a:lin ang="16200000" scaled="1"/>
              <a:tileRect/>
            </a:gra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112" name="Oval 111">
            <a:extLst>
              <a:ext uri="{FF2B5EF4-FFF2-40B4-BE49-F238E27FC236}">
                <a16:creationId xmlns:a16="http://schemas.microsoft.com/office/drawing/2014/main" id="{DA0710B7-581B-DC21-B92B-84F6484EE7F6}"/>
              </a:ext>
            </a:extLst>
          </p:cNvPr>
          <p:cNvSpPr/>
          <p:nvPr/>
        </p:nvSpPr>
        <p:spPr>
          <a:xfrm>
            <a:off x="4838222" y="2271539"/>
            <a:ext cx="475435" cy="475435"/>
          </a:xfrm>
          <a:prstGeom prst="ellipse">
            <a:avLst/>
          </a:prstGeom>
          <a:gradFill flip="none" rotWithShape="1">
            <a:gsLst>
              <a:gs pos="100000">
                <a:schemeClr val="tx2">
                  <a:lumMod val="20000"/>
                  <a:lumOff val="80000"/>
                </a:schemeClr>
              </a:gs>
              <a:gs pos="54000">
                <a:schemeClr val="bg1"/>
              </a:gs>
            </a:gsLst>
            <a:path path="shape">
              <a:fillToRect l="50000" t="50000" r="50000" b="50000"/>
            </a:path>
            <a:tileRect/>
          </a:gradFill>
          <a:ln w="15875" cap="rnd" cmpd="sng" algn="ctr">
            <a:gradFill flip="none" rotWithShape="1">
              <a:gsLst>
                <a:gs pos="67000">
                  <a:schemeClr val="bg1">
                    <a:alpha val="0"/>
                  </a:schemeClr>
                </a:gs>
                <a:gs pos="100000">
                  <a:schemeClr val="tx2"/>
                </a:gs>
              </a:gsLst>
              <a:lin ang="16200000" scaled="1"/>
              <a:tileRect/>
            </a:gra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113" name="Oval 112">
            <a:extLst>
              <a:ext uri="{FF2B5EF4-FFF2-40B4-BE49-F238E27FC236}">
                <a16:creationId xmlns:a16="http://schemas.microsoft.com/office/drawing/2014/main" id="{29B48AC4-08D5-2CFD-D1FC-9A35F88FADFA}"/>
              </a:ext>
            </a:extLst>
          </p:cNvPr>
          <p:cNvSpPr/>
          <p:nvPr/>
        </p:nvSpPr>
        <p:spPr>
          <a:xfrm>
            <a:off x="5503159" y="2271539"/>
            <a:ext cx="475435" cy="475435"/>
          </a:xfrm>
          <a:prstGeom prst="ellipse">
            <a:avLst/>
          </a:prstGeom>
          <a:gradFill flip="none" rotWithShape="1">
            <a:gsLst>
              <a:gs pos="100000">
                <a:schemeClr val="tx2">
                  <a:lumMod val="20000"/>
                  <a:lumOff val="80000"/>
                </a:schemeClr>
              </a:gs>
              <a:gs pos="54000">
                <a:schemeClr val="bg1"/>
              </a:gs>
            </a:gsLst>
            <a:path path="shape">
              <a:fillToRect l="50000" t="50000" r="50000" b="50000"/>
            </a:path>
            <a:tileRect/>
          </a:gradFill>
          <a:ln w="15875" cap="rnd" cmpd="sng" algn="ctr">
            <a:gradFill flip="none" rotWithShape="1">
              <a:gsLst>
                <a:gs pos="67000">
                  <a:schemeClr val="bg1">
                    <a:alpha val="0"/>
                  </a:schemeClr>
                </a:gs>
                <a:gs pos="100000">
                  <a:schemeClr val="tx2"/>
                </a:gs>
              </a:gsLst>
              <a:lin ang="16200000" scaled="1"/>
              <a:tileRect/>
            </a:gra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114" name="Oval 113">
            <a:extLst>
              <a:ext uri="{FF2B5EF4-FFF2-40B4-BE49-F238E27FC236}">
                <a16:creationId xmlns:a16="http://schemas.microsoft.com/office/drawing/2014/main" id="{6FCD05A1-1224-AE0F-4604-B3C441FA0AE9}"/>
              </a:ext>
            </a:extLst>
          </p:cNvPr>
          <p:cNvSpPr/>
          <p:nvPr/>
        </p:nvSpPr>
        <p:spPr>
          <a:xfrm>
            <a:off x="6168096" y="2271539"/>
            <a:ext cx="475435" cy="475435"/>
          </a:xfrm>
          <a:prstGeom prst="ellipse">
            <a:avLst/>
          </a:prstGeom>
          <a:gradFill flip="none" rotWithShape="1">
            <a:gsLst>
              <a:gs pos="100000">
                <a:schemeClr val="tx2">
                  <a:lumMod val="20000"/>
                  <a:lumOff val="80000"/>
                </a:schemeClr>
              </a:gs>
              <a:gs pos="54000">
                <a:schemeClr val="bg1"/>
              </a:gs>
            </a:gsLst>
            <a:path path="shape">
              <a:fillToRect l="50000" t="50000" r="50000" b="50000"/>
            </a:path>
            <a:tileRect/>
          </a:gradFill>
          <a:ln w="15875" cap="rnd" cmpd="sng" algn="ctr">
            <a:gradFill flip="none" rotWithShape="1">
              <a:gsLst>
                <a:gs pos="67000">
                  <a:schemeClr val="bg1">
                    <a:alpha val="0"/>
                  </a:schemeClr>
                </a:gs>
                <a:gs pos="100000">
                  <a:schemeClr val="tx2"/>
                </a:gs>
              </a:gsLst>
              <a:lin ang="16200000" scaled="1"/>
              <a:tileRect/>
            </a:gra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115" name="Oval 114">
            <a:extLst>
              <a:ext uri="{FF2B5EF4-FFF2-40B4-BE49-F238E27FC236}">
                <a16:creationId xmlns:a16="http://schemas.microsoft.com/office/drawing/2014/main" id="{C2D03768-9B1B-E88B-DBC5-4C55A11A04DE}"/>
              </a:ext>
            </a:extLst>
          </p:cNvPr>
          <p:cNvSpPr/>
          <p:nvPr/>
        </p:nvSpPr>
        <p:spPr>
          <a:xfrm>
            <a:off x="6833033" y="2271539"/>
            <a:ext cx="475435" cy="475435"/>
          </a:xfrm>
          <a:prstGeom prst="ellipse">
            <a:avLst/>
          </a:prstGeom>
          <a:gradFill flip="none" rotWithShape="1">
            <a:gsLst>
              <a:gs pos="100000">
                <a:schemeClr val="tx2">
                  <a:lumMod val="20000"/>
                  <a:lumOff val="80000"/>
                </a:schemeClr>
              </a:gs>
              <a:gs pos="54000">
                <a:schemeClr val="bg1"/>
              </a:gs>
            </a:gsLst>
            <a:path path="shape">
              <a:fillToRect l="50000" t="50000" r="50000" b="50000"/>
            </a:path>
            <a:tileRect/>
          </a:gradFill>
          <a:ln w="15875" cap="rnd" cmpd="sng" algn="ctr">
            <a:gradFill flip="none" rotWithShape="1">
              <a:gsLst>
                <a:gs pos="67000">
                  <a:schemeClr val="bg1">
                    <a:alpha val="0"/>
                  </a:schemeClr>
                </a:gs>
                <a:gs pos="100000">
                  <a:schemeClr val="tx2"/>
                </a:gs>
              </a:gsLst>
              <a:lin ang="16200000" scaled="1"/>
              <a:tileRect/>
            </a:gra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2" name="Title 1">
            <a:extLst>
              <a:ext uri="{FF2B5EF4-FFF2-40B4-BE49-F238E27FC236}">
                <a16:creationId xmlns:a16="http://schemas.microsoft.com/office/drawing/2014/main" id="{7C256FEC-C1EB-616C-B93B-D01E1D7427F0}"/>
              </a:ext>
            </a:extLst>
          </p:cNvPr>
          <p:cNvSpPr>
            <a:spLocks noGrp="1"/>
          </p:cNvSpPr>
          <p:nvPr>
            <p:ph type="title"/>
          </p:nvPr>
        </p:nvSpPr>
        <p:spPr>
          <a:xfrm>
            <a:off x="630000" y="622800"/>
            <a:ext cx="10933350" cy="664797"/>
          </a:xfrm>
        </p:spPr>
        <p:txBody>
          <a:bodyPr vert="horz"/>
          <a:lstStyle/>
          <a:p>
            <a:r>
              <a:rPr lang="en-US" altLang="zh-TW"/>
              <a:t>M</a:t>
            </a:r>
            <a:r>
              <a:rPr lang="zh-TW" altLang="en-US"/>
              <a:t>客經營的終極目標是達到全面個性化經營，在合適的時間透過合適的管道提供合適的個人化體驗</a:t>
            </a:r>
            <a:endParaRPr lang="en-US"/>
          </a:p>
        </p:txBody>
      </p:sp>
      <p:sp>
        <p:nvSpPr>
          <p:cNvPr id="18" name="Rectangle 17">
            <a:extLst>
              <a:ext uri="{FF2B5EF4-FFF2-40B4-BE49-F238E27FC236}">
                <a16:creationId xmlns:a16="http://schemas.microsoft.com/office/drawing/2014/main" id="{5F675F16-903C-FBDC-C223-AEC8876EAAD2}"/>
              </a:ext>
            </a:extLst>
          </p:cNvPr>
          <p:cNvSpPr/>
          <p:nvPr/>
        </p:nvSpPr>
        <p:spPr>
          <a:xfrm>
            <a:off x="628648" y="5922271"/>
            <a:ext cx="1063703" cy="330887"/>
          </a:xfrm>
          <a:prstGeom prst="rect">
            <a:avLst/>
          </a:prstGeom>
          <a:no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37160" tIns="45720" rIns="91440" bIns="45720" numCol="1" spcCol="0" rtlCol="0" fromWordArt="0" anchor="ctr" anchorCtr="0" forceAA="0" compatLnSpc="1">
            <a:prstTxWarp prst="textNoShape">
              <a:avLst/>
            </a:prstTxWarp>
            <a:noAutofit/>
          </a:bodyPr>
          <a:lstStyle/>
          <a:p>
            <a:pPr algn="ctr"/>
            <a:r>
              <a:rPr lang="zh-CN" altLang="en-US" sz="1600" b="1" i="1">
                <a:gradFill>
                  <a:gsLst>
                    <a:gs pos="0">
                      <a:schemeClr val="accent1"/>
                    </a:gs>
                    <a:gs pos="83000">
                      <a:schemeClr val="accent2"/>
                    </a:gs>
                  </a:gsLst>
                  <a:lin ang="13500000" scaled="1"/>
                </a:gradFill>
                <a:effectLst>
                  <a:glow rad="127000">
                    <a:schemeClr val="bg1"/>
                  </a:glow>
                  <a:outerShdw blurRad="63500" sx="102000" sy="102000" algn="ctr" rotWithShape="0">
                    <a:schemeClr val="accent2">
                      <a:alpha val="40000"/>
                    </a:schemeClr>
                  </a:outerShdw>
                </a:effectLst>
                <a:latin typeface="微软雅黑" panose="020B0503020204020204" pitchFamily="34" charset="-122"/>
                <a:ea typeface="微软雅黑" panose="020B0503020204020204" pitchFamily="34" charset="-122"/>
              </a:rPr>
              <a:t>所有客戶</a:t>
            </a:r>
          </a:p>
        </p:txBody>
      </p:sp>
      <p:sp>
        <p:nvSpPr>
          <p:cNvPr id="22" name="TextBox 21">
            <a:extLst>
              <a:ext uri="{FF2B5EF4-FFF2-40B4-BE49-F238E27FC236}">
                <a16:creationId xmlns:a16="http://schemas.microsoft.com/office/drawing/2014/main" id="{CEDC5108-774B-0034-7857-ED2C3FB89EE1}"/>
              </a:ext>
            </a:extLst>
          </p:cNvPr>
          <p:cNvSpPr txBox="1">
            <a:spLocks/>
          </p:cNvSpPr>
          <p:nvPr/>
        </p:nvSpPr>
        <p:spPr>
          <a:xfrm flipV="1">
            <a:off x="637710" y="3196364"/>
            <a:ext cx="6939662" cy="1188720"/>
          </a:xfrm>
          <a:prstGeom prst="rect">
            <a:avLst/>
          </a:prstGeom>
          <a:solidFill>
            <a:schemeClr val="bg2"/>
          </a:solidFill>
        </p:spPr>
        <p:txBody>
          <a:bodyPr vert="horz" wrap="square" lIns="0" tIns="0" rIns="0" bIns="0" rtlCol="0" anchor="t" anchorCtr="0">
            <a:noAutofit/>
          </a:bodyPr>
          <a:lstStyle>
            <a:lvl1pPr marL="0" lvl="0" indent="0" defTabSz="895350" eaLnBrk="1" latinLnBrk="0" hangingPunct="1">
              <a:buClr>
                <a:schemeClr val="tx2"/>
              </a:buClr>
              <a:buSzPct val="100000"/>
              <a:defRPr lang="x-none" sz="1400" baseline="0">
                <a:latin typeface="+mn-lt"/>
              </a:defRPr>
            </a:lvl1pPr>
            <a:lvl2pPr marL="193675" lvl="1" indent="-192088" defTabSz="895350" eaLnBrk="1" latinLnBrk="0" hangingPunct="1">
              <a:buClr>
                <a:schemeClr val="tx2"/>
              </a:buClr>
              <a:buSzPct val="100000"/>
              <a:buFont typeface="Arial" charset="0"/>
              <a:buChar char="▪"/>
              <a:defRPr lang="x-none" sz="1400" baseline="0">
                <a:latin typeface="+mn-lt"/>
              </a:defRPr>
            </a:lvl2pPr>
            <a:lvl3pPr marL="457200" lvl="2" indent="-261938" defTabSz="895350" eaLnBrk="1" latinLnBrk="0" hangingPunct="1">
              <a:buClr>
                <a:schemeClr val="tx2"/>
              </a:buClr>
              <a:buSzPct val="100000"/>
              <a:buFont typeface="Arial" charset="0"/>
              <a:buChar char="–"/>
              <a:defRPr lang="x-none" sz="1400" baseline="0">
                <a:latin typeface="+mn-lt"/>
              </a:defRPr>
            </a:lvl3pPr>
            <a:lvl4pPr marL="614363" lvl="3" indent="-155575" defTabSz="895350" eaLnBrk="1" latinLnBrk="0" hangingPunct="1">
              <a:buClr>
                <a:schemeClr val="tx2"/>
              </a:buClr>
              <a:buSzPct val="100000"/>
              <a:buFont typeface="Arial" charset="0"/>
              <a:buChar char="▫"/>
              <a:defRPr lang="x-none" sz="1400" baseline="0">
                <a:latin typeface="+mn-lt"/>
              </a:defRPr>
            </a:lvl4pPr>
            <a:lvl5pPr marL="749808" lvl="4" indent="-130175" defTabSz="895350" eaLnBrk="1" latinLnBrk="0" hangingPunct="1">
              <a:buClr>
                <a:schemeClr val="tx2"/>
              </a:buClr>
              <a:buSzPct val="100000"/>
              <a:buFont typeface="Arial" charset="0"/>
              <a:buChar char="-"/>
              <a:defRPr lang="x-none" sz="1400" baseline="0">
                <a:latin typeface="+mn-lt"/>
              </a:defRPr>
            </a:lvl5pPr>
            <a:lvl6pPr marL="749808" indent="-130175" defTabSz="895350" fontAlgn="base">
              <a:spcBef>
                <a:spcPct val="0"/>
              </a:spcBef>
              <a:spcAft>
                <a:spcPct val="0"/>
              </a:spcAft>
              <a:buClr>
                <a:schemeClr val="tx2"/>
              </a:buClr>
              <a:buSzPct val="89000"/>
              <a:buFont typeface="Arial" charset="0"/>
              <a:buChar char="-"/>
              <a:defRPr lang="x-none" baseline="0">
                <a:latin typeface="+mn-lt"/>
              </a:defRPr>
            </a:lvl6pPr>
            <a:lvl7pPr marL="749808" indent="-130175" defTabSz="895350" fontAlgn="base">
              <a:spcBef>
                <a:spcPct val="0"/>
              </a:spcBef>
              <a:spcAft>
                <a:spcPct val="0"/>
              </a:spcAft>
              <a:buClr>
                <a:schemeClr val="tx2"/>
              </a:buClr>
              <a:buSzPct val="89000"/>
              <a:buFont typeface="Arial" charset="0"/>
              <a:buChar char="-"/>
              <a:defRPr lang="x-none" baseline="0">
                <a:latin typeface="+mn-lt"/>
              </a:defRPr>
            </a:lvl7pPr>
            <a:lvl8pPr marL="749808" indent="-130175" defTabSz="895350" fontAlgn="base">
              <a:spcBef>
                <a:spcPct val="0"/>
              </a:spcBef>
              <a:spcAft>
                <a:spcPct val="0"/>
              </a:spcAft>
              <a:buClr>
                <a:schemeClr val="tx2"/>
              </a:buClr>
              <a:buSzPct val="89000"/>
              <a:buFont typeface="Arial" charset="0"/>
              <a:buChar char="-"/>
              <a:defRPr lang="x-none" baseline="0">
                <a:latin typeface="+mn-lt"/>
              </a:defRPr>
            </a:lvl8pPr>
            <a:lvl9pPr marL="749808" indent="-130175" defTabSz="895350" fontAlgn="base">
              <a:spcBef>
                <a:spcPct val="0"/>
              </a:spcBef>
              <a:spcAft>
                <a:spcPct val="0"/>
              </a:spcAft>
              <a:buClr>
                <a:schemeClr val="tx2"/>
              </a:buClr>
              <a:buSzPct val="89000"/>
              <a:buFont typeface="Arial" charset="0"/>
              <a:buChar char="-"/>
              <a:defRPr lang="x-none" baseline="0">
                <a:latin typeface="+mn-lt"/>
              </a:defRPr>
            </a:lvl9pPr>
          </a:lstStyle>
          <a:p>
            <a:pPr marL="324000" lvl="1" indent="-216000" defTabSz="1193795">
              <a:buFont typeface="Trebuchet MS" panose="020B0603020202020204" pitchFamily="34" charset="0"/>
              <a:buChar char="•"/>
            </a:pPr>
            <a:endParaRPr lang="zh-CN" altLang="en-US">
              <a:latin typeface="Trebuchet MS" panose="020B0603020202020204" pitchFamily="34" charset="0"/>
              <a:ea typeface="微软雅黑" panose="020B0503020204020204" pitchFamily="34" charset="-122"/>
              <a:cs typeface="Arial" panose="020B0604020202020204" pitchFamily="34" charset="0"/>
            </a:endParaRPr>
          </a:p>
        </p:txBody>
      </p:sp>
      <p:sp>
        <p:nvSpPr>
          <p:cNvPr id="26" name="TextBox 25">
            <a:extLst>
              <a:ext uri="{FF2B5EF4-FFF2-40B4-BE49-F238E27FC236}">
                <a16:creationId xmlns:a16="http://schemas.microsoft.com/office/drawing/2014/main" id="{3DAFFBF7-E5DB-D6B7-A086-3494902F7BEF}"/>
              </a:ext>
            </a:extLst>
          </p:cNvPr>
          <p:cNvSpPr txBox="1">
            <a:spLocks/>
          </p:cNvSpPr>
          <p:nvPr/>
        </p:nvSpPr>
        <p:spPr>
          <a:xfrm flipV="1">
            <a:off x="637710" y="4461435"/>
            <a:ext cx="6939662" cy="1188720"/>
          </a:xfrm>
          <a:prstGeom prst="rect">
            <a:avLst/>
          </a:prstGeom>
          <a:solidFill>
            <a:schemeClr val="bg2"/>
          </a:solidFill>
        </p:spPr>
        <p:txBody>
          <a:bodyPr vert="horz" wrap="square" lIns="0" tIns="0" rIns="0" bIns="0" rtlCol="0" anchor="t" anchorCtr="0">
            <a:noAutofit/>
          </a:bodyPr>
          <a:lstStyle>
            <a:lvl1pPr marL="0" lvl="0" indent="0" defTabSz="895350" eaLnBrk="1" latinLnBrk="0" hangingPunct="1">
              <a:buClr>
                <a:schemeClr val="tx2"/>
              </a:buClr>
              <a:buSzPct val="100000"/>
              <a:defRPr lang="x-none" sz="1400" baseline="0">
                <a:latin typeface="+mn-lt"/>
              </a:defRPr>
            </a:lvl1pPr>
            <a:lvl2pPr marL="193675" lvl="1" indent="-192088" defTabSz="895350" eaLnBrk="1" latinLnBrk="0" hangingPunct="1">
              <a:buClr>
                <a:schemeClr val="tx2"/>
              </a:buClr>
              <a:buSzPct val="100000"/>
              <a:buFont typeface="Arial" charset="0"/>
              <a:buChar char="▪"/>
              <a:defRPr lang="x-none" sz="1400" baseline="0">
                <a:latin typeface="+mn-lt"/>
              </a:defRPr>
            </a:lvl2pPr>
            <a:lvl3pPr marL="457200" lvl="2" indent="-261938" defTabSz="895350" eaLnBrk="1" latinLnBrk="0" hangingPunct="1">
              <a:buClr>
                <a:schemeClr val="tx2"/>
              </a:buClr>
              <a:buSzPct val="100000"/>
              <a:buFont typeface="Arial" charset="0"/>
              <a:buChar char="–"/>
              <a:defRPr lang="x-none" sz="1400" baseline="0">
                <a:latin typeface="+mn-lt"/>
              </a:defRPr>
            </a:lvl3pPr>
            <a:lvl4pPr marL="614363" lvl="3" indent="-155575" defTabSz="895350" eaLnBrk="1" latinLnBrk="0" hangingPunct="1">
              <a:buClr>
                <a:schemeClr val="tx2"/>
              </a:buClr>
              <a:buSzPct val="100000"/>
              <a:buFont typeface="Arial" charset="0"/>
              <a:buChar char="▫"/>
              <a:defRPr lang="x-none" sz="1400" baseline="0">
                <a:latin typeface="+mn-lt"/>
              </a:defRPr>
            </a:lvl4pPr>
            <a:lvl5pPr marL="749808" lvl="4" indent="-130175" defTabSz="895350" eaLnBrk="1" latinLnBrk="0" hangingPunct="1">
              <a:buClr>
                <a:schemeClr val="tx2"/>
              </a:buClr>
              <a:buSzPct val="100000"/>
              <a:buFont typeface="Arial" charset="0"/>
              <a:buChar char="-"/>
              <a:defRPr lang="x-none" sz="1400" baseline="0">
                <a:latin typeface="+mn-lt"/>
              </a:defRPr>
            </a:lvl5pPr>
            <a:lvl6pPr marL="749808" indent="-130175" defTabSz="895350" fontAlgn="base">
              <a:spcBef>
                <a:spcPct val="0"/>
              </a:spcBef>
              <a:spcAft>
                <a:spcPct val="0"/>
              </a:spcAft>
              <a:buClr>
                <a:schemeClr val="tx2"/>
              </a:buClr>
              <a:buSzPct val="89000"/>
              <a:buFont typeface="Arial" charset="0"/>
              <a:buChar char="-"/>
              <a:defRPr lang="x-none" baseline="0">
                <a:latin typeface="+mn-lt"/>
              </a:defRPr>
            </a:lvl6pPr>
            <a:lvl7pPr marL="749808" indent="-130175" defTabSz="895350" fontAlgn="base">
              <a:spcBef>
                <a:spcPct val="0"/>
              </a:spcBef>
              <a:spcAft>
                <a:spcPct val="0"/>
              </a:spcAft>
              <a:buClr>
                <a:schemeClr val="tx2"/>
              </a:buClr>
              <a:buSzPct val="89000"/>
              <a:buFont typeface="Arial" charset="0"/>
              <a:buChar char="-"/>
              <a:defRPr lang="x-none" baseline="0">
                <a:latin typeface="+mn-lt"/>
              </a:defRPr>
            </a:lvl7pPr>
            <a:lvl8pPr marL="749808" indent="-130175" defTabSz="895350" fontAlgn="base">
              <a:spcBef>
                <a:spcPct val="0"/>
              </a:spcBef>
              <a:spcAft>
                <a:spcPct val="0"/>
              </a:spcAft>
              <a:buClr>
                <a:schemeClr val="tx2"/>
              </a:buClr>
              <a:buSzPct val="89000"/>
              <a:buFont typeface="Arial" charset="0"/>
              <a:buChar char="-"/>
              <a:defRPr lang="x-none" baseline="0">
                <a:latin typeface="+mn-lt"/>
              </a:defRPr>
            </a:lvl8pPr>
            <a:lvl9pPr marL="749808" indent="-130175" defTabSz="895350" fontAlgn="base">
              <a:spcBef>
                <a:spcPct val="0"/>
              </a:spcBef>
              <a:spcAft>
                <a:spcPct val="0"/>
              </a:spcAft>
              <a:buClr>
                <a:schemeClr val="tx2"/>
              </a:buClr>
              <a:buSzPct val="89000"/>
              <a:buFont typeface="Arial" charset="0"/>
              <a:buChar char="-"/>
              <a:defRPr lang="x-none" baseline="0">
                <a:latin typeface="+mn-lt"/>
              </a:defRPr>
            </a:lvl9pPr>
          </a:lstStyle>
          <a:p>
            <a:pPr marL="324000" lvl="1" indent="-216000" defTabSz="1193795">
              <a:buFont typeface="Trebuchet MS" panose="020B0603020202020204" pitchFamily="34" charset="0"/>
              <a:buChar char="•"/>
            </a:pPr>
            <a:endParaRPr lang="zh-CN" altLang="en-US">
              <a:latin typeface="Trebuchet MS" panose="020B0603020202020204" pitchFamily="34" charset="0"/>
              <a:ea typeface="微软雅黑" panose="020B0503020204020204" pitchFamily="34" charset="-122"/>
              <a:cs typeface="Arial" panose="020B0604020202020204" pitchFamily="34" charset="0"/>
            </a:endParaRPr>
          </a:p>
        </p:txBody>
      </p:sp>
      <p:sp>
        <p:nvSpPr>
          <p:cNvPr id="29" name="Rectangle 28">
            <a:extLst>
              <a:ext uri="{FF2B5EF4-FFF2-40B4-BE49-F238E27FC236}">
                <a16:creationId xmlns:a16="http://schemas.microsoft.com/office/drawing/2014/main" id="{90434E30-2B1E-0C3D-2657-544308BA5750}"/>
              </a:ext>
            </a:extLst>
          </p:cNvPr>
          <p:cNvSpPr/>
          <p:nvPr/>
        </p:nvSpPr>
        <p:spPr>
          <a:xfrm>
            <a:off x="637709" y="1982035"/>
            <a:ext cx="742051" cy="1047967"/>
          </a:xfrm>
          <a:prstGeom prst="rect">
            <a:avLst/>
          </a:prstGeom>
          <a:gradFill flip="none" rotWithShape="1">
            <a:gsLst>
              <a:gs pos="100000">
                <a:schemeClr val="bg1"/>
              </a:gs>
              <a:gs pos="0">
                <a:schemeClr val="accent4">
                  <a:lumMod val="20000"/>
                  <a:lumOff val="80000"/>
                </a:schemeClr>
              </a:gs>
            </a:gsLst>
            <a:lin ang="10800000" scaled="1"/>
            <a:tileRect/>
          </a:gradFill>
          <a:ln w="9525" cap="rnd" cmpd="sng" algn="ctr">
            <a:noFill/>
            <a:prstDash val="solid"/>
            <a:round/>
            <a:headEnd type="none" w="med" len="med"/>
            <a:tailEnd type="none" w="med" len="med"/>
          </a:ln>
          <a:effectLst>
            <a:outerShdw dist="38100" dir="21540000" algn="l" rotWithShape="0">
              <a:schemeClr val="accent4">
                <a:lumMod val="60000"/>
                <a:lumOff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37160" tIns="45720" rIns="91440" bIns="45720" numCol="1" spcCol="0" rtlCol="0" fromWordArt="0" anchor="ctr" anchorCtr="0" forceAA="0" compatLnSpc="1">
            <a:prstTxWarp prst="textNoShape">
              <a:avLst/>
            </a:prstTxWarp>
            <a:noAutofit/>
          </a:bodyPr>
          <a:lstStyle/>
          <a:p>
            <a:pPr algn="ctr">
              <a:defRPr/>
            </a:pPr>
            <a:r>
              <a:rPr lang="zh-CN" altLang="en-US" sz="1600" b="1" i="1">
                <a:gradFill>
                  <a:gsLst>
                    <a:gs pos="0">
                      <a:schemeClr val="accent1"/>
                    </a:gs>
                    <a:gs pos="83000">
                      <a:schemeClr val="accent2"/>
                    </a:gs>
                  </a:gsLst>
                  <a:lin ang="13500000" scaled="1"/>
                </a:gradFill>
                <a:effectLst>
                  <a:glow rad="127000">
                    <a:schemeClr val="bg1"/>
                  </a:glow>
                  <a:outerShdw blurRad="63500" sx="102000" sy="102000" algn="ctr" rotWithShape="0">
                    <a:schemeClr val="accent2">
                      <a:alpha val="40000"/>
                    </a:schemeClr>
                  </a:outerShdw>
                </a:effectLst>
                <a:latin typeface="微软雅黑" panose="020B0503020204020204" pitchFamily="34" charset="-122"/>
                <a:ea typeface="微软雅黑" panose="020B0503020204020204" pitchFamily="34" charset="-122"/>
              </a:rPr>
              <a:t>對的管道</a:t>
            </a:r>
          </a:p>
        </p:txBody>
      </p:sp>
      <p:sp>
        <p:nvSpPr>
          <p:cNvPr id="24" name="矩形 55">
            <a:extLst>
              <a:ext uri="{FF2B5EF4-FFF2-40B4-BE49-F238E27FC236}">
                <a16:creationId xmlns:a16="http://schemas.microsoft.com/office/drawing/2014/main" id="{5394C597-B902-487E-307A-0C24290201A0}"/>
              </a:ext>
            </a:extLst>
          </p:cNvPr>
          <p:cNvSpPr/>
          <p:nvPr/>
        </p:nvSpPr>
        <p:spPr>
          <a:xfrm>
            <a:off x="1379760" y="3268145"/>
            <a:ext cx="6055905" cy="1047967"/>
          </a:xfrm>
          <a:prstGeom prst="rect">
            <a:avLst/>
          </a:prstGeom>
          <a:solidFill>
            <a:srgbClr val="FFFFFF"/>
          </a:solidFill>
          <a:ln w="25400" cap="flat" cmpd="sng" algn="ctr">
            <a:noFill/>
            <a:prstDash val="solid"/>
          </a:ln>
          <a:effectLst>
            <a:outerShdw blurRad="63500" algn="ctr" rotWithShape="0">
              <a:schemeClr val="bg1">
                <a:lumMod val="50000"/>
                <a:alpha val="40000"/>
              </a:schemeClr>
            </a:outerShdw>
          </a:effectLst>
          <a:extLst>
            <a:ext uri="{91240B29-F687-4F45-9708-019B960494DF}">
              <a14:hiddenLine xmlns:a14="http://schemas.microsoft.com/office/drawing/2010/main" w="25400" cap="flat" cmpd="sng" algn="ctr">
                <a:solidFill>
                  <a:schemeClr val="bg1">
                    <a:lumMod val="95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Rectangle 29">
            <a:extLst>
              <a:ext uri="{FF2B5EF4-FFF2-40B4-BE49-F238E27FC236}">
                <a16:creationId xmlns:a16="http://schemas.microsoft.com/office/drawing/2014/main" id="{57C2F691-A782-0137-9650-DF82D2EEA245}"/>
              </a:ext>
            </a:extLst>
          </p:cNvPr>
          <p:cNvSpPr/>
          <p:nvPr/>
        </p:nvSpPr>
        <p:spPr>
          <a:xfrm>
            <a:off x="637709" y="3268146"/>
            <a:ext cx="742051" cy="1047967"/>
          </a:xfrm>
          <a:prstGeom prst="rect">
            <a:avLst/>
          </a:prstGeom>
          <a:gradFill flip="none" rotWithShape="1">
            <a:gsLst>
              <a:gs pos="100000">
                <a:schemeClr val="bg1"/>
              </a:gs>
              <a:gs pos="0">
                <a:schemeClr val="accent4">
                  <a:lumMod val="20000"/>
                  <a:lumOff val="80000"/>
                </a:schemeClr>
              </a:gs>
            </a:gsLst>
            <a:lin ang="10800000" scaled="1"/>
            <a:tileRect/>
          </a:gradFill>
          <a:ln w="9525" cap="rnd" cmpd="sng" algn="ctr">
            <a:noFill/>
            <a:prstDash val="solid"/>
            <a:round/>
            <a:headEnd type="none" w="med" len="med"/>
            <a:tailEnd type="none" w="med" len="med"/>
          </a:ln>
          <a:effectLst>
            <a:outerShdw dist="38100" dir="21540000" algn="l" rotWithShape="0">
              <a:schemeClr val="accent4">
                <a:lumMod val="60000"/>
                <a:lumOff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37160" tIns="45720" rIns="91440" bIns="45720" numCol="1" spcCol="0" rtlCol="0" fromWordArt="0" anchor="ctr" anchorCtr="0" forceAA="0" compatLnSpc="1">
            <a:prstTxWarp prst="textNoShape">
              <a:avLst/>
            </a:prstTxWarp>
            <a:noAutofit/>
          </a:bodyPr>
          <a:lstStyle/>
          <a:p>
            <a:pPr algn="ctr">
              <a:defRPr/>
            </a:pPr>
            <a:r>
              <a:rPr lang="zh-CN" altLang="en-US" sz="1600" b="1" i="1">
                <a:gradFill>
                  <a:gsLst>
                    <a:gs pos="0">
                      <a:schemeClr val="accent1"/>
                    </a:gs>
                    <a:gs pos="83000">
                      <a:schemeClr val="accent2"/>
                    </a:gs>
                  </a:gsLst>
                  <a:lin ang="13500000" scaled="1"/>
                </a:gradFill>
                <a:effectLst>
                  <a:glow rad="127000">
                    <a:schemeClr val="bg1"/>
                  </a:glow>
                  <a:outerShdw blurRad="63500" sx="102000" sy="102000" algn="ctr" rotWithShape="0">
                    <a:schemeClr val="accent2">
                      <a:alpha val="40000"/>
                    </a:schemeClr>
                  </a:outerShdw>
                </a:effectLst>
                <a:latin typeface="微软雅黑" panose="020B0503020204020204" pitchFamily="34" charset="-122"/>
                <a:ea typeface="微软雅黑" panose="020B0503020204020204" pitchFamily="34" charset="-122"/>
              </a:rPr>
              <a:t>對的時間</a:t>
            </a:r>
          </a:p>
        </p:txBody>
      </p:sp>
      <p:sp>
        <p:nvSpPr>
          <p:cNvPr id="28" name="矩形 55">
            <a:extLst>
              <a:ext uri="{FF2B5EF4-FFF2-40B4-BE49-F238E27FC236}">
                <a16:creationId xmlns:a16="http://schemas.microsoft.com/office/drawing/2014/main" id="{07F4AFD8-930D-87A8-37EE-22ADDB1A6C8D}"/>
              </a:ext>
            </a:extLst>
          </p:cNvPr>
          <p:cNvSpPr/>
          <p:nvPr/>
        </p:nvSpPr>
        <p:spPr>
          <a:xfrm>
            <a:off x="1379760" y="4533216"/>
            <a:ext cx="6055905" cy="1047967"/>
          </a:xfrm>
          <a:prstGeom prst="rect">
            <a:avLst/>
          </a:prstGeom>
          <a:solidFill>
            <a:srgbClr val="FFFFFF"/>
          </a:solidFill>
          <a:ln w="25400" cap="flat" cmpd="sng" algn="ctr">
            <a:noFill/>
            <a:prstDash val="solid"/>
          </a:ln>
          <a:effectLst>
            <a:outerShdw blurRad="63500" algn="ctr" rotWithShape="0">
              <a:schemeClr val="bg1">
                <a:lumMod val="50000"/>
                <a:alpha val="40000"/>
              </a:schemeClr>
            </a:outerShdw>
          </a:effectLst>
          <a:extLst>
            <a:ext uri="{91240B29-F687-4F45-9708-019B960494DF}">
              <a14:hiddenLine xmlns:a14="http://schemas.microsoft.com/office/drawing/2010/main" w="25400" cap="flat" cmpd="sng" algn="ctr">
                <a:solidFill>
                  <a:schemeClr val="bg1">
                    <a:lumMod val="95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Rectangle 30">
            <a:extLst>
              <a:ext uri="{FF2B5EF4-FFF2-40B4-BE49-F238E27FC236}">
                <a16:creationId xmlns:a16="http://schemas.microsoft.com/office/drawing/2014/main" id="{9C6B8A19-ABF2-B6DA-BD6B-B0ED6427B9D0}"/>
              </a:ext>
            </a:extLst>
          </p:cNvPr>
          <p:cNvSpPr/>
          <p:nvPr/>
        </p:nvSpPr>
        <p:spPr>
          <a:xfrm>
            <a:off x="637709" y="4533217"/>
            <a:ext cx="742051" cy="1047967"/>
          </a:xfrm>
          <a:prstGeom prst="rect">
            <a:avLst/>
          </a:prstGeom>
          <a:gradFill flip="none" rotWithShape="1">
            <a:gsLst>
              <a:gs pos="100000">
                <a:schemeClr val="bg1"/>
              </a:gs>
              <a:gs pos="0">
                <a:schemeClr val="accent4">
                  <a:lumMod val="20000"/>
                  <a:lumOff val="80000"/>
                </a:schemeClr>
              </a:gs>
            </a:gsLst>
            <a:lin ang="10800000" scaled="1"/>
            <a:tileRect/>
          </a:gradFill>
          <a:ln w="9525" cap="rnd" cmpd="sng" algn="ctr">
            <a:noFill/>
            <a:prstDash val="solid"/>
            <a:round/>
            <a:headEnd type="none" w="med" len="med"/>
            <a:tailEnd type="none" w="med" len="med"/>
          </a:ln>
          <a:effectLst>
            <a:outerShdw dist="38100" dir="21540000" algn="l" rotWithShape="0">
              <a:schemeClr val="accent4">
                <a:lumMod val="60000"/>
                <a:lumOff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37160" tIns="45720" rIns="91440" bIns="45720" numCol="1" spcCol="0" rtlCol="0" fromWordArt="0" anchor="ctr" anchorCtr="0" forceAA="0" compatLnSpc="1">
            <a:prstTxWarp prst="textNoShape">
              <a:avLst/>
            </a:prstTxWarp>
            <a:noAutofit/>
          </a:bodyPr>
          <a:lstStyle/>
          <a:p>
            <a:pPr algn="ctr">
              <a:defRPr/>
            </a:pPr>
            <a:r>
              <a:rPr lang="zh-CN" altLang="en-US" sz="1600" b="1" i="1">
                <a:gradFill>
                  <a:gsLst>
                    <a:gs pos="0">
                      <a:schemeClr val="accent1"/>
                    </a:gs>
                    <a:gs pos="83000">
                      <a:schemeClr val="accent2"/>
                    </a:gs>
                  </a:gsLst>
                  <a:lin ang="13500000" scaled="1"/>
                </a:gradFill>
                <a:effectLst>
                  <a:glow rad="127000">
                    <a:schemeClr val="bg1"/>
                  </a:glow>
                  <a:outerShdw blurRad="63500" sx="102000" sy="102000" algn="ctr" rotWithShape="0">
                    <a:schemeClr val="accent2">
                      <a:alpha val="40000"/>
                    </a:schemeClr>
                  </a:outerShdw>
                </a:effectLst>
                <a:latin typeface="微软雅黑" panose="020B0503020204020204" pitchFamily="34" charset="-122"/>
                <a:ea typeface="微软雅黑" panose="020B0503020204020204" pitchFamily="34" charset="-122"/>
              </a:rPr>
              <a:t>對的體驗</a:t>
            </a:r>
          </a:p>
        </p:txBody>
      </p:sp>
      <p:sp>
        <p:nvSpPr>
          <p:cNvPr id="35" name="object 30">
            <a:extLst>
              <a:ext uri="{FF2B5EF4-FFF2-40B4-BE49-F238E27FC236}">
                <a16:creationId xmlns:a16="http://schemas.microsoft.com/office/drawing/2014/main" id="{4631BD5F-80EC-809C-859B-CB3EFDB71745}"/>
              </a:ext>
            </a:extLst>
          </p:cNvPr>
          <p:cNvSpPr txBox="1"/>
          <p:nvPr/>
        </p:nvSpPr>
        <p:spPr>
          <a:xfrm>
            <a:off x="2165578" y="2795137"/>
            <a:ext cx="501229" cy="197490"/>
          </a:xfrm>
          <a:prstGeom prst="rect">
            <a:avLst/>
          </a:prstGeom>
        </p:spPr>
        <p:txBody>
          <a:bodyPr vert="horz" wrap="square" lIns="0" tIns="12700" rIns="0" bIns="0" rtlCol="0">
            <a:spAutoFit/>
          </a:bodyPr>
          <a:lstStyle>
            <a:defPPr>
              <a:defRPr lang="en-US"/>
            </a:defPPr>
            <a:lvl1pPr marL="12700" marR="5080" indent="-12700" algn="ctr">
              <a:lnSpc>
                <a:spcPct val="100000"/>
              </a:lnSpc>
              <a:spcBef>
                <a:spcPts val="100"/>
              </a:spcBef>
              <a:defRPr sz="1200" i="1" spc="-20">
                <a:solidFill>
                  <a:srgbClr val="414042"/>
                </a:solidFill>
                <a:latin typeface="Trebuchet MS"/>
                <a:ea typeface="Microsoft YaHei" panose="020B0503020204020204" pitchFamily="34" charset="-122"/>
                <a:cs typeface="Trebuchet MS"/>
              </a:defRPr>
            </a:lvl1pPr>
          </a:lstStyle>
          <a:p>
            <a:r>
              <a:rPr lang="zh-TW" altLang="en-US" i="0"/>
              <a:t>手機</a:t>
            </a:r>
            <a:endParaRPr i="0"/>
          </a:p>
        </p:txBody>
      </p:sp>
      <p:sp>
        <p:nvSpPr>
          <p:cNvPr id="36" name="object 31">
            <a:extLst>
              <a:ext uri="{FF2B5EF4-FFF2-40B4-BE49-F238E27FC236}">
                <a16:creationId xmlns:a16="http://schemas.microsoft.com/office/drawing/2014/main" id="{79FE969F-6997-43B1-A123-3DF133B85B8A}"/>
              </a:ext>
            </a:extLst>
          </p:cNvPr>
          <p:cNvSpPr txBox="1"/>
          <p:nvPr/>
        </p:nvSpPr>
        <p:spPr>
          <a:xfrm>
            <a:off x="1583505" y="2795137"/>
            <a:ext cx="335500" cy="197490"/>
          </a:xfrm>
          <a:prstGeom prst="rect">
            <a:avLst/>
          </a:prstGeom>
        </p:spPr>
        <p:txBody>
          <a:bodyPr vert="horz" wrap="square" lIns="0" tIns="12700" rIns="0" bIns="0" rtlCol="0">
            <a:spAutoFit/>
          </a:bodyPr>
          <a:lstStyle>
            <a:defPPr>
              <a:defRPr lang="en-US"/>
            </a:defPPr>
            <a:lvl1pPr marL="12700" marR="5080" indent="-12700" algn="ctr">
              <a:lnSpc>
                <a:spcPct val="100000"/>
              </a:lnSpc>
              <a:spcBef>
                <a:spcPts val="100"/>
              </a:spcBef>
              <a:defRPr sz="1200" i="1" spc="-20">
                <a:solidFill>
                  <a:srgbClr val="414042"/>
                </a:solidFill>
                <a:latin typeface="Trebuchet MS"/>
                <a:ea typeface="Microsoft YaHei" panose="020B0503020204020204" pitchFamily="34" charset="-122"/>
                <a:cs typeface="Trebuchet MS"/>
              </a:defRPr>
            </a:lvl1pPr>
          </a:lstStyle>
          <a:p>
            <a:r>
              <a:rPr lang="zh-TW" altLang="en-US" i="0"/>
              <a:t>網站</a:t>
            </a:r>
            <a:endParaRPr i="0"/>
          </a:p>
        </p:txBody>
      </p:sp>
      <p:sp>
        <p:nvSpPr>
          <p:cNvPr id="37" name="object 32">
            <a:extLst>
              <a:ext uri="{FF2B5EF4-FFF2-40B4-BE49-F238E27FC236}">
                <a16:creationId xmlns:a16="http://schemas.microsoft.com/office/drawing/2014/main" id="{94EAF825-BF68-60E2-C660-685D38852F74}"/>
              </a:ext>
            </a:extLst>
          </p:cNvPr>
          <p:cNvSpPr txBox="1"/>
          <p:nvPr/>
        </p:nvSpPr>
        <p:spPr>
          <a:xfrm>
            <a:off x="4017700" y="2795137"/>
            <a:ext cx="786605" cy="197490"/>
          </a:xfrm>
          <a:prstGeom prst="rect">
            <a:avLst/>
          </a:prstGeom>
        </p:spPr>
        <p:txBody>
          <a:bodyPr vert="horz" wrap="square" lIns="0" tIns="12700" rIns="0" bIns="0" rtlCol="0">
            <a:spAutoFit/>
          </a:bodyPr>
          <a:lstStyle>
            <a:defPPr>
              <a:defRPr lang="en-US"/>
            </a:defPPr>
            <a:lvl1pPr marL="12700" marR="5080" indent="-12700" algn="ctr">
              <a:lnSpc>
                <a:spcPct val="100000"/>
              </a:lnSpc>
              <a:spcBef>
                <a:spcPts val="100"/>
              </a:spcBef>
              <a:defRPr sz="1200" i="1" spc="-20">
                <a:solidFill>
                  <a:srgbClr val="414042"/>
                </a:solidFill>
                <a:latin typeface="Trebuchet MS"/>
                <a:ea typeface="Microsoft YaHei" panose="020B0503020204020204" pitchFamily="34" charset="-122"/>
                <a:cs typeface="Trebuchet MS"/>
              </a:defRPr>
            </a:lvl1pPr>
          </a:lstStyle>
          <a:p>
            <a:r>
              <a:rPr lang="zh-TW" altLang="en-US" i="0"/>
              <a:t>廣告</a:t>
            </a:r>
            <a:endParaRPr i="0"/>
          </a:p>
        </p:txBody>
      </p:sp>
      <p:sp>
        <p:nvSpPr>
          <p:cNvPr id="38" name="object 33">
            <a:extLst>
              <a:ext uri="{FF2B5EF4-FFF2-40B4-BE49-F238E27FC236}">
                <a16:creationId xmlns:a16="http://schemas.microsoft.com/office/drawing/2014/main" id="{64466283-415F-8BE9-59B0-00C7ADF8F576}"/>
              </a:ext>
            </a:extLst>
          </p:cNvPr>
          <p:cNvSpPr txBox="1"/>
          <p:nvPr/>
        </p:nvSpPr>
        <p:spPr>
          <a:xfrm>
            <a:off x="5490263" y="2795137"/>
            <a:ext cx="501229" cy="197490"/>
          </a:xfrm>
          <a:prstGeom prst="rect">
            <a:avLst/>
          </a:prstGeom>
        </p:spPr>
        <p:txBody>
          <a:bodyPr vert="horz" wrap="square" lIns="0" tIns="12700" rIns="0" bIns="0" rtlCol="0">
            <a:spAutoFit/>
          </a:bodyPr>
          <a:lstStyle>
            <a:defPPr>
              <a:defRPr lang="en-US"/>
            </a:defPPr>
            <a:lvl1pPr marL="12700" marR="5080" indent="-12700" algn="ctr">
              <a:lnSpc>
                <a:spcPct val="100000"/>
              </a:lnSpc>
              <a:spcBef>
                <a:spcPts val="100"/>
              </a:spcBef>
              <a:defRPr sz="1200" i="1" spc="-20">
                <a:solidFill>
                  <a:srgbClr val="414042"/>
                </a:solidFill>
                <a:latin typeface="Trebuchet MS"/>
                <a:ea typeface="Microsoft YaHei" panose="020B0503020204020204" pitchFamily="34" charset="-122"/>
                <a:cs typeface="Trebuchet MS"/>
              </a:defRPr>
            </a:lvl1pPr>
          </a:lstStyle>
          <a:p>
            <a:r>
              <a:rPr lang="zh-TW" altLang="en-US" i="0"/>
              <a:t>電銷</a:t>
            </a:r>
            <a:endParaRPr i="0"/>
          </a:p>
        </p:txBody>
      </p:sp>
      <p:sp>
        <p:nvSpPr>
          <p:cNvPr id="39" name="object 34">
            <a:extLst>
              <a:ext uri="{FF2B5EF4-FFF2-40B4-BE49-F238E27FC236}">
                <a16:creationId xmlns:a16="http://schemas.microsoft.com/office/drawing/2014/main" id="{6AC0B347-C353-D1F8-A77D-FB1B9C14BFDF}"/>
              </a:ext>
            </a:extLst>
          </p:cNvPr>
          <p:cNvSpPr txBox="1"/>
          <p:nvPr/>
        </p:nvSpPr>
        <p:spPr>
          <a:xfrm>
            <a:off x="4719018" y="2795137"/>
            <a:ext cx="713846" cy="197490"/>
          </a:xfrm>
          <a:prstGeom prst="rect">
            <a:avLst/>
          </a:prstGeom>
        </p:spPr>
        <p:txBody>
          <a:bodyPr vert="horz" wrap="square" lIns="0" tIns="12700" rIns="0" bIns="0" rtlCol="0">
            <a:spAutoFit/>
          </a:bodyPr>
          <a:lstStyle>
            <a:defPPr>
              <a:defRPr lang="en-US"/>
            </a:defPPr>
            <a:lvl1pPr marL="12700" marR="5080" indent="-12700" algn="ctr">
              <a:lnSpc>
                <a:spcPct val="100000"/>
              </a:lnSpc>
              <a:spcBef>
                <a:spcPts val="100"/>
              </a:spcBef>
              <a:defRPr sz="1200" i="1" spc="-20">
                <a:solidFill>
                  <a:srgbClr val="414042"/>
                </a:solidFill>
                <a:latin typeface="Trebuchet MS"/>
                <a:ea typeface="Microsoft YaHei" panose="020B0503020204020204" pitchFamily="34" charset="-122"/>
                <a:cs typeface="Trebuchet MS"/>
              </a:defRPr>
            </a:lvl1pPr>
          </a:lstStyle>
          <a:p>
            <a:r>
              <a:rPr lang="zh-TW" altLang="en-US" i="0"/>
              <a:t>社群媒體</a:t>
            </a:r>
            <a:endParaRPr i="0"/>
          </a:p>
        </p:txBody>
      </p:sp>
      <p:sp>
        <p:nvSpPr>
          <p:cNvPr id="40" name="object 35">
            <a:extLst>
              <a:ext uri="{FF2B5EF4-FFF2-40B4-BE49-F238E27FC236}">
                <a16:creationId xmlns:a16="http://schemas.microsoft.com/office/drawing/2014/main" id="{EB0663DE-62F3-DE56-357C-0EB1F84672FF}"/>
              </a:ext>
            </a:extLst>
          </p:cNvPr>
          <p:cNvSpPr txBox="1"/>
          <p:nvPr/>
        </p:nvSpPr>
        <p:spPr>
          <a:xfrm>
            <a:off x="3407400" y="2795137"/>
            <a:ext cx="677333" cy="197490"/>
          </a:xfrm>
          <a:prstGeom prst="rect">
            <a:avLst/>
          </a:prstGeom>
        </p:spPr>
        <p:txBody>
          <a:bodyPr vert="horz" wrap="square" lIns="0" tIns="12700" rIns="0" bIns="0" rtlCol="0">
            <a:spAutoFit/>
          </a:bodyPr>
          <a:lstStyle>
            <a:defPPr>
              <a:defRPr lang="en-US"/>
            </a:defPPr>
            <a:lvl1pPr marL="12700" marR="5080" indent="-12700" algn="ctr">
              <a:lnSpc>
                <a:spcPct val="100000"/>
              </a:lnSpc>
              <a:spcBef>
                <a:spcPts val="100"/>
              </a:spcBef>
              <a:defRPr sz="1200" i="1" spc="-20">
                <a:solidFill>
                  <a:srgbClr val="414042"/>
                </a:solidFill>
                <a:latin typeface="Trebuchet MS"/>
                <a:ea typeface="Microsoft YaHei" panose="020B0503020204020204" pitchFamily="34" charset="-122"/>
                <a:cs typeface="Trebuchet MS"/>
              </a:defRPr>
            </a:lvl1pPr>
          </a:lstStyle>
          <a:p>
            <a:r>
              <a:rPr lang="zh-TW" altLang="en-US" i="0"/>
              <a:t>電子郵件</a:t>
            </a:r>
            <a:endParaRPr i="0"/>
          </a:p>
        </p:txBody>
      </p:sp>
      <p:sp>
        <p:nvSpPr>
          <p:cNvPr id="41" name="object 36">
            <a:extLst>
              <a:ext uri="{FF2B5EF4-FFF2-40B4-BE49-F238E27FC236}">
                <a16:creationId xmlns:a16="http://schemas.microsoft.com/office/drawing/2014/main" id="{2D6A5B12-336F-D8D0-CE8C-57E46895CBF7}"/>
              </a:ext>
            </a:extLst>
          </p:cNvPr>
          <p:cNvSpPr txBox="1"/>
          <p:nvPr/>
        </p:nvSpPr>
        <p:spPr>
          <a:xfrm>
            <a:off x="6155200" y="2795137"/>
            <a:ext cx="501229" cy="197490"/>
          </a:xfrm>
          <a:prstGeom prst="rect">
            <a:avLst/>
          </a:prstGeom>
        </p:spPr>
        <p:txBody>
          <a:bodyPr vert="horz" wrap="square" lIns="0" tIns="12700" rIns="0" bIns="0" rtlCol="0">
            <a:spAutoFit/>
          </a:bodyPr>
          <a:lstStyle/>
          <a:p>
            <a:pPr marL="12700" marR="5080" indent="-12700" algn="ctr">
              <a:lnSpc>
                <a:spcPct val="100000"/>
              </a:lnSpc>
              <a:spcBef>
                <a:spcPts val="100"/>
              </a:spcBef>
            </a:pPr>
            <a:r>
              <a:rPr lang="zh-TW" altLang="en-US" sz="1200" spc="-20">
                <a:solidFill>
                  <a:srgbClr val="414042"/>
                </a:solidFill>
                <a:latin typeface="Trebuchet MS"/>
                <a:ea typeface="Microsoft YaHei" panose="020B0503020204020204" pitchFamily="34" charset="-122"/>
                <a:cs typeface="Trebuchet MS"/>
              </a:rPr>
              <a:t>電話</a:t>
            </a:r>
            <a:endParaRPr sz="1200">
              <a:latin typeface="Trebuchet MS"/>
              <a:ea typeface="Microsoft YaHei" panose="020B0503020204020204" pitchFamily="34" charset="-122"/>
              <a:cs typeface="Trebuchet MS"/>
            </a:endParaRPr>
          </a:p>
        </p:txBody>
      </p:sp>
      <p:sp>
        <p:nvSpPr>
          <p:cNvPr id="42" name="object 37">
            <a:extLst>
              <a:ext uri="{FF2B5EF4-FFF2-40B4-BE49-F238E27FC236}">
                <a16:creationId xmlns:a16="http://schemas.microsoft.com/office/drawing/2014/main" id="{EA34EE10-032A-63FF-9E27-CF768D15EADD}"/>
              </a:ext>
            </a:extLst>
          </p:cNvPr>
          <p:cNvSpPr txBox="1"/>
          <p:nvPr/>
        </p:nvSpPr>
        <p:spPr>
          <a:xfrm>
            <a:off x="2749402" y="2795137"/>
            <a:ext cx="663454" cy="197490"/>
          </a:xfrm>
          <a:prstGeom prst="rect">
            <a:avLst/>
          </a:prstGeom>
        </p:spPr>
        <p:txBody>
          <a:bodyPr vert="horz" wrap="square" lIns="0" tIns="12700" rIns="0" bIns="0" rtlCol="0">
            <a:spAutoFit/>
          </a:bodyPr>
          <a:lstStyle>
            <a:defPPr>
              <a:defRPr lang="en-US"/>
            </a:defPPr>
            <a:lvl1pPr marL="12700" marR="5080" indent="-12700" algn="ctr">
              <a:lnSpc>
                <a:spcPct val="100000"/>
              </a:lnSpc>
              <a:spcBef>
                <a:spcPts val="100"/>
              </a:spcBef>
              <a:defRPr sz="1200" i="1" spc="-20">
                <a:solidFill>
                  <a:srgbClr val="414042"/>
                </a:solidFill>
                <a:latin typeface="Trebuchet MS"/>
                <a:ea typeface="Microsoft YaHei" panose="020B0503020204020204" pitchFamily="34" charset="-122"/>
                <a:cs typeface="Trebuchet MS"/>
              </a:defRPr>
            </a:lvl1pPr>
          </a:lstStyle>
          <a:p>
            <a:r>
              <a:rPr lang="zh-TW" altLang="en-US" i="0"/>
              <a:t>推播通知</a:t>
            </a:r>
            <a:endParaRPr i="0"/>
          </a:p>
        </p:txBody>
      </p:sp>
      <p:sp>
        <p:nvSpPr>
          <p:cNvPr id="43" name="object 39">
            <a:extLst>
              <a:ext uri="{FF2B5EF4-FFF2-40B4-BE49-F238E27FC236}">
                <a16:creationId xmlns:a16="http://schemas.microsoft.com/office/drawing/2014/main" id="{5EACB368-431A-DB4B-4C44-4C6E71FF4BD4}"/>
              </a:ext>
            </a:extLst>
          </p:cNvPr>
          <p:cNvSpPr txBox="1"/>
          <p:nvPr/>
        </p:nvSpPr>
        <p:spPr>
          <a:xfrm>
            <a:off x="6820136" y="2795137"/>
            <a:ext cx="501229" cy="197490"/>
          </a:xfrm>
          <a:prstGeom prst="rect">
            <a:avLst/>
          </a:prstGeom>
        </p:spPr>
        <p:txBody>
          <a:bodyPr vert="horz" wrap="square" lIns="0" tIns="12700" rIns="0" bIns="0" rtlCol="0">
            <a:spAutoFit/>
          </a:bodyPr>
          <a:lstStyle>
            <a:defPPr>
              <a:defRPr lang="en-US"/>
            </a:defPPr>
            <a:lvl1pPr marL="12700" marR="5080" indent="-12700" algn="ctr">
              <a:lnSpc>
                <a:spcPct val="100000"/>
              </a:lnSpc>
              <a:spcBef>
                <a:spcPts val="100"/>
              </a:spcBef>
              <a:defRPr sz="1200" i="1" spc="-20">
                <a:solidFill>
                  <a:srgbClr val="414042"/>
                </a:solidFill>
                <a:latin typeface="Trebuchet MS"/>
                <a:ea typeface="Microsoft YaHei" panose="020B0503020204020204" pitchFamily="34" charset="-122"/>
                <a:cs typeface="Trebuchet MS"/>
              </a:defRPr>
            </a:lvl1pPr>
          </a:lstStyle>
          <a:p>
            <a:r>
              <a:rPr lang="zh-TW" altLang="en-US" i="0"/>
              <a:t>分行</a:t>
            </a:r>
            <a:endParaRPr i="0"/>
          </a:p>
        </p:txBody>
      </p:sp>
      <p:sp>
        <p:nvSpPr>
          <p:cNvPr id="56" name="TextBox 55">
            <a:extLst>
              <a:ext uri="{FF2B5EF4-FFF2-40B4-BE49-F238E27FC236}">
                <a16:creationId xmlns:a16="http://schemas.microsoft.com/office/drawing/2014/main" id="{6D09B26C-E108-53B0-81FC-BB4F13A5899E}"/>
              </a:ext>
            </a:extLst>
          </p:cNvPr>
          <p:cNvSpPr txBox="1"/>
          <p:nvPr/>
        </p:nvSpPr>
        <p:spPr>
          <a:xfrm>
            <a:off x="4244675" y="1990826"/>
            <a:ext cx="359073" cy="30777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45720" rIns="0" bIns="45720" numCol="1" spcCol="0" rtlCol="0" fromWordArt="0" anchor="ctr" anchorCtr="0" forceAA="0" compatLnSpc="1">
            <a:prstTxWarp prst="textNoShape">
              <a:avLst/>
            </a:prstTxWarp>
            <a:spAutoFit/>
          </a:bodyPr>
          <a:lstStyle/>
          <a:p>
            <a:pPr algn="ctr"/>
            <a:r>
              <a:rPr lang="zh-CN" altLang="en-US" sz="1400" b="1">
                <a:gradFill flip="none" rotWithShape="1">
                  <a:gsLst>
                    <a:gs pos="0">
                      <a:schemeClr val="accent4">
                        <a:shade val="30000"/>
                        <a:satMod val="115000"/>
                      </a:schemeClr>
                    </a:gs>
                    <a:gs pos="50000">
                      <a:schemeClr val="accent4">
                        <a:shade val="67500"/>
                        <a:satMod val="115000"/>
                      </a:schemeClr>
                    </a:gs>
                    <a:gs pos="100000">
                      <a:schemeClr val="accent4">
                        <a:shade val="100000"/>
                        <a:satMod val="115000"/>
                      </a:schemeClr>
                    </a:gs>
                  </a:gsLst>
                  <a:lin ang="16200000" scaled="1"/>
                  <a:tileRect/>
                </a:gradFill>
                <a:effectLst>
                  <a:glow rad="101600">
                    <a:schemeClr val="bg1"/>
                  </a:glow>
                </a:effectLst>
                <a:cs typeface="+mn-ea"/>
              </a:rPr>
              <a:t>管道</a:t>
            </a:r>
            <a:endParaRPr lang="en-US" sz="1400" b="1">
              <a:gradFill flip="none" rotWithShape="1">
                <a:gsLst>
                  <a:gs pos="0">
                    <a:schemeClr val="accent4">
                      <a:shade val="30000"/>
                      <a:satMod val="115000"/>
                    </a:schemeClr>
                  </a:gs>
                  <a:gs pos="50000">
                    <a:schemeClr val="accent4">
                      <a:shade val="67500"/>
                      <a:satMod val="115000"/>
                    </a:schemeClr>
                  </a:gs>
                  <a:gs pos="100000">
                    <a:schemeClr val="accent4">
                      <a:shade val="100000"/>
                      <a:satMod val="115000"/>
                    </a:schemeClr>
                  </a:gs>
                </a:gsLst>
                <a:lin ang="16200000" scaled="1"/>
                <a:tileRect/>
              </a:gradFill>
              <a:effectLst>
                <a:glow rad="101600">
                  <a:schemeClr val="bg1"/>
                </a:glow>
              </a:effectLst>
              <a:cs typeface="+mn-ea"/>
            </a:endParaRPr>
          </a:p>
        </p:txBody>
      </p:sp>
      <p:cxnSp>
        <p:nvCxnSpPr>
          <p:cNvPr id="58" name="Straight Connector 57">
            <a:extLst>
              <a:ext uri="{FF2B5EF4-FFF2-40B4-BE49-F238E27FC236}">
                <a16:creationId xmlns:a16="http://schemas.microsoft.com/office/drawing/2014/main" id="{28A2FB02-1B7C-C5CC-042A-599F48D14403}"/>
              </a:ext>
            </a:extLst>
          </p:cNvPr>
          <p:cNvCxnSpPr>
            <a:cxnSpLocks/>
          </p:cNvCxnSpPr>
          <p:nvPr/>
        </p:nvCxnSpPr>
        <p:spPr>
          <a:xfrm>
            <a:off x="4889454" y="2144715"/>
            <a:ext cx="2343011" cy="0"/>
          </a:xfrm>
          <a:prstGeom prst="line">
            <a:avLst/>
          </a:prstGeom>
          <a:ln w="9525" cap="rnd">
            <a:gradFill flip="none" rotWithShape="1">
              <a:gsLst>
                <a:gs pos="0">
                  <a:schemeClr val="accent4"/>
                </a:gs>
                <a:gs pos="100000">
                  <a:schemeClr val="bg1"/>
                </a:gs>
              </a:gsLst>
              <a:lin ang="0" scaled="1"/>
              <a:tileRect/>
            </a:gradFill>
            <a:prstDash val="solid"/>
            <a:round/>
            <a:headEnd type="diamond"/>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812E188E-D79C-8F65-25E6-EEE47BDE22A0}"/>
              </a:ext>
            </a:extLst>
          </p:cNvPr>
          <p:cNvCxnSpPr>
            <a:cxnSpLocks/>
          </p:cNvCxnSpPr>
          <p:nvPr/>
        </p:nvCxnSpPr>
        <p:spPr>
          <a:xfrm flipH="1">
            <a:off x="1622390" y="2144715"/>
            <a:ext cx="2336578" cy="0"/>
          </a:xfrm>
          <a:prstGeom prst="line">
            <a:avLst/>
          </a:prstGeom>
          <a:ln w="9525" cap="rnd">
            <a:gradFill flip="none" rotWithShape="1">
              <a:gsLst>
                <a:gs pos="0">
                  <a:schemeClr val="accent4"/>
                </a:gs>
                <a:gs pos="100000">
                  <a:schemeClr val="bg1"/>
                </a:gs>
              </a:gsLst>
              <a:lin ang="0" scaled="1"/>
              <a:tileRect/>
            </a:gradFill>
            <a:prstDash val="solid"/>
            <a:round/>
            <a:headEnd type="diamond"/>
          </a:ln>
        </p:spPr>
        <p:style>
          <a:lnRef idx="1">
            <a:schemeClr val="accent1"/>
          </a:lnRef>
          <a:fillRef idx="0">
            <a:schemeClr val="accent1"/>
          </a:fillRef>
          <a:effectRef idx="0">
            <a:schemeClr val="accent1"/>
          </a:effectRef>
          <a:fontRef idx="minor">
            <a:schemeClr val="tx1"/>
          </a:fontRef>
        </p:style>
      </p:cxnSp>
      <p:grpSp>
        <p:nvGrpSpPr>
          <p:cNvPr id="63" name="Group 62">
            <a:extLst>
              <a:ext uri="{FF2B5EF4-FFF2-40B4-BE49-F238E27FC236}">
                <a16:creationId xmlns:a16="http://schemas.microsoft.com/office/drawing/2014/main" id="{8C851809-7DAB-B59B-BB3F-3E6E0871DB81}"/>
              </a:ext>
            </a:extLst>
          </p:cNvPr>
          <p:cNvGrpSpPr/>
          <p:nvPr/>
        </p:nvGrpSpPr>
        <p:grpSpPr>
          <a:xfrm>
            <a:off x="1457160" y="3279469"/>
            <a:ext cx="2627568" cy="307777"/>
            <a:chOff x="2701853" y="3776084"/>
            <a:chExt cx="4118186" cy="307777"/>
          </a:xfrm>
        </p:grpSpPr>
        <p:sp>
          <p:nvSpPr>
            <p:cNvPr id="60" name="TextBox 59">
              <a:extLst>
                <a:ext uri="{FF2B5EF4-FFF2-40B4-BE49-F238E27FC236}">
                  <a16:creationId xmlns:a16="http://schemas.microsoft.com/office/drawing/2014/main" id="{D54D8D40-D408-907F-A971-672CA10A0244}"/>
                </a:ext>
              </a:extLst>
            </p:cNvPr>
            <p:cNvSpPr txBox="1"/>
            <p:nvPr/>
          </p:nvSpPr>
          <p:spPr>
            <a:xfrm>
              <a:off x="4486017" y="3776084"/>
              <a:ext cx="549857" cy="30777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45720" rIns="0" bIns="45720" numCol="1" spcCol="0" rtlCol="0" fromWordArt="0" anchor="ctr" anchorCtr="0" forceAA="0" compatLnSpc="1">
              <a:prstTxWarp prst="textNoShape">
                <a:avLst/>
              </a:prstTxWarp>
              <a:spAutoFit/>
            </a:bodyPr>
            <a:lstStyle/>
            <a:p>
              <a:pPr algn="ctr"/>
              <a:r>
                <a:rPr lang="zh-CN" altLang="en-US" sz="1400" b="1">
                  <a:gradFill flip="none" rotWithShape="1">
                    <a:gsLst>
                      <a:gs pos="0">
                        <a:schemeClr val="accent4">
                          <a:shade val="30000"/>
                          <a:satMod val="115000"/>
                        </a:schemeClr>
                      </a:gs>
                      <a:gs pos="50000">
                        <a:schemeClr val="accent4">
                          <a:shade val="67500"/>
                          <a:satMod val="115000"/>
                        </a:schemeClr>
                      </a:gs>
                      <a:gs pos="100000">
                        <a:schemeClr val="accent4">
                          <a:shade val="100000"/>
                          <a:satMod val="115000"/>
                        </a:schemeClr>
                      </a:gs>
                    </a:gsLst>
                    <a:lin ang="16200000" scaled="1"/>
                    <a:tileRect/>
                  </a:gradFill>
                  <a:effectLst>
                    <a:glow rad="101600">
                      <a:schemeClr val="bg1"/>
                    </a:glow>
                  </a:effectLst>
                  <a:cs typeface="+mn-ea"/>
                </a:rPr>
                <a:t>訊息</a:t>
              </a:r>
            </a:p>
          </p:txBody>
        </p:sp>
        <p:cxnSp>
          <p:nvCxnSpPr>
            <p:cNvPr id="61" name="Straight Connector 60">
              <a:extLst>
                <a:ext uri="{FF2B5EF4-FFF2-40B4-BE49-F238E27FC236}">
                  <a16:creationId xmlns:a16="http://schemas.microsoft.com/office/drawing/2014/main" id="{EF8D08B6-352C-509C-54A5-4D82A09CDB10}"/>
                </a:ext>
              </a:extLst>
            </p:cNvPr>
            <p:cNvCxnSpPr/>
            <p:nvPr/>
          </p:nvCxnSpPr>
          <p:spPr>
            <a:xfrm>
              <a:off x="5226189" y="3929973"/>
              <a:ext cx="1593850" cy="0"/>
            </a:xfrm>
            <a:prstGeom prst="line">
              <a:avLst/>
            </a:prstGeom>
            <a:ln w="9525" cap="rnd">
              <a:gradFill flip="none" rotWithShape="1">
                <a:gsLst>
                  <a:gs pos="0">
                    <a:schemeClr val="accent4"/>
                  </a:gs>
                  <a:gs pos="100000">
                    <a:schemeClr val="bg1"/>
                  </a:gs>
                </a:gsLst>
                <a:lin ang="0" scaled="1"/>
                <a:tileRect/>
              </a:gradFill>
              <a:prstDash val="solid"/>
              <a:round/>
              <a:headEnd type="diamond"/>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955C36EC-F0C4-6337-2EA5-1163B7A824A5}"/>
                </a:ext>
              </a:extLst>
            </p:cNvPr>
            <p:cNvCxnSpPr>
              <a:cxnSpLocks/>
            </p:cNvCxnSpPr>
            <p:nvPr/>
          </p:nvCxnSpPr>
          <p:spPr>
            <a:xfrm flipH="1">
              <a:off x="2701853" y="3929973"/>
              <a:ext cx="1593850" cy="0"/>
            </a:xfrm>
            <a:prstGeom prst="line">
              <a:avLst/>
            </a:prstGeom>
            <a:ln w="9525" cap="rnd">
              <a:gradFill flip="none" rotWithShape="1">
                <a:gsLst>
                  <a:gs pos="0">
                    <a:schemeClr val="accent4"/>
                  </a:gs>
                  <a:gs pos="100000">
                    <a:schemeClr val="bg1"/>
                  </a:gs>
                </a:gsLst>
                <a:lin ang="0" scaled="1"/>
                <a:tileRect/>
              </a:gradFill>
              <a:prstDash val="solid"/>
              <a:round/>
              <a:headEnd type="diamond"/>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2AFA0CCF-39DC-22A0-2980-70BF141328F9}"/>
              </a:ext>
            </a:extLst>
          </p:cNvPr>
          <p:cNvGrpSpPr/>
          <p:nvPr/>
        </p:nvGrpSpPr>
        <p:grpSpPr>
          <a:xfrm>
            <a:off x="4836099" y="3279469"/>
            <a:ext cx="2452305" cy="307777"/>
            <a:chOff x="2701853" y="3776084"/>
            <a:chExt cx="4118186" cy="307777"/>
          </a:xfrm>
        </p:grpSpPr>
        <p:sp>
          <p:nvSpPr>
            <p:cNvPr id="65" name="TextBox 64">
              <a:extLst>
                <a:ext uri="{FF2B5EF4-FFF2-40B4-BE49-F238E27FC236}">
                  <a16:creationId xmlns:a16="http://schemas.microsoft.com/office/drawing/2014/main" id="{485B9E02-4B8D-9A95-A51D-A1150F49CDD4}"/>
                </a:ext>
              </a:extLst>
            </p:cNvPr>
            <p:cNvSpPr txBox="1"/>
            <p:nvPr/>
          </p:nvSpPr>
          <p:spPr>
            <a:xfrm>
              <a:off x="4486017" y="3776084"/>
              <a:ext cx="549857" cy="30777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45720" rIns="0" bIns="45720" numCol="1" spcCol="0" rtlCol="0" fromWordArt="0" anchor="ctr" anchorCtr="0" forceAA="0" compatLnSpc="1">
              <a:prstTxWarp prst="textNoShape">
                <a:avLst/>
              </a:prstTxWarp>
              <a:spAutoFit/>
            </a:bodyPr>
            <a:lstStyle/>
            <a:p>
              <a:pPr algn="ctr"/>
              <a:r>
                <a:rPr lang="zh-CN" altLang="en-US" sz="1400" b="1">
                  <a:gradFill flip="none" rotWithShape="1">
                    <a:gsLst>
                      <a:gs pos="0">
                        <a:schemeClr val="accent4">
                          <a:shade val="30000"/>
                          <a:satMod val="115000"/>
                        </a:schemeClr>
                      </a:gs>
                      <a:gs pos="50000">
                        <a:schemeClr val="accent4">
                          <a:shade val="67500"/>
                          <a:satMod val="115000"/>
                        </a:schemeClr>
                      </a:gs>
                      <a:gs pos="100000">
                        <a:schemeClr val="accent4">
                          <a:shade val="100000"/>
                          <a:satMod val="115000"/>
                        </a:schemeClr>
                      </a:gs>
                    </a:gsLst>
                    <a:lin ang="16200000" scaled="1"/>
                    <a:tileRect/>
                  </a:gradFill>
                  <a:effectLst>
                    <a:glow rad="101600">
                      <a:schemeClr val="bg1"/>
                    </a:glow>
                  </a:effectLst>
                  <a:cs typeface="+mn-ea"/>
                </a:rPr>
                <a:t>時間</a:t>
              </a:r>
            </a:p>
          </p:txBody>
        </p:sp>
        <p:cxnSp>
          <p:nvCxnSpPr>
            <p:cNvPr id="66" name="Straight Connector 65">
              <a:extLst>
                <a:ext uri="{FF2B5EF4-FFF2-40B4-BE49-F238E27FC236}">
                  <a16:creationId xmlns:a16="http://schemas.microsoft.com/office/drawing/2014/main" id="{8385914B-F735-25EC-90F6-389BD32B4117}"/>
                </a:ext>
              </a:extLst>
            </p:cNvPr>
            <p:cNvCxnSpPr/>
            <p:nvPr/>
          </p:nvCxnSpPr>
          <p:spPr>
            <a:xfrm>
              <a:off x="5226189" y="3929973"/>
              <a:ext cx="1593850" cy="0"/>
            </a:xfrm>
            <a:prstGeom prst="line">
              <a:avLst/>
            </a:prstGeom>
            <a:ln w="9525" cap="rnd">
              <a:gradFill flip="none" rotWithShape="1">
                <a:gsLst>
                  <a:gs pos="0">
                    <a:schemeClr val="accent4"/>
                  </a:gs>
                  <a:gs pos="100000">
                    <a:schemeClr val="bg1"/>
                  </a:gs>
                </a:gsLst>
                <a:lin ang="0" scaled="1"/>
                <a:tileRect/>
              </a:gradFill>
              <a:prstDash val="solid"/>
              <a:round/>
              <a:headEnd type="diamond"/>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00E3B6AD-12C7-D797-8746-1D53731AB0C6}"/>
                </a:ext>
              </a:extLst>
            </p:cNvPr>
            <p:cNvCxnSpPr>
              <a:cxnSpLocks/>
            </p:cNvCxnSpPr>
            <p:nvPr/>
          </p:nvCxnSpPr>
          <p:spPr>
            <a:xfrm flipH="1">
              <a:off x="2701853" y="3929973"/>
              <a:ext cx="1593850" cy="0"/>
            </a:xfrm>
            <a:prstGeom prst="line">
              <a:avLst/>
            </a:prstGeom>
            <a:ln w="9525" cap="rnd">
              <a:gradFill flip="none" rotWithShape="1">
                <a:gsLst>
                  <a:gs pos="0">
                    <a:schemeClr val="accent4"/>
                  </a:gs>
                  <a:gs pos="100000">
                    <a:schemeClr val="bg1"/>
                  </a:gs>
                </a:gsLst>
                <a:lin ang="0" scaled="1"/>
                <a:tileRect/>
              </a:gradFill>
              <a:prstDash val="solid"/>
              <a:round/>
              <a:headEnd type="diamond"/>
            </a:ln>
          </p:spPr>
          <p:style>
            <a:lnRef idx="1">
              <a:schemeClr val="accent1"/>
            </a:lnRef>
            <a:fillRef idx="0">
              <a:schemeClr val="accent1"/>
            </a:fillRef>
            <a:effectRef idx="0">
              <a:schemeClr val="accent1"/>
            </a:effectRef>
            <a:fontRef idx="minor">
              <a:schemeClr val="tx1"/>
            </a:fontRef>
          </p:style>
        </p:cxnSp>
      </p:grpSp>
      <p:sp>
        <p:nvSpPr>
          <p:cNvPr id="69" name="Rectangle 68" hidden="1">
            <a:extLst>
              <a:ext uri="{FF2B5EF4-FFF2-40B4-BE49-F238E27FC236}">
                <a16:creationId xmlns:a16="http://schemas.microsoft.com/office/drawing/2014/main" id="{AF235945-15FE-D237-1921-B6A4E158184A}"/>
              </a:ext>
            </a:extLst>
          </p:cNvPr>
          <p:cNvSpPr/>
          <p:nvPr>
            <p:custDataLst>
              <p:tags r:id="rId2"/>
            </p:custDataLst>
          </p:nvPr>
        </p:nvSpPr>
        <p:spPr bwMode="gray">
          <a:xfrm>
            <a:off x="0" y="0"/>
            <a:ext cx="158750" cy="158750"/>
          </a:xfrm>
          <a:prstGeom prst="rect">
            <a:avLst/>
          </a:prstGeom>
          <a:solidFill>
            <a:schemeClr val="tx2"/>
          </a:solidFill>
          <a:ln w="9525"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spcBef>
                <a:spcPct val="0"/>
              </a:spcBef>
              <a:spcAft>
                <a:spcPct val="0"/>
              </a:spcAft>
            </a:pPr>
            <a:endParaRPr lang="en-US" sz="1600">
              <a:solidFill>
                <a:srgbClr val="FFFFFF"/>
              </a:solidFill>
              <a:latin typeface="Trebuchet MS" panose="020B0603020202020204" pitchFamily="34" charset="0"/>
              <a:sym typeface="Trebuchet MS" panose="020B0603020202020204" pitchFamily="34" charset="0"/>
            </a:endParaRPr>
          </a:p>
        </p:txBody>
      </p:sp>
      <p:grpSp>
        <p:nvGrpSpPr>
          <p:cNvPr id="70" name="bcgIcons_Internet/Web ">
            <a:extLst>
              <a:ext uri="{FF2B5EF4-FFF2-40B4-BE49-F238E27FC236}">
                <a16:creationId xmlns:a16="http://schemas.microsoft.com/office/drawing/2014/main" id="{7CFCC7E9-00F1-276A-A515-1D302402AB5F}"/>
              </a:ext>
            </a:extLst>
          </p:cNvPr>
          <p:cNvGrpSpPr>
            <a:grpSpLocks noChangeAspect="1"/>
          </p:cNvGrpSpPr>
          <p:nvPr/>
        </p:nvGrpSpPr>
        <p:grpSpPr>
          <a:xfrm>
            <a:off x="1571020" y="2335665"/>
            <a:ext cx="362385" cy="362035"/>
            <a:chOff x="6464300" y="2606675"/>
            <a:chExt cx="1646238" cy="1644650"/>
          </a:xfrm>
        </p:grpSpPr>
        <p:sp>
          <p:nvSpPr>
            <p:cNvPr id="71" name="AutoShape 3">
              <a:extLst>
                <a:ext uri="{FF2B5EF4-FFF2-40B4-BE49-F238E27FC236}">
                  <a16:creationId xmlns:a16="http://schemas.microsoft.com/office/drawing/2014/main" id="{519456F6-4DB7-2726-B433-07CD882C9B5F}"/>
                </a:ext>
              </a:extLst>
            </p:cNvPr>
            <p:cNvSpPr>
              <a:spLocks noChangeAspect="1" noChangeArrowheads="1" noTextEdit="1"/>
            </p:cNvSpPr>
            <p:nvPr/>
          </p:nvSpPr>
          <p:spPr bwMode="auto">
            <a:xfrm>
              <a:off x="6464300"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72" name="Group 71">
              <a:extLst>
                <a:ext uri="{FF2B5EF4-FFF2-40B4-BE49-F238E27FC236}">
                  <a16:creationId xmlns:a16="http://schemas.microsoft.com/office/drawing/2014/main" id="{186DCD94-FB07-CAB9-0D41-9D66BDB310B4}"/>
                </a:ext>
              </a:extLst>
            </p:cNvPr>
            <p:cNvGrpSpPr/>
            <p:nvPr/>
          </p:nvGrpSpPr>
          <p:grpSpPr>
            <a:xfrm>
              <a:off x="6634163" y="2776538"/>
              <a:ext cx="1306513" cy="1304925"/>
              <a:chOff x="6634163" y="2776538"/>
              <a:chExt cx="1306513" cy="1304925"/>
            </a:xfrm>
          </p:grpSpPr>
          <p:sp>
            <p:nvSpPr>
              <p:cNvPr id="73" name="Freeform 12">
                <a:extLst>
                  <a:ext uri="{FF2B5EF4-FFF2-40B4-BE49-F238E27FC236}">
                    <a16:creationId xmlns:a16="http://schemas.microsoft.com/office/drawing/2014/main" id="{9D9A95C6-3FCE-4551-158B-08E7AA0AA89E}"/>
                  </a:ext>
                </a:extLst>
              </p:cNvPr>
              <p:cNvSpPr>
                <a:spLocks/>
              </p:cNvSpPr>
              <p:nvPr/>
            </p:nvSpPr>
            <p:spPr bwMode="auto">
              <a:xfrm>
                <a:off x="6697663" y="2838450"/>
                <a:ext cx="1179513" cy="1179513"/>
              </a:xfrm>
              <a:custGeom>
                <a:avLst/>
                <a:gdLst>
                  <a:gd name="connsiteX0" fmla="*/ 879944 w 1179513"/>
                  <a:gd name="connsiteY0" fmla="*/ 1017588 h 1179513"/>
                  <a:gd name="connsiteX1" fmla="*/ 869939 w 1179513"/>
                  <a:gd name="connsiteY1" fmla="*/ 1047033 h 1179513"/>
                  <a:gd name="connsiteX2" fmla="*/ 883517 w 1179513"/>
                  <a:gd name="connsiteY2" fmla="*/ 1080786 h 1179513"/>
                  <a:gd name="connsiteX3" fmla="*/ 898525 w 1179513"/>
                  <a:gd name="connsiteY3" fmla="*/ 1090840 h 1179513"/>
                  <a:gd name="connsiteX4" fmla="*/ 704850 w 1179513"/>
                  <a:gd name="connsiteY4" fmla="*/ 1168401 h 1179513"/>
                  <a:gd name="connsiteX5" fmla="*/ 769885 w 1179513"/>
                  <a:gd name="connsiteY5" fmla="*/ 1114539 h 1179513"/>
                  <a:gd name="connsiteX6" fmla="*/ 842781 w 1179513"/>
                  <a:gd name="connsiteY6" fmla="*/ 1022615 h 1179513"/>
                  <a:gd name="connsiteX7" fmla="*/ 855645 w 1179513"/>
                  <a:gd name="connsiteY7" fmla="*/ 1024770 h 1179513"/>
                  <a:gd name="connsiteX8" fmla="*/ 879944 w 1179513"/>
                  <a:gd name="connsiteY8" fmla="*/ 1017588 h 1179513"/>
                  <a:gd name="connsiteX9" fmla="*/ 262876 w 1179513"/>
                  <a:gd name="connsiteY9" fmla="*/ 950913 h 1179513"/>
                  <a:gd name="connsiteX10" fmla="*/ 264307 w 1179513"/>
                  <a:gd name="connsiteY10" fmla="*/ 954490 h 1179513"/>
                  <a:gd name="connsiteX11" fmla="*/ 309383 w 1179513"/>
                  <a:gd name="connsiteY11" fmla="*/ 974522 h 1179513"/>
                  <a:gd name="connsiteX12" fmla="*/ 311530 w 1179513"/>
                  <a:gd name="connsiteY12" fmla="*/ 974522 h 1179513"/>
                  <a:gd name="connsiteX13" fmla="*/ 312961 w 1179513"/>
                  <a:gd name="connsiteY13" fmla="*/ 975953 h 1179513"/>
                  <a:gd name="connsiteX14" fmla="*/ 411699 w 1179513"/>
                  <a:gd name="connsiteY14" fmla="*/ 1118322 h 1179513"/>
                  <a:gd name="connsiteX15" fmla="*/ 474662 w 1179513"/>
                  <a:gd name="connsiteY15" fmla="*/ 1168401 h 1179513"/>
                  <a:gd name="connsiteX16" fmla="*/ 169862 w 1179513"/>
                  <a:gd name="connsiteY16" fmla="*/ 1003139 h 1179513"/>
                  <a:gd name="connsiteX17" fmla="*/ 259299 w 1179513"/>
                  <a:gd name="connsiteY17" fmla="*/ 953059 h 1179513"/>
                  <a:gd name="connsiteX18" fmla="*/ 262876 w 1179513"/>
                  <a:gd name="connsiteY18" fmla="*/ 950913 h 1179513"/>
                  <a:gd name="connsiteX19" fmla="*/ 626998 w 1179513"/>
                  <a:gd name="connsiteY19" fmla="*/ 903288 h 1179513"/>
                  <a:gd name="connsiteX20" fmla="*/ 630581 w 1179513"/>
                  <a:gd name="connsiteY20" fmla="*/ 903288 h 1179513"/>
                  <a:gd name="connsiteX21" fmla="*/ 745956 w 1179513"/>
                  <a:gd name="connsiteY21" fmla="*/ 910426 h 1179513"/>
                  <a:gd name="connsiteX22" fmla="*/ 759572 w 1179513"/>
                  <a:gd name="connsiteY22" fmla="*/ 941831 h 1179513"/>
                  <a:gd name="connsiteX23" fmla="*/ 793253 w 1179513"/>
                  <a:gd name="connsiteY23" fmla="*/ 956106 h 1179513"/>
                  <a:gd name="connsiteX24" fmla="*/ 821917 w 1179513"/>
                  <a:gd name="connsiteY24" fmla="*/ 946114 h 1179513"/>
                  <a:gd name="connsiteX25" fmla="*/ 822634 w 1179513"/>
                  <a:gd name="connsiteY25" fmla="*/ 1010352 h 1179513"/>
                  <a:gd name="connsiteX26" fmla="*/ 825500 w 1179513"/>
                  <a:gd name="connsiteY26" fmla="*/ 1013207 h 1179513"/>
                  <a:gd name="connsiteX27" fmla="*/ 758855 w 1179513"/>
                  <a:gd name="connsiteY27" fmla="*/ 1098145 h 1179513"/>
                  <a:gd name="connsiteX28" fmla="*/ 644197 w 1179513"/>
                  <a:gd name="connsiteY28" fmla="*/ 1175944 h 1179513"/>
                  <a:gd name="connsiteX29" fmla="*/ 596900 w 1179513"/>
                  <a:gd name="connsiteY29" fmla="*/ 1179513 h 1179513"/>
                  <a:gd name="connsiteX30" fmla="*/ 596900 w 1179513"/>
                  <a:gd name="connsiteY30" fmla="*/ 936121 h 1179513"/>
                  <a:gd name="connsiteX31" fmla="*/ 599050 w 1179513"/>
                  <a:gd name="connsiteY31" fmla="*/ 936121 h 1179513"/>
                  <a:gd name="connsiteX32" fmla="*/ 626998 w 1179513"/>
                  <a:gd name="connsiteY32" fmla="*/ 904716 h 1179513"/>
                  <a:gd name="connsiteX33" fmla="*/ 626998 w 1179513"/>
                  <a:gd name="connsiteY33" fmla="*/ 903288 h 1179513"/>
                  <a:gd name="connsiteX34" fmla="*/ 543242 w 1179513"/>
                  <a:gd name="connsiteY34" fmla="*/ 903288 h 1179513"/>
                  <a:gd name="connsiteX35" fmla="*/ 546114 w 1179513"/>
                  <a:gd name="connsiteY35" fmla="*/ 903288 h 1179513"/>
                  <a:gd name="connsiteX36" fmla="*/ 546114 w 1179513"/>
                  <a:gd name="connsiteY36" fmla="*/ 904716 h 1179513"/>
                  <a:gd name="connsiteX37" fmla="*/ 574827 w 1179513"/>
                  <a:gd name="connsiteY37" fmla="*/ 936121 h 1179513"/>
                  <a:gd name="connsiteX38" fmla="*/ 576262 w 1179513"/>
                  <a:gd name="connsiteY38" fmla="*/ 936121 h 1179513"/>
                  <a:gd name="connsiteX39" fmla="*/ 576262 w 1179513"/>
                  <a:gd name="connsiteY39" fmla="*/ 1179513 h 1179513"/>
                  <a:gd name="connsiteX40" fmla="*/ 536064 w 1179513"/>
                  <a:gd name="connsiteY40" fmla="*/ 1175944 h 1179513"/>
                  <a:gd name="connsiteX41" fmla="*/ 424083 w 1179513"/>
                  <a:gd name="connsiteY41" fmla="*/ 1099572 h 1179513"/>
                  <a:gd name="connsiteX42" fmla="*/ 330766 w 1179513"/>
                  <a:gd name="connsiteY42" fmla="*/ 964671 h 1179513"/>
                  <a:gd name="connsiteX43" fmla="*/ 328612 w 1179513"/>
                  <a:gd name="connsiteY43" fmla="*/ 963244 h 1179513"/>
                  <a:gd name="connsiteX44" fmla="*/ 330766 w 1179513"/>
                  <a:gd name="connsiteY44" fmla="*/ 961103 h 1179513"/>
                  <a:gd name="connsiteX45" fmla="*/ 340815 w 1179513"/>
                  <a:gd name="connsiteY45" fmla="*/ 931125 h 1179513"/>
                  <a:gd name="connsiteX46" fmla="*/ 340815 w 1179513"/>
                  <a:gd name="connsiteY46" fmla="*/ 928270 h 1179513"/>
                  <a:gd name="connsiteX47" fmla="*/ 343687 w 1179513"/>
                  <a:gd name="connsiteY47" fmla="*/ 926128 h 1179513"/>
                  <a:gd name="connsiteX48" fmla="*/ 543242 w 1179513"/>
                  <a:gd name="connsiteY48" fmla="*/ 903288 h 1179513"/>
                  <a:gd name="connsiteX49" fmla="*/ 988495 w 1179513"/>
                  <a:gd name="connsiteY49" fmla="*/ 879475 h 1179513"/>
                  <a:gd name="connsiteX50" fmla="*/ 1046163 w 1179513"/>
                  <a:gd name="connsiteY50" fmla="*/ 887035 h 1179513"/>
                  <a:gd name="connsiteX51" fmla="*/ 988495 w 1179513"/>
                  <a:gd name="connsiteY51" fmla="*/ 880231 h 1179513"/>
                  <a:gd name="connsiteX52" fmla="*/ 920734 w 1179513"/>
                  <a:gd name="connsiteY52" fmla="*/ 890058 h 1179513"/>
                  <a:gd name="connsiteX53" fmla="*/ 904875 w 1179513"/>
                  <a:gd name="connsiteY53" fmla="*/ 895350 h 1179513"/>
                  <a:gd name="connsiteX54" fmla="*/ 922176 w 1179513"/>
                  <a:gd name="connsiteY54" fmla="*/ 889303 h 1179513"/>
                  <a:gd name="connsiteX55" fmla="*/ 988495 w 1179513"/>
                  <a:gd name="connsiteY55" fmla="*/ 879475 h 1179513"/>
                  <a:gd name="connsiteX56" fmla="*/ 975138 w 1179513"/>
                  <a:gd name="connsiteY56" fmla="*/ 588963 h 1179513"/>
                  <a:gd name="connsiteX57" fmla="*/ 1179513 w 1179513"/>
                  <a:gd name="connsiteY57" fmla="*/ 588963 h 1179513"/>
                  <a:gd name="connsiteX58" fmla="*/ 1179513 w 1179513"/>
                  <a:gd name="connsiteY58" fmla="*/ 590384 h 1179513"/>
                  <a:gd name="connsiteX59" fmla="*/ 1133226 w 1179513"/>
                  <a:gd name="connsiteY59" fmla="*/ 819151 h 1179513"/>
                  <a:gd name="connsiteX60" fmla="*/ 987956 w 1179513"/>
                  <a:gd name="connsiteY60" fmla="*/ 785049 h 1179513"/>
                  <a:gd name="connsiteX61" fmla="*/ 930275 w 1179513"/>
                  <a:gd name="connsiteY61" fmla="*/ 790733 h 1179513"/>
                  <a:gd name="connsiteX62" fmla="*/ 948790 w 1179513"/>
                  <a:gd name="connsiteY62" fmla="*/ 620223 h 1179513"/>
                  <a:gd name="connsiteX63" fmla="*/ 948790 w 1179513"/>
                  <a:gd name="connsiteY63" fmla="*/ 616671 h 1179513"/>
                  <a:gd name="connsiteX64" fmla="*/ 950214 w 1179513"/>
                  <a:gd name="connsiteY64" fmla="*/ 616671 h 1179513"/>
                  <a:gd name="connsiteX65" fmla="*/ 973714 w 1179513"/>
                  <a:gd name="connsiteY65" fmla="*/ 591805 h 1179513"/>
                  <a:gd name="connsiteX66" fmla="*/ 975138 w 1179513"/>
                  <a:gd name="connsiteY66" fmla="*/ 588963 h 1179513"/>
                  <a:gd name="connsiteX67" fmla="*/ 626918 w 1179513"/>
                  <a:gd name="connsiteY67" fmla="*/ 588963 h 1179513"/>
                  <a:gd name="connsiteX68" fmla="*/ 895653 w 1179513"/>
                  <a:gd name="connsiteY68" fmla="*/ 588963 h 1179513"/>
                  <a:gd name="connsiteX69" fmla="*/ 895653 w 1179513"/>
                  <a:gd name="connsiteY69" fmla="*/ 591814 h 1179513"/>
                  <a:gd name="connsiteX70" fmla="*/ 925671 w 1179513"/>
                  <a:gd name="connsiteY70" fmla="*/ 618896 h 1179513"/>
                  <a:gd name="connsiteX71" fmla="*/ 927100 w 1179513"/>
                  <a:gd name="connsiteY71" fmla="*/ 618896 h 1179513"/>
                  <a:gd name="connsiteX72" fmla="*/ 927100 w 1179513"/>
                  <a:gd name="connsiteY72" fmla="*/ 621746 h 1179513"/>
                  <a:gd name="connsiteX73" fmla="*/ 907803 w 1179513"/>
                  <a:gd name="connsiteY73" fmla="*/ 795640 h 1179513"/>
                  <a:gd name="connsiteX74" fmla="*/ 894223 w 1179513"/>
                  <a:gd name="connsiteY74" fmla="*/ 799916 h 1179513"/>
                  <a:gd name="connsiteX75" fmla="*/ 759856 w 1179513"/>
                  <a:gd name="connsiteY75" fmla="*/ 875460 h 1179513"/>
                  <a:gd name="connsiteX76" fmla="*/ 749850 w 1179513"/>
                  <a:gd name="connsiteY76" fmla="*/ 889001 h 1179513"/>
                  <a:gd name="connsiteX77" fmla="*/ 629063 w 1179513"/>
                  <a:gd name="connsiteY77" fmla="*/ 881162 h 1179513"/>
                  <a:gd name="connsiteX78" fmla="*/ 626918 w 1179513"/>
                  <a:gd name="connsiteY78" fmla="*/ 881162 h 1179513"/>
                  <a:gd name="connsiteX79" fmla="*/ 625489 w 1179513"/>
                  <a:gd name="connsiteY79" fmla="*/ 878311 h 1179513"/>
                  <a:gd name="connsiteX80" fmla="*/ 599044 w 1179513"/>
                  <a:gd name="connsiteY80" fmla="*/ 853367 h 1179513"/>
                  <a:gd name="connsiteX81" fmla="*/ 596900 w 1179513"/>
                  <a:gd name="connsiteY81" fmla="*/ 851229 h 1179513"/>
                  <a:gd name="connsiteX82" fmla="*/ 596900 w 1179513"/>
                  <a:gd name="connsiteY82" fmla="*/ 618896 h 1179513"/>
                  <a:gd name="connsiteX83" fmla="*/ 599044 w 1179513"/>
                  <a:gd name="connsiteY83" fmla="*/ 616758 h 1179513"/>
                  <a:gd name="connsiteX84" fmla="*/ 625489 w 1179513"/>
                  <a:gd name="connsiteY84" fmla="*/ 591814 h 1179513"/>
                  <a:gd name="connsiteX85" fmla="*/ 626918 w 1179513"/>
                  <a:gd name="connsiteY85" fmla="*/ 588963 h 1179513"/>
                  <a:gd name="connsiteX86" fmla="*/ 282272 w 1179513"/>
                  <a:gd name="connsiteY86" fmla="*/ 588963 h 1179513"/>
                  <a:gd name="connsiteX87" fmla="*/ 548298 w 1179513"/>
                  <a:gd name="connsiteY87" fmla="*/ 588963 h 1179513"/>
                  <a:gd name="connsiteX88" fmla="*/ 548298 w 1179513"/>
                  <a:gd name="connsiteY88" fmla="*/ 591817 h 1179513"/>
                  <a:gd name="connsiteX89" fmla="*/ 574829 w 1179513"/>
                  <a:gd name="connsiteY89" fmla="*/ 616789 h 1179513"/>
                  <a:gd name="connsiteX90" fmla="*/ 576263 w 1179513"/>
                  <a:gd name="connsiteY90" fmla="*/ 618929 h 1179513"/>
                  <a:gd name="connsiteX91" fmla="*/ 576263 w 1179513"/>
                  <a:gd name="connsiteY91" fmla="*/ 851525 h 1179513"/>
                  <a:gd name="connsiteX92" fmla="*/ 574829 w 1179513"/>
                  <a:gd name="connsiteY92" fmla="*/ 853665 h 1179513"/>
                  <a:gd name="connsiteX93" fmla="*/ 548298 w 1179513"/>
                  <a:gd name="connsiteY93" fmla="*/ 878637 h 1179513"/>
                  <a:gd name="connsiteX94" fmla="*/ 548298 w 1179513"/>
                  <a:gd name="connsiteY94" fmla="*/ 881491 h 1179513"/>
                  <a:gd name="connsiteX95" fmla="*/ 544713 w 1179513"/>
                  <a:gd name="connsiteY95" fmla="*/ 881491 h 1179513"/>
                  <a:gd name="connsiteX96" fmla="*/ 336051 w 1179513"/>
                  <a:gd name="connsiteY96" fmla="*/ 906463 h 1179513"/>
                  <a:gd name="connsiteX97" fmla="*/ 333900 w 1179513"/>
                  <a:gd name="connsiteY97" fmla="*/ 906463 h 1179513"/>
                  <a:gd name="connsiteX98" fmla="*/ 332466 w 1179513"/>
                  <a:gd name="connsiteY98" fmla="*/ 905036 h 1179513"/>
                  <a:gd name="connsiteX99" fmla="*/ 302350 w 1179513"/>
                  <a:gd name="connsiteY99" fmla="*/ 888626 h 1179513"/>
                  <a:gd name="connsiteX100" fmla="*/ 300915 w 1179513"/>
                  <a:gd name="connsiteY100" fmla="*/ 888626 h 1179513"/>
                  <a:gd name="connsiteX101" fmla="*/ 298764 w 1179513"/>
                  <a:gd name="connsiteY101" fmla="*/ 886486 h 1179513"/>
                  <a:gd name="connsiteX102" fmla="*/ 257175 w 1179513"/>
                  <a:gd name="connsiteY102" fmla="*/ 618929 h 1179513"/>
                  <a:gd name="connsiteX103" fmla="*/ 257175 w 1179513"/>
                  <a:gd name="connsiteY103" fmla="*/ 616789 h 1179513"/>
                  <a:gd name="connsiteX104" fmla="*/ 258609 w 1179513"/>
                  <a:gd name="connsiteY104" fmla="*/ 615362 h 1179513"/>
                  <a:gd name="connsiteX105" fmla="*/ 282272 w 1179513"/>
                  <a:gd name="connsiteY105" fmla="*/ 591817 h 1179513"/>
                  <a:gd name="connsiteX106" fmla="*/ 282272 w 1179513"/>
                  <a:gd name="connsiteY106" fmla="*/ 588963 h 1179513"/>
                  <a:gd name="connsiteX107" fmla="*/ 0 w 1179513"/>
                  <a:gd name="connsiteY107" fmla="*/ 588963 h 1179513"/>
                  <a:gd name="connsiteX108" fmla="*/ 202940 w 1179513"/>
                  <a:gd name="connsiteY108" fmla="*/ 588963 h 1179513"/>
                  <a:gd name="connsiteX109" fmla="*/ 205084 w 1179513"/>
                  <a:gd name="connsiteY109" fmla="*/ 591813 h 1179513"/>
                  <a:gd name="connsiteX110" fmla="*/ 235096 w 1179513"/>
                  <a:gd name="connsiteY110" fmla="*/ 618889 h 1179513"/>
                  <a:gd name="connsiteX111" fmla="*/ 237954 w 1179513"/>
                  <a:gd name="connsiteY111" fmla="*/ 620314 h 1179513"/>
                  <a:gd name="connsiteX112" fmla="*/ 237954 w 1179513"/>
                  <a:gd name="connsiteY112" fmla="*/ 621739 h 1179513"/>
                  <a:gd name="connsiteX113" fmla="*/ 279400 w 1179513"/>
                  <a:gd name="connsiteY113" fmla="*/ 891073 h 1179513"/>
                  <a:gd name="connsiteX114" fmla="*/ 279400 w 1179513"/>
                  <a:gd name="connsiteY114" fmla="*/ 893210 h 1179513"/>
                  <a:gd name="connsiteX115" fmla="*/ 277971 w 1179513"/>
                  <a:gd name="connsiteY115" fmla="*/ 894635 h 1179513"/>
                  <a:gd name="connsiteX116" fmla="*/ 257963 w 1179513"/>
                  <a:gd name="connsiteY116" fmla="*/ 928124 h 1179513"/>
                  <a:gd name="connsiteX117" fmla="*/ 257963 w 1179513"/>
                  <a:gd name="connsiteY117" fmla="*/ 929549 h 1179513"/>
                  <a:gd name="connsiteX118" fmla="*/ 256533 w 1179513"/>
                  <a:gd name="connsiteY118" fmla="*/ 930974 h 1179513"/>
                  <a:gd name="connsiteX119" fmla="*/ 155063 w 1179513"/>
                  <a:gd name="connsiteY119" fmla="*/ 985838 h 1179513"/>
                  <a:gd name="connsiteX120" fmla="*/ 0 w 1179513"/>
                  <a:gd name="connsiteY120" fmla="*/ 590388 h 1179513"/>
                  <a:gd name="connsiteX121" fmla="*/ 0 w 1179513"/>
                  <a:gd name="connsiteY121" fmla="*/ 588963 h 1179513"/>
                  <a:gd name="connsiteX122" fmla="*/ 832043 w 1179513"/>
                  <a:gd name="connsiteY122" fmla="*/ 258763 h 1179513"/>
                  <a:gd name="connsiteX123" fmla="*/ 833472 w 1179513"/>
                  <a:gd name="connsiteY123" fmla="*/ 258763 h 1179513"/>
                  <a:gd name="connsiteX124" fmla="*/ 835616 w 1179513"/>
                  <a:gd name="connsiteY124" fmla="*/ 260192 h 1179513"/>
                  <a:gd name="connsiteX125" fmla="*/ 882073 w 1179513"/>
                  <a:gd name="connsiteY125" fmla="*/ 281629 h 1179513"/>
                  <a:gd name="connsiteX126" fmla="*/ 885647 w 1179513"/>
                  <a:gd name="connsiteY126" fmla="*/ 280200 h 1179513"/>
                  <a:gd name="connsiteX127" fmla="*/ 885647 w 1179513"/>
                  <a:gd name="connsiteY127" fmla="*/ 283773 h 1179513"/>
                  <a:gd name="connsiteX128" fmla="*/ 927100 w 1179513"/>
                  <a:gd name="connsiteY128" fmla="*/ 530296 h 1179513"/>
                  <a:gd name="connsiteX129" fmla="*/ 927100 w 1179513"/>
                  <a:gd name="connsiteY129" fmla="*/ 533868 h 1179513"/>
                  <a:gd name="connsiteX130" fmla="*/ 925671 w 1179513"/>
                  <a:gd name="connsiteY130" fmla="*/ 533868 h 1179513"/>
                  <a:gd name="connsiteX131" fmla="*/ 893508 w 1179513"/>
                  <a:gd name="connsiteY131" fmla="*/ 565309 h 1179513"/>
                  <a:gd name="connsiteX132" fmla="*/ 893508 w 1179513"/>
                  <a:gd name="connsiteY132" fmla="*/ 566738 h 1179513"/>
                  <a:gd name="connsiteX133" fmla="*/ 626918 w 1179513"/>
                  <a:gd name="connsiteY133" fmla="*/ 566738 h 1179513"/>
                  <a:gd name="connsiteX134" fmla="*/ 626918 w 1179513"/>
                  <a:gd name="connsiteY134" fmla="*/ 565309 h 1179513"/>
                  <a:gd name="connsiteX135" fmla="*/ 599044 w 1179513"/>
                  <a:gd name="connsiteY135" fmla="*/ 533868 h 1179513"/>
                  <a:gd name="connsiteX136" fmla="*/ 596900 w 1179513"/>
                  <a:gd name="connsiteY136" fmla="*/ 533868 h 1179513"/>
                  <a:gd name="connsiteX137" fmla="*/ 596900 w 1179513"/>
                  <a:gd name="connsiteY137" fmla="*/ 313784 h 1179513"/>
                  <a:gd name="connsiteX138" fmla="*/ 599044 w 1179513"/>
                  <a:gd name="connsiteY138" fmla="*/ 311641 h 1179513"/>
                  <a:gd name="connsiteX139" fmla="*/ 626918 w 1179513"/>
                  <a:gd name="connsiteY139" fmla="*/ 283773 h 1179513"/>
                  <a:gd name="connsiteX140" fmla="*/ 626918 w 1179513"/>
                  <a:gd name="connsiteY140" fmla="*/ 280200 h 1179513"/>
                  <a:gd name="connsiteX141" fmla="*/ 630492 w 1179513"/>
                  <a:gd name="connsiteY141" fmla="*/ 280200 h 1179513"/>
                  <a:gd name="connsiteX142" fmla="*/ 832043 w 1179513"/>
                  <a:gd name="connsiteY142" fmla="*/ 258763 h 1179513"/>
                  <a:gd name="connsiteX143" fmla="*/ 336051 w 1179513"/>
                  <a:gd name="connsiteY143" fmla="*/ 255588 h 1179513"/>
                  <a:gd name="connsiteX144" fmla="*/ 337485 w 1179513"/>
                  <a:gd name="connsiteY144" fmla="*/ 255588 h 1179513"/>
                  <a:gd name="connsiteX145" fmla="*/ 544713 w 1179513"/>
                  <a:gd name="connsiteY145" fmla="*/ 280566 h 1179513"/>
                  <a:gd name="connsiteX146" fmla="*/ 546147 w 1179513"/>
                  <a:gd name="connsiteY146" fmla="*/ 280566 h 1179513"/>
                  <a:gd name="connsiteX147" fmla="*/ 548298 w 1179513"/>
                  <a:gd name="connsiteY147" fmla="*/ 281993 h 1179513"/>
                  <a:gd name="connsiteX148" fmla="*/ 574829 w 1179513"/>
                  <a:gd name="connsiteY148" fmla="*/ 311966 h 1179513"/>
                  <a:gd name="connsiteX149" fmla="*/ 576263 w 1179513"/>
                  <a:gd name="connsiteY149" fmla="*/ 314107 h 1179513"/>
                  <a:gd name="connsiteX150" fmla="*/ 576263 w 1179513"/>
                  <a:gd name="connsiteY150" fmla="*/ 533910 h 1179513"/>
                  <a:gd name="connsiteX151" fmla="*/ 574829 w 1179513"/>
                  <a:gd name="connsiteY151" fmla="*/ 533910 h 1179513"/>
                  <a:gd name="connsiteX152" fmla="*/ 546147 w 1179513"/>
                  <a:gd name="connsiteY152" fmla="*/ 565311 h 1179513"/>
                  <a:gd name="connsiteX153" fmla="*/ 546147 w 1179513"/>
                  <a:gd name="connsiteY153" fmla="*/ 566738 h 1179513"/>
                  <a:gd name="connsiteX154" fmla="*/ 283706 w 1179513"/>
                  <a:gd name="connsiteY154" fmla="*/ 566738 h 1179513"/>
                  <a:gd name="connsiteX155" fmla="*/ 283706 w 1179513"/>
                  <a:gd name="connsiteY155" fmla="*/ 565311 h 1179513"/>
                  <a:gd name="connsiteX156" fmla="*/ 260761 w 1179513"/>
                  <a:gd name="connsiteY156" fmla="*/ 536765 h 1179513"/>
                  <a:gd name="connsiteX157" fmla="*/ 257175 w 1179513"/>
                  <a:gd name="connsiteY157" fmla="*/ 535338 h 1179513"/>
                  <a:gd name="connsiteX158" fmla="*/ 257175 w 1179513"/>
                  <a:gd name="connsiteY158" fmla="*/ 533910 h 1179513"/>
                  <a:gd name="connsiteX159" fmla="*/ 298764 w 1179513"/>
                  <a:gd name="connsiteY159" fmla="*/ 279138 h 1179513"/>
                  <a:gd name="connsiteX160" fmla="*/ 298764 w 1179513"/>
                  <a:gd name="connsiteY160" fmla="*/ 276998 h 1179513"/>
                  <a:gd name="connsiteX161" fmla="*/ 302350 w 1179513"/>
                  <a:gd name="connsiteY161" fmla="*/ 276998 h 1179513"/>
                  <a:gd name="connsiteX162" fmla="*/ 333900 w 1179513"/>
                  <a:gd name="connsiteY162" fmla="*/ 257015 h 1179513"/>
                  <a:gd name="connsiteX163" fmla="*/ 336051 w 1179513"/>
                  <a:gd name="connsiteY163" fmla="*/ 255588 h 1179513"/>
                  <a:gd name="connsiteX164" fmla="*/ 1019471 w 1179513"/>
                  <a:gd name="connsiteY164" fmla="*/ 187325 h 1179513"/>
                  <a:gd name="connsiteX165" fmla="*/ 1177925 w 1179513"/>
                  <a:gd name="connsiteY165" fmla="*/ 566738 h 1179513"/>
                  <a:gd name="connsiteX166" fmla="*/ 974504 w 1179513"/>
                  <a:gd name="connsiteY166" fmla="*/ 566738 h 1179513"/>
                  <a:gd name="connsiteX167" fmla="*/ 974504 w 1179513"/>
                  <a:gd name="connsiteY167" fmla="*/ 565312 h 1179513"/>
                  <a:gd name="connsiteX168" fmla="*/ 949522 w 1179513"/>
                  <a:gd name="connsiteY168" fmla="*/ 535358 h 1179513"/>
                  <a:gd name="connsiteX169" fmla="*/ 948095 w 1179513"/>
                  <a:gd name="connsiteY169" fmla="*/ 533932 h 1179513"/>
                  <a:gd name="connsiteX170" fmla="*/ 948095 w 1179513"/>
                  <a:gd name="connsiteY170" fmla="*/ 531792 h 1179513"/>
                  <a:gd name="connsiteX171" fmla="*/ 903128 w 1179513"/>
                  <a:gd name="connsiteY171" fmla="*/ 270767 h 1179513"/>
                  <a:gd name="connsiteX172" fmla="*/ 901700 w 1179513"/>
                  <a:gd name="connsiteY172" fmla="*/ 269341 h 1179513"/>
                  <a:gd name="connsiteX173" fmla="*/ 903128 w 1179513"/>
                  <a:gd name="connsiteY173" fmla="*/ 267202 h 1179513"/>
                  <a:gd name="connsiteX174" fmla="*/ 913120 w 1179513"/>
                  <a:gd name="connsiteY174" fmla="*/ 239387 h 1179513"/>
                  <a:gd name="connsiteX175" fmla="*/ 913120 w 1179513"/>
                  <a:gd name="connsiteY175" fmla="*/ 237248 h 1179513"/>
                  <a:gd name="connsiteX176" fmla="*/ 916689 w 1179513"/>
                  <a:gd name="connsiteY176" fmla="*/ 235821 h 1179513"/>
                  <a:gd name="connsiteX177" fmla="*/ 1019471 w 1179513"/>
                  <a:gd name="connsiteY177" fmla="*/ 187325 h 1179513"/>
                  <a:gd name="connsiteX178" fmla="*/ 165132 w 1179513"/>
                  <a:gd name="connsiteY178" fmla="*/ 180975 h 1179513"/>
                  <a:gd name="connsiteX179" fmla="*/ 256546 w 1179513"/>
                  <a:gd name="connsiteY179" fmla="*/ 229643 h 1179513"/>
                  <a:gd name="connsiteX180" fmla="*/ 257975 w 1179513"/>
                  <a:gd name="connsiteY180" fmla="*/ 229643 h 1179513"/>
                  <a:gd name="connsiteX181" fmla="*/ 257975 w 1179513"/>
                  <a:gd name="connsiteY181" fmla="*/ 233221 h 1179513"/>
                  <a:gd name="connsiteX182" fmla="*/ 277972 w 1179513"/>
                  <a:gd name="connsiteY182" fmla="*/ 269722 h 1179513"/>
                  <a:gd name="connsiteX183" fmla="*/ 279400 w 1179513"/>
                  <a:gd name="connsiteY183" fmla="*/ 269722 h 1179513"/>
                  <a:gd name="connsiteX184" fmla="*/ 279400 w 1179513"/>
                  <a:gd name="connsiteY184" fmla="*/ 273301 h 1179513"/>
                  <a:gd name="connsiteX185" fmla="*/ 237978 w 1179513"/>
                  <a:gd name="connsiteY185" fmla="*/ 530237 h 1179513"/>
                  <a:gd name="connsiteX186" fmla="*/ 237978 w 1179513"/>
                  <a:gd name="connsiteY186" fmla="*/ 531669 h 1179513"/>
                  <a:gd name="connsiteX187" fmla="*/ 235121 w 1179513"/>
                  <a:gd name="connsiteY187" fmla="*/ 533816 h 1179513"/>
                  <a:gd name="connsiteX188" fmla="*/ 202983 w 1179513"/>
                  <a:gd name="connsiteY188" fmla="*/ 565307 h 1179513"/>
                  <a:gd name="connsiteX189" fmla="*/ 201555 w 1179513"/>
                  <a:gd name="connsiteY189" fmla="*/ 566738 h 1179513"/>
                  <a:gd name="connsiteX190" fmla="*/ 1587 w 1179513"/>
                  <a:gd name="connsiteY190" fmla="*/ 566738 h 1179513"/>
                  <a:gd name="connsiteX191" fmla="*/ 165132 w 1179513"/>
                  <a:gd name="connsiteY191" fmla="*/ 180975 h 1179513"/>
                  <a:gd name="connsiteX192" fmla="*/ 458787 w 1179513"/>
                  <a:gd name="connsiteY192" fmla="*/ 14288 h 1179513"/>
                  <a:gd name="connsiteX193" fmla="*/ 410911 w 1179513"/>
                  <a:gd name="connsiteY193" fmla="*/ 51920 h 1179513"/>
                  <a:gd name="connsiteX194" fmla="*/ 312299 w 1179513"/>
                  <a:gd name="connsiteY194" fmla="*/ 188249 h 1179513"/>
                  <a:gd name="connsiteX195" fmla="*/ 310870 w 1179513"/>
                  <a:gd name="connsiteY195" fmla="*/ 189670 h 1179513"/>
                  <a:gd name="connsiteX196" fmla="*/ 308726 w 1179513"/>
                  <a:gd name="connsiteY196" fmla="*/ 189670 h 1179513"/>
                  <a:gd name="connsiteX197" fmla="*/ 265851 w 1179513"/>
                  <a:gd name="connsiteY197" fmla="*/ 206001 h 1179513"/>
                  <a:gd name="connsiteX198" fmla="*/ 263707 w 1179513"/>
                  <a:gd name="connsiteY198" fmla="*/ 209551 h 1179513"/>
                  <a:gd name="connsiteX199" fmla="*/ 260849 w 1179513"/>
                  <a:gd name="connsiteY199" fmla="*/ 208131 h 1179513"/>
                  <a:gd name="connsiteX200" fmla="*/ 179387 w 1179513"/>
                  <a:gd name="connsiteY200" fmla="*/ 164818 h 1179513"/>
                  <a:gd name="connsiteX201" fmla="*/ 458787 w 1179513"/>
                  <a:gd name="connsiteY201" fmla="*/ 14288 h 1179513"/>
                  <a:gd name="connsiteX202" fmla="*/ 711200 w 1179513"/>
                  <a:gd name="connsiteY202" fmla="*/ 11113 h 1179513"/>
                  <a:gd name="connsiteX203" fmla="*/ 1004888 w 1179513"/>
                  <a:gd name="connsiteY203" fmla="*/ 170632 h 1179513"/>
                  <a:gd name="connsiteX204" fmla="*/ 910794 w 1179513"/>
                  <a:gd name="connsiteY204" fmla="*/ 215901 h 1179513"/>
                  <a:gd name="connsiteX205" fmla="*/ 907230 w 1179513"/>
                  <a:gd name="connsiteY205" fmla="*/ 215901 h 1179513"/>
                  <a:gd name="connsiteX206" fmla="*/ 907230 w 1179513"/>
                  <a:gd name="connsiteY206" fmla="*/ 214464 h 1179513"/>
                  <a:gd name="connsiteX207" fmla="*/ 873727 w 1179513"/>
                  <a:gd name="connsiteY207" fmla="*/ 195781 h 1179513"/>
                  <a:gd name="connsiteX208" fmla="*/ 872301 w 1179513"/>
                  <a:gd name="connsiteY208" fmla="*/ 195781 h 1179513"/>
                  <a:gd name="connsiteX209" fmla="*/ 870875 w 1179513"/>
                  <a:gd name="connsiteY209" fmla="*/ 194344 h 1179513"/>
                  <a:gd name="connsiteX210" fmla="*/ 768940 w 1179513"/>
                  <a:gd name="connsiteY210" fmla="*/ 56382 h 1179513"/>
                  <a:gd name="connsiteX211" fmla="*/ 711200 w 1179513"/>
                  <a:gd name="connsiteY211" fmla="*/ 11113 h 1179513"/>
                  <a:gd name="connsiteX212" fmla="*/ 596900 w 1179513"/>
                  <a:gd name="connsiteY212" fmla="*/ 0 h 1179513"/>
                  <a:gd name="connsiteX213" fmla="*/ 644152 w 1179513"/>
                  <a:gd name="connsiteY213" fmla="*/ 1430 h 1179513"/>
                  <a:gd name="connsiteX214" fmla="*/ 755837 w 1179513"/>
                  <a:gd name="connsiteY214" fmla="*/ 73626 h 1179513"/>
                  <a:gd name="connsiteX215" fmla="*/ 851056 w 1179513"/>
                  <a:gd name="connsiteY215" fmla="*/ 198718 h 1179513"/>
                  <a:gd name="connsiteX216" fmla="*/ 852488 w 1179513"/>
                  <a:gd name="connsiteY216" fmla="*/ 200148 h 1179513"/>
                  <a:gd name="connsiteX217" fmla="*/ 848909 w 1179513"/>
                  <a:gd name="connsiteY217" fmla="*/ 203722 h 1179513"/>
                  <a:gd name="connsiteX218" fmla="*/ 831010 w 1179513"/>
                  <a:gd name="connsiteY218" fmla="*/ 233744 h 1179513"/>
                  <a:gd name="connsiteX219" fmla="*/ 831010 w 1179513"/>
                  <a:gd name="connsiteY219" fmla="*/ 236604 h 1179513"/>
                  <a:gd name="connsiteX220" fmla="*/ 827431 w 1179513"/>
                  <a:gd name="connsiteY220" fmla="*/ 236604 h 1179513"/>
                  <a:gd name="connsiteX221" fmla="*/ 629117 w 1179513"/>
                  <a:gd name="connsiteY221" fmla="*/ 258763 h 1179513"/>
                  <a:gd name="connsiteX222" fmla="*/ 626969 w 1179513"/>
                  <a:gd name="connsiteY222" fmla="*/ 258763 h 1179513"/>
                  <a:gd name="connsiteX223" fmla="*/ 626969 w 1179513"/>
                  <a:gd name="connsiteY223" fmla="*/ 256619 h 1179513"/>
                  <a:gd name="connsiteX224" fmla="*/ 599048 w 1179513"/>
                  <a:gd name="connsiteY224" fmla="*/ 228741 h 1179513"/>
                  <a:gd name="connsiteX225" fmla="*/ 596900 w 1179513"/>
                  <a:gd name="connsiteY225" fmla="*/ 228741 h 1179513"/>
                  <a:gd name="connsiteX226" fmla="*/ 596900 w 1179513"/>
                  <a:gd name="connsiteY226" fmla="*/ 0 h 1179513"/>
                  <a:gd name="connsiteX227" fmla="*/ 576262 w 1179513"/>
                  <a:gd name="connsiteY227" fmla="*/ 0 h 1179513"/>
                  <a:gd name="connsiteX228" fmla="*/ 576262 w 1179513"/>
                  <a:gd name="connsiteY228" fmla="*/ 228741 h 1179513"/>
                  <a:gd name="connsiteX229" fmla="*/ 574827 w 1179513"/>
                  <a:gd name="connsiteY229" fmla="*/ 228741 h 1179513"/>
                  <a:gd name="connsiteX230" fmla="*/ 548267 w 1179513"/>
                  <a:gd name="connsiteY230" fmla="*/ 256619 h 1179513"/>
                  <a:gd name="connsiteX231" fmla="*/ 546114 w 1179513"/>
                  <a:gd name="connsiteY231" fmla="*/ 258763 h 1179513"/>
                  <a:gd name="connsiteX232" fmla="*/ 544678 w 1179513"/>
                  <a:gd name="connsiteY232" fmla="*/ 258763 h 1179513"/>
                  <a:gd name="connsiteX233" fmla="*/ 343687 w 1179513"/>
                  <a:gd name="connsiteY233" fmla="*/ 233744 h 1179513"/>
                  <a:gd name="connsiteX234" fmla="*/ 342251 w 1179513"/>
                  <a:gd name="connsiteY234" fmla="*/ 233744 h 1179513"/>
                  <a:gd name="connsiteX235" fmla="*/ 340815 w 1179513"/>
                  <a:gd name="connsiteY235" fmla="*/ 230170 h 1179513"/>
                  <a:gd name="connsiteX236" fmla="*/ 330766 w 1179513"/>
                  <a:gd name="connsiteY236" fmla="*/ 203722 h 1179513"/>
                  <a:gd name="connsiteX237" fmla="*/ 328612 w 1179513"/>
                  <a:gd name="connsiteY237" fmla="*/ 201578 h 1179513"/>
                  <a:gd name="connsiteX238" fmla="*/ 330766 w 1179513"/>
                  <a:gd name="connsiteY238" fmla="*/ 198718 h 1179513"/>
                  <a:gd name="connsiteX239" fmla="*/ 422647 w 1179513"/>
                  <a:gd name="connsiteY239" fmla="*/ 70052 h 1179513"/>
                  <a:gd name="connsiteX240" fmla="*/ 526014 w 1179513"/>
                  <a:gd name="connsiteY240" fmla="*/ 3574 h 1179513"/>
                  <a:gd name="connsiteX241" fmla="*/ 576262 w 1179513"/>
                  <a:gd name="connsiteY241" fmla="*/ 0 h 1179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179513" h="1179513">
                    <a:moveTo>
                      <a:pt x="879944" y="1017588"/>
                    </a:moveTo>
                    <a:cubicBezTo>
                      <a:pt x="873512" y="1026206"/>
                      <a:pt x="869939" y="1036260"/>
                      <a:pt x="869939" y="1047033"/>
                    </a:cubicBezTo>
                    <a:cubicBezTo>
                      <a:pt x="869939" y="1059241"/>
                      <a:pt x="874227" y="1071450"/>
                      <a:pt x="883517" y="1080786"/>
                    </a:cubicBezTo>
                    <a:cubicBezTo>
                      <a:pt x="887805" y="1085095"/>
                      <a:pt x="892808" y="1088686"/>
                      <a:pt x="898525" y="1090840"/>
                    </a:cubicBezTo>
                    <a:cubicBezTo>
                      <a:pt x="839922" y="1127466"/>
                      <a:pt x="774173" y="1153320"/>
                      <a:pt x="704850" y="1168401"/>
                    </a:cubicBezTo>
                    <a:cubicBezTo>
                      <a:pt x="724861" y="1154756"/>
                      <a:pt x="748445" y="1136084"/>
                      <a:pt x="769885" y="1114539"/>
                    </a:cubicBezTo>
                    <a:cubicBezTo>
                      <a:pt x="797042" y="1088686"/>
                      <a:pt x="821341" y="1057805"/>
                      <a:pt x="842781" y="1022615"/>
                    </a:cubicBezTo>
                    <a:cubicBezTo>
                      <a:pt x="847069" y="1024052"/>
                      <a:pt x="851357" y="1024770"/>
                      <a:pt x="855645" y="1024770"/>
                    </a:cubicBezTo>
                    <a:cubicBezTo>
                      <a:pt x="864221" y="1024770"/>
                      <a:pt x="872797" y="1021897"/>
                      <a:pt x="879944" y="1017588"/>
                    </a:cubicBezTo>
                    <a:close/>
                    <a:moveTo>
                      <a:pt x="262876" y="950913"/>
                    </a:moveTo>
                    <a:cubicBezTo>
                      <a:pt x="262876" y="950913"/>
                      <a:pt x="262876" y="950913"/>
                      <a:pt x="264307" y="954490"/>
                    </a:cubicBezTo>
                    <a:cubicBezTo>
                      <a:pt x="272893" y="970945"/>
                      <a:pt x="291496" y="979530"/>
                      <a:pt x="309383" y="974522"/>
                    </a:cubicBezTo>
                    <a:cubicBezTo>
                      <a:pt x="309383" y="974522"/>
                      <a:pt x="309383" y="974522"/>
                      <a:pt x="311530" y="974522"/>
                    </a:cubicBezTo>
                    <a:cubicBezTo>
                      <a:pt x="311530" y="974522"/>
                      <a:pt x="311530" y="974522"/>
                      <a:pt x="312961" y="975953"/>
                    </a:cubicBezTo>
                    <a:cubicBezTo>
                      <a:pt x="339434" y="1031040"/>
                      <a:pt x="373062" y="1079689"/>
                      <a:pt x="411699" y="1118322"/>
                    </a:cubicBezTo>
                    <a:cubicBezTo>
                      <a:pt x="433164" y="1138353"/>
                      <a:pt x="454628" y="1154808"/>
                      <a:pt x="474662" y="1168401"/>
                    </a:cubicBezTo>
                    <a:cubicBezTo>
                      <a:pt x="356606" y="1144792"/>
                      <a:pt x="251428" y="1084697"/>
                      <a:pt x="169862" y="1003139"/>
                    </a:cubicBezTo>
                    <a:cubicBezTo>
                      <a:pt x="186318" y="989546"/>
                      <a:pt x="214938" y="970945"/>
                      <a:pt x="259299" y="953059"/>
                    </a:cubicBezTo>
                    <a:cubicBezTo>
                      <a:pt x="259299" y="953059"/>
                      <a:pt x="259299" y="953059"/>
                      <a:pt x="262876" y="950913"/>
                    </a:cubicBezTo>
                    <a:close/>
                    <a:moveTo>
                      <a:pt x="626998" y="903288"/>
                    </a:moveTo>
                    <a:cubicBezTo>
                      <a:pt x="626998" y="903288"/>
                      <a:pt x="626998" y="903288"/>
                      <a:pt x="630581" y="903288"/>
                    </a:cubicBezTo>
                    <a:cubicBezTo>
                      <a:pt x="671428" y="904002"/>
                      <a:pt x="710125" y="906143"/>
                      <a:pt x="745956" y="910426"/>
                    </a:cubicBezTo>
                    <a:cubicBezTo>
                      <a:pt x="746673" y="921846"/>
                      <a:pt x="750972" y="933266"/>
                      <a:pt x="759572" y="941831"/>
                    </a:cubicBezTo>
                    <a:cubicBezTo>
                      <a:pt x="768171" y="951110"/>
                      <a:pt x="780354" y="956106"/>
                      <a:pt x="793253" y="956106"/>
                    </a:cubicBezTo>
                    <a:cubicBezTo>
                      <a:pt x="804002" y="956106"/>
                      <a:pt x="814034" y="952538"/>
                      <a:pt x="821917" y="946114"/>
                    </a:cubicBezTo>
                    <a:cubicBezTo>
                      <a:pt x="805435" y="964671"/>
                      <a:pt x="805435" y="992508"/>
                      <a:pt x="822634" y="1010352"/>
                    </a:cubicBezTo>
                    <a:cubicBezTo>
                      <a:pt x="824067" y="1011780"/>
                      <a:pt x="824784" y="1012493"/>
                      <a:pt x="825500" y="1013207"/>
                    </a:cubicBezTo>
                    <a:cubicBezTo>
                      <a:pt x="805435" y="1045326"/>
                      <a:pt x="783220" y="1073877"/>
                      <a:pt x="758855" y="1098145"/>
                    </a:cubicBezTo>
                    <a:cubicBezTo>
                      <a:pt x="717291" y="1139543"/>
                      <a:pt x="674295" y="1163097"/>
                      <a:pt x="644197" y="1175944"/>
                    </a:cubicBezTo>
                    <a:cubicBezTo>
                      <a:pt x="626998" y="1178086"/>
                      <a:pt x="611949" y="1179513"/>
                      <a:pt x="596900" y="1179513"/>
                    </a:cubicBezTo>
                    <a:cubicBezTo>
                      <a:pt x="596900" y="1179513"/>
                      <a:pt x="596900" y="1179513"/>
                      <a:pt x="596900" y="936121"/>
                    </a:cubicBezTo>
                    <a:cubicBezTo>
                      <a:pt x="596900" y="936121"/>
                      <a:pt x="596900" y="936121"/>
                      <a:pt x="599050" y="936121"/>
                    </a:cubicBezTo>
                    <a:cubicBezTo>
                      <a:pt x="614099" y="931125"/>
                      <a:pt x="624132" y="919705"/>
                      <a:pt x="626998" y="904716"/>
                    </a:cubicBezTo>
                    <a:cubicBezTo>
                      <a:pt x="626998" y="904716"/>
                      <a:pt x="626998" y="904716"/>
                      <a:pt x="626998" y="903288"/>
                    </a:cubicBezTo>
                    <a:close/>
                    <a:moveTo>
                      <a:pt x="543242" y="903288"/>
                    </a:moveTo>
                    <a:cubicBezTo>
                      <a:pt x="543242" y="903288"/>
                      <a:pt x="543242" y="903288"/>
                      <a:pt x="546114" y="903288"/>
                    </a:cubicBezTo>
                    <a:cubicBezTo>
                      <a:pt x="546114" y="903288"/>
                      <a:pt x="546114" y="903288"/>
                      <a:pt x="546114" y="904716"/>
                    </a:cubicBezTo>
                    <a:cubicBezTo>
                      <a:pt x="551138" y="919705"/>
                      <a:pt x="561188" y="931125"/>
                      <a:pt x="574827" y="936121"/>
                    </a:cubicBezTo>
                    <a:cubicBezTo>
                      <a:pt x="574827" y="936121"/>
                      <a:pt x="574827" y="936121"/>
                      <a:pt x="576262" y="936121"/>
                    </a:cubicBezTo>
                    <a:cubicBezTo>
                      <a:pt x="576262" y="936121"/>
                      <a:pt x="576262" y="936121"/>
                      <a:pt x="576262" y="1179513"/>
                    </a:cubicBezTo>
                    <a:cubicBezTo>
                      <a:pt x="563341" y="1178086"/>
                      <a:pt x="549703" y="1178086"/>
                      <a:pt x="536064" y="1175944"/>
                    </a:cubicBezTo>
                    <a:cubicBezTo>
                      <a:pt x="504480" y="1163097"/>
                      <a:pt x="464281" y="1139543"/>
                      <a:pt x="424083" y="1099572"/>
                    </a:cubicBezTo>
                    <a:cubicBezTo>
                      <a:pt x="387474" y="1063170"/>
                      <a:pt x="355890" y="1018203"/>
                      <a:pt x="330766" y="964671"/>
                    </a:cubicBezTo>
                    <a:cubicBezTo>
                      <a:pt x="330766" y="964671"/>
                      <a:pt x="330766" y="964671"/>
                      <a:pt x="328612" y="963244"/>
                    </a:cubicBezTo>
                    <a:cubicBezTo>
                      <a:pt x="328612" y="963244"/>
                      <a:pt x="328612" y="963244"/>
                      <a:pt x="330766" y="961103"/>
                    </a:cubicBezTo>
                    <a:cubicBezTo>
                      <a:pt x="337226" y="953251"/>
                      <a:pt x="340815" y="943259"/>
                      <a:pt x="340815" y="931125"/>
                    </a:cubicBezTo>
                    <a:cubicBezTo>
                      <a:pt x="340815" y="931125"/>
                      <a:pt x="340815" y="931125"/>
                      <a:pt x="340815" y="928270"/>
                    </a:cubicBezTo>
                    <a:cubicBezTo>
                      <a:pt x="340815" y="928270"/>
                      <a:pt x="340815" y="928270"/>
                      <a:pt x="343687" y="926128"/>
                    </a:cubicBezTo>
                    <a:cubicBezTo>
                      <a:pt x="402548" y="913281"/>
                      <a:pt x="469306" y="904716"/>
                      <a:pt x="543242" y="903288"/>
                    </a:cubicBezTo>
                    <a:close/>
                    <a:moveTo>
                      <a:pt x="988495" y="879475"/>
                    </a:moveTo>
                    <a:cubicBezTo>
                      <a:pt x="1007237" y="879475"/>
                      <a:pt x="1026700" y="881743"/>
                      <a:pt x="1046163" y="887035"/>
                    </a:cubicBezTo>
                    <a:cubicBezTo>
                      <a:pt x="1026700" y="882499"/>
                      <a:pt x="1007958" y="880231"/>
                      <a:pt x="988495" y="880231"/>
                    </a:cubicBezTo>
                    <a:cubicBezTo>
                      <a:pt x="965427" y="880231"/>
                      <a:pt x="943081" y="883255"/>
                      <a:pt x="920734" y="890058"/>
                    </a:cubicBezTo>
                    <a:cubicBezTo>
                      <a:pt x="914967" y="891570"/>
                      <a:pt x="909921" y="893838"/>
                      <a:pt x="904875" y="895350"/>
                    </a:cubicBezTo>
                    <a:cubicBezTo>
                      <a:pt x="910642" y="893838"/>
                      <a:pt x="916409" y="891570"/>
                      <a:pt x="922176" y="889303"/>
                    </a:cubicBezTo>
                    <a:cubicBezTo>
                      <a:pt x="944522" y="882499"/>
                      <a:pt x="966148" y="879475"/>
                      <a:pt x="988495" y="879475"/>
                    </a:cubicBezTo>
                    <a:close/>
                    <a:moveTo>
                      <a:pt x="975138" y="588963"/>
                    </a:moveTo>
                    <a:lnTo>
                      <a:pt x="1179513" y="588963"/>
                    </a:lnTo>
                    <a:cubicBezTo>
                      <a:pt x="1179513" y="588963"/>
                      <a:pt x="1179513" y="588963"/>
                      <a:pt x="1179513" y="590384"/>
                    </a:cubicBezTo>
                    <a:cubicBezTo>
                      <a:pt x="1179513" y="671376"/>
                      <a:pt x="1163135" y="748816"/>
                      <a:pt x="1133226" y="819151"/>
                    </a:cubicBezTo>
                    <a:cubicBezTo>
                      <a:pt x="1085515" y="796417"/>
                      <a:pt x="1037092" y="785049"/>
                      <a:pt x="987956" y="785049"/>
                    </a:cubicBezTo>
                    <a:cubicBezTo>
                      <a:pt x="968729" y="785049"/>
                      <a:pt x="949502" y="787181"/>
                      <a:pt x="930275" y="790733"/>
                    </a:cubicBezTo>
                    <a:cubicBezTo>
                      <a:pt x="940957" y="737449"/>
                      <a:pt x="946654" y="680612"/>
                      <a:pt x="948790" y="620223"/>
                    </a:cubicBezTo>
                    <a:cubicBezTo>
                      <a:pt x="948790" y="620223"/>
                      <a:pt x="948790" y="620223"/>
                      <a:pt x="948790" y="616671"/>
                    </a:cubicBezTo>
                    <a:cubicBezTo>
                      <a:pt x="948790" y="616671"/>
                      <a:pt x="948790" y="616671"/>
                      <a:pt x="950214" y="616671"/>
                    </a:cubicBezTo>
                    <a:cubicBezTo>
                      <a:pt x="962320" y="611698"/>
                      <a:pt x="970153" y="603883"/>
                      <a:pt x="973714" y="591805"/>
                    </a:cubicBezTo>
                    <a:cubicBezTo>
                      <a:pt x="973714" y="591805"/>
                      <a:pt x="973714" y="591805"/>
                      <a:pt x="975138" y="588963"/>
                    </a:cubicBezTo>
                    <a:close/>
                    <a:moveTo>
                      <a:pt x="626918" y="588963"/>
                    </a:moveTo>
                    <a:cubicBezTo>
                      <a:pt x="626918" y="588963"/>
                      <a:pt x="626918" y="588963"/>
                      <a:pt x="895653" y="588963"/>
                    </a:cubicBezTo>
                    <a:cubicBezTo>
                      <a:pt x="895653" y="588963"/>
                      <a:pt x="895653" y="588963"/>
                      <a:pt x="895653" y="591814"/>
                    </a:cubicBezTo>
                    <a:cubicBezTo>
                      <a:pt x="900656" y="605355"/>
                      <a:pt x="912091" y="615332"/>
                      <a:pt x="925671" y="618896"/>
                    </a:cubicBezTo>
                    <a:cubicBezTo>
                      <a:pt x="925671" y="618896"/>
                      <a:pt x="925671" y="618896"/>
                      <a:pt x="927100" y="618896"/>
                    </a:cubicBezTo>
                    <a:cubicBezTo>
                      <a:pt x="927100" y="618896"/>
                      <a:pt x="927100" y="618896"/>
                      <a:pt x="927100" y="621746"/>
                    </a:cubicBezTo>
                    <a:cubicBezTo>
                      <a:pt x="924956" y="684462"/>
                      <a:pt x="918524" y="742189"/>
                      <a:pt x="907803" y="795640"/>
                    </a:cubicBezTo>
                    <a:cubicBezTo>
                      <a:pt x="903515" y="797065"/>
                      <a:pt x="898511" y="798491"/>
                      <a:pt x="894223" y="799916"/>
                    </a:cubicBezTo>
                    <a:cubicBezTo>
                      <a:pt x="814175" y="823435"/>
                      <a:pt x="764859" y="870471"/>
                      <a:pt x="759856" y="875460"/>
                    </a:cubicBezTo>
                    <a:cubicBezTo>
                      <a:pt x="755568" y="879736"/>
                      <a:pt x="751994" y="884012"/>
                      <a:pt x="749850" y="889001"/>
                    </a:cubicBezTo>
                    <a:cubicBezTo>
                      <a:pt x="711970" y="884725"/>
                      <a:pt x="671231" y="882587"/>
                      <a:pt x="629063" y="881162"/>
                    </a:cubicBezTo>
                    <a:cubicBezTo>
                      <a:pt x="629063" y="881162"/>
                      <a:pt x="629063" y="881162"/>
                      <a:pt x="626918" y="881162"/>
                    </a:cubicBezTo>
                    <a:cubicBezTo>
                      <a:pt x="626918" y="881162"/>
                      <a:pt x="626918" y="881162"/>
                      <a:pt x="625489" y="878311"/>
                    </a:cubicBezTo>
                    <a:cubicBezTo>
                      <a:pt x="620486" y="866195"/>
                      <a:pt x="611909" y="856218"/>
                      <a:pt x="599044" y="853367"/>
                    </a:cubicBezTo>
                    <a:cubicBezTo>
                      <a:pt x="599044" y="853367"/>
                      <a:pt x="599044" y="853367"/>
                      <a:pt x="596900" y="851229"/>
                    </a:cubicBezTo>
                    <a:cubicBezTo>
                      <a:pt x="596900" y="851229"/>
                      <a:pt x="596900" y="851229"/>
                      <a:pt x="596900" y="618896"/>
                    </a:cubicBezTo>
                    <a:cubicBezTo>
                      <a:pt x="596900" y="618896"/>
                      <a:pt x="596900" y="618896"/>
                      <a:pt x="599044" y="616758"/>
                    </a:cubicBezTo>
                    <a:cubicBezTo>
                      <a:pt x="611909" y="613907"/>
                      <a:pt x="621915" y="603929"/>
                      <a:pt x="625489" y="591814"/>
                    </a:cubicBezTo>
                    <a:cubicBezTo>
                      <a:pt x="625489" y="591814"/>
                      <a:pt x="625489" y="591814"/>
                      <a:pt x="626918" y="588963"/>
                    </a:cubicBezTo>
                    <a:close/>
                    <a:moveTo>
                      <a:pt x="282272" y="588963"/>
                    </a:moveTo>
                    <a:cubicBezTo>
                      <a:pt x="282272" y="588963"/>
                      <a:pt x="282272" y="588963"/>
                      <a:pt x="548298" y="588963"/>
                    </a:cubicBezTo>
                    <a:cubicBezTo>
                      <a:pt x="548298" y="588963"/>
                      <a:pt x="548298" y="588963"/>
                      <a:pt x="548298" y="591817"/>
                    </a:cubicBezTo>
                    <a:cubicBezTo>
                      <a:pt x="553318" y="603946"/>
                      <a:pt x="563356" y="613935"/>
                      <a:pt x="574829" y="616789"/>
                    </a:cubicBezTo>
                    <a:cubicBezTo>
                      <a:pt x="574829" y="616789"/>
                      <a:pt x="574829" y="616789"/>
                      <a:pt x="576263" y="618929"/>
                    </a:cubicBezTo>
                    <a:cubicBezTo>
                      <a:pt x="576263" y="618929"/>
                      <a:pt x="576263" y="618929"/>
                      <a:pt x="576263" y="851525"/>
                    </a:cubicBezTo>
                    <a:cubicBezTo>
                      <a:pt x="576263" y="851525"/>
                      <a:pt x="576263" y="851525"/>
                      <a:pt x="574829" y="853665"/>
                    </a:cubicBezTo>
                    <a:cubicBezTo>
                      <a:pt x="563356" y="856519"/>
                      <a:pt x="553318" y="866508"/>
                      <a:pt x="548298" y="878637"/>
                    </a:cubicBezTo>
                    <a:cubicBezTo>
                      <a:pt x="548298" y="878637"/>
                      <a:pt x="548298" y="878637"/>
                      <a:pt x="548298" y="881491"/>
                    </a:cubicBezTo>
                    <a:cubicBezTo>
                      <a:pt x="548298" y="881491"/>
                      <a:pt x="548298" y="881491"/>
                      <a:pt x="544713" y="881491"/>
                    </a:cubicBezTo>
                    <a:cubicBezTo>
                      <a:pt x="467988" y="883632"/>
                      <a:pt x="397717" y="891480"/>
                      <a:pt x="336051" y="906463"/>
                    </a:cubicBezTo>
                    <a:cubicBezTo>
                      <a:pt x="336051" y="906463"/>
                      <a:pt x="336051" y="906463"/>
                      <a:pt x="333900" y="906463"/>
                    </a:cubicBezTo>
                    <a:cubicBezTo>
                      <a:pt x="333900" y="906463"/>
                      <a:pt x="333900" y="906463"/>
                      <a:pt x="332466" y="905036"/>
                    </a:cubicBezTo>
                    <a:cubicBezTo>
                      <a:pt x="326012" y="895047"/>
                      <a:pt x="313822" y="890053"/>
                      <a:pt x="302350" y="888626"/>
                    </a:cubicBezTo>
                    <a:cubicBezTo>
                      <a:pt x="302350" y="888626"/>
                      <a:pt x="302350" y="888626"/>
                      <a:pt x="300915" y="888626"/>
                    </a:cubicBezTo>
                    <a:cubicBezTo>
                      <a:pt x="300915" y="888626"/>
                      <a:pt x="300915" y="888626"/>
                      <a:pt x="298764" y="886486"/>
                    </a:cubicBezTo>
                    <a:cubicBezTo>
                      <a:pt x="273667" y="808716"/>
                      <a:pt x="260761" y="718817"/>
                      <a:pt x="257175" y="618929"/>
                    </a:cubicBezTo>
                    <a:cubicBezTo>
                      <a:pt x="257175" y="618929"/>
                      <a:pt x="257175" y="618929"/>
                      <a:pt x="257175" y="616789"/>
                    </a:cubicBezTo>
                    <a:cubicBezTo>
                      <a:pt x="257175" y="616789"/>
                      <a:pt x="257175" y="616789"/>
                      <a:pt x="258609" y="615362"/>
                    </a:cubicBezTo>
                    <a:cubicBezTo>
                      <a:pt x="270799" y="611795"/>
                      <a:pt x="277253" y="601806"/>
                      <a:pt x="282272" y="591817"/>
                    </a:cubicBezTo>
                    <a:cubicBezTo>
                      <a:pt x="282272" y="591817"/>
                      <a:pt x="282272" y="591817"/>
                      <a:pt x="282272" y="588963"/>
                    </a:cubicBezTo>
                    <a:close/>
                    <a:moveTo>
                      <a:pt x="0" y="588963"/>
                    </a:moveTo>
                    <a:cubicBezTo>
                      <a:pt x="0" y="588963"/>
                      <a:pt x="0" y="588963"/>
                      <a:pt x="202940" y="588963"/>
                    </a:cubicBezTo>
                    <a:cubicBezTo>
                      <a:pt x="202940" y="588963"/>
                      <a:pt x="202940" y="588963"/>
                      <a:pt x="205084" y="591813"/>
                    </a:cubicBezTo>
                    <a:cubicBezTo>
                      <a:pt x="210086" y="605351"/>
                      <a:pt x="221519" y="615326"/>
                      <a:pt x="235096" y="618889"/>
                    </a:cubicBezTo>
                    <a:cubicBezTo>
                      <a:pt x="235096" y="618889"/>
                      <a:pt x="235096" y="618889"/>
                      <a:pt x="237954" y="620314"/>
                    </a:cubicBezTo>
                    <a:cubicBezTo>
                      <a:pt x="237954" y="620314"/>
                      <a:pt x="237954" y="620314"/>
                      <a:pt x="237954" y="621739"/>
                    </a:cubicBezTo>
                    <a:cubicBezTo>
                      <a:pt x="241527" y="721492"/>
                      <a:pt x="254390" y="813408"/>
                      <a:pt x="279400" y="891073"/>
                    </a:cubicBezTo>
                    <a:cubicBezTo>
                      <a:pt x="279400" y="891073"/>
                      <a:pt x="279400" y="891073"/>
                      <a:pt x="279400" y="893210"/>
                    </a:cubicBezTo>
                    <a:cubicBezTo>
                      <a:pt x="279400" y="893210"/>
                      <a:pt x="279400" y="893210"/>
                      <a:pt x="277971" y="894635"/>
                    </a:cubicBezTo>
                    <a:cubicBezTo>
                      <a:pt x="266538" y="901048"/>
                      <a:pt x="259392" y="914586"/>
                      <a:pt x="257963" y="928124"/>
                    </a:cubicBezTo>
                    <a:cubicBezTo>
                      <a:pt x="257963" y="928124"/>
                      <a:pt x="257963" y="928124"/>
                      <a:pt x="257963" y="929549"/>
                    </a:cubicBezTo>
                    <a:cubicBezTo>
                      <a:pt x="257963" y="929549"/>
                      <a:pt x="257963" y="929549"/>
                      <a:pt x="256533" y="930974"/>
                    </a:cubicBezTo>
                    <a:cubicBezTo>
                      <a:pt x="206513" y="949499"/>
                      <a:pt x="172928" y="970875"/>
                      <a:pt x="155063" y="985838"/>
                    </a:cubicBezTo>
                    <a:cubicBezTo>
                      <a:pt x="58595" y="881097"/>
                      <a:pt x="0" y="743581"/>
                      <a:pt x="0" y="590388"/>
                    </a:cubicBezTo>
                    <a:cubicBezTo>
                      <a:pt x="0" y="588963"/>
                      <a:pt x="0" y="588963"/>
                      <a:pt x="0" y="588963"/>
                    </a:cubicBezTo>
                    <a:close/>
                    <a:moveTo>
                      <a:pt x="832043" y="258763"/>
                    </a:moveTo>
                    <a:cubicBezTo>
                      <a:pt x="832043" y="258763"/>
                      <a:pt x="832043" y="258763"/>
                      <a:pt x="833472" y="258763"/>
                    </a:cubicBezTo>
                    <a:cubicBezTo>
                      <a:pt x="833472" y="258763"/>
                      <a:pt x="833472" y="258763"/>
                      <a:pt x="835616" y="260192"/>
                    </a:cubicBezTo>
                    <a:cubicBezTo>
                      <a:pt x="845622" y="276627"/>
                      <a:pt x="862061" y="286631"/>
                      <a:pt x="882073" y="281629"/>
                    </a:cubicBezTo>
                    <a:cubicBezTo>
                      <a:pt x="882073" y="281629"/>
                      <a:pt x="882073" y="281629"/>
                      <a:pt x="885647" y="280200"/>
                    </a:cubicBezTo>
                    <a:cubicBezTo>
                      <a:pt x="885647" y="280200"/>
                      <a:pt x="885647" y="280200"/>
                      <a:pt x="885647" y="283773"/>
                    </a:cubicBezTo>
                    <a:cubicBezTo>
                      <a:pt x="910662" y="355229"/>
                      <a:pt x="923527" y="438832"/>
                      <a:pt x="927100" y="530296"/>
                    </a:cubicBezTo>
                    <a:cubicBezTo>
                      <a:pt x="927100" y="530296"/>
                      <a:pt x="927100" y="530296"/>
                      <a:pt x="927100" y="533868"/>
                    </a:cubicBezTo>
                    <a:cubicBezTo>
                      <a:pt x="927100" y="533868"/>
                      <a:pt x="927100" y="533868"/>
                      <a:pt x="925671" y="533868"/>
                    </a:cubicBezTo>
                    <a:cubicBezTo>
                      <a:pt x="910662" y="536727"/>
                      <a:pt x="898511" y="550303"/>
                      <a:pt x="893508" y="565309"/>
                    </a:cubicBezTo>
                    <a:cubicBezTo>
                      <a:pt x="893508" y="565309"/>
                      <a:pt x="893508" y="565309"/>
                      <a:pt x="893508" y="566738"/>
                    </a:cubicBezTo>
                    <a:cubicBezTo>
                      <a:pt x="893508" y="566738"/>
                      <a:pt x="893508" y="566738"/>
                      <a:pt x="626918" y="566738"/>
                    </a:cubicBezTo>
                    <a:cubicBezTo>
                      <a:pt x="626918" y="566738"/>
                      <a:pt x="626918" y="566738"/>
                      <a:pt x="626918" y="565309"/>
                    </a:cubicBezTo>
                    <a:cubicBezTo>
                      <a:pt x="624060" y="550303"/>
                      <a:pt x="611909" y="538870"/>
                      <a:pt x="599044" y="533868"/>
                    </a:cubicBezTo>
                    <a:cubicBezTo>
                      <a:pt x="599044" y="533868"/>
                      <a:pt x="599044" y="533868"/>
                      <a:pt x="596900" y="533868"/>
                    </a:cubicBezTo>
                    <a:cubicBezTo>
                      <a:pt x="596900" y="533868"/>
                      <a:pt x="596900" y="533868"/>
                      <a:pt x="596900" y="313784"/>
                    </a:cubicBezTo>
                    <a:cubicBezTo>
                      <a:pt x="596900" y="313784"/>
                      <a:pt x="596900" y="313784"/>
                      <a:pt x="599044" y="311641"/>
                    </a:cubicBezTo>
                    <a:cubicBezTo>
                      <a:pt x="611909" y="308782"/>
                      <a:pt x="624060" y="296635"/>
                      <a:pt x="626918" y="283773"/>
                    </a:cubicBezTo>
                    <a:cubicBezTo>
                      <a:pt x="626918" y="283773"/>
                      <a:pt x="626918" y="283773"/>
                      <a:pt x="626918" y="280200"/>
                    </a:cubicBezTo>
                    <a:cubicBezTo>
                      <a:pt x="626918" y="280200"/>
                      <a:pt x="626918" y="280200"/>
                      <a:pt x="630492" y="280200"/>
                    </a:cubicBezTo>
                    <a:cubicBezTo>
                      <a:pt x="704108" y="278771"/>
                      <a:pt x="772006" y="271625"/>
                      <a:pt x="832043" y="258763"/>
                    </a:cubicBezTo>
                    <a:close/>
                    <a:moveTo>
                      <a:pt x="336051" y="255588"/>
                    </a:moveTo>
                    <a:cubicBezTo>
                      <a:pt x="337485" y="255588"/>
                      <a:pt x="337485" y="255588"/>
                      <a:pt x="337485" y="255588"/>
                    </a:cubicBezTo>
                    <a:cubicBezTo>
                      <a:pt x="399151" y="269147"/>
                      <a:pt x="467988" y="279138"/>
                      <a:pt x="544713" y="280566"/>
                    </a:cubicBezTo>
                    <a:cubicBezTo>
                      <a:pt x="546147" y="280566"/>
                      <a:pt x="546147" y="280566"/>
                      <a:pt x="546147" y="280566"/>
                    </a:cubicBezTo>
                    <a:cubicBezTo>
                      <a:pt x="548298" y="281993"/>
                      <a:pt x="548298" y="281993"/>
                      <a:pt x="548298" y="281993"/>
                    </a:cubicBezTo>
                    <a:cubicBezTo>
                      <a:pt x="551166" y="296980"/>
                      <a:pt x="561205" y="309112"/>
                      <a:pt x="574829" y="311966"/>
                    </a:cubicBezTo>
                    <a:cubicBezTo>
                      <a:pt x="576263" y="314107"/>
                      <a:pt x="576263" y="314107"/>
                      <a:pt x="576263" y="314107"/>
                    </a:cubicBezTo>
                    <a:cubicBezTo>
                      <a:pt x="576263" y="533910"/>
                      <a:pt x="576263" y="533910"/>
                      <a:pt x="576263" y="533910"/>
                    </a:cubicBezTo>
                    <a:cubicBezTo>
                      <a:pt x="574829" y="533910"/>
                      <a:pt x="574829" y="533910"/>
                      <a:pt x="574829" y="533910"/>
                    </a:cubicBezTo>
                    <a:cubicBezTo>
                      <a:pt x="561205" y="538906"/>
                      <a:pt x="551166" y="550324"/>
                      <a:pt x="546147" y="565311"/>
                    </a:cubicBezTo>
                    <a:cubicBezTo>
                      <a:pt x="546147" y="566738"/>
                      <a:pt x="546147" y="566738"/>
                      <a:pt x="546147" y="566738"/>
                    </a:cubicBezTo>
                    <a:cubicBezTo>
                      <a:pt x="283706" y="566738"/>
                      <a:pt x="283706" y="566738"/>
                      <a:pt x="283706" y="566738"/>
                    </a:cubicBezTo>
                    <a:cubicBezTo>
                      <a:pt x="283706" y="565311"/>
                      <a:pt x="283706" y="565311"/>
                      <a:pt x="283706" y="565311"/>
                    </a:cubicBezTo>
                    <a:cubicBezTo>
                      <a:pt x="280838" y="551752"/>
                      <a:pt x="272233" y="541761"/>
                      <a:pt x="260761" y="536765"/>
                    </a:cubicBezTo>
                    <a:cubicBezTo>
                      <a:pt x="257175" y="535338"/>
                      <a:pt x="257175" y="535338"/>
                      <a:pt x="257175" y="535338"/>
                    </a:cubicBezTo>
                    <a:cubicBezTo>
                      <a:pt x="257175" y="533910"/>
                      <a:pt x="257175" y="533910"/>
                      <a:pt x="257175" y="533910"/>
                    </a:cubicBezTo>
                    <a:cubicBezTo>
                      <a:pt x="262195" y="436854"/>
                      <a:pt x="275819" y="351930"/>
                      <a:pt x="298764" y="279138"/>
                    </a:cubicBezTo>
                    <a:cubicBezTo>
                      <a:pt x="298764" y="276998"/>
                      <a:pt x="298764" y="276998"/>
                      <a:pt x="298764" y="276998"/>
                    </a:cubicBezTo>
                    <a:cubicBezTo>
                      <a:pt x="302350" y="276998"/>
                      <a:pt x="302350" y="276998"/>
                      <a:pt x="302350" y="276998"/>
                    </a:cubicBezTo>
                    <a:cubicBezTo>
                      <a:pt x="315973" y="275570"/>
                      <a:pt x="327446" y="269147"/>
                      <a:pt x="333900" y="257015"/>
                    </a:cubicBezTo>
                    <a:cubicBezTo>
                      <a:pt x="336051" y="255588"/>
                      <a:pt x="336051" y="255588"/>
                      <a:pt x="336051" y="255588"/>
                    </a:cubicBezTo>
                    <a:close/>
                    <a:moveTo>
                      <a:pt x="1019471" y="187325"/>
                    </a:moveTo>
                    <a:cubicBezTo>
                      <a:pt x="1112973" y="287171"/>
                      <a:pt x="1172929" y="420536"/>
                      <a:pt x="1177925" y="566738"/>
                    </a:cubicBezTo>
                    <a:cubicBezTo>
                      <a:pt x="1177925" y="566738"/>
                      <a:pt x="1177925" y="566738"/>
                      <a:pt x="974504" y="566738"/>
                    </a:cubicBezTo>
                    <a:cubicBezTo>
                      <a:pt x="974504" y="566738"/>
                      <a:pt x="974504" y="566738"/>
                      <a:pt x="974504" y="565312"/>
                    </a:cubicBezTo>
                    <a:cubicBezTo>
                      <a:pt x="971649" y="551761"/>
                      <a:pt x="961656" y="540350"/>
                      <a:pt x="949522" y="535358"/>
                    </a:cubicBezTo>
                    <a:cubicBezTo>
                      <a:pt x="949522" y="535358"/>
                      <a:pt x="949522" y="535358"/>
                      <a:pt x="948095" y="533932"/>
                    </a:cubicBezTo>
                    <a:cubicBezTo>
                      <a:pt x="948095" y="533932"/>
                      <a:pt x="948095" y="533932"/>
                      <a:pt x="948095" y="531792"/>
                    </a:cubicBezTo>
                    <a:cubicBezTo>
                      <a:pt x="943098" y="435513"/>
                      <a:pt x="928109" y="347078"/>
                      <a:pt x="903128" y="270767"/>
                    </a:cubicBezTo>
                    <a:cubicBezTo>
                      <a:pt x="903128" y="270767"/>
                      <a:pt x="903128" y="270767"/>
                      <a:pt x="901700" y="269341"/>
                    </a:cubicBezTo>
                    <a:cubicBezTo>
                      <a:pt x="901700" y="269341"/>
                      <a:pt x="901700" y="269341"/>
                      <a:pt x="903128" y="267202"/>
                    </a:cubicBezTo>
                    <a:cubicBezTo>
                      <a:pt x="910265" y="260783"/>
                      <a:pt x="913120" y="250798"/>
                      <a:pt x="913120" y="239387"/>
                    </a:cubicBezTo>
                    <a:cubicBezTo>
                      <a:pt x="913120" y="239387"/>
                      <a:pt x="913120" y="239387"/>
                      <a:pt x="913120" y="237248"/>
                    </a:cubicBezTo>
                    <a:cubicBezTo>
                      <a:pt x="913120" y="237248"/>
                      <a:pt x="913120" y="237248"/>
                      <a:pt x="916689" y="235821"/>
                    </a:cubicBezTo>
                    <a:cubicBezTo>
                      <a:pt x="964511" y="219418"/>
                      <a:pt x="998058" y="200875"/>
                      <a:pt x="1019471" y="187325"/>
                    </a:cubicBezTo>
                    <a:close/>
                    <a:moveTo>
                      <a:pt x="165132" y="180975"/>
                    </a:moveTo>
                    <a:cubicBezTo>
                      <a:pt x="182987" y="194573"/>
                      <a:pt x="212982" y="213181"/>
                      <a:pt x="256546" y="229643"/>
                    </a:cubicBezTo>
                    <a:cubicBezTo>
                      <a:pt x="256546" y="229643"/>
                      <a:pt x="256546" y="229643"/>
                      <a:pt x="257975" y="229643"/>
                    </a:cubicBezTo>
                    <a:cubicBezTo>
                      <a:pt x="257975" y="229643"/>
                      <a:pt x="257975" y="229643"/>
                      <a:pt x="257975" y="233221"/>
                    </a:cubicBezTo>
                    <a:cubicBezTo>
                      <a:pt x="257975" y="248251"/>
                      <a:pt x="266545" y="261134"/>
                      <a:pt x="277972" y="269722"/>
                    </a:cubicBezTo>
                    <a:cubicBezTo>
                      <a:pt x="277972" y="269722"/>
                      <a:pt x="277972" y="269722"/>
                      <a:pt x="279400" y="269722"/>
                    </a:cubicBezTo>
                    <a:cubicBezTo>
                      <a:pt x="279400" y="269722"/>
                      <a:pt x="279400" y="269722"/>
                      <a:pt x="279400" y="273301"/>
                    </a:cubicBezTo>
                    <a:cubicBezTo>
                      <a:pt x="256546" y="348449"/>
                      <a:pt x="241549" y="433618"/>
                      <a:pt x="237978" y="530237"/>
                    </a:cubicBezTo>
                    <a:cubicBezTo>
                      <a:pt x="237978" y="530237"/>
                      <a:pt x="237978" y="530237"/>
                      <a:pt x="237978" y="531669"/>
                    </a:cubicBezTo>
                    <a:cubicBezTo>
                      <a:pt x="237978" y="531669"/>
                      <a:pt x="237978" y="531669"/>
                      <a:pt x="235121" y="533816"/>
                    </a:cubicBezTo>
                    <a:cubicBezTo>
                      <a:pt x="220123" y="536679"/>
                      <a:pt x="206554" y="548846"/>
                      <a:pt x="202983" y="565307"/>
                    </a:cubicBezTo>
                    <a:cubicBezTo>
                      <a:pt x="202983" y="565307"/>
                      <a:pt x="202983" y="565307"/>
                      <a:pt x="201555" y="566738"/>
                    </a:cubicBezTo>
                    <a:cubicBezTo>
                      <a:pt x="201555" y="566738"/>
                      <a:pt x="201555" y="566738"/>
                      <a:pt x="1587" y="566738"/>
                    </a:cubicBezTo>
                    <a:cubicBezTo>
                      <a:pt x="6586" y="418588"/>
                      <a:pt x="68719" y="281173"/>
                      <a:pt x="165132" y="180975"/>
                    </a:cubicBezTo>
                    <a:close/>
                    <a:moveTo>
                      <a:pt x="458787" y="14288"/>
                    </a:moveTo>
                    <a:cubicBezTo>
                      <a:pt x="442352" y="25649"/>
                      <a:pt x="425202" y="37009"/>
                      <a:pt x="410911" y="51920"/>
                    </a:cubicBezTo>
                    <a:cubicBezTo>
                      <a:pt x="372323" y="88843"/>
                      <a:pt x="338738" y="133576"/>
                      <a:pt x="312299" y="188249"/>
                    </a:cubicBezTo>
                    <a:cubicBezTo>
                      <a:pt x="312299" y="188249"/>
                      <a:pt x="312299" y="188249"/>
                      <a:pt x="310870" y="189670"/>
                    </a:cubicBezTo>
                    <a:cubicBezTo>
                      <a:pt x="310870" y="189670"/>
                      <a:pt x="310870" y="189670"/>
                      <a:pt x="308726" y="189670"/>
                    </a:cubicBezTo>
                    <a:cubicBezTo>
                      <a:pt x="292291" y="184699"/>
                      <a:pt x="273712" y="193220"/>
                      <a:pt x="265851" y="206001"/>
                    </a:cubicBezTo>
                    <a:cubicBezTo>
                      <a:pt x="265851" y="206001"/>
                      <a:pt x="265851" y="206001"/>
                      <a:pt x="263707" y="209551"/>
                    </a:cubicBezTo>
                    <a:cubicBezTo>
                      <a:pt x="263707" y="209551"/>
                      <a:pt x="263707" y="209551"/>
                      <a:pt x="260849" y="208131"/>
                    </a:cubicBezTo>
                    <a:cubicBezTo>
                      <a:pt x="224405" y="193220"/>
                      <a:pt x="197251" y="178309"/>
                      <a:pt x="179387" y="164818"/>
                    </a:cubicBezTo>
                    <a:cubicBezTo>
                      <a:pt x="255847" y="91683"/>
                      <a:pt x="352315" y="39140"/>
                      <a:pt x="458787" y="14288"/>
                    </a:cubicBezTo>
                    <a:close/>
                    <a:moveTo>
                      <a:pt x="711200" y="11113"/>
                    </a:moveTo>
                    <a:cubicBezTo>
                      <a:pt x="823828" y="34825"/>
                      <a:pt x="925764" y="91591"/>
                      <a:pt x="1004888" y="170632"/>
                    </a:cubicBezTo>
                    <a:cubicBezTo>
                      <a:pt x="984929" y="184284"/>
                      <a:pt x="954990" y="200811"/>
                      <a:pt x="910794" y="215901"/>
                    </a:cubicBezTo>
                    <a:cubicBezTo>
                      <a:pt x="910794" y="215901"/>
                      <a:pt x="910794" y="215901"/>
                      <a:pt x="907230" y="215901"/>
                    </a:cubicBezTo>
                    <a:cubicBezTo>
                      <a:pt x="907230" y="215901"/>
                      <a:pt x="907230" y="215901"/>
                      <a:pt x="907230" y="214464"/>
                    </a:cubicBezTo>
                    <a:cubicBezTo>
                      <a:pt x="898676" y="202248"/>
                      <a:pt x="887270" y="195781"/>
                      <a:pt x="873727" y="195781"/>
                    </a:cubicBezTo>
                    <a:cubicBezTo>
                      <a:pt x="873727" y="195781"/>
                      <a:pt x="873727" y="195781"/>
                      <a:pt x="872301" y="195781"/>
                    </a:cubicBezTo>
                    <a:cubicBezTo>
                      <a:pt x="872301" y="195781"/>
                      <a:pt x="872301" y="195781"/>
                      <a:pt x="870875" y="194344"/>
                    </a:cubicBezTo>
                    <a:cubicBezTo>
                      <a:pt x="843788" y="139016"/>
                      <a:pt x="808859" y="93747"/>
                      <a:pt x="768940" y="56382"/>
                    </a:cubicBezTo>
                    <a:cubicBezTo>
                      <a:pt x="749693" y="38418"/>
                      <a:pt x="729734" y="23328"/>
                      <a:pt x="711200" y="11113"/>
                    </a:cubicBezTo>
                    <a:close/>
                    <a:moveTo>
                      <a:pt x="596900" y="0"/>
                    </a:moveTo>
                    <a:cubicBezTo>
                      <a:pt x="611935" y="0"/>
                      <a:pt x="626969" y="0"/>
                      <a:pt x="644152" y="1430"/>
                    </a:cubicBezTo>
                    <a:cubicBezTo>
                      <a:pt x="675653" y="13581"/>
                      <a:pt x="715745" y="35026"/>
                      <a:pt x="755837" y="73626"/>
                    </a:cubicBezTo>
                    <a:cubicBezTo>
                      <a:pt x="792350" y="106507"/>
                      <a:pt x="823851" y="148681"/>
                      <a:pt x="851056" y="198718"/>
                    </a:cubicBezTo>
                    <a:cubicBezTo>
                      <a:pt x="851056" y="198718"/>
                      <a:pt x="851056" y="198718"/>
                      <a:pt x="852488" y="200148"/>
                    </a:cubicBezTo>
                    <a:cubicBezTo>
                      <a:pt x="852488" y="200148"/>
                      <a:pt x="852488" y="200148"/>
                      <a:pt x="848909" y="203722"/>
                    </a:cubicBezTo>
                    <a:cubicBezTo>
                      <a:pt x="838886" y="210155"/>
                      <a:pt x="832442" y="221592"/>
                      <a:pt x="831010" y="233744"/>
                    </a:cubicBezTo>
                    <a:cubicBezTo>
                      <a:pt x="831010" y="233744"/>
                      <a:pt x="831010" y="233744"/>
                      <a:pt x="831010" y="236604"/>
                    </a:cubicBezTo>
                    <a:cubicBezTo>
                      <a:pt x="831010" y="236604"/>
                      <a:pt x="831010" y="236604"/>
                      <a:pt x="827431" y="236604"/>
                    </a:cubicBezTo>
                    <a:cubicBezTo>
                      <a:pt x="768724" y="250185"/>
                      <a:pt x="702142" y="256619"/>
                      <a:pt x="629117" y="258763"/>
                    </a:cubicBezTo>
                    <a:cubicBezTo>
                      <a:pt x="629117" y="258763"/>
                      <a:pt x="629117" y="258763"/>
                      <a:pt x="626969" y="258763"/>
                    </a:cubicBezTo>
                    <a:cubicBezTo>
                      <a:pt x="626969" y="258763"/>
                      <a:pt x="626969" y="258763"/>
                      <a:pt x="626969" y="256619"/>
                    </a:cubicBezTo>
                    <a:cubicBezTo>
                      <a:pt x="621958" y="243752"/>
                      <a:pt x="611935" y="233744"/>
                      <a:pt x="599048" y="228741"/>
                    </a:cubicBezTo>
                    <a:cubicBezTo>
                      <a:pt x="599048" y="228741"/>
                      <a:pt x="599048" y="228741"/>
                      <a:pt x="596900" y="228741"/>
                    </a:cubicBezTo>
                    <a:cubicBezTo>
                      <a:pt x="596900" y="228741"/>
                      <a:pt x="596900" y="228741"/>
                      <a:pt x="596900" y="0"/>
                    </a:cubicBezTo>
                    <a:close/>
                    <a:moveTo>
                      <a:pt x="576262" y="0"/>
                    </a:moveTo>
                    <a:cubicBezTo>
                      <a:pt x="576262" y="0"/>
                      <a:pt x="576262" y="0"/>
                      <a:pt x="576262" y="228741"/>
                    </a:cubicBezTo>
                    <a:cubicBezTo>
                      <a:pt x="576262" y="228741"/>
                      <a:pt x="576262" y="228741"/>
                      <a:pt x="574827" y="228741"/>
                    </a:cubicBezTo>
                    <a:cubicBezTo>
                      <a:pt x="563341" y="233744"/>
                      <a:pt x="553292" y="243752"/>
                      <a:pt x="548267" y="256619"/>
                    </a:cubicBezTo>
                    <a:cubicBezTo>
                      <a:pt x="548267" y="256619"/>
                      <a:pt x="548267" y="256619"/>
                      <a:pt x="546114" y="258763"/>
                    </a:cubicBezTo>
                    <a:cubicBezTo>
                      <a:pt x="546114" y="258763"/>
                      <a:pt x="546114" y="258763"/>
                      <a:pt x="544678" y="258763"/>
                    </a:cubicBezTo>
                    <a:cubicBezTo>
                      <a:pt x="470742" y="256619"/>
                      <a:pt x="402548" y="248755"/>
                      <a:pt x="343687" y="233744"/>
                    </a:cubicBezTo>
                    <a:cubicBezTo>
                      <a:pt x="343687" y="233744"/>
                      <a:pt x="343687" y="233744"/>
                      <a:pt x="342251" y="233744"/>
                    </a:cubicBezTo>
                    <a:cubicBezTo>
                      <a:pt x="342251" y="233744"/>
                      <a:pt x="342251" y="233744"/>
                      <a:pt x="340815" y="230170"/>
                    </a:cubicBezTo>
                    <a:cubicBezTo>
                      <a:pt x="340815" y="220163"/>
                      <a:pt x="337226" y="210155"/>
                      <a:pt x="330766" y="203722"/>
                    </a:cubicBezTo>
                    <a:cubicBezTo>
                      <a:pt x="330766" y="203722"/>
                      <a:pt x="330766" y="203722"/>
                      <a:pt x="328612" y="201578"/>
                    </a:cubicBezTo>
                    <a:cubicBezTo>
                      <a:pt x="328612" y="201578"/>
                      <a:pt x="328612" y="201578"/>
                      <a:pt x="330766" y="198718"/>
                    </a:cubicBezTo>
                    <a:cubicBezTo>
                      <a:pt x="355890" y="148681"/>
                      <a:pt x="386038" y="103648"/>
                      <a:pt x="422647" y="70052"/>
                    </a:cubicBezTo>
                    <a:cubicBezTo>
                      <a:pt x="459257" y="35026"/>
                      <a:pt x="495866" y="15011"/>
                      <a:pt x="526014" y="3574"/>
                    </a:cubicBezTo>
                    <a:cubicBezTo>
                      <a:pt x="543242" y="0"/>
                      <a:pt x="559752" y="0"/>
                      <a:pt x="576262" y="0"/>
                    </a:cubicBezTo>
                    <a:close/>
                  </a:path>
                </a:pathLst>
              </a:custGeom>
              <a:solidFill>
                <a:schemeClr val="tx2"/>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74" name="Freeform 13">
                <a:extLst>
                  <a:ext uri="{FF2B5EF4-FFF2-40B4-BE49-F238E27FC236}">
                    <a16:creationId xmlns:a16="http://schemas.microsoft.com/office/drawing/2014/main" id="{80D576DF-7EFE-6E68-8D8A-F7B99580A8C2}"/>
                  </a:ext>
                </a:extLst>
              </p:cNvPr>
              <p:cNvSpPr>
                <a:spLocks/>
              </p:cNvSpPr>
              <p:nvPr/>
            </p:nvSpPr>
            <p:spPr bwMode="auto">
              <a:xfrm>
                <a:off x="6634163" y="2776538"/>
                <a:ext cx="1306513" cy="1304925"/>
              </a:xfrm>
              <a:custGeom>
                <a:avLst/>
                <a:gdLst>
                  <a:gd name="connsiteX0" fmla="*/ 1054100 w 1306513"/>
                  <a:gd name="connsiteY0" fmla="*/ 1155700 h 1304925"/>
                  <a:gd name="connsiteX1" fmla="*/ 1066367 w 1306513"/>
                  <a:gd name="connsiteY1" fmla="*/ 1157127 h 1304925"/>
                  <a:gd name="connsiteX2" fmla="*/ 1093787 w 1306513"/>
                  <a:gd name="connsiteY2" fmla="*/ 1194237 h 1304925"/>
                  <a:gd name="connsiteX3" fmla="*/ 1054100 w 1306513"/>
                  <a:gd name="connsiteY3" fmla="*/ 1233488 h 1304925"/>
                  <a:gd name="connsiteX4" fmla="*/ 1014412 w 1306513"/>
                  <a:gd name="connsiteY4" fmla="*/ 1194951 h 1304925"/>
                  <a:gd name="connsiteX5" fmla="*/ 1014412 w 1306513"/>
                  <a:gd name="connsiteY5" fmla="*/ 1194237 h 1304925"/>
                  <a:gd name="connsiteX6" fmla="*/ 1054100 w 1306513"/>
                  <a:gd name="connsiteY6" fmla="*/ 1155700 h 1304925"/>
                  <a:gd name="connsiteX7" fmla="*/ 1052675 w 1306513"/>
                  <a:gd name="connsiteY7" fmla="*/ 1065212 h 1304925"/>
                  <a:gd name="connsiteX8" fmla="*/ 1071200 w 1306513"/>
                  <a:gd name="connsiteY8" fmla="*/ 1066666 h 1304925"/>
                  <a:gd name="connsiteX9" fmla="*/ 1105400 w 1306513"/>
                  <a:gd name="connsiteY9" fmla="*/ 1077568 h 1304925"/>
                  <a:gd name="connsiteX10" fmla="*/ 1133187 w 1306513"/>
                  <a:gd name="connsiteY10" fmla="*/ 1094284 h 1304925"/>
                  <a:gd name="connsiteX11" fmla="*/ 1136750 w 1306513"/>
                  <a:gd name="connsiteY11" fmla="*/ 1097192 h 1304925"/>
                  <a:gd name="connsiteX12" fmla="*/ 1139600 w 1306513"/>
                  <a:gd name="connsiteY12" fmla="*/ 1119723 h 1304925"/>
                  <a:gd name="connsiteX13" fmla="*/ 1126775 w 1306513"/>
                  <a:gd name="connsiteY13" fmla="*/ 1125537 h 1304925"/>
                  <a:gd name="connsiteX14" fmla="*/ 1117512 w 1306513"/>
                  <a:gd name="connsiteY14" fmla="*/ 1122630 h 1304925"/>
                  <a:gd name="connsiteX15" fmla="*/ 1111100 w 1306513"/>
                  <a:gd name="connsiteY15" fmla="*/ 1117542 h 1304925"/>
                  <a:gd name="connsiteX16" fmla="*/ 1081175 w 1306513"/>
                  <a:gd name="connsiteY16" fmla="*/ 1101552 h 1304925"/>
                  <a:gd name="connsiteX17" fmla="*/ 1052675 w 1306513"/>
                  <a:gd name="connsiteY17" fmla="*/ 1096465 h 1304925"/>
                  <a:gd name="connsiteX18" fmla="*/ 1038425 w 1306513"/>
                  <a:gd name="connsiteY18" fmla="*/ 1097918 h 1304925"/>
                  <a:gd name="connsiteX19" fmla="*/ 992112 w 1306513"/>
                  <a:gd name="connsiteY19" fmla="*/ 1121176 h 1304925"/>
                  <a:gd name="connsiteX20" fmla="*/ 981425 w 1306513"/>
                  <a:gd name="connsiteY20" fmla="*/ 1125537 h 1304925"/>
                  <a:gd name="connsiteX21" fmla="*/ 970025 w 1306513"/>
                  <a:gd name="connsiteY21" fmla="*/ 1121176 h 1304925"/>
                  <a:gd name="connsiteX22" fmla="*/ 970025 w 1306513"/>
                  <a:gd name="connsiteY22" fmla="*/ 1098645 h 1304925"/>
                  <a:gd name="connsiteX23" fmla="*/ 1052675 w 1306513"/>
                  <a:gd name="connsiteY23" fmla="*/ 1065212 h 1304925"/>
                  <a:gd name="connsiteX24" fmla="*/ 1052397 w 1306513"/>
                  <a:gd name="connsiteY24" fmla="*/ 973137 h 1304925"/>
                  <a:gd name="connsiteX25" fmla="*/ 1135869 w 1306513"/>
                  <a:gd name="connsiteY25" fmla="*/ 990365 h 1304925"/>
                  <a:gd name="connsiteX26" fmla="*/ 1164407 w 1306513"/>
                  <a:gd name="connsiteY26" fmla="*/ 1004721 h 1304925"/>
                  <a:gd name="connsiteX27" fmla="*/ 1191518 w 1306513"/>
                  <a:gd name="connsiteY27" fmla="*/ 1021949 h 1304925"/>
                  <a:gd name="connsiteX28" fmla="*/ 1197939 w 1306513"/>
                  <a:gd name="connsiteY28" fmla="*/ 1026974 h 1304925"/>
                  <a:gd name="connsiteX29" fmla="*/ 1200793 w 1306513"/>
                  <a:gd name="connsiteY29" fmla="*/ 1049227 h 1304925"/>
                  <a:gd name="connsiteX30" fmla="*/ 1188664 w 1306513"/>
                  <a:gd name="connsiteY30" fmla="*/ 1055687 h 1304925"/>
                  <a:gd name="connsiteX31" fmla="*/ 1178676 w 1306513"/>
                  <a:gd name="connsiteY31" fmla="*/ 1052098 h 1304925"/>
                  <a:gd name="connsiteX32" fmla="*/ 1172968 w 1306513"/>
                  <a:gd name="connsiteY32" fmla="*/ 1047791 h 1304925"/>
                  <a:gd name="connsiteX33" fmla="*/ 1145858 w 1306513"/>
                  <a:gd name="connsiteY33" fmla="*/ 1030563 h 1304925"/>
                  <a:gd name="connsiteX34" fmla="*/ 1116607 w 1306513"/>
                  <a:gd name="connsiteY34" fmla="*/ 1016207 h 1304925"/>
                  <a:gd name="connsiteX35" fmla="*/ 1052397 w 1306513"/>
                  <a:gd name="connsiteY35" fmla="*/ 1004004 h 1304925"/>
                  <a:gd name="connsiteX36" fmla="*/ 1029567 w 1306513"/>
                  <a:gd name="connsiteY36" fmla="*/ 1005439 h 1304925"/>
                  <a:gd name="connsiteX37" fmla="*/ 993894 w 1306513"/>
                  <a:gd name="connsiteY37" fmla="*/ 1014771 h 1304925"/>
                  <a:gd name="connsiteX38" fmla="*/ 931112 w 1306513"/>
                  <a:gd name="connsiteY38" fmla="*/ 1051380 h 1304925"/>
                  <a:gd name="connsiteX39" fmla="*/ 925404 w 1306513"/>
                  <a:gd name="connsiteY39" fmla="*/ 1054969 h 1304925"/>
                  <a:gd name="connsiteX40" fmla="*/ 920410 w 1306513"/>
                  <a:gd name="connsiteY40" fmla="*/ 1055687 h 1304925"/>
                  <a:gd name="connsiteX41" fmla="*/ 908995 w 1306513"/>
                  <a:gd name="connsiteY41" fmla="*/ 1050662 h 1304925"/>
                  <a:gd name="connsiteX42" fmla="*/ 905428 w 1306513"/>
                  <a:gd name="connsiteY42" fmla="*/ 1044920 h 1304925"/>
                  <a:gd name="connsiteX43" fmla="*/ 909708 w 1306513"/>
                  <a:gd name="connsiteY43" fmla="*/ 1028410 h 1304925"/>
                  <a:gd name="connsiteX44" fmla="*/ 913989 w 1306513"/>
                  <a:gd name="connsiteY44" fmla="*/ 1024103 h 1304925"/>
                  <a:gd name="connsiteX45" fmla="*/ 980339 w 1306513"/>
                  <a:gd name="connsiteY45" fmla="*/ 986058 h 1304925"/>
                  <a:gd name="connsiteX46" fmla="*/ 993894 w 1306513"/>
                  <a:gd name="connsiteY46" fmla="*/ 981751 h 1304925"/>
                  <a:gd name="connsiteX47" fmla="*/ 1052397 w 1306513"/>
                  <a:gd name="connsiteY47" fmla="*/ 973137 h 1304925"/>
                  <a:gd name="connsiteX48" fmla="*/ 1051683 w 1306513"/>
                  <a:gd name="connsiteY48" fmla="*/ 879475 h 1304925"/>
                  <a:gd name="connsiteX49" fmla="*/ 1183672 w 1306513"/>
                  <a:gd name="connsiteY49" fmla="*/ 910468 h 1304925"/>
                  <a:gd name="connsiteX50" fmla="*/ 1211497 w 1306513"/>
                  <a:gd name="connsiteY50" fmla="*/ 924556 h 1304925"/>
                  <a:gd name="connsiteX51" fmla="*/ 1238608 w 1306513"/>
                  <a:gd name="connsiteY51" fmla="*/ 941462 h 1304925"/>
                  <a:gd name="connsiteX52" fmla="*/ 1261439 w 1306513"/>
                  <a:gd name="connsiteY52" fmla="*/ 958367 h 1304925"/>
                  <a:gd name="connsiteX53" fmla="*/ 1264293 w 1306513"/>
                  <a:gd name="connsiteY53" fmla="*/ 980203 h 1304925"/>
                  <a:gd name="connsiteX54" fmla="*/ 1252164 w 1306513"/>
                  <a:gd name="connsiteY54" fmla="*/ 985838 h 1304925"/>
                  <a:gd name="connsiteX55" fmla="*/ 1242176 w 1306513"/>
                  <a:gd name="connsiteY55" fmla="*/ 982316 h 1304925"/>
                  <a:gd name="connsiteX56" fmla="*/ 1224339 w 1306513"/>
                  <a:gd name="connsiteY56" fmla="*/ 968933 h 1304925"/>
                  <a:gd name="connsiteX57" fmla="*/ 1197228 w 1306513"/>
                  <a:gd name="connsiteY57" fmla="*/ 952027 h 1304925"/>
                  <a:gd name="connsiteX58" fmla="*/ 1169403 w 1306513"/>
                  <a:gd name="connsiteY58" fmla="*/ 937235 h 1304925"/>
                  <a:gd name="connsiteX59" fmla="*/ 1052397 w 1306513"/>
                  <a:gd name="connsiteY59" fmla="*/ 910468 h 1304925"/>
                  <a:gd name="connsiteX60" fmla="*/ 978197 w 1306513"/>
                  <a:gd name="connsiteY60" fmla="*/ 921034 h 1304925"/>
                  <a:gd name="connsiteX61" fmla="*/ 977484 w 1306513"/>
                  <a:gd name="connsiteY61" fmla="*/ 921034 h 1304925"/>
                  <a:gd name="connsiteX62" fmla="*/ 953940 w 1306513"/>
                  <a:gd name="connsiteY62" fmla="*/ 929487 h 1304925"/>
                  <a:gd name="connsiteX63" fmla="*/ 891156 w 1306513"/>
                  <a:gd name="connsiteY63" fmla="*/ 963298 h 1304925"/>
                  <a:gd name="connsiteX64" fmla="*/ 869039 w 1306513"/>
                  <a:gd name="connsiteY64" fmla="*/ 980203 h 1304925"/>
                  <a:gd name="connsiteX65" fmla="*/ 867612 w 1306513"/>
                  <a:gd name="connsiteY65" fmla="*/ 981612 h 1304925"/>
                  <a:gd name="connsiteX66" fmla="*/ 856910 w 1306513"/>
                  <a:gd name="connsiteY66" fmla="*/ 985838 h 1304925"/>
                  <a:gd name="connsiteX67" fmla="*/ 845495 w 1306513"/>
                  <a:gd name="connsiteY67" fmla="*/ 981612 h 1304925"/>
                  <a:gd name="connsiteX68" fmla="*/ 841928 w 1306513"/>
                  <a:gd name="connsiteY68" fmla="*/ 975977 h 1304925"/>
                  <a:gd name="connsiteX69" fmla="*/ 846208 w 1306513"/>
                  <a:gd name="connsiteY69" fmla="*/ 959071 h 1304925"/>
                  <a:gd name="connsiteX70" fmla="*/ 849776 w 1306513"/>
                  <a:gd name="connsiteY70" fmla="*/ 955549 h 1304925"/>
                  <a:gd name="connsiteX71" fmla="*/ 963928 w 1306513"/>
                  <a:gd name="connsiteY71" fmla="*/ 892859 h 1304925"/>
                  <a:gd name="connsiteX72" fmla="*/ 967496 w 1306513"/>
                  <a:gd name="connsiteY72" fmla="*/ 892154 h 1304925"/>
                  <a:gd name="connsiteX73" fmla="*/ 986759 w 1306513"/>
                  <a:gd name="connsiteY73" fmla="*/ 886519 h 1304925"/>
                  <a:gd name="connsiteX74" fmla="*/ 1051683 w 1306513"/>
                  <a:gd name="connsiteY74" fmla="*/ 879475 h 1304925"/>
                  <a:gd name="connsiteX75" fmla="*/ 653257 w 1306513"/>
                  <a:gd name="connsiteY75" fmla="*/ 0 h 1304925"/>
                  <a:gd name="connsiteX76" fmla="*/ 1114968 w 1306513"/>
                  <a:gd name="connsiteY76" fmla="*/ 191313 h 1304925"/>
                  <a:gd name="connsiteX77" fmla="*/ 1306513 w 1306513"/>
                  <a:gd name="connsiteY77" fmla="*/ 652463 h 1304925"/>
                  <a:gd name="connsiteX78" fmla="*/ 1252194 w 1306513"/>
                  <a:gd name="connsiteY78" fmla="*/ 913733 h 1304925"/>
                  <a:gd name="connsiteX79" fmla="*/ 1225035 w 1306513"/>
                  <a:gd name="connsiteY79" fmla="*/ 896601 h 1304925"/>
                  <a:gd name="connsiteX80" fmla="*/ 1275065 w 1306513"/>
                  <a:gd name="connsiteY80" fmla="*/ 652463 h 1304925"/>
                  <a:gd name="connsiteX81" fmla="*/ 653257 w 1306513"/>
                  <a:gd name="connsiteY81" fmla="*/ 31410 h 1304925"/>
                  <a:gd name="connsiteX82" fmla="*/ 31448 w 1306513"/>
                  <a:gd name="connsiteY82" fmla="*/ 652463 h 1304925"/>
                  <a:gd name="connsiteX83" fmla="*/ 653257 w 1306513"/>
                  <a:gd name="connsiteY83" fmla="*/ 1273516 h 1304925"/>
                  <a:gd name="connsiteX84" fmla="*/ 986317 w 1306513"/>
                  <a:gd name="connsiteY84" fmla="*/ 1177145 h 1304925"/>
                  <a:gd name="connsiteX85" fmla="*/ 983459 w 1306513"/>
                  <a:gd name="connsiteY85" fmla="*/ 1194992 h 1304925"/>
                  <a:gd name="connsiteX86" fmla="*/ 986317 w 1306513"/>
                  <a:gd name="connsiteY86" fmla="*/ 1214266 h 1304925"/>
                  <a:gd name="connsiteX87" fmla="*/ 653257 w 1306513"/>
                  <a:gd name="connsiteY87" fmla="*/ 1304925 h 1304925"/>
                  <a:gd name="connsiteX88" fmla="*/ 191546 w 1306513"/>
                  <a:gd name="connsiteY88" fmla="*/ 1113612 h 1304925"/>
                  <a:gd name="connsiteX89" fmla="*/ 0 w 1306513"/>
                  <a:gd name="connsiteY89" fmla="*/ 652463 h 1304925"/>
                  <a:gd name="connsiteX90" fmla="*/ 191546 w 1306513"/>
                  <a:gd name="connsiteY90" fmla="*/ 191313 h 1304925"/>
                  <a:gd name="connsiteX91" fmla="*/ 653257 w 1306513"/>
                  <a:gd name="connsiteY91" fmla="*/ 0 h 130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306513" h="1304925">
                    <a:moveTo>
                      <a:pt x="1054100" y="1155700"/>
                    </a:moveTo>
                    <a:cubicBezTo>
                      <a:pt x="1058429" y="1155700"/>
                      <a:pt x="1062037" y="1156414"/>
                      <a:pt x="1066367" y="1157127"/>
                    </a:cubicBezTo>
                    <a:cubicBezTo>
                      <a:pt x="1082242" y="1162123"/>
                      <a:pt x="1093787" y="1177110"/>
                      <a:pt x="1093787" y="1194237"/>
                    </a:cubicBezTo>
                    <a:cubicBezTo>
                      <a:pt x="1093787" y="1216360"/>
                      <a:pt x="1075747" y="1233488"/>
                      <a:pt x="1054100" y="1233488"/>
                    </a:cubicBezTo>
                    <a:cubicBezTo>
                      <a:pt x="1032452" y="1233488"/>
                      <a:pt x="1015134" y="1216360"/>
                      <a:pt x="1014412" y="1194951"/>
                    </a:cubicBezTo>
                    <a:cubicBezTo>
                      <a:pt x="1014412" y="1194951"/>
                      <a:pt x="1014412" y="1194951"/>
                      <a:pt x="1014412" y="1194237"/>
                    </a:cubicBezTo>
                    <a:cubicBezTo>
                      <a:pt x="1014412" y="1172828"/>
                      <a:pt x="1032452" y="1155700"/>
                      <a:pt x="1054100" y="1155700"/>
                    </a:cubicBezTo>
                    <a:close/>
                    <a:moveTo>
                      <a:pt x="1052675" y="1065212"/>
                    </a:moveTo>
                    <a:cubicBezTo>
                      <a:pt x="1059087" y="1065212"/>
                      <a:pt x="1064787" y="1065212"/>
                      <a:pt x="1071200" y="1066666"/>
                    </a:cubicBezTo>
                    <a:cubicBezTo>
                      <a:pt x="1082600" y="1068119"/>
                      <a:pt x="1093287" y="1071753"/>
                      <a:pt x="1105400" y="1077568"/>
                    </a:cubicBezTo>
                    <a:cubicBezTo>
                      <a:pt x="1113950" y="1081202"/>
                      <a:pt x="1123212" y="1087016"/>
                      <a:pt x="1133187" y="1094284"/>
                    </a:cubicBezTo>
                    <a:cubicBezTo>
                      <a:pt x="1133900" y="1095011"/>
                      <a:pt x="1135325" y="1096465"/>
                      <a:pt x="1136750" y="1097192"/>
                    </a:cubicBezTo>
                    <a:cubicBezTo>
                      <a:pt x="1143162" y="1102279"/>
                      <a:pt x="1144587" y="1112455"/>
                      <a:pt x="1139600" y="1119723"/>
                    </a:cubicBezTo>
                    <a:cubicBezTo>
                      <a:pt x="1136037" y="1123357"/>
                      <a:pt x="1131762" y="1125537"/>
                      <a:pt x="1126775" y="1125537"/>
                    </a:cubicBezTo>
                    <a:cubicBezTo>
                      <a:pt x="1123212" y="1125537"/>
                      <a:pt x="1120362" y="1124810"/>
                      <a:pt x="1117512" y="1122630"/>
                    </a:cubicBezTo>
                    <a:cubicBezTo>
                      <a:pt x="1115375" y="1120449"/>
                      <a:pt x="1113237" y="1118996"/>
                      <a:pt x="1111100" y="1117542"/>
                    </a:cubicBezTo>
                    <a:cubicBezTo>
                      <a:pt x="1100412" y="1110274"/>
                      <a:pt x="1090437" y="1105187"/>
                      <a:pt x="1081175" y="1101552"/>
                    </a:cubicBezTo>
                    <a:cubicBezTo>
                      <a:pt x="1071200" y="1097918"/>
                      <a:pt x="1061225" y="1096465"/>
                      <a:pt x="1052675" y="1096465"/>
                    </a:cubicBezTo>
                    <a:cubicBezTo>
                      <a:pt x="1047687" y="1096465"/>
                      <a:pt x="1042700" y="1097192"/>
                      <a:pt x="1038425" y="1097918"/>
                    </a:cubicBezTo>
                    <a:cubicBezTo>
                      <a:pt x="1010637" y="1103006"/>
                      <a:pt x="993537" y="1119723"/>
                      <a:pt x="992112" y="1121176"/>
                    </a:cubicBezTo>
                    <a:cubicBezTo>
                      <a:pt x="989262" y="1124084"/>
                      <a:pt x="984987" y="1125537"/>
                      <a:pt x="981425" y="1125537"/>
                    </a:cubicBezTo>
                    <a:cubicBezTo>
                      <a:pt x="977150" y="1125537"/>
                      <a:pt x="972875" y="1124084"/>
                      <a:pt x="970025" y="1121176"/>
                    </a:cubicBezTo>
                    <a:cubicBezTo>
                      <a:pt x="963612" y="1114635"/>
                      <a:pt x="964325" y="1104460"/>
                      <a:pt x="970025" y="1098645"/>
                    </a:cubicBezTo>
                    <a:cubicBezTo>
                      <a:pt x="985700" y="1082655"/>
                      <a:pt x="1015625" y="1065212"/>
                      <a:pt x="1052675" y="1065212"/>
                    </a:cubicBezTo>
                    <a:close/>
                    <a:moveTo>
                      <a:pt x="1052397" y="973137"/>
                    </a:moveTo>
                    <a:cubicBezTo>
                      <a:pt x="1077367" y="973137"/>
                      <a:pt x="1105905" y="977444"/>
                      <a:pt x="1135869" y="990365"/>
                    </a:cubicBezTo>
                    <a:cubicBezTo>
                      <a:pt x="1145144" y="993954"/>
                      <a:pt x="1155132" y="998979"/>
                      <a:pt x="1164407" y="1004721"/>
                    </a:cubicBezTo>
                    <a:cubicBezTo>
                      <a:pt x="1172968" y="1009746"/>
                      <a:pt x="1182243" y="1015489"/>
                      <a:pt x="1191518" y="1021949"/>
                    </a:cubicBezTo>
                    <a:cubicBezTo>
                      <a:pt x="1193658" y="1023385"/>
                      <a:pt x="1195799" y="1025538"/>
                      <a:pt x="1197939" y="1026974"/>
                    </a:cubicBezTo>
                    <a:cubicBezTo>
                      <a:pt x="1205073" y="1032717"/>
                      <a:pt x="1206500" y="1042048"/>
                      <a:pt x="1200793" y="1049227"/>
                    </a:cubicBezTo>
                    <a:cubicBezTo>
                      <a:pt x="1197939" y="1053534"/>
                      <a:pt x="1192945" y="1055687"/>
                      <a:pt x="1188664" y="1055687"/>
                    </a:cubicBezTo>
                    <a:cubicBezTo>
                      <a:pt x="1185097" y="1055687"/>
                      <a:pt x="1181530" y="1054251"/>
                      <a:pt x="1178676" y="1052098"/>
                    </a:cubicBezTo>
                    <a:cubicBezTo>
                      <a:pt x="1176536" y="1050662"/>
                      <a:pt x="1175109" y="1049227"/>
                      <a:pt x="1172968" y="1047791"/>
                    </a:cubicBezTo>
                    <a:cubicBezTo>
                      <a:pt x="1163694" y="1040613"/>
                      <a:pt x="1154419" y="1034870"/>
                      <a:pt x="1145858" y="1030563"/>
                    </a:cubicBezTo>
                    <a:cubicBezTo>
                      <a:pt x="1135869" y="1024821"/>
                      <a:pt x="1125881" y="1019796"/>
                      <a:pt x="1116607" y="1016207"/>
                    </a:cubicBezTo>
                    <a:cubicBezTo>
                      <a:pt x="1093776" y="1007593"/>
                      <a:pt x="1071660" y="1004004"/>
                      <a:pt x="1052397" y="1004004"/>
                    </a:cubicBezTo>
                    <a:cubicBezTo>
                      <a:pt x="1044549" y="1004004"/>
                      <a:pt x="1036701" y="1004721"/>
                      <a:pt x="1029567" y="1005439"/>
                    </a:cubicBezTo>
                    <a:cubicBezTo>
                      <a:pt x="1016725" y="1007593"/>
                      <a:pt x="1004596" y="1010464"/>
                      <a:pt x="993894" y="1014771"/>
                    </a:cubicBezTo>
                    <a:cubicBezTo>
                      <a:pt x="956082" y="1027692"/>
                      <a:pt x="933252" y="1049227"/>
                      <a:pt x="931112" y="1051380"/>
                    </a:cubicBezTo>
                    <a:cubicBezTo>
                      <a:pt x="929685" y="1052816"/>
                      <a:pt x="927544" y="1054251"/>
                      <a:pt x="925404" y="1054969"/>
                    </a:cubicBezTo>
                    <a:cubicBezTo>
                      <a:pt x="923977" y="1054969"/>
                      <a:pt x="921837" y="1055687"/>
                      <a:pt x="920410" y="1055687"/>
                    </a:cubicBezTo>
                    <a:cubicBezTo>
                      <a:pt x="916129" y="1055687"/>
                      <a:pt x="911849" y="1053534"/>
                      <a:pt x="908995" y="1050662"/>
                    </a:cubicBezTo>
                    <a:cubicBezTo>
                      <a:pt x="907568" y="1049227"/>
                      <a:pt x="906141" y="1047073"/>
                      <a:pt x="905428" y="1044920"/>
                    </a:cubicBezTo>
                    <a:cubicBezTo>
                      <a:pt x="903287" y="1039177"/>
                      <a:pt x="904714" y="1032717"/>
                      <a:pt x="909708" y="1028410"/>
                    </a:cubicBezTo>
                    <a:cubicBezTo>
                      <a:pt x="909708" y="1028410"/>
                      <a:pt x="911135" y="1026256"/>
                      <a:pt x="913989" y="1024103"/>
                    </a:cubicBezTo>
                    <a:cubicBezTo>
                      <a:pt x="923264" y="1016207"/>
                      <a:pt x="946807" y="998261"/>
                      <a:pt x="980339" y="986058"/>
                    </a:cubicBezTo>
                    <a:cubicBezTo>
                      <a:pt x="984620" y="984622"/>
                      <a:pt x="989614" y="983187"/>
                      <a:pt x="993894" y="981751"/>
                    </a:cubicBezTo>
                    <a:cubicBezTo>
                      <a:pt x="1010304" y="976726"/>
                      <a:pt x="1030280" y="973137"/>
                      <a:pt x="1052397" y="973137"/>
                    </a:cubicBezTo>
                    <a:close/>
                    <a:moveTo>
                      <a:pt x="1051683" y="879475"/>
                    </a:moveTo>
                    <a:cubicBezTo>
                      <a:pt x="1090923" y="879475"/>
                      <a:pt x="1135871" y="887928"/>
                      <a:pt x="1183672" y="910468"/>
                    </a:cubicBezTo>
                    <a:cubicBezTo>
                      <a:pt x="1192947" y="914695"/>
                      <a:pt x="1202222" y="919625"/>
                      <a:pt x="1211497" y="924556"/>
                    </a:cubicBezTo>
                    <a:cubicBezTo>
                      <a:pt x="1220772" y="929487"/>
                      <a:pt x="1230047" y="935122"/>
                      <a:pt x="1238608" y="941462"/>
                    </a:cubicBezTo>
                    <a:cubicBezTo>
                      <a:pt x="1246456" y="947097"/>
                      <a:pt x="1254304" y="952027"/>
                      <a:pt x="1261439" y="958367"/>
                    </a:cubicBezTo>
                    <a:cubicBezTo>
                      <a:pt x="1268573" y="963298"/>
                      <a:pt x="1270000" y="973159"/>
                      <a:pt x="1264293" y="980203"/>
                    </a:cubicBezTo>
                    <a:cubicBezTo>
                      <a:pt x="1261439" y="983725"/>
                      <a:pt x="1256445" y="985838"/>
                      <a:pt x="1252164" y="985838"/>
                    </a:cubicBezTo>
                    <a:cubicBezTo>
                      <a:pt x="1248597" y="985838"/>
                      <a:pt x="1245029" y="985134"/>
                      <a:pt x="1242176" y="982316"/>
                    </a:cubicBezTo>
                    <a:cubicBezTo>
                      <a:pt x="1236468" y="978090"/>
                      <a:pt x="1230047" y="973159"/>
                      <a:pt x="1224339" y="968933"/>
                    </a:cubicBezTo>
                    <a:cubicBezTo>
                      <a:pt x="1215064" y="963298"/>
                      <a:pt x="1206503" y="957662"/>
                      <a:pt x="1197228" y="952027"/>
                    </a:cubicBezTo>
                    <a:cubicBezTo>
                      <a:pt x="1187953" y="947097"/>
                      <a:pt x="1178678" y="942166"/>
                      <a:pt x="1169403" y="937235"/>
                    </a:cubicBezTo>
                    <a:cubicBezTo>
                      <a:pt x="1130877" y="919625"/>
                      <a:pt x="1091637" y="910468"/>
                      <a:pt x="1052397" y="910468"/>
                    </a:cubicBezTo>
                    <a:cubicBezTo>
                      <a:pt x="1027426" y="910468"/>
                      <a:pt x="1002455" y="913990"/>
                      <a:pt x="978197" y="921034"/>
                    </a:cubicBezTo>
                    <a:cubicBezTo>
                      <a:pt x="978197" y="921034"/>
                      <a:pt x="978197" y="921034"/>
                      <a:pt x="977484" y="921034"/>
                    </a:cubicBezTo>
                    <a:cubicBezTo>
                      <a:pt x="969636" y="923852"/>
                      <a:pt x="961074" y="926669"/>
                      <a:pt x="953940" y="929487"/>
                    </a:cubicBezTo>
                    <a:cubicBezTo>
                      <a:pt x="927542" y="940053"/>
                      <a:pt x="906139" y="952732"/>
                      <a:pt x="891156" y="963298"/>
                    </a:cubicBezTo>
                    <a:cubicBezTo>
                      <a:pt x="879741" y="971046"/>
                      <a:pt x="872606" y="977385"/>
                      <a:pt x="869039" y="980203"/>
                    </a:cubicBezTo>
                    <a:cubicBezTo>
                      <a:pt x="868325" y="980907"/>
                      <a:pt x="867612" y="981612"/>
                      <a:pt x="867612" y="981612"/>
                    </a:cubicBezTo>
                    <a:cubicBezTo>
                      <a:pt x="864758" y="984429"/>
                      <a:pt x="861191" y="985838"/>
                      <a:pt x="856910" y="985838"/>
                    </a:cubicBezTo>
                    <a:cubicBezTo>
                      <a:pt x="852629" y="985838"/>
                      <a:pt x="849062" y="984429"/>
                      <a:pt x="845495" y="981612"/>
                    </a:cubicBezTo>
                    <a:cubicBezTo>
                      <a:pt x="844068" y="979499"/>
                      <a:pt x="843355" y="978090"/>
                      <a:pt x="841928" y="975977"/>
                    </a:cubicBezTo>
                    <a:cubicBezTo>
                      <a:pt x="839787" y="970342"/>
                      <a:pt x="841214" y="964002"/>
                      <a:pt x="846208" y="959071"/>
                    </a:cubicBezTo>
                    <a:cubicBezTo>
                      <a:pt x="846208" y="959071"/>
                      <a:pt x="847635" y="957662"/>
                      <a:pt x="849776" y="955549"/>
                    </a:cubicBezTo>
                    <a:cubicBezTo>
                      <a:pt x="862618" y="944279"/>
                      <a:pt x="903285" y="911877"/>
                      <a:pt x="963928" y="892859"/>
                    </a:cubicBezTo>
                    <a:cubicBezTo>
                      <a:pt x="965355" y="892859"/>
                      <a:pt x="966069" y="892154"/>
                      <a:pt x="967496" y="892154"/>
                    </a:cubicBezTo>
                    <a:cubicBezTo>
                      <a:pt x="973917" y="890041"/>
                      <a:pt x="980338" y="888632"/>
                      <a:pt x="986759" y="886519"/>
                    </a:cubicBezTo>
                    <a:cubicBezTo>
                      <a:pt x="1006022" y="882293"/>
                      <a:pt x="1028139" y="879475"/>
                      <a:pt x="1051683" y="879475"/>
                    </a:cubicBezTo>
                    <a:close/>
                    <a:moveTo>
                      <a:pt x="653257" y="0"/>
                    </a:moveTo>
                    <a:cubicBezTo>
                      <a:pt x="827649" y="0"/>
                      <a:pt x="992035" y="67816"/>
                      <a:pt x="1114968" y="191313"/>
                    </a:cubicBezTo>
                    <a:cubicBezTo>
                      <a:pt x="1238615" y="314096"/>
                      <a:pt x="1306513" y="478282"/>
                      <a:pt x="1306513" y="652463"/>
                    </a:cubicBezTo>
                    <a:cubicBezTo>
                      <a:pt x="1306513" y="743836"/>
                      <a:pt x="1287930" y="832354"/>
                      <a:pt x="1252194" y="913733"/>
                    </a:cubicBezTo>
                    <a:cubicBezTo>
                      <a:pt x="1242903" y="907309"/>
                      <a:pt x="1234326" y="901598"/>
                      <a:pt x="1225035" y="896601"/>
                    </a:cubicBezTo>
                    <a:cubicBezTo>
                      <a:pt x="1257197" y="821646"/>
                      <a:pt x="1275065" y="738839"/>
                      <a:pt x="1275065" y="652463"/>
                    </a:cubicBezTo>
                    <a:cubicBezTo>
                      <a:pt x="1275065" y="309813"/>
                      <a:pt x="996324" y="31410"/>
                      <a:pt x="653257" y="31410"/>
                    </a:cubicBezTo>
                    <a:cubicBezTo>
                      <a:pt x="310190" y="31410"/>
                      <a:pt x="31448" y="309813"/>
                      <a:pt x="31448" y="652463"/>
                    </a:cubicBezTo>
                    <a:cubicBezTo>
                      <a:pt x="31448" y="995113"/>
                      <a:pt x="310190" y="1273516"/>
                      <a:pt x="653257" y="1273516"/>
                    </a:cubicBezTo>
                    <a:cubicBezTo>
                      <a:pt x="775474" y="1273516"/>
                      <a:pt x="889830" y="1237823"/>
                      <a:pt x="986317" y="1177145"/>
                    </a:cubicBezTo>
                    <a:cubicBezTo>
                      <a:pt x="984173" y="1182856"/>
                      <a:pt x="983459" y="1189281"/>
                      <a:pt x="983459" y="1194992"/>
                    </a:cubicBezTo>
                    <a:cubicBezTo>
                      <a:pt x="983459" y="1202130"/>
                      <a:pt x="984173" y="1207841"/>
                      <a:pt x="986317" y="1214266"/>
                    </a:cubicBezTo>
                    <a:cubicBezTo>
                      <a:pt x="886256" y="1273516"/>
                      <a:pt x="772615" y="1304925"/>
                      <a:pt x="653257" y="1304925"/>
                    </a:cubicBezTo>
                    <a:cubicBezTo>
                      <a:pt x="478864" y="1304925"/>
                      <a:pt x="314478" y="1237109"/>
                      <a:pt x="191546" y="1113612"/>
                    </a:cubicBezTo>
                    <a:cubicBezTo>
                      <a:pt x="67899" y="990829"/>
                      <a:pt x="0" y="826643"/>
                      <a:pt x="0" y="652463"/>
                    </a:cubicBezTo>
                    <a:cubicBezTo>
                      <a:pt x="0" y="478282"/>
                      <a:pt x="67899" y="314096"/>
                      <a:pt x="191546" y="191313"/>
                    </a:cubicBezTo>
                    <a:cubicBezTo>
                      <a:pt x="314478" y="67816"/>
                      <a:pt x="478864" y="0"/>
                      <a:pt x="653257"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grpSp>
      </p:grpSp>
      <p:grpSp>
        <p:nvGrpSpPr>
          <p:cNvPr id="75" name="bcgIcons_Digital ">
            <a:extLst>
              <a:ext uri="{FF2B5EF4-FFF2-40B4-BE49-F238E27FC236}">
                <a16:creationId xmlns:a16="http://schemas.microsoft.com/office/drawing/2014/main" id="{1FF14276-6A35-75B6-0769-1FE33EE5F1D1}"/>
              </a:ext>
            </a:extLst>
          </p:cNvPr>
          <p:cNvGrpSpPr>
            <a:grpSpLocks noChangeAspect="1"/>
          </p:cNvGrpSpPr>
          <p:nvPr/>
        </p:nvGrpSpPr>
        <p:grpSpPr bwMode="auto">
          <a:xfrm>
            <a:off x="2227764" y="2291629"/>
            <a:ext cx="429271" cy="429669"/>
            <a:chOff x="1682" y="0"/>
            <a:chExt cx="4316" cy="4320"/>
          </a:xfrm>
        </p:grpSpPr>
        <p:sp>
          <p:nvSpPr>
            <p:cNvPr id="76" name="AutoShape 8">
              <a:extLst>
                <a:ext uri="{FF2B5EF4-FFF2-40B4-BE49-F238E27FC236}">
                  <a16:creationId xmlns:a16="http://schemas.microsoft.com/office/drawing/2014/main" id="{76E058FE-5B3F-AA59-C8CA-975C8DCB2C28}"/>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10">
              <a:extLst>
                <a:ext uri="{FF2B5EF4-FFF2-40B4-BE49-F238E27FC236}">
                  <a16:creationId xmlns:a16="http://schemas.microsoft.com/office/drawing/2014/main" id="{77A5B175-8785-0E64-CCBF-8DDD0A9A4262}"/>
                </a:ext>
              </a:extLst>
            </p:cNvPr>
            <p:cNvSpPr>
              <a:spLocks noEditPoints="1"/>
            </p:cNvSpPr>
            <p:nvPr/>
          </p:nvSpPr>
          <p:spPr bwMode="auto">
            <a:xfrm>
              <a:off x="2727" y="919"/>
              <a:ext cx="2797" cy="2512"/>
            </a:xfrm>
            <a:custGeom>
              <a:avLst/>
              <a:gdLst>
                <a:gd name="T0" fmla="*/ 263 w 1493"/>
                <a:gd name="T1" fmla="*/ 1282 h 1340"/>
                <a:gd name="T2" fmla="*/ 379 w 1493"/>
                <a:gd name="T3" fmla="*/ 1282 h 1340"/>
                <a:gd name="T4" fmla="*/ 469 w 1493"/>
                <a:gd name="T5" fmla="*/ 22 h 1340"/>
                <a:gd name="T6" fmla="*/ 195 w 1493"/>
                <a:gd name="T7" fmla="*/ 0 h 1340"/>
                <a:gd name="T8" fmla="*/ 195 w 1493"/>
                <a:gd name="T9" fmla="*/ 44 h 1340"/>
                <a:gd name="T10" fmla="*/ 469 w 1493"/>
                <a:gd name="T11" fmla="*/ 22 h 1340"/>
                <a:gd name="T12" fmla="*/ 390 w 1493"/>
                <a:gd name="T13" fmla="*/ 564 h 1340"/>
                <a:gd name="T14" fmla="*/ 368 w 1493"/>
                <a:gd name="T15" fmla="*/ 701 h 1340"/>
                <a:gd name="T16" fmla="*/ 504 w 1493"/>
                <a:gd name="T17" fmla="*/ 723 h 1340"/>
                <a:gd name="T18" fmla="*/ 526 w 1493"/>
                <a:gd name="T19" fmla="*/ 586 h 1340"/>
                <a:gd name="T20" fmla="*/ 758 w 1493"/>
                <a:gd name="T21" fmla="*/ 347 h 1340"/>
                <a:gd name="T22" fmla="*/ 578 w 1493"/>
                <a:gd name="T23" fmla="*/ 369 h 1340"/>
                <a:gd name="T24" fmla="*/ 600 w 1493"/>
                <a:gd name="T25" fmla="*/ 549 h 1340"/>
                <a:gd name="T26" fmla="*/ 780 w 1493"/>
                <a:gd name="T27" fmla="*/ 527 h 1340"/>
                <a:gd name="T28" fmla="*/ 758 w 1493"/>
                <a:gd name="T29" fmla="*/ 347 h 1340"/>
                <a:gd name="T30" fmla="*/ 570 w 1493"/>
                <a:gd name="T31" fmla="*/ 586 h 1340"/>
                <a:gd name="T32" fmla="*/ 570 w 1493"/>
                <a:gd name="T33" fmla="*/ 701 h 1340"/>
                <a:gd name="T34" fmla="*/ 390 w 1493"/>
                <a:gd name="T35" fmla="*/ 767 h 1340"/>
                <a:gd name="T36" fmla="*/ 324 w 1493"/>
                <a:gd name="T37" fmla="*/ 586 h 1340"/>
                <a:gd name="T38" fmla="*/ 504 w 1493"/>
                <a:gd name="T39" fmla="*/ 520 h 1340"/>
                <a:gd name="T40" fmla="*/ 534 w 1493"/>
                <a:gd name="T41" fmla="*/ 527 h 1340"/>
                <a:gd name="T42" fmla="*/ 600 w 1493"/>
                <a:gd name="T43" fmla="*/ 303 h 1340"/>
                <a:gd name="T44" fmla="*/ 638 w 1493"/>
                <a:gd name="T45" fmla="*/ 115 h 1340"/>
                <a:gd name="T46" fmla="*/ 10 w 1493"/>
                <a:gd name="T47" fmla="*/ 105 h 1340"/>
                <a:gd name="T48" fmla="*/ 0 w 1493"/>
                <a:gd name="T49" fmla="*/ 1092 h 1340"/>
                <a:gd name="T50" fmla="*/ 628 w 1493"/>
                <a:gd name="T51" fmla="*/ 1102 h 1340"/>
                <a:gd name="T52" fmla="*/ 638 w 1493"/>
                <a:gd name="T53" fmla="*/ 593 h 1340"/>
                <a:gd name="T54" fmla="*/ 1095 w 1493"/>
                <a:gd name="T55" fmla="*/ 105 h 1340"/>
                <a:gd name="T56" fmla="*/ 874 w 1493"/>
                <a:gd name="T57" fmla="*/ 127 h 1340"/>
                <a:gd name="T58" fmla="*/ 896 w 1493"/>
                <a:gd name="T59" fmla="*/ 348 h 1340"/>
                <a:gd name="T60" fmla="*/ 1117 w 1493"/>
                <a:gd name="T61" fmla="*/ 326 h 1340"/>
                <a:gd name="T62" fmla="*/ 1095 w 1493"/>
                <a:gd name="T63" fmla="*/ 105 h 1340"/>
                <a:gd name="T64" fmla="*/ 1493 w 1493"/>
                <a:gd name="T65" fmla="*/ 222 h 1340"/>
                <a:gd name="T66" fmla="*/ 1197 w 1493"/>
                <a:gd name="T67" fmla="*/ 200 h 1340"/>
                <a:gd name="T68" fmla="*/ 1175 w 1493"/>
                <a:gd name="T69" fmla="*/ 496 h 1340"/>
                <a:gd name="T70" fmla="*/ 1471 w 1493"/>
                <a:gd name="T71" fmla="*/ 518 h 1340"/>
                <a:gd name="T72" fmla="*/ 1117 w 1493"/>
                <a:gd name="T73" fmla="*/ 667 h 1340"/>
                <a:gd name="T74" fmla="*/ 1095 w 1493"/>
                <a:gd name="T75" fmla="*/ 409 h 1340"/>
                <a:gd name="T76" fmla="*/ 838 w 1493"/>
                <a:gd name="T77" fmla="*/ 431 h 1340"/>
                <a:gd name="T78" fmla="*/ 860 w 1493"/>
                <a:gd name="T79" fmla="*/ 689 h 1340"/>
                <a:gd name="T80" fmla="*/ 1117 w 1493"/>
                <a:gd name="T81" fmla="*/ 667 h 1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93" h="1340">
                  <a:moveTo>
                    <a:pt x="321" y="1340"/>
                  </a:moveTo>
                  <a:cubicBezTo>
                    <a:pt x="289" y="1340"/>
                    <a:pt x="263" y="1314"/>
                    <a:pt x="263" y="1282"/>
                  </a:cubicBezTo>
                  <a:cubicBezTo>
                    <a:pt x="263" y="1250"/>
                    <a:pt x="289" y="1224"/>
                    <a:pt x="321" y="1224"/>
                  </a:cubicBezTo>
                  <a:cubicBezTo>
                    <a:pt x="353" y="1224"/>
                    <a:pt x="379" y="1250"/>
                    <a:pt x="379" y="1282"/>
                  </a:cubicBezTo>
                  <a:cubicBezTo>
                    <a:pt x="379" y="1314"/>
                    <a:pt x="353" y="1340"/>
                    <a:pt x="321" y="1340"/>
                  </a:cubicBezTo>
                  <a:close/>
                  <a:moveTo>
                    <a:pt x="469" y="22"/>
                  </a:moveTo>
                  <a:cubicBezTo>
                    <a:pt x="469" y="10"/>
                    <a:pt x="459" y="0"/>
                    <a:pt x="447" y="0"/>
                  </a:cubicBezTo>
                  <a:cubicBezTo>
                    <a:pt x="195" y="0"/>
                    <a:pt x="195" y="0"/>
                    <a:pt x="195" y="0"/>
                  </a:cubicBezTo>
                  <a:cubicBezTo>
                    <a:pt x="183" y="0"/>
                    <a:pt x="173" y="10"/>
                    <a:pt x="173" y="22"/>
                  </a:cubicBezTo>
                  <a:cubicBezTo>
                    <a:pt x="173" y="34"/>
                    <a:pt x="183" y="44"/>
                    <a:pt x="195" y="44"/>
                  </a:cubicBezTo>
                  <a:cubicBezTo>
                    <a:pt x="447" y="44"/>
                    <a:pt x="447" y="44"/>
                    <a:pt x="447" y="44"/>
                  </a:cubicBezTo>
                  <a:cubicBezTo>
                    <a:pt x="459" y="44"/>
                    <a:pt x="469" y="34"/>
                    <a:pt x="469" y="22"/>
                  </a:cubicBezTo>
                  <a:close/>
                  <a:moveTo>
                    <a:pt x="504" y="564"/>
                  </a:moveTo>
                  <a:cubicBezTo>
                    <a:pt x="390" y="564"/>
                    <a:pt x="390" y="564"/>
                    <a:pt x="390" y="564"/>
                  </a:cubicBezTo>
                  <a:cubicBezTo>
                    <a:pt x="377" y="564"/>
                    <a:pt x="368" y="574"/>
                    <a:pt x="368" y="586"/>
                  </a:cubicBezTo>
                  <a:cubicBezTo>
                    <a:pt x="368" y="701"/>
                    <a:pt x="368" y="701"/>
                    <a:pt x="368" y="701"/>
                  </a:cubicBezTo>
                  <a:cubicBezTo>
                    <a:pt x="368" y="713"/>
                    <a:pt x="377" y="723"/>
                    <a:pt x="390" y="723"/>
                  </a:cubicBezTo>
                  <a:cubicBezTo>
                    <a:pt x="504" y="723"/>
                    <a:pt x="504" y="723"/>
                    <a:pt x="504" y="723"/>
                  </a:cubicBezTo>
                  <a:cubicBezTo>
                    <a:pt x="516" y="723"/>
                    <a:pt x="526" y="713"/>
                    <a:pt x="526" y="701"/>
                  </a:cubicBezTo>
                  <a:cubicBezTo>
                    <a:pt x="526" y="586"/>
                    <a:pt x="526" y="586"/>
                    <a:pt x="526" y="586"/>
                  </a:cubicBezTo>
                  <a:cubicBezTo>
                    <a:pt x="526" y="574"/>
                    <a:pt x="516" y="564"/>
                    <a:pt x="504" y="564"/>
                  </a:cubicBezTo>
                  <a:moveTo>
                    <a:pt x="758" y="347"/>
                  </a:moveTo>
                  <a:cubicBezTo>
                    <a:pt x="600" y="347"/>
                    <a:pt x="600" y="347"/>
                    <a:pt x="600" y="347"/>
                  </a:cubicBezTo>
                  <a:cubicBezTo>
                    <a:pt x="588" y="347"/>
                    <a:pt x="578" y="357"/>
                    <a:pt x="578" y="369"/>
                  </a:cubicBezTo>
                  <a:cubicBezTo>
                    <a:pt x="578" y="527"/>
                    <a:pt x="578" y="527"/>
                    <a:pt x="578" y="527"/>
                  </a:cubicBezTo>
                  <a:cubicBezTo>
                    <a:pt x="578" y="539"/>
                    <a:pt x="588" y="549"/>
                    <a:pt x="600" y="549"/>
                  </a:cubicBezTo>
                  <a:cubicBezTo>
                    <a:pt x="758" y="549"/>
                    <a:pt x="758" y="549"/>
                    <a:pt x="758" y="549"/>
                  </a:cubicBezTo>
                  <a:cubicBezTo>
                    <a:pt x="770" y="549"/>
                    <a:pt x="780" y="539"/>
                    <a:pt x="780" y="527"/>
                  </a:cubicBezTo>
                  <a:cubicBezTo>
                    <a:pt x="780" y="369"/>
                    <a:pt x="780" y="369"/>
                    <a:pt x="780" y="369"/>
                  </a:cubicBezTo>
                  <a:cubicBezTo>
                    <a:pt x="780" y="357"/>
                    <a:pt x="770" y="347"/>
                    <a:pt x="758" y="347"/>
                  </a:cubicBezTo>
                  <a:moveTo>
                    <a:pt x="600" y="593"/>
                  </a:moveTo>
                  <a:cubicBezTo>
                    <a:pt x="589" y="593"/>
                    <a:pt x="579" y="590"/>
                    <a:pt x="570" y="586"/>
                  </a:cubicBezTo>
                  <a:cubicBezTo>
                    <a:pt x="570" y="586"/>
                    <a:pt x="570" y="586"/>
                    <a:pt x="570" y="586"/>
                  </a:cubicBezTo>
                  <a:cubicBezTo>
                    <a:pt x="570" y="701"/>
                    <a:pt x="570" y="701"/>
                    <a:pt x="570" y="701"/>
                  </a:cubicBezTo>
                  <a:cubicBezTo>
                    <a:pt x="570" y="737"/>
                    <a:pt x="541" y="767"/>
                    <a:pt x="504" y="767"/>
                  </a:cubicBezTo>
                  <a:cubicBezTo>
                    <a:pt x="390" y="767"/>
                    <a:pt x="390" y="767"/>
                    <a:pt x="390" y="767"/>
                  </a:cubicBezTo>
                  <a:cubicBezTo>
                    <a:pt x="353" y="767"/>
                    <a:pt x="324" y="737"/>
                    <a:pt x="324" y="701"/>
                  </a:cubicBezTo>
                  <a:cubicBezTo>
                    <a:pt x="324" y="586"/>
                    <a:pt x="324" y="586"/>
                    <a:pt x="324" y="586"/>
                  </a:cubicBezTo>
                  <a:cubicBezTo>
                    <a:pt x="324" y="550"/>
                    <a:pt x="353" y="520"/>
                    <a:pt x="390" y="520"/>
                  </a:cubicBezTo>
                  <a:cubicBezTo>
                    <a:pt x="504" y="520"/>
                    <a:pt x="504" y="520"/>
                    <a:pt x="504" y="520"/>
                  </a:cubicBezTo>
                  <a:cubicBezTo>
                    <a:pt x="515" y="520"/>
                    <a:pt x="525" y="523"/>
                    <a:pt x="534" y="528"/>
                  </a:cubicBezTo>
                  <a:cubicBezTo>
                    <a:pt x="534" y="527"/>
                    <a:pt x="534" y="527"/>
                    <a:pt x="534" y="527"/>
                  </a:cubicBezTo>
                  <a:cubicBezTo>
                    <a:pt x="534" y="369"/>
                    <a:pt x="534" y="369"/>
                    <a:pt x="534" y="369"/>
                  </a:cubicBezTo>
                  <a:cubicBezTo>
                    <a:pt x="534" y="333"/>
                    <a:pt x="564" y="303"/>
                    <a:pt x="600" y="303"/>
                  </a:cubicBezTo>
                  <a:cubicBezTo>
                    <a:pt x="638" y="303"/>
                    <a:pt x="638" y="303"/>
                    <a:pt x="638" y="303"/>
                  </a:cubicBezTo>
                  <a:cubicBezTo>
                    <a:pt x="638" y="115"/>
                    <a:pt x="638" y="115"/>
                    <a:pt x="638" y="115"/>
                  </a:cubicBezTo>
                  <a:cubicBezTo>
                    <a:pt x="638" y="110"/>
                    <a:pt x="634" y="105"/>
                    <a:pt x="628" y="105"/>
                  </a:cubicBezTo>
                  <a:cubicBezTo>
                    <a:pt x="10" y="105"/>
                    <a:pt x="10" y="105"/>
                    <a:pt x="10" y="105"/>
                  </a:cubicBezTo>
                  <a:cubicBezTo>
                    <a:pt x="4" y="105"/>
                    <a:pt x="0" y="110"/>
                    <a:pt x="0" y="115"/>
                  </a:cubicBezTo>
                  <a:cubicBezTo>
                    <a:pt x="0" y="1092"/>
                    <a:pt x="0" y="1092"/>
                    <a:pt x="0" y="1092"/>
                  </a:cubicBezTo>
                  <a:cubicBezTo>
                    <a:pt x="0" y="1098"/>
                    <a:pt x="4" y="1102"/>
                    <a:pt x="10" y="1102"/>
                  </a:cubicBezTo>
                  <a:cubicBezTo>
                    <a:pt x="628" y="1102"/>
                    <a:pt x="628" y="1102"/>
                    <a:pt x="628" y="1102"/>
                  </a:cubicBezTo>
                  <a:cubicBezTo>
                    <a:pt x="634" y="1102"/>
                    <a:pt x="638" y="1098"/>
                    <a:pt x="638" y="1092"/>
                  </a:cubicBezTo>
                  <a:cubicBezTo>
                    <a:pt x="638" y="593"/>
                    <a:pt x="638" y="593"/>
                    <a:pt x="638" y="593"/>
                  </a:cubicBezTo>
                  <a:lnTo>
                    <a:pt x="600" y="593"/>
                  </a:lnTo>
                  <a:close/>
                  <a:moveTo>
                    <a:pt x="1095" y="105"/>
                  </a:moveTo>
                  <a:cubicBezTo>
                    <a:pt x="896" y="105"/>
                    <a:pt x="896" y="105"/>
                    <a:pt x="896" y="105"/>
                  </a:cubicBezTo>
                  <a:cubicBezTo>
                    <a:pt x="884" y="105"/>
                    <a:pt x="874" y="115"/>
                    <a:pt x="874" y="127"/>
                  </a:cubicBezTo>
                  <a:cubicBezTo>
                    <a:pt x="874" y="326"/>
                    <a:pt x="874" y="326"/>
                    <a:pt x="874" y="326"/>
                  </a:cubicBezTo>
                  <a:cubicBezTo>
                    <a:pt x="874" y="338"/>
                    <a:pt x="884" y="348"/>
                    <a:pt x="896" y="348"/>
                  </a:cubicBezTo>
                  <a:cubicBezTo>
                    <a:pt x="1095" y="348"/>
                    <a:pt x="1095" y="348"/>
                    <a:pt x="1095" y="348"/>
                  </a:cubicBezTo>
                  <a:cubicBezTo>
                    <a:pt x="1107" y="348"/>
                    <a:pt x="1117" y="338"/>
                    <a:pt x="1117" y="326"/>
                  </a:cubicBezTo>
                  <a:cubicBezTo>
                    <a:pt x="1117" y="127"/>
                    <a:pt x="1117" y="127"/>
                    <a:pt x="1117" y="127"/>
                  </a:cubicBezTo>
                  <a:cubicBezTo>
                    <a:pt x="1117" y="115"/>
                    <a:pt x="1107" y="105"/>
                    <a:pt x="1095" y="105"/>
                  </a:cubicBezTo>
                  <a:moveTo>
                    <a:pt x="1493" y="496"/>
                  </a:moveTo>
                  <a:cubicBezTo>
                    <a:pt x="1493" y="222"/>
                    <a:pt x="1493" y="222"/>
                    <a:pt x="1493" y="222"/>
                  </a:cubicBezTo>
                  <a:cubicBezTo>
                    <a:pt x="1493" y="210"/>
                    <a:pt x="1483" y="200"/>
                    <a:pt x="1471" y="200"/>
                  </a:cubicBezTo>
                  <a:cubicBezTo>
                    <a:pt x="1197" y="200"/>
                    <a:pt x="1197" y="200"/>
                    <a:pt x="1197" y="200"/>
                  </a:cubicBezTo>
                  <a:cubicBezTo>
                    <a:pt x="1185" y="200"/>
                    <a:pt x="1175" y="210"/>
                    <a:pt x="1175" y="222"/>
                  </a:cubicBezTo>
                  <a:cubicBezTo>
                    <a:pt x="1175" y="496"/>
                    <a:pt x="1175" y="496"/>
                    <a:pt x="1175" y="496"/>
                  </a:cubicBezTo>
                  <a:cubicBezTo>
                    <a:pt x="1175" y="508"/>
                    <a:pt x="1185" y="518"/>
                    <a:pt x="1197" y="518"/>
                  </a:cubicBezTo>
                  <a:cubicBezTo>
                    <a:pt x="1471" y="518"/>
                    <a:pt x="1471" y="518"/>
                    <a:pt x="1471" y="518"/>
                  </a:cubicBezTo>
                  <a:cubicBezTo>
                    <a:pt x="1483" y="518"/>
                    <a:pt x="1493" y="508"/>
                    <a:pt x="1493" y="496"/>
                  </a:cubicBezTo>
                  <a:close/>
                  <a:moveTo>
                    <a:pt x="1117" y="667"/>
                  </a:moveTo>
                  <a:cubicBezTo>
                    <a:pt x="1117" y="431"/>
                    <a:pt x="1117" y="431"/>
                    <a:pt x="1117" y="431"/>
                  </a:cubicBezTo>
                  <a:cubicBezTo>
                    <a:pt x="1117" y="419"/>
                    <a:pt x="1107" y="409"/>
                    <a:pt x="1095" y="409"/>
                  </a:cubicBezTo>
                  <a:cubicBezTo>
                    <a:pt x="860" y="409"/>
                    <a:pt x="860" y="409"/>
                    <a:pt x="860" y="409"/>
                  </a:cubicBezTo>
                  <a:cubicBezTo>
                    <a:pt x="848" y="409"/>
                    <a:pt x="838" y="419"/>
                    <a:pt x="838" y="431"/>
                  </a:cubicBezTo>
                  <a:cubicBezTo>
                    <a:pt x="838" y="667"/>
                    <a:pt x="838" y="667"/>
                    <a:pt x="838" y="667"/>
                  </a:cubicBezTo>
                  <a:cubicBezTo>
                    <a:pt x="838" y="679"/>
                    <a:pt x="848" y="689"/>
                    <a:pt x="860" y="689"/>
                  </a:cubicBezTo>
                  <a:cubicBezTo>
                    <a:pt x="1095" y="689"/>
                    <a:pt x="1095" y="689"/>
                    <a:pt x="1095" y="689"/>
                  </a:cubicBezTo>
                  <a:cubicBezTo>
                    <a:pt x="1107" y="689"/>
                    <a:pt x="1117" y="679"/>
                    <a:pt x="1117" y="667"/>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11">
              <a:extLst>
                <a:ext uri="{FF2B5EF4-FFF2-40B4-BE49-F238E27FC236}">
                  <a16:creationId xmlns:a16="http://schemas.microsoft.com/office/drawing/2014/main" id="{492D8FDA-5529-9708-91D7-E4DFB44C5AB2}"/>
                </a:ext>
              </a:extLst>
            </p:cNvPr>
            <p:cNvSpPr>
              <a:spLocks noEditPoints="1"/>
            </p:cNvSpPr>
            <p:nvPr/>
          </p:nvSpPr>
          <p:spPr bwMode="auto">
            <a:xfrm>
              <a:off x="2574" y="728"/>
              <a:ext cx="1509" cy="2865"/>
            </a:xfrm>
            <a:custGeom>
              <a:avLst/>
              <a:gdLst>
                <a:gd name="T0" fmla="*/ 762 w 806"/>
                <a:gd name="T1" fmla="*/ 695 h 1528"/>
                <a:gd name="T2" fmla="*/ 762 w 806"/>
                <a:gd name="T3" fmla="*/ 1252 h 1528"/>
                <a:gd name="T4" fmla="*/ 44 w 806"/>
                <a:gd name="T5" fmla="*/ 1252 h 1528"/>
                <a:gd name="T6" fmla="*/ 44 w 806"/>
                <a:gd name="T7" fmla="*/ 44 h 1528"/>
                <a:gd name="T8" fmla="*/ 762 w 806"/>
                <a:gd name="T9" fmla="*/ 44 h 1528"/>
                <a:gd name="T10" fmla="*/ 762 w 806"/>
                <a:gd name="T11" fmla="*/ 405 h 1528"/>
                <a:gd name="T12" fmla="*/ 806 w 806"/>
                <a:gd name="T13" fmla="*/ 405 h 1528"/>
                <a:gd name="T14" fmla="*/ 806 w 806"/>
                <a:gd name="T15" fmla="*/ 22 h 1528"/>
                <a:gd name="T16" fmla="*/ 784 w 806"/>
                <a:gd name="T17" fmla="*/ 0 h 1528"/>
                <a:gd name="T18" fmla="*/ 22 w 806"/>
                <a:gd name="T19" fmla="*/ 0 h 1528"/>
                <a:gd name="T20" fmla="*/ 0 w 806"/>
                <a:gd name="T21" fmla="*/ 22 h 1528"/>
                <a:gd name="T22" fmla="*/ 0 w 806"/>
                <a:gd name="T23" fmla="*/ 1252 h 1528"/>
                <a:gd name="T24" fmla="*/ 0 w 806"/>
                <a:gd name="T25" fmla="*/ 1296 h 1528"/>
                <a:gd name="T26" fmla="*/ 0 w 806"/>
                <a:gd name="T27" fmla="*/ 1506 h 1528"/>
                <a:gd name="T28" fmla="*/ 22 w 806"/>
                <a:gd name="T29" fmla="*/ 1528 h 1528"/>
                <a:gd name="T30" fmla="*/ 784 w 806"/>
                <a:gd name="T31" fmla="*/ 1528 h 1528"/>
                <a:gd name="T32" fmla="*/ 806 w 806"/>
                <a:gd name="T33" fmla="*/ 1506 h 1528"/>
                <a:gd name="T34" fmla="*/ 806 w 806"/>
                <a:gd name="T35" fmla="*/ 1296 h 1528"/>
                <a:gd name="T36" fmla="*/ 806 w 806"/>
                <a:gd name="T37" fmla="*/ 1252 h 1528"/>
                <a:gd name="T38" fmla="*/ 806 w 806"/>
                <a:gd name="T39" fmla="*/ 695 h 1528"/>
                <a:gd name="T40" fmla="*/ 762 w 806"/>
                <a:gd name="T41" fmla="*/ 695 h 1528"/>
                <a:gd name="T42" fmla="*/ 762 w 806"/>
                <a:gd name="T43" fmla="*/ 1484 h 1528"/>
                <a:gd name="T44" fmla="*/ 44 w 806"/>
                <a:gd name="T45" fmla="*/ 1484 h 1528"/>
                <a:gd name="T46" fmla="*/ 44 w 806"/>
                <a:gd name="T47" fmla="*/ 1296 h 1528"/>
                <a:gd name="T48" fmla="*/ 762 w 806"/>
                <a:gd name="T49" fmla="*/ 1296 h 1528"/>
                <a:gd name="T50" fmla="*/ 762 w 806"/>
                <a:gd name="T51" fmla="*/ 1484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06" h="1528">
                  <a:moveTo>
                    <a:pt x="762" y="695"/>
                  </a:moveTo>
                  <a:cubicBezTo>
                    <a:pt x="762" y="1252"/>
                    <a:pt x="762" y="1252"/>
                    <a:pt x="762" y="1252"/>
                  </a:cubicBezTo>
                  <a:cubicBezTo>
                    <a:pt x="44" y="1252"/>
                    <a:pt x="44" y="1252"/>
                    <a:pt x="44" y="1252"/>
                  </a:cubicBezTo>
                  <a:cubicBezTo>
                    <a:pt x="44" y="44"/>
                    <a:pt x="44" y="44"/>
                    <a:pt x="44" y="44"/>
                  </a:cubicBezTo>
                  <a:cubicBezTo>
                    <a:pt x="762" y="44"/>
                    <a:pt x="762" y="44"/>
                    <a:pt x="762" y="44"/>
                  </a:cubicBezTo>
                  <a:cubicBezTo>
                    <a:pt x="762" y="405"/>
                    <a:pt x="762" y="405"/>
                    <a:pt x="762" y="405"/>
                  </a:cubicBezTo>
                  <a:cubicBezTo>
                    <a:pt x="806" y="405"/>
                    <a:pt x="806" y="405"/>
                    <a:pt x="806" y="405"/>
                  </a:cubicBezTo>
                  <a:cubicBezTo>
                    <a:pt x="806" y="22"/>
                    <a:pt x="806" y="22"/>
                    <a:pt x="806" y="22"/>
                  </a:cubicBezTo>
                  <a:cubicBezTo>
                    <a:pt x="806" y="10"/>
                    <a:pt x="796" y="0"/>
                    <a:pt x="784" y="0"/>
                  </a:cubicBezTo>
                  <a:cubicBezTo>
                    <a:pt x="22" y="0"/>
                    <a:pt x="22" y="0"/>
                    <a:pt x="22" y="0"/>
                  </a:cubicBezTo>
                  <a:cubicBezTo>
                    <a:pt x="10" y="0"/>
                    <a:pt x="0" y="10"/>
                    <a:pt x="0" y="22"/>
                  </a:cubicBezTo>
                  <a:cubicBezTo>
                    <a:pt x="0" y="1252"/>
                    <a:pt x="0" y="1252"/>
                    <a:pt x="0" y="1252"/>
                  </a:cubicBezTo>
                  <a:cubicBezTo>
                    <a:pt x="0" y="1296"/>
                    <a:pt x="0" y="1296"/>
                    <a:pt x="0" y="1296"/>
                  </a:cubicBezTo>
                  <a:cubicBezTo>
                    <a:pt x="0" y="1506"/>
                    <a:pt x="0" y="1506"/>
                    <a:pt x="0" y="1506"/>
                  </a:cubicBezTo>
                  <a:cubicBezTo>
                    <a:pt x="0" y="1518"/>
                    <a:pt x="10" y="1528"/>
                    <a:pt x="22" y="1528"/>
                  </a:cubicBezTo>
                  <a:cubicBezTo>
                    <a:pt x="784" y="1528"/>
                    <a:pt x="784" y="1528"/>
                    <a:pt x="784" y="1528"/>
                  </a:cubicBezTo>
                  <a:cubicBezTo>
                    <a:pt x="796" y="1528"/>
                    <a:pt x="806" y="1518"/>
                    <a:pt x="806" y="1506"/>
                  </a:cubicBezTo>
                  <a:cubicBezTo>
                    <a:pt x="806" y="1296"/>
                    <a:pt x="806" y="1296"/>
                    <a:pt x="806" y="1296"/>
                  </a:cubicBezTo>
                  <a:cubicBezTo>
                    <a:pt x="806" y="1252"/>
                    <a:pt x="806" y="1252"/>
                    <a:pt x="806" y="1252"/>
                  </a:cubicBezTo>
                  <a:cubicBezTo>
                    <a:pt x="806" y="695"/>
                    <a:pt x="806" y="695"/>
                    <a:pt x="806" y="695"/>
                  </a:cubicBezTo>
                  <a:lnTo>
                    <a:pt x="762" y="695"/>
                  </a:lnTo>
                  <a:close/>
                  <a:moveTo>
                    <a:pt x="762" y="1484"/>
                  </a:moveTo>
                  <a:cubicBezTo>
                    <a:pt x="44" y="1484"/>
                    <a:pt x="44" y="1484"/>
                    <a:pt x="44" y="1484"/>
                  </a:cubicBezTo>
                  <a:cubicBezTo>
                    <a:pt x="44" y="1296"/>
                    <a:pt x="44" y="1296"/>
                    <a:pt x="44" y="1296"/>
                  </a:cubicBezTo>
                  <a:cubicBezTo>
                    <a:pt x="762" y="1296"/>
                    <a:pt x="762" y="1296"/>
                    <a:pt x="762" y="1296"/>
                  </a:cubicBezTo>
                  <a:lnTo>
                    <a:pt x="762" y="148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9" name="bcgIcons_Megaphone ">
            <a:extLst>
              <a:ext uri="{FF2B5EF4-FFF2-40B4-BE49-F238E27FC236}">
                <a16:creationId xmlns:a16="http://schemas.microsoft.com/office/drawing/2014/main" id="{F1E4B76D-777B-EB84-8A20-24F85D846F29}"/>
              </a:ext>
            </a:extLst>
          </p:cNvPr>
          <p:cNvGrpSpPr>
            <a:grpSpLocks noChangeAspect="1"/>
          </p:cNvGrpSpPr>
          <p:nvPr/>
        </p:nvGrpSpPr>
        <p:grpSpPr bwMode="auto">
          <a:xfrm>
            <a:off x="2893175" y="2324546"/>
            <a:ext cx="383568" cy="383924"/>
            <a:chOff x="1682" y="0"/>
            <a:chExt cx="4316" cy="4320"/>
          </a:xfrm>
        </p:grpSpPr>
        <p:sp>
          <p:nvSpPr>
            <p:cNvPr id="80" name="AutoShape 18">
              <a:extLst>
                <a:ext uri="{FF2B5EF4-FFF2-40B4-BE49-F238E27FC236}">
                  <a16:creationId xmlns:a16="http://schemas.microsoft.com/office/drawing/2014/main" id="{5321037B-7A35-603F-CDD6-61CFB5939425}"/>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20">
              <a:extLst>
                <a:ext uri="{FF2B5EF4-FFF2-40B4-BE49-F238E27FC236}">
                  <a16:creationId xmlns:a16="http://schemas.microsoft.com/office/drawing/2014/main" id="{7BAAA90F-AD74-7C0E-F48D-3E3F56F5F61E}"/>
                </a:ext>
              </a:extLst>
            </p:cNvPr>
            <p:cNvSpPr>
              <a:spLocks noEditPoints="1"/>
            </p:cNvSpPr>
            <p:nvPr/>
          </p:nvSpPr>
          <p:spPr bwMode="auto">
            <a:xfrm>
              <a:off x="2115" y="741"/>
              <a:ext cx="3130" cy="2949"/>
            </a:xfrm>
            <a:custGeom>
              <a:avLst/>
              <a:gdLst>
                <a:gd name="T0" fmla="*/ 234 w 1671"/>
                <a:gd name="T1" fmla="*/ 835 h 1573"/>
                <a:gd name="T2" fmla="*/ 0 w 1671"/>
                <a:gd name="T3" fmla="*/ 585 h 1573"/>
                <a:gd name="T4" fmla="*/ 234 w 1671"/>
                <a:gd name="T5" fmla="*/ 335 h 1573"/>
                <a:gd name="T6" fmla="*/ 234 w 1671"/>
                <a:gd name="T7" fmla="*/ 379 h 1573"/>
                <a:gd name="T8" fmla="*/ 44 w 1671"/>
                <a:gd name="T9" fmla="*/ 585 h 1573"/>
                <a:gd name="T10" fmla="*/ 234 w 1671"/>
                <a:gd name="T11" fmla="*/ 791 h 1573"/>
                <a:gd name="T12" fmla="*/ 234 w 1671"/>
                <a:gd name="T13" fmla="*/ 835 h 1573"/>
                <a:gd name="T14" fmla="*/ 1569 w 1671"/>
                <a:gd name="T15" fmla="*/ 0 h 1573"/>
                <a:gd name="T16" fmla="*/ 1524 w 1671"/>
                <a:gd name="T17" fmla="*/ 10 h 1573"/>
                <a:gd name="T18" fmla="*/ 1196 w 1671"/>
                <a:gd name="T19" fmla="*/ 169 h 1573"/>
                <a:gd name="T20" fmla="*/ 1202 w 1671"/>
                <a:gd name="T21" fmla="*/ 197 h 1573"/>
                <a:gd name="T22" fmla="*/ 1202 w 1671"/>
                <a:gd name="T23" fmla="*/ 215 h 1573"/>
                <a:gd name="T24" fmla="*/ 1544 w 1671"/>
                <a:gd name="T25" fmla="*/ 49 h 1573"/>
                <a:gd name="T26" fmla="*/ 1569 w 1671"/>
                <a:gd name="T27" fmla="*/ 44 h 1573"/>
                <a:gd name="T28" fmla="*/ 1627 w 1671"/>
                <a:gd name="T29" fmla="*/ 102 h 1573"/>
                <a:gd name="T30" fmla="*/ 1627 w 1671"/>
                <a:gd name="T31" fmla="*/ 1104 h 1573"/>
                <a:gd name="T32" fmla="*/ 1609 w 1671"/>
                <a:gd name="T33" fmla="*/ 1146 h 1573"/>
                <a:gd name="T34" fmla="*/ 1569 w 1671"/>
                <a:gd name="T35" fmla="*/ 1163 h 1573"/>
                <a:gd name="T36" fmla="*/ 1569 w 1671"/>
                <a:gd name="T37" fmla="*/ 1163 h 1573"/>
                <a:gd name="T38" fmla="*/ 1544 w 1671"/>
                <a:gd name="T39" fmla="*/ 1157 h 1573"/>
                <a:gd name="T40" fmla="*/ 1200 w 1671"/>
                <a:gd name="T41" fmla="*/ 990 h 1573"/>
                <a:gd name="T42" fmla="*/ 1173 w 1671"/>
                <a:gd name="T43" fmla="*/ 1026 h 1573"/>
                <a:gd name="T44" fmla="*/ 1524 w 1671"/>
                <a:gd name="T45" fmla="*/ 1196 h 1573"/>
                <a:gd name="T46" fmla="*/ 1569 w 1671"/>
                <a:gd name="T47" fmla="*/ 1207 h 1573"/>
                <a:gd name="T48" fmla="*/ 1569 w 1671"/>
                <a:gd name="T49" fmla="*/ 1207 h 1573"/>
                <a:gd name="T50" fmla="*/ 1640 w 1671"/>
                <a:gd name="T51" fmla="*/ 1178 h 1573"/>
                <a:gd name="T52" fmla="*/ 1671 w 1671"/>
                <a:gd name="T53" fmla="*/ 1104 h 1573"/>
                <a:gd name="T54" fmla="*/ 1671 w 1671"/>
                <a:gd name="T55" fmla="*/ 102 h 1573"/>
                <a:gd name="T56" fmla="*/ 1569 w 1671"/>
                <a:gd name="T57" fmla="*/ 0 h 1573"/>
                <a:gd name="T58" fmla="*/ 623 w 1671"/>
                <a:gd name="T59" fmla="*/ 960 h 1573"/>
                <a:gd name="T60" fmla="*/ 572 w 1671"/>
                <a:gd name="T61" fmla="*/ 953 h 1573"/>
                <a:gd name="T62" fmla="*/ 812 w 1671"/>
                <a:gd name="T63" fmla="*/ 1529 h 1573"/>
                <a:gd name="T64" fmla="*/ 600 w 1671"/>
                <a:gd name="T65" fmla="*/ 1529 h 1573"/>
                <a:gd name="T66" fmla="*/ 347 w 1671"/>
                <a:gd name="T67" fmla="*/ 919 h 1573"/>
                <a:gd name="T68" fmla="*/ 296 w 1671"/>
                <a:gd name="T69" fmla="*/ 912 h 1573"/>
                <a:gd name="T70" fmla="*/ 565 w 1671"/>
                <a:gd name="T71" fmla="*/ 1560 h 1573"/>
                <a:gd name="T72" fmla="*/ 586 w 1671"/>
                <a:gd name="T73" fmla="*/ 1573 h 1573"/>
                <a:gd name="T74" fmla="*/ 845 w 1671"/>
                <a:gd name="T75" fmla="*/ 1573 h 1573"/>
                <a:gd name="T76" fmla="*/ 863 w 1671"/>
                <a:gd name="T77" fmla="*/ 1563 h 1573"/>
                <a:gd name="T78" fmla="*/ 865 w 1671"/>
                <a:gd name="T79" fmla="*/ 1543 h 1573"/>
                <a:gd name="T80" fmla="*/ 623 w 1671"/>
                <a:gd name="T81" fmla="*/ 960 h 1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71" h="1573">
                  <a:moveTo>
                    <a:pt x="234" y="835"/>
                  </a:moveTo>
                  <a:cubicBezTo>
                    <a:pt x="101" y="815"/>
                    <a:pt x="0" y="710"/>
                    <a:pt x="0" y="585"/>
                  </a:cubicBezTo>
                  <a:cubicBezTo>
                    <a:pt x="0" y="459"/>
                    <a:pt x="101" y="355"/>
                    <a:pt x="234" y="335"/>
                  </a:cubicBezTo>
                  <a:cubicBezTo>
                    <a:pt x="234" y="379"/>
                    <a:pt x="234" y="379"/>
                    <a:pt x="234" y="379"/>
                  </a:cubicBezTo>
                  <a:cubicBezTo>
                    <a:pt x="126" y="399"/>
                    <a:pt x="44" y="483"/>
                    <a:pt x="44" y="585"/>
                  </a:cubicBezTo>
                  <a:cubicBezTo>
                    <a:pt x="44" y="686"/>
                    <a:pt x="126" y="771"/>
                    <a:pt x="234" y="791"/>
                  </a:cubicBezTo>
                  <a:lnTo>
                    <a:pt x="234" y="835"/>
                  </a:lnTo>
                  <a:close/>
                  <a:moveTo>
                    <a:pt x="1569" y="0"/>
                  </a:moveTo>
                  <a:cubicBezTo>
                    <a:pt x="1553" y="0"/>
                    <a:pt x="1539" y="3"/>
                    <a:pt x="1524" y="10"/>
                  </a:cubicBezTo>
                  <a:cubicBezTo>
                    <a:pt x="1196" y="169"/>
                    <a:pt x="1196" y="169"/>
                    <a:pt x="1196" y="169"/>
                  </a:cubicBezTo>
                  <a:cubicBezTo>
                    <a:pt x="1200" y="177"/>
                    <a:pt x="1202" y="187"/>
                    <a:pt x="1202" y="197"/>
                  </a:cubicBezTo>
                  <a:cubicBezTo>
                    <a:pt x="1202" y="215"/>
                    <a:pt x="1202" y="215"/>
                    <a:pt x="1202" y="215"/>
                  </a:cubicBezTo>
                  <a:cubicBezTo>
                    <a:pt x="1544" y="49"/>
                    <a:pt x="1544" y="49"/>
                    <a:pt x="1544" y="49"/>
                  </a:cubicBezTo>
                  <a:cubicBezTo>
                    <a:pt x="1552" y="46"/>
                    <a:pt x="1560" y="44"/>
                    <a:pt x="1569" y="44"/>
                  </a:cubicBezTo>
                  <a:cubicBezTo>
                    <a:pt x="1597" y="44"/>
                    <a:pt x="1627" y="66"/>
                    <a:pt x="1627" y="102"/>
                  </a:cubicBezTo>
                  <a:cubicBezTo>
                    <a:pt x="1627" y="1104"/>
                    <a:pt x="1627" y="1104"/>
                    <a:pt x="1627" y="1104"/>
                  </a:cubicBezTo>
                  <a:cubicBezTo>
                    <a:pt x="1627" y="1120"/>
                    <a:pt x="1621" y="1135"/>
                    <a:pt x="1609" y="1146"/>
                  </a:cubicBezTo>
                  <a:cubicBezTo>
                    <a:pt x="1598" y="1157"/>
                    <a:pt x="1584" y="1163"/>
                    <a:pt x="1569" y="1163"/>
                  </a:cubicBezTo>
                  <a:cubicBezTo>
                    <a:pt x="1569" y="1163"/>
                    <a:pt x="1569" y="1163"/>
                    <a:pt x="1569" y="1163"/>
                  </a:cubicBezTo>
                  <a:cubicBezTo>
                    <a:pt x="1560" y="1163"/>
                    <a:pt x="1552" y="1161"/>
                    <a:pt x="1544" y="1157"/>
                  </a:cubicBezTo>
                  <a:cubicBezTo>
                    <a:pt x="1200" y="990"/>
                    <a:pt x="1200" y="990"/>
                    <a:pt x="1200" y="990"/>
                  </a:cubicBezTo>
                  <a:cubicBezTo>
                    <a:pt x="1196" y="1006"/>
                    <a:pt x="1186" y="1018"/>
                    <a:pt x="1173" y="1026"/>
                  </a:cubicBezTo>
                  <a:cubicBezTo>
                    <a:pt x="1524" y="1196"/>
                    <a:pt x="1524" y="1196"/>
                    <a:pt x="1524" y="1196"/>
                  </a:cubicBezTo>
                  <a:cubicBezTo>
                    <a:pt x="1539" y="1203"/>
                    <a:pt x="1553" y="1207"/>
                    <a:pt x="1569" y="1207"/>
                  </a:cubicBezTo>
                  <a:cubicBezTo>
                    <a:pt x="1569" y="1207"/>
                    <a:pt x="1569" y="1207"/>
                    <a:pt x="1569" y="1207"/>
                  </a:cubicBezTo>
                  <a:cubicBezTo>
                    <a:pt x="1595" y="1207"/>
                    <a:pt x="1621" y="1196"/>
                    <a:pt x="1640" y="1178"/>
                  </a:cubicBezTo>
                  <a:cubicBezTo>
                    <a:pt x="1660" y="1158"/>
                    <a:pt x="1671" y="1132"/>
                    <a:pt x="1671" y="1104"/>
                  </a:cubicBezTo>
                  <a:cubicBezTo>
                    <a:pt x="1671" y="102"/>
                    <a:pt x="1671" y="102"/>
                    <a:pt x="1671" y="102"/>
                  </a:cubicBezTo>
                  <a:cubicBezTo>
                    <a:pt x="1671" y="45"/>
                    <a:pt x="1625" y="0"/>
                    <a:pt x="1569" y="0"/>
                  </a:cubicBezTo>
                  <a:close/>
                  <a:moveTo>
                    <a:pt x="623" y="960"/>
                  </a:moveTo>
                  <a:cubicBezTo>
                    <a:pt x="572" y="953"/>
                    <a:pt x="572" y="953"/>
                    <a:pt x="572" y="953"/>
                  </a:cubicBezTo>
                  <a:cubicBezTo>
                    <a:pt x="812" y="1529"/>
                    <a:pt x="812" y="1529"/>
                    <a:pt x="812" y="1529"/>
                  </a:cubicBezTo>
                  <a:cubicBezTo>
                    <a:pt x="600" y="1529"/>
                    <a:pt x="600" y="1529"/>
                    <a:pt x="600" y="1529"/>
                  </a:cubicBezTo>
                  <a:cubicBezTo>
                    <a:pt x="347" y="919"/>
                    <a:pt x="347" y="919"/>
                    <a:pt x="347" y="919"/>
                  </a:cubicBezTo>
                  <a:cubicBezTo>
                    <a:pt x="296" y="912"/>
                    <a:pt x="296" y="912"/>
                    <a:pt x="296" y="912"/>
                  </a:cubicBezTo>
                  <a:cubicBezTo>
                    <a:pt x="565" y="1560"/>
                    <a:pt x="565" y="1560"/>
                    <a:pt x="565" y="1560"/>
                  </a:cubicBezTo>
                  <a:cubicBezTo>
                    <a:pt x="569" y="1568"/>
                    <a:pt x="577" y="1573"/>
                    <a:pt x="586" y="1573"/>
                  </a:cubicBezTo>
                  <a:cubicBezTo>
                    <a:pt x="845" y="1573"/>
                    <a:pt x="845" y="1573"/>
                    <a:pt x="845" y="1573"/>
                  </a:cubicBezTo>
                  <a:cubicBezTo>
                    <a:pt x="852" y="1573"/>
                    <a:pt x="859" y="1569"/>
                    <a:pt x="863" y="1563"/>
                  </a:cubicBezTo>
                  <a:cubicBezTo>
                    <a:pt x="867" y="1557"/>
                    <a:pt x="868" y="1550"/>
                    <a:pt x="865" y="1543"/>
                  </a:cubicBezTo>
                  <a:lnTo>
                    <a:pt x="623" y="96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21">
              <a:extLst>
                <a:ext uri="{FF2B5EF4-FFF2-40B4-BE49-F238E27FC236}">
                  <a16:creationId xmlns:a16="http://schemas.microsoft.com/office/drawing/2014/main" id="{B4773475-D2CD-DDBD-DB16-2A1248289B89}"/>
                </a:ext>
              </a:extLst>
            </p:cNvPr>
            <p:cNvSpPr>
              <a:spLocks noEditPoints="1"/>
            </p:cNvSpPr>
            <p:nvPr/>
          </p:nvSpPr>
          <p:spPr bwMode="auto">
            <a:xfrm>
              <a:off x="2636" y="1074"/>
              <a:ext cx="2916" cy="1525"/>
            </a:xfrm>
            <a:custGeom>
              <a:avLst/>
              <a:gdLst>
                <a:gd name="T0" fmla="*/ 1557 w 1557"/>
                <a:gd name="T1" fmla="*/ 412 h 813"/>
                <a:gd name="T2" fmla="*/ 1437 w 1557"/>
                <a:gd name="T3" fmla="*/ 575 h 813"/>
                <a:gd name="T4" fmla="*/ 1437 w 1557"/>
                <a:gd name="T5" fmla="*/ 246 h 813"/>
                <a:gd name="T6" fmla="*/ 1557 w 1557"/>
                <a:gd name="T7" fmla="*/ 412 h 813"/>
                <a:gd name="T8" fmla="*/ 880 w 1557"/>
                <a:gd name="T9" fmla="*/ 797 h 813"/>
                <a:gd name="T10" fmla="*/ 880 w 1557"/>
                <a:gd name="T11" fmla="*/ 797 h 813"/>
                <a:gd name="T12" fmla="*/ 880 w 1557"/>
                <a:gd name="T13" fmla="*/ 19 h 813"/>
                <a:gd name="T14" fmla="*/ 861 w 1557"/>
                <a:gd name="T15" fmla="*/ 0 h 813"/>
                <a:gd name="T16" fmla="*/ 19 w 1557"/>
                <a:gd name="T17" fmla="*/ 108 h 813"/>
                <a:gd name="T18" fmla="*/ 0 w 1557"/>
                <a:gd name="T19" fmla="*/ 127 h 813"/>
                <a:gd name="T20" fmla="*/ 0 w 1557"/>
                <a:gd name="T21" fmla="*/ 671 h 813"/>
                <a:gd name="T22" fmla="*/ 19 w 1557"/>
                <a:gd name="T23" fmla="*/ 690 h 813"/>
                <a:gd name="T24" fmla="*/ 861 w 1557"/>
                <a:gd name="T25" fmla="*/ 813 h 813"/>
                <a:gd name="T26" fmla="*/ 880 w 1557"/>
                <a:gd name="T27" fmla="*/ 797 h 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7" h="813">
                  <a:moveTo>
                    <a:pt x="1557" y="412"/>
                  </a:moveTo>
                  <a:cubicBezTo>
                    <a:pt x="1557" y="486"/>
                    <a:pt x="1506" y="550"/>
                    <a:pt x="1437" y="575"/>
                  </a:cubicBezTo>
                  <a:cubicBezTo>
                    <a:pt x="1437" y="246"/>
                    <a:pt x="1437" y="246"/>
                    <a:pt x="1437" y="246"/>
                  </a:cubicBezTo>
                  <a:cubicBezTo>
                    <a:pt x="1506" y="271"/>
                    <a:pt x="1557" y="335"/>
                    <a:pt x="1557" y="412"/>
                  </a:cubicBezTo>
                  <a:close/>
                  <a:moveTo>
                    <a:pt x="880" y="797"/>
                  </a:moveTo>
                  <a:cubicBezTo>
                    <a:pt x="880" y="797"/>
                    <a:pt x="880" y="797"/>
                    <a:pt x="880" y="797"/>
                  </a:cubicBezTo>
                  <a:cubicBezTo>
                    <a:pt x="880" y="19"/>
                    <a:pt x="880" y="19"/>
                    <a:pt x="880" y="19"/>
                  </a:cubicBezTo>
                  <a:cubicBezTo>
                    <a:pt x="880" y="7"/>
                    <a:pt x="873" y="0"/>
                    <a:pt x="861" y="0"/>
                  </a:cubicBezTo>
                  <a:cubicBezTo>
                    <a:pt x="861" y="0"/>
                    <a:pt x="861" y="0"/>
                    <a:pt x="19" y="108"/>
                  </a:cubicBezTo>
                  <a:cubicBezTo>
                    <a:pt x="9" y="108"/>
                    <a:pt x="0" y="117"/>
                    <a:pt x="0" y="127"/>
                  </a:cubicBezTo>
                  <a:cubicBezTo>
                    <a:pt x="0" y="127"/>
                    <a:pt x="0" y="127"/>
                    <a:pt x="0" y="671"/>
                  </a:cubicBezTo>
                  <a:cubicBezTo>
                    <a:pt x="0" y="683"/>
                    <a:pt x="9" y="690"/>
                    <a:pt x="19" y="690"/>
                  </a:cubicBezTo>
                  <a:cubicBezTo>
                    <a:pt x="19" y="690"/>
                    <a:pt x="19" y="690"/>
                    <a:pt x="861" y="813"/>
                  </a:cubicBezTo>
                  <a:cubicBezTo>
                    <a:pt x="873" y="813"/>
                    <a:pt x="880" y="806"/>
                    <a:pt x="880" y="797"/>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3" name="bcgIcons_Email ">
            <a:extLst>
              <a:ext uri="{FF2B5EF4-FFF2-40B4-BE49-F238E27FC236}">
                <a16:creationId xmlns:a16="http://schemas.microsoft.com/office/drawing/2014/main" id="{173ABD06-FDF6-8BAB-747F-188610BAB9DA}"/>
              </a:ext>
            </a:extLst>
          </p:cNvPr>
          <p:cNvGrpSpPr>
            <a:grpSpLocks noChangeAspect="1"/>
          </p:cNvGrpSpPr>
          <p:nvPr/>
        </p:nvGrpSpPr>
        <p:grpSpPr bwMode="auto">
          <a:xfrm flipH="1">
            <a:off x="3585220" y="2340561"/>
            <a:ext cx="321689" cy="321987"/>
            <a:chOff x="1682" y="0"/>
            <a:chExt cx="4316" cy="4320"/>
          </a:xfrm>
        </p:grpSpPr>
        <p:sp>
          <p:nvSpPr>
            <p:cNvPr id="84" name="AutoShape 13">
              <a:extLst>
                <a:ext uri="{FF2B5EF4-FFF2-40B4-BE49-F238E27FC236}">
                  <a16:creationId xmlns:a16="http://schemas.microsoft.com/office/drawing/2014/main" id="{812F719A-5E82-0208-E8A7-B6E018453A22}"/>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15">
              <a:extLst>
                <a:ext uri="{FF2B5EF4-FFF2-40B4-BE49-F238E27FC236}">
                  <a16:creationId xmlns:a16="http://schemas.microsoft.com/office/drawing/2014/main" id="{040A78FE-A332-9FD6-3209-6F5F0A932168}"/>
                </a:ext>
              </a:extLst>
            </p:cNvPr>
            <p:cNvSpPr>
              <a:spLocks noEditPoints="1"/>
            </p:cNvSpPr>
            <p:nvPr/>
          </p:nvSpPr>
          <p:spPr bwMode="auto">
            <a:xfrm>
              <a:off x="2446" y="1155"/>
              <a:ext cx="2788" cy="2010"/>
            </a:xfrm>
            <a:custGeom>
              <a:avLst/>
              <a:gdLst>
                <a:gd name="T0" fmla="*/ 1488 w 1488"/>
                <a:gd name="T1" fmla="*/ 65 h 1072"/>
                <a:gd name="T2" fmla="*/ 1488 w 1488"/>
                <a:gd name="T3" fmla="*/ 1050 h 1072"/>
                <a:gd name="T4" fmla="*/ 1477 w 1488"/>
                <a:gd name="T5" fmla="*/ 1055 h 1072"/>
                <a:gd name="T6" fmla="*/ 978 w 1488"/>
                <a:gd name="T7" fmla="*/ 494 h 1072"/>
                <a:gd name="T8" fmla="*/ 978 w 1488"/>
                <a:gd name="T9" fmla="*/ 484 h 1072"/>
                <a:gd name="T10" fmla="*/ 1488 w 1488"/>
                <a:gd name="T11" fmla="*/ 65 h 1072"/>
                <a:gd name="T12" fmla="*/ 1488 w 1488"/>
                <a:gd name="T13" fmla="*/ 65 h 1072"/>
                <a:gd name="T14" fmla="*/ 0 w 1488"/>
                <a:gd name="T15" fmla="*/ 65 h 1072"/>
                <a:gd name="T16" fmla="*/ 0 w 1488"/>
                <a:gd name="T17" fmla="*/ 1050 h 1072"/>
                <a:gd name="T18" fmla="*/ 11 w 1488"/>
                <a:gd name="T19" fmla="*/ 1055 h 1072"/>
                <a:gd name="T20" fmla="*/ 510 w 1488"/>
                <a:gd name="T21" fmla="*/ 494 h 1072"/>
                <a:gd name="T22" fmla="*/ 510 w 1488"/>
                <a:gd name="T23" fmla="*/ 484 h 1072"/>
                <a:gd name="T24" fmla="*/ 0 w 1488"/>
                <a:gd name="T25" fmla="*/ 65 h 1072"/>
                <a:gd name="T26" fmla="*/ 0 w 1488"/>
                <a:gd name="T27" fmla="*/ 65 h 1072"/>
                <a:gd name="T28" fmla="*/ 1399 w 1488"/>
                <a:gd name="T29" fmla="*/ 1072 h 1072"/>
                <a:gd name="T30" fmla="*/ 1399 w 1488"/>
                <a:gd name="T31" fmla="*/ 1072 h 1072"/>
                <a:gd name="T32" fmla="*/ 934 w 1488"/>
                <a:gd name="T33" fmla="*/ 546 h 1072"/>
                <a:gd name="T34" fmla="*/ 925 w 1488"/>
                <a:gd name="T35" fmla="*/ 545 h 1072"/>
                <a:gd name="T36" fmla="*/ 750 w 1488"/>
                <a:gd name="T37" fmla="*/ 701 h 1072"/>
                <a:gd name="T38" fmla="*/ 742 w 1488"/>
                <a:gd name="T39" fmla="*/ 701 h 1072"/>
                <a:gd name="T40" fmla="*/ 566 w 1488"/>
                <a:gd name="T41" fmla="*/ 545 h 1072"/>
                <a:gd name="T42" fmla="*/ 558 w 1488"/>
                <a:gd name="T43" fmla="*/ 546 h 1072"/>
                <a:gd name="T44" fmla="*/ 90 w 1488"/>
                <a:gd name="T45" fmla="*/ 1061 h 1072"/>
                <a:gd name="T46" fmla="*/ 95 w 1488"/>
                <a:gd name="T47" fmla="*/ 1072 h 1072"/>
                <a:gd name="T48" fmla="*/ 1399 w 1488"/>
                <a:gd name="T49" fmla="*/ 1072 h 1072"/>
                <a:gd name="T50" fmla="*/ 1399 w 1488"/>
                <a:gd name="T51" fmla="*/ 1072 h 1072"/>
                <a:gd name="T52" fmla="*/ 1461 w 1488"/>
                <a:gd name="T53" fmla="*/ 0 h 1072"/>
                <a:gd name="T54" fmla="*/ 27 w 1488"/>
                <a:gd name="T55" fmla="*/ 0 h 1072"/>
                <a:gd name="T56" fmla="*/ 23 w 1488"/>
                <a:gd name="T57" fmla="*/ 11 h 1072"/>
                <a:gd name="T58" fmla="*/ 738 w 1488"/>
                <a:gd name="T59" fmla="*/ 605 h 1072"/>
                <a:gd name="T60" fmla="*/ 746 w 1488"/>
                <a:gd name="T61" fmla="*/ 605 h 1072"/>
                <a:gd name="T62" fmla="*/ 1465 w 1488"/>
                <a:gd name="T63" fmla="*/ 11 h 1072"/>
                <a:gd name="T64" fmla="*/ 1461 w 1488"/>
                <a:gd name="T65" fmla="*/ 0 h 1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88" h="1072">
                  <a:moveTo>
                    <a:pt x="1488" y="65"/>
                  </a:moveTo>
                  <a:cubicBezTo>
                    <a:pt x="1488" y="1050"/>
                    <a:pt x="1488" y="1050"/>
                    <a:pt x="1488" y="1050"/>
                  </a:cubicBezTo>
                  <a:cubicBezTo>
                    <a:pt x="1488" y="1056"/>
                    <a:pt x="1481" y="1059"/>
                    <a:pt x="1477" y="1055"/>
                  </a:cubicBezTo>
                  <a:cubicBezTo>
                    <a:pt x="978" y="494"/>
                    <a:pt x="978" y="494"/>
                    <a:pt x="978" y="494"/>
                  </a:cubicBezTo>
                  <a:cubicBezTo>
                    <a:pt x="975" y="491"/>
                    <a:pt x="976" y="487"/>
                    <a:pt x="978" y="484"/>
                  </a:cubicBezTo>
                  <a:cubicBezTo>
                    <a:pt x="1488" y="65"/>
                    <a:pt x="1488" y="65"/>
                    <a:pt x="1488" y="65"/>
                  </a:cubicBezTo>
                  <a:cubicBezTo>
                    <a:pt x="1488" y="65"/>
                    <a:pt x="1488" y="65"/>
                    <a:pt x="1488" y="65"/>
                  </a:cubicBezTo>
                  <a:close/>
                  <a:moveTo>
                    <a:pt x="0" y="65"/>
                  </a:moveTo>
                  <a:cubicBezTo>
                    <a:pt x="0" y="1050"/>
                    <a:pt x="0" y="1050"/>
                    <a:pt x="0" y="1050"/>
                  </a:cubicBezTo>
                  <a:cubicBezTo>
                    <a:pt x="0" y="1056"/>
                    <a:pt x="7" y="1059"/>
                    <a:pt x="11" y="1055"/>
                  </a:cubicBezTo>
                  <a:cubicBezTo>
                    <a:pt x="510" y="494"/>
                    <a:pt x="510" y="494"/>
                    <a:pt x="510" y="494"/>
                  </a:cubicBezTo>
                  <a:cubicBezTo>
                    <a:pt x="513" y="491"/>
                    <a:pt x="512" y="487"/>
                    <a:pt x="510" y="484"/>
                  </a:cubicBezTo>
                  <a:cubicBezTo>
                    <a:pt x="0" y="65"/>
                    <a:pt x="0" y="65"/>
                    <a:pt x="0" y="65"/>
                  </a:cubicBezTo>
                  <a:cubicBezTo>
                    <a:pt x="0" y="65"/>
                    <a:pt x="0" y="65"/>
                    <a:pt x="0" y="65"/>
                  </a:cubicBezTo>
                  <a:close/>
                  <a:moveTo>
                    <a:pt x="1399" y="1072"/>
                  </a:moveTo>
                  <a:cubicBezTo>
                    <a:pt x="1399" y="1072"/>
                    <a:pt x="1399" y="1072"/>
                    <a:pt x="1399" y="1072"/>
                  </a:cubicBezTo>
                  <a:cubicBezTo>
                    <a:pt x="934" y="546"/>
                    <a:pt x="934" y="546"/>
                    <a:pt x="934" y="546"/>
                  </a:cubicBezTo>
                  <a:cubicBezTo>
                    <a:pt x="931" y="543"/>
                    <a:pt x="928" y="542"/>
                    <a:pt x="925" y="545"/>
                  </a:cubicBezTo>
                  <a:cubicBezTo>
                    <a:pt x="750" y="701"/>
                    <a:pt x="750" y="701"/>
                    <a:pt x="750" y="701"/>
                  </a:cubicBezTo>
                  <a:cubicBezTo>
                    <a:pt x="748" y="703"/>
                    <a:pt x="744" y="703"/>
                    <a:pt x="742" y="701"/>
                  </a:cubicBezTo>
                  <a:cubicBezTo>
                    <a:pt x="566" y="545"/>
                    <a:pt x="566" y="545"/>
                    <a:pt x="566" y="545"/>
                  </a:cubicBezTo>
                  <a:cubicBezTo>
                    <a:pt x="564" y="542"/>
                    <a:pt x="560" y="542"/>
                    <a:pt x="558" y="546"/>
                  </a:cubicBezTo>
                  <a:cubicBezTo>
                    <a:pt x="90" y="1061"/>
                    <a:pt x="90" y="1061"/>
                    <a:pt x="90" y="1061"/>
                  </a:cubicBezTo>
                  <a:cubicBezTo>
                    <a:pt x="86" y="1065"/>
                    <a:pt x="89" y="1072"/>
                    <a:pt x="95" y="1072"/>
                  </a:cubicBezTo>
                  <a:cubicBezTo>
                    <a:pt x="1399" y="1072"/>
                    <a:pt x="1399" y="1072"/>
                    <a:pt x="1399" y="1072"/>
                  </a:cubicBezTo>
                  <a:cubicBezTo>
                    <a:pt x="1399" y="1072"/>
                    <a:pt x="1399" y="1072"/>
                    <a:pt x="1399" y="1072"/>
                  </a:cubicBezTo>
                  <a:close/>
                  <a:moveTo>
                    <a:pt x="1461" y="0"/>
                  </a:moveTo>
                  <a:cubicBezTo>
                    <a:pt x="27" y="0"/>
                    <a:pt x="27" y="0"/>
                    <a:pt x="27" y="0"/>
                  </a:cubicBezTo>
                  <a:cubicBezTo>
                    <a:pt x="21" y="0"/>
                    <a:pt x="19" y="8"/>
                    <a:pt x="23" y="11"/>
                  </a:cubicBezTo>
                  <a:cubicBezTo>
                    <a:pt x="738" y="605"/>
                    <a:pt x="738" y="605"/>
                    <a:pt x="738" y="605"/>
                  </a:cubicBezTo>
                  <a:cubicBezTo>
                    <a:pt x="740" y="607"/>
                    <a:pt x="743" y="607"/>
                    <a:pt x="746" y="605"/>
                  </a:cubicBezTo>
                  <a:cubicBezTo>
                    <a:pt x="1465" y="11"/>
                    <a:pt x="1465" y="11"/>
                    <a:pt x="1465" y="11"/>
                  </a:cubicBezTo>
                  <a:cubicBezTo>
                    <a:pt x="1469" y="8"/>
                    <a:pt x="1466" y="0"/>
                    <a:pt x="1461"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16">
              <a:extLst>
                <a:ext uri="{FF2B5EF4-FFF2-40B4-BE49-F238E27FC236}">
                  <a16:creationId xmlns:a16="http://schemas.microsoft.com/office/drawing/2014/main" id="{D793ED22-1B4C-7417-D6C5-BFE1F7677134}"/>
                </a:ext>
              </a:extLst>
            </p:cNvPr>
            <p:cNvSpPr>
              <a:spLocks noEditPoints="1"/>
            </p:cNvSpPr>
            <p:nvPr/>
          </p:nvSpPr>
          <p:spPr bwMode="auto">
            <a:xfrm>
              <a:off x="2257" y="988"/>
              <a:ext cx="3166" cy="2344"/>
            </a:xfrm>
            <a:custGeom>
              <a:avLst/>
              <a:gdLst>
                <a:gd name="T0" fmla="*/ 1668 w 1690"/>
                <a:gd name="T1" fmla="*/ 1250 h 1250"/>
                <a:gd name="T2" fmla="*/ 22 w 1690"/>
                <a:gd name="T3" fmla="*/ 1250 h 1250"/>
                <a:gd name="T4" fmla="*/ 0 w 1690"/>
                <a:gd name="T5" fmla="*/ 1228 h 1250"/>
                <a:gd name="T6" fmla="*/ 0 w 1690"/>
                <a:gd name="T7" fmla="*/ 22 h 1250"/>
                <a:gd name="T8" fmla="*/ 22 w 1690"/>
                <a:gd name="T9" fmla="*/ 0 h 1250"/>
                <a:gd name="T10" fmla="*/ 1668 w 1690"/>
                <a:gd name="T11" fmla="*/ 0 h 1250"/>
                <a:gd name="T12" fmla="*/ 1690 w 1690"/>
                <a:gd name="T13" fmla="*/ 22 h 1250"/>
                <a:gd name="T14" fmla="*/ 1690 w 1690"/>
                <a:gd name="T15" fmla="*/ 1228 h 1250"/>
                <a:gd name="T16" fmla="*/ 1668 w 1690"/>
                <a:gd name="T17" fmla="*/ 1250 h 1250"/>
                <a:gd name="T18" fmla="*/ 44 w 1690"/>
                <a:gd name="T19" fmla="*/ 1206 h 1250"/>
                <a:gd name="T20" fmla="*/ 1646 w 1690"/>
                <a:gd name="T21" fmla="*/ 1206 h 1250"/>
                <a:gd name="T22" fmla="*/ 1646 w 1690"/>
                <a:gd name="T23" fmla="*/ 44 h 1250"/>
                <a:gd name="T24" fmla="*/ 44 w 1690"/>
                <a:gd name="T25" fmla="*/ 44 h 1250"/>
                <a:gd name="T26" fmla="*/ 44 w 1690"/>
                <a:gd name="T27" fmla="*/ 1206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90" h="1250">
                  <a:moveTo>
                    <a:pt x="1668" y="1250"/>
                  </a:moveTo>
                  <a:cubicBezTo>
                    <a:pt x="22" y="1250"/>
                    <a:pt x="22" y="1250"/>
                    <a:pt x="22" y="1250"/>
                  </a:cubicBezTo>
                  <a:cubicBezTo>
                    <a:pt x="10" y="1250"/>
                    <a:pt x="0" y="1240"/>
                    <a:pt x="0" y="1228"/>
                  </a:cubicBezTo>
                  <a:cubicBezTo>
                    <a:pt x="0" y="22"/>
                    <a:pt x="0" y="22"/>
                    <a:pt x="0" y="22"/>
                  </a:cubicBezTo>
                  <a:cubicBezTo>
                    <a:pt x="0" y="10"/>
                    <a:pt x="10" y="0"/>
                    <a:pt x="22" y="0"/>
                  </a:cubicBezTo>
                  <a:cubicBezTo>
                    <a:pt x="1668" y="0"/>
                    <a:pt x="1668" y="0"/>
                    <a:pt x="1668" y="0"/>
                  </a:cubicBezTo>
                  <a:cubicBezTo>
                    <a:pt x="1680" y="0"/>
                    <a:pt x="1690" y="10"/>
                    <a:pt x="1690" y="22"/>
                  </a:cubicBezTo>
                  <a:cubicBezTo>
                    <a:pt x="1690" y="1228"/>
                    <a:pt x="1690" y="1228"/>
                    <a:pt x="1690" y="1228"/>
                  </a:cubicBezTo>
                  <a:cubicBezTo>
                    <a:pt x="1690" y="1240"/>
                    <a:pt x="1680" y="1250"/>
                    <a:pt x="1668" y="1250"/>
                  </a:cubicBezTo>
                  <a:close/>
                  <a:moveTo>
                    <a:pt x="44" y="1206"/>
                  </a:moveTo>
                  <a:cubicBezTo>
                    <a:pt x="1646" y="1206"/>
                    <a:pt x="1646" y="1206"/>
                    <a:pt x="1646" y="1206"/>
                  </a:cubicBezTo>
                  <a:cubicBezTo>
                    <a:pt x="1646" y="44"/>
                    <a:pt x="1646" y="44"/>
                    <a:pt x="1646" y="44"/>
                  </a:cubicBezTo>
                  <a:cubicBezTo>
                    <a:pt x="44" y="44"/>
                    <a:pt x="44" y="44"/>
                    <a:pt x="44" y="44"/>
                  </a:cubicBezTo>
                  <a:lnTo>
                    <a:pt x="44" y="120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7" name="bcgIcons_Telephone ">
            <a:extLst>
              <a:ext uri="{FF2B5EF4-FFF2-40B4-BE49-F238E27FC236}">
                <a16:creationId xmlns:a16="http://schemas.microsoft.com/office/drawing/2014/main" id="{8FE15075-C123-064A-75EA-7DA57FCE96D3}"/>
              </a:ext>
            </a:extLst>
          </p:cNvPr>
          <p:cNvGrpSpPr>
            <a:grpSpLocks noChangeAspect="1"/>
          </p:cNvGrpSpPr>
          <p:nvPr/>
        </p:nvGrpSpPr>
        <p:grpSpPr>
          <a:xfrm>
            <a:off x="6237163" y="2315867"/>
            <a:ext cx="384546" cy="384175"/>
            <a:chOff x="5273675" y="2606675"/>
            <a:chExt cx="1646238" cy="1644650"/>
          </a:xfrm>
        </p:grpSpPr>
        <p:sp>
          <p:nvSpPr>
            <p:cNvPr id="88" name="AutoShape 10">
              <a:extLst>
                <a:ext uri="{FF2B5EF4-FFF2-40B4-BE49-F238E27FC236}">
                  <a16:creationId xmlns:a16="http://schemas.microsoft.com/office/drawing/2014/main" id="{EB2CAAF1-3E43-607D-ADF0-CB2BF0706368}"/>
                </a:ext>
              </a:extLst>
            </p:cNvPr>
            <p:cNvSpPr>
              <a:spLocks noChangeAspect="1" noChangeArrowheads="1" noTextEdit="1"/>
            </p:cNvSpPr>
            <p:nvPr/>
          </p:nvSpPr>
          <p:spPr bwMode="auto">
            <a:xfrm>
              <a:off x="5273675"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89" name="Group 88">
              <a:extLst>
                <a:ext uri="{FF2B5EF4-FFF2-40B4-BE49-F238E27FC236}">
                  <a16:creationId xmlns:a16="http://schemas.microsoft.com/office/drawing/2014/main" id="{06FF88AE-D16D-4F36-EE88-DBF0571C6979}"/>
                </a:ext>
              </a:extLst>
            </p:cNvPr>
            <p:cNvGrpSpPr/>
            <p:nvPr/>
          </p:nvGrpSpPr>
          <p:grpSpPr>
            <a:xfrm>
              <a:off x="5629708" y="2841261"/>
              <a:ext cx="915224" cy="1172163"/>
              <a:chOff x="5629708" y="2841261"/>
              <a:chExt cx="915224" cy="1172163"/>
            </a:xfrm>
          </p:grpSpPr>
          <p:sp>
            <p:nvSpPr>
              <p:cNvPr id="90" name="Freeform 13">
                <a:extLst>
                  <a:ext uri="{FF2B5EF4-FFF2-40B4-BE49-F238E27FC236}">
                    <a16:creationId xmlns:a16="http://schemas.microsoft.com/office/drawing/2014/main" id="{C2CF7C25-9352-E5AF-0FB0-2F793490ECCF}"/>
                  </a:ext>
                </a:extLst>
              </p:cNvPr>
              <p:cNvSpPr>
                <a:spLocks/>
              </p:cNvSpPr>
              <p:nvPr/>
            </p:nvSpPr>
            <p:spPr bwMode="auto">
              <a:xfrm>
                <a:off x="5629708" y="2841261"/>
                <a:ext cx="915224" cy="1172163"/>
              </a:xfrm>
              <a:custGeom>
                <a:avLst/>
                <a:gdLst>
                  <a:gd name="connsiteX0" fmla="*/ 218077 w 915224"/>
                  <a:gd name="connsiteY0" fmla="*/ 34328 h 1172163"/>
                  <a:gd name="connsiteX1" fmla="*/ 151729 w 915224"/>
                  <a:gd name="connsiteY1" fmla="*/ 58589 h 1172163"/>
                  <a:gd name="connsiteX2" fmla="*/ 65290 w 915224"/>
                  <a:gd name="connsiteY2" fmla="*/ 125664 h 1172163"/>
                  <a:gd name="connsiteX3" fmla="*/ 30285 w 915224"/>
                  <a:gd name="connsiteY3" fmla="*/ 300487 h 1172163"/>
                  <a:gd name="connsiteX4" fmla="*/ 182447 w 915224"/>
                  <a:gd name="connsiteY4" fmla="*/ 767157 h 1172163"/>
                  <a:gd name="connsiteX5" fmla="*/ 544635 w 915224"/>
                  <a:gd name="connsiteY5" fmla="*/ 1099678 h 1172163"/>
                  <a:gd name="connsiteX6" fmla="*/ 718228 w 915224"/>
                  <a:gd name="connsiteY6" fmla="*/ 1140351 h 1172163"/>
                  <a:gd name="connsiteX7" fmla="*/ 814669 w 915224"/>
                  <a:gd name="connsiteY7" fmla="*/ 1089688 h 1172163"/>
                  <a:gd name="connsiteX8" fmla="*/ 884678 w 915224"/>
                  <a:gd name="connsiteY8" fmla="*/ 992643 h 1172163"/>
                  <a:gd name="connsiteX9" fmla="*/ 802525 w 915224"/>
                  <a:gd name="connsiteY9" fmla="*/ 887036 h 1172163"/>
                  <a:gd name="connsiteX10" fmla="*/ 623931 w 915224"/>
                  <a:gd name="connsiteY10" fmla="*/ 784283 h 1172163"/>
                  <a:gd name="connsiteX11" fmla="*/ 559637 w 915224"/>
                  <a:gd name="connsiteY11" fmla="*/ 859207 h 1172163"/>
                  <a:gd name="connsiteX12" fmla="*/ 528919 w 915224"/>
                  <a:gd name="connsiteY12" fmla="*/ 906302 h 1172163"/>
                  <a:gd name="connsiteX13" fmla="*/ 478913 w 915224"/>
                  <a:gd name="connsiteY13" fmla="*/ 887036 h 1172163"/>
                  <a:gd name="connsiteX14" fmla="*/ 322465 w 915224"/>
                  <a:gd name="connsiteY14" fmla="*/ 677248 h 1172163"/>
                  <a:gd name="connsiteX15" fmla="*/ 196735 w 915224"/>
                  <a:gd name="connsiteY15" fmla="*/ 448908 h 1172163"/>
                  <a:gd name="connsiteX16" fmla="*/ 200307 w 915224"/>
                  <a:gd name="connsiteY16" fmla="*/ 396104 h 1172163"/>
                  <a:gd name="connsiteX17" fmla="*/ 255313 w 915224"/>
                  <a:gd name="connsiteY17" fmla="*/ 386828 h 1172163"/>
                  <a:gd name="connsiteX18" fmla="*/ 350325 w 915224"/>
                  <a:gd name="connsiteY18" fmla="*/ 359713 h 1172163"/>
                  <a:gd name="connsiteX19" fmla="*/ 331037 w 915224"/>
                  <a:gd name="connsiteY19" fmla="*/ 154920 h 1172163"/>
                  <a:gd name="connsiteX20" fmla="*/ 268887 w 915224"/>
                  <a:gd name="connsiteY20" fmla="*/ 35755 h 1172163"/>
                  <a:gd name="connsiteX21" fmla="*/ 218077 w 915224"/>
                  <a:gd name="connsiteY21" fmla="*/ 34328 h 1172163"/>
                  <a:gd name="connsiteX22" fmla="*/ 247537 w 915224"/>
                  <a:gd name="connsiteY22" fmla="*/ 105 h 1172163"/>
                  <a:gd name="connsiteX23" fmla="*/ 281123 w 915224"/>
                  <a:gd name="connsiteY23" fmla="*/ 6934 h 1172163"/>
                  <a:gd name="connsiteX24" fmla="*/ 380972 w 915224"/>
                  <a:gd name="connsiteY24" fmla="*/ 237540 h 1172163"/>
                  <a:gd name="connsiteX25" fmla="*/ 387391 w 915224"/>
                  <a:gd name="connsiteY25" fmla="*/ 326783 h 1172163"/>
                  <a:gd name="connsiteX26" fmla="*/ 371701 w 915224"/>
                  <a:gd name="connsiteY26" fmla="*/ 383899 h 1172163"/>
                  <a:gd name="connsiteX27" fmla="*/ 247603 w 915224"/>
                  <a:gd name="connsiteY27" fmla="*/ 416741 h 1172163"/>
                  <a:gd name="connsiteX28" fmla="*/ 224780 w 915224"/>
                  <a:gd name="connsiteY28" fmla="*/ 416027 h 1172163"/>
                  <a:gd name="connsiteX29" fmla="*/ 226206 w 915224"/>
                  <a:gd name="connsiteY29" fmla="*/ 436018 h 1172163"/>
                  <a:gd name="connsiteX30" fmla="*/ 349591 w 915224"/>
                  <a:gd name="connsiteY30" fmla="*/ 659484 h 1172163"/>
                  <a:gd name="connsiteX31" fmla="*/ 350304 w 915224"/>
                  <a:gd name="connsiteY31" fmla="*/ 660912 h 1172163"/>
                  <a:gd name="connsiteX32" fmla="*/ 502931 w 915224"/>
                  <a:gd name="connsiteY32" fmla="*/ 866530 h 1172163"/>
                  <a:gd name="connsiteX33" fmla="*/ 520048 w 915224"/>
                  <a:gd name="connsiteY33" fmla="*/ 875811 h 1172163"/>
                  <a:gd name="connsiteX34" fmla="*/ 529319 w 915224"/>
                  <a:gd name="connsiteY34" fmla="*/ 855106 h 1172163"/>
                  <a:gd name="connsiteX35" fmla="*/ 610625 w 915224"/>
                  <a:gd name="connsiteY35" fmla="*/ 755867 h 1172163"/>
                  <a:gd name="connsiteX36" fmla="*/ 669108 w 915224"/>
                  <a:gd name="connsiteY36" fmla="*/ 765149 h 1172163"/>
                  <a:gd name="connsiteX37" fmla="*/ 747561 w 915224"/>
                  <a:gd name="connsiteY37" fmla="*/ 807986 h 1172163"/>
                  <a:gd name="connsiteX38" fmla="*/ 915164 w 915224"/>
                  <a:gd name="connsiteY38" fmla="*/ 995041 h 1172163"/>
                  <a:gd name="connsiteX39" fmla="*/ 721885 w 915224"/>
                  <a:gd name="connsiteY39" fmla="*/ 1172100 h 1172163"/>
                  <a:gd name="connsiteX40" fmla="*/ 720459 w 915224"/>
                  <a:gd name="connsiteY40" fmla="*/ 1172100 h 1172163"/>
                  <a:gd name="connsiteX41" fmla="*/ 637014 w 915224"/>
                  <a:gd name="connsiteY41" fmla="*/ 1162819 h 1172163"/>
                  <a:gd name="connsiteX42" fmla="*/ 534312 w 915224"/>
                  <a:gd name="connsiteY42" fmla="*/ 1129263 h 1172163"/>
                  <a:gd name="connsiteX43" fmla="*/ 157025 w 915224"/>
                  <a:gd name="connsiteY43" fmla="*/ 784425 h 1172163"/>
                  <a:gd name="connsiteX44" fmla="*/ 120 w 915224"/>
                  <a:gd name="connsiteY44" fmla="*/ 297511 h 1172163"/>
                  <a:gd name="connsiteX45" fmla="*/ 38633 w 915224"/>
                  <a:gd name="connsiteY45" fmla="*/ 110457 h 1172163"/>
                  <a:gd name="connsiteX46" fmla="*/ 39346 w 915224"/>
                  <a:gd name="connsiteY46" fmla="*/ 109029 h 1172163"/>
                  <a:gd name="connsiteX47" fmla="*/ 247537 w 915224"/>
                  <a:gd name="connsiteY47" fmla="*/ 105 h 1172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915224" h="1172163">
                    <a:moveTo>
                      <a:pt x="218077" y="34328"/>
                    </a:moveTo>
                    <a:cubicBezTo>
                      <a:pt x="198164" y="38253"/>
                      <a:pt x="175661" y="46459"/>
                      <a:pt x="151729" y="58589"/>
                    </a:cubicBezTo>
                    <a:cubicBezTo>
                      <a:pt x="110295" y="80710"/>
                      <a:pt x="74577" y="109966"/>
                      <a:pt x="65290" y="125664"/>
                    </a:cubicBezTo>
                    <a:cubicBezTo>
                      <a:pt x="61718" y="131372"/>
                      <a:pt x="31714" y="194880"/>
                      <a:pt x="30285" y="300487"/>
                    </a:cubicBezTo>
                    <a:cubicBezTo>
                      <a:pt x="28142" y="403240"/>
                      <a:pt x="53145" y="565933"/>
                      <a:pt x="182447" y="767157"/>
                    </a:cubicBezTo>
                    <a:cubicBezTo>
                      <a:pt x="311749" y="968382"/>
                      <a:pt x="450338" y="1059005"/>
                      <a:pt x="544635" y="1099678"/>
                    </a:cubicBezTo>
                    <a:cubicBezTo>
                      <a:pt x="641790" y="1141778"/>
                      <a:pt x="711799" y="1141065"/>
                      <a:pt x="718228" y="1140351"/>
                    </a:cubicBezTo>
                    <a:cubicBezTo>
                      <a:pt x="736802" y="1138210"/>
                      <a:pt x="778236" y="1118231"/>
                      <a:pt x="814669" y="1089688"/>
                    </a:cubicBezTo>
                    <a:cubicBezTo>
                      <a:pt x="857532" y="1056864"/>
                      <a:pt x="882535" y="1021900"/>
                      <a:pt x="884678" y="992643"/>
                    </a:cubicBezTo>
                    <a:cubicBezTo>
                      <a:pt x="885392" y="975518"/>
                      <a:pt x="863961" y="938413"/>
                      <a:pt x="802525" y="887036"/>
                    </a:cubicBezTo>
                    <a:cubicBezTo>
                      <a:pt x="723229" y="821388"/>
                      <a:pt x="638933" y="780715"/>
                      <a:pt x="623931" y="784283"/>
                    </a:cubicBezTo>
                    <a:cubicBezTo>
                      <a:pt x="617502" y="786424"/>
                      <a:pt x="567495" y="811398"/>
                      <a:pt x="559637" y="859207"/>
                    </a:cubicBezTo>
                    <a:cubicBezTo>
                      <a:pt x="554637" y="892031"/>
                      <a:pt x="539635" y="902734"/>
                      <a:pt x="528919" y="906302"/>
                    </a:cubicBezTo>
                    <a:cubicBezTo>
                      <a:pt x="512488" y="910584"/>
                      <a:pt x="493915" y="903448"/>
                      <a:pt x="478913" y="887036"/>
                    </a:cubicBezTo>
                    <a:cubicBezTo>
                      <a:pt x="470340" y="877760"/>
                      <a:pt x="396760" y="797127"/>
                      <a:pt x="322465" y="677248"/>
                    </a:cubicBezTo>
                    <a:cubicBezTo>
                      <a:pt x="244598" y="560224"/>
                      <a:pt x="201735" y="459612"/>
                      <a:pt x="196735" y="448908"/>
                    </a:cubicBezTo>
                    <a:cubicBezTo>
                      <a:pt x="188162" y="428215"/>
                      <a:pt x="189591" y="408949"/>
                      <a:pt x="200307" y="396104"/>
                    </a:cubicBezTo>
                    <a:cubicBezTo>
                      <a:pt x="208165" y="387542"/>
                      <a:pt x="223881" y="378265"/>
                      <a:pt x="255313" y="386828"/>
                    </a:cubicBezTo>
                    <a:cubicBezTo>
                      <a:pt x="302462" y="399672"/>
                      <a:pt x="346039" y="364708"/>
                      <a:pt x="350325" y="359713"/>
                    </a:cubicBezTo>
                    <a:cubicBezTo>
                      <a:pt x="359612" y="346869"/>
                      <a:pt x="358183" y="254105"/>
                      <a:pt x="331037" y="154920"/>
                    </a:cubicBezTo>
                    <a:cubicBezTo>
                      <a:pt x="309606" y="77142"/>
                      <a:pt x="285317" y="42177"/>
                      <a:pt x="268887" y="35755"/>
                    </a:cubicBezTo>
                    <a:cubicBezTo>
                      <a:pt x="255314" y="30760"/>
                      <a:pt x="237990" y="30403"/>
                      <a:pt x="218077" y="34328"/>
                    </a:cubicBezTo>
                    <a:close/>
                    <a:moveTo>
                      <a:pt x="247537" y="105"/>
                    </a:moveTo>
                    <a:cubicBezTo>
                      <a:pt x="259304" y="586"/>
                      <a:pt x="270603" y="2739"/>
                      <a:pt x="281123" y="6934"/>
                    </a:cubicBezTo>
                    <a:cubicBezTo>
                      <a:pt x="348878" y="34064"/>
                      <a:pt x="377406" y="216835"/>
                      <a:pt x="380972" y="237540"/>
                    </a:cubicBezTo>
                    <a:cubicBezTo>
                      <a:pt x="385965" y="271809"/>
                      <a:pt x="388104" y="301795"/>
                      <a:pt x="387391" y="326783"/>
                    </a:cubicBezTo>
                    <a:cubicBezTo>
                      <a:pt x="387391" y="357483"/>
                      <a:pt x="381686" y="375332"/>
                      <a:pt x="371701" y="383899"/>
                    </a:cubicBezTo>
                    <a:cubicBezTo>
                      <a:pt x="344599" y="407460"/>
                      <a:pt x="295387" y="430306"/>
                      <a:pt x="247603" y="416741"/>
                    </a:cubicBezTo>
                    <a:cubicBezTo>
                      <a:pt x="233338" y="413171"/>
                      <a:pt x="226206" y="415313"/>
                      <a:pt x="224780" y="416027"/>
                    </a:cubicBezTo>
                    <a:cubicBezTo>
                      <a:pt x="221927" y="419597"/>
                      <a:pt x="222640" y="427450"/>
                      <a:pt x="226206" y="436018"/>
                    </a:cubicBezTo>
                    <a:cubicBezTo>
                      <a:pt x="230486" y="447441"/>
                      <a:pt x="272565" y="545252"/>
                      <a:pt x="349591" y="659484"/>
                    </a:cubicBezTo>
                    <a:cubicBezTo>
                      <a:pt x="350304" y="660912"/>
                      <a:pt x="350304" y="660912"/>
                      <a:pt x="350304" y="660912"/>
                    </a:cubicBezTo>
                    <a:cubicBezTo>
                      <a:pt x="422338" y="778714"/>
                      <a:pt x="494372" y="857962"/>
                      <a:pt x="502931" y="866530"/>
                    </a:cubicBezTo>
                    <a:cubicBezTo>
                      <a:pt x="509350" y="873669"/>
                      <a:pt x="516482" y="877239"/>
                      <a:pt x="520048" y="875811"/>
                    </a:cubicBezTo>
                    <a:cubicBezTo>
                      <a:pt x="522187" y="875811"/>
                      <a:pt x="526466" y="870099"/>
                      <a:pt x="529319" y="855106"/>
                    </a:cubicBezTo>
                    <a:cubicBezTo>
                      <a:pt x="537165" y="805844"/>
                      <a:pt x="577817" y="770860"/>
                      <a:pt x="610625" y="755867"/>
                    </a:cubicBezTo>
                    <a:cubicBezTo>
                      <a:pt x="622749" y="750156"/>
                      <a:pt x="641293" y="752298"/>
                      <a:pt x="669108" y="765149"/>
                    </a:cubicBezTo>
                    <a:cubicBezTo>
                      <a:pt x="691930" y="774430"/>
                      <a:pt x="718319" y="788709"/>
                      <a:pt x="747561" y="807986"/>
                    </a:cubicBezTo>
                    <a:cubicBezTo>
                      <a:pt x="764678" y="819409"/>
                      <a:pt x="918730" y="921504"/>
                      <a:pt x="915164" y="995041"/>
                    </a:cubicBezTo>
                    <a:cubicBezTo>
                      <a:pt x="910885" y="1084284"/>
                      <a:pt x="766817" y="1166389"/>
                      <a:pt x="721885" y="1172100"/>
                    </a:cubicBezTo>
                    <a:cubicBezTo>
                      <a:pt x="721172" y="1171386"/>
                      <a:pt x="721172" y="1171386"/>
                      <a:pt x="720459" y="1172100"/>
                    </a:cubicBezTo>
                    <a:cubicBezTo>
                      <a:pt x="718319" y="1172100"/>
                      <a:pt x="687651" y="1173528"/>
                      <a:pt x="637014" y="1162819"/>
                    </a:cubicBezTo>
                    <a:cubicBezTo>
                      <a:pt x="607772" y="1156393"/>
                      <a:pt x="573538" y="1146398"/>
                      <a:pt x="534312" y="1129263"/>
                    </a:cubicBezTo>
                    <a:cubicBezTo>
                      <a:pt x="436602" y="1087140"/>
                      <a:pt x="291108" y="993613"/>
                      <a:pt x="157025" y="784425"/>
                    </a:cubicBezTo>
                    <a:cubicBezTo>
                      <a:pt x="23656" y="575238"/>
                      <a:pt x="-2020" y="404604"/>
                      <a:pt x="120" y="297511"/>
                    </a:cubicBezTo>
                    <a:cubicBezTo>
                      <a:pt x="2973" y="180424"/>
                      <a:pt x="37207" y="113312"/>
                      <a:pt x="38633" y="110457"/>
                    </a:cubicBezTo>
                    <a:cubicBezTo>
                      <a:pt x="39346" y="109743"/>
                      <a:pt x="39346" y="109743"/>
                      <a:pt x="39346" y="109029"/>
                    </a:cubicBezTo>
                    <a:cubicBezTo>
                      <a:pt x="59940" y="75295"/>
                      <a:pt x="165171" y="-3262"/>
                      <a:pt x="247537" y="105"/>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91" name="Freeform 14">
                <a:extLst>
                  <a:ext uri="{FF2B5EF4-FFF2-40B4-BE49-F238E27FC236}">
                    <a16:creationId xmlns:a16="http://schemas.microsoft.com/office/drawing/2014/main" id="{446D7FCA-1829-F05C-E374-8BDBF1DE996D}"/>
                  </a:ext>
                </a:extLst>
              </p:cNvPr>
              <p:cNvSpPr>
                <a:spLocks/>
              </p:cNvSpPr>
              <p:nvPr/>
            </p:nvSpPr>
            <p:spPr bwMode="auto">
              <a:xfrm>
                <a:off x="5691885" y="2903173"/>
                <a:ext cx="789878" cy="1048114"/>
              </a:xfrm>
              <a:custGeom>
                <a:avLst/>
                <a:gdLst>
                  <a:gd name="connsiteX0" fmla="*/ 565829 w 789878"/>
                  <a:gd name="connsiteY0" fmla="*/ 754426 h 1048114"/>
                  <a:gd name="connsiteX1" fmla="*/ 665010 w 789878"/>
                  <a:gd name="connsiteY1" fmla="*/ 807099 h 1048114"/>
                  <a:gd name="connsiteX2" fmla="*/ 782743 w 789878"/>
                  <a:gd name="connsiteY2" fmla="*/ 913869 h 1048114"/>
                  <a:gd name="connsiteX3" fmla="*/ 789878 w 789878"/>
                  <a:gd name="connsiteY3" fmla="*/ 928105 h 1048114"/>
                  <a:gd name="connsiteX4" fmla="*/ 739931 w 789878"/>
                  <a:gd name="connsiteY4" fmla="*/ 995726 h 1048114"/>
                  <a:gd name="connsiteX5" fmla="*/ 521590 w 789878"/>
                  <a:gd name="connsiteY5" fmla="*/ 825606 h 1048114"/>
                  <a:gd name="connsiteX6" fmla="*/ 528012 w 789878"/>
                  <a:gd name="connsiteY6" fmla="*/ 802828 h 1048114"/>
                  <a:gd name="connsiteX7" fmla="*/ 565829 w 789878"/>
                  <a:gd name="connsiteY7" fmla="*/ 754426 h 1048114"/>
                  <a:gd name="connsiteX8" fmla="*/ 561278 w 789878"/>
                  <a:gd name="connsiteY8" fmla="*/ 722676 h 1048114"/>
                  <a:gd name="connsiteX9" fmla="*/ 562866 w 789878"/>
                  <a:gd name="connsiteY9" fmla="*/ 722676 h 1048114"/>
                  <a:gd name="connsiteX10" fmla="*/ 562866 w 789878"/>
                  <a:gd name="connsiteY10" fmla="*/ 724264 h 1048114"/>
                  <a:gd name="connsiteX11" fmla="*/ 561278 w 789878"/>
                  <a:gd name="connsiteY11" fmla="*/ 724264 h 1048114"/>
                  <a:gd name="connsiteX12" fmla="*/ 76926 w 789878"/>
                  <a:gd name="connsiteY12" fmla="*/ 40051 h 1048114"/>
                  <a:gd name="connsiteX13" fmla="*/ 138882 w 789878"/>
                  <a:gd name="connsiteY13" fmla="*/ 295456 h 1048114"/>
                  <a:gd name="connsiteX14" fmla="*/ 114669 w 789878"/>
                  <a:gd name="connsiteY14" fmla="*/ 313291 h 1048114"/>
                  <a:gd name="connsiteX15" fmla="*/ 105411 w 789878"/>
                  <a:gd name="connsiteY15" fmla="*/ 398902 h 1048114"/>
                  <a:gd name="connsiteX16" fmla="*/ 216504 w 789878"/>
                  <a:gd name="connsiteY16" fmla="*/ 605794 h 1048114"/>
                  <a:gd name="connsiteX17" fmla="*/ 233596 w 789878"/>
                  <a:gd name="connsiteY17" fmla="*/ 632903 h 1048114"/>
                  <a:gd name="connsiteX18" fmla="*/ 250687 w 789878"/>
                  <a:gd name="connsiteY18" fmla="*/ 659300 h 1048114"/>
                  <a:gd name="connsiteX19" fmla="*/ 393114 w 789878"/>
                  <a:gd name="connsiteY19" fmla="*/ 846930 h 1048114"/>
                  <a:gd name="connsiteX20" fmla="*/ 474297 w 789878"/>
                  <a:gd name="connsiteY20" fmla="*/ 874040 h 1048114"/>
                  <a:gd name="connsiteX21" fmla="*/ 499934 w 789878"/>
                  <a:gd name="connsiteY21" fmla="*/ 859058 h 1048114"/>
                  <a:gd name="connsiteX22" fmla="*/ 705741 w 789878"/>
                  <a:gd name="connsiteY22" fmla="*/ 1021718 h 1048114"/>
                  <a:gd name="connsiteX23" fmla="*/ 652331 w 789878"/>
                  <a:gd name="connsiteY23" fmla="*/ 1048114 h 1048114"/>
                  <a:gd name="connsiteX24" fmla="*/ 491389 w 789878"/>
                  <a:gd name="connsiteY24" fmla="*/ 1008163 h 1048114"/>
                  <a:gd name="connsiteX25" fmla="*/ 146715 w 789878"/>
                  <a:gd name="connsiteY25" fmla="*/ 688550 h 1048114"/>
                  <a:gd name="connsiteX26" fmla="*/ 15 w 789878"/>
                  <a:gd name="connsiteY26" fmla="*/ 253364 h 1048114"/>
                  <a:gd name="connsiteX27" fmla="*/ 30637 w 789878"/>
                  <a:gd name="connsiteY27" fmla="*/ 78576 h 1048114"/>
                  <a:gd name="connsiteX28" fmla="*/ 76926 w 789878"/>
                  <a:gd name="connsiteY28" fmla="*/ 40051 h 1048114"/>
                  <a:gd name="connsiteX29" fmla="*/ 159322 w 789878"/>
                  <a:gd name="connsiteY29" fmla="*/ 2216 h 1048114"/>
                  <a:gd name="connsiteX30" fmla="*/ 193824 w 789878"/>
                  <a:gd name="connsiteY30" fmla="*/ 2752 h 1048114"/>
                  <a:gd name="connsiteX31" fmla="*/ 203784 w 789878"/>
                  <a:gd name="connsiteY31" fmla="*/ 14909 h 1048114"/>
                  <a:gd name="connsiteX32" fmla="*/ 252869 w 789878"/>
                  <a:gd name="connsiteY32" fmla="*/ 167231 h 1048114"/>
                  <a:gd name="connsiteX33" fmla="*/ 260694 w 789878"/>
                  <a:gd name="connsiteY33" fmla="*/ 278076 h 1048114"/>
                  <a:gd name="connsiteX34" fmla="*/ 200227 w 789878"/>
                  <a:gd name="connsiteY34" fmla="*/ 293093 h 1048114"/>
                  <a:gd name="connsiteX35" fmla="*/ 176751 w 789878"/>
                  <a:gd name="connsiteY35" fmla="*/ 289518 h 1048114"/>
                  <a:gd name="connsiteX36" fmla="*/ 112015 w 789878"/>
                  <a:gd name="connsiteY36" fmla="*/ 19915 h 1048114"/>
                  <a:gd name="connsiteX37" fmla="*/ 159322 w 789878"/>
                  <a:gd name="connsiteY37" fmla="*/ 2216 h 1048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89878" h="1048114">
                    <a:moveTo>
                      <a:pt x="565829" y="754426"/>
                    </a:moveTo>
                    <a:cubicBezTo>
                      <a:pt x="579386" y="757985"/>
                      <a:pt x="612209" y="772933"/>
                      <a:pt x="665010" y="807099"/>
                    </a:cubicBezTo>
                    <a:cubicBezTo>
                      <a:pt x="719239" y="844825"/>
                      <a:pt x="763478" y="884685"/>
                      <a:pt x="782743" y="913869"/>
                    </a:cubicBezTo>
                    <a:cubicBezTo>
                      <a:pt x="788451" y="923123"/>
                      <a:pt x="789878" y="927393"/>
                      <a:pt x="789878" y="928105"/>
                    </a:cubicBezTo>
                    <a:cubicBezTo>
                      <a:pt x="789165" y="950171"/>
                      <a:pt x="767045" y="974372"/>
                      <a:pt x="739931" y="995726"/>
                    </a:cubicBezTo>
                    <a:cubicBezTo>
                      <a:pt x="739931" y="995726"/>
                      <a:pt x="739931" y="995726"/>
                      <a:pt x="521590" y="825606"/>
                    </a:cubicBezTo>
                    <a:cubicBezTo>
                      <a:pt x="524444" y="819200"/>
                      <a:pt x="525871" y="811370"/>
                      <a:pt x="528012" y="802828"/>
                    </a:cubicBezTo>
                    <a:cubicBezTo>
                      <a:pt x="530866" y="781475"/>
                      <a:pt x="549418" y="764391"/>
                      <a:pt x="565829" y="754426"/>
                    </a:cubicBezTo>
                    <a:close/>
                    <a:moveTo>
                      <a:pt x="561278" y="722676"/>
                    </a:moveTo>
                    <a:lnTo>
                      <a:pt x="562866" y="722676"/>
                    </a:lnTo>
                    <a:lnTo>
                      <a:pt x="562866" y="724264"/>
                    </a:lnTo>
                    <a:lnTo>
                      <a:pt x="561278" y="724264"/>
                    </a:lnTo>
                    <a:close/>
                    <a:moveTo>
                      <a:pt x="76926" y="40051"/>
                    </a:moveTo>
                    <a:cubicBezTo>
                      <a:pt x="76926" y="40051"/>
                      <a:pt x="76926" y="40051"/>
                      <a:pt x="138882" y="295456"/>
                    </a:cubicBezTo>
                    <a:cubicBezTo>
                      <a:pt x="126775" y="300450"/>
                      <a:pt x="119654" y="307584"/>
                      <a:pt x="114669" y="313291"/>
                    </a:cubicBezTo>
                    <a:cubicBezTo>
                      <a:pt x="95441" y="334694"/>
                      <a:pt x="91881" y="366798"/>
                      <a:pt x="105411" y="398902"/>
                    </a:cubicBezTo>
                    <a:cubicBezTo>
                      <a:pt x="112533" y="414597"/>
                      <a:pt x="148852" y="500207"/>
                      <a:pt x="216504" y="605794"/>
                    </a:cubicBezTo>
                    <a:cubicBezTo>
                      <a:pt x="222202" y="615068"/>
                      <a:pt x="228611" y="623629"/>
                      <a:pt x="233596" y="632903"/>
                    </a:cubicBezTo>
                    <a:cubicBezTo>
                      <a:pt x="240005" y="641465"/>
                      <a:pt x="244990" y="650739"/>
                      <a:pt x="250687" y="659300"/>
                    </a:cubicBezTo>
                    <a:cubicBezTo>
                      <a:pt x="319052" y="764886"/>
                      <a:pt x="381008" y="834088"/>
                      <a:pt x="393114" y="846930"/>
                    </a:cubicBezTo>
                    <a:cubicBezTo>
                      <a:pt x="416614" y="872613"/>
                      <a:pt x="447236" y="882601"/>
                      <a:pt x="474297" y="874040"/>
                    </a:cubicBezTo>
                    <a:cubicBezTo>
                      <a:pt x="481419" y="871899"/>
                      <a:pt x="490676" y="868332"/>
                      <a:pt x="499934" y="859058"/>
                    </a:cubicBezTo>
                    <a:cubicBezTo>
                      <a:pt x="499934" y="859058"/>
                      <a:pt x="499934" y="859058"/>
                      <a:pt x="705741" y="1021718"/>
                    </a:cubicBezTo>
                    <a:cubicBezTo>
                      <a:pt x="683665" y="1035986"/>
                      <a:pt x="663013" y="1045974"/>
                      <a:pt x="652331" y="1048114"/>
                    </a:cubicBezTo>
                    <a:cubicBezTo>
                      <a:pt x="640225" y="1048114"/>
                      <a:pt x="577557" y="1045974"/>
                      <a:pt x="491389" y="1008163"/>
                    </a:cubicBezTo>
                    <a:cubicBezTo>
                      <a:pt x="402372" y="969638"/>
                      <a:pt x="270627" y="882601"/>
                      <a:pt x="146715" y="688550"/>
                    </a:cubicBezTo>
                    <a:cubicBezTo>
                      <a:pt x="50577" y="538732"/>
                      <a:pt x="728" y="391767"/>
                      <a:pt x="15" y="253364"/>
                    </a:cubicBezTo>
                    <a:cubicBezTo>
                      <a:pt x="-697" y="150631"/>
                      <a:pt x="25652" y="89277"/>
                      <a:pt x="30637" y="78576"/>
                    </a:cubicBezTo>
                    <a:cubicBezTo>
                      <a:pt x="36334" y="70728"/>
                      <a:pt x="53426" y="55033"/>
                      <a:pt x="76926" y="40051"/>
                    </a:cubicBezTo>
                    <a:close/>
                    <a:moveTo>
                      <a:pt x="159322" y="2216"/>
                    </a:moveTo>
                    <a:cubicBezTo>
                      <a:pt x="173372" y="-823"/>
                      <a:pt x="185288" y="-823"/>
                      <a:pt x="193824" y="2752"/>
                    </a:cubicBezTo>
                    <a:cubicBezTo>
                      <a:pt x="194536" y="2752"/>
                      <a:pt x="198092" y="6328"/>
                      <a:pt x="203784" y="14909"/>
                    </a:cubicBezTo>
                    <a:cubicBezTo>
                      <a:pt x="222991" y="44945"/>
                      <a:pt x="242198" y="101440"/>
                      <a:pt x="252869" y="167231"/>
                    </a:cubicBezTo>
                    <a:cubicBezTo>
                      <a:pt x="262828" y="228017"/>
                      <a:pt x="262828" y="264488"/>
                      <a:pt x="260694" y="278076"/>
                    </a:cubicBezTo>
                    <a:cubicBezTo>
                      <a:pt x="245044" y="289518"/>
                      <a:pt x="220857" y="298814"/>
                      <a:pt x="200227" y="293093"/>
                    </a:cubicBezTo>
                    <a:cubicBezTo>
                      <a:pt x="191690" y="290948"/>
                      <a:pt x="183865" y="289518"/>
                      <a:pt x="176751" y="289518"/>
                    </a:cubicBezTo>
                    <a:cubicBezTo>
                      <a:pt x="112015" y="19915"/>
                      <a:pt x="112015" y="19915"/>
                      <a:pt x="112015" y="19915"/>
                    </a:cubicBezTo>
                    <a:cubicBezTo>
                      <a:pt x="129089" y="11334"/>
                      <a:pt x="145273" y="5255"/>
                      <a:pt x="159322" y="2216"/>
                    </a:cubicBezTo>
                    <a:close/>
                  </a:path>
                </a:pathLst>
              </a:custGeom>
              <a:solidFill>
                <a:schemeClr val="tx2"/>
              </a:solidFill>
              <a:ln>
                <a:noFill/>
              </a:ln>
            </p:spPr>
            <p:txBody>
              <a:bodyPr vert="horz" wrap="square" lIns="91440" tIns="45720" rIns="91440" bIns="45720" numCol="1" anchor="t" anchorCtr="0" compatLnSpc="1">
                <a:prstTxWarp prst="textNoShape">
                  <a:avLst/>
                </a:prstTxWarp>
                <a:noAutofit/>
              </a:bodyPr>
              <a:lstStyle/>
              <a:p>
                <a:endParaRPr lang="en-US"/>
              </a:p>
            </p:txBody>
          </p:sp>
        </p:grpSp>
      </p:grpSp>
      <p:grpSp>
        <p:nvGrpSpPr>
          <p:cNvPr id="92" name="bcgIcons_Bank ">
            <a:extLst>
              <a:ext uri="{FF2B5EF4-FFF2-40B4-BE49-F238E27FC236}">
                <a16:creationId xmlns:a16="http://schemas.microsoft.com/office/drawing/2014/main" id="{A0801BEE-BA3B-C2C4-A94C-F0E9B35D721A}"/>
              </a:ext>
            </a:extLst>
          </p:cNvPr>
          <p:cNvGrpSpPr>
            <a:grpSpLocks noChangeAspect="1"/>
          </p:cNvGrpSpPr>
          <p:nvPr/>
        </p:nvGrpSpPr>
        <p:grpSpPr>
          <a:xfrm>
            <a:off x="6911639" y="2346738"/>
            <a:ext cx="320826" cy="321124"/>
            <a:chOff x="5273799" y="2606040"/>
            <a:chExt cx="1644396" cy="1645920"/>
          </a:xfrm>
        </p:grpSpPr>
        <p:sp>
          <p:nvSpPr>
            <p:cNvPr id="93" name="AutoShape 3">
              <a:extLst>
                <a:ext uri="{FF2B5EF4-FFF2-40B4-BE49-F238E27FC236}">
                  <a16:creationId xmlns:a16="http://schemas.microsoft.com/office/drawing/2014/main" id="{5F3F0C6F-9322-FC3B-1778-D3F58D0D1190}"/>
                </a:ext>
              </a:extLst>
            </p:cNvPr>
            <p:cNvSpPr>
              <a:spLocks noChangeAspect="1" noChangeArrowheads="1" noTextEdit="1"/>
            </p:cNvSpPr>
            <p:nvPr/>
          </p:nvSpPr>
          <p:spPr bwMode="auto">
            <a:xfrm>
              <a:off x="5273799" y="2606040"/>
              <a:ext cx="1644396" cy="1645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94" name="Group 93">
              <a:extLst>
                <a:ext uri="{FF2B5EF4-FFF2-40B4-BE49-F238E27FC236}">
                  <a16:creationId xmlns:a16="http://schemas.microsoft.com/office/drawing/2014/main" id="{8B67D0FE-4869-CF7B-5C80-49653BAA4A79}"/>
                </a:ext>
              </a:extLst>
            </p:cNvPr>
            <p:cNvGrpSpPr/>
            <p:nvPr/>
          </p:nvGrpSpPr>
          <p:grpSpPr>
            <a:xfrm>
              <a:off x="5442201" y="2765298"/>
              <a:ext cx="1306068" cy="1315974"/>
              <a:chOff x="5442201" y="2765298"/>
              <a:chExt cx="1306068" cy="1315974"/>
            </a:xfrm>
          </p:grpSpPr>
          <p:sp>
            <p:nvSpPr>
              <p:cNvPr id="95" name="Freeform 5">
                <a:extLst>
                  <a:ext uri="{FF2B5EF4-FFF2-40B4-BE49-F238E27FC236}">
                    <a16:creationId xmlns:a16="http://schemas.microsoft.com/office/drawing/2014/main" id="{3B38117C-3DE4-4B13-953A-1DD8EE82C217}"/>
                  </a:ext>
                </a:extLst>
              </p:cNvPr>
              <p:cNvSpPr>
                <a:spLocks noEditPoints="1"/>
              </p:cNvSpPr>
              <p:nvPr/>
            </p:nvSpPr>
            <p:spPr bwMode="auto">
              <a:xfrm>
                <a:off x="5442201" y="2765298"/>
                <a:ext cx="1306068" cy="1315974"/>
              </a:xfrm>
              <a:custGeom>
                <a:avLst/>
                <a:gdLst>
                  <a:gd name="T0" fmla="*/ 1807 w 1830"/>
                  <a:gd name="T1" fmla="*/ 1666 h 1842"/>
                  <a:gd name="T2" fmla="*/ 1708 w 1830"/>
                  <a:gd name="T3" fmla="*/ 1666 h 1842"/>
                  <a:gd name="T4" fmla="*/ 1708 w 1830"/>
                  <a:gd name="T5" fmla="*/ 1616 h 1842"/>
                  <a:gd name="T6" fmla="*/ 1686 w 1830"/>
                  <a:gd name="T7" fmla="*/ 1594 h 1842"/>
                  <a:gd name="T8" fmla="*/ 144 w 1830"/>
                  <a:gd name="T9" fmla="*/ 1594 h 1842"/>
                  <a:gd name="T10" fmla="*/ 122 w 1830"/>
                  <a:gd name="T11" fmla="*/ 1616 h 1842"/>
                  <a:gd name="T12" fmla="*/ 122 w 1830"/>
                  <a:gd name="T13" fmla="*/ 1666 h 1842"/>
                  <a:gd name="T14" fmla="*/ 23 w 1830"/>
                  <a:gd name="T15" fmla="*/ 1666 h 1842"/>
                  <a:gd name="T16" fmla="*/ 1 w 1830"/>
                  <a:gd name="T17" fmla="*/ 1688 h 1842"/>
                  <a:gd name="T18" fmla="*/ 1 w 1830"/>
                  <a:gd name="T19" fmla="*/ 1820 h 1842"/>
                  <a:gd name="T20" fmla="*/ 23 w 1830"/>
                  <a:gd name="T21" fmla="*/ 1842 h 1842"/>
                  <a:gd name="T22" fmla="*/ 1807 w 1830"/>
                  <a:gd name="T23" fmla="*/ 1842 h 1842"/>
                  <a:gd name="T24" fmla="*/ 1829 w 1830"/>
                  <a:gd name="T25" fmla="*/ 1820 h 1842"/>
                  <a:gd name="T26" fmla="*/ 1829 w 1830"/>
                  <a:gd name="T27" fmla="*/ 1688 h 1842"/>
                  <a:gd name="T28" fmla="*/ 1807 w 1830"/>
                  <a:gd name="T29" fmla="*/ 1666 h 1842"/>
                  <a:gd name="T30" fmla="*/ 1818 w 1830"/>
                  <a:gd name="T31" fmla="*/ 441 h 1842"/>
                  <a:gd name="T32" fmla="*/ 925 w 1830"/>
                  <a:gd name="T33" fmla="*/ 3 h 1842"/>
                  <a:gd name="T34" fmla="*/ 905 w 1830"/>
                  <a:gd name="T35" fmla="*/ 3 h 1842"/>
                  <a:gd name="T36" fmla="*/ 12 w 1830"/>
                  <a:gd name="T37" fmla="*/ 441 h 1842"/>
                  <a:gd name="T38" fmla="*/ 0 w 1830"/>
                  <a:gd name="T39" fmla="*/ 461 h 1842"/>
                  <a:gd name="T40" fmla="*/ 0 w 1830"/>
                  <a:gd name="T41" fmla="*/ 533 h 1842"/>
                  <a:gd name="T42" fmla="*/ 22 w 1830"/>
                  <a:gd name="T43" fmla="*/ 555 h 1842"/>
                  <a:gd name="T44" fmla="*/ 169 w 1830"/>
                  <a:gd name="T45" fmla="*/ 555 h 1842"/>
                  <a:gd name="T46" fmla="*/ 169 w 1830"/>
                  <a:gd name="T47" fmla="*/ 641 h 1842"/>
                  <a:gd name="T48" fmla="*/ 191 w 1830"/>
                  <a:gd name="T49" fmla="*/ 663 h 1842"/>
                  <a:gd name="T50" fmla="*/ 1639 w 1830"/>
                  <a:gd name="T51" fmla="*/ 663 h 1842"/>
                  <a:gd name="T52" fmla="*/ 1661 w 1830"/>
                  <a:gd name="T53" fmla="*/ 641 h 1842"/>
                  <a:gd name="T54" fmla="*/ 1661 w 1830"/>
                  <a:gd name="T55" fmla="*/ 555 h 1842"/>
                  <a:gd name="T56" fmla="*/ 1808 w 1830"/>
                  <a:gd name="T57" fmla="*/ 555 h 1842"/>
                  <a:gd name="T58" fmla="*/ 1830 w 1830"/>
                  <a:gd name="T59" fmla="*/ 533 h 1842"/>
                  <a:gd name="T60" fmla="*/ 1830 w 1830"/>
                  <a:gd name="T61" fmla="*/ 461 h 1842"/>
                  <a:gd name="T62" fmla="*/ 1818 w 1830"/>
                  <a:gd name="T63" fmla="*/ 441 h 1842"/>
                  <a:gd name="T64" fmla="*/ 1617 w 1830"/>
                  <a:gd name="T65" fmla="*/ 619 h 1842"/>
                  <a:gd name="T66" fmla="*/ 213 w 1830"/>
                  <a:gd name="T67" fmla="*/ 619 h 1842"/>
                  <a:gd name="T68" fmla="*/ 213 w 1830"/>
                  <a:gd name="T69" fmla="*/ 555 h 1842"/>
                  <a:gd name="T70" fmla="*/ 1617 w 1830"/>
                  <a:gd name="T71" fmla="*/ 555 h 1842"/>
                  <a:gd name="T72" fmla="*/ 1617 w 1830"/>
                  <a:gd name="T73" fmla="*/ 619 h 1842"/>
                  <a:gd name="T74" fmla="*/ 1786 w 1830"/>
                  <a:gd name="T75" fmla="*/ 511 h 1842"/>
                  <a:gd name="T76" fmla="*/ 1661 w 1830"/>
                  <a:gd name="T77" fmla="*/ 511 h 1842"/>
                  <a:gd name="T78" fmla="*/ 1617 w 1830"/>
                  <a:gd name="T79" fmla="*/ 511 h 1842"/>
                  <a:gd name="T80" fmla="*/ 213 w 1830"/>
                  <a:gd name="T81" fmla="*/ 511 h 1842"/>
                  <a:gd name="T82" fmla="*/ 169 w 1830"/>
                  <a:gd name="T83" fmla="*/ 511 h 1842"/>
                  <a:gd name="T84" fmla="*/ 44 w 1830"/>
                  <a:gd name="T85" fmla="*/ 511 h 1842"/>
                  <a:gd name="T86" fmla="*/ 44 w 1830"/>
                  <a:gd name="T87" fmla="*/ 474 h 1842"/>
                  <a:gd name="T88" fmla="*/ 915 w 1830"/>
                  <a:gd name="T89" fmla="*/ 47 h 1842"/>
                  <a:gd name="T90" fmla="*/ 1786 w 1830"/>
                  <a:gd name="T91" fmla="*/ 474 h 1842"/>
                  <a:gd name="T92" fmla="*/ 1786 w 1830"/>
                  <a:gd name="T93" fmla="*/ 511 h 1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830" h="1842">
                    <a:moveTo>
                      <a:pt x="1807" y="1666"/>
                    </a:moveTo>
                    <a:cubicBezTo>
                      <a:pt x="1708" y="1666"/>
                      <a:pt x="1708" y="1666"/>
                      <a:pt x="1708" y="1666"/>
                    </a:cubicBezTo>
                    <a:cubicBezTo>
                      <a:pt x="1708" y="1616"/>
                      <a:pt x="1708" y="1616"/>
                      <a:pt x="1708" y="1616"/>
                    </a:cubicBezTo>
                    <a:cubicBezTo>
                      <a:pt x="1708" y="1603"/>
                      <a:pt x="1699" y="1594"/>
                      <a:pt x="1686" y="1594"/>
                    </a:cubicBezTo>
                    <a:cubicBezTo>
                      <a:pt x="144" y="1594"/>
                      <a:pt x="144" y="1594"/>
                      <a:pt x="144" y="1594"/>
                    </a:cubicBezTo>
                    <a:cubicBezTo>
                      <a:pt x="131" y="1594"/>
                      <a:pt x="122" y="1603"/>
                      <a:pt x="122" y="1616"/>
                    </a:cubicBezTo>
                    <a:cubicBezTo>
                      <a:pt x="122" y="1666"/>
                      <a:pt x="122" y="1666"/>
                      <a:pt x="122" y="1666"/>
                    </a:cubicBezTo>
                    <a:cubicBezTo>
                      <a:pt x="23" y="1666"/>
                      <a:pt x="23" y="1666"/>
                      <a:pt x="23" y="1666"/>
                    </a:cubicBezTo>
                    <a:cubicBezTo>
                      <a:pt x="11" y="1666"/>
                      <a:pt x="1" y="1675"/>
                      <a:pt x="1" y="1688"/>
                    </a:cubicBezTo>
                    <a:cubicBezTo>
                      <a:pt x="1" y="1820"/>
                      <a:pt x="1" y="1820"/>
                      <a:pt x="1" y="1820"/>
                    </a:cubicBezTo>
                    <a:cubicBezTo>
                      <a:pt x="1" y="1832"/>
                      <a:pt x="11" y="1842"/>
                      <a:pt x="23" y="1842"/>
                    </a:cubicBezTo>
                    <a:cubicBezTo>
                      <a:pt x="1807" y="1842"/>
                      <a:pt x="1807" y="1842"/>
                      <a:pt x="1807" y="1842"/>
                    </a:cubicBezTo>
                    <a:cubicBezTo>
                      <a:pt x="1819" y="1842"/>
                      <a:pt x="1829" y="1832"/>
                      <a:pt x="1829" y="1820"/>
                    </a:cubicBezTo>
                    <a:cubicBezTo>
                      <a:pt x="1829" y="1688"/>
                      <a:pt x="1829" y="1688"/>
                      <a:pt x="1829" y="1688"/>
                    </a:cubicBezTo>
                    <a:cubicBezTo>
                      <a:pt x="1829" y="1675"/>
                      <a:pt x="1819" y="1666"/>
                      <a:pt x="1807" y="1666"/>
                    </a:cubicBezTo>
                    <a:close/>
                    <a:moveTo>
                      <a:pt x="1818" y="441"/>
                    </a:moveTo>
                    <a:cubicBezTo>
                      <a:pt x="925" y="3"/>
                      <a:pt x="925" y="3"/>
                      <a:pt x="925" y="3"/>
                    </a:cubicBezTo>
                    <a:cubicBezTo>
                      <a:pt x="919" y="0"/>
                      <a:pt x="911" y="0"/>
                      <a:pt x="905" y="3"/>
                    </a:cubicBezTo>
                    <a:cubicBezTo>
                      <a:pt x="12" y="441"/>
                      <a:pt x="12" y="441"/>
                      <a:pt x="12" y="441"/>
                    </a:cubicBezTo>
                    <a:cubicBezTo>
                      <a:pt x="5" y="445"/>
                      <a:pt x="0" y="452"/>
                      <a:pt x="0" y="461"/>
                    </a:cubicBezTo>
                    <a:cubicBezTo>
                      <a:pt x="0" y="533"/>
                      <a:pt x="0" y="533"/>
                      <a:pt x="0" y="533"/>
                    </a:cubicBezTo>
                    <a:cubicBezTo>
                      <a:pt x="0" y="545"/>
                      <a:pt x="10" y="555"/>
                      <a:pt x="22" y="555"/>
                    </a:cubicBezTo>
                    <a:cubicBezTo>
                      <a:pt x="169" y="555"/>
                      <a:pt x="169" y="555"/>
                      <a:pt x="169" y="555"/>
                    </a:cubicBezTo>
                    <a:cubicBezTo>
                      <a:pt x="169" y="641"/>
                      <a:pt x="169" y="641"/>
                      <a:pt x="169" y="641"/>
                    </a:cubicBezTo>
                    <a:cubicBezTo>
                      <a:pt x="169" y="654"/>
                      <a:pt x="179" y="663"/>
                      <a:pt x="191" y="663"/>
                    </a:cubicBezTo>
                    <a:cubicBezTo>
                      <a:pt x="1639" y="663"/>
                      <a:pt x="1639" y="663"/>
                      <a:pt x="1639" y="663"/>
                    </a:cubicBezTo>
                    <a:cubicBezTo>
                      <a:pt x="1651" y="663"/>
                      <a:pt x="1661" y="654"/>
                      <a:pt x="1661" y="641"/>
                    </a:cubicBezTo>
                    <a:cubicBezTo>
                      <a:pt x="1661" y="555"/>
                      <a:pt x="1661" y="555"/>
                      <a:pt x="1661" y="555"/>
                    </a:cubicBezTo>
                    <a:cubicBezTo>
                      <a:pt x="1808" y="555"/>
                      <a:pt x="1808" y="555"/>
                      <a:pt x="1808" y="555"/>
                    </a:cubicBezTo>
                    <a:cubicBezTo>
                      <a:pt x="1820" y="555"/>
                      <a:pt x="1830" y="545"/>
                      <a:pt x="1830" y="533"/>
                    </a:cubicBezTo>
                    <a:cubicBezTo>
                      <a:pt x="1830" y="461"/>
                      <a:pt x="1830" y="461"/>
                      <a:pt x="1830" y="461"/>
                    </a:cubicBezTo>
                    <a:cubicBezTo>
                      <a:pt x="1830" y="452"/>
                      <a:pt x="1825" y="445"/>
                      <a:pt x="1818" y="441"/>
                    </a:cubicBezTo>
                    <a:close/>
                    <a:moveTo>
                      <a:pt x="1617" y="619"/>
                    </a:moveTo>
                    <a:cubicBezTo>
                      <a:pt x="213" y="619"/>
                      <a:pt x="213" y="619"/>
                      <a:pt x="213" y="619"/>
                    </a:cubicBezTo>
                    <a:cubicBezTo>
                      <a:pt x="213" y="555"/>
                      <a:pt x="213" y="555"/>
                      <a:pt x="213" y="555"/>
                    </a:cubicBezTo>
                    <a:cubicBezTo>
                      <a:pt x="1617" y="555"/>
                      <a:pt x="1617" y="555"/>
                      <a:pt x="1617" y="555"/>
                    </a:cubicBezTo>
                    <a:lnTo>
                      <a:pt x="1617" y="619"/>
                    </a:lnTo>
                    <a:close/>
                    <a:moveTo>
                      <a:pt x="1786" y="511"/>
                    </a:moveTo>
                    <a:cubicBezTo>
                      <a:pt x="1661" y="511"/>
                      <a:pt x="1661" y="511"/>
                      <a:pt x="1661" y="511"/>
                    </a:cubicBezTo>
                    <a:cubicBezTo>
                      <a:pt x="1617" y="511"/>
                      <a:pt x="1617" y="511"/>
                      <a:pt x="1617" y="511"/>
                    </a:cubicBezTo>
                    <a:cubicBezTo>
                      <a:pt x="213" y="511"/>
                      <a:pt x="213" y="511"/>
                      <a:pt x="213" y="511"/>
                    </a:cubicBezTo>
                    <a:cubicBezTo>
                      <a:pt x="169" y="511"/>
                      <a:pt x="169" y="511"/>
                      <a:pt x="169" y="511"/>
                    </a:cubicBezTo>
                    <a:cubicBezTo>
                      <a:pt x="44" y="511"/>
                      <a:pt x="44" y="511"/>
                      <a:pt x="44" y="511"/>
                    </a:cubicBezTo>
                    <a:cubicBezTo>
                      <a:pt x="44" y="474"/>
                      <a:pt x="44" y="474"/>
                      <a:pt x="44" y="474"/>
                    </a:cubicBezTo>
                    <a:cubicBezTo>
                      <a:pt x="915" y="47"/>
                      <a:pt x="915" y="47"/>
                      <a:pt x="915" y="47"/>
                    </a:cubicBezTo>
                    <a:cubicBezTo>
                      <a:pt x="1786" y="474"/>
                      <a:pt x="1786" y="474"/>
                      <a:pt x="1786" y="474"/>
                    </a:cubicBezTo>
                    <a:lnTo>
                      <a:pt x="1786" y="51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6">
                <a:extLst>
                  <a:ext uri="{FF2B5EF4-FFF2-40B4-BE49-F238E27FC236}">
                    <a16:creationId xmlns:a16="http://schemas.microsoft.com/office/drawing/2014/main" id="{81049B2E-1004-A0F2-79F1-1BFC4A67629C}"/>
                  </a:ext>
                </a:extLst>
              </p:cNvPr>
              <p:cNvSpPr>
                <a:spLocks noEditPoints="1"/>
              </p:cNvSpPr>
              <p:nvPr/>
            </p:nvSpPr>
            <p:spPr bwMode="auto">
              <a:xfrm>
                <a:off x="5613651" y="2902458"/>
                <a:ext cx="963549" cy="958596"/>
              </a:xfrm>
              <a:custGeom>
                <a:avLst/>
                <a:gdLst>
                  <a:gd name="T0" fmla="*/ 783 w 1350"/>
                  <a:gd name="T1" fmla="*/ 108 h 1342"/>
                  <a:gd name="T2" fmla="*/ 675 w 1350"/>
                  <a:gd name="T3" fmla="*/ 216 h 1342"/>
                  <a:gd name="T4" fmla="*/ 567 w 1350"/>
                  <a:gd name="T5" fmla="*/ 108 h 1342"/>
                  <a:gd name="T6" fmla="*/ 675 w 1350"/>
                  <a:gd name="T7" fmla="*/ 0 h 1342"/>
                  <a:gd name="T8" fmla="*/ 783 w 1350"/>
                  <a:gd name="T9" fmla="*/ 108 h 1342"/>
                  <a:gd name="T10" fmla="*/ 174 w 1350"/>
                  <a:gd name="T11" fmla="*/ 540 h 1342"/>
                  <a:gd name="T12" fmla="*/ 164 w 1350"/>
                  <a:gd name="T13" fmla="*/ 531 h 1342"/>
                  <a:gd name="T14" fmla="*/ 35 w 1350"/>
                  <a:gd name="T15" fmla="*/ 531 h 1342"/>
                  <a:gd name="T16" fmla="*/ 25 w 1350"/>
                  <a:gd name="T17" fmla="*/ 540 h 1342"/>
                  <a:gd name="T18" fmla="*/ 0 w 1350"/>
                  <a:gd name="T19" fmla="*/ 1332 h 1342"/>
                  <a:gd name="T20" fmla="*/ 10 w 1350"/>
                  <a:gd name="T21" fmla="*/ 1342 h 1342"/>
                  <a:gd name="T22" fmla="*/ 188 w 1350"/>
                  <a:gd name="T23" fmla="*/ 1342 h 1342"/>
                  <a:gd name="T24" fmla="*/ 198 w 1350"/>
                  <a:gd name="T25" fmla="*/ 1332 h 1342"/>
                  <a:gd name="T26" fmla="*/ 174 w 1350"/>
                  <a:gd name="T27" fmla="*/ 540 h 1342"/>
                  <a:gd name="T28" fmla="*/ 557 w 1350"/>
                  <a:gd name="T29" fmla="*/ 540 h 1342"/>
                  <a:gd name="T30" fmla="*/ 548 w 1350"/>
                  <a:gd name="T31" fmla="*/ 531 h 1342"/>
                  <a:gd name="T32" fmla="*/ 418 w 1350"/>
                  <a:gd name="T33" fmla="*/ 531 h 1342"/>
                  <a:gd name="T34" fmla="*/ 409 w 1350"/>
                  <a:gd name="T35" fmla="*/ 540 h 1342"/>
                  <a:gd name="T36" fmla="*/ 384 w 1350"/>
                  <a:gd name="T37" fmla="*/ 1332 h 1342"/>
                  <a:gd name="T38" fmla="*/ 394 w 1350"/>
                  <a:gd name="T39" fmla="*/ 1342 h 1342"/>
                  <a:gd name="T40" fmla="*/ 572 w 1350"/>
                  <a:gd name="T41" fmla="*/ 1342 h 1342"/>
                  <a:gd name="T42" fmla="*/ 582 w 1350"/>
                  <a:gd name="T43" fmla="*/ 1332 h 1342"/>
                  <a:gd name="T44" fmla="*/ 557 w 1350"/>
                  <a:gd name="T45" fmla="*/ 540 h 1342"/>
                  <a:gd name="T46" fmla="*/ 941 w 1350"/>
                  <a:gd name="T47" fmla="*/ 540 h 1342"/>
                  <a:gd name="T48" fmla="*/ 932 w 1350"/>
                  <a:gd name="T49" fmla="*/ 531 h 1342"/>
                  <a:gd name="T50" fmla="*/ 802 w 1350"/>
                  <a:gd name="T51" fmla="*/ 531 h 1342"/>
                  <a:gd name="T52" fmla="*/ 793 w 1350"/>
                  <a:gd name="T53" fmla="*/ 540 h 1342"/>
                  <a:gd name="T54" fmla="*/ 768 w 1350"/>
                  <a:gd name="T55" fmla="*/ 1332 h 1342"/>
                  <a:gd name="T56" fmla="*/ 778 w 1350"/>
                  <a:gd name="T57" fmla="*/ 1342 h 1342"/>
                  <a:gd name="T58" fmla="*/ 956 w 1350"/>
                  <a:gd name="T59" fmla="*/ 1342 h 1342"/>
                  <a:gd name="T60" fmla="*/ 966 w 1350"/>
                  <a:gd name="T61" fmla="*/ 1332 h 1342"/>
                  <a:gd name="T62" fmla="*/ 941 w 1350"/>
                  <a:gd name="T63" fmla="*/ 540 h 1342"/>
                  <a:gd name="T64" fmla="*/ 1325 w 1350"/>
                  <a:gd name="T65" fmla="*/ 540 h 1342"/>
                  <a:gd name="T66" fmla="*/ 1315 w 1350"/>
                  <a:gd name="T67" fmla="*/ 531 h 1342"/>
                  <a:gd name="T68" fmla="*/ 1186 w 1350"/>
                  <a:gd name="T69" fmla="*/ 531 h 1342"/>
                  <a:gd name="T70" fmla="*/ 1176 w 1350"/>
                  <a:gd name="T71" fmla="*/ 540 h 1342"/>
                  <a:gd name="T72" fmla="*/ 1152 w 1350"/>
                  <a:gd name="T73" fmla="*/ 1332 h 1342"/>
                  <a:gd name="T74" fmla="*/ 1162 w 1350"/>
                  <a:gd name="T75" fmla="*/ 1342 h 1342"/>
                  <a:gd name="T76" fmla="*/ 1340 w 1350"/>
                  <a:gd name="T77" fmla="*/ 1342 h 1342"/>
                  <a:gd name="T78" fmla="*/ 1350 w 1350"/>
                  <a:gd name="T79" fmla="*/ 1332 h 1342"/>
                  <a:gd name="T80" fmla="*/ 1325 w 1350"/>
                  <a:gd name="T81" fmla="*/ 540 h 1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50" h="1342">
                    <a:moveTo>
                      <a:pt x="783" y="108"/>
                    </a:moveTo>
                    <a:cubicBezTo>
                      <a:pt x="783" y="167"/>
                      <a:pt x="735" y="216"/>
                      <a:pt x="675" y="216"/>
                    </a:cubicBezTo>
                    <a:cubicBezTo>
                      <a:pt x="615" y="216"/>
                      <a:pt x="567" y="167"/>
                      <a:pt x="567" y="108"/>
                    </a:cubicBezTo>
                    <a:cubicBezTo>
                      <a:pt x="567" y="48"/>
                      <a:pt x="615" y="0"/>
                      <a:pt x="675" y="0"/>
                    </a:cubicBezTo>
                    <a:cubicBezTo>
                      <a:pt x="735" y="0"/>
                      <a:pt x="783" y="48"/>
                      <a:pt x="783" y="108"/>
                    </a:cubicBezTo>
                    <a:close/>
                    <a:moveTo>
                      <a:pt x="174" y="540"/>
                    </a:moveTo>
                    <a:cubicBezTo>
                      <a:pt x="174" y="535"/>
                      <a:pt x="169" y="531"/>
                      <a:pt x="164" y="531"/>
                    </a:cubicBezTo>
                    <a:cubicBezTo>
                      <a:pt x="35" y="531"/>
                      <a:pt x="35" y="531"/>
                      <a:pt x="35" y="531"/>
                    </a:cubicBezTo>
                    <a:cubicBezTo>
                      <a:pt x="29" y="531"/>
                      <a:pt x="25" y="535"/>
                      <a:pt x="25" y="540"/>
                    </a:cubicBezTo>
                    <a:cubicBezTo>
                      <a:pt x="0" y="1332"/>
                      <a:pt x="0" y="1332"/>
                      <a:pt x="0" y="1332"/>
                    </a:cubicBezTo>
                    <a:cubicBezTo>
                      <a:pt x="0" y="1337"/>
                      <a:pt x="5" y="1342"/>
                      <a:pt x="10" y="1342"/>
                    </a:cubicBezTo>
                    <a:cubicBezTo>
                      <a:pt x="188" y="1342"/>
                      <a:pt x="188" y="1342"/>
                      <a:pt x="188" y="1342"/>
                    </a:cubicBezTo>
                    <a:cubicBezTo>
                      <a:pt x="194" y="1342"/>
                      <a:pt x="198" y="1337"/>
                      <a:pt x="198" y="1332"/>
                    </a:cubicBezTo>
                    <a:lnTo>
                      <a:pt x="174" y="540"/>
                    </a:lnTo>
                    <a:close/>
                    <a:moveTo>
                      <a:pt x="557" y="540"/>
                    </a:moveTo>
                    <a:cubicBezTo>
                      <a:pt x="557" y="535"/>
                      <a:pt x="553" y="531"/>
                      <a:pt x="548" y="531"/>
                    </a:cubicBezTo>
                    <a:cubicBezTo>
                      <a:pt x="418" y="531"/>
                      <a:pt x="418" y="531"/>
                      <a:pt x="418" y="531"/>
                    </a:cubicBezTo>
                    <a:cubicBezTo>
                      <a:pt x="413" y="531"/>
                      <a:pt x="409" y="535"/>
                      <a:pt x="409" y="540"/>
                    </a:cubicBezTo>
                    <a:cubicBezTo>
                      <a:pt x="384" y="1332"/>
                      <a:pt x="384" y="1332"/>
                      <a:pt x="384" y="1332"/>
                    </a:cubicBezTo>
                    <a:cubicBezTo>
                      <a:pt x="384" y="1337"/>
                      <a:pt x="389" y="1342"/>
                      <a:pt x="394" y="1342"/>
                    </a:cubicBezTo>
                    <a:cubicBezTo>
                      <a:pt x="572" y="1342"/>
                      <a:pt x="572" y="1342"/>
                      <a:pt x="572" y="1342"/>
                    </a:cubicBezTo>
                    <a:cubicBezTo>
                      <a:pt x="578" y="1342"/>
                      <a:pt x="582" y="1337"/>
                      <a:pt x="582" y="1332"/>
                    </a:cubicBezTo>
                    <a:lnTo>
                      <a:pt x="557" y="540"/>
                    </a:lnTo>
                    <a:close/>
                    <a:moveTo>
                      <a:pt x="941" y="540"/>
                    </a:moveTo>
                    <a:cubicBezTo>
                      <a:pt x="941" y="535"/>
                      <a:pt x="937" y="531"/>
                      <a:pt x="932" y="531"/>
                    </a:cubicBezTo>
                    <a:cubicBezTo>
                      <a:pt x="802" y="531"/>
                      <a:pt x="802" y="531"/>
                      <a:pt x="802" y="531"/>
                    </a:cubicBezTo>
                    <a:cubicBezTo>
                      <a:pt x="797" y="531"/>
                      <a:pt x="793" y="535"/>
                      <a:pt x="793" y="540"/>
                    </a:cubicBezTo>
                    <a:cubicBezTo>
                      <a:pt x="768" y="1332"/>
                      <a:pt x="768" y="1332"/>
                      <a:pt x="768" y="1332"/>
                    </a:cubicBezTo>
                    <a:cubicBezTo>
                      <a:pt x="768" y="1337"/>
                      <a:pt x="772" y="1342"/>
                      <a:pt x="778" y="1342"/>
                    </a:cubicBezTo>
                    <a:cubicBezTo>
                      <a:pt x="956" y="1342"/>
                      <a:pt x="956" y="1342"/>
                      <a:pt x="956" y="1342"/>
                    </a:cubicBezTo>
                    <a:cubicBezTo>
                      <a:pt x="961" y="1342"/>
                      <a:pt x="966" y="1337"/>
                      <a:pt x="966" y="1332"/>
                    </a:cubicBezTo>
                    <a:lnTo>
                      <a:pt x="941" y="540"/>
                    </a:lnTo>
                    <a:close/>
                    <a:moveTo>
                      <a:pt x="1325" y="540"/>
                    </a:moveTo>
                    <a:cubicBezTo>
                      <a:pt x="1325" y="535"/>
                      <a:pt x="1321" y="531"/>
                      <a:pt x="1315" y="531"/>
                    </a:cubicBezTo>
                    <a:cubicBezTo>
                      <a:pt x="1186" y="531"/>
                      <a:pt x="1186" y="531"/>
                      <a:pt x="1186" y="531"/>
                    </a:cubicBezTo>
                    <a:cubicBezTo>
                      <a:pt x="1181" y="531"/>
                      <a:pt x="1176" y="535"/>
                      <a:pt x="1176" y="540"/>
                    </a:cubicBezTo>
                    <a:cubicBezTo>
                      <a:pt x="1152" y="1332"/>
                      <a:pt x="1152" y="1332"/>
                      <a:pt x="1152" y="1332"/>
                    </a:cubicBezTo>
                    <a:cubicBezTo>
                      <a:pt x="1152" y="1337"/>
                      <a:pt x="1156" y="1342"/>
                      <a:pt x="1162" y="1342"/>
                    </a:cubicBezTo>
                    <a:cubicBezTo>
                      <a:pt x="1340" y="1342"/>
                      <a:pt x="1340" y="1342"/>
                      <a:pt x="1340" y="1342"/>
                    </a:cubicBezTo>
                    <a:cubicBezTo>
                      <a:pt x="1345" y="1342"/>
                      <a:pt x="1350" y="1337"/>
                      <a:pt x="1350" y="1332"/>
                    </a:cubicBezTo>
                    <a:lnTo>
                      <a:pt x="1325" y="54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97" name="bcgIcons_Call center Male ">
            <a:extLst>
              <a:ext uri="{FF2B5EF4-FFF2-40B4-BE49-F238E27FC236}">
                <a16:creationId xmlns:a16="http://schemas.microsoft.com/office/drawing/2014/main" id="{2DA477EA-D960-4071-0365-5FAE7008FDD3}"/>
              </a:ext>
            </a:extLst>
          </p:cNvPr>
          <p:cNvGrpSpPr>
            <a:grpSpLocks noChangeAspect="1"/>
          </p:cNvGrpSpPr>
          <p:nvPr/>
        </p:nvGrpSpPr>
        <p:grpSpPr>
          <a:xfrm>
            <a:off x="5580434" y="2330052"/>
            <a:ext cx="357661" cy="357661"/>
            <a:chOff x="5273675" y="2611438"/>
            <a:chExt cx="1646238" cy="1646237"/>
          </a:xfrm>
        </p:grpSpPr>
        <p:sp>
          <p:nvSpPr>
            <p:cNvPr id="98" name="AutoShape 3">
              <a:extLst>
                <a:ext uri="{FF2B5EF4-FFF2-40B4-BE49-F238E27FC236}">
                  <a16:creationId xmlns:a16="http://schemas.microsoft.com/office/drawing/2014/main" id="{A4341C84-013D-5CF0-C1CB-566CBA1C83B7}"/>
                </a:ext>
              </a:extLst>
            </p:cNvPr>
            <p:cNvSpPr>
              <a:spLocks noChangeAspect="1" noChangeArrowheads="1" noTextEdit="1"/>
            </p:cNvSpPr>
            <p:nvPr/>
          </p:nvSpPr>
          <p:spPr bwMode="auto">
            <a:xfrm>
              <a:off x="5273675" y="2611438"/>
              <a:ext cx="1646238" cy="1646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99" name="Group 98">
              <a:extLst>
                <a:ext uri="{FF2B5EF4-FFF2-40B4-BE49-F238E27FC236}">
                  <a16:creationId xmlns:a16="http://schemas.microsoft.com/office/drawing/2014/main" id="{B5B30871-8B1F-D862-514C-13241267C2B5}"/>
                </a:ext>
              </a:extLst>
            </p:cNvPr>
            <p:cNvGrpSpPr/>
            <p:nvPr/>
          </p:nvGrpSpPr>
          <p:grpSpPr>
            <a:xfrm>
              <a:off x="5452534" y="2741613"/>
              <a:ext cx="1285344" cy="1266823"/>
              <a:chOff x="5452534" y="2741613"/>
              <a:chExt cx="1285344" cy="1266823"/>
            </a:xfrm>
          </p:grpSpPr>
          <p:sp>
            <p:nvSpPr>
              <p:cNvPr id="100" name="Freeform 12">
                <a:extLst>
                  <a:ext uri="{FF2B5EF4-FFF2-40B4-BE49-F238E27FC236}">
                    <a16:creationId xmlns:a16="http://schemas.microsoft.com/office/drawing/2014/main" id="{56BF84C7-894D-3F15-745E-3EF72F581D54}"/>
                  </a:ext>
                </a:extLst>
              </p:cNvPr>
              <p:cNvSpPr>
                <a:spLocks/>
              </p:cNvSpPr>
              <p:nvPr/>
            </p:nvSpPr>
            <p:spPr bwMode="auto">
              <a:xfrm>
                <a:off x="5452534" y="2809874"/>
                <a:ext cx="1285344" cy="1198562"/>
              </a:xfrm>
              <a:custGeom>
                <a:avLst/>
                <a:gdLst>
                  <a:gd name="connsiteX0" fmla="*/ 434470 w 1285344"/>
                  <a:gd name="connsiteY0" fmla="*/ 904875 h 1198562"/>
                  <a:gd name="connsiteX1" fmla="*/ 638744 w 1285344"/>
                  <a:gd name="connsiteY1" fmla="*/ 1071369 h 1198562"/>
                  <a:gd name="connsiteX2" fmla="*/ 647315 w 1285344"/>
                  <a:gd name="connsiteY2" fmla="*/ 1071369 h 1198562"/>
                  <a:gd name="connsiteX3" fmla="*/ 851588 w 1285344"/>
                  <a:gd name="connsiteY3" fmla="*/ 904875 h 1198562"/>
                  <a:gd name="connsiteX4" fmla="*/ 1128715 w 1285344"/>
                  <a:gd name="connsiteY4" fmla="*/ 951322 h 1198562"/>
                  <a:gd name="connsiteX5" fmla="*/ 1284420 w 1285344"/>
                  <a:gd name="connsiteY5" fmla="*/ 1177125 h 1198562"/>
                  <a:gd name="connsiteX6" fmla="*/ 1269421 w 1285344"/>
                  <a:gd name="connsiteY6" fmla="*/ 1198562 h 1198562"/>
                  <a:gd name="connsiteX7" fmla="*/ 15923 w 1285344"/>
                  <a:gd name="connsiteY7" fmla="*/ 1198562 h 1198562"/>
                  <a:gd name="connsiteX8" fmla="*/ 924 w 1285344"/>
                  <a:gd name="connsiteY8" fmla="*/ 1177125 h 1198562"/>
                  <a:gd name="connsiteX9" fmla="*/ 157343 w 1285344"/>
                  <a:gd name="connsiteY9" fmla="*/ 951322 h 1198562"/>
                  <a:gd name="connsiteX10" fmla="*/ 434470 w 1285344"/>
                  <a:gd name="connsiteY10" fmla="*/ 904875 h 1198562"/>
                  <a:gd name="connsiteX11" fmla="*/ 643466 w 1285344"/>
                  <a:gd name="connsiteY11" fmla="*/ 0 h 1198562"/>
                  <a:gd name="connsiteX12" fmla="*/ 980888 w 1285344"/>
                  <a:gd name="connsiteY12" fmla="*/ 345149 h 1198562"/>
                  <a:gd name="connsiteX13" fmla="*/ 968735 w 1285344"/>
                  <a:gd name="connsiteY13" fmla="*/ 462343 h 1198562"/>
                  <a:gd name="connsiteX14" fmla="*/ 968735 w 1285344"/>
                  <a:gd name="connsiteY14" fmla="*/ 461628 h 1198562"/>
                  <a:gd name="connsiteX15" fmla="*/ 930132 w 1285344"/>
                  <a:gd name="connsiteY15" fmla="*/ 515937 h 1198562"/>
                  <a:gd name="connsiteX16" fmla="*/ 905826 w 1285344"/>
                  <a:gd name="connsiteY16" fmla="*/ 515937 h 1198562"/>
                  <a:gd name="connsiteX17" fmla="*/ 902252 w 1285344"/>
                  <a:gd name="connsiteY17" fmla="*/ 261542 h 1198562"/>
                  <a:gd name="connsiteX18" fmla="*/ 458312 w 1285344"/>
                  <a:gd name="connsiteY18" fmla="*/ 277263 h 1198562"/>
                  <a:gd name="connsiteX19" fmla="*/ 375386 w 1285344"/>
                  <a:gd name="connsiteY19" fmla="*/ 511650 h 1198562"/>
                  <a:gd name="connsiteX20" fmla="*/ 353225 w 1285344"/>
                  <a:gd name="connsiteY20" fmla="*/ 509506 h 1198562"/>
                  <a:gd name="connsiteX21" fmla="*/ 319626 w 1285344"/>
                  <a:gd name="connsiteY21" fmla="*/ 466630 h 1198562"/>
                  <a:gd name="connsiteX22" fmla="*/ 319626 w 1285344"/>
                  <a:gd name="connsiteY22" fmla="*/ 465916 h 1198562"/>
                  <a:gd name="connsiteX23" fmla="*/ 306043 w 1285344"/>
                  <a:gd name="connsiteY23" fmla="*/ 345149 h 1198562"/>
                  <a:gd name="connsiteX24" fmla="*/ 643466 w 1285344"/>
                  <a:gd name="connsiteY24" fmla="*/ 0 h 119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85344" h="1198562">
                    <a:moveTo>
                      <a:pt x="434470" y="904875"/>
                    </a:moveTo>
                    <a:cubicBezTo>
                      <a:pt x="434470" y="904875"/>
                      <a:pt x="573033" y="1019206"/>
                      <a:pt x="638744" y="1071369"/>
                    </a:cubicBezTo>
                    <a:cubicBezTo>
                      <a:pt x="641601" y="1073513"/>
                      <a:pt x="645172" y="1073513"/>
                      <a:pt x="647315" y="1071369"/>
                    </a:cubicBezTo>
                    <a:cubicBezTo>
                      <a:pt x="736595" y="999913"/>
                      <a:pt x="851588" y="904875"/>
                      <a:pt x="851588" y="904875"/>
                    </a:cubicBezTo>
                    <a:cubicBezTo>
                      <a:pt x="851588" y="904875"/>
                      <a:pt x="1031578" y="907019"/>
                      <a:pt x="1128715" y="951322"/>
                    </a:cubicBezTo>
                    <a:cubicBezTo>
                      <a:pt x="1207282" y="987050"/>
                      <a:pt x="1264421" y="1124962"/>
                      <a:pt x="1284420" y="1177125"/>
                    </a:cubicBezTo>
                    <a:cubicBezTo>
                      <a:pt x="1287991" y="1187844"/>
                      <a:pt x="1280849" y="1198562"/>
                      <a:pt x="1269421" y="1198562"/>
                    </a:cubicBezTo>
                    <a:cubicBezTo>
                      <a:pt x="1269421" y="1198562"/>
                      <a:pt x="1269421" y="1198562"/>
                      <a:pt x="15923" y="1198562"/>
                    </a:cubicBezTo>
                    <a:cubicBezTo>
                      <a:pt x="4495" y="1198562"/>
                      <a:pt x="-2647" y="1187844"/>
                      <a:pt x="924" y="1177125"/>
                    </a:cubicBezTo>
                    <a:cubicBezTo>
                      <a:pt x="20923" y="1124962"/>
                      <a:pt x="78777" y="987050"/>
                      <a:pt x="157343" y="951322"/>
                    </a:cubicBezTo>
                    <a:cubicBezTo>
                      <a:pt x="254480" y="907019"/>
                      <a:pt x="434470" y="904875"/>
                      <a:pt x="434470" y="904875"/>
                    </a:cubicBezTo>
                    <a:close/>
                    <a:moveTo>
                      <a:pt x="643466" y="0"/>
                    </a:moveTo>
                    <a:cubicBezTo>
                      <a:pt x="834338" y="0"/>
                      <a:pt x="980888" y="154352"/>
                      <a:pt x="980888" y="345149"/>
                    </a:cubicBezTo>
                    <a:cubicBezTo>
                      <a:pt x="980888" y="386596"/>
                      <a:pt x="981603" y="425898"/>
                      <a:pt x="968735" y="462343"/>
                    </a:cubicBezTo>
                    <a:cubicBezTo>
                      <a:pt x="968735" y="462343"/>
                      <a:pt x="968735" y="462343"/>
                      <a:pt x="968735" y="461628"/>
                    </a:cubicBezTo>
                    <a:cubicBezTo>
                      <a:pt x="967306" y="462343"/>
                      <a:pt x="962302" y="480207"/>
                      <a:pt x="930132" y="515937"/>
                    </a:cubicBezTo>
                    <a:cubicBezTo>
                      <a:pt x="930132" y="515937"/>
                      <a:pt x="930132" y="515937"/>
                      <a:pt x="905826" y="515937"/>
                    </a:cubicBezTo>
                    <a:cubicBezTo>
                      <a:pt x="905826" y="515937"/>
                      <a:pt x="905826" y="503074"/>
                      <a:pt x="902252" y="261542"/>
                    </a:cubicBezTo>
                    <a:cubicBezTo>
                      <a:pt x="864363" y="455197"/>
                      <a:pt x="458312" y="277263"/>
                      <a:pt x="458312" y="277263"/>
                    </a:cubicBezTo>
                    <a:cubicBezTo>
                      <a:pt x="357514" y="307990"/>
                      <a:pt x="375386" y="511650"/>
                      <a:pt x="375386" y="511650"/>
                    </a:cubicBezTo>
                    <a:cubicBezTo>
                      <a:pt x="375386" y="511650"/>
                      <a:pt x="375386" y="511650"/>
                      <a:pt x="353225" y="509506"/>
                    </a:cubicBezTo>
                    <a:cubicBezTo>
                      <a:pt x="353225" y="509506"/>
                      <a:pt x="353225" y="496643"/>
                      <a:pt x="319626" y="466630"/>
                    </a:cubicBezTo>
                    <a:cubicBezTo>
                      <a:pt x="319626" y="466630"/>
                      <a:pt x="319626" y="465916"/>
                      <a:pt x="319626" y="465916"/>
                    </a:cubicBezTo>
                    <a:cubicBezTo>
                      <a:pt x="305328" y="428757"/>
                      <a:pt x="306043" y="388025"/>
                      <a:pt x="306043" y="345149"/>
                    </a:cubicBezTo>
                    <a:cubicBezTo>
                      <a:pt x="306043" y="154352"/>
                      <a:pt x="452593" y="0"/>
                      <a:pt x="643466" y="0"/>
                    </a:cubicBezTo>
                    <a:close/>
                  </a:path>
                </a:pathLst>
              </a:custGeom>
              <a:solidFill>
                <a:schemeClr val="tx2"/>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01" name="Freeform 7">
                <a:extLst>
                  <a:ext uri="{FF2B5EF4-FFF2-40B4-BE49-F238E27FC236}">
                    <a16:creationId xmlns:a16="http://schemas.microsoft.com/office/drawing/2014/main" id="{2A86F77A-4476-E7FC-C90D-AE1625B4A3DE}"/>
                  </a:ext>
                </a:extLst>
              </p:cNvPr>
              <p:cNvSpPr>
                <a:spLocks/>
              </p:cNvSpPr>
              <p:nvPr/>
            </p:nvSpPr>
            <p:spPr bwMode="auto">
              <a:xfrm>
                <a:off x="5665788" y="2741613"/>
                <a:ext cx="860425" cy="982662"/>
              </a:xfrm>
              <a:custGeom>
                <a:avLst/>
                <a:gdLst>
                  <a:gd name="T0" fmla="*/ 1181 w 1204"/>
                  <a:gd name="T1" fmla="*/ 478 h 1374"/>
                  <a:gd name="T2" fmla="*/ 1156 w 1204"/>
                  <a:gd name="T3" fmla="*/ 478 h 1374"/>
                  <a:gd name="T4" fmla="*/ 602 w 1204"/>
                  <a:gd name="T5" fmla="*/ 0 h 1374"/>
                  <a:gd name="T6" fmla="*/ 48 w 1204"/>
                  <a:gd name="T7" fmla="*/ 478 h 1374"/>
                  <a:gd name="T8" fmla="*/ 23 w 1204"/>
                  <a:gd name="T9" fmla="*/ 478 h 1374"/>
                  <a:gd name="T10" fmla="*/ 0 w 1204"/>
                  <a:gd name="T11" fmla="*/ 501 h 1374"/>
                  <a:gd name="T12" fmla="*/ 0 w 1204"/>
                  <a:gd name="T13" fmla="*/ 807 h 1374"/>
                  <a:gd name="T14" fmla="*/ 23 w 1204"/>
                  <a:gd name="T15" fmla="*/ 830 h 1374"/>
                  <a:gd name="T16" fmla="*/ 63 w 1204"/>
                  <a:gd name="T17" fmla="*/ 830 h 1374"/>
                  <a:gd name="T18" fmla="*/ 83 w 1204"/>
                  <a:gd name="T19" fmla="*/ 818 h 1374"/>
                  <a:gd name="T20" fmla="*/ 241 w 1204"/>
                  <a:gd name="T21" fmla="*/ 1039 h 1374"/>
                  <a:gd name="T22" fmla="*/ 338 w 1204"/>
                  <a:gd name="T23" fmla="*/ 1228 h 1374"/>
                  <a:gd name="T24" fmla="*/ 338 w 1204"/>
                  <a:gd name="T25" fmla="*/ 1325 h 1374"/>
                  <a:gd name="T26" fmla="*/ 345 w 1204"/>
                  <a:gd name="T27" fmla="*/ 1335 h 1374"/>
                  <a:gd name="T28" fmla="*/ 382 w 1204"/>
                  <a:gd name="T29" fmla="*/ 1374 h 1374"/>
                  <a:gd name="T30" fmla="*/ 382 w 1204"/>
                  <a:gd name="T31" fmla="*/ 1265 h 1374"/>
                  <a:gd name="T32" fmla="*/ 602 w 1204"/>
                  <a:gd name="T33" fmla="*/ 1361 h 1374"/>
                  <a:gd name="T34" fmla="*/ 822 w 1204"/>
                  <a:gd name="T35" fmla="*/ 1265 h 1374"/>
                  <a:gd name="T36" fmla="*/ 822 w 1204"/>
                  <a:gd name="T37" fmla="*/ 1374 h 1374"/>
                  <a:gd name="T38" fmla="*/ 859 w 1204"/>
                  <a:gd name="T39" fmla="*/ 1335 h 1374"/>
                  <a:gd name="T40" fmla="*/ 866 w 1204"/>
                  <a:gd name="T41" fmla="*/ 1325 h 1374"/>
                  <a:gd name="T42" fmla="*/ 866 w 1204"/>
                  <a:gd name="T43" fmla="*/ 1228 h 1374"/>
                  <a:gd name="T44" fmla="*/ 1010 w 1204"/>
                  <a:gd name="T45" fmla="*/ 926 h 1374"/>
                  <a:gd name="T46" fmla="*/ 1079 w 1204"/>
                  <a:gd name="T47" fmla="*/ 816 h 1374"/>
                  <a:gd name="T48" fmla="*/ 1079 w 1204"/>
                  <a:gd name="T49" fmla="*/ 815 h 1374"/>
                  <a:gd name="T50" fmla="*/ 1027 w 1204"/>
                  <a:gd name="T51" fmla="*/ 840 h 1374"/>
                  <a:gd name="T52" fmla="*/ 982 w 1204"/>
                  <a:gd name="T53" fmla="*/ 891 h 1374"/>
                  <a:gd name="T54" fmla="*/ 972 w 1204"/>
                  <a:gd name="T55" fmla="*/ 902 h 1374"/>
                  <a:gd name="T56" fmla="*/ 828 w 1204"/>
                  <a:gd name="T57" fmla="*/ 1204 h 1374"/>
                  <a:gd name="T58" fmla="*/ 602 w 1204"/>
                  <a:gd name="T59" fmla="*/ 1317 h 1374"/>
                  <a:gd name="T60" fmla="*/ 376 w 1204"/>
                  <a:gd name="T61" fmla="*/ 1204 h 1374"/>
                  <a:gd name="T62" fmla="*/ 314 w 1204"/>
                  <a:gd name="T63" fmla="*/ 1093 h 1374"/>
                  <a:gd name="T64" fmla="*/ 509 w 1204"/>
                  <a:gd name="T65" fmla="*/ 1168 h 1374"/>
                  <a:gd name="T66" fmla="*/ 602 w 1204"/>
                  <a:gd name="T67" fmla="*/ 1216 h 1374"/>
                  <a:gd name="T68" fmla="*/ 695 w 1204"/>
                  <a:gd name="T69" fmla="*/ 1168 h 1374"/>
                  <a:gd name="T70" fmla="*/ 700 w 1204"/>
                  <a:gd name="T71" fmla="*/ 1147 h 1374"/>
                  <a:gd name="T72" fmla="*/ 693 w 1204"/>
                  <a:gd name="T73" fmla="*/ 1122 h 1374"/>
                  <a:gd name="T74" fmla="*/ 602 w 1204"/>
                  <a:gd name="T75" fmla="*/ 1078 h 1374"/>
                  <a:gd name="T76" fmla="*/ 511 w 1204"/>
                  <a:gd name="T77" fmla="*/ 1122 h 1374"/>
                  <a:gd name="T78" fmla="*/ 276 w 1204"/>
                  <a:gd name="T79" fmla="*/ 1009 h 1374"/>
                  <a:gd name="T80" fmla="*/ 133 w 1204"/>
                  <a:gd name="T81" fmla="*/ 817 h 1374"/>
                  <a:gd name="T82" fmla="*/ 86 w 1204"/>
                  <a:gd name="T83" fmla="*/ 632 h 1374"/>
                  <a:gd name="T84" fmla="*/ 84 w 1204"/>
                  <a:gd name="T85" fmla="*/ 588 h 1374"/>
                  <a:gd name="T86" fmla="*/ 86 w 1204"/>
                  <a:gd name="T87" fmla="*/ 543 h 1374"/>
                  <a:gd name="T88" fmla="*/ 602 w 1204"/>
                  <a:gd name="T89" fmla="*/ 46 h 1374"/>
                  <a:gd name="T90" fmla="*/ 1118 w 1204"/>
                  <a:gd name="T91" fmla="*/ 543 h 1374"/>
                  <a:gd name="T92" fmla="*/ 1118 w 1204"/>
                  <a:gd name="T93" fmla="*/ 807 h 1374"/>
                  <a:gd name="T94" fmla="*/ 1121 w 1204"/>
                  <a:gd name="T95" fmla="*/ 818 h 1374"/>
                  <a:gd name="T96" fmla="*/ 1141 w 1204"/>
                  <a:gd name="T97" fmla="*/ 830 h 1374"/>
                  <a:gd name="T98" fmla="*/ 1181 w 1204"/>
                  <a:gd name="T99" fmla="*/ 830 h 1374"/>
                  <a:gd name="T100" fmla="*/ 1204 w 1204"/>
                  <a:gd name="T101" fmla="*/ 807 h 1374"/>
                  <a:gd name="T102" fmla="*/ 1204 w 1204"/>
                  <a:gd name="T103" fmla="*/ 501 h 1374"/>
                  <a:gd name="T104" fmla="*/ 1181 w 1204"/>
                  <a:gd name="T105" fmla="*/ 478 h 1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4" h="1374">
                    <a:moveTo>
                      <a:pt x="1181" y="478"/>
                    </a:moveTo>
                    <a:cubicBezTo>
                      <a:pt x="1181" y="478"/>
                      <a:pt x="1181" y="478"/>
                      <a:pt x="1156" y="478"/>
                    </a:cubicBezTo>
                    <a:cubicBezTo>
                      <a:pt x="1106" y="206"/>
                      <a:pt x="877" y="0"/>
                      <a:pt x="602" y="0"/>
                    </a:cubicBezTo>
                    <a:cubicBezTo>
                      <a:pt x="327" y="0"/>
                      <a:pt x="98" y="206"/>
                      <a:pt x="48" y="478"/>
                    </a:cubicBezTo>
                    <a:cubicBezTo>
                      <a:pt x="48" y="478"/>
                      <a:pt x="48" y="478"/>
                      <a:pt x="23" y="478"/>
                    </a:cubicBezTo>
                    <a:cubicBezTo>
                      <a:pt x="11" y="478"/>
                      <a:pt x="0" y="488"/>
                      <a:pt x="0" y="501"/>
                    </a:cubicBezTo>
                    <a:cubicBezTo>
                      <a:pt x="0" y="501"/>
                      <a:pt x="0" y="501"/>
                      <a:pt x="0" y="807"/>
                    </a:cubicBezTo>
                    <a:cubicBezTo>
                      <a:pt x="0" y="819"/>
                      <a:pt x="11" y="830"/>
                      <a:pt x="23" y="830"/>
                    </a:cubicBezTo>
                    <a:cubicBezTo>
                      <a:pt x="23" y="830"/>
                      <a:pt x="23" y="830"/>
                      <a:pt x="63" y="830"/>
                    </a:cubicBezTo>
                    <a:cubicBezTo>
                      <a:pt x="72" y="830"/>
                      <a:pt x="79" y="825"/>
                      <a:pt x="83" y="818"/>
                    </a:cubicBezTo>
                    <a:cubicBezTo>
                      <a:pt x="119" y="904"/>
                      <a:pt x="173" y="980"/>
                      <a:pt x="241" y="1039"/>
                    </a:cubicBezTo>
                    <a:cubicBezTo>
                      <a:pt x="272" y="1112"/>
                      <a:pt x="311" y="1194"/>
                      <a:pt x="338" y="1228"/>
                    </a:cubicBezTo>
                    <a:cubicBezTo>
                      <a:pt x="338" y="1228"/>
                      <a:pt x="338" y="1228"/>
                      <a:pt x="338" y="1325"/>
                    </a:cubicBezTo>
                    <a:cubicBezTo>
                      <a:pt x="338" y="1325"/>
                      <a:pt x="338" y="1325"/>
                      <a:pt x="345" y="1335"/>
                    </a:cubicBezTo>
                    <a:cubicBezTo>
                      <a:pt x="347" y="1337"/>
                      <a:pt x="359" y="1353"/>
                      <a:pt x="382" y="1374"/>
                    </a:cubicBezTo>
                    <a:cubicBezTo>
                      <a:pt x="382" y="1374"/>
                      <a:pt x="382" y="1374"/>
                      <a:pt x="382" y="1265"/>
                    </a:cubicBezTo>
                    <a:cubicBezTo>
                      <a:pt x="441" y="1308"/>
                      <a:pt x="537" y="1361"/>
                      <a:pt x="602" y="1361"/>
                    </a:cubicBezTo>
                    <a:cubicBezTo>
                      <a:pt x="667" y="1361"/>
                      <a:pt x="763" y="1308"/>
                      <a:pt x="822" y="1265"/>
                    </a:cubicBezTo>
                    <a:cubicBezTo>
                      <a:pt x="822" y="1265"/>
                      <a:pt x="822" y="1265"/>
                      <a:pt x="822" y="1374"/>
                    </a:cubicBezTo>
                    <a:cubicBezTo>
                      <a:pt x="845" y="1353"/>
                      <a:pt x="857" y="1337"/>
                      <a:pt x="859" y="1335"/>
                    </a:cubicBezTo>
                    <a:cubicBezTo>
                      <a:pt x="859" y="1335"/>
                      <a:pt x="859" y="1335"/>
                      <a:pt x="866" y="1325"/>
                    </a:cubicBezTo>
                    <a:cubicBezTo>
                      <a:pt x="866" y="1325"/>
                      <a:pt x="866" y="1325"/>
                      <a:pt x="866" y="1228"/>
                    </a:cubicBezTo>
                    <a:cubicBezTo>
                      <a:pt x="911" y="1172"/>
                      <a:pt x="988" y="981"/>
                      <a:pt x="1010" y="926"/>
                    </a:cubicBezTo>
                    <a:cubicBezTo>
                      <a:pt x="1062" y="895"/>
                      <a:pt x="1076" y="839"/>
                      <a:pt x="1079" y="816"/>
                    </a:cubicBezTo>
                    <a:cubicBezTo>
                      <a:pt x="1079" y="816"/>
                      <a:pt x="1079" y="816"/>
                      <a:pt x="1079" y="815"/>
                    </a:cubicBezTo>
                    <a:cubicBezTo>
                      <a:pt x="1027" y="840"/>
                      <a:pt x="1027" y="840"/>
                      <a:pt x="1027" y="840"/>
                    </a:cubicBezTo>
                    <a:cubicBezTo>
                      <a:pt x="1020" y="858"/>
                      <a:pt x="1006" y="879"/>
                      <a:pt x="982" y="891"/>
                    </a:cubicBezTo>
                    <a:cubicBezTo>
                      <a:pt x="977" y="893"/>
                      <a:pt x="973" y="897"/>
                      <a:pt x="972" y="902"/>
                    </a:cubicBezTo>
                    <a:cubicBezTo>
                      <a:pt x="931" y="1005"/>
                      <a:pt x="856" y="1179"/>
                      <a:pt x="828" y="1204"/>
                    </a:cubicBezTo>
                    <a:cubicBezTo>
                      <a:pt x="783" y="1244"/>
                      <a:pt x="667" y="1317"/>
                      <a:pt x="602" y="1317"/>
                    </a:cubicBezTo>
                    <a:cubicBezTo>
                      <a:pt x="537" y="1317"/>
                      <a:pt x="421" y="1244"/>
                      <a:pt x="376" y="1204"/>
                    </a:cubicBezTo>
                    <a:cubicBezTo>
                      <a:pt x="363" y="1192"/>
                      <a:pt x="339" y="1148"/>
                      <a:pt x="314" y="1093"/>
                    </a:cubicBezTo>
                    <a:cubicBezTo>
                      <a:pt x="373" y="1130"/>
                      <a:pt x="439" y="1156"/>
                      <a:pt x="509" y="1168"/>
                    </a:cubicBezTo>
                    <a:cubicBezTo>
                      <a:pt x="521" y="1196"/>
                      <a:pt x="558" y="1216"/>
                      <a:pt x="602" y="1216"/>
                    </a:cubicBezTo>
                    <a:cubicBezTo>
                      <a:pt x="646" y="1216"/>
                      <a:pt x="683" y="1196"/>
                      <a:pt x="695" y="1168"/>
                    </a:cubicBezTo>
                    <a:cubicBezTo>
                      <a:pt x="698" y="1161"/>
                      <a:pt x="700" y="1154"/>
                      <a:pt x="700" y="1147"/>
                    </a:cubicBezTo>
                    <a:cubicBezTo>
                      <a:pt x="700" y="1138"/>
                      <a:pt x="698" y="1130"/>
                      <a:pt x="693" y="1122"/>
                    </a:cubicBezTo>
                    <a:cubicBezTo>
                      <a:pt x="679" y="1096"/>
                      <a:pt x="644" y="1078"/>
                      <a:pt x="602" y="1078"/>
                    </a:cubicBezTo>
                    <a:cubicBezTo>
                      <a:pt x="560" y="1078"/>
                      <a:pt x="525" y="1096"/>
                      <a:pt x="511" y="1122"/>
                    </a:cubicBezTo>
                    <a:cubicBezTo>
                      <a:pt x="423" y="1105"/>
                      <a:pt x="343" y="1066"/>
                      <a:pt x="276" y="1009"/>
                    </a:cubicBezTo>
                    <a:cubicBezTo>
                      <a:pt x="216" y="957"/>
                      <a:pt x="166" y="892"/>
                      <a:pt x="133" y="817"/>
                    </a:cubicBezTo>
                    <a:cubicBezTo>
                      <a:pt x="108" y="760"/>
                      <a:pt x="91" y="698"/>
                      <a:pt x="86" y="632"/>
                    </a:cubicBezTo>
                    <a:cubicBezTo>
                      <a:pt x="85" y="618"/>
                      <a:pt x="84" y="603"/>
                      <a:pt x="84" y="588"/>
                    </a:cubicBezTo>
                    <a:cubicBezTo>
                      <a:pt x="84" y="573"/>
                      <a:pt x="85" y="558"/>
                      <a:pt x="86" y="543"/>
                    </a:cubicBezTo>
                    <a:cubicBezTo>
                      <a:pt x="108" y="265"/>
                      <a:pt x="331" y="46"/>
                      <a:pt x="602" y="46"/>
                    </a:cubicBezTo>
                    <a:cubicBezTo>
                      <a:pt x="873" y="46"/>
                      <a:pt x="1096" y="265"/>
                      <a:pt x="1118" y="543"/>
                    </a:cubicBezTo>
                    <a:cubicBezTo>
                      <a:pt x="1119" y="558"/>
                      <a:pt x="1118" y="807"/>
                      <a:pt x="1118" y="807"/>
                    </a:cubicBezTo>
                    <a:cubicBezTo>
                      <a:pt x="1118" y="811"/>
                      <a:pt x="1119" y="814"/>
                      <a:pt x="1121" y="818"/>
                    </a:cubicBezTo>
                    <a:cubicBezTo>
                      <a:pt x="1125" y="825"/>
                      <a:pt x="1132" y="830"/>
                      <a:pt x="1141" y="830"/>
                    </a:cubicBezTo>
                    <a:cubicBezTo>
                      <a:pt x="1141" y="830"/>
                      <a:pt x="1141" y="830"/>
                      <a:pt x="1181" y="830"/>
                    </a:cubicBezTo>
                    <a:cubicBezTo>
                      <a:pt x="1193" y="830"/>
                      <a:pt x="1204" y="819"/>
                      <a:pt x="1204" y="807"/>
                    </a:cubicBezTo>
                    <a:cubicBezTo>
                      <a:pt x="1204" y="807"/>
                      <a:pt x="1204" y="807"/>
                      <a:pt x="1204" y="501"/>
                    </a:cubicBezTo>
                    <a:cubicBezTo>
                      <a:pt x="1204" y="488"/>
                      <a:pt x="1193" y="478"/>
                      <a:pt x="1181" y="47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102" name="bcgIcons_Speaking ">
            <a:extLst>
              <a:ext uri="{FF2B5EF4-FFF2-40B4-BE49-F238E27FC236}">
                <a16:creationId xmlns:a16="http://schemas.microsoft.com/office/drawing/2014/main" id="{36CFDCFD-6B8C-D511-75B3-6F7A16D9ECF2}"/>
              </a:ext>
            </a:extLst>
          </p:cNvPr>
          <p:cNvGrpSpPr>
            <a:grpSpLocks noChangeAspect="1"/>
          </p:cNvGrpSpPr>
          <p:nvPr/>
        </p:nvGrpSpPr>
        <p:grpSpPr>
          <a:xfrm>
            <a:off x="4888467" y="2329365"/>
            <a:ext cx="395004" cy="395370"/>
            <a:chOff x="5273801" y="2606040"/>
            <a:chExt cx="1644396" cy="1645920"/>
          </a:xfrm>
        </p:grpSpPr>
        <p:sp>
          <p:nvSpPr>
            <p:cNvPr id="103" name="AutoShape 18">
              <a:extLst>
                <a:ext uri="{FF2B5EF4-FFF2-40B4-BE49-F238E27FC236}">
                  <a16:creationId xmlns:a16="http://schemas.microsoft.com/office/drawing/2014/main" id="{084301B3-2089-F0D0-9C05-FD265FC85D1F}"/>
                </a:ext>
              </a:extLst>
            </p:cNvPr>
            <p:cNvSpPr>
              <a:spLocks noChangeAspect="1" noChangeArrowheads="1" noTextEdit="1"/>
            </p:cNvSpPr>
            <p:nvPr/>
          </p:nvSpPr>
          <p:spPr bwMode="auto">
            <a:xfrm>
              <a:off x="5273801" y="2606040"/>
              <a:ext cx="1644396" cy="1645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104" name="Group 103">
              <a:extLst>
                <a:ext uri="{FF2B5EF4-FFF2-40B4-BE49-F238E27FC236}">
                  <a16:creationId xmlns:a16="http://schemas.microsoft.com/office/drawing/2014/main" id="{B3C1A261-7421-8C6E-3520-CE0742E122E2}"/>
                </a:ext>
              </a:extLst>
            </p:cNvPr>
            <p:cNvGrpSpPr/>
            <p:nvPr/>
          </p:nvGrpSpPr>
          <p:grpSpPr>
            <a:xfrm>
              <a:off x="5388863" y="2953131"/>
              <a:ext cx="1409319" cy="967359"/>
              <a:chOff x="5388863" y="2953131"/>
              <a:chExt cx="1409319" cy="967359"/>
            </a:xfrm>
          </p:grpSpPr>
          <p:sp>
            <p:nvSpPr>
              <p:cNvPr id="105" name="Freeform 20">
                <a:extLst>
                  <a:ext uri="{FF2B5EF4-FFF2-40B4-BE49-F238E27FC236}">
                    <a16:creationId xmlns:a16="http://schemas.microsoft.com/office/drawing/2014/main" id="{BDC7CFB7-B231-1B1E-F292-E7B5E3261946}"/>
                  </a:ext>
                </a:extLst>
              </p:cNvPr>
              <p:cNvSpPr>
                <a:spLocks noEditPoints="1"/>
              </p:cNvSpPr>
              <p:nvPr/>
            </p:nvSpPr>
            <p:spPr bwMode="auto">
              <a:xfrm>
                <a:off x="5388863" y="3167634"/>
                <a:ext cx="737235" cy="752856"/>
              </a:xfrm>
              <a:custGeom>
                <a:avLst/>
                <a:gdLst>
                  <a:gd name="T0" fmla="*/ 989 w 1033"/>
                  <a:gd name="T1" fmla="*/ 0 h 1054"/>
                  <a:gd name="T2" fmla="*/ 44 w 1033"/>
                  <a:gd name="T3" fmla="*/ 0 h 1054"/>
                  <a:gd name="T4" fmla="*/ 0 w 1033"/>
                  <a:gd name="T5" fmla="*/ 44 h 1054"/>
                  <a:gd name="T6" fmla="*/ 0 w 1033"/>
                  <a:gd name="T7" fmla="*/ 725 h 1054"/>
                  <a:gd name="T8" fmla="*/ 44 w 1033"/>
                  <a:gd name="T9" fmla="*/ 769 h 1054"/>
                  <a:gd name="T10" fmla="*/ 299 w 1033"/>
                  <a:gd name="T11" fmla="*/ 769 h 1054"/>
                  <a:gd name="T12" fmla="*/ 299 w 1033"/>
                  <a:gd name="T13" fmla="*/ 1010 h 1054"/>
                  <a:gd name="T14" fmla="*/ 300 w 1033"/>
                  <a:gd name="T15" fmla="*/ 1017 h 1054"/>
                  <a:gd name="T16" fmla="*/ 337 w 1033"/>
                  <a:gd name="T17" fmla="*/ 1053 h 1054"/>
                  <a:gd name="T18" fmla="*/ 347 w 1033"/>
                  <a:gd name="T19" fmla="*/ 1054 h 1054"/>
                  <a:gd name="T20" fmla="*/ 401 w 1033"/>
                  <a:gd name="T21" fmla="*/ 1026 h 1054"/>
                  <a:gd name="T22" fmla="*/ 469 w 1033"/>
                  <a:gd name="T23" fmla="*/ 951 h 1054"/>
                  <a:gd name="T24" fmla="*/ 637 w 1033"/>
                  <a:gd name="T25" fmla="*/ 769 h 1054"/>
                  <a:gd name="T26" fmla="*/ 989 w 1033"/>
                  <a:gd name="T27" fmla="*/ 769 h 1054"/>
                  <a:gd name="T28" fmla="*/ 1033 w 1033"/>
                  <a:gd name="T29" fmla="*/ 725 h 1054"/>
                  <a:gd name="T30" fmla="*/ 1033 w 1033"/>
                  <a:gd name="T31" fmla="*/ 44 h 1054"/>
                  <a:gd name="T32" fmla="*/ 989 w 1033"/>
                  <a:gd name="T33" fmla="*/ 0 h 1054"/>
                  <a:gd name="T34" fmla="*/ 832 w 1033"/>
                  <a:gd name="T35" fmla="*/ 552 h 1054"/>
                  <a:gd name="T36" fmla="*/ 201 w 1033"/>
                  <a:gd name="T37" fmla="*/ 552 h 1054"/>
                  <a:gd name="T38" fmla="*/ 179 w 1033"/>
                  <a:gd name="T39" fmla="*/ 530 h 1054"/>
                  <a:gd name="T40" fmla="*/ 201 w 1033"/>
                  <a:gd name="T41" fmla="*/ 508 h 1054"/>
                  <a:gd name="T42" fmla="*/ 832 w 1033"/>
                  <a:gd name="T43" fmla="*/ 508 h 1054"/>
                  <a:gd name="T44" fmla="*/ 854 w 1033"/>
                  <a:gd name="T45" fmla="*/ 530 h 1054"/>
                  <a:gd name="T46" fmla="*/ 832 w 1033"/>
                  <a:gd name="T47" fmla="*/ 552 h 1054"/>
                  <a:gd name="T48" fmla="*/ 832 w 1033"/>
                  <a:gd name="T49" fmla="*/ 415 h 1054"/>
                  <a:gd name="T50" fmla="*/ 201 w 1033"/>
                  <a:gd name="T51" fmla="*/ 415 h 1054"/>
                  <a:gd name="T52" fmla="*/ 179 w 1033"/>
                  <a:gd name="T53" fmla="*/ 393 h 1054"/>
                  <a:gd name="T54" fmla="*/ 201 w 1033"/>
                  <a:gd name="T55" fmla="*/ 371 h 1054"/>
                  <a:gd name="T56" fmla="*/ 832 w 1033"/>
                  <a:gd name="T57" fmla="*/ 371 h 1054"/>
                  <a:gd name="T58" fmla="*/ 854 w 1033"/>
                  <a:gd name="T59" fmla="*/ 393 h 1054"/>
                  <a:gd name="T60" fmla="*/ 832 w 1033"/>
                  <a:gd name="T61" fmla="*/ 415 h 1054"/>
                  <a:gd name="T62" fmla="*/ 832 w 1033"/>
                  <a:gd name="T63" fmla="*/ 279 h 1054"/>
                  <a:gd name="T64" fmla="*/ 201 w 1033"/>
                  <a:gd name="T65" fmla="*/ 279 h 1054"/>
                  <a:gd name="T66" fmla="*/ 179 w 1033"/>
                  <a:gd name="T67" fmla="*/ 257 h 1054"/>
                  <a:gd name="T68" fmla="*/ 201 w 1033"/>
                  <a:gd name="T69" fmla="*/ 235 h 1054"/>
                  <a:gd name="T70" fmla="*/ 832 w 1033"/>
                  <a:gd name="T71" fmla="*/ 235 h 1054"/>
                  <a:gd name="T72" fmla="*/ 854 w 1033"/>
                  <a:gd name="T73" fmla="*/ 257 h 1054"/>
                  <a:gd name="T74" fmla="*/ 832 w 1033"/>
                  <a:gd name="T75" fmla="*/ 279 h 1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33" h="1054">
                    <a:moveTo>
                      <a:pt x="989" y="0"/>
                    </a:moveTo>
                    <a:cubicBezTo>
                      <a:pt x="44" y="0"/>
                      <a:pt x="44" y="0"/>
                      <a:pt x="44" y="0"/>
                    </a:cubicBezTo>
                    <a:cubicBezTo>
                      <a:pt x="20" y="0"/>
                      <a:pt x="0" y="20"/>
                      <a:pt x="0" y="44"/>
                    </a:cubicBezTo>
                    <a:cubicBezTo>
                      <a:pt x="0" y="725"/>
                      <a:pt x="0" y="725"/>
                      <a:pt x="0" y="725"/>
                    </a:cubicBezTo>
                    <a:cubicBezTo>
                      <a:pt x="0" y="750"/>
                      <a:pt x="20" y="769"/>
                      <a:pt x="44" y="769"/>
                    </a:cubicBezTo>
                    <a:cubicBezTo>
                      <a:pt x="299" y="769"/>
                      <a:pt x="299" y="769"/>
                      <a:pt x="299" y="769"/>
                    </a:cubicBezTo>
                    <a:cubicBezTo>
                      <a:pt x="299" y="1010"/>
                      <a:pt x="299" y="1010"/>
                      <a:pt x="299" y="1010"/>
                    </a:cubicBezTo>
                    <a:cubicBezTo>
                      <a:pt x="299" y="1012"/>
                      <a:pt x="299" y="1015"/>
                      <a:pt x="300" y="1017"/>
                    </a:cubicBezTo>
                    <a:cubicBezTo>
                      <a:pt x="301" y="1020"/>
                      <a:pt x="311" y="1047"/>
                      <a:pt x="337" y="1053"/>
                    </a:cubicBezTo>
                    <a:cubicBezTo>
                      <a:pt x="341" y="1054"/>
                      <a:pt x="344" y="1054"/>
                      <a:pt x="347" y="1054"/>
                    </a:cubicBezTo>
                    <a:cubicBezTo>
                      <a:pt x="365" y="1054"/>
                      <a:pt x="383" y="1045"/>
                      <a:pt x="401" y="1026"/>
                    </a:cubicBezTo>
                    <a:cubicBezTo>
                      <a:pt x="414" y="1013"/>
                      <a:pt x="438" y="986"/>
                      <a:pt x="469" y="951"/>
                    </a:cubicBezTo>
                    <a:cubicBezTo>
                      <a:pt x="516" y="899"/>
                      <a:pt x="579" y="829"/>
                      <a:pt x="637" y="769"/>
                    </a:cubicBezTo>
                    <a:cubicBezTo>
                      <a:pt x="989" y="769"/>
                      <a:pt x="989" y="769"/>
                      <a:pt x="989" y="769"/>
                    </a:cubicBezTo>
                    <a:cubicBezTo>
                      <a:pt x="1013" y="769"/>
                      <a:pt x="1033" y="750"/>
                      <a:pt x="1033" y="725"/>
                    </a:cubicBezTo>
                    <a:cubicBezTo>
                      <a:pt x="1033" y="44"/>
                      <a:pt x="1033" y="44"/>
                      <a:pt x="1033" y="44"/>
                    </a:cubicBezTo>
                    <a:cubicBezTo>
                      <a:pt x="1033" y="20"/>
                      <a:pt x="1013" y="0"/>
                      <a:pt x="989" y="0"/>
                    </a:cubicBezTo>
                    <a:close/>
                    <a:moveTo>
                      <a:pt x="832" y="552"/>
                    </a:moveTo>
                    <a:cubicBezTo>
                      <a:pt x="201" y="552"/>
                      <a:pt x="201" y="552"/>
                      <a:pt x="201" y="552"/>
                    </a:cubicBezTo>
                    <a:cubicBezTo>
                      <a:pt x="189" y="552"/>
                      <a:pt x="179" y="543"/>
                      <a:pt x="179" y="530"/>
                    </a:cubicBezTo>
                    <a:cubicBezTo>
                      <a:pt x="179" y="518"/>
                      <a:pt x="189" y="508"/>
                      <a:pt x="201" y="508"/>
                    </a:cubicBezTo>
                    <a:cubicBezTo>
                      <a:pt x="832" y="508"/>
                      <a:pt x="832" y="508"/>
                      <a:pt x="832" y="508"/>
                    </a:cubicBezTo>
                    <a:cubicBezTo>
                      <a:pt x="844" y="508"/>
                      <a:pt x="854" y="518"/>
                      <a:pt x="854" y="530"/>
                    </a:cubicBezTo>
                    <a:cubicBezTo>
                      <a:pt x="854" y="543"/>
                      <a:pt x="844" y="552"/>
                      <a:pt x="832" y="552"/>
                    </a:cubicBezTo>
                    <a:close/>
                    <a:moveTo>
                      <a:pt x="832" y="415"/>
                    </a:moveTo>
                    <a:cubicBezTo>
                      <a:pt x="201" y="415"/>
                      <a:pt x="201" y="415"/>
                      <a:pt x="201" y="415"/>
                    </a:cubicBezTo>
                    <a:cubicBezTo>
                      <a:pt x="189" y="415"/>
                      <a:pt x="179" y="405"/>
                      <a:pt x="179" y="393"/>
                    </a:cubicBezTo>
                    <a:cubicBezTo>
                      <a:pt x="179" y="380"/>
                      <a:pt x="189" y="371"/>
                      <a:pt x="201" y="371"/>
                    </a:cubicBezTo>
                    <a:cubicBezTo>
                      <a:pt x="832" y="371"/>
                      <a:pt x="832" y="371"/>
                      <a:pt x="832" y="371"/>
                    </a:cubicBezTo>
                    <a:cubicBezTo>
                      <a:pt x="844" y="371"/>
                      <a:pt x="854" y="380"/>
                      <a:pt x="854" y="393"/>
                    </a:cubicBezTo>
                    <a:cubicBezTo>
                      <a:pt x="854" y="405"/>
                      <a:pt x="844" y="415"/>
                      <a:pt x="832" y="415"/>
                    </a:cubicBezTo>
                    <a:close/>
                    <a:moveTo>
                      <a:pt x="832" y="279"/>
                    </a:moveTo>
                    <a:cubicBezTo>
                      <a:pt x="201" y="279"/>
                      <a:pt x="201" y="279"/>
                      <a:pt x="201" y="279"/>
                    </a:cubicBezTo>
                    <a:cubicBezTo>
                      <a:pt x="189" y="279"/>
                      <a:pt x="179" y="269"/>
                      <a:pt x="179" y="257"/>
                    </a:cubicBezTo>
                    <a:cubicBezTo>
                      <a:pt x="179" y="245"/>
                      <a:pt x="189" y="235"/>
                      <a:pt x="201" y="235"/>
                    </a:cubicBezTo>
                    <a:cubicBezTo>
                      <a:pt x="832" y="235"/>
                      <a:pt x="832" y="235"/>
                      <a:pt x="832" y="235"/>
                    </a:cubicBezTo>
                    <a:cubicBezTo>
                      <a:pt x="844" y="235"/>
                      <a:pt x="854" y="245"/>
                      <a:pt x="854" y="257"/>
                    </a:cubicBezTo>
                    <a:cubicBezTo>
                      <a:pt x="854" y="269"/>
                      <a:pt x="844" y="279"/>
                      <a:pt x="832" y="279"/>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Freeform 21">
                <a:extLst>
                  <a:ext uri="{FF2B5EF4-FFF2-40B4-BE49-F238E27FC236}">
                    <a16:creationId xmlns:a16="http://schemas.microsoft.com/office/drawing/2014/main" id="{A0917103-C717-AFFB-CBB2-8178A72C899D}"/>
                  </a:ext>
                </a:extLst>
              </p:cNvPr>
              <p:cNvSpPr>
                <a:spLocks noEditPoints="1"/>
              </p:cNvSpPr>
              <p:nvPr/>
            </p:nvSpPr>
            <p:spPr bwMode="auto">
              <a:xfrm>
                <a:off x="6060947" y="2953131"/>
                <a:ext cx="737235" cy="752856"/>
              </a:xfrm>
              <a:custGeom>
                <a:avLst/>
                <a:gdLst>
                  <a:gd name="T0" fmla="*/ 1033 w 1033"/>
                  <a:gd name="T1" fmla="*/ 44 h 1054"/>
                  <a:gd name="T2" fmla="*/ 1033 w 1033"/>
                  <a:gd name="T3" fmla="*/ 725 h 1054"/>
                  <a:gd name="T4" fmla="*/ 989 w 1033"/>
                  <a:gd name="T5" fmla="*/ 769 h 1054"/>
                  <a:gd name="T6" fmla="*/ 734 w 1033"/>
                  <a:gd name="T7" fmla="*/ 769 h 1054"/>
                  <a:gd name="T8" fmla="*/ 734 w 1033"/>
                  <a:gd name="T9" fmla="*/ 1010 h 1054"/>
                  <a:gd name="T10" fmla="*/ 733 w 1033"/>
                  <a:gd name="T11" fmla="*/ 1017 h 1054"/>
                  <a:gd name="T12" fmla="*/ 696 w 1033"/>
                  <a:gd name="T13" fmla="*/ 1053 h 1054"/>
                  <a:gd name="T14" fmla="*/ 686 w 1033"/>
                  <a:gd name="T15" fmla="*/ 1054 h 1054"/>
                  <a:gd name="T16" fmla="*/ 632 w 1033"/>
                  <a:gd name="T17" fmla="*/ 1025 h 1054"/>
                  <a:gd name="T18" fmla="*/ 564 w 1033"/>
                  <a:gd name="T19" fmla="*/ 951 h 1054"/>
                  <a:gd name="T20" fmla="*/ 396 w 1033"/>
                  <a:gd name="T21" fmla="*/ 769 h 1054"/>
                  <a:gd name="T22" fmla="*/ 135 w 1033"/>
                  <a:gd name="T23" fmla="*/ 769 h 1054"/>
                  <a:gd name="T24" fmla="*/ 135 w 1033"/>
                  <a:gd name="T25" fmla="*/ 725 h 1054"/>
                  <a:gd name="T26" fmla="*/ 405 w 1033"/>
                  <a:gd name="T27" fmla="*/ 725 h 1054"/>
                  <a:gd name="T28" fmla="*/ 421 w 1033"/>
                  <a:gd name="T29" fmla="*/ 732 h 1054"/>
                  <a:gd name="T30" fmla="*/ 597 w 1033"/>
                  <a:gd name="T31" fmla="*/ 922 h 1054"/>
                  <a:gd name="T32" fmla="*/ 663 w 1033"/>
                  <a:gd name="T33" fmla="*/ 994 h 1054"/>
                  <a:gd name="T34" fmla="*/ 686 w 1033"/>
                  <a:gd name="T35" fmla="*/ 1010 h 1054"/>
                  <a:gd name="T36" fmla="*/ 690 w 1033"/>
                  <a:gd name="T37" fmla="*/ 1005 h 1054"/>
                  <a:gd name="T38" fmla="*/ 690 w 1033"/>
                  <a:gd name="T39" fmla="*/ 747 h 1054"/>
                  <a:gd name="T40" fmla="*/ 712 w 1033"/>
                  <a:gd name="T41" fmla="*/ 725 h 1054"/>
                  <a:gd name="T42" fmla="*/ 989 w 1033"/>
                  <a:gd name="T43" fmla="*/ 725 h 1054"/>
                  <a:gd name="T44" fmla="*/ 989 w 1033"/>
                  <a:gd name="T45" fmla="*/ 44 h 1054"/>
                  <a:gd name="T46" fmla="*/ 44 w 1033"/>
                  <a:gd name="T47" fmla="*/ 44 h 1054"/>
                  <a:gd name="T48" fmla="*/ 44 w 1033"/>
                  <a:gd name="T49" fmla="*/ 256 h 1054"/>
                  <a:gd name="T50" fmla="*/ 0 w 1033"/>
                  <a:gd name="T51" fmla="*/ 256 h 1054"/>
                  <a:gd name="T52" fmla="*/ 0 w 1033"/>
                  <a:gd name="T53" fmla="*/ 44 h 1054"/>
                  <a:gd name="T54" fmla="*/ 44 w 1033"/>
                  <a:gd name="T55" fmla="*/ 0 h 1054"/>
                  <a:gd name="T56" fmla="*/ 989 w 1033"/>
                  <a:gd name="T57" fmla="*/ 0 h 1054"/>
                  <a:gd name="T58" fmla="*/ 1033 w 1033"/>
                  <a:gd name="T59" fmla="*/ 44 h 1054"/>
                  <a:gd name="T60" fmla="*/ 835 w 1033"/>
                  <a:gd name="T61" fmla="*/ 247 h 1054"/>
                  <a:gd name="T62" fmla="*/ 813 w 1033"/>
                  <a:gd name="T63" fmla="*/ 225 h 1054"/>
                  <a:gd name="T64" fmla="*/ 220 w 1033"/>
                  <a:gd name="T65" fmla="*/ 225 h 1054"/>
                  <a:gd name="T66" fmla="*/ 198 w 1033"/>
                  <a:gd name="T67" fmla="*/ 247 h 1054"/>
                  <a:gd name="T68" fmla="*/ 220 w 1033"/>
                  <a:gd name="T69" fmla="*/ 269 h 1054"/>
                  <a:gd name="T70" fmla="*/ 813 w 1033"/>
                  <a:gd name="T71" fmla="*/ 269 h 1054"/>
                  <a:gd name="T72" fmla="*/ 835 w 1033"/>
                  <a:gd name="T73" fmla="*/ 247 h 1054"/>
                  <a:gd name="T74" fmla="*/ 835 w 1033"/>
                  <a:gd name="T75" fmla="*/ 383 h 1054"/>
                  <a:gd name="T76" fmla="*/ 813 w 1033"/>
                  <a:gd name="T77" fmla="*/ 361 h 1054"/>
                  <a:gd name="T78" fmla="*/ 220 w 1033"/>
                  <a:gd name="T79" fmla="*/ 361 h 1054"/>
                  <a:gd name="T80" fmla="*/ 198 w 1033"/>
                  <a:gd name="T81" fmla="*/ 383 h 1054"/>
                  <a:gd name="T82" fmla="*/ 220 w 1033"/>
                  <a:gd name="T83" fmla="*/ 405 h 1054"/>
                  <a:gd name="T84" fmla="*/ 813 w 1033"/>
                  <a:gd name="T85" fmla="*/ 405 h 1054"/>
                  <a:gd name="T86" fmla="*/ 835 w 1033"/>
                  <a:gd name="T87" fmla="*/ 383 h 1054"/>
                  <a:gd name="T88" fmla="*/ 835 w 1033"/>
                  <a:gd name="T89" fmla="*/ 521 h 1054"/>
                  <a:gd name="T90" fmla="*/ 813 w 1033"/>
                  <a:gd name="T91" fmla="*/ 499 h 1054"/>
                  <a:gd name="T92" fmla="*/ 220 w 1033"/>
                  <a:gd name="T93" fmla="*/ 499 h 1054"/>
                  <a:gd name="T94" fmla="*/ 198 w 1033"/>
                  <a:gd name="T95" fmla="*/ 521 h 1054"/>
                  <a:gd name="T96" fmla="*/ 220 w 1033"/>
                  <a:gd name="T97" fmla="*/ 543 h 1054"/>
                  <a:gd name="T98" fmla="*/ 813 w 1033"/>
                  <a:gd name="T99" fmla="*/ 543 h 1054"/>
                  <a:gd name="T100" fmla="*/ 835 w 1033"/>
                  <a:gd name="T101" fmla="*/ 521 h 1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33" h="1054">
                    <a:moveTo>
                      <a:pt x="1033" y="44"/>
                    </a:moveTo>
                    <a:cubicBezTo>
                      <a:pt x="1033" y="725"/>
                      <a:pt x="1033" y="725"/>
                      <a:pt x="1033" y="725"/>
                    </a:cubicBezTo>
                    <a:cubicBezTo>
                      <a:pt x="1033" y="750"/>
                      <a:pt x="1013" y="769"/>
                      <a:pt x="989" y="769"/>
                    </a:cubicBezTo>
                    <a:cubicBezTo>
                      <a:pt x="734" y="769"/>
                      <a:pt x="734" y="769"/>
                      <a:pt x="734" y="769"/>
                    </a:cubicBezTo>
                    <a:cubicBezTo>
                      <a:pt x="734" y="1010"/>
                      <a:pt x="734" y="1010"/>
                      <a:pt x="734" y="1010"/>
                    </a:cubicBezTo>
                    <a:cubicBezTo>
                      <a:pt x="734" y="1012"/>
                      <a:pt x="734" y="1015"/>
                      <a:pt x="733" y="1017"/>
                    </a:cubicBezTo>
                    <a:cubicBezTo>
                      <a:pt x="732" y="1020"/>
                      <a:pt x="722" y="1047"/>
                      <a:pt x="696" y="1053"/>
                    </a:cubicBezTo>
                    <a:cubicBezTo>
                      <a:pt x="693" y="1054"/>
                      <a:pt x="689" y="1054"/>
                      <a:pt x="686" y="1054"/>
                    </a:cubicBezTo>
                    <a:cubicBezTo>
                      <a:pt x="668" y="1054"/>
                      <a:pt x="650" y="1044"/>
                      <a:pt x="632" y="1025"/>
                    </a:cubicBezTo>
                    <a:cubicBezTo>
                      <a:pt x="619" y="1013"/>
                      <a:pt x="595" y="985"/>
                      <a:pt x="564" y="951"/>
                    </a:cubicBezTo>
                    <a:cubicBezTo>
                      <a:pt x="517" y="899"/>
                      <a:pt x="454" y="829"/>
                      <a:pt x="396" y="769"/>
                    </a:cubicBezTo>
                    <a:cubicBezTo>
                      <a:pt x="135" y="769"/>
                      <a:pt x="135" y="769"/>
                      <a:pt x="135" y="769"/>
                    </a:cubicBezTo>
                    <a:cubicBezTo>
                      <a:pt x="135" y="725"/>
                      <a:pt x="135" y="725"/>
                      <a:pt x="135" y="725"/>
                    </a:cubicBezTo>
                    <a:cubicBezTo>
                      <a:pt x="405" y="725"/>
                      <a:pt x="405" y="725"/>
                      <a:pt x="405" y="725"/>
                    </a:cubicBezTo>
                    <a:cubicBezTo>
                      <a:pt x="411" y="725"/>
                      <a:pt x="417" y="728"/>
                      <a:pt x="421" y="732"/>
                    </a:cubicBezTo>
                    <a:cubicBezTo>
                      <a:pt x="481" y="793"/>
                      <a:pt x="548" y="867"/>
                      <a:pt x="597" y="922"/>
                    </a:cubicBezTo>
                    <a:cubicBezTo>
                      <a:pt x="627" y="956"/>
                      <a:pt x="651" y="982"/>
                      <a:pt x="663" y="994"/>
                    </a:cubicBezTo>
                    <a:cubicBezTo>
                      <a:pt x="677" y="1008"/>
                      <a:pt x="684" y="1010"/>
                      <a:pt x="686" y="1010"/>
                    </a:cubicBezTo>
                    <a:cubicBezTo>
                      <a:pt x="687" y="1010"/>
                      <a:pt x="689" y="1008"/>
                      <a:pt x="690" y="1005"/>
                    </a:cubicBezTo>
                    <a:cubicBezTo>
                      <a:pt x="690" y="747"/>
                      <a:pt x="690" y="747"/>
                      <a:pt x="690" y="747"/>
                    </a:cubicBezTo>
                    <a:cubicBezTo>
                      <a:pt x="690" y="735"/>
                      <a:pt x="700" y="725"/>
                      <a:pt x="712" y="725"/>
                    </a:cubicBezTo>
                    <a:cubicBezTo>
                      <a:pt x="989" y="725"/>
                      <a:pt x="989" y="725"/>
                      <a:pt x="989" y="725"/>
                    </a:cubicBezTo>
                    <a:cubicBezTo>
                      <a:pt x="989" y="44"/>
                      <a:pt x="989" y="44"/>
                      <a:pt x="989" y="44"/>
                    </a:cubicBezTo>
                    <a:cubicBezTo>
                      <a:pt x="44" y="44"/>
                      <a:pt x="44" y="44"/>
                      <a:pt x="44" y="44"/>
                    </a:cubicBezTo>
                    <a:cubicBezTo>
                      <a:pt x="44" y="256"/>
                      <a:pt x="44" y="256"/>
                      <a:pt x="44" y="256"/>
                    </a:cubicBezTo>
                    <a:cubicBezTo>
                      <a:pt x="0" y="256"/>
                      <a:pt x="0" y="256"/>
                      <a:pt x="0" y="256"/>
                    </a:cubicBezTo>
                    <a:cubicBezTo>
                      <a:pt x="0" y="44"/>
                      <a:pt x="0" y="44"/>
                      <a:pt x="0" y="44"/>
                    </a:cubicBezTo>
                    <a:cubicBezTo>
                      <a:pt x="0" y="20"/>
                      <a:pt x="20" y="0"/>
                      <a:pt x="44" y="0"/>
                    </a:cubicBezTo>
                    <a:cubicBezTo>
                      <a:pt x="989" y="0"/>
                      <a:pt x="989" y="0"/>
                      <a:pt x="989" y="0"/>
                    </a:cubicBezTo>
                    <a:cubicBezTo>
                      <a:pt x="1013" y="0"/>
                      <a:pt x="1033" y="20"/>
                      <a:pt x="1033" y="44"/>
                    </a:cubicBezTo>
                    <a:close/>
                    <a:moveTo>
                      <a:pt x="835" y="247"/>
                    </a:moveTo>
                    <a:cubicBezTo>
                      <a:pt x="835" y="235"/>
                      <a:pt x="826" y="225"/>
                      <a:pt x="813" y="225"/>
                    </a:cubicBezTo>
                    <a:cubicBezTo>
                      <a:pt x="220" y="225"/>
                      <a:pt x="220" y="225"/>
                      <a:pt x="220" y="225"/>
                    </a:cubicBezTo>
                    <a:cubicBezTo>
                      <a:pt x="208" y="225"/>
                      <a:pt x="198" y="235"/>
                      <a:pt x="198" y="247"/>
                    </a:cubicBezTo>
                    <a:cubicBezTo>
                      <a:pt x="198" y="259"/>
                      <a:pt x="208" y="269"/>
                      <a:pt x="220" y="269"/>
                    </a:cubicBezTo>
                    <a:cubicBezTo>
                      <a:pt x="813" y="269"/>
                      <a:pt x="813" y="269"/>
                      <a:pt x="813" y="269"/>
                    </a:cubicBezTo>
                    <a:cubicBezTo>
                      <a:pt x="826" y="269"/>
                      <a:pt x="835" y="259"/>
                      <a:pt x="835" y="247"/>
                    </a:cubicBezTo>
                    <a:close/>
                    <a:moveTo>
                      <a:pt x="835" y="383"/>
                    </a:moveTo>
                    <a:cubicBezTo>
                      <a:pt x="835" y="371"/>
                      <a:pt x="826" y="361"/>
                      <a:pt x="813" y="361"/>
                    </a:cubicBezTo>
                    <a:cubicBezTo>
                      <a:pt x="220" y="361"/>
                      <a:pt x="220" y="361"/>
                      <a:pt x="220" y="361"/>
                    </a:cubicBezTo>
                    <a:cubicBezTo>
                      <a:pt x="208" y="361"/>
                      <a:pt x="198" y="371"/>
                      <a:pt x="198" y="383"/>
                    </a:cubicBezTo>
                    <a:cubicBezTo>
                      <a:pt x="198" y="395"/>
                      <a:pt x="208" y="405"/>
                      <a:pt x="220" y="405"/>
                    </a:cubicBezTo>
                    <a:cubicBezTo>
                      <a:pt x="813" y="405"/>
                      <a:pt x="813" y="405"/>
                      <a:pt x="813" y="405"/>
                    </a:cubicBezTo>
                    <a:cubicBezTo>
                      <a:pt x="826" y="405"/>
                      <a:pt x="835" y="395"/>
                      <a:pt x="835" y="383"/>
                    </a:cubicBezTo>
                    <a:close/>
                    <a:moveTo>
                      <a:pt x="835" y="521"/>
                    </a:moveTo>
                    <a:cubicBezTo>
                      <a:pt x="835" y="508"/>
                      <a:pt x="826" y="499"/>
                      <a:pt x="813" y="499"/>
                    </a:cubicBezTo>
                    <a:cubicBezTo>
                      <a:pt x="220" y="499"/>
                      <a:pt x="220" y="499"/>
                      <a:pt x="220" y="499"/>
                    </a:cubicBezTo>
                    <a:cubicBezTo>
                      <a:pt x="208" y="499"/>
                      <a:pt x="198" y="508"/>
                      <a:pt x="198" y="521"/>
                    </a:cubicBezTo>
                    <a:cubicBezTo>
                      <a:pt x="198" y="533"/>
                      <a:pt x="208" y="543"/>
                      <a:pt x="220" y="543"/>
                    </a:cubicBezTo>
                    <a:cubicBezTo>
                      <a:pt x="813" y="543"/>
                      <a:pt x="813" y="543"/>
                      <a:pt x="813" y="543"/>
                    </a:cubicBezTo>
                    <a:cubicBezTo>
                      <a:pt x="826" y="543"/>
                      <a:pt x="835" y="533"/>
                      <a:pt x="835" y="52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
        <p:nvSpPr>
          <p:cNvPr id="123" name="Oval 122">
            <a:extLst>
              <a:ext uri="{FF2B5EF4-FFF2-40B4-BE49-F238E27FC236}">
                <a16:creationId xmlns:a16="http://schemas.microsoft.com/office/drawing/2014/main" id="{F09BBF89-7D5A-9848-3FBE-EF95D1C1A1C8}"/>
              </a:ext>
            </a:extLst>
          </p:cNvPr>
          <p:cNvSpPr/>
          <p:nvPr/>
        </p:nvSpPr>
        <p:spPr>
          <a:xfrm>
            <a:off x="1513537" y="3596852"/>
            <a:ext cx="475435" cy="475435"/>
          </a:xfrm>
          <a:prstGeom prst="ellipse">
            <a:avLst/>
          </a:prstGeom>
          <a:gradFill flip="none" rotWithShape="1">
            <a:gsLst>
              <a:gs pos="100000">
                <a:schemeClr val="tx2">
                  <a:lumMod val="20000"/>
                  <a:lumOff val="80000"/>
                </a:schemeClr>
              </a:gs>
              <a:gs pos="54000">
                <a:schemeClr val="bg1"/>
              </a:gs>
            </a:gsLst>
            <a:path path="shape">
              <a:fillToRect l="50000" t="50000" r="50000" b="50000"/>
            </a:path>
            <a:tileRect/>
          </a:gradFill>
          <a:ln w="15875" cap="rnd" cmpd="sng" algn="ctr">
            <a:gradFill flip="none" rotWithShape="1">
              <a:gsLst>
                <a:gs pos="67000">
                  <a:schemeClr val="bg1">
                    <a:alpha val="0"/>
                  </a:schemeClr>
                </a:gs>
                <a:gs pos="100000">
                  <a:schemeClr val="tx2"/>
                </a:gs>
              </a:gsLst>
              <a:lin ang="16200000" scaled="1"/>
              <a:tileRect/>
            </a:gra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124" name="Oval 123">
            <a:extLst>
              <a:ext uri="{FF2B5EF4-FFF2-40B4-BE49-F238E27FC236}">
                <a16:creationId xmlns:a16="http://schemas.microsoft.com/office/drawing/2014/main" id="{437CC505-ACF4-0F86-1875-B61DF00C5161}"/>
              </a:ext>
            </a:extLst>
          </p:cNvPr>
          <p:cNvSpPr/>
          <p:nvPr/>
        </p:nvSpPr>
        <p:spPr>
          <a:xfrm>
            <a:off x="2178474" y="3596852"/>
            <a:ext cx="475435" cy="475435"/>
          </a:xfrm>
          <a:prstGeom prst="ellipse">
            <a:avLst/>
          </a:prstGeom>
          <a:gradFill flip="none" rotWithShape="1">
            <a:gsLst>
              <a:gs pos="100000">
                <a:schemeClr val="tx2">
                  <a:lumMod val="20000"/>
                  <a:lumOff val="80000"/>
                </a:schemeClr>
              </a:gs>
              <a:gs pos="54000">
                <a:schemeClr val="bg1"/>
              </a:gs>
            </a:gsLst>
            <a:path path="shape">
              <a:fillToRect l="50000" t="50000" r="50000" b="50000"/>
            </a:path>
            <a:tileRect/>
          </a:gradFill>
          <a:ln w="15875" cap="rnd" cmpd="sng" algn="ctr">
            <a:gradFill flip="none" rotWithShape="1">
              <a:gsLst>
                <a:gs pos="67000">
                  <a:schemeClr val="bg1">
                    <a:alpha val="0"/>
                  </a:schemeClr>
                </a:gs>
                <a:gs pos="100000">
                  <a:schemeClr val="tx2"/>
                </a:gs>
              </a:gsLst>
              <a:lin ang="16200000" scaled="1"/>
              <a:tileRect/>
            </a:gra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125" name="Oval 124">
            <a:extLst>
              <a:ext uri="{FF2B5EF4-FFF2-40B4-BE49-F238E27FC236}">
                <a16:creationId xmlns:a16="http://schemas.microsoft.com/office/drawing/2014/main" id="{98C136B3-AC65-BED8-527B-2BFA2B3BAFF3}"/>
              </a:ext>
            </a:extLst>
          </p:cNvPr>
          <p:cNvSpPr/>
          <p:nvPr/>
        </p:nvSpPr>
        <p:spPr>
          <a:xfrm>
            <a:off x="2843411" y="3596852"/>
            <a:ext cx="475435" cy="475435"/>
          </a:xfrm>
          <a:prstGeom prst="ellipse">
            <a:avLst/>
          </a:prstGeom>
          <a:gradFill flip="none" rotWithShape="1">
            <a:gsLst>
              <a:gs pos="100000">
                <a:schemeClr val="tx2">
                  <a:lumMod val="20000"/>
                  <a:lumOff val="80000"/>
                </a:schemeClr>
              </a:gs>
              <a:gs pos="54000">
                <a:schemeClr val="bg1"/>
              </a:gs>
            </a:gsLst>
            <a:path path="shape">
              <a:fillToRect l="50000" t="50000" r="50000" b="50000"/>
            </a:path>
            <a:tileRect/>
          </a:gradFill>
          <a:ln w="15875" cap="rnd" cmpd="sng" algn="ctr">
            <a:gradFill flip="none" rotWithShape="1">
              <a:gsLst>
                <a:gs pos="67000">
                  <a:schemeClr val="bg1">
                    <a:alpha val="0"/>
                  </a:schemeClr>
                </a:gs>
                <a:gs pos="100000">
                  <a:schemeClr val="tx2"/>
                </a:gs>
              </a:gsLst>
              <a:lin ang="16200000" scaled="1"/>
              <a:tileRect/>
            </a:gra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126" name="Oval 125">
            <a:extLst>
              <a:ext uri="{FF2B5EF4-FFF2-40B4-BE49-F238E27FC236}">
                <a16:creationId xmlns:a16="http://schemas.microsoft.com/office/drawing/2014/main" id="{404A8320-0ED4-6218-BF23-A0309EF894A5}"/>
              </a:ext>
            </a:extLst>
          </p:cNvPr>
          <p:cNvSpPr/>
          <p:nvPr/>
        </p:nvSpPr>
        <p:spPr>
          <a:xfrm>
            <a:off x="3508348" y="3596852"/>
            <a:ext cx="475435" cy="475435"/>
          </a:xfrm>
          <a:prstGeom prst="ellipse">
            <a:avLst/>
          </a:prstGeom>
          <a:gradFill flip="none" rotWithShape="1">
            <a:gsLst>
              <a:gs pos="100000">
                <a:schemeClr val="tx2">
                  <a:lumMod val="20000"/>
                  <a:lumOff val="80000"/>
                </a:schemeClr>
              </a:gs>
              <a:gs pos="54000">
                <a:schemeClr val="bg1"/>
              </a:gs>
            </a:gsLst>
            <a:path path="shape">
              <a:fillToRect l="50000" t="50000" r="50000" b="50000"/>
            </a:path>
            <a:tileRect/>
          </a:gradFill>
          <a:ln w="15875" cap="rnd" cmpd="sng" algn="ctr">
            <a:gradFill flip="none" rotWithShape="1">
              <a:gsLst>
                <a:gs pos="67000">
                  <a:schemeClr val="bg1">
                    <a:alpha val="0"/>
                  </a:schemeClr>
                </a:gs>
                <a:gs pos="100000">
                  <a:schemeClr val="tx2"/>
                </a:gs>
              </a:gsLst>
              <a:lin ang="16200000" scaled="1"/>
              <a:tileRect/>
            </a:gra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128" name="Oval 127">
            <a:extLst>
              <a:ext uri="{FF2B5EF4-FFF2-40B4-BE49-F238E27FC236}">
                <a16:creationId xmlns:a16="http://schemas.microsoft.com/office/drawing/2014/main" id="{50778210-F938-398E-3D9A-1DCECC2AD00C}"/>
              </a:ext>
            </a:extLst>
          </p:cNvPr>
          <p:cNvSpPr/>
          <p:nvPr/>
        </p:nvSpPr>
        <p:spPr>
          <a:xfrm>
            <a:off x="4838222" y="3596852"/>
            <a:ext cx="475435" cy="475435"/>
          </a:xfrm>
          <a:prstGeom prst="ellipse">
            <a:avLst/>
          </a:prstGeom>
          <a:gradFill flip="none" rotWithShape="1">
            <a:gsLst>
              <a:gs pos="100000">
                <a:schemeClr val="tx2">
                  <a:lumMod val="20000"/>
                  <a:lumOff val="80000"/>
                </a:schemeClr>
              </a:gs>
              <a:gs pos="54000">
                <a:schemeClr val="bg1"/>
              </a:gs>
            </a:gsLst>
            <a:path path="shape">
              <a:fillToRect l="50000" t="50000" r="50000" b="50000"/>
            </a:path>
            <a:tileRect/>
          </a:gradFill>
          <a:ln w="15875" cap="rnd" cmpd="sng" algn="ctr">
            <a:gradFill flip="none" rotWithShape="1">
              <a:gsLst>
                <a:gs pos="67000">
                  <a:schemeClr val="bg1">
                    <a:alpha val="0"/>
                  </a:schemeClr>
                </a:gs>
                <a:gs pos="100000">
                  <a:schemeClr val="tx2"/>
                </a:gs>
              </a:gsLst>
              <a:lin ang="16200000" scaled="1"/>
              <a:tileRect/>
            </a:gra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129" name="Oval 128">
            <a:extLst>
              <a:ext uri="{FF2B5EF4-FFF2-40B4-BE49-F238E27FC236}">
                <a16:creationId xmlns:a16="http://schemas.microsoft.com/office/drawing/2014/main" id="{2530E699-2FDD-E250-F676-6775CE32B485}"/>
              </a:ext>
            </a:extLst>
          </p:cNvPr>
          <p:cNvSpPr/>
          <p:nvPr/>
        </p:nvSpPr>
        <p:spPr>
          <a:xfrm>
            <a:off x="5503159" y="3596852"/>
            <a:ext cx="475435" cy="475435"/>
          </a:xfrm>
          <a:prstGeom prst="ellipse">
            <a:avLst/>
          </a:prstGeom>
          <a:gradFill flip="none" rotWithShape="1">
            <a:gsLst>
              <a:gs pos="100000">
                <a:schemeClr val="tx2">
                  <a:lumMod val="20000"/>
                  <a:lumOff val="80000"/>
                </a:schemeClr>
              </a:gs>
              <a:gs pos="54000">
                <a:schemeClr val="bg1"/>
              </a:gs>
            </a:gsLst>
            <a:path path="shape">
              <a:fillToRect l="50000" t="50000" r="50000" b="50000"/>
            </a:path>
            <a:tileRect/>
          </a:gradFill>
          <a:ln w="15875" cap="rnd" cmpd="sng" algn="ctr">
            <a:gradFill flip="none" rotWithShape="1">
              <a:gsLst>
                <a:gs pos="67000">
                  <a:schemeClr val="bg1">
                    <a:alpha val="0"/>
                  </a:schemeClr>
                </a:gs>
                <a:gs pos="100000">
                  <a:schemeClr val="tx2"/>
                </a:gs>
              </a:gsLst>
              <a:lin ang="16200000" scaled="1"/>
              <a:tileRect/>
            </a:gra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130" name="Oval 129">
            <a:extLst>
              <a:ext uri="{FF2B5EF4-FFF2-40B4-BE49-F238E27FC236}">
                <a16:creationId xmlns:a16="http://schemas.microsoft.com/office/drawing/2014/main" id="{84D347FE-D16D-1765-7F34-B3CD1E751440}"/>
              </a:ext>
            </a:extLst>
          </p:cNvPr>
          <p:cNvSpPr/>
          <p:nvPr/>
        </p:nvSpPr>
        <p:spPr>
          <a:xfrm>
            <a:off x="6168096" y="3596852"/>
            <a:ext cx="475435" cy="475435"/>
          </a:xfrm>
          <a:prstGeom prst="ellipse">
            <a:avLst/>
          </a:prstGeom>
          <a:gradFill flip="none" rotWithShape="1">
            <a:gsLst>
              <a:gs pos="100000">
                <a:schemeClr val="tx2">
                  <a:lumMod val="20000"/>
                  <a:lumOff val="80000"/>
                </a:schemeClr>
              </a:gs>
              <a:gs pos="54000">
                <a:schemeClr val="bg1"/>
              </a:gs>
            </a:gsLst>
            <a:path path="shape">
              <a:fillToRect l="50000" t="50000" r="50000" b="50000"/>
            </a:path>
            <a:tileRect/>
          </a:gradFill>
          <a:ln w="15875" cap="rnd" cmpd="sng" algn="ctr">
            <a:gradFill flip="none" rotWithShape="1">
              <a:gsLst>
                <a:gs pos="67000">
                  <a:schemeClr val="bg1">
                    <a:alpha val="0"/>
                  </a:schemeClr>
                </a:gs>
                <a:gs pos="100000">
                  <a:schemeClr val="tx2"/>
                </a:gs>
              </a:gsLst>
              <a:lin ang="16200000" scaled="1"/>
              <a:tileRect/>
            </a:gra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131" name="Oval 130">
            <a:extLst>
              <a:ext uri="{FF2B5EF4-FFF2-40B4-BE49-F238E27FC236}">
                <a16:creationId xmlns:a16="http://schemas.microsoft.com/office/drawing/2014/main" id="{6A6DCECA-9FFB-7567-F22C-C22C03505288}"/>
              </a:ext>
            </a:extLst>
          </p:cNvPr>
          <p:cNvSpPr/>
          <p:nvPr/>
        </p:nvSpPr>
        <p:spPr>
          <a:xfrm>
            <a:off x="6833033" y="3596852"/>
            <a:ext cx="475435" cy="475435"/>
          </a:xfrm>
          <a:prstGeom prst="ellipse">
            <a:avLst/>
          </a:prstGeom>
          <a:gradFill flip="none" rotWithShape="1">
            <a:gsLst>
              <a:gs pos="100000">
                <a:schemeClr val="tx2">
                  <a:lumMod val="20000"/>
                  <a:lumOff val="80000"/>
                </a:schemeClr>
              </a:gs>
              <a:gs pos="54000">
                <a:schemeClr val="bg1"/>
              </a:gs>
            </a:gsLst>
            <a:path path="shape">
              <a:fillToRect l="50000" t="50000" r="50000" b="50000"/>
            </a:path>
            <a:tileRect/>
          </a:gradFill>
          <a:ln w="15875" cap="rnd" cmpd="sng" algn="ctr">
            <a:gradFill flip="none" rotWithShape="1">
              <a:gsLst>
                <a:gs pos="67000">
                  <a:schemeClr val="bg1">
                    <a:alpha val="0"/>
                  </a:schemeClr>
                </a:gs>
                <a:gs pos="100000">
                  <a:schemeClr val="tx2"/>
                </a:gs>
              </a:gsLst>
              <a:lin ang="16200000" scaled="1"/>
              <a:tileRect/>
            </a:gra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grpSp>
        <p:nvGrpSpPr>
          <p:cNvPr id="116" name="bcgIcons_Detail Slide ">
            <a:extLst>
              <a:ext uri="{FF2B5EF4-FFF2-40B4-BE49-F238E27FC236}">
                <a16:creationId xmlns:a16="http://schemas.microsoft.com/office/drawing/2014/main" id="{F0B7B7C4-606B-7529-4745-657A9291E59D}"/>
              </a:ext>
            </a:extLst>
          </p:cNvPr>
          <p:cNvGrpSpPr>
            <a:grpSpLocks noChangeAspect="1"/>
          </p:cNvGrpSpPr>
          <p:nvPr/>
        </p:nvGrpSpPr>
        <p:grpSpPr>
          <a:xfrm>
            <a:off x="4254782" y="2341076"/>
            <a:ext cx="335146" cy="334823"/>
            <a:chOff x="6464300" y="2606675"/>
            <a:chExt cx="1646238" cy="1644650"/>
          </a:xfrm>
        </p:grpSpPr>
        <p:sp>
          <p:nvSpPr>
            <p:cNvPr id="117" name="AutoShape 3">
              <a:extLst>
                <a:ext uri="{FF2B5EF4-FFF2-40B4-BE49-F238E27FC236}">
                  <a16:creationId xmlns:a16="http://schemas.microsoft.com/office/drawing/2014/main" id="{508C42BC-4D25-12B8-3013-BA4A16969C8F}"/>
                </a:ext>
              </a:extLst>
            </p:cNvPr>
            <p:cNvSpPr>
              <a:spLocks noChangeAspect="1" noChangeArrowheads="1" noTextEdit="1"/>
            </p:cNvSpPr>
            <p:nvPr/>
          </p:nvSpPr>
          <p:spPr bwMode="auto">
            <a:xfrm>
              <a:off x="6464300"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118" name="Group 117">
              <a:extLst>
                <a:ext uri="{FF2B5EF4-FFF2-40B4-BE49-F238E27FC236}">
                  <a16:creationId xmlns:a16="http://schemas.microsoft.com/office/drawing/2014/main" id="{94BF1A12-AB7A-8311-5C3C-320C1FA0941C}"/>
                </a:ext>
              </a:extLst>
            </p:cNvPr>
            <p:cNvGrpSpPr/>
            <p:nvPr/>
          </p:nvGrpSpPr>
          <p:grpSpPr>
            <a:xfrm>
              <a:off x="6634163" y="2962275"/>
              <a:ext cx="1306513" cy="931863"/>
              <a:chOff x="6634163" y="2962275"/>
              <a:chExt cx="1306513" cy="931863"/>
            </a:xfrm>
          </p:grpSpPr>
          <p:sp>
            <p:nvSpPr>
              <p:cNvPr id="119" name="Freeform 11">
                <a:extLst>
                  <a:ext uri="{FF2B5EF4-FFF2-40B4-BE49-F238E27FC236}">
                    <a16:creationId xmlns:a16="http://schemas.microsoft.com/office/drawing/2014/main" id="{59D0CB34-E48F-0848-D0EE-3DD1D70AA177}"/>
                  </a:ext>
                </a:extLst>
              </p:cNvPr>
              <p:cNvSpPr>
                <a:spLocks/>
              </p:cNvSpPr>
              <p:nvPr/>
            </p:nvSpPr>
            <p:spPr bwMode="auto">
              <a:xfrm>
                <a:off x="6634163" y="2962275"/>
                <a:ext cx="1306513" cy="931863"/>
              </a:xfrm>
              <a:custGeom>
                <a:avLst/>
                <a:gdLst>
                  <a:gd name="connsiteX0" fmla="*/ 924442 w 1306513"/>
                  <a:gd name="connsiteY0" fmla="*/ 836613 h 931863"/>
                  <a:gd name="connsiteX1" fmla="*/ 1226621 w 1306513"/>
                  <a:gd name="connsiteY1" fmla="*/ 836613 h 931863"/>
                  <a:gd name="connsiteX2" fmla="*/ 1243013 w 1306513"/>
                  <a:gd name="connsiteY2" fmla="*/ 853653 h 931863"/>
                  <a:gd name="connsiteX3" fmla="*/ 1226621 w 1306513"/>
                  <a:gd name="connsiteY3" fmla="*/ 869951 h 931863"/>
                  <a:gd name="connsiteX4" fmla="*/ 924442 w 1306513"/>
                  <a:gd name="connsiteY4" fmla="*/ 869951 h 931863"/>
                  <a:gd name="connsiteX5" fmla="*/ 908050 w 1306513"/>
                  <a:gd name="connsiteY5" fmla="*/ 853653 h 931863"/>
                  <a:gd name="connsiteX6" fmla="*/ 924442 w 1306513"/>
                  <a:gd name="connsiteY6" fmla="*/ 836613 h 931863"/>
                  <a:gd name="connsiteX7" fmla="*/ 502244 w 1306513"/>
                  <a:gd name="connsiteY7" fmla="*/ 836613 h 931863"/>
                  <a:gd name="connsiteX8" fmla="*/ 805855 w 1306513"/>
                  <a:gd name="connsiteY8" fmla="*/ 836613 h 931863"/>
                  <a:gd name="connsiteX9" fmla="*/ 822325 w 1306513"/>
                  <a:gd name="connsiteY9" fmla="*/ 853653 h 931863"/>
                  <a:gd name="connsiteX10" fmla="*/ 805855 w 1306513"/>
                  <a:gd name="connsiteY10" fmla="*/ 869951 h 931863"/>
                  <a:gd name="connsiteX11" fmla="*/ 502244 w 1306513"/>
                  <a:gd name="connsiteY11" fmla="*/ 869951 h 931863"/>
                  <a:gd name="connsiteX12" fmla="*/ 485775 w 1306513"/>
                  <a:gd name="connsiteY12" fmla="*/ 853653 h 931863"/>
                  <a:gd name="connsiteX13" fmla="*/ 502244 w 1306513"/>
                  <a:gd name="connsiteY13" fmla="*/ 836613 h 931863"/>
                  <a:gd name="connsiteX14" fmla="*/ 79969 w 1306513"/>
                  <a:gd name="connsiteY14" fmla="*/ 836613 h 931863"/>
                  <a:gd name="connsiteX15" fmla="*/ 383580 w 1306513"/>
                  <a:gd name="connsiteY15" fmla="*/ 836613 h 931863"/>
                  <a:gd name="connsiteX16" fmla="*/ 400050 w 1306513"/>
                  <a:gd name="connsiteY16" fmla="*/ 853653 h 931863"/>
                  <a:gd name="connsiteX17" fmla="*/ 383580 w 1306513"/>
                  <a:gd name="connsiteY17" fmla="*/ 869951 h 931863"/>
                  <a:gd name="connsiteX18" fmla="*/ 79969 w 1306513"/>
                  <a:gd name="connsiteY18" fmla="*/ 869951 h 931863"/>
                  <a:gd name="connsiteX19" fmla="*/ 63500 w 1306513"/>
                  <a:gd name="connsiteY19" fmla="*/ 853653 h 931863"/>
                  <a:gd name="connsiteX20" fmla="*/ 79969 w 1306513"/>
                  <a:gd name="connsiteY20" fmla="*/ 836613 h 931863"/>
                  <a:gd name="connsiteX21" fmla="*/ 924487 w 1306513"/>
                  <a:gd name="connsiteY21" fmla="*/ 762000 h 931863"/>
                  <a:gd name="connsiteX22" fmla="*/ 1113864 w 1306513"/>
                  <a:gd name="connsiteY22" fmla="*/ 762000 h 931863"/>
                  <a:gd name="connsiteX23" fmla="*/ 1130300 w 1306513"/>
                  <a:gd name="connsiteY23" fmla="*/ 777522 h 931863"/>
                  <a:gd name="connsiteX24" fmla="*/ 1113864 w 1306513"/>
                  <a:gd name="connsiteY24" fmla="*/ 793750 h 931863"/>
                  <a:gd name="connsiteX25" fmla="*/ 924487 w 1306513"/>
                  <a:gd name="connsiteY25" fmla="*/ 793750 h 931863"/>
                  <a:gd name="connsiteX26" fmla="*/ 908050 w 1306513"/>
                  <a:gd name="connsiteY26" fmla="*/ 777522 h 931863"/>
                  <a:gd name="connsiteX27" fmla="*/ 924487 w 1306513"/>
                  <a:gd name="connsiteY27" fmla="*/ 762000 h 931863"/>
                  <a:gd name="connsiteX28" fmla="*/ 502211 w 1306513"/>
                  <a:gd name="connsiteY28" fmla="*/ 762000 h 931863"/>
                  <a:gd name="connsiteX29" fmla="*/ 691588 w 1306513"/>
                  <a:gd name="connsiteY29" fmla="*/ 762000 h 931863"/>
                  <a:gd name="connsiteX30" fmla="*/ 708025 w 1306513"/>
                  <a:gd name="connsiteY30" fmla="*/ 777522 h 931863"/>
                  <a:gd name="connsiteX31" fmla="*/ 691588 w 1306513"/>
                  <a:gd name="connsiteY31" fmla="*/ 793750 h 931863"/>
                  <a:gd name="connsiteX32" fmla="*/ 502211 w 1306513"/>
                  <a:gd name="connsiteY32" fmla="*/ 793750 h 931863"/>
                  <a:gd name="connsiteX33" fmla="*/ 485775 w 1306513"/>
                  <a:gd name="connsiteY33" fmla="*/ 777522 h 931863"/>
                  <a:gd name="connsiteX34" fmla="*/ 502211 w 1306513"/>
                  <a:gd name="connsiteY34" fmla="*/ 762000 h 931863"/>
                  <a:gd name="connsiteX35" fmla="*/ 79936 w 1306513"/>
                  <a:gd name="connsiteY35" fmla="*/ 762000 h 931863"/>
                  <a:gd name="connsiteX36" fmla="*/ 269313 w 1306513"/>
                  <a:gd name="connsiteY36" fmla="*/ 762000 h 931863"/>
                  <a:gd name="connsiteX37" fmla="*/ 285750 w 1306513"/>
                  <a:gd name="connsiteY37" fmla="*/ 777522 h 931863"/>
                  <a:gd name="connsiteX38" fmla="*/ 269313 w 1306513"/>
                  <a:gd name="connsiteY38" fmla="*/ 793750 h 931863"/>
                  <a:gd name="connsiteX39" fmla="*/ 79936 w 1306513"/>
                  <a:gd name="connsiteY39" fmla="*/ 793750 h 931863"/>
                  <a:gd name="connsiteX40" fmla="*/ 63500 w 1306513"/>
                  <a:gd name="connsiteY40" fmla="*/ 777522 h 931863"/>
                  <a:gd name="connsiteX41" fmla="*/ 79936 w 1306513"/>
                  <a:gd name="connsiteY41" fmla="*/ 762000 h 931863"/>
                  <a:gd name="connsiteX42" fmla="*/ 924442 w 1306513"/>
                  <a:gd name="connsiteY42" fmla="*/ 681038 h 931863"/>
                  <a:gd name="connsiteX43" fmla="*/ 1226621 w 1306513"/>
                  <a:gd name="connsiteY43" fmla="*/ 681038 h 931863"/>
                  <a:gd name="connsiteX44" fmla="*/ 1243013 w 1306513"/>
                  <a:gd name="connsiteY44" fmla="*/ 697707 h 931863"/>
                  <a:gd name="connsiteX45" fmla="*/ 1226621 w 1306513"/>
                  <a:gd name="connsiteY45" fmla="*/ 714376 h 931863"/>
                  <a:gd name="connsiteX46" fmla="*/ 924442 w 1306513"/>
                  <a:gd name="connsiteY46" fmla="*/ 714376 h 931863"/>
                  <a:gd name="connsiteX47" fmla="*/ 908050 w 1306513"/>
                  <a:gd name="connsiteY47" fmla="*/ 697707 h 931863"/>
                  <a:gd name="connsiteX48" fmla="*/ 924442 w 1306513"/>
                  <a:gd name="connsiteY48" fmla="*/ 681038 h 931863"/>
                  <a:gd name="connsiteX49" fmla="*/ 502244 w 1306513"/>
                  <a:gd name="connsiteY49" fmla="*/ 681038 h 931863"/>
                  <a:gd name="connsiteX50" fmla="*/ 805855 w 1306513"/>
                  <a:gd name="connsiteY50" fmla="*/ 681038 h 931863"/>
                  <a:gd name="connsiteX51" fmla="*/ 822325 w 1306513"/>
                  <a:gd name="connsiteY51" fmla="*/ 697707 h 931863"/>
                  <a:gd name="connsiteX52" fmla="*/ 805855 w 1306513"/>
                  <a:gd name="connsiteY52" fmla="*/ 714376 h 931863"/>
                  <a:gd name="connsiteX53" fmla="*/ 502244 w 1306513"/>
                  <a:gd name="connsiteY53" fmla="*/ 714376 h 931863"/>
                  <a:gd name="connsiteX54" fmla="*/ 485775 w 1306513"/>
                  <a:gd name="connsiteY54" fmla="*/ 697707 h 931863"/>
                  <a:gd name="connsiteX55" fmla="*/ 502244 w 1306513"/>
                  <a:gd name="connsiteY55" fmla="*/ 681038 h 931863"/>
                  <a:gd name="connsiteX56" fmla="*/ 79969 w 1306513"/>
                  <a:gd name="connsiteY56" fmla="*/ 681038 h 931863"/>
                  <a:gd name="connsiteX57" fmla="*/ 383580 w 1306513"/>
                  <a:gd name="connsiteY57" fmla="*/ 681038 h 931863"/>
                  <a:gd name="connsiteX58" fmla="*/ 400050 w 1306513"/>
                  <a:gd name="connsiteY58" fmla="*/ 697707 h 931863"/>
                  <a:gd name="connsiteX59" fmla="*/ 383580 w 1306513"/>
                  <a:gd name="connsiteY59" fmla="*/ 714376 h 931863"/>
                  <a:gd name="connsiteX60" fmla="*/ 79969 w 1306513"/>
                  <a:gd name="connsiteY60" fmla="*/ 714376 h 931863"/>
                  <a:gd name="connsiteX61" fmla="*/ 63500 w 1306513"/>
                  <a:gd name="connsiteY61" fmla="*/ 697707 h 931863"/>
                  <a:gd name="connsiteX62" fmla="*/ 79969 w 1306513"/>
                  <a:gd name="connsiteY62" fmla="*/ 681038 h 931863"/>
                  <a:gd name="connsiteX63" fmla="*/ 502230 w 1306513"/>
                  <a:gd name="connsiteY63" fmla="*/ 595313 h 931863"/>
                  <a:gd name="connsiteX64" fmla="*/ 788408 w 1306513"/>
                  <a:gd name="connsiteY64" fmla="*/ 595313 h 931863"/>
                  <a:gd name="connsiteX65" fmla="*/ 804863 w 1306513"/>
                  <a:gd name="connsiteY65" fmla="*/ 611982 h 931863"/>
                  <a:gd name="connsiteX66" fmla="*/ 788408 w 1306513"/>
                  <a:gd name="connsiteY66" fmla="*/ 628651 h 931863"/>
                  <a:gd name="connsiteX67" fmla="*/ 502230 w 1306513"/>
                  <a:gd name="connsiteY67" fmla="*/ 628651 h 931863"/>
                  <a:gd name="connsiteX68" fmla="*/ 485775 w 1306513"/>
                  <a:gd name="connsiteY68" fmla="*/ 611982 h 931863"/>
                  <a:gd name="connsiteX69" fmla="*/ 502230 w 1306513"/>
                  <a:gd name="connsiteY69" fmla="*/ 595313 h 931863"/>
                  <a:gd name="connsiteX70" fmla="*/ 79955 w 1306513"/>
                  <a:gd name="connsiteY70" fmla="*/ 595313 h 931863"/>
                  <a:gd name="connsiteX71" fmla="*/ 366133 w 1306513"/>
                  <a:gd name="connsiteY71" fmla="*/ 595313 h 931863"/>
                  <a:gd name="connsiteX72" fmla="*/ 382588 w 1306513"/>
                  <a:gd name="connsiteY72" fmla="*/ 611982 h 931863"/>
                  <a:gd name="connsiteX73" fmla="*/ 366133 w 1306513"/>
                  <a:gd name="connsiteY73" fmla="*/ 628651 h 931863"/>
                  <a:gd name="connsiteX74" fmla="*/ 79955 w 1306513"/>
                  <a:gd name="connsiteY74" fmla="*/ 628651 h 931863"/>
                  <a:gd name="connsiteX75" fmla="*/ 63500 w 1306513"/>
                  <a:gd name="connsiteY75" fmla="*/ 611982 h 931863"/>
                  <a:gd name="connsiteX76" fmla="*/ 79955 w 1306513"/>
                  <a:gd name="connsiteY76" fmla="*/ 595313 h 931863"/>
                  <a:gd name="connsiteX77" fmla="*/ 502244 w 1306513"/>
                  <a:gd name="connsiteY77" fmla="*/ 512763 h 931863"/>
                  <a:gd name="connsiteX78" fmla="*/ 805855 w 1306513"/>
                  <a:gd name="connsiteY78" fmla="*/ 512763 h 931863"/>
                  <a:gd name="connsiteX79" fmla="*/ 822325 w 1306513"/>
                  <a:gd name="connsiteY79" fmla="*/ 528638 h 931863"/>
                  <a:gd name="connsiteX80" fmla="*/ 805855 w 1306513"/>
                  <a:gd name="connsiteY80" fmla="*/ 544513 h 931863"/>
                  <a:gd name="connsiteX81" fmla="*/ 502244 w 1306513"/>
                  <a:gd name="connsiteY81" fmla="*/ 544513 h 931863"/>
                  <a:gd name="connsiteX82" fmla="*/ 485775 w 1306513"/>
                  <a:gd name="connsiteY82" fmla="*/ 528638 h 931863"/>
                  <a:gd name="connsiteX83" fmla="*/ 502244 w 1306513"/>
                  <a:gd name="connsiteY83" fmla="*/ 512763 h 931863"/>
                  <a:gd name="connsiteX84" fmla="*/ 1166812 w 1306513"/>
                  <a:gd name="connsiteY84" fmla="*/ 449263 h 931863"/>
                  <a:gd name="connsiteX85" fmla="*/ 1119187 w 1306513"/>
                  <a:gd name="connsiteY85" fmla="*/ 496888 h 931863"/>
                  <a:gd name="connsiteX86" fmla="*/ 1166812 w 1306513"/>
                  <a:gd name="connsiteY86" fmla="*/ 544513 h 931863"/>
                  <a:gd name="connsiteX87" fmla="*/ 1214437 w 1306513"/>
                  <a:gd name="connsiteY87" fmla="*/ 496888 h 931863"/>
                  <a:gd name="connsiteX88" fmla="*/ 1166812 w 1306513"/>
                  <a:gd name="connsiteY88" fmla="*/ 449263 h 931863"/>
                  <a:gd name="connsiteX89" fmla="*/ 969169 w 1306513"/>
                  <a:gd name="connsiteY89" fmla="*/ 449263 h 931863"/>
                  <a:gd name="connsiteX90" fmla="*/ 922337 w 1306513"/>
                  <a:gd name="connsiteY90" fmla="*/ 497246 h 931863"/>
                  <a:gd name="connsiteX91" fmla="*/ 969169 w 1306513"/>
                  <a:gd name="connsiteY91" fmla="*/ 544513 h 931863"/>
                  <a:gd name="connsiteX92" fmla="*/ 1016000 w 1306513"/>
                  <a:gd name="connsiteY92" fmla="*/ 497246 h 931863"/>
                  <a:gd name="connsiteX93" fmla="*/ 969169 w 1306513"/>
                  <a:gd name="connsiteY93" fmla="*/ 449263 h 931863"/>
                  <a:gd name="connsiteX94" fmla="*/ 502213 w 1306513"/>
                  <a:gd name="connsiteY94" fmla="*/ 428625 h 931863"/>
                  <a:gd name="connsiteX95" fmla="*/ 813825 w 1306513"/>
                  <a:gd name="connsiteY95" fmla="*/ 428625 h 931863"/>
                  <a:gd name="connsiteX96" fmla="*/ 830263 w 1306513"/>
                  <a:gd name="connsiteY96" fmla="*/ 445294 h 931863"/>
                  <a:gd name="connsiteX97" fmla="*/ 813825 w 1306513"/>
                  <a:gd name="connsiteY97" fmla="*/ 461963 h 931863"/>
                  <a:gd name="connsiteX98" fmla="*/ 502213 w 1306513"/>
                  <a:gd name="connsiteY98" fmla="*/ 461963 h 931863"/>
                  <a:gd name="connsiteX99" fmla="*/ 485775 w 1306513"/>
                  <a:gd name="connsiteY99" fmla="*/ 445294 h 931863"/>
                  <a:gd name="connsiteX100" fmla="*/ 502213 w 1306513"/>
                  <a:gd name="connsiteY100" fmla="*/ 428625 h 931863"/>
                  <a:gd name="connsiteX101" fmla="*/ 79941 w 1306513"/>
                  <a:gd name="connsiteY101" fmla="*/ 428625 h 931863"/>
                  <a:gd name="connsiteX102" fmla="*/ 291533 w 1306513"/>
                  <a:gd name="connsiteY102" fmla="*/ 428625 h 931863"/>
                  <a:gd name="connsiteX103" fmla="*/ 307975 w 1306513"/>
                  <a:gd name="connsiteY103" fmla="*/ 445294 h 931863"/>
                  <a:gd name="connsiteX104" fmla="*/ 291533 w 1306513"/>
                  <a:gd name="connsiteY104" fmla="*/ 461963 h 931863"/>
                  <a:gd name="connsiteX105" fmla="*/ 79941 w 1306513"/>
                  <a:gd name="connsiteY105" fmla="*/ 461963 h 931863"/>
                  <a:gd name="connsiteX106" fmla="*/ 63500 w 1306513"/>
                  <a:gd name="connsiteY106" fmla="*/ 445294 h 931863"/>
                  <a:gd name="connsiteX107" fmla="*/ 79941 w 1306513"/>
                  <a:gd name="connsiteY107" fmla="*/ 428625 h 931863"/>
                  <a:gd name="connsiteX108" fmla="*/ 1133309 w 1306513"/>
                  <a:gd name="connsiteY108" fmla="*/ 377825 h 931863"/>
                  <a:gd name="connsiteX109" fmla="*/ 1067311 w 1306513"/>
                  <a:gd name="connsiteY109" fmla="*/ 411474 h 931863"/>
                  <a:gd name="connsiteX110" fmla="*/ 1002748 w 1306513"/>
                  <a:gd name="connsiteY110" fmla="*/ 378541 h 931863"/>
                  <a:gd name="connsiteX111" fmla="*/ 982662 w 1306513"/>
                  <a:gd name="connsiteY111" fmla="*/ 418633 h 931863"/>
                  <a:gd name="connsiteX112" fmla="*/ 1047225 w 1306513"/>
                  <a:gd name="connsiteY112" fmla="*/ 496670 h 931863"/>
                  <a:gd name="connsiteX113" fmla="*/ 1043638 w 1306513"/>
                  <a:gd name="connsiteY113" fmla="*/ 520295 h 931863"/>
                  <a:gd name="connsiteX114" fmla="*/ 1068029 w 1306513"/>
                  <a:gd name="connsiteY114" fmla="*/ 523875 h 931863"/>
                  <a:gd name="connsiteX115" fmla="*/ 1092419 w 1306513"/>
                  <a:gd name="connsiteY115" fmla="*/ 520295 h 931863"/>
                  <a:gd name="connsiteX116" fmla="*/ 1088115 w 1306513"/>
                  <a:gd name="connsiteY116" fmla="*/ 496670 h 931863"/>
                  <a:gd name="connsiteX117" fmla="*/ 1154112 w 1306513"/>
                  <a:gd name="connsiteY117" fmla="*/ 418633 h 931863"/>
                  <a:gd name="connsiteX118" fmla="*/ 1133309 w 1306513"/>
                  <a:gd name="connsiteY118" fmla="*/ 377825 h 931863"/>
                  <a:gd name="connsiteX119" fmla="*/ 79980 w 1306513"/>
                  <a:gd name="connsiteY119" fmla="*/ 346075 h 931863"/>
                  <a:gd name="connsiteX120" fmla="*/ 393095 w 1306513"/>
                  <a:gd name="connsiteY120" fmla="*/ 346075 h 931863"/>
                  <a:gd name="connsiteX121" fmla="*/ 409575 w 1306513"/>
                  <a:gd name="connsiteY121" fmla="*/ 362744 h 931863"/>
                  <a:gd name="connsiteX122" fmla="*/ 393095 w 1306513"/>
                  <a:gd name="connsiteY122" fmla="*/ 379413 h 931863"/>
                  <a:gd name="connsiteX123" fmla="*/ 79980 w 1306513"/>
                  <a:gd name="connsiteY123" fmla="*/ 379413 h 931863"/>
                  <a:gd name="connsiteX124" fmla="*/ 63500 w 1306513"/>
                  <a:gd name="connsiteY124" fmla="*/ 362744 h 931863"/>
                  <a:gd name="connsiteX125" fmla="*/ 79980 w 1306513"/>
                  <a:gd name="connsiteY125" fmla="*/ 346075 h 931863"/>
                  <a:gd name="connsiteX126" fmla="*/ 502244 w 1306513"/>
                  <a:gd name="connsiteY126" fmla="*/ 344488 h 931863"/>
                  <a:gd name="connsiteX127" fmla="*/ 805855 w 1306513"/>
                  <a:gd name="connsiteY127" fmla="*/ 344488 h 931863"/>
                  <a:gd name="connsiteX128" fmla="*/ 822325 w 1306513"/>
                  <a:gd name="connsiteY128" fmla="*/ 360363 h 931863"/>
                  <a:gd name="connsiteX129" fmla="*/ 805855 w 1306513"/>
                  <a:gd name="connsiteY129" fmla="*/ 376238 h 931863"/>
                  <a:gd name="connsiteX130" fmla="*/ 502244 w 1306513"/>
                  <a:gd name="connsiteY130" fmla="*/ 376238 h 931863"/>
                  <a:gd name="connsiteX131" fmla="*/ 485775 w 1306513"/>
                  <a:gd name="connsiteY131" fmla="*/ 360363 h 931863"/>
                  <a:gd name="connsiteX132" fmla="*/ 502244 w 1306513"/>
                  <a:gd name="connsiteY132" fmla="*/ 344488 h 931863"/>
                  <a:gd name="connsiteX133" fmla="*/ 1068387 w 1306513"/>
                  <a:gd name="connsiteY133" fmla="*/ 285750 h 931863"/>
                  <a:gd name="connsiteX134" fmla="*/ 1020762 w 1306513"/>
                  <a:gd name="connsiteY134" fmla="*/ 333375 h 931863"/>
                  <a:gd name="connsiteX135" fmla="*/ 1068387 w 1306513"/>
                  <a:gd name="connsiteY135" fmla="*/ 381000 h 931863"/>
                  <a:gd name="connsiteX136" fmla="*/ 1116012 w 1306513"/>
                  <a:gd name="connsiteY136" fmla="*/ 333375 h 931863"/>
                  <a:gd name="connsiteX137" fmla="*/ 1068387 w 1306513"/>
                  <a:gd name="connsiteY137" fmla="*/ 285750 h 931863"/>
                  <a:gd name="connsiteX138" fmla="*/ 502230 w 1306513"/>
                  <a:gd name="connsiteY138" fmla="*/ 258763 h 931863"/>
                  <a:gd name="connsiteX139" fmla="*/ 788408 w 1306513"/>
                  <a:gd name="connsiteY139" fmla="*/ 258763 h 931863"/>
                  <a:gd name="connsiteX140" fmla="*/ 804863 w 1306513"/>
                  <a:gd name="connsiteY140" fmla="*/ 274638 h 931863"/>
                  <a:gd name="connsiteX141" fmla="*/ 788408 w 1306513"/>
                  <a:gd name="connsiteY141" fmla="*/ 290513 h 931863"/>
                  <a:gd name="connsiteX142" fmla="*/ 502230 w 1306513"/>
                  <a:gd name="connsiteY142" fmla="*/ 290513 h 931863"/>
                  <a:gd name="connsiteX143" fmla="*/ 485775 w 1306513"/>
                  <a:gd name="connsiteY143" fmla="*/ 274638 h 931863"/>
                  <a:gd name="connsiteX144" fmla="*/ 502230 w 1306513"/>
                  <a:gd name="connsiteY144" fmla="*/ 258763 h 931863"/>
                  <a:gd name="connsiteX145" fmla="*/ 79955 w 1306513"/>
                  <a:gd name="connsiteY145" fmla="*/ 258763 h 931863"/>
                  <a:gd name="connsiteX146" fmla="*/ 366133 w 1306513"/>
                  <a:gd name="connsiteY146" fmla="*/ 258763 h 931863"/>
                  <a:gd name="connsiteX147" fmla="*/ 382588 w 1306513"/>
                  <a:gd name="connsiteY147" fmla="*/ 274638 h 931863"/>
                  <a:gd name="connsiteX148" fmla="*/ 366133 w 1306513"/>
                  <a:gd name="connsiteY148" fmla="*/ 290513 h 931863"/>
                  <a:gd name="connsiteX149" fmla="*/ 79955 w 1306513"/>
                  <a:gd name="connsiteY149" fmla="*/ 290513 h 931863"/>
                  <a:gd name="connsiteX150" fmla="*/ 63500 w 1306513"/>
                  <a:gd name="connsiteY150" fmla="*/ 274638 h 931863"/>
                  <a:gd name="connsiteX151" fmla="*/ 79955 w 1306513"/>
                  <a:gd name="connsiteY151" fmla="*/ 258763 h 931863"/>
                  <a:gd name="connsiteX152" fmla="*/ 1067673 w 1306513"/>
                  <a:gd name="connsiteY152" fmla="*/ 254000 h 931863"/>
                  <a:gd name="connsiteX153" fmla="*/ 1147647 w 1306513"/>
                  <a:gd name="connsiteY153" fmla="*/ 332562 h 931863"/>
                  <a:gd name="connsiteX154" fmla="*/ 1146219 w 1306513"/>
                  <a:gd name="connsiteY154" fmla="*/ 346132 h 931863"/>
                  <a:gd name="connsiteX155" fmla="*/ 1186207 w 1306513"/>
                  <a:gd name="connsiteY155" fmla="*/ 419694 h 931863"/>
                  <a:gd name="connsiteX156" fmla="*/ 1246187 w 1306513"/>
                  <a:gd name="connsiteY156" fmla="*/ 496113 h 931863"/>
                  <a:gd name="connsiteX157" fmla="*/ 1167641 w 1306513"/>
                  <a:gd name="connsiteY157" fmla="*/ 574675 h 931863"/>
                  <a:gd name="connsiteX158" fmla="*/ 1108374 w 1306513"/>
                  <a:gd name="connsiteY158" fmla="*/ 547536 h 931863"/>
                  <a:gd name="connsiteX159" fmla="*/ 1068387 w 1306513"/>
                  <a:gd name="connsiteY159" fmla="*/ 554678 h 931863"/>
                  <a:gd name="connsiteX160" fmla="*/ 1028400 w 1306513"/>
                  <a:gd name="connsiteY160" fmla="*/ 547536 h 931863"/>
                  <a:gd name="connsiteX161" fmla="*/ 969133 w 1306513"/>
                  <a:gd name="connsiteY161" fmla="*/ 574675 h 931863"/>
                  <a:gd name="connsiteX162" fmla="*/ 890587 w 1306513"/>
                  <a:gd name="connsiteY162" fmla="*/ 496113 h 931863"/>
                  <a:gd name="connsiteX163" fmla="*/ 951282 w 1306513"/>
                  <a:gd name="connsiteY163" fmla="*/ 418980 h 931863"/>
                  <a:gd name="connsiteX164" fmla="*/ 990555 w 1306513"/>
                  <a:gd name="connsiteY164" fmla="*/ 346846 h 931863"/>
                  <a:gd name="connsiteX165" fmla="*/ 989127 w 1306513"/>
                  <a:gd name="connsiteY165" fmla="*/ 332562 h 931863"/>
                  <a:gd name="connsiteX166" fmla="*/ 1067673 w 1306513"/>
                  <a:gd name="connsiteY166" fmla="*/ 254000 h 931863"/>
                  <a:gd name="connsiteX167" fmla="*/ 31750 w 1306513"/>
                  <a:gd name="connsiteY167" fmla="*/ 31750 h 931863"/>
                  <a:gd name="connsiteX168" fmla="*/ 31750 w 1306513"/>
                  <a:gd name="connsiteY168" fmla="*/ 900113 h 931863"/>
                  <a:gd name="connsiteX169" fmla="*/ 1274763 w 1306513"/>
                  <a:gd name="connsiteY169" fmla="*/ 900113 h 931863"/>
                  <a:gd name="connsiteX170" fmla="*/ 1274763 w 1306513"/>
                  <a:gd name="connsiteY170" fmla="*/ 31750 h 931863"/>
                  <a:gd name="connsiteX171" fmla="*/ 31750 w 1306513"/>
                  <a:gd name="connsiteY171" fmla="*/ 31750 h 931863"/>
                  <a:gd name="connsiteX172" fmla="*/ 15724 w 1306513"/>
                  <a:gd name="connsiteY172" fmla="*/ 0 h 931863"/>
                  <a:gd name="connsiteX173" fmla="*/ 1290789 w 1306513"/>
                  <a:gd name="connsiteY173" fmla="*/ 0 h 931863"/>
                  <a:gd name="connsiteX174" fmla="*/ 1306513 w 1306513"/>
                  <a:gd name="connsiteY174" fmla="*/ 15698 h 931863"/>
                  <a:gd name="connsiteX175" fmla="*/ 1306513 w 1306513"/>
                  <a:gd name="connsiteY175" fmla="*/ 916166 h 931863"/>
                  <a:gd name="connsiteX176" fmla="*/ 1290789 w 1306513"/>
                  <a:gd name="connsiteY176" fmla="*/ 931863 h 931863"/>
                  <a:gd name="connsiteX177" fmla="*/ 15724 w 1306513"/>
                  <a:gd name="connsiteY177" fmla="*/ 931863 h 931863"/>
                  <a:gd name="connsiteX178" fmla="*/ 0 w 1306513"/>
                  <a:gd name="connsiteY178" fmla="*/ 916166 h 931863"/>
                  <a:gd name="connsiteX179" fmla="*/ 0 w 1306513"/>
                  <a:gd name="connsiteY179" fmla="*/ 15698 h 931863"/>
                  <a:gd name="connsiteX180" fmla="*/ 15724 w 1306513"/>
                  <a:gd name="connsiteY180" fmla="*/ 0 h 931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306513" h="931863">
                    <a:moveTo>
                      <a:pt x="924442" y="836613"/>
                    </a:moveTo>
                    <a:cubicBezTo>
                      <a:pt x="924442" y="836613"/>
                      <a:pt x="924442" y="836613"/>
                      <a:pt x="1226621" y="836613"/>
                    </a:cubicBezTo>
                    <a:cubicBezTo>
                      <a:pt x="1235886" y="836613"/>
                      <a:pt x="1243013" y="844022"/>
                      <a:pt x="1243013" y="853653"/>
                    </a:cubicBezTo>
                    <a:cubicBezTo>
                      <a:pt x="1243013" y="862543"/>
                      <a:pt x="1235886" y="869951"/>
                      <a:pt x="1226621" y="869951"/>
                    </a:cubicBezTo>
                    <a:cubicBezTo>
                      <a:pt x="1226621" y="869951"/>
                      <a:pt x="1226621" y="869951"/>
                      <a:pt x="924442" y="869951"/>
                    </a:cubicBezTo>
                    <a:cubicBezTo>
                      <a:pt x="915177" y="869951"/>
                      <a:pt x="908050" y="862543"/>
                      <a:pt x="908050" y="853653"/>
                    </a:cubicBezTo>
                    <a:cubicBezTo>
                      <a:pt x="908050" y="844022"/>
                      <a:pt x="915177" y="836613"/>
                      <a:pt x="924442" y="836613"/>
                    </a:cubicBezTo>
                    <a:close/>
                    <a:moveTo>
                      <a:pt x="502244" y="836613"/>
                    </a:moveTo>
                    <a:cubicBezTo>
                      <a:pt x="502244" y="836613"/>
                      <a:pt x="502244" y="836613"/>
                      <a:pt x="805855" y="836613"/>
                    </a:cubicBezTo>
                    <a:cubicBezTo>
                      <a:pt x="815164" y="836613"/>
                      <a:pt x="822325" y="844022"/>
                      <a:pt x="822325" y="853653"/>
                    </a:cubicBezTo>
                    <a:cubicBezTo>
                      <a:pt x="822325" y="862543"/>
                      <a:pt x="815164" y="869951"/>
                      <a:pt x="805855" y="869951"/>
                    </a:cubicBezTo>
                    <a:cubicBezTo>
                      <a:pt x="805855" y="869951"/>
                      <a:pt x="805855" y="869951"/>
                      <a:pt x="502244" y="869951"/>
                    </a:cubicBezTo>
                    <a:cubicBezTo>
                      <a:pt x="492219" y="869951"/>
                      <a:pt x="485775" y="862543"/>
                      <a:pt x="485775" y="853653"/>
                    </a:cubicBezTo>
                    <a:cubicBezTo>
                      <a:pt x="485775" y="844022"/>
                      <a:pt x="492219" y="836613"/>
                      <a:pt x="502244" y="836613"/>
                    </a:cubicBezTo>
                    <a:close/>
                    <a:moveTo>
                      <a:pt x="79969" y="836613"/>
                    </a:moveTo>
                    <a:cubicBezTo>
                      <a:pt x="79969" y="836613"/>
                      <a:pt x="79969" y="836613"/>
                      <a:pt x="383580" y="836613"/>
                    </a:cubicBezTo>
                    <a:cubicBezTo>
                      <a:pt x="393605" y="836613"/>
                      <a:pt x="400050" y="844022"/>
                      <a:pt x="400050" y="853653"/>
                    </a:cubicBezTo>
                    <a:cubicBezTo>
                      <a:pt x="400050" y="862543"/>
                      <a:pt x="393605" y="869951"/>
                      <a:pt x="383580" y="869951"/>
                    </a:cubicBezTo>
                    <a:cubicBezTo>
                      <a:pt x="383580" y="869951"/>
                      <a:pt x="383580" y="869951"/>
                      <a:pt x="79969" y="869951"/>
                    </a:cubicBezTo>
                    <a:cubicBezTo>
                      <a:pt x="71376" y="869951"/>
                      <a:pt x="63500" y="862543"/>
                      <a:pt x="63500" y="853653"/>
                    </a:cubicBezTo>
                    <a:cubicBezTo>
                      <a:pt x="63500" y="844022"/>
                      <a:pt x="71376" y="836613"/>
                      <a:pt x="79969" y="836613"/>
                    </a:cubicBezTo>
                    <a:close/>
                    <a:moveTo>
                      <a:pt x="924487" y="762000"/>
                    </a:moveTo>
                    <a:cubicBezTo>
                      <a:pt x="924487" y="762000"/>
                      <a:pt x="924487" y="762000"/>
                      <a:pt x="1113864" y="762000"/>
                    </a:cubicBezTo>
                    <a:cubicBezTo>
                      <a:pt x="1123154" y="762000"/>
                      <a:pt x="1130300" y="769056"/>
                      <a:pt x="1130300" y="777522"/>
                    </a:cubicBezTo>
                    <a:cubicBezTo>
                      <a:pt x="1130300" y="786695"/>
                      <a:pt x="1123154" y="793750"/>
                      <a:pt x="1113864" y="793750"/>
                    </a:cubicBezTo>
                    <a:cubicBezTo>
                      <a:pt x="1113864" y="793750"/>
                      <a:pt x="1113864" y="793750"/>
                      <a:pt x="924487" y="793750"/>
                    </a:cubicBezTo>
                    <a:cubicBezTo>
                      <a:pt x="915197" y="793750"/>
                      <a:pt x="908050" y="786695"/>
                      <a:pt x="908050" y="777522"/>
                    </a:cubicBezTo>
                    <a:cubicBezTo>
                      <a:pt x="908050" y="769056"/>
                      <a:pt x="915197" y="762000"/>
                      <a:pt x="924487" y="762000"/>
                    </a:cubicBezTo>
                    <a:close/>
                    <a:moveTo>
                      <a:pt x="502211" y="762000"/>
                    </a:moveTo>
                    <a:cubicBezTo>
                      <a:pt x="502211" y="762000"/>
                      <a:pt x="502211" y="762000"/>
                      <a:pt x="691588" y="762000"/>
                    </a:cubicBezTo>
                    <a:cubicBezTo>
                      <a:pt x="700164" y="762000"/>
                      <a:pt x="708025" y="769056"/>
                      <a:pt x="708025" y="777522"/>
                    </a:cubicBezTo>
                    <a:cubicBezTo>
                      <a:pt x="708025" y="786695"/>
                      <a:pt x="700164" y="793750"/>
                      <a:pt x="691588" y="793750"/>
                    </a:cubicBezTo>
                    <a:cubicBezTo>
                      <a:pt x="691588" y="793750"/>
                      <a:pt x="691588" y="793750"/>
                      <a:pt x="502211" y="793750"/>
                    </a:cubicBezTo>
                    <a:cubicBezTo>
                      <a:pt x="492206" y="793750"/>
                      <a:pt x="485775" y="786695"/>
                      <a:pt x="485775" y="777522"/>
                    </a:cubicBezTo>
                    <a:cubicBezTo>
                      <a:pt x="485775" y="769056"/>
                      <a:pt x="492206" y="762000"/>
                      <a:pt x="502211" y="762000"/>
                    </a:cubicBezTo>
                    <a:close/>
                    <a:moveTo>
                      <a:pt x="79936" y="762000"/>
                    </a:moveTo>
                    <a:cubicBezTo>
                      <a:pt x="79936" y="762000"/>
                      <a:pt x="79936" y="762000"/>
                      <a:pt x="269313" y="762000"/>
                    </a:cubicBezTo>
                    <a:cubicBezTo>
                      <a:pt x="278603" y="762000"/>
                      <a:pt x="285750" y="769056"/>
                      <a:pt x="285750" y="777522"/>
                    </a:cubicBezTo>
                    <a:cubicBezTo>
                      <a:pt x="285750" y="786695"/>
                      <a:pt x="278603" y="793750"/>
                      <a:pt x="269313" y="793750"/>
                    </a:cubicBezTo>
                    <a:cubicBezTo>
                      <a:pt x="269313" y="793750"/>
                      <a:pt x="269313" y="793750"/>
                      <a:pt x="79936" y="793750"/>
                    </a:cubicBezTo>
                    <a:cubicBezTo>
                      <a:pt x="71361" y="793750"/>
                      <a:pt x="63500" y="786695"/>
                      <a:pt x="63500" y="777522"/>
                    </a:cubicBezTo>
                    <a:cubicBezTo>
                      <a:pt x="63500" y="769056"/>
                      <a:pt x="71361" y="762000"/>
                      <a:pt x="79936" y="762000"/>
                    </a:cubicBezTo>
                    <a:close/>
                    <a:moveTo>
                      <a:pt x="924442" y="681038"/>
                    </a:moveTo>
                    <a:cubicBezTo>
                      <a:pt x="924442" y="681038"/>
                      <a:pt x="924442" y="681038"/>
                      <a:pt x="1226621" y="681038"/>
                    </a:cubicBezTo>
                    <a:cubicBezTo>
                      <a:pt x="1235886" y="681038"/>
                      <a:pt x="1243013" y="689010"/>
                      <a:pt x="1243013" y="697707"/>
                    </a:cubicBezTo>
                    <a:cubicBezTo>
                      <a:pt x="1243013" y="706404"/>
                      <a:pt x="1235886" y="714376"/>
                      <a:pt x="1226621" y="714376"/>
                    </a:cubicBezTo>
                    <a:cubicBezTo>
                      <a:pt x="1226621" y="714376"/>
                      <a:pt x="1226621" y="714376"/>
                      <a:pt x="924442" y="714376"/>
                    </a:cubicBezTo>
                    <a:cubicBezTo>
                      <a:pt x="915177" y="714376"/>
                      <a:pt x="908050" y="706404"/>
                      <a:pt x="908050" y="697707"/>
                    </a:cubicBezTo>
                    <a:cubicBezTo>
                      <a:pt x="908050" y="689010"/>
                      <a:pt x="915177" y="681038"/>
                      <a:pt x="924442" y="681038"/>
                    </a:cubicBezTo>
                    <a:close/>
                    <a:moveTo>
                      <a:pt x="502244" y="681038"/>
                    </a:moveTo>
                    <a:cubicBezTo>
                      <a:pt x="502244" y="681038"/>
                      <a:pt x="502244" y="681038"/>
                      <a:pt x="805855" y="681038"/>
                    </a:cubicBezTo>
                    <a:cubicBezTo>
                      <a:pt x="815164" y="681038"/>
                      <a:pt x="822325" y="689010"/>
                      <a:pt x="822325" y="697707"/>
                    </a:cubicBezTo>
                    <a:cubicBezTo>
                      <a:pt x="822325" y="706404"/>
                      <a:pt x="815164" y="714376"/>
                      <a:pt x="805855" y="714376"/>
                    </a:cubicBezTo>
                    <a:cubicBezTo>
                      <a:pt x="805855" y="714376"/>
                      <a:pt x="805855" y="714376"/>
                      <a:pt x="502244" y="714376"/>
                    </a:cubicBezTo>
                    <a:cubicBezTo>
                      <a:pt x="492219" y="714376"/>
                      <a:pt x="485775" y="706404"/>
                      <a:pt x="485775" y="697707"/>
                    </a:cubicBezTo>
                    <a:cubicBezTo>
                      <a:pt x="485775" y="689010"/>
                      <a:pt x="492219" y="681038"/>
                      <a:pt x="502244" y="681038"/>
                    </a:cubicBezTo>
                    <a:close/>
                    <a:moveTo>
                      <a:pt x="79969" y="681038"/>
                    </a:moveTo>
                    <a:cubicBezTo>
                      <a:pt x="79969" y="681038"/>
                      <a:pt x="79969" y="681038"/>
                      <a:pt x="383580" y="681038"/>
                    </a:cubicBezTo>
                    <a:cubicBezTo>
                      <a:pt x="393605" y="681038"/>
                      <a:pt x="400050" y="689010"/>
                      <a:pt x="400050" y="697707"/>
                    </a:cubicBezTo>
                    <a:cubicBezTo>
                      <a:pt x="400050" y="706404"/>
                      <a:pt x="393605" y="714376"/>
                      <a:pt x="383580" y="714376"/>
                    </a:cubicBezTo>
                    <a:cubicBezTo>
                      <a:pt x="383580" y="714376"/>
                      <a:pt x="383580" y="714376"/>
                      <a:pt x="79969" y="714376"/>
                    </a:cubicBezTo>
                    <a:cubicBezTo>
                      <a:pt x="71376" y="714376"/>
                      <a:pt x="63500" y="706404"/>
                      <a:pt x="63500" y="697707"/>
                    </a:cubicBezTo>
                    <a:cubicBezTo>
                      <a:pt x="63500" y="689010"/>
                      <a:pt x="71376" y="681038"/>
                      <a:pt x="79969" y="681038"/>
                    </a:cubicBezTo>
                    <a:close/>
                    <a:moveTo>
                      <a:pt x="502230" y="595313"/>
                    </a:moveTo>
                    <a:cubicBezTo>
                      <a:pt x="502230" y="595313"/>
                      <a:pt x="502230" y="595313"/>
                      <a:pt x="788408" y="595313"/>
                    </a:cubicBezTo>
                    <a:cubicBezTo>
                      <a:pt x="796993" y="595313"/>
                      <a:pt x="804863" y="603285"/>
                      <a:pt x="804863" y="611982"/>
                    </a:cubicBezTo>
                    <a:cubicBezTo>
                      <a:pt x="804863" y="621404"/>
                      <a:pt x="796993" y="628651"/>
                      <a:pt x="788408" y="628651"/>
                    </a:cubicBezTo>
                    <a:cubicBezTo>
                      <a:pt x="788408" y="628651"/>
                      <a:pt x="788408" y="628651"/>
                      <a:pt x="502230" y="628651"/>
                    </a:cubicBezTo>
                    <a:cubicBezTo>
                      <a:pt x="492214" y="628651"/>
                      <a:pt x="485775" y="621404"/>
                      <a:pt x="485775" y="611982"/>
                    </a:cubicBezTo>
                    <a:cubicBezTo>
                      <a:pt x="485775" y="603285"/>
                      <a:pt x="492214" y="595313"/>
                      <a:pt x="502230" y="595313"/>
                    </a:cubicBezTo>
                    <a:close/>
                    <a:moveTo>
                      <a:pt x="79955" y="595313"/>
                    </a:moveTo>
                    <a:cubicBezTo>
                      <a:pt x="79955" y="595313"/>
                      <a:pt x="79955" y="595313"/>
                      <a:pt x="366133" y="595313"/>
                    </a:cubicBezTo>
                    <a:cubicBezTo>
                      <a:pt x="375433" y="595313"/>
                      <a:pt x="382588" y="603285"/>
                      <a:pt x="382588" y="611982"/>
                    </a:cubicBezTo>
                    <a:cubicBezTo>
                      <a:pt x="382588" y="621404"/>
                      <a:pt x="375433" y="628651"/>
                      <a:pt x="366133" y="628651"/>
                    </a:cubicBezTo>
                    <a:cubicBezTo>
                      <a:pt x="366133" y="628651"/>
                      <a:pt x="366133" y="628651"/>
                      <a:pt x="79955" y="628651"/>
                    </a:cubicBezTo>
                    <a:cubicBezTo>
                      <a:pt x="71370" y="628651"/>
                      <a:pt x="63500" y="621404"/>
                      <a:pt x="63500" y="611982"/>
                    </a:cubicBezTo>
                    <a:cubicBezTo>
                      <a:pt x="63500" y="603285"/>
                      <a:pt x="71370" y="595313"/>
                      <a:pt x="79955" y="595313"/>
                    </a:cubicBezTo>
                    <a:close/>
                    <a:moveTo>
                      <a:pt x="502244" y="512763"/>
                    </a:moveTo>
                    <a:cubicBezTo>
                      <a:pt x="502244" y="512763"/>
                      <a:pt x="502244" y="512763"/>
                      <a:pt x="805855" y="512763"/>
                    </a:cubicBezTo>
                    <a:cubicBezTo>
                      <a:pt x="815164" y="512763"/>
                      <a:pt x="822325" y="519665"/>
                      <a:pt x="822325" y="528638"/>
                    </a:cubicBezTo>
                    <a:cubicBezTo>
                      <a:pt x="822325" y="536921"/>
                      <a:pt x="815164" y="544513"/>
                      <a:pt x="805855" y="544513"/>
                    </a:cubicBezTo>
                    <a:cubicBezTo>
                      <a:pt x="805855" y="544513"/>
                      <a:pt x="805855" y="544513"/>
                      <a:pt x="502244" y="544513"/>
                    </a:cubicBezTo>
                    <a:cubicBezTo>
                      <a:pt x="492219" y="544513"/>
                      <a:pt x="485775" y="536921"/>
                      <a:pt x="485775" y="528638"/>
                    </a:cubicBezTo>
                    <a:cubicBezTo>
                      <a:pt x="485775" y="519665"/>
                      <a:pt x="492219" y="512763"/>
                      <a:pt x="502244" y="512763"/>
                    </a:cubicBezTo>
                    <a:close/>
                    <a:moveTo>
                      <a:pt x="1166812" y="449263"/>
                    </a:moveTo>
                    <a:cubicBezTo>
                      <a:pt x="1140509" y="449263"/>
                      <a:pt x="1119187" y="470585"/>
                      <a:pt x="1119187" y="496888"/>
                    </a:cubicBezTo>
                    <a:cubicBezTo>
                      <a:pt x="1119187" y="523191"/>
                      <a:pt x="1140509" y="544513"/>
                      <a:pt x="1166812" y="544513"/>
                    </a:cubicBezTo>
                    <a:cubicBezTo>
                      <a:pt x="1193115" y="544513"/>
                      <a:pt x="1214437" y="523191"/>
                      <a:pt x="1214437" y="496888"/>
                    </a:cubicBezTo>
                    <a:cubicBezTo>
                      <a:pt x="1214437" y="470585"/>
                      <a:pt x="1193115" y="449263"/>
                      <a:pt x="1166812" y="449263"/>
                    </a:cubicBezTo>
                    <a:close/>
                    <a:moveTo>
                      <a:pt x="969169" y="449263"/>
                    </a:moveTo>
                    <a:cubicBezTo>
                      <a:pt x="942915" y="449263"/>
                      <a:pt x="922337" y="470748"/>
                      <a:pt x="922337" y="497246"/>
                    </a:cubicBezTo>
                    <a:cubicBezTo>
                      <a:pt x="922337" y="523744"/>
                      <a:pt x="942915" y="544513"/>
                      <a:pt x="969169" y="544513"/>
                    </a:cubicBezTo>
                    <a:cubicBezTo>
                      <a:pt x="994713" y="544513"/>
                      <a:pt x="1016000" y="523028"/>
                      <a:pt x="1016000" y="497246"/>
                    </a:cubicBezTo>
                    <a:cubicBezTo>
                      <a:pt x="1016000" y="470748"/>
                      <a:pt x="994713" y="449263"/>
                      <a:pt x="969169" y="449263"/>
                    </a:cubicBezTo>
                    <a:close/>
                    <a:moveTo>
                      <a:pt x="502213" y="428625"/>
                    </a:moveTo>
                    <a:cubicBezTo>
                      <a:pt x="502213" y="428625"/>
                      <a:pt x="502213" y="428625"/>
                      <a:pt x="813825" y="428625"/>
                    </a:cubicBezTo>
                    <a:cubicBezTo>
                      <a:pt x="823116" y="428625"/>
                      <a:pt x="830263" y="436597"/>
                      <a:pt x="830263" y="445294"/>
                    </a:cubicBezTo>
                    <a:cubicBezTo>
                      <a:pt x="830263" y="454716"/>
                      <a:pt x="823116" y="461963"/>
                      <a:pt x="813825" y="461963"/>
                    </a:cubicBezTo>
                    <a:cubicBezTo>
                      <a:pt x="813825" y="461963"/>
                      <a:pt x="813825" y="461963"/>
                      <a:pt x="502213" y="461963"/>
                    </a:cubicBezTo>
                    <a:cubicBezTo>
                      <a:pt x="492207" y="461963"/>
                      <a:pt x="485775" y="454716"/>
                      <a:pt x="485775" y="445294"/>
                    </a:cubicBezTo>
                    <a:cubicBezTo>
                      <a:pt x="485775" y="436597"/>
                      <a:pt x="492207" y="428625"/>
                      <a:pt x="502213" y="428625"/>
                    </a:cubicBezTo>
                    <a:close/>
                    <a:moveTo>
                      <a:pt x="79941" y="428625"/>
                    </a:moveTo>
                    <a:cubicBezTo>
                      <a:pt x="79941" y="428625"/>
                      <a:pt x="79941" y="428625"/>
                      <a:pt x="291533" y="428625"/>
                    </a:cubicBezTo>
                    <a:cubicBezTo>
                      <a:pt x="301541" y="428625"/>
                      <a:pt x="307975" y="436597"/>
                      <a:pt x="307975" y="445294"/>
                    </a:cubicBezTo>
                    <a:cubicBezTo>
                      <a:pt x="307975" y="454716"/>
                      <a:pt x="301541" y="461963"/>
                      <a:pt x="291533" y="461963"/>
                    </a:cubicBezTo>
                    <a:cubicBezTo>
                      <a:pt x="291533" y="461963"/>
                      <a:pt x="291533" y="461963"/>
                      <a:pt x="79941" y="461963"/>
                    </a:cubicBezTo>
                    <a:cubicBezTo>
                      <a:pt x="71363" y="461963"/>
                      <a:pt x="63500" y="454716"/>
                      <a:pt x="63500" y="445294"/>
                    </a:cubicBezTo>
                    <a:cubicBezTo>
                      <a:pt x="63500" y="436597"/>
                      <a:pt x="71363" y="428625"/>
                      <a:pt x="79941" y="428625"/>
                    </a:cubicBezTo>
                    <a:close/>
                    <a:moveTo>
                      <a:pt x="1133309" y="377825"/>
                    </a:moveTo>
                    <a:cubicBezTo>
                      <a:pt x="1118961" y="398587"/>
                      <a:pt x="1094571" y="411474"/>
                      <a:pt x="1067311" y="411474"/>
                    </a:cubicBezTo>
                    <a:cubicBezTo>
                      <a:pt x="1040769" y="411474"/>
                      <a:pt x="1017096" y="398587"/>
                      <a:pt x="1002748" y="378541"/>
                    </a:cubicBezTo>
                    <a:cubicBezTo>
                      <a:pt x="992705" y="389280"/>
                      <a:pt x="985532" y="403599"/>
                      <a:pt x="982662" y="418633"/>
                    </a:cubicBezTo>
                    <a:cubicBezTo>
                      <a:pt x="1019248" y="425793"/>
                      <a:pt x="1047225" y="458009"/>
                      <a:pt x="1047225" y="496670"/>
                    </a:cubicBezTo>
                    <a:cubicBezTo>
                      <a:pt x="1047225" y="504545"/>
                      <a:pt x="1045790" y="512420"/>
                      <a:pt x="1043638" y="520295"/>
                    </a:cubicBezTo>
                    <a:cubicBezTo>
                      <a:pt x="1051529" y="522443"/>
                      <a:pt x="1059420" y="523875"/>
                      <a:pt x="1068029" y="523875"/>
                    </a:cubicBezTo>
                    <a:cubicBezTo>
                      <a:pt x="1076637" y="523875"/>
                      <a:pt x="1084528" y="522443"/>
                      <a:pt x="1092419" y="520295"/>
                    </a:cubicBezTo>
                    <a:cubicBezTo>
                      <a:pt x="1089549" y="513136"/>
                      <a:pt x="1088115" y="504545"/>
                      <a:pt x="1088115" y="496670"/>
                    </a:cubicBezTo>
                    <a:cubicBezTo>
                      <a:pt x="1088115" y="457294"/>
                      <a:pt x="1116809" y="425077"/>
                      <a:pt x="1154112" y="418633"/>
                    </a:cubicBezTo>
                    <a:cubicBezTo>
                      <a:pt x="1150525" y="402883"/>
                      <a:pt x="1143352" y="389280"/>
                      <a:pt x="1133309" y="377825"/>
                    </a:cubicBezTo>
                    <a:close/>
                    <a:moveTo>
                      <a:pt x="79980" y="346075"/>
                    </a:moveTo>
                    <a:cubicBezTo>
                      <a:pt x="79980" y="346075"/>
                      <a:pt x="79980" y="346075"/>
                      <a:pt x="393095" y="346075"/>
                    </a:cubicBezTo>
                    <a:cubicBezTo>
                      <a:pt x="401693" y="346075"/>
                      <a:pt x="409575" y="353323"/>
                      <a:pt x="409575" y="362744"/>
                    </a:cubicBezTo>
                    <a:cubicBezTo>
                      <a:pt x="409575" y="371441"/>
                      <a:pt x="401693" y="379413"/>
                      <a:pt x="393095" y="379413"/>
                    </a:cubicBezTo>
                    <a:cubicBezTo>
                      <a:pt x="393095" y="379413"/>
                      <a:pt x="393095" y="379413"/>
                      <a:pt x="79980" y="379413"/>
                    </a:cubicBezTo>
                    <a:cubicBezTo>
                      <a:pt x="71381" y="379413"/>
                      <a:pt x="63500" y="371441"/>
                      <a:pt x="63500" y="362744"/>
                    </a:cubicBezTo>
                    <a:cubicBezTo>
                      <a:pt x="63500" y="353323"/>
                      <a:pt x="71381" y="346075"/>
                      <a:pt x="79980" y="346075"/>
                    </a:cubicBezTo>
                    <a:close/>
                    <a:moveTo>
                      <a:pt x="502244" y="344488"/>
                    </a:moveTo>
                    <a:cubicBezTo>
                      <a:pt x="502244" y="344488"/>
                      <a:pt x="502244" y="344488"/>
                      <a:pt x="805855" y="344488"/>
                    </a:cubicBezTo>
                    <a:cubicBezTo>
                      <a:pt x="815164" y="344488"/>
                      <a:pt x="822325" y="351390"/>
                      <a:pt x="822325" y="360363"/>
                    </a:cubicBezTo>
                    <a:cubicBezTo>
                      <a:pt x="822325" y="368646"/>
                      <a:pt x="815164" y="376238"/>
                      <a:pt x="805855" y="376238"/>
                    </a:cubicBezTo>
                    <a:cubicBezTo>
                      <a:pt x="805855" y="376238"/>
                      <a:pt x="805855" y="376238"/>
                      <a:pt x="502244" y="376238"/>
                    </a:cubicBezTo>
                    <a:cubicBezTo>
                      <a:pt x="492219" y="376238"/>
                      <a:pt x="485775" y="368646"/>
                      <a:pt x="485775" y="360363"/>
                    </a:cubicBezTo>
                    <a:cubicBezTo>
                      <a:pt x="485775" y="351390"/>
                      <a:pt x="492219" y="344488"/>
                      <a:pt x="502244" y="344488"/>
                    </a:cubicBezTo>
                    <a:close/>
                    <a:moveTo>
                      <a:pt x="1068387" y="285750"/>
                    </a:moveTo>
                    <a:cubicBezTo>
                      <a:pt x="1042084" y="285750"/>
                      <a:pt x="1020762" y="307072"/>
                      <a:pt x="1020762" y="333375"/>
                    </a:cubicBezTo>
                    <a:cubicBezTo>
                      <a:pt x="1020762" y="359678"/>
                      <a:pt x="1042084" y="381000"/>
                      <a:pt x="1068387" y="381000"/>
                    </a:cubicBezTo>
                    <a:cubicBezTo>
                      <a:pt x="1094690" y="381000"/>
                      <a:pt x="1116012" y="359678"/>
                      <a:pt x="1116012" y="333375"/>
                    </a:cubicBezTo>
                    <a:cubicBezTo>
                      <a:pt x="1116012" y="307072"/>
                      <a:pt x="1094690" y="285750"/>
                      <a:pt x="1068387" y="285750"/>
                    </a:cubicBezTo>
                    <a:close/>
                    <a:moveTo>
                      <a:pt x="502230" y="258763"/>
                    </a:moveTo>
                    <a:cubicBezTo>
                      <a:pt x="502230" y="258763"/>
                      <a:pt x="502230" y="258763"/>
                      <a:pt x="788408" y="258763"/>
                    </a:cubicBezTo>
                    <a:cubicBezTo>
                      <a:pt x="796993" y="258763"/>
                      <a:pt x="804863" y="266356"/>
                      <a:pt x="804863" y="274638"/>
                    </a:cubicBezTo>
                    <a:cubicBezTo>
                      <a:pt x="804863" y="284301"/>
                      <a:pt x="796993" y="290513"/>
                      <a:pt x="788408" y="290513"/>
                    </a:cubicBezTo>
                    <a:cubicBezTo>
                      <a:pt x="788408" y="290513"/>
                      <a:pt x="788408" y="290513"/>
                      <a:pt x="502230" y="290513"/>
                    </a:cubicBezTo>
                    <a:cubicBezTo>
                      <a:pt x="492214" y="290513"/>
                      <a:pt x="485775" y="284301"/>
                      <a:pt x="485775" y="274638"/>
                    </a:cubicBezTo>
                    <a:cubicBezTo>
                      <a:pt x="485775" y="266356"/>
                      <a:pt x="492214" y="258763"/>
                      <a:pt x="502230" y="258763"/>
                    </a:cubicBezTo>
                    <a:close/>
                    <a:moveTo>
                      <a:pt x="79955" y="258763"/>
                    </a:moveTo>
                    <a:cubicBezTo>
                      <a:pt x="79955" y="258763"/>
                      <a:pt x="79955" y="258763"/>
                      <a:pt x="366133" y="258763"/>
                    </a:cubicBezTo>
                    <a:cubicBezTo>
                      <a:pt x="375433" y="258763"/>
                      <a:pt x="382588" y="266356"/>
                      <a:pt x="382588" y="274638"/>
                    </a:cubicBezTo>
                    <a:cubicBezTo>
                      <a:pt x="382588" y="284301"/>
                      <a:pt x="375433" y="290513"/>
                      <a:pt x="366133" y="290513"/>
                    </a:cubicBezTo>
                    <a:cubicBezTo>
                      <a:pt x="366133" y="290513"/>
                      <a:pt x="366133" y="290513"/>
                      <a:pt x="79955" y="290513"/>
                    </a:cubicBezTo>
                    <a:cubicBezTo>
                      <a:pt x="71370" y="290513"/>
                      <a:pt x="63500" y="284301"/>
                      <a:pt x="63500" y="274638"/>
                    </a:cubicBezTo>
                    <a:cubicBezTo>
                      <a:pt x="63500" y="266356"/>
                      <a:pt x="71370" y="258763"/>
                      <a:pt x="79955" y="258763"/>
                    </a:cubicBezTo>
                    <a:close/>
                    <a:moveTo>
                      <a:pt x="1067673" y="254000"/>
                    </a:moveTo>
                    <a:cubicBezTo>
                      <a:pt x="1111945" y="254000"/>
                      <a:pt x="1147647" y="288996"/>
                      <a:pt x="1147647" y="332562"/>
                    </a:cubicBezTo>
                    <a:cubicBezTo>
                      <a:pt x="1147647" y="337561"/>
                      <a:pt x="1146933" y="341847"/>
                      <a:pt x="1146219" y="346132"/>
                    </a:cubicBezTo>
                    <a:cubicBezTo>
                      <a:pt x="1166927" y="364701"/>
                      <a:pt x="1181922" y="390412"/>
                      <a:pt x="1186207" y="419694"/>
                    </a:cubicBezTo>
                    <a:cubicBezTo>
                      <a:pt x="1220481" y="427550"/>
                      <a:pt x="1246187" y="458975"/>
                      <a:pt x="1246187" y="496113"/>
                    </a:cubicBezTo>
                    <a:cubicBezTo>
                      <a:pt x="1246187" y="539679"/>
                      <a:pt x="1211198" y="574675"/>
                      <a:pt x="1167641" y="574675"/>
                    </a:cubicBezTo>
                    <a:cubicBezTo>
                      <a:pt x="1144077" y="574675"/>
                      <a:pt x="1122656" y="563962"/>
                      <a:pt x="1108374" y="547536"/>
                    </a:cubicBezTo>
                    <a:cubicBezTo>
                      <a:pt x="1095521" y="552535"/>
                      <a:pt x="1082668" y="554678"/>
                      <a:pt x="1068387" y="554678"/>
                    </a:cubicBezTo>
                    <a:cubicBezTo>
                      <a:pt x="1054820" y="554678"/>
                      <a:pt x="1040539" y="552535"/>
                      <a:pt x="1028400" y="547536"/>
                    </a:cubicBezTo>
                    <a:cubicBezTo>
                      <a:pt x="1013405" y="563962"/>
                      <a:pt x="992697" y="574675"/>
                      <a:pt x="969133" y="574675"/>
                    </a:cubicBezTo>
                    <a:cubicBezTo>
                      <a:pt x="925576" y="574675"/>
                      <a:pt x="890587" y="539679"/>
                      <a:pt x="890587" y="496113"/>
                    </a:cubicBezTo>
                    <a:cubicBezTo>
                      <a:pt x="890587" y="458261"/>
                      <a:pt x="916293" y="427550"/>
                      <a:pt x="951282" y="418980"/>
                    </a:cubicBezTo>
                    <a:cubicBezTo>
                      <a:pt x="955566" y="390412"/>
                      <a:pt x="969847" y="364701"/>
                      <a:pt x="990555" y="346846"/>
                    </a:cubicBezTo>
                    <a:cubicBezTo>
                      <a:pt x="989841" y="342561"/>
                      <a:pt x="989127" y="337561"/>
                      <a:pt x="989127" y="332562"/>
                    </a:cubicBezTo>
                    <a:cubicBezTo>
                      <a:pt x="989127" y="288996"/>
                      <a:pt x="1024116" y="254000"/>
                      <a:pt x="1067673" y="254000"/>
                    </a:cubicBezTo>
                    <a:close/>
                    <a:moveTo>
                      <a:pt x="31750" y="31750"/>
                    </a:moveTo>
                    <a:cubicBezTo>
                      <a:pt x="31750" y="900113"/>
                      <a:pt x="31750" y="900113"/>
                      <a:pt x="31750" y="900113"/>
                    </a:cubicBezTo>
                    <a:cubicBezTo>
                      <a:pt x="1274763" y="900113"/>
                      <a:pt x="1274763" y="900113"/>
                      <a:pt x="1274763" y="900113"/>
                    </a:cubicBezTo>
                    <a:cubicBezTo>
                      <a:pt x="1274763" y="31750"/>
                      <a:pt x="1274763" y="31750"/>
                      <a:pt x="1274763" y="31750"/>
                    </a:cubicBezTo>
                    <a:cubicBezTo>
                      <a:pt x="31750" y="31750"/>
                      <a:pt x="31750" y="31750"/>
                      <a:pt x="31750" y="31750"/>
                    </a:cubicBezTo>
                    <a:close/>
                    <a:moveTo>
                      <a:pt x="15724" y="0"/>
                    </a:moveTo>
                    <a:cubicBezTo>
                      <a:pt x="15724" y="0"/>
                      <a:pt x="15724" y="0"/>
                      <a:pt x="1290789" y="0"/>
                    </a:cubicBezTo>
                    <a:cubicBezTo>
                      <a:pt x="1299366" y="0"/>
                      <a:pt x="1306513" y="6422"/>
                      <a:pt x="1306513" y="15698"/>
                    </a:cubicBezTo>
                    <a:cubicBezTo>
                      <a:pt x="1306513" y="15698"/>
                      <a:pt x="1306513" y="15698"/>
                      <a:pt x="1306513" y="916166"/>
                    </a:cubicBezTo>
                    <a:cubicBezTo>
                      <a:pt x="1306513" y="925441"/>
                      <a:pt x="1299366" y="931863"/>
                      <a:pt x="1290789" y="931863"/>
                    </a:cubicBezTo>
                    <a:cubicBezTo>
                      <a:pt x="1290789" y="931863"/>
                      <a:pt x="1290789" y="931863"/>
                      <a:pt x="15724" y="931863"/>
                    </a:cubicBezTo>
                    <a:cubicBezTo>
                      <a:pt x="7147" y="931863"/>
                      <a:pt x="0" y="925441"/>
                      <a:pt x="0" y="916166"/>
                    </a:cubicBezTo>
                    <a:cubicBezTo>
                      <a:pt x="0" y="916166"/>
                      <a:pt x="0" y="916166"/>
                      <a:pt x="0" y="15698"/>
                    </a:cubicBezTo>
                    <a:cubicBezTo>
                      <a:pt x="0" y="6422"/>
                      <a:pt x="7147" y="0"/>
                      <a:pt x="15724"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20" name="Freeform 12">
                <a:extLst>
                  <a:ext uri="{FF2B5EF4-FFF2-40B4-BE49-F238E27FC236}">
                    <a16:creationId xmlns:a16="http://schemas.microsoft.com/office/drawing/2014/main" id="{5D42EB40-D393-D966-6A92-44E0FCA34BB3}"/>
                  </a:ext>
                </a:extLst>
              </p:cNvPr>
              <p:cNvSpPr>
                <a:spLocks/>
              </p:cNvSpPr>
              <p:nvPr/>
            </p:nvSpPr>
            <p:spPr bwMode="auto">
              <a:xfrm>
                <a:off x="6697663" y="3025775"/>
                <a:ext cx="1135063" cy="449263"/>
              </a:xfrm>
              <a:custGeom>
                <a:avLst/>
                <a:gdLst>
                  <a:gd name="connsiteX0" fmla="*/ 1087718 w 1135063"/>
                  <a:gd name="connsiteY0" fmla="*/ 417513 h 449263"/>
                  <a:gd name="connsiteX1" fmla="*/ 1121224 w 1135063"/>
                  <a:gd name="connsiteY1" fmla="*/ 417513 h 449263"/>
                  <a:gd name="connsiteX2" fmla="*/ 1135063 w 1135063"/>
                  <a:gd name="connsiteY2" fmla="*/ 433388 h 449263"/>
                  <a:gd name="connsiteX3" fmla="*/ 1121224 w 1135063"/>
                  <a:gd name="connsiteY3" fmla="*/ 449263 h 449263"/>
                  <a:gd name="connsiteX4" fmla="*/ 1087718 w 1135063"/>
                  <a:gd name="connsiteY4" fmla="*/ 449263 h 449263"/>
                  <a:gd name="connsiteX5" fmla="*/ 1073150 w 1135063"/>
                  <a:gd name="connsiteY5" fmla="*/ 433388 h 449263"/>
                  <a:gd name="connsiteX6" fmla="*/ 1087718 w 1135063"/>
                  <a:gd name="connsiteY6" fmla="*/ 417513 h 449263"/>
                  <a:gd name="connsiteX7" fmla="*/ 888906 w 1135063"/>
                  <a:gd name="connsiteY7" fmla="*/ 417513 h 449263"/>
                  <a:gd name="connsiteX8" fmla="*/ 921553 w 1135063"/>
                  <a:gd name="connsiteY8" fmla="*/ 417513 h 449263"/>
                  <a:gd name="connsiteX9" fmla="*/ 935037 w 1135063"/>
                  <a:gd name="connsiteY9" fmla="*/ 433388 h 449263"/>
                  <a:gd name="connsiteX10" fmla="*/ 921553 w 1135063"/>
                  <a:gd name="connsiteY10" fmla="*/ 449263 h 449263"/>
                  <a:gd name="connsiteX11" fmla="*/ 888906 w 1135063"/>
                  <a:gd name="connsiteY11" fmla="*/ 449263 h 449263"/>
                  <a:gd name="connsiteX12" fmla="*/ 874712 w 1135063"/>
                  <a:gd name="connsiteY12" fmla="*/ 433388 h 449263"/>
                  <a:gd name="connsiteX13" fmla="*/ 888906 w 1135063"/>
                  <a:gd name="connsiteY13" fmla="*/ 417513 h 449263"/>
                  <a:gd name="connsiteX14" fmla="*/ 988919 w 1135063"/>
                  <a:gd name="connsiteY14" fmla="*/ 254000 h 449263"/>
                  <a:gd name="connsiteX15" fmla="*/ 1021566 w 1135063"/>
                  <a:gd name="connsiteY15" fmla="*/ 254000 h 449263"/>
                  <a:gd name="connsiteX16" fmla="*/ 1035050 w 1135063"/>
                  <a:gd name="connsiteY16" fmla="*/ 269875 h 449263"/>
                  <a:gd name="connsiteX17" fmla="*/ 1021566 w 1135063"/>
                  <a:gd name="connsiteY17" fmla="*/ 285750 h 449263"/>
                  <a:gd name="connsiteX18" fmla="*/ 988919 w 1135063"/>
                  <a:gd name="connsiteY18" fmla="*/ 285750 h 449263"/>
                  <a:gd name="connsiteX19" fmla="*/ 974725 w 1135063"/>
                  <a:gd name="connsiteY19" fmla="*/ 269875 h 449263"/>
                  <a:gd name="connsiteX20" fmla="*/ 988919 w 1135063"/>
                  <a:gd name="connsiteY20" fmla="*/ 254000 h 449263"/>
                  <a:gd name="connsiteX21" fmla="*/ 16428 w 1135063"/>
                  <a:gd name="connsiteY21" fmla="*/ 82550 h 449263"/>
                  <a:gd name="connsiteX22" fmla="*/ 532847 w 1135063"/>
                  <a:gd name="connsiteY22" fmla="*/ 82550 h 449263"/>
                  <a:gd name="connsiteX23" fmla="*/ 549275 w 1135063"/>
                  <a:gd name="connsiteY23" fmla="*/ 98425 h 449263"/>
                  <a:gd name="connsiteX24" fmla="*/ 532847 w 1135063"/>
                  <a:gd name="connsiteY24" fmla="*/ 114300 h 449263"/>
                  <a:gd name="connsiteX25" fmla="*/ 16428 w 1135063"/>
                  <a:gd name="connsiteY25" fmla="*/ 114300 h 449263"/>
                  <a:gd name="connsiteX26" fmla="*/ 0 w 1135063"/>
                  <a:gd name="connsiteY26" fmla="*/ 98425 h 449263"/>
                  <a:gd name="connsiteX27" fmla="*/ 16428 w 1135063"/>
                  <a:gd name="connsiteY27" fmla="*/ 82550 h 449263"/>
                  <a:gd name="connsiteX28" fmla="*/ 16436 w 1135063"/>
                  <a:gd name="connsiteY28" fmla="*/ 0 h 449263"/>
                  <a:gd name="connsiteX29" fmla="*/ 751042 w 1135063"/>
                  <a:gd name="connsiteY29" fmla="*/ 0 h 449263"/>
                  <a:gd name="connsiteX30" fmla="*/ 766763 w 1135063"/>
                  <a:gd name="connsiteY30" fmla="*/ 15522 h 449263"/>
                  <a:gd name="connsiteX31" fmla="*/ 751042 w 1135063"/>
                  <a:gd name="connsiteY31" fmla="*/ 31750 h 449263"/>
                  <a:gd name="connsiteX32" fmla="*/ 16436 w 1135063"/>
                  <a:gd name="connsiteY32" fmla="*/ 31750 h 449263"/>
                  <a:gd name="connsiteX33" fmla="*/ 0 w 1135063"/>
                  <a:gd name="connsiteY33" fmla="*/ 15522 h 449263"/>
                  <a:gd name="connsiteX34" fmla="*/ 16436 w 1135063"/>
                  <a:gd name="connsiteY34" fmla="*/ 0 h 449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135063" h="449263">
                    <a:moveTo>
                      <a:pt x="1087718" y="417513"/>
                    </a:moveTo>
                    <a:cubicBezTo>
                      <a:pt x="1087718" y="417513"/>
                      <a:pt x="1087718" y="417513"/>
                      <a:pt x="1121224" y="417513"/>
                    </a:cubicBezTo>
                    <a:cubicBezTo>
                      <a:pt x="1128508" y="417513"/>
                      <a:pt x="1135063" y="424729"/>
                      <a:pt x="1135063" y="433388"/>
                    </a:cubicBezTo>
                    <a:cubicBezTo>
                      <a:pt x="1135063" y="442047"/>
                      <a:pt x="1128508" y="449263"/>
                      <a:pt x="1121224" y="449263"/>
                    </a:cubicBezTo>
                    <a:cubicBezTo>
                      <a:pt x="1121224" y="449263"/>
                      <a:pt x="1121224" y="449263"/>
                      <a:pt x="1087718" y="449263"/>
                    </a:cubicBezTo>
                    <a:cubicBezTo>
                      <a:pt x="1079706" y="449263"/>
                      <a:pt x="1073150" y="442047"/>
                      <a:pt x="1073150" y="433388"/>
                    </a:cubicBezTo>
                    <a:cubicBezTo>
                      <a:pt x="1073150" y="424729"/>
                      <a:pt x="1079706" y="417513"/>
                      <a:pt x="1087718" y="417513"/>
                    </a:cubicBezTo>
                    <a:close/>
                    <a:moveTo>
                      <a:pt x="888906" y="417513"/>
                    </a:moveTo>
                    <a:cubicBezTo>
                      <a:pt x="888906" y="417513"/>
                      <a:pt x="888906" y="417513"/>
                      <a:pt x="921553" y="417513"/>
                    </a:cubicBezTo>
                    <a:cubicBezTo>
                      <a:pt x="929360" y="417513"/>
                      <a:pt x="935037" y="424729"/>
                      <a:pt x="935037" y="433388"/>
                    </a:cubicBezTo>
                    <a:cubicBezTo>
                      <a:pt x="935037" y="442047"/>
                      <a:pt x="929360" y="449263"/>
                      <a:pt x="921553" y="449263"/>
                    </a:cubicBezTo>
                    <a:cubicBezTo>
                      <a:pt x="921553" y="449263"/>
                      <a:pt x="921553" y="449263"/>
                      <a:pt x="888906" y="449263"/>
                    </a:cubicBezTo>
                    <a:cubicBezTo>
                      <a:pt x="881100" y="449263"/>
                      <a:pt x="874712" y="442047"/>
                      <a:pt x="874712" y="433388"/>
                    </a:cubicBezTo>
                    <a:cubicBezTo>
                      <a:pt x="874712" y="424729"/>
                      <a:pt x="881100" y="417513"/>
                      <a:pt x="888906" y="417513"/>
                    </a:cubicBezTo>
                    <a:close/>
                    <a:moveTo>
                      <a:pt x="988919" y="254000"/>
                    </a:moveTo>
                    <a:cubicBezTo>
                      <a:pt x="988919" y="254000"/>
                      <a:pt x="988919" y="254000"/>
                      <a:pt x="1021566" y="254000"/>
                    </a:cubicBezTo>
                    <a:cubicBezTo>
                      <a:pt x="1029373" y="254000"/>
                      <a:pt x="1035050" y="261216"/>
                      <a:pt x="1035050" y="269875"/>
                    </a:cubicBezTo>
                    <a:cubicBezTo>
                      <a:pt x="1035050" y="278534"/>
                      <a:pt x="1029373" y="285750"/>
                      <a:pt x="1021566" y="285750"/>
                    </a:cubicBezTo>
                    <a:cubicBezTo>
                      <a:pt x="1021566" y="285750"/>
                      <a:pt x="1021566" y="285750"/>
                      <a:pt x="988919" y="285750"/>
                    </a:cubicBezTo>
                    <a:cubicBezTo>
                      <a:pt x="981113" y="285750"/>
                      <a:pt x="974725" y="278534"/>
                      <a:pt x="974725" y="269875"/>
                    </a:cubicBezTo>
                    <a:cubicBezTo>
                      <a:pt x="974725" y="261216"/>
                      <a:pt x="981113" y="254000"/>
                      <a:pt x="988919" y="254000"/>
                    </a:cubicBezTo>
                    <a:close/>
                    <a:moveTo>
                      <a:pt x="16428" y="82550"/>
                    </a:moveTo>
                    <a:cubicBezTo>
                      <a:pt x="16428" y="82550"/>
                      <a:pt x="16428" y="82550"/>
                      <a:pt x="532847" y="82550"/>
                    </a:cubicBezTo>
                    <a:cubicBezTo>
                      <a:pt x="542133" y="82550"/>
                      <a:pt x="549275" y="89452"/>
                      <a:pt x="549275" y="98425"/>
                    </a:cubicBezTo>
                    <a:cubicBezTo>
                      <a:pt x="549275" y="106708"/>
                      <a:pt x="542133" y="114300"/>
                      <a:pt x="532847" y="114300"/>
                    </a:cubicBezTo>
                    <a:cubicBezTo>
                      <a:pt x="532847" y="114300"/>
                      <a:pt x="532847" y="114300"/>
                      <a:pt x="16428" y="114300"/>
                    </a:cubicBezTo>
                    <a:cubicBezTo>
                      <a:pt x="7143" y="114300"/>
                      <a:pt x="0" y="106708"/>
                      <a:pt x="0" y="98425"/>
                    </a:cubicBezTo>
                    <a:cubicBezTo>
                      <a:pt x="0" y="89452"/>
                      <a:pt x="7143" y="82550"/>
                      <a:pt x="16428" y="82550"/>
                    </a:cubicBezTo>
                    <a:close/>
                    <a:moveTo>
                      <a:pt x="16436" y="0"/>
                    </a:moveTo>
                    <a:cubicBezTo>
                      <a:pt x="751042" y="0"/>
                      <a:pt x="751042" y="0"/>
                      <a:pt x="751042" y="0"/>
                    </a:cubicBezTo>
                    <a:cubicBezTo>
                      <a:pt x="759617" y="0"/>
                      <a:pt x="766763" y="7056"/>
                      <a:pt x="766763" y="15522"/>
                    </a:cubicBezTo>
                    <a:cubicBezTo>
                      <a:pt x="766763" y="24695"/>
                      <a:pt x="759617" y="31750"/>
                      <a:pt x="751042" y="31750"/>
                    </a:cubicBezTo>
                    <a:cubicBezTo>
                      <a:pt x="16436" y="31750"/>
                      <a:pt x="16436" y="31750"/>
                      <a:pt x="16436" y="31750"/>
                    </a:cubicBezTo>
                    <a:cubicBezTo>
                      <a:pt x="7146" y="31750"/>
                      <a:pt x="0" y="24695"/>
                      <a:pt x="0" y="15522"/>
                    </a:cubicBezTo>
                    <a:cubicBezTo>
                      <a:pt x="0" y="7056"/>
                      <a:pt x="7146" y="0"/>
                      <a:pt x="16436" y="0"/>
                    </a:cubicBezTo>
                    <a:close/>
                  </a:path>
                </a:pathLst>
              </a:custGeom>
              <a:solidFill>
                <a:schemeClr val="tx2"/>
              </a:solidFill>
              <a:ln>
                <a:noFill/>
              </a:ln>
            </p:spPr>
            <p:txBody>
              <a:bodyPr vert="horz" wrap="square" lIns="91440" tIns="45720" rIns="91440" bIns="45720" numCol="1" anchor="t" anchorCtr="0" compatLnSpc="1">
                <a:prstTxWarp prst="textNoShape">
                  <a:avLst/>
                </a:prstTxWarp>
                <a:noAutofit/>
              </a:bodyPr>
              <a:lstStyle/>
              <a:p>
                <a:endParaRPr lang="en-US"/>
              </a:p>
            </p:txBody>
          </p:sp>
        </p:grpSp>
      </p:grpSp>
      <p:grpSp>
        <p:nvGrpSpPr>
          <p:cNvPr id="142" name="bcgIcons_Location Pin ">
            <a:extLst>
              <a:ext uri="{FF2B5EF4-FFF2-40B4-BE49-F238E27FC236}">
                <a16:creationId xmlns:a16="http://schemas.microsoft.com/office/drawing/2014/main" id="{9E1F730E-C0F0-87CA-10C8-E7AD179FACC9}"/>
              </a:ext>
            </a:extLst>
          </p:cNvPr>
          <p:cNvGrpSpPr>
            <a:grpSpLocks noChangeAspect="1"/>
          </p:cNvGrpSpPr>
          <p:nvPr/>
        </p:nvGrpSpPr>
        <p:grpSpPr bwMode="auto">
          <a:xfrm>
            <a:off x="1544571" y="3627693"/>
            <a:ext cx="413368" cy="413751"/>
            <a:chOff x="1682" y="0"/>
            <a:chExt cx="4316" cy="4320"/>
          </a:xfrm>
        </p:grpSpPr>
        <p:sp>
          <p:nvSpPr>
            <p:cNvPr id="143" name="AutoShape 8">
              <a:extLst>
                <a:ext uri="{FF2B5EF4-FFF2-40B4-BE49-F238E27FC236}">
                  <a16:creationId xmlns:a16="http://schemas.microsoft.com/office/drawing/2014/main" id="{90A6E867-998E-4EF5-317E-26750D664F5F}"/>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10">
              <a:extLst>
                <a:ext uri="{FF2B5EF4-FFF2-40B4-BE49-F238E27FC236}">
                  <a16:creationId xmlns:a16="http://schemas.microsoft.com/office/drawing/2014/main" id="{12E1287F-6D21-6CCC-4694-996CA5D65C89}"/>
                </a:ext>
              </a:extLst>
            </p:cNvPr>
            <p:cNvSpPr>
              <a:spLocks noEditPoints="1"/>
            </p:cNvSpPr>
            <p:nvPr/>
          </p:nvSpPr>
          <p:spPr bwMode="auto">
            <a:xfrm>
              <a:off x="2830" y="553"/>
              <a:ext cx="2020" cy="3210"/>
            </a:xfrm>
            <a:custGeom>
              <a:avLst/>
              <a:gdLst>
                <a:gd name="T0" fmla="*/ 541 w 1078"/>
                <a:gd name="T1" fmla="*/ 1712 h 1712"/>
                <a:gd name="T2" fmla="*/ 503 w 1078"/>
                <a:gd name="T3" fmla="*/ 1690 h 1712"/>
                <a:gd name="T4" fmla="*/ 448 w 1078"/>
                <a:gd name="T5" fmla="*/ 1595 h 1712"/>
                <a:gd name="T6" fmla="*/ 228 w 1078"/>
                <a:gd name="T7" fmla="*/ 1186 h 1712"/>
                <a:gd name="T8" fmla="*/ 0 w 1078"/>
                <a:gd name="T9" fmla="*/ 552 h 1712"/>
                <a:gd name="T10" fmla="*/ 541 w 1078"/>
                <a:gd name="T11" fmla="*/ 0 h 1712"/>
                <a:gd name="T12" fmla="*/ 1078 w 1078"/>
                <a:gd name="T13" fmla="*/ 552 h 1712"/>
                <a:gd name="T14" fmla="*/ 852 w 1078"/>
                <a:gd name="T15" fmla="*/ 1186 h 1712"/>
                <a:gd name="T16" fmla="*/ 634 w 1078"/>
                <a:gd name="T17" fmla="*/ 1595 h 1712"/>
                <a:gd name="T18" fmla="*/ 579 w 1078"/>
                <a:gd name="T19" fmla="*/ 1690 h 1712"/>
                <a:gd name="T20" fmla="*/ 541 w 1078"/>
                <a:gd name="T21" fmla="*/ 1712 h 1712"/>
                <a:gd name="T22" fmla="*/ 541 w 1078"/>
                <a:gd name="T23" fmla="*/ 1712 h 1712"/>
                <a:gd name="T24" fmla="*/ 541 w 1078"/>
                <a:gd name="T25" fmla="*/ 44 h 1712"/>
                <a:gd name="T26" fmla="*/ 44 w 1078"/>
                <a:gd name="T27" fmla="*/ 552 h 1712"/>
                <a:gd name="T28" fmla="*/ 267 w 1078"/>
                <a:gd name="T29" fmla="*/ 1166 h 1712"/>
                <a:gd name="T30" fmla="*/ 486 w 1078"/>
                <a:gd name="T31" fmla="*/ 1573 h 1712"/>
                <a:gd name="T32" fmla="*/ 541 w 1078"/>
                <a:gd name="T33" fmla="*/ 1668 h 1712"/>
                <a:gd name="T34" fmla="*/ 596 w 1078"/>
                <a:gd name="T35" fmla="*/ 1573 h 1712"/>
                <a:gd name="T36" fmla="*/ 813 w 1078"/>
                <a:gd name="T37" fmla="*/ 1166 h 1712"/>
                <a:gd name="T38" fmla="*/ 1034 w 1078"/>
                <a:gd name="T39" fmla="*/ 552 h 1712"/>
                <a:gd name="T40" fmla="*/ 541 w 1078"/>
                <a:gd name="T41" fmla="*/ 44 h 1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78" h="1712">
                  <a:moveTo>
                    <a:pt x="541" y="1712"/>
                  </a:moveTo>
                  <a:cubicBezTo>
                    <a:pt x="525" y="1712"/>
                    <a:pt x="511" y="1704"/>
                    <a:pt x="503" y="1690"/>
                  </a:cubicBezTo>
                  <a:cubicBezTo>
                    <a:pt x="448" y="1595"/>
                    <a:pt x="448" y="1595"/>
                    <a:pt x="448" y="1595"/>
                  </a:cubicBezTo>
                  <a:cubicBezTo>
                    <a:pt x="447" y="1593"/>
                    <a:pt x="336" y="1403"/>
                    <a:pt x="228" y="1186"/>
                  </a:cubicBezTo>
                  <a:cubicBezTo>
                    <a:pt x="74" y="879"/>
                    <a:pt x="0" y="672"/>
                    <a:pt x="0" y="552"/>
                  </a:cubicBezTo>
                  <a:cubicBezTo>
                    <a:pt x="0" y="248"/>
                    <a:pt x="242" y="0"/>
                    <a:pt x="541" y="0"/>
                  </a:cubicBezTo>
                  <a:cubicBezTo>
                    <a:pt x="837" y="0"/>
                    <a:pt x="1078" y="248"/>
                    <a:pt x="1078" y="552"/>
                  </a:cubicBezTo>
                  <a:cubicBezTo>
                    <a:pt x="1078" y="671"/>
                    <a:pt x="1004" y="879"/>
                    <a:pt x="852" y="1186"/>
                  </a:cubicBezTo>
                  <a:cubicBezTo>
                    <a:pt x="745" y="1402"/>
                    <a:pt x="635" y="1593"/>
                    <a:pt x="634" y="1595"/>
                  </a:cubicBezTo>
                  <a:cubicBezTo>
                    <a:pt x="579" y="1690"/>
                    <a:pt x="579" y="1690"/>
                    <a:pt x="579" y="1690"/>
                  </a:cubicBezTo>
                  <a:cubicBezTo>
                    <a:pt x="571" y="1703"/>
                    <a:pt x="557" y="1712"/>
                    <a:pt x="541" y="1712"/>
                  </a:cubicBezTo>
                  <a:cubicBezTo>
                    <a:pt x="541" y="1712"/>
                    <a:pt x="541" y="1712"/>
                    <a:pt x="541" y="1712"/>
                  </a:cubicBezTo>
                  <a:close/>
                  <a:moveTo>
                    <a:pt x="541" y="44"/>
                  </a:moveTo>
                  <a:cubicBezTo>
                    <a:pt x="267" y="44"/>
                    <a:pt x="44" y="272"/>
                    <a:pt x="44" y="552"/>
                  </a:cubicBezTo>
                  <a:cubicBezTo>
                    <a:pt x="44" y="665"/>
                    <a:pt x="117" y="866"/>
                    <a:pt x="267" y="1166"/>
                  </a:cubicBezTo>
                  <a:cubicBezTo>
                    <a:pt x="375" y="1382"/>
                    <a:pt x="485" y="1571"/>
                    <a:pt x="486" y="1573"/>
                  </a:cubicBezTo>
                  <a:cubicBezTo>
                    <a:pt x="541" y="1668"/>
                    <a:pt x="541" y="1668"/>
                    <a:pt x="541" y="1668"/>
                  </a:cubicBezTo>
                  <a:cubicBezTo>
                    <a:pt x="596" y="1573"/>
                    <a:pt x="596" y="1573"/>
                    <a:pt x="596" y="1573"/>
                  </a:cubicBezTo>
                  <a:cubicBezTo>
                    <a:pt x="597" y="1571"/>
                    <a:pt x="705" y="1383"/>
                    <a:pt x="813" y="1166"/>
                  </a:cubicBezTo>
                  <a:cubicBezTo>
                    <a:pt x="962" y="866"/>
                    <a:pt x="1034" y="665"/>
                    <a:pt x="1034" y="552"/>
                  </a:cubicBezTo>
                  <a:cubicBezTo>
                    <a:pt x="1034" y="272"/>
                    <a:pt x="813" y="44"/>
                    <a:pt x="541" y="4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11">
              <a:extLst>
                <a:ext uri="{FF2B5EF4-FFF2-40B4-BE49-F238E27FC236}">
                  <a16:creationId xmlns:a16="http://schemas.microsoft.com/office/drawing/2014/main" id="{AD121AAC-1C0F-7250-0C3A-A961116649E3}"/>
                </a:ext>
              </a:extLst>
            </p:cNvPr>
            <p:cNvSpPr>
              <a:spLocks noEditPoints="1"/>
            </p:cNvSpPr>
            <p:nvPr/>
          </p:nvSpPr>
          <p:spPr bwMode="auto">
            <a:xfrm>
              <a:off x="3031" y="756"/>
              <a:ext cx="1618" cy="2670"/>
            </a:xfrm>
            <a:custGeom>
              <a:avLst/>
              <a:gdLst>
                <a:gd name="T0" fmla="*/ 864 w 864"/>
                <a:gd name="T1" fmla="*/ 444 h 1424"/>
                <a:gd name="T2" fmla="*/ 442 w 864"/>
                <a:gd name="T3" fmla="*/ 1418 h 1424"/>
                <a:gd name="T4" fmla="*/ 425 w 864"/>
                <a:gd name="T5" fmla="*/ 1418 h 1424"/>
                <a:gd name="T6" fmla="*/ 0 w 864"/>
                <a:gd name="T7" fmla="*/ 444 h 1424"/>
                <a:gd name="T8" fmla="*/ 434 w 864"/>
                <a:gd name="T9" fmla="*/ 0 h 1424"/>
                <a:gd name="T10" fmla="*/ 864 w 864"/>
                <a:gd name="T11" fmla="*/ 444 h 1424"/>
                <a:gd name="T12" fmla="*/ 434 w 864"/>
                <a:gd name="T13" fmla="*/ 275 h 1424"/>
                <a:gd name="T14" fmla="*/ 280 w 864"/>
                <a:gd name="T15" fmla="*/ 430 h 1424"/>
                <a:gd name="T16" fmla="*/ 434 w 864"/>
                <a:gd name="T17" fmla="*/ 590 h 1424"/>
                <a:gd name="T18" fmla="*/ 584 w 864"/>
                <a:gd name="T19" fmla="*/ 430 h 1424"/>
                <a:gd name="T20" fmla="*/ 434 w 864"/>
                <a:gd name="T21" fmla="*/ 275 h 1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4" h="1424">
                  <a:moveTo>
                    <a:pt x="864" y="444"/>
                  </a:moveTo>
                  <a:cubicBezTo>
                    <a:pt x="864" y="668"/>
                    <a:pt x="503" y="1311"/>
                    <a:pt x="442" y="1418"/>
                  </a:cubicBezTo>
                  <a:cubicBezTo>
                    <a:pt x="438" y="1424"/>
                    <a:pt x="429" y="1424"/>
                    <a:pt x="425" y="1418"/>
                  </a:cubicBezTo>
                  <a:cubicBezTo>
                    <a:pt x="364" y="1311"/>
                    <a:pt x="0" y="668"/>
                    <a:pt x="0" y="444"/>
                  </a:cubicBezTo>
                  <a:cubicBezTo>
                    <a:pt x="0" y="201"/>
                    <a:pt x="194" y="0"/>
                    <a:pt x="434" y="0"/>
                  </a:cubicBezTo>
                  <a:cubicBezTo>
                    <a:pt x="673" y="0"/>
                    <a:pt x="864" y="201"/>
                    <a:pt x="864" y="444"/>
                  </a:cubicBezTo>
                  <a:close/>
                  <a:moveTo>
                    <a:pt x="434" y="275"/>
                  </a:moveTo>
                  <a:cubicBezTo>
                    <a:pt x="348" y="275"/>
                    <a:pt x="280" y="347"/>
                    <a:pt x="280" y="430"/>
                  </a:cubicBezTo>
                  <a:cubicBezTo>
                    <a:pt x="280" y="518"/>
                    <a:pt x="348" y="590"/>
                    <a:pt x="434" y="590"/>
                  </a:cubicBezTo>
                  <a:cubicBezTo>
                    <a:pt x="515" y="590"/>
                    <a:pt x="584" y="518"/>
                    <a:pt x="584" y="430"/>
                  </a:cubicBezTo>
                  <a:cubicBezTo>
                    <a:pt x="584" y="347"/>
                    <a:pt x="515" y="275"/>
                    <a:pt x="434" y="275"/>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46" name="bcgIcons_Cloud ">
            <a:extLst>
              <a:ext uri="{FF2B5EF4-FFF2-40B4-BE49-F238E27FC236}">
                <a16:creationId xmlns:a16="http://schemas.microsoft.com/office/drawing/2014/main" id="{05751902-358A-E9C5-C23B-057B45434065}"/>
              </a:ext>
            </a:extLst>
          </p:cNvPr>
          <p:cNvGrpSpPr>
            <a:grpSpLocks noChangeAspect="1"/>
          </p:cNvGrpSpPr>
          <p:nvPr/>
        </p:nvGrpSpPr>
        <p:grpSpPr>
          <a:xfrm>
            <a:off x="2201202" y="3613804"/>
            <a:ext cx="441571" cy="441145"/>
            <a:chOff x="5273675" y="2606675"/>
            <a:chExt cx="1646238" cy="1644650"/>
          </a:xfrm>
        </p:grpSpPr>
        <p:sp>
          <p:nvSpPr>
            <p:cNvPr id="147" name="AutoShape 3">
              <a:extLst>
                <a:ext uri="{FF2B5EF4-FFF2-40B4-BE49-F238E27FC236}">
                  <a16:creationId xmlns:a16="http://schemas.microsoft.com/office/drawing/2014/main" id="{1EEA462D-3367-3859-70EE-C687018CD8DA}"/>
                </a:ext>
              </a:extLst>
            </p:cNvPr>
            <p:cNvSpPr>
              <a:spLocks noChangeAspect="1" noChangeArrowheads="1" noTextEdit="1"/>
            </p:cNvSpPr>
            <p:nvPr/>
          </p:nvSpPr>
          <p:spPr bwMode="auto">
            <a:xfrm>
              <a:off x="5273675"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148" name="Group 147">
              <a:extLst>
                <a:ext uri="{FF2B5EF4-FFF2-40B4-BE49-F238E27FC236}">
                  <a16:creationId xmlns:a16="http://schemas.microsoft.com/office/drawing/2014/main" id="{300F9E27-3003-30C9-EB2A-6882D9964D48}"/>
                </a:ext>
              </a:extLst>
            </p:cNvPr>
            <p:cNvGrpSpPr/>
            <p:nvPr/>
          </p:nvGrpSpPr>
          <p:grpSpPr>
            <a:xfrm>
              <a:off x="5538788" y="3041650"/>
              <a:ext cx="1116013" cy="776288"/>
              <a:chOff x="5538788" y="3041650"/>
              <a:chExt cx="1116013" cy="776288"/>
            </a:xfrm>
          </p:grpSpPr>
          <p:sp>
            <p:nvSpPr>
              <p:cNvPr id="149" name="Freeform 13">
                <a:extLst>
                  <a:ext uri="{FF2B5EF4-FFF2-40B4-BE49-F238E27FC236}">
                    <a16:creationId xmlns:a16="http://schemas.microsoft.com/office/drawing/2014/main" id="{5511AA3B-1446-61C0-1219-A92E0EE686E6}"/>
                  </a:ext>
                </a:extLst>
              </p:cNvPr>
              <p:cNvSpPr>
                <a:spLocks noEditPoints="1"/>
              </p:cNvSpPr>
              <p:nvPr/>
            </p:nvSpPr>
            <p:spPr bwMode="auto">
              <a:xfrm>
                <a:off x="5538788" y="3041650"/>
                <a:ext cx="1116013" cy="776288"/>
              </a:xfrm>
              <a:custGeom>
                <a:avLst/>
                <a:gdLst>
                  <a:gd name="T0" fmla="*/ 1365 w 1562"/>
                  <a:gd name="T1" fmla="*/ 412 h 1088"/>
                  <a:gd name="T2" fmla="*/ 1139 w 1562"/>
                  <a:gd name="T3" fmla="*/ 296 h 1088"/>
                  <a:gd name="T4" fmla="*/ 1114 w 1562"/>
                  <a:gd name="T5" fmla="*/ 297 h 1088"/>
                  <a:gd name="T6" fmla="*/ 1046 w 1562"/>
                  <a:gd name="T7" fmla="*/ 226 h 1088"/>
                  <a:gd name="T8" fmla="*/ 917 w 1562"/>
                  <a:gd name="T9" fmla="*/ 186 h 1088"/>
                  <a:gd name="T10" fmla="*/ 908 w 1562"/>
                  <a:gd name="T11" fmla="*/ 186 h 1088"/>
                  <a:gd name="T12" fmla="*/ 808 w 1562"/>
                  <a:gd name="T13" fmla="*/ 74 h 1088"/>
                  <a:gd name="T14" fmla="*/ 584 w 1562"/>
                  <a:gd name="T15" fmla="*/ 0 h 1088"/>
                  <a:gd name="T16" fmla="*/ 324 w 1562"/>
                  <a:gd name="T17" fmla="*/ 106 h 1088"/>
                  <a:gd name="T18" fmla="*/ 215 w 1562"/>
                  <a:gd name="T19" fmla="*/ 330 h 1088"/>
                  <a:gd name="T20" fmla="*/ 84 w 1562"/>
                  <a:gd name="T21" fmla="*/ 421 h 1088"/>
                  <a:gd name="T22" fmla="*/ 0 w 1562"/>
                  <a:gd name="T23" fmla="*/ 642 h 1088"/>
                  <a:gd name="T24" fmla="*/ 61 w 1562"/>
                  <a:gd name="T25" fmla="*/ 835 h 1088"/>
                  <a:gd name="T26" fmla="*/ 208 w 1562"/>
                  <a:gd name="T27" fmla="*/ 952 h 1088"/>
                  <a:gd name="T28" fmla="*/ 328 w 1562"/>
                  <a:gd name="T29" fmla="*/ 1049 h 1088"/>
                  <a:gd name="T30" fmla="*/ 491 w 1562"/>
                  <a:gd name="T31" fmla="*/ 1088 h 1088"/>
                  <a:gd name="T32" fmla="*/ 706 w 1562"/>
                  <a:gd name="T33" fmla="*/ 1018 h 1088"/>
                  <a:gd name="T34" fmla="*/ 849 w 1562"/>
                  <a:gd name="T35" fmla="*/ 1053 h 1088"/>
                  <a:gd name="T36" fmla="*/ 1004 w 1562"/>
                  <a:gd name="T37" fmla="*/ 1011 h 1088"/>
                  <a:gd name="T38" fmla="*/ 1101 w 1562"/>
                  <a:gd name="T39" fmla="*/ 1028 h 1088"/>
                  <a:gd name="T40" fmla="*/ 1261 w 1562"/>
                  <a:gd name="T41" fmla="*/ 978 h 1088"/>
                  <a:gd name="T42" fmla="*/ 1269 w 1562"/>
                  <a:gd name="T43" fmla="*/ 978 h 1088"/>
                  <a:gd name="T44" fmla="*/ 1562 w 1562"/>
                  <a:gd name="T45" fmla="*/ 687 h 1088"/>
                  <a:gd name="T46" fmla="*/ 1365 w 1562"/>
                  <a:gd name="T47" fmla="*/ 412 h 1088"/>
                  <a:gd name="T48" fmla="*/ 1269 w 1562"/>
                  <a:gd name="T49" fmla="*/ 934 h 1088"/>
                  <a:gd name="T50" fmla="*/ 1247 w 1562"/>
                  <a:gd name="T51" fmla="*/ 934 h 1088"/>
                  <a:gd name="T52" fmla="*/ 1101 w 1562"/>
                  <a:gd name="T53" fmla="*/ 984 h 1088"/>
                  <a:gd name="T54" fmla="*/ 999 w 1562"/>
                  <a:gd name="T55" fmla="*/ 961 h 1088"/>
                  <a:gd name="T56" fmla="*/ 849 w 1562"/>
                  <a:gd name="T57" fmla="*/ 1009 h 1088"/>
                  <a:gd name="T58" fmla="*/ 702 w 1562"/>
                  <a:gd name="T59" fmla="*/ 964 h 1088"/>
                  <a:gd name="T60" fmla="*/ 491 w 1562"/>
                  <a:gd name="T61" fmla="*/ 1044 h 1088"/>
                  <a:gd name="T62" fmla="*/ 236 w 1562"/>
                  <a:gd name="T63" fmla="*/ 916 h 1088"/>
                  <a:gd name="T64" fmla="*/ 44 w 1562"/>
                  <a:gd name="T65" fmla="*/ 642 h 1088"/>
                  <a:gd name="T66" fmla="*/ 117 w 1562"/>
                  <a:gd name="T67" fmla="*/ 450 h 1088"/>
                  <a:gd name="T68" fmla="*/ 257 w 1562"/>
                  <a:gd name="T69" fmla="*/ 362 h 1088"/>
                  <a:gd name="T70" fmla="*/ 584 w 1562"/>
                  <a:gd name="T71" fmla="*/ 44 h 1088"/>
                  <a:gd name="T72" fmla="*/ 782 w 1562"/>
                  <a:gd name="T73" fmla="*/ 109 h 1088"/>
                  <a:gd name="T74" fmla="*/ 883 w 1562"/>
                  <a:gd name="T75" fmla="*/ 233 h 1088"/>
                  <a:gd name="T76" fmla="*/ 917 w 1562"/>
                  <a:gd name="T77" fmla="*/ 230 h 1088"/>
                  <a:gd name="T78" fmla="*/ 1089 w 1562"/>
                  <a:gd name="T79" fmla="*/ 345 h 1088"/>
                  <a:gd name="T80" fmla="*/ 1139 w 1562"/>
                  <a:gd name="T81" fmla="*/ 340 h 1088"/>
                  <a:gd name="T82" fmla="*/ 1337 w 1562"/>
                  <a:gd name="T83" fmla="*/ 450 h 1088"/>
                  <a:gd name="T84" fmla="*/ 1518 w 1562"/>
                  <a:gd name="T85" fmla="*/ 687 h 1088"/>
                  <a:gd name="T86" fmla="*/ 1269 w 1562"/>
                  <a:gd name="T87" fmla="*/ 934 h 1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62" h="1088">
                    <a:moveTo>
                      <a:pt x="1365" y="412"/>
                    </a:moveTo>
                    <a:cubicBezTo>
                      <a:pt x="1314" y="339"/>
                      <a:pt x="1230" y="296"/>
                      <a:pt x="1139" y="296"/>
                    </a:cubicBezTo>
                    <a:cubicBezTo>
                      <a:pt x="1131" y="296"/>
                      <a:pt x="1122" y="296"/>
                      <a:pt x="1114" y="297"/>
                    </a:cubicBezTo>
                    <a:cubicBezTo>
                      <a:pt x="1097" y="269"/>
                      <a:pt x="1074" y="245"/>
                      <a:pt x="1046" y="226"/>
                    </a:cubicBezTo>
                    <a:cubicBezTo>
                      <a:pt x="1008" y="200"/>
                      <a:pt x="963" y="186"/>
                      <a:pt x="917" y="186"/>
                    </a:cubicBezTo>
                    <a:cubicBezTo>
                      <a:pt x="914" y="186"/>
                      <a:pt x="911" y="186"/>
                      <a:pt x="908" y="186"/>
                    </a:cubicBezTo>
                    <a:cubicBezTo>
                      <a:pt x="882" y="142"/>
                      <a:pt x="848" y="104"/>
                      <a:pt x="808" y="74"/>
                    </a:cubicBezTo>
                    <a:cubicBezTo>
                      <a:pt x="743" y="26"/>
                      <a:pt x="666" y="0"/>
                      <a:pt x="584" y="0"/>
                    </a:cubicBezTo>
                    <a:cubicBezTo>
                      <a:pt x="486" y="0"/>
                      <a:pt x="394" y="37"/>
                      <a:pt x="324" y="106"/>
                    </a:cubicBezTo>
                    <a:cubicBezTo>
                      <a:pt x="262" y="166"/>
                      <a:pt x="223" y="245"/>
                      <a:pt x="215" y="330"/>
                    </a:cubicBezTo>
                    <a:cubicBezTo>
                      <a:pt x="164" y="350"/>
                      <a:pt x="119" y="381"/>
                      <a:pt x="84" y="421"/>
                    </a:cubicBezTo>
                    <a:cubicBezTo>
                      <a:pt x="30" y="482"/>
                      <a:pt x="0" y="561"/>
                      <a:pt x="0" y="642"/>
                    </a:cubicBezTo>
                    <a:cubicBezTo>
                      <a:pt x="0" y="712"/>
                      <a:pt x="21" y="778"/>
                      <a:pt x="61" y="835"/>
                    </a:cubicBezTo>
                    <a:cubicBezTo>
                      <a:pt x="98" y="887"/>
                      <a:pt x="149" y="928"/>
                      <a:pt x="208" y="952"/>
                    </a:cubicBezTo>
                    <a:cubicBezTo>
                      <a:pt x="241" y="993"/>
                      <a:pt x="282" y="1026"/>
                      <a:pt x="328" y="1049"/>
                    </a:cubicBezTo>
                    <a:cubicBezTo>
                      <a:pt x="378" y="1075"/>
                      <a:pt x="435" y="1088"/>
                      <a:pt x="491" y="1088"/>
                    </a:cubicBezTo>
                    <a:cubicBezTo>
                      <a:pt x="569" y="1088"/>
                      <a:pt x="644" y="1063"/>
                      <a:pt x="706" y="1018"/>
                    </a:cubicBezTo>
                    <a:cubicBezTo>
                      <a:pt x="749" y="1041"/>
                      <a:pt x="798" y="1053"/>
                      <a:pt x="849" y="1053"/>
                    </a:cubicBezTo>
                    <a:cubicBezTo>
                      <a:pt x="904" y="1053"/>
                      <a:pt x="957" y="1039"/>
                      <a:pt x="1004" y="1011"/>
                    </a:cubicBezTo>
                    <a:cubicBezTo>
                      <a:pt x="1035" y="1022"/>
                      <a:pt x="1068" y="1028"/>
                      <a:pt x="1101" y="1028"/>
                    </a:cubicBezTo>
                    <a:cubicBezTo>
                      <a:pt x="1158" y="1028"/>
                      <a:pt x="1214" y="1010"/>
                      <a:pt x="1261" y="978"/>
                    </a:cubicBezTo>
                    <a:cubicBezTo>
                      <a:pt x="1269" y="978"/>
                      <a:pt x="1269" y="978"/>
                      <a:pt x="1269" y="978"/>
                    </a:cubicBezTo>
                    <a:cubicBezTo>
                      <a:pt x="1430" y="978"/>
                      <a:pt x="1562" y="847"/>
                      <a:pt x="1562" y="687"/>
                    </a:cubicBezTo>
                    <a:cubicBezTo>
                      <a:pt x="1562" y="563"/>
                      <a:pt x="1482" y="452"/>
                      <a:pt x="1365" y="412"/>
                    </a:cubicBezTo>
                    <a:close/>
                    <a:moveTo>
                      <a:pt x="1269" y="934"/>
                    </a:moveTo>
                    <a:cubicBezTo>
                      <a:pt x="1247" y="934"/>
                      <a:pt x="1247" y="934"/>
                      <a:pt x="1247" y="934"/>
                    </a:cubicBezTo>
                    <a:cubicBezTo>
                      <a:pt x="1205" y="966"/>
                      <a:pt x="1154" y="984"/>
                      <a:pt x="1101" y="984"/>
                    </a:cubicBezTo>
                    <a:cubicBezTo>
                      <a:pt x="1066" y="984"/>
                      <a:pt x="1031" y="976"/>
                      <a:pt x="999" y="961"/>
                    </a:cubicBezTo>
                    <a:cubicBezTo>
                      <a:pt x="956" y="992"/>
                      <a:pt x="903" y="1009"/>
                      <a:pt x="849" y="1009"/>
                    </a:cubicBezTo>
                    <a:cubicBezTo>
                      <a:pt x="796" y="1009"/>
                      <a:pt x="745" y="993"/>
                      <a:pt x="702" y="964"/>
                    </a:cubicBezTo>
                    <a:cubicBezTo>
                      <a:pt x="644" y="1015"/>
                      <a:pt x="569" y="1044"/>
                      <a:pt x="491" y="1044"/>
                    </a:cubicBezTo>
                    <a:cubicBezTo>
                      <a:pt x="390" y="1044"/>
                      <a:pt x="296" y="996"/>
                      <a:pt x="236" y="916"/>
                    </a:cubicBezTo>
                    <a:cubicBezTo>
                      <a:pt x="120" y="874"/>
                      <a:pt x="44" y="766"/>
                      <a:pt x="44" y="642"/>
                    </a:cubicBezTo>
                    <a:cubicBezTo>
                      <a:pt x="44" y="571"/>
                      <a:pt x="70" y="503"/>
                      <a:pt x="117" y="450"/>
                    </a:cubicBezTo>
                    <a:cubicBezTo>
                      <a:pt x="154" y="408"/>
                      <a:pt x="203" y="378"/>
                      <a:pt x="257" y="362"/>
                    </a:cubicBezTo>
                    <a:cubicBezTo>
                      <a:pt x="260" y="186"/>
                      <a:pt x="406" y="44"/>
                      <a:pt x="584" y="44"/>
                    </a:cubicBezTo>
                    <a:cubicBezTo>
                      <a:pt x="656" y="44"/>
                      <a:pt x="724" y="66"/>
                      <a:pt x="782" y="109"/>
                    </a:cubicBezTo>
                    <a:cubicBezTo>
                      <a:pt x="825" y="142"/>
                      <a:pt x="860" y="185"/>
                      <a:pt x="883" y="233"/>
                    </a:cubicBezTo>
                    <a:cubicBezTo>
                      <a:pt x="894" y="231"/>
                      <a:pt x="906" y="230"/>
                      <a:pt x="917" y="230"/>
                    </a:cubicBezTo>
                    <a:cubicBezTo>
                      <a:pt x="994" y="230"/>
                      <a:pt x="1061" y="277"/>
                      <a:pt x="1089" y="345"/>
                    </a:cubicBezTo>
                    <a:cubicBezTo>
                      <a:pt x="1105" y="342"/>
                      <a:pt x="1122" y="340"/>
                      <a:pt x="1139" y="340"/>
                    </a:cubicBezTo>
                    <a:cubicBezTo>
                      <a:pt x="1221" y="340"/>
                      <a:pt x="1295" y="381"/>
                      <a:pt x="1337" y="450"/>
                    </a:cubicBezTo>
                    <a:cubicBezTo>
                      <a:pt x="1443" y="479"/>
                      <a:pt x="1518" y="576"/>
                      <a:pt x="1518" y="687"/>
                    </a:cubicBezTo>
                    <a:cubicBezTo>
                      <a:pt x="1518" y="823"/>
                      <a:pt x="1406" y="934"/>
                      <a:pt x="1269" y="9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Freeform 6">
                <a:extLst>
                  <a:ext uri="{FF2B5EF4-FFF2-40B4-BE49-F238E27FC236}">
                    <a16:creationId xmlns:a16="http://schemas.microsoft.com/office/drawing/2014/main" id="{BD05D8DB-D37C-CAFC-3858-9D6E5FFA3AA5}"/>
                  </a:ext>
                </a:extLst>
              </p:cNvPr>
              <p:cNvSpPr>
                <a:spLocks/>
              </p:cNvSpPr>
              <p:nvPr/>
            </p:nvSpPr>
            <p:spPr bwMode="auto">
              <a:xfrm>
                <a:off x="5602288" y="3103563"/>
                <a:ext cx="990600" cy="652463"/>
              </a:xfrm>
              <a:custGeom>
                <a:avLst/>
                <a:gdLst>
                  <a:gd name="T0" fmla="*/ 829 w 1386"/>
                  <a:gd name="T1" fmla="*/ 186 h 912"/>
                  <a:gd name="T2" fmla="*/ 214 w 1386"/>
                  <a:gd name="T3" fmla="*/ 310 h 912"/>
                  <a:gd name="T4" fmla="*/ 1 w 1386"/>
                  <a:gd name="T5" fmla="*/ 578 h 912"/>
                  <a:gd name="T6" fmla="*/ 5 w 1386"/>
                  <a:gd name="T7" fmla="*/ 602 h 912"/>
                  <a:gd name="T8" fmla="*/ 11 w 1386"/>
                  <a:gd name="T9" fmla="*/ 626 h 912"/>
                  <a:gd name="T10" fmla="*/ 19 w 1386"/>
                  <a:gd name="T11" fmla="*/ 648 h 912"/>
                  <a:gd name="T12" fmla="*/ 30 w 1386"/>
                  <a:gd name="T13" fmla="*/ 671 h 912"/>
                  <a:gd name="T14" fmla="*/ 41 w 1386"/>
                  <a:gd name="T15" fmla="*/ 691 h 912"/>
                  <a:gd name="T16" fmla="*/ 56 w 1386"/>
                  <a:gd name="T17" fmla="*/ 711 h 912"/>
                  <a:gd name="T18" fmla="*/ 71 w 1386"/>
                  <a:gd name="T19" fmla="*/ 728 h 912"/>
                  <a:gd name="T20" fmla="*/ 90 w 1386"/>
                  <a:gd name="T21" fmla="*/ 745 h 912"/>
                  <a:gd name="T22" fmla="*/ 108 w 1386"/>
                  <a:gd name="T23" fmla="*/ 758 h 912"/>
                  <a:gd name="T24" fmla="*/ 130 w 1386"/>
                  <a:gd name="T25" fmla="*/ 772 h 912"/>
                  <a:gd name="T26" fmla="*/ 151 w 1386"/>
                  <a:gd name="T27" fmla="*/ 781 h 912"/>
                  <a:gd name="T28" fmla="*/ 175 w 1386"/>
                  <a:gd name="T29" fmla="*/ 791 h 912"/>
                  <a:gd name="T30" fmla="*/ 184 w 1386"/>
                  <a:gd name="T31" fmla="*/ 803 h 912"/>
                  <a:gd name="T32" fmla="*/ 201 w 1386"/>
                  <a:gd name="T33" fmla="*/ 823 h 912"/>
                  <a:gd name="T34" fmla="*/ 220 w 1386"/>
                  <a:gd name="T35" fmla="*/ 842 h 912"/>
                  <a:gd name="T36" fmla="*/ 241 w 1386"/>
                  <a:gd name="T37" fmla="*/ 859 h 912"/>
                  <a:gd name="T38" fmla="*/ 262 w 1386"/>
                  <a:gd name="T39" fmla="*/ 873 h 912"/>
                  <a:gd name="T40" fmla="*/ 285 w 1386"/>
                  <a:gd name="T41" fmla="*/ 886 h 912"/>
                  <a:gd name="T42" fmla="*/ 309 w 1386"/>
                  <a:gd name="T43" fmla="*/ 896 h 912"/>
                  <a:gd name="T44" fmla="*/ 335 w 1386"/>
                  <a:gd name="T45" fmla="*/ 904 h 912"/>
                  <a:gd name="T46" fmla="*/ 363 w 1386"/>
                  <a:gd name="T47" fmla="*/ 909 h 912"/>
                  <a:gd name="T48" fmla="*/ 390 w 1386"/>
                  <a:gd name="T49" fmla="*/ 912 h 912"/>
                  <a:gd name="T50" fmla="*/ 433 w 1386"/>
                  <a:gd name="T51" fmla="*/ 910 h 912"/>
                  <a:gd name="T52" fmla="*/ 461 w 1386"/>
                  <a:gd name="T53" fmla="*/ 906 h 912"/>
                  <a:gd name="T54" fmla="*/ 490 w 1386"/>
                  <a:gd name="T55" fmla="*/ 898 h 912"/>
                  <a:gd name="T56" fmla="*/ 518 w 1386"/>
                  <a:gd name="T57" fmla="*/ 887 h 912"/>
                  <a:gd name="T58" fmla="*/ 591 w 1386"/>
                  <a:gd name="T59" fmla="*/ 837 h 912"/>
                  <a:gd name="T60" fmla="*/ 611 w 1386"/>
                  <a:gd name="T61" fmla="*/ 817 h 912"/>
                  <a:gd name="T62" fmla="*/ 651 w 1386"/>
                  <a:gd name="T63" fmla="*/ 847 h 912"/>
                  <a:gd name="T64" fmla="*/ 669 w 1386"/>
                  <a:gd name="T65" fmla="*/ 857 h 912"/>
                  <a:gd name="T66" fmla="*/ 688 w 1386"/>
                  <a:gd name="T67" fmla="*/ 865 h 912"/>
                  <a:gd name="T68" fmla="*/ 708 w 1386"/>
                  <a:gd name="T69" fmla="*/ 871 h 912"/>
                  <a:gd name="T70" fmla="*/ 728 w 1386"/>
                  <a:gd name="T71" fmla="*/ 875 h 912"/>
                  <a:gd name="T72" fmla="*/ 750 w 1386"/>
                  <a:gd name="T73" fmla="*/ 877 h 912"/>
                  <a:gd name="T74" fmla="*/ 782 w 1386"/>
                  <a:gd name="T75" fmla="*/ 876 h 912"/>
                  <a:gd name="T76" fmla="*/ 803 w 1386"/>
                  <a:gd name="T77" fmla="*/ 873 h 912"/>
                  <a:gd name="T78" fmla="*/ 823 w 1386"/>
                  <a:gd name="T79" fmla="*/ 868 h 912"/>
                  <a:gd name="T80" fmla="*/ 842 w 1386"/>
                  <a:gd name="T81" fmla="*/ 862 h 912"/>
                  <a:gd name="T82" fmla="*/ 860 w 1386"/>
                  <a:gd name="T83" fmla="*/ 853 h 912"/>
                  <a:gd name="T84" fmla="*/ 877 w 1386"/>
                  <a:gd name="T85" fmla="*/ 843 h 912"/>
                  <a:gd name="T86" fmla="*/ 892 w 1386"/>
                  <a:gd name="T87" fmla="*/ 832 h 912"/>
                  <a:gd name="T88" fmla="*/ 917 w 1386"/>
                  <a:gd name="T89" fmla="*/ 826 h 912"/>
                  <a:gd name="T90" fmla="*/ 931 w 1386"/>
                  <a:gd name="T91" fmla="*/ 834 h 912"/>
                  <a:gd name="T92" fmla="*/ 949 w 1386"/>
                  <a:gd name="T93" fmla="*/ 841 h 912"/>
                  <a:gd name="T94" fmla="*/ 967 w 1386"/>
                  <a:gd name="T95" fmla="*/ 846 h 912"/>
                  <a:gd name="T96" fmla="*/ 984 w 1386"/>
                  <a:gd name="T97" fmla="*/ 850 h 912"/>
                  <a:gd name="T98" fmla="*/ 1004 w 1386"/>
                  <a:gd name="T99" fmla="*/ 852 h 912"/>
                  <a:gd name="T100" fmla="*/ 1032 w 1386"/>
                  <a:gd name="T101" fmla="*/ 851 h 912"/>
                  <a:gd name="T102" fmla="*/ 1051 w 1386"/>
                  <a:gd name="T103" fmla="*/ 848 h 912"/>
                  <a:gd name="T104" fmla="*/ 1069 w 1386"/>
                  <a:gd name="T105" fmla="*/ 844 h 912"/>
                  <a:gd name="T106" fmla="*/ 1086 w 1386"/>
                  <a:gd name="T107" fmla="*/ 838 h 912"/>
                  <a:gd name="T108" fmla="*/ 1103 w 1386"/>
                  <a:gd name="T109" fmla="*/ 830 h 912"/>
                  <a:gd name="T110" fmla="*/ 1118 w 1386"/>
                  <a:gd name="T111" fmla="*/ 821 h 912"/>
                  <a:gd name="T112" fmla="*/ 1133 w 1386"/>
                  <a:gd name="T113" fmla="*/ 810 h 912"/>
                  <a:gd name="T114" fmla="*/ 1181 w 1386"/>
                  <a:gd name="T115" fmla="*/ 802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86" h="912">
                    <a:moveTo>
                      <a:pt x="1220" y="400"/>
                    </a:moveTo>
                    <a:cubicBezTo>
                      <a:pt x="1189" y="338"/>
                      <a:pt x="1126" y="296"/>
                      <a:pt x="1051" y="296"/>
                    </a:cubicBezTo>
                    <a:cubicBezTo>
                      <a:pt x="1022" y="296"/>
                      <a:pt x="994" y="302"/>
                      <a:pt x="970" y="314"/>
                    </a:cubicBezTo>
                    <a:cubicBezTo>
                      <a:pt x="964" y="242"/>
                      <a:pt x="903" y="186"/>
                      <a:pt x="829" y="186"/>
                    </a:cubicBezTo>
                    <a:cubicBezTo>
                      <a:pt x="807" y="186"/>
                      <a:pt x="787" y="191"/>
                      <a:pt x="769" y="200"/>
                    </a:cubicBezTo>
                    <a:cubicBezTo>
                      <a:pt x="733" y="84"/>
                      <a:pt x="625" y="0"/>
                      <a:pt x="496" y="0"/>
                    </a:cubicBezTo>
                    <a:cubicBezTo>
                      <a:pt x="340" y="0"/>
                      <a:pt x="213" y="126"/>
                      <a:pt x="213" y="281"/>
                    </a:cubicBezTo>
                    <a:cubicBezTo>
                      <a:pt x="213" y="291"/>
                      <a:pt x="213" y="300"/>
                      <a:pt x="214" y="310"/>
                    </a:cubicBezTo>
                    <a:cubicBezTo>
                      <a:pt x="93" y="327"/>
                      <a:pt x="0" y="430"/>
                      <a:pt x="0" y="554"/>
                    </a:cubicBezTo>
                    <a:cubicBezTo>
                      <a:pt x="0" y="558"/>
                      <a:pt x="0" y="562"/>
                      <a:pt x="0" y="566"/>
                    </a:cubicBezTo>
                    <a:cubicBezTo>
                      <a:pt x="0" y="567"/>
                      <a:pt x="1" y="568"/>
                      <a:pt x="1" y="570"/>
                    </a:cubicBezTo>
                    <a:cubicBezTo>
                      <a:pt x="1" y="572"/>
                      <a:pt x="1" y="575"/>
                      <a:pt x="1" y="578"/>
                    </a:cubicBezTo>
                    <a:cubicBezTo>
                      <a:pt x="1" y="579"/>
                      <a:pt x="1" y="580"/>
                      <a:pt x="2" y="582"/>
                    </a:cubicBezTo>
                    <a:cubicBezTo>
                      <a:pt x="2" y="584"/>
                      <a:pt x="2" y="587"/>
                      <a:pt x="3" y="589"/>
                    </a:cubicBezTo>
                    <a:cubicBezTo>
                      <a:pt x="3" y="591"/>
                      <a:pt x="3" y="592"/>
                      <a:pt x="3" y="593"/>
                    </a:cubicBezTo>
                    <a:cubicBezTo>
                      <a:pt x="4" y="596"/>
                      <a:pt x="4" y="599"/>
                      <a:pt x="5" y="602"/>
                    </a:cubicBezTo>
                    <a:cubicBezTo>
                      <a:pt x="5" y="603"/>
                      <a:pt x="5" y="604"/>
                      <a:pt x="5" y="604"/>
                    </a:cubicBezTo>
                    <a:cubicBezTo>
                      <a:pt x="6" y="608"/>
                      <a:pt x="7" y="612"/>
                      <a:pt x="8" y="615"/>
                    </a:cubicBezTo>
                    <a:cubicBezTo>
                      <a:pt x="8" y="616"/>
                      <a:pt x="8" y="617"/>
                      <a:pt x="9" y="618"/>
                    </a:cubicBezTo>
                    <a:cubicBezTo>
                      <a:pt x="9" y="621"/>
                      <a:pt x="10" y="624"/>
                      <a:pt x="11" y="626"/>
                    </a:cubicBezTo>
                    <a:cubicBezTo>
                      <a:pt x="11" y="628"/>
                      <a:pt x="12" y="629"/>
                      <a:pt x="12" y="630"/>
                    </a:cubicBezTo>
                    <a:cubicBezTo>
                      <a:pt x="13" y="632"/>
                      <a:pt x="14" y="635"/>
                      <a:pt x="14" y="637"/>
                    </a:cubicBezTo>
                    <a:cubicBezTo>
                      <a:pt x="15" y="638"/>
                      <a:pt x="15" y="640"/>
                      <a:pt x="16" y="641"/>
                    </a:cubicBezTo>
                    <a:cubicBezTo>
                      <a:pt x="17" y="643"/>
                      <a:pt x="18" y="646"/>
                      <a:pt x="19" y="648"/>
                    </a:cubicBezTo>
                    <a:cubicBezTo>
                      <a:pt x="19" y="649"/>
                      <a:pt x="20" y="650"/>
                      <a:pt x="20" y="651"/>
                    </a:cubicBezTo>
                    <a:cubicBezTo>
                      <a:pt x="21" y="655"/>
                      <a:pt x="23" y="658"/>
                      <a:pt x="25" y="661"/>
                    </a:cubicBezTo>
                    <a:cubicBezTo>
                      <a:pt x="25" y="662"/>
                      <a:pt x="25" y="663"/>
                      <a:pt x="26" y="663"/>
                    </a:cubicBezTo>
                    <a:cubicBezTo>
                      <a:pt x="27" y="666"/>
                      <a:pt x="28" y="669"/>
                      <a:pt x="30" y="671"/>
                    </a:cubicBezTo>
                    <a:cubicBezTo>
                      <a:pt x="30" y="672"/>
                      <a:pt x="31" y="673"/>
                      <a:pt x="31" y="674"/>
                    </a:cubicBezTo>
                    <a:cubicBezTo>
                      <a:pt x="33" y="677"/>
                      <a:pt x="34" y="679"/>
                      <a:pt x="35" y="681"/>
                    </a:cubicBezTo>
                    <a:cubicBezTo>
                      <a:pt x="36" y="682"/>
                      <a:pt x="37" y="683"/>
                      <a:pt x="37" y="684"/>
                    </a:cubicBezTo>
                    <a:cubicBezTo>
                      <a:pt x="39" y="686"/>
                      <a:pt x="40" y="688"/>
                      <a:pt x="41" y="691"/>
                    </a:cubicBezTo>
                    <a:cubicBezTo>
                      <a:pt x="42" y="692"/>
                      <a:pt x="43" y="693"/>
                      <a:pt x="43" y="694"/>
                    </a:cubicBezTo>
                    <a:cubicBezTo>
                      <a:pt x="45" y="697"/>
                      <a:pt x="47" y="699"/>
                      <a:pt x="50" y="702"/>
                    </a:cubicBezTo>
                    <a:cubicBezTo>
                      <a:pt x="50" y="703"/>
                      <a:pt x="50" y="703"/>
                      <a:pt x="50" y="703"/>
                    </a:cubicBezTo>
                    <a:cubicBezTo>
                      <a:pt x="52" y="706"/>
                      <a:pt x="54" y="708"/>
                      <a:pt x="56" y="711"/>
                    </a:cubicBezTo>
                    <a:cubicBezTo>
                      <a:pt x="57" y="712"/>
                      <a:pt x="58" y="713"/>
                      <a:pt x="59" y="714"/>
                    </a:cubicBezTo>
                    <a:cubicBezTo>
                      <a:pt x="60" y="716"/>
                      <a:pt x="62" y="718"/>
                      <a:pt x="64" y="719"/>
                    </a:cubicBezTo>
                    <a:cubicBezTo>
                      <a:pt x="65" y="720"/>
                      <a:pt x="66" y="721"/>
                      <a:pt x="66" y="722"/>
                    </a:cubicBezTo>
                    <a:cubicBezTo>
                      <a:pt x="68" y="724"/>
                      <a:pt x="70" y="726"/>
                      <a:pt x="71" y="728"/>
                    </a:cubicBezTo>
                    <a:cubicBezTo>
                      <a:pt x="72" y="728"/>
                      <a:pt x="73" y="729"/>
                      <a:pt x="74" y="730"/>
                    </a:cubicBezTo>
                    <a:cubicBezTo>
                      <a:pt x="76" y="732"/>
                      <a:pt x="78" y="734"/>
                      <a:pt x="80" y="736"/>
                    </a:cubicBezTo>
                    <a:cubicBezTo>
                      <a:pt x="81" y="737"/>
                      <a:pt x="82" y="737"/>
                      <a:pt x="82" y="738"/>
                    </a:cubicBezTo>
                    <a:cubicBezTo>
                      <a:pt x="85" y="740"/>
                      <a:pt x="88" y="743"/>
                      <a:pt x="90" y="745"/>
                    </a:cubicBezTo>
                    <a:cubicBezTo>
                      <a:pt x="91" y="746"/>
                      <a:pt x="92" y="746"/>
                      <a:pt x="93" y="747"/>
                    </a:cubicBezTo>
                    <a:cubicBezTo>
                      <a:pt x="95" y="749"/>
                      <a:pt x="97" y="750"/>
                      <a:pt x="99" y="752"/>
                    </a:cubicBezTo>
                    <a:cubicBezTo>
                      <a:pt x="100" y="752"/>
                      <a:pt x="101" y="753"/>
                      <a:pt x="102" y="754"/>
                    </a:cubicBezTo>
                    <a:cubicBezTo>
                      <a:pt x="104" y="756"/>
                      <a:pt x="106" y="757"/>
                      <a:pt x="108" y="758"/>
                    </a:cubicBezTo>
                    <a:cubicBezTo>
                      <a:pt x="109" y="759"/>
                      <a:pt x="110" y="760"/>
                      <a:pt x="112" y="761"/>
                    </a:cubicBezTo>
                    <a:cubicBezTo>
                      <a:pt x="114" y="762"/>
                      <a:pt x="116" y="763"/>
                      <a:pt x="118" y="765"/>
                    </a:cubicBezTo>
                    <a:cubicBezTo>
                      <a:pt x="119" y="765"/>
                      <a:pt x="120" y="766"/>
                      <a:pt x="121" y="766"/>
                    </a:cubicBezTo>
                    <a:cubicBezTo>
                      <a:pt x="124" y="768"/>
                      <a:pt x="127" y="770"/>
                      <a:pt x="130" y="772"/>
                    </a:cubicBezTo>
                    <a:cubicBezTo>
                      <a:pt x="131" y="772"/>
                      <a:pt x="132" y="773"/>
                      <a:pt x="133" y="773"/>
                    </a:cubicBezTo>
                    <a:cubicBezTo>
                      <a:pt x="135" y="774"/>
                      <a:pt x="138" y="776"/>
                      <a:pt x="140" y="777"/>
                    </a:cubicBezTo>
                    <a:cubicBezTo>
                      <a:pt x="141" y="777"/>
                      <a:pt x="143" y="778"/>
                      <a:pt x="144" y="779"/>
                    </a:cubicBezTo>
                    <a:cubicBezTo>
                      <a:pt x="146" y="780"/>
                      <a:pt x="148" y="781"/>
                      <a:pt x="151" y="781"/>
                    </a:cubicBezTo>
                    <a:cubicBezTo>
                      <a:pt x="152" y="782"/>
                      <a:pt x="153" y="783"/>
                      <a:pt x="154" y="783"/>
                    </a:cubicBezTo>
                    <a:cubicBezTo>
                      <a:pt x="157" y="784"/>
                      <a:pt x="159" y="785"/>
                      <a:pt x="161" y="786"/>
                    </a:cubicBezTo>
                    <a:cubicBezTo>
                      <a:pt x="163" y="786"/>
                      <a:pt x="164" y="787"/>
                      <a:pt x="165" y="787"/>
                    </a:cubicBezTo>
                    <a:cubicBezTo>
                      <a:pt x="168" y="788"/>
                      <a:pt x="172" y="790"/>
                      <a:pt x="175" y="791"/>
                    </a:cubicBezTo>
                    <a:cubicBezTo>
                      <a:pt x="175" y="791"/>
                      <a:pt x="175" y="791"/>
                      <a:pt x="175" y="791"/>
                    </a:cubicBezTo>
                    <a:cubicBezTo>
                      <a:pt x="176" y="792"/>
                      <a:pt x="177" y="792"/>
                      <a:pt x="177" y="793"/>
                    </a:cubicBezTo>
                    <a:cubicBezTo>
                      <a:pt x="179" y="795"/>
                      <a:pt x="180" y="798"/>
                      <a:pt x="182" y="800"/>
                    </a:cubicBezTo>
                    <a:cubicBezTo>
                      <a:pt x="183" y="801"/>
                      <a:pt x="184" y="802"/>
                      <a:pt x="184" y="803"/>
                    </a:cubicBezTo>
                    <a:cubicBezTo>
                      <a:pt x="186" y="806"/>
                      <a:pt x="189" y="809"/>
                      <a:pt x="191" y="811"/>
                    </a:cubicBezTo>
                    <a:cubicBezTo>
                      <a:pt x="192" y="812"/>
                      <a:pt x="192" y="813"/>
                      <a:pt x="193" y="814"/>
                    </a:cubicBezTo>
                    <a:cubicBezTo>
                      <a:pt x="195" y="816"/>
                      <a:pt x="197" y="818"/>
                      <a:pt x="199" y="821"/>
                    </a:cubicBezTo>
                    <a:cubicBezTo>
                      <a:pt x="199" y="821"/>
                      <a:pt x="200" y="822"/>
                      <a:pt x="201" y="823"/>
                    </a:cubicBezTo>
                    <a:cubicBezTo>
                      <a:pt x="203" y="826"/>
                      <a:pt x="206" y="828"/>
                      <a:pt x="208" y="831"/>
                    </a:cubicBezTo>
                    <a:cubicBezTo>
                      <a:pt x="209" y="831"/>
                      <a:pt x="210" y="832"/>
                      <a:pt x="211" y="833"/>
                    </a:cubicBezTo>
                    <a:cubicBezTo>
                      <a:pt x="213" y="836"/>
                      <a:pt x="216" y="838"/>
                      <a:pt x="218" y="840"/>
                    </a:cubicBezTo>
                    <a:cubicBezTo>
                      <a:pt x="219" y="841"/>
                      <a:pt x="220" y="842"/>
                      <a:pt x="220" y="842"/>
                    </a:cubicBezTo>
                    <a:cubicBezTo>
                      <a:pt x="222" y="844"/>
                      <a:pt x="225" y="846"/>
                      <a:pt x="227" y="848"/>
                    </a:cubicBezTo>
                    <a:cubicBezTo>
                      <a:pt x="228" y="849"/>
                      <a:pt x="229" y="850"/>
                      <a:pt x="230" y="850"/>
                    </a:cubicBezTo>
                    <a:cubicBezTo>
                      <a:pt x="233" y="853"/>
                      <a:pt x="235" y="855"/>
                      <a:pt x="238" y="857"/>
                    </a:cubicBezTo>
                    <a:cubicBezTo>
                      <a:pt x="239" y="858"/>
                      <a:pt x="240" y="858"/>
                      <a:pt x="241" y="859"/>
                    </a:cubicBezTo>
                    <a:cubicBezTo>
                      <a:pt x="243" y="861"/>
                      <a:pt x="246" y="862"/>
                      <a:pt x="248" y="864"/>
                    </a:cubicBezTo>
                    <a:cubicBezTo>
                      <a:pt x="249" y="865"/>
                      <a:pt x="250" y="865"/>
                      <a:pt x="250" y="866"/>
                    </a:cubicBezTo>
                    <a:cubicBezTo>
                      <a:pt x="253" y="868"/>
                      <a:pt x="257" y="870"/>
                      <a:pt x="260" y="872"/>
                    </a:cubicBezTo>
                    <a:cubicBezTo>
                      <a:pt x="261" y="872"/>
                      <a:pt x="261" y="873"/>
                      <a:pt x="262" y="873"/>
                    </a:cubicBezTo>
                    <a:cubicBezTo>
                      <a:pt x="266" y="875"/>
                      <a:pt x="269" y="877"/>
                      <a:pt x="272" y="879"/>
                    </a:cubicBezTo>
                    <a:cubicBezTo>
                      <a:pt x="273" y="879"/>
                      <a:pt x="273" y="879"/>
                      <a:pt x="273" y="880"/>
                    </a:cubicBezTo>
                    <a:cubicBezTo>
                      <a:pt x="276" y="881"/>
                      <a:pt x="280" y="883"/>
                      <a:pt x="283" y="884"/>
                    </a:cubicBezTo>
                    <a:cubicBezTo>
                      <a:pt x="284" y="885"/>
                      <a:pt x="284" y="885"/>
                      <a:pt x="285" y="886"/>
                    </a:cubicBezTo>
                    <a:cubicBezTo>
                      <a:pt x="289" y="887"/>
                      <a:pt x="292" y="889"/>
                      <a:pt x="296" y="890"/>
                    </a:cubicBezTo>
                    <a:cubicBezTo>
                      <a:pt x="296" y="891"/>
                      <a:pt x="297" y="891"/>
                      <a:pt x="298" y="891"/>
                    </a:cubicBezTo>
                    <a:cubicBezTo>
                      <a:pt x="301" y="892"/>
                      <a:pt x="304" y="894"/>
                      <a:pt x="307" y="895"/>
                    </a:cubicBezTo>
                    <a:cubicBezTo>
                      <a:pt x="308" y="895"/>
                      <a:pt x="309" y="895"/>
                      <a:pt x="309" y="896"/>
                    </a:cubicBezTo>
                    <a:cubicBezTo>
                      <a:pt x="313" y="897"/>
                      <a:pt x="317" y="898"/>
                      <a:pt x="320" y="899"/>
                    </a:cubicBezTo>
                    <a:cubicBezTo>
                      <a:pt x="321" y="900"/>
                      <a:pt x="322" y="900"/>
                      <a:pt x="323" y="900"/>
                    </a:cubicBezTo>
                    <a:cubicBezTo>
                      <a:pt x="327" y="901"/>
                      <a:pt x="331" y="902"/>
                      <a:pt x="334" y="903"/>
                    </a:cubicBezTo>
                    <a:cubicBezTo>
                      <a:pt x="335" y="903"/>
                      <a:pt x="335" y="904"/>
                      <a:pt x="335" y="904"/>
                    </a:cubicBezTo>
                    <a:cubicBezTo>
                      <a:pt x="339" y="905"/>
                      <a:pt x="342" y="905"/>
                      <a:pt x="346" y="906"/>
                    </a:cubicBezTo>
                    <a:cubicBezTo>
                      <a:pt x="347" y="906"/>
                      <a:pt x="348" y="907"/>
                      <a:pt x="349" y="907"/>
                    </a:cubicBezTo>
                    <a:cubicBezTo>
                      <a:pt x="353" y="908"/>
                      <a:pt x="357" y="908"/>
                      <a:pt x="361" y="909"/>
                    </a:cubicBezTo>
                    <a:cubicBezTo>
                      <a:pt x="361" y="909"/>
                      <a:pt x="362" y="909"/>
                      <a:pt x="363" y="909"/>
                    </a:cubicBezTo>
                    <a:cubicBezTo>
                      <a:pt x="366" y="910"/>
                      <a:pt x="370" y="910"/>
                      <a:pt x="374" y="911"/>
                    </a:cubicBezTo>
                    <a:cubicBezTo>
                      <a:pt x="374" y="911"/>
                      <a:pt x="375" y="911"/>
                      <a:pt x="376" y="911"/>
                    </a:cubicBezTo>
                    <a:cubicBezTo>
                      <a:pt x="380" y="911"/>
                      <a:pt x="384" y="911"/>
                      <a:pt x="388" y="912"/>
                    </a:cubicBezTo>
                    <a:cubicBezTo>
                      <a:pt x="389" y="912"/>
                      <a:pt x="390" y="912"/>
                      <a:pt x="390" y="912"/>
                    </a:cubicBezTo>
                    <a:cubicBezTo>
                      <a:pt x="395" y="912"/>
                      <a:pt x="399" y="912"/>
                      <a:pt x="403" y="912"/>
                    </a:cubicBezTo>
                    <a:cubicBezTo>
                      <a:pt x="408" y="912"/>
                      <a:pt x="413" y="912"/>
                      <a:pt x="418" y="912"/>
                    </a:cubicBezTo>
                    <a:cubicBezTo>
                      <a:pt x="419" y="912"/>
                      <a:pt x="421" y="911"/>
                      <a:pt x="423" y="911"/>
                    </a:cubicBezTo>
                    <a:cubicBezTo>
                      <a:pt x="426" y="911"/>
                      <a:pt x="429" y="911"/>
                      <a:pt x="433" y="910"/>
                    </a:cubicBezTo>
                    <a:cubicBezTo>
                      <a:pt x="434" y="910"/>
                      <a:pt x="436" y="910"/>
                      <a:pt x="438" y="910"/>
                    </a:cubicBezTo>
                    <a:cubicBezTo>
                      <a:pt x="441" y="909"/>
                      <a:pt x="444" y="909"/>
                      <a:pt x="447" y="909"/>
                    </a:cubicBezTo>
                    <a:cubicBezTo>
                      <a:pt x="449" y="908"/>
                      <a:pt x="451" y="908"/>
                      <a:pt x="452" y="908"/>
                    </a:cubicBezTo>
                    <a:cubicBezTo>
                      <a:pt x="455" y="907"/>
                      <a:pt x="458" y="906"/>
                      <a:pt x="461" y="906"/>
                    </a:cubicBezTo>
                    <a:cubicBezTo>
                      <a:pt x="463" y="905"/>
                      <a:pt x="465" y="905"/>
                      <a:pt x="467" y="905"/>
                    </a:cubicBezTo>
                    <a:cubicBezTo>
                      <a:pt x="470" y="904"/>
                      <a:pt x="473" y="903"/>
                      <a:pt x="475" y="902"/>
                    </a:cubicBezTo>
                    <a:cubicBezTo>
                      <a:pt x="477" y="902"/>
                      <a:pt x="479" y="901"/>
                      <a:pt x="480" y="901"/>
                    </a:cubicBezTo>
                    <a:cubicBezTo>
                      <a:pt x="483" y="900"/>
                      <a:pt x="486" y="899"/>
                      <a:pt x="490" y="898"/>
                    </a:cubicBezTo>
                    <a:cubicBezTo>
                      <a:pt x="491" y="898"/>
                      <a:pt x="492" y="897"/>
                      <a:pt x="494" y="897"/>
                    </a:cubicBezTo>
                    <a:cubicBezTo>
                      <a:pt x="497" y="895"/>
                      <a:pt x="500" y="894"/>
                      <a:pt x="504" y="893"/>
                    </a:cubicBezTo>
                    <a:cubicBezTo>
                      <a:pt x="505" y="893"/>
                      <a:pt x="506" y="892"/>
                      <a:pt x="507" y="892"/>
                    </a:cubicBezTo>
                    <a:cubicBezTo>
                      <a:pt x="511" y="890"/>
                      <a:pt x="514" y="889"/>
                      <a:pt x="518" y="887"/>
                    </a:cubicBezTo>
                    <a:cubicBezTo>
                      <a:pt x="518" y="887"/>
                      <a:pt x="519" y="886"/>
                      <a:pt x="520" y="886"/>
                    </a:cubicBezTo>
                    <a:cubicBezTo>
                      <a:pt x="539" y="877"/>
                      <a:pt x="556" y="866"/>
                      <a:pt x="572" y="853"/>
                    </a:cubicBezTo>
                    <a:cubicBezTo>
                      <a:pt x="579" y="848"/>
                      <a:pt x="585" y="843"/>
                      <a:pt x="591" y="837"/>
                    </a:cubicBezTo>
                    <a:cubicBezTo>
                      <a:pt x="591" y="837"/>
                      <a:pt x="591" y="837"/>
                      <a:pt x="591" y="837"/>
                    </a:cubicBezTo>
                    <a:cubicBezTo>
                      <a:pt x="594" y="834"/>
                      <a:pt x="598" y="831"/>
                      <a:pt x="601" y="827"/>
                    </a:cubicBezTo>
                    <a:cubicBezTo>
                      <a:pt x="601" y="827"/>
                      <a:pt x="601" y="827"/>
                      <a:pt x="601" y="827"/>
                    </a:cubicBezTo>
                    <a:cubicBezTo>
                      <a:pt x="605" y="824"/>
                      <a:pt x="608" y="820"/>
                      <a:pt x="611" y="817"/>
                    </a:cubicBezTo>
                    <a:cubicBezTo>
                      <a:pt x="611" y="817"/>
                      <a:pt x="611" y="817"/>
                      <a:pt x="611" y="817"/>
                    </a:cubicBezTo>
                    <a:cubicBezTo>
                      <a:pt x="611" y="817"/>
                      <a:pt x="611" y="817"/>
                      <a:pt x="611" y="817"/>
                    </a:cubicBezTo>
                    <a:cubicBezTo>
                      <a:pt x="621" y="826"/>
                      <a:pt x="631" y="834"/>
                      <a:pt x="642" y="842"/>
                    </a:cubicBezTo>
                    <a:cubicBezTo>
                      <a:pt x="642" y="842"/>
                      <a:pt x="642" y="842"/>
                      <a:pt x="642" y="842"/>
                    </a:cubicBezTo>
                    <a:cubicBezTo>
                      <a:pt x="645" y="844"/>
                      <a:pt x="648" y="846"/>
                      <a:pt x="651" y="847"/>
                    </a:cubicBezTo>
                    <a:cubicBezTo>
                      <a:pt x="651" y="847"/>
                      <a:pt x="651" y="847"/>
                      <a:pt x="651" y="847"/>
                    </a:cubicBezTo>
                    <a:cubicBezTo>
                      <a:pt x="654" y="849"/>
                      <a:pt x="657" y="851"/>
                      <a:pt x="660" y="852"/>
                    </a:cubicBezTo>
                    <a:cubicBezTo>
                      <a:pt x="660" y="852"/>
                      <a:pt x="660" y="852"/>
                      <a:pt x="660" y="853"/>
                    </a:cubicBezTo>
                    <a:cubicBezTo>
                      <a:pt x="663" y="854"/>
                      <a:pt x="666" y="856"/>
                      <a:pt x="669" y="857"/>
                    </a:cubicBezTo>
                    <a:cubicBezTo>
                      <a:pt x="669" y="857"/>
                      <a:pt x="669" y="857"/>
                      <a:pt x="670" y="857"/>
                    </a:cubicBezTo>
                    <a:cubicBezTo>
                      <a:pt x="673" y="859"/>
                      <a:pt x="675" y="860"/>
                      <a:pt x="678" y="861"/>
                    </a:cubicBezTo>
                    <a:cubicBezTo>
                      <a:pt x="679" y="861"/>
                      <a:pt x="679" y="861"/>
                      <a:pt x="680" y="862"/>
                    </a:cubicBezTo>
                    <a:cubicBezTo>
                      <a:pt x="682" y="863"/>
                      <a:pt x="685" y="864"/>
                      <a:pt x="688" y="865"/>
                    </a:cubicBezTo>
                    <a:cubicBezTo>
                      <a:pt x="688" y="865"/>
                      <a:pt x="689" y="865"/>
                      <a:pt x="690" y="865"/>
                    </a:cubicBezTo>
                    <a:cubicBezTo>
                      <a:pt x="692" y="866"/>
                      <a:pt x="695" y="867"/>
                      <a:pt x="698" y="868"/>
                    </a:cubicBezTo>
                    <a:cubicBezTo>
                      <a:pt x="698" y="868"/>
                      <a:pt x="699" y="868"/>
                      <a:pt x="700" y="869"/>
                    </a:cubicBezTo>
                    <a:cubicBezTo>
                      <a:pt x="703" y="869"/>
                      <a:pt x="705" y="870"/>
                      <a:pt x="708" y="871"/>
                    </a:cubicBezTo>
                    <a:cubicBezTo>
                      <a:pt x="709" y="871"/>
                      <a:pt x="710" y="871"/>
                      <a:pt x="711" y="872"/>
                    </a:cubicBezTo>
                    <a:cubicBezTo>
                      <a:pt x="713" y="872"/>
                      <a:pt x="715" y="873"/>
                      <a:pt x="718" y="873"/>
                    </a:cubicBezTo>
                    <a:cubicBezTo>
                      <a:pt x="719" y="873"/>
                      <a:pt x="721" y="874"/>
                      <a:pt x="722" y="874"/>
                    </a:cubicBezTo>
                    <a:cubicBezTo>
                      <a:pt x="724" y="874"/>
                      <a:pt x="726" y="875"/>
                      <a:pt x="728" y="875"/>
                    </a:cubicBezTo>
                    <a:cubicBezTo>
                      <a:pt x="730" y="875"/>
                      <a:pt x="732" y="875"/>
                      <a:pt x="733" y="876"/>
                    </a:cubicBezTo>
                    <a:cubicBezTo>
                      <a:pt x="735" y="876"/>
                      <a:pt x="737" y="876"/>
                      <a:pt x="739" y="876"/>
                    </a:cubicBezTo>
                    <a:cubicBezTo>
                      <a:pt x="741" y="877"/>
                      <a:pt x="743" y="877"/>
                      <a:pt x="745" y="877"/>
                    </a:cubicBezTo>
                    <a:cubicBezTo>
                      <a:pt x="747" y="877"/>
                      <a:pt x="748" y="877"/>
                      <a:pt x="750" y="877"/>
                    </a:cubicBezTo>
                    <a:cubicBezTo>
                      <a:pt x="753" y="877"/>
                      <a:pt x="757" y="877"/>
                      <a:pt x="761" y="877"/>
                    </a:cubicBezTo>
                    <a:cubicBezTo>
                      <a:pt x="764" y="877"/>
                      <a:pt x="768" y="877"/>
                      <a:pt x="771" y="877"/>
                    </a:cubicBezTo>
                    <a:cubicBezTo>
                      <a:pt x="773" y="877"/>
                      <a:pt x="774" y="877"/>
                      <a:pt x="775" y="877"/>
                    </a:cubicBezTo>
                    <a:cubicBezTo>
                      <a:pt x="777" y="877"/>
                      <a:pt x="780" y="877"/>
                      <a:pt x="782" y="876"/>
                    </a:cubicBezTo>
                    <a:cubicBezTo>
                      <a:pt x="784" y="876"/>
                      <a:pt x="785" y="876"/>
                      <a:pt x="787" y="876"/>
                    </a:cubicBezTo>
                    <a:cubicBezTo>
                      <a:pt x="789" y="876"/>
                      <a:pt x="790" y="875"/>
                      <a:pt x="792" y="875"/>
                    </a:cubicBezTo>
                    <a:cubicBezTo>
                      <a:pt x="794" y="875"/>
                      <a:pt x="796" y="874"/>
                      <a:pt x="798" y="874"/>
                    </a:cubicBezTo>
                    <a:cubicBezTo>
                      <a:pt x="799" y="874"/>
                      <a:pt x="801" y="874"/>
                      <a:pt x="803" y="873"/>
                    </a:cubicBezTo>
                    <a:cubicBezTo>
                      <a:pt x="804" y="873"/>
                      <a:pt x="806" y="872"/>
                      <a:pt x="808" y="872"/>
                    </a:cubicBezTo>
                    <a:cubicBezTo>
                      <a:pt x="810" y="872"/>
                      <a:pt x="811" y="871"/>
                      <a:pt x="813" y="871"/>
                    </a:cubicBezTo>
                    <a:cubicBezTo>
                      <a:pt x="815" y="871"/>
                      <a:pt x="817" y="870"/>
                      <a:pt x="818" y="869"/>
                    </a:cubicBezTo>
                    <a:cubicBezTo>
                      <a:pt x="820" y="869"/>
                      <a:pt x="821" y="869"/>
                      <a:pt x="823" y="868"/>
                    </a:cubicBezTo>
                    <a:cubicBezTo>
                      <a:pt x="825" y="868"/>
                      <a:pt x="827" y="867"/>
                      <a:pt x="829" y="866"/>
                    </a:cubicBezTo>
                    <a:cubicBezTo>
                      <a:pt x="830" y="866"/>
                      <a:pt x="831" y="866"/>
                      <a:pt x="832" y="865"/>
                    </a:cubicBezTo>
                    <a:cubicBezTo>
                      <a:pt x="834" y="864"/>
                      <a:pt x="836" y="864"/>
                      <a:pt x="838" y="863"/>
                    </a:cubicBezTo>
                    <a:cubicBezTo>
                      <a:pt x="839" y="862"/>
                      <a:pt x="841" y="862"/>
                      <a:pt x="842" y="862"/>
                    </a:cubicBezTo>
                    <a:cubicBezTo>
                      <a:pt x="844" y="861"/>
                      <a:pt x="846" y="860"/>
                      <a:pt x="848" y="859"/>
                    </a:cubicBezTo>
                    <a:cubicBezTo>
                      <a:pt x="849" y="858"/>
                      <a:pt x="850" y="858"/>
                      <a:pt x="851" y="858"/>
                    </a:cubicBezTo>
                    <a:cubicBezTo>
                      <a:pt x="853" y="857"/>
                      <a:pt x="855" y="855"/>
                      <a:pt x="857" y="854"/>
                    </a:cubicBezTo>
                    <a:cubicBezTo>
                      <a:pt x="858" y="854"/>
                      <a:pt x="859" y="854"/>
                      <a:pt x="860" y="853"/>
                    </a:cubicBezTo>
                    <a:cubicBezTo>
                      <a:pt x="862" y="852"/>
                      <a:pt x="864" y="851"/>
                      <a:pt x="866" y="850"/>
                    </a:cubicBezTo>
                    <a:cubicBezTo>
                      <a:pt x="867" y="849"/>
                      <a:pt x="868" y="849"/>
                      <a:pt x="868" y="848"/>
                    </a:cubicBezTo>
                    <a:cubicBezTo>
                      <a:pt x="870" y="847"/>
                      <a:pt x="873" y="846"/>
                      <a:pt x="875" y="844"/>
                    </a:cubicBezTo>
                    <a:cubicBezTo>
                      <a:pt x="875" y="844"/>
                      <a:pt x="876" y="844"/>
                      <a:pt x="877" y="843"/>
                    </a:cubicBezTo>
                    <a:cubicBezTo>
                      <a:pt x="879" y="842"/>
                      <a:pt x="881" y="840"/>
                      <a:pt x="883" y="839"/>
                    </a:cubicBezTo>
                    <a:cubicBezTo>
                      <a:pt x="884" y="838"/>
                      <a:pt x="884" y="838"/>
                      <a:pt x="885" y="838"/>
                    </a:cubicBezTo>
                    <a:cubicBezTo>
                      <a:pt x="887" y="836"/>
                      <a:pt x="889" y="835"/>
                      <a:pt x="891" y="833"/>
                    </a:cubicBezTo>
                    <a:cubicBezTo>
                      <a:pt x="892" y="833"/>
                      <a:pt x="892" y="832"/>
                      <a:pt x="892" y="832"/>
                    </a:cubicBezTo>
                    <a:cubicBezTo>
                      <a:pt x="895" y="830"/>
                      <a:pt x="897" y="828"/>
                      <a:pt x="899" y="826"/>
                    </a:cubicBezTo>
                    <a:cubicBezTo>
                      <a:pt x="899" y="826"/>
                      <a:pt x="900" y="826"/>
                      <a:pt x="900" y="826"/>
                    </a:cubicBezTo>
                    <a:cubicBezTo>
                      <a:pt x="902" y="824"/>
                      <a:pt x="904" y="822"/>
                      <a:pt x="907" y="820"/>
                    </a:cubicBezTo>
                    <a:cubicBezTo>
                      <a:pt x="910" y="822"/>
                      <a:pt x="913" y="824"/>
                      <a:pt x="917" y="826"/>
                    </a:cubicBezTo>
                    <a:cubicBezTo>
                      <a:pt x="918" y="826"/>
                      <a:pt x="918" y="827"/>
                      <a:pt x="919" y="828"/>
                    </a:cubicBezTo>
                    <a:cubicBezTo>
                      <a:pt x="921" y="828"/>
                      <a:pt x="922" y="829"/>
                      <a:pt x="924" y="830"/>
                    </a:cubicBezTo>
                    <a:cubicBezTo>
                      <a:pt x="925" y="830"/>
                      <a:pt x="926" y="831"/>
                      <a:pt x="927" y="831"/>
                    </a:cubicBezTo>
                    <a:cubicBezTo>
                      <a:pt x="928" y="832"/>
                      <a:pt x="930" y="833"/>
                      <a:pt x="931" y="834"/>
                    </a:cubicBezTo>
                    <a:cubicBezTo>
                      <a:pt x="933" y="835"/>
                      <a:pt x="935" y="835"/>
                      <a:pt x="937" y="836"/>
                    </a:cubicBezTo>
                    <a:cubicBezTo>
                      <a:pt x="938" y="837"/>
                      <a:pt x="940" y="837"/>
                      <a:pt x="941" y="838"/>
                    </a:cubicBezTo>
                    <a:cubicBezTo>
                      <a:pt x="942" y="838"/>
                      <a:pt x="944" y="839"/>
                      <a:pt x="945" y="839"/>
                    </a:cubicBezTo>
                    <a:cubicBezTo>
                      <a:pt x="946" y="840"/>
                      <a:pt x="947" y="840"/>
                      <a:pt x="949" y="841"/>
                    </a:cubicBezTo>
                    <a:cubicBezTo>
                      <a:pt x="950" y="841"/>
                      <a:pt x="952" y="842"/>
                      <a:pt x="953" y="842"/>
                    </a:cubicBezTo>
                    <a:cubicBezTo>
                      <a:pt x="955" y="843"/>
                      <a:pt x="956" y="843"/>
                      <a:pt x="957" y="843"/>
                    </a:cubicBezTo>
                    <a:cubicBezTo>
                      <a:pt x="959" y="844"/>
                      <a:pt x="962" y="845"/>
                      <a:pt x="964" y="846"/>
                    </a:cubicBezTo>
                    <a:cubicBezTo>
                      <a:pt x="965" y="846"/>
                      <a:pt x="966" y="846"/>
                      <a:pt x="967" y="846"/>
                    </a:cubicBezTo>
                    <a:cubicBezTo>
                      <a:pt x="969" y="847"/>
                      <a:pt x="971" y="847"/>
                      <a:pt x="973" y="848"/>
                    </a:cubicBezTo>
                    <a:cubicBezTo>
                      <a:pt x="974" y="848"/>
                      <a:pt x="975" y="848"/>
                      <a:pt x="976" y="848"/>
                    </a:cubicBezTo>
                    <a:cubicBezTo>
                      <a:pt x="978" y="849"/>
                      <a:pt x="980" y="849"/>
                      <a:pt x="983" y="849"/>
                    </a:cubicBezTo>
                    <a:cubicBezTo>
                      <a:pt x="983" y="850"/>
                      <a:pt x="984" y="850"/>
                      <a:pt x="984" y="850"/>
                    </a:cubicBezTo>
                    <a:cubicBezTo>
                      <a:pt x="987" y="850"/>
                      <a:pt x="990" y="851"/>
                      <a:pt x="993" y="851"/>
                    </a:cubicBezTo>
                    <a:cubicBezTo>
                      <a:pt x="993" y="851"/>
                      <a:pt x="994" y="851"/>
                      <a:pt x="995" y="851"/>
                    </a:cubicBezTo>
                    <a:cubicBezTo>
                      <a:pt x="997" y="851"/>
                      <a:pt x="1000" y="851"/>
                      <a:pt x="1002" y="852"/>
                    </a:cubicBezTo>
                    <a:cubicBezTo>
                      <a:pt x="1003" y="852"/>
                      <a:pt x="1003" y="852"/>
                      <a:pt x="1004" y="852"/>
                    </a:cubicBezTo>
                    <a:cubicBezTo>
                      <a:pt x="1007" y="852"/>
                      <a:pt x="1010" y="852"/>
                      <a:pt x="1013" y="852"/>
                    </a:cubicBezTo>
                    <a:cubicBezTo>
                      <a:pt x="1016" y="852"/>
                      <a:pt x="1020" y="852"/>
                      <a:pt x="1023" y="852"/>
                    </a:cubicBezTo>
                    <a:cubicBezTo>
                      <a:pt x="1024" y="852"/>
                      <a:pt x="1025" y="852"/>
                      <a:pt x="1026" y="851"/>
                    </a:cubicBezTo>
                    <a:cubicBezTo>
                      <a:pt x="1028" y="851"/>
                      <a:pt x="1030" y="851"/>
                      <a:pt x="1032" y="851"/>
                    </a:cubicBezTo>
                    <a:cubicBezTo>
                      <a:pt x="1034" y="851"/>
                      <a:pt x="1035" y="851"/>
                      <a:pt x="1036" y="851"/>
                    </a:cubicBezTo>
                    <a:cubicBezTo>
                      <a:pt x="1038" y="850"/>
                      <a:pt x="1040" y="850"/>
                      <a:pt x="1042" y="850"/>
                    </a:cubicBezTo>
                    <a:cubicBezTo>
                      <a:pt x="1043" y="850"/>
                      <a:pt x="1044" y="849"/>
                      <a:pt x="1046" y="849"/>
                    </a:cubicBezTo>
                    <a:cubicBezTo>
                      <a:pt x="1047" y="849"/>
                      <a:pt x="1049" y="849"/>
                      <a:pt x="1051" y="848"/>
                    </a:cubicBezTo>
                    <a:cubicBezTo>
                      <a:pt x="1052" y="848"/>
                      <a:pt x="1054" y="848"/>
                      <a:pt x="1055" y="847"/>
                    </a:cubicBezTo>
                    <a:cubicBezTo>
                      <a:pt x="1057" y="847"/>
                      <a:pt x="1058" y="847"/>
                      <a:pt x="1060" y="846"/>
                    </a:cubicBezTo>
                    <a:cubicBezTo>
                      <a:pt x="1061" y="846"/>
                      <a:pt x="1063" y="845"/>
                      <a:pt x="1064" y="845"/>
                    </a:cubicBezTo>
                    <a:cubicBezTo>
                      <a:pt x="1066" y="845"/>
                      <a:pt x="1067" y="844"/>
                      <a:pt x="1069" y="844"/>
                    </a:cubicBezTo>
                    <a:cubicBezTo>
                      <a:pt x="1070" y="843"/>
                      <a:pt x="1072" y="843"/>
                      <a:pt x="1073" y="842"/>
                    </a:cubicBezTo>
                    <a:cubicBezTo>
                      <a:pt x="1074" y="842"/>
                      <a:pt x="1076" y="841"/>
                      <a:pt x="1078" y="841"/>
                    </a:cubicBezTo>
                    <a:cubicBezTo>
                      <a:pt x="1079" y="840"/>
                      <a:pt x="1080" y="840"/>
                      <a:pt x="1082" y="839"/>
                    </a:cubicBezTo>
                    <a:cubicBezTo>
                      <a:pt x="1083" y="839"/>
                      <a:pt x="1085" y="838"/>
                      <a:pt x="1086" y="838"/>
                    </a:cubicBezTo>
                    <a:cubicBezTo>
                      <a:pt x="1087" y="837"/>
                      <a:pt x="1089" y="837"/>
                      <a:pt x="1090" y="836"/>
                    </a:cubicBezTo>
                    <a:cubicBezTo>
                      <a:pt x="1091" y="835"/>
                      <a:pt x="1093" y="835"/>
                      <a:pt x="1094" y="834"/>
                    </a:cubicBezTo>
                    <a:cubicBezTo>
                      <a:pt x="1096" y="833"/>
                      <a:pt x="1097" y="833"/>
                      <a:pt x="1098" y="832"/>
                    </a:cubicBezTo>
                    <a:cubicBezTo>
                      <a:pt x="1100" y="831"/>
                      <a:pt x="1101" y="831"/>
                      <a:pt x="1103" y="830"/>
                    </a:cubicBezTo>
                    <a:cubicBezTo>
                      <a:pt x="1104" y="829"/>
                      <a:pt x="1105" y="829"/>
                      <a:pt x="1106" y="828"/>
                    </a:cubicBezTo>
                    <a:cubicBezTo>
                      <a:pt x="1108" y="827"/>
                      <a:pt x="1109" y="826"/>
                      <a:pt x="1111" y="826"/>
                    </a:cubicBezTo>
                    <a:cubicBezTo>
                      <a:pt x="1112" y="825"/>
                      <a:pt x="1113" y="824"/>
                      <a:pt x="1114" y="823"/>
                    </a:cubicBezTo>
                    <a:cubicBezTo>
                      <a:pt x="1115" y="823"/>
                      <a:pt x="1117" y="822"/>
                      <a:pt x="1118" y="821"/>
                    </a:cubicBezTo>
                    <a:cubicBezTo>
                      <a:pt x="1119" y="820"/>
                      <a:pt x="1121" y="819"/>
                      <a:pt x="1122" y="819"/>
                    </a:cubicBezTo>
                    <a:cubicBezTo>
                      <a:pt x="1123" y="818"/>
                      <a:pt x="1124" y="817"/>
                      <a:pt x="1126" y="816"/>
                    </a:cubicBezTo>
                    <a:cubicBezTo>
                      <a:pt x="1127" y="815"/>
                      <a:pt x="1128" y="814"/>
                      <a:pt x="1129" y="813"/>
                    </a:cubicBezTo>
                    <a:cubicBezTo>
                      <a:pt x="1130" y="812"/>
                      <a:pt x="1132" y="811"/>
                      <a:pt x="1133" y="810"/>
                    </a:cubicBezTo>
                    <a:cubicBezTo>
                      <a:pt x="1134" y="809"/>
                      <a:pt x="1135" y="808"/>
                      <a:pt x="1136" y="808"/>
                    </a:cubicBezTo>
                    <a:cubicBezTo>
                      <a:pt x="1138" y="806"/>
                      <a:pt x="1140" y="805"/>
                      <a:pt x="1142" y="803"/>
                    </a:cubicBezTo>
                    <a:cubicBezTo>
                      <a:pt x="1142" y="803"/>
                      <a:pt x="1142" y="802"/>
                      <a:pt x="1143" y="802"/>
                    </a:cubicBezTo>
                    <a:cubicBezTo>
                      <a:pt x="1160" y="802"/>
                      <a:pt x="1173" y="802"/>
                      <a:pt x="1181" y="802"/>
                    </a:cubicBezTo>
                    <a:cubicBezTo>
                      <a:pt x="1294" y="802"/>
                      <a:pt x="1386" y="711"/>
                      <a:pt x="1386" y="599"/>
                    </a:cubicBezTo>
                    <a:cubicBezTo>
                      <a:pt x="1386" y="500"/>
                      <a:pt x="1315" y="418"/>
                      <a:pt x="1220" y="40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156" name="bcgIcons_Plant, Sprout ">
            <a:extLst>
              <a:ext uri="{FF2B5EF4-FFF2-40B4-BE49-F238E27FC236}">
                <a16:creationId xmlns:a16="http://schemas.microsoft.com/office/drawing/2014/main" id="{380D52BD-B355-1873-03C1-FB49F50FDC12}"/>
              </a:ext>
            </a:extLst>
          </p:cNvPr>
          <p:cNvGrpSpPr>
            <a:grpSpLocks noChangeAspect="1"/>
          </p:cNvGrpSpPr>
          <p:nvPr/>
        </p:nvGrpSpPr>
        <p:grpSpPr bwMode="auto">
          <a:xfrm>
            <a:off x="2887396" y="3613804"/>
            <a:ext cx="402476" cy="402849"/>
            <a:chOff x="1682" y="0"/>
            <a:chExt cx="4316" cy="4320"/>
          </a:xfrm>
        </p:grpSpPr>
        <p:sp>
          <p:nvSpPr>
            <p:cNvPr id="157" name="AutoShape 28">
              <a:extLst>
                <a:ext uri="{FF2B5EF4-FFF2-40B4-BE49-F238E27FC236}">
                  <a16:creationId xmlns:a16="http://schemas.microsoft.com/office/drawing/2014/main" id="{586FB510-DCF7-2439-45D5-F82A20EF62BF}"/>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Freeform 30">
              <a:extLst>
                <a:ext uri="{FF2B5EF4-FFF2-40B4-BE49-F238E27FC236}">
                  <a16:creationId xmlns:a16="http://schemas.microsoft.com/office/drawing/2014/main" id="{9007287E-7AF6-8673-5C96-2FD574444CC2}"/>
                </a:ext>
              </a:extLst>
            </p:cNvPr>
            <p:cNvSpPr>
              <a:spLocks noEditPoints="1"/>
            </p:cNvSpPr>
            <p:nvPr/>
          </p:nvSpPr>
          <p:spPr bwMode="auto">
            <a:xfrm>
              <a:off x="2742" y="911"/>
              <a:ext cx="2209" cy="2625"/>
            </a:xfrm>
            <a:custGeom>
              <a:avLst/>
              <a:gdLst>
                <a:gd name="T0" fmla="*/ 288 w 1179"/>
                <a:gd name="T1" fmla="*/ 867 h 1400"/>
                <a:gd name="T2" fmla="*/ 93 w 1179"/>
                <a:gd name="T3" fmla="*/ 749 h 1400"/>
                <a:gd name="T4" fmla="*/ 55 w 1179"/>
                <a:gd name="T5" fmla="*/ 426 h 1400"/>
                <a:gd name="T6" fmla="*/ 352 w 1179"/>
                <a:gd name="T7" fmla="*/ 560 h 1400"/>
                <a:gd name="T8" fmla="*/ 405 w 1179"/>
                <a:gd name="T9" fmla="*/ 790 h 1400"/>
                <a:gd name="T10" fmla="*/ 285 w 1179"/>
                <a:gd name="T11" fmla="*/ 639 h 1400"/>
                <a:gd name="T12" fmla="*/ 236 w 1179"/>
                <a:gd name="T13" fmla="*/ 615 h 1400"/>
                <a:gd name="T14" fmla="*/ 202 w 1179"/>
                <a:gd name="T15" fmla="*/ 626 h 1400"/>
                <a:gd name="T16" fmla="*/ 174 w 1179"/>
                <a:gd name="T17" fmla="*/ 666 h 1400"/>
                <a:gd name="T18" fmla="*/ 184 w 1179"/>
                <a:gd name="T19" fmla="*/ 712 h 1400"/>
                <a:gd name="T20" fmla="*/ 288 w 1179"/>
                <a:gd name="T21" fmla="*/ 867 h 1400"/>
                <a:gd name="T22" fmla="*/ 950 w 1179"/>
                <a:gd name="T23" fmla="*/ 663 h 1400"/>
                <a:gd name="T24" fmla="*/ 926 w 1179"/>
                <a:gd name="T25" fmla="*/ 666 h 1400"/>
                <a:gd name="T26" fmla="*/ 633 w 1179"/>
                <a:gd name="T27" fmla="*/ 1036 h 1400"/>
                <a:gd name="T28" fmla="*/ 633 w 1179"/>
                <a:gd name="T29" fmla="*/ 1036 h 1400"/>
                <a:gd name="T30" fmla="*/ 604 w 1179"/>
                <a:gd name="T31" fmla="*/ 346 h 1400"/>
                <a:gd name="T32" fmla="*/ 586 w 1179"/>
                <a:gd name="T33" fmla="*/ 328 h 1400"/>
                <a:gd name="T34" fmla="*/ 567 w 1179"/>
                <a:gd name="T35" fmla="*/ 346 h 1400"/>
                <a:gd name="T36" fmla="*/ 541 w 1179"/>
                <a:gd name="T37" fmla="*/ 1033 h 1400"/>
                <a:gd name="T38" fmla="*/ 250 w 1179"/>
                <a:gd name="T39" fmla="*/ 666 h 1400"/>
                <a:gd name="T40" fmla="*/ 226 w 1179"/>
                <a:gd name="T41" fmla="*/ 663 h 1400"/>
                <a:gd name="T42" fmla="*/ 220 w 1179"/>
                <a:gd name="T43" fmla="*/ 687 h 1400"/>
                <a:gd name="T44" fmla="*/ 441 w 1179"/>
                <a:gd name="T45" fmla="*/ 1016 h 1400"/>
                <a:gd name="T46" fmla="*/ 534 w 1179"/>
                <a:gd name="T47" fmla="*/ 1154 h 1400"/>
                <a:gd name="T48" fmla="*/ 528 w 1179"/>
                <a:gd name="T49" fmla="*/ 1284 h 1400"/>
                <a:gd name="T50" fmla="*/ 525 w 1179"/>
                <a:gd name="T51" fmla="*/ 1336 h 1400"/>
                <a:gd name="T52" fmla="*/ 525 w 1179"/>
                <a:gd name="T53" fmla="*/ 1341 h 1400"/>
                <a:gd name="T54" fmla="*/ 588 w 1179"/>
                <a:gd name="T55" fmla="*/ 1400 h 1400"/>
                <a:gd name="T56" fmla="*/ 647 w 1179"/>
                <a:gd name="T57" fmla="*/ 1336 h 1400"/>
                <a:gd name="T58" fmla="*/ 638 w 1179"/>
                <a:gd name="T59" fmla="*/ 1160 h 1400"/>
                <a:gd name="T60" fmla="*/ 737 w 1179"/>
                <a:gd name="T61" fmla="*/ 1013 h 1400"/>
                <a:gd name="T62" fmla="*/ 764 w 1179"/>
                <a:gd name="T63" fmla="*/ 973 h 1400"/>
                <a:gd name="T64" fmla="*/ 956 w 1179"/>
                <a:gd name="T65" fmla="*/ 687 h 1400"/>
                <a:gd name="T66" fmla="*/ 950 w 1179"/>
                <a:gd name="T67" fmla="*/ 663 h 1400"/>
                <a:gd name="T68" fmla="*/ 523 w 1179"/>
                <a:gd name="T69" fmla="*/ 344 h 1400"/>
                <a:gd name="T70" fmla="*/ 524 w 1179"/>
                <a:gd name="T71" fmla="*/ 343 h 1400"/>
                <a:gd name="T72" fmla="*/ 584 w 1179"/>
                <a:gd name="T73" fmla="*/ 284 h 1400"/>
                <a:gd name="T74" fmla="*/ 589 w 1179"/>
                <a:gd name="T75" fmla="*/ 284 h 1400"/>
                <a:gd name="T76" fmla="*/ 648 w 1179"/>
                <a:gd name="T77" fmla="*/ 340 h 1400"/>
                <a:gd name="T78" fmla="*/ 648 w 1179"/>
                <a:gd name="T79" fmla="*/ 342 h 1400"/>
                <a:gd name="T80" fmla="*/ 648 w 1179"/>
                <a:gd name="T81" fmla="*/ 344 h 1400"/>
                <a:gd name="T82" fmla="*/ 656 w 1179"/>
                <a:gd name="T83" fmla="*/ 536 h 1400"/>
                <a:gd name="T84" fmla="*/ 758 w 1179"/>
                <a:gd name="T85" fmla="*/ 303 h 1400"/>
                <a:gd name="T86" fmla="*/ 586 w 1179"/>
                <a:gd name="T87" fmla="*/ 0 h 1400"/>
                <a:gd name="T88" fmla="*/ 415 w 1179"/>
                <a:gd name="T89" fmla="*/ 303 h 1400"/>
                <a:gd name="T90" fmla="*/ 516 w 1179"/>
                <a:gd name="T91" fmla="*/ 536 h 1400"/>
                <a:gd name="T92" fmla="*/ 523 w 1179"/>
                <a:gd name="T93" fmla="*/ 344 h 1400"/>
                <a:gd name="T94" fmla="*/ 1124 w 1179"/>
                <a:gd name="T95" fmla="*/ 426 h 1400"/>
                <a:gd name="T96" fmla="*/ 826 w 1179"/>
                <a:gd name="T97" fmla="*/ 560 h 1400"/>
                <a:gd name="T98" fmla="*/ 773 w 1179"/>
                <a:gd name="T99" fmla="*/ 788 h 1400"/>
                <a:gd name="T100" fmla="*/ 892 w 1179"/>
                <a:gd name="T101" fmla="*/ 639 h 1400"/>
                <a:gd name="T102" fmla="*/ 940 w 1179"/>
                <a:gd name="T103" fmla="*/ 615 h 1400"/>
                <a:gd name="T104" fmla="*/ 975 w 1179"/>
                <a:gd name="T105" fmla="*/ 626 h 1400"/>
                <a:gd name="T106" fmla="*/ 1002 w 1179"/>
                <a:gd name="T107" fmla="*/ 666 h 1400"/>
                <a:gd name="T108" fmla="*/ 992 w 1179"/>
                <a:gd name="T109" fmla="*/ 712 h 1400"/>
                <a:gd name="T110" fmla="*/ 887 w 1179"/>
                <a:gd name="T111" fmla="*/ 868 h 1400"/>
                <a:gd name="T112" fmla="*/ 1086 w 1179"/>
                <a:gd name="T113" fmla="*/ 749 h 1400"/>
                <a:gd name="T114" fmla="*/ 1124 w 1179"/>
                <a:gd name="T115" fmla="*/ 426 h 1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79" h="1400">
                  <a:moveTo>
                    <a:pt x="288" y="867"/>
                  </a:moveTo>
                  <a:cubicBezTo>
                    <a:pt x="223" y="850"/>
                    <a:pt x="142" y="816"/>
                    <a:pt x="93" y="749"/>
                  </a:cubicBezTo>
                  <a:cubicBezTo>
                    <a:pt x="0" y="623"/>
                    <a:pt x="55" y="426"/>
                    <a:pt x="55" y="426"/>
                  </a:cubicBezTo>
                  <a:cubicBezTo>
                    <a:pt x="55" y="426"/>
                    <a:pt x="259" y="434"/>
                    <a:pt x="352" y="560"/>
                  </a:cubicBezTo>
                  <a:cubicBezTo>
                    <a:pt x="403" y="631"/>
                    <a:pt x="409" y="723"/>
                    <a:pt x="405" y="790"/>
                  </a:cubicBezTo>
                  <a:cubicBezTo>
                    <a:pt x="298" y="656"/>
                    <a:pt x="286" y="640"/>
                    <a:pt x="285" y="639"/>
                  </a:cubicBezTo>
                  <a:cubicBezTo>
                    <a:pt x="273" y="624"/>
                    <a:pt x="255" y="615"/>
                    <a:pt x="236" y="615"/>
                  </a:cubicBezTo>
                  <a:cubicBezTo>
                    <a:pt x="224" y="615"/>
                    <a:pt x="212" y="619"/>
                    <a:pt x="202" y="626"/>
                  </a:cubicBezTo>
                  <a:cubicBezTo>
                    <a:pt x="187" y="635"/>
                    <a:pt x="178" y="650"/>
                    <a:pt x="174" y="666"/>
                  </a:cubicBezTo>
                  <a:cubicBezTo>
                    <a:pt x="171" y="682"/>
                    <a:pt x="175" y="699"/>
                    <a:pt x="184" y="712"/>
                  </a:cubicBezTo>
                  <a:cubicBezTo>
                    <a:pt x="226" y="775"/>
                    <a:pt x="260" y="826"/>
                    <a:pt x="288" y="867"/>
                  </a:cubicBezTo>
                  <a:close/>
                  <a:moveTo>
                    <a:pt x="950" y="663"/>
                  </a:moveTo>
                  <a:cubicBezTo>
                    <a:pt x="943" y="657"/>
                    <a:pt x="932" y="658"/>
                    <a:pt x="926" y="666"/>
                  </a:cubicBezTo>
                  <a:cubicBezTo>
                    <a:pt x="652" y="1012"/>
                    <a:pt x="634" y="1035"/>
                    <a:pt x="633" y="1036"/>
                  </a:cubicBezTo>
                  <a:cubicBezTo>
                    <a:pt x="633" y="1036"/>
                    <a:pt x="633" y="1036"/>
                    <a:pt x="633" y="1036"/>
                  </a:cubicBezTo>
                  <a:cubicBezTo>
                    <a:pt x="622" y="760"/>
                    <a:pt x="604" y="346"/>
                    <a:pt x="604" y="346"/>
                  </a:cubicBezTo>
                  <a:cubicBezTo>
                    <a:pt x="603" y="336"/>
                    <a:pt x="596" y="328"/>
                    <a:pt x="586" y="328"/>
                  </a:cubicBezTo>
                  <a:cubicBezTo>
                    <a:pt x="576" y="327"/>
                    <a:pt x="568" y="335"/>
                    <a:pt x="567" y="346"/>
                  </a:cubicBezTo>
                  <a:cubicBezTo>
                    <a:pt x="559" y="563"/>
                    <a:pt x="548" y="902"/>
                    <a:pt x="541" y="1033"/>
                  </a:cubicBezTo>
                  <a:cubicBezTo>
                    <a:pt x="258" y="677"/>
                    <a:pt x="250" y="666"/>
                    <a:pt x="250" y="666"/>
                  </a:cubicBezTo>
                  <a:cubicBezTo>
                    <a:pt x="244" y="658"/>
                    <a:pt x="234" y="657"/>
                    <a:pt x="226" y="663"/>
                  </a:cubicBezTo>
                  <a:cubicBezTo>
                    <a:pt x="217" y="668"/>
                    <a:pt x="215" y="680"/>
                    <a:pt x="220" y="687"/>
                  </a:cubicBezTo>
                  <a:cubicBezTo>
                    <a:pt x="415" y="978"/>
                    <a:pt x="441" y="1016"/>
                    <a:pt x="441" y="1016"/>
                  </a:cubicBezTo>
                  <a:cubicBezTo>
                    <a:pt x="534" y="1154"/>
                    <a:pt x="534" y="1154"/>
                    <a:pt x="534" y="1154"/>
                  </a:cubicBezTo>
                  <a:cubicBezTo>
                    <a:pt x="528" y="1324"/>
                    <a:pt x="528" y="1284"/>
                    <a:pt x="528" y="1284"/>
                  </a:cubicBezTo>
                  <a:cubicBezTo>
                    <a:pt x="525" y="1336"/>
                    <a:pt x="525" y="1336"/>
                    <a:pt x="525" y="1336"/>
                  </a:cubicBezTo>
                  <a:cubicBezTo>
                    <a:pt x="525" y="1338"/>
                    <a:pt x="525" y="1340"/>
                    <a:pt x="525" y="1341"/>
                  </a:cubicBezTo>
                  <a:cubicBezTo>
                    <a:pt x="527" y="1375"/>
                    <a:pt x="555" y="1400"/>
                    <a:pt x="588" y="1400"/>
                  </a:cubicBezTo>
                  <a:cubicBezTo>
                    <a:pt x="622" y="1398"/>
                    <a:pt x="648" y="1370"/>
                    <a:pt x="647" y="1336"/>
                  </a:cubicBezTo>
                  <a:cubicBezTo>
                    <a:pt x="638" y="1120"/>
                    <a:pt x="638" y="1160"/>
                    <a:pt x="638" y="1160"/>
                  </a:cubicBezTo>
                  <a:cubicBezTo>
                    <a:pt x="737" y="1013"/>
                    <a:pt x="737" y="1013"/>
                    <a:pt x="737" y="1013"/>
                  </a:cubicBezTo>
                  <a:cubicBezTo>
                    <a:pt x="764" y="973"/>
                    <a:pt x="764" y="973"/>
                    <a:pt x="764" y="973"/>
                  </a:cubicBezTo>
                  <a:cubicBezTo>
                    <a:pt x="956" y="687"/>
                    <a:pt x="956" y="687"/>
                    <a:pt x="956" y="687"/>
                  </a:cubicBezTo>
                  <a:cubicBezTo>
                    <a:pt x="962" y="680"/>
                    <a:pt x="960" y="668"/>
                    <a:pt x="950" y="663"/>
                  </a:cubicBezTo>
                  <a:close/>
                  <a:moveTo>
                    <a:pt x="523" y="344"/>
                  </a:moveTo>
                  <a:cubicBezTo>
                    <a:pt x="524" y="343"/>
                    <a:pt x="524" y="343"/>
                    <a:pt x="524" y="343"/>
                  </a:cubicBezTo>
                  <a:cubicBezTo>
                    <a:pt x="525" y="310"/>
                    <a:pt x="552" y="284"/>
                    <a:pt x="584" y="284"/>
                  </a:cubicBezTo>
                  <a:cubicBezTo>
                    <a:pt x="586" y="284"/>
                    <a:pt x="587" y="284"/>
                    <a:pt x="589" y="284"/>
                  </a:cubicBezTo>
                  <a:cubicBezTo>
                    <a:pt x="619" y="286"/>
                    <a:pt x="644" y="309"/>
                    <a:pt x="648" y="340"/>
                  </a:cubicBezTo>
                  <a:cubicBezTo>
                    <a:pt x="648" y="342"/>
                    <a:pt x="648" y="342"/>
                    <a:pt x="648" y="342"/>
                  </a:cubicBezTo>
                  <a:cubicBezTo>
                    <a:pt x="648" y="344"/>
                    <a:pt x="648" y="344"/>
                    <a:pt x="648" y="344"/>
                  </a:cubicBezTo>
                  <a:cubicBezTo>
                    <a:pt x="648" y="346"/>
                    <a:pt x="652" y="425"/>
                    <a:pt x="656" y="536"/>
                  </a:cubicBezTo>
                  <a:cubicBezTo>
                    <a:pt x="704" y="480"/>
                    <a:pt x="758" y="396"/>
                    <a:pt x="758" y="303"/>
                  </a:cubicBezTo>
                  <a:cubicBezTo>
                    <a:pt x="758" y="136"/>
                    <a:pt x="586" y="0"/>
                    <a:pt x="586" y="0"/>
                  </a:cubicBezTo>
                  <a:cubicBezTo>
                    <a:pt x="586" y="0"/>
                    <a:pt x="415" y="136"/>
                    <a:pt x="415" y="303"/>
                  </a:cubicBezTo>
                  <a:cubicBezTo>
                    <a:pt x="415" y="397"/>
                    <a:pt x="469" y="480"/>
                    <a:pt x="516" y="536"/>
                  </a:cubicBezTo>
                  <a:cubicBezTo>
                    <a:pt x="519" y="467"/>
                    <a:pt x="521" y="402"/>
                    <a:pt x="523" y="344"/>
                  </a:cubicBezTo>
                  <a:close/>
                  <a:moveTo>
                    <a:pt x="1124" y="426"/>
                  </a:moveTo>
                  <a:cubicBezTo>
                    <a:pt x="1124" y="426"/>
                    <a:pt x="919" y="434"/>
                    <a:pt x="826" y="560"/>
                  </a:cubicBezTo>
                  <a:cubicBezTo>
                    <a:pt x="776" y="630"/>
                    <a:pt x="769" y="720"/>
                    <a:pt x="773" y="788"/>
                  </a:cubicBezTo>
                  <a:cubicBezTo>
                    <a:pt x="806" y="747"/>
                    <a:pt x="845" y="697"/>
                    <a:pt x="892" y="639"/>
                  </a:cubicBezTo>
                  <a:cubicBezTo>
                    <a:pt x="904" y="624"/>
                    <a:pt x="921" y="615"/>
                    <a:pt x="940" y="615"/>
                  </a:cubicBezTo>
                  <a:cubicBezTo>
                    <a:pt x="953" y="615"/>
                    <a:pt x="965" y="619"/>
                    <a:pt x="975" y="626"/>
                  </a:cubicBezTo>
                  <a:cubicBezTo>
                    <a:pt x="989" y="635"/>
                    <a:pt x="999" y="650"/>
                    <a:pt x="1002" y="666"/>
                  </a:cubicBezTo>
                  <a:cubicBezTo>
                    <a:pt x="1005" y="682"/>
                    <a:pt x="1001" y="699"/>
                    <a:pt x="992" y="712"/>
                  </a:cubicBezTo>
                  <a:cubicBezTo>
                    <a:pt x="887" y="868"/>
                    <a:pt x="887" y="868"/>
                    <a:pt x="887" y="868"/>
                  </a:cubicBezTo>
                  <a:cubicBezTo>
                    <a:pt x="953" y="851"/>
                    <a:pt x="1036" y="817"/>
                    <a:pt x="1086" y="749"/>
                  </a:cubicBezTo>
                  <a:cubicBezTo>
                    <a:pt x="1179" y="623"/>
                    <a:pt x="1124" y="426"/>
                    <a:pt x="1124" y="426"/>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Freeform 31">
              <a:extLst>
                <a:ext uri="{FF2B5EF4-FFF2-40B4-BE49-F238E27FC236}">
                  <a16:creationId xmlns:a16="http://schemas.microsoft.com/office/drawing/2014/main" id="{9AC11C76-CC04-B976-A539-B36504314C04}"/>
                </a:ext>
              </a:extLst>
            </p:cNvPr>
            <p:cNvSpPr>
              <a:spLocks noEditPoints="1"/>
            </p:cNvSpPr>
            <p:nvPr/>
          </p:nvSpPr>
          <p:spPr bwMode="auto">
            <a:xfrm>
              <a:off x="2429" y="3203"/>
              <a:ext cx="2825" cy="658"/>
            </a:xfrm>
            <a:custGeom>
              <a:avLst/>
              <a:gdLst>
                <a:gd name="T0" fmla="*/ 1508 w 1508"/>
                <a:gd name="T1" fmla="*/ 329 h 351"/>
                <a:gd name="T2" fmla="*/ 1486 w 1508"/>
                <a:gd name="T3" fmla="*/ 351 h 351"/>
                <a:gd name="T4" fmla="*/ 1213 w 1508"/>
                <a:gd name="T5" fmla="*/ 223 h 351"/>
                <a:gd name="T6" fmla="*/ 855 w 1508"/>
                <a:gd name="T7" fmla="*/ 44 h 351"/>
                <a:gd name="T8" fmla="*/ 853 w 1508"/>
                <a:gd name="T9" fmla="*/ 0 h 351"/>
                <a:gd name="T10" fmla="*/ 1239 w 1508"/>
                <a:gd name="T11" fmla="*/ 187 h 351"/>
                <a:gd name="T12" fmla="*/ 1486 w 1508"/>
                <a:gd name="T13" fmla="*/ 307 h 351"/>
                <a:gd name="T14" fmla="*/ 1508 w 1508"/>
                <a:gd name="T15" fmla="*/ 329 h 351"/>
                <a:gd name="T16" fmla="*/ 655 w 1508"/>
                <a:gd name="T17" fmla="*/ 0 h 351"/>
                <a:gd name="T18" fmla="*/ 269 w 1508"/>
                <a:gd name="T19" fmla="*/ 187 h 351"/>
                <a:gd name="T20" fmla="*/ 22 w 1508"/>
                <a:gd name="T21" fmla="*/ 307 h 351"/>
                <a:gd name="T22" fmla="*/ 0 w 1508"/>
                <a:gd name="T23" fmla="*/ 329 h 351"/>
                <a:gd name="T24" fmla="*/ 22 w 1508"/>
                <a:gd name="T25" fmla="*/ 351 h 351"/>
                <a:gd name="T26" fmla="*/ 295 w 1508"/>
                <a:gd name="T27" fmla="*/ 223 h 351"/>
                <a:gd name="T28" fmla="*/ 653 w 1508"/>
                <a:gd name="T29" fmla="*/ 44 h 351"/>
                <a:gd name="T30" fmla="*/ 655 w 1508"/>
                <a:gd name="T31" fmla="*/ 0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351">
                  <a:moveTo>
                    <a:pt x="1508" y="329"/>
                  </a:moveTo>
                  <a:cubicBezTo>
                    <a:pt x="1508" y="341"/>
                    <a:pt x="1499" y="351"/>
                    <a:pt x="1486" y="351"/>
                  </a:cubicBezTo>
                  <a:cubicBezTo>
                    <a:pt x="1395" y="351"/>
                    <a:pt x="1311" y="292"/>
                    <a:pt x="1213" y="223"/>
                  </a:cubicBezTo>
                  <a:cubicBezTo>
                    <a:pt x="1111" y="151"/>
                    <a:pt x="998" y="71"/>
                    <a:pt x="855" y="44"/>
                  </a:cubicBezTo>
                  <a:cubicBezTo>
                    <a:pt x="854" y="28"/>
                    <a:pt x="854" y="13"/>
                    <a:pt x="853" y="0"/>
                  </a:cubicBezTo>
                  <a:cubicBezTo>
                    <a:pt x="1011" y="27"/>
                    <a:pt x="1136" y="114"/>
                    <a:pt x="1239" y="187"/>
                  </a:cubicBezTo>
                  <a:cubicBezTo>
                    <a:pt x="1330" y="251"/>
                    <a:pt x="1409" y="307"/>
                    <a:pt x="1486" y="307"/>
                  </a:cubicBezTo>
                  <a:cubicBezTo>
                    <a:pt x="1499" y="307"/>
                    <a:pt x="1508" y="317"/>
                    <a:pt x="1508" y="329"/>
                  </a:cubicBezTo>
                  <a:close/>
                  <a:moveTo>
                    <a:pt x="655" y="0"/>
                  </a:moveTo>
                  <a:cubicBezTo>
                    <a:pt x="496" y="27"/>
                    <a:pt x="372" y="114"/>
                    <a:pt x="269" y="187"/>
                  </a:cubicBezTo>
                  <a:cubicBezTo>
                    <a:pt x="178" y="251"/>
                    <a:pt x="99" y="307"/>
                    <a:pt x="22" y="307"/>
                  </a:cubicBezTo>
                  <a:cubicBezTo>
                    <a:pt x="9" y="307"/>
                    <a:pt x="0" y="317"/>
                    <a:pt x="0" y="329"/>
                  </a:cubicBezTo>
                  <a:cubicBezTo>
                    <a:pt x="0" y="341"/>
                    <a:pt x="9" y="351"/>
                    <a:pt x="22" y="351"/>
                  </a:cubicBezTo>
                  <a:cubicBezTo>
                    <a:pt x="113" y="351"/>
                    <a:pt x="197" y="292"/>
                    <a:pt x="295" y="223"/>
                  </a:cubicBezTo>
                  <a:cubicBezTo>
                    <a:pt x="397" y="151"/>
                    <a:pt x="510" y="71"/>
                    <a:pt x="653" y="44"/>
                  </a:cubicBezTo>
                  <a:cubicBezTo>
                    <a:pt x="653" y="35"/>
                    <a:pt x="654" y="21"/>
                    <a:pt x="655"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60" name="bcgIcons_Thumbs Up ">
            <a:extLst>
              <a:ext uri="{FF2B5EF4-FFF2-40B4-BE49-F238E27FC236}">
                <a16:creationId xmlns:a16="http://schemas.microsoft.com/office/drawing/2014/main" id="{C1983D21-9D1E-C9F6-DB45-6AFB090E7CA1}"/>
              </a:ext>
            </a:extLst>
          </p:cNvPr>
          <p:cNvGrpSpPr>
            <a:grpSpLocks noChangeAspect="1"/>
          </p:cNvGrpSpPr>
          <p:nvPr/>
        </p:nvGrpSpPr>
        <p:grpSpPr bwMode="auto">
          <a:xfrm>
            <a:off x="3572090" y="3627693"/>
            <a:ext cx="386275" cy="386633"/>
            <a:chOff x="1682" y="0"/>
            <a:chExt cx="4316" cy="4320"/>
          </a:xfrm>
        </p:grpSpPr>
        <p:sp>
          <p:nvSpPr>
            <p:cNvPr id="161" name="AutoShape 3">
              <a:extLst>
                <a:ext uri="{FF2B5EF4-FFF2-40B4-BE49-F238E27FC236}">
                  <a16:creationId xmlns:a16="http://schemas.microsoft.com/office/drawing/2014/main" id="{1B121405-E76C-5914-E96A-DC7FA9EDC475}"/>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Freeform 5">
              <a:extLst>
                <a:ext uri="{FF2B5EF4-FFF2-40B4-BE49-F238E27FC236}">
                  <a16:creationId xmlns:a16="http://schemas.microsoft.com/office/drawing/2014/main" id="{02971A03-6092-49BA-2CBB-59138DF64B35}"/>
                </a:ext>
              </a:extLst>
            </p:cNvPr>
            <p:cNvSpPr>
              <a:spLocks/>
            </p:cNvSpPr>
            <p:nvPr/>
          </p:nvSpPr>
          <p:spPr bwMode="auto">
            <a:xfrm>
              <a:off x="3248" y="698"/>
              <a:ext cx="2034" cy="2919"/>
            </a:xfrm>
            <a:custGeom>
              <a:avLst/>
              <a:gdLst>
                <a:gd name="T0" fmla="*/ 1086 w 1086"/>
                <a:gd name="T1" fmla="*/ 681 h 1557"/>
                <a:gd name="T2" fmla="*/ 530 w 1086"/>
                <a:gd name="T3" fmla="*/ 537 h 1557"/>
                <a:gd name="T4" fmla="*/ 593 w 1086"/>
                <a:gd name="T5" fmla="*/ 253 h 1557"/>
                <a:gd name="T6" fmla="*/ 391 w 1086"/>
                <a:gd name="T7" fmla="*/ 4 h 1557"/>
                <a:gd name="T8" fmla="*/ 279 w 1086"/>
                <a:gd name="T9" fmla="*/ 114 h 1557"/>
                <a:gd name="T10" fmla="*/ 279 w 1086"/>
                <a:gd name="T11" fmla="*/ 221 h 1557"/>
                <a:gd name="T12" fmla="*/ 0 w 1086"/>
                <a:gd name="T13" fmla="*/ 523 h 1557"/>
                <a:gd name="T14" fmla="*/ 203 w 1086"/>
                <a:gd name="T15" fmla="*/ 459 h 1557"/>
                <a:gd name="T16" fmla="*/ 323 w 1086"/>
                <a:gd name="T17" fmla="*/ 114 h 1557"/>
                <a:gd name="T18" fmla="*/ 386 w 1086"/>
                <a:gd name="T19" fmla="*/ 48 h 1557"/>
                <a:gd name="T20" fmla="*/ 549 w 1086"/>
                <a:gd name="T21" fmla="*/ 257 h 1557"/>
                <a:gd name="T22" fmla="*/ 476 w 1086"/>
                <a:gd name="T23" fmla="*/ 570 h 1557"/>
                <a:gd name="T24" fmla="*/ 942 w 1086"/>
                <a:gd name="T25" fmla="*/ 581 h 1557"/>
                <a:gd name="T26" fmla="*/ 942 w 1086"/>
                <a:gd name="T27" fmla="*/ 781 h 1557"/>
                <a:gd name="T28" fmla="*/ 917 w 1086"/>
                <a:gd name="T29" fmla="*/ 780 h 1557"/>
                <a:gd name="T30" fmla="*/ 757 w 1086"/>
                <a:gd name="T31" fmla="*/ 802 h 1557"/>
                <a:gd name="T32" fmla="*/ 807 w 1086"/>
                <a:gd name="T33" fmla="*/ 824 h 1557"/>
                <a:gd name="T34" fmla="*/ 924 w 1086"/>
                <a:gd name="T35" fmla="*/ 825 h 1557"/>
                <a:gd name="T36" fmla="*/ 917 w 1086"/>
                <a:gd name="T37" fmla="*/ 1024 h 1557"/>
                <a:gd name="T38" fmla="*/ 874 w 1086"/>
                <a:gd name="T39" fmla="*/ 1025 h 1557"/>
                <a:gd name="T40" fmla="*/ 757 w 1086"/>
                <a:gd name="T41" fmla="*/ 1024 h 1557"/>
                <a:gd name="T42" fmla="*/ 757 w 1086"/>
                <a:gd name="T43" fmla="*/ 1068 h 1557"/>
                <a:gd name="T44" fmla="*/ 961 w 1086"/>
                <a:gd name="T45" fmla="*/ 1168 h 1557"/>
                <a:gd name="T46" fmla="*/ 793 w 1086"/>
                <a:gd name="T47" fmla="*/ 1269 h 1557"/>
                <a:gd name="T48" fmla="*/ 724 w 1086"/>
                <a:gd name="T49" fmla="*/ 1269 h 1557"/>
                <a:gd name="T50" fmla="*/ 724 w 1086"/>
                <a:gd name="T51" fmla="*/ 1313 h 1557"/>
                <a:gd name="T52" fmla="*/ 793 w 1086"/>
                <a:gd name="T53" fmla="*/ 1313 h 1557"/>
                <a:gd name="T54" fmla="*/ 793 w 1086"/>
                <a:gd name="T55" fmla="*/ 1513 h 1557"/>
                <a:gd name="T56" fmla="*/ 26 w 1086"/>
                <a:gd name="T57" fmla="*/ 1394 h 1557"/>
                <a:gd name="T58" fmla="*/ 344 w 1086"/>
                <a:gd name="T59" fmla="*/ 1557 h 1557"/>
                <a:gd name="T60" fmla="*/ 937 w 1086"/>
                <a:gd name="T61" fmla="*/ 1413 h 1557"/>
                <a:gd name="T62" fmla="*/ 1005 w 1086"/>
                <a:gd name="T63" fmla="*/ 1168 h 1557"/>
                <a:gd name="T64" fmla="*/ 1061 w 1086"/>
                <a:gd name="T65" fmla="*/ 924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86" h="1557">
                  <a:moveTo>
                    <a:pt x="1004" y="810"/>
                  </a:moveTo>
                  <a:cubicBezTo>
                    <a:pt x="1052" y="787"/>
                    <a:pt x="1086" y="738"/>
                    <a:pt x="1086" y="681"/>
                  </a:cubicBezTo>
                  <a:cubicBezTo>
                    <a:pt x="1086" y="601"/>
                    <a:pt x="1021" y="537"/>
                    <a:pt x="942" y="537"/>
                  </a:cubicBezTo>
                  <a:cubicBezTo>
                    <a:pt x="530" y="537"/>
                    <a:pt x="530" y="537"/>
                    <a:pt x="530" y="537"/>
                  </a:cubicBezTo>
                  <a:cubicBezTo>
                    <a:pt x="553" y="485"/>
                    <a:pt x="593" y="378"/>
                    <a:pt x="593" y="255"/>
                  </a:cubicBezTo>
                  <a:cubicBezTo>
                    <a:pt x="593" y="255"/>
                    <a:pt x="593" y="254"/>
                    <a:pt x="593" y="253"/>
                  </a:cubicBezTo>
                  <a:cubicBezTo>
                    <a:pt x="592" y="251"/>
                    <a:pt x="586" y="193"/>
                    <a:pt x="559" y="134"/>
                  </a:cubicBezTo>
                  <a:cubicBezTo>
                    <a:pt x="522" y="52"/>
                    <a:pt x="464" y="7"/>
                    <a:pt x="391" y="4"/>
                  </a:cubicBezTo>
                  <a:cubicBezTo>
                    <a:pt x="383" y="3"/>
                    <a:pt x="344" y="0"/>
                    <a:pt x="313" y="26"/>
                  </a:cubicBezTo>
                  <a:cubicBezTo>
                    <a:pt x="291" y="46"/>
                    <a:pt x="279" y="75"/>
                    <a:pt x="279" y="114"/>
                  </a:cubicBezTo>
                  <a:cubicBezTo>
                    <a:pt x="279" y="221"/>
                    <a:pt x="279" y="221"/>
                    <a:pt x="279" y="221"/>
                  </a:cubicBezTo>
                  <a:cubicBezTo>
                    <a:pt x="279" y="221"/>
                    <a:pt x="279" y="221"/>
                    <a:pt x="279" y="221"/>
                  </a:cubicBezTo>
                  <a:cubicBezTo>
                    <a:pt x="279" y="223"/>
                    <a:pt x="283" y="364"/>
                    <a:pt x="181" y="420"/>
                  </a:cubicBezTo>
                  <a:cubicBezTo>
                    <a:pt x="132" y="448"/>
                    <a:pt x="63" y="487"/>
                    <a:pt x="0" y="523"/>
                  </a:cubicBezTo>
                  <a:cubicBezTo>
                    <a:pt x="12" y="531"/>
                    <a:pt x="21" y="544"/>
                    <a:pt x="25" y="559"/>
                  </a:cubicBezTo>
                  <a:cubicBezTo>
                    <a:pt x="86" y="524"/>
                    <a:pt x="154" y="486"/>
                    <a:pt x="203" y="459"/>
                  </a:cubicBezTo>
                  <a:cubicBezTo>
                    <a:pt x="326" y="390"/>
                    <a:pt x="324" y="232"/>
                    <a:pt x="323" y="220"/>
                  </a:cubicBezTo>
                  <a:cubicBezTo>
                    <a:pt x="323" y="114"/>
                    <a:pt x="323" y="114"/>
                    <a:pt x="323" y="114"/>
                  </a:cubicBezTo>
                  <a:cubicBezTo>
                    <a:pt x="323" y="89"/>
                    <a:pt x="330" y="70"/>
                    <a:pt x="342" y="60"/>
                  </a:cubicBezTo>
                  <a:cubicBezTo>
                    <a:pt x="359" y="44"/>
                    <a:pt x="386" y="48"/>
                    <a:pt x="386" y="48"/>
                  </a:cubicBezTo>
                  <a:cubicBezTo>
                    <a:pt x="387" y="48"/>
                    <a:pt x="388" y="48"/>
                    <a:pt x="389" y="48"/>
                  </a:cubicBezTo>
                  <a:cubicBezTo>
                    <a:pt x="520" y="52"/>
                    <a:pt x="547" y="241"/>
                    <a:pt x="549" y="257"/>
                  </a:cubicBezTo>
                  <a:cubicBezTo>
                    <a:pt x="548" y="413"/>
                    <a:pt x="476" y="547"/>
                    <a:pt x="476" y="548"/>
                  </a:cubicBezTo>
                  <a:cubicBezTo>
                    <a:pt x="472" y="555"/>
                    <a:pt x="472" y="563"/>
                    <a:pt x="476" y="570"/>
                  </a:cubicBezTo>
                  <a:cubicBezTo>
                    <a:pt x="480" y="577"/>
                    <a:pt x="487" y="581"/>
                    <a:pt x="495" y="581"/>
                  </a:cubicBezTo>
                  <a:cubicBezTo>
                    <a:pt x="942" y="581"/>
                    <a:pt x="942" y="581"/>
                    <a:pt x="942" y="581"/>
                  </a:cubicBezTo>
                  <a:cubicBezTo>
                    <a:pt x="997" y="581"/>
                    <a:pt x="1042" y="626"/>
                    <a:pt x="1042" y="681"/>
                  </a:cubicBezTo>
                  <a:cubicBezTo>
                    <a:pt x="1042" y="736"/>
                    <a:pt x="997" y="781"/>
                    <a:pt x="942" y="781"/>
                  </a:cubicBezTo>
                  <a:cubicBezTo>
                    <a:pt x="926" y="781"/>
                    <a:pt x="926" y="781"/>
                    <a:pt x="926" y="781"/>
                  </a:cubicBezTo>
                  <a:cubicBezTo>
                    <a:pt x="923" y="781"/>
                    <a:pt x="920" y="780"/>
                    <a:pt x="917" y="780"/>
                  </a:cubicBezTo>
                  <a:cubicBezTo>
                    <a:pt x="779" y="780"/>
                    <a:pt x="779" y="780"/>
                    <a:pt x="779" y="780"/>
                  </a:cubicBezTo>
                  <a:cubicBezTo>
                    <a:pt x="767" y="780"/>
                    <a:pt x="757" y="790"/>
                    <a:pt x="757" y="802"/>
                  </a:cubicBezTo>
                  <a:cubicBezTo>
                    <a:pt x="757" y="815"/>
                    <a:pt x="767" y="824"/>
                    <a:pt x="779" y="824"/>
                  </a:cubicBezTo>
                  <a:cubicBezTo>
                    <a:pt x="807" y="824"/>
                    <a:pt x="807" y="824"/>
                    <a:pt x="807" y="824"/>
                  </a:cubicBezTo>
                  <a:cubicBezTo>
                    <a:pt x="809" y="825"/>
                    <a:pt x="810" y="825"/>
                    <a:pt x="811" y="825"/>
                  </a:cubicBezTo>
                  <a:cubicBezTo>
                    <a:pt x="924" y="825"/>
                    <a:pt x="924" y="825"/>
                    <a:pt x="924" y="825"/>
                  </a:cubicBezTo>
                  <a:cubicBezTo>
                    <a:pt x="976" y="829"/>
                    <a:pt x="1017" y="872"/>
                    <a:pt x="1017" y="924"/>
                  </a:cubicBezTo>
                  <a:cubicBezTo>
                    <a:pt x="1017" y="980"/>
                    <a:pt x="972" y="1024"/>
                    <a:pt x="917" y="1024"/>
                  </a:cubicBezTo>
                  <a:cubicBezTo>
                    <a:pt x="879" y="1024"/>
                    <a:pt x="879" y="1024"/>
                    <a:pt x="879" y="1024"/>
                  </a:cubicBezTo>
                  <a:cubicBezTo>
                    <a:pt x="877" y="1024"/>
                    <a:pt x="875" y="1025"/>
                    <a:pt x="874" y="1025"/>
                  </a:cubicBezTo>
                  <a:cubicBezTo>
                    <a:pt x="869" y="1025"/>
                    <a:pt x="865" y="1024"/>
                    <a:pt x="861" y="1024"/>
                  </a:cubicBezTo>
                  <a:cubicBezTo>
                    <a:pt x="757" y="1024"/>
                    <a:pt x="757" y="1024"/>
                    <a:pt x="757" y="1024"/>
                  </a:cubicBezTo>
                  <a:cubicBezTo>
                    <a:pt x="745" y="1024"/>
                    <a:pt x="735" y="1034"/>
                    <a:pt x="735" y="1046"/>
                  </a:cubicBezTo>
                  <a:cubicBezTo>
                    <a:pt x="735" y="1059"/>
                    <a:pt x="745" y="1068"/>
                    <a:pt x="757" y="1068"/>
                  </a:cubicBezTo>
                  <a:cubicBezTo>
                    <a:pt x="861" y="1068"/>
                    <a:pt x="861" y="1068"/>
                    <a:pt x="861" y="1068"/>
                  </a:cubicBezTo>
                  <a:cubicBezTo>
                    <a:pt x="916" y="1068"/>
                    <a:pt x="961" y="1113"/>
                    <a:pt x="961" y="1168"/>
                  </a:cubicBezTo>
                  <a:cubicBezTo>
                    <a:pt x="961" y="1224"/>
                    <a:pt x="916" y="1269"/>
                    <a:pt x="861" y="1269"/>
                  </a:cubicBezTo>
                  <a:cubicBezTo>
                    <a:pt x="793" y="1269"/>
                    <a:pt x="793" y="1269"/>
                    <a:pt x="793" y="1269"/>
                  </a:cubicBezTo>
                  <a:cubicBezTo>
                    <a:pt x="757" y="1269"/>
                    <a:pt x="757" y="1269"/>
                    <a:pt x="757" y="1269"/>
                  </a:cubicBezTo>
                  <a:cubicBezTo>
                    <a:pt x="724" y="1269"/>
                    <a:pt x="724" y="1269"/>
                    <a:pt x="724" y="1269"/>
                  </a:cubicBezTo>
                  <a:cubicBezTo>
                    <a:pt x="712" y="1269"/>
                    <a:pt x="702" y="1278"/>
                    <a:pt x="702" y="1291"/>
                  </a:cubicBezTo>
                  <a:cubicBezTo>
                    <a:pt x="702" y="1303"/>
                    <a:pt x="712" y="1313"/>
                    <a:pt x="724" y="1313"/>
                  </a:cubicBezTo>
                  <a:cubicBezTo>
                    <a:pt x="757" y="1313"/>
                    <a:pt x="757" y="1313"/>
                    <a:pt x="757" y="1313"/>
                  </a:cubicBezTo>
                  <a:cubicBezTo>
                    <a:pt x="793" y="1313"/>
                    <a:pt x="793" y="1313"/>
                    <a:pt x="793" y="1313"/>
                  </a:cubicBezTo>
                  <a:cubicBezTo>
                    <a:pt x="848" y="1313"/>
                    <a:pt x="893" y="1357"/>
                    <a:pt x="893" y="1413"/>
                  </a:cubicBezTo>
                  <a:cubicBezTo>
                    <a:pt x="893" y="1468"/>
                    <a:pt x="848" y="1513"/>
                    <a:pt x="793" y="1513"/>
                  </a:cubicBezTo>
                  <a:cubicBezTo>
                    <a:pt x="344" y="1513"/>
                    <a:pt x="344" y="1513"/>
                    <a:pt x="344" y="1513"/>
                  </a:cubicBezTo>
                  <a:cubicBezTo>
                    <a:pt x="301" y="1513"/>
                    <a:pt x="175" y="1513"/>
                    <a:pt x="26" y="1394"/>
                  </a:cubicBezTo>
                  <a:cubicBezTo>
                    <a:pt x="26" y="1449"/>
                    <a:pt x="26" y="1449"/>
                    <a:pt x="26" y="1449"/>
                  </a:cubicBezTo>
                  <a:cubicBezTo>
                    <a:pt x="126" y="1521"/>
                    <a:pt x="230" y="1557"/>
                    <a:pt x="344" y="1557"/>
                  </a:cubicBezTo>
                  <a:cubicBezTo>
                    <a:pt x="793" y="1557"/>
                    <a:pt x="793" y="1557"/>
                    <a:pt x="793" y="1557"/>
                  </a:cubicBezTo>
                  <a:cubicBezTo>
                    <a:pt x="872" y="1557"/>
                    <a:pt x="937" y="1492"/>
                    <a:pt x="937" y="1413"/>
                  </a:cubicBezTo>
                  <a:cubicBezTo>
                    <a:pt x="937" y="1372"/>
                    <a:pt x="920" y="1335"/>
                    <a:pt x="892" y="1309"/>
                  </a:cubicBezTo>
                  <a:cubicBezTo>
                    <a:pt x="957" y="1294"/>
                    <a:pt x="1005" y="1237"/>
                    <a:pt x="1005" y="1168"/>
                  </a:cubicBezTo>
                  <a:cubicBezTo>
                    <a:pt x="1005" y="1127"/>
                    <a:pt x="987" y="1089"/>
                    <a:pt x="958" y="1062"/>
                  </a:cubicBezTo>
                  <a:cubicBezTo>
                    <a:pt x="1017" y="1045"/>
                    <a:pt x="1061" y="989"/>
                    <a:pt x="1061" y="924"/>
                  </a:cubicBezTo>
                  <a:cubicBezTo>
                    <a:pt x="1061" y="878"/>
                    <a:pt x="1039" y="837"/>
                    <a:pt x="1004" y="81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Freeform 6">
              <a:extLst>
                <a:ext uri="{FF2B5EF4-FFF2-40B4-BE49-F238E27FC236}">
                  <a16:creationId xmlns:a16="http://schemas.microsoft.com/office/drawing/2014/main" id="{FA934F92-01F5-1C6F-C72E-5052DCF0CFF1}"/>
                </a:ext>
              </a:extLst>
            </p:cNvPr>
            <p:cNvSpPr>
              <a:spLocks noEditPoints="1"/>
            </p:cNvSpPr>
            <p:nvPr/>
          </p:nvSpPr>
          <p:spPr bwMode="auto">
            <a:xfrm>
              <a:off x="2368" y="1740"/>
              <a:ext cx="846" cy="1723"/>
            </a:xfrm>
            <a:custGeom>
              <a:avLst/>
              <a:gdLst>
                <a:gd name="T0" fmla="*/ 193 w 452"/>
                <a:gd name="T1" fmla="*/ 773 h 919"/>
                <a:gd name="T2" fmla="*/ 146 w 452"/>
                <a:gd name="T3" fmla="*/ 820 h 919"/>
                <a:gd name="T4" fmla="*/ 99 w 452"/>
                <a:gd name="T5" fmla="*/ 773 h 919"/>
                <a:gd name="T6" fmla="*/ 146 w 452"/>
                <a:gd name="T7" fmla="*/ 726 h 919"/>
                <a:gd name="T8" fmla="*/ 193 w 452"/>
                <a:gd name="T9" fmla="*/ 773 h 919"/>
                <a:gd name="T10" fmla="*/ 452 w 452"/>
                <a:gd name="T11" fmla="*/ 22 h 919"/>
                <a:gd name="T12" fmla="*/ 452 w 452"/>
                <a:gd name="T13" fmla="*/ 897 h 919"/>
                <a:gd name="T14" fmla="*/ 430 w 452"/>
                <a:gd name="T15" fmla="*/ 919 h 919"/>
                <a:gd name="T16" fmla="*/ 22 w 452"/>
                <a:gd name="T17" fmla="*/ 919 h 919"/>
                <a:gd name="T18" fmla="*/ 0 w 452"/>
                <a:gd name="T19" fmla="*/ 897 h 919"/>
                <a:gd name="T20" fmla="*/ 0 w 452"/>
                <a:gd name="T21" fmla="*/ 22 h 919"/>
                <a:gd name="T22" fmla="*/ 22 w 452"/>
                <a:gd name="T23" fmla="*/ 0 h 919"/>
                <a:gd name="T24" fmla="*/ 430 w 452"/>
                <a:gd name="T25" fmla="*/ 0 h 919"/>
                <a:gd name="T26" fmla="*/ 452 w 452"/>
                <a:gd name="T27" fmla="*/ 22 h 919"/>
                <a:gd name="T28" fmla="*/ 237 w 452"/>
                <a:gd name="T29" fmla="*/ 773 h 919"/>
                <a:gd name="T30" fmla="*/ 146 w 452"/>
                <a:gd name="T31" fmla="*/ 682 h 919"/>
                <a:gd name="T32" fmla="*/ 55 w 452"/>
                <a:gd name="T33" fmla="*/ 773 h 919"/>
                <a:gd name="T34" fmla="*/ 146 w 452"/>
                <a:gd name="T35" fmla="*/ 864 h 919"/>
                <a:gd name="T36" fmla="*/ 237 w 452"/>
                <a:gd name="T37" fmla="*/ 773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52" h="919">
                  <a:moveTo>
                    <a:pt x="193" y="773"/>
                  </a:moveTo>
                  <a:cubicBezTo>
                    <a:pt x="193" y="799"/>
                    <a:pt x="172" y="820"/>
                    <a:pt x="146" y="820"/>
                  </a:cubicBezTo>
                  <a:cubicBezTo>
                    <a:pt x="120" y="820"/>
                    <a:pt x="99" y="799"/>
                    <a:pt x="99" y="773"/>
                  </a:cubicBezTo>
                  <a:cubicBezTo>
                    <a:pt x="99" y="747"/>
                    <a:pt x="120" y="726"/>
                    <a:pt x="146" y="726"/>
                  </a:cubicBezTo>
                  <a:cubicBezTo>
                    <a:pt x="172" y="726"/>
                    <a:pt x="193" y="747"/>
                    <a:pt x="193" y="773"/>
                  </a:cubicBezTo>
                  <a:close/>
                  <a:moveTo>
                    <a:pt x="452" y="22"/>
                  </a:moveTo>
                  <a:cubicBezTo>
                    <a:pt x="452" y="897"/>
                    <a:pt x="452" y="897"/>
                    <a:pt x="452" y="897"/>
                  </a:cubicBezTo>
                  <a:cubicBezTo>
                    <a:pt x="452" y="909"/>
                    <a:pt x="442" y="919"/>
                    <a:pt x="430" y="919"/>
                  </a:cubicBezTo>
                  <a:cubicBezTo>
                    <a:pt x="22" y="919"/>
                    <a:pt x="22" y="919"/>
                    <a:pt x="22" y="919"/>
                  </a:cubicBezTo>
                  <a:cubicBezTo>
                    <a:pt x="10" y="919"/>
                    <a:pt x="0" y="909"/>
                    <a:pt x="0" y="897"/>
                  </a:cubicBezTo>
                  <a:cubicBezTo>
                    <a:pt x="0" y="22"/>
                    <a:pt x="0" y="22"/>
                    <a:pt x="0" y="22"/>
                  </a:cubicBezTo>
                  <a:cubicBezTo>
                    <a:pt x="0" y="10"/>
                    <a:pt x="10" y="0"/>
                    <a:pt x="22" y="0"/>
                  </a:cubicBezTo>
                  <a:cubicBezTo>
                    <a:pt x="430" y="0"/>
                    <a:pt x="430" y="0"/>
                    <a:pt x="430" y="0"/>
                  </a:cubicBezTo>
                  <a:cubicBezTo>
                    <a:pt x="442" y="0"/>
                    <a:pt x="452" y="10"/>
                    <a:pt x="452" y="22"/>
                  </a:cubicBezTo>
                  <a:close/>
                  <a:moveTo>
                    <a:pt x="237" y="773"/>
                  </a:moveTo>
                  <a:cubicBezTo>
                    <a:pt x="237" y="722"/>
                    <a:pt x="196" y="682"/>
                    <a:pt x="146" y="682"/>
                  </a:cubicBezTo>
                  <a:cubicBezTo>
                    <a:pt x="96" y="682"/>
                    <a:pt x="55" y="722"/>
                    <a:pt x="55" y="773"/>
                  </a:cubicBezTo>
                  <a:cubicBezTo>
                    <a:pt x="55" y="823"/>
                    <a:pt x="96" y="864"/>
                    <a:pt x="146" y="864"/>
                  </a:cubicBezTo>
                  <a:cubicBezTo>
                    <a:pt x="196" y="864"/>
                    <a:pt x="237" y="823"/>
                    <a:pt x="237" y="773"/>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64" name="object 69">
            <a:extLst>
              <a:ext uri="{FF2B5EF4-FFF2-40B4-BE49-F238E27FC236}">
                <a16:creationId xmlns:a16="http://schemas.microsoft.com/office/drawing/2014/main" id="{80776917-F1EC-81E9-328B-17C091586316}"/>
              </a:ext>
            </a:extLst>
          </p:cNvPr>
          <p:cNvSpPr txBox="1"/>
          <p:nvPr/>
        </p:nvSpPr>
        <p:spPr>
          <a:xfrm>
            <a:off x="1495335" y="4073198"/>
            <a:ext cx="511838" cy="197490"/>
          </a:xfrm>
          <a:prstGeom prst="rect">
            <a:avLst/>
          </a:prstGeom>
        </p:spPr>
        <p:txBody>
          <a:bodyPr vert="horz" wrap="square" lIns="0" tIns="12700" rIns="0" bIns="0" rtlCol="0">
            <a:spAutoFit/>
          </a:bodyPr>
          <a:lstStyle>
            <a:defPPr>
              <a:defRPr lang="en-US"/>
            </a:defPPr>
            <a:lvl1pPr algn="ctr">
              <a:lnSpc>
                <a:spcPct val="100000"/>
              </a:lnSpc>
              <a:spcBef>
                <a:spcPts val="100"/>
              </a:spcBef>
              <a:defRPr sz="1200" i="1" spc="-10">
                <a:solidFill>
                  <a:srgbClr val="414042"/>
                </a:solidFill>
                <a:latin typeface="Trebuchet MS"/>
                <a:ea typeface="Microsoft YaHei" panose="020B0503020204020204" pitchFamily="34" charset="-122"/>
                <a:cs typeface="Trebuchet MS"/>
              </a:defRPr>
            </a:lvl1pPr>
          </a:lstStyle>
          <a:p>
            <a:r>
              <a:rPr lang="zh-TW" altLang="en-US" i="0"/>
              <a:t>地點</a:t>
            </a:r>
            <a:endParaRPr i="0"/>
          </a:p>
        </p:txBody>
      </p:sp>
      <p:sp>
        <p:nvSpPr>
          <p:cNvPr id="165" name="object 70">
            <a:extLst>
              <a:ext uri="{FF2B5EF4-FFF2-40B4-BE49-F238E27FC236}">
                <a16:creationId xmlns:a16="http://schemas.microsoft.com/office/drawing/2014/main" id="{871B80EE-4BAF-6821-CE5A-D601FA057F56}"/>
              </a:ext>
            </a:extLst>
          </p:cNvPr>
          <p:cNvSpPr txBox="1"/>
          <p:nvPr/>
        </p:nvSpPr>
        <p:spPr>
          <a:xfrm>
            <a:off x="2160272" y="4073198"/>
            <a:ext cx="511838" cy="197490"/>
          </a:xfrm>
          <a:prstGeom prst="rect">
            <a:avLst/>
          </a:prstGeom>
        </p:spPr>
        <p:txBody>
          <a:bodyPr vert="horz" wrap="square" lIns="0" tIns="12700" rIns="0" bIns="0" rtlCol="0">
            <a:spAutoFit/>
          </a:bodyPr>
          <a:lstStyle/>
          <a:p>
            <a:pPr algn="ctr">
              <a:lnSpc>
                <a:spcPct val="100000"/>
              </a:lnSpc>
              <a:spcBef>
                <a:spcPts val="100"/>
              </a:spcBef>
            </a:pPr>
            <a:r>
              <a:rPr lang="zh-TW" altLang="en-US" sz="1200" spc="-10">
                <a:solidFill>
                  <a:srgbClr val="414042"/>
                </a:solidFill>
                <a:latin typeface="Trebuchet MS"/>
                <a:ea typeface="Microsoft YaHei" panose="020B0503020204020204" pitchFamily="34" charset="-122"/>
                <a:cs typeface="Trebuchet MS"/>
              </a:rPr>
              <a:t>天氣</a:t>
            </a:r>
            <a:endParaRPr sz="1200">
              <a:latin typeface="Trebuchet MS"/>
              <a:ea typeface="Microsoft YaHei" panose="020B0503020204020204" pitchFamily="34" charset="-122"/>
              <a:cs typeface="Trebuchet MS"/>
            </a:endParaRPr>
          </a:p>
        </p:txBody>
      </p:sp>
      <p:sp>
        <p:nvSpPr>
          <p:cNvPr id="166" name="object 71">
            <a:extLst>
              <a:ext uri="{FF2B5EF4-FFF2-40B4-BE49-F238E27FC236}">
                <a16:creationId xmlns:a16="http://schemas.microsoft.com/office/drawing/2014/main" id="{B2D884DE-C641-536B-9DF1-72B249BBEF91}"/>
              </a:ext>
            </a:extLst>
          </p:cNvPr>
          <p:cNvSpPr txBox="1"/>
          <p:nvPr/>
        </p:nvSpPr>
        <p:spPr>
          <a:xfrm>
            <a:off x="3378844" y="4073198"/>
            <a:ext cx="734442" cy="197490"/>
          </a:xfrm>
          <a:prstGeom prst="rect">
            <a:avLst/>
          </a:prstGeom>
        </p:spPr>
        <p:txBody>
          <a:bodyPr vert="horz" wrap="square" lIns="0" tIns="12700" rIns="0" bIns="0" rtlCol="0">
            <a:spAutoFit/>
          </a:bodyPr>
          <a:lstStyle>
            <a:defPPr>
              <a:defRPr lang="en-US"/>
            </a:defPPr>
            <a:lvl1pPr algn="ctr">
              <a:lnSpc>
                <a:spcPct val="100000"/>
              </a:lnSpc>
              <a:spcBef>
                <a:spcPts val="100"/>
              </a:spcBef>
              <a:defRPr sz="1200" i="1" spc="-10">
                <a:solidFill>
                  <a:srgbClr val="414042"/>
                </a:solidFill>
                <a:latin typeface="Trebuchet MS"/>
                <a:ea typeface="Microsoft YaHei" panose="020B0503020204020204" pitchFamily="34" charset="-122"/>
                <a:cs typeface="Trebuchet MS"/>
              </a:defRPr>
            </a:lvl1pPr>
          </a:lstStyle>
          <a:p>
            <a:r>
              <a:rPr lang="zh-TW" altLang="en-US" i="0"/>
              <a:t>社群文案</a:t>
            </a:r>
            <a:endParaRPr i="0"/>
          </a:p>
        </p:txBody>
      </p:sp>
      <p:sp>
        <p:nvSpPr>
          <p:cNvPr id="167" name="object 72">
            <a:extLst>
              <a:ext uri="{FF2B5EF4-FFF2-40B4-BE49-F238E27FC236}">
                <a16:creationId xmlns:a16="http://schemas.microsoft.com/office/drawing/2014/main" id="{42816936-9C3D-C823-4FC0-C4838910E128}"/>
              </a:ext>
            </a:extLst>
          </p:cNvPr>
          <p:cNvSpPr txBox="1"/>
          <p:nvPr/>
        </p:nvSpPr>
        <p:spPr>
          <a:xfrm>
            <a:off x="4820020" y="4073198"/>
            <a:ext cx="511838" cy="197490"/>
          </a:xfrm>
          <a:prstGeom prst="rect">
            <a:avLst/>
          </a:prstGeom>
        </p:spPr>
        <p:txBody>
          <a:bodyPr vert="horz" wrap="square" lIns="0" tIns="12700" rIns="0" bIns="0" rtlCol="0">
            <a:spAutoFit/>
          </a:bodyPr>
          <a:lstStyle>
            <a:defPPr>
              <a:defRPr lang="en-US"/>
            </a:defPPr>
            <a:lvl1pPr algn="ctr">
              <a:lnSpc>
                <a:spcPct val="100000"/>
              </a:lnSpc>
              <a:spcBef>
                <a:spcPts val="100"/>
              </a:spcBef>
              <a:defRPr sz="1200" i="1" spc="-10">
                <a:solidFill>
                  <a:srgbClr val="414042"/>
                </a:solidFill>
                <a:latin typeface="Trebuchet MS"/>
                <a:ea typeface="Microsoft YaHei" panose="020B0503020204020204" pitchFamily="34" charset="-122"/>
                <a:cs typeface="Trebuchet MS"/>
              </a:defRPr>
            </a:lvl1pPr>
          </a:lstStyle>
          <a:p>
            <a:r>
              <a:rPr lang="zh-TW" altLang="en-US" i="0"/>
              <a:t>時間</a:t>
            </a:r>
            <a:endParaRPr i="0"/>
          </a:p>
        </p:txBody>
      </p:sp>
      <p:sp>
        <p:nvSpPr>
          <p:cNvPr id="168" name="object 73">
            <a:extLst>
              <a:ext uri="{FF2B5EF4-FFF2-40B4-BE49-F238E27FC236}">
                <a16:creationId xmlns:a16="http://schemas.microsoft.com/office/drawing/2014/main" id="{1A8E4773-DEEF-8D2F-5718-DE29E14FE917}"/>
              </a:ext>
            </a:extLst>
          </p:cNvPr>
          <p:cNvSpPr txBox="1"/>
          <p:nvPr/>
        </p:nvSpPr>
        <p:spPr>
          <a:xfrm>
            <a:off x="5484957" y="4073198"/>
            <a:ext cx="511838" cy="197490"/>
          </a:xfrm>
          <a:prstGeom prst="rect">
            <a:avLst/>
          </a:prstGeom>
        </p:spPr>
        <p:txBody>
          <a:bodyPr vert="horz" wrap="square" lIns="0" tIns="12700" rIns="0" bIns="0" rtlCol="0">
            <a:spAutoFit/>
          </a:bodyPr>
          <a:lstStyle>
            <a:defPPr>
              <a:defRPr lang="en-US"/>
            </a:defPPr>
            <a:lvl1pPr algn="ctr">
              <a:lnSpc>
                <a:spcPct val="100000"/>
              </a:lnSpc>
              <a:spcBef>
                <a:spcPts val="100"/>
              </a:spcBef>
              <a:defRPr sz="1200" i="1" spc="-10">
                <a:solidFill>
                  <a:srgbClr val="414042"/>
                </a:solidFill>
                <a:latin typeface="Trebuchet MS"/>
                <a:ea typeface="Microsoft YaHei" panose="020B0503020204020204" pitchFamily="34" charset="-122"/>
                <a:cs typeface="Trebuchet MS"/>
              </a:defRPr>
            </a:lvl1pPr>
          </a:lstStyle>
          <a:p>
            <a:r>
              <a:rPr lang="zh-TW" altLang="en-US" i="0"/>
              <a:t>星期</a:t>
            </a:r>
            <a:endParaRPr i="0"/>
          </a:p>
        </p:txBody>
      </p:sp>
      <p:sp>
        <p:nvSpPr>
          <p:cNvPr id="169" name="object 74">
            <a:extLst>
              <a:ext uri="{FF2B5EF4-FFF2-40B4-BE49-F238E27FC236}">
                <a16:creationId xmlns:a16="http://schemas.microsoft.com/office/drawing/2014/main" id="{0528001D-5677-3186-B4CF-3EE85EDBD242}"/>
              </a:ext>
            </a:extLst>
          </p:cNvPr>
          <p:cNvSpPr txBox="1"/>
          <p:nvPr/>
        </p:nvSpPr>
        <p:spPr>
          <a:xfrm>
            <a:off x="6149894" y="4073198"/>
            <a:ext cx="511838" cy="197490"/>
          </a:xfrm>
          <a:prstGeom prst="rect">
            <a:avLst/>
          </a:prstGeom>
        </p:spPr>
        <p:txBody>
          <a:bodyPr vert="horz" wrap="square" lIns="0" tIns="12700" rIns="0" bIns="0" rtlCol="0">
            <a:spAutoFit/>
          </a:bodyPr>
          <a:lstStyle>
            <a:defPPr>
              <a:defRPr lang="en-US"/>
            </a:defPPr>
            <a:lvl1pPr algn="ctr">
              <a:lnSpc>
                <a:spcPct val="100000"/>
              </a:lnSpc>
              <a:spcBef>
                <a:spcPts val="100"/>
              </a:spcBef>
              <a:defRPr sz="1200" i="1" spc="-10">
                <a:solidFill>
                  <a:srgbClr val="414042"/>
                </a:solidFill>
                <a:latin typeface="Trebuchet MS"/>
                <a:ea typeface="Microsoft YaHei" panose="020B0503020204020204" pitchFamily="34" charset="-122"/>
                <a:cs typeface="Trebuchet MS"/>
              </a:defRPr>
            </a:lvl1pPr>
          </a:lstStyle>
          <a:p>
            <a:r>
              <a:rPr lang="zh-TW" altLang="en-US" i="0"/>
              <a:t>頻率</a:t>
            </a:r>
            <a:endParaRPr i="0"/>
          </a:p>
        </p:txBody>
      </p:sp>
      <p:sp>
        <p:nvSpPr>
          <p:cNvPr id="170" name="object 75">
            <a:extLst>
              <a:ext uri="{FF2B5EF4-FFF2-40B4-BE49-F238E27FC236}">
                <a16:creationId xmlns:a16="http://schemas.microsoft.com/office/drawing/2014/main" id="{F4FE5516-373B-4647-3B4D-D6532FA07AF2}"/>
              </a:ext>
            </a:extLst>
          </p:cNvPr>
          <p:cNvSpPr txBox="1"/>
          <p:nvPr/>
        </p:nvSpPr>
        <p:spPr>
          <a:xfrm>
            <a:off x="2825209" y="4073198"/>
            <a:ext cx="511838" cy="197490"/>
          </a:xfrm>
          <a:prstGeom prst="rect">
            <a:avLst/>
          </a:prstGeom>
        </p:spPr>
        <p:txBody>
          <a:bodyPr vert="horz" wrap="square" lIns="0" tIns="12700" rIns="0" bIns="0" rtlCol="0">
            <a:spAutoFit/>
          </a:bodyPr>
          <a:lstStyle>
            <a:defPPr>
              <a:defRPr lang="en-US"/>
            </a:defPPr>
            <a:lvl1pPr algn="ctr">
              <a:lnSpc>
                <a:spcPct val="100000"/>
              </a:lnSpc>
              <a:spcBef>
                <a:spcPts val="100"/>
              </a:spcBef>
              <a:defRPr sz="1200" i="1" spc="-10">
                <a:solidFill>
                  <a:srgbClr val="414042"/>
                </a:solidFill>
                <a:latin typeface="Trebuchet MS"/>
                <a:ea typeface="Microsoft YaHei" panose="020B0503020204020204" pitchFamily="34" charset="-122"/>
                <a:cs typeface="Trebuchet MS"/>
              </a:defRPr>
            </a:lvl1pPr>
          </a:lstStyle>
          <a:p>
            <a:r>
              <a:rPr lang="zh-TW" altLang="en-US" i="0"/>
              <a:t>季節</a:t>
            </a:r>
            <a:endParaRPr i="0"/>
          </a:p>
        </p:txBody>
      </p:sp>
      <p:sp>
        <p:nvSpPr>
          <p:cNvPr id="172" name="object 74">
            <a:extLst>
              <a:ext uri="{FF2B5EF4-FFF2-40B4-BE49-F238E27FC236}">
                <a16:creationId xmlns:a16="http://schemas.microsoft.com/office/drawing/2014/main" id="{F3498DD1-356B-3949-B8FD-A985C4E49481}"/>
              </a:ext>
            </a:extLst>
          </p:cNvPr>
          <p:cNvSpPr txBox="1"/>
          <p:nvPr/>
        </p:nvSpPr>
        <p:spPr>
          <a:xfrm>
            <a:off x="6814832" y="4073198"/>
            <a:ext cx="511838" cy="197490"/>
          </a:xfrm>
          <a:prstGeom prst="rect">
            <a:avLst/>
          </a:prstGeom>
        </p:spPr>
        <p:txBody>
          <a:bodyPr vert="horz" wrap="square" lIns="0" tIns="12700" rIns="0" bIns="0" rtlCol="0">
            <a:spAutoFit/>
          </a:bodyPr>
          <a:lstStyle>
            <a:defPPr>
              <a:defRPr lang="en-US"/>
            </a:defPPr>
            <a:lvl1pPr algn="ctr">
              <a:lnSpc>
                <a:spcPct val="100000"/>
              </a:lnSpc>
              <a:spcBef>
                <a:spcPts val="100"/>
              </a:spcBef>
              <a:defRPr sz="1200" i="1" spc="-10">
                <a:solidFill>
                  <a:srgbClr val="414042"/>
                </a:solidFill>
                <a:latin typeface="Trebuchet MS"/>
                <a:ea typeface="Microsoft YaHei" panose="020B0503020204020204" pitchFamily="34" charset="-122"/>
                <a:cs typeface="Trebuchet MS"/>
              </a:defRPr>
            </a:lvl1pPr>
          </a:lstStyle>
          <a:p>
            <a:r>
              <a:rPr lang="en-US" i="0" err="1"/>
              <a:t>順序</a:t>
            </a:r>
            <a:endParaRPr i="0"/>
          </a:p>
        </p:txBody>
      </p:sp>
      <p:grpSp>
        <p:nvGrpSpPr>
          <p:cNvPr id="174" name="bcgIcons_Pendulum">
            <a:extLst>
              <a:ext uri="{FF2B5EF4-FFF2-40B4-BE49-F238E27FC236}">
                <a16:creationId xmlns:a16="http://schemas.microsoft.com/office/drawing/2014/main" id="{2B874422-21D3-F345-585A-9DB79E0BAAD0}"/>
              </a:ext>
            </a:extLst>
          </p:cNvPr>
          <p:cNvGrpSpPr>
            <a:grpSpLocks noChangeAspect="1"/>
          </p:cNvGrpSpPr>
          <p:nvPr/>
        </p:nvGrpSpPr>
        <p:grpSpPr>
          <a:xfrm>
            <a:off x="6909509" y="3670652"/>
            <a:ext cx="310742" cy="310742"/>
            <a:chOff x="5410802" y="2743200"/>
            <a:chExt cx="1371600" cy="1371600"/>
          </a:xfrm>
        </p:grpSpPr>
        <p:sp>
          <p:nvSpPr>
            <p:cNvPr id="175" name="AutoShape 5">
              <a:extLst>
                <a:ext uri="{FF2B5EF4-FFF2-40B4-BE49-F238E27FC236}">
                  <a16:creationId xmlns:a16="http://schemas.microsoft.com/office/drawing/2014/main" id="{1E51F5E0-4911-B99E-B1D9-644550EC9E81}"/>
                </a:ext>
              </a:extLst>
            </p:cNvPr>
            <p:cNvSpPr>
              <a:spLocks noChangeAspect="1" noChangeArrowheads="1" noTextEdit="1"/>
            </p:cNvSpPr>
            <p:nvPr/>
          </p:nvSpPr>
          <p:spPr bwMode="auto">
            <a:xfrm>
              <a:off x="5410802" y="2743200"/>
              <a:ext cx="1371600"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176" name="Group 175">
              <a:extLst>
                <a:ext uri="{FF2B5EF4-FFF2-40B4-BE49-F238E27FC236}">
                  <a16:creationId xmlns:a16="http://schemas.microsoft.com/office/drawing/2014/main" id="{DE5224A2-0EDD-0F68-EAC5-B3D80C7C7663}"/>
                </a:ext>
              </a:extLst>
            </p:cNvPr>
            <p:cNvGrpSpPr/>
            <p:nvPr/>
          </p:nvGrpSpPr>
          <p:grpSpPr>
            <a:xfrm>
              <a:off x="5466948" y="2929020"/>
              <a:ext cx="1257968" cy="999958"/>
              <a:chOff x="5466948" y="2929020"/>
              <a:chExt cx="1257968" cy="999958"/>
            </a:xfrm>
          </p:grpSpPr>
          <p:sp>
            <p:nvSpPr>
              <p:cNvPr id="177" name="Freeform 5">
                <a:extLst>
                  <a:ext uri="{FF2B5EF4-FFF2-40B4-BE49-F238E27FC236}">
                    <a16:creationId xmlns:a16="http://schemas.microsoft.com/office/drawing/2014/main" id="{B11EAA6C-6653-98F5-4746-1EB5FEF8B8BA}"/>
                  </a:ext>
                </a:extLst>
              </p:cNvPr>
              <p:cNvSpPr>
                <a:spLocks/>
              </p:cNvSpPr>
              <p:nvPr/>
            </p:nvSpPr>
            <p:spPr bwMode="auto">
              <a:xfrm>
                <a:off x="5466948" y="2929020"/>
                <a:ext cx="1257968" cy="999958"/>
              </a:xfrm>
              <a:custGeom>
                <a:avLst/>
                <a:gdLst>
                  <a:gd name="connsiteX0" fmla="*/ 965869 w 1257968"/>
                  <a:gd name="connsiteY0" fmla="*/ 52137 h 999958"/>
                  <a:gd name="connsiteX1" fmla="*/ 991938 w 1257968"/>
                  <a:gd name="connsiteY1" fmla="*/ 52137 h 999958"/>
                  <a:gd name="connsiteX2" fmla="*/ 991938 w 1257968"/>
                  <a:gd name="connsiteY2" fmla="*/ 656390 h 999958"/>
                  <a:gd name="connsiteX3" fmla="*/ 978904 w 1257968"/>
                  <a:gd name="connsiteY3" fmla="*/ 655200 h 999958"/>
                  <a:gd name="connsiteX4" fmla="*/ 965869 w 1257968"/>
                  <a:gd name="connsiteY4" fmla="*/ 656390 h 999958"/>
                  <a:gd name="connsiteX5" fmla="*/ 965869 w 1257968"/>
                  <a:gd name="connsiteY5" fmla="*/ 52137 h 999958"/>
                  <a:gd name="connsiteX6" fmla="*/ 791077 w 1257968"/>
                  <a:gd name="connsiteY6" fmla="*/ 52137 h 999958"/>
                  <a:gd name="connsiteX7" fmla="*/ 817814 w 1257968"/>
                  <a:gd name="connsiteY7" fmla="*/ 52137 h 999958"/>
                  <a:gd name="connsiteX8" fmla="*/ 817814 w 1257968"/>
                  <a:gd name="connsiteY8" fmla="*/ 656390 h 999958"/>
                  <a:gd name="connsiteX9" fmla="*/ 804445 w 1257968"/>
                  <a:gd name="connsiteY9" fmla="*/ 655200 h 999958"/>
                  <a:gd name="connsiteX10" fmla="*/ 791077 w 1257968"/>
                  <a:gd name="connsiteY10" fmla="*/ 656390 h 999958"/>
                  <a:gd name="connsiteX11" fmla="*/ 791077 w 1257968"/>
                  <a:gd name="connsiteY11" fmla="*/ 52137 h 999958"/>
                  <a:gd name="connsiteX12" fmla="*/ 616285 w 1257968"/>
                  <a:gd name="connsiteY12" fmla="*/ 52137 h 999958"/>
                  <a:gd name="connsiteX13" fmla="*/ 643022 w 1257968"/>
                  <a:gd name="connsiteY13" fmla="*/ 52137 h 999958"/>
                  <a:gd name="connsiteX14" fmla="*/ 643022 w 1257968"/>
                  <a:gd name="connsiteY14" fmla="*/ 656390 h 999958"/>
                  <a:gd name="connsiteX15" fmla="*/ 629653 w 1257968"/>
                  <a:gd name="connsiteY15" fmla="*/ 655200 h 999958"/>
                  <a:gd name="connsiteX16" fmla="*/ 616285 w 1257968"/>
                  <a:gd name="connsiteY16" fmla="*/ 656390 h 999958"/>
                  <a:gd name="connsiteX17" fmla="*/ 616285 w 1257968"/>
                  <a:gd name="connsiteY17" fmla="*/ 52137 h 999958"/>
                  <a:gd name="connsiteX18" fmla="*/ 441827 w 1257968"/>
                  <a:gd name="connsiteY18" fmla="*/ 52137 h 999958"/>
                  <a:gd name="connsiteX19" fmla="*/ 467896 w 1257968"/>
                  <a:gd name="connsiteY19" fmla="*/ 52137 h 999958"/>
                  <a:gd name="connsiteX20" fmla="*/ 467896 w 1257968"/>
                  <a:gd name="connsiteY20" fmla="*/ 656390 h 999958"/>
                  <a:gd name="connsiteX21" fmla="*/ 454861 w 1257968"/>
                  <a:gd name="connsiteY21" fmla="*/ 655200 h 999958"/>
                  <a:gd name="connsiteX22" fmla="*/ 441827 w 1257968"/>
                  <a:gd name="connsiteY22" fmla="*/ 656390 h 999958"/>
                  <a:gd name="connsiteX23" fmla="*/ 441827 w 1257968"/>
                  <a:gd name="connsiteY23" fmla="*/ 52137 h 999958"/>
                  <a:gd name="connsiteX24" fmla="*/ 266073 w 1257968"/>
                  <a:gd name="connsiteY24" fmla="*/ 52137 h 999958"/>
                  <a:gd name="connsiteX25" fmla="*/ 293437 w 1257968"/>
                  <a:gd name="connsiteY25" fmla="*/ 52137 h 999958"/>
                  <a:gd name="connsiteX26" fmla="*/ 134605 w 1257968"/>
                  <a:gd name="connsiteY26" fmla="*/ 634332 h 999958"/>
                  <a:gd name="connsiteX27" fmla="*/ 122708 w 1257968"/>
                  <a:gd name="connsiteY27" fmla="*/ 629570 h 999958"/>
                  <a:gd name="connsiteX28" fmla="*/ 109621 w 1257968"/>
                  <a:gd name="connsiteY28" fmla="*/ 627189 h 999958"/>
                  <a:gd name="connsiteX29" fmla="*/ 266073 w 1257968"/>
                  <a:gd name="connsiteY29" fmla="*/ 52137 h 999958"/>
                  <a:gd name="connsiteX30" fmla="*/ 228505 w 1257968"/>
                  <a:gd name="connsiteY30" fmla="*/ 0 h 999958"/>
                  <a:gd name="connsiteX31" fmla="*/ 1029463 w 1257968"/>
                  <a:gd name="connsiteY31" fmla="*/ 0 h 999958"/>
                  <a:gd name="connsiteX32" fmla="*/ 1257968 w 1257968"/>
                  <a:gd name="connsiteY32" fmla="*/ 228562 h 999958"/>
                  <a:gd name="connsiteX33" fmla="*/ 1257968 w 1257968"/>
                  <a:gd name="connsiteY33" fmla="*/ 382722 h 999958"/>
                  <a:gd name="connsiteX34" fmla="*/ 1257968 w 1257968"/>
                  <a:gd name="connsiteY34" fmla="*/ 999958 h 999958"/>
                  <a:gd name="connsiteX35" fmla="*/ 1231785 w 1257968"/>
                  <a:gd name="connsiteY35" fmla="*/ 999958 h 999958"/>
                  <a:gd name="connsiteX36" fmla="*/ 1231785 w 1257968"/>
                  <a:gd name="connsiteY36" fmla="*/ 456529 h 999958"/>
                  <a:gd name="connsiteX37" fmla="*/ 1231785 w 1257968"/>
                  <a:gd name="connsiteY37" fmla="*/ 452957 h 999958"/>
                  <a:gd name="connsiteX38" fmla="*/ 1231785 w 1257968"/>
                  <a:gd name="connsiteY38" fmla="*/ 228562 h 999958"/>
                  <a:gd name="connsiteX39" fmla="*/ 1029463 w 1257968"/>
                  <a:gd name="connsiteY39" fmla="*/ 26189 h 999958"/>
                  <a:gd name="connsiteX40" fmla="*/ 228505 w 1257968"/>
                  <a:gd name="connsiteY40" fmla="*/ 26189 h 999958"/>
                  <a:gd name="connsiteX41" fmla="*/ 26183 w 1257968"/>
                  <a:gd name="connsiteY41" fmla="*/ 228562 h 999958"/>
                  <a:gd name="connsiteX42" fmla="*/ 26183 w 1257968"/>
                  <a:gd name="connsiteY42" fmla="*/ 382722 h 999958"/>
                  <a:gd name="connsiteX43" fmla="*/ 26183 w 1257968"/>
                  <a:gd name="connsiteY43" fmla="*/ 452957 h 999958"/>
                  <a:gd name="connsiteX44" fmla="*/ 26183 w 1257968"/>
                  <a:gd name="connsiteY44" fmla="*/ 456529 h 999958"/>
                  <a:gd name="connsiteX45" fmla="*/ 26183 w 1257968"/>
                  <a:gd name="connsiteY45" fmla="*/ 999958 h 999958"/>
                  <a:gd name="connsiteX46" fmla="*/ 0 w 1257968"/>
                  <a:gd name="connsiteY46" fmla="*/ 999958 h 999958"/>
                  <a:gd name="connsiteX47" fmla="*/ 0 w 1257968"/>
                  <a:gd name="connsiteY47" fmla="*/ 452957 h 999958"/>
                  <a:gd name="connsiteX48" fmla="*/ 0 w 1257968"/>
                  <a:gd name="connsiteY48" fmla="*/ 228562 h 999958"/>
                  <a:gd name="connsiteX49" fmla="*/ 228505 w 1257968"/>
                  <a:gd name="connsiteY49" fmla="*/ 0 h 99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257968" h="999958">
                    <a:moveTo>
                      <a:pt x="965869" y="52137"/>
                    </a:moveTo>
                    <a:lnTo>
                      <a:pt x="991938" y="52137"/>
                    </a:lnTo>
                    <a:cubicBezTo>
                      <a:pt x="991938" y="52137"/>
                      <a:pt x="991938" y="52137"/>
                      <a:pt x="991938" y="656390"/>
                    </a:cubicBezTo>
                    <a:cubicBezTo>
                      <a:pt x="987791" y="655795"/>
                      <a:pt x="983051" y="655200"/>
                      <a:pt x="978904" y="655200"/>
                    </a:cubicBezTo>
                    <a:cubicBezTo>
                      <a:pt x="974164" y="655200"/>
                      <a:pt x="970017" y="655795"/>
                      <a:pt x="965869" y="656390"/>
                    </a:cubicBezTo>
                    <a:cubicBezTo>
                      <a:pt x="965869" y="656390"/>
                      <a:pt x="965869" y="656390"/>
                      <a:pt x="965869" y="52137"/>
                    </a:cubicBezTo>
                    <a:close/>
                    <a:moveTo>
                      <a:pt x="791077" y="52137"/>
                    </a:moveTo>
                    <a:lnTo>
                      <a:pt x="817814" y="52137"/>
                    </a:lnTo>
                    <a:cubicBezTo>
                      <a:pt x="817814" y="52137"/>
                      <a:pt x="817814" y="52137"/>
                      <a:pt x="817814" y="656390"/>
                    </a:cubicBezTo>
                    <a:cubicBezTo>
                      <a:pt x="812952" y="655795"/>
                      <a:pt x="808699" y="655200"/>
                      <a:pt x="804445" y="655200"/>
                    </a:cubicBezTo>
                    <a:cubicBezTo>
                      <a:pt x="799584" y="655200"/>
                      <a:pt x="795330" y="655795"/>
                      <a:pt x="791077" y="656390"/>
                    </a:cubicBezTo>
                    <a:cubicBezTo>
                      <a:pt x="791077" y="656390"/>
                      <a:pt x="791077" y="656390"/>
                      <a:pt x="791077" y="52137"/>
                    </a:cubicBezTo>
                    <a:close/>
                    <a:moveTo>
                      <a:pt x="616285" y="52137"/>
                    </a:moveTo>
                    <a:lnTo>
                      <a:pt x="643022" y="52137"/>
                    </a:lnTo>
                    <a:cubicBezTo>
                      <a:pt x="643022" y="52137"/>
                      <a:pt x="643022" y="52137"/>
                      <a:pt x="643022" y="656390"/>
                    </a:cubicBezTo>
                    <a:cubicBezTo>
                      <a:pt x="638160" y="655795"/>
                      <a:pt x="633907" y="655200"/>
                      <a:pt x="629653" y="655200"/>
                    </a:cubicBezTo>
                    <a:cubicBezTo>
                      <a:pt x="624792" y="655200"/>
                      <a:pt x="620538" y="655795"/>
                      <a:pt x="616285" y="656390"/>
                    </a:cubicBezTo>
                    <a:cubicBezTo>
                      <a:pt x="616285" y="656390"/>
                      <a:pt x="616285" y="656390"/>
                      <a:pt x="616285" y="52137"/>
                    </a:cubicBezTo>
                    <a:close/>
                    <a:moveTo>
                      <a:pt x="441827" y="52137"/>
                    </a:moveTo>
                    <a:lnTo>
                      <a:pt x="467896" y="52137"/>
                    </a:lnTo>
                    <a:cubicBezTo>
                      <a:pt x="467896" y="52137"/>
                      <a:pt x="467896" y="52137"/>
                      <a:pt x="467896" y="656390"/>
                    </a:cubicBezTo>
                    <a:cubicBezTo>
                      <a:pt x="463748" y="655795"/>
                      <a:pt x="459601" y="655200"/>
                      <a:pt x="454861" y="655200"/>
                    </a:cubicBezTo>
                    <a:cubicBezTo>
                      <a:pt x="450714" y="655200"/>
                      <a:pt x="445974" y="655795"/>
                      <a:pt x="441827" y="656390"/>
                    </a:cubicBezTo>
                    <a:cubicBezTo>
                      <a:pt x="441827" y="656390"/>
                      <a:pt x="441827" y="656390"/>
                      <a:pt x="441827" y="52137"/>
                    </a:cubicBezTo>
                    <a:close/>
                    <a:moveTo>
                      <a:pt x="266073" y="52137"/>
                    </a:moveTo>
                    <a:lnTo>
                      <a:pt x="293437" y="52137"/>
                    </a:lnTo>
                    <a:cubicBezTo>
                      <a:pt x="293437" y="52137"/>
                      <a:pt x="293437" y="52137"/>
                      <a:pt x="134605" y="634332"/>
                    </a:cubicBezTo>
                    <a:cubicBezTo>
                      <a:pt x="131036" y="632546"/>
                      <a:pt x="126872" y="630760"/>
                      <a:pt x="122708" y="629570"/>
                    </a:cubicBezTo>
                    <a:cubicBezTo>
                      <a:pt x="117949" y="628379"/>
                      <a:pt x="113785" y="627784"/>
                      <a:pt x="109621" y="627189"/>
                    </a:cubicBezTo>
                    <a:cubicBezTo>
                      <a:pt x="109621" y="627189"/>
                      <a:pt x="109621" y="627189"/>
                      <a:pt x="266073" y="52137"/>
                    </a:cubicBezTo>
                    <a:close/>
                    <a:moveTo>
                      <a:pt x="228505" y="0"/>
                    </a:moveTo>
                    <a:cubicBezTo>
                      <a:pt x="228505" y="0"/>
                      <a:pt x="228505" y="0"/>
                      <a:pt x="1029463" y="0"/>
                    </a:cubicBezTo>
                    <a:cubicBezTo>
                      <a:pt x="1155617" y="0"/>
                      <a:pt x="1257968" y="102377"/>
                      <a:pt x="1257968" y="228562"/>
                    </a:cubicBezTo>
                    <a:cubicBezTo>
                      <a:pt x="1257968" y="228562"/>
                      <a:pt x="1257968" y="228562"/>
                      <a:pt x="1257968" y="382722"/>
                    </a:cubicBezTo>
                    <a:cubicBezTo>
                      <a:pt x="1257968" y="382722"/>
                      <a:pt x="1257968" y="382722"/>
                      <a:pt x="1257968" y="999958"/>
                    </a:cubicBezTo>
                    <a:cubicBezTo>
                      <a:pt x="1257968" y="999958"/>
                      <a:pt x="1257968" y="999958"/>
                      <a:pt x="1231785" y="999958"/>
                    </a:cubicBezTo>
                    <a:cubicBezTo>
                      <a:pt x="1231785" y="999958"/>
                      <a:pt x="1231785" y="999958"/>
                      <a:pt x="1231785" y="456529"/>
                    </a:cubicBezTo>
                    <a:cubicBezTo>
                      <a:pt x="1231785" y="455338"/>
                      <a:pt x="1231785" y="454148"/>
                      <a:pt x="1231785" y="452957"/>
                    </a:cubicBezTo>
                    <a:cubicBezTo>
                      <a:pt x="1231785" y="452957"/>
                      <a:pt x="1231785" y="452957"/>
                      <a:pt x="1231785" y="228562"/>
                    </a:cubicBezTo>
                    <a:cubicBezTo>
                      <a:pt x="1231785" y="116662"/>
                      <a:pt x="1141335" y="26189"/>
                      <a:pt x="1029463" y="26189"/>
                    </a:cubicBezTo>
                    <a:cubicBezTo>
                      <a:pt x="1029463" y="26189"/>
                      <a:pt x="1029463" y="26189"/>
                      <a:pt x="228505" y="26189"/>
                    </a:cubicBezTo>
                    <a:cubicBezTo>
                      <a:pt x="116633" y="26189"/>
                      <a:pt x="26183" y="116662"/>
                      <a:pt x="26183" y="228562"/>
                    </a:cubicBezTo>
                    <a:cubicBezTo>
                      <a:pt x="26183" y="228562"/>
                      <a:pt x="26183" y="228562"/>
                      <a:pt x="26183" y="382722"/>
                    </a:cubicBezTo>
                    <a:cubicBezTo>
                      <a:pt x="26183" y="382722"/>
                      <a:pt x="26183" y="382722"/>
                      <a:pt x="26183" y="452957"/>
                    </a:cubicBezTo>
                    <a:cubicBezTo>
                      <a:pt x="26183" y="454148"/>
                      <a:pt x="26183" y="455338"/>
                      <a:pt x="26183" y="456529"/>
                    </a:cubicBezTo>
                    <a:cubicBezTo>
                      <a:pt x="26183" y="456529"/>
                      <a:pt x="26183" y="456529"/>
                      <a:pt x="26183" y="999958"/>
                    </a:cubicBezTo>
                    <a:cubicBezTo>
                      <a:pt x="26183" y="999958"/>
                      <a:pt x="26183" y="999958"/>
                      <a:pt x="0" y="999958"/>
                    </a:cubicBezTo>
                    <a:cubicBezTo>
                      <a:pt x="0" y="999958"/>
                      <a:pt x="0" y="999958"/>
                      <a:pt x="0" y="452957"/>
                    </a:cubicBezTo>
                    <a:cubicBezTo>
                      <a:pt x="0" y="452957"/>
                      <a:pt x="0" y="452957"/>
                      <a:pt x="0" y="228562"/>
                    </a:cubicBezTo>
                    <a:cubicBezTo>
                      <a:pt x="0" y="102377"/>
                      <a:pt x="102351" y="0"/>
                      <a:pt x="228505"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78" name="Freeform 6">
                <a:extLst>
                  <a:ext uri="{FF2B5EF4-FFF2-40B4-BE49-F238E27FC236}">
                    <a16:creationId xmlns:a16="http://schemas.microsoft.com/office/drawing/2014/main" id="{C15A00CE-98CA-2492-A678-EDFDDBF8B250}"/>
                  </a:ext>
                </a:extLst>
              </p:cNvPr>
              <p:cNvSpPr>
                <a:spLocks noChangeArrowheads="1"/>
              </p:cNvSpPr>
              <p:nvPr/>
            </p:nvSpPr>
            <p:spPr bwMode="auto">
              <a:xfrm>
                <a:off x="5512293" y="3582275"/>
                <a:ext cx="1159818" cy="346702"/>
              </a:xfrm>
              <a:custGeom>
                <a:avLst/>
                <a:gdLst>
                  <a:gd name="connsiteX0" fmla="*/ 5455 w 1159818"/>
                  <a:gd name="connsiteY0" fmla="*/ 223713 h 346702"/>
                  <a:gd name="connsiteX1" fmla="*/ 1159818 w 1159818"/>
                  <a:gd name="connsiteY1" fmla="*/ 223713 h 346702"/>
                  <a:gd name="connsiteX2" fmla="*/ 1159818 w 1159818"/>
                  <a:gd name="connsiteY2" fmla="*/ 346702 h 346702"/>
                  <a:gd name="connsiteX3" fmla="*/ 5455 w 1159818"/>
                  <a:gd name="connsiteY3" fmla="*/ 346702 h 346702"/>
                  <a:gd name="connsiteX4" fmla="*/ 933892 w 1159818"/>
                  <a:gd name="connsiteY4" fmla="*/ 28535 h 346702"/>
                  <a:gd name="connsiteX5" fmla="*/ 989371 w 1159818"/>
                  <a:gd name="connsiteY5" fmla="*/ 83680 h 346702"/>
                  <a:gd name="connsiteX6" fmla="*/ 933892 w 1159818"/>
                  <a:gd name="connsiteY6" fmla="*/ 138825 h 346702"/>
                  <a:gd name="connsiteX7" fmla="*/ 878413 w 1159818"/>
                  <a:gd name="connsiteY7" fmla="*/ 83680 h 346702"/>
                  <a:gd name="connsiteX8" fmla="*/ 933892 w 1159818"/>
                  <a:gd name="connsiteY8" fmla="*/ 28535 h 346702"/>
                  <a:gd name="connsiteX9" fmla="*/ 758766 w 1159818"/>
                  <a:gd name="connsiteY9" fmla="*/ 28535 h 346702"/>
                  <a:gd name="connsiteX10" fmla="*/ 814245 w 1159818"/>
                  <a:gd name="connsiteY10" fmla="*/ 83680 h 346702"/>
                  <a:gd name="connsiteX11" fmla="*/ 758766 w 1159818"/>
                  <a:gd name="connsiteY11" fmla="*/ 138825 h 346702"/>
                  <a:gd name="connsiteX12" fmla="*/ 703287 w 1159818"/>
                  <a:gd name="connsiteY12" fmla="*/ 83680 h 346702"/>
                  <a:gd name="connsiteX13" fmla="*/ 758766 w 1159818"/>
                  <a:gd name="connsiteY13" fmla="*/ 28535 h 346702"/>
                  <a:gd name="connsiteX14" fmla="*/ 584308 w 1159818"/>
                  <a:gd name="connsiteY14" fmla="*/ 28535 h 346702"/>
                  <a:gd name="connsiteX15" fmla="*/ 639787 w 1159818"/>
                  <a:gd name="connsiteY15" fmla="*/ 83680 h 346702"/>
                  <a:gd name="connsiteX16" fmla="*/ 584308 w 1159818"/>
                  <a:gd name="connsiteY16" fmla="*/ 138825 h 346702"/>
                  <a:gd name="connsiteX17" fmla="*/ 528829 w 1159818"/>
                  <a:gd name="connsiteY17" fmla="*/ 83680 h 346702"/>
                  <a:gd name="connsiteX18" fmla="*/ 584308 w 1159818"/>
                  <a:gd name="connsiteY18" fmla="*/ 28535 h 346702"/>
                  <a:gd name="connsiteX19" fmla="*/ 409182 w 1159818"/>
                  <a:gd name="connsiteY19" fmla="*/ 28535 h 346702"/>
                  <a:gd name="connsiteX20" fmla="*/ 464661 w 1159818"/>
                  <a:gd name="connsiteY20" fmla="*/ 83680 h 346702"/>
                  <a:gd name="connsiteX21" fmla="*/ 409182 w 1159818"/>
                  <a:gd name="connsiteY21" fmla="*/ 138825 h 346702"/>
                  <a:gd name="connsiteX22" fmla="*/ 353703 w 1159818"/>
                  <a:gd name="connsiteY22" fmla="*/ 83680 h 346702"/>
                  <a:gd name="connsiteX23" fmla="*/ 409182 w 1159818"/>
                  <a:gd name="connsiteY23" fmla="*/ 28535 h 346702"/>
                  <a:gd name="connsiteX24" fmla="*/ 48115 w 1159818"/>
                  <a:gd name="connsiteY24" fmla="*/ 438 h 346702"/>
                  <a:gd name="connsiteX25" fmla="*/ 69916 w 1159818"/>
                  <a:gd name="connsiteY25" fmla="*/ 2090 h 346702"/>
                  <a:gd name="connsiteX26" fmla="*/ 108723 w 1159818"/>
                  <a:gd name="connsiteY26" fmla="*/ 69782 h 346702"/>
                  <a:gd name="connsiteX27" fmla="*/ 40661 w 1159818"/>
                  <a:gd name="connsiteY27" fmla="*/ 108379 h 346702"/>
                  <a:gd name="connsiteX28" fmla="*/ 1853 w 1159818"/>
                  <a:gd name="connsiteY28" fmla="*/ 40686 h 346702"/>
                  <a:gd name="connsiteX29" fmla="*/ 48115 w 1159818"/>
                  <a:gd name="connsiteY29" fmla="*/ 438 h 346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59818" h="346702">
                    <a:moveTo>
                      <a:pt x="5455" y="223713"/>
                    </a:moveTo>
                    <a:lnTo>
                      <a:pt x="1159818" y="223713"/>
                    </a:lnTo>
                    <a:lnTo>
                      <a:pt x="1159818" y="346702"/>
                    </a:lnTo>
                    <a:lnTo>
                      <a:pt x="5455" y="346702"/>
                    </a:lnTo>
                    <a:close/>
                    <a:moveTo>
                      <a:pt x="933892" y="28535"/>
                    </a:moveTo>
                    <a:cubicBezTo>
                      <a:pt x="964532" y="28535"/>
                      <a:pt x="989371" y="53224"/>
                      <a:pt x="989371" y="83680"/>
                    </a:cubicBezTo>
                    <a:cubicBezTo>
                      <a:pt x="989371" y="114136"/>
                      <a:pt x="964532" y="138825"/>
                      <a:pt x="933892" y="138825"/>
                    </a:cubicBezTo>
                    <a:cubicBezTo>
                      <a:pt x="903252" y="138825"/>
                      <a:pt x="878413" y="114136"/>
                      <a:pt x="878413" y="83680"/>
                    </a:cubicBezTo>
                    <a:cubicBezTo>
                      <a:pt x="878413" y="53224"/>
                      <a:pt x="903252" y="28535"/>
                      <a:pt x="933892" y="28535"/>
                    </a:cubicBezTo>
                    <a:close/>
                    <a:moveTo>
                      <a:pt x="758766" y="28535"/>
                    </a:moveTo>
                    <a:cubicBezTo>
                      <a:pt x="789406" y="28535"/>
                      <a:pt x="814245" y="53224"/>
                      <a:pt x="814245" y="83680"/>
                    </a:cubicBezTo>
                    <a:cubicBezTo>
                      <a:pt x="814245" y="114136"/>
                      <a:pt x="789406" y="138825"/>
                      <a:pt x="758766" y="138825"/>
                    </a:cubicBezTo>
                    <a:cubicBezTo>
                      <a:pt x="728126" y="138825"/>
                      <a:pt x="703287" y="114136"/>
                      <a:pt x="703287" y="83680"/>
                    </a:cubicBezTo>
                    <a:cubicBezTo>
                      <a:pt x="703287" y="53224"/>
                      <a:pt x="728126" y="28535"/>
                      <a:pt x="758766" y="28535"/>
                    </a:cubicBezTo>
                    <a:close/>
                    <a:moveTo>
                      <a:pt x="584308" y="28535"/>
                    </a:moveTo>
                    <a:cubicBezTo>
                      <a:pt x="614948" y="28535"/>
                      <a:pt x="639787" y="53224"/>
                      <a:pt x="639787" y="83680"/>
                    </a:cubicBezTo>
                    <a:cubicBezTo>
                      <a:pt x="639787" y="114136"/>
                      <a:pt x="614948" y="138825"/>
                      <a:pt x="584308" y="138825"/>
                    </a:cubicBezTo>
                    <a:cubicBezTo>
                      <a:pt x="553668" y="138825"/>
                      <a:pt x="528829" y="114136"/>
                      <a:pt x="528829" y="83680"/>
                    </a:cubicBezTo>
                    <a:cubicBezTo>
                      <a:pt x="528829" y="53224"/>
                      <a:pt x="553668" y="28535"/>
                      <a:pt x="584308" y="28535"/>
                    </a:cubicBezTo>
                    <a:close/>
                    <a:moveTo>
                      <a:pt x="409182" y="28535"/>
                    </a:moveTo>
                    <a:cubicBezTo>
                      <a:pt x="439822" y="28535"/>
                      <a:pt x="464661" y="53224"/>
                      <a:pt x="464661" y="83680"/>
                    </a:cubicBezTo>
                    <a:cubicBezTo>
                      <a:pt x="464661" y="114136"/>
                      <a:pt x="439822" y="138825"/>
                      <a:pt x="409182" y="138825"/>
                    </a:cubicBezTo>
                    <a:cubicBezTo>
                      <a:pt x="378542" y="138825"/>
                      <a:pt x="353703" y="114136"/>
                      <a:pt x="353703" y="83680"/>
                    </a:cubicBezTo>
                    <a:cubicBezTo>
                      <a:pt x="353703" y="53224"/>
                      <a:pt x="378542" y="28535"/>
                      <a:pt x="409182" y="28535"/>
                    </a:cubicBezTo>
                    <a:close/>
                    <a:moveTo>
                      <a:pt x="48115" y="438"/>
                    </a:moveTo>
                    <a:cubicBezTo>
                      <a:pt x="55214" y="-471"/>
                      <a:pt x="62602" y="12"/>
                      <a:pt x="69916" y="2090"/>
                    </a:cubicBezTo>
                    <a:cubicBezTo>
                      <a:pt x="99767" y="9809"/>
                      <a:pt x="117081" y="40093"/>
                      <a:pt x="108723" y="69782"/>
                    </a:cubicBezTo>
                    <a:cubicBezTo>
                      <a:pt x="100961" y="98878"/>
                      <a:pt x="70513" y="116098"/>
                      <a:pt x="40661" y="108379"/>
                    </a:cubicBezTo>
                    <a:cubicBezTo>
                      <a:pt x="11406" y="100066"/>
                      <a:pt x="-5908" y="69782"/>
                      <a:pt x="1853" y="40686"/>
                    </a:cubicBezTo>
                    <a:cubicBezTo>
                      <a:pt x="8123" y="18419"/>
                      <a:pt x="26817" y="3166"/>
                      <a:pt x="48115" y="438"/>
                    </a:cubicBezTo>
                    <a:close/>
                  </a:path>
                </a:pathLst>
              </a:custGeom>
              <a:solidFill>
                <a:schemeClr val="tx2"/>
              </a:solidFill>
              <a:ln>
                <a:noFill/>
              </a:ln>
            </p:spPr>
            <p:txBody>
              <a:bodyPr vert="horz" wrap="square" lIns="91440" tIns="45720" rIns="91440" bIns="45720" numCol="1" anchor="t" anchorCtr="0" compatLnSpc="1">
                <a:prstTxWarp prst="textNoShape">
                  <a:avLst/>
                </a:prstTxWarp>
                <a:noAutofit/>
              </a:bodyPr>
              <a:lstStyle/>
              <a:p>
                <a:endParaRPr lang="en-US"/>
              </a:p>
            </p:txBody>
          </p:sp>
        </p:grpSp>
      </p:grpSp>
      <p:grpSp>
        <p:nvGrpSpPr>
          <p:cNvPr id="179" name="bcgIcons_Calendar, Year ">
            <a:extLst>
              <a:ext uri="{FF2B5EF4-FFF2-40B4-BE49-F238E27FC236}">
                <a16:creationId xmlns:a16="http://schemas.microsoft.com/office/drawing/2014/main" id="{EF502E23-CAB0-CCF8-B02A-8E6B7FE1D6E8}"/>
              </a:ext>
            </a:extLst>
          </p:cNvPr>
          <p:cNvGrpSpPr>
            <a:grpSpLocks noChangeAspect="1"/>
          </p:cNvGrpSpPr>
          <p:nvPr/>
        </p:nvGrpSpPr>
        <p:grpSpPr>
          <a:xfrm>
            <a:off x="5538564" y="3650952"/>
            <a:ext cx="398902" cy="398518"/>
            <a:chOff x="5273675" y="2606675"/>
            <a:chExt cx="1646238" cy="1644650"/>
          </a:xfrm>
        </p:grpSpPr>
        <p:sp>
          <p:nvSpPr>
            <p:cNvPr id="180" name="AutoShape 3">
              <a:extLst>
                <a:ext uri="{FF2B5EF4-FFF2-40B4-BE49-F238E27FC236}">
                  <a16:creationId xmlns:a16="http://schemas.microsoft.com/office/drawing/2014/main" id="{2F67997D-F633-99F5-7EEC-1B3F2C79A4F5}"/>
                </a:ext>
              </a:extLst>
            </p:cNvPr>
            <p:cNvSpPr>
              <a:spLocks noChangeAspect="1" noChangeArrowheads="1" noTextEdit="1"/>
            </p:cNvSpPr>
            <p:nvPr/>
          </p:nvSpPr>
          <p:spPr bwMode="auto">
            <a:xfrm>
              <a:off x="5273675"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181" name="Group 180">
              <a:extLst>
                <a:ext uri="{FF2B5EF4-FFF2-40B4-BE49-F238E27FC236}">
                  <a16:creationId xmlns:a16="http://schemas.microsoft.com/office/drawing/2014/main" id="{17C317BE-3E42-4DE4-E201-293579A2919A}"/>
                </a:ext>
              </a:extLst>
            </p:cNvPr>
            <p:cNvGrpSpPr/>
            <p:nvPr/>
          </p:nvGrpSpPr>
          <p:grpSpPr>
            <a:xfrm>
              <a:off x="5519738" y="2911475"/>
              <a:ext cx="1154113" cy="963613"/>
              <a:chOff x="5519738" y="2911475"/>
              <a:chExt cx="1154113" cy="963613"/>
            </a:xfrm>
          </p:grpSpPr>
          <p:sp>
            <p:nvSpPr>
              <p:cNvPr id="182" name="Freeform 25">
                <a:extLst>
                  <a:ext uri="{FF2B5EF4-FFF2-40B4-BE49-F238E27FC236}">
                    <a16:creationId xmlns:a16="http://schemas.microsoft.com/office/drawing/2014/main" id="{4BD444D2-ABB0-E6D3-FA1E-5AFD3B66C8C9}"/>
                  </a:ext>
                </a:extLst>
              </p:cNvPr>
              <p:cNvSpPr>
                <a:spLocks/>
              </p:cNvSpPr>
              <p:nvPr/>
            </p:nvSpPr>
            <p:spPr bwMode="auto">
              <a:xfrm>
                <a:off x="5605462" y="3319463"/>
                <a:ext cx="982662" cy="474662"/>
              </a:xfrm>
              <a:custGeom>
                <a:avLst/>
                <a:gdLst>
                  <a:gd name="connsiteX0" fmla="*/ 770723 w 982662"/>
                  <a:gd name="connsiteY0" fmla="*/ 255587 h 474662"/>
                  <a:gd name="connsiteX1" fmla="*/ 975526 w 982662"/>
                  <a:gd name="connsiteY1" fmla="*/ 255587 h 474662"/>
                  <a:gd name="connsiteX2" fmla="*/ 982662 w 982662"/>
                  <a:gd name="connsiteY2" fmla="*/ 262723 h 474662"/>
                  <a:gd name="connsiteX3" fmla="*/ 982662 w 982662"/>
                  <a:gd name="connsiteY3" fmla="*/ 467526 h 474662"/>
                  <a:gd name="connsiteX4" fmla="*/ 975526 w 982662"/>
                  <a:gd name="connsiteY4" fmla="*/ 474662 h 474662"/>
                  <a:gd name="connsiteX5" fmla="*/ 770723 w 982662"/>
                  <a:gd name="connsiteY5" fmla="*/ 474662 h 474662"/>
                  <a:gd name="connsiteX6" fmla="*/ 763587 w 982662"/>
                  <a:gd name="connsiteY6" fmla="*/ 467526 h 474662"/>
                  <a:gd name="connsiteX7" fmla="*/ 763587 w 982662"/>
                  <a:gd name="connsiteY7" fmla="*/ 262723 h 474662"/>
                  <a:gd name="connsiteX8" fmla="*/ 770723 w 982662"/>
                  <a:gd name="connsiteY8" fmla="*/ 255587 h 474662"/>
                  <a:gd name="connsiteX9" fmla="*/ 516723 w 982662"/>
                  <a:gd name="connsiteY9" fmla="*/ 255587 h 474662"/>
                  <a:gd name="connsiteX10" fmla="*/ 721526 w 982662"/>
                  <a:gd name="connsiteY10" fmla="*/ 255587 h 474662"/>
                  <a:gd name="connsiteX11" fmla="*/ 728662 w 982662"/>
                  <a:gd name="connsiteY11" fmla="*/ 262723 h 474662"/>
                  <a:gd name="connsiteX12" fmla="*/ 728662 w 982662"/>
                  <a:gd name="connsiteY12" fmla="*/ 467526 h 474662"/>
                  <a:gd name="connsiteX13" fmla="*/ 721526 w 982662"/>
                  <a:gd name="connsiteY13" fmla="*/ 474662 h 474662"/>
                  <a:gd name="connsiteX14" fmla="*/ 516723 w 982662"/>
                  <a:gd name="connsiteY14" fmla="*/ 474662 h 474662"/>
                  <a:gd name="connsiteX15" fmla="*/ 509587 w 982662"/>
                  <a:gd name="connsiteY15" fmla="*/ 467526 h 474662"/>
                  <a:gd name="connsiteX16" fmla="*/ 509587 w 982662"/>
                  <a:gd name="connsiteY16" fmla="*/ 262723 h 474662"/>
                  <a:gd name="connsiteX17" fmla="*/ 516723 w 982662"/>
                  <a:gd name="connsiteY17" fmla="*/ 255587 h 474662"/>
                  <a:gd name="connsiteX18" fmla="*/ 261136 w 982662"/>
                  <a:gd name="connsiteY18" fmla="*/ 255587 h 474662"/>
                  <a:gd name="connsiteX19" fmla="*/ 465939 w 982662"/>
                  <a:gd name="connsiteY19" fmla="*/ 255587 h 474662"/>
                  <a:gd name="connsiteX20" fmla="*/ 473075 w 982662"/>
                  <a:gd name="connsiteY20" fmla="*/ 262723 h 474662"/>
                  <a:gd name="connsiteX21" fmla="*/ 473075 w 982662"/>
                  <a:gd name="connsiteY21" fmla="*/ 467526 h 474662"/>
                  <a:gd name="connsiteX22" fmla="*/ 465939 w 982662"/>
                  <a:gd name="connsiteY22" fmla="*/ 474662 h 474662"/>
                  <a:gd name="connsiteX23" fmla="*/ 261136 w 982662"/>
                  <a:gd name="connsiteY23" fmla="*/ 474662 h 474662"/>
                  <a:gd name="connsiteX24" fmla="*/ 254000 w 982662"/>
                  <a:gd name="connsiteY24" fmla="*/ 467526 h 474662"/>
                  <a:gd name="connsiteX25" fmla="*/ 254000 w 982662"/>
                  <a:gd name="connsiteY25" fmla="*/ 262723 h 474662"/>
                  <a:gd name="connsiteX26" fmla="*/ 261136 w 982662"/>
                  <a:gd name="connsiteY26" fmla="*/ 255587 h 474662"/>
                  <a:gd name="connsiteX27" fmla="*/ 7136 w 982662"/>
                  <a:gd name="connsiteY27" fmla="*/ 255587 h 474662"/>
                  <a:gd name="connsiteX28" fmla="*/ 211939 w 982662"/>
                  <a:gd name="connsiteY28" fmla="*/ 255587 h 474662"/>
                  <a:gd name="connsiteX29" fmla="*/ 219075 w 982662"/>
                  <a:gd name="connsiteY29" fmla="*/ 262723 h 474662"/>
                  <a:gd name="connsiteX30" fmla="*/ 219075 w 982662"/>
                  <a:gd name="connsiteY30" fmla="*/ 467526 h 474662"/>
                  <a:gd name="connsiteX31" fmla="*/ 211939 w 982662"/>
                  <a:gd name="connsiteY31" fmla="*/ 474662 h 474662"/>
                  <a:gd name="connsiteX32" fmla="*/ 7136 w 982662"/>
                  <a:gd name="connsiteY32" fmla="*/ 474662 h 474662"/>
                  <a:gd name="connsiteX33" fmla="*/ 0 w 982662"/>
                  <a:gd name="connsiteY33" fmla="*/ 467526 h 474662"/>
                  <a:gd name="connsiteX34" fmla="*/ 0 w 982662"/>
                  <a:gd name="connsiteY34" fmla="*/ 262723 h 474662"/>
                  <a:gd name="connsiteX35" fmla="*/ 7136 w 982662"/>
                  <a:gd name="connsiteY35" fmla="*/ 255587 h 474662"/>
                  <a:gd name="connsiteX36" fmla="*/ 770723 w 982662"/>
                  <a:gd name="connsiteY36" fmla="*/ 0 h 474662"/>
                  <a:gd name="connsiteX37" fmla="*/ 975526 w 982662"/>
                  <a:gd name="connsiteY37" fmla="*/ 0 h 474662"/>
                  <a:gd name="connsiteX38" fmla="*/ 982662 w 982662"/>
                  <a:gd name="connsiteY38" fmla="*/ 7108 h 474662"/>
                  <a:gd name="connsiteX39" fmla="*/ 982662 w 982662"/>
                  <a:gd name="connsiteY39" fmla="*/ 210381 h 474662"/>
                  <a:gd name="connsiteX40" fmla="*/ 975526 w 982662"/>
                  <a:gd name="connsiteY40" fmla="*/ 217488 h 474662"/>
                  <a:gd name="connsiteX41" fmla="*/ 770723 w 982662"/>
                  <a:gd name="connsiteY41" fmla="*/ 217488 h 474662"/>
                  <a:gd name="connsiteX42" fmla="*/ 763587 w 982662"/>
                  <a:gd name="connsiteY42" fmla="*/ 210381 h 474662"/>
                  <a:gd name="connsiteX43" fmla="*/ 763587 w 982662"/>
                  <a:gd name="connsiteY43" fmla="*/ 7108 h 474662"/>
                  <a:gd name="connsiteX44" fmla="*/ 770723 w 982662"/>
                  <a:gd name="connsiteY44" fmla="*/ 0 h 474662"/>
                  <a:gd name="connsiteX45" fmla="*/ 516723 w 982662"/>
                  <a:gd name="connsiteY45" fmla="*/ 0 h 474662"/>
                  <a:gd name="connsiteX46" fmla="*/ 721526 w 982662"/>
                  <a:gd name="connsiteY46" fmla="*/ 0 h 474662"/>
                  <a:gd name="connsiteX47" fmla="*/ 728662 w 982662"/>
                  <a:gd name="connsiteY47" fmla="*/ 7108 h 474662"/>
                  <a:gd name="connsiteX48" fmla="*/ 728662 w 982662"/>
                  <a:gd name="connsiteY48" fmla="*/ 210381 h 474662"/>
                  <a:gd name="connsiteX49" fmla="*/ 721526 w 982662"/>
                  <a:gd name="connsiteY49" fmla="*/ 217488 h 474662"/>
                  <a:gd name="connsiteX50" fmla="*/ 516723 w 982662"/>
                  <a:gd name="connsiteY50" fmla="*/ 217488 h 474662"/>
                  <a:gd name="connsiteX51" fmla="*/ 509587 w 982662"/>
                  <a:gd name="connsiteY51" fmla="*/ 210381 h 474662"/>
                  <a:gd name="connsiteX52" fmla="*/ 509587 w 982662"/>
                  <a:gd name="connsiteY52" fmla="*/ 7108 h 474662"/>
                  <a:gd name="connsiteX53" fmla="*/ 516723 w 982662"/>
                  <a:gd name="connsiteY53" fmla="*/ 0 h 474662"/>
                  <a:gd name="connsiteX54" fmla="*/ 261136 w 982662"/>
                  <a:gd name="connsiteY54" fmla="*/ 0 h 474662"/>
                  <a:gd name="connsiteX55" fmla="*/ 465939 w 982662"/>
                  <a:gd name="connsiteY55" fmla="*/ 0 h 474662"/>
                  <a:gd name="connsiteX56" fmla="*/ 473075 w 982662"/>
                  <a:gd name="connsiteY56" fmla="*/ 7108 h 474662"/>
                  <a:gd name="connsiteX57" fmla="*/ 473075 w 982662"/>
                  <a:gd name="connsiteY57" fmla="*/ 210381 h 474662"/>
                  <a:gd name="connsiteX58" fmla="*/ 465939 w 982662"/>
                  <a:gd name="connsiteY58" fmla="*/ 217488 h 474662"/>
                  <a:gd name="connsiteX59" fmla="*/ 261136 w 982662"/>
                  <a:gd name="connsiteY59" fmla="*/ 217488 h 474662"/>
                  <a:gd name="connsiteX60" fmla="*/ 254000 w 982662"/>
                  <a:gd name="connsiteY60" fmla="*/ 210381 h 474662"/>
                  <a:gd name="connsiteX61" fmla="*/ 254000 w 982662"/>
                  <a:gd name="connsiteY61" fmla="*/ 7108 h 474662"/>
                  <a:gd name="connsiteX62" fmla="*/ 261136 w 982662"/>
                  <a:gd name="connsiteY62" fmla="*/ 0 h 474662"/>
                  <a:gd name="connsiteX63" fmla="*/ 7136 w 982662"/>
                  <a:gd name="connsiteY63" fmla="*/ 0 h 474662"/>
                  <a:gd name="connsiteX64" fmla="*/ 211939 w 982662"/>
                  <a:gd name="connsiteY64" fmla="*/ 0 h 474662"/>
                  <a:gd name="connsiteX65" fmla="*/ 219075 w 982662"/>
                  <a:gd name="connsiteY65" fmla="*/ 7108 h 474662"/>
                  <a:gd name="connsiteX66" fmla="*/ 219075 w 982662"/>
                  <a:gd name="connsiteY66" fmla="*/ 210381 h 474662"/>
                  <a:gd name="connsiteX67" fmla="*/ 211939 w 982662"/>
                  <a:gd name="connsiteY67" fmla="*/ 217488 h 474662"/>
                  <a:gd name="connsiteX68" fmla="*/ 7136 w 982662"/>
                  <a:gd name="connsiteY68" fmla="*/ 217488 h 474662"/>
                  <a:gd name="connsiteX69" fmla="*/ 0 w 982662"/>
                  <a:gd name="connsiteY69" fmla="*/ 210381 h 474662"/>
                  <a:gd name="connsiteX70" fmla="*/ 0 w 982662"/>
                  <a:gd name="connsiteY70" fmla="*/ 7108 h 474662"/>
                  <a:gd name="connsiteX71" fmla="*/ 7136 w 982662"/>
                  <a:gd name="connsiteY71" fmla="*/ 0 h 474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982662" h="474662">
                    <a:moveTo>
                      <a:pt x="770723" y="255587"/>
                    </a:moveTo>
                    <a:cubicBezTo>
                      <a:pt x="770723" y="255587"/>
                      <a:pt x="770723" y="255587"/>
                      <a:pt x="975526" y="255587"/>
                    </a:cubicBezTo>
                    <a:cubicBezTo>
                      <a:pt x="979808" y="255587"/>
                      <a:pt x="982662" y="258442"/>
                      <a:pt x="982662" y="262723"/>
                    </a:cubicBezTo>
                    <a:cubicBezTo>
                      <a:pt x="982662" y="262723"/>
                      <a:pt x="982662" y="262723"/>
                      <a:pt x="982662" y="467526"/>
                    </a:cubicBezTo>
                    <a:cubicBezTo>
                      <a:pt x="982662" y="471094"/>
                      <a:pt x="979808" y="474662"/>
                      <a:pt x="975526" y="474662"/>
                    </a:cubicBezTo>
                    <a:cubicBezTo>
                      <a:pt x="975526" y="474662"/>
                      <a:pt x="975526" y="474662"/>
                      <a:pt x="770723" y="474662"/>
                    </a:cubicBezTo>
                    <a:cubicBezTo>
                      <a:pt x="767155" y="474662"/>
                      <a:pt x="763587" y="471094"/>
                      <a:pt x="763587" y="467526"/>
                    </a:cubicBezTo>
                    <a:cubicBezTo>
                      <a:pt x="763587" y="467526"/>
                      <a:pt x="763587" y="467526"/>
                      <a:pt x="763587" y="262723"/>
                    </a:cubicBezTo>
                    <a:cubicBezTo>
                      <a:pt x="763587" y="258442"/>
                      <a:pt x="767155" y="255587"/>
                      <a:pt x="770723" y="255587"/>
                    </a:cubicBezTo>
                    <a:close/>
                    <a:moveTo>
                      <a:pt x="516723" y="255587"/>
                    </a:moveTo>
                    <a:cubicBezTo>
                      <a:pt x="516723" y="255587"/>
                      <a:pt x="516723" y="255587"/>
                      <a:pt x="721526" y="255587"/>
                    </a:cubicBezTo>
                    <a:cubicBezTo>
                      <a:pt x="725094" y="255587"/>
                      <a:pt x="728662" y="258442"/>
                      <a:pt x="728662" y="262723"/>
                    </a:cubicBezTo>
                    <a:cubicBezTo>
                      <a:pt x="728662" y="262723"/>
                      <a:pt x="728662" y="262723"/>
                      <a:pt x="728662" y="467526"/>
                    </a:cubicBezTo>
                    <a:cubicBezTo>
                      <a:pt x="728662" y="471094"/>
                      <a:pt x="725094" y="474662"/>
                      <a:pt x="721526" y="474662"/>
                    </a:cubicBezTo>
                    <a:cubicBezTo>
                      <a:pt x="721526" y="474662"/>
                      <a:pt x="721526" y="474662"/>
                      <a:pt x="516723" y="474662"/>
                    </a:cubicBezTo>
                    <a:cubicBezTo>
                      <a:pt x="512442" y="474662"/>
                      <a:pt x="509587" y="471094"/>
                      <a:pt x="509587" y="467526"/>
                    </a:cubicBezTo>
                    <a:cubicBezTo>
                      <a:pt x="509587" y="467526"/>
                      <a:pt x="509587" y="467526"/>
                      <a:pt x="509587" y="262723"/>
                    </a:cubicBezTo>
                    <a:cubicBezTo>
                      <a:pt x="509587" y="258442"/>
                      <a:pt x="512442" y="255587"/>
                      <a:pt x="516723" y="255587"/>
                    </a:cubicBezTo>
                    <a:close/>
                    <a:moveTo>
                      <a:pt x="261136" y="255587"/>
                    </a:moveTo>
                    <a:cubicBezTo>
                      <a:pt x="261136" y="255587"/>
                      <a:pt x="261136" y="255587"/>
                      <a:pt x="465939" y="255587"/>
                    </a:cubicBezTo>
                    <a:cubicBezTo>
                      <a:pt x="470220" y="255587"/>
                      <a:pt x="473075" y="258442"/>
                      <a:pt x="473075" y="262723"/>
                    </a:cubicBezTo>
                    <a:cubicBezTo>
                      <a:pt x="473075" y="262723"/>
                      <a:pt x="473075" y="262723"/>
                      <a:pt x="473075" y="467526"/>
                    </a:cubicBezTo>
                    <a:cubicBezTo>
                      <a:pt x="473075" y="471094"/>
                      <a:pt x="470220" y="474662"/>
                      <a:pt x="465939" y="474662"/>
                    </a:cubicBezTo>
                    <a:cubicBezTo>
                      <a:pt x="465939" y="474662"/>
                      <a:pt x="465939" y="474662"/>
                      <a:pt x="261136" y="474662"/>
                    </a:cubicBezTo>
                    <a:cubicBezTo>
                      <a:pt x="257568" y="474662"/>
                      <a:pt x="254000" y="471094"/>
                      <a:pt x="254000" y="467526"/>
                    </a:cubicBezTo>
                    <a:cubicBezTo>
                      <a:pt x="254000" y="467526"/>
                      <a:pt x="254000" y="467526"/>
                      <a:pt x="254000" y="262723"/>
                    </a:cubicBezTo>
                    <a:cubicBezTo>
                      <a:pt x="254000" y="258442"/>
                      <a:pt x="257568" y="255587"/>
                      <a:pt x="261136" y="255587"/>
                    </a:cubicBezTo>
                    <a:close/>
                    <a:moveTo>
                      <a:pt x="7136" y="255587"/>
                    </a:moveTo>
                    <a:cubicBezTo>
                      <a:pt x="7136" y="255587"/>
                      <a:pt x="7136" y="255587"/>
                      <a:pt x="211939" y="255587"/>
                    </a:cubicBezTo>
                    <a:cubicBezTo>
                      <a:pt x="215507" y="255587"/>
                      <a:pt x="219075" y="258442"/>
                      <a:pt x="219075" y="262723"/>
                    </a:cubicBezTo>
                    <a:cubicBezTo>
                      <a:pt x="219075" y="262723"/>
                      <a:pt x="219075" y="262723"/>
                      <a:pt x="219075" y="467526"/>
                    </a:cubicBezTo>
                    <a:cubicBezTo>
                      <a:pt x="219075" y="471094"/>
                      <a:pt x="215507" y="474662"/>
                      <a:pt x="211939" y="474662"/>
                    </a:cubicBezTo>
                    <a:cubicBezTo>
                      <a:pt x="211939" y="474662"/>
                      <a:pt x="211939" y="474662"/>
                      <a:pt x="7136" y="474662"/>
                    </a:cubicBezTo>
                    <a:cubicBezTo>
                      <a:pt x="2854" y="474662"/>
                      <a:pt x="0" y="471094"/>
                      <a:pt x="0" y="467526"/>
                    </a:cubicBezTo>
                    <a:cubicBezTo>
                      <a:pt x="0" y="467526"/>
                      <a:pt x="0" y="467526"/>
                      <a:pt x="0" y="262723"/>
                    </a:cubicBezTo>
                    <a:cubicBezTo>
                      <a:pt x="0" y="258442"/>
                      <a:pt x="2854" y="255587"/>
                      <a:pt x="7136" y="255587"/>
                    </a:cubicBezTo>
                    <a:close/>
                    <a:moveTo>
                      <a:pt x="770723" y="0"/>
                    </a:moveTo>
                    <a:cubicBezTo>
                      <a:pt x="770723" y="0"/>
                      <a:pt x="770723" y="0"/>
                      <a:pt x="975526" y="0"/>
                    </a:cubicBezTo>
                    <a:cubicBezTo>
                      <a:pt x="979808" y="0"/>
                      <a:pt x="982662" y="2843"/>
                      <a:pt x="982662" y="7108"/>
                    </a:cubicBezTo>
                    <a:cubicBezTo>
                      <a:pt x="982662" y="7108"/>
                      <a:pt x="982662" y="7108"/>
                      <a:pt x="982662" y="210381"/>
                    </a:cubicBezTo>
                    <a:cubicBezTo>
                      <a:pt x="982662" y="214645"/>
                      <a:pt x="979808" y="217488"/>
                      <a:pt x="975526" y="217488"/>
                    </a:cubicBezTo>
                    <a:cubicBezTo>
                      <a:pt x="975526" y="217488"/>
                      <a:pt x="975526" y="217488"/>
                      <a:pt x="770723" y="217488"/>
                    </a:cubicBezTo>
                    <a:cubicBezTo>
                      <a:pt x="767155" y="217488"/>
                      <a:pt x="763587" y="214645"/>
                      <a:pt x="763587" y="210381"/>
                    </a:cubicBezTo>
                    <a:cubicBezTo>
                      <a:pt x="763587" y="210381"/>
                      <a:pt x="763587" y="210381"/>
                      <a:pt x="763587" y="7108"/>
                    </a:cubicBezTo>
                    <a:cubicBezTo>
                      <a:pt x="763587" y="2843"/>
                      <a:pt x="767155" y="0"/>
                      <a:pt x="770723" y="0"/>
                    </a:cubicBezTo>
                    <a:close/>
                    <a:moveTo>
                      <a:pt x="516723" y="0"/>
                    </a:moveTo>
                    <a:cubicBezTo>
                      <a:pt x="516723" y="0"/>
                      <a:pt x="516723" y="0"/>
                      <a:pt x="721526" y="0"/>
                    </a:cubicBezTo>
                    <a:cubicBezTo>
                      <a:pt x="725094" y="0"/>
                      <a:pt x="728662" y="2843"/>
                      <a:pt x="728662" y="7108"/>
                    </a:cubicBezTo>
                    <a:cubicBezTo>
                      <a:pt x="728662" y="7108"/>
                      <a:pt x="728662" y="7108"/>
                      <a:pt x="728662" y="210381"/>
                    </a:cubicBezTo>
                    <a:cubicBezTo>
                      <a:pt x="728662" y="214645"/>
                      <a:pt x="725094" y="217488"/>
                      <a:pt x="721526" y="217488"/>
                    </a:cubicBezTo>
                    <a:cubicBezTo>
                      <a:pt x="721526" y="217488"/>
                      <a:pt x="721526" y="217488"/>
                      <a:pt x="516723" y="217488"/>
                    </a:cubicBezTo>
                    <a:cubicBezTo>
                      <a:pt x="512442" y="217488"/>
                      <a:pt x="509587" y="214645"/>
                      <a:pt x="509587" y="210381"/>
                    </a:cubicBezTo>
                    <a:cubicBezTo>
                      <a:pt x="509587" y="210381"/>
                      <a:pt x="509587" y="210381"/>
                      <a:pt x="509587" y="7108"/>
                    </a:cubicBezTo>
                    <a:cubicBezTo>
                      <a:pt x="509587" y="2843"/>
                      <a:pt x="512442" y="0"/>
                      <a:pt x="516723" y="0"/>
                    </a:cubicBezTo>
                    <a:close/>
                    <a:moveTo>
                      <a:pt x="261136" y="0"/>
                    </a:moveTo>
                    <a:cubicBezTo>
                      <a:pt x="261136" y="0"/>
                      <a:pt x="261136" y="0"/>
                      <a:pt x="465939" y="0"/>
                    </a:cubicBezTo>
                    <a:cubicBezTo>
                      <a:pt x="470220" y="0"/>
                      <a:pt x="473075" y="2843"/>
                      <a:pt x="473075" y="7108"/>
                    </a:cubicBezTo>
                    <a:cubicBezTo>
                      <a:pt x="473075" y="7108"/>
                      <a:pt x="473075" y="7108"/>
                      <a:pt x="473075" y="210381"/>
                    </a:cubicBezTo>
                    <a:cubicBezTo>
                      <a:pt x="473075" y="214645"/>
                      <a:pt x="470220" y="217488"/>
                      <a:pt x="465939" y="217488"/>
                    </a:cubicBezTo>
                    <a:cubicBezTo>
                      <a:pt x="465939" y="217488"/>
                      <a:pt x="465939" y="217488"/>
                      <a:pt x="261136" y="217488"/>
                    </a:cubicBezTo>
                    <a:cubicBezTo>
                      <a:pt x="257568" y="217488"/>
                      <a:pt x="254000" y="214645"/>
                      <a:pt x="254000" y="210381"/>
                    </a:cubicBezTo>
                    <a:cubicBezTo>
                      <a:pt x="254000" y="210381"/>
                      <a:pt x="254000" y="210381"/>
                      <a:pt x="254000" y="7108"/>
                    </a:cubicBezTo>
                    <a:cubicBezTo>
                      <a:pt x="254000" y="2843"/>
                      <a:pt x="257568" y="0"/>
                      <a:pt x="261136" y="0"/>
                    </a:cubicBezTo>
                    <a:close/>
                    <a:moveTo>
                      <a:pt x="7136" y="0"/>
                    </a:moveTo>
                    <a:cubicBezTo>
                      <a:pt x="7136" y="0"/>
                      <a:pt x="7136" y="0"/>
                      <a:pt x="211939" y="0"/>
                    </a:cubicBezTo>
                    <a:cubicBezTo>
                      <a:pt x="215507" y="0"/>
                      <a:pt x="219075" y="2843"/>
                      <a:pt x="219075" y="7108"/>
                    </a:cubicBezTo>
                    <a:cubicBezTo>
                      <a:pt x="219075" y="7108"/>
                      <a:pt x="219075" y="7108"/>
                      <a:pt x="219075" y="210381"/>
                    </a:cubicBezTo>
                    <a:cubicBezTo>
                      <a:pt x="219075" y="214645"/>
                      <a:pt x="215507" y="217488"/>
                      <a:pt x="211939" y="217488"/>
                    </a:cubicBezTo>
                    <a:cubicBezTo>
                      <a:pt x="211939" y="217488"/>
                      <a:pt x="211939" y="217488"/>
                      <a:pt x="7136" y="217488"/>
                    </a:cubicBezTo>
                    <a:cubicBezTo>
                      <a:pt x="2854" y="217488"/>
                      <a:pt x="0" y="214645"/>
                      <a:pt x="0" y="210381"/>
                    </a:cubicBezTo>
                    <a:cubicBezTo>
                      <a:pt x="0" y="210381"/>
                      <a:pt x="0" y="210381"/>
                      <a:pt x="0" y="7108"/>
                    </a:cubicBezTo>
                    <a:cubicBezTo>
                      <a:pt x="0" y="2843"/>
                      <a:pt x="2854" y="0"/>
                      <a:pt x="7136" y="0"/>
                    </a:cubicBezTo>
                    <a:close/>
                  </a:path>
                </a:pathLst>
              </a:custGeom>
              <a:solidFill>
                <a:schemeClr val="tx2"/>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83" name="Freeform 24">
                <a:extLst>
                  <a:ext uri="{FF2B5EF4-FFF2-40B4-BE49-F238E27FC236}">
                    <a16:creationId xmlns:a16="http://schemas.microsoft.com/office/drawing/2014/main" id="{41BE9419-7085-84B3-752B-34033F40FD60}"/>
                  </a:ext>
                </a:extLst>
              </p:cNvPr>
              <p:cNvSpPr>
                <a:spLocks/>
              </p:cNvSpPr>
              <p:nvPr/>
            </p:nvSpPr>
            <p:spPr bwMode="auto">
              <a:xfrm>
                <a:off x="5519738" y="2911475"/>
                <a:ext cx="1154113" cy="963613"/>
              </a:xfrm>
              <a:custGeom>
                <a:avLst/>
                <a:gdLst>
                  <a:gd name="connsiteX0" fmla="*/ 92866 w 1154113"/>
                  <a:gd name="connsiteY0" fmla="*/ 150813 h 963613"/>
                  <a:gd name="connsiteX1" fmla="*/ 163567 w 1154113"/>
                  <a:gd name="connsiteY1" fmla="*/ 150813 h 963613"/>
                  <a:gd name="connsiteX2" fmla="*/ 163567 w 1154113"/>
                  <a:gd name="connsiteY2" fmla="*/ 211469 h 963613"/>
                  <a:gd name="connsiteX3" fmla="*/ 179278 w 1154113"/>
                  <a:gd name="connsiteY3" fmla="*/ 227168 h 963613"/>
                  <a:gd name="connsiteX4" fmla="*/ 320678 w 1154113"/>
                  <a:gd name="connsiteY4" fmla="*/ 227168 h 963613"/>
                  <a:gd name="connsiteX5" fmla="*/ 336390 w 1154113"/>
                  <a:gd name="connsiteY5" fmla="*/ 211469 h 963613"/>
                  <a:gd name="connsiteX6" fmla="*/ 336390 w 1154113"/>
                  <a:gd name="connsiteY6" fmla="*/ 150813 h 963613"/>
                  <a:gd name="connsiteX7" fmla="*/ 817723 w 1154113"/>
                  <a:gd name="connsiteY7" fmla="*/ 150813 h 963613"/>
                  <a:gd name="connsiteX8" fmla="*/ 817723 w 1154113"/>
                  <a:gd name="connsiteY8" fmla="*/ 211469 h 963613"/>
                  <a:gd name="connsiteX9" fmla="*/ 833434 w 1154113"/>
                  <a:gd name="connsiteY9" fmla="*/ 227168 h 963613"/>
                  <a:gd name="connsiteX10" fmla="*/ 974835 w 1154113"/>
                  <a:gd name="connsiteY10" fmla="*/ 227168 h 963613"/>
                  <a:gd name="connsiteX11" fmla="*/ 990546 w 1154113"/>
                  <a:gd name="connsiteY11" fmla="*/ 211469 h 963613"/>
                  <a:gd name="connsiteX12" fmla="*/ 990546 w 1154113"/>
                  <a:gd name="connsiteY12" fmla="*/ 150813 h 963613"/>
                  <a:gd name="connsiteX13" fmla="*/ 1061247 w 1154113"/>
                  <a:gd name="connsiteY13" fmla="*/ 150813 h 963613"/>
                  <a:gd name="connsiteX14" fmla="*/ 1068388 w 1154113"/>
                  <a:gd name="connsiteY14" fmla="*/ 157949 h 963613"/>
                  <a:gd name="connsiteX15" fmla="*/ 1068388 w 1154113"/>
                  <a:gd name="connsiteY15" fmla="*/ 362752 h 963613"/>
                  <a:gd name="connsiteX16" fmla="*/ 1061247 w 1154113"/>
                  <a:gd name="connsiteY16" fmla="*/ 369888 h 963613"/>
                  <a:gd name="connsiteX17" fmla="*/ 92866 w 1154113"/>
                  <a:gd name="connsiteY17" fmla="*/ 369888 h 963613"/>
                  <a:gd name="connsiteX18" fmla="*/ 85725 w 1154113"/>
                  <a:gd name="connsiteY18" fmla="*/ 362752 h 963613"/>
                  <a:gd name="connsiteX19" fmla="*/ 85725 w 1154113"/>
                  <a:gd name="connsiteY19" fmla="*/ 157949 h 963613"/>
                  <a:gd name="connsiteX20" fmla="*/ 92866 w 1154113"/>
                  <a:gd name="connsiteY20" fmla="*/ 150813 h 963613"/>
                  <a:gd name="connsiteX21" fmla="*/ 336550 w 1154113"/>
                  <a:gd name="connsiteY21" fmla="*/ 71438 h 963613"/>
                  <a:gd name="connsiteX22" fmla="*/ 817563 w 1154113"/>
                  <a:gd name="connsiteY22" fmla="*/ 71438 h 963613"/>
                  <a:gd name="connsiteX23" fmla="*/ 817563 w 1154113"/>
                  <a:gd name="connsiteY23" fmla="*/ 101601 h 963613"/>
                  <a:gd name="connsiteX24" fmla="*/ 336550 w 1154113"/>
                  <a:gd name="connsiteY24" fmla="*/ 101601 h 963613"/>
                  <a:gd name="connsiteX25" fmla="*/ 15712 w 1154113"/>
                  <a:gd name="connsiteY25" fmla="*/ 71438 h 963613"/>
                  <a:gd name="connsiteX26" fmla="*/ 163547 w 1154113"/>
                  <a:gd name="connsiteY26" fmla="*/ 71438 h 963613"/>
                  <a:gd name="connsiteX27" fmla="*/ 163547 w 1154113"/>
                  <a:gd name="connsiteY27" fmla="*/ 102843 h 963613"/>
                  <a:gd name="connsiteX28" fmla="*/ 31424 w 1154113"/>
                  <a:gd name="connsiteY28" fmla="*/ 102843 h 963613"/>
                  <a:gd name="connsiteX29" fmla="*/ 31424 w 1154113"/>
                  <a:gd name="connsiteY29" fmla="*/ 932209 h 963613"/>
                  <a:gd name="connsiteX30" fmla="*/ 1122689 w 1154113"/>
                  <a:gd name="connsiteY30" fmla="*/ 932209 h 963613"/>
                  <a:gd name="connsiteX31" fmla="*/ 1122689 w 1154113"/>
                  <a:gd name="connsiteY31" fmla="*/ 102843 h 963613"/>
                  <a:gd name="connsiteX32" fmla="*/ 990566 w 1154113"/>
                  <a:gd name="connsiteY32" fmla="*/ 102843 h 963613"/>
                  <a:gd name="connsiteX33" fmla="*/ 990566 w 1154113"/>
                  <a:gd name="connsiteY33" fmla="*/ 71438 h 963613"/>
                  <a:gd name="connsiteX34" fmla="*/ 1138401 w 1154113"/>
                  <a:gd name="connsiteY34" fmla="*/ 71438 h 963613"/>
                  <a:gd name="connsiteX35" fmla="*/ 1154113 w 1154113"/>
                  <a:gd name="connsiteY35" fmla="*/ 87140 h 963613"/>
                  <a:gd name="connsiteX36" fmla="*/ 1154113 w 1154113"/>
                  <a:gd name="connsiteY36" fmla="*/ 947911 h 963613"/>
                  <a:gd name="connsiteX37" fmla="*/ 1138401 w 1154113"/>
                  <a:gd name="connsiteY37" fmla="*/ 963613 h 963613"/>
                  <a:gd name="connsiteX38" fmla="*/ 15712 w 1154113"/>
                  <a:gd name="connsiteY38" fmla="*/ 963613 h 963613"/>
                  <a:gd name="connsiteX39" fmla="*/ 0 w 1154113"/>
                  <a:gd name="connsiteY39" fmla="*/ 947911 h 963613"/>
                  <a:gd name="connsiteX40" fmla="*/ 0 w 1154113"/>
                  <a:gd name="connsiteY40" fmla="*/ 87140 h 963613"/>
                  <a:gd name="connsiteX41" fmla="*/ 15712 w 1154113"/>
                  <a:gd name="connsiteY41" fmla="*/ 71438 h 963613"/>
                  <a:gd name="connsiteX42" fmla="*/ 856425 w 1154113"/>
                  <a:gd name="connsiteY42" fmla="*/ 0 h 963613"/>
                  <a:gd name="connsiteX43" fmla="*/ 951737 w 1154113"/>
                  <a:gd name="connsiteY43" fmla="*/ 0 h 963613"/>
                  <a:gd name="connsiteX44" fmla="*/ 958850 w 1154113"/>
                  <a:gd name="connsiteY44" fmla="*/ 7153 h 963613"/>
                  <a:gd name="connsiteX45" fmla="*/ 958850 w 1154113"/>
                  <a:gd name="connsiteY45" fmla="*/ 70095 h 963613"/>
                  <a:gd name="connsiteX46" fmla="*/ 958850 w 1154113"/>
                  <a:gd name="connsiteY46" fmla="*/ 101565 h 963613"/>
                  <a:gd name="connsiteX47" fmla="*/ 958850 w 1154113"/>
                  <a:gd name="connsiteY47" fmla="*/ 150202 h 963613"/>
                  <a:gd name="connsiteX48" fmla="*/ 958850 w 1154113"/>
                  <a:gd name="connsiteY48" fmla="*/ 188111 h 963613"/>
                  <a:gd name="connsiteX49" fmla="*/ 951737 w 1154113"/>
                  <a:gd name="connsiteY49" fmla="*/ 195263 h 963613"/>
                  <a:gd name="connsiteX50" fmla="*/ 856425 w 1154113"/>
                  <a:gd name="connsiteY50" fmla="*/ 195263 h 963613"/>
                  <a:gd name="connsiteX51" fmla="*/ 849312 w 1154113"/>
                  <a:gd name="connsiteY51" fmla="*/ 188111 h 963613"/>
                  <a:gd name="connsiteX52" fmla="*/ 849312 w 1154113"/>
                  <a:gd name="connsiteY52" fmla="*/ 150202 h 963613"/>
                  <a:gd name="connsiteX53" fmla="*/ 849312 w 1154113"/>
                  <a:gd name="connsiteY53" fmla="*/ 101565 h 963613"/>
                  <a:gd name="connsiteX54" fmla="*/ 849312 w 1154113"/>
                  <a:gd name="connsiteY54" fmla="*/ 70095 h 963613"/>
                  <a:gd name="connsiteX55" fmla="*/ 849312 w 1154113"/>
                  <a:gd name="connsiteY55" fmla="*/ 7153 h 963613"/>
                  <a:gd name="connsiteX56" fmla="*/ 856425 w 1154113"/>
                  <a:gd name="connsiteY56" fmla="*/ 0 h 963613"/>
                  <a:gd name="connsiteX57" fmla="*/ 202375 w 1154113"/>
                  <a:gd name="connsiteY57" fmla="*/ 0 h 963613"/>
                  <a:gd name="connsiteX58" fmla="*/ 297687 w 1154113"/>
                  <a:gd name="connsiteY58" fmla="*/ 0 h 963613"/>
                  <a:gd name="connsiteX59" fmla="*/ 304800 w 1154113"/>
                  <a:gd name="connsiteY59" fmla="*/ 7153 h 963613"/>
                  <a:gd name="connsiteX60" fmla="*/ 304800 w 1154113"/>
                  <a:gd name="connsiteY60" fmla="*/ 70095 h 963613"/>
                  <a:gd name="connsiteX61" fmla="*/ 304800 w 1154113"/>
                  <a:gd name="connsiteY61" fmla="*/ 101565 h 963613"/>
                  <a:gd name="connsiteX62" fmla="*/ 304800 w 1154113"/>
                  <a:gd name="connsiteY62" fmla="*/ 150202 h 963613"/>
                  <a:gd name="connsiteX63" fmla="*/ 304800 w 1154113"/>
                  <a:gd name="connsiteY63" fmla="*/ 188111 h 963613"/>
                  <a:gd name="connsiteX64" fmla="*/ 297687 w 1154113"/>
                  <a:gd name="connsiteY64" fmla="*/ 195263 h 963613"/>
                  <a:gd name="connsiteX65" fmla="*/ 202375 w 1154113"/>
                  <a:gd name="connsiteY65" fmla="*/ 195263 h 963613"/>
                  <a:gd name="connsiteX66" fmla="*/ 195262 w 1154113"/>
                  <a:gd name="connsiteY66" fmla="*/ 188111 h 963613"/>
                  <a:gd name="connsiteX67" fmla="*/ 195262 w 1154113"/>
                  <a:gd name="connsiteY67" fmla="*/ 150202 h 963613"/>
                  <a:gd name="connsiteX68" fmla="*/ 195262 w 1154113"/>
                  <a:gd name="connsiteY68" fmla="*/ 101565 h 963613"/>
                  <a:gd name="connsiteX69" fmla="*/ 195262 w 1154113"/>
                  <a:gd name="connsiteY69" fmla="*/ 70095 h 963613"/>
                  <a:gd name="connsiteX70" fmla="*/ 195262 w 1154113"/>
                  <a:gd name="connsiteY70" fmla="*/ 7153 h 963613"/>
                  <a:gd name="connsiteX71" fmla="*/ 202375 w 1154113"/>
                  <a:gd name="connsiteY71" fmla="*/ 0 h 963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154113" h="963613">
                    <a:moveTo>
                      <a:pt x="92866" y="150813"/>
                    </a:moveTo>
                    <a:cubicBezTo>
                      <a:pt x="92866" y="150813"/>
                      <a:pt x="92866" y="150813"/>
                      <a:pt x="163567" y="150813"/>
                    </a:cubicBezTo>
                    <a:lnTo>
                      <a:pt x="163567" y="211469"/>
                    </a:lnTo>
                    <a:cubicBezTo>
                      <a:pt x="163567" y="220032"/>
                      <a:pt x="170708" y="227168"/>
                      <a:pt x="179278" y="227168"/>
                    </a:cubicBezTo>
                    <a:cubicBezTo>
                      <a:pt x="179278" y="227168"/>
                      <a:pt x="179278" y="227168"/>
                      <a:pt x="320678" y="227168"/>
                    </a:cubicBezTo>
                    <a:cubicBezTo>
                      <a:pt x="329248" y="227168"/>
                      <a:pt x="336390" y="220032"/>
                      <a:pt x="336390" y="211469"/>
                    </a:cubicBezTo>
                    <a:cubicBezTo>
                      <a:pt x="336390" y="211469"/>
                      <a:pt x="336390" y="211469"/>
                      <a:pt x="336390" y="150813"/>
                    </a:cubicBezTo>
                    <a:cubicBezTo>
                      <a:pt x="336390" y="150813"/>
                      <a:pt x="336390" y="150813"/>
                      <a:pt x="817723" y="150813"/>
                    </a:cubicBezTo>
                    <a:cubicBezTo>
                      <a:pt x="817723" y="150813"/>
                      <a:pt x="817723" y="150813"/>
                      <a:pt x="817723" y="211469"/>
                    </a:cubicBezTo>
                    <a:cubicBezTo>
                      <a:pt x="817723" y="220032"/>
                      <a:pt x="824864" y="227168"/>
                      <a:pt x="833434" y="227168"/>
                    </a:cubicBezTo>
                    <a:cubicBezTo>
                      <a:pt x="833434" y="227168"/>
                      <a:pt x="833434" y="227168"/>
                      <a:pt x="974835" y="227168"/>
                    </a:cubicBezTo>
                    <a:cubicBezTo>
                      <a:pt x="983405" y="227168"/>
                      <a:pt x="990546" y="220032"/>
                      <a:pt x="990546" y="211469"/>
                    </a:cubicBezTo>
                    <a:cubicBezTo>
                      <a:pt x="990546" y="211469"/>
                      <a:pt x="990546" y="211469"/>
                      <a:pt x="990546" y="150813"/>
                    </a:cubicBezTo>
                    <a:cubicBezTo>
                      <a:pt x="990546" y="150813"/>
                      <a:pt x="990546" y="150813"/>
                      <a:pt x="1061247" y="150813"/>
                    </a:cubicBezTo>
                    <a:cubicBezTo>
                      <a:pt x="1065532" y="150813"/>
                      <a:pt x="1068388" y="154381"/>
                      <a:pt x="1068388" y="157949"/>
                    </a:cubicBezTo>
                    <a:cubicBezTo>
                      <a:pt x="1068388" y="157949"/>
                      <a:pt x="1068388" y="157949"/>
                      <a:pt x="1068388" y="362752"/>
                    </a:cubicBezTo>
                    <a:cubicBezTo>
                      <a:pt x="1068388" y="367034"/>
                      <a:pt x="1065532" y="369888"/>
                      <a:pt x="1061247" y="369888"/>
                    </a:cubicBezTo>
                    <a:cubicBezTo>
                      <a:pt x="1061247" y="369888"/>
                      <a:pt x="1061247" y="369888"/>
                      <a:pt x="92866" y="369888"/>
                    </a:cubicBezTo>
                    <a:cubicBezTo>
                      <a:pt x="88581" y="369888"/>
                      <a:pt x="85725" y="367034"/>
                      <a:pt x="85725" y="362752"/>
                    </a:cubicBezTo>
                    <a:cubicBezTo>
                      <a:pt x="85725" y="362752"/>
                      <a:pt x="85725" y="362752"/>
                      <a:pt x="85725" y="157949"/>
                    </a:cubicBezTo>
                    <a:cubicBezTo>
                      <a:pt x="85725" y="154381"/>
                      <a:pt x="88581" y="150813"/>
                      <a:pt x="92866" y="150813"/>
                    </a:cubicBezTo>
                    <a:close/>
                    <a:moveTo>
                      <a:pt x="336550" y="71438"/>
                    </a:moveTo>
                    <a:lnTo>
                      <a:pt x="817563" y="71438"/>
                    </a:lnTo>
                    <a:lnTo>
                      <a:pt x="817563" y="101601"/>
                    </a:lnTo>
                    <a:lnTo>
                      <a:pt x="336550" y="101601"/>
                    </a:lnTo>
                    <a:close/>
                    <a:moveTo>
                      <a:pt x="15712" y="71438"/>
                    </a:moveTo>
                    <a:cubicBezTo>
                      <a:pt x="15712" y="71438"/>
                      <a:pt x="15712" y="71438"/>
                      <a:pt x="163547" y="71438"/>
                    </a:cubicBezTo>
                    <a:cubicBezTo>
                      <a:pt x="163547" y="71438"/>
                      <a:pt x="163547" y="71438"/>
                      <a:pt x="163547" y="102843"/>
                    </a:cubicBezTo>
                    <a:cubicBezTo>
                      <a:pt x="163547" y="102843"/>
                      <a:pt x="163547" y="102843"/>
                      <a:pt x="31424" y="102843"/>
                    </a:cubicBezTo>
                    <a:cubicBezTo>
                      <a:pt x="31424" y="102843"/>
                      <a:pt x="31424" y="102843"/>
                      <a:pt x="31424" y="932209"/>
                    </a:cubicBezTo>
                    <a:cubicBezTo>
                      <a:pt x="31424" y="932209"/>
                      <a:pt x="31424" y="932209"/>
                      <a:pt x="1122689" y="932209"/>
                    </a:cubicBezTo>
                    <a:cubicBezTo>
                      <a:pt x="1122689" y="932209"/>
                      <a:pt x="1122689" y="932209"/>
                      <a:pt x="1122689" y="102843"/>
                    </a:cubicBezTo>
                    <a:cubicBezTo>
                      <a:pt x="1122689" y="102843"/>
                      <a:pt x="1122689" y="102843"/>
                      <a:pt x="990566" y="102843"/>
                    </a:cubicBezTo>
                    <a:cubicBezTo>
                      <a:pt x="990566" y="102843"/>
                      <a:pt x="990566" y="102843"/>
                      <a:pt x="990566" y="71438"/>
                    </a:cubicBezTo>
                    <a:cubicBezTo>
                      <a:pt x="990566" y="71438"/>
                      <a:pt x="990566" y="71438"/>
                      <a:pt x="1138401" y="71438"/>
                    </a:cubicBezTo>
                    <a:cubicBezTo>
                      <a:pt x="1146971" y="71438"/>
                      <a:pt x="1154113" y="78576"/>
                      <a:pt x="1154113" y="87140"/>
                    </a:cubicBezTo>
                    <a:cubicBezTo>
                      <a:pt x="1154113" y="87140"/>
                      <a:pt x="1154113" y="87140"/>
                      <a:pt x="1154113" y="947911"/>
                    </a:cubicBezTo>
                    <a:cubicBezTo>
                      <a:pt x="1154113" y="956476"/>
                      <a:pt x="1146971" y="963613"/>
                      <a:pt x="1138401" y="963613"/>
                    </a:cubicBezTo>
                    <a:cubicBezTo>
                      <a:pt x="1138401" y="963613"/>
                      <a:pt x="1138401" y="963613"/>
                      <a:pt x="15712" y="963613"/>
                    </a:cubicBezTo>
                    <a:cubicBezTo>
                      <a:pt x="7142" y="963613"/>
                      <a:pt x="0" y="956476"/>
                      <a:pt x="0" y="947911"/>
                    </a:cubicBezTo>
                    <a:cubicBezTo>
                      <a:pt x="0" y="947911"/>
                      <a:pt x="0" y="947911"/>
                      <a:pt x="0" y="87140"/>
                    </a:cubicBezTo>
                    <a:cubicBezTo>
                      <a:pt x="0" y="78576"/>
                      <a:pt x="7142" y="71438"/>
                      <a:pt x="15712" y="71438"/>
                    </a:cubicBezTo>
                    <a:close/>
                    <a:moveTo>
                      <a:pt x="856425" y="0"/>
                    </a:moveTo>
                    <a:cubicBezTo>
                      <a:pt x="856425" y="0"/>
                      <a:pt x="856425" y="0"/>
                      <a:pt x="951737" y="0"/>
                    </a:cubicBezTo>
                    <a:cubicBezTo>
                      <a:pt x="955294" y="0"/>
                      <a:pt x="958850" y="3576"/>
                      <a:pt x="958850" y="7153"/>
                    </a:cubicBezTo>
                    <a:cubicBezTo>
                      <a:pt x="958850" y="7153"/>
                      <a:pt x="958850" y="7153"/>
                      <a:pt x="958850" y="70095"/>
                    </a:cubicBezTo>
                    <a:cubicBezTo>
                      <a:pt x="958850" y="70095"/>
                      <a:pt x="958850" y="70095"/>
                      <a:pt x="958850" y="101565"/>
                    </a:cubicBezTo>
                    <a:cubicBezTo>
                      <a:pt x="958850" y="101565"/>
                      <a:pt x="958850" y="101565"/>
                      <a:pt x="958850" y="150202"/>
                    </a:cubicBezTo>
                    <a:cubicBezTo>
                      <a:pt x="958850" y="150202"/>
                      <a:pt x="958850" y="150202"/>
                      <a:pt x="958850" y="188111"/>
                    </a:cubicBezTo>
                    <a:cubicBezTo>
                      <a:pt x="958850" y="192402"/>
                      <a:pt x="955294" y="195263"/>
                      <a:pt x="951737" y="195263"/>
                    </a:cubicBezTo>
                    <a:cubicBezTo>
                      <a:pt x="951737" y="195263"/>
                      <a:pt x="951737" y="195263"/>
                      <a:pt x="856425" y="195263"/>
                    </a:cubicBezTo>
                    <a:cubicBezTo>
                      <a:pt x="852869" y="195263"/>
                      <a:pt x="849312" y="192402"/>
                      <a:pt x="849312" y="188111"/>
                    </a:cubicBezTo>
                    <a:cubicBezTo>
                      <a:pt x="849312" y="188111"/>
                      <a:pt x="849312" y="188111"/>
                      <a:pt x="849312" y="150202"/>
                    </a:cubicBezTo>
                    <a:cubicBezTo>
                      <a:pt x="849312" y="150202"/>
                      <a:pt x="849312" y="150202"/>
                      <a:pt x="849312" y="101565"/>
                    </a:cubicBezTo>
                    <a:cubicBezTo>
                      <a:pt x="849312" y="101565"/>
                      <a:pt x="849312" y="101565"/>
                      <a:pt x="849312" y="70095"/>
                    </a:cubicBezTo>
                    <a:cubicBezTo>
                      <a:pt x="849312" y="70095"/>
                      <a:pt x="849312" y="70095"/>
                      <a:pt x="849312" y="7153"/>
                    </a:cubicBezTo>
                    <a:cubicBezTo>
                      <a:pt x="849312" y="3576"/>
                      <a:pt x="852869" y="0"/>
                      <a:pt x="856425" y="0"/>
                    </a:cubicBezTo>
                    <a:close/>
                    <a:moveTo>
                      <a:pt x="202375" y="0"/>
                    </a:moveTo>
                    <a:cubicBezTo>
                      <a:pt x="202375" y="0"/>
                      <a:pt x="202375" y="0"/>
                      <a:pt x="297687" y="0"/>
                    </a:cubicBezTo>
                    <a:cubicBezTo>
                      <a:pt x="301243" y="0"/>
                      <a:pt x="304800" y="3576"/>
                      <a:pt x="304800" y="7153"/>
                    </a:cubicBezTo>
                    <a:cubicBezTo>
                      <a:pt x="304800" y="7153"/>
                      <a:pt x="304800" y="7153"/>
                      <a:pt x="304800" y="70095"/>
                    </a:cubicBezTo>
                    <a:cubicBezTo>
                      <a:pt x="304800" y="70095"/>
                      <a:pt x="304800" y="70095"/>
                      <a:pt x="304800" y="101565"/>
                    </a:cubicBezTo>
                    <a:cubicBezTo>
                      <a:pt x="304800" y="101565"/>
                      <a:pt x="304800" y="101565"/>
                      <a:pt x="304800" y="150202"/>
                    </a:cubicBezTo>
                    <a:cubicBezTo>
                      <a:pt x="304800" y="150202"/>
                      <a:pt x="304800" y="150202"/>
                      <a:pt x="304800" y="188111"/>
                    </a:cubicBezTo>
                    <a:cubicBezTo>
                      <a:pt x="304800" y="192402"/>
                      <a:pt x="301243" y="195263"/>
                      <a:pt x="297687" y="195263"/>
                    </a:cubicBezTo>
                    <a:cubicBezTo>
                      <a:pt x="297687" y="195263"/>
                      <a:pt x="297687" y="195263"/>
                      <a:pt x="202375" y="195263"/>
                    </a:cubicBezTo>
                    <a:cubicBezTo>
                      <a:pt x="198818" y="195263"/>
                      <a:pt x="195262" y="192402"/>
                      <a:pt x="195262" y="188111"/>
                    </a:cubicBezTo>
                    <a:cubicBezTo>
                      <a:pt x="195262" y="188111"/>
                      <a:pt x="195262" y="188111"/>
                      <a:pt x="195262" y="150202"/>
                    </a:cubicBezTo>
                    <a:cubicBezTo>
                      <a:pt x="195262" y="150202"/>
                      <a:pt x="195262" y="150202"/>
                      <a:pt x="195262" y="101565"/>
                    </a:cubicBezTo>
                    <a:cubicBezTo>
                      <a:pt x="195262" y="101565"/>
                      <a:pt x="195262" y="101565"/>
                      <a:pt x="195262" y="70095"/>
                    </a:cubicBezTo>
                    <a:cubicBezTo>
                      <a:pt x="195262" y="70095"/>
                      <a:pt x="195262" y="70095"/>
                      <a:pt x="195262" y="7153"/>
                    </a:cubicBezTo>
                    <a:cubicBezTo>
                      <a:pt x="195262" y="3576"/>
                      <a:pt x="198818" y="0"/>
                      <a:pt x="202375"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grpSp>
      </p:grpSp>
      <p:grpSp>
        <p:nvGrpSpPr>
          <p:cNvPr id="184" name="bcgIcons_Clock ">
            <a:extLst>
              <a:ext uri="{FF2B5EF4-FFF2-40B4-BE49-F238E27FC236}">
                <a16:creationId xmlns:a16="http://schemas.microsoft.com/office/drawing/2014/main" id="{BE31DC82-B492-AAC8-DA0F-AA66685F818D}"/>
              </a:ext>
            </a:extLst>
          </p:cNvPr>
          <p:cNvGrpSpPr>
            <a:grpSpLocks noChangeAspect="1"/>
          </p:cNvGrpSpPr>
          <p:nvPr/>
        </p:nvGrpSpPr>
        <p:grpSpPr>
          <a:xfrm>
            <a:off x="4900385" y="3652961"/>
            <a:ext cx="361714" cy="361365"/>
            <a:chOff x="5273675" y="2606675"/>
            <a:chExt cx="1646238" cy="1644650"/>
          </a:xfrm>
        </p:grpSpPr>
        <p:sp>
          <p:nvSpPr>
            <p:cNvPr id="185" name="AutoShape 3">
              <a:extLst>
                <a:ext uri="{FF2B5EF4-FFF2-40B4-BE49-F238E27FC236}">
                  <a16:creationId xmlns:a16="http://schemas.microsoft.com/office/drawing/2014/main" id="{EAD5115F-EEED-2F1B-0671-1D903639C19B}"/>
                </a:ext>
              </a:extLst>
            </p:cNvPr>
            <p:cNvSpPr>
              <a:spLocks noChangeAspect="1" noChangeArrowheads="1" noTextEdit="1"/>
            </p:cNvSpPr>
            <p:nvPr/>
          </p:nvSpPr>
          <p:spPr bwMode="auto">
            <a:xfrm>
              <a:off x="5273675"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186" name="Group 185">
              <a:extLst>
                <a:ext uri="{FF2B5EF4-FFF2-40B4-BE49-F238E27FC236}">
                  <a16:creationId xmlns:a16="http://schemas.microsoft.com/office/drawing/2014/main" id="{53D928EA-5FDE-F3D8-38EA-9C34FE912595}"/>
                </a:ext>
              </a:extLst>
            </p:cNvPr>
            <p:cNvGrpSpPr/>
            <p:nvPr/>
          </p:nvGrpSpPr>
          <p:grpSpPr>
            <a:xfrm>
              <a:off x="5443538" y="2776538"/>
              <a:ext cx="1304925" cy="1304925"/>
              <a:chOff x="5443538" y="2776538"/>
              <a:chExt cx="1304925" cy="1304925"/>
            </a:xfrm>
          </p:grpSpPr>
          <p:sp>
            <p:nvSpPr>
              <p:cNvPr id="187" name="Freeform 22">
                <a:extLst>
                  <a:ext uri="{FF2B5EF4-FFF2-40B4-BE49-F238E27FC236}">
                    <a16:creationId xmlns:a16="http://schemas.microsoft.com/office/drawing/2014/main" id="{A1D0C39D-5496-C42E-8833-BCCD2302AEF8}"/>
                  </a:ext>
                </a:extLst>
              </p:cNvPr>
              <p:cNvSpPr>
                <a:spLocks/>
              </p:cNvSpPr>
              <p:nvPr/>
            </p:nvSpPr>
            <p:spPr bwMode="auto">
              <a:xfrm>
                <a:off x="5443538" y="2776538"/>
                <a:ext cx="1304925" cy="1304925"/>
              </a:xfrm>
              <a:custGeom>
                <a:avLst/>
                <a:gdLst>
                  <a:gd name="connsiteX0" fmla="*/ 652462 w 1304925"/>
                  <a:gd name="connsiteY0" fmla="*/ 31750 h 1304925"/>
                  <a:gd name="connsiteX1" fmla="*/ 30162 w 1304925"/>
                  <a:gd name="connsiteY1" fmla="*/ 652463 h 1304925"/>
                  <a:gd name="connsiteX2" fmla="*/ 652462 w 1304925"/>
                  <a:gd name="connsiteY2" fmla="*/ 1273176 h 1304925"/>
                  <a:gd name="connsiteX3" fmla="*/ 1274762 w 1304925"/>
                  <a:gd name="connsiteY3" fmla="*/ 652463 h 1304925"/>
                  <a:gd name="connsiteX4" fmla="*/ 652462 w 1304925"/>
                  <a:gd name="connsiteY4" fmla="*/ 31750 h 1304925"/>
                  <a:gd name="connsiteX5" fmla="*/ 652463 w 1304925"/>
                  <a:gd name="connsiteY5" fmla="*/ 0 h 1304925"/>
                  <a:gd name="connsiteX6" fmla="*/ 1113612 w 1304925"/>
                  <a:gd name="connsiteY6" fmla="*/ 191313 h 1304925"/>
                  <a:gd name="connsiteX7" fmla="*/ 1304925 w 1304925"/>
                  <a:gd name="connsiteY7" fmla="*/ 652463 h 1304925"/>
                  <a:gd name="connsiteX8" fmla="*/ 1113612 w 1304925"/>
                  <a:gd name="connsiteY8" fmla="*/ 1113612 h 1304925"/>
                  <a:gd name="connsiteX9" fmla="*/ 652463 w 1304925"/>
                  <a:gd name="connsiteY9" fmla="*/ 1304925 h 1304925"/>
                  <a:gd name="connsiteX10" fmla="*/ 191313 w 1304925"/>
                  <a:gd name="connsiteY10" fmla="*/ 1113612 h 1304925"/>
                  <a:gd name="connsiteX11" fmla="*/ 0 w 1304925"/>
                  <a:gd name="connsiteY11" fmla="*/ 652463 h 1304925"/>
                  <a:gd name="connsiteX12" fmla="*/ 191313 w 1304925"/>
                  <a:gd name="connsiteY12" fmla="*/ 191313 h 1304925"/>
                  <a:gd name="connsiteX13" fmla="*/ 652463 w 1304925"/>
                  <a:gd name="connsiteY13" fmla="*/ 0 h 130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4925" h="1304925">
                    <a:moveTo>
                      <a:pt x="652462" y="31750"/>
                    </a:moveTo>
                    <a:cubicBezTo>
                      <a:pt x="308775" y="31750"/>
                      <a:pt x="30162" y="309653"/>
                      <a:pt x="30162" y="652463"/>
                    </a:cubicBezTo>
                    <a:cubicBezTo>
                      <a:pt x="30162" y="995273"/>
                      <a:pt x="308775" y="1273176"/>
                      <a:pt x="652462" y="1273176"/>
                    </a:cubicBezTo>
                    <a:cubicBezTo>
                      <a:pt x="996149" y="1273176"/>
                      <a:pt x="1274762" y="995273"/>
                      <a:pt x="1274762" y="652463"/>
                    </a:cubicBezTo>
                    <a:cubicBezTo>
                      <a:pt x="1274762" y="309653"/>
                      <a:pt x="996149" y="31750"/>
                      <a:pt x="652462" y="31750"/>
                    </a:cubicBezTo>
                    <a:close/>
                    <a:moveTo>
                      <a:pt x="652463" y="0"/>
                    </a:moveTo>
                    <a:cubicBezTo>
                      <a:pt x="826643" y="0"/>
                      <a:pt x="990829" y="67816"/>
                      <a:pt x="1113612" y="191313"/>
                    </a:cubicBezTo>
                    <a:cubicBezTo>
                      <a:pt x="1237109" y="314096"/>
                      <a:pt x="1304925" y="478282"/>
                      <a:pt x="1304925" y="652463"/>
                    </a:cubicBezTo>
                    <a:cubicBezTo>
                      <a:pt x="1304925" y="826643"/>
                      <a:pt x="1237109" y="990829"/>
                      <a:pt x="1113612" y="1113612"/>
                    </a:cubicBezTo>
                    <a:cubicBezTo>
                      <a:pt x="990829" y="1237109"/>
                      <a:pt x="826643" y="1304925"/>
                      <a:pt x="652463" y="1304925"/>
                    </a:cubicBezTo>
                    <a:cubicBezTo>
                      <a:pt x="478282" y="1304925"/>
                      <a:pt x="314096" y="1237109"/>
                      <a:pt x="191313" y="1113612"/>
                    </a:cubicBezTo>
                    <a:cubicBezTo>
                      <a:pt x="67816" y="990829"/>
                      <a:pt x="0" y="826643"/>
                      <a:pt x="0" y="652463"/>
                    </a:cubicBezTo>
                    <a:cubicBezTo>
                      <a:pt x="0" y="478282"/>
                      <a:pt x="67816" y="314096"/>
                      <a:pt x="191313" y="191313"/>
                    </a:cubicBezTo>
                    <a:cubicBezTo>
                      <a:pt x="314096" y="67816"/>
                      <a:pt x="478282" y="0"/>
                      <a:pt x="652463"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88" name="Freeform 21">
                <a:extLst>
                  <a:ext uri="{FF2B5EF4-FFF2-40B4-BE49-F238E27FC236}">
                    <a16:creationId xmlns:a16="http://schemas.microsoft.com/office/drawing/2014/main" id="{E42F38A1-F202-45E1-1608-AB3B769AF00C}"/>
                  </a:ext>
                </a:extLst>
              </p:cNvPr>
              <p:cNvSpPr>
                <a:spLocks/>
              </p:cNvSpPr>
              <p:nvPr/>
            </p:nvSpPr>
            <p:spPr bwMode="auto">
              <a:xfrm>
                <a:off x="5505450" y="2840038"/>
                <a:ext cx="1181100" cy="1177925"/>
              </a:xfrm>
              <a:custGeom>
                <a:avLst/>
                <a:gdLst>
                  <a:gd name="connsiteX0" fmla="*/ 319723 w 1181100"/>
                  <a:gd name="connsiteY0" fmla="*/ 1014140 h 1177925"/>
                  <a:gd name="connsiteX1" fmla="*/ 299948 w 1181100"/>
                  <a:gd name="connsiteY1" fmla="*/ 1029834 h 1177925"/>
                  <a:gd name="connsiteX2" fmla="*/ 311559 w 1181100"/>
                  <a:gd name="connsiteY2" fmla="*/ 1074828 h 1177925"/>
                  <a:gd name="connsiteX3" fmla="*/ 357279 w 1181100"/>
                  <a:gd name="connsiteY3" fmla="*/ 1062491 h 1177925"/>
                  <a:gd name="connsiteX4" fmla="*/ 344942 w 1181100"/>
                  <a:gd name="connsiteY4" fmla="*/ 1017496 h 1177925"/>
                  <a:gd name="connsiteX5" fmla="*/ 319723 w 1181100"/>
                  <a:gd name="connsiteY5" fmla="*/ 1014140 h 1177925"/>
                  <a:gd name="connsiteX6" fmla="*/ 864540 w 1181100"/>
                  <a:gd name="connsiteY6" fmla="*/ 1013504 h 1177925"/>
                  <a:gd name="connsiteX7" fmla="*/ 839758 w 1181100"/>
                  <a:gd name="connsiteY7" fmla="*/ 1016488 h 1177925"/>
                  <a:gd name="connsiteX8" fmla="*/ 828388 w 1181100"/>
                  <a:gd name="connsiteY8" fmla="*/ 1060724 h 1177925"/>
                  <a:gd name="connsiteX9" fmla="*/ 872445 w 1181100"/>
                  <a:gd name="connsiteY9" fmla="*/ 1072661 h 1177925"/>
                  <a:gd name="connsiteX10" fmla="*/ 884525 w 1181100"/>
                  <a:gd name="connsiteY10" fmla="*/ 1028425 h 1177925"/>
                  <a:gd name="connsiteX11" fmla="*/ 864540 w 1181100"/>
                  <a:gd name="connsiteY11" fmla="*/ 1013504 h 1177925"/>
                  <a:gd name="connsiteX12" fmla="*/ 143276 w 1181100"/>
                  <a:gd name="connsiteY12" fmla="*/ 821690 h 1177925"/>
                  <a:gd name="connsiteX13" fmla="*/ 118788 w 1181100"/>
                  <a:gd name="connsiteY13" fmla="*/ 825409 h 1177925"/>
                  <a:gd name="connsiteX14" fmla="*/ 106851 w 1181100"/>
                  <a:gd name="connsiteY14" fmla="*/ 870404 h 1177925"/>
                  <a:gd name="connsiteX15" fmla="*/ 151088 w 1181100"/>
                  <a:gd name="connsiteY15" fmla="*/ 882741 h 1177925"/>
                  <a:gd name="connsiteX16" fmla="*/ 163024 w 1181100"/>
                  <a:gd name="connsiteY16" fmla="*/ 837021 h 1177925"/>
                  <a:gd name="connsiteX17" fmla="*/ 143276 w 1181100"/>
                  <a:gd name="connsiteY17" fmla="*/ 821690 h 1177925"/>
                  <a:gd name="connsiteX18" fmla="*/ 1039840 w 1181100"/>
                  <a:gd name="connsiteY18" fmla="*/ 818751 h 1177925"/>
                  <a:gd name="connsiteX19" fmla="*/ 1020476 w 1181100"/>
                  <a:gd name="connsiteY19" fmla="*/ 834118 h 1177925"/>
                  <a:gd name="connsiteX20" fmla="*/ 1032556 w 1181100"/>
                  <a:gd name="connsiteY20" fmla="*/ 878175 h 1177925"/>
                  <a:gd name="connsiteX21" fmla="*/ 1076613 w 1181100"/>
                  <a:gd name="connsiteY21" fmla="*/ 866806 h 1177925"/>
                  <a:gd name="connsiteX22" fmla="*/ 1064533 w 1181100"/>
                  <a:gd name="connsiteY22" fmla="*/ 822038 h 1177925"/>
                  <a:gd name="connsiteX23" fmla="*/ 1039840 w 1181100"/>
                  <a:gd name="connsiteY23" fmla="*/ 818751 h 1177925"/>
                  <a:gd name="connsiteX24" fmla="*/ 901374 w 1181100"/>
                  <a:gd name="connsiteY24" fmla="*/ 330158 h 1177925"/>
                  <a:gd name="connsiteX25" fmla="*/ 885941 w 1181100"/>
                  <a:gd name="connsiteY25" fmla="*/ 334185 h 1177925"/>
                  <a:gd name="connsiteX26" fmla="*/ 604757 w 1181100"/>
                  <a:gd name="connsiteY26" fmla="*/ 536814 h 1177925"/>
                  <a:gd name="connsiteX27" fmla="*/ 591198 w 1181100"/>
                  <a:gd name="connsiteY27" fmla="*/ 534666 h 1177925"/>
                  <a:gd name="connsiteX28" fmla="*/ 574070 w 1181100"/>
                  <a:gd name="connsiteY28" fmla="*/ 537530 h 1177925"/>
                  <a:gd name="connsiteX29" fmla="*/ 398508 w 1181100"/>
                  <a:gd name="connsiteY29" fmla="*/ 437289 h 1177925"/>
                  <a:gd name="connsiteX30" fmla="*/ 369248 w 1181100"/>
                  <a:gd name="connsiteY30" fmla="*/ 443734 h 1177925"/>
                  <a:gd name="connsiteX31" fmla="*/ 375671 w 1181100"/>
                  <a:gd name="connsiteY31" fmla="*/ 472374 h 1177925"/>
                  <a:gd name="connsiteX32" fmla="*/ 538386 w 1181100"/>
                  <a:gd name="connsiteY32" fmla="*/ 587650 h 1177925"/>
                  <a:gd name="connsiteX33" fmla="*/ 591198 w 1181100"/>
                  <a:gd name="connsiteY33" fmla="*/ 641350 h 1177925"/>
                  <a:gd name="connsiteX34" fmla="*/ 644009 w 1181100"/>
                  <a:gd name="connsiteY34" fmla="*/ 587650 h 1177925"/>
                  <a:gd name="connsiteX35" fmla="*/ 644009 w 1181100"/>
                  <a:gd name="connsiteY35" fmla="*/ 585502 h 1177925"/>
                  <a:gd name="connsiteX36" fmla="*/ 911633 w 1181100"/>
                  <a:gd name="connsiteY36" fmla="*/ 367121 h 1177925"/>
                  <a:gd name="connsiteX37" fmla="*/ 915202 w 1181100"/>
                  <a:gd name="connsiteY37" fmla="*/ 338481 h 1177925"/>
                  <a:gd name="connsiteX38" fmla="*/ 901374 w 1181100"/>
                  <a:gd name="connsiteY38" fmla="*/ 330158 h 1177925"/>
                  <a:gd name="connsiteX39" fmla="*/ 124385 w 1181100"/>
                  <a:gd name="connsiteY39" fmla="*/ 296108 h 1177925"/>
                  <a:gd name="connsiteX40" fmla="*/ 104488 w 1181100"/>
                  <a:gd name="connsiteY40" fmla="*/ 311120 h 1177925"/>
                  <a:gd name="connsiteX41" fmla="*/ 116568 w 1181100"/>
                  <a:gd name="connsiteY41" fmla="*/ 355887 h 1177925"/>
                  <a:gd name="connsiteX42" fmla="*/ 160625 w 1181100"/>
                  <a:gd name="connsiteY42" fmla="*/ 343807 h 1177925"/>
                  <a:gd name="connsiteX43" fmla="*/ 148545 w 1181100"/>
                  <a:gd name="connsiteY43" fmla="*/ 299750 h 1177925"/>
                  <a:gd name="connsiteX44" fmla="*/ 124385 w 1181100"/>
                  <a:gd name="connsiteY44" fmla="*/ 296108 h 1177925"/>
                  <a:gd name="connsiteX45" fmla="*/ 1055476 w 1181100"/>
                  <a:gd name="connsiteY45" fmla="*/ 291828 h 1177925"/>
                  <a:gd name="connsiteX46" fmla="*/ 1030456 w 1181100"/>
                  <a:gd name="connsiteY46" fmla="*/ 295184 h 1177925"/>
                  <a:gd name="connsiteX47" fmla="*/ 1018259 w 1181100"/>
                  <a:gd name="connsiteY47" fmla="*/ 340904 h 1177925"/>
                  <a:gd name="connsiteX48" fmla="*/ 1063458 w 1181100"/>
                  <a:gd name="connsiteY48" fmla="*/ 352516 h 1177925"/>
                  <a:gd name="connsiteX49" fmla="*/ 1075654 w 1181100"/>
                  <a:gd name="connsiteY49" fmla="*/ 307522 h 1177925"/>
                  <a:gd name="connsiteX50" fmla="*/ 1055476 w 1181100"/>
                  <a:gd name="connsiteY50" fmla="*/ 291828 h 1177925"/>
                  <a:gd name="connsiteX51" fmla="*/ 333350 w 1181100"/>
                  <a:gd name="connsiteY51" fmla="*/ 102397 h 1177925"/>
                  <a:gd name="connsiteX52" fmla="*/ 308656 w 1181100"/>
                  <a:gd name="connsiteY52" fmla="*/ 105446 h 1177925"/>
                  <a:gd name="connsiteX53" fmla="*/ 296576 w 1181100"/>
                  <a:gd name="connsiteY53" fmla="*/ 150645 h 1177925"/>
                  <a:gd name="connsiteX54" fmla="*/ 341344 w 1181100"/>
                  <a:gd name="connsiteY54" fmla="*/ 162841 h 1177925"/>
                  <a:gd name="connsiteX55" fmla="*/ 352713 w 1181100"/>
                  <a:gd name="connsiteY55" fmla="*/ 117643 h 1177925"/>
                  <a:gd name="connsiteX56" fmla="*/ 333350 w 1181100"/>
                  <a:gd name="connsiteY56" fmla="*/ 102397 h 1177925"/>
                  <a:gd name="connsiteX57" fmla="*/ 844233 w 1181100"/>
                  <a:gd name="connsiteY57" fmla="*/ 99740 h 1177925"/>
                  <a:gd name="connsiteX58" fmla="*/ 823823 w 1181100"/>
                  <a:gd name="connsiteY58" fmla="*/ 115434 h 1177925"/>
                  <a:gd name="connsiteX59" fmla="*/ 836160 w 1181100"/>
                  <a:gd name="connsiteY59" fmla="*/ 160428 h 1177925"/>
                  <a:gd name="connsiteX60" fmla="*/ 881154 w 1181100"/>
                  <a:gd name="connsiteY60" fmla="*/ 148091 h 1177925"/>
                  <a:gd name="connsiteX61" fmla="*/ 869543 w 1181100"/>
                  <a:gd name="connsiteY61" fmla="*/ 103096 h 1177925"/>
                  <a:gd name="connsiteX62" fmla="*/ 844233 w 1181100"/>
                  <a:gd name="connsiteY62" fmla="*/ 99740 h 1177925"/>
                  <a:gd name="connsiteX63" fmla="*/ 556233 w 1181100"/>
                  <a:gd name="connsiteY63" fmla="*/ 0 h 1177925"/>
                  <a:gd name="connsiteX64" fmla="*/ 556233 w 1181100"/>
                  <a:gd name="connsiteY64" fmla="*/ 62747 h 1177925"/>
                  <a:gd name="connsiteX65" fmla="*/ 588405 w 1181100"/>
                  <a:gd name="connsiteY65" fmla="*/ 95546 h 1177925"/>
                  <a:gd name="connsiteX66" fmla="*/ 621293 w 1181100"/>
                  <a:gd name="connsiteY66" fmla="*/ 62747 h 1177925"/>
                  <a:gd name="connsiteX67" fmla="*/ 621293 w 1181100"/>
                  <a:gd name="connsiteY67" fmla="*/ 0 h 1177925"/>
                  <a:gd name="connsiteX68" fmla="*/ 1181100 w 1181100"/>
                  <a:gd name="connsiteY68" fmla="*/ 554737 h 1177925"/>
                  <a:gd name="connsiteX69" fmla="*/ 1118184 w 1181100"/>
                  <a:gd name="connsiteY69" fmla="*/ 554737 h 1177925"/>
                  <a:gd name="connsiteX70" fmla="*/ 1085297 w 1181100"/>
                  <a:gd name="connsiteY70" fmla="*/ 586824 h 1177925"/>
                  <a:gd name="connsiteX71" fmla="*/ 1118184 w 1181100"/>
                  <a:gd name="connsiteY71" fmla="*/ 619623 h 1177925"/>
                  <a:gd name="connsiteX72" fmla="*/ 1181100 w 1181100"/>
                  <a:gd name="connsiteY72" fmla="*/ 619623 h 1177925"/>
                  <a:gd name="connsiteX73" fmla="*/ 624868 w 1181100"/>
                  <a:gd name="connsiteY73" fmla="*/ 1177925 h 1177925"/>
                  <a:gd name="connsiteX74" fmla="*/ 624868 w 1181100"/>
                  <a:gd name="connsiteY74" fmla="*/ 1115179 h 1177925"/>
                  <a:gd name="connsiteX75" fmla="*/ 592695 w 1181100"/>
                  <a:gd name="connsiteY75" fmla="*/ 1082379 h 1177925"/>
                  <a:gd name="connsiteX76" fmla="*/ 559807 w 1181100"/>
                  <a:gd name="connsiteY76" fmla="*/ 1115179 h 1177925"/>
                  <a:gd name="connsiteX77" fmla="*/ 559807 w 1181100"/>
                  <a:gd name="connsiteY77" fmla="*/ 1177925 h 1177925"/>
                  <a:gd name="connsiteX78" fmla="*/ 0 w 1181100"/>
                  <a:gd name="connsiteY78" fmla="*/ 623188 h 1177925"/>
                  <a:gd name="connsiteX79" fmla="*/ 62916 w 1181100"/>
                  <a:gd name="connsiteY79" fmla="*/ 623188 h 1177925"/>
                  <a:gd name="connsiteX80" fmla="*/ 95804 w 1181100"/>
                  <a:gd name="connsiteY80" fmla="*/ 591102 h 1177925"/>
                  <a:gd name="connsiteX81" fmla="*/ 62916 w 1181100"/>
                  <a:gd name="connsiteY81" fmla="*/ 558302 h 1177925"/>
                  <a:gd name="connsiteX82" fmla="*/ 0 w 1181100"/>
                  <a:gd name="connsiteY82" fmla="*/ 558302 h 1177925"/>
                  <a:gd name="connsiteX83" fmla="*/ 556233 w 1181100"/>
                  <a:gd name="connsiteY83" fmla="*/ 0 h 117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181100" h="1177925">
                    <a:moveTo>
                      <a:pt x="319723" y="1014140"/>
                    </a:moveTo>
                    <a:cubicBezTo>
                      <a:pt x="311559" y="1016408"/>
                      <a:pt x="304302" y="1021851"/>
                      <a:pt x="299948" y="1029834"/>
                    </a:cubicBezTo>
                    <a:cubicBezTo>
                      <a:pt x="290513" y="1045074"/>
                      <a:pt x="295593" y="1065394"/>
                      <a:pt x="311559" y="1074828"/>
                    </a:cubicBezTo>
                    <a:cubicBezTo>
                      <a:pt x="327525" y="1084262"/>
                      <a:pt x="347845" y="1078456"/>
                      <a:pt x="357279" y="1062491"/>
                    </a:cubicBezTo>
                    <a:cubicBezTo>
                      <a:pt x="366713" y="1046525"/>
                      <a:pt x="360908" y="1026205"/>
                      <a:pt x="344942" y="1017496"/>
                    </a:cubicBezTo>
                    <a:cubicBezTo>
                      <a:pt x="336959" y="1012779"/>
                      <a:pt x="327888" y="1011872"/>
                      <a:pt x="319723" y="1014140"/>
                    </a:cubicBezTo>
                    <a:close/>
                    <a:moveTo>
                      <a:pt x="864540" y="1013504"/>
                    </a:moveTo>
                    <a:cubicBezTo>
                      <a:pt x="856457" y="1011397"/>
                      <a:pt x="847574" y="1012275"/>
                      <a:pt x="839758" y="1016488"/>
                    </a:cubicBezTo>
                    <a:cubicBezTo>
                      <a:pt x="824124" y="1025616"/>
                      <a:pt x="819150" y="1045277"/>
                      <a:pt x="828388" y="1060724"/>
                    </a:cubicBezTo>
                    <a:cubicBezTo>
                      <a:pt x="836915" y="1076172"/>
                      <a:pt x="856812" y="1081087"/>
                      <a:pt x="872445" y="1072661"/>
                    </a:cubicBezTo>
                    <a:cubicBezTo>
                      <a:pt x="888078" y="1063533"/>
                      <a:pt x="893763" y="1043872"/>
                      <a:pt x="884525" y="1028425"/>
                    </a:cubicBezTo>
                    <a:cubicBezTo>
                      <a:pt x="879907" y="1020701"/>
                      <a:pt x="872623" y="1015610"/>
                      <a:pt x="864540" y="1013504"/>
                    </a:cubicBezTo>
                    <a:close/>
                    <a:moveTo>
                      <a:pt x="143276" y="821690"/>
                    </a:moveTo>
                    <a:cubicBezTo>
                      <a:pt x="135289" y="819604"/>
                      <a:pt x="126512" y="820692"/>
                      <a:pt x="118788" y="825409"/>
                    </a:cubicBezTo>
                    <a:cubicBezTo>
                      <a:pt x="103340" y="834118"/>
                      <a:pt x="98425" y="854438"/>
                      <a:pt x="106851" y="870404"/>
                    </a:cubicBezTo>
                    <a:cubicBezTo>
                      <a:pt x="115979" y="886369"/>
                      <a:pt x="135640" y="892175"/>
                      <a:pt x="151088" y="882741"/>
                    </a:cubicBezTo>
                    <a:cubicBezTo>
                      <a:pt x="166535" y="873307"/>
                      <a:pt x="171450" y="852987"/>
                      <a:pt x="163024" y="837021"/>
                    </a:cubicBezTo>
                    <a:cubicBezTo>
                      <a:pt x="158460" y="829038"/>
                      <a:pt x="151263" y="823777"/>
                      <a:pt x="143276" y="821690"/>
                    </a:cubicBezTo>
                    <a:close/>
                    <a:moveTo>
                      <a:pt x="1039840" y="818751"/>
                    </a:moveTo>
                    <a:cubicBezTo>
                      <a:pt x="1031846" y="820972"/>
                      <a:pt x="1024740" y="826302"/>
                      <a:pt x="1020476" y="834118"/>
                    </a:cubicBezTo>
                    <a:cubicBezTo>
                      <a:pt x="1011238" y="849751"/>
                      <a:pt x="1016923" y="869648"/>
                      <a:pt x="1032556" y="878175"/>
                    </a:cubicBezTo>
                    <a:cubicBezTo>
                      <a:pt x="1047479" y="887413"/>
                      <a:pt x="1067376" y="882439"/>
                      <a:pt x="1076613" y="866806"/>
                    </a:cubicBezTo>
                    <a:cubicBezTo>
                      <a:pt x="1085851" y="851173"/>
                      <a:pt x="1080166" y="831276"/>
                      <a:pt x="1064533" y="822038"/>
                    </a:cubicBezTo>
                    <a:cubicBezTo>
                      <a:pt x="1056717" y="817419"/>
                      <a:pt x="1047834" y="816531"/>
                      <a:pt x="1039840" y="818751"/>
                    </a:cubicBezTo>
                    <a:close/>
                    <a:moveTo>
                      <a:pt x="901374" y="330158"/>
                    </a:moveTo>
                    <a:cubicBezTo>
                      <a:pt x="896111" y="329352"/>
                      <a:pt x="890580" y="330605"/>
                      <a:pt x="885941" y="334185"/>
                    </a:cubicBezTo>
                    <a:cubicBezTo>
                      <a:pt x="885941" y="334185"/>
                      <a:pt x="885941" y="334185"/>
                      <a:pt x="604757" y="536814"/>
                    </a:cubicBezTo>
                    <a:cubicBezTo>
                      <a:pt x="600475" y="535382"/>
                      <a:pt x="596193" y="534666"/>
                      <a:pt x="591198" y="534666"/>
                    </a:cubicBezTo>
                    <a:cubicBezTo>
                      <a:pt x="585488" y="534666"/>
                      <a:pt x="579065" y="536098"/>
                      <a:pt x="574070" y="537530"/>
                    </a:cubicBezTo>
                    <a:cubicBezTo>
                      <a:pt x="574070" y="537530"/>
                      <a:pt x="574070" y="537530"/>
                      <a:pt x="398508" y="437289"/>
                    </a:cubicBezTo>
                    <a:cubicBezTo>
                      <a:pt x="388517" y="430845"/>
                      <a:pt x="375671" y="433709"/>
                      <a:pt x="369248" y="443734"/>
                    </a:cubicBezTo>
                    <a:cubicBezTo>
                      <a:pt x="363538" y="453042"/>
                      <a:pt x="366393" y="465930"/>
                      <a:pt x="375671" y="472374"/>
                    </a:cubicBezTo>
                    <a:cubicBezTo>
                      <a:pt x="375671" y="472374"/>
                      <a:pt x="375671" y="472374"/>
                      <a:pt x="538386" y="587650"/>
                    </a:cubicBezTo>
                    <a:cubicBezTo>
                      <a:pt x="538386" y="617722"/>
                      <a:pt x="561937" y="641350"/>
                      <a:pt x="591198" y="641350"/>
                    </a:cubicBezTo>
                    <a:cubicBezTo>
                      <a:pt x="620458" y="641350"/>
                      <a:pt x="644009" y="617722"/>
                      <a:pt x="644009" y="587650"/>
                    </a:cubicBezTo>
                    <a:cubicBezTo>
                      <a:pt x="644009" y="586934"/>
                      <a:pt x="644009" y="586218"/>
                      <a:pt x="644009" y="585502"/>
                    </a:cubicBezTo>
                    <a:cubicBezTo>
                      <a:pt x="644009" y="585502"/>
                      <a:pt x="644009" y="585502"/>
                      <a:pt x="911633" y="367121"/>
                    </a:cubicBezTo>
                    <a:cubicBezTo>
                      <a:pt x="920197" y="360677"/>
                      <a:pt x="922338" y="347073"/>
                      <a:pt x="915202" y="338481"/>
                    </a:cubicBezTo>
                    <a:cubicBezTo>
                      <a:pt x="911633" y="333827"/>
                      <a:pt x="906637" y="330963"/>
                      <a:pt x="901374" y="330158"/>
                    </a:cubicBezTo>
                    <a:close/>
                    <a:moveTo>
                      <a:pt x="124385" y="296108"/>
                    </a:moveTo>
                    <a:cubicBezTo>
                      <a:pt x="116391" y="298151"/>
                      <a:pt x="109107" y="303303"/>
                      <a:pt x="104488" y="311120"/>
                    </a:cubicBezTo>
                    <a:cubicBezTo>
                      <a:pt x="95250" y="326753"/>
                      <a:pt x="100935" y="346650"/>
                      <a:pt x="116568" y="355887"/>
                    </a:cubicBezTo>
                    <a:cubicBezTo>
                      <a:pt x="132201" y="365125"/>
                      <a:pt x="152098" y="359440"/>
                      <a:pt x="160625" y="343807"/>
                    </a:cubicBezTo>
                    <a:cubicBezTo>
                      <a:pt x="169863" y="328174"/>
                      <a:pt x="164178" y="308277"/>
                      <a:pt x="148545" y="299750"/>
                    </a:cubicBezTo>
                    <a:cubicBezTo>
                      <a:pt x="141084" y="295131"/>
                      <a:pt x="132379" y="294065"/>
                      <a:pt x="124385" y="296108"/>
                    </a:cubicBezTo>
                    <a:close/>
                    <a:moveTo>
                      <a:pt x="1055476" y="291828"/>
                    </a:moveTo>
                    <a:cubicBezTo>
                      <a:pt x="1047315" y="289560"/>
                      <a:pt x="1038348" y="290467"/>
                      <a:pt x="1030456" y="295184"/>
                    </a:cubicBezTo>
                    <a:cubicBezTo>
                      <a:pt x="1014672" y="304619"/>
                      <a:pt x="1009650" y="324939"/>
                      <a:pt x="1018259" y="340904"/>
                    </a:cubicBezTo>
                    <a:cubicBezTo>
                      <a:pt x="1027586" y="356870"/>
                      <a:pt x="1047674" y="361950"/>
                      <a:pt x="1063458" y="352516"/>
                    </a:cubicBezTo>
                    <a:cubicBezTo>
                      <a:pt x="1079241" y="343807"/>
                      <a:pt x="1084263" y="323487"/>
                      <a:pt x="1075654" y="307522"/>
                    </a:cubicBezTo>
                    <a:cubicBezTo>
                      <a:pt x="1070991" y="299539"/>
                      <a:pt x="1063637" y="294096"/>
                      <a:pt x="1055476" y="291828"/>
                    </a:cubicBezTo>
                    <a:close/>
                    <a:moveTo>
                      <a:pt x="333350" y="102397"/>
                    </a:moveTo>
                    <a:cubicBezTo>
                      <a:pt x="325355" y="100245"/>
                      <a:pt x="316473" y="101142"/>
                      <a:pt x="308656" y="105446"/>
                    </a:cubicBezTo>
                    <a:cubicBezTo>
                      <a:pt x="293023" y="114773"/>
                      <a:pt x="287338" y="134861"/>
                      <a:pt x="296576" y="150645"/>
                    </a:cubicBezTo>
                    <a:cubicBezTo>
                      <a:pt x="305814" y="166428"/>
                      <a:pt x="325711" y="171450"/>
                      <a:pt x="341344" y="162841"/>
                    </a:cubicBezTo>
                    <a:cubicBezTo>
                      <a:pt x="356977" y="153514"/>
                      <a:pt x="361951" y="133426"/>
                      <a:pt x="352713" y="117643"/>
                    </a:cubicBezTo>
                    <a:cubicBezTo>
                      <a:pt x="348450" y="109751"/>
                      <a:pt x="341344" y="104550"/>
                      <a:pt x="333350" y="102397"/>
                    </a:cubicBezTo>
                    <a:close/>
                    <a:moveTo>
                      <a:pt x="844233" y="99740"/>
                    </a:moveTo>
                    <a:cubicBezTo>
                      <a:pt x="835978" y="102008"/>
                      <a:pt x="828540" y="107451"/>
                      <a:pt x="823823" y="115434"/>
                    </a:cubicBezTo>
                    <a:cubicBezTo>
                      <a:pt x="814388" y="131399"/>
                      <a:pt x="820194" y="151719"/>
                      <a:pt x="836160" y="160428"/>
                    </a:cubicBezTo>
                    <a:cubicBezTo>
                      <a:pt x="852125" y="169862"/>
                      <a:pt x="872445" y="164056"/>
                      <a:pt x="881154" y="148091"/>
                    </a:cubicBezTo>
                    <a:cubicBezTo>
                      <a:pt x="890588" y="132851"/>
                      <a:pt x="885508" y="112531"/>
                      <a:pt x="869543" y="103096"/>
                    </a:cubicBezTo>
                    <a:cubicBezTo>
                      <a:pt x="861560" y="98379"/>
                      <a:pt x="852488" y="97472"/>
                      <a:pt x="844233" y="99740"/>
                    </a:cubicBezTo>
                    <a:close/>
                    <a:moveTo>
                      <a:pt x="556233" y="0"/>
                    </a:moveTo>
                    <a:cubicBezTo>
                      <a:pt x="556233" y="0"/>
                      <a:pt x="556233" y="0"/>
                      <a:pt x="556233" y="62747"/>
                    </a:cubicBezTo>
                    <a:cubicBezTo>
                      <a:pt x="556233" y="80572"/>
                      <a:pt x="570532" y="95546"/>
                      <a:pt x="588405" y="95546"/>
                    </a:cubicBezTo>
                    <a:cubicBezTo>
                      <a:pt x="606994" y="95546"/>
                      <a:pt x="621293" y="80572"/>
                      <a:pt x="621293" y="62747"/>
                    </a:cubicBezTo>
                    <a:cubicBezTo>
                      <a:pt x="621293" y="62747"/>
                      <a:pt x="621293" y="62747"/>
                      <a:pt x="621293" y="0"/>
                    </a:cubicBezTo>
                    <a:cubicBezTo>
                      <a:pt x="922288" y="15687"/>
                      <a:pt x="1163226" y="255265"/>
                      <a:pt x="1181100" y="554737"/>
                    </a:cubicBezTo>
                    <a:cubicBezTo>
                      <a:pt x="1181100" y="554737"/>
                      <a:pt x="1181100" y="554737"/>
                      <a:pt x="1118184" y="554737"/>
                    </a:cubicBezTo>
                    <a:cubicBezTo>
                      <a:pt x="1100311" y="554737"/>
                      <a:pt x="1085297" y="568998"/>
                      <a:pt x="1085297" y="586824"/>
                    </a:cubicBezTo>
                    <a:cubicBezTo>
                      <a:pt x="1085297" y="605362"/>
                      <a:pt x="1100311" y="619623"/>
                      <a:pt x="1118184" y="619623"/>
                    </a:cubicBezTo>
                    <a:lnTo>
                      <a:pt x="1181100" y="619623"/>
                    </a:lnTo>
                    <a:cubicBezTo>
                      <a:pt x="1165371" y="919808"/>
                      <a:pt x="925148" y="1160099"/>
                      <a:pt x="624868" y="1177925"/>
                    </a:cubicBezTo>
                    <a:cubicBezTo>
                      <a:pt x="624868" y="1177925"/>
                      <a:pt x="624868" y="1177925"/>
                      <a:pt x="624868" y="1115179"/>
                    </a:cubicBezTo>
                    <a:cubicBezTo>
                      <a:pt x="624868" y="1097353"/>
                      <a:pt x="610569" y="1082379"/>
                      <a:pt x="592695" y="1082379"/>
                    </a:cubicBezTo>
                    <a:cubicBezTo>
                      <a:pt x="574106" y="1082379"/>
                      <a:pt x="559807" y="1097353"/>
                      <a:pt x="559807" y="1115179"/>
                    </a:cubicBezTo>
                    <a:cubicBezTo>
                      <a:pt x="559807" y="1115179"/>
                      <a:pt x="559807" y="1115179"/>
                      <a:pt x="559807" y="1177925"/>
                    </a:cubicBezTo>
                    <a:cubicBezTo>
                      <a:pt x="258813" y="1162239"/>
                      <a:pt x="17874" y="922661"/>
                      <a:pt x="0" y="623188"/>
                    </a:cubicBezTo>
                    <a:cubicBezTo>
                      <a:pt x="0" y="623188"/>
                      <a:pt x="0" y="623188"/>
                      <a:pt x="62916" y="623188"/>
                    </a:cubicBezTo>
                    <a:cubicBezTo>
                      <a:pt x="80790" y="623188"/>
                      <a:pt x="95804" y="608927"/>
                      <a:pt x="95804" y="591102"/>
                    </a:cubicBezTo>
                    <a:cubicBezTo>
                      <a:pt x="95804" y="572563"/>
                      <a:pt x="80790" y="558302"/>
                      <a:pt x="62916" y="558302"/>
                    </a:cubicBezTo>
                    <a:cubicBezTo>
                      <a:pt x="62916" y="558302"/>
                      <a:pt x="62916" y="558302"/>
                      <a:pt x="0" y="558302"/>
                    </a:cubicBezTo>
                    <a:cubicBezTo>
                      <a:pt x="15729" y="258117"/>
                      <a:pt x="255953" y="17826"/>
                      <a:pt x="556233" y="0"/>
                    </a:cubicBezTo>
                    <a:close/>
                  </a:path>
                </a:pathLst>
              </a:custGeom>
              <a:solidFill>
                <a:schemeClr val="tx2"/>
              </a:solidFill>
              <a:ln>
                <a:noFill/>
              </a:ln>
            </p:spPr>
            <p:txBody>
              <a:bodyPr vert="horz" wrap="square" lIns="91440" tIns="45720" rIns="91440" bIns="45720" numCol="1" anchor="t" anchorCtr="0" compatLnSpc="1">
                <a:prstTxWarp prst="textNoShape">
                  <a:avLst/>
                </a:prstTxWarp>
                <a:noAutofit/>
              </a:bodyPr>
              <a:lstStyle/>
              <a:p>
                <a:endParaRPr lang="en-US"/>
              </a:p>
            </p:txBody>
          </p:sp>
        </p:grpSp>
      </p:grpSp>
      <p:grpSp>
        <p:nvGrpSpPr>
          <p:cNvPr id="190" name="bcgIcons_Time management ">
            <a:extLst>
              <a:ext uri="{FF2B5EF4-FFF2-40B4-BE49-F238E27FC236}">
                <a16:creationId xmlns:a16="http://schemas.microsoft.com/office/drawing/2014/main" id="{5D913280-A3B7-8FB8-B47D-51E2F159115D}"/>
              </a:ext>
            </a:extLst>
          </p:cNvPr>
          <p:cNvGrpSpPr>
            <a:grpSpLocks noChangeAspect="1"/>
          </p:cNvGrpSpPr>
          <p:nvPr/>
        </p:nvGrpSpPr>
        <p:grpSpPr>
          <a:xfrm>
            <a:off x="6186318" y="3596912"/>
            <a:ext cx="454477" cy="454477"/>
            <a:chOff x="5272088" y="2605088"/>
            <a:chExt cx="1647825" cy="1647825"/>
          </a:xfrm>
        </p:grpSpPr>
        <p:sp>
          <p:nvSpPr>
            <p:cNvPr id="191" name="AutoShape 120">
              <a:extLst>
                <a:ext uri="{FF2B5EF4-FFF2-40B4-BE49-F238E27FC236}">
                  <a16:creationId xmlns:a16="http://schemas.microsoft.com/office/drawing/2014/main" id="{CEA23FB9-ECF9-7F55-5127-84F3131E59FB}"/>
                </a:ext>
              </a:extLst>
            </p:cNvPr>
            <p:cNvSpPr>
              <a:spLocks noChangeAspect="1" noChangeArrowheads="1" noTextEdit="1"/>
            </p:cNvSpPr>
            <p:nvPr/>
          </p:nvSpPr>
          <p:spPr bwMode="auto">
            <a:xfrm>
              <a:off x="5272088" y="2605088"/>
              <a:ext cx="1647825" cy="1647825"/>
            </a:xfrm>
            <a:prstGeom prst="rect">
              <a:avLst/>
            </a:prstGeom>
            <a:noFill/>
            <a:ln>
              <a:noFill/>
            </a:ln>
            <a:extLst>
              <a:ext uri="{909E8E84-426E-40DD-AFC4-6F175D3DCCD1}">
                <a14:hiddenFill xmlns:a14="http://schemas.microsoft.com/office/drawing/2010/main">
                  <a:solidFill>
                    <a:srgbClr val="D4DF33"/>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192" name="Group 191">
              <a:extLst>
                <a:ext uri="{FF2B5EF4-FFF2-40B4-BE49-F238E27FC236}">
                  <a16:creationId xmlns:a16="http://schemas.microsoft.com/office/drawing/2014/main" id="{51914CB6-B060-88CA-92FC-15F6E19F2F56}"/>
                </a:ext>
              </a:extLst>
            </p:cNvPr>
            <p:cNvGrpSpPr/>
            <p:nvPr/>
          </p:nvGrpSpPr>
          <p:grpSpPr>
            <a:xfrm>
              <a:off x="5494338" y="2879725"/>
              <a:ext cx="1152526" cy="1143001"/>
              <a:chOff x="5494338" y="2879725"/>
              <a:chExt cx="1152526" cy="1143001"/>
            </a:xfrm>
          </p:grpSpPr>
          <p:sp>
            <p:nvSpPr>
              <p:cNvPr id="193" name="Freeform 12">
                <a:extLst>
                  <a:ext uri="{FF2B5EF4-FFF2-40B4-BE49-F238E27FC236}">
                    <a16:creationId xmlns:a16="http://schemas.microsoft.com/office/drawing/2014/main" id="{5878AB2F-CD57-C851-9D52-D9A1CEE31977}"/>
                  </a:ext>
                </a:extLst>
              </p:cNvPr>
              <p:cNvSpPr>
                <a:spLocks/>
              </p:cNvSpPr>
              <p:nvPr/>
            </p:nvSpPr>
            <p:spPr bwMode="auto">
              <a:xfrm>
                <a:off x="5930901" y="2879725"/>
                <a:ext cx="715963" cy="712788"/>
              </a:xfrm>
              <a:custGeom>
                <a:avLst/>
                <a:gdLst>
                  <a:gd name="connsiteX0" fmla="*/ 566864 w 715963"/>
                  <a:gd name="connsiteY0" fmla="*/ 178516 h 712788"/>
                  <a:gd name="connsiteX1" fmla="*/ 576886 w 715963"/>
                  <a:gd name="connsiteY1" fmla="*/ 183528 h 712788"/>
                  <a:gd name="connsiteX2" fmla="*/ 574738 w 715963"/>
                  <a:gd name="connsiteY2" fmla="*/ 205721 h 712788"/>
                  <a:gd name="connsiteX3" fmla="*/ 397215 w 715963"/>
                  <a:gd name="connsiteY3" fmla="*/ 357499 h 712788"/>
                  <a:gd name="connsiteX4" fmla="*/ 397215 w 715963"/>
                  <a:gd name="connsiteY4" fmla="*/ 358931 h 712788"/>
                  <a:gd name="connsiteX5" fmla="*/ 357845 w 715963"/>
                  <a:gd name="connsiteY5" fmla="*/ 396875 h 712788"/>
                  <a:gd name="connsiteX6" fmla="*/ 319191 w 715963"/>
                  <a:gd name="connsiteY6" fmla="*/ 360363 h 712788"/>
                  <a:gd name="connsiteX7" fmla="*/ 197502 w 715963"/>
                  <a:gd name="connsiteY7" fmla="*/ 275883 h 712788"/>
                  <a:gd name="connsiteX8" fmla="*/ 193207 w 715963"/>
                  <a:gd name="connsiteY8" fmla="*/ 255837 h 712788"/>
                  <a:gd name="connsiteX9" fmla="*/ 213250 w 715963"/>
                  <a:gd name="connsiteY9" fmla="*/ 250109 h 712788"/>
                  <a:gd name="connsiteX10" fmla="*/ 343529 w 715963"/>
                  <a:gd name="connsiteY10" fmla="*/ 322418 h 712788"/>
                  <a:gd name="connsiteX11" fmla="*/ 357845 w 715963"/>
                  <a:gd name="connsiteY11" fmla="*/ 320270 h 712788"/>
                  <a:gd name="connsiteX12" fmla="*/ 367867 w 715963"/>
                  <a:gd name="connsiteY12" fmla="*/ 321702 h 712788"/>
                  <a:gd name="connsiteX13" fmla="*/ 556127 w 715963"/>
                  <a:gd name="connsiteY13" fmla="*/ 181380 h 712788"/>
                  <a:gd name="connsiteX14" fmla="*/ 566864 w 715963"/>
                  <a:gd name="connsiteY14" fmla="*/ 178516 h 712788"/>
                  <a:gd name="connsiteX15" fmla="*/ 357266 w 715963"/>
                  <a:gd name="connsiteY15" fmla="*/ 0 h 712788"/>
                  <a:gd name="connsiteX16" fmla="*/ 387336 w 715963"/>
                  <a:gd name="connsiteY16" fmla="*/ 1431 h 712788"/>
                  <a:gd name="connsiteX17" fmla="*/ 417407 w 715963"/>
                  <a:gd name="connsiteY17" fmla="*/ 5725 h 712788"/>
                  <a:gd name="connsiteX18" fmla="*/ 704508 w 715963"/>
                  <a:gd name="connsiteY18" fmla="*/ 264791 h 712788"/>
                  <a:gd name="connsiteX19" fmla="*/ 710951 w 715963"/>
                  <a:gd name="connsiteY19" fmla="*/ 293417 h 712788"/>
                  <a:gd name="connsiteX20" fmla="*/ 715963 w 715963"/>
                  <a:gd name="connsiteY20" fmla="*/ 358541 h 712788"/>
                  <a:gd name="connsiteX21" fmla="*/ 408815 w 715963"/>
                  <a:gd name="connsiteY21" fmla="*/ 712788 h 712788"/>
                  <a:gd name="connsiteX22" fmla="*/ 407383 w 715963"/>
                  <a:gd name="connsiteY22" fmla="*/ 693466 h 712788"/>
                  <a:gd name="connsiteX23" fmla="*/ 405951 w 715963"/>
                  <a:gd name="connsiteY23" fmla="*/ 681300 h 712788"/>
                  <a:gd name="connsiteX24" fmla="*/ 589238 w 715963"/>
                  <a:gd name="connsiteY24" fmla="*/ 588981 h 712788"/>
                  <a:gd name="connsiteX25" fmla="*/ 684461 w 715963"/>
                  <a:gd name="connsiteY25" fmla="*/ 358541 h 712788"/>
                  <a:gd name="connsiteX26" fmla="*/ 680165 w 715963"/>
                  <a:gd name="connsiteY26" fmla="*/ 299142 h 712788"/>
                  <a:gd name="connsiteX27" fmla="*/ 673721 w 715963"/>
                  <a:gd name="connsiteY27" fmla="*/ 273379 h 712788"/>
                  <a:gd name="connsiteX28" fmla="*/ 412395 w 715963"/>
                  <a:gd name="connsiteY28" fmla="*/ 36498 h 712788"/>
                  <a:gd name="connsiteX29" fmla="*/ 411679 w 715963"/>
                  <a:gd name="connsiteY29" fmla="*/ 36498 h 712788"/>
                  <a:gd name="connsiteX30" fmla="*/ 410963 w 715963"/>
                  <a:gd name="connsiteY30" fmla="*/ 36498 h 712788"/>
                  <a:gd name="connsiteX31" fmla="*/ 385188 w 715963"/>
                  <a:gd name="connsiteY31" fmla="*/ 32920 h 712788"/>
                  <a:gd name="connsiteX32" fmla="*/ 357266 w 715963"/>
                  <a:gd name="connsiteY32" fmla="*/ 31489 h 712788"/>
                  <a:gd name="connsiteX33" fmla="*/ 31502 w 715963"/>
                  <a:gd name="connsiteY33" fmla="*/ 354247 h 712788"/>
                  <a:gd name="connsiteX34" fmla="*/ 0 w 715963"/>
                  <a:gd name="connsiteY34" fmla="*/ 349953 h 712788"/>
                  <a:gd name="connsiteX35" fmla="*/ 357266 w 715963"/>
                  <a:gd name="connsiteY35" fmla="*/ 0 h 71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15963" h="712788">
                    <a:moveTo>
                      <a:pt x="566864" y="178516"/>
                    </a:moveTo>
                    <a:cubicBezTo>
                      <a:pt x="570443" y="178516"/>
                      <a:pt x="574022" y="180664"/>
                      <a:pt x="576886" y="183528"/>
                    </a:cubicBezTo>
                    <a:cubicBezTo>
                      <a:pt x="582612" y="189971"/>
                      <a:pt x="581896" y="199994"/>
                      <a:pt x="574738" y="205721"/>
                    </a:cubicBezTo>
                    <a:cubicBezTo>
                      <a:pt x="574738" y="205721"/>
                      <a:pt x="574738" y="205721"/>
                      <a:pt x="397215" y="357499"/>
                    </a:cubicBezTo>
                    <a:cubicBezTo>
                      <a:pt x="397215" y="357499"/>
                      <a:pt x="397215" y="358215"/>
                      <a:pt x="397215" y="358931"/>
                    </a:cubicBezTo>
                    <a:cubicBezTo>
                      <a:pt x="397215" y="379693"/>
                      <a:pt x="379320" y="396875"/>
                      <a:pt x="357845" y="396875"/>
                    </a:cubicBezTo>
                    <a:cubicBezTo>
                      <a:pt x="337087" y="396875"/>
                      <a:pt x="319907" y="380409"/>
                      <a:pt x="319191" y="360363"/>
                    </a:cubicBezTo>
                    <a:cubicBezTo>
                      <a:pt x="319191" y="360363"/>
                      <a:pt x="319191" y="360363"/>
                      <a:pt x="197502" y="275883"/>
                    </a:cubicBezTo>
                    <a:cubicBezTo>
                      <a:pt x="190344" y="272303"/>
                      <a:pt x="188912" y="262996"/>
                      <a:pt x="193207" y="255837"/>
                    </a:cubicBezTo>
                    <a:cubicBezTo>
                      <a:pt x="197502" y="248677"/>
                      <a:pt x="206092" y="246530"/>
                      <a:pt x="213250" y="250109"/>
                    </a:cubicBezTo>
                    <a:cubicBezTo>
                      <a:pt x="213250" y="250109"/>
                      <a:pt x="213250" y="250109"/>
                      <a:pt x="343529" y="322418"/>
                    </a:cubicBezTo>
                    <a:cubicBezTo>
                      <a:pt x="348540" y="320986"/>
                      <a:pt x="352835" y="320270"/>
                      <a:pt x="357845" y="320270"/>
                    </a:cubicBezTo>
                    <a:cubicBezTo>
                      <a:pt x="361424" y="320270"/>
                      <a:pt x="365004" y="320270"/>
                      <a:pt x="367867" y="321702"/>
                    </a:cubicBezTo>
                    <a:cubicBezTo>
                      <a:pt x="367867" y="321702"/>
                      <a:pt x="354982" y="333157"/>
                      <a:pt x="556127" y="181380"/>
                    </a:cubicBezTo>
                    <a:cubicBezTo>
                      <a:pt x="558990" y="179232"/>
                      <a:pt x="563285" y="177800"/>
                      <a:pt x="566864" y="178516"/>
                    </a:cubicBezTo>
                    <a:close/>
                    <a:moveTo>
                      <a:pt x="357266" y="0"/>
                    </a:moveTo>
                    <a:cubicBezTo>
                      <a:pt x="367289" y="0"/>
                      <a:pt x="377313" y="716"/>
                      <a:pt x="387336" y="1431"/>
                    </a:cubicBezTo>
                    <a:cubicBezTo>
                      <a:pt x="397360" y="2147"/>
                      <a:pt x="407383" y="3578"/>
                      <a:pt x="417407" y="5725"/>
                    </a:cubicBezTo>
                    <a:cubicBezTo>
                      <a:pt x="555588" y="28626"/>
                      <a:pt x="667278" y="131680"/>
                      <a:pt x="704508" y="264791"/>
                    </a:cubicBezTo>
                    <a:cubicBezTo>
                      <a:pt x="706656" y="274094"/>
                      <a:pt x="708804" y="283398"/>
                      <a:pt x="710951" y="293417"/>
                    </a:cubicBezTo>
                    <a:cubicBezTo>
                      <a:pt x="714531" y="314886"/>
                      <a:pt x="715963" y="336356"/>
                      <a:pt x="715963" y="358541"/>
                    </a:cubicBezTo>
                    <a:cubicBezTo>
                      <a:pt x="715963" y="538885"/>
                      <a:pt x="582794" y="687740"/>
                      <a:pt x="408815" y="712788"/>
                    </a:cubicBezTo>
                    <a:cubicBezTo>
                      <a:pt x="408099" y="706347"/>
                      <a:pt x="408099" y="699906"/>
                      <a:pt x="407383" y="693466"/>
                    </a:cubicBezTo>
                    <a:cubicBezTo>
                      <a:pt x="407383" y="693466"/>
                      <a:pt x="407383" y="693466"/>
                      <a:pt x="405951" y="681300"/>
                    </a:cubicBezTo>
                    <a:cubicBezTo>
                      <a:pt x="475400" y="671280"/>
                      <a:pt x="539120" y="639076"/>
                      <a:pt x="589238" y="588981"/>
                    </a:cubicBezTo>
                    <a:cubicBezTo>
                      <a:pt x="650811" y="527435"/>
                      <a:pt x="684461" y="445135"/>
                      <a:pt x="684461" y="358541"/>
                    </a:cubicBezTo>
                    <a:cubicBezTo>
                      <a:pt x="684461" y="339934"/>
                      <a:pt x="683029" y="320612"/>
                      <a:pt x="680165" y="299142"/>
                    </a:cubicBezTo>
                    <a:cubicBezTo>
                      <a:pt x="678017" y="289839"/>
                      <a:pt x="675869" y="281251"/>
                      <a:pt x="673721" y="273379"/>
                    </a:cubicBezTo>
                    <a:cubicBezTo>
                      <a:pt x="640071" y="151002"/>
                      <a:pt x="537688" y="57968"/>
                      <a:pt x="412395" y="36498"/>
                    </a:cubicBezTo>
                    <a:cubicBezTo>
                      <a:pt x="412395" y="36498"/>
                      <a:pt x="412395" y="36498"/>
                      <a:pt x="411679" y="36498"/>
                    </a:cubicBezTo>
                    <a:cubicBezTo>
                      <a:pt x="411679" y="36498"/>
                      <a:pt x="411679" y="36498"/>
                      <a:pt x="410963" y="36498"/>
                    </a:cubicBezTo>
                    <a:cubicBezTo>
                      <a:pt x="402371" y="35067"/>
                      <a:pt x="393780" y="33635"/>
                      <a:pt x="385188" y="32920"/>
                    </a:cubicBezTo>
                    <a:cubicBezTo>
                      <a:pt x="375881" y="32204"/>
                      <a:pt x="366573" y="31489"/>
                      <a:pt x="357266" y="31489"/>
                    </a:cubicBezTo>
                    <a:cubicBezTo>
                      <a:pt x="178991" y="31489"/>
                      <a:pt x="34366" y="176050"/>
                      <a:pt x="31502" y="354247"/>
                    </a:cubicBezTo>
                    <a:cubicBezTo>
                      <a:pt x="21479" y="352100"/>
                      <a:pt x="10739" y="351385"/>
                      <a:pt x="0" y="349953"/>
                    </a:cubicBezTo>
                    <a:cubicBezTo>
                      <a:pt x="4296" y="156727"/>
                      <a:pt x="162523" y="0"/>
                      <a:pt x="357266"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p>
            </p:txBody>
          </p:sp>
          <p:sp>
            <p:nvSpPr>
              <p:cNvPr id="194" name="Freeform 124">
                <a:extLst>
                  <a:ext uri="{FF2B5EF4-FFF2-40B4-BE49-F238E27FC236}">
                    <a16:creationId xmlns:a16="http://schemas.microsoft.com/office/drawing/2014/main" id="{B595FCD3-8AAE-25C2-56F9-3894AF14F86E}"/>
                  </a:ext>
                </a:extLst>
              </p:cNvPr>
              <p:cNvSpPr>
                <a:spLocks noEditPoints="1"/>
              </p:cNvSpPr>
              <p:nvPr/>
            </p:nvSpPr>
            <p:spPr bwMode="auto">
              <a:xfrm>
                <a:off x="5494338" y="3214688"/>
                <a:ext cx="817563" cy="808038"/>
              </a:xfrm>
              <a:custGeom>
                <a:avLst/>
                <a:gdLst>
                  <a:gd name="T0" fmla="*/ 1139 w 1143"/>
                  <a:gd name="T1" fmla="*/ 532 h 1129"/>
                  <a:gd name="T2" fmla="*/ 1137 w 1143"/>
                  <a:gd name="T3" fmla="*/ 505 h 1129"/>
                  <a:gd name="T4" fmla="*/ 1110 w 1143"/>
                  <a:gd name="T5" fmla="*/ 489 h 1129"/>
                  <a:gd name="T6" fmla="*/ 1056 w 1143"/>
                  <a:gd name="T7" fmla="*/ 456 h 1129"/>
                  <a:gd name="T8" fmla="*/ 1026 w 1143"/>
                  <a:gd name="T9" fmla="*/ 365 h 1129"/>
                  <a:gd name="T10" fmla="*/ 976 w 1143"/>
                  <a:gd name="T11" fmla="*/ 274 h 1129"/>
                  <a:gd name="T12" fmla="*/ 994 w 1143"/>
                  <a:gd name="T13" fmla="*/ 182 h 1129"/>
                  <a:gd name="T14" fmla="*/ 802 w 1143"/>
                  <a:gd name="T15" fmla="*/ 39 h 1129"/>
                  <a:gd name="T16" fmla="*/ 718 w 1143"/>
                  <a:gd name="T17" fmla="*/ 87 h 1129"/>
                  <a:gd name="T18" fmla="*/ 658 w 1143"/>
                  <a:gd name="T19" fmla="*/ 71 h 1129"/>
                  <a:gd name="T20" fmla="*/ 613 w 1143"/>
                  <a:gd name="T21" fmla="*/ 66 h 1129"/>
                  <a:gd name="T22" fmla="*/ 571 w 1143"/>
                  <a:gd name="T23" fmla="*/ 64 h 1129"/>
                  <a:gd name="T24" fmla="*/ 535 w 1143"/>
                  <a:gd name="T25" fmla="*/ 65 h 1129"/>
                  <a:gd name="T26" fmla="*/ 464 w 1143"/>
                  <a:gd name="T27" fmla="*/ 0 h 1129"/>
                  <a:gd name="T28" fmla="*/ 347 w 1143"/>
                  <a:gd name="T29" fmla="*/ 36 h 1129"/>
                  <a:gd name="T30" fmla="*/ 240 w 1143"/>
                  <a:gd name="T31" fmla="*/ 97 h 1129"/>
                  <a:gd name="T32" fmla="*/ 240 w 1143"/>
                  <a:gd name="T33" fmla="*/ 195 h 1129"/>
                  <a:gd name="T34" fmla="*/ 128 w 1143"/>
                  <a:gd name="T35" fmla="*/ 344 h 1129"/>
                  <a:gd name="T36" fmla="*/ 39 w 1143"/>
                  <a:gd name="T37" fmla="*/ 373 h 1129"/>
                  <a:gd name="T38" fmla="*/ 5 w 1143"/>
                  <a:gd name="T39" fmla="*/ 616 h 1129"/>
                  <a:gd name="T40" fmla="*/ 87 w 1143"/>
                  <a:gd name="T41" fmla="*/ 664 h 1129"/>
                  <a:gd name="T42" fmla="*/ 120 w 1143"/>
                  <a:gd name="T43" fmla="*/ 761 h 1129"/>
                  <a:gd name="T44" fmla="*/ 165 w 1143"/>
                  <a:gd name="T45" fmla="*/ 847 h 1129"/>
                  <a:gd name="T46" fmla="*/ 142 w 1143"/>
                  <a:gd name="T47" fmla="*/ 939 h 1129"/>
                  <a:gd name="T48" fmla="*/ 331 w 1143"/>
                  <a:gd name="T49" fmla="*/ 1086 h 1129"/>
                  <a:gd name="T50" fmla="*/ 411 w 1143"/>
                  <a:gd name="T51" fmla="*/ 1037 h 1129"/>
                  <a:gd name="T52" fmla="*/ 576 w 1143"/>
                  <a:gd name="T53" fmla="*/ 1065 h 1129"/>
                  <a:gd name="T54" fmla="*/ 616 w 1143"/>
                  <a:gd name="T55" fmla="*/ 1063 h 1129"/>
                  <a:gd name="T56" fmla="*/ 687 w 1143"/>
                  <a:gd name="T57" fmla="*/ 1129 h 1129"/>
                  <a:gd name="T58" fmla="*/ 797 w 1143"/>
                  <a:gd name="T59" fmla="*/ 1094 h 1129"/>
                  <a:gd name="T60" fmla="*/ 899 w 1143"/>
                  <a:gd name="T61" fmla="*/ 1034 h 1129"/>
                  <a:gd name="T62" fmla="*/ 899 w 1143"/>
                  <a:gd name="T63" fmla="*/ 939 h 1129"/>
                  <a:gd name="T64" fmla="*/ 1023 w 1143"/>
                  <a:gd name="T65" fmla="*/ 771 h 1129"/>
                  <a:gd name="T66" fmla="*/ 1111 w 1143"/>
                  <a:gd name="T67" fmla="*/ 743 h 1129"/>
                  <a:gd name="T68" fmla="*/ 1139 w 1143"/>
                  <a:gd name="T69" fmla="*/ 532 h 1129"/>
                  <a:gd name="T70" fmla="*/ 672 w 1143"/>
                  <a:gd name="T71" fmla="*/ 795 h 1129"/>
                  <a:gd name="T72" fmla="*/ 573 w 1143"/>
                  <a:gd name="T73" fmla="*/ 817 h 1129"/>
                  <a:gd name="T74" fmla="*/ 346 w 1143"/>
                  <a:gd name="T75" fmla="*/ 664 h 1129"/>
                  <a:gd name="T76" fmla="*/ 474 w 1143"/>
                  <a:gd name="T77" fmla="*/ 335 h 1129"/>
                  <a:gd name="T78" fmla="*/ 570 w 1143"/>
                  <a:gd name="T79" fmla="*/ 314 h 1129"/>
                  <a:gd name="T80" fmla="*/ 799 w 1143"/>
                  <a:gd name="T81" fmla="*/ 465 h 1129"/>
                  <a:gd name="T82" fmla="*/ 672 w 1143"/>
                  <a:gd name="T83" fmla="*/ 795 h 1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43" h="1129">
                    <a:moveTo>
                      <a:pt x="1139" y="532"/>
                    </a:moveTo>
                    <a:cubicBezTo>
                      <a:pt x="1139" y="523"/>
                      <a:pt x="1138" y="514"/>
                      <a:pt x="1137" y="505"/>
                    </a:cubicBezTo>
                    <a:cubicBezTo>
                      <a:pt x="1127" y="499"/>
                      <a:pt x="1118" y="494"/>
                      <a:pt x="1110" y="489"/>
                    </a:cubicBezTo>
                    <a:cubicBezTo>
                      <a:pt x="1056" y="456"/>
                      <a:pt x="1056" y="456"/>
                      <a:pt x="1056" y="456"/>
                    </a:cubicBezTo>
                    <a:cubicBezTo>
                      <a:pt x="1049" y="426"/>
                      <a:pt x="1039" y="396"/>
                      <a:pt x="1026" y="365"/>
                    </a:cubicBezTo>
                    <a:cubicBezTo>
                      <a:pt x="1014" y="334"/>
                      <a:pt x="994" y="304"/>
                      <a:pt x="976" y="274"/>
                    </a:cubicBezTo>
                    <a:cubicBezTo>
                      <a:pt x="994" y="182"/>
                      <a:pt x="994" y="182"/>
                      <a:pt x="994" y="182"/>
                    </a:cubicBezTo>
                    <a:cubicBezTo>
                      <a:pt x="942" y="121"/>
                      <a:pt x="874" y="71"/>
                      <a:pt x="802" y="39"/>
                    </a:cubicBezTo>
                    <a:cubicBezTo>
                      <a:pt x="718" y="87"/>
                      <a:pt x="718" y="87"/>
                      <a:pt x="718" y="87"/>
                    </a:cubicBezTo>
                    <a:cubicBezTo>
                      <a:pt x="698" y="80"/>
                      <a:pt x="678" y="75"/>
                      <a:pt x="658" y="71"/>
                    </a:cubicBezTo>
                    <a:cubicBezTo>
                      <a:pt x="643" y="69"/>
                      <a:pt x="628" y="67"/>
                      <a:pt x="613" y="66"/>
                    </a:cubicBezTo>
                    <a:cubicBezTo>
                      <a:pt x="599" y="64"/>
                      <a:pt x="585" y="64"/>
                      <a:pt x="571" y="64"/>
                    </a:cubicBezTo>
                    <a:cubicBezTo>
                      <a:pt x="559" y="64"/>
                      <a:pt x="547" y="64"/>
                      <a:pt x="535" y="65"/>
                    </a:cubicBezTo>
                    <a:cubicBezTo>
                      <a:pt x="464" y="0"/>
                      <a:pt x="464" y="0"/>
                      <a:pt x="464" y="0"/>
                    </a:cubicBezTo>
                    <a:cubicBezTo>
                      <a:pt x="426" y="9"/>
                      <a:pt x="386" y="19"/>
                      <a:pt x="347" y="36"/>
                    </a:cubicBezTo>
                    <a:cubicBezTo>
                      <a:pt x="309" y="54"/>
                      <a:pt x="272" y="74"/>
                      <a:pt x="240" y="97"/>
                    </a:cubicBezTo>
                    <a:cubicBezTo>
                      <a:pt x="240" y="195"/>
                      <a:pt x="240" y="195"/>
                      <a:pt x="240" y="195"/>
                    </a:cubicBezTo>
                    <a:cubicBezTo>
                      <a:pt x="194" y="238"/>
                      <a:pt x="155" y="287"/>
                      <a:pt x="128" y="344"/>
                    </a:cubicBezTo>
                    <a:cubicBezTo>
                      <a:pt x="39" y="373"/>
                      <a:pt x="39" y="373"/>
                      <a:pt x="39" y="373"/>
                    </a:cubicBezTo>
                    <a:cubicBezTo>
                      <a:pt x="10" y="449"/>
                      <a:pt x="0" y="531"/>
                      <a:pt x="5" y="616"/>
                    </a:cubicBezTo>
                    <a:cubicBezTo>
                      <a:pt x="87" y="664"/>
                      <a:pt x="87" y="664"/>
                      <a:pt x="87" y="664"/>
                    </a:cubicBezTo>
                    <a:cubicBezTo>
                      <a:pt x="94" y="695"/>
                      <a:pt x="104" y="730"/>
                      <a:pt x="120" y="761"/>
                    </a:cubicBezTo>
                    <a:cubicBezTo>
                      <a:pt x="133" y="792"/>
                      <a:pt x="146" y="821"/>
                      <a:pt x="165" y="847"/>
                    </a:cubicBezTo>
                    <a:cubicBezTo>
                      <a:pt x="142" y="939"/>
                      <a:pt x="142" y="939"/>
                      <a:pt x="142" y="939"/>
                    </a:cubicBezTo>
                    <a:cubicBezTo>
                      <a:pt x="196" y="1003"/>
                      <a:pt x="259" y="1051"/>
                      <a:pt x="331" y="1086"/>
                    </a:cubicBezTo>
                    <a:cubicBezTo>
                      <a:pt x="411" y="1037"/>
                      <a:pt x="411" y="1037"/>
                      <a:pt x="411" y="1037"/>
                    </a:cubicBezTo>
                    <a:cubicBezTo>
                      <a:pt x="464" y="1055"/>
                      <a:pt x="519" y="1065"/>
                      <a:pt x="576" y="1065"/>
                    </a:cubicBezTo>
                    <a:cubicBezTo>
                      <a:pt x="589" y="1065"/>
                      <a:pt x="603" y="1064"/>
                      <a:pt x="616" y="1063"/>
                    </a:cubicBezTo>
                    <a:cubicBezTo>
                      <a:pt x="687" y="1129"/>
                      <a:pt x="687" y="1129"/>
                      <a:pt x="687" y="1129"/>
                    </a:cubicBezTo>
                    <a:cubicBezTo>
                      <a:pt x="722" y="1121"/>
                      <a:pt x="760" y="1109"/>
                      <a:pt x="797" y="1094"/>
                    </a:cubicBezTo>
                    <a:cubicBezTo>
                      <a:pt x="833" y="1076"/>
                      <a:pt x="867" y="1056"/>
                      <a:pt x="899" y="1034"/>
                    </a:cubicBezTo>
                    <a:cubicBezTo>
                      <a:pt x="899" y="939"/>
                      <a:pt x="899" y="939"/>
                      <a:pt x="899" y="939"/>
                    </a:cubicBezTo>
                    <a:cubicBezTo>
                      <a:pt x="952" y="891"/>
                      <a:pt x="993" y="834"/>
                      <a:pt x="1023" y="771"/>
                    </a:cubicBezTo>
                    <a:cubicBezTo>
                      <a:pt x="1111" y="743"/>
                      <a:pt x="1111" y="743"/>
                      <a:pt x="1111" y="743"/>
                    </a:cubicBezTo>
                    <a:cubicBezTo>
                      <a:pt x="1134" y="676"/>
                      <a:pt x="1143" y="604"/>
                      <a:pt x="1139" y="532"/>
                    </a:cubicBezTo>
                    <a:close/>
                    <a:moveTo>
                      <a:pt x="672" y="795"/>
                    </a:moveTo>
                    <a:cubicBezTo>
                      <a:pt x="640" y="810"/>
                      <a:pt x="606" y="817"/>
                      <a:pt x="573" y="817"/>
                    </a:cubicBezTo>
                    <a:cubicBezTo>
                      <a:pt x="477" y="817"/>
                      <a:pt x="386" y="759"/>
                      <a:pt x="346" y="664"/>
                    </a:cubicBezTo>
                    <a:cubicBezTo>
                      <a:pt x="291" y="536"/>
                      <a:pt x="349" y="389"/>
                      <a:pt x="474" y="335"/>
                    </a:cubicBezTo>
                    <a:cubicBezTo>
                      <a:pt x="505" y="321"/>
                      <a:pt x="538" y="315"/>
                      <a:pt x="570" y="314"/>
                    </a:cubicBezTo>
                    <a:cubicBezTo>
                      <a:pt x="667" y="314"/>
                      <a:pt x="760" y="370"/>
                      <a:pt x="799" y="465"/>
                    </a:cubicBezTo>
                    <a:cubicBezTo>
                      <a:pt x="854" y="592"/>
                      <a:pt x="797" y="742"/>
                      <a:pt x="672" y="795"/>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
        <p:nvSpPr>
          <p:cNvPr id="195" name="Oval 194">
            <a:extLst>
              <a:ext uri="{FF2B5EF4-FFF2-40B4-BE49-F238E27FC236}">
                <a16:creationId xmlns:a16="http://schemas.microsoft.com/office/drawing/2014/main" id="{538C7B22-CBE0-1357-F909-47BBB3948AB4}"/>
              </a:ext>
            </a:extLst>
          </p:cNvPr>
          <p:cNvSpPr/>
          <p:nvPr/>
        </p:nvSpPr>
        <p:spPr>
          <a:xfrm>
            <a:off x="2086649" y="4838023"/>
            <a:ext cx="475435" cy="475435"/>
          </a:xfrm>
          <a:prstGeom prst="ellipse">
            <a:avLst/>
          </a:prstGeom>
          <a:gradFill flip="none" rotWithShape="1">
            <a:gsLst>
              <a:gs pos="100000">
                <a:schemeClr val="tx2">
                  <a:lumMod val="20000"/>
                  <a:lumOff val="80000"/>
                </a:schemeClr>
              </a:gs>
              <a:gs pos="54000">
                <a:schemeClr val="bg1"/>
              </a:gs>
            </a:gsLst>
            <a:path path="shape">
              <a:fillToRect l="50000" t="50000" r="50000" b="50000"/>
            </a:path>
            <a:tileRect/>
          </a:gradFill>
          <a:ln w="15875" cap="rnd" cmpd="sng" algn="ctr">
            <a:gradFill flip="none" rotWithShape="1">
              <a:gsLst>
                <a:gs pos="67000">
                  <a:schemeClr val="bg1">
                    <a:alpha val="0"/>
                  </a:schemeClr>
                </a:gs>
                <a:gs pos="100000">
                  <a:schemeClr val="tx2"/>
                </a:gs>
              </a:gsLst>
              <a:lin ang="16200000" scaled="1"/>
              <a:tileRect/>
            </a:gra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196" name="Oval 195">
            <a:extLst>
              <a:ext uri="{FF2B5EF4-FFF2-40B4-BE49-F238E27FC236}">
                <a16:creationId xmlns:a16="http://schemas.microsoft.com/office/drawing/2014/main" id="{63134B7A-BC96-8DF5-0F02-D6E7EDCE3D02}"/>
              </a:ext>
            </a:extLst>
          </p:cNvPr>
          <p:cNvSpPr/>
          <p:nvPr/>
        </p:nvSpPr>
        <p:spPr>
          <a:xfrm>
            <a:off x="2928599" y="4838023"/>
            <a:ext cx="475435" cy="475435"/>
          </a:xfrm>
          <a:prstGeom prst="ellipse">
            <a:avLst/>
          </a:prstGeom>
          <a:gradFill flip="none" rotWithShape="1">
            <a:gsLst>
              <a:gs pos="100000">
                <a:schemeClr val="tx2">
                  <a:lumMod val="20000"/>
                  <a:lumOff val="80000"/>
                </a:schemeClr>
              </a:gs>
              <a:gs pos="54000">
                <a:schemeClr val="bg1"/>
              </a:gs>
            </a:gsLst>
            <a:path path="shape">
              <a:fillToRect l="50000" t="50000" r="50000" b="50000"/>
            </a:path>
            <a:tileRect/>
          </a:gradFill>
          <a:ln w="15875" cap="rnd" cmpd="sng" algn="ctr">
            <a:gradFill flip="none" rotWithShape="1">
              <a:gsLst>
                <a:gs pos="67000">
                  <a:schemeClr val="bg1">
                    <a:alpha val="0"/>
                  </a:schemeClr>
                </a:gs>
                <a:gs pos="100000">
                  <a:schemeClr val="tx2"/>
                </a:gs>
              </a:gsLst>
              <a:lin ang="16200000" scaled="1"/>
              <a:tileRect/>
            </a:gra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197" name="Oval 196">
            <a:extLst>
              <a:ext uri="{FF2B5EF4-FFF2-40B4-BE49-F238E27FC236}">
                <a16:creationId xmlns:a16="http://schemas.microsoft.com/office/drawing/2014/main" id="{DC9CD743-A506-B580-38A6-1C352B53CFA4}"/>
              </a:ext>
            </a:extLst>
          </p:cNvPr>
          <p:cNvSpPr/>
          <p:nvPr/>
        </p:nvSpPr>
        <p:spPr>
          <a:xfrm>
            <a:off x="3770549" y="4838023"/>
            <a:ext cx="475435" cy="475435"/>
          </a:xfrm>
          <a:prstGeom prst="ellipse">
            <a:avLst/>
          </a:prstGeom>
          <a:gradFill flip="none" rotWithShape="1">
            <a:gsLst>
              <a:gs pos="100000">
                <a:schemeClr val="tx2">
                  <a:lumMod val="20000"/>
                  <a:lumOff val="80000"/>
                </a:schemeClr>
              </a:gs>
              <a:gs pos="54000">
                <a:schemeClr val="bg1"/>
              </a:gs>
            </a:gsLst>
            <a:path path="shape">
              <a:fillToRect l="50000" t="50000" r="50000" b="50000"/>
            </a:path>
            <a:tileRect/>
          </a:gradFill>
          <a:ln w="15875" cap="rnd" cmpd="sng" algn="ctr">
            <a:gradFill flip="none" rotWithShape="1">
              <a:gsLst>
                <a:gs pos="67000">
                  <a:schemeClr val="bg1">
                    <a:alpha val="0"/>
                  </a:schemeClr>
                </a:gs>
                <a:gs pos="100000">
                  <a:schemeClr val="tx2"/>
                </a:gs>
              </a:gsLst>
              <a:lin ang="16200000" scaled="1"/>
              <a:tileRect/>
            </a:gra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198" name="Oval 197">
            <a:extLst>
              <a:ext uri="{FF2B5EF4-FFF2-40B4-BE49-F238E27FC236}">
                <a16:creationId xmlns:a16="http://schemas.microsoft.com/office/drawing/2014/main" id="{070A3E12-5644-20E6-179D-E5FCA3E7B6C8}"/>
              </a:ext>
            </a:extLst>
          </p:cNvPr>
          <p:cNvSpPr/>
          <p:nvPr/>
        </p:nvSpPr>
        <p:spPr>
          <a:xfrm>
            <a:off x="4612499" y="4838023"/>
            <a:ext cx="475435" cy="475435"/>
          </a:xfrm>
          <a:prstGeom prst="ellipse">
            <a:avLst/>
          </a:prstGeom>
          <a:gradFill flip="none" rotWithShape="1">
            <a:gsLst>
              <a:gs pos="100000">
                <a:schemeClr val="tx2">
                  <a:lumMod val="20000"/>
                  <a:lumOff val="80000"/>
                </a:schemeClr>
              </a:gs>
              <a:gs pos="54000">
                <a:schemeClr val="bg1"/>
              </a:gs>
            </a:gsLst>
            <a:path path="shape">
              <a:fillToRect l="50000" t="50000" r="50000" b="50000"/>
            </a:path>
            <a:tileRect/>
          </a:gradFill>
          <a:ln w="15875" cap="rnd" cmpd="sng" algn="ctr">
            <a:gradFill flip="none" rotWithShape="1">
              <a:gsLst>
                <a:gs pos="67000">
                  <a:schemeClr val="bg1">
                    <a:alpha val="0"/>
                  </a:schemeClr>
                </a:gs>
                <a:gs pos="100000">
                  <a:schemeClr val="tx2"/>
                </a:gs>
              </a:gsLst>
              <a:lin ang="16200000" scaled="1"/>
              <a:tileRect/>
            </a:gra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199" name="Oval 198">
            <a:extLst>
              <a:ext uri="{FF2B5EF4-FFF2-40B4-BE49-F238E27FC236}">
                <a16:creationId xmlns:a16="http://schemas.microsoft.com/office/drawing/2014/main" id="{837B24C0-C7DA-819D-DEF7-F4A43E27D435}"/>
              </a:ext>
            </a:extLst>
          </p:cNvPr>
          <p:cNvSpPr/>
          <p:nvPr/>
        </p:nvSpPr>
        <p:spPr>
          <a:xfrm>
            <a:off x="5454449" y="4838023"/>
            <a:ext cx="475435" cy="475435"/>
          </a:xfrm>
          <a:prstGeom prst="ellipse">
            <a:avLst/>
          </a:prstGeom>
          <a:gradFill flip="none" rotWithShape="1">
            <a:gsLst>
              <a:gs pos="100000">
                <a:schemeClr val="tx2">
                  <a:lumMod val="20000"/>
                  <a:lumOff val="80000"/>
                </a:schemeClr>
              </a:gs>
              <a:gs pos="54000">
                <a:schemeClr val="bg1"/>
              </a:gs>
            </a:gsLst>
            <a:path path="shape">
              <a:fillToRect l="50000" t="50000" r="50000" b="50000"/>
            </a:path>
            <a:tileRect/>
          </a:gradFill>
          <a:ln w="15875" cap="rnd" cmpd="sng" algn="ctr">
            <a:gradFill flip="none" rotWithShape="1">
              <a:gsLst>
                <a:gs pos="67000">
                  <a:schemeClr val="bg1">
                    <a:alpha val="0"/>
                  </a:schemeClr>
                </a:gs>
                <a:gs pos="100000">
                  <a:schemeClr val="tx2"/>
                </a:gs>
              </a:gsLst>
              <a:lin ang="16200000" scaled="1"/>
              <a:tileRect/>
            </a:gra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200" name="Oval 199">
            <a:extLst>
              <a:ext uri="{FF2B5EF4-FFF2-40B4-BE49-F238E27FC236}">
                <a16:creationId xmlns:a16="http://schemas.microsoft.com/office/drawing/2014/main" id="{B71E4B31-4538-B8F9-D7A3-7EB741C92BCE}"/>
              </a:ext>
            </a:extLst>
          </p:cNvPr>
          <p:cNvSpPr/>
          <p:nvPr/>
        </p:nvSpPr>
        <p:spPr>
          <a:xfrm>
            <a:off x="6423190" y="4838023"/>
            <a:ext cx="475435" cy="475435"/>
          </a:xfrm>
          <a:prstGeom prst="ellipse">
            <a:avLst/>
          </a:prstGeom>
          <a:gradFill flip="none" rotWithShape="1">
            <a:gsLst>
              <a:gs pos="100000">
                <a:schemeClr val="tx2">
                  <a:lumMod val="20000"/>
                  <a:lumOff val="80000"/>
                </a:schemeClr>
              </a:gs>
              <a:gs pos="54000">
                <a:schemeClr val="bg1"/>
              </a:gs>
            </a:gsLst>
            <a:path path="shape">
              <a:fillToRect l="50000" t="50000" r="50000" b="50000"/>
            </a:path>
            <a:tileRect/>
          </a:gradFill>
          <a:ln w="15875" cap="rnd" cmpd="sng" algn="ctr">
            <a:gradFill flip="none" rotWithShape="1">
              <a:gsLst>
                <a:gs pos="67000">
                  <a:schemeClr val="bg1">
                    <a:alpha val="0"/>
                  </a:schemeClr>
                </a:gs>
                <a:gs pos="100000">
                  <a:schemeClr val="tx2"/>
                </a:gs>
              </a:gsLst>
              <a:lin ang="16200000" scaled="1"/>
              <a:tileRect/>
            </a:gra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206" name="object 20">
            <a:extLst>
              <a:ext uri="{FF2B5EF4-FFF2-40B4-BE49-F238E27FC236}">
                <a16:creationId xmlns:a16="http://schemas.microsoft.com/office/drawing/2014/main" id="{9789CDEB-F1D0-24AB-D51E-F289EBD5C543}"/>
              </a:ext>
            </a:extLst>
          </p:cNvPr>
          <p:cNvSpPr txBox="1"/>
          <p:nvPr/>
        </p:nvSpPr>
        <p:spPr>
          <a:xfrm>
            <a:off x="3577736" y="5349464"/>
            <a:ext cx="861060" cy="197490"/>
          </a:xfrm>
          <a:prstGeom prst="rect">
            <a:avLst/>
          </a:prstGeom>
        </p:spPr>
        <p:txBody>
          <a:bodyPr vert="horz" wrap="square" lIns="0" tIns="12700" rIns="0" bIns="0" rtlCol="0">
            <a:spAutoFit/>
          </a:bodyPr>
          <a:lstStyle>
            <a:defPPr>
              <a:defRPr lang="en-US"/>
            </a:defPPr>
            <a:lvl1pPr algn="ctr">
              <a:lnSpc>
                <a:spcPct val="100000"/>
              </a:lnSpc>
              <a:spcBef>
                <a:spcPts val="100"/>
              </a:spcBef>
              <a:defRPr sz="1200" spc="-10">
                <a:solidFill>
                  <a:srgbClr val="565656"/>
                </a:solidFill>
                <a:latin typeface="Trebuchet MS"/>
                <a:ea typeface="Microsoft YaHei" panose="020B0503020204020204" pitchFamily="34" charset="-122"/>
                <a:cs typeface="Trebuchet MS"/>
              </a:defRPr>
            </a:lvl1pPr>
          </a:lstStyle>
          <a:p>
            <a:r>
              <a:rPr lang="zh-TW" altLang="en-US"/>
              <a:t>優惠活動</a:t>
            </a:r>
            <a:endParaRPr/>
          </a:p>
        </p:txBody>
      </p:sp>
      <p:sp>
        <p:nvSpPr>
          <p:cNvPr id="207" name="object 21">
            <a:extLst>
              <a:ext uri="{FF2B5EF4-FFF2-40B4-BE49-F238E27FC236}">
                <a16:creationId xmlns:a16="http://schemas.microsoft.com/office/drawing/2014/main" id="{1B74BE60-77E8-B4A0-3E87-2C5A533C466B}"/>
              </a:ext>
            </a:extLst>
          </p:cNvPr>
          <p:cNvSpPr txBox="1"/>
          <p:nvPr/>
        </p:nvSpPr>
        <p:spPr>
          <a:xfrm>
            <a:off x="2755026" y="5349463"/>
            <a:ext cx="822580" cy="197490"/>
          </a:xfrm>
          <a:prstGeom prst="rect">
            <a:avLst/>
          </a:prstGeom>
        </p:spPr>
        <p:txBody>
          <a:bodyPr vert="horz" wrap="square" lIns="0" tIns="12700" rIns="0" bIns="0" rtlCol="0">
            <a:spAutoFit/>
          </a:bodyPr>
          <a:lstStyle>
            <a:defPPr>
              <a:defRPr lang="en-US"/>
            </a:defPPr>
            <a:lvl1pPr algn="ctr">
              <a:lnSpc>
                <a:spcPct val="100000"/>
              </a:lnSpc>
              <a:spcBef>
                <a:spcPts val="100"/>
              </a:spcBef>
              <a:defRPr sz="1200" spc="-10">
                <a:solidFill>
                  <a:srgbClr val="565656"/>
                </a:solidFill>
                <a:latin typeface="Trebuchet MS"/>
                <a:ea typeface="Microsoft YaHei" panose="020B0503020204020204" pitchFamily="34" charset="-122"/>
                <a:cs typeface="Trebuchet MS"/>
              </a:defRPr>
            </a:lvl1pPr>
          </a:lstStyle>
          <a:p>
            <a:r>
              <a:rPr lang="zh-TW" altLang="en-US"/>
              <a:t>回饋</a:t>
            </a:r>
            <a:r>
              <a:rPr lang="en-US" altLang="zh-TW"/>
              <a:t>/</a:t>
            </a:r>
            <a:r>
              <a:rPr lang="zh-TW" altLang="en-US"/>
              <a:t>紅利</a:t>
            </a:r>
            <a:endParaRPr/>
          </a:p>
        </p:txBody>
      </p:sp>
      <p:sp>
        <p:nvSpPr>
          <p:cNvPr id="208" name="object 22">
            <a:extLst>
              <a:ext uri="{FF2B5EF4-FFF2-40B4-BE49-F238E27FC236}">
                <a16:creationId xmlns:a16="http://schemas.microsoft.com/office/drawing/2014/main" id="{D8F04CFD-4600-4A8F-B530-B647E25AB01A}"/>
              </a:ext>
            </a:extLst>
          </p:cNvPr>
          <p:cNvSpPr txBox="1"/>
          <p:nvPr/>
        </p:nvSpPr>
        <p:spPr>
          <a:xfrm>
            <a:off x="2041157" y="5349464"/>
            <a:ext cx="566420" cy="197490"/>
          </a:xfrm>
          <a:prstGeom prst="rect">
            <a:avLst/>
          </a:prstGeom>
        </p:spPr>
        <p:txBody>
          <a:bodyPr vert="horz" wrap="square" lIns="0" tIns="12700" rIns="0" bIns="0" rtlCol="0">
            <a:spAutoFit/>
          </a:bodyPr>
          <a:lstStyle>
            <a:defPPr>
              <a:defRPr lang="en-US"/>
            </a:defPPr>
            <a:lvl1pPr algn="ctr">
              <a:lnSpc>
                <a:spcPct val="100000"/>
              </a:lnSpc>
              <a:spcBef>
                <a:spcPts val="100"/>
              </a:spcBef>
              <a:defRPr sz="1200" spc="-10">
                <a:solidFill>
                  <a:srgbClr val="565656"/>
                </a:solidFill>
                <a:latin typeface="Trebuchet MS"/>
                <a:ea typeface="Microsoft YaHei" panose="020B0503020204020204" pitchFamily="34" charset="-122"/>
                <a:cs typeface="Trebuchet MS"/>
              </a:defRPr>
            </a:lvl1pPr>
          </a:lstStyle>
          <a:p>
            <a:r>
              <a:rPr lang="zh-TW" altLang="en-US"/>
              <a:t>商品</a:t>
            </a:r>
            <a:endParaRPr/>
          </a:p>
        </p:txBody>
      </p:sp>
      <p:sp>
        <p:nvSpPr>
          <p:cNvPr id="209" name="object 23">
            <a:extLst>
              <a:ext uri="{FF2B5EF4-FFF2-40B4-BE49-F238E27FC236}">
                <a16:creationId xmlns:a16="http://schemas.microsoft.com/office/drawing/2014/main" id="{B3817F39-E184-61C5-7345-DFF1A00528A5}"/>
              </a:ext>
            </a:extLst>
          </p:cNvPr>
          <p:cNvSpPr txBox="1"/>
          <p:nvPr/>
        </p:nvSpPr>
        <p:spPr>
          <a:xfrm>
            <a:off x="4590501" y="5347687"/>
            <a:ext cx="519430" cy="197490"/>
          </a:xfrm>
          <a:prstGeom prst="rect">
            <a:avLst/>
          </a:prstGeom>
        </p:spPr>
        <p:txBody>
          <a:bodyPr vert="horz" wrap="square" lIns="0" tIns="12700" rIns="0" bIns="0" rtlCol="0">
            <a:spAutoFit/>
          </a:bodyPr>
          <a:lstStyle/>
          <a:p>
            <a:pPr algn="ctr">
              <a:lnSpc>
                <a:spcPct val="100000"/>
              </a:lnSpc>
              <a:spcBef>
                <a:spcPts val="100"/>
              </a:spcBef>
            </a:pPr>
            <a:r>
              <a:rPr lang="zh-TW" altLang="en-US" sz="1200" spc="-10">
                <a:solidFill>
                  <a:srgbClr val="565656"/>
                </a:solidFill>
                <a:latin typeface="Trebuchet MS"/>
                <a:ea typeface="Microsoft YaHei" panose="020B0503020204020204" pitchFamily="34" charset="-122"/>
                <a:cs typeface="Trebuchet MS"/>
              </a:rPr>
              <a:t>服務</a:t>
            </a:r>
            <a:endParaRPr sz="1200">
              <a:latin typeface="Trebuchet MS"/>
              <a:ea typeface="Microsoft YaHei" panose="020B0503020204020204" pitchFamily="34" charset="-122"/>
              <a:cs typeface="Trebuchet MS"/>
            </a:endParaRPr>
          </a:p>
        </p:txBody>
      </p:sp>
      <p:sp>
        <p:nvSpPr>
          <p:cNvPr id="210" name="object 24">
            <a:extLst>
              <a:ext uri="{FF2B5EF4-FFF2-40B4-BE49-F238E27FC236}">
                <a16:creationId xmlns:a16="http://schemas.microsoft.com/office/drawing/2014/main" id="{CBBC598C-8590-297A-8780-256FEF1E309C}"/>
              </a:ext>
            </a:extLst>
          </p:cNvPr>
          <p:cNvSpPr txBox="1"/>
          <p:nvPr/>
        </p:nvSpPr>
        <p:spPr>
          <a:xfrm>
            <a:off x="5190263" y="5349463"/>
            <a:ext cx="1003808" cy="197490"/>
          </a:xfrm>
          <a:prstGeom prst="rect">
            <a:avLst/>
          </a:prstGeom>
        </p:spPr>
        <p:txBody>
          <a:bodyPr vert="horz" wrap="square" lIns="0" tIns="12700" rIns="0" bIns="0" rtlCol="0">
            <a:spAutoFit/>
          </a:bodyPr>
          <a:lstStyle/>
          <a:p>
            <a:pPr marR="5080" algn="ctr">
              <a:lnSpc>
                <a:spcPct val="100000"/>
              </a:lnSpc>
              <a:spcBef>
                <a:spcPts val="100"/>
              </a:spcBef>
            </a:pPr>
            <a:r>
              <a:rPr lang="zh-TW" altLang="en-US" sz="1200" spc="-10">
                <a:solidFill>
                  <a:srgbClr val="565656"/>
                </a:solidFill>
                <a:latin typeface="Trebuchet MS"/>
                <a:ea typeface="Microsoft YaHei" panose="020B0503020204020204" pitchFamily="34" charset="-122"/>
                <a:cs typeface="Trebuchet MS"/>
              </a:rPr>
              <a:t>定價</a:t>
            </a:r>
            <a:endParaRPr sz="1200">
              <a:latin typeface="Trebuchet MS"/>
              <a:ea typeface="Microsoft YaHei" panose="020B0503020204020204" pitchFamily="34" charset="-122"/>
              <a:cs typeface="Trebuchet MS"/>
            </a:endParaRPr>
          </a:p>
        </p:txBody>
      </p:sp>
      <p:sp>
        <p:nvSpPr>
          <p:cNvPr id="211" name="object 25">
            <a:extLst>
              <a:ext uri="{FF2B5EF4-FFF2-40B4-BE49-F238E27FC236}">
                <a16:creationId xmlns:a16="http://schemas.microsoft.com/office/drawing/2014/main" id="{084DFA30-BC73-89D8-5C7E-367F8DC6B3D3}"/>
              </a:ext>
            </a:extLst>
          </p:cNvPr>
          <p:cNvSpPr txBox="1"/>
          <p:nvPr/>
        </p:nvSpPr>
        <p:spPr>
          <a:xfrm>
            <a:off x="6048956" y="5349462"/>
            <a:ext cx="1223901" cy="197490"/>
          </a:xfrm>
          <a:prstGeom prst="rect">
            <a:avLst/>
          </a:prstGeom>
        </p:spPr>
        <p:txBody>
          <a:bodyPr vert="horz" wrap="square" lIns="0" tIns="12700" rIns="0" bIns="0" rtlCol="0">
            <a:spAutoFit/>
          </a:bodyPr>
          <a:lstStyle/>
          <a:p>
            <a:pPr marR="5080" algn="ctr">
              <a:lnSpc>
                <a:spcPct val="100000"/>
              </a:lnSpc>
              <a:spcBef>
                <a:spcPts val="100"/>
              </a:spcBef>
            </a:pPr>
            <a:r>
              <a:rPr lang="zh-TW" altLang="en-US" sz="1200">
                <a:solidFill>
                  <a:srgbClr val="565656"/>
                </a:solidFill>
                <a:latin typeface="Trebuchet MS"/>
                <a:ea typeface="Microsoft YaHei" panose="020B0503020204020204" pitchFamily="34" charset="-122"/>
                <a:cs typeface="Trebuchet MS"/>
              </a:rPr>
              <a:t>忠誠度</a:t>
            </a:r>
            <a:r>
              <a:rPr lang="en-US" altLang="zh-TW" sz="1200">
                <a:solidFill>
                  <a:srgbClr val="565656"/>
                </a:solidFill>
                <a:latin typeface="Trebuchet MS"/>
                <a:ea typeface="Microsoft YaHei" panose="020B0503020204020204" pitchFamily="34" charset="-122"/>
                <a:cs typeface="Trebuchet MS"/>
              </a:rPr>
              <a:t>/</a:t>
            </a:r>
            <a:r>
              <a:rPr lang="zh-TW" altLang="en-US" sz="1200">
                <a:solidFill>
                  <a:srgbClr val="565656"/>
                </a:solidFill>
                <a:latin typeface="Trebuchet MS"/>
                <a:ea typeface="Microsoft YaHei" panose="020B0503020204020204" pitchFamily="34" charset="-122"/>
                <a:cs typeface="Trebuchet MS"/>
              </a:rPr>
              <a:t>參與度</a:t>
            </a:r>
            <a:endParaRPr sz="1200">
              <a:latin typeface="Trebuchet MS"/>
              <a:ea typeface="Microsoft YaHei" panose="020B0503020204020204" pitchFamily="34" charset="-122"/>
              <a:cs typeface="Trebuchet MS"/>
            </a:endParaRPr>
          </a:p>
        </p:txBody>
      </p:sp>
      <p:grpSp>
        <p:nvGrpSpPr>
          <p:cNvPr id="151" name="bcgIcons_Brand loyalty ">
            <a:extLst>
              <a:ext uri="{FF2B5EF4-FFF2-40B4-BE49-F238E27FC236}">
                <a16:creationId xmlns:a16="http://schemas.microsoft.com/office/drawing/2014/main" id="{5C260E01-9F81-1078-A88A-CFB482E9B9D1}"/>
              </a:ext>
            </a:extLst>
          </p:cNvPr>
          <p:cNvGrpSpPr>
            <a:grpSpLocks noChangeAspect="1"/>
          </p:cNvGrpSpPr>
          <p:nvPr/>
        </p:nvGrpSpPr>
        <p:grpSpPr>
          <a:xfrm>
            <a:off x="2947839" y="4847803"/>
            <a:ext cx="436954" cy="436954"/>
            <a:chOff x="5273675" y="2606675"/>
            <a:chExt cx="1644650" cy="1644650"/>
          </a:xfrm>
        </p:grpSpPr>
        <p:sp>
          <p:nvSpPr>
            <p:cNvPr id="152" name="AutoShape 3">
              <a:extLst>
                <a:ext uri="{FF2B5EF4-FFF2-40B4-BE49-F238E27FC236}">
                  <a16:creationId xmlns:a16="http://schemas.microsoft.com/office/drawing/2014/main" id="{457EF9C4-6B69-6A44-23C9-389CEA9543FB}"/>
                </a:ext>
              </a:extLst>
            </p:cNvPr>
            <p:cNvSpPr>
              <a:spLocks noChangeAspect="1" noChangeArrowheads="1" noTextEdit="1"/>
            </p:cNvSpPr>
            <p:nvPr/>
          </p:nvSpPr>
          <p:spPr bwMode="auto">
            <a:xfrm>
              <a:off x="5273675" y="2606675"/>
              <a:ext cx="1644650"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153" name="Group 152">
              <a:extLst>
                <a:ext uri="{FF2B5EF4-FFF2-40B4-BE49-F238E27FC236}">
                  <a16:creationId xmlns:a16="http://schemas.microsoft.com/office/drawing/2014/main" id="{A675FAF5-7C49-F690-DDA2-4820AE10BC71}"/>
                </a:ext>
              </a:extLst>
            </p:cNvPr>
            <p:cNvGrpSpPr/>
            <p:nvPr/>
          </p:nvGrpSpPr>
          <p:grpSpPr>
            <a:xfrm>
              <a:off x="5545138" y="2863850"/>
              <a:ext cx="1103313" cy="1128713"/>
              <a:chOff x="5545138" y="2863850"/>
              <a:chExt cx="1103313" cy="1128713"/>
            </a:xfrm>
          </p:grpSpPr>
          <p:sp>
            <p:nvSpPr>
              <p:cNvPr id="154" name="Freeform 10">
                <a:extLst>
                  <a:ext uri="{FF2B5EF4-FFF2-40B4-BE49-F238E27FC236}">
                    <a16:creationId xmlns:a16="http://schemas.microsoft.com/office/drawing/2014/main" id="{3122857E-8838-B4B7-83AD-27123495BF0E}"/>
                  </a:ext>
                </a:extLst>
              </p:cNvPr>
              <p:cNvSpPr>
                <a:spLocks noEditPoints="1"/>
              </p:cNvSpPr>
              <p:nvPr/>
            </p:nvSpPr>
            <p:spPr bwMode="auto">
              <a:xfrm>
                <a:off x="5545138" y="2863850"/>
                <a:ext cx="1103313" cy="1128713"/>
              </a:xfrm>
              <a:custGeom>
                <a:avLst/>
                <a:gdLst>
                  <a:gd name="T0" fmla="*/ 1529 w 1545"/>
                  <a:gd name="T1" fmla="*/ 336 h 1582"/>
                  <a:gd name="T2" fmla="*/ 1180 w 1545"/>
                  <a:gd name="T3" fmla="*/ 13 h 1582"/>
                  <a:gd name="T4" fmla="*/ 1139 w 1545"/>
                  <a:gd name="T5" fmla="*/ 3 h 1582"/>
                  <a:gd name="T6" fmla="*/ 1136 w 1545"/>
                  <a:gd name="T7" fmla="*/ 4 h 1582"/>
                  <a:gd name="T8" fmla="*/ 727 w 1545"/>
                  <a:gd name="T9" fmla="*/ 130 h 1582"/>
                  <a:gd name="T10" fmla="*/ 717 w 1545"/>
                  <a:gd name="T11" fmla="*/ 136 h 1582"/>
                  <a:gd name="T12" fmla="*/ 12 w 1545"/>
                  <a:gd name="T13" fmla="*/ 897 h 1582"/>
                  <a:gd name="T14" fmla="*/ 1 w 1545"/>
                  <a:gd name="T15" fmla="*/ 929 h 1582"/>
                  <a:gd name="T16" fmla="*/ 15 w 1545"/>
                  <a:gd name="T17" fmla="*/ 959 h 1582"/>
                  <a:gd name="T18" fmla="*/ 674 w 1545"/>
                  <a:gd name="T19" fmla="*/ 1571 h 1582"/>
                  <a:gd name="T20" fmla="*/ 704 w 1545"/>
                  <a:gd name="T21" fmla="*/ 1582 h 1582"/>
                  <a:gd name="T22" fmla="*/ 706 w 1545"/>
                  <a:gd name="T23" fmla="*/ 1582 h 1582"/>
                  <a:gd name="T24" fmla="*/ 736 w 1545"/>
                  <a:gd name="T25" fmla="*/ 1568 h 1582"/>
                  <a:gd name="T26" fmla="*/ 1441 w 1545"/>
                  <a:gd name="T27" fmla="*/ 807 h 1582"/>
                  <a:gd name="T28" fmla="*/ 1447 w 1545"/>
                  <a:gd name="T29" fmla="*/ 797 h 1582"/>
                  <a:gd name="T30" fmla="*/ 1542 w 1545"/>
                  <a:gd name="T31" fmla="*/ 380 h 1582"/>
                  <a:gd name="T32" fmla="*/ 1542 w 1545"/>
                  <a:gd name="T33" fmla="*/ 379 h 1582"/>
                  <a:gd name="T34" fmla="*/ 1529 w 1545"/>
                  <a:gd name="T35" fmla="*/ 336 h 1582"/>
                  <a:gd name="T36" fmla="*/ 1499 w 1545"/>
                  <a:gd name="T37" fmla="*/ 371 h 1582"/>
                  <a:gd name="T38" fmla="*/ 1405 w 1545"/>
                  <a:gd name="T39" fmla="*/ 782 h 1582"/>
                  <a:gd name="T40" fmla="*/ 704 w 1545"/>
                  <a:gd name="T41" fmla="*/ 1538 h 1582"/>
                  <a:gd name="T42" fmla="*/ 45 w 1545"/>
                  <a:gd name="T43" fmla="*/ 927 h 1582"/>
                  <a:gd name="T44" fmla="*/ 746 w 1545"/>
                  <a:gd name="T45" fmla="*/ 171 h 1582"/>
                  <a:gd name="T46" fmla="*/ 1147 w 1545"/>
                  <a:gd name="T47" fmla="*/ 46 h 1582"/>
                  <a:gd name="T48" fmla="*/ 1151 w 1545"/>
                  <a:gd name="T49" fmla="*/ 46 h 1582"/>
                  <a:gd name="T50" fmla="*/ 1499 w 1545"/>
                  <a:gd name="T51" fmla="*/ 368 h 1582"/>
                  <a:gd name="T52" fmla="*/ 1499 w 1545"/>
                  <a:gd name="T53" fmla="*/ 371 h 1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45" h="1582">
                    <a:moveTo>
                      <a:pt x="1529" y="336"/>
                    </a:moveTo>
                    <a:cubicBezTo>
                      <a:pt x="1180" y="13"/>
                      <a:pt x="1180" y="13"/>
                      <a:pt x="1180" y="13"/>
                    </a:cubicBezTo>
                    <a:cubicBezTo>
                      <a:pt x="1166" y="0"/>
                      <a:pt x="1150" y="1"/>
                      <a:pt x="1139" y="3"/>
                    </a:cubicBezTo>
                    <a:cubicBezTo>
                      <a:pt x="1138" y="3"/>
                      <a:pt x="1137" y="3"/>
                      <a:pt x="1136" y="4"/>
                    </a:cubicBezTo>
                    <a:cubicBezTo>
                      <a:pt x="727" y="130"/>
                      <a:pt x="727" y="130"/>
                      <a:pt x="727" y="130"/>
                    </a:cubicBezTo>
                    <a:cubicBezTo>
                      <a:pt x="723" y="132"/>
                      <a:pt x="720" y="134"/>
                      <a:pt x="717" y="136"/>
                    </a:cubicBezTo>
                    <a:cubicBezTo>
                      <a:pt x="12" y="897"/>
                      <a:pt x="12" y="897"/>
                      <a:pt x="12" y="897"/>
                    </a:cubicBezTo>
                    <a:cubicBezTo>
                      <a:pt x="4" y="906"/>
                      <a:pt x="0" y="917"/>
                      <a:pt x="1" y="929"/>
                    </a:cubicBezTo>
                    <a:cubicBezTo>
                      <a:pt x="1" y="941"/>
                      <a:pt x="6" y="951"/>
                      <a:pt x="15" y="959"/>
                    </a:cubicBezTo>
                    <a:cubicBezTo>
                      <a:pt x="674" y="1571"/>
                      <a:pt x="674" y="1571"/>
                      <a:pt x="674" y="1571"/>
                    </a:cubicBezTo>
                    <a:cubicBezTo>
                      <a:pt x="682" y="1578"/>
                      <a:pt x="693" y="1582"/>
                      <a:pt x="704" y="1582"/>
                    </a:cubicBezTo>
                    <a:cubicBezTo>
                      <a:pt x="705" y="1582"/>
                      <a:pt x="705" y="1582"/>
                      <a:pt x="706" y="1582"/>
                    </a:cubicBezTo>
                    <a:cubicBezTo>
                      <a:pt x="718" y="1582"/>
                      <a:pt x="728" y="1577"/>
                      <a:pt x="736" y="1568"/>
                    </a:cubicBezTo>
                    <a:cubicBezTo>
                      <a:pt x="1441" y="807"/>
                      <a:pt x="1441" y="807"/>
                      <a:pt x="1441" y="807"/>
                    </a:cubicBezTo>
                    <a:cubicBezTo>
                      <a:pt x="1444" y="805"/>
                      <a:pt x="1446" y="801"/>
                      <a:pt x="1447" y="797"/>
                    </a:cubicBezTo>
                    <a:cubicBezTo>
                      <a:pt x="1542" y="380"/>
                      <a:pt x="1542" y="380"/>
                      <a:pt x="1542" y="380"/>
                    </a:cubicBezTo>
                    <a:cubicBezTo>
                      <a:pt x="1542" y="380"/>
                      <a:pt x="1542" y="380"/>
                      <a:pt x="1542" y="379"/>
                    </a:cubicBezTo>
                    <a:cubicBezTo>
                      <a:pt x="1545" y="363"/>
                      <a:pt x="1540" y="347"/>
                      <a:pt x="1529" y="336"/>
                    </a:cubicBezTo>
                    <a:close/>
                    <a:moveTo>
                      <a:pt x="1499" y="371"/>
                    </a:moveTo>
                    <a:cubicBezTo>
                      <a:pt x="1405" y="782"/>
                      <a:pt x="1405" y="782"/>
                      <a:pt x="1405" y="782"/>
                    </a:cubicBezTo>
                    <a:cubicBezTo>
                      <a:pt x="704" y="1538"/>
                      <a:pt x="704" y="1538"/>
                      <a:pt x="704" y="1538"/>
                    </a:cubicBezTo>
                    <a:cubicBezTo>
                      <a:pt x="45" y="927"/>
                      <a:pt x="45" y="927"/>
                      <a:pt x="45" y="927"/>
                    </a:cubicBezTo>
                    <a:cubicBezTo>
                      <a:pt x="746" y="171"/>
                      <a:pt x="746" y="171"/>
                      <a:pt x="746" y="171"/>
                    </a:cubicBezTo>
                    <a:cubicBezTo>
                      <a:pt x="1147" y="46"/>
                      <a:pt x="1147" y="46"/>
                      <a:pt x="1147" y="46"/>
                    </a:cubicBezTo>
                    <a:cubicBezTo>
                      <a:pt x="1149" y="46"/>
                      <a:pt x="1150" y="46"/>
                      <a:pt x="1151" y="46"/>
                    </a:cubicBezTo>
                    <a:cubicBezTo>
                      <a:pt x="1499" y="368"/>
                      <a:pt x="1499" y="368"/>
                      <a:pt x="1499" y="368"/>
                    </a:cubicBezTo>
                    <a:cubicBezTo>
                      <a:pt x="1499" y="369"/>
                      <a:pt x="1499" y="370"/>
                      <a:pt x="1499" y="37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Freeform 11">
                <a:extLst>
                  <a:ext uri="{FF2B5EF4-FFF2-40B4-BE49-F238E27FC236}">
                    <a16:creationId xmlns:a16="http://schemas.microsoft.com/office/drawing/2014/main" id="{F28691BC-30B4-F593-9C37-F78439E49E93}"/>
                  </a:ext>
                </a:extLst>
              </p:cNvPr>
              <p:cNvSpPr>
                <a:spLocks noEditPoints="1"/>
              </p:cNvSpPr>
              <p:nvPr/>
            </p:nvSpPr>
            <p:spPr bwMode="auto">
              <a:xfrm>
                <a:off x="5619750" y="2928938"/>
                <a:ext cx="962025" cy="990600"/>
              </a:xfrm>
              <a:custGeom>
                <a:avLst/>
                <a:gdLst>
                  <a:gd name="T0" fmla="*/ 1035 w 1349"/>
                  <a:gd name="T1" fmla="*/ 0 h 1387"/>
                  <a:gd name="T2" fmla="*/ 665 w 1349"/>
                  <a:gd name="T3" fmla="*/ 115 h 1387"/>
                  <a:gd name="T4" fmla="*/ 0 w 1349"/>
                  <a:gd name="T5" fmla="*/ 833 h 1387"/>
                  <a:gd name="T6" fmla="*/ 598 w 1349"/>
                  <a:gd name="T7" fmla="*/ 1387 h 1387"/>
                  <a:gd name="T8" fmla="*/ 1263 w 1349"/>
                  <a:gd name="T9" fmla="*/ 669 h 1387"/>
                  <a:gd name="T10" fmla="*/ 1349 w 1349"/>
                  <a:gd name="T11" fmla="*/ 292 h 1387"/>
                  <a:gd name="T12" fmla="*/ 1035 w 1349"/>
                  <a:gd name="T13" fmla="*/ 0 h 1387"/>
                  <a:gd name="T14" fmla="*/ 846 w 1349"/>
                  <a:gd name="T15" fmla="*/ 872 h 1387"/>
                  <a:gd name="T16" fmla="*/ 785 w 1349"/>
                  <a:gd name="T17" fmla="*/ 932 h 1387"/>
                  <a:gd name="T18" fmla="*/ 708 w 1349"/>
                  <a:gd name="T19" fmla="*/ 956 h 1387"/>
                  <a:gd name="T20" fmla="*/ 589 w 1349"/>
                  <a:gd name="T21" fmla="*/ 960 h 1387"/>
                  <a:gd name="T22" fmla="*/ 467 w 1349"/>
                  <a:gd name="T23" fmla="*/ 953 h 1387"/>
                  <a:gd name="T24" fmla="*/ 466 w 1349"/>
                  <a:gd name="T25" fmla="*/ 953 h 1387"/>
                  <a:gd name="T26" fmla="*/ 461 w 1349"/>
                  <a:gd name="T27" fmla="*/ 948 h 1387"/>
                  <a:gd name="T28" fmla="*/ 460 w 1349"/>
                  <a:gd name="T29" fmla="*/ 942 h 1387"/>
                  <a:gd name="T30" fmla="*/ 442 w 1349"/>
                  <a:gd name="T31" fmla="*/ 822 h 1387"/>
                  <a:gd name="T32" fmla="*/ 431 w 1349"/>
                  <a:gd name="T33" fmla="*/ 700 h 1387"/>
                  <a:gd name="T34" fmla="*/ 447 w 1349"/>
                  <a:gd name="T35" fmla="*/ 621 h 1387"/>
                  <a:gd name="T36" fmla="*/ 485 w 1349"/>
                  <a:gd name="T37" fmla="*/ 571 h 1387"/>
                  <a:gd name="T38" fmla="*/ 590 w 1349"/>
                  <a:gd name="T39" fmla="*/ 546 h 1387"/>
                  <a:gd name="T40" fmla="*/ 646 w 1349"/>
                  <a:gd name="T41" fmla="*/ 578 h 1387"/>
                  <a:gd name="T42" fmla="*/ 666 w 1349"/>
                  <a:gd name="T43" fmla="*/ 618 h 1387"/>
                  <a:gd name="T44" fmla="*/ 670 w 1349"/>
                  <a:gd name="T45" fmla="*/ 688 h 1387"/>
                  <a:gd name="T46" fmla="*/ 666 w 1349"/>
                  <a:gd name="T47" fmla="*/ 724 h 1387"/>
                  <a:gd name="T48" fmla="*/ 682 w 1349"/>
                  <a:gd name="T49" fmla="*/ 720 h 1387"/>
                  <a:gd name="T50" fmla="*/ 768 w 1349"/>
                  <a:gd name="T51" fmla="*/ 711 h 1387"/>
                  <a:gd name="T52" fmla="*/ 845 w 1349"/>
                  <a:gd name="T53" fmla="*/ 765 h 1387"/>
                  <a:gd name="T54" fmla="*/ 846 w 1349"/>
                  <a:gd name="T55" fmla="*/ 872 h 1387"/>
                  <a:gd name="T56" fmla="*/ 1141 w 1349"/>
                  <a:gd name="T57" fmla="*/ 325 h 1387"/>
                  <a:gd name="T58" fmla="*/ 1023 w 1349"/>
                  <a:gd name="T59" fmla="*/ 329 h 1387"/>
                  <a:gd name="T60" fmla="*/ 1018 w 1349"/>
                  <a:gd name="T61" fmla="*/ 210 h 1387"/>
                  <a:gd name="T62" fmla="*/ 1137 w 1349"/>
                  <a:gd name="T63" fmla="*/ 206 h 1387"/>
                  <a:gd name="T64" fmla="*/ 1141 w 1349"/>
                  <a:gd name="T65" fmla="*/ 325 h 1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49" h="1387">
                    <a:moveTo>
                      <a:pt x="1035" y="0"/>
                    </a:moveTo>
                    <a:cubicBezTo>
                      <a:pt x="665" y="115"/>
                      <a:pt x="665" y="115"/>
                      <a:pt x="665" y="115"/>
                    </a:cubicBezTo>
                    <a:cubicBezTo>
                      <a:pt x="0" y="833"/>
                      <a:pt x="0" y="833"/>
                      <a:pt x="0" y="833"/>
                    </a:cubicBezTo>
                    <a:cubicBezTo>
                      <a:pt x="598" y="1387"/>
                      <a:pt x="598" y="1387"/>
                      <a:pt x="598" y="1387"/>
                    </a:cubicBezTo>
                    <a:cubicBezTo>
                      <a:pt x="1263" y="669"/>
                      <a:pt x="1263" y="669"/>
                      <a:pt x="1263" y="669"/>
                    </a:cubicBezTo>
                    <a:cubicBezTo>
                      <a:pt x="1349" y="292"/>
                      <a:pt x="1349" y="292"/>
                      <a:pt x="1349" y="292"/>
                    </a:cubicBezTo>
                    <a:lnTo>
                      <a:pt x="1035" y="0"/>
                    </a:lnTo>
                    <a:close/>
                    <a:moveTo>
                      <a:pt x="846" y="872"/>
                    </a:moveTo>
                    <a:cubicBezTo>
                      <a:pt x="832" y="899"/>
                      <a:pt x="811" y="917"/>
                      <a:pt x="785" y="932"/>
                    </a:cubicBezTo>
                    <a:cubicBezTo>
                      <a:pt x="761" y="945"/>
                      <a:pt x="735" y="952"/>
                      <a:pt x="708" y="956"/>
                    </a:cubicBezTo>
                    <a:cubicBezTo>
                      <a:pt x="668" y="961"/>
                      <a:pt x="629" y="961"/>
                      <a:pt x="589" y="960"/>
                    </a:cubicBezTo>
                    <a:cubicBezTo>
                      <a:pt x="548" y="958"/>
                      <a:pt x="507" y="955"/>
                      <a:pt x="467" y="953"/>
                    </a:cubicBezTo>
                    <a:cubicBezTo>
                      <a:pt x="467" y="953"/>
                      <a:pt x="466" y="953"/>
                      <a:pt x="466" y="953"/>
                    </a:cubicBezTo>
                    <a:cubicBezTo>
                      <a:pt x="464" y="953"/>
                      <a:pt x="461" y="951"/>
                      <a:pt x="461" y="948"/>
                    </a:cubicBezTo>
                    <a:cubicBezTo>
                      <a:pt x="461" y="946"/>
                      <a:pt x="461" y="944"/>
                      <a:pt x="460" y="942"/>
                    </a:cubicBezTo>
                    <a:cubicBezTo>
                      <a:pt x="454" y="902"/>
                      <a:pt x="448" y="862"/>
                      <a:pt x="442" y="822"/>
                    </a:cubicBezTo>
                    <a:cubicBezTo>
                      <a:pt x="435" y="781"/>
                      <a:pt x="430" y="741"/>
                      <a:pt x="431" y="700"/>
                    </a:cubicBezTo>
                    <a:cubicBezTo>
                      <a:pt x="431" y="672"/>
                      <a:pt x="436" y="646"/>
                      <a:pt x="447" y="621"/>
                    </a:cubicBezTo>
                    <a:cubicBezTo>
                      <a:pt x="456" y="601"/>
                      <a:pt x="468" y="584"/>
                      <a:pt x="485" y="571"/>
                    </a:cubicBezTo>
                    <a:cubicBezTo>
                      <a:pt x="515" y="544"/>
                      <a:pt x="551" y="537"/>
                      <a:pt x="590" y="546"/>
                    </a:cubicBezTo>
                    <a:cubicBezTo>
                      <a:pt x="612" y="550"/>
                      <a:pt x="631" y="562"/>
                      <a:pt x="646" y="578"/>
                    </a:cubicBezTo>
                    <a:cubicBezTo>
                      <a:pt x="657" y="589"/>
                      <a:pt x="662" y="603"/>
                      <a:pt x="666" y="618"/>
                    </a:cubicBezTo>
                    <a:cubicBezTo>
                      <a:pt x="673" y="641"/>
                      <a:pt x="672" y="664"/>
                      <a:pt x="670" y="688"/>
                    </a:cubicBezTo>
                    <a:cubicBezTo>
                      <a:pt x="669" y="700"/>
                      <a:pt x="667" y="712"/>
                      <a:pt x="666" y="724"/>
                    </a:cubicBezTo>
                    <a:cubicBezTo>
                      <a:pt x="671" y="723"/>
                      <a:pt x="676" y="721"/>
                      <a:pt x="682" y="720"/>
                    </a:cubicBezTo>
                    <a:cubicBezTo>
                      <a:pt x="710" y="713"/>
                      <a:pt x="739" y="709"/>
                      <a:pt x="768" y="711"/>
                    </a:cubicBezTo>
                    <a:cubicBezTo>
                      <a:pt x="803" y="715"/>
                      <a:pt x="829" y="733"/>
                      <a:pt x="845" y="765"/>
                    </a:cubicBezTo>
                    <a:cubicBezTo>
                      <a:pt x="864" y="800"/>
                      <a:pt x="863" y="837"/>
                      <a:pt x="846" y="872"/>
                    </a:cubicBezTo>
                    <a:close/>
                    <a:moveTo>
                      <a:pt x="1141" y="325"/>
                    </a:moveTo>
                    <a:cubicBezTo>
                      <a:pt x="1110" y="359"/>
                      <a:pt x="1057" y="361"/>
                      <a:pt x="1023" y="329"/>
                    </a:cubicBezTo>
                    <a:cubicBezTo>
                      <a:pt x="989" y="298"/>
                      <a:pt x="987" y="244"/>
                      <a:pt x="1018" y="210"/>
                    </a:cubicBezTo>
                    <a:cubicBezTo>
                      <a:pt x="1050" y="176"/>
                      <a:pt x="1103" y="174"/>
                      <a:pt x="1137" y="206"/>
                    </a:cubicBezTo>
                    <a:cubicBezTo>
                      <a:pt x="1171" y="237"/>
                      <a:pt x="1173" y="290"/>
                      <a:pt x="1141" y="325"/>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212" name="bcgIcons_Fellowship">
            <a:extLst>
              <a:ext uri="{FF2B5EF4-FFF2-40B4-BE49-F238E27FC236}">
                <a16:creationId xmlns:a16="http://schemas.microsoft.com/office/drawing/2014/main" id="{5B2BA455-8FA7-87BE-2E95-DC9A64144460}"/>
              </a:ext>
            </a:extLst>
          </p:cNvPr>
          <p:cNvGrpSpPr>
            <a:grpSpLocks noChangeAspect="1"/>
          </p:cNvGrpSpPr>
          <p:nvPr/>
        </p:nvGrpSpPr>
        <p:grpSpPr>
          <a:xfrm>
            <a:off x="6447386" y="4862220"/>
            <a:ext cx="427040" cy="427040"/>
            <a:chOff x="5272088" y="2305050"/>
            <a:chExt cx="1644650" cy="1644650"/>
          </a:xfrm>
        </p:grpSpPr>
        <p:sp>
          <p:nvSpPr>
            <p:cNvPr id="213" name="AutoShape 149">
              <a:extLst>
                <a:ext uri="{FF2B5EF4-FFF2-40B4-BE49-F238E27FC236}">
                  <a16:creationId xmlns:a16="http://schemas.microsoft.com/office/drawing/2014/main" id="{91058B6F-98ED-0C59-72EE-1594C358BAA7}"/>
                </a:ext>
              </a:extLst>
            </p:cNvPr>
            <p:cNvSpPr>
              <a:spLocks noChangeAspect="1" noChangeArrowheads="1" noTextEdit="1"/>
            </p:cNvSpPr>
            <p:nvPr/>
          </p:nvSpPr>
          <p:spPr bwMode="auto">
            <a:xfrm>
              <a:off x="5272088" y="2305050"/>
              <a:ext cx="1644650"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214" name="Group 213">
              <a:extLst>
                <a:ext uri="{FF2B5EF4-FFF2-40B4-BE49-F238E27FC236}">
                  <a16:creationId xmlns:a16="http://schemas.microsoft.com/office/drawing/2014/main" id="{D25014E2-1AF5-6592-8ED1-9CDD0E38EDD8}"/>
                </a:ext>
              </a:extLst>
            </p:cNvPr>
            <p:cNvGrpSpPr/>
            <p:nvPr/>
          </p:nvGrpSpPr>
          <p:grpSpPr>
            <a:xfrm>
              <a:off x="5483226" y="2457450"/>
              <a:ext cx="1223963" cy="1341438"/>
              <a:chOff x="5483226" y="2457450"/>
              <a:chExt cx="1223963" cy="1341438"/>
            </a:xfrm>
          </p:grpSpPr>
          <p:sp>
            <p:nvSpPr>
              <p:cNvPr id="215" name="Freeform 151">
                <a:extLst>
                  <a:ext uri="{FF2B5EF4-FFF2-40B4-BE49-F238E27FC236}">
                    <a16:creationId xmlns:a16="http://schemas.microsoft.com/office/drawing/2014/main" id="{14DFA24D-B0A5-BD80-453C-B51C74CAA06D}"/>
                  </a:ext>
                </a:extLst>
              </p:cNvPr>
              <p:cNvSpPr>
                <a:spLocks noEditPoints="1"/>
              </p:cNvSpPr>
              <p:nvPr/>
            </p:nvSpPr>
            <p:spPr bwMode="auto">
              <a:xfrm>
                <a:off x="5483226" y="2457450"/>
                <a:ext cx="1223963" cy="1100138"/>
              </a:xfrm>
              <a:custGeom>
                <a:avLst/>
                <a:gdLst>
                  <a:gd name="T0" fmla="*/ 857 w 1716"/>
                  <a:gd name="T1" fmla="*/ 664 h 1545"/>
                  <a:gd name="T2" fmla="*/ 958 w 1716"/>
                  <a:gd name="T3" fmla="*/ 157 h 1545"/>
                  <a:gd name="T4" fmla="*/ 899 w 1716"/>
                  <a:gd name="T5" fmla="*/ 365 h 1545"/>
                  <a:gd name="T6" fmla="*/ 208 w 1716"/>
                  <a:gd name="T7" fmla="*/ 1426 h 1545"/>
                  <a:gd name="T8" fmla="*/ 1465 w 1716"/>
                  <a:gd name="T9" fmla="*/ 1123 h 1545"/>
                  <a:gd name="T10" fmla="*/ 1349 w 1716"/>
                  <a:gd name="T11" fmla="*/ 1355 h 1545"/>
                  <a:gd name="T12" fmla="*/ 617 w 1716"/>
                  <a:gd name="T13" fmla="*/ 1079 h 1545"/>
                  <a:gd name="T14" fmla="*/ 451 w 1716"/>
                  <a:gd name="T15" fmla="*/ 1112 h 1545"/>
                  <a:gd name="T16" fmla="*/ 204 w 1716"/>
                  <a:gd name="T17" fmla="*/ 1033 h 1545"/>
                  <a:gd name="T18" fmla="*/ 0 w 1716"/>
                  <a:gd name="T19" fmla="*/ 1278 h 1545"/>
                  <a:gd name="T20" fmla="*/ 137 w 1716"/>
                  <a:gd name="T21" fmla="*/ 1514 h 1545"/>
                  <a:gd name="T22" fmla="*/ 208 w 1716"/>
                  <a:gd name="T23" fmla="*/ 1540 h 1545"/>
                  <a:gd name="T24" fmla="*/ 300 w 1716"/>
                  <a:gd name="T25" fmla="*/ 1541 h 1545"/>
                  <a:gd name="T26" fmla="*/ 375 w 1716"/>
                  <a:gd name="T27" fmla="*/ 1517 h 1545"/>
                  <a:gd name="T28" fmla="*/ 501 w 1716"/>
                  <a:gd name="T29" fmla="*/ 1379 h 1545"/>
                  <a:gd name="T30" fmla="*/ 505 w 1716"/>
                  <a:gd name="T31" fmla="*/ 1205 h 1545"/>
                  <a:gd name="T32" fmla="*/ 381 w 1716"/>
                  <a:gd name="T33" fmla="*/ 1463 h 1545"/>
                  <a:gd name="T34" fmla="*/ 364 w 1716"/>
                  <a:gd name="T35" fmla="*/ 1473 h 1545"/>
                  <a:gd name="T36" fmla="*/ 305 w 1716"/>
                  <a:gd name="T37" fmla="*/ 1496 h 1545"/>
                  <a:gd name="T38" fmla="*/ 259 w 1716"/>
                  <a:gd name="T39" fmla="*/ 1501 h 1545"/>
                  <a:gd name="T40" fmla="*/ 207 w 1716"/>
                  <a:gd name="T41" fmla="*/ 1494 h 1545"/>
                  <a:gd name="T42" fmla="*/ 166 w 1716"/>
                  <a:gd name="T43" fmla="*/ 1479 h 1545"/>
                  <a:gd name="T44" fmla="*/ 45 w 1716"/>
                  <a:gd name="T45" fmla="*/ 1307 h 1545"/>
                  <a:gd name="T46" fmla="*/ 90 w 1716"/>
                  <a:gd name="T47" fmla="*/ 1152 h 1545"/>
                  <a:gd name="T48" fmla="*/ 202 w 1716"/>
                  <a:gd name="T49" fmla="*/ 1078 h 1545"/>
                  <a:gd name="T50" fmla="*/ 224 w 1716"/>
                  <a:gd name="T51" fmla="*/ 1074 h 1545"/>
                  <a:gd name="T52" fmla="*/ 415 w 1716"/>
                  <a:gd name="T53" fmla="*/ 1138 h 1545"/>
                  <a:gd name="T54" fmla="*/ 428 w 1716"/>
                  <a:gd name="T55" fmla="*/ 1152 h 1545"/>
                  <a:gd name="T56" fmla="*/ 465 w 1716"/>
                  <a:gd name="T57" fmla="*/ 1224 h 1545"/>
                  <a:gd name="T58" fmla="*/ 473 w 1716"/>
                  <a:gd name="T59" fmla="*/ 1261 h 1545"/>
                  <a:gd name="T60" fmla="*/ 1685 w 1716"/>
                  <a:gd name="T61" fmla="*/ 1161 h 1545"/>
                  <a:gd name="T62" fmla="*/ 1654 w 1716"/>
                  <a:gd name="T63" fmla="*/ 1117 h 1545"/>
                  <a:gd name="T64" fmla="*/ 1598 w 1716"/>
                  <a:gd name="T65" fmla="*/ 1068 h 1545"/>
                  <a:gd name="T66" fmla="*/ 1503 w 1716"/>
                  <a:gd name="T67" fmla="*/ 1031 h 1545"/>
                  <a:gd name="T68" fmla="*/ 1436 w 1716"/>
                  <a:gd name="T69" fmla="*/ 1028 h 1545"/>
                  <a:gd name="T70" fmla="*/ 1271 w 1716"/>
                  <a:gd name="T71" fmla="*/ 1106 h 1545"/>
                  <a:gd name="T72" fmla="*/ 1093 w 1716"/>
                  <a:gd name="T73" fmla="*/ 1087 h 1545"/>
                  <a:gd name="T74" fmla="*/ 1200 w 1716"/>
                  <a:gd name="T75" fmla="*/ 1313 h 1545"/>
                  <a:gd name="T76" fmla="*/ 1217 w 1716"/>
                  <a:gd name="T77" fmla="*/ 1381 h 1545"/>
                  <a:gd name="T78" fmla="*/ 1442 w 1716"/>
                  <a:gd name="T79" fmla="*/ 1544 h 1545"/>
                  <a:gd name="T80" fmla="*/ 1524 w 1716"/>
                  <a:gd name="T81" fmla="*/ 1536 h 1545"/>
                  <a:gd name="T82" fmla="*/ 1619 w 1716"/>
                  <a:gd name="T83" fmla="*/ 1488 h 1545"/>
                  <a:gd name="T84" fmla="*/ 1701 w 1716"/>
                  <a:gd name="T85" fmla="*/ 1197 h 1545"/>
                  <a:gd name="T86" fmla="*/ 1601 w 1716"/>
                  <a:gd name="T87" fmla="*/ 1446 h 1545"/>
                  <a:gd name="T88" fmla="*/ 1554 w 1716"/>
                  <a:gd name="T89" fmla="*/ 1478 h 1545"/>
                  <a:gd name="T90" fmla="*/ 1509 w 1716"/>
                  <a:gd name="T91" fmla="*/ 1494 h 1545"/>
                  <a:gd name="T92" fmla="*/ 1470 w 1716"/>
                  <a:gd name="T93" fmla="*/ 1500 h 1545"/>
                  <a:gd name="T94" fmla="*/ 1424 w 1716"/>
                  <a:gd name="T95" fmla="*/ 1498 h 1545"/>
                  <a:gd name="T96" fmla="*/ 1258 w 1716"/>
                  <a:gd name="T97" fmla="*/ 1365 h 1545"/>
                  <a:gd name="T98" fmla="*/ 1248 w 1716"/>
                  <a:gd name="T99" fmla="*/ 1333 h 1545"/>
                  <a:gd name="T100" fmla="*/ 1243 w 1716"/>
                  <a:gd name="T101" fmla="*/ 1285 h 1545"/>
                  <a:gd name="T102" fmla="*/ 1290 w 1716"/>
                  <a:gd name="T103" fmla="*/ 1152 h 1545"/>
                  <a:gd name="T104" fmla="*/ 1357 w 1716"/>
                  <a:gd name="T105" fmla="*/ 1096 h 1545"/>
                  <a:gd name="T106" fmla="*/ 1439 w 1716"/>
                  <a:gd name="T107" fmla="*/ 1072 h 1545"/>
                  <a:gd name="T108" fmla="*/ 1468 w 1716"/>
                  <a:gd name="T109" fmla="*/ 1071 h 1545"/>
                  <a:gd name="T110" fmla="*/ 1536 w 1716"/>
                  <a:gd name="T111" fmla="*/ 1086 h 1545"/>
                  <a:gd name="T112" fmla="*/ 1598 w 1716"/>
                  <a:gd name="T113" fmla="*/ 1123 h 1545"/>
                  <a:gd name="T114" fmla="*/ 1619 w 1716"/>
                  <a:gd name="T115" fmla="*/ 1144 h 1545"/>
                  <a:gd name="T116" fmla="*/ 1634 w 1716"/>
                  <a:gd name="T117" fmla="*/ 1163 h 1545"/>
                  <a:gd name="T118" fmla="*/ 1646 w 1716"/>
                  <a:gd name="T119" fmla="*/ 1182 h 1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16" h="1545">
                    <a:moveTo>
                      <a:pt x="1060" y="743"/>
                    </a:moveTo>
                    <a:cubicBezTo>
                      <a:pt x="1067" y="743"/>
                      <a:pt x="1073" y="741"/>
                      <a:pt x="1077" y="736"/>
                    </a:cubicBezTo>
                    <a:cubicBezTo>
                      <a:pt x="1085" y="726"/>
                      <a:pt x="1083" y="713"/>
                      <a:pt x="1075" y="704"/>
                    </a:cubicBezTo>
                    <a:cubicBezTo>
                      <a:pt x="1021" y="655"/>
                      <a:pt x="953" y="626"/>
                      <a:pt x="880" y="621"/>
                    </a:cubicBezTo>
                    <a:cubicBezTo>
                      <a:pt x="880" y="517"/>
                      <a:pt x="880" y="517"/>
                      <a:pt x="880" y="517"/>
                    </a:cubicBezTo>
                    <a:cubicBezTo>
                      <a:pt x="1013" y="506"/>
                      <a:pt x="1118" y="395"/>
                      <a:pt x="1118" y="258"/>
                    </a:cubicBezTo>
                    <a:cubicBezTo>
                      <a:pt x="1118" y="115"/>
                      <a:pt x="1001" y="0"/>
                      <a:pt x="858" y="0"/>
                    </a:cubicBezTo>
                    <a:cubicBezTo>
                      <a:pt x="715" y="0"/>
                      <a:pt x="599" y="115"/>
                      <a:pt x="599" y="258"/>
                    </a:cubicBezTo>
                    <a:cubicBezTo>
                      <a:pt x="599" y="395"/>
                      <a:pt x="703" y="506"/>
                      <a:pt x="836" y="517"/>
                    </a:cubicBezTo>
                    <a:cubicBezTo>
                      <a:pt x="836" y="644"/>
                      <a:pt x="836" y="644"/>
                      <a:pt x="836" y="644"/>
                    </a:cubicBezTo>
                    <a:cubicBezTo>
                      <a:pt x="836" y="655"/>
                      <a:pt x="845" y="664"/>
                      <a:pt x="856" y="664"/>
                    </a:cubicBezTo>
                    <a:cubicBezTo>
                      <a:pt x="857" y="664"/>
                      <a:pt x="857" y="664"/>
                      <a:pt x="857" y="664"/>
                    </a:cubicBezTo>
                    <a:cubicBezTo>
                      <a:pt x="860" y="664"/>
                      <a:pt x="863" y="664"/>
                      <a:pt x="866" y="664"/>
                    </a:cubicBezTo>
                    <a:cubicBezTo>
                      <a:pt x="867" y="664"/>
                      <a:pt x="867" y="664"/>
                      <a:pt x="867" y="664"/>
                    </a:cubicBezTo>
                    <a:cubicBezTo>
                      <a:pt x="933" y="666"/>
                      <a:pt x="997" y="692"/>
                      <a:pt x="1045" y="737"/>
                    </a:cubicBezTo>
                    <a:cubicBezTo>
                      <a:pt x="1050" y="741"/>
                      <a:pt x="1055" y="743"/>
                      <a:pt x="1060" y="743"/>
                    </a:cubicBezTo>
                    <a:close/>
                    <a:moveTo>
                      <a:pt x="778" y="402"/>
                    </a:moveTo>
                    <a:cubicBezTo>
                      <a:pt x="776" y="401"/>
                      <a:pt x="774" y="398"/>
                      <a:pt x="774" y="395"/>
                    </a:cubicBezTo>
                    <a:cubicBezTo>
                      <a:pt x="774" y="323"/>
                      <a:pt x="774" y="323"/>
                      <a:pt x="774" y="323"/>
                    </a:cubicBezTo>
                    <a:cubicBezTo>
                      <a:pt x="750" y="298"/>
                      <a:pt x="701" y="236"/>
                      <a:pt x="731" y="172"/>
                    </a:cubicBezTo>
                    <a:cubicBezTo>
                      <a:pt x="748" y="137"/>
                      <a:pt x="782" y="96"/>
                      <a:pt x="851" y="96"/>
                    </a:cubicBezTo>
                    <a:cubicBezTo>
                      <a:pt x="929" y="96"/>
                      <a:pt x="906" y="116"/>
                      <a:pt x="979" y="114"/>
                    </a:cubicBezTo>
                    <a:cubicBezTo>
                      <a:pt x="987" y="114"/>
                      <a:pt x="963" y="140"/>
                      <a:pt x="959" y="156"/>
                    </a:cubicBezTo>
                    <a:cubicBezTo>
                      <a:pt x="959" y="157"/>
                      <a:pt x="959" y="157"/>
                      <a:pt x="958" y="157"/>
                    </a:cubicBezTo>
                    <a:cubicBezTo>
                      <a:pt x="958" y="157"/>
                      <a:pt x="956" y="156"/>
                      <a:pt x="954" y="156"/>
                    </a:cubicBezTo>
                    <a:cubicBezTo>
                      <a:pt x="955" y="165"/>
                      <a:pt x="957" y="183"/>
                      <a:pt x="959" y="190"/>
                    </a:cubicBezTo>
                    <a:cubicBezTo>
                      <a:pt x="961" y="195"/>
                      <a:pt x="962" y="201"/>
                      <a:pt x="964" y="208"/>
                    </a:cubicBezTo>
                    <a:cubicBezTo>
                      <a:pt x="965" y="213"/>
                      <a:pt x="966" y="218"/>
                      <a:pt x="967" y="220"/>
                    </a:cubicBezTo>
                    <a:cubicBezTo>
                      <a:pt x="970" y="231"/>
                      <a:pt x="974" y="239"/>
                      <a:pt x="978" y="244"/>
                    </a:cubicBezTo>
                    <a:cubicBezTo>
                      <a:pt x="979" y="245"/>
                      <a:pt x="980" y="246"/>
                      <a:pt x="981" y="247"/>
                    </a:cubicBezTo>
                    <a:cubicBezTo>
                      <a:pt x="989" y="256"/>
                      <a:pt x="997" y="264"/>
                      <a:pt x="994" y="273"/>
                    </a:cubicBezTo>
                    <a:cubicBezTo>
                      <a:pt x="993" y="277"/>
                      <a:pt x="988" y="288"/>
                      <a:pt x="965" y="289"/>
                    </a:cubicBezTo>
                    <a:cubicBezTo>
                      <a:pt x="967" y="298"/>
                      <a:pt x="968" y="316"/>
                      <a:pt x="967" y="328"/>
                    </a:cubicBezTo>
                    <a:cubicBezTo>
                      <a:pt x="967" y="330"/>
                      <a:pt x="967" y="330"/>
                      <a:pt x="967" y="330"/>
                    </a:cubicBezTo>
                    <a:cubicBezTo>
                      <a:pt x="966" y="348"/>
                      <a:pt x="965" y="357"/>
                      <a:pt x="957" y="362"/>
                    </a:cubicBezTo>
                    <a:cubicBezTo>
                      <a:pt x="950" y="365"/>
                      <a:pt x="929" y="368"/>
                      <a:pt x="899" y="365"/>
                    </a:cubicBezTo>
                    <a:cubicBezTo>
                      <a:pt x="899" y="415"/>
                      <a:pt x="899" y="415"/>
                      <a:pt x="899" y="415"/>
                    </a:cubicBezTo>
                    <a:cubicBezTo>
                      <a:pt x="899" y="419"/>
                      <a:pt x="896" y="422"/>
                      <a:pt x="892" y="422"/>
                    </a:cubicBezTo>
                    <a:cubicBezTo>
                      <a:pt x="887" y="422"/>
                      <a:pt x="826" y="422"/>
                      <a:pt x="778" y="402"/>
                    </a:cubicBezTo>
                    <a:close/>
                    <a:moveTo>
                      <a:pt x="374" y="1252"/>
                    </a:moveTo>
                    <a:cubicBezTo>
                      <a:pt x="372" y="1249"/>
                      <a:pt x="371" y="1231"/>
                      <a:pt x="372" y="1222"/>
                    </a:cubicBezTo>
                    <a:cubicBezTo>
                      <a:pt x="374" y="1202"/>
                      <a:pt x="364" y="1189"/>
                      <a:pt x="361" y="1184"/>
                    </a:cubicBezTo>
                    <a:cubicBezTo>
                      <a:pt x="362" y="1182"/>
                      <a:pt x="364" y="1179"/>
                      <a:pt x="366" y="1176"/>
                    </a:cubicBezTo>
                    <a:cubicBezTo>
                      <a:pt x="370" y="1161"/>
                      <a:pt x="338" y="1125"/>
                      <a:pt x="261" y="1125"/>
                    </a:cubicBezTo>
                    <a:cubicBezTo>
                      <a:pt x="195" y="1125"/>
                      <a:pt x="155" y="1162"/>
                      <a:pt x="139" y="1196"/>
                    </a:cubicBezTo>
                    <a:cubicBezTo>
                      <a:pt x="83" y="1312"/>
                      <a:pt x="157" y="1366"/>
                      <a:pt x="203" y="1385"/>
                    </a:cubicBezTo>
                    <a:cubicBezTo>
                      <a:pt x="203" y="1385"/>
                      <a:pt x="203" y="1385"/>
                      <a:pt x="205" y="1420"/>
                    </a:cubicBezTo>
                    <a:cubicBezTo>
                      <a:pt x="205" y="1423"/>
                      <a:pt x="206" y="1425"/>
                      <a:pt x="208" y="1426"/>
                    </a:cubicBezTo>
                    <a:cubicBezTo>
                      <a:pt x="238" y="1443"/>
                      <a:pt x="273" y="1446"/>
                      <a:pt x="288" y="1446"/>
                    </a:cubicBezTo>
                    <a:cubicBezTo>
                      <a:pt x="292" y="1446"/>
                      <a:pt x="295" y="1445"/>
                      <a:pt x="296" y="1445"/>
                    </a:cubicBezTo>
                    <a:cubicBezTo>
                      <a:pt x="299" y="1445"/>
                      <a:pt x="301" y="1442"/>
                      <a:pt x="301" y="1438"/>
                    </a:cubicBezTo>
                    <a:cubicBezTo>
                      <a:pt x="301" y="1438"/>
                      <a:pt x="301" y="1438"/>
                      <a:pt x="301" y="1384"/>
                    </a:cubicBezTo>
                    <a:cubicBezTo>
                      <a:pt x="309" y="1385"/>
                      <a:pt x="319" y="1385"/>
                      <a:pt x="323" y="1385"/>
                    </a:cubicBezTo>
                    <a:cubicBezTo>
                      <a:pt x="352" y="1386"/>
                      <a:pt x="359" y="1381"/>
                      <a:pt x="363" y="1379"/>
                    </a:cubicBezTo>
                    <a:cubicBezTo>
                      <a:pt x="367" y="1375"/>
                      <a:pt x="371" y="1366"/>
                      <a:pt x="370" y="1337"/>
                    </a:cubicBezTo>
                    <a:cubicBezTo>
                      <a:pt x="370" y="1329"/>
                      <a:pt x="370" y="1320"/>
                      <a:pt x="370" y="1315"/>
                    </a:cubicBezTo>
                    <a:cubicBezTo>
                      <a:pt x="388" y="1315"/>
                      <a:pt x="396" y="1306"/>
                      <a:pt x="399" y="1300"/>
                    </a:cubicBezTo>
                    <a:cubicBezTo>
                      <a:pt x="402" y="1293"/>
                      <a:pt x="394" y="1281"/>
                      <a:pt x="387" y="1274"/>
                    </a:cubicBezTo>
                    <a:cubicBezTo>
                      <a:pt x="381" y="1268"/>
                      <a:pt x="376" y="1259"/>
                      <a:pt x="374" y="1252"/>
                    </a:cubicBezTo>
                    <a:close/>
                    <a:moveTo>
                      <a:pt x="1465" y="1123"/>
                    </a:moveTo>
                    <a:cubicBezTo>
                      <a:pt x="1387" y="1123"/>
                      <a:pt x="1410" y="1143"/>
                      <a:pt x="1337" y="1141"/>
                    </a:cubicBezTo>
                    <a:cubicBezTo>
                      <a:pt x="1329" y="1141"/>
                      <a:pt x="1353" y="1166"/>
                      <a:pt x="1357" y="1183"/>
                    </a:cubicBezTo>
                    <a:cubicBezTo>
                      <a:pt x="1357" y="1183"/>
                      <a:pt x="1357" y="1183"/>
                      <a:pt x="1357" y="1183"/>
                    </a:cubicBezTo>
                    <a:cubicBezTo>
                      <a:pt x="1357" y="1183"/>
                      <a:pt x="1359" y="1183"/>
                      <a:pt x="1361" y="1183"/>
                    </a:cubicBezTo>
                    <a:cubicBezTo>
                      <a:pt x="1360" y="1192"/>
                      <a:pt x="1358" y="1210"/>
                      <a:pt x="1357" y="1217"/>
                    </a:cubicBezTo>
                    <a:cubicBezTo>
                      <a:pt x="1355" y="1222"/>
                      <a:pt x="1354" y="1228"/>
                      <a:pt x="1352" y="1235"/>
                    </a:cubicBezTo>
                    <a:cubicBezTo>
                      <a:pt x="1351" y="1240"/>
                      <a:pt x="1350" y="1244"/>
                      <a:pt x="1349" y="1247"/>
                    </a:cubicBezTo>
                    <a:cubicBezTo>
                      <a:pt x="1345" y="1258"/>
                      <a:pt x="1341" y="1266"/>
                      <a:pt x="1337" y="1271"/>
                    </a:cubicBezTo>
                    <a:cubicBezTo>
                      <a:pt x="1337" y="1272"/>
                      <a:pt x="1336" y="1273"/>
                      <a:pt x="1335" y="1274"/>
                    </a:cubicBezTo>
                    <a:cubicBezTo>
                      <a:pt x="1326" y="1282"/>
                      <a:pt x="1318" y="1291"/>
                      <a:pt x="1321" y="1300"/>
                    </a:cubicBezTo>
                    <a:cubicBezTo>
                      <a:pt x="1322" y="1303"/>
                      <a:pt x="1328" y="1315"/>
                      <a:pt x="1351" y="1316"/>
                    </a:cubicBezTo>
                    <a:cubicBezTo>
                      <a:pt x="1349" y="1325"/>
                      <a:pt x="1348" y="1343"/>
                      <a:pt x="1349" y="1355"/>
                    </a:cubicBezTo>
                    <a:cubicBezTo>
                      <a:pt x="1349" y="1357"/>
                      <a:pt x="1349" y="1357"/>
                      <a:pt x="1349" y="1357"/>
                    </a:cubicBezTo>
                    <a:cubicBezTo>
                      <a:pt x="1350" y="1375"/>
                      <a:pt x="1351" y="1384"/>
                      <a:pt x="1358" y="1389"/>
                    </a:cubicBezTo>
                    <a:cubicBezTo>
                      <a:pt x="1365" y="1392"/>
                      <a:pt x="1387" y="1395"/>
                      <a:pt x="1416" y="1392"/>
                    </a:cubicBezTo>
                    <a:cubicBezTo>
                      <a:pt x="1416" y="1442"/>
                      <a:pt x="1416" y="1442"/>
                      <a:pt x="1416" y="1442"/>
                    </a:cubicBezTo>
                    <a:cubicBezTo>
                      <a:pt x="1416" y="1446"/>
                      <a:pt x="1419" y="1449"/>
                      <a:pt x="1424" y="1449"/>
                    </a:cubicBezTo>
                    <a:cubicBezTo>
                      <a:pt x="1429" y="1449"/>
                      <a:pt x="1490" y="1449"/>
                      <a:pt x="1537" y="1429"/>
                    </a:cubicBezTo>
                    <a:cubicBezTo>
                      <a:pt x="1540" y="1428"/>
                      <a:pt x="1542" y="1425"/>
                      <a:pt x="1542" y="1422"/>
                    </a:cubicBezTo>
                    <a:cubicBezTo>
                      <a:pt x="1542" y="1350"/>
                      <a:pt x="1542" y="1350"/>
                      <a:pt x="1542" y="1350"/>
                    </a:cubicBezTo>
                    <a:cubicBezTo>
                      <a:pt x="1566" y="1325"/>
                      <a:pt x="1614" y="1262"/>
                      <a:pt x="1585" y="1199"/>
                    </a:cubicBezTo>
                    <a:cubicBezTo>
                      <a:pt x="1568" y="1164"/>
                      <a:pt x="1533" y="1123"/>
                      <a:pt x="1465" y="1123"/>
                    </a:cubicBezTo>
                    <a:close/>
                    <a:moveTo>
                      <a:pt x="617" y="1079"/>
                    </a:moveTo>
                    <a:cubicBezTo>
                      <a:pt x="617" y="1079"/>
                      <a:pt x="617" y="1079"/>
                      <a:pt x="617" y="1079"/>
                    </a:cubicBezTo>
                    <a:cubicBezTo>
                      <a:pt x="591" y="1034"/>
                      <a:pt x="579" y="983"/>
                      <a:pt x="580" y="931"/>
                    </a:cubicBezTo>
                    <a:cubicBezTo>
                      <a:pt x="581" y="914"/>
                      <a:pt x="583" y="897"/>
                      <a:pt x="587" y="880"/>
                    </a:cubicBezTo>
                    <a:cubicBezTo>
                      <a:pt x="589" y="869"/>
                      <a:pt x="583" y="858"/>
                      <a:pt x="573" y="854"/>
                    </a:cubicBezTo>
                    <a:cubicBezTo>
                      <a:pt x="560" y="850"/>
                      <a:pt x="547" y="858"/>
                      <a:pt x="544" y="870"/>
                    </a:cubicBezTo>
                    <a:cubicBezTo>
                      <a:pt x="540" y="890"/>
                      <a:pt x="537" y="910"/>
                      <a:pt x="536" y="930"/>
                    </a:cubicBezTo>
                    <a:cubicBezTo>
                      <a:pt x="535" y="983"/>
                      <a:pt x="546" y="1035"/>
                      <a:pt x="569" y="1082"/>
                    </a:cubicBezTo>
                    <a:cubicBezTo>
                      <a:pt x="472" y="1138"/>
                      <a:pt x="472" y="1138"/>
                      <a:pt x="472" y="1138"/>
                    </a:cubicBezTo>
                    <a:cubicBezTo>
                      <a:pt x="469" y="1133"/>
                      <a:pt x="465" y="1129"/>
                      <a:pt x="462" y="1125"/>
                    </a:cubicBezTo>
                    <a:cubicBezTo>
                      <a:pt x="462" y="1124"/>
                      <a:pt x="461" y="1124"/>
                      <a:pt x="461" y="1124"/>
                    </a:cubicBezTo>
                    <a:cubicBezTo>
                      <a:pt x="459" y="1121"/>
                      <a:pt x="457" y="1119"/>
                      <a:pt x="455" y="1117"/>
                    </a:cubicBezTo>
                    <a:cubicBezTo>
                      <a:pt x="455" y="1117"/>
                      <a:pt x="455" y="1117"/>
                      <a:pt x="455" y="1117"/>
                    </a:cubicBezTo>
                    <a:cubicBezTo>
                      <a:pt x="454" y="1115"/>
                      <a:pt x="453" y="1114"/>
                      <a:pt x="451" y="1112"/>
                    </a:cubicBezTo>
                    <a:cubicBezTo>
                      <a:pt x="450" y="1111"/>
                      <a:pt x="449" y="1110"/>
                      <a:pt x="448" y="1109"/>
                    </a:cubicBezTo>
                    <a:cubicBezTo>
                      <a:pt x="448" y="1109"/>
                      <a:pt x="447" y="1108"/>
                      <a:pt x="447" y="1108"/>
                    </a:cubicBezTo>
                    <a:cubicBezTo>
                      <a:pt x="400" y="1058"/>
                      <a:pt x="333" y="1027"/>
                      <a:pt x="259" y="1027"/>
                    </a:cubicBezTo>
                    <a:cubicBezTo>
                      <a:pt x="254" y="1027"/>
                      <a:pt x="250" y="1027"/>
                      <a:pt x="245" y="1027"/>
                    </a:cubicBezTo>
                    <a:cubicBezTo>
                      <a:pt x="245" y="1027"/>
                      <a:pt x="245" y="1027"/>
                      <a:pt x="245" y="1027"/>
                    </a:cubicBezTo>
                    <a:cubicBezTo>
                      <a:pt x="241" y="1027"/>
                      <a:pt x="237" y="1028"/>
                      <a:pt x="233" y="1028"/>
                    </a:cubicBezTo>
                    <a:cubicBezTo>
                      <a:pt x="232" y="1028"/>
                      <a:pt x="232" y="1028"/>
                      <a:pt x="232" y="1028"/>
                    </a:cubicBezTo>
                    <a:cubicBezTo>
                      <a:pt x="228" y="1029"/>
                      <a:pt x="225" y="1029"/>
                      <a:pt x="221" y="1030"/>
                    </a:cubicBezTo>
                    <a:cubicBezTo>
                      <a:pt x="220" y="1030"/>
                      <a:pt x="219" y="1030"/>
                      <a:pt x="218" y="1030"/>
                    </a:cubicBezTo>
                    <a:cubicBezTo>
                      <a:pt x="217" y="1030"/>
                      <a:pt x="216" y="1030"/>
                      <a:pt x="215" y="1031"/>
                    </a:cubicBezTo>
                    <a:cubicBezTo>
                      <a:pt x="213" y="1031"/>
                      <a:pt x="212" y="1031"/>
                      <a:pt x="210" y="1031"/>
                    </a:cubicBezTo>
                    <a:cubicBezTo>
                      <a:pt x="208" y="1032"/>
                      <a:pt x="206" y="1032"/>
                      <a:pt x="204" y="1033"/>
                    </a:cubicBezTo>
                    <a:cubicBezTo>
                      <a:pt x="203" y="1033"/>
                      <a:pt x="202" y="1033"/>
                      <a:pt x="201" y="1033"/>
                    </a:cubicBezTo>
                    <a:cubicBezTo>
                      <a:pt x="201" y="1033"/>
                      <a:pt x="200" y="1034"/>
                      <a:pt x="200" y="1034"/>
                    </a:cubicBezTo>
                    <a:cubicBezTo>
                      <a:pt x="197" y="1034"/>
                      <a:pt x="194" y="1035"/>
                      <a:pt x="191" y="1036"/>
                    </a:cubicBezTo>
                    <a:cubicBezTo>
                      <a:pt x="190" y="1036"/>
                      <a:pt x="190" y="1036"/>
                      <a:pt x="189" y="1036"/>
                    </a:cubicBezTo>
                    <a:cubicBezTo>
                      <a:pt x="189" y="1036"/>
                      <a:pt x="189" y="1036"/>
                      <a:pt x="189" y="1036"/>
                    </a:cubicBezTo>
                    <a:cubicBezTo>
                      <a:pt x="173" y="1041"/>
                      <a:pt x="157" y="1047"/>
                      <a:pt x="142" y="1055"/>
                    </a:cubicBezTo>
                    <a:cubicBezTo>
                      <a:pt x="142" y="1055"/>
                      <a:pt x="142" y="1055"/>
                      <a:pt x="142" y="1055"/>
                    </a:cubicBezTo>
                    <a:cubicBezTo>
                      <a:pt x="126" y="1063"/>
                      <a:pt x="112" y="1072"/>
                      <a:pt x="99" y="1082"/>
                    </a:cubicBezTo>
                    <a:cubicBezTo>
                      <a:pt x="99" y="1082"/>
                      <a:pt x="99" y="1082"/>
                      <a:pt x="99" y="1082"/>
                    </a:cubicBezTo>
                    <a:cubicBezTo>
                      <a:pt x="83" y="1095"/>
                      <a:pt x="69" y="1109"/>
                      <a:pt x="56" y="1125"/>
                    </a:cubicBezTo>
                    <a:cubicBezTo>
                      <a:pt x="56" y="1125"/>
                      <a:pt x="56" y="1125"/>
                      <a:pt x="56" y="1125"/>
                    </a:cubicBezTo>
                    <a:cubicBezTo>
                      <a:pt x="23" y="1167"/>
                      <a:pt x="2" y="1220"/>
                      <a:pt x="0" y="1278"/>
                    </a:cubicBezTo>
                    <a:cubicBezTo>
                      <a:pt x="0" y="1281"/>
                      <a:pt x="0" y="1283"/>
                      <a:pt x="0" y="1285"/>
                    </a:cubicBezTo>
                    <a:cubicBezTo>
                      <a:pt x="0" y="1288"/>
                      <a:pt x="0" y="1291"/>
                      <a:pt x="1" y="1294"/>
                    </a:cubicBezTo>
                    <a:cubicBezTo>
                      <a:pt x="1" y="1295"/>
                      <a:pt x="1" y="1297"/>
                      <a:pt x="1" y="1298"/>
                    </a:cubicBezTo>
                    <a:cubicBezTo>
                      <a:pt x="1" y="1298"/>
                      <a:pt x="1" y="1299"/>
                      <a:pt x="1" y="1299"/>
                    </a:cubicBezTo>
                    <a:cubicBezTo>
                      <a:pt x="1" y="1303"/>
                      <a:pt x="1" y="1307"/>
                      <a:pt x="2" y="1312"/>
                    </a:cubicBezTo>
                    <a:cubicBezTo>
                      <a:pt x="2" y="1312"/>
                      <a:pt x="2" y="1312"/>
                      <a:pt x="2" y="1312"/>
                    </a:cubicBezTo>
                    <a:cubicBezTo>
                      <a:pt x="10" y="1390"/>
                      <a:pt x="52" y="1458"/>
                      <a:pt x="114" y="1500"/>
                    </a:cubicBezTo>
                    <a:cubicBezTo>
                      <a:pt x="115" y="1501"/>
                      <a:pt x="115" y="1501"/>
                      <a:pt x="116" y="1501"/>
                    </a:cubicBezTo>
                    <a:cubicBezTo>
                      <a:pt x="118" y="1503"/>
                      <a:pt x="121" y="1505"/>
                      <a:pt x="124" y="1506"/>
                    </a:cubicBezTo>
                    <a:cubicBezTo>
                      <a:pt x="125" y="1507"/>
                      <a:pt x="126" y="1508"/>
                      <a:pt x="127" y="1508"/>
                    </a:cubicBezTo>
                    <a:cubicBezTo>
                      <a:pt x="129" y="1510"/>
                      <a:pt x="131" y="1511"/>
                      <a:pt x="134" y="1512"/>
                    </a:cubicBezTo>
                    <a:cubicBezTo>
                      <a:pt x="135" y="1513"/>
                      <a:pt x="136" y="1513"/>
                      <a:pt x="137" y="1514"/>
                    </a:cubicBezTo>
                    <a:cubicBezTo>
                      <a:pt x="140" y="1516"/>
                      <a:pt x="143" y="1517"/>
                      <a:pt x="147" y="1519"/>
                    </a:cubicBezTo>
                    <a:cubicBezTo>
                      <a:pt x="147" y="1519"/>
                      <a:pt x="148" y="1519"/>
                      <a:pt x="148" y="1520"/>
                    </a:cubicBezTo>
                    <a:cubicBezTo>
                      <a:pt x="151" y="1521"/>
                      <a:pt x="154" y="1522"/>
                      <a:pt x="157" y="1524"/>
                    </a:cubicBezTo>
                    <a:cubicBezTo>
                      <a:pt x="158" y="1524"/>
                      <a:pt x="159" y="1525"/>
                      <a:pt x="160" y="1525"/>
                    </a:cubicBezTo>
                    <a:cubicBezTo>
                      <a:pt x="163" y="1526"/>
                      <a:pt x="165" y="1527"/>
                      <a:pt x="168" y="1528"/>
                    </a:cubicBezTo>
                    <a:cubicBezTo>
                      <a:pt x="169" y="1529"/>
                      <a:pt x="170" y="1529"/>
                      <a:pt x="171" y="1529"/>
                    </a:cubicBezTo>
                    <a:cubicBezTo>
                      <a:pt x="175" y="1531"/>
                      <a:pt x="178" y="1532"/>
                      <a:pt x="182" y="1533"/>
                    </a:cubicBezTo>
                    <a:cubicBezTo>
                      <a:pt x="182" y="1533"/>
                      <a:pt x="183" y="1533"/>
                      <a:pt x="183" y="1533"/>
                    </a:cubicBezTo>
                    <a:cubicBezTo>
                      <a:pt x="186" y="1534"/>
                      <a:pt x="189" y="1535"/>
                      <a:pt x="193" y="1536"/>
                    </a:cubicBezTo>
                    <a:cubicBezTo>
                      <a:pt x="194" y="1536"/>
                      <a:pt x="195" y="1537"/>
                      <a:pt x="196" y="1537"/>
                    </a:cubicBezTo>
                    <a:cubicBezTo>
                      <a:pt x="199" y="1538"/>
                      <a:pt x="202" y="1538"/>
                      <a:pt x="204" y="1539"/>
                    </a:cubicBezTo>
                    <a:cubicBezTo>
                      <a:pt x="206" y="1539"/>
                      <a:pt x="207" y="1539"/>
                      <a:pt x="208" y="1540"/>
                    </a:cubicBezTo>
                    <a:cubicBezTo>
                      <a:pt x="212" y="1540"/>
                      <a:pt x="215" y="1541"/>
                      <a:pt x="219" y="1542"/>
                    </a:cubicBezTo>
                    <a:cubicBezTo>
                      <a:pt x="219" y="1542"/>
                      <a:pt x="220" y="1542"/>
                      <a:pt x="220" y="1542"/>
                    </a:cubicBezTo>
                    <a:cubicBezTo>
                      <a:pt x="223" y="1542"/>
                      <a:pt x="227" y="1543"/>
                      <a:pt x="231" y="1543"/>
                    </a:cubicBezTo>
                    <a:cubicBezTo>
                      <a:pt x="232" y="1543"/>
                      <a:pt x="233" y="1543"/>
                      <a:pt x="234" y="1544"/>
                    </a:cubicBezTo>
                    <a:cubicBezTo>
                      <a:pt x="237" y="1544"/>
                      <a:pt x="240" y="1544"/>
                      <a:pt x="243" y="1544"/>
                    </a:cubicBezTo>
                    <a:cubicBezTo>
                      <a:pt x="244" y="1544"/>
                      <a:pt x="245" y="1544"/>
                      <a:pt x="247" y="1544"/>
                    </a:cubicBezTo>
                    <a:cubicBezTo>
                      <a:pt x="251" y="1545"/>
                      <a:pt x="255" y="1545"/>
                      <a:pt x="259" y="1545"/>
                    </a:cubicBezTo>
                    <a:cubicBezTo>
                      <a:pt x="263" y="1545"/>
                      <a:pt x="268" y="1545"/>
                      <a:pt x="272" y="1544"/>
                    </a:cubicBezTo>
                    <a:cubicBezTo>
                      <a:pt x="273" y="1544"/>
                      <a:pt x="275" y="1544"/>
                      <a:pt x="276" y="1544"/>
                    </a:cubicBezTo>
                    <a:cubicBezTo>
                      <a:pt x="279" y="1544"/>
                      <a:pt x="283" y="1544"/>
                      <a:pt x="286" y="1543"/>
                    </a:cubicBezTo>
                    <a:cubicBezTo>
                      <a:pt x="287" y="1543"/>
                      <a:pt x="288" y="1543"/>
                      <a:pt x="289" y="1543"/>
                    </a:cubicBezTo>
                    <a:cubicBezTo>
                      <a:pt x="293" y="1542"/>
                      <a:pt x="296" y="1542"/>
                      <a:pt x="300" y="1541"/>
                    </a:cubicBezTo>
                    <a:cubicBezTo>
                      <a:pt x="300" y="1541"/>
                      <a:pt x="301" y="1541"/>
                      <a:pt x="302" y="1541"/>
                    </a:cubicBezTo>
                    <a:cubicBezTo>
                      <a:pt x="306" y="1540"/>
                      <a:pt x="309" y="1540"/>
                      <a:pt x="313" y="1539"/>
                    </a:cubicBezTo>
                    <a:cubicBezTo>
                      <a:pt x="314" y="1539"/>
                      <a:pt x="314" y="1539"/>
                      <a:pt x="315" y="1539"/>
                    </a:cubicBezTo>
                    <a:cubicBezTo>
                      <a:pt x="319" y="1538"/>
                      <a:pt x="322" y="1537"/>
                      <a:pt x="326" y="1536"/>
                    </a:cubicBezTo>
                    <a:cubicBezTo>
                      <a:pt x="327" y="1536"/>
                      <a:pt x="327" y="1536"/>
                      <a:pt x="327" y="1535"/>
                    </a:cubicBezTo>
                    <a:cubicBezTo>
                      <a:pt x="331" y="1534"/>
                      <a:pt x="335" y="1533"/>
                      <a:pt x="339" y="1532"/>
                    </a:cubicBezTo>
                    <a:cubicBezTo>
                      <a:pt x="339" y="1532"/>
                      <a:pt x="340" y="1532"/>
                      <a:pt x="340" y="1532"/>
                    </a:cubicBezTo>
                    <a:cubicBezTo>
                      <a:pt x="344" y="1530"/>
                      <a:pt x="348" y="1529"/>
                      <a:pt x="352" y="1527"/>
                    </a:cubicBezTo>
                    <a:cubicBezTo>
                      <a:pt x="352" y="1527"/>
                      <a:pt x="352" y="1527"/>
                      <a:pt x="352" y="1527"/>
                    </a:cubicBezTo>
                    <a:cubicBezTo>
                      <a:pt x="356" y="1526"/>
                      <a:pt x="360" y="1524"/>
                      <a:pt x="364" y="1522"/>
                    </a:cubicBezTo>
                    <a:cubicBezTo>
                      <a:pt x="364" y="1522"/>
                      <a:pt x="365" y="1522"/>
                      <a:pt x="365" y="1522"/>
                    </a:cubicBezTo>
                    <a:cubicBezTo>
                      <a:pt x="368" y="1520"/>
                      <a:pt x="372" y="1519"/>
                      <a:pt x="375" y="1517"/>
                    </a:cubicBezTo>
                    <a:cubicBezTo>
                      <a:pt x="376" y="1517"/>
                      <a:pt x="377" y="1516"/>
                      <a:pt x="378" y="1516"/>
                    </a:cubicBezTo>
                    <a:cubicBezTo>
                      <a:pt x="380" y="1514"/>
                      <a:pt x="383" y="1513"/>
                      <a:pt x="385" y="1512"/>
                    </a:cubicBezTo>
                    <a:cubicBezTo>
                      <a:pt x="386" y="1511"/>
                      <a:pt x="386" y="1511"/>
                      <a:pt x="387" y="1511"/>
                    </a:cubicBezTo>
                    <a:cubicBezTo>
                      <a:pt x="388" y="1510"/>
                      <a:pt x="389" y="1509"/>
                      <a:pt x="391" y="1509"/>
                    </a:cubicBezTo>
                    <a:cubicBezTo>
                      <a:pt x="392" y="1508"/>
                      <a:pt x="394" y="1507"/>
                      <a:pt x="395" y="1506"/>
                    </a:cubicBezTo>
                    <a:cubicBezTo>
                      <a:pt x="396" y="1505"/>
                      <a:pt x="398" y="1504"/>
                      <a:pt x="399" y="1503"/>
                    </a:cubicBezTo>
                    <a:cubicBezTo>
                      <a:pt x="400" y="1503"/>
                      <a:pt x="401" y="1502"/>
                      <a:pt x="403" y="1501"/>
                    </a:cubicBezTo>
                    <a:cubicBezTo>
                      <a:pt x="403" y="1501"/>
                      <a:pt x="404" y="1500"/>
                      <a:pt x="405" y="1500"/>
                    </a:cubicBezTo>
                    <a:cubicBezTo>
                      <a:pt x="405" y="1500"/>
                      <a:pt x="405" y="1500"/>
                      <a:pt x="405" y="1500"/>
                    </a:cubicBezTo>
                    <a:cubicBezTo>
                      <a:pt x="443" y="1474"/>
                      <a:pt x="473" y="1438"/>
                      <a:pt x="493" y="1396"/>
                    </a:cubicBezTo>
                    <a:cubicBezTo>
                      <a:pt x="495" y="1391"/>
                      <a:pt x="497" y="1387"/>
                      <a:pt x="499" y="1382"/>
                    </a:cubicBezTo>
                    <a:cubicBezTo>
                      <a:pt x="500" y="1381"/>
                      <a:pt x="500" y="1380"/>
                      <a:pt x="501" y="1379"/>
                    </a:cubicBezTo>
                    <a:cubicBezTo>
                      <a:pt x="502" y="1374"/>
                      <a:pt x="504" y="1369"/>
                      <a:pt x="505" y="1365"/>
                    </a:cubicBezTo>
                    <a:cubicBezTo>
                      <a:pt x="513" y="1340"/>
                      <a:pt x="518" y="1313"/>
                      <a:pt x="518" y="1285"/>
                    </a:cubicBezTo>
                    <a:cubicBezTo>
                      <a:pt x="518" y="1276"/>
                      <a:pt x="517" y="1266"/>
                      <a:pt x="516" y="1257"/>
                    </a:cubicBezTo>
                    <a:cubicBezTo>
                      <a:pt x="516" y="1256"/>
                      <a:pt x="516" y="1256"/>
                      <a:pt x="516" y="1256"/>
                    </a:cubicBezTo>
                    <a:cubicBezTo>
                      <a:pt x="516" y="1255"/>
                      <a:pt x="516" y="1254"/>
                      <a:pt x="516" y="1253"/>
                    </a:cubicBezTo>
                    <a:cubicBezTo>
                      <a:pt x="516" y="1251"/>
                      <a:pt x="515" y="1248"/>
                      <a:pt x="515" y="1246"/>
                    </a:cubicBezTo>
                    <a:cubicBezTo>
                      <a:pt x="515" y="1243"/>
                      <a:pt x="514" y="1240"/>
                      <a:pt x="514" y="1238"/>
                    </a:cubicBezTo>
                    <a:cubicBezTo>
                      <a:pt x="513" y="1237"/>
                      <a:pt x="513" y="1236"/>
                      <a:pt x="513" y="1235"/>
                    </a:cubicBezTo>
                    <a:cubicBezTo>
                      <a:pt x="512" y="1231"/>
                      <a:pt x="511" y="1227"/>
                      <a:pt x="510" y="1222"/>
                    </a:cubicBezTo>
                    <a:cubicBezTo>
                      <a:pt x="510" y="1221"/>
                      <a:pt x="510" y="1219"/>
                      <a:pt x="509" y="1218"/>
                    </a:cubicBezTo>
                    <a:cubicBezTo>
                      <a:pt x="509" y="1216"/>
                      <a:pt x="508" y="1214"/>
                      <a:pt x="508" y="1212"/>
                    </a:cubicBezTo>
                    <a:cubicBezTo>
                      <a:pt x="507" y="1209"/>
                      <a:pt x="506" y="1207"/>
                      <a:pt x="505" y="1205"/>
                    </a:cubicBezTo>
                    <a:cubicBezTo>
                      <a:pt x="505" y="1203"/>
                      <a:pt x="504" y="1201"/>
                      <a:pt x="504" y="1200"/>
                    </a:cubicBezTo>
                    <a:cubicBezTo>
                      <a:pt x="503" y="1197"/>
                      <a:pt x="501" y="1193"/>
                      <a:pt x="500" y="1190"/>
                    </a:cubicBezTo>
                    <a:cubicBezTo>
                      <a:pt x="500" y="1189"/>
                      <a:pt x="499" y="1188"/>
                      <a:pt x="499" y="1187"/>
                    </a:cubicBezTo>
                    <a:cubicBezTo>
                      <a:pt x="497" y="1183"/>
                      <a:pt x="496" y="1180"/>
                      <a:pt x="494" y="1176"/>
                    </a:cubicBezTo>
                    <a:cubicBezTo>
                      <a:pt x="542" y="1149"/>
                      <a:pt x="580" y="1126"/>
                      <a:pt x="611" y="1109"/>
                    </a:cubicBezTo>
                    <a:cubicBezTo>
                      <a:pt x="621" y="1103"/>
                      <a:pt x="624" y="1091"/>
                      <a:pt x="619" y="1081"/>
                    </a:cubicBezTo>
                    <a:cubicBezTo>
                      <a:pt x="618" y="1081"/>
                      <a:pt x="618" y="1080"/>
                      <a:pt x="617" y="1079"/>
                    </a:cubicBezTo>
                    <a:close/>
                    <a:moveTo>
                      <a:pt x="464" y="1351"/>
                    </a:moveTo>
                    <a:cubicBezTo>
                      <a:pt x="462" y="1355"/>
                      <a:pt x="461" y="1359"/>
                      <a:pt x="459" y="1363"/>
                    </a:cubicBezTo>
                    <a:cubicBezTo>
                      <a:pt x="459" y="1364"/>
                      <a:pt x="459" y="1365"/>
                      <a:pt x="458" y="1366"/>
                    </a:cubicBezTo>
                    <a:cubicBezTo>
                      <a:pt x="457" y="1370"/>
                      <a:pt x="455" y="1373"/>
                      <a:pt x="453" y="1377"/>
                    </a:cubicBezTo>
                    <a:cubicBezTo>
                      <a:pt x="437" y="1411"/>
                      <a:pt x="412" y="1441"/>
                      <a:pt x="381" y="1463"/>
                    </a:cubicBezTo>
                    <a:cubicBezTo>
                      <a:pt x="380" y="1463"/>
                      <a:pt x="380" y="1463"/>
                      <a:pt x="380" y="1463"/>
                    </a:cubicBezTo>
                    <a:cubicBezTo>
                      <a:pt x="379" y="1464"/>
                      <a:pt x="379" y="1464"/>
                      <a:pt x="379" y="1464"/>
                    </a:cubicBezTo>
                    <a:cubicBezTo>
                      <a:pt x="379" y="1464"/>
                      <a:pt x="378" y="1464"/>
                      <a:pt x="378" y="1464"/>
                    </a:cubicBezTo>
                    <a:cubicBezTo>
                      <a:pt x="378" y="1465"/>
                      <a:pt x="377" y="1465"/>
                      <a:pt x="377" y="1465"/>
                    </a:cubicBezTo>
                    <a:cubicBezTo>
                      <a:pt x="376" y="1466"/>
                      <a:pt x="376" y="1466"/>
                      <a:pt x="375" y="1466"/>
                    </a:cubicBezTo>
                    <a:cubicBezTo>
                      <a:pt x="374" y="1467"/>
                      <a:pt x="374" y="1467"/>
                      <a:pt x="374" y="1467"/>
                    </a:cubicBezTo>
                    <a:cubicBezTo>
                      <a:pt x="373" y="1468"/>
                      <a:pt x="373" y="1468"/>
                      <a:pt x="372" y="1468"/>
                    </a:cubicBezTo>
                    <a:cubicBezTo>
                      <a:pt x="371" y="1469"/>
                      <a:pt x="369" y="1470"/>
                      <a:pt x="368" y="1471"/>
                    </a:cubicBezTo>
                    <a:cubicBezTo>
                      <a:pt x="367" y="1471"/>
                      <a:pt x="367" y="1472"/>
                      <a:pt x="366" y="1472"/>
                    </a:cubicBezTo>
                    <a:cubicBezTo>
                      <a:pt x="365" y="1472"/>
                      <a:pt x="365" y="1472"/>
                      <a:pt x="365" y="1472"/>
                    </a:cubicBezTo>
                    <a:cubicBezTo>
                      <a:pt x="364" y="1473"/>
                      <a:pt x="364" y="1473"/>
                      <a:pt x="364" y="1473"/>
                    </a:cubicBezTo>
                    <a:cubicBezTo>
                      <a:pt x="364" y="1473"/>
                      <a:pt x="364" y="1473"/>
                      <a:pt x="364" y="1473"/>
                    </a:cubicBezTo>
                    <a:cubicBezTo>
                      <a:pt x="362" y="1474"/>
                      <a:pt x="360" y="1475"/>
                      <a:pt x="358" y="1476"/>
                    </a:cubicBezTo>
                    <a:cubicBezTo>
                      <a:pt x="357" y="1477"/>
                      <a:pt x="356" y="1477"/>
                      <a:pt x="355" y="1478"/>
                    </a:cubicBezTo>
                    <a:cubicBezTo>
                      <a:pt x="352" y="1479"/>
                      <a:pt x="350" y="1480"/>
                      <a:pt x="347" y="1482"/>
                    </a:cubicBezTo>
                    <a:cubicBezTo>
                      <a:pt x="346" y="1482"/>
                      <a:pt x="346" y="1482"/>
                      <a:pt x="346" y="1482"/>
                    </a:cubicBezTo>
                    <a:cubicBezTo>
                      <a:pt x="343" y="1483"/>
                      <a:pt x="340" y="1485"/>
                      <a:pt x="336" y="1486"/>
                    </a:cubicBezTo>
                    <a:cubicBezTo>
                      <a:pt x="336" y="1486"/>
                      <a:pt x="336" y="1486"/>
                      <a:pt x="336" y="1486"/>
                    </a:cubicBezTo>
                    <a:cubicBezTo>
                      <a:pt x="336" y="1486"/>
                      <a:pt x="336" y="1486"/>
                      <a:pt x="336" y="1486"/>
                    </a:cubicBezTo>
                    <a:cubicBezTo>
                      <a:pt x="332" y="1488"/>
                      <a:pt x="329" y="1489"/>
                      <a:pt x="326" y="1490"/>
                    </a:cubicBezTo>
                    <a:cubicBezTo>
                      <a:pt x="325" y="1490"/>
                      <a:pt x="325" y="1490"/>
                      <a:pt x="325" y="1490"/>
                    </a:cubicBezTo>
                    <a:cubicBezTo>
                      <a:pt x="322" y="1491"/>
                      <a:pt x="319" y="1492"/>
                      <a:pt x="316" y="1493"/>
                    </a:cubicBezTo>
                    <a:cubicBezTo>
                      <a:pt x="315" y="1493"/>
                      <a:pt x="315" y="1493"/>
                      <a:pt x="315" y="1493"/>
                    </a:cubicBezTo>
                    <a:cubicBezTo>
                      <a:pt x="312" y="1494"/>
                      <a:pt x="309" y="1495"/>
                      <a:pt x="305" y="1496"/>
                    </a:cubicBezTo>
                    <a:cubicBezTo>
                      <a:pt x="305" y="1496"/>
                      <a:pt x="304" y="1496"/>
                      <a:pt x="304" y="1496"/>
                    </a:cubicBezTo>
                    <a:cubicBezTo>
                      <a:pt x="304" y="1496"/>
                      <a:pt x="304" y="1496"/>
                      <a:pt x="304" y="1496"/>
                    </a:cubicBezTo>
                    <a:cubicBezTo>
                      <a:pt x="301" y="1496"/>
                      <a:pt x="298" y="1497"/>
                      <a:pt x="295" y="1498"/>
                    </a:cubicBezTo>
                    <a:cubicBezTo>
                      <a:pt x="294" y="1498"/>
                      <a:pt x="293" y="1498"/>
                      <a:pt x="293" y="1498"/>
                    </a:cubicBezTo>
                    <a:cubicBezTo>
                      <a:pt x="293" y="1498"/>
                      <a:pt x="293" y="1498"/>
                      <a:pt x="293" y="1498"/>
                    </a:cubicBezTo>
                    <a:cubicBezTo>
                      <a:pt x="290" y="1498"/>
                      <a:pt x="287" y="1499"/>
                      <a:pt x="284" y="1499"/>
                    </a:cubicBezTo>
                    <a:cubicBezTo>
                      <a:pt x="283" y="1499"/>
                      <a:pt x="283" y="1499"/>
                      <a:pt x="282" y="1499"/>
                    </a:cubicBezTo>
                    <a:cubicBezTo>
                      <a:pt x="281" y="1499"/>
                      <a:pt x="281" y="1499"/>
                      <a:pt x="281" y="1499"/>
                    </a:cubicBezTo>
                    <a:cubicBezTo>
                      <a:pt x="279" y="1500"/>
                      <a:pt x="276" y="1500"/>
                      <a:pt x="273" y="1500"/>
                    </a:cubicBezTo>
                    <a:cubicBezTo>
                      <a:pt x="272" y="1500"/>
                      <a:pt x="271" y="1500"/>
                      <a:pt x="270" y="1500"/>
                    </a:cubicBezTo>
                    <a:cubicBezTo>
                      <a:pt x="270" y="1500"/>
                      <a:pt x="270" y="1500"/>
                      <a:pt x="270" y="1500"/>
                    </a:cubicBezTo>
                    <a:cubicBezTo>
                      <a:pt x="266" y="1501"/>
                      <a:pt x="262" y="1501"/>
                      <a:pt x="259" y="1501"/>
                    </a:cubicBezTo>
                    <a:cubicBezTo>
                      <a:pt x="256" y="1501"/>
                      <a:pt x="252" y="1501"/>
                      <a:pt x="249" y="1500"/>
                    </a:cubicBezTo>
                    <a:cubicBezTo>
                      <a:pt x="248" y="1500"/>
                      <a:pt x="247" y="1500"/>
                      <a:pt x="247" y="1500"/>
                    </a:cubicBezTo>
                    <a:cubicBezTo>
                      <a:pt x="246" y="1500"/>
                      <a:pt x="246" y="1500"/>
                      <a:pt x="246" y="1500"/>
                    </a:cubicBezTo>
                    <a:cubicBezTo>
                      <a:pt x="243" y="1500"/>
                      <a:pt x="241" y="1500"/>
                      <a:pt x="239" y="1500"/>
                    </a:cubicBezTo>
                    <a:cubicBezTo>
                      <a:pt x="238" y="1500"/>
                      <a:pt x="238" y="1500"/>
                      <a:pt x="238" y="1500"/>
                    </a:cubicBezTo>
                    <a:cubicBezTo>
                      <a:pt x="237" y="1500"/>
                      <a:pt x="236" y="1500"/>
                      <a:pt x="236" y="1499"/>
                    </a:cubicBezTo>
                    <a:cubicBezTo>
                      <a:pt x="232" y="1499"/>
                      <a:pt x="229" y="1499"/>
                      <a:pt x="226" y="1498"/>
                    </a:cubicBezTo>
                    <a:cubicBezTo>
                      <a:pt x="226" y="1498"/>
                      <a:pt x="226" y="1498"/>
                      <a:pt x="226" y="1498"/>
                    </a:cubicBezTo>
                    <a:cubicBezTo>
                      <a:pt x="223" y="1498"/>
                      <a:pt x="220" y="1497"/>
                      <a:pt x="217" y="1497"/>
                    </a:cubicBezTo>
                    <a:cubicBezTo>
                      <a:pt x="216" y="1496"/>
                      <a:pt x="215" y="1496"/>
                      <a:pt x="215" y="1496"/>
                    </a:cubicBezTo>
                    <a:cubicBezTo>
                      <a:pt x="214" y="1496"/>
                      <a:pt x="214" y="1496"/>
                      <a:pt x="214" y="1496"/>
                    </a:cubicBezTo>
                    <a:cubicBezTo>
                      <a:pt x="211" y="1495"/>
                      <a:pt x="209" y="1495"/>
                      <a:pt x="207" y="1494"/>
                    </a:cubicBezTo>
                    <a:cubicBezTo>
                      <a:pt x="206" y="1494"/>
                      <a:pt x="206" y="1494"/>
                      <a:pt x="206" y="1494"/>
                    </a:cubicBezTo>
                    <a:cubicBezTo>
                      <a:pt x="206" y="1494"/>
                      <a:pt x="205" y="1494"/>
                      <a:pt x="204" y="1494"/>
                    </a:cubicBezTo>
                    <a:cubicBezTo>
                      <a:pt x="201" y="1493"/>
                      <a:pt x="198" y="1492"/>
                      <a:pt x="196" y="1491"/>
                    </a:cubicBezTo>
                    <a:cubicBezTo>
                      <a:pt x="195" y="1491"/>
                      <a:pt x="195" y="1491"/>
                      <a:pt x="195" y="1491"/>
                    </a:cubicBezTo>
                    <a:cubicBezTo>
                      <a:pt x="192" y="1490"/>
                      <a:pt x="189" y="1489"/>
                      <a:pt x="186" y="1488"/>
                    </a:cubicBezTo>
                    <a:cubicBezTo>
                      <a:pt x="186" y="1488"/>
                      <a:pt x="185" y="1488"/>
                      <a:pt x="184" y="1487"/>
                    </a:cubicBezTo>
                    <a:cubicBezTo>
                      <a:pt x="183" y="1487"/>
                      <a:pt x="183" y="1487"/>
                      <a:pt x="183" y="1487"/>
                    </a:cubicBezTo>
                    <a:cubicBezTo>
                      <a:pt x="181" y="1486"/>
                      <a:pt x="179" y="1485"/>
                      <a:pt x="177" y="1485"/>
                    </a:cubicBezTo>
                    <a:cubicBezTo>
                      <a:pt x="177" y="1484"/>
                      <a:pt x="177" y="1484"/>
                      <a:pt x="177" y="1484"/>
                    </a:cubicBezTo>
                    <a:cubicBezTo>
                      <a:pt x="176" y="1484"/>
                      <a:pt x="175" y="1484"/>
                      <a:pt x="174" y="1483"/>
                    </a:cubicBezTo>
                    <a:cubicBezTo>
                      <a:pt x="172" y="1482"/>
                      <a:pt x="169" y="1481"/>
                      <a:pt x="167" y="1480"/>
                    </a:cubicBezTo>
                    <a:cubicBezTo>
                      <a:pt x="167" y="1480"/>
                      <a:pt x="166" y="1480"/>
                      <a:pt x="166" y="1479"/>
                    </a:cubicBezTo>
                    <a:cubicBezTo>
                      <a:pt x="163" y="1478"/>
                      <a:pt x="161" y="1477"/>
                      <a:pt x="158" y="1475"/>
                    </a:cubicBezTo>
                    <a:cubicBezTo>
                      <a:pt x="157" y="1475"/>
                      <a:pt x="157" y="1475"/>
                      <a:pt x="156" y="1474"/>
                    </a:cubicBezTo>
                    <a:cubicBezTo>
                      <a:pt x="155" y="1474"/>
                      <a:pt x="155" y="1474"/>
                      <a:pt x="155" y="1474"/>
                    </a:cubicBezTo>
                    <a:cubicBezTo>
                      <a:pt x="153" y="1473"/>
                      <a:pt x="151" y="1472"/>
                      <a:pt x="150" y="1471"/>
                    </a:cubicBezTo>
                    <a:cubicBezTo>
                      <a:pt x="149" y="1470"/>
                      <a:pt x="149" y="1470"/>
                      <a:pt x="149" y="1470"/>
                    </a:cubicBezTo>
                    <a:cubicBezTo>
                      <a:pt x="148" y="1470"/>
                      <a:pt x="147" y="1469"/>
                      <a:pt x="147" y="1469"/>
                    </a:cubicBezTo>
                    <a:cubicBezTo>
                      <a:pt x="145" y="1468"/>
                      <a:pt x="142" y="1466"/>
                      <a:pt x="140" y="1465"/>
                    </a:cubicBezTo>
                    <a:cubicBezTo>
                      <a:pt x="140" y="1464"/>
                      <a:pt x="139" y="1464"/>
                      <a:pt x="139" y="1464"/>
                    </a:cubicBezTo>
                    <a:cubicBezTo>
                      <a:pt x="139" y="1464"/>
                      <a:pt x="139" y="1464"/>
                      <a:pt x="139" y="1464"/>
                    </a:cubicBezTo>
                    <a:cubicBezTo>
                      <a:pt x="86" y="1428"/>
                      <a:pt x="52" y="1371"/>
                      <a:pt x="45" y="1308"/>
                    </a:cubicBezTo>
                    <a:cubicBezTo>
                      <a:pt x="45" y="1308"/>
                      <a:pt x="45" y="1308"/>
                      <a:pt x="45" y="1308"/>
                    </a:cubicBezTo>
                    <a:cubicBezTo>
                      <a:pt x="45" y="1307"/>
                      <a:pt x="45" y="1307"/>
                      <a:pt x="45" y="1307"/>
                    </a:cubicBezTo>
                    <a:cubicBezTo>
                      <a:pt x="45" y="1304"/>
                      <a:pt x="45" y="1300"/>
                      <a:pt x="45" y="1297"/>
                    </a:cubicBezTo>
                    <a:cubicBezTo>
                      <a:pt x="45" y="1296"/>
                      <a:pt x="45" y="1296"/>
                      <a:pt x="45" y="1296"/>
                    </a:cubicBezTo>
                    <a:cubicBezTo>
                      <a:pt x="45" y="1296"/>
                      <a:pt x="45" y="1295"/>
                      <a:pt x="45" y="1295"/>
                    </a:cubicBezTo>
                    <a:cubicBezTo>
                      <a:pt x="44" y="1293"/>
                      <a:pt x="44" y="1293"/>
                      <a:pt x="44" y="1293"/>
                    </a:cubicBezTo>
                    <a:cubicBezTo>
                      <a:pt x="44" y="1293"/>
                      <a:pt x="44" y="1293"/>
                      <a:pt x="44" y="1293"/>
                    </a:cubicBezTo>
                    <a:cubicBezTo>
                      <a:pt x="44" y="1292"/>
                      <a:pt x="44" y="1292"/>
                      <a:pt x="44" y="1292"/>
                    </a:cubicBezTo>
                    <a:cubicBezTo>
                      <a:pt x="44" y="1291"/>
                      <a:pt x="44" y="1291"/>
                      <a:pt x="44" y="1291"/>
                    </a:cubicBezTo>
                    <a:cubicBezTo>
                      <a:pt x="44" y="1289"/>
                      <a:pt x="44" y="1287"/>
                      <a:pt x="44" y="1285"/>
                    </a:cubicBezTo>
                    <a:cubicBezTo>
                      <a:pt x="44" y="1284"/>
                      <a:pt x="44" y="1283"/>
                      <a:pt x="44" y="1282"/>
                    </a:cubicBezTo>
                    <a:cubicBezTo>
                      <a:pt x="44" y="1279"/>
                      <a:pt x="44" y="1279"/>
                      <a:pt x="44" y="1279"/>
                    </a:cubicBezTo>
                    <a:cubicBezTo>
                      <a:pt x="46" y="1233"/>
                      <a:pt x="62" y="1189"/>
                      <a:pt x="90" y="1152"/>
                    </a:cubicBezTo>
                    <a:cubicBezTo>
                      <a:pt x="90" y="1152"/>
                      <a:pt x="90" y="1152"/>
                      <a:pt x="90" y="1152"/>
                    </a:cubicBezTo>
                    <a:cubicBezTo>
                      <a:pt x="91" y="1152"/>
                      <a:pt x="91" y="1152"/>
                      <a:pt x="91" y="1152"/>
                    </a:cubicBezTo>
                    <a:cubicBezTo>
                      <a:pt x="101" y="1139"/>
                      <a:pt x="113" y="1127"/>
                      <a:pt x="126" y="1117"/>
                    </a:cubicBezTo>
                    <a:cubicBezTo>
                      <a:pt x="126" y="1117"/>
                      <a:pt x="126" y="1117"/>
                      <a:pt x="126" y="1117"/>
                    </a:cubicBezTo>
                    <a:cubicBezTo>
                      <a:pt x="126" y="1117"/>
                      <a:pt x="126" y="1117"/>
                      <a:pt x="126" y="1117"/>
                    </a:cubicBezTo>
                    <a:cubicBezTo>
                      <a:pt x="137" y="1108"/>
                      <a:pt x="149" y="1100"/>
                      <a:pt x="162" y="1094"/>
                    </a:cubicBezTo>
                    <a:cubicBezTo>
                      <a:pt x="174" y="1088"/>
                      <a:pt x="188" y="1082"/>
                      <a:pt x="201" y="1079"/>
                    </a:cubicBezTo>
                    <a:cubicBezTo>
                      <a:pt x="201" y="1079"/>
                      <a:pt x="201" y="1079"/>
                      <a:pt x="201" y="1079"/>
                    </a:cubicBezTo>
                    <a:cubicBezTo>
                      <a:pt x="201" y="1079"/>
                      <a:pt x="201" y="1079"/>
                      <a:pt x="201" y="1079"/>
                    </a:cubicBezTo>
                    <a:cubicBezTo>
                      <a:pt x="201" y="1079"/>
                      <a:pt x="201" y="1079"/>
                      <a:pt x="201" y="1079"/>
                    </a:cubicBezTo>
                    <a:cubicBezTo>
                      <a:pt x="202" y="1079"/>
                      <a:pt x="202" y="1079"/>
                      <a:pt x="202" y="1079"/>
                    </a:cubicBezTo>
                    <a:cubicBezTo>
                      <a:pt x="202" y="1079"/>
                      <a:pt x="202" y="1079"/>
                      <a:pt x="202" y="1079"/>
                    </a:cubicBezTo>
                    <a:cubicBezTo>
                      <a:pt x="202" y="1078"/>
                      <a:pt x="202" y="1078"/>
                      <a:pt x="202" y="1078"/>
                    </a:cubicBezTo>
                    <a:cubicBezTo>
                      <a:pt x="202" y="1078"/>
                      <a:pt x="202" y="1078"/>
                      <a:pt x="202" y="1078"/>
                    </a:cubicBezTo>
                    <a:cubicBezTo>
                      <a:pt x="205" y="1078"/>
                      <a:pt x="207" y="1077"/>
                      <a:pt x="210" y="1076"/>
                    </a:cubicBezTo>
                    <a:cubicBezTo>
                      <a:pt x="211" y="1076"/>
                      <a:pt x="211" y="1076"/>
                      <a:pt x="211" y="1076"/>
                    </a:cubicBezTo>
                    <a:cubicBezTo>
                      <a:pt x="211" y="1076"/>
                      <a:pt x="211" y="1076"/>
                      <a:pt x="211" y="1076"/>
                    </a:cubicBezTo>
                    <a:cubicBezTo>
                      <a:pt x="211" y="1076"/>
                      <a:pt x="211" y="1076"/>
                      <a:pt x="211" y="1076"/>
                    </a:cubicBezTo>
                    <a:cubicBezTo>
                      <a:pt x="212" y="1076"/>
                      <a:pt x="212" y="1076"/>
                      <a:pt x="212" y="1076"/>
                    </a:cubicBezTo>
                    <a:cubicBezTo>
                      <a:pt x="212" y="1076"/>
                      <a:pt x="213" y="1076"/>
                      <a:pt x="213" y="1076"/>
                    </a:cubicBezTo>
                    <a:cubicBezTo>
                      <a:pt x="215" y="1075"/>
                      <a:pt x="217" y="1075"/>
                      <a:pt x="219" y="1075"/>
                    </a:cubicBezTo>
                    <a:cubicBezTo>
                      <a:pt x="220" y="1074"/>
                      <a:pt x="221" y="1074"/>
                      <a:pt x="222" y="1074"/>
                    </a:cubicBezTo>
                    <a:cubicBezTo>
                      <a:pt x="222" y="1074"/>
                      <a:pt x="222" y="1074"/>
                      <a:pt x="222" y="1074"/>
                    </a:cubicBezTo>
                    <a:cubicBezTo>
                      <a:pt x="222" y="1074"/>
                      <a:pt x="222" y="1074"/>
                      <a:pt x="222" y="1074"/>
                    </a:cubicBezTo>
                    <a:cubicBezTo>
                      <a:pt x="224" y="1074"/>
                      <a:pt x="224" y="1074"/>
                      <a:pt x="224" y="1074"/>
                    </a:cubicBezTo>
                    <a:cubicBezTo>
                      <a:pt x="224" y="1074"/>
                      <a:pt x="224" y="1074"/>
                      <a:pt x="225" y="1073"/>
                    </a:cubicBezTo>
                    <a:cubicBezTo>
                      <a:pt x="226" y="1073"/>
                      <a:pt x="226" y="1073"/>
                      <a:pt x="227" y="1073"/>
                    </a:cubicBezTo>
                    <a:cubicBezTo>
                      <a:pt x="228" y="1073"/>
                      <a:pt x="228" y="1073"/>
                      <a:pt x="228" y="1073"/>
                    </a:cubicBezTo>
                    <a:cubicBezTo>
                      <a:pt x="231" y="1073"/>
                      <a:pt x="234" y="1072"/>
                      <a:pt x="236" y="1072"/>
                    </a:cubicBezTo>
                    <a:cubicBezTo>
                      <a:pt x="237" y="1072"/>
                      <a:pt x="237" y="1072"/>
                      <a:pt x="237" y="1072"/>
                    </a:cubicBezTo>
                    <a:cubicBezTo>
                      <a:pt x="237" y="1072"/>
                      <a:pt x="237" y="1072"/>
                      <a:pt x="237" y="1072"/>
                    </a:cubicBezTo>
                    <a:cubicBezTo>
                      <a:pt x="237" y="1072"/>
                      <a:pt x="237" y="1072"/>
                      <a:pt x="237" y="1072"/>
                    </a:cubicBezTo>
                    <a:cubicBezTo>
                      <a:pt x="241" y="1072"/>
                      <a:pt x="244" y="1071"/>
                      <a:pt x="247" y="1071"/>
                    </a:cubicBezTo>
                    <a:cubicBezTo>
                      <a:pt x="248" y="1071"/>
                      <a:pt x="248" y="1071"/>
                      <a:pt x="248" y="1071"/>
                    </a:cubicBezTo>
                    <a:cubicBezTo>
                      <a:pt x="248" y="1071"/>
                      <a:pt x="248" y="1071"/>
                      <a:pt x="248" y="1071"/>
                    </a:cubicBezTo>
                    <a:cubicBezTo>
                      <a:pt x="251" y="1071"/>
                      <a:pt x="255" y="1071"/>
                      <a:pt x="259" y="1071"/>
                    </a:cubicBezTo>
                    <a:cubicBezTo>
                      <a:pt x="318" y="1071"/>
                      <a:pt x="374" y="1095"/>
                      <a:pt x="415" y="1138"/>
                    </a:cubicBezTo>
                    <a:cubicBezTo>
                      <a:pt x="415" y="1138"/>
                      <a:pt x="415" y="1138"/>
                      <a:pt x="415" y="1138"/>
                    </a:cubicBezTo>
                    <a:cubicBezTo>
                      <a:pt x="416" y="1139"/>
                      <a:pt x="416" y="1139"/>
                      <a:pt x="416" y="1139"/>
                    </a:cubicBezTo>
                    <a:cubicBezTo>
                      <a:pt x="416" y="1139"/>
                      <a:pt x="416" y="1139"/>
                      <a:pt x="416" y="1139"/>
                    </a:cubicBezTo>
                    <a:cubicBezTo>
                      <a:pt x="416" y="1139"/>
                      <a:pt x="416" y="1139"/>
                      <a:pt x="416" y="1139"/>
                    </a:cubicBezTo>
                    <a:cubicBezTo>
                      <a:pt x="417" y="1140"/>
                      <a:pt x="418" y="1141"/>
                      <a:pt x="418" y="1142"/>
                    </a:cubicBezTo>
                    <a:cubicBezTo>
                      <a:pt x="418" y="1142"/>
                      <a:pt x="418" y="1142"/>
                      <a:pt x="418" y="1142"/>
                    </a:cubicBezTo>
                    <a:cubicBezTo>
                      <a:pt x="420" y="1143"/>
                      <a:pt x="421" y="1144"/>
                      <a:pt x="422" y="1145"/>
                    </a:cubicBezTo>
                    <a:cubicBezTo>
                      <a:pt x="422" y="1146"/>
                      <a:pt x="422" y="1146"/>
                      <a:pt x="422" y="1146"/>
                    </a:cubicBezTo>
                    <a:cubicBezTo>
                      <a:pt x="422" y="1146"/>
                      <a:pt x="422" y="1146"/>
                      <a:pt x="422" y="1146"/>
                    </a:cubicBezTo>
                    <a:cubicBezTo>
                      <a:pt x="424" y="1148"/>
                      <a:pt x="425" y="1149"/>
                      <a:pt x="427" y="1151"/>
                    </a:cubicBezTo>
                    <a:cubicBezTo>
                      <a:pt x="427" y="1152"/>
                      <a:pt x="427" y="1152"/>
                      <a:pt x="427" y="1152"/>
                    </a:cubicBezTo>
                    <a:cubicBezTo>
                      <a:pt x="428" y="1152"/>
                      <a:pt x="428" y="1152"/>
                      <a:pt x="428" y="1152"/>
                    </a:cubicBezTo>
                    <a:cubicBezTo>
                      <a:pt x="430" y="1155"/>
                      <a:pt x="433" y="1159"/>
                      <a:pt x="435" y="1162"/>
                    </a:cubicBezTo>
                    <a:cubicBezTo>
                      <a:pt x="435" y="1163"/>
                      <a:pt x="435" y="1163"/>
                      <a:pt x="435" y="1163"/>
                    </a:cubicBezTo>
                    <a:cubicBezTo>
                      <a:pt x="436" y="1164"/>
                      <a:pt x="436" y="1164"/>
                      <a:pt x="436" y="1164"/>
                    </a:cubicBezTo>
                    <a:cubicBezTo>
                      <a:pt x="443" y="1173"/>
                      <a:pt x="448" y="1183"/>
                      <a:pt x="453" y="1193"/>
                    </a:cubicBezTo>
                    <a:cubicBezTo>
                      <a:pt x="454" y="1195"/>
                      <a:pt x="454" y="1195"/>
                      <a:pt x="454" y="1195"/>
                    </a:cubicBezTo>
                    <a:cubicBezTo>
                      <a:pt x="455" y="1196"/>
                      <a:pt x="455" y="1196"/>
                      <a:pt x="455" y="1196"/>
                    </a:cubicBezTo>
                    <a:cubicBezTo>
                      <a:pt x="455" y="1197"/>
                      <a:pt x="455" y="1197"/>
                      <a:pt x="455" y="1197"/>
                    </a:cubicBezTo>
                    <a:cubicBezTo>
                      <a:pt x="456" y="1199"/>
                      <a:pt x="457" y="1201"/>
                      <a:pt x="458" y="1204"/>
                    </a:cubicBezTo>
                    <a:cubicBezTo>
                      <a:pt x="459" y="1205"/>
                      <a:pt x="459" y="1206"/>
                      <a:pt x="459" y="1207"/>
                    </a:cubicBezTo>
                    <a:cubicBezTo>
                      <a:pt x="460" y="1209"/>
                      <a:pt x="461" y="1212"/>
                      <a:pt x="462" y="1214"/>
                    </a:cubicBezTo>
                    <a:cubicBezTo>
                      <a:pt x="463" y="1216"/>
                      <a:pt x="463" y="1217"/>
                      <a:pt x="464" y="1218"/>
                    </a:cubicBezTo>
                    <a:cubicBezTo>
                      <a:pt x="464" y="1220"/>
                      <a:pt x="465" y="1222"/>
                      <a:pt x="465" y="1224"/>
                    </a:cubicBezTo>
                    <a:cubicBezTo>
                      <a:pt x="466" y="1226"/>
                      <a:pt x="466" y="1227"/>
                      <a:pt x="467" y="1229"/>
                    </a:cubicBezTo>
                    <a:cubicBezTo>
                      <a:pt x="467" y="1230"/>
                      <a:pt x="467" y="1231"/>
                      <a:pt x="467" y="1231"/>
                    </a:cubicBezTo>
                    <a:cubicBezTo>
                      <a:pt x="468" y="1233"/>
                      <a:pt x="468" y="1233"/>
                      <a:pt x="468" y="1233"/>
                    </a:cubicBezTo>
                    <a:cubicBezTo>
                      <a:pt x="469" y="1236"/>
                      <a:pt x="469" y="1240"/>
                      <a:pt x="470" y="1243"/>
                    </a:cubicBezTo>
                    <a:cubicBezTo>
                      <a:pt x="470" y="1244"/>
                      <a:pt x="470" y="1244"/>
                      <a:pt x="470" y="1244"/>
                    </a:cubicBezTo>
                    <a:cubicBezTo>
                      <a:pt x="470" y="1245"/>
                      <a:pt x="470" y="1245"/>
                      <a:pt x="470" y="1245"/>
                    </a:cubicBezTo>
                    <a:cubicBezTo>
                      <a:pt x="471" y="1248"/>
                      <a:pt x="471" y="1250"/>
                      <a:pt x="471" y="1252"/>
                    </a:cubicBezTo>
                    <a:cubicBezTo>
                      <a:pt x="471" y="1253"/>
                      <a:pt x="471" y="1253"/>
                      <a:pt x="471" y="1253"/>
                    </a:cubicBezTo>
                    <a:cubicBezTo>
                      <a:pt x="472" y="1253"/>
                      <a:pt x="472" y="1253"/>
                      <a:pt x="472" y="1253"/>
                    </a:cubicBezTo>
                    <a:cubicBezTo>
                      <a:pt x="472" y="1254"/>
                      <a:pt x="472" y="1256"/>
                      <a:pt x="472" y="1258"/>
                    </a:cubicBezTo>
                    <a:cubicBezTo>
                      <a:pt x="472" y="1258"/>
                      <a:pt x="472" y="1258"/>
                      <a:pt x="472" y="1258"/>
                    </a:cubicBezTo>
                    <a:cubicBezTo>
                      <a:pt x="472" y="1259"/>
                      <a:pt x="472" y="1260"/>
                      <a:pt x="473" y="1261"/>
                    </a:cubicBezTo>
                    <a:cubicBezTo>
                      <a:pt x="473" y="1261"/>
                      <a:pt x="473" y="1261"/>
                      <a:pt x="473" y="1261"/>
                    </a:cubicBezTo>
                    <a:cubicBezTo>
                      <a:pt x="473" y="1261"/>
                      <a:pt x="473" y="1261"/>
                      <a:pt x="473" y="1261"/>
                    </a:cubicBezTo>
                    <a:cubicBezTo>
                      <a:pt x="473" y="1269"/>
                      <a:pt x="474" y="1277"/>
                      <a:pt x="474" y="1285"/>
                    </a:cubicBezTo>
                    <a:cubicBezTo>
                      <a:pt x="474" y="1308"/>
                      <a:pt x="470" y="1330"/>
                      <a:pt x="464" y="1351"/>
                    </a:cubicBezTo>
                    <a:close/>
                    <a:moveTo>
                      <a:pt x="1701" y="1197"/>
                    </a:moveTo>
                    <a:cubicBezTo>
                      <a:pt x="1701" y="1196"/>
                      <a:pt x="1700" y="1196"/>
                      <a:pt x="1700" y="1195"/>
                    </a:cubicBezTo>
                    <a:cubicBezTo>
                      <a:pt x="1699" y="1192"/>
                      <a:pt x="1697" y="1188"/>
                      <a:pt x="1696" y="1184"/>
                    </a:cubicBezTo>
                    <a:cubicBezTo>
                      <a:pt x="1696" y="1184"/>
                      <a:pt x="1696" y="1184"/>
                      <a:pt x="1696" y="1184"/>
                    </a:cubicBezTo>
                    <a:cubicBezTo>
                      <a:pt x="1694" y="1181"/>
                      <a:pt x="1693" y="1177"/>
                      <a:pt x="1691" y="1173"/>
                    </a:cubicBezTo>
                    <a:cubicBezTo>
                      <a:pt x="1691" y="1173"/>
                      <a:pt x="1691" y="1173"/>
                      <a:pt x="1691" y="1173"/>
                    </a:cubicBezTo>
                    <a:cubicBezTo>
                      <a:pt x="1689" y="1169"/>
                      <a:pt x="1687" y="1166"/>
                      <a:pt x="1685" y="1162"/>
                    </a:cubicBezTo>
                    <a:cubicBezTo>
                      <a:pt x="1685" y="1162"/>
                      <a:pt x="1685" y="1162"/>
                      <a:pt x="1685" y="1161"/>
                    </a:cubicBezTo>
                    <a:cubicBezTo>
                      <a:pt x="1683" y="1159"/>
                      <a:pt x="1682" y="1157"/>
                      <a:pt x="1681" y="1155"/>
                    </a:cubicBezTo>
                    <a:cubicBezTo>
                      <a:pt x="1680" y="1154"/>
                      <a:pt x="1680" y="1153"/>
                      <a:pt x="1679" y="1151"/>
                    </a:cubicBezTo>
                    <a:cubicBezTo>
                      <a:pt x="1679" y="1151"/>
                      <a:pt x="1679" y="1151"/>
                      <a:pt x="1678" y="1150"/>
                    </a:cubicBezTo>
                    <a:cubicBezTo>
                      <a:pt x="1677" y="1147"/>
                      <a:pt x="1675" y="1145"/>
                      <a:pt x="1673" y="1142"/>
                    </a:cubicBezTo>
                    <a:cubicBezTo>
                      <a:pt x="1673" y="1142"/>
                      <a:pt x="1673" y="1141"/>
                      <a:pt x="1672" y="1141"/>
                    </a:cubicBezTo>
                    <a:cubicBezTo>
                      <a:pt x="1672" y="1140"/>
                      <a:pt x="1672" y="1140"/>
                      <a:pt x="1671" y="1139"/>
                    </a:cubicBezTo>
                    <a:cubicBezTo>
                      <a:pt x="1671" y="1139"/>
                      <a:pt x="1670" y="1138"/>
                      <a:pt x="1670" y="1138"/>
                    </a:cubicBezTo>
                    <a:cubicBezTo>
                      <a:pt x="1669" y="1136"/>
                      <a:pt x="1667" y="1133"/>
                      <a:pt x="1665" y="1131"/>
                    </a:cubicBezTo>
                    <a:cubicBezTo>
                      <a:pt x="1665" y="1130"/>
                      <a:pt x="1664" y="1129"/>
                      <a:pt x="1663" y="1129"/>
                    </a:cubicBezTo>
                    <a:cubicBezTo>
                      <a:pt x="1663" y="1127"/>
                      <a:pt x="1662" y="1126"/>
                      <a:pt x="1661" y="1125"/>
                    </a:cubicBezTo>
                    <a:cubicBezTo>
                      <a:pt x="1660" y="1124"/>
                      <a:pt x="1659" y="1123"/>
                      <a:pt x="1658" y="1122"/>
                    </a:cubicBezTo>
                    <a:cubicBezTo>
                      <a:pt x="1657" y="1120"/>
                      <a:pt x="1656" y="1119"/>
                      <a:pt x="1654" y="1117"/>
                    </a:cubicBezTo>
                    <a:cubicBezTo>
                      <a:pt x="1654" y="1117"/>
                      <a:pt x="1653" y="1116"/>
                      <a:pt x="1652" y="1115"/>
                    </a:cubicBezTo>
                    <a:cubicBezTo>
                      <a:pt x="1651" y="1114"/>
                      <a:pt x="1651" y="1113"/>
                      <a:pt x="1650" y="1113"/>
                    </a:cubicBezTo>
                    <a:cubicBezTo>
                      <a:pt x="1648" y="1110"/>
                      <a:pt x="1646" y="1108"/>
                      <a:pt x="1644" y="1106"/>
                    </a:cubicBezTo>
                    <a:cubicBezTo>
                      <a:pt x="1643" y="1105"/>
                      <a:pt x="1643" y="1105"/>
                      <a:pt x="1642" y="1104"/>
                    </a:cubicBezTo>
                    <a:cubicBezTo>
                      <a:pt x="1642" y="1104"/>
                      <a:pt x="1642" y="1104"/>
                      <a:pt x="1642" y="1104"/>
                    </a:cubicBezTo>
                    <a:cubicBezTo>
                      <a:pt x="1640" y="1102"/>
                      <a:pt x="1638" y="1100"/>
                      <a:pt x="1636" y="1098"/>
                    </a:cubicBezTo>
                    <a:cubicBezTo>
                      <a:pt x="1636" y="1098"/>
                      <a:pt x="1635" y="1097"/>
                      <a:pt x="1634" y="1096"/>
                    </a:cubicBezTo>
                    <a:cubicBezTo>
                      <a:pt x="1632" y="1095"/>
                      <a:pt x="1631" y="1093"/>
                      <a:pt x="1629" y="1091"/>
                    </a:cubicBezTo>
                    <a:cubicBezTo>
                      <a:pt x="1628" y="1091"/>
                      <a:pt x="1627" y="1090"/>
                      <a:pt x="1627" y="1090"/>
                    </a:cubicBezTo>
                    <a:cubicBezTo>
                      <a:pt x="1620" y="1084"/>
                      <a:pt x="1613" y="1078"/>
                      <a:pt x="1605" y="1073"/>
                    </a:cubicBezTo>
                    <a:cubicBezTo>
                      <a:pt x="1605" y="1073"/>
                      <a:pt x="1605" y="1073"/>
                      <a:pt x="1605" y="1073"/>
                    </a:cubicBezTo>
                    <a:cubicBezTo>
                      <a:pt x="1602" y="1071"/>
                      <a:pt x="1600" y="1069"/>
                      <a:pt x="1598" y="1068"/>
                    </a:cubicBezTo>
                    <a:cubicBezTo>
                      <a:pt x="1597" y="1068"/>
                      <a:pt x="1596" y="1067"/>
                      <a:pt x="1596" y="1067"/>
                    </a:cubicBezTo>
                    <a:cubicBezTo>
                      <a:pt x="1593" y="1065"/>
                      <a:pt x="1591" y="1064"/>
                      <a:pt x="1589" y="1062"/>
                    </a:cubicBezTo>
                    <a:cubicBezTo>
                      <a:pt x="1588" y="1062"/>
                      <a:pt x="1588" y="1062"/>
                      <a:pt x="1588" y="1062"/>
                    </a:cubicBezTo>
                    <a:cubicBezTo>
                      <a:pt x="1580" y="1057"/>
                      <a:pt x="1571" y="1053"/>
                      <a:pt x="1562" y="1049"/>
                    </a:cubicBezTo>
                    <a:cubicBezTo>
                      <a:pt x="1562" y="1049"/>
                      <a:pt x="1562" y="1049"/>
                      <a:pt x="1562" y="1049"/>
                    </a:cubicBezTo>
                    <a:cubicBezTo>
                      <a:pt x="1559" y="1047"/>
                      <a:pt x="1556" y="1046"/>
                      <a:pt x="1553" y="1045"/>
                    </a:cubicBezTo>
                    <a:cubicBezTo>
                      <a:pt x="1553" y="1045"/>
                      <a:pt x="1553" y="1045"/>
                      <a:pt x="1553" y="1045"/>
                    </a:cubicBezTo>
                    <a:cubicBezTo>
                      <a:pt x="1540" y="1040"/>
                      <a:pt x="1528" y="1036"/>
                      <a:pt x="1515" y="1033"/>
                    </a:cubicBezTo>
                    <a:cubicBezTo>
                      <a:pt x="1515" y="1033"/>
                      <a:pt x="1515" y="1033"/>
                      <a:pt x="1515" y="1033"/>
                    </a:cubicBezTo>
                    <a:cubicBezTo>
                      <a:pt x="1512" y="1032"/>
                      <a:pt x="1508" y="1032"/>
                      <a:pt x="1505" y="1031"/>
                    </a:cubicBezTo>
                    <a:cubicBezTo>
                      <a:pt x="1504" y="1031"/>
                      <a:pt x="1503" y="1031"/>
                      <a:pt x="1503" y="1031"/>
                    </a:cubicBezTo>
                    <a:cubicBezTo>
                      <a:pt x="1503" y="1031"/>
                      <a:pt x="1503" y="1031"/>
                      <a:pt x="1503" y="1031"/>
                    </a:cubicBezTo>
                    <a:cubicBezTo>
                      <a:pt x="1499" y="1030"/>
                      <a:pt x="1496" y="1030"/>
                      <a:pt x="1493" y="1029"/>
                    </a:cubicBezTo>
                    <a:cubicBezTo>
                      <a:pt x="1491" y="1029"/>
                      <a:pt x="1489" y="1029"/>
                      <a:pt x="1487" y="1028"/>
                    </a:cubicBezTo>
                    <a:cubicBezTo>
                      <a:pt x="1486" y="1028"/>
                      <a:pt x="1484" y="1028"/>
                      <a:pt x="1482" y="1028"/>
                    </a:cubicBezTo>
                    <a:cubicBezTo>
                      <a:pt x="1479" y="1028"/>
                      <a:pt x="1476" y="1027"/>
                      <a:pt x="1473" y="1027"/>
                    </a:cubicBezTo>
                    <a:cubicBezTo>
                      <a:pt x="1471" y="1027"/>
                      <a:pt x="1470" y="1027"/>
                      <a:pt x="1469" y="1027"/>
                    </a:cubicBezTo>
                    <a:cubicBezTo>
                      <a:pt x="1465" y="1027"/>
                      <a:pt x="1462" y="1027"/>
                      <a:pt x="1458" y="1027"/>
                    </a:cubicBezTo>
                    <a:cubicBezTo>
                      <a:pt x="1456" y="1027"/>
                      <a:pt x="1454" y="1027"/>
                      <a:pt x="1452" y="1027"/>
                    </a:cubicBezTo>
                    <a:cubicBezTo>
                      <a:pt x="1452" y="1027"/>
                      <a:pt x="1451" y="1027"/>
                      <a:pt x="1450" y="1027"/>
                    </a:cubicBezTo>
                    <a:cubicBezTo>
                      <a:pt x="1448" y="1027"/>
                      <a:pt x="1446" y="1027"/>
                      <a:pt x="1444" y="1027"/>
                    </a:cubicBezTo>
                    <a:cubicBezTo>
                      <a:pt x="1444" y="1027"/>
                      <a:pt x="1444" y="1027"/>
                      <a:pt x="1444" y="1027"/>
                    </a:cubicBezTo>
                    <a:cubicBezTo>
                      <a:pt x="1444" y="1027"/>
                      <a:pt x="1443" y="1027"/>
                      <a:pt x="1443" y="1027"/>
                    </a:cubicBezTo>
                    <a:cubicBezTo>
                      <a:pt x="1440" y="1027"/>
                      <a:pt x="1438" y="1028"/>
                      <a:pt x="1436" y="1028"/>
                    </a:cubicBezTo>
                    <a:cubicBezTo>
                      <a:pt x="1435" y="1028"/>
                      <a:pt x="1435" y="1028"/>
                      <a:pt x="1435" y="1028"/>
                    </a:cubicBezTo>
                    <a:cubicBezTo>
                      <a:pt x="1431" y="1028"/>
                      <a:pt x="1426" y="1029"/>
                      <a:pt x="1422" y="1029"/>
                    </a:cubicBezTo>
                    <a:cubicBezTo>
                      <a:pt x="1422" y="1029"/>
                      <a:pt x="1422" y="1029"/>
                      <a:pt x="1422" y="1029"/>
                    </a:cubicBezTo>
                    <a:cubicBezTo>
                      <a:pt x="1408" y="1031"/>
                      <a:pt x="1396" y="1034"/>
                      <a:pt x="1383" y="1038"/>
                    </a:cubicBezTo>
                    <a:cubicBezTo>
                      <a:pt x="1383" y="1038"/>
                      <a:pt x="1382" y="1038"/>
                      <a:pt x="1382" y="1038"/>
                    </a:cubicBezTo>
                    <a:cubicBezTo>
                      <a:pt x="1380" y="1039"/>
                      <a:pt x="1379" y="1039"/>
                      <a:pt x="1377" y="1040"/>
                    </a:cubicBezTo>
                    <a:cubicBezTo>
                      <a:pt x="1376" y="1040"/>
                      <a:pt x="1376" y="1040"/>
                      <a:pt x="1375" y="1040"/>
                    </a:cubicBezTo>
                    <a:cubicBezTo>
                      <a:pt x="1365" y="1044"/>
                      <a:pt x="1356" y="1047"/>
                      <a:pt x="1346" y="1052"/>
                    </a:cubicBezTo>
                    <a:cubicBezTo>
                      <a:pt x="1346" y="1052"/>
                      <a:pt x="1346" y="1052"/>
                      <a:pt x="1345" y="1052"/>
                    </a:cubicBezTo>
                    <a:cubicBezTo>
                      <a:pt x="1342" y="1054"/>
                      <a:pt x="1339" y="1055"/>
                      <a:pt x="1336" y="1057"/>
                    </a:cubicBezTo>
                    <a:cubicBezTo>
                      <a:pt x="1336" y="1057"/>
                      <a:pt x="1336" y="1057"/>
                      <a:pt x="1336" y="1057"/>
                    </a:cubicBezTo>
                    <a:cubicBezTo>
                      <a:pt x="1312" y="1070"/>
                      <a:pt x="1290" y="1086"/>
                      <a:pt x="1271" y="1106"/>
                    </a:cubicBezTo>
                    <a:cubicBezTo>
                      <a:pt x="1270" y="1107"/>
                      <a:pt x="1269" y="1108"/>
                      <a:pt x="1268" y="1110"/>
                    </a:cubicBezTo>
                    <a:cubicBezTo>
                      <a:pt x="1268" y="1110"/>
                      <a:pt x="1268" y="1110"/>
                      <a:pt x="1268" y="1110"/>
                    </a:cubicBezTo>
                    <a:cubicBezTo>
                      <a:pt x="1266" y="1112"/>
                      <a:pt x="1264" y="1114"/>
                      <a:pt x="1262" y="1116"/>
                    </a:cubicBezTo>
                    <a:cubicBezTo>
                      <a:pt x="1262" y="1116"/>
                      <a:pt x="1261" y="1117"/>
                      <a:pt x="1261" y="1117"/>
                    </a:cubicBezTo>
                    <a:cubicBezTo>
                      <a:pt x="1260" y="1119"/>
                      <a:pt x="1258" y="1121"/>
                      <a:pt x="1256" y="1123"/>
                    </a:cubicBezTo>
                    <a:cubicBezTo>
                      <a:pt x="1256" y="1123"/>
                      <a:pt x="1256" y="1124"/>
                      <a:pt x="1255" y="1124"/>
                    </a:cubicBezTo>
                    <a:cubicBezTo>
                      <a:pt x="1254" y="1126"/>
                      <a:pt x="1252" y="1128"/>
                      <a:pt x="1251" y="1129"/>
                    </a:cubicBezTo>
                    <a:cubicBezTo>
                      <a:pt x="1251" y="1130"/>
                      <a:pt x="1250" y="1130"/>
                      <a:pt x="1250" y="1131"/>
                    </a:cubicBezTo>
                    <a:cubicBezTo>
                      <a:pt x="1248" y="1133"/>
                      <a:pt x="1246" y="1136"/>
                      <a:pt x="1245" y="1138"/>
                    </a:cubicBezTo>
                    <a:cubicBezTo>
                      <a:pt x="1196" y="1110"/>
                      <a:pt x="1157" y="1087"/>
                      <a:pt x="1126" y="1069"/>
                    </a:cubicBezTo>
                    <a:cubicBezTo>
                      <a:pt x="1116" y="1064"/>
                      <a:pt x="1104" y="1067"/>
                      <a:pt x="1099" y="1077"/>
                    </a:cubicBezTo>
                    <a:cubicBezTo>
                      <a:pt x="1097" y="1080"/>
                      <a:pt x="1095" y="1084"/>
                      <a:pt x="1093" y="1087"/>
                    </a:cubicBezTo>
                    <a:cubicBezTo>
                      <a:pt x="1093" y="1087"/>
                      <a:pt x="1092" y="1088"/>
                      <a:pt x="1092" y="1088"/>
                    </a:cubicBezTo>
                    <a:cubicBezTo>
                      <a:pt x="1057" y="1143"/>
                      <a:pt x="1004" y="1185"/>
                      <a:pt x="941" y="1205"/>
                    </a:cubicBezTo>
                    <a:cubicBezTo>
                      <a:pt x="931" y="1208"/>
                      <a:pt x="924" y="1219"/>
                      <a:pt x="926" y="1230"/>
                    </a:cubicBezTo>
                    <a:cubicBezTo>
                      <a:pt x="928" y="1241"/>
                      <a:pt x="937" y="1248"/>
                      <a:pt x="947" y="1248"/>
                    </a:cubicBezTo>
                    <a:cubicBezTo>
                      <a:pt x="950" y="1248"/>
                      <a:pt x="952" y="1248"/>
                      <a:pt x="954" y="1247"/>
                    </a:cubicBezTo>
                    <a:cubicBezTo>
                      <a:pt x="1023" y="1225"/>
                      <a:pt x="1083" y="1180"/>
                      <a:pt x="1124" y="1119"/>
                    </a:cubicBezTo>
                    <a:cubicBezTo>
                      <a:pt x="1223" y="1176"/>
                      <a:pt x="1223" y="1176"/>
                      <a:pt x="1223" y="1176"/>
                    </a:cubicBezTo>
                    <a:cubicBezTo>
                      <a:pt x="1207" y="1209"/>
                      <a:pt x="1199" y="1246"/>
                      <a:pt x="1199" y="1285"/>
                    </a:cubicBezTo>
                    <a:cubicBezTo>
                      <a:pt x="1199" y="1289"/>
                      <a:pt x="1199" y="1293"/>
                      <a:pt x="1199" y="1297"/>
                    </a:cubicBezTo>
                    <a:cubicBezTo>
                      <a:pt x="1199" y="1298"/>
                      <a:pt x="1199" y="1300"/>
                      <a:pt x="1199" y="1301"/>
                    </a:cubicBezTo>
                    <a:cubicBezTo>
                      <a:pt x="1199" y="1304"/>
                      <a:pt x="1200" y="1306"/>
                      <a:pt x="1200" y="1309"/>
                    </a:cubicBezTo>
                    <a:cubicBezTo>
                      <a:pt x="1200" y="1310"/>
                      <a:pt x="1200" y="1312"/>
                      <a:pt x="1200" y="1313"/>
                    </a:cubicBezTo>
                    <a:cubicBezTo>
                      <a:pt x="1201" y="1316"/>
                      <a:pt x="1201" y="1320"/>
                      <a:pt x="1201" y="1323"/>
                    </a:cubicBezTo>
                    <a:cubicBezTo>
                      <a:pt x="1202" y="1325"/>
                      <a:pt x="1202" y="1327"/>
                      <a:pt x="1202" y="1329"/>
                    </a:cubicBezTo>
                    <a:cubicBezTo>
                      <a:pt x="1203" y="1331"/>
                      <a:pt x="1203" y="1332"/>
                      <a:pt x="1203" y="1334"/>
                    </a:cubicBezTo>
                    <a:cubicBezTo>
                      <a:pt x="1204" y="1336"/>
                      <a:pt x="1204" y="1338"/>
                      <a:pt x="1205" y="1341"/>
                    </a:cubicBezTo>
                    <a:cubicBezTo>
                      <a:pt x="1205" y="1342"/>
                      <a:pt x="1205" y="1342"/>
                      <a:pt x="1205" y="1343"/>
                    </a:cubicBezTo>
                    <a:cubicBezTo>
                      <a:pt x="1206" y="1349"/>
                      <a:pt x="1208" y="1354"/>
                      <a:pt x="1209" y="1359"/>
                    </a:cubicBezTo>
                    <a:cubicBezTo>
                      <a:pt x="1209" y="1359"/>
                      <a:pt x="1209" y="1359"/>
                      <a:pt x="1210" y="1360"/>
                    </a:cubicBezTo>
                    <a:cubicBezTo>
                      <a:pt x="1210" y="1363"/>
                      <a:pt x="1211" y="1366"/>
                      <a:pt x="1212" y="1369"/>
                    </a:cubicBezTo>
                    <a:cubicBezTo>
                      <a:pt x="1213" y="1370"/>
                      <a:pt x="1213" y="1371"/>
                      <a:pt x="1213" y="1371"/>
                    </a:cubicBezTo>
                    <a:cubicBezTo>
                      <a:pt x="1214" y="1372"/>
                      <a:pt x="1214" y="1372"/>
                      <a:pt x="1214" y="1373"/>
                    </a:cubicBezTo>
                    <a:cubicBezTo>
                      <a:pt x="1214" y="1374"/>
                      <a:pt x="1215" y="1376"/>
                      <a:pt x="1216" y="1378"/>
                    </a:cubicBezTo>
                    <a:cubicBezTo>
                      <a:pt x="1216" y="1379"/>
                      <a:pt x="1217" y="1380"/>
                      <a:pt x="1217" y="1381"/>
                    </a:cubicBezTo>
                    <a:cubicBezTo>
                      <a:pt x="1218" y="1383"/>
                      <a:pt x="1218" y="1384"/>
                      <a:pt x="1219" y="1386"/>
                    </a:cubicBezTo>
                    <a:cubicBezTo>
                      <a:pt x="1219" y="1386"/>
                      <a:pt x="1219" y="1387"/>
                      <a:pt x="1220" y="1388"/>
                    </a:cubicBezTo>
                    <a:cubicBezTo>
                      <a:pt x="1221" y="1391"/>
                      <a:pt x="1222" y="1394"/>
                      <a:pt x="1224" y="1397"/>
                    </a:cubicBezTo>
                    <a:cubicBezTo>
                      <a:pt x="1224" y="1398"/>
                      <a:pt x="1224" y="1398"/>
                      <a:pt x="1225" y="1398"/>
                    </a:cubicBezTo>
                    <a:cubicBezTo>
                      <a:pt x="1259" y="1470"/>
                      <a:pt x="1325" y="1523"/>
                      <a:pt x="1405" y="1539"/>
                    </a:cubicBezTo>
                    <a:cubicBezTo>
                      <a:pt x="1406" y="1539"/>
                      <a:pt x="1406" y="1540"/>
                      <a:pt x="1407" y="1540"/>
                    </a:cubicBezTo>
                    <a:cubicBezTo>
                      <a:pt x="1410" y="1540"/>
                      <a:pt x="1413" y="1541"/>
                      <a:pt x="1417" y="1541"/>
                    </a:cubicBezTo>
                    <a:cubicBezTo>
                      <a:pt x="1417" y="1541"/>
                      <a:pt x="1417" y="1541"/>
                      <a:pt x="1417" y="1541"/>
                    </a:cubicBezTo>
                    <a:cubicBezTo>
                      <a:pt x="1418" y="1542"/>
                      <a:pt x="1418" y="1542"/>
                      <a:pt x="1419" y="1542"/>
                    </a:cubicBezTo>
                    <a:cubicBezTo>
                      <a:pt x="1421" y="1542"/>
                      <a:pt x="1423" y="1542"/>
                      <a:pt x="1426" y="1543"/>
                    </a:cubicBezTo>
                    <a:cubicBezTo>
                      <a:pt x="1430" y="1543"/>
                      <a:pt x="1434" y="1544"/>
                      <a:pt x="1438" y="1544"/>
                    </a:cubicBezTo>
                    <a:cubicBezTo>
                      <a:pt x="1440" y="1544"/>
                      <a:pt x="1441" y="1544"/>
                      <a:pt x="1442" y="1544"/>
                    </a:cubicBezTo>
                    <a:cubicBezTo>
                      <a:pt x="1444" y="1544"/>
                      <a:pt x="1445" y="1544"/>
                      <a:pt x="1447" y="1544"/>
                    </a:cubicBezTo>
                    <a:cubicBezTo>
                      <a:pt x="1451" y="1545"/>
                      <a:pt x="1454" y="1545"/>
                      <a:pt x="1458" y="1545"/>
                    </a:cubicBezTo>
                    <a:cubicBezTo>
                      <a:pt x="1462" y="1545"/>
                      <a:pt x="1466" y="1545"/>
                      <a:pt x="1470" y="1544"/>
                    </a:cubicBezTo>
                    <a:cubicBezTo>
                      <a:pt x="1472" y="1544"/>
                      <a:pt x="1473" y="1544"/>
                      <a:pt x="1474" y="1544"/>
                    </a:cubicBezTo>
                    <a:cubicBezTo>
                      <a:pt x="1477" y="1544"/>
                      <a:pt x="1480" y="1544"/>
                      <a:pt x="1483" y="1544"/>
                    </a:cubicBezTo>
                    <a:cubicBezTo>
                      <a:pt x="1484" y="1543"/>
                      <a:pt x="1486" y="1543"/>
                      <a:pt x="1487" y="1543"/>
                    </a:cubicBezTo>
                    <a:cubicBezTo>
                      <a:pt x="1490" y="1543"/>
                      <a:pt x="1492" y="1542"/>
                      <a:pt x="1495" y="1542"/>
                    </a:cubicBezTo>
                    <a:cubicBezTo>
                      <a:pt x="1496" y="1542"/>
                      <a:pt x="1498" y="1542"/>
                      <a:pt x="1500" y="1541"/>
                    </a:cubicBezTo>
                    <a:cubicBezTo>
                      <a:pt x="1502" y="1541"/>
                      <a:pt x="1504" y="1540"/>
                      <a:pt x="1506" y="1540"/>
                    </a:cubicBezTo>
                    <a:cubicBezTo>
                      <a:pt x="1508" y="1540"/>
                      <a:pt x="1510" y="1539"/>
                      <a:pt x="1512" y="1539"/>
                    </a:cubicBezTo>
                    <a:cubicBezTo>
                      <a:pt x="1514" y="1539"/>
                      <a:pt x="1516" y="1538"/>
                      <a:pt x="1518" y="1538"/>
                    </a:cubicBezTo>
                    <a:cubicBezTo>
                      <a:pt x="1520" y="1537"/>
                      <a:pt x="1522" y="1537"/>
                      <a:pt x="1524" y="1536"/>
                    </a:cubicBezTo>
                    <a:cubicBezTo>
                      <a:pt x="1525" y="1536"/>
                      <a:pt x="1527" y="1535"/>
                      <a:pt x="1529" y="1535"/>
                    </a:cubicBezTo>
                    <a:cubicBezTo>
                      <a:pt x="1533" y="1533"/>
                      <a:pt x="1538" y="1532"/>
                      <a:pt x="1542" y="1531"/>
                    </a:cubicBezTo>
                    <a:cubicBezTo>
                      <a:pt x="1543" y="1530"/>
                      <a:pt x="1544" y="1530"/>
                      <a:pt x="1545" y="1530"/>
                    </a:cubicBezTo>
                    <a:cubicBezTo>
                      <a:pt x="1547" y="1529"/>
                      <a:pt x="1550" y="1528"/>
                      <a:pt x="1552" y="1527"/>
                    </a:cubicBezTo>
                    <a:cubicBezTo>
                      <a:pt x="1553" y="1526"/>
                      <a:pt x="1555" y="1526"/>
                      <a:pt x="1556" y="1525"/>
                    </a:cubicBezTo>
                    <a:cubicBezTo>
                      <a:pt x="1558" y="1524"/>
                      <a:pt x="1561" y="1523"/>
                      <a:pt x="1563" y="1522"/>
                    </a:cubicBezTo>
                    <a:cubicBezTo>
                      <a:pt x="1564" y="1522"/>
                      <a:pt x="1565" y="1521"/>
                      <a:pt x="1566" y="1521"/>
                    </a:cubicBezTo>
                    <a:cubicBezTo>
                      <a:pt x="1568" y="1520"/>
                      <a:pt x="1571" y="1518"/>
                      <a:pt x="1573" y="1517"/>
                    </a:cubicBezTo>
                    <a:cubicBezTo>
                      <a:pt x="1574" y="1517"/>
                      <a:pt x="1575" y="1516"/>
                      <a:pt x="1576" y="1516"/>
                    </a:cubicBezTo>
                    <a:cubicBezTo>
                      <a:pt x="1578" y="1515"/>
                      <a:pt x="1581" y="1513"/>
                      <a:pt x="1584" y="1512"/>
                    </a:cubicBezTo>
                    <a:cubicBezTo>
                      <a:pt x="1584" y="1512"/>
                      <a:pt x="1584" y="1512"/>
                      <a:pt x="1584" y="1511"/>
                    </a:cubicBezTo>
                    <a:cubicBezTo>
                      <a:pt x="1597" y="1504"/>
                      <a:pt x="1608" y="1497"/>
                      <a:pt x="1619" y="1488"/>
                    </a:cubicBezTo>
                    <a:cubicBezTo>
                      <a:pt x="1619" y="1488"/>
                      <a:pt x="1620" y="1487"/>
                      <a:pt x="1620" y="1487"/>
                    </a:cubicBezTo>
                    <a:cubicBezTo>
                      <a:pt x="1623" y="1485"/>
                      <a:pt x="1625" y="1483"/>
                      <a:pt x="1627" y="1481"/>
                    </a:cubicBezTo>
                    <a:cubicBezTo>
                      <a:pt x="1628" y="1480"/>
                      <a:pt x="1629" y="1480"/>
                      <a:pt x="1630" y="1479"/>
                    </a:cubicBezTo>
                    <a:cubicBezTo>
                      <a:pt x="1630" y="1479"/>
                      <a:pt x="1630" y="1478"/>
                      <a:pt x="1631" y="1478"/>
                    </a:cubicBezTo>
                    <a:cubicBezTo>
                      <a:pt x="1632" y="1477"/>
                      <a:pt x="1633" y="1476"/>
                      <a:pt x="1635" y="1474"/>
                    </a:cubicBezTo>
                    <a:cubicBezTo>
                      <a:pt x="1637" y="1472"/>
                      <a:pt x="1638" y="1471"/>
                      <a:pt x="1640" y="1469"/>
                    </a:cubicBezTo>
                    <a:cubicBezTo>
                      <a:pt x="1641" y="1468"/>
                      <a:pt x="1641" y="1468"/>
                      <a:pt x="1641" y="1468"/>
                    </a:cubicBezTo>
                    <a:cubicBezTo>
                      <a:pt x="1641" y="1468"/>
                      <a:pt x="1641" y="1468"/>
                      <a:pt x="1641" y="1468"/>
                    </a:cubicBezTo>
                    <a:cubicBezTo>
                      <a:pt x="1644" y="1465"/>
                      <a:pt x="1646" y="1463"/>
                      <a:pt x="1648" y="1460"/>
                    </a:cubicBezTo>
                    <a:cubicBezTo>
                      <a:pt x="1649" y="1460"/>
                      <a:pt x="1649" y="1459"/>
                      <a:pt x="1650" y="1459"/>
                    </a:cubicBezTo>
                    <a:cubicBezTo>
                      <a:pt x="1691" y="1413"/>
                      <a:pt x="1716" y="1352"/>
                      <a:pt x="1716" y="1285"/>
                    </a:cubicBezTo>
                    <a:cubicBezTo>
                      <a:pt x="1716" y="1254"/>
                      <a:pt x="1711" y="1225"/>
                      <a:pt x="1701" y="1197"/>
                    </a:cubicBezTo>
                    <a:close/>
                    <a:moveTo>
                      <a:pt x="1617" y="1429"/>
                    </a:moveTo>
                    <a:cubicBezTo>
                      <a:pt x="1616" y="1430"/>
                      <a:pt x="1616" y="1430"/>
                      <a:pt x="1616" y="1430"/>
                    </a:cubicBezTo>
                    <a:cubicBezTo>
                      <a:pt x="1616" y="1431"/>
                      <a:pt x="1616" y="1431"/>
                      <a:pt x="1616" y="1431"/>
                    </a:cubicBezTo>
                    <a:cubicBezTo>
                      <a:pt x="1614" y="1433"/>
                      <a:pt x="1612" y="1435"/>
                      <a:pt x="1610" y="1437"/>
                    </a:cubicBezTo>
                    <a:cubicBezTo>
                      <a:pt x="1610" y="1437"/>
                      <a:pt x="1610" y="1437"/>
                      <a:pt x="1610" y="1437"/>
                    </a:cubicBezTo>
                    <a:cubicBezTo>
                      <a:pt x="1610" y="1437"/>
                      <a:pt x="1610" y="1437"/>
                      <a:pt x="1610" y="1437"/>
                    </a:cubicBezTo>
                    <a:cubicBezTo>
                      <a:pt x="1609" y="1437"/>
                      <a:pt x="1609" y="1438"/>
                      <a:pt x="1609" y="1438"/>
                    </a:cubicBezTo>
                    <a:cubicBezTo>
                      <a:pt x="1608" y="1439"/>
                      <a:pt x="1607" y="1440"/>
                      <a:pt x="1606" y="1441"/>
                    </a:cubicBezTo>
                    <a:cubicBezTo>
                      <a:pt x="1604" y="1442"/>
                      <a:pt x="1604" y="1442"/>
                      <a:pt x="1604" y="1442"/>
                    </a:cubicBezTo>
                    <a:cubicBezTo>
                      <a:pt x="1603" y="1443"/>
                      <a:pt x="1603" y="1443"/>
                      <a:pt x="1603" y="1443"/>
                    </a:cubicBezTo>
                    <a:cubicBezTo>
                      <a:pt x="1603" y="1444"/>
                      <a:pt x="1602" y="1445"/>
                      <a:pt x="1601" y="1445"/>
                    </a:cubicBezTo>
                    <a:cubicBezTo>
                      <a:pt x="1601" y="1446"/>
                      <a:pt x="1601" y="1446"/>
                      <a:pt x="1601" y="1446"/>
                    </a:cubicBezTo>
                    <a:cubicBezTo>
                      <a:pt x="1600" y="1446"/>
                      <a:pt x="1600" y="1446"/>
                      <a:pt x="1600" y="1446"/>
                    </a:cubicBezTo>
                    <a:cubicBezTo>
                      <a:pt x="1600" y="1446"/>
                      <a:pt x="1600" y="1446"/>
                      <a:pt x="1600" y="1446"/>
                    </a:cubicBezTo>
                    <a:cubicBezTo>
                      <a:pt x="1600" y="1446"/>
                      <a:pt x="1600" y="1447"/>
                      <a:pt x="1599" y="1447"/>
                    </a:cubicBezTo>
                    <a:cubicBezTo>
                      <a:pt x="1598" y="1448"/>
                      <a:pt x="1598" y="1448"/>
                      <a:pt x="1598" y="1448"/>
                    </a:cubicBezTo>
                    <a:cubicBezTo>
                      <a:pt x="1597" y="1449"/>
                      <a:pt x="1595" y="1451"/>
                      <a:pt x="1593" y="1453"/>
                    </a:cubicBezTo>
                    <a:cubicBezTo>
                      <a:pt x="1592" y="1453"/>
                      <a:pt x="1592" y="1453"/>
                      <a:pt x="1592" y="1453"/>
                    </a:cubicBezTo>
                    <a:cubicBezTo>
                      <a:pt x="1591" y="1454"/>
                      <a:pt x="1591" y="1454"/>
                      <a:pt x="1591" y="1454"/>
                    </a:cubicBezTo>
                    <a:cubicBezTo>
                      <a:pt x="1582" y="1461"/>
                      <a:pt x="1573" y="1467"/>
                      <a:pt x="1563" y="1473"/>
                    </a:cubicBezTo>
                    <a:cubicBezTo>
                      <a:pt x="1562" y="1474"/>
                      <a:pt x="1562" y="1474"/>
                      <a:pt x="1562" y="1474"/>
                    </a:cubicBezTo>
                    <a:cubicBezTo>
                      <a:pt x="1560" y="1475"/>
                      <a:pt x="1558" y="1476"/>
                      <a:pt x="1556" y="1477"/>
                    </a:cubicBezTo>
                    <a:cubicBezTo>
                      <a:pt x="1555" y="1477"/>
                      <a:pt x="1555" y="1477"/>
                      <a:pt x="1555" y="1477"/>
                    </a:cubicBezTo>
                    <a:cubicBezTo>
                      <a:pt x="1554" y="1478"/>
                      <a:pt x="1554" y="1478"/>
                      <a:pt x="1554" y="1478"/>
                    </a:cubicBezTo>
                    <a:cubicBezTo>
                      <a:pt x="1552" y="1479"/>
                      <a:pt x="1549" y="1480"/>
                      <a:pt x="1547" y="1481"/>
                    </a:cubicBezTo>
                    <a:cubicBezTo>
                      <a:pt x="1547" y="1481"/>
                      <a:pt x="1546" y="1482"/>
                      <a:pt x="1545" y="1482"/>
                    </a:cubicBezTo>
                    <a:cubicBezTo>
                      <a:pt x="1543" y="1483"/>
                      <a:pt x="1541" y="1484"/>
                      <a:pt x="1539" y="1485"/>
                    </a:cubicBezTo>
                    <a:cubicBezTo>
                      <a:pt x="1538" y="1485"/>
                      <a:pt x="1538" y="1485"/>
                      <a:pt x="1537" y="1485"/>
                    </a:cubicBezTo>
                    <a:cubicBezTo>
                      <a:pt x="1536" y="1486"/>
                      <a:pt x="1536" y="1486"/>
                      <a:pt x="1536" y="1486"/>
                    </a:cubicBezTo>
                    <a:cubicBezTo>
                      <a:pt x="1534" y="1487"/>
                      <a:pt x="1532" y="1487"/>
                      <a:pt x="1530" y="1488"/>
                    </a:cubicBezTo>
                    <a:cubicBezTo>
                      <a:pt x="1530" y="1488"/>
                      <a:pt x="1529" y="1488"/>
                      <a:pt x="1529" y="1488"/>
                    </a:cubicBezTo>
                    <a:cubicBezTo>
                      <a:pt x="1527" y="1489"/>
                      <a:pt x="1527" y="1489"/>
                      <a:pt x="1527" y="1489"/>
                    </a:cubicBezTo>
                    <a:cubicBezTo>
                      <a:pt x="1524" y="1490"/>
                      <a:pt x="1520" y="1491"/>
                      <a:pt x="1517" y="1492"/>
                    </a:cubicBezTo>
                    <a:cubicBezTo>
                      <a:pt x="1515" y="1493"/>
                      <a:pt x="1515" y="1493"/>
                      <a:pt x="1515" y="1493"/>
                    </a:cubicBezTo>
                    <a:cubicBezTo>
                      <a:pt x="1514" y="1493"/>
                      <a:pt x="1513" y="1493"/>
                      <a:pt x="1512" y="1494"/>
                    </a:cubicBezTo>
                    <a:cubicBezTo>
                      <a:pt x="1511" y="1494"/>
                      <a:pt x="1510" y="1494"/>
                      <a:pt x="1509" y="1494"/>
                    </a:cubicBezTo>
                    <a:cubicBezTo>
                      <a:pt x="1508" y="1495"/>
                      <a:pt x="1508" y="1495"/>
                      <a:pt x="1508" y="1495"/>
                    </a:cubicBezTo>
                    <a:cubicBezTo>
                      <a:pt x="1507" y="1495"/>
                      <a:pt x="1507" y="1495"/>
                      <a:pt x="1507" y="1495"/>
                    </a:cubicBezTo>
                    <a:cubicBezTo>
                      <a:pt x="1506" y="1495"/>
                      <a:pt x="1504" y="1496"/>
                      <a:pt x="1503" y="1496"/>
                    </a:cubicBezTo>
                    <a:cubicBezTo>
                      <a:pt x="1501" y="1496"/>
                      <a:pt x="1500" y="1496"/>
                      <a:pt x="1499" y="1497"/>
                    </a:cubicBezTo>
                    <a:cubicBezTo>
                      <a:pt x="1498" y="1497"/>
                      <a:pt x="1498" y="1497"/>
                      <a:pt x="1498" y="1497"/>
                    </a:cubicBezTo>
                    <a:cubicBezTo>
                      <a:pt x="1496" y="1497"/>
                      <a:pt x="1494" y="1498"/>
                      <a:pt x="1493" y="1498"/>
                    </a:cubicBezTo>
                    <a:cubicBezTo>
                      <a:pt x="1491" y="1498"/>
                      <a:pt x="1490" y="1498"/>
                      <a:pt x="1488" y="1498"/>
                    </a:cubicBezTo>
                    <a:cubicBezTo>
                      <a:pt x="1486" y="1499"/>
                      <a:pt x="1484" y="1499"/>
                      <a:pt x="1482" y="1499"/>
                    </a:cubicBezTo>
                    <a:cubicBezTo>
                      <a:pt x="1482" y="1499"/>
                      <a:pt x="1482" y="1499"/>
                      <a:pt x="1482" y="1499"/>
                    </a:cubicBezTo>
                    <a:cubicBezTo>
                      <a:pt x="1481" y="1499"/>
                      <a:pt x="1480" y="1500"/>
                      <a:pt x="1478" y="1500"/>
                    </a:cubicBezTo>
                    <a:cubicBezTo>
                      <a:pt x="1476" y="1500"/>
                      <a:pt x="1474" y="1500"/>
                      <a:pt x="1472" y="1500"/>
                    </a:cubicBezTo>
                    <a:cubicBezTo>
                      <a:pt x="1470" y="1500"/>
                      <a:pt x="1470" y="1500"/>
                      <a:pt x="1470" y="1500"/>
                    </a:cubicBezTo>
                    <a:cubicBezTo>
                      <a:pt x="1469" y="1500"/>
                      <a:pt x="1469" y="1500"/>
                      <a:pt x="1468" y="1500"/>
                    </a:cubicBezTo>
                    <a:cubicBezTo>
                      <a:pt x="1465" y="1501"/>
                      <a:pt x="1461" y="1501"/>
                      <a:pt x="1458" y="1501"/>
                    </a:cubicBezTo>
                    <a:cubicBezTo>
                      <a:pt x="1455" y="1501"/>
                      <a:pt x="1452" y="1501"/>
                      <a:pt x="1449" y="1500"/>
                    </a:cubicBezTo>
                    <a:cubicBezTo>
                      <a:pt x="1448" y="1500"/>
                      <a:pt x="1448" y="1500"/>
                      <a:pt x="1448" y="1500"/>
                    </a:cubicBezTo>
                    <a:cubicBezTo>
                      <a:pt x="1447" y="1500"/>
                      <a:pt x="1446" y="1500"/>
                      <a:pt x="1445" y="1500"/>
                    </a:cubicBezTo>
                    <a:cubicBezTo>
                      <a:pt x="1444" y="1500"/>
                      <a:pt x="1444" y="1500"/>
                      <a:pt x="1443" y="1500"/>
                    </a:cubicBezTo>
                    <a:cubicBezTo>
                      <a:pt x="1442" y="1500"/>
                      <a:pt x="1442" y="1500"/>
                      <a:pt x="1442" y="1500"/>
                    </a:cubicBezTo>
                    <a:cubicBezTo>
                      <a:pt x="1438" y="1500"/>
                      <a:pt x="1434" y="1499"/>
                      <a:pt x="1431" y="1499"/>
                    </a:cubicBezTo>
                    <a:cubicBezTo>
                      <a:pt x="1430" y="1499"/>
                      <a:pt x="1430" y="1499"/>
                      <a:pt x="1430" y="1499"/>
                    </a:cubicBezTo>
                    <a:cubicBezTo>
                      <a:pt x="1428" y="1499"/>
                      <a:pt x="1427" y="1498"/>
                      <a:pt x="1426" y="1498"/>
                    </a:cubicBezTo>
                    <a:cubicBezTo>
                      <a:pt x="1425" y="1498"/>
                      <a:pt x="1425" y="1498"/>
                      <a:pt x="1425" y="1498"/>
                    </a:cubicBezTo>
                    <a:cubicBezTo>
                      <a:pt x="1425" y="1498"/>
                      <a:pt x="1424" y="1498"/>
                      <a:pt x="1424" y="1498"/>
                    </a:cubicBezTo>
                    <a:cubicBezTo>
                      <a:pt x="1421" y="1497"/>
                      <a:pt x="1418" y="1497"/>
                      <a:pt x="1415" y="1496"/>
                    </a:cubicBezTo>
                    <a:cubicBezTo>
                      <a:pt x="1414" y="1496"/>
                      <a:pt x="1414" y="1496"/>
                      <a:pt x="1414" y="1496"/>
                    </a:cubicBezTo>
                    <a:cubicBezTo>
                      <a:pt x="1349" y="1483"/>
                      <a:pt x="1293" y="1439"/>
                      <a:pt x="1264" y="1379"/>
                    </a:cubicBezTo>
                    <a:cubicBezTo>
                      <a:pt x="1264" y="1379"/>
                      <a:pt x="1264" y="1379"/>
                      <a:pt x="1264" y="1379"/>
                    </a:cubicBezTo>
                    <a:cubicBezTo>
                      <a:pt x="1264" y="1378"/>
                      <a:pt x="1264" y="1378"/>
                      <a:pt x="1264" y="1378"/>
                    </a:cubicBezTo>
                    <a:cubicBezTo>
                      <a:pt x="1262" y="1376"/>
                      <a:pt x="1261" y="1373"/>
                      <a:pt x="1260" y="1370"/>
                    </a:cubicBezTo>
                    <a:cubicBezTo>
                      <a:pt x="1260" y="1369"/>
                      <a:pt x="1260" y="1369"/>
                      <a:pt x="1260" y="1369"/>
                    </a:cubicBezTo>
                    <a:cubicBezTo>
                      <a:pt x="1259" y="1369"/>
                      <a:pt x="1259" y="1369"/>
                      <a:pt x="1259" y="1369"/>
                    </a:cubicBezTo>
                    <a:cubicBezTo>
                      <a:pt x="1259" y="1368"/>
                      <a:pt x="1259" y="1367"/>
                      <a:pt x="1258" y="1366"/>
                    </a:cubicBezTo>
                    <a:cubicBezTo>
                      <a:pt x="1258" y="1365"/>
                      <a:pt x="1258" y="1365"/>
                      <a:pt x="1258" y="1365"/>
                    </a:cubicBezTo>
                    <a:cubicBezTo>
                      <a:pt x="1258" y="1365"/>
                      <a:pt x="1258" y="1365"/>
                      <a:pt x="1258" y="1365"/>
                    </a:cubicBezTo>
                    <a:cubicBezTo>
                      <a:pt x="1258" y="1365"/>
                      <a:pt x="1258" y="1365"/>
                      <a:pt x="1258" y="1365"/>
                    </a:cubicBezTo>
                    <a:cubicBezTo>
                      <a:pt x="1258" y="1364"/>
                      <a:pt x="1258" y="1364"/>
                      <a:pt x="1258" y="1364"/>
                    </a:cubicBezTo>
                    <a:cubicBezTo>
                      <a:pt x="1257" y="1364"/>
                      <a:pt x="1257" y="1363"/>
                      <a:pt x="1257" y="1362"/>
                    </a:cubicBezTo>
                    <a:cubicBezTo>
                      <a:pt x="1257" y="1362"/>
                      <a:pt x="1257" y="1362"/>
                      <a:pt x="1257" y="1362"/>
                    </a:cubicBezTo>
                    <a:cubicBezTo>
                      <a:pt x="1256" y="1361"/>
                      <a:pt x="1256" y="1359"/>
                      <a:pt x="1255" y="1358"/>
                    </a:cubicBezTo>
                    <a:cubicBezTo>
                      <a:pt x="1255" y="1357"/>
                      <a:pt x="1255" y="1357"/>
                      <a:pt x="1255" y="1357"/>
                    </a:cubicBezTo>
                    <a:cubicBezTo>
                      <a:pt x="1255" y="1357"/>
                      <a:pt x="1255" y="1357"/>
                      <a:pt x="1255" y="1357"/>
                    </a:cubicBezTo>
                    <a:cubicBezTo>
                      <a:pt x="1255" y="1357"/>
                      <a:pt x="1255" y="1357"/>
                      <a:pt x="1255" y="1357"/>
                    </a:cubicBezTo>
                    <a:cubicBezTo>
                      <a:pt x="1255" y="1356"/>
                      <a:pt x="1255" y="1356"/>
                      <a:pt x="1255" y="1356"/>
                    </a:cubicBezTo>
                    <a:cubicBezTo>
                      <a:pt x="1254" y="1355"/>
                      <a:pt x="1254" y="1355"/>
                      <a:pt x="1254" y="1355"/>
                    </a:cubicBezTo>
                    <a:cubicBezTo>
                      <a:pt x="1253" y="1352"/>
                      <a:pt x="1252" y="1349"/>
                      <a:pt x="1252" y="1347"/>
                    </a:cubicBezTo>
                    <a:cubicBezTo>
                      <a:pt x="1252" y="1347"/>
                      <a:pt x="1252" y="1347"/>
                      <a:pt x="1252" y="1347"/>
                    </a:cubicBezTo>
                    <a:cubicBezTo>
                      <a:pt x="1250" y="1343"/>
                      <a:pt x="1249" y="1338"/>
                      <a:pt x="1248" y="1333"/>
                    </a:cubicBezTo>
                    <a:cubicBezTo>
                      <a:pt x="1248" y="1332"/>
                      <a:pt x="1248" y="1332"/>
                      <a:pt x="1248" y="1332"/>
                    </a:cubicBezTo>
                    <a:cubicBezTo>
                      <a:pt x="1248" y="1331"/>
                      <a:pt x="1248" y="1331"/>
                      <a:pt x="1248" y="1331"/>
                    </a:cubicBezTo>
                    <a:cubicBezTo>
                      <a:pt x="1247" y="1329"/>
                      <a:pt x="1247" y="1328"/>
                      <a:pt x="1247" y="1326"/>
                    </a:cubicBezTo>
                    <a:cubicBezTo>
                      <a:pt x="1246" y="1324"/>
                      <a:pt x="1246" y="1323"/>
                      <a:pt x="1246" y="1322"/>
                    </a:cubicBezTo>
                    <a:cubicBezTo>
                      <a:pt x="1246" y="1321"/>
                      <a:pt x="1246" y="1321"/>
                      <a:pt x="1246" y="1321"/>
                    </a:cubicBezTo>
                    <a:cubicBezTo>
                      <a:pt x="1245" y="1320"/>
                      <a:pt x="1245" y="1318"/>
                      <a:pt x="1245" y="1317"/>
                    </a:cubicBezTo>
                    <a:cubicBezTo>
                      <a:pt x="1245" y="1314"/>
                      <a:pt x="1244" y="1311"/>
                      <a:pt x="1244" y="1308"/>
                    </a:cubicBezTo>
                    <a:cubicBezTo>
                      <a:pt x="1244" y="1308"/>
                      <a:pt x="1244" y="1307"/>
                      <a:pt x="1244" y="1306"/>
                    </a:cubicBezTo>
                    <a:cubicBezTo>
                      <a:pt x="1244" y="1305"/>
                      <a:pt x="1244" y="1305"/>
                      <a:pt x="1244" y="1305"/>
                    </a:cubicBezTo>
                    <a:cubicBezTo>
                      <a:pt x="1243" y="1303"/>
                      <a:pt x="1243" y="1300"/>
                      <a:pt x="1243" y="1298"/>
                    </a:cubicBezTo>
                    <a:cubicBezTo>
                      <a:pt x="1243" y="1297"/>
                      <a:pt x="1243" y="1296"/>
                      <a:pt x="1243" y="1295"/>
                    </a:cubicBezTo>
                    <a:cubicBezTo>
                      <a:pt x="1243" y="1291"/>
                      <a:pt x="1243" y="1288"/>
                      <a:pt x="1243" y="1285"/>
                    </a:cubicBezTo>
                    <a:cubicBezTo>
                      <a:pt x="1243" y="1253"/>
                      <a:pt x="1249" y="1223"/>
                      <a:pt x="1262" y="1197"/>
                    </a:cubicBezTo>
                    <a:cubicBezTo>
                      <a:pt x="1264" y="1193"/>
                      <a:pt x="1264" y="1193"/>
                      <a:pt x="1264" y="1193"/>
                    </a:cubicBezTo>
                    <a:cubicBezTo>
                      <a:pt x="1264" y="1192"/>
                      <a:pt x="1264" y="1192"/>
                      <a:pt x="1264" y="1192"/>
                    </a:cubicBezTo>
                    <a:cubicBezTo>
                      <a:pt x="1265" y="1190"/>
                      <a:pt x="1265" y="1190"/>
                      <a:pt x="1265" y="1190"/>
                    </a:cubicBezTo>
                    <a:cubicBezTo>
                      <a:pt x="1269" y="1182"/>
                      <a:pt x="1274" y="1173"/>
                      <a:pt x="1279" y="1166"/>
                    </a:cubicBezTo>
                    <a:cubicBezTo>
                      <a:pt x="1280" y="1164"/>
                      <a:pt x="1280" y="1164"/>
                      <a:pt x="1280" y="1164"/>
                    </a:cubicBezTo>
                    <a:cubicBezTo>
                      <a:pt x="1281" y="1163"/>
                      <a:pt x="1281" y="1163"/>
                      <a:pt x="1281" y="1163"/>
                    </a:cubicBezTo>
                    <a:cubicBezTo>
                      <a:pt x="1282" y="1162"/>
                      <a:pt x="1282" y="1162"/>
                      <a:pt x="1282" y="1162"/>
                    </a:cubicBezTo>
                    <a:cubicBezTo>
                      <a:pt x="1283" y="1160"/>
                      <a:pt x="1284" y="1159"/>
                      <a:pt x="1285" y="1157"/>
                    </a:cubicBezTo>
                    <a:cubicBezTo>
                      <a:pt x="1285" y="1157"/>
                      <a:pt x="1285" y="1157"/>
                      <a:pt x="1285" y="1157"/>
                    </a:cubicBezTo>
                    <a:cubicBezTo>
                      <a:pt x="1286" y="1156"/>
                      <a:pt x="1286" y="1156"/>
                      <a:pt x="1286" y="1156"/>
                    </a:cubicBezTo>
                    <a:cubicBezTo>
                      <a:pt x="1287" y="1155"/>
                      <a:pt x="1288" y="1153"/>
                      <a:pt x="1290" y="1152"/>
                    </a:cubicBezTo>
                    <a:cubicBezTo>
                      <a:pt x="1290" y="1151"/>
                      <a:pt x="1290" y="1151"/>
                      <a:pt x="1290" y="1151"/>
                    </a:cubicBezTo>
                    <a:cubicBezTo>
                      <a:pt x="1290" y="1150"/>
                      <a:pt x="1290" y="1150"/>
                      <a:pt x="1290" y="1150"/>
                    </a:cubicBezTo>
                    <a:cubicBezTo>
                      <a:pt x="1292" y="1149"/>
                      <a:pt x="1293" y="1147"/>
                      <a:pt x="1294" y="1146"/>
                    </a:cubicBezTo>
                    <a:cubicBezTo>
                      <a:pt x="1295" y="1146"/>
                      <a:pt x="1295" y="1146"/>
                      <a:pt x="1295" y="1146"/>
                    </a:cubicBezTo>
                    <a:cubicBezTo>
                      <a:pt x="1295" y="1146"/>
                      <a:pt x="1295" y="1146"/>
                      <a:pt x="1295" y="1146"/>
                    </a:cubicBezTo>
                    <a:cubicBezTo>
                      <a:pt x="1295" y="1145"/>
                      <a:pt x="1295" y="1145"/>
                      <a:pt x="1295" y="1145"/>
                    </a:cubicBezTo>
                    <a:cubicBezTo>
                      <a:pt x="1297" y="1143"/>
                      <a:pt x="1298" y="1141"/>
                      <a:pt x="1300" y="1140"/>
                    </a:cubicBezTo>
                    <a:cubicBezTo>
                      <a:pt x="1300" y="1139"/>
                      <a:pt x="1300" y="1139"/>
                      <a:pt x="1300" y="1139"/>
                    </a:cubicBezTo>
                    <a:cubicBezTo>
                      <a:pt x="1300" y="1139"/>
                      <a:pt x="1300" y="1139"/>
                      <a:pt x="1300" y="1139"/>
                    </a:cubicBezTo>
                    <a:cubicBezTo>
                      <a:pt x="1301" y="1139"/>
                      <a:pt x="1301" y="1138"/>
                      <a:pt x="1302" y="1138"/>
                    </a:cubicBezTo>
                    <a:cubicBezTo>
                      <a:pt x="1303" y="1137"/>
                      <a:pt x="1303" y="1137"/>
                      <a:pt x="1303" y="1137"/>
                    </a:cubicBezTo>
                    <a:cubicBezTo>
                      <a:pt x="1319" y="1120"/>
                      <a:pt x="1337" y="1106"/>
                      <a:pt x="1357" y="1096"/>
                    </a:cubicBezTo>
                    <a:cubicBezTo>
                      <a:pt x="1359" y="1094"/>
                      <a:pt x="1362" y="1093"/>
                      <a:pt x="1364" y="1092"/>
                    </a:cubicBezTo>
                    <a:cubicBezTo>
                      <a:pt x="1365" y="1092"/>
                      <a:pt x="1365" y="1092"/>
                      <a:pt x="1365" y="1092"/>
                    </a:cubicBezTo>
                    <a:cubicBezTo>
                      <a:pt x="1373" y="1088"/>
                      <a:pt x="1381" y="1085"/>
                      <a:pt x="1389" y="1082"/>
                    </a:cubicBezTo>
                    <a:cubicBezTo>
                      <a:pt x="1390" y="1082"/>
                      <a:pt x="1390" y="1082"/>
                      <a:pt x="1390" y="1082"/>
                    </a:cubicBezTo>
                    <a:cubicBezTo>
                      <a:pt x="1391" y="1081"/>
                      <a:pt x="1391" y="1081"/>
                      <a:pt x="1391" y="1081"/>
                    </a:cubicBezTo>
                    <a:cubicBezTo>
                      <a:pt x="1392" y="1081"/>
                      <a:pt x="1393" y="1081"/>
                      <a:pt x="1394" y="1080"/>
                    </a:cubicBezTo>
                    <a:cubicBezTo>
                      <a:pt x="1395" y="1080"/>
                      <a:pt x="1395" y="1080"/>
                      <a:pt x="1395" y="1080"/>
                    </a:cubicBezTo>
                    <a:cubicBezTo>
                      <a:pt x="1396" y="1080"/>
                      <a:pt x="1396" y="1080"/>
                      <a:pt x="1396" y="1080"/>
                    </a:cubicBezTo>
                    <a:cubicBezTo>
                      <a:pt x="1406" y="1077"/>
                      <a:pt x="1417" y="1074"/>
                      <a:pt x="1428" y="1073"/>
                    </a:cubicBezTo>
                    <a:cubicBezTo>
                      <a:pt x="1428" y="1073"/>
                      <a:pt x="1428" y="1073"/>
                      <a:pt x="1428" y="1073"/>
                    </a:cubicBezTo>
                    <a:cubicBezTo>
                      <a:pt x="1432" y="1072"/>
                      <a:pt x="1435" y="1072"/>
                      <a:pt x="1439" y="1072"/>
                    </a:cubicBezTo>
                    <a:cubicBezTo>
                      <a:pt x="1439" y="1072"/>
                      <a:pt x="1439" y="1072"/>
                      <a:pt x="1439" y="1072"/>
                    </a:cubicBezTo>
                    <a:cubicBezTo>
                      <a:pt x="1441" y="1071"/>
                      <a:pt x="1443" y="1071"/>
                      <a:pt x="1445" y="1071"/>
                    </a:cubicBezTo>
                    <a:cubicBezTo>
                      <a:pt x="1445" y="1071"/>
                      <a:pt x="1445" y="1071"/>
                      <a:pt x="1445" y="1071"/>
                    </a:cubicBezTo>
                    <a:cubicBezTo>
                      <a:pt x="1446" y="1071"/>
                      <a:pt x="1446" y="1071"/>
                      <a:pt x="1446" y="1071"/>
                    </a:cubicBezTo>
                    <a:cubicBezTo>
                      <a:pt x="1447" y="1071"/>
                      <a:pt x="1447" y="1071"/>
                      <a:pt x="1447" y="1071"/>
                    </a:cubicBezTo>
                    <a:cubicBezTo>
                      <a:pt x="1447" y="1071"/>
                      <a:pt x="1447" y="1071"/>
                      <a:pt x="1447" y="1071"/>
                    </a:cubicBezTo>
                    <a:cubicBezTo>
                      <a:pt x="1449" y="1071"/>
                      <a:pt x="1450" y="1071"/>
                      <a:pt x="1452" y="1071"/>
                    </a:cubicBezTo>
                    <a:cubicBezTo>
                      <a:pt x="1452" y="1071"/>
                      <a:pt x="1452" y="1071"/>
                      <a:pt x="1452" y="1071"/>
                    </a:cubicBezTo>
                    <a:cubicBezTo>
                      <a:pt x="1453" y="1071"/>
                      <a:pt x="1453" y="1071"/>
                      <a:pt x="1453" y="1071"/>
                    </a:cubicBezTo>
                    <a:cubicBezTo>
                      <a:pt x="1454" y="1071"/>
                      <a:pt x="1454" y="1071"/>
                      <a:pt x="1454" y="1071"/>
                    </a:cubicBezTo>
                    <a:cubicBezTo>
                      <a:pt x="1455" y="1071"/>
                      <a:pt x="1457" y="1071"/>
                      <a:pt x="1458" y="1071"/>
                    </a:cubicBezTo>
                    <a:cubicBezTo>
                      <a:pt x="1461" y="1071"/>
                      <a:pt x="1464" y="1071"/>
                      <a:pt x="1467" y="1071"/>
                    </a:cubicBezTo>
                    <a:cubicBezTo>
                      <a:pt x="1468" y="1071"/>
                      <a:pt x="1468" y="1071"/>
                      <a:pt x="1468" y="1071"/>
                    </a:cubicBezTo>
                    <a:cubicBezTo>
                      <a:pt x="1469" y="1071"/>
                      <a:pt x="1469" y="1071"/>
                      <a:pt x="1470" y="1071"/>
                    </a:cubicBezTo>
                    <a:cubicBezTo>
                      <a:pt x="1473" y="1071"/>
                      <a:pt x="1475" y="1071"/>
                      <a:pt x="1478" y="1072"/>
                    </a:cubicBezTo>
                    <a:cubicBezTo>
                      <a:pt x="1480" y="1072"/>
                      <a:pt x="1481" y="1072"/>
                      <a:pt x="1482" y="1072"/>
                    </a:cubicBezTo>
                    <a:cubicBezTo>
                      <a:pt x="1484" y="1072"/>
                      <a:pt x="1485" y="1073"/>
                      <a:pt x="1487" y="1073"/>
                    </a:cubicBezTo>
                    <a:cubicBezTo>
                      <a:pt x="1489" y="1073"/>
                      <a:pt x="1492" y="1074"/>
                      <a:pt x="1495" y="1074"/>
                    </a:cubicBezTo>
                    <a:cubicBezTo>
                      <a:pt x="1495" y="1074"/>
                      <a:pt x="1495" y="1074"/>
                      <a:pt x="1495" y="1074"/>
                    </a:cubicBezTo>
                    <a:cubicBezTo>
                      <a:pt x="1495" y="1074"/>
                      <a:pt x="1495" y="1074"/>
                      <a:pt x="1495" y="1074"/>
                    </a:cubicBezTo>
                    <a:cubicBezTo>
                      <a:pt x="1496" y="1074"/>
                      <a:pt x="1496" y="1074"/>
                      <a:pt x="1497" y="1074"/>
                    </a:cubicBezTo>
                    <a:cubicBezTo>
                      <a:pt x="1500" y="1075"/>
                      <a:pt x="1502" y="1075"/>
                      <a:pt x="1505" y="1076"/>
                    </a:cubicBezTo>
                    <a:cubicBezTo>
                      <a:pt x="1505" y="1076"/>
                      <a:pt x="1505" y="1076"/>
                      <a:pt x="1505" y="1076"/>
                    </a:cubicBezTo>
                    <a:cubicBezTo>
                      <a:pt x="1505" y="1076"/>
                      <a:pt x="1505" y="1076"/>
                      <a:pt x="1505" y="1076"/>
                    </a:cubicBezTo>
                    <a:cubicBezTo>
                      <a:pt x="1516" y="1078"/>
                      <a:pt x="1526" y="1082"/>
                      <a:pt x="1536" y="1086"/>
                    </a:cubicBezTo>
                    <a:cubicBezTo>
                      <a:pt x="1537" y="1086"/>
                      <a:pt x="1537" y="1086"/>
                      <a:pt x="1537" y="1086"/>
                    </a:cubicBezTo>
                    <a:cubicBezTo>
                      <a:pt x="1537" y="1086"/>
                      <a:pt x="1537" y="1086"/>
                      <a:pt x="1537" y="1086"/>
                    </a:cubicBezTo>
                    <a:cubicBezTo>
                      <a:pt x="1540" y="1087"/>
                      <a:pt x="1542" y="1088"/>
                      <a:pt x="1544" y="1089"/>
                    </a:cubicBezTo>
                    <a:cubicBezTo>
                      <a:pt x="1544" y="1089"/>
                      <a:pt x="1544" y="1089"/>
                      <a:pt x="1544" y="1089"/>
                    </a:cubicBezTo>
                    <a:cubicBezTo>
                      <a:pt x="1545" y="1089"/>
                      <a:pt x="1545" y="1089"/>
                      <a:pt x="1545" y="1089"/>
                    </a:cubicBezTo>
                    <a:cubicBezTo>
                      <a:pt x="1552" y="1092"/>
                      <a:pt x="1559" y="1096"/>
                      <a:pt x="1566" y="1100"/>
                    </a:cubicBezTo>
                    <a:cubicBezTo>
                      <a:pt x="1566" y="1100"/>
                      <a:pt x="1566" y="1100"/>
                      <a:pt x="1566" y="1100"/>
                    </a:cubicBezTo>
                    <a:cubicBezTo>
                      <a:pt x="1568" y="1101"/>
                      <a:pt x="1570" y="1103"/>
                      <a:pt x="1572" y="1104"/>
                    </a:cubicBezTo>
                    <a:cubicBezTo>
                      <a:pt x="1574" y="1105"/>
                      <a:pt x="1574" y="1105"/>
                      <a:pt x="1574" y="1105"/>
                    </a:cubicBezTo>
                    <a:cubicBezTo>
                      <a:pt x="1576" y="1106"/>
                      <a:pt x="1578" y="1108"/>
                      <a:pt x="1580" y="1109"/>
                    </a:cubicBezTo>
                    <a:cubicBezTo>
                      <a:pt x="1580" y="1109"/>
                      <a:pt x="1580" y="1109"/>
                      <a:pt x="1580" y="1109"/>
                    </a:cubicBezTo>
                    <a:cubicBezTo>
                      <a:pt x="1586" y="1113"/>
                      <a:pt x="1592" y="1118"/>
                      <a:pt x="1598" y="1123"/>
                    </a:cubicBezTo>
                    <a:cubicBezTo>
                      <a:pt x="1599" y="1123"/>
                      <a:pt x="1599" y="1123"/>
                      <a:pt x="1599" y="1123"/>
                    </a:cubicBezTo>
                    <a:cubicBezTo>
                      <a:pt x="1600" y="1124"/>
                      <a:pt x="1600" y="1124"/>
                      <a:pt x="1600" y="1124"/>
                    </a:cubicBezTo>
                    <a:cubicBezTo>
                      <a:pt x="1601" y="1126"/>
                      <a:pt x="1603" y="1127"/>
                      <a:pt x="1604" y="1129"/>
                    </a:cubicBezTo>
                    <a:cubicBezTo>
                      <a:pt x="1605" y="1129"/>
                      <a:pt x="1605" y="1129"/>
                      <a:pt x="1606" y="1130"/>
                    </a:cubicBezTo>
                    <a:cubicBezTo>
                      <a:pt x="1606" y="1130"/>
                      <a:pt x="1606" y="1130"/>
                      <a:pt x="1606" y="1130"/>
                    </a:cubicBezTo>
                    <a:cubicBezTo>
                      <a:pt x="1608" y="1132"/>
                      <a:pt x="1609" y="1133"/>
                      <a:pt x="1610" y="1135"/>
                    </a:cubicBezTo>
                    <a:cubicBezTo>
                      <a:pt x="1611" y="1135"/>
                      <a:pt x="1611" y="1135"/>
                      <a:pt x="1611" y="1135"/>
                    </a:cubicBezTo>
                    <a:cubicBezTo>
                      <a:pt x="1611" y="1135"/>
                      <a:pt x="1611" y="1135"/>
                      <a:pt x="1611" y="1135"/>
                    </a:cubicBezTo>
                    <a:cubicBezTo>
                      <a:pt x="1612" y="1136"/>
                      <a:pt x="1612" y="1136"/>
                      <a:pt x="1612" y="1136"/>
                    </a:cubicBezTo>
                    <a:cubicBezTo>
                      <a:pt x="1614" y="1138"/>
                      <a:pt x="1616" y="1140"/>
                      <a:pt x="1618" y="1142"/>
                    </a:cubicBezTo>
                    <a:cubicBezTo>
                      <a:pt x="1618" y="1143"/>
                      <a:pt x="1618" y="1143"/>
                      <a:pt x="1618" y="1143"/>
                    </a:cubicBezTo>
                    <a:cubicBezTo>
                      <a:pt x="1619" y="1144"/>
                      <a:pt x="1619" y="1144"/>
                      <a:pt x="1619" y="1144"/>
                    </a:cubicBezTo>
                    <a:cubicBezTo>
                      <a:pt x="1619" y="1144"/>
                      <a:pt x="1619" y="1144"/>
                      <a:pt x="1619" y="1144"/>
                    </a:cubicBezTo>
                    <a:cubicBezTo>
                      <a:pt x="1619" y="1144"/>
                      <a:pt x="1619" y="1144"/>
                      <a:pt x="1619" y="1144"/>
                    </a:cubicBezTo>
                    <a:cubicBezTo>
                      <a:pt x="1620" y="1145"/>
                      <a:pt x="1620" y="1145"/>
                      <a:pt x="1621" y="1146"/>
                    </a:cubicBezTo>
                    <a:cubicBezTo>
                      <a:pt x="1622" y="1147"/>
                      <a:pt x="1622" y="1147"/>
                      <a:pt x="1622" y="1147"/>
                    </a:cubicBezTo>
                    <a:cubicBezTo>
                      <a:pt x="1623" y="1148"/>
                      <a:pt x="1623" y="1149"/>
                      <a:pt x="1624" y="1150"/>
                    </a:cubicBezTo>
                    <a:cubicBezTo>
                      <a:pt x="1624" y="1150"/>
                      <a:pt x="1625" y="1151"/>
                      <a:pt x="1625" y="1151"/>
                    </a:cubicBezTo>
                    <a:cubicBezTo>
                      <a:pt x="1626" y="1153"/>
                      <a:pt x="1626" y="1153"/>
                      <a:pt x="1626" y="1153"/>
                    </a:cubicBezTo>
                    <a:cubicBezTo>
                      <a:pt x="1627" y="1154"/>
                      <a:pt x="1627" y="1154"/>
                      <a:pt x="1627" y="1154"/>
                    </a:cubicBezTo>
                    <a:cubicBezTo>
                      <a:pt x="1628" y="1154"/>
                      <a:pt x="1628" y="1155"/>
                      <a:pt x="1628" y="1155"/>
                    </a:cubicBezTo>
                    <a:cubicBezTo>
                      <a:pt x="1629" y="1156"/>
                      <a:pt x="1629" y="1156"/>
                      <a:pt x="1629" y="1156"/>
                    </a:cubicBezTo>
                    <a:cubicBezTo>
                      <a:pt x="1630" y="1157"/>
                      <a:pt x="1630" y="1157"/>
                      <a:pt x="1630" y="1157"/>
                    </a:cubicBezTo>
                    <a:cubicBezTo>
                      <a:pt x="1631" y="1159"/>
                      <a:pt x="1633" y="1161"/>
                      <a:pt x="1634" y="1163"/>
                    </a:cubicBezTo>
                    <a:cubicBezTo>
                      <a:pt x="1634" y="1163"/>
                      <a:pt x="1635" y="1164"/>
                      <a:pt x="1635" y="1164"/>
                    </a:cubicBezTo>
                    <a:cubicBezTo>
                      <a:pt x="1635" y="1164"/>
                      <a:pt x="1635" y="1164"/>
                      <a:pt x="1635" y="1164"/>
                    </a:cubicBezTo>
                    <a:cubicBezTo>
                      <a:pt x="1636" y="1165"/>
                      <a:pt x="1636" y="1165"/>
                      <a:pt x="1636" y="1165"/>
                    </a:cubicBezTo>
                    <a:cubicBezTo>
                      <a:pt x="1636" y="1165"/>
                      <a:pt x="1636" y="1165"/>
                      <a:pt x="1636" y="1165"/>
                    </a:cubicBezTo>
                    <a:cubicBezTo>
                      <a:pt x="1636" y="1166"/>
                      <a:pt x="1636" y="1166"/>
                      <a:pt x="1636" y="1166"/>
                    </a:cubicBezTo>
                    <a:cubicBezTo>
                      <a:pt x="1638" y="1169"/>
                      <a:pt x="1639" y="1171"/>
                      <a:pt x="1641" y="1173"/>
                    </a:cubicBezTo>
                    <a:cubicBezTo>
                      <a:pt x="1641" y="1174"/>
                      <a:pt x="1641" y="1174"/>
                      <a:pt x="1641" y="1174"/>
                    </a:cubicBezTo>
                    <a:cubicBezTo>
                      <a:pt x="1641" y="1174"/>
                      <a:pt x="1641" y="1174"/>
                      <a:pt x="1641" y="1174"/>
                    </a:cubicBezTo>
                    <a:cubicBezTo>
                      <a:pt x="1642" y="1174"/>
                      <a:pt x="1642" y="1175"/>
                      <a:pt x="1642" y="1175"/>
                    </a:cubicBezTo>
                    <a:cubicBezTo>
                      <a:pt x="1642" y="1176"/>
                      <a:pt x="1643" y="1176"/>
                      <a:pt x="1643" y="1177"/>
                    </a:cubicBezTo>
                    <a:cubicBezTo>
                      <a:pt x="1644" y="1178"/>
                      <a:pt x="1644" y="1178"/>
                      <a:pt x="1644" y="1178"/>
                    </a:cubicBezTo>
                    <a:cubicBezTo>
                      <a:pt x="1644" y="1180"/>
                      <a:pt x="1645" y="1181"/>
                      <a:pt x="1646" y="1182"/>
                    </a:cubicBezTo>
                    <a:cubicBezTo>
                      <a:pt x="1646" y="1183"/>
                      <a:pt x="1646" y="1183"/>
                      <a:pt x="1646" y="1183"/>
                    </a:cubicBezTo>
                    <a:cubicBezTo>
                      <a:pt x="1648" y="1186"/>
                      <a:pt x="1650" y="1189"/>
                      <a:pt x="1651" y="1192"/>
                    </a:cubicBezTo>
                    <a:cubicBezTo>
                      <a:pt x="1651" y="1192"/>
                      <a:pt x="1651" y="1192"/>
                      <a:pt x="1651" y="1192"/>
                    </a:cubicBezTo>
                    <a:cubicBezTo>
                      <a:pt x="1653" y="1195"/>
                      <a:pt x="1654" y="1198"/>
                      <a:pt x="1655" y="1202"/>
                    </a:cubicBezTo>
                    <a:cubicBezTo>
                      <a:pt x="1656" y="1202"/>
                      <a:pt x="1656" y="1202"/>
                      <a:pt x="1656" y="1202"/>
                    </a:cubicBezTo>
                    <a:cubicBezTo>
                      <a:pt x="1657" y="1205"/>
                      <a:pt x="1658" y="1207"/>
                      <a:pt x="1659" y="1211"/>
                    </a:cubicBezTo>
                    <a:cubicBezTo>
                      <a:pt x="1659" y="1212"/>
                      <a:pt x="1659" y="1212"/>
                      <a:pt x="1659" y="1212"/>
                    </a:cubicBezTo>
                    <a:cubicBezTo>
                      <a:pt x="1668" y="1235"/>
                      <a:pt x="1672" y="1260"/>
                      <a:pt x="1672" y="1285"/>
                    </a:cubicBezTo>
                    <a:cubicBezTo>
                      <a:pt x="1672" y="1338"/>
                      <a:pt x="1653" y="1390"/>
                      <a:pt x="1617" y="1429"/>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 name="Freeform 152">
                <a:extLst>
                  <a:ext uri="{FF2B5EF4-FFF2-40B4-BE49-F238E27FC236}">
                    <a16:creationId xmlns:a16="http://schemas.microsoft.com/office/drawing/2014/main" id="{CFDD9994-11FE-DAF9-34EA-A28823FE46D5}"/>
                  </a:ext>
                </a:extLst>
              </p:cNvPr>
              <p:cNvSpPr>
                <a:spLocks noEditPoints="1"/>
              </p:cNvSpPr>
              <p:nvPr/>
            </p:nvSpPr>
            <p:spPr bwMode="auto">
              <a:xfrm>
                <a:off x="5483226" y="2697163"/>
                <a:ext cx="1223963" cy="1101725"/>
              </a:xfrm>
              <a:custGeom>
                <a:avLst/>
                <a:gdLst>
                  <a:gd name="T0" fmla="*/ 494 w 1716"/>
                  <a:gd name="T1" fmla="*/ 369 h 1545"/>
                  <a:gd name="T2" fmla="*/ 510 w 1716"/>
                  <a:gd name="T3" fmla="*/ 198 h 1545"/>
                  <a:gd name="T4" fmla="*/ 491 w 1716"/>
                  <a:gd name="T5" fmla="*/ 145 h 1545"/>
                  <a:gd name="T6" fmla="*/ 246 w 1716"/>
                  <a:gd name="T7" fmla="*/ 0 h 1545"/>
                  <a:gd name="T8" fmla="*/ 188 w 1716"/>
                  <a:gd name="T9" fmla="*/ 10 h 1545"/>
                  <a:gd name="T10" fmla="*/ 133 w 1716"/>
                  <a:gd name="T11" fmla="*/ 33 h 1545"/>
                  <a:gd name="T12" fmla="*/ 68 w 1716"/>
                  <a:gd name="T13" fmla="*/ 85 h 1545"/>
                  <a:gd name="T14" fmla="*/ 16 w 1716"/>
                  <a:gd name="T15" fmla="*/ 348 h 1545"/>
                  <a:gd name="T16" fmla="*/ 37 w 1716"/>
                  <a:gd name="T17" fmla="*/ 393 h 1545"/>
                  <a:gd name="T18" fmla="*/ 67 w 1716"/>
                  <a:gd name="T19" fmla="*/ 433 h 1545"/>
                  <a:gd name="T20" fmla="*/ 100 w 1716"/>
                  <a:gd name="T21" fmla="*/ 464 h 1545"/>
                  <a:gd name="T22" fmla="*/ 187 w 1716"/>
                  <a:gd name="T23" fmla="*/ 508 h 1545"/>
                  <a:gd name="T24" fmla="*/ 273 w 1716"/>
                  <a:gd name="T25" fmla="*/ 517 h 1545"/>
                  <a:gd name="T26" fmla="*/ 348 w 1716"/>
                  <a:gd name="T27" fmla="*/ 502 h 1545"/>
                  <a:gd name="T28" fmla="*/ 393 w 1716"/>
                  <a:gd name="T29" fmla="*/ 481 h 1545"/>
                  <a:gd name="T30" fmla="*/ 455 w 1716"/>
                  <a:gd name="T31" fmla="*/ 348 h 1545"/>
                  <a:gd name="T32" fmla="*/ 429 w 1716"/>
                  <a:gd name="T33" fmla="*/ 390 h 1545"/>
                  <a:gd name="T34" fmla="*/ 370 w 1716"/>
                  <a:gd name="T35" fmla="*/ 443 h 1545"/>
                  <a:gd name="T36" fmla="*/ 340 w 1716"/>
                  <a:gd name="T37" fmla="*/ 458 h 1545"/>
                  <a:gd name="T38" fmla="*/ 294 w 1716"/>
                  <a:gd name="T39" fmla="*/ 471 h 1545"/>
                  <a:gd name="T40" fmla="*/ 238 w 1716"/>
                  <a:gd name="T41" fmla="*/ 473 h 1545"/>
                  <a:gd name="T42" fmla="*/ 179 w 1716"/>
                  <a:gd name="T43" fmla="*/ 459 h 1545"/>
                  <a:gd name="T44" fmla="*/ 125 w 1716"/>
                  <a:gd name="T45" fmla="*/ 427 h 1545"/>
                  <a:gd name="T46" fmla="*/ 105 w 1716"/>
                  <a:gd name="T47" fmla="*/ 409 h 1545"/>
                  <a:gd name="T48" fmla="*/ 90 w 1716"/>
                  <a:gd name="T49" fmla="*/ 391 h 1545"/>
                  <a:gd name="T50" fmla="*/ 81 w 1716"/>
                  <a:gd name="T51" fmla="*/ 379 h 1545"/>
                  <a:gd name="T52" fmla="*/ 65 w 1716"/>
                  <a:gd name="T53" fmla="*/ 352 h 1545"/>
                  <a:gd name="T54" fmla="*/ 51 w 1716"/>
                  <a:gd name="T55" fmla="*/ 315 h 1545"/>
                  <a:gd name="T56" fmla="*/ 103 w 1716"/>
                  <a:gd name="T57" fmla="*/ 111 h 1545"/>
                  <a:gd name="T58" fmla="*/ 116 w 1716"/>
                  <a:gd name="T59" fmla="*/ 99 h 1545"/>
                  <a:gd name="T60" fmla="*/ 169 w 1716"/>
                  <a:gd name="T61" fmla="*/ 64 h 1545"/>
                  <a:gd name="T62" fmla="*/ 204 w 1716"/>
                  <a:gd name="T63" fmla="*/ 51 h 1545"/>
                  <a:gd name="T64" fmla="*/ 235 w 1716"/>
                  <a:gd name="T65" fmla="*/ 45 h 1545"/>
                  <a:gd name="T66" fmla="*/ 272 w 1716"/>
                  <a:gd name="T67" fmla="*/ 44 h 1545"/>
                  <a:gd name="T68" fmla="*/ 453 w 1716"/>
                  <a:gd name="T69" fmla="*/ 167 h 1545"/>
                  <a:gd name="T70" fmla="*/ 465 w 1716"/>
                  <a:gd name="T71" fmla="*/ 199 h 1545"/>
                  <a:gd name="T72" fmla="*/ 472 w 1716"/>
                  <a:gd name="T73" fmla="*/ 232 h 1545"/>
                  <a:gd name="T74" fmla="*/ 1631 w 1716"/>
                  <a:gd name="T75" fmla="*/ 67 h 1545"/>
                  <a:gd name="T76" fmla="*/ 1265 w 1716"/>
                  <a:gd name="T77" fmla="*/ 86 h 1545"/>
                  <a:gd name="T78" fmla="*/ 1100 w 1716"/>
                  <a:gd name="T79" fmla="*/ 471 h 1545"/>
                  <a:gd name="T80" fmla="*/ 1171 w 1716"/>
                  <a:gd name="T81" fmla="*/ 675 h 1545"/>
                  <a:gd name="T82" fmla="*/ 1261 w 1716"/>
                  <a:gd name="T83" fmla="*/ 427 h 1545"/>
                  <a:gd name="T84" fmla="*/ 1309 w 1716"/>
                  <a:gd name="T85" fmla="*/ 471 h 1545"/>
                  <a:gd name="T86" fmla="*/ 1543 w 1716"/>
                  <a:gd name="T87" fmla="*/ 503 h 1545"/>
                  <a:gd name="T88" fmla="*/ 1507 w 1716"/>
                  <a:gd name="T89" fmla="*/ 468 h 1545"/>
                  <a:gd name="T90" fmla="*/ 1325 w 1716"/>
                  <a:gd name="T91" fmla="*/ 428 h 1545"/>
                  <a:gd name="T92" fmla="*/ 1294 w 1716"/>
                  <a:gd name="T93" fmla="*/ 399 h 1545"/>
                  <a:gd name="T94" fmla="*/ 1262 w 1716"/>
                  <a:gd name="T95" fmla="*/ 348 h 1545"/>
                  <a:gd name="T96" fmla="*/ 1251 w 1716"/>
                  <a:gd name="T97" fmla="*/ 198 h 1545"/>
                  <a:gd name="T98" fmla="*/ 1557 w 1716"/>
                  <a:gd name="T99" fmla="*/ 69 h 1545"/>
                  <a:gd name="T100" fmla="*/ 1529 w 1716"/>
                  <a:gd name="T101" fmla="*/ 462 h 1545"/>
                  <a:gd name="T102" fmla="*/ 836 w 1716"/>
                  <a:gd name="T103" fmla="*/ 924 h 1545"/>
                  <a:gd name="T104" fmla="*/ 817 w 1716"/>
                  <a:gd name="T105" fmla="*/ 1442 h 1545"/>
                  <a:gd name="T106" fmla="*/ 753 w 1716"/>
                  <a:gd name="T107" fmla="*/ 1235 h 1545"/>
                  <a:gd name="T108" fmla="*/ 1351 w 1716"/>
                  <a:gd name="T109" fmla="*/ 149 h 1545"/>
                  <a:gd name="T110" fmla="*/ 1415 w 1716"/>
                  <a:gd name="T111" fmla="*/ 357 h 1545"/>
                  <a:gd name="T112" fmla="*/ 368 w 1716"/>
                  <a:gd name="T113" fmla="*/ 220 h 1545"/>
                  <a:gd name="T114" fmla="*/ 175 w 1716"/>
                  <a:gd name="T115" fmla="*/ 395 h 1545"/>
                  <a:gd name="T116" fmla="*/ 382 w 1716"/>
                  <a:gd name="T117" fmla="*/ 247 h 1545"/>
                  <a:gd name="T118" fmla="*/ 905 w 1716"/>
                  <a:gd name="T119" fmla="*/ 470 h 1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16" h="1545">
                    <a:moveTo>
                      <a:pt x="616" y="467"/>
                    </a:moveTo>
                    <a:cubicBezTo>
                      <a:pt x="617" y="466"/>
                      <a:pt x="617" y="466"/>
                      <a:pt x="618" y="465"/>
                    </a:cubicBezTo>
                    <a:cubicBezTo>
                      <a:pt x="618" y="465"/>
                      <a:pt x="618" y="464"/>
                      <a:pt x="618" y="464"/>
                    </a:cubicBezTo>
                    <a:cubicBezTo>
                      <a:pt x="620" y="461"/>
                      <a:pt x="622" y="457"/>
                      <a:pt x="625" y="453"/>
                    </a:cubicBezTo>
                    <a:cubicBezTo>
                      <a:pt x="625" y="453"/>
                      <a:pt x="625" y="453"/>
                      <a:pt x="625" y="453"/>
                    </a:cubicBezTo>
                    <a:cubicBezTo>
                      <a:pt x="660" y="399"/>
                      <a:pt x="713" y="359"/>
                      <a:pt x="774" y="339"/>
                    </a:cubicBezTo>
                    <a:cubicBezTo>
                      <a:pt x="784" y="336"/>
                      <a:pt x="791" y="327"/>
                      <a:pt x="790" y="316"/>
                    </a:cubicBezTo>
                    <a:cubicBezTo>
                      <a:pt x="789" y="302"/>
                      <a:pt x="775" y="293"/>
                      <a:pt x="762" y="297"/>
                    </a:cubicBezTo>
                    <a:cubicBezTo>
                      <a:pt x="692" y="319"/>
                      <a:pt x="632" y="364"/>
                      <a:pt x="591" y="425"/>
                    </a:cubicBezTo>
                    <a:cubicBezTo>
                      <a:pt x="494" y="369"/>
                      <a:pt x="494" y="369"/>
                      <a:pt x="494" y="369"/>
                    </a:cubicBezTo>
                    <a:cubicBezTo>
                      <a:pt x="510" y="336"/>
                      <a:pt x="518" y="299"/>
                      <a:pt x="518" y="259"/>
                    </a:cubicBezTo>
                    <a:cubicBezTo>
                      <a:pt x="518" y="255"/>
                      <a:pt x="518" y="251"/>
                      <a:pt x="518" y="247"/>
                    </a:cubicBezTo>
                    <a:cubicBezTo>
                      <a:pt x="517" y="244"/>
                      <a:pt x="517" y="242"/>
                      <a:pt x="517" y="240"/>
                    </a:cubicBezTo>
                    <a:cubicBezTo>
                      <a:pt x="517" y="238"/>
                      <a:pt x="517" y="236"/>
                      <a:pt x="517" y="234"/>
                    </a:cubicBezTo>
                    <a:cubicBezTo>
                      <a:pt x="516" y="231"/>
                      <a:pt x="516" y="229"/>
                      <a:pt x="516" y="226"/>
                    </a:cubicBezTo>
                    <a:cubicBezTo>
                      <a:pt x="515" y="224"/>
                      <a:pt x="515" y="223"/>
                      <a:pt x="515" y="222"/>
                    </a:cubicBezTo>
                    <a:cubicBezTo>
                      <a:pt x="515" y="218"/>
                      <a:pt x="514" y="215"/>
                      <a:pt x="514" y="212"/>
                    </a:cubicBezTo>
                    <a:cubicBezTo>
                      <a:pt x="513" y="211"/>
                      <a:pt x="513" y="210"/>
                      <a:pt x="513" y="210"/>
                    </a:cubicBezTo>
                    <a:cubicBezTo>
                      <a:pt x="512" y="206"/>
                      <a:pt x="512" y="203"/>
                      <a:pt x="511" y="199"/>
                    </a:cubicBezTo>
                    <a:cubicBezTo>
                      <a:pt x="511" y="199"/>
                      <a:pt x="511" y="198"/>
                      <a:pt x="510" y="198"/>
                    </a:cubicBezTo>
                    <a:cubicBezTo>
                      <a:pt x="510" y="194"/>
                      <a:pt x="509" y="191"/>
                      <a:pt x="508" y="187"/>
                    </a:cubicBezTo>
                    <a:cubicBezTo>
                      <a:pt x="507" y="187"/>
                      <a:pt x="507" y="186"/>
                      <a:pt x="507" y="186"/>
                    </a:cubicBezTo>
                    <a:cubicBezTo>
                      <a:pt x="506" y="183"/>
                      <a:pt x="505" y="179"/>
                      <a:pt x="504" y="175"/>
                    </a:cubicBezTo>
                    <a:cubicBezTo>
                      <a:pt x="504" y="175"/>
                      <a:pt x="504" y="175"/>
                      <a:pt x="504" y="175"/>
                    </a:cubicBezTo>
                    <a:cubicBezTo>
                      <a:pt x="502" y="171"/>
                      <a:pt x="501" y="167"/>
                      <a:pt x="500" y="164"/>
                    </a:cubicBezTo>
                    <a:cubicBezTo>
                      <a:pt x="499" y="163"/>
                      <a:pt x="499" y="163"/>
                      <a:pt x="499" y="163"/>
                    </a:cubicBezTo>
                    <a:cubicBezTo>
                      <a:pt x="499" y="162"/>
                      <a:pt x="499" y="161"/>
                      <a:pt x="498" y="161"/>
                    </a:cubicBezTo>
                    <a:cubicBezTo>
                      <a:pt x="498" y="159"/>
                      <a:pt x="497" y="156"/>
                      <a:pt x="496" y="154"/>
                    </a:cubicBezTo>
                    <a:cubicBezTo>
                      <a:pt x="495" y="152"/>
                      <a:pt x="494" y="150"/>
                      <a:pt x="493" y="148"/>
                    </a:cubicBezTo>
                    <a:cubicBezTo>
                      <a:pt x="492" y="147"/>
                      <a:pt x="492" y="146"/>
                      <a:pt x="491" y="145"/>
                    </a:cubicBezTo>
                    <a:cubicBezTo>
                      <a:pt x="491" y="145"/>
                      <a:pt x="491" y="145"/>
                      <a:pt x="491" y="145"/>
                    </a:cubicBezTo>
                    <a:cubicBezTo>
                      <a:pt x="490" y="142"/>
                      <a:pt x="488" y="139"/>
                      <a:pt x="487" y="136"/>
                    </a:cubicBezTo>
                    <a:cubicBezTo>
                      <a:pt x="487" y="136"/>
                      <a:pt x="486" y="135"/>
                      <a:pt x="486" y="134"/>
                    </a:cubicBezTo>
                    <a:cubicBezTo>
                      <a:pt x="446" y="62"/>
                      <a:pt x="372" y="11"/>
                      <a:pt x="286" y="1"/>
                    </a:cubicBezTo>
                    <a:cubicBezTo>
                      <a:pt x="285" y="1"/>
                      <a:pt x="285" y="1"/>
                      <a:pt x="284" y="1"/>
                    </a:cubicBezTo>
                    <a:cubicBezTo>
                      <a:pt x="281" y="1"/>
                      <a:pt x="277" y="1"/>
                      <a:pt x="274" y="0"/>
                    </a:cubicBezTo>
                    <a:cubicBezTo>
                      <a:pt x="274" y="0"/>
                      <a:pt x="274" y="0"/>
                      <a:pt x="274" y="0"/>
                    </a:cubicBezTo>
                    <a:cubicBezTo>
                      <a:pt x="272" y="0"/>
                      <a:pt x="271" y="0"/>
                      <a:pt x="269" y="0"/>
                    </a:cubicBezTo>
                    <a:cubicBezTo>
                      <a:pt x="266" y="0"/>
                      <a:pt x="262" y="0"/>
                      <a:pt x="259" y="0"/>
                    </a:cubicBezTo>
                    <a:cubicBezTo>
                      <a:pt x="254" y="0"/>
                      <a:pt x="250" y="0"/>
                      <a:pt x="246" y="0"/>
                    </a:cubicBezTo>
                    <a:cubicBezTo>
                      <a:pt x="245" y="0"/>
                      <a:pt x="243" y="0"/>
                      <a:pt x="242" y="1"/>
                    </a:cubicBezTo>
                    <a:cubicBezTo>
                      <a:pt x="239" y="1"/>
                      <a:pt x="237" y="1"/>
                      <a:pt x="234" y="1"/>
                    </a:cubicBezTo>
                    <a:cubicBezTo>
                      <a:pt x="232" y="1"/>
                      <a:pt x="231" y="2"/>
                      <a:pt x="229" y="2"/>
                    </a:cubicBezTo>
                    <a:cubicBezTo>
                      <a:pt x="227" y="2"/>
                      <a:pt x="224" y="2"/>
                      <a:pt x="222" y="3"/>
                    </a:cubicBezTo>
                    <a:cubicBezTo>
                      <a:pt x="220" y="3"/>
                      <a:pt x="219" y="3"/>
                      <a:pt x="217" y="3"/>
                    </a:cubicBezTo>
                    <a:cubicBezTo>
                      <a:pt x="215" y="4"/>
                      <a:pt x="212" y="4"/>
                      <a:pt x="210" y="5"/>
                    </a:cubicBezTo>
                    <a:cubicBezTo>
                      <a:pt x="208" y="5"/>
                      <a:pt x="207" y="5"/>
                      <a:pt x="205" y="6"/>
                    </a:cubicBezTo>
                    <a:cubicBezTo>
                      <a:pt x="203" y="6"/>
                      <a:pt x="201" y="7"/>
                      <a:pt x="199" y="7"/>
                    </a:cubicBezTo>
                    <a:cubicBezTo>
                      <a:pt x="197" y="8"/>
                      <a:pt x="195" y="8"/>
                      <a:pt x="193" y="8"/>
                    </a:cubicBezTo>
                    <a:cubicBezTo>
                      <a:pt x="191" y="9"/>
                      <a:pt x="190" y="9"/>
                      <a:pt x="188" y="10"/>
                    </a:cubicBezTo>
                    <a:cubicBezTo>
                      <a:pt x="183" y="11"/>
                      <a:pt x="179" y="13"/>
                      <a:pt x="175" y="14"/>
                    </a:cubicBezTo>
                    <a:cubicBezTo>
                      <a:pt x="174" y="14"/>
                      <a:pt x="173" y="15"/>
                      <a:pt x="172" y="15"/>
                    </a:cubicBezTo>
                    <a:cubicBezTo>
                      <a:pt x="169" y="16"/>
                      <a:pt x="167" y="17"/>
                      <a:pt x="164" y="18"/>
                    </a:cubicBezTo>
                    <a:cubicBezTo>
                      <a:pt x="163" y="18"/>
                      <a:pt x="162" y="19"/>
                      <a:pt x="161" y="19"/>
                    </a:cubicBezTo>
                    <a:cubicBezTo>
                      <a:pt x="159" y="20"/>
                      <a:pt x="156" y="21"/>
                      <a:pt x="154" y="22"/>
                    </a:cubicBezTo>
                    <a:cubicBezTo>
                      <a:pt x="153" y="23"/>
                      <a:pt x="152" y="23"/>
                      <a:pt x="151" y="24"/>
                    </a:cubicBezTo>
                    <a:cubicBezTo>
                      <a:pt x="148" y="25"/>
                      <a:pt x="146" y="26"/>
                      <a:pt x="143" y="27"/>
                    </a:cubicBezTo>
                    <a:cubicBezTo>
                      <a:pt x="143" y="28"/>
                      <a:pt x="142" y="28"/>
                      <a:pt x="141" y="29"/>
                    </a:cubicBezTo>
                    <a:cubicBezTo>
                      <a:pt x="138" y="30"/>
                      <a:pt x="136" y="31"/>
                      <a:pt x="133" y="33"/>
                    </a:cubicBezTo>
                    <a:cubicBezTo>
                      <a:pt x="133" y="33"/>
                      <a:pt x="133" y="33"/>
                      <a:pt x="133" y="33"/>
                    </a:cubicBezTo>
                    <a:cubicBezTo>
                      <a:pt x="120" y="40"/>
                      <a:pt x="109" y="48"/>
                      <a:pt x="98" y="57"/>
                    </a:cubicBezTo>
                    <a:cubicBezTo>
                      <a:pt x="98" y="57"/>
                      <a:pt x="97" y="57"/>
                      <a:pt x="97" y="57"/>
                    </a:cubicBezTo>
                    <a:cubicBezTo>
                      <a:pt x="95" y="59"/>
                      <a:pt x="92" y="61"/>
                      <a:pt x="90" y="63"/>
                    </a:cubicBezTo>
                    <a:cubicBezTo>
                      <a:pt x="89" y="64"/>
                      <a:pt x="88" y="65"/>
                      <a:pt x="87" y="66"/>
                    </a:cubicBezTo>
                    <a:cubicBezTo>
                      <a:pt x="85" y="68"/>
                      <a:pt x="83" y="69"/>
                      <a:pt x="82" y="71"/>
                    </a:cubicBezTo>
                    <a:cubicBezTo>
                      <a:pt x="80" y="72"/>
                      <a:pt x="79" y="73"/>
                      <a:pt x="78" y="75"/>
                    </a:cubicBezTo>
                    <a:cubicBezTo>
                      <a:pt x="77" y="75"/>
                      <a:pt x="77" y="75"/>
                      <a:pt x="77" y="75"/>
                    </a:cubicBezTo>
                    <a:cubicBezTo>
                      <a:pt x="76" y="76"/>
                      <a:pt x="75" y="77"/>
                      <a:pt x="74" y="78"/>
                    </a:cubicBezTo>
                    <a:cubicBezTo>
                      <a:pt x="73" y="79"/>
                      <a:pt x="72" y="80"/>
                      <a:pt x="71" y="81"/>
                    </a:cubicBezTo>
                    <a:cubicBezTo>
                      <a:pt x="70" y="82"/>
                      <a:pt x="69" y="84"/>
                      <a:pt x="68" y="85"/>
                    </a:cubicBezTo>
                    <a:cubicBezTo>
                      <a:pt x="67" y="85"/>
                      <a:pt x="67" y="85"/>
                      <a:pt x="67" y="85"/>
                    </a:cubicBezTo>
                    <a:cubicBezTo>
                      <a:pt x="67" y="86"/>
                      <a:pt x="67" y="86"/>
                      <a:pt x="66" y="86"/>
                    </a:cubicBezTo>
                    <a:cubicBezTo>
                      <a:pt x="64" y="89"/>
                      <a:pt x="62" y="92"/>
                      <a:pt x="59" y="94"/>
                    </a:cubicBezTo>
                    <a:cubicBezTo>
                      <a:pt x="23" y="139"/>
                      <a:pt x="0" y="197"/>
                      <a:pt x="0" y="259"/>
                    </a:cubicBezTo>
                    <a:cubicBezTo>
                      <a:pt x="0" y="277"/>
                      <a:pt x="2" y="295"/>
                      <a:pt x="6" y="311"/>
                    </a:cubicBezTo>
                    <a:cubicBezTo>
                      <a:pt x="6" y="312"/>
                      <a:pt x="6" y="312"/>
                      <a:pt x="6" y="312"/>
                    </a:cubicBezTo>
                    <a:cubicBezTo>
                      <a:pt x="7" y="316"/>
                      <a:pt x="7" y="320"/>
                      <a:pt x="8" y="324"/>
                    </a:cubicBezTo>
                    <a:cubicBezTo>
                      <a:pt x="9" y="325"/>
                      <a:pt x="9" y="327"/>
                      <a:pt x="10" y="328"/>
                    </a:cubicBezTo>
                    <a:cubicBezTo>
                      <a:pt x="10" y="331"/>
                      <a:pt x="11" y="333"/>
                      <a:pt x="12" y="336"/>
                    </a:cubicBezTo>
                    <a:cubicBezTo>
                      <a:pt x="13" y="340"/>
                      <a:pt x="14" y="344"/>
                      <a:pt x="16" y="348"/>
                    </a:cubicBezTo>
                    <a:cubicBezTo>
                      <a:pt x="16" y="348"/>
                      <a:pt x="16" y="348"/>
                      <a:pt x="16" y="348"/>
                    </a:cubicBezTo>
                    <a:cubicBezTo>
                      <a:pt x="16" y="349"/>
                      <a:pt x="16" y="349"/>
                      <a:pt x="16" y="349"/>
                    </a:cubicBezTo>
                    <a:cubicBezTo>
                      <a:pt x="18" y="353"/>
                      <a:pt x="19" y="356"/>
                      <a:pt x="20" y="360"/>
                    </a:cubicBezTo>
                    <a:cubicBezTo>
                      <a:pt x="21" y="360"/>
                      <a:pt x="21" y="361"/>
                      <a:pt x="21" y="361"/>
                    </a:cubicBezTo>
                    <a:cubicBezTo>
                      <a:pt x="23" y="365"/>
                      <a:pt x="24" y="368"/>
                      <a:pt x="26" y="371"/>
                    </a:cubicBezTo>
                    <a:cubicBezTo>
                      <a:pt x="26" y="372"/>
                      <a:pt x="26" y="372"/>
                      <a:pt x="26" y="373"/>
                    </a:cubicBezTo>
                    <a:cubicBezTo>
                      <a:pt x="28" y="376"/>
                      <a:pt x="29" y="379"/>
                      <a:pt x="31" y="381"/>
                    </a:cubicBezTo>
                    <a:cubicBezTo>
                      <a:pt x="31" y="382"/>
                      <a:pt x="31" y="382"/>
                      <a:pt x="31" y="382"/>
                    </a:cubicBezTo>
                    <a:cubicBezTo>
                      <a:pt x="32" y="383"/>
                      <a:pt x="32" y="383"/>
                      <a:pt x="32" y="384"/>
                    </a:cubicBezTo>
                    <a:cubicBezTo>
                      <a:pt x="34" y="387"/>
                      <a:pt x="36" y="390"/>
                      <a:pt x="37" y="393"/>
                    </a:cubicBezTo>
                    <a:cubicBezTo>
                      <a:pt x="38" y="394"/>
                      <a:pt x="38" y="394"/>
                      <a:pt x="38" y="395"/>
                    </a:cubicBezTo>
                    <a:cubicBezTo>
                      <a:pt x="40" y="398"/>
                      <a:pt x="42" y="401"/>
                      <a:pt x="44" y="404"/>
                    </a:cubicBezTo>
                    <a:cubicBezTo>
                      <a:pt x="45" y="404"/>
                      <a:pt x="45" y="405"/>
                      <a:pt x="45" y="405"/>
                    </a:cubicBezTo>
                    <a:cubicBezTo>
                      <a:pt x="46" y="406"/>
                      <a:pt x="47" y="408"/>
                      <a:pt x="48" y="409"/>
                    </a:cubicBezTo>
                    <a:cubicBezTo>
                      <a:pt x="49" y="411"/>
                      <a:pt x="50" y="412"/>
                      <a:pt x="51" y="414"/>
                    </a:cubicBezTo>
                    <a:cubicBezTo>
                      <a:pt x="52" y="414"/>
                      <a:pt x="52" y="415"/>
                      <a:pt x="52" y="415"/>
                    </a:cubicBezTo>
                    <a:cubicBezTo>
                      <a:pt x="53" y="416"/>
                      <a:pt x="54" y="417"/>
                      <a:pt x="55" y="418"/>
                    </a:cubicBezTo>
                    <a:cubicBezTo>
                      <a:pt x="56" y="420"/>
                      <a:pt x="58" y="422"/>
                      <a:pt x="59" y="423"/>
                    </a:cubicBezTo>
                    <a:cubicBezTo>
                      <a:pt x="59" y="424"/>
                      <a:pt x="60" y="425"/>
                      <a:pt x="60" y="425"/>
                    </a:cubicBezTo>
                    <a:cubicBezTo>
                      <a:pt x="63" y="428"/>
                      <a:pt x="65" y="430"/>
                      <a:pt x="67" y="433"/>
                    </a:cubicBezTo>
                    <a:cubicBezTo>
                      <a:pt x="68" y="434"/>
                      <a:pt x="69" y="434"/>
                      <a:pt x="69" y="435"/>
                    </a:cubicBezTo>
                    <a:cubicBezTo>
                      <a:pt x="70" y="436"/>
                      <a:pt x="71" y="437"/>
                      <a:pt x="72" y="438"/>
                    </a:cubicBezTo>
                    <a:cubicBezTo>
                      <a:pt x="73" y="439"/>
                      <a:pt x="74" y="440"/>
                      <a:pt x="75" y="441"/>
                    </a:cubicBezTo>
                    <a:cubicBezTo>
                      <a:pt x="77" y="443"/>
                      <a:pt x="78" y="444"/>
                      <a:pt x="80" y="446"/>
                    </a:cubicBezTo>
                    <a:cubicBezTo>
                      <a:pt x="80" y="446"/>
                      <a:pt x="81" y="447"/>
                      <a:pt x="82" y="448"/>
                    </a:cubicBezTo>
                    <a:cubicBezTo>
                      <a:pt x="83" y="449"/>
                      <a:pt x="83" y="449"/>
                      <a:pt x="84" y="449"/>
                    </a:cubicBezTo>
                    <a:cubicBezTo>
                      <a:pt x="86" y="452"/>
                      <a:pt x="89" y="454"/>
                      <a:pt x="92" y="457"/>
                    </a:cubicBezTo>
                    <a:cubicBezTo>
                      <a:pt x="92" y="457"/>
                      <a:pt x="92" y="457"/>
                      <a:pt x="92" y="457"/>
                    </a:cubicBezTo>
                    <a:cubicBezTo>
                      <a:pt x="94" y="459"/>
                      <a:pt x="96" y="460"/>
                      <a:pt x="98" y="462"/>
                    </a:cubicBezTo>
                    <a:cubicBezTo>
                      <a:pt x="99" y="462"/>
                      <a:pt x="99" y="463"/>
                      <a:pt x="100" y="464"/>
                    </a:cubicBezTo>
                    <a:cubicBezTo>
                      <a:pt x="104" y="467"/>
                      <a:pt x="108" y="469"/>
                      <a:pt x="112" y="472"/>
                    </a:cubicBezTo>
                    <a:cubicBezTo>
                      <a:pt x="112" y="472"/>
                      <a:pt x="112" y="472"/>
                      <a:pt x="112" y="472"/>
                    </a:cubicBezTo>
                    <a:cubicBezTo>
                      <a:pt x="114" y="474"/>
                      <a:pt x="116" y="475"/>
                      <a:pt x="118" y="476"/>
                    </a:cubicBezTo>
                    <a:cubicBezTo>
                      <a:pt x="119" y="477"/>
                      <a:pt x="120" y="477"/>
                      <a:pt x="120" y="478"/>
                    </a:cubicBezTo>
                    <a:cubicBezTo>
                      <a:pt x="127" y="482"/>
                      <a:pt x="133" y="485"/>
                      <a:pt x="140" y="489"/>
                    </a:cubicBezTo>
                    <a:cubicBezTo>
                      <a:pt x="140" y="489"/>
                      <a:pt x="141" y="489"/>
                      <a:pt x="141" y="490"/>
                    </a:cubicBezTo>
                    <a:cubicBezTo>
                      <a:pt x="148" y="493"/>
                      <a:pt x="155" y="497"/>
                      <a:pt x="163" y="499"/>
                    </a:cubicBezTo>
                    <a:cubicBezTo>
                      <a:pt x="163" y="500"/>
                      <a:pt x="163" y="500"/>
                      <a:pt x="164" y="500"/>
                    </a:cubicBezTo>
                    <a:cubicBezTo>
                      <a:pt x="171" y="503"/>
                      <a:pt x="179" y="505"/>
                      <a:pt x="187" y="508"/>
                    </a:cubicBezTo>
                    <a:cubicBezTo>
                      <a:pt x="187" y="508"/>
                      <a:pt x="187" y="508"/>
                      <a:pt x="187" y="508"/>
                    </a:cubicBezTo>
                    <a:cubicBezTo>
                      <a:pt x="195" y="510"/>
                      <a:pt x="203" y="512"/>
                      <a:pt x="212" y="514"/>
                    </a:cubicBezTo>
                    <a:cubicBezTo>
                      <a:pt x="213" y="514"/>
                      <a:pt x="214" y="514"/>
                      <a:pt x="216" y="514"/>
                    </a:cubicBezTo>
                    <a:cubicBezTo>
                      <a:pt x="218" y="515"/>
                      <a:pt x="219" y="515"/>
                      <a:pt x="221" y="515"/>
                    </a:cubicBezTo>
                    <a:cubicBezTo>
                      <a:pt x="224" y="516"/>
                      <a:pt x="228" y="516"/>
                      <a:pt x="231" y="516"/>
                    </a:cubicBezTo>
                    <a:cubicBezTo>
                      <a:pt x="232" y="516"/>
                      <a:pt x="233" y="517"/>
                      <a:pt x="234" y="517"/>
                    </a:cubicBezTo>
                    <a:cubicBezTo>
                      <a:pt x="238" y="517"/>
                      <a:pt x="242" y="517"/>
                      <a:pt x="246" y="518"/>
                    </a:cubicBezTo>
                    <a:cubicBezTo>
                      <a:pt x="250" y="518"/>
                      <a:pt x="254" y="518"/>
                      <a:pt x="259" y="518"/>
                    </a:cubicBezTo>
                    <a:cubicBezTo>
                      <a:pt x="259" y="518"/>
                      <a:pt x="260" y="518"/>
                      <a:pt x="260" y="518"/>
                    </a:cubicBezTo>
                    <a:cubicBezTo>
                      <a:pt x="263" y="518"/>
                      <a:pt x="266" y="518"/>
                      <a:pt x="269" y="518"/>
                    </a:cubicBezTo>
                    <a:cubicBezTo>
                      <a:pt x="270" y="518"/>
                      <a:pt x="272" y="518"/>
                      <a:pt x="273" y="517"/>
                    </a:cubicBezTo>
                    <a:cubicBezTo>
                      <a:pt x="276" y="517"/>
                      <a:pt x="280" y="517"/>
                      <a:pt x="283" y="517"/>
                    </a:cubicBezTo>
                    <a:cubicBezTo>
                      <a:pt x="286" y="516"/>
                      <a:pt x="289" y="516"/>
                      <a:pt x="292" y="516"/>
                    </a:cubicBezTo>
                    <a:cubicBezTo>
                      <a:pt x="293" y="516"/>
                      <a:pt x="294" y="515"/>
                      <a:pt x="295" y="515"/>
                    </a:cubicBezTo>
                    <a:cubicBezTo>
                      <a:pt x="297" y="515"/>
                      <a:pt x="299" y="515"/>
                      <a:pt x="301" y="514"/>
                    </a:cubicBezTo>
                    <a:cubicBezTo>
                      <a:pt x="302" y="514"/>
                      <a:pt x="303" y="514"/>
                      <a:pt x="304" y="514"/>
                    </a:cubicBezTo>
                    <a:cubicBezTo>
                      <a:pt x="306" y="514"/>
                      <a:pt x="309" y="513"/>
                      <a:pt x="311" y="513"/>
                    </a:cubicBezTo>
                    <a:cubicBezTo>
                      <a:pt x="311" y="513"/>
                      <a:pt x="312" y="512"/>
                      <a:pt x="313" y="512"/>
                    </a:cubicBezTo>
                    <a:cubicBezTo>
                      <a:pt x="316" y="512"/>
                      <a:pt x="318" y="511"/>
                      <a:pt x="321" y="510"/>
                    </a:cubicBezTo>
                    <a:cubicBezTo>
                      <a:pt x="321" y="510"/>
                      <a:pt x="321" y="510"/>
                      <a:pt x="322" y="510"/>
                    </a:cubicBezTo>
                    <a:cubicBezTo>
                      <a:pt x="331" y="508"/>
                      <a:pt x="340" y="505"/>
                      <a:pt x="348" y="502"/>
                    </a:cubicBezTo>
                    <a:cubicBezTo>
                      <a:pt x="348" y="502"/>
                      <a:pt x="349" y="502"/>
                      <a:pt x="349" y="502"/>
                    </a:cubicBezTo>
                    <a:cubicBezTo>
                      <a:pt x="351" y="501"/>
                      <a:pt x="354" y="500"/>
                      <a:pt x="357" y="499"/>
                    </a:cubicBezTo>
                    <a:cubicBezTo>
                      <a:pt x="357" y="499"/>
                      <a:pt x="357" y="499"/>
                      <a:pt x="357" y="499"/>
                    </a:cubicBezTo>
                    <a:cubicBezTo>
                      <a:pt x="359" y="498"/>
                      <a:pt x="361" y="497"/>
                      <a:pt x="362" y="496"/>
                    </a:cubicBezTo>
                    <a:cubicBezTo>
                      <a:pt x="362" y="496"/>
                      <a:pt x="362" y="496"/>
                      <a:pt x="362" y="496"/>
                    </a:cubicBezTo>
                    <a:cubicBezTo>
                      <a:pt x="363" y="496"/>
                      <a:pt x="364" y="496"/>
                      <a:pt x="365" y="495"/>
                    </a:cubicBezTo>
                    <a:cubicBezTo>
                      <a:pt x="371" y="493"/>
                      <a:pt x="377" y="490"/>
                      <a:pt x="383" y="486"/>
                    </a:cubicBezTo>
                    <a:cubicBezTo>
                      <a:pt x="383" y="486"/>
                      <a:pt x="384" y="486"/>
                      <a:pt x="384" y="486"/>
                    </a:cubicBezTo>
                    <a:cubicBezTo>
                      <a:pt x="386" y="484"/>
                      <a:pt x="389" y="483"/>
                      <a:pt x="391" y="482"/>
                    </a:cubicBezTo>
                    <a:cubicBezTo>
                      <a:pt x="392" y="481"/>
                      <a:pt x="392" y="481"/>
                      <a:pt x="393" y="481"/>
                    </a:cubicBezTo>
                    <a:cubicBezTo>
                      <a:pt x="396" y="479"/>
                      <a:pt x="398" y="477"/>
                      <a:pt x="401" y="475"/>
                    </a:cubicBezTo>
                    <a:cubicBezTo>
                      <a:pt x="422" y="462"/>
                      <a:pt x="441" y="445"/>
                      <a:pt x="457" y="426"/>
                    </a:cubicBezTo>
                    <a:cubicBezTo>
                      <a:pt x="458" y="425"/>
                      <a:pt x="459" y="424"/>
                      <a:pt x="460" y="423"/>
                    </a:cubicBezTo>
                    <a:cubicBezTo>
                      <a:pt x="461" y="421"/>
                      <a:pt x="462" y="420"/>
                      <a:pt x="463" y="418"/>
                    </a:cubicBezTo>
                    <a:cubicBezTo>
                      <a:pt x="463" y="418"/>
                      <a:pt x="464" y="418"/>
                      <a:pt x="464" y="418"/>
                    </a:cubicBezTo>
                    <a:cubicBezTo>
                      <a:pt x="464" y="418"/>
                      <a:pt x="464" y="417"/>
                      <a:pt x="464" y="417"/>
                    </a:cubicBezTo>
                    <a:cubicBezTo>
                      <a:pt x="467" y="414"/>
                      <a:pt x="469" y="410"/>
                      <a:pt x="472" y="407"/>
                    </a:cubicBezTo>
                    <a:cubicBezTo>
                      <a:pt x="520" y="434"/>
                      <a:pt x="558" y="457"/>
                      <a:pt x="589" y="475"/>
                    </a:cubicBezTo>
                    <a:cubicBezTo>
                      <a:pt x="599" y="480"/>
                      <a:pt x="611" y="477"/>
                      <a:pt x="616" y="467"/>
                    </a:cubicBezTo>
                    <a:close/>
                    <a:moveTo>
                      <a:pt x="455" y="348"/>
                    </a:moveTo>
                    <a:cubicBezTo>
                      <a:pt x="453" y="351"/>
                      <a:pt x="453" y="351"/>
                      <a:pt x="453" y="351"/>
                    </a:cubicBezTo>
                    <a:cubicBezTo>
                      <a:pt x="452" y="353"/>
                      <a:pt x="452" y="353"/>
                      <a:pt x="452" y="353"/>
                    </a:cubicBezTo>
                    <a:cubicBezTo>
                      <a:pt x="452" y="354"/>
                      <a:pt x="452" y="354"/>
                      <a:pt x="452" y="354"/>
                    </a:cubicBezTo>
                    <a:cubicBezTo>
                      <a:pt x="449" y="360"/>
                      <a:pt x="446" y="366"/>
                      <a:pt x="442" y="371"/>
                    </a:cubicBezTo>
                    <a:cubicBezTo>
                      <a:pt x="441" y="373"/>
                      <a:pt x="439" y="376"/>
                      <a:pt x="437" y="380"/>
                    </a:cubicBezTo>
                    <a:cubicBezTo>
                      <a:pt x="436" y="381"/>
                      <a:pt x="436" y="381"/>
                      <a:pt x="436" y="381"/>
                    </a:cubicBezTo>
                    <a:cubicBezTo>
                      <a:pt x="435" y="382"/>
                      <a:pt x="435" y="382"/>
                      <a:pt x="435" y="382"/>
                    </a:cubicBezTo>
                    <a:cubicBezTo>
                      <a:pt x="435" y="383"/>
                      <a:pt x="435" y="383"/>
                      <a:pt x="435" y="383"/>
                    </a:cubicBezTo>
                    <a:cubicBezTo>
                      <a:pt x="433" y="385"/>
                      <a:pt x="431" y="388"/>
                      <a:pt x="429" y="390"/>
                    </a:cubicBezTo>
                    <a:cubicBezTo>
                      <a:pt x="429" y="390"/>
                      <a:pt x="429" y="390"/>
                      <a:pt x="429" y="390"/>
                    </a:cubicBezTo>
                    <a:cubicBezTo>
                      <a:pt x="429" y="391"/>
                      <a:pt x="429" y="391"/>
                      <a:pt x="429" y="391"/>
                    </a:cubicBezTo>
                    <a:cubicBezTo>
                      <a:pt x="429" y="391"/>
                      <a:pt x="429" y="391"/>
                      <a:pt x="429" y="391"/>
                    </a:cubicBezTo>
                    <a:cubicBezTo>
                      <a:pt x="429" y="391"/>
                      <a:pt x="429" y="391"/>
                      <a:pt x="429" y="391"/>
                    </a:cubicBezTo>
                    <a:cubicBezTo>
                      <a:pt x="428" y="392"/>
                      <a:pt x="427" y="394"/>
                      <a:pt x="426" y="395"/>
                    </a:cubicBezTo>
                    <a:cubicBezTo>
                      <a:pt x="425" y="395"/>
                      <a:pt x="425" y="395"/>
                      <a:pt x="425" y="395"/>
                    </a:cubicBezTo>
                    <a:cubicBezTo>
                      <a:pt x="425" y="395"/>
                      <a:pt x="425" y="395"/>
                      <a:pt x="425" y="395"/>
                    </a:cubicBezTo>
                    <a:cubicBezTo>
                      <a:pt x="425" y="396"/>
                      <a:pt x="424" y="396"/>
                      <a:pt x="424" y="397"/>
                    </a:cubicBezTo>
                    <a:cubicBezTo>
                      <a:pt x="423" y="398"/>
                      <a:pt x="423" y="398"/>
                      <a:pt x="423" y="398"/>
                    </a:cubicBezTo>
                    <a:cubicBezTo>
                      <a:pt x="410" y="414"/>
                      <a:pt x="394" y="427"/>
                      <a:pt x="377" y="439"/>
                    </a:cubicBezTo>
                    <a:cubicBezTo>
                      <a:pt x="375" y="440"/>
                      <a:pt x="373" y="441"/>
                      <a:pt x="370" y="443"/>
                    </a:cubicBezTo>
                    <a:cubicBezTo>
                      <a:pt x="370" y="443"/>
                      <a:pt x="370" y="443"/>
                      <a:pt x="370" y="443"/>
                    </a:cubicBezTo>
                    <a:cubicBezTo>
                      <a:pt x="369" y="444"/>
                      <a:pt x="369" y="444"/>
                      <a:pt x="369" y="444"/>
                    </a:cubicBezTo>
                    <a:cubicBezTo>
                      <a:pt x="367" y="445"/>
                      <a:pt x="365" y="446"/>
                      <a:pt x="363" y="447"/>
                    </a:cubicBezTo>
                    <a:cubicBezTo>
                      <a:pt x="362" y="448"/>
                      <a:pt x="362" y="448"/>
                      <a:pt x="362" y="448"/>
                    </a:cubicBezTo>
                    <a:cubicBezTo>
                      <a:pt x="362" y="448"/>
                      <a:pt x="362" y="448"/>
                      <a:pt x="362" y="448"/>
                    </a:cubicBezTo>
                    <a:cubicBezTo>
                      <a:pt x="357" y="450"/>
                      <a:pt x="352" y="453"/>
                      <a:pt x="347" y="455"/>
                    </a:cubicBezTo>
                    <a:cubicBezTo>
                      <a:pt x="346" y="456"/>
                      <a:pt x="345" y="456"/>
                      <a:pt x="345" y="456"/>
                    </a:cubicBezTo>
                    <a:cubicBezTo>
                      <a:pt x="345" y="456"/>
                      <a:pt x="345" y="456"/>
                      <a:pt x="345" y="456"/>
                    </a:cubicBezTo>
                    <a:cubicBezTo>
                      <a:pt x="343" y="457"/>
                      <a:pt x="342" y="457"/>
                      <a:pt x="341" y="458"/>
                    </a:cubicBezTo>
                    <a:cubicBezTo>
                      <a:pt x="340" y="458"/>
                      <a:pt x="340" y="458"/>
                      <a:pt x="340" y="458"/>
                    </a:cubicBezTo>
                    <a:cubicBezTo>
                      <a:pt x="338" y="459"/>
                      <a:pt x="336" y="460"/>
                      <a:pt x="333" y="461"/>
                    </a:cubicBezTo>
                    <a:cubicBezTo>
                      <a:pt x="333" y="461"/>
                      <a:pt x="333" y="461"/>
                      <a:pt x="333" y="461"/>
                    </a:cubicBezTo>
                    <a:cubicBezTo>
                      <a:pt x="326" y="463"/>
                      <a:pt x="319" y="466"/>
                      <a:pt x="311" y="468"/>
                    </a:cubicBezTo>
                    <a:cubicBezTo>
                      <a:pt x="310" y="468"/>
                      <a:pt x="310" y="468"/>
                      <a:pt x="310" y="468"/>
                    </a:cubicBezTo>
                    <a:cubicBezTo>
                      <a:pt x="308" y="468"/>
                      <a:pt x="306" y="469"/>
                      <a:pt x="304" y="469"/>
                    </a:cubicBezTo>
                    <a:cubicBezTo>
                      <a:pt x="302" y="469"/>
                      <a:pt x="302" y="469"/>
                      <a:pt x="302" y="469"/>
                    </a:cubicBezTo>
                    <a:cubicBezTo>
                      <a:pt x="302" y="470"/>
                      <a:pt x="302" y="470"/>
                      <a:pt x="302" y="470"/>
                    </a:cubicBezTo>
                    <a:cubicBezTo>
                      <a:pt x="300" y="470"/>
                      <a:pt x="298" y="470"/>
                      <a:pt x="297" y="471"/>
                    </a:cubicBezTo>
                    <a:cubicBezTo>
                      <a:pt x="296" y="471"/>
                      <a:pt x="296" y="471"/>
                      <a:pt x="296" y="471"/>
                    </a:cubicBezTo>
                    <a:cubicBezTo>
                      <a:pt x="296" y="471"/>
                      <a:pt x="295" y="471"/>
                      <a:pt x="294" y="471"/>
                    </a:cubicBezTo>
                    <a:cubicBezTo>
                      <a:pt x="292" y="471"/>
                      <a:pt x="291" y="472"/>
                      <a:pt x="289" y="472"/>
                    </a:cubicBezTo>
                    <a:cubicBezTo>
                      <a:pt x="288" y="472"/>
                      <a:pt x="288" y="472"/>
                      <a:pt x="288" y="472"/>
                    </a:cubicBezTo>
                    <a:cubicBezTo>
                      <a:pt x="287" y="472"/>
                      <a:pt x="287" y="472"/>
                      <a:pt x="287" y="472"/>
                    </a:cubicBezTo>
                    <a:cubicBezTo>
                      <a:pt x="284" y="472"/>
                      <a:pt x="282" y="473"/>
                      <a:pt x="279" y="473"/>
                    </a:cubicBezTo>
                    <a:cubicBezTo>
                      <a:pt x="276" y="473"/>
                      <a:pt x="273" y="473"/>
                      <a:pt x="271" y="474"/>
                    </a:cubicBezTo>
                    <a:cubicBezTo>
                      <a:pt x="269" y="474"/>
                      <a:pt x="268" y="474"/>
                      <a:pt x="267" y="474"/>
                    </a:cubicBezTo>
                    <a:cubicBezTo>
                      <a:pt x="265" y="474"/>
                      <a:pt x="262" y="474"/>
                      <a:pt x="260" y="474"/>
                    </a:cubicBezTo>
                    <a:cubicBezTo>
                      <a:pt x="259" y="474"/>
                      <a:pt x="259" y="474"/>
                      <a:pt x="258" y="474"/>
                    </a:cubicBezTo>
                    <a:cubicBezTo>
                      <a:pt x="255" y="474"/>
                      <a:pt x="252" y="474"/>
                      <a:pt x="248" y="474"/>
                    </a:cubicBezTo>
                    <a:cubicBezTo>
                      <a:pt x="245" y="473"/>
                      <a:pt x="241" y="473"/>
                      <a:pt x="238" y="473"/>
                    </a:cubicBezTo>
                    <a:cubicBezTo>
                      <a:pt x="237" y="473"/>
                      <a:pt x="236" y="473"/>
                      <a:pt x="236" y="473"/>
                    </a:cubicBezTo>
                    <a:cubicBezTo>
                      <a:pt x="233" y="472"/>
                      <a:pt x="230" y="472"/>
                      <a:pt x="227" y="472"/>
                    </a:cubicBezTo>
                    <a:cubicBezTo>
                      <a:pt x="226" y="471"/>
                      <a:pt x="225" y="471"/>
                      <a:pt x="224" y="471"/>
                    </a:cubicBezTo>
                    <a:cubicBezTo>
                      <a:pt x="223" y="471"/>
                      <a:pt x="223" y="471"/>
                      <a:pt x="223" y="471"/>
                    </a:cubicBezTo>
                    <a:cubicBezTo>
                      <a:pt x="222" y="471"/>
                      <a:pt x="221" y="471"/>
                      <a:pt x="220" y="470"/>
                    </a:cubicBezTo>
                    <a:cubicBezTo>
                      <a:pt x="213" y="469"/>
                      <a:pt x="206" y="467"/>
                      <a:pt x="199" y="466"/>
                    </a:cubicBezTo>
                    <a:cubicBezTo>
                      <a:pt x="199" y="465"/>
                      <a:pt x="199" y="465"/>
                      <a:pt x="199" y="465"/>
                    </a:cubicBezTo>
                    <a:cubicBezTo>
                      <a:pt x="199" y="465"/>
                      <a:pt x="199" y="465"/>
                      <a:pt x="199" y="465"/>
                    </a:cubicBezTo>
                    <a:cubicBezTo>
                      <a:pt x="193" y="464"/>
                      <a:pt x="186" y="461"/>
                      <a:pt x="180" y="459"/>
                    </a:cubicBezTo>
                    <a:cubicBezTo>
                      <a:pt x="179" y="459"/>
                      <a:pt x="179" y="459"/>
                      <a:pt x="179" y="459"/>
                    </a:cubicBezTo>
                    <a:cubicBezTo>
                      <a:pt x="173" y="456"/>
                      <a:pt x="167" y="453"/>
                      <a:pt x="161" y="451"/>
                    </a:cubicBezTo>
                    <a:cubicBezTo>
                      <a:pt x="161" y="450"/>
                      <a:pt x="161" y="450"/>
                      <a:pt x="161" y="450"/>
                    </a:cubicBezTo>
                    <a:cubicBezTo>
                      <a:pt x="160" y="450"/>
                      <a:pt x="160" y="450"/>
                      <a:pt x="160" y="450"/>
                    </a:cubicBezTo>
                    <a:cubicBezTo>
                      <a:pt x="155" y="447"/>
                      <a:pt x="149" y="444"/>
                      <a:pt x="144" y="440"/>
                    </a:cubicBezTo>
                    <a:cubicBezTo>
                      <a:pt x="143" y="440"/>
                      <a:pt x="143" y="440"/>
                      <a:pt x="142" y="439"/>
                    </a:cubicBezTo>
                    <a:cubicBezTo>
                      <a:pt x="141" y="438"/>
                      <a:pt x="139" y="437"/>
                      <a:pt x="137" y="436"/>
                    </a:cubicBezTo>
                    <a:cubicBezTo>
                      <a:pt x="137" y="436"/>
                      <a:pt x="137" y="436"/>
                      <a:pt x="137" y="436"/>
                    </a:cubicBezTo>
                    <a:cubicBezTo>
                      <a:pt x="137" y="436"/>
                      <a:pt x="137" y="436"/>
                      <a:pt x="137" y="436"/>
                    </a:cubicBezTo>
                    <a:cubicBezTo>
                      <a:pt x="134" y="434"/>
                      <a:pt x="131" y="431"/>
                      <a:pt x="127" y="429"/>
                    </a:cubicBezTo>
                    <a:cubicBezTo>
                      <a:pt x="127" y="428"/>
                      <a:pt x="126" y="428"/>
                      <a:pt x="125" y="427"/>
                    </a:cubicBezTo>
                    <a:cubicBezTo>
                      <a:pt x="124" y="426"/>
                      <a:pt x="122" y="425"/>
                      <a:pt x="121" y="424"/>
                    </a:cubicBezTo>
                    <a:cubicBezTo>
                      <a:pt x="120" y="423"/>
                      <a:pt x="120" y="423"/>
                      <a:pt x="120" y="423"/>
                    </a:cubicBezTo>
                    <a:cubicBezTo>
                      <a:pt x="118" y="421"/>
                      <a:pt x="115" y="419"/>
                      <a:pt x="114" y="417"/>
                    </a:cubicBezTo>
                    <a:cubicBezTo>
                      <a:pt x="113" y="417"/>
                      <a:pt x="113" y="417"/>
                      <a:pt x="113" y="417"/>
                    </a:cubicBezTo>
                    <a:cubicBezTo>
                      <a:pt x="113" y="417"/>
                      <a:pt x="113" y="416"/>
                      <a:pt x="112" y="416"/>
                    </a:cubicBezTo>
                    <a:cubicBezTo>
                      <a:pt x="111" y="415"/>
                      <a:pt x="111" y="415"/>
                      <a:pt x="111" y="415"/>
                    </a:cubicBezTo>
                    <a:cubicBezTo>
                      <a:pt x="110" y="414"/>
                      <a:pt x="110" y="414"/>
                      <a:pt x="110" y="414"/>
                    </a:cubicBezTo>
                    <a:cubicBezTo>
                      <a:pt x="109" y="413"/>
                      <a:pt x="109" y="413"/>
                      <a:pt x="109" y="413"/>
                    </a:cubicBezTo>
                    <a:cubicBezTo>
                      <a:pt x="108" y="412"/>
                      <a:pt x="107" y="411"/>
                      <a:pt x="106" y="410"/>
                    </a:cubicBezTo>
                    <a:cubicBezTo>
                      <a:pt x="106" y="410"/>
                      <a:pt x="106" y="410"/>
                      <a:pt x="105" y="409"/>
                    </a:cubicBezTo>
                    <a:cubicBezTo>
                      <a:pt x="104" y="408"/>
                      <a:pt x="104" y="408"/>
                      <a:pt x="104" y="408"/>
                    </a:cubicBezTo>
                    <a:cubicBezTo>
                      <a:pt x="103" y="407"/>
                      <a:pt x="103" y="407"/>
                      <a:pt x="103" y="407"/>
                    </a:cubicBezTo>
                    <a:cubicBezTo>
                      <a:pt x="102" y="406"/>
                      <a:pt x="102" y="406"/>
                      <a:pt x="102" y="405"/>
                    </a:cubicBezTo>
                    <a:cubicBezTo>
                      <a:pt x="101" y="404"/>
                      <a:pt x="101" y="404"/>
                      <a:pt x="101" y="404"/>
                    </a:cubicBezTo>
                    <a:cubicBezTo>
                      <a:pt x="100" y="404"/>
                      <a:pt x="100" y="404"/>
                      <a:pt x="100" y="403"/>
                    </a:cubicBezTo>
                    <a:cubicBezTo>
                      <a:pt x="98" y="401"/>
                      <a:pt x="96" y="399"/>
                      <a:pt x="94" y="397"/>
                    </a:cubicBezTo>
                    <a:cubicBezTo>
                      <a:pt x="93" y="396"/>
                      <a:pt x="93" y="396"/>
                      <a:pt x="93" y="396"/>
                    </a:cubicBezTo>
                    <a:cubicBezTo>
                      <a:pt x="93" y="396"/>
                      <a:pt x="93" y="396"/>
                      <a:pt x="93" y="396"/>
                    </a:cubicBezTo>
                    <a:cubicBezTo>
                      <a:pt x="92" y="395"/>
                      <a:pt x="91" y="393"/>
                      <a:pt x="91" y="392"/>
                    </a:cubicBezTo>
                    <a:cubicBezTo>
                      <a:pt x="90" y="391"/>
                      <a:pt x="90" y="391"/>
                      <a:pt x="90" y="391"/>
                    </a:cubicBezTo>
                    <a:cubicBezTo>
                      <a:pt x="89" y="391"/>
                      <a:pt x="89" y="390"/>
                      <a:pt x="88" y="389"/>
                    </a:cubicBezTo>
                    <a:cubicBezTo>
                      <a:pt x="88" y="389"/>
                      <a:pt x="88" y="389"/>
                      <a:pt x="87" y="389"/>
                    </a:cubicBezTo>
                    <a:cubicBezTo>
                      <a:pt x="87" y="388"/>
                      <a:pt x="87" y="388"/>
                      <a:pt x="87" y="388"/>
                    </a:cubicBezTo>
                    <a:cubicBezTo>
                      <a:pt x="87" y="388"/>
                      <a:pt x="87" y="388"/>
                      <a:pt x="87" y="388"/>
                    </a:cubicBezTo>
                    <a:cubicBezTo>
                      <a:pt x="86" y="387"/>
                      <a:pt x="86" y="386"/>
                      <a:pt x="85" y="386"/>
                    </a:cubicBezTo>
                    <a:cubicBezTo>
                      <a:pt x="84" y="384"/>
                      <a:pt x="84" y="384"/>
                      <a:pt x="84" y="384"/>
                    </a:cubicBezTo>
                    <a:cubicBezTo>
                      <a:pt x="83" y="382"/>
                      <a:pt x="83" y="382"/>
                      <a:pt x="83" y="382"/>
                    </a:cubicBezTo>
                    <a:cubicBezTo>
                      <a:pt x="82" y="381"/>
                      <a:pt x="82" y="381"/>
                      <a:pt x="81" y="380"/>
                    </a:cubicBezTo>
                    <a:cubicBezTo>
                      <a:pt x="81" y="379"/>
                      <a:pt x="81" y="379"/>
                      <a:pt x="81" y="379"/>
                    </a:cubicBezTo>
                    <a:cubicBezTo>
                      <a:pt x="81" y="379"/>
                      <a:pt x="81" y="379"/>
                      <a:pt x="81" y="379"/>
                    </a:cubicBezTo>
                    <a:cubicBezTo>
                      <a:pt x="79" y="377"/>
                      <a:pt x="77" y="374"/>
                      <a:pt x="76" y="372"/>
                    </a:cubicBezTo>
                    <a:cubicBezTo>
                      <a:pt x="75" y="371"/>
                      <a:pt x="75" y="371"/>
                      <a:pt x="75" y="371"/>
                    </a:cubicBezTo>
                    <a:cubicBezTo>
                      <a:pt x="75" y="370"/>
                      <a:pt x="75" y="370"/>
                      <a:pt x="75" y="370"/>
                    </a:cubicBezTo>
                    <a:cubicBezTo>
                      <a:pt x="74" y="368"/>
                      <a:pt x="72" y="365"/>
                      <a:pt x="71" y="363"/>
                    </a:cubicBezTo>
                    <a:cubicBezTo>
                      <a:pt x="70" y="362"/>
                      <a:pt x="70" y="362"/>
                      <a:pt x="70" y="362"/>
                    </a:cubicBezTo>
                    <a:cubicBezTo>
                      <a:pt x="70" y="362"/>
                      <a:pt x="70" y="362"/>
                      <a:pt x="70" y="362"/>
                    </a:cubicBezTo>
                    <a:cubicBezTo>
                      <a:pt x="70" y="361"/>
                      <a:pt x="70" y="361"/>
                      <a:pt x="70" y="361"/>
                    </a:cubicBezTo>
                    <a:cubicBezTo>
                      <a:pt x="68" y="358"/>
                      <a:pt x="67" y="356"/>
                      <a:pt x="66" y="354"/>
                    </a:cubicBezTo>
                    <a:cubicBezTo>
                      <a:pt x="66" y="353"/>
                      <a:pt x="66" y="353"/>
                      <a:pt x="66" y="353"/>
                    </a:cubicBezTo>
                    <a:cubicBezTo>
                      <a:pt x="65" y="352"/>
                      <a:pt x="65" y="352"/>
                      <a:pt x="65" y="352"/>
                    </a:cubicBezTo>
                    <a:cubicBezTo>
                      <a:pt x="64" y="349"/>
                      <a:pt x="63" y="347"/>
                      <a:pt x="62" y="344"/>
                    </a:cubicBezTo>
                    <a:cubicBezTo>
                      <a:pt x="61" y="343"/>
                      <a:pt x="61" y="343"/>
                      <a:pt x="61" y="343"/>
                    </a:cubicBezTo>
                    <a:cubicBezTo>
                      <a:pt x="61" y="343"/>
                      <a:pt x="61" y="343"/>
                      <a:pt x="61" y="343"/>
                    </a:cubicBezTo>
                    <a:cubicBezTo>
                      <a:pt x="60" y="340"/>
                      <a:pt x="59" y="337"/>
                      <a:pt x="58" y="334"/>
                    </a:cubicBezTo>
                    <a:cubicBezTo>
                      <a:pt x="57" y="333"/>
                      <a:pt x="57" y="333"/>
                      <a:pt x="57" y="333"/>
                    </a:cubicBezTo>
                    <a:cubicBezTo>
                      <a:pt x="57" y="333"/>
                      <a:pt x="57" y="333"/>
                      <a:pt x="57" y="333"/>
                    </a:cubicBezTo>
                    <a:cubicBezTo>
                      <a:pt x="56" y="330"/>
                      <a:pt x="55" y="327"/>
                      <a:pt x="54" y="323"/>
                    </a:cubicBezTo>
                    <a:cubicBezTo>
                      <a:pt x="53" y="321"/>
                      <a:pt x="53" y="319"/>
                      <a:pt x="52" y="317"/>
                    </a:cubicBezTo>
                    <a:cubicBezTo>
                      <a:pt x="52" y="316"/>
                      <a:pt x="52" y="316"/>
                      <a:pt x="52" y="316"/>
                    </a:cubicBezTo>
                    <a:cubicBezTo>
                      <a:pt x="51" y="315"/>
                      <a:pt x="51" y="315"/>
                      <a:pt x="51" y="315"/>
                    </a:cubicBezTo>
                    <a:cubicBezTo>
                      <a:pt x="51" y="314"/>
                      <a:pt x="51" y="313"/>
                      <a:pt x="51" y="313"/>
                    </a:cubicBezTo>
                    <a:cubicBezTo>
                      <a:pt x="50" y="310"/>
                      <a:pt x="49" y="307"/>
                      <a:pt x="49" y="303"/>
                    </a:cubicBezTo>
                    <a:cubicBezTo>
                      <a:pt x="49" y="302"/>
                      <a:pt x="49" y="302"/>
                      <a:pt x="49" y="302"/>
                    </a:cubicBezTo>
                    <a:cubicBezTo>
                      <a:pt x="46" y="288"/>
                      <a:pt x="44" y="274"/>
                      <a:pt x="44" y="259"/>
                    </a:cubicBezTo>
                    <a:cubicBezTo>
                      <a:pt x="44" y="210"/>
                      <a:pt x="62" y="161"/>
                      <a:pt x="93" y="122"/>
                    </a:cubicBezTo>
                    <a:cubicBezTo>
                      <a:pt x="95" y="120"/>
                      <a:pt x="97" y="118"/>
                      <a:pt x="99" y="116"/>
                    </a:cubicBezTo>
                    <a:cubicBezTo>
                      <a:pt x="100" y="115"/>
                      <a:pt x="100" y="115"/>
                      <a:pt x="100" y="114"/>
                    </a:cubicBezTo>
                    <a:cubicBezTo>
                      <a:pt x="100" y="114"/>
                      <a:pt x="100" y="114"/>
                      <a:pt x="100" y="114"/>
                    </a:cubicBezTo>
                    <a:cubicBezTo>
                      <a:pt x="101" y="114"/>
                      <a:pt x="101" y="114"/>
                      <a:pt x="101" y="113"/>
                    </a:cubicBezTo>
                    <a:cubicBezTo>
                      <a:pt x="102" y="113"/>
                      <a:pt x="103" y="112"/>
                      <a:pt x="103" y="111"/>
                    </a:cubicBezTo>
                    <a:cubicBezTo>
                      <a:pt x="103" y="111"/>
                      <a:pt x="103" y="111"/>
                      <a:pt x="103" y="111"/>
                    </a:cubicBezTo>
                    <a:cubicBezTo>
                      <a:pt x="104" y="110"/>
                      <a:pt x="104" y="110"/>
                      <a:pt x="104" y="110"/>
                    </a:cubicBezTo>
                    <a:cubicBezTo>
                      <a:pt x="105" y="110"/>
                      <a:pt x="105" y="109"/>
                      <a:pt x="106" y="109"/>
                    </a:cubicBezTo>
                    <a:cubicBezTo>
                      <a:pt x="107" y="108"/>
                      <a:pt x="107" y="108"/>
                      <a:pt x="107" y="108"/>
                    </a:cubicBezTo>
                    <a:cubicBezTo>
                      <a:pt x="107" y="107"/>
                      <a:pt x="107" y="107"/>
                      <a:pt x="108" y="107"/>
                    </a:cubicBezTo>
                    <a:cubicBezTo>
                      <a:pt x="108" y="107"/>
                      <a:pt x="108" y="106"/>
                      <a:pt x="108" y="106"/>
                    </a:cubicBezTo>
                    <a:cubicBezTo>
                      <a:pt x="110" y="105"/>
                      <a:pt x="111" y="104"/>
                      <a:pt x="112" y="103"/>
                    </a:cubicBezTo>
                    <a:cubicBezTo>
                      <a:pt x="112" y="102"/>
                      <a:pt x="112" y="102"/>
                      <a:pt x="112" y="102"/>
                    </a:cubicBezTo>
                    <a:cubicBezTo>
                      <a:pt x="112" y="102"/>
                      <a:pt x="112" y="102"/>
                      <a:pt x="112" y="102"/>
                    </a:cubicBezTo>
                    <a:cubicBezTo>
                      <a:pt x="113" y="101"/>
                      <a:pt x="115" y="100"/>
                      <a:pt x="116" y="99"/>
                    </a:cubicBezTo>
                    <a:cubicBezTo>
                      <a:pt x="116" y="98"/>
                      <a:pt x="117" y="98"/>
                      <a:pt x="118" y="98"/>
                    </a:cubicBezTo>
                    <a:cubicBezTo>
                      <a:pt x="119" y="97"/>
                      <a:pt x="119" y="97"/>
                      <a:pt x="119" y="97"/>
                    </a:cubicBezTo>
                    <a:cubicBezTo>
                      <a:pt x="121" y="95"/>
                      <a:pt x="123" y="93"/>
                      <a:pt x="125" y="92"/>
                    </a:cubicBezTo>
                    <a:cubicBezTo>
                      <a:pt x="125" y="91"/>
                      <a:pt x="125" y="91"/>
                      <a:pt x="125" y="91"/>
                    </a:cubicBezTo>
                    <a:cubicBezTo>
                      <a:pt x="134" y="84"/>
                      <a:pt x="144" y="77"/>
                      <a:pt x="154" y="71"/>
                    </a:cubicBezTo>
                    <a:cubicBezTo>
                      <a:pt x="155" y="71"/>
                      <a:pt x="155" y="71"/>
                      <a:pt x="155" y="71"/>
                    </a:cubicBezTo>
                    <a:cubicBezTo>
                      <a:pt x="157" y="70"/>
                      <a:pt x="159" y="69"/>
                      <a:pt x="161" y="68"/>
                    </a:cubicBezTo>
                    <a:cubicBezTo>
                      <a:pt x="162" y="67"/>
                      <a:pt x="162" y="67"/>
                      <a:pt x="162" y="67"/>
                    </a:cubicBezTo>
                    <a:cubicBezTo>
                      <a:pt x="163" y="67"/>
                      <a:pt x="163" y="67"/>
                      <a:pt x="163" y="67"/>
                    </a:cubicBezTo>
                    <a:cubicBezTo>
                      <a:pt x="165" y="66"/>
                      <a:pt x="167" y="65"/>
                      <a:pt x="169" y="64"/>
                    </a:cubicBezTo>
                    <a:cubicBezTo>
                      <a:pt x="170" y="63"/>
                      <a:pt x="171" y="63"/>
                      <a:pt x="172" y="63"/>
                    </a:cubicBezTo>
                    <a:cubicBezTo>
                      <a:pt x="174" y="62"/>
                      <a:pt x="176" y="61"/>
                      <a:pt x="178" y="60"/>
                    </a:cubicBezTo>
                    <a:cubicBezTo>
                      <a:pt x="178" y="60"/>
                      <a:pt x="179" y="60"/>
                      <a:pt x="179" y="59"/>
                    </a:cubicBezTo>
                    <a:cubicBezTo>
                      <a:pt x="181" y="59"/>
                      <a:pt x="181" y="59"/>
                      <a:pt x="181" y="59"/>
                    </a:cubicBezTo>
                    <a:cubicBezTo>
                      <a:pt x="183" y="58"/>
                      <a:pt x="185" y="57"/>
                      <a:pt x="187" y="57"/>
                    </a:cubicBezTo>
                    <a:cubicBezTo>
                      <a:pt x="187" y="56"/>
                      <a:pt x="187" y="56"/>
                      <a:pt x="188" y="56"/>
                    </a:cubicBezTo>
                    <a:cubicBezTo>
                      <a:pt x="188" y="56"/>
                      <a:pt x="189" y="56"/>
                      <a:pt x="189" y="56"/>
                    </a:cubicBezTo>
                    <a:cubicBezTo>
                      <a:pt x="193" y="54"/>
                      <a:pt x="196" y="53"/>
                      <a:pt x="200" y="52"/>
                    </a:cubicBezTo>
                    <a:cubicBezTo>
                      <a:pt x="202" y="52"/>
                      <a:pt x="202" y="52"/>
                      <a:pt x="202" y="52"/>
                    </a:cubicBezTo>
                    <a:cubicBezTo>
                      <a:pt x="203" y="51"/>
                      <a:pt x="203" y="51"/>
                      <a:pt x="204" y="51"/>
                    </a:cubicBezTo>
                    <a:cubicBezTo>
                      <a:pt x="205" y="51"/>
                      <a:pt x="206" y="51"/>
                      <a:pt x="207" y="50"/>
                    </a:cubicBezTo>
                    <a:cubicBezTo>
                      <a:pt x="209" y="50"/>
                      <a:pt x="209" y="50"/>
                      <a:pt x="209" y="50"/>
                    </a:cubicBezTo>
                    <a:cubicBezTo>
                      <a:pt x="209" y="50"/>
                      <a:pt x="209" y="50"/>
                      <a:pt x="209" y="50"/>
                    </a:cubicBezTo>
                    <a:cubicBezTo>
                      <a:pt x="211" y="49"/>
                      <a:pt x="212" y="49"/>
                      <a:pt x="214" y="49"/>
                    </a:cubicBezTo>
                    <a:cubicBezTo>
                      <a:pt x="215" y="48"/>
                      <a:pt x="216" y="48"/>
                      <a:pt x="218" y="48"/>
                    </a:cubicBezTo>
                    <a:cubicBezTo>
                      <a:pt x="218" y="48"/>
                      <a:pt x="218" y="48"/>
                      <a:pt x="218" y="48"/>
                    </a:cubicBezTo>
                    <a:cubicBezTo>
                      <a:pt x="220" y="47"/>
                      <a:pt x="222" y="47"/>
                      <a:pt x="224" y="47"/>
                    </a:cubicBezTo>
                    <a:cubicBezTo>
                      <a:pt x="225" y="47"/>
                      <a:pt x="227" y="46"/>
                      <a:pt x="228" y="46"/>
                    </a:cubicBezTo>
                    <a:cubicBezTo>
                      <a:pt x="230" y="46"/>
                      <a:pt x="232" y="46"/>
                      <a:pt x="234" y="45"/>
                    </a:cubicBezTo>
                    <a:cubicBezTo>
                      <a:pt x="235" y="45"/>
                      <a:pt x="235" y="45"/>
                      <a:pt x="235" y="45"/>
                    </a:cubicBezTo>
                    <a:cubicBezTo>
                      <a:pt x="236" y="45"/>
                      <a:pt x="237" y="45"/>
                      <a:pt x="238" y="45"/>
                    </a:cubicBezTo>
                    <a:cubicBezTo>
                      <a:pt x="240" y="45"/>
                      <a:pt x="243" y="45"/>
                      <a:pt x="245" y="44"/>
                    </a:cubicBezTo>
                    <a:cubicBezTo>
                      <a:pt x="247" y="44"/>
                      <a:pt x="247" y="44"/>
                      <a:pt x="247" y="44"/>
                    </a:cubicBezTo>
                    <a:cubicBezTo>
                      <a:pt x="247" y="44"/>
                      <a:pt x="248" y="44"/>
                      <a:pt x="248" y="44"/>
                    </a:cubicBezTo>
                    <a:cubicBezTo>
                      <a:pt x="252" y="44"/>
                      <a:pt x="255" y="44"/>
                      <a:pt x="259" y="44"/>
                    </a:cubicBezTo>
                    <a:cubicBezTo>
                      <a:pt x="261" y="44"/>
                      <a:pt x="264" y="44"/>
                      <a:pt x="267" y="44"/>
                    </a:cubicBezTo>
                    <a:cubicBezTo>
                      <a:pt x="268" y="44"/>
                      <a:pt x="268" y="44"/>
                      <a:pt x="268" y="44"/>
                    </a:cubicBezTo>
                    <a:cubicBezTo>
                      <a:pt x="269" y="44"/>
                      <a:pt x="270" y="44"/>
                      <a:pt x="271" y="44"/>
                    </a:cubicBezTo>
                    <a:cubicBezTo>
                      <a:pt x="271" y="44"/>
                      <a:pt x="271" y="44"/>
                      <a:pt x="271" y="44"/>
                    </a:cubicBezTo>
                    <a:cubicBezTo>
                      <a:pt x="272" y="44"/>
                      <a:pt x="272" y="44"/>
                      <a:pt x="272" y="44"/>
                    </a:cubicBezTo>
                    <a:cubicBezTo>
                      <a:pt x="275" y="45"/>
                      <a:pt x="277" y="45"/>
                      <a:pt x="280" y="45"/>
                    </a:cubicBezTo>
                    <a:cubicBezTo>
                      <a:pt x="282" y="45"/>
                      <a:pt x="282" y="45"/>
                      <a:pt x="282" y="45"/>
                    </a:cubicBezTo>
                    <a:cubicBezTo>
                      <a:pt x="282" y="45"/>
                      <a:pt x="282" y="45"/>
                      <a:pt x="282" y="45"/>
                    </a:cubicBezTo>
                    <a:cubicBezTo>
                      <a:pt x="351" y="53"/>
                      <a:pt x="413" y="94"/>
                      <a:pt x="447" y="155"/>
                    </a:cubicBezTo>
                    <a:cubicBezTo>
                      <a:pt x="448" y="157"/>
                      <a:pt x="448" y="157"/>
                      <a:pt x="448" y="157"/>
                    </a:cubicBezTo>
                    <a:cubicBezTo>
                      <a:pt x="448" y="157"/>
                      <a:pt x="448" y="157"/>
                      <a:pt x="448" y="157"/>
                    </a:cubicBezTo>
                    <a:cubicBezTo>
                      <a:pt x="449" y="159"/>
                      <a:pt x="450" y="162"/>
                      <a:pt x="452" y="164"/>
                    </a:cubicBezTo>
                    <a:cubicBezTo>
                      <a:pt x="453" y="166"/>
                      <a:pt x="453" y="166"/>
                      <a:pt x="453" y="166"/>
                    </a:cubicBezTo>
                    <a:cubicBezTo>
                      <a:pt x="453" y="166"/>
                      <a:pt x="453" y="166"/>
                      <a:pt x="453" y="166"/>
                    </a:cubicBezTo>
                    <a:cubicBezTo>
                      <a:pt x="453" y="167"/>
                      <a:pt x="453" y="167"/>
                      <a:pt x="453" y="167"/>
                    </a:cubicBezTo>
                    <a:cubicBezTo>
                      <a:pt x="454" y="169"/>
                      <a:pt x="455" y="170"/>
                      <a:pt x="455" y="172"/>
                    </a:cubicBezTo>
                    <a:cubicBezTo>
                      <a:pt x="456" y="174"/>
                      <a:pt x="457" y="176"/>
                      <a:pt x="458" y="177"/>
                    </a:cubicBezTo>
                    <a:cubicBezTo>
                      <a:pt x="458" y="178"/>
                      <a:pt x="458" y="178"/>
                      <a:pt x="458" y="178"/>
                    </a:cubicBezTo>
                    <a:cubicBezTo>
                      <a:pt x="458" y="179"/>
                      <a:pt x="458" y="179"/>
                      <a:pt x="458" y="179"/>
                    </a:cubicBezTo>
                    <a:cubicBezTo>
                      <a:pt x="459" y="180"/>
                      <a:pt x="459" y="180"/>
                      <a:pt x="459" y="180"/>
                    </a:cubicBezTo>
                    <a:cubicBezTo>
                      <a:pt x="459" y="180"/>
                      <a:pt x="459" y="180"/>
                      <a:pt x="459" y="180"/>
                    </a:cubicBezTo>
                    <a:cubicBezTo>
                      <a:pt x="460" y="183"/>
                      <a:pt x="461" y="186"/>
                      <a:pt x="462" y="189"/>
                    </a:cubicBezTo>
                    <a:cubicBezTo>
                      <a:pt x="462" y="189"/>
                      <a:pt x="462" y="189"/>
                      <a:pt x="462" y="189"/>
                    </a:cubicBezTo>
                    <a:cubicBezTo>
                      <a:pt x="462" y="189"/>
                      <a:pt x="462" y="189"/>
                      <a:pt x="462" y="189"/>
                    </a:cubicBezTo>
                    <a:cubicBezTo>
                      <a:pt x="463" y="192"/>
                      <a:pt x="464" y="195"/>
                      <a:pt x="465" y="199"/>
                    </a:cubicBezTo>
                    <a:cubicBezTo>
                      <a:pt x="465" y="199"/>
                      <a:pt x="465" y="199"/>
                      <a:pt x="465" y="199"/>
                    </a:cubicBezTo>
                    <a:cubicBezTo>
                      <a:pt x="466" y="202"/>
                      <a:pt x="467" y="205"/>
                      <a:pt x="468" y="208"/>
                    </a:cubicBezTo>
                    <a:cubicBezTo>
                      <a:pt x="468" y="208"/>
                      <a:pt x="468" y="208"/>
                      <a:pt x="468" y="208"/>
                    </a:cubicBezTo>
                    <a:cubicBezTo>
                      <a:pt x="468" y="210"/>
                      <a:pt x="468" y="210"/>
                      <a:pt x="468" y="210"/>
                    </a:cubicBezTo>
                    <a:cubicBezTo>
                      <a:pt x="469" y="213"/>
                      <a:pt x="469" y="215"/>
                      <a:pt x="470" y="218"/>
                    </a:cubicBezTo>
                    <a:cubicBezTo>
                      <a:pt x="470" y="219"/>
                      <a:pt x="470" y="219"/>
                      <a:pt x="470" y="219"/>
                    </a:cubicBezTo>
                    <a:cubicBezTo>
                      <a:pt x="470" y="220"/>
                      <a:pt x="470" y="220"/>
                      <a:pt x="470" y="220"/>
                    </a:cubicBezTo>
                    <a:cubicBezTo>
                      <a:pt x="471" y="222"/>
                      <a:pt x="471" y="225"/>
                      <a:pt x="472" y="228"/>
                    </a:cubicBezTo>
                    <a:cubicBezTo>
                      <a:pt x="472" y="228"/>
                      <a:pt x="472" y="229"/>
                      <a:pt x="472" y="230"/>
                    </a:cubicBezTo>
                    <a:cubicBezTo>
                      <a:pt x="472" y="232"/>
                      <a:pt x="472" y="232"/>
                      <a:pt x="472" y="232"/>
                    </a:cubicBezTo>
                    <a:cubicBezTo>
                      <a:pt x="472" y="232"/>
                      <a:pt x="472" y="232"/>
                      <a:pt x="472" y="232"/>
                    </a:cubicBezTo>
                    <a:cubicBezTo>
                      <a:pt x="472" y="234"/>
                      <a:pt x="473" y="236"/>
                      <a:pt x="473" y="238"/>
                    </a:cubicBezTo>
                    <a:cubicBezTo>
                      <a:pt x="473" y="239"/>
                      <a:pt x="473" y="241"/>
                      <a:pt x="473" y="242"/>
                    </a:cubicBezTo>
                    <a:cubicBezTo>
                      <a:pt x="473" y="244"/>
                      <a:pt x="473" y="244"/>
                      <a:pt x="473" y="244"/>
                    </a:cubicBezTo>
                    <a:cubicBezTo>
                      <a:pt x="473" y="246"/>
                      <a:pt x="473" y="246"/>
                      <a:pt x="473" y="246"/>
                    </a:cubicBezTo>
                    <a:cubicBezTo>
                      <a:pt x="473" y="247"/>
                      <a:pt x="474" y="248"/>
                      <a:pt x="474" y="249"/>
                    </a:cubicBezTo>
                    <a:cubicBezTo>
                      <a:pt x="474" y="252"/>
                      <a:pt x="474" y="256"/>
                      <a:pt x="474" y="259"/>
                    </a:cubicBezTo>
                    <a:cubicBezTo>
                      <a:pt x="474" y="292"/>
                      <a:pt x="468" y="322"/>
                      <a:pt x="455" y="348"/>
                    </a:cubicBezTo>
                    <a:close/>
                    <a:moveTo>
                      <a:pt x="1715" y="230"/>
                    </a:moveTo>
                    <a:cubicBezTo>
                      <a:pt x="1708" y="169"/>
                      <a:pt x="1680" y="111"/>
                      <a:pt x="1631" y="67"/>
                    </a:cubicBezTo>
                    <a:cubicBezTo>
                      <a:pt x="1619" y="56"/>
                      <a:pt x="1607" y="47"/>
                      <a:pt x="1594" y="39"/>
                    </a:cubicBezTo>
                    <a:cubicBezTo>
                      <a:pt x="1593" y="38"/>
                      <a:pt x="1592" y="38"/>
                      <a:pt x="1590" y="37"/>
                    </a:cubicBezTo>
                    <a:cubicBezTo>
                      <a:pt x="1589" y="36"/>
                      <a:pt x="1587" y="35"/>
                      <a:pt x="1586" y="34"/>
                    </a:cubicBezTo>
                    <a:cubicBezTo>
                      <a:pt x="1583" y="33"/>
                      <a:pt x="1581" y="31"/>
                      <a:pt x="1578" y="30"/>
                    </a:cubicBezTo>
                    <a:cubicBezTo>
                      <a:pt x="1578" y="30"/>
                      <a:pt x="1577" y="29"/>
                      <a:pt x="1577" y="29"/>
                    </a:cubicBezTo>
                    <a:cubicBezTo>
                      <a:pt x="1541" y="11"/>
                      <a:pt x="1501" y="0"/>
                      <a:pt x="1458" y="0"/>
                    </a:cubicBezTo>
                    <a:cubicBezTo>
                      <a:pt x="1410" y="0"/>
                      <a:pt x="1366" y="13"/>
                      <a:pt x="1328" y="35"/>
                    </a:cubicBezTo>
                    <a:cubicBezTo>
                      <a:pt x="1327" y="36"/>
                      <a:pt x="1325" y="36"/>
                      <a:pt x="1324" y="37"/>
                    </a:cubicBezTo>
                    <a:cubicBezTo>
                      <a:pt x="1323" y="38"/>
                      <a:pt x="1321" y="39"/>
                      <a:pt x="1320" y="40"/>
                    </a:cubicBezTo>
                    <a:cubicBezTo>
                      <a:pt x="1300" y="52"/>
                      <a:pt x="1281" y="68"/>
                      <a:pt x="1265" y="86"/>
                    </a:cubicBezTo>
                    <a:cubicBezTo>
                      <a:pt x="1239" y="115"/>
                      <a:pt x="1220" y="148"/>
                      <a:pt x="1210" y="183"/>
                    </a:cubicBezTo>
                    <a:cubicBezTo>
                      <a:pt x="1208" y="189"/>
                      <a:pt x="1208" y="189"/>
                      <a:pt x="1208" y="189"/>
                    </a:cubicBezTo>
                    <a:cubicBezTo>
                      <a:pt x="1205" y="200"/>
                      <a:pt x="1203" y="211"/>
                      <a:pt x="1201" y="222"/>
                    </a:cubicBezTo>
                    <a:cubicBezTo>
                      <a:pt x="1200" y="226"/>
                      <a:pt x="1200" y="226"/>
                      <a:pt x="1200" y="226"/>
                    </a:cubicBezTo>
                    <a:cubicBezTo>
                      <a:pt x="1198" y="245"/>
                      <a:pt x="1198" y="264"/>
                      <a:pt x="1200" y="282"/>
                    </a:cubicBezTo>
                    <a:cubicBezTo>
                      <a:pt x="1202" y="313"/>
                      <a:pt x="1210" y="342"/>
                      <a:pt x="1223" y="369"/>
                    </a:cubicBezTo>
                    <a:cubicBezTo>
                      <a:pt x="1174" y="397"/>
                      <a:pt x="1135" y="419"/>
                      <a:pt x="1104" y="437"/>
                    </a:cubicBezTo>
                    <a:cubicBezTo>
                      <a:pt x="1094" y="442"/>
                      <a:pt x="1091" y="455"/>
                      <a:pt x="1097" y="464"/>
                    </a:cubicBezTo>
                    <a:cubicBezTo>
                      <a:pt x="1098" y="466"/>
                      <a:pt x="1099" y="468"/>
                      <a:pt x="1100" y="470"/>
                    </a:cubicBezTo>
                    <a:cubicBezTo>
                      <a:pt x="1100" y="470"/>
                      <a:pt x="1100" y="470"/>
                      <a:pt x="1100" y="471"/>
                    </a:cubicBezTo>
                    <a:cubicBezTo>
                      <a:pt x="1124" y="514"/>
                      <a:pt x="1136" y="564"/>
                      <a:pt x="1134" y="613"/>
                    </a:cubicBezTo>
                    <a:cubicBezTo>
                      <a:pt x="1134" y="629"/>
                      <a:pt x="1132" y="644"/>
                      <a:pt x="1129" y="659"/>
                    </a:cubicBezTo>
                    <a:cubicBezTo>
                      <a:pt x="1129" y="659"/>
                      <a:pt x="1129" y="659"/>
                      <a:pt x="1129" y="659"/>
                    </a:cubicBezTo>
                    <a:cubicBezTo>
                      <a:pt x="1129" y="659"/>
                      <a:pt x="1129" y="659"/>
                      <a:pt x="1129" y="659"/>
                    </a:cubicBezTo>
                    <a:cubicBezTo>
                      <a:pt x="1128" y="662"/>
                      <a:pt x="1128" y="662"/>
                      <a:pt x="1128" y="662"/>
                    </a:cubicBezTo>
                    <a:cubicBezTo>
                      <a:pt x="1128" y="662"/>
                      <a:pt x="1128" y="662"/>
                      <a:pt x="1128" y="662"/>
                    </a:cubicBezTo>
                    <a:cubicBezTo>
                      <a:pt x="1128" y="663"/>
                      <a:pt x="1128" y="664"/>
                      <a:pt x="1128" y="665"/>
                    </a:cubicBezTo>
                    <a:cubicBezTo>
                      <a:pt x="1125" y="675"/>
                      <a:pt x="1130" y="686"/>
                      <a:pt x="1140" y="690"/>
                    </a:cubicBezTo>
                    <a:cubicBezTo>
                      <a:pt x="1143" y="692"/>
                      <a:pt x="1146" y="692"/>
                      <a:pt x="1149" y="692"/>
                    </a:cubicBezTo>
                    <a:cubicBezTo>
                      <a:pt x="1159" y="692"/>
                      <a:pt x="1168" y="685"/>
                      <a:pt x="1171" y="675"/>
                    </a:cubicBezTo>
                    <a:cubicBezTo>
                      <a:pt x="1171" y="674"/>
                      <a:pt x="1172" y="671"/>
                      <a:pt x="1172" y="671"/>
                    </a:cubicBezTo>
                    <a:cubicBezTo>
                      <a:pt x="1172" y="671"/>
                      <a:pt x="1172" y="671"/>
                      <a:pt x="1172" y="671"/>
                    </a:cubicBezTo>
                    <a:cubicBezTo>
                      <a:pt x="1172" y="667"/>
                      <a:pt x="1172" y="667"/>
                      <a:pt x="1172" y="667"/>
                    </a:cubicBezTo>
                    <a:cubicBezTo>
                      <a:pt x="1172" y="667"/>
                      <a:pt x="1172" y="667"/>
                      <a:pt x="1172" y="667"/>
                    </a:cubicBezTo>
                    <a:cubicBezTo>
                      <a:pt x="1176" y="650"/>
                      <a:pt x="1178" y="633"/>
                      <a:pt x="1178" y="615"/>
                    </a:cubicBezTo>
                    <a:cubicBezTo>
                      <a:pt x="1180" y="562"/>
                      <a:pt x="1169" y="510"/>
                      <a:pt x="1146" y="463"/>
                    </a:cubicBezTo>
                    <a:cubicBezTo>
                      <a:pt x="1245" y="407"/>
                      <a:pt x="1245" y="407"/>
                      <a:pt x="1245" y="407"/>
                    </a:cubicBezTo>
                    <a:cubicBezTo>
                      <a:pt x="1247" y="410"/>
                      <a:pt x="1249" y="412"/>
                      <a:pt x="1251" y="415"/>
                    </a:cubicBezTo>
                    <a:cubicBezTo>
                      <a:pt x="1251" y="416"/>
                      <a:pt x="1252" y="416"/>
                      <a:pt x="1252" y="416"/>
                    </a:cubicBezTo>
                    <a:cubicBezTo>
                      <a:pt x="1255" y="420"/>
                      <a:pt x="1258" y="424"/>
                      <a:pt x="1261" y="427"/>
                    </a:cubicBezTo>
                    <a:cubicBezTo>
                      <a:pt x="1261" y="428"/>
                      <a:pt x="1262" y="429"/>
                      <a:pt x="1262" y="429"/>
                    </a:cubicBezTo>
                    <a:cubicBezTo>
                      <a:pt x="1265" y="433"/>
                      <a:pt x="1268" y="436"/>
                      <a:pt x="1271" y="439"/>
                    </a:cubicBezTo>
                    <a:cubicBezTo>
                      <a:pt x="1272" y="440"/>
                      <a:pt x="1273" y="440"/>
                      <a:pt x="1273" y="441"/>
                    </a:cubicBezTo>
                    <a:cubicBezTo>
                      <a:pt x="1277" y="444"/>
                      <a:pt x="1280" y="447"/>
                      <a:pt x="1283" y="450"/>
                    </a:cubicBezTo>
                    <a:cubicBezTo>
                      <a:pt x="1284" y="451"/>
                      <a:pt x="1284" y="451"/>
                      <a:pt x="1285" y="452"/>
                    </a:cubicBezTo>
                    <a:cubicBezTo>
                      <a:pt x="1285" y="452"/>
                      <a:pt x="1286" y="453"/>
                      <a:pt x="1287" y="453"/>
                    </a:cubicBezTo>
                    <a:cubicBezTo>
                      <a:pt x="1288" y="455"/>
                      <a:pt x="1290" y="457"/>
                      <a:pt x="1292" y="458"/>
                    </a:cubicBezTo>
                    <a:cubicBezTo>
                      <a:pt x="1294" y="460"/>
                      <a:pt x="1295" y="461"/>
                      <a:pt x="1297" y="462"/>
                    </a:cubicBezTo>
                    <a:cubicBezTo>
                      <a:pt x="1297" y="463"/>
                      <a:pt x="1298" y="463"/>
                      <a:pt x="1298" y="463"/>
                    </a:cubicBezTo>
                    <a:cubicBezTo>
                      <a:pt x="1302" y="466"/>
                      <a:pt x="1306" y="469"/>
                      <a:pt x="1309" y="471"/>
                    </a:cubicBezTo>
                    <a:cubicBezTo>
                      <a:pt x="1309" y="471"/>
                      <a:pt x="1310" y="471"/>
                      <a:pt x="1310" y="472"/>
                    </a:cubicBezTo>
                    <a:cubicBezTo>
                      <a:pt x="1354" y="503"/>
                      <a:pt x="1406" y="518"/>
                      <a:pt x="1457" y="518"/>
                    </a:cubicBezTo>
                    <a:cubicBezTo>
                      <a:pt x="1471" y="518"/>
                      <a:pt x="1484" y="517"/>
                      <a:pt x="1497" y="515"/>
                    </a:cubicBezTo>
                    <a:cubicBezTo>
                      <a:pt x="1497" y="515"/>
                      <a:pt x="1498" y="515"/>
                      <a:pt x="1498" y="515"/>
                    </a:cubicBezTo>
                    <a:cubicBezTo>
                      <a:pt x="1502" y="514"/>
                      <a:pt x="1505" y="514"/>
                      <a:pt x="1509" y="513"/>
                    </a:cubicBezTo>
                    <a:cubicBezTo>
                      <a:pt x="1511" y="512"/>
                      <a:pt x="1513" y="512"/>
                      <a:pt x="1515" y="511"/>
                    </a:cubicBezTo>
                    <a:cubicBezTo>
                      <a:pt x="1517" y="511"/>
                      <a:pt x="1519" y="511"/>
                      <a:pt x="1521" y="510"/>
                    </a:cubicBezTo>
                    <a:cubicBezTo>
                      <a:pt x="1524" y="509"/>
                      <a:pt x="1527" y="509"/>
                      <a:pt x="1530" y="508"/>
                    </a:cubicBezTo>
                    <a:cubicBezTo>
                      <a:pt x="1531" y="507"/>
                      <a:pt x="1531" y="507"/>
                      <a:pt x="1532" y="507"/>
                    </a:cubicBezTo>
                    <a:cubicBezTo>
                      <a:pt x="1536" y="506"/>
                      <a:pt x="1539" y="505"/>
                      <a:pt x="1543" y="503"/>
                    </a:cubicBezTo>
                    <a:cubicBezTo>
                      <a:pt x="1543" y="503"/>
                      <a:pt x="1544" y="503"/>
                      <a:pt x="1544" y="503"/>
                    </a:cubicBezTo>
                    <a:cubicBezTo>
                      <a:pt x="1644" y="468"/>
                      <a:pt x="1716" y="372"/>
                      <a:pt x="1716" y="259"/>
                    </a:cubicBezTo>
                    <a:cubicBezTo>
                      <a:pt x="1716" y="249"/>
                      <a:pt x="1716" y="240"/>
                      <a:pt x="1715" y="230"/>
                    </a:cubicBezTo>
                    <a:close/>
                    <a:moveTo>
                      <a:pt x="1529" y="462"/>
                    </a:moveTo>
                    <a:cubicBezTo>
                      <a:pt x="1529" y="462"/>
                      <a:pt x="1529" y="462"/>
                      <a:pt x="1529" y="462"/>
                    </a:cubicBezTo>
                    <a:cubicBezTo>
                      <a:pt x="1525" y="463"/>
                      <a:pt x="1522" y="464"/>
                      <a:pt x="1520" y="465"/>
                    </a:cubicBezTo>
                    <a:cubicBezTo>
                      <a:pt x="1519" y="465"/>
                      <a:pt x="1519" y="465"/>
                      <a:pt x="1519" y="465"/>
                    </a:cubicBezTo>
                    <a:cubicBezTo>
                      <a:pt x="1518" y="465"/>
                      <a:pt x="1518" y="465"/>
                      <a:pt x="1518" y="465"/>
                    </a:cubicBezTo>
                    <a:cubicBezTo>
                      <a:pt x="1515" y="466"/>
                      <a:pt x="1512" y="467"/>
                      <a:pt x="1510" y="468"/>
                    </a:cubicBezTo>
                    <a:cubicBezTo>
                      <a:pt x="1509" y="468"/>
                      <a:pt x="1508" y="468"/>
                      <a:pt x="1507" y="468"/>
                    </a:cubicBezTo>
                    <a:cubicBezTo>
                      <a:pt x="1506" y="469"/>
                      <a:pt x="1506" y="469"/>
                      <a:pt x="1506" y="469"/>
                    </a:cubicBezTo>
                    <a:cubicBezTo>
                      <a:pt x="1504" y="469"/>
                      <a:pt x="1504" y="469"/>
                      <a:pt x="1504" y="469"/>
                    </a:cubicBezTo>
                    <a:cubicBezTo>
                      <a:pt x="1503" y="469"/>
                      <a:pt x="1501" y="469"/>
                      <a:pt x="1500" y="470"/>
                    </a:cubicBezTo>
                    <a:cubicBezTo>
                      <a:pt x="1498" y="470"/>
                      <a:pt x="1495" y="471"/>
                      <a:pt x="1491" y="471"/>
                    </a:cubicBezTo>
                    <a:cubicBezTo>
                      <a:pt x="1491" y="471"/>
                      <a:pt x="1491" y="471"/>
                      <a:pt x="1490" y="472"/>
                    </a:cubicBezTo>
                    <a:cubicBezTo>
                      <a:pt x="1479" y="473"/>
                      <a:pt x="1468" y="474"/>
                      <a:pt x="1457" y="474"/>
                    </a:cubicBezTo>
                    <a:cubicBezTo>
                      <a:pt x="1413" y="474"/>
                      <a:pt x="1371" y="461"/>
                      <a:pt x="1335" y="436"/>
                    </a:cubicBezTo>
                    <a:cubicBezTo>
                      <a:pt x="1334" y="435"/>
                      <a:pt x="1334" y="435"/>
                      <a:pt x="1334" y="435"/>
                    </a:cubicBezTo>
                    <a:cubicBezTo>
                      <a:pt x="1331" y="433"/>
                      <a:pt x="1328" y="431"/>
                      <a:pt x="1326" y="429"/>
                    </a:cubicBezTo>
                    <a:cubicBezTo>
                      <a:pt x="1325" y="428"/>
                      <a:pt x="1325" y="428"/>
                      <a:pt x="1325" y="428"/>
                    </a:cubicBezTo>
                    <a:cubicBezTo>
                      <a:pt x="1324" y="428"/>
                      <a:pt x="1324" y="428"/>
                      <a:pt x="1324" y="428"/>
                    </a:cubicBezTo>
                    <a:cubicBezTo>
                      <a:pt x="1323" y="427"/>
                      <a:pt x="1322" y="426"/>
                      <a:pt x="1320" y="424"/>
                    </a:cubicBezTo>
                    <a:cubicBezTo>
                      <a:pt x="1319" y="423"/>
                      <a:pt x="1317" y="422"/>
                      <a:pt x="1316" y="420"/>
                    </a:cubicBezTo>
                    <a:cubicBezTo>
                      <a:pt x="1315" y="420"/>
                      <a:pt x="1315" y="420"/>
                      <a:pt x="1314" y="419"/>
                    </a:cubicBezTo>
                    <a:cubicBezTo>
                      <a:pt x="1314" y="419"/>
                      <a:pt x="1313" y="418"/>
                      <a:pt x="1313" y="418"/>
                    </a:cubicBezTo>
                    <a:cubicBezTo>
                      <a:pt x="1310" y="415"/>
                      <a:pt x="1307" y="413"/>
                      <a:pt x="1305" y="410"/>
                    </a:cubicBezTo>
                    <a:cubicBezTo>
                      <a:pt x="1304" y="409"/>
                      <a:pt x="1304" y="409"/>
                      <a:pt x="1304" y="409"/>
                    </a:cubicBezTo>
                    <a:cubicBezTo>
                      <a:pt x="1303" y="408"/>
                      <a:pt x="1303" y="408"/>
                      <a:pt x="1303" y="408"/>
                    </a:cubicBezTo>
                    <a:cubicBezTo>
                      <a:pt x="1300" y="406"/>
                      <a:pt x="1298" y="403"/>
                      <a:pt x="1296" y="400"/>
                    </a:cubicBezTo>
                    <a:cubicBezTo>
                      <a:pt x="1295" y="400"/>
                      <a:pt x="1295" y="399"/>
                      <a:pt x="1294" y="399"/>
                    </a:cubicBezTo>
                    <a:cubicBezTo>
                      <a:pt x="1292" y="396"/>
                      <a:pt x="1289" y="393"/>
                      <a:pt x="1287" y="390"/>
                    </a:cubicBezTo>
                    <a:cubicBezTo>
                      <a:pt x="1287" y="389"/>
                      <a:pt x="1287" y="389"/>
                      <a:pt x="1287" y="389"/>
                    </a:cubicBezTo>
                    <a:cubicBezTo>
                      <a:pt x="1286" y="388"/>
                      <a:pt x="1286" y="388"/>
                      <a:pt x="1286" y="388"/>
                    </a:cubicBezTo>
                    <a:cubicBezTo>
                      <a:pt x="1284" y="386"/>
                      <a:pt x="1283" y="385"/>
                      <a:pt x="1282" y="383"/>
                    </a:cubicBezTo>
                    <a:cubicBezTo>
                      <a:pt x="1281" y="382"/>
                      <a:pt x="1281" y="382"/>
                      <a:pt x="1281" y="382"/>
                    </a:cubicBezTo>
                    <a:cubicBezTo>
                      <a:pt x="1280" y="381"/>
                      <a:pt x="1280" y="381"/>
                      <a:pt x="1280" y="381"/>
                    </a:cubicBezTo>
                    <a:cubicBezTo>
                      <a:pt x="1274" y="372"/>
                      <a:pt x="1268" y="362"/>
                      <a:pt x="1264" y="352"/>
                    </a:cubicBezTo>
                    <a:cubicBezTo>
                      <a:pt x="1263" y="350"/>
                      <a:pt x="1263" y="350"/>
                      <a:pt x="1263" y="350"/>
                    </a:cubicBezTo>
                    <a:cubicBezTo>
                      <a:pt x="1262" y="349"/>
                      <a:pt x="1262" y="349"/>
                      <a:pt x="1262" y="349"/>
                    </a:cubicBezTo>
                    <a:cubicBezTo>
                      <a:pt x="1262" y="348"/>
                      <a:pt x="1262" y="348"/>
                      <a:pt x="1262" y="348"/>
                    </a:cubicBezTo>
                    <a:cubicBezTo>
                      <a:pt x="1252" y="327"/>
                      <a:pt x="1246" y="304"/>
                      <a:pt x="1244" y="278"/>
                    </a:cubicBezTo>
                    <a:cubicBezTo>
                      <a:pt x="1244" y="278"/>
                      <a:pt x="1244" y="278"/>
                      <a:pt x="1244" y="278"/>
                    </a:cubicBezTo>
                    <a:cubicBezTo>
                      <a:pt x="1243" y="278"/>
                      <a:pt x="1243" y="278"/>
                      <a:pt x="1243" y="278"/>
                    </a:cubicBezTo>
                    <a:cubicBezTo>
                      <a:pt x="1242" y="263"/>
                      <a:pt x="1242" y="248"/>
                      <a:pt x="1244" y="234"/>
                    </a:cubicBezTo>
                    <a:cubicBezTo>
                      <a:pt x="1244" y="231"/>
                      <a:pt x="1244" y="231"/>
                      <a:pt x="1244" y="231"/>
                    </a:cubicBezTo>
                    <a:cubicBezTo>
                      <a:pt x="1245" y="230"/>
                      <a:pt x="1245" y="230"/>
                      <a:pt x="1245" y="230"/>
                    </a:cubicBezTo>
                    <a:cubicBezTo>
                      <a:pt x="1245" y="229"/>
                      <a:pt x="1245" y="229"/>
                      <a:pt x="1245" y="229"/>
                    </a:cubicBezTo>
                    <a:cubicBezTo>
                      <a:pt x="1246" y="219"/>
                      <a:pt x="1248" y="210"/>
                      <a:pt x="1251" y="201"/>
                    </a:cubicBezTo>
                    <a:cubicBezTo>
                      <a:pt x="1251" y="200"/>
                      <a:pt x="1251" y="200"/>
                      <a:pt x="1251" y="200"/>
                    </a:cubicBezTo>
                    <a:cubicBezTo>
                      <a:pt x="1251" y="198"/>
                      <a:pt x="1251" y="198"/>
                      <a:pt x="1251" y="198"/>
                    </a:cubicBezTo>
                    <a:cubicBezTo>
                      <a:pt x="1252" y="194"/>
                      <a:pt x="1252" y="194"/>
                      <a:pt x="1252" y="194"/>
                    </a:cubicBezTo>
                    <a:cubicBezTo>
                      <a:pt x="1261" y="166"/>
                      <a:pt x="1276" y="140"/>
                      <a:pt x="1298" y="116"/>
                    </a:cubicBezTo>
                    <a:cubicBezTo>
                      <a:pt x="1311" y="101"/>
                      <a:pt x="1326" y="88"/>
                      <a:pt x="1343" y="77"/>
                    </a:cubicBezTo>
                    <a:cubicBezTo>
                      <a:pt x="1345" y="76"/>
                      <a:pt x="1345" y="76"/>
                      <a:pt x="1345" y="76"/>
                    </a:cubicBezTo>
                    <a:cubicBezTo>
                      <a:pt x="1346" y="76"/>
                      <a:pt x="1346" y="75"/>
                      <a:pt x="1347" y="75"/>
                    </a:cubicBezTo>
                    <a:cubicBezTo>
                      <a:pt x="1347" y="75"/>
                      <a:pt x="1348" y="74"/>
                      <a:pt x="1348" y="74"/>
                    </a:cubicBezTo>
                    <a:cubicBezTo>
                      <a:pt x="1350" y="73"/>
                      <a:pt x="1350" y="73"/>
                      <a:pt x="1350" y="73"/>
                    </a:cubicBezTo>
                    <a:cubicBezTo>
                      <a:pt x="1383" y="54"/>
                      <a:pt x="1420" y="44"/>
                      <a:pt x="1458" y="44"/>
                    </a:cubicBezTo>
                    <a:cubicBezTo>
                      <a:pt x="1493" y="44"/>
                      <a:pt x="1526" y="52"/>
                      <a:pt x="1556" y="68"/>
                    </a:cubicBezTo>
                    <a:cubicBezTo>
                      <a:pt x="1557" y="69"/>
                      <a:pt x="1557" y="69"/>
                      <a:pt x="1557" y="69"/>
                    </a:cubicBezTo>
                    <a:cubicBezTo>
                      <a:pt x="1557" y="69"/>
                      <a:pt x="1557" y="69"/>
                      <a:pt x="1557" y="69"/>
                    </a:cubicBezTo>
                    <a:cubicBezTo>
                      <a:pt x="1559" y="70"/>
                      <a:pt x="1561" y="71"/>
                      <a:pt x="1564" y="72"/>
                    </a:cubicBezTo>
                    <a:cubicBezTo>
                      <a:pt x="1564" y="72"/>
                      <a:pt x="1564" y="72"/>
                      <a:pt x="1564" y="72"/>
                    </a:cubicBezTo>
                    <a:cubicBezTo>
                      <a:pt x="1565" y="73"/>
                      <a:pt x="1567" y="74"/>
                      <a:pt x="1568" y="75"/>
                    </a:cubicBezTo>
                    <a:cubicBezTo>
                      <a:pt x="1568" y="75"/>
                      <a:pt x="1569" y="75"/>
                      <a:pt x="1570" y="76"/>
                    </a:cubicBezTo>
                    <a:cubicBezTo>
                      <a:pt x="1571" y="76"/>
                      <a:pt x="1571" y="76"/>
                      <a:pt x="1571" y="76"/>
                    </a:cubicBezTo>
                    <a:cubicBezTo>
                      <a:pt x="1582" y="83"/>
                      <a:pt x="1592" y="91"/>
                      <a:pt x="1602" y="100"/>
                    </a:cubicBezTo>
                    <a:cubicBezTo>
                      <a:pt x="1640" y="134"/>
                      <a:pt x="1665" y="182"/>
                      <a:pt x="1671" y="235"/>
                    </a:cubicBezTo>
                    <a:cubicBezTo>
                      <a:pt x="1672" y="243"/>
                      <a:pt x="1672" y="252"/>
                      <a:pt x="1672" y="259"/>
                    </a:cubicBezTo>
                    <a:cubicBezTo>
                      <a:pt x="1672" y="350"/>
                      <a:pt x="1615" y="431"/>
                      <a:pt x="1529" y="462"/>
                    </a:cubicBezTo>
                    <a:close/>
                    <a:moveTo>
                      <a:pt x="880" y="1028"/>
                    </a:moveTo>
                    <a:cubicBezTo>
                      <a:pt x="880" y="901"/>
                      <a:pt x="880" y="901"/>
                      <a:pt x="880" y="901"/>
                    </a:cubicBezTo>
                    <a:cubicBezTo>
                      <a:pt x="880" y="890"/>
                      <a:pt x="871" y="881"/>
                      <a:pt x="860" y="881"/>
                    </a:cubicBezTo>
                    <a:cubicBezTo>
                      <a:pt x="859" y="881"/>
                      <a:pt x="858" y="881"/>
                      <a:pt x="857" y="881"/>
                    </a:cubicBezTo>
                    <a:cubicBezTo>
                      <a:pt x="854" y="881"/>
                      <a:pt x="851" y="881"/>
                      <a:pt x="849" y="881"/>
                    </a:cubicBezTo>
                    <a:cubicBezTo>
                      <a:pt x="848" y="881"/>
                      <a:pt x="848" y="881"/>
                      <a:pt x="848" y="881"/>
                    </a:cubicBezTo>
                    <a:cubicBezTo>
                      <a:pt x="782" y="879"/>
                      <a:pt x="719" y="853"/>
                      <a:pt x="670" y="808"/>
                    </a:cubicBezTo>
                    <a:cubicBezTo>
                      <a:pt x="662" y="801"/>
                      <a:pt x="651" y="800"/>
                      <a:pt x="642" y="806"/>
                    </a:cubicBezTo>
                    <a:cubicBezTo>
                      <a:pt x="630" y="814"/>
                      <a:pt x="630" y="831"/>
                      <a:pt x="640" y="840"/>
                    </a:cubicBezTo>
                    <a:cubicBezTo>
                      <a:pt x="694" y="890"/>
                      <a:pt x="763" y="919"/>
                      <a:pt x="836" y="924"/>
                    </a:cubicBezTo>
                    <a:cubicBezTo>
                      <a:pt x="836" y="1028"/>
                      <a:pt x="836" y="1028"/>
                      <a:pt x="836" y="1028"/>
                    </a:cubicBezTo>
                    <a:cubicBezTo>
                      <a:pt x="703" y="1039"/>
                      <a:pt x="599" y="1150"/>
                      <a:pt x="599" y="1286"/>
                    </a:cubicBezTo>
                    <a:cubicBezTo>
                      <a:pt x="599" y="1430"/>
                      <a:pt x="715" y="1545"/>
                      <a:pt x="858" y="1545"/>
                    </a:cubicBezTo>
                    <a:cubicBezTo>
                      <a:pt x="1001" y="1545"/>
                      <a:pt x="1118" y="1430"/>
                      <a:pt x="1118" y="1286"/>
                    </a:cubicBezTo>
                    <a:cubicBezTo>
                      <a:pt x="1118" y="1150"/>
                      <a:pt x="1013" y="1039"/>
                      <a:pt x="880" y="1028"/>
                    </a:cubicBezTo>
                    <a:close/>
                    <a:moveTo>
                      <a:pt x="943" y="1350"/>
                    </a:moveTo>
                    <a:cubicBezTo>
                      <a:pt x="943" y="1350"/>
                      <a:pt x="943" y="1350"/>
                      <a:pt x="943" y="1422"/>
                    </a:cubicBezTo>
                    <a:cubicBezTo>
                      <a:pt x="943" y="1425"/>
                      <a:pt x="941" y="1428"/>
                      <a:pt x="938" y="1429"/>
                    </a:cubicBezTo>
                    <a:cubicBezTo>
                      <a:pt x="891" y="1449"/>
                      <a:pt x="830" y="1449"/>
                      <a:pt x="825" y="1449"/>
                    </a:cubicBezTo>
                    <a:cubicBezTo>
                      <a:pt x="820" y="1449"/>
                      <a:pt x="817" y="1446"/>
                      <a:pt x="817" y="1442"/>
                    </a:cubicBezTo>
                    <a:cubicBezTo>
                      <a:pt x="817" y="1442"/>
                      <a:pt x="817" y="1442"/>
                      <a:pt x="817" y="1392"/>
                    </a:cubicBezTo>
                    <a:cubicBezTo>
                      <a:pt x="788" y="1395"/>
                      <a:pt x="766" y="1392"/>
                      <a:pt x="759" y="1389"/>
                    </a:cubicBezTo>
                    <a:cubicBezTo>
                      <a:pt x="752" y="1384"/>
                      <a:pt x="751" y="1375"/>
                      <a:pt x="750" y="1357"/>
                    </a:cubicBezTo>
                    <a:cubicBezTo>
                      <a:pt x="750" y="1357"/>
                      <a:pt x="750" y="1357"/>
                      <a:pt x="750" y="1355"/>
                    </a:cubicBezTo>
                    <a:cubicBezTo>
                      <a:pt x="749" y="1343"/>
                      <a:pt x="750" y="1325"/>
                      <a:pt x="752" y="1316"/>
                    </a:cubicBezTo>
                    <a:cubicBezTo>
                      <a:pt x="729" y="1315"/>
                      <a:pt x="723" y="1303"/>
                      <a:pt x="722" y="1300"/>
                    </a:cubicBezTo>
                    <a:cubicBezTo>
                      <a:pt x="720" y="1291"/>
                      <a:pt x="727" y="1282"/>
                      <a:pt x="736" y="1274"/>
                    </a:cubicBezTo>
                    <a:cubicBezTo>
                      <a:pt x="737" y="1273"/>
                      <a:pt x="738" y="1272"/>
                      <a:pt x="739" y="1271"/>
                    </a:cubicBezTo>
                    <a:cubicBezTo>
                      <a:pt x="742" y="1266"/>
                      <a:pt x="746" y="1258"/>
                      <a:pt x="750" y="1247"/>
                    </a:cubicBezTo>
                    <a:cubicBezTo>
                      <a:pt x="751" y="1244"/>
                      <a:pt x="752" y="1240"/>
                      <a:pt x="753" y="1235"/>
                    </a:cubicBezTo>
                    <a:cubicBezTo>
                      <a:pt x="755" y="1228"/>
                      <a:pt x="756" y="1222"/>
                      <a:pt x="758" y="1217"/>
                    </a:cubicBezTo>
                    <a:cubicBezTo>
                      <a:pt x="759" y="1210"/>
                      <a:pt x="761" y="1192"/>
                      <a:pt x="762" y="1183"/>
                    </a:cubicBezTo>
                    <a:cubicBezTo>
                      <a:pt x="760" y="1183"/>
                      <a:pt x="758" y="1183"/>
                      <a:pt x="758" y="1183"/>
                    </a:cubicBezTo>
                    <a:cubicBezTo>
                      <a:pt x="758" y="1183"/>
                      <a:pt x="758" y="1183"/>
                      <a:pt x="758" y="1183"/>
                    </a:cubicBezTo>
                    <a:cubicBezTo>
                      <a:pt x="754" y="1166"/>
                      <a:pt x="730" y="1141"/>
                      <a:pt x="738" y="1141"/>
                    </a:cubicBezTo>
                    <a:cubicBezTo>
                      <a:pt x="811" y="1143"/>
                      <a:pt x="788" y="1123"/>
                      <a:pt x="866" y="1123"/>
                    </a:cubicBezTo>
                    <a:cubicBezTo>
                      <a:pt x="934" y="1123"/>
                      <a:pt x="969" y="1164"/>
                      <a:pt x="986" y="1199"/>
                    </a:cubicBezTo>
                    <a:cubicBezTo>
                      <a:pt x="1015" y="1262"/>
                      <a:pt x="967" y="1325"/>
                      <a:pt x="943" y="1350"/>
                    </a:cubicBezTo>
                    <a:close/>
                    <a:moveTo>
                      <a:pt x="1455" y="99"/>
                    </a:moveTo>
                    <a:cubicBezTo>
                      <a:pt x="1379" y="99"/>
                      <a:pt x="1347" y="134"/>
                      <a:pt x="1351" y="149"/>
                    </a:cubicBezTo>
                    <a:cubicBezTo>
                      <a:pt x="1352" y="152"/>
                      <a:pt x="1354" y="155"/>
                      <a:pt x="1355" y="158"/>
                    </a:cubicBezTo>
                    <a:cubicBezTo>
                      <a:pt x="1352" y="162"/>
                      <a:pt x="1343" y="175"/>
                      <a:pt x="1345" y="195"/>
                    </a:cubicBezTo>
                    <a:cubicBezTo>
                      <a:pt x="1346" y="204"/>
                      <a:pt x="1345" y="222"/>
                      <a:pt x="1343" y="225"/>
                    </a:cubicBezTo>
                    <a:cubicBezTo>
                      <a:pt x="1340" y="232"/>
                      <a:pt x="1335" y="241"/>
                      <a:pt x="1330" y="247"/>
                    </a:cubicBezTo>
                    <a:cubicBezTo>
                      <a:pt x="1323" y="254"/>
                      <a:pt x="1314" y="266"/>
                      <a:pt x="1317" y="274"/>
                    </a:cubicBezTo>
                    <a:cubicBezTo>
                      <a:pt x="1320" y="279"/>
                      <a:pt x="1329" y="288"/>
                      <a:pt x="1347" y="288"/>
                    </a:cubicBezTo>
                    <a:cubicBezTo>
                      <a:pt x="1347" y="294"/>
                      <a:pt x="1347" y="302"/>
                      <a:pt x="1347" y="310"/>
                    </a:cubicBezTo>
                    <a:cubicBezTo>
                      <a:pt x="1346" y="339"/>
                      <a:pt x="1350" y="348"/>
                      <a:pt x="1353" y="352"/>
                    </a:cubicBezTo>
                    <a:cubicBezTo>
                      <a:pt x="1357" y="355"/>
                      <a:pt x="1365" y="359"/>
                      <a:pt x="1393" y="358"/>
                    </a:cubicBezTo>
                    <a:cubicBezTo>
                      <a:pt x="1397" y="358"/>
                      <a:pt x="1408" y="358"/>
                      <a:pt x="1415" y="357"/>
                    </a:cubicBezTo>
                    <a:cubicBezTo>
                      <a:pt x="1415" y="412"/>
                      <a:pt x="1415" y="412"/>
                      <a:pt x="1415" y="412"/>
                    </a:cubicBezTo>
                    <a:cubicBezTo>
                      <a:pt x="1415" y="415"/>
                      <a:pt x="1418" y="418"/>
                      <a:pt x="1421" y="418"/>
                    </a:cubicBezTo>
                    <a:cubicBezTo>
                      <a:pt x="1422" y="418"/>
                      <a:pt x="1425" y="419"/>
                      <a:pt x="1428" y="419"/>
                    </a:cubicBezTo>
                    <a:cubicBezTo>
                      <a:pt x="1444" y="419"/>
                      <a:pt x="1479" y="416"/>
                      <a:pt x="1508" y="399"/>
                    </a:cubicBezTo>
                    <a:cubicBezTo>
                      <a:pt x="1510" y="398"/>
                      <a:pt x="1511" y="396"/>
                      <a:pt x="1511" y="394"/>
                    </a:cubicBezTo>
                    <a:cubicBezTo>
                      <a:pt x="1513" y="358"/>
                      <a:pt x="1513" y="358"/>
                      <a:pt x="1513" y="358"/>
                    </a:cubicBezTo>
                    <a:cubicBezTo>
                      <a:pt x="1560" y="339"/>
                      <a:pt x="1634" y="285"/>
                      <a:pt x="1578" y="169"/>
                    </a:cubicBezTo>
                    <a:cubicBezTo>
                      <a:pt x="1562" y="135"/>
                      <a:pt x="1522" y="99"/>
                      <a:pt x="1455" y="99"/>
                    </a:cubicBezTo>
                    <a:close/>
                    <a:moveTo>
                      <a:pt x="379" y="244"/>
                    </a:moveTo>
                    <a:cubicBezTo>
                      <a:pt x="375" y="239"/>
                      <a:pt x="371" y="231"/>
                      <a:pt x="368" y="220"/>
                    </a:cubicBezTo>
                    <a:cubicBezTo>
                      <a:pt x="367" y="218"/>
                      <a:pt x="366" y="213"/>
                      <a:pt x="365" y="208"/>
                    </a:cubicBezTo>
                    <a:cubicBezTo>
                      <a:pt x="363" y="201"/>
                      <a:pt x="362" y="195"/>
                      <a:pt x="360" y="190"/>
                    </a:cubicBezTo>
                    <a:cubicBezTo>
                      <a:pt x="358" y="183"/>
                      <a:pt x="356" y="165"/>
                      <a:pt x="355" y="156"/>
                    </a:cubicBezTo>
                    <a:cubicBezTo>
                      <a:pt x="357" y="156"/>
                      <a:pt x="359" y="157"/>
                      <a:pt x="359" y="157"/>
                    </a:cubicBezTo>
                    <a:cubicBezTo>
                      <a:pt x="360" y="157"/>
                      <a:pt x="360" y="157"/>
                      <a:pt x="360" y="156"/>
                    </a:cubicBezTo>
                    <a:cubicBezTo>
                      <a:pt x="364" y="140"/>
                      <a:pt x="388" y="114"/>
                      <a:pt x="380" y="114"/>
                    </a:cubicBezTo>
                    <a:cubicBezTo>
                      <a:pt x="307" y="116"/>
                      <a:pt x="330" y="96"/>
                      <a:pt x="252" y="96"/>
                    </a:cubicBezTo>
                    <a:cubicBezTo>
                      <a:pt x="183" y="96"/>
                      <a:pt x="149" y="137"/>
                      <a:pt x="132" y="172"/>
                    </a:cubicBezTo>
                    <a:cubicBezTo>
                      <a:pt x="102" y="236"/>
                      <a:pt x="151" y="298"/>
                      <a:pt x="175" y="323"/>
                    </a:cubicBezTo>
                    <a:cubicBezTo>
                      <a:pt x="175" y="323"/>
                      <a:pt x="175" y="323"/>
                      <a:pt x="175" y="395"/>
                    </a:cubicBezTo>
                    <a:cubicBezTo>
                      <a:pt x="175" y="398"/>
                      <a:pt x="177" y="401"/>
                      <a:pt x="179" y="402"/>
                    </a:cubicBezTo>
                    <a:cubicBezTo>
                      <a:pt x="227" y="422"/>
                      <a:pt x="288" y="422"/>
                      <a:pt x="293" y="422"/>
                    </a:cubicBezTo>
                    <a:cubicBezTo>
                      <a:pt x="297" y="422"/>
                      <a:pt x="300" y="419"/>
                      <a:pt x="300" y="415"/>
                    </a:cubicBezTo>
                    <a:cubicBezTo>
                      <a:pt x="300" y="415"/>
                      <a:pt x="300" y="415"/>
                      <a:pt x="300" y="365"/>
                    </a:cubicBezTo>
                    <a:cubicBezTo>
                      <a:pt x="330" y="368"/>
                      <a:pt x="351" y="365"/>
                      <a:pt x="358" y="362"/>
                    </a:cubicBezTo>
                    <a:cubicBezTo>
                      <a:pt x="366" y="357"/>
                      <a:pt x="367" y="348"/>
                      <a:pt x="368" y="330"/>
                    </a:cubicBezTo>
                    <a:cubicBezTo>
                      <a:pt x="368" y="330"/>
                      <a:pt x="368" y="330"/>
                      <a:pt x="368" y="328"/>
                    </a:cubicBezTo>
                    <a:cubicBezTo>
                      <a:pt x="369" y="316"/>
                      <a:pt x="368" y="298"/>
                      <a:pt x="366" y="289"/>
                    </a:cubicBezTo>
                    <a:cubicBezTo>
                      <a:pt x="389" y="288"/>
                      <a:pt x="394" y="277"/>
                      <a:pt x="395" y="273"/>
                    </a:cubicBezTo>
                    <a:cubicBezTo>
                      <a:pt x="398" y="264"/>
                      <a:pt x="390" y="256"/>
                      <a:pt x="382" y="247"/>
                    </a:cubicBezTo>
                    <a:cubicBezTo>
                      <a:pt x="381" y="246"/>
                      <a:pt x="380" y="245"/>
                      <a:pt x="379" y="244"/>
                    </a:cubicBezTo>
                    <a:close/>
                    <a:moveTo>
                      <a:pt x="742" y="450"/>
                    </a:moveTo>
                    <a:cubicBezTo>
                      <a:pt x="698" y="453"/>
                      <a:pt x="662" y="483"/>
                      <a:pt x="650" y="526"/>
                    </a:cubicBezTo>
                    <a:cubicBezTo>
                      <a:pt x="643" y="553"/>
                      <a:pt x="642" y="597"/>
                      <a:pt x="678" y="656"/>
                    </a:cubicBezTo>
                    <a:cubicBezTo>
                      <a:pt x="710" y="707"/>
                      <a:pt x="834" y="805"/>
                      <a:pt x="854" y="820"/>
                    </a:cubicBezTo>
                    <a:cubicBezTo>
                      <a:pt x="856" y="822"/>
                      <a:pt x="859" y="822"/>
                      <a:pt x="860" y="820"/>
                    </a:cubicBezTo>
                    <a:cubicBezTo>
                      <a:pt x="881" y="805"/>
                      <a:pt x="1005" y="707"/>
                      <a:pt x="1037" y="656"/>
                    </a:cubicBezTo>
                    <a:cubicBezTo>
                      <a:pt x="1073" y="597"/>
                      <a:pt x="1072" y="553"/>
                      <a:pt x="1065" y="526"/>
                    </a:cubicBezTo>
                    <a:cubicBezTo>
                      <a:pt x="1053" y="483"/>
                      <a:pt x="1017" y="453"/>
                      <a:pt x="973" y="450"/>
                    </a:cubicBezTo>
                    <a:cubicBezTo>
                      <a:pt x="949" y="449"/>
                      <a:pt x="926" y="456"/>
                      <a:pt x="905" y="470"/>
                    </a:cubicBezTo>
                    <a:cubicBezTo>
                      <a:pt x="886" y="483"/>
                      <a:pt x="870" y="503"/>
                      <a:pt x="857" y="529"/>
                    </a:cubicBezTo>
                    <a:cubicBezTo>
                      <a:pt x="845" y="503"/>
                      <a:pt x="829" y="483"/>
                      <a:pt x="810" y="470"/>
                    </a:cubicBezTo>
                    <a:cubicBezTo>
                      <a:pt x="789" y="456"/>
                      <a:pt x="765" y="449"/>
                      <a:pt x="742" y="45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217" name="bcgIcons_3D Printing ">
            <a:extLst>
              <a:ext uri="{FF2B5EF4-FFF2-40B4-BE49-F238E27FC236}">
                <a16:creationId xmlns:a16="http://schemas.microsoft.com/office/drawing/2014/main" id="{88FEFB11-E4F8-7A82-36B3-CEEE5E7294E1}"/>
              </a:ext>
            </a:extLst>
          </p:cNvPr>
          <p:cNvGrpSpPr>
            <a:grpSpLocks noChangeAspect="1"/>
          </p:cNvGrpSpPr>
          <p:nvPr/>
        </p:nvGrpSpPr>
        <p:grpSpPr bwMode="auto">
          <a:xfrm>
            <a:off x="2153578" y="4884848"/>
            <a:ext cx="341576" cy="341893"/>
            <a:chOff x="1682" y="0"/>
            <a:chExt cx="4316" cy="4320"/>
          </a:xfrm>
        </p:grpSpPr>
        <p:sp>
          <p:nvSpPr>
            <p:cNvPr id="218" name="AutoShape 18">
              <a:extLst>
                <a:ext uri="{FF2B5EF4-FFF2-40B4-BE49-F238E27FC236}">
                  <a16:creationId xmlns:a16="http://schemas.microsoft.com/office/drawing/2014/main" id="{374EBE95-7276-7256-DFB6-1E0F8639A18C}"/>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 name="Freeform 20">
              <a:extLst>
                <a:ext uri="{FF2B5EF4-FFF2-40B4-BE49-F238E27FC236}">
                  <a16:creationId xmlns:a16="http://schemas.microsoft.com/office/drawing/2014/main" id="{2CB56CD2-B1B2-2C2F-EDA6-2F1B8E9CC797}"/>
                </a:ext>
              </a:extLst>
            </p:cNvPr>
            <p:cNvSpPr>
              <a:spLocks noEditPoints="1"/>
            </p:cNvSpPr>
            <p:nvPr/>
          </p:nvSpPr>
          <p:spPr bwMode="auto">
            <a:xfrm>
              <a:off x="2409" y="529"/>
              <a:ext cx="2862" cy="3260"/>
            </a:xfrm>
            <a:custGeom>
              <a:avLst/>
              <a:gdLst>
                <a:gd name="T0" fmla="*/ 1528 w 1528"/>
                <a:gd name="T1" fmla="*/ 448 h 1739"/>
                <a:gd name="T2" fmla="*/ 1528 w 1528"/>
                <a:gd name="T3" fmla="*/ 445 h 1739"/>
                <a:gd name="T4" fmla="*/ 1527 w 1528"/>
                <a:gd name="T5" fmla="*/ 443 h 1739"/>
                <a:gd name="T6" fmla="*/ 1526 w 1528"/>
                <a:gd name="T7" fmla="*/ 440 h 1739"/>
                <a:gd name="T8" fmla="*/ 1525 w 1528"/>
                <a:gd name="T9" fmla="*/ 437 h 1739"/>
                <a:gd name="T10" fmla="*/ 1523 w 1528"/>
                <a:gd name="T11" fmla="*/ 435 h 1739"/>
                <a:gd name="T12" fmla="*/ 1522 w 1528"/>
                <a:gd name="T13" fmla="*/ 433 h 1739"/>
                <a:gd name="T14" fmla="*/ 1520 w 1528"/>
                <a:gd name="T15" fmla="*/ 431 h 1739"/>
                <a:gd name="T16" fmla="*/ 1517 w 1528"/>
                <a:gd name="T17" fmla="*/ 429 h 1739"/>
                <a:gd name="T18" fmla="*/ 1517 w 1528"/>
                <a:gd name="T19" fmla="*/ 429 h 1739"/>
                <a:gd name="T20" fmla="*/ 751 w 1528"/>
                <a:gd name="T21" fmla="*/ 4 h 1739"/>
                <a:gd name="T22" fmla="*/ 11 w 1528"/>
                <a:gd name="T23" fmla="*/ 423 h 1739"/>
                <a:gd name="T24" fmla="*/ 7 w 1528"/>
                <a:gd name="T25" fmla="*/ 427 h 1739"/>
                <a:gd name="T26" fmla="*/ 5 w 1528"/>
                <a:gd name="T27" fmla="*/ 429 h 1739"/>
                <a:gd name="T28" fmla="*/ 3 w 1528"/>
                <a:gd name="T29" fmla="*/ 431 h 1739"/>
                <a:gd name="T30" fmla="*/ 3 w 1528"/>
                <a:gd name="T31" fmla="*/ 432 h 1739"/>
                <a:gd name="T32" fmla="*/ 2 w 1528"/>
                <a:gd name="T33" fmla="*/ 434 h 1739"/>
                <a:gd name="T34" fmla="*/ 1 w 1528"/>
                <a:gd name="T35" fmla="*/ 437 h 1739"/>
                <a:gd name="T36" fmla="*/ 0 w 1528"/>
                <a:gd name="T37" fmla="*/ 440 h 1739"/>
                <a:gd name="T38" fmla="*/ 0 w 1528"/>
                <a:gd name="T39" fmla="*/ 442 h 1739"/>
                <a:gd name="T40" fmla="*/ 11 w 1528"/>
                <a:gd name="T41" fmla="*/ 1311 h 1739"/>
                <a:gd name="T42" fmla="*/ 778 w 1528"/>
                <a:gd name="T43" fmla="*/ 1737 h 1739"/>
                <a:gd name="T44" fmla="*/ 781 w 1528"/>
                <a:gd name="T45" fmla="*/ 1738 h 1739"/>
                <a:gd name="T46" fmla="*/ 785 w 1528"/>
                <a:gd name="T47" fmla="*/ 1738 h 1739"/>
                <a:gd name="T48" fmla="*/ 788 w 1528"/>
                <a:gd name="T49" fmla="*/ 1739 h 1739"/>
                <a:gd name="T50" fmla="*/ 794 w 1528"/>
                <a:gd name="T51" fmla="*/ 1738 h 1739"/>
                <a:gd name="T52" fmla="*/ 797 w 1528"/>
                <a:gd name="T53" fmla="*/ 1737 h 1739"/>
                <a:gd name="T54" fmla="*/ 799 w 1528"/>
                <a:gd name="T55" fmla="*/ 1736 h 1739"/>
                <a:gd name="T56" fmla="*/ 1528 w 1528"/>
                <a:gd name="T57" fmla="*/ 1298 h 1739"/>
                <a:gd name="T58" fmla="*/ 1528 w 1528"/>
                <a:gd name="T59" fmla="*/ 448 h 1739"/>
                <a:gd name="T60" fmla="*/ 1461 w 1528"/>
                <a:gd name="T61" fmla="*/ 449 h 1739"/>
                <a:gd name="T62" fmla="*/ 67 w 1528"/>
                <a:gd name="T63" fmla="*/ 442 h 1739"/>
                <a:gd name="T64" fmla="*/ 44 w 1528"/>
                <a:gd name="T65" fmla="*/ 480 h 1739"/>
                <a:gd name="T66" fmla="*/ 766 w 1528"/>
                <a:gd name="T67" fmla="*/ 1679 h 1739"/>
                <a:gd name="T68" fmla="*/ 44 w 1528"/>
                <a:gd name="T69" fmla="*/ 480 h 1739"/>
                <a:gd name="T70" fmla="*/ 810 w 1528"/>
                <a:gd name="T71" fmla="*/ 1678 h 1739"/>
                <a:gd name="T72" fmla="*/ 1484 w 1528"/>
                <a:gd name="T73" fmla="*/ 486 h 1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28" h="1739">
                  <a:moveTo>
                    <a:pt x="1528" y="448"/>
                  </a:moveTo>
                  <a:cubicBezTo>
                    <a:pt x="1528" y="448"/>
                    <a:pt x="1528" y="448"/>
                    <a:pt x="1528" y="448"/>
                  </a:cubicBezTo>
                  <a:cubicBezTo>
                    <a:pt x="1528" y="448"/>
                    <a:pt x="1528" y="448"/>
                    <a:pt x="1528" y="448"/>
                  </a:cubicBezTo>
                  <a:cubicBezTo>
                    <a:pt x="1528" y="447"/>
                    <a:pt x="1528" y="446"/>
                    <a:pt x="1528" y="445"/>
                  </a:cubicBezTo>
                  <a:cubicBezTo>
                    <a:pt x="1528" y="445"/>
                    <a:pt x="1528" y="445"/>
                    <a:pt x="1528" y="445"/>
                  </a:cubicBezTo>
                  <a:cubicBezTo>
                    <a:pt x="1528" y="444"/>
                    <a:pt x="1527" y="443"/>
                    <a:pt x="1527" y="443"/>
                  </a:cubicBezTo>
                  <a:cubicBezTo>
                    <a:pt x="1527" y="443"/>
                    <a:pt x="1527" y="442"/>
                    <a:pt x="1527" y="442"/>
                  </a:cubicBezTo>
                  <a:cubicBezTo>
                    <a:pt x="1527" y="441"/>
                    <a:pt x="1527" y="441"/>
                    <a:pt x="1526" y="440"/>
                  </a:cubicBezTo>
                  <a:cubicBezTo>
                    <a:pt x="1526" y="440"/>
                    <a:pt x="1526" y="439"/>
                    <a:pt x="1526" y="439"/>
                  </a:cubicBezTo>
                  <a:cubicBezTo>
                    <a:pt x="1526" y="439"/>
                    <a:pt x="1525" y="438"/>
                    <a:pt x="1525" y="437"/>
                  </a:cubicBezTo>
                  <a:cubicBezTo>
                    <a:pt x="1525" y="437"/>
                    <a:pt x="1525" y="437"/>
                    <a:pt x="1525" y="437"/>
                  </a:cubicBezTo>
                  <a:cubicBezTo>
                    <a:pt x="1524" y="436"/>
                    <a:pt x="1524" y="435"/>
                    <a:pt x="1523" y="435"/>
                  </a:cubicBezTo>
                  <a:cubicBezTo>
                    <a:pt x="1523" y="435"/>
                    <a:pt x="1523" y="435"/>
                    <a:pt x="1523" y="435"/>
                  </a:cubicBezTo>
                  <a:cubicBezTo>
                    <a:pt x="1523" y="434"/>
                    <a:pt x="1522" y="433"/>
                    <a:pt x="1522" y="433"/>
                  </a:cubicBezTo>
                  <a:cubicBezTo>
                    <a:pt x="1521" y="433"/>
                    <a:pt x="1521" y="432"/>
                    <a:pt x="1521" y="432"/>
                  </a:cubicBezTo>
                  <a:cubicBezTo>
                    <a:pt x="1521" y="432"/>
                    <a:pt x="1520" y="431"/>
                    <a:pt x="1520" y="431"/>
                  </a:cubicBezTo>
                  <a:cubicBezTo>
                    <a:pt x="1519" y="431"/>
                    <a:pt x="1519" y="431"/>
                    <a:pt x="1519" y="430"/>
                  </a:cubicBezTo>
                  <a:cubicBezTo>
                    <a:pt x="1518" y="430"/>
                    <a:pt x="1518" y="430"/>
                    <a:pt x="1517" y="429"/>
                  </a:cubicBezTo>
                  <a:cubicBezTo>
                    <a:pt x="1517" y="429"/>
                    <a:pt x="1517" y="429"/>
                    <a:pt x="1517" y="429"/>
                  </a:cubicBezTo>
                  <a:cubicBezTo>
                    <a:pt x="1517" y="429"/>
                    <a:pt x="1517" y="429"/>
                    <a:pt x="1517" y="429"/>
                  </a:cubicBezTo>
                  <a:cubicBezTo>
                    <a:pt x="1517" y="429"/>
                    <a:pt x="1517" y="429"/>
                    <a:pt x="1517" y="429"/>
                  </a:cubicBezTo>
                  <a:cubicBezTo>
                    <a:pt x="751" y="4"/>
                    <a:pt x="751" y="4"/>
                    <a:pt x="751" y="4"/>
                  </a:cubicBezTo>
                  <a:cubicBezTo>
                    <a:pt x="744" y="0"/>
                    <a:pt x="736" y="0"/>
                    <a:pt x="729" y="4"/>
                  </a:cubicBezTo>
                  <a:cubicBezTo>
                    <a:pt x="11" y="423"/>
                    <a:pt x="11" y="423"/>
                    <a:pt x="11" y="423"/>
                  </a:cubicBezTo>
                  <a:cubicBezTo>
                    <a:pt x="11" y="424"/>
                    <a:pt x="11" y="424"/>
                    <a:pt x="11" y="424"/>
                  </a:cubicBezTo>
                  <a:cubicBezTo>
                    <a:pt x="9" y="425"/>
                    <a:pt x="8" y="426"/>
                    <a:pt x="7" y="427"/>
                  </a:cubicBezTo>
                  <a:cubicBezTo>
                    <a:pt x="6" y="427"/>
                    <a:pt x="6" y="427"/>
                    <a:pt x="6" y="427"/>
                  </a:cubicBezTo>
                  <a:cubicBezTo>
                    <a:pt x="6" y="428"/>
                    <a:pt x="5" y="428"/>
                    <a:pt x="5" y="429"/>
                  </a:cubicBezTo>
                  <a:cubicBezTo>
                    <a:pt x="5" y="429"/>
                    <a:pt x="5" y="429"/>
                    <a:pt x="4" y="429"/>
                  </a:cubicBezTo>
                  <a:cubicBezTo>
                    <a:pt x="4" y="430"/>
                    <a:pt x="4" y="431"/>
                    <a:pt x="3" y="431"/>
                  </a:cubicBezTo>
                  <a:cubicBezTo>
                    <a:pt x="3" y="431"/>
                    <a:pt x="3" y="431"/>
                    <a:pt x="3" y="432"/>
                  </a:cubicBezTo>
                  <a:cubicBezTo>
                    <a:pt x="3" y="432"/>
                    <a:pt x="3" y="432"/>
                    <a:pt x="3" y="432"/>
                  </a:cubicBezTo>
                  <a:cubicBezTo>
                    <a:pt x="2" y="433"/>
                    <a:pt x="2" y="433"/>
                    <a:pt x="2" y="434"/>
                  </a:cubicBezTo>
                  <a:cubicBezTo>
                    <a:pt x="2" y="434"/>
                    <a:pt x="2" y="434"/>
                    <a:pt x="2" y="434"/>
                  </a:cubicBezTo>
                  <a:cubicBezTo>
                    <a:pt x="1" y="435"/>
                    <a:pt x="1" y="436"/>
                    <a:pt x="1" y="436"/>
                  </a:cubicBezTo>
                  <a:cubicBezTo>
                    <a:pt x="1" y="437"/>
                    <a:pt x="1" y="437"/>
                    <a:pt x="1" y="437"/>
                  </a:cubicBezTo>
                  <a:cubicBezTo>
                    <a:pt x="1" y="438"/>
                    <a:pt x="0" y="439"/>
                    <a:pt x="0" y="439"/>
                  </a:cubicBezTo>
                  <a:cubicBezTo>
                    <a:pt x="0" y="439"/>
                    <a:pt x="0" y="440"/>
                    <a:pt x="0" y="440"/>
                  </a:cubicBezTo>
                  <a:cubicBezTo>
                    <a:pt x="0" y="441"/>
                    <a:pt x="0" y="442"/>
                    <a:pt x="0" y="442"/>
                  </a:cubicBezTo>
                  <a:cubicBezTo>
                    <a:pt x="0" y="442"/>
                    <a:pt x="0" y="442"/>
                    <a:pt x="0" y="442"/>
                  </a:cubicBezTo>
                  <a:cubicBezTo>
                    <a:pt x="0" y="1292"/>
                    <a:pt x="0" y="1292"/>
                    <a:pt x="0" y="1292"/>
                  </a:cubicBezTo>
                  <a:cubicBezTo>
                    <a:pt x="0" y="1300"/>
                    <a:pt x="4" y="1307"/>
                    <a:pt x="11" y="1311"/>
                  </a:cubicBezTo>
                  <a:cubicBezTo>
                    <a:pt x="777" y="1736"/>
                    <a:pt x="777" y="1736"/>
                    <a:pt x="777" y="1736"/>
                  </a:cubicBezTo>
                  <a:cubicBezTo>
                    <a:pt x="778" y="1736"/>
                    <a:pt x="778" y="1736"/>
                    <a:pt x="778" y="1737"/>
                  </a:cubicBezTo>
                  <a:cubicBezTo>
                    <a:pt x="779" y="1737"/>
                    <a:pt x="779" y="1737"/>
                    <a:pt x="780" y="1737"/>
                  </a:cubicBezTo>
                  <a:cubicBezTo>
                    <a:pt x="780" y="1737"/>
                    <a:pt x="781" y="1737"/>
                    <a:pt x="781" y="1738"/>
                  </a:cubicBezTo>
                  <a:cubicBezTo>
                    <a:pt x="782" y="1738"/>
                    <a:pt x="782" y="1738"/>
                    <a:pt x="782" y="1738"/>
                  </a:cubicBezTo>
                  <a:cubicBezTo>
                    <a:pt x="783" y="1738"/>
                    <a:pt x="784" y="1738"/>
                    <a:pt x="785" y="1738"/>
                  </a:cubicBezTo>
                  <a:cubicBezTo>
                    <a:pt x="785" y="1738"/>
                    <a:pt x="785" y="1738"/>
                    <a:pt x="785" y="1738"/>
                  </a:cubicBezTo>
                  <a:cubicBezTo>
                    <a:pt x="786" y="1739"/>
                    <a:pt x="787" y="1739"/>
                    <a:pt x="788" y="1739"/>
                  </a:cubicBezTo>
                  <a:cubicBezTo>
                    <a:pt x="790" y="1739"/>
                    <a:pt x="792" y="1738"/>
                    <a:pt x="793" y="1738"/>
                  </a:cubicBezTo>
                  <a:cubicBezTo>
                    <a:pt x="794" y="1738"/>
                    <a:pt x="794" y="1738"/>
                    <a:pt x="794" y="1738"/>
                  </a:cubicBezTo>
                  <a:cubicBezTo>
                    <a:pt x="795" y="1737"/>
                    <a:pt x="796" y="1737"/>
                    <a:pt x="796" y="1737"/>
                  </a:cubicBezTo>
                  <a:cubicBezTo>
                    <a:pt x="796" y="1737"/>
                    <a:pt x="797" y="1737"/>
                    <a:pt x="797" y="1737"/>
                  </a:cubicBezTo>
                  <a:cubicBezTo>
                    <a:pt x="797" y="1736"/>
                    <a:pt x="798" y="1736"/>
                    <a:pt x="799" y="1736"/>
                  </a:cubicBezTo>
                  <a:cubicBezTo>
                    <a:pt x="799" y="1736"/>
                    <a:pt x="799" y="1736"/>
                    <a:pt x="799" y="1736"/>
                  </a:cubicBezTo>
                  <a:cubicBezTo>
                    <a:pt x="1517" y="1317"/>
                    <a:pt x="1517" y="1317"/>
                    <a:pt x="1517" y="1317"/>
                  </a:cubicBezTo>
                  <a:cubicBezTo>
                    <a:pt x="1524" y="1313"/>
                    <a:pt x="1528" y="1305"/>
                    <a:pt x="1528" y="1298"/>
                  </a:cubicBezTo>
                  <a:cubicBezTo>
                    <a:pt x="1528" y="448"/>
                    <a:pt x="1528" y="448"/>
                    <a:pt x="1528" y="448"/>
                  </a:cubicBezTo>
                  <a:cubicBezTo>
                    <a:pt x="1528" y="448"/>
                    <a:pt x="1528" y="448"/>
                    <a:pt x="1528" y="448"/>
                  </a:cubicBezTo>
                  <a:close/>
                  <a:moveTo>
                    <a:pt x="741" y="49"/>
                  </a:moveTo>
                  <a:cubicBezTo>
                    <a:pt x="1461" y="449"/>
                    <a:pt x="1461" y="449"/>
                    <a:pt x="1461" y="449"/>
                  </a:cubicBezTo>
                  <a:cubicBezTo>
                    <a:pt x="787" y="842"/>
                    <a:pt x="787" y="842"/>
                    <a:pt x="787" y="842"/>
                  </a:cubicBezTo>
                  <a:cubicBezTo>
                    <a:pt x="67" y="442"/>
                    <a:pt x="67" y="442"/>
                    <a:pt x="67" y="442"/>
                  </a:cubicBezTo>
                  <a:lnTo>
                    <a:pt x="741" y="49"/>
                  </a:lnTo>
                  <a:close/>
                  <a:moveTo>
                    <a:pt x="44" y="480"/>
                  </a:moveTo>
                  <a:cubicBezTo>
                    <a:pt x="766" y="880"/>
                    <a:pt x="766" y="880"/>
                    <a:pt x="766" y="880"/>
                  </a:cubicBezTo>
                  <a:cubicBezTo>
                    <a:pt x="766" y="1679"/>
                    <a:pt x="766" y="1679"/>
                    <a:pt x="766" y="1679"/>
                  </a:cubicBezTo>
                  <a:cubicBezTo>
                    <a:pt x="44" y="1279"/>
                    <a:pt x="44" y="1279"/>
                    <a:pt x="44" y="1279"/>
                  </a:cubicBezTo>
                  <a:lnTo>
                    <a:pt x="44" y="480"/>
                  </a:lnTo>
                  <a:close/>
                  <a:moveTo>
                    <a:pt x="1484" y="1285"/>
                  </a:moveTo>
                  <a:cubicBezTo>
                    <a:pt x="810" y="1678"/>
                    <a:pt x="810" y="1678"/>
                    <a:pt x="810" y="1678"/>
                  </a:cubicBezTo>
                  <a:cubicBezTo>
                    <a:pt x="810" y="880"/>
                    <a:pt x="810" y="880"/>
                    <a:pt x="810" y="880"/>
                  </a:cubicBezTo>
                  <a:cubicBezTo>
                    <a:pt x="1484" y="486"/>
                    <a:pt x="1484" y="486"/>
                    <a:pt x="1484" y="486"/>
                  </a:cubicBezTo>
                  <a:lnTo>
                    <a:pt x="1484" y="1285"/>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 name="Freeform 21">
              <a:extLst>
                <a:ext uri="{FF2B5EF4-FFF2-40B4-BE49-F238E27FC236}">
                  <a16:creationId xmlns:a16="http://schemas.microsoft.com/office/drawing/2014/main" id="{64CFEA6D-9F59-6091-8E86-5D62AB017728}"/>
                </a:ext>
              </a:extLst>
            </p:cNvPr>
            <p:cNvSpPr>
              <a:spLocks noEditPoints="1"/>
            </p:cNvSpPr>
            <p:nvPr/>
          </p:nvSpPr>
          <p:spPr bwMode="auto">
            <a:xfrm>
              <a:off x="2662" y="692"/>
              <a:ext cx="2471" cy="2876"/>
            </a:xfrm>
            <a:custGeom>
              <a:avLst/>
              <a:gdLst>
                <a:gd name="T0" fmla="*/ 1319 w 1319"/>
                <a:gd name="T1" fmla="*/ 1164 h 1534"/>
                <a:gd name="T2" fmla="*/ 1301 w 1319"/>
                <a:gd name="T3" fmla="*/ 1193 h 1534"/>
                <a:gd name="T4" fmla="*/ 725 w 1319"/>
                <a:gd name="T5" fmla="*/ 1528 h 1534"/>
                <a:gd name="T6" fmla="*/ 707 w 1319"/>
                <a:gd name="T7" fmla="*/ 1520 h 1534"/>
                <a:gd name="T8" fmla="*/ 707 w 1319"/>
                <a:gd name="T9" fmla="*/ 828 h 1534"/>
                <a:gd name="T10" fmla="*/ 725 w 1319"/>
                <a:gd name="T11" fmla="*/ 800 h 1534"/>
                <a:gd name="T12" fmla="*/ 1301 w 1319"/>
                <a:gd name="T13" fmla="*/ 465 h 1534"/>
                <a:gd name="T14" fmla="*/ 1319 w 1319"/>
                <a:gd name="T15" fmla="*/ 472 h 1534"/>
                <a:gd name="T16" fmla="*/ 1319 w 1319"/>
                <a:gd name="T17" fmla="*/ 1164 h 1534"/>
                <a:gd name="T18" fmla="*/ 633 w 1319"/>
                <a:gd name="T19" fmla="*/ 707 h 1534"/>
                <a:gd name="T20" fmla="*/ 665 w 1319"/>
                <a:gd name="T21" fmla="*/ 710 h 1534"/>
                <a:gd name="T22" fmla="*/ 1239 w 1319"/>
                <a:gd name="T23" fmla="*/ 376 h 1534"/>
                <a:gd name="T24" fmla="*/ 1243 w 1319"/>
                <a:gd name="T25" fmla="*/ 351 h 1534"/>
                <a:gd name="T26" fmla="*/ 629 w 1319"/>
                <a:gd name="T27" fmla="*/ 11 h 1534"/>
                <a:gd name="T28" fmla="*/ 591 w 1319"/>
                <a:gd name="T29" fmla="*/ 7 h 1534"/>
                <a:gd name="T30" fmla="*/ 10 w 1319"/>
                <a:gd name="T31" fmla="*/ 344 h 1534"/>
                <a:gd name="T32" fmla="*/ 17 w 1319"/>
                <a:gd name="T33" fmla="*/ 365 h 1534"/>
                <a:gd name="T34" fmla="*/ 633 w 1319"/>
                <a:gd name="T35" fmla="*/ 707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19" h="1534">
                  <a:moveTo>
                    <a:pt x="1319" y="1164"/>
                  </a:moveTo>
                  <a:cubicBezTo>
                    <a:pt x="1319" y="1174"/>
                    <a:pt x="1311" y="1187"/>
                    <a:pt x="1301" y="1193"/>
                  </a:cubicBezTo>
                  <a:cubicBezTo>
                    <a:pt x="725" y="1528"/>
                    <a:pt x="725" y="1528"/>
                    <a:pt x="725" y="1528"/>
                  </a:cubicBezTo>
                  <a:cubicBezTo>
                    <a:pt x="715" y="1534"/>
                    <a:pt x="707" y="1530"/>
                    <a:pt x="707" y="1520"/>
                  </a:cubicBezTo>
                  <a:cubicBezTo>
                    <a:pt x="707" y="828"/>
                    <a:pt x="707" y="828"/>
                    <a:pt x="707" y="828"/>
                  </a:cubicBezTo>
                  <a:cubicBezTo>
                    <a:pt x="707" y="818"/>
                    <a:pt x="715" y="806"/>
                    <a:pt x="725" y="800"/>
                  </a:cubicBezTo>
                  <a:cubicBezTo>
                    <a:pt x="1301" y="465"/>
                    <a:pt x="1301" y="465"/>
                    <a:pt x="1301" y="465"/>
                  </a:cubicBezTo>
                  <a:cubicBezTo>
                    <a:pt x="1311" y="459"/>
                    <a:pt x="1319" y="462"/>
                    <a:pt x="1319" y="472"/>
                  </a:cubicBezTo>
                  <a:lnTo>
                    <a:pt x="1319" y="1164"/>
                  </a:lnTo>
                  <a:close/>
                  <a:moveTo>
                    <a:pt x="633" y="707"/>
                  </a:moveTo>
                  <a:cubicBezTo>
                    <a:pt x="643" y="712"/>
                    <a:pt x="655" y="716"/>
                    <a:pt x="665" y="710"/>
                  </a:cubicBezTo>
                  <a:cubicBezTo>
                    <a:pt x="1239" y="376"/>
                    <a:pt x="1239" y="376"/>
                    <a:pt x="1239" y="376"/>
                  </a:cubicBezTo>
                  <a:cubicBezTo>
                    <a:pt x="1251" y="367"/>
                    <a:pt x="1254" y="357"/>
                    <a:pt x="1243" y="351"/>
                  </a:cubicBezTo>
                  <a:cubicBezTo>
                    <a:pt x="629" y="11"/>
                    <a:pt x="629" y="11"/>
                    <a:pt x="629" y="11"/>
                  </a:cubicBezTo>
                  <a:cubicBezTo>
                    <a:pt x="614" y="0"/>
                    <a:pt x="601" y="1"/>
                    <a:pt x="591" y="7"/>
                  </a:cubicBezTo>
                  <a:cubicBezTo>
                    <a:pt x="10" y="344"/>
                    <a:pt x="10" y="344"/>
                    <a:pt x="10" y="344"/>
                  </a:cubicBezTo>
                  <a:cubicBezTo>
                    <a:pt x="0" y="349"/>
                    <a:pt x="1" y="358"/>
                    <a:pt x="17" y="365"/>
                  </a:cubicBezTo>
                  <a:lnTo>
                    <a:pt x="633" y="707"/>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1" name="bcgIcons_Storyboard ">
            <a:extLst>
              <a:ext uri="{FF2B5EF4-FFF2-40B4-BE49-F238E27FC236}">
                <a16:creationId xmlns:a16="http://schemas.microsoft.com/office/drawing/2014/main" id="{46F2B001-52AA-8F96-50F4-8815C18A95B2}"/>
              </a:ext>
            </a:extLst>
          </p:cNvPr>
          <p:cNvGrpSpPr>
            <a:grpSpLocks noChangeAspect="1"/>
          </p:cNvGrpSpPr>
          <p:nvPr/>
        </p:nvGrpSpPr>
        <p:grpSpPr>
          <a:xfrm>
            <a:off x="3849012" y="4871793"/>
            <a:ext cx="368252" cy="367897"/>
            <a:chOff x="6464300" y="2606675"/>
            <a:chExt cx="1646238" cy="1644650"/>
          </a:xfrm>
        </p:grpSpPr>
        <p:sp>
          <p:nvSpPr>
            <p:cNvPr id="222" name="AutoShape 3">
              <a:extLst>
                <a:ext uri="{FF2B5EF4-FFF2-40B4-BE49-F238E27FC236}">
                  <a16:creationId xmlns:a16="http://schemas.microsoft.com/office/drawing/2014/main" id="{C78D3F60-1CC6-0374-A8BE-782BBC463574}"/>
                </a:ext>
              </a:extLst>
            </p:cNvPr>
            <p:cNvSpPr>
              <a:spLocks noChangeAspect="1" noChangeArrowheads="1" noTextEdit="1"/>
            </p:cNvSpPr>
            <p:nvPr/>
          </p:nvSpPr>
          <p:spPr bwMode="auto">
            <a:xfrm>
              <a:off x="6464300"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223" name="Group 222">
              <a:extLst>
                <a:ext uri="{FF2B5EF4-FFF2-40B4-BE49-F238E27FC236}">
                  <a16:creationId xmlns:a16="http://schemas.microsoft.com/office/drawing/2014/main" id="{F6E79A31-4161-C4C4-D188-E6C83275C03C}"/>
                </a:ext>
              </a:extLst>
            </p:cNvPr>
            <p:cNvGrpSpPr/>
            <p:nvPr/>
          </p:nvGrpSpPr>
          <p:grpSpPr>
            <a:xfrm>
              <a:off x="6634162" y="2962275"/>
              <a:ext cx="1408368" cy="933450"/>
              <a:chOff x="6634162" y="2962275"/>
              <a:chExt cx="1408368" cy="933450"/>
            </a:xfrm>
          </p:grpSpPr>
          <p:sp>
            <p:nvSpPr>
              <p:cNvPr id="224" name="Freeform 10">
                <a:extLst>
                  <a:ext uri="{FF2B5EF4-FFF2-40B4-BE49-F238E27FC236}">
                    <a16:creationId xmlns:a16="http://schemas.microsoft.com/office/drawing/2014/main" id="{457DF72F-D633-7E6A-1525-25DE1D909F78}"/>
                  </a:ext>
                </a:extLst>
              </p:cNvPr>
              <p:cNvSpPr>
                <a:spLocks/>
              </p:cNvSpPr>
              <p:nvPr/>
            </p:nvSpPr>
            <p:spPr bwMode="auto">
              <a:xfrm>
                <a:off x="6634162" y="2962275"/>
                <a:ext cx="1408368" cy="933450"/>
              </a:xfrm>
              <a:custGeom>
                <a:avLst/>
                <a:gdLst>
                  <a:gd name="connsiteX0" fmla="*/ 1214569 w 1408368"/>
                  <a:gd name="connsiteY0" fmla="*/ 141288 h 933450"/>
                  <a:gd name="connsiteX1" fmla="*/ 1215283 w 1408368"/>
                  <a:gd name="connsiteY1" fmla="*/ 142002 h 933450"/>
                  <a:gd name="connsiteX2" fmla="*/ 1234561 w 1408368"/>
                  <a:gd name="connsiteY2" fmla="*/ 166261 h 933450"/>
                  <a:gd name="connsiteX3" fmla="*/ 1203146 w 1408368"/>
                  <a:gd name="connsiteY3" fmla="*/ 190520 h 933450"/>
                  <a:gd name="connsiteX4" fmla="*/ 1171731 w 1408368"/>
                  <a:gd name="connsiteY4" fmla="*/ 214780 h 933450"/>
                  <a:gd name="connsiteX5" fmla="*/ 1140316 w 1408368"/>
                  <a:gd name="connsiteY5" fmla="*/ 239039 h 933450"/>
                  <a:gd name="connsiteX6" fmla="*/ 829736 w 1408368"/>
                  <a:gd name="connsiteY6" fmla="*/ 480920 h 933450"/>
                  <a:gd name="connsiteX7" fmla="*/ 822596 w 1408368"/>
                  <a:gd name="connsiteY7" fmla="*/ 488768 h 933450"/>
                  <a:gd name="connsiteX8" fmla="*/ 821883 w 1408368"/>
                  <a:gd name="connsiteY8" fmla="*/ 488768 h 933450"/>
                  <a:gd name="connsiteX9" fmla="*/ 824738 w 1408368"/>
                  <a:gd name="connsiteY9" fmla="*/ 541568 h 933450"/>
                  <a:gd name="connsiteX10" fmla="*/ 859009 w 1408368"/>
                  <a:gd name="connsiteY10" fmla="*/ 558692 h 933450"/>
                  <a:gd name="connsiteX11" fmla="*/ 874717 w 1408368"/>
                  <a:gd name="connsiteY11" fmla="*/ 555838 h 933450"/>
                  <a:gd name="connsiteX12" fmla="*/ 883998 w 1408368"/>
                  <a:gd name="connsiteY12" fmla="*/ 550844 h 933450"/>
                  <a:gd name="connsiteX13" fmla="*/ 1140316 w 1408368"/>
                  <a:gd name="connsiteY13" fmla="*/ 351061 h 933450"/>
                  <a:gd name="connsiteX14" fmla="*/ 1171731 w 1408368"/>
                  <a:gd name="connsiteY14" fmla="*/ 326801 h 933450"/>
                  <a:gd name="connsiteX15" fmla="*/ 1203146 w 1408368"/>
                  <a:gd name="connsiteY15" fmla="*/ 302542 h 933450"/>
                  <a:gd name="connsiteX16" fmla="*/ 1288823 w 1408368"/>
                  <a:gd name="connsiteY16" fmla="*/ 236185 h 933450"/>
                  <a:gd name="connsiteX17" fmla="*/ 1306672 w 1408368"/>
                  <a:gd name="connsiteY17" fmla="*/ 259018 h 933450"/>
                  <a:gd name="connsiteX18" fmla="*/ 1308100 w 1408368"/>
                  <a:gd name="connsiteY18" fmla="*/ 261158 h 933450"/>
                  <a:gd name="connsiteX19" fmla="*/ 1203146 w 1408368"/>
                  <a:gd name="connsiteY19" fmla="*/ 342498 h 933450"/>
                  <a:gd name="connsiteX20" fmla="*/ 1171731 w 1408368"/>
                  <a:gd name="connsiteY20" fmla="*/ 366758 h 933450"/>
                  <a:gd name="connsiteX21" fmla="*/ 1140316 w 1408368"/>
                  <a:gd name="connsiteY21" fmla="*/ 391017 h 933450"/>
                  <a:gd name="connsiteX22" fmla="*/ 903276 w 1408368"/>
                  <a:gd name="connsiteY22" fmla="*/ 575817 h 933450"/>
                  <a:gd name="connsiteX23" fmla="*/ 885426 w 1408368"/>
                  <a:gd name="connsiteY23" fmla="*/ 585806 h 933450"/>
                  <a:gd name="connsiteX24" fmla="*/ 859723 w 1408368"/>
                  <a:gd name="connsiteY24" fmla="*/ 590087 h 933450"/>
                  <a:gd name="connsiteX25" fmla="*/ 822596 w 1408368"/>
                  <a:gd name="connsiteY25" fmla="*/ 580098 h 933450"/>
                  <a:gd name="connsiteX26" fmla="*/ 796179 w 1408368"/>
                  <a:gd name="connsiteY26" fmla="*/ 600076 h 933450"/>
                  <a:gd name="connsiteX27" fmla="*/ 739775 w 1408368"/>
                  <a:gd name="connsiteY27" fmla="*/ 570822 h 933450"/>
                  <a:gd name="connsiteX28" fmla="*/ 786184 w 1408368"/>
                  <a:gd name="connsiteY28" fmla="*/ 534433 h 933450"/>
                  <a:gd name="connsiteX29" fmla="*/ 795465 w 1408368"/>
                  <a:gd name="connsiteY29" fmla="*/ 471644 h 933450"/>
                  <a:gd name="connsiteX30" fmla="*/ 796179 w 1408368"/>
                  <a:gd name="connsiteY30" fmla="*/ 471644 h 933450"/>
                  <a:gd name="connsiteX31" fmla="*/ 810459 w 1408368"/>
                  <a:gd name="connsiteY31" fmla="*/ 455947 h 933450"/>
                  <a:gd name="connsiteX32" fmla="*/ 1140316 w 1408368"/>
                  <a:gd name="connsiteY32" fmla="*/ 199083 h 933450"/>
                  <a:gd name="connsiteX33" fmla="*/ 1171731 w 1408368"/>
                  <a:gd name="connsiteY33" fmla="*/ 174823 h 933450"/>
                  <a:gd name="connsiteX34" fmla="*/ 1203146 w 1408368"/>
                  <a:gd name="connsiteY34" fmla="*/ 150564 h 933450"/>
                  <a:gd name="connsiteX35" fmla="*/ 1214569 w 1408368"/>
                  <a:gd name="connsiteY35" fmla="*/ 141288 h 933450"/>
                  <a:gd name="connsiteX36" fmla="*/ 1320238 w 1408368"/>
                  <a:gd name="connsiteY36" fmla="*/ 63500 h 933450"/>
                  <a:gd name="connsiteX37" fmla="*/ 1330178 w 1408368"/>
                  <a:gd name="connsiteY37" fmla="*/ 67759 h 933450"/>
                  <a:gd name="connsiteX38" fmla="*/ 1406150 w 1408368"/>
                  <a:gd name="connsiteY38" fmla="*/ 165720 h 933450"/>
                  <a:gd name="connsiteX39" fmla="*/ 1404020 w 1408368"/>
                  <a:gd name="connsiteY39" fmla="*/ 182046 h 933450"/>
                  <a:gd name="connsiteX40" fmla="*/ 1333728 w 1408368"/>
                  <a:gd name="connsiteY40" fmla="*/ 237415 h 933450"/>
                  <a:gd name="connsiteX41" fmla="*/ 1332308 w 1408368"/>
                  <a:gd name="connsiteY41" fmla="*/ 238125 h 933450"/>
                  <a:gd name="connsiteX42" fmla="*/ 1307457 w 1408368"/>
                  <a:gd name="connsiteY42" fmla="*/ 206182 h 933450"/>
                  <a:gd name="connsiteX43" fmla="*/ 1267696 w 1408368"/>
                  <a:gd name="connsiteY43" fmla="*/ 155072 h 933450"/>
                  <a:gd name="connsiteX44" fmla="*/ 1241425 w 1408368"/>
                  <a:gd name="connsiteY44" fmla="*/ 121708 h 933450"/>
                  <a:gd name="connsiteX45" fmla="*/ 1243555 w 1408368"/>
                  <a:gd name="connsiteY45" fmla="*/ 120289 h 933450"/>
                  <a:gd name="connsiteX46" fmla="*/ 1313137 w 1408368"/>
                  <a:gd name="connsiteY46" fmla="*/ 65630 h 933450"/>
                  <a:gd name="connsiteX47" fmla="*/ 1320238 w 1408368"/>
                  <a:gd name="connsiteY47" fmla="*/ 63500 h 933450"/>
                  <a:gd name="connsiteX48" fmla="*/ 15730 w 1408368"/>
                  <a:gd name="connsiteY48" fmla="*/ 0 h 933450"/>
                  <a:gd name="connsiteX49" fmla="*/ 1187595 w 1408368"/>
                  <a:gd name="connsiteY49" fmla="*/ 0 h 933450"/>
                  <a:gd name="connsiteX50" fmla="*/ 1203325 w 1408368"/>
                  <a:gd name="connsiteY50" fmla="*/ 15724 h 933450"/>
                  <a:gd name="connsiteX51" fmla="*/ 1203325 w 1408368"/>
                  <a:gd name="connsiteY51" fmla="*/ 109355 h 933450"/>
                  <a:gd name="connsiteX52" fmla="*/ 1195460 w 1408368"/>
                  <a:gd name="connsiteY52" fmla="*/ 115073 h 933450"/>
                  <a:gd name="connsiteX53" fmla="*/ 1171866 w 1408368"/>
                  <a:gd name="connsiteY53" fmla="*/ 133656 h 933450"/>
                  <a:gd name="connsiteX54" fmla="*/ 1171866 w 1408368"/>
                  <a:gd name="connsiteY54" fmla="*/ 31449 h 933450"/>
                  <a:gd name="connsiteX55" fmla="*/ 31460 w 1408368"/>
                  <a:gd name="connsiteY55" fmla="*/ 31449 h 933450"/>
                  <a:gd name="connsiteX56" fmla="*/ 31460 w 1408368"/>
                  <a:gd name="connsiteY56" fmla="*/ 902002 h 933450"/>
                  <a:gd name="connsiteX57" fmla="*/ 1171866 w 1408368"/>
                  <a:gd name="connsiteY57" fmla="*/ 902002 h 933450"/>
                  <a:gd name="connsiteX58" fmla="*/ 1171866 w 1408368"/>
                  <a:gd name="connsiteY58" fmla="*/ 405972 h 933450"/>
                  <a:gd name="connsiteX59" fmla="*/ 1203325 w 1408368"/>
                  <a:gd name="connsiteY59" fmla="*/ 381671 h 933450"/>
                  <a:gd name="connsiteX60" fmla="*/ 1203325 w 1408368"/>
                  <a:gd name="connsiteY60" fmla="*/ 917726 h 933450"/>
                  <a:gd name="connsiteX61" fmla="*/ 1187595 w 1408368"/>
                  <a:gd name="connsiteY61" fmla="*/ 933450 h 933450"/>
                  <a:gd name="connsiteX62" fmla="*/ 15730 w 1408368"/>
                  <a:gd name="connsiteY62" fmla="*/ 933450 h 933450"/>
                  <a:gd name="connsiteX63" fmla="*/ 0 w 1408368"/>
                  <a:gd name="connsiteY63" fmla="*/ 917726 h 933450"/>
                  <a:gd name="connsiteX64" fmla="*/ 0 w 1408368"/>
                  <a:gd name="connsiteY64" fmla="*/ 15724 h 933450"/>
                  <a:gd name="connsiteX65" fmla="*/ 15730 w 1408368"/>
                  <a:gd name="connsiteY65" fmla="*/ 0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408368" h="933450">
                    <a:moveTo>
                      <a:pt x="1214569" y="141288"/>
                    </a:moveTo>
                    <a:cubicBezTo>
                      <a:pt x="1214569" y="141288"/>
                      <a:pt x="1214569" y="141288"/>
                      <a:pt x="1215283" y="142002"/>
                    </a:cubicBezTo>
                    <a:cubicBezTo>
                      <a:pt x="1215283" y="142002"/>
                      <a:pt x="1215283" y="142002"/>
                      <a:pt x="1234561" y="166261"/>
                    </a:cubicBezTo>
                    <a:cubicBezTo>
                      <a:pt x="1230991" y="169115"/>
                      <a:pt x="1222423" y="175537"/>
                      <a:pt x="1203146" y="190520"/>
                    </a:cubicBezTo>
                    <a:cubicBezTo>
                      <a:pt x="1195292" y="196942"/>
                      <a:pt x="1184582" y="204791"/>
                      <a:pt x="1171731" y="214780"/>
                    </a:cubicBezTo>
                    <a:cubicBezTo>
                      <a:pt x="1163163" y="221915"/>
                      <a:pt x="1152453" y="229764"/>
                      <a:pt x="1140316" y="239039"/>
                    </a:cubicBezTo>
                    <a:cubicBezTo>
                      <a:pt x="1081056" y="285417"/>
                      <a:pt x="985383" y="360336"/>
                      <a:pt x="829736" y="480920"/>
                    </a:cubicBezTo>
                    <a:cubicBezTo>
                      <a:pt x="826880" y="483060"/>
                      <a:pt x="824024" y="485201"/>
                      <a:pt x="822596" y="488768"/>
                    </a:cubicBezTo>
                    <a:cubicBezTo>
                      <a:pt x="822596" y="488768"/>
                      <a:pt x="822596" y="488768"/>
                      <a:pt x="821883" y="488768"/>
                    </a:cubicBezTo>
                    <a:cubicBezTo>
                      <a:pt x="809031" y="508747"/>
                      <a:pt x="814743" y="528725"/>
                      <a:pt x="824738" y="541568"/>
                    </a:cubicBezTo>
                    <a:cubicBezTo>
                      <a:pt x="831878" y="550844"/>
                      <a:pt x="844016" y="558692"/>
                      <a:pt x="859009" y="558692"/>
                    </a:cubicBezTo>
                    <a:cubicBezTo>
                      <a:pt x="864007" y="558692"/>
                      <a:pt x="869719" y="557979"/>
                      <a:pt x="874717" y="555838"/>
                    </a:cubicBezTo>
                    <a:cubicBezTo>
                      <a:pt x="878287" y="555125"/>
                      <a:pt x="881143" y="552984"/>
                      <a:pt x="883998" y="550844"/>
                    </a:cubicBezTo>
                    <a:cubicBezTo>
                      <a:pt x="883998" y="550844"/>
                      <a:pt x="883998" y="550844"/>
                      <a:pt x="1140316" y="351061"/>
                    </a:cubicBezTo>
                    <a:cubicBezTo>
                      <a:pt x="1150312" y="343212"/>
                      <a:pt x="1161021" y="335363"/>
                      <a:pt x="1171731" y="326801"/>
                    </a:cubicBezTo>
                    <a:cubicBezTo>
                      <a:pt x="1181726" y="318953"/>
                      <a:pt x="1192436" y="311104"/>
                      <a:pt x="1203146" y="302542"/>
                    </a:cubicBezTo>
                    <a:cubicBezTo>
                      <a:pt x="1229563" y="281850"/>
                      <a:pt x="1258122" y="259731"/>
                      <a:pt x="1288823" y="236185"/>
                    </a:cubicBezTo>
                    <a:lnTo>
                      <a:pt x="1306672" y="259018"/>
                    </a:lnTo>
                    <a:cubicBezTo>
                      <a:pt x="1306672" y="259018"/>
                      <a:pt x="1306672" y="259018"/>
                      <a:pt x="1308100" y="261158"/>
                    </a:cubicBezTo>
                    <a:cubicBezTo>
                      <a:pt x="1301674" y="265439"/>
                      <a:pt x="1280255" y="282563"/>
                      <a:pt x="1203146" y="342498"/>
                    </a:cubicBezTo>
                    <a:cubicBezTo>
                      <a:pt x="1193864" y="349634"/>
                      <a:pt x="1183154" y="358196"/>
                      <a:pt x="1171731" y="366758"/>
                    </a:cubicBezTo>
                    <a:cubicBezTo>
                      <a:pt x="1162449" y="374606"/>
                      <a:pt x="1151739" y="382455"/>
                      <a:pt x="1140316" y="391017"/>
                    </a:cubicBezTo>
                    <a:cubicBezTo>
                      <a:pt x="1083198" y="435968"/>
                      <a:pt x="1006088" y="495903"/>
                      <a:pt x="903276" y="575817"/>
                    </a:cubicBezTo>
                    <a:cubicBezTo>
                      <a:pt x="898278" y="580098"/>
                      <a:pt x="891852" y="583665"/>
                      <a:pt x="885426" y="585806"/>
                    </a:cubicBezTo>
                    <a:cubicBezTo>
                      <a:pt x="876859" y="588660"/>
                      <a:pt x="868291" y="590087"/>
                      <a:pt x="859723" y="590087"/>
                    </a:cubicBezTo>
                    <a:cubicBezTo>
                      <a:pt x="846158" y="590087"/>
                      <a:pt x="833306" y="586519"/>
                      <a:pt x="822596" y="580098"/>
                    </a:cubicBezTo>
                    <a:cubicBezTo>
                      <a:pt x="822596" y="580098"/>
                      <a:pt x="822596" y="580098"/>
                      <a:pt x="796179" y="600076"/>
                    </a:cubicBezTo>
                    <a:cubicBezTo>
                      <a:pt x="796179" y="600076"/>
                      <a:pt x="796179" y="600076"/>
                      <a:pt x="739775" y="570822"/>
                    </a:cubicBezTo>
                    <a:cubicBezTo>
                      <a:pt x="739775" y="570822"/>
                      <a:pt x="739775" y="570822"/>
                      <a:pt x="786184" y="534433"/>
                    </a:cubicBezTo>
                    <a:cubicBezTo>
                      <a:pt x="780472" y="513741"/>
                      <a:pt x="783328" y="490909"/>
                      <a:pt x="795465" y="471644"/>
                    </a:cubicBezTo>
                    <a:cubicBezTo>
                      <a:pt x="795465" y="471644"/>
                      <a:pt x="795465" y="471644"/>
                      <a:pt x="796179" y="471644"/>
                    </a:cubicBezTo>
                    <a:cubicBezTo>
                      <a:pt x="799749" y="465222"/>
                      <a:pt x="804747" y="460228"/>
                      <a:pt x="810459" y="455947"/>
                    </a:cubicBezTo>
                    <a:cubicBezTo>
                      <a:pt x="810459" y="455947"/>
                      <a:pt x="810459" y="455947"/>
                      <a:pt x="1140316" y="199083"/>
                    </a:cubicBezTo>
                    <a:cubicBezTo>
                      <a:pt x="1151025" y="191234"/>
                      <a:pt x="1161021" y="183385"/>
                      <a:pt x="1171731" y="174823"/>
                    </a:cubicBezTo>
                    <a:cubicBezTo>
                      <a:pt x="1182440" y="166975"/>
                      <a:pt x="1192436" y="158412"/>
                      <a:pt x="1203146" y="150564"/>
                    </a:cubicBezTo>
                    <a:cubicBezTo>
                      <a:pt x="1207430" y="146996"/>
                      <a:pt x="1210999" y="144142"/>
                      <a:pt x="1214569" y="141288"/>
                    </a:cubicBezTo>
                    <a:close/>
                    <a:moveTo>
                      <a:pt x="1320238" y="63500"/>
                    </a:moveTo>
                    <a:cubicBezTo>
                      <a:pt x="1323788" y="63500"/>
                      <a:pt x="1328048" y="64920"/>
                      <a:pt x="1330178" y="67759"/>
                    </a:cubicBezTo>
                    <a:cubicBezTo>
                      <a:pt x="1330178" y="67759"/>
                      <a:pt x="1330178" y="67759"/>
                      <a:pt x="1406150" y="165720"/>
                    </a:cubicBezTo>
                    <a:cubicBezTo>
                      <a:pt x="1409700" y="170689"/>
                      <a:pt x="1408990" y="177787"/>
                      <a:pt x="1404020" y="182046"/>
                    </a:cubicBezTo>
                    <a:cubicBezTo>
                      <a:pt x="1404020" y="182046"/>
                      <a:pt x="1404020" y="182046"/>
                      <a:pt x="1333728" y="237415"/>
                    </a:cubicBezTo>
                    <a:cubicBezTo>
                      <a:pt x="1333728" y="237415"/>
                      <a:pt x="1333018" y="238125"/>
                      <a:pt x="1332308" y="238125"/>
                    </a:cubicBezTo>
                    <a:cubicBezTo>
                      <a:pt x="1332308" y="238125"/>
                      <a:pt x="1332308" y="238125"/>
                      <a:pt x="1307457" y="206182"/>
                    </a:cubicBezTo>
                    <a:cubicBezTo>
                      <a:pt x="1298227" y="194114"/>
                      <a:pt x="1285447" y="177787"/>
                      <a:pt x="1267696" y="155072"/>
                    </a:cubicBezTo>
                    <a:cubicBezTo>
                      <a:pt x="1259886" y="145134"/>
                      <a:pt x="1251366" y="133776"/>
                      <a:pt x="1241425" y="121708"/>
                    </a:cubicBezTo>
                    <a:cubicBezTo>
                      <a:pt x="1241425" y="121708"/>
                      <a:pt x="1241425" y="121708"/>
                      <a:pt x="1243555" y="120289"/>
                    </a:cubicBezTo>
                    <a:cubicBezTo>
                      <a:pt x="1247815" y="116739"/>
                      <a:pt x="1262726" y="105382"/>
                      <a:pt x="1313137" y="65630"/>
                    </a:cubicBezTo>
                    <a:cubicBezTo>
                      <a:pt x="1315267" y="64210"/>
                      <a:pt x="1318108" y="63500"/>
                      <a:pt x="1320238" y="63500"/>
                    </a:cubicBezTo>
                    <a:close/>
                    <a:moveTo>
                      <a:pt x="15730" y="0"/>
                    </a:moveTo>
                    <a:cubicBezTo>
                      <a:pt x="15730" y="0"/>
                      <a:pt x="15730" y="0"/>
                      <a:pt x="1187595" y="0"/>
                    </a:cubicBezTo>
                    <a:cubicBezTo>
                      <a:pt x="1196175" y="0"/>
                      <a:pt x="1203325" y="6433"/>
                      <a:pt x="1203325" y="15724"/>
                    </a:cubicBezTo>
                    <a:cubicBezTo>
                      <a:pt x="1203325" y="15724"/>
                      <a:pt x="1203325" y="15724"/>
                      <a:pt x="1203325" y="109355"/>
                    </a:cubicBezTo>
                    <a:cubicBezTo>
                      <a:pt x="1203325" y="109355"/>
                      <a:pt x="1203325" y="109355"/>
                      <a:pt x="1195460" y="115073"/>
                    </a:cubicBezTo>
                    <a:cubicBezTo>
                      <a:pt x="1195460" y="115073"/>
                      <a:pt x="1195460" y="115073"/>
                      <a:pt x="1171866" y="133656"/>
                    </a:cubicBezTo>
                    <a:cubicBezTo>
                      <a:pt x="1171866" y="133656"/>
                      <a:pt x="1171866" y="133656"/>
                      <a:pt x="1171866" y="31449"/>
                    </a:cubicBezTo>
                    <a:cubicBezTo>
                      <a:pt x="1171866" y="31449"/>
                      <a:pt x="1171866" y="31449"/>
                      <a:pt x="31460" y="31449"/>
                    </a:cubicBezTo>
                    <a:cubicBezTo>
                      <a:pt x="31460" y="31449"/>
                      <a:pt x="31460" y="31449"/>
                      <a:pt x="31460" y="902002"/>
                    </a:cubicBezTo>
                    <a:cubicBezTo>
                      <a:pt x="31460" y="902002"/>
                      <a:pt x="31460" y="902002"/>
                      <a:pt x="1171866" y="902002"/>
                    </a:cubicBezTo>
                    <a:lnTo>
                      <a:pt x="1171866" y="405972"/>
                    </a:lnTo>
                    <a:cubicBezTo>
                      <a:pt x="1171866" y="405972"/>
                      <a:pt x="1171866" y="405972"/>
                      <a:pt x="1203325" y="381671"/>
                    </a:cubicBezTo>
                    <a:cubicBezTo>
                      <a:pt x="1203325" y="381671"/>
                      <a:pt x="1203325" y="381671"/>
                      <a:pt x="1203325" y="917726"/>
                    </a:cubicBezTo>
                    <a:cubicBezTo>
                      <a:pt x="1203325" y="927017"/>
                      <a:pt x="1196175" y="933450"/>
                      <a:pt x="1187595" y="933450"/>
                    </a:cubicBezTo>
                    <a:cubicBezTo>
                      <a:pt x="1187595" y="933450"/>
                      <a:pt x="1187595" y="933450"/>
                      <a:pt x="15730" y="933450"/>
                    </a:cubicBezTo>
                    <a:cubicBezTo>
                      <a:pt x="7150" y="933450"/>
                      <a:pt x="0" y="927017"/>
                      <a:pt x="0" y="917726"/>
                    </a:cubicBezTo>
                    <a:cubicBezTo>
                      <a:pt x="0" y="917726"/>
                      <a:pt x="0" y="917726"/>
                      <a:pt x="0" y="15724"/>
                    </a:cubicBezTo>
                    <a:cubicBezTo>
                      <a:pt x="0" y="6433"/>
                      <a:pt x="7150" y="0"/>
                      <a:pt x="15730"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225" name="Freeform 11">
                <a:extLst>
                  <a:ext uri="{FF2B5EF4-FFF2-40B4-BE49-F238E27FC236}">
                    <a16:creationId xmlns:a16="http://schemas.microsoft.com/office/drawing/2014/main" id="{6F1A18FB-3B37-184E-8457-27DE89CDCBCB}"/>
                  </a:ext>
                </a:extLst>
              </p:cNvPr>
              <p:cNvSpPr>
                <a:spLocks/>
              </p:cNvSpPr>
              <p:nvPr/>
            </p:nvSpPr>
            <p:spPr bwMode="auto">
              <a:xfrm>
                <a:off x="6697663" y="3025775"/>
                <a:ext cx="1076325" cy="806450"/>
              </a:xfrm>
              <a:custGeom>
                <a:avLst/>
                <a:gdLst>
                  <a:gd name="connsiteX0" fmla="*/ 111125 w 1076325"/>
                  <a:gd name="connsiteY0" fmla="*/ 560388 h 806450"/>
                  <a:gd name="connsiteX1" fmla="*/ 271463 w 1076325"/>
                  <a:gd name="connsiteY1" fmla="*/ 560388 h 806450"/>
                  <a:gd name="connsiteX2" fmla="*/ 271463 w 1076325"/>
                  <a:gd name="connsiteY2" fmla="*/ 635001 h 806450"/>
                  <a:gd name="connsiteX3" fmla="*/ 111125 w 1076325"/>
                  <a:gd name="connsiteY3" fmla="*/ 635001 h 806450"/>
                  <a:gd name="connsiteX4" fmla="*/ 95159 w 1076325"/>
                  <a:gd name="connsiteY4" fmla="*/ 528638 h 806450"/>
                  <a:gd name="connsiteX5" fmla="*/ 79375 w 1076325"/>
                  <a:gd name="connsiteY5" fmla="*/ 544282 h 806450"/>
                  <a:gd name="connsiteX6" fmla="*/ 79375 w 1076325"/>
                  <a:gd name="connsiteY6" fmla="*/ 649520 h 806450"/>
                  <a:gd name="connsiteX7" fmla="*/ 95159 w 1076325"/>
                  <a:gd name="connsiteY7" fmla="*/ 665163 h 806450"/>
                  <a:gd name="connsiteX8" fmla="*/ 287430 w 1076325"/>
                  <a:gd name="connsiteY8" fmla="*/ 665163 h 806450"/>
                  <a:gd name="connsiteX9" fmla="*/ 303213 w 1076325"/>
                  <a:gd name="connsiteY9" fmla="*/ 649520 h 806450"/>
                  <a:gd name="connsiteX10" fmla="*/ 303213 w 1076325"/>
                  <a:gd name="connsiteY10" fmla="*/ 544282 h 806450"/>
                  <a:gd name="connsiteX11" fmla="*/ 287430 w 1076325"/>
                  <a:gd name="connsiteY11" fmla="*/ 528638 h 806450"/>
                  <a:gd name="connsiteX12" fmla="*/ 95159 w 1076325"/>
                  <a:gd name="connsiteY12" fmla="*/ 528638 h 806450"/>
                  <a:gd name="connsiteX13" fmla="*/ 392112 w 1076325"/>
                  <a:gd name="connsiteY13" fmla="*/ 366713 h 806450"/>
                  <a:gd name="connsiteX14" fmla="*/ 552450 w 1076325"/>
                  <a:gd name="connsiteY14" fmla="*/ 366713 h 806450"/>
                  <a:gd name="connsiteX15" fmla="*/ 552450 w 1076325"/>
                  <a:gd name="connsiteY15" fmla="*/ 439738 h 806450"/>
                  <a:gd name="connsiteX16" fmla="*/ 392112 w 1076325"/>
                  <a:gd name="connsiteY16" fmla="*/ 439738 h 806450"/>
                  <a:gd name="connsiteX17" fmla="*/ 111125 w 1076325"/>
                  <a:gd name="connsiteY17" fmla="*/ 366713 h 806450"/>
                  <a:gd name="connsiteX18" fmla="*/ 271463 w 1076325"/>
                  <a:gd name="connsiteY18" fmla="*/ 366713 h 806450"/>
                  <a:gd name="connsiteX19" fmla="*/ 271463 w 1076325"/>
                  <a:gd name="connsiteY19" fmla="*/ 439738 h 806450"/>
                  <a:gd name="connsiteX20" fmla="*/ 111125 w 1076325"/>
                  <a:gd name="connsiteY20" fmla="*/ 439738 h 806450"/>
                  <a:gd name="connsiteX21" fmla="*/ 376034 w 1076325"/>
                  <a:gd name="connsiteY21" fmla="*/ 334963 h 806450"/>
                  <a:gd name="connsiteX22" fmla="*/ 360362 w 1076325"/>
                  <a:gd name="connsiteY22" fmla="*/ 350607 h 806450"/>
                  <a:gd name="connsiteX23" fmla="*/ 360362 w 1076325"/>
                  <a:gd name="connsiteY23" fmla="*/ 455845 h 806450"/>
                  <a:gd name="connsiteX24" fmla="*/ 376034 w 1076325"/>
                  <a:gd name="connsiteY24" fmla="*/ 471488 h 806450"/>
                  <a:gd name="connsiteX25" fmla="*/ 566941 w 1076325"/>
                  <a:gd name="connsiteY25" fmla="*/ 471488 h 806450"/>
                  <a:gd name="connsiteX26" fmla="*/ 582612 w 1076325"/>
                  <a:gd name="connsiteY26" fmla="*/ 455845 h 806450"/>
                  <a:gd name="connsiteX27" fmla="*/ 582612 w 1076325"/>
                  <a:gd name="connsiteY27" fmla="*/ 350607 h 806450"/>
                  <a:gd name="connsiteX28" fmla="*/ 566941 w 1076325"/>
                  <a:gd name="connsiteY28" fmla="*/ 334963 h 806450"/>
                  <a:gd name="connsiteX29" fmla="*/ 376034 w 1076325"/>
                  <a:gd name="connsiteY29" fmla="*/ 334963 h 806450"/>
                  <a:gd name="connsiteX30" fmla="*/ 95159 w 1076325"/>
                  <a:gd name="connsiteY30" fmla="*/ 334963 h 806450"/>
                  <a:gd name="connsiteX31" fmla="*/ 79375 w 1076325"/>
                  <a:gd name="connsiteY31" fmla="*/ 350607 h 806450"/>
                  <a:gd name="connsiteX32" fmla="*/ 79375 w 1076325"/>
                  <a:gd name="connsiteY32" fmla="*/ 455845 h 806450"/>
                  <a:gd name="connsiteX33" fmla="*/ 95159 w 1076325"/>
                  <a:gd name="connsiteY33" fmla="*/ 471488 h 806450"/>
                  <a:gd name="connsiteX34" fmla="*/ 287430 w 1076325"/>
                  <a:gd name="connsiteY34" fmla="*/ 471488 h 806450"/>
                  <a:gd name="connsiteX35" fmla="*/ 303213 w 1076325"/>
                  <a:gd name="connsiteY35" fmla="*/ 455845 h 806450"/>
                  <a:gd name="connsiteX36" fmla="*/ 303213 w 1076325"/>
                  <a:gd name="connsiteY36" fmla="*/ 350607 h 806450"/>
                  <a:gd name="connsiteX37" fmla="*/ 287430 w 1076325"/>
                  <a:gd name="connsiteY37" fmla="*/ 334963 h 806450"/>
                  <a:gd name="connsiteX38" fmla="*/ 95159 w 1076325"/>
                  <a:gd name="connsiteY38" fmla="*/ 334963 h 806450"/>
                  <a:gd name="connsiteX39" fmla="*/ 392112 w 1076325"/>
                  <a:gd name="connsiteY39" fmla="*/ 171450 h 806450"/>
                  <a:gd name="connsiteX40" fmla="*/ 552450 w 1076325"/>
                  <a:gd name="connsiteY40" fmla="*/ 171450 h 806450"/>
                  <a:gd name="connsiteX41" fmla="*/ 552450 w 1076325"/>
                  <a:gd name="connsiteY41" fmla="*/ 246063 h 806450"/>
                  <a:gd name="connsiteX42" fmla="*/ 392112 w 1076325"/>
                  <a:gd name="connsiteY42" fmla="*/ 246063 h 806450"/>
                  <a:gd name="connsiteX43" fmla="*/ 111125 w 1076325"/>
                  <a:gd name="connsiteY43" fmla="*/ 171450 h 806450"/>
                  <a:gd name="connsiteX44" fmla="*/ 271463 w 1076325"/>
                  <a:gd name="connsiteY44" fmla="*/ 171450 h 806450"/>
                  <a:gd name="connsiteX45" fmla="*/ 271463 w 1076325"/>
                  <a:gd name="connsiteY45" fmla="*/ 246063 h 806450"/>
                  <a:gd name="connsiteX46" fmla="*/ 111125 w 1076325"/>
                  <a:gd name="connsiteY46" fmla="*/ 246063 h 806450"/>
                  <a:gd name="connsiteX47" fmla="*/ 376034 w 1076325"/>
                  <a:gd name="connsiteY47" fmla="*/ 141288 h 806450"/>
                  <a:gd name="connsiteX48" fmla="*/ 360362 w 1076325"/>
                  <a:gd name="connsiteY48" fmla="*/ 156932 h 806450"/>
                  <a:gd name="connsiteX49" fmla="*/ 360362 w 1076325"/>
                  <a:gd name="connsiteY49" fmla="*/ 262170 h 806450"/>
                  <a:gd name="connsiteX50" fmla="*/ 376034 w 1076325"/>
                  <a:gd name="connsiteY50" fmla="*/ 277813 h 806450"/>
                  <a:gd name="connsiteX51" fmla="*/ 566941 w 1076325"/>
                  <a:gd name="connsiteY51" fmla="*/ 277813 h 806450"/>
                  <a:gd name="connsiteX52" fmla="*/ 582612 w 1076325"/>
                  <a:gd name="connsiteY52" fmla="*/ 262170 h 806450"/>
                  <a:gd name="connsiteX53" fmla="*/ 582612 w 1076325"/>
                  <a:gd name="connsiteY53" fmla="*/ 156932 h 806450"/>
                  <a:gd name="connsiteX54" fmla="*/ 566941 w 1076325"/>
                  <a:gd name="connsiteY54" fmla="*/ 141288 h 806450"/>
                  <a:gd name="connsiteX55" fmla="*/ 376034 w 1076325"/>
                  <a:gd name="connsiteY55" fmla="*/ 141288 h 806450"/>
                  <a:gd name="connsiteX56" fmla="*/ 95159 w 1076325"/>
                  <a:gd name="connsiteY56" fmla="*/ 141288 h 806450"/>
                  <a:gd name="connsiteX57" fmla="*/ 79375 w 1076325"/>
                  <a:gd name="connsiteY57" fmla="*/ 156932 h 806450"/>
                  <a:gd name="connsiteX58" fmla="*/ 79375 w 1076325"/>
                  <a:gd name="connsiteY58" fmla="*/ 262170 h 806450"/>
                  <a:gd name="connsiteX59" fmla="*/ 95159 w 1076325"/>
                  <a:gd name="connsiteY59" fmla="*/ 277813 h 806450"/>
                  <a:gd name="connsiteX60" fmla="*/ 287430 w 1076325"/>
                  <a:gd name="connsiteY60" fmla="*/ 277813 h 806450"/>
                  <a:gd name="connsiteX61" fmla="*/ 303213 w 1076325"/>
                  <a:gd name="connsiteY61" fmla="*/ 262170 h 806450"/>
                  <a:gd name="connsiteX62" fmla="*/ 303213 w 1076325"/>
                  <a:gd name="connsiteY62" fmla="*/ 156932 h 806450"/>
                  <a:gd name="connsiteX63" fmla="*/ 287430 w 1076325"/>
                  <a:gd name="connsiteY63" fmla="*/ 141288 h 806450"/>
                  <a:gd name="connsiteX64" fmla="*/ 95159 w 1076325"/>
                  <a:gd name="connsiteY64" fmla="*/ 141288 h 806450"/>
                  <a:gd name="connsiteX65" fmla="*/ 0 w 1076325"/>
                  <a:gd name="connsiteY65" fmla="*/ 0 h 806450"/>
                  <a:gd name="connsiteX66" fmla="*/ 1076325 w 1076325"/>
                  <a:gd name="connsiteY66" fmla="*/ 0 h 806450"/>
                  <a:gd name="connsiteX67" fmla="*/ 1076325 w 1076325"/>
                  <a:gd name="connsiteY67" fmla="*/ 94919 h 806450"/>
                  <a:gd name="connsiteX68" fmla="*/ 727073 w 1076325"/>
                  <a:gd name="connsiteY68" fmla="*/ 366828 h 806450"/>
                  <a:gd name="connsiteX69" fmla="*/ 708503 w 1076325"/>
                  <a:gd name="connsiteY69" fmla="*/ 386097 h 806450"/>
                  <a:gd name="connsiteX70" fmla="*/ 704932 w 1076325"/>
                  <a:gd name="connsiteY70" fmla="*/ 391093 h 806450"/>
                  <a:gd name="connsiteX71" fmla="*/ 688505 w 1076325"/>
                  <a:gd name="connsiteY71" fmla="*/ 456751 h 806450"/>
                  <a:gd name="connsiteX72" fmla="*/ 656366 w 1076325"/>
                  <a:gd name="connsiteY72" fmla="*/ 481729 h 806450"/>
                  <a:gd name="connsiteX73" fmla="*/ 644224 w 1076325"/>
                  <a:gd name="connsiteY73" fmla="*/ 509562 h 806450"/>
                  <a:gd name="connsiteX74" fmla="*/ 661365 w 1076325"/>
                  <a:gd name="connsiteY74" fmla="*/ 534541 h 806450"/>
                  <a:gd name="connsiteX75" fmla="*/ 717788 w 1076325"/>
                  <a:gd name="connsiteY75" fmla="*/ 563801 h 806450"/>
                  <a:gd name="connsiteX76" fmla="*/ 732073 w 1076325"/>
                  <a:gd name="connsiteY76" fmla="*/ 567370 h 806450"/>
                  <a:gd name="connsiteX77" fmla="*/ 751356 w 1076325"/>
                  <a:gd name="connsiteY77" fmla="*/ 560947 h 806450"/>
                  <a:gd name="connsiteX78" fmla="*/ 762784 w 1076325"/>
                  <a:gd name="connsiteY78" fmla="*/ 552383 h 806450"/>
                  <a:gd name="connsiteX79" fmla="*/ 795638 w 1076325"/>
                  <a:gd name="connsiteY79" fmla="*/ 557378 h 806450"/>
                  <a:gd name="connsiteX80" fmla="*/ 831349 w 1076325"/>
                  <a:gd name="connsiteY80" fmla="*/ 551669 h 806450"/>
                  <a:gd name="connsiteX81" fmla="*/ 859203 w 1076325"/>
                  <a:gd name="connsiteY81" fmla="*/ 535968 h 806450"/>
                  <a:gd name="connsiteX82" fmla="*/ 1076325 w 1076325"/>
                  <a:gd name="connsiteY82" fmla="*/ 366828 h 806450"/>
                  <a:gd name="connsiteX83" fmla="*/ 1076325 w 1076325"/>
                  <a:gd name="connsiteY83" fmla="*/ 806450 h 806450"/>
                  <a:gd name="connsiteX84" fmla="*/ 0 w 1076325"/>
                  <a:gd name="connsiteY84" fmla="*/ 806450 h 806450"/>
                  <a:gd name="connsiteX85" fmla="*/ 0 w 1076325"/>
                  <a:gd name="connsiteY85" fmla="*/ 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076325" h="806450">
                    <a:moveTo>
                      <a:pt x="111125" y="560388"/>
                    </a:moveTo>
                    <a:cubicBezTo>
                      <a:pt x="111125" y="560388"/>
                      <a:pt x="111125" y="560388"/>
                      <a:pt x="271463" y="560388"/>
                    </a:cubicBezTo>
                    <a:cubicBezTo>
                      <a:pt x="271463" y="560388"/>
                      <a:pt x="271463" y="560388"/>
                      <a:pt x="271463" y="635001"/>
                    </a:cubicBezTo>
                    <a:cubicBezTo>
                      <a:pt x="271463" y="635001"/>
                      <a:pt x="271463" y="635001"/>
                      <a:pt x="111125" y="635001"/>
                    </a:cubicBezTo>
                    <a:close/>
                    <a:moveTo>
                      <a:pt x="95159" y="528638"/>
                    </a:moveTo>
                    <a:cubicBezTo>
                      <a:pt x="86550" y="528638"/>
                      <a:pt x="79375" y="535749"/>
                      <a:pt x="79375" y="544282"/>
                    </a:cubicBezTo>
                    <a:cubicBezTo>
                      <a:pt x="79375" y="649520"/>
                      <a:pt x="79375" y="649520"/>
                      <a:pt x="79375" y="649520"/>
                    </a:cubicBezTo>
                    <a:cubicBezTo>
                      <a:pt x="79375" y="658052"/>
                      <a:pt x="86550" y="665163"/>
                      <a:pt x="95159" y="665163"/>
                    </a:cubicBezTo>
                    <a:cubicBezTo>
                      <a:pt x="287430" y="665163"/>
                      <a:pt x="287430" y="665163"/>
                      <a:pt x="287430" y="665163"/>
                    </a:cubicBezTo>
                    <a:cubicBezTo>
                      <a:pt x="296039" y="665163"/>
                      <a:pt x="303213" y="658052"/>
                      <a:pt x="303213" y="649520"/>
                    </a:cubicBezTo>
                    <a:lnTo>
                      <a:pt x="303213" y="544282"/>
                    </a:lnTo>
                    <a:cubicBezTo>
                      <a:pt x="303213" y="535749"/>
                      <a:pt x="296039" y="528638"/>
                      <a:pt x="287430" y="528638"/>
                    </a:cubicBezTo>
                    <a:cubicBezTo>
                      <a:pt x="95159" y="528638"/>
                      <a:pt x="95159" y="528638"/>
                      <a:pt x="95159" y="528638"/>
                    </a:cubicBezTo>
                    <a:close/>
                    <a:moveTo>
                      <a:pt x="392112" y="366713"/>
                    </a:moveTo>
                    <a:cubicBezTo>
                      <a:pt x="552450" y="366713"/>
                      <a:pt x="552450" y="366713"/>
                      <a:pt x="552450" y="366713"/>
                    </a:cubicBezTo>
                    <a:cubicBezTo>
                      <a:pt x="552450" y="439738"/>
                      <a:pt x="552450" y="439738"/>
                      <a:pt x="552450" y="439738"/>
                    </a:cubicBezTo>
                    <a:cubicBezTo>
                      <a:pt x="392112" y="439738"/>
                      <a:pt x="392112" y="439738"/>
                      <a:pt x="392112" y="439738"/>
                    </a:cubicBezTo>
                    <a:close/>
                    <a:moveTo>
                      <a:pt x="111125" y="366713"/>
                    </a:moveTo>
                    <a:cubicBezTo>
                      <a:pt x="111125" y="366713"/>
                      <a:pt x="111125" y="366713"/>
                      <a:pt x="271463" y="366713"/>
                    </a:cubicBezTo>
                    <a:cubicBezTo>
                      <a:pt x="271463" y="366713"/>
                      <a:pt x="271463" y="366713"/>
                      <a:pt x="271463" y="439738"/>
                    </a:cubicBezTo>
                    <a:cubicBezTo>
                      <a:pt x="271463" y="439738"/>
                      <a:pt x="271463" y="439738"/>
                      <a:pt x="111125" y="439738"/>
                    </a:cubicBezTo>
                    <a:close/>
                    <a:moveTo>
                      <a:pt x="376034" y="334963"/>
                    </a:moveTo>
                    <a:cubicBezTo>
                      <a:pt x="367486" y="334963"/>
                      <a:pt x="360362" y="342074"/>
                      <a:pt x="360362" y="350607"/>
                    </a:cubicBezTo>
                    <a:cubicBezTo>
                      <a:pt x="360362" y="455845"/>
                      <a:pt x="360362" y="455845"/>
                      <a:pt x="360362" y="455845"/>
                    </a:cubicBezTo>
                    <a:cubicBezTo>
                      <a:pt x="360362" y="464377"/>
                      <a:pt x="367486" y="471488"/>
                      <a:pt x="376034" y="471488"/>
                    </a:cubicBezTo>
                    <a:cubicBezTo>
                      <a:pt x="566941" y="471488"/>
                      <a:pt x="566941" y="471488"/>
                      <a:pt x="566941" y="471488"/>
                    </a:cubicBezTo>
                    <a:cubicBezTo>
                      <a:pt x="575489" y="471488"/>
                      <a:pt x="582612" y="464377"/>
                      <a:pt x="582612" y="455845"/>
                    </a:cubicBezTo>
                    <a:lnTo>
                      <a:pt x="582612" y="350607"/>
                    </a:lnTo>
                    <a:cubicBezTo>
                      <a:pt x="582612" y="342074"/>
                      <a:pt x="575489" y="334963"/>
                      <a:pt x="566941" y="334963"/>
                    </a:cubicBezTo>
                    <a:cubicBezTo>
                      <a:pt x="376034" y="334963"/>
                      <a:pt x="376034" y="334963"/>
                      <a:pt x="376034" y="334963"/>
                    </a:cubicBezTo>
                    <a:close/>
                    <a:moveTo>
                      <a:pt x="95159" y="334963"/>
                    </a:moveTo>
                    <a:cubicBezTo>
                      <a:pt x="86550" y="334963"/>
                      <a:pt x="79375" y="342074"/>
                      <a:pt x="79375" y="350607"/>
                    </a:cubicBezTo>
                    <a:cubicBezTo>
                      <a:pt x="79375" y="455845"/>
                      <a:pt x="79375" y="455845"/>
                      <a:pt x="79375" y="455845"/>
                    </a:cubicBezTo>
                    <a:cubicBezTo>
                      <a:pt x="79375" y="464377"/>
                      <a:pt x="86550" y="471488"/>
                      <a:pt x="95159" y="471488"/>
                    </a:cubicBezTo>
                    <a:cubicBezTo>
                      <a:pt x="287430" y="471488"/>
                      <a:pt x="287430" y="471488"/>
                      <a:pt x="287430" y="471488"/>
                    </a:cubicBezTo>
                    <a:cubicBezTo>
                      <a:pt x="296039" y="471488"/>
                      <a:pt x="303213" y="464377"/>
                      <a:pt x="303213" y="455845"/>
                    </a:cubicBezTo>
                    <a:lnTo>
                      <a:pt x="303213" y="350607"/>
                    </a:lnTo>
                    <a:cubicBezTo>
                      <a:pt x="303213" y="342074"/>
                      <a:pt x="296039" y="334963"/>
                      <a:pt x="287430" y="334963"/>
                    </a:cubicBezTo>
                    <a:cubicBezTo>
                      <a:pt x="95159" y="334963"/>
                      <a:pt x="95159" y="334963"/>
                      <a:pt x="95159" y="334963"/>
                    </a:cubicBezTo>
                    <a:close/>
                    <a:moveTo>
                      <a:pt x="392112" y="171450"/>
                    </a:moveTo>
                    <a:cubicBezTo>
                      <a:pt x="392112" y="171450"/>
                      <a:pt x="392112" y="171450"/>
                      <a:pt x="552450" y="171450"/>
                    </a:cubicBezTo>
                    <a:cubicBezTo>
                      <a:pt x="552450" y="171450"/>
                      <a:pt x="552450" y="171450"/>
                      <a:pt x="552450" y="246063"/>
                    </a:cubicBezTo>
                    <a:cubicBezTo>
                      <a:pt x="552450" y="246063"/>
                      <a:pt x="552450" y="246063"/>
                      <a:pt x="392112" y="246063"/>
                    </a:cubicBezTo>
                    <a:close/>
                    <a:moveTo>
                      <a:pt x="111125" y="171450"/>
                    </a:moveTo>
                    <a:cubicBezTo>
                      <a:pt x="111125" y="171450"/>
                      <a:pt x="111125" y="171450"/>
                      <a:pt x="271463" y="171450"/>
                    </a:cubicBezTo>
                    <a:cubicBezTo>
                      <a:pt x="271463" y="171450"/>
                      <a:pt x="271463" y="171450"/>
                      <a:pt x="271463" y="246063"/>
                    </a:cubicBezTo>
                    <a:cubicBezTo>
                      <a:pt x="271463" y="246063"/>
                      <a:pt x="271463" y="246063"/>
                      <a:pt x="111125" y="246063"/>
                    </a:cubicBezTo>
                    <a:close/>
                    <a:moveTo>
                      <a:pt x="376034" y="141288"/>
                    </a:moveTo>
                    <a:cubicBezTo>
                      <a:pt x="367486" y="141288"/>
                      <a:pt x="360362" y="148399"/>
                      <a:pt x="360362" y="156932"/>
                    </a:cubicBezTo>
                    <a:cubicBezTo>
                      <a:pt x="360362" y="262170"/>
                      <a:pt x="360362" y="262170"/>
                      <a:pt x="360362" y="262170"/>
                    </a:cubicBezTo>
                    <a:cubicBezTo>
                      <a:pt x="360362" y="270702"/>
                      <a:pt x="367486" y="277813"/>
                      <a:pt x="376034" y="277813"/>
                    </a:cubicBezTo>
                    <a:cubicBezTo>
                      <a:pt x="566941" y="277813"/>
                      <a:pt x="566941" y="277813"/>
                      <a:pt x="566941" y="277813"/>
                    </a:cubicBezTo>
                    <a:cubicBezTo>
                      <a:pt x="575489" y="277813"/>
                      <a:pt x="582612" y="270702"/>
                      <a:pt x="582612" y="262170"/>
                    </a:cubicBezTo>
                    <a:lnTo>
                      <a:pt x="582612" y="156932"/>
                    </a:lnTo>
                    <a:cubicBezTo>
                      <a:pt x="582612" y="148399"/>
                      <a:pt x="575489" y="141288"/>
                      <a:pt x="566941" y="141288"/>
                    </a:cubicBezTo>
                    <a:cubicBezTo>
                      <a:pt x="376034" y="141288"/>
                      <a:pt x="376034" y="141288"/>
                      <a:pt x="376034" y="141288"/>
                    </a:cubicBezTo>
                    <a:close/>
                    <a:moveTo>
                      <a:pt x="95159" y="141288"/>
                    </a:moveTo>
                    <a:cubicBezTo>
                      <a:pt x="86550" y="141288"/>
                      <a:pt x="79375" y="148399"/>
                      <a:pt x="79375" y="156932"/>
                    </a:cubicBezTo>
                    <a:cubicBezTo>
                      <a:pt x="79375" y="262170"/>
                      <a:pt x="79375" y="262170"/>
                      <a:pt x="79375" y="262170"/>
                    </a:cubicBezTo>
                    <a:cubicBezTo>
                      <a:pt x="79375" y="270702"/>
                      <a:pt x="86550" y="277813"/>
                      <a:pt x="95159" y="277813"/>
                    </a:cubicBezTo>
                    <a:cubicBezTo>
                      <a:pt x="287430" y="277813"/>
                      <a:pt x="287430" y="277813"/>
                      <a:pt x="287430" y="277813"/>
                    </a:cubicBezTo>
                    <a:cubicBezTo>
                      <a:pt x="296039" y="277813"/>
                      <a:pt x="303213" y="270702"/>
                      <a:pt x="303213" y="262170"/>
                    </a:cubicBezTo>
                    <a:lnTo>
                      <a:pt x="303213" y="156932"/>
                    </a:lnTo>
                    <a:cubicBezTo>
                      <a:pt x="303213" y="148399"/>
                      <a:pt x="296039" y="141288"/>
                      <a:pt x="287430" y="141288"/>
                    </a:cubicBezTo>
                    <a:cubicBezTo>
                      <a:pt x="95159" y="141288"/>
                      <a:pt x="95159" y="141288"/>
                      <a:pt x="95159" y="141288"/>
                    </a:cubicBezTo>
                    <a:close/>
                    <a:moveTo>
                      <a:pt x="0" y="0"/>
                    </a:moveTo>
                    <a:cubicBezTo>
                      <a:pt x="0" y="0"/>
                      <a:pt x="0" y="0"/>
                      <a:pt x="1076325" y="0"/>
                    </a:cubicBezTo>
                    <a:cubicBezTo>
                      <a:pt x="1076325" y="0"/>
                      <a:pt x="1076325" y="0"/>
                      <a:pt x="1076325" y="94919"/>
                    </a:cubicBezTo>
                    <a:cubicBezTo>
                      <a:pt x="1076325" y="94919"/>
                      <a:pt x="1076325" y="94919"/>
                      <a:pt x="727073" y="366828"/>
                    </a:cubicBezTo>
                    <a:cubicBezTo>
                      <a:pt x="719931" y="372537"/>
                      <a:pt x="713503" y="378960"/>
                      <a:pt x="708503" y="386097"/>
                    </a:cubicBezTo>
                    <a:cubicBezTo>
                      <a:pt x="707075" y="387524"/>
                      <a:pt x="705647" y="388952"/>
                      <a:pt x="704932" y="391093"/>
                    </a:cubicBezTo>
                    <a:cubicBezTo>
                      <a:pt x="692076" y="410362"/>
                      <a:pt x="686363" y="433913"/>
                      <a:pt x="688505" y="456751"/>
                    </a:cubicBezTo>
                    <a:cubicBezTo>
                      <a:pt x="688505" y="456751"/>
                      <a:pt x="688505" y="456751"/>
                      <a:pt x="656366" y="481729"/>
                    </a:cubicBezTo>
                    <a:cubicBezTo>
                      <a:pt x="647795" y="488866"/>
                      <a:pt x="643510" y="498857"/>
                      <a:pt x="644224" y="509562"/>
                    </a:cubicBezTo>
                    <a:cubicBezTo>
                      <a:pt x="645652" y="520267"/>
                      <a:pt x="652080" y="529545"/>
                      <a:pt x="661365" y="534541"/>
                    </a:cubicBezTo>
                    <a:cubicBezTo>
                      <a:pt x="661365" y="534541"/>
                      <a:pt x="661365" y="534541"/>
                      <a:pt x="717788" y="563801"/>
                    </a:cubicBezTo>
                    <a:cubicBezTo>
                      <a:pt x="722074" y="565943"/>
                      <a:pt x="727073" y="567370"/>
                      <a:pt x="732073" y="567370"/>
                    </a:cubicBezTo>
                    <a:cubicBezTo>
                      <a:pt x="739215" y="567370"/>
                      <a:pt x="745643" y="565229"/>
                      <a:pt x="751356" y="560947"/>
                    </a:cubicBezTo>
                    <a:cubicBezTo>
                      <a:pt x="751356" y="560947"/>
                      <a:pt x="751356" y="560947"/>
                      <a:pt x="762784" y="552383"/>
                    </a:cubicBezTo>
                    <a:cubicBezTo>
                      <a:pt x="773497" y="555951"/>
                      <a:pt x="784210" y="557378"/>
                      <a:pt x="795638" y="557378"/>
                    </a:cubicBezTo>
                    <a:cubicBezTo>
                      <a:pt x="807780" y="557378"/>
                      <a:pt x="819921" y="555237"/>
                      <a:pt x="831349" y="551669"/>
                    </a:cubicBezTo>
                    <a:cubicBezTo>
                      <a:pt x="841348" y="548101"/>
                      <a:pt x="851347" y="542391"/>
                      <a:pt x="859203" y="535968"/>
                    </a:cubicBezTo>
                    <a:cubicBezTo>
                      <a:pt x="859203" y="535968"/>
                      <a:pt x="859203" y="535968"/>
                      <a:pt x="1076325" y="366828"/>
                    </a:cubicBezTo>
                    <a:cubicBezTo>
                      <a:pt x="1076325" y="366828"/>
                      <a:pt x="1076325" y="366828"/>
                      <a:pt x="1076325" y="806450"/>
                    </a:cubicBezTo>
                    <a:cubicBezTo>
                      <a:pt x="1076325" y="806450"/>
                      <a:pt x="1076325" y="806450"/>
                      <a:pt x="0" y="806450"/>
                    </a:cubicBezTo>
                    <a:cubicBezTo>
                      <a:pt x="0" y="806450"/>
                      <a:pt x="0" y="806450"/>
                      <a:pt x="0" y="0"/>
                    </a:cubicBezTo>
                    <a:close/>
                  </a:path>
                </a:pathLst>
              </a:custGeom>
              <a:solidFill>
                <a:schemeClr val="tx2"/>
              </a:solidFill>
              <a:ln>
                <a:noFill/>
              </a:ln>
            </p:spPr>
            <p:txBody>
              <a:bodyPr vert="horz" wrap="square" lIns="91440" tIns="45720" rIns="91440" bIns="45720" numCol="1" anchor="t" anchorCtr="0" compatLnSpc="1">
                <a:prstTxWarp prst="textNoShape">
                  <a:avLst/>
                </a:prstTxWarp>
                <a:noAutofit/>
              </a:bodyPr>
              <a:lstStyle/>
              <a:p>
                <a:endParaRPr lang="en-US"/>
              </a:p>
            </p:txBody>
          </p:sp>
        </p:grpSp>
      </p:grpSp>
      <p:grpSp>
        <p:nvGrpSpPr>
          <p:cNvPr id="226" name="bcgIcons_Large Group of People/Public ">
            <a:extLst>
              <a:ext uri="{FF2B5EF4-FFF2-40B4-BE49-F238E27FC236}">
                <a16:creationId xmlns:a16="http://schemas.microsoft.com/office/drawing/2014/main" id="{DE40B537-C7E2-BC4E-3840-C10A95B83938}"/>
              </a:ext>
            </a:extLst>
          </p:cNvPr>
          <p:cNvGrpSpPr>
            <a:grpSpLocks noChangeAspect="1"/>
          </p:cNvGrpSpPr>
          <p:nvPr/>
        </p:nvGrpSpPr>
        <p:grpSpPr>
          <a:xfrm>
            <a:off x="4678818" y="4877459"/>
            <a:ext cx="341974" cy="342291"/>
            <a:chOff x="5273803" y="2606040"/>
            <a:chExt cx="1644396" cy="1645920"/>
          </a:xfrm>
        </p:grpSpPr>
        <p:sp>
          <p:nvSpPr>
            <p:cNvPr id="227" name="AutoShape 18">
              <a:extLst>
                <a:ext uri="{FF2B5EF4-FFF2-40B4-BE49-F238E27FC236}">
                  <a16:creationId xmlns:a16="http://schemas.microsoft.com/office/drawing/2014/main" id="{F2F37C53-047C-64DD-EF0E-15619C12F0A8}"/>
                </a:ext>
              </a:extLst>
            </p:cNvPr>
            <p:cNvSpPr>
              <a:spLocks noChangeAspect="1" noChangeArrowheads="1" noTextEdit="1"/>
            </p:cNvSpPr>
            <p:nvPr/>
          </p:nvSpPr>
          <p:spPr bwMode="auto">
            <a:xfrm>
              <a:off x="5273803" y="2606040"/>
              <a:ext cx="1644396" cy="1645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228" name="Group 227">
              <a:extLst>
                <a:ext uri="{FF2B5EF4-FFF2-40B4-BE49-F238E27FC236}">
                  <a16:creationId xmlns:a16="http://schemas.microsoft.com/office/drawing/2014/main" id="{6CC21605-5465-50AE-E662-C39E6AEE6D46}"/>
                </a:ext>
              </a:extLst>
            </p:cNvPr>
            <p:cNvGrpSpPr/>
            <p:nvPr/>
          </p:nvGrpSpPr>
          <p:grpSpPr>
            <a:xfrm>
              <a:off x="5336668" y="2770251"/>
              <a:ext cx="1515999" cy="1311783"/>
              <a:chOff x="5336668" y="2770251"/>
              <a:chExt cx="1515999" cy="1311783"/>
            </a:xfrm>
          </p:grpSpPr>
          <p:sp>
            <p:nvSpPr>
              <p:cNvPr id="229" name="Freeform 20">
                <a:extLst>
                  <a:ext uri="{FF2B5EF4-FFF2-40B4-BE49-F238E27FC236}">
                    <a16:creationId xmlns:a16="http://schemas.microsoft.com/office/drawing/2014/main" id="{6E83AB0F-BA23-ADE0-D8A7-517205C9A845}"/>
                  </a:ext>
                </a:extLst>
              </p:cNvPr>
              <p:cNvSpPr>
                <a:spLocks noEditPoints="1"/>
              </p:cNvSpPr>
              <p:nvPr/>
            </p:nvSpPr>
            <p:spPr bwMode="auto">
              <a:xfrm>
                <a:off x="5336668" y="2770251"/>
                <a:ext cx="1515999" cy="1311783"/>
              </a:xfrm>
              <a:custGeom>
                <a:avLst/>
                <a:gdLst>
                  <a:gd name="T0" fmla="*/ 227 w 2124"/>
                  <a:gd name="T1" fmla="*/ 496 h 1836"/>
                  <a:gd name="T2" fmla="*/ 528 w 2124"/>
                  <a:gd name="T3" fmla="*/ 467 h 1836"/>
                  <a:gd name="T4" fmla="*/ 996 w 2124"/>
                  <a:gd name="T5" fmla="*/ 467 h 1836"/>
                  <a:gd name="T6" fmla="*/ 695 w 2124"/>
                  <a:gd name="T7" fmla="*/ 496 h 1836"/>
                  <a:gd name="T8" fmla="*/ 994 w 2124"/>
                  <a:gd name="T9" fmla="*/ 498 h 1836"/>
                  <a:gd name="T10" fmla="*/ 1130 w 2124"/>
                  <a:gd name="T11" fmla="*/ 467 h 1836"/>
                  <a:gd name="T12" fmla="*/ 1431 w 2124"/>
                  <a:gd name="T13" fmla="*/ 496 h 1836"/>
                  <a:gd name="T14" fmla="*/ 1933 w 2124"/>
                  <a:gd name="T15" fmla="*/ 467 h 1836"/>
                  <a:gd name="T16" fmla="*/ 1631 w 2124"/>
                  <a:gd name="T17" fmla="*/ 496 h 1836"/>
                  <a:gd name="T18" fmla="*/ 1930 w 2124"/>
                  <a:gd name="T19" fmla="*/ 498 h 1836"/>
                  <a:gd name="T20" fmla="*/ 427 w 2124"/>
                  <a:gd name="T21" fmla="*/ 273 h 1836"/>
                  <a:gd name="T22" fmla="*/ 729 w 2124"/>
                  <a:gd name="T23" fmla="*/ 301 h 1836"/>
                  <a:gd name="T24" fmla="*/ 1230 w 2124"/>
                  <a:gd name="T25" fmla="*/ 273 h 1836"/>
                  <a:gd name="T26" fmla="*/ 929 w 2124"/>
                  <a:gd name="T27" fmla="*/ 301 h 1836"/>
                  <a:gd name="T28" fmla="*/ 1228 w 2124"/>
                  <a:gd name="T29" fmla="*/ 304 h 1836"/>
                  <a:gd name="T30" fmla="*/ 1364 w 2124"/>
                  <a:gd name="T31" fmla="*/ 273 h 1836"/>
                  <a:gd name="T32" fmla="*/ 1665 w 2124"/>
                  <a:gd name="T33" fmla="*/ 301 h 1836"/>
                  <a:gd name="T34" fmla="*/ 996 w 2124"/>
                  <a:gd name="T35" fmla="*/ 78 h 1836"/>
                  <a:gd name="T36" fmla="*/ 695 w 2124"/>
                  <a:gd name="T37" fmla="*/ 107 h 1836"/>
                  <a:gd name="T38" fmla="*/ 994 w 2124"/>
                  <a:gd name="T39" fmla="*/ 109 h 1836"/>
                  <a:gd name="T40" fmla="*/ 1130 w 2124"/>
                  <a:gd name="T41" fmla="*/ 78 h 1836"/>
                  <a:gd name="T42" fmla="*/ 1431 w 2124"/>
                  <a:gd name="T43" fmla="*/ 107 h 1836"/>
                  <a:gd name="T44" fmla="*/ 1893 w 2124"/>
                  <a:gd name="T45" fmla="*/ 584 h 1836"/>
                  <a:gd name="T46" fmla="*/ 1893 w 2124"/>
                  <a:gd name="T47" fmla="*/ 628 h 1836"/>
                  <a:gd name="T48" fmla="*/ 2060 w 2124"/>
                  <a:gd name="T49" fmla="*/ 662 h 1836"/>
                  <a:gd name="T50" fmla="*/ 69 w 2124"/>
                  <a:gd name="T51" fmla="*/ 693 h 1836"/>
                  <a:gd name="T52" fmla="*/ 377 w 2124"/>
                  <a:gd name="T53" fmla="*/ 638 h 1836"/>
                  <a:gd name="T54" fmla="*/ 1533 w 2124"/>
                  <a:gd name="T55" fmla="*/ 1602 h 1836"/>
                  <a:gd name="T56" fmla="*/ 1155 w 2124"/>
                  <a:gd name="T57" fmla="*/ 1543 h 1836"/>
                  <a:gd name="T58" fmla="*/ 2102 w 2124"/>
                  <a:gd name="T59" fmla="*/ 1836 h 1836"/>
                  <a:gd name="T60" fmla="*/ 1191 w 2124"/>
                  <a:gd name="T61" fmla="*/ 1811 h 1836"/>
                  <a:gd name="T62" fmla="*/ 787 w 2124"/>
                  <a:gd name="T63" fmla="*/ 1449 h 1836"/>
                  <a:gd name="T64" fmla="*/ 404 w 2124"/>
                  <a:gd name="T65" fmla="*/ 1449 h 1836"/>
                  <a:gd name="T66" fmla="*/ 0 w 2124"/>
                  <a:gd name="T67" fmla="*/ 1814 h 1836"/>
                  <a:gd name="T68" fmla="*/ 1191 w 2124"/>
                  <a:gd name="T69" fmla="*/ 1811 h 1836"/>
                  <a:gd name="T70" fmla="*/ 896 w 2124"/>
                  <a:gd name="T71" fmla="*/ 662 h 1836"/>
                  <a:gd name="T72" fmla="*/ 1197 w 2124"/>
                  <a:gd name="T73" fmla="*/ 690 h 1836"/>
                  <a:gd name="T74" fmla="*/ 1356 w 2124"/>
                  <a:gd name="T75" fmla="*/ 1362 h 1836"/>
                  <a:gd name="T76" fmla="*/ 1407 w 2124"/>
                  <a:gd name="T77" fmla="*/ 1450 h 1836"/>
                  <a:gd name="T78" fmla="*/ 1649 w 2124"/>
                  <a:gd name="T79" fmla="*/ 1450 h 1836"/>
                  <a:gd name="T80" fmla="*/ 1701 w 2124"/>
                  <a:gd name="T81" fmla="*/ 1362 h 1836"/>
                  <a:gd name="T82" fmla="*/ 1796 w 2124"/>
                  <a:gd name="T83" fmla="*/ 1101 h 1836"/>
                  <a:gd name="T84" fmla="*/ 1528 w 2124"/>
                  <a:gd name="T85" fmla="*/ 1401 h 1836"/>
                  <a:gd name="T86" fmla="*/ 1261 w 2124"/>
                  <a:gd name="T87" fmla="*/ 1101 h 1836"/>
                  <a:gd name="T88" fmla="*/ 322 w 2124"/>
                  <a:gd name="T89" fmla="*/ 1157 h 1836"/>
                  <a:gd name="T90" fmla="*/ 440 w 2124"/>
                  <a:gd name="T91" fmla="*/ 1423 h 1836"/>
                  <a:gd name="T92" fmla="*/ 717 w 2124"/>
                  <a:gd name="T93" fmla="*/ 1399 h 1836"/>
                  <a:gd name="T94" fmla="*/ 761 w 2124"/>
                  <a:gd name="T95" fmla="*/ 1367 h 1836"/>
                  <a:gd name="T96" fmla="*/ 916 w 2124"/>
                  <a:gd name="T97" fmla="*/ 1076 h 1836"/>
                  <a:gd name="T98" fmla="*/ 738 w 2124"/>
                  <a:gd name="T99" fmla="*/ 1329 h 1836"/>
                  <a:gd name="T100" fmla="*/ 350 w 2124"/>
                  <a:gd name="T101" fmla="*/ 1122 h 1836"/>
                  <a:gd name="T102" fmla="*/ 322 w 2124"/>
                  <a:gd name="T103" fmla="*/ 115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24" h="1836">
                    <a:moveTo>
                      <a:pt x="512" y="503"/>
                    </a:moveTo>
                    <a:cubicBezTo>
                      <a:pt x="505" y="503"/>
                      <a:pt x="499" y="501"/>
                      <a:pt x="495" y="496"/>
                    </a:cubicBezTo>
                    <a:cubicBezTo>
                      <a:pt x="461" y="456"/>
                      <a:pt x="413" y="433"/>
                      <a:pt x="361" y="433"/>
                    </a:cubicBezTo>
                    <a:cubicBezTo>
                      <a:pt x="309" y="433"/>
                      <a:pt x="260" y="456"/>
                      <a:pt x="227" y="496"/>
                    </a:cubicBezTo>
                    <a:cubicBezTo>
                      <a:pt x="219" y="505"/>
                      <a:pt x="205" y="506"/>
                      <a:pt x="196" y="498"/>
                    </a:cubicBezTo>
                    <a:cubicBezTo>
                      <a:pt x="187" y="491"/>
                      <a:pt x="186" y="477"/>
                      <a:pt x="193" y="467"/>
                    </a:cubicBezTo>
                    <a:cubicBezTo>
                      <a:pt x="235" y="418"/>
                      <a:pt x="296" y="389"/>
                      <a:pt x="361" y="389"/>
                    </a:cubicBezTo>
                    <a:cubicBezTo>
                      <a:pt x="426" y="389"/>
                      <a:pt x="487" y="418"/>
                      <a:pt x="528" y="467"/>
                    </a:cubicBezTo>
                    <a:cubicBezTo>
                      <a:pt x="536" y="477"/>
                      <a:pt x="535" y="491"/>
                      <a:pt x="526" y="498"/>
                    </a:cubicBezTo>
                    <a:cubicBezTo>
                      <a:pt x="522" y="502"/>
                      <a:pt x="516" y="503"/>
                      <a:pt x="512" y="503"/>
                    </a:cubicBezTo>
                    <a:close/>
                    <a:moveTo>
                      <a:pt x="994" y="498"/>
                    </a:moveTo>
                    <a:cubicBezTo>
                      <a:pt x="1003" y="491"/>
                      <a:pt x="1004" y="477"/>
                      <a:pt x="996" y="467"/>
                    </a:cubicBezTo>
                    <a:cubicBezTo>
                      <a:pt x="955" y="418"/>
                      <a:pt x="894" y="389"/>
                      <a:pt x="829" y="389"/>
                    </a:cubicBezTo>
                    <a:cubicBezTo>
                      <a:pt x="764" y="389"/>
                      <a:pt x="703" y="418"/>
                      <a:pt x="661" y="467"/>
                    </a:cubicBezTo>
                    <a:cubicBezTo>
                      <a:pt x="654" y="477"/>
                      <a:pt x="655" y="491"/>
                      <a:pt x="664" y="498"/>
                    </a:cubicBezTo>
                    <a:cubicBezTo>
                      <a:pt x="673" y="506"/>
                      <a:pt x="687" y="505"/>
                      <a:pt x="695" y="496"/>
                    </a:cubicBezTo>
                    <a:cubicBezTo>
                      <a:pt x="728" y="456"/>
                      <a:pt x="777" y="433"/>
                      <a:pt x="829" y="433"/>
                    </a:cubicBezTo>
                    <a:cubicBezTo>
                      <a:pt x="881" y="433"/>
                      <a:pt x="929" y="456"/>
                      <a:pt x="963" y="496"/>
                    </a:cubicBezTo>
                    <a:cubicBezTo>
                      <a:pt x="967" y="501"/>
                      <a:pt x="973" y="503"/>
                      <a:pt x="980" y="503"/>
                    </a:cubicBezTo>
                    <a:cubicBezTo>
                      <a:pt x="985" y="503"/>
                      <a:pt x="990" y="502"/>
                      <a:pt x="994" y="498"/>
                    </a:cubicBezTo>
                    <a:close/>
                    <a:moveTo>
                      <a:pt x="1462" y="498"/>
                    </a:moveTo>
                    <a:cubicBezTo>
                      <a:pt x="1471" y="491"/>
                      <a:pt x="1472" y="477"/>
                      <a:pt x="1465" y="467"/>
                    </a:cubicBezTo>
                    <a:cubicBezTo>
                      <a:pt x="1423" y="418"/>
                      <a:pt x="1362" y="389"/>
                      <a:pt x="1297" y="389"/>
                    </a:cubicBezTo>
                    <a:cubicBezTo>
                      <a:pt x="1232" y="389"/>
                      <a:pt x="1171" y="418"/>
                      <a:pt x="1130" y="467"/>
                    </a:cubicBezTo>
                    <a:cubicBezTo>
                      <a:pt x="1122" y="477"/>
                      <a:pt x="1123" y="491"/>
                      <a:pt x="1132" y="498"/>
                    </a:cubicBezTo>
                    <a:cubicBezTo>
                      <a:pt x="1142" y="506"/>
                      <a:pt x="1155" y="505"/>
                      <a:pt x="1163" y="496"/>
                    </a:cubicBezTo>
                    <a:cubicBezTo>
                      <a:pt x="1197" y="456"/>
                      <a:pt x="1245" y="433"/>
                      <a:pt x="1297" y="433"/>
                    </a:cubicBezTo>
                    <a:cubicBezTo>
                      <a:pt x="1349" y="433"/>
                      <a:pt x="1398" y="456"/>
                      <a:pt x="1431" y="496"/>
                    </a:cubicBezTo>
                    <a:cubicBezTo>
                      <a:pt x="1435" y="501"/>
                      <a:pt x="1441" y="503"/>
                      <a:pt x="1448" y="503"/>
                    </a:cubicBezTo>
                    <a:cubicBezTo>
                      <a:pt x="1453" y="503"/>
                      <a:pt x="1458" y="502"/>
                      <a:pt x="1462" y="498"/>
                    </a:cubicBezTo>
                    <a:close/>
                    <a:moveTo>
                      <a:pt x="1930" y="498"/>
                    </a:moveTo>
                    <a:cubicBezTo>
                      <a:pt x="1939" y="491"/>
                      <a:pt x="1940" y="477"/>
                      <a:pt x="1933" y="467"/>
                    </a:cubicBezTo>
                    <a:cubicBezTo>
                      <a:pt x="1891" y="418"/>
                      <a:pt x="1830" y="389"/>
                      <a:pt x="1765" y="389"/>
                    </a:cubicBezTo>
                    <a:cubicBezTo>
                      <a:pt x="1700" y="389"/>
                      <a:pt x="1639" y="418"/>
                      <a:pt x="1598" y="467"/>
                    </a:cubicBezTo>
                    <a:cubicBezTo>
                      <a:pt x="1590" y="477"/>
                      <a:pt x="1591" y="491"/>
                      <a:pt x="1600" y="498"/>
                    </a:cubicBezTo>
                    <a:cubicBezTo>
                      <a:pt x="1610" y="506"/>
                      <a:pt x="1624" y="505"/>
                      <a:pt x="1631" y="496"/>
                    </a:cubicBezTo>
                    <a:cubicBezTo>
                      <a:pt x="1665" y="456"/>
                      <a:pt x="1713" y="433"/>
                      <a:pt x="1765" y="433"/>
                    </a:cubicBezTo>
                    <a:cubicBezTo>
                      <a:pt x="1817" y="433"/>
                      <a:pt x="1866" y="456"/>
                      <a:pt x="1899" y="496"/>
                    </a:cubicBezTo>
                    <a:cubicBezTo>
                      <a:pt x="1903" y="501"/>
                      <a:pt x="1910" y="503"/>
                      <a:pt x="1916" y="503"/>
                    </a:cubicBezTo>
                    <a:cubicBezTo>
                      <a:pt x="1921" y="503"/>
                      <a:pt x="1926" y="502"/>
                      <a:pt x="1930" y="498"/>
                    </a:cubicBezTo>
                    <a:close/>
                    <a:moveTo>
                      <a:pt x="760" y="304"/>
                    </a:moveTo>
                    <a:cubicBezTo>
                      <a:pt x="769" y="296"/>
                      <a:pt x="770" y="282"/>
                      <a:pt x="762" y="273"/>
                    </a:cubicBezTo>
                    <a:cubicBezTo>
                      <a:pt x="721" y="223"/>
                      <a:pt x="660" y="195"/>
                      <a:pt x="595" y="195"/>
                    </a:cubicBezTo>
                    <a:cubicBezTo>
                      <a:pt x="530" y="195"/>
                      <a:pt x="469" y="223"/>
                      <a:pt x="427" y="273"/>
                    </a:cubicBezTo>
                    <a:cubicBezTo>
                      <a:pt x="420" y="282"/>
                      <a:pt x="421" y="296"/>
                      <a:pt x="430" y="304"/>
                    </a:cubicBezTo>
                    <a:cubicBezTo>
                      <a:pt x="439" y="312"/>
                      <a:pt x="453" y="310"/>
                      <a:pt x="461" y="301"/>
                    </a:cubicBezTo>
                    <a:cubicBezTo>
                      <a:pt x="494" y="262"/>
                      <a:pt x="543" y="239"/>
                      <a:pt x="595" y="239"/>
                    </a:cubicBezTo>
                    <a:cubicBezTo>
                      <a:pt x="647" y="239"/>
                      <a:pt x="695" y="262"/>
                      <a:pt x="729" y="301"/>
                    </a:cubicBezTo>
                    <a:cubicBezTo>
                      <a:pt x="733" y="306"/>
                      <a:pt x="739" y="309"/>
                      <a:pt x="746" y="309"/>
                    </a:cubicBezTo>
                    <a:cubicBezTo>
                      <a:pt x="751" y="309"/>
                      <a:pt x="756" y="307"/>
                      <a:pt x="760" y="304"/>
                    </a:cubicBezTo>
                    <a:close/>
                    <a:moveTo>
                      <a:pt x="1228" y="304"/>
                    </a:moveTo>
                    <a:cubicBezTo>
                      <a:pt x="1237" y="296"/>
                      <a:pt x="1238" y="282"/>
                      <a:pt x="1230" y="273"/>
                    </a:cubicBezTo>
                    <a:cubicBezTo>
                      <a:pt x="1189" y="223"/>
                      <a:pt x="1128" y="195"/>
                      <a:pt x="1063" y="195"/>
                    </a:cubicBezTo>
                    <a:cubicBezTo>
                      <a:pt x="998" y="195"/>
                      <a:pt x="937" y="223"/>
                      <a:pt x="896" y="273"/>
                    </a:cubicBezTo>
                    <a:cubicBezTo>
                      <a:pt x="888" y="282"/>
                      <a:pt x="889" y="296"/>
                      <a:pt x="898" y="304"/>
                    </a:cubicBezTo>
                    <a:cubicBezTo>
                      <a:pt x="908" y="312"/>
                      <a:pt x="921" y="310"/>
                      <a:pt x="929" y="301"/>
                    </a:cubicBezTo>
                    <a:cubicBezTo>
                      <a:pt x="963" y="262"/>
                      <a:pt x="1011" y="239"/>
                      <a:pt x="1063" y="239"/>
                    </a:cubicBezTo>
                    <a:cubicBezTo>
                      <a:pt x="1115" y="239"/>
                      <a:pt x="1163" y="262"/>
                      <a:pt x="1197" y="301"/>
                    </a:cubicBezTo>
                    <a:cubicBezTo>
                      <a:pt x="1201" y="306"/>
                      <a:pt x="1207" y="309"/>
                      <a:pt x="1214" y="309"/>
                    </a:cubicBezTo>
                    <a:cubicBezTo>
                      <a:pt x="1219" y="309"/>
                      <a:pt x="1224" y="307"/>
                      <a:pt x="1228" y="304"/>
                    </a:cubicBezTo>
                    <a:close/>
                    <a:moveTo>
                      <a:pt x="1696" y="304"/>
                    </a:moveTo>
                    <a:cubicBezTo>
                      <a:pt x="1705" y="296"/>
                      <a:pt x="1706" y="282"/>
                      <a:pt x="1699" y="273"/>
                    </a:cubicBezTo>
                    <a:cubicBezTo>
                      <a:pt x="1657" y="223"/>
                      <a:pt x="1596" y="195"/>
                      <a:pt x="1531" y="195"/>
                    </a:cubicBezTo>
                    <a:cubicBezTo>
                      <a:pt x="1466" y="195"/>
                      <a:pt x="1405" y="223"/>
                      <a:pt x="1364" y="273"/>
                    </a:cubicBezTo>
                    <a:cubicBezTo>
                      <a:pt x="1356" y="282"/>
                      <a:pt x="1357" y="296"/>
                      <a:pt x="1366" y="304"/>
                    </a:cubicBezTo>
                    <a:cubicBezTo>
                      <a:pt x="1376" y="312"/>
                      <a:pt x="1389" y="310"/>
                      <a:pt x="1397" y="301"/>
                    </a:cubicBezTo>
                    <a:cubicBezTo>
                      <a:pt x="1431" y="262"/>
                      <a:pt x="1479" y="239"/>
                      <a:pt x="1531" y="239"/>
                    </a:cubicBezTo>
                    <a:cubicBezTo>
                      <a:pt x="1583" y="239"/>
                      <a:pt x="1632" y="262"/>
                      <a:pt x="1665" y="301"/>
                    </a:cubicBezTo>
                    <a:cubicBezTo>
                      <a:pt x="1669" y="306"/>
                      <a:pt x="1675" y="309"/>
                      <a:pt x="1682" y="309"/>
                    </a:cubicBezTo>
                    <a:cubicBezTo>
                      <a:pt x="1687" y="309"/>
                      <a:pt x="1692" y="307"/>
                      <a:pt x="1696" y="304"/>
                    </a:cubicBezTo>
                    <a:close/>
                    <a:moveTo>
                      <a:pt x="994" y="109"/>
                    </a:moveTo>
                    <a:cubicBezTo>
                      <a:pt x="1003" y="101"/>
                      <a:pt x="1004" y="88"/>
                      <a:pt x="996" y="78"/>
                    </a:cubicBezTo>
                    <a:cubicBezTo>
                      <a:pt x="955" y="29"/>
                      <a:pt x="894" y="0"/>
                      <a:pt x="829" y="0"/>
                    </a:cubicBezTo>
                    <a:cubicBezTo>
                      <a:pt x="764" y="0"/>
                      <a:pt x="703" y="29"/>
                      <a:pt x="661" y="78"/>
                    </a:cubicBezTo>
                    <a:cubicBezTo>
                      <a:pt x="654" y="88"/>
                      <a:pt x="655" y="101"/>
                      <a:pt x="664" y="109"/>
                    </a:cubicBezTo>
                    <a:cubicBezTo>
                      <a:pt x="673" y="117"/>
                      <a:pt x="687" y="116"/>
                      <a:pt x="695" y="107"/>
                    </a:cubicBezTo>
                    <a:cubicBezTo>
                      <a:pt x="728" y="67"/>
                      <a:pt x="777" y="44"/>
                      <a:pt x="829" y="44"/>
                    </a:cubicBezTo>
                    <a:cubicBezTo>
                      <a:pt x="881" y="44"/>
                      <a:pt x="929" y="67"/>
                      <a:pt x="963" y="107"/>
                    </a:cubicBezTo>
                    <a:cubicBezTo>
                      <a:pt x="967" y="112"/>
                      <a:pt x="973" y="114"/>
                      <a:pt x="980" y="114"/>
                    </a:cubicBezTo>
                    <a:cubicBezTo>
                      <a:pt x="985" y="114"/>
                      <a:pt x="990" y="113"/>
                      <a:pt x="994" y="109"/>
                    </a:cubicBezTo>
                    <a:close/>
                    <a:moveTo>
                      <a:pt x="1462" y="109"/>
                    </a:moveTo>
                    <a:cubicBezTo>
                      <a:pt x="1471" y="101"/>
                      <a:pt x="1472" y="88"/>
                      <a:pt x="1465" y="78"/>
                    </a:cubicBezTo>
                    <a:cubicBezTo>
                      <a:pt x="1423" y="29"/>
                      <a:pt x="1362" y="0"/>
                      <a:pt x="1297" y="0"/>
                    </a:cubicBezTo>
                    <a:cubicBezTo>
                      <a:pt x="1232" y="0"/>
                      <a:pt x="1171" y="29"/>
                      <a:pt x="1130" y="78"/>
                    </a:cubicBezTo>
                    <a:cubicBezTo>
                      <a:pt x="1122" y="88"/>
                      <a:pt x="1123" y="101"/>
                      <a:pt x="1132" y="109"/>
                    </a:cubicBezTo>
                    <a:cubicBezTo>
                      <a:pt x="1142" y="117"/>
                      <a:pt x="1155" y="116"/>
                      <a:pt x="1163" y="107"/>
                    </a:cubicBezTo>
                    <a:cubicBezTo>
                      <a:pt x="1197" y="67"/>
                      <a:pt x="1245" y="44"/>
                      <a:pt x="1297" y="44"/>
                    </a:cubicBezTo>
                    <a:cubicBezTo>
                      <a:pt x="1349" y="44"/>
                      <a:pt x="1398" y="67"/>
                      <a:pt x="1431" y="107"/>
                    </a:cubicBezTo>
                    <a:cubicBezTo>
                      <a:pt x="1435" y="112"/>
                      <a:pt x="1441" y="114"/>
                      <a:pt x="1448" y="114"/>
                    </a:cubicBezTo>
                    <a:cubicBezTo>
                      <a:pt x="1453" y="114"/>
                      <a:pt x="1458" y="113"/>
                      <a:pt x="1462" y="109"/>
                    </a:cubicBezTo>
                    <a:close/>
                    <a:moveTo>
                      <a:pt x="2060" y="662"/>
                    </a:moveTo>
                    <a:cubicBezTo>
                      <a:pt x="2018" y="612"/>
                      <a:pt x="1957" y="584"/>
                      <a:pt x="1893" y="584"/>
                    </a:cubicBezTo>
                    <a:cubicBezTo>
                      <a:pt x="1839" y="584"/>
                      <a:pt x="1788" y="603"/>
                      <a:pt x="1749" y="638"/>
                    </a:cubicBezTo>
                    <a:cubicBezTo>
                      <a:pt x="1760" y="647"/>
                      <a:pt x="1771" y="657"/>
                      <a:pt x="1781" y="667"/>
                    </a:cubicBezTo>
                    <a:cubicBezTo>
                      <a:pt x="1781" y="667"/>
                      <a:pt x="1781" y="668"/>
                      <a:pt x="1781" y="668"/>
                    </a:cubicBezTo>
                    <a:cubicBezTo>
                      <a:pt x="1813" y="642"/>
                      <a:pt x="1852" y="628"/>
                      <a:pt x="1893" y="628"/>
                    </a:cubicBezTo>
                    <a:cubicBezTo>
                      <a:pt x="1944" y="628"/>
                      <a:pt x="1993" y="651"/>
                      <a:pt x="2026" y="690"/>
                    </a:cubicBezTo>
                    <a:cubicBezTo>
                      <a:pt x="2031" y="695"/>
                      <a:pt x="2037" y="698"/>
                      <a:pt x="2043" y="698"/>
                    </a:cubicBezTo>
                    <a:cubicBezTo>
                      <a:pt x="2048" y="698"/>
                      <a:pt x="2053" y="696"/>
                      <a:pt x="2057" y="693"/>
                    </a:cubicBezTo>
                    <a:cubicBezTo>
                      <a:pt x="2067" y="685"/>
                      <a:pt x="2068" y="671"/>
                      <a:pt x="2060" y="662"/>
                    </a:cubicBezTo>
                    <a:close/>
                    <a:moveTo>
                      <a:pt x="377" y="638"/>
                    </a:moveTo>
                    <a:cubicBezTo>
                      <a:pt x="338" y="603"/>
                      <a:pt x="287" y="584"/>
                      <a:pt x="233" y="584"/>
                    </a:cubicBezTo>
                    <a:cubicBezTo>
                      <a:pt x="169" y="584"/>
                      <a:pt x="108" y="612"/>
                      <a:pt x="66" y="662"/>
                    </a:cubicBezTo>
                    <a:cubicBezTo>
                      <a:pt x="58" y="671"/>
                      <a:pt x="59" y="685"/>
                      <a:pt x="69" y="693"/>
                    </a:cubicBezTo>
                    <a:cubicBezTo>
                      <a:pt x="78" y="701"/>
                      <a:pt x="92" y="699"/>
                      <a:pt x="100" y="690"/>
                    </a:cubicBezTo>
                    <a:cubicBezTo>
                      <a:pt x="133" y="651"/>
                      <a:pt x="182" y="628"/>
                      <a:pt x="233" y="628"/>
                    </a:cubicBezTo>
                    <a:cubicBezTo>
                      <a:pt x="274" y="628"/>
                      <a:pt x="313" y="642"/>
                      <a:pt x="344" y="667"/>
                    </a:cubicBezTo>
                    <a:cubicBezTo>
                      <a:pt x="355" y="657"/>
                      <a:pt x="366" y="647"/>
                      <a:pt x="377" y="638"/>
                    </a:cubicBezTo>
                    <a:close/>
                    <a:moveTo>
                      <a:pt x="2052" y="1567"/>
                    </a:moveTo>
                    <a:cubicBezTo>
                      <a:pt x="2030" y="1534"/>
                      <a:pt x="2004" y="1506"/>
                      <a:pt x="1974" y="1492"/>
                    </a:cubicBezTo>
                    <a:cubicBezTo>
                      <a:pt x="1885" y="1451"/>
                      <a:pt x="1720" y="1449"/>
                      <a:pt x="1720" y="1449"/>
                    </a:cubicBezTo>
                    <a:cubicBezTo>
                      <a:pt x="1720" y="1449"/>
                      <a:pt x="1614" y="1537"/>
                      <a:pt x="1533" y="1602"/>
                    </a:cubicBezTo>
                    <a:cubicBezTo>
                      <a:pt x="1530" y="1604"/>
                      <a:pt x="1527" y="1604"/>
                      <a:pt x="1524" y="1602"/>
                    </a:cubicBezTo>
                    <a:cubicBezTo>
                      <a:pt x="1464" y="1555"/>
                      <a:pt x="1337" y="1449"/>
                      <a:pt x="1337" y="1449"/>
                    </a:cubicBezTo>
                    <a:cubicBezTo>
                      <a:pt x="1337" y="1449"/>
                      <a:pt x="1197" y="1451"/>
                      <a:pt x="1105" y="1483"/>
                    </a:cubicBezTo>
                    <a:cubicBezTo>
                      <a:pt x="1123" y="1499"/>
                      <a:pt x="1139" y="1519"/>
                      <a:pt x="1155" y="1543"/>
                    </a:cubicBezTo>
                    <a:cubicBezTo>
                      <a:pt x="1208" y="1621"/>
                      <a:pt x="1235" y="1714"/>
                      <a:pt x="1235" y="1811"/>
                    </a:cubicBezTo>
                    <a:cubicBezTo>
                      <a:pt x="1235" y="1814"/>
                      <a:pt x="1235" y="1814"/>
                      <a:pt x="1235" y="1814"/>
                    </a:cubicBezTo>
                    <a:cubicBezTo>
                      <a:pt x="1235" y="1821"/>
                      <a:pt x="1234" y="1829"/>
                      <a:pt x="1231" y="1836"/>
                    </a:cubicBezTo>
                    <a:cubicBezTo>
                      <a:pt x="2102" y="1836"/>
                      <a:pt x="2102" y="1836"/>
                      <a:pt x="2102" y="1836"/>
                    </a:cubicBezTo>
                    <a:cubicBezTo>
                      <a:pt x="2114" y="1836"/>
                      <a:pt x="2124" y="1826"/>
                      <a:pt x="2124" y="1814"/>
                    </a:cubicBezTo>
                    <a:cubicBezTo>
                      <a:pt x="2124" y="1811"/>
                      <a:pt x="2124" y="1811"/>
                      <a:pt x="2124" y="1811"/>
                    </a:cubicBezTo>
                    <a:cubicBezTo>
                      <a:pt x="2124" y="1724"/>
                      <a:pt x="2100" y="1639"/>
                      <a:pt x="2052" y="1567"/>
                    </a:cubicBezTo>
                    <a:close/>
                    <a:moveTo>
                      <a:pt x="1191" y="1811"/>
                    </a:moveTo>
                    <a:cubicBezTo>
                      <a:pt x="1191" y="1724"/>
                      <a:pt x="1167" y="1639"/>
                      <a:pt x="1119" y="1567"/>
                    </a:cubicBezTo>
                    <a:cubicBezTo>
                      <a:pt x="1097" y="1534"/>
                      <a:pt x="1071" y="1506"/>
                      <a:pt x="1042" y="1492"/>
                    </a:cubicBezTo>
                    <a:cubicBezTo>
                      <a:pt x="952" y="1451"/>
                      <a:pt x="787" y="1449"/>
                      <a:pt x="787" y="1449"/>
                    </a:cubicBezTo>
                    <a:cubicBezTo>
                      <a:pt x="787" y="1449"/>
                      <a:pt x="787" y="1449"/>
                      <a:pt x="787" y="1449"/>
                    </a:cubicBezTo>
                    <a:cubicBezTo>
                      <a:pt x="787" y="1449"/>
                      <a:pt x="722" y="1541"/>
                      <a:pt x="592" y="1541"/>
                    </a:cubicBezTo>
                    <a:cubicBezTo>
                      <a:pt x="599" y="1541"/>
                      <a:pt x="599" y="1541"/>
                      <a:pt x="599" y="1541"/>
                    </a:cubicBezTo>
                    <a:cubicBezTo>
                      <a:pt x="469" y="1541"/>
                      <a:pt x="404" y="1449"/>
                      <a:pt x="404" y="1449"/>
                    </a:cubicBezTo>
                    <a:cubicBezTo>
                      <a:pt x="404" y="1449"/>
                      <a:pt x="404" y="1449"/>
                      <a:pt x="404" y="1449"/>
                    </a:cubicBezTo>
                    <a:cubicBezTo>
                      <a:pt x="404" y="1449"/>
                      <a:pt x="239" y="1451"/>
                      <a:pt x="150" y="1492"/>
                    </a:cubicBezTo>
                    <a:cubicBezTo>
                      <a:pt x="120" y="1506"/>
                      <a:pt x="94" y="1534"/>
                      <a:pt x="72" y="1567"/>
                    </a:cubicBezTo>
                    <a:cubicBezTo>
                      <a:pt x="24" y="1639"/>
                      <a:pt x="0" y="1724"/>
                      <a:pt x="0" y="1811"/>
                    </a:cubicBezTo>
                    <a:cubicBezTo>
                      <a:pt x="0" y="1814"/>
                      <a:pt x="0" y="1814"/>
                      <a:pt x="0" y="1814"/>
                    </a:cubicBezTo>
                    <a:cubicBezTo>
                      <a:pt x="0" y="1826"/>
                      <a:pt x="10" y="1836"/>
                      <a:pt x="22" y="1836"/>
                    </a:cubicBezTo>
                    <a:cubicBezTo>
                      <a:pt x="1169" y="1836"/>
                      <a:pt x="1169" y="1836"/>
                      <a:pt x="1169" y="1836"/>
                    </a:cubicBezTo>
                    <a:cubicBezTo>
                      <a:pt x="1181" y="1836"/>
                      <a:pt x="1191" y="1826"/>
                      <a:pt x="1191" y="1814"/>
                    </a:cubicBezTo>
                    <a:lnTo>
                      <a:pt x="1191" y="1811"/>
                    </a:lnTo>
                    <a:close/>
                    <a:moveTo>
                      <a:pt x="1228" y="693"/>
                    </a:moveTo>
                    <a:cubicBezTo>
                      <a:pt x="1237" y="685"/>
                      <a:pt x="1238" y="671"/>
                      <a:pt x="1230" y="662"/>
                    </a:cubicBezTo>
                    <a:cubicBezTo>
                      <a:pt x="1189" y="612"/>
                      <a:pt x="1128" y="584"/>
                      <a:pt x="1063" y="584"/>
                    </a:cubicBezTo>
                    <a:cubicBezTo>
                      <a:pt x="998" y="584"/>
                      <a:pt x="937" y="612"/>
                      <a:pt x="896" y="662"/>
                    </a:cubicBezTo>
                    <a:cubicBezTo>
                      <a:pt x="888" y="671"/>
                      <a:pt x="889" y="685"/>
                      <a:pt x="898" y="693"/>
                    </a:cubicBezTo>
                    <a:cubicBezTo>
                      <a:pt x="908" y="701"/>
                      <a:pt x="921" y="699"/>
                      <a:pt x="929" y="690"/>
                    </a:cubicBezTo>
                    <a:cubicBezTo>
                      <a:pt x="963" y="651"/>
                      <a:pt x="1011" y="628"/>
                      <a:pt x="1063" y="628"/>
                    </a:cubicBezTo>
                    <a:cubicBezTo>
                      <a:pt x="1115" y="628"/>
                      <a:pt x="1163" y="651"/>
                      <a:pt x="1197" y="690"/>
                    </a:cubicBezTo>
                    <a:cubicBezTo>
                      <a:pt x="1201" y="695"/>
                      <a:pt x="1207" y="698"/>
                      <a:pt x="1214" y="698"/>
                    </a:cubicBezTo>
                    <a:cubicBezTo>
                      <a:pt x="1219" y="698"/>
                      <a:pt x="1224" y="696"/>
                      <a:pt x="1228" y="693"/>
                    </a:cubicBezTo>
                    <a:close/>
                    <a:moveTo>
                      <a:pt x="1255" y="1157"/>
                    </a:moveTo>
                    <a:cubicBezTo>
                      <a:pt x="1275" y="1207"/>
                      <a:pt x="1328" y="1336"/>
                      <a:pt x="1356" y="1362"/>
                    </a:cubicBezTo>
                    <a:cubicBezTo>
                      <a:pt x="1358" y="1363"/>
                      <a:pt x="1361" y="1365"/>
                      <a:pt x="1363" y="1367"/>
                    </a:cubicBezTo>
                    <a:cubicBezTo>
                      <a:pt x="1363" y="1414"/>
                      <a:pt x="1363" y="1414"/>
                      <a:pt x="1363" y="1414"/>
                    </a:cubicBezTo>
                    <a:cubicBezTo>
                      <a:pt x="1365" y="1415"/>
                      <a:pt x="1365" y="1415"/>
                      <a:pt x="1365" y="1415"/>
                    </a:cubicBezTo>
                    <a:cubicBezTo>
                      <a:pt x="1365" y="1416"/>
                      <a:pt x="1383" y="1430"/>
                      <a:pt x="1407" y="1450"/>
                    </a:cubicBezTo>
                    <a:cubicBezTo>
                      <a:pt x="1407" y="1399"/>
                      <a:pt x="1407" y="1399"/>
                      <a:pt x="1407" y="1399"/>
                    </a:cubicBezTo>
                    <a:cubicBezTo>
                      <a:pt x="1444" y="1422"/>
                      <a:pt x="1492" y="1445"/>
                      <a:pt x="1528" y="1445"/>
                    </a:cubicBezTo>
                    <a:cubicBezTo>
                      <a:pt x="1565" y="1445"/>
                      <a:pt x="1613" y="1422"/>
                      <a:pt x="1649" y="1399"/>
                    </a:cubicBezTo>
                    <a:cubicBezTo>
                      <a:pt x="1649" y="1450"/>
                      <a:pt x="1649" y="1450"/>
                      <a:pt x="1649" y="1450"/>
                    </a:cubicBezTo>
                    <a:cubicBezTo>
                      <a:pt x="1675" y="1430"/>
                      <a:pt x="1692" y="1415"/>
                      <a:pt x="1692" y="1415"/>
                    </a:cubicBezTo>
                    <a:cubicBezTo>
                      <a:pt x="1693" y="1414"/>
                      <a:pt x="1693" y="1414"/>
                      <a:pt x="1693" y="1414"/>
                    </a:cubicBezTo>
                    <a:cubicBezTo>
                      <a:pt x="1693" y="1368"/>
                      <a:pt x="1693" y="1368"/>
                      <a:pt x="1693" y="1368"/>
                    </a:cubicBezTo>
                    <a:cubicBezTo>
                      <a:pt x="1696" y="1365"/>
                      <a:pt x="1699" y="1363"/>
                      <a:pt x="1701" y="1362"/>
                    </a:cubicBezTo>
                    <a:cubicBezTo>
                      <a:pt x="1729" y="1336"/>
                      <a:pt x="1782" y="1207"/>
                      <a:pt x="1802" y="1157"/>
                    </a:cubicBezTo>
                    <a:cubicBezTo>
                      <a:pt x="1837" y="1135"/>
                      <a:pt x="1846" y="1097"/>
                      <a:pt x="1849" y="1081"/>
                    </a:cubicBezTo>
                    <a:cubicBezTo>
                      <a:pt x="1849" y="1079"/>
                      <a:pt x="1849" y="1078"/>
                      <a:pt x="1849" y="1076"/>
                    </a:cubicBezTo>
                    <a:cubicBezTo>
                      <a:pt x="1796" y="1101"/>
                      <a:pt x="1796" y="1101"/>
                      <a:pt x="1796" y="1101"/>
                    </a:cubicBezTo>
                    <a:cubicBezTo>
                      <a:pt x="1791" y="1109"/>
                      <a:pt x="1784" y="1117"/>
                      <a:pt x="1774" y="1122"/>
                    </a:cubicBezTo>
                    <a:cubicBezTo>
                      <a:pt x="1769" y="1124"/>
                      <a:pt x="1766" y="1129"/>
                      <a:pt x="1764" y="1134"/>
                    </a:cubicBezTo>
                    <a:cubicBezTo>
                      <a:pt x="1731" y="1217"/>
                      <a:pt x="1687" y="1315"/>
                      <a:pt x="1671" y="1329"/>
                    </a:cubicBezTo>
                    <a:cubicBezTo>
                      <a:pt x="1644" y="1353"/>
                      <a:pt x="1568" y="1401"/>
                      <a:pt x="1528" y="1401"/>
                    </a:cubicBezTo>
                    <a:cubicBezTo>
                      <a:pt x="1489" y="1401"/>
                      <a:pt x="1413" y="1353"/>
                      <a:pt x="1385" y="1329"/>
                    </a:cubicBezTo>
                    <a:cubicBezTo>
                      <a:pt x="1370" y="1315"/>
                      <a:pt x="1326" y="1217"/>
                      <a:pt x="1293" y="1134"/>
                    </a:cubicBezTo>
                    <a:cubicBezTo>
                      <a:pt x="1291" y="1129"/>
                      <a:pt x="1287" y="1124"/>
                      <a:pt x="1283" y="1122"/>
                    </a:cubicBezTo>
                    <a:cubicBezTo>
                      <a:pt x="1273" y="1117"/>
                      <a:pt x="1266" y="1109"/>
                      <a:pt x="1261" y="1101"/>
                    </a:cubicBezTo>
                    <a:cubicBezTo>
                      <a:pt x="1208" y="1076"/>
                      <a:pt x="1208" y="1076"/>
                      <a:pt x="1208" y="1076"/>
                    </a:cubicBezTo>
                    <a:cubicBezTo>
                      <a:pt x="1208" y="1078"/>
                      <a:pt x="1208" y="1080"/>
                      <a:pt x="1208" y="1083"/>
                    </a:cubicBezTo>
                    <a:cubicBezTo>
                      <a:pt x="1212" y="1102"/>
                      <a:pt x="1222" y="1136"/>
                      <a:pt x="1255" y="1157"/>
                    </a:cubicBezTo>
                    <a:close/>
                    <a:moveTo>
                      <a:pt x="322" y="1157"/>
                    </a:moveTo>
                    <a:cubicBezTo>
                      <a:pt x="342" y="1207"/>
                      <a:pt x="395" y="1336"/>
                      <a:pt x="423" y="1362"/>
                    </a:cubicBezTo>
                    <a:cubicBezTo>
                      <a:pt x="425" y="1363"/>
                      <a:pt x="428" y="1365"/>
                      <a:pt x="431" y="1368"/>
                    </a:cubicBezTo>
                    <a:cubicBezTo>
                      <a:pt x="431" y="1411"/>
                      <a:pt x="431" y="1411"/>
                      <a:pt x="431" y="1411"/>
                    </a:cubicBezTo>
                    <a:cubicBezTo>
                      <a:pt x="440" y="1423"/>
                      <a:pt x="440" y="1423"/>
                      <a:pt x="440" y="1423"/>
                    </a:cubicBezTo>
                    <a:cubicBezTo>
                      <a:pt x="441" y="1425"/>
                      <a:pt x="452" y="1440"/>
                      <a:pt x="475" y="1457"/>
                    </a:cubicBezTo>
                    <a:cubicBezTo>
                      <a:pt x="475" y="1399"/>
                      <a:pt x="475" y="1399"/>
                      <a:pt x="475" y="1399"/>
                    </a:cubicBezTo>
                    <a:cubicBezTo>
                      <a:pt x="511" y="1422"/>
                      <a:pt x="559" y="1445"/>
                      <a:pt x="595" y="1445"/>
                    </a:cubicBezTo>
                    <a:cubicBezTo>
                      <a:pt x="632" y="1445"/>
                      <a:pt x="680" y="1422"/>
                      <a:pt x="717" y="1399"/>
                    </a:cubicBezTo>
                    <a:cubicBezTo>
                      <a:pt x="717" y="1457"/>
                      <a:pt x="717" y="1457"/>
                      <a:pt x="717" y="1457"/>
                    </a:cubicBezTo>
                    <a:cubicBezTo>
                      <a:pt x="740" y="1440"/>
                      <a:pt x="751" y="1424"/>
                      <a:pt x="751" y="1423"/>
                    </a:cubicBezTo>
                    <a:cubicBezTo>
                      <a:pt x="761" y="1411"/>
                      <a:pt x="761" y="1411"/>
                      <a:pt x="761" y="1411"/>
                    </a:cubicBezTo>
                    <a:cubicBezTo>
                      <a:pt x="761" y="1367"/>
                      <a:pt x="761" y="1367"/>
                      <a:pt x="761" y="1367"/>
                    </a:cubicBezTo>
                    <a:cubicBezTo>
                      <a:pt x="763" y="1365"/>
                      <a:pt x="766" y="1363"/>
                      <a:pt x="768" y="1362"/>
                    </a:cubicBezTo>
                    <a:cubicBezTo>
                      <a:pt x="796" y="1336"/>
                      <a:pt x="849" y="1207"/>
                      <a:pt x="869" y="1157"/>
                    </a:cubicBezTo>
                    <a:cubicBezTo>
                      <a:pt x="904" y="1135"/>
                      <a:pt x="913" y="1097"/>
                      <a:pt x="916" y="1081"/>
                    </a:cubicBezTo>
                    <a:cubicBezTo>
                      <a:pt x="916" y="1079"/>
                      <a:pt x="916" y="1078"/>
                      <a:pt x="916" y="1076"/>
                    </a:cubicBezTo>
                    <a:cubicBezTo>
                      <a:pt x="863" y="1101"/>
                      <a:pt x="863" y="1101"/>
                      <a:pt x="863" y="1101"/>
                    </a:cubicBezTo>
                    <a:cubicBezTo>
                      <a:pt x="858" y="1109"/>
                      <a:pt x="851" y="1117"/>
                      <a:pt x="841" y="1122"/>
                    </a:cubicBezTo>
                    <a:cubicBezTo>
                      <a:pt x="836" y="1124"/>
                      <a:pt x="833" y="1129"/>
                      <a:pt x="831" y="1134"/>
                    </a:cubicBezTo>
                    <a:cubicBezTo>
                      <a:pt x="798" y="1217"/>
                      <a:pt x="754" y="1315"/>
                      <a:pt x="738" y="1329"/>
                    </a:cubicBezTo>
                    <a:cubicBezTo>
                      <a:pt x="711" y="1353"/>
                      <a:pt x="635" y="1401"/>
                      <a:pt x="595" y="1401"/>
                    </a:cubicBezTo>
                    <a:cubicBezTo>
                      <a:pt x="556" y="1401"/>
                      <a:pt x="480" y="1353"/>
                      <a:pt x="452" y="1329"/>
                    </a:cubicBezTo>
                    <a:cubicBezTo>
                      <a:pt x="437" y="1315"/>
                      <a:pt x="393" y="1217"/>
                      <a:pt x="360" y="1134"/>
                    </a:cubicBezTo>
                    <a:cubicBezTo>
                      <a:pt x="358" y="1129"/>
                      <a:pt x="354" y="1124"/>
                      <a:pt x="350" y="1122"/>
                    </a:cubicBezTo>
                    <a:cubicBezTo>
                      <a:pt x="339" y="1117"/>
                      <a:pt x="333" y="1109"/>
                      <a:pt x="328" y="1101"/>
                    </a:cubicBezTo>
                    <a:cubicBezTo>
                      <a:pt x="275" y="1076"/>
                      <a:pt x="275" y="1076"/>
                      <a:pt x="275" y="1076"/>
                    </a:cubicBezTo>
                    <a:cubicBezTo>
                      <a:pt x="275" y="1078"/>
                      <a:pt x="275" y="1080"/>
                      <a:pt x="275" y="1083"/>
                    </a:cubicBezTo>
                    <a:cubicBezTo>
                      <a:pt x="279" y="1102"/>
                      <a:pt x="289" y="1136"/>
                      <a:pt x="322" y="115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 name="Freeform 21">
                <a:extLst>
                  <a:ext uri="{FF2B5EF4-FFF2-40B4-BE49-F238E27FC236}">
                    <a16:creationId xmlns:a16="http://schemas.microsoft.com/office/drawing/2014/main" id="{B2C66826-7B41-6D39-2243-3B535602962F}"/>
                  </a:ext>
                </a:extLst>
              </p:cNvPr>
              <p:cNvSpPr>
                <a:spLocks noEditPoints="1"/>
              </p:cNvSpPr>
              <p:nvPr/>
            </p:nvSpPr>
            <p:spPr bwMode="auto">
              <a:xfrm>
                <a:off x="5540884" y="3203448"/>
                <a:ext cx="1150239" cy="575691"/>
              </a:xfrm>
              <a:custGeom>
                <a:avLst/>
                <a:gdLst>
                  <a:gd name="T0" fmla="*/ 1542 w 1612"/>
                  <a:gd name="T1" fmla="*/ 422 h 806"/>
                  <a:gd name="T2" fmla="*/ 1542 w 1612"/>
                  <a:gd name="T3" fmla="*/ 421 h 806"/>
                  <a:gd name="T4" fmla="*/ 1508 w 1612"/>
                  <a:gd name="T5" fmla="*/ 469 h 806"/>
                  <a:gd name="T6" fmla="*/ 1505 w 1612"/>
                  <a:gd name="T7" fmla="*/ 470 h 806"/>
                  <a:gd name="T8" fmla="*/ 1485 w 1612"/>
                  <a:gd name="T9" fmla="*/ 470 h 806"/>
                  <a:gd name="T10" fmla="*/ 1483 w 1612"/>
                  <a:gd name="T11" fmla="*/ 470 h 806"/>
                  <a:gd name="T12" fmla="*/ 1074 w 1612"/>
                  <a:gd name="T13" fmla="*/ 253 h 806"/>
                  <a:gd name="T14" fmla="*/ 1070 w 1612"/>
                  <a:gd name="T15" fmla="*/ 253 h 806"/>
                  <a:gd name="T16" fmla="*/ 949 w 1612"/>
                  <a:gd name="T17" fmla="*/ 445 h 806"/>
                  <a:gd name="T18" fmla="*/ 949 w 1612"/>
                  <a:gd name="T19" fmla="*/ 444 h 806"/>
                  <a:gd name="T20" fmla="*/ 932 w 1612"/>
                  <a:gd name="T21" fmla="*/ 315 h 806"/>
                  <a:gd name="T22" fmla="*/ 1242 w 1612"/>
                  <a:gd name="T23" fmla="*/ 0 h 806"/>
                  <a:gd name="T24" fmla="*/ 1553 w 1612"/>
                  <a:gd name="T25" fmla="*/ 315 h 806"/>
                  <a:gd name="T26" fmla="*/ 1542 w 1612"/>
                  <a:gd name="T27" fmla="*/ 422 h 806"/>
                  <a:gd name="T28" fmla="*/ 619 w 1612"/>
                  <a:gd name="T29" fmla="*/ 317 h 806"/>
                  <a:gd name="T30" fmla="*/ 310 w 1612"/>
                  <a:gd name="T31" fmla="*/ 0 h 806"/>
                  <a:gd name="T32" fmla="*/ 0 w 1612"/>
                  <a:gd name="T33" fmla="*/ 317 h 806"/>
                  <a:gd name="T34" fmla="*/ 12 w 1612"/>
                  <a:gd name="T35" fmla="*/ 427 h 806"/>
                  <a:gd name="T36" fmla="*/ 12 w 1612"/>
                  <a:gd name="T37" fmla="*/ 428 h 806"/>
                  <a:gd name="T38" fmla="*/ 43 w 1612"/>
                  <a:gd name="T39" fmla="*/ 467 h 806"/>
                  <a:gd name="T40" fmla="*/ 64 w 1612"/>
                  <a:gd name="T41" fmla="*/ 469 h 806"/>
                  <a:gd name="T42" fmla="*/ 140 w 1612"/>
                  <a:gd name="T43" fmla="*/ 254 h 806"/>
                  <a:gd name="T44" fmla="*/ 547 w 1612"/>
                  <a:gd name="T45" fmla="*/ 240 h 806"/>
                  <a:gd name="T46" fmla="*/ 550 w 1612"/>
                  <a:gd name="T47" fmla="*/ 473 h 806"/>
                  <a:gd name="T48" fmla="*/ 573 w 1612"/>
                  <a:gd name="T49" fmla="*/ 473 h 806"/>
                  <a:gd name="T50" fmla="*/ 608 w 1612"/>
                  <a:gd name="T51" fmla="*/ 424 h 806"/>
                  <a:gd name="T52" fmla="*/ 608 w 1612"/>
                  <a:gd name="T53" fmla="*/ 424 h 806"/>
                  <a:gd name="T54" fmla="*/ 619 w 1612"/>
                  <a:gd name="T55" fmla="*/ 317 h 806"/>
                  <a:gd name="T56" fmla="*/ 1033 w 1612"/>
                  <a:gd name="T57" fmla="*/ 780 h 806"/>
                  <a:gd name="T58" fmla="*/ 946 w 1612"/>
                  <a:gd name="T59" fmla="*/ 612 h 806"/>
                  <a:gd name="T60" fmla="*/ 872 w 1612"/>
                  <a:gd name="T61" fmla="*/ 756 h 806"/>
                  <a:gd name="T62" fmla="*/ 949 w 1612"/>
                  <a:gd name="T63" fmla="*/ 806 h 806"/>
                  <a:gd name="T64" fmla="*/ 1033 w 1612"/>
                  <a:gd name="T65" fmla="*/ 799 h 806"/>
                  <a:gd name="T66" fmla="*/ 1033 w 1612"/>
                  <a:gd name="T67" fmla="*/ 780 h 806"/>
                  <a:gd name="T68" fmla="*/ 1538 w 1612"/>
                  <a:gd name="T69" fmla="*/ 613 h 806"/>
                  <a:gd name="T70" fmla="*/ 1451 w 1612"/>
                  <a:gd name="T71" fmla="*/ 781 h 806"/>
                  <a:gd name="T72" fmla="*/ 1451 w 1612"/>
                  <a:gd name="T73" fmla="*/ 799 h 806"/>
                  <a:gd name="T74" fmla="*/ 1536 w 1612"/>
                  <a:gd name="T75" fmla="*/ 806 h 806"/>
                  <a:gd name="T76" fmla="*/ 1612 w 1612"/>
                  <a:gd name="T77" fmla="*/ 756 h 806"/>
                  <a:gd name="T78" fmla="*/ 1538 w 1612"/>
                  <a:gd name="T79" fmla="*/ 613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12" h="806">
                    <a:moveTo>
                      <a:pt x="1542" y="422"/>
                    </a:moveTo>
                    <a:cubicBezTo>
                      <a:pt x="1542" y="422"/>
                      <a:pt x="1542" y="421"/>
                      <a:pt x="1542" y="421"/>
                    </a:cubicBezTo>
                    <a:cubicBezTo>
                      <a:pt x="1541" y="422"/>
                      <a:pt x="1536" y="437"/>
                      <a:pt x="1508" y="469"/>
                    </a:cubicBezTo>
                    <a:cubicBezTo>
                      <a:pt x="1507" y="470"/>
                      <a:pt x="1506" y="470"/>
                      <a:pt x="1505" y="470"/>
                    </a:cubicBezTo>
                    <a:cubicBezTo>
                      <a:pt x="1485" y="470"/>
                      <a:pt x="1485" y="470"/>
                      <a:pt x="1485" y="470"/>
                    </a:cubicBezTo>
                    <a:cubicBezTo>
                      <a:pt x="1484" y="470"/>
                      <a:pt x="1484" y="470"/>
                      <a:pt x="1483" y="470"/>
                    </a:cubicBezTo>
                    <a:cubicBezTo>
                      <a:pt x="1074" y="253"/>
                      <a:pt x="1074" y="253"/>
                      <a:pt x="1074" y="253"/>
                    </a:cubicBezTo>
                    <a:cubicBezTo>
                      <a:pt x="1073" y="253"/>
                      <a:pt x="1071" y="253"/>
                      <a:pt x="1070" y="253"/>
                    </a:cubicBezTo>
                    <a:cubicBezTo>
                      <a:pt x="979" y="283"/>
                      <a:pt x="980" y="472"/>
                      <a:pt x="949" y="445"/>
                    </a:cubicBezTo>
                    <a:cubicBezTo>
                      <a:pt x="949" y="444"/>
                      <a:pt x="949" y="444"/>
                      <a:pt x="949" y="444"/>
                    </a:cubicBezTo>
                    <a:cubicBezTo>
                      <a:pt x="936" y="410"/>
                      <a:pt x="932" y="354"/>
                      <a:pt x="932" y="315"/>
                    </a:cubicBezTo>
                    <a:cubicBezTo>
                      <a:pt x="932" y="141"/>
                      <a:pt x="1067" y="0"/>
                      <a:pt x="1242" y="0"/>
                    </a:cubicBezTo>
                    <a:cubicBezTo>
                      <a:pt x="1418" y="0"/>
                      <a:pt x="1553" y="141"/>
                      <a:pt x="1553" y="315"/>
                    </a:cubicBezTo>
                    <a:cubicBezTo>
                      <a:pt x="1553" y="353"/>
                      <a:pt x="1554" y="389"/>
                      <a:pt x="1542" y="422"/>
                    </a:cubicBezTo>
                    <a:close/>
                    <a:moveTo>
                      <a:pt x="619" y="317"/>
                    </a:moveTo>
                    <a:cubicBezTo>
                      <a:pt x="619" y="142"/>
                      <a:pt x="485" y="0"/>
                      <a:pt x="310" y="0"/>
                    </a:cubicBezTo>
                    <a:cubicBezTo>
                      <a:pt x="134" y="0"/>
                      <a:pt x="0" y="142"/>
                      <a:pt x="0" y="317"/>
                    </a:cubicBezTo>
                    <a:cubicBezTo>
                      <a:pt x="0" y="356"/>
                      <a:pt x="0" y="393"/>
                      <a:pt x="12" y="427"/>
                    </a:cubicBezTo>
                    <a:cubicBezTo>
                      <a:pt x="12" y="428"/>
                      <a:pt x="12" y="428"/>
                      <a:pt x="12" y="428"/>
                    </a:cubicBezTo>
                    <a:cubicBezTo>
                      <a:pt x="43" y="456"/>
                      <a:pt x="43" y="467"/>
                      <a:pt x="43" y="467"/>
                    </a:cubicBezTo>
                    <a:cubicBezTo>
                      <a:pt x="64" y="469"/>
                      <a:pt x="64" y="469"/>
                      <a:pt x="64" y="469"/>
                    </a:cubicBezTo>
                    <a:cubicBezTo>
                      <a:pt x="64" y="469"/>
                      <a:pt x="47" y="283"/>
                      <a:pt x="140" y="254"/>
                    </a:cubicBezTo>
                    <a:cubicBezTo>
                      <a:pt x="140" y="254"/>
                      <a:pt x="512" y="418"/>
                      <a:pt x="547" y="240"/>
                    </a:cubicBezTo>
                    <a:cubicBezTo>
                      <a:pt x="550" y="462"/>
                      <a:pt x="550" y="473"/>
                      <a:pt x="550" y="473"/>
                    </a:cubicBezTo>
                    <a:cubicBezTo>
                      <a:pt x="573" y="473"/>
                      <a:pt x="573" y="473"/>
                      <a:pt x="573" y="473"/>
                    </a:cubicBezTo>
                    <a:cubicBezTo>
                      <a:pt x="602" y="440"/>
                      <a:pt x="607" y="424"/>
                      <a:pt x="608" y="424"/>
                    </a:cubicBezTo>
                    <a:cubicBezTo>
                      <a:pt x="608" y="424"/>
                      <a:pt x="608" y="424"/>
                      <a:pt x="608" y="424"/>
                    </a:cubicBezTo>
                    <a:cubicBezTo>
                      <a:pt x="620" y="391"/>
                      <a:pt x="619" y="355"/>
                      <a:pt x="619" y="317"/>
                    </a:cubicBezTo>
                    <a:close/>
                    <a:moveTo>
                      <a:pt x="1033" y="780"/>
                    </a:moveTo>
                    <a:cubicBezTo>
                      <a:pt x="1011" y="755"/>
                      <a:pt x="982" y="699"/>
                      <a:pt x="946" y="612"/>
                    </a:cubicBezTo>
                    <a:cubicBezTo>
                      <a:pt x="943" y="671"/>
                      <a:pt x="933" y="750"/>
                      <a:pt x="872" y="756"/>
                    </a:cubicBezTo>
                    <a:cubicBezTo>
                      <a:pt x="899" y="783"/>
                      <a:pt x="925" y="798"/>
                      <a:pt x="949" y="806"/>
                    </a:cubicBezTo>
                    <a:cubicBezTo>
                      <a:pt x="984" y="802"/>
                      <a:pt x="1015" y="800"/>
                      <a:pt x="1033" y="799"/>
                    </a:cubicBezTo>
                    <a:lnTo>
                      <a:pt x="1033" y="780"/>
                    </a:lnTo>
                    <a:close/>
                    <a:moveTo>
                      <a:pt x="1538" y="613"/>
                    </a:moveTo>
                    <a:cubicBezTo>
                      <a:pt x="1502" y="699"/>
                      <a:pt x="1473" y="755"/>
                      <a:pt x="1451" y="781"/>
                    </a:cubicBezTo>
                    <a:cubicBezTo>
                      <a:pt x="1451" y="799"/>
                      <a:pt x="1451" y="799"/>
                      <a:pt x="1451" y="799"/>
                    </a:cubicBezTo>
                    <a:cubicBezTo>
                      <a:pt x="1469" y="800"/>
                      <a:pt x="1501" y="802"/>
                      <a:pt x="1536" y="806"/>
                    </a:cubicBezTo>
                    <a:cubicBezTo>
                      <a:pt x="1560" y="798"/>
                      <a:pt x="1586" y="783"/>
                      <a:pt x="1612" y="756"/>
                    </a:cubicBezTo>
                    <a:cubicBezTo>
                      <a:pt x="1552" y="750"/>
                      <a:pt x="1542" y="672"/>
                      <a:pt x="1538" y="613"/>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231" name="bcgIcons_Community Development">
            <a:extLst>
              <a:ext uri="{FF2B5EF4-FFF2-40B4-BE49-F238E27FC236}">
                <a16:creationId xmlns:a16="http://schemas.microsoft.com/office/drawing/2014/main" id="{2FD1C2C6-94FF-36DD-FBD3-B199E379697C}"/>
              </a:ext>
            </a:extLst>
          </p:cNvPr>
          <p:cNvGrpSpPr>
            <a:grpSpLocks noChangeAspect="1"/>
          </p:cNvGrpSpPr>
          <p:nvPr/>
        </p:nvGrpSpPr>
        <p:grpSpPr>
          <a:xfrm>
            <a:off x="5484957" y="4852810"/>
            <a:ext cx="412886" cy="412488"/>
            <a:chOff x="5272088" y="2305050"/>
            <a:chExt cx="1646237" cy="1644650"/>
          </a:xfrm>
        </p:grpSpPr>
        <p:sp>
          <p:nvSpPr>
            <p:cNvPr id="232" name="AutoShape 139">
              <a:extLst>
                <a:ext uri="{FF2B5EF4-FFF2-40B4-BE49-F238E27FC236}">
                  <a16:creationId xmlns:a16="http://schemas.microsoft.com/office/drawing/2014/main" id="{1FD7ABB7-80D9-FBDD-4576-6F8B8580D183}"/>
                </a:ext>
              </a:extLst>
            </p:cNvPr>
            <p:cNvSpPr>
              <a:spLocks noChangeAspect="1" noChangeArrowheads="1" noTextEdit="1"/>
            </p:cNvSpPr>
            <p:nvPr/>
          </p:nvSpPr>
          <p:spPr bwMode="auto">
            <a:xfrm>
              <a:off x="5272088" y="2305050"/>
              <a:ext cx="1646237"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233" name="Group 232">
              <a:extLst>
                <a:ext uri="{FF2B5EF4-FFF2-40B4-BE49-F238E27FC236}">
                  <a16:creationId xmlns:a16="http://schemas.microsoft.com/office/drawing/2014/main" id="{7A0B633B-E765-0DA9-369F-19E60214A65C}"/>
                </a:ext>
              </a:extLst>
            </p:cNvPr>
            <p:cNvGrpSpPr/>
            <p:nvPr/>
          </p:nvGrpSpPr>
          <p:grpSpPr>
            <a:xfrm>
              <a:off x="5356309" y="2424113"/>
              <a:ext cx="1477801" cy="1406525"/>
              <a:chOff x="2847976" y="2305051"/>
              <a:chExt cx="1476375" cy="1406525"/>
            </a:xfrm>
          </p:grpSpPr>
          <p:sp>
            <p:nvSpPr>
              <p:cNvPr id="234" name="Freeform 141">
                <a:extLst>
                  <a:ext uri="{FF2B5EF4-FFF2-40B4-BE49-F238E27FC236}">
                    <a16:creationId xmlns:a16="http://schemas.microsoft.com/office/drawing/2014/main" id="{CE5849FA-AACA-5B3D-5F0D-7866C525B6DD}"/>
                  </a:ext>
                </a:extLst>
              </p:cNvPr>
              <p:cNvSpPr>
                <a:spLocks noEditPoints="1"/>
              </p:cNvSpPr>
              <p:nvPr/>
            </p:nvSpPr>
            <p:spPr bwMode="auto">
              <a:xfrm>
                <a:off x="3313113" y="2305051"/>
                <a:ext cx="544513" cy="1406525"/>
              </a:xfrm>
              <a:custGeom>
                <a:avLst/>
                <a:gdLst>
                  <a:gd name="T0" fmla="*/ 764 w 764"/>
                  <a:gd name="T1" fmla="*/ 975 h 1975"/>
                  <a:gd name="T2" fmla="*/ 746 w 764"/>
                  <a:gd name="T3" fmla="*/ 876 h 1975"/>
                  <a:gd name="T4" fmla="*/ 676 w 764"/>
                  <a:gd name="T5" fmla="*/ 857 h 1975"/>
                  <a:gd name="T6" fmla="*/ 669 w 764"/>
                  <a:gd name="T7" fmla="*/ 739 h 1975"/>
                  <a:gd name="T8" fmla="*/ 627 w 764"/>
                  <a:gd name="T9" fmla="*/ 699 h 1975"/>
                  <a:gd name="T10" fmla="*/ 581 w 764"/>
                  <a:gd name="T11" fmla="*/ 665 h 1975"/>
                  <a:gd name="T12" fmla="*/ 468 w 764"/>
                  <a:gd name="T13" fmla="*/ 690 h 1975"/>
                  <a:gd name="T14" fmla="*/ 432 w 764"/>
                  <a:gd name="T15" fmla="*/ 613 h 1975"/>
                  <a:gd name="T16" fmla="*/ 332 w 764"/>
                  <a:gd name="T17" fmla="*/ 613 h 1975"/>
                  <a:gd name="T18" fmla="*/ 296 w 764"/>
                  <a:gd name="T19" fmla="*/ 690 h 1975"/>
                  <a:gd name="T20" fmla="*/ 184 w 764"/>
                  <a:gd name="T21" fmla="*/ 665 h 1975"/>
                  <a:gd name="T22" fmla="*/ 137 w 764"/>
                  <a:gd name="T23" fmla="*/ 699 h 1975"/>
                  <a:gd name="T24" fmla="*/ 96 w 764"/>
                  <a:gd name="T25" fmla="*/ 739 h 1975"/>
                  <a:gd name="T26" fmla="*/ 88 w 764"/>
                  <a:gd name="T27" fmla="*/ 856 h 1975"/>
                  <a:gd name="T28" fmla="*/ 18 w 764"/>
                  <a:gd name="T29" fmla="*/ 876 h 1975"/>
                  <a:gd name="T30" fmla="*/ 1 w 764"/>
                  <a:gd name="T31" fmla="*/ 974 h 1975"/>
                  <a:gd name="T32" fmla="*/ 57 w 764"/>
                  <a:gd name="T33" fmla="*/ 1016 h 1975"/>
                  <a:gd name="T34" fmla="*/ 26 w 764"/>
                  <a:gd name="T35" fmla="*/ 1130 h 1975"/>
                  <a:gd name="T36" fmla="*/ 52 w 764"/>
                  <a:gd name="T37" fmla="*/ 1182 h 1975"/>
                  <a:gd name="T38" fmla="*/ 84 w 764"/>
                  <a:gd name="T39" fmla="*/ 1230 h 1975"/>
                  <a:gd name="T40" fmla="*/ 198 w 764"/>
                  <a:gd name="T41" fmla="*/ 1253 h 1975"/>
                  <a:gd name="T42" fmla="*/ 205 w 764"/>
                  <a:gd name="T43" fmla="*/ 1330 h 1975"/>
                  <a:gd name="T44" fmla="*/ 300 w 764"/>
                  <a:gd name="T45" fmla="*/ 1364 h 1975"/>
                  <a:gd name="T46" fmla="*/ 358 w 764"/>
                  <a:gd name="T47" fmla="*/ 1306 h 1975"/>
                  <a:gd name="T48" fmla="*/ 457 w 764"/>
                  <a:gd name="T49" fmla="*/ 1366 h 1975"/>
                  <a:gd name="T50" fmla="*/ 512 w 764"/>
                  <a:gd name="T51" fmla="*/ 1350 h 1975"/>
                  <a:gd name="T52" fmla="*/ 565 w 764"/>
                  <a:gd name="T53" fmla="*/ 1327 h 1975"/>
                  <a:gd name="T54" fmla="*/ 609 w 764"/>
                  <a:gd name="T55" fmla="*/ 1218 h 1975"/>
                  <a:gd name="T56" fmla="*/ 685 w 764"/>
                  <a:gd name="T57" fmla="*/ 1224 h 1975"/>
                  <a:gd name="T58" fmla="*/ 734 w 764"/>
                  <a:gd name="T59" fmla="*/ 1137 h 1975"/>
                  <a:gd name="T60" fmla="*/ 696 w 764"/>
                  <a:gd name="T61" fmla="*/ 1079 h 1975"/>
                  <a:gd name="T62" fmla="*/ 764 w 764"/>
                  <a:gd name="T63" fmla="*/ 982 h 1975"/>
                  <a:gd name="T64" fmla="*/ 168 w 764"/>
                  <a:gd name="T65" fmla="*/ 993 h 1975"/>
                  <a:gd name="T66" fmla="*/ 596 w 764"/>
                  <a:gd name="T67" fmla="*/ 993 h 1975"/>
                  <a:gd name="T68" fmla="*/ 271 w 764"/>
                  <a:gd name="T69" fmla="*/ 396 h 1975"/>
                  <a:gd name="T70" fmla="*/ 426 w 764"/>
                  <a:gd name="T71" fmla="*/ 431 h 1975"/>
                  <a:gd name="T72" fmla="*/ 436 w 764"/>
                  <a:gd name="T73" fmla="*/ 356 h 1975"/>
                  <a:gd name="T74" fmla="*/ 525 w 764"/>
                  <a:gd name="T75" fmla="*/ 309 h 1975"/>
                  <a:gd name="T76" fmla="*/ 523 w 764"/>
                  <a:gd name="T77" fmla="*/ 255 h 1975"/>
                  <a:gd name="T78" fmla="*/ 543 w 764"/>
                  <a:gd name="T79" fmla="*/ 200 h 1975"/>
                  <a:gd name="T80" fmla="*/ 524 w 764"/>
                  <a:gd name="T81" fmla="*/ 164 h 1975"/>
                  <a:gd name="T82" fmla="*/ 515 w 764"/>
                  <a:gd name="T83" fmla="*/ 124 h 1975"/>
                  <a:gd name="T84" fmla="*/ 514 w 764"/>
                  <a:gd name="T85" fmla="*/ 81 h 1975"/>
                  <a:gd name="T86" fmla="*/ 540 w 764"/>
                  <a:gd name="T87" fmla="*/ 25 h 1975"/>
                  <a:gd name="T88" fmla="*/ 215 w 764"/>
                  <a:gd name="T89" fmla="*/ 101 h 1975"/>
                  <a:gd name="T90" fmla="*/ 271 w 764"/>
                  <a:gd name="T91" fmla="*/ 396 h 1975"/>
                  <a:gd name="T92" fmla="*/ 227 w 764"/>
                  <a:gd name="T93" fmla="*/ 1569 h 1975"/>
                  <a:gd name="T94" fmla="*/ 254 w 764"/>
                  <a:gd name="T95" fmla="*/ 1625 h 1975"/>
                  <a:gd name="T96" fmla="*/ 253 w 764"/>
                  <a:gd name="T97" fmla="*/ 1669 h 1975"/>
                  <a:gd name="T98" fmla="*/ 243 w 764"/>
                  <a:gd name="T99" fmla="*/ 1709 h 1975"/>
                  <a:gd name="T100" fmla="*/ 224 w 764"/>
                  <a:gd name="T101" fmla="*/ 1744 h 1975"/>
                  <a:gd name="T102" fmla="*/ 245 w 764"/>
                  <a:gd name="T103" fmla="*/ 1799 h 1975"/>
                  <a:gd name="T104" fmla="*/ 243 w 764"/>
                  <a:gd name="T105" fmla="*/ 1854 h 1975"/>
                  <a:gd name="T106" fmla="*/ 332 w 764"/>
                  <a:gd name="T107" fmla="*/ 1901 h 1975"/>
                  <a:gd name="T108" fmla="*/ 341 w 764"/>
                  <a:gd name="T109" fmla="*/ 1975 h 1975"/>
                  <a:gd name="T110" fmla="*/ 497 w 764"/>
                  <a:gd name="T111" fmla="*/ 1940 h 1975"/>
                  <a:gd name="T112" fmla="*/ 554 w 764"/>
                  <a:gd name="T113" fmla="*/ 1645 h 1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64" h="1975">
                    <a:moveTo>
                      <a:pt x="764" y="982"/>
                    </a:moveTo>
                    <a:cubicBezTo>
                      <a:pt x="764" y="982"/>
                      <a:pt x="764" y="982"/>
                      <a:pt x="764" y="975"/>
                    </a:cubicBezTo>
                    <a:cubicBezTo>
                      <a:pt x="762" y="953"/>
                      <a:pt x="757" y="926"/>
                      <a:pt x="757" y="925"/>
                    </a:cubicBezTo>
                    <a:cubicBezTo>
                      <a:pt x="757" y="924"/>
                      <a:pt x="752" y="898"/>
                      <a:pt x="746" y="876"/>
                    </a:cubicBezTo>
                    <a:cubicBezTo>
                      <a:pt x="746" y="876"/>
                      <a:pt x="746" y="876"/>
                      <a:pt x="744" y="869"/>
                    </a:cubicBezTo>
                    <a:cubicBezTo>
                      <a:pt x="744" y="869"/>
                      <a:pt x="744" y="869"/>
                      <a:pt x="676" y="857"/>
                    </a:cubicBezTo>
                    <a:cubicBezTo>
                      <a:pt x="667" y="839"/>
                      <a:pt x="657" y="822"/>
                      <a:pt x="645" y="807"/>
                    </a:cubicBezTo>
                    <a:cubicBezTo>
                      <a:pt x="645" y="807"/>
                      <a:pt x="645" y="807"/>
                      <a:pt x="669" y="739"/>
                    </a:cubicBezTo>
                    <a:cubicBezTo>
                      <a:pt x="669" y="739"/>
                      <a:pt x="669" y="739"/>
                      <a:pt x="664" y="733"/>
                    </a:cubicBezTo>
                    <a:cubicBezTo>
                      <a:pt x="648" y="717"/>
                      <a:pt x="628" y="700"/>
                      <a:pt x="627" y="699"/>
                    </a:cubicBezTo>
                    <a:cubicBezTo>
                      <a:pt x="626" y="698"/>
                      <a:pt x="606" y="682"/>
                      <a:pt x="587" y="669"/>
                    </a:cubicBezTo>
                    <a:cubicBezTo>
                      <a:pt x="587" y="669"/>
                      <a:pt x="587" y="669"/>
                      <a:pt x="581" y="665"/>
                    </a:cubicBezTo>
                    <a:cubicBezTo>
                      <a:pt x="581" y="665"/>
                      <a:pt x="581" y="665"/>
                      <a:pt x="511" y="704"/>
                    </a:cubicBezTo>
                    <a:cubicBezTo>
                      <a:pt x="497" y="698"/>
                      <a:pt x="483" y="693"/>
                      <a:pt x="468" y="690"/>
                    </a:cubicBezTo>
                    <a:cubicBezTo>
                      <a:pt x="468" y="690"/>
                      <a:pt x="468" y="690"/>
                      <a:pt x="440" y="613"/>
                    </a:cubicBezTo>
                    <a:cubicBezTo>
                      <a:pt x="440" y="613"/>
                      <a:pt x="440" y="613"/>
                      <a:pt x="432" y="613"/>
                    </a:cubicBezTo>
                    <a:cubicBezTo>
                      <a:pt x="409" y="610"/>
                      <a:pt x="383" y="610"/>
                      <a:pt x="382" y="610"/>
                    </a:cubicBezTo>
                    <a:cubicBezTo>
                      <a:pt x="381" y="610"/>
                      <a:pt x="354" y="610"/>
                      <a:pt x="332" y="613"/>
                    </a:cubicBezTo>
                    <a:cubicBezTo>
                      <a:pt x="332" y="613"/>
                      <a:pt x="332" y="613"/>
                      <a:pt x="325" y="613"/>
                    </a:cubicBezTo>
                    <a:cubicBezTo>
                      <a:pt x="325" y="613"/>
                      <a:pt x="325" y="613"/>
                      <a:pt x="296" y="690"/>
                    </a:cubicBezTo>
                    <a:cubicBezTo>
                      <a:pt x="282" y="693"/>
                      <a:pt x="267" y="698"/>
                      <a:pt x="253" y="704"/>
                    </a:cubicBezTo>
                    <a:cubicBezTo>
                      <a:pt x="253" y="704"/>
                      <a:pt x="253" y="704"/>
                      <a:pt x="184" y="665"/>
                    </a:cubicBezTo>
                    <a:cubicBezTo>
                      <a:pt x="184" y="665"/>
                      <a:pt x="184" y="665"/>
                      <a:pt x="177" y="669"/>
                    </a:cubicBezTo>
                    <a:cubicBezTo>
                      <a:pt x="158" y="681"/>
                      <a:pt x="138" y="698"/>
                      <a:pt x="137" y="699"/>
                    </a:cubicBezTo>
                    <a:cubicBezTo>
                      <a:pt x="136" y="700"/>
                      <a:pt x="116" y="716"/>
                      <a:pt x="101" y="733"/>
                    </a:cubicBezTo>
                    <a:cubicBezTo>
                      <a:pt x="101" y="733"/>
                      <a:pt x="101" y="733"/>
                      <a:pt x="96" y="739"/>
                    </a:cubicBezTo>
                    <a:cubicBezTo>
                      <a:pt x="96" y="739"/>
                      <a:pt x="96" y="739"/>
                      <a:pt x="119" y="807"/>
                    </a:cubicBezTo>
                    <a:cubicBezTo>
                      <a:pt x="107" y="822"/>
                      <a:pt x="97" y="839"/>
                      <a:pt x="88" y="856"/>
                    </a:cubicBezTo>
                    <a:cubicBezTo>
                      <a:pt x="88" y="856"/>
                      <a:pt x="88" y="856"/>
                      <a:pt x="20" y="869"/>
                    </a:cubicBezTo>
                    <a:cubicBezTo>
                      <a:pt x="20" y="869"/>
                      <a:pt x="20" y="869"/>
                      <a:pt x="18" y="876"/>
                    </a:cubicBezTo>
                    <a:cubicBezTo>
                      <a:pt x="12" y="898"/>
                      <a:pt x="7" y="924"/>
                      <a:pt x="6" y="925"/>
                    </a:cubicBezTo>
                    <a:cubicBezTo>
                      <a:pt x="6" y="926"/>
                      <a:pt x="2" y="952"/>
                      <a:pt x="1" y="974"/>
                    </a:cubicBezTo>
                    <a:cubicBezTo>
                      <a:pt x="1" y="974"/>
                      <a:pt x="1" y="974"/>
                      <a:pt x="0" y="982"/>
                    </a:cubicBezTo>
                    <a:cubicBezTo>
                      <a:pt x="0" y="982"/>
                      <a:pt x="0" y="982"/>
                      <a:pt x="57" y="1016"/>
                    </a:cubicBezTo>
                    <a:cubicBezTo>
                      <a:pt x="59" y="1037"/>
                      <a:pt x="62" y="1058"/>
                      <a:pt x="68" y="1079"/>
                    </a:cubicBezTo>
                    <a:cubicBezTo>
                      <a:pt x="68" y="1079"/>
                      <a:pt x="68" y="1079"/>
                      <a:pt x="26" y="1130"/>
                    </a:cubicBezTo>
                    <a:cubicBezTo>
                      <a:pt x="26" y="1130"/>
                      <a:pt x="26" y="1130"/>
                      <a:pt x="29" y="1137"/>
                    </a:cubicBezTo>
                    <a:cubicBezTo>
                      <a:pt x="38" y="1158"/>
                      <a:pt x="51" y="1181"/>
                      <a:pt x="52" y="1182"/>
                    </a:cubicBezTo>
                    <a:cubicBezTo>
                      <a:pt x="52" y="1183"/>
                      <a:pt x="65" y="1205"/>
                      <a:pt x="79" y="1224"/>
                    </a:cubicBezTo>
                    <a:cubicBezTo>
                      <a:pt x="79" y="1224"/>
                      <a:pt x="79" y="1224"/>
                      <a:pt x="84" y="1230"/>
                    </a:cubicBezTo>
                    <a:cubicBezTo>
                      <a:pt x="84" y="1230"/>
                      <a:pt x="84" y="1230"/>
                      <a:pt x="154" y="1218"/>
                    </a:cubicBezTo>
                    <a:cubicBezTo>
                      <a:pt x="168" y="1231"/>
                      <a:pt x="182" y="1242"/>
                      <a:pt x="198" y="1253"/>
                    </a:cubicBezTo>
                    <a:cubicBezTo>
                      <a:pt x="198" y="1253"/>
                      <a:pt x="198" y="1253"/>
                      <a:pt x="199" y="1327"/>
                    </a:cubicBezTo>
                    <a:cubicBezTo>
                      <a:pt x="199" y="1327"/>
                      <a:pt x="199" y="1327"/>
                      <a:pt x="205" y="1330"/>
                    </a:cubicBezTo>
                    <a:cubicBezTo>
                      <a:pt x="226" y="1340"/>
                      <a:pt x="250" y="1349"/>
                      <a:pt x="251" y="1350"/>
                    </a:cubicBezTo>
                    <a:cubicBezTo>
                      <a:pt x="252" y="1350"/>
                      <a:pt x="277" y="1359"/>
                      <a:pt x="300" y="1364"/>
                    </a:cubicBezTo>
                    <a:cubicBezTo>
                      <a:pt x="300" y="1364"/>
                      <a:pt x="300" y="1364"/>
                      <a:pt x="307" y="1366"/>
                    </a:cubicBezTo>
                    <a:cubicBezTo>
                      <a:pt x="307" y="1366"/>
                      <a:pt x="307" y="1366"/>
                      <a:pt x="358" y="1306"/>
                    </a:cubicBezTo>
                    <a:cubicBezTo>
                      <a:pt x="374" y="1307"/>
                      <a:pt x="390" y="1307"/>
                      <a:pt x="406" y="1306"/>
                    </a:cubicBezTo>
                    <a:cubicBezTo>
                      <a:pt x="406" y="1306"/>
                      <a:pt x="406" y="1306"/>
                      <a:pt x="457" y="1366"/>
                    </a:cubicBezTo>
                    <a:cubicBezTo>
                      <a:pt x="464" y="1364"/>
                      <a:pt x="464" y="1364"/>
                      <a:pt x="464" y="1364"/>
                    </a:cubicBezTo>
                    <a:cubicBezTo>
                      <a:pt x="486" y="1359"/>
                      <a:pt x="511" y="1350"/>
                      <a:pt x="512" y="1350"/>
                    </a:cubicBezTo>
                    <a:cubicBezTo>
                      <a:pt x="513" y="1350"/>
                      <a:pt x="538" y="1340"/>
                      <a:pt x="558" y="1330"/>
                    </a:cubicBezTo>
                    <a:cubicBezTo>
                      <a:pt x="558" y="1330"/>
                      <a:pt x="558" y="1330"/>
                      <a:pt x="565" y="1327"/>
                    </a:cubicBezTo>
                    <a:cubicBezTo>
                      <a:pt x="565" y="1327"/>
                      <a:pt x="565" y="1327"/>
                      <a:pt x="566" y="1253"/>
                    </a:cubicBezTo>
                    <a:cubicBezTo>
                      <a:pt x="581" y="1242"/>
                      <a:pt x="596" y="1231"/>
                      <a:pt x="609" y="1218"/>
                    </a:cubicBezTo>
                    <a:cubicBezTo>
                      <a:pt x="609" y="1218"/>
                      <a:pt x="609" y="1218"/>
                      <a:pt x="680" y="1230"/>
                    </a:cubicBezTo>
                    <a:cubicBezTo>
                      <a:pt x="680" y="1230"/>
                      <a:pt x="680" y="1230"/>
                      <a:pt x="685" y="1224"/>
                    </a:cubicBezTo>
                    <a:cubicBezTo>
                      <a:pt x="698" y="1206"/>
                      <a:pt x="711" y="1183"/>
                      <a:pt x="712" y="1182"/>
                    </a:cubicBezTo>
                    <a:cubicBezTo>
                      <a:pt x="713" y="1181"/>
                      <a:pt x="725" y="1158"/>
                      <a:pt x="734" y="1137"/>
                    </a:cubicBezTo>
                    <a:cubicBezTo>
                      <a:pt x="734" y="1137"/>
                      <a:pt x="734" y="1137"/>
                      <a:pt x="738" y="1130"/>
                    </a:cubicBezTo>
                    <a:cubicBezTo>
                      <a:pt x="738" y="1130"/>
                      <a:pt x="738" y="1130"/>
                      <a:pt x="696" y="1079"/>
                    </a:cubicBezTo>
                    <a:cubicBezTo>
                      <a:pt x="702" y="1058"/>
                      <a:pt x="706" y="1037"/>
                      <a:pt x="708" y="1016"/>
                    </a:cubicBezTo>
                    <a:cubicBezTo>
                      <a:pt x="708" y="1016"/>
                      <a:pt x="708" y="1016"/>
                      <a:pt x="764" y="982"/>
                    </a:cubicBezTo>
                    <a:close/>
                    <a:moveTo>
                      <a:pt x="382" y="1207"/>
                    </a:moveTo>
                    <a:cubicBezTo>
                      <a:pt x="264" y="1207"/>
                      <a:pt x="168" y="1111"/>
                      <a:pt x="168" y="993"/>
                    </a:cubicBezTo>
                    <a:cubicBezTo>
                      <a:pt x="168" y="875"/>
                      <a:pt x="264" y="779"/>
                      <a:pt x="382" y="779"/>
                    </a:cubicBezTo>
                    <a:cubicBezTo>
                      <a:pt x="500" y="779"/>
                      <a:pt x="596" y="875"/>
                      <a:pt x="596" y="993"/>
                    </a:cubicBezTo>
                    <a:cubicBezTo>
                      <a:pt x="596" y="1111"/>
                      <a:pt x="500" y="1207"/>
                      <a:pt x="382" y="1207"/>
                    </a:cubicBezTo>
                    <a:close/>
                    <a:moveTo>
                      <a:pt x="271" y="396"/>
                    </a:moveTo>
                    <a:cubicBezTo>
                      <a:pt x="271" y="400"/>
                      <a:pt x="273" y="404"/>
                      <a:pt x="276" y="405"/>
                    </a:cubicBezTo>
                    <a:cubicBezTo>
                      <a:pt x="339" y="431"/>
                      <a:pt x="420" y="431"/>
                      <a:pt x="426" y="431"/>
                    </a:cubicBezTo>
                    <a:cubicBezTo>
                      <a:pt x="432" y="431"/>
                      <a:pt x="436" y="427"/>
                      <a:pt x="436" y="422"/>
                    </a:cubicBezTo>
                    <a:cubicBezTo>
                      <a:pt x="436" y="356"/>
                      <a:pt x="436" y="356"/>
                      <a:pt x="436" y="356"/>
                    </a:cubicBezTo>
                    <a:cubicBezTo>
                      <a:pt x="474" y="360"/>
                      <a:pt x="504" y="356"/>
                      <a:pt x="512" y="352"/>
                    </a:cubicBezTo>
                    <a:cubicBezTo>
                      <a:pt x="523" y="346"/>
                      <a:pt x="523" y="333"/>
                      <a:pt x="525" y="309"/>
                    </a:cubicBezTo>
                    <a:cubicBezTo>
                      <a:pt x="525" y="307"/>
                      <a:pt x="525" y="307"/>
                      <a:pt x="525" y="307"/>
                    </a:cubicBezTo>
                    <a:cubicBezTo>
                      <a:pt x="526" y="291"/>
                      <a:pt x="524" y="269"/>
                      <a:pt x="523" y="255"/>
                    </a:cubicBezTo>
                    <a:cubicBezTo>
                      <a:pt x="551" y="254"/>
                      <a:pt x="559" y="239"/>
                      <a:pt x="561" y="234"/>
                    </a:cubicBezTo>
                    <a:cubicBezTo>
                      <a:pt x="565" y="223"/>
                      <a:pt x="554" y="212"/>
                      <a:pt x="543" y="200"/>
                    </a:cubicBezTo>
                    <a:cubicBezTo>
                      <a:pt x="542" y="198"/>
                      <a:pt x="541" y="197"/>
                      <a:pt x="540" y="196"/>
                    </a:cubicBezTo>
                    <a:cubicBezTo>
                      <a:pt x="535" y="191"/>
                      <a:pt x="529" y="179"/>
                      <a:pt x="524" y="164"/>
                    </a:cubicBezTo>
                    <a:cubicBezTo>
                      <a:pt x="523" y="161"/>
                      <a:pt x="522" y="155"/>
                      <a:pt x="520" y="148"/>
                    </a:cubicBezTo>
                    <a:cubicBezTo>
                      <a:pt x="519" y="140"/>
                      <a:pt x="517" y="131"/>
                      <a:pt x="515" y="124"/>
                    </a:cubicBezTo>
                    <a:cubicBezTo>
                      <a:pt x="512" y="116"/>
                      <a:pt x="510" y="93"/>
                      <a:pt x="509" y="80"/>
                    </a:cubicBezTo>
                    <a:cubicBezTo>
                      <a:pt x="510" y="80"/>
                      <a:pt x="513" y="81"/>
                      <a:pt x="514" y="81"/>
                    </a:cubicBezTo>
                    <a:cubicBezTo>
                      <a:pt x="514" y="81"/>
                      <a:pt x="515" y="81"/>
                      <a:pt x="515" y="80"/>
                    </a:cubicBezTo>
                    <a:cubicBezTo>
                      <a:pt x="520" y="59"/>
                      <a:pt x="551" y="25"/>
                      <a:pt x="540" y="25"/>
                    </a:cubicBezTo>
                    <a:cubicBezTo>
                      <a:pt x="445" y="27"/>
                      <a:pt x="475" y="0"/>
                      <a:pt x="372" y="0"/>
                    </a:cubicBezTo>
                    <a:cubicBezTo>
                      <a:pt x="282" y="0"/>
                      <a:pt x="237" y="55"/>
                      <a:pt x="215" y="101"/>
                    </a:cubicBezTo>
                    <a:cubicBezTo>
                      <a:pt x="175" y="185"/>
                      <a:pt x="239" y="268"/>
                      <a:pt x="271" y="301"/>
                    </a:cubicBezTo>
                    <a:cubicBezTo>
                      <a:pt x="271" y="396"/>
                      <a:pt x="271" y="396"/>
                      <a:pt x="271" y="396"/>
                    </a:cubicBezTo>
                    <a:close/>
                    <a:moveTo>
                      <a:pt x="396" y="1545"/>
                    </a:moveTo>
                    <a:cubicBezTo>
                      <a:pt x="292" y="1545"/>
                      <a:pt x="322" y="1571"/>
                      <a:pt x="227" y="1569"/>
                    </a:cubicBezTo>
                    <a:cubicBezTo>
                      <a:pt x="216" y="1569"/>
                      <a:pt x="248" y="1603"/>
                      <a:pt x="253" y="1624"/>
                    </a:cubicBezTo>
                    <a:cubicBezTo>
                      <a:pt x="253" y="1625"/>
                      <a:pt x="253" y="1625"/>
                      <a:pt x="254" y="1625"/>
                    </a:cubicBezTo>
                    <a:cubicBezTo>
                      <a:pt x="254" y="1625"/>
                      <a:pt x="257" y="1624"/>
                      <a:pt x="258" y="1624"/>
                    </a:cubicBezTo>
                    <a:cubicBezTo>
                      <a:pt x="258" y="1637"/>
                      <a:pt x="256" y="1660"/>
                      <a:pt x="253" y="1669"/>
                    </a:cubicBezTo>
                    <a:cubicBezTo>
                      <a:pt x="251" y="1676"/>
                      <a:pt x="249" y="1685"/>
                      <a:pt x="247" y="1693"/>
                    </a:cubicBezTo>
                    <a:cubicBezTo>
                      <a:pt x="246" y="1699"/>
                      <a:pt x="244" y="1705"/>
                      <a:pt x="243" y="1709"/>
                    </a:cubicBezTo>
                    <a:cubicBezTo>
                      <a:pt x="238" y="1724"/>
                      <a:pt x="232" y="1735"/>
                      <a:pt x="227" y="1741"/>
                    </a:cubicBezTo>
                    <a:cubicBezTo>
                      <a:pt x="226" y="1742"/>
                      <a:pt x="225" y="1743"/>
                      <a:pt x="224" y="1744"/>
                    </a:cubicBezTo>
                    <a:cubicBezTo>
                      <a:pt x="213" y="1756"/>
                      <a:pt x="202" y="1767"/>
                      <a:pt x="206" y="1778"/>
                    </a:cubicBezTo>
                    <a:cubicBezTo>
                      <a:pt x="208" y="1783"/>
                      <a:pt x="216" y="1798"/>
                      <a:pt x="245" y="1799"/>
                    </a:cubicBezTo>
                    <a:cubicBezTo>
                      <a:pt x="243" y="1813"/>
                      <a:pt x="241" y="1836"/>
                      <a:pt x="242" y="1851"/>
                    </a:cubicBezTo>
                    <a:cubicBezTo>
                      <a:pt x="242" y="1851"/>
                      <a:pt x="242" y="1851"/>
                      <a:pt x="243" y="1854"/>
                    </a:cubicBezTo>
                    <a:cubicBezTo>
                      <a:pt x="244" y="1878"/>
                      <a:pt x="245" y="1891"/>
                      <a:pt x="255" y="1896"/>
                    </a:cubicBezTo>
                    <a:cubicBezTo>
                      <a:pt x="264" y="1901"/>
                      <a:pt x="293" y="1905"/>
                      <a:pt x="332" y="1901"/>
                    </a:cubicBezTo>
                    <a:cubicBezTo>
                      <a:pt x="332" y="1901"/>
                      <a:pt x="332" y="1901"/>
                      <a:pt x="332" y="1966"/>
                    </a:cubicBezTo>
                    <a:cubicBezTo>
                      <a:pt x="332" y="1971"/>
                      <a:pt x="336" y="1975"/>
                      <a:pt x="341" y="1975"/>
                    </a:cubicBezTo>
                    <a:cubicBezTo>
                      <a:pt x="348" y="1975"/>
                      <a:pt x="429" y="1975"/>
                      <a:pt x="492" y="1949"/>
                    </a:cubicBezTo>
                    <a:cubicBezTo>
                      <a:pt x="495" y="1948"/>
                      <a:pt x="497" y="1944"/>
                      <a:pt x="497" y="1940"/>
                    </a:cubicBezTo>
                    <a:cubicBezTo>
                      <a:pt x="497" y="1940"/>
                      <a:pt x="497" y="1940"/>
                      <a:pt x="497" y="1845"/>
                    </a:cubicBezTo>
                    <a:cubicBezTo>
                      <a:pt x="529" y="1812"/>
                      <a:pt x="593" y="1729"/>
                      <a:pt x="554" y="1645"/>
                    </a:cubicBezTo>
                    <a:cubicBezTo>
                      <a:pt x="531" y="1599"/>
                      <a:pt x="486" y="1545"/>
                      <a:pt x="396" y="1545"/>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 name="Freeform 142">
                <a:extLst>
                  <a:ext uri="{FF2B5EF4-FFF2-40B4-BE49-F238E27FC236}">
                    <a16:creationId xmlns:a16="http://schemas.microsoft.com/office/drawing/2014/main" id="{105D91E2-FD3A-972F-D7BE-B4E2C0BD1FC3}"/>
                  </a:ext>
                </a:extLst>
              </p:cNvPr>
              <p:cNvSpPr>
                <a:spLocks noEditPoints="1"/>
              </p:cNvSpPr>
              <p:nvPr/>
            </p:nvSpPr>
            <p:spPr bwMode="auto">
              <a:xfrm>
                <a:off x="2847976" y="2416176"/>
                <a:ext cx="1476375" cy="1182688"/>
              </a:xfrm>
              <a:custGeom>
                <a:avLst/>
                <a:gdLst>
                  <a:gd name="T0" fmla="*/ 934 w 2070"/>
                  <a:gd name="T1" fmla="*/ 837 h 1660"/>
                  <a:gd name="T2" fmla="*/ 1137 w 2070"/>
                  <a:gd name="T3" fmla="*/ 837 h 1660"/>
                  <a:gd name="T4" fmla="*/ 819 w 2070"/>
                  <a:gd name="T5" fmla="*/ 53 h 1660"/>
                  <a:gd name="T6" fmla="*/ 222 w 2070"/>
                  <a:gd name="T7" fmla="*/ 573 h 1660"/>
                  <a:gd name="T8" fmla="*/ 819 w 2070"/>
                  <a:gd name="T9" fmla="*/ 53 h 1660"/>
                  <a:gd name="T10" fmla="*/ 269 w 2070"/>
                  <a:gd name="T11" fmla="*/ 1088 h 1660"/>
                  <a:gd name="T12" fmla="*/ 223 w 2070"/>
                  <a:gd name="T13" fmla="*/ 1090 h 1660"/>
                  <a:gd name="T14" fmla="*/ 817 w 2070"/>
                  <a:gd name="T15" fmla="*/ 1635 h 1660"/>
                  <a:gd name="T16" fmla="*/ 1230 w 2070"/>
                  <a:gd name="T17" fmla="*/ 15 h 1660"/>
                  <a:gd name="T18" fmla="*/ 1801 w 2070"/>
                  <a:gd name="T19" fmla="*/ 579 h 1660"/>
                  <a:gd name="T20" fmla="*/ 1221 w 2070"/>
                  <a:gd name="T21" fmla="*/ 0 h 1660"/>
                  <a:gd name="T22" fmla="*/ 1228 w 2070"/>
                  <a:gd name="T23" fmla="*/ 13 h 1660"/>
                  <a:gd name="T24" fmla="*/ 1799 w 2070"/>
                  <a:gd name="T25" fmla="*/ 1087 h 1660"/>
                  <a:gd name="T26" fmla="*/ 1228 w 2070"/>
                  <a:gd name="T27" fmla="*/ 1660 h 1660"/>
                  <a:gd name="T28" fmla="*/ 1819 w 2070"/>
                  <a:gd name="T29" fmla="*/ 1091 h 1660"/>
                  <a:gd name="T30" fmla="*/ 2030 w 2070"/>
                  <a:gd name="T31" fmla="*/ 717 h 1660"/>
                  <a:gd name="T32" fmla="*/ 1705 w 2070"/>
                  <a:gd name="T33" fmla="*/ 641 h 1660"/>
                  <a:gd name="T34" fmla="*/ 1731 w 2070"/>
                  <a:gd name="T35" fmla="*/ 697 h 1660"/>
                  <a:gd name="T36" fmla="*/ 1730 w 2070"/>
                  <a:gd name="T37" fmla="*/ 741 h 1660"/>
                  <a:gd name="T38" fmla="*/ 1721 w 2070"/>
                  <a:gd name="T39" fmla="*/ 780 h 1660"/>
                  <a:gd name="T40" fmla="*/ 1702 w 2070"/>
                  <a:gd name="T41" fmla="*/ 816 h 1660"/>
                  <a:gd name="T42" fmla="*/ 1722 w 2070"/>
                  <a:gd name="T43" fmla="*/ 871 h 1660"/>
                  <a:gd name="T44" fmla="*/ 1721 w 2070"/>
                  <a:gd name="T45" fmla="*/ 926 h 1660"/>
                  <a:gd name="T46" fmla="*/ 1809 w 2070"/>
                  <a:gd name="T47" fmla="*/ 972 h 1660"/>
                  <a:gd name="T48" fmla="*/ 1819 w 2070"/>
                  <a:gd name="T49" fmla="*/ 1047 h 1660"/>
                  <a:gd name="T50" fmla="*/ 1974 w 2070"/>
                  <a:gd name="T51" fmla="*/ 1012 h 1660"/>
                  <a:gd name="T52" fmla="*/ 2030 w 2070"/>
                  <a:gd name="T53" fmla="*/ 717 h 1660"/>
                  <a:gd name="T54" fmla="*/ 260 w 2070"/>
                  <a:gd name="T55" fmla="*/ 972 h 1660"/>
                  <a:gd name="T56" fmla="*/ 349 w 2070"/>
                  <a:gd name="T57" fmla="*/ 926 h 1660"/>
                  <a:gd name="T58" fmla="*/ 347 w 2070"/>
                  <a:gd name="T59" fmla="*/ 871 h 1660"/>
                  <a:gd name="T60" fmla="*/ 368 w 2070"/>
                  <a:gd name="T61" fmla="*/ 816 h 1660"/>
                  <a:gd name="T62" fmla="*/ 349 w 2070"/>
                  <a:gd name="T63" fmla="*/ 780 h 1660"/>
                  <a:gd name="T64" fmla="*/ 339 w 2070"/>
                  <a:gd name="T65" fmla="*/ 741 h 1660"/>
                  <a:gd name="T66" fmla="*/ 338 w 2070"/>
                  <a:gd name="T67" fmla="*/ 697 h 1660"/>
                  <a:gd name="T68" fmla="*/ 365 w 2070"/>
                  <a:gd name="T69" fmla="*/ 641 h 1660"/>
                  <a:gd name="T70" fmla="*/ 40 w 2070"/>
                  <a:gd name="T71" fmla="*/ 717 h 1660"/>
                  <a:gd name="T72" fmla="*/ 96 w 2070"/>
                  <a:gd name="T73" fmla="*/ 1012 h 1660"/>
                  <a:gd name="T74" fmla="*/ 251 w 2070"/>
                  <a:gd name="T75" fmla="*/ 1047 h 1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70" h="1660">
                    <a:moveTo>
                      <a:pt x="1035" y="735"/>
                    </a:moveTo>
                    <a:cubicBezTo>
                      <a:pt x="979" y="735"/>
                      <a:pt x="934" y="781"/>
                      <a:pt x="934" y="837"/>
                    </a:cubicBezTo>
                    <a:cubicBezTo>
                      <a:pt x="934" y="893"/>
                      <a:pt x="979" y="938"/>
                      <a:pt x="1035" y="938"/>
                    </a:cubicBezTo>
                    <a:cubicBezTo>
                      <a:pt x="1091" y="938"/>
                      <a:pt x="1137" y="893"/>
                      <a:pt x="1137" y="837"/>
                    </a:cubicBezTo>
                    <a:cubicBezTo>
                      <a:pt x="1137" y="781"/>
                      <a:pt x="1091" y="735"/>
                      <a:pt x="1035" y="735"/>
                    </a:cubicBezTo>
                    <a:close/>
                    <a:moveTo>
                      <a:pt x="819" y="53"/>
                    </a:moveTo>
                    <a:cubicBezTo>
                      <a:pt x="815" y="39"/>
                      <a:pt x="812" y="24"/>
                      <a:pt x="811" y="9"/>
                    </a:cubicBezTo>
                    <a:cubicBezTo>
                      <a:pt x="532" y="85"/>
                      <a:pt x="310" y="299"/>
                      <a:pt x="222" y="573"/>
                    </a:cubicBezTo>
                    <a:cubicBezTo>
                      <a:pt x="241" y="574"/>
                      <a:pt x="255" y="576"/>
                      <a:pt x="267" y="578"/>
                    </a:cubicBezTo>
                    <a:cubicBezTo>
                      <a:pt x="351" y="324"/>
                      <a:pt x="559" y="125"/>
                      <a:pt x="819" y="53"/>
                    </a:cubicBezTo>
                    <a:close/>
                    <a:moveTo>
                      <a:pt x="815" y="1608"/>
                    </a:moveTo>
                    <a:cubicBezTo>
                      <a:pt x="558" y="1536"/>
                      <a:pt x="353" y="1339"/>
                      <a:pt x="269" y="1088"/>
                    </a:cubicBezTo>
                    <a:cubicBezTo>
                      <a:pt x="263" y="1090"/>
                      <a:pt x="257" y="1091"/>
                      <a:pt x="251" y="1091"/>
                    </a:cubicBezTo>
                    <a:cubicBezTo>
                      <a:pt x="248" y="1091"/>
                      <a:pt x="238" y="1091"/>
                      <a:pt x="223" y="1090"/>
                    </a:cubicBezTo>
                    <a:cubicBezTo>
                      <a:pt x="313" y="1369"/>
                      <a:pt x="542" y="1586"/>
                      <a:pt x="829" y="1657"/>
                    </a:cubicBezTo>
                    <a:cubicBezTo>
                      <a:pt x="823" y="1650"/>
                      <a:pt x="819" y="1643"/>
                      <a:pt x="817" y="1635"/>
                    </a:cubicBezTo>
                    <a:cubicBezTo>
                      <a:pt x="814" y="1626"/>
                      <a:pt x="814" y="1616"/>
                      <a:pt x="815" y="1608"/>
                    </a:cubicBezTo>
                    <a:close/>
                    <a:moveTo>
                      <a:pt x="1230" y="15"/>
                    </a:moveTo>
                    <a:cubicBezTo>
                      <a:pt x="1238" y="24"/>
                      <a:pt x="1250" y="37"/>
                      <a:pt x="1256" y="54"/>
                    </a:cubicBezTo>
                    <a:cubicBezTo>
                      <a:pt x="1513" y="128"/>
                      <a:pt x="1718" y="326"/>
                      <a:pt x="1801" y="579"/>
                    </a:cubicBezTo>
                    <a:cubicBezTo>
                      <a:pt x="1813" y="576"/>
                      <a:pt x="1827" y="574"/>
                      <a:pt x="1845" y="573"/>
                    </a:cubicBezTo>
                    <a:cubicBezTo>
                      <a:pt x="1754" y="288"/>
                      <a:pt x="1517" y="67"/>
                      <a:pt x="1221" y="0"/>
                    </a:cubicBezTo>
                    <a:cubicBezTo>
                      <a:pt x="1224" y="7"/>
                      <a:pt x="1225" y="10"/>
                      <a:pt x="1226" y="11"/>
                    </a:cubicBezTo>
                    <a:cubicBezTo>
                      <a:pt x="1228" y="13"/>
                      <a:pt x="1228" y="13"/>
                      <a:pt x="1228" y="13"/>
                    </a:cubicBezTo>
                    <a:lnTo>
                      <a:pt x="1230" y="15"/>
                    </a:lnTo>
                    <a:close/>
                    <a:moveTo>
                      <a:pt x="1799" y="1087"/>
                    </a:moveTo>
                    <a:cubicBezTo>
                      <a:pt x="1715" y="1339"/>
                      <a:pt x="1509" y="1536"/>
                      <a:pt x="1252" y="1608"/>
                    </a:cubicBezTo>
                    <a:cubicBezTo>
                      <a:pt x="1246" y="1627"/>
                      <a:pt x="1237" y="1644"/>
                      <a:pt x="1228" y="1660"/>
                    </a:cubicBezTo>
                    <a:cubicBezTo>
                      <a:pt x="1520" y="1591"/>
                      <a:pt x="1754" y="1373"/>
                      <a:pt x="1845" y="1090"/>
                    </a:cubicBezTo>
                    <a:cubicBezTo>
                      <a:pt x="1831" y="1091"/>
                      <a:pt x="1822" y="1091"/>
                      <a:pt x="1819" y="1091"/>
                    </a:cubicBezTo>
                    <a:cubicBezTo>
                      <a:pt x="1812" y="1091"/>
                      <a:pt x="1805" y="1090"/>
                      <a:pt x="1799" y="1087"/>
                    </a:cubicBezTo>
                    <a:close/>
                    <a:moveTo>
                      <a:pt x="2030" y="717"/>
                    </a:moveTo>
                    <a:cubicBezTo>
                      <a:pt x="2008" y="671"/>
                      <a:pt x="1963" y="616"/>
                      <a:pt x="1873" y="616"/>
                    </a:cubicBezTo>
                    <a:cubicBezTo>
                      <a:pt x="1770" y="616"/>
                      <a:pt x="1800" y="643"/>
                      <a:pt x="1705" y="641"/>
                    </a:cubicBezTo>
                    <a:cubicBezTo>
                      <a:pt x="1694" y="641"/>
                      <a:pt x="1725" y="675"/>
                      <a:pt x="1730" y="696"/>
                    </a:cubicBezTo>
                    <a:cubicBezTo>
                      <a:pt x="1730" y="697"/>
                      <a:pt x="1731" y="697"/>
                      <a:pt x="1731" y="697"/>
                    </a:cubicBezTo>
                    <a:cubicBezTo>
                      <a:pt x="1732" y="697"/>
                      <a:pt x="1735" y="696"/>
                      <a:pt x="1736" y="696"/>
                    </a:cubicBezTo>
                    <a:cubicBezTo>
                      <a:pt x="1735" y="709"/>
                      <a:pt x="1733" y="732"/>
                      <a:pt x="1730" y="741"/>
                    </a:cubicBezTo>
                    <a:cubicBezTo>
                      <a:pt x="1728" y="748"/>
                      <a:pt x="1726" y="757"/>
                      <a:pt x="1725" y="765"/>
                    </a:cubicBezTo>
                    <a:cubicBezTo>
                      <a:pt x="1723" y="771"/>
                      <a:pt x="1722" y="777"/>
                      <a:pt x="1721" y="780"/>
                    </a:cubicBezTo>
                    <a:cubicBezTo>
                      <a:pt x="1716" y="795"/>
                      <a:pt x="1710" y="807"/>
                      <a:pt x="1705" y="812"/>
                    </a:cubicBezTo>
                    <a:cubicBezTo>
                      <a:pt x="1704" y="813"/>
                      <a:pt x="1703" y="814"/>
                      <a:pt x="1702" y="816"/>
                    </a:cubicBezTo>
                    <a:cubicBezTo>
                      <a:pt x="1691" y="828"/>
                      <a:pt x="1680" y="839"/>
                      <a:pt x="1684" y="850"/>
                    </a:cubicBezTo>
                    <a:cubicBezTo>
                      <a:pt x="1686" y="855"/>
                      <a:pt x="1694" y="870"/>
                      <a:pt x="1722" y="871"/>
                    </a:cubicBezTo>
                    <a:cubicBezTo>
                      <a:pt x="1721" y="885"/>
                      <a:pt x="1719" y="908"/>
                      <a:pt x="1720" y="923"/>
                    </a:cubicBezTo>
                    <a:cubicBezTo>
                      <a:pt x="1720" y="923"/>
                      <a:pt x="1720" y="923"/>
                      <a:pt x="1721" y="926"/>
                    </a:cubicBezTo>
                    <a:cubicBezTo>
                      <a:pt x="1722" y="950"/>
                      <a:pt x="1722" y="962"/>
                      <a:pt x="1733" y="968"/>
                    </a:cubicBezTo>
                    <a:cubicBezTo>
                      <a:pt x="1741" y="972"/>
                      <a:pt x="1771" y="976"/>
                      <a:pt x="1809" y="972"/>
                    </a:cubicBezTo>
                    <a:cubicBezTo>
                      <a:pt x="1809" y="972"/>
                      <a:pt x="1809" y="972"/>
                      <a:pt x="1809" y="1038"/>
                    </a:cubicBezTo>
                    <a:cubicBezTo>
                      <a:pt x="1809" y="1043"/>
                      <a:pt x="1813" y="1047"/>
                      <a:pt x="1819" y="1047"/>
                    </a:cubicBezTo>
                    <a:cubicBezTo>
                      <a:pt x="1825" y="1047"/>
                      <a:pt x="1906" y="1047"/>
                      <a:pt x="1969" y="1021"/>
                    </a:cubicBezTo>
                    <a:cubicBezTo>
                      <a:pt x="1972" y="1020"/>
                      <a:pt x="1974" y="1016"/>
                      <a:pt x="1974" y="1012"/>
                    </a:cubicBezTo>
                    <a:cubicBezTo>
                      <a:pt x="1974" y="1012"/>
                      <a:pt x="1974" y="1012"/>
                      <a:pt x="1974" y="917"/>
                    </a:cubicBezTo>
                    <a:cubicBezTo>
                      <a:pt x="2006" y="884"/>
                      <a:pt x="2070" y="801"/>
                      <a:pt x="2030" y="717"/>
                    </a:cubicBezTo>
                    <a:close/>
                    <a:moveTo>
                      <a:pt x="260" y="1038"/>
                    </a:moveTo>
                    <a:cubicBezTo>
                      <a:pt x="260" y="972"/>
                      <a:pt x="260" y="972"/>
                      <a:pt x="260" y="972"/>
                    </a:cubicBezTo>
                    <a:cubicBezTo>
                      <a:pt x="299" y="976"/>
                      <a:pt x="329" y="972"/>
                      <a:pt x="337" y="968"/>
                    </a:cubicBezTo>
                    <a:cubicBezTo>
                      <a:pt x="347" y="962"/>
                      <a:pt x="348" y="950"/>
                      <a:pt x="349" y="926"/>
                    </a:cubicBezTo>
                    <a:cubicBezTo>
                      <a:pt x="350" y="923"/>
                      <a:pt x="350" y="923"/>
                      <a:pt x="350" y="923"/>
                    </a:cubicBezTo>
                    <a:cubicBezTo>
                      <a:pt x="351" y="908"/>
                      <a:pt x="349" y="885"/>
                      <a:pt x="347" y="871"/>
                    </a:cubicBezTo>
                    <a:cubicBezTo>
                      <a:pt x="376" y="870"/>
                      <a:pt x="384" y="855"/>
                      <a:pt x="386" y="850"/>
                    </a:cubicBezTo>
                    <a:cubicBezTo>
                      <a:pt x="390" y="839"/>
                      <a:pt x="379" y="828"/>
                      <a:pt x="368" y="816"/>
                    </a:cubicBezTo>
                    <a:cubicBezTo>
                      <a:pt x="367" y="814"/>
                      <a:pt x="366" y="813"/>
                      <a:pt x="365" y="812"/>
                    </a:cubicBezTo>
                    <a:cubicBezTo>
                      <a:pt x="360" y="807"/>
                      <a:pt x="354" y="795"/>
                      <a:pt x="349" y="780"/>
                    </a:cubicBezTo>
                    <a:cubicBezTo>
                      <a:pt x="348" y="777"/>
                      <a:pt x="346" y="771"/>
                      <a:pt x="345" y="765"/>
                    </a:cubicBezTo>
                    <a:cubicBezTo>
                      <a:pt x="343" y="757"/>
                      <a:pt x="341" y="748"/>
                      <a:pt x="339" y="741"/>
                    </a:cubicBezTo>
                    <a:cubicBezTo>
                      <a:pt x="336" y="732"/>
                      <a:pt x="334" y="709"/>
                      <a:pt x="334" y="696"/>
                    </a:cubicBezTo>
                    <a:cubicBezTo>
                      <a:pt x="335" y="696"/>
                      <a:pt x="338" y="697"/>
                      <a:pt x="338" y="697"/>
                    </a:cubicBezTo>
                    <a:cubicBezTo>
                      <a:pt x="339" y="697"/>
                      <a:pt x="339" y="697"/>
                      <a:pt x="339" y="696"/>
                    </a:cubicBezTo>
                    <a:cubicBezTo>
                      <a:pt x="344" y="675"/>
                      <a:pt x="376" y="641"/>
                      <a:pt x="365" y="641"/>
                    </a:cubicBezTo>
                    <a:cubicBezTo>
                      <a:pt x="270" y="643"/>
                      <a:pt x="300" y="616"/>
                      <a:pt x="197" y="616"/>
                    </a:cubicBezTo>
                    <a:cubicBezTo>
                      <a:pt x="107" y="616"/>
                      <a:pt x="62" y="671"/>
                      <a:pt x="40" y="717"/>
                    </a:cubicBezTo>
                    <a:cubicBezTo>
                      <a:pt x="0" y="801"/>
                      <a:pt x="64" y="884"/>
                      <a:pt x="96" y="917"/>
                    </a:cubicBezTo>
                    <a:cubicBezTo>
                      <a:pt x="96" y="1012"/>
                      <a:pt x="96" y="1012"/>
                      <a:pt x="96" y="1012"/>
                    </a:cubicBezTo>
                    <a:cubicBezTo>
                      <a:pt x="96" y="1016"/>
                      <a:pt x="98" y="1020"/>
                      <a:pt x="101" y="1021"/>
                    </a:cubicBezTo>
                    <a:cubicBezTo>
                      <a:pt x="164" y="1047"/>
                      <a:pt x="245" y="1047"/>
                      <a:pt x="251" y="1047"/>
                    </a:cubicBezTo>
                    <a:cubicBezTo>
                      <a:pt x="257" y="1047"/>
                      <a:pt x="260" y="1043"/>
                      <a:pt x="260" y="103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6" name="Group 5">
            <a:extLst>
              <a:ext uri="{FF2B5EF4-FFF2-40B4-BE49-F238E27FC236}">
                <a16:creationId xmlns:a16="http://schemas.microsoft.com/office/drawing/2014/main" id="{FC162D9E-6D24-45E5-6E24-50BCDA88483A}"/>
              </a:ext>
            </a:extLst>
          </p:cNvPr>
          <p:cNvGrpSpPr/>
          <p:nvPr/>
        </p:nvGrpSpPr>
        <p:grpSpPr>
          <a:xfrm>
            <a:off x="8122973" y="2081213"/>
            <a:ext cx="3430626" cy="4079875"/>
            <a:chOff x="8031626" y="2081213"/>
            <a:chExt cx="3517933" cy="4079875"/>
          </a:xfrm>
        </p:grpSpPr>
        <p:sp>
          <p:nvSpPr>
            <p:cNvPr id="237" name="Rectangle 236">
              <a:extLst>
                <a:ext uri="{FF2B5EF4-FFF2-40B4-BE49-F238E27FC236}">
                  <a16:creationId xmlns:a16="http://schemas.microsoft.com/office/drawing/2014/main" id="{D443C1A0-02F2-A6A8-3149-8F043CE2911F}"/>
                </a:ext>
              </a:extLst>
            </p:cNvPr>
            <p:cNvSpPr/>
            <p:nvPr/>
          </p:nvSpPr>
          <p:spPr>
            <a:xfrm>
              <a:off x="8031626" y="2081213"/>
              <a:ext cx="3517933" cy="4079875"/>
            </a:xfrm>
            <a:prstGeom prst="rect">
              <a:avLst/>
            </a:prstGeom>
            <a:solidFill>
              <a:schemeClr val="tx2">
                <a:lumMod val="20000"/>
                <a:lumOff val="8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grpSp>
          <p:nvGrpSpPr>
            <p:cNvPr id="245" name="Group 244">
              <a:extLst>
                <a:ext uri="{FF2B5EF4-FFF2-40B4-BE49-F238E27FC236}">
                  <a16:creationId xmlns:a16="http://schemas.microsoft.com/office/drawing/2014/main" id="{5924DD4C-4CBF-0FFC-1720-8FB6DCDBE7CD}"/>
                </a:ext>
              </a:extLst>
            </p:cNvPr>
            <p:cNvGrpSpPr/>
            <p:nvPr/>
          </p:nvGrpSpPr>
          <p:grpSpPr>
            <a:xfrm>
              <a:off x="8126472" y="2299530"/>
              <a:ext cx="3328238" cy="3728879"/>
              <a:chOff x="8149387" y="2299530"/>
              <a:chExt cx="3145398" cy="3728879"/>
            </a:xfrm>
          </p:grpSpPr>
          <p:sp>
            <p:nvSpPr>
              <p:cNvPr id="239" name="TextBox 238">
                <a:extLst>
                  <a:ext uri="{FF2B5EF4-FFF2-40B4-BE49-F238E27FC236}">
                    <a16:creationId xmlns:a16="http://schemas.microsoft.com/office/drawing/2014/main" id="{111C452E-EF5D-5061-D09D-28BD8EE05C04}"/>
                  </a:ext>
                </a:extLst>
              </p:cNvPr>
              <p:cNvSpPr txBox="1"/>
              <p:nvPr/>
            </p:nvSpPr>
            <p:spPr>
              <a:xfrm>
                <a:off x="8149388" y="2650484"/>
                <a:ext cx="3145397" cy="756148"/>
              </a:xfrm>
              <a:prstGeom prst="rect">
                <a:avLst/>
              </a:prstGeom>
              <a:solidFill>
                <a:schemeClr val="bg1">
                  <a:alpha val="88000"/>
                </a:schemeClr>
              </a:solidFill>
              <a:ln w="9525" cap="rnd">
                <a:gradFill>
                  <a:gsLst>
                    <a:gs pos="49000">
                      <a:schemeClr val="accent1">
                        <a:lumMod val="5000"/>
                        <a:lumOff val="95000"/>
                      </a:schemeClr>
                    </a:gs>
                    <a:gs pos="65000">
                      <a:schemeClr val="tx2"/>
                    </a:gs>
                    <a:gs pos="100000">
                      <a:schemeClr val="accent1"/>
                    </a:gs>
                    <a:gs pos="34692">
                      <a:schemeClr val="tx2"/>
                    </a:gs>
                    <a:gs pos="0">
                      <a:schemeClr val="accent1"/>
                    </a:gs>
                  </a:gsLst>
                  <a:lin ang="5400000" scaled="1"/>
                </a:gra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buFont typeface="Trebuchet MS" panose="020B0603020202020204" pitchFamily="34" charset="0"/>
                  <a:buChar char="​"/>
                </a:pPr>
                <a:r>
                  <a:rPr kumimoji="0" lang="zh-TW" altLang="zh-TW" sz="1600" b="0" i="0" u="none" strike="noStrike" cap="none" normalizeH="0" baseline="0">
                    <a:ln>
                      <a:noFill/>
                    </a:ln>
                    <a:solidFill>
                      <a:schemeClr val="tx1"/>
                    </a:solidFill>
                    <a:effectLst/>
                    <a:latin typeface="Trebuchet MS" panose="020B0603020202020204" pitchFamily="34" charset="0"/>
                  </a:rPr>
                  <a:t>提高行銷活動投放的精準度，提升行銷費用的支出效率</a:t>
                </a:r>
                <a:endParaRPr lang="en-US" altLang="zh-CN" sz="1600">
                  <a:solidFill>
                    <a:schemeClr val="tx1"/>
                  </a:solidFill>
                  <a:latin typeface="Trebuchet MS" panose="020B0603020202020204" pitchFamily="34" charset="0"/>
                </a:endParaRPr>
              </a:p>
            </p:txBody>
          </p:sp>
          <p:sp>
            <p:nvSpPr>
              <p:cNvPr id="240" name="Rectangle 239">
                <a:extLst>
                  <a:ext uri="{FF2B5EF4-FFF2-40B4-BE49-F238E27FC236}">
                    <a16:creationId xmlns:a16="http://schemas.microsoft.com/office/drawing/2014/main" id="{8A189CE0-23DD-39DD-6A3F-2D6533166F6E}"/>
                  </a:ext>
                </a:extLst>
              </p:cNvPr>
              <p:cNvSpPr/>
              <p:nvPr/>
            </p:nvSpPr>
            <p:spPr>
              <a:xfrm>
                <a:off x="8149387" y="2299530"/>
                <a:ext cx="3145397" cy="350953"/>
              </a:xfrm>
              <a:prstGeom prst="rect">
                <a:avLst/>
              </a:prstGeom>
              <a:solidFill>
                <a:srgbClr val="29BA74"/>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0" lang="zh-TW" altLang="zh-TW" sz="1600" b="1" i="0" u="none" strike="noStrike" cap="none" normalizeH="0" baseline="0">
                    <a:ln>
                      <a:noFill/>
                    </a:ln>
                    <a:solidFill>
                      <a:schemeClr val="bg1"/>
                    </a:solidFill>
                    <a:effectLst>
                      <a:outerShdw blurRad="38100" dist="38100" dir="2700000" algn="tl">
                        <a:srgbClr val="000000">
                          <a:alpha val="43137"/>
                        </a:srgbClr>
                      </a:outerShdw>
                    </a:effectLst>
                    <a:latin typeface="Arial" panose="020B0604020202020204" pitchFamily="34" charset="0"/>
                  </a:rPr>
                  <a:t>精準行銷</a:t>
                </a:r>
                <a:endParaRPr lang="en-US" sz="1600">
                  <a:solidFill>
                    <a:schemeClr val="bg1"/>
                  </a:solidFill>
                  <a:effectLst>
                    <a:outerShdw blurRad="38100" dist="38100" dir="2700000" algn="tl">
                      <a:srgbClr val="000000">
                        <a:alpha val="43137"/>
                      </a:srgbClr>
                    </a:outerShdw>
                  </a:effectLst>
                </a:endParaRPr>
              </a:p>
            </p:txBody>
          </p:sp>
          <p:sp>
            <p:nvSpPr>
              <p:cNvPr id="241" name="TextBox 240">
                <a:extLst>
                  <a:ext uri="{FF2B5EF4-FFF2-40B4-BE49-F238E27FC236}">
                    <a16:creationId xmlns:a16="http://schemas.microsoft.com/office/drawing/2014/main" id="{56E5BD7D-D252-4345-BACC-A1518C496E38}"/>
                  </a:ext>
                </a:extLst>
              </p:cNvPr>
              <p:cNvSpPr txBox="1"/>
              <p:nvPr/>
            </p:nvSpPr>
            <p:spPr>
              <a:xfrm>
                <a:off x="8149388" y="3886274"/>
                <a:ext cx="3145397" cy="756148"/>
              </a:xfrm>
              <a:prstGeom prst="rect">
                <a:avLst/>
              </a:prstGeom>
              <a:solidFill>
                <a:schemeClr val="bg1">
                  <a:alpha val="88000"/>
                </a:schemeClr>
              </a:solidFill>
              <a:ln w="9525" cap="rnd">
                <a:gradFill>
                  <a:gsLst>
                    <a:gs pos="49000">
                      <a:schemeClr val="accent1">
                        <a:lumMod val="5000"/>
                        <a:lumOff val="95000"/>
                      </a:schemeClr>
                    </a:gs>
                    <a:gs pos="65000">
                      <a:schemeClr val="tx2"/>
                    </a:gs>
                    <a:gs pos="100000">
                      <a:schemeClr val="accent1"/>
                    </a:gs>
                    <a:gs pos="34692">
                      <a:schemeClr val="tx2"/>
                    </a:gs>
                    <a:gs pos="0">
                      <a:schemeClr val="accent1"/>
                    </a:gs>
                  </a:gsLst>
                  <a:lin ang="5400000" scaled="1"/>
                </a:gra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buFont typeface="Trebuchet MS" panose="020B0603020202020204" pitchFamily="34" charset="0"/>
                  <a:buChar char="​"/>
                </a:pPr>
                <a:r>
                  <a:rPr kumimoji="0" lang="zh-TW" altLang="zh-TW" sz="1600" b="0" i="0" u="none" strike="noStrike" cap="none" normalizeH="0" baseline="0">
                    <a:ln>
                      <a:noFill/>
                    </a:ln>
                    <a:solidFill>
                      <a:schemeClr val="tx1"/>
                    </a:solidFill>
                    <a:effectLst/>
                    <a:latin typeface="Arial" panose="020B0604020202020204" pitchFamily="34" charset="0"/>
                  </a:rPr>
                  <a:t>提供</a:t>
                </a:r>
                <a:r>
                  <a:rPr kumimoji="0" lang="zh-TW" altLang="en-US" sz="1600" b="0" i="0" u="none" strike="noStrike" cap="none" normalizeH="0" baseline="0">
                    <a:ln>
                      <a:noFill/>
                    </a:ln>
                    <a:solidFill>
                      <a:schemeClr val="tx1"/>
                    </a:solidFill>
                    <a:effectLst/>
                    <a:latin typeface="Arial" panose="020B0604020202020204" pitchFamily="34" charset="0"/>
                  </a:rPr>
                  <a:t>線上、線下</a:t>
                </a:r>
                <a:r>
                  <a:rPr kumimoji="0" lang="zh-TW" altLang="zh-TW" sz="1600" b="0" i="0" u="none" strike="noStrike" cap="none" normalizeH="0" baseline="0">
                    <a:ln>
                      <a:noFill/>
                    </a:ln>
                    <a:solidFill>
                      <a:schemeClr val="tx1"/>
                    </a:solidFill>
                    <a:effectLst/>
                    <a:latin typeface="Arial" panose="020B0604020202020204" pitchFamily="34" charset="0"/>
                  </a:rPr>
                  <a:t>個人化體驗，包括產品推薦、服務、優惠等</a:t>
                </a:r>
                <a:endParaRPr lang="en-US" altLang="zh-CN" sz="1600">
                  <a:solidFill>
                    <a:schemeClr val="tx1"/>
                  </a:solidFill>
                  <a:latin typeface="Trebuchet MS" panose="020B0603020202020204" pitchFamily="34" charset="0"/>
                </a:endParaRPr>
              </a:p>
            </p:txBody>
          </p:sp>
          <p:sp>
            <p:nvSpPr>
              <p:cNvPr id="242" name="Rectangle 241">
                <a:extLst>
                  <a:ext uri="{FF2B5EF4-FFF2-40B4-BE49-F238E27FC236}">
                    <a16:creationId xmlns:a16="http://schemas.microsoft.com/office/drawing/2014/main" id="{F295ED20-0878-F316-5CF1-67BCF8B10774}"/>
                  </a:ext>
                </a:extLst>
              </p:cNvPr>
              <p:cNvSpPr/>
              <p:nvPr/>
            </p:nvSpPr>
            <p:spPr>
              <a:xfrm>
                <a:off x="8149387" y="3535320"/>
                <a:ext cx="3145397" cy="350953"/>
              </a:xfrm>
              <a:prstGeom prst="rect">
                <a:avLst/>
              </a:prstGeom>
              <a:solidFill>
                <a:srgbClr val="29BA74"/>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0" lang="zh-TW" altLang="en-US" sz="1600" b="1" i="0" u="none" strike="noStrike" cap="none" normalizeH="0" baseline="0">
                    <a:ln>
                      <a:noFill/>
                    </a:ln>
                    <a:solidFill>
                      <a:schemeClr val="bg1"/>
                    </a:solidFill>
                    <a:effectLst>
                      <a:outerShdw blurRad="38100" dist="38100" dir="2700000" algn="tl">
                        <a:srgbClr val="000000">
                          <a:alpha val="43137"/>
                        </a:srgbClr>
                      </a:outerShdw>
                    </a:effectLst>
                    <a:latin typeface="Arial" panose="020B0604020202020204" pitchFamily="34" charset="0"/>
                  </a:rPr>
                  <a:t>全通路個人化體驗</a:t>
                </a:r>
                <a:endParaRPr lang="en-US" sz="1600">
                  <a:solidFill>
                    <a:schemeClr val="bg1"/>
                  </a:solidFill>
                  <a:effectLst>
                    <a:outerShdw blurRad="38100" dist="38100" dir="2700000" algn="tl">
                      <a:srgbClr val="000000">
                        <a:alpha val="43137"/>
                      </a:srgbClr>
                    </a:outerShdw>
                  </a:effectLst>
                </a:endParaRPr>
              </a:p>
            </p:txBody>
          </p:sp>
          <p:sp>
            <p:nvSpPr>
              <p:cNvPr id="243" name="TextBox 242">
                <a:extLst>
                  <a:ext uri="{FF2B5EF4-FFF2-40B4-BE49-F238E27FC236}">
                    <a16:creationId xmlns:a16="http://schemas.microsoft.com/office/drawing/2014/main" id="{8FA9E634-59C1-3F82-1688-BEE70D4DF3C0}"/>
                  </a:ext>
                </a:extLst>
              </p:cNvPr>
              <p:cNvSpPr txBox="1"/>
              <p:nvPr/>
            </p:nvSpPr>
            <p:spPr>
              <a:xfrm>
                <a:off x="8149388" y="5132818"/>
                <a:ext cx="3145397" cy="895591"/>
              </a:xfrm>
              <a:prstGeom prst="rect">
                <a:avLst/>
              </a:prstGeom>
              <a:solidFill>
                <a:schemeClr val="bg1">
                  <a:alpha val="88000"/>
                </a:schemeClr>
              </a:solidFill>
              <a:ln w="9525" cap="rnd">
                <a:gradFill>
                  <a:gsLst>
                    <a:gs pos="49000">
                      <a:schemeClr val="accent1">
                        <a:lumMod val="5000"/>
                        <a:lumOff val="95000"/>
                      </a:schemeClr>
                    </a:gs>
                    <a:gs pos="65000">
                      <a:schemeClr val="tx2"/>
                    </a:gs>
                    <a:gs pos="100000">
                      <a:schemeClr val="accent1"/>
                    </a:gs>
                    <a:gs pos="34692">
                      <a:schemeClr val="tx2"/>
                    </a:gs>
                    <a:gs pos="0">
                      <a:schemeClr val="accent1"/>
                    </a:gs>
                  </a:gsLst>
                  <a:lin ang="5400000" scaled="1"/>
                </a:gra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buFont typeface="Trebuchet MS" panose="020B0603020202020204" pitchFamily="34" charset="0"/>
                  <a:buChar char="​"/>
                </a:pPr>
                <a:r>
                  <a:rPr kumimoji="0" lang="zh-TW" altLang="zh-TW" sz="1600" b="0" i="0" u="none" strike="noStrike" cap="none" normalizeH="0" baseline="0">
                    <a:ln>
                      <a:noFill/>
                    </a:ln>
                    <a:solidFill>
                      <a:schemeClr val="tx1"/>
                    </a:solidFill>
                    <a:effectLst/>
                    <a:latin typeface="Arial" panose="020B0604020202020204" pitchFamily="34" charset="0"/>
                  </a:rPr>
                  <a:t>提升顧客接觸深度、防止顧客流失、促進MGM，根據反饋即時調整</a:t>
                </a:r>
                <a:endParaRPr lang="en-US" altLang="zh-CN" sz="1600">
                  <a:solidFill>
                    <a:schemeClr val="tx1"/>
                  </a:solidFill>
                  <a:latin typeface="Trebuchet MS" panose="020B0603020202020204" pitchFamily="34" charset="0"/>
                </a:endParaRPr>
              </a:p>
            </p:txBody>
          </p:sp>
          <p:sp>
            <p:nvSpPr>
              <p:cNvPr id="244" name="Rectangle 243">
                <a:extLst>
                  <a:ext uri="{FF2B5EF4-FFF2-40B4-BE49-F238E27FC236}">
                    <a16:creationId xmlns:a16="http://schemas.microsoft.com/office/drawing/2014/main" id="{BEB126FA-ED88-5493-FA73-478A2D8EB175}"/>
                  </a:ext>
                </a:extLst>
              </p:cNvPr>
              <p:cNvSpPr/>
              <p:nvPr/>
            </p:nvSpPr>
            <p:spPr>
              <a:xfrm>
                <a:off x="8149387" y="4781865"/>
                <a:ext cx="3145397" cy="350953"/>
              </a:xfrm>
              <a:prstGeom prst="rect">
                <a:avLst/>
              </a:prstGeom>
              <a:solidFill>
                <a:srgbClr val="29BA74"/>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0" lang="zh-TW" altLang="en-US" sz="1600" b="1" i="0" u="none" strike="noStrike" cap="none" normalizeH="0" baseline="0">
                    <a:ln>
                      <a:noFill/>
                    </a:ln>
                    <a:solidFill>
                      <a:schemeClr val="bg1"/>
                    </a:solidFill>
                    <a:effectLst>
                      <a:outerShdw blurRad="38100" dist="38100" dir="2700000" algn="tl">
                        <a:srgbClr val="000000">
                          <a:alpha val="43137"/>
                        </a:srgbClr>
                      </a:outerShdw>
                    </a:effectLst>
                    <a:latin typeface="Arial" panose="020B0604020202020204" pitchFamily="34" charset="0"/>
                  </a:rPr>
                  <a:t>高顧客忠誠度及終身價值</a:t>
                </a:r>
                <a:endParaRPr lang="en-US" sz="1600">
                  <a:solidFill>
                    <a:schemeClr val="bg1"/>
                  </a:solidFill>
                  <a:effectLst>
                    <a:outerShdw blurRad="38100" dist="38100" dir="2700000" algn="tl">
                      <a:srgbClr val="000000">
                        <a:alpha val="43137"/>
                      </a:srgbClr>
                    </a:outerShdw>
                  </a:effectLst>
                </a:endParaRPr>
              </a:p>
            </p:txBody>
          </p:sp>
        </p:grpSp>
      </p:grpSp>
      <p:sp>
        <p:nvSpPr>
          <p:cNvPr id="251" name="Freeform 49">
            <a:extLst>
              <a:ext uri="{FF2B5EF4-FFF2-40B4-BE49-F238E27FC236}">
                <a16:creationId xmlns:a16="http://schemas.microsoft.com/office/drawing/2014/main" id="{4AF9E9EA-6BA8-D9E8-2559-292B3B69ECE3}"/>
              </a:ext>
            </a:extLst>
          </p:cNvPr>
          <p:cNvSpPr/>
          <p:nvPr/>
        </p:nvSpPr>
        <p:spPr>
          <a:xfrm rot="5400000" flipH="1">
            <a:off x="4205030" y="5104882"/>
            <a:ext cx="405364" cy="1233878"/>
          </a:xfrm>
          <a:custGeom>
            <a:avLst/>
            <a:gdLst>
              <a:gd name="connsiteX0" fmla="*/ 794696 w 794696"/>
              <a:gd name="connsiteY0" fmla="*/ 0 h 4471927"/>
              <a:gd name="connsiteX1" fmla="*/ 794696 w 794696"/>
              <a:gd name="connsiteY1" fmla="*/ 4471927 h 4471927"/>
              <a:gd name="connsiteX2" fmla="*/ 276286 w 794696"/>
              <a:gd name="connsiteY2" fmla="*/ 2541335 h 4471927"/>
              <a:gd name="connsiteX3" fmla="*/ 253845 w 794696"/>
              <a:gd name="connsiteY3" fmla="*/ 2537908 h 4471927"/>
              <a:gd name="connsiteX4" fmla="*/ 253845 w 794696"/>
              <a:gd name="connsiteY4" fmla="*/ 2669182 h 4471927"/>
              <a:gd name="connsiteX5" fmla="*/ 0 w 794696"/>
              <a:gd name="connsiteY5" fmla="*/ 2205121 h 4471927"/>
              <a:gd name="connsiteX6" fmla="*/ 253845 w 794696"/>
              <a:gd name="connsiteY6" fmla="*/ 1741061 h 4471927"/>
              <a:gd name="connsiteX7" fmla="*/ 253845 w 794696"/>
              <a:gd name="connsiteY7" fmla="*/ 1915632 h 4471927"/>
              <a:gd name="connsiteX8" fmla="*/ 315049 w 794696"/>
              <a:gd name="connsiteY8" fmla="*/ 1838765 h 4471927"/>
              <a:gd name="connsiteX9" fmla="*/ 794696 w 794696"/>
              <a:gd name="connsiteY9" fmla="*/ 0 h 4471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4696" h="4471927">
                <a:moveTo>
                  <a:pt x="794696" y="0"/>
                </a:moveTo>
                <a:lnTo>
                  <a:pt x="794696" y="4471927"/>
                </a:lnTo>
                <a:cubicBezTo>
                  <a:pt x="648933" y="3496233"/>
                  <a:pt x="470769" y="2624750"/>
                  <a:pt x="276286" y="2541335"/>
                </a:cubicBezTo>
                <a:lnTo>
                  <a:pt x="253845" y="2537908"/>
                </a:lnTo>
                <a:lnTo>
                  <a:pt x="253845" y="2669182"/>
                </a:lnTo>
                <a:lnTo>
                  <a:pt x="0" y="2205121"/>
                </a:lnTo>
                <a:lnTo>
                  <a:pt x="253845" y="1741061"/>
                </a:lnTo>
                <a:lnTo>
                  <a:pt x="253845" y="1915632"/>
                </a:lnTo>
                <a:lnTo>
                  <a:pt x="315049" y="1838765"/>
                </a:lnTo>
                <a:cubicBezTo>
                  <a:pt x="494854" y="1586427"/>
                  <a:pt x="660548" y="1141191"/>
                  <a:pt x="794696" y="0"/>
                </a:cubicBezTo>
                <a:close/>
              </a:path>
            </a:pathLst>
          </a:custGeom>
          <a:gradFill flip="none" rotWithShape="1">
            <a:gsLst>
              <a:gs pos="44000">
                <a:schemeClr val="tx2"/>
              </a:gs>
              <a:gs pos="97000">
                <a:srgbClr val="FFFFFF">
                  <a:lumMod val="5000"/>
                  <a:lumOff val="95000"/>
                  <a:alpha val="0"/>
                </a:srgbClr>
              </a:gs>
              <a:gs pos="0">
                <a:schemeClr val="accent2"/>
              </a:gs>
            </a:gsLst>
            <a:lin ang="0" scaled="1"/>
            <a:tileRect/>
          </a:gradFill>
          <a:ln w="952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kern="0">
              <a:solidFill>
                <a:srgbClr val="000000"/>
              </a:solidFill>
              <a:cs typeface="+mn-ea"/>
              <a:sym typeface="+mn-lt"/>
            </a:endParaRPr>
          </a:p>
        </p:txBody>
      </p:sp>
      <p:sp>
        <p:nvSpPr>
          <p:cNvPr id="252" name="Freeform 49">
            <a:extLst>
              <a:ext uri="{FF2B5EF4-FFF2-40B4-BE49-F238E27FC236}">
                <a16:creationId xmlns:a16="http://schemas.microsoft.com/office/drawing/2014/main" id="{EF06455B-A642-224E-967A-3FCB9D858A64}"/>
              </a:ext>
            </a:extLst>
          </p:cNvPr>
          <p:cNvSpPr/>
          <p:nvPr/>
        </p:nvSpPr>
        <p:spPr>
          <a:xfrm rot="5400000" flipH="1">
            <a:off x="4205030" y="2592119"/>
            <a:ext cx="405364" cy="1233878"/>
          </a:xfrm>
          <a:custGeom>
            <a:avLst/>
            <a:gdLst>
              <a:gd name="connsiteX0" fmla="*/ 794696 w 794696"/>
              <a:gd name="connsiteY0" fmla="*/ 0 h 4471927"/>
              <a:gd name="connsiteX1" fmla="*/ 794696 w 794696"/>
              <a:gd name="connsiteY1" fmla="*/ 4471927 h 4471927"/>
              <a:gd name="connsiteX2" fmla="*/ 276286 w 794696"/>
              <a:gd name="connsiteY2" fmla="*/ 2541335 h 4471927"/>
              <a:gd name="connsiteX3" fmla="*/ 253845 w 794696"/>
              <a:gd name="connsiteY3" fmla="*/ 2537908 h 4471927"/>
              <a:gd name="connsiteX4" fmla="*/ 253845 w 794696"/>
              <a:gd name="connsiteY4" fmla="*/ 2669182 h 4471927"/>
              <a:gd name="connsiteX5" fmla="*/ 0 w 794696"/>
              <a:gd name="connsiteY5" fmla="*/ 2205121 h 4471927"/>
              <a:gd name="connsiteX6" fmla="*/ 253845 w 794696"/>
              <a:gd name="connsiteY6" fmla="*/ 1741061 h 4471927"/>
              <a:gd name="connsiteX7" fmla="*/ 253845 w 794696"/>
              <a:gd name="connsiteY7" fmla="*/ 1915632 h 4471927"/>
              <a:gd name="connsiteX8" fmla="*/ 315049 w 794696"/>
              <a:gd name="connsiteY8" fmla="*/ 1838765 h 4471927"/>
              <a:gd name="connsiteX9" fmla="*/ 794696 w 794696"/>
              <a:gd name="connsiteY9" fmla="*/ 0 h 4471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4696" h="4471927">
                <a:moveTo>
                  <a:pt x="794696" y="0"/>
                </a:moveTo>
                <a:lnTo>
                  <a:pt x="794696" y="4471927"/>
                </a:lnTo>
                <a:cubicBezTo>
                  <a:pt x="648933" y="3496233"/>
                  <a:pt x="470769" y="2624750"/>
                  <a:pt x="276286" y="2541335"/>
                </a:cubicBezTo>
                <a:lnTo>
                  <a:pt x="253845" y="2537908"/>
                </a:lnTo>
                <a:lnTo>
                  <a:pt x="253845" y="2669182"/>
                </a:lnTo>
                <a:lnTo>
                  <a:pt x="0" y="2205121"/>
                </a:lnTo>
                <a:lnTo>
                  <a:pt x="253845" y="1741061"/>
                </a:lnTo>
                <a:lnTo>
                  <a:pt x="253845" y="1915632"/>
                </a:lnTo>
                <a:lnTo>
                  <a:pt x="315049" y="1838765"/>
                </a:lnTo>
                <a:cubicBezTo>
                  <a:pt x="494854" y="1586427"/>
                  <a:pt x="660548" y="1141191"/>
                  <a:pt x="794696" y="0"/>
                </a:cubicBezTo>
                <a:close/>
              </a:path>
            </a:pathLst>
          </a:custGeom>
          <a:gradFill flip="none" rotWithShape="1">
            <a:gsLst>
              <a:gs pos="44000">
                <a:schemeClr val="tx2"/>
              </a:gs>
              <a:gs pos="97000">
                <a:srgbClr val="FFFFFF">
                  <a:lumMod val="5000"/>
                  <a:lumOff val="95000"/>
                  <a:alpha val="0"/>
                </a:srgbClr>
              </a:gs>
              <a:gs pos="0">
                <a:schemeClr val="accent2"/>
              </a:gs>
            </a:gsLst>
            <a:lin ang="0" scaled="1"/>
            <a:tileRect/>
          </a:gradFill>
          <a:ln w="952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kern="0">
              <a:solidFill>
                <a:srgbClr val="000000"/>
              </a:solidFill>
              <a:cs typeface="+mn-ea"/>
              <a:sym typeface="+mn-lt"/>
            </a:endParaRPr>
          </a:p>
        </p:txBody>
      </p:sp>
      <p:sp>
        <p:nvSpPr>
          <p:cNvPr id="253" name="Freeform 49">
            <a:extLst>
              <a:ext uri="{FF2B5EF4-FFF2-40B4-BE49-F238E27FC236}">
                <a16:creationId xmlns:a16="http://schemas.microsoft.com/office/drawing/2014/main" id="{E5359F59-86A7-E19F-82A5-5832131514C8}"/>
              </a:ext>
            </a:extLst>
          </p:cNvPr>
          <p:cNvSpPr/>
          <p:nvPr/>
        </p:nvSpPr>
        <p:spPr>
          <a:xfrm rot="5400000" flipH="1">
            <a:off x="4205030" y="3824873"/>
            <a:ext cx="405364" cy="1233878"/>
          </a:xfrm>
          <a:custGeom>
            <a:avLst/>
            <a:gdLst>
              <a:gd name="connsiteX0" fmla="*/ 794696 w 794696"/>
              <a:gd name="connsiteY0" fmla="*/ 0 h 4471927"/>
              <a:gd name="connsiteX1" fmla="*/ 794696 w 794696"/>
              <a:gd name="connsiteY1" fmla="*/ 4471927 h 4471927"/>
              <a:gd name="connsiteX2" fmla="*/ 276286 w 794696"/>
              <a:gd name="connsiteY2" fmla="*/ 2541335 h 4471927"/>
              <a:gd name="connsiteX3" fmla="*/ 253845 w 794696"/>
              <a:gd name="connsiteY3" fmla="*/ 2537908 h 4471927"/>
              <a:gd name="connsiteX4" fmla="*/ 253845 w 794696"/>
              <a:gd name="connsiteY4" fmla="*/ 2669182 h 4471927"/>
              <a:gd name="connsiteX5" fmla="*/ 0 w 794696"/>
              <a:gd name="connsiteY5" fmla="*/ 2205121 h 4471927"/>
              <a:gd name="connsiteX6" fmla="*/ 253845 w 794696"/>
              <a:gd name="connsiteY6" fmla="*/ 1741061 h 4471927"/>
              <a:gd name="connsiteX7" fmla="*/ 253845 w 794696"/>
              <a:gd name="connsiteY7" fmla="*/ 1915632 h 4471927"/>
              <a:gd name="connsiteX8" fmla="*/ 315049 w 794696"/>
              <a:gd name="connsiteY8" fmla="*/ 1838765 h 4471927"/>
              <a:gd name="connsiteX9" fmla="*/ 794696 w 794696"/>
              <a:gd name="connsiteY9" fmla="*/ 0 h 4471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4696" h="4471927">
                <a:moveTo>
                  <a:pt x="794696" y="0"/>
                </a:moveTo>
                <a:lnTo>
                  <a:pt x="794696" y="4471927"/>
                </a:lnTo>
                <a:cubicBezTo>
                  <a:pt x="648933" y="3496233"/>
                  <a:pt x="470769" y="2624750"/>
                  <a:pt x="276286" y="2541335"/>
                </a:cubicBezTo>
                <a:lnTo>
                  <a:pt x="253845" y="2537908"/>
                </a:lnTo>
                <a:lnTo>
                  <a:pt x="253845" y="2669182"/>
                </a:lnTo>
                <a:lnTo>
                  <a:pt x="0" y="2205121"/>
                </a:lnTo>
                <a:lnTo>
                  <a:pt x="253845" y="1741061"/>
                </a:lnTo>
                <a:lnTo>
                  <a:pt x="253845" y="1915632"/>
                </a:lnTo>
                <a:lnTo>
                  <a:pt x="315049" y="1838765"/>
                </a:lnTo>
                <a:cubicBezTo>
                  <a:pt x="494854" y="1586427"/>
                  <a:pt x="660548" y="1141191"/>
                  <a:pt x="794696" y="0"/>
                </a:cubicBezTo>
                <a:close/>
              </a:path>
            </a:pathLst>
          </a:custGeom>
          <a:gradFill flip="none" rotWithShape="1">
            <a:gsLst>
              <a:gs pos="44000">
                <a:schemeClr val="tx2"/>
              </a:gs>
              <a:gs pos="97000">
                <a:srgbClr val="FFFFFF">
                  <a:lumMod val="5000"/>
                  <a:lumOff val="95000"/>
                  <a:alpha val="0"/>
                </a:srgbClr>
              </a:gs>
              <a:gs pos="0">
                <a:schemeClr val="accent2"/>
              </a:gs>
            </a:gsLst>
            <a:lin ang="0" scaled="1"/>
            <a:tileRect/>
          </a:gradFill>
          <a:ln w="952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kern="0">
              <a:solidFill>
                <a:srgbClr val="000000"/>
              </a:solidFill>
              <a:cs typeface="+mn-ea"/>
              <a:sym typeface="+mn-lt"/>
            </a:endParaRPr>
          </a:p>
        </p:txBody>
      </p:sp>
      <p:sp>
        <p:nvSpPr>
          <p:cNvPr id="17" name="Hexagon 16">
            <a:extLst>
              <a:ext uri="{FF2B5EF4-FFF2-40B4-BE49-F238E27FC236}">
                <a16:creationId xmlns:a16="http://schemas.microsoft.com/office/drawing/2014/main" id="{8D588D85-7986-0A70-80E4-4D82421F851B}"/>
              </a:ext>
            </a:extLst>
          </p:cNvPr>
          <p:cNvSpPr/>
          <p:nvPr/>
        </p:nvSpPr>
        <p:spPr>
          <a:xfrm>
            <a:off x="4035434" y="5918028"/>
            <a:ext cx="740916" cy="339373"/>
          </a:xfrm>
          <a:prstGeom prst="hexagon">
            <a:avLst/>
          </a:prstGeom>
          <a:gradFill flip="none" rotWithShape="1">
            <a:gsLst>
              <a:gs pos="0">
                <a:schemeClr val="tx2"/>
              </a:gs>
              <a:gs pos="100000">
                <a:schemeClr val="accent4"/>
              </a:gs>
            </a:gsLst>
            <a:lin ang="2700000" scaled="1"/>
            <a:tileRect/>
          </a:gradFill>
          <a:ln w="25400" cap="rnd">
            <a:gradFill flip="none" rotWithShape="1">
              <a:gsLst>
                <a:gs pos="0">
                  <a:schemeClr val="accent4">
                    <a:lumMod val="60000"/>
                    <a:lumOff val="40000"/>
                    <a:alpha val="0"/>
                  </a:schemeClr>
                </a:gs>
                <a:gs pos="100000">
                  <a:schemeClr val="accent4">
                    <a:lumMod val="50000"/>
                  </a:schemeClr>
                </a:gs>
              </a:gsLst>
              <a:lin ang="2700000" scaled="1"/>
              <a:tileRect/>
            </a:gradFill>
            <a:prstDash val="solid"/>
            <a:round/>
          </a:ln>
          <a:effectLst>
            <a:reflection blurRad="6350" stA="45000" endPos="2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noAutofit/>
          </a:bodyPr>
          <a:lstStyle/>
          <a:p>
            <a:pPr algn="ctr"/>
            <a:r>
              <a:rPr lang="zh-CN" altLang="en-US" sz="1600" b="1" i="1">
                <a:solidFill>
                  <a:srgbClr val="FFFFFF"/>
                </a:solidFill>
                <a:effectLst>
                  <a:outerShdw blurRad="50800" dist="38100" dir="2700000" algn="tl" rotWithShape="0">
                    <a:prstClr val="black">
                      <a:alpha val="40000"/>
                    </a:prstClr>
                  </a:outerShdw>
                </a:effectLst>
                <a:latin typeface="Trebuchet MS" panose="020B0603020202020204" pitchFamily="34" charset="0"/>
                <a:ea typeface="Microsoft YaHei" panose="020B0503020204020204" pitchFamily="34" charset="-122"/>
                <a:cs typeface="+mn-ea"/>
                <a:sym typeface="Trebuchet MS" panose="020B0603020202020204" pitchFamily="34" charset="0"/>
              </a:rPr>
              <a:t>客戶</a:t>
            </a:r>
          </a:p>
        </p:txBody>
      </p:sp>
      <p:pic>
        <p:nvPicPr>
          <p:cNvPr id="254" name="Picture 253">
            <a:extLst>
              <a:ext uri="{FF2B5EF4-FFF2-40B4-BE49-F238E27FC236}">
                <a16:creationId xmlns:a16="http://schemas.microsoft.com/office/drawing/2014/main" id="{6B3DCB60-261C-D5B8-47C6-DA01B77F3F52}"/>
              </a:ext>
            </a:extLst>
          </p:cNvPr>
          <p:cNvPicPr>
            <a:picLocks noChangeAspect="1"/>
          </p:cNvPicPr>
          <p:nvPr/>
        </p:nvPicPr>
        <p:blipFill>
          <a:blip r:embed="rId7"/>
          <a:stretch>
            <a:fillRect/>
          </a:stretch>
        </p:blipFill>
        <p:spPr>
          <a:xfrm rot="10800000" flipV="1">
            <a:off x="4382697" y="3546730"/>
            <a:ext cx="138289" cy="731520"/>
          </a:xfrm>
          <a:prstGeom prst="rect">
            <a:avLst/>
          </a:prstGeom>
        </p:spPr>
      </p:pic>
      <p:sp>
        <p:nvSpPr>
          <p:cNvPr id="4" name="TextBox 3">
            <a:extLst>
              <a:ext uri="{FF2B5EF4-FFF2-40B4-BE49-F238E27FC236}">
                <a16:creationId xmlns:a16="http://schemas.microsoft.com/office/drawing/2014/main" id="{B02448A3-E885-8641-6A1E-C2DCF6AE7BF9}"/>
              </a:ext>
            </a:extLst>
          </p:cNvPr>
          <p:cNvSpPr txBox="1"/>
          <p:nvPr/>
        </p:nvSpPr>
        <p:spPr>
          <a:xfrm>
            <a:off x="7748841" y="1519048"/>
            <a:ext cx="3814510" cy="492443"/>
          </a:xfrm>
          <a:prstGeom prst="rect">
            <a:avLst/>
          </a:prstGeom>
          <a:noFill/>
          <a:extLst>
            <a:ext uri="{909E8E84-426E-40DD-AFC4-6F175D3DCCD1}">
              <a14:hiddenFill xmlns:a14="http://schemas.microsoft.com/office/drawing/2010/main">
                <a:solidFill>
                  <a:srgbClr val="FF6A10"/>
                </a:solidFill>
              </a14:hiddenFill>
            </a:ext>
          </a:extLst>
        </p:spPr>
        <p:txBody>
          <a:bodyPr wrap="square" lIns="0" tIns="0" rIns="0" bIns="0" rtlCol="0" anchor="ctr">
            <a:spAutoFit/>
          </a:bodyPr>
          <a:lstStyle/>
          <a:p>
            <a:pPr defTabSz="609585">
              <a:buFont typeface="Trebuchet MS" panose="020B0603020202020204" pitchFamily="34" charset="0"/>
              <a:buChar char="​"/>
              <a:defRPr/>
            </a:pPr>
            <a:r>
              <a:rPr lang="zh-TW" altLang="en-US" sz="1600">
                <a:solidFill>
                  <a:srgbClr val="29BA74"/>
                </a:solidFill>
                <a:latin typeface="Trebuchet MS" panose="020B0603020202020204" pitchFamily="34" charset="0"/>
                <a:ea typeface="Microsoft YaHei" panose="020B0503020204020204" pitchFamily="34" charset="-122"/>
              </a:rPr>
              <a:t>個性化經營除打造數位通路外，精準行銷、全通路體驗、提高顧客終身價值為關鍵</a:t>
            </a:r>
            <a:endParaRPr lang="fi-FI" sz="1600">
              <a:solidFill>
                <a:srgbClr val="29BA74"/>
              </a:solidFill>
              <a:latin typeface="Trebuchet MS" panose="020B0603020202020204" pitchFamily="34" charset="0"/>
              <a:ea typeface="Microsoft YaHei" panose="020B0503020204020204" pitchFamily="34" charset="-122"/>
            </a:endParaRPr>
          </a:p>
        </p:txBody>
      </p:sp>
      <p:sp>
        <p:nvSpPr>
          <p:cNvPr id="11" name="TextBox 10">
            <a:extLst>
              <a:ext uri="{FF2B5EF4-FFF2-40B4-BE49-F238E27FC236}">
                <a16:creationId xmlns:a16="http://schemas.microsoft.com/office/drawing/2014/main" id="{C8324473-87B0-0681-EFA3-AF48D1134F63}"/>
              </a:ext>
            </a:extLst>
          </p:cNvPr>
          <p:cNvSpPr txBox="1"/>
          <p:nvPr/>
        </p:nvSpPr>
        <p:spPr>
          <a:xfrm>
            <a:off x="637709" y="1578074"/>
            <a:ext cx="6797956" cy="246221"/>
          </a:xfrm>
          <a:prstGeom prst="rect">
            <a:avLst/>
          </a:prstGeom>
          <a:noFill/>
          <a:extLst>
            <a:ext uri="{909E8E84-426E-40DD-AFC4-6F175D3DCCD1}">
              <a14:hiddenFill xmlns:a14="http://schemas.microsoft.com/office/drawing/2010/main">
                <a:solidFill>
                  <a:srgbClr val="FF6A10"/>
                </a:solidFill>
              </a14:hiddenFill>
            </a:ext>
          </a:extLst>
        </p:spPr>
        <p:txBody>
          <a:bodyPr wrap="square" lIns="0" tIns="0" rIns="0" bIns="0" rtlCol="0" anchor="ctr">
            <a:spAutoFit/>
          </a:bodyPr>
          <a:lstStyle/>
          <a:p>
            <a:pPr defTabSz="609585">
              <a:buFont typeface="Trebuchet MS" panose="020B0603020202020204" pitchFamily="34" charset="0"/>
              <a:buChar char="​"/>
              <a:defRPr/>
            </a:pPr>
            <a:r>
              <a:rPr lang="zh-TW" altLang="en-US" sz="1600">
                <a:solidFill>
                  <a:srgbClr val="29BA74"/>
                </a:solidFill>
                <a:latin typeface="Trebuchet MS" panose="020B0603020202020204" pitchFamily="34" charset="0"/>
                <a:ea typeface="Microsoft YaHei" panose="020B0503020204020204" pitchFamily="34" charset="-122"/>
              </a:rPr>
              <a:t>全面個性化經營</a:t>
            </a:r>
            <a:r>
              <a:rPr lang="en-US" altLang="zh-TW" sz="1600">
                <a:solidFill>
                  <a:srgbClr val="29BA74"/>
                </a:solidFill>
                <a:latin typeface="Trebuchet MS" panose="020B0603020202020204" pitchFamily="34" charset="0"/>
                <a:ea typeface="Microsoft YaHei" panose="020B0503020204020204" pitchFamily="34" charset="-122"/>
              </a:rPr>
              <a:t>:</a:t>
            </a:r>
            <a:r>
              <a:rPr lang="zh-TW" altLang="en-US" sz="1600">
                <a:solidFill>
                  <a:srgbClr val="29BA74"/>
                </a:solidFill>
                <a:latin typeface="Trebuchet MS" panose="020B0603020202020204" pitchFamily="34" charset="0"/>
                <a:ea typeface="Microsoft YaHei" panose="020B0503020204020204" pitchFamily="34" charset="-122"/>
              </a:rPr>
              <a:t> 對所有客戶皆在對的管道、對的時間提供對的體驗</a:t>
            </a:r>
            <a:endParaRPr lang="fi-FI" sz="1600">
              <a:solidFill>
                <a:srgbClr val="29BA74"/>
              </a:solidFill>
              <a:latin typeface="Trebuchet MS" panose="020B0603020202020204" pitchFamily="34" charset="0"/>
              <a:ea typeface="Microsoft YaHei" panose="020B0503020204020204" pitchFamily="34" charset="-122"/>
            </a:endParaRPr>
          </a:p>
        </p:txBody>
      </p:sp>
      <p:grpSp>
        <p:nvGrpSpPr>
          <p:cNvPr id="16" name="bcgIcons_Businesswoman front ">
            <a:extLst>
              <a:ext uri="{FF2B5EF4-FFF2-40B4-BE49-F238E27FC236}">
                <a16:creationId xmlns:a16="http://schemas.microsoft.com/office/drawing/2014/main" id="{905762C7-F927-8723-8B6D-829C03E3EDA5}"/>
              </a:ext>
            </a:extLst>
          </p:cNvPr>
          <p:cNvGrpSpPr>
            <a:grpSpLocks noChangeAspect="1"/>
          </p:cNvGrpSpPr>
          <p:nvPr/>
        </p:nvGrpSpPr>
        <p:grpSpPr bwMode="auto">
          <a:xfrm>
            <a:off x="3400428" y="5735491"/>
            <a:ext cx="703769" cy="704448"/>
            <a:chOff x="2405" y="-226"/>
            <a:chExt cx="1036" cy="1037"/>
          </a:xfrm>
        </p:grpSpPr>
        <p:sp>
          <p:nvSpPr>
            <p:cNvPr id="19" name="AutoShape 3">
              <a:extLst>
                <a:ext uri="{FF2B5EF4-FFF2-40B4-BE49-F238E27FC236}">
                  <a16:creationId xmlns:a16="http://schemas.microsoft.com/office/drawing/2014/main" id="{A51A9465-B307-6550-AB8D-FB65E3CCA988}"/>
                </a:ext>
              </a:extLst>
            </p:cNvPr>
            <p:cNvSpPr>
              <a:spLocks noChangeAspect="1" noChangeArrowheads="1" noTextEdit="1"/>
            </p:cNvSpPr>
            <p:nvPr/>
          </p:nvSpPr>
          <p:spPr bwMode="auto">
            <a:xfrm>
              <a:off x="2405" y="-226"/>
              <a:ext cx="1036" cy="1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5">
              <a:extLst>
                <a:ext uri="{FF2B5EF4-FFF2-40B4-BE49-F238E27FC236}">
                  <a16:creationId xmlns:a16="http://schemas.microsoft.com/office/drawing/2014/main" id="{5AC82022-72C1-3AE6-8F6B-0B942E9D9B87}"/>
                </a:ext>
              </a:extLst>
            </p:cNvPr>
            <p:cNvSpPr>
              <a:spLocks noEditPoints="1"/>
            </p:cNvSpPr>
            <p:nvPr/>
          </p:nvSpPr>
          <p:spPr bwMode="auto">
            <a:xfrm>
              <a:off x="2517" y="223"/>
              <a:ext cx="813" cy="432"/>
            </a:xfrm>
            <a:custGeom>
              <a:avLst/>
              <a:gdLst>
                <a:gd name="T0" fmla="*/ 1380 w 1806"/>
                <a:gd name="T1" fmla="*/ 0 h 961"/>
                <a:gd name="T2" fmla="*/ 1380 w 1806"/>
                <a:gd name="T3" fmla="*/ 3 h 961"/>
                <a:gd name="T4" fmla="*/ 1311 w 1806"/>
                <a:gd name="T5" fmla="*/ 112 h 961"/>
                <a:gd name="T6" fmla="*/ 1167 w 1806"/>
                <a:gd name="T7" fmla="*/ 414 h 961"/>
                <a:gd name="T8" fmla="*/ 1167 w 1806"/>
                <a:gd name="T9" fmla="*/ 514 h 961"/>
                <a:gd name="T10" fmla="*/ 1123 w 1806"/>
                <a:gd name="T11" fmla="*/ 550 h 961"/>
                <a:gd name="T12" fmla="*/ 1123 w 1806"/>
                <a:gd name="T13" fmla="*/ 451 h 961"/>
                <a:gd name="T14" fmla="*/ 903 w 1806"/>
                <a:gd name="T15" fmla="*/ 548 h 961"/>
                <a:gd name="T16" fmla="*/ 683 w 1806"/>
                <a:gd name="T17" fmla="*/ 451 h 961"/>
                <a:gd name="T18" fmla="*/ 683 w 1806"/>
                <a:gd name="T19" fmla="*/ 550 h 961"/>
                <a:gd name="T20" fmla="*/ 639 w 1806"/>
                <a:gd name="T21" fmla="*/ 514 h 961"/>
                <a:gd name="T22" fmla="*/ 639 w 1806"/>
                <a:gd name="T23" fmla="*/ 414 h 961"/>
                <a:gd name="T24" fmla="*/ 495 w 1806"/>
                <a:gd name="T25" fmla="*/ 112 h 961"/>
                <a:gd name="T26" fmla="*/ 426 w 1806"/>
                <a:gd name="T27" fmla="*/ 5 h 961"/>
                <a:gd name="T28" fmla="*/ 426 w 1806"/>
                <a:gd name="T29" fmla="*/ 0 h 961"/>
                <a:gd name="T30" fmla="*/ 477 w 1806"/>
                <a:gd name="T31" fmla="*/ 24 h 961"/>
                <a:gd name="T32" fmla="*/ 523 w 1806"/>
                <a:gd name="T33" fmla="*/ 77 h 961"/>
                <a:gd name="T34" fmla="*/ 533 w 1806"/>
                <a:gd name="T35" fmla="*/ 89 h 961"/>
                <a:gd name="T36" fmla="*/ 677 w 1806"/>
                <a:gd name="T37" fmla="*/ 391 h 961"/>
                <a:gd name="T38" fmla="*/ 903 w 1806"/>
                <a:gd name="T39" fmla="*/ 504 h 961"/>
                <a:gd name="T40" fmla="*/ 1129 w 1806"/>
                <a:gd name="T41" fmla="*/ 391 h 961"/>
                <a:gd name="T42" fmla="*/ 1273 w 1806"/>
                <a:gd name="T43" fmla="*/ 89 h 961"/>
                <a:gd name="T44" fmla="*/ 1283 w 1806"/>
                <a:gd name="T45" fmla="*/ 77 h 961"/>
                <a:gd name="T46" fmla="*/ 1329 w 1806"/>
                <a:gd name="T47" fmla="*/ 24 h 961"/>
                <a:gd name="T48" fmla="*/ 1380 w 1806"/>
                <a:gd name="T49" fmla="*/ 0 h 961"/>
                <a:gd name="T50" fmla="*/ 1780 w 1806"/>
                <a:gd name="T51" fmla="*/ 961 h 961"/>
                <a:gd name="T52" fmla="*/ 1801 w 1806"/>
                <a:gd name="T53" fmla="*/ 931 h 961"/>
                <a:gd name="T54" fmla="*/ 1583 w 1806"/>
                <a:gd name="T55" fmla="*/ 614 h 961"/>
                <a:gd name="T56" fmla="*/ 1195 w 1806"/>
                <a:gd name="T57" fmla="*/ 548 h 961"/>
                <a:gd name="T58" fmla="*/ 1195 w 1806"/>
                <a:gd name="T59" fmla="*/ 548 h 961"/>
                <a:gd name="T60" fmla="*/ 1327 w 1806"/>
                <a:gd name="T61" fmla="*/ 696 h 961"/>
                <a:gd name="T62" fmla="*/ 1145 w 1806"/>
                <a:gd name="T63" fmla="*/ 696 h 961"/>
                <a:gd name="T64" fmla="*/ 973 w 1806"/>
                <a:gd name="T65" fmla="*/ 961 h 961"/>
                <a:gd name="T66" fmla="*/ 833 w 1806"/>
                <a:gd name="T67" fmla="*/ 961 h 961"/>
                <a:gd name="T68" fmla="*/ 661 w 1806"/>
                <a:gd name="T69" fmla="*/ 696 h 961"/>
                <a:gd name="T70" fmla="*/ 479 w 1806"/>
                <a:gd name="T71" fmla="*/ 696 h 961"/>
                <a:gd name="T72" fmla="*/ 611 w 1806"/>
                <a:gd name="T73" fmla="*/ 548 h 961"/>
                <a:gd name="T74" fmla="*/ 611 w 1806"/>
                <a:gd name="T75" fmla="*/ 548 h 961"/>
                <a:gd name="T76" fmla="*/ 223 w 1806"/>
                <a:gd name="T77" fmla="*/ 614 h 961"/>
                <a:gd name="T78" fmla="*/ 5 w 1806"/>
                <a:gd name="T79" fmla="*/ 931 h 961"/>
                <a:gd name="T80" fmla="*/ 26 w 1806"/>
                <a:gd name="T81" fmla="*/ 961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06" h="961">
                  <a:moveTo>
                    <a:pt x="1380" y="0"/>
                  </a:moveTo>
                  <a:cubicBezTo>
                    <a:pt x="1380" y="1"/>
                    <a:pt x="1380" y="2"/>
                    <a:pt x="1380" y="3"/>
                  </a:cubicBezTo>
                  <a:cubicBezTo>
                    <a:pt x="1377" y="26"/>
                    <a:pt x="1363" y="82"/>
                    <a:pt x="1311" y="112"/>
                  </a:cubicBezTo>
                  <a:cubicBezTo>
                    <a:pt x="1289" y="168"/>
                    <a:pt x="1212" y="358"/>
                    <a:pt x="1167" y="414"/>
                  </a:cubicBezTo>
                  <a:cubicBezTo>
                    <a:pt x="1167" y="514"/>
                    <a:pt x="1167" y="514"/>
                    <a:pt x="1167" y="514"/>
                  </a:cubicBezTo>
                  <a:cubicBezTo>
                    <a:pt x="1164" y="516"/>
                    <a:pt x="1148" y="530"/>
                    <a:pt x="1123" y="550"/>
                  </a:cubicBezTo>
                  <a:cubicBezTo>
                    <a:pt x="1123" y="451"/>
                    <a:pt x="1123" y="451"/>
                    <a:pt x="1123" y="451"/>
                  </a:cubicBezTo>
                  <a:cubicBezTo>
                    <a:pt x="1064" y="494"/>
                    <a:pt x="968" y="548"/>
                    <a:pt x="903" y="548"/>
                  </a:cubicBezTo>
                  <a:cubicBezTo>
                    <a:pt x="838" y="548"/>
                    <a:pt x="742" y="494"/>
                    <a:pt x="683" y="451"/>
                  </a:cubicBezTo>
                  <a:cubicBezTo>
                    <a:pt x="683" y="550"/>
                    <a:pt x="683" y="550"/>
                    <a:pt x="683" y="550"/>
                  </a:cubicBezTo>
                  <a:cubicBezTo>
                    <a:pt x="659" y="530"/>
                    <a:pt x="642" y="516"/>
                    <a:pt x="639" y="514"/>
                  </a:cubicBezTo>
                  <a:cubicBezTo>
                    <a:pt x="639" y="414"/>
                    <a:pt x="639" y="414"/>
                    <a:pt x="639" y="414"/>
                  </a:cubicBezTo>
                  <a:cubicBezTo>
                    <a:pt x="594" y="359"/>
                    <a:pt x="517" y="168"/>
                    <a:pt x="495" y="112"/>
                  </a:cubicBezTo>
                  <a:cubicBezTo>
                    <a:pt x="446" y="83"/>
                    <a:pt x="431" y="33"/>
                    <a:pt x="426" y="5"/>
                  </a:cubicBezTo>
                  <a:cubicBezTo>
                    <a:pt x="426" y="4"/>
                    <a:pt x="426" y="2"/>
                    <a:pt x="426" y="0"/>
                  </a:cubicBezTo>
                  <a:cubicBezTo>
                    <a:pt x="477" y="24"/>
                    <a:pt x="477" y="24"/>
                    <a:pt x="477" y="24"/>
                  </a:cubicBezTo>
                  <a:cubicBezTo>
                    <a:pt x="484" y="43"/>
                    <a:pt x="498" y="65"/>
                    <a:pt x="523" y="77"/>
                  </a:cubicBezTo>
                  <a:cubicBezTo>
                    <a:pt x="528" y="80"/>
                    <a:pt x="532" y="84"/>
                    <a:pt x="533" y="89"/>
                  </a:cubicBezTo>
                  <a:cubicBezTo>
                    <a:pt x="574" y="192"/>
                    <a:pt x="649" y="365"/>
                    <a:pt x="677" y="391"/>
                  </a:cubicBezTo>
                  <a:cubicBezTo>
                    <a:pt x="722" y="430"/>
                    <a:pt x="838" y="504"/>
                    <a:pt x="903" y="504"/>
                  </a:cubicBezTo>
                  <a:cubicBezTo>
                    <a:pt x="968" y="504"/>
                    <a:pt x="1084" y="430"/>
                    <a:pt x="1129" y="391"/>
                  </a:cubicBezTo>
                  <a:cubicBezTo>
                    <a:pt x="1157" y="365"/>
                    <a:pt x="1232" y="192"/>
                    <a:pt x="1273" y="89"/>
                  </a:cubicBezTo>
                  <a:cubicBezTo>
                    <a:pt x="1274" y="84"/>
                    <a:pt x="1278" y="80"/>
                    <a:pt x="1283" y="77"/>
                  </a:cubicBezTo>
                  <a:cubicBezTo>
                    <a:pt x="1308" y="65"/>
                    <a:pt x="1322" y="43"/>
                    <a:pt x="1329" y="24"/>
                  </a:cubicBezTo>
                  <a:lnTo>
                    <a:pt x="1380" y="0"/>
                  </a:lnTo>
                  <a:close/>
                  <a:moveTo>
                    <a:pt x="1780" y="961"/>
                  </a:moveTo>
                  <a:cubicBezTo>
                    <a:pt x="1796" y="961"/>
                    <a:pt x="1806" y="945"/>
                    <a:pt x="1801" y="931"/>
                  </a:cubicBezTo>
                  <a:cubicBezTo>
                    <a:pt x="1773" y="857"/>
                    <a:pt x="1693" y="664"/>
                    <a:pt x="1583" y="614"/>
                  </a:cubicBezTo>
                  <a:cubicBezTo>
                    <a:pt x="1447" y="551"/>
                    <a:pt x="1195" y="548"/>
                    <a:pt x="1195" y="548"/>
                  </a:cubicBezTo>
                  <a:cubicBezTo>
                    <a:pt x="1195" y="548"/>
                    <a:pt x="1195" y="548"/>
                    <a:pt x="1195" y="548"/>
                  </a:cubicBezTo>
                  <a:cubicBezTo>
                    <a:pt x="1327" y="696"/>
                    <a:pt x="1327" y="696"/>
                    <a:pt x="1327" y="696"/>
                  </a:cubicBezTo>
                  <a:cubicBezTo>
                    <a:pt x="1145" y="696"/>
                    <a:pt x="1145" y="696"/>
                    <a:pt x="1145" y="696"/>
                  </a:cubicBezTo>
                  <a:cubicBezTo>
                    <a:pt x="973" y="961"/>
                    <a:pt x="973" y="961"/>
                    <a:pt x="973" y="961"/>
                  </a:cubicBezTo>
                  <a:moveTo>
                    <a:pt x="833" y="961"/>
                  </a:moveTo>
                  <a:cubicBezTo>
                    <a:pt x="661" y="696"/>
                    <a:pt x="661" y="696"/>
                    <a:pt x="661" y="696"/>
                  </a:cubicBezTo>
                  <a:cubicBezTo>
                    <a:pt x="479" y="696"/>
                    <a:pt x="479" y="696"/>
                    <a:pt x="479" y="696"/>
                  </a:cubicBezTo>
                  <a:cubicBezTo>
                    <a:pt x="611" y="548"/>
                    <a:pt x="611" y="548"/>
                    <a:pt x="611" y="548"/>
                  </a:cubicBezTo>
                  <a:cubicBezTo>
                    <a:pt x="611" y="548"/>
                    <a:pt x="611" y="548"/>
                    <a:pt x="611" y="548"/>
                  </a:cubicBezTo>
                  <a:cubicBezTo>
                    <a:pt x="611" y="548"/>
                    <a:pt x="359" y="551"/>
                    <a:pt x="223" y="614"/>
                  </a:cubicBezTo>
                  <a:cubicBezTo>
                    <a:pt x="113" y="664"/>
                    <a:pt x="33" y="857"/>
                    <a:pt x="5" y="931"/>
                  </a:cubicBezTo>
                  <a:cubicBezTo>
                    <a:pt x="0" y="945"/>
                    <a:pt x="10" y="961"/>
                    <a:pt x="26" y="961"/>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6">
              <a:extLst>
                <a:ext uri="{FF2B5EF4-FFF2-40B4-BE49-F238E27FC236}">
                  <a16:creationId xmlns:a16="http://schemas.microsoft.com/office/drawing/2014/main" id="{9C22FFB5-28E7-5544-91C0-EB8922265E4E}"/>
                </a:ext>
              </a:extLst>
            </p:cNvPr>
            <p:cNvSpPr>
              <a:spLocks noEditPoints="1"/>
            </p:cNvSpPr>
            <p:nvPr/>
          </p:nvSpPr>
          <p:spPr bwMode="auto">
            <a:xfrm>
              <a:off x="2681" y="-101"/>
              <a:ext cx="485" cy="756"/>
            </a:xfrm>
            <a:custGeom>
              <a:avLst/>
              <a:gdLst>
                <a:gd name="T0" fmla="*/ 997 w 1080"/>
                <a:gd name="T1" fmla="*/ 644 h 1681"/>
                <a:gd name="T2" fmla="*/ 997 w 1080"/>
                <a:gd name="T3" fmla="*/ 643 h 1681"/>
                <a:gd name="T4" fmla="*/ 945 w 1080"/>
                <a:gd name="T5" fmla="*/ 716 h 1681"/>
                <a:gd name="T6" fmla="*/ 940 w 1080"/>
                <a:gd name="T7" fmla="*/ 718 h 1681"/>
                <a:gd name="T8" fmla="*/ 910 w 1080"/>
                <a:gd name="T9" fmla="*/ 718 h 1681"/>
                <a:gd name="T10" fmla="*/ 907 w 1080"/>
                <a:gd name="T11" fmla="*/ 717 h 1681"/>
                <a:gd name="T12" fmla="*/ 283 w 1080"/>
                <a:gd name="T13" fmla="*/ 387 h 1681"/>
                <a:gd name="T14" fmla="*/ 277 w 1080"/>
                <a:gd name="T15" fmla="*/ 386 h 1681"/>
                <a:gd name="T16" fmla="*/ 92 w 1080"/>
                <a:gd name="T17" fmla="*/ 678 h 1681"/>
                <a:gd name="T18" fmla="*/ 92 w 1080"/>
                <a:gd name="T19" fmla="*/ 677 h 1681"/>
                <a:gd name="T20" fmla="*/ 66 w 1080"/>
                <a:gd name="T21" fmla="*/ 481 h 1681"/>
                <a:gd name="T22" fmla="*/ 540 w 1080"/>
                <a:gd name="T23" fmla="*/ 0 h 1681"/>
                <a:gd name="T24" fmla="*/ 1014 w 1080"/>
                <a:gd name="T25" fmla="*/ 481 h 1681"/>
                <a:gd name="T26" fmla="*/ 997 w 1080"/>
                <a:gd name="T27" fmla="*/ 644 h 1681"/>
                <a:gd name="T28" fmla="*/ 546 w 1080"/>
                <a:gd name="T29" fmla="*/ 1501 h 1681"/>
                <a:gd name="T30" fmla="*/ 534 w 1080"/>
                <a:gd name="T31" fmla="*/ 1502 h 1681"/>
                <a:gd name="T32" fmla="*/ 381 w 1080"/>
                <a:gd name="T33" fmla="*/ 1377 h 1681"/>
                <a:gd name="T34" fmla="*/ 511 w 1080"/>
                <a:gd name="T35" fmla="*/ 1681 h 1681"/>
                <a:gd name="T36" fmla="*/ 540 w 1080"/>
                <a:gd name="T37" fmla="*/ 1681 h 1681"/>
                <a:gd name="T38" fmla="*/ 540 w 1080"/>
                <a:gd name="T39" fmla="*/ 1681 h 1681"/>
                <a:gd name="T40" fmla="*/ 570 w 1080"/>
                <a:gd name="T41" fmla="*/ 1681 h 1681"/>
                <a:gd name="T42" fmla="*/ 700 w 1080"/>
                <a:gd name="T43" fmla="*/ 1377 h 1681"/>
                <a:gd name="T44" fmla="*/ 546 w 1080"/>
                <a:gd name="T45" fmla="*/ 1501 h 1681"/>
                <a:gd name="T46" fmla="*/ 232 w 1080"/>
                <a:gd name="T47" fmla="*/ 1149 h 1681"/>
                <a:gd name="T48" fmla="*/ 148 w 1080"/>
                <a:gd name="T49" fmla="*/ 984 h 1681"/>
                <a:gd name="T50" fmla="*/ 114 w 1080"/>
                <a:gd name="T51" fmla="*/ 905 h 1681"/>
                <a:gd name="T52" fmla="*/ 0 w 1080"/>
                <a:gd name="T53" fmla="*/ 1153 h 1681"/>
                <a:gd name="T54" fmla="*/ 121 w 1080"/>
                <a:gd name="T55" fmla="*/ 1231 h 1681"/>
                <a:gd name="T56" fmla="*/ 232 w 1080"/>
                <a:gd name="T57" fmla="*/ 1224 h 1681"/>
                <a:gd name="T58" fmla="*/ 232 w 1080"/>
                <a:gd name="T59" fmla="*/ 1149 h 1681"/>
                <a:gd name="T60" fmla="*/ 965 w 1080"/>
                <a:gd name="T61" fmla="*/ 907 h 1681"/>
                <a:gd name="T62" fmla="*/ 932 w 1080"/>
                <a:gd name="T63" fmla="*/ 984 h 1681"/>
                <a:gd name="T64" fmla="*/ 848 w 1080"/>
                <a:gd name="T65" fmla="*/ 1149 h 1681"/>
                <a:gd name="T66" fmla="*/ 848 w 1080"/>
                <a:gd name="T67" fmla="*/ 1224 h 1681"/>
                <a:gd name="T68" fmla="*/ 959 w 1080"/>
                <a:gd name="T69" fmla="*/ 1231 h 1681"/>
                <a:gd name="T70" fmla="*/ 1080 w 1080"/>
                <a:gd name="T71" fmla="*/ 1153 h 1681"/>
                <a:gd name="T72" fmla="*/ 965 w 1080"/>
                <a:gd name="T73" fmla="*/ 907 h 1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80" h="1681">
                  <a:moveTo>
                    <a:pt x="997" y="644"/>
                  </a:moveTo>
                  <a:cubicBezTo>
                    <a:pt x="997" y="643"/>
                    <a:pt x="997" y="643"/>
                    <a:pt x="997" y="643"/>
                  </a:cubicBezTo>
                  <a:cubicBezTo>
                    <a:pt x="996" y="644"/>
                    <a:pt x="988" y="667"/>
                    <a:pt x="945" y="716"/>
                  </a:cubicBezTo>
                  <a:cubicBezTo>
                    <a:pt x="944" y="717"/>
                    <a:pt x="942" y="718"/>
                    <a:pt x="940" y="718"/>
                  </a:cubicBezTo>
                  <a:cubicBezTo>
                    <a:pt x="910" y="718"/>
                    <a:pt x="910" y="718"/>
                    <a:pt x="910" y="718"/>
                  </a:cubicBezTo>
                  <a:cubicBezTo>
                    <a:pt x="909" y="718"/>
                    <a:pt x="908" y="718"/>
                    <a:pt x="907" y="717"/>
                  </a:cubicBezTo>
                  <a:cubicBezTo>
                    <a:pt x="283" y="387"/>
                    <a:pt x="283" y="387"/>
                    <a:pt x="283" y="387"/>
                  </a:cubicBezTo>
                  <a:cubicBezTo>
                    <a:pt x="281" y="386"/>
                    <a:pt x="279" y="386"/>
                    <a:pt x="277" y="386"/>
                  </a:cubicBezTo>
                  <a:cubicBezTo>
                    <a:pt x="138" y="432"/>
                    <a:pt x="139" y="720"/>
                    <a:pt x="92" y="678"/>
                  </a:cubicBezTo>
                  <a:cubicBezTo>
                    <a:pt x="92" y="678"/>
                    <a:pt x="92" y="678"/>
                    <a:pt x="92" y="677"/>
                  </a:cubicBezTo>
                  <a:cubicBezTo>
                    <a:pt x="73" y="625"/>
                    <a:pt x="66" y="540"/>
                    <a:pt x="66" y="481"/>
                  </a:cubicBezTo>
                  <a:cubicBezTo>
                    <a:pt x="66" y="215"/>
                    <a:pt x="272" y="0"/>
                    <a:pt x="540" y="0"/>
                  </a:cubicBezTo>
                  <a:cubicBezTo>
                    <a:pt x="808" y="0"/>
                    <a:pt x="1014" y="215"/>
                    <a:pt x="1014" y="481"/>
                  </a:cubicBezTo>
                  <a:cubicBezTo>
                    <a:pt x="1014" y="538"/>
                    <a:pt x="1015" y="593"/>
                    <a:pt x="997" y="644"/>
                  </a:cubicBezTo>
                  <a:close/>
                  <a:moveTo>
                    <a:pt x="546" y="1501"/>
                  </a:moveTo>
                  <a:cubicBezTo>
                    <a:pt x="543" y="1504"/>
                    <a:pt x="538" y="1504"/>
                    <a:pt x="534" y="1502"/>
                  </a:cubicBezTo>
                  <a:cubicBezTo>
                    <a:pt x="494" y="1470"/>
                    <a:pt x="435" y="1422"/>
                    <a:pt x="381" y="1377"/>
                  </a:cubicBezTo>
                  <a:cubicBezTo>
                    <a:pt x="511" y="1681"/>
                    <a:pt x="511" y="1681"/>
                    <a:pt x="511" y="1681"/>
                  </a:cubicBezTo>
                  <a:cubicBezTo>
                    <a:pt x="540" y="1681"/>
                    <a:pt x="540" y="1681"/>
                    <a:pt x="540" y="1681"/>
                  </a:cubicBezTo>
                  <a:cubicBezTo>
                    <a:pt x="540" y="1681"/>
                    <a:pt x="540" y="1681"/>
                    <a:pt x="540" y="1681"/>
                  </a:cubicBezTo>
                  <a:cubicBezTo>
                    <a:pt x="570" y="1681"/>
                    <a:pt x="570" y="1681"/>
                    <a:pt x="570" y="1681"/>
                  </a:cubicBezTo>
                  <a:cubicBezTo>
                    <a:pt x="700" y="1377"/>
                    <a:pt x="700" y="1377"/>
                    <a:pt x="700" y="1377"/>
                  </a:cubicBezTo>
                  <a:cubicBezTo>
                    <a:pt x="651" y="1417"/>
                    <a:pt x="596" y="1462"/>
                    <a:pt x="546" y="1501"/>
                  </a:cubicBezTo>
                  <a:close/>
                  <a:moveTo>
                    <a:pt x="232" y="1149"/>
                  </a:moveTo>
                  <a:cubicBezTo>
                    <a:pt x="214" y="1123"/>
                    <a:pt x="188" y="1076"/>
                    <a:pt x="148" y="984"/>
                  </a:cubicBezTo>
                  <a:cubicBezTo>
                    <a:pt x="136" y="956"/>
                    <a:pt x="124" y="928"/>
                    <a:pt x="114" y="905"/>
                  </a:cubicBezTo>
                  <a:cubicBezTo>
                    <a:pt x="110" y="995"/>
                    <a:pt x="103" y="1143"/>
                    <a:pt x="0" y="1153"/>
                  </a:cubicBezTo>
                  <a:cubicBezTo>
                    <a:pt x="43" y="1196"/>
                    <a:pt x="85" y="1219"/>
                    <a:pt x="121" y="1231"/>
                  </a:cubicBezTo>
                  <a:cubicBezTo>
                    <a:pt x="171" y="1226"/>
                    <a:pt x="211" y="1225"/>
                    <a:pt x="232" y="1224"/>
                  </a:cubicBezTo>
                  <a:lnTo>
                    <a:pt x="232" y="1149"/>
                  </a:lnTo>
                  <a:close/>
                  <a:moveTo>
                    <a:pt x="965" y="907"/>
                  </a:moveTo>
                  <a:cubicBezTo>
                    <a:pt x="955" y="930"/>
                    <a:pt x="944" y="957"/>
                    <a:pt x="932" y="984"/>
                  </a:cubicBezTo>
                  <a:cubicBezTo>
                    <a:pt x="892" y="1076"/>
                    <a:pt x="866" y="1123"/>
                    <a:pt x="848" y="1149"/>
                  </a:cubicBezTo>
                  <a:cubicBezTo>
                    <a:pt x="848" y="1224"/>
                    <a:pt x="848" y="1224"/>
                    <a:pt x="848" y="1224"/>
                  </a:cubicBezTo>
                  <a:cubicBezTo>
                    <a:pt x="869" y="1225"/>
                    <a:pt x="910" y="1226"/>
                    <a:pt x="959" y="1231"/>
                  </a:cubicBezTo>
                  <a:cubicBezTo>
                    <a:pt x="996" y="1219"/>
                    <a:pt x="1037" y="1196"/>
                    <a:pt x="1080" y="1153"/>
                  </a:cubicBezTo>
                  <a:cubicBezTo>
                    <a:pt x="978" y="1143"/>
                    <a:pt x="969" y="997"/>
                    <a:pt x="965" y="907"/>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5" name="Group 21">
            <a:extLst>
              <a:ext uri="{FF2B5EF4-FFF2-40B4-BE49-F238E27FC236}">
                <a16:creationId xmlns:a16="http://schemas.microsoft.com/office/drawing/2014/main" id="{2C12DBB0-C2EC-CBA2-9CE5-25D30381733E}"/>
              </a:ext>
            </a:extLst>
          </p:cNvPr>
          <p:cNvGrpSpPr/>
          <p:nvPr/>
        </p:nvGrpSpPr>
        <p:grpSpPr>
          <a:xfrm rot="10800000">
            <a:off x="7659268" y="2351684"/>
            <a:ext cx="323643" cy="2878322"/>
            <a:chOff x="8199121" y="2556887"/>
            <a:chExt cx="1090023" cy="4536398"/>
          </a:xfrm>
        </p:grpSpPr>
        <p:sp>
          <p:nvSpPr>
            <p:cNvPr id="27" name="Isosceles Triangle 22">
              <a:extLst>
                <a:ext uri="{FF2B5EF4-FFF2-40B4-BE49-F238E27FC236}">
                  <a16:creationId xmlns:a16="http://schemas.microsoft.com/office/drawing/2014/main" id="{AFC38C7B-D19E-682D-0391-BB1C7BF3F6D0}"/>
                </a:ext>
              </a:extLst>
            </p:cNvPr>
            <p:cNvSpPr/>
            <p:nvPr/>
          </p:nvSpPr>
          <p:spPr>
            <a:xfrm rot="5400000">
              <a:off x="6614545" y="4418687"/>
              <a:ext cx="4536397" cy="812800"/>
            </a:xfrm>
            <a:prstGeom prst="triangle">
              <a:avLst/>
            </a:prstGeom>
            <a:gradFill flip="none" rotWithShape="1">
              <a:gsLst>
                <a:gs pos="0">
                  <a:schemeClr val="accent4">
                    <a:lumMod val="20000"/>
                    <a:lumOff val="80000"/>
                    <a:alpha val="0"/>
                  </a:schemeClr>
                </a:gs>
                <a:gs pos="100000">
                  <a:schemeClr val="accent4">
                    <a:lumMod val="40000"/>
                    <a:lumOff val="60000"/>
                  </a:schemeClr>
                </a:gs>
              </a:gsLst>
              <a:lin ang="16200000" scaled="1"/>
              <a:tileRect/>
            </a:gradFill>
            <a:ln w="12700" cap="rnd">
              <a:gradFill flip="none" rotWithShape="1">
                <a:gsLst>
                  <a:gs pos="0">
                    <a:schemeClr val="accent1">
                      <a:lumMod val="5000"/>
                      <a:lumOff val="95000"/>
                      <a:alpha val="0"/>
                    </a:schemeClr>
                  </a:gs>
                  <a:gs pos="100000">
                    <a:schemeClr val="accent4"/>
                  </a:gs>
                </a:gsLst>
                <a:lin ang="16200000" scaled="1"/>
                <a:tileRect/>
              </a:gra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spcAft>
                  <a:spcPts val="1000"/>
                </a:spcAft>
              </a:pPr>
              <a:endParaRPr lang="en-US" sz="1200" err="1">
                <a:solidFill>
                  <a:schemeClr val="bg1"/>
                </a:solidFill>
                <a:ea typeface="Microsoft YaHei" panose="020B0503020204020204" pitchFamily="34" charset="-122"/>
                <a:cs typeface="+mn-ea"/>
                <a:sym typeface="+mn-lt"/>
              </a:endParaRPr>
            </a:p>
          </p:txBody>
        </p:sp>
        <p:sp>
          <p:nvSpPr>
            <p:cNvPr id="32" name="Isosceles Triangle 23">
              <a:extLst>
                <a:ext uri="{FF2B5EF4-FFF2-40B4-BE49-F238E27FC236}">
                  <a16:creationId xmlns:a16="http://schemas.microsoft.com/office/drawing/2014/main" id="{BAA74182-1309-82DD-FE87-D761AE04EB3E}"/>
                </a:ext>
              </a:extLst>
            </p:cNvPr>
            <p:cNvSpPr/>
            <p:nvPr/>
          </p:nvSpPr>
          <p:spPr>
            <a:xfrm rot="5400000">
              <a:off x="6337322" y="4418686"/>
              <a:ext cx="4536397" cy="812800"/>
            </a:xfrm>
            <a:prstGeom prst="triangle">
              <a:avLst/>
            </a:prstGeom>
            <a:gradFill flip="none" rotWithShape="1">
              <a:gsLst>
                <a:gs pos="0">
                  <a:schemeClr val="accent4">
                    <a:lumMod val="20000"/>
                    <a:lumOff val="80000"/>
                    <a:alpha val="0"/>
                  </a:schemeClr>
                </a:gs>
                <a:gs pos="100000">
                  <a:schemeClr val="accent4">
                    <a:lumMod val="40000"/>
                    <a:lumOff val="60000"/>
                  </a:schemeClr>
                </a:gs>
              </a:gsLst>
              <a:lin ang="16200000" scaled="1"/>
              <a:tileRect/>
            </a:gradFill>
            <a:ln w="12700" cap="rnd">
              <a:gradFill flip="none" rotWithShape="1">
                <a:gsLst>
                  <a:gs pos="0">
                    <a:schemeClr val="accent1">
                      <a:lumMod val="5000"/>
                      <a:lumOff val="95000"/>
                      <a:alpha val="0"/>
                    </a:schemeClr>
                  </a:gs>
                  <a:gs pos="100000">
                    <a:schemeClr val="accent4"/>
                  </a:gs>
                </a:gsLst>
                <a:lin ang="16200000" scaled="1"/>
                <a:tileRect/>
              </a:gra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spcAft>
                  <a:spcPts val="1000"/>
                </a:spcAft>
              </a:pPr>
              <a:endParaRPr lang="en-US" sz="1200" err="1">
                <a:solidFill>
                  <a:schemeClr val="bg1"/>
                </a:solidFill>
                <a:ea typeface="Microsoft YaHei" panose="020B0503020204020204" pitchFamily="34" charset="-122"/>
                <a:cs typeface="+mn-ea"/>
                <a:sym typeface="+mn-lt"/>
              </a:endParaRPr>
            </a:p>
          </p:txBody>
        </p:sp>
      </p:grpSp>
      <p:sp>
        <p:nvSpPr>
          <p:cNvPr id="7" name="Oval 20">
            <a:extLst>
              <a:ext uri="{FF2B5EF4-FFF2-40B4-BE49-F238E27FC236}">
                <a16:creationId xmlns:a16="http://schemas.microsoft.com/office/drawing/2014/main" id="{8392E9FF-7A40-E5C4-4970-76F088FF3BE5}"/>
              </a:ext>
            </a:extLst>
          </p:cNvPr>
          <p:cNvSpPr>
            <a:spLocks noChangeAspect="1" noChangeArrowheads="1"/>
          </p:cNvSpPr>
          <p:nvPr/>
        </p:nvSpPr>
        <p:spPr bwMode="auto">
          <a:xfrm>
            <a:off x="186544" y="98006"/>
            <a:ext cx="299290" cy="299290"/>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sz="1200">
                <a:solidFill>
                  <a:schemeClr val="bg1"/>
                </a:solidFill>
                <a:ea typeface="Microsoft YaHei" panose="020B0503020204020204" pitchFamily="34" charset="-122"/>
              </a:rPr>
              <a:t>1</a:t>
            </a:r>
          </a:p>
        </p:txBody>
      </p:sp>
      <p:sp>
        <p:nvSpPr>
          <p:cNvPr id="8" name="TextBox 7">
            <a:extLst>
              <a:ext uri="{FF2B5EF4-FFF2-40B4-BE49-F238E27FC236}">
                <a16:creationId xmlns:a16="http://schemas.microsoft.com/office/drawing/2014/main" id="{1D0BBE6D-6455-64ED-7D9A-A40812F68D4C}"/>
              </a:ext>
            </a:extLst>
          </p:cNvPr>
          <p:cNvSpPr txBox="1"/>
          <p:nvPr/>
        </p:nvSpPr>
        <p:spPr>
          <a:xfrm>
            <a:off x="490697" y="128208"/>
            <a:ext cx="2217333" cy="276999"/>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a:spAutoFit/>
          </a:bodyPr>
          <a:lstStyle/>
          <a:p>
            <a:r>
              <a:rPr lang="zh-TW" altLang="en-US" sz="1200">
                <a:solidFill>
                  <a:srgbClr val="575757"/>
                </a:solidFill>
                <a:latin typeface="Trebuchet MS" panose="020B0603020202020204" pitchFamily="34" charset="0"/>
                <a:ea typeface="Microsoft YaHei" panose="020B0503020204020204" pitchFamily="34" charset="-122"/>
              </a:rPr>
              <a:t>優化預測模型，個性化經營</a:t>
            </a:r>
            <a:endParaRPr lang="en-US" sz="1200">
              <a:solidFill>
                <a:srgbClr val="575757"/>
              </a:solidFill>
              <a:ea typeface="Microsoft YaHei" panose="020B0503020204020204" pitchFamily="34" charset="-122"/>
            </a:endParaRPr>
          </a:p>
        </p:txBody>
      </p:sp>
    </p:spTree>
    <p:extLst>
      <p:ext uri="{BB962C8B-B14F-4D97-AF65-F5344CB8AC3E}">
        <p14:creationId xmlns:p14="http://schemas.microsoft.com/office/powerpoint/2010/main" val="205075272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1" name="Object 30" hidden="1"/>
          <p:cNvGraphicFramePr>
            <a:graphicFrameLocks noChangeAspect="1"/>
          </p:cNvGraphicFramePr>
          <p:nvPr>
            <p:custDataLst>
              <p:tags r:id="rId1"/>
            </p:custDataLst>
            <p:extLst>
              <p:ext uri="{D42A27DB-BD31-4B8C-83A1-F6EECF244321}">
                <p14:modId xmlns:p14="http://schemas.microsoft.com/office/powerpoint/2010/main" val="1256753901"/>
              </p:ext>
            </p:ext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31" name="Object 30"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19" name="íS1iḋè">
            <a:extLst>
              <a:ext uri="{FF2B5EF4-FFF2-40B4-BE49-F238E27FC236}">
                <a16:creationId xmlns:a16="http://schemas.microsoft.com/office/drawing/2014/main" id="{A18581DF-7A12-D43C-45A8-8CE2218B321F}"/>
              </a:ext>
            </a:extLst>
          </p:cNvPr>
          <p:cNvSpPr/>
          <p:nvPr/>
        </p:nvSpPr>
        <p:spPr>
          <a:xfrm>
            <a:off x="630001" y="4055240"/>
            <a:ext cx="10933350" cy="2214935"/>
          </a:xfrm>
          <a:prstGeom prst="rect">
            <a:avLst/>
          </a:prstGeom>
          <a:gradFill>
            <a:gsLst>
              <a:gs pos="0">
                <a:schemeClr val="tx2">
                  <a:lumMod val="20000"/>
                  <a:lumOff val="80000"/>
                </a:schemeClr>
              </a:gs>
              <a:gs pos="100000">
                <a:schemeClr val="bg1"/>
              </a:gs>
            </a:gsLst>
            <a:lin ang="5400000"/>
          </a:gradFill>
          <a:ln w="25400">
            <a:solidFill>
              <a:srgbClr val="000000">
                <a:alpha val="0"/>
              </a:srgbClr>
            </a:solidFill>
            <a:miter lim="400000"/>
          </a:ln>
        </p:spPr>
        <p:txBody>
          <a:bodyPr anchor="ctr"/>
          <a:lstStyle/>
          <a:p>
            <a:pPr algn="ctr"/>
            <a:endParaRPr lang="en-US"/>
          </a:p>
        </p:txBody>
      </p:sp>
      <p:sp>
        <p:nvSpPr>
          <p:cNvPr id="18" name="íS1iḋè">
            <a:extLst>
              <a:ext uri="{FF2B5EF4-FFF2-40B4-BE49-F238E27FC236}">
                <a16:creationId xmlns:a16="http://schemas.microsoft.com/office/drawing/2014/main" id="{11A73003-C403-89F6-8C6C-7033AFD18FFC}"/>
              </a:ext>
            </a:extLst>
          </p:cNvPr>
          <p:cNvSpPr/>
          <p:nvPr/>
        </p:nvSpPr>
        <p:spPr>
          <a:xfrm>
            <a:off x="630001" y="1653325"/>
            <a:ext cx="10933350" cy="2214935"/>
          </a:xfrm>
          <a:prstGeom prst="rect">
            <a:avLst/>
          </a:prstGeom>
          <a:gradFill>
            <a:gsLst>
              <a:gs pos="0">
                <a:schemeClr val="accent6">
                  <a:lumMod val="20000"/>
                  <a:lumOff val="80000"/>
                </a:schemeClr>
              </a:gs>
              <a:gs pos="100000">
                <a:schemeClr val="bg1"/>
              </a:gs>
            </a:gsLst>
            <a:lin ang="5400000"/>
          </a:gradFill>
          <a:ln w="25400">
            <a:solidFill>
              <a:srgbClr val="000000">
                <a:alpha val="0"/>
              </a:srgbClr>
            </a:solidFill>
            <a:miter lim="400000"/>
          </a:ln>
        </p:spPr>
        <p:txBody>
          <a:bodyPr anchor="ctr"/>
          <a:lstStyle/>
          <a:p>
            <a:pPr algn="ctr"/>
            <a:endParaRPr lang="en-US"/>
          </a:p>
        </p:txBody>
      </p:sp>
      <p:sp>
        <p:nvSpPr>
          <p:cNvPr id="2" name="Rectangle 1" hidden="1">
            <a:extLst>
              <a:ext uri="{FF2B5EF4-FFF2-40B4-BE49-F238E27FC236}">
                <a16:creationId xmlns:a16="http://schemas.microsoft.com/office/drawing/2014/main" id="{3ECC43EA-4F64-440F-98F7-CA03D28B82AC}"/>
              </a:ext>
            </a:extLst>
          </p:cNvPr>
          <p:cNvSpPr/>
          <p:nvPr>
            <p:custDataLst>
              <p:tags r:id="rId2"/>
            </p:custDataLst>
          </p:nvPr>
        </p:nvSpPr>
        <p:spPr>
          <a:xfrm>
            <a:off x="0" y="0"/>
            <a:ext cx="158750" cy="158750"/>
          </a:xfrm>
          <a:prstGeom prst="rect">
            <a:avLst/>
          </a:prstGeom>
          <a:solidFill>
            <a:schemeClr val="accent6"/>
          </a:solidFill>
          <a:ln w="9525" cap="rnd" cmpd="sng" algn="ctr">
            <a:noFill/>
            <a:prstDash val="sysDot"/>
            <a:round/>
          </a:ln>
          <a:effectLst/>
        </p:spPr>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lnSpc>
                <a:spcPct val="90000"/>
              </a:lnSpc>
              <a:spcAft>
                <a:spcPts val="1000"/>
              </a:spcAft>
            </a:pPr>
            <a:endParaRPr kumimoji="0" lang="en-US" sz="3200" u="none" strike="noStrike" kern="0" cap="none" spc="0" normalizeH="0" noProof="0">
              <a:ln>
                <a:noFill/>
              </a:ln>
              <a:solidFill>
                <a:prstClr val="white"/>
              </a:solidFill>
              <a:effectLst/>
              <a:uLnTx/>
              <a:uFillTx/>
              <a:latin typeface="Work Sans SemiBold" panose="020B0604020202020204" charset="0"/>
              <a:ea typeface="Microsoft YaHei" panose="020B0503020204020204" pitchFamily="34" charset="-122"/>
              <a:cs typeface="+mj-cs"/>
              <a:sym typeface="Work Sans SemiBold" panose="020B0604020202020204" charset="0"/>
            </a:endParaRPr>
          </a:p>
        </p:txBody>
      </p:sp>
      <p:cxnSp>
        <p:nvCxnSpPr>
          <p:cNvPr id="22" name="Straight Arrow Connector 21"/>
          <p:cNvCxnSpPr>
            <a:cxnSpLocks/>
            <a:stCxn id="143" idx="6"/>
            <a:endCxn id="144" idx="2"/>
          </p:cNvCxnSpPr>
          <p:nvPr/>
        </p:nvCxnSpPr>
        <p:spPr>
          <a:xfrm>
            <a:off x="3310753" y="4535298"/>
            <a:ext cx="7182680" cy="0"/>
          </a:xfrm>
          <a:prstGeom prst="straightConnector1">
            <a:avLst/>
          </a:prstGeom>
          <a:ln w="11430" cap="rnd">
            <a:solidFill>
              <a:schemeClr val="tx1">
                <a:lumMod val="60000"/>
                <a:lumOff val="40000"/>
              </a:schemeClr>
            </a:solidFill>
            <a:prstDash val="sysDot"/>
            <a:round/>
            <a:tailEnd type="none" w="med" len="med"/>
          </a:ln>
        </p:spPr>
        <p:style>
          <a:lnRef idx="1">
            <a:schemeClr val="accent1"/>
          </a:lnRef>
          <a:fillRef idx="0">
            <a:schemeClr val="accent1"/>
          </a:fillRef>
          <a:effectRef idx="0">
            <a:schemeClr val="accent1"/>
          </a:effectRef>
          <a:fontRef idx="minor">
            <a:schemeClr val="tx1"/>
          </a:fontRef>
        </p:style>
      </p:cxnSp>
      <p:sp>
        <p:nvSpPr>
          <p:cNvPr id="4" name="Title 3"/>
          <p:cNvSpPr>
            <a:spLocks noGrp="1"/>
          </p:cNvSpPr>
          <p:nvPr>
            <p:ph type="title"/>
          </p:nvPr>
        </p:nvSpPr>
        <p:spPr>
          <a:xfrm>
            <a:off x="630000" y="622800"/>
            <a:ext cx="10933350" cy="664797"/>
          </a:xfrm>
          <a:prstGeom prst="rect">
            <a:avLst/>
          </a:prstGeom>
        </p:spPr>
        <p:txBody>
          <a:bodyPr vert="horz" wrap="square">
            <a:spAutoFit/>
          </a:bodyPr>
          <a:lstStyle/>
          <a:p>
            <a:r>
              <a:rPr lang="zh-TW" altLang="en-US" sz="2400">
                <a:ea typeface="Microsoft YaHei" panose="020B0503020204020204" pitchFamily="34" charset="-122"/>
              </a:rPr>
              <a:t>凱基目前針對</a:t>
            </a:r>
            <a:r>
              <a:rPr lang="en-US" altLang="zh-TW" sz="2400">
                <a:ea typeface="Microsoft YaHei" panose="020B0503020204020204" pitchFamily="34" charset="-122"/>
              </a:rPr>
              <a:t>M</a:t>
            </a:r>
            <a:r>
              <a:rPr lang="zh-TW" altLang="en-US" sz="2400">
                <a:ea typeface="Microsoft YaHei" panose="020B0503020204020204" pitchFamily="34" charset="-122"/>
              </a:rPr>
              <a:t>客仍以產品為中心經營，客戶易收到多個</a:t>
            </a:r>
            <a:r>
              <a:rPr lang="zh-TW" altLang="en-US">
                <a:ea typeface="Microsoft YaHei" panose="020B0503020204020204" pitchFamily="34" charset="-122"/>
              </a:rPr>
              <a:t>單點產品</a:t>
            </a:r>
            <a:r>
              <a:rPr lang="zh-TW" altLang="en-US" sz="2400">
                <a:ea typeface="Microsoft YaHei" panose="020B0503020204020204" pitchFamily="34" charset="-122"/>
              </a:rPr>
              <a:t>信息；未來應朝向以客戶爲核心，運用數據模型找到更精準、高效的接觸點</a:t>
            </a:r>
            <a:endParaRPr lang="en-US" sz="2400">
              <a:ea typeface="Microsoft YaHei" panose="020B0503020204020204" pitchFamily="34" charset="-122"/>
            </a:endParaRPr>
          </a:p>
        </p:txBody>
      </p:sp>
      <p:sp>
        <p:nvSpPr>
          <p:cNvPr id="143" name="Oval 142"/>
          <p:cNvSpPr/>
          <p:nvPr/>
        </p:nvSpPr>
        <p:spPr>
          <a:xfrm>
            <a:off x="2503673" y="4131758"/>
            <a:ext cx="807080" cy="807080"/>
          </a:xfrm>
          <a:prstGeom prst="ellipse">
            <a:avLst/>
          </a:prstGeom>
          <a:solidFill>
            <a:srgbClr val="F4FAF4"/>
          </a:solidFill>
          <a:ln w="22860" cap="flat" cmpd="sng" algn="ctr">
            <a:noFill/>
            <a:prstDash val="solid"/>
            <a:round/>
            <a:headEnd type="none" w="med" len="med"/>
            <a:tailEnd type="none" w="med" len="med"/>
          </a:ln>
          <a:effectLst/>
          <a:extLst>
            <a:ext uri="{91240B29-F687-4F45-9708-019B960494DF}">
              <a14:hiddenLine xmlns:a14="http://schemas.microsoft.com/office/drawing/2010/main" w="22860" cap="flat" cmpd="sng" algn="ctr">
                <a:gradFill flip="none" rotWithShape="1">
                  <a:gsLst>
                    <a:gs pos="0">
                      <a:schemeClr val="accent2"/>
                    </a:gs>
                    <a:gs pos="100000">
                      <a:schemeClr val="tx2"/>
                    </a:gs>
                  </a:gsLst>
                  <a:lin ang="2700000" scaled="1"/>
                  <a:tileRect/>
                </a:gradFill>
                <a:prstDash val="solid"/>
                <a:round/>
                <a:headEnd type="none" w="med" len="med"/>
                <a:tailEnd type="none" w="med" len="med"/>
              </a14:hiddenLine>
            </a:ext>
          </a:extLst>
        </p:spPr>
        <p:txBody>
          <a:bodyPr lIns="0" tIns="0" rIns="0" bIns="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endParaRPr kumimoji="0" lang="en-US" sz="1600" b="0" i="0" u="none" strike="noStrike" kern="0" cap="none" spc="0" normalizeH="0" baseline="0" noProof="0">
              <a:ln>
                <a:noFill/>
              </a:ln>
              <a:solidFill>
                <a:srgbClr val="0033A1"/>
              </a:solidFill>
              <a:effectLst/>
              <a:uLnTx/>
              <a:uFillTx/>
              <a:ea typeface="Microsoft YaHei" panose="020B0503020204020204" pitchFamily="34" charset="-122"/>
              <a:cs typeface="+mn-cs"/>
            </a:endParaRPr>
          </a:p>
        </p:txBody>
      </p:sp>
      <p:sp>
        <p:nvSpPr>
          <p:cNvPr id="145" name="Oval 144"/>
          <p:cNvSpPr/>
          <p:nvPr/>
        </p:nvSpPr>
        <p:spPr>
          <a:xfrm>
            <a:off x="4035684" y="4131758"/>
            <a:ext cx="807080" cy="807080"/>
          </a:xfrm>
          <a:prstGeom prst="ellipse">
            <a:avLst/>
          </a:prstGeom>
          <a:solidFill>
            <a:srgbClr val="F4FAF4"/>
          </a:solidFill>
          <a:ln w="22860" cap="flat" cmpd="sng" algn="ctr">
            <a:noFill/>
            <a:prstDash val="solid"/>
            <a:round/>
            <a:headEnd type="none" w="med" len="med"/>
            <a:tailEnd type="none" w="med" len="med"/>
          </a:ln>
          <a:effectLst/>
          <a:extLst>
            <a:ext uri="{91240B29-F687-4F45-9708-019B960494DF}">
              <a14:hiddenLine xmlns:a14="http://schemas.microsoft.com/office/drawing/2010/main" w="22860" cap="flat" cmpd="sng" algn="ctr">
                <a:gradFill flip="none" rotWithShape="1">
                  <a:gsLst>
                    <a:gs pos="0">
                      <a:schemeClr val="accent2"/>
                    </a:gs>
                    <a:gs pos="100000">
                      <a:schemeClr val="tx2"/>
                    </a:gs>
                  </a:gsLst>
                  <a:lin ang="2700000" scaled="1"/>
                  <a:tileRect/>
                </a:gradFill>
                <a:prstDash val="solid"/>
                <a:round/>
                <a:headEnd type="none" w="med" len="med"/>
                <a:tailEnd type="none" w="med" len="med"/>
              </a14:hiddenLine>
            </a:ext>
          </a:extLst>
        </p:spPr>
        <p:txBody>
          <a:bodyPr lIns="0" tIns="0" rIns="0" bIns="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endParaRPr kumimoji="0" lang="en-US" sz="1600" b="0" i="0" u="none" strike="noStrike" kern="0" cap="none" spc="0" normalizeH="0" baseline="0" noProof="0">
              <a:ln>
                <a:noFill/>
              </a:ln>
              <a:solidFill>
                <a:srgbClr val="0033A1"/>
              </a:solidFill>
              <a:effectLst/>
              <a:uLnTx/>
              <a:uFillTx/>
              <a:ea typeface="Microsoft YaHei" panose="020B0503020204020204" pitchFamily="34" charset="-122"/>
              <a:cs typeface="+mn-cs"/>
            </a:endParaRPr>
          </a:p>
        </p:txBody>
      </p:sp>
      <p:sp>
        <p:nvSpPr>
          <p:cNvPr id="147" name="Oval 146"/>
          <p:cNvSpPr/>
          <p:nvPr/>
        </p:nvSpPr>
        <p:spPr>
          <a:xfrm>
            <a:off x="5567695" y="4131758"/>
            <a:ext cx="807080" cy="807080"/>
          </a:xfrm>
          <a:prstGeom prst="ellipse">
            <a:avLst/>
          </a:prstGeom>
          <a:solidFill>
            <a:srgbClr val="F4FAF4"/>
          </a:solidFill>
          <a:ln w="22860" cap="flat" cmpd="sng" algn="ctr">
            <a:noFill/>
            <a:prstDash val="solid"/>
            <a:round/>
            <a:headEnd type="none" w="med" len="med"/>
            <a:tailEnd type="none" w="med" len="med"/>
          </a:ln>
          <a:effectLst/>
          <a:extLst>
            <a:ext uri="{91240B29-F687-4F45-9708-019B960494DF}">
              <a14:hiddenLine xmlns:a14="http://schemas.microsoft.com/office/drawing/2010/main" w="22860" cap="flat" cmpd="sng" algn="ctr">
                <a:gradFill flip="none" rotWithShape="1">
                  <a:gsLst>
                    <a:gs pos="0">
                      <a:schemeClr val="accent2"/>
                    </a:gs>
                    <a:gs pos="100000">
                      <a:schemeClr val="tx2"/>
                    </a:gs>
                  </a:gsLst>
                  <a:lin ang="2700000" scaled="1"/>
                  <a:tileRect/>
                </a:gradFill>
                <a:prstDash val="solid"/>
                <a:round/>
                <a:headEnd type="none" w="med" len="med"/>
                <a:tailEnd type="none" w="med" len="med"/>
              </a14:hiddenLine>
            </a:ext>
          </a:extLst>
        </p:spPr>
        <p:txBody>
          <a:bodyPr lIns="0" tIns="0" rIns="0" bIns="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endParaRPr kumimoji="0" lang="en-US" sz="1600" b="0" i="0" u="none" strike="noStrike" kern="0" cap="none" spc="0" normalizeH="0" baseline="0" noProof="0">
              <a:ln>
                <a:noFill/>
              </a:ln>
              <a:solidFill>
                <a:srgbClr val="0033A1"/>
              </a:solidFill>
              <a:effectLst/>
              <a:uLnTx/>
              <a:uFillTx/>
              <a:ea typeface="Microsoft YaHei" panose="020B0503020204020204" pitchFamily="34" charset="-122"/>
              <a:cs typeface="+mn-cs"/>
            </a:endParaRPr>
          </a:p>
        </p:txBody>
      </p:sp>
      <p:sp>
        <p:nvSpPr>
          <p:cNvPr id="144" name="Oval 143"/>
          <p:cNvSpPr/>
          <p:nvPr/>
        </p:nvSpPr>
        <p:spPr>
          <a:xfrm>
            <a:off x="10493433" y="4131758"/>
            <a:ext cx="807080" cy="807080"/>
          </a:xfrm>
          <a:prstGeom prst="ellipse">
            <a:avLst/>
          </a:prstGeom>
          <a:solidFill>
            <a:srgbClr val="F4FAF4"/>
          </a:solidFill>
          <a:ln w="22860" cap="flat" cmpd="sng" algn="ctr">
            <a:noFill/>
            <a:prstDash val="solid"/>
            <a:round/>
            <a:headEnd type="none" w="med" len="med"/>
            <a:tailEnd type="none" w="med" len="med"/>
          </a:ln>
          <a:effectLst/>
          <a:extLst>
            <a:ext uri="{91240B29-F687-4F45-9708-019B960494DF}">
              <a14:hiddenLine xmlns:a14="http://schemas.microsoft.com/office/drawing/2010/main" w="22860" cap="flat" cmpd="sng" algn="ctr">
                <a:gradFill flip="none" rotWithShape="1">
                  <a:gsLst>
                    <a:gs pos="0">
                      <a:schemeClr val="accent2"/>
                    </a:gs>
                    <a:gs pos="100000">
                      <a:schemeClr val="tx2"/>
                    </a:gs>
                  </a:gsLst>
                  <a:lin ang="2700000" scaled="1"/>
                  <a:tileRect/>
                </a:gradFill>
                <a:prstDash val="solid"/>
                <a:round/>
                <a:headEnd type="none" w="med" len="med"/>
                <a:tailEnd type="none" w="med" len="med"/>
              </a14:hiddenLine>
            </a:ext>
          </a:extLst>
        </p:spPr>
        <p:txBody>
          <a:bodyPr lIns="0" tIns="0" rIns="0" bIns="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endParaRPr kumimoji="0" lang="en-US" sz="1600" b="0" i="0" u="none" strike="noStrike" kern="0" cap="none" spc="0" normalizeH="0" baseline="0" noProof="0">
              <a:ln>
                <a:noFill/>
              </a:ln>
              <a:solidFill>
                <a:srgbClr val="0033A1"/>
              </a:solidFill>
              <a:effectLst/>
              <a:uLnTx/>
              <a:uFillTx/>
              <a:ea typeface="Microsoft YaHei" panose="020B0503020204020204" pitchFamily="34" charset="-122"/>
              <a:cs typeface="+mn-cs"/>
            </a:endParaRPr>
          </a:p>
        </p:txBody>
      </p:sp>
      <p:sp>
        <p:nvSpPr>
          <p:cNvPr id="148" name="Oval 147"/>
          <p:cNvSpPr/>
          <p:nvPr/>
        </p:nvSpPr>
        <p:spPr>
          <a:xfrm>
            <a:off x="8767601" y="4131758"/>
            <a:ext cx="807080" cy="807080"/>
          </a:xfrm>
          <a:prstGeom prst="ellipse">
            <a:avLst/>
          </a:prstGeom>
          <a:solidFill>
            <a:srgbClr val="F4FAF4"/>
          </a:solidFill>
          <a:ln w="22860" cap="flat" cmpd="sng" algn="ctr">
            <a:noFill/>
            <a:prstDash val="solid"/>
            <a:round/>
            <a:headEnd type="none" w="med" len="med"/>
            <a:tailEnd type="none" w="med" len="med"/>
          </a:ln>
          <a:effectLst/>
          <a:extLst>
            <a:ext uri="{91240B29-F687-4F45-9708-019B960494DF}">
              <a14:hiddenLine xmlns:a14="http://schemas.microsoft.com/office/drawing/2010/main" w="22860" cap="flat" cmpd="sng" algn="ctr">
                <a:gradFill flip="none" rotWithShape="1">
                  <a:gsLst>
                    <a:gs pos="0">
                      <a:schemeClr val="accent2"/>
                    </a:gs>
                    <a:gs pos="100000">
                      <a:schemeClr val="tx2"/>
                    </a:gs>
                  </a:gsLst>
                  <a:lin ang="2700000" scaled="1"/>
                  <a:tileRect/>
                </a:gradFill>
                <a:prstDash val="solid"/>
                <a:round/>
                <a:headEnd type="none" w="med" len="med"/>
                <a:tailEnd type="none" w="med" len="med"/>
              </a14:hiddenLine>
            </a:ext>
          </a:extLst>
        </p:spPr>
        <p:txBody>
          <a:bodyPr lIns="0" tIns="0" rIns="0" bIns="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endParaRPr kumimoji="0" lang="en-US" sz="1600" b="0" i="0" u="none" strike="noStrike" kern="0" cap="none" spc="0" normalizeH="0" baseline="0" noProof="0">
              <a:ln>
                <a:noFill/>
              </a:ln>
              <a:solidFill>
                <a:srgbClr val="0033A1"/>
              </a:solidFill>
              <a:effectLst/>
              <a:uLnTx/>
              <a:uFillTx/>
              <a:ea typeface="Microsoft YaHei" panose="020B0503020204020204" pitchFamily="34" charset="-122"/>
              <a:cs typeface="+mn-cs"/>
            </a:endParaRPr>
          </a:p>
        </p:txBody>
      </p:sp>
      <p:sp>
        <p:nvSpPr>
          <p:cNvPr id="203" name="TextBox 202"/>
          <p:cNvSpPr txBox="1"/>
          <p:nvPr/>
        </p:nvSpPr>
        <p:spPr>
          <a:xfrm>
            <a:off x="8999215" y="5645660"/>
            <a:ext cx="834794" cy="166199"/>
          </a:xfrm>
          <a:prstGeom prst="rect">
            <a:avLst/>
          </a:prstGeom>
          <a:noFill/>
        </p:spPr>
        <p:txBody>
          <a:bodyPr wrap="square" lIns="0" tIns="0" rIns="0" bIns="0" rtlCol="0" anchor="t">
            <a:spAutoFit/>
          </a:bodyPr>
          <a:lstStyle/>
          <a:p>
            <a:pPr marL="0" marR="0" lvl="0" indent="0" algn="l" defTabSz="914400" rtl="0" eaLnBrk="1" fontAlgn="auto" latinLnBrk="0" hangingPunct="1">
              <a:lnSpc>
                <a:spcPct val="90000"/>
              </a:lnSpc>
              <a:spcBef>
                <a:spcPts val="0"/>
              </a:spcBef>
              <a:spcAft>
                <a:spcPts val="600"/>
              </a:spcAft>
              <a:buClrTx/>
              <a:buSzTx/>
              <a:buFontTx/>
              <a:buNone/>
              <a:tabLst/>
              <a:defRPr/>
            </a:pPr>
            <a:r>
              <a:rPr kumimoji="0" lang="en-US" sz="1200" b="0" i="0" u="none" strike="noStrike" kern="1200" cap="none" spc="0" normalizeH="0" baseline="0" noProof="0">
                <a:ln>
                  <a:noFill/>
                </a:ln>
                <a:solidFill>
                  <a:srgbClr val="575757"/>
                </a:solidFill>
                <a:effectLst/>
                <a:uLnTx/>
                <a:uFillTx/>
                <a:ea typeface="Microsoft YaHei" panose="020B0503020204020204" pitchFamily="34" charset="-122"/>
                <a:cs typeface="+mn-cs"/>
              </a:rPr>
              <a:t>40%</a:t>
            </a:r>
          </a:p>
        </p:txBody>
      </p:sp>
      <p:sp>
        <p:nvSpPr>
          <p:cNvPr id="204" name="TextBox 203"/>
          <p:cNvSpPr txBox="1"/>
          <p:nvPr/>
        </p:nvSpPr>
        <p:spPr>
          <a:xfrm>
            <a:off x="9359169" y="5990802"/>
            <a:ext cx="834794" cy="166199"/>
          </a:xfrm>
          <a:prstGeom prst="rect">
            <a:avLst/>
          </a:prstGeom>
          <a:noFill/>
        </p:spPr>
        <p:txBody>
          <a:bodyPr wrap="square" lIns="0" tIns="0" rIns="0" bIns="0" rtlCol="0" anchor="t">
            <a:spAutoFit/>
          </a:bodyPr>
          <a:lstStyle/>
          <a:p>
            <a:pPr marL="0" marR="0" lvl="0" indent="0" algn="l" defTabSz="914400" rtl="0" eaLnBrk="1" fontAlgn="auto" latinLnBrk="0" hangingPunct="1">
              <a:lnSpc>
                <a:spcPct val="90000"/>
              </a:lnSpc>
              <a:spcBef>
                <a:spcPts val="0"/>
              </a:spcBef>
              <a:spcAft>
                <a:spcPts val="600"/>
              </a:spcAft>
              <a:buClrTx/>
              <a:buSzTx/>
              <a:buFontTx/>
              <a:buNone/>
              <a:tabLst/>
              <a:defRPr/>
            </a:pPr>
            <a:r>
              <a:rPr kumimoji="0" lang="en-US" sz="1200" b="0" i="0" u="none" strike="noStrike" kern="1200" cap="none" spc="0" normalizeH="0" baseline="0" noProof="0">
                <a:ln>
                  <a:noFill/>
                </a:ln>
                <a:solidFill>
                  <a:srgbClr val="575757"/>
                </a:solidFill>
                <a:effectLst/>
                <a:uLnTx/>
                <a:uFillTx/>
                <a:ea typeface="Microsoft YaHei" panose="020B0503020204020204" pitchFamily="34" charset="-122"/>
                <a:cs typeface="+mn-cs"/>
              </a:rPr>
              <a:t>42%</a:t>
            </a:r>
          </a:p>
        </p:txBody>
      </p:sp>
      <p:sp>
        <p:nvSpPr>
          <p:cNvPr id="205" name="TextBox 204"/>
          <p:cNvSpPr txBox="1"/>
          <p:nvPr/>
        </p:nvSpPr>
        <p:spPr>
          <a:xfrm>
            <a:off x="9599541" y="5639256"/>
            <a:ext cx="834794" cy="166199"/>
          </a:xfrm>
          <a:prstGeom prst="rect">
            <a:avLst/>
          </a:prstGeom>
          <a:noFill/>
        </p:spPr>
        <p:txBody>
          <a:bodyPr wrap="square" lIns="0" tIns="0" rIns="0" bIns="0" rtlCol="0" anchor="t">
            <a:spAutoFit/>
          </a:bodyPr>
          <a:lstStyle/>
          <a:p>
            <a:pPr marL="0" marR="0" lvl="0" indent="0" algn="l" defTabSz="914400" rtl="0" eaLnBrk="1" fontAlgn="auto" latinLnBrk="0" hangingPunct="1">
              <a:lnSpc>
                <a:spcPct val="90000"/>
              </a:lnSpc>
              <a:spcBef>
                <a:spcPts val="0"/>
              </a:spcBef>
              <a:spcAft>
                <a:spcPts val="600"/>
              </a:spcAft>
              <a:buClrTx/>
              <a:buSzTx/>
              <a:buFontTx/>
              <a:buNone/>
              <a:tabLst/>
              <a:defRPr/>
            </a:pPr>
            <a:r>
              <a:rPr kumimoji="0" lang="en-US" sz="1200" b="0" i="0" u="none" strike="noStrike" kern="1200" cap="none" spc="0" normalizeH="0" baseline="0" noProof="0">
                <a:ln>
                  <a:noFill/>
                </a:ln>
                <a:solidFill>
                  <a:srgbClr val="575757"/>
                </a:solidFill>
                <a:effectLst/>
                <a:uLnTx/>
                <a:uFillTx/>
                <a:ea typeface="Microsoft YaHei" panose="020B0503020204020204" pitchFamily="34" charset="-122"/>
                <a:cs typeface="+mn-cs"/>
              </a:rPr>
              <a:t>18%</a:t>
            </a:r>
          </a:p>
        </p:txBody>
      </p:sp>
      <p:sp>
        <p:nvSpPr>
          <p:cNvPr id="41" name="TextBox 40"/>
          <p:cNvSpPr txBox="1"/>
          <p:nvPr/>
        </p:nvSpPr>
        <p:spPr>
          <a:xfrm>
            <a:off x="6970419" y="5083177"/>
            <a:ext cx="1347017" cy="527125"/>
          </a:xfrm>
          <a:prstGeom prst="rect">
            <a:avLst/>
          </a:prstGeom>
          <a:noFill/>
          <a:ln>
            <a:noFill/>
          </a:ln>
        </p:spPr>
        <p:txBody>
          <a:bodyPr wrap="square" lIns="0" tIns="0" rIns="0" bIns="0" rtlCol="0" anchor="t">
            <a:noAutofit/>
          </a:bodyPr>
          <a:lstStyle>
            <a:defPPr>
              <a:defRPr lang="en-US"/>
            </a:defPPr>
            <a:lvl1pPr marR="0" lvl="0" indent="0" fontAlgn="auto">
              <a:lnSpc>
                <a:spcPct val="90000"/>
              </a:lnSpc>
              <a:spcBef>
                <a:spcPts val="0"/>
              </a:spcBef>
              <a:spcAft>
                <a:spcPts val="600"/>
              </a:spcAft>
              <a:buClrTx/>
              <a:buSzTx/>
              <a:buFontTx/>
              <a:buNone/>
              <a:tabLst/>
              <a:defRPr kumimoji="0" sz="1200" i="0" u="none" strike="noStrike" cap="none" spc="0" normalizeH="0" baseline="0">
                <a:ln>
                  <a:noFill/>
                </a:ln>
                <a:solidFill>
                  <a:srgbClr val="575757"/>
                </a:solidFill>
                <a:effectLst/>
                <a:uLnTx/>
                <a:uFillTx/>
                <a:ea typeface="Microsoft YaHei" panose="020B0503020204020204" pitchFamily="34" charset="-122"/>
              </a:defRPr>
            </a:lvl1pPr>
          </a:lstStyle>
          <a:p>
            <a:r>
              <a:rPr lang="zh-TW" altLang="en-US"/>
              <a:t>僅針對模型</a:t>
            </a:r>
            <a:r>
              <a:rPr lang="zh-TW" altLang="en-US">
                <a:solidFill>
                  <a:srgbClr val="29BA74"/>
                </a:solidFill>
              </a:rPr>
              <a:t>預測轉換率較高之客戶</a:t>
            </a:r>
            <a:r>
              <a:rPr lang="zh-TW" altLang="en-US"/>
              <a:t>進行推播</a:t>
            </a:r>
            <a:endParaRPr lang="en-US"/>
          </a:p>
        </p:txBody>
      </p:sp>
      <p:sp>
        <p:nvSpPr>
          <p:cNvPr id="146" name="Oval 145"/>
          <p:cNvSpPr/>
          <p:nvPr/>
        </p:nvSpPr>
        <p:spPr>
          <a:xfrm>
            <a:off x="7150745" y="4131758"/>
            <a:ext cx="807080" cy="807080"/>
          </a:xfrm>
          <a:prstGeom prst="ellipse">
            <a:avLst/>
          </a:prstGeom>
          <a:solidFill>
            <a:srgbClr val="F4FAF4"/>
          </a:solidFill>
          <a:ln w="22860" cap="flat" cmpd="sng" algn="ctr">
            <a:noFill/>
            <a:prstDash val="solid"/>
            <a:round/>
            <a:headEnd type="none" w="med" len="med"/>
            <a:tailEnd type="none" w="med" len="med"/>
          </a:ln>
          <a:effectLst/>
          <a:extLst>
            <a:ext uri="{91240B29-F687-4F45-9708-019B960494DF}">
              <a14:hiddenLine xmlns:a14="http://schemas.microsoft.com/office/drawing/2010/main" w="22860" cap="flat" cmpd="sng" algn="ctr">
                <a:gradFill flip="none" rotWithShape="1">
                  <a:gsLst>
                    <a:gs pos="0">
                      <a:schemeClr val="accent2"/>
                    </a:gs>
                    <a:gs pos="100000">
                      <a:schemeClr val="tx2"/>
                    </a:gs>
                  </a:gsLst>
                  <a:lin ang="2700000" scaled="1"/>
                  <a:tileRect/>
                </a:gradFill>
                <a:prstDash val="solid"/>
                <a:round/>
                <a:headEnd type="none" w="med" len="med"/>
                <a:tailEnd type="none" w="med" len="med"/>
              </a14:hiddenLine>
            </a:ext>
          </a:extLst>
        </p:spPr>
        <p:txBody>
          <a:bodyPr lIns="0" tIns="0" rIns="0" bIns="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endParaRPr kumimoji="0" lang="en-US" sz="1600" b="0" i="0" u="none" strike="noStrike" kern="0" cap="none" spc="0" normalizeH="0" baseline="0" noProof="0">
              <a:ln>
                <a:noFill/>
              </a:ln>
              <a:solidFill>
                <a:srgbClr val="0033A1"/>
              </a:solidFill>
              <a:effectLst/>
              <a:uLnTx/>
              <a:uFillTx/>
              <a:ea typeface="Microsoft YaHei" panose="020B0503020204020204" pitchFamily="34" charset="-122"/>
              <a:cs typeface="+mn-cs"/>
            </a:endParaRPr>
          </a:p>
        </p:txBody>
      </p:sp>
      <p:sp>
        <p:nvSpPr>
          <p:cNvPr id="192" name="AutoShape 242">
            <a:extLst>
              <a:ext uri="{FF2B5EF4-FFF2-40B4-BE49-F238E27FC236}">
                <a16:creationId xmlns:a16="http://schemas.microsoft.com/office/drawing/2014/main" id="{046C6F9A-0CFC-4EC3-82C8-E526C2B68515}"/>
              </a:ext>
            </a:extLst>
          </p:cNvPr>
          <p:cNvSpPr>
            <a:spLocks noChangeAspect="1" noChangeArrowheads="1" noTextEdit="1"/>
          </p:cNvSpPr>
          <p:nvPr/>
        </p:nvSpPr>
        <p:spPr bwMode="auto">
          <a:xfrm>
            <a:off x="7253725" y="4233988"/>
            <a:ext cx="601681" cy="6026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4864" tIns="27432" rIns="54864" bIns="27432"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n-ea"/>
              <a:cs typeface="+mn-cs"/>
            </a:endParaRPr>
          </a:p>
        </p:txBody>
      </p:sp>
      <p:pic>
        <p:nvPicPr>
          <p:cNvPr id="86" name="Picture 85"/>
          <p:cNvPicPr>
            <a:picLocks/>
          </p:cNvPicPr>
          <p:nvPr/>
        </p:nvPicPr>
        <p:blipFill rotWithShape="1">
          <a:blip r:embed="rId7" cstate="email">
            <a:extLst>
              <a:ext uri="{28A0092B-C50C-407E-A947-70E740481C1C}">
                <a14:useLocalDpi xmlns:a14="http://schemas.microsoft.com/office/drawing/2010/main"/>
              </a:ext>
            </a:extLst>
          </a:blip>
          <a:srcRect l="1471" t="9434" r="32686" b="7776"/>
          <a:stretch/>
        </p:blipFill>
        <p:spPr>
          <a:xfrm>
            <a:off x="7150582" y="5713618"/>
            <a:ext cx="807406" cy="422948"/>
          </a:xfrm>
          <a:prstGeom prst="rect">
            <a:avLst/>
          </a:prstGeom>
          <a:ln w="9525" cap="flat" cmpd="sng" algn="ctr">
            <a:solidFill>
              <a:srgbClr val="85858B"/>
            </a:solidFill>
            <a:prstDash val="solid"/>
            <a:round/>
            <a:headEnd type="none" w="med" len="med"/>
            <a:tailEnd type="none" w="med" len="med"/>
          </a:ln>
          <a:effectLst/>
        </p:spPr>
      </p:pic>
      <p:sp>
        <p:nvSpPr>
          <p:cNvPr id="125" name="AutoShape 14">
            <a:extLst>
              <a:ext uri="{FF2B5EF4-FFF2-40B4-BE49-F238E27FC236}">
                <a16:creationId xmlns:a16="http://schemas.microsoft.com/office/drawing/2014/main" id="{6B6264DF-7B72-47C2-A253-60D979D85B1E}"/>
              </a:ext>
            </a:extLst>
          </p:cNvPr>
          <p:cNvSpPr>
            <a:spLocks noChangeAspect="1" noChangeArrowheads="1" noTextEdit="1"/>
          </p:cNvSpPr>
          <p:nvPr/>
        </p:nvSpPr>
        <p:spPr bwMode="auto">
          <a:xfrm>
            <a:off x="8620872" y="4131378"/>
            <a:ext cx="807093" cy="8078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4864" tIns="27432" rIns="54864" bIns="27432"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n-ea"/>
              <a:cs typeface="+mn-cs"/>
            </a:endParaRPr>
          </a:p>
        </p:txBody>
      </p:sp>
      <p:sp>
        <p:nvSpPr>
          <p:cNvPr id="82" name="TextBox 81"/>
          <p:cNvSpPr txBox="1"/>
          <p:nvPr/>
        </p:nvSpPr>
        <p:spPr>
          <a:xfrm>
            <a:off x="2150630" y="2611931"/>
            <a:ext cx="1386348" cy="332041"/>
          </a:xfrm>
          <a:prstGeom prst="rect">
            <a:avLst/>
          </a:prstGeom>
          <a:noFill/>
          <a:ln>
            <a:noFill/>
          </a:ln>
        </p:spPr>
        <p:txBody>
          <a:bodyPr wrap="square" lIns="0" tIns="0" rIns="0" bIns="0" rtlCol="0" anchor="t">
            <a:noAutofit/>
          </a:bodyPr>
          <a:lstStyle/>
          <a:p>
            <a:pPr marL="0" marR="0" lvl="0" indent="0" algn="l" defTabSz="914400" rtl="0" eaLnBrk="1" fontAlgn="auto" latinLnBrk="0" hangingPunct="1">
              <a:lnSpc>
                <a:spcPct val="90000"/>
              </a:lnSpc>
              <a:spcBef>
                <a:spcPts val="0"/>
              </a:spcBef>
              <a:spcAft>
                <a:spcPts val="600"/>
              </a:spcAft>
              <a:buClrTx/>
              <a:buSzTx/>
              <a:buFontTx/>
              <a:buNone/>
              <a:tabLst/>
              <a:defRPr/>
            </a:pPr>
            <a:r>
              <a:rPr kumimoji="0" lang="zh-TW" altLang="en-US" sz="1200" b="0" i="0" u="none" strike="noStrike" kern="1200" cap="none" spc="0" normalizeH="0" baseline="0" noProof="0">
                <a:ln>
                  <a:noFill/>
                </a:ln>
                <a:solidFill>
                  <a:srgbClr val="575757"/>
                </a:solidFill>
                <a:effectLst/>
                <a:uLnTx/>
                <a:uFillTx/>
                <a:ea typeface="Microsoft YaHei" panose="020B0503020204020204" pitchFamily="34" charset="-122"/>
                <a:cs typeface="+mn-cs"/>
              </a:rPr>
              <a:t>行銷活動</a:t>
            </a:r>
            <a:r>
              <a:rPr lang="zh-TW" altLang="en-US" sz="1200">
                <a:solidFill>
                  <a:srgbClr val="575757"/>
                </a:solidFill>
                <a:ea typeface="Microsoft YaHei" panose="020B0503020204020204" pitchFamily="34" charset="-122"/>
              </a:rPr>
              <a:t>時程</a:t>
            </a:r>
            <a:r>
              <a:rPr kumimoji="0" lang="zh-TW" altLang="en-US" sz="1200" b="0" i="0" u="none" strike="noStrike" kern="1200" cap="none" spc="0" normalizeH="0" baseline="0" noProof="0">
                <a:ln>
                  <a:noFill/>
                </a:ln>
                <a:solidFill>
                  <a:srgbClr val="575757"/>
                </a:solidFill>
                <a:effectLst/>
                <a:uLnTx/>
                <a:uFillTx/>
                <a:ea typeface="Microsoft YaHei" panose="020B0503020204020204" pitchFamily="34" charset="-122"/>
                <a:cs typeface="+mn-cs"/>
              </a:rPr>
              <a:t>多事先安排，準備期較長</a:t>
            </a:r>
            <a:endParaRPr kumimoji="0" lang="en-US" sz="1200" b="1" i="0" u="none" strike="noStrike" kern="1200" cap="none" spc="0" normalizeH="0" baseline="0" noProof="0">
              <a:ln>
                <a:noFill/>
              </a:ln>
              <a:solidFill>
                <a:srgbClr val="E71C57"/>
              </a:solidFill>
              <a:effectLst/>
              <a:uLnTx/>
              <a:uFillTx/>
              <a:ea typeface="Microsoft YaHei" panose="020B0503020204020204" pitchFamily="34" charset="-122"/>
              <a:cs typeface="+mn-cs"/>
            </a:endParaRPr>
          </a:p>
        </p:txBody>
      </p:sp>
      <p:sp>
        <p:nvSpPr>
          <p:cNvPr id="92" name="Oval 91"/>
          <p:cNvSpPr/>
          <p:nvPr/>
        </p:nvSpPr>
        <p:spPr>
          <a:xfrm>
            <a:off x="2500664" y="1707563"/>
            <a:ext cx="807080" cy="807080"/>
          </a:xfrm>
          <a:prstGeom prst="ellipse">
            <a:avLst/>
          </a:prstGeom>
          <a:solidFill>
            <a:srgbClr val="F4FAF4"/>
          </a:solidFill>
          <a:ln w="22860" cap="flat" cmpd="sng" algn="ctr">
            <a:noFill/>
            <a:prstDash val="solid"/>
            <a:round/>
            <a:headEnd type="none" w="med" len="med"/>
            <a:tailEnd type="none" w="med" len="med"/>
          </a:ln>
          <a:effectLst/>
          <a:extLst>
            <a:ext uri="{91240B29-F687-4F45-9708-019B960494DF}">
              <a14:hiddenLine xmlns:a14="http://schemas.microsoft.com/office/drawing/2010/main" w="22860" cap="flat" cmpd="sng" algn="ctr">
                <a:gradFill flip="none" rotWithShape="1">
                  <a:gsLst>
                    <a:gs pos="0">
                      <a:schemeClr val="accent2"/>
                    </a:gs>
                    <a:gs pos="100000">
                      <a:schemeClr val="tx2"/>
                    </a:gs>
                  </a:gsLst>
                  <a:lin ang="2700000" scaled="1"/>
                  <a:tileRect/>
                </a:gradFill>
                <a:prstDash val="solid"/>
                <a:round/>
                <a:headEnd type="none" w="med" len="med"/>
                <a:tailEnd type="none" w="med" len="med"/>
              </a14:hiddenLine>
            </a:ext>
          </a:extLst>
        </p:spPr>
        <p:txBody>
          <a:bodyPr lIns="0" tIns="0" rIns="0" bIns="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endParaRPr kumimoji="0" lang="en-US" sz="1600" b="0" i="0" u="none" strike="noStrike" kern="0" cap="none" spc="0" normalizeH="0" baseline="0" noProof="0">
              <a:ln>
                <a:noFill/>
              </a:ln>
              <a:solidFill>
                <a:srgbClr val="0033A1"/>
              </a:solidFill>
              <a:effectLst/>
              <a:uLnTx/>
              <a:uFillTx/>
              <a:ea typeface="Microsoft YaHei" panose="020B0503020204020204" pitchFamily="34" charset="-122"/>
              <a:cs typeface="+mn-cs"/>
            </a:endParaRPr>
          </a:p>
        </p:txBody>
      </p:sp>
      <p:sp>
        <p:nvSpPr>
          <p:cNvPr id="94" name="AutoShape 3"/>
          <p:cNvSpPr>
            <a:spLocks noChangeAspect="1" noChangeArrowheads="1" noTextEdit="1"/>
          </p:cNvSpPr>
          <p:nvPr/>
        </p:nvSpPr>
        <p:spPr bwMode="auto">
          <a:xfrm>
            <a:off x="2601804" y="1808703"/>
            <a:ext cx="604800" cy="6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4864" tIns="27432" rIns="54864" bIns="27432"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n-ea"/>
              <a:cs typeface="+mn-cs"/>
            </a:endParaRPr>
          </a:p>
        </p:txBody>
      </p:sp>
      <p:sp>
        <p:nvSpPr>
          <p:cNvPr id="99" name="Oval 98"/>
          <p:cNvSpPr/>
          <p:nvPr/>
        </p:nvSpPr>
        <p:spPr>
          <a:xfrm>
            <a:off x="4043109" y="1707563"/>
            <a:ext cx="807080" cy="807080"/>
          </a:xfrm>
          <a:prstGeom prst="ellipse">
            <a:avLst/>
          </a:prstGeom>
          <a:solidFill>
            <a:srgbClr val="F4FAF4"/>
          </a:solidFill>
          <a:ln w="22860" cap="flat" cmpd="sng" algn="ctr">
            <a:noFill/>
            <a:prstDash val="solid"/>
            <a:round/>
            <a:headEnd type="none" w="med" len="med"/>
            <a:tailEnd type="none" w="med" len="med"/>
          </a:ln>
          <a:effectLst/>
          <a:extLst>
            <a:ext uri="{91240B29-F687-4F45-9708-019B960494DF}">
              <a14:hiddenLine xmlns:a14="http://schemas.microsoft.com/office/drawing/2010/main" w="22860" cap="flat" cmpd="sng" algn="ctr">
                <a:gradFill flip="none" rotWithShape="1">
                  <a:gsLst>
                    <a:gs pos="0">
                      <a:schemeClr val="accent2"/>
                    </a:gs>
                    <a:gs pos="100000">
                      <a:schemeClr val="tx2"/>
                    </a:gs>
                  </a:gsLst>
                  <a:lin ang="2700000" scaled="1"/>
                  <a:tileRect/>
                </a:gradFill>
                <a:prstDash val="solid"/>
                <a:round/>
                <a:headEnd type="none" w="med" len="med"/>
                <a:tailEnd type="none" w="med" len="med"/>
              </a14:hiddenLine>
            </a:ext>
          </a:extLst>
        </p:spPr>
        <p:txBody>
          <a:bodyPr lIns="0" tIns="0" rIns="0" bIns="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endParaRPr kumimoji="0" lang="en-US" sz="1600" b="0" i="0" u="none" strike="noStrike" kern="0" cap="none" spc="0" normalizeH="0" baseline="0" noProof="0">
              <a:ln>
                <a:noFill/>
              </a:ln>
              <a:solidFill>
                <a:srgbClr val="0033A1"/>
              </a:solidFill>
              <a:effectLst/>
              <a:uLnTx/>
              <a:uFillTx/>
              <a:ea typeface="Microsoft YaHei" panose="020B0503020204020204" pitchFamily="34" charset="-122"/>
              <a:cs typeface="+mn-cs"/>
            </a:endParaRPr>
          </a:p>
        </p:txBody>
      </p:sp>
      <p:sp>
        <p:nvSpPr>
          <p:cNvPr id="106" name="Oval 105"/>
          <p:cNvSpPr/>
          <p:nvPr/>
        </p:nvSpPr>
        <p:spPr>
          <a:xfrm>
            <a:off x="10515510" y="1707563"/>
            <a:ext cx="807080" cy="807080"/>
          </a:xfrm>
          <a:prstGeom prst="ellipse">
            <a:avLst/>
          </a:prstGeom>
          <a:solidFill>
            <a:srgbClr val="F4FAF4"/>
          </a:solidFill>
          <a:ln w="22860" cap="flat" cmpd="sng" algn="ctr">
            <a:noFill/>
            <a:prstDash val="solid"/>
            <a:round/>
            <a:headEnd type="none" w="med" len="med"/>
            <a:tailEnd type="none" w="med" len="med"/>
          </a:ln>
          <a:effectLst/>
          <a:extLst>
            <a:ext uri="{91240B29-F687-4F45-9708-019B960494DF}">
              <a14:hiddenLine xmlns:a14="http://schemas.microsoft.com/office/drawing/2010/main" w="22860" cap="flat" cmpd="sng" algn="ctr">
                <a:gradFill flip="none" rotWithShape="1">
                  <a:gsLst>
                    <a:gs pos="0">
                      <a:schemeClr val="accent2"/>
                    </a:gs>
                    <a:gs pos="100000">
                      <a:schemeClr val="tx2"/>
                    </a:gs>
                  </a:gsLst>
                  <a:lin ang="2700000" scaled="1"/>
                  <a:tileRect/>
                </a:gradFill>
                <a:prstDash val="solid"/>
                <a:round/>
                <a:headEnd type="none" w="med" len="med"/>
                <a:tailEnd type="none" w="med" len="med"/>
              </a14:hiddenLine>
            </a:ext>
          </a:extLst>
        </p:spPr>
        <p:txBody>
          <a:bodyPr lIns="0" tIns="0" rIns="0" bIns="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endParaRPr kumimoji="0" lang="en-US" sz="1600" b="0" i="0" u="none" strike="noStrike" kern="0" cap="none" spc="0" normalizeH="0" baseline="0" noProof="0">
              <a:ln>
                <a:noFill/>
              </a:ln>
              <a:solidFill>
                <a:srgbClr val="0033A1"/>
              </a:solidFill>
              <a:effectLst/>
              <a:uLnTx/>
              <a:uFillTx/>
              <a:ea typeface="Microsoft YaHei" panose="020B0503020204020204" pitchFamily="34" charset="-122"/>
              <a:cs typeface="+mn-cs"/>
            </a:endParaRPr>
          </a:p>
        </p:txBody>
      </p:sp>
      <p:sp>
        <p:nvSpPr>
          <p:cNvPr id="108" name="AutoShape 3"/>
          <p:cNvSpPr>
            <a:spLocks noChangeAspect="1" noChangeArrowheads="1" noTextEdit="1"/>
          </p:cNvSpPr>
          <p:nvPr/>
        </p:nvSpPr>
        <p:spPr bwMode="auto">
          <a:xfrm>
            <a:off x="10616650" y="1808703"/>
            <a:ext cx="604800" cy="6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4864" tIns="27432" rIns="54864" bIns="27432"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n-ea"/>
              <a:cs typeface="+mn-cs"/>
            </a:endParaRPr>
          </a:p>
        </p:txBody>
      </p:sp>
      <p:sp>
        <p:nvSpPr>
          <p:cNvPr id="113" name="Oval 112"/>
          <p:cNvSpPr/>
          <p:nvPr/>
        </p:nvSpPr>
        <p:spPr>
          <a:xfrm>
            <a:off x="5550720" y="1707563"/>
            <a:ext cx="807080" cy="807080"/>
          </a:xfrm>
          <a:prstGeom prst="ellipse">
            <a:avLst/>
          </a:prstGeom>
          <a:solidFill>
            <a:srgbClr val="F4FAF4"/>
          </a:solidFill>
          <a:ln w="22860" cap="flat" cmpd="sng" algn="ctr">
            <a:noFill/>
            <a:prstDash val="solid"/>
            <a:round/>
            <a:headEnd type="none" w="med" len="med"/>
            <a:tailEnd type="none" w="med" len="med"/>
          </a:ln>
          <a:effectLst/>
          <a:extLst>
            <a:ext uri="{91240B29-F687-4F45-9708-019B960494DF}">
              <a14:hiddenLine xmlns:a14="http://schemas.microsoft.com/office/drawing/2010/main" w="22860" cap="flat" cmpd="sng" algn="ctr">
                <a:gradFill flip="none" rotWithShape="1">
                  <a:gsLst>
                    <a:gs pos="0">
                      <a:schemeClr val="accent2"/>
                    </a:gs>
                    <a:gs pos="100000">
                      <a:schemeClr val="tx2"/>
                    </a:gs>
                  </a:gsLst>
                  <a:lin ang="2700000" scaled="1"/>
                  <a:tileRect/>
                </a:gradFill>
                <a:prstDash val="solid"/>
                <a:round/>
                <a:headEnd type="none" w="med" len="med"/>
                <a:tailEnd type="none" w="med" len="med"/>
              </a14:hiddenLine>
            </a:ext>
          </a:extLst>
        </p:spPr>
        <p:txBody>
          <a:bodyPr lIns="0" tIns="0" rIns="0" bIns="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endParaRPr kumimoji="0" lang="en-US" sz="1600" b="0" i="0" u="none" strike="noStrike" kern="0" cap="none" spc="0" normalizeH="0" baseline="0" noProof="0">
              <a:ln>
                <a:noFill/>
              </a:ln>
              <a:solidFill>
                <a:srgbClr val="0033A1"/>
              </a:solidFill>
              <a:effectLst/>
              <a:uLnTx/>
              <a:uFillTx/>
              <a:ea typeface="Microsoft YaHei" panose="020B0503020204020204" pitchFamily="34" charset="-122"/>
              <a:cs typeface="+mn-cs"/>
            </a:endParaRPr>
          </a:p>
        </p:txBody>
      </p:sp>
      <p:sp>
        <p:nvSpPr>
          <p:cNvPr id="115" name="AutoShape 3">
            <a:extLst>
              <a:ext uri="{FF2B5EF4-FFF2-40B4-BE49-F238E27FC236}">
                <a16:creationId xmlns:a16="http://schemas.microsoft.com/office/drawing/2014/main" id="{73B97A11-2C18-49C5-B2E4-AC5637EF128E}"/>
              </a:ext>
            </a:extLst>
          </p:cNvPr>
          <p:cNvSpPr>
            <a:spLocks noChangeAspect="1" noChangeArrowheads="1" noTextEdit="1"/>
          </p:cNvSpPr>
          <p:nvPr/>
        </p:nvSpPr>
        <p:spPr bwMode="auto">
          <a:xfrm>
            <a:off x="5651860" y="1808703"/>
            <a:ext cx="604800" cy="6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4864" tIns="27432" rIns="54864" bIns="27432"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n-ea"/>
              <a:cs typeface="+mn-cs"/>
            </a:endParaRPr>
          </a:p>
        </p:txBody>
      </p:sp>
      <p:sp>
        <p:nvSpPr>
          <p:cNvPr id="119" name="Oval 118"/>
          <p:cNvSpPr/>
          <p:nvPr/>
        </p:nvSpPr>
        <p:spPr>
          <a:xfrm>
            <a:off x="8798174" y="1707563"/>
            <a:ext cx="807080" cy="807080"/>
          </a:xfrm>
          <a:prstGeom prst="ellipse">
            <a:avLst/>
          </a:prstGeom>
          <a:solidFill>
            <a:srgbClr val="F4FAF4"/>
          </a:solidFill>
          <a:ln w="22860" cap="flat" cmpd="sng" algn="ctr">
            <a:noFill/>
            <a:prstDash val="solid"/>
            <a:round/>
            <a:headEnd type="none" w="med" len="med"/>
            <a:tailEnd type="none" w="med" len="med"/>
          </a:ln>
          <a:effectLst/>
          <a:extLst>
            <a:ext uri="{91240B29-F687-4F45-9708-019B960494DF}">
              <a14:hiddenLine xmlns:a14="http://schemas.microsoft.com/office/drawing/2010/main" w="22860" cap="flat" cmpd="sng" algn="ctr">
                <a:gradFill flip="none" rotWithShape="1">
                  <a:gsLst>
                    <a:gs pos="0">
                      <a:schemeClr val="accent2"/>
                    </a:gs>
                    <a:gs pos="100000">
                      <a:schemeClr val="tx2"/>
                    </a:gs>
                  </a:gsLst>
                  <a:lin ang="2700000" scaled="1"/>
                  <a:tileRect/>
                </a:gradFill>
                <a:prstDash val="solid"/>
                <a:round/>
                <a:headEnd type="none" w="med" len="med"/>
                <a:tailEnd type="none" w="med" len="med"/>
              </a14:hiddenLine>
            </a:ext>
          </a:extLst>
        </p:spPr>
        <p:txBody>
          <a:bodyPr lIns="0" tIns="0" rIns="0" bIns="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endParaRPr kumimoji="0" lang="en-US" sz="1600" b="0" i="0" u="none" strike="noStrike" kern="0" cap="none" spc="0" normalizeH="0" baseline="0" noProof="0">
              <a:ln>
                <a:noFill/>
              </a:ln>
              <a:solidFill>
                <a:srgbClr val="0033A1"/>
              </a:solidFill>
              <a:effectLst/>
              <a:uLnTx/>
              <a:uFillTx/>
              <a:ea typeface="Microsoft YaHei" panose="020B0503020204020204" pitchFamily="34" charset="-122"/>
              <a:cs typeface="+mn-cs"/>
            </a:endParaRPr>
          </a:p>
        </p:txBody>
      </p:sp>
      <p:sp>
        <p:nvSpPr>
          <p:cNvPr id="121" name="AutoShape 13">
            <a:extLst>
              <a:ext uri="{FF2B5EF4-FFF2-40B4-BE49-F238E27FC236}">
                <a16:creationId xmlns:a16="http://schemas.microsoft.com/office/drawing/2014/main" id="{188AADED-968E-4933-8FC3-C73FEE66CF79}"/>
              </a:ext>
            </a:extLst>
          </p:cNvPr>
          <p:cNvSpPr>
            <a:spLocks noChangeAspect="1" noChangeArrowheads="1" noTextEdit="1"/>
          </p:cNvSpPr>
          <p:nvPr/>
        </p:nvSpPr>
        <p:spPr bwMode="auto">
          <a:xfrm>
            <a:off x="8899594" y="1808703"/>
            <a:ext cx="604240" cy="6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4864" tIns="27432" rIns="54864" bIns="27432"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n-ea"/>
              <a:cs typeface="+mn-cs"/>
            </a:endParaRPr>
          </a:p>
        </p:txBody>
      </p:sp>
      <p:sp>
        <p:nvSpPr>
          <p:cNvPr id="126" name="TextBox 125"/>
          <p:cNvSpPr txBox="1"/>
          <p:nvPr/>
        </p:nvSpPr>
        <p:spPr>
          <a:xfrm>
            <a:off x="9076552" y="3166393"/>
            <a:ext cx="232436" cy="152349"/>
          </a:xfrm>
          <a:prstGeom prst="rect">
            <a:avLst/>
          </a:prstGeom>
          <a:noFill/>
        </p:spPr>
        <p:txBody>
          <a:bodyPr wrap="none" lIns="0" tIns="0" rIns="0" bIns="0" rtlCol="0" anchor="t">
            <a:spAutoFit/>
          </a:bodyPr>
          <a:lstStyle/>
          <a:p>
            <a:pPr marL="0" marR="0" lvl="0" indent="0" algn="l" defTabSz="914400" rtl="0" eaLnBrk="1" fontAlgn="auto" latinLnBrk="0" hangingPunct="1">
              <a:lnSpc>
                <a:spcPct val="90000"/>
              </a:lnSpc>
              <a:spcBef>
                <a:spcPts val="0"/>
              </a:spcBef>
              <a:spcAft>
                <a:spcPts val="600"/>
              </a:spcAft>
              <a:buClrTx/>
              <a:buSzTx/>
              <a:buFontTx/>
              <a:buNone/>
              <a:tabLst/>
              <a:defRPr/>
            </a:pPr>
            <a:r>
              <a:rPr kumimoji="0" lang="en-US" sz="1100" b="0" i="0" u="none" strike="noStrike" kern="1200" cap="none" spc="0" normalizeH="0" baseline="0" noProof="0">
                <a:ln>
                  <a:noFill/>
                </a:ln>
                <a:solidFill>
                  <a:srgbClr val="575757"/>
                </a:solidFill>
                <a:effectLst/>
                <a:uLnTx/>
                <a:uFillTx/>
                <a:ea typeface="Microsoft YaHei" panose="020B0503020204020204" pitchFamily="34" charset="-122"/>
                <a:cs typeface="+mn-cs"/>
              </a:rPr>
              <a:t>73%</a:t>
            </a:r>
          </a:p>
        </p:txBody>
      </p:sp>
      <p:sp>
        <p:nvSpPr>
          <p:cNvPr id="127" name="TextBox 126"/>
          <p:cNvSpPr txBox="1"/>
          <p:nvPr/>
        </p:nvSpPr>
        <p:spPr>
          <a:xfrm>
            <a:off x="9334511" y="3465064"/>
            <a:ext cx="158698" cy="152349"/>
          </a:xfrm>
          <a:prstGeom prst="rect">
            <a:avLst/>
          </a:prstGeom>
          <a:noFill/>
        </p:spPr>
        <p:txBody>
          <a:bodyPr wrap="none" lIns="0" tIns="0" rIns="0" bIns="0" rtlCol="0" anchor="t">
            <a:spAutoFit/>
          </a:bodyPr>
          <a:lstStyle/>
          <a:p>
            <a:pPr marL="0" marR="0" lvl="0" indent="0" algn="l" defTabSz="914400" rtl="0" eaLnBrk="1" fontAlgn="auto" latinLnBrk="0" hangingPunct="1">
              <a:lnSpc>
                <a:spcPct val="90000"/>
              </a:lnSpc>
              <a:spcBef>
                <a:spcPts val="0"/>
              </a:spcBef>
              <a:spcAft>
                <a:spcPts val="600"/>
              </a:spcAft>
              <a:buClrTx/>
              <a:buSzTx/>
              <a:buFontTx/>
              <a:buNone/>
              <a:tabLst/>
              <a:defRPr/>
            </a:pPr>
            <a:r>
              <a:rPr kumimoji="0" lang="en-US" sz="1100" b="0" i="0" u="none" strike="noStrike" kern="1200" cap="none" spc="0" normalizeH="0" baseline="0" noProof="0">
                <a:ln>
                  <a:noFill/>
                </a:ln>
                <a:solidFill>
                  <a:srgbClr val="575757"/>
                </a:solidFill>
                <a:effectLst/>
                <a:uLnTx/>
                <a:uFillTx/>
                <a:ea typeface="Microsoft YaHei" panose="020B0503020204020204" pitchFamily="34" charset="-122"/>
                <a:cs typeface="+mn-cs"/>
              </a:rPr>
              <a:t>1%</a:t>
            </a:r>
          </a:p>
        </p:txBody>
      </p:sp>
      <p:sp>
        <p:nvSpPr>
          <p:cNvPr id="128" name="TextBox 127"/>
          <p:cNvSpPr txBox="1"/>
          <p:nvPr/>
        </p:nvSpPr>
        <p:spPr>
          <a:xfrm>
            <a:off x="9601573" y="3166393"/>
            <a:ext cx="232436" cy="152349"/>
          </a:xfrm>
          <a:prstGeom prst="rect">
            <a:avLst/>
          </a:prstGeom>
          <a:noFill/>
        </p:spPr>
        <p:txBody>
          <a:bodyPr wrap="none" lIns="0" tIns="0" rIns="0" bIns="0" rtlCol="0" anchor="t">
            <a:spAutoFit/>
          </a:bodyPr>
          <a:lstStyle/>
          <a:p>
            <a:pPr marL="0" marR="0" lvl="0" indent="0" algn="l" defTabSz="914400" rtl="0" eaLnBrk="1" fontAlgn="auto" latinLnBrk="0" hangingPunct="1">
              <a:lnSpc>
                <a:spcPct val="90000"/>
              </a:lnSpc>
              <a:spcBef>
                <a:spcPts val="0"/>
              </a:spcBef>
              <a:spcAft>
                <a:spcPts val="600"/>
              </a:spcAft>
              <a:buClrTx/>
              <a:buSzTx/>
              <a:buFontTx/>
              <a:buNone/>
              <a:tabLst/>
              <a:defRPr/>
            </a:pPr>
            <a:r>
              <a:rPr kumimoji="0" lang="en-US" sz="1100" b="0" i="0" u="none" strike="noStrike" kern="1200" cap="none" spc="0" normalizeH="0" baseline="0" noProof="0">
                <a:ln>
                  <a:noFill/>
                </a:ln>
                <a:solidFill>
                  <a:srgbClr val="575757"/>
                </a:solidFill>
                <a:effectLst/>
                <a:uLnTx/>
                <a:uFillTx/>
                <a:ea typeface="Microsoft YaHei" panose="020B0503020204020204" pitchFamily="34" charset="-122"/>
                <a:cs typeface="+mn-cs"/>
              </a:rPr>
              <a:t>26%</a:t>
            </a:r>
          </a:p>
        </p:txBody>
      </p:sp>
      <p:sp>
        <p:nvSpPr>
          <p:cNvPr id="149" name="Oval 148"/>
          <p:cNvSpPr/>
          <p:nvPr/>
        </p:nvSpPr>
        <p:spPr>
          <a:xfrm>
            <a:off x="7186058" y="1707563"/>
            <a:ext cx="807080" cy="807080"/>
          </a:xfrm>
          <a:prstGeom prst="ellipse">
            <a:avLst/>
          </a:prstGeom>
          <a:solidFill>
            <a:srgbClr val="F4FAF4"/>
          </a:solidFill>
          <a:ln w="22860" cap="flat" cmpd="sng" algn="ctr">
            <a:noFill/>
            <a:prstDash val="solid"/>
            <a:round/>
            <a:headEnd type="none" w="med" len="med"/>
            <a:tailEnd type="none" w="med" len="med"/>
          </a:ln>
          <a:effectLst/>
          <a:extLst>
            <a:ext uri="{91240B29-F687-4F45-9708-019B960494DF}">
              <a14:hiddenLine xmlns:a14="http://schemas.microsoft.com/office/drawing/2010/main" w="22860" cap="flat" cmpd="sng" algn="ctr">
                <a:gradFill flip="none" rotWithShape="1">
                  <a:gsLst>
                    <a:gs pos="0">
                      <a:schemeClr val="accent2"/>
                    </a:gs>
                    <a:gs pos="100000">
                      <a:schemeClr val="tx2"/>
                    </a:gs>
                  </a:gsLst>
                  <a:lin ang="2700000" scaled="1"/>
                  <a:tileRect/>
                </a:gradFill>
                <a:prstDash val="solid"/>
                <a:round/>
                <a:headEnd type="none" w="med" len="med"/>
                <a:tailEnd type="none" w="med" len="med"/>
              </a14:hiddenLine>
            </a:ext>
          </a:extLst>
        </p:spPr>
        <p:txBody>
          <a:bodyPr lIns="0" tIns="0" rIns="0" bIns="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endParaRPr kumimoji="0" lang="en-US" sz="1600" b="0" i="0" u="none" strike="noStrike" kern="0" cap="none" spc="0" normalizeH="0" baseline="0" noProof="0">
              <a:ln>
                <a:noFill/>
              </a:ln>
              <a:solidFill>
                <a:srgbClr val="0033A1"/>
              </a:solidFill>
              <a:effectLst/>
              <a:uLnTx/>
              <a:uFillTx/>
              <a:ea typeface="Microsoft YaHei" panose="020B0503020204020204" pitchFamily="34" charset="-122"/>
              <a:cs typeface="+mn-cs"/>
            </a:endParaRPr>
          </a:p>
        </p:txBody>
      </p:sp>
      <p:pic>
        <p:nvPicPr>
          <p:cNvPr id="155" name="Picture 154"/>
          <p:cNvPicPr>
            <a:picLocks/>
          </p:cNvPicPr>
          <p:nvPr/>
        </p:nvPicPr>
        <p:blipFill rotWithShape="1">
          <a:blip r:embed="rId8" cstate="email">
            <a:extLst>
              <a:ext uri="{28A0092B-C50C-407E-A947-70E740481C1C}">
                <a14:useLocalDpi xmlns:a14="http://schemas.microsoft.com/office/drawing/2010/main"/>
              </a:ext>
            </a:extLst>
          </a:blip>
          <a:srcRect l="40264" t="7244" r="37975" b="11599"/>
          <a:stretch/>
        </p:blipFill>
        <p:spPr>
          <a:xfrm>
            <a:off x="7546733" y="3586804"/>
            <a:ext cx="535499" cy="205888"/>
          </a:xfrm>
          <a:prstGeom prst="rect">
            <a:avLst/>
          </a:prstGeom>
          <a:ln w="9525" cap="flat" cmpd="sng" algn="ctr">
            <a:solidFill>
              <a:srgbClr val="85858B"/>
            </a:solidFill>
            <a:prstDash val="solid"/>
            <a:round/>
            <a:headEnd type="none" w="med" len="med"/>
            <a:tailEnd type="none" w="med" len="med"/>
          </a:ln>
          <a:effectLst/>
        </p:spPr>
      </p:pic>
      <p:pic>
        <p:nvPicPr>
          <p:cNvPr id="156" name="Picture 155"/>
          <p:cNvPicPr>
            <a:picLocks/>
          </p:cNvPicPr>
          <p:nvPr/>
        </p:nvPicPr>
        <p:blipFill rotWithShape="1">
          <a:blip r:embed="rId9" cstate="email">
            <a:extLst>
              <a:ext uri="{28A0092B-C50C-407E-A947-70E740481C1C}">
                <a14:useLocalDpi xmlns:a14="http://schemas.microsoft.com/office/drawing/2010/main"/>
              </a:ext>
            </a:extLst>
          </a:blip>
          <a:srcRect l="25039" t="8906" r="31262" b="11671"/>
          <a:stretch/>
        </p:blipFill>
        <p:spPr>
          <a:xfrm>
            <a:off x="7292463" y="3489637"/>
            <a:ext cx="535499" cy="205888"/>
          </a:xfrm>
          <a:prstGeom prst="rect">
            <a:avLst/>
          </a:prstGeom>
          <a:ln w="9525" cap="flat" cmpd="sng" algn="ctr">
            <a:solidFill>
              <a:srgbClr val="85858B"/>
            </a:solidFill>
            <a:prstDash val="solid"/>
            <a:round/>
            <a:headEnd type="none" w="med" len="med"/>
            <a:tailEnd type="none" w="med" len="med"/>
          </a:ln>
          <a:effectLst/>
        </p:spPr>
      </p:pic>
      <p:pic>
        <p:nvPicPr>
          <p:cNvPr id="158" name="Picture 157"/>
          <p:cNvPicPr>
            <a:picLocks/>
          </p:cNvPicPr>
          <p:nvPr/>
        </p:nvPicPr>
        <p:blipFill rotWithShape="1">
          <a:blip r:embed="rId10" cstate="email">
            <a:extLst>
              <a:ext uri="{28A0092B-C50C-407E-A947-70E740481C1C}">
                <a14:useLocalDpi xmlns:a14="http://schemas.microsoft.com/office/drawing/2010/main"/>
              </a:ext>
            </a:extLst>
          </a:blip>
          <a:srcRect l="38786" t="7244" r="32545" b="11599"/>
          <a:stretch/>
        </p:blipFill>
        <p:spPr>
          <a:xfrm>
            <a:off x="7097035" y="3373264"/>
            <a:ext cx="535499" cy="205888"/>
          </a:xfrm>
          <a:prstGeom prst="rect">
            <a:avLst/>
          </a:prstGeom>
          <a:ln w="9525" cap="flat" cmpd="sng" algn="ctr">
            <a:solidFill>
              <a:srgbClr val="85858B"/>
            </a:solidFill>
            <a:prstDash val="solid"/>
            <a:round/>
            <a:headEnd type="none" w="med" len="med"/>
            <a:tailEnd type="none" w="med" len="med"/>
          </a:ln>
          <a:effectLst/>
        </p:spPr>
      </p:pic>
      <p:cxnSp>
        <p:nvCxnSpPr>
          <p:cNvPr id="161" name="Straight Arrow Connector 160"/>
          <p:cNvCxnSpPr/>
          <p:nvPr/>
        </p:nvCxnSpPr>
        <p:spPr>
          <a:xfrm>
            <a:off x="3307744" y="2111103"/>
            <a:ext cx="735365" cy="0"/>
          </a:xfrm>
          <a:prstGeom prst="straightConnector1">
            <a:avLst/>
          </a:prstGeom>
          <a:ln w="15240" cap="rnd">
            <a:solidFill>
              <a:schemeClr val="tx1">
                <a:lumMod val="60000"/>
                <a:lumOff val="40000"/>
              </a:schemeClr>
            </a:solidFill>
            <a:prstDash val="sysDot"/>
            <a:round/>
            <a:tailEnd type="triangle" w="sm" len="sm"/>
          </a:ln>
        </p:spPr>
        <p:style>
          <a:lnRef idx="1">
            <a:schemeClr val="accent1"/>
          </a:lnRef>
          <a:fillRef idx="0">
            <a:schemeClr val="accent1"/>
          </a:fillRef>
          <a:effectRef idx="0">
            <a:schemeClr val="accent1"/>
          </a:effectRef>
          <a:fontRef idx="minor">
            <a:schemeClr val="tx1"/>
          </a:fontRef>
        </p:style>
      </p:cxnSp>
      <p:cxnSp>
        <p:nvCxnSpPr>
          <p:cNvPr id="164" name="Straight Arrow Connector 163"/>
          <p:cNvCxnSpPr/>
          <p:nvPr/>
        </p:nvCxnSpPr>
        <p:spPr>
          <a:xfrm>
            <a:off x="4850189" y="2111103"/>
            <a:ext cx="700531" cy="0"/>
          </a:xfrm>
          <a:prstGeom prst="straightConnector1">
            <a:avLst/>
          </a:prstGeom>
          <a:ln w="15240" cap="rnd">
            <a:solidFill>
              <a:schemeClr val="tx1">
                <a:lumMod val="60000"/>
                <a:lumOff val="40000"/>
              </a:schemeClr>
            </a:solidFill>
            <a:prstDash val="sysDot"/>
            <a:round/>
            <a:tailEnd type="triangle" w="sm" len="sm"/>
          </a:ln>
        </p:spPr>
        <p:style>
          <a:lnRef idx="1">
            <a:schemeClr val="accent1"/>
          </a:lnRef>
          <a:fillRef idx="0">
            <a:schemeClr val="accent1"/>
          </a:fillRef>
          <a:effectRef idx="0">
            <a:schemeClr val="accent1"/>
          </a:effectRef>
          <a:fontRef idx="minor">
            <a:schemeClr val="tx1"/>
          </a:fontRef>
        </p:style>
      </p:cxnSp>
      <p:cxnSp>
        <p:nvCxnSpPr>
          <p:cNvPr id="167" name="Straight Arrow Connector 166"/>
          <p:cNvCxnSpPr/>
          <p:nvPr/>
        </p:nvCxnSpPr>
        <p:spPr>
          <a:xfrm>
            <a:off x="6357800" y="2111103"/>
            <a:ext cx="828258" cy="0"/>
          </a:xfrm>
          <a:prstGeom prst="straightConnector1">
            <a:avLst/>
          </a:prstGeom>
          <a:ln w="15240" cap="rnd">
            <a:solidFill>
              <a:schemeClr val="tx1">
                <a:lumMod val="60000"/>
                <a:lumOff val="40000"/>
              </a:schemeClr>
            </a:solidFill>
            <a:prstDash val="sysDot"/>
            <a:round/>
            <a:tailEnd type="triangle" w="sm" len="sm"/>
          </a:ln>
        </p:spPr>
        <p:style>
          <a:lnRef idx="1">
            <a:schemeClr val="accent1"/>
          </a:lnRef>
          <a:fillRef idx="0">
            <a:schemeClr val="accent1"/>
          </a:fillRef>
          <a:effectRef idx="0">
            <a:schemeClr val="accent1"/>
          </a:effectRef>
          <a:fontRef idx="minor">
            <a:schemeClr val="tx1"/>
          </a:fontRef>
        </p:style>
      </p:cxnSp>
      <p:cxnSp>
        <p:nvCxnSpPr>
          <p:cNvPr id="200" name="Straight Arrow Connector 199"/>
          <p:cNvCxnSpPr/>
          <p:nvPr/>
        </p:nvCxnSpPr>
        <p:spPr>
          <a:xfrm>
            <a:off x="7993138" y="2111103"/>
            <a:ext cx="805036" cy="0"/>
          </a:xfrm>
          <a:prstGeom prst="straightConnector1">
            <a:avLst/>
          </a:prstGeom>
          <a:ln w="15240" cap="rnd">
            <a:solidFill>
              <a:schemeClr val="tx1">
                <a:lumMod val="60000"/>
                <a:lumOff val="40000"/>
              </a:schemeClr>
            </a:solidFill>
            <a:prstDash val="sysDot"/>
            <a:round/>
            <a:tailEnd type="triangle" w="sm" len="sm"/>
          </a:ln>
        </p:spPr>
        <p:style>
          <a:lnRef idx="1">
            <a:schemeClr val="accent1"/>
          </a:lnRef>
          <a:fillRef idx="0">
            <a:schemeClr val="accent1"/>
          </a:fillRef>
          <a:effectRef idx="0">
            <a:schemeClr val="accent1"/>
          </a:effectRef>
          <a:fontRef idx="minor">
            <a:schemeClr val="tx1"/>
          </a:fontRef>
        </p:style>
      </p:cxnSp>
      <p:cxnSp>
        <p:nvCxnSpPr>
          <p:cNvPr id="219" name="Straight Arrow Connector 218"/>
          <p:cNvCxnSpPr/>
          <p:nvPr/>
        </p:nvCxnSpPr>
        <p:spPr>
          <a:xfrm>
            <a:off x="9605254" y="2111103"/>
            <a:ext cx="910256" cy="0"/>
          </a:xfrm>
          <a:prstGeom prst="straightConnector1">
            <a:avLst/>
          </a:prstGeom>
          <a:ln w="15240" cap="rnd">
            <a:solidFill>
              <a:schemeClr val="tx1">
                <a:lumMod val="60000"/>
                <a:lumOff val="40000"/>
              </a:schemeClr>
            </a:solidFill>
            <a:prstDash val="sysDot"/>
            <a:round/>
            <a:tailEnd type="triangle" w="sm" len="sm"/>
          </a:ln>
        </p:spPr>
        <p:style>
          <a:lnRef idx="1">
            <a:schemeClr val="accent1"/>
          </a:lnRef>
          <a:fillRef idx="0">
            <a:schemeClr val="accent1"/>
          </a:fillRef>
          <a:effectRef idx="0">
            <a:schemeClr val="accent1"/>
          </a:effectRef>
          <a:fontRef idx="minor">
            <a:schemeClr val="tx1"/>
          </a:fontRef>
        </p:style>
      </p:cxnSp>
      <p:sp>
        <p:nvSpPr>
          <p:cNvPr id="3" name="TextBox 2"/>
          <p:cNvSpPr txBox="1"/>
          <p:nvPr/>
        </p:nvSpPr>
        <p:spPr>
          <a:xfrm>
            <a:off x="569113" y="2775559"/>
            <a:ext cx="1503417" cy="954260"/>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zh-TW" altLang="en-US" sz="1600" b="1">
                <a:solidFill>
                  <a:srgbClr val="295E7E"/>
                </a:solidFill>
                <a:ea typeface="Microsoft YaHei" panose="020B0503020204020204" pitchFamily="34" charset="-122"/>
              </a:rPr>
              <a:t>凱基現況</a:t>
            </a:r>
            <a:endParaRPr lang="en-US" altLang="zh-TW" sz="1600" b="1">
              <a:solidFill>
                <a:srgbClr val="295E7E"/>
              </a:solidFill>
              <a:ea typeface="Microsoft YaHei" panose="020B0503020204020204" pitchFamily="34" charset="-122"/>
            </a:endParaRPr>
          </a:p>
          <a:p>
            <a:pPr marL="0" marR="0" lvl="0" indent="0" defTabSz="914400" rtl="0" eaLnBrk="1" fontAlgn="auto" latinLnBrk="0" hangingPunct="1">
              <a:lnSpc>
                <a:spcPct val="100000"/>
              </a:lnSpc>
              <a:spcBef>
                <a:spcPts val="0"/>
              </a:spcBef>
              <a:spcAft>
                <a:spcPts val="0"/>
              </a:spcAft>
              <a:buClrTx/>
              <a:buSzTx/>
              <a:buFontTx/>
              <a:buNone/>
              <a:tabLst/>
              <a:defRPr/>
            </a:pPr>
            <a:r>
              <a:rPr kumimoji="0" lang="zh-TW" altLang="en-US" sz="1400" u="none" strike="noStrike" kern="1200" cap="none" spc="0" normalizeH="0" baseline="0" noProof="0">
                <a:ln>
                  <a:noFill/>
                </a:ln>
                <a:solidFill>
                  <a:srgbClr val="295E7E"/>
                </a:solidFill>
                <a:effectLst/>
                <a:uLnTx/>
                <a:uFillTx/>
                <a:ea typeface="Microsoft YaHei" panose="020B0503020204020204" pitchFamily="34" charset="-122"/>
              </a:rPr>
              <a:t>主要以産品爲中心出發，具備部分差異化經營</a:t>
            </a:r>
            <a:endParaRPr kumimoji="0" lang="en-US" sz="1400" u="none" strike="noStrike" kern="1200" cap="none" spc="0" normalizeH="0" baseline="0" noProof="0">
              <a:ln>
                <a:noFill/>
              </a:ln>
              <a:solidFill>
                <a:srgbClr val="295E7E"/>
              </a:solidFill>
              <a:effectLst/>
              <a:uLnTx/>
              <a:uFillTx/>
              <a:ea typeface="Microsoft YaHei" panose="020B0503020204020204" pitchFamily="34" charset="-122"/>
            </a:endParaRPr>
          </a:p>
        </p:txBody>
      </p:sp>
      <p:grpSp>
        <p:nvGrpSpPr>
          <p:cNvPr id="168" name="Group 167"/>
          <p:cNvGrpSpPr>
            <a:grpSpLocks noChangeAspect="1"/>
          </p:cNvGrpSpPr>
          <p:nvPr/>
        </p:nvGrpSpPr>
        <p:grpSpPr>
          <a:xfrm>
            <a:off x="2622722" y="1851829"/>
            <a:ext cx="562963" cy="562420"/>
            <a:chOff x="5273675" y="2606675"/>
            <a:chExt cx="1646238" cy="1644650"/>
          </a:xfrm>
        </p:grpSpPr>
        <p:sp>
          <p:nvSpPr>
            <p:cNvPr id="169" name="AutoShape 3"/>
            <p:cNvSpPr>
              <a:spLocks noChangeAspect="1" noChangeArrowheads="1" noTextEdit="1"/>
            </p:cNvSpPr>
            <p:nvPr/>
          </p:nvSpPr>
          <p:spPr bwMode="auto">
            <a:xfrm>
              <a:off x="5273675"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n-ea"/>
                <a:cs typeface="+mn-cs"/>
              </a:endParaRPr>
            </a:p>
          </p:txBody>
        </p:sp>
        <p:grpSp>
          <p:nvGrpSpPr>
            <p:cNvPr id="195" name="Group 194"/>
            <p:cNvGrpSpPr/>
            <p:nvPr/>
          </p:nvGrpSpPr>
          <p:grpSpPr>
            <a:xfrm>
              <a:off x="5519738" y="2911475"/>
              <a:ext cx="1154113" cy="963613"/>
              <a:chOff x="5519738" y="2911475"/>
              <a:chExt cx="1154113" cy="963613"/>
            </a:xfrm>
          </p:grpSpPr>
          <p:sp>
            <p:nvSpPr>
              <p:cNvPr id="201" name="Freeform 200"/>
              <p:cNvSpPr>
                <a:spLocks/>
              </p:cNvSpPr>
              <p:nvPr/>
            </p:nvSpPr>
            <p:spPr bwMode="auto">
              <a:xfrm>
                <a:off x="5605462" y="3319463"/>
                <a:ext cx="982662" cy="474662"/>
              </a:xfrm>
              <a:custGeom>
                <a:avLst/>
                <a:gdLst>
                  <a:gd name="connsiteX0" fmla="*/ 770723 w 982662"/>
                  <a:gd name="connsiteY0" fmla="*/ 255587 h 474662"/>
                  <a:gd name="connsiteX1" fmla="*/ 975526 w 982662"/>
                  <a:gd name="connsiteY1" fmla="*/ 255587 h 474662"/>
                  <a:gd name="connsiteX2" fmla="*/ 982662 w 982662"/>
                  <a:gd name="connsiteY2" fmla="*/ 262723 h 474662"/>
                  <a:gd name="connsiteX3" fmla="*/ 982662 w 982662"/>
                  <a:gd name="connsiteY3" fmla="*/ 467526 h 474662"/>
                  <a:gd name="connsiteX4" fmla="*/ 975526 w 982662"/>
                  <a:gd name="connsiteY4" fmla="*/ 474662 h 474662"/>
                  <a:gd name="connsiteX5" fmla="*/ 770723 w 982662"/>
                  <a:gd name="connsiteY5" fmla="*/ 474662 h 474662"/>
                  <a:gd name="connsiteX6" fmla="*/ 763587 w 982662"/>
                  <a:gd name="connsiteY6" fmla="*/ 467526 h 474662"/>
                  <a:gd name="connsiteX7" fmla="*/ 763587 w 982662"/>
                  <a:gd name="connsiteY7" fmla="*/ 262723 h 474662"/>
                  <a:gd name="connsiteX8" fmla="*/ 770723 w 982662"/>
                  <a:gd name="connsiteY8" fmla="*/ 255587 h 474662"/>
                  <a:gd name="connsiteX9" fmla="*/ 516723 w 982662"/>
                  <a:gd name="connsiteY9" fmla="*/ 255587 h 474662"/>
                  <a:gd name="connsiteX10" fmla="*/ 721526 w 982662"/>
                  <a:gd name="connsiteY10" fmla="*/ 255587 h 474662"/>
                  <a:gd name="connsiteX11" fmla="*/ 728662 w 982662"/>
                  <a:gd name="connsiteY11" fmla="*/ 262723 h 474662"/>
                  <a:gd name="connsiteX12" fmla="*/ 728662 w 982662"/>
                  <a:gd name="connsiteY12" fmla="*/ 467526 h 474662"/>
                  <a:gd name="connsiteX13" fmla="*/ 721526 w 982662"/>
                  <a:gd name="connsiteY13" fmla="*/ 474662 h 474662"/>
                  <a:gd name="connsiteX14" fmla="*/ 516723 w 982662"/>
                  <a:gd name="connsiteY14" fmla="*/ 474662 h 474662"/>
                  <a:gd name="connsiteX15" fmla="*/ 509587 w 982662"/>
                  <a:gd name="connsiteY15" fmla="*/ 467526 h 474662"/>
                  <a:gd name="connsiteX16" fmla="*/ 509587 w 982662"/>
                  <a:gd name="connsiteY16" fmla="*/ 262723 h 474662"/>
                  <a:gd name="connsiteX17" fmla="*/ 516723 w 982662"/>
                  <a:gd name="connsiteY17" fmla="*/ 255587 h 474662"/>
                  <a:gd name="connsiteX18" fmla="*/ 261136 w 982662"/>
                  <a:gd name="connsiteY18" fmla="*/ 255587 h 474662"/>
                  <a:gd name="connsiteX19" fmla="*/ 465939 w 982662"/>
                  <a:gd name="connsiteY19" fmla="*/ 255587 h 474662"/>
                  <a:gd name="connsiteX20" fmla="*/ 473075 w 982662"/>
                  <a:gd name="connsiteY20" fmla="*/ 262723 h 474662"/>
                  <a:gd name="connsiteX21" fmla="*/ 473075 w 982662"/>
                  <a:gd name="connsiteY21" fmla="*/ 467526 h 474662"/>
                  <a:gd name="connsiteX22" fmla="*/ 465939 w 982662"/>
                  <a:gd name="connsiteY22" fmla="*/ 474662 h 474662"/>
                  <a:gd name="connsiteX23" fmla="*/ 261136 w 982662"/>
                  <a:gd name="connsiteY23" fmla="*/ 474662 h 474662"/>
                  <a:gd name="connsiteX24" fmla="*/ 254000 w 982662"/>
                  <a:gd name="connsiteY24" fmla="*/ 467526 h 474662"/>
                  <a:gd name="connsiteX25" fmla="*/ 254000 w 982662"/>
                  <a:gd name="connsiteY25" fmla="*/ 262723 h 474662"/>
                  <a:gd name="connsiteX26" fmla="*/ 261136 w 982662"/>
                  <a:gd name="connsiteY26" fmla="*/ 255587 h 474662"/>
                  <a:gd name="connsiteX27" fmla="*/ 7136 w 982662"/>
                  <a:gd name="connsiteY27" fmla="*/ 255587 h 474662"/>
                  <a:gd name="connsiteX28" fmla="*/ 211939 w 982662"/>
                  <a:gd name="connsiteY28" fmla="*/ 255587 h 474662"/>
                  <a:gd name="connsiteX29" fmla="*/ 219075 w 982662"/>
                  <a:gd name="connsiteY29" fmla="*/ 262723 h 474662"/>
                  <a:gd name="connsiteX30" fmla="*/ 219075 w 982662"/>
                  <a:gd name="connsiteY30" fmla="*/ 467526 h 474662"/>
                  <a:gd name="connsiteX31" fmla="*/ 211939 w 982662"/>
                  <a:gd name="connsiteY31" fmla="*/ 474662 h 474662"/>
                  <a:gd name="connsiteX32" fmla="*/ 7136 w 982662"/>
                  <a:gd name="connsiteY32" fmla="*/ 474662 h 474662"/>
                  <a:gd name="connsiteX33" fmla="*/ 0 w 982662"/>
                  <a:gd name="connsiteY33" fmla="*/ 467526 h 474662"/>
                  <a:gd name="connsiteX34" fmla="*/ 0 w 982662"/>
                  <a:gd name="connsiteY34" fmla="*/ 262723 h 474662"/>
                  <a:gd name="connsiteX35" fmla="*/ 7136 w 982662"/>
                  <a:gd name="connsiteY35" fmla="*/ 255587 h 474662"/>
                  <a:gd name="connsiteX36" fmla="*/ 770723 w 982662"/>
                  <a:gd name="connsiteY36" fmla="*/ 0 h 474662"/>
                  <a:gd name="connsiteX37" fmla="*/ 975526 w 982662"/>
                  <a:gd name="connsiteY37" fmla="*/ 0 h 474662"/>
                  <a:gd name="connsiteX38" fmla="*/ 982662 w 982662"/>
                  <a:gd name="connsiteY38" fmla="*/ 7108 h 474662"/>
                  <a:gd name="connsiteX39" fmla="*/ 982662 w 982662"/>
                  <a:gd name="connsiteY39" fmla="*/ 210381 h 474662"/>
                  <a:gd name="connsiteX40" fmla="*/ 975526 w 982662"/>
                  <a:gd name="connsiteY40" fmla="*/ 217488 h 474662"/>
                  <a:gd name="connsiteX41" fmla="*/ 770723 w 982662"/>
                  <a:gd name="connsiteY41" fmla="*/ 217488 h 474662"/>
                  <a:gd name="connsiteX42" fmla="*/ 763587 w 982662"/>
                  <a:gd name="connsiteY42" fmla="*/ 210381 h 474662"/>
                  <a:gd name="connsiteX43" fmla="*/ 763587 w 982662"/>
                  <a:gd name="connsiteY43" fmla="*/ 7108 h 474662"/>
                  <a:gd name="connsiteX44" fmla="*/ 770723 w 982662"/>
                  <a:gd name="connsiteY44" fmla="*/ 0 h 474662"/>
                  <a:gd name="connsiteX45" fmla="*/ 516723 w 982662"/>
                  <a:gd name="connsiteY45" fmla="*/ 0 h 474662"/>
                  <a:gd name="connsiteX46" fmla="*/ 721526 w 982662"/>
                  <a:gd name="connsiteY46" fmla="*/ 0 h 474662"/>
                  <a:gd name="connsiteX47" fmla="*/ 728662 w 982662"/>
                  <a:gd name="connsiteY47" fmla="*/ 7108 h 474662"/>
                  <a:gd name="connsiteX48" fmla="*/ 728662 w 982662"/>
                  <a:gd name="connsiteY48" fmla="*/ 210381 h 474662"/>
                  <a:gd name="connsiteX49" fmla="*/ 721526 w 982662"/>
                  <a:gd name="connsiteY49" fmla="*/ 217488 h 474662"/>
                  <a:gd name="connsiteX50" fmla="*/ 516723 w 982662"/>
                  <a:gd name="connsiteY50" fmla="*/ 217488 h 474662"/>
                  <a:gd name="connsiteX51" fmla="*/ 509587 w 982662"/>
                  <a:gd name="connsiteY51" fmla="*/ 210381 h 474662"/>
                  <a:gd name="connsiteX52" fmla="*/ 509587 w 982662"/>
                  <a:gd name="connsiteY52" fmla="*/ 7108 h 474662"/>
                  <a:gd name="connsiteX53" fmla="*/ 516723 w 982662"/>
                  <a:gd name="connsiteY53" fmla="*/ 0 h 474662"/>
                  <a:gd name="connsiteX54" fmla="*/ 261136 w 982662"/>
                  <a:gd name="connsiteY54" fmla="*/ 0 h 474662"/>
                  <a:gd name="connsiteX55" fmla="*/ 465939 w 982662"/>
                  <a:gd name="connsiteY55" fmla="*/ 0 h 474662"/>
                  <a:gd name="connsiteX56" fmla="*/ 473075 w 982662"/>
                  <a:gd name="connsiteY56" fmla="*/ 7108 h 474662"/>
                  <a:gd name="connsiteX57" fmla="*/ 473075 w 982662"/>
                  <a:gd name="connsiteY57" fmla="*/ 210381 h 474662"/>
                  <a:gd name="connsiteX58" fmla="*/ 465939 w 982662"/>
                  <a:gd name="connsiteY58" fmla="*/ 217488 h 474662"/>
                  <a:gd name="connsiteX59" fmla="*/ 261136 w 982662"/>
                  <a:gd name="connsiteY59" fmla="*/ 217488 h 474662"/>
                  <a:gd name="connsiteX60" fmla="*/ 254000 w 982662"/>
                  <a:gd name="connsiteY60" fmla="*/ 210381 h 474662"/>
                  <a:gd name="connsiteX61" fmla="*/ 254000 w 982662"/>
                  <a:gd name="connsiteY61" fmla="*/ 7108 h 474662"/>
                  <a:gd name="connsiteX62" fmla="*/ 261136 w 982662"/>
                  <a:gd name="connsiteY62" fmla="*/ 0 h 474662"/>
                  <a:gd name="connsiteX63" fmla="*/ 7136 w 982662"/>
                  <a:gd name="connsiteY63" fmla="*/ 0 h 474662"/>
                  <a:gd name="connsiteX64" fmla="*/ 211939 w 982662"/>
                  <a:gd name="connsiteY64" fmla="*/ 0 h 474662"/>
                  <a:gd name="connsiteX65" fmla="*/ 219075 w 982662"/>
                  <a:gd name="connsiteY65" fmla="*/ 7108 h 474662"/>
                  <a:gd name="connsiteX66" fmla="*/ 219075 w 982662"/>
                  <a:gd name="connsiteY66" fmla="*/ 210381 h 474662"/>
                  <a:gd name="connsiteX67" fmla="*/ 211939 w 982662"/>
                  <a:gd name="connsiteY67" fmla="*/ 217488 h 474662"/>
                  <a:gd name="connsiteX68" fmla="*/ 7136 w 982662"/>
                  <a:gd name="connsiteY68" fmla="*/ 217488 h 474662"/>
                  <a:gd name="connsiteX69" fmla="*/ 0 w 982662"/>
                  <a:gd name="connsiteY69" fmla="*/ 210381 h 474662"/>
                  <a:gd name="connsiteX70" fmla="*/ 0 w 982662"/>
                  <a:gd name="connsiteY70" fmla="*/ 7108 h 474662"/>
                  <a:gd name="connsiteX71" fmla="*/ 7136 w 982662"/>
                  <a:gd name="connsiteY71" fmla="*/ 0 h 474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982662" h="474662">
                    <a:moveTo>
                      <a:pt x="770723" y="255587"/>
                    </a:moveTo>
                    <a:cubicBezTo>
                      <a:pt x="770723" y="255587"/>
                      <a:pt x="770723" y="255587"/>
                      <a:pt x="975526" y="255587"/>
                    </a:cubicBezTo>
                    <a:cubicBezTo>
                      <a:pt x="979808" y="255587"/>
                      <a:pt x="982662" y="258442"/>
                      <a:pt x="982662" y="262723"/>
                    </a:cubicBezTo>
                    <a:cubicBezTo>
                      <a:pt x="982662" y="262723"/>
                      <a:pt x="982662" y="262723"/>
                      <a:pt x="982662" y="467526"/>
                    </a:cubicBezTo>
                    <a:cubicBezTo>
                      <a:pt x="982662" y="471094"/>
                      <a:pt x="979808" y="474662"/>
                      <a:pt x="975526" y="474662"/>
                    </a:cubicBezTo>
                    <a:cubicBezTo>
                      <a:pt x="975526" y="474662"/>
                      <a:pt x="975526" y="474662"/>
                      <a:pt x="770723" y="474662"/>
                    </a:cubicBezTo>
                    <a:cubicBezTo>
                      <a:pt x="767155" y="474662"/>
                      <a:pt x="763587" y="471094"/>
                      <a:pt x="763587" y="467526"/>
                    </a:cubicBezTo>
                    <a:cubicBezTo>
                      <a:pt x="763587" y="467526"/>
                      <a:pt x="763587" y="467526"/>
                      <a:pt x="763587" y="262723"/>
                    </a:cubicBezTo>
                    <a:cubicBezTo>
                      <a:pt x="763587" y="258442"/>
                      <a:pt x="767155" y="255587"/>
                      <a:pt x="770723" y="255587"/>
                    </a:cubicBezTo>
                    <a:close/>
                    <a:moveTo>
                      <a:pt x="516723" y="255587"/>
                    </a:moveTo>
                    <a:cubicBezTo>
                      <a:pt x="516723" y="255587"/>
                      <a:pt x="516723" y="255587"/>
                      <a:pt x="721526" y="255587"/>
                    </a:cubicBezTo>
                    <a:cubicBezTo>
                      <a:pt x="725094" y="255587"/>
                      <a:pt x="728662" y="258442"/>
                      <a:pt x="728662" y="262723"/>
                    </a:cubicBezTo>
                    <a:cubicBezTo>
                      <a:pt x="728662" y="262723"/>
                      <a:pt x="728662" y="262723"/>
                      <a:pt x="728662" y="467526"/>
                    </a:cubicBezTo>
                    <a:cubicBezTo>
                      <a:pt x="728662" y="471094"/>
                      <a:pt x="725094" y="474662"/>
                      <a:pt x="721526" y="474662"/>
                    </a:cubicBezTo>
                    <a:cubicBezTo>
                      <a:pt x="721526" y="474662"/>
                      <a:pt x="721526" y="474662"/>
                      <a:pt x="516723" y="474662"/>
                    </a:cubicBezTo>
                    <a:cubicBezTo>
                      <a:pt x="512442" y="474662"/>
                      <a:pt x="509587" y="471094"/>
                      <a:pt x="509587" y="467526"/>
                    </a:cubicBezTo>
                    <a:cubicBezTo>
                      <a:pt x="509587" y="467526"/>
                      <a:pt x="509587" y="467526"/>
                      <a:pt x="509587" y="262723"/>
                    </a:cubicBezTo>
                    <a:cubicBezTo>
                      <a:pt x="509587" y="258442"/>
                      <a:pt x="512442" y="255587"/>
                      <a:pt x="516723" y="255587"/>
                    </a:cubicBezTo>
                    <a:close/>
                    <a:moveTo>
                      <a:pt x="261136" y="255587"/>
                    </a:moveTo>
                    <a:cubicBezTo>
                      <a:pt x="261136" y="255587"/>
                      <a:pt x="261136" y="255587"/>
                      <a:pt x="465939" y="255587"/>
                    </a:cubicBezTo>
                    <a:cubicBezTo>
                      <a:pt x="470220" y="255587"/>
                      <a:pt x="473075" y="258442"/>
                      <a:pt x="473075" y="262723"/>
                    </a:cubicBezTo>
                    <a:cubicBezTo>
                      <a:pt x="473075" y="262723"/>
                      <a:pt x="473075" y="262723"/>
                      <a:pt x="473075" y="467526"/>
                    </a:cubicBezTo>
                    <a:cubicBezTo>
                      <a:pt x="473075" y="471094"/>
                      <a:pt x="470220" y="474662"/>
                      <a:pt x="465939" y="474662"/>
                    </a:cubicBezTo>
                    <a:cubicBezTo>
                      <a:pt x="465939" y="474662"/>
                      <a:pt x="465939" y="474662"/>
                      <a:pt x="261136" y="474662"/>
                    </a:cubicBezTo>
                    <a:cubicBezTo>
                      <a:pt x="257568" y="474662"/>
                      <a:pt x="254000" y="471094"/>
                      <a:pt x="254000" y="467526"/>
                    </a:cubicBezTo>
                    <a:cubicBezTo>
                      <a:pt x="254000" y="467526"/>
                      <a:pt x="254000" y="467526"/>
                      <a:pt x="254000" y="262723"/>
                    </a:cubicBezTo>
                    <a:cubicBezTo>
                      <a:pt x="254000" y="258442"/>
                      <a:pt x="257568" y="255587"/>
                      <a:pt x="261136" y="255587"/>
                    </a:cubicBezTo>
                    <a:close/>
                    <a:moveTo>
                      <a:pt x="7136" y="255587"/>
                    </a:moveTo>
                    <a:cubicBezTo>
                      <a:pt x="7136" y="255587"/>
                      <a:pt x="7136" y="255587"/>
                      <a:pt x="211939" y="255587"/>
                    </a:cubicBezTo>
                    <a:cubicBezTo>
                      <a:pt x="215507" y="255587"/>
                      <a:pt x="219075" y="258442"/>
                      <a:pt x="219075" y="262723"/>
                    </a:cubicBezTo>
                    <a:cubicBezTo>
                      <a:pt x="219075" y="262723"/>
                      <a:pt x="219075" y="262723"/>
                      <a:pt x="219075" y="467526"/>
                    </a:cubicBezTo>
                    <a:cubicBezTo>
                      <a:pt x="219075" y="471094"/>
                      <a:pt x="215507" y="474662"/>
                      <a:pt x="211939" y="474662"/>
                    </a:cubicBezTo>
                    <a:cubicBezTo>
                      <a:pt x="211939" y="474662"/>
                      <a:pt x="211939" y="474662"/>
                      <a:pt x="7136" y="474662"/>
                    </a:cubicBezTo>
                    <a:cubicBezTo>
                      <a:pt x="2854" y="474662"/>
                      <a:pt x="0" y="471094"/>
                      <a:pt x="0" y="467526"/>
                    </a:cubicBezTo>
                    <a:cubicBezTo>
                      <a:pt x="0" y="467526"/>
                      <a:pt x="0" y="467526"/>
                      <a:pt x="0" y="262723"/>
                    </a:cubicBezTo>
                    <a:cubicBezTo>
                      <a:pt x="0" y="258442"/>
                      <a:pt x="2854" y="255587"/>
                      <a:pt x="7136" y="255587"/>
                    </a:cubicBezTo>
                    <a:close/>
                    <a:moveTo>
                      <a:pt x="770723" y="0"/>
                    </a:moveTo>
                    <a:cubicBezTo>
                      <a:pt x="770723" y="0"/>
                      <a:pt x="770723" y="0"/>
                      <a:pt x="975526" y="0"/>
                    </a:cubicBezTo>
                    <a:cubicBezTo>
                      <a:pt x="979808" y="0"/>
                      <a:pt x="982662" y="2843"/>
                      <a:pt x="982662" y="7108"/>
                    </a:cubicBezTo>
                    <a:cubicBezTo>
                      <a:pt x="982662" y="7108"/>
                      <a:pt x="982662" y="7108"/>
                      <a:pt x="982662" y="210381"/>
                    </a:cubicBezTo>
                    <a:cubicBezTo>
                      <a:pt x="982662" y="214645"/>
                      <a:pt x="979808" y="217488"/>
                      <a:pt x="975526" y="217488"/>
                    </a:cubicBezTo>
                    <a:cubicBezTo>
                      <a:pt x="975526" y="217488"/>
                      <a:pt x="975526" y="217488"/>
                      <a:pt x="770723" y="217488"/>
                    </a:cubicBezTo>
                    <a:cubicBezTo>
                      <a:pt x="767155" y="217488"/>
                      <a:pt x="763587" y="214645"/>
                      <a:pt x="763587" y="210381"/>
                    </a:cubicBezTo>
                    <a:cubicBezTo>
                      <a:pt x="763587" y="210381"/>
                      <a:pt x="763587" y="210381"/>
                      <a:pt x="763587" y="7108"/>
                    </a:cubicBezTo>
                    <a:cubicBezTo>
                      <a:pt x="763587" y="2843"/>
                      <a:pt x="767155" y="0"/>
                      <a:pt x="770723" y="0"/>
                    </a:cubicBezTo>
                    <a:close/>
                    <a:moveTo>
                      <a:pt x="516723" y="0"/>
                    </a:moveTo>
                    <a:cubicBezTo>
                      <a:pt x="516723" y="0"/>
                      <a:pt x="516723" y="0"/>
                      <a:pt x="721526" y="0"/>
                    </a:cubicBezTo>
                    <a:cubicBezTo>
                      <a:pt x="725094" y="0"/>
                      <a:pt x="728662" y="2843"/>
                      <a:pt x="728662" y="7108"/>
                    </a:cubicBezTo>
                    <a:cubicBezTo>
                      <a:pt x="728662" y="7108"/>
                      <a:pt x="728662" y="7108"/>
                      <a:pt x="728662" y="210381"/>
                    </a:cubicBezTo>
                    <a:cubicBezTo>
                      <a:pt x="728662" y="214645"/>
                      <a:pt x="725094" y="217488"/>
                      <a:pt x="721526" y="217488"/>
                    </a:cubicBezTo>
                    <a:cubicBezTo>
                      <a:pt x="721526" y="217488"/>
                      <a:pt x="721526" y="217488"/>
                      <a:pt x="516723" y="217488"/>
                    </a:cubicBezTo>
                    <a:cubicBezTo>
                      <a:pt x="512442" y="217488"/>
                      <a:pt x="509587" y="214645"/>
                      <a:pt x="509587" y="210381"/>
                    </a:cubicBezTo>
                    <a:cubicBezTo>
                      <a:pt x="509587" y="210381"/>
                      <a:pt x="509587" y="210381"/>
                      <a:pt x="509587" y="7108"/>
                    </a:cubicBezTo>
                    <a:cubicBezTo>
                      <a:pt x="509587" y="2843"/>
                      <a:pt x="512442" y="0"/>
                      <a:pt x="516723" y="0"/>
                    </a:cubicBezTo>
                    <a:close/>
                    <a:moveTo>
                      <a:pt x="261136" y="0"/>
                    </a:moveTo>
                    <a:cubicBezTo>
                      <a:pt x="261136" y="0"/>
                      <a:pt x="261136" y="0"/>
                      <a:pt x="465939" y="0"/>
                    </a:cubicBezTo>
                    <a:cubicBezTo>
                      <a:pt x="470220" y="0"/>
                      <a:pt x="473075" y="2843"/>
                      <a:pt x="473075" y="7108"/>
                    </a:cubicBezTo>
                    <a:cubicBezTo>
                      <a:pt x="473075" y="7108"/>
                      <a:pt x="473075" y="7108"/>
                      <a:pt x="473075" y="210381"/>
                    </a:cubicBezTo>
                    <a:cubicBezTo>
                      <a:pt x="473075" y="214645"/>
                      <a:pt x="470220" y="217488"/>
                      <a:pt x="465939" y="217488"/>
                    </a:cubicBezTo>
                    <a:cubicBezTo>
                      <a:pt x="465939" y="217488"/>
                      <a:pt x="465939" y="217488"/>
                      <a:pt x="261136" y="217488"/>
                    </a:cubicBezTo>
                    <a:cubicBezTo>
                      <a:pt x="257568" y="217488"/>
                      <a:pt x="254000" y="214645"/>
                      <a:pt x="254000" y="210381"/>
                    </a:cubicBezTo>
                    <a:cubicBezTo>
                      <a:pt x="254000" y="210381"/>
                      <a:pt x="254000" y="210381"/>
                      <a:pt x="254000" y="7108"/>
                    </a:cubicBezTo>
                    <a:cubicBezTo>
                      <a:pt x="254000" y="2843"/>
                      <a:pt x="257568" y="0"/>
                      <a:pt x="261136" y="0"/>
                    </a:cubicBezTo>
                    <a:close/>
                    <a:moveTo>
                      <a:pt x="7136" y="0"/>
                    </a:moveTo>
                    <a:cubicBezTo>
                      <a:pt x="7136" y="0"/>
                      <a:pt x="7136" y="0"/>
                      <a:pt x="211939" y="0"/>
                    </a:cubicBezTo>
                    <a:cubicBezTo>
                      <a:pt x="215507" y="0"/>
                      <a:pt x="219075" y="2843"/>
                      <a:pt x="219075" y="7108"/>
                    </a:cubicBezTo>
                    <a:cubicBezTo>
                      <a:pt x="219075" y="7108"/>
                      <a:pt x="219075" y="7108"/>
                      <a:pt x="219075" y="210381"/>
                    </a:cubicBezTo>
                    <a:cubicBezTo>
                      <a:pt x="219075" y="214645"/>
                      <a:pt x="215507" y="217488"/>
                      <a:pt x="211939" y="217488"/>
                    </a:cubicBezTo>
                    <a:cubicBezTo>
                      <a:pt x="211939" y="217488"/>
                      <a:pt x="211939" y="217488"/>
                      <a:pt x="7136" y="217488"/>
                    </a:cubicBezTo>
                    <a:cubicBezTo>
                      <a:pt x="2854" y="217488"/>
                      <a:pt x="0" y="214645"/>
                      <a:pt x="0" y="210381"/>
                    </a:cubicBezTo>
                    <a:cubicBezTo>
                      <a:pt x="0" y="210381"/>
                      <a:pt x="0" y="210381"/>
                      <a:pt x="0" y="7108"/>
                    </a:cubicBezTo>
                    <a:cubicBezTo>
                      <a:pt x="0" y="2843"/>
                      <a:pt x="2854" y="0"/>
                      <a:pt x="7136" y="0"/>
                    </a:cubicBezTo>
                    <a:close/>
                  </a:path>
                </a:pathLst>
              </a:custGeom>
              <a:solidFill>
                <a:schemeClr val="tx2"/>
              </a:solid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icrosoft YaHei" panose="020B0503020204020204" pitchFamily="34" charset="-122"/>
                  <a:cs typeface="+mn-cs"/>
                </a:endParaRPr>
              </a:p>
            </p:txBody>
          </p:sp>
          <p:sp>
            <p:nvSpPr>
              <p:cNvPr id="202" name="Freeform 201"/>
              <p:cNvSpPr>
                <a:spLocks/>
              </p:cNvSpPr>
              <p:nvPr/>
            </p:nvSpPr>
            <p:spPr bwMode="auto">
              <a:xfrm>
                <a:off x="5519738" y="2911475"/>
                <a:ext cx="1154113" cy="963613"/>
              </a:xfrm>
              <a:custGeom>
                <a:avLst/>
                <a:gdLst>
                  <a:gd name="connsiteX0" fmla="*/ 92866 w 1154113"/>
                  <a:gd name="connsiteY0" fmla="*/ 150813 h 963613"/>
                  <a:gd name="connsiteX1" fmla="*/ 163567 w 1154113"/>
                  <a:gd name="connsiteY1" fmla="*/ 150813 h 963613"/>
                  <a:gd name="connsiteX2" fmla="*/ 163567 w 1154113"/>
                  <a:gd name="connsiteY2" fmla="*/ 211469 h 963613"/>
                  <a:gd name="connsiteX3" fmla="*/ 179278 w 1154113"/>
                  <a:gd name="connsiteY3" fmla="*/ 227168 h 963613"/>
                  <a:gd name="connsiteX4" fmla="*/ 320678 w 1154113"/>
                  <a:gd name="connsiteY4" fmla="*/ 227168 h 963613"/>
                  <a:gd name="connsiteX5" fmla="*/ 336390 w 1154113"/>
                  <a:gd name="connsiteY5" fmla="*/ 211469 h 963613"/>
                  <a:gd name="connsiteX6" fmla="*/ 336390 w 1154113"/>
                  <a:gd name="connsiteY6" fmla="*/ 150813 h 963613"/>
                  <a:gd name="connsiteX7" fmla="*/ 817723 w 1154113"/>
                  <a:gd name="connsiteY7" fmla="*/ 150813 h 963613"/>
                  <a:gd name="connsiteX8" fmla="*/ 817723 w 1154113"/>
                  <a:gd name="connsiteY8" fmla="*/ 211469 h 963613"/>
                  <a:gd name="connsiteX9" fmla="*/ 833434 w 1154113"/>
                  <a:gd name="connsiteY9" fmla="*/ 227168 h 963613"/>
                  <a:gd name="connsiteX10" fmla="*/ 974835 w 1154113"/>
                  <a:gd name="connsiteY10" fmla="*/ 227168 h 963613"/>
                  <a:gd name="connsiteX11" fmla="*/ 990546 w 1154113"/>
                  <a:gd name="connsiteY11" fmla="*/ 211469 h 963613"/>
                  <a:gd name="connsiteX12" fmla="*/ 990546 w 1154113"/>
                  <a:gd name="connsiteY12" fmla="*/ 150813 h 963613"/>
                  <a:gd name="connsiteX13" fmla="*/ 1061247 w 1154113"/>
                  <a:gd name="connsiteY13" fmla="*/ 150813 h 963613"/>
                  <a:gd name="connsiteX14" fmla="*/ 1068388 w 1154113"/>
                  <a:gd name="connsiteY14" fmla="*/ 157949 h 963613"/>
                  <a:gd name="connsiteX15" fmla="*/ 1068388 w 1154113"/>
                  <a:gd name="connsiteY15" fmla="*/ 362752 h 963613"/>
                  <a:gd name="connsiteX16" fmla="*/ 1061247 w 1154113"/>
                  <a:gd name="connsiteY16" fmla="*/ 369888 h 963613"/>
                  <a:gd name="connsiteX17" fmla="*/ 92866 w 1154113"/>
                  <a:gd name="connsiteY17" fmla="*/ 369888 h 963613"/>
                  <a:gd name="connsiteX18" fmla="*/ 85725 w 1154113"/>
                  <a:gd name="connsiteY18" fmla="*/ 362752 h 963613"/>
                  <a:gd name="connsiteX19" fmla="*/ 85725 w 1154113"/>
                  <a:gd name="connsiteY19" fmla="*/ 157949 h 963613"/>
                  <a:gd name="connsiteX20" fmla="*/ 92866 w 1154113"/>
                  <a:gd name="connsiteY20" fmla="*/ 150813 h 963613"/>
                  <a:gd name="connsiteX21" fmla="*/ 336550 w 1154113"/>
                  <a:gd name="connsiteY21" fmla="*/ 71438 h 963613"/>
                  <a:gd name="connsiteX22" fmla="*/ 817563 w 1154113"/>
                  <a:gd name="connsiteY22" fmla="*/ 71438 h 963613"/>
                  <a:gd name="connsiteX23" fmla="*/ 817563 w 1154113"/>
                  <a:gd name="connsiteY23" fmla="*/ 101601 h 963613"/>
                  <a:gd name="connsiteX24" fmla="*/ 336550 w 1154113"/>
                  <a:gd name="connsiteY24" fmla="*/ 101601 h 963613"/>
                  <a:gd name="connsiteX25" fmla="*/ 15712 w 1154113"/>
                  <a:gd name="connsiteY25" fmla="*/ 71438 h 963613"/>
                  <a:gd name="connsiteX26" fmla="*/ 163547 w 1154113"/>
                  <a:gd name="connsiteY26" fmla="*/ 71438 h 963613"/>
                  <a:gd name="connsiteX27" fmla="*/ 163547 w 1154113"/>
                  <a:gd name="connsiteY27" fmla="*/ 102843 h 963613"/>
                  <a:gd name="connsiteX28" fmla="*/ 31424 w 1154113"/>
                  <a:gd name="connsiteY28" fmla="*/ 102843 h 963613"/>
                  <a:gd name="connsiteX29" fmla="*/ 31424 w 1154113"/>
                  <a:gd name="connsiteY29" fmla="*/ 932209 h 963613"/>
                  <a:gd name="connsiteX30" fmla="*/ 1122689 w 1154113"/>
                  <a:gd name="connsiteY30" fmla="*/ 932209 h 963613"/>
                  <a:gd name="connsiteX31" fmla="*/ 1122689 w 1154113"/>
                  <a:gd name="connsiteY31" fmla="*/ 102843 h 963613"/>
                  <a:gd name="connsiteX32" fmla="*/ 990566 w 1154113"/>
                  <a:gd name="connsiteY32" fmla="*/ 102843 h 963613"/>
                  <a:gd name="connsiteX33" fmla="*/ 990566 w 1154113"/>
                  <a:gd name="connsiteY33" fmla="*/ 71438 h 963613"/>
                  <a:gd name="connsiteX34" fmla="*/ 1138401 w 1154113"/>
                  <a:gd name="connsiteY34" fmla="*/ 71438 h 963613"/>
                  <a:gd name="connsiteX35" fmla="*/ 1154113 w 1154113"/>
                  <a:gd name="connsiteY35" fmla="*/ 87140 h 963613"/>
                  <a:gd name="connsiteX36" fmla="*/ 1154113 w 1154113"/>
                  <a:gd name="connsiteY36" fmla="*/ 947911 h 963613"/>
                  <a:gd name="connsiteX37" fmla="*/ 1138401 w 1154113"/>
                  <a:gd name="connsiteY37" fmla="*/ 963613 h 963613"/>
                  <a:gd name="connsiteX38" fmla="*/ 15712 w 1154113"/>
                  <a:gd name="connsiteY38" fmla="*/ 963613 h 963613"/>
                  <a:gd name="connsiteX39" fmla="*/ 0 w 1154113"/>
                  <a:gd name="connsiteY39" fmla="*/ 947911 h 963613"/>
                  <a:gd name="connsiteX40" fmla="*/ 0 w 1154113"/>
                  <a:gd name="connsiteY40" fmla="*/ 87140 h 963613"/>
                  <a:gd name="connsiteX41" fmla="*/ 15712 w 1154113"/>
                  <a:gd name="connsiteY41" fmla="*/ 71438 h 963613"/>
                  <a:gd name="connsiteX42" fmla="*/ 856425 w 1154113"/>
                  <a:gd name="connsiteY42" fmla="*/ 0 h 963613"/>
                  <a:gd name="connsiteX43" fmla="*/ 951737 w 1154113"/>
                  <a:gd name="connsiteY43" fmla="*/ 0 h 963613"/>
                  <a:gd name="connsiteX44" fmla="*/ 958850 w 1154113"/>
                  <a:gd name="connsiteY44" fmla="*/ 7153 h 963613"/>
                  <a:gd name="connsiteX45" fmla="*/ 958850 w 1154113"/>
                  <a:gd name="connsiteY45" fmla="*/ 70095 h 963613"/>
                  <a:gd name="connsiteX46" fmla="*/ 958850 w 1154113"/>
                  <a:gd name="connsiteY46" fmla="*/ 101565 h 963613"/>
                  <a:gd name="connsiteX47" fmla="*/ 958850 w 1154113"/>
                  <a:gd name="connsiteY47" fmla="*/ 150202 h 963613"/>
                  <a:gd name="connsiteX48" fmla="*/ 958850 w 1154113"/>
                  <a:gd name="connsiteY48" fmla="*/ 188111 h 963613"/>
                  <a:gd name="connsiteX49" fmla="*/ 951737 w 1154113"/>
                  <a:gd name="connsiteY49" fmla="*/ 195263 h 963613"/>
                  <a:gd name="connsiteX50" fmla="*/ 856425 w 1154113"/>
                  <a:gd name="connsiteY50" fmla="*/ 195263 h 963613"/>
                  <a:gd name="connsiteX51" fmla="*/ 849312 w 1154113"/>
                  <a:gd name="connsiteY51" fmla="*/ 188111 h 963613"/>
                  <a:gd name="connsiteX52" fmla="*/ 849312 w 1154113"/>
                  <a:gd name="connsiteY52" fmla="*/ 150202 h 963613"/>
                  <a:gd name="connsiteX53" fmla="*/ 849312 w 1154113"/>
                  <a:gd name="connsiteY53" fmla="*/ 101565 h 963613"/>
                  <a:gd name="connsiteX54" fmla="*/ 849312 w 1154113"/>
                  <a:gd name="connsiteY54" fmla="*/ 70095 h 963613"/>
                  <a:gd name="connsiteX55" fmla="*/ 849312 w 1154113"/>
                  <a:gd name="connsiteY55" fmla="*/ 7153 h 963613"/>
                  <a:gd name="connsiteX56" fmla="*/ 856425 w 1154113"/>
                  <a:gd name="connsiteY56" fmla="*/ 0 h 963613"/>
                  <a:gd name="connsiteX57" fmla="*/ 202375 w 1154113"/>
                  <a:gd name="connsiteY57" fmla="*/ 0 h 963613"/>
                  <a:gd name="connsiteX58" fmla="*/ 297687 w 1154113"/>
                  <a:gd name="connsiteY58" fmla="*/ 0 h 963613"/>
                  <a:gd name="connsiteX59" fmla="*/ 304800 w 1154113"/>
                  <a:gd name="connsiteY59" fmla="*/ 7153 h 963613"/>
                  <a:gd name="connsiteX60" fmla="*/ 304800 w 1154113"/>
                  <a:gd name="connsiteY60" fmla="*/ 70095 h 963613"/>
                  <a:gd name="connsiteX61" fmla="*/ 304800 w 1154113"/>
                  <a:gd name="connsiteY61" fmla="*/ 101565 h 963613"/>
                  <a:gd name="connsiteX62" fmla="*/ 304800 w 1154113"/>
                  <a:gd name="connsiteY62" fmla="*/ 150202 h 963613"/>
                  <a:gd name="connsiteX63" fmla="*/ 304800 w 1154113"/>
                  <a:gd name="connsiteY63" fmla="*/ 188111 h 963613"/>
                  <a:gd name="connsiteX64" fmla="*/ 297687 w 1154113"/>
                  <a:gd name="connsiteY64" fmla="*/ 195263 h 963613"/>
                  <a:gd name="connsiteX65" fmla="*/ 202375 w 1154113"/>
                  <a:gd name="connsiteY65" fmla="*/ 195263 h 963613"/>
                  <a:gd name="connsiteX66" fmla="*/ 195262 w 1154113"/>
                  <a:gd name="connsiteY66" fmla="*/ 188111 h 963613"/>
                  <a:gd name="connsiteX67" fmla="*/ 195262 w 1154113"/>
                  <a:gd name="connsiteY67" fmla="*/ 150202 h 963613"/>
                  <a:gd name="connsiteX68" fmla="*/ 195262 w 1154113"/>
                  <a:gd name="connsiteY68" fmla="*/ 101565 h 963613"/>
                  <a:gd name="connsiteX69" fmla="*/ 195262 w 1154113"/>
                  <a:gd name="connsiteY69" fmla="*/ 70095 h 963613"/>
                  <a:gd name="connsiteX70" fmla="*/ 195262 w 1154113"/>
                  <a:gd name="connsiteY70" fmla="*/ 7153 h 963613"/>
                  <a:gd name="connsiteX71" fmla="*/ 202375 w 1154113"/>
                  <a:gd name="connsiteY71" fmla="*/ 0 h 963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154113" h="963613">
                    <a:moveTo>
                      <a:pt x="92866" y="150813"/>
                    </a:moveTo>
                    <a:cubicBezTo>
                      <a:pt x="92866" y="150813"/>
                      <a:pt x="92866" y="150813"/>
                      <a:pt x="163567" y="150813"/>
                    </a:cubicBezTo>
                    <a:lnTo>
                      <a:pt x="163567" y="211469"/>
                    </a:lnTo>
                    <a:cubicBezTo>
                      <a:pt x="163567" y="220032"/>
                      <a:pt x="170708" y="227168"/>
                      <a:pt x="179278" y="227168"/>
                    </a:cubicBezTo>
                    <a:cubicBezTo>
                      <a:pt x="179278" y="227168"/>
                      <a:pt x="179278" y="227168"/>
                      <a:pt x="320678" y="227168"/>
                    </a:cubicBezTo>
                    <a:cubicBezTo>
                      <a:pt x="329248" y="227168"/>
                      <a:pt x="336390" y="220032"/>
                      <a:pt x="336390" y="211469"/>
                    </a:cubicBezTo>
                    <a:cubicBezTo>
                      <a:pt x="336390" y="211469"/>
                      <a:pt x="336390" y="211469"/>
                      <a:pt x="336390" y="150813"/>
                    </a:cubicBezTo>
                    <a:cubicBezTo>
                      <a:pt x="336390" y="150813"/>
                      <a:pt x="336390" y="150813"/>
                      <a:pt x="817723" y="150813"/>
                    </a:cubicBezTo>
                    <a:cubicBezTo>
                      <a:pt x="817723" y="150813"/>
                      <a:pt x="817723" y="150813"/>
                      <a:pt x="817723" y="211469"/>
                    </a:cubicBezTo>
                    <a:cubicBezTo>
                      <a:pt x="817723" y="220032"/>
                      <a:pt x="824864" y="227168"/>
                      <a:pt x="833434" y="227168"/>
                    </a:cubicBezTo>
                    <a:cubicBezTo>
                      <a:pt x="833434" y="227168"/>
                      <a:pt x="833434" y="227168"/>
                      <a:pt x="974835" y="227168"/>
                    </a:cubicBezTo>
                    <a:cubicBezTo>
                      <a:pt x="983405" y="227168"/>
                      <a:pt x="990546" y="220032"/>
                      <a:pt x="990546" y="211469"/>
                    </a:cubicBezTo>
                    <a:cubicBezTo>
                      <a:pt x="990546" y="211469"/>
                      <a:pt x="990546" y="211469"/>
                      <a:pt x="990546" y="150813"/>
                    </a:cubicBezTo>
                    <a:cubicBezTo>
                      <a:pt x="990546" y="150813"/>
                      <a:pt x="990546" y="150813"/>
                      <a:pt x="1061247" y="150813"/>
                    </a:cubicBezTo>
                    <a:cubicBezTo>
                      <a:pt x="1065532" y="150813"/>
                      <a:pt x="1068388" y="154381"/>
                      <a:pt x="1068388" y="157949"/>
                    </a:cubicBezTo>
                    <a:cubicBezTo>
                      <a:pt x="1068388" y="157949"/>
                      <a:pt x="1068388" y="157949"/>
                      <a:pt x="1068388" y="362752"/>
                    </a:cubicBezTo>
                    <a:cubicBezTo>
                      <a:pt x="1068388" y="367034"/>
                      <a:pt x="1065532" y="369888"/>
                      <a:pt x="1061247" y="369888"/>
                    </a:cubicBezTo>
                    <a:cubicBezTo>
                      <a:pt x="1061247" y="369888"/>
                      <a:pt x="1061247" y="369888"/>
                      <a:pt x="92866" y="369888"/>
                    </a:cubicBezTo>
                    <a:cubicBezTo>
                      <a:pt x="88581" y="369888"/>
                      <a:pt x="85725" y="367034"/>
                      <a:pt x="85725" y="362752"/>
                    </a:cubicBezTo>
                    <a:cubicBezTo>
                      <a:pt x="85725" y="362752"/>
                      <a:pt x="85725" y="362752"/>
                      <a:pt x="85725" y="157949"/>
                    </a:cubicBezTo>
                    <a:cubicBezTo>
                      <a:pt x="85725" y="154381"/>
                      <a:pt x="88581" y="150813"/>
                      <a:pt x="92866" y="150813"/>
                    </a:cubicBezTo>
                    <a:close/>
                    <a:moveTo>
                      <a:pt x="336550" y="71438"/>
                    </a:moveTo>
                    <a:lnTo>
                      <a:pt x="817563" y="71438"/>
                    </a:lnTo>
                    <a:lnTo>
                      <a:pt x="817563" y="101601"/>
                    </a:lnTo>
                    <a:lnTo>
                      <a:pt x="336550" y="101601"/>
                    </a:lnTo>
                    <a:close/>
                    <a:moveTo>
                      <a:pt x="15712" y="71438"/>
                    </a:moveTo>
                    <a:cubicBezTo>
                      <a:pt x="15712" y="71438"/>
                      <a:pt x="15712" y="71438"/>
                      <a:pt x="163547" y="71438"/>
                    </a:cubicBezTo>
                    <a:cubicBezTo>
                      <a:pt x="163547" y="71438"/>
                      <a:pt x="163547" y="71438"/>
                      <a:pt x="163547" y="102843"/>
                    </a:cubicBezTo>
                    <a:cubicBezTo>
                      <a:pt x="163547" y="102843"/>
                      <a:pt x="163547" y="102843"/>
                      <a:pt x="31424" y="102843"/>
                    </a:cubicBezTo>
                    <a:cubicBezTo>
                      <a:pt x="31424" y="102843"/>
                      <a:pt x="31424" y="102843"/>
                      <a:pt x="31424" y="932209"/>
                    </a:cubicBezTo>
                    <a:cubicBezTo>
                      <a:pt x="31424" y="932209"/>
                      <a:pt x="31424" y="932209"/>
                      <a:pt x="1122689" y="932209"/>
                    </a:cubicBezTo>
                    <a:cubicBezTo>
                      <a:pt x="1122689" y="932209"/>
                      <a:pt x="1122689" y="932209"/>
                      <a:pt x="1122689" y="102843"/>
                    </a:cubicBezTo>
                    <a:cubicBezTo>
                      <a:pt x="1122689" y="102843"/>
                      <a:pt x="1122689" y="102843"/>
                      <a:pt x="990566" y="102843"/>
                    </a:cubicBezTo>
                    <a:cubicBezTo>
                      <a:pt x="990566" y="102843"/>
                      <a:pt x="990566" y="102843"/>
                      <a:pt x="990566" y="71438"/>
                    </a:cubicBezTo>
                    <a:cubicBezTo>
                      <a:pt x="990566" y="71438"/>
                      <a:pt x="990566" y="71438"/>
                      <a:pt x="1138401" y="71438"/>
                    </a:cubicBezTo>
                    <a:cubicBezTo>
                      <a:pt x="1146971" y="71438"/>
                      <a:pt x="1154113" y="78576"/>
                      <a:pt x="1154113" y="87140"/>
                    </a:cubicBezTo>
                    <a:cubicBezTo>
                      <a:pt x="1154113" y="87140"/>
                      <a:pt x="1154113" y="87140"/>
                      <a:pt x="1154113" y="947911"/>
                    </a:cubicBezTo>
                    <a:cubicBezTo>
                      <a:pt x="1154113" y="956476"/>
                      <a:pt x="1146971" y="963613"/>
                      <a:pt x="1138401" y="963613"/>
                    </a:cubicBezTo>
                    <a:cubicBezTo>
                      <a:pt x="1138401" y="963613"/>
                      <a:pt x="1138401" y="963613"/>
                      <a:pt x="15712" y="963613"/>
                    </a:cubicBezTo>
                    <a:cubicBezTo>
                      <a:pt x="7142" y="963613"/>
                      <a:pt x="0" y="956476"/>
                      <a:pt x="0" y="947911"/>
                    </a:cubicBezTo>
                    <a:cubicBezTo>
                      <a:pt x="0" y="947911"/>
                      <a:pt x="0" y="947911"/>
                      <a:pt x="0" y="87140"/>
                    </a:cubicBezTo>
                    <a:cubicBezTo>
                      <a:pt x="0" y="78576"/>
                      <a:pt x="7142" y="71438"/>
                      <a:pt x="15712" y="71438"/>
                    </a:cubicBezTo>
                    <a:close/>
                    <a:moveTo>
                      <a:pt x="856425" y="0"/>
                    </a:moveTo>
                    <a:cubicBezTo>
                      <a:pt x="856425" y="0"/>
                      <a:pt x="856425" y="0"/>
                      <a:pt x="951737" y="0"/>
                    </a:cubicBezTo>
                    <a:cubicBezTo>
                      <a:pt x="955294" y="0"/>
                      <a:pt x="958850" y="3576"/>
                      <a:pt x="958850" y="7153"/>
                    </a:cubicBezTo>
                    <a:cubicBezTo>
                      <a:pt x="958850" y="7153"/>
                      <a:pt x="958850" y="7153"/>
                      <a:pt x="958850" y="70095"/>
                    </a:cubicBezTo>
                    <a:cubicBezTo>
                      <a:pt x="958850" y="70095"/>
                      <a:pt x="958850" y="70095"/>
                      <a:pt x="958850" y="101565"/>
                    </a:cubicBezTo>
                    <a:cubicBezTo>
                      <a:pt x="958850" y="101565"/>
                      <a:pt x="958850" y="101565"/>
                      <a:pt x="958850" y="150202"/>
                    </a:cubicBezTo>
                    <a:cubicBezTo>
                      <a:pt x="958850" y="150202"/>
                      <a:pt x="958850" y="150202"/>
                      <a:pt x="958850" y="188111"/>
                    </a:cubicBezTo>
                    <a:cubicBezTo>
                      <a:pt x="958850" y="192402"/>
                      <a:pt x="955294" y="195263"/>
                      <a:pt x="951737" y="195263"/>
                    </a:cubicBezTo>
                    <a:cubicBezTo>
                      <a:pt x="951737" y="195263"/>
                      <a:pt x="951737" y="195263"/>
                      <a:pt x="856425" y="195263"/>
                    </a:cubicBezTo>
                    <a:cubicBezTo>
                      <a:pt x="852869" y="195263"/>
                      <a:pt x="849312" y="192402"/>
                      <a:pt x="849312" y="188111"/>
                    </a:cubicBezTo>
                    <a:cubicBezTo>
                      <a:pt x="849312" y="188111"/>
                      <a:pt x="849312" y="188111"/>
                      <a:pt x="849312" y="150202"/>
                    </a:cubicBezTo>
                    <a:cubicBezTo>
                      <a:pt x="849312" y="150202"/>
                      <a:pt x="849312" y="150202"/>
                      <a:pt x="849312" y="101565"/>
                    </a:cubicBezTo>
                    <a:cubicBezTo>
                      <a:pt x="849312" y="101565"/>
                      <a:pt x="849312" y="101565"/>
                      <a:pt x="849312" y="70095"/>
                    </a:cubicBezTo>
                    <a:cubicBezTo>
                      <a:pt x="849312" y="70095"/>
                      <a:pt x="849312" y="70095"/>
                      <a:pt x="849312" y="7153"/>
                    </a:cubicBezTo>
                    <a:cubicBezTo>
                      <a:pt x="849312" y="3576"/>
                      <a:pt x="852869" y="0"/>
                      <a:pt x="856425" y="0"/>
                    </a:cubicBezTo>
                    <a:close/>
                    <a:moveTo>
                      <a:pt x="202375" y="0"/>
                    </a:moveTo>
                    <a:cubicBezTo>
                      <a:pt x="202375" y="0"/>
                      <a:pt x="202375" y="0"/>
                      <a:pt x="297687" y="0"/>
                    </a:cubicBezTo>
                    <a:cubicBezTo>
                      <a:pt x="301243" y="0"/>
                      <a:pt x="304800" y="3576"/>
                      <a:pt x="304800" y="7153"/>
                    </a:cubicBezTo>
                    <a:cubicBezTo>
                      <a:pt x="304800" y="7153"/>
                      <a:pt x="304800" y="7153"/>
                      <a:pt x="304800" y="70095"/>
                    </a:cubicBezTo>
                    <a:cubicBezTo>
                      <a:pt x="304800" y="70095"/>
                      <a:pt x="304800" y="70095"/>
                      <a:pt x="304800" y="101565"/>
                    </a:cubicBezTo>
                    <a:cubicBezTo>
                      <a:pt x="304800" y="101565"/>
                      <a:pt x="304800" y="101565"/>
                      <a:pt x="304800" y="150202"/>
                    </a:cubicBezTo>
                    <a:cubicBezTo>
                      <a:pt x="304800" y="150202"/>
                      <a:pt x="304800" y="150202"/>
                      <a:pt x="304800" y="188111"/>
                    </a:cubicBezTo>
                    <a:cubicBezTo>
                      <a:pt x="304800" y="192402"/>
                      <a:pt x="301243" y="195263"/>
                      <a:pt x="297687" y="195263"/>
                    </a:cubicBezTo>
                    <a:cubicBezTo>
                      <a:pt x="297687" y="195263"/>
                      <a:pt x="297687" y="195263"/>
                      <a:pt x="202375" y="195263"/>
                    </a:cubicBezTo>
                    <a:cubicBezTo>
                      <a:pt x="198818" y="195263"/>
                      <a:pt x="195262" y="192402"/>
                      <a:pt x="195262" y="188111"/>
                    </a:cubicBezTo>
                    <a:cubicBezTo>
                      <a:pt x="195262" y="188111"/>
                      <a:pt x="195262" y="188111"/>
                      <a:pt x="195262" y="150202"/>
                    </a:cubicBezTo>
                    <a:cubicBezTo>
                      <a:pt x="195262" y="150202"/>
                      <a:pt x="195262" y="150202"/>
                      <a:pt x="195262" y="101565"/>
                    </a:cubicBezTo>
                    <a:cubicBezTo>
                      <a:pt x="195262" y="101565"/>
                      <a:pt x="195262" y="101565"/>
                      <a:pt x="195262" y="70095"/>
                    </a:cubicBezTo>
                    <a:cubicBezTo>
                      <a:pt x="195262" y="70095"/>
                      <a:pt x="195262" y="70095"/>
                      <a:pt x="195262" y="7153"/>
                    </a:cubicBezTo>
                    <a:cubicBezTo>
                      <a:pt x="195262" y="3576"/>
                      <a:pt x="198818" y="0"/>
                      <a:pt x="202375"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icrosoft YaHei" panose="020B0503020204020204" pitchFamily="34" charset="-122"/>
                  <a:cs typeface="+mn-cs"/>
                </a:endParaRPr>
              </a:p>
            </p:txBody>
          </p:sp>
        </p:grpSp>
      </p:grpSp>
      <p:grpSp>
        <p:nvGrpSpPr>
          <p:cNvPr id="220" name="Group 219"/>
          <p:cNvGrpSpPr>
            <a:grpSpLocks noChangeAspect="1"/>
          </p:cNvGrpSpPr>
          <p:nvPr/>
        </p:nvGrpSpPr>
        <p:grpSpPr>
          <a:xfrm>
            <a:off x="4155972" y="1829676"/>
            <a:ext cx="562854" cy="562854"/>
            <a:chOff x="5273040" y="2606040"/>
            <a:chExt cx="1645920" cy="1645920"/>
          </a:xfrm>
        </p:grpSpPr>
        <p:sp>
          <p:nvSpPr>
            <p:cNvPr id="221" name="AutoShape 3"/>
            <p:cNvSpPr>
              <a:spLocks noChangeAspect="1" noChangeArrowheads="1" noTextEdit="1"/>
            </p:cNvSpPr>
            <p:nvPr/>
          </p:nvSpPr>
          <p:spPr bwMode="auto">
            <a:xfrm>
              <a:off x="5273040" y="2606040"/>
              <a:ext cx="1645920" cy="1645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n-ea"/>
                <a:cs typeface="+mn-cs"/>
              </a:endParaRPr>
            </a:p>
          </p:txBody>
        </p:sp>
        <p:grpSp>
          <p:nvGrpSpPr>
            <p:cNvPr id="222" name="Group 221"/>
            <p:cNvGrpSpPr/>
            <p:nvPr/>
          </p:nvGrpSpPr>
          <p:grpSpPr>
            <a:xfrm>
              <a:off x="5442966" y="2832354"/>
              <a:ext cx="1306068" cy="1193292"/>
              <a:chOff x="5442966" y="2832354"/>
              <a:chExt cx="1306068" cy="1193292"/>
            </a:xfrm>
          </p:grpSpPr>
          <p:sp>
            <p:nvSpPr>
              <p:cNvPr id="223" name="Freeform 222"/>
              <p:cNvSpPr>
                <a:spLocks/>
              </p:cNvSpPr>
              <p:nvPr/>
            </p:nvSpPr>
            <p:spPr bwMode="auto">
              <a:xfrm>
                <a:off x="5656707" y="2865501"/>
                <a:ext cx="1018794" cy="928497"/>
              </a:xfrm>
              <a:custGeom>
                <a:avLst/>
                <a:gdLst>
                  <a:gd name="connsiteX0" fmla="*/ 3914775 w 4244975"/>
                  <a:gd name="connsiteY0" fmla="*/ 2955924 h 3868737"/>
                  <a:gd name="connsiteX1" fmla="*/ 3807618 w 4244975"/>
                  <a:gd name="connsiteY1" fmla="*/ 3143148 h 3868737"/>
                  <a:gd name="connsiteX2" fmla="*/ 3700462 w 4244975"/>
                  <a:gd name="connsiteY2" fmla="*/ 3327399 h 3868737"/>
                  <a:gd name="connsiteX3" fmla="*/ 3914775 w 4244975"/>
                  <a:gd name="connsiteY3" fmla="*/ 3327399 h 3868737"/>
                  <a:gd name="connsiteX4" fmla="*/ 4129087 w 4244975"/>
                  <a:gd name="connsiteY4" fmla="*/ 3327399 h 3868737"/>
                  <a:gd name="connsiteX5" fmla="*/ 4021931 w 4244975"/>
                  <a:gd name="connsiteY5" fmla="*/ 3143148 h 3868737"/>
                  <a:gd name="connsiteX6" fmla="*/ 3914775 w 4244975"/>
                  <a:gd name="connsiteY6" fmla="*/ 2955924 h 3868737"/>
                  <a:gd name="connsiteX7" fmla="*/ 3911600 w 4244975"/>
                  <a:gd name="connsiteY7" fmla="*/ 2838449 h 3868737"/>
                  <a:gd name="connsiteX8" fmla="*/ 4244975 w 4244975"/>
                  <a:gd name="connsiteY8" fmla="*/ 3176587 h 3868737"/>
                  <a:gd name="connsiteX9" fmla="*/ 3911600 w 4244975"/>
                  <a:gd name="connsiteY9" fmla="*/ 3514725 h 3868737"/>
                  <a:gd name="connsiteX10" fmla="*/ 3578225 w 4244975"/>
                  <a:gd name="connsiteY10" fmla="*/ 3176587 h 3868737"/>
                  <a:gd name="connsiteX11" fmla="*/ 3911600 w 4244975"/>
                  <a:gd name="connsiteY11" fmla="*/ 2838449 h 3868737"/>
                  <a:gd name="connsiteX12" fmla="*/ 381194 w 4244975"/>
                  <a:gd name="connsiteY12" fmla="*/ 2535237 h 3868737"/>
                  <a:gd name="connsiteX13" fmla="*/ 258956 w 4244975"/>
                  <a:gd name="connsiteY13" fmla="*/ 2657377 h 3868737"/>
                  <a:gd name="connsiteX14" fmla="*/ 139700 w 4244975"/>
                  <a:gd name="connsiteY14" fmla="*/ 2776537 h 3868737"/>
                  <a:gd name="connsiteX15" fmla="*/ 384175 w 4244975"/>
                  <a:gd name="connsiteY15" fmla="*/ 2776537 h 3868737"/>
                  <a:gd name="connsiteX16" fmla="*/ 628650 w 4244975"/>
                  <a:gd name="connsiteY16" fmla="*/ 2776537 h 3868737"/>
                  <a:gd name="connsiteX17" fmla="*/ 503431 w 4244975"/>
                  <a:gd name="connsiteY17" fmla="*/ 2657377 h 3868737"/>
                  <a:gd name="connsiteX18" fmla="*/ 381194 w 4244975"/>
                  <a:gd name="connsiteY18" fmla="*/ 2535237 h 3868737"/>
                  <a:gd name="connsiteX19" fmla="*/ 381000 w 4244975"/>
                  <a:gd name="connsiteY19" fmla="*/ 2460625 h 3868737"/>
                  <a:gd name="connsiteX20" fmla="*/ 648891 w 4244975"/>
                  <a:gd name="connsiteY20" fmla="*/ 2523190 h 3868737"/>
                  <a:gd name="connsiteX21" fmla="*/ 762000 w 4244975"/>
                  <a:gd name="connsiteY21" fmla="*/ 2678113 h 3868737"/>
                  <a:gd name="connsiteX22" fmla="*/ 383977 w 4244975"/>
                  <a:gd name="connsiteY22" fmla="*/ 2895600 h 3868737"/>
                  <a:gd name="connsiteX23" fmla="*/ 113110 w 4244975"/>
                  <a:gd name="connsiteY23" fmla="*/ 2833035 h 3868737"/>
                  <a:gd name="connsiteX24" fmla="*/ 0 w 4244975"/>
                  <a:gd name="connsiteY24" fmla="*/ 2678113 h 3868737"/>
                  <a:gd name="connsiteX25" fmla="*/ 381000 w 4244975"/>
                  <a:gd name="connsiteY25" fmla="*/ 2460625 h 3868737"/>
                  <a:gd name="connsiteX26" fmla="*/ 2136775 w 4244975"/>
                  <a:gd name="connsiteY26" fmla="*/ 1857375 h 3868737"/>
                  <a:gd name="connsiteX27" fmla="*/ 2241551 w 4244975"/>
                  <a:gd name="connsiteY27" fmla="*/ 2041525 h 3868737"/>
                  <a:gd name="connsiteX28" fmla="*/ 2351088 w 4244975"/>
                  <a:gd name="connsiteY28" fmla="*/ 2228850 h 3868737"/>
                  <a:gd name="connsiteX29" fmla="*/ 2136775 w 4244975"/>
                  <a:gd name="connsiteY29" fmla="*/ 2228850 h 3868737"/>
                  <a:gd name="connsiteX30" fmla="*/ 1914525 w 4244975"/>
                  <a:gd name="connsiteY30" fmla="*/ 2228850 h 3868737"/>
                  <a:gd name="connsiteX31" fmla="*/ 2024063 w 4244975"/>
                  <a:gd name="connsiteY31" fmla="*/ 2041525 h 3868737"/>
                  <a:gd name="connsiteX32" fmla="*/ 2135188 w 4244975"/>
                  <a:gd name="connsiteY32" fmla="*/ 1741487 h 3868737"/>
                  <a:gd name="connsiteX33" fmla="*/ 1797050 w 4244975"/>
                  <a:gd name="connsiteY33" fmla="*/ 2080419 h 3868737"/>
                  <a:gd name="connsiteX34" fmla="*/ 2135188 w 4244975"/>
                  <a:gd name="connsiteY34" fmla="*/ 2419351 h 3868737"/>
                  <a:gd name="connsiteX35" fmla="*/ 2473326 w 4244975"/>
                  <a:gd name="connsiteY35" fmla="*/ 2080419 h 3868737"/>
                  <a:gd name="connsiteX36" fmla="*/ 2135188 w 4244975"/>
                  <a:gd name="connsiteY36" fmla="*/ 1741487 h 3868737"/>
                  <a:gd name="connsiteX37" fmla="*/ 993783 w 4244975"/>
                  <a:gd name="connsiteY37" fmla="*/ 735012 h 3868737"/>
                  <a:gd name="connsiteX38" fmla="*/ 3247225 w 4244975"/>
                  <a:gd name="connsiteY38" fmla="*/ 735012 h 3868737"/>
                  <a:gd name="connsiteX39" fmla="*/ 3300807 w 4244975"/>
                  <a:gd name="connsiteY39" fmla="*/ 785604 h 3868737"/>
                  <a:gd name="connsiteX40" fmla="*/ 3330575 w 4244975"/>
                  <a:gd name="connsiteY40" fmla="*/ 1663523 h 3868737"/>
                  <a:gd name="connsiteX41" fmla="*/ 3148990 w 4244975"/>
                  <a:gd name="connsiteY41" fmla="*/ 3100930 h 3868737"/>
                  <a:gd name="connsiteX42" fmla="*/ 3148990 w 4244975"/>
                  <a:gd name="connsiteY42" fmla="*/ 3868737 h 3868737"/>
                  <a:gd name="connsiteX43" fmla="*/ 1779660 w 4244975"/>
                  <a:gd name="connsiteY43" fmla="*/ 3868737 h 3868737"/>
                  <a:gd name="connsiteX44" fmla="*/ 1779660 w 4244975"/>
                  <a:gd name="connsiteY44" fmla="*/ 2711074 h 3868737"/>
                  <a:gd name="connsiteX45" fmla="*/ 1779660 w 4244975"/>
                  <a:gd name="connsiteY45" fmla="*/ 2705122 h 3868737"/>
                  <a:gd name="connsiteX46" fmla="*/ 1779660 w 4244975"/>
                  <a:gd name="connsiteY46" fmla="*/ 2702146 h 3868737"/>
                  <a:gd name="connsiteX47" fmla="*/ 1779660 w 4244975"/>
                  <a:gd name="connsiteY47" fmla="*/ 2687266 h 3868737"/>
                  <a:gd name="connsiteX48" fmla="*/ 1779660 w 4244975"/>
                  <a:gd name="connsiteY48" fmla="*/ 2681314 h 3868737"/>
                  <a:gd name="connsiteX49" fmla="*/ 1776683 w 4244975"/>
                  <a:gd name="connsiteY49" fmla="*/ 2663458 h 3868737"/>
                  <a:gd name="connsiteX50" fmla="*/ 1773706 w 4244975"/>
                  <a:gd name="connsiteY50" fmla="*/ 2657506 h 3868737"/>
                  <a:gd name="connsiteX51" fmla="*/ 1767752 w 4244975"/>
                  <a:gd name="connsiteY51" fmla="*/ 2636674 h 3868737"/>
                  <a:gd name="connsiteX52" fmla="*/ 1764776 w 4244975"/>
                  <a:gd name="connsiteY52" fmla="*/ 2630722 h 3868737"/>
                  <a:gd name="connsiteX53" fmla="*/ 1755845 w 4244975"/>
                  <a:gd name="connsiteY53" fmla="*/ 2615842 h 3868737"/>
                  <a:gd name="connsiteX54" fmla="*/ 1752868 w 4244975"/>
                  <a:gd name="connsiteY54" fmla="*/ 2609890 h 3868737"/>
                  <a:gd name="connsiteX55" fmla="*/ 1743938 w 4244975"/>
                  <a:gd name="connsiteY55" fmla="*/ 2595010 h 3868737"/>
                  <a:gd name="connsiteX56" fmla="*/ 1740961 w 4244975"/>
                  <a:gd name="connsiteY56" fmla="*/ 2592034 h 3868737"/>
                  <a:gd name="connsiteX57" fmla="*/ 1723100 w 4244975"/>
                  <a:gd name="connsiteY57" fmla="*/ 2571202 h 3868737"/>
                  <a:gd name="connsiteX58" fmla="*/ 1720124 w 4244975"/>
                  <a:gd name="connsiteY58" fmla="*/ 2571202 h 3868737"/>
                  <a:gd name="connsiteX59" fmla="*/ 1708216 w 4244975"/>
                  <a:gd name="connsiteY59" fmla="*/ 2559298 h 3868737"/>
                  <a:gd name="connsiteX60" fmla="*/ 1705239 w 4244975"/>
                  <a:gd name="connsiteY60" fmla="*/ 2556322 h 3868737"/>
                  <a:gd name="connsiteX61" fmla="*/ 1693332 w 4244975"/>
                  <a:gd name="connsiteY61" fmla="*/ 2547394 h 3868737"/>
                  <a:gd name="connsiteX62" fmla="*/ 1687379 w 4244975"/>
                  <a:gd name="connsiteY62" fmla="*/ 2544418 h 3868737"/>
                  <a:gd name="connsiteX63" fmla="*/ 1684402 w 4244975"/>
                  <a:gd name="connsiteY63" fmla="*/ 2541442 h 3868737"/>
                  <a:gd name="connsiteX64" fmla="*/ 1678448 w 4244975"/>
                  <a:gd name="connsiteY64" fmla="*/ 2538466 h 3868737"/>
                  <a:gd name="connsiteX65" fmla="*/ 898525 w 4244975"/>
                  <a:gd name="connsiteY65" fmla="*/ 2106947 h 3868737"/>
                  <a:gd name="connsiteX66" fmla="*/ 943177 w 4244975"/>
                  <a:gd name="connsiteY66" fmla="*/ 785604 h 3868737"/>
                  <a:gd name="connsiteX67" fmla="*/ 993783 w 4244975"/>
                  <a:gd name="connsiteY67" fmla="*/ 735012 h 3868737"/>
                  <a:gd name="connsiteX68" fmla="*/ 3667125 w 4244975"/>
                  <a:gd name="connsiteY68" fmla="*/ 0 h 3868737"/>
                  <a:gd name="connsiteX69" fmla="*/ 4157663 w 4244975"/>
                  <a:gd name="connsiteY69" fmla="*/ 0 h 3868737"/>
                  <a:gd name="connsiteX70" fmla="*/ 4157663 w 4244975"/>
                  <a:gd name="connsiteY70" fmla="*/ 285750 h 3868737"/>
                  <a:gd name="connsiteX71" fmla="*/ 3667125 w 4244975"/>
                  <a:gd name="connsiteY71" fmla="*/ 285750 h 3868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4244975" h="3868737">
                    <a:moveTo>
                      <a:pt x="3914775" y="2955924"/>
                    </a:moveTo>
                    <a:cubicBezTo>
                      <a:pt x="3914775" y="2955924"/>
                      <a:pt x="3914775" y="2955924"/>
                      <a:pt x="3807618" y="3143148"/>
                    </a:cubicBezTo>
                    <a:cubicBezTo>
                      <a:pt x="3807618" y="3143148"/>
                      <a:pt x="3807618" y="3143148"/>
                      <a:pt x="3700462" y="3327399"/>
                    </a:cubicBezTo>
                    <a:cubicBezTo>
                      <a:pt x="3700462" y="3327399"/>
                      <a:pt x="3700462" y="3327399"/>
                      <a:pt x="3914775" y="3327399"/>
                    </a:cubicBezTo>
                    <a:cubicBezTo>
                      <a:pt x="3914775" y="3327399"/>
                      <a:pt x="3914775" y="3327399"/>
                      <a:pt x="4129087" y="3327399"/>
                    </a:cubicBezTo>
                    <a:cubicBezTo>
                      <a:pt x="4129087" y="3327399"/>
                      <a:pt x="4129087" y="3327399"/>
                      <a:pt x="4021931" y="3143148"/>
                    </a:cubicBezTo>
                    <a:cubicBezTo>
                      <a:pt x="4021931" y="3143148"/>
                      <a:pt x="4021931" y="3143148"/>
                      <a:pt x="3914775" y="2955924"/>
                    </a:cubicBezTo>
                    <a:close/>
                    <a:moveTo>
                      <a:pt x="3911600" y="2838449"/>
                    </a:moveTo>
                    <a:cubicBezTo>
                      <a:pt x="4095718" y="2838449"/>
                      <a:pt x="4244975" y="2989839"/>
                      <a:pt x="4244975" y="3176587"/>
                    </a:cubicBezTo>
                    <a:cubicBezTo>
                      <a:pt x="4244975" y="3363335"/>
                      <a:pt x="4095718" y="3514725"/>
                      <a:pt x="3911600" y="3514725"/>
                    </a:cubicBezTo>
                    <a:cubicBezTo>
                      <a:pt x="3727482" y="3514725"/>
                      <a:pt x="3578225" y="3363335"/>
                      <a:pt x="3578225" y="3176587"/>
                    </a:cubicBezTo>
                    <a:cubicBezTo>
                      <a:pt x="3578225" y="2989839"/>
                      <a:pt x="3727482" y="2838449"/>
                      <a:pt x="3911600" y="2838449"/>
                    </a:cubicBezTo>
                    <a:close/>
                    <a:moveTo>
                      <a:pt x="381194" y="2535237"/>
                    </a:moveTo>
                    <a:cubicBezTo>
                      <a:pt x="381194" y="2535237"/>
                      <a:pt x="381194" y="2535237"/>
                      <a:pt x="258956" y="2657377"/>
                    </a:cubicBezTo>
                    <a:cubicBezTo>
                      <a:pt x="258956" y="2657377"/>
                      <a:pt x="258956" y="2657377"/>
                      <a:pt x="139700" y="2776537"/>
                    </a:cubicBezTo>
                    <a:cubicBezTo>
                      <a:pt x="139700" y="2776537"/>
                      <a:pt x="139700" y="2776537"/>
                      <a:pt x="384175" y="2776537"/>
                    </a:cubicBezTo>
                    <a:cubicBezTo>
                      <a:pt x="384175" y="2776537"/>
                      <a:pt x="384175" y="2776537"/>
                      <a:pt x="628650" y="2776537"/>
                    </a:cubicBezTo>
                    <a:cubicBezTo>
                      <a:pt x="628650" y="2776537"/>
                      <a:pt x="628650" y="2776537"/>
                      <a:pt x="503431" y="2657377"/>
                    </a:cubicBezTo>
                    <a:cubicBezTo>
                      <a:pt x="503431" y="2657377"/>
                      <a:pt x="503431" y="2657377"/>
                      <a:pt x="381194" y="2535237"/>
                    </a:cubicBezTo>
                    <a:close/>
                    <a:moveTo>
                      <a:pt x="381000" y="2460625"/>
                    </a:moveTo>
                    <a:cubicBezTo>
                      <a:pt x="485180" y="2460625"/>
                      <a:pt x="580430" y="2484459"/>
                      <a:pt x="648891" y="2523190"/>
                    </a:cubicBezTo>
                    <a:cubicBezTo>
                      <a:pt x="717352" y="2564900"/>
                      <a:pt x="762000" y="2618527"/>
                      <a:pt x="762000" y="2678113"/>
                    </a:cubicBezTo>
                    <a:cubicBezTo>
                      <a:pt x="762000" y="2800263"/>
                      <a:pt x="595313" y="2895600"/>
                      <a:pt x="383977" y="2895600"/>
                    </a:cubicBezTo>
                    <a:cubicBezTo>
                      <a:pt x="276821" y="2895600"/>
                      <a:pt x="184547" y="2871766"/>
                      <a:pt x="113110" y="2833035"/>
                    </a:cubicBezTo>
                    <a:cubicBezTo>
                      <a:pt x="44649" y="2794305"/>
                      <a:pt x="0" y="2737698"/>
                      <a:pt x="0" y="2678113"/>
                    </a:cubicBezTo>
                    <a:cubicBezTo>
                      <a:pt x="0" y="2558941"/>
                      <a:pt x="172641" y="2460625"/>
                      <a:pt x="381000" y="2460625"/>
                    </a:cubicBezTo>
                    <a:close/>
                    <a:moveTo>
                      <a:pt x="2136775" y="1857375"/>
                    </a:moveTo>
                    <a:lnTo>
                      <a:pt x="2241551" y="2041525"/>
                    </a:lnTo>
                    <a:lnTo>
                      <a:pt x="2351088" y="2228850"/>
                    </a:lnTo>
                    <a:lnTo>
                      <a:pt x="2136775" y="2228850"/>
                    </a:lnTo>
                    <a:lnTo>
                      <a:pt x="1914525" y="2228850"/>
                    </a:lnTo>
                    <a:lnTo>
                      <a:pt x="2024063" y="2041525"/>
                    </a:lnTo>
                    <a:close/>
                    <a:moveTo>
                      <a:pt x="2135188" y="1741487"/>
                    </a:moveTo>
                    <a:cubicBezTo>
                      <a:pt x="1948440" y="1741487"/>
                      <a:pt x="1797050" y="1893232"/>
                      <a:pt x="1797050" y="2080419"/>
                    </a:cubicBezTo>
                    <a:cubicBezTo>
                      <a:pt x="1797050" y="2267606"/>
                      <a:pt x="1948440" y="2419351"/>
                      <a:pt x="2135188" y="2419351"/>
                    </a:cubicBezTo>
                    <a:cubicBezTo>
                      <a:pt x="2321936" y="2419351"/>
                      <a:pt x="2473326" y="2267606"/>
                      <a:pt x="2473326" y="2080419"/>
                    </a:cubicBezTo>
                    <a:cubicBezTo>
                      <a:pt x="2473326" y="1893232"/>
                      <a:pt x="2321936" y="1741487"/>
                      <a:pt x="2135188" y="1741487"/>
                    </a:cubicBezTo>
                    <a:close/>
                    <a:moveTo>
                      <a:pt x="993783" y="735012"/>
                    </a:moveTo>
                    <a:cubicBezTo>
                      <a:pt x="993783" y="735012"/>
                      <a:pt x="993783" y="735012"/>
                      <a:pt x="3247225" y="735012"/>
                    </a:cubicBezTo>
                    <a:cubicBezTo>
                      <a:pt x="3276993" y="735012"/>
                      <a:pt x="3300807" y="758820"/>
                      <a:pt x="3300807" y="785604"/>
                    </a:cubicBezTo>
                    <a:cubicBezTo>
                      <a:pt x="3300807" y="785604"/>
                      <a:pt x="3300807" y="785604"/>
                      <a:pt x="3330575" y="1663523"/>
                    </a:cubicBezTo>
                    <a:cubicBezTo>
                      <a:pt x="3208526" y="2130755"/>
                      <a:pt x="3148990" y="2612866"/>
                      <a:pt x="3148990" y="3100930"/>
                    </a:cubicBezTo>
                    <a:cubicBezTo>
                      <a:pt x="3148990" y="3100930"/>
                      <a:pt x="3148990" y="3100930"/>
                      <a:pt x="3148990" y="3868737"/>
                    </a:cubicBezTo>
                    <a:cubicBezTo>
                      <a:pt x="3148990" y="3868737"/>
                      <a:pt x="3148990" y="3868737"/>
                      <a:pt x="1779660" y="3868737"/>
                    </a:cubicBezTo>
                    <a:cubicBezTo>
                      <a:pt x="1779660" y="3868737"/>
                      <a:pt x="1779660" y="3868737"/>
                      <a:pt x="1779660" y="2711074"/>
                    </a:cubicBezTo>
                    <a:cubicBezTo>
                      <a:pt x="1779660" y="2711074"/>
                      <a:pt x="1779660" y="2711074"/>
                      <a:pt x="1779660" y="2705122"/>
                    </a:cubicBezTo>
                    <a:cubicBezTo>
                      <a:pt x="1779660" y="2705122"/>
                      <a:pt x="1779660" y="2705122"/>
                      <a:pt x="1779660" y="2702146"/>
                    </a:cubicBezTo>
                    <a:cubicBezTo>
                      <a:pt x="1779660" y="2696194"/>
                      <a:pt x="1779660" y="2693218"/>
                      <a:pt x="1779660" y="2687266"/>
                    </a:cubicBezTo>
                    <a:cubicBezTo>
                      <a:pt x="1779660" y="2684290"/>
                      <a:pt x="1779660" y="2684290"/>
                      <a:pt x="1779660" y="2681314"/>
                    </a:cubicBezTo>
                    <a:cubicBezTo>
                      <a:pt x="1776683" y="2675362"/>
                      <a:pt x="1776683" y="2669410"/>
                      <a:pt x="1776683" y="2663458"/>
                    </a:cubicBezTo>
                    <a:cubicBezTo>
                      <a:pt x="1773706" y="2663458"/>
                      <a:pt x="1773706" y="2660482"/>
                      <a:pt x="1773706" y="2657506"/>
                    </a:cubicBezTo>
                    <a:cubicBezTo>
                      <a:pt x="1770729" y="2651554"/>
                      <a:pt x="1770729" y="2642626"/>
                      <a:pt x="1767752" y="2636674"/>
                    </a:cubicBezTo>
                    <a:cubicBezTo>
                      <a:pt x="1764776" y="2633698"/>
                      <a:pt x="1764776" y="2633698"/>
                      <a:pt x="1764776" y="2630722"/>
                    </a:cubicBezTo>
                    <a:cubicBezTo>
                      <a:pt x="1761799" y="2624770"/>
                      <a:pt x="1758822" y="2618818"/>
                      <a:pt x="1755845" y="2615842"/>
                    </a:cubicBezTo>
                    <a:cubicBezTo>
                      <a:pt x="1755845" y="2612866"/>
                      <a:pt x="1752868" y="2609890"/>
                      <a:pt x="1752868" y="2609890"/>
                    </a:cubicBezTo>
                    <a:cubicBezTo>
                      <a:pt x="1749892" y="2603938"/>
                      <a:pt x="1746915" y="2597986"/>
                      <a:pt x="1743938" y="2595010"/>
                    </a:cubicBezTo>
                    <a:cubicBezTo>
                      <a:pt x="1740961" y="2592034"/>
                      <a:pt x="1740961" y="2592034"/>
                      <a:pt x="1740961" y="2592034"/>
                    </a:cubicBezTo>
                    <a:cubicBezTo>
                      <a:pt x="1735008" y="2583106"/>
                      <a:pt x="1729054" y="2577154"/>
                      <a:pt x="1723100" y="2571202"/>
                    </a:cubicBezTo>
                    <a:cubicBezTo>
                      <a:pt x="1723100" y="2571202"/>
                      <a:pt x="1723100" y="2571202"/>
                      <a:pt x="1720124" y="2571202"/>
                    </a:cubicBezTo>
                    <a:cubicBezTo>
                      <a:pt x="1717147" y="2568226"/>
                      <a:pt x="1711193" y="2562274"/>
                      <a:pt x="1708216" y="2559298"/>
                    </a:cubicBezTo>
                    <a:cubicBezTo>
                      <a:pt x="1708216" y="2559298"/>
                      <a:pt x="1705239" y="2556322"/>
                      <a:pt x="1705239" y="2556322"/>
                    </a:cubicBezTo>
                    <a:cubicBezTo>
                      <a:pt x="1699286" y="2553346"/>
                      <a:pt x="1696309" y="2550370"/>
                      <a:pt x="1693332" y="2547394"/>
                    </a:cubicBezTo>
                    <a:cubicBezTo>
                      <a:pt x="1690355" y="2547394"/>
                      <a:pt x="1690355" y="2544418"/>
                      <a:pt x="1687379" y="2544418"/>
                    </a:cubicBezTo>
                    <a:cubicBezTo>
                      <a:pt x="1687379" y="2544418"/>
                      <a:pt x="1687379" y="2544418"/>
                      <a:pt x="1684402" y="2541442"/>
                    </a:cubicBezTo>
                    <a:cubicBezTo>
                      <a:pt x="1684402" y="2541442"/>
                      <a:pt x="1684402" y="2541442"/>
                      <a:pt x="1678448" y="2538466"/>
                    </a:cubicBezTo>
                    <a:cubicBezTo>
                      <a:pt x="1678448" y="2538466"/>
                      <a:pt x="1678448" y="2538466"/>
                      <a:pt x="898525" y="2106947"/>
                    </a:cubicBezTo>
                    <a:cubicBezTo>
                      <a:pt x="898525" y="2106947"/>
                      <a:pt x="898525" y="2106947"/>
                      <a:pt x="943177" y="785604"/>
                    </a:cubicBezTo>
                    <a:cubicBezTo>
                      <a:pt x="943177" y="758820"/>
                      <a:pt x="966992" y="735012"/>
                      <a:pt x="993783" y="735012"/>
                    </a:cubicBezTo>
                    <a:close/>
                    <a:moveTo>
                      <a:pt x="3667125" y="0"/>
                    </a:moveTo>
                    <a:lnTo>
                      <a:pt x="4157663" y="0"/>
                    </a:lnTo>
                    <a:lnTo>
                      <a:pt x="4157663" y="285750"/>
                    </a:lnTo>
                    <a:lnTo>
                      <a:pt x="3667125" y="285750"/>
                    </a:lnTo>
                    <a:close/>
                  </a:path>
                </a:pathLst>
              </a:custGeom>
              <a:solidFill>
                <a:schemeClr val="tx2"/>
              </a:solid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icrosoft YaHei" panose="020B0503020204020204" pitchFamily="34" charset="-122"/>
                  <a:cs typeface="+mn-cs"/>
                </a:endParaRPr>
              </a:p>
            </p:txBody>
          </p:sp>
          <p:sp>
            <p:nvSpPr>
              <p:cNvPr id="224" name="Freeform 223"/>
              <p:cNvSpPr>
                <a:spLocks/>
              </p:cNvSpPr>
              <p:nvPr/>
            </p:nvSpPr>
            <p:spPr bwMode="auto">
              <a:xfrm>
                <a:off x="5442966" y="2832354"/>
                <a:ext cx="1306068" cy="1193292"/>
              </a:xfrm>
              <a:custGeom>
                <a:avLst/>
                <a:gdLst>
                  <a:gd name="connsiteX0" fmla="*/ 579501 w 1306068"/>
                  <a:gd name="connsiteY0" fmla="*/ 709422 h 1193292"/>
                  <a:gd name="connsiteX1" fmla="*/ 330327 w 1306068"/>
                  <a:gd name="connsiteY1" fmla="*/ 855186 h 1193292"/>
                  <a:gd name="connsiteX2" fmla="*/ 330327 w 1306068"/>
                  <a:gd name="connsiteY2" fmla="*/ 1151001 h 1193292"/>
                  <a:gd name="connsiteX3" fmla="*/ 579501 w 1306068"/>
                  <a:gd name="connsiteY3" fmla="*/ 1005237 h 1193292"/>
                  <a:gd name="connsiteX4" fmla="*/ 579501 w 1306068"/>
                  <a:gd name="connsiteY4" fmla="*/ 709422 h 1193292"/>
                  <a:gd name="connsiteX5" fmla="*/ 30861 w 1306068"/>
                  <a:gd name="connsiteY5" fmla="*/ 707517 h 1193292"/>
                  <a:gd name="connsiteX6" fmla="*/ 30861 w 1306068"/>
                  <a:gd name="connsiteY6" fmla="*/ 1003237 h 1193292"/>
                  <a:gd name="connsiteX7" fmla="*/ 299466 w 1306068"/>
                  <a:gd name="connsiteY7" fmla="*/ 1152525 h 1193292"/>
                  <a:gd name="connsiteX8" fmla="*/ 299466 w 1306068"/>
                  <a:gd name="connsiteY8" fmla="*/ 855377 h 1193292"/>
                  <a:gd name="connsiteX9" fmla="*/ 30861 w 1306068"/>
                  <a:gd name="connsiteY9" fmla="*/ 707517 h 1193292"/>
                  <a:gd name="connsiteX10" fmla="*/ 295891 w 1306068"/>
                  <a:gd name="connsiteY10" fmla="*/ 535305 h 1193292"/>
                  <a:gd name="connsiteX11" fmla="*/ 46482 w 1306068"/>
                  <a:gd name="connsiteY11" fmla="*/ 680206 h 1193292"/>
                  <a:gd name="connsiteX12" fmla="*/ 314472 w 1306068"/>
                  <a:gd name="connsiteY12" fmla="*/ 828675 h 1193292"/>
                  <a:gd name="connsiteX13" fmla="*/ 563880 w 1306068"/>
                  <a:gd name="connsiteY13" fmla="*/ 683775 h 1193292"/>
                  <a:gd name="connsiteX14" fmla="*/ 295891 w 1306068"/>
                  <a:gd name="connsiteY14" fmla="*/ 535305 h 1193292"/>
                  <a:gd name="connsiteX15" fmla="*/ 295175 w 1306068"/>
                  <a:gd name="connsiteY15" fmla="*/ 501998 h 1193292"/>
                  <a:gd name="connsiteX16" fmla="*/ 303037 w 1306068"/>
                  <a:gd name="connsiteY16" fmla="*/ 503873 h 1193292"/>
                  <a:gd name="connsiteX17" fmla="*/ 598212 w 1306068"/>
                  <a:gd name="connsiteY17" fmla="*/ 668191 h 1193292"/>
                  <a:gd name="connsiteX18" fmla="*/ 603215 w 1306068"/>
                  <a:gd name="connsiteY18" fmla="*/ 669619 h 1193292"/>
                  <a:gd name="connsiteX19" fmla="*/ 610362 w 1306068"/>
                  <a:gd name="connsiteY19" fmla="*/ 683194 h 1193292"/>
                  <a:gd name="connsiteX20" fmla="*/ 610362 w 1306068"/>
                  <a:gd name="connsiteY20" fmla="*/ 1014686 h 1193292"/>
                  <a:gd name="connsiteX21" fmla="*/ 603215 w 1306068"/>
                  <a:gd name="connsiteY21" fmla="*/ 1028260 h 1193292"/>
                  <a:gd name="connsiteX22" fmla="*/ 322334 w 1306068"/>
                  <a:gd name="connsiteY22" fmla="*/ 1191863 h 1193292"/>
                  <a:gd name="connsiteX23" fmla="*/ 314472 w 1306068"/>
                  <a:gd name="connsiteY23" fmla="*/ 1193292 h 1193292"/>
                  <a:gd name="connsiteX24" fmla="*/ 313758 w 1306068"/>
                  <a:gd name="connsiteY24" fmla="*/ 1193292 h 1193292"/>
                  <a:gd name="connsiteX25" fmla="*/ 306611 w 1306068"/>
                  <a:gd name="connsiteY25" fmla="*/ 1191863 h 1193292"/>
                  <a:gd name="connsiteX26" fmla="*/ 7862 w 1306068"/>
                  <a:gd name="connsiteY26" fmla="*/ 1026117 h 1193292"/>
                  <a:gd name="connsiteX27" fmla="*/ 0 w 1306068"/>
                  <a:gd name="connsiteY27" fmla="*/ 1011828 h 1193292"/>
                  <a:gd name="connsiteX28" fmla="*/ 0 w 1306068"/>
                  <a:gd name="connsiteY28" fmla="*/ 681050 h 1193292"/>
                  <a:gd name="connsiteX29" fmla="*/ 7862 w 1306068"/>
                  <a:gd name="connsiteY29" fmla="*/ 668191 h 1193292"/>
                  <a:gd name="connsiteX30" fmla="*/ 287314 w 1306068"/>
                  <a:gd name="connsiteY30" fmla="*/ 503873 h 1193292"/>
                  <a:gd name="connsiteX31" fmla="*/ 295175 w 1306068"/>
                  <a:gd name="connsiteY31" fmla="*/ 501998 h 1193292"/>
                  <a:gd name="connsiteX32" fmla="*/ 1113139 w 1306068"/>
                  <a:gd name="connsiteY32" fmla="*/ 165354 h 1193292"/>
                  <a:gd name="connsiteX33" fmla="*/ 1113139 w 1306068"/>
                  <a:gd name="connsiteY33" fmla="*/ 236773 h 1193292"/>
                  <a:gd name="connsiteX34" fmla="*/ 1092434 w 1306068"/>
                  <a:gd name="connsiteY34" fmla="*/ 378184 h 1193292"/>
                  <a:gd name="connsiteX35" fmla="*/ 1084581 w 1306068"/>
                  <a:gd name="connsiteY35" fmla="*/ 406752 h 1193292"/>
                  <a:gd name="connsiteX36" fmla="*/ 1031748 w 1306068"/>
                  <a:gd name="connsiteY36" fmla="*/ 778133 h 1193292"/>
                  <a:gd name="connsiteX37" fmla="*/ 1031748 w 1306068"/>
                  <a:gd name="connsiteY37" fmla="*/ 1090237 h 1193292"/>
                  <a:gd name="connsiteX38" fmla="*/ 1052453 w 1306068"/>
                  <a:gd name="connsiteY38" fmla="*/ 1110234 h 1193292"/>
                  <a:gd name="connsiteX39" fmla="*/ 1254502 w 1306068"/>
                  <a:gd name="connsiteY39" fmla="*/ 1110234 h 1193292"/>
                  <a:gd name="connsiteX40" fmla="*/ 1275207 w 1306068"/>
                  <a:gd name="connsiteY40" fmla="*/ 1090237 h 1193292"/>
                  <a:gd name="connsiteX41" fmla="*/ 1275207 w 1306068"/>
                  <a:gd name="connsiteY41" fmla="*/ 778133 h 1193292"/>
                  <a:gd name="connsiteX42" fmla="*/ 1222374 w 1306068"/>
                  <a:gd name="connsiteY42" fmla="*/ 406752 h 1193292"/>
                  <a:gd name="connsiteX43" fmla="*/ 1213807 w 1306068"/>
                  <a:gd name="connsiteY43" fmla="*/ 378184 h 1193292"/>
                  <a:gd name="connsiteX44" fmla="*/ 1194530 w 1306068"/>
                  <a:gd name="connsiteY44" fmla="*/ 236773 h 1193292"/>
                  <a:gd name="connsiteX45" fmla="*/ 1194530 w 1306068"/>
                  <a:gd name="connsiteY45" fmla="*/ 165354 h 1193292"/>
                  <a:gd name="connsiteX46" fmla="*/ 1113139 w 1306068"/>
                  <a:gd name="connsiteY46" fmla="*/ 165354 h 1193292"/>
                  <a:gd name="connsiteX47" fmla="*/ 1048670 w 1306068"/>
                  <a:gd name="connsiteY47" fmla="*/ 134493 h 1193292"/>
                  <a:gd name="connsiteX48" fmla="*/ 1097373 w 1306068"/>
                  <a:gd name="connsiteY48" fmla="*/ 134493 h 1193292"/>
                  <a:gd name="connsiteX49" fmla="*/ 1117121 w 1306068"/>
                  <a:gd name="connsiteY49" fmla="*/ 134493 h 1193292"/>
                  <a:gd name="connsiteX50" fmla="*/ 1134411 w 1306068"/>
                  <a:gd name="connsiteY50" fmla="*/ 134493 h 1193292"/>
                  <a:gd name="connsiteX51" fmla="*/ 1162244 w 1306068"/>
                  <a:gd name="connsiteY51" fmla="*/ 134493 h 1193292"/>
                  <a:gd name="connsiteX52" fmla="*/ 1168559 w 1306068"/>
                  <a:gd name="connsiteY52" fmla="*/ 134493 h 1193292"/>
                  <a:gd name="connsiteX53" fmla="*/ 1195557 w 1306068"/>
                  <a:gd name="connsiteY53" fmla="*/ 134493 h 1193292"/>
                  <a:gd name="connsiteX54" fmla="*/ 1205417 w 1306068"/>
                  <a:gd name="connsiteY54" fmla="*/ 134493 h 1193292"/>
                  <a:gd name="connsiteX55" fmla="*/ 1207829 w 1306068"/>
                  <a:gd name="connsiteY55" fmla="*/ 134493 h 1193292"/>
                  <a:gd name="connsiteX56" fmla="*/ 1209583 w 1306068"/>
                  <a:gd name="connsiteY56" fmla="*/ 134493 h 1193292"/>
                  <a:gd name="connsiteX57" fmla="*/ 1230124 w 1306068"/>
                  <a:gd name="connsiteY57" fmla="*/ 134493 h 1193292"/>
                  <a:gd name="connsiteX58" fmla="*/ 1256046 w 1306068"/>
                  <a:gd name="connsiteY58" fmla="*/ 134493 h 1193292"/>
                  <a:gd name="connsiteX59" fmla="*/ 1271778 w 1306068"/>
                  <a:gd name="connsiteY59" fmla="*/ 148780 h 1193292"/>
                  <a:gd name="connsiteX60" fmla="*/ 1256046 w 1306068"/>
                  <a:gd name="connsiteY60" fmla="*/ 163068 h 1193292"/>
                  <a:gd name="connsiteX61" fmla="*/ 1225306 w 1306068"/>
                  <a:gd name="connsiteY61" fmla="*/ 163068 h 1193292"/>
                  <a:gd name="connsiteX62" fmla="*/ 1225306 w 1306068"/>
                  <a:gd name="connsiteY62" fmla="*/ 178743 h 1193292"/>
                  <a:gd name="connsiteX63" fmla="*/ 1225306 w 1306068"/>
                  <a:gd name="connsiteY63" fmla="*/ 236653 h 1193292"/>
                  <a:gd name="connsiteX64" fmla="*/ 1244603 w 1306068"/>
                  <a:gd name="connsiteY64" fmla="*/ 369534 h 1193292"/>
                  <a:gd name="connsiteX65" fmla="*/ 1252465 w 1306068"/>
                  <a:gd name="connsiteY65" fmla="*/ 398110 h 1193292"/>
                  <a:gd name="connsiteX66" fmla="*/ 1306068 w 1306068"/>
                  <a:gd name="connsiteY66" fmla="*/ 778176 h 1193292"/>
                  <a:gd name="connsiteX67" fmla="*/ 1306068 w 1306068"/>
                  <a:gd name="connsiteY67" fmla="*/ 1090372 h 1193292"/>
                  <a:gd name="connsiteX68" fmla="*/ 1254609 w 1306068"/>
                  <a:gd name="connsiteY68" fmla="*/ 1141095 h 1193292"/>
                  <a:gd name="connsiteX69" fmla="*/ 1052346 w 1306068"/>
                  <a:gd name="connsiteY69" fmla="*/ 1141095 h 1193292"/>
                  <a:gd name="connsiteX70" fmla="*/ 1000887 w 1306068"/>
                  <a:gd name="connsiteY70" fmla="*/ 1090372 h 1193292"/>
                  <a:gd name="connsiteX71" fmla="*/ 1000887 w 1306068"/>
                  <a:gd name="connsiteY71" fmla="*/ 778176 h 1193292"/>
                  <a:gd name="connsiteX72" fmla="*/ 1054491 w 1306068"/>
                  <a:gd name="connsiteY72" fmla="*/ 398110 h 1193292"/>
                  <a:gd name="connsiteX73" fmla="*/ 1063067 w 1306068"/>
                  <a:gd name="connsiteY73" fmla="*/ 369534 h 1193292"/>
                  <a:gd name="connsiteX74" fmla="*/ 1082364 w 1306068"/>
                  <a:gd name="connsiteY74" fmla="*/ 236653 h 1193292"/>
                  <a:gd name="connsiteX75" fmla="*/ 1082364 w 1306068"/>
                  <a:gd name="connsiteY75" fmla="*/ 186678 h 1193292"/>
                  <a:gd name="connsiteX76" fmla="*/ 1082364 w 1306068"/>
                  <a:gd name="connsiteY76" fmla="*/ 163068 h 1193292"/>
                  <a:gd name="connsiteX77" fmla="*/ 1074592 w 1306068"/>
                  <a:gd name="connsiteY77" fmla="*/ 163068 h 1193292"/>
                  <a:gd name="connsiteX78" fmla="*/ 1048670 w 1306068"/>
                  <a:gd name="connsiteY78" fmla="*/ 163068 h 1193292"/>
                  <a:gd name="connsiteX79" fmla="*/ 1033653 w 1306068"/>
                  <a:gd name="connsiteY79" fmla="*/ 148780 h 1193292"/>
                  <a:gd name="connsiteX80" fmla="*/ 1048670 w 1306068"/>
                  <a:gd name="connsiteY80" fmla="*/ 134493 h 1193292"/>
                  <a:gd name="connsiteX81" fmla="*/ 727329 w 1306068"/>
                  <a:gd name="connsiteY81" fmla="*/ 0 h 1193292"/>
                  <a:gd name="connsiteX82" fmla="*/ 850101 w 1306068"/>
                  <a:gd name="connsiteY82" fmla="*/ 48615 h 1193292"/>
                  <a:gd name="connsiteX83" fmla="*/ 902208 w 1306068"/>
                  <a:gd name="connsiteY83" fmla="*/ 184451 h 1193292"/>
                  <a:gd name="connsiteX84" fmla="*/ 902208 w 1306068"/>
                  <a:gd name="connsiteY84" fmla="*/ 185166 h 1193292"/>
                  <a:gd name="connsiteX85" fmla="*/ 871515 w 1306068"/>
                  <a:gd name="connsiteY85" fmla="*/ 185166 h 1193292"/>
                  <a:gd name="connsiteX86" fmla="*/ 871515 w 1306068"/>
                  <a:gd name="connsiteY86" fmla="*/ 184451 h 1193292"/>
                  <a:gd name="connsiteX87" fmla="*/ 828688 w 1306068"/>
                  <a:gd name="connsiteY87" fmla="*/ 70063 h 1193292"/>
                  <a:gd name="connsiteX88" fmla="*/ 727329 w 1306068"/>
                  <a:gd name="connsiteY88" fmla="*/ 30742 h 1193292"/>
                  <a:gd name="connsiteX89" fmla="*/ 625257 w 1306068"/>
                  <a:gd name="connsiteY89" fmla="*/ 70063 h 1193292"/>
                  <a:gd name="connsiteX90" fmla="*/ 583143 w 1306068"/>
                  <a:gd name="connsiteY90" fmla="*/ 184451 h 1193292"/>
                  <a:gd name="connsiteX91" fmla="*/ 583143 w 1306068"/>
                  <a:gd name="connsiteY91" fmla="*/ 185166 h 1193292"/>
                  <a:gd name="connsiteX92" fmla="*/ 552450 w 1306068"/>
                  <a:gd name="connsiteY92" fmla="*/ 185166 h 1193292"/>
                  <a:gd name="connsiteX93" fmla="*/ 552450 w 1306068"/>
                  <a:gd name="connsiteY93" fmla="*/ 184451 h 1193292"/>
                  <a:gd name="connsiteX94" fmla="*/ 603129 w 1306068"/>
                  <a:gd name="connsiteY94" fmla="*/ 48615 h 1193292"/>
                  <a:gd name="connsiteX95" fmla="*/ 727329 w 1306068"/>
                  <a:gd name="connsiteY95" fmla="*/ 0 h 1193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306068" h="1193292">
                    <a:moveTo>
                      <a:pt x="579501" y="709422"/>
                    </a:moveTo>
                    <a:cubicBezTo>
                      <a:pt x="330327" y="855186"/>
                      <a:pt x="330327" y="855186"/>
                      <a:pt x="330327" y="855186"/>
                    </a:cubicBezTo>
                    <a:cubicBezTo>
                      <a:pt x="330327" y="1151001"/>
                      <a:pt x="330327" y="1151001"/>
                      <a:pt x="330327" y="1151001"/>
                    </a:cubicBezTo>
                    <a:cubicBezTo>
                      <a:pt x="579501" y="1005237"/>
                      <a:pt x="579501" y="1005237"/>
                      <a:pt x="579501" y="1005237"/>
                    </a:cubicBezTo>
                    <a:cubicBezTo>
                      <a:pt x="579501" y="709422"/>
                      <a:pt x="579501" y="709422"/>
                      <a:pt x="579501" y="709422"/>
                    </a:cubicBezTo>
                    <a:close/>
                    <a:moveTo>
                      <a:pt x="30861" y="707517"/>
                    </a:moveTo>
                    <a:cubicBezTo>
                      <a:pt x="30861" y="1003237"/>
                      <a:pt x="30861" y="1003237"/>
                      <a:pt x="30861" y="1003237"/>
                    </a:cubicBezTo>
                    <a:cubicBezTo>
                      <a:pt x="198025" y="1096096"/>
                      <a:pt x="268748" y="1135382"/>
                      <a:pt x="299466" y="1152525"/>
                    </a:cubicBezTo>
                    <a:cubicBezTo>
                      <a:pt x="299466" y="939664"/>
                      <a:pt x="299466" y="874663"/>
                      <a:pt x="299466" y="855377"/>
                    </a:cubicBezTo>
                    <a:cubicBezTo>
                      <a:pt x="132303" y="763233"/>
                      <a:pt x="61579" y="723946"/>
                      <a:pt x="30861" y="707517"/>
                    </a:cubicBezTo>
                    <a:close/>
                    <a:moveTo>
                      <a:pt x="295891" y="535305"/>
                    </a:moveTo>
                    <a:cubicBezTo>
                      <a:pt x="133668" y="629526"/>
                      <a:pt x="70780" y="665930"/>
                      <a:pt x="46482" y="680206"/>
                    </a:cubicBezTo>
                    <a:cubicBezTo>
                      <a:pt x="238720" y="786561"/>
                      <a:pt x="297320" y="818682"/>
                      <a:pt x="314472" y="828675"/>
                    </a:cubicBezTo>
                    <a:cubicBezTo>
                      <a:pt x="466690" y="740165"/>
                      <a:pt x="533866" y="700906"/>
                      <a:pt x="563880" y="683775"/>
                    </a:cubicBezTo>
                    <a:cubicBezTo>
                      <a:pt x="295891" y="535305"/>
                      <a:pt x="295891" y="535305"/>
                      <a:pt x="295891" y="535305"/>
                    </a:cubicBezTo>
                    <a:close/>
                    <a:moveTo>
                      <a:pt x="295175" y="501998"/>
                    </a:moveTo>
                    <a:cubicBezTo>
                      <a:pt x="297856" y="501908"/>
                      <a:pt x="300536" y="502444"/>
                      <a:pt x="303037" y="503873"/>
                    </a:cubicBezTo>
                    <a:cubicBezTo>
                      <a:pt x="533888" y="632469"/>
                      <a:pt x="586062" y="661761"/>
                      <a:pt x="598212" y="668191"/>
                    </a:cubicBezTo>
                    <a:cubicBezTo>
                      <a:pt x="599642" y="668191"/>
                      <a:pt x="601786" y="668905"/>
                      <a:pt x="603215" y="669619"/>
                    </a:cubicBezTo>
                    <a:cubicBezTo>
                      <a:pt x="607503" y="672477"/>
                      <a:pt x="610362" y="677478"/>
                      <a:pt x="610362" y="683194"/>
                    </a:cubicBezTo>
                    <a:cubicBezTo>
                      <a:pt x="610362" y="1014686"/>
                      <a:pt x="610362" y="1014686"/>
                      <a:pt x="610362" y="1014686"/>
                    </a:cubicBezTo>
                    <a:cubicBezTo>
                      <a:pt x="610362" y="1019687"/>
                      <a:pt x="607503" y="1025403"/>
                      <a:pt x="603215" y="1028260"/>
                    </a:cubicBezTo>
                    <a:cubicBezTo>
                      <a:pt x="322334" y="1191863"/>
                      <a:pt x="322334" y="1191863"/>
                      <a:pt x="322334" y="1191863"/>
                    </a:cubicBezTo>
                    <a:cubicBezTo>
                      <a:pt x="319476" y="1192578"/>
                      <a:pt x="317331" y="1193292"/>
                      <a:pt x="314472" y="1193292"/>
                    </a:cubicBezTo>
                    <a:cubicBezTo>
                      <a:pt x="314472" y="1193292"/>
                      <a:pt x="314472" y="1193292"/>
                      <a:pt x="313758" y="1193292"/>
                    </a:cubicBezTo>
                    <a:cubicBezTo>
                      <a:pt x="311614" y="1193292"/>
                      <a:pt x="309469" y="1192578"/>
                      <a:pt x="306611" y="1191863"/>
                    </a:cubicBezTo>
                    <a:cubicBezTo>
                      <a:pt x="7862" y="1026117"/>
                      <a:pt x="7862" y="1026117"/>
                      <a:pt x="7862" y="1026117"/>
                    </a:cubicBezTo>
                    <a:cubicBezTo>
                      <a:pt x="2859" y="1023259"/>
                      <a:pt x="0" y="1017544"/>
                      <a:pt x="0" y="1011828"/>
                    </a:cubicBezTo>
                    <a:cubicBezTo>
                      <a:pt x="0" y="681050"/>
                      <a:pt x="0" y="681050"/>
                      <a:pt x="0" y="681050"/>
                    </a:cubicBezTo>
                    <a:cubicBezTo>
                      <a:pt x="0" y="675335"/>
                      <a:pt x="2859" y="670334"/>
                      <a:pt x="7862" y="668191"/>
                    </a:cubicBezTo>
                    <a:cubicBezTo>
                      <a:pt x="287314" y="503873"/>
                      <a:pt x="287314" y="503873"/>
                      <a:pt x="287314" y="503873"/>
                    </a:cubicBezTo>
                    <a:cubicBezTo>
                      <a:pt x="289815" y="502801"/>
                      <a:pt x="292495" y="502087"/>
                      <a:pt x="295175" y="501998"/>
                    </a:cubicBezTo>
                    <a:close/>
                    <a:moveTo>
                      <a:pt x="1113139" y="165354"/>
                    </a:moveTo>
                    <a:cubicBezTo>
                      <a:pt x="1113139" y="236773"/>
                      <a:pt x="1113139" y="236773"/>
                      <a:pt x="1113139" y="236773"/>
                    </a:cubicBezTo>
                    <a:cubicBezTo>
                      <a:pt x="1113139" y="284624"/>
                      <a:pt x="1106000" y="331761"/>
                      <a:pt x="1092434" y="378184"/>
                    </a:cubicBezTo>
                    <a:cubicBezTo>
                      <a:pt x="1084581" y="406752"/>
                      <a:pt x="1084581" y="406752"/>
                      <a:pt x="1084581" y="406752"/>
                    </a:cubicBezTo>
                    <a:cubicBezTo>
                      <a:pt x="1049597" y="527451"/>
                      <a:pt x="1031748" y="652435"/>
                      <a:pt x="1031748" y="778133"/>
                    </a:cubicBezTo>
                    <a:cubicBezTo>
                      <a:pt x="1031748" y="1090237"/>
                      <a:pt x="1031748" y="1090237"/>
                      <a:pt x="1031748" y="1090237"/>
                    </a:cubicBezTo>
                    <a:cubicBezTo>
                      <a:pt x="1031748" y="1100950"/>
                      <a:pt x="1041030" y="1110234"/>
                      <a:pt x="1052453" y="1110234"/>
                    </a:cubicBezTo>
                    <a:cubicBezTo>
                      <a:pt x="1254502" y="1110234"/>
                      <a:pt x="1254502" y="1110234"/>
                      <a:pt x="1254502" y="1110234"/>
                    </a:cubicBezTo>
                    <a:cubicBezTo>
                      <a:pt x="1265926" y="1110234"/>
                      <a:pt x="1275207" y="1100950"/>
                      <a:pt x="1275207" y="1090237"/>
                    </a:cubicBezTo>
                    <a:cubicBezTo>
                      <a:pt x="1275207" y="778133"/>
                      <a:pt x="1275207" y="778133"/>
                      <a:pt x="1275207" y="778133"/>
                    </a:cubicBezTo>
                    <a:cubicBezTo>
                      <a:pt x="1275207" y="652435"/>
                      <a:pt x="1257358" y="527451"/>
                      <a:pt x="1222374" y="406752"/>
                    </a:cubicBezTo>
                    <a:cubicBezTo>
                      <a:pt x="1213807" y="378184"/>
                      <a:pt x="1213807" y="378184"/>
                      <a:pt x="1213807" y="378184"/>
                    </a:cubicBezTo>
                    <a:cubicBezTo>
                      <a:pt x="1200956" y="331761"/>
                      <a:pt x="1194530" y="284624"/>
                      <a:pt x="1194530" y="236773"/>
                    </a:cubicBezTo>
                    <a:cubicBezTo>
                      <a:pt x="1194530" y="165354"/>
                      <a:pt x="1194530" y="165354"/>
                      <a:pt x="1194530" y="165354"/>
                    </a:cubicBezTo>
                    <a:cubicBezTo>
                      <a:pt x="1113139" y="165354"/>
                      <a:pt x="1113139" y="165354"/>
                      <a:pt x="1113139" y="165354"/>
                    </a:cubicBezTo>
                    <a:close/>
                    <a:moveTo>
                      <a:pt x="1048670" y="134493"/>
                    </a:moveTo>
                    <a:lnTo>
                      <a:pt x="1097373" y="134493"/>
                    </a:lnTo>
                    <a:lnTo>
                      <a:pt x="1117121" y="134493"/>
                    </a:lnTo>
                    <a:lnTo>
                      <a:pt x="1134411" y="134493"/>
                    </a:lnTo>
                    <a:lnTo>
                      <a:pt x="1162244" y="134493"/>
                    </a:lnTo>
                    <a:lnTo>
                      <a:pt x="1168559" y="134493"/>
                    </a:lnTo>
                    <a:lnTo>
                      <a:pt x="1195557" y="134493"/>
                    </a:lnTo>
                    <a:lnTo>
                      <a:pt x="1205417" y="134493"/>
                    </a:lnTo>
                    <a:lnTo>
                      <a:pt x="1207829" y="134493"/>
                    </a:lnTo>
                    <a:lnTo>
                      <a:pt x="1209583" y="134493"/>
                    </a:lnTo>
                    <a:lnTo>
                      <a:pt x="1230124" y="134493"/>
                    </a:lnTo>
                    <a:cubicBezTo>
                      <a:pt x="1256046" y="134493"/>
                      <a:pt x="1256046" y="134493"/>
                      <a:pt x="1256046" y="134493"/>
                    </a:cubicBezTo>
                    <a:cubicBezTo>
                      <a:pt x="1264627" y="134493"/>
                      <a:pt x="1271778" y="140922"/>
                      <a:pt x="1271778" y="148780"/>
                    </a:cubicBezTo>
                    <a:cubicBezTo>
                      <a:pt x="1271778" y="156638"/>
                      <a:pt x="1264627" y="163068"/>
                      <a:pt x="1256046" y="163068"/>
                    </a:cubicBezTo>
                    <a:lnTo>
                      <a:pt x="1225306" y="163068"/>
                    </a:lnTo>
                    <a:lnTo>
                      <a:pt x="1225306" y="178743"/>
                    </a:lnTo>
                    <a:cubicBezTo>
                      <a:pt x="1225306" y="236653"/>
                      <a:pt x="1225306" y="236653"/>
                      <a:pt x="1225306" y="236653"/>
                    </a:cubicBezTo>
                    <a:cubicBezTo>
                      <a:pt x="1225306" y="281661"/>
                      <a:pt x="1231738" y="325955"/>
                      <a:pt x="1244603" y="369534"/>
                    </a:cubicBezTo>
                    <a:cubicBezTo>
                      <a:pt x="1252465" y="398110"/>
                      <a:pt x="1252465" y="398110"/>
                      <a:pt x="1252465" y="398110"/>
                    </a:cubicBezTo>
                    <a:cubicBezTo>
                      <a:pt x="1288200" y="521703"/>
                      <a:pt x="1306068" y="649582"/>
                      <a:pt x="1306068" y="778176"/>
                    </a:cubicBezTo>
                    <a:cubicBezTo>
                      <a:pt x="1306068" y="1090372"/>
                      <a:pt x="1306068" y="1090372"/>
                      <a:pt x="1306068" y="1090372"/>
                    </a:cubicBezTo>
                    <a:cubicBezTo>
                      <a:pt x="1306068" y="1118234"/>
                      <a:pt x="1283912" y="1141095"/>
                      <a:pt x="1254609" y="1141095"/>
                    </a:cubicBezTo>
                    <a:cubicBezTo>
                      <a:pt x="1052346" y="1141095"/>
                      <a:pt x="1052346" y="1141095"/>
                      <a:pt x="1052346" y="1141095"/>
                    </a:cubicBezTo>
                    <a:cubicBezTo>
                      <a:pt x="1023758" y="1141095"/>
                      <a:pt x="1000887" y="1118234"/>
                      <a:pt x="1000887" y="1090372"/>
                    </a:cubicBezTo>
                    <a:cubicBezTo>
                      <a:pt x="1000887" y="778176"/>
                      <a:pt x="1000887" y="778176"/>
                      <a:pt x="1000887" y="778176"/>
                    </a:cubicBezTo>
                    <a:cubicBezTo>
                      <a:pt x="1000887" y="649582"/>
                      <a:pt x="1018755" y="521703"/>
                      <a:pt x="1054491" y="398110"/>
                    </a:cubicBezTo>
                    <a:cubicBezTo>
                      <a:pt x="1063067" y="369534"/>
                      <a:pt x="1063067" y="369534"/>
                      <a:pt x="1063067" y="369534"/>
                    </a:cubicBezTo>
                    <a:cubicBezTo>
                      <a:pt x="1075932" y="325955"/>
                      <a:pt x="1082364" y="281661"/>
                      <a:pt x="1082364" y="236653"/>
                    </a:cubicBezTo>
                    <a:cubicBezTo>
                      <a:pt x="1082364" y="215043"/>
                      <a:pt x="1082364" y="198834"/>
                      <a:pt x="1082364" y="186678"/>
                    </a:cubicBezTo>
                    <a:lnTo>
                      <a:pt x="1082364" y="163068"/>
                    </a:lnTo>
                    <a:lnTo>
                      <a:pt x="1074592" y="163068"/>
                    </a:lnTo>
                    <a:cubicBezTo>
                      <a:pt x="1048670" y="163068"/>
                      <a:pt x="1048670" y="163068"/>
                      <a:pt x="1048670" y="163068"/>
                    </a:cubicBezTo>
                    <a:cubicBezTo>
                      <a:pt x="1040089" y="163068"/>
                      <a:pt x="1033653" y="156638"/>
                      <a:pt x="1033653" y="148780"/>
                    </a:cubicBezTo>
                    <a:cubicBezTo>
                      <a:pt x="1033653" y="140922"/>
                      <a:pt x="1040089" y="134493"/>
                      <a:pt x="1048670" y="134493"/>
                    </a:cubicBezTo>
                    <a:close/>
                    <a:moveTo>
                      <a:pt x="727329" y="0"/>
                    </a:moveTo>
                    <a:cubicBezTo>
                      <a:pt x="775153" y="0"/>
                      <a:pt x="819408" y="16443"/>
                      <a:pt x="850101" y="48615"/>
                    </a:cubicBezTo>
                    <a:cubicBezTo>
                      <a:pt x="883650" y="81502"/>
                      <a:pt x="902208" y="128687"/>
                      <a:pt x="902208" y="184451"/>
                    </a:cubicBezTo>
                    <a:cubicBezTo>
                      <a:pt x="902208" y="185166"/>
                      <a:pt x="902208" y="185166"/>
                      <a:pt x="902208" y="185166"/>
                    </a:cubicBezTo>
                    <a:cubicBezTo>
                      <a:pt x="902208" y="185166"/>
                      <a:pt x="902208" y="185166"/>
                      <a:pt x="871515" y="185166"/>
                    </a:cubicBezTo>
                    <a:cubicBezTo>
                      <a:pt x="871515" y="185166"/>
                      <a:pt x="871515" y="185166"/>
                      <a:pt x="871515" y="184451"/>
                    </a:cubicBezTo>
                    <a:cubicBezTo>
                      <a:pt x="871515" y="137266"/>
                      <a:pt x="856526" y="97945"/>
                      <a:pt x="828688" y="70063"/>
                    </a:cubicBezTo>
                    <a:cubicBezTo>
                      <a:pt x="802991" y="45040"/>
                      <a:pt x="767302" y="30742"/>
                      <a:pt x="727329" y="30742"/>
                    </a:cubicBezTo>
                    <a:cubicBezTo>
                      <a:pt x="686643" y="30742"/>
                      <a:pt x="650954" y="45040"/>
                      <a:pt x="625257" y="70063"/>
                    </a:cubicBezTo>
                    <a:cubicBezTo>
                      <a:pt x="597419" y="97945"/>
                      <a:pt x="583143" y="137266"/>
                      <a:pt x="583143" y="184451"/>
                    </a:cubicBezTo>
                    <a:cubicBezTo>
                      <a:pt x="583143" y="185166"/>
                      <a:pt x="583143" y="185166"/>
                      <a:pt x="583143" y="185166"/>
                    </a:cubicBezTo>
                    <a:cubicBezTo>
                      <a:pt x="583143" y="185166"/>
                      <a:pt x="583143" y="185166"/>
                      <a:pt x="552450" y="185166"/>
                    </a:cubicBezTo>
                    <a:cubicBezTo>
                      <a:pt x="552450" y="185166"/>
                      <a:pt x="552450" y="185166"/>
                      <a:pt x="552450" y="184451"/>
                    </a:cubicBezTo>
                    <a:cubicBezTo>
                      <a:pt x="552450" y="128687"/>
                      <a:pt x="569581" y="81502"/>
                      <a:pt x="603129" y="48615"/>
                    </a:cubicBezTo>
                    <a:cubicBezTo>
                      <a:pt x="634536" y="16443"/>
                      <a:pt x="678791" y="0"/>
                      <a:pt x="727329"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icrosoft YaHei" panose="020B0503020204020204" pitchFamily="34" charset="-122"/>
                  <a:cs typeface="+mn-cs"/>
                </a:endParaRPr>
              </a:p>
            </p:txBody>
          </p:sp>
        </p:grpSp>
      </p:grpSp>
      <p:grpSp>
        <p:nvGrpSpPr>
          <p:cNvPr id="226" name="bcgIcons_GoToMarket">
            <a:extLst>
              <a:ext uri="{FF2B5EF4-FFF2-40B4-BE49-F238E27FC236}">
                <a16:creationId xmlns:a16="http://schemas.microsoft.com/office/drawing/2014/main" id="{80DCD6BF-47C8-41B6-935A-8B6D6CCE7BFE}"/>
              </a:ext>
            </a:extLst>
          </p:cNvPr>
          <p:cNvGrpSpPr>
            <a:grpSpLocks noChangeAspect="1"/>
          </p:cNvGrpSpPr>
          <p:nvPr/>
        </p:nvGrpSpPr>
        <p:grpSpPr bwMode="auto">
          <a:xfrm>
            <a:off x="7309454" y="1829676"/>
            <a:ext cx="562333" cy="562854"/>
            <a:chOff x="1682" y="0"/>
            <a:chExt cx="4316" cy="4320"/>
          </a:xfrm>
        </p:grpSpPr>
        <p:sp>
          <p:nvSpPr>
            <p:cNvPr id="227" name="AutoShape 14">
              <a:extLst>
                <a:ext uri="{FF2B5EF4-FFF2-40B4-BE49-F238E27FC236}">
                  <a16:creationId xmlns:a16="http://schemas.microsoft.com/office/drawing/2014/main" id="{6B6264DF-7B72-47C2-A253-60D979D85B1E}"/>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n-ea"/>
                <a:cs typeface="+mn-cs"/>
              </a:endParaRPr>
            </a:p>
          </p:txBody>
        </p:sp>
        <p:sp>
          <p:nvSpPr>
            <p:cNvPr id="228" name="Freeform 16">
              <a:extLst>
                <a:ext uri="{FF2B5EF4-FFF2-40B4-BE49-F238E27FC236}">
                  <a16:creationId xmlns:a16="http://schemas.microsoft.com/office/drawing/2014/main" id="{FF46FB5E-9D6C-47F1-A06B-2A72B07FF12A}"/>
                </a:ext>
              </a:extLst>
            </p:cNvPr>
            <p:cNvSpPr>
              <a:spLocks noEditPoints="1"/>
            </p:cNvSpPr>
            <p:nvPr/>
          </p:nvSpPr>
          <p:spPr bwMode="auto">
            <a:xfrm>
              <a:off x="2574" y="296"/>
              <a:ext cx="2605" cy="2697"/>
            </a:xfrm>
            <a:custGeom>
              <a:avLst/>
              <a:gdLst>
                <a:gd name="T0" fmla="*/ 540 w 1391"/>
                <a:gd name="T1" fmla="*/ 461 h 1438"/>
                <a:gd name="T2" fmla="*/ 144 w 1391"/>
                <a:gd name="T3" fmla="*/ 866 h 1438"/>
                <a:gd name="T4" fmla="*/ 204 w 1391"/>
                <a:gd name="T5" fmla="*/ 1230 h 1438"/>
                <a:gd name="T6" fmla="*/ 235 w 1391"/>
                <a:gd name="T7" fmla="*/ 1261 h 1438"/>
                <a:gd name="T8" fmla="*/ 122 w 1391"/>
                <a:gd name="T9" fmla="*/ 1364 h 1438"/>
                <a:gd name="T10" fmla="*/ 121 w 1391"/>
                <a:gd name="T11" fmla="*/ 1364 h 1438"/>
                <a:gd name="T12" fmla="*/ 8 w 1391"/>
                <a:gd name="T13" fmla="*/ 1258 h 1438"/>
                <a:gd name="T14" fmla="*/ 40 w 1391"/>
                <a:gd name="T15" fmla="*/ 1228 h 1438"/>
                <a:gd name="T16" fmla="*/ 100 w 1391"/>
                <a:gd name="T17" fmla="*/ 857 h 1438"/>
                <a:gd name="T18" fmla="*/ 496 w 1391"/>
                <a:gd name="T19" fmla="*/ 452 h 1438"/>
                <a:gd name="T20" fmla="*/ 518 w 1391"/>
                <a:gd name="T21" fmla="*/ 0 h 1438"/>
                <a:gd name="T22" fmla="*/ 758 w 1391"/>
                <a:gd name="T23" fmla="*/ 746 h 1438"/>
                <a:gd name="T24" fmla="*/ 699 w 1391"/>
                <a:gd name="T25" fmla="*/ 22 h 1438"/>
                <a:gd name="T26" fmla="*/ 655 w 1391"/>
                <a:gd name="T27" fmla="*/ 22 h 1438"/>
                <a:gd name="T28" fmla="*/ 594 w 1391"/>
                <a:gd name="T29" fmla="*/ 744 h 1438"/>
                <a:gd name="T30" fmla="*/ 562 w 1391"/>
                <a:gd name="T31" fmla="*/ 775 h 1438"/>
                <a:gd name="T32" fmla="*/ 674 w 1391"/>
                <a:gd name="T33" fmla="*/ 880 h 1438"/>
                <a:gd name="T34" fmla="*/ 690 w 1391"/>
                <a:gd name="T35" fmla="*/ 874 h 1438"/>
                <a:gd name="T36" fmla="*/ 790 w 1391"/>
                <a:gd name="T37" fmla="*/ 747 h 1438"/>
                <a:gd name="T38" fmla="*/ 1111 w 1391"/>
                <a:gd name="T39" fmla="*/ 886 h 1438"/>
                <a:gd name="T40" fmla="*/ 1051 w 1391"/>
                <a:gd name="T41" fmla="*/ 726 h 1438"/>
                <a:gd name="T42" fmla="*/ 858 w 1391"/>
                <a:gd name="T43" fmla="*/ 524 h 1438"/>
                <a:gd name="T44" fmla="*/ 836 w 1391"/>
                <a:gd name="T45" fmla="*/ 0 h 1438"/>
                <a:gd name="T46" fmla="*/ 814 w 1391"/>
                <a:gd name="T47" fmla="*/ 533 h 1438"/>
                <a:gd name="T48" fmla="*/ 1007 w 1391"/>
                <a:gd name="T49" fmla="*/ 735 h 1438"/>
                <a:gd name="T50" fmla="*/ 947 w 1391"/>
                <a:gd name="T51" fmla="*/ 884 h 1438"/>
                <a:gd name="T52" fmla="*/ 915 w 1391"/>
                <a:gd name="T53" fmla="*/ 915 h 1438"/>
                <a:gd name="T54" fmla="*/ 1027 w 1391"/>
                <a:gd name="T55" fmla="*/ 1021 h 1438"/>
                <a:gd name="T56" fmla="*/ 1043 w 1391"/>
                <a:gd name="T57" fmla="*/ 1014 h 1438"/>
                <a:gd name="T58" fmla="*/ 1142 w 1391"/>
                <a:gd name="T59" fmla="*/ 887 h 1438"/>
                <a:gd name="T60" fmla="*/ 1383 w 1391"/>
                <a:gd name="T61" fmla="*/ 1304 h 1438"/>
                <a:gd name="T62" fmla="*/ 1291 w 1391"/>
                <a:gd name="T63" fmla="*/ 1362 h 1438"/>
                <a:gd name="T64" fmla="*/ 1285 w 1391"/>
                <a:gd name="T65" fmla="*/ 618 h 1438"/>
                <a:gd name="T66" fmla="*/ 1016 w 1391"/>
                <a:gd name="T67" fmla="*/ 22 h 1438"/>
                <a:gd name="T68" fmla="*/ 972 w 1391"/>
                <a:gd name="T69" fmla="*/ 22 h 1438"/>
                <a:gd name="T70" fmla="*/ 979 w 1391"/>
                <a:gd name="T71" fmla="*/ 373 h 1438"/>
                <a:gd name="T72" fmla="*/ 1247 w 1391"/>
                <a:gd name="T73" fmla="*/ 1363 h 1438"/>
                <a:gd name="T74" fmla="*/ 1156 w 1391"/>
                <a:gd name="T75" fmla="*/ 1301 h 1438"/>
                <a:gd name="T76" fmla="*/ 1252 w 1391"/>
                <a:gd name="T77" fmla="*/ 1431 h 1438"/>
                <a:gd name="T78" fmla="*/ 1268 w 1391"/>
                <a:gd name="T79" fmla="*/ 1438 h 1438"/>
                <a:gd name="T80" fmla="*/ 1288 w 1391"/>
                <a:gd name="T81" fmla="*/ 1427 h 1438"/>
                <a:gd name="T82" fmla="*/ 1383 w 1391"/>
                <a:gd name="T83" fmla="*/ 1304 h 1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91" h="1438">
                  <a:moveTo>
                    <a:pt x="540" y="22"/>
                  </a:moveTo>
                  <a:cubicBezTo>
                    <a:pt x="540" y="461"/>
                    <a:pt x="540" y="461"/>
                    <a:pt x="540" y="461"/>
                  </a:cubicBezTo>
                  <a:cubicBezTo>
                    <a:pt x="540" y="467"/>
                    <a:pt x="538" y="472"/>
                    <a:pt x="534" y="476"/>
                  </a:cubicBezTo>
                  <a:cubicBezTo>
                    <a:pt x="144" y="866"/>
                    <a:pt x="144" y="866"/>
                    <a:pt x="144" y="866"/>
                  </a:cubicBezTo>
                  <a:cubicBezTo>
                    <a:pt x="144" y="1289"/>
                    <a:pt x="144" y="1289"/>
                    <a:pt x="144" y="1289"/>
                  </a:cubicBezTo>
                  <a:cubicBezTo>
                    <a:pt x="204" y="1230"/>
                    <a:pt x="204" y="1230"/>
                    <a:pt x="204" y="1230"/>
                  </a:cubicBezTo>
                  <a:cubicBezTo>
                    <a:pt x="213" y="1221"/>
                    <a:pt x="227" y="1221"/>
                    <a:pt x="235" y="1230"/>
                  </a:cubicBezTo>
                  <a:cubicBezTo>
                    <a:pt x="244" y="1239"/>
                    <a:pt x="244" y="1253"/>
                    <a:pt x="235" y="1261"/>
                  </a:cubicBezTo>
                  <a:cubicBezTo>
                    <a:pt x="141" y="1353"/>
                    <a:pt x="141" y="1353"/>
                    <a:pt x="141" y="1353"/>
                  </a:cubicBezTo>
                  <a:cubicBezTo>
                    <a:pt x="137" y="1360"/>
                    <a:pt x="130" y="1364"/>
                    <a:pt x="122" y="1364"/>
                  </a:cubicBezTo>
                  <a:cubicBezTo>
                    <a:pt x="122" y="1364"/>
                    <a:pt x="121" y="1364"/>
                    <a:pt x="121" y="1364"/>
                  </a:cubicBezTo>
                  <a:cubicBezTo>
                    <a:pt x="121" y="1364"/>
                    <a:pt x="121" y="1364"/>
                    <a:pt x="121" y="1364"/>
                  </a:cubicBezTo>
                  <a:cubicBezTo>
                    <a:pt x="115" y="1364"/>
                    <a:pt x="109" y="1362"/>
                    <a:pt x="105" y="1357"/>
                  </a:cubicBezTo>
                  <a:cubicBezTo>
                    <a:pt x="8" y="1258"/>
                    <a:pt x="8" y="1258"/>
                    <a:pt x="8" y="1258"/>
                  </a:cubicBezTo>
                  <a:cubicBezTo>
                    <a:pt x="0" y="1250"/>
                    <a:pt x="0" y="1236"/>
                    <a:pt x="9" y="1227"/>
                  </a:cubicBezTo>
                  <a:cubicBezTo>
                    <a:pt x="18" y="1219"/>
                    <a:pt x="31" y="1219"/>
                    <a:pt x="40" y="1228"/>
                  </a:cubicBezTo>
                  <a:cubicBezTo>
                    <a:pt x="100" y="1289"/>
                    <a:pt x="100" y="1289"/>
                    <a:pt x="100" y="1289"/>
                  </a:cubicBezTo>
                  <a:cubicBezTo>
                    <a:pt x="100" y="857"/>
                    <a:pt x="100" y="857"/>
                    <a:pt x="100" y="857"/>
                  </a:cubicBezTo>
                  <a:cubicBezTo>
                    <a:pt x="100" y="851"/>
                    <a:pt x="102" y="846"/>
                    <a:pt x="106" y="842"/>
                  </a:cubicBezTo>
                  <a:cubicBezTo>
                    <a:pt x="496" y="452"/>
                    <a:pt x="496" y="452"/>
                    <a:pt x="496" y="452"/>
                  </a:cubicBezTo>
                  <a:cubicBezTo>
                    <a:pt x="496" y="22"/>
                    <a:pt x="496" y="22"/>
                    <a:pt x="496" y="22"/>
                  </a:cubicBezTo>
                  <a:cubicBezTo>
                    <a:pt x="496" y="10"/>
                    <a:pt x="506" y="0"/>
                    <a:pt x="518" y="0"/>
                  </a:cubicBezTo>
                  <a:cubicBezTo>
                    <a:pt x="531" y="0"/>
                    <a:pt x="540" y="10"/>
                    <a:pt x="540" y="22"/>
                  </a:cubicBezTo>
                  <a:close/>
                  <a:moveTo>
                    <a:pt x="758" y="746"/>
                  </a:moveTo>
                  <a:cubicBezTo>
                    <a:pt x="699" y="804"/>
                    <a:pt x="699" y="804"/>
                    <a:pt x="699" y="804"/>
                  </a:cubicBezTo>
                  <a:cubicBezTo>
                    <a:pt x="699" y="22"/>
                    <a:pt x="699" y="22"/>
                    <a:pt x="699" y="22"/>
                  </a:cubicBezTo>
                  <a:cubicBezTo>
                    <a:pt x="699" y="10"/>
                    <a:pt x="689" y="0"/>
                    <a:pt x="677" y="0"/>
                  </a:cubicBezTo>
                  <a:cubicBezTo>
                    <a:pt x="665" y="0"/>
                    <a:pt x="655" y="10"/>
                    <a:pt x="655" y="22"/>
                  </a:cubicBezTo>
                  <a:cubicBezTo>
                    <a:pt x="655" y="807"/>
                    <a:pt x="655" y="807"/>
                    <a:pt x="655" y="807"/>
                  </a:cubicBezTo>
                  <a:cubicBezTo>
                    <a:pt x="594" y="744"/>
                    <a:pt x="594" y="744"/>
                    <a:pt x="594" y="744"/>
                  </a:cubicBezTo>
                  <a:cubicBezTo>
                    <a:pt x="586" y="735"/>
                    <a:pt x="572" y="735"/>
                    <a:pt x="563" y="744"/>
                  </a:cubicBezTo>
                  <a:cubicBezTo>
                    <a:pt x="554" y="752"/>
                    <a:pt x="554" y="766"/>
                    <a:pt x="562" y="775"/>
                  </a:cubicBezTo>
                  <a:cubicBezTo>
                    <a:pt x="659" y="874"/>
                    <a:pt x="659" y="874"/>
                    <a:pt x="659" y="874"/>
                  </a:cubicBezTo>
                  <a:cubicBezTo>
                    <a:pt x="663" y="878"/>
                    <a:pt x="669" y="880"/>
                    <a:pt x="674" y="880"/>
                  </a:cubicBezTo>
                  <a:cubicBezTo>
                    <a:pt x="675" y="880"/>
                    <a:pt x="675" y="880"/>
                    <a:pt x="675" y="880"/>
                  </a:cubicBezTo>
                  <a:cubicBezTo>
                    <a:pt x="680" y="880"/>
                    <a:pt x="686" y="878"/>
                    <a:pt x="690" y="874"/>
                  </a:cubicBezTo>
                  <a:cubicBezTo>
                    <a:pt x="789" y="778"/>
                    <a:pt x="789" y="778"/>
                    <a:pt x="789" y="778"/>
                  </a:cubicBezTo>
                  <a:cubicBezTo>
                    <a:pt x="798" y="769"/>
                    <a:pt x="798" y="755"/>
                    <a:pt x="790" y="747"/>
                  </a:cubicBezTo>
                  <a:cubicBezTo>
                    <a:pt x="781" y="738"/>
                    <a:pt x="767" y="738"/>
                    <a:pt x="758" y="746"/>
                  </a:cubicBezTo>
                  <a:close/>
                  <a:moveTo>
                    <a:pt x="1111" y="886"/>
                  </a:moveTo>
                  <a:cubicBezTo>
                    <a:pt x="1051" y="945"/>
                    <a:pt x="1051" y="945"/>
                    <a:pt x="1051" y="945"/>
                  </a:cubicBezTo>
                  <a:cubicBezTo>
                    <a:pt x="1051" y="726"/>
                    <a:pt x="1051" y="726"/>
                    <a:pt x="1051" y="726"/>
                  </a:cubicBezTo>
                  <a:cubicBezTo>
                    <a:pt x="1051" y="720"/>
                    <a:pt x="1048" y="715"/>
                    <a:pt x="1044" y="710"/>
                  </a:cubicBezTo>
                  <a:cubicBezTo>
                    <a:pt x="858" y="524"/>
                    <a:pt x="858" y="524"/>
                    <a:pt x="858" y="524"/>
                  </a:cubicBezTo>
                  <a:cubicBezTo>
                    <a:pt x="858" y="22"/>
                    <a:pt x="858" y="22"/>
                    <a:pt x="858" y="22"/>
                  </a:cubicBezTo>
                  <a:cubicBezTo>
                    <a:pt x="858" y="10"/>
                    <a:pt x="848" y="0"/>
                    <a:pt x="836" y="0"/>
                  </a:cubicBezTo>
                  <a:cubicBezTo>
                    <a:pt x="823" y="0"/>
                    <a:pt x="814" y="10"/>
                    <a:pt x="814" y="22"/>
                  </a:cubicBezTo>
                  <a:cubicBezTo>
                    <a:pt x="814" y="533"/>
                    <a:pt x="814" y="533"/>
                    <a:pt x="814" y="533"/>
                  </a:cubicBezTo>
                  <a:cubicBezTo>
                    <a:pt x="814" y="539"/>
                    <a:pt x="816" y="545"/>
                    <a:pt x="820" y="549"/>
                  </a:cubicBezTo>
                  <a:cubicBezTo>
                    <a:pt x="1007" y="735"/>
                    <a:pt x="1007" y="735"/>
                    <a:pt x="1007" y="735"/>
                  </a:cubicBezTo>
                  <a:cubicBezTo>
                    <a:pt x="1007" y="946"/>
                    <a:pt x="1007" y="946"/>
                    <a:pt x="1007" y="946"/>
                  </a:cubicBezTo>
                  <a:cubicBezTo>
                    <a:pt x="947" y="884"/>
                    <a:pt x="947" y="884"/>
                    <a:pt x="947" y="884"/>
                  </a:cubicBezTo>
                  <a:cubicBezTo>
                    <a:pt x="938" y="875"/>
                    <a:pt x="924" y="875"/>
                    <a:pt x="916" y="884"/>
                  </a:cubicBezTo>
                  <a:cubicBezTo>
                    <a:pt x="907" y="892"/>
                    <a:pt x="907" y="906"/>
                    <a:pt x="915" y="915"/>
                  </a:cubicBezTo>
                  <a:cubicBezTo>
                    <a:pt x="1012" y="1014"/>
                    <a:pt x="1012" y="1014"/>
                    <a:pt x="1012" y="1014"/>
                  </a:cubicBezTo>
                  <a:cubicBezTo>
                    <a:pt x="1016" y="1018"/>
                    <a:pt x="1021" y="1020"/>
                    <a:pt x="1027" y="1021"/>
                  </a:cubicBezTo>
                  <a:cubicBezTo>
                    <a:pt x="1027" y="1021"/>
                    <a:pt x="1027" y="1021"/>
                    <a:pt x="1027" y="1021"/>
                  </a:cubicBezTo>
                  <a:cubicBezTo>
                    <a:pt x="1033" y="1021"/>
                    <a:pt x="1039" y="1018"/>
                    <a:pt x="1043" y="1014"/>
                  </a:cubicBezTo>
                  <a:cubicBezTo>
                    <a:pt x="1142" y="918"/>
                    <a:pt x="1142" y="918"/>
                    <a:pt x="1142" y="918"/>
                  </a:cubicBezTo>
                  <a:cubicBezTo>
                    <a:pt x="1151" y="909"/>
                    <a:pt x="1151" y="895"/>
                    <a:pt x="1142" y="887"/>
                  </a:cubicBezTo>
                  <a:cubicBezTo>
                    <a:pt x="1134" y="878"/>
                    <a:pt x="1120" y="878"/>
                    <a:pt x="1111" y="886"/>
                  </a:cubicBezTo>
                  <a:close/>
                  <a:moveTo>
                    <a:pt x="1383" y="1304"/>
                  </a:moveTo>
                  <a:cubicBezTo>
                    <a:pt x="1374" y="1295"/>
                    <a:pt x="1360" y="1295"/>
                    <a:pt x="1351" y="1304"/>
                  </a:cubicBezTo>
                  <a:cubicBezTo>
                    <a:pt x="1291" y="1362"/>
                    <a:pt x="1291" y="1362"/>
                    <a:pt x="1291" y="1362"/>
                  </a:cubicBezTo>
                  <a:cubicBezTo>
                    <a:pt x="1291" y="634"/>
                    <a:pt x="1291" y="634"/>
                    <a:pt x="1291" y="634"/>
                  </a:cubicBezTo>
                  <a:cubicBezTo>
                    <a:pt x="1291" y="628"/>
                    <a:pt x="1289" y="623"/>
                    <a:pt x="1285" y="618"/>
                  </a:cubicBezTo>
                  <a:cubicBezTo>
                    <a:pt x="1016" y="348"/>
                    <a:pt x="1016" y="348"/>
                    <a:pt x="1016" y="348"/>
                  </a:cubicBezTo>
                  <a:cubicBezTo>
                    <a:pt x="1016" y="22"/>
                    <a:pt x="1016" y="22"/>
                    <a:pt x="1016" y="22"/>
                  </a:cubicBezTo>
                  <a:cubicBezTo>
                    <a:pt x="1016" y="10"/>
                    <a:pt x="1006" y="0"/>
                    <a:pt x="994" y="0"/>
                  </a:cubicBezTo>
                  <a:cubicBezTo>
                    <a:pt x="982" y="0"/>
                    <a:pt x="972" y="10"/>
                    <a:pt x="972" y="22"/>
                  </a:cubicBezTo>
                  <a:cubicBezTo>
                    <a:pt x="972" y="357"/>
                    <a:pt x="972" y="357"/>
                    <a:pt x="972" y="357"/>
                  </a:cubicBezTo>
                  <a:cubicBezTo>
                    <a:pt x="972" y="363"/>
                    <a:pt x="975" y="368"/>
                    <a:pt x="979" y="373"/>
                  </a:cubicBezTo>
                  <a:cubicBezTo>
                    <a:pt x="1247" y="643"/>
                    <a:pt x="1247" y="643"/>
                    <a:pt x="1247" y="643"/>
                  </a:cubicBezTo>
                  <a:cubicBezTo>
                    <a:pt x="1247" y="1363"/>
                    <a:pt x="1247" y="1363"/>
                    <a:pt x="1247" y="1363"/>
                  </a:cubicBezTo>
                  <a:cubicBezTo>
                    <a:pt x="1187" y="1301"/>
                    <a:pt x="1187" y="1301"/>
                    <a:pt x="1187" y="1301"/>
                  </a:cubicBezTo>
                  <a:cubicBezTo>
                    <a:pt x="1179" y="1293"/>
                    <a:pt x="1165" y="1293"/>
                    <a:pt x="1156" y="1301"/>
                  </a:cubicBezTo>
                  <a:cubicBezTo>
                    <a:pt x="1147" y="1310"/>
                    <a:pt x="1147" y="1323"/>
                    <a:pt x="1155" y="1332"/>
                  </a:cubicBezTo>
                  <a:cubicBezTo>
                    <a:pt x="1252" y="1431"/>
                    <a:pt x="1252" y="1431"/>
                    <a:pt x="1252" y="1431"/>
                  </a:cubicBezTo>
                  <a:cubicBezTo>
                    <a:pt x="1256" y="1436"/>
                    <a:pt x="1262" y="1438"/>
                    <a:pt x="1268" y="1438"/>
                  </a:cubicBezTo>
                  <a:cubicBezTo>
                    <a:pt x="1268" y="1438"/>
                    <a:pt x="1268" y="1438"/>
                    <a:pt x="1268" y="1438"/>
                  </a:cubicBezTo>
                  <a:cubicBezTo>
                    <a:pt x="1268" y="1438"/>
                    <a:pt x="1269" y="1438"/>
                    <a:pt x="1269" y="1438"/>
                  </a:cubicBezTo>
                  <a:cubicBezTo>
                    <a:pt x="1277" y="1438"/>
                    <a:pt x="1284" y="1433"/>
                    <a:pt x="1288" y="1427"/>
                  </a:cubicBezTo>
                  <a:cubicBezTo>
                    <a:pt x="1382" y="1335"/>
                    <a:pt x="1382" y="1335"/>
                    <a:pt x="1382" y="1335"/>
                  </a:cubicBezTo>
                  <a:cubicBezTo>
                    <a:pt x="1391" y="1327"/>
                    <a:pt x="1391" y="1313"/>
                    <a:pt x="1383" y="130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icrosoft YaHei" panose="020B0503020204020204" pitchFamily="34" charset="-122"/>
                <a:cs typeface="+mn-cs"/>
              </a:endParaRPr>
            </a:p>
          </p:txBody>
        </p:sp>
        <p:sp>
          <p:nvSpPr>
            <p:cNvPr id="229" name="Freeform 17">
              <a:extLst>
                <a:ext uri="{FF2B5EF4-FFF2-40B4-BE49-F238E27FC236}">
                  <a16:creationId xmlns:a16="http://schemas.microsoft.com/office/drawing/2014/main" id="{6B8AE4E4-9646-49AB-AFD2-4CB528364E93}"/>
                </a:ext>
              </a:extLst>
            </p:cNvPr>
            <p:cNvSpPr>
              <a:spLocks noEditPoints="1"/>
            </p:cNvSpPr>
            <p:nvPr/>
          </p:nvSpPr>
          <p:spPr bwMode="auto">
            <a:xfrm>
              <a:off x="2317" y="2081"/>
              <a:ext cx="3125" cy="1986"/>
            </a:xfrm>
            <a:custGeom>
              <a:avLst/>
              <a:gdLst>
                <a:gd name="T0" fmla="*/ 554 w 1668"/>
                <a:gd name="T1" fmla="*/ 259 h 1059"/>
                <a:gd name="T2" fmla="*/ 1072 w 1668"/>
                <a:gd name="T3" fmla="*/ 259 h 1059"/>
                <a:gd name="T4" fmla="*/ 956 w 1668"/>
                <a:gd name="T5" fmla="*/ 273 h 1059"/>
                <a:gd name="T6" fmla="*/ 927 w 1668"/>
                <a:gd name="T7" fmla="*/ 331 h 1059"/>
                <a:gd name="T8" fmla="*/ 917 w 1668"/>
                <a:gd name="T9" fmla="*/ 367 h 1059"/>
                <a:gd name="T10" fmla="*/ 856 w 1668"/>
                <a:gd name="T11" fmla="*/ 423 h 1059"/>
                <a:gd name="T12" fmla="*/ 848 w 1668"/>
                <a:gd name="T13" fmla="*/ 431 h 1059"/>
                <a:gd name="T14" fmla="*/ 724 w 1668"/>
                <a:gd name="T15" fmla="*/ 403 h 1059"/>
                <a:gd name="T16" fmla="*/ 679 w 1668"/>
                <a:gd name="T17" fmla="*/ 168 h 1059"/>
                <a:gd name="T18" fmla="*/ 940 w 1668"/>
                <a:gd name="T19" fmla="*/ 107 h 1059"/>
                <a:gd name="T20" fmla="*/ 918 w 1668"/>
                <a:gd name="T21" fmla="*/ 152 h 1059"/>
                <a:gd name="T22" fmla="*/ 919 w 1668"/>
                <a:gd name="T23" fmla="*/ 186 h 1059"/>
                <a:gd name="T24" fmla="*/ 927 w 1668"/>
                <a:gd name="T25" fmla="*/ 218 h 1059"/>
                <a:gd name="T26" fmla="*/ 942 w 1668"/>
                <a:gd name="T27" fmla="*/ 246 h 1059"/>
                <a:gd name="T28" fmla="*/ 1409 w 1668"/>
                <a:gd name="T29" fmla="*/ 542 h 1059"/>
                <a:gd name="T30" fmla="*/ 1409 w 1668"/>
                <a:gd name="T31" fmla="*/ 1059 h 1059"/>
                <a:gd name="T32" fmla="*/ 1409 w 1668"/>
                <a:gd name="T33" fmla="*/ 542 h 1059"/>
                <a:gd name="T34" fmla="*/ 1498 w 1668"/>
                <a:gd name="T35" fmla="*/ 944 h 1059"/>
                <a:gd name="T36" fmla="*/ 1374 w 1668"/>
                <a:gd name="T37" fmla="*/ 972 h 1059"/>
                <a:gd name="T38" fmla="*/ 1366 w 1668"/>
                <a:gd name="T39" fmla="*/ 965 h 1059"/>
                <a:gd name="T40" fmla="*/ 1305 w 1668"/>
                <a:gd name="T41" fmla="*/ 909 h 1059"/>
                <a:gd name="T42" fmla="*/ 1295 w 1668"/>
                <a:gd name="T43" fmla="*/ 873 h 1059"/>
                <a:gd name="T44" fmla="*/ 1266 w 1668"/>
                <a:gd name="T45" fmla="*/ 815 h 1059"/>
                <a:gd name="T46" fmla="*/ 1282 w 1668"/>
                <a:gd name="T47" fmla="*/ 785 h 1059"/>
                <a:gd name="T48" fmla="*/ 1298 w 1668"/>
                <a:gd name="T49" fmla="*/ 747 h 1059"/>
                <a:gd name="T50" fmla="*/ 1307 w 1668"/>
                <a:gd name="T51" fmla="*/ 692 h 1059"/>
                <a:gd name="T52" fmla="*/ 1303 w 1668"/>
                <a:gd name="T53" fmla="*/ 692 h 1059"/>
                <a:gd name="T54" fmla="*/ 1417 w 1668"/>
                <a:gd name="T55" fmla="*/ 629 h 1059"/>
                <a:gd name="T56" fmla="*/ 1498 w 1668"/>
                <a:gd name="T57" fmla="*/ 868 h 1059"/>
                <a:gd name="T58" fmla="*/ 0 w 1668"/>
                <a:gd name="T59" fmla="*/ 721 h 1059"/>
                <a:gd name="T60" fmla="*/ 518 w 1668"/>
                <a:gd name="T61" fmla="*/ 721 h 1059"/>
                <a:gd name="T62" fmla="*/ 406 w 1668"/>
                <a:gd name="T63" fmla="*/ 737 h 1059"/>
                <a:gd name="T64" fmla="*/ 376 w 1668"/>
                <a:gd name="T65" fmla="*/ 775 h 1059"/>
                <a:gd name="T66" fmla="*/ 327 w 1668"/>
                <a:gd name="T67" fmla="*/ 826 h 1059"/>
                <a:gd name="T68" fmla="*/ 304 w 1668"/>
                <a:gd name="T69" fmla="*/ 882 h 1059"/>
                <a:gd name="T70" fmla="*/ 289 w 1668"/>
                <a:gd name="T71" fmla="*/ 890 h 1059"/>
                <a:gd name="T72" fmla="*/ 202 w 1668"/>
                <a:gd name="T73" fmla="*/ 863 h 1059"/>
                <a:gd name="T74" fmla="*/ 132 w 1668"/>
                <a:gd name="T75" fmla="*/ 627 h 1059"/>
                <a:gd name="T76" fmla="*/ 371 w 1668"/>
                <a:gd name="T77" fmla="*/ 606 h 1059"/>
                <a:gd name="T78" fmla="*/ 377 w 1668"/>
                <a:gd name="T79" fmla="*/ 654 h 1059"/>
                <a:gd name="T80" fmla="*/ 394 w 1668"/>
                <a:gd name="T81" fmla="*/ 709 h 1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68" h="1059">
                  <a:moveTo>
                    <a:pt x="813" y="0"/>
                  </a:moveTo>
                  <a:cubicBezTo>
                    <a:pt x="670" y="0"/>
                    <a:pt x="554" y="116"/>
                    <a:pt x="554" y="259"/>
                  </a:cubicBezTo>
                  <a:cubicBezTo>
                    <a:pt x="554" y="402"/>
                    <a:pt x="670" y="518"/>
                    <a:pt x="813" y="518"/>
                  </a:cubicBezTo>
                  <a:cubicBezTo>
                    <a:pt x="956" y="518"/>
                    <a:pt x="1072" y="402"/>
                    <a:pt x="1072" y="259"/>
                  </a:cubicBezTo>
                  <a:cubicBezTo>
                    <a:pt x="1072" y="116"/>
                    <a:pt x="956" y="0"/>
                    <a:pt x="813" y="0"/>
                  </a:cubicBezTo>
                  <a:close/>
                  <a:moveTo>
                    <a:pt x="956" y="273"/>
                  </a:moveTo>
                  <a:cubicBezTo>
                    <a:pt x="955" y="277"/>
                    <a:pt x="949" y="290"/>
                    <a:pt x="925" y="290"/>
                  </a:cubicBezTo>
                  <a:cubicBezTo>
                    <a:pt x="927" y="301"/>
                    <a:pt x="928" y="319"/>
                    <a:pt x="927" y="331"/>
                  </a:cubicBezTo>
                  <a:cubicBezTo>
                    <a:pt x="927" y="334"/>
                    <a:pt x="927" y="334"/>
                    <a:pt x="927" y="334"/>
                  </a:cubicBezTo>
                  <a:cubicBezTo>
                    <a:pt x="926" y="353"/>
                    <a:pt x="925" y="363"/>
                    <a:pt x="917" y="367"/>
                  </a:cubicBezTo>
                  <a:cubicBezTo>
                    <a:pt x="910" y="371"/>
                    <a:pt x="887" y="374"/>
                    <a:pt x="856" y="371"/>
                  </a:cubicBezTo>
                  <a:cubicBezTo>
                    <a:pt x="856" y="423"/>
                    <a:pt x="856" y="423"/>
                    <a:pt x="856" y="423"/>
                  </a:cubicBezTo>
                  <a:cubicBezTo>
                    <a:pt x="856" y="427"/>
                    <a:pt x="853" y="431"/>
                    <a:pt x="848" y="431"/>
                  </a:cubicBezTo>
                  <a:cubicBezTo>
                    <a:pt x="848" y="431"/>
                    <a:pt x="848" y="431"/>
                    <a:pt x="848" y="431"/>
                  </a:cubicBezTo>
                  <a:cubicBezTo>
                    <a:pt x="843" y="431"/>
                    <a:pt x="779" y="430"/>
                    <a:pt x="729" y="410"/>
                  </a:cubicBezTo>
                  <a:cubicBezTo>
                    <a:pt x="726" y="409"/>
                    <a:pt x="724" y="406"/>
                    <a:pt x="724" y="403"/>
                  </a:cubicBezTo>
                  <a:cubicBezTo>
                    <a:pt x="724" y="327"/>
                    <a:pt x="724" y="327"/>
                    <a:pt x="724" y="327"/>
                  </a:cubicBezTo>
                  <a:cubicBezTo>
                    <a:pt x="699" y="300"/>
                    <a:pt x="648" y="234"/>
                    <a:pt x="679" y="168"/>
                  </a:cubicBezTo>
                  <a:cubicBezTo>
                    <a:pt x="697" y="131"/>
                    <a:pt x="733" y="87"/>
                    <a:pt x="805" y="87"/>
                  </a:cubicBezTo>
                  <a:cubicBezTo>
                    <a:pt x="887" y="87"/>
                    <a:pt x="863" y="108"/>
                    <a:pt x="940" y="107"/>
                  </a:cubicBezTo>
                  <a:cubicBezTo>
                    <a:pt x="948" y="107"/>
                    <a:pt x="923" y="134"/>
                    <a:pt x="919" y="151"/>
                  </a:cubicBezTo>
                  <a:cubicBezTo>
                    <a:pt x="919" y="151"/>
                    <a:pt x="919" y="152"/>
                    <a:pt x="918" y="152"/>
                  </a:cubicBezTo>
                  <a:cubicBezTo>
                    <a:pt x="918" y="152"/>
                    <a:pt x="916" y="151"/>
                    <a:pt x="914" y="151"/>
                  </a:cubicBezTo>
                  <a:cubicBezTo>
                    <a:pt x="915" y="161"/>
                    <a:pt x="917" y="180"/>
                    <a:pt x="919" y="186"/>
                  </a:cubicBezTo>
                  <a:cubicBezTo>
                    <a:pt x="921" y="192"/>
                    <a:pt x="922" y="199"/>
                    <a:pt x="924" y="205"/>
                  </a:cubicBezTo>
                  <a:cubicBezTo>
                    <a:pt x="925" y="210"/>
                    <a:pt x="926" y="215"/>
                    <a:pt x="927" y="218"/>
                  </a:cubicBezTo>
                  <a:cubicBezTo>
                    <a:pt x="931" y="230"/>
                    <a:pt x="935" y="239"/>
                    <a:pt x="939" y="243"/>
                  </a:cubicBezTo>
                  <a:cubicBezTo>
                    <a:pt x="940" y="244"/>
                    <a:pt x="941" y="245"/>
                    <a:pt x="942" y="246"/>
                  </a:cubicBezTo>
                  <a:cubicBezTo>
                    <a:pt x="951" y="256"/>
                    <a:pt x="959" y="265"/>
                    <a:pt x="956" y="273"/>
                  </a:cubicBezTo>
                  <a:close/>
                  <a:moveTo>
                    <a:pt x="1409" y="542"/>
                  </a:moveTo>
                  <a:cubicBezTo>
                    <a:pt x="1266" y="542"/>
                    <a:pt x="1150" y="658"/>
                    <a:pt x="1150" y="800"/>
                  </a:cubicBezTo>
                  <a:cubicBezTo>
                    <a:pt x="1150" y="943"/>
                    <a:pt x="1266" y="1059"/>
                    <a:pt x="1409" y="1059"/>
                  </a:cubicBezTo>
                  <a:cubicBezTo>
                    <a:pt x="1552" y="1059"/>
                    <a:pt x="1668" y="943"/>
                    <a:pt x="1668" y="800"/>
                  </a:cubicBezTo>
                  <a:cubicBezTo>
                    <a:pt x="1668" y="658"/>
                    <a:pt x="1552" y="542"/>
                    <a:pt x="1409" y="542"/>
                  </a:cubicBezTo>
                  <a:close/>
                  <a:moveTo>
                    <a:pt x="1498" y="868"/>
                  </a:moveTo>
                  <a:cubicBezTo>
                    <a:pt x="1498" y="944"/>
                    <a:pt x="1498" y="944"/>
                    <a:pt x="1498" y="944"/>
                  </a:cubicBezTo>
                  <a:cubicBezTo>
                    <a:pt x="1498" y="947"/>
                    <a:pt x="1496" y="950"/>
                    <a:pt x="1493" y="951"/>
                  </a:cubicBezTo>
                  <a:cubicBezTo>
                    <a:pt x="1443" y="972"/>
                    <a:pt x="1379" y="972"/>
                    <a:pt x="1374" y="972"/>
                  </a:cubicBezTo>
                  <a:cubicBezTo>
                    <a:pt x="1373" y="972"/>
                    <a:pt x="1373" y="972"/>
                    <a:pt x="1373" y="972"/>
                  </a:cubicBezTo>
                  <a:cubicBezTo>
                    <a:pt x="1369" y="972"/>
                    <a:pt x="1366" y="969"/>
                    <a:pt x="1366" y="965"/>
                  </a:cubicBezTo>
                  <a:cubicBezTo>
                    <a:pt x="1366" y="912"/>
                    <a:pt x="1366" y="912"/>
                    <a:pt x="1366" y="912"/>
                  </a:cubicBezTo>
                  <a:cubicBezTo>
                    <a:pt x="1335" y="916"/>
                    <a:pt x="1311" y="912"/>
                    <a:pt x="1305" y="909"/>
                  </a:cubicBezTo>
                  <a:cubicBezTo>
                    <a:pt x="1297" y="905"/>
                    <a:pt x="1296" y="894"/>
                    <a:pt x="1295" y="875"/>
                  </a:cubicBezTo>
                  <a:cubicBezTo>
                    <a:pt x="1295" y="873"/>
                    <a:pt x="1295" y="873"/>
                    <a:pt x="1295" y="873"/>
                  </a:cubicBezTo>
                  <a:cubicBezTo>
                    <a:pt x="1294" y="861"/>
                    <a:pt x="1295" y="842"/>
                    <a:pt x="1296" y="832"/>
                  </a:cubicBezTo>
                  <a:cubicBezTo>
                    <a:pt x="1273" y="831"/>
                    <a:pt x="1267" y="819"/>
                    <a:pt x="1266" y="815"/>
                  </a:cubicBezTo>
                  <a:cubicBezTo>
                    <a:pt x="1263" y="806"/>
                    <a:pt x="1271" y="797"/>
                    <a:pt x="1280" y="788"/>
                  </a:cubicBezTo>
                  <a:cubicBezTo>
                    <a:pt x="1281" y="787"/>
                    <a:pt x="1282" y="786"/>
                    <a:pt x="1282" y="785"/>
                  </a:cubicBezTo>
                  <a:cubicBezTo>
                    <a:pt x="1286" y="780"/>
                    <a:pt x="1291" y="771"/>
                    <a:pt x="1295" y="760"/>
                  </a:cubicBezTo>
                  <a:cubicBezTo>
                    <a:pt x="1296" y="757"/>
                    <a:pt x="1297" y="752"/>
                    <a:pt x="1298" y="747"/>
                  </a:cubicBezTo>
                  <a:cubicBezTo>
                    <a:pt x="1300" y="740"/>
                    <a:pt x="1301" y="733"/>
                    <a:pt x="1303" y="728"/>
                  </a:cubicBezTo>
                  <a:cubicBezTo>
                    <a:pt x="1305" y="721"/>
                    <a:pt x="1307" y="702"/>
                    <a:pt x="1307" y="692"/>
                  </a:cubicBezTo>
                  <a:cubicBezTo>
                    <a:pt x="1306" y="692"/>
                    <a:pt x="1304" y="693"/>
                    <a:pt x="1303" y="693"/>
                  </a:cubicBezTo>
                  <a:cubicBezTo>
                    <a:pt x="1303" y="693"/>
                    <a:pt x="1303" y="693"/>
                    <a:pt x="1303" y="692"/>
                  </a:cubicBezTo>
                  <a:cubicBezTo>
                    <a:pt x="1299" y="675"/>
                    <a:pt x="1274" y="648"/>
                    <a:pt x="1282" y="648"/>
                  </a:cubicBezTo>
                  <a:cubicBezTo>
                    <a:pt x="1358" y="650"/>
                    <a:pt x="1334" y="629"/>
                    <a:pt x="1417" y="629"/>
                  </a:cubicBezTo>
                  <a:cubicBezTo>
                    <a:pt x="1489" y="629"/>
                    <a:pt x="1525" y="672"/>
                    <a:pt x="1543" y="709"/>
                  </a:cubicBezTo>
                  <a:cubicBezTo>
                    <a:pt x="1574" y="776"/>
                    <a:pt x="1523" y="842"/>
                    <a:pt x="1498" y="868"/>
                  </a:cubicBezTo>
                  <a:close/>
                  <a:moveTo>
                    <a:pt x="259" y="462"/>
                  </a:moveTo>
                  <a:cubicBezTo>
                    <a:pt x="116" y="462"/>
                    <a:pt x="0" y="578"/>
                    <a:pt x="0" y="721"/>
                  </a:cubicBezTo>
                  <a:cubicBezTo>
                    <a:pt x="0" y="864"/>
                    <a:pt x="116" y="980"/>
                    <a:pt x="259" y="980"/>
                  </a:cubicBezTo>
                  <a:cubicBezTo>
                    <a:pt x="402" y="980"/>
                    <a:pt x="518" y="864"/>
                    <a:pt x="518" y="721"/>
                  </a:cubicBezTo>
                  <a:cubicBezTo>
                    <a:pt x="518" y="578"/>
                    <a:pt x="402" y="462"/>
                    <a:pt x="259" y="462"/>
                  </a:cubicBezTo>
                  <a:close/>
                  <a:moveTo>
                    <a:pt x="406" y="737"/>
                  </a:moveTo>
                  <a:cubicBezTo>
                    <a:pt x="404" y="743"/>
                    <a:pt x="394" y="752"/>
                    <a:pt x="375" y="752"/>
                  </a:cubicBezTo>
                  <a:cubicBezTo>
                    <a:pt x="376" y="758"/>
                    <a:pt x="376" y="767"/>
                    <a:pt x="376" y="775"/>
                  </a:cubicBezTo>
                  <a:cubicBezTo>
                    <a:pt x="376" y="806"/>
                    <a:pt x="372" y="815"/>
                    <a:pt x="368" y="818"/>
                  </a:cubicBezTo>
                  <a:cubicBezTo>
                    <a:pt x="365" y="822"/>
                    <a:pt x="357" y="827"/>
                    <a:pt x="327" y="826"/>
                  </a:cubicBezTo>
                  <a:cubicBezTo>
                    <a:pt x="322" y="826"/>
                    <a:pt x="312" y="826"/>
                    <a:pt x="304" y="825"/>
                  </a:cubicBezTo>
                  <a:cubicBezTo>
                    <a:pt x="304" y="882"/>
                    <a:pt x="304" y="882"/>
                    <a:pt x="304" y="882"/>
                  </a:cubicBezTo>
                  <a:cubicBezTo>
                    <a:pt x="304" y="886"/>
                    <a:pt x="301" y="889"/>
                    <a:pt x="297" y="889"/>
                  </a:cubicBezTo>
                  <a:cubicBezTo>
                    <a:pt x="297" y="889"/>
                    <a:pt x="294" y="890"/>
                    <a:pt x="289" y="890"/>
                  </a:cubicBezTo>
                  <a:cubicBezTo>
                    <a:pt x="273" y="890"/>
                    <a:pt x="236" y="887"/>
                    <a:pt x="206" y="869"/>
                  </a:cubicBezTo>
                  <a:cubicBezTo>
                    <a:pt x="204" y="868"/>
                    <a:pt x="202" y="866"/>
                    <a:pt x="202" y="863"/>
                  </a:cubicBezTo>
                  <a:cubicBezTo>
                    <a:pt x="200" y="826"/>
                    <a:pt x="200" y="826"/>
                    <a:pt x="200" y="826"/>
                  </a:cubicBezTo>
                  <a:cubicBezTo>
                    <a:pt x="151" y="806"/>
                    <a:pt x="73" y="749"/>
                    <a:pt x="132" y="627"/>
                  </a:cubicBezTo>
                  <a:cubicBezTo>
                    <a:pt x="150" y="591"/>
                    <a:pt x="192" y="553"/>
                    <a:pt x="262" y="553"/>
                  </a:cubicBezTo>
                  <a:cubicBezTo>
                    <a:pt x="342" y="553"/>
                    <a:pt x="375" y="590"/>
                    <a:pt x="371" y="606"/>
                  </a:cubicBezTo>
                  <a:cubicBezTo>
                    <a:pt x="370" y="609"/>
                    <a:pt x="368" y="612"/>
                    <a:pt x="366" y="615"/>
                  </a:cubicBezTo>
                  <a:cubicBezTo>
                    <a:pt x="370" y="620"/>
                    <a:pt x="379" y="633"/>
                    <a:pt x="377" y="654"/>
                  </a:cubicBezTo>
                  <a:cubicBezTo>
                    <a:pt x="377" y="664"/>
                    <a:pt x="378" y="683"/>
                    <a:pt x="379" y="686"/>
                  </a:cubicBezTo>
                  <a:cubicBezTo>
                    <a:pt x="382" y="693"/>
                    <a:pt x="388" y="703"/>
                    <a:pt x="394" y="709"/>
                  </a:cubicBezTo>
                  <a:cubicBezTo>
                    <a:pt x="400" y="715"/>
                    <a:pt x="410" y="729"/>
                    <a:pt x="406" y="737"/>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icrosoft YaHei" panose="020B0503020204020204" pitchFamily="34" charset="-122"/>
                <a:cs typeface="+mn-cs"/>
              </a:endParaRPr>
            </a:p>
          </p:txBody>
        </p:sp>
      </p:grpSp>
      <p:grpSp>
        <p:nvGrpSpPr>
          <p:cNvPr id="230" name="bcgIcons_Integrated">
            <a:extLst>
              <a:ext uri="{FF2B5EF4-FFF2-40B4-BE49-F238E27FC236}">
                <a16:creationId xmlns:a16="http://schemas.microsoft.com/office/drawing/2014/main" id="{D2FE2093-C038-4156-BEEE-F9189330B5F6}"/>
              </a:ext>
            </a:extLst>
          </p:cNvPr>
          <p:cNvGrpSpPr>
            <a:grpSpLocks noChangeAspect="1"/>
          </p:cNvGrpSpPr>
          <p:nvPr/>
        </p:nvGrpSpPr>
        <p:grpSpPr bwMode="auto">
          <a:xfrm>
            <a:off x="8930979" y="1829676"/>
            <a:ext cx="562333" cy="562854"/>
            <a:chOff x="1682" y="0"/>
            <a:chExt cx="4316" cy="4320"/>
          </a:xfrm>
        </p:grpSpPr>
        <p:sp>
          <p:nvSpPr>
            <p:cNvPr id="231" name="AutoShape 13">
              <a:extLst>
                <a:ext uri="{FF2B5EF4-FFF2-40B4-BE49-F238E27FC236}">
                  <a16:creationId xmlns:a16="http://schemas.microsoft.com/office/drawing/2014/main" id="{188AADED-968E-4933-8FC3-C73FEE66CF79}"/>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n-ea"/>
                <a:cs typeface="+mn-cs"/>
              </a:endParaRPr>
            </a:p>
          </p:txBody>
        </p:sp>
        <p:sp>
          <p:nvSpPr>
            <p:cNvPr id="232" name="Freeform 15">
              <a:extLst>
                <a:ext uri="{FF2B5EF4-FFF2-40B4-BE49-F238E27FC236}">
                  <a16:creationId xmlns:a16="http://schemas.microsoft.com/office/drawing/2014/main" id="{38E46F8A-B418-44B6-8EF0-736FDD9ABF15}"/>
                </a:ext>
              </a:extLst>
            </p:cNvPr>
            <p:cNvSpPr>
              <a:spLocks noEditPoints="1"/>
            </p:cNvSpPr>
            <p:nvPr/>
          </p:nvSpPr>
          <p:spPr bwMode="auto">
            <a:xfrm>
              <a:off x="2263" y="579"/>
              <a:ext cx="3154" cy="3158"/>
            </a:xfrm>
            <a:custGeom>
              <a:avLst/>
              <a:gdLst>
                <a:gd name="T0" fmla="*/ 1167 w 1684"/>
                <a:gd name="T1" fmla="*/ 1136 h 1684"/>
                <a:gd name="T2" fmla="*/ 1008 w 1684"/>
                <a:gd name="T3" fmla="*/ 842 h 1684"/>
                <a:gd name="T4" fmla="*/ 964 w 1684"/>
                <a:gd name="T5" fmla="*/ 842 h 1684"/>
                <a:gd name="T6" fmla="*/ 928 w 1684"/>
                <a:gd name="T7" fmla="*/ 959 h 1684"/>
                <a:gd name="T8" fmla="*/ 1151 w 1684"/>
                <a:gd name="T9" fmla="*/ 1569 h 1684"/>
                <a:gd name="T10" fmla="*/ 1569 w 1684"/>
                <a:gd name="T11" fmla="*/ 1151 h 1684"/>
                <a:gd name="T12" fmla="*/ 1489 w 1684"/>
                <a:gd name="T13" fmla="*/ 1518 h 1684"/>
                <a:gd name="T14" fmla="*/ 1470 w 1684"/>
                <a:gd name="T15" fmla="*/ 1528 h 1684"/>
                <a:gd name="T16" fmla="*/ 1463 w 1684"/>
                <a:gd name="T17" fmla="*/ 1528 h 1684"/>
                <a:gd name="T18" fmla="*/ 1404 w 1684"/>
                <a:gd name="T19" fmla="*/ 1514 h 1684"/>
                <a:gd name="T20" fmla="*/ 1293 w 1684"/>
                <a:gd name="T21" fmla="*/ 1436 h 1684"/>
                <a:gd name="T22" fmla="*/ 1225 w 1684"/>
                <a:gd name="T23" fmla="*/ 1346 h 1684"/>
                <a:gd name="T24" fmla="*/ 1203 w 1684"/>
                <a:gd name="T25" fmla="*/ 1284 h 1684"/>
                <a:gd name="T26" fmla="*/ 1202 w 1684"/>
                <a:gd name="T27" fmla="*/ 1259 h 1684"/>
                <a:gd name="T28" fmla="*/ 1211 w 1684"/>
                <a:gd name="T29" fmla="*/ 1240 h 1684"/>
                <a:gd name="T30" fmla="*/ 1271 w 1684"/>
                <a:gd name="T31" fmla="*/ 1187 h 1684"/>
                <a:gd name="T32" fmla="*/ 1285 w 1684"/>
                <a:gd name="T33" fmla="*/ 1197 h 1684"/>
                <a:gd name="T34" fmla="*/ 1325 w 1684"/>
                <a:gd name="T35" fmla="*/ 1283 h 1684"/>
                <a:gd name="T36" fmla="*/ 1302 w 1684"/>
                <a:gd name="T37" fmla="*/ 1312 h 1684"/>
                <a:gd name="T38" fmla="*/ 1300 w 1684"/>
                <a:gd name="T39" fmla="*/ 1317 h 1684"/>
                <a:gd name="T40" fmla="*/ 1320 w 1684"/>
                <a:gd name="T41" fmla="*/ 1355 h 1684"/>
                <a:gd name="T42" fmla="*/ 1374 w 1684"/>
                <a:gd name="T43" fmla="*/ 1410 h 1684"/>
                <a:gd name="T44" fmla="*/ 1408 w 1684"/>
                <a:gd name="T45" fmla="*/ 1429 h 1684"/>
                <a:gd name="T46" fmla="*/ 1415 w 1684"/>
                <a:gd name="T47" fmla="*/ 1429 h 1684"/>
                <a:gd name="T48" fmla="*/ 1438 w 1684"/>
                <a:gd name="T49" fmla="*/ 1407 h 1684"/>
                <a:gd name="T50" fmla="*/ 1463 w 1684"/>
                <a:gd name="T51" fmla="*/ 1403 h 1684"/>
                <a:gd name="T52" fmla="*/ 1533 w 1684"/>
                <a:gd name="T53" fmla="*/ 1444 h 1684"/>
                <a:gd name="T54" fmla="*/ 1537 w 1684"/>
                <a:gd name="T55" fmla="*/ 1471 h 1684"/>
                <a:gd name="T56" fmla="*/ 489 w 1684"/>
                <a:gd name="T57" fmla="*/ 381 h 1684"/>
                <a:gd name="T58" fmla="*/ 344 w 1684"/>
                <a:gd name="T59" fmla="*/ 384 h 1684"/>
                <a:gd name="T60" fmla="*/ 161 w 1684"/>
                <a:gd name="T61" fmla="*/ 384 h 1684"/>
                <a:gd name="T62" fmla="*/ 157 w 1684"/>
                <a:gd name="T63" fmla="*/ 223 h 1684"/>
                <a:gd name="T64" fmla="*/ 486 w 1684"/>
                <a:gd name="T65" fmla="*/ 219 h 1684"/>
                <a:gd name="T66" fmla="*/ 756 w 1684"/>
                <a:gd name="T67" fmla="*/ 725 h 1684"/>
                <a:gd name="T68" fmla="*/ 533 w 1684"/>
                <a:gd name="T69" fmla="*/ 115 h 1684"/>
                <a:gd name="T70" fmla="*/ 115 w 1684"/>
                <a:gd name="T71" fmla="*/ 533 h 1684"/>
                <a:gd name="T72" fmla="*/ 710 w 1684"/>
                <a:gd name="T73" fmla="*/ 741 h 1684"/>
                <a:gd name="T74" fmla="*/ 698 w 1684"/>
                <a:gd name="T75" fmla="*/ 864 h 1684"/>
                <a:gd name="T76" fmla="*/ 756 w 1684"/>
                <a:gd name="T77" fmla="*/ 756 h 1684"/>
                <a:gd name="T78" fmla="*/ 520 w 1684"/>
                <a:gd name="T79" fmla="*/ 407 h 1684"/>
                <a:gd name="T80" fmla="*/ 356 w 1684"/>
                <a:gd name="T81" fmla="*/ 415 h 1684"/>
                <a:gd name="T82" fmla="*/ 384 w 1684"/>
                <a:gd name="T83" fmla="*/ 444 h 1684"/>
                <a:gd name="T84" fmla="*/ 379 w 1684"/>
                <a:gd name="T85" fmla="*/ 457 h 1684"/>
                <a:gd name="T86" fmla="*/ 261 w 1684"/>
                <a:gd name="T87" fmla="*/ 452 h 1684"/>
                <a:gd name="T88" fmla="*/ 290 w 1684"/>
                <a:gd name="T89" fmla="*/ 420 h 1684"/>
                <a:gd name="T90" fmla="*/ 134 w 1684"/>
                <a:gd name="T91" fmla="*/ 415 h 1684"/>
                <a:gd name="T92" fmla="*/ 127 w 1684"/>
                <a:gd name="T93" fmla="*/ 196 h 1684"/>
                <a:gd name="T94" fmla="*/ 512 w 1684"/>
                <a:gd name="T95" fmla="*/ 189 h 1684"/>
                <a:gd name="T96" fmla="*/ 520 w 1684"/>
                <a:gd name="T97" fmla="*/ 407 h 1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84" h="1684">
                  <a:moveTo>
                    <a:pt x="1569" y="1151"/>
                  </a:moveTo>
                  <a:cubicBezTo>
                    <a:pt x="1459" y="1041"/>
                    <a:pt x="1283" y="1036"/>
                    <a:pt x="1167" y="1136"/>
                  </a:cubicBezTo>
                  <a:cubicBezTo>
                    <a:pt x="974" y="943"/>
                    <a:pt x="974" y="943"/>
                    <a:pt x="974" y="943"/>
                  </a:cubicBezTo>
                  <a:cubicBezTo>
                    <a:pt x="996" y="914"/>
                    <a:pt x="1008" y="879"/>
                    <a:pt x="1008" y="842"/>
                  </a:cubicBezTo>
                  <a:cubicBezTo>
                    <a:pt x="1008" y="830"/>
                    <a:pt x="998" y="820"/>
                    <a:pt x="986" y="820"/>
                  </a:cubicBezTo>
                  <a:cubicBezTo>
                    <a:pt x="974" y="820"/>
                    <a:pt x="964" y="830"/>
                    <a:pt x="964" y="842"/>
                  </a:cubicBezTo>
                  <a:cubicBezTo>
                    <a:pt x="964" y="875"/>
                    <a:pt x="951" y="905"/>
                    <a:pt x="928" y="928"/>
                  </a:cubicBezTo>
                  <a:cubicBezTo>
                    <a:pt x="920" y="937"/>
                    <a:pt x="920" y="951"/>
                    <a:pt x="928" y="959"/>
                  </a:cubicBezTo>
                  <a:cubicBezTo>
                    <a:pt x="1136" y="1167"/>
                    <a:pt x="1136" y="1167"/>
                    <a:pt x="1136" y="1167"/>
                  </a:cubicBezTo>
                  <a:cubicBezTo>
                    <a:pt x="1036" y="1283"/>
                    <a:pt x="1041" y="1459"/>
                    <a:pt x="1151" y="1569"/>
                  </a:cubicBezTo>
                  <a:cubicBezTo>
                    <a:pt x="1266" y="1684"/>
                    <a:pt x="1453" y="1684"/>
                    <a:pt x="1569" y="1569"/>
                  </a:cubicBezTo>
                  <a:cubicBezTo>
                    <a:pt x="1684" y="1453"/>
                    <a:pt x="1684" y="1266"/>
                    <a:pt x="1569" y="1151"/>
                  </a:cubicBezTo>
                  <a:close/>
                  <a:moveTo>
                    <a:pt x="1537" y="1471"/>
                  </a:moveTo>
                  <a:cubicBezTo>
                    <a:pt x="1489" y="1518"/>
                    <a:pt x="1489" y="1518"/>
                    <a:pt x="1489" y="1518"/>
                  </a:cubicBezTo>
                  <a:cubicBezTo>
                    <a:pt x="1487" y="1521"/>
                    <a:pt x="1484" y="1523"/>
                    <a:pt x="1480" y="1524"/>
                  </a:cubicBezTo>
                  <a:cubicBezTo>
                    <a:pt x="1477" y="1526"/>
                    <a:pt x="1474" y="1527"/>
                    <a:pt x="1470" y="1528"/>
                  </a:cubicBezTo>
                  <a:cubicBezTo>
                    <a:pt x="1470" y="1528"/>
                    <a:pt x="1469" y="1528"/>
                    <a:pt x="1468" y="1528"/>
                  </a:cubicBezTo>
                  <a:cubicBezTo>
                    <a:pt x="1467" y="1528"/>
                    <a:pt x="1465" y="1528"/>
                    <a:pt x="1463" y="1528"/>
                  </a:cubicBezTo>
                  <a:cubicBezTo>
                    <a:pt x="1459" y="1528"/>
                    <a:pt x="1451" y="1527"/>
                    <a:pt x="1441" y="1526"/>
                  </a:cubicBezTo>
                  <a:cubicBezTo>
                    <a:pt x="1431" y="1524"/>
                    <a:pt x="1418" y="1520"/>
                    <a:pt x="1404" y="1514"/>
                  </a:cubicBezTo>
                  <a:cubicBezTo>
                    <a:pt x="1389" y="1508"/>
                    <a:pt x="1372" y="1499"/>
                    <a:pt x="1353" y="1486"/>
                  </a:cubicBezTo>
                  <a:cubicBezTo>
                    <a:pt x="1334" y="1474"/>
                    <a:pt x="1314" y="1457"/>
                    <a:pt x="1293" y="1436"/>
                  </a:cubicBezTo>
                  <a:cubicBezTo>
                    <a:pt x="1276" y="1419"/>
                    <a:pt x="1263" y="1403"/>
                    <a:pt x="1251" y="1388"/>
                  </a:cubicBezTo>
                  <a:cubicBezTo>
                    <a:pt x="1240" y="1373"/>
                    <a:pt x="1231" y="1359"/>
                    <a:pt x="1225" y="1346"/>
                  </a:cubicBezTo>
                  <a:cubicBezTo>
                    <a:pt x="1218" y="1333"/>
                    <a:pt x="1213" y="1322"/>
                    <a:pt x="1210" y="1311"/>
                  </a:cubicBezTo>
                  <a:cubicBezTo>
                    <a:pt x="1206" y="1301"/>
                    <a:pt x="1204" y="1292"/>
                    <a:pt x="1203" y="1284"/>
                  </a:cubicBezTo>
                  <a:cubicBezTo>
                    <a:pt x="1202" y="1277"/>
                    <a:pt x="1201" y="1271"/>
                    <a:pt x="1201" y="1266"/>
                  </a:cubicBezTo>
                  <a:cubicBezTo>
                    <a:pt x="1202" y="1262"/>
                    <a:pt x="1202" y="1260"/>
                    <a:pt x="1202" y="1259"/>
                  </a:cubicBezTo>
                  <a:cubicBezTo>
                    <a:pt x="1202" y="1256"/>
                    <a:pt x="1203" y="1252"/>
                    <a:pt x="1205" y="1249"/>
                  </a:cubicBezTo>
                  <a:cubicBezTo>
                    <a:pt x="1207" y="1245"/>
                    <a:pt x="1209" y="1242"/>
                    <a:pt x="1211" y="1240"/>
                  </a:cubicBezTo>
                  <a:cubicBezTo>
                    <a:pt x="1259" y="1192"/>
                    <a:pt x="1259" y="1192"/>
                    <a:pt x="1259" y="1192"/>
                  </a:cubicBezTo>
                  <a:cubicBezTo>
                    <a:pt x="1262" y="1189"/>
                    <a:pt x="1266" y="1187"/>
                    <a:pt x="1271" y="1187"/>
                  </a:cubicBezTo>
                  <a:cubicBezTo>
                    <a:pt x="1274" y="1187"/>
                    <a:pt x="1276" y="1188"/>
                    <a:pt x="1279" y="1190"/>
                  </a:cubicBezTo>
                  <a:cubicBezTo>
                    <a:pt x="1281" y="1192"/>
                    <a:pt x="1283" y="1194"/>
                    <a:pt x="1285" y="1197"/>
                  </a:cubicBezTo>
                  <a:cubicBezTo>
                    <a:pt x="1324" y="1270"/>
                    <a:pt x="1324" y="1270"/>
                    <a:pt x="1324" y="1270"/>
                  </a:cubicBezTo>
                  <a:cubicBezTo>
                    <a:pt x="1326" y="1274"/>
                    <a:pt x="1326" y="1278"/>
                    <a:pt x="1325" y="1283"/>
                  </a:cubicBezTo>
                  <a:cubicBezTo>
                    <a:pt x="1324" y="1287"/>
                    <a:pt x="1322" y="1291"/>
                    <a:pt x="1319" y="1294"/>
                  </a:cubicBezTo>
                  <a:cubicBezTo>
                    <a:pt x="1302" y="1312"/>
                    <a:pt x="1302" y="1312"/>
                    <a:pt x="1302" y="1312"/>
                  </a:cubicBezTo>
                  <a:cubicBezTo>
                    <a:pt x="1301" y="1312"/>
                    <a:pt x="1301" y="1313"/>
                    <a:pt x="1300" y="1314"/>
                  </a:cubicBezTo>
                  <a:cubicBezTo>
                    <a:pt x="1300" y="1315"/>
                    <a:pt x="1300" y="1316"/>
                    <a:pt x="1300" y="1317"/>
                  </a:cubicBezTo>
                  <a:cubicBezTo>
                    <a:pt x="1301" y="1322"/>
                    <a:pt x="1303" y="1328"/>
                    <a:pt x="1306" y="1334"/>
                  </a:cubicBezTo>
                  <a:cubicBezTo>
                    <a:pt x="1309" y="1340"/>
                    <a:pt x="1314" y="1347"/>
                    <a:pt x="1320" y="1355"/>
                  </a:cubicBezTo>
                  <a:cubicBezTo>
                    <a:pt x="1326" y="1364"/>
                    <a:pt x="1334" y="1373"/>
                    <a:pt x="1345" y="1384"/>
                  </a:cubicBezTo>
                  <a:cubicBezTo>
                    <a:pt x="1356" y="1395"/>
                    <a:pt x="1366" y="1404"/>
                    <a:pt x="1374" y="1410"/>
                  </a:cubicBezTo>
                  <a:cubicBezTo>
                    <a:pt x="1383" y="1416"/>
                    <a:pt x="1390" y="1420"/>
                    <a:pt x="1395" y="1423"/>
                  </a:cubicBezTo>
                  <a:cubicBezTo>
                    <a:pt x="1401" y="1426"/>
                    <a:pt x="1405" y="1428"/>
                    <a:pt x="1408" y="1429"/>
                  </a:cubicBezTo>
                  <a:cubicBezTo>
                    <a:pt x="1413" y="1429"/>
                    <a:pt x="1413" y="1429"/>
                    <a:pt x="1413" y="1429"/>
                  </a:cubicBezTo>
                  <a:cubicBezTo>
                    <a:pt x="1413" y="1429"/>
                    <a:pt x="1414" y="1429"/>
                    <a:pt x="1415" y="1429"/>
                  </a:cubicBezTo>
                  <a:cubicBezTo>
                    <a:pt x="1416" y="1429"/>
                    <a:pt x="1417" y="1428"/>
                    <a:pt x="1417" y="1428"/>
                  </a:cubicBezTo>
                  <a:cubicBezTo>
                    <a:pt x="1438" y="1407"/>
                    <a:pt x="1438" y="1407"/>
                    <a:pt x="1438" y="1407"/>
                  </a:cubicBezTo>
                  <a:cubicBezTo>
                    <a:pt x="1442" y="1403"/>
                    <a:pt x="1447" y="1401"/>
                    <a:pt x="1453" y="1401"/>
                  </a:cubicBezTo>
                  <a:cubicBezTo>
                    <a:pt x="1457" y="1401"/>
                    <a:pt x="1461" y="1402"/>
                    <a:pt x="1463" y="1403"/>
                  </a:cubicBezTo>
                  <a:cubicBezTo>
                    <a:pt x="1463" y="1403"/>
                    <a:pt x="1463" y="1403"/>
                    <a:pt x="1463" y="1403"/>
                  </a:cubicBezTo>
                  <a:cubicBezTo>
                    <a:pt x="1533" y="1444"/>
                    <a:pt x="1533" y="1444"/>
                    <a:pt x="1533" y="1444"/>
                  </a:cubicBezTo>
                  <a:cubicBezTo>
                    <a:pt x="1538" y="1447"/>
                    <a:pt x="1541" y="1451"/>
                    <a:pt x="1542" y="1456"/>
                  </a:cubicBezTo>
                  <a:cubicBezTo>
                    <a:pt x="1543" y="1462"/>
                    <a:pt x="1541" y="1467"/>
                    <a:pt x="1537" y="1471"/>
                  </a:cubicBezTo>
                  <a:close/>
                  <a:moveTo>
                    <a:pt x="489" y="223"/>
                  </a:moveTo>
                  <a:cubicBezTo>
                    <a:pt x="489" y="381"/>
                    <a:pt x="489" y="381"/>
                    <a:pt x="489" y="381"/>
                  </a:cubicBezTo>
                  <a:cubicBezTo>
                    <a:pt x="489" y="382"/>
                    <a:pt x="487" y="384"/>
                    <a:pt x="486" y="384"/>
                  </a:cubicBezTo>
                  <a:cubicBezTo>
                    <a:pt x="344" y="384"/>
                    <a:pt x="344" y="384"/>
                    <a:pt x="344" y="384"/>
                  </a:cubicBezTo>
                  <a:cubicBezTo>
                    <a:pt x="333" y="384"/>
                    <a:pt x="313" y="384"/>
                    <a:pt x="302" y="384"/>
                  </a:cubicBezTo>
                  <a:cubicBezTo>
                    <a:pt x="161" y="384"/>
                    <a:pt x="161" y="384"/>
                    <a:pt x="161" y="384"/>
                  </a:cubicBezTo>
                  <a:cubicBezTo>
                    <a:pt x="159" y="384"/>
                    <a:pt x="157" y="382"/>
                    <a:pt x="157" y="381"/>
                  </a:cubicBezTo>
                  <a:cubicBezTo>
                    <a:pt x="157" y="223"/>
                    <a:pt x="157" y="223"/>
                    <a:pt x="157" y="223"/>
                  </a:cubicBezTo>
                  <a:cubicBezTo>
                    <a:pt x="157" y="221"/>
                    <a:pt x="159" y="219"/>
                    <a:pt x="161" y="219"/>
                  </a:cubicBezTo>
                  <a:cubicBezTo>
                    <a:pt x="486" y="219"/>
                    <a:pt x="486" y="219"/>
                    <a:pt x="486" y="219"/>
                  </a:cubicBezTo>
                  <a:cubicBezTo>
                    <a:pt x="487" y="219"/>
                    <a:pt x="489" y="221"/>
                    <a:pt x="489" y="223"/>
                  </a:cubicBezTo>
                  <a:close/>
                  <a:moveTo>
                    <a:pt x="756" y="725"/>
                  </a:moveTo>
                  <a:cubicBezTo>
                    <a:pt x="548" y="517"/>
                    <a:pt x="548" y="517"/>
                    <a:pt x="548" y="517"/>
                  </a:cubicBezTo>
                  <a:cubicBezTo>
                    <a:pt x="648" y="401"/>
                    <a:pt x="643" y="225"/>
                    <a:pt x="533" y="115"/>
                  </a:cubicBezTo>
                  <a:cubicBezTo>
                    <a:pt x="418" y="0"/>
                    <a:pt x="231" y="0"/>
                    <a:pt x="115" y="115"/>
                  </a:cubicBezTo>
                  <a:cubicBezTo>
                    <a:pt x="0" y="231"/>
                    <a:pt x="0" y="418"/>
                    <a:pt x="115" y="533"/>
                  </a:cubicBezTo>
                  <a:cubicBezTo>
                    <a:pt x="225" y="643"/>
                    <a:pt x="401" y="648"/>
                    <a:pt x="517" y="548"/>
                  </a:cubicBezTo>
                  <a:cubicBezTo>
                    <a:pt x="710" y="741"/>
                    <a:pt x="710" y="741"/>
                    <a:pt x="710" y="741"/>
                  </a:cubicBezTo>
                  <a:cubicBezTo>
                    <a:pt x="688" y="770"/>
                    <a:pt x="676" y="805"/>
                    <a:pt x="676" y="842"/>
                  </a:cubicBezTo>
                  <a:cubicBezTo>
                    <a:pt x="676" y="854"/>
                    <a:pt x="686" y="864"/>
                    <a:pt x="698" y="864"/>
                  </a:cubicBezTo>
                  <a:cubicBezTo>
                    <a:pt x="710" y="864"/>
                    <a:pt x="720" y="854"/>
                    <a:pt x="720" y="842"/>
                  </a:cubicBezTo>
                  <a:cubicBezTo>
                    <a:pt x="720" y="809"/>
                    <a:pt x="733" y="779"/>
                    <a:pt x="756" y="756"/>
                  </a:cubicBezTo>
                  <a:cubicBezTo>
                    <a:pt x="764" y="747"/>
                    <a:pt x="764" y="733"/>
                    <a:pt x="756" y="725"/>
                  </a:cubicBezTo>
                  <a:close/>
                  <a:moveTo>
                    <a:pt x="520" y="407"/>
                  </a:moveTo>
                  <a:cubicBezTo>
                    <a:pt x="520" y="411"/>
                    <a:pt x="516" y="415"/>
                    <a:pt x="512" y="415"/>
                  </a:cubicBezTo>
                  <a:cubicBezTo>
                    <a:pt x="356" y="415"/>
                    <a:pt x="356" y="415"/>
                    <a:pt x="356" y="415"/>
                  </a:cubicBezTo>
                  <a:cubicBezTo>
                    <a:pt x="356" y="420"/>
                    <a:pt x="356" y="420"/>
                    <a:pt x="356" y="420"/>
                  </a:cubicBezTo>
                  <a:cubicBezTo>
                    <a:pt x="384" y="444"/>
                    <a:pt x="384" y="444"/>
                    <a:pt x="384" y="444"/>
                  </a:cubicBezTo>
                  <a:cubicBezTo>
                    <a:pt x="386" y="446"/>
                    <a:pt x="387" y="449"/>
                    <a:pt x="386" y="452"/>
                  </a:cubicBezTo>
                  <a:cubicBezTo>
                    <a:pt x="385" y="455"/>
                    <a:pt x="382" y="457"/>
                    <a:pt x="379" y="457"/>
                  </a:cubicBezTo>
                  <a:cubicBezTo>
                    <a:pt x="268" y="457"/>
                    <a:pt x="268" y="457"/>
                    <a:pt x="268" y="457"/>
                  </a:cubicBezTo>
                  <a:cubicBezTo>
                    <a:pt x="265" y="457"/>
                    <a:pt x="262" y="455"/>
                    <a:pt x="261" y="452"/>
                  </a:cubicBezTo>
                  <a:cubicBezTo>
                    <a:pt x="260" y="449"/>
                    <a:pt x="260" y="446"/>
                    <a:pt x="263" y="444"/>
                  </a:cubicBezTo>
                  <a:cubicBezTo>
                    <a:pt x="290" y="420"/>
                    <a:pt x="290" y="420"/>
                    <a:pt x="290" y="420"/>
                  </a:cubicBezTo>
                  <a:cubicBezTo>
                    <a:pt x="290" y="415"/>
                    <a:pt x="290" y="415"/>
                    <a:pt x="290" y="415"/>
                  </a:cubicBezTo>
                  <a:cubicBezTo>
                    <a:pt x="134" y="415"/>
                    <a:pt x="134" y="415"/>
                    <a:pt x="134" y="415"/>
                  </a:cubicBezTo>
                  <a:cubicBezTo>
                    <a:pt x="130" y="415"/>
                    <a:pt x="127" y="411"/>
                    <a:pt x="127" y="407"/>
                  </a:cubicBezTo>
                  <a:cubicBezTo>
                    <a:pt x="127" y="196"/>
                    <a:pt x="127" y="196"/>
                    <a:pt x="127" y="196"/>
                  </a:cubicBezTo>
                  <a:cubicBezTo>
                    <a:pt x="127" y="192"/>
                    <a:pt x="130" y="189"/>
                    <a:pt x="134" y="189"/>
                  </a:cubicBezTo>
                  <a:cubicBezTo>
                    <a:pt x="512" y="189"/>
                    <a:pt x="512" y="189"/>
                    <a:pt x="512" y="189"/>
                  </a:cubicBezTo>
                  <a:cubicBezTo>
                    <a:pt x="516" y="189"/>
                    <a:pt x="520" y="192"/>
                    <a:pt x="520" y="196"/>
                  </a:cubicBezTo>
                  <a:lnTo>
                    <a:pt x="520" y="407"/>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icrosoft YaHei" panose="020B0503020204020204" pitchFamily="34" charset="-122"/>
                <a:cs typeface="+mn-cs"/>
              </a:endParaRPr>
            </a:p>
          </p:txBody>
        </p:sp>
        <p:sp>
          <p:nvSpPr>
            <p:cNvPr id="233" name="Freeform 16">
              <a:extLst>
                <a:ext uri="{FF2B5EF4-FFF2-40B4-BE49-F238E27FC236}">
                  <a16:creationId xmlns:a16="http://schemas.microsoft.com/office/drawing/2014/main" id="{10AF2995-1FAD-4F11-8690-9787723507FA}"/>
                </a:ext>
              </a:extLst>
            </p:cNvPr>
            <p:cNvSpPr>
              <a:spLocks noEditPoints="1"/>
            </p:cNvSpPr>
            <p:nvPr/>
          </p:nvSpPr>
          <p:spPr bwMode="auto">
            <a:xfrm>
              <a:off x="2263" y="587"/>
              <a:ext cx="3145" cy="3148"/>
            </a:xfrm>
            <a:custGeom>
              <a:avLst/>
              <a:gdLst>
                <a:gd name="T0" fmla="*/ 323 w 1679"/>
                <a:gd name="T1" fmla="*/ 1533 h 1679"/>
                <a:gd name="T2" fmla="*/ 323 w 1679"/>
                <a:gd name="T3" fmla="*/ 1490 h 1679"/>
                <a:gd name="T4" fmla="*/ 405 w 1679"/>
                <a:gd name="T5" fmla="*/ 1175 h 1679"/>
                <a:gd name="T6" fmla="*/ 238 w 1679"/>
                <a:gd name="T7" fmla="*/ 1182 h 1679"/>
                <a:gd name="T8" fmla="*/ 244 w 1679"/>
                <a:gd name="T9" fmla="*/ 1460 h 1679"/>
                <a:gd name="T10" fmla="*/ 411 w 1679"/>
                <a:gd name="T11" fmla="*/ 1454 h 1679"/>
                <a:gd name="T12" fmla="*/ 405 w 1679"/>
                <a:gd name="T13" fmla="*/ 1175 h 1679"/>
                <a:gd name="T14" fmla="*/ 842 w 1679"/>
                <a:gd name="T15" fmla="*/ 1004 h 1679"/>
                <a:gd name="T16" fmla="*/ 548 w 1679"/>
                <a:gd name="T17" fmla="*/ 1163 h 1679"/>
                <a:gd name="T18" fmla="*/ 115 w 1679"/>
                <a:gd name="T19" fmla="*/ 1564 h 1679"/>
                <a:gd name="T20" fmla="*/ 517 w 1679"/>
                <a:gd name="T21" fmla="*/ 1132 h 1679"/>
                <a:gd name="T22" fmla="*/ 756 w 1679"/>
                <a:gd name="T23" fmla="*/ 924 h 1679"/>
                <a:gd name="T24" fmla="*/ 864 w 1679"/>
                <a:gd name="T25" fmla="*/ 982 h 1679"/>
                <a:gd name="T26" fmla="*/ 424 w 1679"/>
                <a:gd name="T27" fmla="*/ 1145 h 1679"/>
                <a:gd name="T28" fmla="*/ 208 w 1679"/>
                <a:gd name="T29" fmla="*/ 1160 h 1679"/>
                <a:gd name="T30" fmla="*/ 223 w 1679"/>
                <a:gd name="T31" fmla="*/ 1562 h 1679"/>
                <a:gd name="T32" fmla="*/ 439 w 1679"/>
                <a:gd name="T33" fmla="*/ 1547 h 1679"/>
                <a:gd name="T34" fmla="*/ 1564 w 1679"/>
                <a:gd name="T35" fmla="*/ 533 h 1679"/>
                <a:gd name="T36" fmla="*/ 959 w 1679"/>
                <a:gd name="T37" fmla="*/ 752 h 1679"/>
                <a:gd name="T38" fmla="*/ 928 w 1679"/>
                <a:gd name="T39" fmla="*/ 752 h 1679"/>
                <a:gd name="T40" fmla="*/ 820 w 1679"/>
                <a:gd name="T41" fmla="*/ 694 h 1679"/>
                <a:gd name="T42" fmla="*/ 943 w 1679"/>
                <a:gd name="T43" fmla="*/ 706 h 1679"/>
                <a:gd name="T44" fmla="*/ 1146 w 1679"/>
                <a:gd name="T45" fmla="*/ 115 h 1679"/>
                <a:gd name="T46" fmla="*/ 1564 w 1679"/>
                <a:gd name="T47" fmla="*/ 533 h 1679"/>
                <a:gd name="T48" fmla="*/ 1167 w 1679"/>
                <a:gd name="T49" fmla="*/ 323 h 1679"/>
                <a:gd name="T50" fmla="*/ 1219 w 1679"/>
                <a:gd name="T51" fmla="*/ 174 h 1679"/>
                <a:gd name="T52" fmla="*/ 1135 w 1679"/>
                <a:gd name="T53" fmla="*/ 323 h 1679"/>
                <a:gd name="T54" fmla="*/ 1208 w 1679"/>
                <a:gd name="T55" fmla="*/ 476 h 1679"/>
                <a:gd name="T56" fmla="*/ 1219 w 1679"/>
                <a:gd name="T57" fmla="*/ 448 h 1679"/>
                <a:gd name="T58" fmla="*/ 1231 w 1679"/>
                <a:gd name="T59" fmla="*/ 323 h 1679"/>
                <a:gd name="T60" fmla="*/ 1264 w 1679"/>
                <a:gd name="T61" fmla="*/ 219 h 1679"/>
                <a:gd name="T62" fmla="*/ 1199 w 1679"/>
                <a:gd name="T63" fmla="*/ 323 h 1679"/>
                <a:gd name="T64" fmla="*/ 1253 w 1679"/>
                <a:gd name="T65" fmla="*/ 431 h 1679"/>
                <a:gd name="T66" fmla="*/ 1264 w 1679"/>
                <a:gd name="T67" fmla="*/ 404 h 1679"/>
                <a:gd name="T68" fmla="*/ 1291 w 1679"/>
                <a:gd name="T69" fmla="*/ 323 h 1679"/>
                <a:gd name="T70" fmla="*/ 1307 w 1679"/>
                <a:gd name="T71" fmla="*/ 261 h 1679"/>
                <a:gd name="T72" fmla="*/ 1259 w 1679"/>
                <a:gd name="T73" fmla="*/ 323 h 1679"/>
                <a:gd name="T74" fmla="*/ 1295 w 1679"/>
                <a:gd name="T75" fmla="*/ 389 h 1679"/>
                <a:gd name="T76" fmla="*/ 1307 w 1679"/>
                <a:gd name="T77" fmla="*/ 361 h 1679"/>
                <a:gd name="T78" fmla="*/ 1355 w 1679"/>
                <a:gd name="T79" fmla="*/ 294 h 1679"/>
                <a:gd name="T80" fmla="*/ 1355 w 1679"/>
                <a:gd name="T81" fmla="*/ 351 h 1679"/>
                <a:gd name="T82" fmla="*/ 1425 w 1679"/>
                <a:gd name="T83" fmla="*/ 384 h 1679"/>
                <a:gd name="T84" fmla="*/ 1425 w 1679"/>
                <a:gd name="T85" fmla="*/ 261 h 1679"/>
                <a:gd name="T86" fmla="*/ 1402 w 1679"/>
                <a:gd name="T87" fmla="*/ 284 h 1679"/>
                <a:gd name="T88" fmla="*/ 1402 w 1679"/>
                <a:gd name="T89" fmla="*/ 361 h 1679"/>
                <a:gd name="T90" fmla="*/ 1414 w 1679"/>
                <a:gd name="T91" fmla="*/ 389 h 1679"/>
                <a:gd name="T92" fmla="*/ 1467 w 1679"/>
                <a:gd name="T93" fmla="*/ 426 h 1679"/>
                <a:gd name="T94" fmla="*/ 1467 w 1679"/>
                <a:gd name="T95" fmla="*/ 219 h 1679"/>
                <a:gd name="T96" fmla="*/ 1445 w 1679"/>
                <a:gd name="T97" fmla="*/ 241 h 1679"/>
                <a:gd name="T98" fmla="*/ 1445 w 1679"/>
                <a:gd name="T99" fmla="*/ 404 h 1679"/>
                <a:gd name="T100" fmla="*/ 1456 w 1679"/>
                <a:gd name="T101" fmla="*/ 431 h 1679"/>
                <a:gd name="T102" fmla="*/ 1574 w 1679"/>
                <a:gd name="T103" fmla="*/ 323 h 1679"/>
                <a:gd name="T104" fmla="*/ 1490 w 1679"/>
                <a:gd name="T105" fmla="*/ 174 h 1679"/>
                <a:gd name="T106" fmla="*/ 1542 w 1679"/>
                <a:gd name="T107" fmla="*/ 323 h 1679"/>
                <a:gd name="T108" fmla="*/ 1490 w 1679"/>
                <a:gd name="T109" fmla="*/ 471 h 1679"/>
                <a:gd name="T110" fmla="*/ 1512 w 1679"/>
                <a:gd name="T111" fmla="*/ 471 h 1679"/>
                <a:gd name="T112" fmla="*/ 908 w 1679"/>
                <a:gd name="T113" fmla="*/ 838 h 1679"/>
                <a:gd name="T114" fmla="*/ 776 w 1679"/>
                <a:gd name="T115" fmla="*/ 838 h 1679"/>
                <a:gd name="T116" fmla="*/ 908 w 1679"/>
                <a:gd name="T117" fmla="*/ 838 h 1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79" h="1679">
                  <a:moveTo>
                    <a:pt x="345" y="1511"/>
                  </a:moveTo>
                  <a:cubicBezTo>
                    <a:pt x="345" y="1523"/>
                    <a:pt x="335" y="1533"/>
                    <a:pt x="323" y="1533"/>
                  </a:cubicBezTo>
                  <a:cubicBezTo>
                    <a:pt x="311" y="1533"/>
                    <a:pt x="302" y="1523"/>
                    <a:pt x="302" y="1511"/>
                  </a:cubicBezTo>
                  <a:cubicBezTo>
                    <a:pt x="302" y="1500"/>
                    <a:pt x="311" y="1490"/>
                    <a:pt x="323" y="1490"/>
                  </a:cubicBezTo>
                  <a:cubicBezTo>
                    <a:pt x="335" y="1490"/>
                    <a:pt x="345" y="1500"/>
                    <a:pt x="345" y="1511"/>
                  </a:cubicBezTo>
                  <a:close/>
                  <a:moveTo>
                    <a:pt x="405" y="1175"/>
                  </a:moveTo>
                  <a:cubicBezTo>
                    <a:pt x="244" y="1175"/>
                    <a:pt x="244" y="1175"/>
                    <a:pt x="244" y="1175"/>
                  </a:cubicBezTo>
                  <a:cubicBezTo>
                    <a:pt x="241" y="1175"/>
                    <a:pt x="238" y="1178"/>
                    <a:pt x="238" y="1182"/>
                  </a:cubicBezTo>
                  <a:cubicBezTo>
                    <a:pt x="238" y="1454"/>
                    <a:pt x="238" y="1454"/>
                    <a:pt x="238" y="1454"/>
                  </a:cubicBezTo>
                  <a:cubicBezTo>
                    <a:pt x="238" y="1457"/>
                    <a:pt x="241" y="1460"/>
                    <a:pt x="244" y="1460"/>
                  </a:cubicBezTo>
                  <a:cubicBezTo>
                    <a:pt x="405" y="1460"/>
                    <a:pt x="405" y="1460"/>
                    <a:pt x="405" y="1460"/>
                  </a:cubicBezTo>
                  <a:cubicBezTo>
                    <a:pt x="408" y="1460"/>
                    <a:pt x="411" y="1457"/>
                    <a:pt x="411" y="1454"/>
                  </a:cubicBezTo>
                  <a:cubicBezTo>
                    <a:pt x="411" y="1182"/>
                    <a:pt x="411" y="1182"/>
                    <a:pt x="411" y="1182"/>
                  </a:cubicBezTo>
                  <a:cubicBezTo>
                    <a:pt x="411" y="1178"/>
                    <a:pt x="408" y="1175"/>
                    <a:pt x="405" y="1175"/>
                  </a:cubicBezTo>
                  <a:close/>
                  <a:moveTo>
                    <a:pt x="864" y="982"/>
                  </a:moveTo>
                  <a:cubicBezTo>
                    <a:pt x="864" y="994"/>
                    <a:pt x="854" y="1004"/>
                    <a:pt x="842" y="1004"/>
                  </a:cubicBezTo>
                  <a:cubicBezTo>
                    <a:pt x="805" y="1004"/>
                    <a:pt x="770" y="992"/>
                    <a:pt x="741" y="970"/>
                  </a:cubicBezTo>
                  <a:cubicBezTo>
                    <a:pt x="548" y="1163"/>
                    <a:pt x="548" y="1163"/>
                    <a:pt x="548" y="1163"/>
                  </a:cubicBezTo>
                  <a:cubicBezTo>
                    <a:pt x="648" y="1279"/>
                    <a:pt x="643" y="1454"/>
                    <a:pt x="533" y="1564"/>
                  </a:cubicBezTo>
                  <a:cubicBezTo>
                    <a:pt x="418" y="1679"/>
                    <a:pt x="231" y="1679"/>
                    <a:pt x="115" y="1564"/>
                  </a:cubicBezTo>
                  <a:cubicBezTo>
                    <a:pt x="0" y="1449"/>
                    <a:pt x="0" y="1262"/>
                    <a:pt x="115" y="1146"/>
                  </a:cubicBezTo>
                  <a:cubicBezTo>
                    <a:pt x="225" y="1036"/>
                    <a:pt x="401" y="1031"/>
                    <a:pt x="517" y="1132"/>
                  </a:cubicBezTo>
                  <a:cubicBezTo>
                    <a:pt x="725" y="924"/>
                    <a:pt x="725" y="924"/>
                    <a:pt x="725" y="924"/>
                  </a:cubicBezTo>
                  <a:cubicBezTo>
                    <a:pt x="733" y="916"/>
                    <a:pt x="747" y="916"/>
                    <a:pt x="756" y="924"/>
                  </a:cubicBezTo>
                  <a:cubicBezTo>
                    <a:pt x="779" y="947"/>
                    <a:pt x="809" y="960"/>
                    <a:pt x="842" y="960"/>
                  </a:cubicBezTo>
                  <a:cubicBezTo>
                    <a:pt x="854" y="960"/>
                    <a:pt x="864" y="970"/>
                    <a:pt x="864" y="982"/>
                  </a:cubicBezTo>
                  <a:close/>
                  <a:moveTo>
                    <a:pt x="439" y="1160"/>
                  </a:moveTo>
                  <a:cubicBezTo>
                    <a:pt x="439" y="1152"/>
                    <a:pt x="432" y="1145"/>
                    <a:pt x="424" y="1145"/>
                  </a:cubicBezTo>
                  <a:cubicBezTo>
                    <a:pt x="223" y="1145"/>
                    <a:pt x="223" y="1145"/>
                    <a:pt x="223" y="1145"/>
                  </a:cubicBezTo>
                  <a:cubicBezTo>
                    <a:pt x="215" y="1145"/>
                    <a:pt x="208" y="1152"/>
                    <a:pt x="208" y="1160"/>
                  </a:cubicBezTo>
                  <a:cubicBezTo>
                    <a:pt x="208" y="1547"/>
                    <a:pt x="208" y="1547"/>
                    <a:pt x="208" y="1547"/>
                  </a:cubicBezTo>
                  <a:cubicBezTo>
                    <a:pt x="208" y="1556"/>
                    <a:pt x="215" y="1562"/>
                    <a:pt x="223" y="1562"/>
                  </a:cubicBezTo>
                  <a:cubicBezTo>
                    <a:pt x="424" y="1562"/>
                    <a:pt x="424" y="1562"/>
                    <a:pt x="424" y="1562"/>
                  </a:cubicBezTo>
                  <a:cubicBezTo>
                    <a:pt x="432" y="1562"/>
                    <a:pt x="439" y="1556"/>
                    <a:pt x="439" y="1547"/>
                  </a:cubicBezTo>
                  <a:lnTo>
                    <a:pt x="439" y="1160"/>
                  </a:lnTo>
                  <a:close/>
                  <a:moveTo>
                    <a:pt x="1564" y="533"/>
                  </a:moveTo>
                  <a:cubicBezTo>
                    <a:pt x="1454" y="643"/>
                    <a:pt x="1279" y="648"/>
                    <a:pt x="1163" y="548"/>
                  </a:cubicBezTo>
                  <a:cubicBezTo>
                    <a:pt x="959" y="752"/>
                    <a:pt x="959" y="752"/>
                    <a:pt x="959" y="752"/>
                  </a:cubicBezTo>
                  <a:cubicBezTo>
                    <a:pt x="955" y="756"/>
                    <a:pt x="949" y="758"/>
                    <a:pt x="944" y="758"/>
                  </a:cubicBezTo>
                  <a:cubicBezTo>
                    <a:pt x="938" y="758"/>
                    <a:pt x="933" y="756"/>
                    <a:pt x="928" y="752"/>
                  </a:cubicBezTo>
                  <a:cubicBezTo>
                    <a:pt x="905" y="729"/>
                    <a:pt x="875" y="716"/>
                    <a:pt x="842" y="716"/>
                  </a:cubicBezTo>
                  <a:cubicBezTo>
                    <a:pt x="830" y="716"/>
                    <a:pt x="820" y="706"/>
                    <a:pt x="820" y="694"/>
                  </a:cubicBezTo>
                  <a:cubicBezTo>
                    <a:pt x="820" y="682"/>
                    <a:pt x="830" y="672"/>
                    <a:pt x="842" y="672"/>
                  </a:cubicBezTo>
                  <a:cubicBezTo>
                    <a:pt x="879" y="672"/>
                    <a:pt x="914" y="684"/>
                    <a:pt x="943" y="706"/>
                  </a:cubicBezTo>
                  <a:cubicBezTo>
                    <a:pt x="1132" y="517"/>
                    <a:pt x="1132" y="517"/>
                    <a:pt x="1132" y="517"/>
                  </a:cubicBezTo>
                  <a:cubicBezTo>
                    <a:pt x="1031" y="401"/>
                    <a:pt x="1036" y="225"/>
                    <a:pt x="1146" y="115"/>
                  </a:cubicBezTo>
                  <a:cubicBezTo>
                    <a:pt x="1262" y="0"/>
                    <a:pt x="1449" y="0"/>
                    <a:pt x="1564" y="115"/>
                  </a:cubicBezTo>
                  <a:cubicBezTo>
                    <a:pt x="1679" y="230"/>
                    <a:pt x="1679" y="417"/>
                    <a:pt x="1564" y="533"/>
                  </a:cubicBezTo>
                  <a:close/>
                  <a:moveTo>
                    <a:pt x="1219" y="448"/>
                  </a:moveTo>
                  <a:cubicBezTo>
                    <a:pt x="1186" y="415"/>
                    <a:pt x="1167" y="370"/>
                    <a:pt x="1167" y="323"/>
                  </a:cubicBezTo>
                  <a:cubicBezTo>
                    <a:pt x="1167" y="275"/>
                    <a:pt x="1186" y="230"/>
                    <a:pt x="1219" y="197"/>
                  </a:cubicBezTo>
                  <a:cubicBezTo>
                    <a:pt x="1226" y="190"/>
                    <a:pt x="1226" y="180"/>
                    <a:pt x="1219" y="174"/>
                  </a:cubicBezTo>
                  <a:cubicBezTo>
                    <a:pt x="1213" y="168"/>
                    <a:pt x="1203" y="168"/>
                    <a:pt x="1197" y="174"/>
                  </a:cubicBezTo>
                  <a:cubicBezTo>
                    <a:pt x="1157" y="214"/>
                    <a:pt x="1135" y="266"/>
                    <a:pt x="1135" y="323"/>
                  </a:cubicBezTo>
                  <a:cubicBezTo>
                    <a:pt x="1135" y="379"/>
                    <a:pt x="1157" y="431"/>
                    <a:pt x="1197" y="471"/>
                  </a:cubicBezTo>
                  <a:cubicBezTo>
                    <a:pt x="1200" y="474"/>
                    <a:pt x="1204" y="476"/>
                    <a:pt x="1208" y="476"/>
                  </a:cubicBezTo>
                  <a:cubicBezTo>
                    <a:pt x="1212" y="476"/>
                    <a:pt x="1216" y="474"/>
                    <a:pt x="1219" y="471"/>
                  </a:cubicBezTo>
                  <a:cubicBezTo>
                    <a:pt x="1226" y="465"/>
                    <a:pt x="1226" y="455"/>
                    <a:pt x="1219" y="448"/>
                  </a:cubicBezTo>
                  <a:close/>
                  <a:moveTo>
                    <a:pt x="1264" y="404"/>
                  </a:moveTo>
                  <a:cubicBezTo>
                    <a:pt x="1243" y="382"/>
                    <a:pt x="1231" y="353"/>
                    <a:pt x="1231" y="323"/>
                  </a:cubicBezTo>
                  <a:cubicBezTo>
                    <a:pt x="1231" y="292"/>
                    <a:pt x="1243" y="263"/>
                    <a:pt x="1264" y="241"/>
                  </a:cubicBezTo>
                  <a:cubicBezTo>
                    <a:pt x="1270" y="235"/>
                    <a:pt x="1270" y="225"/>
                    <a:pt x="1264" y="219"/>
                  </a:cubicBezTo>
                  <a:cubicBezTo>
                    <a:pt x="1258" y="213"/>
                    <a:pt x="1248" y="213"/>
                    <a:pt x="1242" y="219"/>
                  </a:cubicBezTo>
                  <a:cubicBezTo>
                    <a:pt x="1214" y="247"/>
                    <a:pt x="1199" y="283"/>
                    <a:pt x="1199" y="323"/>
                  </a:cubicBezTo>
                  <a:cubicBezTo>
                    <a:pt x="1199" y="362"/>
                    <a:pt x="1214" y="399"/>
                    <a:pt x="1242" y="426"/>
                  </a:cubicBezTo>
                  <a:cubicBezTo>
                    <a:pt x="1245" y="429"/>
                    <a:pt x="1249" y="431"/>
                    <a:pt x="1253" y="431"/>
                  </a:cubicBezTo>
                  <a:cubicBezTo>
                    <a:pt x="1257" y="431"/>
                    <a:pt x="1261" y="429"/>
                    <a:pt x="1264" y="426"/>
                  </a:cubicBezTo>
                  <a:cubicBezTo>
                    <a:pt x="1270" y="420"/>
                    <a:pt x="1270" y="410"/>
                    <a:pt x="1264" y="404"/>
                  </a:cubicBezTo>
                  <a:close/>
                  <a:moveTo>
                    <a:pt x="1307" y="361"/>
                  </a:moveTo>
                  <a:cubicBezTo>
                    <a:pt x="1296" y="351"/>
                    <a:pt x="1291" y="337"/>
                    <a:pt x="1291" y="323"/>
                  </a:cubicBezTo>
                  <a:cubicBezTo>
                    <a:pt x="1291" y="308"/>
                    <a:pt x="1296" y="294"/>
                    <a:pt x="1307" y="284"/>
                  </a:cubicBezTo>
                  <a:cubicBezTo>
                    <a:pt x="1313" y="278"/>
                    <a:pt x="1313" y="267"/>
                    <a:pt x="1307" y="261"/>
                  </a:cubicBezTo>
                  <a:cubicBezTo>
                    <a:pt x="1300" y="255"/>
                    <a:pt x="1290" y="255"/>
                    <a:pt x="1284" y="261"/>
                  </a:cubicBezTo>
                  <a:cubicBezTo>
                    <a:pt x="1268" y="278"/>
                    <a:pt x="1259" y="299"/>
                    <a:pt x="1259" y="323"/>
                  </a:cubicBezTo>
                  <a:cubicBezTo>
                    <a:pt x="1259" y="346"/>
                    <a:pt x="1268" y="368"/>
                    <a:pt x="1284" y="384"/>
                  </a:cubicBezTo>
                  <a:cubicBezTo>
                    <a:pt x="1287" y="387"/>
                    <a:pt x="1291" y="389"/>
                    <a:pt x="1295" y="389"/>
                  </a:cubicBezTo>
                  <a:cubicBezTo>
                    <a:pt x="1299" y="389"/>
                    <a:pt x="1303" y="387"/>
                    <a:pt x="1307" y="384"/>
                  </a:cubicBezTo>
                  <a:cubicBezTo>
                    <a:pt x="1313" y="378"/>
                    <a:pt x="1313" y="368"/>
                    <a:pt x="1307" y="361"/>
                  </a:cubicBezTo>
                  <a:close/>
                  <a:moveTo>
                    <a:pt x="1383" y="323"/>
                  </a:moveTo>
                  <a:cubicBezTo>
                    <a:pt x="1383" y="307"/>
                    <a:pt x="1370" y="294"/>
                    <a:pt x="1355" y="294"/>
                  </a:cubicBezTo>
                  <a:cubicBezTo>
                    <a:pt x="1339" y="294"/>
                    <a:pt x="1326" y="307"/>
                    <a:pt x="1326" y="323"/>
                  </a:cubicBezTo>
                  <a:cubicBezTo>
                    <a:pt x="1326" y="338"/>
                    <a:pt x="1339" y="351"/>
                    <a:pt x="1355" y="351"/>
                  </a:cubicBezTo>
                  <a:cubicBezTo>
                    <a:pt x="1370" y="351"/>
                    <a:pt x="1383" y="338"/>
                    <a:pt x="1383" y="323"/>
                  </a:cubicBezTo>
                  <a:close/>
                  <a:moveTo>
                    <a:pt x="1425" y="384"/>
                  </a:moveTo>
                  <a:cubicBezTo>
                    <a:pt x="1441" y="368"/>
                    <a:pt x="1451" y="346"/>
                    <a:pt x="1451" y="323"/>
                  </a:cubicBezTo>
                  <a:cubicBezTo>
                    <a:pt x="1451" y="299"/>
                    <a:pt x="1441" y="278"/>
                    <a:pt x="1425" y="261"/>
                  </a:cubicBezTo>
                  <a:cubicBezTo>
                    <a:pt x="1419" y="255"/>
                    <a:pt x="1409" y="255"/>
                    <a:pt x="1402" y="261"/>
                  </a:cubicBezTo>
                  <a:cubicBezTo>
                    <a:pt x="1396" y="267"/>
                    <a:pt x="1396" y="278"/>
                    <a:pt x="1402" y="284"/>
                  </a:cubicBezTo>
                  <a:cubicBezTo>
                    <a:pt x="1413" y="294"/>
                    <a:pt x="1419" y="308"/>
                    <a:pt x="1419" y="323"/>
                  </a:cubicBezTo>
                  <a:cubicBezTo>
                    <a:pt x="1419" y="337"/>
                    <a:pt x="1413" y="351"/>
                    <a:pt x="1402" y="361"/>
                  </a:cubicBezTo>
                  <a:cubicBezTo>
                    <a:pt x="1396" y="368"/>
                    <a:pt x="1396" y="378"/>
                    <a:pt x="1402" y="384"/>
                  </a:cubicBezTo>
                  <a:cubicBezTo>
                    <a:pt x="1406" y="387"/>
                    <a:pt x="1410" y="389"/>
                    <a:pt x="1414" y="389"/>
                  </a:cubicBezTo>
                  <a:cubicBezTo>
                    <a:pt x="1418" y="389"/>
                    <a:pt x="1422" y="387"/>
                    <a:pt x="1425" y="384"/>
                  </a:cubicBezTo>
                  <a:close/>
                  <a:moveTo>
                    <a:pt x="1467" y="426"/>
                  </a:moveTo>
                  <a:cubicBezTo>
                    <a:pt x="1495" y="399"/>
                    <a:pt x="1510" y="362"/>
                    <a:pt x="1510" y="323"/>
                  </a:cubicBezTo>
                  <a:cubicBezTo>
                    <a:pt x="1510" y="283"/>
                    <a:pt x="1495" y="247"/>
                    <a:pt x="1467" y="219"/>
                  </a:cubicBezTo>
                  <a:cubicBezTo>
                    <a:pt x="1461" y="213"/>
                    <a:pt x="1451" y="213"/>
                    <a:pt x="1445" y="219"/>
                  </a:cubicBezTo>
                  <a:cubicBezTo>
                    <a:pt x="1439" y="225"/>
                    <a:pt x="1439" y="235"/>
                    <a:pt x="1445" y="241"/>
                  </a:cubicBezTo>
                  <a:cubicBezTo>
                    <a:pt x="1466" y="263"/>
                    <a:pt x="1478" y="292"/>
                    <a:pt x="1478" y="323"/>
                  </a:cubicBezTo>
                  <a:cubicBezTo>
                    <a:pt x="1478" y="353"/>
                    <a:pt x="1466" y="382"/>
                    <a:pt x="1445" y="404"/>
                  </a:cubicBezTo>
                  <a:cubicBezTo>
                    <a:pt x="1439" y="410"/>
                    <a:pt x="1439" y="420"/>
                    <a:pt x="1445" y="426"/>
                  </a:cubicBezTo>
                  <a:cubicBezTo>
                    <a:pt x="1448" y="429"/>
                    <a:pt x="1452" y="431"/>
                    <a:pt x="1456" y="431"/>
                  </a:cubicBezTo>
                  <a:cubicBezTo>
                    <a:pt x="1460" y="431"/>
                    <a:pt x="1464" y="429"/>
                    <a:pt x="1467" y="426"/>
                  </a:cubicBezTo>
                  <a:close/>
                  <a:moveTo>
                    <a:pt x="1574" y="323"/>
                  </a:moveTo>
                  <a:cubicBezTo>
                    <a:pt x="1574" y="266"/>
                    <a:pt x="1552" y="214"/>
                    <a:pt x="1512" y="174"/>
                  </a:cubicBezTo>
                  <a:cubicBezTo>
                    <a:pt x="1506" y="168"/>
                    <a:pt x="1496" y="168"/>
                    <a:pt x="1490" y="174"/>
                  </a:cubicBezTo>
                  <a:cubicBezTo>
                    <a:pt x="1483" y="180"/>
                    <a:pt x="1483" y="190"/>
                    <a:pt x="1490" y="197"/>
                  </a:cubicBezTo>
                  <a:cubicBezTo>
                    <a:pt x="1523" y="230"/>
                    <a:pt x="1542" y="275"/>
                    <a:pt x="1542" y="323"/>
                  </a:cubicBezTo>
                  <a:cubicBezTo>
                    <a:pt x="1542" y="370"/>
                    <a:pt x="1523" y="415"/>
                    <a:pt x="1490" y="448"/>
                  </a:cubicBezTo>
                  <a:cubicBezTo>
                    <a:pt x="1483" y="455"/>
                    <a:pt x="1483" y="465"/>
                    <a:pt x="1490" y="471"/>
                  </a:cubicBezTo>
                  <a:cubicBezTo>
                    <a:pt x="1493" y="474"/>
                    <a:pt x="1497" y="476"/>
                    <a:pt x="1501" y="476"/>
                  </a:cubicBezTo>
                  <a:cubicBezTo>
                    <a:pt x="1505" y="476"/>
                    <a:pt x="1509" y="474"/>
                    <a:pt x="1512" y="471"/>
                  </a:cubicBezTo>
                  <a:cubicBezTo>
                    <a:pt x="1552" y="431"/>
                    <a:pt x="1574" y="379"/>
                    <a:pt x="1574" y="323"/>
                  </a:cubicBezTo>
                  <a:close/>
                  <a:moveTo>
                    <a:pt x="908" y="838"/>
                  </a:moveTo>
                  <a:cubicBezTo>
                    <a:pt x="908" y="802"/>
                    <a:pt x="878" y="772"/>
                    <a:pt x="842" y="772"/>
                  </a:cubicBezTo>
                  <a:cubicBezTo>
                    <a:pt x="806" y="772"/>
                    <a:pt x="776" y="802"/>
                    <a:pt x="776" y="838"/>
                  </a:cubicBezTo>
                  <a:cubicBezTo>
                    <a:pt x="776" y="874"/>
                    <a:pt x="806" y="904"/>
                    <a:pt x="842" y="904"/>
                  </a:cubicBezTo>
                  <a:cubicBezTo>
                    <a:pt x="878" y="904"/>
                    <a:pt x="908" y="874"/>
                    <a:pt x="908" y="838"/>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icrosoft YaHei" panose="020B0503020204020204" pitchFamily="34" charset="-122"/>
                <a:cs typeface="+mn-cs"/>
              </a:endParaRPr>
            </a:p>
          </p:txBody>
        </p:sp>
      </p:grpSp>
      <p:grpSp>
        <p:nvGrpSpPr>
          <p:cNvPr id="234" name="Group 233"/>
          <p:cNvGrpSpPr>
            <a:grpSpLocks noChangeAspect="1"/>
          </p:cNvGrpSpPr>
          <p:nvPr/>
        </p:nvGrpSpPr>
        <p:grpSpPr>
          <a:xfrm>
            <a:off x="5674116" y="1829893"/>
            <a:ext cx="561899" cy="562420"/>
            <a:chOff x="5273801" y="2606040"/>
            <a:chExt cx="1644396" cy="1645920"/>
          </a:xfrm>
        </p:grpSpPr>
        <p:sp>
          <p:nvSpPr>
            <p:cNvPr id="235" name="AutoShape 18">
              <a:extLst>
                <a:ext uri="{FF2B5EF4-FFF2-40B4-BE49-F238E27FC236}">
                  <a16:creationId xmlns:a16="http://schemas.microsoft.com/office/drawing/2014/main" id="{100AC5BD-F30F-4F9C-94F8-3ECEAAF56365}"/>
                </a:ext>
              </a:extLst>
            </p:cNvPr>
            <p:cNvSpPr>
              <a:spLocks noChangeAspect="1" noChangeArrowheads="1" noTextEdit="1"/>
            </p:cNvSpPr>
            <p:nvPr/>
          </p:nvSpPr>
          <p:spPr bwMode="auto">
            <a:xfrm>
              <a:off x="5273801" y="2606040"/>
              <a:ext cx="1644396" cy="1645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n-ea"/>
                <a:cs typeface="+mn-cs"/>
              </a:endParaRPr>
            </a:p>
          </p:txBody>
        </p:sp>
        <p:grpSp>
          <p:nvGrpSpPr>
            <p:cNvPr id="236" name="Group 235"/>
            <p:cNvGrpSpPr/>
            <p:nvPr/>
          </p:nvGrpSpPr>
          <p:grpSpPr>
            <a:xfrm>
              <a:off x="5388863" y="2953131"/>
              <a:ext cx="1409319" cy="967359"/>
              <a:chOff x="5388863" y="2953131"/>
              <a:chExt cx="1409319" cy="967359"/>
            </a:xfrm>
          </p:grpSpPr>
          <p:sp>
            <p:nvSpPr>
              <p:cNvPr id="237" name="Freeform 20">
                <a:extLst>
                  <a:ext uri="{FF2B5EF4-FFF2-40B4-BE49-F238E27FC236}">
                    <a16:creationId xmlns:a16="http://schemas.microsoft.com/office/drawing/2014/main" id="{D44F01FC-0979-4CF2-A046-0010F3FF82EE}"/>
                  </a:ext>
                </a:extLst>
              </p:cNvPr>
              <p:cNvSpPr>
                <a:spLocks noEditPoints="1"/>
              </p:cNvSpPr>
              <p:nvPr/>
            </p:nvSpPr>
            <p:spPr bwMode="auto">
              <a:xfrm>
                <a:off x="5388863" y="3167634"/>
                <a:ext cx="737235" cy="752856"/>
              </a:xfrm>
              <a:custGeom>
                <a:avLst/>
                <a:gdLst>
                  <a:gd name="T0" fmla="*/ 989 w 1033"/>
                  <a:gd name="T1" fmla="*/ 0 h 1054"/>
                  <a:gd name="T2" fmla="*/ 44 w 1033"/>
                  <a:gd name="T3" fmla="*/ 0 h 1054"/>
                  <a:gd name="T4" fmla="*/ 0 w 1033"/>
                  <a:gd name="T5" fmla="*/ 44 h 1054"/>
                  <a:gd name="T6" fmla="*/ 0 w 1033"/>
                  <a:gd name="T7" fmla="*/ 725 h 1054"/>
                  <a:gd name="T8" fmla="*/ 44 w 1033"/>
                  <a:gd name="T9" fmla="*/ 769 h 1054"/>
                  <a:gd name="T10" fmla="*/ 299 w 1033"/>
                  <a:gd name="T11" fmla="*/ 769 h 1054"/>
                  <a:gd name="T12" fmla="*/ 299 w 1033"/>
                  <a:gd name="T13" fmla="*/ 1010 h 1054"/>
                  <a:gd name="T14" fmla="*/ 300 w 1033"/>
                  <a:gd name="T15" fmla="*/ 1017 h 1054"/>
                  <a:gd name="T16" fmla="*/ 337 w 1033"/>
                  <a:gd name="T17" fmla="*/ 1053 h 1054"/>
                  <a:gd name="T18" fmla="*/ 347 w 1033"/>
                  <a:gd name="T19" fmla="*/ 1054 h 1054"/>
                  <a:gd name="T20" fmla="*/ 401 w 1033"/>
                  <a:gd name="T21" fmla="*/ 1026 h 1054"/>
                  <a:gd name="T22" fmla="*/ 469 w 1033"/>
                  <a:gd name="T23" fmla="*/ 951 h 1054"/>
                  <a:gd name="T24" fmla="*/ 637 w 1033"/>
                  <a:gd name="T25" fmla="*/ 769 h 1054"/>
                  <a:gd name="T26" fmla="*/ 989 w 1033"/>
                  <a:gd name="T27" fmla="*/ 769 h 1054"/>
                  <a:gd name="T28" fmla="*/ 1033 w 1033"/>
                  <a:gd name="T29" fmla="*/ 725 h 1054"/>
                  <a:gd name="T30" fmla="*/ 1033 w 1033"/>
                  <a:gd name="T31" fmla="*/ 44 h 1054"/>
                  <a:gd name="T32" fmla="*/ 989 w 1033"/>
                  <a:gd name="T33" fmla="*/ 0 h 1054"/>
                  <a:gd name="T34" fmla="*/ 832 w 1033"/>
                  <a:gd name="T35" fmla="*/ 552 h 1054"/>
                  <a:gd name="T36" fmla="*/ 201 w 1033"/>
                  <a:gd name="T37" fmla="*/ 552 h 1054"/>
                  <a:gd name="T38" fmla="*/ 179 w 1033"/>
                  <a:gd name="T39" fmla="*/ 530 h 1054"/>
                  <a:gd name="T40" fmla="*/ 201 w 1033"/>
                  <a:gd name="T41" fmla="*/ 508 h 1054"/>
                  <a:gd name="T42" fmla="*/ 832 w 1033"/>
                  <a:gd name="T43" fmla="*/ 508 h 1054"/>
                  <a:gd name="T44" fmla="*/ 854 w 1033"/>
                  <a:gd name="T45" fmla="*/ 530 h 1054"/>
                  <a:gd name="T46" fmla="*/ 832 w 1033"/>
                  <a:gd name="T47" fmla="*/ 552 h 1054"/>
                  <a:gd name="T48" fmla="*/ 832 w 1033"/>
                  <a:gd name="T49" fmla="*/ 415 h 1054"/>
                  <a:gd name="T50" fmla="*/ 201 w 1033"/>
                  <a:gd name="T51" fmla="*/ 415 h 1054"/>
                  <a:gd name="T52" fmla="*/ 179 w 1033"/>
                  <a:gd name="T53" fmla="*/ 393 h 1054"/>
                  <a:gd name="T54" fmla="*/ 201 w 1033"/>
                  <a:gd name="T55" fmla="*/ 371 h 1054"/>
                  <a:gd name="T56" fmla="*/ 832 w 1033"/>
                  <a:gd name="T57" fmla="*/ 371 h 1054"/>
                  <a:gd name="T58" fmla="*/ 854 w 1033"/>
                  <a:gd name="T59" fmla="*/ 393 h 1054"/>
                  <a:gd name="T60" fmla="*/ 832 w 1033"/>
                  <a:gd name="T61" fmla="*/ 415 h 1054"/>
                  <a:gd name="T62" fmla="*/ 832 w 1033"/>
                  <a:gd name="T63" fmla="*/ 279 h 1054"/>
                  <a:gd name="T64" fmla="*/ 201 w 1033"/>
                  <a:gd name="T65" fmla="*/ 279 h 1054"/>
                  <a:gd name="T66" fmla="*/ 179 w 1033"/>
                  <a:gd name="T67" fmla="*/ 257 h 1054"/>
                  <a:gd name="T68" fmla="*/ 201 w 1033"/>
                  <a:gd name="T69" fmla="*/ 235 h 1054"/>
                  <a:gd name="T70" fmla="*/ 832 w 1033"/>
                  <a:gd name="T71" fmla="*/ 235 h 1054"/>
                  <a:gd name="T72" fmla="*/ 854 w 1033"/>
                  <a:gd name="T73" fmla="*/ 257 h 1054"/>
                  <a:gd name="T74" fmla="*/ 832 w 1033"/>
                  <a:gd name="T75" fmla="*/ 279 h 1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33" h="1054">
                    <a:moveTo>
                      <a:pt x="989" y="0"/>
                    </a:moveTo>
                    <a:cubicBezTo>
                      <a:pt x="44" y="0"/>
                      <a:pt x="44" y="0"/>
                      <a:pt x="44" y="0"/>
                    </a:cubicBezTo>
                    <a:cubicBezTo>
                      <a:pt x="20" y="0"/>
                      <a:pt x="0" y="20"/>
                      <a:pt x="0" y="44"/>
                    </a:cubicBezTo>
                    <a:cubicBezTo>
                      <a:pt x="0" y="725"/>
                      <a:pt x="0" y="725"/>
                      <a:pt x="0" y="725"/>
                    </a:cubicBezTo>
                    <a:cubicBezTo>
                      <a:pt x="0" y="750"/>
                      <a:pt x="20" y="769"/>
                      <a:pt x="44" y="769"/>
                    </a:cubicBezTo>
                    <a:cubicBezTo>
                      <a:pt x="299" y="769"/>
                      <a:pt x="299" y="769"/>
                      <a:pt x="299" y="769"/>
                    </a:cubicBezTo>
                    <a:cubicBezTo>
                      <a:pt x="299" y="1010"/>
                      <a:pt x="299" y="1010"/>
                      <a:pt x="299" y="1010"/>
                    </a:cubicBezTo>
                    <a:cubicBezTo>
                      <a:pt x="299" y="1012"/>
                      <a:pt x="299" y="1015"/>
                      <a:pt x="300" y="1017"/>
                    </a:cubicBezTo>
                    <a:cubicBezTo>
                      <a:pt x="301" y="1020"/>
                      <a:pt x="311" y="1047"/>
                      <a:pt x="337" y="1053"/>
                    </a:cubicBezTo>
                    <a:cubicBezTo>
                      <a:pt x="341" y="1054"/>
                      <a:pt x="344" y="1054"/>
                      <a:pt x="347" y="1054"/>
                    </a:cubicBezTo>
                    <a:cubicBezTo>
                      <a:pt x="365" y="1054"/>
                      <a:pt x="383" y="1045"/>
                      <a:pt x="401" y="1026"/>
                    </a:cubicBezTo>
                    <a:cubicBezTo>
                      <a:pt x="414" y="1013"/>
                      <a:pt x="438" y="986"/>
                      <a:pt x="469" y="951"/>
                    </a:cubicBezTo>
                    <a:cubicBezTo>
                      <a:pt x="516" y="899"/>
                      <a:pt x="579" y="829"/>
                      <a:pt x="637" y="769"/>
                    </a:cubicBezTo>
                    <a:cubicBezTo>
                      <a:pt x="989" y="769"/>
                      <a:pt x="989" y="769"/>
                      <a:pt x="989" y="769"/>
                    </a:cubicBezTo>
                    <a:cubicBezTo>
                      <a:pt x="1013" y="769"/>
                      <a:pt x="1033" y="750"/>
                      <a:pt x="1033" y="725"/>
                    </a:cubicBezTo>
                    <a:cubicBezTo>
                      <a:pt x="1033" y="44"/>
                      <a:pt x="1033" y="44"/>
                      <a:pt x="1033" y="44"/>
                    </a:cubicBezTo>
                    <a:cubicBezTo>
                      <a:pt x="1033" y="20"/>
                      <a:pt x="1013" y="0"/>
                      <a:pt x="989" y="0"/>
                    </a:cubicBezTo>
                    <a:close/>
                    <a:moveTo>
                      <a:pt x="832" y="552"/>
                    </a:moveTo>
                    <a:cubicBezTo>
                      <a:pt x="201" y="552"/>
                      <a:pt x="201" y="552"/>
                      <a:pt x="201" y="552"/>
                    </a:cubicBezTo>
                    <a:cubicBezTo>
                      <a:pt x="189" y="552"/>
                      <a:pt x="179" y="543"/>
                      <a:pt x="179" y="530"/>
                    </a:cubicBezTo>
                    <a:cubicBezTo>
                      <a:pt x="179" y="518"/>
                      <a:pt x="189" y="508"/>
                      <a:pt x="201" y="508"/>
                    </a:cubicBezTo>
                    <a:cubicBezTo>
                      <a:pt x="832" y="508"/>
                      <a:pt x="832" y="508"/>
                      <a:pt x="832" y="508"/>
                    </a:cubicBezTo>
                    <a:cubicBezTo>
                      <a:pt x="844" y="508"/>
                      <a:pt x="854" y="518"/>
                      <a:pt x="854" y="530"/>
                    </a:cubicBezTo>
                    <a:cubicBezTo>
                      <a:pt x="854" y="543"/>
                      <a:pt x="844" y="552"/>
                      <a:pt x="832" y="552"/>
                    </a:cubicBezTo>
                    <a:close/>
                    <a:moveTo>
                      <a:pt x="832" y="415"/>
                    </a:moveTo>
                    <a:cubicBezTo>
                      <a:pt x="201" y="415"/>
                      <a:pt x="201" y="415"/>
                      <a:pt x="201" y="415"/>
                    </a:cubicBezTo>
                    <a:cubicBezTo>
                      <a:pt x="189" y="415"/>
                      <a:pt x="179" y="405"/>
                      <a:pt x="179" y="393"/>
                    </a:cubicBezTo>
                    <a:cubicBezTo>
                      <a:pt x="179" y="380"/>
                      <a:pt x="189" y="371"/>
                      <a:pt x="201" y="371"/>
                    </a:cubicBezTo>
                    <a:cubicBezTo>
                      <a:pt x="832" y="371"/>
                      <a:pt x="832" y="371"/>
                      <a:pt x="832" y="371"/>
                    </a:cubicBezTo>
                    <a:cubicBezTo>
                      <a:pt x="844" y="371"/>
                      <a:pt x="854" y="380"/>
                      <a:pt x="854" y="393"/>
                    </a:cubicBezTo>
                    <a:cubicBezTo>
                      <a:pt x="854" y="405"/>
                      <a:pt x="844" y="415"/>
                      <a:pt x="832" y="415"/>
                    </a:cubicBezTo>
                    <a:close/>
                    <a:moveTo>
                      <a:pt x="832" y="279"/>
                    </a:moveTo>
                    <a:cubicBezTo>
                      <a:pt x="201" y="279"/>
                      <a:pt x="201" y="279"/>
                      <a:pt x="201" y="279"/>
                    </a:cubicBezTo>
                    <a:cubicBezTo>
                      <a:pt x="189" y="279"/>
                      <a:pt x="179" y="269"/>
                      <a:pt x="179" y="257"/>
                    </a:cubicBezTo>
                    <a:cubicBezTo>
                      <a:pt x="179" y="245"/>
                      <a:pt x="189" y="235"/>
                      <a:pt x="201" y="235"/>
                    </a:cubicBezTo>
                    <a:cubicBezTo>
                      <a:pt x="832" y="235"/>
                      <a:pt x="832" y="235"/>
                      <a:pt x="832" y="235"/>
                    </a:cubicBezTo>
                    <a:cubicBezTo>
                      <a:pt x="844" y="235"/>
                      <a:pt x="854" y="245"/>
                      <a:pt x="854" y="257"/>
                    </a:cubicBezTo>
                    <a:cubicBezTo>
                      <a:pt x="854" y="269"/>
                      <a:pt x="844" y="279"/>
                      <a:pt x="832" y="279"/>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icrosoft YaHei" panose="020B0503020204020204" pitchFamily="34" charset="-122"/>
                  <a:cs typeface="+mn-cs"/>
                </a:endParaRPr>
              </a:p>
            </p:txBody>
          </p:sp>
          <p:sp>
            <p:nvSpPr>
              <p:cNvPr id="238" name="Freeform 21">
                <a:extLst>
                  <a:ext uri="{FF2B5EF4-FFF2-40B4-BE49-F238E27FC236}">
                    <a16:creationId xmlns:a16="http://schemas.microsoft.com/office/drawing/2014/main" id="{9FEAEA2A-1D9C-469F-A298-EC5C9220C30F}"/>
                  </a:ext>
                </a:extLst>
              </p:cNvPr>
              <p:cNvSpPr>
                <a:spLocks noEditPoints="1"/>
              </p:cNvSpPr>
              <p:nvPr/>
            </p:nvSpPr>
            <p:spPr bwMode="auto">
              <a:xfrm>
                <a:off x="6060947" y="2953131"/>
                <a:ext cx="737235" cy="752856"/>
              </a:xfrm>
              <a:custGeom>
                <a:avLst/>
                <a:gdLst>
                  <a:gd name="T0" fmla="*/ 1033 w 1033"/>
                  <a:gd name="T1" fmla="*/ 44 h 1054"/>
                  <a:gd name="T2" fmla="*/ 1033 w 1033"/>
                  <a:gd name="T3" fmla="*/ 725 h 1054"/>
                  <a:gd name="T4" fmla="*/ 989 w 1033"/>
                  <a:gd name="T5" fmla="*/ 769 h 1054"/>
                  <a:gd name="T6" fmla="*/ 734 w 1033"/>
                  <a:gd name="T7" fmla="*/ 769 h 1054"/>
                  <a:gd name="T8" fmla="*/ 734 w 1033"/>
                  <a:gd name="T9" fmla="*/ 1010 h 1054"/>
                  <a:gd name="T10" fmla="*/ 733 w 1033"/>
                  <a:gd name="T11" fmla="*/ 1017 h 1054"/>
                  <a:gd name="T12" fmla="*/ 696 w 1033"/>
                  <a:gd name="T13" fmla="*/ 1053 h 1054"/>
                  <a:gd name="T14" fmla="*/ 686 w 1033"/>
                  <a:gd name="T15" fmla="*/ 1054 h 1054"/>
                  <a:gd name="T16" fmla="*/ 632 w 1033"/>
                  <a:gd name="T17" fmla="*/ 1025 h 1054"/>
                  <a:gd name="T18" fmla="*/ 564 w 1033"/>
                  <a:gd name="T19" fmla="*/ 951 h 1054"/>
                  <a:gd name="T20" fmla="*/ 396 w 1033"/>
                  <a:gd name="T21" fmla="*/ 769 h 1054"/>
                  <a:gd name="T22" fmla="*/ 135 w 1033"/>
                  <a:gd name="T23" fmla="*/ 769 h 1054"/>
                  <a:gd name="T24" fmla="*/ 135 w 1033"/>
                  <a:gd name="T25" fmla="*/ 725 h 1054"/>
                  <a:gd name="T26" fmla="*/ 405 w 1033"/>
                  <a:gd name="T27" fmla="*/ 725 h 1054"/>
                  <a:gd name="T28" fmla="*/ 421 w 1033"/>
                  <a:gd name="T29" fmla="*/ 732 h 1054"/>
                  <a:gd name="T30" fmla="*/ 597 w 1033"/>
                  <a:gd name="T31" fmla="*/ 922 h 1054"/>
                  <a:gd name="T32" fmla="*/ 663 w 1033"/>
                  <a:gd name="T33" fmla="*/ 994 h 1054"/>
                  <a:gd name="T34" fmla="*/ 686 w 1033"/>
                  <a:gd name="T35" fmla="*/ 1010 h 1054"/>
                  <a:gd name="T36" fmla="*/ 690 w 1033"/>
                  <a:gd name="T37" fmla="*/ 1005 h 1054"/>
                  <a:gd name="T38" fmla="*/ 690 w 1033"/>
                  <a:gd name="T39" fmla="*/ 747 h 1054"/>
                  <a:gd name="T40" fmla="*/ 712 w 1033"/>
                  <a:gd name="T41" fmla="*/ 725 h 1054"/>
                  <a:gd name="T42" fmla="*/ 989 w 1033"/>
                  <a:gd name="T43" fmla="*/ 725 h 1054"/>
                  <a:gd name="T44" fmla="*/ 989 w 1033"/>
                  <a:gd name="T45" fmla="*/ 44 h 1054"/>
                  <a:gd name="T46" fmla="*/ 44 w 1033"/>
                  <a:gd name="T47" fmla="*/ 44 h 1054"/>
                  <a:gd name="T48" fmla="*/ 44 w 1033"/>
                  <a:gd name="T49" fmla="*/ 256 h 1054"/>
                  <a:gd name="T50" fmla="*/ 0 w 1033"/>
                  <a:gd name="T51" fmla="*/ 256 h 1054"/>
                  <a:gd name="T52" fmla="*/ 0 w 1033"/>
                  <a:gd name="T53" fmla="*/ 44 h 1054"/>
                  <a:gd name="T54" fmla="*/ 44 w 1033"/>
                  <a:gd name="T55" fmla="*/ 0 h 1054"/>
                  <a:gd name="T56" fmla="*/ 989 w 1033"/>
                  <a:gd name="T57" fmla="*/ 0 h 1054"/>
                  <a:gd name="T58" fmla="*/ 1033 w 1033"/>
                  <a:gd name="T59" fmla="*/ 44 h 1054"/>
                  <a:gd name="T60" fmla="*/ 835 w 1033"/>
                  <a:gd name="T61" fmla="*/ 247 h 1054"/>
                  <a:gd name="T62" fmla="*/ 813 w 1033"/>
                  <a:gd name="T63" fmla="*/ 225 h 1054"/>
                  <a:gd name="T64" fmla="*/ 220 w 1033"/>
                  <a:gd name="T65" fmla="*/ 225 h 1054"/>
                  <a:gd name="T66" fmla="*/ 198 w 1033"/>
                  <a:gd name="T67" fmla="*/ 247 h 1054"/>
                  <a:gd name="T68" fmla="*/ 220 w 1033"/>
                  <a:gd name="T69" fmla="*/ 269 h 1054"/>
                  <a:gd name="T70" fmla="*/ 813 w 1033"/>
                  <a:gd name="T71" fmla="*/ 269 h 1054"/>
                  <a:gd name="T72" fmla="*/ 835 w 1033"/>
                  <a:gd name="T73" fmla="*/ 247 h 1054"/>
                  <a:gd name="T74" fmla="*/ 835 w 1033"/>
                  <a:gd name="T75" fmla="*/ 383 h 1054"/>
                  <a:gd name="T76" fmla="*/ 813 w 1033"/>
                  <a:gd name="T77" fmla="*/ 361 h 1054"/>
                  <a:gd name="T78" fmla="*/ 220 w 1033"/>
                  <a:gd name="T79" fmla="*/ 361 h 1054"/>
                  <a:gd name="T80" fmla="*/ 198 w 1033"/>
                  <a:gd name="T81" fmla="*/ 383 h 1054"/>
                  <a:gd name="T82" fmla="*/ 220 w 1033"/>
                  <a:gd name="T83" fmla="*/ 405 h 1054"/>
                  <a:gd name="T84" fmla="*/ 813 w 1033"/>
                  <a:gd name="T85" fmla="*/ 405 h 1054"/>
                  <a:gd name="T86" fmla="*/ 835 w 1033"/>
                  <a:gd name="T87" fmla="*/ 383 h 1054"/>
                  <a:gd name="T88" fmla="*/ 835 w 1033"/>
                  <a:gd name="T89" fmla="*/ 521 h 1054"/>
                  <a:gd name="T90" fmla="*/ 813 w 1033"/>
                  <a:gd name="T91" fmla="*/ 499 h 1054"/>
                  <a:gd name="T92" fmla="*/ 220 w 1033"/>
                  <a:gd name="T93" fmla="*/ 499 h 1054"/>
                  <a:gd name="T94" fmla="*/ 198 w 1033"/>
                  <a:gd name="T95" fmla="*/ 521 h 1054"/>
                  <a:gd name="T96" fmla="*/ 220 w 1033"/>
                  <a:gd name="T97" fmla="*/ 543 h 1054"/>
                  <a:gd name="T98" fmla="*/ 813 w 1033"/>
                  <a:gd name="T99" fmla="*/ 543 h 1054"/>
                  <a:gd name="T100" fmla="*/ 835 w 1033"/>
                  <a:gd name="T101" fmla="*/ 521 h 1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33" h="1054">
                    <a:moveTo>
                      <a:pt x="1033" y="44"/>
                    </a:moveTo>
                    <a:cubicBezTo>
                      <a:pt x="1033" y="725"/>
                      <a:pt x="1033" y="725"/>
                      <a:pt x="1033" y="725"/>
                    </a:cubicBezTo>
                    <a:cubicBezTo>
                      <a:pt x="1033" y="750"/>
                      <a:pt x="1013" y="769"/>
                      <a:pt x="989" y="769"/>
                    </a:cubicBezTo>
                    <a:cubicBezTo>
                      <a:pt x="734" y="769"/>
                      <a:pt x="734" y="769"/>
                      <a:pt x="734" y="769"/>
                    </a:cubicBezTo>
                    <a:cubicBezTo>
                      <a:pt x="734" y="1010"/>
                      <a:pt x="734" y="1010"/>
                      <a:pt x="734" y="1010"/>
                    </a:cubicBezTo>
                    <a:cubicBezTo>
                      <a:pt x="734" y="1012"/>
                      <a:pt x="734" y="1015"/>
                      <a:pt x="733" y="1017"/>
                    </a:cubicBezTo>
                    <a:cubicBezTo>
                      <a:pt x="732" y="1020"/>
                      <a:pt x="722" y="1047"/>
                      <a:pt x="696" y="1053"/>
                    </a:cubicBezTo>
                    <a:cubicBezTo>
                      <a:pt x="693" y="1054"/>
                      <a:pt x="689" y="1054"/>
                      <a:pt x="686" y="1054"/>
                    </a:cubicBezTo>
                    <a:cubicBezTo>
                      <a:pt x="668" y="1054"/>
                      <a:pt x="650" y="1044"/>
                      <a:pt x="632" y="1025"/>
                    </a:cubicBezTo>
                    <a:cubicBezTo>
                      <a:pt x="619" y="1013"/>
                      <a:pt x="595" y="985"/>
                      <a:pt x="564" y="951"/>
                    </a:cubicBezTo>
                    <a:cubicBezTo>
                      <a:pt x="517" y="899"/>
                      <a:pt x="454" y="829"/>
                      <a:pt x="396" y="769"/>
                    </a:cubicBezTo>
                    <a:cubicBezTo>
                      <a:pt x="135" y="769"/>
                      <a:pt x="135" y="769"/>
                      <a:pt x="135" y="769"/>
                    </a:cubicBezTo>
                    <a:cubicBezTo>
                      <a:pt x="135" y="725"/>
                      <a:pt x="135" y="725"/>
                      <a:pt x="135" y="725"/>
                    </a:cubicBezTo>
                    <a:cubicBezTo>
                      <a:pt x="405" y="725"/>
                      <a:pt x="405" y="725"/>
                      <a:pt x="405" y="725"/>
                    </a:cubicBezTo>
                    <a:cubicBezTo>
                      <a:pt x="411" y="725"/>
                      <a:pt x="417" y="728"/>
                      <a:pt x="421" y="732"/>
                    </a:cubicBezTo>
                    <a:cubicBezTo>
                      <a:pt x="481" y="793"/>
                      <a:pt x="548" y="867"/>
                      <a:pt x="597" y="922"/>
                    </a:cubicBezTo>
                    <a:cubicBezTo>
                      <a:pt x="627" y="956"/>
                      <a:pt x="651" y="982"/>
                      <a:pt x="663" y="994"/>
                    </a:cubicBezTo>
                    <a:cubicBezTo>
                      <a:pt x="677" y="1008"/>
                      <a:pt x="684" y="1010"/>
                      <a:pt x="686" y="1010"/>
                    </a:cubicBezTo>
                    <a:cubicBezTo>
                      <a:pt x="687" y="1010"/>
                      <a:pt x="689" y="1008"/>
                      <a:pt x="690" y="1005"/>
                    </a:cubicBezTo>
                    <a:cubicBezTo>
                      <a:pt x="690" y="747"/>
                      <a:pt x="690" y="747"/>
                      <a:pt x="690" y="747"/>
                    </a:cubicBezTo>
                    <a:cubicBezTo>
                      <a:pt x="690" y="735"/>
                      <a:pt x="700" y="725"/>
                      <a:pt x="712" y="725"/>
                    </a:cubicBezTo>
                    <a:cubicBezTo>
                      <a:pt x="989" y="725"/>
                      <a:pt x="989" y="725"/>
                      <a:pt x="989" y="725"/>
                    </a:cubicBezTo>
                    <a:cubicBezTo>
                      <a:pt x="989" y="44"/>
                      <a:pt x="989" y="44"/>
                      <a:pt x="989" y="44"/>
                    </a:cubicBezTo>
                    <a:cubicBezTo>
                      <a:pt x="44" y="44"/>
                      <a:pt x="44" y="44"/>
                      <a:pt x="44" y="44"/>
                    </a:cubicBezTo>
                    <a:cubicBezTo>
                      <a:pt x="44" y="256"/>
                      <a:pt x="44" y="256"/>
                      <a:pt x="44" y="256"/>
                    </a:cubicBezTo>
                    <a:cubicBezTo>
                      <a:pt x="0" y="256"/>
                      <a:pt x="0" y="256"/>
                      <a:pt x="0" y="256"/>
                    </a:cubicBezTo>
                    <a:cubicBezTo>
                      <a:pt x="0" y="44"/>
                      <a:pt x="0" y="44"/>
                      <a:pt x="0" y="44"/>
                    </a:cubicBezTo>
                    <a:cubicBezTo>
                      <a:pt x="0" y="20"/>
                      <a:pt x="20" y="0"/>
                      <a:pt x="44" y="0"/>
                    </a:cubicBezTo>
                    <a:cubicBezTo>
                      <a:pt x="989" y="0"/>
                      <a:pt x="989" y="0"/>
                      <a:pt x="989" y="0"/>
                    </a:cubicBezTo>
                    <a:cubicBezTo>
                      <a:pt x="1013" y="0"/>
                      <a:pt x="1033" y="20"/>
                      <a:pt x="1033" y="44"/>
                    </a:cubicBezTo>
                    <a:close/>
                    <a:moveTo>
                      <a:pt x="835" y="247"/>
                    </a:moveTo>
                    <a:cubicBezTo>
                      <a:pt x="835" y="235"/>
                      <a:pt x="826" y="225"/>
                      <a:pt x="813" y="225"/>
                    </a:cubicBezTo>
                    <a:cubicBezTo>
                      <a:pt x="220" y="225"/>
                      <a:pt x="220" y="225"/>
                      <a:pt x="220" y="225"/>
                    </a:cubicBezTo>
                    <a:cubicBezTo>
                      <a:pt x="208" y="225"/>
                      <a:pt x="198" y="235"/>
                      <a:pt x="198" y="247"/>
                    </a:cubicBezTo>
                    <a:cubicBezTo>
                      <a:pt x="198" y="259"/>
                      <a:pt x="208" y="269"/>
                      <a:pt x="220" y="269"/>
                    </a:cubicBezTo>
                    <a:cubicBezTo>
                      <a:pt x="813" y="269"/>
                      <a:pt x="813" y="269"/>
                      <a:pt x="813" y="269"/>
                    </a:cubicBezTo>
                    <a:cubicBezTo>
                      <a:pt x="826" y="269"/>
                      <a:pt x="835" y="259"/>
                      <a:pt x="835" y="247"/>
                    </a:cubicBezTo>
                    <a:close/>
                    <a:moveTo>
                      <a:pt x="835" y="383"/>
                    </a:moveTo>
                    <a:cubicBezTo>
                      <a:pt x="835" y="371"/>
                      <a:pt x="826" y="361"/>
                      <a:pt x="813" y="361"/>
                    </a:cubicBezTo>
                    <a:cubicBezTo>
                      <a:pt x="220" y="361"/>
                      <a:pt x="220" y="361"/>
                      <a:pt x="220" y="361"/>
                    </a:cubicBezTo>
                    <a:cubicBezTo>
                      <a:pt x="208" y="361"/>
                      <a:pt x="198" y="371"/>
                      <a:pt x="198" y="383"/>
                    </a:cubicBezTo>
                    <a:cubicBezTo>
                      <a:pt x="198" y="395"/>
                      <a:pt x="208" y="405"/>
                      <a:pt x="220" y="405"/>
                    </a:cubicBezTo>
                    <a:cubicBezTo>
                      <a:pt x="813" y="405"/>
                      <a:pt x="813" y="405"/>
                      <a:pt x="813" y="405"/>
                    </a:cubicBezTo>
                    <a:cubicBezTo>
                      <a:pt x="826" y="405"/>
                      <a:pt x="835" y="395"/>
                      <a:pt x="835" y="383"/>
                    </a:cubicBezTo>
                    <a:close/>
                    <a:moveTo>
                      <a:pt x="835" y="521"/>
                    </a:moveTo>
                    <a:cubicBezTo>
                      <a:pt x="835" y="508"/>
                      <a:pt x="826" y="499"/>
                      <a:pt x="813" y="499"/>
                    </a:cubicBezTo>
                    <a:cubicBezTo>
                      <a:pt x="220" y="499"/>
                      <a:pt x="220" y="499"/>
                      <a:pt x="220" y="499"/>
                    </a:cubicBezTo>
                    <a:cubicBezTo>
                      <a:pt x="208" y="499"/>
                      <a:pt x="198" y="508"/>
                      <a:pt x="198" y="521"/>
                    </a:cubicBezTo>
                    <a:cubicBezTo>
                      <a:pt x="198" y="533"/>
                      <a:pt x="208" y="543"/>
                      <a:pt x="220" y="543"/>
                    </a:cubicBezTo>
                    <a:cubicBezTo>
                      <a:pt x="813" y="543"/>
                      <a:pt x="813" y="543"/>
                      <a:pt x="813" y="543"/>
                    </a:cubicBezTo>
                    <a:cubicBezTo>
                      <a:pt x="826" y="543"/>
                      <a:pt x="835" y="533"/>
                      <a:pt x="835" y="52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icrosoft YaHei" panose="020B0503020204020204" pitchFamily="34" charset="-122"/>
                  <a:cs typeface="+mn-cs"/>
                </a:endParaRPr>
              </a:p>
            </p:txBody>
          </p:sp>
        </p:grpSp>
      </p:grpSp>
      <p:grpSp>
        <p:nvGrpSpPr>
          <p:cNvPr id="239" name="Group 238"/>
          <p:cNvGrpSpPr>
            <a:grpSpLocks noChangeAspect="1"/>
          </p:cNvGrpSpPr>
          <p:nvPr/>
        </p:nvGrpSpPr>
        <p:grpSpPr>
          <a:xfrm>
            <a:off x="10661236" y="1829893"/>
            <a:ext cx="562420" cy="562420"/>
            <a:chOff x="5166741" y="2647950"/>
            <a:chExt cx="1645920" cy="1645920"/>
          </a:xfrm>
        </p:grpSpPr>
        <p:sp>
          <p:nvSpPr>
            <p:cNvPr id="240" name="AutoShape 3"/>
            <p:cNvSpPr>
              <a:spLocks noChangeAspect="1" noChangeArrowheads="1" noTextEdit="1"/>
            </p:cNvSpPr>
            <p:nvPr/>
          </p:nvSpPr>
          <p:spPr bwMode="auto">
            <a:xfrm>
              <a:off x="5166741" y="2647950"/>
              <a:ext cx="1645920" cy="1645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n-ea"/>
                <a:cs typeface="+mn-cs"/>
              </a:endParaRPr>
            </a:p>
          </p:txBody>
        </p:sp>
        <p:grpSp>
          <p:nvGrpSpPr>
            <p:cNvPr id="241" name="Group 240"/>
            <p:cNvGrpSpPr/>
            <p:nvPr/>
          </p:nvGrpSpPr>
          <p:grpSpPr>
            <a:xfrm>
              <a:off x="5319903" y="2905506"/>
              <a:ext cx="1339596" cy="1130808"/>
              <a:chOff x="5319903" y="2905506"/>
              <a:chExt cx="1339596" cy="1130808"/>
            </a:xfrm>
          </p:grpSpPr>
          <p:sp>
            <p:nvSpPr>
              <p:cNvPr id="242" name="Freeform 5"/>
              <p:cNvSpPr>
                <a:spLocks noEditPoints="1"/>
              </p:cNvSpPr>
              <p:nvPr/>
            </p:nvSpPr>
            <p:spPr bwMode="auto">
              <a:xfrm>
                <a:off x="5319903" y="3033903"/>
                <a:ext cx="1339596" cy="1002411"/>
              </a:xfrm>
              <a:custGeom>
                <a:avLst/>
                <a:gdLst>
                  <a:gd name="T0" fmla="*/ 577 w 1875"/>
                  <a:gd name="T1" fmla="*/ 1154 h 1403"/>
                  <a:gd name="T2" fmla="*/ 419 w 1875"/>
                  <a:gd name="T3" fmla="*/ 1313 h 1403"/>
                  <a:gd name="T4" fmla="*/ 90 w 1875"/>
                  <a:gd name="T5" fmla="*/ 984 h 1403"/>
                  <a:gd name="T6" fmla="*/ 249 w 1875"/>
                  <a:gd name="T7" fmla="*/ 826 h 1403"/>
                  <a:gd name="T8" fmla="*/ 298 w 1875"/>
                  <a:gd name="T9" fmla="*/ 992 h 1403"/>
                  <a:gd name="T10" fmla="*/ 281 w 1875"/>
                  <a:gd name="T11" fmla="*/ 1021 h 1403"/>
                  <a:gd name="T12" fmla="*/ 205 w 1875"/>
                  <a:gd name="T13" fmla="*/ 1198 h 1403"/>
                  <a:gd name="T14" fmla="*/ 384 w 1875"/>
                  <a:gd name="T15" fmla="*/ 1119 h 1403"/>
                  <a:gd name="T16" fmla="*/ 413 w 1875"/>
                  <a:gd name="T17" fmla="*/ 1107 h 1403"/>
                  <a:gd name="T18" fmla="*/ 528 w 1875"/>
                  <a:gd name="T19" fmla="*/ 788 h 1403"/>
                  <a:gd name="T20" fmla="*/ 413 w 1875"/>
                  <a:gd name="T21" fmla="*/ 330 h 1403"/>
                  <a:gd name="T22" fmla="*/ 483 w 1875"/>
                  <a:gd name="T23" fmla="*/ 269 h 1403"/>
                  <a:gd name="T24" fmla="*/ 248 w 1875"/>
                  <a:gd name="T25" fmla="*/ 262 h 1403"/>
                  <a:gd name="T26" fmla="*/ 298 w 1875"/>
                  <a:gd name="T27" fmla="*/ 649 h 1403"/>
                  <a:gd name="T28" fmla="*/ 413 w 1875"/>
                  <a:gd name="T29" fmla="*/ 330 h 1403"/>
                  <a:gd name="T30" fmla="*/ 596 w 1875"/>
                  <a:gd name="T31" fmla="*/ 611 h 1403"/>
                  <a:gd name="T32" fmla="*/ 591 w 1875"/>
                  <a:gd name="T33" fmla="*/ 373 h 1403"/>
                  <a:gd name="T34" fmla="*/ 528 w 1875"/>
                  <a:gd name="T35" fmla="*/ 445 h 1403"/>
                  <a:gd name="T36" fmla="*/ 528 w 1875"/>
                  <a:gd name="T37" fmla="*/ 788 h 1403"/>
                  <a:gd name="T38" fmla="*/ 1804 w 1875"/>
                  <a:gd name="T39" fmla="*/ 140 h 1403"/>
                  <a:gd name="T40" fmla="*/ 1390 w 1875"/>
                  <a:gd name="T41" fmla="*/ 132 h 1403"/>
                  <a:gd name="T42" fmla="*/ 1248 w 1875"/>
                  <a:gd name="T43" fmla="*/ 235 h 1403"/>
                  <a:gd name="T44" fmla="*/ 1460 w 1875"/>
                  <a:gd name="T45" fmla="*/ 280 h 1403"/>
                  <a:gd name="T46" fmla="*/ 1571 w 1875"/>
                  <a:gd name="T47" fmla="*/ 207 h 1403"/>
                  <a:gd name="T48" fmla="*/ 1648 w 1875"/>
                  <a:gd name="T49" fmla="*/ 326 h 1403"/>
                  <a:gd name="T50" fmla="*/ 1539 w 1875"/>
                  <a:gd name="T51" fmla="*/ 398 h 1403"/>
                  <a:gd name="T52" fmla="*/ 1401 w 1875"/>
                  <a:gd name="T53" fmla="*/ 502 h 1403"/>
                  <a:gd name="T54" fmla="*/ 1228 w 1875"/>
                  <a:gd name="T55" fmla="*/ 516 h 1403"/>
                  <a:gd name="T56" fmla="*/ 1644 w 1875"/>
                  <a:gd name="T57" fmla="*/ 522 h 1403"/>
                  <a:gd name="T58" fmla="*/ 1804 w 1875"/>
                  <a:gd name="T59" fmla="*/ 140 h 1403"/>
                  <a:gd name="T60" fmla="*/ 1119 w 1875"/>
                  <a:gd name="T61" fmla="*/ 208 h 1403"/>
                  <a:gd name="T62" fmla="*/ 748 w 1875"/>
                  <a:gd name="T63" fmla="*/ 74 h 1403"/>
                  <a:gd name="T64" fmla="*/ 707 w 1875"/>
                  <a:gd name="T65" fmla="*/ 306 h 1403"/>
                  <a:gd name="T66" fmla="*/ 777 w 1875"/>
                  <a:gd name="T67" fmla="*/ 253 h 1403"/>
                  <a:gd name="T68" fmla="*/ 858 w 1875"/>
                  <a:gd name="T69" fmla="*/ 387 h 1403"/>
                  <a:gd name="T70" fmla="*/ 896 w 1875"/>
                  <a:gd name="T71" fmla="*/ 567 h 1403"/>
                  <a:gd name="T72" fmla="*/ 1077 w 1875"/>
                  <a:gd name="T73" fmla="*/ 434 h 1403"/>
                  <a:gd name="T74" fmla="*/ 858 w 1875"/>
                  <a:gd name="T75" fmla="*/ 387 h 1403"/>
                  <a:gd name="T76" fmla="*/ 1416 w 1875"/>
                  <a:gd name="T77" fmla="*/ 460 h 1403"/>
                  <a:gd name="T78" fmla="*/ 1403 w 1875"/>
                  <a:gd name="T79" fmla="*/ 457 h 1403"/>
                  <a:gd name="T80" fmla="*/ 1473 w 1875"/>
                  <a:gd name="T81" fmla="*/ 440 h 1403"/>
                  <a:gd name="T82" fmla="*/ 1416 w 1875"/>
                  <a:gd name="T83" fmla="*/ 460 h 1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5" h="1403">
                    <a:moveTo>
                      <a:pt x="577" y="826"/>
                    </a:moveTo>
                    <a:cubicBezTo>
                      <a:pt x="668" y="916"/>
                      <a:pt x="668" y="1064"/>
                      <a:pt x="577" y="1154"/>
                    </a:cubicBezTo>
                    <a:cubicBezTo>
                      <a:pt x="497" y="1235"/>
                      <a:pt x="497" y="1235"/>
                      <a:pt x="497" y="1235"/>
                    </a:cubicBezTo>
                    <a:cubicBezTo>
                      <a:pt x="419" y="1313"/>
                      <a:pt x="419" y="1313"/>
                      <a:pt x="419" y="1313"/>
                    </a:cubicBezTo>
                    <a:cubicBezTo>
                      <a:pt x="328" y="1403"/>
                      <a:pt x="181" y="1403"/>
                      <a:pt x="90" y="1313"/>
                    </a:cubicBezTo>
                    <a:cubicBezTo>
                      <a:pt x="0" y="1222"/>
                      <a:pt x="0" y="1075"/>
                      <a:pt x="90" y="984"/>
                    </a:cubicBezTo>
                    <a:cubicBezTo>
                      <a:pt x="168" y="906"/>
                      <a:pt x="168" y="906"/>
                      <a:pt x="168" y="906"/>
                    </a:cubicBezTo>
                    <a:cubicBezTo>
                      <a:pt x="249" y="826"/>
                      <a:pt x="249" y="826"/>
                      <a:pt x="249" y="826"/>
                    </a:cubicBezTo>
                    <a:cubicBezTo>
                      <a:pt x="264" y="811"/>
                      <a:pt x="280" y="798"/>
                      <a:pt x="298" y="788"/>
                    </a:cubicBezTo>
                    <a:cubicBezTo>
                      <a:pt x="298" y="992"/>
                      <a:pt x="298" y="992"/>
                      <a:pt x="298" y="992"/>
                    </a:cubicBezTo>
                    <a:cubicBezTo>
                      <a:pt x="298" y="996"/>
                      <a:pt x="298" y="1000"/>
                      <a:pt x="299" y="1004"/>
                    </a:cubicBezTo>
                    <a:cubicBezTo>
                      <a:pt x="281" y="1021"/>
                      <a:pt x="281" y="1021"/>
                      <a:pt x="281" y="1021"/>
                    </a:cubicBezTo>
                    <a:cubicBezTo>
                      <a:pt x="205" y="1098"/>
                      <a:pt x="205" y="1098"/>
                      <a:pt x="205" y="1098"/>
                    </a:cubicBezTo>
                    <a:cubicBezTo>
                      <a:pt x="177" y="1126"/>
                      <a:pt x="177" y="1171"/>
                      <a:pt x="205" y="1198"/>
                    </a:cubicBezTo>
                    <a:cubicBezTo>
                      <a:pt x="232" y="1226"/>
                      <a:pt x="277" y="1226"/>
                      <a:pt x="305" y="1198"/>
                    </a:cubicBezTo>
                    <a:cubicBezTo>
                      <a:pt x="384" y="1119"/>
                      <a:pt x="384" y="1119"/>
                      <a:pt x="384" y="1119"/>
                    </a:cubicBezTo>
                    <a:cubicBezTo>
                      <a:pt x="397" y="1106"/>
                      <a:pt x="397" y="1106"/>
                      <a:pt x="397" y="1106"/>
                    </a:cubicBezTo>
                    <a:cubicBezTo>
                      <a:pt x="402" y="1106"/>
                      <a:pt x="408" y="1107"/>
                      <a:pt x="413" y="1107"/>
                    </a:cubicBezTo>
                    <a:cubicBezTo>
                      <a:pt x="476" y="1107"/>
                      <a:pt x="528" y="1055"/>
                      <a:pt x="528" y="992"/>
                    </a:cubicBezTo>
                    <a:cubicBezTo>
                      <a:pt x="528" y="788"/>
                      <a:pt x="528" y="788"/>
                      <a:pt x="528" y="788"/>
                    </a:cubicBezTo>
                    <a:cubicBezTo>
                      <a:pt x="545" y="798"/>
                      <a:pt x="562" y="810"/>
                      <a:pt x="577" y="826"/>
                    </a:cubicBezTo>
                    <a:close/>
                    <a:moveTo>
                      <a:pt x="413" y="330"/>
                    </a:moveTo>
                    <a:cubicBezTo>
                      <a:pt x="416" y="330"/>
                      <a:pt x="419" y="330"/>
                      <a:pt x="421" y="330"/>
                    </a:cubicBezTo>
                    <a:cubicBezTo>
                      <a:pt x="483" y="269"/>
                      <a:pt x="483" y="269"/>
                      <a:pt x="483" y="269"/>
                    </a:cubicBezTo>
                    <a:cubicBezTo>
                      <a:pt x="350" y="159"/>
                      <a:pt x="350" y="159"/>
                      <a:pt x="350" y="159"/>
                    </a:cubicBezTo>
                    <a:cubicBezTo>
                      <a:pt x="248" y="262"/>
                      <a:pt x="248" y="262"/>
                      <a:pt x="248" y="262"/>
                    </a:cubicBezTo>
                    <a:cubicBezTo>
                      <a:pt x="151" y="358"/>
                      <a:pt x="151" y="514"/>
                      <a:pt x="248" y="611"/>
                    </a:cubicBezTo>
                    <a:cubicBezTo>
                      <a:pt x="263" y="626"/>
                      <a:pt x="280" y="639"/>
                      <a:pt x="298" y="649"/>
                    </a:cubicBezTo>
                    <a:cubicBezTo>
                      <a:pt x="298" y="445"/>
                      <a:pt x="298" y="445"/>
                      <a:pt x="298" y="445"/>
                    </a:cubicBezTo>
                    <a:cubicBezTo>
                      <a:pt x="298" y="382"/>
                      <a:pt x="349" y="330"/>
                      <a:pt x="413" y="330"/>
                    </a:cubicBezTo>
                    <a:close/>
                    <a:moveTo>
                      <a:pt x="528" y="659"/>
                    </a:moveTo>
                    <a:cubicBezTo>
                      <a:pt x="553" y="647"/>
                      <a:pt x="576" y="631"/>
                      <a:pt x="596" y="611"/>
                    </a:cubicBezTo>
                    <a:cubicBezTo>
                      <a:pt x="699" y="508"/>
                      <a:pt x="699" y="508"/>
                      <a:pt x="699" y="508"/>
                    </a:cubicBezTo>
                    <a:cubicBezTo>
                      <a:pt x="591" y="373"/>
                      <a:pt x="591" y="373"/>
                      <a:pt x="591" y="373"/>
                    </a:cubicBezTo>
                    <a:cubicBezTo>
                      <a:pt x="527" y="437"/>
                      <a:pt x="527" y="437"/>
                      <a:pt x="527" y="437"/>
                    </a:cubicBezTo>
                    <a:cubicBezTo>
                      <a:pt x="528" y="440"/>
                      <a:pt x="528" y="442"/>
                      <a:pt x="528" y="445"/>
                    </a:cubicBezTo>
                    <a:lnTo>
                      <a:pt x="528" y="659"/>
                    </a:lnTo>
                    <a:close/>
                    <a:moveTo>
                      <a:pt x="528" y="788"/>
                    </a:moveTo>
                    <a:cubicBezTo>
                      <a:pt x="528" y="788"/>
                      <a:pt x="528" y="788"/>
                      <a:pt x="528" y="788"/>
                    </a:cubicBezTo>
                    <a:moveTo>
                      <a:pt x="1804" y="140"/>
                    </a:moveTo>
                    <a:cubicBezTo>
                      <a:pt x="1734" y="32"/>
                      <a:pt x="1590" y="2"/>
                      <a:pt x="1483" y="72"/>
                    </a:cubicBezTo>
                    <a:cubicBezTo>
                      <a:pt x="1390" y="132"/>
                      <a:pt x="1390" y="132"/>
                      <a:pt x="1390" y="132"/>
                    </a:cubicBezTo>
                    <a:cubicBezTo>
                      <a:pt x="1295" y="194"/>
                      <a:pt x="1295" y="194"/>
                      <a:pt x="1295" y="194"/>
                    </a:cubicBezTo>
                    <a:cubicBezTo>
                      <a:pt x="1277" y="206"/>
                      <a:pt x="1262" y="220"/>
                      <a:pt x="1248" y="235"/>
                    </a:cubicBezTo>
                    <a:cubicBezTo>
                      <a:pt x="1448" y="277"/>
                      <a:pt x="1448" y="277"/>
                      <a:pt x="1448" y="277"/>
                    </a:cubicBezTo>
                    <a:cubicBezTo>
                      <a:pt x="1452" y="278"/>
                      <a:pt x="1456" y="279"/>
                      <a:pt x="1460" y="280"/>
                    </a:cubicBezTo>
                    <a:cubicBezTo>
                      <a:pt x="1480" y="267"/>
                      <a:pt x="1480" y="267"/>
                      <a:pt x="1480" y="267"/>
                    </a:cubicBezTo>
                    <a:cubicBezTo>
                      <a:pt x="1571" y="207"/>
                      <a:pt x="1571" y="207"/>
                      <a:pt x="1571" y="207"/>
                    </a:cubicBezTo>
                    <a:cubicBezTo>
                      <a:pt x="1604" y="186"/>
                      <a:pt x="1648" y="195"/>
                      <a:pt x="1669" y="228"/>
                    </a:cubicBezTo>
                    <a:cubicBezTo>
                      <a:pt x="1690" y="261"/>
                      <a:pt x="1681" y="305"/>
                      <a:pt x="1648" y="326"/>
                    </a:cubicBezTo>
                    <a:cubicBezTo>
                      <a:pt x="1555" y="387"/>
                      <a:pt x="1555" y="387"/>
                      <a:pt x="1555" y="387"/>
                    </a:cubicBezTo>
                    <a:cubicBezTo>
                      <a:pt x="1539" y="398"/>
                      <a:pt x="1539" y="398"/>
                      <a:pt x="1539" y="398"/>
                    </a:cubicBezTo>
                    <a:cubicBezTo>
                      <a:pt x="1538" y="403"/>
                      <a:pt x="1538" y="408"/>
                      <a:pt x="1537" y="413"/>
                    </a:cubicBezTo>
                    <a:cubicBezTo>
                      <a:pt x="1524" y="475"/>
                      <a:pt x="1463" y="515"/>
                      <a:pt x="1401" y="502"/>
                    </a:cubicBezTo>
                    <a:cubicBezTo>
                      <a:pt x="1201" y="460"/>
                      <a:pt x="1201" y="460"/>
                      <a:pt x="1201" y="460"/>
                    </a:cubicBezTo>
                    <a:cubicBezTo>
                      <a:pt x="1207" y="479"/>
                      <a:pt x="1216" y="498"/>
                      <a:pt x="1228" y="516"/>
                    </a:cubicBezTo>
                    <a:cubicBezTo>
                      <a:pt x="1298" y="624"/>
                      <a:pt x="1442" y="654"/>
                      <a:pt x="1549" y="584"/>
                    </a:cubicBezTo>
                    <a:cubicBezTo>
                      <a:pt x="1644" y="522"/>
                      <a:pt x="1644" y="522"/>
                      <a:pt x="1644" y="522"/>
                    </a:cubicBezTo>
                    <a:cubicBezTo>
                      <a:pt x="1737" y="461"/>
                      <a:pt x="1737" y="461"/>
                      <a:pt x="1737" y="461"/>
                    </a:cubicBezTo>
                    <a:cubicBezTo>
                      <a:pt x="1844" y="391"/>
                      <a:pt x="1875" y="247"/>
                      <a:pt x="1804" y="140"/>
                    </a:cubicBezTo>
                    <a:close/>
                    <a:moveTo>
                      <a:pt x="913" y="164"/>
                    </a:moveTo>
                    <a:cubicBezTo>
                      <a:pt x="1119" y="208"/>
                      <a:pt x="1119" y="208"/>
                      <a:pt x="1119" y="208"/>
                    </a:cubicBezTo>
                    <a:cubicBezTo>
                      <a:pt x="1112" y="186"/>
                      <a:pt x="1102" y="166"/>
                      <a:pt x="1090" y="146"/>
                    </a:cubicBezTo>
                    <a:cubicBezTo>
                      <a:pt x="1015" y="32"/>
                      <a:pt x="862" y="0"/>
                      <a:pt x="748" y="74"/>
                    </a:cubicBezTo>
                    <a:cubicBezTo>
                      <a:pt x="626" y="154"/>
                      <a:pt x="626" y="154"/>
                      <a:pt x="626" y="154"/>
                    </a:cubicBezTo>
                    <a:cubicBezTo>
                      <a:pt x="707" y="306"/>
                      <a:pt x="707" y="306"/>
                      <a:pt x="707" y="306"/>
                    </a:cubicBezTo>
                    <a:cubicBezTo>
                      <a:pt x="775" y="262"/>
                      <a:pt x="775" y="262"/>
                      <a:pt x="775" y="262"/>
                    </a:cubicBezTo>
                    <a:cubicBezTo>
                      <a:pt x="775" y="259"/>
                      <a:pt x="776" y="256"/>
                      <a:pt x="777" y="253"/>
                    </a:cubicBezTo>
                    <a:cubicBezTo>
                      <a:pt x="790" y="191"/>
                      <a:pt x="851" y="151"/>
                      <a:pt x="913" y="164"/>
                    </a:cubicBezTo>
                    <a:close/>
                    <a:moveTo>
                      <a:pt x="858" y="387"/>
                    </a:moveTo>
                    <a:cubicBezTo>
                      <a:pt x="787" y="434"/>
                      <a:pt x="787" y="434"/>
                      <a:pt x="787" y="434"/>
                    </a:cubicBezTo>
                    <a:cubicBezTo>
                      <a:pt x="896" y="567"/>
                      <a:pt x="896" y="567"/>
                      <a:pt x="896" y="567"/>
                    </a:cubicBezTo>
                    <a:cubicBezTo>
                      <a:pt x="1018" y="487"/>
                      <a:pt x="1018" y="487"/>
                      <a:pt x="1018" y="487"/>
                    </a:cubicBezTo>
                    <a:cubicBezTo>
                      <a:pt x="1041" y="472"/>
                      <a:pt x="1061" y="454"/>
                      <a:pt x="1077" y="434"/>
                    </a:cubicBezTo>
                    <a:cubicBezTo>
                      <a:pt x="865" y="389"/>
                      <a:pt x="865" y="389"/>
                      <a:pt x="865" y="389"/>
                    </a:cubicBezTo>
                    <a:cubicBezTo>
                      <a:pt x="863" y="389"/>
                      <a:pt x="860" y="388"/>
                      <a:pt x="858" y="387"/>
                    </a:cubicBezTo>
                    <a:close/>
                    <a:moveTo>
                      <a:pt x="1403" y="457"/>
                    </a:moveTo>
                    <a:cubicBezTo>
                      <a:pt x="1407" y="458"/>
                      <a:pt x="1412" y="459"/>
                      <a:pt x="1416" y="460"/>
                    </a:cubicBezTo>
                    <a:cubicBezTo>
                      <a:pt x="1414" y="459"/>
                      <a:pt x="1412" y="459"/>
                      <a:pt x="1410" y="459"/>
                    </a:cubicBezTo>
                    <a:lnTo>
                      <a:pt x="1403" y="457"/>
                    </a:lnTo>
                    <a:close/>
                    <a:moveTo>
                      <a:pt x="1416" y="460"/>
                    </a:moveTo>
                    <a:cubicBezTo>
                      <a:pt x="1438" y="462"/>
                      <a:pt x="1458" y="455"/>
                      <a:pt x="1473" y="440"/>
                    </a:cubicBezTo>
                    <a:cubicBezTo>
                      <a:pt x="1461" y="448"/>
                      <a:pt x="1461" y="448"/>
                      <a:pt x="1461" y="448"/>
                    </a:cubicBezTo>
                    <a:cubicBezTo>
                      <a:pt x="1447" y="457"/>
                      <a:pt x="1431" y="461"/>
                      <a:pt x="1416" y="46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icrosoft YaHei" panose="020B0503020204020204" pitchFamily="34" charset="-122"/>
                  <a:cs typeface="+mn-cs"/>
                </a:endParaRPr>
              </a:p>
            </p:txBody>
          </p:sp>
          <p:sp>
            <p:nvSpPr>
              <p:cNvPr id="243" name="Freeform 7"/>
              <p:cNvSpPr>
                <a:spLocks noEditPoints="1"/>
              </p:cNvSpPr>
              <p:nvPr/>
            </p:nvSpPr>
            <p:spPr bwMode="auto">
              <a:xfrm>
                <a:off x="5483733" y="2905506"/>
                <a:ext cx="909066" cy="887730"/>
              </a:xfrm>
              <a:custGeom>
                <a:avLst/>
                <a:gdLst>
                  <a:gd name="T0" fmla="*/ 255 w 1273"/>
                  <a:gd name="T1" fmla="*/ 1172 h 1243"/>
                  <a:gd name="T2" fmla="*/ 184 w 1273"/>
                  <a:gd name="T3" fmla="*/ 1243 h 1243"/>
                  <a:gd name="T4" fmla="*/ 113 w 1273"/>
                  <a:gd name="T5" fmla="*/ 1172 h 1243"/>
                  <a:gd name="T6" fmla="*/ 113 w 1273"/>
                  <a:gd name="T7" fmla="*/ 1092 h 1243"/>
                  <a:gd name="T8" fmla="*/ 113 w 1273"/>
                  <a:gd name="T9" fmla="*/ 625 h 1243"/>
                  <a:gd name="T10" fmla="*/ 184 w 1273"/>
                  <a:gd name="T11" fmla="*/ 554 h 1243"/>
                  <a:gd name="T12" fmla="*/ 255 w 1273"/>
                  <a:gd name="T13" fmla="*/ 625 h 1243"/>
                  <a:gd name="T14" fmla="*/ 255 w 1273"/>
                  <a:gd name="T15" fmla="*/ 1089 h 1243"/>
                  <a:gd name="T16" fmla="*/ 255 w 1273"/>
                  <a:gd name="T17" fmla="*/ 1172 h 1243"/>
                  <a:gd name="T18" fmla="*/ 252 w 1273"/>
                  <a:gd name="T19" fmla="*/ 246 h 1243"/>
                  <a:gd name="T20" fmla="*/ 272 w 1273"/>
                  <a:gd name="T21" fmla="*/ 222 h 1243"/>
                  <a:gd name="T22" fmla="*/ 255 w 1273"/>
                  <a:gd name="T23" fmla="*/ 21 h 1243"/>
                  <a:gd name="T24" fmla="*/ 231 w 1273"/>
                  <a:gd name="T25" fmla="*/ 1 h 1243"/>
                  <a:gd name="T26" fmla="*/ 211 w 1273"/>
                  <a:gd name="T27" fmla="*/ 25 h 1243"/>
                  <a:gd name="T28" fmla="*/ 228 w 1273"/>
                  <a:gd name="T29" fmla="*/ 226 h 1243"/>
                  <a:gd name="T30" fmla="*/ 250 w 1273"/>
                  <a:gd name="T31" fmla="*/ 246 h 1243"/>
                  <a:gd name="T32" fmla="*/ 252 w 1273"/>
                  <a:gd name="T33" fmla="*/ 246 h 1243"/>
                  <a:gd name="T34" fmla="*/ 354 w 1273"/>
                  <a:gd name="T35" fmla="*/ 241 h 1243"/>
                  <a:gd name="T36" fmla="*/ 470 w 1273"/>
                  <a:gd name="T37" fmla="*/ 75 h 1243"/>
                  <a:gd name="T38" fmla="*/ 464 w 1273"/>
                  <a:gd name="T39" fmla="*/ 45 h 1243"/>
                  <a:gd name="T40" fmla="*/ 433 w 1273"/>
                  <a:gd name="T41" fmla="*/ 50 h 1243"/>
                  <a:gd name="T42" fmla="*/ 318 w 1273"/>
                  <a:gd name="T43" fmla="*/ 216 h 1243"/>
                  <a:gd name="T44" fmla="*/ 323 w 1273"/>
                  <a:gd name="T45" fmla="*/ 246 h 1243"/>
                  <a:gd name="T46" fmla="*/ 336 w 1273"/>
                  <a:gd name="T47" fmla="*/ 250 h 1243"/>
                  <a:gd name="T48" fmla="*/ 354 w 1273"/>
                  <a:gd name="T49" fmla="*/ 241 h 1243"/>
                  <a:gd name="T50" fmla="*/ 181 w 1273"/>
                  <a:gd name="T51" fmla="*/ 258 h 1243"/>
                  <a:gd name="T52" fmla="*/ 182 w 1273"/>
                  <a:gd name="T53" fmla="*/ 227 h 1243"/>
                  <a:gd name="T54" fmla="*/ 40 w 1273"/>
                  <a:gd name="T55" fmla="*/ 83 h 1243"/>
                  <a:gd name="T56" fmla="*/ 8 w 1273"/>
                  <a:gd name="T57" fmla="*/ 83 h 1243"/>
                  <a:gd name="T58" fmla="*/ 8 w 1273"/>
                  <a:gd name="T59" fmla="*/ 114 h 1243"/>
                  <a:gd name="T60" fmla="*/ 150 w 1273"/>
                  <a:gd name="T61" fmla="*/ 258 h 1243"/>
                  <a:gd name="T62" fmla="*/ 166 w 1273"/>
                  <a:gd name="T63" fmla="*/ 265 h 1243"/>
                  <a:gd name="T64" fmla="*/ 181 w 1273"/>
                  <a:gd name="T65" fmla="*/ 258 h 1243"/>
                  <a:gd name="T66" fmla="*/ 1265 w 1273"/>
                  <a:gd name="T67" fmla="*/ 584 h 1243"/>
                  <a:gd name="T68" fmla="*/ 1244 w 1273"/>
                  <a:gd name="T69" fmla="*/ 620 h 1243"/>
                  <a:gd name="T70" fmla="*/ 1232 w 1273"/>
                  <a:gd name="T71" fmla="*/ 628 h 1243"/>
                  <a:gd name="T72" fmla="*/ 1187 w 1273"/>
                  <a:gd name="T73" fmla="*/ 640 h 1243"/>
                  <a:gd name="T74" fmla="*/ 1181 w 1273"/>
                  <a:gd name="T75" fmla="*/ 639 h 1243"/>
                  <a:gd name="T76" fmla="*/ 1174 w 1273"/>
                  <a:gd name="T77" fmla="*/ 637 h 1243"/>
                  <a:gd name="T78" fmla="*/ 962 w 1273"/>
                  <a:gd name="T79" fmla="*/ 593 h 1243"/>
                  <a:gd name="T80" fmla="*/ 873 w 1273"/>
                  <a:gd name="T81" fmla="*/ 574 h 1243"/>
                  <a:gd name="T82" fmla="*/ 726 w 1273"/>
                  <a:gd name="T83" fmla="*/ 543 h 1243"/>
                  <a:gd name="T84" fmla="*/ 680 w 1273"/>
                  <a:gd name="T85" fmla="*/ 533 h 1243"/>
                  <a:gd name="T86" fmla="*/ 645 w 1273"/>
                  <a:gd name="T87" fmla="*/ 526 h 1243"/>
                  <a:gd name="T88" fmla="*/ 591 w 1273"/>
                  <a:gd name="T89" fmla="*/ 442 h 1243"/>
                  <a:gd name="T90" fmla="*/ 659 w 1273"/>
                  <a:gd name="T91" fmla="*/ 386 h 1243"/>
                  <a:gd name="T92" fmla="*/ 674 w 1273"/>
                  <a:gd name="T93" fmla="*/ 387 h 1243"/>
                  <a:gd name="T94" fmla="*/ 752 w 1273"/>
                  <a:gd name="T95" fmla="*/ 404 h 1243"/>
                  <a:gd name="T96" fmla="*/ 899 w 1273"/>
                  <a:gd name="T97" fmla="*/ 435 h 1243"/>
                  <a:gd name="T98" fmla="*/ 991 w 1273"/>
                  <a:gd name="T99" fmla="*/ 454 h 1243"/>
                  <a:gd name="T100" fmla="*/ 1179 w 1273"/>
                  <a:gd name="T101" fmla="*/ 494 h 1243"/>
                  <a:gd name="T102" fmla="*/ 1210 w 1273"/>
                  <a:gd name="T103" fmla="*/ 500 h 1243"/>
                  <a:gd name="T104" fmla="*/ 1265 w 1273"/>
                  <a:gd name="T105" fmla="*/ 584 h 1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73" h="1243">
                    <a:moveTo>
                      <a:pt x="255" y="1172"/>
                    </a:moveTo>
                    <a:cubicBezTo>
                      <a:pt x="255" y="1211"/>
                      <a:pt x="223" y="1243"/>
                      <a:pt x="184" y="1243"/>
                    </a:cubicBezTo>
                    <a:cubicBezTo>
                      <a:pt x="145" y="1243"/>
                      <a:pt x="113" y="1211"/>
                      <a:pt x="113" y="1172"/>
                    </a:cubicBezTo>
                    <a:cubicBezTo>
                      <a:pt x="113" y="1092"/>
                      <a:pt x="113" y="1092"/>
                      <a:pt x="113" y="1092"/>
                    </a:cubicBezTo>
                    <a:cubicBezTo>
                      <a:pt x="113" y="625"/>
                      <a:pt x="113" y="625"/>
                      <a:pt x="113" y="625"/>
                    </a:cubicBezTo>
                    <a:cubicBezTo>
                      <a:pt x="113" y="586"/>
                      <a:pt x="145" y="554"/>
                      <a:pt x="184" y="554"/>
                    </a:cubicBezTo>
                    <a:cubicBezTo>
                      <a:pt x="223" y="554"/>
                      <a:pt x="255" y="586"/>
                      <a:pt x="255" y="625"/>
                    </a:cubicBezTo>
                    <a:cubicBezTo>
                      <a:pt x="255" y="1089"/>
                      <a:pt x="255" y="1089"/>
                      <a:pt x="255" y="1089"/>
                    </a:cubicBezTo>
                    <a:lnTo>
                      <a:pt x="255" y="1172"/>
                    </a:lnTo>
                    <a:close/>
                    <a:moveTo>
                      <a:pt x="252" y="246"/>
                    </a:moveTo>
                    <a:cubicBezTo>
                      <a:pt x="264" y="245"/>
                      <a:pt x="273" y="234"/>
                      <a:pt x="272" y="222"/>
                    </a:cubicBezTo>
                    <a:cubicBezTo>
                      <a:pt x="255" y="21"/>
                      <a:pt x="255" y="21"/>
                      <a:pt x="255" y="21"/>
                    </a:cubicBezTo>
                    <a:cubicBezTo>
                      <a:pt x="254" y="9"/>
                      <a:pt x="243" y="0"/>
                      <a:pt x="231" y="1"/>
                    </a:cubicBezTo>
                    <a:cubicBezTo>
                      <a:pt x="219" y="2"/>
                      <a:pt x="210" y="13"/>
                      <a:pt x="211" y="25"/>
                    </a:cubicBezTo>
                    <a:cubicBezTo>
                      <a:pt x="228" y="226"/>
                      <a:pt x="228" y="226"/>
                      <a:pt x="228" y="226"/>
                    </a:cubicBezTo>
                    <a:cubicBezTo>
                      <a:pt x="229" y="238"/>
                      <a:pt x="239" y="246"/>
                      <a:pt x="250" y="246"/>
                    </a:cubicBezTo>
                    <a:cubicBezTo>
                      <a:pt x="251" y="246"/>
                      <a:pt x="251" y="246"/>
                      <a:pt x="252" y="246"/>
                    </a:cubicBezTo>
                    <a:close/>
                    <a:moveTo>
                      <a:pt x="354" y="241"/>
                    </a:moveTo>
                    <a:cubicBezTo>
                      <a:pt x="470" y="75"/>
                      <a:pt x="470" y="75"/>
                      <a:pt x="470" y="75"/>
                    </a:cubicBezTo>
                    <a:cubicBezTo>
                      <a:pt x="476" y="65"/>
                      <a:pt x="474" y="51"/>
                      <a:pt x="464" y="45"/>
                    </a:cubicBezTo>
                    <a:cubicBezTo>
                      <a:pt x="454" y="38"/>
                      <a:pt x="440" y="40"/>
                      <a:pt x="433" y="50"/>
                    </a:cubicBezTo>
                    <a:cubicBezTo>
                      <a:pt x="318" y="216"/>
                      <a:pt x="318" y="216"/>
                      <a:pt x="318" y="216"/>
                    </a:cubicBezTo>
                    <a:cubicBezTo>
                      <a:pt x="311" y="225"/>
                      <a:pt x="313" y="239"/>
                      <a:pt x="323" y="246"/>
                    </a:cubicBezTo>
                    <a:cubicBezTo>
                      <a:pt x="327" y="249"/>
                      <a:pt x="331" y="250"/>
                      <a:pt x="336" y="250"/>
                    </a:cubicBezTo>
                    <a:cubicBezTo>
                      <a:pt x="343" y="250"/>
                      <a:pt x="350" y="247"/>
                      <a:pt x="354" y="241"/>
                    </a:cubicBezTo>
                    <a:close/>
                    <a:moveTo>
                      <a:pt x="181" y="258"/>
                    </a:moveTo>
                    <a:cubicBezTo>
                      <a:pt x="190" y="250"/>
                      <a:pt x="190" y="236"/>
                      <a:pt x="182" y="227"/>
                    </a:cubicBezTo>
                    <a:cubicBezTo>
                      <a:pt x="40" y="83"/>
                      <a:pt x="40" y="83"/>
                      <a:pt x="40" y="83"/>
                    </a:cubicBezTo>
                    <a:cubicBezTo>
                      <a:pt x="31" y="75"/>
                      <a:pt x="17" y="75"/>
                      <a:pt x="8" y="83"/>
                    </a:cubicBezTo>
                    <a:cubicBezTo>
                      <a:pt x="0" y="92"/>
                      <a:pt x="0" y="106"/>
                      <a:pt x="8" y="114"/>
                    </a:cubicBezTo>
                    <a:cubicBezTo>
                      <a:pt x="150" y="258"/>
                      <a:pt x="150" y="258"/>
                      <a:pt x="150" y="258"/>
                    </a:cubicBezTo>
                    <a:cubicBezTo>
                      <a:pt x="155" y="262"/>
                      <a:pt x="160" y="265"/>
                      <a:pt x="166" y="265"/>
                    </a:cubicBezTo>
                    <a:cubicBezTo>
                      <a:pt x="172" y="265"/>
                      <a:pt x="177" y="262"/>
                      <a:pt x="181" y="258"/>
                    </a:cubicBezTo>
                    <a:close/>
                    <a:moveTo>
                      <a:pt x="1265" y="584"/>
                    </a:moveTo>
                    <a:cubicBezTo>
                      <a:pt x="1261" y="598"/>
                      <a:pt x="1254" y="611"/>
                      <a:pt x="1244" y="620"/>
                    </a:cubicBezTo>
                    <a:cubicBezTo>
                      <a:pt x="1232" y="628"/>
                      <a:pt x="1232" y="628"/>
                      <a:pt x="1232" y="628"/>
                    </a:cubicBezTo>
                    <a:cubicBezTo>
                      <a:pt x="1218" y="637"/>
                      <a:pt x="1202" y="641"/>
                      <a:pt x="1187" y="640"/>
                    </a:cubicBezTo>
                    <a:cubicBezTo>
                      <a:pt x="1185" y="639"/>
                      <a:pt x="1183" y="639"/>
                      <a:pt x="1181" y="639"/>
                    </a:cubicBezTo>
                    <a:cubicBezTo>
                      <a:pt x="1174" y="637"/>
                      <a:pt x="1174" y="637"/>
                      <a:pt x="1174" y="637"/>
                    </a:cubicBezTo>
                    <a:cubicBezTo>
                      <a:pt x="962" y="593"/>
                      <a:pt x="962" y="593"/>
                      <a:pt x="962" y="593"/>
                    </a:cubicBezTo>
                    <a:cubicBezTo>
                      <a:pt x="873" y="574"/>
                      <a:pt x="873" y="574"/>
                      <a:pt x="873" y="574"/>
                    </a:cubicBezTo>
                    <a:cubicBezTo>
                      <a:pt x="726" y="543"/>
                      <a:pt x="726" y="543"/>
                      <a:pt x="726" y="543"/>
                    </a:cubicBezTo>
                    <a:cubicBezTo>
                      <a:pt x="680" y="533"/>
                      <a:pt x="680" y="533"/>
                      <a:pt x="680" y="533"/>
                    </a:cubicBezTo>
                    <a:cubicBezTo>
                      <a:pt x="645" y="526"/>
                      <a:pt x="645" y="526"/>
                      <a:pt x="645" y="526"/>
                    </a:cubicBezTo>
                    <a:cubicBezTo>
                      <a:pt x="607" y="518"/>
                      <a:pt x="583" y="480"/>
                      <a:pt x="591" y="442"/>
                    </a:cubicBezTo>
                    <a:cubicBezTo>
                      <a:pt x="598" y="409"/>
                      <a:pt x="626" y="386"/>
                      <a:pt x="659" y="386"/>
                    </a:cubicBezTo>
                    <a:cubicBezTo>
                      <a:pt x="664" y="386"/>
                      <a:pt x="669" y="386"/>
                      <a:pt x="674" y="387"/>
                    </a:cubicBezTo>
                    <a:cubicBezTo>
                      <a:pt x="752" y="404"/>
                      <a:pt x="752" y="404"/>
                      <a:pt x="752" y="404"/>
                    </a:cubicBezTo>
                    <a:cubicBezTo>
                      <a:pt x="899" y="435"/>
                      <a:pt x="899" y="435"/>
                      <a:pt x="899" y="435"/>
                    </a:cubicBezTo>
                    <a:cubicBezTo>
                      <a:pt x="991" y="454"/>
                      <a:pt x="991" y="454"/>
                      <a:pt x="991" y="454"/>
                    </a:cubicBezTo>
                    <a:cubicBezTo>
                      <a:pt x="1179" y="494"/>
                      <a:pt x="1179" y="494"/>
                      <a:pt x="1179" y="494"/>
                    </a:cubicBezTo>
                    <a:cubicBezTo>
                      <a:pt x="1210" y="500"/>
                      <a:pt x="1210" y="500"/>
                      <a:pt x="1210" y="500"/>
                    </a:cubicBezTo>
                    <a:cubicBezTo>
                      <a:pt x="1248" y="508"/>
                      <a:pt x="1273" y="546"/>
                      <a:pt x="1265" y="58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icrosoft YaHei" panose="020B0503020204020204" pitchFamily="34" charset="-122"/>
                  <a:cs typeface="+mn-cs"/>
                </a:endParaRPr>
              </a:p>
            </p:txBody>
          </p:sp>
        </p:grpSp>
      </p:grpSp>
      <p:grpSp>
        <p:nvGrpSpPr>
          <p:cNvPr id="244" name="Group 243"/>
          <p:cNvGrpSpPr>
            <a:grpSpLocks noChangeAspect="1"/>
          </p:cNvGrpSpPr>
          <p:nvPr/>
        </p:nvGrpSpPr>
        <p:grpSpPr>
          <a:xfrm>
            <a:off x="2638602" y="4254088"/>
            <a:ext cx="561899" cy="562420"/>
            <a:chOff x="5273801" y="2606040"/>
            <a:chExt cx="1644396" cy="1645920"/>
          </a:xfrm>
        </p:grpSpPr>
        <p:sp>
          <p:nvSpPr>
            <p:cNvPr id="245" name="AutoShape 8">
              <a:extLst>
                <a:ext uri="{FF2B5EF4-FFF2-40B4-BE49-F238E27FC236}">
                  <a16:creationId xmlns:a16="http://schemas.microsoft.com/office/drawing/2014/main" id="{41A8C13F-A5CB-46F6-B6A2-5D6750B39511}"/>
                </a:ext>
              </a:extLst>
            </p:cNvPr>
            <p:cNvSpPr>
              <a:spLocks noChangeAspect="1" noChangeArrowheads="1" noTextEdit="1"/>
            </p:cNvSpPr>
            <p:nvPr/>
          </p:nvSpPr>
          <p:spPr bwMode="auto">
            <a:xfrm>
              <a:off x="5273801" y="2606040"/>
              <a:ext cx="1644396" cy="1645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n-ea"/>
                <a:cs typeface="+mn-cs"/>
              </a:endParaRPr>
            </a:p>
          </p:txBody>
        </p:sp>
        <p:grpSp>
          <p:nvGrpSpPr>
            <p:cNvPr id="246" name="Group 245"/>
            <p:cNvGrpSpPr/>
            <p:nvPr/>
          </p:nvGrpSpPr>
          <p:grpSpPr>
            <a:xfrm>
              <a:off x="5402198" y="2734056"/>
              <a:ext cx="1387602" cy="1387221"/>
              <a:chOff x="5402198" y="2734056"/>
              <a:chExt cx="1387602" cy="1387221"/>
            </a:xfrm>
          </p:grpSpPr>
          <p:sp>
            <p:nvSpPr>
              <p:cNvPr id="247" name="Freeform 10">
                <a:extLst>
                  <a:ext uri="{FF2B5EF4-FFF2-40B4-BE49-F238E27FC236}">
                    <a16:creationId xmlns:a16="http://schemas.microsoft.com/office/drawing/2014/main" id="{FECB29AE-3289-4FBB-A765-CC4F08FEB17C}"/>
                  </a:ext>
                </a:extLst>
              </p:cNvPr>
              <p:cNvSpPr>
                <a:spLocks noEditPoints="1"/>
              </p:cNvSpPr>
              <p:nvPr/>
            </p:nvSpPr>
            <p:spPr bwMode="auto">
              <a:xfrm>
                <a:off x="5522975" y="2856738"/>
                <a:ext cx="1144143" cy="1143762"/>
              </a:xfrm>
              <a:custGeom>
                <a:avLst/>
                <a:gdLst>
                  <a:gd name="T0" fmla="*/ 508 w 1603"/>
                  <a:gd name="T1" fmla="*/ 536 h 1601"/>
                  <a:gd name="T2" fmla="*/ 773 w 1603"/>
                  <a:gd name="T3" fmla="*/ 739 h 1601"/>
                  <a:gd name="T4" fmla="*/ 1098 w 1603"/>
                  <a:gd name="T5" fmla="*/ 1095 h 1601"/>
                  <a:gd name="T6" fmla="*/ 833 w 1603"/>
                  <a:gd name="T7" fmla="*/ 830 h 1601"/>
                  <a:gd name="T8" fmla="*/ 1083 w 1603"/>
                  <a:gd name="T9" fmla="*/ 1102 h 1601"/>
                  <a:gd name="T10" fmla="*/ 884 w 1603"/>
                  <a:gd name="T11" fmla="*/ 627 h 1601"/>
                  <a:gd name="T12" fmla="*/ 672 w 1603"/>
                  <a:gd name="T13" fmla="*/ 477 h 1601"/>
                  <a:gd name="T14" fmla="*/ 884 w 1603"/>
                  <a:gd name="T15" fmla="*/ 658 h 1601"/>
                  <a:gd name="T16" fmla="*/ 976 w 1603"/>
                  <a:gd name="T17" fmla="*/ 719 h 1601"/>
                  <a:gd name="T18" fmla="*/ 1126 w 1603"/>
                  <a:gd name="T19" fmla="*/ 931 h 1601"/>
                  <a:gd name="T20" fmla="*/ 996 w 1603"/>
                  <a:gd name="T21" fmla="*/ 547 h 1601"/>
                  <a:gd name="T22" fmla="*/ 890 w 1603"/>
                  <a:gd name="T23" fmla="*/ 442 h 1601"/>
                  <a:gd name="T24" fmla="*/ 980 w 1603"/>
                  <a:gd name="T25" fmla="*/ 553 h 1601"/>
                  <a:gd name="T26" fmla="*/ 1161 w 1603"/>
                  <a:gd name="T27" fmla="*/ 682 h 1601"/>
                  <a:gd name="T28" fmla="*/ 1056 w 1603"/>
                  <a:gd name="T29" fmla="*/ 639 h 1601"/>
                  <a:gd name="T30" fmla="*/ 1161 w 1603"/>
                  <a:gd name="T31" fmla="*/ 713 h 1601"/>
                  <a:gd name="T32" fmla="*/ 1144 w 1603"/>
                  <a:gd name="T33" fmla="*/ 219 h 1601"/>
                  <a:gd name="T34" fmla="*/ 1187 w 1603"/>
                  <a:gd name="T35" fmla="*/ 324 h 1601"/>
                  <a:gd name="T36" fmla="*/ 1384 w 1603"/>
                  <a:gd name="T37" fmla="*/ 490 h 1601"/>
                  <a:gd name="T38" fmla="*/ 1279 w 1603"/>
                  <a:gd name="T39" fmla="*/ 385 h 1601"/>
                  <a:gd name="T40" fmla="*/ 1369 w 1603"/>
                  <a:gd name="T41" fmla="*/ 496 h 1601"/>
                  <a:gd name="T42" fmla="*/ 1330 w 1603"/>
                  <a:gd name="T43" fmla="*/ 182 h 1601"/>
                  <a:gd name="T44" fmla="*/ 1126 w 1603"/>
                  <a:gd name="T45" fmla="*/ 40 h 1601"/>
                  <a:gd name="T46" fmla="*/ 1330 w 1603"/>
                  <a:gd name="T47" fmla="*/ 213 h 1601"/>
                  <a:gd name="T48" fmla="*/ 1421 w 1603"/>
                  <a:gd name="T49" fmla="*/ 273 h 1601"/>
                  <a:gd name="T50" fmla="*/ 1563 w 1603"/>
                  <a:gd name="T51" fmla="*/ 477 h 1601"/>
                  <a:gd name="T52" fmla="*/ 661 w 1603"/>
                  <a:gd name="T53" fmla="*/ 881 h 1601"/>
                  <a:gd name="T54" fmla="*/ 452 w 1603"/>
                  <a:gd name="T55" fmla="*/ 671 h 1601"/>
                  <a:gd name="T56" fmla="*/ 646 w 1603"/>
                  <a:gd name="T57" fmla="*/ 888 h 1601"/>
                  <a:gd name="T58" fmla="*/ 932 w 1603"/>
                  <a:gd name="T59" fmla="*/ 1120 h 1601"/>
                  <a:gd name="T60" fmla="*/ 722 w 1603"/>
                  <a:gd name="T61" fmla="*/ 973 h 1601"/>
                  <a:gd name="T62" fmla="*/ 932 w 1603"/>
                  <a:gd name="T63" fmla="*/ 1151 h 1601"/>
                  <a:gd name="T64" fmla="*/ 476 w 1603"/>
                  <a:gd name="T65" fmla="*/ 887 h 1601"/>
                  <a:gd name="T66" fmla="*/ 519 w 1603"/>
                  <a:gd name="T67" fmla="*/ 993 h 1601"/>
                  <a:gd name="T68" fmla="*/ 716 w 1603"/>
                  <a:gd name="T69" fmla="*/ 1158 h 1601"/>
                  <a:gd name="T70" fmla="*/ 610 w 1603"/>
                  <a:gd name="T71" fmla="*/ 1053 h 1601"/>
                  <a:gd name="T72" fmla="*/ 700 w 1603"/>
                  <a:gd name="T73" fmla="*/ 1165 h 1601"/>
                  <a:gd name="T74" fmla="*/ 327 w 1603"/>
                  <a:gd name="T75" fmla="*/ 1184 h 1601"/>
                  <a:gd name="T76" fmla="*/ 228 w 1603"/>
                  <a:gd name="T77" fmla="*/ 1147 h 1601"/>
                  <a:gd name="T78" fmla="*/ 327 w 1603"/>
                  <a:gd name="T79" fmla="*/ 1215 h 1601"/>
                  <a:gd name="T80" fmla="*/ 419 w 1603"/>
                  <a:gd name="T81" fmla="*/ 1276 h 1601"/>
                  <a:gd name="T82" fmla="*/ 456 w 1603"/>
                  <a:gd name="T83" fmla="*/ 1375 h 1601"/>
                  <a:gd name="T84" fmla="*/ 216 w 1603"/>
                  <a:gd name="T85" fmla="*/ 1327 h 1601"/>
                  <a:gd name="T86" fmla="*/ 9 w 1603"/>
                  <a:gd name="T87" fmla="*/ 1120 h 1601"/>
                  <a:gd name="T88" fmla="*/ 200 w 1603"/>
                  <a:gd name="T89" fmla="*/ 1333 h 1601"/>
                  <a:gd name="T90" fmla="*/ 483 w 1603"/>
                  <a:gd name="T91" fmla="*/ 1563 h 1601"/>
                  <a:gd name="T92" fmla="*/ 276 w 1603"/>
                  <a:gd name="T93" fmla="*/ 1418 h 1601"/>
                  <a:gd name="T94" fmla="*/ 483 w 1603"/>
                  <a:gd name="T95" fmla="*/ 1594 h 1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03" h="1601">
                    <a:moveTo>
                      <a:pt x="757" y="776"/>
                    </a:moveTo>
                    <a:cubicBezTo>
                      <a:pt x="752" y="776"/>
                      <a:pt x="746" y="774"/>
                      <a:pt x="742" y="770"/>
                    </a:cubicBezTo>
                    <a:cubicBezTo>
                      <a:pt x="508" y="536"/>
                      <a:pt x="508" y="536"/>
                      <a:pt x="508" y="536"/>
                    </a:cubicBezTo>
                    <a:cubicBezTo>
                      <a:pt x="499" y="527"/>
                      <a:pt x="499" y="513"/>
                      <a:pt x="508" y="505"/>
                    </a:cubicBezTo>
                    <a:cubicBezTo>
                      <a:pt x="516" y="496"/>
                      <a:pt x="530" y="496"/>
                      <a:pt x="539" y="505"/>
                    </a:cubicBezTo>
                    <a:cubicBezTo>
                      <a:pt x="773" y="739"/>
                      <a:pt x="773" y="739"/>
                      <a:pt x="773" y="739"/>
                    </a:cubicBezTo>
                    <a:cubicBezTo>
                      <a:pt x="781" y="747"/>
                      <a:pt x="781" y="761"/>
                      <a:pt x="773" y="770"/>
                    </a:cubicBezTo>
                    <a:cubicBezTo>
                      <a:pt x="768" y="774"/>
                      <a:pt x="763" y="776"/>
                      <a:pt x="757" y="776"/>
                    </a:cubicBezTo>
                    <a:close/>
                    <a:moveTo>
                      <a:pt x="1098" y="1095"/>
                    </a:moveTo>
                    <a:cubicBezTo>
                      <a:pt x="1107" y="1087"/>
                      <a:pt x="1107" y="1073"/>
                      <a:pt x="1098" y="1064"/>
                    </a:cubicBezTo>
                    <a:cubicBezTo>
                      <a:pt x="864" y="830"/>
                      <a:pt x="864" y="830"/>
                      <a:pt x="864" y="830"/>
                    </a:cubicBezTo>
                    <a:cubicBezTo>
                      <a:pt x="856" y="822"/>
                      <a:pt x="842" y="822"/>
                      <a:pt x="833" y="830"/>
                    </a:cubicBezTo>
                    <a:cubicBezTo>
                      <a:pt x="825" y="839"/>
                      <a:pt x="825" y="853"/>
                      <a:pt x="833" y="861"/>
                    </a:cubicBezTo>
                    <a:cubicBezTo>
                      <a:pt x="1067" y="1095"/>
                      <a:pt x="1067" y="1095"/>
                      <a:pt x="1067" y="1095"/>
                    </a:cubicBezTo>
                    <a:cubicBezTo>
                      <a:pt x="1071" y="1099"/>
                      <a:pt x="1077" y="1102"/>
                      <a:pt x="1083" y="1102"/>
                    </a:cubicBezTo>
                    <a:cubicBezTo>
                      <a:pt x="1088" y="1102"/>
                      <a:pt x="1094" y="1099"/>
                      <a:pt x="1098" y="1095"/>
                    </a:cubicBezTo>
                    <a:close/>
                    <a:moveTo>
                      <a:pt x="884" y="658"/>
                    </a:moveTo>
                    <a:cubicBezTo>
                      <a:pt x="893" y="650"/>
                      <a:pt x="893" y="636"/>
                      <a:pt x="884" y="627"/>
                    </a:cubicBezTo>
                    <a:cubicBezTo>
                      <a:pt x="703" y="446"/>
                      <a:pt x="703" y="446"/>
                      <a:pt x="703" y="446"/>
                    </a:cubicBezTo>
                    <a:cubicBezTo>
                      <a:pt x="694" y="437"/>
                      <a:pt x="680" y="437"/>
                      <a:pt x="672" y="446"/>
                    </a:cubicBezTo>
                    <a:cubicBezTo>
                      <a:pt x="663" y="454"/>
                      <a:pt x="663" y="468"/>
                      <a:pt x="672" y="477"/>
                    </a:cubicBezTo>
                    <a:cubicBezTo>
                      <a:pt x="853" y="658"/>
                      <a:pt x="853" y="658"/>
                      <a:pt x="853" y="658"/>
                    </a:cubicBezTo>
                    <a:cubicBezTo>
                      <a:pt x="857" y="663"/>
                      <a:pt x="863" y="665"/>
                      <a:pt x="869" y="665"/>
                    </a:cubicBezTo>
                    <a:cubicBezTo>
                      <a:pt x="874" y="665"/>
                      <a:pt x="880" y="663"/>
                      <a:pt x="884" y="658"/>
                    </a:cubicBezTo>
                    <a:close/>
                    <a:moveTo>
                      <a:pt x="1157" y="931"/>
                    </a:moveTo>
                    <a:cubicBezTo>
                      <a:pt x="1166" y="923"/>
                      <a:pt x="1166" y="909"/>
                      <a:pt x="1157" y="900"/>
                    </a:cubicBezTo>
                    <a:cubicBezTo>
                      <a:pt x="976" y="719"/>
                      <a:pt x="976" y="719"/>
                      <a:pt x="976" y="719"/>
                    </a:cubicBezTo>
                    <a:cubicBezTo>
                      <a:pt x="967" y="710"/>
                      <a:pt x="953" y="710"/>
                      <a:pt x="945" y="719"/>
                    </a:cubicBezTo>
                    <a:cubicBezTo>
                      <a:pt x="936" y="727"/>
                      <a:pt x="936" y="741"/>
                      <a:pt x="945" y="750"/>
                    </a:cubicBezTo>
                    <a:cubicBezTo>
                      <a:pt x="1126" y="931"/>
                      <a:pt x="1126" y="931"/>
                      <a:pt x="1126" y="931"/>
                    </a:cubicBezTo>
                    <a:cubicBezTo>
                      <a:pt x="1130" y="936"/>
                      <a:pt x="1136" y="938"/>
                      <a:pt x="1142" y="938"/>
                    </a:cubicBezTo>
                    <a:cubicBezTo>
                      <a:pt x="1147" y="938"/>
                      <a:pt x="1153" y="936"/>
                      <a:pt x="1157" y="931"/>
                    </a:cubicBezTo>
                    <a:close/>
                    <a:moveTo>
                      <a:pt x="996" y="547"/>
                    </a:moveTo>
                    <a:cubicBezTo>
                      <a:pt x="1004" y="538"/>
                      <a:pt x="1004" y="524"/>
                      <a:pt x="996" y="516"/>
                    </a:cubicBezTo>
                    <a:cubicBezTo>
                      <a:pt x="921" y="442"/>
                      <a:pt x="921" y="442"/>
                      <a:pt x="921" y="442"/>
                    </a:cubicBezTo>
                    <a:cubicBezTo>
                      <a:pt x="913" y="433"/>
                      <a:pt x="899" y="433"/>
                      <a:pt x="890" y="442"/>
                    </a:cubicBezTo>
                    <a:cubicBezTo>
                      <a:pt x="882" y="450"/>
                      <a:pt x="882" y="464"/>
                      <a:pt x="890" y="473"/>
                    </a:cubicBezTo>
                    <a:cubicBezTo>
                      <a:pt x="964" y="547"/>
                      <a:pt x="964" y="547"/>
                      <a:pt x="964" y="547"/>
                    </a:cubicBezTo>
                    <a:cubicBezTo>
                      <a:pt x="969" y="551"/>
                      <a:pt x="974" y="553"/>
                      <a:pt x="980" y="553"/>
                    </a:cubicBezTo>
                    <a:cubicBezTo>
                      <a:pt x="986" y="553"/>
                      <a:pt x="991" y="551"/>
                      <a:pt x="996" y="547"/>
                    </a:cubicBezTo>
                    <a:close/>
                    <a:moveTo>
                      <a:pt x="1161" y="713"/>
                    </a:moveTo>
                    <a:cubicBezTo>
                      <a:pt x="1170" y="704"/>
                      <a:pt x="1170" y="690"/>
                      <a:pt x="1161" y="682"/>
                    </a:cubicBezTo>
                    <a:cubicBezTo>
                      <a:pt x="1087" y="607"/>
                      <a:pt x="1087" y="607"/>
                      <a:pt x="1087" y="607"/>
                    </a:cubicBezTo>
                    <a:cubicBezTo>
                      <a:pt x="1079" y="599"/>
                      <a:pt x="1065" y="599"/>
                      <a:pt x="1056" y="607"/>
                    </a:cubicBezTo>
                    <a:cubicBezTo>
                      <a:pt x="1047" y="616"/>
                      <a:pt x="1047" y="630"/>
                      <a:pt x="1056" y="639"/>
                    </a:cubicBezTo>
                    <a:cubicBezTo>
                      <a:pt x="1130" y="713"/>
                      <a:pt x="1130" y="713"/>
                      <a:pt x="1130" y="713"/>
                    </a:cubicBezTo>
                    <a:cubicBezTo>
                      <a:pt x="1134" y="717"/>
                      <a:pt x="1140" y="719"/>
                      <a:pt x="1146" y="719"/>
                    </a:cubicBezTo>
                    <a:cubicBezTo>
                      <a:pt x="1151" y="719"/>
                      <a:pt x="1157" y="717"/>
                      <a:pt x="1161" y="713"/>
                    </a:cubicBezTo>
                    <a:close/>
                    <a:moveTo>
                      <a:pt x="1218" y="324"/>
                    </a:moveTo>
                    <a:cubicBezTo>
                      <a:pt x="1227" y="316"/>
                      <a:pt x="1227" y="302"/>
                      <a:pt x="1218" y="293"/>
                    </a:cubicBezTo>
                    <a:cubicBezTo>
                      <a:pt x="1144" y="219"/>
                      <a:pt x="1144" y="219"/>
                      <a:pt x="1144" y="219"/>
                    </a:cubicBezTo>
                    <a:cubicBezTo>
                      <a:pt x="1136" y="210"/>
                      <a:pt x="1122" y="210"/>
                      <a:pt x="1113" y="219"/>
                    </a:cubicBezTo>
                    <a:cubicBezTo>
                      <a:pt x="1105" y="227"/>
                      <a:pt x="1105" y="241"/>
                      <a:pt x="1113" y="250"/>
                    </a:cubicBezTo>
                    <a:cubicBezTo>
                      <a:pt x="1187" y="324"/>
                      <a:pt x="1187" y="324"/>
                      <a:pt x="1187" y="324"/>
                    </a:cubicBezTo>
                    <a:cubicBezTo>
                      <a:pt x="1192" y="328"/>
                      <a:pt x="1197" y="331"/>
                      <a:pt x="1203" y="331"/>
                    </a:cubicBezTo>
                    <a:cubicBezTo>
                      <a:pt x="1208" y="331"/>
                      <a:pt x="1214" y="328"/>
                      <a:pt x="1218" y="324"/>
                    </a:cubicBezTo>
                    <a:close/>
                    <a:moveTo>
                      <a:pt x="1384" y="490"/>
                    </a:moveTo>
                    <a:cubicBezTo>
                      <a:pt x="1393" y="481"/>
                      <a:pt x="1393" y="467"/>
                      <a:pt x="1384" y="459"/>
                    </a:cubicBezTo>
                    <a:cubicBezTo>
                      <a:pt x="1310" y="385"/>
                      <a:pt x="1310" y="385"/>
                      <a:pt x="1310" y="385"/>
                    </a:cubicBezTo>
                    <a:cubicBezTo>
                      <a:pt x="1301" y="376"/>
                      <a:pt x="1287" y="376"/>
                      <a:pt x="1279" y="385"/>
                    </a:cubicBezTo>
                    <a:cubicBezTo>
                      <a:pt x="1270" y="393"/>
                      <a:pt x="1270" y="407"/>
                      <a:pt x="1279" y="416"/>
                    </a:cubicBezTo>
                    <a:cubicBezTo>
                      <a:pt x="1353" y="490"/>
                      <a:pt x="1353" y="490"/>
                      <a:pt x="1353" y="490"/>
                    </a:cubicBezTo>
                    <a:cubicBezTo>
                      <a:pt x="1357" y="494"/>
                      <a:pt x="1363" y="496"/>
                      <a:pt x="1369" y="496"/>
                    </a:cubicBezTo>
                    <a:cubicBezTo>
                      <a:pt x="1374" y="496"/>
                      <a:pt x="1380" y="494"/>
                      <a:pt x="1384" y="490"/>
                    </a:cubicBezTo>
                    <a:close/>
                    <a:moveTo>
                      <a:pt x="1330" y="213"/>
                    </a:moveTo>
                    <a:cubicBezTo>
                      <a:pt x="1338" y="204"/>
                      <a:pt x="1338" y="190"/>
                      <a:pt x="1330" y="182"/>
                    </a:cubicBezTo>
                    <a:cubicBezTo>
                      <a:pt x="1157" y="9"/>
                      <a:pt x="1157" y="9"/>
                      <a:pt x="1157" y="9"/>
                    </a:cubicBezTo>
                    <a:cubicBezTo>
                      <a:pt x="1148" y="0"/>
                      <a:pt x="1134" y="0"/>
                      <a:pt x="1126" y="9"/>
                    </a:cubicBezTo>
                    <a:cubicBezTo>
                      <a:pt x="1117" y="17"/>
                      <a:pt x="1117" y="31"/>
                      <a:pt x="1126" y="40"/>
                    </a:cubicBezTo>
                    <a:cubicBezTo>
                      <a:pt x="1299" y="213"/>
                      <a:pt x="1299" y="213"/>
                      <a:pt x="1299" y="213"/>
                    </a:cubicBezTo>
                    <a:cubicBezTo>
                      <a:pt x="1303" y="217"/>
                      <a:pt x="1309" y="219"/>
                      <a:pt x="1314" y="219"/>
                    </a:cubicBezTo>
                    <a:cubicBezTo>
                      <a:pt x="1320" y="219"/>
                      <a:pt x="1325" y="217"/>
                      <a:pt x="1330" y="213"/>
                    </a:cubicBezTo>
                    <a:close/>
                    <a:moveTo>
                      <a:pt x="1594" y="477"/>
                    </a:moveTo>
                    <a:cubicBezTo>
                      <a:pt x="1603" y="469"/>
                      <a:pt x="1603" y="455"/>
                      <a:pt x="1594" y="446"/>
                    </a:cubicBezTo>
                    <a:cubicBezTo>
                      <a:pt x="1421" y="273"/>
                      <a:pt x="1421" y="273"/>
                      <a:pt x="1421" y="273"/>
                    </a:cubicBezTo>
                    <a:cubicBezTo>
                      <a:pt x="1413" y="265"/>
                      <a:pt x="1399" y="265"/>
                      <a:pt x="1390" y="273"/>
                    </a:cubicBezTo>
                    <a:cubicBezTo>
                      <a:pt x="1382" y="282"/>
                      <a:pt x="1382" y="296"/>
                      <a:pt x="1390" y="304"/>
                    </a:cubicBezTo>
                    <a:cubicBezTo>
                      <a:pt x="1563" y="477"/>
                      <a:pt x="1563" y="477"/>
                      <a:pt x="1563" y="477"/>
                    </a:cubicBezTo>
                    <a:cubicBezTo>
                      <a:pt x="1568" y="482"/>
                      <a:pt x="1573" y="484"/>
                      <a:pt x="1579" y="484"/>
                    </a:cubicBezTo>
                    <a:cubicBezTo>
                      <a:pt x="1584" y="484"/>
                      <a:pt x="1590" y="482"/>
                      <a:pt x="1594" y="477"/>
                    </a:cubicBezTo>
                    <a:close/>
                    <a:moveTo>
                      <a:pt x="661" y="881"/>
                    </a:moveTo>
                    <a:cubicBezTo>
                      <a:pt x="670" y="873"/>
                      <a:pt x="670" y="859"/>
                      <a:pt x="661" y="850"/>
                    </a:cubicBezTo>
                    <a:cubicBezTo>
                      <a:pt x="483" y="671"/>
                      <a:pt x="483" y="671"/>
                      <a:pt x="483" y="671"/>
                    </a:cubicBezTo>
                    <a:cubicBezTo>
                      <a:pt x="474" y="663"/>
                      <a:pt x="460" y="663"/>
                      <a:pt x="452" y="671"/>
                    </a:cubicBezTo>
                    <a:cubicBezTo>
                      <a:pt x="443" y="680"/>
                      <a:pt x="443" y="694"/>
                      <a:pt x="452" y="702"/>
                    </a:cubicBezTo>
                    <a:cubicBezTo>
                      <a:pt x="630" y="881"/>
                      <a:pt x="630" y="881"/>
                      <a:pt x="630" y="881"/>
                    </a:cubicBezTo>
                    <a:cubicBezTo>
                      <a:pt x="635" y="885"/>
                      <a:pt x="640" y="888"/>
                      <a:pt x="646" y="888"/>
                    </a:cubicBezTo>
                    <a:cubicBezTo>
                      <a:pt x="651" y="888"/>
                      <a:pt x="657" y="885"/>
                      <a:pt x="661" y="881"/>
                    </a:cubicBezTo>
                    <a:close/>
                    <a:moveTo>
                      <a:pt x="932" y="1151"/>
                    </a:moveTo>
                    <a:cubicBezTo>
                      <a:pt x="940" y="1143"/>
                      <a:pt x="940" y="1129"/>
                      <a:pt x="932" y="1120"/>
                    </a:cubicBezTo>
                    <a:cubicBezTo>
                      <a:pt x="753" y="942"/>
                      <a:pt x="753" y="942"/>
                      <a:pt x="753" y="942"/>
                    </a:cubicBezTo>
                    <a:cubicBezTo>
                      <a:pt x="744" y="933"/>
                      <a:pt x="730" y="933"/>
                      <a:pt x="722" y="942"/>
                    </a:cubicBezTo>
                    <a:cubicBezTo>
                      <a:pt x="713" y="950"/>
                      <a:pt x="713" y="964"/>
                      <a:pt x="722" y="973"/>
                    </a:cubicBezTo>
                    <a:cubicBezTo>
                      <a:pt x="901" y="1151"/>
                      <a:pt x="901" y="1151"/>
                      <a:pt x="901" y="1151"/>
                    </a:cubicBezTo>
                    <a:cubicBezTo>
                      <a:pt x="905" y="1156"/>
                      <a:pt x="910" y="1158"/>
                      <a:pt x="916" y="1158"/>
                    </a:cubicBezTo>
                    <a:cubicBezTo>
                      <a:pt x="922" y="1158"/>
                      <a:pt x="927" y="1156"/>
                      <a:pt x="932" y="1151"/>
                    </a:cubicBezTo>
                    <a:close/>
                    <a:moveTo>
                      <a:pt x="550" y="993"/>
                    </a:moveTo>
                    <a:cubicBezTo>
                      <a:pt x="559" y="984"/>
                      <a:pt x="559" y="970"/>
                      <a:pt x="550" y="961"/>
                    </a:cubicBezTo>
                    <a:cubicBezTo>
                      <a:pt x="476" y="887"/>
                      <a:pt x="476" y="887"/>
                      <a:pt x="476" y="887"/>
                    </a:cubicBezTo>
                    <a:cubicBezTo>
                      <a:pt x="467" y="879"/>
                      <a:pt x="453" y="879"/>
                      <a:pt x="445" y="887"/>
                    </a:cubicBezTo>
                    <a:cubicBezTo>
                      <a:pt x="436" y="896"/>
                      <a:pt x="436" y="910"/>
                      <a:pt x="445" y="918"/>
                    </a:cubicBezTo>
                    <a:cubicBezTo>
                      <a:pt x="519" y="993"/>
                      <a:pt x="519" y="993"/>
                      <a:pt x="519" y="993"/>
                    </a:cubicBezTo>
                    <a:cubicBezTo>
                      <a:pt x="523" y="997"/>
                      <a:pt x="529" y="999"/>
                      <a:pt x="534" y="999"/>
                    </a:cubicBezTo>
                    <a:cubicBezTo>
                      <a:pt x="540" y="999"/>
                      <a:pt x="546" y="997"/>
                      <a:pt x="550" y="993"/>
                    </a:cubicBezTo>
                    <a:close/>
                    <a:moveTo>
                      <a:pt x="716" y="1158"/>
                    </a:moveTo>
                    <a:cubicBezTo>
                      <a:pt x="724" y="1150"/>
                      <a:pt x="724" y="1136"/>
                      <a:pt x="716" y="1127"/>
                    </a:cubicBezTo>
                    <a:cubicBezTo>
                      <a:pt x="642" y="1053"/>
                      <a:pt x="642" y="1053"/>
                      <a:pt x="642" y="1053"/>
                    </a:cubicBezTo>
                    <a:cubicBezTo>
                      <a:pt x="633" y="1044"/>
                      <a:pt x="619" y="1044"/>
                      <a:pt x="610" y="1053"/>
                    </a:cubicBezTo>
                    <a:cubicBezTo>
                      <a:pt x="602" y="1062"/>
                      <a:pt x="602" y="1076"/>
                      <a:pt x="610" y="1084"/>
                    </a:cubicBezTo>
                    <a:cubicBezTo>
                      <a:pt x="685" y="1158"/>
                      <a:pt x="685" y="1158"/>
                      <a:pt x="685" y="1158"/>
                    </a:cubicBezTo>
                    <a:cubicBezTo>
                      <a:pt x="689" y="1163"/>
                      <a:pt x="695" y="1165"/>
                      <a:pt x="700" y="1165"/>
                    </a:cubicBezTo>
                    <a:cubicBezTo>
                      <a:pt x="706" y="1165"/>
                      <a:pt x="711" y="1163"/>
                      <a:pt x="716" y="1158"/>
                    </a:cubicBezTo>
                    <a:close/>
                    <a:moveTo>
                      <a:pt x="327" y="1215"/>
                    </a:moveTo>
                    <a:cubicBezTo>
                      <a:pt x="336" y="1207"/>
                      <a:pt x="336" y="1193"/>
                      <a:pt x="327" y="1184"/>
                    </a:cubicBezTo>
                    <a:cubicBezTo>
                      <a:pt x="259" y="1116"/>
                      <a:pt x="259" y="1116"/>
                      <a:pt x="259" y="1116"/>
                    </a:cubicBezTo>
                    <a:cubicBezTo>
                      <a:pt x="250" y="1107"/>
                      <a:pt x="236" y="1107"/>
                      <a:pt x="228" y="1116"/>
                    </a:cubicBezTo>
                    <a:cubicBezTo>
                      <a:pt x="219" y="1124"/>
                      <a:pt x="219" y="1138"/>
                      <a:pt x="228" y="1147"/>
                    </a:cubicBezTo>
                    <a:cubicBezTo>
                      <a:pt x="296" y="1215"/>
                      <a:pt x="296" y="1215"/>
                      <a:pt x="296" y="1215"/>
                    </a:cubicBezTo>
                    <a:cubicBezTo>
                      <a:pt x="300" y="1220"/>
                      <a:pt x="306" y="1222"/>
                      <a:pt x="312" y="1222"/>
                    </a:cubicBezTo>
                    <a:cubicBezTo>
                      <a:pt x="317" y="1222"/>
                      <a:pt x="323" y="1220"/>
                      <a:pt x="327" y="1215"/>
                    </a:cubicBezTo>
                    <a:close/>
                    <a:moveTo>
                      <a:pt x="487" y="1375"/>
                    </a:moveTo>
                    <a:cubicBezTo>
                      <a:pt x="496" y="1367"/>
                      <a:pt x="496" y="1353"/>
                      <a:pt x="487" y="1344"/>
                    </a:cubicBezTo>
                    <a:cubicBezTo>
                      <a:pt x="419" y="1276"/>
                      <a:pt x="419" y="1276"/>
                      <a:pt x="419" y="1276"/>
                    </a:cubicBezTo>
                    <a:cubicBezTo>
                      <a:pt x="410" y="1267"/>
                      <a:pt x="396" y="1267"/>
                      <a:pt x="388" y="1276"/>
                    </a:cubicBezTo>
                    <a:cubicBezTo>
                      <a:pt x="379" y="1284"/>
                      <a:pt x="379" y="1298"/>
                      <a:pt x="388" y="1307"/>
                    </a:cubicBezTo>
                    <a:cubicBezTo>
                      <a:pt x="456" y="1375"/>
                      <a:pt x="456" y="1375"/>
                      <a:pt x="456" y="1375"/>
                    </a:cubicBezTo>
                    <a:cubicBezTo>
                      <a:pt x="460" y="1380"/>
                      <a:pt x="466" y="1382"/>
                      <a:pt x="472" y="1382"/>
                    </a:cubicBezTo>
                    <a:cubicBezTo>
                      <a:pt x="477" y="1382"/>
                      <a:pt x="483" y="1380"/>
                      <a:pt x="487" y="1375"/>
                    </a:cubicBezTo>
                    <a:close/>
                    <a:moveTo>
                      <a:pt x="216" y="1327"/>
                    </a:moveTo>
                    <a:cubicBezTo>
                      <a:pt x="224" y="1318"/>
                      <a:pt x="224" y="1304"/>
                      <a:pt x="216" y="1296"/>
                    </a:cubicBezTo>
                    <a:cubicBezTo>
                      <a:pt x="40" y="1120"/>
                      <a:pt x="40" y="1120"/>
                      <a:pt x="40" y="1120"/>
                    </a:cubicBezTo>
                    <a:cubicBezTo>
                      <a:pt x="31" y="1111"/>
                      <a:pt x="17" y="1111"/>
                      <a:pt x="9" y="1120"/>
                    </a:cubicBezTo>
                    <a:cubicBezTo>
                      <a:pt x="0" y="1128"/>
                      <a:pt x="0" y="1142"/>
                      <a:pt x="9" y="1151"/>
                    </a:cubicBezTo>
                    <a:cubicBezTo>
                      <a:pt x="185" y="1327"/>
                      <a:pt x="185" y="1327"/>
                      <a:pt x="185" y="1327"/>
                    </a:cubicBezTo>
                    <a:cubicBezTo>
                      <a:pt x="189" y="1331"/>
                      <a:pt x="195" y="1333"/>
                      <a:pt x="200" y="1333"/>
                    </a:cubicBezTo>
                    <a:cubicBezTo>
                      <a:pt x="206" y="1333"/>
                      <a:pt x="211" y="1331"/>
                      <a:pt x="216" y="1327"/>
                    </a:cubicBezTo>
                    <a:close/>
                    <a:moveTo>
                      <a:pt x="483" y="1594"/>
                    </a:moveTo>
                    <a:cubicBezTo>
                      <a:pt x="492" y="1586"/>
                      <a:pt x="492" y="1572"/>
                      <a:pt x="483" y="1563"/>
                    </a:cubicBezTo>
                    <a:cubicBezTo>
                      <a:pt x="307" y="1387"/>
                      <a:pt x="307" y="1387"/>
                      <a:pt x="307" y="1387"/>
                    </a:cubicBezTo>
                    <a:cubicBezTo>
                      <a:pt x="299" y="1379"/>
                      <a:pt x="285" y="1379"/>
                      <a:pt x="276" y="1387"/>
                    </a:cubicBezTo>
                    <a:cubicBezTo>
                      <a:pt x="268" y="1396"/>
                      <a:pt x="268" y="1410"/>
                      <a:pt x="276" y="1418"/>
                    </a:cubicBezTo>
                    <a:cubicBezTo>
                      <a:pt x="452" y="1594"/>
                      <a:pt x="452" y="1594"/>
                      <a:pt x="452" y="1594"/>
                    </a:cubicBezTo>
                    <a:cubicBezTo>
                      <a:pt x="456" y="1599"/>
                      <a:pt x="462" y="1601"/>
                      <a:pt x="468" y="1601"/>
                    </a:cubicBezTo>
                    <a:cubicBezTo>
                      <a:pt x="473" y="1601"/>
                      <a:pt x="479" y="1599"/>
                      <a:pt x="483" y="1594"/>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icrosoft YaHei" panose="020B0503020204020204" pitchFamily="34" charset="-122"/>
                  <a:cs typeface="+mn-cs"/>
                </a:endParaRPr>
              </a:p>
            </p:txBody>
          </p:sp>
          <p:sp>
            <p:nvSpPr>
              <p:cNvPr id="248" name="Freeform 11">
                <a:extLst>
                  <a:ext uri="{FF2B5EF4-FFF2-40B4-BE49-F238E27FC236}">
                    <a16:creationId xmlns:a16="http://schemas.microsoft.com/office/drawing/2014/main" id="{C2706348-2044-41F6-BA7F-7EAD660658B0}"/>
                  </a:ext>
                </a:extLst>
              </p:cNvPr>
              <p:cNvSpPr>
                <a:spLocks noEditPoints="1"/>
              </p:cNvSpPr>
              <p:nvPr/>
            </p:nvSpPr>
            <p:spPr bwMode="auto">
              <a:xfrm>
                <a:off x="5402198" y="2734056"/>
                <a:ext cx="1387602" cy="1387221"/>
              </a:xfrm>
              <a:custGeom>
                <a:avLst/>
                <a:gdLst>
                  <a:gd name="T0" fmla="*/ 1283 w 1944"/>
                  <a:gd name="T1" fmla="*/ 564 h 1942"/>
                  <a:gd name="T2" fmla="*/ 1345 w 1944"/>
                  <a:gd name="T3" fmla="*/ 8 h 1942"/>
                  <a:gd name="T4" fmla="*/ 1376 w 1944"/>
                  <a:gd name="T5" fmla="*/ 8 h 1942"/>
                  <a:gd name="T6" fmla="*/ 1376 w 1944"/>
                  <a:gd name="T7" fmla="*/ 40 h 1942"/>
                  <a:gd name="T8" fmla="*/ 1328 w 1944"/>
                  <a:gd name="T9" fmla="*/ 567 h 1942"/>
                  <a:gd name="T10" fmla="*/ 1326 w 1944"/>
                  <a:gd name="T11" fmla="*/ 567 h 1942"/>
                  <a:gd name="T12" fmla="*/ 1283 w 1944"/>
                  <a:gd name="T13" fmla="*/ 564 h 1942"/>
                  <a:gd name="T14" fmla="*/ 1316 w 1944"/>
                  <a:gd name="T15" fmla="*/ 703 h 1942"/>
                  <a:gd name="T16" fmla="*/ 1293 w 1944"/>
                  <a:gd name="T17" fmla="*/ 701 h 1942"/>
                  <a:gd name="T18" fmla="*/ 1236 w 1944"/>
                  <a:gd name="T19" fmla="*/ 1236 h 1942"/>
                  <a:gd name="T20" fmla="*/ 624 w 1944"/>
                  <a:gd name="T21" fmla="*/ 1287 h 1942"/>
                  <a:gd name="T22" fmla="*/ 8 w 1944"/>
                  <a:gd name="T23" fmla="*/ 1345 h 1942"/>
                  <a:gd name="T24" fmla="*/ 8 w 1944"/>
                  <a:gd name="T25" fmla="*/ 1376 h 1942"/>
                  <a:gd name="T26" fmla="*/ 24 w 1944"/>
                  <a:gd name="T27" fmla="*/ 1383 h 1942"/>
                  <a:gd name="T28" fmla="*/ 40 w 1944"/>
                  <a:gd name="T29" fmla="*/ 1376 h 1942"/>
                  <a:gd name="T30" fmla="*/ 621 w 1944"/>
                  <a:gd name="T31" fmla="*/ 1331 h 1942"/>
                  <a:gd name="T32" fmla="*/ 1267 w 1944"/>
                  <a:gd name="T33" fmla="*/ 1267 h 1942"/>
                  <a:gd name="T34" fmla="*/ 1337 w 1944"/>
                  <a:gd name="T35" fmla="*/ 704 h 1942"/>
                  <a:gd name="T36" fmla="*/ 1316 w 1944"/>
                  <a:gd name="T37" fmla="*/ 703 h 1942"/>
                  <a:gd name="T38" fmla="*/ 639 w 1944"/>
                  <a:gd name="T39" fmla="*/ 1380 h 1942"/>
                  <a:gd name="T40" fmla="*/ 617 w 1944"/>
                  <a:gd name="T41" fmla="*/ 1379 h 1942"/>
                  <a:gd name="T42" fmla="*/ 568 w 1944"/>
                  <a:gd name="T43" fmla="*/ 1904 h 1942"/>
                  <a:gd name="T44" fmla="*/ 568 w 1944"/>
                  <a:gd name="T45" fmla="*/ 1936 h 1942"/>
                  <a:gd name="T46" fmla="*/ 583 w 1944"/>
                  <a:gd name="T47" fmla="*/ 1942 h 1942"/>
                  <a:gd name="T48" fmla="*/ 599 w 1944"/>
                  <a:gd name="T49" fmla="*/ 1936 h 1942"/>
                  <a:gd name="T50" fmla="*/ 661 w 1944"/>
                  <a:gd name="T51" fmla="*/ 1382 h 1942"/>
                  <a:gd name="T52" fmla="*/ 639 w 1944"/>
                  <a:gd name="T53" fmla="*/ 1380 h 1942"/>
                  <a:gd name="T54" fmla="*/ 1936 w 1944"/>
                  <a:gd name="T55" fmla="*/ 568 h 1942"/>
                  <a:gd name="T56" fmla="*/ 1904 w 1944"/>
                  <a:gd name="T57" fmla="*/ 568 h 1942"/>
                  <a:gd name="T58" fmla="*/ 1323 w 1944"/>
                  <a:gd name="T59" fmla="*/ 613 h 1942"/>
                  <a:gd name="T60" fmla="*/ 677 w 1944"/>
                  <a:gd name="T61" fmla="*/ 677 h 1942"/>
                  <a:gd name="T62" fmla="*/ 607 w 1944"/>
                  <a:gd name="T63" fmla="*/ 1241 h 1942"/>
                  <a:gd name="T64" fmla="*/ 648 w 1944"/>
                  <a:gd name="T65" fmla="*/ 1244 h 1942"/>
                  <a:gd name="T66" fmla="*/ 652 w 1944"/>
                  <a:gd name="T67" fmla="*/ 1244 h 1942"/>
                  <a:gd name="T68" fmla="*/ 708 w 1944"/>
                  <a:gd name="T69" fmla="*/ 708 h 1942"/>
                  <a:gd name="T70" fmla="*/ 1320 w 1944"/>
                  <a:gd name="T71" fmla="*/ 657 h 1942"/>
                  <a:gd name="T72" fmla="*/ 1936 w 1944"/>
                  <a:gd name="T73" fmla="*/ 599 h 1942"/>
                  <a:gd name="T74" fmla="*/ 1936 w 1944"/>
                  <a:gd name="T75" fmla="*/ 568 h 1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44" h="1942">
                    <a:moveTo>
                      <a:pt x="1283" y="564"/>
                    </a:moveTo>
                    <a:cubicBezTo>
                      <a:pt x="1267" y="318"/>
                      <a:pt x="1259" y="95"/>
                      <a:pt x="1345" y="8"/>
                    </a:cubicBezTo>
                    <a:cubicBezTo>
                      <a:pt x="1354" y="0"/>
                      <a:pt x="1368" y="0"/>
                      <a:pt x="1376" y="8"/>
                    </a:cubicBezTo>
                    <a:cubicBezTo>
                      <a:pt x="1385" y="17"/>
                      <a:pt x="1385" y="31"/>
                      <a:pt x="1376" y="40"/>
                    </a:cubicBezTo>
                    <a:cubicBezTo>
                      <a:pt x="1303" y="113"/>
                      <a:pt x="1312" y="338"/>
                      <a:pt x="1328" y="567"/>
                    </a:cubicBezTo>
                    <a:cubicBezTo>
                      <a:pt x="1327" y="567"/>
                      <a:pt x="1326" y="567"/>
                      <a:pt x="1326" y="567"/>
                    </a:cubicBezTo>
                    <a:cubicBezTo>
                      <a:pt x="1312" y="566"/>
                      <a:pt x="1297" y="565"/>
                      <a:pt x="1283" y="564"/>
                    </a:cubicBezTo>
                    <a:close/>
                    <a:moveTo>
                      <a:pt x="1316" y="703"/>
                    </a:moveTo>
                    <a:cubicBezTo>
                      <a:pt x="1309" y="702"/>
                      <a:pt x="1301" y="702"/>
                      <a:pt x="1293" y="701"/>
                    </a:cubicBezTo>
                    <a:cubicBezTo>
                      <a:pt x="1308" y="933"/>
                      <a:pt x="1315" y="1157"/>
                      <a:pt x="1236" y="1236"/>
                    </a:cubicBezTo>
                    <a:cubicBezTo>
                      <a:pt x="1149" y="1323"/>
                      <a:pt x="882" y="1305"/>
                      <a:pt x="624" y="1287"/>
                    </a:cubicBezTo>
                    <a:cubicBezTo>
                      <a:pt x="356" y="1269"/>
                      <a:pt x="102" y="1251"/>
                      <a:pt x="8" y="1345"/>
                    </a:cubicBezTo>
                    <a:cubicBezTo>
                      <a:pt x="0" y="1354"/>
                      <a:pt x="0" y="1368"/>
                      <a:pt x="8" y="1376"/>
                    </a:cubicBezTo>
                    <a:cubicBezTo>
                      <a:pt x="13" y="1381"/>
                      <a:pt x="18" y="1383"/>
                      <a:pt x="24" y="1383"/>
                    </a:cubicBezTo>
                    <a:cubicBezTo>
                      <a:pt x="30" y="1383"/>
                      <a:pt x="35" y="1381"/>
                      <a:pt x="40" y="1376"/>
                    </a:cubicBezTo>
                    <a:cubicBezTo>
                      <a:pt x="119" y="1297"/>
                      <a:pt x="374" y="1314"/>
                      <a:pt x="621" y="1331"/>
                    </a:cubicBezTo>
                    <a:cubicBezTo>
                      <a:pt x="901" y="1350"/>
                      <a:pt x="1166" y="1369"/>
                      <a:pt x="1267" y="1267"/>
                    </a:cubicBezTo>
                    <a:cubicBezTo>
                      <a:pt x="1359" y="1176"/>
                      <a:pt x="1353" y="952"/>
                      <a:pt x="1337" y="704"/>
                    </a:cubicBezTo>
                    <a:cubicBezTo>
                      <a:pt x="1330" y="704"/>
                      <a:pt x="1323" y="703"/>
                      <a:pt x="1316" y="703"/>
                    </a:cubicBezTo>
                    <a:close/>
                    <a:moveTo>
                      <a:pt x="639" y="1380"/>
                    </a:moveTo>
                    <a:cubicBezTo>
                      <a:pt x="632" y="1380"/>
                      <a:pt x="624" y="1379"/>
                      <a:pt x="617" y="1379"/>
                    </a:cubicBezTo>
                    <a:cubicBezTo>
                      <a:pt x="632" y="1607"/>
                      <a:pt x="641" y="1831"/>
                      <a:pt x="568" y="1904"/>
                    </a:cubicBezTo>
                    <a:cubicBezTo>
                      <a:pt x="559" y="1913"/>
                      <a:pt x="559" y="1927"/>
                      <a:pt x="568" y="1936"/>
                    </a:cubicBezTo>
                    <a:cubicBezTo>
                      <a:pt x="572" y="1940"/>
                      <a:pt x="578" y="1942"/>
                      <a:pt x="583" y="1942"/>
                    </a:cubicBezTo>
                    <a:cubicBezTo>
                      <a:pt x="589" y="1942"/>
                      <a:pt x="594" y="1940"/>
                      <a:pt x="599" y="1936"/>
                    </a:cubicBezTo>
                    <a:cubicBezTo>
                      <a:pt x="685" y="1849"/>
                      <a:pt x="677" y="1627"/>
                      <a:pt x="661" y="1382"/>
                    </a:cubicBezTo>
                    <a:cubicBezTo>
                      <a:pt x="654" y="1381"/>
                      <a:pt x="646" y="1381"/>
                      <a:pt x="639" y="1380"/>
                    </a:cubicBezTo>
                    <a:close/>
                    <a:moveTo>
                      <a:pt x="1936" y="568"/>
                    </a:moveTo>
                    <a:cubicBezTo>
                      <a:pt x="1927" y="559"/>
                      <a:pt x="1913" y="559"/>
                      <a:pt x="1904" y="568"/>
                    </a:cubicBezTo>
                    <a:cubicBezTo>
                      <a:pt x="1825" y="647"/>
                      <a:pt x="1570" y="630"/>
                      <a:pt x="1323" y="613"/>
                    </a:cubicBezTo>
                    <a:cubicBezTo>
                      <a:pt x="1043" y="594"/>
                      <a:pt x="778" y="575"/>
                      <a:pt x="677" y="677"/>
                    </a:cubicBezTo>
                    <a:cubicBezTo>
                      <a:pt x="585" y="768"/>
                      <a:pt x="591" y="993"/>
                      <a:pt x="607" y="1241"/>
                    </a:cubicBezTo>
                    <a:cubicBezTo>
                      <a:pt x="621" y="1242"/>
                      <a:pt x="635" y="1243"/>
                      <a:pt x="648" y="1244"/>
                    </a:cubicBezTo>
                    <a:cubicBezTo>
                      <a:pt x="649" y="1244"/>
                      <a:pt x="650" y="1244"/>
                      <a:pt x="652" y="1244"/>
                    </a:cubicBezTo>
                    <a:cubicBezTo>
                      <a:pt x="636" y="1012"/>
                      <a:pt x="629" y="787"/>
                      <a:pt x="708" y="708"/>
                    </a:cubicBezTo>
                    <a:cubicBezTo>
                      <a:pt x="795" y="621"/>
                      <a:pt x="1062" y="639"/>
                      <a:pt x="1320" y="657"/>
                    </a:cubicBezTo>
                    <a:cubicBezTo>
                      <a:pt x="1588" y="675"/>
                      <a:pt x="1842" y="693"/>
                      <a:pt x="1936" y="599"/>
                    </a:cubicBezTo>
                    <a:cubicBezTo>
                      <a:pt x="1944" y="590"/>
                      <a:pt x="1944" y="576"/>
                      <a:pt x="1936" y="56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icrosoft YaHei" panose="020B0503020204020204" pitchFamily="34" charset="-122"/>
                  <a:cs typeface="+mn-cs"/>
                </a:endParaRPr>
              </a:p>
            </p:txBody>
          </p:sp>
        </p:grpSp>
      </p:grpSp>
      <p:grpSp>
        <p:nvGrpSpPr>
          <p:cNvPr id="249" name="Group 248"/>
          <p:cNvGrpSpPr>
            <a:grpSpLocks noChangeAspect="1"/>
          </p:cNvGrpSpPr>
          <p:nvPr/>
        </p:nvGrpSpPr>
        <p:grpSpPr>
          <a:xfrm>
            <a:off x="8988380" y="5870856"/>
            <a:ext cx="432000" cy="432000"/>
            <a:chOff x="5092700" y="2611438"/>
            <a:chExt cx="1646238" cy="1646237"/>
          </a:xfrm>
        </p:grpSpPr>
        <p:sp>
          <p:nvSpPr>
            <p:cNvPr id="250" name="AutoShape 3"/>
            <p:cNvSpPr>
              <a:spLocks noChangeAspect="1" noChangeArrowheads="1" noTextEdit="1"/>
            </p:cNvSpPr>
            <p:nvPr/>
          </p:nvSpPr>
          <p:spPr bwMode="auto">
            <a:xfrm>
              <a:off x="5092700" y="2611438"/>
              <a:ext cx="1646238" cy="1646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n-ea"/>
                <a:cs typeface="+mn-cs"/>
              </a:endParaRPr>
            </a:p>
          </p:txBody>
        </p:sp>
        <p:grpSp>
          <p:nvGrpSpPr>
            <p:cNvPr id="251" name="Group 250"/>
            <p:cNvGrpSpPr/>
            <p:nvPr/>
          </p:nvGrpSpPr>
          <p:grpSpPr>
            <a:xfrm>
              <a:off x="5271563" y="2741613"/>
              <a:ext cx="1286925" cy="1266824"/>
              <a:chOff x="5271563" y="2741613"/>
              <a:chExt cx="1286925" cy="1266824"/>
            </a:xfrm>
          </p:grpSpPr>
          <p:sp>
            <p:nvSpPr>
              <p:cNvPr id="252" name="Freeform 251"/>
              <p:cNvSpPr>
                <a:spLocks/>
              </p:cNvSpPr>
              <p:nvPr/>
            </p:nvSpPr>
            <p:spPr bwMode="auto">
              <a:xfrm>
                <a:off x="5271563" y="2808288"/>
                <a:ext cx="1286925" cy="1200149"/>
              </a:xfrm>
              <a:custGeom>
                <a:avLst/>
                <a:gdLst>
                  <a:gd name="connsiteX0" fmla="*/ 435004 w 1286925"/>
                  <a:gd name="connsiteY0" fmla="*/ 906462 h 1200149"/>
                  <a:gd name="connsiteX1" fmla="*/ 639529 w 1286925"/>
                  <a:gd name="connsiteY1" fmla="*/ 1072956 h 1200149"/>
                  <a:gd name="connsiteX2" fmla="*/ 648111 w 1286925"/>
                  <a:gd name="connsiteY2" fmla="*/ 1072956 h 1200149"/>
                  <a:gd name="connsiteX3" fmla="*/ 852635 w 1286925"/>
                  <a:gd name="connsiteY3" fmla="*/ 906462 h 1200149"/>
                  <a:gd name="connsiteX4" fmla="*/ 1130103 w 1286925"/>
                  <a:gd name="connsiteY4" fmla="*/ 952909 h 1200149"/>
                  <a:gd name="connsiteX5" fmla="*/ 1286000 w 1286925"/>
                  <a:gd name="connsiteY5" fmla="*/ 1178712 h 1200149"/>
                  <a:gd name="connsiteX6" fmla="*/ 1270982 w 1286925"/>
                  <a:gd name="connsiteY6" fmla="*/ 1200149 h 1200149"/>
                  <a:gd name="connsiteX7" fmla="*/ 15943 w 1286925"/>
                  <a:gd name="connsiteY7" fmla="*/ 1200149 h 1200149"/>
                  <a:gd name="connsiteX8" fmla="*/ 925 w 1286925"/>
                  <a:gd name="connsiteY8" fmla="*/ 1178712 h 1200149"/>
                  <a:gd name="connsiteX9" fmla="*/ 157537 w 1286925"/>
                  <a:gd name="connsiteY9" fmla="*/ 952909 h 1200149"/>
                  <a:gd name="connsiteX10" fmla="*/ 435004 w 1286925"/>
                  <a:gd name="connsiteY10" fmla="*/ 906462 h 1200149"/>
                  <a:gd name="connsiteX11" fmla="*/ 947827 w 1286925"/>
                  <a:gd name="connsiteY11" fmla="*/ 647700 h 1200149"/>
                  <a:gd name="connsiteX12" fmla="*/ 1030813 w 1286925"/>
                  <a:gd name="connsiteY12" fmla="*/ 824176 h 1200149"/>
                  <a:gd name="connsiteX13" fmla="*/ 864125 w 1286925"/>
                  <a:gd name="connsiteY13" fmla="*/ 883719 h 1200149"/>
                  <a:gd name="connsiteX14" fmla="*/ 864125 w 1286925"/>
                  <a:gd name="connsiteY14" fmla="*/ 821307 h 1200149"/>
                  <a:gd name="connsiteX15" fmla="*/ 924219 w 1286925"/>
                  <a:gd name="connsiteY15" fmla="*/ 703656 h 1200149"/>
                  <a:gd name="connsiteX16" fmla="*/ 947827 w 1286925"/>
                  <a:gd name="connsiteY16" fmla="*/ 647700 h 1200149"/>
                  <a:gd name="connsiteX17" fmla="*/ 339270 w 1286925"/>
                  <a:gd name="connsiteY17" fmla="*/ 647700 h 1200149"/>
                  <a:gd name="connsiteX18" fmla="*/ 364096 w 1286925"/>
                  <a:gd name="connsiteY18" fmla="*/ 704721 h 1200149"/>
                  <a:gd name="connsiteX19" fmla="*/ 424388 w 1286925"/>
                  <a:gd name="connsiteY19" fmla="*/ 820900 h 1200149"/>
                  <a:gd name="connsiteX20" fmla="*/ 424388 w 1286925"/>
                  <a:gd name="connsiteY20" fmla="*/ 882909 h 1200149"/>
                  <a:gd name="connsiteX21" fmla="*/ 257700 w 1286925"/>
                  <a:gd name="connsiteY21" fmla="*/ 823751 h 1200149"/>
                  <a:gd name="connsiteX22" fmla="*/ 339270 w 1286925"/>
                  <a:gd name="connsiteY22" fmla="*/ 647700 h 1200149"/>
                  <a:gd name="connsiteX23" fmla="*/ 642747 w 1286925"/>
                  <a:gd name="connsiteY23" fmla="*/ 0 h 1200149"/>
                  <a:gd name="connsiteX24" fmla="*/ 982472 w 1286925"/>
                  <a:gd name="connsiteY24" fmla="*/ 344092 h 1200149"/>
                  <a:gd name="connsiteX25" fmla="*/ 970313 w 1286925"/>
                  <a:gd name="connsiteY25" fmla="*/ 459982 h 1200149"/>
                  <a:gd name="connsiteX26" fmla="*/ 970313 w 1286925"/>
                  <a:gd name="connsiteY26" fmla="*/ 459266 h 1200149"/>
                  <a:gd name="connsiteX27" fmla="*/ 933122 w 1286925"/>
                  <a:gd name="connsiteY27" fmla="*/ 511488 h 1200149"/>
                  <a:gd name="connsiteX28" fmla="*/ 929546 w 1286925"/>
                  <a:gd name="connsiteY28" fmla="*/ 512919 h 1200149"/>
                  <a:gd name="connsiteX29" fmla="*/ 908090 w 1286925"/>
                  <a:gd name="connsiteY29" fmla="*/ 512919 h 1200149"/>
                  <a:gd name="connsiteX30" fmla="*/ 905944 w 1286925"/>
                  <a:gd name="connsiteY30" fmla="*/ 512204 h 1200149"/>
                  <a:gd name="connsiteX31" fmla="*/ 458937 w 1286925"/>
                  <a:gd name="connsiteY31" fmla="*/ 276847 h 1200149"/>
                  <a:gd name="connsiteX32" fmla="*/ 454646 w 1286925"/>
                  <a:gd name="connsiteY32" fmla="*/ 276847 h 1200149"/>
                  <a:gd name="connsiteX33" fmla="*/ 322332 w 1286925"/>
                  <a:gd name="connsiteY33" fmla="*/ 484304 h 1200149"/>
                  <a:gd name="connsiteX34" fmla="*/ 303737 w 1286925"/>
                  <a:gd name="connsiteY34" fmla="*/ 344092 h 1200149"/>
                  <a:gd name="connsiteX35" fmla="*/ 642747 w 1286925"/>
                  <a:gd name="connsiteY35" fmla="*/ 0 h 1200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86925" h="1200149">
                    <a:moveTo>
                      <a:pt x="435004" y="906462"/>
                    </a:moveTo>
                    <a:cubicBezTo>
                      <a:pt x="435004" y="906462"/>
                      <a:pt x="573738" y="1020793"/>
                      <a:pt x="639529" y="1072956"/>
                    </a:cubicBezTo>
                    <a:cubicBezTo>
                      <a:pt x="642390" y="1075100"/>
                      <a:pt x="645965" y="1075100"/>
                      <a:pt x="648111" y="1072956"/>
                    </a:cubicBezTo>
                    <a:cubicBezTo>
                      <a:pt x="737501" y="1001500"/>
                      <a:pt x="852635" y="906462"/>
                      <a:pt x="852635" y="906462"/>
                    </a:cubicBezTo>
                    <a:cubicBezTo>
                      <a:pt x="852635" y="906462"/>
                      <a:pt x="1032847" y="908606"/>
                      <a:pt x="1130103" y="952909"/>
                    </a:cubicBezTo>
                    <a:cubicBezTo>
                      <a:pt x="1208766" y="988637"/>
                      <a:pt x="1265976" y="1126549"/>
                      <a:pt x="1286000" y="1178712"/>
                    </a:cubicBezTo>
                    <a:cubicBezTo>
                      <a:pt x="1289575" y="1189431"/>
                      <a:pt x="1282424" y="1200149"/>
                      <a:pt x="1270982" y="1200149"/>
                    </a:cubicBezTo>
                    <a:cubicBezTo>
                      <a:pt x="1270982" y="1200149"/>
                      <a:pt x="1270982" y="1200149"/>
                      <a:pt x="15943" y="1200149"/>
                    </a:cubicBezTo>
                    <a:cubicBezTo>
                      <a:pt x="4501" y="1200149"/>
                      <a:pt x="-2650" y="1189431"/>
                      <a:pt x="925" y="1178712"/>
                    </a:cubicBezTo>
                    <a:cubicBezTo>
                      <a:pt x="20949" y="1126549"/>
                      <a:pt x="78874" y="988637"/>
                      <a:pt x="157537" y="952909"/>
                    </a:cubicBezTo>
                    <a:cubicBezTo>
                      <a:pt x="254794" y="908606"/>
                      <a:pt x="435004" y="906462"/>
                      <a:pt x="435004" y="906462"/>
                    </a:cubicBezTo>
                    <a:close/>
                    <a:moveTo>
                      <a:pt x="947827" y="647700"/>
                    </a:moveTo>
                    <a:cubicBezTo>
                      <a:pt x="950689" y="712265"/>
                      <a:pt x="957127" y="817002"/>
                      <a:pt x="1030813" y="824176"/>
                    </a:cubicBezTo>
                    <a:cubicBezTo>
                      <a:pt x="960704" y="893762"/>
                      <a:pt x="895603" y="890893"/>
                      <a:pt x="864125" y="883719"/>
                    </a:cubicBezTo>
                    <a:cubicBezTo>
                      <a:pt x="864125" y="883719"/>
                      <a:pt x="864125" y="883719"/>
                      <a:pt x="864125" y="821307"/>
                    </a:cubicBezTo>
                    <a:cubicBezTo>
                      <a:pt x="877002" y="802655"/>
                      <a:pt x="895603" y="768938"/>
                      <a:pt x="924219" y="703656"/>
                    </a:cubicBezTo>
                    <a:cubicBezTo>
                      <a:pt x="932804" y="683569"/>
                      <a:pt x="940673" y="664200"/>
                      <a:pt x="947827" y="647700"/>
                    </a:cubicBezTo>
                    <a:close/>
                    <a:moveTo>
                      <a:pt x="339270" y="647700"/>
                    </a:moveTo>
                    <a:cubicBezTo>
                      <a:pt x="347073" y="664806"/>
                      <a:pt x="355585" y="684051"/>
                      <a:pt x="364096" y="704721"/>
                    </a:cubicBezTo>
                    <a:cubicBezTo>
                      <a:pt x="392469" y="768868"/>
                      <a:pt x="411620" y="802368"/>
                      <a:pt x="424388" y="820900"/>
                    </a:cubicBezTo>
                    <a:cubicBezTo>
                      <a:pt x="424388" y="820900"/>
                      <a:pt x="424388" y="820900"/>
                      <a:pt x="424388" y="882909"/>
                    </a:cubicBezTo>
                    <a:cubicBezTo>
                      <a:pt x="391759" y="890037"/>
                      <a:pt x="327212" y="892175"/>
                      <a:pt x="257700" y="823751"/>
                    </a:cubicBezTo>
                    <a:cubicBezTo>
                      <a:pt x="331468" y="816623"/>
                      <a:pt x="336433" y="711135"/>
                      <a:pt x="339270" y="647700"/>
                    </a:cubicBezTo>
                    <a:close/>
                    <a:moveTo>
                      <a:pt x="642747" y="0"/>
                    </a:moveTo>
                    <a:cubicBezTo>
                      <a:pt x="835138" y="0"/>
                      <a:pt x="982472" y="154519"/>
                      <a:pt x="982472" y="344092"/>
                    </a:cubicBezTo>
                    <a:cubicBezTo>
                      <a:pt x="982472" y="384868"/>
                      <a:pt x="983187" y="423498"/>
                      <a:pt x="970313" y="459982"/>
                    </a:cubicBezTo>
                    <a:cubicBezTo>
                      <a:pt x="970313" y="459982"/>
                      <a:pt x="970313" y="459982"/>
                      <a:pt x="970313" y="459266"/>
                    </a:cubicBezTo>
                    <a:cubicBezTo>
                      <a:pt x="969598" y="459982"/>
                      <a:pt x="963877" y="476435"/>
                      <a:pt x="933122" y="511488"/>
                    </a:cubicBezTo>
                    <a:cubicBezTo>
                      <a:pt x="932407" y="512204"/>
                      <a:pt x="930977" y="512919"/>
                      <a:pt x="929546" y="512919"/>
                    </a:cubicBezTo>
                    <a:cubicBezTo>
                      <a:pt x="929546" y="512919"/>
                      <a:pt x="929546" y="512919"/>
                      <a:pt x="908090" y="512919"/>
                    </a:cubicBezTo>
                    <a:cubicBezTo>
                      <a:pt x="907375" y="512919"/>
                      <a:pt x="906660" y="512919"/>
                      <a:pt x="905944" y="512204"/>
                    </a:cubicBezTo>
                    <a:cubicBezTo>
                      <a:pt x="905944" y="512204"/>
                      <a:pt x="905944" y="512204"/>
                      <a:pt x="458937" y="276847"/>
                    </a:cubicBezTo>
                    <a:cubicBezTo>
                      <a:pt x="457507" y="276132"/>
                      <a:pt x="456077" y="276132"/>
                      <a:pt x="454646" y="276847"/>
                    </a:cubicBezTo>
                    <a:cubicBezTo>
                      <a:pt x="355232" y="309754"/>
                      <a:pt x="355947" y="514350"/>
                      <a:pt x="322332" y="484304"/>
                    </a:cubicBezTo>
                    <a:cubicBezTo>
                      <a:pt x="308743" y="446390"/>
                      <a:pt x="303737" y="386299"/>
                      <a:pt x="303737" y="344092"/>
                    </a:cubicBezTo>
                    <a:cubicBezTo>
                      <a:pt x="303737" y="154519"/>
                      <a:pt x="451070" y="0"/>
                      <a:pt x="642747" y="0"/>
                    </a:cubicBezTo>
                    <a:close/>
                  </a:path>
                </a:pathLst>
              </a:custGeom>
              <a:solidFill>
                <a:schemeClr val="tx2"/>
              </a:solid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icrosoft YaHei" panose="020B0503020204020204" pitchFamily="34" charset="-122"/>
                  <a:cs typeface="+mn-cs"/>
                </a:endParaRPr>
              </a:p>
            </p:txBody>
          </p:sp>
          <p:sp>
            <p:nvSpPr>
              <p:cNvPr id="253" name="Freeform 9"/>
              <p:cNvSpPr>
                <a:spLocks/>
              </p:cNvSpPr>
              <p:nvPr/>
            </p:nvSpPr>
            <p:spPr bwMode="auto">
              <a:xfrm>
                <a:off x="5486400" y="2741613"/>
                <a:ext cx="858838" cy="981075"/>
              </a:xfrm>
              <a:custGeom>
                <a:avLst/>
                <a:gdLst>
                  <a:gd name="T0" fmla="*/ 1181 w 1204"/>
                  <a:gd name="T1" fmla="*/ 478 h 1374"/>
                  <a:gd name="T2" fmla="*/ 1156 w 1204"/>
                  <a:gd name="T3" fmla="*/ 478 h 1374"/>
                  <a:gd name="T4" fmla="*/ 602 w 1204"/>
                  <a:gd name="T5" fmla="*/ 0 h 1374"/>
                  <a:gd name="T6" fmla="*/ 48 w 1204"/>
                  <a:gd name="T7" fmla="*/ 478 h 1374"/>
                  <a:gd name="T8" fmla="*/ 23 w 1204"/>
                  <a:gd name="T9" fmla="*/ 478 h 1374"/>
                  <a:gd name="T10" fmla="*/ 0 w 1204"/>
                  <a:gd name="T11" fmla="*/ 501 h 1374"/>
                  <a:gd name="T12" fmla="*/ 0 w 1204"/>
                  <a:gd name="T13" fmla="*/ 807 h 1374"/>
                  <a:gd name="T14" fmla="*/ 23 w 1204"/>
                  <a:gd name="T15" fmla="*/ 830 h 1374"/>
                  <a:gd name="T16" fmla="*/ 63 w 1204"/>
                  <a:gd name="T17" fmla="*/ 830 h 1374"/>
                  <a:gd name="T18" fmla="*/ 83 w 1204"/>
                  <a:gd name="T19" fmla="*/ 818 h 1374"/>
                  <a:gd name="T20" fmla="*/ 241 w 1204"/>
                  <a:gd name="T21" fmla="*/ 1039 h 1374"/>
                  <a:gd name="T22" fmla="*/ 338 w 1204"/>
                  <a:gd name="T23" fmla="*/ 1228 h 1374"/>
                  <a:gd name="T24" fmla="*/ 338 w 1204"/>
                  <a:gd name="T25" fmla="*/ 1325 h 1374"/>
                  <a:gd name="T26" fmla="*/ 345 w 1204"/>
                  <a:gd name="T27" fmla="*/ 1335 h 1374"/>
                  <a:gd name="T28" fmla="*/ 382 w 1204"/>
                  <a:gd name="T29" fmla="*/ 1374 h 1374"/>
                  <a:gd name="T30" fmla="*/ 382 w 1204"/>
                  <a:gd name="T31" fmla="*/ 1265 h 1374"/>
                  <a:gd name="T32" fmla="*/ 602 w 1204"/>
                  <a:gd name="T33" fmla="*/ 1361 h 1374"/>
                  <a:gd name="T34" fmla="*/ 822 w 1204"/>
                  <a:gd name="T35" fmla="*/ 1265 h 1374"/>
                  <a:gd name="T36" fmla="*/ 822 w 1204"/>
                  <a:gd name="T37" fmla="*/ 1374 h 1374"/>
                  <a:gd name="T38" fmla="*/ 859 w 1204"/>
                  <a:gd name="T39" fmla="*/ 1335 h 1374"/>
                  <a:gd name="T40" fmla="*/ 866 w 1204"/>
                  <a:gd name="T41" fmla="*/ 1325 h 1374"/>
                  <a:gd name="T42" fmla="*/ 866 w 1204"/>
                  <a:gd name="T43" fmla="*/ 1228 h 1374"/>
                  <a:gd name="T44" fmla="*/ 1010 w 1204"/>
                  <a:gd name="T45" fmla="*/ 926 h 1374"/>
                  <a:gd name="T46" fmla="*/ 1079 w 1204"/>
                  <a:gd name="T47" fmla="*/ 816 h 1374"/>
                  <a:gd name="T48" fmla="*/ 1079 w 1204"/>
                  <a:gd name="T49" fmla="*/ 813 h 1374"/>
                  <a:gd name="T50" fmla="*/ 1028 w 1204"/>
                  <a:gd name="T51" fmla="*/ 838 h 1374"/>
                  <a:gd name="T52" fmla="*/ 982 w 1204"/>
                  <a:gd name="T53" fmla="*/ 891 h 1374"/>
                  <a:gd name="T54" fmla="*/ 972 w 1204"/>
                  <a:gd name="T55" fmla="*/ 902 h 1374"/>
                  <a:gd name="T56" fmla="*/ 828 w 1204"/>
                  <a:gd name="T57" fmla="*/ 1204 h 1374"/>
                  <a:gd name="T58" fmla="*/ 602 w 1204"/>
                  <a:gd name="T59" fmla="*/ 1317 h 1374"/>
                  <a:gd name="T60" fmla="*/ 376 w 1204"/>
                  <a:gd name="T61" fmla="*/ 1204 h 1374"/>
                  <a:gd name="T62" fmla="*/ 314 w 1204"/>
                  <a:gd name="T63" fmla="*/ 1093 h 1374"/>
                  <a:gd name="T64" fmla="*/ 509 w 1204"/>
                  <a:gd name="T65" fmla="*/ 1168 h 1374"/>
                  <a:gd name="T66" fmla="*/ 602 w 1204"/>
                  <a:gd name="T67" fmla="*/ 1216 h 1374"/>
                  <a:gd name="T68" fmla="*/ 695 w 1204"/>
                  <a:gd name="T69" fmla="*/ 1168 h 1374"/>
                  <a:gd name="T70" fmla="*/ 700 w 1204"/>
                  <a:gd name="T71" fmla="*/ 1147 h 1374"/>
                  <a:gd name="T72" fmla="*/ 693 w 1204"/>
                  <a:gd name="T73" fmla="*/ 1122 h 1374"/>
                  <a:gd name="T74" fmla="*/ 602 w 1204"/>
                  <a:gd name="T75" fmla="*/ 1078 h 1374"/>
                  <a:gd name="T76" fmla="*/ 511 w 1204"/>
                  <a:gd name="T77" fmla="*/ 1122 h 1374"/>
                  <a:gd name="T78" fmla="*/ 276 w 1204"/>
                  <a:gd name="T79" fmla="*/ 1009 h 1374"/>
                  <a:gd name="T80" fmla="*/ 133 w 1204"/>
                  <a:gd name="T81" fmla="*/ 817 h 1374"/>
                  <a:gd name="T82" fmla="*/ 86 w 1204"/>
                  <a:gd name="T83" fmla="*/ 632 h 1374"/>
                  <a:gd name="T84" fmla="*/ 84 w 1204"/>
                  <a:gd name="T85" fmla="*/ 588 h 1374"/>
                  <a:gd name="T86" fmla="*/ 86 w 1204"/>
                  <a:gd name="T87" fmla="*/ 543 h 1374"/>
                  <a:gd name="T88" fmla="*/ 602 w 1204"/>
                  <a:gd name="T89" fmla="*/ 46 h 1374"/>
                  <a:gd name="T90" fmla="*/ 1118 w 1204"/>
                  <a:gd name="T91" fmla="*/ 543 h 1374"/>
                  <a:gd name="T92" fmla="*/ 1118 w 1204"/>
                  <a:gd name="T93" fmla="*/ 807 h 1374"/>
                  <a:gd name="T94" fmla="*/ 1121 w 1204"/>
                  <a:gd name="T95" fmla="*/ 818 h 1374"/>
                  <a:gd name="T96" fmla="*/ 1141 w 1204"/>
                  <a:gd name="T97" fmla="*/ 830 h 1374"/>
                  <a:gd name="T98" fmla="*/ 1181 w 1204"/>
                  <a:gd name="T99" fmla="*/ 830 h 1374"/>
                  <a:gd name="T100" fmla="*/ 1204 w 1204"/>
                  <a:gd name="T101" fmla="*/ 807 h 1374"/>
                  <a:gd name="T102" fmla="*/ 1204 w 1204"/>
                  <a:gd name="T103" fmla="*/ 501 h 1374"/>
                  <a:gd name="T104" fmla="*/ 1181 w 1204"/>
                  <a:gd name="T105" fmla="*/ 478 h 1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4" h="1374">
                    <a:moveTo>
                      <a:pt x="1181" y="478"/>
                    </a:moveTo>
                    <a:cubicBezTo>
                      <a:pt x="1181" y="478"/>
                      <a:pt x="1181" y="478"/>
                      <a:pt x="1156" y="478"/>
                    </a:cubicBezTo>
                    <a:cubicBezTo>
                      <a:pt x="1106" y="206"/>
                      <a:pt x="877" y="0"/>
                      <a:pt x="602" y="0"/>
                    </a:cubicBezTo>
                    <a:cubicBezTo>
                      <a:pt x="327" y="0"/>
                      <a:pt x="98" y="206"/>
                      <a:pt x="48" y="478"/>
                    </a:cubicBezTo>
                    <a:cubicBezTo>
                      <a:pt x="48" y="478"/>
                      <a:pt x="48" y="478"/>
                      <a:pt x="23" y="478"/>
                    </a:cubicBezTo>
                    <a:cubicBezTo>
                      <a:pt x="11" y="478"/>
                      <a:pt x="0" y="488"/>
                      <a:pt x="0" y="501"/>
                    </a:cubicBezTo>
                    <a:cubicBezTo>
                      <a:pt x="0" y="501"/>
                      <a:pt x="0" y="501"/>
                      <a:pt x="0" y="807"/>
                    </a:cubicBezTo>
                    <a:cubicBezTo>
                      <a:pt x="0" y="819"/>
                      <a:pt x="11" y="830"/>
                      <a:pt x="23" y="830"/>
                    </a:cubicBezTo>
                    <a:cubicBezTo>
                      <a:pt x="23" y="830"/>
                      <a:pt x="23" y="830"/>
                      <a:pt x="63" y="830"/>
                    </a:cubicBezTo>
                    <a:cubicBezTo>
                      <a:pt x="72" y="830"/>
                      <a:pt x="79" y="825"/>
                      <a:pt x="83" y="818"/>
                    </a:cubicBezTo>
                    <a:cubicBezTo>
                      <a:pt x="119" y="904"/>
                      <a:pt x="173" y="980"/>
                      <a:pt x="241" y="1039"/>
                    </a:cubicBezTo>
                    <a:cubicBezTo>
                      <a:pt x="272" y="1112"/>
                      <a:pt x="311" y="1194"/>
                      <a:pt x="338" y="1228"/>
                    </a:cubicBezTo>
                    <a:cubicBezTo>
                      <a:pt x="338" y="1228"/>
                      <a:pt x="338" y="1228"/>
                      <a:pt x="338" y="1325"/>
                    </a:cubicBezTo>
                    <a:cubicBezTo>
                      <a:pt x="338" y="1325"/>
                      <a:pt x="338" y="1325"/>
                      <a:pt x="345" y="1335"/>
                    </a:cubicBezTo>
                    <a:cubicBezTo>
                      <a:pt x="347" y="1337"/>
                      <a:pt x="359" y="1353"/>
                      <a:pt x="382" y="1374"/>
                    </a:cubicBezTo>
                    <a:cubicBezTo>
                      <a:pt x="382" y="1374"/>
                      <a:pt x="382" y="1374"/>
                      <a:pt x="382" y="1265"/>
                    </a:cubicBezTo>
                    <a:cubicBezTo>
                      <a:pt x="441" y="1308"/>
                      <a:pt x="537" y="1361"/>
                      <a:pt x="602" y="1361"/>
                    </a:cubicBezTo>
                    <a:cubicBezTo>
                      <a:pt x="667" y="1361"/>
                      <a:pt x="763" y="1308"/>
                      <a:pt x="822" y="1265"/>
                    </a:cubicBezTo>
                    <a:cubicBezTo>
                      <a:pt x="822" y="1265"/>
                      <a:pt x="822" y="1265"/>
                      <a:pt x="822" y="1374"/>
                    </a:cubicBezTo>
                    <a:cubicBezTo>
                      <a:pt x="845" y="1353"/>
                      <a:pt x="857" y="1337"/>
                      <a:pt x="859" y="1335"/>
                    </a:cubicBezTo>
                    <a:cubicBezTo>
                      <a:pt x="859" y="1335"/>
                      <a:pt x="859" y="1335"/>
                      <a:pt x="866" y="1325"/>
                    </a:cubicBezTo>
                    <a:cubicBezTo>
                      <a:pt x="866" y="1325"/>
                      <a:pt x="866" y="1325"/>
                      <a:pt x="866" y="1228"/>
                    </a:cubicBezTo>
                    <a:cubicBezTo>
                      <a:pt x="911" y="1172"/>
                      <a:pt x="988" y="981"/>
                      <a:pt x="1010" y="926"/>
                    </a:cubicBezTo>
                    <a:cubicBezTo>
                      <a:pt x="1062" y="895"/>
                      <a:pt x="1076" y="839"/>
                      <a:pt x="1079" y="816"/>
                    </a:cubicBezTo>
                    <a:cubicBezTo>
                      <a:pt x="1079" y="815"/>
                      <a:pt x="1079" y="814"/>
                      <a:pt x="1079" y="813"/>
                    </a:cubicBezTo>
                    <a:cubicBezTo>
                      <a:pt x="1079" y="813"/>
                      <a:pt x="1079" y="813"/>
                      <a:pt x="1028" y="838"/>
                    </a:cubicBezTo>
                    <a:cubicBezTo>
                      <a:pt x="1021" y="857"/>
                      <a:pt x="1007" y="878"/>
                      <a:pt x="982" y="891"/>
                    </a:cubicBezTo>
                    <a:cubicBezTo>
                      <a:pt x="977" y="893"/>
                      <a:pt x="973" y="897"/>
                      <a:pt x="972" y="902"/>
                    </a:cubicBezTo>
                    <a:cubicBezTo>
                      <a:pt x="931" y="1005"/>
                      <a:pt x="856" y="1179"/>
                      <a:pt x="828" y="1204"/>
                    </a:cubicBezTo>
                    <a:cubicBezTo>
                      <a:pt x="783" y="1244"/>
                      <a:pt x="667" y="1317"/>
                      <a:pt x="602" y="1317"/>
                    </a:cubicBezTo>
                    <a:cubicBezTo>
                      <a:pt x="537" y="1317"/>
                      <a:pt x="421" y="1244"/>
                      <a:pt x="376" y="1204"/>
                    </a:cubicBezTo>
                    <a:cubicBezTo>
                      <a:pt x="363" y="1192"/>
                      <a:pt x="339" y="1148"/>
                      <a:pt x="314" y="1093"/>
                    </a:cubicBezTo>
                    <a:cubicBezTo>
                      <a:pt x="373" y="1130"/>
                      <a:pt x="439" y="1156"/>
                      <a:pt x="509" y="1168"/>
                    </a:cubicBezTo>
                    <a:cubicBezTo>
                      <a:pt x="521" y="1196"/>
                      <a:pt x="558" y="1216"/>
                      <a:pt x="602" y="1216"/>
                    </a:cubicBezTo>
                    <a:cubicBezTo>
                      <a:pt x="646" y="1216"/>
                      <a:pt x="683" y="1196"/>
                      <a:pt x="695" y="1168"/>
                    </a:cubicBezTo>
                    <a:cubicBezTo>
                      <a:pt x="698" y="1161"/>
                      <a:pt x="700" y="1154"/>
                      <a:pt x="700" y="1147"/>
                    </a:cubicBezTo>
                    <a:cubicBezTo>
                      <a:pt x="700" y="1138"/>
                      <a:pt x="698" y="1130"/>
                      <a:pt x="693" y="1122"/>
                    </a:cubicBezTo>
                    <a:cubicBezTo>
                      <a:pt x="679" y="1096"/>
                      <a:pt x="644" y="1078"/>
                      <a:pt x="602" y="1078"/>
                    </a:cubicBezTo>
                    <a:cubicBezTo>
                      <a:pt x="560" y="1078"/>
                      <a:pt x="525" y="1096"/>
                      <a:pt x="511" y="1122"/>
                    </a:cubicBezTo>
                    <a:cubicBezTo>
                      <a:pt x="423" y="1105"/>
                      <a:pt x="343" y="1066"/>
                      <a:pt x="276" y="1009"/>
                    </a:cubicBezTo>
                    <a:cubicBezTo>
                      <a:pt x="216" y="957"/>
                      <a:pt x="166" y="892"/>
                      <a:pt x="133" y="817"/>
                    </a:cubicBezTo>
                    <a:cubicBezTo>
                      <a:pt x="108" y="760"/>
                      <a:pt x="91" y="698"/>
                      <a:pt x="86" y="632"/>
                    </a:cubicBezTo>
                    <a:cubicBezTo>
                      <a:pt x="85" y="618"/>
                      <a:pt x="84" y="603"/>
                      <a:pt x="84" y="588"/>
                    </a:cubicBezTo>
                    <a:cubicBezTo>
                      <a:pt x="84" y="573"/>
                      <a:pt x="85" y="558"/>
                      <a:pt x="86" y="543"/>
                    </a:cubicBezTo>
                    <a:cubicBezTo>
                      <a:pt x="108" y="265"/>
                      <a:pt x="331" y="46"/>
                      <a:pt x="602" y="46"/>
                    </a:cubicBezTo>
                    <a:cubicBezTo>
                      <a:pt x="873" y="46"/>
                      <a:pt x="1096" y="265"/>
                      <a:pt x="1118" y="543"/>
                    </a:cubicBezTo>
                    <a:cubicBezTo>
                      <a:pt x="1119" y="558"/>
                      <a:pt x="1118" y="807"/>
                      <a:pt x="1118" y="807"/>
                    </a:cubicBezTo>
                    <a:cubicBezTo>
                      <a:pt x="1118" y="811"/>
                      <a:pt x="1119" y="814"/>
                      <a:pt x="1121" y="818"/>
                    </a:cubicBezTo>
                    <a:cubicBezTo>
                      <a:pt x="1125" y="825"/>
                      <a:pt x="1132" y="830"/>
                      <a:pt x="1141" y="830"/>
                    </a:cubicBezTo>
                    <a:cubicBezTo>
                      <a:pt x="1141" y="830"/>
                      <a:pt x="1141" y="830"/>
                      <a:pt x="1181" y="830"/>
                    </a:cubicBezTo>
                    <a:cubicBezTo>
                      <a:pt x="1193" y="830"/>
                      <a:pt x="1204" y="819"/>
                      <a:pt x="1204" y="807"/>
                    </a:cubicBezTo>
                    <a:cubicBezTo>
                      <a:pt x="1204" y="807"/>
                      <a:pt x="1204" y="807"/>
                      <a:pt x="1204" y="501"/>
                    </a:cubicBezTo>
                    <a:cubicBezTo>
                      <a:pt x="1204" y="488"/>
                      <a:pt x="1193" y="478"/>
                      <a:pt x="1181" y="47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icrosoft YaHei" panose="020B0503020204020204" pitchFamily="34" charset="-122"/>
                  <a:cs typeface="+mn-cs"/>
                </a:endParaRPr>
              </a:p>
            </p:txBody>
          </p:sp>
        </p:grpSp>
      </p:grpSp>
      <p:grpSp>
        <p:nvGrpSpPr>
          <p:cNvPr id="254" name="bcgIcons_ArtificialIntelligence">
            <a:extLst>
              <a:ext uri="{FF2B5EF4-FFF2-40B4-BE49-F238E27FC236}">
                <a16:creationId xmlns:a16="http://schemas.microsoft.com/office/drawing/2014/main" id="{BFFCA9BF-BA86-4E9F-82D9-0F442197B23A}"/>
              </a:ext>
            </a:extLst>
          </p:cNvPr>
          <p:cNvGrpSpPr>
            <a:grpSpLocks noChangeAspect="1"/>
          </p:cNvGrpSpPr>
          <p:nvPr/>
        </p:nvGrpSpPr>
        <p:grpSpPr bwMode="auto">
          <a:xfrm>
            <a:off x="4163697" y="4254088"/>
            <a:ext cx="561899" cy="562420"/>
            <a:chOff x="1682" y="0"/>
            <a:chExt cx="4316" cy="4320"/>
          </a:xfrm>
        </p:grpSpPr>
        <p:sp>
          <p:nvSpPr>
            <p:cNvPr id="255" name="AutoShape 39">
              <a:extLst>
                <a:ext uri="{FF2B5EF4-FFF2-40B4-BE49-F238E27FC236}">
                  <a16:creationId xmlns:a16="http://schemas.microsoft.com/office/drawing/2014/main" id="{A611F4C5-5377-40D1-BA73-CFE02B4F8513}"/>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n-ea"/>
                <a:cs typeface="+mn-cs"/>
              </a:endParaRPr>
            </a:p>
          </p:txBody>
        </p:sp>
        <p:sp>
          <p:nvSpPr>
            <p:cNvPr id="256" name="Freeform 41">
              <a:extLst>
                <a:ext uri="{FF2B5EF4-FFF2-40B4-BE49-F238E27FC236}">
                  <a16:creationId xmlns:a16="http://schemas.microsoft.com/office/drawing/2014/main" id="{C5E4963F-6A16-4CD4-B630-9A1C2E4E0551}"/>
                </a:ext>
              </a:extLst>
            </p:cNvPr>
            <p:cNvSpPr>
              <a:spLocks noEditPoints="1"/>
            </p:cNvSpPr>
            <p:nvPr/>
          </p:nvSpPr>
          <p:spPr bwMode="auto">
            <a:xfrm>
              <a:off x="2145" y="465"/>
              <a:ext cx="3387" cy="3390"/>
            </a:xfrm>
            <a:custGeom>
              <a:avLst/>
              <a:gdLst>
                <a:gd name="T0" fmla="*/ 258 w 1808"/>
                <a:gd name="T1" fmla="*/ 1528 h 1808"/>
                <a:gd name="T2" fmla="*/ 1528 w 1808"/>
                <a:gd name="T3" fmla="*/ 258 h 1808"/>
                <a:gd name="T4" fmla="*/ 1528 w 1808"/>
                <a:gd name="T5" fmla="*/ 1550 h 1808"/>
                <a:gd name="T6" fmla="*/ 1506 w 1808"/>
                <a:gd name="T7" fmla="*/ 302 h 1808"/>
                <a:gd name="T8" fmla="*/ 550 w 1808"/>
                <a:gd name="T9" fmla="*/ 180 h 1808"/>
                <a:gd name="T10" fmla="*/ 506 w 1808"/>
                <a:gd name="T11" fmla="*/ 22 h 1808"/>
                <a:gd name="T12" fmla="*/ 550 w 1808"/>
                <a:gd name="T13" fmla="*/ 180 h 1808"/>
                <a:gd name="T14" fmla="*/ 779 w 1808"/>
                <a:gd name="T15" fmla="*/ 0 h 1808"/>
                <a:gd name="T16" fmla="*/ 779 w 1808"/>
                <a:gd name="T17" fmla="*/ 202 h 1808"/>
                <a:gd name="T18" fmla="*/ 1051 w 1808"/>
                <a:gd name="T19" fmla="*/ 22 h 1808"/>
                <a:gd name="T20" fmla="*/ 1007 w 1808"/>
                <a:gd name="T21" fmla="*/ 180 h 1808"/>
                <a:gd name="T22" fmla="*/ 1302 w 1808"/>
                <a:gd name="T23" fmla="*/ 180 h 1808"/>
                <a:gd name="T24" fmla="*/ 1258 w 1808"/>
                <a:gd name="T25" fmla="*/ 22 h 1808"/>
                <a:gd name="T26" fmla="*/ 1302 w 1808"/>
                <a:gd name="T27" fmla="*/ 180 h 1808"/>
                <a:gd name="T28" fmla="*/ 528 w 1808"/>
                <a:gd name="T29" fmla="*/ 1606 h 1808"/>
                <a:gd name="T30" fmla="*/ 528 w 1808"/>
                <a:gd name="T31" fmla="*/ 1808 h 1808"/>
                <a:gd name="T32" fmla="*/ 801 w 1808"/>
                <a:gd name="T33" fmla="*/ 1628 h 1808"/>
                <a:gd name="T34" fmla="*/ 757 w 1808"/>
                <a:gd name="T35" fmla="*/ 1786 h 1808"/>
                <a:gd name="T36" fmla="*/ 1051 w 1808"/>
                <a:gd name="T37" fmla="*/ 1786 h 1808"/>
                <a:gd name="T38" fmla="*/ 1007 w 1808"/>
                <a:gd name="T39" fmla="*/ 1628 h 1808"/>
                <a:gd name="T40" fmla="*/ 1051 w 1808"/>
                <a:gd name="T41" fmla="*/ 1786 h 1808"/>
                <a:gd name="T42" fmla="*/ 1280 w 1808"/>
                <a:gd name="T43" fmla="*/ 1606 h 1808"/>
                <a:gd name="T44" fmla="*/ 1280 w 1808"/>
                <a:gd name="T45" fmla="*/ 1808 h 1808"/>
                <a:gd name="T46" fmla="*/ 1786 w 1808"/>
                <a:gd name="T47" fmla="*/ 506 h 1808"/>
                <a:gd name="T48" fmla="*/ 1628 w 1808"/>
                <a:gd name="T49" fmla="*/ 550 h 1808"/>
                <a:gd name="T50" fmla="*/ 1808 w 1808"/>
                <a:gd name="T51" fmla="*/ 779 h 1808"/>
                <a:gd name="T52" fmla="*/ 1606 w 1808"/>
                <a:gd name="T53" fmla="*/ 779 h 1808"/>
                <a:gd name="T54" fmla="*/ 1808 w 1808"/>
                <a:gd name="T55" fmla="*/ 779 h 1808"/>
                <a:gd name="T56" fmla="*/ 1628 w 1808"/>
                <a:gd name="T57" fmla="*/ 1007 h 1808"/>
                <a:gd name="T58" fmla="*/ 1786 w 1808"/>
                <a:gd name="T59" fmla="*/ 1051 h 1808"/>
                <a:gd name="T60" fmla="*/ 1786 w 1808"/>
                <a:gd name="T61" fmla="*/ 1258 h 1808"/>
                <a:gd name="T62" fmla="*/ 1628 w 1808"/>
                <a:gd name="T63" fmla="*/ 1302 h 1808"/>
                <a:gd name="T64" fmla="*/ 202 w 1808"/>
                <a:gd name="T65" fmla="*/ 528 h 1808"/>
                <a:gd name="T66" fmla="*/ 0 w 1808"/>
                <a:gd name="T67" fmla="*/ 528 h 1808"/>
                <a:gd name="T68" fmla="*/ 202 w 1808"/>
                <a:gd name="T69" fmla="*/ 528 h 1808"/>
                <a:gd name="T70" fmla="*/ 22 w 1808"/>
                <a:gd name="T71" fmla="*/ 757 h 1808"/>
                <a:gd name="T72" fmla="*/ 180 w 1808"/>
                <a:gd name="T73" fmla="*/ 801 h 1808"/>
                <a:gd name="T74" fmla="*/ 180 w 1808"/>
                <a:gd name="T75" fmla="*/ 1007 h 1808"/>
                <a:gd name="T76" fmla="*/ 22 w 1808"/>
                <a:gd name="T77" fmla="*/ 1051 h 1808"/>
                <a:gd name="T78" fmla="*/ 202 w 1808"/>
                <a:gd name="T79" fmla="*/ 1280 h 1808"/>
                <a:gd name="T80" fmla="*/ 0 w 1808"/>
                <a:gd name="T81" fmla="*/ 1280 h 1808"/>
                <a:gd name="T82" fmla="*/ 202 w 1808"/>
                <a:gd name="T83" fmla="*/ 1280 h 1808"/>
                <a:gd name="T84" fmla="*/ 1303 w 1808"/>
                <a:gd name="T85" fmla="*/ 611 h 1808"/>
                <a:gd name="T86" fmla="*/ 913 w 1808"/>
                <a:gd name="T87" fmla="*/ 448 h 1808"/>
                <a:gd name="T88" fmla="*/ 522 w 1808"/>
                <a:gd name="T89" fmla="*/ 611 h 1808"/>
                <a:gd name="T90" fmla="*/ 463 w 1808"/>
                <a:gd name="T91" fmla="*/ 996 h 1808"/>
                <a:gd name="T92" fmla="*/ 677 w 1808"/>
                <a:gd name="T93" fmla="*/ 1339 h 1808"/>
                <a:gd name="T94" fmla="*/ 1001 w 1808"/>
                <a:gd name="T95" fmla="*/ 1408 h 1808"/>
                <a:gd name="T96" fmla="*/ 1362 w 1808"/>
                <a:gd name="T97" fmla="*/ 996 h 1808"/>
                <a:gd name="T98" fmla="*/ 707 w 1808"/>
                <a:gd name="T99" fmla="*/ 1308 h 1808"/>
                <a:gd name="T100" fmla="*/ 548 w 1808"/>
                <a:gd name="T101" fmla="*/ 1126 h 1808"/>
                <a:gd name="T102" fmla="*/ 536 w 1808"/>
                <a:gd name="T103" fmla="*/ 862 h 1808"/>
                <a:gd name="T104" fmla="*/ 640 w 1808"/>
                <a:gd name="T105" fmla="*/ 581 h 1808"/>
                <a:gd name="T106" fmla="*/ 887 w 1808"/>
                <a:gd name="T107" fmla="*/ 485 h 1808"/>
                <a:gd name="T108" fmla="*/ 826 w 1808"/>
                <a:gd name="T109" fmla="*/ 1364 h 1808"/>
                <a:gd name="T110" fmla="*/ 1179 w 1808"/>
                <a:gd name="T111" fmla="*/ 1211 h 1808"/>
                <a:gd name="T112" fmla="*/ 935 w 1808"/>
                <a:gd name="T113" fmla="*/ 489 h 1808"/>
                <a:gd name="T114" fmla="*/ 1170 w 1808"/>
                <a:gd name="T115" fmla="*/ 563 h 1808"/>
                <a:gd name="T116" fmla="*/ 1314 w 1808"/>
                <a:gd name="T117" fmla="*/ 765 h 1808"/>
                <a:gd name="T118" fmla="*/ 1318 w 1808"/>
                <a:gd name="T119" fmla="*/ 996 h 1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08" h="1808">
                  <a:moveTo>
                    <a:pt x="1528" y="1550"/>
                  </a:moveTo>
                  <a:cubicBezTo>
                    <a:pt x="280" y="1550"/>
                    <a:pt x="280" y="1550"/>
                    <a:pt x="280" y="1550"/>
                  </a:cubicBezTo>
                  <a:cubicBezTo>
                    <a:pt x="268" y="1550"/>
                    <a:pt x="258" y="1540"/>
                    <a:pt x="258" y="1528"/>
                  </a:cubicBezTo>
                  <a:cubicBezTo>
                    <a:pt x="258" y="280"/>
                    <a:pt x="258" y="280"/>
                    <a:pt x="258" y="280"/>
                  </a:cubicBezTo>
                  <a:cubicBezTo>
                    <a:pt x="258" y="268"/>
                    <a:pt x="268" y="258"/>
                    <a:pt x="280" y="258"/>
                  </a:cubicBezTo>
                  <a:cubicBezTo>
                    <a:pt x="1528" y="258"/>
                    <a:pt x="1528" y="258"/>
                    <a:pt x="1528" y="258"/>
                  </a:cubicBezTo>
                  <a:cubicBezTo>
                    <a:pt x="1540" y="258"/>
                    <a:pt x="1550" y="268"/>
                    <a:pt x="1550" y="280"/>
                  </a:cubicBezTo>
                  <a:cubicBezTo>
                    <a:pt x="1550" y="1528"/>
                    <a:pt x="1550" y="1528"/>
                    <a:pt x="1550" y="1528"/>
                  </a:cubicBezTo>
                  <a:cubicBezTo>
                    <a:pt x="1550" y="1540"/>
                    <a:pt x="1540" y="1550"/>
                    <a:pt x="1528" y="1550"/>
                  </a:cubicBezTo>
                  <a:close/>
                  <a:moveTo>
                    <a:pt x="302" y="1506"/>
                  </a:moveTo>
                  <a:cubicBezTo>
                    <a:pt x="1506" y="1506"/>
                    <a:pt x="1506" y="1506"/>
                    <a:pt x="1506" y="1506"/>
                  </a:cubicBezTo>
                  <a:cubicBezTo>
                    <a:pt x="1506" y="302"/>
                    <a:pt x="1506" y="302"/>
                    <a:pt x="1506" y="302"/>
                  </a:cubicBezTo>
                  <a:cubicBezTo>
                    <a:pt x="302" y="302"/>
                    <a:pt x="302" y="302"/>
                    <a:pt x="302" y="302"/>
                  </a:cubicBezTo>
                  <a:lnTo>
                    <a:pt x="302" y="1506"/>
                  </a:lnTo>
                  <a:close/>
                  <a:moveTo>
                    <a:pt x="550" y="180"/>
                  </a:moveTo>
                  <a:cubicBezTo>
                    <a:pt x="550" y="22"/>
                    <a:pt x="550" y="22"/>
                    <a:pt x="550" y="22"/>
                  </a:cubicBezTo>
                  <a:cubicBezTo>
                    <a:pt x="550" y="10"/>
                    <a:pt x="540" y="0"/>
                    <a:pt x="528" y="0"/>
                  </a:cubicBezTo>
                  <a:cubicBezTo>
                    <a:pt x="516" y="0"/>
                    <a:pt x="506" y="10"/>
                    <a:pt x="506" y="22"/>
                  </a:cubicBezTo>
                  <a:cubicBezTo>
                    <a:pt x="506" y="180"/>
                    <a:pt x="506" y="180"/>
                    <a:pt x="506" y="180"/>
                  </a:cubicBezTo>
                  <a:cubicBezTo>
                    <a:pt x="506" y="192"/>
                    <a:pt x="516" y="202"/>
                    <a:pt x="528" y="202"/>
                  </a:cubicBezTo>
                  <a:cubicBezTo>
                    <a:pt x="540" y="202"/>
                    <a:pt x="550" y="192"/>
                    <a:pt x="550" y="180"/>
                  </a:cubicBezTo>
                  <a:close/>
                  <a:moveTo>
                    <a:pt x="801" y="180"/>
                  </a:moveTo>
                  <a:cubicBezTo>
                    <a:pt x="801" y="22"/>
                    <a:pt x="801" y="22"/>
                    <a:pt x="801" y="22"/>
                  </a:cubicBezTo>
                  <a:cubicBezTo>
                    <a:pt x="801" y="10"/>
                    <a:pt x="791" y="0"/>
                    <a:pt x="779" y="0"/>
                  </a:cubicBezTo>
                  <a:cubicBezTo>
                    <a:pt x="766" y="0"/>
                    <a:pt x="757" y="10"/>
                    <a:pt x="757" y="22"/>
                  </a:cubicBezTo>
                  <a:cubicBezTo>
                    <a:pt x="757" y="180"/>
                    <a:pt x="757" y="180"/>
                    <a:pt x="757" y="180"/>
                  </a:cubicBezTo>
                  <a:cubicBezTo>
                    <a:pt x="757" y="192"/>
                    <a:pt x="766" y="202"/>
                    <a:pt x="779" y="202"/>
                  </a:cubicBezTo>
                  <a:cubicBezTo>
                    <a:pt x="791" y="202"/>
                    <a:pt x="801" y="192"/>
                    <a:pt x="801" y="180"/>
                  </a:cubicBezTo>
                  <a:close/>
                  <a:moveTo>
                    <a:pt x="1051" y="180"/>
                  </a:moveTo>
                  <a:cubicBezTo>
                    <a:pt x="1051" y="22"/>
                    <a:pt x="1051" y="22"/>
                    <a:pt x="1051" y="22"/>
                  </a:cubicBezTo>
                  <a:cubicBezTo>
                    <a:pt x="1051" y="10"/>
                    <a:pt x="1042" y="0"/>
                    <a:pt x="1029" y="0"/>
                  </a:cubicBezTo>
                  <a:cubicBezTo>
                    <a:pt x="1017" y="0"/>
                    <a:pt x="1007" y="10"/>
                    <a:pt x="1007" y="22"/>
                  </a:cubicBezTo>
                  <a:cubicBezTo>
                    <a:pt x="1007" y="180"/>
                    <a:pt x="1007" y="180"/>
                    <a:pt x="1007" y="180"/>
                  </a:cubicBezTo>
                  <a:cubicBezTo>
                    <a:pt x="1007" y="192"/>
                    <a:pt x="1017" y="202"/>
                    <a:pt x="1029" y="202"/>
                  </a:cubicBezTo>
                  <a:cubicBezTo>
                    <a:pt x="1042" y="202"/>
                    <a:pt x="1051" y="192"/>
                    <a:pt x="1051" y="180"/>
                  </a:cubicBezTo>
                  <a:close/>
                  <a:moveTo>
                    <a:pt x="1302" y="180"/>
                  </a:moveTo>
                  <a:cubicBezTo>
                    <a:pt x="1302" y="22"/>
                    <a:pt x="1302" y="22"/>
                    <a:pt x="1302" y="22"/>
                  </a:cubicBezTo>
                  <a:cubicBezTo>
                    <a:pt x="1302" y="10"/>
                    <a:pt x="1292" y="0"/>
                    <a:pt x="1280" y="0"/>
                  </a:cubicBezTo>
                  <a:cubicBezTo>
                    <a:pt x="1268" y="0"/>
                    <a:pt x="1258" y="10"/>
                    <a:pt x="1258" y="22"/>
                  </a:cubicBezTo>
                  <a:cubicBezTo>
                    <a:pt x="1258" y="180"/>
                    <a:pt x="1258" y="180"/>
                    <a:pt x="1258" y="180"/>
                  </a:cubicBezTo>
                  <a:cubicBezTo>
                    <a:pt x="1258" y="192"/>
                    <a:pt x="1268" y="202"/>
                    <a:pt x="1280" y="202"/>
                  </a:cubicBezTo>
                  <a:cubicBezTo>
                    <a:pt x="1292" y="202"/>
                    <a:pt x="1302" y="192"/>
                    <a:pt x="1302" y="180"/>
                  </a:cubicBezTo>
                  <a:close/>
                  <a:moveTo>
                    <a:pt x="550" y="1786"/>
                  </a:moveTo>
                  <a:cubicBezTo>
                    <a:pt x="550" y="1628"/>
                    <a:pt x="550" y="1628"/>
                    <a:pt x="550" y="1628"/>
                  </a:cubicBezTo>
                  <a:cubicBezTo>
                    <a:pt x="550" y="1616"/>
                    <a:pt x="540" y="1606"/>
                    <a:pt x="528" y="1606"/>
                  </a:cubicBezTo>
                  <a:cubicBezTo>
                    <a:pt x="516" y="1606"/>
                    <a:pt x="506" y="1616"/>
                    <a:pt x="506" y="1628"/>
                  </a:cubicBezTo>
                  <a:cubicBezTo>
                    <a:pt x="506" y="1786"/>
                    <a:pt x="506" y="1786"/>
                    <a:pt x="506" y="1786"/>
                  </a:cubicBezTo>
                  <a:cubicBezTo>
                    <a:pt x="506" y="1798"/>
                    <a:pt x="516" y="1808"/>
                    <a:pt x="528" y="1808"/>
                  </a:cubicBezTo>
                  <a:cubicBezTo>
                    <a:pt x="540" y="1808"/>
                    <a:pt x="550" y="1798"/>
                    <a:pt x="550" y="1786"/>
                  </a:cubicBezTo>
                  <a:close/>
                  <a:moveTo>
                    <a:pt x="801" y="1786"/>
                  </a:moveTo>
                  <a:cubicBezTo>
                    <a:pt x="801" y="1628"/>
                    <a:pt x="801" y="1628"/>
                    <a:pt x="801" y="1628"/>
                  </a:cubicBezTo>
                  <a:cubicBezTo>
                    <a:pt x="801" y="1616"/>
                    <a:pt x="791" y="1606"/>
                    <a:pt x="779" y="1606"/>
                  </a:cubicBezTo>
                  <a:cubicBezTo>
                    <a:pt x="766" y="1606"/>
                    <a:pt x="757" y="1616"/>
                    <a:pt x="757" y="1628"/>
                  </a:cubicBezTo>
                  <a:cubicBezTo>
                    <a:pt x="757" y="1786"/>
                    <a:pt x="757" y="1786"/>
                    <a:pt x="757" y="1786"/>
                  </a:cubicBezTo>
                  <a:cubicBezTo>
                    <a:pt x="757" y="1798"/>
                    <a:pt x="766" y="1808"/>
                    <a:pt x="779" y="1808"/>
                  </a:cubicBezTo>
                  <a:cubicBezTo>
                    <a:pt x="791" y="1808"/>
                    <a:pt x="801" y="1798"/>
                    <a:pt x="801" y="1786"/>
                  </a:cubicBezTo>
                  <a:close/>
                  <a:moveTo>
                    <a:pt x="1051" y="1786"/>
                  </a:moveTo>
                  <a:cubicBezTo>
                    <a:pt x="1051" y="1628"/>
                    <a:pt x="1051" y="1628"/>
                    <a:pt x="1051" y="1628"/>
                  </a:cubicBezTo>
                  <a:cubicBezTo>
                    <a:pt x="1051" y="1616"/>
                    <a:pt x="1042" y="1606"/>
                    <a:pt x="1029" y="1606"/>
                  </a:cubicBezTo>
                  <a:cubicBezTo>
                    <a:pt x="1017" y="1606"/>
                    <a:pt x="1007" y="1616"/>
                    <a:pt x="1007" y="1628"/>
                  </a:cubicBezTo>
                  <a:cubicBezTo>
                    <a:pt x="1007" y="1786"/>
                    <a:pt x="1007" y="1786"/>
                    <a:pt x="1007" y="1786"/>
                  </a:cubicBezTo>
                  <a:cubicBezTo>
                    <a:pt x="1007" y="1798"/>
                    <a:pt x="1017" y="1808"/>
                    <a:pt x="1029" y="1808"/>
                  </a:cubicBezTo>
                  <a:cubicBezTo>
                    <a:pt x="1042" y="1808"/>
                    <a:pt x="1051" y="1798"/>
                    <a:pt x="1051" y="1786"/>
                  </a:cubicBezTo>
                  <a:close/>
                  <a:moveTo>
                    <a:pt x="1302" y="1786"/>
                  </a:moveTo>
                  <a:cubicBezTo>
                    <a:pt x="1302" y="1628"/>
                    <a:pt x="1302" y="1628"/>
                    <a:pt x="1302" y="1628"/>
                  </a:cubicBezTo>
                  <a:cubicBezTo>
                    <a:pt x="1302" y="1616"/>
                    <a:pt x="1292" y="1606"/>
                    <a:pt x="1280" y="1606"/>
                  </a:cubicBezTo>
                  <a:cubicBezTo>
                    <a:pt x="1268" y="1606"/>
                    <a:pt x="1258" y="1616"/>
                    <a:pt x="1258" y="1628"/>
                  </a:cubicBezTo>
                  <a:cubicBezTo>
                    <a:pt x="1258" y="1786"/>
                    <a:pt x="1258" y="1786"/>
                    <a:pt x="1258" y="1786"/>
                  </a:cubicBezTo>
                  <a:cubicBezTo>
                    <a:pt x="1258" y="1798"/>
                    <a:pt x="1268" y="1808"/>
                    <a:pt x="1280" y="1808"/>
                  </a:cubicBezTo>
                  <a:cubicBezTo>
                    <a:pt x="1292" y="1808"/>
                    <a:pt x="1302" y="1798"/>
                    <a:pt x="1302" y="1786"/>
                  </a:cubicBezTo>
                  <a:close/>
                  <a:moveTo>
                    <a:pt x="1808" y="528"/>
                  </a:moveTo>
                  <a:cubicBezTo>
                    <a:pt x="1808" y="516"/>
                    <a:pt x="1798" y="506"/>
                    <a:pt x="1786" y="506"/>
                  </a:cubicBezTo>
                  <a:cubicBezTo>
                    <a:pt x="1628" y="506"/>
                    <a:pt x="1628" y="506"/>
                    <a:pt x="1628" y="506"/>
                  </a:cubicBezTo>
                  <a:cubicBezTo>
                    <a:pt x="1616" y="506"/>
                    <a:pt x="1606" y="516"/>
                    <a:pt x="1606" y="528"/>
                  </a:cubicBezTo>
                  <a:cubicBezTo>
                    <a:pt x="1606" y="540"/>
                    <a:pt x="1616" y="550"/>
                    <a:pt x="1628" y="550"/>
                  </a:cubicBezTo>
                  <a:cubicBezTo>
                    <a:pt x="1786" y="550"/>
                    <a:pt x="1786" y="550"/>
                    <a:pt x="1786" y="550"/>
                  </a:cubicBezTo>
                  <a:cubicBezTo>
                    <a:pt x="1798" y="550"/>
                    <a:pt x="1808" y="540"/>
                    <a:pt x="1808" y="528"/>
                  </a:cubicBezTo>
                  <a:close/>
                  <a:moveTo>
                    <a:pt x="1808" y="779"/>
                  </a:moveTo>
                  <a:cubicBezTo>
                    <a:pt x="1808" y="766"/>
                    <a:pt x="1798" y="757"/>
                    <a:pt x="1786" y="757"/>
                  </a:cubicBezTo>
                  <a:cubicBezTo>
                    <a:pt x="1628" y="757"/>
                    <a:pt x="1628" y="757"/>
                    <a:pt x="1628" y="757"/>
                  </a:cubicBezTo>
                  <a:cubicBezTo>
                    <a:pt x="1616" y="757"/>
                    <a:pt x="1606" y="766"/>
                    <a:pt x="1606" y="779"/>
                  </a:cubicBezTo>
                  <a:cubicBezTo>
                    <a:pt x="1606" y="791"/>
                    <a:pt x="1616" y="801"/>
                    <a:pt x="1628" y="801"/>
                  </a:cubicBezTo>
                  <a:cubicBezTo>
                    <a:pt x="1786" y="801"/>
                    <a:pt x="1786" y="801"/>
                    <a:pt x="1786" y="801"/>
                  </a:cubicBezTo>
                  <a:cubicBezTo>
                    <a:pt x="1798" y="801"/>
                    <a:pt x="1808" y="791"/>
                    <a:pt x="1808" y="779"/>
                  </a:cubicBezTo>
                  <a:close/>
                  <a:moveTo>
                    <a:pt x="1808" y="1029"/>
                  </a:moveTo>
                  <a:cubicBezTo>
                    <a:pt x="1808" y="1017"/>
                    <a:pt x="1798" y="1007"/>
                    <a:pt x="1786" y="1007"/>
                  </a:cubicBezTo>
                  <a:cubicBezTo>
                    <a:pt x="1628" y="1007"/>
                    <a:pt x="1628" y="1007"/>
                    <a:pt x="1628" y="1007"/>
                  </a:cubicBezTo>
                  <a:cubicBezTo>
                    <a:pt x="1616" y="1007"/>
                    <a:pt x="1606" y="1017"/>
                    <a:pt x="1606" y="1029"/>
                  </a:cubicBezTo>
                  <a:cubicBezTo>
                    <a:pt x="1606" y="1042"/>
                    <a:pt x="1616" y="1051"/>
                    <a:pt x="1628" y="1051"/>
                  </a:cubicBezTo>
                  <a:cubicBezTo>
                    <a:pt x="1786" y="1051"/>
                    <a:pt x="1786" y="1051"/>
                    <a:pt x="1786" y="1051"/>
                  </a:cubicBezTo>
                  <a:cubicBezTo>
                    <a:pt x="1798" y="1051"/>
                    <a:pt x="1808" y="1042"/>
                    <a:pt x="1808" y="1029"/>
                  </a:cubicBezTo>
                  <a:close/>
                  <a:moveTo>
                    <a:pt x="1808" y="1280"/>
                  </a:moveTo>
                  <a:cubicBezTo>
                    <a:pt x="1808" y="1268"/>
                    <a:pt x="1798" y="1258"/>
                    <a:pt x="1786" y="1258"/>
                  </a:cubicBezTo>
                  <a:cubicBezTo>
                    <a:pt x="1628" y="1258"/>
                    <a:pt x="1628" y="1258"/>
                    <a:pt x="1628" y="1258"/>
                  </a:cubicBezTo>
                  <a:cubicBezTo>
                    <a:pt x="1616" y="1258"/>
                    <a:pt x="1606" y="1268"/>
                    <a:pt x="1606" y="1280"/>
                  </a:cubicBezTo>
                  <a:cubicBezTo>
                    <a:pt x="1606" y="1292"/>
                    <a:pt x="1616" y="1302"/>
                    <a:pt x="1628" y="1302"/>
                  </a:cubicBezTo>
                  <a:cubicBezTo>
                    <a:pt x="1786" y="1302"/>
                    <a:pt x="1786" y="1302"/>
                    <a:pt x="1786" y="1302"/>
                  </a:cubicBezTo>
                  <a:cubicBezTo>
                    <a:pt x="1798" y="1302"/>
                    <a:pt x="1808" y="1292"/>
                    <a:pt x="1808" y="1280"/>
                  </a:cubicBezTo>
                  <a:close/>
                  <a:moveTo>
                    <a:pt x="202" y="528"/>
                  </a:moveTo>
                  <a:cubicBezTo>
                    <a:pt x="202" y="516"/>
                    <a:pt x="192" y="506"/>
                    <a:pt x="180" y="506"/>
                  </a:cubicBezTo>
                  <a:cubicBezTo>
                    <a:pt x="22" y="506"/>
                    <a:pt x="22" y="506"/>
                    <a:pt x="22" y="506"/>
                  </a:cubicBezTo>
                  <a:cubicBezTo>
                    <a:pt x="10" y="506"/>
                    <a:pt x="0" y="516"/>
                    <a:pt x="0" y="528"/>
                  </a:cubicBezTo>
                  <a:cubicBezTo>
                    <a:pt x="0" y="540"/>
                    <a:pt x="10" y="550"/>
                    <a:pt x="22" y="550"/>
                  </a:cubicBezTo>
                  <a:cubicBezTo>
                    <a:pt x="180" y="550"/>
                    <a:pt x="180" y="550"/>
                    <a:pt x="180" y="550"/>
                  </a:cubicBezTo>
                  <a:cubicBezTo>
                    <a:pt x="192" y="550"/>
                    <a:pt x="202" y="540"/>
                    <a:pt x="202" y="528"/>
                  </a:cubicBezTo>
                  <a:close/>
                  <a:moveTo>
                    <a:pt x="202" y="779"/>
                  </a:moveTo>
                  <a:cubicBezTo>
                    <a:pt x="202" y="766"/>
                    <a:pt x="192" y="757"/>
                    <a:pt x="180" y="757"/>
                  </a:cubicBezTo>
                  <a:cubicBezTo>
                    <a:pt x="22" y="757"/>
                    <a:pt x="22" y="757"/>
                    <a:pt x="22" y="757"/>
                  </a:cubicBezTo>
                  <a:cubicBezTo>
                    <a:pt x="10" y="757"/>
                    <a:pt x="0" y="766"/>
                    <a:pt x="0" y="779"/>
                  </a:cubicBezTo>
                  <a:cubicBezTo>
                    <a:pt x="0" y="791"/>
                    <a:pt x="10" y="801"/>
                    <a:pt x="22" y="801"/>
                  </a:cubicBezTo>
                  <a:cubicBezTo>
                    <a:pt x="180" y="801"/>
                    <a:pt x="180" y="801"/>
                    <a:pt x="180" y="801"/>
                  </a:cubicBezTo>
                  <a:cubicBezTo>
                    <a:pt x="192" y="801"/>
                    <a:pt x="202" y="791"/>
                    <a:pt x="202" y="779"/>
                  </a:cubicBezTo>
                  <a:close/>
                  <a:moveTo>
                    <a:pt x="202" y="1029"/>
                  </a:moveTo>
                  <a:cubicBezTo>
                    <a:pt x="202" y="1017"/>
                    <a:pt x="192" y="1007"/>
                    <a:pt x="180" y="1007"/>
                  </a:cubicBezTo>
                  <a:cubicBezTo>
                    <a:pt x="22" y="1007"/>
                    <a:pt x="22" y="1007"/>
                    <a:pt x="22" y="1007"/>
                  </a:cubicBezTo>
                  <a:cubicBezTo>
                    <a:pt x="10" y="1007"/>
                    <a:pt x="0" y="1017"/>
                    <a:pt x="0" y="1029"/>
                  </a:cubicBezTo>
                  <a:cubicBezTo>
                    <a:pt x="0" y="1042"/>
                    <a:pt x="10" y="1051"/>
                    <a:pt x="22" y="1051"/>
                  </a:cubicBezTo>
                  <a:cubicBezTo>
                    <a:pt x="180" y="1051"/>
                    <a:pt x="180" y="1051"/>
                    <a:pt x="180" y="1051"/>
                  </a:cubicBezTo>
                  <a:cubicBezTo>
                    <a:pt x="192" y="1051"/>
                    <a:pt x="202" y="1042"/>
                    <a:pt x="202" y="1029"/>
                  </a:cubicBezTo>
                  <a:close/>
                  <a:moveTo>
                    <a:pt x="202" y="1280"/>
                  </a:moveTo>
                  <a:cubicBezTo>
                    <a:pt x="202" y="1268"/>
                    <a:pt x="192" y="1258"/>
                    <a:pt x="180" y="1258"/>
                  </a:cubicBezTo>
                  <a:cubicBezTo>
                    <a:pt x="22" y="1258"/>
                    <a:pt x="22" y="1258"/>
                    <a:pt x="22" y="1258"/>
                  </a:cubicBezTo>
                  <a:cubicBezTo>
                    <a:pt x="10" y="1258"/>
                    <a:pt x="0" y="1268"/>
                    <a:pt x="0" y="1280"/>
                  </a:cubicBezTo>
                  <a:cubicBezTo>
                    <a:pt x="0" y="1292"/>
                    <a:pt x="10" y="1302"/>
                    <a:pt x="22" y="1302"/>
                  </a:cubicBezTo>
                  <a:cubicBezTo>
                    <a:pt x="180" y="1302"/>
                    <a:pt x="180" y="1302"/>
                    <a:pt x="180" y="1302"/>
                  </a:cubicBezTo>
                  <a:cubicBezTo>
                    <a:pt x="192" y="1302"/>
                    <a:pt x="202" y="1292"/>
                    <a:pt x="202" y="1280"/>
                  </a:cubicBezTo>
                  <a:close/>
                  <a:moveTo>
                    <a:pt x="1333" y="873"/>
                  </a:moveTo>
                  <a:cubicBezTo>
                    <a:pt x="1350" y="840"/>
                    <a:pt x="1358" y="803"/>
                    <a:pt x="1358" y="765"/>
                  </a:cubicBezTo>
                  <a:cubicBezTo>
                    <a:pt x="1358" y="708"/>
                    <a:pt x="1339" y="654"/>
                    <a:pt x="1303" y="611"/>
                  </a:cubicBezTo>
                  <a:cubicBezTo>
                    <a:pt x="1278" y="581"/>
                    <a:pt x="1247" y="558"/>
                    <a:pt x="1211" y="544"/>
                  </a:cubicBezTo>
                  <a:cubicBezTo>
                    <a:pt x="1194" y="458"/>
                    <a:pt x="1121" y="396"/>
                    <a:pt x="1036" y="396"/>
                  </a:cubicBezTo>
                  <a:cubicBezTo>
                    <a:pt x="990" y="396"/>
                    <a:pt x="946" y="414"/>
                    <a:pt x="913" y="448"/>
                  </a:cubicBezTo>
                  <a:cubicBezTo>
                    <a:pt x="879" y="414"/>
                    <a:pt x="835" y="396"/>
                    <a:pt x="789" y="396"/>
                  </a:cubicBezTo>
                  <a:cubicBezTo>
                    <a:pt x="704" y="396"/>
                    <a:pt x="631" y="458"/>
                    <a:pt x="614" y="544"/>
                  </a:cubicBezTo>
                  <a:cubicBezTo>
                    <a:pt x="578" y="558"/>
                    <a:pt x="547" y="581"/>
                    <a:pt x="522" y="611"/>
                  </a:cubicBezTo>
                  <a:cubicBezTo>
                    <a:pt x="487" y="654"/>
                    <a:pt x="467" y="708"/>
                    <a:pt x="467" y="765"/>
                  </a:cubicBezTo>
                  <a:cubicBezTo>
                    <a:pt x="467" y="803"/>
                    <a:pt x="476" y="840"/>
                    <a:pt x="492" y="873"/>
                  </a:cubicBezTo>
                  <a:cubicBezTo>
                    <a:pt x="473" y="910"/>
                    <a:pt x="463" y="952"/>
                    <a:pt x="463" y="996"/>
                  </a:cubicBezTo>
                  <a:cubicBezTo>
                    <a:pt x="463" y="1053"/>
                    <a:pt x="480" y="1107"/>
                    <a:pt x="513" y="1152"/>
                  </a:cubicBezTo>
                  <a:cubicBezTo>
                    <a:pt x="537" y="1186"/>
                    <a:pt x="570" y="1214"/>
                    <a:pt x="607" y="1232"/>
                  </a:cubicBezTo>
                  <a:cubicBezTo>
                    <a:pt x="618" y="1270"/>
                    <a:pt x="643" y="1307"/>
                    <a:pt x="677" y="1339"/>
                  </a:cubicBezTo>
                  <a:cubicBezTo>
                    <a:pt x="723" y="1383"/>
                    <a:pt x="777" y="1408"/>
                    <a:pt x="826" y="1408"/>
                  </a:cubicBezTo>
                  <a:cubicBezTo>
                    <a:pt x="863" y="1408"/>
                    <a:pt x="895" y="1391"/>
                    <a:pt x="914" y="1363"/>
                  </a:cubicBezTo>
                  <a:cubicBezTo>
                    <a:pt x="934" y="1389"/>
                    <a:pt x="964" y="1408"/>
                    <a:pt x="1001" y="1408"/>
                  </a:cubicBezTo>
                  <a:cubicBezTo>
                    <a:pt x="1089" y="1408"/>
                    <a:pt x="1190" y="1325"/>
                    <a:pt x="1218" y="1232"/>
                  </a:cubicBezTo>
                  <a:cubicBezTo>
                    <a:pt x="1256" y="1214"/>
                    <a:pt x="1288" y="1186"/>
                    <a:pt x="1313" y="1152"/>
                  </a:cubicBezTo>
                  <a:cubicBezTo>
                    <a:pt x="1345" y="1107"/>
                    <a:pt x="1362" y="1053"/>
                    <a:pt x="1362" y="996"/>
                  </a:cubicBezTo>
                  <a:cubicBezTo>
                    <a:pt x="1362" y="952"/>
                    <a:pt x="1352" y="910"/>
                    <a:pt x="1333" y="873"/>
                  </a:cubicBezTo>
                  <a:close/>
                  <a:moveTo>
                    <a:pt x="826" y="1364"/>
                  </a:moveTo>
                  <a:cubicBezTo>
                    <a:pt x="788" y="1364"/>
                    <a:pt x="745" y="1343"/>
                    <a:pt x="707" y="1308"/>
                  </a:cubicBezTo>
                  <a:cubicBezTo>
                    <a:pt x="676" y="1278"/>
                    <a:pt x="655" y="1244"/>
                    <a:pt x="647" y="1211"/>
                  </a:cubicBezTo>
                  <a:cubicBezTo>
                    <a:pt x="645" y="1204"/>
                    <a:pt x="640" y="1199"/>
                    <a:pt x="634" y="1196"/>
                  </a:cubicBezTo>
                  <a:cubicBezTo>
                    <a:pt x="600" y="1181"/>
                    <a:pt x="570" y="1157"/>
                    <a:pt x="548" y="1126"/>
                  </a:cubicBezTo>
                  <a:cubicBezTo>
                    <a:pt x="521" y="1089"/>
                    <a:pt x="507" y="1043"/>
                    <a:pt x="507" y="996"/>
                  </a:cubicBezTo>
                  <a:cubicBezTo>
                    <a:pt x="507" y="956"/>
                    <a:pt x="517" y="917"/>
                    <a:pt x="536" y="884"/>
                  </a:cubicBezTo>
                  <a:cubicBezTo>
                    <a:pt x="540" y="877"/>
                    <a:pt x="540" y="869"/>
                    <a:pt x="536" y="862"/>
                  </a:cubicBezTo>
                  <a:cubicBezTo>
                    <a:pt x="520" y="833"/>
                    <a:pt x="511" y="799"/>
                    <a:pt x="511" y="765"/>
                  </a:cubicBezTo>
                  <a:cubicBezTo>
                    <a:pt x="511" y="719"/>
                    <a:pt x="527" y="674"/>
                    <a:pt x="556" y="639"/>
                  </a:cubicBezTo>
                  <a:cubicBezTo>
                    <a:pt x="578" y="611"/>
                    <a:pt x="607" y="592"/>
                    <a:pt x="640" y="581"/>
                  </a:cubicBezTo>
                  <a:cubicBezTo>
                    <a:pt x="648" y="579"/>
                    <a:pt x="654" y="572"/>
                    <a:pt x="655" y="563"/>
                  </a:cubicBezTo>
                  <a:cubicBezTo>
                    <a:pt x="664" y="493"/>
                    <a:pt x="722" y="440"/>
                    <a:pt x="789" y="440"/>
                  </a:cubicBezTo>
                  <a:cubicBezTo>
                    <a:pt x="826" y="440"/>
                    <a:pt x="862" y="456"/>
                    <a:pt x="887" y="485"/>
                  </a:cubicBezTo>
                  <a:cubicBezTo>
                    <a:pt x="891" y="489"/>
                    <a:pt x="891" y="489"/>
                    <a:pt x="891" y="489"/>
                  </a:cubicBezTo>
                  <a:cubicBezTo>
                    <a:pt x="891" y="1301"/>
                    <a:pt x="891" y="1301"/>
                    <a:pt x="891" y="1301"/>
                  </a:cubicBezTo>
                  <a:cubicBezTo>
                    <a:pt x="887" y="1339"/>
                    <a:pt x="861" y="1364"/>
                    <a:pt x="826" y="1364"/>
                  </a:cubicBezTo>
                  <a:close/>
                  <a:moveTo>
                    <a:pt x="1277" y="1126"/>
                  </a:moveTo>
                  <a:cubicBezTo>
                    <a:pt x="1255" y="1157"/>
                    <a:pt x="1225" y="1181"/>
                    <a:pt x="1191" y="1196"/>
                  </a:cubicBezTo>
                  <a:cubicBezTo>
                    <a:pt x="1185" y="1199"/>
                    <a:pt x="1180" y="1204"/>
                    <a:pt x="1179" y="1211"/>
                  </a:cubicBezTo>
                  <a:cubicBezTo>
                    <a:pt x="1160" y="1288"/>
                    <a:pt x="1072" y="1364"/>
                    <a:pt x="1001" y="1364"/>
                  </a:cubicBezTo>
                  <a:cubicBezTo>
                    <a:pt x="965" y="1364"/>
                    <a:pt x="938" y="1331"/>
                    <a:pt x="935" y="1300"/>
                  </a:cubicBezTo>
                  <a:cubicBezTo>
                    <a:pt x="935" y="489"/>
                    <a:pt x="935" y="489"/>
                    <a:pt x="935" y="489"/>
                  </a:cubicBezTo>
                  <a:cubicBezTo>
                    <a:pt x="938" y="485"/>
                    <a:pt x="938" y="485"/>
                    <a:pt x="938" y="485"/>
                  </a:cubicBezTo>
                  <a:cubicBezTo>
                    <a:pt x="963" y="456"/>
                    <a:pt x="999" y="440"/>
                    <a:pt x="1036" y="440"/>
                  </a:cubicBezTo>
                  <a:cubicBezTo>
                    <a:pt x="1103" y="440"/>
                    <a:pt x="1161" y="493"/>
                    <a:pt x="1170" y="563"/>
                  </a:cubicBezTo>
                  <a:cubicBezTo>
                    <a:pt x="1171" y="572"/>
                    <a:pt x="1177" y="579"/>
                    <a:pt x="1185" y="581"/>
                  </a:cubicBezTo>
                  <a:cubicBezTo>
                    <a:pt x="1218" y="592"/>
                    <a:pt x="1247" y="611"/>
                    <a:pt x="1269" y="639"/>
                  </a:cubicBezTo>
                  <a:cubicBezTo>
                    <a:pt x="1298" y="674"/>
                    <a:pt x="1314" y="719"/>
                    <a:pt x="1314" y="765"/>
                  </a:cubicBezTo>
                  <a:cubicBezTo>
                    <a:pt x="1314" y="799"/>
                    <a:pt x="1305" y="833"/>
                    <a:pt x="1289" y="862"/>
                  </a:cubicBezTo>
                  <a:cubicBezTo>
                    <a:pt x="1285" y="869"/>
                    <a:pt x="1285" y="877"/>
                    <a:pt x="1289" y="884"/>
                  </a:cubicBezTo>
                  <a:cubicBezTo>
                    <a:pt x="1308" y="917"/>
                    <a:pt x="1318" y="956"/>
                    <a:pt x="1318" y="996"/>
                  </a:cubicBezTo>
                  <a:cubicBezTo>
                    <a:pt x="1318" y="1043"/>
                    <a:pt x="1304" y="1089"/>
                    <a:pt x="1277" y="112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icrosoft YaHei" panose="020B0503020204020204" pitchFamily="34" charset="-122"/>
                <a:cs typeface="+mn-cs"/>
              </a:endParaRPr>
            </a:p>
          </p:txBody>
        </p:sp>
        <p:sp>
          <p:nvSpPr>
            <p:cNvPr id="257" name="Freeform 42">
              <a:extLst>
                <a:ext uri="{FF2B5EF4-FFF2-40B4-BE49-F238E27FC236}">
                  <a16:creationId xmlns:a16="http://schemas.microsoft.com/office/drawing/2014/main" id="{1A6CD91A-E936-4EAD-80F5-137971469628}"/>
                </a:ext>
              </a:extLst>
            </p:cNvPr>
            <p:cNvSpPr>
              <a:spLocks noEditPoints="1"/>
            </p:cNvSpPr>
            <p:nvPr/>
          </p:nvSpPr>
          <p:spPr bwMode="auto">
            <a:xfrm>
              <a:off x="3177" y="1373"/>
              <a:ext cx="1354" cy="1567"/>
            </a:xfrm>
            <a:custGeom>
              <a:avLst/>
              <a:gdLst>
                <a:gd name="T0" fmla="*/ 296 w 723"/>
                <a:gd name="T1" fmla="*/ 815 h 836"/>
                <a:gd name="T2" fmla="*/ 186 w 723"/>
                <a:gd name="T3" fmla="*/ 792 h 836"/>
                <a:gd name="T4" fmla="*/ 138 w 723"/>
                <a:gd name="T5" fmla="*/ 715 h 836"/>
                <a:gd name="T6" fmla="*/ 186 w 723"/>
                <a:gd name="T7" fmla="*/ 695 h 836"/>
                <a:gd name="T8" fmla="*/ 8 w 723"/>
                <a:gd name="T9" fmla="*/ 565 h 836"/>
                <a:gd name="T10" fmla="*/ 23 w 723"/>
                <a:gd name="T11" fmla="*/ 422 h 836"/>
                <a:gd name="T12" fmla="*/ 86 w 723"/>
                <a:gd name="T13" fmla="*/ 362 h 836"/>
                <a:gd name="T14" fmla="*/ 151 w 723"/>
                <a:gd name="T15" fmla="*/ 439 h 836"/>
                <a:gd name="T16" fmla="*/ 163 w 723"/>
                <a:gd name="T17" fmla="*/ 399 h 836"/>
                <a:gd name="T18" fmla="*/ 133 w 723"/>
                <a:gd name="T19" fmla="*/ 256 h 836"/>
                <a:gd name="T20" fmla="*/ 83 w 723"/>
                <a:gd name="T21" fmla="*/ 315 h 836"/>
                <a:gd name="T22" fmla="*/ 4 w 723"/>
                <a:gd name="T23" fmla="*/ 281 h 836"/>
                <a:gd name="T24" fmla="*/ 102 w 723"/>
                <a:gd name="T25" fmla="*/ 139 h 836"/>
                <a:gd name="T26" fmla="*/ 145 w 723"/>
                <a:gd name="T27" fmla="*/ 127 h 836"/>
                <a:gd name="T28" fmla="*/ 254 w 723"/>
                <a:gd name="T29" fmla="*/ 139 h 836"/>
                <a:gd name="T30" fmla="*/ 148 w 723"/>
                <a:gd name="T31" fmla="*/ 83 h 836"/>
                <a:gd name="T32" fmla="*/ 296 w 723"/>
                <a:gd name="T33" fmla="*/ 22 h 836"/>
                <a:gd name="T34" fmla="*/ 281 w 723"/>
                <a:gd name="T35" fmla="*/ 529 h 836"/>
                <a:gd name="T36" fmla="*/ 127 w 723"/>
                <a:gd name="T37" fmla="*/ 575 h 836"/>
                <a:gd name="T38" fmla="*/ 193 w 723"/>
                <a:gd name="T39" fmla="*/ 611 h 836"/>
                <a:gd name="T40" fmla="*/ 545 w 723"/>
                <a:gd name="T41" fmla="*/ 732 h 836"/>
                <a:gd name="T42" fmla="*/ 545 w 723"/>
                <a:gd name="T43" fmla="*/ 688 h 836"/>
                <a:gd name="T44" fmla="*/ 623 w 723"/>
                <a:gd name="T45" fmla="*/ 672 h 836"/>
                <a:gd name="T46" fmla="*/ 723 w 723"/>
                <a:gd name="T47" fmla="*/ 512 h 836"/>
                <a:gd name="T48" fmla="*/ 589 w 723"/>
                <a:gd name="T49" fmla="*/ 468 h 836"/>
                <a:gd name="T50" fmla="*/ 491 w 723"/>
                <a:gd name="T51" fmla="*/ 534 h 836"/>
                <a:gd name="T52" fmla="*/ 466 w 723"/>
                <a:gd name="T53" fmla="*/ 515 h 836"/>
                <a:gd name="T54" fmla="*/ 562 w 723"/>
                <a:gd name="T55" fmla="*/ 390 h 836"/>
                <a:gd name="T56" fmla="*/ 606 w 723"/>
                <a:gd name="T57" fmla="*/ 384 h 836"/>
                <a:gd name="T58" fmla="*/ 683 w 723"/>
                <a:gd name="T59" fmla="*/ 386 h 836"/>
                <a:gd name="T60" fmla="*/ 719 w 723"/>
                <a:gd name="T61" fmla="*/ 281 h 836"/>
                <a:gd name="T62" fmla="*/ 621 w 723"/>
                <a:gd name="T63" fmla="*/ 139 h 836"/>
                <a:gd name="T64" fmla="*/ 585 w 723"/>
                <a:gd name="T65" fmla="*/ 132 h 836"/>
                <a:gd name="T66" fmla="*/ 483 w 723"/>
                <a:gd name="T67" fmla="*/ 142 h 836"/>
                <a:gd name="T68" fmla="*/ 576 w 723"/>
                <a:gd name="T69" fmla="*/ 88 h 836"/>
                <a:gd name="T70" fmla="*/ 485 w 723"/>
                <a:gd name="T71" fmla="*/ 0 h 836"/>
                <a:gd name="T72" fmla="*/ 428 w 723"/>
                <a:gd name="T73" fmla="*/ 239 h 836"/>
                <a:gd name="T74" fmla="*/ 595 w 723"/>
                <a:gd name="T75" fmla="*/ 241 h 836"/>
                <a:gd name="T76" fmla="*/ 440 w 723"/>
                <a:gd name="T77" fmla="*/ 287 h 836"/>
                <a:gd name="T78" fmla="*/ 428 w 723"/>
                <a:gd name="T79" fmla="*/ 813 h 836"/>
                <a:gd name="T80" fmla="*/ 581 w 723"/>
                <a:gd name="T81" fmla="*/ 729 h 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23" h="836">
                  <a:moveTo>
                    <a:pt x="296" y="575"/>
                  </a:moveTo>
                  <a:cubicBezTo>
                    <a:pt x="296" y="815"/>
                    <a:pt x="296" y="815"/>
                    <a:pt x="296" y="815"/>
                  </a:cubicBezTo>
                  <a:cubicBezTo>
                    <a:pt x="294" y="825"/>
                    <a:pt x="290" y="836"/>
                    <a:pt x="275" y="836"/>
                  </a:cubicBezTo>
                  <a:cubicBezTo>
                    <a:pt x="249" y="836"/>
                    <a:pt x="215" y="819"/>
                    <a:pt x="186" y="792"/>
                  </a:cubicBezTo>
                  <a:cubicBezTo>
                    <a:pt x="162" y="768"/>
                    <a:pt x="144" y="741"/>
                    <a:pt x="138" y="716"/>
                  </a:cubicBezTo>
                  <a:cubicBezTo>
                    <a:pt x="138" y="715"/>
                    <a:pt x="138" y="715"/>
                    <a:pt x="138" y="715"/>
                  </a:cubicBezTo>
                  <a:cubicBezTo>
                    <a:pt x="146" y="716"/>
                    <a:pt x="155" y="717"/>
                    <a:pt x="164" y="717"/>
                  </a:cubicBezTo>
                  <a:cubicBezTo>
                    <a:pt x="176" y="717"/>
                    <a:pt x="186" y="707"/>
                    <a:pt x="186" y="695"/>
                  </a:cubicBezTo>
                  <a:cubicBezTo>
                    <a:pt x="186" y="683"/>
                    <a:pt x="176" y="673"/>
                    <a:pt x="164" y="673"/>
                  </a:cubicBezTo>
                  <a:cubicBezTo>
                    <a:pt x="92" y="673"/>
                    <a:pt x="31" y="628"/>
                    <a:pt x="8" y="565"/>
                  </a:cubicBezTo>
                  <a:cubicBezTo>
                    <a:pt x="2" y="548"/>
                    <a:pt x="0" y="530"/>
                    <a:pt x="0" y="512"/>
                  </a:cubicBezTo>
                  <a:cubicBezTo>
                    <a:pt x="0" y="479"/>
                    <a:pt x="8" y="449"/>
                    <a:pt x="23" y="422"/>
                  </a:cubicBezTo>
                  <a:cubicBezTo>
                    <a:pt x="30" y="410"/>
                    <a:pt x="30" y="410"/>
                    <a:pt x="30" y="410"/>
                  </a:cubicBezTo>
                  <a:cubicBezTo>
                    <a:pt x="45" y="390"/>
                    <a:pt x="64" y="374"/>
                    <a:pt x="86" y="362"/>
                  </a:cubicBezTo>
                  <a:cubicBezTo>
                    <a:pt x="93" y="391"/>
                    <a:pt x="111" y="418"/>
                    <a:pt x="139" y="435"/>
                  </a:cubicBezTo>
                  <a:cubicBezTo>
                    <a:pt x="142" y="438"/>
                    <a:pt x="146" y="439"/>
                    <a:pt x="151" y="439"/>
                  </a:cubicBezTo>
                  <a:cubicBezTo>
                    <a:pt x="158" y="439"/>
                    <a:pt x="165" y="435"/>
                    <a:pt x="169" y="429"/>
                  </a:cubicBezTo>
                  <a:cubicBezTo>
                    <a:pt x="176" y="419"/>
                    <a:pt x="173" y="405"/>
                    <a:pt x="163" y="399"/>
                  </a:cubicBezTo>
                  <a:cubicBezTo>
                    <a:pt x="125" y="374"/>
                    <a:pt x="115" y="324"/>
                    <a:pt x="139" y="287"/>
                  </a:cubicBezTo>
                  <a:cubicBezTo>
                    <a:pt x="146" y="276"/>
                    <a:pt x="143" y="263"/>
                    <a:pt x="133" y="256"/>
                  </a:cubicBezTo>
                  <a:cubicBezTo>
                    <a:pt x="122" y="250"/>
                    <a:pt x="109" y="252"/>
                    <a:pt x="102" y="263"/>
                  </a:cubicBezTo>
                  <a:cubicBezTo>
                    <a:pt x="91" y="279"/>
                    <a:pt x="85" y="297"/>
                    <a:pt x="83" y="315"/>
                  </a:cubicBezTo>
                  <a:cubicBezTo>
                    <a:pt x="60" y="324"/>
                    <a:pt x="39" y="337"/>
                    <a:pt x="22" y="354"/>
                  </a:cubicBezTo>
                  <a:cubicBezTo>
                    <a:pt x="10" y="331"/>
                    <a:pt x="4" y="307"/>
                    <a:pt x="4" y="281"/>
                  </a:cubicBezTo>
                  <a:cubicBezTo>
                    <a:pt x="4" y="245"/>
                    <a:pt x="16" y="210"/>
                    <a:pt x="39" y="183"/>
                  </a:cubicBezTo>
                  <a:cubicBezTo>
                    <a:pt x="56" y="162"/>
                    <a:pt x="78" y="147"/>
                    <a:pt x="102" y="139"/>
                  </a:cubicBezTo>
                  <a:cubicBezTo>
                    <a:pt x="140" y="127"/>
                    <a:pt x="140" y="127"/>
                    <a:pt x="140" y="127"/>
                  </a:cubicBezTo>
                  <a:cubicBezTo>
                    <a:pt x="142" y="127"/>
                    <a:pt x="143" y="127"/>
                    <a:pt x="145" y="127"/>
                  </a:cubicBezTo>
                  <a:cubicBezTo>
                    <a:pt x="173" y="127"/>
                    <a:pt x="200" y="134"/>
                    <a:pt x="224" y="148"/>
                  </a:cubicBezTo>
                  <a:cubicBezTo>
                    <a:pt x="234" y="154"/>
                    <a:pt x="248" y="150"/>
                    <a:pt x="254" y="139"/>
                  </a:cubicBezTo>
                  <a:cubicBezTo>
                    <a:pt x="260" y="129"/>
                    <a:pt x="256" y="115"/>
                    <a:pt x="245" y="109"/>
                  </a:cubicBezTo>
                  <a:cubicBezTo>
                    <a:pt x="216" y="93"/>
                    <a:pt x="182" y="84"/>
                    <a:pt x="148" y="83"/>
                  </a:cubicBezTo>
                  <a:cubicBezTo>
                    <a:pt x="155" y="35"/>
                    <a:pt x="193" y="0"/>
                    <a:pt x="238" y="0"/>
                  </a:cubicBezTo>
                  <a:cubicBezTo>
                    <a:pt x="259" y="0"/>
                    <a:pt x="279" y="8"/>
                    <a:pt x="296" y="22"/>
                  </a:cubicBezTo>
                  <a:cubicBezTo>
                    <a:pt x="296" y="511"/>
                    <a:pt x="296" y="511"/>
                    <a:pt x="296" y="511"/>
                  </a:cubicBezTo>
                  <a:cubicBezTo>
                    <a:pt x="291" y="517"/>
                    <a:pt x="287" y="523"/>
                    <a:pt x="281" y="529"/>
                  </a:cubicBezTo>
                  <a:cubicBezTo>
                    <a:pt x="249" y="563"/>
                    <a:pt x="199" y="576"/>
                    <a:pt x="154" y="561"/>
                  </a:cubicBezTo>
                  <a:cubicBezTo>
                    <a:pt x="143" y="557"/>
                    <a:pt x="130" y="563"/>
                    <a:pt x="127" y="575"/>
                  </a:cubicBezTo>
                  <a:cubicBezTo>
                    <a:pt x="123" y="586"/>
                    <a:pt x="129" y="598"/>
                    <a:pt x="140" y="602"/>
                  </a:cubicBezTo>
                  <a:cubicBezTo>
                    <a:pt x="158" y="608"/>
                    <a:pt x="175" y="611"/>
                    <a:pt x="193" y="611"/>
                  </a:cubicBezTo>
                  <a:cubicBezTo>
                    <a:pt x="230" y="611"/>
                    <a:pt x="266" y="598"/>
                    <a:pt x="296" y="575"/>
                  </a:cubicBezTo>
                  <a:close/>
                  <a:moveTo>
                    <a:pt x="545" y="732"/>
                  </a:moveTo>
                  <a:cubicBezTo>
                    <a:pt x="532" y="732"/>
                    <a:pt x="523" y="722"/>
                    <a:pt x="523" y="710"/>
                  </a:cubicBezTo>
                  <a:cubicBezTo>
                    <a:pt x="523" y="698"/>
                    <a:pt x="532" y="688"/>
                    <a:pt x="545" y="688"/>
                  </a:cubicBezTo>
                  <a:cubicBezTo>
                    <a:pt x="569" y="688"/>
                    <a:pt x="593" y="683"/>
                    <a:pt x="615" y="675"/>
                  </a:cubicBezTo>
                  <a:cubicBezTo>
                    <a:pt x="623" y="672"/>
                    <a:pt x="623" y="672"/>
                    <a:pt x="623" y="672"/>
                  </a:cubicBezTo>
                  <a:cubicBezTo>
                    <a:pt x="649" y="660"/>
                    <a:pt x="673" y="641"/>
                    <a:pt x="690" y="617"/>
                  </a:cubicBezTo>
                  <a:cubicBezTo>
                    <a:pt x="712" y="586"/>
                    <a:pt x="723" y="550"/>
                    <a:pt x="723" y="512"/>
                  </a:cubicBezTo>
                  <a:cubicBezTo>
                    <a:pt x="723" y="481"/>
                    <a:pt x="716" y="453"/>
                    <a:pt x="703" y="427"/>
                  </a:cubicBezTo>
                  <a:cubicBezTo>
                    <a:pt x="671" y="452"/>
                    <a:pt x="632" y="467"/>
                    <a:pt x="589" y="468"/>
                  </a:cubicBezTo>
                  <a:cubicBezTo>
                    <a:pt x="586" y="473"/>
                    <a:pt x="583" y="478"/>
                    <a:pt x="579" y="483"/>
                  </a:cubicBezTo>
                  <a:cubicBezTo>
                    <a:pt x="558" y="511"/>
                    <a:pt x="526" y="529"/>
                    <a:pt x="491" y="534"/>
                  </a:cubicBezTo>
                  <a:cubicBezTo>
                    <a:pt x="490" y="534"/>
                    <a:pt x="489" y="534"/>
                    <a:pt x="488" y="534"/>
                  </a:cubicBezTo>
                  <a:cubicBezTo>
                    <a:pt x="477" y="534"/>
                    <a:pt x="468" y="526"/>
                    <a:pt x="466" y="515"/>
                  </a:cubicBezTo>
                  <a:cubicBezTo>
                    <a:pt x="465" y="503"/>
                    <a:pt x="473" y="492"/>
                    <a:pt x="485" y="490"/>
                  </a:cubicBezTo>
                  <a:cubicBezTo>
                    <a:pt x="534" y="484"/>
                    <a:pt x="569" y="439"/>
                    <a:pt x="562" y="390"/>
                  </a:cubicBezTo>
                  <a:cubicBezTo>
                    <a:pt x="561" y="378"/>
                    <a:pt x="569" y="367"/>
                    <a:pt x="581" y="365"/>
                  </a:cubicBezTo>
                  <a:cubicBezTo>
                    <a:pt x="594" y="363"/>
                    <a:pt x="605" y="372"/>
                    <a:pt x="606" y="384"/>
                  </a:cubicBezTo>
                  <a:cubicBezTo>
                    <a:pt x="608" y="397"/>
                    <a:pt x="608" y="410"/>
                    <a:pt x="606" y="423"/>
                  </a:cubicBezTo>
                  <a:cubicBezTo>
                    <a:pt x="635" y="419"/>
                    <a:pt x="662" y="405"/>
                    <a:pt x="683" y="386"/>
                  </a:cubicBezTo>
                  <a:cubicBezTo>
                    <a:pt x="700" y="357"/>
                    <a:pt x="700" y="357"/>
                    <a:pt x="700" y="357"/>
                  </a:cubicBezTo>
                  <a:cubicBezTo>
                    <a:pt x="713" y="334"/>
                    <a:pt x="719" y="308"/>
                    <a:pt x="719" y="281"/>
                  </a:cubicBezTo>
                  <a:cubicBezTo>
                    <a:pt x="719" y="245"/>
                    <a:pt x="707" y="210"/>
                    <a:pt x="684" y="183"/>
                  </a:cubicBezTo>
                  <a:cubicBezTo>
                    <a:pt x="667" y="162"/>
                    <a:pt x="645" y="147"/>
                    <a:pt x="621" y="139"/>
                  </a:cubicBezTo>
                  <a:cubicBezTo>
                    <a:pt x="600" y="132"/>
                    <a:pt x="600" y="132"/>
                    <a:pt x="600" y="132"/>
                  </a:cubicBezTo>
                  <a:cubicBezTo>
                    <a:pt x="595" y="132"/>
                    <a:pt x="590" y="132"/>
                    <a:pt x="585" y="132"/>
                  </a:cubicBezTo>
                  <a:cubicBezTo>
                    <a:pt x="560" y="132"/>
                    <a:pt x="535" y="138"/>
                    <a:pt x="513" y="151"/>
                  </a:cubicBezTo>
                  <a:cubicBezTo>
                    <a:pt x="502" y="157"/>
                    <a:pt x="489" y="153"/>
                    <a:pt x="483" y="142"/>
                  </a:cubicBezTo>
                  <a:cubicBezTo>
                    <a:pt x="477" y="132"/>
                    <a:pt x="481" y="118"/>
                    <a:pt x="491" y="112"/>
                  </a:cubicBezTo>
                  <a:cubicBezTo>
                    <a:pt x="517" y="98"/>
                    <a:pt x="546" y="89"/>
                    <a:pt x="576" y="88"/>
                  </a:cubicBezTo>
                  <a:cubicBezTo>
                    <a:pt x="575" y="85"/>
                    <a:pt x="575" y="85"/>
                    <a:pt x="575" y="85"/>
                  </a:cubicBezTo>
                  <a:cubicBezTo>
                    <a:pt x="569" y="36"/>
                    <a:pt x="530" y="0"/>
                    <a:pt x="485" y="0"/>
                  </a:cubicBezTo>
                  <a:cubicBezTo>
                    <a:pt x="464" y="0"/>
                    <a:pt x="444" y="8"/>
                    <a:pt x="428" y="22"/>
                  </a:cubicBezTo>
                  <a:cubicBezTo>
                    <a:pt x="428" y="239"/>
                    <a:pt x="428" y="239"/>
                    <a:pt x="428" y="239"/>
                  </a:cubicBezTo>
                  <a:cubicBezTo>
                    <a:pt x="471" y="206"/>
                    <a:pt x="529" y="196"/>
                    <a:pt x="581" y="213"/>
                  </a:cubicBezTo>
                  <a:cubicBezTo>
                    <a:pt x="593" y="217"/>
                    <a:pt x="599" y="230"/>
                    <a:pt x="595" y="241"/>
                  </a:cubicBezTo>
                  <a:cubicBezTo>
                    <a:pt x="591" y="253"/>
                    <a:pt x="579" y="259"/>
                    <a:pt x="567" y="255"/>
                  </a:cubicBezTo>
                  <a:cubicBezTo>
                    <a:pt x="523" y="240"/>
                    <a:pt x="473" y="253"/>
                    <a:pt x="440" y="287"/>
                  </a:cubicBezTo>
                  <a:cubicBezTo>
                    <a:pt x="436" y="292"/>
                    <a:pt x="431" y="297"/>
                    <a:pt x="428" y="303"/>
                  </a:cubicBezTo>
                  <a:cubicBezTo>
                    <a:pt x="428" y="813"/>
                    <a:pt x="428" y="813"/>
                    <a:pt x="428" y="813"/>
                  </a:cubicBezTo>
                  <a:cubicBezTo>
                    <a:pt x="430" y="823"/>
                    <a:pt x="439" y="836"/>
                    <a:pt x="450" y="836"/>
                  </a:cubicBezTo>
                  <a:cubicBezTo>
                    <a:pt x="497" y="836"/>
                    <a:pt x="561" y="782"/>
                    <a:pt x="581" y="729"/>
                  </a:cubicBezTo>
                  <a:cubicBezTo>
                    <a:pt x="569" y="731"/>
                    <a:pt x="557" y="732"/>
                    <a:pt x="545" y="732"/>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icrosoft YaHei" panose="020B0503020204020204" pitchFamily="34" charset="-122"/>
                <a:cs typeface="+mn-cs"/>
              </a:endParaRPr>
            </a:p>
          </p:txBody>
        </p:sp>
      </p:grpSp>
      <p:grpSp>
        <p:nvGrpSpPr>
          <p:cNvPr id="258" name="bcgIcons_Target">
            <a:extLst>
              <a:ext uri="{FF2B5EF4-FFF2-40B4-BE49-F238E27FC236}">
                <a16:creationId xmlns:a16="http://schemas.microsoft.com/office/drawing/2014/main" id="{02916922-81B1-4399-BF36-3FC0C6969C4A}"/>
              </a:ext>
            </a:extLst>
          </p:cNvPr>
          <p:cNvGrpSpPr>
            <a:grpSpLocks noChangeAspect="1"/>
          </p:cNvGrpSpPr>
          <p:nvPr/>
        </p:nvGrpSpPr>
        <p:grpSpPr bwMode="auto">
          <a:xfrm>
            <a:off x="7273335" y="4254088"/>
            <a:ext cx="561899" cy="562420"/>
            <a:chOff x="1682" y="0"/>
            <a:chExt cx="4316" cy="4320"/>
          </a:xfrm>
        </p:grpSpPr>
        <p:sp>
          <p:nvSpPr>
            <p:cNvPr id="259" name="AutoShape 23">
              <a:extLst>
                <a:ext uri="{FF2B5EF4-FFF2-40B4-BE49-F238E27FC236}">
                  <a16:creationId xmlns:a16="http://schemas.microsoft.com/office/drawing/2014/main" id="{89F4D31F-87B6-4E69-917E-65E2F97982B6}"/>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n-ea"/>
                <a:cs typeface="+mn-cs"/>
              </a:endParaRPr>
            </a:p>
          </p:txBody>
        </p:sp>
        <p:sp>
          <p:nvSpPr>
            <p:cNvPr id="260" name="Freeform 25">
              <a:extLst>
                <a:ext uri="{FF2B5EF4-FFF2-40B4-BE49-F238E27FC236}">
                  <a16:creationId xmlns:a16="http://schemas.microsoft.com/office/drawing/2014/main" id="{FA0FD38E-7CA9-4ECE-9013-798D4E40C551}"/>
                </a:ext>
              </a:extLst>
            </p:cNvPr>
            <p:cNvSpPr>
              <a:spLocks noEditPoints="1"/>
            </p:cNvSpPr>
            <p:nvPr/>
          </p:nvSpPr>
          <p:spPr bwMode="auto">
            <a:xfrm>
              <a:off x="3782" y="838"/>
              <a:ext cx="1832" cy="1367"/>
            </a:xfrm>
            <a:custGeom>
              <a:avLst/>
              <a:gdLst>
                <a:gd name="T0" fmla="*/ 25 w 978"/>
                <a:gd name="T1" fmla="*/ 729 h 729"/>
                <a:gd name="T2" fmla="*/ 7 w 978"/>
                <a:gd name="T3" fmla="*/ 719 h 729"/>
                <a:gd name="T4" fmla="*/ 13 w 978"/>
                <a:gd name="T5" fmla="*/ 689 h 729"/>
                <a:gd name="T6" fmla="*/ 888 w 978"/>
                <a:gd name="T7" fmla="*/ 86 h 729"/>
                <a:gd name="T8" fmla="*/ 919 w 978"/>
                <a:gd name="T9" fmla="*/ 91 h 729"/>
                <a:gd name="T10" fmla="*/ 913 w 978"/>
                <a:gd name="T11" fmla="*/ 122 h 729"/>
                <a:gd name="T12" fmla="*/ 38 w 978"/>
                <a:gd name="T13" fmla="*/ 725 h 729"/>
                <a:gd name="T14" fmla="*/ 25 w 978"/>
                <a:gd name="T15" fmla="*/ 729 h 729"/>
                <a:gd name="T16" fmla="*/ 578 w 978"/>
                <a:gd name="T17" fmla="*/ 254 h 729"/>
                <a:gd name="T18" fmla="*/ 586 w 978"/>
                <a:gd name="T19" fmla="*/ 258 h 729"/>
                <a:gd name="T20" fmla="*/ 825 w 978"/>
                <a:gd name="T21" fmla="*/ 93 h 729"/>
                <a:gd name="T22" fmla="*/ 826 w 978"/>
                <a:gd name="T23" fmla="*/ 91 h 729"/>
                <a:gd name="T24" fmla="*/ 849 w 978"/>
                <a:gd name="T25" fmla="*/ 8 h 729"/>
                <a:gd name="T26" fmla="*/ 841 w 978"/>
                <a:gd name="T27" fmla="*/ 3 h 729"/>
                <a:gd name="T28" fmla="*/ 602 w 978"/>
                <a:gd name="T29" fmla="*/ 166 h 729"/>
                <a:gd name="T30" fmla="*/ 599 w 978"/>
                <a:gd name="T31" fmla="*/ 171 h 729"/>
                <a:gd name="T32" fmla="*/ 578 w 978"/>
                <a:gd name="T33" fmla="*/ 254 h 729"/>
                <a:gd name="T34" fmla="*/ 646 w 978"/>
                <a:gd name="T35" fmla="*/ 352 h 729"/>
                <a:gd name="T36" fmla="*/ 730 w 978"/>
                <a:gd name="T37" fmla="*/ 362 h 729"/>
                <a:gd name="T38" fmla="*/ 736 w 978"/>
                <a:gd name="T39" fmla="*/ 361 h 729"/>
                <a:gd name="T40" fmla="*/ 974 w 978"/>
                <a:gd name="T41" fmla="*/ 196 h 729"/>
                <a:gd name="T42" fmla="*/ 972 w 978"/>
                <a:gd name="T43" fmla="*/ 187 h 729"/>
                <a:gd name="T44" fmla="*/ 886 w 978"/>
                <a:gd name="T45" fmla="*/ 179 h 729"/>
                <a:gd name="T46" fmla="*/ 884 w 978"/>
                <a:gd name="T47" fmla="*/ 179 h 729"/>
                <a:gd name="T48" fmla="*/ 644 w 978"/>
                <a:gd name="T49" fmla="*/ 343 h 729"/>
                <a:gd name="T50" fmla="*/ 646 w 978"/>
                <a:gd name="T51" fmla="*/ 352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78" h="729">
                  <a:moveTo>
                    <a:pt x="25" y="729"/>
                  </a:moveTo>
                  <a:cubicBezTo>
                    <a:pt x="18" y="729"/>
                    <a:pt x="11" y="726"/>
                    <a:pt x="7" y="719"/>
                  </a:cubicBezTo>
                  <a:cubicBezTo>
                    <a:pt x="0" y="709"/>
                    <a:pt x="3" y="696"/>
                    <a:pt x="13" y="689"/>
                  </a:cubicBezTo>
                  <a:cubicBezTo>
                    <a:pt x="888" y="86"/>
                    <a:pt x="888" y="86"/>
                    <a:pt x="888" y="86"/>
                  </a:cubicBezTo>
                  <a:cubicBezTo>
                    <a:pt x="898" y="79"/>
                    <a:pt x="912" y="81"/>
                    <a:pt x="919" y="91"/>
                  </a:cubicBezTo>
                  <a:cubicBezTo>
                    <a:pt x="926" y="101"/>
                    <a:pt x="923" y="115"/>
                    <a:pt x="913" y="122"/>
                  </a:cubicBezTo>
                  <a:cubicBezTo>
                    <a:pt x="38" y="725"/>
                    <a:pt x="38" y="725"/>
                    <a:pt x="38" y="725"/>
                  </a:cubicBezTo>
                  <a:cubicBezTo>
                    <a:pt x="34" y="728"/>
                    <a:pt x="30" y="729"/>
                    <a:pt x="25" y="729"/>
                  </a:cubicBezTo>
                  <a:close/>
                  <a:moveTo>
                    <a:pt x="578" y="254"/>
                  </a:moveTo>
                  <a:cubicBezTo>
                    <a:pt x="577" y="258"/>
                    <a:pt x="582" y="259"/>
                    <a:pt x="586" y="258"/>
                  </a:cubicBezTo>
                  <a:cubicBezTo>
                    <a:pt x="586" y="258"/>
                    <a:pt x="586" y="258"/>
                    <a:pt x="825" y="93"/>
                  </a:cubicBezTo>
                  <a:cubicBezTo>
                    <a:pt x="826" y="93"/>
                    <a:pt x="826" y="93"/>
                    <a:pt x="826" y="91"/>
                  </a:cubicBezTo>
                  <a:cubicBezTo>
                    <a:pt x="826" y="91"/>
                    <a:pt x="826" y="91"/>
                    <a:pt x="849" y="8"/>
                  </a:cubicBezTo>
                  <a:cubicBezTo>
                    <a:pt x="850" y="3"/>
                    <a:pt x="845" y="0"/>
                    <a:pt x="841" y="3"/>
                  </a:cubicBezTo>
                  <a:cubicBezTo>
                    <a:pt x="841" y="3"/>
                    <a:pt x="841" y="3"/>
                    <a:pt x="602" y="166"/>
                  </a:cubicBezTo>
                  <a:cubicBezTo>
                    <a:pt x="601" y="168"/>
                    <a:pt x="601" y="168"/>
                    <a:pt x="599" y="171"/>
                  </a:cubicBezTo>
                  <a:cubicBezTo>
                    <a:pt x="599" y="171"/>
                    <a:pt x="599" y="171"/>
                    <a:pt x="578" y="254"/>
                  </a:cubicBezTo>
                  <a:close/>
                  <a:moveTo>
                    <a:pt x="646" y="352"/>
                  </a:moveTo>
                  <a:cubicBezTo>
                    <a:pt x="730" y="362"/>
                    <a:pt x="730" y="362"/>
                    <a:pt x="730" y="362"/>
                  </a:cubicBezTo>
                  <a:cubicBezTo>
                    <a:pt x="734" y="361"/>
                    <a:pt x="734" y="361"/>
                    <a:pt x="736" y="361"/>
                  </a:cubicBezTo>
                  <a:cubicBezTo>
                    <a:pt x="974" y="196"/>
                    <a:pt x="974" y="196"/>
                    <a:pt x="974" y="196"/>
                  </a:cubicBezTo>
                  <a:cubicBezTo>
                    <a:pt x="978" y="194"/>
                    <a:pt x="978" y="187"/>
                    <a:pt x="972" y="187"/>
                  </a:cubicBezTo>
                  <a:cubicBezTo>
                    <a:pt x="886" y="179"/>
                    <a:pt x="886" y="179"/>
                    <a:pt x="886" y="179"/>
                  </a:cubicBezTo>
                  <a:cubicBezTo>
                    <a:pt x="884" y="177"/>
                    <a:pt x="884" y="177"/>
                    <a:pt x="884" y="179"/>
                  </a:cubicBezTo>
                  <a:cubicBezTo>
                    <a:pt x="644" y="343"/>
                    <a:pt x="644" y="343"/>
                    <a:pt x="644" y="343"/>
                  </a:cubicBezTo>
                  <a:cubicBezTo>
                    <a:pt x="642" y="347"/>
                    <a:pt x="642" y="351"/>
                    <a:pt x="646" y="35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icrosoft YaHei" panose="020B0503020204020204" pitchFamily="34" charset="-122"/>
                <a:cs typeface="+mn-cs"/>
              </a:endParaRPr>
            </a:p>
          </p:txBody>
        </p:sp>
        <p:sp>
          <p:nvSpPr>
            <p:cNvPr id="261" name="Freeform 26">
              <a:extLst>
                <a:ext uri="{FF2B5EF4-FFF2-40B4-BE49-F238E27FC236}">
                  <a16:creationId xmlns:a16="http://schemas.microsoft.com/office/drawing/2014/main" id="{F562C458-32E3-43E7-BAF7-B4773D3C4A71}"/>
                </a:ext>
              </a:extLst>
            </p:cNvPr>
            <p:cNvSpPr>
              <a:spLocks noEditPoints="1"/>
            </p:cNvSpPr>
            <p:nvPr/>
          </p:nvSpPr>
          <p:spPr bwMode="auto">
            <a:xfrm>
              <a:off x="2422" y="756"/>
              <a:ext cx="2814" cy="2816"/>
            </a:xfrm>
            <a:custGeom>
              <a:avLst/>
              <a:gdLst>
                <a:gd name="T0" fmla="*/ 1016 w 1502"/>
                <a:gd name="T1" fmla="*/ 662 h 1502"/>
                <a:gd name="T2" fmla="*/ 1030 w 1502"/>
                <a:gd name="T3" fmla="*/ 751 h 1502"/>
                <a:gd name="T4" fmla="*/ 751 w 1502"/>
                <a:gd name="T5" fmla="*/ 1030 h 1502"/>
                <a:gd name="T6" fmla="*/ 472 w 1502"/>
                <a:gd name="T7" fmla="*/ 751 h 1502"/>
                <a:gd name="T8" fmla="*/ 751 w 1502"/>
                <a:gd name="T9" fmla="*/ 472 h 1502"/>
                <a:gd name="T10" fmla="*/ 929 w 1502"/>
                <a:gd name="T11" fmla="*/ 536 h 1502"/>
                <a:gd name="T12" fmla="*/ 819 w 1502"/>
                <a:gd name="T13" fmla="*/ 611 h 1502"/>
                <a:gd name="T14" fmla="*/ 751 w 1502"/>
                <a:gd name="T15" fmla="*/ 596 h 1502"/>
                <a:gd name="T16" fmla="*/ 596 w 1502"/>
                <a:gd name="T17" fmla="*/ 751 h 1502"/>
                <a:gd name="T18" fmla="*/ 751 w 1502"/>
                <a:gd name="T19" fmla="*/ 906 h 1502"/>
                <a:gd name="T20" fmla="*/ 906 w 1502"/>
                <a:gd name="T21" fmla="*/ 751 h 1502"/>
                <a:gd name="T22" fmla="*/ 906 w 1502"/>
                <a:gd name="T23" fmla="*/ 738 h 1502"/>
                <a:gd name="T24" fmla="*/ 1016 w 1502"/>
                <a:gd name="T25" fmla="*/ 662 h 1502"/>
                <a:gd name="T26" fmla="*/ 1107 w 1502"/>
                <a:gd name="T27" fmla="*/ 599 h 1502"/>
                <a:gd name="T28" fmla="*/ 1138 w 1502"/>
                <a:gd name="T29" fmla="*/ 751 h 1502"/>
                <a:gd name="T30" fmla="*/ 751 w 1502"/>
                <a:gd name="T31" fmla="*/ 1138 h 1502"/>
                <a:gd name="T32" fmla="*/ 364 w 1502"/>
                <a:gd name="T33" fmla="*/ 751 h 1502"/>
                <a:gd name="T34" fmla="*/ 751 w 1502"/>
                <a:gd name="T35" fmla="*/ 364 h 1502"/>
                <a:gd name="T36" fmla="*/ 1020 w 1502"/>
                <a:gd name="T37" fmla="*/ 473 h 1502"/>
                <a:gd name="T38" fmla="*/ 1124 w 1502"/>
                <a:gd name="T39" fmla="*/ 401 h 1502"/>
                <a:gd name="T40" fmla="*/ 751 w 1502"/>
                <a:gd name="T41" fmla="*/ 240 h 1502"/>
                <a:gd name="T42" fmla="*/ 240 w 1502"/>
                <a:gd name="T43" fmla="*/ 751 h 1502"/>
                <a:gd name="T44" fmla="*/ 751 w 1502"/>
                <a:gd name="T45" fmla="*/ 1262 h 1502"/>
                <a:gd name="T46" fmla="*/ 1262 w 1502"/>
                <a:gd name="T47" fmla="*/ 751 h 1502"/>
                <a:gd name="T48" fmla="*/ 1211 w 1502"/>
                <a:gd name="T49" fmla="*/ 528 h 1502"/>
                <a:gd name="T50" fmla="*/ 1107 w 1502"/>
                <a:gd name="T51" fmla="*/ 599 h 1502"/>
                <a:gd name="T52" fmla="*/ 1333 w 1502"/>
                <a:gd name="T53" fmla="*/ 443 h 1502"/>
                <a:gd name="T54" fmla="*/ 1307 w 1502"/>
                <a:gd name="T55" fmla="*/ 461 h 1502"/>
                <a:gd name="T56" fmla="*/ 1378 w 1502"/>
                <a:gd name="T57" fmla="*/ 751 h 1502"/>
                <a:gd name="T58" fmla="*/ 751 w 1502"/>
                <a:gd name="T59" fmla="*/ 1378 h 1502"/>
                <a:gd name="T60" fmla="*/ 124 w 1502"/>
                <a:gd name="T61" fmla="*/ 751 h 1502"/>
                <a:gd name="T62" fmla="*/ 751 w 1502"/>
                <a:gd name="T63" fmla="*/ 124 h 1502"/>
                <a:gd name="T64" fmla="*/ 1220 w 1502"/>
                <a:gd name="T65" fmla="*/ 335 h 1502"/>
                <a:gd name="T66" fmla="*/ 1246 w 1502"/>
                <a:gd name="T67" fmla="*/ 317 h 1502"/>
                <a:gd name="T68" fmla="*/ 1273 w 1502"/>
                <a:gd name="T69" fmla="*/ 211 h 1502"/>
                <a:gd name="T70" fmla="*/ 751 w 1502"/>
                <a:gd name="T71" fmla="*/ 0 h 1502"/>
                <a:gd name="T72" fmla="*/ 0 w 1502"/>
                <a:gd name="T73" fmla="*/ 751 h 1502"/>
                <a:gd name="T74" fmla="*/ 751 w 1502"/>
                <a:gd name="T75" fmla="*/ 1502 h 1502"/>
                <a:gd name="T76" fmla="*/ 1502 w 1502"/>
                <a:gd name="T77" fmla="*/ 751 h 1502"/>
                <a:gd name="T78" fmla="*/ 1442 w 1502"/>
                <a:gd name="T79" fmla="*/ 456 h 1502"/>
                <a:gd name="T80" fmla="*/ 1333 w 1502"/>
                <a:gd name="T81" fmla="*/ 443 h 1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02" h="1502">
                  <a:moveTo>
                    <a:pt x="1016" y="662"/>
                  </a:moveTo>
                  <a:cubicBezTo>
                    <a:pt x="1025" y="690"/>
                    <a:pt x="1030" y="720"/>
                    <a:pt x="1030" y="751"/>
                  </a:cubicBezTo>
                  <a:cubicBezTo>
                    <a:pt x="1030" y="905"/>
                    <a:pt x="905" y="1030"/>
                    <a:pt x="751" y="1030"/>
                  </a:cubicBezTo>
                  <a:cubicBezTo>
                    <a:pt x="597" y="1030"/>
                    <a:pt x="472" y="905"/>
                    <a:pt x="472" y="751"/>
                  </a:cubicBezTo>
                  <a:cubicBezTo>
                    <a:pt x="472" y="597"/>
                    <a:pt x="597" y="472"/>
                    <a:pt x="751" y="472"/>
                  </a:cubicBezTo>
                  <a:cubicBezTo>
                    <a:pt x="818" y="472"/>
                    <a:pt x="880" y="496"/>
                    <a:pt x="929" y="536"/>
                  </a:cubicBezTo>
                  <a:cubicBezTo>
                    <a:pt x="819" y="611"/>
                    <a:pt x="819" y="611"/>
                    <a:pt x="819" y="611"/>
                  </a:cubicBezTo>
                  <a:cubicBezTo>
                    <a:pt x="798" y="601"/>
                    <a:pt x="775" y="596"/>
                    <a:pt x="751" y="596"/>
                  </a:cubicBezTo>
                  <a:cubicBezTo>
                    <a:pt x="665" y="596"/>
                    <a:pt x="596" y="665"/>
                    <a:pt x="596" y="751"/>
                  </a:cubicBezTo>
                  <a:cubicBezTo>
                    <a:pt x="596" y="836"/>
                    <a:pt x="665" y="906"/>
                    <a:pt x="751" y="906"/>
                  </a:cubicBezTo>
                  <a:cubicBezTo>
                    <a:pt x="837" y="906"/>
                    <a:pt x="906" y="836"/>
                    <a:pt x="906" y="751"/>
                  </a:cubicBezTo>
                  <a:cubicBezTo>
                    <a:pt x="906" y="746"/>
                    <a:pt x="906" y="742"/>
                    <a:pt x="906" y="738"/>
                  </a:cubicBezTo>
                  <a:lnTo>
                    <a:pt x="1016" y="662"/>
                  </a:lnTo>
                  <a:close/>
                  <a:moveTo>
                    <a:pt x="1107" y="599"/>
                  </a:moveTo>
                  <a:cubicBezTo>
                    <a:pt x="1127" y="646"/>
                    <a:pt x="1138" y="697"/>
                    <a:pt x="1138" y="751"/>
                  </a:cubicBezTo>
                  <a:cubicBezTo>
                    <a:pt x="1138" y="964"/>
                    <a:pt x="964" y="1138"/>
                    <a:pt x="751" y="1138"/>
                  </a:cubicBezTo>
                  <a:cubicBezTo>
                    <a:pt x="537" y="1138"/>
                    <a:pt x="364" y="964"/>
                    <a:pt x="364" y="751"/>
                  </a:cubicBezTo>
                  <a:cubicBezTo>
                    <a:pt x="364" y="537"/>
                    <a:pt x="537" y="364"/>
                    <a:pt x="751" y="364"/>
                  </a:cubicBezTo>
                  <a:cubicBezTo>
                    <a:pt x="855" y="364"/>
                    <a:pt x="950" y="405"/>
                    <a:pt x="1020" y="473"/>
                  </a:cubicBezTo>
                  <a:cubicBezTo>
                    <a:pt x="1124" y="401"/>
                    <a:pt x="1124" y="401"/>
                    <a:pt x="1124" y="401"/>
                  </a:cubicBezTo>
                  <a:cubicBezTo>
                    <a:pt x="1030" y="302"/>
                    <a:pt x="898" y="240"/>
                    <a:pt x="751" y="240"/>
                  </a:cubicBezTo>
                  <a:cubicBezTo>
                    <a:pt x="469" y="240"/>
                    <a:pt x="240" y="469"/>
                    <a:pt x="240" y="751"/>
                  </a:cubicBezTo>
                  <a:cubicBezTo>
                    <a:pt x="240" y="1033"/>
                    <a:pt x="469" y="1262"/>
                    <a:pt x="751" y="1262"/>
                  </a:cubicBezTo>
                  <a:cubicBezTo>
                    <a:pt x="1033" y="1262"/>
                    <a:pt x="1262" y="1033"/>
                    <a:pt x="1262" y="751"/>
                  </a:cubicBezTo>
                  <a:cubicBezTo>
                    <a:pt x="1262" y="671"/>
                    <a:pt x="1244" y="595"/>
                    <a:pt x="1211" y="528"/>
                  </a:cubicBezTo>
                  <a:lnTo>
                    <a:pt x="1107" y="599"/>
                  </a:lnTo>
                  <a:close/>
                  <a:moveTo>
                    <a:pt x="1333" y="443"/>
                  </a:moveTo>
                  <a:cubicBezTo>
                    <a:pt x="1307" y="461"/>
                    <a:pt x="1307" y="461"/>
                    <a:pt x="1307" y="461"/>
                  </a:cubicBezTo>
                  <a:cubicBezTo>
                    <a:pt x="1352" y="548"/>
                    <a:pt x="1378" y="646"/>
                    <a:pt x="1378" y="751"/>
                  </a:cubicBezTo>
                  <a:cubicBezTo>
                    <a:pt x="1378" y="1097"/>
                    <a:pt x="1097" y="1378"/>
                    <a:pt x="751" y="1378"/>
                  </a:cubicBezTo>
                  <a:cubicBezTo>
                    <a:pt x="405" y="1378"/>
                    <a:pt x="124" y="1097"/>
                    <a:pt x="124" y="751"/>
                  </a:cubicBezTo>
                  <a:cubicBezTo>
                    <a:pt x="124" y="405"/>
                    <a:pt x="405" y="124"/>
                    <a:pt x="751" y="124"/>
                  </a:cubicBezTo>
                  <a:cubicBezTo>
                    <a:pt x="937" y="124"/>
                    <a:pt x="1105" y="205"/>
                    <a:pt x="1220" y="335"/>
                  </a:cubicBezTo>
                  <a:cubicBezTo>
                    <a:pt x="1246" y="317"/>
                    <a:pt x="1246" y="317"/>
                    <a:pt x="1246" y="317"/>
                  </a:cubicBezTo>
                  <a:cubicBezTo>
                    <a:pt x="1273" y="211"/>
                    <a:pt x="1273" y="211"/>
                    <a:pt x="1273" y="211"/>
                  </a:cubicBezTo>
                  <a:cubicBezTo>
                    <a:pt x="1138" y="80"/>
                    <a:pt x="954" y="0"/>
                    <a:pt x="751" y="0"/>
                  </a:cubicBezTo>
                  <a:cubicBezTo>
                    <a:pt x="337" y="0"/>
                    <a:pt x="0" y="337"/>
                    <a:pt x="0" y="751"/>
                  </a:cubicBezTo>
                  <a:cubicBezTo>
                    <a:pt x="0" y="1165"/>
                    <a:pt x="337" y="1502"/>
                    <a:pt x="751" y="1502"/>
                  </a:cubicBezTo>
                  <a:cubicBezTo>
                    <a:pt x="1165" y="1502"/>
                    <a:pt x="1502" y="1165"/>
                    <a:pt x="1502" y="751"/>
                  </a:cubicBezTo>
                  <a:cubicBezTo>
                    <a:pt x="1502" y="646"/>
                    <a:pt x="1480" y="547"/>
                    <a:pt x="1442" y="456"/>
                  </a:cubicBezTo>
                  <a:lnTo>
                    <a:pt x="1333" y="44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icrosoft YaHei" panose="020B0503020204020204" pitchFamily="34" charset="-122"/>
                <a:cs typeface="+mn-cs"/>
              </a:endParaRPr>
            </a:p>
          </p:txBody>
        </p:sp>
      </p:grpSp>
      <p:grpSp>
        <p:nvGrpSpPr>
          <p:cNvPr id="262" name="bcgIcons_HumanIntelligence">
            <a:extLst>
              <a:ext uri="{FF2B5EF4-FFF2-40B4-BE49-F238E27FC236}">
                <a16:creationId xmlns:a16="http://schemas.microsoft.com/office/drawing/2014/main" id="{31BE6BCA-C59C-4BF2-A22A-22C37BA95EF5}"/>
              </a:ext>
            </a:extLst>
          </p:cNvPr>
          <p:cNvGrpSpPr>
            <a:grpSpLocks noChangeAspect="1"/>
          </p:cNvGrpSpPr>
          <p:nvPr/>
        </p:nvGrpSpPr>
        <p:grpSpPr bwMode="auto">
          <a:xfrm>
            <a:off x="8875332" y="4254088"/>
            <a:ext cx="561899" cy="562420"/>
            <a:chOff x="1682" y="0"/>
            <a:chExt cx="4316" cy="4320"/>
          </a:xfrm>
        </p:grpSpPr>
        <p:sp>
          <p:nvSpPr>
            <p:cNvPr id="263" name="AutoShape 35">
              <a:extLst>
                <a:ext uri="{FF2B5EF4-FFF2-40B4-BE49-F238E27FC236}">
                  <a16:creationId xmlns:a16="http://schemas.microsoft.com/office/drawing/2014/main" id="{E46DB7E1-B357-409A-8969-2BE84D64C6C0}"/>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n-ea"/>
                <a:cs typeface="+mn-cs"/>
              </a:endParaRPr>
            </a:p>
          </p:txBody>
        </p:sp>
        <p:sp>
          <p:nvSpPr>
            <p:cNvPr id="264" name="Freeform 37">
              <a:extLst>
                <a:ext uri="{FF2B5EF4-FFF2-40B4-BE49-F238E27FC236}">
                  <a16:creationId xmlns:a16="http://schemas.microsoft.com/office/drawing/2014/main" id="{C3B4688D-6DA6-41E7-BB98-59486DE5EB83}"/>
                </a:ext>
              </a:extLst>
            </p:cNvPr>
            <p:cNvSpPr>
              <a:spLocks noEditPoints="1"/>
            </p:cNvSpPr>
            <p:nvPr/>
          </p:nvSpPr>
          <p:spPr bwMode="auto">
            <a:xfrm>
              <a:off x="2819" y="613"/>
              <a:ext cx="2463" cy="2498"/>
            </a:xfrm>
            <a:custGeom>
              <a:avLst/>
              <a:gdLst>
                <a:gd name="T0" fmla="*/ 1188 w 1315"/>
                <a:gd name="T1" fmla="*/ 484 h 1332"/>
                <a:gd name="T2" fmla="*/ 658 w 1315"/>
                <a:gd name="T3" fmla="*/ 874 h 1332"/>
                <a:gd name="T4" fmla="*/ 557 w 1315"/>
                <a:gd name="T5" fmla="*/ 878 h 1332"/>
                <a:gd name="T6" fmla="*/ 373 w 1315"/>
                <a:gd name="T7" fmla="*/ 1066 h 1332"/>
                <a:gd name="T8" fmla="*/ 374 w 1315"/>
                <a:gd name="T9" fmla="*/ 1324 h 1332"/>
                <a:gd name="T10" fmla="*/ 74 w 1315"/>
                <a:gd name="T11" fmla="*/ 707 h 1332"/>
                <a:gd name="T12" fmla="*/ 131 w 1315"/>
                <a:gd name="T13" fmla="*/ 741 h 1332"/>
                <a:gd name="T14" fmla="*/ 216 w 1315"/>
                <a:gd name="T15" fmla="*/ 718 h 1332"/>
                <a:gd name="T16" fmla="*/ 297 w 1315"/>
                <a:gd name="T17" fmla="*/ 680 h 1332"/>
                <a:gd name="T18" fmla="*/ 363 w 1315"/>
                <a:gd name="T19" fmla="*/ 625 h 1332"/>
                <a:gd name="T20" fmla="*/ 414 w 1315"/>
                <a:gd name="T21" fmla="*/ 552 h 1332"/>
                <a:gd name="T22" fmla="*/ 452 w 1315"/>
                <a:gd name="T23" fmla="*/ 472 h 1332"/>
                <a:gd name="T24" fmla="*/ 414 w 1315"/>
                <a:gd name="T25" fmla="*/ 419 h 1332"/>
                <a:gd name="T26" fmla="*/ 494 w 1315"/>
                <a:gd name="T27" fmla="*/ 407 h 1332"/>
                <a:gd name="T28" fmla="*/ 547 w 1315"/>
                <a:gd name="T29" fmla="*/ 398 h 1332"/>
                <a:gd name="T30" fmla="*/ 622 w 1315"/>
                <a:gd name="T31" fmla="*/ 430 h 1332"/>
                <a:gd name="T32" fmla="*/ 687 w 1315"/>
                <a:gd name="T33" fmla="*/ 411 h 1332"/>
                <a:gd name="T34" fmla="*/ 691 w 1315"/>
                <a:gd name="T35" fmla="*/ 409 h 1332"/>
                <a:gd name="T36" fmla="*/ 750 w 1315"/>
                <a:gd name="T37" fmla="*/ 374 h 1332"/>
                <a:gd name="T38" fmla="*/ 778 w 1315"/>
                <a:gd name="T39" fmla="*/ 297 h 1332"/>
                <a:gd name="T40" fmla="*/ 819 w 1315"/>
                <a:gd name="T41" fmla="*/ 266 h 1332"/>
                <a:gd name="T42" fmla="*/ 1278 w 1315"/>
                <a:gd name="T43" fmla="*/ 288 h 1332"/>
                <a:gd name="T44" fmla="*/ 786 w 1315"/>
                <a:gd name="T45" fmla="*/ 171 h 1332"/>
                <a:gd name="T46" fmla="*/ 748 w 1315"/>
                <a:gd name="T47" fmla="*/ 261 h 1332"/>
                <a:gd name="T48" fmla="*/ 706 w 1315"/>
                <a:gd name="T49" fmla="*/ 350 h 1332"/>
                <a:gd name="T50" fmla="*/ 634 w 1315"/>
                <a:gd name="T51" fmla="*/ 382 h 1332"/>
                <a:gd name="T52" fmla="*/ 541 w 1315"/>
                <a:gd name="T53" fmla="*/ 351 h 1332"/>
                <a:gd name="T54" fmla="*/ 449 w 1315"/>
                <a:gd name="T55" fmla="*/ 318 h 1332"/>
                <a:gd name="T56" fmla="*/ 442 w 1315"/>
                <a:gd name="T57" fmla="*/ 258 h 1332"/>
                <a:gd name="T58" fmla="*/ 403 w 1315"/>
                <a:gd name="T59" fmla="*/ 209 h 1332"/>
                <a:gd name="T60" fmla="*/ 445 w 1315"/>
                <a:gd name="T61" fmla="*/ 116 h 1332"/>
                <a:gd name="T62" fmla="*/ 483 w 1315"/>
                <a:gd name="T63" fmla="*/ 33 h 1332"/>
                <a:gd name="T64" fmla="*/ 558 w 1315"/>
                <a:gd name="T65" fmla="*/ 0 h 1332"/>
                <a:gd name="T66" fmla="*/ 644 w 1315"/>
                <a:gd name="T67" fmla="*/ 30 h 1332"/>
                <a:gd name="T68" fmla="*/ 738 w 1315"/>
                <a:gd name="T69" fmla="*/ 62 h 1332"/>
                <a:gd name="T70" fmla="*/ 749 w 1315"/>
                <a:gd name="T71" fmla="*/ 124 h 1332"/>
                <a:gd name="T72" fmla="*/ 786 w 1315"/>
                <a:gd name="T73" fmla="*/ 171 h 1332"/>
                <a:gd name="T74" fmla="*/ 672 w 1315"/>
                <a:gd name="T75" fmla="*/ 157 h 1332"/>
                <a:gd name="T76" fmla="*/ 518 w 1315"/>
                <a:gd name="T77" fmla="*/ 225 h 1332"/>
                <a:gd name="T78" fmla="*/ 176 w 1315"/>
                <a:gd name="T79" fmla="*/ 365 h 1332"/>
                <a:gd name="T80" fmla="*/ 0 w 1315"/>
                <a:gd name="T81" fmla="*/ 365 h 1332"/>
                <a:gd name="T82" fmla="*/ 176 w 1315"/>
                <a:gd name="T83" fmla="*/ 365 h 1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15" h="1332">
                  <a:moveTo>
                    <a:pt x="1192" y="480"/>
                  </a:moveTo>
                  <a:cubicBezTo>
                    <a:pt x="1191" y="482"/>
                    <a:pt x="1190" y="483"/>
                    <a:pt x="1188" y="484"/>
                  </a:cubicBezTo>
                  <a:cubicBezTo>
                    <a:pt x="1149" y="497"/>
                    <a:pt x="936" y="471"/>
                    <a:pt x="793" y="575"/>
                  </a:cubicBezTo>
                  <a:cubicBezTo>
                    <a:pt x="716" y="630"/>
                    <a:pt x="658" y="720"/>
                    <a:pt x="658" y="874"/>
                  </a:cubicBezTo>
                  <a:cubicBezTo>
                    <a:pt x="658" y="895"/>
                    <a:pt x="581" y="885"/>
                    <a:pt x="562" y="883"/>
                  </a:cubicBezTo>
                  <a:cubicBezTo>
                    <a:pt x="560" y="882"/>
                    <a:pt x="558" y="881"/>
                    <a:pt x="557" y="878"/>
                  </a:cubicBezTo>
                  <a:cubicBezTo>
                    <a:pt x="553" y="846"/>
                    <a:pt x="517" y="642"/>
                    <a:pt x="374" y="718"/>
                  </a:cubicBezTo>
                  <a:cubicBezTo>
                    <a:pt x="238" y="787"/>
                    <a:pt x="364" y="1046"/>
                    <a:pt x="373" y="1066"/>
                  </a:cubicBezTo>
                  <a:cubicBezTo>
                    <a:pt x="374" y="1066"/>
                    <a:pt x="374" y="1067"/>
                    <a:pt x="374" y="1068"/>
                  </a:cubicBezTo>
                  <a:cubicBezTo>
                    <a:pt x="374" y="1324"/>
                    <a:pt x="374" y="1324"/>
                    <a:pt x="374" y="1324"/>
                  </a:cubicBezTo>
                  <a:cubicBezTo>
                    <a:pt x="374" y="1329"/>
                    <a:pt x="368" y="1332"/>
                    <a:pt x="365" y="1328"/>
                  </a:cubicBezTo>
                  <a:cubicBezTo>
                    <a:pt x="310" y="1278"/>
                    <a:pt x="39" y="1009"/>
                    <a:pt x="74" y="707"/>
                  </a:cubicBezTo>
                  <a:cubicBezTo>
                    <a:pt x="88" y="691"/>
                    <a:pt x="88" y="691"/>
                    <a:pt x="88" y="691"/>
                  </a:cubicBezTo>
                  <a:cubicBezTo>
                    <a:pt x="131" y="741"/>
                    <a:pt x="131" y="741"/>
                    <a:pt x="131" y="741"/>
                  </a:cubicBezTo>
                  <a:cubicBezTo>
                    <a:pt x="170" y="732"/>
                    <a:pt x="170" y="732"/>
                    <a:pt x="170" y="732"/>
                  </a:cubicBezTo>
                  <a:cubicBezTo>
                    <a:pt x="192" y="727"/>
                    <a:pt x="215" y="718"/>
                    <a:pt x="216" y="718"/>
                  </a:cubicBezTo>
                  <a:cubicBezTo>
                    <a:pt x="218" y="717"/>
                    <a:pt x="241" y="709"/>
                    <a:pt x="261" y="698"/>
                  </a:cubicBezTo>
                  <a:cubicBezTo>
                    <a:pt x="297" y="680"/>
                    <a:pt x="297" y="680"/>
                    <a:pt x="297" y="680"/>
                  </a:cubicBezTo>
                  <a:cubicBezTo>
                    <a:pt x="298" y="614"/>
                    <a:pt x="298" y="614"/>
                    <a:pt x="298" y="614"/>
                  </a:cubicBezTo>
                  <a:cubicBezTo>
                    <a:pt x="363" y="625"/>
                    <a:pt x="363" y="625"/>
                    <a:pt x="363" y="625"/>
                  </a:cubicBezTo>
                  <a:cubicBezTo>
                    <a:pt x="387" y="593"/>
                    <a:pt x="387" y="593"/>
                    <a:pt x="387" y="593"/>
                  </a:cubicBezTo>
                  <a:cubicBezTo>
                    <a:pt x="400" y="576"/>
                    <a:pt x="412" y="555"/>
                    <a:pt x="414" y="552"/>
                  </a:cubicBezTo>
                  <a:cubicBezTo>
                    <a:pt x="415" y="550"/>
                    <a:pt x="427" y="529"/>
                    <a:pt x="436" y="509"/>
                  </a:cubicBezTo>
                  <a:cubicBezTo>
                    <a:pt x="452" y="472"/>
                    <a:pt x="452" y="472"/>
                    <a:pt x="452" y="472"/>
                  </a:cubicBezTo>
                  <a:cubicBezTo>
                    <a:pt x="413" y="424"/>
                    <a:pt x="413" y="424"/>
                    <a:pt x="413" y="424"/>
                  </a:cubicBezTo>
                  <a:cubicBezTo>
                    <a:pt x="413" y="422"/>
                    <a:pt x="413" y="420"/>
                    <a:pt x="414" y="419"/>
                  </a:cubicBezTo>
                  <a:cubicBezTo>
                    <a:pt x="464" y="389"/>
                    <a:pt x="464" y="389"/>
                    <a:pt x="464" y="389"/>
                  </a:cubicBezTo>
                  <a:cubicBezTo>
                    <a:pt x="473" y="395"/>
                    <a:pt x="483" y="401"/>
                    <a:pt x="494" y="407"/>
                  </a:cubicBezTo>
                  <a:cubicBezTo>
                    <a:pt x="515" y="417"/>
                    <a:pt x="515" y="417"/>
                    <a:pt x="515" y="417"/>
                  </a:cubicBezTo>
                  <a:cubicBezTo>
                    <a:pt x="547" y="398"/>
                    <a:pt x="547" y="398"/>
                    <a:pt x="547" y="398"/>
                  </a:cubicBezTo>
                  <a:cubicBezTo>
                    <a:pt x="562" y="402"/>
                    <a:pt x="578" y="404"/>
                    <a:pt x="593" y="404"/>
                  </a:cubicBezTo>
                  <a:cubicBezTo>
                    <a:pt x="622" y="430"/>
                    <a:pt x="622" y="430"/>
                    <a:pt x="622" y="430"/>
                  </a:cubicBezTo>
                  <a:cubicBezTo>
                    <a:pt x="644" y="424"/>
                    <a:pt x="644" y="424"/>
                    <a:pt x="644" y="424"/>
                  </a:cubicBezTo>
                  <a:cubicBezTo>
                    <a:pt x="659" y="421"/>
                    <a:pt x="674" y="416"/>
                    <a:pt x="687" y="411"/>
                  </a:cubicBezTo>
                  <a:cubicBezTo>
                    <a:pt x="689" y="410"/>
                    <a:pt x="689" y="410"/>
                    <a:pt x="689" y="410"/>
                  </a:cubicBezTo>
                  <a:cubicBezTo>
                    <a:pt x="691" y="409"/>
                    <a:pt x="691" y="409"/>
                    <a:pt x="691" y="409"/>
                  </a:cubicBezTo>
                  <a:cubicBezTo>
                    <a:pt x="704" y="403"/>
                    <a:pt x="717" y="396"/>
                    <a:pt x="730" y="387"/>
                  </a:cubicBezTo>
                  <a:cubicBezTo>
                    <a:pt x="750" y="374"/>
                    <a:pt x="750" y="374"/>
                    <a:pt x="750" y="374"/>
                  </a:cubicBezTo>
                  <a:cubicBezTo>
                    <a:pt x="750" y="336"/>
                    <a:pt x="750" y="336"/>
                    <a:pt x="750" y="336"/>
                  </a:cubicBezTo>
                  <a:cubicBezTo>
                    <a:pt x="761" y="324"/>
                    <a:pt x="770" y="311"/>
                    <a:pt x="778" y="297"/>
                  </a:cubicBezTo>
                  <a:cubicBezTo>
                    <a:pt x="812" y="287"/>
                    <a:pt x="812" y="287"/>
                    <a:pt x="812" y="287"/>
                  </a:cubicBezTo>
                  <a:cubicBezTo>
                    <a:pt x="819" y="266"/>
                    <a:pt x="819" y="266"/>
                    <a:pt x="819" y="266"/>
                  </a:cubicBezTo>
                  <a:cubicBezTo>
                    <a:pt x="826" y="247"/>
                    <a:pt x="830" y="227"/>
                    <a:pt x="831" y="206"/>
                  </a:cubicBezTo>
                  <a:cubicBezTo>
                    <a:pt x="1027" y="228"/>
                    <a:pt x="990" y="293"/>
                    <a:pt x="1278" y="288"/>
                  </a:cubicBezTo>
                  <a:cubicBezTo>
                    <a:pt x="1315" y="288"/>
                    <a:pt x="1210" y="404"/>
                    <a:pt x="1192" y="480"/>
                  </a:cubicBezTo>
                  <a:close/>
                  <a:moveTo>
                    <a:pt x="786" y="171"/>
                  </a:moveTo>
                  <a:cubicBezTo>
                    <a:pt x="789" y="198"/>
                    <a:pt x="786" y="226"/>
                    <a:pt x="778" y="251"/>
                  </a:cubicBezTo>
                  <a:cubicBezTo>
                    <a:pt x="778" y="251"/>
                    <a:pt x="778" y="251"/>
                    <a:pt x="748" y="261"/>
                  </a:cubicBezTo>
                  <a:cubicBezTo>
                    <a:pt x="738" y="282"/>
                    <a:pt x="724" y="302"/>
                    <a:pt x="706" y="318"/>
                  </a:cubicBezTo>
                  <a:cubicBezTo>
                    <a:pt x="706" y="318"/>
                    <a:pt x="706" y="318"/>
                    <a:pt x="706" y="350"/>
                  </a:cubicBezTo>
                  <a:cubicBezTo>
                    <a:pt x="695" y="357"/>
                    <a:pt x="683" y="364"/>
                    <a:pt x="671" y="370"/>
                  </a:cubicBezTo>
                  <a:cubicBezTo>
                    <a:pt x="659" y="375"/>
                    <a:pt x="646" y="379"/>
                    <a:pt x="634" y="382"/>
                  </a:cubicBezTo>
                  <a:cubicBezTo>
                    <a:pt x="634" y="382"/>
                    <a:pt x="634" y="382"/>
                    <a:pt x="610" y="360"/>
                  </a:cubicBezTo>
                  <a:cubicBezTo>
                    <a:pt x="586" y="362"/>
                    <a:pt x="563" y="359"/>
                    <a:pt x="541" y="351"/>
                  </a:cubicBezTo>
                  <a:cubicBezTo>
                    <a:pt x="541" y="351"/>
                    <a:pt x="541" y="351"/>
                    <a:pt x="513" y="367"/>
                  </a:cubicBezTo>
                  <a:cubicBezTo>
                    <a:pt x="489" y="355"/>
                    <a:pt x="468" y="339"/>
                    <a:pt x="449" y="318"/>
                  </a:cubicBezTo>
                  <a:cubicBezTo>
                    <a:pt x="449" y="318"/>
                    <a:pt x="449" y="318"/>
                    <a:pt x="457" y="287"/>
                  </a:cubicBezTo>
                  <a:cubicBezTo>
                    <a:pt x="451" y="278"/>
                    <a:pt x="446" y="268"/>
                    <a:pt x="442" y="258"/>
                  </a:cubicBezTo>
                  <a:cubicBezTo>
                    <a:pt x="436" y="247"/>
                    <a:pt x="433" y="235"/>
                    <a:pt x="431" y="225"/>
                  </a:cubicBezTo>
                  <a:cubicBezTo>
                    <a:pt x="431" y="225"/>
                    <a:pt x="431" y="225"/>
                    <a:pt x="403" y="209"/>
                  </a:cubicBezTo>
                  <a:cubicBezTo>
                    <a:pt x="401" y="180"/>
                    <a:pt x="405" y="152"/>
                    <a:pt x="414" y="126"/>
                  </a:cubicBezTo>
                  <a:cubicBezTo>
                    <a:pt x="414" y="126"/>
                    <a:pt x="414" y="126"/>
                    <a:pt x="445" y="116"/>
                  </a:cubicBezTo>
                  <a:cubicBezTo>
                    <a:pt x="454" y="97"/>
                    <a:pt x="467" y="81"/>
                    <a:pt x="483" y="66"/>
                  </a:cubicBezTo>
                  <a:cubicBezTo>
                    <a:pt x="483" y="66"/>
                    <a:pt x="483" y="66"/>
                    <a:pt x="483" y="33"/>
                  </a:cubicBezTo>
                  <a:cubicBezTo>
                    <a:pt x="494" y="25"/>
                    <a:pt x="506" y="18"/>
                    <a:pt x="519" y="13"/>
                  </a:cubicBezTo>
                  <a:cubicBezTo>
                    <a:pt x="532" y="7"/>
                    <a:pt x="546" y="3"/>
                    <a:pt x="558" y="0"/>
                  </a:cubicBezTo>
                  <a:cubicBezTo>
                    <a:pt x="558" y="0"/>
                    <a:pt x="558" y="0"/>
                    <a:pt x="583" y="22"/>
                  </a:cubicBezTo>
                  <a:cubicBezTo>
                    <a:pt x="604" y="21"/>
                    <a:pt x="624" y="23"/>
                    <a:pt x="644" y="30"/>
                  </a:cubicBezTo>
                  <a:cubicBezTo>
                    <a:pt x="644" y="30"/>
                    <a:pt x="644" y="30"/>
                    <a:pt x="673" y="14"/>
                  </a:cubicBezTo>
                  <a:cubicBezTo>
                    <a:pt x="697" y="24"/>
                    <a:pt x="720" y="41"/>
                    <a:pt x="738" y="62"/>
                  </a:cubicBezTo>
                  <a:cubicBezTo>
                    <a:pt x="738" y="62"/>
                    <a:pt x="738" y="62"/>
                    <a:pt x="732" y="93"/>
                  </a:cubicBezTo>
                  <a:cubicBezTo>
                    <a:pt x="738" y="103"/>
                    <a:pt x="744" y="113"/>
                    <a:pt x="749" y="124"/>
                  </a:cubicBezTo>
                  <a:cubicBezTo>
                    <a:pt x="753" y="134"/>
                    <a:pt x="756" y="144"/>
                    <a:pt x="759" y="154"/>
                  </a:cubicBezTo>
                  <a:cubicBezTo>
                    <a:pt x="759" y="154"/>
                    <a:pt x="759" y="154"/>
                    <a:pt x="786" y="171"/>
                  </a:cubicBezTo>
                  <a:close/>
                  <a:moveTo>
                    <a:pt x="629" y="269"/>
                  </a:moveTo>
                  <a:cubicBezTo>
                    <a:pt x="671" y="251"/>
                    <a:pt x="691" y="200"/>
                    <a:pt x="672" y="157"/>
                  </a:cubicBezTo>
                  <a:cubicBezTo>
                    <a:pt x="654" y="114"/>
                    <a:pt x="604" y="95"/>
                    <a:pt x="561" y="113"/>
                  </a:cubicBezTo>
                  <a:cubicBezTo>
                    <a:pt x="519" y="132"/>
                    <a:pt x="499" y="181"/>
                    <a:pt x="518" y="225"/>
                  </a:cubicBezTo>
                  <a:cubicBezTo>
                    <a:pt x="536" y="268"/>
                    <a:pt x="586" y="288"/>
                    <a:pt x="629" y="269"/>
                  </a:cubicBezTo>
                  <a:close/>
                  <a:moveTo>
                    <a:pt x="176" y="365"/>
                  </a:moveTo>
                  <a:cubicBezTo>
                    <a:pt x="176" y="316"/>
                    <a:pt x="137" y="277"/>
                    <a:pt x="88" y="277"/>
                  </a:cubicBezTo>
                  <a:cubicBezTo>
                    <a:pt x="39" y="277"/>
                    <a:pt x="0" y="316"/>
                    <a:pt x="0" y="365"/>
                  </a:cubicBezTo>
                  <a:cubicBezTo>
                    <a:pt x="0" y="414"/>
                    <a:pt x="39" y="454"/>
                    <a:pt x="88" y="454"/>
                  </a:cubicBezTo>
                  <a:cubicBezTo>
                    <a:pt x="137" y="454"/>
                    <a:pt x="176" y="414"/>
                    <a:pt x="176" y="365"/>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icrosoft YaHei" panose="020B0503020204020204" pitchFamily="34" charset="-122"/>
                <a:cs typeface="+mn-cs"/>
              </a:endParaRPr>
            </a:p>
          </p:txBody>
        </p:sp>
        <p:sp>
          <p:nvSpPr>
            <p:cNvPr id="265" name="Freeform 38">
              <a:extLst>
                <a:ext uri="{FF2B5EF4-FFF2-40B4-BE49-F238E27FC236}">
                  <a16:creationId xmlns:a16="http://schemas.microsoft.com/office/drawing/2014/main" id="{E1BF43E1-C11B-44FE-AA15-F60D43F154CD}"/>
                </a:ext>
              </a:extLst>
            </p:cNvPr>
            <p:cNvSpPr>
              <a:spLocks noEditPoints="1"/>
            </p:cNvSpPr>
            <p:nvPr/>
          </p:nvSpPr>
          <p:spPr bwMode="auto">
            <a:xfrm>
              <a:off x="2360" y="671"/>
              <a:ext cx="3014" cy="3199"/>
            </a:xfrm>
            <a:custGeom>
              <a:avLst/>
              <a:gdLst>
                <a:gd name="T0" fmla="*/ 1458 w 1609"/>
                <a:gd name="T1" fmla="*/ 1072 h 1706"/>
                <a:gd name="T2" fmla="*/ 1428 w 1609"/>
                <a:gd name="T3" fmla="*/ 1421 h 1706"/>
                <a:gd name="T4" fmla="*/ 1124 w 1609"/>
                <a:gd name="T5" fmla="*/ 1706 h 1706"/>
                <a:gd name="T6" fmla="*/ 574 w 1609"/>
                <a:gd name="T7" fmla="*/ 1592 h 1706"/>
                <a:gd name="T8" fmla="*/ 579 w 1609"/>
                <a:gd name="T9" fmla="*/ 1329 h 1706"/>
                <a:gd name="T10" fmla="*/ 1102 w 1609"/>
                <a:gd name="T11" fmla="*/ 1662 h 1706"/>
                <a:gd name="T12" fmla="*/ 1127 w 1609"/>
                <a:gd name="T13" fmla="*/ 1388 h 1706"/>
                <a:gd name="T14" fmla="*/ 1424 w 1609"/>
                <a:gd name="T15" fmla="*/ 1267 h 1706"/>
                <a:gd name="T16" fmla="*/ 1436 w 1609"/>
                <a:gd name="T17" fmla="*/ 1027 h 1706"/>
                <a:gd name="T18" fmla="*/ 1492 w 1609"/>
                <a:gd name="T19" fmla="*/ 910 h 1706"/>
                <a:gd name="T20" fmla="*/ 1402 w 1609"/>
                <a:gd name="T21" fmla="*/ 630 h 1706"/>
                <a:gd name="T22" fmla="*/ 1444 w 1609"/>
                <a:gd name="T23" fmla="*/ 616 h 1706"/>
                <a:gd name="T24" fmla="*/ 1525 w 1609"/>
                <a:gd name="T25" fmla="*/ 880 h 1706"/>
                <a:gd name="T26" fmla="*/ 405 w 1609"/>
                <a:gd name="T27" fmla="*/ 658 h 1706"/>
                <a:gd name="T28" fmla="*/ 498 w 1609"/>
                <a:gd name="T29" fmla="*/ 622 h 1706"/>
                <a:gd name="T30" fmla="*/ 589 w 1609"/>
                <a:gd name="T31" fmla="*/ 546 h 1706"/>
                <a:gd name="T32" fmla="*/ 640 w 1609"/>
                <a:gd name="T33" fmla="*/ 460 h 1706"/>
                <a:gd name="T34" fmla="*/ 618 w 1609"/>
                <a:gd name="T35" fmla="*/ 360 h 1706"/>
                <a:gd name="T36" fmla="*/ 660 w 1609"/>
                <a:gd name="T37" fmla="*/ 275 h 1706"/>
                <a:gd name="T38" fmla="*/ 588 w 1609"/>
                <a:gd name="T39" fmla="*/ 209 h 1706"/>
                <a:gd name="T40" fmla="*/ 579 w 1609"/>
                <a:gd name="T41" fmla="*/ 108 h 1706"/>
                <a:gd name="T42" fmla="*/ 501 w 1609"/>
                <a:gd name="T43" fmla="*/ 45 h 1706"/>
                <a:gd name="T44" fmla="*/ 390 w 1609"/>
                <a:gd name="T45" fmla="*/ 4 h 1706"/>
                <a:gd name="T46" fmla="*/ 290 w 1609"/>
                <a:gd name="T47" fmla="*/ 3 h 1706"/>
                <a:gd name="T48" fmla="*/ 225 w 1609"/>
                <a:gd name="T49" fmla="*/ 78 h 1706"/>
                <a:gd name="T50" fmla="*/ 119 w 1609"/>
                <a:gd name="T51" fmla="*/ 78 h 1706"/>
                <a:gd name="T52" fmla="*/ 99 w 1609"/>
                <a:gd name="T53" fmla="*/ 176 h 1706"/>
                <a:gd name="T54" fmla="*/ 16 w 1609"/>
                <a:gd name="T55" fmla="*/ 232 h 1706"/>
                <a:gd name="T56" fmla="*/ 0 w 1609"/>
                <a:gd name="T57" fmla="*/ 332 h 1706"/>
                <a:gd name="T58" fmla="*/ 20 w 1609"/>
                <a:gd name="T59" fmla="*/ 448 h 1706"/>
                <a:gd name="T60" fmla="*/ 69 w 1609"/>
                <a:gd name="T61" fmla="*/ 535 h 1706"/>
                <a:gd name="T62" fmla="*/ 166 w 1609"/>
                <a:gd name="T63" fmla="*/ 559 h 1706"/>
                <a:gd name="T64" fmla="*/ 219 w 1609"/>
                <a:gd name="T65" fmla="*/ 645 h 1706"/>
                <a:gd name="T66" fmla="*/ 317 w 1609"/>
                <a:gd name="T67" fmla="*/ 610 h 1706"/>
                <a:gd name="T68" fmla="*/ 405 w 1609"/>
                <a:gd name="T69" fmla="*/ 658 h 1706"/>
                <a:gd name="T70" fmla="*/ 299 w 1609"/>
                <a:gd name="T71" fmla="*/ 564 h 1706"/>
                <a:gd name="T72" fmla="*/ 211 w 1609"/>
                <a:gd name="T73" fmla="*/ 594 h 1706"/>
                <a:gd name="T74" fmla="*/ 160 w 1609"/>
                <a:gd name="T75" fmla="*/ 497 h 1706"/>
                <a:gd name="T76" fmla="*/ 83 w 1609"/>
                <a:gd name="T77" fmla="*/ 477 h 1706"/>
                <a:gd name="T78" fmla="*/ 101 w 1609"/>
                <a:gd name="T79" fmla="*/ 402 h 1706"/>
                <a:gd name="T80" fmla="*/ 45 w 1609"/>
                <a:gd name="T81" fmla="*/ 308 h 1706"/>
                <a:gd name="T82" fmla="*/ 108 w 1609"/>
                <a:gd name="T83" fmla="*/ 248 h 1706"/>
                <a:gd name="T84" fmla="*/ 148 w 1609"/>
                <a:gd name="T85" fmla="*/ 184 h 1706"/>
                <a:gd name="T86" fmla="*/ 168 w 1609"/>
                <a:gd name="T87" fmla="*/ 96 h 1706"/>
                <a:gd name="T88" fmla="*/ 274 w 1609"/>
                <a:gd name="T89" fmla="*/ 109 h 1706"/>
                <a:gd name="T90" fmla="*/ 333 w 1609"/>
                <a:gd name="T91" fmla="*/ 44 h 1706"/>
                <a:gd name="T92" fmla="*/ 393 w 1609"/>
                <a:gd name="T93" fmla="*/ 109 h 1706"/>
                <a:gd name="T94" fmla="*/ 499 w 1609"/>
                <a:gd name="T95" fmla="*/ 96 h 1706"/>
                <a:gd name="T96" fmla="*/ 518 w 1609"/>
                <a:gd name="T97" fmla="*/ 184 h 1706"/>
                <a:gd name="T98" fmla="*/ 558 w 1609"/>
                <a:gd name="T99" fmla="*/ 248 h 1706"/>
                <a:gd name="T100" fmla="*/ 620 w 1609"/>
                <a:gd name="T101" fmla="*/ 308 h 1706"/>
                <a:gd name="T102" fmla="*/ 565 w 1609"/>
                <a:gd name="T103" fmla="*/ 403 h 1706"/>
                <a:gd name="T104" fmla="*/ 583 w 1609"/>
                <a:gd name="T105" fmla="*/ 477 h 1706"/>
                <a:gd name="T106" fmla="*/ 506 w 1609"/>
                <a:gd name="T107" fmla="*/ 497 h 1706"/>
                <a:gd name="T108" fmla="*/ 455 w 1609"/>
                <a:gd name="T109" fmla="*/ 594 h 1706"/>
                <a:gd name="T110" fmla="*/ 367 w 1609"/>
                <a:gd name="T111" fmla="*/ 564 h 1706"/>
                <a:gd name="T112" fmla="*/ 333 w 1609"/>
                <a:gd name="T113" fmla="*/ 156 h 1706"/>
                <a:gd name="T114" fmla="*/ 511 w 1609"/>
                <a:gd name="T115" fmla="*/ 334 h 1706"/>
                <a:gd name="T116" fmla="*/ 199 w 1609"/>
                <a:gd name="T117" fmla="*/ 334 h 1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09" h="1706">
                  <a:moveTo>
                    <a:pt x="1599" y="1004"/>
                  </a:moveTo>
                  <a:cubicBezTo>
                    <a:pt x="1593" y="1021"/>
                    <a:pt x="1566" y="1072"/>
                    <a:pt x="1463" y="1072"/>
                  </a:cubicBezTo>
                  <a:cubicBezTo>
                    <a:pt x="1462" y="1072"/>
                    <a:pt x="1460" y="1072"/>
                    <a:pt x="1458" y="1072"/>
                  </a:cubicBezTo>
                  <a:cubicBezTo>
                    <a:pt x="1463" y="1117"/>
                    <a:pt x="1472" y="1211"/>
                    <a:pt x="1468" y="1269"/>
                  </a:cubicBezTo>
                  <a:cubicBezTo>
                    <a:pt x="1467" y="1280"/>
                    <a:pt x="1467" y="1280"/>
                    <a:pt x="1467" y="1280"/>
                  </a:cubicBezTo>
                  <a:cubicBezTo>
                    <a:pt x="1462" y="1361"/>
                    <a:pt x="1459" y="1405"/>
                    <a:pt x="1428" y="1421"/>
                  </a:cubicBezTo>
                  <a:cubicBezTo>
                    <a:pt x="1405" y="1434"/>
                    <a:pt x="1303" y="1453"/>
                    <a:pt x="1146" y="1435"/>
                  </a:cubicBezTo>
                  <a:cubicBezTo>
                    <a:pt x="1146" y="1684"/>
                    <a:pt x="1146" y="1684"/>
                    <a:pt x="1146" y="1684"/>
                  </a:cubicBezTo>
                  <a:cubicBezTo>
                    <a:pt x="1146" y="1696"/>
                    <a:pt x="1136" y="1706"/>
                    <a:pt x="1124" y="1706"/>
                  </a:cubicBezTo>
                  <a:cubicBezTo>
                    <a:pt x="1124" y="1706"/>
                    <a:pt x="1123" y="1706"/>
                    <a:pt x="1123" y="1706"/>
                  </a:cubicBezTo>
                  <a:cubicBezTo>
                    <a:pt x="1100" y="1706"/>
                    <a:pt x="812" y="1704"/>
                    <a:pt x="588" y="1612"/>
                  </a:cubicBezTo>
                  <a:cubicBezTo>
                    <a:pt x="580" y="1609"/>
                    <a:pt x="574" y="1601"/>
                    <a:pt x="574" y="1592"/>
                  </a:cubicBezTo>
                  <a:cubicBezTo>
                    <a:pt x="574" y="1326"/>
                    <a:pt x="574" y="1326"/>
                    <a:pt x="574" y="1326"/>
                  </a:cubicBezTo>
                  <a:cubicBezTo>
                    <a:pt x="574" y="1325"/>
                    <a:pt x="574" y="1325"/>
                    <a:pt x="574" y="1324"/>
                  </a:cubicBezTo>
                  <a:cubicBezTo>
                    <a:pt x="576" y="1326"/>
                    <a:pt x="578" y="1328"/>
                    <a:pt x="579" y="1329"/>
                  </a:cubicBezTo>
                  <a:cubicBezTo>
                    <a:pt x="585" y="1335"/>
                    <a:pt x="603" y="1349"/>
                    <a:pt x="618" y="1359"/>
                  </a:cubicBezTo>
                  <a:cubicBezTo>
                    <a:pt x="618" y="1577"/>
                    <a:pt x="618" y="1577"/>
                    <a:pt x="618" y="1577"/>
                  </a:cubicBezTo>
                  <a:cubicBezTo>
                    <a:pt x="801" y="1648"/>
                    <a:pt x="1031" y="1660"/>
                    <a:pt x="1102" y="1662"/>
                  </a:cubicBezTo>
                  <a:cubicBezTo>
                    <a:pt x="1102" y="1410"/>
                    <a:pt x="1102" y="1410"/>
                    <a:pt x="1102" y="1410"/>
                  </a:cubicBezTo>
                  <a:cubicBezTo>
                    <a:pt x="1102" y="1404"/>
                    <a:pt x="1105" y="1398"/>
                    <a:pt x="1109" y="1393"/>
                  </a:cubicBezTo>
                  <a:cubicBezTo>
                    <a:pt x="1114" y="1389"/>
                    <a:pt x="1120" y="1387"/>
                    <a:pt x="1127" y="1388"/>
                  </a:cubicBezTo>
                  <a:cubicBezTo>
                    <a:pt x="1290" y="1410"/>
                    <a:pt x="1393" y="1390"/>
                    <a:pt x="1408" y="1382"/>
                  </a:cubicBezTo>
                  <a:cubicBezTo>
                    <a:pt x="1417" y="1376"/>
                    <a:pt x="1420" y="1323"/>
                    <a:pt x="1423" y="1277"/>
                  </a:cubicBezTo>
                  <a:cubicBezTo>
                    <a:pt x="1424" y="1267"/>
                    <a:pt x="1424" y="1267"/>
                    <a:pt x="1424" y="1267"/>
                  </a:cubicBezTo>
                  <a:cubicBezTo>
                    <a:pt x="1429" y="1192"/>
                    <a:pt x="1412" y="1053"/>
                    <a:pt x="1412" y="1052"/>
                  </a:cubicBezTo>
                  <a:cubicBezTo>
                    <a:pt x="1411" y="1045"/>
                    <a:pt x="1413" y="1038"/>
                    <a:pt x="1418" y="1034"/>
                  </a:cubicBezTo>
                  <a:cubicBezTo>
                    <a:pt x="1423" y="1029"/>
                    <a:pt x="1429" y="1026"/>
                    <a:pt x="1436" y="1027"/>
                  </a:cubicBezTo>
                  <a:cubicBezTo>
                    <a:pt x="1512" y="1034"/>
                    <a:pt x="1548" y="1012"/>
                    <a:pt x="1557" y="991"/>
                  </a:cubicBezTo>
                  <a:cubicBezTo>
                    <a:pt x="1555" y="977"/>
                    <a:pt x="1521" y="941"/>
                    <a:pt x="1505" y="923"/>
                  </a:cubicBezTo>
                  <a:cubicBezTo>
                    <a:pt x="1501" y="919"/>
                    <a:pt x="1496" y="914"/>
                    <a:pt x="1492" y="910"/>
                  </a:cubicBezTo>
                  <a:cubicBezTo>
                    <a:pt x="1463" y="878"/>
                    <a:pt x="1439" y="820"/>
                    <a:pt x="1424" y="777"/>
                  </a:cubicBezTo>
                  <a:cubicBezTo>
                    <a:pt x="1418" y="760"/>
                    <a:pt x="1416" y="737"/>
                    <a:pt x="1414" y="709"/>
                  </a:cubicBezTo>
                  <a:cubicBezTo>
                    <a:pt x="1412" y="682"/>
                    <a:pt x="1409" y="652"/>
                    <a:pt x="1402" y="630"/>
                  </a:cubicBezTo>
                  <a:cubicBezTo>
                    <a:pt x="1389" y="591"/>
                    <a:pt x="1386" y="527"/>
                    <a:pt x="1386" y="502"/>
                  </a:cubicBezTo>
                  <a:cubicBezTo>
                    <a:pt x="1404" y="501"/>
                    <a:pt x="1418" y="500"/>
                    <a:pt x="1430" y="499"/>
                  </a:cubicBezTo>
                  <a:cubicBezTo>
                    <a:pt x="1430" y="520"/>
                    <a:pt x="1432" y="582"/>
                    <a:pt x="1444" y="616"/>
                  </a:cubicBezTo>
                  <a:cubicBezTo>
                    <a:pt x="1453" y="643"/>
                    <a:pt x="1455" y="676"/>
                    <a:pt x="1458" y="706"/>
                  </a:cubicBezTo>
                  <a:cubicBezTo>
                    <a:pt x="1460" y="728"/>
                    <a:pt x="1461" y="751"/>
                    <a:pt x="1466" y="763"/>
                  </a:cubicBezTo>
                  <a:cubicBezTo>
                    <a:pt x="1485" y="818"/>
                    <a:pt x="1506" y="859"/>
                    <a:pt x="1525" y="880"/>
                  </a:cubicBezTo>
                  <a:cubicBezTo>
                    <a:pt x="1529" y="884"/>
                    <a:pt x="1533" y="889"/>
                    <a:pt x="1537" y="893"/>
                  </a:cubicBezTo>
                  <a:cubicBezTo>
                    <a:pt x="1581" y="941"/>
                    <a:pt x="1609" y="974"/>
                    <a:pt x="1599" y="1004"/>
                  </a:cubicBezTo>
                  <a:close/>
                  <a:moveTo>
                    <a:pt x="405" y="658"/>
                  </a:moveTo>
                  <a:cubicBezTo>
                    <a:pt x="424" y="653"/>
                    <a:pt x="446" y="646"/>
                    <a:pt x="446" y="645"/>
                  </a:cubicBezTo>
                  <a:cubicBezTo>
                    <a:pt x="447" y="645"/>
                    <a:pt x="469" y="637"/>
                    <a:pt x="487" y="628"/>
                  </a:cubicBezTo>
                  <a:cubicBezTo>
                    <a:pt x="498" y="622"/>
                    <a:pt x="498" y="622"/>
                    <a:pt x="498" y="622"/>
                  </a:cubicBezTo>
                  <a:cubicBezTo>
                    <a:pt x="499" y="559"/>
                    <a:pt x="499" y="559"/>
                    <a:pt x="499" y="559"/>
                  </a:cubicBezTo>
                  <a:cubicBezTo>
                    <a:pt x="509" y="552"/>
                    <a:pt x="519" y="545"/>
                    <a:pt x="528" y="536"/>
                  </a:cubicBezTo>
                  <a:cubicBezTo>
                    <a:pt x="589" y="546"/>
                    <a:pt x="589" y="546"/>
                    <a:pt x="589" y="546"/>
                  </a:cubicBezTo>
                  <a:cubicBezTo>
                    <a:pt x="597" y="536"/>
                    <a:pt x="597" y="536"/>
                    <a:pt x="597" y="536"/>
                  </a:cubicBezTo>
                  <a:cubicBezTo>
                    <a:pt x="609" y="520"/>
                    <a:pt x="620" y="500"/>
                    <a:pt x="621" y="499"/>
                  </a:cubicBezTo>
                  <a:cubicBezTo>
                    <a:pt x="621" y="498"/>
                    <a:pt x="633" y="478"/>
                    <a:pt x="640" y="460"/>
                  </a:cubicBezTo>
                  <a:cubicBezTo>
                    <a:pt x="646" y="448"/>
                    <a:pt x="646" y="448"/>
                    <a:pt x="646" y="448"/>
                  </a:cubicBezTo>
                  <a:cubicBezTo>
                    <a:pt x="610" y="404"/>
                    <a:pt x="610" y="404"/>
                    <a:pt x="610" y="404"/>
                  </a:cubicBezTo>
                  <a:cubicBezTo>
                    <a:pt x="614" y="390"/>
                    <a:pt x="617" y="375"/>
                    <a:pt x="618" y="360"/>
                  </a:cubicBezTo>
                  <a:cubicBezTo>
                    <a:pt x="666" y="332"/>
                    <a:pt x="666" y="332"/>
                    <a:pt x="666" y="332"/>
                  </a:cubicBezTo>
                  <a:cubicBezTo>
                    <a:pt x="666" y="319"/>
                    <a:pt x="666" y="319"/>
                    <a:pt x="666" y="319"/>
                  </a:cubicBezTo>
                  <a:cubicBezTo>
                    <a:pt x="664" y="299"/>
                    <a:pt x="660" y="276"/>
                    <a:pt x="660" y="275"/>
                  </a:cubicBezTo>
                  <a:cubicBezTo>
                    <a:pt x="660" y="274"/>
                    <a:pt x="656" y="252"/>
                    <a:pt x="650" y="233"/>
                  </a:cubicBezTo>
                  <a:cubicBezTo>
                    <a:pt x="647" y="220"/>
                    <a:pt x="647" y="220"/>
                    <a:pt x="647" y="220"/>
                  </a:cubicBezTo>
                  <a:cubicBezTo>
                    <a:pt x="588" y="209"/>
                    <a:pt x="588" y="209"/>
                    <a:pt x="588" y="209"/>
                  </a:cubicBezTo>
                  <a:cubicBezTo>
                    <a:pt x="582" y="197"/>
                    <a:pt x="575" y="186"/>
                    <a:pt x="567" y="176"/>
                  </a:cubicBezTo>
                  <a:cubicBezTo>
                    <a:pt x="588" y="118"/>
                    <a:pt x="588" y="118"/>
                    <a:pt x="588" y="118"/>
                  </a:cubicBezTo>
                  <a:cubicBezTo>
                    <a:pt x="579" y="108"/>
                    <a:pt x="579" y="108"/>
                    <a:pt x="579" y="108"/>
                  </a:cubicBezTo>
                  <a:cubicBezTo>
                    <a:pt x="565" y="94"/>
                    <a:pt x="547" y="79"/>
                    <a:pt x="547" y="78"/>
                  </a:cubicBezTo>
                  <a:cubicBezTo>
                    <a:pt x="546" y="78"/>
                    <a:pt x="528" y="63"/>
                    <a:pt x="512" y="52"/>
                  </a:cubicBezTo>
                  <a:cubicBezTo>
                    <a:pt x="501" y="45"/>
                    <a:pt x="501" y="45"/>
                    <a:pt x="501" y="45"/>
                  </a:cubicBezTo>
                  <a:cubicBezTo>
                    <a:pt x="441" y="78"/>
                    <a:pt x="441" y="78"/>
                    <a:pt x="441" y="78"/>
                  </a:cubicBezTo>
                  <a:cubicBezTo>
                    <a:pt x="432" y="75"/>
                    <a:pt x="423" y="72"/>
                    <a:pt x="414" y="69"/>
                  </a:cubicBezTo>
                  <a:cubicBezTo>
                    <a:pt x="390" y="4"/>
                    <a:pt x="390" y="4"/>
                    <a:pt x="390" y="4"/>
                  </a:cubicBezTo>
                  <a:cubicBezTo>
                    <a:pt x="377" y="3"/>
                    <a:pt x="377" y="3"/>
                    <a:pt x="377" y="3"/>
                  </a:cubicBezTo>
                  <a:cubicBezTo>
                    <a:pt x="357" y="0"/>
                    <a:pt x="334" y="0"/>
                    <a:pt x="333" y="0"/>
                  </a:cubicBezTo>
                  <a:cubicBezTo>
                    <a:pt x="332" y="0"/>
                    <a:pt x="309" y="0"/>
                    <a:pt x="290" y="3"/>
                  </a:cubicBezTo>
                  <a:cubicBezTo>
                    <a:pt x="276" y="4"/>
                    <a:pt x="276" y="4"/>
                    <a:pt x="276" y="4"/>
                  </a:cubicBezTo>
                  <a:cubicBezTo>
                    <a:pt x="252" y="69"/>
                    <a:pt x="252" y="69"/>
                    <a:pt x="252" y="69"/>
                  </a:cubicBezTo>
                  <a:cubicBezTo>
                    <a:pt x="243" y="72"/>
                    <a:pt x="234" y="75"/>
                    <a:pt x="225" y="78"/>
                  </a:cubicBezTo>
                  <a:cubicBezTo>
                    <a:pt x="165" y="45"/>
                    <a:pt x="165" y="45"/>
                    <a:pt x="165" y="45"/>
                  </a:cubicBezTo>
                  <a:cubicBezTo>
                    <a:pt x="154" y="52"/>
                    <a:pt x="154" y="52"/>
                    <a:pt x="154" y="52"/>
                  </a:cubicBezTo>
                  <a:cubicBezTo>
                    <a:pt x="138" y="63"/>
                    <a:pt x="120" y="77"/>
                    <a:pt x="119" y="78"/>
                  </a:cubicBezTo>
                  <a:cubicBezTo>
                    <a:pt x="119" y="79"/>
                    <a:pt x="101" y="93"/>
                    <a:pt x="88" y="108"/>
                  </a:cubicBezTo>
                  <a:cubicBezTo>
                    <a:pt x="78" y="118"/>
                    <a:pt x="78" y="118"/>
                    <a:pt x="78" y="118"/>
                  </a:cubicBezTo>
                  <a:cubicBezTo>
                    <a:pt x="99" y="176"/>
                    <a:pt x="99" y="176"/>
                    <a:pt x="99" y="176"/>
                  </a:cubicBezTo>
                  <a:cubicBezTo>
                    <a:pt x="91" y="186"/>
                    <a:pt x="84" y="197"/>
                    <a:pt x="78" y="209"/>
                  </a:cubicBezTo>
                  <a:cubicBezTo>
                    <a:pt x="19" y="220"/>
                    <a:pt x="19" y="220"/>
                    <a:pt x="19" y="220"/>
                  </a:cubicBezTo>
                  <a:cubicBezTo>
                    <a:pt x="16" y="232"/>
                    <a:pt x="16" y="232"/>
                    <a:pt x="16" y="232"/>
                  </a:cubicBezTo>
                  <a:cubicBezTo>
                    <a:pt x="10" y="251"/>
                    <a:pt x="6" y="274"/>
                    <a:pt x="6" y="275"/>
                  </a:cubicBezTo>
                  <a:cubicBezTo>
                    <a:pt x="5" y="276"/>
                    <a:pt x="1" y="298"/>
                    <a:pt x="0" y="318"/>
                  </a:cubicBezTo>
                  <a:cubicBezTo>
                    <a:pt x="0" y="332"/>
                    <a:pt x="0" y="332"/>
                    <a:pt x="0" y="332"/>
                  </a:cubicBezTo>
                  <a:cubicBezTo>
                    <a:pt x="48" y="360"/>
                    <a:pt x="48" y="360"/>
                    <a:pt x="48" y="360"/>
                  </a:cubicBezTo>
                  <a:cubicBezTo>
                    <a:pt x="50" y="375"/>
                    <a:pt x="52" y="390"/>
                    <a:pt x="56" y="404"/>
                  </a:cubicBezTo>
                  <a:cubicBezTo>
                    <a:pt x="20" y="448"/>
                    <a:pt x="20" y="448"/>
                    <a:pt x="20" y="448"/>
                  </a:cubicBezTo>
                  <a:cubicBezTo>
                    <a:pt x="25" y="460"/>
                    <a:pt x="25" y="460"/>
                    <a:pt x="25" y="460"/>
                  </a:cubicBezTo>
                  <a:cubicBezTo>
                    <a:pt x="33" y="478"/>
                    <a:pt x="44" y="498"/>
                    <a:pt x="45" y="499"/>
                  </a:cubicBezTo>
                  <a:cubicBezTo>
                    <a:pt x="45" y="500"/>
                    <a:pt x="57" y="520"/>
                    <a:pt x="69" y="535"/>
                  </a:cubicBezTo>
                  <a:cubicBezTo>
                    <a:pt x="77" y="546"/>
                    <a:pt x="77" y="546"/>
                    <a:pt x="77" y="546"/>
                  </a:cubicBezTo>
                  <a:cubicBezTo>
                    <a:pt x="138" y="536"/>
                    <a:pt x="138" y="536"/>
                    <a:pt x="138" y="536"/>
                  </a:cubicBezTo>
                  <a:cubicBezTo>
                    <a:pt x="147" y="544"/>
                    <a:pt x="156" y="552"/>
                    <a:pt x="166" y="559"/>
                  </a:cubicBezTo>
                  <a:cubicBezTo>
                    <a:pt x="167" y="622"/>
                    <a:pt x="167" y="622"/>
                    <a:pt x="167" y="622"/>
                  </a:cubicBezTo>
                  <a:cubicBezTo>
                    <a:pt x="179" y="628"/>
                    <a:pt x="179" y="628"/>
                    <a:pt x="179" y="628"/>
                  </a:cubicBezTo>
                  <a:cubicBezTo>
                    <a:pt x="197" y="637"/>
                    <a:pt x="218" y="645"/>
                    <a:pt x="219" y="645"/>
                  </a:cubicBezTo>
                  <a:cubicBezTo>
                    <a:pt x="220" y="645"/>
                    <a:pt x="242" y="653"/>
                    <a:pt x="261" y="658"/>
                  </a:cubicBezTo>
                  <a:cubicBezTo>
                    <a:pt x="274" y="661"/>
                    <a:pt x="274" y="661"/>
                    <a:pt x="274" y="661"/>
                  </a:cubicBezTo>
                  <a:cubicBezTo>
                    <a:pt x="317" y="610"/>
                    <a:pt x="317" y="610"/>
                    <a:pt x="317" y="610"/>
                  </a:cubicBezTo>
                  <a:cubicBezTo>
                    <a:pt x="328" y="611"/>
                    <a:pt x="338" y="611"/>
                    <a:pt x="348" y="610"/>
                  </a:cubicBezTo>
                  <a:cubicBezTo>
                    <a:pt x="392" y="661"/>
                    <a:pt x="392" y="661"/>
                    <a:pt x="392" y="661"/>
                  </a:cubicBezTo>
                  <a:lnTo>
                    <a:pt x="405" y="658"/>
                  </a:lnTo>
                  <a:close/>
                  <a:moveTo>
                    <a:pt x="356" y="565"/>
                  </a:moveTo>
                  <a:cubicBezTo>
                    <a:pt x="340" y="567"/>
                    <a:pt x="325" y="567"/>
                    <a:pt x="310" y="565"/>
                  </a:cubicBezTo>
                  <a:cubicBezTo>
                    <a:pt x="299" y="564"/>
                    <a:pt x="299" y="564"/>
                    <a:pt x="299" y="564"/>
                  </a:cubicBezTo>
                  <a:cubicBezTo>
                    <a:pt x="258" y="612"/>
                    <a:pt x="258" y="612"/>
                    <a:pt x="258" y="612"/>
                  </a:cubicBezTo>
                  <a:cubicBezTo>
                    <a:pt x="245" y="608"/>
                    <a:pt x="234" y="604"/>
                    <a:pt x="234" y="604"/>
                  </a:cubicBezTo>
                  <a:cubicBezTo>
                    <a:pt x="234" y="604"/>
                    <a:pt x="223" y="600"/>
                    <a:pt x="211" y="594"/>
                  </a:cubicBezTo>
                  <a:cubicBezTo>
                    <a:pt x="210" y="535"/>
                    <a:pt x="210" y="535"/>
                    <a:pt x="210" y="535"/>
                  </a:cubicBezTo>
                  <a:cubicBezTo>
                    <a:pt x="200" y="528"/>
                    <a:pt x="200" y="528"/>
                    <a:pt x="200" y="528"/>
                  </a:cubicBezTo>
                  <a:cubicBezTo>
                    <a:pt x="186" y="519"/>
                    <a:pt x="172" y="509"/>
                    <a:pt x="160" y="497"/>
                  </a:cubicBezTo>
                  <a:cubicBezTo>
                    <a:pt x="152" y="489"/>
                    <a:pt x="152" y="489"/>
                    <a:pt x="152" y="489"/>
                  </a:cubicBezTo>
                  <a:cubicBezTo>
                    <a:pt x="96" y="498"/>
                    <a:pt x="96" y="498"/>
                    <a:pt x="96" y="498"/>
                  </a:cubicBezTo>
                  <a:cubicBezTo>
                    <a:pt x="89" y="487"/>
                    <a:pt x="83" y="477"/>
                    <a:pt x="83" y="477"/>
                  </a:cubicBezTo>
                  <a:cubicBezTo>
                    <a:pt x="83" y="477"/>
                    <a:pt x="77" y="466"/>
                    <a:pt x="71" y="455"/>
                  </a:cubicBezTo>
                  <a:cubicBezTo>
                    <a:pt x="105" y="413"/>
                    <a:pt x="105" y="413"/>
                    <a:pt x="105" y="413"/>
                  </a:cubicBezTo>
                  <a:cubicBezTo>
                    <a:pt x="101" y="402"/>
                    <a:pt x="101" y="402"/>
                    <a:pt x="101" y="402"/>
                  </a:cubicBezTo>
                  <a:cubicBezTo>
                    <a:pt x="96" y="384"/>
                    <a:pt x="92" y="365"/>
                    <a:pt x="91" y="346"/>
                  </a:cubicBezTo>
                  <a:cubicBezTo>
                    <a:pt x="91" y="334"/>
                    <a:pt x="91" y="334"/>
                    <a:pt x="91" y="334"/>
                  </a:cubicBezTo>
                  <a:cubicBezTo>
                    <a:pt x="45" y="308"/>
                    <a:pt x="45" y="308"/>
                    <a:pt x="45" y="308"/>
                  </a:cubicBezTo>
                  <a:cubicBezTo>
                    <a:pt x="47" y="294"/>
                    <a:pt x="49" y="283"/>
                    <a:pt x="49" y="283"/>
                  </a:cubicBezTo>
                  <a:cubicBezTo>
                    <a:pt x="49" y="282"/>
                    <a:pt x="51" y="271"/>
                    <a:pt x="54" y="258"/>
                  </a:cubicBezTo>
                  <a:cubicBezTo>
                    <a:pt x="108" y="248"/>
                    <a:pt x="108" y="248"/>
                    <a:pt x="108" y="248"/>
                  </a:cubicBezTo>
                  <a:cubicBezTo>
                    <a:pt x="113" y="238"/>
                    <a:pt x="113" y="238"/>
                    <a:pt x="113" y="238"/>
                  </a:cubicBezTo>
                  <a:cubicBezTo>
                    <a:pt x="120" y="222"/>
                    <a:pt x="130" y="207"/>
                    <a:pt x="141" y="193"/>
                  </a:cubicBezTo>
                  <a:cubicBezTo>
                    <a:pt x="148" y="184"/>
                    <a:pt x="148" y="184"/>
                    <a:pt x="148" y="184"/>
                  </a:cubicBezTo>
                  <a:cubicBezTo>
                    <a:pt x="129" y="129"/>
                    <a:pt x="129" y="129"/>
                    <a:pt x="129" y="129"/>
                  </a:cubicBezTo>
                  <a:cubicBezTo>
                    <a:pt x="138" y="120"/>
                    <a:pt x="148" y="112"/>
                    <a:pt x="148" y="112"/>
                  </a:cubicBezTo>
                  <a:cubicBezTo>
                    <a:pt x="148" y="112"/>
                    <a:pt x="157" y="104"/>
                    <a:pt x="168" y="96"/>
                  </a:cubicBezTo>
                  <a:cubicBezTo>
                    <a:pt x="223" y="127"/>
                    <a:pt x="223" y="127"/>
                    <a:pt x="223" y="127"/>
                  </a:cubicBezTo>
                  <a:cubicBezTo>
                    <a:pt x="233" y="123"/>
                    <a:pt x="233" y="123"/>
                    <a:pt x="233" y="123"/>
                  </a:cubicBezTo>
                  <a:cubicBezTo>
                    <a:pt x="246" y="117"/>
                    <a:pt x="260" y="112"/>
                    <a:pt x="274" y="109"/>
                  </a:cubicBezTo>
                  <a:cubicBezTo>
                    <a:pt x="285" y="106"/>
                    <a:pt x="285" y="106"/>
                    <a:pt x="285" y="106"/>
                  </a:cubicBezTo>
                  <a:cubicBezTo>
                    <a:pt x="308" y="45"/>
                    <a:pt x="308" y="45"/>
                    <a:pt x="308" y="45"/>
                  </a:cubicBezTo>
                  <a:cubicBezTo>
                    <a:pt x="321" y="44"/>
                    <a:pt x="333" y="44"/>
                    <a:pt x="333" y="44"/>
                  </a:cubicBezTo>
                  <a:cubicBezTo>
                    <a:pt x="333" y="44"/>
                    <a:pt x="345" y="44"/>
                    <a:pt x="358" y="45"/>
                  </a:cubicBezTo>
                  <a:cubicBezTo>
                    <a:pt x="381" y="106"/>
                    <a:pt x="381" y="106"/>
                    <a:pt x="381" y="106"/>
                  </a:cubicBezTo>
                  <a:cubicBezTo>
                    <a:pt x="393" y="109"/>
                    <a:pt x="393" y="109"/>
                    <a:pt x="393" y="109"/>
                  </a:cubicBezTo>
                  <a:cubicBezTo>
                    <a:pt x="407" y="112"/>
                    <a:pt x="420" y="117"/>
                    <a:pt x="434" y="123"/>
                  </a:cubicBezTo>
                  <a:cubicBezTo>
                    <a:pt x="444" y="127"/>
                    <a:pt x="444" y="127"/>
                    <a:pt x="444" y="127"/>
                  </a:cubicBezTo>
                  <a:cubicBezTo>
                    <a:pt x="499" y="96"/>
                    <a:pt x="499" y="96"/>
                    <a:pt x="499" y="96"/>
                  </a:cubicBezTo>
                  <a:cubicBezTo>
                    <a:pt x="509" y="104"/>
                    <a:pt x="518" y="112"/>
                    <a:pt x="518" y="112"/>
                  </a:cubicBezTo>
                  <a:cubicBezTo>
                    <a:pt x="519" y="112"/>
                    <a:pt x="528" y="120"/>
                    <a:pt x="537" y="129"/>
                  </a:cubicBezTo>
                  <a:cubicBezTo>
                    <a:pt x="518" y="184"/>
                    <a:pt x="518" y="184"/>
                    <a:pt x="518" y="184"/>
                  </a:cubicBezTo>
                  <a:cubicBezTo>
                    <a:pt x="526" y="193"/>
                    <a:pt x="526" y="193"/>
                    <a:pt x="526" y="193"/>
                  </a:cubicBezTo>
                  <a:cubicBezTo>
                    <a:pt x="537" y="207"/>
                    <a:pt x="546" y="222"/>
                    <a:pt x="554" y="238"/>
                  </a:cubicBezTo>
                  <a:cubicBezTo>
                    <a:pt x="558" y="248"/>
                    <a:pt x="558" y="248"/>
                    <a:pt x="558" y="248"/>
                  </a:cubicBezTo>
                  <a:cubicBezTo>
                    <a:pt x="612" y="258"/>
                    <a:pt x="612" y="258"/>
                    <a:pt x="612" y="258"/>
                  </a:cubicBezTo>
                  <a:cubicBezTo>
                    <a:pt x="615" y="271"/>
                    <a:pt x="617" y="283"/>
                    <a:pt x="617" y="283"/>
                  </a:cubicBezTo>
                  <a:cubicBezTo>
                    <a:pt x="617" y="283"/>
                    <a:pt x="619" y="295"/>
                    <a:pt x="620" y="308"/>
                  </a:cubicBezTo>
                  <a:cubicBezTo>
                    <a:pt x="576" y="334"/>
                    <a:pt x="576" y="334"/>
                    <a:pt x="576" y="334"/>
                  </a:cubicBezTo>
                  <a:cubicBezTo>
                    <a:pt x="575" y="346"/>
                    <a:pt x="575" y="346"/>
                    <a:pt x="575" y="346"/>
                  </a:cubicBezTo>
                  <a:cubicBezTo>
                    <a:pt x="574" y="365"/>
                    <a:pt x="570" y="384"/>
                    <a:pt x="565" y="403"/>
                  </a:cubicBezTo>
                  <a:cubicBezTo>
                    <a:pt x="561" y="414"/>
                    <a:pt x="561" y="414"/>
                    <a:pt x="561" y="414"/>
                  </a:cubicBezTo>
                  <a:cubicBezTo>
                    <a:pt x="594" y="455"/>
                    <a:pt x="594" y="455"/>
                    <a:pt x="594" y="455"/>
                  </a:cubicBezTo>
                  <a:cubicBezTo>
                    <a:pt x="589" y="467"/>
                    <a:pt x="583" y="477"/>
                    <a:pt x="583" y="477"/>
                  </a:cubicBezTo>
                  <a:cubicBezTo>
                    <a:pt x="583" y="477"/>
                    <a:pt x="577" y="488"/>
                    <a:pt x="569" y="499"/>
                  </a:cubicBezTo>
                  <a:cubicBezTo>
                    <a:pt x="514" y="489"/>
                    <a:pt x="514" y="489"/>
                    <a:pt x="514" y="489"/>
                  </a:cubicBezTo>
                  <a:cubicBezTo>
                    <a:pt x="506" y="497"/>
                    <a:pt x="506" y="497"/>
                    <a:pt x="506" y="497"/>
                  </a:cubicBezTo>
                  <a:cubicBezTo>
                    <a:pt x="494" y="509"/>
                    <a:pt x="480" y="519"/>
                    <a:pt x="466" y="529"/>
                  </a:cubicBezTo>
                  <a:cubicBezTo>
                    <a:pt x="455" y="535"/>
                    <a:pt x="455" y="535"/>
                    <a:pt x="455" y="535"/>
                  </a:cubicBezTo>
                  <a:cubicBezTo>
                    <a:pt x="455" y="594"/>
                    <a:pt x="455" y="594"/>
                    <a:pt x="455" y="594"/>
                  </a:cubicBezTo>
                  <a:cubicBezTo>
                    <a:pt x="443" y="600"/>
                    <a:pt x="432" y="604"/>
                    <a:pt x="431" y="604"/>
                  </a:cubicBezTo>
                  <a:cubicBezTo>
                    <a:pt x="431" y="604"/>
                    <a:pt x="420" y="608"/>
                    <a:pt x="407" y="612"/>
                  </a:cubicBezTo>
                  <a:cubicBezTo>
                    <a:pt x="367" y="564"/>
                    <a:pt x="367" y="564"/>
                    <a:pt x="367" y="564"/>
                  </a:cubicBezTo>
                  <a:lnTo>
                    <a:pt x="356" y="565"/>
                  </a:lnTo>
                  <a:close/>
                  <a:moveTo>
                    <a:pt x="511" y="334"/>
                  </a:moveTo>
                  <a:cubicBezTo>
                    <a:pt x="511" y="236"/>
                    <a:pt x="431" y="156"/>
                    <a:pt x="333" y="156"/>
                  </a:cubicBezTo>
                  <a:cubicBezTo>
                    <a:pt x="235" y="156"/>
                    <a:pt x="155" y="236"/>
                    <a:pt x="155" y="334"/>
                  </a:cubicBezTo>
                  <a:cubicBezTo>
                    <a:pt x="155" y="432"/>
                    <a:pt x="235" y="512"/>
                    <a:pt x="333" y="512"/>
                  </a:cubicBezTo>
                  <a:cubicBezTo>
                    <a:pt x="431" y="512"/>
                    <a:pt x="511" y="432"/>
                    <a:pt x="511" y="334"/>
                  </a:cubicBezTo>
                  <a:close/>
                  <a:moveTo>
                    <a:pt x="467" y="334"/>
                  </a:moveTo>
                  <a:cubicBezTo>
                    <a:pt x="467" y="408"/>
                    <a:pt x="407" y="468"/>
                    <a:pt x="333" y="468"/>
                  </a:cubicBezTo>
                  <a:cubicBezTo>
                    <a:pt x="259" y="468"/>
                    <a:pt x="199" y="408"/>
                    <a:pt x="199" y="334"/>
                  </a:cubicBezTo>
                  <a:cubicBezTo>
                    <a:pt x="199" y="260"/>
                    <a:pt x="259" y="200"/>
                    <a:pt x="333" y="200"/>
                  </a:cubicBezTo>
                  <a:cubicBezTo>
                    <a:pt x="407" y="200"/>
                    <a:pt x="467" y="260"/>
                    <a:pt x="467" y="3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icrosoft YaHei" panose="020B0503020204020204" pitchFamily="34" charset="-122"/>
                <a:cs typeface="+mn-cs"/>
              </a:endParaRPr>
            </a:p>
          </p:txBody>
        </p:sp>
      </p:grpSp>
      <p:grpSp>
        <p:nvGrpSpPr>
          <p:cNvPr id="273" name="Group 272"/>
          <p:cNvGrpSpPr>
            <a:grpSpLocks noChangeAspect="1"/>
          </p:cNvGrpSpPr>
          <p:nvPr/>
        </p:nvGrpSpPr>
        <p:grpSpPr>
          <a:xfrm>
            <a:off x="5761516" y="4299532"/>
            <a:ext cx="471532" cy="471532"/>
            <a:chOff x="5292430" y="2613965"/>
            <a:chExt cx="1645920" cy="1645920"/>
          </a:xfrm>
        </p:grpSpPr>
        <p:sp>
          <p:nvSpPr>
            <p:cNvPr id="274" name="Rectangle 273"/>
            <p:cNvSpPr/>
            <p:nvPr/>
          </p:nvSpPr>
          <p:spPr>
            <a:xfrm>
              <a:off x="5292430" y="2613965"/>
              <a:ext cx="1645920" cy="1645920"/>
            </a:xfrm>
            <a:prstGeom prst="rect">
              <a:avLst/>
            </a:prstGeom>
            <a:noFill/>
            <a:ln w="9525" cap="rnd">
              <a:noFill/>
              <a:prstDash val="sysDot"/>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1000"/>
                </a:spcAft>
                <a:buClrTx/>
                <a:buSzTx/>
                <a:buFontTx/>
                <a:buNone/>
                <a:tabLst/>
                <a:defRPr/>
              </a:pPr>
              <a:endParaRPr kumimoji="0" lang="en-US" sz="1100" b="0" i="0" u="none" strike="noStrike" kern="1200" cap="none" spc="0" normalizeH="0" baseline="0" noProof="0">
                <a:ln>
                  <a:noFill/>
                </a:ln>
                <a:solidFill>
                  <a:srgbClr val="FFFFFF"/>
                </a:solidFill>
                <a:effectLst/>
                <a:uLnTx/>
                <a:uFillTx/>
                <a:ea typeface="Microsoft YaHei" panose="020B0503020204020204" pitchFamily="34" charset="-122"/>
                <a:cs typeface="+mn-cs"/>
              </a:endParaRPr>
            </a:p>
          </p:txBody>
        </p:sp>
        <p:grpSp>
          <p:nvGrpSpPr>
            <p:cNvPr id="275" name="Group 274"/>
            <p:cNvGrpSpPr/>
            <p:nvPr/>
          </p:nvGrpSpPr>
          <p:grpSpPr>
            <a:xfrm>
              <a:off x="5392149" y="2697974"/>
              <a:ext cx="1446482" cy="1477901"/>
              <a:chOff x="5392149" y="2697974"/>
              <a:chExt cx="1446482" cy="1477901"/>
            </a:xfrm>
          </p:grpSpPr>
          <p:sp>
            <p:nvSpPr>
              <p:cNvPr id="276" name="Freeform 10"/>
              <p:cNvSpPr>
                <a:spLocks noEditPoints="1"/>
              </p:cNvSpPr>
              <p:nvPr/>
            </p:nvSpPr>
            <p:spPr bwMode="auto">
              <a:xfrm>
                <a:off x="5392149" y="2697974"/>
                <a:ext cx="1446482" cy="1477901"/>
              </a:xfrm>
              <a:custGeom>
                <a:avLst/>
                <a:gdLst>
                  <a:gd name="T0" fmla="*/ 1519 w 1900"/>
                  <a:gd name="T1" fmla="*/ 1024 h 1943"/>
                  <a:gd name="T2" fmla="*/ 1900 w 1900"/>
                  <a:gd name="T3" fmla="*/ 1002 h 1943"/>
                  <a:gd name="T4" fmla="*/ 1519 w 1900"/>
                  <a:gd name="T5" fmla="*/ 980 h 1943"/>
                  <a:gd name="T6" fmla="*/ 1164 w 1900"/>
                  <a:gd name="T7" fmla="*/ 690 h 1943"/>
                  <a:gd name="T8" fmla="*/ 1356 w 1900"/>
                  <a:gd name="T9" fmla="*/ 354 h 1943"/>
                  <a:gd name="T10" fmla="*/ 1356 w 1900"/>
                  <a:gd name="T11" fmla="*/ 44 h 1943"/>
                  <a:gd name="T12" fmla="*/ 1274 w 1900"/>
                  <a:gd name="T13" fmla="*/ 330 h 1943"/>
                  <a:gd name="T14" fmla="*/ 1003 w 1900"/>
                  <a:gd name="T15" fmla="*/ 651 h 1943"/>
                  <a:gd name="T16" fmla="*/ 445 w 1900"/>
                  <a:gd name="T17" fmla="*/ 413 h 1943"/>
                  <a:gd name="T18" fmla="*/ 252 w 1900"/>
                  <a:gd name="T19" fmla="*/ 0 h 1943"/>
                  <a:gd name="T20" fmla="*/ 252 w 1900"/>
                  <a:gd name="T21" fmla="*/ 504 h 1943"/>
                  <a:gd name="T22" fmla="*/ 739 w 1900"/>
                  <a:gd name="T23" fmla="*/ 770 h 1943"/>
                  <a:gd name="T24" fmla="*/ 736 w 1900"/>
                  <a:gd name="T25" fmla="*/ 1230 h 1943"/>
                  <a:gd name="T26" fmla="*/ 359 w 1900"/>
                  <a:gd name="T27" fmla="*/ 1314 h 1943"/>
                  <a:gd name="T28" fmla="*/ 359 w 1900"/>
                  <a:gd name="T29" fmla="*/ 1943 h 1943"/>
                  <a:gd name="T30" fmla="*/ 599 w 1900"/>
                  <a:gd name="T31" fmla="*/ 1426 h 1943"/>
                  <a:gd name="T32" fmla="*/ 1003 w 1900"/>
                  <a:gd name="T33" fmla="*/ 1353 h 1943"/>
                  <a:gd name="T34" fmla="*/ 1343 w 1900"/>
                  <a:gd name="T35" fmla="*/ 1449 h 1943"/>
                  <a:gd name="T36" fmla="*/ 1519 w 1900"/>
                  <a:gd name="T37" fmla="*/ 1880 h 1943"/>
                  <a:gd name="T38" fmla="*/ 1519 w 1900"/>
                  <a:gd name="T39" fmla="*/ 1377 h 1943"/>
                  <a:gd name="T40" fmla="*/ 1242 w 1900"/>
                  <a:gd name="T41" fmla="*/ 1258 h 1943"/>
                  <a:gd name="T42" fmla="*/ 1563 w 1900"/>
                  <a:gd name="T43" fmla="*/ 980 h 1943"/>
                  <a:gd name="T44" fmla="*/ 1856 w 1900"/>
                  <a:gd name="T45" fmla="*/ 1002 h 1943"/>
                  <a:gd name="T46" fmla="*/ 1563 w 1900"/>
                  <a:gd name="T47" fmla="*/ 1024 h 1943"/>
                  <a:gd name="T48" fmla="*/ 1563 w 1900"/>
                  <a:gd name="T49" fmla="*/ 980 h 1943"/>
                  <a:gd name="T50" fmla="*/ 1356 w 1900"/>
                  <a:gd name="T51" fmla="*/ 88 h 1943"/>
                  <a:gd name="T52" fmla="*/ 1356 w 1900"/>
                  <a:gd name="T53" fmla="*/ 310 h 1943"/>
                  <a:gd name="T54" fmla="*/ 1292 w 1900"/>
                  <a:gd name="T55" fmla="*/ 289 h 1943"/>
                  <a:gd name="T56" fmla="*/ 252 w 1900"/>
                  <a:gd name="T57" fmla="*/ 460 h 1943"/>
                  <a:gd name="T58" fmla="*/ 252 w 1900"/>
                  <a:gd name="T59" fmla="*/ 44 h 1943"/>
                  <a:gd name="T60" fmla="*/ 414 w 1900"/>
                  <a:gd name="T61" fmla="*/ 382 h 1943"/>
                  <a:gd name="T62" fmla="*/ 252 w 1900"/>
                  <a:gd name="T63" fmla="*/ 460 h 1943"/>
                  <a:gd name="T64" fmla="*/ 359 w 1900"/>
                  <a:gd name="T65" fmla="*/ 1899 h 1943"/>
                  <a:gd name="T66" fmla="*/ 359 w 1900"/>
                  <a:gd name="T67" fmla="*/ 1358 h 1943"/>
                  <a:gd name="T68" fmla="*/ 567 w 1900"/>
                  <a:gd name="T69" fmla="*/ 1456 h 1943"/>
                  <a:gd name="T70" fmla="*/ 1405 w 1900"/>
                  <a:gd name="T71" fmla="*/ 1455 h 1943"/>
                  <a:gd name="T72" fmla="*/ 1727 w 1900"/>
                  <a:gd name="T73" fmla="*/ 1629 h 1943"/>
                  <a:gd name="T74" fmla="*/ 1311 w 1900"/>
                  <a:gd name="T75" fmla="*/ 1629 h 1943"/>
                  <a:gd name="T76" fmla="*/ 1405 w 1900"/>
                  <a:gd name="T77" fmla="*/ 1455 h 1943"/>
                  <a:gd name="T78" fmla="*/ 1180 w 1900"/>
                  <a:gd name="T79" fmla="*/ 1252 h 1943"/>
                  <a:gd name="T80" fmla="*/ 798 w 1900"/>
                  <a:gd name="T81" fmla="*/ 1231 h 1943"/>
                  <a:gd name="T82" fmla="*/ 695 w 1900"/>
                  <a:gd name="T83" fmla="*/ 1002 h 1943"/>
                  <a:gd name="T84" fmla="*/ 802 w 1900"/>
                  <a:gd name="T85" fmla="*/ 770 h 1943"/>
                  <a:gd name="T86" fmla="*/ 1106 w 1900"/>
                  <a:gd name="T87" fmla="*/ 713 h 1943"/>
                  <a:gd name="T88" fmla="*/ 1309 w 1900"/>
                  <a:gd name="T89" fmla="*/ 980 h 1943"/>
                  <a:gd name="T90" fmla="*/ 1309 w 1900"/>
                  <a:gd name="T91" fmla="*/ 1024 h 1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00" h="1943">
                    <a:moveTo>
                      <a:pt x="1353" y="1024"/>
                    </a:moveTo>
                    <a:cubicBezTo>
                      <a:pt x="1519" y="1024"/>
                      <a:pt x="1519" y="1024"/>
                      <a:pt x="1519" y="1024"/>
                    </a:cubicBezTo>
                    <a:cubicBezTo>
                      <a:pt x="1530" y="1119"/>
                      <a:pt x="1611" y="1193"/>
                      <a:pt x="1709" y="1193"/>
                    </a:cubicBezTo>
                    <a:cubicBezTo>
                      <a:pt x="1814" y="1193"/>
                      <a:pt x="1900" y="1107"/>
                      <a:pt x="1900" y="1002"/>
                    </a:cubicBezTo>
                    <a:cubicBezTo>
                      <a:pt x="1900" y="897"/>
                      <a:pt x="1814" y="811"/>
                      <a:pt x="1709" y="811"/>
                    </a:cubicBezTo>
                    <a:cubicBezTo>
                      <a:pt x="1611" y="811"/>
                      <a:pt x="1530" y="885"/>
                      <a:pt x="1519" y="980"/>
                    </a:cubicBezTo>
                    <a:cubicBezTo>
                      <a:pt x="1353" y="980"/>
                      <a:pt x="1353" y="980"/>
                      <a:pt x="1353" y="980"/>
                    </a:cubicBezTo>
                    <a:cubicBezTo>
                      <a:pt x="1345" y="854"/>
                      <a:pt x="1270" y="745"/>
                      <a:pt x="1164" y="690"/>
                    </a:cubicBezTo>
                    <a:cubicBezTo>
                      <a:pt x="1314" y="348"/>
                      <a:pt x="1314" y="348"/>
                      <a:pt x="1314" y="348"/>
                    </a:cubicBezTo>
                    <a:cubicBezTo>
                      <a:pt x="1327" y="352"/>
                      <a:pt x="1341" y="354"/>
                      <a:pt x="1356" y="354"/>
                    </a:cubicBezTo>
                    <a:cubicBezTo>
                      <a:pt x="1441" y="354"/>
                      <a:pt x="1511" y="284"/>
                      <a:pt x="1511" y="199"/>
                    </a:cubicBezTo>
                    <a:cubicBezTo>
                      <a:pt x="1511" y="113"/>
                      <a:pt x="1441" y="44"/>
                      <a:pt x="1356" y="44"/>
                    </a:cubicBezTo>
                    <a:cubicBezTo>
                      <a:pt x="1270" y="44"/>
                      <a:pt x="1201" y="113"/>
                      <a:pt x="1201" y="199"/>
                    </a:cubicBezTo>
                    <a:cubicBezTo>
                      <a:pt x="1201" y="254"/>
                      <a:pt x="1230" y="303"/>
                      <a:pt x="1274" y="330"/>
                    </a:cubicBezTo>
                    <a:cubicBezTo>
                      <a:pt x="1123" y="672"/>
                      <a:pt x="1123" y="672"/>
                      <a:pt x="1123" y="672"/>
                    </a:cubicBezTo>
                    <a:cubicBezTo>
                      <a:pt x="1086" y="659"/>
                      <a:pt x="1045" y="651"/>
                      <a:pt x="1003" y="651"/>
                    </a:cubicBezTo>
                    <a:cubicBezTo>
                      <a:pt x="914" y="651"/>
                      <a:pt x="832" y="684"/>
                      <a:pt x="770" y="739"/>
                    </a:cubicBezTo>
                    <a:cubicBezTo>
                      <a:pt x="445" y="413"/>
                      <a:pt x="445" y="413"/>
                      <a:pt x="445" y="413"/>
                    </a:cubicBezTo>
                    <a:cubicBezTo>
                      <a:pt x="482" y="370"/>
                      <a:pt x="504" y="313"/>
                      <a:pt x="504" y="252"/>
                    </a:cubicBezTo>
                    <a:cubicBezTo>
                      <a:pt x="504" y="113"/>
                      <a:pt x="391" y="0"/>
                      <a:pt x="252" y="0"/>
                    </a:cubicBezTo>
                    <a:cubicBezTo>
                      <a:pt x="113" y="0"/>
                      <a:pt x="0" y="113"/>
                      <a:pt x="0" y="252"/>
                    </a:cubicBezTo>
                    <a:cubicBezTo>
                      <a:pt x="0" y="391"/>
                      <a:pt x="113" y="504"/>
                      <a:pt x="252" y="504"/>
                    </a:cubicBezTo>
                    <a:cubicBezTo>
                      <a:pt x="314" y="504"/>
                      <a:pt x="370" y="481"/>
                      <a:pt x="414" y="445"/>
                    </a:cubicBezTo>
                    <a:cubicBezTo>
                      <a:pt x="739" y="770"/>
                      <a:pt x="739" y="770"/>
                      <a:pt x="739" y="770"/>
                    </a:cubicBezTo>
                    <a:cubicBezTo>
                      <a:pt x="685" y="832"/>
                      <a:pt x="651" y="913"/>
                      <a:pt x="651" y="1002"/>
                    </a:cubicBezTo>
                    <a:cubicBezTo>
                      <a:pt x="651" y="1089"/>
                      <a:pt x="683" y="1169"/>
                      <a:pt x="736" y="1230"/>
                    </a:cubicBezTo>
                    <a:cubicBezTo>
                      <a:pt x="568" y="1394"/>
                      <a:pt x="568" y="1394"/>
                      <a:pt x="568" y="1394"/>
                    </a:cubicBezTo>
                    <a:cubicBezTo>
                      <a:pt x="512" y="1345"/>
                      <a:pt x="439" y="1314"/>
                      <a:pt x="359" y="1314"/>
                    </a:cubicBezTo>
                    <a:cubicBezTo>
                      <a:pt x="186" y="1314"/>
                      <a:pt x="45" y="1455"/>
                      <a:pt x="45" y="1629"/>
                    </a:cubicBezTo>
                    <a:cubicBezTo>
                      <a:pt x="45" y="1802"/>
                      <a:pt x="186" y="1943"/>
                      <a:pt x="359" y="1943"/>
                    </a:cubicBezTo>
                    <a:cubicBezTo>
                      <a:pt x="532" y="1943"/>
                      <a:pt x="673" y="1802"/>
                      <a:pt x="673" y="1629"/>
                    </a:cubicBezTo>
                    <a:cubicBezTo>
                      <a:pt x="673" y="1551"/>
                      <a:pt x="645" y="1481"/>
                      <a:pt x="599" y="1426"/>
                    </a:cubicBezTo>
                    <a:cubicBezTo>
                      <a:pt x="767" y="1262"/>
                      <a:pt x="767" y="1262"/>
                      <a:pt x="767" y="1262"/>
                    </a:cubicBezTo>
                    <a:cubicBezTo>
                      <a:pt x="829" y="1319"/>
                      <a:pt x="912" y="1353"/>
                      <a:pt x="1003" y="1353"/>
                    </a:cubicBezTo>
                    <a:cubicBezTo>
                      <a:pt x="1079" y="1353"/>
                      <a:pt x="1151" y="1328"/>
                      <a:pt x="1208" y="1286"/>
                    </a:cubicBezTo>
                    <a:cubicBezTo>
                      <a:pt x="1343" y="1449"/>
                      <a:pt x="1343" y="1449"/>
                      <a:pt x="1343" y="1449"/>
                    </a:cubicBezTo>
                    <a:cubicBezTo>
                      <a:pt x="1296" y="1495"/>
                      <a:pt x="1267" y="1558"/>
                      <a:pt x="1267" y="1629"/>
                    </a:cubicBezTo>
                    <a:cubicBezTo>
                      <a:pt x="1267" y="1767"/>
                      <a:pt x="1380" y="1880"/>
                      <a:pt x="1519" y="1880"/>
                    </a:cubicBezTo>
                    <a:cubicBezTo>
                      <a:pt x="1658" y="1880"/>
                      <a:pt x="1771" y="1767"/>
                      <a:pt x="1771" y="1629"/>
                    </a:cubicBezTo>
                    <a:cubicBezTo>
                      <a:pt x="1771" y="1490"/>
                      <a:pt x="1658" y="1377"/>
                      <a:pt x="1519" y="1377"/>
                    </a:cubicBezTo>
                    <a:cubicBezTo>
                      <a:pt x="1466" y="1377"/>
                      <a:pt x="1417" y="1393"/>
                      <a:pt x="1377" y="1421"/>
                    </a:cubicBezTo>
                    <a:cubicBezTo>
                      <a:pt x="1242" y="1258"/>
                      <a:pt x="1242" y="1258"/>
                      <a:pt x="1242" y="1258"/>
                    </a:cubicBezTo>
                    <a:cubicBezTo>
                      <a:pt x="1306" y="1199"/>
                      <a:pt x="1347" y="1116"/>
                      <a:pt x="1353" y="1024"/>
                    </a:cubicBezTo>
                    <a:close/>
                    <a:moveTo>
                      <a:pt x="1563" y="980"/>
                    </a:moveTo>
                    <a:cubicBezTo>
                      <a:pt x="1574" y="909"/>
                      <a:pt x="1635" y="855"/>
                      <a:pt x="1709" y="855"/>
                    </a:cubicBezTo>
                    <a:cubicBezTo>
                      <a:pt x="1790" y="855"/>
                      <a:pt x="1856" y="921"/>
                      <a:pt x="1856" y="1002"/>
                    </a:cubicBezTo>
                    <a:cubicBezTo>
                      <a:pt x="1856" y="1083"/>
                      <a:pt x="1790" y="1149"/>
                      <a:pt x="1709" y="1149"/>
                    </a:cubicBezTo>
                    <a:cubicBezTo>
                      <a:pt x="1635" y="1149"/>
                      <a:pt x="1574" y="1095"/>
                      <a:pt x="1563" y="1024"/>
                    </a:cubicBezTo>
                    <a:cubicBezTo>
                      <a:pt x="1562" y="1017"/>
                      <a:pt x="1562" y="1009"/>
                      <a:pt x="1562" y="1002"/>
                    </a:cubicBezTo>
                    <a:cubicBezTo>
                      <a:pt x="1562" y="995"/>
                      <a:pt x="1562" y="987"/>
                      <a:pt x="1563" y="980"/>
                    </a:cubicBezTo>
                    <a:close/>
                    <a:moveTo>
                      <a:pt x="1245" y="199"/>
                    </a:moveTo>
                    <a:cubicBezTo>
                      <a:pt x="1245" y="138"/>
                      <a:pt x="1294" y="88"/>
                      <a:pt x="1356" y="88"/>
                    </a:cubicBezTo>
                    <a:cubicBezTo>
                      <a:pt x="1417" y="88"/>
                      <a:pt x="1467" y="138"/>
                      <a:pt x="1467" y="199"/>
                    </a:cubicBezTo>
                    <a:cubicBezTo>
                      <a:pt x="1467" y="260"/>
                      <a:pt x="1417" y="310"/>
                      <a:pt x="1356" y="310"/>
                    </a:cubicBezTo>
                    <a:cubicBezTo>
                      <a:pt x="1348" y="310"/>
                      <a:pt x="1340" y="309"/>
                      <a:pt x="1332" y="307"/>
                    </a:cubicBezTo>
                    <a:cubicBezTo>
                      <a:pt x="1317" y="304"/>
                      <a:pt x="1304" y="298"/>
                      <a:pt x="1292" y="289"/>
                    </a:cubicBezTo>
                    <a:cubicBezTo>
                      <a:pt x="1263" y="269"/>
                      <a:pt x="1245" y="236"/>
                      <a:pt x="1245" y="199"/>
                    </a:cubicBezTo>
                    <a:close/>
                    <a:moveTo>
                      <a:pt x="252" y="460"/>
                    </a:moveTo>
                    <a:cubicBezTo>
                      <a:pt x="138" y="460"/>
                      <a:pt x="44" y="367"/>
                      <a:pt x="44" y="252"/>
                    </a:cubicBezTo>
                    <a:cubicBezTo>
                      <a:pt x="44" y="137"/>
                      <a:pt x="138" y="44"/>
                      <a:pt x="252" y="44"/>
                    </a:cubicBezTo>
                    <a:cubicBezTo>
                      <a:pt x="367" y="44"/>
                      <a:pt x="460" y="137"/>
                      <a:pt x="460" y="252"/>
                    </a:cubicBezTo>
                    <a:cubicBezTo>
                      <a:pt x="460" y="301"/>
                      <a:pt x="443" y="347"/>
                      <a:pt x="414" y="382"/>
                    </a:cubicBezTo>
                    <a:cubicBezTo>
                      <a:pt x="405" y="394"/>
                      <a:pt x="394" y="404"/>
                      <a:pt x="383" y="413"/>
                    </a:cubicBezTo>
                    <a:cubicBezTo>
                      <a:pt x="347" y="442"/>
                      <a:pt x="302" y="460"/>
                      <a:pt x="252" y="460"/>
                    </a:cubicBezTo>
                    <a:close/>
                    <a:moveTo>
                      <a:pt x="629" y="1629"/>
                    </a:moveTo>
                    <a:cubicBezTo>
                      <a:pt x="629" y="1778"/>
                      <a:pt x="508" y="1899"/>
                      <a:pt x="359" y="1899"/>
                    </a:cubicBezTo>
                    <a:cubicBezTo>
                      <a:pt x="210" y="1899"/>
                      <a:pt x="89" y="1778"/>
                      <a:pt x="89" y="1629"/>
                    </a:cubicBezTo>
                    <a:cubicBezTo>
                      <a:pt x="89" y="1479"/>
                      <a:pt x="210" y="1358"/>
                      <a:pt x="359" y="1358"/>
                    </a:cubicBezTo>
                    <a:cubicBezTo>
                      <a:pt x="427" y="1358"/>
                      <a:pt x="489" y="1383"/>
                      <a:pt x="536" y="1425"/>
                    </a:cubicBezTo>
                    <a:cubicBezTo>
                      <a:pt x="547" y="1435"/>
                      <a:pt x="558" y="1445"/>
                      <a:pt x="567" y="1456"/>
                    </a:cubicBezTo>
                    <a:cubicBezTo>
                      <a:pt x="606" y="1503"/>
                      <a:pt x="629" y="1563"/>
                      <a:pt x="629" y="1629"/>
                    </a:cubicBezTo>
                    <a:close/>
                    <a:moveTo>
                      <a:pt x="1405" y="1455"/>
                    </a:moveTo>
                    <a:cubicBezTo>
                      <a:pt x="1437" y="1433"/>
                      <a:pt x="1477" y="1421"/>
                      <a:pt x="1519" y="1421"/>
                    </a:cubicBezTo>
                    <a:cubicBezTo>
                      <a:pt x="1634" y="1421"/>
                      <a:pt x="1727" y="1514"/>
                      <a:pt x="1727" y="1629"/>
                    </a:cubicBezTo>
                    <a:cubicBezTo>
                      <a:pt x="1727" y="1743"/>
                      <a:pt x="1634" y="1836"/>
                      <a:pt x="1519" y="1836"/>
                    </a:cubicBezTo>
                    <a:cubicBezTo>
                      <a:pt x="1404" y="1836"/>
                      <a:pt x="1311" y="1743"/>
                      <a:pt x="1311" y="1629"/>
                    </a:cubicBezTo>
                    <a:cubicBezTo>
                      <a:pt x="1311" y="1572"/>
                      <a:pt x="1334" y="1521"/>
                      <a:pt x="1371" y="1483"/>
                    </a:cubicBezTo>
                    <a:cubicBezTo>
                      <a:pt x="1381" y="1473"/>
                      <a:pt x="1392" y="1463"/>
                      <a:pt x="1405" y="1455"/>
                    </a:cubicBezTo>
                    <a:close/>
                    <a:moveTo>
                      <a:pt x="1214" y="1224"/>
                    </a:moveTo>
                    <a:cubicBezTo>
                      <a:pt x="1204" y="1234"/>
                      <a:pt x="1192" y="1244"/>
                      <a:pt x="1180" y="1252"/>
                    </a:cubicBezTo>
                    <a:cubicBezTo>
                      <a:pt x="1130" y="1288"/>
                      <a:pt x="1069" y="1309"/>
                      <a:pt x="1003" y="1309"/>
                    </a:cubicBezTo>
                    <a:cubicBezTo>
                      <a:pt x="924" y="1309"/>
                      <a:pt x="853" y="1280"/>
                      <a:pt x="798" y="1231"/>
                    </a:cubicBezTo>
                    <a:cubicBezTo>
                      <a:pt x="787" y="1222"/>
                      <a:pt x="777" y="1211"/>
                      <a:pt x="768" y="1200"/>
                    </a:cubicBezTo>
                    <a:cubicBezTo>
                      <a:pt x="723" y="1146"/>
                      <a:pt x="695" y="1077"/>
                      <a:pt x="695" y="1002"/>
                    </a:cubicBezTo>
                    <a:cubicBezTo>
                      <a:pt x="695" y="925"/>
                      <a:pt x="724" y="855"/>
                      <a:pt x="770" y="801"/>
                    </a:cubicBezTo>
                    <a:cubicBezTo>
                      <a:pt x="780" y="790"/>
                      <a:pt x="790" y="780"/>
                      <a:pt x="802" y="770"/>
                    </a:cubicBezTo>
                    <a:cubicBezTo>
                      <a:pt x="855" y="723"/>
                      <a:pt x="926" y="695"/>
                      <a:pt x="1003" y="695"/>
                    </a:cubicBezTo>
                    <a:cubicBezTo>
                      <a:pt x="1039" y="695"/>
                      <a:pt x="1073" y="701"/>
                      <a:pt x="1106" y="713"/>
                    </a:cubicBezTo>
                    <a:cubicBezTo>
                      <a:pt x="1120" y="718"/>
                      <a:pt x="1133" y="724"/>
                      <a:pt x="1146" y="730"/>
                    </a:cubicBezTo>
                    <a:cubicBezTo>
                      <a:pt x="1237" y="779"/>
                      <a:pt x="1301" y="872"/>
                      <a:pt x="1309" y="980"/>
                    </a:cubicBezTo>
                    <a:cubicBezTo>
                      <a:pt x="1309" y="987"/>
                      <a:pt x="1310" y="995"/>
                      <a:pt x="1310" y="1002"/>
                    </a:cubicBezTo>
                    <a:cubicBezTo>
                      <a:pt x="1310" y="1009"/>
                      <a:pt x="1309" y="1017"/>
                      <a:pt x="1309" y="1024"/>
                    </a:cubicBezTo>
                    <a:cubicBezTo>
                      <a:pt x="1303" y="1103"/>
                      <a:pt x="1268" y="1173"/>
                      <a:pt x="1214" y="122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icrosoft YaHei" panose="020B0503020204020204" pitchFamily="34" charset="-122"/>
                  <a:cs typeface="+mn-cs"/>
                </a:endParaRPr>
              </a:p>
            </p:txBody>
          </p:sp>
          <p:sp>
            <p:nvSpPr>
              <p:cNvPr id="277" name="Freeform 276"/>
              <p:cNvSpPr>
                <a:spLocks noChangeArrowheads="1"/>
              </p:cNvSpPr>
              <p:nvPr/>
            </p:nvSpPr>
            <p:spPr bwMode="auto">
              <a:xfrm>
                <a:off x="5459504" y="2764424"/>
                <a:ext cx="1312612" cy="1345000"/>
              </a:xfrm>
              <a:custGeom>
                <a:avLst/>
                <a:gdLst>
                  <a:gd name="connsiteX0" fmla="*/ 1089071 w 1312612"/>
                  <a:gd name="connsiteY0" fmla="*/ 1048073 h 1345000"/>
                  <a:gd name="connsiteX1" fmla="*/ 1214102 w 1312612"/>
                  <a:gd name="connsiteY1" fmla="*/ 1172563 h 1345000"/>
                  <a:gd name="connsiteX2" fmla="*/ 1089071 w 1312612"/>
                  <a:gd name="connsiteY2" fmla="*/ 1297053 h 1345000"/>
                  <a:gd name="connsiteX3" fmla="*/ 964040 w 1312612"/>
                  <a:gd name="connsiteY3" fmla="*/ 1172563 h 1345000"/>
                  <a:gd name="connsiteX4" fmla="*/ 1089071 w 1312612"/>
                  <a:gd name="connsiteY4" fmla="*/ 1048073 h 1345000"/>
                  <a:gd name="connsiteX5" fmla="*/ 205860 w 1312612"/>
                  <a:gd name="connsiteY5" fmla="*/ 1000128 h 1345000"/>
                  <a:gd name="connsiteX6" fmla="*/ 378041 w 1312612"/>
                  <a:gd name="connsiteY6" fmla="*/ 1172564 h 1345000"/>
                  <a:gd name="connsiteX7" fmla="*/ 205860 w 1312612"/>
                  <a:gd name="connsiteY7" fmla="*/ 1345000 h 1345000"/>
                  <a:gd name="connsiteX8" fmla="*/ 33679 w 1312612"/>
                  <a:gd name="connsiteY8" fmla="*/ 1172564 h 1345000"/>
                  <a:gd name="connsiteX9" fmla="*/ 205860 w 1312612"/>
                  <a:gd name="connsiteY9" fmla="*/ 1000128 h 1345000"/>
                  <a:gd name="connsiteX10" fmla="*/ 1233888 w 1312612"/>
                  <a:gd name="connsiteY10" fmla="*/ 617404 h 1345000"/>
                  <a:gd name="connsiteX11" fmla="*/ 1312612 w 1312612"/>
                  <a:gd name="connsiteY11" fmla="*/ 695631 h 1345000"/>
                  <a:gd name="connsiteX12" fmla="*/ 1233888 w 1312612"/>
                  <a:gd name="connsiteY12" fmla="*/ 773858 h 1345000"/>
                  <a:gd name="connsiteX13" fmla="*/ 1155164 w 1312612"/>
                  <a:gd name="connsiteY13" fmla="*/ 695631 h 1345000"/>
                  <a:gd name="connsiteX14" fmla="*/ 1233888 w 1312612"/>
                  <a:gd name="connsiteY14" fmla="*/ 617404 h 1345000"/>
                  <a:gd name="connsiteX15" fmla="*/ 695878 w 1312612"/>
                  <a:gd name="connsiteY15" fmla="*/ 495438 h 1345000"/>
                  <a:gd name="connsiteX16" fmla="*/ 896685 w 1312612"/>
                  <a:gd name="connsiteY16" fmla="*/ 695632 h 1345000"/>
                  <a:gd name="connsiteX17" fmla="*/ 695878 w 1312612"/>
                  <a:gd name="connsiteY17" fmla="*/ 895826 h 1345000"/>
                  <a:gd name="connsiteX18" fmla="*/ 495071 w 1312612"/>
                  <a:gd name="connsiteY18" fmla="*/ 695632 h 1345000"/>
                  <a:gd name="connsiteX19" fmla="*/ 695878 w 1312612"/>
                  <a:gd name="connsiteY19" fmla="*/ 495438 h 1345000"/>
                  <a:gd name="connsiteX20" fmla="*/ 965304 w 1312612"/>
                  <a:gd name="connsiteY20" fmla="*/ 33646 h 1345000"/>
                  <a:gd name="connsiteX21" fmla="*/ 1016243 w 1312612"/>
                  <a:gd name="connsiteY21" fmla="*/ 84536 h 1345000"/>
                  <a:gd name="connsiteX22" fmla="*/ 965304 w 1312612"/>
                  <a:gd name="connsiteY22" fmla="*/ 135426 h 1345000"/>
                  <a:gd name="connsiteX23" fmla="*/ 914365 w 1312612"/>
                  <a:gd name="connsiteY23" fmla="*/ 84536 h 1345000"/>
                  <a:gd name="connsiteX24" fmla="*/ 965304 w 1312612"/>
                  <a:gd name="connsiteY24" fmla="*/ 33646 h 1345000"/>
                  <a:gd name="connsiteX25" fmla="*/ 124610 w 1312612"/>
                  <a:gd name="connsiteY25" fmla="*/ 0 h 1345000"/>
                  <a:gd name="connsiteX26" fmla="*/ 249220 w 1312612"/>
                  <a:gd name="connsiteY26" fmla="*/ 124911 h 1345000"/>
                  <a:gd name="connsiteX27" fmla="*/ 124610 w 1312612"/>
                  <a:gd name="connsiteY27" fmla="*/ 249822 h 1345000"/>
                  <a:gd name="connsiteX28" fmla="*/ 0 w 1312612"/>
                  <a:gd name="connsiteY28" fmla="*/ 124911 h 1345000"/>
                  <a:gd name="connsiteX29" fmla="*/ 124610 w 1312612"/>
                  <a:gd name="connsiteY29" fmla="*/ 0 h 1345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2612" h="1345000">
                    <a:moveTo>
                      <a:pt x="1089071" y="1048073"/>
                    </a:moveTo>
                    <a:cubicBezTo>
                      <a:pt x="1158124" y="1048073"/>
                      <a:pt x="1214102" y="1103809"/>
                      <a:pt x="1214102" y="1172563"/>
                    </a:cubicBezTo>
                    <a:cubicBezTo>
                      <a:pt x="1214102" y="1241317"/>
                      <a:pt x="1158124" y="1297053"/>
                      <a:pt x="1089071" y="1297053"/>
                    </a:cubicBezTo>
                    <a:cubicBezTo>
                      <a:pt x="1020018" y="1297053"/>
                      <a:pt x="964040" y="1241317"/>
                      <a:pt x="964040" y="1172563"/>
                    </a:cubicBezTo>
                    <a:cubicBezTo>
                      <a:pt x="964040" y="1103809"/>
                      <a:pt x="1020018" y="1048073"/>
                      <a:pt x="1089071" y="1048073"/>
                    </a:cubicBezTo>
                    <a:close/>
                    <a:moveTo>
                      <a:pt x="205860" y="1000128"/>
                    </a:moveTo>
                    <a:cubicBezTo>
                      <a:pt x="300953" y="1000128"/>
                      <a:pt x="378041" y="1077330"/>
                      <a:pt x="378041" y="1172564"/>
                    </a:cubicBezTo>
                    <a:cubicBezTo>
                      <a:pt x="378041" y="1267798"/>
                      <a:pt x="300953" y="1345000"/>
                      <a:pt x="205860" y="1345000"/>
                    </a:cubicBezTo>
                    <a:cubicBezTo>
                      <a:pt x="110767" y="1345000"/>
                      <a:pt x="33679" y="1267798"/>
                      <a:pt x="33679" y="1172564"/>
                    </a:cubicBezTo>
                    <a:cubicBezTo>
                      <a:pt x="33679" y="1077330"/>
                      <a:pt x="110767" y="1000128"/>
                      <a:pt x="205860" y="1000128"/>
                    </a:cubicBezTo>
                    <a:close/>
                    <a:moveTo>
                      <a:pt x="1233888" y="617404"/>
                    </a:moveTo>
                    <a:cubicBezTo>
                      <a:pt x="1277366" y="617404"/>
                      <a:pt x="1312612" y="652427"/>
                      <a:pt x="1312612" y="695631"/>
                    </a:cubicBezTo>
                    <a:cubicBezTo>
                      <a:pt x="1312612" y="738835"/>
                      <a:pt x="1277366" y="773858"/>
                      <a:pt x="1233888" y="773858"/>
                    </a:cubicBezTo>
                    <a:cubicBezTo>
                      <a:pt x="1190410" y="773858"/>
                      <a:pt x="1155164" y="738835"/>
                      <a:pt x="1155164" y="695631"/>
                    </a:cubicBezTo>
                    <a:cubicBezTo>
                      <a:pt x="1155164" y="652427"/>
                      <a:pt x="1190410" y="617404"/>
                      <a:pt x="1233888" y="617404"/>
                    </a:cubicBezTo>
                    <a:close/>
                    <a:moveTo>
                      <a:pt x="695878" y="495438"/>
                    </a:moveTo>
                    <a:cubicBezTo>
                      <a:pt x="806781" y="495438"/>
                      <a:pt x="896685" y="585068"/>
                      <a:pt x="896685" y="695632"/>
                    </a:cubicBezTo>
                    <a:cubicBezTo>
                      <a:pt x="896685" y="806196"/>
                      <a:pt x="806781" y="895826"/>
                      <a:pt x="695878" y="895826"/>
                    </a:cubicBezTo>
                    <a:cubicBezTo>
                      <a:pt x="584975" y="895826"/>
                      <a:pt x="495071" y="806196"/>
                      <a:pt x="495071" y="695632"/>
                    </a:cubicBezTo>
                    <a:cubicBezTo>
                      <a:pt x="495071" y="585068"/>
                      <a:pt x="584975" y="495438"/>
                      <a:pt x="695878" y="495438"/>
                    </a:cubicBezTo>
                    <a:close/>
                    <a:moveTo>
                      <a:pt x="965304" y="33646"/>
                    </a:moveTo>
                    <a:cubicBezTo>
                      <a:pt x="993437" y="33646"/>
                      <a:pt x="1016243" y="56430"/>
                      <a:pt x="1016243" y="84536"/>
                    </a:cubicBezTo>
                    <a:cubicBezTo>
                      <a:pt x="1016243" y="112642"/>
                      <a:pt x="993437" y="135426"/>
                      <a:pt x="965304" y="135426"/>
                    </a:cubicBezTo>
                    <a:cubicBezTo>
                      <a:pt x="937171" y="135426"/>
                      <a:pt x="914365" y="112642"/>
                      <a:pt x="914365" y="84536"/>
                    </a:cubicBezTo>
                    <a:cubicBezTo>
                      <a:pt x="914365" y="56430"/>
                      <a:pt x="937171" y="33646"/>
                      <a:pt x="965304" y="33646"/>
                    </a:cubicBezTo>
                    <a:close/>
                    <a:moveTo>
                      <a:pt x="124610" y="0"/>
                    </a:moveTo>
                    <a:cubicBezTo>
                      <a:pt x="193430" y="0"/>
                      <a:pt x="249220" y="55925"/>
                      <a:pt x="249220" y="124911"/>
                    </a:cubicBezTo>
                    <a:cubicBezTo>
                      <a:pt x="249220" y="193897"/>
                      <a:pt x="193430" y="249822"/>
                      <a:pt x="124610" y="249822"/>
                    </a:cubicBezTo>
                    <a:cubicBezTo>
                      <a:pt x="55790" y="249822"/>
                      <a:pt x="0" y="193897"/>
                      <a:pt x="0" y="124911"/>
                    </a:cubicBezTo>
                    <a:cubicBezTo>
                      <a:pt x="0" y="55925"/>
                      <a:pt x="55790" y="0"/>
                      <a:pt x="124610" y="0"/>
                    </a:cubicBezTo>
                    <a:close/>
                  </a:path>
                </a:pathLst>
              </a:custGeom>
              <a:solidFill>
                <a:schemeClr val="tx2"/>
              </a:solid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icrosoft YaHei" panose="020B0503020204020204" pitchFamily="34" charset="-122"/>
                  <a:cs typeface="+mn-cs"/>
                </a:endParaRPr>
              </a:p>
            </p:txBody>
          </p:sp>
        </p:grpSp>
      </p:grpSp>
      <p:grpSp>
        <p:nvGrpSpPr>
          <p:cNvPr id="278" name="Group 277"/>
          <p:cNvGrpSpPr>
            <a:grpSpLocks noChangeAspect="1"/>
          </p:cNvGrpSpPr>
          <p:nvPr/>
        </p:nvGrpSpPr>
        <p:grpSpPr>
          <a:xfrm>
            <a:off x="10621352" y="4248591"/>
            <a:ext cx="573413" cy="573413"/>
            <a:chOff x="2670720" y="1"/>
            <a:chExt cx="6858001" cy="6858000"/>
          </a:xfrm>
        </p:grpSpPr>
        <p:sp>
          <p:nvSpPr>
            <p:cNvPr id="279" name="AutoShape 17"/>
            <p:cNvSpPr>
              <a:spLocks noChangeAspect="1" noChangeArrowheads="1" noTextEdit="1"/>
            </p:cNvSpPr>
            <p:nvPr/>
          </p:nvSpPr>
          <p:spPr bwMode="auto">
            <a:xfrm>
              <a:off x="2670720" y="1"/>
              <a:ext cx="6858001"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n-ea"/>
                <a:cs typeface="+mn-cs"/>
              </a:endParaRPr>
            </a:p>
          </p:txBody>
        </p:sp>
        <p:grpSp>
          <p:nvGrpSpPr>
            <p:cNvPr id="280" name="Group 279"/>
            <p:cNvGrpSpPr/>
            <p:nvPr/>
          </p:nvGrpSpPr>
          <p:grpSpPr>
            <a:xfrm>
              <a:off x="3398341" y="708026"/>
              <a:ext cx="5402763" cy="5441950"/>
              <a:chOff x="3398339" y="708025"/>
              <a:chExt cx="5402761" cy="5441951"/>
            </a:xfrm>
          </p:grpSpPr>
          <p:sp>
            <p:nvSpPr>
              <p:cNvPr id="281" name="Freeform 280"/>
              <p:cNvSpPr>
                <a:spLocks/>
              </p:cNvSpPr>
              <p:nvPr/>
            </p:nvSpPr>
            <p:spPr bwMode="auto">
              <a:xfrm>
                <a:off x="3398339" y="708025"/>
                <a:ext cx="5402761" cy="5441951"/>
              </a:xfrm>
              <a:custGeom>
                <a:avLst/>
                <a:gdLst>
                  <a:gd name="connsiteX0" fmla="*/ 3533552 w 5402761"/>
                  <a:gd name="connsiteY0" fmla="*/ 4075113 h 5441951"/>
                  <a:gd name="connsiteX1" fmla="*/ 3643735 w 5402761"/>
                  <a:gd name="connsiteY1" fmla="*/ 4075113 h 5441951"/>
                  <a:gd name="connsiteX2" fmla="*/ 3643735 w 5402761"/>
                  <a:gd name="connsiteY2" fmla="*/ 4155462 h 5441951"/>
                  <a:gd name="connsiteX3" fmla="*/ 3780720 w 5402761"/>
                  <a:gd name="connsiteY3" fmla="*/ 4197125 h 5441951"/>
                  <a:gd name="connsiteX4" fmla="*/ 3742007 w 5402761"/>
                  <a:gd name="connsiteY4" fmla="*/ 4301281 h 5441951"/>
                  <a:gd name="connsiteX5" fmla="*/ 3599066 w 5402761"/>
                  <a:gd name="connsiteY5" fmla="*/ 4253667 h 5441951"/>
                  <a:gd name="connsiteX6" fmla="*/ 3530574 w 5402761"/>
                  <a:gd name="connsiteY6" fmla="*/ 4277474 h 5441951"/>
                  <a:gd name="connsiteX7" fmla="*/ 3506750 w 5402761"/>
                  <a:gd name="connsiteY7" fmla="*/ 4334016 h 5441951"/>
                  <a:gd name="connsiteX8" fmla="*/ 3640757 w 5402761"/>
                  <a:gd name="connsiteY8" fmla="*/ 4456027 h 5441951"/>
                  <a:gd name="connsiteX9" fmla="*/ 3747963 w 5402761"/>
                  <a:gd name="connsiteY9" fmla="*/ 4518521 h 5441951"/>
                  <a:gd name="connsiteX10" fmla="*/ 3792632 w 5402761"/>
                  <a:gd name="connsiteY10" fmla="*/ 4583991 h 5441951"/>
                  <a:gd name="connsiteX11" fmla="*/ 3810499 w 5402761"/>
                  <a:gd name="connsiteY11" fmla="*/ 4664340 h 5441951"/>
                  <a:gd name="connsiteX12" fmla="*/ 3768808 w 5402761"/>
                  <a:gd name="connsiteY12" fmla="*/ 4780400 h 5441951"/>
                  <a:gd name="connsiteX13" fmla="*/ 3643735 w 5402761"/>
                  <a:gd name="connsiteY13" fmla="*/ 4845869 h 5441951"/>
                  <a:gd name="connsiteX14" fmla="*/ 3643735 w 5402761"/>
                  <a:gd name="connsiteY14" fmla="*/ 4953001 h 5441951"/>
                  <a:gd name="connsiteX15" fmla="*/ 3533552 w 5402761"/>
                  <a:gd name="connsiteY15" fmla="*/ 4953001 h 5441951"/>
                  <a:gd name="connsiteX16" fmla="*/ 3533552 w 5402761"/>
                  <a:gd name="connsiteY16" fmla="*/ 4854797 h 5441951"/>
                  <a:gd name="connsiteX17" fmla="*/ 3378699 w 5402761"/>
                  <a:gd name="connsiteY17" fmla="*/ 4807183 h 5441951"/>
                  <a:gd name="connsiteX18" fmla="*/ 3426346 w 5402761"/>
                  <a:gd name="connsiteY18" fmla="*/ 4697075 h 5441951"/>
                  <a:gd name="connsiteX19" fmla="*/ 3575243 w 5402761"/>
                  <a:gd name="connsiteY19" fmla="*/ 4747665 h 5441951"/>
                  <a:gd name="connsiteX20" fmla="*/ 3685426 w 5402761"/>
                  <a:gd name="connsiteY20" fmla="*/ 4673267 h 5441951"/>
                  <a:gd name="connsiteX21" fmla="*/ 3655647 w 5402761"/>
                  <a:gd name="connsiteY21" fmla="*/ 4607798 h 5441951"/>
                  <a:gd name="connsiteX22" fmla="*/ 3548441 w 5402761"/>
                  <a:gd name="connsiteY22" fmla="*/ 4536376 h 5441951"/>
                  <a:gd name="connsiteX23" fmla="*/ 3441236 w 5402761"/>
                  <a:gd name="connsiteY23" fmla="*/ 4473883 h 5441951"/>
                  <a:gd name="connsiteX24" fmla="*/ 3396567 w 5402761"/>
                  <a:gd name="connsiteY24" fmla="*/ 4414365 h 5441951"/>
                  <a:gd name="connsiteX25" fmla="*/ 3381677 w 5402761"/>
                  <a:gd name="connsiteY25" fmla="*/ 4336992 h 5441951"/>
                  <a:gd name="connsiteX26" fmla="*/ 3423368 w 5402761"/>
                  <a:gd name="connsiteY26" fmla="*/ 4226884 h 5441951"/>
                  <a:gd name="connsiteX27" fmla="*/ 3533552 w 5402761"/>
                  <a:gd name="connsiteY27" fmla="*/ 4161414 h 5441951"/>
                  <a:gd name="connsiteX28" fmla="*/ 3533552 w 5402761"/>
                  <a:gd name="connsiteY28" fmla="*/ 4075113 h 5441951"/>
                  <a:gd name="connsiteX29" fmla="*/ 1932486 w 5402761"/>
                  <a:gd name="connsiteY29" fmla="*/ 3735388 h 5441951"/>
                  <a:gd name="connsiteX30" fmla="*/ 1932486 w 5402761"/>
                  <a:gd name="connsiteY30" fmla="*/ 5310188 h 5441951"/>
                  <a:gd name="connsiteX31" fmla="*/ 5272586 w 5402761"/>
                  <a:gd name="connsiteY31" fmla="*/ 5310188 h 5441951"/>
                  <a:gd name="connsiteX32" fmla="*/ 5272586 w 5402761"/>
                  <a:gd name="connsiteY32" fmla="*/ 3735388 h 5441951"/>
                  <a:gd name="connsiteX33" fmla="*/ 1867774 w 5402761"/>
                  <a:gd name="connsiteY33" fmla="*/ 3608388 h 5441951"/>
                  <a:gd name="connsiteX34" fmla="*/ 5337298 w 5402761"/>
                  <a:gd name="connsiteY34" fmla="*/ 3608388 h 5441951"/>
                  <a:gd name="connsiteX35" fmla="*/ 5402761 w 5402761"/>
                  <a:gd name="connsiteY35" fmla="*/ 3670896 h 5441951"/>
                  <a:gd name="connsiteX36" fmla="*/ 5402761 w 5402761"/>
                  <a:gd name="connsiteY36" fmla="*/ 5376467 h 5441951"/>
                  <a:gd name="connsiteX37" fmla="*/ 5337298 w 5402761"/>
                  <a:gd name="connsiteY37" fmla="*/ 5441951 h 5441951"/>
                  <a:gd name="connsiteX38" fmla="*/ 1867774 w 5402761"/>
                  <a:gd name="connsiteY38" fmla="*/ 5441951 h 5441951"/>
                  <a:gd name="connsiteX39" fmla="*/ 1802311 w 5402761"/>
                  <a:gd name="connsiteY39" fmla="*/ 5376467 h 5441951"/>
                  <a:gd name="connsiteX40" fmla="*/ 1802311 w 5402761"/>
                  <a:gd name="connsiteY40" fmla="*/ 3670896 h 5441951"/>
                  <a:gd name="connsiteX41" fmla="*/ 1867774 w 5402761"/>
                  <a:gd name="connsiteY41" fmla="*/ 3608388 h 5441951"/>
                  <a:gd name="connsiteX42" fmla="*/ 409138 w 5402761"/>
                  <a:gd name="connsiteY42" fmla="*/ 2566988 h 5441951"/>
                  <a:gd name="connsiteX43" fmla="*/ 465674 w 5402761"/>
                  <a:gd name="connsiteY43" fmla="*/ 2623521 h 5441951"/>
                  <a:gd name="connsiteX44" fmla="*/ 792985 w 5402761"/>
                  <a:gd name="connsiteY44" fmla="*/ 2950815 h 5441951"/>
                  <a:gd name="connsiteX45" fmla="*/ 804887 w 5402761"/>
                  <a:gd name="connsiteY45" fmla="*/ 3057929 h 5441951"/>
                  <a:gd name="connsiteX46" fmla="*/ 742400 w 5402761"/>
                  <a:gd name="connsiteY46" fmla="*/ 3087683 h 5441951"/>
                  <a:gd name="connsiteX47" fmla="*/ 694791 w 5402761"/>
                  <a:gd name="connsiteY47" fmla="*/ 3072806 h 5441951"/>
                  <a:gd name="connsiteX48" fmla="*/ 489478 w 5402761"/>
                  <a:gd name="connsiteY48" fmla="*/ 2867504 h 5441951"/>
                  <a:gd name="connsiteX49" fmla="*/ 489478 w 5402761"/>
                  <a:gd name="connsiteY49" fmla="*/ 4444467 h 5441951"/>
                  <a:gd name="connsiteX50" fmla="*/ 1667797 w 5402761"/>
                  <a:gd name="connsiteY50" fmla="*/ 4444467 h 5441951"/>
                  <a:gd name="connsiteX51" fmla="*/ 1745161 w 5402761"/>
                  <a:gd name="connsiteY51" fmla="*/ 4524803 h 5441951"/>
                  <a:gd name="connsiteX52" fmla="*/ 1667797 w 5402761"/>
                  <a:gd name="connsiteY52" fmla="*/ 4602163 h 5441951"/>
                  <a:gd name="connsiteX53" fmla="*/ 331774 w 5402761"/>
                  <a:gd name="connsiteY53" fmla="*/ 4602163 h 5441951"/>
                  <a:gd name="connsiteX54" fmla="*/ 331774 w 5402761"/>
                  <a:gd name="connsiteY54" fmla="*/ 2867504 h 5441951"/>
                  <a:gd name="connsiteX55" fmla="*/ 132412 w 5402761"/>
                  <a:gd name="connsiteY55" fmla="*/ 3063880 h 5441951"/>
                  <a:gd name="connsiteX56" fmla="*/ 22316 w 5402761"/>
                  <a:gd name="connsiteY56" fmla="*/ 3063880 h 5441951"/>
                  <a:gd name="connsiteX57" fmla="*/ 22316 w 5402761"/>
                  <a:gd name="connsiteY57" fmla="*/ 2953790 h 5441951"/>
                  <a:gd name="connsiteX58" fmla="*/ 409138 w 5402761"/>
                  <a:gd name="connsiteY58" fmla="*/ 2566988 h 5441951"/>
                  <a:gd name="connsiteX59" fmla="*/ 3075116 w 5402761"/>
                  <a:gd name="connsiteY59" fmla="*/ 1373188 h 5441951"/>
                  <a:gd name="connsiteX60" fmla="*/ 4412049 w 5402761"/>
                  <a:gd name="connsiteY60" fmla="*/ 1373188 h 5441951"/>
                  <a:gd name="connsiteX61" fmla="*/ 4412049 w 5402761"/>
                  <a:gd name="connsiteY61" fmla="*/ 3104872 h 5441951"/>
                  <a:gd name="connsiteX62" fmla="*/ 4605591 w 5402761"/>
                  <a:gd name="connsiteY62" fmla="*/ 2914446 h 5441951"/>
                  <a:gd name="connsiteX63" fmla="*/ 4715761 w 5402761"/>
                  <a:gd name="connsiteY63" fmla="*/ 2917422 h 5441951"/>
                  <a:gd name="connsiteX64" fmla="*/ 4715761 w 5402761"/>
                  <a:gd name="connsiteY64" fmla="*/ 3027512 h 5441951"/>
                  <a:gd name="connsiteX65" fmla="*/ 4400138 w 5402761"/>
                  <a:gd name="connsiteY65" fmla="*/ 3336954 h 5441951"/>
                  <a:gd name="connsiteX66" fmla="*/ 4376318 w 5402761"/>
                  <a:gd name="connsiteY66" fmla="*/ 3363732 h 5441951"/>
                  <a:gd name="connsiteX67" fmla="*/ 4331654 w 5402761"/>
                  <a:gd name="connsiteY67" fmla="*/ 3408363 h 5441951"/>
                  <a:gd name="connsiteX68" fmla="*/ 4275080 w 5402761"/>
                  <a:gd name="connsiteY68" fmla="*/ 3351831 h 5441951"/>
                  <a:gd name="connsiteX69" fmla="*/ 3953502 w 5402761"/>
                  <a:gd name="connsiteY69" fmla="*/ 3030487 h 5441951"/>
                  <a:gd name="connsiteX70" fmla="*/ 3938614 w 5402761"/>
                  <a:gd name="connsiteY70" fmla="*/ 2923373 h 5441951"/>
                  <a:gd name="connsiteX71" fmla="*/ 4048784 w 5402761"/>
                  <a:gd name="connsiteY71" fmla="*/ 2908496 h 5441951"/>
                  <a:gd name="connsiteX72" fmla="*/ 4257214 w 5402761"/>
                  <a:gd name="connsiteY72" fmla="*/ 3110823 h 5441951"/>
                  <a:gd name="connsiteX73" fmla="*/ 4257214 w 5402761"/>
                  <a:gd name="connsiteY73" fmla="*/ 1527909 h 5441951"/>
                  <a:gd name="connsiteX74" fmla="*/ 3075116 w 5402761"/>
                  <a:gd name="connsiteY74" fmla="*/ 1527909 h 5441951"/>
                  <a:gd name="connsiteX75" fmla="*/ 2997699 w 5402761"/>
                  <a:gd name="connsiteY75" fmla="*/ 1450549 h 5441951"/>
                  <a:gd name="connsiteX76" fmla="*/ 3075116 w 5402761"/>
                  <a:gd name="connsiteY76" fmla="*/ 1373188 h 5441951"/>
                  <a:gd name="connsiteX77" fmla="*/ 1464174 w 5402761"/>
                  <a:gd name="connsiteY77" fmla="*/ 669925 h 5441951"/>
                  <a:gd name="connsiteX78" fmla="*/ 694236 w 5402761"/>
                  <a:gd name="connsiteY78" fmla="*/ 1440657 h 5441951"/>
                  <a:gd name="connsiteX79" fmla="*/ 1464174 w 5402761"/>
                  <a:gd name="connsiteY79" fmla="*/ 2211389 h 5441951"/>
                  <a:gd name="connsiteX80" fmla="*/ 2234112 w 5402761"/>
                  <a:gd name="connsiteY80" fmla="*/ 1440657 h 5441951"/>
                  <a:gd name="connsiteX81" fmla="*/ 1464174 w 5402761"/>
                  <a:gd name="connsiteY81" fmla="*/ 669925 h 5441951"/>
                  <a:gd name="connsiteX82" fmla="*/ 1465761 w 5402761"/>
                  <a:gd name="connsiteY82" fmla="*/ 533400 h 5441951"/>
                  <a:gd name="connsiteX83" fmla="*/ 2373811 w 5402761"/>
                  <a:gd name="connsiteY83" fmla="*/ 1441450 h 5441951"/>
                  <a:gd name="connsiteX84" fmla="*/ 1465761 w 5402761"/>
                  <a:gd name="connsiteY84" fmla="*/ 2349500 h 5441951"/>
                  <a:gd name="connsiteX85" fmla="*/ 557711 w 5402761"/>
                  <a:gd name="connsiteY85" fmla="*/ 1441450 h 5441951"/>
                  <a:gd name="connsiteX86" fmla="*/ 1465761 w 5402761"/>
                  <a:gd name="connsiteY86" fmla="*/ 533400 h 5441951"/>
                  <a:gd name="connsiteX87" fmla="*/ 1333910 w 5402761"/>
                  <a:gd name="connsiteY87" fmla="*/ 142875 h 5441951"/>
                  <a:gd name="connsiteX88" fmla="*/ 1232714 w 5402761"/>
                  <a:gd name="connsiteY88" fmla="*/ 416804 h 5441951"/>
                  <a:gd name="connsiteX89" fmla="*/ 1196998 w 5402761"/>
                  <a:gd name="connsiteY89" fmla="*/ 425736 h 5441951"/>
                  <a:gd name="connsiteX90" fmla="*/ 1009489 w 5402761"/>
                  <a:gd name="connsiteY90" fmla="*/ 488263 h 5441951"/>
                  <a:gd name="connsiteX91" fmla="*/ 979726 w 5402761"/>
                  <a:gd name="connsiteY91" fmla="*/ 503152 h 5441951"/>
                  <a:gd name="connsiteX92" fmla="*/ 732690 w 5402761"/>
                  <a:gd name="connsiteY92" fmla="*/ 363209 h 5441951"/>
                  <a:gd name="connsiteX93" fmla="*/ 628518 w 5402761"/>
                  <a:gd name="connsiteY93" fmla="*/ 443601 h 5441951"/>
                  <a:gd name="connsiteX94" fmla="*/ 530299 w 5402761"/>
                  <a:gd name="connsiteY94" fmla="*/ 532926 h 5441951"/>
                  <a:gd name="connsiteX95" fmla="*/ 619589 w 5402761"/>
                  <a:gd name="connsiteY95" fmla="*/ 777080 h 5441951"/>
                  <a:gd name="connsiteX96" fmla="*/ 592802 w 5402761"/>
                  <a:gd name="connsiteY96" fmla="*/ 806854 h 5441951"/>
                  <a:gd name="connsiteX97" fmla="*/ 467796 w 5402761"/>
                  <a:gd name="connsiteY97" fmla="*/ 1009324 h 5441951"/>
                  <a:gd name="connsiteX98" fmla="*/ 452914 w 5402761"/>
                  <a:gd name="connsiteY98" fmla="*/ 1039098 h 5441951"/>
                  <a:gd name="connsiteX99" fmla="*/ 211831 w 5402761"/>
                  <a:gd name="connsiteY99" fmla="*/ 1086738 h 5441951"/>
                  <a:gd name="connsiteX100" fmla="*/ 185044 w 5402761"/>
                  <a:gd name="connsiteY100" fmla="*/ 1211793 h 5441951"/>
                  <a:gd name="connsiteX101" fmla="*/ 167186 w 5402761"/>
                  <a:gd name="connsiteY101" fmla="*/ 1345779 h 5441951"/>
                  <a:gd name="connsiteX102" fmla="*/ 366601 w 5402761"/>
                  <a:gd name="connsiteY102" fmla="*/ 1461902 h 5441951"/>
                  <a:gd name="connsiteX103" fmla="*/ 369577 w 5402761"/>
                  <a:gd name="connsiteY103" fmla="*/ 1500609 h 5441951"/>
                  <a:gd name="connsiteX104" fmla="*/ 417198 w 5402761"/>
                  <a:gd name="connsiteY104" fmla="*/ 1756673 h 5441951"/>
                  <a:gd name="connsiteX105" fmla="*/ 429104 w 5402761"/>
                  <a:gd name="connsiteY105" fmla="*/ 1789425 h 5441951"/>
                  <a:gd name="connsiteX106" fmla="*/ 277311 w 5402761"/>
                  <a:gd name="connsiteY106" fmla="*/ 1974029 h 5441951"/>
                  <a:gd name="connsiteX107" fmla="*/ 336837 w 5402761"/>
                  <a:gd name="connsiteY107" fmla="*/ 2090151 h 5441951"/>
                  <a:gd name="connsiteX108" fmla="*/ 408269 w 5402761"/>
                  <a:gd name="connsiteY108" fmla="*/ 2200318 h 5441951"/>
                  <a:gd name="connsiteX109" fmla="*/ 658281 w 5402761"/>
                  <a:gd name="connsiteY109" fmla="*/ 2161611 h 5441951"/>
                  <a:gd name="connsiteX110" fmla="*/ 685068 w 5402761"/>
                  <a:gd name="connsiteY110" fmla="*/ 2185431 h 5441951"/>
                  <a:gd name="connsiteX111" fmla="*/ 863649 w 5402761"/>
                  <a:gd name="connsiteY111" fmla="*/ 2325372 h 5441951"/>
                  <a:gd name="connsiteX112" fmla="*/ 896388 w 5402761"/>
                  <a:gd name="connsiteY112" fmla="*/ 2346215 h 5441951"/>
                  <a:gd name="connsiteX113" fmla="*/ 896388 w 5402761"/>
                  <a:gd name="connsiteY113" fmla="*/ 2611211 h 5441951"/>
                  <a:gd name="connsiteX114" fmla="*/ 1018418 w 5402761"/>
                  <a:gd name="connsiteY114" fmla="*/ 2661828 h 5441951"/>
                  <a:gd name="connsiteX115" fmla="*/ 1143424 w 5402761"/>
                  <a:gd name="connsiteY115" fmla="*/ 2700536 h 5441951"/>
                  <a:gd name="connsiteX116" fmla="*/ 1324981 w 5402761"/>
                  <a:gd name="connsiteY116" fmla="*/ 2492112 h 5441951"/>
                  <a:gd name="connsiteX117" fmla="*/ 1360697 w 5402761"/>
                  <a:gd name="connsiteY117" fmla="*/ 2495089 h 5441951"/>
                  <a:gd name="connsiteX118" fmla="*/ 1566064 w 5402761"/>
                  <a:gd name="connsiteY118" fmla="*/ 2495089 h 5441951"/>
                  <a:gd name="connsiteX119" fmla="*/ 1601780 w 5402761"/>
                  <a:gd name="connsiteY119" fmla="*/ 2492112 h 5441951"/>
                  <a:gd name="connsiteX120" fmla="*/ 1783336 w 5402761"/>
                  <a:gd name="connsiteY120" fmla="*/ 2703513 h 5441951"/>
                  <a:gd name="connsiteX121" fmla="*/ 1905366 w 5402761"/>
                  <a:gd name="connsiteY121" fmla="*/ 2661828 h 5441951"/>
                  <a:gd name="connsiteX122" fmla="*/ 2030372 w 5402761"/>
                  <a:gd name="connsiteY122" fmla="*/ 2611211 h 5441951"/>
                  <a:gd name="connsiteX123" fmla="*/ 2033348 w 5402761"/>
                  <a:gd name="connsiteY123" fmla="*/ 2349192 h 5441951"/>
                  <a:gd name="connsiteX124" fmla="*/ 2063112 w 5402761"/>
                  <a:gd name="connsiteY124" fmla="*/ 2328350 h 5441951"/>
                  <a:gd name="connsiteX125" fmla="*/ 2244668 w 5402761"/>
                  <a:gd name="connsiteY125" fmla="*/ 2185431 h 5441951"/>
                  <a:gd name="connsiteX126" fmla="*/ 2271455 w 5402761"/>
                  <a:gd name="connsiteY126" fmla="*/ 2161611 h 5441951"/>
                  <a:gd name="connsiteX127" fmla="*/ 2518491 w 5402761"/>
                  <a:gd name="connsiteY127" fmla="*/ 2200318 h 5441951"/>
                  <a:gd name="connsiteX128" fmla="*/ 2589923 w 5402761"/>
                  <a:gd name="connsiteY128" fmla="*/ 2090151 h 5441951"/>
                  <a:gd name="connsiteX129" fmla="*/ 2649450 w 5402761"/>
                  <a:gd name="connsiteY129" fmla="*/ 1977007 h 5441951"/>
                  <a:gd name="connsiteX130" fmla="*/ 2497657 w 5402761"/>
                  <a:gd name="connsiteY130" fmla="*/ 1792402 h 5441951"/>
                  <a:gd name="connsiteX131" fmla="*/ 2509562 w 5402761"/>
                  <a:gd name="connsiteY131" fmla="*/ 1756673 h 5441951"/>
                  <a:gd name="connsiteX132" fmla="*/ 2557183 w 5402761"/>
                  <a:gd name="connsiteY132" fmla="*/ 1500609 h 5441951"/>
                  <a:gd name="connsiteX133" fmla="*/ 2560160 w 5402761"/>
                  <a:gd name="connsiteY133" fmla="*/ 1464879 h 5441951"/>
                  <a:gd name="connsiteX134" fmla="*/ 2759574 w 5402761"/>
                  <a:gd name="connsiteY134" fmla="*/ 1345779 h 5441951"/>
                  <a:gd name="connsiteX135" fmla="*/ 2741716 w 5402761"/>
                  <a:gd name="connsiteY135" fmla="*/ 1214771 h 5441951"/>
                  <a:gd name="connsiteX136" fmla="*/ 2714929 w 5402761"/>
                  <a:gd name="connsiteY136" fmla="*/ 1086738 h 5441951"/>
                  <a:gd name="connsiteX137" fmla="*/ 2476822 w 5402761"/>
                  <a:gd name="connsiteY137" fmla="*/ 1042076 h 5441951"/>
                  <a:gd name="connsiteX138" fmla="*/ 2461941 w 5402761"/>
                  <a:gd name="connsiteY138" fmla="*/ 1009324 h 5441951"/>
                  <a:gd name="connsiteX139" fmla="*/ 2333958 w 5402761"/>
                  <a:gd name="connsiteY139" fmla="*/ 806854 h 5441951"/>
                  <a:gd name="connsiteX140" fmla="*/ 2310148 w 5402761"/>
                  <a:gd name="connsiteY140" fmla="*/ 777080 h 5441951"/>
                  <a:gd name="connsiteX141" fmla="*/ 2396461 w 5402761"/>
                  <a:gd name="connsiteY141" fmla="*/ 532926 h 5441951"/>
                  <a:gd name="connsiteX142" fmla="*/ 2298242 w 5402761"/>
                  <a:gd name="connsiteY142" fmla="*/ 443601 h 5441951"/>
                  <a:gd name="connsiteX143" fmla="*/ 2197047 w 5402761"/>
                  <a:gd name="connsiteY143" fmla="*/ 363209 h 5441951"/>
                  <a:gd name="connsiteX144" fmla="*/ 1950011 w 5402761"/>
                  <a:gd name="connsiteY144" fmla="*/ 503152 h 5441951"/>
                  <a:gd name="connsiteX145" fmla="*/ 1917271 w 5402761"/>
                  <a:gd name="connsiteY145" fmla="*/ 488263 h 5441951"/>
                  <a:gd name="connsiteX146" fmla="*/ 1732739 w 5402761"/>
                  <a:gd name="connsiteY146" fmla="*/ 425736 h 5441951"/>
                  <a:gd name="connsiteX147" fmla="*/ 1697023 w 5402761"/>
                  <a:gd name="connsiteY147" fmla="*/ 416804 h 5441951"/>
                  <a:gd name="connsiteX148" fmla="*/ 1595827 w 5402761"/>
                  <a:gd name="connsiteY148" fmla="*/ 142875 h 5441951"/>
                  <a:gd name="connsiteX149" fmla="*/ 1464868 w 5402761"/>
                  <a:gd name="connsiteY149" fmla="*/ 142875 h 5441951"/>
                  <a:gd name="connsiteX150" fmla="*/ 1333910 w 5402761"/>
                  <a:gd name="connsiteY150" fmla="*/ 142875 h 5441951"/>
                  <a:gd name="connsiteX151" fmla="*/ 1464868 w 5402761"/>
                  <a:gd name="connsiteY151" fmla="*/ 0 h 5441951"/>
                  <a:gd name="connsiteX152" fmla="*/ 1655355 w 5402761"/>
                  <a:gd name="connsiteY152" fmla="*/ 11906 h 5441951"/>
                  <a:gd name="connsiteX153" fmla="*/ 1694048 w 5402761"/>
                  <a:gd name="connsiteY153" fmla="*/ 17858 h 5441951"/>
                  <a:gd name="connsiteX154" fmla="*/ 1801197 w 5402761"/>
                  <a:gd name="connsiteY154" fmla="*/ 300612 h 5441951"/>
                  <a:gd name="connsiteX155" fmla="*/ 1941086 w 5402761"/>
                  <a:gd name="connsiteY155" fmla="*/ 348234 h 5441951"/>
                  <a:gd name="connsiteX156" fmla="*/ 2203005 w 5402761"/>
                  <a:gd name="connsiteY156" fmla="*/ 202392 h 5441951"/>
                  <a:gd name="connsiteX157" fmla="*/ 2238721 w 5402761"/>
                  <a:gd name="connsiteY157" fmla="*/ 226203 h 5441951"/>
                  <a:gd name="connsiteX158" fmla="*/ 2387539 w 5402761"/>
                  <a:gd name="connsiteY158" fmla="*/ 339305 h 5441951"/>
                  <a:gd name="connsiteX159" fmla="*/ 2524452 w 5402761"/>
                  <a:gd name="connsiteY159" fmla="*/ 467288 h 5441951"/>
                  <a:gd name="connsiteX160" fmla="*/ 2554215 w 5402761"/>
                  <a:gd name="connsiteY160" fmla="*/ 500028 h 5441951"/>
                  <a:gd name="connsiteX161" fmla="*/ 2467901 w 5402761"/>
                  <a:gd name="connsiteY161" fmla="*/ 753018 h 5441951"/>
                  <a:gd name="connsiteX162" fmla="*/ 2572073 w 5402761"/>
                  <a:gd name="connsiteY162" fmla="*/ 919694 h 5441951"/>
                  <a:gd name="connsiteX163" fmla="*/ 2825064 w 5402761"/>
                  <a:gd name="connsiteY163" fmla="*/ 964339 h 5441951"/>
                  <a:gd name="connsiteX164" fmla="*/ 2836969 w 5402761"/>
                  <a:gd name="connsiteY164" fmla="*/ 1006008 h 5441951"/>
                  <a:gd name="connsiteX165" fmla="*/ 2878638 w 5402761"/>
                  <a:gd name="connsiteY165" fmla="*/ 1190543 h 5441951"/>
                  <a:gd name="connsiteX166" fmla="*/ 2899473 w 5402761"/>
                  <a:gd name="connsiteY166" fmla="*/ 1378053 h 5441951"/>
                  <a:gd name="connsiteX167" fmla="*/ 2902449 w 5402761"/>
                  <a:gd name="connsiteY167" fmla="*/ 1419722 h 5441951"/>
                  <a:gd name="connsiteX168" fmla="*/ 2691128 w 5402761"/>
                  <a:gd name="connsiteY168" fmla="*/ 1547705 h 5441951"/>
                  <a:gd name="connsiteX169" fmla="*/ 2655411 w 5402761"/>
                  <a:gd name="connsiteY169" fmla="*/ 1762003 h 5441951"/>
                  <a:gd name="connsiteX170" fmla="*/ 2810182 w 5402761"/>
                  <a:gd name="connsiteY170" fmla="*/ 1952489 h 5441951"/>
                  <a:gd name="connsiteX171" fmla="*/ 2792324 w 5402761"/>
                  <a:gd name="connsiteY171" fmla="*/ 1988206 h 5441951"/>
                  <a:gd name="connsiteX172" fmla="*/ 2706010 w 5402761"/>
                  <a:gd name="connsiteY172" fmla="*/ 2160834 h 5441951"/>
                  <a:gd name="connsiteX173" fmla="*/ 2604813 w 5402761"/>
                  <a:gd name="connsiteY173" fmla="*/ 2318581 h 5441951"/>
                  <a:gd name="connsiteX174" fmla="*/ 2581002 w 5402761"/>
                  <a:gd name="connsiteY174" fmla="*/ 2351321 h 5441951"/>
                  <a:gd name="connsiteX175" fmla="*/ 2313130 w 5402761"/>
                  <a:gd name="connsiteY175" fmla="*/ 2309652 h 5441951"/>
                  <a:gd name="connsiteX176" fmla="*/ 2170265 w 5402761"/>
                  <a:gd name="connsiteY176" fmla="*/ 2422754 h 5441951"/>
                  <a:gd name="connsiteX177" fmla="*/ 2164312 w 5402761"/>
                  <a:gd name="connsiteY177" fmla="*/ 2699555 h 5441951"/>
                  <a:gd name="connsiteX178" fmla="*/ 2128596 w 5402761"/>
                  <a:gd name="connsiteY178" fmla="*/ 2717413 h 5441951"/>
                  <a:gd name="connsiteX179" fmla="*/ 1952991 w 5402761"/>
                  <a:gd name="connsiteY179" fmla="*/ 2791822 h 5441951"/>
                  <a:gd name="connsiteX180" fmla="*/ 1774410 w 5402761"/>
                  <a:gd name="connsiteY180" fmla="*/ 2845396 h 5441951"/>
                  <a:gd name="connsiteX181" fmla="*/ 1732741 w 5402761"/>
                  <a:gd name="connsiteY181" fmla="*/ 2854325 h 5441951"/>
                  <a:gd name="connsiteX182" fmla="*/ 1542254 w 5402761"/>
                  <a:gd name="connsiteY182" fmla="*/ 2634075 h 5441951"/>
                  <a:gd name="connsiteX183" fmla="*/ 1384507 w 5402761"/>
                  <a:gd name="connsiteY183" fmla="*/ 2634075 h 5441951"/>
                  <a:gd name="connsiteX184" fmla="*/ 1194020 w 5402761"/>
                  <a:gd name="connsiteY184" fmla="*/ 2854325 h 5441951"/>
                  <a:gd name="connsiteX185" fmla="*/ 1152351 w 5402761"/>
                  <a:gd name="connsiteY185" fmla="*/ 2845396 h 5441951"/>
                  <a:gd name="connsiteX186" fmla="*/ 970793 w 5402761"/>
                  <a:gd name="connsiteY186" fmla="*/ 2791822 h 5441951"/>
                  <a:gd name="connsiteX187" fmla="*/ 798164 w 5402761"/>
                  <a:gd name="connsiteY187" fmla="*/ 2717413 h 5441951"/>
                  <a:gd name="connsiteX188" fmla="*/ 759472 w 5402761"/>
                  <a:gd name="connsiteY188" fmla="*/ 2696578 h 5441951"/>
                  <a:gd name="connsiteX189" fmla="*/ 756495 w 5402761"/>
                  <a:gd name="connsiteY189" fmla="*/ 2419777 h 5441951"/>
                  <a:gd name="connsiteX190" fmla="*/ 613630 w 5402761"/>
                  <a:gd name="connsiteY190" fmla="*/ 2306676 h 5441951"/>
                  <a:gd name="connsiteX191" fmla="*/ 345758 w 5402761"/>
                  <a:gd name="connsiteY191" fmla="*/ 2351321 h 5441951"/>
                  <a:gd name="connsiteX192" fmla="*/ 321947 w 5402761"/>
                  <a:gd name="connsiteY192" fmla="*/ 2315605 h 5441951"/>
                  <a:gd name="connsiteX193" fmla="*/ 217774 w 5402761"/>
                  <a:gd name="connsiteY193" fmla="*/ 2160834 h 5441951"/>
                  <a:gd name="connsiteX194" fmla="*/ 131460 w 5402761"/>
                  <a:gd name="connsiteY194" fmla="*/ 1988206 h 5441951"/>
                  <a:gd name="connsiteX195" fmla="*/ 116578 w 5402761"/>
                  <a:gd name="connsiteY195" fmla="*/ 1952489 h 5441951"/>
                  <a:gd name="connsiteX196" fmla="*/ 274325 w 5402761"/>
                  <a:gd name="connsiteY196" fmla="*/ 1759026 h 5441951"/>
                  <a:gd name="connsiteX197" fmla="*/ 235633 w 5402761"/>
                  <a:gd name="connsiteY197" fmla="*/ 1544729 h 5441951"/>
                  <a:gd name="connsiteX198" fmla="*/ 24311 w 5402761"/>
                  <a:gd name="connsiteY198" fmla="*/ 1419722 h 5441951"/>
                  <a:gd name="connsiteX199" fmla="*/ 27287 w 5402761"/>
                  <a:gd name="connsiteY199" fmla="*/ 1375077 h 5441951"/>
                  <a:gd name="connsiteX200" fmla="*/ 48122 w 5402761"/>
                  <a:gd name="connsiteY200" fmla="*/ 1187566 h 5441951"/>
                  <a:gd name="connsiteX201" fmla="*/ 92767 w 5402761"/>
                  <a:gd name="connsiteY201" fmla="*/ 1006008 h 5441951"/>
                  <a:gd name="connsiteX202" fmla="*/ 104673 w 5402761"/>
                  <a:gd name="connsiteY202" fmla="*/ 964339 h 5441951"/>
                  <a:gd name="connsiteX203" fmla="*/ 357663 w 5402761"/>
                  <a:gd name="connsiteY203" fmla="*/ 916718 h 5441951"/>
                  <a:gd name="connsiteX204" fmla="*/ 464812 w 5402761"/>
                  <a:gd name="connsiteY204" fmla="*/ 753018 h 5441951"/>
                  <a:gd name="connsiteX205" fmla="*/ 372545 w 5402761"/>
                  <a:gd name="connsiteY205" fmla="*/ 497051 h 5441951"/>
                  <a:gd name="connsiteX206" fmla="*/ 402309 w 5402761"/>
                  <a:gd name="connsiteY206" fmla="*/ 467288 h 5441951"/>
                  <a:gd name="connsiteX207" fmla="*/ 539221 w 5402761"/>
                  <a:gd name="connsiteY207" fmla="*/ 339305 h 5441951"/>
                  <a:gd name="connsiteX208" fmla="*/ 693992 w 5402761"/>
                  <a:gd name="connsiteY208" fmla="*/ 223227 h 5441951"/>
                  <a:gd name="connsiteX209" fmla="*/ 726732 w 5402761"/>
                  <a:gd name="connsiteY209" fmla="*/ 199416 h 5441951"/>
                  <a:gd name="connsiteX210" fmla="*/ 985675 w 5402761"/>
                  <a:gd name="connsiteY210" fmla="*/ 345257 h 5441951"/>
                  <a:gd name="connsiteX211" fmla="*/ 1125564 w 5402761"/>
                  <a:gd name="connsiteY211" fmla="*/ 300612 h 5441951"/>
                  <a:gd name="connsiteX212" fmla="*/ 1235689 w 5402761"/>
                  <a:gd name="connsiteY212" fmla="*/ 17858 h 5441951"/>
                  <a:gd name="connsiteX213" fmla="*/ 1277358 w 5402761"/>
                  <a:gd name="connsiteY213" fmla="*/ 11906 h 5441951"/>
                  <a:gd name="connsiteX214" fmla="*/ 1464868 w 5402761"/>
                  <a:gd name="connsiteY214" fmla="*/ 0 h 5441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5402761" h="5441951">
                    <a:moveTo>
                      <a:pt x="3533552" y="4075113"/>
                    </a:moveTo>
                    <a:cubicBezTo>
                      <a:pt x="3643735" y="4075113"/>
                      <a:pt x="3643735" y="4075113"/>
                      <a:pt x="3643735" y="4075113"/>
                    </a:cubicBezTo>
                    <a:cubicBezTo>
                      <a:pt x="3643735" y="4155462"/>
                      <a:pt x="3643735" y="4155462"/>
                      <a:pt x="3643735" y="4155462"/>
                    </a:cubicBezTo>
                    <a:cubicBezTo>
                      <a:pt x="3706272" y="4161414"/>
                      <a:pt x="3750941" y="4176294"/>
                      <a:pt x="3780720" y="4197125"/>
                    </a:cubicBezTo>
                    <a:cubicBezTo>
                      <a:pt x="3742007" y="4301281"/>
                      <a:pt x="3742007" y="4301281"/>
                      <a:pt x="3742007" y="4301281"/>
                    </a:cubicBezTo>
                    <a:cubicBezTo>
                      <a:pt x="3694360" y="4271522"/>
                      <a:pt x="3646713" y="4253667"/>
                      <a:pt x="3599066" y="4253667"/>
                    </a:cubicBezTo>
                    <a:cubicBezTo>
                      <a:pt x="3569287" y="4253667"/>
                      <a:pt x="3548441" y="4262594"/>
                      <a:pt x="3530574" y="4277474"/>
                    </a:cubicBezTo>
                    <a:cubicBezTo>
                      <a:pt x="3515684" y="4292353"/>
                      <a:pt x="3506750" y="4313185"/>
                      <a:pt x="3506750" y="4334016"/>
                    </a:cubicBezTo>
                    <a:cubicBezTo>
                      <a:pt x="3506750" y="4375678"/>
                      <a:pt x="3551419" y="4414365"/>
                      <a:pt x="3640757" y="4456027"/>
                    </a:cubicBezTo>
                    <a:cubicBezTo>
                      <a:pt x="3691382" y="4476859"/>
                      <a:pt x="3727117" y="4497690"/>
                      <a:pt x="3747963" y="4518521"/>
                    </a:cubicBezTo>
                    <a:cubicBezTo>
                      <a:pt x="3768808" y="4536376"/>
                      <a:pt x="3780720" y="4560184"/>
                      <a:pt x="3792632" y="4583991"/>
                    </a:cubicBezTo>
                    <a:cubicBezTo>
                      <a:pt x="3804543" y="4610774"/>
                      <a:pt x="3810499" y="4634581"/>
                      <a:pt x="3810499" y="4664340"/>
                    </a:cubicBezTo>
                    <a:cubicBezTo>
                      <a:pt x="3810499" y="4708978"/>
                      <a:pt x="3795610" y="4747665"/>
                      <a:pt x="3768808" y="4780400"/>
                    </a:cubicBezTo>
                    <a:cubicBezTo>
                      <a:pt x="3739029" y="4810158"/>
                      <a:pt x="3697338" y="4833966"/>
                      <a:pt x="3643735" y="4845869"/>
                    </a:cubicBezTo>
                    <a:cubicBezTo>
                      <a:pt x="3643735" y="4953001"/>
                      <a:pt x="3643735" y="4953001"/>
                      <a:pt x="3643735" y="4953001"/>
                    </a:cubicBezTo>
                    <a:cubicBezTo>
                      <a:pt x="3533552" y="4953001"/>
                      <a:pt x="3533552" y="4953001"/>
                      <a:pt x="3533552" y="4953001"/>
                    </a:cubicBezTo>
                    <a:cubicBezTo>
                      <a:pt x="3533552" y="4854797"/>
                      <a:pt x="3533552" y="4854797"/>
                      <a:pt x="3533552" y="4854797"/>
                    </a:cubicBezTo>
                    <a:cubicBezTo>
                      <a:pt x="3479949" y="4848845"/>
                      <a:pt x="3426346" y="4833966"/>
                      <a:pt x="3378699" y="4807183"/>
                    </a:cubicBezTo>
                    <a:cubicBezTo>
                      <a:pt x="3426346" y="4697075"/>
                      <a:pt x="3426346" y="4697075"/>
                      <a:pt x="3426346" y="4697075"/>
                    </a:cubicBezTo>
                    <a:cubicBezTo>
                      <a:pt x="3476971" y="4732785"/>
                      <a:pt x="3524618" y="4747665"/>
                      <a:pt x="3575243" y="4747665"/>
                    </a:cubicBezTo>
                    <a:cubicBezTo>
                      <a:pt x="3646713" y="4747665"/>
                      <a:pt x="3685426" y="4723858"/>
                      <a:pt x="3685426" y="4673267"/>
                    </a:cubicBezTo>
                    <a:cubicBezTo>
                      <a:pt x="3685426" y="4649460"/>
                      <a:pt x="3676492" y="4625653"/>
                      <a:pt x="3655647" y="4607798"/>
                    </a:cubicBezTo>
                    <a:cubicBezTo>
                      <a:pt x="3637779" y="4586967"/>
                      <a:pt x="3602044" y="4563159"/>
                      <a:pt x="3548441" y="4536376"/>
                    </a:cubicBezTo>
                    <a:cubicBezTo>
                      <a:pt x="3494839" y="4509593"/>
                      <a:pt x="3459103" y="4488762"/>
                      <a:pt x="3441236" y="4473883"/>
                    </a:cubicBezTo>
                    <a:cubicBezTo>
                      <a:pt x="3420390" y="4456027"/>
                      <a:pt x="3405501" y="4435196"/>
                      <a:pt x="3396567" y="4414365"/>
                    </a:cubicBezTo>
                    <a:cubicBezTo>
                      <a:pt x="3384655" y="4390558"/>
                      <a:pt x="3381677" y="4363775"/>
                      <a:pt x="3381677" y="4336992"/>
                    </a:cubicBezTo>
                    <a:cubicBezTo>
                      <a:pt x="3381677" y="4292353"/>
                      <a:pt x="3393589" y="4256643"/>
                      <a:pt x="3423368" y="4226884"/>
                    </a:cubicBezTo>
                    <a:cubicBezTo>
                      <a:pt x="3450170" y="4194149"/>
                      <a:pt x="3485905" y="4170342"/>
                      <a:pt x="3533552" y="4161414"/>
                    </a:cubicBezTo>
                    <a:cubicBezTo>
                      <a:pt x="3533552" y="4075113"/>
                      <a:pt x="3533552" y="4075113"/>
                      <a:pt x="3533552" y="4075113"/>
                    </a:cubicBezTo>
                    <a:close/>
                    <a:moveTo>
                      <a:pt x="1932486" y="3735388"/>
                    </a:moveTo>
                    <a:lnTo>
                      <a:pt x="1932486" y="5310188"/>
                    </a:lnTo>
                    <a:lnTo>
                      <a:pt x="5272586" y="5310188"/>
                    </a:lnTo>
                    <a:lnTo>
                      <a:pt x="5272586" y="3735388"/>
                    </a:lnTo>
                    <a:close/>
                    <a:moveTo>
                      <a:pt x="1867774" y="3608388"/>
                    </a:moveTo>
                    <a:cubicBezTo>
                      <a:pt x="5337298" y="3608388"/>
                      <a:pt x="5337298" y="3608388"/>
                      <a:pt x="5337298" y="3608388"/>
                    </a:cubicBezTo>
                    <a:cubicBezTo>
                      <a:pt x="5373005" y="3608388"/>
                      <a:pt x="5402761" y="3635177"/>
                      <a:pt x="5402761" y="3670896"/>
                    </a:cubicBezTo>
                    <a:cubicBezTo>
                      <a:pt x="5402761" y="5376467"/>
                      <a:pt x="5402761" y="5376467"/>
                      <a:pt x="5402761" y="5376467"/>
                    </a:cubicBezTo>
                    <a:cubicBezTo>
                      <a:pt x="5402761" y="5412186"/>
                      <a:pt x="5373005" y="5441951"/>
                      <a:pt x="5337298" y="5441951"/>
                    </a:cubicBezTo>
                    <a:cubicBezTo>
                      <a:pt x="1867774" y="5441951"/>
                      <a:pt x="1867774" y="5441951"/>
                      <a:pt x="1867774" y="5441951"/>
                    </a:cubicBezTo>
                    <a:cubicBezTo>
                      <a:pt x="1832067" y="5441951"/>
                      <a:pt x="1802311" y="5412186"/>
                      <a:pt x="1802311" y="5376467"/>
                    </a:cubicBezTo>
                    <a:cubicBezTo>
                      <a:pt x="1802311" y="3670896"/>
                      <a:pt x="1802311" y="3670896"/>
                      <a:pt x="1802311" y="3670896"/>
                    </a:cubicBezTo>
                    <a:cubicBezTo>
                      <a:pt x="1802311" y="3635177"/>
                      <a:pt x="1832067" y="3608388"/>
                      <a:pt x="1867774" y="3608388"/>
                    </a:cubicBezTo>
                    <a:close/>
                    <a:moveTo>
                      <a:pt x="409138" y="2566988"/>
                    </a:moveTo>
                    <a:cubicBezTo>
                      <a:pt x="409138" y="2566988"/>
                      <a:pt x="409138" y="2566988"/>
                      <a:pt x="465674" y="2623521"/>
                    </a:cubicBezTo>
                    <a:cubicBezTo>
                      <a:pt x="581720" y="2739561"/>
                      <a:pt x="769180" y="2929987"/>
                      <a:pt x="792985" y="2950815"/>
                    </a:cubicBezTo>
                    <a:cubicBezTo>
                      <a:pt x="822740" y="2977594"/>
                      <a:pt x="828691" y="3022225"/>
                      <a:pt x="804887" y="3057929"/>
                    </a:cubicBezTo>
                    <a:cubicBezTo>
                      <a:pt x="790009" y="3075782"/>
                      <a:pt x="766205" y="3087683"/>
                      <a:pt x="742400" y="3087683"/>
                    </a:cubicBezTo>
                    <a:cubicBezTo>
                      <a:pt x="724547" y="3087683"/>
                      <a:pt x="709669" y="3081733"/>
                      <a:pt x="694791" y="3072806"/>
                    </a:cubicBezTo>
                    <a:cubicBezTo>
                      <a:pt x="688840" y="3069831"/>
                      <a:pt x="679914" y="3060905"/>
                      <a:pt x="489478" y="2867504"/>
                    </a:cubicBezTo>
                    <a:cubicBezTo>
                      <a:pt x="489478" y="2867504"/>
                      <a:pt x="489478" y="2867504"/>
                      <a:pt x="489478" y="4444467"/>
                    </a:cubicBezTo>
                    <a:cubicBezTo>
                      <a:pt x="489478" y="4444467"/>
                      <a:pt x="489478" y="4444467"/>
                      <a:pt x="1667797" y="4444467"/>
                    </a:cubicBezTo>
                    <a:cubicBezTo>
                      <a:pt x="1712430" y="4444467"/>
                      <a:pt x="1745161" y="4480172"/>
                      <a:pt x="1745161" y="4524803"/>
                    </a:cubicBezTo>
                    <a:cubicBezTo>
                      <a:pt x="1745161" y="4566458"/>
                      <a:pt x="1712430" y="4602163"/>
                      <a:pt x="1667797" y="4602163"/>
                    </a:cubicBezTo>
                    <a:cubicBezTo>
                      <a:pt x="1667797" y="4602163"/>
                      <a:pt x="1667797" y="4602163"/>
                      <a:pt x="331774" y="4602163"/>
                    </a:cubicBezTo>
                    <a:cubicBezTo>
                      <a:pt x="331774" y="4602163"/>
                      <a:pt x="331774" y="4602163"/>
                      <a:pt x="331774" y="2867504"/>
                    </a:cubicBezTo>
                    <a:cubicBezTo>
                      <a:pt x="331774" y="2867504"/>
                      <a:pt x="331774" y="2867504"/>
                      <a:pt x="132412" y="3063880"/>
                    </a:cubicBezTo>
                    <a:cubicBezTo>
                      <a:pt x="102657" y="3096610"/>
                      <a:pt x="52072" y="3096610"/>
                      <a:pt x="22316" y="3063880"/>
                    </a:cubicBezTo>
                    <a:cubicBezTo>
                      <a:pt x="-7439" y="3034126"/>
                      <a:pt x="-7439" y="2983544"/>
                      <a:pt x="22316" y="2953790"/>
                    </a:cubicBezTo>
                    <a:cubicBezTo>
                      <a:pt x="22316" y="2953790"/>
                      <a:pt x="22316" y="2953790"/>
                      <a:pt x="409138" y="2566988"/>
                    </a:cubicBezTo>
                    <a:close/>
                    <a:moveTo>
                      <a:pt x="3075116" y="1373188"/>
                    </a:moveTo>
                    <a:cubicBezTo>
                      <a:pt x="3075116" y="1373188"/>
                      <a:pt x="3075116" y="1373188"/>
                      <a:pt x="4412049" y="1373188"/>
                    </a:cubicBezTo>
                    <a:cubicBezTo>
                      <a:pt x="4412049" y="1373188"/>
                      <a:pt x="4412049" y="1373188"/>
                      <a:pt x="4412049" y="3104872"/>
                    </a:cubicBezTo>
                    <a:cubicBezTo>
                      <a:pt x="4412049" y="3104872"/>
                      <a:pt x="4412049" y="3104872"/>
                      <a:pt x="4605591" y="2914446"/>
                    </a:cubicBezTo>
                    <a:cubicBezTo>
                      <a:pt x="4635367" y="2884692"/>
                      <a:pt x="4685986" y="2884692"/>
                      <a:pt x="4715761" y="2917422"/>
                    </a:cubicBezTo>
                    <a:cubicBezTo>
                      <a:pt x="4745537" y="2947176"/>
                      <a:pt x="4745537" y="2997758"/>
                      <a:pt x="4715761" y="3027512"/>
                    </a:cubicBezTo>
                    <a:cubicBezTo>
                      <a:pt x="4715761" y="3027512"/>
                      <a:pt x="4715761" y="3027512"/>
                      <a:pt x="4400138" y="3336954"/>
                    </a:cubicBezTo>
                    <a:cubicBezTo>
                      <a:pt x="4394183" y="3348855"/>
                      <a:pt x="4385250" y="3357781"/>
                      <a:pt x="4376318" y="3363732"/>
                    </a:cubicBezTo>
                    <a:cubicBezTo>
                      <a:pt x="4376318" y="3363732"/>
                      <a:pt x="4376318" y="3363732"/>
                      <a:pt x="4331654" y="3408363"/>
                    </a:cubicBezTo>
                    <a:cubicBezTo>
                      <a:pt x="4331654" y="3408363"/>
                      <a:pt x="4331654" y="3408363"/>
                      <a:pt x="4275080" y="3351831"/>
                    </a:cubicBezTo>
                    <a:cubicBezTo>
                      <a:pt x="4161932" y="3238765"/>
                      <a:pt x="3974345" y="3051315"/>
                      <a:pt x="3953502" y="3030487"/>
                    </a:cubicBezTo>
                    <a:cubicBezTo>
                      <a:pt x="3920748" y="3003709"/>
                      <a:pt x="3914793" y="2959077"/>
                      <a:pt x="3938614" y="2923373"/>
                    </a:cubicBezTo>
                    <a:cubicBezTo>
                      <a:pt x="3965412" y="2890643"/>
                      <a:pt x="4013053" y="2881717"/>
                      <a:pt x="4048784" y="2908496"/>
                    </a:cubicBezTo>
                    <a:cubicBezTo>
                      <a:pt x="4054739" y="2911471"/>
                      <a:pt x="4063672" y="2917422"/>
                      <a:pt x="4257214" y="3110823"/>
                    </a:cubicBezTo>
                    <a:cubicBezTo>
                      <a:pt x="4257214" y="3110823"/>
                      <a:pt x="4257214" y="3110823"/>
                      <a:pt x="4257214" y="1527909"/>
                    </a:cubicBezTo>
                    <a:cubicBezTo>
                      <a:pt x="4257214" y="1527909"/>
                      <a:pt x="4257214" y="1527909"/>
                      <a:pt x="3075116" y="1527909"/>
                    </a:cubicBezTo>
                    <a:cubicBezTo>
                      <a:pt x="3033430" y="1527909"/>
                      <a:pt x="2997699" y="1495180"/>
                      <a:pt x="2997699" y="1450549"/>
                    </a:cubicBezTo>
                    <a:cubicBezTo>
                      <a:pt x="2997699" y="1408893"/>
                      <a:pt x="3033430" y="1373188"/>
                      <a:pt x="3075116" y="1373188"/>
                    </a:cubicBezTo>
                    <a:close/>
                    <a:moveTo>
                      <a:pt x="1464174" y="669925"/>
                    </a:moveTo>
                    <a:cubicBezTo>
                      <a:pt x="1038949" y="669925"/>
                      <a:pt x="694236" y="1014993"/>
                      <a:pt x="694236" y="1440657"/>
                    </a:cubicBezTo>
                    <a:cubicBezTo>
                      <a:pt x="694236" y="1866321"/>
                      <a:pt x="1038949" y="2211389"/>
                      <a:pt x="1464174" y="2211389"/>
                    </a:cubicBezTo>
                    <a:cubicBezTo>
                      <a:pt x="1889399" y="2211389"/>
                      <a:pt x="2234112" y="1866321"/>
                      <a:pt x="2234112" y="1440657"/>
                    </a:cubicBezTo>
                    <a:cubicBezTo>
                      <a:pt x="2234112" y="1014993"/>
                      <a:pt x="1889399" y="669925"/>
                      <a:pt x="1464174" y="669925"/>
                    </a:cubicBezTo>
                    <a:close/>
                    <a:moveTo>
                      <a:pt x="1465761" y="533400"/>
                    </a:moveTo>
                    <a:cubicBezTo>
                      <a:pt x="1967263" y="533400"/>
                      <a:pt x="2373811" y="939948"/>
                      <a:pt x="2373811" y="1441450"/>
                    </a:cubicBezTo>
                    <a:cubicBezTo>
                      <a:pt x="2373811" y="1942952"/>
                      <a:pt x="1967263" y="2349500"/>
                      <a:pt x="1465761" y="2349500"/>
                    </a:cubicBezTo>
                    <a:cubicBezTo>
                      <a:pt x="964259" y="2349500"/>
                      <a:pt x="557711" y="1942952"/>
                      <a:pt x="557711" y="1441450"/>
                    </a:cubicBezTo>
                    <a:cubicBezTo>
                      <a:pt x="557711" y="939948"/>
                      <a:pt x="964259" y="533400"/>
                      <a:pt x="1465761" y="533400"/>
                    </a:cubicBezTo>
                    <a:close/>
                    <a:moveTo>
                      <a:pt x="1333910" y="142875"/>
                    </a:moveTo>
                    <a:cubicBezTo>
                      <a:pt x="1333910" y="142875"/>
                      <a:pt x="1333910" y="142875"/>
                      <a:pt x="1232714" y="416804"/>
                    </a:cubicBezTo>
                    <a:cubicBezTo>
                      <a:pt x="1232714" y="416804"/>
                      <a:pt x="1232714" y="416804"/>
                      <a:pt x="1196998" y="425736"/>
                    </a:cubicBezTo>
                    <a:cubicBezTo>
                      <a:pt x="1131519" y="440624"/>
                      <a:pt x="1071992" y="461466"/>
                      <a:pt x="1009489" y="488263"/>
                    </a:cubicBezTo>
                    <a:cubicBezTo>
                      <a:pt x="1009489" y="488263"/>
                      <a:pt x="1009489" y="488263"/>
                      <a:pt x="979726" y="503152"/>
                    </a:cubicBezTo>
                    <a:cubicBezTo>
                      <a:pt x="979726" y="503152"/>
                      <a:pt x="979726" y="503152"/>
                      <a:pt x="732690" y="363209"/>
                    </a:cubicBezTo>
                    <a:cubicBezTo>
                      <a:pt x="682092" y="401916"/>
                      <a:pt x="631494" y="440624"/>
                      <a:pt x="628518" y="443601"/>
                    </a:cubicBezTo>
                    <a:cubicBezTo>
                      <a:pt x="628518" y="443601"/>
                      <a:pt x="577920" y="485287"/>
                      <a:pt x="530299" y="532926"/>
                    </a:cubicBezTo>
                    <a:cubicBezTo>
                      <a:pt x="530299" y="532926"/>
                      <a:pt x="530299" y="532926"/>
                      <a:pt x="619589" y="777080"/>
                    </a:cubicBezTo>
                    <a:cubicBezTo>
                      <a:pt x="619589" y="777080"/>
                      <a:pt x="619589" y="777080"/>
                      <a:pt x="592802" y="806854"/>
                    </a:cubicBezTo>
                    <a:cubicBezTo>
                      <a:pt x="542204" y="869382"/>
                      <a:pt x="500536" y="937864"/>
                      <a:pt x="467796" y="1009324"/>
                    </a:cubicBezTo>
                    <a:cubicBezTo>
                      <a:pt x="467796" y="1009324"/>
                      <a:pt x="467796" y="1009324"/>
                      <a:pt x="452914" y="1039098"/>
                    </a:cubicBezTo>
                    <a:cubicBezTo>
                      <a:pt x="452914" y="1039098"/>
                      <a:pt x="452914" y="1039098"/>
                      <a:pt x="211831" y="1086738"/>
                    </a:cubicBezTo>
                    <a:cubicBezTo>
                      <a:pt x="196949" y="1146289"/>
                      <a:pt x="185044" y="1205838"/>
                      <a:pt x="185044" y="1211793"/>
                    </a:cubicBezTo>
                    <a:cubicBezTo>
                      <a:pt x="185044" y="1214771"/>
                      <a:pt x="173139" y="1277297"/>
                      <a:pt x="167186" y="1345779"/>
                    </a:cubicBezTo>
                    <a:cubicBezTo>
                      <a:pt x="167186" y="1345779"/>
                      <a:pt x="167186" y="1345779"/>
                      <a:pt x="366601" y="1461902"/>
                    </a:cubicBezTo>
                    <a:cubicBezTo>
                      <a:pt x="366601" y="1461902"/>
                      <a:pt x="366601" y="1461902"/>
                      <a:pt x="369577" y="1500609"/>
                    </a:cubicBezTo>
                    <a:cubicBezTo>
                      <a:pt x="375530" y="1583978"/>
                      <a:pt x="390411" y="1673303"/>
                      <a:pt x="417198" y="1756673"/>
                    </a:cubicBezTo>
                    <a:cubicBezTo>
                      <a:pt x="417198" y="1756673"/>
                      <a:pt x="417198" y="1756673"/>
                      <a:pt x="429104" y="1789425"/>
                    </a:cubicBezTo>
                    <a:cubicBezTo>
                      <a:pt x="429104" y="1789425"/>
                      <a:pt x="429104" y="1789425"/>
                      <a:pt x="277311" y="1974029"/>
                    </a:cubicBezTo>
                    <a:cubicBezTo>
                      <a:pt x="304098" y="2033579"/>
                      <a:pt x="336837" y="2090151"/>
                      <a:pt x="336837" y="2090151"/>
                    </a:cubicBezTo>
                    <a:cubicBezTo>
                      <a:pt x="336837" y="2090151"/>
                      <a:pt x="369577" y="2146723"/>
                      <a:pt x="408269" y="2200318"/>
                    </a:cubicBezTo>
                    <a:cubicBezTo>
                      <a:pt x="408269" y="2200318"/>
                      <a:pt x="408269" y="2200318"/>
                      <a:pt x="658281" y="2161611"/>
                    </a:cubicBezTo>
                    <a:cubicBezTo>
                      <a:pt x="658281" y="2161611"/>
                      <a:pt x="658281" y="2161611"/>
                      <a:pt x="685068" y="2185431"/>
                    </a:cubicBezTo>
                    <a:cubicBezTo>
                      <a:pt x="735666" y="2236048"/>
                      <a:pt x="798169" y="2283688"/>
                      <a:pt x="863649" y="2325372"/>
                    </a:cubicBezTo>
                    <a:cubicBezTo>
                      <a:pt x="863649" y="2325372"/>
                      <a:pt x="863649" y="2325372"/>
                      <a:pt x="896388" y="2346215"/>
                    </a:cubicBezTo>
                    <a:cubicBezTo>
                      <a:pt x="896388" y="2346215"/>
                      <a:pt x="896388" y="2346215"/>
                      <a:pt x="896388" y="2611211"/>
                    </a:cubicBezTo>
                    <a:cubicBezTo>
                      <a:pt x="955915" y="2638008"/>
                      <a:pt x="1018418" y="2661828"/>
                      <a:pt x="1018418" y="2661828"/>
                    </a:cubicBezTo>
                    <a:cubicBezTo>
                      <a:pt x="1018418" y="2661828"/>
                      <a:pt x="1080921" y="2682671"/>
                      <a:pt x="1143424" y="2700536"/>
                    </a:cubicBezTo>
                    <a:cubicBezTo>
                      <a:pt x="1143424" y="2700536"/>
                      <a:pt x="1143424" y="2700536"/>
                      <a:pt x="1324981" y="2492112"/>
                    </a:cubicBezTo>
                    <a:cubicBezTo>
                      <a:pt x="1324981" y="2492112"/>
                      <a:pt x="1324981" y="2492112"/>
                      <a:pt x="1360697" y="2495089"/>
                    </a:cubicBezTo>
                    <a:cubicBezTo>
                      <a:pt x="1429152" y="2501044"/>
                      <a:pt x="1494632" y="2501044"/>
                      <a:pt x="1566064" y="2495089"/>
                    </a:cubicBezTo>
                    <a:cubicBezTo>
                      <a:pt x="1566064" y="2495089"/>
                      <a:pt x="1566064" y="2495089"/>
                      <a:pt x="1601780" y="2492112"/>
                    </a:cubicBezTo>
                    <a:cubicBezTo>
                      <a:pt x="1601780" y="2492112"/>
                      <a:pt x="1601780" y="2492112"/>
                      <a:pt x="1783336" y="2703513"/>
                    </a:cubicBezTo>
                    <a:cubicBezTo>
                      <a:pt x="1845839" y="2685648"/>
                      <a:pt x="1902390" y="2661828"/>
                      <a:pt x="1905366" y="2661828"/>
                    </a:cubicBezTo>
                    <a:cubicBezTo>
                      <a:pt x="1905366" y="2661828"/>
                      <a:pt x="1967869" y="2638008"/>
                      <a:pt x="2030372" y="2611211"/>
                    </a:cubicBezTo>
                    <a:cubicBezTo>
                      <a:pt x="2030372" y="2611211"/>
                      <a:pt x="2030372" y="2611211"/>
                      <a:pt x="2033348" y="2349192"/>
                    </a:cubicBezTo>
                    <a:cubicBezTo>
                      <a:pt x="2033348" y="2349192"/>
                      <a:pt x="2033348" y="2349192"/>
                      <a:pt x="2063112" y="2328350"/>
                    </a:cubicBezTo>
                    <a:cubicBezTo>
                      <a:pt x="2128591" y="2286665"/>
                      <a:pt x="2188118" y="2239025"/>
                      <a:pt x="2244668" y="2185431"/>
                    </a:cubicBezTo>
                    <a:cubicBezTo>
                      <a:pt x="2244668" y="2185431"/>
                      <a:pt x="2244668" y="2185431"/>
                      <a:pt x="2271455" y="2161611"/>
                    </a:cubicBezTo>
                    <a:cubicBezTo>
                      <a:pt x="2271455" y="2161611"/>
                      <a:pt x="2271455" y="2161611"/>
                      <a:pt x="2518491" y="2200318"/>
                    </a:cubicBezTo>
                    <a:cubicBezTo>
                      <a:pt x="2554207" y="2149701"/>
                      <a:pt x="2586947" y="2093129"/>
                      <a:pt x="2589923" y="2090151"/>
                    </a:cubicBezTo>
                    <a:cubicBezTo>
                      <a:pt x="2589923" y="2090151"/>
                      <a:pt x="2622663" y="2033579"/>
                      <a:pt x="2649450" y="1977007"/>
                    </a:cubicBezTo>
                    <a:cubicBezTo>
                      <a:pt x="2649450" y="1977007"/>
                      <a:pt x="2649450" y="1977007"/>
                      <a:pt x="2497657" y="1792402"/>
                    </a:cubicBezTo>
                    <a:cubicBezTo>
                      <a:pt x="2497657" y="1792402"/>
                      <a:pt x="2497657" y="1792402"/>
                      <a:pt x="2509562" y="1756673"/>
                    </a:cubicBezTo>
                    <a:cubicBezTo>
                      <a:pt x="2536349" y="1673303"/>
                      <a:pt x="2554207" y="1586956"/>
                      <a:pt x="2557183" y="1500609"/>
                    </a:cubicBezTo>
                    <a:cubicBezTo>
                      <a:pt x="2557183" y="1500609"/>
                      <a:pt x="2557183" y="1500609"/>
                      <a:pt x="2560160" y="1464879"/>
                    </a:cubicBezTo>
                    <a:cubicBezTo>
                      <a:pt x="2560160" y="1464879"/>
                      <a:pt x="2560160" y="1464879"/>
                      <a:pt x="2759574" y="1345779"/>
                    </a:cubicBezTo>
                    <a:cubicBezTo>
                      <a:pt x="2753621" y="1280275"/>
                      <a:pt x="2741716" y="1214771"/>
                      <a:pt x="2741716" y="1214771"/>
                    </a:cubicBezTo>
                    <a:cubicBezTo>
                      <a:pt x="2741716" y="1214771"/>
                      <a:pt x="2729811" y="1152243"/>
                      <a:pt x="2714929" y="1086738"/>
                    </a:cubicBezTo>
                    <a:cubicBezTo>
                      <a:pt x="2714929" y="1086738"/>
                      <a:pt x="2714929" y="1086738"/>
                      <a:pt x="2476822" y="1042076"/>
                    </a:cubicBezTo>
                    <a:cubicBezTo>
                      <a:pt x="2476822" y="1042076"/>
                      <a:pt x="2476822" y="1042076"/>
                      <a:pt x="2461941" y="1009324"/>
                    </a:cubicBezTo>
                    <a:cubicBezTo>
                      <a:pt x="2429201" y="940841"/>
                      <a:pt x="2384556" y="869382"/>
                      <a:pt x="2333958" y="806854"/>
                    </a:cubicBezTo>
                    <a:cubicBezTo>
                      <a:pt x="2333958" y="806854"/>
                      <a:pt x="2333958" y="806854"/>
                      <a:pt x="2310148" y="777080"/>
                    </a:cubicBezTo>
                    <a:cubicBezTo>
                      <a:pt x="2310148" y="777080"/>
                      <a:pt x="2310148" y="777080"/>
                      <a:pt x="2396461" y="532926"/>
                    </a:cubicBezTo>
                    <a:cubicBezTo>
                      <a:pt x="2348840" y="488263"/>
                      <a:pt x="2301218" y="446579"/>
                      <a:pt x="2298242" y="443601"/>
                    </a:cubicBezTo>
                    <a:cubicBezTo>
                      <a:pt x="2292289" y="440624"/>
                      <a:pt x="2247645" y="401916"/>
                      <a:pt x="2197047" y="363209"/>
                    </a:cubicBezTo>
                    <a:cubicBezTo>
                      <a:pt x="2197047" y="363209"/>
                      <a:pt x="2197047" y="363209"/>
                      <a:pt x="1950011" y="503152"/>
                    </a:cubicBezTo>
                    <a:cubicBezTo>
                      <a:pt x="1950011" y="503152"/>
                      <a:pt x="1950011" y="503152"/>
                      <a:pt x="1917271" y="488263"/>
                    </a:cubicBezTo>
                    <a:cubicBezTo>
                      <a:pt x="1860721" y="461466"/>
                      <a:pt x="1798218" y="440624"/>
                      <a:pt x="1732739" y="425736"/>
                    </a:cubicBezTo>
                    <a:cubicBezTo>
                      <a:pt x="1732739" y="425736"/>
                      <a:pt x="1732739" y="425736"/>
                      <a:pt x="1697023" y="416804"/>
                    </a:cubicBezTo>
                    <a:cubicBezTo>
                      <a:pt x="1697023" y="416804"/>
                      <a:pt x="1697023" y="416804"/>
                      <a:pt x="1595827" y="142875"/>
                    </a:cubicBezTo>
                    <a:cubicBezTo>
                      <a:pt x="1527371" y="142875"/>
                      <a:pt x="1464868" y="142875"/>
                      <a:pt x="1464868" y="142875"/>
                    </a:cubicBezTo>
                    <a:cubicBezTo>
                      <a:pt x="1464868" y="142875"/>
                      <a:pt x="1399389" y="142875"/>
                      <a:pt x="1333910" y="142875"/>
                    </a:cubicBezTo>
                    <a:close/>
                    <a:moveTo>
                      <a:pt x="1464868" y="0"/>
                    </a:moveTo>
                    <a:cubicBezTo>
                      <a:pt x="1470821" y="0"/>
                      <a:pt x="1569041" y="0"/>
                      <a:pt x="1655355" y="11906"/>
                    </a:cubicBezTo>
                    <a:cubicBezTo>
                      <a:pt x="1655355" y="11906"/>
                      <a:pt x="1655355" y="11906"/>
                      <a:pt x="1694048" y="17858"/>
                    </a:cubicBezTo>
                    <a:cubicBezTo>
                      <a:pt x="1694048" y="17858"/>
                      <a:pt x="1694048" y="17858"/>
                      <a:pt x="1801197" y="300612"/>
                    </a:cubicBezTo>
                    <a:cubicBezTo>
                      <a:pt x="1848819" y="315494"/>
                      <a:pt x="1896440" y="330376"/>
                      <a:pt x="1941086" y="348234"/>
                    </a:cubicBezTo>
                    <a:cubicBezTo>
                      <a:pt x="1941086" y="348234"/>
                      <a:pt x="1941086" y="348234"/>
                      <a:pt x="2203005" y="202392"/>
                    </a:cubicBezTo>
                    <a:cubicBezTo>
                      <a:pt x="2203005" y="202392"/>
                      <a:pt x="2203005" y="202392"/>
                      <a:pt x="2238721" y="226203"/>
                    </a:cubicBezTo>
                    <a:cubicBezTo>
                      <a:pt x="2310154" y="273825"/>
                      <a:pt x="2387539" y="339305"/>
                      <a:pt x="2387539" y="339305"/>
                    </a:cubicBezTo>
                    <a:cubicBezTo>
                      <a:pt x="2390516" y="342281"/>
                      <a:pt x="2467901" y="404784"/>
                      <a:pt x="2524452" y="467288"/>
                    </a:cubicBezTo>
                    <a:cubicBezTo>
                      <a:pt x="2524452" y="467288"/>
                      <a:pt x="2524452" y="467288"/>
                      <a:pt x="2554215" y="500028"/>
                    </a:cubicBezTo>
                    <a:cubicBezTo>
                      <a:pt x="2554215" y="500028"/>
                      <a:pt x="2554215" y="500028"/>
                      <a:pt x="2467901" y="753018"/>
                    </a:cubicBezTo>
                    <a:cubicBezTo>
                      <a:pt x="2503617" y="803616"/>
                      <a:pt x="2539333" y="860167"/>
                      <a:pt x="2572073" y="919694"/>
                    </a:cubicBezTo>
                    <a:cubicBezTo>
                      <a:pt x="2572073" y="919694"/>
                      <a:pt x="2572073" y="919694"/>
                      <a:pt x="2825064" y="964339"/>
                    </a:cubicBezTo>
                    <a:cubicBezTo>
                      <a:pt x="2825064" y="964339"/>
                      <a:pt x="2825064" y="964339"/>
                      <a:pt x="2836969" y="1006008"/>
                    </a:cubicBezTo>
                    <a:cubicBezTo>
                      <a:pt x="2863756" y="1089346"/>
                      <a:pt x="2878638" y="1187566"/>
                      <a:pt x="2878638" y="1190543"/>
                    </a:cubicBezTo>
                    <a:cubicBezTo>
                      <a:pt x="2878638" y="1190543"/>
                      <a:pt x="2896496" y="1291738"/>
                      <a:pt x="2899473" y="1378053"/>
                    </a:cubicBezTo>
                    <a:cubicBezTo>
                      <a:pt x="2899473" y="1378053"/>
                      <a:pt x="2899473" y="1378053"/>
                      <a:pt x="2902449" y="1419722"/>
                    </a:cubicBezTo>
                    <a:cubicBezTo>
                      <a:pt x="2902449" y="1419722"/>
                      <a:pt x="2902449" y="1419722"/>
                      <a:pt x="2691128" y="1547705"/>
                    </a:cubicBezTo>
                    <a:cubicBezTo>
                      <a:pt x="2685175" y="1619138"/>
                      <a:pt x="2676246" y="1690570"/>
                      <a:pt x="2655411" y="1762003"/>
                    </a:cubicBezTo>
                    <a:cubicBezTo>
                      <a:pt x="2655411" y="1762003"/>
                      <a:pt x="2655411" y="1762003"/>
                      <a:pt x="2810182" y="1952489"/>
                    </a:cubicBezTo>
                    <a:cubicBezTo>
                      <a:pt x="2810182" y="1952489"/>
                      <a:pt x="2810182" y="1952489"/>
                      <a:pt x="2792324" y="1988206"/>
                    </a:cubicBezTo>
                    <a:cubicBezTo>
                      <a:pt x="2759584" y="2071544"/>
                      <a:pt x="2708986" y="2160834"/>
                      <a:pt x="2706010" y="2160834"/>
                    </a:cubicBezTo>
                    <a:cubicBezTo>
                      <a:pt x="2703033" y="2169763"/>
                      <a:pt x="2655411" y="2250125"/>
                      <a:pt x="2604813" y="2318581"/>
                    </a:cubicBezTo>
                    <a:cubicBezTo>
                      <a:pt x="2604813" y="2318581"/>
                      <a:pt x="2604813" y="2318581"/>
                      <a:pt x="2581002" y="2351321"/>
                    </a:cubicBezTo>
                    <a:cubicBezTo>
                      <a:pt x="2581002" y="2351321"/>
                      <a:pt x="2581002" y="2351321"/>
                      <a:pt x="2313130" y="2309652"/>
                    </a:cubicBezTo>
                    <a:cubicBezTo>
                      <a:pt x="2271461" y="2351321"/>
                      <a:pt x="2220863" y="2390014"/>
                      <a:pt x="2170265" y="2422754"/>
                    </a:cubicBezTo>
                    <a:cubicBezTo>
                      <a:pt x="2170265" y="2422754"/>
                      <a:pt x="2170265" y="2422754"/>
                      <a:pt x="2164312" y="2699555"/>
                    </a:cubicBezTo>
                    <a:cubicBezTo>
                      <a:pt x="2164312" y="2699555"/>
                      <a:pt x="2164312" y="2699555"/>
                      <a:pt x="2128596" y="2717413"/>
                    </a:cubicBezTo>
                    <a:cubicBezTo>
                      <a:pt x="2054187" y="2756105"/>
                      <a:pt x="1958944" y="2791822"/>
                      <a:pt x="1952991" y="2791822"/>
                    </a:cubicBezTo>
                    <a:cubicBezTo>
                      <a:pt x="1950015" y="2794798"/>
                      <a:pt x="1857748" y="2824562"/>
                      <a:pt x="1774410" y="2845396"/>
                    </a:cubicBezTo>
                    <a:cubicBezTo>
                      <a:pt x="1774410" y="2845396"/>
                      <a:pt x="1774410" y="2845396"/>
                      <a:pt x="1732741" y="2854325"/>
                    </a:cubicBezTo>
                    <a:cubicBezTo>
                      <a:pt x="1732741" y="2854325"/>
                      <a:pt x="1732741" y="2854325"/>
                      <a:pt x="1542254" y="2634075"/>
                    </a:cubicBezTo>
                    <a:cubicBezTo>
                      <a:pt x="1488679" y="2637051"/>
                      <a:pt x="1438081" y="2637051"/>
                      <a:pt x="1384507" y="2634075"/>
                    </a:cubicBezTo>
                    <a:cubicBezTo>
                      <a:pt x="1384507" y="2634075"/>
                      <a:pt x="1384507" y="2634075"/>
                      <a:pt x="1194020" y="2854325"/>
                    </a:cubicBezTo>
                    <a:cubicBezTo>
                      <a:pt x="1194020" y="2854325"/>
                      <a:pt x="1194020" y="2854325"/>
                      <a:pt x="1152351" y="2845396"/>
                    </a:cubicBezTo>
                    <a:cubicBezTo>
                      <a:pt x="1069013" y="2824562"/>
                      <a:pt x="973769" y="2794798"/>
                      <a:pt x="970793" y="2791822"/>
                    </a:cubicBezTo>
                    <a:cubicBezTo>
                      <a:pt x="967817" y="2791822"/>
                      <a:pt x="875550" y="2756105"/>
                      <a:pt x="798164" y="2717413"/>
                    </a:cubicBezTo>
                    <a:cubicBezTo>
                      <a:pt x="798164" y="2717413"/>
                      <a:pt x="798164" y="2717413"/>
                      <a:pt x="759472" y="2696578"/>
                    </a:cubicBezTo>
                    <a:cubicBezTo>
                      <a:pt x="759472" y="2696578"/>
                      <a:pt x="759472" y="2696578"/>
                      <a:pt x="756495" y="2419777"/>
                    </a:cubicBezTo>
                    <a:cubicBezTo>
                      <a:pt x="705897" y="2387037"/>
                      <a:pt x="658275" y="2348345"/>
                      <a:pt x="613630" y="2306676"/>
                    </a:cubicBezTo>
                    <a:cubicBezTo>
                      <a:pt x="613630" y="2306676"/>
                      <a:pt x="613630" y="2306676"/>
                      <a:pt x="345758" y="2351321"/>
                    </a:cubicBezTo>
                    <a:cubicBezTo>
                      <a:pt x="345758" y="2351321"/>
                      <a:pt x="345758" y="2351321"/>
                      <a:pt x="321947" y="2315605"/>
                    </a:cubicBezTo>
                    <a:cubicBezTo>
                      <a:pt x="271349" y="2250125"/>
                      <a:pt x="223727" y="2169763"/>
                      <a:pt x="217774" y="2160834"/>
                    </a:cubicBezTo>
                    <a:cubicBezTo>
                      <a:pt x="217774" y="2154882"/>
                      <a:pt x="167176" y="2068567"/>
                      <a:pt x="131460" y="1988206"/>
                    </a:cubicBezTo>
                    <a:cubicBezTo>
                      <a:pt x="131460" y="1988206"/>
                      <a:pt x="131460" y="1988206"/>
                      <a:pt x="116578" y="1952489"/>
                    </a:cubicBezTo>
                    <a:cubicBezTo>
                      <a:pt x="116578" y="1952489"/>
                      <a:pt x="116578" y="1952489"/>
                      <a:pt x="274325" y="1759026"/>
                    </a:cubicBezTo>
                    <a:cubicBezTo>
                      <a:pt x="253491" y="1690570"/>
                      <a:pt x="241585" y="1616161"/>
                      <a:pt x="235633" y="1544729"/>
                    </a:cubicBezTo>
                    <a:cubicBezTo>
                      <a:pt x="235633" y="1544729"/>
                      <a:pt x="235633" y="1544729"/>
                      <a:pt x="24311" y="1419722"/>
                    </a:cubicBezTo>
                    <a:cubicBezTo>
                      <a:pt x="24311" y="1419722"/>
                      <a:pt x="24311" y="1419722"/>
                      <a:pt x="27287" y="1375077"/>
                    </a:cubicBezTo>
                    <a:cubicBezTo>
                      <a:pt x="30264" y="1288763"/>
                      <a:pt x="48122" y="1190543"/>
                      <a:pt x="48122" y="1187566"/>
                    </a:cubicBezTo>
                    <a:cubicBezTo>
                      <a:pt x="48122" y="1187566"/>
                      <a:pt x="65980" y="1089346"/>
                      <a:pt x="92767" y="1006008"/>
                    </a:cubicBezTo>
                    <a:cubicBezTo>
                      <a:pt x="92767" y="1006008"/>
                      <a:pt x="92767" y="1006008"/>
                      <a:pt x="104673" y="964339"/>
                    </a:cubicBezTo>
                    <a:cubicBezTo>
                      <a:pt x="104673" y="964339"/>
                      <a:pt x="104673" y="964339"/>
                      <a:pt x="357663" y="916718"/>
                    </a:cubicBezTo>
                    <a:cubicBezTo>
                      <a:pt x="387427" y="860167"/>
                      <a:pt x="423143" y="803616"/>
                      <a:pt x="464812" y="753018"/>
                    </a:cubicBezTo>
                    <a:cubicBezTo>
                      <a:pt x="464812" y="753018"/>
                      <a:pt x="464812" y="753018"/>
                      <a:pt x="372545" y="497051"/>
                    </a:cubicBezTo>
                    <a:cubicBezTo>
                      <a:pt x="372545" y="497051"/>
                      <a:pt x="372545" y="497051"/>
                      <a:pt x="402309" y="467288"/>
                    </a:cubicBezTo>
                    <a:cubicBezTo>
                      <a:pt x="461836" y="404784"/>
                      <a:pt x="536245" y="342281"/>
                      <a:pt x="539221" y="339305"/>
                    </a:cubicBezTo>
                    <a:cubicBezTo>
                      <a:pt x="542197" y="336328"/>
                      <a:pt x="619583" y="270848"/>
                      <a:pt x="693992" y="223227"/>
                    </a:cubicBezTo>
                    <a:cubicBezTo>
                      <a:pt x="693992" y="223227"/>
                      <a:pt x="693992" y="223227"/>
                      <a:pt x="726732" y="199416"/>
                    </a:cubicBezTo>
                    <a:cubicBezTo>
                      <a:pt x="726732" y="199416"/>
                      <a:pt x="726732" y="199416"/>
                      <a:pt x="985675" y="345257"/>
                    </a:cubicBezTo>
                    <a:cubicBezTo>
                      <a:pt x="1033297" y="330376"/>
                      <a:pt x="1080918" y="315494"/>
                      <a:pt x="1125564" y="300612"/>
                    </a:cubicBezTo>
                    <a:cubicBezTo>
                      <a:pt x="1125564" y="300612"/>
                      <a:pt x="1125564" y="300612"/>
                      <a:pt x="1235689" y="17858"/>
                    </a:cubicBezTo>
                    <a:cubicBezTo>
                      <a:pt x="1235689" y="17858"/>
                      <a:pt x="1235689" y="17858"/>
                      <a:pt x="1277358" y="11906"/>
                    </a:cubicBezTo>
                    <a:cubicBezTo>
                      <a:pt x="1360696" y="0"/>
                      <a:pt x="1461892" y="0"/>
                      <a:pt x="1464868"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icrosoft YaHei" panose="020B0503020204020204" pitchFamily="34" charset="-122"/>
                  <a:cs typeface="+mn-cs"/>
                </a:endParaRPr>
              </a:p>
            </p:txBody>
          </p:sp>
          <p:sp>
            <p:nvSpPr>
              <p:cNvPr id="282" name="Freeform 281"/>
              <p:cNvSpPr>
                <a:spLocks/>
              </p:cNvSpPr>
              <p:nvPr/>
            </p:nvSpPr>
            <p:spPr bwMode="auto">
              <a:xfrm>
                <a:off x="4449764" y="1741488"/>
                <a:ext cx="4068761" cy="4125913"/>
              </a:xfrm>
              <a:custGeom>
                <a:avLst/>
                <a:gdLst>
                  <a:gd name="connsiteX0" fmla="*/ 2733075 w 4068763"/>
                  <a:gd name="connsiteY0" fmla="*/ 2836862 h 4125912"/>
                  <a:gd name="connsiteX1" fmla="*/ 3851602 w 4068763"/>
                  <a:gd name="connsiteY1" fmla="*/ 2836862 h 4125912"/>
                  <a:gd name="connsiteX2" fmla="*/ 3860527 w 4068763"/>
                  <a:gd name="connsiteY2" fmla="*/ 2842816 h 4125912"/>
                  <a:gd name="connsiteX3" fmla="*/ 3851602 w 4068763"/>
                  <a:gd name="connsiteY3" fmla="*/ 2890449 h 4125912"/>
                  <a:gd name="connsiteX4" fmla="*/ 4006292 w 4068763"/>
                  <a:gd name="connsiteY4" fmla="*/ 3042277 h 4125912"/>
                  <a:gd name="connsiteX5" fmla="*/ 4059839 w 4068763"/>
                  <a:gd name="connsiteY5" fmla="*/ 3030369 h 4125912"/>
                  <a:gd name="connsiteX6" fmla="*/ 4068763 w 4068763"/>
                  <a:gd name="connsiteY6" fmla="*/ 3039300 h 4125912"/>
                  <a:gd name="connsiteX7" fmla="*/ 4068763 w 4068763"/>
                  <a:gd name="connsiteY7" fmla="*/ 3926452 h 4125912"/>
                  <a:gd name="connsiteX8" fmla="*/ 4059839 w 4068763"/>
                  <a:gd name="connsiteY8" fmla="*/ 3932406 h 4125912"/>
                  <a:gd name="connsiteX9" fmla="*/ 4006292 w 4068763"/>
                  <a:gd name="connsiteY9" fmla="*/ 3923475 h 4125912"/>
                  <a:gd name="connsiteX10" fmla="*/ 3851602 w 4068763"/>
                  <a:gd name="connsiteY10" fmla="*/ 4072326 h 4125912"/>
                  <a:gd name="connsiteX11" fmla="*/ 3857552 w 4068763"/>
                  <a:gd name="connsiteY11" fmla="*/ 4116981 h 4125912"/>
                  <a:gd name="connsiteX12" fmla="*/ 3851602 w 4068763"/>
                  <a:gd name="connsiteY12" fmla="*/ 4125912 h 4125912"/>
                  <a:gd name="connsiteX13" fmla="*/ 2733075 w 4068763"/>
                  <a:gd name="connsiteY13" fmla="*/ 4125912 h 4125912"/>
                  <a:gd name="connsiteX14" fmla="*/ 2730100 w 4068763"/>
                  <a:gd name="connsiteY14" fmla="*/ 4114004 h 4125912"/>
                  <a:gd name="connsiteX15" fmla="*/ 3042455 w 4068763"/>
                  <a:gd name="connsiteY15" fmla="*/ 3482876 h 4125912"/>
                  <a:gd name="connsiteX16" fmla="*/ 2730100 w 4068763"/>
                  <a:gd name="connsiteY16" fmla="*/ 2845793 h 4125912"/>
                  <a:gd name="connsiteX17" fmla="*/ 2733075 w 4068763"/>
                  <a:gd name="connsiteY17" fmla="*/ 2836862 h 4125912"/>
                  <a:gd name="connsiteX18" fmla="*/ 1232160 w 4068763"/>
                  <a:gd name="connsiteY18" fmla="*/ 2836862 h 4125912"/>
                  <a:gd name="connsiteX19" fmla="*/ 2348702 w 4068763"/>
                  <a:gd name="connsiteY19" fmla="*/ 2836862 h 4125912"/>
                  <a:gd name="connsiteX20" fmla="*/ 2354657 w 4068763"/>
                  <a:gd name="connsiteY20" fmla="*/ 2845793 h 4125912"/>
                  <a:gd name="connsiteX21" fmla="*/ 2045003 w 4068763"/>
                  <a:gd name="connsiteY21" fmla="*/ 3482876 h 4125912"/>
                  <a:gd name="connsiteX22" fmla="*/ 2354657 w 4068763"/>
                  <a:gd name="connsiteY22" fmla="*/ 4114004 h 4125912"/>
                  <a:gd name="connsiteX23" fmla="*/ 2348702 w 4068763"/>
                  <a:gd name="connsiteY23" fmla="*/ 4125912 h 4125912"/>
                  <a:gd name="connsiteX24" fmla="*/ 1235138 w 4068763"/>
                  <a:gd name="connsiteY24" fmla="*/ 4125912 h 4125912"/>
                  <a:gd name="connsiteX25" fmla="*/ 1229183 w 4068763"/>
                  <a:gd name="connsiteY25" fmla="*/ 4116981 h 4125912"/>
                  <a:gd name="connsiteX26" fmla="*/ 1235138 w 4068763"/>
                  <a:gd name="connsiteY26" fmla="*/ 4072326 h 4125912"/>
                  <a:gd name="connsiteX27" fmla="*/ 1080311 w 4068763"/>
                  <a:gd name="connsiteY27" fmla="*/ 3923475 h 4125912"/>
                  <a:gd name="connsiteX28" fmla="*/ 1029694 w 4068763"/>
                  <a:gd name="connsiteY28" fmla="*/ 3929429 h 4125912"/>
                  <a:gd name="connsiteX29" fmla="*/ 1020762 w 4068763"/>
                  <a:gd name="connsiteY29" fmla="*/ 3923475 h 4125912"/>
                  <a:gd name="connsiteX30" fmla="*/ 1020762 w 4068763"/>
                  <a:gd name="connsiteY30" fmla="*/ 3039300 h 4125912"/>
                  <a:gd name="connsiteX31" fmla="*/ 1029694 w 4068763"/>
                  <a:gd name="connsiteY31" fmla="*/ 3033346 h 4125912"/>
                  <a:gd name="connsiteX32" fmla="*/ 1080311 w 4068763"/>
                  <a:gd name="connsiteY32" fmla="*/ 3042277 h 4125912"/>
                  <a:gd name="connsiteX33" fmla="*/ 1235138 w 4068763"/>
                  <a:gd name="connsiteY33" fmla="*/ 2890449 h 4125912"/>
                  <a:gd name="connsiteX34" fmla="*/ 1229183 w 4068763"/>
                  <a:gd name="connsiteY34" fmla="*/ 2842816 h 4125912"/>
                  <a:gd name="connsiteX35" fmla="*/ 1232160 w 4068763"/>
                  <a:gd name="connsiteY35" fmla="*/ 2836862 h 4125912"/>
                  <a:gd name="connsiteX36" fmla="*/ 415132 w 4068763"/>
                  <a:gd name="connsiteY36" fmla="*/ 0 h 4125912"/>
                  <a:gd name="connsiteX37" fmla="*/ 830264 w 4068763"/>
                  <a:gd name="connsiteY37" fmla="*/ 411957 h 4125912"/>
                  <a:gd name="connsiteX38" fmla="*/ 415132 w 4068763"/>
                  <a:gd name="connsiteY38" fmla="*/ 823914 h 4125912"/>
                  <a:gd name="connsiteX39" fmla="*/ 0 w 4068763"/>
                  <a:gd name="connsiteY39" fmla="*/ 411957 h 4125912"/>
                  <a:gd name="connsiteX40" fmla="*/ 415132 w 4068763"/>
                  <a:gd name="connsiteY40" fmla="*/ 0 h 4125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068763" h="4125912">
                    <a:moveTo>
                      <a:pt x="2733075" y="2836862"/>
                    </a:moveTo>
                    <a:cubicBezTo>
                      <a:pt x="2733075" y="2836862"/>
                      <a:pt x="2733075" y="2836862"/>
                      <a:pt x="3851602" y="2836862"/>
                    </a:cubicBezTo>
                    <a:cubicBezTo>
                      <a:pt x="3857552" y="2836862"/>
                      <a:pt x="3860527" y="2839839"/>
                      <a:pt x="3860527" y="2842816"/>
                    </a:cubicBezTo>
                    <a:cubicBezTo>
                      <a:pt x="3854577" y="2857701"/>
                      <a:pt x="3851602" y="2875564"/>
                      <a:pt x="3851602" y="2890449"/>
                    </a:cubicBezTo>
                    <a:cubicBezTo>
                      <a:pt x="3851602" y="2973805"/>
                      <a:pt x="3920023" y="3042277"/>
                      <a:pt x="4006292" y="3042277"/>
                    </a:cubicBezTo>
                    <a:cubicBezTo>
                      <a:pt x="4024141" y="3042277"/>
                      <a:pt x="4044965" y="3039300"/>
                      <a:pt x="4059839" y="3030369"/>
                    </a:cubicBezTo>
                    <a:cubicBezTo>
                      <a:pt x="4065788" y="3030369"/>
                      <a:pt x="4068763" y="3033346"/>
                      <a:pt x="4068763" y="3039300"/>
                    </a:cubicBezTo>
                    <a:cubicBezTo>
                      <a:pt x="4068763" y="3039300"/>
                      <a:pt x="4068763" y="3039300"/>
                      <a:pt x="4068763" y="3926452"/>
                    </a:cubicBezTo>
                    <a:cubicBezTo>
                      <a:pt x="4068763" y="3929429"/>
                      <a:pt x="4065788" y="3932406"/>
                      <a:pt x="4059839" y="3932406"/>
                    </a:cubicBezTo>
                    <a:cubicBezTo>
                      <a:pt x="4044965" y="3926452"/>
                      <a:pt x="4024141" y="3923475"/>
                      <a:pt x="4006292" y="3923475"/>
                    </a:cubicBezTo>
                    <a:cubicBezTo>
                      <a:pt x="3920023" y="3923475"/>
                      <a:pt x="3851602" y="3991946"/>
                      <a:pt x="3851602" y="4072326"/>
                    </a:cubicBezTo>
                    <a:cubicBezTo>
                      <a:pt x="3851602" y="4087211"/>
                      <a:pt x="3851602" y="4102096"/>
                      <a:pt x="3857552" y="4116981"/>
                    </a:cubicBezTo>
                    <a:cubicBezTo>
                      <a:pt x="3860527" y="4119958"/>
                      <a:pt x="3857552" y="4125912"/>
                      <a:pt x="3851602" y="4125912"/>
                    </a:cubicBezTo>
                    <a:cubicBezTo>
                      <a:pt x="3851602" y="4125912"/>
                      <a:pt x="3851602" y="4125912"/>
                      <a:pt x="2733075" y="4125912"/>
                    </a:cubicBezTo>
                    <a:cubicBezTo>
                      <a:pt x="2727125" y="4125912"/>
                      <a:pt x="2724150" y="4116981"/>
                      <a:pt x="2730100" y="4114004"/>
                    </a:cubicBezTo>
                    <a:cubicBezTo>
                      <a:pt x="2890739" y="4003854"/>
                      <a:pt x="3042455" y="3759739"/>
                      <a:pt x="3042455" y="3482876"/>
                    </a:cubicBezTo>
                    <a:cubicBezTo>
                      <a:pt x="3042455" y="3200059"/>
                      <a:pt x="2890739" y="2955943"/>
                      <a:pt x="2730100" y="2845793"/>
                    </a:cubicBezTo>
                    <a:cubicBezTo>
                      <a:pt x="2724150" y="2842816"/>
                      <a:pt x="2727125" y="2836862"/>
                      <a:pt x="2733075" y="2836862"/>
                    </a:cubicBezTo>
                    <a:close/>
                    <a:moveTo>
                      <a:pt x="1232160" y="2836862"/>
                    </a:moveTo>
                    <a:cubicBezTo>
                      <a:pt x="1232160" y="2836862"/>
                      <a:pt x="1232160" y="2836862"/>
                      <a:pt x="2348702" y="2836862"/>
                    </a:cubicBezTo>
                    <a:cubicBezTo>
                      <a:pt x="2357634" y="2836862"/>
                      <a:pt x="2360612" y="2842816"/>
                      <a:pt x="2354657" y="2845793"/>
                    </a:cubicBezTo>
                    <a:cubicBezTo>
                      <a:pt x="2196852" y="2955943"/>
                      <a:pt x="2045003" y="3200059"/>
                      <a:pt x="2045003" y="3482876"/>
                    </a:cubicBezTo>
                    <a:cubicBezTo>
                      <a:pt x="2045003" y="3759739"/>
                      <a:pt x="2196852" y="4003854"/>
                      <a:pt x="2354657" y="4114004"/>
                    </a:cubicBezTo>
                    <a:cubicBezTo>
                      <a:pt x="2360612" y="4116981"/>
                      <a:pt x="2357634" y="4125912"/>
                      <a:pt x="2348702" y="4125912"/>
                    </a:cubicBezTo>
                    <a:cubicBezTo>
                      <a:pt x="2348702" y="4125912"/>
                      <a:pt x="2348702" y="4125912"/>
                      <a:pt x="1235138" y="4125912"/>
                    </a:cubicBezTo>
                    <a:cubicBezTo>
                      <a:pt x="1232160" y="4125912"/>
                      <a:pt x="1229183" y="4119958"/>
                      <a:pt x="1229183" y="4116981"/>
                    </a:cubicBezTo>
                    <a:cubicBezTo>
                      <a:pt x="1232160" y="4102096"/>
                      <a:pt x="1235138" y="4087211"/>
                      <a:pt x="1235138" y="4072326"/>
                    </a:cubicBezTo>
                    <a:cubicBezTo>
                      <a:pt x="1235138" y="3991946"/>
                      <a:pt x="1166657" y="3923475"/>
                      <a:pt x="1080311" y="3923475"/>
                    </a:cubicBezTo>
                    <a:cubicBezTo>
                      <a:pt x="1062446" y="3923475"/>
                      <a:pt x="1044581" y="3926452"/>
                      <a:pt x="1029694" y="3929429"/>
                    </a:cubicBezTo>
                    <a:cubicBezTo>
                      <a:pt x="1026717" y="3932406"/>
                      <a:pt x="1020762" y="3929429"/>
                      <a:pt x="1020762" y="3923475"/>
                    </a:cubicBezTo>
                    <a:cubicBezTo>
                      <a:pt x="1020762" y="3923475"/>
                      <a:pt x="1020762" y="3923475"/>
                      <a:pt x="1020762" y="3039300"/>
                    </a:cubicBezTo>
                    <a:cubicBezTo>
                      <a:pt x="1020762" y="3033346"/>
                      <a:pt x="1026717" y="3030369"/>
                      <a:pt x="1029694" y="3033346"/>
                    </a:cubicBezTo>
                    <a:cubicBezTo>
                      <a:pt x="1044581" y="3039300"/>
                      <a:pt x="1062446" y="3042277"/>
                      <a:pt x="1080311" y="3042277"/>
                    </a:cubicBezTo>
                    <a:cubicBezTo>
                      <a:pt x="1166657" y="3042277"/>
                      <a:pt x="1235138" y="2973805"/>
                      <a:pt x="1235138" y="2890449"/>
                    </a:cubicBezTo>
                    <a:cubicBezTo>
                      <a:pt x="1235138" y="2875564"/>
                      <a:pt x="1232160" y="2857701"/>
                      <a:pt x="1229183" y="2842816"/>
                    </a:cubicBezTo>
                    <a:cubicBezTo>
                      <a:pt x="1226205" y="2839839"/>
                      <a:pt x="1229183" y="2836862"/>
                      <a:pt x="1232160" y="2836862"/>
                    </a:cubicBezTo>
                    <a:close/>
                    <a:moveTo>
                      <a:pt x="415132" y="0"/>
                    </a:moveTo>
                    <a:cubicBezTo>
                      <a:pt x="644403" y="0"/>
                      <a:pt x="830264" y="184439"/>
                      <a:pt x="830264" y="411957"/>
                    </a:cubicBezTo>
                    <a:cubicBezTo>
                      <a:pt x="830264" y="639475"/>
                      <a:pt x="644403" y="823914"/>
                      <a:pt x="415132" y="823914"/>
                    </a:cubicBezTo>
                    <a:cubicBezTo>
                      <a:pt x="185861" y="823914"/>
                      <a:pt x="0" y="639475"/>
                      <a:pt x="0" y="411957"/>
                    </a:cubicBezTo>
                    <a:cubicBezTo>
                      <a:pt x="0" y="184439"/>
                      <a:pt x="185861" y="0"/>
                      <a:pt x="415132" y="0"/>
                    </a:cubicBezTo>
                    <a:close/>
                  </a:path>
                </a:pathLst>
              </a:custGeom>
              <a:solidFill>
                <a:schemeClr val="tx2"/>
              </a:solid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icrosoft YaHei" panose="020B0503020204020204" pitchFamily="34" charset="-122"/>
                  <a:cs typeface="+mn-cs"/>
                </a:endParaRPr>
              </a:p>
            </p:txBody>
          </p:sp>
        </p:grpSp>
      </p:grpSp>
      <p:grpSp>
        <p:nvGrpSpPr>
          <p:cNvPr id="283" name="bcgIcons_Email">
            <a:extLst>
              <a:ext uri="{FF2B5EF4-FFF2-40B4-BE49-F238E27FC236}">
                <a16:creationId xmlns:a16="http://schemas.microsoft.com/office/drawing/2014/main" id="{14E48010-362D-4F7B-81F1-B234BC46F8C6}"/>
              </a:ext>
            </a:extLst>
          </p:cNvPr>
          <p:cNvGrpSpPr>
            <a:grpSpLocks noChangeAspect="1"/>
          </p:cNvGrpSpPr>
          <p:nvPr/>
        </p:nvGrpSpPr>
        <p:grpSpPr bwMode="auto">
          <a:xfrm>
            <a:off x="8565489" y="5505128"/>
            <a:ext cx="431600" cy="432000"/>
            <a:chOff x="1682" y="0"/>
            <a:chExt cx="4316" cy="4320"/>
          </a:xfrm>
        </p:grpSpPr>
        <p:sp>
          <p:nvSpPr>
            <p:cNvPr id="284" name="AutoShape 13">
              <a:extLst>
                <a:ext uri="{FF2B5EF4-FFF2-40B4-BE49-F238E27FC236}">
                  <a16:creationId xmlns:a16="http://schemas.microsoft.com/office/drawing/2014/main" id="{4E99E364-E4F7-4087-BAC7-4C5CC78052CA}"/>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n-ea"/>
                <a:cs typeface="+mn-cs"/>
              </a:endParaRPr>
            </a:p>
          </p:txBody>
        </p:sp>
        <p:sp>
          <p:nvSpPr>
            <p:cNvPr id="285" name="Freeform 15">
              <a:extLst>
                <a:ext uri="{FF2B5EF4-FFF2-40B4-BE49-F238E27FC236}">
                  <a16:creationId xmlns:a16="http://schemas.microsoft.com/office/drawing/2014/main" id="{77D4DAC2-2D63-437A-9EE1-56FD5AE0604C}"/>
                </a:ext>
              </a:extLst>
            </p:cNvPr>
            <p:cNvSpPr>
              <a:spLocks noEditPoints="1"/>
            </p:cNvSpPr>
            <p:nvPr/>
          </p:nvSpPr>
          <p:spPr bwMode="auto">
            <a:xfrm>
              <a:off x="2446" y="1155"/>
              <a:ext cx="2788" cy="2010"/>
            </a:xfrm>
            <a:custGeom>
              <a:avLst/>
              <a:gdLst>
                <a:gd name="T0" fmla="*/ 1488 w 1488"/>
                <a:gd name="T1" fmla="*/ 65 h 1072"/>
                <a:gd name="T2" fmla="*/ 1488 w 1488"/>
                <a:gd name="T3" fmla="*/ 1050 h 1072"/>
                <a:gd name="T4" fmla="*/ 1477 w 1488"/>
                <a:gd name="T5" fmla="*/ 1055 h 1072"/>
                <a:gd name="T6" fmla="*/ 978 w 1488"/>
                <a:gd name="T7" fmla="*/ 494 h 1072"/>
                <a:gd name="T8" fmla="*/ 978 w 1488"/>
                <a:gd name="T9" fmla="*/ 484 h 1072"/>
                <a:gd name="T10" fmla="*/ 1488 w 1488"/>
                <a:gd name="T11" fmla="*/ 65 h 1072"/>
                <a:gd name="T12" fmla="*/ 1488 w 1488"/>
                <a:gd name="T13" fmla="*/ 65 h 1072"/>
                <a:gd name="T14" fmla="*/ 0 w 1488"/>
                <a:gd name="T15" fmla="*/ 65 h 1072"/>
                <a:gd name="T16" fmla="*/ 0 w 1488"/>
                <a:gd name="T17" fmla="*/ 1050 h 1072"/>
                <a:gd name="T18" fmla="*/ 11 w 1488"/>
                <a:gd name="T19" fmla="*/ 1055 h 1072"/>
                <a:gd name="T20" fmla="*/ 510 w 1488"/>
                <a:gd name="T21" fmla="*/ 494 h 1072"/>
                <a:gd name="T22" fmla="*/ 510 w 1488"/>
                <a:gd name="T23" fmla="*/ 484 h 1072"/>
                <a:gd name="T24" fmla="*/ 0 w 1488"/>
                <a:gd name="T25" fmla="*/ 65 h 1072"/>
                <a:gd name="T26" fmla="*/ 0 w 1488"/>
                <a:gd name="T27" fmla="*/ 65 h 1072"/>
                <a:gd name="T28" fmla="*/ 1399 w 1488"/>
                <a:gd name="T29" fmla="*/ 1072 h 1072"/>
                <a:gd name="T30" fmla="*/ 1399 w 1488"/>
                <a:gd name="T31" fmla="*/ 1072 h 1072"/>
                <a:gd name="T32" fmla="*/ 934 w 1488"/>
                <a:gd name="T33" fmla="*/ 546 h 1072"/>
                <a:gd name="T34" fmla="*/ 925 w 1488"/>
                <a:gd name="T35" fmla="*/ 545 h 1072"/>
                <a:gd name="T36" fmla="*/ 750 w 1488"/>
                <a:gd name="T37" fmla="*/ 701 h 1072"/>
                <a:gd name="T38" fmla="*/ 742 w 1488"/>
                <a:gd name="T39" fmla="*/ 701 h 1072"/>
                <a:gd name="T40" fmla="*/ 566 w 1488"/>
                <a:gd name="T41" fmla="*/ 545 h 1072"/>
                <a:gd name="T42" fmla="*/ 558 w 1488"/>
                <a:gd name="T43" fmla="*/ 546 h 1072"/>
                <a:gd name="T44" fmla="*/ 90 w 1488"/>
                <a:gd name="T45" fmla="*/ 1061 h 1072"/>
                <a:gd name="T46" fmla="*/ 95 w 1488"/>
                <a:gd name="T47" fmla="*/ 1072 h 1072"/>
                <a:gd name="T48" fmla="*/ 1399 w 1488"/>
                <a:gd name="T49" fmla="*/ 1072 h 1072"/>
                <a:gd name="T50" fmla="*/ 1399 w 1488"/>
                <a:gd name="T51" fmla="*/ 1072 h 1072"/>
                <a:gd name="T52" fmla="*/ 1461 w 1488"/>
                <a:gd name="T53" fmla="*/ 0 h 1072"/>
                <a:gd name="T54" fmla="*/ 27 w 1488"/>
                <a:gd name="T55" fmla="*/ 0 h 1072"/>
                <a:gd name="T56" fmla="*/ 23 w 1488"/>
                <a:gd name="T57" fmla="*/ 11 h 1072"/>
                <a:gd name="T58" fmla="*/ 738 w 1488"/>
                <a:gd name="T59" fmla="*/ 605 h 1072"/>
                <a:gd name="T60" fmla="*/ 746 w 1488"/>
                <a:gd name="T61" fmla="*/ 605 h 1072"/>
                <a:gd name="T62" fmla="*/ 1465 w 1488"/>
                <a:gd name="T63" fmla="*/ 11 h 1072"/>
                <a:gd name="T64" fmla="*/ 1461 w 1488"/>
                <a:gd name="T65" fmla="*/ 0 h 1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88" h="1072">
                  <a:moveTo>
                    <a:pt x="1488" y="65"/>
                  </a:moveTo>
                  <a:cubicBezTo>
                    <a:pt x="1488" y="1050"/>
                    <a:pt x="1488" y="1050"/>
                    <a:pt x="1488" y="1050"/>
                  </a:cubicBezTo>
                  <a:cubicBezTo>
                    <a:pt x="1488" y="1056"/>
                    <a:pt x="1481" y="1059"/>
                    <a:pt x="1477" y="1055"/>
                  </a:cubicBezTo>
                  <a:cubicBezTo>
                    <a:pt x="978" y="494"/>
                    <a:pt x="978" y="494"/>
                    <a:pt x="978" y="494"/>
                  </a:cubicBezTo>
                  <a:cubicBezTo>
                    <a:pt x="975" y="491"/>
                    <a:pt x="976" y="487"/>
                    <a:pt x="978" y="484"/>
                  </a:cubicBezTo>
                  <a:cubicBezTo>
                    <a:pt x="1488" y="65"/>
                    <a:pt x="1488" y="65"/>
                    <a:pt x="1488" y="65"/>
                  </a:cubicBezTo>
                  <a:cubicBezTo>
                    <a:pt x="1488" y="65"/>
                    <a:pt x="1488" y="65"/>
                    <a:pt x="1488" y="65"/>
                  </a:cubicBezTo>
                  <a:close/>
                  <a:moveTo>
                    <a:pt x="0" y="65"/>
                  </a:moveTo>
                  <a:cubicBezTo>
                    <a:pt x="0" y="1050"/>
                    <a:pt x="0" y="1050"/>
                    <a:pt x="0" y="1050"/>
                  </a:cubicBezTo>
                  <a:cubicBezTo>
                    <a:pt x="0" y="1056"/>
                    <a:pt x="7" y="1059"/>
                    <a:pt x="11" y="1055"/>
                  </a:cubicBezTo>
                  <a:cubicBezTo>
                    <a:pt x="510" y="494"/>
                    <a:pt x="510" y="494"/>
                    <a:pt x="510" y="494"/>
                  </a:cubicBezTo>
                  <a:cubicBezTo>
                    <a:pt x="513" y="491"/>
                    <a:pt x="512" y="487"/>
                    <a:pt x="510" y="484"/>
                  </a:cubicBezTo>
                  <a:cubicBezTo>
                    <a:pt x="0" y="65"/>
                    <a:pt x="0" y="65"/>
                    <a:pt x="0" y="65"/>
                  </a:cubicBezTo>
                  <a:cubicBezTo>
                    <a:pt x="0" y="65"/>
                    <a:pt x="0" y="65"/>
                    <a:pt x="0" y="65"/>
                  </a:cubicBezTo>
                  <a:close/>
                  <a:moveTo>
                    <a:pt x="1399" y="1072"/>
                  </a:moveTo>
                  <a:cubicBezTo>
                    <a:pt x="1399" y="1072"/>
                    <a:pt x="1399" y="1072"/>
                    <a:pt x="1399" y="1072"/>
                  </a:cubicBezTo>
                  <a:cubicBezTo>
                    <a:pt x="934" y="546"/>
                    <a:pt x="934" y="546"/>
                    <a:pt x="934" y="546"/>
                  </a:cubicBezTo>
                  <a:cubicBezTo>
                    <a:pt x="931" y="543"/>
                    <a:pt x="928" y="542"/>
                    <a:pt x="925" y="545"/>
                  </a:cubicBezTo>
                  <a:cubicBezTo>
                    <a:pt x="750" y="701"/>
                    <a:pt x="750" y="701"/>
                    <a:pt x="750" y="701"/>
                  </a:cubicBezTo>
                  <a:cubicBezTo>
                    <a:pt x="748" y="703"/>
                    <a:pt x="744" y="703"/>
                    <a:pt x="742" y="701"/>
                  </a:cubicBezTo>
                  <a:cubicBezTo>
                    <a:pt x="566" y="545"/>
                    <a:pt x="566" y="545"/>
                    <a:pt x="566" y="545"/>
                  </a:cubicBezTo>
                  <a:cubicBezTo>
                    <a:pt x="564" y="542"/>
                    <a:pt x="560" y="542"/>
                    <a:pt x="558" y="546"/>
                  </a:cubicBezTo>
                  <a:cubicBezTo>
                    <a:pt x="90" y="1061"/>
                    <a:pt x="90" y="1061"/>
                    <a:pt x="90" y="1061"/>
                  </a:cubicBezTo>
                  <a:cubicBezTo>
                    <a:pt x="86" y="1065"/>
                    <a:pt x="89" y="1072"/>
                    <a:pt x="95" y="1072"/>
                  </a:cubicBezTo>
                  <a:cubicBezTo>
                    <a:pt x="1399" y="1072"/>
                    <a:pt x="1399" y="1072"/>
                    <a:pt x="1399" y="1072"/>
                  </a:cubicBezTo>
                  <a:cubicBezTo>
                    <a:pt x="1399" y="1072"/>
                    <a:pt x="1399" y="1072"/>
                    <a:pt x="1399" y="1072"/>
                  </a:cubicBezTo>
                  <a:close/>
                  <a:moveTo>
                    <a:pt x="1461" y="0"/>
                  </a:moveTo>
                  <a:cubicBezTo>
                    <a:pt x="27" y="0"/>
                    <a:pt x="27" y="0"/>
                    <a:pt x="27" y="0"/>
                  </a:cubicBezTo>
                  <a:cubicBezTo>
                    <a:pt x="21" y="0"/>
                    <a:pt x="19" y="8"/>
                    <a:pt x="23" y="11"/>
                  </a:cubicBezTo>
                  <a:cubicBezTo>
                    <a:pt x="738" y="605"/>
                    <a:pt x="738" y="605"/>
                    <a:pt x="738" y="605"/>
                  </a:cubicBezTo>
                  <a:cubicBezTo>
                    <a:pt x="740" y="607"/>
                    <a:pt x="743" y="607"/>
                    <a:pt x="746" y="605"/>
                  </a:cubicBezTo>
                  <a:cubicBezTo>
                    <a:pt x="1465" y="11"/>
                    <a:pt x="1465" y="11"/>
                    <a:pt x="1465" y="11"/>
                  </a:cubicBezTo>
                  <a:cubicBezTo>
                    <a:pt x="1469" y="8"/>
                    <a:pt x="1466" y="0"/>
                    <a:pt x="1461"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icrosoft YaHei" panose="020B0503020204020204" pitchFamily="34" charset="-122"/>
                <a:cs typeface="+mn-cs"/>
              </a:endParaRPr>
            </a:p>
          </p:txBody>
        </p:sp>
        <p:sp>
          <p:nvSpPr>
            <p:cNvPr id="286" name="Freeform 16">
              <a:extLst>
                <a:ext uri="{FF2B5EF4-FFF2-40B4-BE49-F238E27FC236}">
                  <a16:creationId xmlns:a16="http://schemas.microsoft.com/office/drawing/2014/main" id="{8A7CBF1E-CF5A-4A55-B118-1F8C4DA0FECA}"/>
                </a:ext>
              </a:extLst>
            </p:cNvPr>
            <p:cNvSpPr>
              <a:spLocks noEditPoints="1"/>
            </p:cNvSpPr>
            <p:nvPr/>
          </p:nvSpPr>
          <p:spPr bwMode="auto">
            <a:xfrm>
              <a:off x="2257" y="988"/>
              <a:ext cx="3166" cy="2344"/>
            </a:xfrm>
            <a:custGeom>
              <a:avLst/>
              <a:gdLst>
                <a:gd name="T0" fmla="*/ 1668 w 1690"/>
                <a:gd name="T1" fmla="*/ 1250 h 1250"/>
                <a:gd name="T2" fmla="*/ 22 w 1690"/>
                <a:gd name="T3" fmla="*/ 1250 h 1250"/>
                <a:gd name="T4" fmla="*/ 0 w 1690"/>
                <a:gd name="T5" fmla="*/ 1228 h 1250"/>
                <a:gd name="T6" fmla="*/ 0 w 1690"/>
                <a:gd name="T7" fmla="*/ 22 h 1250"/>
                <a:gd name="T8" fmla="*/ 22 w 1690"/>
                <a:gd name="T9" fmla="*/ 0 h 1250"/>
                <a:gd name="T10" fmla="*/ 1668 w 1690"/>
                <a:gd name="T11" fmla="*/ 0 h 1250"/>
                <a:gd name="T12" fmla="*/ 1690 w 1690"/>
                <a:gd name="T13" fmla="*/ 22 h 1250"/>
                <a:gd name="T14" fmla="*/ 1690 w 1690"/>
                <a:gd name="T15" fmla="*/ 1228 h 1250"/>
                <a:gd name="T16" fmla="*/ 1668 w 1690"/>
                <a:gd name="T17" fmla="*/ 1250 h 1250"/>
                <a:gd name="T18" fmla="*/ 44 w 1690"/>
                <a:gd name="T19" fmla="*/ 1206 h 1250"/>
                <a:gd name="T20" fmla="*/ 1646 w 1690"/>
                <a:gd name="T21" fmla="*/ 1206 h 1250"/>
                <a:gd name="T22" fmla="*/ 1646 w 1690"/>
                <a:gd name="T23" fmla="*/ 44 h 1250"/>
                <a:gd name="T24" fmla="*/ 44 w 1690"/>
                <a:gd name="T25" fmla="*/ 44 h 1250"/>
                <a:gd name="T26" fmla="*/ 44 w 1690"/>
                <a:gd name="T27" fmla="*/ 1206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90" h="1250">
                  <a:moveTo>
                    <a:pt x="1668" y="1250"/>
                  </a:moveTo>
                  <a:cubicBezTo>
                    <a:pt x="22" y="1250"/>
                    <a:pt x="22" y="1250"/>
                    <a:pt x="22" y="1250"/>
                  </a:cubicBezTo>
                  <a:cubicBezTo>
                    <a:pt x="10" y="1250"/>
                    <a:pt x="0" y="1240"/>
                    <a:pt x="0" y="1228"/>
                  </a:cubicBezTo>
                  <a:cubicBezTo>
                    <a:pt x="0" y="22"/>
                    <a:pt x="0" y="22"/>
                    <a:pt x="0" y="22"/>
                  </a:cubicBezTo>
                  <a:cubicBezTo>
                    <a:pt x="0" y="10"/>
                    <a:pt x="10" y="0"/>
                    <a:pt x="22" y="0"/>
                  </a:cubicBezTo>
                  <a:cubicBezTo>
                    <a:pt x="1668" y="0"/>
                    <a:pt x="1668" y="0"/>
                    <a:pt x="1668" y="0"/>
                  </a:cubicBezTo>
                  <a:cubicBezTo>
                    <a:pt x="1680" y="0"/>
                    <a:pt x="1690" y="10"/>
                    <a:pt x="1690" y="22"/>
                  </a:cubicBezTo>
                  <a:cubicBezTo>
                    <a:pt x="1690" y="1228"/>
                    <a:pt x="1690" y="1228"/>
                    <a:pt x="1690" y="1228"/>
                  </a:cubicBezTo>
                  <a:cubicBezTo>
                    <a:pt x="1690" y="1240"/>
                    <a:pt x="1680" y="1250"/>
                    <a:pt x="1668" y="1250"/>
                  </a:cubicBezTo>
                  <a:close/>
                  <a:moveTo>
                    <a:pt x="44" y="1206"/>
                  </a:moveTo>
                  <a:cubicBezTo>
                    <a:pt x="1646" y="1206"/>
                    <a:pt x="1646" y="1206"/>
                    <a:pt x="1646" y="1206"/>
                  </a:cubicBezTo>
                  <a:cubicBezTo>
                    <a:pt x="1646" y="44"/>
                    <a:pt x="1646" y="44"/>
                    <a:pt x="1646" y="44"/>
                  </a:cubicBezTo>
                  <a:cubicBezTo>
                    <a:pt x="44" y="44"/>
                    <a:pt x="44" y="44"/>
                    <a:pt x="44" y="44"/>
                  </a:cubicBezTo>
                  <a:lnTo>
                    <a:pt x="44" y="120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icrosoft YaHei" panose="020B0503020204020204" pitchFamily="34" charset="-122"/>
                <a:cs typeface="+mn-cs"/>
              </a:endParaRPr>
            </a:p>
          </p:txBody>
        </p:sp>
      </p:grpSp>
      <p:grpSp>
        <p:nvGrpSpPr>
          <p:cNvPr id="287" name="bcgIcons_SmartPhone">
            <a:extLst>
              <a:ext uri="{FF2B5EF4-FFF2-40B4-BE49-F238E27FC236}">
                <a16:creationId xmlns:a16="http://schemas.microsoft.com/office/drawing/2014/main" id="{860CC7CA-9F4C-42B3-8A8E-540ACC9BD367}"/>
              </a:ext>
            </a:extLst>
          </p:cNvPr>
          <p:cNvGrpSpPr>
            <a:grpSpLocks noChangeAspect="1"/>
          </p:cNvGrpSpPr>
          <p:nvPr/>
        </p:nvGrpSpPr>
        <p:grpSpPr bwMode="auto">
          <a:xfrm>
            <a:off x="9265957" y="5505352"/>
            <a:ext cx="431600" cy="432000"/>
            <a:chOff x="1682" y="0"/>
            <a:chExt cx="4316" cy="4320"/>
          </a:xfrm>
        </p:grpSpPr>
        <p:sp>
          <p:nvSpPr>
            <p:cNvPr id="288" name="AutoShape 13">
              <a:extLst>
                <a:ext uri="{FF2B5EF4-FFF2-40B4-BE49-F238E27FC236}">
                  <a16:creationId xmlns:a16="http://schemas.microsoft.com/office/drawing/2014/main" id="{CB5E192C-1D4A-4BC6-892D-079D9F00354B}"/>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n-ea"/>
                <a:cs typeface="+mn-cs"/>
              </a:endParaRPr>
            </a:p>
          </p:txBody>
        </p:sp>
        <p:sp>
          <p:nvSpPr>
            <p:cNvPr id="289" name="Freeform 15">
              <a:extLst>
                <a:ext uri="{FF2B5EF4-FFF2-40B4-BE49-F238E27FC236}">
                  <a16:creationId xmlns:a16="http://schemas.microsoft.com/office/drawing/2014/main" id="{DA725996-F4C4-4D12-BF2B-DE0A4289CBCF}"/>
                </a:ext>
              </a:extLst>
            </p:cNvPr>
            <p:cNvSpPr>
              <a:spLocks noEditPoints="1"/>
            </p:cNvSpPr>
            <p:nvPr/>
          </p:nvSpPr>
          <p:spPr bwMode="auto">
            <a:xfrm>
              <a:off x="3087" y="726"/>
              <a:ext cx="1510" cy="2865"/>
            </a:xfrm>
            <a:custGeom>
              <a:avLst/>
              <a:gdLst>
                <a:gd name="T0" fmla="*/ 784 w 806"/>
                <a:gd name="T1" fmla="*/ 0 h 1528"/>
                <a:gd name="T2" fmla="*/ 22 w 806"/>
                <a:gd name="T3" fmla="*/ 0 h 1528"/>
                <a:gd name="T4" fmla="*/ 0 w 806"/>
                <a:gd name="T5" fmla="*/ 22 h 1528"/>
                <a:gd name="T6" fmla="*/ 0 w 806"/>
                <a:gd name="T7" fmla="*/ 1252 h 1528"/>
                <a:gd name="T8" fmla="*/ 0 w 806"/>
                <a:gd name="T9" fmla="*/ 1296 h 1528"/>
                <a:gd name="T10" fmla="*/ 0 w 806"/>
                <a:gd name="T11" fmla="*/ 1506 h 1528"/>
                <a:gd name="T12" fmla="*/ 22 w 806"/>
                <a:gd name="T13" fmla="*/ 1528 h 1528"/>
                <a:gd name="T14" fmla="*/ 784 w 806"/>
                <a:gd name="T15" fmla="*/ 1528 h 1528"/>
                <a:gd name="T16" fmla="*/ 806 w 806"/>
                <a:gd name="T17" fmla="*/ 1506 h 1528"/>
                <a:gd name="T18" fmla="*/ 806 w 806"/>
                <a:gd name="T19" fmla="*/ 1296 h 1528"/>
                <a:gd name="T20" fmla="*/ 806 w 806"/>
                <a:gd name="T21" fmla="*/ 1252 h 1528"/>
                <a:gd name="T22" fmla="*/ 806 w 806"/>
                <a:gd name="T23" fmla="*/ 22 h 1528"/>
                <a:gd name="T24" fmla="*/ 784 w 806"/>
                <a:gd name="T25" fmla="*/ 0 h 1528"/>
                <a:gd name="T26" fmla="*/ 762 w 806"/>
                <a:gd name="T27" fmla="*/ 1484 h 1528"/>
                <a:gd name="T28" fmla="*/ 44 w 806"/>
                <a:gd name="T29" fmla="*/ 1484 h 1528"/>
                <a:gd name="T30" fmla="*/ 44 w 806"/>
                <a:gd name="T31" fmla="*/ 1296 h 1528"/>
                <a:gd name="T32" fmla="*/ 762 w 806"/>
                <a:gd name="T33" fmla="*/ 1296 h 1528"/>
                <a:gd name="T34" fmla="*/ 762 w 806"/>
                <a:gd name="T35" fmla="*/ 1484 h 1528"/>
                <a:gd name="T36" fmla="*/ 44 w 806"/>
                <a:gd name="T37" fmla="*/ 1252 h 1528"/>
                <a:gd name="T38" fmla="*/ 44 w 806"/>
                <a:gd name="T39" fmla="*/ 44 h 1528"/>
                <a:gd name="T40" fmla="*/ 762 w 806"/>
                <a:gd name="T41" fmla="*/ 44 h 1528"/>
                <a:gd name="T42" fmla="*/ 762 w 806"/>
                <a:gd name="T43" fmla="*/ 1252 h 1528"/>
                <a:gd name="T44" fmla="*/ 44 w 806"/>
                <a:gd name="T45" fmla="*/ 1252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06" h="1528">
                  <a:moveTo>
                    <a:pt x="784" y="0"/>
                  </a:moveTo>
                  <a:cubicBezTo>
                    <a:pt x="22" y="0"/>
                    <a:pt x="22" y="0"/>
                    <a:pt x="22" y="0"/>
                  </a:cubicBezTo>
                  <a:cubicBezTo>
                    <a:pt x="10" y="0"/>
                    <a:pt x="0" y="10"/>
                    <a:pt x="0" y="22"/>
                  </a:cubicBezTo>
                  <a:cubicBezTo>
                    <a:pt x="0" y="1252"/>
                    <a:pt x="0" y="1252"/>
                    <a:pt x="0" y="1252"/>
                  </a:cubicBezTo>
                  <a:cubicBezTo>
                    <a:pt x="0" y="1296"/>
                    <a:pt x="0" y="1296"/>
                    <a:pt x="0" y="1296"/>
                  </a:cubicBezTo>
                  <a:cubicBezTo>
                    <a:pt x="0" y="1506"/>
                    <a:pt x="0" y="1506"/>
                    <a:pt x="0" y="1506"/>
                  </a:cubicBezTo>
                  <a:cubicBezTo>
                    <a:pt x="0" y="1518"/>
                    <a:pt x="10" y="1528"/>
                    <a:pt x="22" y="1528"/>
                  </a:cubicBezTo>
                  <a:cubicBezTo>
                    <a:pt x="784" y="1528"/>
                    <a:pt x="784" y="1528"/>
                    <a:pt x="784" y="1528"/>
                  </a:cubicBezTo>
                  <a:cubicBezTo>
                    <a:pt x="796" y="1528"/>
                    <a:pt x="806" y="1518"/>
                    <a:pt x="806" y="1506"/>
                  </a:cubicBezTo>
                  <a:cubicBezTo>
                    <a:pt x="806" y="1296"/>
                    <a:pt x="806" y="1296"/>
                    <a:pt x="806" y="1296"/>
                  </a:cubicBezTo>
                  <a:cubicBezTo>
                    <a:pt x="806" y="1252"/>
                    <a:pt x="806" y="1252"/>
                    <a:pt x="806" y="1252"/>
                  </a:cubicBezTo>
                  <a:cubicBezTo>
                    <a:pt x="806" y="22"/>
                    <a:pt x="806" y="22"/>
                    <a:pt x="806" y="22"/>
                  </a:cubicBezTo>
                  <a:cubicBezTo>
                    <a:pt x="806" y="10"/>
                    <a:pt x="796" y="0"/>
                    <a:pt x="784" y="0"/>
                  </a:cubicBezTo>
                  <a:close/>
                  <a:moveTo>
                    <a:pt x="762" y="1484"/>
                  </a:moveTo>
                  <a:cubicBezTo>
                    <a:pt x="44" y="1484"/>
                    <a:pt x="44" y="1484"/>
                    <a:pt x="44" y="1484"/>
                  </a:cubicBezTo>
                  <a:cubicBezTo>
                    <a:pt x="44" y="1296"/>
                    <a:pt x="44" y="1296"/>
                    <a:pt x="44" y="1296"/>
                  </a:cubicBezTo>
                  <a:cubicBezTo>
                    <a:pt x="762" y="1296"/>
                    <a:pt x="762" y="1296"/>
                    <a:pt x="762" y="1296"/>
                  </a:cubicBezTo>
                  <a:lnTo>
                    <a:pt x="762" y="1484"/>
                  </a:lnTo>
                  <a:close/>
                  <a:moveTo>
                    <a:pt x="44" y="1252"/>
                  </a:moveTo>
                  <a:cubicBezTo>
                    <a:pt x="44" y="44"/>
                    <a:pt x="44" y="44"/>
                    <a:pt x="44" y="44"/>
                  </a:cubicBezTo>
                  <a:cubicBezTo>
                    <a:pt x="762" y="44"/>
                    <a:pt x="762" y="44"/>
                    <a:pt x="762" y="44"/>
                  </a:cubicBezTo>
                  <a:cubicBezTo>
                    <a:pt x="762" y="1252"/>
                    <a:pt x="762" y="1252"/>
                    <a:pt x="762" y="1252"/>
                  </a:cubicBezTo>
                  <a:lnTo>
                    <a:pt x="44" y="125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icrosoft YaHei" panose="020B0503020204020204" pitchFamily="34" charset="-122"/>
                <a:cs typeface="+mn-cs"/>
              </a:endParaRPr>
            </a:p>
          </p:txBody>
        </p:sp>
        <p:sp>
          <p:nvSpPr>
            <p:cNvPr id="290" name="Freeform 16">
              <a:extLst>
                <a:ext uri="{FF2B5EF4-FFF2-40B4-BE49-F238E27FC236}">
                  <a16:creationId xmlns:a16="http://schemas.microsoft.com/office/drawing/2014/main" id="{9686836C-98FA-4BA9-914A-53B64694379E}"/>
                </a:ext>
              </a:extLst>
            </p:cNvPr>
            <p:cNvSpPr>
              <a:spLocks noEditPoints="1"/>
            </p:cNvSpPr>
            <p:nvPr/>
          </p:nvSpPr>
          <p:spPr bwMode="auto">
            <a:xfrm>
              <a:off x="3241" y="917"/>
              <a:ext cx="1195" cy="2512"/>
            </a:xfrm>
            <a:custGeom>
              <a:avLst/>
              <a:gdLst>
                <a:gd name="T0" fmla="*/ 321 w 638"/>
                <a:gd name="T1" fmla="*/ 1340 h 1340"/>
                <a:gd name="T2" fmla="*/ 263 w 638"/>
                <a:gd name="T3" fmla="*/ 1282 h 1340"/>
                <a:gd name="T4" fmla="*/ 321 w 638"/>
                <a:gd name="T5" fmla="*/ 1224 h 1340"/>
                <a:gd name="T6" fmla="*/ 379 w 638"/>
                <a:gd name="T7" fmla="*/ 1282 h 1340"/>
                <a:gd name="T8" fmla="*/ 321 w 638"/>
                <a:gd name="T9" fmla="*/ 1340 h 1340"/>
                <a:gd name="T10" fmla="*/ 638 w 638"/>
                <a:gd name="T11" fmla="*/ 1092 h 1340"/>
                <a:gd name="T12" fmla="*/ 638 w 638"/>
                <a:gd name="T13" fmla="*/ 115 h 1340"/>
                <a:gd name="T14" fmla="*/ 628 w 638"/>
                <a:gd name="T15" fmla="*/ 105 h 1340"/>
                <a:gd name="T16" fmla="*/ 10 w 638"/>
                <a:gd name="T17" fmla="*/ 105 h 1340"/>
                <a:gd name="T18" fmla="*/ 0 w 638"/>
                <a:gd name="T19" fmla="*/ 115 h 1340"/>
                <a:gd name="T20" fmla="*/ 0 w 638"/>
                <a:gd name="T21" fmla="*/ 1092 h 1340"/>
                <a:gd name="T22" fmla="*/ 10 w 638"/>
                <a:gd name="T23" fmla="*/ 1102 h 1340"/>
                <a:gd name="T24" fmla="*/ 628 w 638"/>
                <a:gd name="T25" fmla="*/ 1102 h 1340"/>
                <a:gd name="T26" fmla="*/ 638 w 638"/>
                <a:gd name="T27" fmla="*/ 1092 h 1340"/>
                <a:gd name="T28" fmla="*/ 469 w 638"/>
                <a:gd name="T29" fmla="*/ 22 h 1340"/>
                <a:gd name="T30" fmla="*/ 447 w 638"/>
                <a:gd name="T31" fmla="*/ 0 h 1340"/>
                <a:gd name="T32" fmla="*/ 195 w 638"/>
                <a:gd name="T33" fmla="*/ 0 h 1340"/>
                <a:gd name="T34" fmla="*/ 173 w 638"/>
                <a:gd name="T35" fmla="*/ 22 h 1340"/>
                <a:gd name="T36" fmla="*/ 195 w 638"/>
                <a:gd name="T37" fmla="*/ 44 h 1340"/>
                <a:gd name="T38" fmla="*/ 447 w 638"/>
                <a:gd name="T39" fmla="*/ 44 h 1340"/>
                <a:gd name="T40" fmla="*/ 469 w 638"/>
                <a:gd name="T41" fmla="*/ 22 h 1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38" h="1340">
                  <a:moveTo>
                    <a:pt x="321" y="1340"/>
                  </a:moveTo>
                  <a:cubicBezTo>
                    <a:pt x="289" y="1340"/>
                    <a:pt x="263" y="1314"/>
                    <a:pt x="263" y="1282"/>
                  </a:cubicBezTo>
                  <a:cubicBezTo>
                    <a:pt x="263" y="1250"/>
                    <a:pt x="289" y="1224"/>
                    <a:pt x="321" y="1224"/>
                  </a:cubicBezTo>
                  <a:cubicBezTo>
                    <a:pt x="353" y="1224"/>
                    <a:pt x="379" y="1250"/>
                    <a:pt x="379" y="1282"/>
                  </a:cubicBezTo>
                  <a:cubicBezTo>
                    <a:pt x="379" y="1314"/>
                    <a:pt x="353" y="1340"/>
                    <a:pt x="321" y="1340"/>
                  </a:cubicBezTo>
                  <a:close/>
                  <a:moveTo>
                    <a:pt x="638" y="1092"/>
                  </a:moveTo>
                  <a:cubicBezTo>
                    <a:pt x="638" y="115"/>
                    <a:pt x="638" y="115"/>
                    <a:pt x="638" y="115"/>
                  </a:cubicBezTo>
                  <a:cubicBezTo>
                    <a:pt x="638" y="110"/>
                    <a:pt x="634" y="105"/>
                    <a:pt x="628" y="105"/>
                  </a:cubicBezTo>
                  <a:cubicBezTo>
                    <a:pt x="10" y="105"/>
                    <a:pt x="10" y="105"/>
                    <a:pt x="10" y="105"/>
                  </a:cubicBezTo>
                  <a:cubicBezTo>
                    <a:pt x="4" y="105"/>
                    <a:pt x="0" y="110"/>
                    <a:pt x="0" y="115"/>
                  </a:cubicBezTo>
                  <a:cubicBezTo>
                    <a:pt x="0" y="1092"/>
                    <a:pt x="0" y="1092"/>
                    <a:pt x="0" y="1092"/>
                  </a:cubicBezTo>
                  <a:cubicBezTo>
                    <a:pt x="0" y="1098"/>
                    <a:pt x="4" y="1102"/>
                    <a:pt x="10" y="1102"/>
                  </a:cubicBezTo>
                  <a:cubicBezTo>
                    <a:pt x="628" y="1102"/>
                    <a:pt x="628" y="1102"/>
                    <a:pt x="628" y="1102"/>
                  </a:cubicBezTo>
                  <a:cubicBezTo>
                    <a:pt x="634" y="1102"/>
                    <a:pt x="638" y="1098"/>
                    <a:pt x="638" y="1092"/>
                  </a:cubicBezTo>
                  <a:close/>
                  <a:moveTo>
                    <a:pt x="469" y="22"/>
                  </a:moveTo>
                  <a:cubicBezTo>
                    <a:pt x="469" y="10"/>
                    <a:pt x="459" y="0"/>
                    <a:pt x="447" y="0"/>
                  </a:cubicBezTo>
                  <a:cubicBezTo>
                    <a:pt x="195" y="0"/>
                    <a:pt x="195" y="0"/>
                    <a:pt x="195" y="0"/>
                  </a:cubicBezTo>
                  <a:cubicBezTo>
                    <a:pt x="183" y="0"/>
                    <a:pt x="173" y="10"/>
                    <a:pt x="173" y="22"/>
                  </a:cubicBezTo>
                  <a:cubicBezTo>
                    <a:pt x="173" y="34"/>
                    <a:pt x="183" y="44"/>
                    <a:pt x="195" y="44"/>
                  </a:cubicBezTo>
                  <a:cubicBezTo>
                    <a:pt x="447" y="44"/>
                    <a:pt x="447" y="44"/>
                    <a:pt x="447" y="44"/>
                  </a:cubicBezTo>
                  <a:cubicBezTo>
                    <a:pt x="459" y="44"/>
                    <a:pt x="469" y="34"/>
                    <a:pt x="469" y="22"/>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icrosoft YaHei" panose="020B0503020204020204" pitchFamily="34" charset="-122"/>
                <a:cs typeface="+mn-cs"/>
              </a:endParaRPr>
            </a:p>
          </p:txBody>
        </p:sp>
      </p:grpSp>
      <p:grpSp>
        <p:nvGrpSpPr>
          <p:cNvPr id="291" name="Group 290"/>
          <p:cNvGrpSpPr>
            <a:grpSpLocks noChangeAspect="1"/>
          </p:cNvGrpSpPr>
          <p:nvPr/>
        </p:nvGrpSpPr>
        <p:grpSpPr>
          <a:xfrm>
            <a:off x="8983627" y="3365064"/>
            <a:ext cx="432000" cy="432000"/>
            <a:chOff x="5092700" y="2611438"/>
            <a:chExt cx="1646238" cy="1646237"/>
          </a:xfrm>
        </p:grpSpPr>
        <p:sp>
          <p:nvSpPr>
            <p:cNvPr id="292" name="AutoShape 3"/>
            <p:cNvSpPr>
              <a:spLocks noChangeAspect="1" noChangeArrowheads="1" noTextEdit="1"/>
            </p:cNvSpPr>
            <p:nvPr/>
          </p:nvSpPr>
          <p:spPr bwMode="auto">
            <a:xfrm>
              <a:off x="5092700" y="2611438"/>
              <a:ext cx="1646238" cy="1646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n-ea"/>
                <a:cs typeface="+mn-cs"/>
              </a:endParaRPr>
            </a:p>
          </p:txBody>
        </p:sp>
        <p:grpSp>
          <p:nvGrpSpPr>
            <p:cNvPr id="293" name="Group 292"/>
            <p:cNvGrpSpPr/>
            <p:nvPr/>
          </p:nvGrpSpPr>
          <p:grpSpPr>
            <a:xfrm>
              <a:off x="5271563" y="2741613"/>
              <a:ext cx="1286925" cy="1266824"/>
              <a:chOff x="5271563" y="2741613"/>
              <a:chExt cx="1286925" cy="1266824"/>
            </a:xfrm>
          </p:grpSpPr>
          <p:sp>
            <p:nvSpPr>
              <p:cNvPr id="294" name="Freeform 293"/>
              <p:cNvSpPr>
                <a:spLocks/>
              </p:cNvSpPr>
              <p:nvPr/>
            </p:nvSpPr>
            <p:spPr bwMode="auto">
              <a:xfrm>
                <a:off x="5271563" y="2808288"/>
                <a:ext cx="1286925" cy="1200149"/>
              </a:xfrm>
              <a:custGeom>
                <a:avLst/>
                <a:gdLst>
                  <a:gd name="connsiteX0" fmla="*/ 435004 w 1286925"/>
                  <a:gd name="connsiteY0" fmla="*/ 906462 h 1200149"/>
                  <a:gd name="connsiteX1" fmla="*/ 639529 w 1286925"/>
                  <a:gd name="connsiteY1" fmla="*/ 1072956 h 1200149"/>
                  <a:gd name="connsiteX2" fmla="*/ 648111 w 1286925"/>
                  <a:gd name="connsiteY2" fmla="*/ 1072956 h 1200149"/>
                  <a:gd name="connsiteX3" fmla="*/ 852635 w 1286925"/>
                  <a:gd name="connsiteY3" fmla="*/ 906462 h 1200149"/>
                  <a:gd name="connsiteX4" fmla="*/ 1130103 w 1286925"/>
                  <a:gd name="connsiteY4" fmla="*/ 952909 h 1200149"/>
                  <a:gd name="connsiteX5" fmla="*/ 1286000 w 1286925"/>
                  <a:gd name="connsiteY5" fmla="*/ 1178712 h 1200149"/>
                  <a:gd name="connsiteX6" fmla="*/ 1270982 w 1286925"/>
                  <a:gd name="connsiteY6" fmla="*/ 1200149 h 1200149"/>
                  <a:gd name="connsiteX7" fmla="*/ 15943 w 1286925"/>
                  <a:gd name="connsiteY7" fmla="*/ 1200149 h 1200149"/>
                  <a:gd name="connsiteX8" fmla="*/ 925 w 1286925"/>
                  <a:gd name="connsiteY8" fmla="*/ 1178712 h 1200149"/>
                  <a:gd name="connsiteX9" fmla="*/ 157537 w 1286925"/>
                  <a:gd name="connsiteY9" fmla="*/ 952909 h 1200149"/>
                  <a:gd name="connsiteX10" fmla="*/ 435004 w 1286925"/>
                  <a:gd name="connsiteY10" fmla="*/ 906462 h 1200149"/>
                  <a:gd name="connsiteX11" fmla="*/ 947827 w 1286925"/>
                  <a:gd name="connsiteY11" fmla="*/ 647700 h 1200149"/>
                  <a:gd name="connsiteX12" fmla="*/ 1030813 w 1286925"/>
                  <a:gd name="connsiteY12" fmla="*/ 824176 h 1200149"/>
                  <a:gd name="connsiteX13" fmla="*/ 864125 w 1286925"/>
                  <a:gd name="connsiteY13" fmla="*/ 883719 h 1200149"/>
                  <a:gd name="connsiteX14" fmla="*/ 864125 w 1286925"/>
                  <a:gd name="connsiteY14" fmla="*/ 821307 h 1200149"/>
                  <a:gd name="connsiteX15" fmla="*/ 924219 w 1286925"/>
                  <a:gd name="connsiteY15" fmla="*/ 703656 h 1200149"/>
                  <a:gd name="connsiteX16" fmla="*/ 947827 w 1286925"/>
                  <a:gd name="connsiteY16" fmla="*/ 647700 h 1200149"/>
                  <a:gd name="connsiteX17" fmla="*/ 339270 w 1286925"/>
                  <a:gd name="connsiteY17" fmla="*/ 647700 h 1200149"/>
                  <a:gd name="connsiteX18" fmla="*/ 364096 w 1286925"/>
                  <a:gd name="connsiteY18" fmla="*/ 704721 h 1200149"/>
                  <a:gd name="connsiteX19" fmla="*/ 424388 w 1286925"/>
                  <a:gd name="connsiteY19" fmla="*/ 820900 h 1200149"/>
                  <a:gd name="connsiteX20" fmla="*/ 424388 w 1286925"/>
                  <a:gd name="connsiteY20" fmla="*/ 882909 h 1200149"/>
                  <a:gd name="connsiteX21" fmla="*/ 257700 w 1286925"/>
                  <a:gd name="connsiteY21" fmla="*/ 823751 h 1200149"/>
                  <a:gd name="connsiteX22" fmla="*/ 339270 w 1286925"/>
                  <a:gd name="connsiteY22" fmla="*/ 647700 h 1200149"/>
                  <a:gd name="connsiteX23" fmla="*/ 642747 w 1286925"/>
                  <a:gd name="connsiteY23" fmla="*/ 0 h 1200149"/>
                  <a:gd name="connsiteX24" fmla="*/ 982472 w 1286925"/>
                  <a:gd name="connsiteY24" fmla="*/ 344092 h 1200149"/>
                  <a:gd name="connsiteX25" fmla="*/ 970313 w 1286925"/>
                  <a:gd name="connsiteY25" fmla="*/ 459982 h 1200149"/>
                  <a:gd name="connsiteX26" fmla="*/ 970313 w 1286925"/>
                  <a:gd name="connsiteY26" fmla="*/ 459266 h 1200149"/>
                  <a:gd name="connsiteX27" fmla="*/ 933122 w 1286925"/>
                  <a:gd name="connsiteY27" fmla="*/ 511488 h 1200149"/>
                  <a:gd name="connsiteX28" fmla="*/ 929546 w 1286925"/>
                  <a:gd name="connsiteY28" fmla="*/ 512919 h 1200149"/>
                  <a:gd name="connsiteX29" fmla="*/ 908090 w 1286925"/>
                  <a:gd name="connsiteY29" fmla="*/ 512919 h 1200149"/>
                  <a:gd name="connsiteX30" fmla="*/ 905944 w 1286925"/>
                  <a:gd name="connsiteY30" fmla="*/ 512204 h 1200149"/>
                  <a:gd name="connsiteX31" fmla="*/ 458937 w 1286925"/>
                  <a:gd name="connsiteY31" fmla="*/ 276847 h 1200149"/>
                  <a:gd name="connsiteX32" fmla="*/ 454646 w 1286925"/>
                  <a:gd name="connsiteY32" fmla="*/ 276847 h 1200149"/>
                  <a:gd name="connsiteX33" fmla="*/ 322332 w 1286925"/>
                  <a:gd name="connsiteY33" fmla="*/ 484304 h 1200149"/>
                  <a:gd name="connsiteX34" fmla="*/ 303737 w 1286925"/>
                  <a:gd name="connsiteY34" fmla="*/ 344092 h 1200149"/>
                  <a:gd name="connsiteX35" fmla="*/ 642747 w 1286925"/>
                  <a:gd name="connsiteY35" fmla="*/ 0 h 1200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86925" h="1200149">
                    <a:moveTo>
                      <a:pt x="435004" y="906462"/>
                    </a:moveTo>
                    <a:cubicBezTo>
                      <a:pt x="435004" y="906462"/>
                      <a:pt x="573738" y="1020793"/>
                      <a:pt x="639529" y="1072956"/>
                    </a:cubicBezTo>
                    <a:cubicBezTo>
                      <a:pt x="642390" y="1075100"/>
                      <a:pt x="645965" y="1075100"/>
                      <a:pt x="648111" y="1072956"/>
                    </a:cubicBezTo>
                    <a:cubicBezTo>
                      <a:pt x="737501" y="1001500"/>
                      <a:pt x="852635" y="906462"/>
                      <a:pt x="852635" y="906462"/>
                    </a:cubicBezTo>
                    <a:cubicBezTo>
                      <a:pt x="852635" y="906462"/>
                      <a:pt x="1032847" y="908606"/>
                      <a:pt x="1130103" y="952909"/>
                    </a:cubicBezTo>
                    <a:cubicBezTo>
                      <a:pt x="1208766" y="988637"/>
                      <a:pt x="1265976" y="1126549"/>
                      <a:pt x="1286000" y="1178712"/>
                    </a:cubicBezTo>
                    <a:cubicBezTo>
                      <a:pt x="1289575" y="1189431"/>
                      <a:pt x="1282424" y="1200149"/>
                      <a:pt x="1270982" y="1200149"/>
                    </a:cubicBezTo>
                    <a:cubicBezTo>
                      <a:pt x="1270982" y="1200149"/>
                      <a:pt x="1270982" y="1200149"/>
                      <a:pt x="15943" y="1200149"/>
                    </a:cubicBezTo>
                    <a:cubicBezTo>
                      <a:pt x="4501" y="1200149"/>
                      <a:pt x="-2650" y="1189431"/>
                      <a:pt x="925" y="1178712"/>
                    </a:cubicBezTo>
                    <a:cubicBezTo>
                      <a:pt x="20949" y="1126549"/>
                      <a:pt x="78874" y="988637"/>
                      <a:pt x="157537" y="952909"/>
                    </a:cubicBezTo>
                    <a:cubicBezTo>
                      <a:pt x="254794" y="908606"/>
                      <a:pt x="435004" y="906462"/>
                      <a:pt x="435004" y="906462"/>
                    </a:cubicBezTo>
                    <a:close/>
                    <a:moveTo>
                      <a:pt x="947827" y="647700"/>
                    </a:moveTo>
                    <a:cubicBezTo>
                      <a:pt x="950689" y="712265"/>
                      <a:pt x="957127" y="817002"/>
                      <a:pt x="1030813" y="824176"/>
                    </a:cubicBezTo>
                    <a:cubicBezTo>
                      <a:pt x="960704" y="893762"/>
                      <a:pt x="895603" y="890893"/>
                      <a:pt x="864125" y="883719"/>
                    </a:cubicBezTo>
                    <a:cubicBezTo>
                      <a:pt x="864125" y="883719"/>
                      <a:pt x="864125" y="883719"/>
                      <a:pt x="864125" y="821307"/>
                    </a:cubicBezTo>
                    <a:cubicBezTo>
                      <a:pt x="877002" y="802655"/>
                      <a:pt x="895603" y="768938"/>
                      <a:pt x="924219" y="703656"/>
                    </a:cubicBezTo>
                    <a:cubicBezTo>
                      <a:pt x="932804" y="683569"/>
                      <a:pt x="940673" y="664200"/>
                      <a:pt x="947827" y="647700"/>
                    </a:cubicBezTo>
                    <a:close/>
                    <a:moveTo>
                      <a:pt x="339270" y="647700"/>
                    </a:moveTo>
                    <a:cubicBezTo>
                      <a:pt x="347073" y="664806"/>
                      <a:pt x="355585" y="684051"/>
                      <a:pt x="364096" y="704721"/>
                    </a:cubicBezTo>
                    <a:cubicBezTo>
                      <a:pt x="392469" y="768868"/>
                      <a:pt x="411620" y="802368"/>
                      <a:pt x="424388" y="820900"/>
                    </a:cubicBezTo>
                    <a:cubicBezTo>
                      <a:pt x="424388" y="820900"/>
                      <a:pt x="424388" y="820900"/>
                      <a:pt x="424388" y="882909"/>
                    </a:cubicBezTo>
                    <a:cubicBezTo>
                      <a:pt x="391759" y="890037"/>
                      <a:pt x="327212" y="892175"/>
                      <a:pt x="257700" y="823751"/>
                    </a:cubicBezTo>
                    <a:cubicBezTo>
                      <a:pt x="331468" y="816623"/>
                      <a:pt x="336433" y="711135"/>
                      <a:pt x="339270" y="647700"/>
                    </a:cubicBezTo>
                    <a:close/>
                    <a:moveTo>
                      <a:pt x="642747" y="0"/>
                    </a:moveTo>
                    <a:cubicBezTo>
                      <a:pt x="835138" y="0"/>
                      <a:pt x="982472" y="154519"/>
                      <a:pt x="982472" y="344092"/>
                    </a:cubicBezTo>
                    <a:cubicBezTo>
                      <a:pt x="982472" y="384868"/>
                      <a:pt x="983187" y="423498"/>
                      <a:pt x="970313" y="459982"/>
                    </a:cubicBezTo>
                    <a:cubicBezTo>
                      <a:pt x="970313" y="459982"/>
                      <a:pt x="970313" y="459982"/>
                      <a:pt x="970313" y="459266"/>
                    </a:cubicBezTo>
                    <a:cubicBezTo>
                      <a:pt x="969598" y="459982"/>
                      <a:pt x="963877" y="476435"/>
                      <a:pt x="933122" y="511488"/>
                    </a:cubicBezTo>
                    <a:cubicBezTo>
                      <a:pt x="932407" y="512204"/>
                      <a:pt x="930977" y="512919"/>
                      <a:pt x="929546" y="512919"/>
                    </a:cubicBezTo>
                    <a:cubicBezTo>
                      <a:pt x="929546" y="512919"/>
                      <a:pt x="929546" y="512919"/>
                      <a:pt x="908090" y="512919"/>
                    </a:cubicBezTo>
                    <a:cubicBezTo>
                      <a:pt x="907375" y="512919"/>
                      <a:pt x="906660" y="512919"/>
                      <a:pt x="905944" y="512204"/>
                    </a:cubicBezTo>
                    <a:cubicBezTo>
                      <a:pt x="905944" y="512204"/>
                      <a:pt x="905944" y="512204"/>
                      <a:pt x="458937" y="276847"/>
                    </a:cubicBezTo>
                    <a:cubicBezTo>
                      <a:pt x="457507" y="276132"/>
                      <a:pt x="456077" y="276132"/>
                      <a:pt x="454646" y="276847"/>
                    </a:cubicBezTo>
                    <a:cubicBezTo>
                      <a:pt x="355232" y="309754"/>
                      <a:pt x="355947" y="514350"/>
                      <a:pt x="322332" y="484304"/>
                    </a:cubicBezTo>
                    <a:cubicBezTo>
                      <a:pt x="308743" y="446390"/>
                      <a:pt x="303737" y="386299"/>
                      <a:pt x="303737" y="344092"/>
                    </a:cubicBezTo>
                    <a:cubicBezTo>
                      <a:pt x="303737" y="154519"/>
                      <a:pt x="451070" y="0"/>
                      <a:pt x="642747" y="0"/>
                    </a:cubicBezTo>
                    <a:close/>
                  </a:path>
                </a:pathLst>
              </a:custGeom>
              <a:solidFill>
                <a:schemeClr val="tx2"/>
              </a:solid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icrosoft YaHei" panose="020B0503020204020204" pitchFamily="34" charset="-122"/>
                  <a:cs typeface="+mn-cs"/>
                </a:endParaRPr>
              </a:p>
            </p:txBody>
          </p:sp>
          <p:sp>
            <p:nvSpPr>
              <p:cNvPr id="295" name="Freeform 9"/>
              <p:cNvSpPr>
                <a:spLocks/>
              </p:cNvSpPr>
              <p:nvPr/>
            </p:nvSpPr>
            <p:spPr bwMode="auto">
              <a:xfrm>
                <a:off x="5486400" y="2741613"/>
                <a:ext cx="858838" cy="981075"/>
              </a:xfrm>
              <a:custGeom>
                <a:avLst/>
                <a:gdLst>
                  <a:gd name="T0" fmla="*/ 1181 w 1204"/>
                  <a:gd name="T1" fmla="*/ 478 h 1374"/>
                  <a:gd name="T2" fmla="*/ 1156 w 1204"/>
                  <a:gd name="T3" fmla="*/ 478 h 1374"/>
                  <a:gd name="T4" fmla="*/ 602 w 1204"/>
                  <a:gd name="T5" fmla="*/ 0 h 1374"/>
                  <a:gd name="T6" fmla="*/ 48 w 1204"/>
                  <a:gd name="T7" fmla="*/ 478 h 1374"/>
                  <a:gd name="T8" fmla="*/ 23 w 1204"/>
                  <a:gd name="T9" fmla="*/ 478 h 1374"/>
                  <a:gd name="T10" fmla="*/ 0 w 1204"/>
                  <a:gd name="T11" fmla="*/ 501 h 1374"/>
                  <a:gd name="T12" fmla="*/ 0 w 1204"/>
                  <a:gd name="T13" fmla="*/ 807 h 1374"/>
                  <a:gd name="T14" fmla="*/ 23 w 1204"/>
                  <a:gd name="T15" fmla="*/ 830 h 1374"/>
                  <a:gd name="T16" fmla="*/ 63 w 1204"/>
                  <a:gd name="T17" fmla="*/ 830 h 1374"/>
                  <a:gd name="T18" fmla="*/ 83 w 1204"/>
                  <a:gd name="T19" fmla="*/ 818 h 1374"/>
                  <a:gd name="T20" fmla="*/ 241 w 1204"/>
                  <a:gd name="T21" fmla="*/ 1039 h 1374"/>
                  <a:gd name="T22" fmla="*/ 338 w 1204"/>
                  <a:gd name="T23" fmla="*/ 1228 h 1374"/>
                  <a:gd name="T24" fmla="*/ 338 w 1204"/>
                  <a:gd name="T25" fmla="*/ 1325 h 1374"/>
                  <a:gd name="T26" fmla="*/ 345 w 1204"/>
                  <a:gd name="T27" fmla="*/ 1335 h 1374"/>
                  <a:gd name="T28" fmla="*/ 382 w 1204"/>
                  <a:gd name="T29" fmla="*/ 1374 h 1374"/>
                  <a:gd name="T30" fmla="*/ 382 w 1204"/>
                  <a:gd name="T31" fmla="*/ 1265 h 1374"/>
                  <a:gd name="T32" fmla="*/ 602 w 1204"/>
                  <a:gd name="T33" fmla="*/ 1361 h 1374"/>
                  <a:gd name="T34" fmla="*/ 822 w 1204"/>
                  <a:gd name="T35" fmla="*/ 1265 h 1374"/>
                  <a:gd name="T36" fmla="*/ 822 w 1204"/>
                  <a:gd name="T37" fmla="*/ 1374 h 1374"/>
                  <a:gd name="T38" fmla="*/ 859 w 1204"/>
                  <a:gd name="T39" fmla="*/ 1335 h 1374"/>
                  <a:gd name="T40" fmla="*/ 866 w 1204"/>
                  <a:gd name="T41" fmla="*/ 1325 h 1374"/>
                  <a:gd name="T42" fmla="*/ 866 w 1204"/>
                  <a:gd name="T43" fmla="*/ 1228 h 1374"/>
                  <a:gd name="T44" fmla="*/ 1010 w 1204"/>
                  <a:gd name="T45" fmla="*/ 926 h 1374"/>
                  <a:gd name="T46" fmla="*/ 1079 w 1204"/>
                  <a:gd name="T47" fmla="*/ 816 h 1374"/>
                  <a:gd name="T48" fmla="*/ 1079 w 1204"/>
                  <a:gd name="T49" fmla="*/ 813 h 1374"/>
                  <a:gd name="T50" fmla="*/ 1028 w 1204"/>
                  <a:gd name="T51" fmla="*/ 838 h 1374"/>
                  <a:gd name="T52" fmla="*/ 982 w 1204"/>
                  <a:gd name="T53" fmla="*/ 891 h 1374"/>
                  <a:gd name="T54" fmla="*/ 972 w 1204"/>
                  <a:gd name="T55" fmla="*/ 902 h 1374"/>
                  <a:gd name="T56" fmla="*/ 828 w 1204"/>
                  <a:gd name="T57" fmla="*/ 1204 h 1374"/>
                  <a:gd name="T58" fmla="*/ 602 w 1204"/>
                  <a:gd name="T59" fmla="*/ 1317 h 1374"/>
                  <a:gd name="T60" fmla="*/ 376 w 1204"/>
                  <a:gd name="T61" fmla="*/ 1204 h 1374"/>
                  <a:gd name="T62" fmla="*/ 314 w 1204"/>
                  <a:gd name="T63" fmla="*/ 1093 h 1374"/>
                  <a:gd name="T64" fmla="*/ 509 w 1204"/>
                  <a:gd name="T65" fmla="*/ 1168 h 1374"/>
                  <a:gd name="T66" fmla="*/ 602 w 1204"/>
                  <a:gd name="T67" fmla="*/ 1216 h 1374"/>
                  <a:gd name="T68" fmla="*/ 695 w 1204"/>
                  <a:gd name="T69" fmla="*/ 1168 h 1374"/>
                  <a:gd name="T70" fmla="*/ 700 w 1204"/>
                  <a:gd name="T71" fmla="*/ 1147 h 1374"/>
                  <a:gd name="T72" fmla="*/ 693 w 1204"/>
                  <a:gd name="T73" fmla="*/ 1122 h 1374"/>
                  <a:gd name="T74" fmla="*/ 602 w 1204"/>
                  <a:gd name="T75" fmla="*/ 1078 h 1374"/>
                  <a:gd name="T76" fmla="*/ 511 w 1204"/>
                  <a:gd name="T77" fmla="*/ 1122 h 1374"/>
                  <a:gd name="T78" fmla="*/ 276 w 1204"/>
                  <a:gd name="T79" fmla="*/ 1009 h 1374"/>
                  <a:gd name="T80" fmla="*/ 133 w 1204"/>
                  <a:gd name="T81" fmla="*/ 817 h 1374"/>
                  <a:gd name="T82" fmla="*/ 86 w 1204"/>
                  <a:gd name="T83" fmla="*/ 632 h 1374"/>
                  <a:gd name="T84" fmla="*/ 84 w 1204"/>
                  <a:gd name="T85" fmla="*/ 588 h 1374"/>
                  <a:gd name="T86" fmla="*/ 86 w 1204"/>
                  <a:gd name="T87" fmla="*/ 543 h 1374"/>
                  <a:gd name="T88" fmla="*/ 602 w 1204"/>
                  <a:gd name="T89" fmla="*/ 46 h 1374"/>
                  <a:gd name="T90" fmla="*/ 1118 w 1204"/>
                  <a:gd name="T91" fmla="*/ 543 h 1374"/>
                  <a:gd name="T92" fmla="*/ 1118 w 1204"/>
                  <a:gd name="T93" fmla="*/ 807 h 1374"/>
                  <a:gd name="T94" fmla="*/ 1121 w 1204"/>
                  <a:gd name="T95" fmla="*/ 818 h 1374"/>
                  <a:gd name="T96" fmla="*/ 1141 w 1204"/>
                  <a:gd name="T97" fmla="*/ 830 h 1374"/>
                  <a:gd name="T98" fmla="*/ 1181 w 1204"/>
                  <a:gd name="T99" fmla="*/ 830 h 1374"/>
                  <a:gd name="T100" fmla="*/ 1204 w 1204"/>
                  <a:gd name="T101" fmla="*/ 807 h 1374"/>
                  <a:gd name="T102" fmla="*/ 1204 w 1204"/>
                  <a:gd name="T103" fmla="*/ 501 h 1374"/>
                  <a:gd name="T104" fmla="*/ 1181 w 1204"/>
                  <a:gd name="T105" fmla="*/ 478 h 1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4" h="1374">
                    <a:moveTo>
                      <a:pt x="1181" y="478"/>
                    </a:moveTo>
                    <a:cubicBezTo>
                      <a:pt x="1181" y="478"/>
                      <a:pt x="1181" y="478"/>
                      <a:pt x="1156" y="478"/>
                    </a:cubicBezTo>
                    <a:cubicBezTo>
                      <a:pt x="1106" y="206"/>
                      <a:pt x="877" y="0"/>
                      <a:pt x="602" y="0"/>
                    </a:cubicBezTo>
                    <a:cubicBezTo>
                      <a:pt x="327" y="0"/>
                      <a:pt x="98" y="206"/>
                      <a:pt x="48" y="478"/>
                    </a:cubicBezTo>
                    <a:cubicBezTo>
                      <a:pt x="48" y="478"/>
                      <a:pt x="48" y="478"/>
                      <a:pt x="23" y="478"/>
                    </a:cubicBezTo>
                    <a:cubicBezTo>
                      <a:pt x="11" y="478"/>
                      <a:pt x="0" y="488"/>
                      <a:pt x="0" y="501"/>
                    </a:cubicBezTo>
                    <a:cubicBezTo>
                      <a:pt x="0" y="501"/>
                      <a:pt x="0" y="501"/>
                      <a:pt x="0" y="807"/>
                    </a:cubicBezTo>
                    <a:cubicBezTo>
                      <a:pt x="0" y="819"/>
                      <a:pt x="11" y="830"/>
                      <a:pt x="23" y="830"/>
                    </a:cubicBezTo>
                    <a:cubicBezTo>
                      <a:pt x="23" y="830"/>
                      <a:pt x="23" y="830"/>
                      <a:pt x="63" y="830"/>
                    </a:cubicBezTo>
                    <a:cubicBezTo>
                      <a:pt x="72" y="830"/>
                      <a:pt x="79" y="825"/>
                      <a:pt x="83" y="818"/>
                    </a:cubicBezTo>
                    <a:cubicBezTo>
                      <a:pt x="119" y="904"/>
                      <a:pt x="173" y="980"/>
                      <a:pt x="241" y="1039"/>
                    </a:cubicBezTo>
                    <a:cubicBezTo>
                      <a:pt x="272" y="1112"/>
                      <a:pt x="311" y="1194"/>
                      <a:pt x="338" y="1228"/>
                    </a:cubicBezTo>
                    <a:cubicBezTo>
                      <a:pt x="338" y="1228"/>
                      <a:pt x="338" y="1228"/>
                      <a:pt x="338" y="1325"/>
                    </a:cubicBezTo>
                    <a:cubicBezTo>
                      <a:pt x="338" y="1325"/>
                      <a:pt x="338" y="1325"/>
                      <a:pt x="345" y="1335"/>
                    </a:cubicBezTo>
                    <a:cubicBezTo>
                      <a:pt x="347" y="1337"/>
                      <a:pt x="359" y="1353"/>
                      <a:pt x="382" y="1374"/>
                    </a:cubicBezTo>
                    <a:cubicBezTo>
                      <a:pt x="382" y="1374"/>
                      <a:pt x="382" y="1374"/>
                      <a:pt x="382" y="1265"/>
                    </a:cubicBezTo>
                    <a:cubicBezTo>
                      <a:pt x="441" y="1308"/>
                      <a:pt x="537" y="1361"/>
                      <a:pt x="602" y="1361"/>
                    </a:cubicBezTo>
                    <a:cubicBezTo>
                      <a:pt x="667" y="1361"/>
                      <a:pt x="763" y="1308"/>
                      <a:pt x="822" y="1265"/>
                    </a:cubicBezTo>
                    <a:cubicBezTo>
                      <a:pt x="822" y="1265"/>
                      <a:pt x="822" y="1265"/>
                      <a:pt x="822" y="1374"/>
                    </a:cubicBezTo>
                    <a:cubicBezTo>
                      <a:pt x="845" y="1353"/>
                      <a:pt x="857" y="1337"/>
                      <a:pt x="859" y="1335"/>
                    </a:cubicBezTo>
                    <a:cubicBezTo>
                      <a:pt x="859" y="1335"/>
                      <a:pt x="859" y="1335"/>
                      <a:pt x="866" y="1325"/>
                    </a:cubicBezTo>
                    <a:cubicBezTo>
                      <a:pt x="866" y="1325"/>
                      <a:pt x="866" y="1325"/>
                      <a:pt x="866" y="1228"/>
                    </a:cubicBezTo>
                    <a:cubicBezTo>
                      <a:pt x="911" y="1172"/>
                      <a:pt x="988" y="981"/>
                      <a:pt x="1010" y="926"/>
                    </a:cubicBezTo>
                    <a:cubicBezTo>
                      <a:pt x="1062" y="895"/>
                      <a:pt x="1076" y="839"/>
                      <a:pt x="1079" y="816"/>
                    </a:cubicBezTo>
                    <a:cubicBezTo>
                      <a:pt x="1079" y="815"/>
                      <a:pt x="1079" y="814"/>
                      <a:pt x="1079" y="813"/>
                    </a:cubicBezTo>
                    <a:cubicBezTo>
                      <a:pt x="1079" y="813"/>
                      <a:pt x="1079" y="813"/>
                      <a:pt x="1028" y="838"/>
                    </a:cubicBezTo>
                    <a:cubicBezTo>
                      <a:pt x="1021" y="857"/>
                      <a:pt x="1007" y="878"/>
                      <a:pt x="982" y="891"/>
                    </a:cubicBezTo>
                    <a:cubicBezTo>
                      <a:pt x="977" y="893"/>
                      <a:pt x="973" y="897"/>
                      <a:pt x="972" y="902"/>
                    </a:cubicBezTo>
                    <a:cubicBezTo>
                      <a:pt x="931" y="1005"/>
                      <a:pt x="856" y="1179"/>
                      <a:pt x="828" y="1204"/>
                    </a:cubicBezTo>
                    <a:cubicBezTo>
                      <a:pt x="783" y="1244"/>
                      <a:pt x="667" y="1317"/>
                      <a:pt x="602" y="1317"/>
                    </a:cubicBezTo>
                    <a:cubicBezTo>
                      <a:pt x="537" y="1317"/>
                      <a:pt x="421" y="1244"/>
                      <a:pt x="376" y="1204"/>
                    </a:cubicBezTo>
                    <a:cubicBezTo>
                      <a:pt x="363" y="1192"/>
                      <a:pt x="339" y="1148"/>
                      <a:pt x="314" y="1093"/>
                    </a:cubicBezTo>
                    <a:cubicBezTo>
                      <a:pt x="373" y="1130"/>
                      <a:pt x="439" y="1156"/>
                      <a:pt x="509" y="1168"/>
                    </a:cubicBezTo>
                    <a:cubicBezTo>
                      <a:pt x="521" y="1196"/>
                      <a:pt x="558" y="1216"/>
                      <a:pt x="602" y="1216"/>
                    </a:cubicBezTo>
                    <a:cubicBezTo>
                      <a:pt x="646" y="1216"/>
                      <a:pt x="683" y="1196"/>
                      <a:pt x="695" y="1168"/>
                    </a:cubicBezTo>
                    <a:cubicBezTo>
                      <a:pt x="698" y="1161"/>
                      <a:pt x="700" y="1154"/>
                      <a:pt x="700" y="1147"/>
                    </a:cubicBezTo>
                    <a:cubicBezTo>
                      <a:pt x="700" y="1138"/>
                      <a:pt x="698" y="1130"/>
                      <a:pt x="693" y="1122"/>
                    </a:cubicBezTo>
                    <a:cubicBezTo>
                      <a:pt x="679" y="1096"/>
                      <a:pt x="644" y="1078"/>
                      <a:pt x="602" y="1078"/>
                    </a:cubicBezTo>
                    <a:cubicBezTo>
                      <a:pt x="560" y="1078"/>
                      <a:pt x="525" y="1096"/>
                      <a:pt x="511" y="1122"/>
                    </a:cubicBezTo>
                    <a:cubicBezTo>
                      <a:pt x="423" y="1105"/>
                      <a:pt x="343" y="1066"/>
                      <a:pt x="276" y="1009"/>
                    </a:cubicBezTo>
                    <a:cubicBezTo>
                      <a:pt x="216" y="957"/>
                      <a:pt x="166" y="892"/>
                      <a:pt x="133" y="817"/>
                    </a:cubicBezTo>
                    <a:cubicBezTo>
                      <a:pt x="108" y="760"/>
                      <a:pt x="91" y="698"/>
                      <a:pt x="86" y="632"/>
                    </a:cubicBezTo>
                    <a:cubicBezTo>
                      <a:pt x="85" y="618"/>
                      <a:pt x="84" y="603"/>
                      <a:pt x="84" y="588"/>
                    </a:cubicBezTo>
                    <a:cubicBezTo>
                      <a:pt x="84" y="573"/>
                      <a:pt x="85" y="558"/>
                      <a:pt x="86" y="543"/>
                    </a:cubicBezTo>
                    <a:cubicBezTo>
                      <a:pt x="108" y="265"/>
                      <a:pt x="331" y="46"/>
                      <a:pt x="602" y="46"/>
                    </a:cubicBezTo>
                    <a:cubicBezTo>
                      <a:pt x="873" y="46"/>
                      <a:pt x="1096" y="265"/>
                      <a:pt x="1118" y="543"/>
                    </a:cubicBezTo>
                    <a:cubicBezTo>
                      <a:pt x="1119" y="558"/>
                      <a:pt x="1118" y="807"/>
                      <a:pt x="1118" y="807"/>
                    </a:cubicBezTo>
                    <a:cubicBezTo>
                      <a:pt x="1118" y="811"/>
                      <a:pt x="1119" y="814"/>
                      <a:pt x="1121" y="818"/>
                    </a:cubicBezTo>
                    <a:cubicBezTo>
                      <a:pt x="1125" y="825"/>
                      <a:pt x="1132" y="830"/>
                      <a:pt x="1141" y="830"/>
                    </a:cubicBezTo>
                    <a:cubicBezTo>
                      <a:pt x="1141" y="830"/>
                      <a:pt x="1141" y="830"/>
                      <a:pt x="1181" y="830"/>
                    </a:cubicBezTo>
                    <a:cubicBezTo>
                      <a:pt x="1193" y="830"/>
                      <a:pt x="1204" y="819"/>
                      <a:pt x="1204" y="807"/>
                    </a:cubicBezTo>
                    <a:cubicBezTo>
                      <a:pt x="1204" y="807"/>
                      <a:pt x="1204" y="807"/>
                      <a:pt x="1204" y="501"/>
                    </a:cubicBezTo>
                    <a:cubicBezTo>
                      <a:pt x="1204" y="488"/>
                      <a:pt x="1193" y="478"/>
                      <a:pt x="1181" y="47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icrosoft YaHei" panose="020B0503020204020204" pitchFamily="34" charset="-122"/>
                  <a:cs typeface="+mn-cs"/>
                </a:endParaRPr>
              </a:p>
            </p:txBody>
          </p:sp>
        </p:grpSp>
      </p:grpSp>
      <p:grpSp>
        <p:nvGrpSpPr>
          <p:cNvPr id="296" name="bcgIcons_Email">
            <a:extLst>
              <a:ext uri="{FF2B5EF4-FFF2-40B4-BE49-F238E27FC236}">
                <a16:creationId xmlns:a16="http://schemas.microsoft.com/office/drawing/2014/main" id="{14E48010-362D-4F7B-81F1-B234BC46F8C6}"/>
              </a:ext>
            </a:extLst>
          </p:cNvPr>
          <p:cNvGrpSpPr>
            <a:grpSpLocks noChangeAspect="1"/>
          </p:cNvGrpSpPr>
          <p:nvPr/>
        </p:nvGrpSpPr>
        <p:grpSpPr bwMode="auto">
          <a:xfrm>
            <a:off x="8642624" y="2999336"/>
            <a:ext cx="431600" cy="432000"/>
            <a:chOff x="1682" y="0"/>
            <a:chExt cx="4316" cy="4320"/>
          </a:xfrm>
        </p:grpSpPr>
        <p:sp>
          <p:nvSpPr>
            <p:cNvPr id="297" name="AutoShape 13">
              <a:extLst>
                <a:ext uri="{FF2B5EF4-FFF2-40B4-BE49-F238E27FC236}">
                  <a16:creationId xmlns:a16="http://schemas.microsoft.com/office/drawing/2014/main" id="{4E99E364-E4F7-4087-BAC7-4C5CC78052CA}"/>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n-ea"/>
                <a:cs typeface="+mn-cs"/>
              </a:endParaRPr>
            </a:p>
          </p:txBody>
        </p:sp>
        <p:sp>
          <p:nvSpPr>
            <p:cNvPr id="298" name="Freeform 15">
              <a:extLst>
                <a:ext uri="{FF2B5EF4-FFF2-40B4-BE49-F238E27FC236}">
                  <a16:creationId xmlns:a16="http://schemas.microsoft.com/office/drawing/2014/main" id="{77D4DAC2-2D63-437A-9EE1-56FD5AE0604C}"/>
                </a:ext>
              </a:extLst>
            </p:cNvPr>
            <p:cNvSpPr>
              <a:spLocks noEditPoints="1"/>
            </p:cNvSpPr>
            <p:nvPr/>
          </p:nvSpPr>
          <p:spPr bwMode="auto">
            <a:xfrm>
              <a:off x="2446" y="1155"/>
              <a:ext cx="2788" cy="2010"/>
            </a:xfrm>
            <a:custGeom>
              <a:avLst/>
              <a:gdLst>
                <a:gd name="T0" fmla="*/ 1488 w 1488"/>
                <a:gd name="T1" fmla="*/ 65 h 1072"/>
                <a:gd name="T2" fmla="*/ 1488 w 1488"/>
                <a:gd name="T3" fmla="*/ 1050 h 1072"/>
                <a:gd name="T4" fmla="*/ 1477 w 1488"/>
                <a:gd name="T5" fmla="*/ 1055 h 1072"/>
                <a:gd name="T6" fmla="*/ 978 w 1488"/>
                <a:gd name="T7" fmla="*/ 494 h 1072"/>
                <a:gd name="T8" fmla="*/ 978 w 1488"/>
                <a:gd name="T9" fmla="*/ 484 h 1072"/>
                <a:gd name="T10" fmla="*/ 1488 w 1488"/>
                <a:gd name="T11" fmla="*/ 65 h 1072"/>
                <a:gd name="T12" fmla="*/ 1488 w 1488"/>
                <a:gd name="T13" fmla="*/ 65 h 1072"/>
                <a:gd name="T14" fmla="*/ 0 w 1488"/>
                <a:gd name="T15" fmla="*/ 65 h 1072"/>
                <a:gd name="T16" fmla="*/ 0 w 1488"/>
                <a:gd name="T17" fmla="*/ 1050 h 1072"/>
                <a:gd name="T18" fmla="*/ 11 w 1488"/>
                <a:gd name="T19" fmla="*/ 1055 h 1072"/>
                <a:gd name="T20" fmla="*/ 510 w 1488"/>
                <a:gd name="T21" fmla="*/ 494 h 1072"/>
                <a:gd name="T22" fmla="*/ 510 w 1488"/>
                <a:gd name="T23" fmla="*/ 484 h 1072"/>
                <a:gd name="T24" fmla="*/ 0 w 1488"/>
                <a:gd name="T25" fmla="*/ 65 h 1072"/>
                <a:gd name="T26" fmla="*/ 0 w 1488"/>
                <a:gd name="T27" fmla="*/ 65 h 1072"/>
                <a:gd name="T28" fmla="*/ 1399 w 1488"/>
                <a:gd name="T29" fmla="*/ 1072 h 1072"/>
                <a:gd name="T30" fmla="*/ 1399 w 1488"/>
                <a:gd name="T31" fmla="*/ 1072 h 1072"/>
                <a:gd name="T32" fmla="*/ 934 w 1488"/>
                <a:gd name="T33" fmla="*/ 546 h 1072"/>
                <a:gd name="T34" fmla="*/ 925 w 1488"/>
                <a:gd name="T35" fmla="*/ 545 h 1072"/>
                <a:gd name="T36" fmla="*/ 750 w 1488"/>
                <a:gd name="T37" fmla="*/ 701 h 1072"/>
                <a:gd name="T38" fmla="*/ 742 w 1488"/>
                <a:gd name="T39" fmla="*/ 701 h 1072"/>
                <a:gd name="T40" fmla="*/ 566 w 1488"/>
                <a:gd name="T41" fmla="*/ 545 h 1072"/>
                <a:gd name="T42" fmla="*/ 558 w 1488"/>
                <a:gd name="T43" fmla="*/ 546 h 1072"/>
                <a:gd name="T44" fmla="*/ 90 w 1488"/>
                <a:gd name="T45" fmla="*/ 1061 h 1072"/>
                <a:gd name="T46" fmla="*/ 95 w 1488"/>
                <a:gd name="T47" fmla="*/ 1072 h 1072"/>
                <a:gd name="T48" fmla="*/ 1399 w 1488"/>
                <a:gd name="T49" fmla="*/ 1072 h 1072"/>
                <a:gd name="T50" fmla="*/ 1399 w 1488"/>
                <a:gd name="T51" fmla="*/ 1072 h 1072"/>
                <a:gd name="T52" fmla="*/ 1461 w 1488"/>
                <a:gd name="T53" fmla="*/ 0 h 1072"/>
                <a:gd name="T54" fmla="*/ 27 w 1488"/>
                <a:gd name="T55" fmla="*/ 0 h 1072"/>
                <a:gd name="T56" fmla="*/ 23 w 1488"/>
                <a:gd name="T57" fmla="*/ 11 h 1072"/>
                <a:gd name="T58" fmla="*/ 738 w 1488"/>
                <a:gd name="T59" fmla="*/ 605 h 1072"/>
                <a:gd name="T60" fmla="*/ 746 w 1488"/>
                <a:gd name="T61" fmla="*/ 605 h 1072"/>
                <a:gd name="T62" fmla="*/ 1465 w 1488"/>
                <a:gd name="T63" fmla="*/ 11 h 1072"/>
                <a:gd name="T64" fmla="*/ 1461 w 1488"/>
                <a:gd name="T65" fmla="*/ 0 h 1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88" h="1072">
                  <a:moveTo>
                    <a:pt x="1488" y="65"/>
                  </a:moveTo>
                  <a:cubicBezTo>
                    <a:pt x="1488" y="1050"/>
                    <a:pt x="1488" y="1050"/>
                    <a:pt x="1488" y="1050"/>
                  </a:cubicBezTo>
                  <a:cubicBezTo>
                    <a:pt x="1488" y="1056"/>
                    <a:pt x="1481" y="1059"/>
                    <a:pt x="1477" y="1055"/>
                  </a:cubicBezTo>
                  <a:cubicBezTo>
                    <a:pt x="978" y="494"/>
                    <a:pt x="978" y="494"/>
                    <a:pt x="978" y="494"/>
                  </a:cubicBezTo>
                  <a:cubicBezTo>
                    <a:pt x="975" y="491"/>
                    <a:pt x="976" y="487"/>
                    <a:pt x="978" y="484"/>
                  </a:cubicBezTo>
                  <a:cubicBezTo>
                    <a:pt x="1488" y="65"/>
                    <a:pt x="1488" y="65"/>
                    <a:pt x="1488" y="65"/>
                  </a:cubicBezTo>
                  <a:cubicBezTo>
                    <a:pt x="1488" y="65"/>
                    <a:pt x="1488" y="65"/>
                    <a:pt x="1488" y="65"/>
                  </a:cubicBezTo>
                  <a:close/>
                  <a:moveTo>
                    <a:pt x="0" y="65"/>
                  </a:moveTo>
                  <a:cubicBezTo>
                    <a:pt x="0" y="1050"/>
                    <a:pt x="0" y="1050"/>
                    <a:pt x="0" y="1050"/>
                  </a:cubicBezTo>
                  <a:cubicBezTo>
                    <a:pt x="0" y="1056"/>
                    <a:pt x="7" y="1059"/>
                    <a:pt x="11" y="1055"/>
                  </a:cubicBezTo>
                  <a:cubicBezTo>
                    <a:pt x="510" y="494"/>
                    <a:pt x="510" y="494"/>
                    <a:pt x="510" y="494"/>
                  </a:cubicBezTo>
                  <a:cubicBezTo>
                    <a:pt x="513" y="491"/>
                    <a:pt x="512" y="487"/>
                    <a:pt x="510" y="484"/>
                  </a:cubicBezTo>
                  <a:cubicBezTo>
                    <a:pt x="0" y="65"/>
                    <a:pt x="0" y="65"/>
                    <a:pt x="0" y="65"/>
                  </a:cubicBezTo>
                  <a:cubicBezTo>
                    <a:pt x="0" y="65"/>
                    <a:pt x="0" y="65"/>
                    <a:pt x="0" y="65"/>
                  </a:cubicBezTo>
                  <a:close/>
                  <a:moveTo>
                    <a:pt x="1399" y="1072"/>
                  </a:moveTo>
                  <a:cubicBezTo>
                    <a:pt x="1399" y="1072"/>
                    <a:pt x="1399" y="1072"/>
                    <a:pt x="1399" y="1072"/>
                  </a:cubicBezTo>
                  <a:cubicBezTo>
                    <a:pt x="934" y="546"/>
                    <a:pt x="934" y="546"/>
                    <a:pt x="934" y="546"/>
                  </a:cubicBezTo>
                  <a:cubicBezTo>
                    <a:pt x="931" y="543"/>
                    <a:pt x="928" y="542"/>
                    <a:pt x="925" y="545"/>
                  </a:cubicBezTo>
                  <a:cubicBezTo>
                    <a:pt x="750" y="701"/>
                    <a:pt x="750" y="701"/>
                    <a:pt x="750" y="701"/>
                  </a:cubicBezTo>
                  <a:cubicBezTo>
                    <a:pt x="748" y="703"/>
                    <a:pt x="744" y="703"/>
                    <a:pt x="742" y="701"/>
                  </a:cubicBezTo>
                  <a:cubicBezTo>
                    <a:pt x="566" y="545"/>
                    <a:pt x="566" y="545"/>
                    <a:pt x="566" y="545"/>
                  </a:cubicBezTo>
                  <a:cubicBezTo>
                    <a:pt x="564" y="542"/>
                    <a:pt x="560" y="542"/>
                    <a:pt x="558" y="546"/>
                  </a:cubicBezTo>
                  <a:cubicBezTo>
                    <a:pt x="90" y="1061"/>
                    <a:pt x="90" y="1061"/>
                    <a:pt x="90" y="1061"/>
                  </a:cubicBezTo>
                  <a:cubicBezTo>
                    <a:pt x="86" y="1065"/>
                    <a:pt x="89" y="1072"/>
                    <a:pt x="95" y="1072"/>
                  </a:cubicBezTo>
                  <a:cubicBezTo>
                    <a:pt x="1399" y="1072"/>
                    <a:pt x="1399" y="1072"/>
                    <a:pt x="1399" y="1072"/>
                  </a:cubicBezTo>
                  <a:cubicBezTo>
                    <a:pt x="1399" y="1072"/>
                    <a:pt x="1399" y="1072"/>
                    <a:pt x="1399" y="1072"/>
                  </a:cubicBezTo>
                  <a:close/>
                  <a:moveTo>
                    <a:pt x="1461" y="0"/>
                  </a:moveTo>
                  <a:cubicBezTo>
                    <a:pt x="27" y="0"/>
                    <a:pt x="27" y="0"/>
                    <a:pt x="27" y="0"/>
                  </a:cubicBezTo>
                  <a:cubicBezTo>
                    <a:pt x="21" y="0"/>
                    <a:pt x="19" y="8"/>
                    <a:pt x="23" y="11"/>
                  </a:cubicBezTo>
                  <a:cubicBezTo>
                    <a:pt x="738" y="605"/>
                    <a:pt x="738" y="605"/>
                    <a:pt x="738" y="605"/>
                  </a:cubicBezTo>
                  <a:cubicBezTo>
                    <a:pt x="740" y="607"/>
                    <a:pt x="743" y="607"/>
                    <a:pt x="746" y="605"/>
                  </a:cubicBezTo>
                  <a:cubicBezTo>
                    <a:pt x="1465" y="11"/>
                    <a:pt x="1465" y="11"/>
                    <a:pt x="1465" y="11"/>
                  </a:cubicBezTo>
                  <a:cubicBezTo>
                    <a:pt x="1469" y="8"/>
                    <a:pt x="1466" y="0"/>
                    <a:pt x="1461"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icrosoft YaHei" panose="020B0503020204020204" pitchFamily="34" charset="-122"/>
                <a:cs typeface="+mn-cs"/>
              </a:endParaRPr>
            </a:p>
          </p:txBody>
        </p:sp>
        <p:sp>
          <p:nvSpPr>
            <p:cNvPr id="299" name="Freeform 16">
              <a:extLst>
                <a:ext uri="{FF2B5EF4-FFF2-40B4-BE49-F238E27FC236}">
                  <a16:creationId xmlns:a16="http://schemas.microsoft.com/office/drawing/2014/main" id="{8A7CBF1E-CF5A-4A55-B118-1F8C4DA0FECA}"/>
                </a:ext>
              </a:extLst>
            </p:cNvPr>
            <p:cNvSpPr>
              <a:spLocks noEditPoints="1"/>
            </p:cNvSpPr>
            <p:nvPr/>
          </p:nvSpPr>
          <p:spPr bwMode="auto">
            <a:xfrm>
              <a:off x="2257" y="988"/>
              <a:ext cx="3166" cy="2344"/>
            </a:xfrm>
            <a:custGeom>
              <a:avLst/>
              <a:gdLst>
                <a:gd name="T0" fmla="*/ 1668 w 1690"/>
                <a:gd name="T1" fmla="*/ 1250 h 1250"/>
                <a:gd name="T2" fmla="*/ 22 w 1690"/>
                <a:gd name="T3" fmla="*/ 1250 h 1250"/>
                <a:gd name="T4" fmla="*/ 0 w 1690"/>
                <a:gd name="T5" fmla="*/ 1228 h 1250"/>
                <a:gd name="T6" fmla="*/ 0 w 1690"/>
                <a:gd name="T7" fmla="*/ 22 h 1250"/>
                <a:gd name="T8" fmla="*/ 22 w 1690"/>
                <a:gd name="T9" fmla="*/ 0 h 1250"/>
                <a:gd name="T10" fmla="*/ 1668 w 1690"/>
                <a:gd name="T11" fmla="*/ 0 h 1250"/>
                <a:gd name="T12" fmla="*/ 1690 w 1690"/>
                <a:gd name="T13" fmla="*/ 22 h 1250"/>
                <a:gd name="T14" fmla="*/ 1690 w 1690"/>
                <a:gd name="T15" fmla="*/ 1228 h 1250"/>
                <a:gd name="T16" fmla="*/ 1668 w 1690"/>
                <a:gd name="T17" fmla="*/ 1250 h 1250"/>
                <a:gd name="T18" fmla="*/ 44 w 1690"/>
                <a:gd name="T19" fmla="*/ 1206 h 1250"/>
                <a:gd name="T20" fmla="*/ 1646 w 1690"/>
                <a:gd name="T21" fmla="*/ 1206 h 1250"/>
                <a:gd name="T22" fmla="*/ 1646 w 1690"/>
                <a:gd name="T23" fmla="*/ 44 h 1250"/>
                <a:gd name="T24" fmla="*/ 44 w 1690"/>
                <a:gd name="T25" fmla="*/ 44 h 1250"/>
                <a:gd name="T26" fmla="*/ 44 w 1690"/>
                <a:gd name="T27" fmla="*/ 1206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90" h="1250">
                  <a:moveTo>
                    <a:pt x="1668" y="1250"/>
                  </a:moveTo>
                  <a:cubicBezTo>
                    <a:pt x="22" y="1250"/>
                    <a:pt x="22" y="1250"/>
                    <a:pt x="22" y="1250"/>
                  </a:cubicBezTo>
                  <a:cubicBezTo>
                    <a:pt x="10" y="1250"/>
                    <a:pt x="0" y="1240"/>
                    <a:pt x="0" y="1228"/>
                  </a:cubicBezTo>
                  <a:cubicBezTo>
                    <a:pt x="0" y="22"/>
                    <a:pt x="0" y="22"/>
                    <a:pt x="0" y="22"/>
                  </a:cubicBezTo>
                  <a:cubicBezTo>
                    <a:pt x="0" y="10"/>
                    <a:pt x="10" y="0"/>
                    <a:pt x="22" y="0"/>
                  </a:cubicBezTo>
                  <a:cubicBezTo>
                    <a:pt x="1668" y="0"/>
                    <a:pt x="1668" y="0"/>
                    <a:pt x="1668" y="0"/>
                  </a:cubicBezTo>
                  <a:cubicBezTo>
                    <a:pt x="1680" y="0"/>
                    <a:pt x="1690" y="10"/>
                    <a:pt x="1690" y="22"/>
                  </a:cubicBezTo>
                  <a:cubicBezTo>
                    <a:pt x="1690" y="1228"/>
                    <a:pt x="1690" y="1228"/>
                    <a:pt x="1690" y="1228"/>
                  </a:cubicBezTo>
                  <a:cubicBezTo>
                    <a:pt x="1690" y="1240"/>
                    <a:pt x="1680" y="1250"/>
                    <a:pt x="1668" y="1250"/>
                  </a:cubicBezTo>
                  <a:close/>
                  <a:moveTo>
                    <a:pt x="44" y="1206"/>
                  </a:moveTo>
                  <a:cubicBezTo>
                    <a:pt x="1646" y="1206"/>
                    <a:pt x="1646" y="1206"/>
                    <a:pt x="1646" y="1206"/>
                  </a:cubicBezTo>
                  <a:cubicBezTo>
                    <a:pt x="1646" y="44"/>
                    <a:pt x="1646" y="44"/>
                    <a:pt x="1646" y="44"/>
                  </a:cubicBezTo>
                  <a:cubicBezTo>
                    <a:pt x="44" y="44"/>
                    <a:pt x="44" y="44"/>
                    <a:pt x="44" y="44"/>
                  </a:cubicBezTo>
                  <a:lnTo>
                    <a:pt x="44" y="120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icrosoft YaHei" panose="020B0503020204020204" pitchFamily="34" charset="-122"/>
                <a:cs typeface="+mn-cs"/>
              </a:endParaRPr>
            </a:p>
          </p:txBody>
        </p:sp>
      </p:grpSp>
      <p:grpSp>
        <p:nvGrpSpPr>
          <p:cNvPr id="300" name="bcgIcons_SmartPhone">
            <a:extLst>
              <a:ext uri="{FF2B5EF4-FFF2-40B4-BE49-F238E27FC236}">
                <a16:creationId xmlns:a16="http://schemas.microsoft.com/office/drawing/2014/main" id="{860CC7CA-9F4C-42B3-8A8E-540ACC9BD367}"/>
              </a:ext>
            </a:extLst>
          </p:cNvPr>
          <p:cNvGrpSpPr>
            <a:grpSpLocks noChangeAspect="1"/>
          </p:cNvGrpSpPr>
          <p:nvPr/>
        </p:nvGrpSpPr>
        <p:grpSpPr bwMode="auto">
          <a:xfrm>
            <a:off x="9261204" y="2999560"/>
            <a:ext cx="431600" cy="432000"/>
            <a:chOff x="1682" y="0"/>
            <a:chExt cx="4316" cy="4320"/>
          </a:xfrm>
        </p:grpSpPr>
        <p:sp>
          <p:nvSpPr>
            <p:cNvPr id="301" name="AutoShape 13">
              <a:extLst>
                <a:ext uri="{FF2B5EF4-FFF2-40B4-BE49-F238E27FC236}">
                  <a16:creationId xmlns:a16="http://schemas.microsoft.com/office/drawing/2014/main" id="{CB5E192C-1D4A-4BC6-892D-079D9F00354B}"/>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n-ea"/>
                <a:cs typeface="+mn-cs"/>
              </a:endParaRPr>
            </a:p>
          </p:txBody>
        </p:sp>
        <p:sp>
          <p:nvSpPr>
            <p:cNvPr id="302" name="Freeform 15">
              <a:extLst>
                <a:ext uri="{FF2B5EF4-FFF2-40B4-BE49-F238E27FC236}">
                  <a16:creationId xmlns:a16="http://schemas.microsoft.com/office/drawing/2014/main" id="{DA725996-F4C4-4D12-BF2B-DE0A4289CBCF}"/>
                </a:ext>
              </a:extLst>
            </p:cNvPr>
            <p:cNvSpPr>
              <a:spLocks noEditPoints="1"/>
            </p:cNvSpPr>
            <p:nvPr/>
          </p:nvSpPr>
          <p:spPr bwMode="auto">
            <a:xfrm>
              <a:off x="3087" y="726"/>
              <a:ext cx="1510" cy="2865"/>
            </a:xfrm>
            <a:custGeom>
              <a:avLst/>
              <a:gdLst>
                <a:gd name="T0" fmla="*/ 784 w 806"/>
                <a:gd name="T1" fmla="*/ 0 h 1528"/>
                <a:gd name="T2" fmla="*/ 22 w 806"/>
                <a:gd name="T3" fmla="*/ 0 h 1528"/>
                <a:gd name="T4" fmla="*/ 0 w 806"/>
                <a:gd name="T5" fmla="*/ 22 h 1528"/>
                <a:gd name="T6" fmla="*/ 0 w 806"/>
                <a:gd name="T7" fmla="*/ 1252 h 1528"/>
                <a:gd name="T8" fmla="*/ 0 w 806"/>
                <a:gd name="T9" fmla="*/ 1296 h 1528"/>
                <a:gd name="T10" fmla="*/ 0 w 806"/>
                <a:gd name="T11" fmla="*/ 1506 h 1528"/>
                <a:gd name="T12" fmla="*/ 22 w 806"/>
                <a:gd name="T13" fmla="*/ 1528 h 1528"/>
                <a:gd name="T14" fmla="*/ 784 w 806"/>
                <a:gd name="T15" fmla="*/ 1528 h 1528"/>
                <a:gd name="T16" fmla="*/ 806 w 806"/>
                <a:gd name="T17" fmla="*/ 1506 h 1528"/>
                <a:gd name="T18" fmla="*/ 806 w 806"/>
                <a:gd name="T19" fmla="*/ 1296 h 1528"/>
                <a:gd name="T20" fmla="*/ 806 w 806"/>
                <a:gd name="T21" fmla="*/ 1252 h 1528"/>
                <a:gd name="T22" fmla="*/ 806 w 806"/>
                <a:gd name="T23" fmla="*/ 22 h 1528"/>
                <a:gd name="T24" fmla="*/ 784 w 806"/>
                <a:gd name="T25" fmla="*/ 0 h 1528"/>
                <a:gd name="T26" fmla="*/ 762 w 806"/>
                <a:gd name="T27" fmla="*/ 1484 h 1528"/>
                <a:gd name="T28" fmla="*/ 44 w 806"/>
                <a:gd name="T29" fmla="*/ 1484 h 1528"/>
                <a:gd name="T30" fmla="*/ 44 w 806"/>
                <a:gd name="T31" fmla="*/ 1296 h 1528"/>
                <a:gd name="T32" fmla="*/ 762 w 806"/>
                <a:gd name="T33" fmla="*/ 1296 h 1528"/>
                <a:gd name="T34" fmla="*/ 762 w 806"/>
                <a:gd name="T35" fmla="*/ 1484 h 1528"/>
                <a:gd name="T36" fmla="*/ 44 w 806"/>
                <a:gd name="T37" fmla="*/ 1252 h 1528"/>
                <a:gd name="T38" fmla="*/ 44 w 806"/>
                <a:gd name="T39" fmla="*/ 44 h 1528"/>
                <a:gd name="T40" fmla="*/ 762 w 806"/>
                <a:gd name="T41" fmla="*/ 44 h 1528"/>
                <a:gd name="T42" fmla="*/ 762 w 806"/>
                <a:gd name="T43" fmla="*/ 1252 h 1528"/>
                <a:gd name="T44" fmla="*/ 44 w 806"/>
                <a:gd name="T45" fmla="*/ 1252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06" h="1528">
                  <a:moveTo>
                    <a:pt x="784" y="0"/>
                  </a:moveTo>
                  <a:cubicBezTo>
                    <a:pt x="22" y="0"/>
                    <a:pt x="22" y="0"/>
                    <a:pt x="22" y="0"/>
                  </a:cubicBezTo>
                  <a:cubicBezTo>
                    <a:pt x="10" y="0"/>
                    <a:pt x="0" y="10"/>
                    <a:pt x="0" y="22"/>
                  </a:cubicBezTo>
                  <a:cubicBezTo>
                    <a:pt x="0" y="1252"/>
                    <a:pt x="0" y="1252"/>
                    <a:pt x="0" y="1252"/>
                  </a:cubicBezTo>
                  <a:cubicBezTo>
                    <a:pt x="0" y="1296"/>
                    <a:pt x="0" y="1296"/>
                    <a:pt x="0" y="1296"/>
                  </a:cubicBezTo>
                  <a:cubicBezTo>
                    <a:pt x="0" y="1506"/>
                    <a:pt x="0" y="1506"/>
                    <a:pt x="0" y="1506"/>
                  </a:cubicBezTo>
                  <a:cubicBezTo>
                    <a:pt x="0" y="1518"/>
                    <a:pt x="10" y="1528"/>
                    <a:pt x="22" y="1528"/>
                  </a:cubicBezTo>
                  <a:cubicBezTo>
                    <a:pt x="784" y="1528"/>
                    <a:pt x="784" y="1528"/>
                    <a:pt x="784" y="1528"/>
                  </a:cubicBezTo>
                  <a:cubicBezTo>
                    <a:pt x="796" y="1528"/>
                    <a:pt x="806" y="1518"/>
                    <a:pt x="806" y="1506"/>
                  </a:cubicBezTo>
                  <a:cubicBezTo>
                    <a:pt x="806" y="1296"/>
                    <a:pt x="806" y="1296"/>
                    <a:pt x="806" y="1296"/>
                  </a:cubicBezTo>
                  <a:cubicBezTo>
                    <a:pt x="806" y="1252"/>
                    <a:pt x="806" y="1252"/>
                    <a:pt x="806" y="1252"/>
                  </a:cubicBezTo>
                  <a:cubicBezTo>
                    <a:pt x="806" y="22"/>
                    <a:pt x="806" y="22"/>
                    <a:pt x="806" y="22"/>
                  </a:cubicBezTo>
                  <a:cubicBezTo>
                    <a:pt x="806" y="10"/>
                    <a:pt x="796" y="0"/>
                    <a:pt x="784" y="0"/>
                  </a:cubicBezTo>
                  <a:close/>
                  <a:moveTo>
                    <a:pt x="762" y="1484"/>
                  </a:moveTo>
                  <a:cubicBezTo>
                    <a:pt x="44" y="1484"/>
                    <a:pt x="44" y="1484"/>
                    <a:pt x="44" y="1484"/>
                  </a:cubicBezTo>
                  <a:cubicBezTo>
                    <a:pt x="44" y="1296"/>
                    <a:pt x="44" y="1296"/>
                    <a:pt x="44" y="1296"/>
                  </a:cubicBezTo>
                  <a:cubicBezTo>
                    <a:pt x="762" y="1296"/>
                    <a:pt x="762" y="1296"/>
                    <a:pt x="762" y="1296"/>
                  </a:cubicBezTo>
                  <a:lnTo>
                    <a:pt x="762" y="1484"/>
                  </a:lnTo>
                  <a:close/>
                  <a:moveTo>
                    <a:pt x="44" y="1252"/>
                  </a:moveTo>
                  <a:cubicBezTo>
                    <a:pt x="44" y="44"/>
                    <a:pt x="44" y="44"/>
                    <a:pt x="44" y="44"/>
                  </a:cubicBezTo>
                  <a:cubicBezTo>
                    <a:pt x="762" y="44"/>
                    <a:pt x="762" y="44"/>
                    <a:pt x="762" y="44"/>
                  </a:cubicBezTo>
                  <a:cubicBezTo>
                    <a:pt x="762" y="1252"/>
                    <a:pt x="762" y="1252"/>
                    <a:pt x="762" y="1252"/>
                  </a:cubicBezTo>
                  <a:lnTo>
                    <a:pt x="44" y="125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icrosoft YaHei" panose="020B0503020204020204" pitchFamily="34" charset="-122"/>
                <a:cs typeface="+mn-cs"/>
              </a:endParaRPr>
            </a:p>
          </p:txBody>
        </p:sp>
        <p:sp>
          <p:nvSpPr>
            <p:cNvPr id="303" name="Freeform 16">
              <a:extLst>
                <a:ext uri="{FF2B5EF4-FFF2-40B4-BE49-F238E27FC236}">
                  <a16:creationId xmlns:a16="http://schemas.microsoft.com/office/drawing/2014/main" id="{9686836C-98FA-4BA9-914A-53B64694379E}"/>
                </a:ext>
              </a:extLst>
            </p:cNvPr>
            <p:cNvSpPr>
              <a:spLocks noEditPoints="1"/>
            </p:cNvSpPr>
            <p:nvPr/>
          </p:nvSpPr>
          <p:spPr bwMode="auto">
            <a:xfrm>
              <a:off x="3241" y="917"/>
              <a:ext cx="1195" cy="2512"/>
            </a:xfrm>
            <a:custGeom>
              <a:avLst/>
              <a:gdLst>
                <a:gd name="T0" fmla="*/ 321 w 638"/>
                <a:gd name="T1" fmla="*/ 1340 h 1340"/>
                <a:gd name="T2" fmla="*/ 263 w 638"/>
                <a:gd name="T3" fmla="*/ 1282 h 1340"/>
                <a:gd name="T4" fmla="*/ 321 w 638"/>
                <a:gd name="T5" fmla="*/ 1224 h 1340"/>
                <a:gd name="T6" fmla="*/ 379 w 638"/>
                <a:gd name="T7" fmla="*/ 1282 h 1340"/>
                <a:gd name="T8" fmla="*/ 321 w 638"/>
                <a:gd name="T9" fmla="*/ 1340 h 1340"/>
                <a:gd name="T10" fmla="*/ 638 w 638"/>
                <a:gd name="T11" fmla="*/ 1092 h 1340"/>
                <a:gd name="T12" fmla="*/ 638 w 638"/>
                <a:gd name="T13" fmla="*/ 115 h 1340"/>
                <a:gd name="T14" fmla="*/ 628 w 638"/>
                <a:gd name="T15" fmla="*/ 105 h 1340"/>
                <a:gd name="T16" fmla="*/ 10 w 638"/>
                <a:gd name="T17" fmla="*/ 105 h 1340"/>
                <a:gd name="T18" fmla="*/ 0 w 638"/>
                <a:gd name="T19" fmla="*/ 115 h 1340"/>
                <a:gd name="T20" fmla="*/ 0 w 638"/>
                <a:gd name="T21" fmla="*/ 1092 h 1340"/>
                <a:gd name="T22" fmla="*/ 10 w 638"/>
                <a:gd name="T23" fmla="*/ 1102 h 1340"/>
                <a:gd name="T24" fmla="*/ 628 w 638"/>
                <a:gd name="T25" fmla="*/ 1102 h 1340"/>
                <a:gd name="T26" fmla="*/ 638 w 638"/>
                <a:gd name="T27" fmla="*/ 1092 h 1340"/>
                <a:gd name="T28" fmla="*/ 469 w 638"/>
                <a:gd name="T29" fmla="*/ 22 h 1340"/>
                <a:gd name="T30" fmla="*/ 447 w 638"/>
                <a:gd name="T31" fmla="*/ 0 h 1340"/>
                <a:gd name="T32" fmla="*/ 195 w 638"/>
                <a:gd name="T33" fmla="*/ 0 h 1340"/>
                <a:gd name="T34" fmla="*/ 173 w 638"/>
                <a:gd name="T35" fmla="*/ 22 h 1340"/>
                <a:gd name="T36" fmla="*/ 195 w 638"/>
                <a:gd name="T37" fmla="*/ 44 h 1340"/>
                <a:gd name="T38" fmla="*/ 447 w 638"/>
                <a:gd name="T39" fmla="*/ 44 h 1340"/>
                <a:gd name="T40" fmla="*/ 469 w 638"/>
                <a:gd name="T41" fmla="*/ 22 h 1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38" h="1340">
                  <a:moveTo>
                    <a:pt x="321" y="1340"/>
                  </a:moveTo>
                  <a:cubicBezTo>
                    <a:pt x="289" y="1340"/>
                    <a:pt x="263" y="1314"/>
                    <a:pt x="263" y="1282"/>
                  </a:cubicBezTo>
                  <a:cubicBezTo>
                    <a:pt x="263" y="1250"/>
                    <a:pt x="289" y="1224"/>
                    <a:pt x="321" y="1224"/>
                  </a:cubicBezTo>
                  <a:cubicBezTo>
                    <a:pt x="353" y="1224"/>
                    <a:pt x="379" y="1250"/>
                    <a:pt x="379" y="1282"/>
                  </a:cubicBezTo>
                  <a:cubicBezTo>
                    <a:pt x="379" y="1314"/>
                    <a:pt x="353" y="1340"/>
                    <a:pt x="321" y="1340"/>
                  </a:cubicBezTo>
                  <a:close/>
                  <a:moveTo>
                    <a:pt x="638" y="1092"/>
                  </a:moveTo>
                  <a:cubicBezTo>
                    <a:pt x="638" y="115"/>
                    <a:pt x="638" y="115"/>
                    <a:pt x="638" y="115"/>
                  </a:cubicBezTo>
                  <a:cubicBezTo>
                    <a:pt x="638" y="110"/>
                    <a:pt x="634" y="105"/>
                    <a:pt x="628" y="105"/>
                  </a:cubicBezTo>
                  <a:cubicBezTo>
                    <a:pt x="10" y="105"/>
                    <a:pt x="10" y="105"/>
                    <a:pt x="10" y="105"/>
                  </a:cubicBezTo>
                  <a:cubicBezTo>
                    <a:pt x="4" y="105"/>
                    <a:pt x="0" y="110"/>
                    <a:pt x="0" y="115"/>
                  </a:cubicBezTo>
                  <a:cubicBezTo>
                    <a:pt x="0" y="1092"/>
                    <a:pt x="0" y="1092"/>
                    <a:pt x="0" y="1092"/>
                  </a:cubicBezTo>
                  <a:cubicBezTo>
                    <a:pt x="0" y="1098"/>
                    <a:pt x="4" y="1102"/>
                    <a:pt x="10" y="1102"/>
                  </a:cubicBezTo>
                  <a:cubicBezTo>
                    <a:pt x="628" y="1102"/>
                    <a:pt x="628" y="1102"/>
                    <a:pt x="628" y="1102"/>
                  </a:cubicBezTo>
                  <a:cubicBezTo>
                    <a:pt x="634" y="1102"/>
                    <a:pt x="638" y="1098"/>
                    <a:pt x="638" y="1092"/>
                  </a:cubicBezTo>
                  <a:close/>
                  <a:moveTo>
                    <a:pt x="469" y="22"/>
                  </a:moveTo>
                  <a:cubicBezTo>
                    <a:pt x="469" y="10"/>
                    <a:pt x="459" y="0"/>
                    <a:pt x="447" y="0"/>
                  </a:cubicBezTo>
                  <a:cubicBezTo>
                    <a:pt x="195" y="0"/>
                    <a:pt x="195" y="0"/>
                    <a:pt x="195" y="0"/>
                  </a:cubicBezTo>
                  <a:cubicBezTo>
                    <a:pt x="183" y="0"/>
                    <a:pt x="173" y="10"/>
                    <a:pt x="173" y="22"/>
                  </a:cubicBezTo>
                  <a:cubicBezTo>
                    <a:pt x="173" y="34"/>
                    <a:pt x="183" y="44"/>
                    <a:pt x="195" y="44"/>
                  </a:cubicBezTo>
                  <a:cubicBezTo>
                    <a:pt x="447" y="44"/>
                    <a:pt x="447" y="44"/>
                    <a:pt x="447" y="44"/>
                  </a:cubicBezTo>
                  <a:cubicBezTo>
                    <a:pt x="459" y="44"/>
                    <a:pt x="469" y="34"/>
                    <a:pt x="469" y="22"/>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ea typeface="Microsoft YaHei" panose="020B0503020204020204" pitchFamily="34" charset="-122"/>
                <a:cs typeface="+mn-cs"/>
              </a:endParaRPr>
            </a:p>
          </p:txBody>
        </p:sp>
      </p:grpSp>
      <p:sp>
        <p:nvSpPr>
          <p:cNvPr id="9" name="TextBox 8">
            <a:extLst>
              <a:ext uri="{FF2B5EF4-FFF2-40B4-BE49-F238E27FC236}">
                <a16:creationId xmlns:a16="http://schemas.microsoft.com/office/drawing/2014/main" id="{1239F075-4689-A014-AB75-3E92F9A6FD94}"/>
              </a:ext>
            </a:extLst>
          </p:cNvPr>
          <p:cNvSpPr txBox="1"/>
          <p:nvPr/>
        </p:nvSpPr>
        <p:spPr>
          <a:xfrm>
            <a:off x="569113" y="4692774"/>
            <a:ext cx="1581517" cy="1005828"/>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zh-TW" altLang="en-US" sz="1600" b="1">
                <a:solidFill>
                  <a:srgbClr val="03522D"/>
                </a:solidFill>
                <a:ea typeface="Microsoft YaHei" panose="020B0503020204020204" pitchFamily="34" charset="-122"/>
              </a:rPr>
              <a:t>個性化經營</a:t>
            </a:r>
            <a:endParaRPr lang="en-US" altLang="zh-TW" sz="1600" b="1">
              <a:solidFill>
                <a:srgbClr val="03522D"/>
              </a:solidFill>
              <a:ea typeface="Microsoft YaHei" panose="020B0503020204020204" pitchFamily="34" charset="-122"/>
            </a:endParaRPr>
          </a:p>
          <a:p>
            <a:pPr marL="0" marR="0" lvl="0" indent="0" defTabSz="914400" rtl="0" eaLnBrk="1" fontAlgn="auto" latinLnBrk="0" hangingPunct="1">
              <a:lnSpc>
                <a:spcPct val="100000"/>
              </a:lnSpc>
              <a:spcBef>
                <a:spcPts val="0"/>
              </a:spcBef>
              <a:spcAft>
                <a:spcPts val="0"/>
              </a:spcAft>
              <a:buClrTx/>
              <a:buSzTx/>
              <a:buFontTx/>
              <a:buNone/>
              <a:tabLst/>
              <a:defRPr/>
            </a:pPr>
            <a:r>
              <a:rPr kumimoji="0" lang="zh-TW" altLang="en-US" sz="1400" u="none" strike="noStrike" kern="1200" cap="none" spc="0" normalizeH="0" baseline="0" noProof="0">
                <a:ln>
                  <a:noFill/>
                </a:ln>
                <a:solidFill>
                  <a:srgbClr val="03522D"/>
                </a:solidFill>
                <a:effectLst/>
                <a:uLnTx/>
                <a:uFillTx/>
                <a:ea typeface="Microsoft YaHei" panose="020B0503020204020204" pitchFamily="34" charset="-122"/>
              </a:rPr>
              <a:t>以客戶為</a:t>
            </a:r>
            <a:r>
              <a:rPr lang="zh-TW" altLang="en-US" sz="1400">
                <a:solidFill>
                  <a:srgbClr val="03522D"/>
                </a:solidFill>
                <a:ea typeface="Microsoft YaHei" panose="020B0503020204020204" pitchFamily="34" charset="-122"/>
              </a:rPr>
              <a:t>中心</a:t>
            </a:r>
            <a:r>
              <a:rPr kumimoji="0" lang="zh-TW" altLang="en-US" sz="1400" u="none" strike="noStrike" kern="1200" cap="none" spc="0" normalizeH="0" baseline="0" noProof="0">
                <a:ln>
                  <a:noFill/>
                </a:ln>
                <a:solidFill>
                  <a:srgbClr val="03522D"/>
                </a:solidFill>
                <a:effectLst/>
                <a:uLnTx/>
                <a:uFillTx/>
                <a:ea typeface="Microsoft YaHei" panose="020B0503020204020204" pitchFamily="34" charset="-122"/>
              </a:rPr>
              <a:t>，僅針對有相關需求的客戶推播，提升行銷精準度</a:t>
            </a:r>
          </a:p>
        </p:txBody>
      </p:sp>
      <p:sp>
        <p:nvSpPr>
          <p:cNvPr id="10" name="TextBox 9">
            <a:extLst>
              <a:ext uri="{FF2B5EF4-FFF2-40B4-BE49-F238E27FC236}">
                <a16:creationId xmlns:a16="http://schemas.microsoft.com/office/drawing/2014/main" id="{899F4928-F289-9772-3719-189F7D72CBA1}"/>
              </a:ext>
            </a:extLst>
          </p:cNvPr>
          <p:cNvSpPr txBox="1"/>
          <p:nvPr/>
        </p:nvSpPr>
        <p:spPr>
          <a:xfrm>
            <a:off x="3620844" y="2611931"/>
            <a:ext cx="1592320" cy="1281517"/>
          </a:xfrm>
          <a:prstGeom prst="rect">
            <a:avLst/>
          </a:prstGeom>
          <a:noFill/>
          <a:ln>
            <a:noFill/>
          </a:ln>
        </p:spPr>
        <p:txBody>
          <a:bodyPr wrap="square" lIns="0" tIns="0" rIns="0" bIns="0" rtlCol="0" anchor="t">
            <a:noAutofit/>
          </a:bodyPr>
          <a:lstStyle/>
          <a:p>
            <a:pPr marL="108000" lvl="1">
              <a:spcAft>
                <a:spcPts val="600"/>
              </a:spcAft>
              <a:buClr>
                <a:schemeClr val="tx2"/>
              </a:buClr>
              <a:defRPr/>
            </a:pPr>
            <a:r>
              <a:rPr kumimoji="0" lang="zh-TW" altLang="en-US" sz="1200" b="0" u="none" strike="noStrike" kern="1200" cap="none" spc="0" normalizeH="0" baseline="0" noProof="0">
                <a:ln>
                  <a:noFill/>
                </a:ln>
                <a:effectLst/>
                <a:uLnTx/>
                <a:uFillTx/>
                <a:ea typeface="Microsoft YaHei" panose="020B0503020204020204" pitchFamily="34" charset="-122"/>
                <a:cs typeface="+mn-cs"/>
              </a:rPr>
              <a:t>行銷活動</a:t>
            </a:r>
            <a:r>
              <a:rPr lang="zh-TW" altLang="en-US" sz="1200">
                <a:ea typeface="Microsoft YaHei" panose="020B0503020204020204" pitchFamily="34" charset="-122"/>
              </a:rPr>
              <a:t>規劃</a:t>
            </a:r>
            <a:r>
              <a:rPr lang="zh-TW" altLang="en-US" sz="1200">
                <a:solidFill>
                  <a:srgbClr val="E71C57"/>
                </a:solidFill>
                <a:ea typeface="Microsoft YaHei" panose="020B0503020204020204" pitchFamily="34" charset="-122"/>
              </a:rPr>
              <a:t>主要由各產品</a:t>
            </a:r>
            <a:r>
              <a:rPr lang="en-US" altLang="zh-TW" sz="1200">
                <a:solidFill>
                  <a:srgbClr val="E71C57"/>
                </a:solidFill>
                <a:ea typeface="Microsoft YaHei" panose="020B0503020204020204" pitchFamily="34" charset="-122"/>
              </a:rPr>
              <a:t>PM</a:t>
            </a:r>
            <a:r>
              <a:rPr lang="zh-TW" altLang="en-US" sz="1200">
                <a:solidFill>
                  <a:srgbClr val="E71C57"/>
                </a:solidFill>
                <a:ea typeface="Microsoft YaHei" panose="020B0503020204020204" pitchFamily="34" charset="-122"/>
              </a:rPr>
              <a:t>提出</a:t>
            </a:r>
            <a:r>
              <a:rPr lang="zh-TW" altLang="en-US" sz="1200">
                <a:ea typeface="Microsoft YaHei" panose="020B0503020204020204" pitchFamily="34" charset="-122"/>
              </a:rPr>
              <a:t>，非以客戶中心出發</a:t>
            </a:r>
            <a:endParaRPr lang="en-US" altLang="zh-TW" sz="1200">
              <a:ea typeface="Microsoft YaHei" panose="020B0503020204020204" pitchFamily="34" charset="-122"/>
            </a:endParaRPr>
          </a:p>
          <a:p>
            <a:pPr marL="108000" lvl="1">
              <a:buClr>
                <a:schemeClr val="tx2"/>
              </a:buClr>
              <a:defRPr/>
            </a:pPr>
            <a:r>
              <a:rPr lang="zh-TW" altLang="en-US" sz="1200">
                <a:ea typeface="Microsoft YaHei" panose="020B0503020204020204" pitchFamily="34" charset="-122"/>
              </a:rPr>
              <a:t>僅對潛力</a:t>
            </a:r>
            <a:r>
              <a:rPr lang="en-US" altLang="zh-TW" sz="1200">
                <a:ea typeface="Microsoft YaHei" panose="020B0503020204020204" pitchFamily="34" charset="-122"/>
              </a:rPr>
              <a:t>M</a:t>
            </a:r>
            <a:r>
              <a:rPr lang="zh-TW" altLang="en-US" sz="1200">
                <a:ea typeface="Microsoft YaHei" panose="020B0503020204020204" pitchFamily="34" charset="-122"/>
              </a:rPr>
              <a:t>升</a:t>
            </a:r>
            <a:r>
              <a:rPr lang="en-US" altLang="zh-TW" sz="1200">
                <a:ea typeface="Microsoft YaHei" panose="020B0503020204020204" pitchFamily="34" charset="-122"/>
              </a:rPr>
              <a:t>A</a:t>
            </a:r>
            <a:r>
              <a:rPr lang="zh-TW" altLang="en-US" sz="1200">
                <a:ea typeface="Microsoft YaHei" panose="020B0503020204020204" pitchFamily="34" charset="-122"/>
              </a:rPr>
              <a:t>客戶産出名單，由</a:t>
            </a:r>
            <a:r>
              <a:rPr lang="en-US" altLang="zh-TW" sz="1200">
                <a:ea typeface="Microsoft YaHei" panose="020B0503020204020204" pitchFamily="34" charset="-122"/>
              </a:rPr>
              <a:t>RM/PBO</a:t>
            </a:r>
            <a:r>
              <a:rPr lang="zh-TW" altLang="en-US" sz="1200">
                <a:ea typeface="Microsoft YaHei" panose="020B0503020204020204" pitchFamily="34" charset="-122"/>
              </a:rPr>
              <a:t>人工聯繫客戶</a:t>
            </a:r>
            <a:endParaRPr kumimoji="0" lang="en-US" sz="1200" b="1" u="none" strike="noStrike" kern="1200" cap="none" spc="0" normalizeH="0" baseline="0" noProof="0">
              <a:ln>
                <a:noFill/>
              </a:ln>
              <a:effectLst/>
              <a:uLnTx/>
              <a:uFillTx/>
              <a:ea typeface="Microsoft YaHei" panose="020B0503020204020204" pitchFamily="34" charset="-122"/>
              <a:cs typeface="+mn-cs"/>
            </a:endParaRPr>
          </a:p>
        </p:txBody>
      </p:sp>
      <p:sp>
        <p:nvSpPr>
          <p:cNvPr id="11" name="TextBox 10">
            <a:extLst>
              <a:ext uri="{FF2B5EF4-FFF2-40B4-BE49-F238E27FC236}">
                <a16:creationId xmlns:a16="http://schemas.microsoft.com/office/drawing/2014/main" id="{93B5E0CD-589D-BCBE-7888-1F040C46FC4E}"/>
              </a:ext>
            </a:extLst>
          </p:cNvPr>
          <p:cNvSpPr txBox="1"/>
          <p:nvPr/>
        </p:nvSpPr>
        <p:spPr>
          <a:xfrm>
            <a:off x="5408591" y="2619870"/>
            <a:ext cx="1347017" cy="678303"/>
          </a:xfrm>
          <a:prstGeom prst="rect">
            <a:avLst/>
          </a:prstGeom>
          <a:noFill/>
          <a:ln>
            <a:noFill/>
          </a:ln>
        </p:spPr>
        <p:txBody>
          <a:bodyPr wrap="square" lIns="0" tIns="0" rIns="0" bIns="0" rtlCol="0" anchor="t">
            <a:noAutofit/>
          </a:bodyPr>
          <a:lstStyle/>
          <a:p>
            <a:pPr marL="0" marR="0" lvl="0" indent="0" algn="l" defTabSz="914400" rtl="0" eaLnBrk="1" fontAlgn="auto" latinLnBrk="0" hangingPunct="1">
              <a:lnSpc>
                <a:spcPct val="90000"/>
              </a:lnSpc>
              <a:spcBef>
                <a:spcPts val="0"/>
              </a:spcBef>
              <a:spcAft>
                <a:spcPts val="600"/>
              </a:spcAft>
              <a:buClrTx/>
              <a:buSzTx/>
              <a:buFontTx/>
              <a:buNone/>
              <a:tabLst/>
              <a:defRPr/>
            </a:pPr>
            <a:r>
              <a:rPr lang="zh-TW" altLang="en-US" sz="1200">
                <a:solidFill>
                  <a:srgbClr val="575757"/>
                </a:solidFill>
                <a:ea typeface="Microsoft YaHei" panose="020B0503020204020204" pitchFamily="34" charset="-122"/>
              </a:rPr>
              <a:t>客戶收到各式產品活動，</a:t>
            </a:r>
            <a:r>
              <a:rPr lang="zh-TW" altLang="en-US" sz="1200">
                <a:solidFill>
                  <a:srgbClr val="E71C57"/>
                </a:solidFill>
                <a:ea typeface="Microsoft YaHei" panose="020B0503020204020204" pitchFamily="34" charset="-122"/>
              </a:rPr>
              <a:t>各產品活動間未經協調</a:t>
            </a:r>
            <a:endParaRPr kumimoji="0" lang="en-US" sz="1200" b="1" i="0" u="none" strike="noStrike" kern="1200" cap="none" spc="0" normalizeH="0" baseline="0" noProof="0">
              <a:ln>
                <a:noFill/>
              </a:ln>
              <a:solidFill>
                <a:srgbClr val="E71C57"/>
              </a:solidFill>
              <a:effectLst/>
              <a:uLnTx/>
              <a:uFillTx/>
              <a:ea typeface="Microsoft YaHei" panose="020B0503020204020204" pitchFamily="34" charset="-122"/>
              <a:cs typeface="+mn-cs"/>
            </a:endParaRPr>
          </a:p>
        </p:txBody>
      </p:sp>
      <p:sp>
        <p:nvSpPr>
          <p:cNvPr id="12" name="TextBox 11">
            <a:extLst>
              <a:ext uri="{FF2B5EF4-FFF2-40B4-BE49-F238E27FC236}">
                <a16:creationId xmlns:a16="http://schemas.microsoft.com/office/drawing/2014/main" id="{145FE210-AA82-09D4-F06B-E81360587CFC}"/>
              </a:ext>
            </a:extLst>
          </p:cNvPr>
          <p:cNvSpPr txBox="1"/>
          <p:nvPr/>
        </p:nvSpPr>
        <p:spPr>
          <a:xfrm>
            <a:off x="6970419" y="2619870"/>
            <a:ext cx="1347017" cy="678303"/>
          </a:xfrm>
          <a:prstGeom prst="rect">
            <a:avLst/>
          </a:prstGeom>
          <a:noFill/>
          <a:ln>
            <a:noFill/>
          </a:ln>
        </p:spPr>
        <p:txBody>
          <a:bodyPr wrap="square" lIns="0" tIns="0" rIns="0" bIns="0" rtlCol="0" anchor="t">
            <a:noAutofit/>
          </a:bodyPr>
          <a:lstStyle/>
          <a:p>
            <a:pPr marL="0" marR="0" lvl="0" indent="0" algn="l" defTabSz="914400" rtl="0" eaLnBrk="1" fontAlgn="auto" latinLnBrk="0" hangingPunct="1">
              <a:lnSpc>
                <a:spcPct val="90000"/>
              </a:lnSpc>
              <a:spcBef>
                <a:spcPts val="0"/>
              </a:spcBef>
              <a:spcAft>
                <a:spcPts val="600"/>
              </a:spcAft>
              <a:buClrTx/>
              <a:buSzTx/>
              <a:buFontTx/>
              <a:buNone/>
              <a:tabLst/>
              <a:defRPr/>
            </a:pPr>
            <a:r>
              <a:rPr kumimoji="0" lang="zh-TW" altLang="en-US" sz="1200" i="0" u="none" strike="noStrike" kern="1200" cap="none" spc="0" normalizeH="0" baseline="0" noProof="0">
                <a:ln>
                  <a:noFill/>
                </a:ln>
                <a:solidFill>
                  <a:srgbClr val="575757"/>
                </a:solidFill>
                <a:effectLst/>
                <a:uLnTx/>
                <a:uFillTx/>
                <a:ea typeface="Microsoft YaHei" panose="020B0503020204020204" pitchFamily="34" charset="-122"/>
                <a:cs typeface="+mn-cs"/>
              </a:rPr>
              <a:t>目前</a:t>
            </a:r>
            <a:r>
              <a:rPr kumimoji="0" lang="zh-TW" altLang="en-US" sz="1200" i="0" u="none" strike="noStrike" kern="1200" cap="none" spc="0" normalizeH="0" baseline="0" noProof="0">
                <a:ln>
                  <a:noFill/>
                </a:ln>
                <a:solidFill>
                  <a:srgbClr val="E71C57"/>
                </a:solidFill>
                <a:effectLst/>
                <a:uLnTx/>
                <a:uFillTx/>
                <a:ea typeface="Microsoft YaHei" panose="020B0503020204020204" pitchFamily="34" charset="-122"/>
                <a:cs typeface="+mn-cs"/>
              </a:rPr>
              <a:t>各產品</a:t>
            </a:r>
            <a:r>
              <a:rPr kumimoji="0" lang="en-US" altLang="zh-TW" sz="1200" i="0" u="none" strike="noStrike" kern="1200" cap="none" spc="0" normalizeH="0" baseline="0" noProof="0">
                <a:ln>
                  <a:noFill/>
                </a:ln>
                <a:solidFill>
                  <a:srgbClr val="E71C57"/>
                </a:solidFill>
                <a:effectLst/>
                <a:uLnTx/>
                <a:uFillTx/>
                <a:ea typeface="Microsoft YaHei" panose="020B0503020204020204" pitchFamily="34" charset="-122"/>
                <a:cs typeface="+mn-cs"/>
              </a:rPr>
              <a:t>PM</a:t>
            </a:r>
            <a:r>
              <a:rPr kumimoji="0" lang="zh-TW" altLang="en-US" sz="1200" i="0" u="none" strike="noStrike" kern="1200" cap="none" spc="0" normalizeH="0" baseline="0" noProof="0">
                <a:ln>
                  <a:noFill/>
                </a:ln>
                <a:solidFill>
                  <a:srgbClr val="E71C57"/>
                </a:solidFill>
                <a:effectLst/>
                <a:uLnTx/>
                <a:uFillTx/>
                <a:ea typeface="Microsoft YaHei" panose="020B0503020204020204" pitchFamily="34" charset="-122"/>
                <a:cs typeface="+mn-cs"/>
              </a:rPr>
              <a:t>根據</a:t>
            </a:r>
            <a:r>
              <a:rPr lang="zh-TW" altLang="en-US" sz="1200">
                <a:solidFill>
                  <a:srgbClr val="E71C57"/>
                </a:solidFill>
                <a:ea typeface="Microsoft YaHei" panose="020B0503020204020204" pitchFamily="34" charset="-122"/>
              </a:rPr>
              <a:t>單一</a:t>
            </a:r>
            <a:r>
              <a:rPr kumimoji="0" lang="zh-TW" altLang="en-US" sz="1200" i="0" u="none" strike="noStrike" kern="1200" cap="none" spc="0" normalizeH="0" baseline="0" noProof="0">
                <a:ln>
                  <a:noFill/>
                </a:ln>
                <a:solidFill>
                  <a:srgbClr val="E71C57"/>
                </a:solidFill>
                <a:effectLst/>
                <a:uLnTx/>
                <a:uFillTx/>
                <a:ea typeface="Microsoft YaHei" panose="020B0503020204020204" pitchFamily="34" charset="-122"/>
                <a:cs typeface="+mn-cs"/>
              </a:rPr>
              <a:t>產品提出目標客群畫像</a:t>
            </a:r>
            <a:r>
              <a:rPr kumimoji="0" lang="zh-TW" altLang="en-US" sz="1200" i="0" u="none" strike="noStrike" kern="1200" cap="none" spc="0" normalizeH="0" baseline="0" noProof="0">
                <a:ln>
                  <a:noFill/>
                </a:ln>
                <a:solidFill>
                  <a:srgbClr val="575757"/>
                </a:solidFill>
                <a:effectLst/>
                <a:uLnTx/>
                <a:uFillTx/>
                <a:ea typeface="Microsoft YaHei" panose="020B0503020204020204" pitchFamily="34" charset="-122"/>
                <a:cs typeface="+mn-cs"/>
              </a:rPr>
              <a:t>；達到部分精準行銷</a:t>
            </a:r>
            <a:endParaRPr kumimoji="0" lang="en-US" sz="1200" i="0" u="none" strike="noStrike" kern="1200" cap="none" spc="0" normalizeH="0" baseline="0" noProof="0">
              <a:ln>
                <a:noFill/>
              </a:ln>
              <a:solidFill>
                <a:srgbClr val="295E7E"/>
              </a:solidFill>
              <a:effectLst/>
              <a:uLnTx/>
              <a:uFillTx/>
              <a:ea typeface="Microsoft YaHei" panose="020B0503020204020204" pitchFamily="34" charset="-122"/>
              <a:cs typeface="+mn-cs"/>
            </a:endParaRPr>
          </a:p>
        </p:txBody>
      </p:sp>
      <p:sp>
        <p:nvSpPr>
          <p:cNvPr id="13" name="TextBox 12">
            <a:extLst>
              <a:ext uri="{FF2B5EF4-FFF2-40B4-BE49-F238E27FC236}">
                <a16:creationId xmlns:a16="http://schemas.microsoft.com/office/drawing/2014/main" id="{13C74530-0284-0822-5CB4-93EC7694EBBB}"/>
              </a:ext>
            </a:extLst>
          </p:cNvPr>
          <p:cNvSpPr txBox="1"/>
          <p:nvPr/>
        </p:nvSpPr>
        <p:spPr>
          <a:xfrm>
            <a:off x="8620872" y="2619870"/>
            <a:ext cx="1347017" cy="359543"/>
          </a:xfrm>
          <a:prstGeom prst="rect">
            <a:avLst/>
          </a:prstGeom>
          <a:noFill/>
          <a:ln>
            <a:noFill/>
          </a:ln>
        </p:spPr>
        <p:txBody>
          <a:bodyPr wrap="square" lIns="0" tIns="0" rIns="0" bIns="0" rtlCol="0" anchor="t">
            <a:noAutofit/>
          </a:bodyPr>
          <a:lstStyle/>
          <a:p>
            <a:pPr marL="0" marR="0" lvl="0" indent="0" algn="l" defTabSz="914400" rtl="0" eaLnBrk="1" fontAlgn="auto" latinLnBrk="0" hangingPunct="1">
              <a:lnSpc>
                <a:spcPct val="90000"/>
              </a:lnSpc>
              <a:spcBef>
                <a:spcPts val="0"/>
              </a:spcBef>
              <a:spcAft>
                <a:spcPts val="600"/>
              </a:spcAft>
              <a:buClrTx/>
              <a:buSzTx/>
              <a:buFontTx/>
              <a:buNone/>
              <a:tabLst/>
              <a:defRPr/>
            </a:pPr>
            <a:r>
              <a:rPr lang="zh-TW" altLang="en-US" sz="1200">
                <a:solidFill>
                  <a:srgbClr val="575757"/>
                </a:solidFill>
                <a:ea typeface="Microsoft YaHei" panose="020B0503020204020204" pitchFamily="34" charset="-122"/>
              </a:rPr>
              <a:t>透過</a:t>
            </a:r>
            <a:r>
              <a:rPr lang="zh-TW" altLang="en-US" sz="1200">
                <a:solidFill>
                  <a:srgbClr val="E71C57"/>
                </a:solidFill>
                <a:ea typeface="Microsoft YaHei" panose="020B0503020204020204" pitchFamily="34" charset="-122"/>
              </a:rPr>
              <a:t>固定渠道</a:t>
            </a:r>
            <a:r>
              <a:rPr lang="zh-TW" altLang="en-US" sz="1200">
                <a:solidFill>
                  <a:srgbClr val="575757"/>
                </a:solidFill>
                <a:ea typeface="Microsoft YaHei" panose="020B0503020204020204" pitchFamily="34" charset="-122"/>
              </a:rPr>
              <a:t>發送</a:t>
            </a:r>
            <a:r>
              <a:rPr lang="zh-TW" altLang="en-US" sz="1200">
                <a:solidFill>
                  <a:srgbClr val="E71C57"/>
                </a:solidFill>
                <a:ea typeface="Microsoft YaHei" panose="020B0503020204020204" pitchFamily="34" charset="-122"/>
              </a:rPr>
              <a:t>通用訊息</a:t>
            </a:r>
            <a:endParaRPr kumimoji="0" lang="en-US" sz="1200" i="0" u="none" strike="noStrike" kern="1200" cap="none" spc="0" normalizeH="0" baseline="0" noProof="0">
              <a:ln>
                <a:noFill/>
              </a:ln>
              <a:solidFill>
                <a:srgbClr val="E71C57"/>
              </a:solidFill>
              <a:effectLst/>
              <a:uLnTx/>
              <a:uFillTx/>
              <a:ea typeface="Microsoft YaHei" panose="020B0503020204020204" pitchFamily="34" charset="-122"/>
              <a:cs typeface="+mn-cs"/>
            </a:endParaRPr>
          </a:p>
        </p:txBody>
      </p:sp>
      <p:sp>
        <p:nvSpPr>
          <p:cNvPr id="14" name="TextBox 13">
            <a:extLst>
              <a:ext uri="{FF2B5EF4-FFF2-40B4-BE49-F238E27FC236}">
                <a16:creationId xmlns:a16="http://schemas.microsoft.com/office/drawing/2014/main" id="{0F175810-6AF7-1611-3BC6-634CB984C275}"/>
              </a:ext>
            </a:extLst>
          </p:cNvPr>
          <p:cNvSpPr txBox="1"/>
          <p:nvPr/>
        </p:nvSpPr>
        <p:spPr>
          <a:xfrm>
            <a:off x="10306569" y="2619870"/>
            <a:ext cx="1347017" cy="869767"/>
          </a:xfrm>
          <a:prstGeom prst="rect">
            <a:avLst/>
          </a:prstGeom>
          <a:noFill/>
          <a:ln>
            <a:noFill/>
          </a:ln>
        </p:spPr>
        <p:txBody>
          <a:bodyPr wrap="square" lIns="0" tIns="0" rIns="0" bIns="0" rtlCol="0" anchor="t">
            <a:noAutofit/>
          </a:bodyPr>
          <a:lstStyle/>
          <a:p>
            <a:pPr marL="0" marR="0" lvl="0" indent="0" algn="l" defTabSz="914400" rtl="0" eaLnBrk="1" fontAlgn="auto" latinLnBrk="0" hangingPunct="1">
              <a:lnSpc>
                <a:spcPct val="90000"/>
              </a:lnSpc>
              <a:spcBef>
                <a:spcPts val="0"/>
              </a:spcBef>
              <a:spcAft>
                <a:spcPts val="600"/>
              </a:spcAft>
              <a:buClrTx/>
              <a:buSzTx/>
              <a:buFontTx/>
              <a:buNone/>
              <a:tabLst/>
              <a:defRPr/>
            </a:pPr>
            <a:r>
              <a:rPr kumimoji="0" lang="zh-TW" altLang="en-US" sz="1200" i="0" u="none" strike="noStrike" kern="1200" cap="none" spc="0" normalizeH="0" baseline="0" noProof="0">
                <a:ln>
                  <a:noFill/>
                </a:ln>
                <a:solidFill>
                  <a:srgbClr val="575757"/>
                </a:solidFill>
                <a:effectLst/>
                <a:uLnTx/>
                <a:uFillTx/>
                <a:ea typeface="Microsoft YaHei" panose="020B0503020204020204" pitchFamily="34" charset="-122"/>
                <a:cs typeface="+mn-cs"/>
              </a:rPr>
              <a:t>主要</a:t>
            </a:r>
            <a:r>
              <a:rPr lang="zh-TW" altLang="en-US" sz="1200">
                <a:solidFill>
                  <a:srgbClr val="575757"/>
                </a:solidFill>
                <a:ea typeface="Microsoft YaHei" panose="020B0503020204020204" pitchFamily="34" charset="-122"/>
              </a:rPr>
              <a:t>由</a:t>
            </a:r>
            <a:r>
              <a:rPr lang="zh-TW" altLang="en-US" sz="1200">
                <a:solidFill>
                  <a:srgbClr val="E71C57"/>
                </a:solidFill>
                <a:ea typeface="Microsoft YaHei" panose="020B0503020204020204" pitchFamily="34" charset="-122"/>
              </a:rPr>
              <a:t>各自產品</a:t>
            </a:r>
            <a:r>
              <a:rPr lang="en-US" altLang="zh-TW" sz="1200">
                <a:solidFill>
                  <a:srgbClr val="E71C57"/>
                </a:solidFill>
                <a:ea typeface="Microsoft YaHei" panose="020B0503020204020204" pitchFamily="34" charset="-122"/>
              </a:rPr>
              <a:t>PM</a:t>
            </a:r>
            <a:r>
              <a:rPr lang="zh-TW" altLang="en-US" sz="1200">
                <a:solidFill>
                  <a:srgbClr val="E71C57"/>
                </a:solidFill>
                <a:ea typeface="Microsoft YaHei" panose="020B0503020204020204" pitchFamily="34" charset="-122"/>
              </a:rPr>
              <a:t>追踪成效</a:t>
            </a:r>
            <a:r>
              <a:rPr lang="zh-TW" altLang="en-US" sz="1200">
                <a:solidFill>
                  <a:srgbClr val="575757"/>
                </a:solidFill>
                <a:ea typeface="Microsoft YaHei" panose="020B0503020204020204" pitchFamily="34" charset="-122"/>
              </a:rPr>
              <a:t>，無統一追蹤的客群單位</a:t>
            </a:r>
            <a:endParaRPr lang="en-US" altLang="zh-TW" sz="1200">
              <a:solidFill>
                <a:srgbClr val="575757"/>
              </a:solidFill>
              <a:ea typeface="Microsoft YaHei" panose="020B0503020204020204" pitchFamily="34" charset="-122"/>
            </a:endParaRPr>
          </a:p>
          <a:p>
            <a:pPr marL="0" marR="0" lvl="0" indent="0" algn="l" defTabSz="914400" rtl="0" eaLnBrk="1" fontAlgn="auto" latinLnBrk="0" hangingPunct="1">
              <a:lnSpc>
                <a:spcPct val="90000"/>
              </a:lnSpc>
              <a:spcBef>
                <a:spcPts val="0"/>
              </a:spcBef>
              <a:spcAft>
                <a:spcPts val="600"/>
              </a:spcAft>
              <a:buClrTx/>
              <a:buSzTx/>
              <a:buFontTx/>
              <a:buNone/>
              <a:tabLst/>
              <a:defRPr/>
            </a:pPr>
            <a:r>
              <a:rPr lang="zh-TW" altLang="en-US" sz="1200">
                <a:solidFill>
                  <a:srgbClr val="E71C57"/>
                </a:solidFill>
                <a:ea typeface="Microsoft YaHei" panose="020B0503020204020204" pitchFamily="34" charset="-122"/>
              </a:rPr>
              <a:t>活動</a:t>
            </a:r>
            <a:r>
              <a:rPr kumimoji="0" lang="zh-TW" altLang="en-US" sz="1200" i="0" u="none" strike="noStrike" kern="1200" cap="none" spc="0" normalizeH="0" baseline="0" noProof="0">
                <a:ln>
                  <a:noFill/>
                </a:ln>
                <a:solidFill>
                  <a:srgbClr val="E71C57"/>
                </a:solidFill>
                <a:effectLst/>
                <a:uLnTx/>
                <a:uFillTx/>
                <a:ea typeface="Microsoft YaHei" panose="020B0503020204020204" pitchFamily="34" charset="-122"/>
                <a:cs typeface="+mn-cs"/>
              </a:rPr>
              <a:t>成效未反應</a:t>
            </a:r>
            <a:r>
              <a:rPr kumimoji="0" lang="zh-TW" altLang="en-US" sz="1200" i="0" u="none" strike="noStrike" kern="1200" cap="none" spc="0" normalizeH="0" baseline="0" noProof="0">
                <a:ln>
                  <a:noFill/>
                </a:ln>
                <a:solidFill>
                  <a:srgbClr val="575757"/>
                </a:solidFill>
                <a:effectLst/>
                <a:uLnTx/>
                <a:uFillTx/>
                <a:ea typeface="Microsoft YaHei" panose="020B0503020204020204" pitchFamily="34" charset="-122"/>
                <a:cs typeface="+mn-cs"/>
              </a:rPr>
              <a:t>在模型中，納入下次篩選考量</a:t>
            </a:r>
            <a:endParaRPr lang="en-US" altLang="zh-TW" sz="1200">
              <a:solidFill>
                <a:srgbClr val="575757"/>
              </a:solidFill>
              <a:ea typeface="Microsoft YaHei" panose="020B0503020204020204" pitchFamily="34" charset="-122"/>
            </a:endParaRPr>
          </a:p>
        </p:txBody>
      </p:sp>
      <p:sp>
        <p:nvSpPr>
          <p:cNvPr id="15" name="TextBox 14">
            <a:extLst>
              <a:ext uri="{FF2B5EF4-FFF2-40B4-BE49-F238E27FC236}">
                <a16:creationId xmlns:a16="http://schemas.microsoft.com/office/drawing/2014/main" id="{314C3464-78DD-78E8-D379-BD467761C638}"/>
              </a:ext>
            </a:extLst>
          </p:cNvPr>
          <p:cNvSpPr txBox="1"/>
          <p:nvPr/>
        </p:nvSpPr>
        <p:spPr>
          <a:xfrm>
            <a:off x="2150630" y="5060485"/>
            <a:ext cx="1386348" cy="578771"/>
          </a:xfrm>
          <a:prstGeom prst="rect">
            <a:avLst/>
          </a:prstGeom>
          <a:noFill/>
          <a:ln>
            <a:noFill/>
          </a:ln>
        </p:spPr>
        <p:txBody>
          <a:bodyPr wrap="square" lIns="0" tIns="0" rIns="0" bIns="0" rtlCol="0" anchor="t">
            <a:noAutofit/>
          </a:bodyPr>
          <a:lstStyle/>
          <a:p>
            <a:pPr marL="0" marR="0" lvl="0" indent="0" algn="l" defTabSz="914400" rtl="0" eaLnBrk="1" fontAlgn="auto" latinLnBrk="0" hangingPunct="1">
              <a:lnSpc>
                <a:spcPct val="90000"/>
              </a:lnSpc>
              <a:spcBef>
                <a:spcPts val="0"/>
              </a:spcBef>
              <a:spcAft>
                <a:spcPts val="600"/>
              </a:spcAft>
              <a:buClrTx/>
              <a:buSzTx/>
              <a:buFontTx/>
              <a:buNone/>
              <a:tabLst/>
              <a:defRPr/>
            </a:pPr>
            <a:r>
              <a:rPr lang="zh-TW" altLang="en-US" sz="1200">
                <a:solidFill>
                  <a:srgbClr val="29BA74"/>
                </a:solidFill>
                <a:ea typeface="Microsoft YaHei" panose="020B0503020204020204" pitchFamily="34" charset="-122"/>
              </a:rPr>
              <a:t>透過完整客戶資訊</a:t>
            </a:r>
            <a:r>
              <a:rPr lang="zh-TW" altLang="en-US" sz="1200">
                <a:solidFill>
                  <a:srgbClr val="575757"/>
                </a:solidFill>
                <a:ea typeface="Microsoft YaHei" panose="020B0503020204020204" pitchFamily="34" charset="-122"/>
              </a:rPr>
              <a:t>，包含內部、外部數據，瞭解客戶完整需求</a:t>
            </a:r>
            <a:endParaRPr kumimoji="0" lang="en-US" sz="1200" b="1" i="0" u="none" strike="noStrike" kern="1200" cap="none" spc="0" normalizeH="0" baseline="0" noProof="0">
              <a:ln>
                <a:noFill/>
              </a:ln>
              <a:solidFill>
                <a:srgbClr val="E71C57"/>
              </a:solidFill>
              <a:effectLst/>
              <a:uLnTx/>
              <a:uFillTx/>
              <a:ea typeface="Microsoft YaHei" panose="020B0503020204020204" pitchFamily="34" charset="-122"/>
              <a:cs typeface="+mn-cs"/>
            </a:endParaRPr>
          </a:p>
        </p:txBody>
      </p:sp>
      <p:sp>
        <p:nvSpPr>
          <p:cNvPr id="16" name="TextBox 15">
            <a:extLst>
              <a:ext uri="{FF2B5EF4-FFF2-40B4-BE49-F238E27FC236}">
                <a16:creationId xmlns:a16="http://schemas.microsoft.com/office/drawing/2014/main" id="{535C1D59-A68F-12B6-BFD9-6BCCB8F1922B}"/>
              </a:ext>
            </a:extLst>
          </p:cNvPr>
          <p:cNvSpPr txBox="1"/>
          <p:nvPr/>
        </p:nvSpPr>
        <p:spPr>
          <a:xfrm>
            <a:off x="3620844" y="5060485"/>
            <a:ext cx="1592320" cy="578771"/>
          </a:xfrm>
          <a:prstGeom prst="rect">
            <a:avLst/>
          </a:prstGeom>
          <a:noFill/>
          <a:ln>
            <a:noFill/>
          </a:ln>
        </p:spPr>
        <p:txBody>
          <a:bodyPr wrap="square" lIns="0" tIns="0" rIns="0" bIns="0" rtlCol="0" anchor="t">
            <a:noAutofit/>
          </a:bodyPr>
          <a:lstStyle/>
          <a:p>
            <a:pPr marL="108000" lvl="1">
              <a:spcAft>
                <a:spcPts val="600"/>
              </a:spcAft>
              <a:buClr>
                <a:schemeClr val="tx2"/>
              </a:buClr>
              <a:defRPr/>
            </a:pPr>
            <a:r>
              <a:rPr lang="zh-TW" altLang="en-US" sz="1200">
                <a:ea typeface="Microsoft YaHei" panose="020B0503020204020204" pitchFamily="34" charset="-122"/>
              </a:rPr>
              <a:t>由進階機器學習模型</a:t>
            </a:r>
            <a:r>
              <a:rPr lang="zh-TW" altLang="en-US" sz="1200">
                <a:solidFill>
                  <a:srgbClr val="29BA74"/>
                </a:solidFill>
                <a:ea typeface="Microsoft YaHei" panose="020B0503020204020204" pitchFamily="34" charset="-122"/>
              </a:rPr>
              <a:t>識別高潛力客戶</a:t>
            </a:r>
            <a:endParaRPr kumimoji="0" lang="en-US" sz="1200" b="1" u="none" strike="noStrike" kern="1200" cap="none" spc="0" normalizeH="0" baseline="0" noProof="0">
              <a:ln>
                <a:noFill/>
              </a:ln>
              <a:solidFill>
                <a:srgbClr val="29BA74"/>
              </a:solidFill>
              <a:effectLst/>
              <a:uLnTx/>
              <a:uFillTx/>
              <a:ea typeface="Microsoft YaHei" panose="020B0503020204020204" pitchFamily="34" charset="-122"/>
              <a:cs typeface="+mn-cs"/>
            </a:endParaRPr>
          </a:p>
        </p:txBody>
      </p:sp>
      <p:sp>
        <p:nvSpPr>
          <p:cNvPr id="17" name="TextBox 16">
            <a:extLst>
              <a:ext uri="{FF2B5EF4-FFF2-40B4-BE49-F238E27FC236}">
                <a16:creationId xmlns:a16="http://schemas.microsoft.com/office/drawing/2014/main" id="{9A29A176-E60F-8118-D2EA-924EC1C6361E}"/>
              </a:ext>
            </a:extLst>
          </p:cNvPr>
          <p:cNvSpPr txBox="1"/>
          <p:nvPr/>
        </p:nvSpPr>
        <p:spPr>
          <a:xfrm>
            <a:off x="5408591" y="5083178"/>
            <a:ext cx="1347017" cy="510631"/>
          </a:xfrm>
          <a:prstGeom prst="rect">
            <a:avLst/>
          </a:prstGeom>
          <a:noFill/>
          <a:ln>
            <a:noFill/>
          </a:ln>
        </p:spPr>
        <p:txBody>
          <a:bodyPr wrap="square" lIns="0" tIns="0" rIns="0" bIns="0" rtlCol="0" anchor="t">
            <a:noAutofit/>
          </a:bodyPr>
          <a:lstStyle/>
          <a:p>
            <a:pPr marL="0" marR="0" lvl="0" indent="0" algn="l" defTabSz="914400" rtl="0" eaLnBrk="1" fontAlgn="auto" latinLnBrk="0" hangingPunct="1">
              <a:lnSpc>
                <a:spcPct val="90000"/>
              </a:lnSpc>
              <a:spcBef>
                <a:spcPts val="0"/>
              </a:spcBef>
              <a:spcAft>
                <a:spcPts val="600"/>
              </a:spcAft>
              <a:buClrTx/>
              <a:buSzTx/>
              <a:buFontTx/>
              <a:buNone/>
              <a:tabLst/>
              <a:defRPr/>
            </a:pPr>
            <a:r>
              <a:rPr kumimoji="0" lang="zh-TW" altLang="en-US" sz="1200" i="0" u="none" strike="noStrike" kern="1200" cap="none" spc="0" normalizeH="0" baseline="0" noProof="0">
                <a:ln>
                  <a:noFill/>
                </a:ln>
                <a:solidFill>
                  <a:srgbClr val="575757"/>
                </a:solidFill>
                <a:effectLst/>
                <a:uLnTx/>
                <a:uFillTx/>
                <a:ea typeface="Microsoft YaHei" panose="020B0503020204020204" pitchFamily="34" charset="-122"/>
                <a:cs typeface="+mn-cs"/>
              </a:rPr>
              <a:t>單一客戶</a:t>
            </a:r>
            <a:r>
              <a:rPr kumimoji="0" lang="zh-TW" altLang="en-US" sz="1200" i="0" u="none" strike="noStrike" kern="1200" cap="none" spc="0" normalizeH="0" baseline="0" noProof="0">
                <a:ln>
                  <a:noFill/>
                </a:ln>
                <a:solidFill>
                  <a:srgbClr val="29BA74"/>
                </a:solidFill>
                <a:effectLst/>
                <a:uLnTx/>
                <a:uFillTx/>
                <a:ea typeface="Microsoft YaHei" panose="020B0503020204020204" pitchFamily="34" charset="-122"/>
                <a:cs typeface="+mn-cs"/>
              </a:rPr>
              <a:t>行銷活動經過協調</a:t>
            </a:r>
            <a:r>
              <a:rPr kumimoji="0" lang="zh-TW" altLang="en-US" sz="1200" i="0" u="none" strike="noStrike" kern="1200" cap="none" spc="0" normalizeH="0" baseline="0" noProof="0">
                <a:ln>
                  <a:noFill/>
                </a:ln>
                <a:solidFill>
                  <a:srgbClr val="575757"/>
                </a:solidFill>
                <a:effectLst/>
                <a:uLnTx/>
                <a:uFillTx/>
                <a:ea typeface="Microsoft YaHei" panose="020B0503020204020204" pitchFamily="34" charset="-122"/>
                <a:cs typeface="+mn-cs"/>
              </a:rPr>
              <a:t>；非隨機接觸</a:t>
            </a:r>
            <a:endParaRPr kumimoji="0" lang="en-US" sz="1200" i="0" u="none" strike="noStrike" kern="1200" cap="none" spc="0" normalizeH="0" baseline="0" noProof="0">
              <a:ln>
                <a:noFill/>
              </a:ln>
              <a:solidFill>
                <a:srgbClr val="575757"/>
              </a:solidFill>
              <a:effectLst/>
              <a:uLnTx/>
              <a:uFillTx/>
              <a:ea typeface="Microsoft YaHei" panose="020B0503020204020204" pitchFamily="34" charset="-122"/>
              <a:cs typeface="+mn-cs"/>
            </a:endParaRPr>
          </a:p>
        </p:txBody>
      </p:sp>
      <p:sp>
        <p:nvSpPr>
          <p:cNvPr id="20" name="TextBox 19">
            <a:extLst>
              <a:ext uri="{FF2B5EF4-FFF2-40B4-BE49-F238E27FC236}">
                <a16:creationId xmlns:a16="http://schemas.microsoft.com/office/drawing/2014/main" id="{A83C9A65-64BD-F098-5B66-AC767041C8A6}"/>
              </a:ext>
            </a:extLst>
          </p:cNvPr>
          <p:cNvSpPr txBox="1"/>
          <p:nvPr/>
        </p:nvSpPr>
        <p:spPr>
          <a:xfrm>
            <a:off x="8620872" y="5090086"/>
            <a:ext cx="1347017" cy="359543"/>
          </a:xfrm>
          <a:prstGeom prst="rect">
            <a:avLst/>
          </a:prstGeom>
          <a:noFill/>
          <a:ln>
            <a:noFill/>
          </a:ln>
        </p:spPr>
        <p:txBody>
          <a:bodyPr wrap="square" lIns="0" tIns="0" rIns="0" bIns="0" rtlCol="0" anchor="t">
            <a:noAutofit/>
          </a:bodyPr>
          <a:lstStyle/>
          <a:p>
            <a:pPr marL="0" marR="0" lvl="0" indent="0" algn="l" defTabSz="914400" rtl="0" eaLnBrk="1" fontAlgn="auto" latinLnBrk="0" hangingPunct="1">
              <a:lnSpc>
                <a:spcPct val="90000"/>
              </a:lnSpc>
              <a:spcBef>
                <a:spcPts val="0"/>
              </a:spcBef>
              <a:spcAft>
                <a:spcPts val="600"/>
              </a:spcAft>
              <a:buClrTx/>
              <a:buSzTx/>
              <a:buFontTx/>
              <a:buNone/>
              <a:tabLst/>
              <a:defRPr/>
            </a:pPr>
            <a:r>
              <a:rPr kumimoji="0" lang="zh-TW" altLang="en-US" sz="1200" i="0" u="none" strike="noStrike" kern="1200" cap="none" spc="0" normalizeH="0" baseline="0" noProof="0">
                <a:ln>
                  <a:noFill/>
                </a:ln>
                <a:solidFill>
                  <a:srgbClr val="575757"/>
                </a:solidFill>
                <a:effectLst/>
                <a:uLnTx/>
                <a:uFillTx/>
                <a:ea typeface="Microsoft YaHei" panose="020B0503020204020204" pitchFamily="34" charset="-122"/>
                <a:cs typeface="+mn-cs"/>
              </a:rPr>
              <a:t>在客戶偏好的接觸管道，提供個性化訊息</a:t>
            </a:r>
            <a:endParaRPr kumimoji="0" lang="en-US" sz="1200" i="0" u="none" strike="noStrike" kern="1200" cap="none" spc="0" normalizeH="0" baseline="0" noProof="0">
              <a:ln>
                <a:noFill/>
              </a:ln>
              <a:solidFill>
                <a:srgbClr val="295E7E"/>
              </a:solidFill>
              <a:effectLst/>
              <a:uLnTx/>
              <a:uFillTx/>
              <a:ea typeface="Microsoft YaHei" panose="020B0503020204020204" pitchFamily="34" charset="-122"/>
              <a:cs typeface="+mn-cs"/>
            </a:endParaRPr>
          </a:p>
        </p:txBody>
      </p:sp>
      <p:sp>
        <p:nvSpPr>
          <p:cNvPr id="21" name="TextBox 20">
            <a:extLst>
              <a:ext uri="{FF2B5EF4-FFF2-40B4-BE49-F238E27FC236}">
                <a16:creationId xmlns:a16="http://schemas.microsoft.com/office/drawing/2014/main" id="{6D00C78E-594E-2B73-0C73-23171C1B9C30}"/>
              </a:ext>
            </a:extLst>
          </p:cNvPr>
          <p:cNvSpPr txBox="1"/>
          <p:nvPr/>
        </p:nvSpPr>
        <p:spPr>
          <a:xfrm>
            <a:off x="10306569" y="5090086"/>
            <a:ext cx="1347017" cy="495468"/>
          </a:xfrm>
          <a:prstGeom prst="rect">
            <a:avLst/>
          </a:prstGeom>
          <a:noFill/>
          <a:ln>
            <a:noFill/>
          </a:ln>
        </p:spPr>
        <p:txBody>
          <a:bodyPr wrap="square" lIns="0" tIns="0" rIns="0" bIns="0" rtlCol="0" anchor="t">
            <a:noAutofit/>
          </a:bodyPr>
          <a:lstStyle/>
          <a:p>
            <a:pPr marL="0" marR="0" lvl="0" indent="0" algn="l" defTabSz="914400" rtl="0" eaLnBrk="1" fontAlgn="auto" latinLnBrk="0" hangingPunct="1">
              <a:lnSpc>
                <a:spcPct val="90000"/>
              </a:lnSpc>
              <a:spcBef>
                <a:spcPts val="0"/>
              </a:spcBef>
              <a:spcAft>
                <a:spcPts val="600"/>
              </a:spcAft>
              <a:buClrTx/>
              <a:buSzTx/>
              <a:buFontTx/>
              <a:buNone/>
              <a:tabLst/>
              <a:defRPr/>
            </a:pPr>
            <a:r>
              <a:rPr kumimoji="0" lang="zh-TW" altLang="en-US" sz="1200" i="0" u="none" strike="noStrike" kern="1200" cap="none" spc="0" normalizeH="0" baseline="0" noProof="0">
                <a:ln>
                  <a:noFill/>
                </a:ln>
                <a:solidFill>
                  <a:srgbClr val="575757"/>
                </a:solidFill>
                <a:effectLst/>
                <a:uLnTx/>
                <a:uFillTx/>
                <a:ea typeface="Microsoft YaHei" panose="020B0503020204020204" pitchFamily="34" charset="-122"/>
                <a:cs typeface="+mn-cs"/>
              </a:rPr>
              <a:t>透過</a:t>
            </a:r>
            <a:r>
              <a:rPr kumimoji="0" lang="zh-TW" altLang="en-US" sz="1200" i="0" u="none" strike="noStrike" kern="1200" cap="none" spc="0" normalizeH="0" baseline="0" noProof="0">
                <a:ln>
                  <a:noFill/>
                </a:ln>
                <a:solidFill>
                  <a:srgbClr val="29BA74"/>
                </a:solidFill>
                <a:effectLst/>
                <a:uLnTx/>
                <a:uFillTx/>
                <a:ea typeface="Microsoft YaHei" panose="020B0503020204020204" pitchFamily="34" charset="-122"/>
                <a:cs typeface="+mn-cs"/>
              </a:rPr>
              <a:t>反饋機制</a:t>
            </a:r>
            <a:r>
              <a:rPr kumimoji="0" lang="zh-TW" altLang="en-US" sz="1200" i="0" u="none" strike="noStrike" kern="1200" cap="none" spc="0" normalizeH="0" baseline="0" noProof="0">
                <a:ln>
                  <a:noFill/>
                </a:ln>
                <a:solidFill>
                  <a:srgbClr val="575757"/>
                </a:solidFill>
                <a:effectLst/>
                <a:uLnTx/>
                <a:uFillTx/>
                <a:ea typeface="Microsoft YaHei" panose="020B0503020204020204" pitchFamily="34" charset="-122"/>
                <a:cs typeface="+mn-cs"/>
              </a:rPr>
              <a:t>，將</a:t>
            </a:r>
            <a:r>
              <a:rPr kumimoji="0" lang="zh-TW" altLang="en-US" sz="1200" i="0" u="none" strike="noStrike" kern="1200" cap="none" spc="0" normalizeH="0" baseline="0" noProof="0">
                <a:ln>
                  <a:noFill/>
                </a:ln>
                <a:solidFill>
                  <a:srgbClr val="29BA74"/>
                </a:solidFill>
                <a:effectLst/>
                <a:uLnTx/>
                <a:uFillTx/>
                <a:ea typeface="Microsoft YaHei" panose="020B0503020204020204" pitchFamily="34" charset="-122"/>
                <a:cs typeface="+mn-cs"/>
              </a:rPr>
              <a:t>行銷活動成效重新輸入至模型</a:t>
            </a:r>
            <a:endParaRPr kumimoji="0" lang="en-US" sz="1200" i="0" u="none" strike="noStrike" kern="1200" cap="none" spc="0" normalizeH="0" baseline="0" noProof="0">
              <a:ln>
                <a:noFill/>
              </a:ln>
              <a:solidFill>
                <a:srgbClr val="29BA74"/>
              </a:solidFill>
              <a:effectLst/>
              <a:uLnTx/>
              <a:uFillTx/>
              <a:ea typeface="Microsoft YaHei" panose="020B0503020204020204" pitchFamily="34" charset="-122"/>
              <a:cs typeface="+mn-cs"/>
            </a:endParaRPr>
          </a:p>
        </p:txBody>
      </p:sp>
      <p:pic>
        <p:nvPicPr>
          <p:cNvPr id="6" name="Picture 5">
            <a:extLst>
              <a:ext uri="{FF2B5EF4-FFF2-40B4-BE49-F238E27FC236}">
                <a16:creationId xmlns:a16="http://schemas.microsoft.com/office/drawing/2014/main" id="{985E9C82-EF6A-91F7-948B-EBCE317F0270}"/>
              </a:ext>
            </a:extLst>
          </p:cNvPr>
          <p:cNvPicPr>
            <a:picLocks noChangeAspect="1"/>
          </p:cNvPicPr>
          <p:nvPr/>
        </p:nvPicPr>
        <p:blipFill>
          <a:blip r:embed="rId11">
            <a:clrChange>
              <a:clrFrom>
                <a:srgbClr val="FFFFFF"/>
              </a:clrFrom>
              <a:clrTo>
                <a:srgbClr val="FFFFFF">
                  <a:alpha val="0"/>
                </a:srgbClr>
              </a:clrTo>
            </a:clrChange>
          </a:blip>
          <a:stretch>
            <a:fillRect/>
          </a:stretch>
        </p:blipFill>
        <p:spPr>
          <a:xfrm>
            <a:off x="715344" y="1795020"/>
            <a:ext cx="871249" cy="968055"/>
          </a:xfrm>
          <a:prstGeom prst="rect">
            <a:avLst/>
          </a:prstGeom>
        </p:spPr>
      </p:pic>
      <p:sp>
        <p:nvSpPr>
          <p:cNvPr id="7" name="Right Arrow 3">
            <a:extLst>
              <a:ext uri="{FF2B5EF4-FFF2-40B4-BE49-F238E27FC236}">
                <a16:creationId xmlns:a16="http://schemas.microsoft.com/office/drawing/2014/main" id="{02CC62EE-84F6-BC9E-AAFA-117BD139B380}"/>
              </a:ext>
            </a:extLst>
          </p:cNvPr>
          <p:cNvSpPr/>
          <p:nvPr/>
        </p:nvSpPr>
        <p:spPr>
          <a:xfrm rot="5400000" flipV="1">
            <a:off x="833276" y="3743182"/>
            <a:ext cx="590553" cy="916086"/>
          </a:xfrm>
          <a:custGeom>
            <a:avLst/>
            <a:gdLst>
              <a:gd name="connsiteX0" fmla="*/ 0 w 5535827"/>
              <a:gd name="connsiteY0" fmla="*/ 564292 h 2257168"/>
              <a:gd name="connsiteX1" fmla="*/ 4407243 w 5535827"/>
              <a:gd name="connsiteY1" fmla="*/ 564292 h 2257168"/>
              <a:gd name="connsiteX2" fmla="*/ 4407243 w 5535827"/>
              <a:gd name="connsiteY2" fmla="*/ 0 h 2257168"/>
              <a:gd name="connsiteX3" fmla="*/ 5535827 w 5535827"/>
              <a:gd name="connsiteY3" fmla="*/ 1128584 h 2257168"/>
              <a:gd name="connsiteX4" fmla="*/ 4407243 w 5535827"/>
              <a:gd name="connsiteY4" fmla="*/ 2257168 h 2257168"/>
              <a:gd name="connsiteX5" fmla="*/ 4407243 w 5535827"/>
              <a:gd name="connsiteY5" fmla="*/ 1692876 h 2257168"/>
              <a:gd name="connsiteX6" fmla="*/ 0 w 5535827"/>
              <a:gd name="connsiteY6" fmla="*/ 1692876 h 2257168"/>
              <a:gd name="connsiteX7" fmla="*/ 0 w 5535827"/>
              <a:gd name="connsiteY7" fmla="*/ 564292 h 2257168"/>
              <a:gd name="connsiteX0" fmla="*/ 0 w 6993924"/>
              <a:gd name="connsiteY0" fmla="*/ 0 h 3258065"/>
              <a:gd name="connsiteX1" fmla="*/ 5865340 w 6993924"/>
              <a:gd name="connsiteY1" fmla="*/ 1565189 h 3258065"/>
              <a:gd name="connsiteX2" fmla="*/ 5865340 w 6993924"/>
              <a:gd name="connsiteY2" fmla="*/ 1000897 h 3258065"/>
              <a:gd name="connsiteX3" fmla="*/ 6993924 w 6993924"/>
              <a:gd name="connsiteY3" fmla="*/ 2129481 h 3258065"/>
              <a:gd name="connsiteX4" fmla="*/ 5865340 w 6993924"/>
              <a:gd name="connsiteY4" fmla="*/ 3258065 h 3258065"/>
              <a:gd name="connsiteX5" fmla="*/ 5865340 w 6993924"/>
              <a:gd name="connsiteY5" fmla="*/ 2693773 h 3258065"/>
              <a:gd name="connsiteX6" fmla="*/ 1458097 w 6993924"/>
              <a:gd name="connsiteY6" fmla="*/ 2693773 h 3258065"/>
              <a:gd name="connsiteX7" fmla="*/ 0 w 6993924"/>
              <a:gd name="connsiteY7" fmla="*/ 0 h 3258065"/>
              <a:gd name="connsiteX0" fmla="*/ 32951 w 7026875"/>
              <a:gd name="connsiteY0" fmla="*/ 0 h 4242486"/>
              <a:gd name="connsiteX1" fmla="*/ 5898291 w 7026875"/>
              <a:gd name="connsiteY1" fmla="*/ 1565189 h 4242486"/>
              <a:gd name="connsiteX2" fmla="*/ 5898291 w 7026875"/>
              <a:gd name="connsiteY2" fmla="*/ 1000897 h 4242486"/>
              <a:gd name="connsiteX3" fmla="*/ 7026875 w 7026875"/>
              <a:gd name="connsiteY3" fmla="*/ 2129481 h 4242486"/>
              <a:gd name="connsiteX4" fmla="*/ 5898291 w 7026875"/>
              <a:gd name="connsiteY4" fmla="*/ 3258065 h 4242486"/>
              <a:gd name="connsiteX5" fmla="*/ 5898291 w 7026875"/>
              <a:gd name="connsiteY5" fmla="*/ 2693773 h 4242486"/>
              <a:gd name="connsiteX6" fmla="*/ 0 w 7026875"/>
              <a:gd name="connsiteY6" fmla="*/ 4242486 h 4242486"/>
              <a:gd name="connsiteX7" fmla="*/ 32951 w 7026875"/>
              <a:gd name="connsiteY7" fmla="*/ 0 h 4242486"/>
              <a:gd name="connsiteX0" fmla="*/ 32951 w 7026875"/>
              <a:gd name="connsiteY0" fmla="*/ 0 h 4242486"/>
              <a:gd name="connsiteX1" fmla="*/ 5898291 w 7026875"/>
              <a:gd name="connsiteY1" fmla="*/ 1565189 h 4242486"/>
              <a:gd name="connsiteX2" fmla="*/ 5898291 w 7026875"/>
              <a:gd name="connsiteY2" fmla="*/ 1000897 h 4242486"/>
              <a:gd name="connsiteX3" fmla="*/ 7026875 w 7026875"/>
              <a:gd name="connsiteY3" fmla="*/ 2129481 h 4242486"/>
              <a:gd name="connsiteX4" fmla="*/ 5898291 w 7026875"/>
              <a:gd name="connsiteY4" fmla="*/ 3258065 h 4242486"/>
              <a:gd name="connsiteX5" fmla="*/ 5898291 w 7026875"/>
              <a:gd name="connsiteY5" fmla="*/ 2693773 h 4242486"/>
              <a:gd name="connsiteX6" fmla="*/ 0 w 7026875"/>
              <a:gd name="connsiteY6" fmla="*/ 4242486 h 4242486"/>
              <a:gd name="connsiteX7" fmla="*/ 32951 w 7026875"/>
              <a:gd name="connsiteY7" fmla="*/ 0 h 4242486"/>
              <a:gd name="connsiteX0" fmla="*/ 32951 w 7026875"/>
              <a:gd name="connsiteY0" fmla="*/ 0 h 4242486"/>
              <a:gd name="connsiteX1" fmla="*/ 5898291 w 7026875"/>
              <a:gd name="connsiteY1" fmla="*/ 1565189 h 4242486"/>
              <a:gd name="connsiteX2" fmla="*/ 5898291 w 7026875"/>
              <a:gd name="connsiteY2" fmla="*/ 1000897 h 4242486"/>
              <a:gd name="connsiteX3" fmla="*/ 7026875 w 7026875"/>
              <a:gd name="connsiteY3" fmla="*/ 2129481 h 4242486"/>
              <a:gd name="connsiteX4" fmla="*/ 5898291 w 7026875"/>
              <a:gd name="connsiteY4" fmla="*/ 3258065 h 4242486"/>
              <a:gd name="connsiteX5" fmla="*/ 5898291 w 7026875"/>
              <a:gd name="connsiteY5" fmla="*/ 2693773 h 4242486"/>
              <a:gd name="connsiteX6" fmla="*/ 0 w 7026875"/>
              <a:gd name="connsiteY6" fmla="*/ 4242486 h 4242486"/>
              <a:gd name="connsiteX7" fmla="*/ 32951 w 7026875"/>
              <a:gd name="connsiteY7" fmla="*/ 0 h 4242486"/>
              <a:gd name="connsiteX0" fmla="*/ 32951 w 7026875"/>
              <a:gd name="connsiteY0" fmla="*/ 0 h 4242486"/>
              <a:gd name="connsiteX1" fmla="*/ 5898291 w 7026875"/>
              <a:gd name="connsiteY1" fmla="*/ 1565189 h 4242486"/>
              <a:gd name="connsiteX2" fmla="*/ 5898291 w 7026875"/>
              <a:gd name="connsiteY2" fmla="*/ 1000897 h 4242486"/>
              <a:gd name="connsiteX3" fmla="*/ 7026875 w 7026875"/>
              <a:gd name="connsiteY3" fmla="*/ 2129481 h 4242486"/>
              <a:gd name="connsiteX4" fmla="*/ 5898291 w 7026875"/>
              <a:gd name="connsiteY4" fmla="*/ 3258065 h 4242486"/>
              <a:gd name="connsiteX5" fmla="*/ 5898291 w 7026875"/>
              <a:gd name="connsiteY5" fmla="*/ 2693773 h 4242486"/>
              <a:gd name="connsiteX6" fmla="*/ 0 w 7026875"/>
              <a:gd name="connsiteY6" fmla="*/ 4242486 h 4242486"/>
              <a:gd name="connsiteX7" fmla="*/ 32951 w 7026875"/>
              <a:gd name="connsiteY7" fmla="*/ 0 h 4242486"/>
              <a:gd name="connsiteX0" fmla="*/ 32951 w 7026875"/>
              <a:gd name="connsiteY0" fmla="*/ 0 h 4242486"/>
              <a:gd name="connsiteX1" fmla="*/ 5898291 w 7026875"/>
              <a:gd name="connsiteY1" fmla="*/ 1565189 h 4242486"/>
              <a:gd name="connsiteX2" fmla="*/ 5898291 w 7026875"/>
              <a:gd name="connsiteY2" fmla="*/ 1000897 h 4242486"/>
              <a:gd name="connsiteX3" fmla="*/ 7026875 w 7026875"/>
              <a:gd name="connsiteY3" fmla="*/ 2129481 h 4242486"/>
              <a:gd name="connsiteX4" fmla="*/ 5898291 w 7026875"/>
              <a:gd name="connsiteY4" fmla="*/ 3258065 h 4242486"/>
              <a:gd name="connsiteX5" fmla="*/ 5898291 w 7026875"/>
              <a:gd name="connsiteY5" fmla="*/ 2693773 h 4242486"/>
              <a:gd name="connsiteX6" fmla="*/ 0 w 7026875"/>
              <a:gd name="connsiteY6" fmla="*/ 4242486 h 4242486"/>
              <a:gd name="connsiteX7" fmla="*/ 32951 w 7026875"/>
              <a:gd name="connsiteY7" fmla="*/ 0 h 4242486"/>
              <a:gd name="connsiteX0" fmla="*/ 32951 w 7026875"/>
              <a:gd name="connsiteY0" fmla="*/ 0 h 4242486"/>
              <a:gd name="connsiteX1" fmla="*/ 5898291 w 7026875"/>
              <a:gd name="connsiteY1" fmla="*/ 1565189 h 4242486"/>
              <a:gd name="connsiteX2" fmla="*/ 5898291 w 7026875"/>
              <a:gd name="connsiteY2" fmla="*/ 1000897 h 4242486"/>
              <a:gd name="connsiteX3" fmla="*/ 7026875 w 7026875"/>
              <a:gd name="connsiteY3" fmla="*/ 2129481 h 4242486"/>
              <a:gd name="connsiteX4" fmla="*/ 5898291 w 7026875"/>
              <a:gd name="connsiteY4" fmla="*/ 3258065 h 4242486"/>
              <a:gd name="connsiteX5" fmla="*/ 5898291 w 7026875"/>
              <a:gd name="connsiteY5" fmla="*/ 2693773 h 4242486"/>
              <a:gd name="connsiteX6" fmla="*/ 0 w 7026875"/>
              <a:gd name="connsiteY6" fmla="*/ 4242486 h 4242486"/>
              <a:gd name="connsiteX7" fmla="*/ 32951 w 7026875"/>
              <a:gd name="connsiteY7" fmla="*/ 0 h 4242486"/>
              <a:gd name="connsiteX0" fmla="*/ 32951 w 7417891"/>
              <a:gd name="connsiteY0" fmla="*/ 0 h 4242486"/>
              <a:gd name="connsiteX1" fmla="*/ 5898291 w 7417891"/>
              <a:gd name="connsiteY1" fmla="*/ 1565189 h 4242486"/>
              <a:gd name="connsiteX2" fmla="*/ 5898291 w 7417891"/>
              <a:gd name="connsiteY2" fmla="*/ 1000897 h 4242486"/>
              <a:gd name="connsiteX3" fmla="*/ 7417892 w 7417891"/>
              <a:gd name="connsiteY3" fmla="*/ 2129480 h 4242486"/>
              <a:gd name="connsiteX4" fmla="*/ 5898291 w 7417891"/>
              <a:gd name="connsiteY4" fmla="*/ 3258065 h 4242486"/>
              <a:gd name="connsiteX5" fmla="*/ 5898291 w 7417891"/>
              <a:gd name="connsiteY5" fmla="*/ 2693773 h 4242486"/>
              <a:gd name="connsiteX6" fmla="*/ 0 w 7417891"/>
              <a:gd name="connsiteY6" fmla="*/ 4242486 h 4242486"/>
              <a:gd name="connsiteX7" fmla="*/ 32951 w 7417891"/>
              <a:gd name="connsiteY7" fmla="*/ 0 h 4242486"/>
              <a:gd name="connsiteX0" fmla="*/ 32951 w 8127008"/>
              <a:gd name="connsiteY0" fmla="*/ 0 h 4242486"/>
              <a:gd name="connsiteX1" fmla="*/ 5898291 w 8127008"/>
              <a:gd name="connsiteY1" fmla="*/ 1565189 h 4242486"/>
              <a:gd name="connsiteX2" fmla="*/ 5898291 w 8127008"/>
              <a:gd name="connsiteY2" fmla="*/ 1000897 h 4242486"/>
              <a:gd name="connsiteX3" fmla="*/ 8127010 w 8127008"/>
              <a:gd name="connsiteY3" fmla="*/ 2129480 h 4242486"/>
              <a:gd name="connsiteX4" fmla="*/ 5898291 w 8127008"/>
              <a:gd name="connsiteY4" fmla="*/ 3258065 h 4242486"/>
              <a:gd name="connsiteX5" fmla="*/ 5898291 w 8127008"/>
              <a:gd name="connsiteY5" fmla="*/ 2693773 h 4242486"/>
              <a:gd name="connsiteX6" fmla="*/ 0 w 8127008"/>
              <a:gd name="connsiteY6" fmla="*/ 4242486 h 4242486"/>
              <a:gd name="connsiteX7" fmla="*/ 32951 w 8127008"/>
              <a:gd name="connsiteY7" fmla="*/ 0 h 4242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27008" h="4242486">
                <a:moveTo>
                  <a:pt x="32951" y="0"/>
                </a:moveTo>
                <a:cubicBezTo>
                  <a:pt x="1790356" y="1230184"/>
                  <a:pt x="3852562" y="1397686"/>
                  <a:pt x="5898291" y="1565189"/>
                </a:cubicBezTo>
                <a:lnTo>
                  <a:pt x="5898291" y="1000897"/>
                </a:lnTo>
                <a:lnTo>
                  <a:pt x="8127010" y="2129480"/>
                </a:lnTo>
                <a:lnTo>
                  <a:pt x="5898291" y="3258065"/>
                </a:lnTo>
                <a:lnTo>
                  <a:pt x="5898291" y="2693773"/>
                </a:lnTo>
                <a:cubicBezTo>
                  <a:pt x="3726248" y="2880497"/>
                  <a:pt x="1784865" y="3479113"/>
                  <a:pt x="0" y="4242486"/>
                </a:cubicBezTo>
                <a:lnTo>
                  <a:pt x="32951" y="0"/>
                </a:lnTo>
                <a:close/>
              </a:path>
            </a:pathLst>
          </a:custGeom>
          <a:gradFill flip="none" rotWithShape="1">
            <a:gsLst>
              <a:gs pos="0">
                <a:schemeClr val="accent1"/>
              </a:gs>
              <a:gs pos="57000">
                <a:schemeClr val="tx2"/>
              </a:gs>
              <a:gs pos="100000">
                <a:schemeClr val="accent6">
                  <a:lumMod val="20000"/>
                  <a:lumOff val="80000"/>
                </a:schemeClr>
              </a:gs>
            </a:gsLst>
            <a:lin ang="10800000" scaled="1"/>
            <a:tileRect/>
          </a:gradFill>
          <a:ln w="15875" cap="flat" cmpd="sng" algn="ctr">
            <a:gradFill>
              <a:gsLst>
                <a:gs pos="31000">
                  <a:srgbClr val="FFFFFF"/>
                </a:gs>
                <a:gs pos="0">
                  <a:schemeClr val="bg1">
                    <a:alpha val="0"/>
                  </a:schemeClr>
                </a:gs>
                <a:gs pos="100000">
                  <a:schemeClr val="bg1"/>
                </a:gs>
              </a:gsLst>
              <a:lin ang="0" scaled="0"/>
            </a:gradFill>
            <a:prstDash val="solid"/>
          </a:ln>
          <a:effectLst/>
        </p:spPr>
        <p:txBody>
          <a:bodyPr lIns="144000" tIns="144000" rIns="144000" bIns="144000"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95000"/>
              </a:lnSpc>
            </a:pPr>
            <a:endParaRPr lang="en-US" kern="0" err="1">
              <a:solidFill>
                <a:prstClr val="white">
                  <a:lumMod val="50000"/>
                </a:prstClr>
              </a:solidFill>
              <a:cs typeface="+mn-ea"/>
              <a:sym typeface="+mn-lt"/>
            </a:endParaRPr>
          </a:p>
        </p:txBody>
      </p:sp>
      <p:sp>
        <p:nvSpPr>
          <p:cNvPr id="23" name="Oval 20">
            <a:extLst>
              <a:ext uri="{FF2B5EF4-FFF2-40B4-BE49-F238E27FC236}">
                <a16:creationId xmlns:a16="http://schemas.microsoft.com/office/drawing/2014/main" id="{6AC63D11-FE63-CB5E-7538-E06C2C909515}"/>
              </a:ext>
            </a:extLst>
          </p:cNvPr>
          <p:cNvSpPr>
            <a:spLocks noChangeAspect="1" noChangeArrowheads="1"/>
          </p:cNvSpPr>
          <p:nvPr/>
        </p:nvSpPr>
        <p:spPr bwMode="auto">
          <a:xfrm>
            <a:off x="186544" y="98006"/>
            <a:ext cx="299290" cy="299290"/>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sz="1200">
                <a:solidFill>
                  <a:schemeClr val="bg1"/>
                </a:solidFill>
                <a:ea typeface="Microsoft YaHei" panose="020B0503020204020204" pitchFamily="34" charset="-122"/>
              </a:rPr>
              <a:t>1</a:t>
            </a:r>
          </a:p>
        </p:txBody>
      </p:sp>
      <p:sp>
        <p:nvSpPr>
          <p:cNvPr id="24" name="TextBox 23">
            <a:extLst>
              <a:ext uri="{FF2B5EF4-FFF2-40B4-BE49-F238E27FC236}">
                <a16:creationId xmlns:a16="http://schemas.microsoft.com/office/drawing/2014/main" id="{1A98873B-5E29-8936-EB64-67CD02258C6C}"/>
              </a:ext>
            </a:extLst>
          </p:cNvPr>
          <p:cNvSpPr txBox="1"/>
          <p:nvPr/>
        </p:nvSpPr>
        <p:spPr>
          <a:xfrm>
            <a:off x="490697" y="128208"/>
            <a:ext cx="2217333" cy="276999"/>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a:spAutoFit/>
          </a:bodyPr>
          <a:lstStyle/>
          <a:p>
            <a:r>
              <a:rPr lang="zh-TW" altLang="en-US" sz="1200">
                <a:solidFill>
                  <a:srgbClr val="575757"/>
                </a:solidFill>
                <a:latin typeface="Trebuchet MS" panose="020B0603020202020204" pitchFamily="34" charset="0"/>
                <a:ea typeface="Microsoft YaHei" panose="020B0503020204020204" pitchFamily="34" charset="-122"/>
              </a:rPr>
              <a:t>優化預測模型，個性化經營</a:t>
            </a:r>
            <a:endParaRPr lang="en-US" sz="1200">
              <a:solidFill>
                <a:srgbClr val="575757"/>
              </a:solidFill>
              <a:ea typeface="Microsoft YaHei" panose="020B0503020204020204" pitchFamily="34" charset="-122"/>
            </a:endParaRPr>
          </a:p>
        </p:txBody>
      </p:sp>
    </p:spTree>
    <p:extLst>
      <p:ext uri="{BB962C8B-B14F-4D97-AF65-F5344CB8AC3E}">
        <p14:creationId xmlns:p14="http://schemas.microsoft.com/office/powerpoint/2010/main" val="359089092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3057A7DF-60FB-95FD-8CDE-BE85D57E4B1D}"/>
              </a:ext>
            </a:extLst>
          </p:cNvPr>
          <p:cNvGraphicFramePr>
            <a:graphicFrameLocks noChangeAspect="1"/>
          </p:cNvGraphicFramePr>
          <p:nvPr>
            <p:custDataLst>
              <p:tags r:id="rId1"/>
            </p:custDataLst>
            <p:extLst>
              <p:ext uri="{D42A27DB-BD31-4B8C-83A1-F6EECF244321}">
                <p14:modId xmlns:p14="http://schemas.microsoft.com/office/powerpoint/2010/main" val="414582286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04" imgH="405" progId="TCLayout.ActiveDocument.1">
                  <p:embed/>
                </p:oleObj>
              </mc:Choice>
              <mc:Fallback>
                <p:oleObj name="think-cell Slide" r:id="rId4" imgW="404" imgH="405" progId="TCLayout.ActiveDocument.1">
                  <p:embed/>
                  <p:pic>
                    <p:nvPicPr>
                      <p:cNvPr id="4" name="think-cell data - do not delete" hidden="1">
                        <a:extLst>
                          <a:ext uri="{FF2B5EF4-FFF2-40B4-BE49-F238E27FC236}">
                            <a16:creationId xmlns:a16="http://schemas.microsoft.com/office/drawing/2014/main" id="{3057A7DF-60FB-95FD-8CDE-BE85D57E4B1D}"/>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1B1DCAD0-1400-9E16-430D-7B2C0AF5540A}"/>
              </a:ext>
            </a:extLst>
          </p:cNvPr>
          <p:cNvSpPr>
            <a:spLocks noGrp="1"/>
          </p:cNvSpPr>
          <p:nvPr>
            <p:ph type="title"/>
          </p:nvPr>
        </p:nvSpPr>
        <p:spPr>
          <a:xfrm>
            <a:off x="630000" y="622800"/>
            <a:ext cx="10933350" cy="332399"/>
          </a:xfrm>
        </p:spPr>
        <p:txBody>
          <a:bodyPr vert="horz"/>
          <a:lstStyle/>
          <a:p>
            <a:r>
              <a:rPr lang="zh-TW" altLang="en-US">
                <a:ea typeface="Microsoft YaHei" panose="020B0503020204020204" pitchFamily="34" charset="-122"/>
              </a:rPr>
              <a:t>支撐凱基朝往更精準個性化經營的六大基石</a:t>
            </a:r>
            <a:endParaRPr lang="en-US">
              <a:ea typeface="Microsoft YaHei" panose="020B0503020204020204" pitchFamily="34" charset="-122"/>
            </a:endParaRPr>
          </a:p>
        </p:txBody>
      </p:sp>
      <p:sp>
        <p:nvSpPr>
          <p:cNvPr id="6" name="TextBox 5">
            <a:extLst>
              <a:ext uri="{FF2B5EF4-FFF2-40B4-BE49-F238E27FC236}">
                <a16:creationId xmlns:a16="http://schemas.microsoft.com/office/drawing/2014/main" id="{492B5227-0825-41FA-2E96-6A9CE2372E7D}"/>
              </a:ext>
            </a:extLst>
          </p:cNvPr>
          <p:cNvSpPr txBox="1"/>
          <p:nvPr/>
        </p:nvSpPr>
        <p:spPr>
          <a:xfrm>
            <a:off x="633676" y="2480536"/>
            <a:ext cx="2654648" cy="1892804"/>
          </a:xfrm>
          <a:prstGeom prst="rect">
            <a:avLst/>
          </a:prstGeom>
          <a:solidFill>
            <a:srgbClr val="F2F2F2"/>
          </a:solidFill>
          <a:effectLst/>
          <a:extLst>
            <a:ext uri="{53640926-AAD7-44D8-BBD7-CCE9431645EC}">
              <a14:shadowObscured xmlns:a14="http://schemas.microsoft.com/office/drawing/2010/main"/>
            </a:ext>
          </a:extLst>
        </p:spPr>
        <p:txBody>
          <a:bodyPr wrap="square" lIns="93761" tIns="92285" rIns="93761" bIns="92285" rtlCol="0" anchor="t">
            <a:noAutofit/>
          </a:bodyPr>
          <a:lstStyle/>
          <a:p>
            <a:pPr marL="324000" lvl="1" indent="-216000" defTabSz="685800">
              <a:buClr>
                <a:schemeClr val="tx2"/>
              </a:buClr>
              <a:buFont typeface="Trebuchet MS" panose="020B0603020202020204" pitchFamily="34" charset="0"/>
              <a:buChar char="•"/>
              <a:defRPr/>
            </a:pPr>
            <a:r>
              <a:rPr lang="zh-TW" altLang="en-US" sz="1400">
                <a:solidFill>
                  <a:srgbClr val="29BA74"/>
                </a:solidFill>
              </a:rPr>
              <a:t>數據治理</a:t>
            </a:r>
            <a:r>
              <a:rPr lang="zh-TW" altLang="en-US" sz="1400">
                <a:solidFill>
                  <a:srgbClr val="29BA74"/>
                </a:solidFill>
                <a:latin typeface="Trebuchet MS" panose="020B0603020202020204" pitchFamily="34" charset="0"/>
                <a:ea typeface="Microsoft YaHei" panose="020B0503020204020204" pitchFamily="34" charset="-122"/>
              </a:rPr>
              <a:t>：</a:t>
            </a:r>
            <a:r>
              <a:rPr lang="zh-TW" altLang="en-US" sz="1400"/>
              <a:t>確保數據收集、存儲、處理和合規性</a:t>
            </a:r>
            <a:endParaRPr lang="en-US" altLang="zh-TW" sz="1400"/>
          </a:p>
          <a:p>
            <a:pPr marL="324000" lvl="1" indent="-216000" defTabSz="685800">
              <a:buClr>
                <a:schemeClr val="tx2"/>
              </a:buClr>
              <a:buFont typeface="Trebuchet MS" panose="020B0603020202020204" pitchFamily="34" charset="0"/>
              <a:buChar char="•"/>
              <a:defRPr/>
            </a:pPr>
            <a:endParaRPr lang="en-US" altLang="zh-TW" sz="1400">
              <a:latin typeface="Trebuchet MS" panose="020B0603020202020204" pitchFamily="34" charset="0"/>
              <a:ea typeface="Microsoft YaHei" panose="020B0503020204020204" pitchFamily="34" charset="-122"/>
            </a:endParaRPr>
          </a:p>
          <a:p>
            <a:pPr marL="324000" lvl="1" indent="-216000" defTabSz="685800">
              <a:buClr>
                <a:schemeClr val="tx2"/>
              </a:buClr>
              <a:buFont typeface="Trebuchet MS" panose="020B0603020202020204" pitchFamily="34" charset="0"/>
              <a:buChar char="•"/>
              <a:defRPr/>
            </a:pPr>
            <a:r>
              <a:rPr lang="zh-TW" altLang="en-US" sz="1400">
                <a:solidFill>
                  <a:srgbClr val="29BA74"/>
                </a:solidFill>
                <a:latin typeface="Trebuchet MS" panose="020B0603020202020204" pitchFamily="34" charset="0"/>
                <a:ea typeface="Microsoft YaHei" panose="020B0503020204020204" pitchFamily="34" charset="-122"/>
              </a:rPr>
              <a:t>客戶行內外數據整合：</a:t>
            </a:r>
            <a:r>
              <a:rPr lang="zh-TW" altLang="en-US" sz="1400">
                <a:latin typeface="Trebuchet MS" panose="020B0603020202020204" pitchFamily="34" charset="0"/>
                <a:ea typeface="Microsoft YaHei" panose="020B0503020204020204" pitchFamily="34" charset="-122"/>
              </a:rPr>
              <a:t>確保訊息被有效管理，包含客戶畫像、歷史成效等</a:t>
            </a:r>
            <a:endParaRPr kumimoji="0" lang="en-US" altLang="zh-TW" sz="1600" u="none" strike="noStrike" kern="1200" cap="none" spc="0" normalizeH="0" baseline="0" noProof="0">
              <a:ln>
                <a:noFill/>
              </a:ln>
              <a:effectLst/>
              <a:uLnTx/>
              <a:uFillTx/>
              <a:latin typeface="Trebuchet MS" panose="020B0603020202020204" pitchFamily="34" charset="0"/>
              <a:ea typeface="Microsoft YaHei" panose="020B0503020204020204" pitchFamily="34" charset="-122"/>
            </a:endParaRPr>
          </a:p>
        </p:txBody>
      </p:sp>
      <p:sp>
        <p:nvSpPr>
          <p:cNvPr id="9" name="TextBox 8">
            <a:extLst>
              <a:ext uri="{FF2B5EF4-FFF2-40B4-BE49-F238E27FC236}">
                <a16:creationId xmlns:a16="http://schemas.microsoft.com/office/drawing/2014/main" id="{5E75ACB3-0560-D397-DE72-0508C1A1B7C8}"/>
              </a:ext>
            </a:extLst>
          </p:cNvPr>
          <p:cNvSpPr txBox="1"/>
          <p:nvPr/>
        </p:nvSpPr>
        <p:spPr>
          <a:xfrm>
            <a:off x="8907353" y="2480537"/>
            <a:ext cx="2654648" cy="1892804"/>
          </a:xfrm>
          <a:prstGeom prst="rect">
            <a:avLst/>
          </a:prstGeom>
          <a:solidFill>
            <a:srgbClr val="F2F2F2"/>
          </a:solidFill>
          <a:effectLst/>
          <a:extLst>
            <a:ext uri="{53640926-AAD7-44D8-BBD7-CCE9431645EC}">
              <a14:shadowObscured xmlns:a14="http://schemas.microsoft.com/office/drawing/2010/main"/>
            </a:ext>
          </a:extLst>
        </p:spPr>
        <p:txBody>
          <a:bodyPr wrap="square" lIns="93761" tIns="92285" rIns="93761" bIns="92285" rtlCol="0" anchor="t">
            <a:noAutofit/>
          </a:bodyPr>
          <a:lstStyle/>
          <a:p>
            <a:pPr marL="324000" lvl="1" indent="-216000" defTabSz="685800">
              <a:buClr>
                <a:schemeClr val="tx2"/>
              </a:buClr>
              <a:buFont typeface="Trebuchet MS" panose="020B0603020202020204" pitchFamily="34" charset="0"/>
              <a:buChar char="•"/>
              <a:defRPr/>
            </a:pPr>
            <a:r>
              <a:rPr lang="zh-TW" altLang="en-US" sz="1400">
                <a:solidFill>
                  <a:srgbClr val="29BA74"/>
                </a:solidFill>
                <a:latin typeface="Trebuchet MS" panose="020B0603020202020204" pitchFamily="34" charset="0"/>
                <a:ea typeface="Microsoft YaHei" panose="020B0503020204020204" pitchFamily="34" charset="-122"/>
              </a:rPr>
              <a:t>即時且自動化追蹤成效：</a:t>
            </a:r>
            <a:r>
              <a:rPr lang="zh-TW" altLang="en-US" sz="1400">
                <a:latin typeface="Trebuchet MS" panose="020B0603020202020204" pitchFamily="34" charset="0"/>
                <a:ea typeface="Microsoft YaHei" panose="020B0503020204020204" pitchFamily="34" charset="-122"/>
              </a:rPr>
              <a:t>將客戶反饋作為模型修正關鍵輸入</a:t>
            </a:r>
            <a:endParaRPr kumimoji="0" lang="fi-FI" sz="1400" u="none" strike="noStrike" kern="1200" cap="none" spc="0" normalizeH="0" baseline="0" noProof="0">
              <a:ln>
                <a:noFill/>
              </a:ln>
              <a:effectLst/>
              <a:uLnTx/>
              <a:uFillTx/>
              <a:latin typeface="Trebuchet MS" panose="020B0603020202020204" pitchFamily="34" charset="0"/>
              <a:ea typeface="Microsoft YaHei" panose="020B0503020204020204" pitchFamily="34" charset="-122"/>
            </a:endParaRPr>
          </a:p>
        </p:txBody>
      </p:sp>
      <p:sp>
        <p:nvSpPr>
          <p:cNvPr id="10" name="TextBox 9">
            <a:extLst>
              <a:ext uri="{FF2B5EF4-FFF2-40B4-BE49-F238E27FC236}">
                <a16:creationId xmlns:a16="http://schemas.microsoft.com/office/drawing/2014/main" id="{CBD3D2A3-1487-999F-EB7C-7AE0C4588071}"/>
              </a:ext>
            </a:extLst>
          </p:cNvPr>
          <p:cNvSpPr txBox="1"/>
          <p:nvPr/>
        </p:nvSpPr>
        <p:spPr>
          <a:xfrm>
            <a:off x="2208805" y="4751802"/>
            <a:ext cx="9354544" cy="649758"/>
          </a:xfrm>
          <a:prstGeom prst="rect">
            <a:avLst/>
          </a:prstGeom>
          <a:solidFill>
            <a:srgbClr val="F2F2F2"/>
          </a:solidFill>
          <a:effectLst/>
          <a:extLst>
            <a:ext uri="{53640926-AAD7-44D8-BBD7-CCE9431645EC}">
              <a14:shadowObscured xmlns:a14="http://schemas.microsoft.com/office/drawing/2010/main"/>
            </a:ext>
          </a:extLst>
        </p:spPr>
        <p:txBody>
          <a:bodyPr wrap="square" lIns="93761" tIns="92285" rIns="93761" bIns="92285" rtlCol="0" anchor="ctr">
            <a:noAutofit/>
          </a:bodyPr>
          <a:lstStyle/>
          <a:p>
            <a:pPr marR="0" lvl="0" defTabSz="685800" eaLnBrk="1" fontAlgn="auto" latinLnBrk="0" hangingPunct="1">
              <a:lnSpc>
                <a:spcPct val="100000"/>
              </a:lnSpc>
              <a:spcBef>
                <a:spcPts val="0"/>
              </a:spcBef>
              <a:spcAft>
                <a:spcPts val="0"/>
              </a:spcAft>
              <a:buClrTx/>
              <a:buSzTx/>
              <a:buFontTx/>
              <a:buNone/>
              <a:tabLst/>
              <a:defRPr/>
            </a:pPr>
            <a:r>
              <a:rPr kumimoji="0" lang="zh-TW" altLang="en-US" sz="1600" u="none" strike="noStrike" kern="1200" cap="none" spc="0" normalizeH="0" baseline="0" noProof="0">
                <a:ln>
                  <a:noFill/>
                </a:ln>
                <a:solidFill>
                  <a:srgbClr val="575757"/>
                </a:solidFill>
                <a:effectLst/>
                <a:uLnTx/>
                <a:uFillTx/>
                <a:latin typeface="OP Chevin Pro Light"/>
                <a:ea typeface="Microsoft YaHei" panose="020B0503020204020204" pitchFamily="34" charset="-122"/>
              </a:rPr>
              <a:t>系統自動依分析模型產生行銷內容並推送與管理行銷信息；同時提供活動成效數據及報表支撐後續追蹤</a:t>
            </a:r>
            <a:endParaRPr kumimoji="0" lang="fi-FI" sz="1600" u="none" strike="noStrike" kern="1200" cap="none" spc="0" normalizeH="0" baseline="0" noProof="0">
              <a:ln>
                <a:noFill/>
              </a:ln>
              <a:solidFill>
                <a:srgbClr val="575757"/>
              </a:solidFill>
              <a:effectLst/>
              <a:uLnTx/>
              <a:uFillTx/>
              <a:latin typeface="OP Chevin Pro Light"/>
              <a:ea typeface="Microsoft YaHei" panose="020B0503020204020204" pitchFamily="34" charset="-122"/>
            </a:endParaRPr>
          </a:p>
        </p:txBody>
      </p:sp>
      <p:sp>
        <p:nvSpPr>
          <p:cNvPr id="11" name="TextBox 10">
            <a:extLst>
              <a:ext uri="{FF2B5EF4-FFF2-40B4-BE49-F238E27FC236}">
                <a16:creationId xmlns:a16="http://schemas.microsoft.com/office/drawing/2014/main" id="{01407922-E08F-3BA1-6E73-C5F0B8D83C8C}"/>
              </a:ext>
            </a:extLst>
          </p:cNvPr>
          <p:cNvSpPr txBox="1"/>
          <p:nvPr/>
        </p:nvSpPr>
        <p:spPr>
          <a:xfrm>
            <a:off x="2208805" y="5516482"/>
            <a:ext cx="9354544" cy="649758"/>
          </a:xfrm>
          <a:prstGeom prst="rect">
            <a:avLst/>
          </a:prstGeom>
          <a:solidFill>
            <a:srgbClr val="F2F2F2"/>
          </a:solidFill>
          <a:effectLst/>
          <a:extLst>
            <a:ext uri="{53640926-AAD7-44D8-BBD7-CCE9431645EC}">
              <a14:shadowObscured xmlns:a14="http://schemas.microsoft.com/office/drawing/2010/main"/>
            </a:ext>
          </a:extLst>
        </p:spPr>
        <p:txBody>
          <a:bodyPr wrap="square" lIns="93761" tIns="92285" rIns="93761" bIns="92285" rtlCol="0" anchor="t">
            <a:noAutofit/>
          </a:bodyPr>
          <a:lstStyle/>
          <a:p>
            <a:pPr defTabSz="685800">
              <a:defRPr/>
            </a:pPr>
            <a:r>
              <a:rPr kumimoji="0" lang="zh-TW" altLang="en-US" sz="1600" u="none" strike="noStrike" kern="1200" cap="none" spc="0" normalizeH="0" baseline="0" noProof="0">
                <a:ln>
                  <a:noFill/>
                </a:ln>
                <a:solidFill>
                  <a:srgbClr val="575757"/>
                </a:solidFill>
                <a:effectLst/>
                <a:uLnTx/>
                <a:uFillTx/>
                <a:latin typeface="OP Chevin Pro Light"/>
                <a:ea typeface="Microsoft YaHei" panose="020B0503020204020204" pitchFamily="34" charset="-122"/>
              </a:rPr>
              <a:t>跨部門團隊合作 </a:t>
            </a:r>
            <a:r>
              <a:rPr kumimoji="0" lang="en-US" altLang="zh-TW" sz="1600" u="none" strike="noStrike" kern="1200" cap="none" spc="0" normalizeH="0" baseline="0" noProof="0">
                <a:ln>
                  <a:noFill/>
                </a:ln>
                <a:solidFill>
                  <a:srgbClr val="575757"/>
                </a:solidFill>
                <a:effectLst/>
                <a:uLnTx/>
                <a:uFillTx/>
                <a:latin typeface="OP Chevin Pro Light"/>
                <a:ea typeface="Microsoft YaHei" panose="020B0503020204020204" pitchFamily="34" charset="-122"/>
              </a:rPr>
              <a:t>(</a:t>
            </a:r>
            <a:r>
              <a:rPr kumimoji="0" lang="zh-TW" altLang="en-US" sz="1600" u="none" strike="noStrike" kern="1200" cap="none" spc="0" normalizeH="0" baseline="0" noProof="0">
                <a:ln>
                  <a:noFill/>
                </a:ln>
                <a:solidFill>
                  <a:srgbClr val="575757"/>
                </a:solidFill>
                <a:effectLst/>
                <a:uLnTx/>
                <a:uFillTx/>
                <a:latin typeface="OP Chevin Pro Light"/>
                <a:ea typeface="Microsoft YaHei" panose="020B0503020204020204" pitchFamily="34" charset="-122"/>
              </a:rPr>
              <a:t>數據分析、客</a:t>
            </a:r>
            <a:r>
              <a:rPr lang="zh-TW" altLang="en-US" sz="1600">
                <a:solidFill>
                  <a:srgbClr val="575757"/>
                </a:solidFill>
                <a:latin typeface="OP Chevin Pro Light"/>
                <a:ea typeface="Microsoft YaHei" panose="020B0503020204020204" pitchFamily="34" charset="-122"/>
              </a:rPr>
              <a:t>群</a:t>
            </a:r>
            <a:r>
              <a:rPr kumimoji="0" lang="zh-TW" altLang="en-US" sz="1600" u="none" strike="noStrike" kern="1200" cap="none" spc="0" normalizeH="0" baseline="0" noProof="0">
                <a:ln>
                  <a:noFill/>
                </a:ln>
                <a:solidFill>
                  <a:srgbClr val="575757"/>
                </a:solidFill>
                <a:effectLst/>
                <a:uLnTx/>
                <a:uFillTx/>
                <a:latin typeface="OP Chevin Pro Light"/>
                <a:ea typeface="Microsoft YaHei" panose="020B0503020204020204" pitchFamily="34" charset="-122"/>
              </a:rPr>
              <a:t>經營、產品</a:t>
            </a:r>
            <a:r>
              <a:rPr lang="en-US" altLang="zh-TW" sz="1600">
                <a:solidFill>
                  <a:srgbClr val="575757"/>
                </a:solidFill>
                <a:latin typeface="OP Chevin Pro Light"/>
                <a:ea typeface="Microsoft YaHei" panose="020B0503020204020204" pitchFamily="34" charset="-122"/>
              </a:rPr>
              <a:t>PM</a:t>
            </a:r>
            <a:r>
              <a:rPr lang="zh-TW" altLang="en-US" sz="1600">
                <a:solidFill>
                  <a:srgbClr val="575757"/>
                </a:solidFill>
                <a:latin typeface="OP Chevin Pro Light"/>
                <a:ea typeface="Microsoft YaHei" panose="020B0503020204020204" pitchFamily="34" charset="-122"/>
              </a:rPr>
              <a:t>團隊等</a:t>
            </a:r>
            <a:r>
              <a:rPr lang="en-US" altLang="zh-TW" sz="1600">
                <a:solidFill>
                  <a:srgbClr val="575757"/>
                </a:solidFill>
                <a:latin typeface="OP Chevin Pro Light"/>
                <a:ea typeface="Microsoft YaHei" panose="020B0503020204020204" pitchFamily="34" charset="-122"/>
              </a:rPr>
              <a:t>)</a:t>
            </a:r>
            <a:r>
              <a:rPr lang="zh-TW" altLang="en-US" sz="1600">
                <a:solidFill>
                  <a:srgbClr val="575757"/>
                </a:solidFill>
                <a:latin typeface="OP Chevin Pro Light"/>
                <a:ea typeface="Microsoft YaHei" panose="020B0503020204020204" pitchFamily="34" charset="-122"/>
              </a:rPr>
              <a:t> 共同支持</a:t>
            </a:r>
            <a:r>
              <a:rPr kumimoji="0" lang="zh-TW" altLang="en-US" sz="1600" u="none" strike="noStrike" kern="1200" cap="none" spc="0" normalizeH="0" baseline="0" noProof="0">
                <a:ln>
                  <a:noFill/>
                </a:ln>
                <a:solidFill>
                  <a:srgbClr val="575757"/>
                </a:solidFill>
                <a:effectLst/>
                <a:uLnTx/>
                <a:uFillTx/>
                <a:latin typeface="OP Chevin Pro Light"/>
                <a:ea typeface="Microsoft YaHei" panose="020B0503020204020204" pitchFamily="34" charset="-122"/>
              </a:rPr>
              <a:t>端到端個性化經營，同時確保客戶端旅程完善，讓客戶從被觸發到下單</a:t>
            </a:r>
            <a:r>
              <a:rPr kumimoji="0" lang="en-US" altLang="zh-TW" sz="1600" u="none" strike="noStrike" kern="1200" cap="none" spc="0" normalizeH="0" baseline="0" noProof="0">
                <a:ln>
                  <a:noFill/>
                </a:ln>
                <a:solidFill>
                  <a:srgbClr val="575757"/>
                </a:solidFill>
                <a:effectLst/>
                <a:uLnTx/>
                <a:uFillTx/>
                <a:latin typeface="OP Chevin Pro Light"/>
                <a:ea typeface="Microsoft YaHei" panose="020B0503020204020204" pitchFamily="34" charset="-122"/>
              </a:rPr>
              <a:t>/</a:t>
            </a:r>
            <a:r>
              <a:rPr kumimoji="0" lang="zh-TW" altLang="en-US" sz="1600" u="none" strike="noStrike" kern="1200" cap="none" spc="0" normalizeH="0" baseline="0" noProof="0">
                <a:ln>
                  <a:noFill/>
                </a:ln>
                <a:solidFill>
                  <a:srgbClr val="575757"/>
                </a:solidFill>
                <a:effectLst/>
                <a:uLnTx/>
                <a:uFillTx/>
                <a:latin typeface="OP Chevin Pro Light"/>
                <a:ea typeface="Microsoft YaHei" panose="020B0503020204020204" pitchFamily="34" charset="-122"/>
              </a:rPr>
              <a:t>使用服務皆能無痛完成</a:t>
            </a:r>
            <a:endParaRPr kumimoji="0" lang="fi-FI" sz="1600" b="1" i="1" u="none" strike="noStrike" kern="1200" cap="none" spc="0" normalizeH="0" baseline="0" noProof="0">
              <a:ln>
                <a:noFill/>
              </a:ln>
              <a:solidFill>
                <a:srgbClr val="575757"/>
              </a:solidFill>
              <a:effectLst/>
              <a:uLnTx/>
              <a:uFillTx/>
              <a:latin typeface="OP Chevin Pro Light"/>
              <a:ea typeface="Microsoft YaHei" panose="020B0503020204020204" pitchFamily="34" charset="-122"/>
            </a:endParaRPr>
          </a:p>
        </p:txBody>
      </p:sp>
      <p:sp>
        <p:nvSpPr>
          <p:cNvPr id="5" name="Isosceles Triangle 4">
            <a:extLst>
              <a:ext uri="{FF2B5EF4-FFF2-40B4-BE49-F238E27FC236}">
                <a16:creationId xmlns:a16="http://schemas.microsoft.com/office/drawing/2014/main" id="{EF410903-2EC7-B4EF-17FD-0F0BDE03BD0E}"/>
              </a:ext>
            </a:extLst>
          </p:cNvPr>
          <p:cNvSpPr/>
          <p:nvPr/>
        </p:nvSpPr>
        <p:spPr>
          <a:xfrm>
            <a:off x="628651" y="1235142"/>
            <a:ext cx="10933350" cy="629963"/>
          </a:xfrm>
          <a:prstGeom prst="triangle">
            <a:avLst>
              <a:gd name="adj" fmla="val 49766"/>
            </a:avLst>
          </a:prstGeom>
          <a:solidFill>
            <a:srgbClr val="29BA74"/>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en-US" sz="1200">
              <a:solidFill>
                <a:srgbClr val="FFFFFF"/>
              </a:solidFill>
              <a:ea typeface="Microsoft YaHei" panose="020B0503020204020204" pitchFamily="34" charset="-122"/>
            </a:endParaRPr>
          </a:p>
        </p:txBody>
      </p:sp>
      <p:sp>
        <p:nvSpPr>
          <p:cNvPr id="45" name="Rectangle 44">
            <a:extLst>
              <a:ext uri="{FF2B5EF4-FFF2-40B4-BE49-F238E27FC236}">
                <a16:creationId xmlns:a16="http://schemas.microsoft.com/office/drawing/2014/main" id="{0C054F20-AB77-388B-68F8-84D64F405C9D}"/>
              </a:ext>
            </a:extLst>
          </p:cNvPr>
          <p:cNvSpPr/>
          <p:nvPr/>
        </p:nvSpPr>
        <p:spPr>
          <a:xfrm>
            <a:off x="5129454" y="1324975"/>
            <a:ext cx="1931745" cy="372305"/>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2000" b="1">
                <a:solidFill>
                  <a:srgbClr val="FFFFFF"/>
                </a:solidFill>
                <a:effectLst>
                  <a:outerShdw blurRad="50800" dist="38100" dir="2700000" algn="tl" rotWithShape="0">
                    <a:prstClr val="black">
                      <a:alpha val="40000"/>
                    </a:prstClr>
                  </a:outerShdw>
                </a:effectLst>
                <a:ea typeface="Microsoft YaHei" panose="020B0503020204020204" pitchFamily="34" charset="-122"/>
              </a:rPr>
              <a:t>個性化經營</a:t>
            </a:r>
            <a:endParaRPr lang="en-US" sz="2000" b="1">
              <a:solidFill>
                <a:srgbClr val="FFFFFF"/>
              </a:solidFill>
              <a:effectLst>
                <a:outerShdw blurRad="50800" dist="38100" dir="2700000" algn="tl" rotWithShape="0">
                  <a:prstClr val="black">
                    <a:alpha val="40000"/>
                  </a:prstClr>
                </a:outerShdw>
              </a:effectLst>
              <a:ea typeface="Microsoft YaHei" panose="020B0503020204020204" pitchFamily="34" charset="-122"/>
            </a:endParaRPr>
          </a:p>
        </p:txBody>
      </p:sp>
      <p:sp>
        <p:nvSpPr>
          <p:cNvPr id="46" name="Rectangle: Rounded Corners 45">
            <a:extLst>
              <a:ext uri="{FF2B5EF4-FFF2-40B4-BE49-F238E27FC236}">
                <a16:creationId xmlns:a16="http://schemas.microsoft.com/office/drawing/2014/main" id="{1E7DE0A5-1226-3E67-EC3E-538CD71482F2}"/>
              </a:ext>
            </a:extLst>
          </p:cNvPr>
          <p:cNvSpPr/>
          <p:nvPr/>
        </p:nvSpPr>
        <p:spPr>
          <a:xfrm>
            <a:off x="628651" y="1919662"/>
            <a:ext cx="2654648" cy="560202"/>
          </a:xfrm>
          <a:prstGeom prst="roundRect">
            <a:avLst/>
          </a:prstGeom>
          <a:solidFill>
            <a:srgbClr val="03522D"/>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b="1">
                <a:solidFill>
                  <a:srgbClr val="FFFFFF"/>
                </a:solidFill>
                <a:effectLst>
                  <a:outerShdw blurRad="50800" dist="38100" algn="l" rotWithShape="0">
                    <a:prstClr val="black">
                      <a:alpha val="40000"/>
                    </a:prstClr>
                  </a:outerShdw>
                </a:effectLst>
                <a:ea typeface="Microsoft YaHei" panose="020B0503020204020204" pitchFamily="34" charset="-122"/>
              </a:rPr>
              <a:t>豐富數據基礎</a:t>
            </a:r>
            <a:endParaRPr lang="en-US" b="1">
              <a:solidFill>
                <a:srgbClr val="FFFFFF"/>
              </a:solidFill>
              <a:effectLst>
                <a:outerShdw blurRad="50800" dist="38100" algn="l" rotWithShape="0">
                  <a:prstClr val="black">
                    <a:alpha val="40000"/>
                  </a:prstClr>
                </a:outerShdw>
              </a:effectLst>
              <a:ea typeface="Microsoft YaHei" panose="020B0503020204020204" pitchFamily="34" charset="-122"/>
            </a:endParaRPr>
          </a:p>
        </p:txBody>
      </p:sp>
      <p:sp>
        <p:nvSpPr>
          <p:cNvPr id="50" name="Rectangle: Rounded Corners 49">
            <a:extLst>
              <a:ext uri="{FF2B5EF4-FFF2-40B4-BE49-F238E27FC236}">
                <a16:creationId xmlns:a16="http://schemas.microsoft.com/office/drawing/2014/main" id="{6269BE2C-973F-1B92-E1B2-991F4E68F4BE}"/>
              </a:ext>
            </a:extLst>
          </p:cNvPr>
          <p:cNvSpPr/>
          <p:nvPr/>
        </p:nvSpPr>
        <p:spPr>
          <a:xfrm>
            <a:off x="3386543" y="1919662"/>
            <a:ext cx="2654648" cy="560202"/>
          </a:xfrm>
          <a:prstGeom prst="roundRect">
            <a:avLst/>
          </a:prstGeom>
          <a:solidFill>
            <a:srgbClr val="03522D"/>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b="1">
                <a:solidFill>
                  <a:srgbClr val="FFFFFF"/>
                </a:solidFill>
                <a:effectLst>
                  <a:outerShdw blurRad="50800" dist="38100" algn="l" rotWithShape="0">
                    <a:prstClr val="black">
                      <a:alpha val="40000"/>
                    </a:prstClr>
                  </a:outerShdw>
                </a:effectLst>
                <a:ea typeface="Microsoft YaHei" panose="020B0503020204020204" pitchFamily="34" charset="-122"/>
              </a:rPr>
              <a:t>精準預測模型</a:t>
            </a:r>
            <a:endParaRPr lang="en-US" b="1">
              <a:solidFill>
                <a:srgbClr val="FFFFFF"/>
              </a:solidFill>
              <a:effectLst>
                <a:outerShdw blurRad="50800" dist="38100" algn="l" rotWithShape="0">
                  <a:prstClr val="black">
                    <a:alpha val="40000"/>
                  </a:prstClr>
                </a:outerShdw>
              </a:effectLst>
              <a:ea typeface="Microsoft YaHei" panose="020B0503020204020204" pitchFamily="34" charset="-122"/>
            </a:endParaRPr>
          </a:p>
        </p:txBody>
      </p:sp>
      <p:sp>
        <p:nvSpPr>
          <p:cNvPr id="51" name="Rectangle: Rounded Corners 50">
            <a:extLst>
              <a:ext uri="{FF2B5EF4-FFF2-40B4-BE49-F238E27FC236}">
                <a16:creationId xmlns:a16="http://schemas.microsoft.com/office/drawing/2014/main" id="{BF5A70AD-A7EA-ACC4-F94B-1B20620FDB8A}"/>
              </a:ext>
            </a:extLst>
          </p:cNvPr>
          <p:cNvSpPr/>
          <p:nvPr/>
        </p:nvSpPr>
        <p:spPr>
          <a:xfrm>
            <a:off x="6144435" y="1919662"/>
            <a:ext cx="2654648" cy="560202"/>
          </a:xfrm>
          <a:prstGeom prst="roundRect">
            <a:avLst/>
          </a:prstGeom>
          <a:solidFill>
            <a:srgbClr val="03522D"/>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zh-TW" altLang="en-US" b="1">
                <a:solidFill>
                  <a:srgbClr val="FFFFFF"/>
                </a:solidFill>
                <a:effectLst>
                  <a:outerShdw blurRad="50800" dist="38100" algn="l" rotWithShape="0">
                    <a:prstClr val="black">
                      <a:alpha val="40000"/>
                    </a:prstClr>
                  </a:outerShdw>
                </a:effectLst>
                <a:ea typeface="Microsoft YaHei" panose="020B0503020204020204" pitchFamily="34" charset="-122"/>
              </a:rPr>
              <a:t>多樣化</a:t>
            </a:r>
            <a:endParaRPr lang="en-US" altLang="zh-TW" b="1">
              <a:solidFill>
                <a:srgbClr val="FFFFFF"/>
              </a:solidFill>
              <a:effectLst>
                <a:outerShdw blurRad="50800" dist="38100" algn="l" rotWithShape="0">
                  <a:prstClr val="black">
                    <a:alpha val="40000"/>
                  </a:prstClr>
                </a:outerShdw>
              </a:effectLst>
              <a:ea typeface="Microsoft YaHei" panose="020B0503020204020204" pitchFamily="34" charset="-122"/>
            </a:endParaRPr>
          </a:p>
          <a:p>
            <a:pPr algn="ctr"/>
            <a:r>
              <a:rPr lang="zh-TW" altLang="en-US" b="1">
                <a:solidFill>
                  <a:srgbClr val="FFFFFF"/>
                </a:solidFill>
                <a:effectLst>
                  <a:outerShdw blurRad="50800" dist="38100" algn="l" rotWithShape="0">
                    <a:prstClr val="black">
                      <a:alpha val="40000"/>
                    </a:prstClr>
                  </a:outerShdw>
                </a:effectLst>
                <a:ea typeface="Microsoft YaHei" panose="020B0503020204020204" pitchFamily="34" charset="-122"/>
              </a:rPr>
              <a:t>產品與行銷方案組合庫</a:t>
            </a:r>
            <a:endParaRPr lang="en-US" b="1">
              <a:solidFill>
                <a:srgbClr val="FFFFFF"/>
              </a:solidFill>
              <a:effectLst>
                <a:outerShdw blurRad="50800" dist="38100" algn="l" rotWithShape="0">
                  <a:prstClr val="black">
                    <a:alpha val="40000"/>
                  </a:prstClr>
                </a:outerShdw>
              </a:effectLst>
              <a:ea typeface="Microsoft YaHei" panose="020B0503020204020204" pitchFamily="34" charset="-122"/>
            </a:endParaRPr>
          </a:p>
        </p:txBody>
      </p:sp>
      <p:sp>
        <p:nvSpPr>
          <p:cNvPr id="52" name="Rectangle: Rounded Corners 51">
            <a:extLst>
              <a:ext uri="{FF2B5EF4-FFF2-40B4-BE49-F238E27FC236}">
                <a16:creationId xmlns:a16="http://schemas.microsoft.com/office/drawing/2014/main" id="{D9D9C2BD-B558-2D1E-063D-DE3CE39F5441}"/>
              </a:ext>
            </a:extLst>
          </p:cNvPr>
          <p:cNvSpPr/>
          <p:nvPr/>
        </p:nvSpPr>
        <p:spPr>
          <a:xfrm>
            <a:off x="8907353" y="1919662"/>
            <a:ext cx="2654648" cy="560202"/>
          </a:xfrm>
          <a:prstGeom prst="roundRect">
            <a:avLst/>
          </a:prstGeom>
          <a:solidFill>
            <a:srgbClr val="03522D"/>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b="1">
                <a:solidFill>
                  <a:srgbClr val="FFFFFF"/>
                </a:solidFill>
                <a:effectLst>
                  <a:outerShdw blurRad="50800" dist="38100" algn="l" rotWithShape="0">
                    <a:prstClr val="black">
                      <a:alpha val="40000"/>
                    </a:prstClr>
                  </a:outerShdw>
                </a:effectLst>
                <a:ea typeface="Microsoft YaHei" panose="020B0503020204020204" pitchFamily="34" charset="-122"/>
              </a:rPr>
              <a:t>追蹤與反饋機制</a:t>
            </a:r>
            <a:endParaRPr lang="en-US" b="1">
              <a:solidFill>
                <a:srgbClr val="FFFFFF"/>
              </a:solidFill>
              <a:effectLst>
                <a:outerShdw blurRad="50800" dist="38100" algn="l" rotWithShape="0">
                  <a:prstClr val="black">
                    <a:alpha val="40000"/>
                  </a:prstClr>
                </a:outerShdw>
              </a:effectLst>
              <a:ea typeface="Microsoft YaHei" panose="020B0503020204020204" pitchFamily="34" charset="-122"/>
            </a:endParaRPr>
          </a:p>
        </p:txBody>
      </p:sp>
      <p:sp>
        <p:nvSpPr>
          <p:cNvPr id="54" name="TextBox 53">
            <a:extLst>
              <a:ext uri="{FF2B5EF4-FFF2-40B4-BE49-F238E27FC236}">
                <a16:creationId xmlns:a16="http://schemas.microsoft.com/office/drawing/2014/main" id="{B8B43144-B2FA-262D-8895-564B8DB5C60B}"/>
              </a:ext>
            </a:extLst>
          </p:cNvPr>
          <p:cNvSpPr txBox="1"/>
          <p:nvPr/>
        </p:nvSpPr>
        <p:spPr>
          <a:xfrm>
            <a:off x="3391568" y="2480536"/>
            <a:ext cx="2654648" cy="1892804"/>
          </a:xfrm>
          <a:prstGeom prst="rect">
            <a:avLst/>
          </a:prstGeom>
          <a:solidFill>
            <a:srgbClr val="F2F2F2"/>
          </a:solidFill>
          <a:effectLst/>
          <a:extLst>
            <a:ext uri="{53640926-AAD7-44D8-BBD7-CCE9431645EC}">
              <a14:shadowObscured xmlns:a14="http://schemas.microsoft.com/office/drawing/2010/main"/>
            </a:ext>
          </a:extLst>
        </p:spPr>
        <p:txBody>
          <a:bodyPr wrap="square" lIns="93761" tIns="92285" rIns="93761" bIns="92285" rtlCol="0" anchor="t">
            <a:noAutofit/>
          </a:bodyPr>
          <a:lstStyle/>
          <a:p>
            <a:pPr marL="324000" lvl="1" indent="-216000" defTabSz="685800">
              <a:buClr>
                <a:schemeClr val="tx2"/>
              </a:buClr>
              <a:buFont typeface="Trebuchet MS" panose="020B0603020202020204" pitchFamily="34" charset="0"/>
              <a:buChar char="•"/>
              <a:defRPr/>
            </a:pPr>
            <a:r>
              <a:rPr lang="zh-TW" altLang="en-US" sz="1400">
                <a:solidFill>
                  <a:srgbClr val="29BA74"/>
                </a:solidFill>
                <a:latin typeface="Trebuchet MS" panose="020B0603020202020204" pitchFamily="34" charset="0"/>
              </a:rPr>
              <a:t>多使用情境：</a:t>
            </a:r>
            <a:r>
              <a:rPr kumimoji="0" lang="zh-TW" altLang="en-US" sz="1400" u="none" strike="noStrike" kern="1200" cap="none" spc="0" normalizeH="0" baseline="0" noProof="0">
                <a:ln>
                  <a:noFill/>
                </a:ln>
                <a:effectLst/>
                <a:uLnTx/>
                <a:uFillTx/>
                <a:latin typeface="Trebuchet MS" panose="020B0603020202020204" pitchFamily="34" charset="0"/>
                <a:ea typeface="Microsoft YaHei" panose="020B0503020204020204" pitchFamily="34" charset="-122"/>
              </a:rPr>
              <a:t>針對客戶行為路徑提出</a:t>
            </a:r>
            <a:r>
              <a:rPr lang="zh-TW" altLang="en-US" sz="1400">
                <a:solidFill>
                  <a:schemeClr val="tx1">
                    <a:lumMod val="100000"/>
                  </a:schemeClr>
                </a:solidFill>
                <a:ea typeface="Microsoft YaHei" panose="020B0503020204020204" pitchFamily="34" charset="-122"/>
                <a:sym typeface="+mn-lt"/>
              </a:rPr>
              <a:t>產品接收度、優惠接受度等更精準預測</a:t>
            </a:r>
            <a:endParaRPr lang="en-US" altLang="zh-TW" sz="1400">
              <a:solidFill>
                <a:schemeClr val="tx1">
                  <a:lumMod val="100000"/>
                </a:schemeClr>
              </a:solidFill>
              <a:ea typeface="Microsoft YaHei" panose="020B0503020204020204" pitchFamily="34" charset="-122"/>
              <a:sym typeface="+mn-lt"/>
            </a:endParaRPr>
          </a:p>
          <a:p>
            <a:pPr marL="324000" lvl="1" indent="-216000" defTabSz="685800">
              <a:buClr>
                <a:schemeClr val="tx2"/>
              </a:buClr>
              <a:buFont typeface="Trebuchet MS" panose="020B0603020202020204" pitchFamily="34" charset="0"/>
              <a:buChar char="•"/>
              <a:defRPr/>
            </a:pPr>
            <a:endParaRPr lang="en-US" altLang="zh-TW" sz="1400">
              <a:latin typeface="Trebuchet MS" panose="020B0603020202020204" pitchFamily="34" charset="0"/>
            </a:endParaRPr>
          </a:p>
          <a:p>
            <a:pPr marL="324000" lvl="1" indent="-216000" defTabSz="685800">
              <a:buClr>
                <a:schemeClr val="tx2"/>
              </a:buClr>
              <a:buFont typeface="Trebuchet MS" panose="020B0603020202020204" pitchFamily="34" charset="0"/>
              <a:buChar char="•"/>
              <a:defRPr/>
            </a:pPr>
            <a:r>
              <a:rPr lang="en-US" altLang="zh-TW" sz="1400">
                <a:solidFill>
                  <a:srgbClr val="29BA74"/>
                </a:solidFill>
                <a:latin typeface="Trebuchet MS" panose="020B0603020202020204" pitchFamily="34" charset="0"/>
                <a:ea typeface="Microsoft YaHei" panose="020B0503020204020204" pitchFamily="34" charset="-122"/>
              </a:rPr>
              <a:t>A/B </a:t>
            </a:r>
            <a:r>
              <a:rPr lang="zh-TW" altLang="en-US" sz="1400">
                <a:solidFill>
                  <a:srgbClr val="29BA74"/>
                </a:solidFill>
                <a:latin typeface="Trebuchet MS" panose="020B0603020202020204" pitchFamily="34" charset="0"/>
                <a:ea typeface="Microsoft YaHei" panose="020B0503020204020204" pitchFamily="34" charset="-122"/>
              </a:rPr>
              <a:t>測試：</a:t>
            </a:r>
            <a:r>
              <a:rPr lang="zh-TW" altLang="en-US" sz="1400">
                <a:latin typeface="Trebuchet MS" panose="020B0603020202020204" pitchFamily="34" charset="0"/>
                <a:ea typeface="Microsoft YaHei" panose="020B0503020204020204" pitchFamily="34" charset="-122"/>
              </a:rPr>
              <a:t>除結合靜動態變數外，不斷進行對照組測試，驗證假設與迭代調整模型</a:t>
            </a:r>
            <a:endParaRPr lang="en-US" altLang="zh-TW" sz="1400">
              <a:latin typeface="Trebuchet MS" panose="020B0603020202020204" pitchFamily="34" charset="0"/>
              <a:ea typeface="Microsoft YaHei" panose="020B0503020204020204" pitchFamily="34" charset="-122"/>
            </a:endParaRPr>
          </a:p>
        </p:txBody>
      </p:sp>
      <p:sp>
        <p:nvSpPr>
          <p:cNvPr id="68" name="TextBox 67">
            <a:extLst>
              <a:ext uri="{FF2B5EF4-FFF2-40B4-BE49-F238E27FC236}">
                <a16:creationId xmlns:a16="http://schemas.microsoft.com/office/drawing/2014/main" id="{58144C8C-AFC5-3EAA-0E2D-79212F3E33A6}"/>
              </a:ext>
            </a:extLst>
          </p:cNvPr>
          <p:cNvSpPr txBox="1"/>
          <p:nvPr/>
        </p:nvSpPr>
        <p:spPr>
          <a:xfrm>
            <a:off x="6142014" y="2480536"/>
            <a:ext cx="2654648" cy="1892804"/>
          </a:xfrm>
          <a:prstGeom prst="rect">
            <a:avLst/>
          </a:prstGeom>
          <a:solidFill>
            <a:srgbClr val="F2F2F2"/>
          </a:solidFill>
          <a:effectLst/>
          <a:extLst>
            <a:ext uri="{53640926-AAD7-44D8-BBD7-CCE9431645EC}">
              <a14:shadowObscured xmlns:a14="http://schemas.microsoft.com/office/drawing/2010/main"/>
            </a:ext>
          </a:extLst>
        </p:spPr>
        <p:txBody>
          <a:bodyPr wrap="square" lIns="93761" tIns="92285" rIns="93761" bIns="92285" rtlCol="0" anchor="t">
            <a:noAutofit/>
          </a:bodyPr>
          <a:lstStyle/>
          <a:p>
            <a:pPr marL="324000" lvl="1" indent="-216000">
              <a:buClr>
                <a:schemeClr val="tx2"/>
              </a:buClr>
              <a:buFont typeface="Trebuchet MS" panose="020B0603020202020204" pitchFamily="34" charset="0"/>
              <a:buChar char="•"/>
            </a:pPr>
            <a:r>
              <a:rPr lang="zh-TW" altLang="en-US" sz="1400">
                <a:solidFill>
                  <a:srgbClr val="29BA74"/>
                </a:solidFill>
                <a:latin typeface="Trebuchet MS" panose="020B0603020202020204" pitchFamily="34" charset="0"/>
                <a:ea typeface="Microsoft YaHei" panose="020B0503020204020204" pitchFamily="34" charset="-122"/>
              </a:rPr>
              <a:t>產品與行銷組合：</a:t>
            </a:r>
            <a:r>
              <a:rPr lang="zh-TW" altLang="en-US" sz="1400">
                <a:latin typeface="Trebuchet MS" panose="020B0603020202020204" pitchFamily="34" charset="0"/>
                <a:ea typeface="Microsoft YaHei" panose="020B0503020204020204" pitchFamily="34" charset="-122"/>
              </a:rPr>
              <a:t>依模型驗證結果，建立個性化組合庫 </a:t>
            </a:r>
            <a:r>
              <a:rPr lang="en-US" altLang="zh-TW" sz="1400">
                <a:latin typeface="Trebuchet MS" panose="020B0603020202020204" pitchFamily="34" charset="0"/>
                <a:ea typeface="Microsoft YaHei" panose="020B0503020204020204" pitchFamily="34" charset="-122"/>
              </a:rPr>
              <a:t>(</a:t>
            </a:r>
            <a:r>
              <a:rPr lang="zh-TW" altLang="en-US" sz="1400">
                <a:latin typeface="Trebuchet MS" panose="020B0603020202020204" pitchFamily="34" charset="0"/>
                <a:ea typeface="Microsoft YaHei" panose="020B0503020204020204" pitchFamily="34" charset="-122"/>
              </a:rPr>
              <a:t>如</a:t>
            </a:r>
            <a:r>
              <a:rPr lang="en-US" altLang="zh-TW" sz="1400">
                <a:latin typeface="Trebuchet MS" panose="020B0603020202020204" pitchFamily="34" charset="0"/>
                <a:ea typeface="Microsoft YaHei" panose="020B0503020204020204" pitchFamily="34" charset="-122"/>
              </a:rPr>
              <a:t>: </a:t>
            </a:r>
            <a:r>
              <a:rPr lang="zh-TW" altLang="en-US" sz="1400">
                <a:latin typeface="Trebuchet MS" panose="020B0603020202020204" pitchFamily="34" charset="0"/>
                <a:ea typeface="Microsoft YaHei" panose="020B0503020204020204" pitchFamily="34" charset="-122"/>
              </a:rPr>
              <a:t>特定情境下的推介、優惠、管道組合</a:t>
            </a:r>
            <a:r>
              <a:rPr lang="en-US" altLang="zh-TW" sz="1400">
                <a:latin typeface="Trebuchet MS" panose="020B0603020202020204" pitchFamily="34" charset="0"/>
                <a:ea typeface="Microsoft YaHei" panose="020B0503020204020204" pitchFamily="34" charset="-122"/>
              </a:rPr>
              <a:t>)</a:t>
            </a:r>
          </a:p>
          <a:p>
            <a:pPr marL="324000" lvl="1" indent="-216000">
              <a:buClr>
                <a:schemeClr val="tx2"/>
              </a:buClr>
              <a:buFont typeface="Trebuchet MS" panose="020B0603020202020204" pitchFamily="34" charset="0"/>
              <a:buChar char="•"/>
            </a:pPr>
            <a:endParaRPr lang="en-US" altLang="zh-TW" sz="1400">
              <a:latin typeface="Trebuchet MS" panose="020B0603020202020204" pitchFamily="34" charset="0"/>
              <a:ea typeface="Microsoft YaHei" panose="020B0503020204020204" pitchFamily="34" charset="-122"/>
            </a:endParaRPr>
          </a:p>
          <a:p>
            <a:pPr marL="324000" lvl="1" indent="-216000">
              <a:buClr>
                <a:schemeClr val="tx2"/>
              </a:buClr>
              <a:buFont typeface="Trebuchet MS" panose="020B0603020202020204" pitchFamily="34" charset="0"/>
              <a:buChar char="•"/>
            </a:pPr>
            <a:r>
              <a:rPr kumimoji="0" lang="zh-TW" altLang="en-US" sz="1400" u="none" strike="noStrike" kern="1200" cap="none" spc="0" normalizeH="0" baseline="0" noProof="0">
                <a:ln>
                  <a:noFill/>
                </a:ln>
                <a:solidFill>
                  <a:srgbClr val="29BA74"/>
                </a:solidFill>
                <a:effectLst/>
                <a:uLnTx/>
                <a:uFillTx/>
                <a:latin typeface="Trebuchet MS" panose="020B0603020202020204" pitchFamily="34" charset="0"/>
                <a:ea typeface="Microsoft YaHei" panose="020B0503020204020204" pitchFamily="34" charset="-122"/>
              </a:rPr>
              <a:t>個性化行銷信息</a:t>
            </a:r>
            <a:r>
              <a:rPr lang="zh-TW" altLang="en-US" sz="1400">
                <a:solidFill>
                  <a:srgbClr val="29BA74"/>
                </a:solidFill>
                <a:latin typeface="Trebuchet MS" panose="020B0603020202020204" pitchFamily="34" charset="0"/>
                <a:ea typeface="Microsoft YaHei" panose="020B0503020204020204" pitchFamily="34" charset="-122"/>
              </a:rPr>
              <a:t>：</a:t>
            </a:r>
            <a:r>
              <a:rPr kumimoji="0" lang="zh-TW" altLang="en-US" sz="1400" u="none" strike="noStrike" kern="1200" cap="none" spc="0" normalizeH="0" baseline="0" noProof="0">
                <a:ln>
                  <a:noFill/>
                </a:ln>
                <a:effectLst/>
                <a:uLnTx/>
                <a:uFillTx/>
                <a:latin typeface="Trebuchet MS" panose="020B0603020202020204" pitchFamily="34" charset="0"/>
                <a:ea typeface="Microsoft YaHei" panose="020B0503020204020204" pitchFamily="34" charset="-122"/>
              </a:rPr>
              <a:t>依模板打造專屬行銷信息</a:t>
            </a:r>
            <a:endParaRPr kumimoji="0" lang="en-US" altLang="zh-TW" sz="1600" u="none" strike="noStrike" kern="1200" cap="none" spc="0" normalizeH="0" baseline="0" noProof="0">
              <a:ln>
                <a:noFill/>
              </a:ln>
              <a:effectLst/>
              <a:uLnTx/>
              <a:uFillTx/>
              <a:latin typeface="Trebuchet MS" panose="020B0603020202020204" pitchFamily="34" charset="0"/>
              <a:ea typeface="Microsoft YaHei" panose="020B0503020204020204" pitchFamily="34" charset="-122"/>
            </a:endParaRPr>
          </a:p>
        </p:txBody>
      </p:sp>
      <p:sp>
        <p:nvSpPr>
          <p:cNvPr id="72" name="Rectangle: Rounded Corners 71">
            <a:extLst>
              <a:ext uri="{FF2B5EF4-FFF2-40B4-BE49-F238E27FC236}">
                <a16:creationId xmlns:a16="http://schemas.microsoft.com/office/drawing/2014/main" id="{328B9983-E56E-BE33-6315-69B5C1F93D4D}"/>
              </a:ext>
            </a:extLst>
          </p:cNvPr>
          <p:cNvSpPr/>
          <p:nvPr/>
        </p:nvSpPr>
        <p:spPr>
          <a:xfrm>
            <a:off x="628651" y="4751803"/>
            <a:ext cx="1548491" cy="649757"/>
          </a:xfrm>
          <a:prstGeom prst="roundRect">
            <a:avLst>
              <a:gd name="adj" fmla="val 8625"/>
            </a:avLst>
          </a:prstGeom>
          <a:solidFill>
            <a:srgbClr val="03522D"/>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b="1">
                <a:solidFill>
                  <a:srgbClr val="FFFFFF"/>
                </a:solidFill>
                <a:effectLst>
                  <a:outerShdw blurRad="50800" dist="38100" algn="l" rotWithShape="0">
                    <a:prstClr val="black">
                      <a:alpha val="40000"/>
                    </a:prstClr>
                  </a:outerShdw>
                </a:effectLst>
                <a:ea typeface="Microsoft YaHei" panose="020B0503020204020204" pitchFamily="34" charset="-122"/>
              </a:rPr>
              <a:t>平台系統</a:t>
            </a:r>
            <a:endParaRPr lang="en-US" b="1">
              <a:solidFill>
                <a:srgbClr val="FFFFFF"/>
              </a:solidFill>
              <a:effectLst>
                <a:outerShdw blurRad="50800" dist="38100" algn="l" rotWithShape="0">
                  <a:prstClr val="black">
                    <a:alpha val="40000"/>
                  </a:prstClr>
                </a:outerShdw>
              </a:effectLst>
              <a:ea typeface="Microsoft YaHei" panose="020B0503020204020204" pitchFamily="34" charset="-122"/>
            </a:endParaRPr>
          </a:p>
        </p:txBody>
      </p:sp>
      <p:sp>
        <p:nvSpPr>
          <p:cNvPr id="73" name="Rectangle: Rounded Corners 72">
            <a:extLst>
              <a:ext uri="{FF2B5EF4-FFF2-40B4-BE49-F238E27FC236}">
                <a16:creationId xmlns:a16="http://schemas.microsoft.com/office/drawing/2014/main" id="{1B6B222D-87A0-E1CB-84D2-CD4809A6362C}"/>
              </a:ext>
            </a:extLst>
          </p:cNvPr>
          <p:cNvSpPr/>
          <p:nvPr/>
        </p:nvSpPr>
        <p:spPr>
          <a:xfrm>
            <a:off x="628651" y="5508302"/>
            <a:ext cx="1548491" cy="649757"/>
          </a:xfrm>
          <a:prstGeom prst="roundRect">
            <a:avLst>
              <a:gd name="adj" fmla="val 8625"/>
            </a:avLst>
          </a:prstGeom>
          <a:solidFill>
            <a:srgbClr val="03522D"/>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b="1">
                <a:solidFill>
                  <a:srgbClr val="FFFFFF"/>
                </a:solidFill>
                <a:effectLst>
                  <a:outerShdw blurRad="50800" dist="38100" algn="l" rotWithShape="0">
                    <a:prstClr val="black">
                      <a:alpha val="40000"/>
                    </a:prstClr>
                  </a:outerShdw>
                </a:effectLst>
                <a:ea typeface="Microsoft YaHei" panose="020B0503020204020204" pitchFamily="34" charset="-122"/>
              </a:rPr>
              <a:t>組織設計</a:t>
            </a:r>
            <a:endParaRPr lang="en-US" b="1">
              <a:solidFill>
                <a:srgbClr val="FFFFFF"/>
              </a:solidFill>
              <a:effectLst>
                <a:outerShdw blurRad="50800" dist="38100" algn="l" rotWithShape="0">
                  <a:prstClr val="black">
                    <a:alpha val="40000"/>
                  </a:prstClr>
                </a:outerShdw>
              </a:effectLst>
              <a:ea typeface="Microsoft YaHei" panose="020B0503020204020204" pitchFamily="34" charset="-122"/>
            </a:endParaRPr>
          </a:p>
        </p:txBody>
      </p:sp>
      <p:cxnSp>
        <p:nvCxnSpPr>
          <p:cNvPr id="79" name="Straight Connector 78">
            <a:extLst>
              <a:ext uri="{FF2B5EF4-FFF2-40B4-BE49-F238E27FC236}">
                <a16:creationId xmlns:a16="http://schemas.microsoft.com/office/drawing/2014/main" id="{CB3881B6-0251-5F2E-9D49-EDA8A051A10B}"/>
              </a:ext>
            </a:extLst>
          </p:cNvPr>
          <p:cNvCxnSpPr>
            <a:cxnSpLocks/>
          </p:cNvCxnSpPr>
          <p:nvPr/>
        </p:nvCxnSpPr>
        <p:spPr>
          <a:xfrm flipV="1">
            <a:off x="658713" y="4583316"/>
            <a:ext cx="10894715" cy="1"/>
          </a:xfrm>
          <a:prstGeom prst="line">
            <a:avLst/>
          </a:prstGeom>
          <a:ln w="9525" cap="rnd">
            <a:solidFill>
              <a:srgbClr val="9A9A9A"/>
            </a:solidFill>
            <a:prstDash val="solid"/>
          </a:ln>
        </p:spPr>
        <p:style>
          <a:lnRef idx="1">
            <a:schemeClr val="accent1"/>
          </a:lnRef>
          <a:fillRef idx="0">
            <a:schemeClr val="accent1"/>
          </a:fillRef>
          <a:effectRef idx="0">
            <a:schemeClr val="accent1"/>
          </a:effectRef>
          <a:fontRef idx="minor">
            <a:schemeClr val="tx1"/>
          </a:fontRef>
        </p:style>
      </p:cxnSp>
      <p:grpSp>
        <p:nvGrpSpPr>
          <p:cNvPr id="80" name="Group 79">
            <a:extLst>
              <a:ext uri="{FF2B5EF4-FFF2-40B4-BE49-F238E27FC236}">
                <a16:creationId xmlns:a16="http://schemas.microsoft.com/office/drawing/2014/main" id="{FB193586-B0E2-4E03-A107-8C9951AE4DD8}"/>
              </a:ext>
            </a:extLst>
          </p:cNvPr>
          <p:cNvGrpSpPr/>
          <p:nvPr/>
        </p:nvGrpSpPr>
        <p:grpSpPr>
          <a:xfrm rot="16200000">
            <a:off x="5952985" y="4429862"/>
            <a:ext cx="306171" cy="306910"/>
            <a:chOff x="5937564" y="3833746"/>
            <a:chExt cx="306171" cy="306910"/>
          </a:xfrm>
        </p:grpSpPr>
        <p:sp>
          <p:nvSpPr>
            <p:cNvPr id="81" name="Freeform 94">
              <a:extLst>
                <a:ext uri="{FF2B5EF4-FFF2-40B4-BE49-F238E27FC236}">
                  <a16:creationId xmlns:a16="http://schemas.microsoft.com/office/drawing/2014/main" id="{AF7EE456-0B32-498B-6520-000BEF9AADF4}"/>
                </a:ext>
              </a:extLst>
            </p:cNvPr>
            <p:cNvSpPr>
              <a:spLocks/>
            </p:cNvSpPr>
            <p:nvPr/>
          </p:nvSpPr>
          <p:spPr bwMode="gray">
            <a:xfrm>
              <a:off x="5937564" y="3833746"/>
              <a:ext cx="306171" cy="306910"/>
            </a:xfrm>
            <a:custGeom>
              <a:avLst/>
              <a:gdLst>
                <a:gd name="T0" fmla="*/ 0 w 1052"/>
                <a:gd name="T1" fmla="*/ 526 h 1052"/>
                <a:gd name="T2" fmla="*/ 0 w 1052"/>
                <a:gd name="T3" fmla="*/ 526 h 1052"/>
                <a:gd name="T4" fmla="*/ 526 w 1052"/>
                <a:gd name="T5" fmla="*/ 0 h 1052"/>
                <a:gd name="T6" fmla="*/ 1052 w 1052"/>
                <a:gd name="T7" fmla="*/ 526 h 1052"/>
                <a:gd name="T8" fmla="*/ 1052 w 1052"/>
                <a:gd name="T9" fmla="*/ 526 h 1052"/>
                <a:gd name="T10" fmla="*/ 526 w 1052"/>
                <a:gd name="T11" fmla="*/ 1052 h 1052"/>
                <a:gd name="T12" fmla="*/ 526 w 1052"/>
                <a:gd name="T13" fmla="*/ 1052 h 1052"/>
                <a:gd name="T14" fmla="*/ 0 w 1052"/>
                <a:gd name="T15" fmla="*/ 526 h 10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2" h="1052">
                  <a:moveTo>
                    <a:pt x="0" y="526"/>
                  </a:moveTo>
                  <a:cubicBezTo>
                    <a:pt x="0" y="526"/>
                    <a:pt x="0" y="526"/>
                    <a:pt x="0" y="526"/>
                  </a:cubicBezTo>
                  <a:cubicBezTo>
                    <a:pt x="0" y="236"/>
                    <a:pt x="236" y="0"/>
                    <a:pt x="526" y="0"/>
                  </a:cubicBezTo>
                  <a:cubicBezTo>
                    <a:pt x="817" y="0"/>
                    <a:pt x="1052" y="236"/>
                    <a:pt x="1052" y="526"/>
                  </a:cubicBezTo>
                  <a:cubicBezTo>
                    <a:pt x="1052" y="526"/>
                    <a:pt x="1052" y="526"/>
                    <a:pt x="1052" y="526"/>
                  </a:cubicBezTo>
                  <a:cubicBezTo>
                    <a:pt x="1052" y="817"/>
                    <a:pt x="817" y="1052"/>
                    <a:pt x="526" y="1052"/>
                  </a:cubicBezTo>
                  <a:cubicBezTo>
                    <a:pt x="526" y="1052"/>
                    <a:pt x="526" y="1052"/>
                    <a:pt x="526" y="1052"/>
                  </a:cubicBezTo>
                  <a:cubicBezTo>
                    <a:pt x="236" y="1052"/>
                    <a:pt x="0" y="817"/>
                    <a:pt x="0" y="526"/>
                  </a:cubicBezTo>
                  <a:close/>
                </a:path>
              </a:pathLst>
            </a:custGeom>
            <a:solidFill>
              <a:schemeClr val="tx2"/>
            </a:solidFill>
            <a:ln>
              <a:solidFill>
                <a:schemeClr val="tx2"/>
              </a:solidFill>
            </a:ln>
          </p:spPr>
          <p:txBody>
            <a:bodyPr vert="horz" wrap="square" lIns="88641" tIns="44321" rIns="88641" bIns="44321" numCol="1" anchor="t" anchorCtr="0" compatLnSpc="1">
              <a:prstTxWarp prst="textNoShape">
                <a:avLst/>
              </a:prstTxWarp>
            </a:bodyPr>
            <a:lstStyle/>
            <a:p>
              <a:endParaRPr lang="en-US">
                <a:solidFill>
                  <a:srgbClr val="6E6F73"/>
                </a:solidFill>
              </a:endParaRPr>
            </a:p>
          </p:txBody>
        </p:sp>
        <p:sp>
          <p:nvSpPr>
            <p:cNvPr id="82" name="Freeform 95">
              <a:extLst>
                <a:ext uri="{FF2B5EF4-FFF2-40B4-BE49-F238E27FC236}">
                  <a16:creationId xmlns:a16="http://schemas.microsoft.com/office/drawing/2014/main" id="{4724397E-E755-213A-C231-941CB1647812}"/>
                </a:ext>
              </a:extLst>
            </p:cNvPr>
            <p:cNvSpPr>
              <a:spLocks/>
            </p:cNvSpPr>
            <p:nvPr/>
          </p:nvSpPr>
          <p:spPr bwMode="gray">
            <a:xfrm>
              <a:off x="6053995" y="3876005"/>
              <a:ext cx="120251" cy="224731"/>
            </a:xfrm>
            <a:custGeom>
              <a:avLst/>
              <a:gdLst>
                <a:gd name="T0" fmla="*/ 66 w 976"/>
                <a:gd name="T1" fmla="*/ 1824 h 1824"/>
                <a:gd name="T2" fmla="*/ 0 w 976"/>
                <a:gd name="T3" fmla="*/ 1758 h 1824"/>
                <a:gd name="T4" fmla="*/ 843 w 976"/>
                <a:gd name="T5" fmla="*/ 912 h 1824"/>
                <a:gd name="T6" fmla="*/ 0 w 976"/>
                <a:gd name="T7" fmla="*/ 66 h 1824"/>
                <a:gd name="T8" fmla="*/ 66 w 976"/>
                <a:gd name="T9" fmla="*/ 0 h 1824"/>
                <a:gd name="T10" fmla="*/ 976 w 976"/>
                <a:gd name="T11" fmla="*/ 912 h 1824"/>
                <a:gd name="T12" fmla="*/ 66 w 976"/>
                <a:gd name="T13" fmla="*/ 1824 h 1824"/>
              </a:gdLst>
              <a:ahLst/>
              <a:cxnLst>
                <a:cxn ang="0">
                  <a:pos x="T0" y="T1"/>
                </a:cxn>
                <a:cxn ang="0">
                  <a:pos x="T2" y="T3"/>
                </a:cxn>
                <a:cxn ang="0">
                  <a:pos x="T4" y="T5"/>
                </a:cxn>
                <a:cxn ang="0">
                  <a:pos x="T6" y="T7"/>
                </a:cxn>
                <a:cxn ang="0">
                  <a:pos x="T8" y="T9"/>
                </a:cxn>
                <a:cxn ang="0">
                  <a:pos x="T10" y="T11"/>
                </a:cxn>
                <a:cxn ang="0">
                  <a:pos x="T12" y="T13"/>
                </a:cxn>
              </a:cxnLst>
              <a:rect l="0" t="0" r="r" b="b"/>
              <a:pathLst>
                <a:path w="976" h="1824">
                  <a:moveTo>
                    <a:pt x="66" y="1824"/>
                  </a:moveTo>
                  <a:lnTo>
                    <a:pt x="0" y="1758"/>
                  </a:lnTo>
                  <a:lnTo>
                    <a:pt x="843" y="912"/>
                  </a:lnTo>
                  <a:lnTo>
                    <a:pt x="0" y="66"/>
                  </a:lnTo>
                  <a:lnTo>
                    <a:pt x="66" y="0"/>
                  </a:lnTo>
                  <a:lnTo>
                    <a:pt x="976" y="912"/>
                  </a:lnTo>
                  <a:lnTo>
                    <a:pt x="66" y="18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8641" tIns="44321" rIns="88641" bIns="44321" numCol="1" anchor="t" anchorCtr="0" compatLnSpc="1">
              <a:prstTxWarp prst="textNoShape">
                <a:avLst/>
              </a:prstTxWarp>
            </a:bodyPr>
            <a:lstStyle/>
            <a:p>
              <a:endParaRPr lang="en-US">
                <a:solidFill>
                  <a:srgbClr val="6E6F73"/>
                </a:solidFill>
              </a:endParaRPr>
            </a:p>
          </p:txBody>
        </p:sp>
      </p:grpSp>
      <p:sp>
        <p:nvSpPr>
          <p:cNvPr id="53" name="Oval 20">
            <a:extLst>
              <a:ext uri="{FF2B5EF4-FFF2-40B4-BE49-F238E27FC236}">
                <a16:creationId xmlns:a16="http://schemas.microsoft.com/office/drawing/2014/main" id="{083315F0-0657-5EE6-5B00-8047586E69F4}"/>
              </a:ext>
            </a:extLst>
          </p:cNvPr>
          <p:cNvSpPr>
            <a:spLocks noChangeAspect="1" noChangeArrowheads="1"/>
          </p:cNvSpPr>
          <p:nvPr/>
        </p:nvSpPr>
        <p:spPr bwMode="auto">
          <a:xfrm>
            <a:off x="186544" y="98006"/>
            <a:ext cx="299290" cy="299290"/>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sz="1200">
                <a:solidFill>
                  <a:schemeClr val="bg1"/>
                </a:solidFill>
                <a:ea typeface="Microsoft YaHei" panose="020B0503020204020204" pitchFamily="34" charset="-122"/>
              </a:rPr>
              <a:t>1</a:t>
            </a:r>
          </a:p>
        </p:txBody>
      </p:sp>
      <p:sp>
        <p:nvSpPr>
          <p:cNvPr id="55" name="TextBox 54">
            <a:extLst>
              <a:ext uri="{FF2B5EF4-FFF2-40B4-BE49-F238E27FC236}">
                <a16:creationId xmlns:a16="http://schemas.microsoft.com/office/drawing/2014/main" id="{136139F6-90BC-B5B6-FD12-A543C2F01148}"/>
              </a:ext>
            </a:extLst>
          </p:cNvPr>
          <p:cNvSpPr txBox="1"/>
          <p:nvPr/>
        </p:nvSpPr>
        <p:spPr>
          <a:xfrm>
            <a:off x="490697" y="128208"/>
            <a:ext cx="2217333" cy="276999"/>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a:spAutoFit/>
          </a:bodyPr>
          <a:lstStyle/>
          <a:p>
            <a:r>
              <a:rPr lang="zh-TW" altLang="en-US" sz="1200">
                <a:solidFill>
                  <a:srgbClr val="575757"/>
                </a:solidFill>
                <a:latin typeface="Trebuchet MS" panose="020B0603020202020204" pitchFamily="34" charset="0"/>
                <a:ea typeface="Microsoft YaHei" panose="020B0503020204020204" pitchFamily="34" charset="-122"/>
              </a:rPr>
              <a:t>優化預測模型，個性化經營</a:t>
            </a:r>
            <a:endParaRPr lang="en-US" sz="1200">
              <a:solidFill>
                <a:srgbClr val="575757"/>
              </a:solidFill>
              <a:ea typeface="Microsoft YaHei" panose="020B0503020204020204" pitchFamily="34" charset="-122"/>
            </a:endParaRPr>
          </a:p>
        </p:txBody>
      </p:sp>
      <p:sp>
        <p:nvSpPr>
          <p:cNvPr id="56" name="Oval 20">
            <a:extLst>
              <a:ext uri="{FF2B5EF4-FFF2-40B4-BE49-F238E27FC236}">
                <a16:creationId xmlns:a16="http://schemas.microsoft.com/office/drawing/2014/main" id="{7362FBA4-9598-5CA2-00AB-9F65A78AAB3C}"/>
              </a:ext>
            </a:extLst>
          </p:cNvPr>
          <p:cNvSpPr>
            <a:spLocks noChangeAspect="1" noChangeArrowheads="1"/>
          </p:cNvSpPr>
          <p:nvPr/>
        </p:nvSpPr>
        <p:spPr bwMode="auto">
          <a:xfrm>
            <a:off x="898572" y="2094594"/>
            <a:ext cx="238259" cy="238259"/>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altLang="zh-TW" sz="1200">
                <a:solidFill>
                  <a:schemeClr val="bg1"/>
                </a:solidFill>
              </a:rPr>
              <a:t>A</a:t>
            </a:r>
            <a:endParaRPr lang="en-US" sz="1200">
              <a:solidFill>
                <a:schemeClr val="bg1"/>
              </a:solidFill>
            </a:endParaRPr>
          </a:p>
        </p:txBody>
      </p:sp>
      <p:sp>
        <p:nvSpPr>
          <p:cNvPr id="58" name="Oval 20">
            <a:extLst>
              <a:ext uri="{FF2B5EF4-FFF2-40B4-BE49-F238E27FC236}">
                <a16:creationId xmlns:a16="http://schemas.microsoft.com/office/drawing/2014/main" id="{328674E5-8089-84D1-4BB1-27FFEC9BB7F6}"/>
              </a:ext>
            </a:extLst>
          </p:cNvPr>
          <p:cNvSpPr>
            <a:spLocks noChangeAspect="1" noChangeArrowheads="1"/>
          </p:cNvSpPr>
          <p:nvPr/>
        </p:nvSpPr>
        <p:spPr bwMode="auto">
          <a:xfrm>
            <a:off x="3737254" y="2089191"/>
            <a:ext cx="238259" cy="238259"/>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altLang="zh-TW" sz="1200">
                <a:solidFill>
                  <a:schemeClr val="bg1"/>
                </a:solidFill>
              </a:rPr>
              <a:t>B</a:t>
            </a:r>
            <a:endParaRPr lang="en-US" sz="1200">
              <a:solidFill>
                <a:schemeClr val="bg1"/>
              </a:solidFill>
            </a:endParaRPr>
          </a:p>
        </p:txBody>
      </p:sp>
      <p:sp>
        <p:nvSpPr>
          <p:cNvPr id="59" name="Oval 20">
            <a:extLst>
              <a:ext uri="{FF2B5EF4-FFF2-40B4-BE49-F238E27FC236}">
                <a16:creationId xmlns:a16="http://schemas.microsoft.com/office/drawing/2014/main" id="{99F3C5F2-3603-74FE-F228-E84025724BBE}"/>
              </a:ext>
            </a:extLst>
          </p:cNvPr>
          <p:cNvSpPr>
            <a:spLocks noChangeAspect="1" noChangeArrowheads="1"/>
          </p:cNvSpPr>
          <p:nvPr/>
        </p:nvSpPr>
        <p:spPr bwMode="auto">
          <a:xfrm>
            <a:off x="6822940" y="1952808"/>
            <a:ext cx="238259" cy="238259"/>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altLang="zh-TW" sz="1200">
                <a:solidFill>
                  <a:schemeClr val="bg1"/>
                </a:solidFill>
              </a:rPr>
              <a:t>C</a:t>
            </a:r>
            <a:endParaRPr lang="en-US" sz="1200">
              <a:solidFill>
                <a:schemeClr val="bg1"/>
              </a:solidFill>
            </a:endParaRPr>
          </a:p>
        </p:txBody>
      </p:sp>
      <p:sp>
        <p:nvSpPr>
          <p:cNvPr id="60" name="Oval 20">
            <a:extLst>
              <a:ext uri="{FF2B5EF4-FFF2-40B4-BE49-F238E27FC236}">
                <a16:creationId xmlns:a16="http://schemas.microsoft.com/office/drawing/2014/main" id="{11C7AD3F-BBBE-25B1-2F22-32DC3FB1C7A2}"/>
              </a:ext>
            </a:extLst>
          </p:cNvPr>
          <p:cNvSpPr>
            <a:spLocks noChangeAspect="1" noChangeArrowheads="1"/>
          </p:cNvSpPr>
          <p:nvPr/>
        </p:nvSpPr>
        <p:spPr bwMode="auto">
          <a:xfrm>
            <a:off x="9146088" y="2073792"/>
            <a:ext cx="238259" cy="238259"/>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altLang="zh-TW" sz="1200">
                <a:solidFill>
                  <a:schemeClr val="bg1"/>
                </a:solidFill>
              </a:rPr>
              <a:t>D</a:t>
            </a:r>
            <a:endParaRPr lang="en-US" sz="1200">
              <a:solidFill>
                <a:schemeClr val="bg1"/>
              </a:solidFill>
            </a:endParaRPr>
          </a:p>
        </p:txBody>
      </p:sp>
      <p:sp>
        <p:nvSpPr>
          <p:cNvPr id="61" name="Oval 20">
            <a:extLst>
              <a:ext uri="{FF2B5EF4-FFF2-40B4-BE49-F238E27FC236}">
                <a16:creationId xmlns:a16="http://schemas.microsoft.com/office/drawing/2014/main" id="{D8F4C4AD-5FE1-3225-F174-B6C80F802C30}"/>
              </a:ext>
            </a:extLst>
          </p:cNvPr>
          <p:cNvSpPr>
            <a:spLocks noChangeAspect="1" noChangeArrowheads="1"/>
          </p:cNvSpPr>
          <p:nvPr/>
        </p:nvSpPr>
        <p:spPr bwMode="auto">
          <a:xfrm>
            <a:off x="660313" y="5724446"/>
            <a:ext cx="238259" cy="238259"/>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altLang="zh-TW" sz="1200">
                <a:solidFill>
                  <a:schemeClr val="bg1"/>
                </a:solidFill>
              </a:rPr>
              <a:t>F</a:t>
            </a:r>
            <a:endParaRPr lang="en-US" sz="1200">
              <a:solidFill>
                <a:schemeClr val="bg1"/>
              </a:solidFill>
            </a:endParaRPr>
          </a:p>
        </p:txBody>
      </p:sp>
      <p:sp>
        <p:nvSpPr>
          <p:cNvPr id="62" name="Oval 20">
            <a:extLst>
              <a:ext uri="{FF2B5EF4-FFF2-40B4-BE49-F238E27FC236}">
                <a16:creationId xmlns:a16="http://schemas.microsoft.com/office/drawing/2014/main" id="{D669B7C4-5BE6-C40E-8926-F3B58F05530F}"/>
              </a:ext>
            </a:extLst>
          </p:cNvPr>
          <p:cNvSpPr>
            <a:spLocks noChangeAspect="1" noChangeArrowheads="1"/>
          </p:cNvSpPr>
          <p:nvPr/>
        </p:nvSpPr>
        <p:spPr bwMode="auto">
          <a:xfrm>
            <a:off x="660314" y="4957551"/>
            <a:ext cx="238259" cy="238259"/>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altLang="zh-TW" sz="1200">
                <a:solidFill>
                  <a:schemeClr val="bg1"/>
                </a:solidFill>
              </a:rPr>
              <a:t>E</a:t>
            </a:r>
            <a:endParaRPr lang="en-US" sz="1200">
              <a:solidFill>
                <a:schemeClr val="bg1"/>
              </a:solidFill>
            </a:endParaRPr>
          </a:p>
        </p:txBody>
      </p:sp>
      <p:grpSp>
        <p:nvGrpSpPr>
          <p:cNvPr id="63" name="Group 62">
            <a:extLst>
              <a:ext uri="{FF2B5EF4-FFF2-40B4-BE49-F238E27FC236}">
                <a16:creationId xmlns:a16="http://schemas.microsoft.com/office/drawing/2014/main" id="{8214D68C-6EFF-DDD7-5C9F-B851D229E7CB}"/>
              </a:ext>
            </a:extLst>
          </p:cNvPr>
          <p:cNvGrpSpPr>
            <a:grpSpLocks noChangeAspect="1"/>
          </p:cNvGrpSpPr>
          <p:nvPr/>
        </p:nvGrpSpPr>
        <p:grpSpPr>
          <a:xfrm>
            <a:off x="3183978" y="3200060"/>
            <a:ext cx="306910" cy="306910"/>
            <a:chOff x="982662" y="1847850"/>
            <a:chExt cx="269875" cy="269875"/>
          </a:xfrm>
        </p:grpSpPr>
        <p:sp>
          <p:nvSpPr>
            <p:cNvPr id="64" name="Oval 50">
              <a:extLst>
                <a:ext uri="{FF2B5EF4-FFF2-40B4-BE49-F238E27FC236}">
                  <a16:creationId xmlns:a16="http://schemas.microsoft.com/office/drawing/2014/main" id="{43AACB31-CF13-D723-2A73-A62EBC10AED8}"/>
                </a:ext>
              </a:extLst>
            </p:cNvPr>
            <p:cNvSpPr>
              <a:spLocks noChangeArrowheads="1"/>
            </p:cNvSpPr>
            <p:nvPr/>
          </p:nvSpPr>
          <p:spPr bwMode="auto">
            <a:xfrm>
              <a:off x="982662" y="1847850"/>
              <a:ext cx="269875" cy="269875"/>
            </a:xfrm>
            <a:prstGeom prst="ellipse">
              <a:avLst/>
            </a:prstGeom>
            <a:solidFill>
              <a:schemeClr val="tx2"/>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a typeface="Microsoft YaHei" panose="020B0503020204020204" pitchFamily="34" charset="-122"/>
              </a:endParaRPr>
            </a:p>
          </p:txBody>
        </p:sp>
        <p:sp>
          <p:nvSpPr>
            <p:cNvPr id="65" name="Freeform 51">
              <a:extLst>
                <a:ext uri="{FF2B5EF4-FFF2-40B4-BE49-F238E27FC236}">
                  <a16:creationId xmlns:a16="http://schemas.microsoft.com/office/drawing/2014/main" id="{8E389215-091B-6618-B5D5-C42FCDF38633}"/>
                </a:ext>
              </a:extLst>
            </p:cNvPr>
            <p:cNvSpPr>
              <a:spLocks/>
            </p:cNvSpPr>
            <p:nvPr/>
          </p:nvSpPr>
          <p:spPr bwMode="auto">
            <a:xfrm>
              <a:off x="1082675" y="1895475"/>
              <a:ext cx="96837" cy="174625"/>
            </a:xfrm>
            <a:custGeom>
              <a:avLst/>
              <a:gdLst>
                <a:gd name="T0" fmla="*/ 6 w 61"/>
                <a:gd name="T1" fmla="*/ 0 h 110"/>
                <a:gd name="T2" fmla="*/ 0 w 61"/>
                <a:gd name="T3" fmla="*/ 7 h 110"/>
                <a:gd name="T4" fmla="*/ 48 w 61"/>
                <a:gd name="T5" fmla="*/ 55 h 110"/>
                <a:gd name="T6" fmla="*/ 0 w 61"/>
                <a:gd name="T7" fmla="*/ 104 h 110"/>
                <a:gd name="T8" fmla="*/ 6 w 61"/>
                <a:gd name="T9" fmla="*/ 110 h 110"/>
                <a:gd name="T10" fmla="*/ 54 w 61"/>
                <a:gd name="T11" fmla="*/ 62 h 110"/>
                <a:gd name="T12" fmla="*/ 61 w 61"/>
                <a:gd name="T13" fmla="*/ 55 h 110"/>
                <a:gd name="T14" fmla="*/ 54 w 61"/>
                <a:gd name="T15" fmla="*/ 49 h 110"/>
                <a:gd name="T16" fmla="*/ 6 w 61"/>
                <a:gd name="T1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110">
                  <a:moveTo>
                    <a:pt x="6" y="0"/>
                  </a:moveTo>
                  <a:lnTo>
                    <a:pt x="0" y="7"/>
                  </a:lnTo>
                  <a:lnTo>
                    <a:pt x="48" y="55"/>
                  </a:lnTo>
                  <a:lnTo>
                    <a:pt x="0" y="104"/>
                  </a:lnTo>
                  <a:lnTo>
                    <a:pt x="6" y="110"/>
                  </a:lnTo>
                  <a:lnTo>
                    <a:pt x="54" y="62"/>
                  </a:lnTo>
                  <a:lnTo>
                    <a:pt x="61" y="55"/>
                  </a:lnTo>
                  <a:lnTo>
                    <a:pt x="54" y="49"/>
                  </a:lnTo>
                  <a:lnTo>
                    <a:pt x="6"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a typeface="Microsoft YaHei" panose="020B0503020204020204" pitchFamily="34" charset="-122"/>
              </a:endParaRPr>
            </a:p>
          </p:txBody>
        </p:sp>
      </p:grpSp>
      <p:grpSp>
        <p:nvGrpSpPr>
          <p:cNvPr id="66" name="Group 65">
            <a:extLst>
              <a:ext uri="{FF2B5EF4-FFF2-40B4-BE49-F238E27FC236}">
                <a16:creationId xmlns:a16="http://schemas.microsoft.com/office/drawing/2014/main" id="{A2DABAC9-0BBD-7613-C07C-585B3A0DD6B4}"/>
              </a:ext>
            </a:extLst>
          </p:cNvPr>
          <p:cNvGrpSpPr>
            <a:grpSpLocks noChangeAspect="1"/>
          </p:cNvGrpSpPr>
          <p:nvPr/>
        </p:nvGrpSpPr>
        <p:grpSpPr>
          <a:xfrm>
            <a:off x="5952616" y="3200060"/>
            <a:ext cx="306910" cy="306910"/>
            <a:chOff x="982662" y="1847850"/>
            <a:chExt cx="269875" cy="269875"/>
          </a:xfrm>
        </p:grpSpPr>
        <p:sp>
          <p:nvSpPr>
            <p:cNvPr id="67" name="Oval 50">
              <a:extLst>
                <a:ext uri="{FF2B5EF4-FFF2-40B4-BE49-F238E27FC236}">
                  <a16:creationId xmlns:a16="http://schemas.microsoft.com/office/drawing/2014/main" id="{263EAB4B-7E70-A955-C907-2BDF306C08E4}"/>
                </a:ext>
              </a:extLst>
            </p:cNvPr>
            <p:cNvSpPr>
              <a:spLocks noChangeArrowheads="1"/>
            </p:cNvSpPr>
            <p:nvPr/>
          </p:nvSpPr>
          <p:spPr bwMode="auto">
            <a:xfrm>
              <a:off x="982662" y="1847850"/>
              <a:ext cx="269875" cy="269875"/>
            </a:xfrm>
            <a:prstGeom prst="ellipse">
              <a:avLst/>
            </a:prstGeom>
            <a:solidFill>
              <a:schemeClr val="tx2"/>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a typeface="Microsoft YaHei" panose="020B0503020204020204" pitchFamily="34" charset="-122"/>
              </a:endParaRPr>
            </a:p>
          </p:txBody>
        </p:sp>
        <p:sp>
          <p:nvSpPr>
            <p:cNvPr id="69" name="Freeform 51">
              <a:extLst>
                <a:ext uri="{FF2B5EF4-FFF2-40B4-BE49-F238E27FC236}">
                  <a16:creationId xmlns:a16="http://schemas.microsoft.com/office/drawing/2014/main" id="{5C131666-0531-DFA8-174D-38397D2A30C6}"/>
                </a:ext>
              </a:extLst>
            </p:cNvPr>
            <p:cNvSpPr>
              <a:spLocks/>
            </p:cNvSpPr>
            <p:nvPr/>
          </p:nvSpPr>
          <p:spPr bwMode="auto">
            <a:xfrm>
              <a:off x="1082675" y="1895475"/>
              <a:ext cx="96837" cy="174625"/>
            </a:xfrm>
            <a:custGeom>
              <a:avLst/>
              <a:gdLst>
                <a:gd name="T0" fmla="*/ 6 w 61"/>
                <a:gd name="T1" fmla="*/ 0 h 110"/>
                <a:gd name="T2" fmla="*/ 0 w 61"/>
                <a:gd name="T3" fmla="*/ 7 h 110"/>
                <a:gd name="T4" fmla="*/ 48 w 61"/>
                <a:gd name="T5" fmla="*/ 55 h 110"/>
                <a:gd name="T6" fmla="*/ 0 w 61"/>
                <a:gd name="T7" fmla="*/ 104 h 110"/>
                <a:gd name="T8" fmla="*/ 6 w 61"/>
                <a:gd name="T9" fmla="*/ 110 h 110"/>
                <a:gd name="T10" fmla="*/ 54 w 61"/>
                <a:gd name="T11" fmla="*/ 62 h 110"/>
                <a:gd name="T12" fmla="*/ 61 w 61"/>
                <a:gd name="T13" fmla="*/ 55 h 110"/>
                <a:gd name="T14" fmla="*/ 54 w 61"/>
                <a:gd name="T15" fmla="*/ 49 h 110"/>
                <a:gd name="T16" fmla="*/ 6 w 61"/>
                <a:gd name="T1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110">
                  <a:moveTo>
                    <a:pt x="6" y="0"/>
                  </a:moveTo>
                  <a:lnTo>
                    <a:pt x="0" y="7"/>
                  </a:lnTo>
                  <a:lnTo>
                    <a:pt x="48" y="55"/>
                  </a:lnTo>
                  <a:lnTo>
                    <a:pt x="0" y="104"/>
                  </a:lnTo>
                  <a:lnTo>
                    <a:pt x="6" y="110"/>
                  </a:lnTo>
                  <a:lnTo>
                    <a:pt x="54" y="62"/>
                  </a:lnTo>
                  <a:lnTo>
                    <a:pt x="61" y="55"/>
                  </a:lnTo>
                  <a:lnTo>
                    <a:pt x="54" y="49"/>
                  </a:lnTo>
                  <a:lnTo>
                    <a:pt x="6"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a typeface="Microsoft YaHei" panose="020B0503020204020204" pitchFamily="34" charset="-122"/>
              </a:endParaRPr>
            </a:p>
          </p:txBody>
        </p:sp>
      </p:grpSp>
      <p:grpSp>
        <p:nvGrpSpPr>
          <p:cNvPr id="70" name="Group 69">
            <a:extLst>
              <a:ext uri="{FF2B5EF4-FFF2-40B4-BE49-F238E27FC236}">
                <a16:creationId xmlns:a16="http://schemas.microsoft.com/office/drawing/2014/main" id="{B88B19F0-F712-A165-5424-D4C01D757EF4}"/>
              </a:ext>
            </a:extLst>
          </p:cNvPr>
          <p:cNvGrpSpPr>
            <a:grpSpLocks noChangeAspect="1"/>
          </p:cNvGrpSpPr>
          <p:nvPr/>
        </p:nvGrpSpPr>
        <p:grpSpPr>
          <a:xfrm>
            <a:off x="8697256" y="3200060"/>
            <a:ext cx="306910" cy="306910"/>
            <a:chOff x="982662" y="1847850"/>
            <a:chExt cx="269875" cy="269875"/>
          </a:xfrm>
        </p:grpSpPr>
        <p:sp>
          <p:nvSpPr>
            <p:cNvPr id="71" name="Oval 50">
              <a:extLst>
                <a:ext uri="{FF2B5EF4-FFF2-40B4-BE49-F238E27FC236}">
                  <a16:creationId xmlns:a16="http://schemas.microsoft.com/office/drawing/2014/main" id="{A878F46D-DFFE-98D5-A70C-31A299BF650F}"/>
                </a:ext>
              </a:extLst>
            </p:cNvPr>
            <p:cNvSpPr>
              <a:spLocks noChangeArrowheads="1"/>
            </p:cNvSpPr>
            <p:nvPr/>
          </p:nvSpPr>
          <p:spPr bwMode="auto">
            <a:xfrm>
              <a:off x="982662" y="1847850"/>
              <a:ext cx="269875" cy="269875"/>
            </a:xfrm>
            <a:prstGeom prst="ellipse">
              <a:avLst/>
            </a:prstGeom>
            <a:solidFill>
              <a:schemeClr val="tx2"/>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a typeface="Microsoft YaHei" panose="020B0503020204020204" pitchFamily="34" charset="-122"/>
              </a:endParaRPr>
            </a:p>
          </p:txBody>
        </p:sp>
        <p:sp>
          <p:nvSpPr>
            <p:cNvPr id="75" name="Freeform 51">
              <a:extLst>
                <a:ext uri="{FF2B5EF4-FFF2-40B4-BE49-F238E27FC236}">
                  <a16:creationId xmlns:a16="http://schemas.microsoft.com/office/drawing/2014/main" id="{7F35D117-7D00-04E6-3555-0A86A17C1711}"/>
                </a:ext>
              </a:extLst>
            </p:cNvPr>
            <p:cNvSpPr>
              <a:spLocks/>
            </p:cNvSpPr>
            <p:nvPr/>
          </p:nvSpPr>
          <p:spPr bwMode="auto">
            <a:xfrm>
              <a:off x="1082675" y="1895475"/>
              <a:ext cx="96837" cy="174625"/>
            </a:xfrm>
            <a:custGeom>
              <a:avLst/>
              <a:gdLst>
                <a:gd name="T0" fmla="*/ 6 w 61"/>
                <a:gd name="T1" fmla="*/ 0 h 110"/>
                <a:gd name="T2" fmla="*/ 0 w 61"/>
                <a:gd name="T3" fmla="*/ 7 h 110"/>
                <a:gd name="T4" fmla="*/ 48 w 61"/>
                <a:gd name="T5" fmla="*/ 55 h 110"/>
                <a:gd name="T6" fmla="*/ 0 w 61"/>
                <a:gd name="T7" fmla="*/ 104 h 110"/>
                <a:gd name="T8" fmla="*/ 6 w 61"/>
                <a:gd name="T9" fmla="*/ 110 h 110"/>
                <a:gd name="T10" fmla="*/ 54 w 61"/>
                <a:gd name="T11" fmla="*/ 62 h 110"/>
                <a:gd name="T12" fmla="*/ 61 w 61"/>
                <a:gd name="T13" fmla="*/ 55 h 110"/>
                <a:gd name="T14" fmla="*/ 54 w 61"/>
                <a:gd name="T15" fmla="*/ 49 h 110"/>
                <a:gd name="T16" fmla="*/ 6 w 61"/>
                <a:gd name="T1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110">
                  <a:moveTo>
                    <a:pt x="6" y="0"/>
                  </a:moveTo>
                  <a:lnTo>
                    <a:pt x="0" y="7"/>
                  </a:lnTo>
                  <a:lnTo>
                    <a:pt x="48" y="55"/>
                  </a:lnTo>
                  <a:lnTo>
                    <a:pt x="0" y="104"/>
                  </a:lnTo>
                  <a:lnTo>
                    <a:pt x="6" y="110"/>
                  </a:lnTo>
                  <a:lnTo>
                    <a:pt x="54" y="62"/>
                  </a:lnTo>
                  <a:lnTo>
                    <a:pt x="61" y="55"/>
                  </a:lnTo>
                  <a:lnTo>
                    <a:pt x="54" y="49"/>
                  </a:lnTo>
                  <a:lnTo>
                    <a:pt x="6"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a typeface="Microsoft YaHei" panose="020B0503020204020204" pitchFamily="34" charset="-122"/>
              </a:endParaRPr>
            </a:p>
          </p:txBody>
        </p:sp>
      </p:grpSp>
    </p:spTree>
    <p:extLst>
      <p:ext uri="{BB962C8B-B14F-4D97-AF65-F5344CB8AC3E}">
        <p14:creationId xmlns:p14="http://schemas.microsoft.com/office/powerpoint/2010/main" val="147638445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33448767-FFF9-43BD-A847-7C8EEAB78DCF}"/>
              </a:ext>
            </a:extLst>
          </p:cNvPr>
          <p:cNvGraphicFramePr>
            <a:graphicFrameLocks noChangeAspect="1"/>
          </p:cNvGraphicFramePr>
          <p:nvPr>
            <p:custDataLst>
              <p:tags r:id="rId1"/>
            </p:custDataLst>
            <p:extLst>
              <p:ext uri="{D42A27DB-BD31-4B8C-83A1-F6EECF244321}">
                <p14:modId xmlns:p14="http://schemas.microsoft.com/office/powerpoint/2010/main" val="112985932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2" imgW="444" imgH="446" progId="TCLayout.ActiveDocument.1">
                  <p:embed/>
                </p:oleObj>
              </mc:Choice>
              <mc:Fallback>
                <p:oleObj name="think-cell Slide" r:id="rId12" imgW="444" imgH="446" progId="TCLayout.ActiveDocument.1">
                  <p:embed/>
                  <p:pic>
                    <p:nvPicPr>
                      <p:cNvPr id="4" name="Object 3" hidden="1">
                        <a:extLst>
                          <a:ext uri="{FF2B5EF4-FFF2-40B4-BE49-F238E27FC236}">
                            <a16:creationId xmlns:a16="http://schemas.microsoft.com/office/drawing/2014/main" id="{33448767-FFF9-43BD-A847-7C8EEAB78DCF}"/>
                          </a:ext>
                        </a:extLst>
                      </p:cNvPr>
                      <p:cNvPicPr/>
                      <p:nvPr/>
                    </p:nvPicPr>
                    <p:blipFill>
                      <a:blip r:embed="rId13"/>
                      <a:stretch>
                        <a:fillRect/>
                      </a:stretch>
                    </p:blipFill>
                    <p:spPr>
                      <a:xfrm>
                        <a:off x="1588" y="1588"/>
                        <a:ext cx="1588" cy="1588"/>
                      </a:xfrm>
                      <a:prstGeom prst="rect">
                        <a:avLst/>
                      </a:prstGeom>
                    </p:spPr>
                  </p:pic>
                </p:oleObj>
              </mc:Fallback>
            </mc:AlternateContent>
          </a:graphicData>
        </a:graphic>
      </p:graphicFrame>
      <p:sp>
        <p:nvSpPr>
          <p:cNvPr id="9" name="Rectangle 8" hidden="1">
            <a:extLst>
              <a:ext uri="{FF2B5EF4-FFF2-40B4-BE49-F238E27FC236}">
                <a16:creationId xmlns:a16="http://schemas.microsoft.com/office/drawing/2014/main" id="{0097B10D-F1ED-4C78-A697-46EE7B28B311}"/>
              </a:ext>
            </a:extLst>
          </p:cNvPr>
          <p:cNvSpPr/>
          <p:nvPr>
            <p:custDataLst>
              <p:tags r:id="rId2"/>
            </p:custDataLst>
          </p:nvPr>
        </p:nvSpPr>
        <p:spPr>
          <a:xfrm>
            <a:off x="0" y="0"/>
            <a:ext cx="158750" cy="158750"/>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endParaRPr lang="en-US" sz="2400">
              <a:solidFill>
                <a:srgbClr val="FFFFFF"/>
              </a:solidFill>
              <a:latin typeface="Trebuchet MS" panose="020B0603020202020204" pitchFamily="34" charset="0"/>
              <a:ea typeface="Microsoft YaHei" panose="020B0503020204020204" pitchFamily="34" charset="-122"/>
              <a:cs typeface="+mj-cs"/>
              <a:sym typeface="Trebuchet MS" panose="020B0603020202020204" pitchFamily="34" charset="0"/>
            </a:endParaRPr>
          </a:p>
        </p:txBody>
      </p:sp>
      <p:sp>
        <p:nvSpPr>
          <p:cNvPr id="2" name="Title 1">
            <a:extLst>
              <a:ext uri="{FF2B5EF4-FFF2-40B4-BE49-F238E27FC236}">
                <a16:creationId xmlns:a16="http://schemas.microsoft.com/office/drawing/2014/main" id="{DB1636AD-CB12-44E9-95B3-2E6299B8E71D}"/>
              </a:ext>
            </a:extLst>
          </p:cNvPr>
          <p:cNvSpPr>
            <a:spLocks noGrp="1"/>
          </p:cNvSpPr>
          <p:nvPr>
            <p:ph type="title"/>
          </p:nvPr>
        </p:nvSpPr>
        <p:spPr>
          <a:xfrm>
            <a:off x="630000" y="622800"/>
            <a:ext cx="10933350" cy="664797"/>
          </a:xfrm>
        </p:spPr>
        <p:txBody>
          <a:bodyPr vert="horz"/>
          <a:lstStyle/>
          <a:p>
            <a:r>
              <a:rPr lang="zh-TW" altLang="en-US">
                <a:solidFill>
                  <a:srgbClr val="A8B21C"/>
                </a:solidFill>
                <a:ea typeface="Microsoft YaHei" panose="020B0503020204020204" pitchFamily="34" charset="-122"/>
                <a:sym typeface="+mj-lt"/>
              </a:rPr>
              <a:t>個性化經營六大基石</a:t>
            </a:r>
            <a:r>
              <a:rPr lang="en-US" altLang="zh-TW">
                <a:solidFill>
                  <a:srgbClr val="A8B21C"/>
                </a:solidFill>
                <a:ea typeface="Microsoft YaHei" panose="020B0503020204020204" pitchFamily="34" charset="-122"/>
                <a:sym typeface="+mj-lt"/>
              </a:rPr>
              <a:t>|</a:t>
            </a:r>
            <a:r>
              <a:rPr lang="zh-TW" altLang="en-US">
                <a:solidFill>
                  <a:srgbClr val="A8B21C"/>
                </a:solidFill>
                <a:ea typeface="Microsoft YaHei" panose="020B0503020204020204" pitchFamily="34" charset="-122"/>
                <a:sym typeface="+mj-lt"/>
              </a:rPr>
              <a:t> </a:t>
            </a:r>
            <a:r>
              <a:rPr lang="zh-TW" altLang="en-US">
                <a:ea typeface="Microsoft YaHei" panose="020B0503020204020204" pitchFamily="34" charset="-122"/>
                <a:sym typeface="+mj-lt"/>
              </a:rPr>
              <a:t>目前凱基在數據基礎、預測模型有較完善的基礎，後續應就其餘面向進行優化</a:t>
            </a:r>
            <a:endParaRPr lang="en-US">
              <a:ea typeface="Microsoft YaHei" panose="020B0503020204020204" pitchFamily="34" charset="-122"/>
              <a:sym typeface="+mj-lt"/>
            </a:endParaRPr>
          </a:p>
        </p:txBody>
      </p:sp>
      <p:sp>
        <p:nvSpPr>
          <p:cNvPr id="130" name="arc" hidden="1">
            <a:extLst>
              <a:ext uri="{FF2B5EF4-FFF2-40B4-BE49-F238E27FC236}">
                <a16:creationId xmlns:a16="http://schemas.microsoft.com/office/drawing/2014/main" id="{19B90FD4-69E8-4135-9552-E79CACDDCBA2}"/>
              </a:ext>
            </a:extLst>
          </p:cNvPr>
          <p:cNvSpPr/>
          <p:nvPr/>
        </p:nvSpPr>
        <p:spPr>
          <a:xfrm>
            <a:off x="7446320" y="6298282"/>
            <a:ext cx="177438" cy="177439"/>
          </a:xfrm>
          <a:prstGeom prst="arc">
            <a:avLst>
              <a:gd name="adj1" fmla="val 16200000"/>
              <a:gd name="adj2" fmla="val 16200000"/>
            </a:avLst>
          </a:prstGeom>
          <a:solidFill>
            <a:srgbClr val="29BA74">
              <a:lumMod val="100000"/>
            </a:srgbClr>
          </a:solidFill>
          <a:ln w="9525" cap="rnd" cmpd="sng" algn="ctr">
            <a:noFill/>
            <a:prstDash val="solid"/>
            <a:round/>
          </a:ln>
          <a:effectLst/>
          <a:extLst>
            <a:ext uri="{91240B29-F687-4F45-9708-019B960494DF}">
              <a14:hiddenLine xmlns:a14="http://schemas.microsoft.com/office/drawing/2010/main" w="9525" cap="rnd" cmpd="sng" algn="ctr">
                <a:solidFill>
                  <a:srgbClr val="7F7F7F"/>
                </a:solidFill>
                <a:prstDash val="solid"/>
                <a:round/>
              </a14:hiddenLine>
            </a:ext>
          </a:extLst>
        </p:spPr>
        <p:style>
          <a:lnRef idx="1">
            <a:schemeClr val="accent1"/>
          </a:lnRef>
          <a:fillRef idx="0">
            <a:schemeClr val="accent1"/>
          </a:fillRef>
          <a:effectRef idx="0">
            <a:schemeClr val="accent1"/>
          </a:effectRef>
          <a:fontRef idx="minor">
            <a:schemeClr val="tx1"/>
          </a:fontRef>
        </p:style>
        <p:txBody>
          <a:bodyPr rtlCol="0" anchor="ctr">
            <a:noAutofit/>
          </a:bodyPr>
          <a:lstStyle/>
          <a:p>
            <a:pPr algn="ctr"/>
            <a:endParaRPr lang="en-US" sz="800">
              <a:ea typeface="Microsoft YaHei" panose="020B0503020204020204" pitchFamily="34" charset="-122"/>
              <a:sym typeface="+mn-lt"/>
            </a:endParaRPr>
          </a:p>
        </p:txBody>
      </p:sp>
      <p:grpSp>
        <p:nvGrpSpPr>
          <p:cNvPr id="123" name="Group 122">
            <a:extLst>
              <a:ext uri="{FF2B5EF4-FFF2-40B4-BE49-F238E27FC236}">
                <a16:creationId xmlns:a16="http://schemas.microsoft.com/office/drawing/2014/main" id="{FDCEA4FF-C585-4889-ADB1-D65C0093ED1F}"/>
              </a:ext>
            </a:extLst>
          </p:cNvPr>
          <p:cNvGrpSpPr>
            <a:grpSpLocks/>
          </p:cNvGrpSpPr>
          <p:nvPr/>
        </p:nvGrpSpPr>
        <p:grpSpPr>
          <a:xfrm>
            <a:off x="630000" y="2475691"/>
            <a:ext cx="365760" cy="365760"/>
            <a:chOff x="6464300" y="2606675"/>
            <a:chExt cx="1646238" cy="1644650"/>
          </a:xfrm>
        </p:grpSpPr>
        <p:sp>
          <p:nvSpPr>
            <p:cNvPr id="248" name="AutoShape 15">
              <a:extLst>
                <a:ext uri="{FF2B5EF4-FFF2-40B4-BE49-F238E27FC236}">
                  <a16:creationId xmlns:a16="http://schemas.microsoft.com/office/drawing/2014/main" id="{1DBF5AC6-6A6F-441C-9BD5-E4E3CA34818B}"/>
                </a:ext>
              </a:extLst>
            </p:cNvPr>
            <p:cNvSpPr>
              <a:spLocks noChangeAspect="1" noChangeArrowheads="1" noTextEdit="1"/>
            </p:cNvSpPr>
            <p:nvPr/>
          </p:nvSpPr>
          <p:spPr bwMode="auto">
            <a:xfrm>
              <a:off x="6464300"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grpSp>
          <p:nvGrpSpPr>
            <p:cNvPr id="249" name="Group 248">
              <a:extLst>
                <a:ext uri="{FF2B5EF4-FFF2-40B4-BE49-F238E27FC236}">
                  <a16:creationId xmlns:a16="http://schemas.microsoft.com/office/drawing/2014/main" id="{78555CE5-3CC6-4E35-BD80-233A9C1566FA}"/>
                </a:ext>
              </a:extLst>
            </p:cNvPr>
            <p:cNvGrpSpPr/>
            <p:nvPr/>
          </p:nvGrpSpPr>
          <p:grpSpPr>
            <a:xfrm>
              <a:off x="6635750" y="2963862"/>
              <a:ext cx="1367015" cy="1238250"/>
              <a:chOff x="6635750" y="2963862"/>
              <a:chExt cx="1367015" cy="1238250"/>
            </a:xfrm>
          </p:grpSpPr>
          <p:sp>
            <p:nvSpPr>
              <p:cNvPr id="250" name="Freeform 10">
                <a:extLst>
                  <a:ext uri="{FF2B5EF4-FFF2-40B4-BE49-F238E27FC236}">
                    <a16:creationId xmlns:a16="http://schemas.microsoft.com/office/drawing/2014/main" id="{A7E5876C-8078-40C6-A5F4-249873C2D5A3}"/>
                  </a:ext>
                </a:extLst>
              </p:cNvPr>
              <p:cNvSpPr>
                <a:spLocks/>
              </p:cNvSpPr>
              <p:nvPr/>
            </p:nvSpPr>
            <p:spPr bwMode="auto">
              <a:xfrm>
                <a:off x="6635750" y="2963862"/>
                <a:ext cx="1367015" cy="1238250"/>
              </a:xfrm>
              <a:custGeom>
                <a:avLst/>
                <a:gdLst>
                  <a:gd name="connsiteX0" fmla="*/ 1124567 w 1367015"/>
                  <a:gd name="connsiteY0" fmla="*/ 922337 h 1238250"/>
                  <a:gd name="connsiteX1" fmla="*/ 1113855 w 1367015"/>
                  <a:gd name="connsiteY1" fmla="*/ 931647 h 1238250"/>
                  <a:gd name="connsiteX2" fmla="*/ 1058863 w 1367015"/>
                  <a:gd name="connsiteY2" fmla="*/ 985360 h 1238250"/>
                  <a:gd name="connsiteX3" fmla="*/ 1269544 w 1367015"/>
                  <a:gd name="connsiteY3" fmla="*/ 1205939 h 1238250"/>
                  <a:gd name="connsiteX4" fmla="*/ 1282399 w 1367015"/>
                  <a:gd name="connsiteY4" fmla="*/ 1205939 h 1238250"/>
                  <a:gd name="connsiteX5" fmla="*/ 1313109 w 1367015"/>
                  <a:gd name="connsiteY5" fmla="*/ 1185886 h 1238250"/>
                  <a:gd name="connsiteX6" fmla="*/ 1333820 w 1367015"/>
                  <a:gd name="connsiteY6" fmla="*/ 1155807 h 1238250"/>
                  <a:gd name="connsiteX7" fmla="*/ 1335248 w 1367015"/>
                  <a:gd name="connsiteY7" fmla="*/ 1142916 h 1238250"/>
                  <a:gd name="connsiteX8" fmla="*/ 1133851 w 1367015"/>
                  <a:gd name="connsiteY8" fmla="*/ 931647 h 1238250"/>
                  <a:gd name="connsiteX9" fmla="*/ 1124567 w 1367015"/>
                  <a:gd name="connsiteY9" fmla="*/ 922337 h 1238250"/>
                  <a:gd name="connsiteX10" fmla="*/ 925229 w 1367015"/>
                  <a:gd name="connsiteY10" fmla="*/ 906462 h 1238250"/>
                  <a:gd name="connsiteX11" fmla="*/ 949325 w 1367015"/>
                  <a:gd name="connsiteY11" fmla="*/ 931862 h 1238250"/>
                  <a:gd name="connsiteX12" fmla="*/ 869950 w 1367015"/>
                  <a:gd name="connsiteY12" fmla="*/ 931862 h 1238250"/>
                  <a:gd name="connsiteX13" fmla="*/ 925229 w 1367015"/>
                  <a:gd name="connsiteY13" fmla="*/ 906462 h 1238250"/>
                  <a:gd name="connsiteX14" fmla="*/ 1124927 w 1367015"/>
                  <a:gd name="connsiteY14" fmla="*/ 884237 h 1238250"/>
                  <a:gd name="connsiteX15" fmla="*/ 1135645 w 1367015"/>
                  <a:gd name="connsiteY15" fmla="*/ 889243 h 1238250"/>
                  <a:gd name="connsiteX16" fmla="*/ 1146363 w 1367015"/>
                  <a:gd name="connsiteY16" fmla="*/ 900686 h 1238250"/>
                  <a:gd name="connsiteX17" fmla="*/ 1176374 w 1367015"/>
                  <a:gd name="connsiteY17" fmla="*/ 932154 h 1238250"/>
                  <a:gd name="connsiteX18" fmla="*/ 1357152 w 1367015"/>
                  <a:gd name="connsiteY18" fmla="*/ 1121676 h 1238250"/>
                  <a:gd name="connsiteX19" fmla="*/ 1363582 w 1367015"/>
                  <a:gd name="connsiteY19" fmla="*/ 1166017 h 1238250"/>
                  <a:gd name="connsiteX20" fmla="*/ 1335001 w 1367015"/>
                  <a:gd name="connsiteY20" fmla="*/ 1208928 h 1238250"/>
                  <a:gd name="connsiteX21" fmla="*/ 1290700 w 1367015"/>
                  <a:gd name="connsiteY21" fmla="*/ 1236105 h 1238250"/>
                  <a:gd name="connsiteX22" fmla="*/ 1273551 w 1367015"/>
                  <a:gd name="connsiteY22" fmla="*/ 1238250 h 1238250"/>
                  <a:gd name="connsiteX23" fmla="*/ 1246398 w 1367015"/>
                  <a:gd name="connsiteY23" fmla="*/ 1227522 h 1238250"/>
                  <a:gd name="connsiteX24" fmla="*/ 1024892 w 1367015"/>
                  <a:gd name="connsiteY24" fmla="*/ 996520 h 1238250"/>
                  <a:gd name="connsiteX25" fmla="*/ 1025606 w 1367015"/>
                  <a:gd name="connsiteY25" fmla="*/ 974350 h 1238250"/>
                  <a:gd name="connsiteX26" fmla="*/ 1068478 w 1367015"/>
                  <a:gd name="connsiteY26" fmla="*/ 932154 h 1238250"/>
                  <a:gd name="connsiteX27" fmla="*/ 1076338 w 1367015"/>
                  <a:gd name="connsiteY27" fmla="*/ 925002 h 1238250"/>
                  <a:gd name="connsiteX28" fmla="*/ 1100633 w 1367015"/>
                  <a:gd name="connsiteY28" fmla="*/ 900686 h 1238250"/>
                  <a:gd name="connsiteX29" fmla="*/ 1104205 w 1367015"/>
                  <a:gd name="connsiteY29" fmla="*/ 897826 h 1238250"/>
                  <a:gd name="connsiteX30" fmla="*/ 1113494 w 1367015"/>
                  <a:gd name="connsiteY30" fmla="*/ 889243 h 1238250"/>
                  <a:gd name="connsiteX31" fmla="*/ 1124927 w 1367015"/>
                  <a:gd name="connsiteY31" fmla="*/ 884237 h 1238250"/>
                  <a:gd name="connsiteX32" fmla="*/ 346518 w 1367015"/>
                  <a:gd name="connsiteY32" fmla="*/ 565150 h 1238250"/>
                  <a:gd name="connsiteX33" fmla="*/ 306388 w 1367015"/>
                  <a:gd name="connsiteY33" fmla="*/ 606784 h 1238250"/>
                  <a:gd name="connsiteX34" fmla="*/ 306388 w 1367015"/>
                  <a:gd name="connsiteY34" fmla="*/ 608938 h 1238250"/>
                  <a:gd name="connsiteX35" fmla="*/ 319765 w 1367015"/>
                  <a:gd name="connsiteY35" fmla="*/ 636933 h 1238250"/>
                  <a:gd name="connsiteX36" fmla="*/ 346518 w 1367015"/>
                  <a:gd name="connsiteY36" fmla="*/ 647700 h 1238250"/>
                  <a:gd name="connsiteX37" fmla="*/ 387351 w 1367015"/>
                  <a:gd name="connsiteY37" fmla="*/ 606784 h 1238250"/>
                  <a:gd name="connsiteX38" fmla="*/ 383127 w 1367015"/>
                  <a:gd name="connsiteY38" fmla="*/ 588838 h 1238250"/>
                  <a:gd name="connsiteX39" fmla="*/ 360598 w 1367015"/>
                  <a:gd name="connsiteY39" fmla="*/ 568021 h 1238250"/>
                  <a:gd name="connsiteX40" fmla="*/ 346518 w 1367015"/>
                  <a:gd name="connsiteY40" fmla="*/ 565150 h 1238250"/>
                  <a:gd name="connsiteX41" fmla="*/ 760846 w 1367015"/>
                  <a:gd name="connsiteY41" fmla="*/ 492125 h 1238250"/>
                  <a:gd name="connsiteX42" fmla="*/ 735591 w 1367015"/>
                  <a:gd name="connsiteY42" fmla="*/ 499181 h 1238250"/>
                  <a:gd name="connsiteX43" fmla="*/ 710335 w 1367015"/>
                  <a:gd name="connsiteY43" fmla="*/ 535164 h 1238250"/>
                  <a:gd name="connsiteX44" fmla="*/ 709613 w 1367015"/>
                  <a:gd name="connsiteY44" fmla="*/ 542925 h 1238250"/>
                  <a:gd name="connsiteX45" fmla="*/ 760846 w 1367015"/>
                  <a:gd name="connsiteY45" fmla="*/ 593725 h 1238250"/>
                  <a:gd name="connsiteX46" fmla="*/ 767341 w 1367015"/>
                  <a:gd name="connsiteY46" fmla="*/ 593725 h 1238250"/>
                  <a:gd name="connsiteX47" fmla="*/ 804864 w 1367015"/>
                  <a:gd name="connsiteY47" fmla="*/ 570442 h 1238250"/>
                  <a:gd name="connsiteX48" fmla="*/ 812801 w 1367015"/>
                  <a:gd name="connsiteY48" fmla="*/ 542925 h 1238250"/>
                  <a:gd name="connsiteX49" fmla="*/ 812801 w 1367015"/>
                  <a:gd name="connsiteY49" fmla="*/ 539397 h 1238250"/>
                  <a:gd name="connsiteX50" fmla="*/ 768062 w 1367015"/>
                  <a:gd name="connsiteY50" fmla="*/ 492831 h 1238250"/>
                  <a:gd name="connsiteX51" fmla="*/ 760846 w 1367015"/>
                  <a:gd name="connsiteY51" fmla="*/ 492125 h 1238250"/>
                  <a:gd name="connsiteX52" fmla="*/ 891455 w 1367015"/>
                  <a:gd name="connsiteY52" fmla="*/ 415925 h 1238250"/>
                  <a:gd name="connsiteX53" fmla="*/ 915035 w 1367015"/>
                  <a:gd name="connsiteY53" fmla="*/ 434485 h 1238250"/>
                  <a:gd name="connsiteX54" fmla="*/ 920751 w 1367015"/>
                  <a:gd name="connsiteY54" fmla="*/ 439482 h 1238250"/>
                  <a:gd name="connsiteX55" fmla="*/ 877164 w 1367015"/>
                  <a:gd name="connsiteY55" fmla="*/ 474460 h 1238250"/>
                  <a:gd name="connsiteX56" fmla="*/ 850012 w 1367015"/>
                  <a:gd name="connsiteY56" fmla="*/ 496589 h 1238250"/>
                  <a:gd name="connsiteX57" fmla="*/ 838579 w 1367015"/>
                  <a:gd name="connsiteY57" fmla="*/ 505155 h 1238250"/>
                  <a:gd name="connsiteX58" fmla="*/ 844296 w 1367015"/>
                  <a:gd name="connsiteY58" fmla="*/ 519432 h 1238250"/>
                  <a:gd name="connsiteX59" fmla="*/ 847154 w 1367015"/>
                  <a:gd name="connsiteY59" fmla="*/ 542989 h 1238250"/>
                  <a:gd name="connsiteX60" fmla="*/ 845725 w 1367015"/>
                  <a:gd name="connsiteY60" fmla="*/ 561549 h 1238250"/>
                  <a:gd name="connsiteX61" fmla="*/ 824289 w 1367015"/>
                  <a:gd name="connsiteY61" fmla="*/ 601524 h 1238250"/>
                  <a:gd name="connsiteX62" fmla="*/ 761409 w 1367015"/>
                  <a:gd name="connsiteY62" fmla="*/ 628650 h 1238250"/>
                  <a:gd name="connsiteX63" fmla="*/ 676379 w 1367015"/>
                  <a:gd name="connsiteY63" fmla="*/ 542989 h 1238250"/>
                  <a:gd name="connsiteX64" fmla="*/ 678523 w 1367015"/>
                  <a:gd name="connsiteY64" fmla="*/ 523715 h 1238250"/>
                  <a:gd name="connsiteX65" fmla="*/ 582775 w 1367015"/>
                  <a:gd name="connsiteY65" fmla="*/ 477316 h 1238250"/>
                  <a:gd name="connsiteX66" fmla="*/ 569913 w 1367015"/>
                  <a:gd name="connsiteY66" fmla="*/ 470891 h 1238250"/>
                  <a:gd name="connsiteX67" fmla="*/ 594208 w 1367015"/>
                  <a:gd name="connsiteY67" fmla="*/ 441623 h 1238250"/>
                  <a:gd name="connsiteX68" fmla="*/ 694957 w 1367015"/>
                  <a:gd name="connsiteY68" fmla="*/ 490165 h 1238250"/>
                  <a:gd name="connsiteX69" fmla="*/ 715679 w 1367015"/>
                  <a:gd name="connsiteY69" fmla="*/ 470891 h 1238250"/>
                  <a:gd name="connsiteX70" fmla="*/ 761409 w 1367015"/>
                  <a:gd name="connsiteY70" fmla="*/ 457328 h 1238250"/>
                  <a:gd name="connsiteX71" fmla="*/ 789991 w 1367015"/>
                  <a:gd name="connsiteY71" fmla="*/ 462325 h 1238250"/>
                  <a:gd name="connsiteX72" fmla="*/ 815714 w 1367015"/>
                  <a:gd name="connsiteY72" fmla="*/ 476602 h 1238250"/>
                  <a:gd name="connsiteX73" fmla="*/ 831434 w 1367015"/>
                  <a:gd name="connsiteY73" fmla="*/ 464466 h 1238250"/>
                  <a:gd name="connsiteX74" fmla="*/ 891455 w 1367015"/>
                  <a:gd name="connsiteY74" fmla="*/ 415925 h 1238250"/>
                  <a:gd name="connsiteX75" fmla="*/ 772661 w 1367015"/>
                  <a:gd name="connsiteY75" fmla="*/ 346605 h 1238250"/>
                  <a:gd name="connsiteX76" fmla="*/ 628158 w 1367015"/>
                  <a:gd name="connsiteY76" fmla="*/ 379415 h 1238250"/>
                  <a:gd name="connsiteX77" fmla="*/ 571784 w 1367015"/>
                  <a:gd name="connsiteY77" fmla="*/ 420783 h 1238250"/>
                  <a:gd name="connsiteX78" fmla="*/ 546809 w 1367015"/>
                  <a:gd name="connsiteY78" fmla="*/ 449314 h 1238250"/>
                  <a:gd name="connsiteX79" fmla="*/ 524687 w 1367015"/>
                  <a:gd name="connsiteY79" fmla="*/ 482123 h 1238250"/>
                  <a:gd name="connsiteX80" fmla="*/ 564648 w 1367015"/>
                  <a:gd name="connsiteY80" fmla="*/ 800235 h 1238250"/>
                  <a:gd name="connsiteX81" fmla="*/ 678110 w 1367015"/>
                  <a:gd name="connsiteY81" fmla="*/ 869420 h 1238250"/>
                  <a:gd name="connsiteX82" fmla="*/ 837955 w 1367015"/>
                  <a:gd name="connsiteY82" fmla="*/ 869420 h 1238250"/>
                  <a:gd name="connsiteX83" fmla="*/ 921445 w 1367015"/>
                  <a:gd name="connsiteY83" fmla="*/ 826625 h 1238250"/>
                  <a:gd name="connsiteX84" fmla="*/ 944280 w 1367015"/>
                  <a:gd name="connsiteY84" fmla="*/ 807367 h 1238250"/>
                  <a:gd name="connsiteX85" fmla="*/ 967115 w 1367015"/>
                  <a:gd name="connsiteY85" fmla="*/ 783117 h 1238250"/>
                  <a:gd name="connsiteX86" fmla="*/ 959979 w 1367015"/>
                  <a:gd name="connsiteY86" fmla="*/ 437902 h 1238250"/>
                  <a:gd name="connsiteX87" fmla="*/ 951416 w 1367015"/>
                  <a:gd name="connsiteY87" fmla="*/ 427916 h 1238250"/>
                  <a:gd name="connsiteX88" fmla="*/ 937858 w 1367015"/>
                  <a:gd name="connsiteY88" fmla="*/ 415791 h 1238250"/>
                  <a:gd name="connsiteX89" fmla="*/ 912882 w 1367015"/>
                  <a:gd name="connsiteY89" fmla="*/ 395106 h 1238250"/>
                  <a:gd name="connsiteX90" fmla="*/ 772661 w 1367015"/>
                  <a:gd name="connsiteY90" fmla="*/ 346605 h 1238250"/>
                  <a:gd name="connsiteX91" fmla="*/ 785477 w 1367015"/>
                  <a:gd name="connsiteY91" fmla="*/ 308032 h 1238250"/>
                  <a:gd name="connsiteX92" fmla="*/ 945296 w 1367015"/>
                  <a:gd name="connsiteY92" fmla="*/ 370115 h 1238250"/>
                  <a:gd name="connsiteX93" fmla="*/ 969609 w 1367015"/>
                  <a:gd name="connsiteY93" fmla="*/ 390809 h 1238250"/>
                  <a:gd name="connsiteX94" fmla="*/ 980335 w 1367015"/>
                  <a:gd name="connsiteY94" fmla="*/ 400799 h 1238250"/>
                  <a:gd name="connsiteX95" fmla="*/ 991061 w 1367015"/>
                  <a:gd name="connsiteY95" fmla="*/ 413644 h 1238250"/>
                  <a:gd name="connsiteX96" fmla="*/ 1008223 w 1367015"/>
                  <a:gd name="connsiteY96" fmla="*/ 791852 h 1238250"/>
                  <a:gd name="connsiteX97" fmla="*/ 1080445 w 1367015"/>
                  <a:gd name="connsiteY97" fmla="*/ 866780 h 1238250"/>
                  <a:gd name="connsiteX98" fmla="*/ 1081875 w 1367015"/>
                  <a:gd name="connsiteY98" fmla="*/ 868921 h 1238250"/>
                  <a:gd name="connsiteX99" fmla="*/ 1081875 w 1367015"/>
                  <a:gd name="connsiteY99" fmla="*/ 876770 h 1238250"/>
                  <a:gd name="connsiteX100" fmla="*/ 1056848 w 1367015"/>
                  <a:gd name="connsiteY100" fmla="*/ 900319 h 1238250"/>
                  <a:gd name="connsiteX101" fmla="*/ 1055418 w 1367015"/>
                  <a:gd name="connsiteY101" fmla="*/ 901746 h 1238250"/>
                  <a:gd name="connsiteX102" fmla="*/ 1023954 w 1367015"/>
                  <a:gd name="connsiteY102" fmla="*/ 931717 h 1238250"/>
                  <a:gd name="connsiteX103" fmla="*/ 1014658 w 1367015"/>
                  <a:gd name="connsiteY103" fmla="*/ 940994 h 1238250"/>
                  <a:gd name="connsiteX104" fmla="*/ 1003217 w 1367015"/>
                  <a:gd name="connsiteY104" fmla="*/ 940994 h 1238250"/>
                  <a:gd name="connsiteX105" fmla="*/ 993921 w 1367015"/>
                  <a:gd name="connsiteY105" fmla="*/ 931717 h 1238250"/>
                  <a:gd name="connsiteX106" fmla="*/ 963888 w 1367015"/>
                  <a:gd name="connsiteY106" fmla="*/ 900319 h 1238250"/>
                  <a:gd name="connsiteX107" fmla="*/ 933140 w 1367015"/>
                  <a:gd name="connsiteY107" fmla="*/ 868921 h 1238250"/>
                  <a:gd name="connsiteX108" fmla="*/ 930995 w 1367015"/>
                  <a:gd name="connsiteY108" fmla="*/ 866780 h 1238250"/>
                  <a:gd name="connsiteX109" fmla="*/ 926704 w 1367015"/>
                  <a:gd name="connsiteY109" fmla="*/ 868921 h 1238250"/>
                  <a:gd name="connsiteX110" fmla="*/ 864493 w 1367015"/>
                  <a:gd name="connsiteY110" fmla="*/ 900319 h 1238250"/>
                  <a:gd name="connsiteX111" fmla="*/ 651400 w 1367015"/>
                  <a:gd name="connsiteY111" fmla="*/ 900319 h 1238250"/>
                  <a:gd name="connsiteX112" fmla="*/ 589189 w 1367015"/>
                  <a:gd name="connsiteY112" fmla="*/ 868921 h 1238250"/>
                  <a:gd name="connsiteX113" fmla="*/ 536988 w 1367015"/>
                  <a:gd name="connsiteY113" fmla="*/ 826105 h 1238250"/>
                  <a:gd name="connsiteX114" fmla="*/ 457615 w 1367015"/>
                  <a:gd name="connsiteY114" fmla="*/ 554937 h 1238250"/>
                  <a:gd name="connsiteX115" fmla="*/ 481213 w 1367015"/>
                  <a:gd name="connsiteY115" fmla="*/ 482863 h 1238250"/>
                  <a:gd name="connsiteX116" fmla="*/ 530553 w 1367015"/>
                  <a:gd name="connsiteY116" fmla="*/ 408649 h 1238250"/>
                  <a:gd name="connsiteX117" fmla="*/ 545569 w 1367015"/>
                  <a:gd name="connsiteY117" fmla="*/ 392236 h 1238250"/>
                  <a:gd name="connsiteX118" fmla="*/ 592049 w 1367015"/>
                  <a:gd name="connsiteY118" fmla="*/ 355843 h 1238250"/>
                  <a:gd name="connsiteX119" fmla="*/ 619222 w 1367015"/>
                  <a:gd name="connsiteY119" fmla="*/ 340143 h 1238250"/>
                  <a:gd name="connsiteX120" fmla="*/ 785477 w 1367015"/>
                  <a:gd name="connsiteY120" fmla="*/ 308032 h 1238250"/>
                  <a:gd name="connsiteX121" fmla="*/ 555676 w 1367015"/>
                  <a:gd name="connsiteY121" fmla="*/ 304800 h 1238250"/>
                  <a:gd name="connsiteX122" fmla="*/ 595313 w 1367015"/>
                  <a:gd name="connsiteY122" fmla="*/ 316982 h 1238250"/>
                  <a:gd name="connsiteX123" fmla="*/ 563462 w 1367015"/>
                  <a:gd name="connsiteY123" fmla="*/ 337046 h 1238250"/>
                  <a:gd name="connsiteX124" fmla="*/ 555676 w 1367015"/>
                  <a:gd name="connsiteY124" fmla="*/ 336330 h 1238250"/>
                  <a:gd name="connsiteX125" fmla="*/ 515331 w 1367015"/>
                  <a:gd name="connsiteY125" fmla="*/ 377175 h 1238250"/>
                  <a:gd name="connsiteX126" fmla="*/ 515331 w 1367015"/>
                  <a:gd name="connsiteY126" fmla="*/ 379325 h 1238250"/>
                  <a:gd name="connsiteX127" fmla="*/ 490558 w 1367015"/>
                  <a:gd name="connsiteY127" fmla="*/ 407988 h 1238250"/>
                  <a:gd name="connsiteX128" fmla="*/ 484188 w 1367015"/>
                  <a:gd name="connsiteY128" fmla="*/ 377175 h 1238250"/>
                  <a:gd name="connsiteX129" fmla="*/ 555676 w 1367015"/>
                  <a:gd name="connsiteY129" fmla="*/ 304800 h 1238250"/>
                  <a:gd name="connsiteX130" fmla="*/ 1089384 w 1367015"/>
                  <a:gd name="connsiteY130" fmla="*/ 233362 h 1238250"/>
                  <a:gd name="connsiteX131" fmla="*/ 1047750 w 1367015"/>
                  <a:gd name="connsiteY131" fmla="*/ 274996 h 1238250"/>
                  <a:gd name="connsiteX132" fmla="*/ 1049186 w 1367015"/>
                  <a:gd name="connsiteY132" fmla="*/ 286481 h 1238250"/>
                  <a:gd name="connsiteX133" fmla="*/ 1069285 w 1367015"/>
                  <a:gd name="connsiteY133" fmla="*/ 310887 h 1238250"/>
                  <a:gd name="connsiteX134" fmla="*/ 1089384 w 1367015"/>
                  <a:gd name="connsiteY134" fmla="*/ 315912 h 1238250"/>
                  <a:gd name="connsiteX135" fmla="*/ 1130300 w 1367015"/>
                  <a:gd name="connsiteY135" fmla="*/ 274996 h 1238250"/>
                  <a:gd name="connsiteX136" fmla="*/ 1128865 w 1367015"/>
                  <a:gd name="connsiteY136" fmla="*/ 264229 h 1238250"/>
                  <a:gd name="connsiteX137" fmla="*/ 1109483 w 1367015"/>
                  <a:gd name="connsiteY137" fmla="*/ 239105 h 1238250"/>
                  <a:gd name="connsiteX138" fmla="*/ 1089384 w 1367015"/>
                  <a:gd name="connsiteY138" fmla="*/ 233362 h 1238250"/>
                  <a:gd name="connsiteX139" fmla="*/ 15705 w 1367015"/>
                  <a:gd name="connsiteY139" fmla="*/ 0 h 1238250"/>
                  <a:gd name="connsiteX140" fmla="*/ 1289220 w 1367015"/>
                  <a:gd name="connsiteY140" fmla="*/ 0 h 1238250"/>
                  <a:gd name="connsiteX141" fmla="*/ 1304925 w 1367015"/>
                  <a:gd name="connsiteY141" fmla="*/ 15698 h 1238250"/>
                  <a:gd name="connsiteX142" fmla="*/ 1304925 w 1367015"/>
                  <a:gd name="connsiteY142" fmla="*/ 916166 h 1238250"/>
                  <a:gd name="connsiteX143" fmla="*/ 1289220 w 1367015"/>
                  <a:gd name="connsiteY143" fmla="*/ 931863 h 1238250"/>
                  <a:gd name="connsiteX144" fmla="*/ 1219977 w 1367015"/>
                  <a:gd name="connsiteY144" fmla="*/ 931863 h 1238250"/>
                  <a:gd name="connsiteX145" fmla="*/ 1189995 w 1367015"/>
                  <a:gd name="connsiteY145" fmla="*/ 900468 h 1238250"/>
                  <a:gd name="connsiteX146" fmla="*/ 1273516 w 1367015"/>
                  <a:gd name="connsiteY146" fmla="*/ 900468 h 1238250"/>
                  <a:gd name="connsiteX147" fmla="*/ 1273516 w 1367015"/>
                  <a:gd name="connsiteY147" fmla="*/ 151267 h 1238250"/>
                  <a:gd name="connsiteX148" fmla="*/ 1242106 w 1367015"/>
                  <a:gd name="connsiteY148" fmla="*/ 175527 h 1238250"/>
                  <a:gd name="connsiteX149" fmla="*/ 1154302 w 1367015"/>
                  <a:gd name="connsiteY149" fmla="*/ 243312 h 1238250"/>
                  <a:gd name="connsiteX150" fmla="*/ 1161441 w 1367015"/>
                  <a:gd name="connsiteY150" fmla="*/ 274707 h 1238250"/>
                  <a:gd name="connsiteX151" fmla="*/ 1089341 w 1367015"/>
                  <a:gd name="connsiteY151" fmla="*/ 346773 h 1238250"/>
                  <a:gd name="connsiteX152" fmla="*/ 1043655 w 1367015"/>
                  <a:gd name="connsiteY152" fmla="*/ 331076 h 1238250"/>
                  <a:gd name="connsiteX153" fmla="*/ 993685 w 1367015"/>
                  <a:gd name="connsiteY153" fmla="*/ 371033 h 1238250"/>
                  <a:gd name="connsiteX154" fmla="*/ 969414 w 1367015"/>
                  <a:gd name="connsiteY154" fmla="*/ 349627 h 1238250"/>
                  <a:gd name="connsiteX155" fmla="*/ 1024381 w 1367015"/>
                  <a:gd name="connsiteY155" fmla="*/ 306102 h 1238250"/>
                  <a:gd name="connsiteX156" fmla="*/ 1016528 w 1367015"/>
                  <a:gd name="connsiteY156" fmla="*/ 274707 h 1238250"/>
                  <a:gd name="connsiteX157" fmla="*/ 1089341 w 1367015"/>
                  <a:gd name="connsiteY157" fmla="*/ 201928 h 1238250"/>
                  <a:gd name="connsiteX158" fmla="*/ 1135028 w 1367015"/>
                  <a:gd name="connsiteY158" fmla="*/ 219052 h 1238250"/>
                  <a:gd name="connsiteX159" fmla="*/ 1242106 w 1367015"/>
                  <a:gd name="connsiteY159" fmla="*/ 136283 h 1238250"/>
                  <a:gd name="connsiteX160" fmla="*/ 1269946 w 1367015"/>
                  <a:gd name="connsiteY160" fmla="*/ 114878 h 1238250"/>
                  <a:gd name="connsiteX161" fmla="*/ 1273516 w 1367015"/>
                  <a:gd name="connsiteY161" fmla="*/ 112737 h 1238250"/>
                  <a:gd name="connsiteX162" fmla="*/ 1273516 w 1367015"/>
                  <a:gd name="connsiteY162" fmla="*/ 31395 h 1238250"/>
                  <a:gd name="connsiteX163" fmla="*/ 31410 w 1367015"/>
                  <a:gd name="connsiteY163" fmla="*/ 31395 h 1238250"/>
                  <a:gd name="connsiteX164" fmla="*/ 31410 w 1367015"/>
                  <a:gd name="connsiteY164" fmla="*/ 741352 h 1238250"/>
                  <a:gd name="connsiteX165" fmla="*/ 62819 w 1367015"/>
                  <a:gd name="connsiteY165" fmla="*/ 726368 h 1238250"/>
                  <a:gd name="connsiteX166" fmla="*/ 276976 w 1367015"/>
                  <a:gd name="connsiteY166" fmla="*/ 623621 h 1238250"/>
                  <a:gd name="connsiteX167" fmla="*/ 274834 w 1367015"/>
                  <a:gd name="connsiteY167" fmla="*/ 607210 h 1238250"/>
                  <a:gd name="connsiteX168" fmla="*/ 346933 w 1367015"/>
                  <a:gd name="connsiteY168" fmla="*/ 534430 h 1238250"/>
                  <a:gd name="connsiteX169" fmla="*/ 383340 w 1367015"/>
                  <a:gd name="connsiteY169" fmla="*/ 543706 h 1238250"/>
                  <a:gd name="connsiteX170" fmla="*/ 454725 w 1367015"/>
                  <a:gd name="connsiteY170" fmla="*/ 465218 h 1238250"/>
                  <a:gd name="connsiteX171" fmla="*/ 429026 w 1367015"/>
                  <a:gd name="connsiteY171" fmla="*/ 540138 h 1238250"/>
                  <a:gd name="connsiteX172" fmla="*/ 406183 w 1367015"/>
                  <a:gd name="connsiteY172" fmla="*/ 565112 h 1238250"/>
                  <a:gd name="connsiteX173" fmla="*/ 419746 w 1367015"/>
                  <a:gd name="connsiteY173" fmla="*/ 607210 h 1238250"/>
                  <a:gd name="connsiteX174" fmla="*/ 346933 w 1367015"/>
                  <a:gd name="connsiteY174" fmla="*/ 679275 h 1238250"/>
                  <a:gd name="connsiteX175" fmla="*/ 290539 w 1367015"/>
                  <a:gd name="connsiteY175" fmla="*/ 651448 h 1238250"/>
                  <a:gd name="connsiteX176" fmla="*/ 62819 w 1367015"/>
                  <a:gd name="connsiteY176" fmla="*/ 761331 h 1238250"/>
                  <a:gd name="connsiteX177" fmla="*/ 31410 w 1367015"/>
                  <a:gd name="connsiteY177" fmla="*/ 776315 h 1238250"/>
                  <a:gd name="connsiteX178" fmla="*/ 31410 w 1367015"/>
                  <a:gd name="connsiteY178" fmla="*/ 900468 h 1238250"/>
                  <a:gd name="connsiteX179" fmla="*/ 579650 w 1367015"/>
                  <a:gd name="connsiteY179" fmla="*/ 900468 h 1238250"/>
                  <a:gd name="connsiteX180" fmla="*/ 645324 w 1367015"/>
                  <a:gd name="connsiteY180" fmla="*/ 931863 h 1238250"/>
                  <a:gd name="connsiteX181" fmla="*/ 15705 w 1367015"/>
                  <a:gd name="connsiteY181" fmla="*/ 931863 h 1238250"/>
                  <a:gd name="connsiteX182" fmla="*/ 0 w 1367015"/>
                  <a:gd name="connsiteY182" fmla="*/ 916166 h 1238250"/>
                  <a:gd name="connsiteX183" fmla="*/ 0 w 1367015"/>
                  <a:gd name="connsiteY183" fmla="*/ 15698 h 1238250"/>
                  <a:gd name="connsiteX184" fmla="*/ 15705 w 1367015"/>
                  <a:gd name="connsiteY184" fmla="*/ 0 h 1238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1367015" h="1238250">
                    <a:moveTo>
                      <a:pt x="1124567" y="922337"/>
                    </a:moveTo>
                    <a:cubicBezTo>
                      <a:pt x="1124567" y="922337"/>
                      <a:pt x="1124567" y="922337"/>
                      <a:pt x="1113855" y="931647"/>
                    </a:cubicBezTo>
                    <a:cubicBezTo>
                      <a:pt x="1113855" y="931647"/>
                      <a:pt x="1113855" y="931647"/>
                      <a:pt x="1058863" y="985360"/>
                    </a:cubicBezTo>
                    <a:cubicBezTo>
                      <a:pt x="1269544" y="1205939"/>
                      <a:pt x="1269544" y="1205939"/>
                      <a:pt x="1269544" y="1205939"/>
                    </a:cubicBezTo>
                    <a:cubicBezTo>
                      <a:pt x="1270258" y="1206655"/>
                      <a:pt x="1274543" y="1208087"/>
                      <a:pt x="1282399" y="1205939"/>
                    </a:cubicBezTo>
                    <a:cubicBezTo>
                      <a:pt x="1292398" y="1203074"/>
                      <a:pt x="1303110" y="1195912"/>
                      <a:pt x="1313109" y="1185886"/>
                    </a:cubicBezTo>
                    <a:cubicBezTo>
                      <a:pt x="1323107" y="1176576"/>
                      <a:pt x="1330963" y="1165833"/>
                      <a:pt x="1333820" y="1155807"/>
                    </a:cubicBezTo>
                    <a:cubicBezTo>
                      <a:pt x="1336676" y="1147929"/>
                      <a:pt x="1335962" y="1143632"/>
                      <a:pt x="1335248" y="1142916"/>
                    </a:cubicBezTo>
                    <a:cubicBezTo>
                      <a:pt x="1198841" y="1000399"/>
                      <a:pt x="1150277" y="949551"/>
                      <a:pt x="1133851" y="931647"/>
                    </a:cubicBezTo>
                    <a:cubicBezTo>
                      <a:pt x="1124567" y="922337"/>
                      <a:pt x="1124567" y="922337"/>
                      <a:pt x="1124567" y="922337"/>
                    </a:cubicBezTo>
                    <a:close/>
                    <a:moveTo>
                      <a:pt x="925229" y="906462"/>
                    </a:moveTo>
                    <a:cubicBezTo>
                      <a:pt x="925229" y="906462"/>
                      <a:pt x="925229" y="906462"/>
                      <a:pt x="949325" y="931862"/>
                    </a:cubicBezTo>
                    <a:cubicBezTo>
                      <a:pt x="949325" y="931862"/>
                      <a:pt x="949325" y="931862"/>
                      <a:pt x="869950" y="931862"/>
                    </a:cubicBezTo>
                    <a:cubicBezTo>
                      <a:pt x="889085" y="925331"/>
                      <a:pt x="907512" y="916622"/>
                      <a:pt x="925229" y="906462"/>
                    </a:cubicBezTo>
                    <a:close/>
                    <a:moveTo>
                      <a:pt x="1124927" y="884237"/>
                    </a:moveTo>
                    <a:cubicBezTo>
                      <a:pt x="1129214" y="884952"/>
                      <a:pt x="1132787" y="886383"/>
                      <a:pt x="1135645" y="889243"/>
                    </a:cubicBezTo>
                    <a:cubicBezTo>
                      <a:pt x="1139218" y="893534"/>
                      <a:pt x="1142790" y="897110"/>
                      <a:pt x="1146363" y="900686"/>
                    </a:cubicBezTo>
                    <a:cubicBezTo>
                      <a:pt x="1157081" y="912129"/>
                      <a:pt x="1167085" y="922857"/>
                      <a:pt x="1176374" y="932154"/>
                    </a:cubicBezTo>
                    <a:cubicBezTo>
                      <a:pt x="1357152" y="1121676"/>
                      <a:pt x="1357152" y="1121676"/>
                      <a:pt x="1357152" y="1121676"/>
                    </a:cubicBezTo>
                    <a:cubicBezTo>
                      <a:pt x="1367155" y="1131689"/>
                      <a:pt x="1370013" y="1148138"/>
                      <a:pt x="1363582" y="1166017"/>
                    </a:cubicBezTo>
                    <a:cubicBezTo>
                      <a:pt x="1358581" y="1181036"/>
                      <a:pt x="1348577" y="1196055"/>
                      <a:pt x="1335001" y="1208928"/>
                    </a:cubicBezTo>
                    <a:cubicBezTo>
                      <a:pt x="1321425" y="1221801"/>
                      <a:pt x="1305705" y="1231814"/>
                      <a:pt x="1290700" y="1236105"/>
                    </a:cubicBezTo>
                    <a:cubicBezTo>
                      <a:pt x="1284983" y="1237535"/>
                      <a:pt x="1279267" y="1238250"/>
                      <a:pt x="1273551" y="1238250"/>
                    </a:cubicBezTo>
                    <a:cubicBezTo>
                      <a:pt x="1262833" y="1238250"/>
                      <a:pt x="1252829" y="1234674"/>
                      <a:pt x="1246398" y="1227522"/>
                    </a:cubicBezTo>
                    <a:cubicBezTo>
                      <a:pt x="1024892" y="996520"/>
                      <a:pt x="1024892" y="996520"/>
                      <a:pt x="1024892" y="996520"/>
                    </a:cubicBezTo>
                    <a:cubicBezTo>
                      <a:pt x="1019175" y="990083"/>
                      <a:pt x="1019175" y="980071"/>
                      <a:pt x="1025606" y="974350"/>
                    </a:cubicBezTo>
                    <a:cubicBezTo>
                      <a:pt x="1042755" y="957185"/>
                      <a:pt x="1057046" y="943597"/>
                      <a:pt x="1068478" y="932154"/>
                    </a:cubicBezTo>
                    <a:cubicBezTo>
                      <a:pt x="1071336" y="930009"/>
                      <a:pt x="1073480" y="927148"/>
                      <a:pt x="1076338" y="925002"/>
                    </a:cubicBezTo>
                    <a:cubicBezTo>
                      <a:pt x="1087771" y="914275"/>
                      <a:pt x="1095631" y="906408"/>
                      <a:pt x="1100633" y="900686"/>
                    </a:cubicBezTo>
                    <a:cubicBezTo>
                      <a:pt x="1102062" y="899971"/>
                      <a:pt x="1103491" y="898541"/>
                      <a:pt x="1104205" y="897826"/>
                    </a:cubicBezTo>
                    <a:cubicBezTo>
                      <a:pt x="1113494" y="889243"/>
                      <a:pt x="1113494" y="889243"/>
                      <a:pt x="1113494" y="889243"/>
                    </a:cubicBezTo>
                    <a:cubicBezTo>
                      <a:pt x="1116352" y="886383"/>
                      <a:pt x="1120640" y="884237"/>
                      <a:pt x="1124927" y="884237"/>
                    </a:cubicBezTo>
                    <a:close/>
                    <a:moveTo>
                      <a:pt x="346518" y="565150"/>
                    </a:moveTo>
                    <a:cubicBezTo>
                      <a:pt x="324693" y="565150"/>
                      <a:pt x="306388" y="583814"/>
                      <a:pt x="306388" y="606784"/>
                    </a:cubicBezTo>
                    <a:cubicBezTo>
                      <a:pt x="306388" y="607502"/>
                      <a:pt x="306388" y="608220"/>
                      <a:pt x="306388" y="608938"/>
                    </a:cubicBezTo>
                    <a:cubicBezTo>
                      <a:pt x="307092" y="619705"/>
                      <a:pt x="312020" y="630472"/>
                      <a:pt x="319765" y="636933"/>
                    </a:cubicBezTo>
                    <a:cubicBezTo>
                      <a:pt x="326805" y="643393"/>
                      <a:pt x="336661" y="647700"/>
                      <a:pt x="346518" y="647700"/>
                    </a:cubicBezTo>
                    <a:cubicBezTo>
                      <a:pt x="369047" y="647700"/>
                      <a:pt x="387351" y="629037"/>
                      <a:pt x="387351" y="606784"/>
                    </a:cubicBezTo>
                    <a:cubicBezTo>
                      <a:pt x="387351" y="600324"/>
                      <a:pt x="385943" y="594581"/>
                      <a:pt x="383127" y="588838"/>
                    </a:cubicBezTo>
                    <a:cubicBezTo>
                      <a:pt x="378903" y="578789"/>
                      <a:pt x="370455" y="571611"/>
                      <a:pt x="360598" y="568021"/>
                    </a:cubicBezTo>
                    <a:cubicBezTo>
                      <a:pt x="356374" y="565868"/>
                      <a:pt x="351446" y="565150"/>
                      <a:pt x="346518" y="565150"/>
                    </a:cubicBezTo>
                    <a:close/>
                    <a:moveTo>
                      <a:pt x="760846" y="492125"/>
                    </a:moveTo>
                    <a:cubicBezTo>
                      <a:pt x="752187" y="492125"/>
                      <a:pt x="743528" y="494947"/>
                      <a:pt x="735591" y="499181"/>
                    </a:cubicBezTo>
                    <a:cubicBezTo>
                      <a:pt x="722602" y="506236"/>
                      <a:pt x="713221" y="519642"/>
                      <a:pt x="710335" y="535164"/>
                    </a:cubicBezTo>
                    <a:cubicBezTo>
                      <a:pt x="710335" y="537986"/>
                      <a:pt x="709613" y="540103"/>
                      <a:pt x="709613" y="542925"/>
                    </a:cubicBezTo>
                    <a:cubicBezTo>
                      <a:pt x="709613" y="571147"/>
                      <a:pt x="732704" y="593725"/>
                      <a:pt x="760846" y="593725"/>
                    </a:cubicBezTo>
                    <a:cubicBezTo>
                      <a:pt x="763011" y="593725"/>
                      <a:pt x="765176" y="593725"/>
                      <a:pt x="767341" y="593725"/>
                    </a:cubicBezTo>
                    <a:cubicBezTo>
                      <a:pt x="783216" y="591608"/>
                      <a:pt x="796926" y="583142"/>
                      <a:pt x="804864" y="570442"/>
                    </a:cubicBezTo>
                    <a:cubicBezTo>
                      <a:pt x="809915" y="562681"/>
                      <a:pt x="812801" y="553508"/>
                      <a:pt x="812801" y="542925"/>
                    </a:cubicBezTo>
                    <a:cubicBezTo>
                      <a:pt x="812801" y="542220"/>
                      <a:pt x="812801" y="540808"/>
                      <a:pt x="812801" y="539397"/>
                    </a:cubicBezTo>
                    <a:cubicBezTo>
                      <a:pt x="811358" y="515408"/>
                      <a:pt x="792597" y="495653"/>
                      <a:pt x="768062" y="492831"/>
                    </a:cubicBezTo>
                    <a:cubicBezTo>
                      <a:pt x="765898" y="492831"/>
                      <a:pt x="763733" y="492125"/>
                      <a:pt x="760846" y="492125"/>
                    </a:cubicBezTo>
                    <a:close/>
                    <a:moveTo>
                      <a:pt x="891455" y="415925"/>
                    </a:moveTo>
                    <a:cubicBezTo>
                      <a:pt x="899315" y="421636"/>
                      <a:pt x="907175" y="428060"/>
                      <a:pt x="915035" y="434485"/>
                    </a:cubicBezTo>
                    <a:cubicBezTo>
                      <a:pt x="917179" y="435913"/>
                      <a:pt x="918608" y="438054"/>
                      <a:pt x="920751" y="439482"/>
                    </a:cubicBezTo>
                    <a:cubicBezTo>
                      <a:pt x="920751" y="439482"/>
                      <a:pt x="920751" y="439482"/>
                      <a:pt x="877164" y="474460"/>
                    </a:cubicBezTo>
                    <a:cubicBezTo>
                      <a:pt x="869305" y="480885"/>
                      <a:pt x="860730" y="488023"/>
                      <a:pt x="850012" y="496589"/>
                    </a:cubicBezTo>
                    <a:cubicBezTo>
                      <a:pt x="846439" y="499445"/>
                      <a:pt x="842867" y="502300"/>
                      <a:pt x="838579" y="505155"/>
                    </a:cubicBezTo>
                    <a:cubicBezTo>
                      <a:pt x="840723" y="510152"/>
                      <a:pt x="842867" y="514435"/>
                      <a:pt x="844296" y="519432"/>
                    </a:cubicBezTo>
                    <a:cubicBezTo>
                      <a:pt x="846439" y="527285"/>
                      <a:pt x="847154" y="535137"/>
                      <a:pt x="847154" y="542989"/>
                    </a:cubicBezTo>
                    <a:cubicBezTo>
                      <a:pt x="847154" y="549414"/>
                      <a:pt x="846439" y="555124"/>
                      <a:pt x="845725" y="561549"/>
                    </a:cubicBezTo>
                    <a:cubicBezTo>
                      <a:pt x="842152" y="576540"/>
                      <a:pt x="835007" y="590103"/>
                      <a:pt x="824289" y="601524"/>
                    </a:cubicBezTo>
                    <a:cubicBezTo>
                      <a:pt x="809283" y="617942"/>
                      <a:pt x="786418" y="628650"/>
                      <a:pt x="761409" y="628650"/>
                    </a:cubicBezTo>
                    <a:cubicBezTo>
                      <a:pt x="714250" y="628650"/>
                      <a:pt x="676379" y="590103"/>
                      <a:pt x="676379" y="542989"/>
                    </a:cubicBezTo>
                    <a:cubicBezTo>
                      <a:pt x="676379" y="536564"/>
                      <a:pt x="677094" y="529426"/>
                      <a:pt x="678523" y="523715"/>
                    </a:cubicBezTo>
                    <a:cubicBezTo>
                      <a:pt x="678523" y="523715"/>
                      <a:pt x="678523" y="523715"/>
                      <a:pt x="582775" y="477316"/>
                    </a:cubicBezTo>
                    <a:cubicBezTo>
                      <a:pt x="578488" y="475174"/>
                      <a:pt x="574200" y="473033"/>
                      <a:pt x="569913" y="470891"/>
                    </a:cubicBezTo>
                    <a:cubicBezTo>
                      <a:pt x="577059" y="460183"/>
                      <a:pt x="585633" y="450903"/>
                      <a:pt x="594208" y="441623"/>
                    </a:cubicBezTo>
                    <a:cubicBezTo>
                      <a:pt x="594208" y="441623"/>
                      <a:pt x="594208" y="441623"/>
                      <a:pt x="694957" y="490165"/>
                    </a:cubicBezTo>
                    <a:cubicBezTo>
                      <a:pt x="700674" y="483026"/>
                      <a:pt x="707819" y="476602"/>
                      <a:pt x="715679" y="470891"/>
                    </a:cubicBezTo>
                    <a:cubicBezTo>
                      <a:pt x="728541" y="462325"/>
                      <a:pt x="744975" y="457328"/>
                      <a:pt x="761409" y="457328"/>
                    </a:cubicBezTo>
                    <a:cubicBezTo>
                      <a:pt x="771413" y="457328"/>
                      <a:pt x="781416" y="459470"/>
                      <a:pt x="789991" y="462325"/>
                    </a:cubicBezTo>
                    <a:cubicBezTo>
                      <a:pt x="799280" y="465894"/>
                      <a:pt x="808569" y="470891"/>
                      <a:pt x="815714" y="476602"/>
                    </a:cubicBezTo>
                    <a:cubicBezTo>
                      <a:pt x="815714" y="476602"/>
                      <a:pt x="815714" y="476602"/>
                      <a:pt x="831434" y="464466"/>
                    </a:cubicBezTo>
                    <a:cubicBezTo>
                      <a:pt x="842152" y="455900"/>
                      <a:pt x="860730" y="440910"/>
                      <a:pt x="891455" y="415925"/>
                    </a:cubicBezTo>
                    <a:close/>
                    <a:moveTo>
                      <a:pt x="772661" y="346605"/>
                    </a:moveTo>
                    <a:cubicBezTo>
                      <a:pt x="723066" y="343930"/>
                      <a:pt x="672758" y="354807"/>
                      <a:pt x="628158" y="379415"/>
                    </a:cubicBezTo>
                    <a:cubicBezTo>
                      <a:pt x="608178" y="390827"/>
                      <a:pt x="589624" y="404379"/>
                      <a:pt x="571784" y="420783"/>
                    </a:cubicBezTo>
                    <a:cubicBezTo>
                      <a:pt x="562508" y="430056"/>
                      <a:pt x="554658" y="439328"/>
                      <a:pt x="546809" y="449314"/>
                    </a:cubicBezTo>
                    <a:cubicBezTo>
                      <a:pt x="538245" y="460012"/>
                      <a:pt x="531109" y="470711"/>
                      <a:pt x="524687" y="482123"/>
                    </a:cubicBezTo>
                    <a:cubicBezTo>
                      <a:pt x="468313" y="582692"/>
                      <a:pt x="481158" y="712504"/>
                      <a:pt x="564648" y="800235"/>
                    </a:cubicBezTo>
                    <a:cubicBezTo>
                      <a:pt x="597474" y="833758"/>
                      <a:pt x="636008" y="856582"/>
                      <a:pt x="678110" y="869420"/>
                    </a:cubicBezTo>
                    <a:cubicBezTo>
                      <a:pt x="729488" y="885825"/>
                      <a:pt x="785862" y="885825"/>
                      <a:pt x="837955" y="869420"/>
                    </a:cubicBezTo>
                    <a:cubicBezTo>
                      <a:pt x="867212" y="860861"/>
                      <a:pt x="895756" y="845883"/>
                      <a:pt x="921445" y="826625"/>
                    </a:cubicBezTo>
                    <a:cubicBezTo>
                      <a:pt x="930008" y="820919"/>
                      <a:pt x="937144" y="814500"/>
                      <a:pt x="944280" y="807367"/>
                    </a:cubicBezTo>
                    <a:cubicBezTo>
                      <a:pt x="952130" y="799521"/>
                      <a:pt x="959979" y="791676"/>
                      <a:pt x="967115" y="783117"/>
                    </a:cubicBezTo>
                    <a:cubicBezTo>
                      <a:pt x="1047751" y="682548"/>
                      <a:pt x="1046324" y="537044"/>
                      <a:pt x="959979" y="437902"/>
                    </a:cubicBezTo>
                    <a:cubicBezTo>
                      <a:pt x="957125" y="435048"/>
                      <a:pt x="954270" y="431482"/>
                      <a:pt x="951416" y="427916"/>
                    </a:cubicBezTo>
                    <a:cubicBezTo>
                      <a:pt x="947135" y="423636"/>
                      <a:pt x="942853" y="419357"/>
                      <a:pt x="937858" y="415791"/>
                    </a:cubicBezTo>
                    <a:cubicBezTo>
                      <a:pt x="930008" y="408658"/>
                      <a:pt x="921445" y="401526"/>
                      <a:pt x="912882" y="395106"/>
                    </a:cubicBezTo>
                    <a:cubicBezTo>
                      <a:pt x="871137" y="365506"/>
                      <a:pt x="822256" y="349280"/>
                      <a:pt x="772661" y="346605"/>
                    </a:cubicBezTo>
                    <a:close/>
                    <a:moveTo>
                      <a:pt x="785477" y="308032"/>
                    </a:moveTo>
                    <a:cubicBezTo>
                      <a:pt x="842147" y="313027"/>
                      <a:pt x="897744" y="333721"/>
                      <a:pt x="945296" y="370115"/>
                    </a:cubicBezTo>
                    <a:cubicBezTo>
                      <a:pt x="953162" y="376537"/>
                      <a:pt x="961743" y="382959"/>
                      <a:pt x="969609" y="390809"/>
                    </a:cubicBezTo>
                    <a:cubicBezTo>
                      <a:pt x="973184" y="394377"/>
                      <a:pt x="976759" y="397231"/>
                      <a:pt x="980335" y="400799"/>
                    </a:cubicBezTo>
                    <a:cubicBezTo>
                      <a:pt x="983910" y="405081"/>
                      <a:pt x="987486" y="409363"/>
                      <a:pt x="991061" y="413644"/>
                    </a:cubicBezTo>
                    <a:cubicBezTo>
                      <a:pt x="1084021" y="521398"/>
                      <a:pt x="1089026" y="678390"/>
                      <a:pt x="1008223" y="791852"/>
                    </a:cubicBezTo>
                    <a:cubicBezTo>
                      <a:pt x="1080445" y="866780"/>
                      <a:pt x="1080445" y="866780"/>
                      <a:pt x="1080445" y="866780"/>
                    </a:cubicBezTo>
                    <a:cubicBezTo>
                      <a:pt x="1081160" y="867493"/>
                      <a:pt x="1081160" y="868207"/>
                      <a:pt x="1081875" y="868921"/>
                    </a:cubicBezTo>
                    <a:cubicBezTo>
                      <a:pt x="1083306" y="871775"/>
                      <a:pt x="1083306" y="874629"/>
                      <a:pt x="1081875" y="876770"/>
                    </a:cubicBezTo>
                    <a:cubicBezTo>
                      <a:pt x="1081875" y="876770"/>
                      <a:pt x="1081875" y="876770"/>
                      <a:pt x="1056848" y="900319"/>
                    </a:cubicBezTo>
                    <a:cubicBezTo>
                      <a:pt x="1056848" y="900319"/>
                      <a:pt x="1056848" y="900319"/>
                      <a:pt x="1055418" y="901746"/>
                    </a:cubicBezTo>
                    <a:cubicBezTo>
                      <a:pt x="1039686" y="917445"/>
                      <a:pt x="1029675" y="926722"/>
                      <a:pt x="1023954" y="931717"/>
                    </a:cubicBezTo>
                    <a:cubicBezTo>
                      <a:pt x="1014658" y="940994"/>
                      <a:pt x="1014658" y="940994"/>
                      <a:pt x="1014658" y="940994"/>
                    </a:cubicBezTo>
                    <a:cubicBezTo>
                      <a:pt x="1011798" y="944562"/>
                      <a:pt x="1006078" y="944562"/>
                      <a:pt x="1003217" y="940994"/>
                    </a:cubicBezTo>
                    <a:cubicBezTo>
                      <a:pt x="999642" y="938140"/>
                      <a:pt x="996782" y="934572"/>
                      <a:pt x="993921" y="931717"/>
                    </a:cubicBezTo>
                    <a:cubicBezTo>
                      <a:pt x="981765" y="919586"/>
                      <a:pt x="971754" y="908882"/>
                      <a:pt x="963888" y="900319"/>
                    </a:cubicBezTo>
                    <a:cubicBezTo>
                      <a:pt x="944581" y="881052"/>
                      <a:pt x="936715" y="872489"/>
                      <a:pt x="933140" y="868921"/>
                    </a:cubicBezTo>
                    <a:cubicBezTo>
                      <a:pt x="930995" y="866780"/>
                      <a:pt x="930995" y="866780"/>
                      <a:pt x="930995" y="866780"/>
                    </a:cubicBezTo>
                    <a:cubicBezTo>
                      <a:pt x="929565" y="867493"/>
                      <a:pt x="928134" y="868207"/>
                      <a:pt x="926704" y="868921"/>
                    </a:cubicBezTo>
                    <a:cubicBezTo>
                      <a:pt x="906682" y="882479"/>
                      <a:pt x="885945" y="892469"/>
                      <a:pt x="864493" y="900319"/>
                    </a:cubicBezTo>
                    <a:cubicBezTo>
                      <a:pt x="795846" y="926009"/>
                      <a:pt x="720048" y="926009"/>
                      <a:pt x="651400" y="900319"/>
                    </a:cubicBezTo>
                    <a:cubicBezTo>
                      <a:pt x="629948" y="892469"/>
                      <a:pt x="609211" y="882479"/>
                      <a:pt x="589189" y="868921"/>
                    </a:cubicBezTo>
                    <a:cubicBezTo>
                      <a:pt x="570597" y="856789"/>
                      <a:pt x="553435" y="842517"/>
                      <a:pt x="536988" y="826105"/>
                    </a:cubicBezTo>
                    <a:cubicBezTo>
                      <a:pt x="466196" y="751177"/>
                      <a:pt x="439738" y="649846"/>
                      <a:pt x="457615" y="554937"/>
                    </a:cubicBezTo>
                    <a:cubicBezTo>
                      <a:pt x="462621" y="529961"/>
                      <a:pt x="470486" y="505699"/>
                      <a:pt x="481213" y="482863"/>
                    </a:cubicBezTo>
                    <a:cubicBezTo>
                      <a:pt x="493369" y="456460"/>
                      <a:pt x="509816" y="430771"/>
                      <a:pt x="530553" y="408649"/>
                    </a:cubicBezTo>
                    <a:cubicBezTo>
                      <a:pt x="535558" y="402940"/>
                      <a:pt x="540564" y="397945"/>
                      <a:pt x="545569" y="392236"/>
                    </a:cubicBezTo>
                    <a:cubicBezTo>
                      <a:pt x="560586" y="378678"/>
                      <a:pt x="575602" y="366547"/>
                      <a:pt x="592049" y="355843"/>
                    </a:cubicBezTo>
                    <a:cubicBezTo>
                      <a:pt x="600630" y="350134"/>
                      <a:pt x="609926" y="345139"/>
                      <a:pt x="619222" y="340143"/>
                    </a:cubicBezTo>
                    <a:cubicBezTo>
                      <a:pt x="671065" y="313740"/>
                      <a:pt x="728807" y="303036"/>
                      <a:pt x="785477" y="308032"/>
                    </a:cubicBezTo>
                    <a:close/>
                    <a:moveTo>
                      <a:pt x="555676" y="304800"/>
                    </a:moveTo>
                    <a:cubicBezTo>
                      <a:pt x="570540" y="304800"/>
                      <a:pt x="583988" y="309099"/>
                      <a:pt x="595313" y="316982"/>
                    </a:cubicBezTo>
                    <a:cubicBezTo>
                      <a:pt x="584696" y="323431"/>
                      <a:pt x="574079" y="329880"/>
                      <a:pt x="563462" y="337046"/>
                    </a:cubicBezTo>
                    <a:cubicBezTo>
                      <a:pt x="561338" y="336330"/>
                      <a:pt x="558507" y="336330"/>
                      <a:pt x="555676" y="336330"/>
                    </a:cubicBezTo>
                    <a:cubicBezTo>
                      <a:pt x="533026" y="336330"/>
                      <a:pt x="515331" y="354961"/>
                      <a:pt x="515331" y="377175"/>
                    </a:cubicBezTo>
                    <a:cubicBezTo>
                      <a:pt x="515331" y="377891"/>
                      <a:pt x="515331" y="378608"/>
                      <a:pt x="515331" y="379325"/>
                    </a:cubicBezTo>
                    <a:cubicBezTo>
                      <a:pt x="506130" y="388640"/>
                      <a:pt x="498344" y="397956"/>
                      <a:pt x="490558" y="407988"/>
                    </a:cubicBezTo>
                    <a:cubicBezTo>
                      <a:pt x="486311" y="398672"/>
                      <a:pt x="484188" y="388640"/>
                      <a:pt x="484188" y="377175"/>
                    </a:cubicBezTo>
                    <a:cubicBezTo>
                      <a:pt x="484188" y="337046"/>
                      <a:pt x="516039" y="304800"/>
                      <a:pt x="555676" y="304800"/>
                    </a:cubicBezTo>
                    <a:close/>
                    <a:moveTo>
                      <a:pt x="1089384" y="233362"/>
                    </a:moveTo>
                    <a:cubicBezTo>
                      <a:pt x="1066414" y="233362"/>
                      <a:pt x="1047750" y="252026"/>
                      <a:pt x="1047750" y="274996"/>
                    </a:cubicBezTo>
                    <a:cubicBezTo>
                      <a:pt x="1047750" y="278585"/>
                      <a:pt x="1048468" y="282892"/>
                      <a:pt x="1049186" y="286481"/>
                    </a:cubicBezTo>
                    <a:cubicBezTo>
                      <a:pt x="1052775" y="296531"/>
                      <a:pt x="1059953" y="305863"/>
                      <a:pt x="1069285" y="310887"/>
                    </a:cubicBezTo>
                    <a:cubicBezTo>
                      <a:pt x="1075028" y="314476"/>
                      <a:pt x="1082206" y="315912"/>
                      <a:pt x="1089384" y="315912"/>
                    </a:cubicBezTo>
                    <a:cubicBezTo>
                      <a:pt x="1111637" y="315912"/>
                      <a:pt x="1130300" y="297249"/>
                      <a:pt x="1130300" y="274996"/>
                    </a:cubicBezTo>
                    <a:cubicBezTo>
                      <a:pt x="1130300" y="271407"/>
                      <a:pt x="1129582" y="267100"/>
                      <a:pt x="1128865" y="264229"/>
                    </a:cubicBezTo>
                    <a:cubicBezTo>
                      <a:pt x="1125993" y="253461"/>
                      <a:pt x="1118815" y="244130"/>
                      <a:pt x="1109483" y="239105"/>
                    </a:cubicBezTo>
                    <a:cubicBezTo>
                      <a:pt x="1103741" y="235516"/>
                      <a:pt x="1096562" y="233362"/>
                      <a:pt x="1089384" y="233362"/>
                    </a:cubicBezTo>
                    <a:close/>
                    <a:moveTo>
                      <a:pt x="15705" y="0"/>
                    </a:moveTo>
                    <a:cubicBezTo>
                      <a:pt x="15705" y="0"/>
                      <a:pt x="15705" y="0"/>
                      <a:pt x="1289220" y="0"/>
                    </a:cubicBezTo>
                    <a:cubicBezTo>
                      <a:pt x="1297787" y="0"/>
                      <a:pt x="1304925" y="6422"/>
                      <a:pt x="1304925" y="15698"/>
                    </a:cubicBezTo>
                    <a:cubicBezTo>
                      <a:pt x="1304925" y="15698"/>
                      <a:pt x="1304925" y="15698"/>
                      <a:pt x="1304925" y="916166"/>
                    </a:cubicBezTo>
                    <a:cubicBezTo>
                      <a:pt x="1304925" y="925441"/>
                      <a:pt x="1297787" y="931863"/>
                      <a:pt x="1289220" y="931863"/>
                    </a:cubicBezTo>
                    <a:cubicBezTo>
                      <a:pt x="1289220" y="931863"/>
                      <a:pt x="1289220" y="931863"/>
                      <a:pt x="1219977" y="931863"/>
                    </a:cubicBezTo>
                    <a:cubicBezTo>
                      <a:pt x="1219977" y="931863"/>
                      <a:pt x="1219977" y="931863"/>
                      <a:pt x="1189995" y="900468"/>
                    </a:cubicBezTo>
                    <a:cubicBezTo>
                      <a:pt x="1273516" y="900468"/>
                      <a:pt x="1273516" y="900468"/>
                      <a:pt x="1273516" y="900468"/>
                    </a:cubicBezTo>
                    <a:cubicBezTo>
                      <a:pt x="1273516" y="480916"/>
                      <a:pt x="1273516" y="264004"/>
                      <a:pt x="1273516" y="151267"/>
                    </a:cubicBezTo>
                    <a:cubicBezTo>
                      <a:pt x="1273516" y="151267"/>
                      <a:pt x="1273516" y="151267"/>
                      <a:pt x="1242106" y="175527"/>
                    </a:cubicBezTo>
                    <a:cubicBezTo>
                      <a:pt x="1242106" y="175527"/>
                      <a:pt x="1242106" y="175527"/>
                      <a:pt x="1154302" y="243312"/>
                    </a:cubicBezTo>
                    <a:cubicBezTo>
                      <a:pt x="1159299" y="253301"/>
                      <a:pt x="1161441" y="263291"/>
                      <a:pt x="1161441" y="274707"/>
                    </a:cubicBezTo>
                    <a:cubicBezTo>
                      <a:pt x="1161441" y="314664"/>
                      <a:pt x="1129317" y="346773"/>
                      <a:pt x="1089341" y="346773"/>
                    </a:cubicBezTo>
                    <a:cubicBezTo>
                      <a:pt x="1071495" y="346773"/>
                      <a:pt x="1055790" y="341065"/>
                      <a:pt x="1043655" y="331076"/>
                    </a:cubicBezTo>
                    <a:cubicBezTo>
                      <a:pt x="1043655" y="331076"/>
                      <a:pt x="1043655" y="331076"/>
                      <a:pt x="993685" y="371033"/>
                    </a:cubicBezTo>
                    <a:cubicBezTo>
                      <a:pt x="985833" y="363898"/>
                      <a:pt x="977980" y="356762"/>
                      <a:pt x="969414" y="349627"/>
                    </a:cubicBezTo>
                    <a:cubicBezTo>
                      <a:pt x="969414" y="349627"/>
                      <a:pt x="969414" y="349627"/>
                      <a:pt x="1024381" y="306102"/>
                    </a:cubicBezTo>
                    <a:cubicBezTo>
                      <a:pt x="1019384" y="296826"/>
                      <a:pt x="1016528" y="286123"/>
                      <a:pt x="1016528" y="274707"/>
                    </a:cubicBezTo>
                    <a:cubicBezTo>
                      <a:pt x="1016528" y="234750"/>
                      <a:pt x="1049365" y="201928"/>
                      <a:pt x="1089341" y="201928"/>
                    </a:cubicBezTo>
                    <a:cubicBezTo>
                      <a:pt x="1106474" y="201928"/>
                      <a:pt x="1122892" y="208349"/>
                      <a:pt x="1135028" y="219052"/>
                    </a:cubicBezTo>
                    <a:cubicBezTo>
                      <a:pt x="1135028" y="219052"/>
                      <a:pt x="1135028" y="219052"/>
                      <a:pt x="1242106" y="136283"/>
                    </a:cubicBezTo>
                    <a:cubicBezTo>
                      <a:pt x="1242106" y="136283"/>
                      <a:pt x="1242106" y="136283"/>
                      <a:pt x="1269946" y="114878"/>
                    </a:cubicBezTo>
                    <a:cubicBezTo>
                      <a:pt x="1270660" y="114164"/>
                      <a:pt x="1272088" y="113451"/>
                      <a:pt x="1273516" y="112737"/>
                    </a:cubicBezTo>
                    <a:cubicBezTo>
                      <a:pt x="1273516" y="31395"/>
                      <a:pt x="1273516" y="31395"/>
                      <a:pt x="1273516" y="31395"/>
                    </a:cubicBezTo>
                    <a:cubicBezTo>
                      <a:pt x="31410" y="31395"/>
                      <a:pt x="31410" y="31395"/>
                      <a:pt x="31410" y="31395"/>
                    </a:cubicBezTo>
                    <a:cubicBezTo>
                      <a:pt x="31410" y="406709"/>
                      <a:pt x="31410" y="620766"/>
                      <a:pt x="31410" y="741352"/>
                    </a:cubicBezTo>
                    <a:cubicBezTo>
                      <a:pt x="31410" y="741352"/>
                      <a:pt x="31410" y="741352"/>
                      <a:pt x="62819" y="726368"/>
                    </a:cubicBezTo>
                    <a:cubicBezTo>
                      <a:pt x="62819" y="726368"/>
                      <a:pt x="62819" y="726368"/>
                      <a:pt x="276976" y="623621"/>
                    </a:cubicBezTo>
                    <a:cubicBezTo>
                      <a:pt x="275548" y="617912"/>
                      <a:pt x="274834" y="612918"/>
                      <a:pt x="274834" y="607210"/>
                    </a:cubicBezTo>
                    <a:cubicBezTo>
                      <a:pt x="274834" y="567252"/>
                      <a:pt x="306957" y="534430"/>
                      <a:pt x="346933" y="534430"/>
                    </a:cubicBezTo>
                    <a:cubicBezTo>
                      <a:pt x="360496" y="534430"/>
                      <a:pt x="372632" y="537998"/>
                      <a:pt x="383340" y="543706"/>
                    </a:cubicBezTo>
                    <a:cubicBezTo>
                      <a:pt x="383340" y="543706"/>
                      <a:pt x="383340" y="543706"/>
                      <a:pt x="454725" y="465218"/>
                    </a:cubicBezTo>
                    <a:cubicBezTo>
                      <a:pt x="443304" y="489478"/>
                      <a:pt x="434737" y="514451"/>
                      <a:pt x="429026" y="540138"/>
                    </a:cubicBezTo>
                    <a:cubicBezTo>
                      <a:pt x="429026" y="540138"/>
                      <a:pt x="429026" y="540138"/>
                      <a:pt x="406183" y="565112"/>
                    </a:cubicBezTo>
                    <a:cubicBezTo>
                      <a:pt x="414749" y="577241"/>
                      <a:pt x="419746" y="591512"/>
                      <a:pt x="419746" y="607210"/>
                    </a:cubicBezTo>
                    <a:cubicBezTo>
                      <a:pt x="419746" y="647167"/>
                      <a:pt x="386909" y="679275"/>
                      <a:pt x="346933" y="679275"/>
                    </a:cubicBezTo>
                    <a:cubicBezTo>
                      <a:pt x="324090" y="679275"/>
                      <a:pt x="303388" y="668573"/>
                      <a:pt x="290539" y="651448"/>
                    </a:cubicBezTo>
                    <a:cubicBezTo>
                      <a:pt x="290539" y="651448"/>
                      <a:pt x="290539" y="651448"/>
                      <a:pt x="62819" y="761331"/>
                    </a:cubicBezTo>
                    <a:cubicBezTo>
                      <a:pt x="62819" y="761331"/>
                      <a:pt x="62819" y="761331"/>
                      <a:pt x="31410" y="776315"/>
                    </a:cubicBezTo>
                    <a:cubicBezTo>
                      <a:pt x="31410" y="900468"/>
                      <a:pt x="31410" y="900468"/>
                      <a:pt x="31410" y="900468"/>
                    </a:cubicBezTo>
                    <a:cubicBezTo>
                      <a:pt x="250563" y="900468"/>
                      <a:pt x="431168" y="900468"/>
                      <a:pt x="579650" y="900468"/>
                    </a:cubicBezTo>
                    <a:cubicBezTo>
                      <a:pt x="600351" y="913312"/>
                      <a:pt x="622481" y="924014"/>
                      <a:pt x="645324" y="931863"/>
                    </a:cubicBezTo>
                    <a:cubicBezTo>
                      <a:pt x="645324" y="931863"/>
                      <a:pt x="645324" y="931863"/>
                      <a:pt x="15705" y="931863"/>
                    </a:cubicBezTo>
                    <a:cubicBezTo>
                      <a:pt x="7139" y="931863"/>
                      <a:pt x="0" y="925441"/>
                      <a:pt x="0" y="916166"/>
                    </a:cubicBezTo>
                    <a:cubicBezTo>
                      <a:pt x="0" y="916166"/>
                      <a:pt x="0" y="916166"/>
                      <a:pt x="0" y="15698"/>
                    </a:cubicBezTo>
                    <a:cubicBezTo>
                      <a:pt x="0" y="6422"/>
                      <a:pt x="7139" y="0"/>
                      <a:pt x="15705" y="0"/>
                    </a:cubicBezTo>
                    <a:close/>
                  </a:path>
                </a:pathLst>
              </a:custGeom>
              <a:solidFill>
                <a:schemeClr val="accent1"/>
              </a:solidFill>
              <a:ln>
                <a:noFill/>
              </a:ln>
            </p:spPr>
            <p:txBody>
              <a:bodyPr vert="horz" wrap="square" lIns="72746" tIns="36373" rIns="72746" bIns="36373" numCol="1" anchor="t" anchorCtr="0" compatLnSpc="1">
                <a:prstTxWarp prst="textNoShape">
                  <a:avLst/>
                </a:prstTxWarp>
                <a:noAutofit/>
              </a:bodyPr>
              <a:lstStyle/>
              <a:p>
                <a:endParaRPr lang="en-US" sz="1559">
                  <a:ea typeface="Microsoft YaHei" panose="020B0503020204020204" pitchFamily="34" charset="-122"/>
                  <a:sym typeface="+mn-lt"/>
                </a:endParaRPr>
              </a:p>
            </p:txBody>
          </p:sp>
          <p:sp>
            <p:nvSpPr>
              <p:cNvPr id="251" name="Freeform 11">
                <a:extLst>
                  <a:ext uri="{FF2B5EF4-FFF2-40B4-BE49-F238E27FC236}">
                    <a16:creationId xmlns:a16="http://schemas.microsoft.com/office/drawing/2014/main" id="{BDEFAFFA-790E-4083-88A1-F59E4F0723A3}"/>
                  </a:ext>
                </a:extLst>
              </p:cNvPr>
              <p:cNvSpPr>
                <a:spLocks/>
              </p:cNvSpPr>
              <p:nvPr/>
            </p:nvSpPr>
            <p:spPr bwMode="auto">
              <a:xfrm>
                <a:off x="6697662" y="3179762"/>
                <a:ext cx="1181100" cy="654050"/>
              </a:xfrm>
              <a:custGeom>
                <a:avLst/>
                <a:gdLst>
                  <a:gd name="connsiteX0" fmla="*/ 363861 w 1181100"/>
                  <a:gd name="connsiteY0" fmla="*/ 458787 h 654050"/>
                  <a:gd name="connsiteX1" fmla="*/ 452503 w 1181100"/>
                  <a:gd name="connsiteY1" fmla="*/ 632593 h 654050"/>
                  <a:gd name="connsiteX2" fmla="*/ 474663 w 1181100"/>
                  <a:gd name="connsiteY2" fmla="*/ 654050 h 654050"/>
                  <a:gd name="connsiteX3" fmla="*/ 0 w 1181100"/>
                  <a:gd name="connsiteY3" fmla="*/ 654050 h 654050"/>
                  <a:gd name="connsiteX4" fmla="*/ 0 w 1181100"/>
                  <a:gd name="connsiteY4" fmla="*/ 581095 h 654050"/>
                  <a:gd name="connsiteX5" fmla="*/ 221605 w 1181100"/>
                  <a:gd name="connsiteY5" fmla="*/ 473807 h 654050"/>
                  <a:gd name="connsiteX6" fmla="*/ 284512 w 1181100"/>
                  <a:gd name="connsiteY6" fmla="*/ 495265 h 654050"/>
                  <a:gd name="connsiteX7" fmla="*/ 363861 w 1181100"/>
                  <a:gd name="connsiteY7" fmla="*/ 458787 h 654050"/>
                  <a:gd name="connsiteX8" fmla="*/ 881470 w 1181100"/>
                  <a:gd name="connsiteY8" fmla="*/ 250825 h 654050"/>
                  <a:gd name="connsiteX9" fmla="*/ 879327 w 1181100"/>
                  <a:gd name="connsiteY9" fmla="*/ 543393 h 654050"/>
                  <a:gd name="connsiteX10" fmla="*/ 859328 w 1181100"/>
                  <a:gd name="connsiteY10" fmla="*/ 564748 h 654050"/>
                  <a:gd name="connsiteX11" fmla="*/ 840757 w 1181100"/>
                  <a:gd name="connsiteY11" fmla="*/ 581121 h 654050"/>
                  <a:gd name="connsiteX12" fmla="*/ 840043 w 1181100"/>
                  <a:gd name="connsiteY12" fmla="*/ 581833 h 654050"/>
                  <a:gd name="connsiteX13" fmla="*/ 696476 w 1181100"/>
                  <a:gd name="connsiteY13" fmla="*/ 630238 h 654050"/>
                  <a:gd name="connsiteX14" fmla="*/ 526481 w 1181100"/>
                  <a:gd name="connsiteY14" fmla="*/ 558342 h 654050"/>
                  <a:gd name="connsiteX15" fmla="*/ 489339 w 1181100"/>
                  <a:gd name="connsiteY15" fmla="*/ 284993 h 654050"/>
                  <a:gd name="connsiteX16" fmla="*/ 586479 w 1181100"/>
                  <a:gd name="connsiteY16" fmla="*/ 331975 h 654050"/>
                  <a:gd name="connsiteX17" fmla="*/ 699333 w 1181100"/>
                  <a:gd name="connsiteY17" fmla="*/ 441599 h 654050"/>
                  <a:gd name="connsiteX18" fmla="*/ 805044 w 1181100"/>
                  <a:gd name="connsiteY18" fmla="*/ 368279 h 654050"/>
                  <a:gd name="connsiteX19" fmla="*/ 812901 w 1181100"/>
                  <a:gd name="connsiteY19" fmla="*/ 328416 h 654050"/>
                  <a:gd name="connsiteX20" fmla="*/ 811472 w 1181100"/>
                  <a:gd name="connsiteY20" fmla="*/ 314179 h 654050"/>
                  <a:gd name="connsiteX21" fmla="*/ 810758 w 1181100"/>
                  <a:gd name="connsiteY21" fmla="*/ 307061 h 654050"/>
                  <a:gd name="connsiteX22" fmla="*/ 815758 w 1181100"/>
                  <a:gd name="connsiteY22" fmla="*/ 302790 h 654050"/>
                  <a:gd name="connsiteX23" fmla="*/ 850043 w 1181100"/>
                  <a:gd name="connsiteY23" fmla="*/ 275739 h 654050"/>
                  <a:gd name="connsiteX24" fmla="*/ 881470 w 1181100"/>
                  <a:gd name="connsiteY24" fmla="*/ 250825 h 654050"/>
                  <a:gd name="connsiteX25" fmla="*/ 1181100 w 1181100"/>
                  <a:gd name="connsiteY25" fmla="*/ 0 h 654050"/>
                  <a:gd name="connsiteX26" fmla="*/ 1181100 w 1181100"/>
                  <a:gd name="connsiteY26" fmla="*/ 654050 h 654050"/>
                  <a:gd name="connsiteX27" fmla="*/ 1099004 w 1181100"/>
                  <a:gd name="connsiteY27" fmla="*/ 654050 h 654050"/>
                  <a:gd name="connsiteX28" fmla="*/ 1096863 w 1181100"/>
                  <a:gd name="connsiteY28" fmla="*/ 651908 h 654050"/>
                  <a:gd name="connsiteX29" fmla="*/ 1069022 w 1181100"/>
                  <a:gd name="connsiteY29" fmla="*/ 638342 h 654050"/>
                  <a:gd name="connsiteX30" fmla="*/ 1066166 w 1181100"/>
                  <a:gd name="connsiteY30" fmla="*/ 637628 h 654050"/>
                  <a:gd name="connsiteX31" fmla="*/ 1064024 w 1181100"/>
                  <a:gd name="connsiteY31" fmla="*/ 637628 h 654050"/>
                  <a:gd name="connsiteX32" fmla="*/ 1048319 w 1181100"/>
                  <a:gd name="connsiteY32" fmla="*/ 640484 h 654050"/>
                  <a:gd name="connsiteX33" fmla="*/ 1040466 w 1181100"/>
                  <a:gd name="connsiteY33" fmla="*/ 629773 h 654050"/>
                  <a:gd name="connsiteX34" fmla="*/ 986212 w 1181100"/>
                  <a:gd name="connsiteY34" fmla="*/ 573365 h 654050"/>
                  <a:gd name="connsiteX35" fmla="*/ 954087 w 1181100"/>
                  <a:gd name="connsiteY35" fmla="*/ 178507 h 654050"/>
                  <a:gd name="connsiteX36" fmla="*/ 985498 w 1181100"/>
                  <a:gd name="connsiteY36" fmla="*/ 153516 h 654050"/>
                  <a:gd name="connsiteX37" fmla="*/ 1028330 w 1181100"/>
                  <a:gd name="connsiteY37" fmla="*/ 162798 h 654050"/>
                  <a:gd name="connsiteX38" fmla="*/ 1131843 w 1181100"/>
                  <a:gd name="connsiteY38" fmla="*/ 59264 h 654050"/>
                  <a:gd name="connsiteX39" fmla="*/ 1129701 w 1181100"/>
                  <a:gd name="connsiteY39" fmla="*/ 39985 h 654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81100" h="654050">
                    <a:moveTo>
                      <a:pt x="363861" y="458787"/>
                    </a:moveTo>
                    <a:cubicBezTo>
                      <a:pt x="375299" y="521729"/>
                      <a:pt x="404608" y="582525"/>
                      <a:pt x="452503" y="632593"/>
                    </a:cubicBezTo>
                    <a:cubicBezTo>
                      <a:pt x="459651" y="640460"/>
                      <a:pt x="466800" y="647613"/>
                      <a:pt x="474663" y="654050"/>
                    </a:cubicBezTo>
                    <a:cubicBezTo>
                      <a:pt x="474663" y="654050"/>
                      <a:pt x="474663" y="654050"/>
                      <a:pt x="0" y="654050"/>
                    </a:cubicBezTo>
                    <a:cubicBezTo>
                      <a:pt x="0" y="654050"/>
                      <a:pt x="0" y="654050"/>
                      <a:pt x="0" y="581095"/>
                    </a:cubicBezTo>
                    <a:cubicBezTo>
                      <a:pt x="0" y="581095"/>
                      <a:pt x="0" y="581095"/>
                      <a:pt x="221605" y="473807"/>
                    </a:cubicBezTo>
                    <a:cubicBezTo>
                      <a:pt x="239476" y="487397"/>
                      <a:pt x="261637" y="495265"/>
                      <a:pt x="284512" y="495265"/>
                    </a:cubicBezTo>
                    <a:cubicBezTo>
                      <a:pt x="316681" y="495265"/>
                      <a:pt x="344560" y="480960"/>
                      <a:pt x="363861" y="458787"/>
                    </a:cubicBezTo>
                    <a:close/>
                    <a:moveTo>
                      <a:pt x="881470" y="250825"/>
                    </a:moveTo>
                    <a:cubicBezTo>
                      <a:pt x="948611" y="336246"/>
                      <a:pt x="949325" y="457972"/>
                      <a:pt x="879327" y="543393"/>
                    </a:cubicBezTo>
                    <a:cubicBezTo>
                      <a:pt x="873613" y="551223"/>
                      <a:pt x="866471" y="558342"/>
                      <a:pt x="859328" y="564748"/>
                    </a:cubicBezTo>
                    <a:cubicBezTo>
                      <a:pt x="852185" y="571867"/>
                      <a:pt x="846471" y="577562"/>
                      <a:pt x="840757" y="581121"/>
                    </a:cubicBezTo>
                    <a:cubicBezTo>
                      <a:pt x="840757" y="581121"/>
                      <a:pt x="840757" y="581121"/>
                      <a:pt x="840043" y="581833"/>
                    </a:cubicBezTo>
                    <a:cubicBezTo>
                      <a:pt x="799330" y="613154"/>
                      <a:pt x="747903" y="630238"/>
                      <a:pt x="696476" y="630238"/>
                    </a:cubicBezTo>
                    <a:cubicBezTo>
                      <a:pt x="631478" y="630238"/>
                      <a:pt x="571480" y="604612"/>
                      <a:pt x="526481" y="558342"/>
                    </a:cubicBezTo>
                    <a:cubicBezTo>
                      <a:pt x="455055" y="483598"/>
                      <a:pt x="442912" y="372550"/>
                      <a:pt x="489339" y="284993"/>
                    </a:cubicBezTo>
                    <a:cubicBezTo>
                      <a:pt x="489339" y="284993"/>
                      <a:pt x="489339" y="284993"/>
                      <a:pt x="586479" y="331975"/>
                    </a:cubicBezTo>
                    <a:cubicBezTo>
                      <a:pt x="588622" y="392482"/>
                      <a:pt x="638621" y="441599"/>
                      <a:pt x="699333" y="441599"/>
                    </a:cubicBezTo>
                    <a:cubicBezTo>
                      <a:pt x="747903" y="441599"/>
                      <a:pt x="789330" y="410990"/>
                      <a:pt x="805044" y="368279"/>
                    </a:cubicBezTo>
                    <a:cubicBezTo>
                      <a:pt x="810044" y="356178"/>
                      <a:pt x="812901" y="342653"/>
                      <a:pt x="812901" y="328416"/>
                    </a:cubicBezTo>
                    <a:cubicBezTo>
                      <a:pt x="812901" y="323433"/>
                      <a:pt x="812187" y="319162"/>
                      <a:pt x="811472" y="314179"/>
                    </a:cubicBezTo>
                    <a:cubicBezTo>
                      <a:pt x="811472" y="312043"/>
                      <a:pt x="811472" y="309196"/>
                      <a:pt x="810758" y="307061"/>
                    </a:cubicBezTo>
                    <a:cubicBezTo>
                      <a:pt x="810758" y="307061"/>
                      <a:pt x="810758" y="307061"/>
                      <a:pt x="815758" y="302790"/>
                    </a:cubicBezTo>
                    <a:cubicBezTo>
                      <a:pt x="820758" y="299230"/>
                      <a:pt x="830757" y="291400"/>
                      <a:pt x="850043" y="275739"/>
                    </a:cubicBezTo>
                    <a:cubicBezTo>
                      <a:pt x="857899" y="269333"/>
                      <a:pt x="868613" y="260791"/>
                      <a:pt x="881470" y="250825"/>
                    </a:cubicBezTo>
                    <a:close/>
                    <a:moveTo>
                      <a:pt x="1181100" y="0"/>
                    </a:moveTo>
                    <a:cubicBezTo>
                      <a:pt x="1181100" y="0"/>
                      <a:pt x="1181100" y="0"/>
                      <a:pt x="1181100" y="654050"/>
                    </a:cubicBezTo>
                    <a:cubicBezTo>
                      <a:pt x="1181100" y="654050"/>
                      <a:pt x="1181100" y="654050"/>
                      <a:pt x="1099004" y="654050"/>
                    </a:cubicBezTo>
                    <a:cubicBezTo>
                      <a:pt x="1099004" y="654050"/>
                      <a:pt x="1099004" y="654050"/>
                      <a:pt x="1096863" y="651908"/>
                    </a:cubicBezTo>
                    <a:cubicBezTo>
                      <a:pt x="1089724" y="644768"/>
                      <a:pt x="1079730" y="639770"/>
                      <a:pt x="1069022" y="638342"/>
                    </a:cubicBezTo>
                    <a:cubicBezTo>
                      <a:pt x="1069022" y="638342"/>
                      <a:pt x="1069022" y="638342"/>
                      <a:pt x="1066166" y="637628"/>
                    </a:cubicBezTo>
                    <a:cubicBezTo>
                      <a:pt x="1066166" y="637628"/>
                      <a:pt x="1066166" y="637628"/>
                      <a:pt x="1064024" y="637628"/>
                    </a:cubicBezTo>
                    <a:cubicBezTo>
                      <a:pt x="1058313" y="637628"/>
                      <a:pt x="1053316" y="638342"/>
                      <a:pt x="1048319" y="640484"/>
                    </a:cubicBezTo>
                    <a:cubicBezTo>
                      <a:pt x="1046177" y="636913"/>
                      <a:pt x="1043322" y="633343"/>
                      <a:pt x="1040466" y="629773"/>
                    </a:cubicBezTo>
                    <a:cubicBezTo>
                      <a:pt x="1040466" y="629773"/>
                      <a:pt x="1040466" y="629773"/>
                      <a:pt x="986212" y="573365"/>
                    </a:cubicBezTo>
                    <a:cubicBezTo>
                      <a:pt x="1061169" y="448410"/>
                      <a:pt x="1048319" y="289181"/>
                      <a:pt x="954087" y="178507"/>
                    </a:cubicBezTo>
                    <a:cubicBezTo>
                      <a:pt x="954087" y="178507"/>
                      <a:pt x="954087" y="178507"/>
                      <a:pt x="985498" y="153516"/>
                    </a:cubicBezTo>
                    <a:cubicBezTo>
                      <a:pt x="998348" y="159942"/>
                      <a:pt x="1013339" y="162798"/>
                      <a:pt x="1028330" y="162798"/>
                    </a:cubicBezTo>
                    <a:cubicBezTo>
                      <a:pt x="1085441" y="162798"/>
                      <a:pt x="1131843" y="116386"/>
                      <a:pt x="1131843" y="59264"/>
                    </a:cubicBezTo>
                    <a:cubicBezTo>
                      <a:pt x="1131843" y="52838"/>
                      <a:pt x="1131129" y="45698"/>
                      <a:pt x="1129701" y="39985"/>
                    </a:cubicBezTo>
                    <a:close/>
                  </a:path>
                </a:pathLst>
              </a:custGeom>
              <a:solidFill>
                <a:schemeClr val="tx2"/>
              </a:solidFill>
              <a:ln>
                <a:noFill/>
              </a:ln>
            </p:spPr>
            <p:txBody>
              <a:bodyPr vert="horz" wrap="square" lIns="72746" tIns="36373" rIns="72746" bIns="36373" numCol="1" anchor="t" anchorCtr="0" compatLnSpc="1">
                <a:prstTxWarp prst="textNoShape">
                  <a:avLst/>
                </a:prstTxWarp>
                <a:noAutofit/>
              </a:bodyPr>
              <a:lstStyle/>
              <a:p>
                <a:endParaRPr lang="en-US" sz="1559">
                  <a:ea typeface="Microsoft YaHei" panose="020B0503020204020204" pitchFamily="34" charset="-122"/>
                  <a:sym typeface="+mn-lt"/>
                </a:endParaRPr>
              </a:p>
            </p:txBody>
          </p:sp>
        </p:grpSp>
      </p:grpSp>
      <p:grpSp>
        <p:nvGrpSpPr>
          <p:cNvPr id="140" name="Group 139">
            <a:extLst>
              <a:ext uri="{FF2B5EF4-FFF2-40B4-BE49-F238E27FC236}">
                <a16:creationId xmlns:a16="http://schemas.microsoft.com/office/drawing/2014/main" id="{57EB4ACA-A26C-49A4-842E-AC0BB2860950}"/>
              </a:ext>
            </a:extLst>
          </p:cNvPr>
          <p:cNvGrpSpPr>
            <a:grpSpLocks/>
          </p:cNvGrpSpPr>
          <p:nvPr/>
        </p:nvGrpSpPr>
        <p:grpSpPr>
          <a:xfrm>
            <a:off x="630000" y="3165527"/>
            <a:ext cx="365760" cy="365760"/>
            <a:chOff x="5273675" y="2606675"/>
            <a:chExt cx="1644650" cy="1644650"/>
          </a:xfrm>
        </p:grpSpPr>
        <p:sp>
          <p:nvSpPr>
            <p:cNvPr id="244" name="AutoShape 3">
              <a:extLst>
                <a:ext uri="{FF2B5EF4-FFF2-40B4-BE49-F238E27FC236}">
                  <a16:creationId xmlns:a16="http://schemas.microsoft.com/office/drawing/2014/main" id="{DBD5015D-A706-407C-94DC-295CE4EED493}"/>
                </a:ext>
              </a:extLst>
            </p:cNvPr>
            <p:cNvSpPr>
              <a:spLocks noChangeAspect="1" noChangeArrowheads="1" noTextEdit="1"/>
            </p:cNvSpPr>
            <p:nvPr/>
          </p:nvSpPr>
          <p:spPr bwMode="auto">
            <a:xfrm>
              <a:off x="5273675" y="2606675"/>
              <a:ext cx="1644650"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2746" tIns="36373" rIns="72746" bIns="36373" numCol="1" anchor="ctr" anchorCtr="0" compatLnSpc="1">
              <a:prstTxWarp prst="textNoShape">
                <a:avLst/>
              </a:prstTxWarp>
            </a:bodyPr>
            <a:lstStyle/>
            <a:p>
              <a:endParaRPr lang="en-US" sz="1559">
                <a:sym typeface="+mn-lt"/>
              </a:endParaRPr>
            </a:p>
          </p:txBody>
        </p:sp>
        <p:grpSp>
          <p:nvGrpSpPr>
            <p:cNvPr id="245" name="Group 244">
              <a:extLst>
                <a:ext uri="{FF2B5EF4-FFF2-40B4-BE49-F238E27FC236}">
                  <a16:creationId xmlns:a16="http://schemas.microsoft.com/office/drawing/2014/main" id="{C27BE205-6FFF-4761-BBAA-CF8598AD897A}"/>
                </a:ext>
              </a:extLst>
            </p:cNvPr>
            <p:cNvGrpSpPr/>
            <p:nvPr/>
          </p:nvGrpSpPr>
          <p:grpSpPr>
            <a:xfrm>
              <a:off x="5443538" y="2782888"/>
              <a:ext cx="1304925" cy="1292225"/>
              <a:chOff x="5443538" y="2782888"/>
              <a:chExt cx="1304925" cy="1292225"/>
            </a:xfrm>
          </p:grpSpPr>
          <p:sp>
            <p:nvSpPr>
              <p:cNvPr id="246" name="Freeform 11">
                <a:extLst>
                  <a:ext uri="{FF2B5EF4-FFF2-40B4-BE49-F238E27FC236}">
                    <a16:creationId xmlns:a16="http://schemas.microsoft.com/office/drawing/2014/main" id="{FE7D77C9-EE1E-4F8A-9674-6E08F90D6E7F}"/>
                  </a:ext>
                </a:extLst>
              </p:cNvPr>
              <p:cNvSpPr>
                <a:spLocks noEditPoints="1"/>
              </p:cNvSpPr>
              <p:nvPr/>
            </p:nvSpPr>
            <p:spPr bwMode="auto">
              <a:xfrm>
                <a:off x="5813425" y="3556000"/>
                <a:ext cx="935038" cy="519113"/>
              </a:xfrm>
              <a:custGeom>
                <a:avLst/>
                <a:gdLst>
                  <a:gd name="T0" fmla="*/ 1307 w 1308"/>
                  <a:gd name="T1" fmla="*/ 588 h 729"/>
                  <a:gd name="T2" fmla="*/ 1291 w 1308"/>
                  <a:gd name="T3" fmla="*/ 574 h 729"/>
                  <a:gd name="T4" fmla="*/ 862 w 1308"/>
                  <a:gd name="T5" fmla="*/ 574 h 729"/>
                  <a:gd name="T6" fmla="*/ 849 w 1308"/>
                  <a:gd name="T7" fmla="*/ 570 h 729"/>
                  <a:gd name="T8" fmla="*/ 78 w 1308"/>
                  <a:gd name="T9" fmla="*/ 3 h 729"/>
                  <a:gd name="T10" fmla="*/ 68 w 1308"/>
                  <a:gd name="T11" fmla="*/ 0 h 729"/>
                  <a:gd name="T12" fmla="*/ 56 w 1308"/>
                  <a:gd name="T13" fmla="*/ 4 h 729"/>
                  <a:gd name="T14" fmla="*/ 55 w 1308"/>
                  <a:gd name="T15" fmla="*/ 5 h 729"/>
                  <a:gd name="T16" fmla="*/ 54 w 1308"/>
                  <a:gd name="T17" fmla="*/ 6 h 729"/>
                  <a:gd name="T18" fmla="*/ 53 w 1308"/>
                  <a:gd name="T19" fmla="*/ 7 h 729"/>
                  <a:gd name="T20" fmla="*/ 22 w 1308"/>
                  <a:gd name="T21" fmla="*/ 46 h 729"/>
                  <a:gd name="T22" fmla="*/ 4 w 1308"/>
                  <a:gd name="T23" fmla="*/ 116 h 729"/>
                  <a:gd name="T24" fmla="*/ 41 w 1308"/>
                  <a:gd name="T25" fmla="*/ 179 h 729"/>
                  <a:gd name="T26" fmla="*/ 736 w 1308"/>
                  <a:gd name="T27" fmla="*/ 687 h 729"/>
                  <a:gd name="T28" fmla="*/ 802 w 1308"/>
                  <a:gd name="T29" fmla="*/ 720 h 729"/>
                  <a:gd name="T30" fmla="*/ 865 w 1308"/>
                  <a:gd name="T31" fmla="*/ 729 h 729"/>
                  <a:gd name="T32" fmla="*/ 1214 w 1308"/>
                  <a:gd name="T33" fmla="*/ 729 h 729"/>
                  <a:gd name="T34" fmla="*/ 1308 w 1308"/>
                  <a:gd name="T35" fmla="*/ 636 h 729"/>
                  <a:gd name="T36" fmla="*/ 1308 w 1308"/>
                  <a:gd name="T37" fmla="*/ 591 h 729"/>
                  <a:gd name="T38" fmla="*/ 1308 w 1308"/>
                  <a:gd name="T39" fmla="*/ 590 h 729"/>
                  <a:gd name="T40" fmla="*/ 1307 w 1308"/>
                  <a:gd name="T41" fmla="*/ 588 h 729"/>
                  <a:gd name="T42" fmla="*/ 1264 w 1308"/>
                  <a:gd name="T43" fmla="*/ 636 h 729"/>
                  <a:gd name="T44" fmla="*/ 1214 w 1308"/>
                  <a:gd name="T45" fmla="*/ 685 h 729"/>
                  <a:gd name="T46" fmla="*/ 865 w 1308"/>
                  <a:gd name="T47" fmla="*/ 685 h 729"/>
                  <a:gd name="T48" fmla="*/ 815 w 1308"/>
                  <a:gd name="T49" fmla="*/ 678 h 729"/>
                  <a:gd name="T50" fmla="*/ 814 w 1308"/>
                  <a:gd name="T51" fmla="*/ 678 h 729"/>
                  <a:gd name="T52" fmla="*/ 814 w 1308"/>
                  <a:gd name="T53" fmla="*/ 678 h 729"/>
                  <a:gd name="T54" fmla="*/ 762 w 1308"/>
                  <a:gd name="T55" fmla="*/ 652 h 729"/>
                  <a:gd name="T56" fmla="*/ 67 w 1308"/>
                  <a:gd name="T57" fmla="*/ 143 h 729"/>
                  <a:gd name="T58" fmla="*/ 48 w 1308"/>
                  <a:gd name="T59" fmla="*/ 111 h 729"/>
                  <a:gd name="T60" fmla="*/ 47 w 1308"/>
                  <a:gd name="T61" fmla="*/ 110 h 729"/>
                  <a:gd name="T62" fmla="*/ 47 w 1308"/>
                  <a:gd name="T63" fmla="*/ 109 h 729"/>
                  <a:gd name="T64" fmla="*/ 57 w 1308"/>
                  <a:gd name="T65" fmla="*/ 72 h 729"/>
                  <a:gd name="T66" fmla="*/ 72 w 1308"/>
                  <a:gd name="T67" fmla="*/ 53 h 729"/>
                  <a:gd name="T68" fmla="*/ 823 w 1308"/>
                  <a:gd name="T69" fmla="*/ 605 h 729"/>
                  <a:gd name="T70" fmla="*/ 862 w 1308"/>
                  <a:gd name="T71" fmla="*/ 618 h 729"/>
                  <a:gd name="T72" fmla="*/ 1264 w 1308"/>
                  <a:gd name="T73" fmla="*/ 618 h 729"/>
                  <a:gd name="T74" fmla="*/ 1264 w 1308"/>
                  <a:gd name="T75" fmla="*/ 636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08" h="729">
                    <a:moveTo>
                      <a:pt x="1307" y="588"/>
                    </a:moveTo>
                    <a:cubicBezTo>
                      <a:pt x="1306" y="580"/>
                      <a:pt x="1300" y="574"/>
                      <a:pt x="1291" y="574"/>
                    </a:cubicBezTo>
                    <a:cubicBezTo>
                      <a:pt x="862" y="574"/>
                      <a:pt x="862" y="574"/>
                      <a:pt x="862" y="574"/>
                    </a:cubicBezTo>
                    <a:cubicBezTo>
                      <a:pt x="857" y="574"/>
                      <a:pt x="853" y="572"/>
                      <a:pt x="849" y="570"/>
                    </a:cubicBezTo>
                    <a:cubicBezTo>
                      <a:pt x="78" y="3"/>
                      <a:pt x="78" y="3"/>
                      <a:pt x="78" y="3"/>
                    </a:cubicBezTo>
                    <a:cubicBezTo>
                      <a:pt x="74" y="1"/>
                      <a:pt x="71" y="0"/>
                      <a:pt x="68" y="0"/>
                    </a:cubicBezTo>
                    <a:cubicBezTo>
                      <a:pt x="64" y="0"/>
                      <a:pt x="60" y="1"/>
                      <a:pt x="56" y="4"/>
                    </a:cubicBezTo>
                    <a:cubicBezTo>
                      <a:pt x="56" y="4"/>
                      <a:pt x="55" y="4"/>
                      <a:pt x="55" y="5"/>
                    </a:cubicBezTo>
                    <a:cubicBezTo>
                      <a:pt x="54" y="5"/>
                      <a:pt x="54" y="6"/>
                      <a:pt x="54" y="6"/>
                    </a:cubicBezTo>
                    <a:cubicBezTo>
                      <a:pt x="54" y="7"/>
                      <a:pt x="54" y="7"/>
                      <a:pt x="53" y="7"/>
                    </a:cubicBezTo>
                    <a:cubicBezTo>
                      <a:pt x="22" y="46"/>
                      <a:pt x="22" y="46"/>
                      <a:pt x="22" y="46"/>
                    </a:cubicBezTo>
                    <a:cubicBezTo>
                      <a:pt x="7" y="66"/>
                      <a:pt x="0" y="91"/>
                      <a:pt x="4" y="116"/>
                    </a:cubicBezTo>
                    <a:cubicBezTo>
                      <a:pt x="7" y="141"/>
                      <a:pt x="20" y="163"/>
                      <a:pt x="41" y="179"/>
                    </a:cubicBezTo>
                    <a:cubicBezTo>
                      <a:pt x="736" y="687"/>
                      <a:pt x="736" y="687"/>
                      <a:pt x="736" y="687"/>
                    </a:cubicBezTo>
                    <a:cubicBezTo>
                      <a:pt x="756" y="702"/>
                      <a:pt x="778" y="713"/>
                      <a:pt x="802" y="720"/>
                    </a:cubicBezTo>
                    <a:cubicBezTo>
                      <a:pt x="822" y="726"/>
                      <a:pt x="843" y="729"/>
                      <a:pt x="865" y="729"/>
                    </a:cubicBezTo>
                    <a:cubicBezTo>
                      <a:pt x="1214" y="729"/>
                      <a:pt x="1214" y="729"/>
                      <a:pt x="1214" y="729"/>
                    </a:cubicBezTo>
                    <a:cubicBezTo>
                      <a:pt x="1266" y="729"/>
                      <a:pt x="1308" y="687"/>
                      <a:pt x="1308" y="636"/>
                    </a:cubicBezTo>
                    <a:cubicBezTo>
                      <a:pt x="1308" y="591"/>
                      <a:pt x="1308" y="591"/>
                      <a:pt x="1308" y="591"/>
                    </a:cubicBezTo>
                    <a:cubicBezTo>
                      <a:pt x="1308" y="591"/>
                      <a:pt x="1308" y="591"/>
                      <a:pt x="1308" y="590"/>
                    </a:cubicBezTo>
                    <a:cubicBezTo>
                      <a:pt x="1307" y="589"/>
                      <a:pt x="1307" y="589"/>
                      <a:pt x="1307" y="588"/>
                    </a:cubicBezTo>
                    <a:close/>
                    <a:moveTo>
                      <a:pt x="1264" y="636"/>
                    </a:moveTo>
                    <a:cubicBezTo>
                      <a:pt x="1264" y="663"/>
                      <a:pt x="1241" y="685"/>
                      <a:pt x="1214" y="685"/>
                    </a:cubicBezTo>
                    <a:cubicBezTo>
                      <a:pt x="865" y="685"/>
                      <a:pt x="865" y="685"/>
                      <a:pt x="865" y="685"/>
                    </a:cubicBezTo>
                    <a:cubicBezTo>
                      <a:pt x="847" y="685"/>
                      <a:pt x="830" y="683"/>
                      <a:pt x="815" y="678"/>
                    </a:cubicBezTo>
                    <a:cubicBezTo>
                      <a:pt x="814" y="678"/>
                      <a:pt x="814" y="678"/>
                      <a:pt x="814" y="678"/>
                    </a:cubicBezTo>
                    <a:cubicBezTo>
                      <a:pt x="814" y="678"/>
                      <a:pt x="814" y="678"/>
                      <a:pt x="814" y="678"/>
                    </a:cubicBezTo>
                    <a:cubicBezTo>
                      <a:pt x="796" y="672"/>
                      <a:pt x="778" y="664"/>
                      <a:pt x="762" y="652"/>
                    </a:cubicBezTo>
                    <a:cubicBezTo>
                      <a:pt x="67" y="143"/>
                      <a:pt x="67" y="143"/>
                      <a:pt x="67" y="143"/>
                    </a:cubicBezTo>
                    <a:cubicBezTo>
                      <a:pt x="56" y="135"/>
                      <a:pt x="49" y="124"/>
                      <a:pt x="48" y="111"/>
                    </a:cubicBezTo>
                    <a:cubicBezTo>
                      <a:pt x="47" y="110"/>
                      <a:pt x="47" y="110"/>
                      <a:pt x="47" y="110"/>
                    </a:cubicBezTo>
                    <a:cubicBezTo>
                      <a:pt x="47" y="109"/>
                      <a:pt x="47" y="109"/>
                      <a:pt x="47" y="109"/>
                    </a:cubicBezTo>
                    <a:cubicBezTo>
                      <a:pt x="45" y="96"/>
                      <a:pt x="49" y="84"/>
                      <a:pt x="57" y="72"/>
                    </a:cubicBezTo>
                    <a:cubicBezTo>
                      <a:pt x="72" y="53"/>
                      <a:pt x="72" y="53"/>
                      <a:pt x="72" y="53"/>
                    </a:cubicBezTo>
                    <a:cubicBezTo>
                      <a:pt x="823" y="605"/>
                      <a:pt x="823" y="605"/>
                      <a:pt x="823" y="605"/>
                    </a:cubicBezTo>
                    <a:cubicBezTo>
                      <a:pt x="834" y="613"/>
                      <a:pt x="848" y="618"/>
                      <a:pt x="862" y="618"/>
                    </a:cubicBezTo>
                    <a:cubicBezTo>
                      <a:pt x="1264" y="618"/>
                      <a:pt x="1264" y="618"/>
                      <a:pt x="1264" y="618"/>
                    </a:cubicBezTo>
                    <a:lnTo>
                      <a:pt x="1264" y="63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ctr" anchorCtr="0" compatLnSpc="1">
                <a:prstTxWarp prst="textNoShape">
                  <a:avLst/>
                </a:prstTxWarp>
              </a:bodyPr>
              <a:lstStyle/>
              <a:p>
                <a:endParaRPr lang="en-US" sz="1559">
                  <a:ea typeface="Microsoft YaHei" panose="020B0503020204020204" pitchFamily="34" charset="-122"/>
                  <a:sym typeface="+mn-lt"/>
                </a:endParaRPr>
              </a:p>
            </p:txBody>
          </p:sp>
          <p:sp>
            <p:nvSpPr>
              <p:cNvPr id="247" name="Freeform 12">
                <a:extLst>
                  <a:ext uri="{FF2B5EF4-FFF2-40B4-BE49-F238E27FC236}">
                    <a16:creationId xmlns:a16="http://schemas.microsoft.com/office/drawing/2014/main" id="{CC0C5735-0C3C-4328-A184-34E98AAD32FA}"/>
                  </a:ext>
                </a:extLst>
              </p:cNvPr>
              <p:cNvSpPr>
                <a:spLocks/>
              </p:cNvSpPr>
              <p:nvPr/>
            </p:nvSpPr>
            <p:spPr bwMode="auto">
              <a:xfrm>
                <a:off x="5443538" y="2782888"/>
                <a:ext cx="1295400" cy="1150938"/>
              </a:xfrm>
              <a:custGeom>
                <a:avLst/>
                <a:gdLst>
                  <a:gd name="T0" fmla="*/ 1434 w 1815"/>
                  <a:gd name="T1" fmla="*/ 1376 h 1613"/>
                  <a:gd name="T2" fmla="*/ 1307 w 1815"/>
                  <a:gd name="T3" fmla="*/ 1397 h 1613"/>
                  <a:gd name="T4" fmla="*/ 1299 w 1815"/>
                  <a:gd name="T5" fmla="*/ 1365 h 1613"/>
                  <a:gd name="T6" fmla="*/ 1349 w 1815"/>
                  <a:gd name="T7" fmla="*/ 1256 h 1613"/>
                  <a:gd name="T8" fmla="*/ 1206 w 1815"/>
                  <a:gd name="T9" fmla="*/ 1280 h 1613"/>
                  <a:gd name="T10" fmla="*/ 1198 w 1815"/>
                  <a:gd name="T11" fmla="*/ 1248 h 1613"/>
                  <a:gd name="T12" fmla="*/ 1295 w 1815"/>
                  <a:gd name="T13" fmla="*/ 1128 h 1613"/>
                  <a:gd name="T14" fmla="*/ 1118 w 1815"/>
                  <a:gd name="T15" fmla="*/ 1155 h 1613"/>
                  <a:gd name="T16" fmla="*/ 1111 w 1815"/>
                  <a:gd name="T17" fmla="*/ 1122 h 1613"/>
                  <a:gd name="T18" fmla="*/ 1256 w 1815"/>
                  <a:gd name="T19" fmla="*/ 969 h 1613"/>
                  <a:gd name="T20" fmla="*/ 920 w 1815"/>
                  <a:gd name="T21" fmla="*/ 775 h 1613"/>
                  <a:gd name="T22" fmla="*/ 823 w 1815"/>
                  <a:gd name="T23" fmla="*/ 699 h 1613"/>
                  <a:gd name="T24" fmla="*/ 733 w 1815"/>
                  <a:gd name="T25" fmla="*/ 501 h 1613"/>
                  <a:gd name="T26" fmla="*/ 698 w 1815"/>
                  <a:gd name="T27" fmla="*/ 348 h 1613"/>
                  <a:gd name="T28" fmla="*/ 13 w 1815"/>
                  <a:gd name="T29" fmla="*/ 3 h 1613"/>
                  <a:gd name="T30" fmla="*/ 4 w 1815"/>
                  <a:gd name="T31" fmla="*/ 5 h 1613"/>
                  <a:gd name="T32" fmla="*/ 136 w 1815"/>
                  <a:gd name="T33" fmla="*/ 252 h 1613"/>
                  <a:gd name="T34" fmla="*/ 557 w 1815"/>
                  <a:gd name="T35" fmla="*/ 425 h 1613"/>
                  <a:gd name="T36" fmla="*/ 12 w 1815"/>
                  <a:gd name="T37" fmla="*/ 221 h 1613"/>
                  <a:gd name="T38" fmla="*/ 0 w 1815"/>
                  <a:gd name="T39" fmla="*/ 219 h 1613"/>
                  <a:gd name="T40" fmla="*/ 201 w 1815"/>
                  <a:gd name="T41" fmla="*/ 477 h 1613"/>
                  <a:gd name="T42" fmla="*/ 542 w 1815"/>
                  <a:gd name="T43" fmla="*/ 555 h 1613"/>
                  <a:gd name="T44" fmla="*/ 537 w 1815"/>
                  <a:gd name="T45" fmla="*/ 592 h 1613"/>
                  <a:gd name="T46" fmla="*/ 134 w 1815"/>
                  <a:gd name="T47" fmla="*/ 494 h 1613"/>
                  <a:gd name="T48" fmla="*/ 129 w 1815"/>
                  <a:gd name="T49" fmla="*/ 521 h 1613"/>
                  <a:gd name="T50" fmla="*/ 397 w 1815"/>
                  <a:gd name="T51" fmla="*/ 707 h 1613"/>
                  <a:gd name="T52" fmla="*/ 620 w 1815"/>
                  <a:gd name="T53" fmla="*/ 714 h 1613"/>
                  <a:gd name="T54" fmla="*/ 410 w 1815"/>
                  <a:gd name="T55" fmla="*/ 745 h 1613"/>
                  <a:gd name="T56" fmla="*/ 774 w 1815"/>
                  <a:gd name="T57" fmla="*/ 843 h 1613"/>
                  <a:gd name="T58" fmla="*/ 607 w 1815"/>
                  <a:gd name="T59" fmla="*/ 1041 h 1613"/>
                  <a:gd name="T60" fmla="*/ 618 w 1815"/>
                  <a:gd name="T61" fmla="*/ 1047 h 1613"/>
                  <a:gd name="T62" fmla="*/ 1392 w 1815"/>
                  <a:gd name="T63" fmla="*/ 1613 h 1613"/>
                  <a:gd name="T64" fmla="*/ 1815 w 1815"/>
                  <a:gd name="T65" fmla="*/ 1613 h 1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15" h="1613">
                    <a:moveTo>
                      <a:pt x="1515" y="1438"/>
                    </a:moveTo>
                    <a:cubicBezTo>
                      <a:pt x="1485" y="1422"/>
                      <a:pt x="1458" y="1400"/>
                      <a:pt x="1434" y="1376"/>
                    </a:cubicBezTo>
                    <a:cubicBezTo>
                      <a:pt x="1394" y="1379"/>
                      <a:pt x="1335" y="1385"/>
                      <a:pt x="1315" y="1396"/>
                    </a:cubicBezTo>
                    <a:cubicBezTo>
                      <a:pt x="1311" y="1397"/>
                      <a:pt x="1309" y="1397"/>
                      <a:pt x="1307" y="1397"/>
                    </a:cubicBezTo>
                    <a:cubicBezTo>
                      <a:pt x="1301" y="1397"/>
                      <a:pt x="1295" y="1394"/>
                      <a:pt x="1292" y="1388"/>
                    </a:cubicBezTo>
                    <a:cubicBezTo>
                      <a:pt x="1288" y="1380"/>
                      <a:pt x="1291" y="1370"/>
                      <a:pt x="1299" y="1365"/>
                    </a:cubicBezTo>
                    <a:cubicBezTo>
                      <a:pt x="1321" y="1354"/>
                      <a:pt x="1368" y="1348"/>
                      <a:pt x="1406" y="1344"/>
                    </a:cubicBezTo>
                    <a:cubicBezTo>
                      <a:pt x="1384" y="1317"/>
                      <a:pt x="1365" y="1286"/>
                      <a:pt x="1349" y="1256"/>
                    </a:cubicBezTo>
                    <a:cubicBezTo>
                      <a:pt x="1307" y="1257"/>
                      <a:pt x="1246" y="1262"/>
                      <a:pt x="1213" y="1279"/>
                    </a:cubicBezTo>
                    <a:cubicBezTo>
                      <a:pt x="1211" y="1279"/>
                      <a:pt x="1208" y="1280"/>
                      <a:pt x="1206" y="1280"/>
                    </a:cubicBezTo>
                    <a:cubicBezTo>
                      <a:pt x="1200" y="1280"/>
                      <a:pt x="1193" y="1277"/>
                      <a:pt x="1190" y="1271"/>
                    </a:cubicBezTo>
                    <a:cubicBezTo>
                      <a:pt x="1187" y="1262"/>
                      <a:pt x="1190" y="1253"/>
                      <a:pt x="1198" y="1248"/>
                    </a:cubicBezTo>
                    <a:cubicBezTo>
                      <a:pt x="1233" y="1231"/>
                      <a:pt x="1288" y="1225"/>
                      <a:pt x="1332" y="1223"/>
                    </a:cubicBezTo>
                    <a:cubicBezTo>
                      <a:pt x="1317" y="1190"/>
                      <a:pt x="1305" y="1159"/>
                      <a:pt x="1295" y="1128"/>
                    </a:cubicBezTo>
                    <a:cubicBezTo>
                      <a:pt x="1258" y="1126"/>
                      <a:pt x="1185" y="1127"/>
                      <a:pt x="1124" y="1154"/>
                    </a:cubicBezTo>
                    <a:cubicBezTo>
                      <a:pt x="1121" y="1154"/>
                      <a:pt x="1119" y="1155"/>
                      <a:pt x="1118" y="1155"/>
                    </a:cubicBezTo>
                    <a:cubicBezTo>
                      <a:pt x="1111" y="1155"/>
                      <a:pt x="1105" y="1151"/>
                      <a:pt x="1102" y="1144"/>
                    </a:cubicBezTo>
                    <a:cubicBezTo>
                      <a:pt x="1098" y="1135"/>
                      <a:pt x="1102" y="1125"/>
                      <a:pt x="1111" y="1122"/>
                    </a:cubicBezTo>
                    <a:cubicBezTo>
                      <a:pt x="1172" y="1096"/>
                      <a:pt x="1242" y="1092"/>
                      <a:pt x="1284" y="1094"/>
                    </a:cubicBezTo>
                    <a:cubicBezTo>
                      <a:pt x="1263" y="1024"/>
                      <a:pt x="1256" y="971"/>
                      <a:pt x="1256" y="969"/>
                    </a:cubicBezTo>
                    <a:cubicBezTo>
                      <a:pt x="1254" y="962"/>
                      <a:pt x="1249" y="956"/>
                      <a:pt x="1242" y="955"/>
                    </a:cubicBezTo>
                    <a:cubicBezTo>
                      <a:pt x="1090" y="930"/>
                      <a:pt x="973" y="828"/>
                      <a:pt x="920" y="775"/>
                    </a:cubicBezTo>
                    <a:cubicBezTo>
                      <a:pt x="893" y="747"/>
                      <a:pt x="862" y="723"/>
                      <a:pt x="829" y="702"/>
                    </a:cubicBezTo>
                    <a:cubicBezTo>
                      <a:pt x="827" y="701"/>
                      <a:pt x="825" y="700"/>
                      <a:pt x="823" y="699"/>
                    </a:cubicBezTo>
                    <a:cubicBezTo>
                      <a:pt x="793" y="680"/>
                      <a:pt x="766" y="659"/>
                      <a:pt x="747" y="629"/>
                    </a:cubicBezTo>
                    <a:cubicBezTo>
                      <a:pt x="720" y="589"/>
                      <a:pt x="711" y="547"/>
                      <a:pt x="733" y="501"/>
                    </a:cubicBezTo>
                    <a:cubicBezTo>
                      <a:pt x="737" y="491"/>
                      <a:pt x="740" y="480"/>
                      <a:pt x="743" y="469"/>
                    </a:cubicBezTo>
                    <a:cubicBezTo>
                      <a:pt x="754" y="419"/>
                      <a:pt x="740" y="377"/>
                      <a:pt x="698" y="348"/>
                    </a:cubicBezTo>
                    <a:cubicBezTo>
                      <a:pt x="676" y="333"/>
                      <a:pt x="652" y="321"/>
                      <a:pt x="627" y="312"/>
                    </a:cubicBezTo>
                    <a:cubicBezTo>
                      <a:pt x="410" y="232"/>
                      <a:pt x="206" y="128"/>
                      <a:pt x="13" y="3"/>
                    </a:cubicBezTo>
                    <a:cubicBezTo>
                      <a:pt x="11" y="1"/>
                      <a:pt x="9" y="1"/>
                      <a:pt x="7" y="0"/>
                    </a:cubicBezTo>
                    <a:cubicBezTo>
                      <a:pt x="6" y="2"/>
                      <a:pt x="5" y="4"/>
                      <a:pt x="4" y="5"/>
                    </a:cubicBezTo>
                    <a:cubicBezTo>
                      <a:pt x="4" y="8"/>
                      <a:pt x="3" y="11"/>
                      <a:pt x="3" y="14"/>
                    </a:cubicBezTo>
                    <a:cubicBezTo>
                      <a:pt x="5" y="117"/>
                      <a:pt x="42" y="202"/>
                      <a:pt x="136" y="252"/>
                    </a:cubicBezTo>
                    <a:cubicBezTo>
                      <a:pt x="262" y="319"/>
                      <a:pt x="395" y="368"/>
                      <a:pt x="535" y="401"/>
                    </a:cubicBezTo>
                    <a:cubicBezTo>
                      <a:pt x="548" y="404"/>
                      <a:pt x="560" y="408"/>
                      <a:pt x="557" y="425"/>
                    </a:cubicBezTo>
                    <a:cubicBezTo>
                      <a:pt x="553" y="441"/>
                      <a:pt x="541" y="440"/>
                      <a:pt x="527" y="437"/>
                    </a:cubicBezTo>
                    <a:cubicBezTo>
                      <a:pt x="344" y="392"/>
                      <a:pt x="170" y="325"/>
                      <a:pt x="12" y="221"/>
                    </a:cubicBezTo>
                    <a:cubicBezTo>
                      <a:pt x="9" y="219"/>
                      <a:pt x="6" y="218"/>
                      <a:pt x="3" y="216"/>
                    </a:cubicBezTo>
                    <a:cubicBezTo>
                      <a:pt x="2" y="218"/>
                      <a:pt x="2" y="218"/>
                      <a:pt x="0" y="219"/>
                    </a:cubicBezTo>
                    <a:cubicBezTo>
                      <a:pt x="10" y="249"/>
                      <a:pt x="18" y="280"/>
                      <a:pt x="31" y="309"/>
                    </a:cubicBezTo>
                    <a:cubicBezTo>
                      <a:pt x="66" y="386"/>
                      <a:pt x="117" y="450"/>
                      <a:pt x="201" y="477"/>
                    </a:cubicBezTo>
                    <a:cubicBezTo>
                      <a:pt x="271" y="500"/>
                      <a:pt x="344" y="518"/>
                      <a:pt x="416" y="535"/>
                    </a:cubicBezTo>
                    <a:cubicBezTo>
                      <a:pt x="457" y="545"/>
                      <a:pt x="500" y="549"/>
                      <a:pt x="542" y="555"/>
                    </a:cubicBezTo>
                    <a:cubicBezTo>
                      <a:pt x="553" y="557"/>
                      <a:pt x="561" y="563"/>
                      <a:pt x="560" y="575"/>
                    </a:cubicBezTo>
                    <a:cubicBezTo>
                      <a:pt x="558" y="589"/>
                      <a:pt x="549" y="593"/>
                      <a:pt x="537" y="592"/>
                    </a:cubicBezTo>
                    <a:cubicBezTo>
                      <a:pt x="535" y="592"/>
                      <a:pt x="532" y="591"/>
                      <a:pt x="530" y="591"/>
                    </a:cubicBezTo>
                    <a:cubicBezTo>
                      <a:pt x="394" y="574"/>
                      <a:pt x="262" y="541"/>
                      <a:pt x="134" y="494"/>
                    </a:cubicBezTo>
                    <a:cubicBezTo>
                      <a:pt x="128" y="492"/>
                      <a:pt x="123" y="490"/>
                      <a:pt x="113" y="487"/>
                    </a:cubicBezTo>
                    <a:cubicBezTo>
                      <a:pt x="120" y="501"/>
                      <a:pt x="123" y="512"/>
                      <a:pt x="129" y="521"/>
                    </a:cubicBezTo>
                    <a:cubicBezTo>
                      <a:pt x="162" y="579"/>
                      <a:pt x="206" y="627"/>
                      <a:pt x="261" y="665"/>
                    </a:cubicBezTo>
                    <a:cubicBezTo>
                      <a:pt x="302" y="693"/>
                      <a:pt x="347" y="709"/>
                      <a:pt x="397" y="707"/>
                    </a:cubicBezTo>
                    <a:cubicBezTo>
                      <a:pt x="463" y="704"/>
                      <a:pt x="528" y="701"/>
                      <a:pt x="594" y="698"/>
                    </a:cubicBezTo>
                    <a:cubicBezTo>
                      <a:pt x="607" y="697"/>
                      <a:pt x="619" y="698"/>
                      <a:pt x="620" y="714"/>
                    </a:cubicBezTo>
                    <a:cubicBezTo>
                      <a:pt x="621" y="729"/>
                      <a:pt x="611" y="734"/>
                      <a:pt x="597" y="734"/>
                    </a:cubicBezTo>
                    <a:cubicBezTo>
                      <a:pt x="535" y="738"/>
                      <a:pt x="472" y="741"/>
                      <a:pt x="410" y="745"/>
                    </a:cubicBezTo>
                    <a:cubicBezTo>
                      <a:pt x="406" y="745"/>
                      <a:pt x="402" y="746"/>
                      <a:pt x="395" y="746"/>
                    </a:cubicBezTo>
                    <a:cubicBezTo>
                      <a:pt x="491" y="867"/>
                      <a:pt x="635" y="881"/>
                      <a:pt x="774" y="843"/>
                    </a:cubicBezTo>
                    <a:cubicBezTo>
                      <a:pt x="782" y="837"/>
                      <a:pt x="782" y="837"/>
                      <a:pt x="782" y="837"/>
                    </a:cubicBezTo>
                    <a:cubicBezTo>
                      <a:pt x="686" y="948"/>
                      <a:pt x="634" y="1009"/>
                      <a:pt x="607" y="1041"/>
                    </a:cubicBezTo>
                    <a:cubicBezTo>
                      <a:pt x="610" y="1043"/>
                      <a:pt x="614" y="1044"/>
                      <a:pt x="617" y="1046"/>
                    </a:cubicBezTo>
                    <a:cubicBezTo>
                      <a:pt x="618" y="1047"/>
                      <a:pt x="618" y="1047"/>
                      <a:pt x="618" y="1047"/>
                    </a:cubicBezTo>
                    <a:cubicBezTo>
                      <a:pt x="1379" y="1608"/>
                      <a:pt x="1379" y="1608"/>
                      <a:pt x="1379" y="1608"/>
                    </a:cubicBezTo>
                    <a:cubicBezTo>
                      <a:pt x="1383" y="1611"/>
                      <a:pt x="1388" y="1613"/>
                      <a:pt x="1392" y="1613"/>
                    </a:cubicBezTo>
                    <a:cubicBezTo>
                      <a:pt x="1810" y="1613"/>
                      <a:pt x="1810" y="1613"/>
                      <a:pt x="1810" y="1613"/>
                    </a:cubicBezTo>
                    <a:cubicBezTo>
                      <a:pt x="1812" y="1613"/>
                      <a:pt x="1813" y="1613"/>
                      <a:pt x="1815" y="1613"/>
                    </a:cubicBezTo>
                    <a:cubicBezTo>
                      <a:pt x="1761" y="1487"/>
                      <a:pt x="1544" y="1443"/>
                      <a:pt x="1515" y="1438"/>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ctr" anchorCtr="0" compatLnSpc="1">
                <a:prstTxWarp prst="textNoShape">
                  <a:avLst/>
                </a:prstTxWarp>
              </a:bodyPr>
              <a:lstStyle/>
              <a:p>
                <a:endParaRPr lang="en-US" sz="1559">
                  <a:ea typeface="Microsoft YaHei" panose="020B0503020204020204" pitchFamily="34" charset="-122"/>
                  <a:sym typeface="+mn-lt"/>
                </a:endParaRPr>
              </a:p>
            </p:txBody>
          </p:sp>
        </p:grpSp>
      </p:grpSp>
      <p:grpSp>
        <p:nvGrpSpPr>
          <p:cNvPr id="146" name="Group 145">
            <a:extLst>
              <a:ext uri="{FF2B5EF4-FFF2-40B4-BE49-F238E27FC236}">
                <a16:creationId xmlns:a16="http://schemas.microsoft.com/office/drawing/2014/main" id="{08483CAB-5657-4D9B-8129-5E18943065F9}"/>
              </a:ext>
            </a:extLst>
          </p:cNvPr>
          <p:cNvGrpSpPr>
            <a:grpSpLocks/>
          </p:cNvGrpSpPr>
          <p:nvPr/>
        </p:nvGrpSpPr>
        <p:grpSpPr>
          <a:xfrm>
            <a:off x="630000" y="4830407"/>
            <a:ext cx="365760" cy="365760"/>
            <a:chOff x="6464300" y="2606675"/>
            <a:chExt cx="1646238" cy="1644650"/>
          </a:xfrm>
        </p:grpSpPr>
        <p:sp>
          <p:nvSpPr>
            <p:cNvPr id="240" name="AutoShape 14">
              <a:extLst>
                <a:ext uri="{FF2B5EF4-FFF2-40B4-BE49-F238E27FC236}">
                  <a16:creationId xmlns:a16="http://schemas.microsoft.com/office/drawing/2014/main" id="{95BF5858-ECAF-4491-874F-ED7A7DA4163B}"/>
                </a:ext>
              </a:extLst>
            </p:cNvPr>
            <p:cNvSpPr>
              <a:spLocks noChangeAspect="1" noChangeArrowheads="1" noTextEdit="1"/>
            </p:cNvSpPr>
            <p:nvPr/>
          </p:nvSpPr>
          <p:spPr bwMode="auto">
            <a:xfrm>
              <a:off x="6464300"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grpSp>
          <p:nvGrpSpPr>
            <p:cNvPr id="241" name="Group 240">
              <a:extLst>
                <a:ext uri="{FF2B5EF4-FFF2-40B4-BE49-F238E27FC236}">
                  <a16:creationId xmlns:a16="http://schemas.microsoft.com/office/drawing/2014/main" id="{D18D18BF-502F-4967-B183-9818B72ABD56}"/>
                </a:ext>
              </a:extLst>
            </p:cNvPr>
            <p:cNvGrpSpPr/>
            <p:nvPr/>
          </p:nvGrpSpPr>
          <p:grpSpPr>
            <a:xfrm>
              <a:off x="6705513" y="2849420"/>
              <a:ext cx="1162224" cy="1160746"/>
              <a:chOff x="6705513" y="2849420"/>
              <a:chExt cx="1162224" cy="1160746"/>
            </a:xfrm>
          </p:grpSpPr>
          <p:sp>
            <p:nvSpPr>
              <p:cNvPr id="242" name="Freeform 9">
                <a:extLst>
                  <a:ext uri="{FF2B5EF4-FFF2-40B4-BE49-F238E27FC236}">
                    <a16:creationId xmlns:a16="http://schemas.microsoft.com/office/drawing/2014/main" id="{FCAF82BD-9930-4752-9E80-5522B50E576B}"/>
                  </a:ext>
                </a:extLst>
              </p:cNvPr>
              <p:cNvSpPr>
                <a:spLocks/>
              </p:cNvSpPr>
              <p:nvPr/>
            </p:nvSpPr>
            <p:spPr bwMode="auto">
              <a:xfrm>
                <a:off x="6705513" y="2852632"/>
                <a:ext cx="1159037" cy="1157513"/>
              </a:xfrm>
              <a:custGeom>
                <a:avLst/>
                <a:gdLst>
                  <a:gd name="connsiteX0" fmla="*/ 210432 w 1159037"/>
                  <a:gd name="connsiteY0" fmla="*/ 1043093 h 1157513"/>
                  <a:gd name="connsiteX1" fmla="*/ 225514 w 1159037"/>
                  <a:gd name="connsiteY1" fmla="*/ 1058175 h 1157513"/>
                  <a:gd name="connsiteX2" fmla="*/ 210432 w 1159037"/>
                  <a:gd name="connsiteY2" fmla="*/ 1073257 h 1157513"/>
                  <a:gd name="connsiteX3" fmla="*/ 195350 w 1159037"/>
                  <a:gd name="connsiteY3" fmla="*/ 1058175 h 1157513"/>
                  <a:gd name="connsiteX4" fmla="*/ 210432 w 1159037"/>
                  <a:gd name="connsiteY4" fmla="*/ 1043093 h 1157513"/>
                  <a:gd name="connsiteX5" fmla="*/ 153607 w 1159037"/>
                  <a:gd name="connsiteY5" fmla="*/ 817668 h 1157513"/>
                  <a:gd name="connsiteX6" fmla="*/ 268843 w 1159037"/>
                  <a:gd name="connsiteY6" fmla="*/ 817668 h 1157513"/>
                  <a:gd name="connsiteX7" fmla="*/ 273137 w 1159037"/>
                  <a:gd name="connsiteY7" fmla="*/ 822659 h 1157513"/>
                  <a:gd name="connsiteX8" fmla="*/ 273137 w 1159037"/>
                  <a:gd name="connsiteY8" fmla="*/ 1016590 h 1157513"/>
                  <a:gd name="connsiteX9" fmla="*/ 268843 w 1159037"/>
                  <a:gd name="connsiteY9" fmla="*/ 1020868 h 1157513"/>
                  <a:gd name="connsiteX10" fmla="*/ 153607 w 1159037"/>
                  <a:gd name="connsiteY10" fmla="*/ 1020868 h 1157513"/>
                  <a:gd name="connsiteX11" fmla="*/ 149312 w 1159037"/>
                  <a:gd name="connsiteY11" fmla="*/ 1016590 h 1157513"/>
                  <a:gd name="connsiteX12" fmla="*/ 149312 w 1159037"/>
                  <a:gd name="connsiteY12" fmla="*/ 822659 h 1157513"/>
                  <a:gd name="connsiteX13" fmla="*/ 153607 w 1159037"/>
                  <a:gd name="connsiteY13" fmla="*/ 817668 h 1157513"/>
                  <a:gd name="connsiteX14" fmla="*/ 139397 w 1159037"/>
                  <a:gd name="connsiteY14" fmla="*/ 797031 h 1157513"/>
                  <a:gd name="connsiteX15" fmla="*/ 128676 w 1159037"/>
                  <a:gd name="connsiteY15" fmla="*/ 807710 h 1157513"/>
                  <a:gd name="connsiteX16" fmla="*/ 128676 w 1159037"/>
                  <a:gd name="connsiteY16" fmla="*/ 1083216 h 1157513"/>
                  <a:gd name="connsiteX17" fmla="*/ 139397 w 1159037"/>
                  <a:gd name="connsiteY17" fmla="*/ 1093894 h 1157513"/>
                  <a:gd name="connsiteX18" fmla="*/ 283055 w 1159037"/>
                  <a:gd name="connsiteY18" fmla="*/ 1093894 h 1157513"/>
                  <a:gd name="connsiteX19" fmla="*/ 293776 w 1159037"/>
                  <a:gd name="connsiteY19" fmla="*/ 1083216 h 1157513"/>
                  <a:gd name="connsiteX20" fmla="*/ 293776 w 1159037"/>
                  <a:gd name="connsiteY20" fmla="*/ 807710 h 1157513"/>
                  <a:gd name="connsiteX21" fmla="*/ 283055 w 1159037"/>
                  <a:gd name="connsiteY21" fmla="*/ 797031 h 1157513"/>
                  <a:gd name="connsiteX22" fmla="*/ 139397 w 1159037"/>
                  <a:gd name="connsiteY22" fmla="*/ 797031 h 1157513"/>
                  <a:gd name="connsiteX23" fmla="*/ 508450 w 1159037"/>
                  <a:gd name="connsiteY23" fmla="*/ 634945 h 1157513"/>
                  <a:gd name="connsiteX24" fmla="*/ 519797 w 1159037"/>
                  <a:gd name="connsiteY24" fmla="*/ 639227 h 1157513"/>
                  <a:gd name="connsiteX25" fmla="*/ 581265 w 1159037"/>
                  <a:gd name="connsiteY25" fmla="*/ 664919 h 1157513"/>
                  <a:gd name="connsiteX26" fmla="*/ 596989 w 1159037"/>
                  <a:gd name="connsiteY26" fmla="*/ 680619 h 1157513"/>
                  <a:gd name="connsiteX27" fmla="*/ 581265 w 1159037"/>
                  <a:gd name="connsiteY27" fmla="*/ 696319 h 1157513"/>
                  <a:gd name="connsiteX28" fmla="*/ 509076 w 1159037"/>
                  <a:gd name="connsiteY28" fmla="*/ 672055 h 1157513"/>
                  <a:gd name="connsiteX29" fmla="*/ 371130 w 1159037"/>
                  <a:gd name="connsiteY29" fmla="*/ 809789 h 1157513"/>
                  <a:gd name="connsiteX30" fmla="*/ 360409 w 1159037"/>
                  <a:gd name="connsiteY30" fmla="*/ 1095962 h 1157513"/>
                  <a:gd name="connsiteX31" fmla="*/ 61647 w 1159037"/>
                  <a:gd name="connsiteY31" fmla="*/ 1095962 h 1157513"/>
                  <a:gd name="connsiteX32" fmla="*/ 61647 w 1159037"/>
                  <a:gd name="connsiteY32" fmla="*/ 797657 h 1157513"/>
                  <a:gd name="connsiteX33" fmla="*/ 348973 w 1159037"/>
                  <a:gd name="connsiteY33" fmla="*/ 787666 h 1157513"/>
                  <a:gd name="connsiteX34" fmla="*/ 497640 w 1159037"/>
                  <a:gd name="connsiteY34" fmla="*/ 639227 h 1157513"/>
                  <a:gd name="connsiteX35" fmla="*/ 508450 w 1159037"/>
                  <a:gd name="connsiteY35" fmla="*/ 634945 h 1157513"/>
                  <a:gd name="connsiteX36" fmla="*/ 581112 w 1159037"/>
                  <a:gd name="connsiteY36" fmla="*/ 530331 h 1157513"/>
                  <a:gd name="connsiteX37" fmla="*/ 628737 w 1159037"/>
                  <a:gd name="connsiteY37" fmla="*/ 577163 h 1157513"/>
                  <a:gd name="connsiteX38" fmla="*/ 581112 w 1159037"/>
                  <a:gd name="connsiteY38" fmla="*/ 623995 h 1157513"/>
                  <a:gd name="connsiteX39" fmla="*/ 533487 w 1159037"/>
                  <a:gd name="connsiteY39" fmla="*/ 577163 h 1157513"/>
                  <a:gd name="connsiteX40" fmla="*/ 581112 w 1159037"/>
                  <a:gd name="connsiteY40" fmla="*/ 530331 h 1157513"/>
                  <a:gd name="connsiteX41" fmla="*/ 947825 w 1159037"/>
                  <a:gd name="connsiteY41" fmla="*/ 189018 h 1157513"/>
                  <a:gd name="connsiteX42" fmla="*/ 927187 w 1159037"/>
                  <a:gd name="connsiteY42" fmla="*/ 209656 h 1157513"/>
                  <a:gd name="connsiteX43" fmla="*/ 947825 w 1159037"/>
                  <a:gd name="connsiteY43" fmla="*/ 230294 h 1157513"/>
                  <a:gd name="connsiteX44" fmla="*/ 968463 w 1159037"/>
                  <a:gd name="connsiteY44" fmla="*/ 209656 h 1157513"/>
                  <a:gd name="connsiteX45" fmla="*/ 947825 w 1159037"/>
                  <a:gd name="connsiteY45" fmla="*/ 189018 h 1157513"/>
                  <a:gd name="connsiteX46" fmla="*/ 992489 w 1159037"/>
                  <a:gd name="connsiteY46" fmla="*/ 157102 h 1157513"/>
                  <a:gd name="connsiteX47" fmla="*/ 981848 w 1159037"/>
                  <a:gd name="connsiteY47" fmla="*/ 161363 h 1157513"/>
                  <a:gd name="connsiteX48" fmla="*/ 981144 w 1159037"/>
                  <a:gd name="connsiteY48" fmla="*/ 183379 h 1157513"/>
                  <a:gd name="connsiteX49" fmla="*/ 980441 w 1159037"/>
                  <a:gd name="connsiteY49" fmla="*/ 238064 h 1157513"/>
                  <a:gd name="connsiteX50" fmla="*/ 982551 w 1159037"/>
                  <a:gd name="connsiteY50" fmla="*/ 260080 h 1157513"/>
                  <a:gd name="connsiteX51" fmla="*/ 992401 w 1159037"/>
                  <a:gd name="connsiteY51" fmla="*/ 263631 h 1157513"/>
                  <a:gd name="connsiteX52" fmla="*/ 1004362 w 1159037"/>
                  <a:gd name="connsiteY52" fmla="*/ 257239 h 1157513"/>
                  <a:gd name="connsiteX53" fmla="*/ 1003658 w 1159037"/>
                  <a:gd name="connsiteY53" fmla="*/ 161363 h 1157513"/>
                  <a:gd name="connsiteX54" fmla="*/ 992489 w 1159037"/>
                  <a:gd name="connsiteY54" fmla="*/ 157102 h 1157513"/>
                  <a:gd name="connsiteX55" fmla="*/ 903337 w 1159037"/>
                  <a:gd name="connsiteY55" fmla="*/ 157102 h 1157513"/>
                  <a:gd name="connsiteX56" fmla="*/ 892696 w 1159037"/>
                  <a:gd name="connsiteY56" fmla="*/ 161363 h 1157513"/>
                  <a:gd name="connsiteX57" fmla="*/ 891289 w 1159037"/>
                  <a:gd name="connsiteY57" fmla="*/ 257239 h 1157513"/>
                  <a:gd name="connsiteX58" fmla="*/ 903249 w 1159037"/>
                  <a:gd name="connsiteY58" fmla="*/ 263631 h 1157513"/>
                  <a:gd name="connsiteX59" fmla="*/ 913099 w 1159037"/>
                  <a:gd name="connsiteY59" fmla="*/ 260080 h 1157513"/>
                  <a:gd name="connsiteX60" fmla="*/ 915913 w 1159037"/>
                  <a:gd name="connsiteY60" fmla="*/ 238064 h 1157513"/>
                  <a:gd name="connsiteX61" fmla="*/ 914506 w 1159037"/>
                  <a:gd name="connsiteY61" fmla="*/ 183379 h 1157513"/>
                  <a:gd name="connsiteX62" fmla="*/ 914506 w 1159037"/>
                  <a:gd name="connsiteY62" fmla="*/ 161363 h 1157513"/>
                  <a:gd name="connsiteX63" fmla="*/ 903337 w 1159037"/>
                  <a:gd name="connsiteY63" fmla="*/ 157102 h 1157513"/>
                  <a:gd name="connsiteX64" fmla="*/ 1028876 w 1159037"/>
                  <a:gd name="connsiteY64" fmla="*/ 125443 h 1157513"/>
                  <a:gd name="connsiteX65" fmla="*/ 1017675 w 1159037"/>
                  <a:gd name="connsiteY65" fmla="*/ 129622 h 1157513"/>
                  <a:gd name="connsiteX66" fmla="*/ 1017675 w 1159037"/>
                  <a:gd name="connsiteY66" fmla="*/ 152388 h 1157513"/>
                  <a:gd name="connsiteX67" fmla="*/ 1016264 w 1159037"/>
                  <a:gd name="connsiteY67" fmla="*/ 270482 h 1157513"/>
                  <a:gd name="connsiteX68" fmla="*/ 1019086 w 1159037"/>
                  <a:gd name="connsiteY68" fmla="*/ 292535 h 1157513"/>
                  <a:gd name="connsiteX69" fmla="*/ 1028964 w 1159037"/>
                  <a:gd name="connsiteY69" fmla="*/ 295381 h 1157513"/>
                  <a:gd name="connsiteX70" fmla="*/ 1040959 w 1159037"/>
                  <a:gd name="connsiteY70" fmla="*/ 289690 h 1157513"/>
                  <a:gd name="connsiteX71" fmla="*/ 1039547 w 1159037"/>
                  <a:gd name="connsiteY71" fmla="*/ 130334 h 1157513"/>
                  <a:gd name="connsiteX72" fmla="*/ 1028876 w 1159037"/>
                  <a:gd name="connsiteY72" fmla="*/ 125443 h 1157513"/>
                  <a:gd name="connsiteX73" fmla="*/ 867306 w 1159037"/>
                  <a:gd name="connsiteY73" fmla="*/ 125443 h 1157513"/>
                  <a:gd name="connsiteX74" fmla="*/ 856429 w 1159037"/>
                  <a:gd name="connsiteY74" fmla="*/ 130334 h 1157513"/>
                  <a:gd name="connsiteX75" fmla="*/ 854991 w 1159037"/>
                  <a:gd name="connsiteY75" fmla="*/ 289690 h 1157513"/>
                  <a:gd name="connsiteX76" fmla="*/ 867935 w 1159037"/>
                  <a:gd name="connsiteY76" fmla="*/ 295381 h 1157513"/>
                  <a:gd name="connsiteX77" fmla="*/ 877284 w 1159037"/>
                  <a:gd name="connsiteY77" fmla="*/ 292535 h 1157513"/>
                  <a:gd name="connsiteX78" fmla="*/ 880160 w 1159037"/>
                  <a:gd name="connsiteY78" fmla="*/ 270482 h 1157513"/>
                  <a:gd name="connsiteX79" fmla="*/ 879441 w 1159037"/>
                  <a:gd name="connsiteY79" fmla="*/ 152388 h 1157513"/>
                  <a:gd name="connsiteX80" fmla="*/ 878722 w 1159037"/>
                  <a:gd name="connsiteY80" fmla="*/ 129622 h 1157513"/>
                  <a:gd name="connsiteX81" fmla="*/ 867306 w 1159037"/>
                  <a:gd name="connsiteY81" fmla="*/ 125443 h 1157513"/>
                  <a:gd name="connsiteX82" fmla="*/ 1064232 w 1159037"/>
                  <a:gd name="connsiteY82" fmla="*/ 92202 h 1157513"/>
                  <a:gd name="connsiteX83" fmla="*/ 1052756 w 1159037"/>
                  <a:gd name="connsiteY83" fmla="*/ 97029 h 1157513"/>
                  <a:gd name="connsiteX84" fmla="*/ 1052756 w 1159037"/>
                  <a:gd name="connsiteY84" fmla="*/ 119197 h 1157513"/>
                  <a:gd name="connsiteX85" fmla="*/ 1082394 w 1159037"/>
                  <a:gd name="connsiteY85" fmla="*/ 172113 h 1157513"/>
                  <a:gd name="connsiteX86" fmla="*/ 1051310 w 1159037"/>
                  <a:gd name="connsiteY86" fmla="*/ 303690 h 1157513"/>
                  <a:gd name="connsiteX87" fmla="*/ 1054202 w 1159037"/>
                  <a:gd name="connsiteY87" fmla="*/ 325858 h 1157513"/>
                  <a:gd name="connsiteX88" fmla="*/ 1064322 w 1159037"/>
                  <a:gd name="connsiteY88" fmla="*/ 328718 h 1157513"/>
                  <a:gd name="connsiteX89" fmla="*/ 1076611 w 1159037"/>
                  <a:gd name="connsiteY89" fmla="*/ 322997 h 1157513"/>
                  <a:gd name="connsiteX90" fmla="*/ 1113478 w 1159037"/>
                  <a:gd name="connsiteY90" fmla="*/ 162817 h 1157513"/>
                  <a:gd name="connsiteX91" fmla="*/ 1075166 w 1159037"/>
                  <a:gd name="connsiteY91" fmla="*/ 97029 h 1157513"/>
                  <a:gd name="connsiteX92" fmla="*/ 1064232 w 1159037"/>
                  <a:gd name="connsiteY92" fmla="*/ 92202 h 1157513"/>
                  <a:gd name="connsiteX93" fmla="*/ 832198 w 1159037"/>
                  <a:gd name="connsiteY93" fmla="*/ 92202 h 1157513"/>
                  <a:gd name="connsiteX94" fmla="*/ 820879 w 1159037"/>
                  <a:gd name="connsiteY94" fmla="*/ 97029 h 1157513"/>
                  <a:gd name="connsiteX95" fmla="*/ 783801 w 1159037"/>
                  <a:gd name="connsiteY95" fmla="*/ 162817 h 1157513"/>
                  <a:gd name="connsiteX96" fmla="*/ 817314 w 1159037"/>
                  <a:gd name="connsiteY96" fmla="*/ 320137 h 1157513"/>
                  <a:gd name="connsiteX97" fmla="*/ 819453 w 1159037"/>
                  <a:gd name="connsiteY97" fmla="*/ 322997 h 1157513"/>
                  <a:gd name="connsiteX98" fmla="*/ 832287 w 1159037"/>
                  <a:gd name="connsiteY98" fmla="*/ 328718 h 1157513"/>
                  <a:gd name="connsiteX99" fmla="*/ 841557 w 1159037"/>
                  <a:gd name="connsiteY99" fmla="*/ 325858 h 1157513"/>
                  <a:gd name="connsiteX100" fmla="*/ 847261 w 1159037"/>
                  <a:gd name="connsiteY100" fmla="*/ 308696 h 1157513"/>
                  <a:gd name="connsiteX101" fmla="*/ 844409 w 1159037"/>
                  <a:gd name="connsiteY101" fmla="*/ 303690 h 1157513"/>
                  <a:gd name="connsiteX102" fmla="*/ 842983 w 1159037"/>
                  <a:gd name="connsiteY102" fmla="*/ 119197 h 1157513"/>
                  <a:gd name="connsiteX103" fmla="*/ 842983 w 1159037"/>
                  <a:gd name="connsiteY103" fmla="*/ 97029 h 1157513"/>
                  <a:gd name="connsiteX104" fmla="*/ 832198 w 1159037"/>
                  <a:gd name="connsiteY104" fmla="*/ 92202 h 1157513"/>
                  <a:gd name="connsiteX105" fmla="*/ 948141 w 1159037"/>
                  <a:gd name="connsiteY105" fmla="*/ 0 h 1157513"/>
                  <a:gd name="connsiteX106" fmla="*/ 1097351 w 1159037"/>
                  <a:gd name="connsiteY106" fmla="*/ 61597 h 1157513"/>
                  <a:gd name="connsiteX107" fmla="*/ 1097351 w 1159037"/>
                  <a:gd name="connsiteY107" fmla="*/ 360119 h 1157513"/>
                  <a:gd name="connsiteX108" fmla="*/ 810553 w 1159037"/>
                  <a:gd name="connsiteY108" fmla="*/ 370831 h 1157513"/>
                  <a:gd name="connsiteX109" fmla="*/ 664651 w 1159037"/>
                  <a:gd name="connsiteY109" fmla="*/ 516521 h 1157513"/>
                  <a:gd name="connsiteX110" fmla="*/ 653923 w 1159037"/>
                  <a:gd name="connsiteY110" fmla="*/ 520806 h 1157513"/>
                  <a:gd name="connsiteX111" fmla="*/ 642480 w 1159037"/>
                  <a:gd name="connsiteY111" fmla="*/ 516521 h 1157513"/>
                  <a:gd name="connsiteX112" fmla="*/ 580972 w 1159037"/>
                  <a:gd name="connsiteY112" fmla="*/ 490811 h 1157513"/>
                  <a:gd name="connsiteX113" fmla="*/ 565237 w 1159037"/>
                  <a:gd name="connsiteY113" fmla="*/ 475100 h 1157513"/>
                  <a:gd name="connsiteX114" fmla="*/ 580972 w 1159037"/>
                  <a:gd name="connsiteY114" fmla="*/ 459388 h 1157513"/>
                  <a:gd name="connsiteX115" fmla="*/ 653208 w 1159037"/>
                  <a:gd name="connsiteY115" fmla="*/ 483669 h 1157513"/>
                  <a:gd name="connsiteX116" fmla="*/ 788382 w 1159037"/>
                  <a:gd name="connsiteY116" fmla="*/ 348692 h 1157513"/>
                  <a:gd name="connsiteX117" fmla="*/ 798395 w 1159037"/>
                  <a:gd name="connsiteY117" fmla="*/ 61597 h 1157513"/>
                  <a:gd name="connsiteX118" fmla="*/ 948141 w 1159037"/>
                  <a:gd name="connsiteY118" fmla="*/ 0 h 1157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1159037" h="1157513">
                    <a:moveTo>
                      <a:pt x="210432" y="1043093"/>
                    </a:moveTo>
                    <a:cubicBezTo>
                      <a:pt x="218762" y="1043093"/>
                      <a:pt x="225514" y="1049845"/>
                      <a:pt x="225514" y="1058175"/>
                    </a:cubicBezTo>
                    <a:cubicBezTo>
                      <a:pt x="225514" y="1066505"/>
                      <a:pt x="218762" y="1073257"/>
                      <a:pt x="210432" y="1073257"/>
                    </a:cubicBezTo>
                    <a:cubicBezTo>
                      <a:pt x="202102" y="1073257"/>
                      <a:pt x="195350" y="1066505"/>
                      <a:pt x="195350" y="1058175"/>
                    </a:cubicBezTo>
                    <a:cubicBezTo>
                      <a:pt x="195350" y="1049845"/>
                      <a:pt x="202102" y="1043093"/>
                      <a:pt x="210432" y="1043093"/>
                    </a:cubicBezTo>
                    <a:close/>
                    <a:moveTo>
                      <a:pt x="153607" y="817668"/>
                    </a:moveTo>
                    <a:cubicBezTo>
                      <a:pt x="153607" y="817668"/>
                      <a:pt x="153607" y="817668"/>
                      <a:pt x="268843" y="817668"/>
                    </a:cubicBezTo>
                    <a:cubicBezTo>
                      <a:pt x="270990" y="817668"/>
                      <a:pt x="273137" y="819807"/>
                      <a:pt x="273137" y="822659"/>
                    </a:cubicBezTo>
                    <a:cubicBezTo>
                      <a:pt x="273137" y="822659"/>
                      <a:pt x="273137" y="822659"/>
                      <a:pt x="273137" y="1016590"/>
                    </a:cubicBezTo>
                    <a:cubicBezTo>
                      <a:pt x="273137" y="1018729"/>
                      <a:pt x="270990" y="1020868"/>
                      <a:pt x="268843" y="1020868"/>
                    </a:cubicBezTo>
                    <a:cubicBezTo>
                      <a:pt x="268843" y="1020868"/>
                      <a:pt x="268843" y="1020868"/>
                      <a:pt x="153607" y="1020868"/>
                    </a:cubicBezTo>
                    <a:cubicBezTo>
                      <a:pt x="151460" y="1020868"/>
                      <a:pt x="149312" y="1018729"/>
                      <a:pt x="149312" y="1016590"/>
                    </a:cubicBezTo>
                    <a:cubicBezTo>
                      <a:pt x="149312" y="1016590"/>
                      <a:pt x="149312" y="1016590"/>
                      <a:pt x="149312" y="822659"/>
                    </a:cubicBezTo>
                    <a:cubicBezTo>
                      <a:pt x="149312" y="819807"/>
                      <a:pt x="151460" y="817668"/>
                      <a:pt x="153607" y="817668"/>
                    </a:cubicBezTo>
                    <a:close/>
                    <a:moveTo>
                      <a:pt x="139397" y="797031"/>
                    </a:moveTo>
                    <a:cubicBezTo>
                      <a:pt x="133679" y="797031"/>
                      <a:pt x="128676" y="802014"/>
                      <a:pt x="128676" y="807710"/>
                    </a:cubicBezTo>
                    <a:cubicBezTo>
                      <a:pt x="128676" y="807710"/>
                      <a:pt x="128676" y="807710"/>
                      <a:pt x="128676" y="1083216"/>
                    </a:cubicBezTo>
                    <a:cubicBezTo>
                      <a:pt x="128676" y="1089623"/>
                      <a:pt x="133679" y="1093894"/>
                      <a:pt x="139397" y="1093894"/>
                    </a:cubicBezTo>
                    <a:cubicBezTo>
                      <a:pt x="139397" y="1093894"/>
                      <a:pt x="139397" y="1093894"/>
                      <a:pt x="283055" y="1093894"/>
                    </a:cubicBezTo>
                    <a:cubicBezTo>
                      <a:pt x="288773" y="1093894"/>
                      <a:pt x="293776" y="1089623"/>
                      <a:pt x="293776" y="1083216"/>
                    </a:cubicBezTo>
                    <a:lnTo>
                      <a:pt x="293776" y="807710"/>
                    </a:lnTo>
                    <a:cubicBezTo>
                      <a:pt x="293776" y="802014"/>
                      <a:pt x="288773" y="797031"/>
                      <a:pt x="283055" y="797031"/>
                    </a:cubicBezTo>
                    <a:cubicBezTo>
                      <a:pt x="283055" y="797031"/>
                      <a:pt x="283055" y="797031"/>
                      <a:pt x="139397" y="797031"/>
                    </a:cubicBezTo>
                    <a:close/>
                    <a:moveTo>
                      <a:pt x="508450" y="634945"/>
                    </a:moveTo>
                    <a:cubicBezTo>
                      <a:pt x="512471" y="634945"/>
                      <a:pt x="516581" y="636373"/>
                      <a:pt x="519797" y="639227"/>
                    </a:cubicBezTo>
                    <a:cubicBezTo>
                      <a:pt x="536236" y="655641"/>
                      <a:pt x="557678" y="664919"/>
                      <a:pt x="581265" y="664919"/>
                    </a:cubicBezTo>
                    <a:cubicBezTo>
                      <a:pt x="589842" y="664919"/>
                      <a:pt x="596989" y="672055"/>
                      <a:pt x="596989" y="680619"/>
                    </a:cubicBezTo>
                    <a:cubicBezTo>
                      <a:pt x="596989" y="689183"/>
                      <a:pt x="589842" y="696319"/>
                      <a:pt x="581265" y="696319"/>
                    </a:cubicBezTo>
                    <a:cubicBezTo>
                      <a:pt x="554819" y="696319"/>
                      <a:pt x="529803" y="687755"/>
                      <a:pt x="509076" y="672055"/>
                    </a:cubicBezTo>
                    <a:cubicBezTo>
                      <a:pt x="509076" y="672055"/>
                      <a:pt x="509076" y="672055"/>
                      <a:pt x="371130" y="809789"/>
                    </a:cubicBezTo>
                    <a:cubicBezTo>
                      <a:pt x="442605" y="892572"/>
                      <a:pt x="439031" y="1017460"/>
                      <a:pt x="360409" y="1095962"/>
                    </a:cubicBezTo>
                    <a:cubicBezTo>
                      <a:pt x="278214" y="1178031"/>
                      <a:pt x="144557" y="1178031"/>
                      <a:pt x="61647" y="1095962"/>
                    </a:cubicBezTo>
                    <a:cubicBezTo>
                      <a:pt x="-20549" y="1013892"/>
                      <a:pt x="-20549" y="880440"/>
                      <a:pt x="61647" y="797657"/>
                    </a:cubicBezTo>
                    <a:cubicBezTo>
                      <a:pt x="140268" y="719156"/>
                      <a:pt x="266063" y="715588"/>
                      <a:pt x="348973" y="787666"/>
                    </a:cubicBezTo>
                    <a:cubicBezTo>
                      <a:pt x="348973" y="787666"/>
                      <a:pt x="348973" y="787666"/>
                      <a:pt x="497640" y="639227"/>
                    </a:cubicBezTo>
                    <a:cubicBezTo>
                      <a:pt x="500499" y="636373"/>
                      <a:pt x="504430" y="634945"/>
                      <a:pt x="508450" y="634945"/>
                    </a:cubicBezTo>
                    <a:close/>
                    <a:moveTo>
                      <a:pt x="581112" y="530331"/>
                    </a:moveTo>
                    <a:cubicBezTo>
                      <a:pt x="607415" y="530331"/>
                      <a:pt x="628737" y="551298"/>
                      <a:pt x="628737" y="577163"/>
                    </a:cubicBezTo>
                    <a:cubicBezTo>
                      <a:pt x="628737" y="603028"/>
                      <a:pt x="607415" y="623995"/>
                      <a:pt x="581112" y="623995"/>
                    </a:cubicBezTo>
                    <a:cubicBezTo>
                      <a:pt x="554809" y="623995"/>
                      <a:pt x="533487" y="603028"/>
                      <a:pt x="533487" y="577163"/>
                    </a:cubicBezTo>
                    <a:cubicBezTo>
                      <a:pt x="533487" y="551298"/>
                      <a:pt x="554809" y="530331"/>
                      <a:pt x="581112" y="530331"/>
                    </a:cubicBezTo>
                    <a:close/>
                    <a:moveTo>
                      <a:pt x="947825" y="189018"/>
                    </a:moveTo>
                    <a:cubicBezTo>
                      <a:pt x="936427" y="189018"/>
                      <a:pt x="927187" y="198258"/>
                      <a:pt x="927187" y="209656"/>
                    </a:cubicBezTo>
                    <a:cubicBezTo>
                      <a:pt x="927187" y="221054"/>
                      <a:pt x="936427" y="230294"/>
                      <a:pt x="947825" y="230294"/>
                    </a:cubicBezTo>
                    <a:cubicBezTo>
                      <a:pt x="959223" y="230294"/>
                      <a:pt x="968463" y="221054"/>
                      <a:pt x="968463" y="209656"/>
                    </a:cubicBezTo>
                    <a:cubicBezTo>
                      <a:pt x="968463" y="198258"/>
                      <a:pt x="959223" y="189018"/>
                      <a:pt x="947825" y="189018"/>
                    </a:cubicBezTo>
                    <a:close/>
                    <a:moveTo>
                      <a:pt x="992489" y="157102"/>
                    </a:moveTo>
                    <a:cubicBezTo>
                      <a:pt x="988532" y="157102"/>
                      <a:pt x="984662" y="158522"/>
                      <a:pt x="981848" y="161363"/>
                    </a:cubicBezTo>
                    <a:cubicBezTo>
                      <a:pt x="975516" y="167754"/>
                      <a:pt x="975516" y="177697"/>
                      <a:pt x="981144" y="183379"/>
                    </a:cubicBezTo>
                    <a:cubicBezTo>
                      <a:pt x="982551" y="184799"/>
                      <a:pt x="1004362" y="207526"/>
                      <a:pt x="980441" y="238064"/>
                    </a:cubicBezTo>
                    <a:cubicBezTo>
                      <a:pt x="974812" y="245166"/>
                      <a:pt x="976219" y="255109"/>
                      <a:pt x="982551" y="260080"/>
                    </a:cubicBezTo>
                    <a:cubicBezTo>
                      <a:pt x="985366" y="262211"/>
                      <a:pt x="988883" y="263631"/>
                      <a:pt x="992401" y="263631"/>
                    </a:cubicBezTo>
                    <a:cubicBezTo>
                      <a:pt x="997326" y="263631"/>
                      <a:pt x="1001547" y="261501"/>
                      <a:pt x="1004362" y="257239"/>
                    </a:cubicBezTo>
                    <a:cubicBezTo>
                      <a:pt x="1036725" y="216048"/>
                      <a:pt x="1017729" y="176277"/>
                      <a:pt x="1003658" y="161363"/>
                    </a:cubicBezTo>
                    <a:cubicBezTo>
                      <a:pt x="1000492" y="158522"/>
                      <a:pt x="996447" y="157102"/>
                      <a:pt x="992489" y="157102"/>
                    </a:cubicBezTo>
                    <a:close/>
                    <a:moveTo>
                      <a:pt x="903337" y="157102"/>
                    </a:moveTo>
                    <a:cubicBezTo>
                      <a:pt x="899380" y="157102"/>
                      <a:pt x="895510" y="158522"/>
                      <a:pt x="892696" y="161363"/>
                    </a:cubicBezTo>
                    <a:cubicBezTo>
                      <a:pt x="877921" y="176277"/>
                      <a:pt x="858925" y="216048"/>
                      <a:pt x="891289" y="257239"/>
                    </a:cubicBezTo>
                    <a:cubicBezTo>
                      <a:pt x="894103" y="261501"/>
                      <a:pt x="899028" y="263631"/>
                      <a:pt x="903249" y="263631"/>
                    </a:cubicBezTo>
                    <a:cubicBezTo>
                      <a:pt x="906767" y="263631"/>
                      <a:pt x="910285" y="262211"/>
                      <a:pt x="913099" y="260080"/>
                    </a:cubicBezTo>
                    <a:cubicBezTo>
                      <a:pt x="920135" y="255109"/>
                      <a:pt x="920838" y="245166"/>
                      <a:pt x="915913" y="238064"/>
                    </a:cubicBezTo>
                    <a:cubicBezTo>
                      <a:pt x="893400" y="208946"/>
                      <a:pt x="910988" y="187640"/>
                      <a:pt x="914506" y="183379"/>
                    </a:cubicBezTo>
                    <a:cubicBezTo>
                      <a:pt x="920838" y="176987"/>
                      <a:pt x="920135" y="167754"/>
                      <a:pt x="914506" y="161363"/>
                    </a:cubicBezTo>
                    <a:cubicBezTo>
                      <a:pt x="911340" y="158522"/>
                      <a:pt x="907295" y="157102"/>
                      <a:pt x="903337" y="157102"/>
                    </a:cubicBezTo>
                    <a:close/>
                    <a:moveTo>
                      <a:pt x="1028876" y="125443"/>
                    </a:moveTo>
                    <a:cubicBezTo>
                      <a:pt x="1024907" y="125354"/>
                      <a:pt x="1020850" y="126777"/>
                      <a:pt x="1017675" y="129622"/>
                    </a:cubicBezTo>
                    <a:cubicBezTo>
                      <a:pt x="1012031" y="136025"/>
                      <a:pt x="1011325" y="145985"/>
                      <a:pt x="1017675" y="152388"/>
                    </a:cubicBezTo>
                    <a:cubicBezTo>
                      <a:pt x="1019086" y="154522"/>
                      <a:pt x="1065653" y="205032"/>
                      <a:pt x="1016264" y="270482"/>
                    </a:cubicBezTo>
                    <a:cubicBezTo>
                      <a:pt x="1011325" y="276884"/>
                      <a:pt x="1012736" y="286844"/>
                      <a:pt x="1019086" y="292535"/>
                    </a:cubicBezTo>
                    <a:cubicBezTo>
                      <a:pt x="1021909" y="294670"/>
                      <a:pt x="1025436" y="295381"/>
                      <a:pt x="1028964" y="295381"/>
                    </a:cubicBezTo>
                    <a:cubicBezTo>
                      <a:pt x="1033197" y="295381"/>
                      <a:pt x="1038136" y="293247"/>
                      <a:pt x="1040959" y="289690"/>
                    </a:cubicBezTo>
                    <a:cubicBezTo>
                      <a:pt x="1093875" y="219972"/>
                      <a:pt x="1063536" y="155233"/>
                      <a:pt x="1039547" y="130334"/>
                    </a:cubicBezTo>
                    <a:cubicBezTo>
                      <a:pt x="1036725" y="127133"/>
                      <a:pt x="1032845" y="125532"/>
                      <a:pt x="1028876" y="125443"/>
                    </a:cubicBezTo>
                    <a:close/>
                    <a:moveTo>
                      <a:pt x="867306" y="125443"/>
                    </a:moveTo>
                    <a:cubicBezTo>
                      <a:pt x="863261" y="125532"/>
                      <a:pt x="859306" y="127133"/>
                      <a:pt x="856429" y="130334"/>
                    </a:cubicBezTo>
                    <a:cubicBezTo>
                      <a:pt x="832698" y="155233"/>
                      <a:pt x="801775" y="219972"/>
                      <a:pt x="854991" y="289690"/>
                    </a:cubicBezTo>
                    <a:cubicBezTo>
                      <a:pt x="858586" y="293247"/>
                      <a:pt x="862901" y="295381"/>
                      <a:pt x="867935" y="295381"/>
                    </a:cubicBezTo>
                    <a:cubicBezTo>
                      <a:pt x="871531" y="295381"/>
                      <a:pt x="874407" y="294670"/>
                      <a:pt x="877284" y="292535"/>
                    </a:cubicBezTo>
                    <a:cubicBezTo>
                      <a:pt x="884475" y="286844"/>
                      <a:pt x="885913" y="276884"/>
                      <a:pt x="880160" y="270482"/>
                    </a:cubicBezTo>
                    <a:cubicBezTo>
                      <a:pt x="829821" y="205032"/>
                      <a:pt x="877284" y="154522"/>
                      <a:pt x="879441" y="152388"/>
                    </a:cubicBezTo>
                    <a:cubicBezTo>
                      <a:pt x="885194" y="145985"/>
                      <a:pt x="885194" y="136025"/>
                      <a:pt x="878722" y="129622"/>
                    </a:cubicBezTo>
                    <a:cubicBezTo>
                      <a:pt x="875486" y="126777"/>
                      <a:pt x="871351" y="125354"/>
                      <a:pt x="867306" y="125443"/>
                    </a:cubicBezTo>
                    <a:close/>
                    <a:moveTo>
                      <a:pt x="1064232" y="92202"/>
                    </a:moveTo>
                    <a:cubicBezTo>
                      <a:pt x="1060166" y="92202"/>
                      <a:pt x="1056009" y="93811"/>
                      <a:pt x="1052756" y="97029"/>
                    </a:cubicBezTo>
                    <a:cubicBezTo>
                      <a:pt x="1046973" y="102750"/>
                      <a:pt x="1046250" y="112761"/>
                      <a:pt x="1052756" y="119197"/>
                    </a:cubicBezTo>
                    <a:cubicBezTo>
                      <a:pt x="1052756" y="119197"/>
                      <a:pt x="1072997" y="139219"/>
                      <a:pt x="1082394" y="172113"/>
                    </a:cubicBezTo>
                    <a:cubicBezTo>
                      <a:pt x="1096129" y="216449"/>
                      <a:pt x="1085286" y="260069"/>
                      <a:pt x="1051310" y="303690"/>
                    </a:cubicBezTo>
                    <a:cubicBezTo>
                      <a:pt x="1046250" y="310126"/>
                      <a:pt x="1046973" y="320137"/>
                      <a:pt x="1054202" y="325858"/>
                    </a:cubicBezTo>
                    <a:cubicBezTo>
                      <a:pt x="1057094" y="328003"/>
                      <a:pt x="1060708" y="328718"/>
                      <a:pt x="1064322" y="328718"/>
                    </a:cubicBezTo>
                    <a:cubicBezTo>
                      <a:pt x="1068660" y="328718"/>
                      <a:pt x="1073720" y="326573"/>
                      <a:pt x="1076611" y="322997"/>
                    </a:cubicBezTo>
                    <a:cubicBezTo>
                      <a:pt x="1127213" y="258639"/>
                      <a:pt x="1124322" y="200717"/>
                      <a:pt x="1113478" y="162817"/>
                    </a:cubicBezTo>
                    <a:cubicBezTo>
                      <a:pt x="1101189" y="122772"/>
                      <a:pt x="1076611" y="97744"/>
                      <a:pt x="1075166" y="97029"/>
                    </a:cubicBezTo>
                    <a:cubicBezTo>
                      <a:pt x="1072274" y="93811"/>
                      <a:pt x="1068298" y="92202"/>
                      <a:pt x="1064232" y="92202"/>
                    </a:cubicBezTo>
                    <a:close/>
                    <a:moveTo>
                      <a:pt x="832198" y="92202"/>
                    </a:moveTo>
                    <a:cubicBezTo>
                      <a:pt x="828188" y="92202"/>
                      <a:pt x="824088" y="93811"/>
                      <a:pt x="820879" y="97029"/>
                    </a:cubicBezTo>
                    <a:cubicBezTo>
                      <a:pt x="820166" y="97744"/>
                      <a:pt x="795923" y="122772"/>
                      <a:pt x="783801" y="162817"/>
                    </a:cubicBezTo>
                    <a:cubicBezTo>
                      <a:pt x="772393" y="200002"/>
                      <a:pt x="769540" y="256494"/>
                      <a:pt x="817314" y="320137"/>
                    </a:cubicBezTo>
                    <a:cubicBezTo>
                      <a:pt x="818027" y="320852"/>
                      <a:pt x="818740" y="321567"/>
                      <a:pt x="819453" y="322997"/>
                    </a:cubicBezTo>
                    <a:cubicBezTo>
                      <a:pt x="823018" y="326573"/>
                      <a:pt x="827296" y="328718"/>
                      <a:pt x="832287" y="328718"/>
                    </a:cubicBezTo>
                    <a:cubicBezTo>
                      <a:pt x="835853" y="328718"/>
                      <a:pt x="838705" y="328003"/>
                      <a:pt x="841557" y="325858"/>
                    </a:cubicBezTo>
                    <a:cubicBezTo>
                      <a:pt x="847261" y="321567"/>
                      <a:pt x="848687" y="315131"/>
                      <a:pt x="847261" y="308696"/>
                    </a:cubicBezTo>
                    <a:cubicBezTo>
                      <a:pt x="846548" y="307265"/>
                      <a:pt x="845835" y="305120"/>
                      <a:pt x="844409" y="303690"/>
                    </a:cubicBezTo>
                    <a:cubicBezTo>
                      <a:pt x="765262" y="202147"/>
                      <a:pt x="840131" y="122057"/>
                      <a:pt x="842983" y="119197"/>
                    </a:cubicBezTo>
                    <a:cubicBezTo>
                      <a:pt x="849400" y="112761"/>
                      <a:pt x="849400" y="102750"/>
                      <a:pt x="842983" y="97029"/>
                    </a:cubicBezTo>
                    <a:cubicBezTo>
                      <a:pt x="840131" y="93811"/>
                      <a:pt x="836209" y="92202"/>
                      <a:pt x="832198" y="92202"/>
                    </a:cubicBezTo>
                    <a:close/>
                    <a:moveTo>
                      <a:pt x="948141" y="0"/>
                    </a:moveTo>
                    <a:cubicBezTo>
                      <a:pt x="1002229" y="0"/>
                      <a:pt x="1056227" y="20533"/>
                      <a:pt x="1097351" y="61597"/>
                    </a:cubicBezTo>
                    <a:cubicBezTo>
                      <a:pt x="1179600" y="143726"/>
                      <a:pt x="1179600" y="277275"/>
                      <a:pt x="1097351" y="360119"/>
                    </a:cubicBezTo>
                    <a:cubicBezTo>
                      <a:pt x="1018679" y="438677"/>
                      <a:pt x="893517" y="442248"/>
                      <a:pt x="810553" y="370831"/>
                    </a:cubicBezTo>
                    <a:cubicBezTo>
                      <a:pt x="810553" y="370831"/>
                      <a:pt x="810553" y="370831"/>
                      <a:pt x="664651" y="516521"/>
                    </a:cubicBezTo>
                    <a:cubicBezTo>
                      <a:pt x="661790" y="519378"/>
                      <a:pt x="657499" y="520806"/>
                      <a:pt x="653923" y="520806"/>
                    </a:cubicBezTo>
                    <a:cubicBezTo>
                      <a:pt x="649632" y="520806"/>
                      <a:pt x="646056" y="519378"/>
                      <a:pt x="642480" y="516521"/>
                    </a:cubicBezTo>
                    <a:cubicBezTo>
                      <a:pt x="626030" y="500095"/>
                      <a:pt x="604574" y="490811"/>
                      <a:pt x="580972" y="490811"/>
                    </a:cubicBezTo>
                    <a:cubicBezTo>
                      <a:pt x="572389" y="490811"/>
                      <a:pt x="565237" y="483669"/>
                      <a:pt x="565237" y="475100"/>
                    </a:cubicBezTo>
                    <a:cubicBezTo>
                      <a:pt x="565237" y="466530"/>
                      <a:pt x="572389" y="459388"/>
                      <a:pt x="580972" y="459388"/>
                    </a:cubicBezTo>
                    <a:cubicBezTo>
                      <a:pt x="607434" y="459388"/>
                      <a:pt x="632467" y="467958"/>
                      <a:pt x="653208" y="483669"/>
                    </a:cubicBezTo>
                    <a:cubicBezTo>
                      <a:pt x="653208" y="483669"/>
                      <a:pt x="653208" y="483669"/>
                      <a:pt x="788382" y="348692"/>
                    </a:cubicBezTo>
                    <a:cubicBezTo>
                      <a:pt x="716146" y="265849"/>
                      <a:pt x="719722" y="140156"/>
                      <a:pt x="798395" y="61597"/>
                    </a:cubicBezTo>
                    <a:cubicBezTo>
                      <a:pt x="839877" y="20533"/>
                      <a:pt x="894054" y="0"/>
                      <a:pt x="948141" y="0"/>
                    </a:cubicBezTo>
                    <a:close/>
                  </a:path>
                </a:pathLst>
              </a:custGeom>
              <a:solidFill>
                <a:schemeClr val="tx2"/>
              </a:solidFill>
              <a:ln>
                <a:noFill/>
              </a:ln>
            </p:spPr>
            <p:txBody>
              <a:bodyPr vert="horz" wrap="square" lIns="72746" tIns="36373" rIns="72746" bIns="36373" numCol="1" anchor="t" anchorCtr="0" compatLnSpc="1">
                <a:prstTxWarp prst="textNoShape">
                  <a:avLst/>
                </a:prstTxWarp>
                <a:noAutofit/>
              </a:bodyPr>
              <a:lstStyle/>
              <a:p>
                <a:endParaRPr lang="en-US" sz="1559">
                  <a:ea typeface="Microsoft YaHei" panose="020B0503020204020204" pitchFamily="34" charset="-122"/>
                  <a:sym typeface="+mn-lt"/>
                </a:endParaRPr>
              </a:p>
            </p:txBody>
          </p:sp>
          <p:sp>
            <p:nvSpPr>
              <p:cNvPr id="243" name="Freeform 10">
                <a:extLst>
                  <a:ext uri="{FF2B5EF4-FFF2-40B4-BE49-F238E27FC236}">
                    <a16:creationId xmlns:a16="http://schemas.microsoft.com/office/drawing/2014/main" id="{FB0B90CA-FF32-4545-A5B3-5DF0651335EB}"/>
                  </a:ext>
                </a:extLst>
              </p:cNvPr>
              <p:cNvSpPr>
                <a:spLocks/>
              </p:cNvSpPr>
              <p:nvPr/>
            </p:nvSpPr>
            <p:spPr bwMode="auto">
              <a:xfrm>
                <a:off x="6705514" y="2849420"/>
                <a:ext cx="1162223" cy="1160746"/>
              </a:xfrm>
              <a:custGeom>
                <a:avLst/>
                <a:gdLst>
                  <a:gd name="connsiteX0" fmla="*/ 888325 w 1162223"/>
                  <a:gd name="connsiteY0" fmla="*/ 827229 h 1160746"/>
                  <a:gd name="connsiteX1" fmla="*/ 879747 w 1162223"/>
                  <a:gd name="connsiteY1" fmla="*/ 830791 h 1160746"/>
                  <a:gd name="connsiteX2" fmla="*/ 845435 w 1162223"/>
                  <a:gd name="connsiteY2" fmla="*/ 864980 h 1160746"/>
                  <a:gd name="connsiteX3" fmla="*/ 841146 w 1162223"/>
                  <a:gd name="connsiteY3" fmla="*/ 871391 h 1160746"/>
                  <a:gd name="connsiteX4" fmla="*/ 839001 w 1162223"/>
                  <a:gd name="connsiteY4" fmla="*/ 878513 h 1160746"/>
                  <a:gd name="connsiteX5" fmla="*/ 838286 w 1162223"/>
                  <a:gd name="connsiteY5" fmla="*/ 883499 h 1160746"/>
                  <a:gd name="connsiteX6" fmla="*/ 839716 w 1162223"/>
                  <a:gd name="connsiteY6" fmla="*/ 896320 h 1160746"/>
                  <a:gd name="connsiteX7" fmla="*/ 844720 w 1162223"/>
                  <a:gd name="connsiteY7" fmla="*/ 915552 h 1160746"/>
                  <a:gd name="connsiteX8" fmla="*/ 855442 w 1162223"/>
                  <a:gd name="connsiteY8" fmla="*/ 940482 h 1160746"/>
                  <a:gd name="connsiteX9" fmla="*/ 874028 w 1162223"/>
                  <a:gd name="connsiteY9" fmla="*/ 970398 h 1160746"/>
                  <a:gd name="connsiteX10" fmla="*/ 904051 w 1162223"/>
                  <a:gd name="connsiteY10" fmla="*/ 1004587 h 1160746"/>
                  <a:gd name="connsiteX11" fmla="*/ 946942 w 1162223"/>
                  <a:gd name="connsiteY11" fmla="*/ 1040201 h 1160746"/>
                  <a:gd name="connsiteX12" fmla="*/ 983399 w 1162223"/>
                  <a:gd name="connsiteY12" fmla="*/ 1060145 h 1160746"/>
                  <a:gd name="connsiteX13" fmla="*/ 1009848 w 1162223"/>
                  <a:gd name="connsiteY13" fmla="*/ 1068693 h 1160746"/>
                  <a:gd name="connsiteX14" fmla="*/ 1025574 w 1162223"/>
                  <a:gd name="connsiteY14" fmla="*/ 1070117 h 1160746"/>
                  <a:gd name="connsiteX15" fmla="*/ 1029148 w 1162223"/>
                  <a:gd name="connsiteY15" fmla="*/ 1070117 h 1160746"/>
                  <a:gd name="connsiteX16" fmla="*/ 1030578 w 1162223"/>
                  <a:gd name="connsiteY16" fmla="*/ 1070117 h 1160746"/>
                  <a:gd name="connsiteX17" fmla="*/ 1037726 w 1162223"/>
                  <a:gd name="connsiteY17" fmla="*/ 1067268 h 1160746"/>
                  <a:gd name="connsiteX18" fmla="*/ 1044160 w 1162223"/>
                  <a:gd name="connsiteY18" fmla="*/ 1062994 h 1160746"/>
                  <a:gd name="connsiteX19" fmla="*/ 1078472 w 1162223"/>
                  <a:gd name="connsiteY19" fmla="*/ 1029517 h 1160746"/>
                  <a:gd name="connsiteX20" fmla="*/ 1082046 w 1162223"/>
                  <a:gd name="connsiteY20" fmla="*/ 1018833 h 1160746"/>
                  <a:gd name="connsiteX21" fmla="*/ 1075613 w 1162223"/>
                  <a:gd name="connsiteY21" fmla="*/ 1010285 h 1160746"/>
                  <a:gd name="connsiteX22" fmla="*/ 1025574 w 1162223"/>
                  <a:gd name="connsiteY22" fmla="*/ 981082 h 1160746"/>
                  <a:gd name="connsiteX23" fmla="*/ 1018426 w 1162223"/>
                  <a:gd name="connsiteY23" fmla="*/ 979657 h 1160746"/>
                  <a:gd name="connsiteX24" fmla="*/ 1007703 w 1162223"/>
                  <a:gd name="connsiteY24" fmla="*/ 983931 h 1160746"/>
                  <a:gd name="connsiteX25" fmla="*/ 992692 w 1162223"/>
                  <a:gd name="connsiteY25" fmla="*/ 998889 h 1160746"/>
                  <a:gd name="connsiteX26" fmla="*/ 991262 w 1162223"/>
                  <a:gd name="connsiteY26" fmla="*/ 999601 h 1160746"/>
                  <a:gd name="connsiteX27" fmla="*/ 989832 w 1162223"/>
                  <a:gd name="connsiteY27" fmla="*/ 999601 h 1160746"/>
                  <a:gd name="connsiteX28" fmla="*/ 986258 w 1162223"/>
                  <a:gd name="connsiteY28" fmla="*/ 999601 h 1160746"/>
                  <a:gd name="connsiteX29" fmla="*/ 976965 w 1162223"/>
                  <a:gd name="connsiteY29" fmla="*/ 995328 h 1160746"/>
                  <a:gd name="connsiteX30" fmla="*/ 961953 w 1162223"/>
                  <a:gd name="connsiteY30" fmla="*/ 986068 h 1160746"/>
                  <a:gd name="connsiteX31" fmla="*/ 941223 w 1162223"/>
                  <a:gd name="connsiteY31" fmla="*/ 967549 h 1160746"/>
                  <a:gd name="connsiteX32" fmla="*/ 923352 w 1162223"/>
                  <a:gd name="connsiteY32" fmla="*/ 946892 h 1160746"/>
                  <a:gd name="connsiteX33" fmla="*/ 913344 w 1162223"/>
                  <a:gd name="connsiteY33" fmla="*/ 931935 h 1160746"/>
                  <a:gd name="connsiteX34" fmla="*/ 909055 w 1162223"/>
                  <a:gd name="connsiteY34" fmla="*/ 919826 h 1160746"/>
                  <a:gd name="connsiteX35" fmla="*/ 909055 w 1162223"/>
                  <a:gd name="connsiteY35" fmla="*/ 917689 h 1160746"/>
                  <a:gd name="connsiteX36" fmla="*/ 910485 w 1162223"/>
                  <a:gd name="connsiteY36" fmla="*/ 916264 h 1160746"/>
                  <a:gd name="connsiteX37" fmla="*/ 922637 w 1162223"/>
                  <a:gd name="connsiteY37" fmla="*/ 903443 h 1160746"/>
                  <a:gd name="connsiteX38" fmla="*/ 926926 w 1162223"/>
                  <a:gd name="connsiteY38" fmla="*/ 895608 h 1160746"/>
                  <a:gd name="connsiteX39" fmla="*/ 926211 w 1162223"/>
                  <a:gd name="connsiteY39" fmla="*/ 886348 h 1160746"/>
                  <a:gd name="connsiteX40" fmla="*/ 898333 w 1162223"/>
                  <a:gd name="connsiteY40" fmla="*/ 834352 h 1160746"/>
                  <a:gd name="connsiteX41" fmla="*/ 894044 w 1162223"/>
                  <a:gd name="connsiteY41" fmla="*/ 829366 h 1160746"/>
                  <a:gd name="connsiteX42" fmla="*/ 888325 w 1162223"/>
                  <a:gd name="connsiteY42" fmla="*/ 827229 h 1160746"/>
                  <a:gd name="connsiteX43" fmla="*/ 683850 w 1162223"/>
                  <a:gd name="connsiteY43" fmla="*/ 565292 h 1160746"/>
                  <a:gd name="connsiteX44" fmla="*/ 699576 w 1162223"/>
                  <a:gd name="connsiteY44" fmla="*/ 580976 h 1160746"/>
                  <a:gd name="connsiteX45" fmla="*/ 675273 w 1162223"/>
                  <a:gd name="connsiteY45" fmla="*/ 652979 h 1160746"/>
                  <a:gd name="connsiteX46" fmla="*/ 813228 w 1162223"/>
                  <a:gd name="connsiteY46" fmla="*/ 790570 h 1160746"/>
                  <a:gd name="connsiteX47" fmla="*/ 1100573 w 1162223"/>
                  <a:gd name="connsiteY47" fmla="*/ 801264 h 1160746"/>
                  <a:gd name="connsiteX48" fmla="*/ 1100573 w 1162223"/>
                  <a:gd name="connsiteY48" fmla="*/ 1099258 h 1160746"/>
                  <a:gd name="connsiteX49" fmla="*/ 801791 w 1162223"/>
                  <a:gd name="connsiteY49" fmla="*/ 1099258 h 1160746"/>
                  <a:gd name="connsiteX50" fmla="*/ 791069 w 1162223"/>
                  <a:gd name="connsiteY50" fmla="*/ 812670 h 1160746"/>
                  <a:gd name="connsiteX51" fmla="*/ 642393 w 1162223"/>
                  <a:gd name="connsiteY51" fmla="*/ 664386 h 1160746"/>
                  <a:gd name="connsiteX52" fmla="*/ 642393 w 1162223"/>
                  <a:gd name="connsiteY52" fmla="*/ 642286 h 1160746"/>
                  <a:gd name="connsiteX53" fmla="*/ 668125 w 1162223"/>
                  <a:gd name="connsiteY53" fmla="*/ 580976 h 1160746"/>
                  <a:gd name="connsiteX54" fmla="*/ 683850 w 1162223"/>
                  <a:gd name="connsiteY54" fmla="*/ 565292 h 1160746"/>
                  <a:gd name="connsiteX55" fmla="*/ 95011 w 1162223"/>
                  <a:gd name="connsiteY55" fmla="*/ 135079 h 1160746"/>
                  <a:gd name="connsiteX56" fmla="*/ 326562 w 1162223"/>
                  <a:gd name="connsiteY56" fmla="*/ 135079 h 1160746"/>
                  <a:gd name="connsiteX57" fmla="*/ 328699 w 1162223"/>
                  <a:gd name="connsiteY57" fmla="*/ 137966 h 1160746"/>
                  <a:gd name="connsiteX58" fmla="*/ 328699 w 1162223"/>
                  <a:gd name="connsiteY58" fmla="*/ 251977 h 1160746"/>
                  <a:gd name="connsiteX59" fmla="*/ 326562 w 1162223"/>
                  <a:gd name="connsiteY59" fmla="*/ 254142 h 1160746"/>
                  <a:gd name="connsiteX60" fmla="*/ 225392 w 1162223"/>
                  <a:gd name="connsiteY60" fmla="*/ 254142 h 1160746"/>
                  <a:gd name="connsiteX61" fmla="*/ 195469 w 1162223"/>
                  <a:gd name="connsiteY61" fmla="*/ 254142 h 1160746"/>
                  <a:gd name="connsiteX62" fmla="*/ 95011 w 1162223"/>
                  <a:gd name="connsiteY62" fmla="*/ 254142 h 1160746"/>
                  <a:gd name="connsiteX63" fmla="*/ 92161 w 1162223"/>
                  <a:gd name="connsiteY63" fmla="*/ 251977 h 1160746"/>
                  <a:gd name="connsiteX64" fmla="*/ 92161 w 1162223"/>
                  <a:gd name="connsiteY64" fmla="*/ 137966 h 1160746"/>
                  <a:gd name="connsiteX65" fmla="*/ 95011 w 1162223"/>
                  <a:gd name="connsiteY65" fmla="*/ 135079 h 1160746"/>
                  <a:gd name="connsiteX66" fmla="*/ 74941 w 1162223"/>
                  <a:gd name="connsiteY66" fmla="*/ 114442 h 1160746"/>
                  <a:gd name="connsiteX67" fmla="*/ 69936 w 1162223"/>
                  <a:gd name="connsiteY67" fmla="*/ 119418 h 1160746"/>
                  <a:gd name="connsiteX68" fmla="*/ 69936 w 1162223"/>
                  <a:gd name="connsiteY68" fmla="*/ 269401 h 1160746"/>
                  <a:gd name="connsiteX69" fmla="*/ 74941 w 1162223"/>
                  <a:gd name="connsiteY69" fmla="*/ 275088 h 1160746"/>
                  <a:gd name="connsiteX70" fmla="*/ 186478 w 1162223"/>
                  <a:gd name="connsiteY70" fmla="*/ 275088 h 1160746"/>
                  <a:gd name="connsiteX71" fmla="*/ 186478 w 1162223"/>
                  <a:gd name="connsiteY71" fmla="*/ 278642 h 1160746"/>
                  <a:gd name="connsiteX72" fmla="*/ 167174 w 1162223"/>
                  <a:gd name="connsiteY72" fmla="*/ 295701 h 1160746"/>
                  <a:gd name="connsiteX73" fmla="*/ 165744 w 1162223"/>
                  <a:gd name="connsiteY73" fmla="*/ 301388 h 1160746"/>
                  <a:gd name="connsiteX74" fmla="*/ 170749 w 1162223"/>
                  <a:gd name="connsiteY74" fmla="*/ 304942 h 1160746"/>
                  <a:gd name="connsiteX75" fmla="*/ 250112 w 1162223"/>
                  <a:gd name="connsiteY75" fmla="*/ 304942 h 1160746"/>
                  <a:gd name="connsiteX76" fmla="*/ 255117 w 1162223"/>
                  <a:gd name="connsiteY76" fmla="*/ 301388 h 1160746"/>
                  <a:gd name="connsiteX77" fmla="*/ 253687 w 1162223"/>
                  <a:gd name="connsiteY77" fmla="*/ 295701 h 1160746"/>
                  <a:gd name="connsiteX78" fmla="*/ 233667 w 1162223"/>
                  <a:gd name="connsiteY78" fmla="*/ 278642 h 1160746"/>
                  <a:gd name="connsiteX79" fmla="*/ 233667 w 1162223"/>
                  <a:gd name="connsiteY79" fmla="*/ 275088 h 1160746"/>
                  <a:gd name="connsiteX80" fmla="*/ 345204 w 1162223"/>
                  <a:gd name="connsiteY80" fmla="*/ 275088 h 1160746"/>
                  <a:gd name="connsiteX81" fmla="*/ 350924 w 1162223"/>
                  <a:gd name="connsiteY81" fmla="*/ 269401 h 1160746"/>
                  <a:gd name="connsiteX82" fmla="*/ 350924 w 1162223"/>
                  <a:gd name="connsiteY82" fmla="*/ 119418 h 1160746"/>
                  <a:gd name="connsiteX83" fmla="*/ 345204 w 1162223"/>
                  <a:gd name="connsiteY83" fmla="*/ 114442 h 1160746"/>
                  <a:gd name="connsiteX84" fmla="*/ 74941 w 1162223"/>
                  <a:gd name="connsiteY84" fmla="*/ 114442 h 1160746"/>
                  <a:gd name="connsiteX85" fmla="*/ 211309 w 1162223"/>
                  <a:gd name="connsiteY85" fmla="*/ 0 h 1160746"/>
                  <a:gd name="connsiteX86" fmla="*/ 360433 w 1162223"/>
                  <a:gd name="connsiteY86" fmla="*/ 61488 h 1160746"/>
                  <a:gd name="connsiteX87" fmla="*/ 371154 w 1162223"/>
                  <a:gd name="connsiteY87" fmla="*/ 348076 h 1160746"/>
                  <a:gd name="connsiteX88" fmla="*/ 519831 w 1162223"/>
                  <a:gd name="connsiteY88" fmla="*/ 496360 h 1160746"/>
                  <a:gd name="connsiteX89" fmla="*/ 519831 w 1162223"/>
                  <a:gd name="connsiteY89" fmla="*/ 518460 h 1160746"/>
                  <a:gd name="connsiteX90" fmla="*/ 494098 w 1162223"/>
                  <a:gd name="connsiteY90" fmla="*/ 579770 h 1160746"/>
                  <a:gd name="connsiteX91" fmla="*/ 478373 w 1162223"/>
                  <a:gd name="connsiteY91" fmla="*/ 595454 h 1160746"/>
                  <a:gd name="connsiteX92" fmla="*/ 462648 w 1162223"/>
                  <a:gd name="connsiteY92" fmla="*/ 579770 h 1160746"/>
                  <a:gd name="connsiteX93" fmla="*/ 486951 w 1162223"/>
                  <a:gd name="connsiteY93" fmla="*/ 507767 h 1160746"/>
                  <a:gd name="connsiteX94" fmla="*/ 348996 w 1162223"/>
                  <a:gd name="connsiteY94" fmla="*/ 370176 h 1160746"/>
                  <a:gd name="connsiteX95" fmla="*/ 61650 w 1162223"/>
                  <a:gd name="connsiteY95" fmla="*/ 359483 h 1160746"/>
                  <a:gd name="connsiteX96" fmla="*/ 61650 w 1162223"/>
                  <a:gd name="connsiteY96" fmla="*/ 61488 h 1160746"/>
                  <a:gd name="connsiteX97" fmla="*/ 211309 w 1162223"/>
                  <a:gd name="connsiteY97" fmla="*/ 0 h 1160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162223" h="1160746">
                    <a:moveTo>
                      <a:pt x="888325" y="827229"/>
                    </a:moveTo>
                    <a:cubicBezTo>
                      <a:pt x="884751" y="827229"/>
                      <a:pt x="881891" y="828654"/>
                      <a:pt x="879747" y="830791"/>
                    </a:cubicBezTo>
                    <a:cubicBezTo>
                      <a:pt x="879747" y="830791"/>
                      <a:pt x="879747" y="830791"/>
                      <a:pt x="845435" y="864980"/>
                    </a:cubicBezTo>
                    <a:cubicBezTo>
                      <a:pt x="844005" y="866405"/>
                      <a:pt x="842575" y="868541"/>
                      <a:pt x="841146" y="871391"/>
                    </a:cubicBezTo>
                    <a:cubicBezTo>
                      <a:pt x="839716" y="873527"/>
                      <a:pt x="839001" y="876377"/>
                      <a:pt x="839001" y="878513"/>
                    </a:cubicBezTo>
                    <a:cubicBezTo>
                      <a:pt x="839001" y="879226"/>
                      <a:pt x="839001" y="880650"/>
                      <a:pt x="838286" y="883499"/>
                    </a:cubicBezTo>
                    <a:cubicBezTo>
                      <a:pt x="838286" y="887061"/>
                      <a:pt x="839001" y="891334"/>
                      <a:pt x="839716" y="896320"/>
                    </a:cubicBezTo>
                    <a:cubicBezTo>
                      <a:pt x="840431" y="902019"/>
                      <a:pt x="841860" y="908429"/>
                      <a:pt x="844720" y="915552"/>
                    </a:cubicBezTo>
                    <a:cubicBezTo>
                      <a:pt x="846864" y="923387"/>
                      <a:pt x="850439" y="931222"/>
                      <a:pt x="855442" y="940482"/>
                    </a:cubicBezTo>
                    <a:cubicBezTo>
                      <a:pt x="859731" y="949742"/>
                      <a:pt x="866165" y="959713"/>
                      <a:pt x="874028" y="970398"/>
                    </a:cubicBezTo>
                    <a:cubicBezTo>
                      <a:pt x="882606" y="981082"/>
                      <a:pt x="891899" y="992478"/>
                      <a:pt x="904051" y="1004587"/>
                    </a:cubicBezTo>
                    <a:cubicBezTo>
                      <a:pt x="919063" y="1019545"/>
                      <a:pt x="933360" y="1031654"/>
                      <a:pt x="946942" y="1040201"/>
                    </a:cubicBezTo>
                    <a:cubicBezTo>
                      <a:pt x="960524" y="1049461"/>
                      <a:pt x="972676" y="1055872"/>
                      <a:pt x="983399" y="1060145"/>
                    </a:cubicBezTo>
                    <a:cubicBezTo>
                      <a:pt x="993406" y="1064419"/>
                      <a:pt x="1002699" y="1067268"/>
                      <a:pt x="1009848" y="1068693"/>
                    </a:cubicBezTo>
                    <a:cubicBezTo>
                      <a:pt x="1016996" y="1069405"/>
                      <a:pt x="1022715" y="1070117"/>
                      <a:pt x="1025574" y="1070117"/>
                    </a:cubicBezTo>
                    <a:cubicBezTo>
                      <a:pt x="1027004" y="1070117"/>
                      <a:pt x="1028433" y="1070117"/>
                      <a:pt x="1029148" y="1070117"/>
                    </a:cubicBezTo>
                    <a:cubicBezTo>
                      <a:pt x="1029863" y="1070117"/>
                      <a:pt x="1030578" y="1070117"/>
                      <a:pt x="1030578" y="1070117"/>
                    </a:cubicBezTo>
                    <a:cubicBezTo>
                      <a:pt x="1033437" y="1069405"/>
                      <a:pt x="1035582" y="1068693"/>
                      <a:pt x="1037726" y="1067268"/>
                    </a:cubicBezTo>
                    <a:cubicBezTo>
                      <a:pt x="1040586" y="1066556"/>
                      <a:pt x="1042730" y="1065131"/>
                      <a:pt x="1044160" y="1062994"/>
                    </a:cubicBezTo>
                    <a:cubicBezTo>
                      <a:pt x="1044160" y="1062994"/>
                      <a:pt x="1044160" y="1062994"/>
                      <a:pt x="1078472" y="1029517"/>
                    </a:cubicBezTo>
                    <a:cubicBezTo>
                      <a:pt x="1081332" y="1026668"/>
                      <a:pt x="1082761" y="1023107"/>
                      <a:pt x="1082046" y="1018833"/>
                    </a:cubicBezTo>
                    <a:cubicBezTo>
                      <a:pt x="1081332" y="1015271"/>
                      <a:pt x="1079187" y="1012422"/>
                      <a:pt x="1075613" y="1010285"/>
                    </a:cubicBezTo>
                    <a:cubicBezTo>
                      <a:pt x="1075613" y="1010285"/>
                      <a:pt x="1075613" y="1010285"/>
                      <a:pt x="1025574" y="981082"/>
                    </a:cubicBezTo>
                    <a:cubicBezTo>
                      <a:pt x="1024144" y="980370"/>
                      <a:pt x="1021285" y="979657"/>
                      <a:pt x="1018426" y="979657"/>
                    </a:cubicBezTo>
                    <a:cubicBezTo>
                      <a:pt x="1014137" y="979657"/>
                      <a:pt x="1010562" y="981082"/>
                      <a:pt x="1007703" y="983931"/>
                    </a:cubicBezTo>
                    <a:cubicBezTo>
                      <a:pt x="1007703" y="983931"/>
                      <a:pt x="1007703" y="983931"/>
                      <a:pt x="992692" y="998889"/>
                    </a:cubicBezTo>
                    <a:cubicBezTo>
                      <a:pt x="992692" y="998889"/>
                      <a:pt x="991977" y="999601"/>
                      <a:pt x="991262" y="999601"/>
                    </a:cubicBezTo>
                    <a:cubicBezTo>
                      <a:pt x="990547" y="999601"/>
                      <a:pt x="989832" y="999601"/>
                      <a:pt x="989832" y="999601"/>
                    </a:cubicBezTo>
                    <a:cubicBezTo>
                      <a:pt x="989832" y="999601"/>
                      <a:pt x="989832" y="999601"/>
                      <a:pt x="986258" y="999601"/>
                    </a:cubicBezTo>
                    <a:cubicBezTo>
                      <a:pt x="984113" y="998889"/>
                      <a:pt x="981254" y="997464"/>
                      <a:pt x="976965" y="995328"/>
                    </a:cubicBezTo>
                    <a:cubicBezTo>
                      <a:pt x="973391" y="993191"/>
                      <a:pt x="968387" y="990342"/>
                      <a:pt x="961953" y="986068"/>
                    </a:cubicBezTo>
                    <a:cubicBezTo>
                      <a:pt x="956235" y="981794"/>
                      <a:pt x="949086" y="975384"/>
                      <a:pt x="941223" y="967549"/>
                    </a:cubicBezTo>
                    <a:cubicBezTo>
                      <a:pt x="933360" y="959713"/>
                      <a:pt x="927641" y="953303"/>
                      <a:pt x="923352" y="946892"/>
                    </a:cubicBezTo>
                    <a:cubicBezTo>
                      <a:pt x="919063" y="941194"/>
                      <a:pt x="915489" y="936208"/>
                      <a:pt x="913344" y="931935"/>
                    </a:cubicBezTo>
                    <a:cubicBezTo>
                      <a:pt x="911200" y="927661"/>
                      <a:pt x="909770" y="923387"/>
                      <a:pt x="909055" y="919826"/>
                    </a:cubicBezTo>
                    <a:cubicBezTo>
                      <a:pt x="909055" y="919113"/>
                      <a:pt x="909055" y="918401"/>
                      <a:pt x="909055" y="917689"/>
                    </a:cubicBezTo>
                    <a:cubicBezTo>
                      <a:pt x="909770" y="916977"/>
                      <a:pt x="909770" y="916264"/>
                      <a:pt x="910485" y="916264"/>
                    </a:cubicBezTo>
                    <a:cubicBezTo>
                      <a:pt x="910485" y="916264"/>
                      <a:pt x="910485" y="916264"/>
                      <a:pt x="922637" y="903443"/>
                    </a:cubicBezTo>
                    <a:cubicBezTo>
                      <a:pt x="924782" y="901306"/>
                      <a:pt x="926211" y="898457"/>
                      <a:pt x="926926" y="895608"/>
                    </a:cubicBezTo>
                    <a:cubicBezTo>
                      <a:pt x="927641" y="892047"/>
                      <a:pt x="927641" y="889198"/>
                      <a:pt x="926211" y="886348"/>
                    </a:cubicBezTo>
                    <a:cubicBezTo>
                      <a:pt x="926211" y="886348"/>
                      <a:pt x="926211" y="886348"/>
                      <a:pt x="898333" y="834352"/>
                    </a:cubicBezTo>
                    <a:cubicBezTo>
                      <a:pt x="896903" y="832215"/>
                      <a:pt x="895473" y="830791"/>
                      <a:pt x="894044" y="829366"/>
                    </a:cubicBezTo>
                    <a:cubicBezTo>
                      <a:pt x="891899" y="827941"/>
                      <a:pt x="890470" y="827229"/>
                      <a:pt x="888325" y="827229"/>
                    </a:cubicBezTo>
                    <a:close/>
                    <a:moveTo>
                      <a:pt x="683850" y="565292"/>
                    </a:moveTo>
                    <a:cubicBezTo>
                      <a:pt x="692428" y="565292"/>
                      <a:pt x="699576" y="572421"/>
                      <a:pt x="699576" y="580976"/>
                    </a:cubicBezTo>
                    <a:cubicBezTo>
                      <a:pt x="699576" y="607354"/>
                      <a:pt x="690998" y="632305"/>
                      <a:pt x="675273" y="652979"/>
                    </a:cubicBezTo>
                    <a:cubicBezTo>
                      <a:pt x="675273" y="652979"/>
                      <a:pt x="675273" y="652979"/>
                      <a:pt x="813228" y="790570"/>
                    </a:cubicBezTo>
                    <a:cubicBezTo>
                      <a:pt x="896143" y="719280"/>
                      <a:pt x="1021946" y="722844"/>
                      <a:pt x="1100573" y="801264"/>
                    </a:cubicBezTo>
                    <a:cubicBezTo>
                      <a:pt x="1182774" y="883248"/>
                      <a:pt x="1182774" y="1016561"/>
                      <a:pt x="1100573" y="1099258"/>
                    </a:cubicBezTo>
                    <a:cubicBezTo>
                      <a:pt x="1017658" y="1181242"/>
                      <a:pt x="883992" y="1181242"/>
                      <a:pt x="801791" y="1099258"/>
                    </a:cubicBezTo>
                    <a:cubicBezTo>
                      <a:pt x="723164" y="1020838"/>
                      <a:pt x="719590" y="895367"/>
                      <a:pt x="791069" y="812670"/>
                    </a:cubicBezTo>
                    <a:cubicBezTo>
                      <a:pt x="791069" y="812670"/>
                      <a:pt x="791069" y="812670"/>
                      <a:pt x="642393" y="664386"/>
                    </a:cubicBezTo>
                    <a:cubicBezTo>
                      <a:pt x="636674" y="658683"/>
                      <a:pt x="636674" y="648702"/>
                      <a:pt x="642393" y="642286"/>
                    </a:cubicBezTo>
                    <a:cubicBezTo>
                      <a:pt x="658833" y="625889"/>
                      <a:pt x="668125" y="604502"/>
                      <a:pt x="668125" y="580976"/>
                    </a:cubicBezTo>
                    <a:cubicBezTo>
                      <a:pt x="668125" y="572421"/>
                      <a:pt x="675273" y="565292"/>
                      <a:pt x="683850" y="565292"/>
                    </a:cubicBezTo>
                    <a:close/>
                    <a:moveTo>
                      <a:pt x="95011" y="135079"/>
                    </a:moveTo>
                    <a:cubicBezTo>
                      <a:pt x="95011" y="135079"/>
                      <a:pt x="95011" y="135079"/>
                      <a:pt x="326562" y="135079"/>
                    </a:cubicBezTo>
                    <a:cubicBezTo>
                      <a:pt x="327274" y="135079"/>
                      <a:pt x="328699" y="136522"/>
                      <a:pt x="328699" y="137966"/>
                    </a:cubicBezTo>
                    <a:cubicBezTo>
                      <a:pt x="328699" y="137966"/>
                      <a:pt x="328699" y="137966"/>
                      <a:pt x="328699" y="251977"/>
                    </a:cubicBezTo>
                    <a:cubicBezTo>
                      <a:pt x="328699" y="252699"/>
                      <a:pt x="327274" y="254142"/>
                      <a:pt x="326562" y="254142"/>
                    </a:cubicBezTo>
                    <a:cubicBezTo>
                      <a:pt x="326562" y="254142"/>
                      <a:pt x="326562" y="254142"/>
                      <a:pt x="225392" y="254142"/>
                    </a:cubicBezTo>
                    <a:cubicBezTo>
                      <a:pt x="217555" y="254142"/>
                      <a:pt x="203306" y="254142"/>
                      <a:pt x="195469" y="254142"/>
                    </a:cubicBezTo>
                    <a:cubicBezTo>
                      <a:pt x="195469" y="254142"/>
                      <a:pt x="195469" y="254142"/>
                      <a:pt x="95011" y="254142"/>
                    </a:cubicBezTo>
                    <a:cubicBezTo>
                      <a:pt x="93586" y="254142"/>
                      <a:pt x="92161" y="252699"/>
                      <a:pt x="92161" y="251977"/>
                    </a:cubicBezTo>
                    <a:cubicBezTo>
                      <a:pt x="92161" y="251977"/>
                      <a:pt x="92161" y="251977"/>
                      <a:pt x="92161" y="137966"/>
                    </a:cubicBezTo>
                    <a:cubicBezTo>
                      <a:pt x="92161" y="136522"/>
                      <a:pt x="93586" y="135079"/>
                      <a:pt x="95011" y="135079"/>
                    </a:cubicBezTo>
                    <a:close/>
                    <a:moveTo>
                      <a:pt x="74941" y="114442"/>
                    </a:moveTo>
                    <a:cubicBezTo>
                      <a:pt x="72081" y="114442"/>
                      <a:pt x="69936" y="116575"/>
                      <a:pt x="69936" y="119418"/>
                    </a:cubicBezTo>
                    <a:cubicBezTo>
                      <a:pt x="69936" y="119418"/>
                      <a:pt x="69936" y="119418"/>
                      <a:pt x="69936" y="269401"/>
                    </a:cubicBezTo>
                    <a:cubicBezTo>
                      <a:pt x="69936" y="272244"/>
                      <a:pt x="72081" y="275088"/>
                      <a:pt x="74941" y="275088"/>
                    </a:cubicBezTo>
                    <a:cubicBezTo>
                      <a:pt x="74941" y="275088"/>
                      <a:pt x="74941" y="275088"/>
                      <a:pt x="186478" y="275088"/>
                    </a:cubicBezTo>
                    <a:cubicBezTo>
                      <a:pt x="186478" y="275088"/>
                      <a:pt x="186478" y="275088"/>
                      <a:pt x="186478" y="278642"/>
                    </a:cubicBezTo>
                    <a:cubicBezTo>
                      <a:pt x="186478" y="278642"/>
                      <a:pt x="186478" y="278642"/>
                      <a:pt x="167174" y="295701"/>
                    </a:cubicBezTo>
                    <a:cubicBezTo>
                      <a:pt x="165029" y="297123"/>
                      <a:pt x="165029" y="299256"/>
                      <a:pt x="165744" y="301388"/>
                    </a:cubicBezTo>
                    <a:cubicBezTo>
                      <a:pt x="166459" y="303520"/>
                      <a:pt x="168604" y="304942"/>
                      <a:pt x="170749" y="304942"/>
                    </a:cubicBezTo>
                    <a:cubicBezTo>
                      <a:pt x="170749" y="304942"/>
                      <a:pt x="170749" y="304942"/>
                      <a:pt x="250112" y="304942"/>
                    </a:cubicBezTo>
                    <a:cubicBezTo>
                      <a:pt x="252257" y="304942"/>
                      <a:pt x="254402" y="303520"/>
                      <a:pt x="255117" y="301388"/>
                    </a:cubicBezTo>
                    <a:cubicBezTo>
                      <a:pt x="255832" y="299256"/>
                      <a:pt x="255117" y="297123"/>
                      <a:pt x="253687" y="295701"/>
                    </a:cubicBezTo>
                    <a:cubicBezTo>
                      <a:pt x="253687" y="295701"/>
                      <a:pt x="253687" y="295701"/>
                      <a:pt x="233667" y="278642"/>
                    </a:cubicBezTo>
                    <a:cubicBezTo>
                      <a:pt x="233667" y="278642"/>
                      <a:pt x="233667" y="278642"/>
                      <a:pt x="233667" y="275088"/>
                    </a:cubicBezTo>
                    <a:cubicBezTo>
                      <a:pt x="233667" y="275088"/>
                      <a:pt x="233667" y="275088"/>
                      <a:pt x="345204" y="275088"/>
                    </a:cubicBezTo>
                    <a:cubicBezTo>
                      <a:pt x="348064" y="275088"/>
                      <a:pt x="350924" y="272244"/>
                      <a:pt x="350924" y="269401"/>
                    </a:cubicBezTo>
                    <a:cubicBezTo>
                      <a:pt x="350924" y="269401"/>
                      <a:pt x="350924" y="269401"/>
                      <a:pt x="350924" y="119418"/>
                    </a:cubicBezTo>
                    <a:cubicBezTo>
                      <a:pt x="350924" y="116575"/>
                      <a:pt x="348064" y="114442"/>
                      <a:pt x="345204" y="114442"/>
                    </a:cubicBezTo>
                    <a:cubicBezTo>
                      <a:pt x="345204" y="114442"/>
                      <a:pt x="345204" y="114442"/>
                      <a:pt x="74941" y="114442"/>
                    </a:cubicBezTo>
                    <a:close/>
                    <a:moveTo>
                      <a:pt x="211309" y="0"/>
                    </a:moveTo>
                    <a:cubicBezTo>
                      <a:pt x="265366" y="0"/>
                      <a:pt x="319332" y="20496"/>
                      <a:pt x="360433" y="61488"/>
                    </a:cubicBezTo>
                    <a:cubicBezTo>
                      <a:pt x="439060" y="139908"/>
                      <a:pt x="442634" y="265379"/>
                      <a:pt x="371154" y="348076"/>
                    </a:cubicBezTo>
                    <a:lnTo>
                      <a:pt x="519831" y="496360"/>
                    </a:lnTo>
                    <a:cubicBezTo>
                      <a:pt x="525549" y="502064"/>
                      <a:pt x="525549" y="512044"/>
                      <a:pt x="519831" y="518460"/>
                    </a:cubicBezTo>
                    <a:cubicBezTo>
                      <a:pt x="503391" y="534857"/>
                      <a:pt x="494098" y="556244"/>
                      <a:pt x="494098" y="579770"/>
                    </a:cubicBezTo>
                    <a:cubicBezTo>
                      <a:pt x="494098" y="588325"/>
                      <a:pt x="486951" y="595454"/>
                      <a:pt x="478373" y="595454"/>
                    </a:cubicBezTo>
                    <a:cubicBezTo>
                      <a:pt x="469796" y="595454"/>
                      <a:pt x="462648" y="588325"/>
                      <a:pt x="462648" y="579770"/>
                    </a:cubicBezTo>
                    <a:cubicBezTo>
                      <a:pt x="462648" y="553393"/>
                      <a:pt x="471225" y="528441"/>
                      <a:pt x="486951" y="507767"/>
                    </a:cubicBezTo>
                    <a:cubicBezTo>
                      <a:pt x="486951" y="507767"/>
                      <a:pt x="486951" y="507767"/>
                      <a:pt x="348996" y="370176"/>
                    </a:cubicBezTo>
                    <a:cubicBezTo>
                      <a:pt x="266080" y="441467"/>
                      <a:pt x="140277" y="437902"/>
                      <a:pt x="61650" y="359483"/>
                    </a:cubicBezTo>
                    <a:cubicBezTo>
                      <a:pt x="-20551" y="277498"/>
                      <a:pt x="-20551" y="144185"/>
                      <a:pt x="61650" y="61488"/>
                    </a:cubicBezTo>
                    <a:cubicBezTo>
                      <a:pt x="103108" y="20496"/>
                      <a:pt x="157253" y="0"/>
                      <a:pt x="211309" y="0"/>
                    </a:cubicBezTo>
                    <a:close/>
                  </a:path>
                </a:pathLst>
              </a:custGeom>
              <a:solidFill>
                <a:schemeClr val="accent1"/>
              </a:solidFill>
              <a:ln>
                <a:noFill/>
              </a:ln>
            </p:spPr>
            <p:txBody>
              <a:bodyPr vert="horz" wrap="square" lIns="72746" tIns="36373" rIns="72746" bIns="36373" numCol="1" anchor="t" anchorCtr="0" compatLnSpc="1">
                <a:prstTxWarp prst="textNoShape">
                  <a:avLst/>
                </a:prstTxWarp>
                <a:noAutofit/>
              </a:bodyPr>
              <a:lstStyle/>
              <a:p>
                <a:endParaRPr lang="en-US" sz="1559">
                  <a:ea typeface="Microsoft YaHei" panose="020B0503020204020204" pitchFamily="34" charset="-122"/>
                  <a:sym typeface="+mn-lt"/>
                </a:endParaRPr>
              </a:p>
            </p:txBody>
          </p:sp>
        </p:grpSp>
      </p:grpSp>
      <p:grpSp>
        <p:nvGrpSpPr>
          <p:cNvPr id="148" name="bcgIcons_OpenEcosystem">
            <a:extLst>
              <a:ext uri="{FF2B5EF4-FFF2-40B4-BE49-F238E27FC236}">
                <a16:creationId xmlns:a16="http://schemas.microsoft.com/office/drawing/2014/main" id="{7E4020E6-2596-4906-8BA5-C45E67C9571A}"/>
              </a:ext>
            </a:extLst>
          </p:cNvPr>
          <p:cNvGrpSpPr>
            <a:grpSpLocks/>
          </p:cNvGrpSpPr>
          <p:nvPr/>
        </p:nvGrpSpPr>
        <p:grpSpPr bwMode="auto">
          <a:xfrm>
            <a:off x="630000" y="4159280"/>
            <a:ext cx="365760" cy="365760"/>
            <a:chOff x="1682" y="0"/>
            <a:chExt cx="4316" cy="4320"/>
          </a:xfrm>
        </p:grpSpPr>
        <p:sp>
          <p:nvSpPr>
            <p:cNvPr id="237" name="AutoShape 3">
              <a:extLst>
                <a:ext uri="{FF2B5EF4-FFF2-40B4-BE49-F238E27FC236}">
                  <a16:creationId xmlns:a16="http://schemas.microsoft.com/office/drawing/2014/main" id="{12A410C0-3C59-4EEB-A4C6-8351E56BE782}"/>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sp>
          <p:nvSpPr>
            <p:cNvPr id="238" name="Freeform 5">
              <a:extLst>
                <a:ext uri="{FF2B5EF4-FFF2-40B4-BE49-F238E27FC236}">
                  <a16:creationId xmlns:a16="http://schemas.microsoft.com/office/drawing/2014/main" id="{C9C44B80-172E-4A81-927F-4BF413328FF7}"/>
                </a:ext>
              </a:extLst>
            </p:cNvPr>
            <p:cNvSpPr>
              <a:spLocks noEditPoints="1"/>
            </p:cNvSpPr>
            <p:nvPr/>
          </p:nvSpPr>
          <p:spPr bwMode="auto">
            <a:xfrm>
              <a:off x="2250" y="351"/>
              <a:ext cx="3177" cy="3615"/>
            </a:xfrm>
            <a:custGeom>
              <a:avLst/>
              <a:gdLst>
                <a:gd name="T0" fmla="*/ 1394 w 1696"/>
                <a:gd name="T1" fmla="*/ 1637 h 1928"/>
                <a:gd name="T2" fmla="*/ 924 w 1696"/>
                <a:gd name="T3" fmla="*/ 1891 h 1928"/>
                <a:gd name="T4" fmla="*/ 908 w 1696"/>
                <a:gd name="T5" fmla="*/ 1928 h 1928"/>
                <a:gd name="T6" fmla="*/ 796 w 1696"/>
                <a:gd name="T7" fmla="*/ 1823 h 1928"/>
                <a:gd name="T8" fmla="*/ 895 w 1696"/>
                <a:gd name="T9" fmla="*/ 1695 h 1928"/>
                <a:gd name="T10" fmla="*/ 926 w 1696"/>
                <a:gd name="T11" fmla="*/ 1726 h 1928"/>
                <a:gd name="T12" fmla="*/ 1650 w 1696"/>
                <a:gd name="T13" fmla="*/ 1143 h 1928"/>
                <a:gd name="T14" fmla="*/ 1693 w 1696"/>
                <a:gd name="T15" fmla="*/ 1152 h 1928"/>
                <a:gd name="T16" fmla="*/ 804 w 1696"/>
                <a:gd name="T17" fmla="*/ 8 h 1928"/>
                <a:gd name="T18" fmla="*/ 772 w 1696"/>
                <a:gd name="T19" fmla="*/ 39 h 1928"/>
                <a:gd name="T20" fmla="*/ 302 w 1696"/>
                <a:gd name="T21" fmla="*/ 293 h 1928"/>
                <a:gd name="T22" fmla="*/ 19 w 1696"/>
                <a:gd name="T23" fmla="*/ 804 h 1928"/>
                <a:gd name="T24" fmla="*/ 46 w 1696"/>
                <a:gd name="T25" fmla="*/ 787 h 1928"/>
                <a:gd name="T26" fmla="*/ 770 w 1696"/>
                <a:gd name="T27" fmla="*/ 204 h 1928"/>
                <a:gd name="T28" fmla="*/ 786 w 1696"/>
                <a:gd name="T29" fmla="*/ 241 h 1928"/>
                <a:gd name="T30" fmla="*/ 900 w 1696"/>
                <a:gd name="T31" fmla="*/ 139 h 1928"/>
                <a:gd name="T32" fmla="*/ 1031 w 1696"/>
                <a:gd name="T33" fmla="*/ 1376 h 1928"/>
                <a:gd name="T34" fmla="*/ 945 w 1696"/>
                <a:gd name="T35" fmla="*/ 1282 h 1928"/>
                <a:gd name="T36" fmla="*/ 1397 w 1696"/>
                <a:gd name="T37" fmla="*/ 1268 h 1928"/>
                <a:gd name="T38" fmla="*/ 1419 w 1696"/>
                <a:gd name="T39" fmla="*/ 636 h 1928"/>
                <a:gd name="T40" fmla="*/ 303 w 1696"/>
                <a:gd name="T41" fmla="*/ 614 h 1928"/>
                <a:gd name="T42" fmla="*/ 281 w 1696"/>
                <a:gd name="T43" fmla="*/ 1246 h 1928"/>
                <a:gd name="T44" fmla="*/ 754 w 1696"/>
                <a:gd name="T45" fmla="*/ 1268 h 1928"/>
                <a:gd name="T46" fmla="*/ 675 w 1696"/>
                <a:gd name="T47" fmla="*/ 1352 h 1928"/>
                <a:gd name="T48" fmla="*/ 689 w 1696"/>
                <a:gd name="T49" fmla="*/ 1390 h 1928"/>
                <a:gd name="T50" fmla="*/ 1031 w 1696"/>
                <a:gd name="T51" fmla="*/ 1376 h 1928"/>
                <a:gd name="T52" fmla="*/ 798 w 1696"/>
                <a:gd name="T53" fmla="*/ 1293 h 1928"/>
                <a:gd name="T54" fmla="*/ 776 w 1696"/>
                <a:gd name="T55" fmla="*/ 1224 h 1928"/>
                <a:gd name="T56" fmla="*/ 325 w 1696"/>
                <a:gd name="T57" fmla="*/ 658 h 1928"/>
                <a:gd name="T58" fmla="*/ 1375 w 1696"/>
                <a:gd name="T59" fmla="*/ 1224 h 1928"/>
                <a:gd name="T60" fmla="*/ 901 w 1696"/>
                <a:gd name="T61" fmla="*/ 1246 h 1928"/>
                <a:gd name="T62" fmla="*/ 909 w 1696"/>
                <a:gd name="T63" fmla="*/ 1309 h 1928"/>
                <a:gd name="T64" fmla="*/ 748 w 1696"/>
                <a:gd name="T65" fmla="*/ 1346 h 19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96" h="1928">
                  <a:moveTo>
                    <a:pt x="1693" y="1152"/>
                  </a:moveTo>
                  <a:cubicBezTo>
                    <a:pt x="1652" y="1342"/>
                    <a:pt x="1545" y="1514"/>
                    <a:pt x="1394" y="1637"/>
                  </a:cubicBezTo>
                  <a:cubicBezTo>
                    <a:pt x="1245" y="1759"/>
                    <a:pt x="1057" y="1827"/>
                    <a:pt x="865" y="1831"/>
                  </a:cubicBezTo>
                  <a:cubicBezTo>
                    <a:pt x="924" y="1891"/>
                    <a:pt x="924" y="1891"/>
                    <a:pt x="924" y="1891"/>
                  </a:cubicBezTo>
                  <a:cubicBezTo>
                    <a:pt x="932" y="1900"/>
                    <a:pt x="932" y="1914"/>
                    <a:pt x="923" y="1922"/>
                  </a:cubicBezTo>
                  <a:cubicBezTo>
                    <a:pt x="919" y="1926"/>
                    <a:pt x="913" y="1928"/>
                    <a:pt x="908" y="1928"/>
                  </a:cubicBezTo>
                  <a:cubicBezTo>
                    <a:pt x="902" y="1928"/>
                    <a:pt x="896" y="1926"/>
                    <a:pt x="892" y="1922"/>
                  </a:cubicBezTo>
                  <a:cubicBezTo>
                    <a:pt x="796" y="1823"/>
                    <a:pt x="796" y="1823"/>
                    <a:pt x="796" y="1823"/>
                  </a:cubicBezTo>
                  <a:cubicBezTo>
                    <a:pt x="787" y="1814"/>
                    <a:pt x="787" y="1800"/>
                    <a:pt x="796" y="1791"/>
                  </a:cubicBezTo>
                  <a:cubicBezTo>
                    <a:pt x="895" y="1695"/>
                    <a:pt x="895" y="1695"/>
                    <a:pt x="895" y="1695"/>
                  </a:cubicBezTo>
                  <a:cubicBezTo>
                    <a:pt x="904" y="1686"/>
                    <a:pt x="918" y="1687"/>
                    <a:pt x="926" y="1695"/>
                  </a:cubicBezTo>
                  <a:cubicBezTo>
                    <a:pt x="935" y="1704"/>
                    <a:pt x="934" y="1718"/>
                    <a:pt x="926" y="1726"/>
                  </a:cubicBezTo>
                  <a:cubicBezTo>
                    <a:pt x="864" y="1787"/>
                    <a:pt x="864" y="1787"/>
                    <a:pt x="864" y="1787"/>
                  </a:cubicBezTo>
                  <a:cubicBezTo>
                    <a:pt x="1240" y="1779"/>
                    <a:pt x="1569" y="1511"/>
                    <a:pt x="1650" y="1143"/>
                  </a:cubicBezTo>
                  <a:cubicBezTo>
                    <a:pt x="1653" y="1131"/>
                    <a:pt x="1665" y="1124"/>
                    <a:pt x="1677" y="1126"/>
                  </a:cubicBezTo>
                  <a:cubicBezTo>
                    <a:pt x="1689" y="1129"/>
                    <a:pt x="1696" y="1141"/>
                    <a:pt x="1693" y="1152"/>
                  </a:cubicBezTo>
                  <a:close/>
                  <a:moveTo>
                    <a:pt x="900" y="107"/>
                  </a:moveTo>
                  <a:cubicBezTo>
                    <a:pt x="804" y="8"/>
                    <a:pt x="804" y="8"/>
                    <a:pt x="804" y="8"/>
                  </a:cubicBezTo>
                  <a:cubicBezTo>
                    <a:pt x="795" y="0"/>
                    <a:pt x="782" y="0"/>
                    <a:pt x="773" y="8"/>
                  </a:cubicBezTo>
                  <a:cubicBezTo>
                    <a:pt x="764" y="16"/>
                    <a:pt x="764" y="30"/>
                    <a:pt x="772" y="39"/>
                  </a:cubicBezTo>
                  <a:cubicBezTo>
                    <a:pt x="831" y="99"/>
                    <a:pt x="831" y="99"/>
                    <a:pt x="831" y="99"/>
                  </a:cubicBezTo>
                  <a:cubicBezTo>
                    <a:pt x="639" y="103"/>
                    <a:pt x="451" y="172"/>
                    <a:pt x="302" y="293"/>
                  </a:cubicBezTo>
                  <a:cubicBezTo>
                    <a:pt x="151" y="416"/>
                    <a:pt x="44" y="588"/>
                    <a:pt x="3" y="778"/>
                  </a:cubicBezTo>
                  <a:cubicBezTo>
                    <a:pt x="0" y="789"/>
                    <a:pt x="7" y="801"/>
                    <a:pt x="19" y="804"/>
                  </a:cubicBezTo>
                  <a:cubicBezTo>
                    <a:pt x="21" y="804"/>
                    <a:pt x="23" y="804"/>
                    <a:pt x="24" y="804"/>
                  </a:cubicBezTo>
                  <a:cubicBezTo>
                    <a:pt x="34" y="804"/>
                    <a:pt x="43" y="797"/>
                    <a:pt x="46" y="787"/>
                  </a:cubicBezTo>
                  <a:cubicBezTo>
                    <a:pt x="127" y="419"/>
                    <a:pt x="456" y="151"/>
                    <a:pt x="832" y="143"/>
                  </a:cubicBezTo>
                  <a:cubicBezTo>
                    <a:pt x="770" y="204"/>
                    <a:pt x="770" y="204"/>
                    <a:pt x="770" y="204"/>
                  </a:cubicBezTo>
                  <a:cubicBezTo>
                    <a:pt x="762" y="212"/>
                    <a:pt x="761" y="226"/>
                    <a:pt x="770" y="235"/>
                  </a:cubicBezTo>
                  <a:cubicBezTo>
                    <a:pt x="774" y="239"/>
                    <a:pt x="780" y="241"/>
                    <a:pt x="786" y="241"/>
                  </a:cubicBezTo>
                  <a:cubicBezTo>
                    <a:pt x="791" y="241"/>
                    <a:pt x="797" y="239"/>
                    <a:pt x="801" y="235"/>
                  </a:cubicBezTo>
                  <a:cubicBezTo>
                    <a:pt x="900" y="139"/>
                    <a:pt x="900" y="139"/>
                    <a:pt x="900" y="139"/>
                  </a:cubicBezTo>
                  <a:cubicBezTo>
                    <a:pt x="909" y="130"/>
                    <a:pt x="909" y="116"/>
                    <a:pt x="900" y="107"/>
                  </a:cubicBezTo>
                  <a:close/>
                  <a:moveTo>
                    <a:pt x="1031" y="1376"/>
                  </a:moveTo>
                  <a:cubicBezTo>
                    <a:pt x="1034" y="1367"/>
                    <a:pt x="1032" y="1358"/>
                    <a:pt x="1025" y="1352"/>
                  </a:cubicBezTo>
                  <a:cubicBezTo>
                    <a:pt x="945" y="1282"/>
                    <a:pt x="945" y="1282"/>
                    <a:pt x="945" y="1282"/>
                  </a:cubicBezTo>
                  <a:cubicBezTo>
                    <a:pt x="945" y="1268"/>
                    <a:pt x="945" y="1268"/>
                    <a:pt x="945" y="1268"/>
                  </a:cubicBezTo>
                  <a:cubicBezTo>
                    <a:pt x="1397" y="1268"/>
                    <a:pt x="1397" y="1268"/>
                    <a:pt x="1397" y="1268"/>
                  </a:cubicBezTo>
                  <a:cubicBezTo>
                    <a:pt x="1409" y="1268"/>
                    <a:pt x="1419" y="1258"/>
                    <a:pt x="1419" y="1246"/>
                  </a:cubicBezTo>
                  <a:cubicBezTo>
                    <a:pt x="1419" y="636"/>
                    <a:pt x="1419" y="636"/>
                    <a:pt x="1419" y="636"/>
                  </a:cubicBezTo>
                  <a:cubicBezTo>
                    <a:pt x="1419" y="624"/>
                    <a:pt x="1409" y="614"/>
                    <a:pt x="1397" y="614"/>
                  </a:cubicBezTo>
                  <a:cubicBezTo>
                    <a:pt x="303" y="614"/>
                    <a:pt x="303" y="614"/>
                    <a:pt x="303" y="614"/>
                  </a:cubicBezTo>
                  <a:cubicBezTo>
                    <a:pt x="291" y="614"/>
                    <a:pt x="281" y="624"/>
                    <a:pt x="281" y="636"/>
                  </a:cubicBezTo>
                  <a:cubicBezTo>
                    <a:pt x="281" y="1246"/>
                    <a:pt x="281" y="1246"/>
                    <a:pt x="281" y="1246"/>
                  </a:cubicBezTo>
                  <a:cubicBezTo>
                    <a:pt x="281" y="1258"/>
                    <a:pt x="291" y="1268"/>
                    <a:pt x="303" y="1268"/>
                  </a:cubicBezTo>
                  <a:cubicBezTo>
                    <a:pt x="754" y="1268"/>
                    <a:pt x="754" y="1268"/>
                    <a:pt x="754" y="1268"/>
                  </a:cubicBezTo>
                  <a:cubicBezTo>
                    <a:pt x="754" y="1282"/>
                    <a:pt x="754" y="1282"/>
                    <a:pt x="754" y="1282"/>
                  </a:cubicBezTo>
                  <a:cubicBezTo>
                    <a:pt x="675" y="1352"/>
                    <a:pt x="675" y="1352"/>
                    <a:pt x="675" y="1352"/>
                  </a:cubicBezTo>
                  <a:cubicBezTo>
                    <a:pt x="668" y="1358"/>
                    <a:pt x="666" y="1367"/>
                    <a:pt x="669" y="1376"/>
                  </a:cubicBezTo>
                  <a:cubicBezTo>
                    <a:pt x="672" y="1384"/>
                    <a:pt x="680" y="1390"/>
                    <a:pt x="689" y="1390"/>
                  </a:cubicBezTo>
                  <a:cubicBezTo>
                    <a:pt x="1010" y="1390"/>
                    <a:pt x="1010" y="1390"/>
                    <a:pt x="1010" y="1390"/>
                  </a:cubicBezTo>
                  <a:cubicBezTo>
                    <a:pt x="1020" y="1390"/>
                    <a:pt x="1028" y="1384"/>
                    <a:pt x="1031" y="1376"/>
                  </a:cubicBezTo>
                  <a:close/>
                  <a:moveTo>
                    <a:pt x="791" y="1309"/>
                  </a:moveTo>
                  <a:cubicBezTo>
                    <a:pt x="796" y="1305"/>
                    <a:pt x="798" y="1299"/>
                    <a:pt x="798" y="1293"/>
                  </a:cubicBezTo>
                  <a:cubicBezTo>
                    <a:pt x="798" y="1246"/>
                    <a:pt x="798" y="1246"/>
                    <a:pt x="798" y="1246"/>
                  </a:cubicBezTo>
                  <a:cubicBezTo>
                    <a:pt x="798" y="1234"/>
                    <a:pt x="789" y="1224"/>
                    <a:pt x="776" y="1224"/>
                  </a:cubicBezTo>
                  <a:cubicBezTo>
                    <a:pt x="325" y="1224"/>
                    <a:pt x="325" y="1224"/>
                    <a:pt x="325" y="1224"/>
                  </a:cubicBezTo>
                  <a:cubicBezTo>
                    <a:pt x="325" y="658"/>
                    <a:pt x="325" y="658"/>
                    <a:pt x="325" y="658"/>
                  </a:cubicBezTo>
                  <a:cubicBezTo>
                    <a:pt x="1375" y="658"/>
                    <a:pt x="1375" y="658"/>
                    <a:pt x="1375" y="658"/>
                  </a:cubicBezTo>
                  <a:cubicBezTo>
                    <a:pt x="1375" y="1224"/>
                    <a:pt x="1375" y="1224"/>
                    <a:pt x="1375" y="1224"/>
                  </a:cubicBezTo>
                  <a:cubicBezTo>
                    <a:pt x="923" y="1224"/>
                    <a:pt x="923" y="1224"/>
                    <a:pt x="923" y="1224"/>
                  </a:cubicBezTo>
                  <a:cubicBezTo>
                    <a:pt x="911" y="1224"/>
                    <a:pt x="901" y="1234"/>
                    <a:pt x="901" y="1246"/>
                  </a:cubicBezTo>
                  <a:cubicBezTo>
                    <a:pt x="901" y="1293"/>
                    <a:pt x="901" y="1293"/>
                    <a:pt x="901" y="1293"/>
                  </a:cubicBezTo>
                  <a:cubicBezTo>
                    <a:pt x="901" y="1299"/>
                    <a:pt x="904" y="1305"/>
                    <a:pt x="909" y="1309"/>
                  </a:cubicBezTo>
                  <a:cubicBezTo>
                    <a:pt x="951" y="1346"/>
                    <a:pt x="951" y="1346"/>
                    <a:pt x="951" y="1346"/>
                  </a:cubicBezTo>
                  <a:cubicBezTo>
                    <a:pt x="748" y="1346"/>
                    <a:pt x="748" y="1346"/>
                    <a:pt x="748" y="1346"/>
                  </a:cubicBezTo>
                  <a:lnTo>
                    <a:pt x="791" y="1309"/>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t" anchorCtr="0" compatLnSpc="1">
              <a:prstTxWarp prst="textNoShape">
                <a:avLst/>
              </a:prstTxWarp>
            </a:bodyPr>
            <a:lstStyle/>
            <a:p>
              <a:endParaRPr lang="en-US" sz="1559">
                <a:ea typeface="Microsoft YaHei" panose="020B0503020204020204" pitchFamily="34" charset="-122"/>
                <a:sym typeface="+mn-lt"/>
              </a:endParaRPr>
            </a:p>
          </p:txBody>
        </p:sp>
        <p:sp>
          <p:nvSpPr>
            <p:cNvPr id="239" name="Freeform 6">
              <a:extLst>
                <a:ext uri="{FF2B5EF4-FFF2-40B4-BE49-F238E27FC236}">
                  <a16:creationId xmlns:a16="http://schemas.microsoft.com/office/drawing/2014/main" id="{9080CFAD-8147-4D49-B33C-C557DD71A694}"/>
                </a:ext>
              </a:extLst>
            </p:cNvPr>
            <p:cNvSpPr>
              <a:spLocks noEditPoints="1"/>
            </p:cNvSpPr>
            <p:nvPr/>
          </p:nvSpPr>
          <p:spPr bwMode="auto">
            <a:xfrm>
              <a:off x="2030" y="570"/>
              <a:ext cx="3616" cy="3176"/>
            </a:xfrm>
            <a:custGeom>
              <a:avLst/>
              <a:gdLst>
                <a:gd name="T0" fmla="*/ 1922 w 1930"/>
                <a:gd name="T1" fmla="*/ 804 h 1694"/>
                <a:gd name="T2" fmla="*/ 1823 w 1930"/>
                <a:gd name="T3" fmla="*/ 900 h 1694"/>
                <a:gd name="T4" fmla="*/ 1807 w 1930"/>
                <a:gd name="T5" fmla="*/ 907 h 1694"/>
                <a:gd name="T6" fmla="*/ 1791 w 1930"/>
                <a:gd name="T7" fmla="*/ 900 h 1694"/>
                <a:gd name="T8" fmla="*/ 1695 w 1930"/>
                <a:gd name="T9" fmla="*/ 801 h 1694"/>
                <a:gd name="T10" fmla="*/ 1695 w 1930"/>
                <a:gd name="T11" fmla="*/ 770 h 1694"/>
                <a:gd name="T12" fmla="*/ 1726 w 1930"/>
                <a:gd name="T13" fmla="*/ 770 h 1694"/>
                <a:gd name="T14" fmla="*/ 1787 w 1930"/>
                <a:gd name="T15" fmla="*/ 832 h 1694"/>
                <a:gd name="T16" fmla="*/ 1143 w 1930"/>
                <a:gd name="T17" fmla="*/ 46 h 1694"/>
                <a:gd name="T18" fmla="*/ 1126 w 1930"/>
                <a:gd name="T19" fmla="*/ 19 h 1694"/>
                <a:gd name="T20" fmla="*/ 1152 w 1930"/>
                <a:gd name="T21" fmla="*/ 3 h 1694"/>
                <a:gd name="T22" fmla="*/ 1637 w 1930"/>
                <a:gd name="T23" fmla="*/ 302 h 1694"/>
                <a:gd name="T24" fmla="*/ 1831 w 1930"/>
                <a:gd name="T25" fmla="*/ 831 h 1694"/>
                <a:gd name="T26" fmla="*/ 1891 w 1930"/>
                <a:gd name="T27" fmla="*/ 772 h 1694"/>
                <a:gd name="T28" fmla="*/ 1922 w 1930"/>
                <a:gd name="T29" fmla="*/ 773 h 1694"/>
                <a:gd name="T30" fmla="*/ 1922 w 1930"/>
                <a:gd name="T31" fmla="*/ 804 h 1694"/>
                <a:gd name="T32" fmla="*/ 787 w 1930"/>
                <a:gd name="T33" fmla="*/ 1651 h 1694"/>
                <a:gd name="T34" fmla="*/ 143 w 1930"/>
                <a:gd name="T35" fmla="*/ 864 h 1694"/>
                <a:gd name="T36" fmla="*/ 204 w 1930"/>
                <a:gd name="T37" fmla="*/ 926 h 1694"/>
                <a:gd name="T38" fmla="*/ 219 w 1930"/>
                <a:gd name="T39" fmla="*/ 932 h 1694"/>
                <a:gd name="T40" fmla="*/ 235 w 1930"/>
                <a:gd name="T41" fmla="*/ 926 h 1694"/>
                <a:gd name="T42" fmla="*/ 235 w 1930"/>
                <a:gd name="T43" fmla="*/ 895 h 1694"/>
                <a:gd name="T44" fmla="*/ 139 w 1930"/>
                <a:gd name="T45" fmla="*/ 796 h 1694"/>
                <a:gd name="T46" fmla="*/ 107 w 1930"/>
                <a:gd name="T47" fmla="*/ 796 h 1694"/>
                <a:gd name="T48" fmla="*/ 8 w 1930"/>
                <a:gd name="T49" fmla="*/ 892 h 1694"/>
                <a:gd name="T50" fmla="*/ 8 w 1930"/>
                <a:gd name="T51" fmla="*/ 923 h 1694"/>
                <a:gd name="T52" fmla="*/ 39 w 1930"/>
                <a:gd name="T53" fmla="*/ 924 h 1694"/>
                <a:gd name="T54" fmla="*/ 99 w 1930"/>
                <a:gd name="T55" fmla="*/ 865 h 1694"/>
                <a:gd name="T56" fmla="*/ 293 w 1930"/>
                <a:gd name="T57" fmla="*/ 1394 h 1694"/>
                <a:gd name="T58" fmla="*/ 778 w 1930"/>
                <a:gd name="T59" fmla="*/ 1693 h 1694"/>
                <a:gd name="T60" fmla="*/ 782 w 1930"/>
                <a:gd name="T61" fmla="*/ 1694 h 1694"/>
                <a:gd name="T62" fmla="*/ 804 w 1930"/>
                <a:gd name="T63" fmla="*/ 1677 h 1694"/>
                <a:gd name="T64" fmla="*/ 787 w 1930"/>
                <a:gd name="T65" fmla="*/ 1651 h 1694"/>
                <a:gd name="T66" fmla="*/ 906 w 1930"/>
                <a:gd name="T67" fmla="*/ 1062 h 1694"/>
                <a:gd name="T68" fmla="*/ 1027 w 1930"/>
                <a:gd name="T69" fmla="*/ 1062 h 1694"/>
                <a:gd name="T70" fmla="*/ 1437 w 1930"/>
                <a:gd name="T71" fmla="*/ 1062 h 1694"/>
                <a:gd name="T72" fmla="*/ 1446 w 1930"/>
                <a:gd name="T73" fmla="*/ 1052 h 1694"/>
                <a:gd name="T74" fmla="*/ 1446 w 1930"/>
                <a:gd name="T75" fmla="*/ 596 h 1694"/>
                <a:gd name="T76" fmla="*/ 1437 w 1930"/>
                <a:gd name="T77" fmla="*/ 586 h 1694"/>
                <a:gd name="T78" fmla="*/ 496 w 1930"/>
                <a:gd name="T79" fmla="*/ 586 h 1694"/>
                <a:gd name="T80" fmla="*/ 486 w 1930"/>
                <a:gd name="T81" fmla="*/ 596 h 1694"/>
                <a:gd name="T82" fmla="*/ 486 w 1930"/>
                <a:gd name="T83" fmla="*/ 1052 h 1694"/>
                <a:gd name="T84" fmla="*/ 496 w 1930"/>
                <a:gd name="T85" fmla="*/ 1062 h 1694"/>
                <a:gd name="T86" fmla="*/ 906 w 1930"/>
                <a:gd name="T87" fmla="*/ 1062 h 1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30" h="1694">
                  <a:moveTo>
                    <a:pt x="1922" y="804"/>
                  </a:moveTo>
                  <a:cubicBezTo>
                    <a:pt x="1823" y="900"/>
                    <a:pt x="1823" y="900"/>
                    <a:pt x="1823" y="900"/>
                  </a:cubicBezTo>
                  <a:cubicBezTo>
                    <a:pt x="1818" y="905"/>
                    <a:pt x="1813" y="907"/>
                    <a:pt x="1807" y="907"/>
                  </a:cubicBezTo>
                  <a:cubicBezTo>
                    <a:pt x="1801" y="907"/>
                    <a:pt x="1796" y="904"/>
                    <a:pt x="1791" y="900"/>
                  </a:cubicBezTo>
                  <a:cubicBezTo>
                    <a:pt x="1695" y="801"/>
                    <a:pt x="1695" y="801"/>
                    <a:pt x="1695" y="801"/>
                  </a:cubicBezTo>
                  <a:cubicBezTo>
                    <a:pt x="1686" y="792"/>
                    <a:pt x="1687" y="778"/>
                    <a:pt x="1695" y="770"/>
                  </a:cubicBezTo>
                  <a:cubicBezTo>
                    <a:pt x="1704" y="761"/>
                    <a:pt x="1718" y="762"/>
                    <a:pt x="1726" y="770"/>
                  </a:cubicBezTo>
                  <a:cubicBezTo>
                    <a:pt x="1787" y="832"/>
                    <a:pt x="1787" y="832"/>
                    <a:pt x="1787" y="832"/>
                  </a:cubicBezTo>
                  <a:cubicBezTo>
                    <a:pt x="1779" y="456"/>
                    <a:pt x="1511" y="127"/>
                    <a:pt x="1143" y="46"/>
                  </a:cubicBezTo>
                  <a:cubicBezTo>
                    <a:pt x="1131" y="43"/>
                    <a:pt x="1124" y="31"/>
                    <a:pt x="1126" y="19"/>
                  </a:cubicBezTo>
                  <a:cubicBezTo>
                    <a:pt x="1129" y="8"/>
                    <a:pt x="1141" y="0"/>
                    <a:pt x="1152" y="3"/>
                  </a:cubicBezTo>
                  <a:cubicBezTo>
                    <a:pt x="1342" y="44"/>
                    <a:pt x="1514" y="151"/>
                    <a:pt x="1637" y="302"/>
                  </a:cubicBezTo>
                  <a:cubicBezTo>
                    <a:pt x="1759" y="451"/>
                    <a:pt x="1827" y="639"/>
                    <a:pt x="1831" y="831"/>
                  </a:cubicBezTo>
                  <a:cubicBezTo>
                    <a:pt x="1891" y="772"/>
                    <a:pt x="1891" y="772"/>
                    <a:pt x="1891" y="772"/>
                  </a:cubicBezTo>
                  <a:cubicBezTo>
                    <a:pt x="1900" y="764"/>
                    <a:pt x="1914" y="764"/>
                    <a:pt x="1922" y="773"/>
                  </a:cubicBezTo>
                  <a:cubicBezTo>
                    <a:pt x="1930" y="781"/>
                    <a:pt x="1930" y="795"/>
                    <a:pt x="1922" y="804"/>
                  </a:cubicBezTo>
                  <a:close/>
                  <a:moveTo>
                    <a:pt x="787" y="1651"/>
                  </a:moveTo>
                  <a:cubicBezTo>
                    <a:pt x="419" y="1569"/>
                    <a:pt x="151" y="1240"/>
                    <a:pt x="143" y="864"/>
                  </a:cubicBezTo>
                  <a:cubicBezTo>
                    <a:pt x="204" y="926"/>
                    <a:pt x="204" y="926"/>
                    <a:pt x="204" y="926"/>
                  </a:cubicBezTo>
                  <a:cubicBezTo>
                    <a:pt x="208" y="930"/>
                    <a:pt x="214" y="932"/>
                    <a:pt x="219" y="932"/>
                  </a:cubicBezTo>
                  <a:cubicBezTo>
                    <a:pt x="225" y="932"/>
                    <a:pt x="230" y="930"/>
                    <a:pt x="235" y="926"/>
                  </a:cubicBezTo>
                  <a:cubicBezTo>
                    <a:pt x="243" y="918"/>
                    <a:pt x="244" y="904"/>
                    <a:pt x="235" y="895"/>
                  </a:cubicBezTo>
                  <a:cubicBezTo>
                    <a:pt x="139" y="796"/>
                    <a:pt x="139" y="796"/>
                    <a:pt x="139" y="796"/>
                  </a:cubicBezTo>
                  <a:cubicBezTo>
                    <a:pt x="130" y="787"/>
                    <a:pt x="116" y="787"/>
                    <a:pt x="107" y="796"/>
                  </a:cubicBezTo>
                  <a:cubicBezTo>
                    <a:pt x="8" y="892"/>
                    <a:pt x="8" y="892"/>
                    <a:pt x="8" y="892"/>
                  </a:cubicBezTo>
                  <a:cubicBezTo>
                    <a:pt x="0" y="901"/>
                    <a:pt x="0" y="915"/>
                    <a:pt x="8" y="923"/>
                  </a:cubicBezTo>
                  <a:cubicBezTo>
                    <a:pt x="16" y="932"/>
                    <a:pt x="30" y="932"/>
                    <a:pt x="39" y="924"/>
                  </a:cubicBezTo>
                  <a:cubicBezTo>
                    <a:pt x="99" y="865"/>
                    <a:pt x="99" y="865"/>
                    <a:pt x="99" y="865"/>
                  </a:cubicBezTo>
                  <a:cubicBezTo>
                    <a:pt x="103" y="1057"/>
                    <a:pt x="172" y="1245"/>
                    <a:pt x="293" y="1394"/>
                  </a:cubicBezTo>
                  <a:cubicBezTo>
                    <a:pt x="416" y="1545"/>
                    <a:pt x="588" y="1652"/>
                    <a:pt x="778" y="1693"/>
                  </a:cubicBezTo>
                  <a:cubicBezTo>
                    <a:pt x="779" y="1694"/>
                    <a:pt x="781" y="1694"/>
                    <a:pt x="782" y="1694"/>
                  </a:cubicBezTo>
                  <a:cubicBezTo>
                    <a:pt x="792" y="1694"/>
                    <a:pt x="802" y="1687"/>
                    <a:pt x="804" y="1677"/>
                  </a:cubicBezTo>
                  <a:cubicBezTo>
                    <a:pt x="806" y="1665"/>
                    <a:pt x="799" y="1653"/>
                    <a:pt x="787" y="1651"/>
                  </a:cubicBezTo>
                  <a:close/>
                  <a:moveTo>
                    <a:pt x="906" y="1062"/>
                  </a:moveTo>
                  <a:cubicBezTo>
                    <a:pt x="937" y="1062"/>
                    <a:pt x="996" y="1062"/>
                    <a:pt x="1027" y="1062"/>
                  </a:cubicBezTo>
                  <a:cubicBezTo>
                    <a:pt x="1437" y="1062"/>
                    <a:pt x="1437" y="1062"/>
                    <a:pt x="1437" y="1062"/>
                  </a:cubicBezTo>
                  <a:cubicBezTo>
                    <a:pt x="1442" y="1062"/>
                    <a:pt x="1446" y="1058"/>
                    <a:pt x="1446" y="1052"/>
                  </a:cubicBezTo>
                  <a:cubicBezTo>
                    <a:pt x="1446" y="596"/>
                    <a:pt x="1446" y="596"/>
                    <a:pt x="1446" y="596"/>
                  </a:cubicBezTo>
                  <a:cubicBezTo>
                    <a:pt x="1446" y="590"/>
                    <a:pt x="1442" y="586"/>
                    <a:pt x="1437" y="586"/>
                  </a:cubicBezTo>
                  <a:cubicBezTo>
                    <a:pt x="496" y="586"/>
                    <a:pt x="496" y="586"/>
                    <a:pt x="496" y="586"/>
                  </a:cubicBezTo>
                  <a:cubicBezTo>
                    <a:pt x="491" y="586"/>
                    <a:pt x="486" y="590"/>
                    <a:pt x="486" y="596"/>
                  </a:cubicBezTo>
                  <a:cubicBezTo>
                    <a:pt x="486" y="1052"/>
                    <a:pt x="486" y="1052"/>
                    <a:pt x="486" y="1052"/>
                  </a:cubicBezTo>
                  <a:cubicBezTo>
                    <a:pt x="486" y="1058"/>
                    <a:pt x="491" y="1062"/>
                    <a:pt x="496" y="1062"/>
                  </a:cubicBezTo>
                  <a:lnTo>
                    <a:pt x="906" y="1062"/>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t" anchorCtr="0" compatLnSpc="1">
              <a:prstTxWarp prst="textNoShape">
                <a:avLst/>
              </a:prstTxWarp>
            </a:bodyPr>
            <a:lstStyle/>
            <a:p>
              <a:endParaRPr lang="en-US" sz="1559">
                <a:ea typeface="Microsoft YaHei" panose="020B0503020204020204" pitchFamily="34" charset="-122"/>
                <a:sym typeface="+mn-lt"/>
              </a:endParaRPr>
            </a:p>
          </p:txBody>
        </p:sp>
      </p:grpSp>
      <p:grpSp>
        <p:nvGrpSpPr>
          <p:cNvPr id="150" name="Group 149">
            <a:extLst>
              <a:ext uri="{FF2B5EF4-FFF2-40B4-BE49-F238E27FC236}">
                <a16:creationId xmlns:a16="http://schemas.microsoft.com/office/drawing/2014/main" id="{37431692-E0BE-416A-B8E2-9F7097011A21}"/>
              </a:ext>
            </a:extLst>
          </p:cNvPr>
          <p:cNvGrpSpPr>
            <a:grpSpLocks/>
          </p:cNvGrpSpPr>
          <p:nvPr/>
        </p:nvGrpSpPr>
        <p:grpSpPr>
          <a:xfrm>
            <a:off x="630000" y="5446718"/>
            <a:ext cx="365760" cy="365760"/>
            <a:chOff x="5273801" y="2606040"/>
            <a:chExt cx="1644396" cy="1645920"/>
          </a:xfrm>
        </p:grpSpPr>
        <p:sp>
          <p:nvSpPr>
            <p:cNvPr id="233" name="AutoShape 24">
              <a:extLst>
                <a:ext uri="{FF2B5EF4-FFF2-40B4-BE49-F238E27FC236}">
                  <a16:creationId xmlns:a16="http://schemas.microsoft.com/office/drawing/2014/main" id="{1B8E6FA5-38A1-4D99-A66A-92D3317CD88A}"/>
                </a:ext>
              </a:extLst>
            </p:cNvPr>
            <p:cNvSpPr>
              <a:spLocks noChangeAspect="1" noChangeArrowheads="1" noTextEdit="1"/>
            </p:cNvSpPr>
            <p:nvPr/>
          </p:nvSpPr>
          <p:spPr bwMode="auto">
            <a:xfrm>
              <a:off x="5273801" y="2606040"/>
              <a:ext cx="1644396" cy="1645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grpSp>
          <p:nvGrpSpPr>
            <p:cNvPr id="234" name="Group 233">
              <a:extLst>
                <a:ext uri="{FF2B5EF4-FFF2-40B4-BE49-F238E27FC236}">
                  <a16:creationId xmlns:a16="http://schemas.microsoft.com/office/drawing/2014/main" id="{F4561B01-0331-4516-92F6-02667FD00DBB}"/>
                </a:ext>
              </a:extLst>
            </p:cNvPr>
            <p:cNvGrpSpPr/>
            <p:nvPr/>
          </p:nvGrpSpPr>
          <p:grpSpPr>
            <a:xfrm>
              <a:off x="5343905" y="2937510"/>
              <a:ext cx="1532763" cy="1001649"/>
              <a:chOff x="5343905" y="2937510"/>
              <a:chExt cx="1532763" cy="1001649"/>
            </a:xfrm>
          </p:grpSpPr>
          <p:sp>
            <p:nvSpPr>
              <p:cNvPr id="235" name="Freeform 26">
                <a:extLst>
                  <a:ext uri="{FF2B5EF4-FFF2-40B4-BE49-F238E27FC236}">
                    <a16:creationId xmlns:a16="http://schemas.microsoft.com/office/drawing/2014/main" id="{AFC48E58-E5D5-4B72-A73F-23B93459D030}"/>
                  </a:ext>
                </a:extLst>
              </p:cNvPr>
              <p:cNvSpPr>
                <a:spLocks noEditPoints="1"/>
              </p:cNvSpPr>
              <p:nvPr/>
            </p:nvSpPr>
            <p:spPr bwMode="auto">
              <a:xfrm>
                <a:off x="5456681" y="3173349"/>
                <a:ext cx="1304544" cy="300609"/>
              </a:xfrm>
              <a:custGeom>
                <a:avLst/>
                <a:gdLst>
                  <a:gd name="T0" fmla="*/ 100 w 1828"/>
                  <a:gd name="T1" fmla="*/ 22 h 421"/>
                  <a:gd name="T2" fmla="*/ 515 w 1828"/>
                  <a:gd name="T3" fmla="*/ 239 h 421"/>
                  <a:gd name="T4" fmla="*/ 507 w 1828"/>
                  <a:gd name="T5" fmla="*/ 309 h 421"/>
                  <a:gd name="T6" fmla="*/ 31 w 1828"/>
                  <a:gd name="T7" fmla="*/ 100 h 421"/>
                  <a:gd name="T8" fmla="*/ 63 w 1828"/>
                  <a:gd name="T9" fmla="*/ 6 h 421"/>
                  <a:gd name="T10" fmla="*/ 271 w 1828"/>
                  <a:gd name="T11" fmla="*/ 124 h 421"/>
                  <a:gd name="T12" fmla="*/ 123 w 1828"/>
                  <a:gd name="T13" fmla="*/ 0 h 421"/>
                  <a:gd name="T14" fmla="*/ 159 w 1828"/>
                  <a:gd name="T15" fmla="*/ 239 h 421"/>
                  <a:gd name="T16" fmla="*/ 148 w 1828"/>
                  <a:gd name="T17" fmla="*/ 233 h 421"/>
                  <a:gd name="T18" fmla="*/ 73 w 1828"/>
                  <a:gd name="T19" fmla="*/ 421 h 421"/>
                  <a:gd name="T20" fmla="*/ 320 w 1828"/>
                  <a:gd name="T21" fmla="*/ 287 h 421"/>
                  <a:gd name="T22" fmla="*/ 1355 w 1828"/>
                  <a:gd name="T23" fmla="*/ 6 h 421"/>
                  <a:gd name="T24" fmla="*/ 1323 w 1828"/>
                  <a:gd name="T25" fmla="*/ 100 h 421"/>
                  <a:gd name="T26" fmla="*/ 1799 w 1828"/>
                  <a:gd name="T27" fmla="*/ 309 h 421"/>
                  <a:gd name="T28" fmla="*/ 1807 w 1828"/>
                  <a:gd name="T29" fmla="*/ 239 h 421"/>
                  <a:gd name="T30" fmla="*/ 1392 w 1828"/>
                  <a:gd name="T31" fmla="*/ 22 h 421"/>
                  <a:gd name="T32" fmla="*/ 1526 w 1828"/>
                  <a:gd name="T33" fmla="*/ 112 h 421"/>
                  <a:gd name="T34" fmla="*/ 1563 w 1828"/>
                  <a:gd name="T35" fmla="*/ 123 h 421"/>
                  <a:gd name="T36" fmla="*/ 1526 w 1828"/>
                  <a:gd name="T37" fmla="*/ 112 h 421"/>
                  <a:gd name="T38" fmla="*/ 1445 w 1828"/>
                  <a:gd name="T39" fmla="*/ 237 h 421"/>
                  <a:gd name="T40" fmla="*/ 1311 w 1828"/>
                  <a:gd name="T41" fmla="*/ 131 h 421"/>
                  <a:gd name="T42" fmla="*/ 1631 w 1828"/>
                  <a:gd name="T43" fmla="*/ 350 h 421"/>
                  <a:gd name="T44" fmla="*/ 1451 w 1828"/>
                  <a:gd name="T45" fmla="*/ 239 h 421"/>
                  <a:gd name="T46" fmla="*/ 686 w 1828"/>
                  <a:gd name="T47" fmla="*/ 12 h 421"/>
                  <a:gd name="T48" fmla="*/ 814 w 1828"/>
                  <a:gd name="T49" fmla="*/ 208 h 421"/>
                  <a:gd name="T50" fmla="*/ 1173 w 1828"/>
                  <a:gd name="T51" fmla="*/ 277 h 421"/>
                  <a:gd name="T52" fmla="*/ 863 w 1828"/>
                  <a:gd name="T53" fmla="*/ 140 h 421"/>
                  <a:gd name="T54" fmla="*/ 709 w 1828"/>
                  <a:gd name="T55" fmla="*/ 6 h 421"/>
                  <a:gd name="T56" fmla="*/ 917 w 1828"/>
                  <a:gd name="T57" fmla="*/ 124 h 421"/>
                  <a:gd name="T58" fmla="*/ 769 w 1828"/>
                  <a:gd name="T59" fmla="*/ 0 h 421"/>
                  <a:gd name="T60" fmla="*/ 805 w 1828"/>
                  <a:gd name="T61" fmla="*/ 239 h 421"/>
                  <a:gd name="T62" fmla="*/ 794 w 1828"/>
                  <a:gd name="T63" fmla="*/ 233 h 421"/>
                  <a:gd name="T64" fmla="*/ 719 w 1828"/>
                  <a:gd name="T65" fmla="*/ 421 h 421"/>
                  <a:gd name="T66" fmla="*/ 966 w 1828"/>
                  <a:gd name="T67" fmla="*/ 287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28" h="421">
                    <a:moveTo>
                      <a:pt x="63" y="6"/>
                    </a:moveTo>
                    <a:cubicBezTo>
                      <a:pt x="77" y="6"/>
                      <a:pt x="90" y="12"/>
                      <a:pt x="100" y="22"/>
                    </a:cubicBezTo>
                    <a:cubicBezTo>
                      <a:pt x="217" y="140"/>
                      <a:pt x="217" y="140"/>
                      <a:pt x="217" y="140"/>
                    </a:cubicBezTo>
                    <a:cubicBezTo>
                      <a:pt x="515" y="239"/>
                      <a:pt x="515" y="239"/>
                      <a:pt x="515" y="239"/>
                    </a:cubicBezTo>
                    <a:cubicBezTo>
                      <a:pt x="530" y="245"/>
                      <a:pt x="536" y="263"/>
                      <a:pt x="527" y="277"/>
                    </a:cubicBezTo>
                    <a:cubicBezTo>
                      <a:pt x="507" y="309"/>
                      <a:pt x="507" y="309"/>
                      <a:pt x="507" y="309"/>
                    </a:cubicBezTo>
                    <a:cubicBezTo>
                      <a:pt x="168" y="208"/>
                      <a:pt x="168" y="208"/>
                      <a:pt x="168" y="208"/>
                    </a:cubicBezTo>
                    <a:cubicBezTo>
                      <a:pt x="31" y="100"/>
                      <a:pt x="31" y="100"/>
                      <a:pt x="31" y="100"/>
                    </a:cubicBezTo>
                    <a:cubicBezTo>
                      <a:pt x="0" y="76"/>
                      <a:pt x="5" y="29"/>
                      <a:pt x="40" y="12"/>
                    </a:cubicBezTo>
                    <a:cubicBezTo>
                      <a:pt x="47" y="8"/>
                      <a:pt x="55" y="6"/>
                      <a:pt x="63" y="6"/>
                    </a:cubicBezTo>
                    <a:moveTo>
                      <a:pt x="234" y="112"/>
                    </a:moveTo>
                    <a:cubicBezTo>
                      <a:pt x="271" y="124"/>
                      <a:pt x="271" y="124"/>
                      <a:pt x="271" y="124"/>
                    </a:cubicBezTo>
                    <a:cubicBezTo>
                      <a:pt x="271" y="123"/>
                      <a:pt x="271" y="123"/>
                      <a:pt x="271" y="123"/>
                    </a:cubicBezTo>
                    <a:cubicBezTo>
                      <a:pt x="250" y="55"/>
                      <a:pt x="191" y="8"/>
                      <a:pt x="123" y="0"/>
                    </a:cubicBezTo>
                    <a:lnTo>
                      <a:pt x="234" y="112"/>
                    </a:lnTo>
                    <a:close/>
                    <a:moveTo>
                      <a:pt x="159" y="239"/>
                    </a:moveTo>
                    <a:cubicBezTo>
                      <a:pt x="153" y="237"/>
                      <a:pt x="153" y="237"/>
                      <a:pt x="153" y="237"/>
                    </a:cubicBezTo>
                    <a:cubicBezTo>
                      <a:pt x="148" y="233"/>
                      <a:pt x="148" y="233"/>
                      <a:pt x="148" y="233"/>
                    </a:cubicBezTo>
                    <a:cubicBezTo>
                      <a:pt x="19" y="131"/>
                      <a:pt x="19" y="131"/>
                      <a:pt x="19" y="131"/>
                    </a:cubicBezTo>
                    <a:cubicBezTo>
                      <a:pt x="73" y="421"/>
                      <a:pt x="73" y="421"/>
                      <a:pt x="73" y="421"/>
                    </a:cubicBezTo>
                    <a:cubicBezTo>
                      <a:pt x="190" y="407"/>
                      <a:pt x="297" y="370"/>
                      <a:pt x="339" y="350"/>
                    </a:cubicBezTo>
                    <a:cubicBezTo>
                      <a:pt x="320" y="287"/>
                      <a:pt x="320" y="287"/>
                      <a:pt x="320" y="287"/>
                    </a:cubicBezTo>
                    <a:lnTo>
                      <a:pt x="159" y="239"/>
                    </a:lnTo>
                    <a:close/>
                    <a:moveTo>
                      <a:pt x="1355" y="6"/>
                    </a:moveTo>
                    <a:cubicBezTo>
                      <a:pt x="1347" y="6"/>
                      <a:pt x="1339" y="8"/>
                      <a:pt x="1332" y="12"/>
                    </a:cubicBezTo>
                    <a:cubicBezTo>
                      <a:pt x="1297" y="29"/>
                      <a:pt x="1292" y="76"/>
                      <a:pt x="1323" y="100"/>
                    </a:cubicBezTo>
                    <a:cubicBezTo>
                      <a:pt x="1460" y="208"/>
                      <a:pt x="1460" y="208"/>
                      <a:pt x="1460" y="208"/>
                    </a:cubicBezTo>
                    <a:cubicBezTo>
                      <a:pt x="1799" y="309"/>
                      <a:pt x="1799" y="309"/>
                      <a:pt x="1799" y="309"/>
                    </a:cubicBezTo>
                    <a:cubicBezTo>
                      <a:pt x="1819" y="277"/>
                      <a:pt x="1819" y="277"/>
                      <a:pt x="1819" y="277"/>
                    </a:cubicBezTo>
                    <a:cubicBezTo>
                      <a:pt x="1828" y="263"/>
                      <a:pt x="1822" y="245"/>
                      <a:pt x="1807" y="239"/>
                    </a:cubicBezTo>
                    <a:cubicBezTo>
                      <a:pt x="1509" y="140"/>
                      <a:pt x="1509" y="140"/>
                      <a:pt x="1509" y="140"/>
                    </a:cubicBezTo>
                    <a:cubicBezTo>
                      <a:pt x="1392" y="22"/>
                      <a:pt x="1392" y="22"/>
                      <a:pt x="1392" y="22"/>
                    </a:cubicBezTo>
                    <a:cubicBezTo>
                      <a:pt x="1382" y="12"/>
                      <a:pt x="1369" y="6"/>
                      <a:pt x="1355" y="6"/>
                    </a:cubicBezTo>
                    <a:moveTo>
                      <a:pt x="1526" y="112"/>
                    </a:moveTo>
                    <a:cubicBezTo>
                      <a:pt x="1563" y="124"/>
                      <a:pt x="1563" y="124"/>
                      <a:pt x="1563" y="124"/>
                    </a:cubicBezTo>
                    <a:cubicBezTo>
                      <a:pt x="1563" y="123"/>
                      <a:pt x="1563" y="123"/>
                      <a:pt x="1563" y="123"/>
                    </a:cubicBezTo>
                    <a:cubicBezTo>
                      <a:pt x="1542" y="55"/>
                      <a:pt x="1483" y="8"/>
                      <a:pt x="1415" y="0"/>
                    </a:cubicBezTo>
                    <a:lnTo>
                      <a:pt x="1526" y="112"/>
                    </a:lnTo>
                    <a:close/>
                    <a:moveTo>
                      <a:pt x="1451" y="239"/>
                    </a:moveTo>
                    <a:cubicBezTo>
                      <a:pt x="1445" y="237"/>
                      <a:pt x="1445" y="237"/>
                      <a:pt x="1445" y="237"/>
                    </a:cubicBezTo>
                    <a:cubicBezTo>
                      <a:pt x="1440" y="233"/>
                      <a:pt x="1440" y="233"/>
                      <a:pt x="1440" y="233"/>
                    </a:cubicBezTo>
                    <a:cubicBezTo>
                      <a:pt x="1311" y="131"/>
                      <a:pt x="1311" y="131"/>
                      <a:pt x="1311" y="131"/>
                    </a:cubicBezTo>
                    <a:cubicBezTo>
                      <a:pt x="1365" y="421"/>
                      <a:pt x="1365" y="421"/>
                      <a:pt x="1365" y="421"/>
                    </a:cubicBezTo>
                    <a:cubicBezTo>
                      <a:pt x="1482" y="407"/>
                      <a:pt x="1589" y="370"/>
                      <a:pt x="1631" y="350"/>
                    </a:cubicBezTo>
                    <a:cubicBezTo>
                      <a:pt x="1612" y="287"/>
                      <a:pt x="1612" y="287"/>
                      <a:pt x="1612" y="287"/>
                    </a:cubicBezTo>
                    <a:lnTo>
                      <a:pt x="1451" y="239"/>
                    </a:lnTo>
                    <a:close/>
                    <a:moveTo>
                      <a:pt x="709" y="6"/>
                    </a:moveTo>
                    <a:cubicBezTo>
                      <a:pt x="701" y="6"/>
                      <a:pt x="693" y="8"/>
                      <a:pt x="686" y="12"/>
                    </a:cubicBezTo>
                    <a:cubicBezTo>
                      <a:pt x="651" y="29"/>
                      <a:pt x="646" y="76"/>
                      <a:pt x="677" y="100"/>
                    </a:cubicBezTo>
                    <a:cubicBezTo>
                      <a:pt x="814" y="208"/>
                      <a:pt x="814" y="208"/>
                      <a:pt x="814" y="208"/>
                    </a:cubicBezTo>
                    <a:cubicBezTo>
                      <a:pt x="1153" y="309"/>
                      <a:pt x="1153" y="309"/>
                      <a:pt x="1153" y="309"/>
                    </a:cubicBezTo>
                    <a:cubicBezTo>
                      <a:pt x="1173" y="277"/>
                      <a:pt x="1173" y="277"/>
                      <a:pt x="1173" y="277"/>
                    </a:cubicBezTo>
                    <a:cubicBezTo>
                      <a:pt x="1182" y="263"/>
                      <a:pt x="1176" y="245"/>
                      <a:pt x="1161" y="239"/>
                    </a:cubicBezTo>
                    <a:cubicBezTo>
                      <a:pt x="863" y="140"/>
                      <a:pt x="863" y="140"/>
                      <a:pt x="863" y="140"/>
                    </a:cubicBezTo>
                    <a:cubicBezTo>
                      <a:pt x="746" y="22"/>
                      <a:pt x="746" y="22"/>
                      <a:pt x="746" y="22"/>
                    </a:cubicBezTo>
                    <a:cubicBezTo>
                      <a:pt x="736" y="12"/>
                      <a:pt x="723" y="6"/>
                      <a:pt x="709" y="6"/>
                    </a:cubicBezTo>
                    <a:moveTo>
                      <a:pt x="880" y="112"/>
                    </a:moveTo>
                    <a:cubicBezTo>
                      <a:pt x="917" y="124"/>
                      <a:pt x="917" y="124"/>
                      <a:pt x="917" y="124"/>
                    </a:cubicBezTo>
                    <a:cubicBezTo>
                      <a:pt x="917" y="123"/>
                      <a:pt x="917" y="123"/>
                      <a:pt x="917" y="123"/>
                    </a:cubicBezTo>
                    <a:cubicBezTo>
                      <a:pt x="896" y="55"/>
                      <a:pt x="837" y="8"/>
                      <a:pt x="769" y="0"/>
                    </a:cubicBezTo>
                    <a:lnTo>
                      <a:pt x="880" y="112"/>
                    </a:lnTo>
                    <a:close/>
                    <a:moveTo>
                      <a:pt x="805" y="239"/>
                    </a:moveTo>
                    <a:cubicBezTo>
                      <a:pt x="799" y="237"/>
                      <a:pt x="799" y="237"/>
                      <a:pt x="799" y="237"/>
                    </a:cubicBezTo>
                    <a:cubicBezTo>
                      <a:pt x="794" y="233"/>
                      <a:pt x="794" y="233"/>
                      <a:pt x="794" y="233"/>
                    </a:cubicBezTo>
                    <a:cubicBezTo>
                      <a:pt x="665" y="131"/>
                      <a:pt x="665" y="131"/>
                      <a:pt x="665" y="131"/>
                    </a:cubicBezTo>
                    <a:cubicBezTo>
                      <a:pt x="719" y="421"/>
                      <a:pt x="719" y="421"/>
                      <a:pt x="719" y="421"/>
                    </a:cubicBezTo>
                    <a:cubicBezTo>
                      <a:pt x="836" y="407"/>
                      <a:pt x="943" y="370"/>
                      <a:pt x="985" y="350"/>
                    </a:cubicBezTo>
                    <a:cubicBezTo>
                      <a:pt x="966" y="287"/>
                      <a:pt x="966" y="287"/>
                      <a:pt x="966" y="287"/>
                    </a:cubicBezTo>
                    <a:lnTo>
                      <a:pt x="805" y="239"/>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t" anchorCtr="0" compatLnSpc="1">
                <a:prstTxWarp prst="textNoShape">
                  <a:avLst/>
                </a:prstTxWarp>
              </a:bodyPr>
              <a:lstStyle/>
              <a:p>
                <a:endParaRPr lang="en-US" sz="1559">
                  <a:ea typeface="Microsoft YaHei" panose="020B0503020204020204" pitchFamily="34" charset="-122"/>
                  <a:sym typeface="+mn-lt"/>
                </a:endParaRPr>
              </a:p>
            </p:txBody>
          </p:sp>
          <p:sp>
            <p:nvSpPr>
              <p:cNvPr id="236" name="Freeform 27">
                <a:extLst>
                  <a:ext uri="{FF2B5EF4-FFF2-40B4-BE49-F238E27FC236}">
                    <a16:creationId xmlns:a16="http://schemas.microsoft.com/office/drawing/2014/main" id="{67C9389E-9D04-4910-8E0E-84CD2EC8F2C6}"/>
                  </a:ext>
                </a:extLst>
              </p:cNvPr>
              <p:cNvSpPr>
                <a:spLocks noEditPoints="1"/>
              </p:cNvSpPr>
              <p:nvPr/>
            </p:nvSpPr>
            <p:spPr bwMode="auto">
              <a:xfrm>
                <a:off x="5343905" y="2937510"/>
                <a:ext cx="1532763" cy="1001649"/>
              </a:xfrm>
              <a:custGeom>
                <a:avLst/>
                <a:gdLst>
                  <a:gd name="T0" fmla="*/ 744 w 2148"/>
                  <a:gd name="T1" fmla="*/ 1402 h 1402"/>
                  <a:gd name="T2" fmla="*/ 305 w 2148"/>
                  <a:gd name="T3" fmla="*/ 899 h 1402"/>
                  <a:gd name="T4" fmla="*/ 291 w 2148"/>
                  <a:gd name="T5" fmla="*/ 786 h 1402"/>
                  <a:gd name="T6" fmla="*/ 322 w 2148"/>
                  <a:gd name="T7" fmla="*/ 859 h 1402"/>
                  <a:gd name="T8" fmla="*/ 754 w 2148"/>
                  <a:gd name="T9" fmla="*/ 1350 h 1402"/>
                  <a:gd name="T10" fmla="*/ 648 w 2148"/>
                  <a:gd name="T11" fmla="*/ 944 h 1402"/>
                  <a:gd name="T12" fmla="*/ 683 w 2148"/>
                  <a:gd name="T13" fmla="*/ 917 h 1402"/>
                  <a:gd name="T14" fmla="*/ 805 w 2148"/>
                  <a:gd name="T15" fmla="*/ 1356 h 1402"/>
                  <a:gd name="T16" fmla="*/ 372 w 2148"/>
                  <a:gd name="T17" fmla="*/ 117 h 1402"/>
                  <a:gd name="T18" fmla="*/ 343 w 2148"/>
                  <a:gd name="T19" fmla="*/ 243 h 1402"/>
                  <a:gd name="T20" fmla="*/ 279 w 2148"/>
                  <a:gd name="T21" fmla="*/ 274 h 1402"/>
                  <a:gd name="T22" fmla="*/ 342 w 2148"/>
                  <a:gd name="T23" fmla="*/ 248 h 1402"/>
                  <a:gd name="T24" fmla="*/ 269 w 2148"/>
                  <a:gd name="T25" fmla="*/ 4 h 1402"/>
                  <a:gd name="T26" fmla="*/ 185 w 2148"/>
                  <a:gd name="T27" fmla="*/ 242 h 1402"/>
                  <a:gd name="T28" fmla="*/ 195 w 2148"/>
                  <a:gd name="T29" fmla="*/ 112 h 1402"/>
                  <a:gd name="T30" fmla="*/ 254 w 2148"/>
                  <a:gd name="T31" fmla="*/ 150 h 1402"/>
                  <a:gd name="T32" fmla="*/ 375 w 2148"/>
                  <a:gd name="T33" fmla="*/ 73 h 1402"/>
                  <a:gd name="T34" fmla="*/ 1980 w 2148"/>
                  <a:gd name="T35" fmla="*/ 925 h 1402"/>
                  <a:gd name="T36" fmla="*/ 1745 w 2148"/>
                  <a:gd name="T37" fmla="*/ 745 h 1402"/>
                  <a:gd name="T38" fmla="*/ 2057 w 2148"/>
                  <a:gd name="T39" fmla="*/ 1336 h 1402"/>
                  <a:gd name="T40" fmla="*/ 1863 w 2148"/>
                  <a:gd name="T41" fmla="*/ 993 h 1402"/>
                  <a:gd name="T42" fmla="*/ 1585 w 2148"/>
                  <a:gd name="T43" fmla="*/ 798 h 1402"/>
                  <a:gd name="T44" fmla="*/ 1542 w 2148"/>
                  <a:gd name="T45" fmla="*/ 804 h 1402"/>
                  <a:gd name="T46" fmla="*/ 2017 w 2148"/>
                  <a:gd name="T47" fmla="*/ 1390 h 1402"/>
                  <a:gd name="T48" fmla="*/ 2097 w 2148"/>
                  <a:gd name="T49" fmla="*/ 1356 h 1402"/>
                  <a:gd name="T50" fmla="*/ 1664 w 2148"/>
                  <a:gd name="T51" fmla="*/ 258 h 1402"/>
                  <a:gd name="T52" fmla="*/ 1636 w 2148"/>
                  <a:gd name="T53" fmla="*/ 133 h 1402"/>
                  <a:gd name="T54" fmla="*/ 1557 w 2148"/>
                  <a:gd name="T55" fmla="*/ 256 h 1402"/>
                  <a:gd name="T56" fmla="*/ 1652 w 2148"/>
                  <a:gd name="T57" fmla="*/ 273 h 1402"/>
                  <a:gd name="T58" fmla="*/ 1688 w 2148"/>
                  <a:gd name="T59" fmla="*/ 33 h 1402"/>
                  <a:gd name="T60" fmla="*/ 1475 w 2148"/>
                  <a:gd name="T61" fmla="*/ 243 h 1402"/>
                  <a:gd name="T62" fmla="*/ 1481 w 2148"/>
                  <a:gd name="T63" fmla="*/ 187 h 1402"/>
                  <a:gd name="T64" fmla="*/ 1525 w 2148"/>
                  <a:gd name="T65" fmla="*/ 150 h 1402"/>
                  <a:gd name="T66" fmla="*/ 1666 w 2148"/>
                  <a:gd name="T67" fmla="*/ 74 h 1402"/>
                  <a:gd name="T68" fmla="*/ 1456 w 2148"/>
                  <a:gd name="T69" fmla="*/ 1286 h 1402"/>
                  <a:gd name="T70" fmla="*/ 1144 w 2148"/>
                  <a:gd name="T71" fmla="*/ 728 h 1402"/>
                  <a:gd name="T72" fmla="*/ 1414 w 2148"/>
                  <a:gd name="T73" fmla="*/ 1300 h 1402"/>
                  <a:gd name="T74" fmla="*/ 1226 w 2148"/>
                  <a:gd name="T75" fmla="*/ 1002 h 1402"/>
                  <a:gd name="T76" fmla="*/ 940 w 2148"/>
                  <a:gd name="T77" fmla="*/ 802 h 1402"/>
                  <a:gd name="T78" fmla="*/ 894 w 2148"/>
                  <a:gd name="T79" fmla="*/ 793 h 1402"/>
                  <a:gd name="T80" fmla="*/ 1190 w 2148"/>
                  <a:gd name="T81" fmla="*/ 1028 h 1402"/>
                  <a:gd name="T82" fmla="*/ 1397 w 2148"/>
                  <a:gd name="T83" fmla="*/ 1401 h 1402"/>
                  <a:gd name="T84" fmla="*/ 1006 w 2148"/>
                  <a:gd name="T85" fmla="*/ 273 h 1402"/>
                  <a:gd name="T86" fmla="*/ 996 w 2148"/>
                  <a:gd name="T87" fmla="*/ 111 h 1402"/>
                  <a:gd name="T88" fmla="*/ 929 w 2148"/>
                  <a:gd name="T89" fmla="*/ 242 h 1402"/>
                  <a:gd name="T90" fmla="*/ 969 w 2148"/>
                  <a:gd name="T91" fmla="*/ 276 h 1402"/>
                  <a:gd name="T92" fmla="*/ 988 w 2148"/>
                  <a:gd name="T93" fmla="*/ 248 h 1402"/>
                  <a:gd name="T94" fmla="*/ 787 w 2148"/>
                  <a:gd name="T95" fmla="*/ 74 h 1402"/>
                  <a:gd name="T96" fmla="*/ 835 w 2148"/>
                  <a:gd name="T97" fmla="*/ 187 h 1402"/>
                  <a:gd name="T98" fmla="*/ 878 w 2148"/>
                  <a:gd name="T99" fmla="*/ 149 h 1402"/>
                  <a:gd name="T100" fmla="*/ 933 w 2148"/>
                  <a:gd name="T101" fmla="*/ 87 h 1402"/>
                  <a:gd name="T102" fmla="*/ 1042 w 2148"/>
                  <a:gd name="T103" fmla="*/ 33 h 1402"/>
                  <a:gd name="T104" fmla="*/ 0 w 2148"/>
                  <a:gd name="T105" fmla="*/ 1061 h 1402"/>
                  <a:gd name="T106" fmla="*/ 44 w 2148"/>
                  <a:gd name="T107" fmla="*/ 768 h 1402"/>
                  <a:gd name="T108" fmla="*/ 713 w 2148"/>
                  <a:gd name="T109" fmla="*/ 623 h 1402"/>
                  <a:gd name="T110" fmla="*/ 719 w 2148"/>
                  <a:gd name="T111" fmla="*/ 579 h 1402"/>
                  <a:gd name="T112" fmla="*/ 1454 w 2148"/>
                  <a:gd name="T113" fmla="*/ 623 h 1402"/>
                  <a:gd name="T114" fmla="*/ 1359 w 2148"/>
                  <a:gd name="T115" fmla="*/ 623 h 1402"/>
                  <a:gd name="T116" fmla="*/ 2005 w 2148"/>
                  <a:gd name="T117" fmla="*/ 623 h 1402"/>
                  <a:gd name="T118" fmla="*/ 2126 w 2148"/>
                  <a:gd name="T119" fmla="*/ 579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8" h="1402">
                    <a:moveTo>
                      <a:pt x="805" y="1356"/>
                    </a:moveTo>
                    <a:cubicBezTo>
                      <a:pt x="793" y="1378"/>
                      <a:pt x="774" y="1394"/>
                      <a:pt x="751" y="1401"/>
                    </a:cubicBezTo>
                    <a:cubicBezTo>
                      <a:pt x="749" y="1402"/>
                      <a:pt x="746" y="1402"/>
                      <a:pt x="744" y="1402"/>
                    </a:cubicBezTo>
                    <a:cubicBezTo>
                      <a:pt x="736" y="1402"/>
                      <a:pt x="728" y="1397"/>
                      <a:pt x="725" y="1390"/>
                    </a:cubicBezTo>
                    <a:cubicBezTo>
                      <a:pt x="544" y="1028"/>
                      <a:pt x="544" y="1028"/>
                      <a:pt x="544" y="1028"/>
                    </a:cubicBezTo>
                    <a:cubicBezTo>
                      <a:pt x="510" y="1009"/>
                      <a:pt x="343" y="916"/>
                      <a:pt x="305" y="899"/>
                    </a:cubicBezTo>
                    <a:cubicBezTo>
                      <a:pt x="254" y="877"/>
                      <a:pt x="250" y="817"/>
                      <a:pt x="250" y="804"/>
                    </a:cubicBezTo>
                    <a:cubicBezTo>
                      <a:pt x="248" y="793"/>
                      <a:pt x="248" y="793"/>
                      <a:pt x="248" y="793"/>
                    </a:cubicBezTo>
                    <a:cubicBezTo>
                      <a:pt x="262" y="791"/>
                      <a:pt x="277" y="789"/>
                      <a:pt x="291" y="786"/>
                    </a:cubicBezTo>
                    <a:cubicBezTo>
                      <a:pt x="293" y="798"/>
                      <a:pt x="293" y="798"/>
                      <a:pt x="293" y="798"/>
                    </a:cubicBezTo>
                    <a:cubicBezTo>
                      <a:pt x="293" y="799"/>
                      <a:pt x="294" y="801"/>
                      <a:pt x="294" y="802"/>
                    </a:cubicBezTo>
                    <a:cubicBezTo>
                      <a:pt x="294" y="803"/>
                      <a:pt x="293" y="846"/>
                      <a:pt x="322" y="859"/>
                    </a:cubicBezTo>
                    <a:cubicBezTo>
                      <a:pt x="367" y="878"/>
                      <a:pt x="563" y="988"/>
                      <a:pt x="571" y="993"/>
                    </a:cubicBezTo>
                    <a:cubicBezTo>
                      <a:pt x="575" y="995"/>
                      <a:pt x="578" y="998"/>
                      <a:pt x="580" y="1002"/>
                    </a:cubicBezTo>
                    <a:cubicBezTo>
                      <a:pt x="754" y="1350"/>
                      <a:pt x="754" y="1350"/>
                      <a:pt x="754" y="1350"/>
                    </a:cubicBezTo>
                    <a:cubicBezTo>
                      <a:pt x="759" y="1346"/>
                      <a:pt x="763" y="1342"/>
                      <a:pt x="765" y="1336"/>
                    </a:cubicBezTo>
                    <a:cubicBezTo>
                      <a:pt x="771" y="1325"/>
                      <a:pt x="772" y="1312"/>
                      <a:pt x="768" y="1300"/>
                    </a:cubicBezTo>
                    <a:cubicBezTo>
                      <a:pt x="648" y="944"/>
                      <a:pt x="648" y="944"/>
                      <a:pt x="648" y="944"/>
                    </a:cubicBezTo>
                    <a:cubicBezTo>
                      <a:pt x="453" y="745"/>
                      <a:pt x="453" y="745"/>
                      <a:pt x="453" y="745"/>
                    </a:cubicBezTo>
                    <a:cubicBezTo>
                      <a:pt x="470" y="739"/>
                      <a:pt x="485" y="733"/>
                      <a:pt x="498" y="728"/>
                    </a:cubicBezTo>
                    <a:cubicBezTo>
                      <a:pt x="683" y="917"/>
                      <a:pt x="683" y="917"/>
                      <a:pt x="683" y="917"/>
                    </a:cubicBezTo>
                    <a:cubicBezTo>
                      <a:pt x="685" y="919"/>
                      <a:pt x="687" y="922"/>
                      <a:pt x="688" y="925"/>
                    </a:cubicBezTo>
                    <a:cubicBezTo>
                      <a:pt x="810" y="1286"/>
                      <a:pt x="810" y="1286"/>
                      <a:pt x="810" y="1286"/>
                    </a:cubicBezTo>
                    <a:cubicBezTo>
                      <a:pt x="818" y="1310"/>
                      <a:pt x="816" y="1334"/>
                      <a:pt x="805" y="1356"/>
                    </a:cubicBezTo>
                    <a:close/>
                    <a:moveTo>
                      <a:pt x="360" y="273"/>
                    </a:moveTo>
                    <a:cubicBezTo>
                      <a:pt x="368" y="270"/>
                      <a:pt x="371" y="262"/>
                      <a:pt x="372" y="258"/>
                    </a:cubicBezTo>
                    <a:cubicBezTo>
                      <a:pt x="381" y="235"/>
                      <a:pt x="396" y="160"/>
                      <a:pt x="372" y="117"/>
                    </a:cubicBezTo>
                    <a:cubicBezTo>
                      <a:pt x="368" y="110"/>
                      <a:pt x="358" y="107"/>
                      <a:pt x="350" y="111"/>
                    </a:cubicBezTo>
                    <a:cubicBezTo>
                      <a:pt x="343" y="115"/>
                      <a:pt x="340" y="125"/>
                      <a:pt x="344" y="133"/>
                    </a:cubicBezTo>
                    <a:cubicBezTo>
                      <a:pt x="361" y="163"/>
                      <a:pt x="350" y="224"/>
                      <a:pt x="343" y="243"/>
                    </a:cubicBezTo>
                    <a:cubicBezTo>
                      <a:pt x="334" y="244"/>
                      <a:pt x="313" y="245"/>
                      <a:pt x="283" y="242"/>
                    </a:cubicBezTo>
                    <a:cubicBezTo>
                      <a:pt x="274" y="241"/>
                      <a:pt x="266" y="247"/>
                      <a:pt x="265" y="256"/>
                    </a:cubicBezTo>
                    <a:cubicBezTo>
                      <a:pt x="264" y="265"/>
                      <a:pt x="271" y="273"/>
                      <a:pt x="279" y="274"/>
                    </a:cubicBezTo>
                    <a:cubicBezTo>
                      <a:pt x="296" y="276"/>
                      <a:pt x="310" y="276"/>
                      <a:pt x="323" y="276"/>
                    </a:cubicBezTo>
                    <a:cubicBezTo>
                      <a:pt x="341" y="276"/>
                      <a:pt x="354" y="275"/>
                      <a:pt x="360" y="273"/>
                    </a:cubicBezTo>
                    <a:close/>
                    <a:moveTo>
                      <a:pt x="342" y="248"/>
                    </a:moveTo>
                    <a:cubicBezTo>
                      <a:pt x="342" y="248"/>
                      <a:pt x="342" y="248"/>
                      <a:pt x="342" y="248"/>
                    </a:cubicBezTo>
                    <a:close/>
                    <a:moveTo>
                      <a:pt x="396" y="33"/>
                    </a:moveTo>
                    <a:cubicBezTo>
                      <a:pt x="322" y="29"/>
                      <a:pt x="350" y="10"/>
                      <a:pt x="269" y="4"/>
                    </a:cubicBezTo>
                    <a:cubicBezTo>
                      <a:pt x="199" y="0"/>
                      <a:pt x="161" y="39"/>
                      <a:pt x="141" y="74"/>
                    </a:cubicBezTo>
                    <a:cubicBezTo>
                      <a:pt x="100" y="148"/>
                      <a:pt x="171" y="230"/>
                      <a:pt x="183" y="243"/>
                    </a:cubicBezTo>
                    <a:cubicBezTo>
                      <a:pt x="184" y="244"/>
                      <a:pt x="185" y="244"/>
                      <a:pt x="185" y="242"/>
                    </a:cubicBezTo>
                    <a:cubicBezTo>
                      <a:pt x="185" y="242"/>
                      <a:pt x="185" y="242"/>
                      <a:pt x="189" y="187"/>
                    </a:cubicBezTo>
                    <a:cubicBezTo>
                      <a:pt x="189" y="187"/>
                      <a:pt x="189" y="187"/>
                      <a:pt x="189" y="187"/>
                    </a:cubicBezTo>
                    <a:cubicBezTo>
                      <a:pt x="188" y="182"/>
                      <a:pt x="164" y="125"/>
                      <a:pt x="195" y="112"/>
                    </a:cubicBezTo>
                    <a:cubicBezTo>
                      <a:pt x="227" y="97"/>
                      <a:pt x="232" y="142"/>
                      <a:pt x="232" y="149"/>
                    </a:cubicBezTo>
                    <a:cubicBezTo>
                      <a:pt x="232" y="150"/>
                      <a:pt x="233" y="150"/>
                      <a:pt x="233" y="150"/>
                    </a:cubicBezTo>
                    <a:cubicBezTo>
                      <a:pt x="237" y="151"/>
                      <a:pt x="253" y="154"/>
                      <a:pt x="254" y="150"/>
                    </a:cubicBezTo>
                    <a:cubicBezTo>
                      <a:pt x="256" y="116"/>
                      <a:pt x="270" y="98"/>
                      <a:pt x="287" y="87"/>
                    </a:cubicBezTo>
                    <a:cubicBezTo>
                      <a:pt x="320" y="67"/>
                      <a:pt x="366" y="76"/>
                      <a:pt x="374" y="74"/>
                    </a:cubicBezTo>
                    <a:cubicBezTo>
                      <a:pt x="374" y="73"/>
                      <a:pt x="375" y="73"/>
                      <a:pt x="375" y="73"/>
                    </a:cubicBezTo>
                    <a:cubicBezTo>
                      <a:pt x="380" y="57"/>
                      <a:pt x="404" y="33"/>
                      <a:pt x="396" y="33"/>
                    </a:cubicBezTo>
                    <a:close/>
                    <a:moveTo>
                      <a:pt x="2102" y="1286"/>
                    </a:moveTo>
                    <a:cubicBezTo>
                      <a:pt x="1980" y="925"/>
                      <a:pt x="1980" y="925"/>
                      <a:pt x="1980" y="925"/>
                    </a:cubicBezTo>
                    <a:cubicBezTo>
                      <a:pt x="1979" y="922"/>
                      <a:pt x="1977" y="919"/>
                      <a:pt x="1975" y="917"/>
                    </a:cubicBezTo>
                    <a:cubicBezTo>
                      <a:pt x="1790" y="728"/>
                      <a:pt x="1790" y="728"/>
                      <a:pt x="1790" y="728"/>
                    </a:cubicBezTo>
                    <a:cubicBezTo>
                      <a:pt x="1777" y="733"/>
                      <a:pt x="1762" y="739"/>
                      <a:pt x="1745" y="745"/>
                    </a:cubicBezTo>
                    <a:cubicBezTo>
                      <a:pt x="1940" y="944"/>
                      <a:pt x="1940" y="944"/>
                      <a:pt x="1940" y="944"/>
                    </a:cubicBezTo>
                    <a:cubicBezTo>
                      <a:pt x="2060" y="1300"/>
                      <a:pt x="2060" y="1300"/>
                      <a:pt x="2060" y="1300"/>
                    </a:cubicBezTo>
                    <a:cubicBezTo>
                      <a:pt x="2064" y="1312"/>
                      <a:pt x="2063" y="1325"/>
                      <a:pt x="2057" y="1336"/>
                    </a:cubicBezTo>
                    <a:cubicBezTo>
                      <a:pt x="2055" y="1342"/>
                      <a:pt x="2051" y="1346"/>
                      <a:pt x="2046" y="1350"/>
                    </a:cubicBezTo>
                    <a:cubicBezTo>
                      <a:pt x="1872" y="1002"/>
                      <a:pt x="1872" y="1002"/>
                      <a:pt x="1872" y="1002"/>
                    </a:cubicBezTo>
                    <a:cubicBezTo>
                      <a:pt x="1870" y="998"/>
                      <a:pt x="1867" y="995"/>
                      <a:pt x="1863" y="993"/>
                    </a:cubicBezTo>
                    <a:cubicBezTo>
                      <a:pt x="1855" y="988"/>
                      <a:pt x="1659" y="878"/>
                      <a:pt x="1615" y="859"/>
                    </a:cubicBezTo>
                    <a:cubicBezTo>
                      <a:pt x="1585" y="846"/>
                      <a:pt x="1586" y="803"/>
                      <a:pt x="1586" y="802"/>
                    </a:cubicBezTo>
                    <a:cubicBezTo>
                      <a:pt x="1586" y="801"/>
                      <a:pt x="1585" y="799"/>
                      <a:pt x="1585" y="798"/>
                    </a:cubicBezTo>
                    <a:cubicBezTo>
                      <a:pt x="1583" y="786"/>
                      <a:pt x="1583" y="786"/>
                      <a:pt x="1583" y="786"/>
                    </a:cubicBezTo>
                    <a:cubicBezTo>
                      <a:pt x="1569" y="789"/>
                      <a:pt x="1554" y="791"/>
                      <a:pt x="1540" y="793"/>
                    </a:cubicBezTo>
                    <a:cubicBezTo>
                      <a:pt x="1542" y="804"/>
                      <a:pt x="1542" y="804"/>
                      <a:pt x="1542" y="804"/>
                    </a:cubicBezTo>
                    <a:cubicBezTo>
                      <a:pt x="1542" y="817"/>
                      <a:pt x="1546" y="877"/>
                      <a:pt x="1597" y="899"/>
                    </a:cubicBezTo>
                    <a:cubicBezTo>
                      <a:pt x="1635" y="916"/>
                      <a:pt x="1802" y="1009"/>
                      <a:pt x="1836" y="1028"/>
                    </a:cubicBezTo>
                    <a:cubicBezTo>
                      <a:pt x="2017" y="1390"/>
                      <a:pt x="2017" y="1390"/>
                      <a:pt x="2017" y="1390"/>
                    </a:cubicBezTo>
                    <a:cubicBezTo>
                      <a:pt x="2020" y="1397"/>
                      <a:pt x="2028" y="1402"/>
                      <a:pt x="2036" y="1402"/>
                    </a:cubicBezTo>
                    <a:cubicBezTo>
                      <a:pt x="2038" y="1402"/>
                      <a:pt x="2041" y="1402"/>
                      <a:pt x="2043" y="1401"/>
                    </a:cubicBezTo>
                    <a:cubicBezTo>
                      <a:pt x="2066" y="1394"/>
                      <a:pt x="2085" y="1378"/>
                      <a:pt x="2097" y="1356"/>
                    </a:cubicBezTo>
                    <a:cubicBezTo>
                      <a:pt x="2108" y="1334"/>
                      <a:pt x="2110" y="1310"/>
                      <a:pt x="2102" y="1286"/>
                    </a:cubicBezTo>
                    <a:close/>
                    <a:moveTo>
                      <a:pt x="1652" y="273"/>
                    </a:moveTo>
                    <a:cubicBezTo>
                      <a:pt x="1660" y="270"/>
                      <a:pt x="1663" y="262"/>
                      <a:pt x="1664" y="258"/>
                    </a:cubicBezTo>
                    <a:cubicBezTo>
                      <a:pt x="1673" y="235"/>
                      <a:pt x="1688" y="160"/>
                      <a:pt x="1664" y="117"/>
                    </a:cubicBezTo>
                    <a:cubicBezTo>
                      <a:pt x="1660" y="110"/>
                      <a:pt x="1650" y="107"/>
                      <a:pt x="1642" y="111"/>
                    </a:cubicBezTo>
                    <a:cubicBezTo>
                      <a:pt x="1635" y="115"/>
                      <a:pt x="1632" y="125"/>
                      <a:pt x="1636" y="133"/>
                    </a:cubicBezTo>
                    <a:cubicBezTo>
                      <a:pt x="1653" y="163"/>
                      <a:pt x="1642" y="224"/>
                      <a:pt x="1635" y="243"/>
                    </a:cubicBezTo>
                    <a:cubicBezTo>
                      <a:pt x="1626" y="244"/>
                      <a:pt x="1605" y="245"/>
                      <a:pt x="1575" y="242"/>
                    </a:cubicBezTo>
                    <a:cubicBezTo>
                      <a:pt x="1566" y="241"/>
                      <a:pt x="1558" y="247"/>
                      <a:pt x="1557" y="256"/>
                    </a:cubicBezTo>
                    <a:cubicBezTo>
                      <a:pt x="1556" y="265"/>
                      <a:pt x="1563" y="273"/>
                      <a:pt x="1571" y="274"/>
                    </a:cubicBezTo>
                    <a:cubicBezTo>
                      <a:pt x="1588" y="276"/>
                      <a:pt x="1602" y="276"/>
                      <a:pt x="1615" y="276"/>
                    </a:cubicBezTo>
                    <a:cubicBezTo>
                      <a:pt x="1633" y="276"/>
                      <a:pt x="1646" y="275"/>
                      <a:pt x="1652" y="273"/>
                    </a:cubicBezTo>
                    <a:close/>
                    <a:moveTo>
                      <a:pt x="1634" y="248"/>
                    </a:moveTo>
                    <a:cubicBezTo>
                      <a:pt x="1634" y="248"/>
                      <a:pt x="1634" y="248"/>
                      <a:pt x="1634" y="248"/>
                    </a:cubicBezTo>
                    <a:close/>
                    <a:moveTo>
                      <a:pt x="1688" y="33"/>
                    </a:moveTo>
                    <a:cubicBezTo>
                      <a:pt x="1614" y="29"/>
                      <a:pt x="1642" y="10"/>
                      <a:pt x="1561" y="4"/>
                    </a:cubicBezTo>
                    <a:cubicBezTo>
                      <a:pt x="1491" y="0"/>
                      <a:pt x="1453" y="39"/>
                      <a:pt x="1433" y="74"/>
                    </a:cubicBezTo>
                    <a:cubicBezTo>
                      <a:pt x="1392" y="148"/>
                      <a:pt x="1463" y="230"/>
                      <a:pt x="1475" y="243"/>
                    </a:cubicBezTo>
                    <a:cubicBezTo>
                      <a:pt x="1476" y="244"/>
                      <a:pt x="1477" y="244"/>
                      <a:pt x="1477" y="242"/>
                    </a:cubicBezTo>
                    <a:cubicBezTo>
                      <a:pt x="1477" y="242"/>
                      <a:pt x="1477" y="242"/>
                      <a:pt x="1481" y="187"/>
                    </a:cubicBezTo>
                    <a:cubicBezTo>
                      <a:pt x="1481" y="187"/>
                      <a:pt x="1481" y="187"/>
                      <a:pt x="1481" y="187"/>
                    </a:cubicBezTo>
                    <a:cubicBezTo>
                      <a:pt x="1480" y="182"/>
                      <a:pt x="1456" y="125"/>
                      <a:pt x="1487" y="112"/>
                    </a:cubicBezTo>
                    <a:cubicBezTo>
                      <a:pt x="1519" y="97"/>
                      <a:pt x="1524" y="142"/>
                      <a:pt x="1524" y="149"/>
                    </a:cubicBezTo>
                    <a:cubicBezTo>
                      <a:pt x="1524" y="150"/>
                      <a:pt x="1525" y="150"/>
                      <a:pt x="1525" y="150"/>
                    </a:cubicBezTo>
                    <a:cubicBezTo>
                      <a:pt x="1529" y="151"/>
                      <a:pt x="1545" y="154"/>
                      <a:pt x="1546" y="150"/>
                    </a:cubicBezTo>
                    <a:cubicBezTo>
                      <a:pt x="1548" y="116"/>
                      <a:pt x="1562" y="98"/>
                      <a:pt x="1579" y="87"/>
                    </a:cubicBezTo>
                    <a:cubicBezTo>
                      <a:pt x="1612" y="67"/>
                      <a:pt x="1658" y="76"/>
                      <a:pt x="1666" y="74"/>
                    </a:cubicBezTo>
                    <a:cubicBezTo>
                      <a:pt x="1666" y="73"/>
                      <a:pt x="1667" y="73"/>
                      <a:pt x="1667" y="73"/>
                    </a:cubicBezTo>
                    <a:cubicBezTo>
                      <a:pt x="1672" y="57"/>
                      <a:pt x="1696" y="33"/>
                      <a:pt x="1688" y="33"/>
                    </a:cubicBezTo>
                    <a:close/>
                    <a:moveTo>
                      <a:pt x="1456" y="1286"/>
                    </a:moveTo>
                    <a:cubicBezTo>
                      <a:pt x="1334" y="925"/>
                      <a:pt x="1334" y="925"/>
                      <a:pt x="1334" y="925"/>
                    </a:cubicBezTo>
                    <a:cubicBezTo>
                      <a:pt x="1333" y="922"/>
                      <a:pt x="1331" y="919"/>
                      <a:pt x="1329" y="917"/>
                    </a:cubicBezTo>
                    <a:cubicBezTo>
                      <a:pt x="1144" y="728"/>
                      <a:pt x="1144" y="728"/>
                      <a:pt x="1144" y="728"/>
                    </a:cubicBezTo>
                    <a:cubicBezTo>
                      <a:pt x="1131" y="733"/>
                      <a:pt x="1116" y="739"/>
                      <a:pt x="1099" y="745"/>
                    </a:cubicBezTo>
                    <a:cubicBezTo>
                      <a:pt x="1294" y="944"/>
                      <a:pt x="1294" y="944"/>
                      <a:pt x="1294" y="944"/>
                    </a:cubicBezTo>
                    <a:cubicBezTo>
                      <a:pt x="1414" y="1300"/>
                      <a:pt x="1414" y="1300"/>
                      <a:pt x="1414" y="1300"/>
                    </a:cubicBezTo>
                    <a:cubicBezTo>
                      <a:pt x="1418" y="1312"/>
                      <a:pt x="1417" y="1325"/>
                      <a:pt x="1411" y="1336"/>
                    </a:cubicBezTo>
                    <a:cubicBezTo>
                      <a:pt x="1409" y="1342"/>
                      <a:pt x="1405" y="1346"/>
                      <a:pt x="1400" y="1350"/>
                    </a:cubicBezTo>
                    <a:cubicBezTo>
                      <a:pt x="1226" y="1002"/>
                      <a:pt x="1226" y="1002"/>
                      <a:pt x="1226" y="1002"/>
                    </a:cubicBezTo>
                    <a:cubicBezTo>
                      <a:pt x="1224" y="998"/>
                      <a:pt x="1221" y="995"/>
                      <a:pt x="1217" y="993"/>
                    </a:cubicBezTo>
                    <a:cubicBezTo>
                      <a:pt x="1209" y="988"/>
                      <a:pt x="1013" y="878"/>
                      <a:pt x="969" y="859"/>
                    </a:cubicBezTo>
                    <a:cubicBezTo>
                      <a:pt x="939" y="846"/>
                      <a:pt x="940" y="803"/>
                      <a:pt x="940" y="802"/>
                    </a:cubicBezTo>
                    <a:cubicBezTo>
                      <a:pt x="940" y="801"/>
                      <a:pt x="939" y="799"/>
                      <a:pt x="939" y="798"/>
                    </a:cubicBezTo>
                    <a:cubicBezTo>
                      <a:pt x="937" y="786"/>
                      <a:pt x="937" y="786"/>
                      <a:pt x="937" y="786"/>
                    </a:cubicBezTo>
                    <a:cubicBezTo>
                      <a:pt x="923" y="789"/>
                      <a:pt x="908" y="791"/>
                      <a:pt x="894" y="793"/>
                    </a:cubicBezTo>
                    <a:cubicBezTo>
                      <a:pt x="896" y="804"/>
                      <a:pt x="896" y="804"/>
                      <a:pt x="896" y="804"/>
                    </a:cubicBezTo>
                    <a:cubicBezTo>
                      <a:pt x="896" y="817"/>
                      <a:pt x="900" y="877"/>
                      <a:pt x="951" y="899"/>
                    </a:cubicBezTo>
                    <a:cubicBezTo>
                      <a:pt x="989" y="916"/>
                      <a:pt x="1156" y="1009"/>
                      <a:pt x="1190" y="1028"/>
                    </a:cubicBezTo>
                    <a:cubicBezTo>
                      <a:pt x="1371" y="1390"/>
                      <a:pt x="1371" y="1390"/>
                      <a:pt x="1371" y="1390"/>
                    </a:cubicBezTo>
                    <a:cubicBezTo>
                      <a:pt x="1374" y="1397"/>
                      <a:pt x="1382" y="1402"/>
                      <a:pt x="1390" y="1402"/>
                    </a:cubicBezTo>
                    <a:cubicBezTo>
                      <a:pt x="1392" y="1402"/>
                      <a:pt x="1395" y="1402"/>
                      <a:pt x="1397" y="1401"/>
                    </a:cubicBezTo>
                    <a:cubicBezTo>
                      <a:pt x="1420" y="1394"/>
                      <a:pt x="1439" y="1378"/>
                      <a:pt x="1451" y="1356"/>
                    </a:cubicBezTo>
                    <a:cubicBezTo>
                      <a:pt x="1462" y="1334"/>
                      <a:pt x="1464" y="1310"/>
                      <a:pt x="1456" y="1286"/>
                    </a:cubicBezTo>
                    <a:close/>
                    <a:moveTo>
                      <a:pt x="1006" y="273"/>
                    </a:moveTo>
                    <a:cubicBezTo>
                      <a:pt x="1014" y="270"/>
                      <a:pt x="1017" y="262"/>
                      <a:pt x="1018" y="258"/>
                    </a:cubicBezTo>
                    <a:cubicBezTo>
                      <a:pt x="1027" y="235"/>
                      <a:pt x="1042" y="160"/>
                      <a:pt x="1018" y="117"/>
                    </a:cubicBezTo>
                    <a:cubicBezTo>
                      <a:pt x="1014" y="110"/>
                      <a:pt x="1004" y="107"/>
                      <a:pt x="996" y="111"/>
                    </a:cubicBezTo>
                    <a:cubicBezTo>
                      <a:pt x="989" y="115"/>
                      <a:pt x="986" y="125"/>
                      <a:pt x="990" y="133"/>
                    </a:cubicBezTo>
                    <a:cubicBezTo>
                      <a:pt x="1007" y="163"/>
                      <a:pt x="996" y="224"/>
                      <a:pt x="989" y="243"/>
                    </a:cubicBezTo>
                    <a:cubicBezTo>
                      <a:pt x="980" y="244"/>
                      <a:pt x="959" y="245"/>
                      <a:pt x="929" y="242"/>
                    </a:cubicBezTo>
                    <a:cubicBezTo>
                      <a:pt x="920" y="241"/>
                      <a:pt x="912" y="247"/>
                      <a:pt x="911" y="256"/>
                    </a:cubicBezTo>
                    <a:cubicBezTo>
                      <a:pt x="910" y="265"/>
                      <a:pt x="917" y="273"/>
                      <a:pt x="925" y="274"/>
                    </a:cubicBezTo>
                    <a:cubicBezTo>
                      <a:pt x="942" y="276"/>
                      <a:pt x="956" y="276"/>
                      <a:pt x="969" y="276"/>
                    </a:cubicBezTo>
                    <a:cubicBezTo>
                      <a:pt x="987" y="276"/>
                      <a:pt x="1000" y="275"/>
                      <a:pt x="1006" y="273"/>
                    </a:cubicBezTo>
                    <a:close/>
                    <a:moveTo>
                      <a:pt x="988" y="248"/>
                    </a:moveTo>
                    <a:cubicBezTo>
                      <a:pt x="988" y="248"/>
                      <a:pt x="988" y="248"/>
                      <a:pt x="988" y="248"/>
                    </a:cubicBezTo>
                    <a:close/>
                    <a:moveTo>
                      <a:pt x="1042" y="33"/>
                    </a:moveTo>
                    <a:cubicBezTo>
                      <a:pt x="968" y="29"/>
                      <a:pt x="996" y="10"/>
                      <a:pt x="915" y="4"/>
                    </a:cubicBezTo>
                    <a:cubicBezTo>
                      <a:pt x="845" y="0"/>
                      <a:pt x="807" y="39"/>
                      <a:pt x="787" y="74"/>
                    </a:cubicBezTo>
                    <a:cubicBezTo>
                      <a:pt x="746" y="148"/>
                      <a:pt x="817" y="230"/>
                      <a:pt x="829" y="243"/>
                    </a:cubicBezTo>
                    <a:cubicBezTo>
                      <a:pt x="830" y="244"/>
                      <a:pt x="831" y="244"/>
                      <a:pt x="831" y="242"/>
                    </a:cubicBezTo>
                    <a:cubicBezTo>
                      <a:pt x="831" y="242"/>
                      <a:pt x="831" y="242"/>
                      <a:pt x="835" y="187"/>
                    </a:cubicBezTo>
                    <a:cubicBezTo>
                      <a:pt x="835" y="187"/>
                      <a:pt x="835" y="187"/>
                      <a:pt x="835" y="187"/>
                    </a:cubicBezTo>
                    <a:cubicBezTo>
                      <a:pt x="834" y="182"/>
                      <a:pt x="810" y="125"/>
                      <a:pt x="841" y="112"/>
                    </a:cubicBezTo>
                    <a:cubicBezTo>
                      <a:pt x="873" y="97"/>
                      <a:pt x="878" y="142"/>
                      <a:pt x="878" y="149"/>
                    </a:cubicBezTo>
                    <a:cubicBezTo>
                      <a:pt x="878" y="150"/>
                      <a:pt x="879" y="150"/>
                      <a:pt x="879" y="150"/>
                    </a:cubicBezTo>
                    <a:cubicBezTo>
                      <a:pt x="883" y="151"/>
                      <a:pt x="899" y="154"/>
                      <a:pt x="900" y="150"/>
                    </a:cubicBezTo>
                    <a:cubicBezTo>
                      <a:pt x="902" y="116"/>
                      <a:pt x="916" y="98"/>
                      <a:pt x="933" y="87"/>
                    </a:cubicBezTo>
                    <a:cubicBezTo>
                      <a:pt x="966" y="67"/>
                      <a:pt x="1012" y="76"/>
                      <a:pt x="1020" y="74"/>
                    </a:cubicBezTo>
                    <a:cubicBezTo>
                      <a:pt x="1020" y="73"/>
                      <a:pt x="1021" y="73"/>
                      <a:pt x="1021" y="73"/>
                    </a:cubicBezTo>
                    <a:cubicBezTo>
                      <a:pt x="1026" y="57"/>
                      <a:pt x="1050" y="33"/>
                      <a:pt x="1042" y="33"/>
                    </a:cubicBezTo>
                    <a:close/>
                    <a:moveTo>
                      <a:pt x="155" y="582"/>
                    </a:moveTo>
                    <a:cubicBezTo>
                      <a:pt x="67" y="598"/>
                      <a:pt x="0" y="676"/>
                      <a:pt x="0" y="768"/>
                    </a:cubicBezTo>
                    <a:cubicBezTo>
                      <a:pt x="0" y="1061"/>
                      <a:pt x="0" y="1061"/>
                      <a:pt x="0" y="1061"/>
                    </a:cubicBezTo>
                    <a:cubicBezTo>
                      <a:pt x="0" y="1073"/>
                      <a:pt x="10" y="1083"/>
                      <a:pt x="22" y="1083"/>
                    </a:cubicBezTo>
                    <a:cubicBezTo>
                      <a:pt x="34" y="1083"/>
                      <a:pt x="44" y="1073"/>
                      <a:pt x="44" y="1061"/>
                    </a:cubicBezTo>
                    <a:cubicBezTo>
                      <a:pt x="44" y="768"/>
                      <a:pt x="44" y="768"/>
                      <a:pt x="44" y="768"/>
                    </a:cubicBezTo>
                    <a:cubicBezTo>
                      <a:pt x="44" y="697"/>
                      <a:pt x="95" y="638"/>
                      <a:pt x="163" y="625"/>
                    </a:cubicBezTo>
                    <a:lnTo>
                      <a:pt x="155" y="582"/>
                    </a:lnTo>
                    <a:close/>
                    <a:moveTo>
                      <a:pt x="713" y="623"/>
                    </a:moveTo>
                    <a:cubicBezTo>
                      <a:pt x="808" y="623"/>
                      <a:pt x="808" y="623"/>
                      <a:pt x="808" y="623"/>
                    </a:cubicBezTo>
                    <a:cubicBezTo>
                      <a:pt x="800" y="579"/>
                      <a:pt x="800" y="579"/>
                      <a:pt x="800" y="579"/>
                    </a:cubicBezTo>
                    <a:cubicBezTo>
                      <a:pt x="719" y="579"/>
                      <a:pt x="719" y="579"/>
                      <a:pt x="719" y="579"/>
                    </a:cubicBezTo>
                    <a:cubicBezTo>
                      <a:pt x="723" y="594"/>
                      <a:pt x="721" y="610"/>
                      <a:pt x="713" y="623"/>
                    </a:cubicBezTo>
                    <a:close/>
                    <a:moveTo>
                      <a:pt x="1359" y="623"/>
                    </a:moveTo>
                    <a:cubicBezTo>
                      <a:pt x="1454" y="623"/>
                      <a:pt x="1454" y="623"/>
                      <a:pt x="1454" y="623"/>
                    </a:cubicBezTo>
                    <a:cubicBezTo>
                      <a:pt x="1446" y="579"/>
                      <a:pt x="1446" y="579"/>
                      <a:pt x="1446" y="579"/>
                    </a:cubicBezTo>
                    <a:cubicBezTo>
                      <a:pt x="1365" y="579"/>
                      <a:pt x="1365" y="579"/>
                      <a:pt x="1365" y="579"/>
                    </a:cubicBezTo>
                    <a:cubicBezTo>
                      <a:pt x="1369" y="594"/>
                      <a:pt x="1367" y="610"/>
                      <a:pt x="1359" y="623"/>
                    </a:cubicBezTo>
                    <a:close/>
                    <a:moveTo>
                      <a:pt x="2126" y="579"/>
                    </a:moveTo>
                    <a:cubicBezTo>
                      <a:pt x="2011" y="579"/>
                      <a:pt x="2011" y="579"/>
                      <a:pt x="2011" y="579"/>
                    </a:cubicBezTo>
                    <a:cubicBezTo>
                      <a:pt x="2015" y="594"/>
                      <a:pt x="2013" y="610"/>
                      <a:pt x="2005" y="623"/>
                    </a:cubicBezTo>
                    <a:cubicBezTo>
                      <a:pt x="2126" y="623"/>
                      <a:pt x="2126" y="623"/>
                      <a:pt x="2126" y="623"/>
                    </a:cubicBezTo>
                    <a:cubicBezTo>
                      <a:pt x="2138" y="623"/>
                      <a:pt x="2148" y="613"/>
                      <a:pt x="2148" y="601"/>
                    </a:cubicBezTo>
                    <a:cubicBezTo>
                      <a:pt x="2148" y="589"/>
                      <a:pt x="2138" y="579"/>
                      <a:pt x="2126" y="579"/>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t" anchorCtr="0" compatLnSpc="1">
                <a:prstTxWarp prst="textNoShape">
                  <a:avLst/>
                </a:prstTxWarp>
              </a:bodyPr>
              <a:lstStyle/>
              <a:p>
                <a:endParaRPr lang="en-US" sz="1559">
                  <a:ea typeface="Microsoft YaHei" panose="020B0503020204020204" pitchFamily="34" charset="-122"/>
                  <a:sym typeface="+mn-lt"/>
                </a:endParaRPr>
              </a:p>
            </p:txBody>
          </p:sp>
        </p:grpSp>
      </p:grpSp>
      <p:grpSp>
        <p:nvGrpSpPr>
          <p:cNvPr id="152" name="Group 151">
            <a:extLst>
              <a:ext uri="{FF2B5EF4-FFF2-40B4-BE49-F238E27FC236}">
                <a16:creationId xmlns:a16="http://schemas.microsoft.com/office/drawing/2014/main" id="{2A1CC1BA-AE79-491D-8B08-E8B4CB76D7B0}"/>
              </a:ext>
            </a:extLst>
          </p:cNvPr>
          <p:cNvGrpSpPr>
            <a:grpSpLocks/>
          </p:cNvGrpSpPr>
          <p:nvPr/>
        </p:nvGrpSpPr>
        <p:grpSpPr>
          <a:xfrm>
            <a:off x="630000" y="1891690"/>
            <a:ext cx="365760" cy="365760"/>
            <a:chOff x="5273675" y="2606675"/>
            <a:chExt cx="1646238" cy="1644650"/>
          </a:xfrm>
        </p:grpSpPr>
        <p:sp>
          <p:nvSpPr>
            <p:cNvPr id="229" name="AutoShape 3">
              <a:extLst>
                <a:ext uri="{FF2B5EF4-FFF2-40B4-BE49-F238E27FC236}">
                  <a16:creationId xmlns:a16="http://schemas.microsoft.com/office/drawing/2014/main" id="{BE3673C0-9E52-4A9D-B954-5C9C897B48B2}"/>
                </a:ext>
              </a:extLst>
            </p:cNvPr>
            <p:cNvSpPr>
              <a:spLocks noChangeAspect="1" noChangeArrowheads="1" noTextEdit="1"/>
            </p:cNvSpPr>
            <p:nvPr/>
          </p:nvSpPr>
          <p:spPr bwMode="auto">
            <a:xfrm>
              <a:off x="5273675"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grpSp>
          <p:nvGrpSpPr>
            <p:cNvPr id="230" name="Group 229">
              <a:extLst>
                <a:ext uri="{FF2B5EF4-FFF2-40B4-BE49-F238E27FC236}">
                  <a16:creationId xmlns:a16="http://schemas.microsoft.com/office/drawing/2014/main" id="{F9F1CE54-478B-4861-B3D1-B94147394177}"/>
                </a:ext>
              </a:extLst>
            </p:cNvPr>
            <p:cNvGrpSpPr/>
            <p:nvPr/>
          </p:nvGrpSpPr>
          <p:grpSpPr>
            <a:xfrm>
              <a:off x="5403692" y="2736691"/>
              <a:ext cx="1386206" cy="1386047"/>
              <a:chOff x="5403692" y="2736691"/>
              <a:chExt cx="1386206" cy="1386047"/>
            </a:xfrm>
          </p:grpSpPr>
          <p:sp>
            <p:nvSpPr>
              <p:cNvPr id="231" name="Freeform 10">
                <a:extLst>
                  <a:ext uri="{FF2B5EF4-FFF2-40B4-BE49-F238E27FC236}">
                    <a16:creationId xmlns:a16="http://schemas.microsoft.com/office/drawing/2014/main" id="{920DABF5-2A0B-44A5-8E1F-C2188CCC103A}"/>
                  </a:ext>
                </a:extLst>
              </p:cNvPr>
              <p:cNvSpPr>
                <a:spLocks/>
              </p:cNvSpPr>
              <p:nvPr/>
            </p:nvSpPr>
            <p:spPr bwMode="auto">
              <a:xfrm>
                <a:off x="5559425" y="2892424"/>
                <a:ext cx="1076325" cy="1074738"/>
              </a:xfrm>
              <a:custGeom>
                <a:avLst/>
                <a:gdLst>
                  <a:gd name="connsiteX0" fmla="*/ 172708 w 1076325"/>
                  <a:gd name="connsiteY0" fmla="*/ 952336 h 1074738"/>
                  <a:gd name="connsiteX1" fmla="*/ 183563 w 1076325"/>
                  <a:gd name="connsiteY1" fmla="*/ 956606 h 1074738"/>
                  <a:gd name="connsiteX2" fmla="*/ 260350 w 1076325"/>
                  <a:gd name="connsiteY2" fmla="*/ 1032751 h 1074738"/>
                  <a:gd name="connsiteX3" fmla="*/ 258197 w 1076325"/>
                  <a:gd name="connsiteY3" fmla="*/ 1074738 h 1074738"/>
                  <a:gd name="connsiteX4" fmla="*/ 161316 w 1076325"/>
                  <a:gd name="connsiteY4" fmla="*/ 978667 h 1074738"/>
                  <a:gd name="connsiteX5" fmla="*/ 161316 w 1076325"/>
                  <a:gd name="connsiteY5" fmla="*/ 956606 h 1074738"/>
                  <a:gd name="connsiteX6" fmla="*/ 172708 w 1076325"/>
                  <a:gd name="connsiteY6" fmla="*/ 952336 h 1074738"/>
                  <a:gd name="connsiteX7" fmla="*/ 255786 w 1076325"/>
                  <a:gd name="connsiteY7" fmla="*/ 872972 h 1074738"/>
                  <a:gd name="connsiteX8" fmla="*/ 258763 w 1076325"/>
                  <a:gd name="connsiteY8" fmla="*/ 915988 h 1074738"/>
                  <a:gd name="connsiteX9" fmla="*/ 241647 w 1076325"/>
                  <a:gd name="connsiteY9" fmla="*/ 899499 h 1074738"/>
                  <a:gd name="connsiteX10" fmla="*/ 241647 w 1076325"/>
                  <a:gd name="connsiteY10" fmla="*/ 877274 h 1074738"/>
                  <a:gd name="connsiteX11" fmla="*/ 255786 w 1076325"/>
                  <a:gd name="connsiteY11" fmla="*/ 872972 h 1074738"/>
                  <a:gd name="connsiteX12" fmla="*/ 158750 w 1076325"/>
                  <a:gd name="connsiteY12" fmla="*/ 817563 h 1074738"/>
                  <a:gd name="connsiteX13" fmla="*/ 201766 w 1076325"/>
                  <a:gd name="connsiteY13" fmla="*/ 820315 h 1074738"/>
                  <a:gd name="connsiteX14" fmla="*/ 197464 w 1076325"/>
                  <a:gd name="connsiteY14" fmla="*/ 833386 h 1074738"/>
                  <a:gd name="connsiteX15" fmla="*/ 186710 w 1076325"/>
                  <a:gd name="connsiteY15" fmla="*/ 838201 h 1074738"/>
                  <a:gd name="connsiteX16" fmla="*/ 175239 w 1076325"/>
                  <a:gd name="connsiteY16" fmla="*/ 833386 h 1074738"/>
                  <a:gd name="connsiteX17" fmla="*/ 41986 w 1076325"/>
                  <a:gd name="connsiteY17" fmla="*/ 814388 h 1074738"/>
                  <a:gd name="connsiteX18" fmla="*/ 118132 w 1076325"/>
                  <a:gd name="connsiteY18" fmla="*/ 891063 h 1074738"/>
                  <a:gd name="connsiteX19" fmla="*/ 118132 w 1076325"/>
                  <a:gd name="connsiteY19" fmla="*/ 913277 h 1074738"/>
                  <a:gd name="connsiteX20" fmla="*/ 106745 w 1076325"/>
                  <a:gd name="connsiteY20" fmla="*/ 917576 h 1074738"/>
                  <a:gd name="connsiteX21" fmla="*/ 96071 w 1076325"/>
                  <a:gd name="connsiteY21" fmla="*/ 913277 h 1074738"/>
                  <a:gd name="connsiteX22" fmla="*/ 0 w 1076325"/>
                  <a:gd name="connsiteY22" fmla="*/ 816538 h 1074738"/>
                  <a:gd name="connsiteX23" fmla="*/ 41986 w 1076325"/>
                  <a:gd name="connsiteY23" fmla="*/ 814388 h 1074738"/>
                  <a:gd name="connsiteX24" fmla="*/ 412161 w 1076325"/>
                  <a:gd name="connsiteY24" fmla="*/ 712807 h 1074738"/>
                  <a:gd name="connsiteX25" fmla="*/ 423409 w 1076325"/>
                  <a:gd name="connsiteY25" fmla="*/ 717630 h 1074738"/>
                  <a:gd name="connsiteX26" fmla="*/ 444501 w 1076325"/>
                  <a:gd name="connsiteY26" fmla="*/ 739775 h 1074738"/>
                  <a:gd name="connsiteX27" fmla="*/ 399506 w 1076325"/>
                  <a:gd name="connsiteY27" fmla="*/ 737632 h 1074738"/>
                  <a:gd name="connsiteX28" fmla="*/ 400912 w 1076325"/>
                  <a:gd name="connsiteY28" fmla="*/ 717630 h 1074738"/>
                  <a:gd name="connsiteX29" fmla="*/ 412161 w 1076325"/>
                  <a:gd name="connsiteY29" fmla="*/ 712807 h 1074738"/>
                  <a:gd name="connsiteX30" fmla="*/ 490406 w 1076325"/>
                  <a:gd name="connsiteY30" fmla="*/ 633434 h 1074738"/>
                  <a:gd name="connsiteX31" fmla="*/ 501809 w 1076325"/>
                  <a:gd name="connsiteY31" fmla="*/ 638259 h 1074738"/>
                  <a:gd name="connsiteX32" fmla="*/ 601663 w 1076325"/>
                  <a:gd name="connsiteY32" fmla="*/ 736916 h 1074738"/>
                  <a:gd name="connsiteX33" fmla="*/ 559997 w 1076325"/>
                  <a:gd name="connsiteY33" fmla="*/ 739775 h 1074738"/>
                  <a:gd name="connsiteX34" fmla="*/ 479540 w 1076325"/>
                  <a:gd name="connsiteY34" fmla="*/ 660421 h 1074738"/>
                  <a:gd name="connsiteX35" fmla="*/ 479540 w 1076325"/>
                  <a:gd name="connsiteY35" fmla="*/ 638259 h 1074738"/>
                  <a:gd name="connsiteX36" fmla="*/ 490406 w 1076325"/>
                  <a:gd name="connsiteY36" fmla="*/ 633434 h 1074738"/>
                  <a:gd name="connsiteX37" fmla="*/ 334963 w 1076325"/>
                  <a:gd name="connsiteY37" fmla="*/ 630238 h 1074738"/>
                  <a:gd name="connsiteX38" fmla="*/ 357108 w 1076325"/>
                  <a:gd name="connsiteY38" fmla="*/ 651950 h 1074738"/>
                  <a:gd name="connsiteX39" fmla="*/ 357108 w 1076325"/>
                  <a:gd name="connsiteY39" fmla="*/ 675109 h 1074738"/>
                  <a:gd name="connsiteX40" fmla="*/ 345678 w 1076325"/>
                  <a:gd name="connsiteY40" fmla="*/ 679451 h 1074738"/>
                  <a:gd name="connsiteX41" fmla="*/ 337106 w 1076325"/>
                  <a:gd name="connsiteY41" fmla="*/ 676556 h 1074738"/>
                  <a:gd name="connsiteX42" fmla="*/ 334963 w 1076325"/>
                  <a:gd name="connsiteY42" fmla="*/ 630238 h 1074738"/>
                  <a:gd name="connsiteX43" fmla="*/ 571127 w 1076325"/>
                  <a:gd name="connsiteY43" fmla="*/ 553882 h 1074738"/>
                  <a:gd name="connsiteX44" fmla="*/ 581954 w 1076325"/>
                  <a:gd name="connsiteY44" fmla="*/ 558176 h 1074738"/>
                  <a:gd name="connsiteX45" fmla="*/ 714376 w 1076325"/>
                  <a:gd name="connsiteY45" fmla="*/ 690598 h 1074738"/>
                  <a:gd name="connsiteX46" fmla="*/ 705070 w 1076325"/>
                  <a:gd name="connsiteY46" fmla="*/ 703483 h 1074738"/>
                  <a:gd name="connsiteX47" fmla="*/ 692186 w 1076325"/>
                  <a:gd name="connsiteY47" fmla="*/ 712788 h 1074738"/>
                  <a:gd name="connsiteX48" fmla="*/ 559764 w 1076325"/>
                  <a:gd name="connsiteY48" fmla="*/ 580366 h 1074738"/>
                  <a:gd name="connsiteX49" fmla="*/ 559764 w 1076325"/>
                  <a:gd name="connsiteY49" fmla="*/ 558176 h 1074738"/>
                  <a:gd name="connsiteX50" fmla="*/ 571127 w 1076325"/>
                  <a:gd name="connsiteY50" fmla="*/ 553882 h 1074738"/>
                  <a:gd name="connsiteX51" fmla="*/ 650660 w 1076325"/>
                  <a:gd name="connsiteY51" fmla="*/ 474672 h 1074738"/>
                  <a:gd name="connsiteX52" fmla="*/ 662009 w 1076325"/>
                  <a:gd name="connsiteY52" fmla="*/ 479461 h 1074738"/>
                  <a:gd name="connsiteX53" fmla="*/ 741363 w 1076325"/>
                  <a:gd name="connsiteY53" fmla="*/ 558924 h 1074738"/>
                  <a:gd name="connsiteX54" fmla="*/ 738503 w 1076325"/>
                  <a:gd name="connsiteY54" fmla="*/ 600075 h 1074738"/>
                  <a:gd name="connsiteX55" fmla="*/ 639847 w 1076325"/>
                  <a:gd name="connsiteY55" fmla="*/ 501455 h 1074738"/>
                  <a:gd name="connsiteX56" fmla="*/ 639847 w 1076325"/>
                  <a:gd name="connsiteY56" fmla="*/ 479461 h 1074738"/>
                  <a:gd name="connsiteX57" fmla="*/ 650660 w 1076325"/>
                  <a:gd name="connsiteY57" fmla="*/ 474672 h 1074738"/>
                  <a:gd name="connsiteX58" fmla="*/ 337822 w 1076325"/>
                  <a:gd name="connsiteY58" fmla="*/ 473075 h 1074738"/>
                  <a:gd name="connsiteX59" fmla="*/ 436479 w 1076325"/>
                  <a:gd name="connsiteY59" fmla="*/ 572810 h 1074738"/>
                  <a:gd name="connsiteX60" fmla="*/ 436479 w 1076325"/>
                  <a:gd name="connsiteY60" fmla="*/ 595053 h 1074738"/>
                  <a:gd name="connsiteX61" fmla="*/ 425755 w 1076325"/>
                  <a:gd name="connsiteY61" fmla="*/ 600075 h 1074738"/>
                  <a:gd name="connsiteX62" fmla="*/ 414317 w 1076325"/>
                  <a:gd name="connsiteY62" fmla="*/ 595053 h 1074738"/>
                  <a:gd name="connsiteX63" fmla="*/ 334963 w 1076325"/>
                  <a:gd name="connsiteY63" fmla="*/ 514691 h 1074738"/>
                  <a:gd name="connsiteX64" fmla="*/ 337822 w 1076325"/>
                  <a:gd name="connsiteY64" fmla="*/ 473075 h 1074738"/>
                  <a:gd name="connsiteX65" fmla="*/ 728951 w 1076325"/>
                  <a:gd name="connsiteY65" fmla="*/ 395242 h 1074738"/>
                  <a:gd name="connsiteX66" fmla="*/ 739220 w 1076325"/>
                  <a:gd name="connsiteY66" fmla="*/ 398054 h 1074738"/>
                  <a:gd name="connsiteX67" fmla="*/ 741363 w 1076325"/>
                  <a:gd name="connsiteY67" fmla="*/ 444500 h 1074738"/>
                  <a:gd name="connsiteX68" fmla="*/ 719217 w 1076325"/>
                  <a:gd name="connsiteY68" fmla="*/ 422729 h 1074738"/>
                  <a:gd name="connsiteX69" fmla="*/ 719217 w 1076325"/>
                  <a:gd name="connsiteY69" fmla="*/ 399506 h 1074738"/>
                  <a:gd name="connsiteX70" fmla="*/ 728951 w 1076325"/>
                  <a:gd name="connsiteY70" fmla="*/ 395242 h 1074738"/>
                  <a:gd name="connsiteX71" fmla="*/ 384139 w 1076325"/>
                  <a:gd name="connsiteY71" fmla="*/ 361950 h 1074738"/>
                  <a:gd name="connsiteX72" fmla="*/ 516561 w 1076325"/>
                  <a:gd name="connsiteY72" fmla="*/ 494242 h 1074738"/>
                  <a:gd name="connsiteX73" fmla="*/ 516561 w 1076325"/>
                  <a:gd name="connsiteY73" fmla="*/ 516410 h 1074738"/>
                  <a:gd name="connsiteX74" fmla="*/ 505109 w 1076325"/>
                  <a:gd name="connsiteY74" fmla="*/ 520700 h 1074738"/>
                  <a:gd name="connsiteX75" fmla="*/ 494372 w 1076325"/>
                  <a:gd name="connsiteY75" fmla="*/ 516410 h 1074738"/>
                  <a:gd name="connsiteX76" fmla="*/ 361950 w 1076325"/>
                  <a:gd name="connsiteY76" fmla="*/ 384118 h 1074738"/>
                  <a:gd name="connsiteX77" fmla="*/ 371255 w 1076325"/>
                  <a:gd name="connsiteY77" fmla="*/ 371246 h 1074738"/>
                  <a:gd name="connsiteX78" fmla="*/ 384139 w 1076325"/>
                  <a:gd name="connsiteY78" fmla="*/ 361950 h 1074738"/>
                  <a:gd name="connsiteX79" fmla="*/ 631825 w 1076325"/>
                  <a:gd name="connsiteY79" fmla="*/ 334963 h 1074738"/>
                  <a:gd name="connsiteX80" fmla="*/ 676819 w 1076325"/>
                  <a:gd name="connsiteY80" fmla="*/ 337023 h 1074738"/>
                  <a:gd name="connsiteX81" fmla="*/ 675413 w 1076325"/>
                  <a:gd name="connsiteY81" fmla="*/ 356244 h 1074738"/>
                  <a:gd name="connsiteX82" fmla="*/ 664165 w 1076325"/>
                  <a:gd name="connsiteY82" fmla="*/ 360363 h 1074738"/>
                  <a:gd name="connsiteX83" fmla="*/ 652916 w 1076325"/>
                  <a:gd name="connsiteY83" fmla="*/ 356244 h 1074738"/>
                  <a:gd name="connsiteX84" fmla="*/ 631825 w 1076325"/>
                  <a:gd name="connsiteY84" fmla="*/ 334963 h 1074738"/>
                  <a:gd name="connsiteX85" fmla="*/ 515814 w 1076325"/>
                  <a:gd name="connsiteY85" fmla="*/ 334963 h 1074738"/>
                  <a:gd name="connsiteX86" fmla="*/ 595277 w 1076325"/>
                  <a:gd name="connsiteY86" fmla="*/ 414200 h 1074738"/>
                  <a:gd name="connsiteX87" fmla="*/ 595277 w 1076325"/>
                  <a:gd name="connsiteY87" fmla="*/ 436329 h 1074738"/>
                  <a:gd name="connsiteX88" fmla="*/ 584635 w 1076325"/>
                  <a:gd name="connsiteY88" fmla="*/ 441326 h 1074738"/>
                  <a:gd name="connsiteX89" fmla="*/ 573283 w 1076325"/>
                  <a:gd name="connsiteY89" fmla="*/ 436329 h 1074738"/>
                  <a:gd name="connsiteX90" fmla="*/ 474663 w 1076325"/>
                  <a:gd name="connsiteY90" fmla="*/ 337819 h 1074738"/>
                  <a:gd name="connsiteX91" fmla="*/ 515814 w 1076325"/>
                  <a:gd name="connsiteY91" fmla="*/ 334963 h 1074738"/>
                  <a:gd name="connsiteX92" fmla="*/ 889704 w 1076325"/>
                  <a:gd name="connsiteY92" fmla="*/ 236513 h 1074738"/>
                  <a:gd name="connsiteX93" fmla="*/ 901085 w 1076325"/>
                  <a:gd name="connsiteY93" fmla="*/ 241201 h 1074738"/>
                  <a:gd name="connsiteX94" fmla="*/ 917575 w 1076325"/>
                  <a:gd name="connsiteY94" fmla="*/ 257175 h 1074738"/>
                  <a:gd name="connsiteX95" fmla="*/ 874559 w 1076325"/>
                  <a:gd name="connsiteY95" fmla="*/ 254397 h 1074738"/>
                  <a:gd name="connsiteX96" fmla="*/ 878860 w 1076325"/>
                  <a:gd name="connsiteY96" fmla="*/ 241201 h 1074738"/>
                  <a:gd name="connsiteX97" fmla="*/ 889704 w 1076325"/>
                  <a:gd name="connsiteY97" fmla="*/ 236513 h 1074738"/>
                  <a:gd name="connsiteX98" fmla="*/ 817563 w 1076325"/>
                  <a:gd name="connsiteY98" fmla="*/ 158750 h 1074738"/>
                  <a:gd name="connsiteX99" fmla="*/ 834678 w 1076325"/>
                  <a:gd name="connsiteY99" fmla="*/ 175510 h 1074738"/>
                  <a:gd name="connsiteX100" fmla="*/ 834678 w 1076325"/>
                  <a:gd name="connsiteY100" fmla="*/ 198099 h 1074738"/>
                  <a:gd name="connsiteX101" fmla="*/ 823516 w 1076325"/>
                  <a:gd name="connsiteY101" fmla="*/ 203200 h 1074738"/>
                  <a:gd name="connsiteX102" fmla="*/ 820539 w 1076325"/>
                  <a:gd name="connsiteY102" fmla="*/ 202471 h 1074738"/>
                  <a:gd name="connsiteX103" fmla="*/ 817563 w 1076325"/>
                  <a:gd name="connsiteY103" fmla="*/ 158750 h 1074738"/>
                  <a:gd name="connsiteX104" fmla="*/ 969491 w 1076325"/>
                  <a:gd name="connsiteY104" fmla="*/ 157010 h 1074738"/>
                  <a:gd name="connsiteX105" fmla="*/ 980254 w 1076325"/>
                  <a:gd name="connsiteY105" fmla="*/ 161316 h 1074738"/>
                  <a:gd name="connsiteX106" fmla="*/ 1076325 w 1076325"/>
                  <a:gd name="connsiteY106" fmla="*/ 258197 h 1074738"/>
                  <a:gd name="connsiteX107" fmla="*/ 1033627 w 1076325"/>
                  <a:gd name="connsiteY107" fmla="*/ 260350 h 1074738"/>
                  <a:gd name="connsiteX108" fmla="*/ 958193 w 1076325"/>
                  <a:gd name="connsiteY108" fmla="*/ 183563 h 1074738"/>
                  <a:gd name="connsiteX109" fmla="*/ 958193 w 1076325"/>
                  <a:gd name="connsiteY109" fmla="*/ 161316 h 1074738"/>
                  <a:gd name="connsiteX110" fmla="*/ 969491 w 1076325"/>
                  <a:gd name="connsiteY110" fmla="*/ 157010 h 1074738"/>
                  <a:gd name="connsiteX111" fmla="*/ 818128 w 1076325"/>
                  <a:gd name="connsiteY111" fmla="*/ 0 h 1074738"/>
                  <a:gd name="connsiteX112" fmla="*/ 915009 w 1076325"/>
                  <a:gd name="connsiteY112" fmla="*/ 95942 h 1074738"/>
                  <a:gd name="connsiteX113" fmla="*/ 915009 w 1076325"/>
                  <a:gd name="connsiteY113" fmla="*/ 117974 h 1074738"/>
                  <a:gd name="connsiteX114" fmla="*/ 903526 w 1076325"/>
                  <a:gd name="connsiteY114" fmla="*/ 122238 h 1074738"/>
                  <a:gd name="connsiteX115" fmla="*/ 892762 w 1076325"/>
                  <a:gd name="connsiteY115" fmla="*/ 117974 h 1074738"/>
                  <a:gd name="connsiteX116" fmla="*/ 815975 w 1076325"/>
                  <a:gd name="connsiteY116" fmla="*/ 41930 h 1074738"/>
                  <a:gd name="connsiteX117" fmla="*/ 818128 w 1076325"/>
                  <a:gd name="connsiteY117" fmla="*/ 0 h 1074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076325" h="1074738">
                    <a:moveTo>
                      <a:pt x="172708" y="952336"/>
                    </a:moveTo>
                    <a:cubicBezTo>
                      <a:pt x="176745" y="952336"/>
                      <a:pt x="180692" y="953760"/>
                      <a:pt x="183563" y="956606"/>
                    </a:cubicBezTo>
                    <a:cubicBezTo>
                      <a:pt x="183563" y="956606"/>
                      <a:pt x="183563" y="956606"/>
                      <a:pt x="260350" y="1032751"/>
                    </a:cubicBezTo>
                    <a:cubicBezTo>
                      <a:pt x="259632" y="1046984"/>
                      <a:pt x="258914" y="1061217"/>
                      <a:pt x="258197" y="1074738"/>
                    </a:cubicBezTo>
                    <a:cubicBezTo>
                      <a:pt x="258197" y="1074738"/>
                      <a:pt x="258197" y="1074738"/>
                      <a:pt x="161316" y="978667"/>
                    </a:cubicBezTo>
                    <a:cubicBezTo>
                      <a:pt x="155575" y="972974"/>
                      <a:pt x="155575" y="963011"/>
                      <a:pt x="161316" y="956606"/>
                    </a:cubicBezTo>
                    <a:cubicBezTo>
                      <a:pt x="164545" y="953760"/>
                      <a:pt x="168672" y="952336"/>
                      <a:pt x="172708" y="952336"/>
                    </a:cubicBezTo>
                    <a:close/>
                    <a:moveTo>
                      <a:pt x="255786" y="872972"/>
                    </a:moveTo>
                    <a:cubicBezTo>
                      <a:pt x="257274" y="887311"/>
                      <a:pt x="258019" y="901649"/>
                      <a:pt x="258763" y="915988"/>
                    </a:cubicBezTo>
                    <a:lnTo>
                      <a:pt x="241647" y="899499"/>
                    </a:lnTo>
                    <a:cubicBezTo>
                      <a:pt x="234950" y="893046"/>
                      <a:pt x="234950" y="883009"/>
                      <a:pt x="241647" y="877274"/>
                    </a:cubicBezTo>
                    <a:cubicBezTo>
                      <a:pt x="245368" y="872972"/>
                      <a:pt x="251321" y="871538"/>
                      <a:pt x="255786" y="872972"/>
                    </a:cubicBezTo>
                    <a:close/>
                    <a:moveTo>
                      <a:pt x="158750" y="817563"/>
                    </a:moveTo>
                    <a:cubicBezTo>
                      <a:pt x="173088" y="818251"/>
                      <a:pt x="187427" y="818939"/>
                      <a:pt x="201766" y="820315"/>
                    </a:cubicBezTo>
                    <a:cubicBezTo>
                      <a:pt x="203200" y="824442"/>
                      <a:pt x="201766" y="829946"/>
                      <a:pt x="197464" y="833386"/>
                    </a:cubicBezTo>
                    <a:cubicBezTo>
                      <a:pt x="194597" y="836825"/>
                      <a:pt x="190295" y="838201"/>
                      <a:pt x="186710" y="838201"/>
                    </a:cubicBezTo>
                    <a:cubicBezTo>
                      <a:pt x="182409" y="838201"/>
                      <a:pt x="178107" y="836825"/>
                      <a:pt x="175239" y="833386"/>
                    </a:cubicBezTo>
                    <a:close/>
                    <a:moveTo>
                      <a:pt x="41986" y="814388"/>
                    </a:moveTo>
                    <a:lnTo>
                      <a:pt x="118132" y="891063"/>
                    </a:lnTo>
                    <a:cubicBezTo>
                      <a:pt x="123825" y="896795"/>
                      <a:pt x="123825" y="906827"/>
                      <a:pt x="118132" y="913277"/>
                    </a:cubicBezTo>
                    <a:cubicBezTo>
                      <a:pt x="114573" y="916143"/>
                      <a:pt x="111015" y="917576"/>
                      <a:pt x="106745" y="917576"/>
                    </a:cubicBezTo>
                    <a:cubicBezTo>
                      <a:pt x="103187" y="917576"/>
                      <a:pt x="98917" y="916143"/>
                      <a:pt x="96071" y="913277"/>
                    </a:cubicBezTo>
                    <a:cubicBezTo>
                      <a:pt x="96071" y="913277"/>
                      <a:pt x="96071" y="913277"/>
                      <a:pt x="0" y="816538"/>
                    </a:cubicBezTo>
                    <a:cubicBezTo>
                      <a:pt x="13521" y="815821"/>
                      <a:pt x="27754" y="815105"/>
                      <a:pt x="41986" y="814388"/>
                    </a:cubicBezTo>
                    <a:close/>
                    <a:moveTo>
                      <a:pt x="412161" y="712807"/>
                    </a:moveTo>
                    <a:cubicBezTo>
                      <a:pt x="416203" y="712808"/>
                      <a:pt x="420246" y="714415"/>
                      <a:pt x="423409" y="717630"/>
                    </a:cubicBezTo>
                    <a:cubicBezTo>
                      <a:pt x="423409" y="717630"/>
                      <a:pt x="423409" y="717630"/>
                      <a:pt x="444501" y="739775"/>
                    </a:cubicBezTo>
                    <a:cubicBezTo>
                      <a:pt x="429737" y="739061"/>
                      <a:pt x="414270" y="738346"/>
                      <a:pt x="399506" y="737632"/>
                    </a:cubicBezTo>
                    <a:cubicBezTo>
                      <a:pt x="395288" y="731203"/>
                      <a:pt x="395991" y="723345"/>
                      <a:pt x="400912" y="717630"/>
                    </a:cubicBezTo>
                    <a:cubicBezTo>
                      <a:pt x="404076" y="714415"/>
                      <a:pt x="408118" y="712808"/>
                      <a:pt x="412161" y="712807"/>
                    </a:cubicBezTo>
                    <a:close/>
                    <a:moveTo>
                      <a:pt x="490406" y="633434"/>
                    </a:moveTo>
                    <a:cubicBezTo>
                      <a:pt x="494446" y="633434"/>
                      <a:pt x="498577" y="635042"/>
                      <a:pt x="501809" y="638259"/>
                    </a:cubicBezTo>
                    <a:cubicBezTo>
                      <a:pt x="501809" y="638259"/>
                      <a:pt x="501809" y="638259"/>
                      <a:pt x="601663" y="736916"/>
                    </a:cubicBezTo>
                    <a:cubicBezTo>
                      <a:pt x="588014" y="738345"/>
                      <a:pt x="574365" y="739775"/>
                      <a:pt x="559997" y="739775"/>
                    </a:cubicBezTo>
                    <a:cubicBezTo>
                      <a:pt x="559997" y="739775"/>
                      <a:pt x="559997" y="739775"/>
                      <a:pt x="479540" y="660421"/>
                    </a:cubicBezTo>
                    <a:cubicBezTo>
                      <a:pt x="473075" y="653987"/>
                      <a:pt x="473075" y="643978"/>
                      <a:pt x="479540" y="638259"/>
                    </a:cubicBezTo>
                    <a:cubicBezTo>
                      <a:pt x="482414" y="635042"/>
                      <a:pt x="486365" y="633434"/>
                      <a:pt x="490406" y="633434"/>
                    </a:cubicBezTo>
                    <a:close/>
                    <a:moveTo>
                      <a:pt x="334963" y="630238"/>
                    </a:moveTo>
                    <a:lnTo>
                      <a:pt x="357108" y="651950"/>
                    </a:lnTo>
                    <a:cubicBezTo>
                      <a:pt x="363538" y="658463"/>
                      <a:pt x="363538" y="668595"/>
                      <a:pt x="357108" y="675109"/>
                    </a:cubicBezTo>
                    <a:cubicBezTo>
                      <a:pt x="354251" y="678004"/>
                      <a:pt x="349965" y="679451"/>
                      <a:pt x="345678" y="679451"/>
                    </a:cubicBezTo>
                    <a:cubicBezTo>
                      <a:pt x="342821" y="679451"/>
                      <a:pt x="339963" y="678727"/>
                      <a:pt x="337106" y="676556"/>
                    </a:cubicBezTo>
                    <a:cubicBezTo>
                      <a:pt x="336392" y="661358"/>
                      <a:pt x="335677" y="645436"/>
                      <a:pt x="334963" y="630238"/>
                    </a:cubicBezTo>
                    <a:close/>
                    <a:moveTo>
                      <a:pt x="571127" y="553882"/>
                    </a:moveTo>
                    <a:cubicBezTo>
                      <a:pt x="575154" y="553882"/>
                      <a:pt x="579091" y="555313"/>
                      <a:pt x="581954" y="558176"/>
                    </a:cubicBezTo>
                    <a:cubicBezTo>
                      <a:pt x="581954" y="558176"/>
                      <a:pt x="581954" y="558176"/>
                      <a:pt x="714376" y="690598"/>
                    </a:cubicBezTo>
                    <a:cubicBezTo>
                      <a:pt x="711513" y="695609"/>
                      <a:pt x="708649" y="699904"/>
                      <a:pt x="705070" y="703483"/>
                    </a:cubicBezTo>
                    <a:cubicBezTo>
                      <a:pt x="701491" y="707062"/>
                      <a:pt x="697197" y="709925"/>
                      <a:pt x="692186" y="712788"/>
                    </a:cubicBezTo>
                    <a:cubicBezTo>
                      <a:pt x="692186" y="712788"/>
                      <a:pt x="692186" y="712788"/>
                      <a:pt x="559764" y="580366"/>
                    </a:cubicBezTo>
                    <a:cubicBezTo>
                      <a:pt x="554038" y="574640"/>
                      <a:pt x="554038" y="564619"/>
                      <a:pt x="559764" y="558176"/>
                    </a:cubicBezTo>
                    <a:cubicBezTo>
                      <a:pt x="562985" y="555313"/>
                      <a:pt x="567101" y="553882"/>
                      <a:pt x="571127" y="553882"/>
                    </a:cubicBezTo>
                    <a:close/>
                    <a:moveTo>
                      <a:pt x="650660" y="474672"/>
                    </a:moveTo>
                    <a:cubicBezTo>
                      <a:pt x="654681" y="474671"/>
                      <a:pt x="658792" y="476268"/>
                      <a:pt x="662009" y="479461"/>
                    </a:cubicBezTo>
                    <a:cubicBezTo>
                      <a:pt x="662009" y="479461"/>
                      <a:pt x="662009" y="479461"/>
                      <a:pt x="741363" y="558924"/>
                    </a:cubicBezTo>
                    <a:cubicBezTo>
                      <a:pt x="741363" y="573114"/>
                      <a:pt x="739933" y="586595"/>
                      <a:pt x="738503" y="600075"/>
                    </a:cubicBezTo>
                    <a:cubicBezTo>
                      <a:pt x="738503" y="600075"/>
                      <a:pt x="738503" y="600075"/>
                      <a:pt x="639847" y="501455"/>
                    </a:cubicBezTo>
                    <a:cubicBezTo>
                      <a:pt x="633413" y="495070"/>
                      <a:pt x="633413" y="485137"/>
                      <a:pt x="639847" y="479461"/>
                    </a:cubicBezTo>
                    <a:cubicBezTo>
                      <a:pt x="642707" y="476268"/>
                      <a:pt x="646639" y="474671"/>
                      <a:pt x="650660" y="474672"/>
                    </a:cubicBezTo>
                    <a:close/>
                    <a:moveTo>
                      <a:pt x="337822" y="473075"/>
                    </a:moveTo>
                    <a:cubicBezTo>
                      <a:pt x="337822" y="473075"/>
                      <a:pt x="337822" y="473075"/>
                      <a:pt x="436479" y="572810"/>
                    </a:cubicBezTo>
                    <a:cubicBezTo>
                      <a:pt x="442913" y="579267"/>
                      <a:pt x="442913" y="589312"/>
                      <a:pt x="436479" y="595053"/>
                    </a:cubicBezTo>
                    <a:cubicBezTo>
                      <a:pt x="433619" y="597923"/>
                      <a:pt x="429330" y="600075"/>
                      <a:pt x="425755" y="600075"/>
                    </a:cubicBezTo>
                    <a:cubicBezTo>
                      <a:pt x="421466" y="600075"/>
                      <a:pt x="417891" y="597923"/>
                      <a:pt x="414317" y="595053"/>
                    </a:cubicBezTo>
                    <a:cubicBezTo>
                      <a:pt x="414317" y="595053"/>
                      <a:pt x="414317" y="595053"/>
                      <a:pt x="334963" y="514691"/>
                    </a:cubicBezTo>
                    <a:cubicBezTo>
                      <a:pt x="334963" y="500341"/>
                      <a:pt x="336393" y="486708"/>
                      <a:pt x="337822" y="473075"/>
                    </a:cubicBezTo>
                    <a:close/>
                    <a:moveTo>
                      <a:pt x="728951" y="395242"/>
                    </a:moveTo>
                    <a:cubicBezTo>
                      <a:pt x="732433" y="394970"/>
                      <a:pt x="736005" y="395877"/>
                      <a:pt x="739220" y="398054"/>
                    </a:cubicBezTo>
                    <a:cubicBezTo>
                      <a:pt x="739934" y="413294"/>
                      <a:pt x="740648" y="429260"/>
                      <a:pt x="741363" y="444500"/>
                    </a:cubicBezTo>
                    <a:lnTo>
                      <a:pt x="719217" y="422729"/>
                    </a:lnTo>
                    <a:cubicBezTo>
                      <a:pt x="712788" y="416197"/>
                      <a:pt x="712788" y="406037"/>
                      <a:pt x="719217" y="399506"/>
                    </a:cubicBezTo>
                    <a:cubicBezTo>
                      <a:pt x="722075" y="396966"/>
                      <a:pt x="725468" y="395514"/>
                      <a:pt x="728951" y="395242"/>
                    </a:cubicBezTo>
                    <a:close/>
                    <a:moveTo>
                      <a:pt x="384139" y="361950"/>
                    </a:moveTo>
                    <a:cubicBezTo>
                      <a:pt x="384139" y="361950"/>
                      <a:pt x="384139" y="361950"/>
                      <a:pt x="516561" y="494242"/>
                    </a:cubicBezTo>
                    <a:cubicBezTo>
                      <a:pt x="522288" y="499963"/>
                      <a:pt x="522288" y="509974"/>
                      <a:pt x="516561" y="516410"/>
                    </a:cubicBezTo>
                    <a:cubicBezTo>
                      <a:pt x="512982" y="519270"/>
                      <a:pt x="509403" y="520700"/>
                      <a:pt x="505109" y="520700"/>
                    </a:cubicBezTo>
                    <a:cubicBezTo>
                      <a:pt x="501530" y="520700"/>
                      <a:pt x="497235" y="519270"/>
                      <a:pt x="494372" y="516410"/>
                    </a:cubicBezTo>
                    <a:cubicBezTo>
                      <a:pt x="494372" y="516410"/>
                      <a:pt x="494372" y="516410"/>
                      <a:pt x="361950" y="384118"/>
                    </a:cubicBezTo>
                    <a:cubicBezTo>
                      <a:pt x="364813" y="379112"/>
                      <a:pt x="367676" y="374822"/>
                      <a:pt x="371255" y="371246"/>
                    </a:cubicBezTo>
                    <a:cubicBezTo>
                      <a:pt x="374834" y="367671"/>
                      <a:pt x="379129" y="364810"/>
                      <a:pt x="384139" y="361950"/>
                    </a:cubicBezTo>
                    <a:close/>
                    <a:moveTo>
                      <a:pt x="631825" y="334963"/>
                    </a:moveTo>
                    <a:cubicBezTo>
                      <a:pt x="646589" y="335650"/>
                      <a:pt x="662056" y="336336"/>
                      <a:pt x="676819" y="337023"/>
                    </a:cubicBezTo>
                    <a:cubicBezTo>
                      <a:pt x="681038" y="343201"/>
                      <a:pt x="680335" y="350752"/>
                      <a:pt x="675413" y="356244"/>
                    </a:cubicBezTo>
                    <a:cubicBezTo>
                      <a:pt x="671898" y="358990"/>
                      <a:pt x="668383" y="360363"/>
                      <a:pt x="664165" y="360363"/>
                    </a:cubicBezTo>
                    <a:cubicBezTo>
                      <a:pt x="659946" y="360363"/>
                      <a:pt x="656431" y="358990"/>
                      <a:pt x="652916" y="356244"/>
                    </a:cubicBezTo>
                    <a:cubicBezTo>
                      <a:pt x="652916" y="356244"/>
                      <a:pt x="652916" y="356244"/>
                      <a:pt x="631825" y="334963"/>
                    </a:cubicBezTo>
                    <a:close/>
                    <a:moveTo>
                      <a:pt x="515814" y="334963"/>
                    </a:moveTo>
                    <a:cubicBezTo>
                      <a:pt x="515814" y="334963"/>
                      <a:pt x="515814" y="334963"/>
                      <a:pt x="595277" y="414200"/>
                    </a:cubicBezTo>
                    <a:cubicBezTo>
                      <a:pt x="601663" y="420625"/>
                      <a:pt x="601663" y="430618"/>
                      <a:pt x="595277" y="436329"/>
                    </a:cubicBezTo>
                    <a:cubicBezTo>
                      <a:pt x="592439" y="439898"/>
                      <a:pt x="588182" y="441326"/>
                      <a:pt x="584635" y="441326"/>
                    </a:cubicBezTo>
                    <a:cubicBezTo>
                      <a:pt x="580378" y="441326"/>
                      <a:pt x="576121" y="439898"/>
                      <a:pt x="573283" y="436329"/>
                    </a:cubicBezTo>
                    <a:cubicBezTo>
                      <a:pt x="573283" y="436329"/>
                      <a:pt x="573283" y="436329"/>
                      <a:pt x="474663" y="337819"/>
                    </a:cubicBezTo>
                    <a:cubicBezTo>
                      <a:pt x="488143" y="336391"/>
                      <a:pt x="501624" y="334963"/>
                      <a:pt x="515814" y="334963"/>
                    </a:cubicBezTo>
                    <a:close/>
                    <a:moveTo>
                      <a:pt x="889704" y="236513"/>
                    </a:moveTo>
                    <a:cubicBezTo>
                      <a:pt x="893737" y="236513"/>
                      <a:pt x="897859" y="238076"/>
                      <a:pt x="901085" y="241201"/>
                    </a:cubicBezTo>
                    <a:cubicBezTo>
                      <a:pt x="901085" y="241201"/>
                      <a:pt x="901085" y="241201"/>
                      <a:pt x="917575" y="257175"/>
                    </a:cubicBezTo>
                    <a:cubicBezTo>
                      <a:pt x="903236" y="256481"/>
                      <a:pt x="888897" y="255786"/>
                      <a:pt x="874559" y="254397"/>
                    </a:cubicBezTo>
                    <a:cubicBezTo>
                      <a:pt x="873125" y="250230"/>
                      <a:pt x="874559" y="244674"/>
                      <a:pt x="878860" y="241201"/>
                    </a:cubicBezTo>
                    <a:cubicBezTo>
                      <a:pt x="881728" y="238076"/>
                      <a:pt x="885671" y="236513"/>
                      <a:pt x="889704" y="236513"/>
                    </a:cubicBezTo>
                    <a:close/>
                    <a:moveTo>
                      <a:pt x="817563" y="158750"/>
                    </a:moveTo>
                    <a:lnTo>
                      <a:pt x="834678" y="175510"/>
                    </a:lnTo>
                    <a:cubicBezTo>
                      <a:pt x="841376" y="182068"/>
                      <a:pt x="841376" y="192270"/>
                      <a:pt x="834678" y="198099"/>
                    </a:cubicBezTo>
                    <a:cubicBezTo>
                      <a:pt x="831702" y="201014"/>
                      <a:pt x="827237" y="203200"/>
                      <a:pt x="823516" y="203200"/>
                    </a:cubicBezTo>
                    <a:cubicBezTo>
                      <a:pt x="822028" y="203200"/>
                      <a:pt x="821284" y="202471"/>
                      <a:pt x="820539" y="202471"/>
                    </a:cubicBezTo>
                    <a:cubicBezTo>
                      <a:pt x="819051" y="187898"/>
                      <a:pt x="818307" y="173324"/>
                      <a:pt x="817563" y="158750"/>
                    </a:cubicBezTo>
                    <a:close/>
                    <a:moveTo>
                      <a:pt x="969491" y="157010"/>
                    </a:moveTo>
                    <a:cubicBezTo>
                      <a:pt x="973494" y="157010"/>
                      <a:pt x="977408" y="158446"/>
                      <a:pt x="980254" y="161316"/>
                    </a:cubicBezTo>
                    <a:cubicBezTo>
                      <a:pt x="980254" y="161316"/>
                      <a:pt x="980254" y="161316"/>
                      <a:pt x="1076325" y="258197"/>
                    </a:cubicBezTo>
                    <a:cubicBezTo>
                      <a:pt x="1062804" y="258915"/>
                      <a:pt x="1048571" y="259632"/>
                      <a:pt x="1033627" y="260350"/>
                    </a:cubicBezTo>
                    <a:cubicBezTo>
                      <a:pt x="1033627" y="260350"/>
                      <a:pt x="1033627" y="260350"/>
                      <a:pt x="958193" y="183563"/>
                    </a:cubicBezTo>
                    <a:cubicBezTo>
                      <a:pt x="952500" y="177822"/>
                      <a:pt x="952500" y="167775"/>
                      <a:pt x="958193" y="161316"/>
                    </a:cubicBezTo>
                    <a:cubicBezTo>
                      <a:pt x="961396" y="158446"/>
                      <a:pt x="965488" y="157010"/>
                      <a:pt x="969491" y="157010"/>
                    </a:cubicBezTo>
                    <a:close/>
                    <a:moveTo>
                      <a:pt x="818128" y="0"/>
                    </a:moveTo>
                    <a:lnTo>
                      <a:pt x="915009" y="95942"/>
                    </a:lnTo>
                    <a:cubicBezTo>
                      <a:pt x="920750" y="101628"/>
                      <a:pt x="920750" y="111578"/>
                      <a:pt x="915009" y="117974"/>
                    </a:cubicBezTo>
                    <a:cubicBezTo>
                      <a:pt x="911420" y="120816"/>
                      <a:pt x="907832" y="122238"/>
                      <a:pt x="903526" y="122238"/>
                    </a:cubicBezTo>
                    <a:cubicBezTo>
                      <a:pt x="899938" y="122238"/>
                      <a:pt x="895632" y="120816"/>
                      <a:pt x="892762" y="117974"/>
                    </a:cubicBezTo>
                    <a:cubicBezTo>
                      <a:pt x="892762" y="117974"/>
                      <a:pt x="892762" y="117974"/>
                      <a:pt x="815975" y="41930"/>
                    </a:cubicBezTo>
                    <a:cubicBezTo>
                      <a:pt x="816692" y="27717"/>
                      <a:pt x="817410" y="13503"/>
                      <a:pt x="818128"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t" anchorCtr="0" compatLnSpc="1">
                <a:prstTxWarp prst="textNoShape">
                  <a:avLst/>
                </a:prstTxWarp>
                <a:noAutofit/>
              </a:bodyPr>
              <a:lstStyle/>
              <a:p>
                <a:endParaRPr lang="en-US" sz="1559">
                  <a:ea typeface="Microsoft YaHei" panose="020B0503020204020204" pitchFamily="34" charset="-122"/>
                  <a:sym typeface="+mn-lt"/>
                </a:endParaRPr>
              </a:p>
            </p:txBody>
          </p:sp>
          <p:sp>
            <p:nvSpPr>
              <p:cNvPr id="232" name="Freeform 11">
                <a:extLst>
                  <a:ext uri="{FF2B5EF4-FFF2-40B4-BE49-F238E27FC236}">
                    <a16:creationId xmlns:a16="http://schemas.microsoft.com/office/drawing/2014/main" id="{333858BD-6EC5-448C-9354-665A60D5377B}"/>
                  </a:ext>
                </a:extLst>
              </p:cNvPr>
              <p:cNvSpPr>
                <a:spLocks/>
              </p:cNvSpPr>
              <p:nvPr/>
            </p:nvSpPr>
            <p:spPr bwMode="auto">
              <a:xfrm>
                <a:off x="5403692" y="2736691"/>
                <a:ext cx="1386206" cy="1386047"/>
              </a:xfrm>
              <a:custGeom>
                <a:avLst/>
                <a:gdLst>
                  <a:gd name="connsiteX0" fmla="*/ 439725 w 1386206"/>
                  <a:gd name="connsiteY0" fmla="*/ 982822 h 1386047"/>
                  <a:gd name="connsiteX1" fmla="*/ 455316 w 1386206"/>
                  <a:gd name="connsiteY1" fmla="*/ 983538 h 1386047"/>
                  <a:gd name="connsiteX2" fmla="*/ 470908 w 1386206"/>
                  <a:gd name="connsiteY2" fmla="*/ 984971 h 1386047"/>
                  <a:gd name="connsiteX3" fmla="*/ 470908 w 1386206"/>
                  <a:gd name="connsiteY3" fmla="*/ 989268 h 1386047"/>
                  <a:gd name="connsiteX4" fmla="*/ 471616 w 1386206"/>
                  <a:gd name="connsiteY4" fmla="*/ 992133 h 1386047"/>
                  <a:gd name="connsiteX5" fmla="*/ 472325 w 1386206"/>
                  <a:gd name="connsiteY5" fmla="*/ 1006457 h 1386047"/>
                  <a:gd name="connsiteX6" fmla="*/ 472325 w 1386206"/>
                  <a:gd name="connsiteY6" fmla="*/ 1009322 h 1386047"/>
                  <a:gd name="connsiteX7" fmla="*/ 473034 w 1386206"/>
                  <a:gd name="connsiteY7" fmla="*/ 1022930 h 1386047"/>
                  <a:gd name="connsiteX8" fmla="*/ 473743 w 1386206"/>
                  <a:gd name="connsiteY8" fmla="*/ 1025795 h 1386047"/>
                  <a:gd name="connsiteX9" fmla="*/ 474451 w 1386206"/>
                  <a:gd name="connsiteY9" fmla="*/ 1040119 h 1386047"/>
                  <a:gd name="connsiteX10" fmla="*/ 474451 w 1386206"/>
                  <a:gd name="connsiteY10" fmla="*/ 1042267 h 1386047"/>
                  <a:gd name="connsiteX11" fmla="*/ 475160 w 1386206"/>
                  <a:gd name="connsiteY11" fmla="*/ 1056592 h 1386047"/>
                  <a:gd name="connsiteX12" fmla="*/ 475160 w 1386206"/>
                  <a:gd name="connsiteY12" fmla="*/ 1058740 h 1386047"/>
                  <a:gd name="connsiteX13" fmla="*/ 475869 w 1386206"/>
                  <a:gd name="connsiteY13" fmla="*/ 1073064 h 1386047"/>
                  <a:gd name="connsiteX14" fmla="*/ 475869 w 1386206"/>
                  <a:gd name="connsiteY14" fmla="*/ 1074497 h 1386047"/>
                  <a:gd name="connsiteX15" fmla="*/ 476577 w 1386206"/>
                  <a:gd name="connsiteY15" fmla="*/ 1089537 h 1386047"/>
                  <a:gd name="connsiteX16" fmla="*/ 477286 w 1386206"/>
                  <a:gd name="connsiteY16" fmla="*/ 1104577 h 1386047"/>
                  <a:gd name="connsiteX17" fmla="*/ 477286 w 1386206"/>
                  <a:gd name="connsiteY17" fmla="*/ 1105294 h 1386047"/>
                  <a:gd name="connsiteX18" fmla="*/ 477286 w 1386206"/>
                  <a:gd name="connsiteY18" fmla="*/ 1119618 h 1386047"/>
                  <a:gd name="connsiteX19" fmla="*/ 477995 w 1386206"/>
                  <a:gd name="connsiteY19" fmla="*/ 1121050 h 1386047"/>
                  <a:gd name="connsiteX20" fmla="*/ 477995 w 1386206"/>
                  <a:gd name="connsiteY20" fmla="*/ 1135374 h 1386047"/>
                  <a:gd name="connsiteX21" fmla="*/ 477995 w 1386206"/>
                  <a:gd name="connsiteY21" fmla="*/ 1136807 h 1386047"/>
                  <a:gd name="connsiteX22" fmla="*/ 477995 w 1386206"/>
                  <a:gd name="connsiteY22" fmla="*/ 1150415 h 1386047"/>
                  <a:gd name="connsiteX23" fmla="*/ 477995 w 1386206"/>
                  <a:gd name="connsiteY23" fmla="*/ 1151847 h 1386047"/>
                  <a:gd name="connsiteX24" fmla="*/ 477995 w 1386206"/>
                  <a:gd name="connsiteY24" fmla="*/ 1165455 h 1386047"/>
                  <a:gd name="connsiteX25" fmla="*/ 477995 w 1386206"/>
                  <a:gd name="connsiteY25" fmla="*/ 1166888 h 1386047"/>
                  <a:gd name="connsiteX26" fmla="*/ 477995 w 1386206"/>
                  <a:gd name="connsiteY26" fmla="*/ 1179779 h 1386047"/>
                  <a:gd name="connsiteX27" fmla="*/ 477995 w 1386206"/>
                  <a:gd name="connsiteY27" fmla="*/ 1181928 h 1386047"/>
                  <a:gd name="connsiteX28" fmla="*/ 477995 w 1386206"/>
                  <a:gd name="connsiteY28" fmla="*/ 1194103 h 1386047"/>
                  <a:gd name="connsiteX29" fmla="*/ 477286 w 1386206"/>
                  <a:gd name="connsiteY29" fmla="*/ 1195536 h 1386047"/>
                  <a:gd name="connsiteX30" fmla="*/ 477286 w 1386206"/>
                  <a:gd name="connsiteY30" fmla="*/ 1208428 h 1386047"/>
                  <a:gd name="connsiteX31" fmla="*/ 477286 w 1386206"/>
                  <a:gd name="connsiteY31" fmla="*/ 1209860 h 1386047"/>
                  <a:gd name="connsiteX32" fmla="*/ 476577 w 1386206"/>
                  <a:gd name="connsiteY32" fmla="*/ 1222036 h 1386047"/>
                  <a:gd name="connsiteX33" fmla="*/ 476577 w 1386206"/>
                  <a:gd name="connsiteY33" fmla="*/ 1222752 h 1386047"/>
                  <a:gd name="connsiteX34" fmla="*/ 475160 w 1386206"/>
                  <a:gd name="connsiteY34" fmla="*/ 1234927 h 1386047"/>
                  <a:gd name="connsiteX35" fmla="*/ 475160 w 1386206"/>
                  <a:gd name="connsiteY35" fmla="*/ 1235643 h 1386047"/>
                  <a:gd name="connsiteX36" fmla="*/ 474451 w 1386206"/>
                  <a:gd name="connsiteY36" fmla="*/ 1247819 h 1386047"/>
                  <a:gd name="connsiteX37" fmla="*/ 473743 w 1386206"/>
                  <a:gd name="connsiteY37" fmla="*/ 1249251 h 1386047"/>
                  <a:gd name="connsiteX38" fmla="*/ 473034 w 1386206"/>
                  <a:gd name="connsiteY38" fmla="*/ 1259995 h 1386047"/>
                  <a:gd name="connsiteX39" fmla="*/ 472325 w 1386206"/>
                  <a:gd name="connsiteY39" fmla="*/ 1261427 h 1386047"/>
                  <a:gd name="connsiteX40" fmla="*/ 470908 w 1386206"/>
                  <a:gd name="connsiteY40" fmla="*/ 1272170 h 1386047"/>
                  <a:gd name="connsiteX41" fmla="*/ 470908 w 1386206"/>
                  <a:gd name="connsiteY41" fmla="*/ 1274319 h 1386047"/>
                  <a:gd name="connsiteX42" fmla="*/ 468782 w 1386206"/>
                  <a:gd name="connsiteY42" fmla="*/ 1284346 h 1386047"/>
                  <a:gd name="connsiteX43" fmla="*/ 468782 w 1386206"/>
                  <a:gd name="connsiteY43" fmla="*/ 1285778 h 1386047"/>
                  <a:gd name="connsiteX44" fmla="*/ 466655 w 1386206"/>
                  <a:gd name="connsiteY44" fmla="*/ 1295805 h 1386047"/>
                  <a:gd name="connsiteX45" fmla="*/ 466655 w 1386206"/>
                  <a:gd name="connsiteY45" fmla="*/ 1297237 h 1386047"/>
                  <a:gd name="connsiteX46" fmla="*/ 464529 w 1386206"/>
                  <a:gd name="connsiteY46" fmla="*/ 1306548 h 1386047"/>
                  <a:gd name="connsiteX47" fmla="*/ 463821 w 1386206"/>
                  <a:gd name="connsiteY47" fmla="*/ 1307980 h 1386047"/>
                  <a:gd name="connsiteX48" fmla="*/ 461695 w 1386206"/>
                  <a:gd name="connsiteY48" fmla="*/ 1317291 h 1386047"/>
                  <a:gd name="connsiteX49" fmla="*/ 460986 w 1386206"/>
                  <a:gd name="connsiteY49" fmla="*/ 1318007 h 1386047"/>
                  <a:gd name="connsiteX50" fmla="*/ 458151 w 1386206"/>
                  <a:gd name="connsiteY50" fmla="*/ 1327318 h 1386047"/>
                  <a:gd name="connsiteX51" fmla="*/ 458151 w 1386206"/>
                  <a:gd name="connsiteY51" fmla="*/ 1328034 h 1386047"/>
                  <a:gd name="connsiteX52" fmla="*/ 454607 w 1386206"/>
                  <a:gd name="connsiteY52" fmla="*/ 1336629 h 1386047"/>
                  <a:gd name="connsiteX53" fmla="*/ 454607 w 1386206"/>
                  <a:gd name="connsiteY53" fmla="*/ 1337345 h 1386047"/>
                  <a:gd name="connsiteX54" fmla="*/ 451064 w 1386206"/>
                  <a:gd name="connsiteY54" fmla="*/ 1345223 h 1386047"/>
                  <a:gd name="connsiteX55" fmla="*/ 450355 w 1386206"/>
                  <a:gd name="connsiteY55" fmla="*/ 1345940 h 1386047"/>
                  <a:gd name="connsiteX56" fmla="*/ 446812 w 1386206"/>
                  <a:gd name="connsiteY56" fmla="*/ 1353818 h 1386047"/>
                  <a:gd name="connsiteX57" fmla="*/ 446103 w 1386206"/>
                  <a:gd name="connsiteY57" fmla="*/ 1354534 h 1386047"/>
                  <a:gd name="connsiteX58" fmla="*/ 442559 w 1386206"/>
                  <a:gd name="connsiteY58" fmla="*/ 1361696 h 1386047"/>
                  <a:gd name="connsiteX59" fmla="*/ 441851 w 1386206"/>
                  <a:gd name="connsiteY59" fmla="*/ 1362412 h 1386047"/>
                  <a:gd name="connsiteX60" fmla="*/ 437599 w 1386206"/>
                  <a:gd name="connsiteY60" fmla="*/ 1368858 h 1386047"/>
                  <a:gd name="connsiteX61" fmla="*/ 436890 w 1386206"/>
                  <a:gd name="connsiteY61" fmla="*/ 1369574 h 1386047"/>
                  <a:gd name="connsiteX62" fmla="*/ 426968 w 1386206"/>
                  <a:gd name="connsiteY62" fmla="*/ 1381750 h 1386047"/>
                  <a:gd name="connsiteX63" fmla="*/ 415629 w 1386206"/>
                  <a:gd name="connsiteY63" fmla="*/ 1386047 h 1386047"/>
                  <a:gd name="connsiteX64" fmla="*/ 404998 w 1386206"/>
                  <a:gd name="connsiteY64" fmla="*/ 1381750 h 1386047"/>
                  <a:gd name="connsiteX65" fmla="*/ 404998 w 1386206"/>
                  <a:gd name="connsiteY65" fmla="*/ 1358831 h 1386047"/>
                  <a:gd name="connsiteX66" fmla="*/ 414920 w 1386206"/>
                  <a:gd name="connsiteY66" fmla="*/ 1346656 h 1386047"/>
                  <a:gd name="connsiteX67" fmla="*/ 418464 w 1386206"/>
                  <a:gd name="connsiteY67" fmla="*/ 1340210 h 1386047"/>
                  <a:gd name="connsiteX68" fmla="*/ 422007 w 1386206"/>
                  <a:gd name="connsiteY68" fmla="*/ 1333048 h 1386047"/>
                  <a:gd name="connsiteX69" fmla="*/ 422716 w 1386206"/>
                  <a:gd name="connsiteY69" fmla="*/ 1333048 h 1386047"/>
                  <a:gd name="connsiteX70" fmla="*/ 425551 w 1386206"/>
                  <a:gd name="connsiteY70" fmla="*/ 1325886 h 1386047"/>
                  <a:gd name="connsiteX71" fmla="*/ 426259 w 1386206"/>
                  <a:gd name="connsiteY71" fmla="*/ 1324453 h 1386047"/>
                  <a:gd name="connsiteX72" fmla="*/ 428385 w 1386206"/>
                  <a:gd name="connsiteY72" fmla="*/ 1317291 h 1386047"/>
                  <a:gd name="connsiteX73" fmla="*/ 429094 w 1386206"/>
                  <a:gd name="connsiteY73" fmla="*/ 1316575 h 1386047"/>
                  <a:gd name="connsiteX74" fmla="*/ 431929 w 1386206"/>
                  <a:gd name="connsiteY74" fmla="*/ 1308697 h 1386047"/>
                  <a:gd name="connsiteX75" fmla="*/ 431929 w 1386206"/>
                  <a:gd name="connsiteY75" fmla="*/ 1307264 h 1386047"/>
                  <a:gd name="connsiteX76" fmla="*/ 434055 w 1386206"/>
                  <a:gd name="connsiteY76" fmla="*/ 1298670 h 1386047"/>
                  <a:gd name="connsiteX77" fmla="*/ 434764 w 1386206"/>
                  <a:gd name="connsiteY77" fmla="*/ 1297954 h 1386047"/>
                  <a:gd name="connsiteX78" fmla="*/ 436890 w 1386206"/>
                  <a:gd name="connsiteY78" fmla="*/ 1288643 h 1386047"/>
                  <a:gd name="connsiteX79" fmla="*/ 436890 w 1386206"/>
                  <a:gd name="connsiteY79" fmla="*/ 1287927 h 1386047"/>
                  <a:gd name="connsiteX80" fmla="*/ 440433 w 1386206"/>
                  <a:gd name="connsiteY80" fmla="*/ 1267873 h 1386047"/>
                  <a:gd name="connsiteX81" fmla="*/ 440433 w 1386206"/>
                  <a:gd name="connsiteY81" fmla="*/ 1267157 h 1386047"/>
                  <a:gd name="connsiteX82" fmla="*/ 441851 w 1386206"/>
                  <a:gd name="connsiteY82" fmla="*/ 1259278 h 1386047"/>
                  <a:gd name="connsiteX83" fmla="*/ 441851 w 1386206"/>
                  <a:gd name="connsiteY83" fmla="*/ 1257130 h 1386047"/>
                  <a:gd name="connsiteX84" fmla="*/ 441851 w 1386206"/>
                  <a:gd name="connsiteY84" fmla="*/ 1255697 h 1386047"/>
                  <a:gd name="connsiteX85" fmla="*/ 443268 w 1386206"/>
                  <a:gd name="connsiteY85" fmla="*/ 1245670 h 1386047"/>
                  <a:gd name="connsiteX86" fmla="*/ 443268 w 1386206"/>
                  <a:gd name="connsiteY86" fmla="*/ 1244238 h 1386047"/>
                  <a:gd name="connsiteX87" fmla="*/ 443977 w 1386206"/>
                  <a:gd name="connsiteY87" fmla="*/ 1233495 h 1386047"/>
                  <a:gd name="connsiteX88" fmla="*/ 444686 w 1386206"/>
                  <a:gd name="connsiteY88" fmla="*/ 1232062 h 1386047"/>
                  <a:gd name="connsiteX89" fmla="*/ 445394 w 1386206"/>
                  <a:gd name="connsiteY89" fmla="*/ 1221319 h 1386047"/>
                  <a:gd name="connsiteX90" fmla="*/ 445394 w 1386206"/>
                  <a:gd name="connsiteY90" fmla="*/ 1219887 h 1386047"/>
                  <a:gd name="connsiteX91" fmla="*/ 445394 w 1386206"/>
                  <a:gd name="connsiteY91" fmla="*/ 1218455 h 1386047"/>
                  <a:gd name="connsiteX92" fmla="*/ 446103 w 1386206"/>
                  <a:gd name="connsiteY92" fmla="*/ 1208428 h 1386047"/>
                  <a:gd name="connsiteX93" fmla="*/ 446103 w 1386206"/>
                  <a:gd name="connsiteY93" fmla="*/ 1206995 h 1386047"/>
                  <a:gd name="connsiteX94" fmla="*/ 446103 w 1386206"/>
                  <a:gd name="connsiteY94" fmla="*/ 1194820 h 1386047"/>
                  <a:gd name="connsiteX95" fmla="*/ 446103 w 1386206"/>
                  <a:gd name="connsiteY95" fmla="*/ 1194103 h 1386047"/>
                  <a:gd name="connsiteX96" fmla="*/ 446812 w 1386206"/>
                  <a:gd name="connsiteY96" fmla="*/ 1168320 h 1386047"/>
                  <a:gd name="connsiteX97" fmla="*/ 446812 w 1386206"/>
                  <a:gd name="connsiteY97" fmla="*/ 1167604 h 1386047"/>
                  <a:gd name="connsiteX98" fmla="*/ 446812 w 1386206"/>
                  <a:gd name="connsiteY98" fmla="*/ 1154712 h 1386047"/>
                  <a:gd name="connsiteX99" fmla="*/ 446812 w 1386206"/>
                  <a:gd name="connsiteY99" fmla="*/ 1153280 h 1386047"/>
                  <a:gd name="connsiteX100" fmla="*/ 446812 w 1386206"/>
                  <a:gd name="connsiteY100" fmla="*/ 1140388 h 1386047"/>
                  <a:gd name="connsiteX101" fmla="*/ 446812 w 1386206"/>
                  <a:gd name="connsiteY101" fmla="*/ 1138955 h 1386047"/>
                  <a:gd name="connsiteX102" fmla="*/ 446812 w 1386206"/>
                  <a:gd name="connsiteY102" fmla="*/ 1126064 h 1386047"/>
                  <a:gd name="connsiteX103" fmla="*/ 446812 w 1386206"/>
                  <a:gd name="connsiteY103" fmla="*/ 1124631 h 1386047"/>
                  <a:gd name="connsiteX104" fmla="*/ 446103 w 1386206"/>
                  <a:gd name="connsiteY104" fmla="*/ 1111740 h 1386047"/>
                  <a:gd name="connsiteX105" fmla="*/ 446103 w 1386206"/>
                  <a:gd name="connsiteY105" fmla="*/ 1109591 h 1386047"/>
                  <a:gd name="connsiteX106" fmla="*/ 446103 w 1386206"/>
                  <a:gd name="connsiteY106" fmla="*/ 1103861 h 1386047"/>
                  <a:gd name="connsiteX107" fmla="*/ 445394 w 1386206"/>
                  <a:gd name="connsiteY107" fmla="*/ 1096699 h 1386047"/>
                  <a:gd name="connsiteX108" fmla="*/ 445394 w 1386206"/>
                  <a:gd name="connsiteY108" fmla="*/ 1095267 h 1386047"/>
                  <a:gd name="connsiteX109" fmla="*/ 445394 w 1386206"/>
                  <a:gd name="connsiteY109" fmla="*/ 1081659 h 1386047"/>
                  <a:gd name="connsiteX110" fmla="*/ 444686 w 1386206"/>
                  <a:gd name="connsiteY110" fmla="*/ 1080226 h 1386047"/>
                  <a:gd name="connsiteX111" fmla="*/ 443977 w 1386206"/>
                  <a:gd name="connsiteY111" fmla="*/ 1057308 h 1386047"/>
                  <a:gd name="connsiteX112" fmla="*/ 443268 w 1386206"/>
                  <a:gd name="connsiteY112" fmla="*/ 1051578 h 1386047"/>
                  <a:gd name="connsiteX113" fmla="*/ 443268 w 1386206"/>
                  <a:gd name="connsiteY113" fmla="*/ 1050862 h 1386047"/>
                  <a:gd name="connsiteX114" fmla="*/ 442559 w 1386206"/>
                  <a:gd name="connsiteY114" fmla="*/ 1036538 h 1386047"/>
                  <a:gd name="connsiteX115" fmla="*/ 442559 w 1386206"/>
                  <a:gd name="connsiteY115" fmla="*/ 1035105 h 1386047"/>
                  <a:gd name="connsiteX116" fmla="*/ 441851 w 1386206"/>
                  <a:gd name="connsiteY116" fmla="*/ 1021497 h 1386047"/>
                  <a:gd name="connsiteX117" fmla="*/ 441851 w 1386206"/>
                  <a:gd name="connsiteY117" fmla="*/ 1019349 h 1386047"/>
                  <a:gd name="connsiteX118" fmla="*/ 441142 w 1386206"/>
                  <a:gd name="connsiteY118" fmla="*/ 1005741 h 1386047"/>
                  <a:gd name="connsiteX119" fmla="*/ 440433 w 1386206"/>
                  <a:gd name="connsiteY119" fmla="*/ 1003592 h 1386047"/>
                  <a:gd name="connsiteX120" fmla="*/ 439725 w 1386206"/>
                  <a:gd name="connsiteY120" fmla="*/ 989984 h 1386047"/>
                  <a:gd name="connsiteX121" fmla="*/ 439725 w 1386206"/>
                  <a:gd name="connsiteY121" fmla="*/ 987836 h 1386047"/>
                  <a:gd name="connsiteX122" fmla="*/ 439725 w 1386206"/>
                  <a:gd name="connsiteY122" fmla="*/ 982822 h 1386047"/>
                  <a:gd name="connsiteX123" fmla="*/ 922715 w 1386206"/>
                  <a:gd name="connsiteY123" fmla="*/ 500222 h 1386047"/>
                  <a:gd name="connsiteX124" fmla="*/ 939153 w 1386206"/>
                  <a:gd name="connsiteY124" fmla="*/ 501647 h 1386047"/>
                  <a:gd name="connsiteX125" fmla="*/ 954163 w 1386206"/>
                  <a:gd name="connsiteY125" fmla="*/ 502359 h 1386047"/>
                  <a:gd name="connsiteX126" fmla="*/ 955592 w 1386206"/>
                  <a:gd name="connsiteY126" fmla="*/ 523727 h 1386047"/>
                  <a:gd name="connsiteX127" fmla="*/ 956307 w 1386206"/>
                  <a:gd name="connsiteY127" fmla="*/ 542247 h 1386047"/>
                  <a:gd name="connsiteX128" fmla="*/ 959166 w 1386206"/>
                  <a:gd name="connsiteY128" fmla="*/ 596380 h 1386047"/>
                  <a:gd name="connsiteX129" fmla="*/ 960595 w 1386206"/>
                  <a:gd name="connsiteY129" fmla="*/ 631994 h 1386047"/>
                  <a:gd name="connsiteX130" fmla="*/ 960595 w 1386206"/>
                  <a:gd name="connsiteY130" fmla="*/ 665471 h 1386047"/>
                  <a:gd name="connsiteX131" fmla="*/ 960595 w 1386206"/>
                  <a:gd name="connsiteY131" fmla="*/ 675443 h 1386047"/>
                  <a:gd name="connsiteX132" fmla="*/ 907705 w 1386206"/>
                  <a:gd name="connsiteY132" fmla="*/ 899811 h 1386047"/>
                  <a:gd name="connsiteX133" fmla="*/ 904131 w 1386206"/>
                  <a:gd name="connsiteY133" fmla="*/ 903373 h 1386047"/>
                  <a:gd name="connsiteX134" fmla="*/ 523181 w 1386206"/>
                  <a:gd name="connsiteY134" fmla="*/ 954657 h 1386047"/>
                  <a:gd name="connsiteX135" fmla="*/ 500309 w 1386206"/>
                  <a:gd name="connsiteY135" fmla="*/ 953232 h 1386047"/>
                  <a:gd name="connsiteX136" fmla="*/ 468861 w 1386206"/>
                  <a:gd name="connsiteY136" fmla="*/ 951095 h 1386047"/>
                  <a:gd name="connsiteX137" fmla="*/ 442416 w 1386206"/>
                  <a:gd name="connsiteY137" fmla="*/ 948959 h 1386047"/>
                  <a:gd name="connsiteX138" fmla="*/ 440987 w 1386206"/>
                  <a:gd name="connsiteY138" fmla="*/ 948959 h 1386047"/>
                  <a:gd name="connsiteX139" fmla="*/ 436699 w 1386206"/>
                  <a:gd name="connsiteY139" fmla="*/ 948959 h 1386047"/>
                  <a:gd name="connsiteX140" fmla="*/ 424548 w 1386206"/>
                  <a:gd name="connsiteY140" fmla="*/ 948246 h 1386047"/>
                  <a:gd name="connsiteX141" fmla="*/ 424548 w 1386206"/>
                  <a:gd name="connsiteY141" fmla="*/ 947534 h 1386047"/>
                  <a:gd name="connsiteX142" fmla="*/ 422404 w 1386206"/>
                  <a:gd name="connsiteY142" fmla="*/ 947534 h 1386047"/>
                  <a:gd name="connsiteX143" fmla="*/ 417401 w 1386206"/>
                  <a:gd name="connsiteY143" fmla="*/ 947534 h 1386047"/>
                  <a:gd name="connsiteX144" fmla="*/ 415971 w 1386206"/>
                  <a:gd name="connsiteY144" fmla="*/ 947534 h 1386047"/>
                  <a:gd name="connsiteX145" fmla="*/ 405250 w 1386206"/>
                  <a:gd name="connsiteY145" fmla="*/ 946822 h 1386047"/>
                  <a:gd name="connsiteX146" fmla="*/ 400962 w 1386206"/>
                  <a:gd name="connsiteY146" fmla="*/ 946109 h 1386047"/>
                  <a:gd name="connsiteX147" fmla="*/ 399533 w 1386206"/>
                  <a:gd name="connsiteY147" fmla="*/ 946109 h 1386047"/>
                  <a:gd name="connsiteX148" fmla="*/ 398818 w 1386206"/>
                  <a:gd name="connsiteY148" fmla="*/ 946109 h 1386047"/>
                  <a:gd name="connsiteX149" fmla="*/ 398103 w 1386206"/>
                  <a:gd name="connsiteY149" fmla="*/ 946109 h 1386047"/>
                  <a:gd name="connsiteX150" fmla="*/ 396674 w 1386206"/>
                  <a:gd name="connsiteY150" fmla="*/ 946109 h 1386047"/>
                  <a:gd name="connsiteX151" fmla="*/ 393815 w 1386206"/>
                  <a:gd name="connsiteY151" fmla="*/ 946109 h 1386047"/>
                  <a:gd name="connsiteX152" fmla="*/ 390956 w 1386206"/>
                  <a:gd name="connsiteY152" fmla="*/ 945397 h 1386047"/>
                  <a:gd name="connsiteX153" fmla="*/ 381664 w 1386206"/>
                  <a:gd name="connsiteY153" fmla="*/ 945397 h 1386047"/>
                  <a:gd name="connsiteX154" fmla="*/ 376661 w 1386206"/>
                  <a:gd name="connsiteY154" fmla="*/ 944685 h 1386047"/>
                  <a:gd name="connsiteX155" fmla="*/ 374517 w 1386206"/>
                  <a:gd name="connsiteY155" fmla="*/ 944685 h 1386047"/>
                  <a:gd name="connsiteX156" fmla="*/ 369514 w 1386206"/>
                  <a:gd name="connsiteY156" fmla="*/ 943973 h 1386047"/>
                  <a:gd name="connsiteX157" fmla="*/ 368085 w 1386206"/>
                  <a:gd name="connsiteY157" fmla="*/ 943973 h 1386047"/>
                  <a:gd name="connsiteX158" fmla="*/ 353790 w 1386206"/>
                  <a:gd name="connsiteY158" fmla="*/ 943260 h 1386047"/>
                  <a:gd name="connsiteX159" fmla="*/ 350931 w 1386206"/>
                  <a:gd name="connsiteY159" fmla="*/ 943260 h 1386047"/>
                  <a:gd name="connsiteX160" fmla="*/ 350216 w 1386206"/>
                  <a:gd name="connsiteY160" fmla="*/ 943260 h 1386047"/>
                  <a:gd name="connsiteX161" fmla="*/ 348787 w 1386206"/>
                  <a:gd name="connsiteY161" fmla="*/ 943260 h 1386047"/>
                  <a:gd name="connsiteX162" fmla="*/ 334492 w 1386206"/>
                  <a:gd name="connsiteY162" fmla="*/ 942548 h 1386047"/>
                  <a:gd name="connsiteX163" fmla="*/ 333778 w 1386206"/>
                  <a:gd name="connsiteY163" fmla="*/ 942548 h 1386047"/>
                  <a:gd name="connsiteX164" fmla="*/ 328060 w 1386206"/>
                  <a:gd name="connsiteY164" fmla="*/ 941836 h 1386047"/>
                  <a:gd name="connsiteX165" fmla="*/ 304474 w 1386206"/>
                  <a:gd name="connsiteY165" fmla="*/ 941123 h 1386047"/>
                  <a:gd name="connsiteX166" fmla="*/ 304474 w 1386206"/>
                  <a:gd name="connsiteY166" fmla="*/ 940411 h 1386047"/>
                  <a:gd name="connsiteX167" fmla="*/ 290179 w 1386206"/>
                  <a:gd name="connsiteY167" fmla="*/ 940411 h 1386047"/>
                  <a:gd name="connsiteX168" fmla="*/ 288750 w 1386206"/>
                  <a:gd name="connsiteY168" fmla="*/ 940411 h 1386047"/>
                  <a:gd name="connsiteX169" fmla="*/ 281602 w 1386206"/>
                  <a:gd name="connsiteY169" fmla="*/ 939699 h 1386047"/>
                  <a:gd name="connsiteX170" fmla="*/ 275885 w 1386206"/>
                  <a:gd name="connsiteY170" fmla="*/ 939699 h 1386047"/>
                  <a:gd name="connsiteX171" fmla="*/ 273740 w 1386206"/>
                  <a:gd name="connsiteY171" fmla="*/ 939699 h 1386047"/>
                  <a:gd name="connsiteX172" fmla="*/ 260875 w 1386206"/>
                  <a:gd name="connsiteY172" fmla="*/ 938987 h 1386047"/>
                  <a:gd name="connsiteX173" fmla="*/ 259446 w 1386206"/>
                  <a:gd name="connsiteY173" fmla="*/ 938987 h 1386047"/>
                  <a:gd name="connsiteX174" fmla="*/ 246581 w 1386206"/>
                  <a:gd name="connsiteY174" fmla="*/ 938987 h 1386047"/>
                  <a:gd name="connsiteX175" fmla="*/ 245151 w 1386206"/>
                  <a:gd name="connsiteY175" fmla="*/ 938987 h 1386047"/>
                  <a:gd name="connsiteX176" fmla="*/ 232286 w 1386206"/>
                  <a:gd name="connsiteY176" fmla="*/ 938987 h 1386047"/>
                  <a:gd name="connsiteX177" fmla="*/ 230857 w 1386206"/>
                  <a:gd name="connsiteY177" fmla="*/ 938987 h 1386047"/>
                  <a:gd name="connsiteX178" fmla="*/ 217992 w 1386206"/>
                  <a:gd name="connsiteY178" fmla="*/ 938987 h 1386047"/>
                  <a:gd name="connsiteX179" fmla="*/ 217277 w 1386206"/>
                  <a:gd name="connsiteY179" fmla="*/ 938987 h 1386047"/>
                  <a:gd name="connsiteX180" fmla="*/ 191547 w 1386206"/>
                  <a:gd name="connsiteY180" fmla="*/ 939699 h 1386047"/>
                  <a:gd name="connsiteX181" fmla="*/ 190832 w 1386206"/>
                  <a:gd name="connsiteY181" fmla="*/ 939699 h 1386047"/>
                  <a:gd name="connsiteX182" fmla="*/ 178681 w 1386206"/>
                  <a:gd name="connsiteY182" fmla="*/ 939699 h 1386047"/>
                  <a:gd name="connsiteX183" fmla="*/ 177252 w 1386206"/>
                  <a:gd name="connsiteY183" fmla="*/ 939699 h 1386047"/>
                  <a:gd name="connsiteX184" fmla="*/ 167246 w 1386206"/>
                  <a:gd name="connsiteY184" fmla="*/ 940411 h 1386047"/>
                  <a:gd name="connsiteX185" fmla="*/ 165816 w 1386206"/>
                  <a:gd name="connsiteY185" fmla="*/ 940411 h 1386047"/>
                  <a:gd name="connsiteX186" fmla="*/ 164387 w 1386206"/>
                  <a:gd name="connsiteY186" fmla="*/ 940411 h 1386047"/>
                  <a:gd name="connsiteX187" fmla="*/ 153666 w 1386206"/>
                  <a:gd name="connsiteY187" fmla="*/ 941123 h 1386047"/>
                  <a:gd name="connsiteX188" fmla="*/ 152236 w 1386206"/>
                  <a:gd name="connsiteY188" fmla="*/ 941836 h 1386047"/>
                  <a:gd name="connsiteX189" fmla="*/ 141516 w 1386206"/>
                  <a:gd name="connsiteY189" fmla="*/ 942548 h 1386047"/>
                  <a:gd name="connsiteX190" fmla="*/ 140086 w 1386206"/>
                  <a:gd name="connsiteY190" fmla="*/ 942548 h 1386047"/>
                  <a:gd name="connsiteX191" fmla="*/ 130080 w 1386206"/>
                  <a:gd name="connsiteY191" fmla="*/ 943973 h 1386047"/>
                  <a:gd name="connsiteX192" fmla="*/ 128650 w 1386206"/>
                  <a:gd name="connsiteY192" fmla="*/ 943973 h 1386047"/>
                  <a:gd name="connsiteX193" fmla="*/ 126506 w 1386206"/>
                  <a:gd name="connsiteY193" fmla="*/ 943973 h 1386047"/>
                  <a:gd name="connsiteX194" fmla="*/ 118644 w 1386206"/>
                  <a:gd name="connsiteY194" fmla="*/ 945397 h 1386047"/>
                  <a:gd name="connsiteX195" fmla="*/ 117929 w 1386206"/>
                  <a:gd name="connsiteY195" fmla="*/ 945397 h 1386047"/>
                  <a:gd name="connsiteX196" fmla="*/ 107209 w 1386206"/>
                  <a:gd name="connsiteY196" fmla="*/ 947534 h 1386047"/>
                  <a:gd name="connsiteX197" fmla="*/ 97917 w 1386206"/>
                  <a:gd name="connsiteY197" fmla="*/ 948959 h 1386047"/>
                  <a:gd name="connsiteX198" fmla="*/ 97202 w 1386206"/>
                  <a:gd name="connsiteY198" fmla="*/ 948959 h 1386047"/>
                  <a:gd name="connsiteX199" fmla="*/ 87911 w 1386206"/>
                  <a:gd name="connsiteY199" fmla="*/ 951095 h 1386047"/>
                  <a:gd name="connsiteX200" fmla="*/ 87196 w 1386206"/>
                  <a:gd name="connsiteY200" fmla="*/ 951808 h 1386047"/>
                  <a:gd name="connsiteX201" fmla="*/ 78619 w 1386206"/>
                  <a:gd name="connsiteY201" fmla="*/ 953945 h 1386047"/>
                  <a:gd name="connsiteX202" fmla="*/ 77190 w 1386206"/>
                  <a:gd name="connsiteY202" fmla="*/ 953945 h 1386047"/>
                  <a:gd name="connsiteX203" fmla="*/ 69328 w 1386206"/>
                  <a:gd name="connsiteY203" fmla="*/ 956794 h 1386047"/>
                  <a:gd name="connsiteX204" fmla="*/ 68613 w 1386206"/>
                  <a:gd name="connsiteY204" fmla="*/ 957506 h 1386047"/>
                  <a:gd name="connsiteX205" fmla="*/ 61466 w 1386206"/>
                  <a:gd name="connsiteY205" fmla="*/ 959643 h 1386047"/>
                  <a:gd name="connsiteX206" fmla="*/ 60036 w 1386206"/>
                  <a:gd name="connsiteY206" fmla="*/ 960355 h 1386047"/>
                  <a:gd name="connsiteX207" fmla="*/ 52889 w 1386206"/>
                  <a:gd name="connsiteY207" fmla="*/ 963204 h 1386047"/>
                  <a:gd name="connsiteX208" fmla="*/ 52889 w 1386206"/>
                  <a:gd name="connsiteY208" fmla="*/ 963916 h 1386047"/>
                  <a:gd name="connsiteX209" fmla="*/ 45742 w 1386206"/>
                  <a:gd name="connsiteY209" fmla="*/ 967478 h 1386047"/>
                  <a:gd name="connsiteX210" fmla="*/ 39309 w 1386206"/>
                  <a:gd name="connsiteY210" fmla="*/ 971039 h 1386047"/>
                  <a:gd name="connsiteX211" fmla="*/ 27159 w 1386206"/>
                  <a:gd name="connsiteY211" fmla="*/ 981011 h 1386047"/>
                  <a:gd name="connsiteX212" fmla="*/ 15723 w 1386206"/>
                  <a:gd name="connsiteY212" fmla="*/ 985997 h 1386047"/>
                  <a:gd name="connsiteX213" fmla="*/ 4288 w 1386206"/>
                  <a:gd name="connsiteY213" fmla="*/ 981011 h 1386047"/>
                  <a:gd name="connsiteX214" fmla="*/ 4288 w 1386206"/>
                  <a:gd name="connsiteY214" fmla="*/ 958930 h 1386047"/>
                  <a:gd name="connsiteX215" fmla="*/ 16438 w 1386206"/>
                  <a:gd name="connsiteY215" fmla="*/ 948959 h 1386047"/>
                  <a:gd name="connsiteX216" fmla="*/ 17153 w 1386206"/>
                  <a:gd name="connsiteY216" fmla="*/ 948246 h 1386047"/>
                  <a:gd name="connsiteX217" fmla="*/ 23585 w 1386206"/>
                  <a:gd name="connsiteY217" fmla="*/ 943973 h 1386047"/>
                  <a:gd name="connsiteX218" fmla="*/ 24300 w 1386206"/>
                  <a:gd name="connsiteY218" fmla="*/ 943260 h 1386047"/>
                  <a:gd name="connsiteX219" fmla="*/ 31447 w 1386206"/>
                  <a:gd name="connsiteY219" fmla="*/ 939699 h 1386047"/>
                  <a:gd name="connsiteX220" fmla="*/ 32162 w 1386206"/>
                  <a:gd name="connsiteY220" fmla="*/ 938987 h 1386047"/>
                  <a:gd name="connsiteX221" fmla="*/ 40024 w 1386206"/>
                  <a:gd name="connsiteY221" fmla="*/ 935425 h 1386047"/>
                  <a:gd name="connsiteX222" fmla="*/ 40739 w 1386206"/>
                  <a:gd name="connsiteY222" fmla="*/ 934713 h 1386047"/>
                  <a:gd name="connsiteX223" fmla="*/ 48601 w 1386206"/>
                  <a:gd name="connsiteY223" fmla="*/ 931152 h 1386047"/>
                  <a:gd name="connsiteX224" fmla="*/ 49315 w 1386206"/>
                  <a:gd name="connsiteY224" fmla="*/ 931152 h 1386047"/>
                  <a:gd name="connsiteX225" fmla="*/ 57892 w 1386206"/>
                  <a:gd name="connsiteY225" fmla="*/ 927590 h 1386047"/>
                  <a:gd name="connsiteX226" fmla="*/ 58607 w 1386206"/>
                  <a:gd name="connsiteY226" fmla="*/ 927590 h 1386047"/>
                  <a:gd name="connsiteX227" fmla="*/ 67184 w 1386206"/>
                  <a:gd name="connsiteY227" fmla="*/ 924741 h 1386047"/>
                  <a:gd name="connsiteX228" fmla="*/ 68613 w 1386206"/>
                  <a:gd name="connsiteY228" fmla="*/ 924029 h 1386047"/>
                  <a:gd name="connsiteX229" fmla="*/ 77905 w 1386206"/>
                  <a:gd name="connsiteY229" fmla="*/ 921892 h 1386047"/>
                  <a:gd name="connsiteX230" fmla="*/ 79334 w 1386206"/>
                  <a:gd name="connsiteY230" fmla="*/ 921180 h 1386047"/>
                  <a:gd name="connsiteX231" fmla="*/ 88626 w 1386206"/>
                  <a:gd name="connsiteY231" fmla="*/ 919043 h 1386047"/>
                  <a:gd name="connsiteX232" fmla="*/ 90770 w 1386206"/>
                  <a:gd name="connsiteY232" fmla="*/ 919043 h 1386047"/>
                  <a:gd name="connsiteX233" fmla="*/ 100061 w 1386206"/>
                  <a:gd name="connsiteY233" fmla="*/ 916906 h 1386047"/>
                  <a:gd name="connsiteX234" fmla="*/ 102205 w 1386206"/>
                  <a:gd name="connsiteY234" fmla="*/ 916194 h 1386047"/>
                  <a:gd name="connsiteX235" fmla="*/ 111497 w 1386206"/>
                  <a:gd name="connsiteY235" fmla="*/ 914769 h 1386047"/>
                  <a:gd name="connsiteX236" fmla="*/ 113641 w 1386206"/>
                  <a:gd name="connsiteY236" fmla="*/ 914769 h 1386047"/>
                  <a:gd name="connsiteX237" fmla="*/ 123647 w 1386206"/>
                  <a:gd name="connsiteY237" fmla="*/ 913345 h 1386047"/>
                  <a:gd name="connsiteX238" fmla="*/ 125791 w 1386206"/>
                  <a:gd name="connsiteY238" fmla="*/ 912632 h 1386047"/>
                  <a:gd name="connsiteX239" fmla="*/ 136512 w 1386206"/>
                  <a:gd name="connsiteY239" fmla="*/ 911920 h 1386047"/>
                  <a:gd name="connsiteX240" fmla="*/ 138657 w 1386206"/>
                  <a:gd name="connsiteY240" fmla="*/ 911208 h 1386047"/>
                  <a:gd name="connsiteX241" fmla="*/ 149378 w 1386206"/>
                  <a:gd name="connsiteY241" fmla="*/ 910495 h 1386047"/>
                  <a:gd name="connsiteX242" fmla="*/ 150807 w 1386206"/>
                  <a:gd name="connsiteY242" fmla="*/ 910495 h 1386047"/>
                  <a:gd name="connsiteX243" fmla="*/ 162243 w 1386206"/>
                  <a:gd name="connsiteY243" fmla="*/ 909071 h 1386047"/>
                  <a:gd name="connsiteX244" fmla="*/ 163672 w 1386206"/>
                  <a:gd name="connsiteY244" fmla="*/ 909071 h 1386047"/>
                  <a:gd name="connsiteX245" fmla="*/ 175108 w 1386206"/>
                  <a:gd name="connsiteY245" fmla="*/ 908359 h 1386047"/>
                  <a:gd name="connsiteX246" fmla="*/ 177252 w 1386206"/>
                  <a:gd name="connsiteY246" fmla="*/ 908359 h 1386047"/>
                  <a:gd name="connsiteX247" fmla="*/ 189402 w 1386206"/>
                  <a:gd name="connsiteY247" fmla="*/ 908359 h 1386047"/>
                  <a:gd name="connsiteX248" fmla="*/ 191547 w 1386206"/>
                  <a:gd name="connsiteY248" fmla="*/ 907646 h 1386047"/>
                  <a:gd name="connsiteX249" fmla="*/ 202982 w 1386206"/>
                  <a:gd name="connsiteY249" fmla="*/ 907646 h 1386047"/>
                  <a:gd name="connsiteX250" fmla="*/ 206556 w 1386206"/>
                  <a:gd name="connsiteY250" fmla="*/ 907646 h 1386047"/>
                  <a:gd name="connsiteX251" fmla="*/ 217992 w 1386206"/>
                  <a:gd name="connsiteY251" fmla="*/ 907646 h 1386047"/>
                  <a:gd name="connsiteX252" fmla="*/ 220850 w 1386206"/>
                  <a:gd name="connsiteY252" fmla="*/ 907646 h 1386047"/>
                  <a:gd name="connsiteX253" fmla="*/ 233001 w 1386206"/>
                  <a:gd name="connsiteY253" fmla="*/ 907646 h 1386047"/>
                  <a:gd name="connsiteX254" fmla="*/ 235860 w 1386206"/>
                  <a:gd name="connsiteY254" fmla="*/ 907646 h 1386047"/>
                  <a:gd name="connsiteX255" fmla="*/ 248010 w 1386206"/>
                  <a:gd name="connsiteY255" fmla="*/ 907646 h 1386047"/>
                  <a:gd name="connsiteX256" fmla="*/ 251584 w 1386206"/>
                  <a:gd name="connsiteY256" fmla="*/ 907646 h 1386047"/>
                  <a:gd name="connsiteX257" fmla="*/ 263734 w 1386206"/>
                  <a:gd name="connsiteY257" fmla="*/ 907646 h 1386047"/>
                  <a:gd name="connsiteX258" fmla="*/ 266593 w 1386206"/>
                  <a:gd name="connsiteY258" fmla="*/ 908359 h 1386047"/>
                  <a:gd name="connsiteX259" fmla="*/ 279458 w 1386206"/>
                  <a:gd name="connsiteY259" fmla="*/ 908359 h 1386047"/>
                  <a:gd name="connsiteX260" fmla="*/ 282317 w 1386206"/>
                  <a:gd name="connsiteY260" fmla="*/ 908359 h 1386047"/>
                  <a:gd name="connsiteX261" fmla="*/ 294467 w 1386206"/>
                  <a:gd name="connsiteY261" fmla="*/ 909071 h 1386047"/>
                  <a:gd name="connsiteX262" fmla="*/ 297326 w 1386206"/>
                  <a:gd name="connsiteY262" fmla="*/ 909071 h 1386047"/>
                  <a:gd name="connsiteX263" fmla="*/ 310192 w 1386206"/>
                  <a:gd name="connsiteY263" fmla="*/ 909783 h 1386047"/>
                  <a:gd name="connsiteX264" fmla="*/ 313050 w 1386206"/>
                  <a:gd name="connsiteY264" fmla="*/ 909783 h 1386047"/>
                  <a:gd name="connsiteX265" fmla="*/ 325916 w 1386206"/>
                  <a:gd name="connsiteY265" fmla="*/ 910495 h 1386047"/>
                  <a:gd name="connsiteX266" fmla="*/ 329489 w 1386206"/>
                  <a:gd name="connsiteY266" fmla="*/ 910495 h 1386047"/>
                  <a:gd name="connsiteX267" fmla="*/ 342354 w 1386206"/>
                  <a:gd name="connsiteY267" fmla="*/ 911208 h 1386047"/>
                  <a:gd name="connsiteX268" fmla="*/ 345928 w 1386206"/>
                  <a:gd name="connsiteY268" fmla="*/ 911208 h 1386047"/>
                  <a:gd name="connsiteX269" fmla="*/ 358793 w 1386206"/>
                  <a:gd name="connsiteY269" fmla="*/ 911920 h 1386047"/>
                  <a:gd name="connsiteX270" fmla="*/ 363081 w 1386206"/>
                  <a:gd name="connsiteY270" fmla="*/ 912632 h 1386047"/>
                  <a:gd name="connsiteX271" fmla="*/ 375232 w 1386206"/>
                  <a:gd name="connsiteY271" fmla="*/ 913345 h 1386047"/>
                  <a:gd name="connsiteX272" fmla="*/ 378091 w 1386206"/>
                  <a:gd name="connsiteY272" fmla="*/ 913345 h 1386047"/>
                  <a:gd name="connsiteX273" fmla="*/ 403106 w 1386206"/>
                  <a:gd name="connsiteY273" fmla="*/ 914769 h 1386047"/>
                  <a:gd name="connsiteX274" fmla="*/ 419545 w 1386206"/>
                  <a:gd name="connsiteY274" fmla="*/ 916194 h 1386047"/>
                  <a:gd name="connsiteX275" fmla="*/ 420975 w 1386206"/>
                  <a:gd name="connsiteY275" fmla="*/ 916194 h 1386047"/>
                  <a:gd name="connsiteX276" fmla="*/ 422404 w 1386206"/>
                  <a:gd name="connsiteY276" fmla="*/ 916194 h 1386047"/>
                  <a:gd name="connsiteX277" fmla="*/ 423833 w 1386206"/>
                  <a:gd name="connsiteY277" fmla="*/ 916194 h 1386047"/>
                  <a:gd name="connsiteX278" fmla="*/ 434554 w 1386206"/>
                  <a:gd name="connsiteY278" fmla="*/ 916906 h 1386047"/>
                  <a:gd name="connsiteX279" fmla="*/ 438843 w 1386206"/>
                  <a:gd name="connsiteY279" fmla="*/ 917618 h 1386047"/>
                  <a:gd name="connsiteX280" fmla="*/ 440987 w 1386206"/>
                  <a:gd name="connsiteY280" fmla="*/ 917618 h 1386047"/>
                  <a:gd name="connsiteX281" fmla="*/ 444561 w 1386206"/>
                  <a:gd name="connsiteY281" fmla="*/ 917618 h 1386047"/>
                  <a:gd name="connsiteX282" fmla="*/ 466717 w 1386206"/>
                  <a:gd name="connsiteY282" fmla="*/ 919043 h 1386047"/>
                  <a:gd name="connsiteX283" fmla="*/ 488159 w 1386206"/>
                  <a:gd name="connsiteY283" fmla="*/ 920467 h 1386047"/>
                  <a:gd name="connsiteX284" fmla="*/ 498165 w 1386206"/>
                  <a:gd name="connsiteY284" fmla="*/ 921180 h 1386047"/>
                  <a:gd name="connsiteX285" fmla="*/ 499595 w 1386206"/>
                  <a:gd name="connsiteY285" fmla="*/ 921892 h 1386047"/>
                  <a:gd name="connsiteX286" fmla="*/ 518178 w 1386206"/>
                  <a:gd name="connsiteY286" fmla="*/ 922604 h 1386047"/>
                  <a:gd name="connsiteX287" fmla="*/ 520322 w 1386206"/>
                  <a:gd name="connsiteY287" fmla="*/ 922604 h 1386047"/>
                  <a:gd name="connsiteX288" fmla="*/ 522466 w 1386206"/>
                  <a:gd name="connsiteY288" fmla="*/ 923316 h 1386047"/>
                  <a:gd name="connsiteX289" fmla="*/ 549626 w 1386206"/>
                  <a:gd name="connsiteY289" fmla="*/ 924741 h 1386047"/>
                  <a:gd name="connsiteX290" fmla="*/ 551055 w 1386206"/>
                  <a:gd name="connsiteY290" fmla="*/ 924741 h 1386047"/>
                  <a:gd name="connsiteX291" fmla="*/ 565350 w 1386206"/>
                  <a:gd name="connsiteY291" fmla="*/ 925453 h 1386047"/>
                  <a:gd name="connsiteX292" fmla="*/ 566779 w 1386206"/>
                  <a:gd name="connsiteY292" fmla="*/ 925453 h 1386047"/>
                  <a:gd name="connsiteX293" fmla="*/ 568209 w 1386206"/>
                  <a:gd name="connsiteY293" fmla="*/ 925453 h 1386047"/>
                  <a:gd name="connsiteX294" fmla="*/ 571782 w 1386206"/>
                  <a:gd name="connsiteY294" fmla="*/ 925453 h 1386047"/>
                  <a:gd name="connsiteX295" fmla="*/ 584647 w 1386206"/>
                  <a:gd name="connsiteY295" fmla="*/ 926166 h 1386047"/>
                  <a:gd name="connsiteX296" fmla="*/ 586792 w 1386206"/>
                  <a:gd name="connsiteY296" fmla="*/ 926166 h 1386047"/>
                  <a:gd name="connsiteX297" fmla="*/ 632534 w 1386206"/>
                  <a:gd name="connsiteY297" fmla="*/ 928302 h 1386047"/>
                  <a:gd name="connsiteX298" fmla="*/ 744747 w 1386206"/>
                  <a:gd name="connsiteY298" fmla="*/ 925453 h 1386047"/>
                  <a:gd name="connsiteX299" fmla="*/ 784771 w 1386206"/>
                  <a:gd name="connsiteY299" fmla="*/ 920467 h 1386047"/>
                  <a:gd name="connsiteX300" fmla="*/ 860533 w 1386206"/>
                  <a:gd name="connsiteY300" fmla="*/ 896962 h 1386047"/>
                  <a:gd name="connsiteX301" fmla="*/ 869824 w 1386206"/>
                  <a:gd name="connsiteY301" fmla="*/ 891264 h 1386047"/>
                  <a:gd name="connsiteX302" fmla="*/ 881975 w 1386206"/>
                  <a:gd name="connsiteY302" fmla="*/ 881292 h 1386047"/>
                  <a:gd name="connsiteX303" fmla="*/ 891981 w 1386206"/>
                  <a:gd name="connsiteY303" fmla="*/ 869183 h 1386047"/>
                  <a:gd name="connsiteX304" fmla="*/ 914853 w 1386206"/>
                  <a:gd name="connsiteY304" fmla="*/ 815762 h 1386047"/>
                  <a:gd name="connsiteX305" fmla="*/ 921285 w 1386206"/>
                  <a:gd name="connsiteY305" fmla="*/ 784422 h 1386047"/>
                  <a:gd name="connsiteX306" fmla="*/ 926288 w 1386206"/>
                  <a:gd name="connsiteY306" fmla="*/ 744534 h 1386047"/>
                  <a:gd name="connsiteX307" fmla="*/ 929147 w 1386206"/>
                  <a:gd name="connsiteY307" fmla="*/ 632706 h 1386047"/>
                  <a:gd name="connsiteX308" fmla="*/ 927003 w 1386206"/>
                  <a:gd name="connsiteY308" fmla="*/ 587120 h 1386047"/>
                  <a:gd name="connsiteX309" fmla="*/ 923429 w 1386206"/>
                  <a:gd name="connsiteY309" fmla="*/ 514468 h 1386047"/>
                  <a:gd name="connsiteX310" fmla="*/ 923429 w 1386206"/>
                  <a:gd name="connsiteY310" fmla="*/ 513755 h 1386047"/>
                  <a:gd name="connsiteX311" fmla="*/ 922715 w 1386206"/>
                  <a:gd name="connsiteY311" fmla="*/ 500222 h 1386047"/>
                  <a:gd name="connsiteX312" fmla="*/ 1370508 w 1386206"/>
                  <a:gd name="connsiteY312" fmla="*/ 400228 h 1386047"/>
                  <a:gd name="connsiteX313" fmla="*/ 1381925 w 1386206"/>
                  <a:gd name="connsiteY313" fmla="*/ 405046 h 1386047"/>
                  <a:gd name="connsiteX314" fmla="*/ 1381925 w 1386206"/>
                  <a:gd name="connsiteY314" fmla="*/ 427174 h 1386047"/>
                  <a:gd name="connsiteX315" fmla="*/ 1369794 w 1386206"/>
                  <a:gd name="connsiteY315" fmla="*/ 437167 h 1386047"/>
                  <a:gd name="connsiteX316" fmla="*/ 1369081 w 1386206"/>
                  <a:gd name="connsiteY316" fmla="*/ 437881 h 1386047"/>
                  <a:gd name="connsiteX317" fmla="*/ 1362659 w 1386206"/>
                  <a:gd name="connsiteY317" fmla="*/ 442164 h 1386047"/>
                  <a:gd name="connsiteX318" fmla="*/ 1361945 w 1386206"/>
                  <a:gd name="connsiteY318" fmla="*/ 442877 h 1386047"/>
                  <a:gd name="connsiteX319" fmla="*/ 1354810 w 1386206"/>
                  <a:gd name="connsiteY319" fmla="*/ 446446 h 1386047"/>
                  <a:gd name="connsiteX320" fmla="*/ 1354096 w 1386206"/>
                  <a:gd name="connsiteY320" fmla="*/ 447160 h 1386047"/>
                  <a:gd name="connsiteX321" fmla="*/ 1346247 w 1386206"/>
                  <a:gd name="connsiteY321" fmla="*/ 450729 h 1386047"/>
                  <a:gd name="connsiteX322" fmla="*/ 1345534 w 1386206"/>
                  <a:gd name="connsiteY322" fmla="*/ 451443 h 1386047"/>
                  <a:gd name="connsiteX323" fmla="*/ 1336971 w 1386206"/>
                  <a:gd name="connsiteY323" fmla="*/ 455012 h 1386047"/>
                  <a:gd name="connsiteX324" fmla="*/ 1327695 w 1386206"/>
                  <a:gd name="connsiteY324" fmla="*/ 458581 h 1386047"/>
                  <a:gd name="connsiteX325" fmla="*/ 1318419 w 1386206"/>
                  <a:gd name="connsiteY325" fmla="*/ 461436 h 1386047"/>
                  <a:gd name="connsiteX326" fmla="*/ 1317705 w 1386206"/>
                  <a:gd name="connsiteY326" fmla="*/ 461436 h 1386047"/>
                  <a:gd name="connsiteX327" fmla="*/ 1308429 w 1386206"/>
                  <a:gd name="connsiteY327" fmla="*/ 464291 h 1386047"/>
                  <a:gd name="connsiteX328" fmla="*/ 1307002 w 1386206"/>
                  <a:gd name="connsiteY328" fmla="*/ 465005 h 1386047"/>
                  <a:gd name="connsiteX329" fmla="*/ 1297726 w 1386206"/>
                  <a:gd name="connsiteY329" fmla="*/ 467147 h 1386047"/>
                  <a:gd name="connsiteX330" fmla="*/ 1296299 w 1386206"/>
                  <a:gd name="connsiteY330" fmla="*/ 467147 h 1386047"/>
                  <a:gd name="connsiteX331" fmla="*/ 1286309 w 1386206"/>
                  <a:gd name="connsiteY331" fmla="*/ 469288 h 1386047"/>
                  <a:gd name="connsiteX332" fmla="*/ 1284882 w 1386206"/>
                  <a:gd name="connsiteY332" fmla="*/ 469288 h 1386047"/>
                  <a:gd name="connsiteX333" fmla="*/ 1274179 w 1386206"/>
                  <a:gd name="connsiteY333" fmla="*/ 471429 h 1386047"/>
                  <a:gd name="connsiteX334" fmla="*/ 1273465 w 1386206"/>
                  <a:gd name="connsiteY334" fmla="*/ 471429 h 1386047"/>
                  <a:gd name="connsiteX335" fmla="*/ 1262048 w 1386206"/>
                  <a:gd name="connsiteY335" fmla="*/ 472857 h 1386047"/>
                  <a:gd name="connsiteX336" fmla="*/ 1261335 w 1386206"/>
                  <a:gd name="connsiteY336" fmla="*/ 473571 h 1386047"/>
                  <a:gd name="connsiteX337" fmla="*/ 1249205 w 1386206"/>
                  <a:gd name="connsiteY337" fmla="*/ 474998 h 1386047"/>
                  <a:gd name="connsiteX338" fmla="*/ 1209959 w 1386206"/>
                  <a:gd name="connsiteY338" fmla="*/ 477853 h 1386047"/>
                  <a:gd name="connsiteX339" fmla="*/ 1209246 w 1386206"/>
                  <a:gd name="connsiteY339" fmla="*/ 477853 h 1386047"/>
                  <a:gd name="connsiteX340" fmla="*/ 1196402 w 1386206"/>
                  <a:gd name="connsiteY340" fmla="*/ 477853 h 1386047"/>
                  <a:gd name="connsiteX341" fmla="*/ 1195688 w 1386206"/>
                  <a:gd name="connsiteY341" fmla="*/ 477853 h 1386047"/>
                  <a:gd name="connsiteX342" fmla="*/ 1182131 w 1386206"/>
                  <a:gd name="connsiteY342" fmla="*/ 478567 h 1386047"/>
                  <a:gd name="connsiteX343" fmla="*/ 1181417 w 1386206"/>
                  <a:gd name="connsiteY343" fmla="*/ 478567 h 1386047"/>
                  <a:gd name="connsiteX344" fmla="*/ 1167860 w 1386206"/>
                  <a:gd name="connsiteY344" fmla="*/ 478567 h 1386047"/>
                  <a:gd name="connsiteX345" fmla="*/ 1166433 w 1386206"/>
                  <a:gd name="connsiteY345" fmla="*/ 478567 h 1386047"/>
                  <a:gd name="connsiteX346" fmla="*/ 1152875 w 1386206"/>
                  <a:gd name="connsiteY346" fmla="*/ 478567 h 1386047"/>
                  <a:gd name="connsiteX347" fmla="*/ 1151448 w 1386206"/>
                  <a:gd name="connsiteY347" fmla="*/ 478567 h 1386047"/>
                  <a:gd name="connsiteX348" fmla="*/ 1137891 w 1386206"/>
                  <a:gd name="connsiteY348" fmla="*/ 478567 h 1386047"/>
                  <a:gd name="connsiteX349" fmla="*/ 1136464 w 1386206"/>
                  <a:gd name="connsiteY349" fmla="*/ 478567 h 1386047"/>
                  <a:gd name="connsiteX350" fmla="*/ 1122193 w 1386206"/>
                  <a:gd name="connsiteY350" fmla="*/ 478567 h 1386047"/>
                  <a:gd name="connsiteX351" fmla="*/ 1121479 w 1386206"/>
                  <a:gd name="connsiteY351" fmla="*/ 478567 h 1386047"/>
                  <a:gd name="connsiteX352" fmla="*/ 1058687 w 1386206"/>
                  <a:gd name="connsiteY352" fmla="*/ 475712 h 1386047"/>
                  <a:gd name="connsiteX353" fmla="*/ 1042989 w 1386206"/>
                  <a:gd name="connsiteY353" fmla="*/ 474998 h 1386047"/>
                  <a:gd name="connsiteX354" fmla="*/ 1042275 w 1386206"/>
                  <a:gd name="connsiteY354" fmla="*/ 474998 h 1386047"/>
                  <a:gd name="connsiteX355" fmla="*/ 1026577 w 1386206"/>
                  <a:gd name="connsiteY355" fmla="*/ 473571 h 1386047"/>
                  <a:gd name="connsiteX356" fmla="*/ 1025150 w 1386206"/>
                  <a:gd name="connsiteY356" fmla="*/ 473571 h 1386047"/>
                  <a:gd name="connsiteX357" fmla="*/ 1010165 w 1386206"/>
                  <a:gd name="connsiteY357" fmla="*/ 472857 h 1386047"/>
                  <a:gd name="connsiteX358" fmla="*/ 1008738 w 1386206"/>
                  <a:gd name="connsiteY358" fmla="*/ 472857 h 1386047"/>
                  <a:gd name="connsiteX359" fmla="*/ 1007311 w 1386206"/>
                  <a:gd name="connsiteY359" fmla="*/ 472857 h 1386047"/>
                  <a:gd name="connsiteX360" fmla="*/ 993040 w 1386206"/>
                  <a:gd name="connsiteY360" fmla="*/ 471429 h 1386047"/>
                  <a:gd name="connsiteX361" fmla="*/ 992327 w 1386206"/>
                  <a:gd name="connsiteY361" fmla="*/ 471429 h 1386047"/>
                  <a:gd name="connsiteX362" fmla="*/ 983764 w 1386206"/>
                  <a:gd name="connsiteY362" fmla="*/ 471429 h 1386047"/>
                  <a:gd name="connsiteX363" fmla="*/ 975915 w 1386206"/>
                  <a:gd name="connsiteY363" fmla="*/ 470715 h 1386047"/>
                  <a:gd name="connsiteX364" fmla="*/ 952368 w 1386206"/>
                  <a:gd name="connsiteY364" fmla="*/ 469288 h 1386047"/>
                  <a:gd name="connsiteX365" fmla="*/ 942378 w 1386206"/>
                  <a:gd name="connsiteY365" fmla="*/ 468574 h 1386047"/>
                  <a:gd name="connsiteX366" fmla="*/ 920258 w 1386206"/>
                  <a:gd name="connsiteY366" fmla="*/ 467147 h 1386047"/>
                  <a:gd name="connsiteX367" fmla="*/ 888861 w 1386206"/>
                  <a:gd name="connsiteY367" fmla="*/ 465005 h 1386047"/>
                  <a:gd name="connsiteX368" fmla="*/ 866741 w 1386206"/>
                  <a:gd name="connsiteY368" fmla="*/ 463578 h 1386047"/>
                  <a:gd name="connsiteX369" fmla="*/ 800381 w 1386206"/>
                  <a:gd name="connsiteY369" fmla="*/ 460009 h 1386047"/>
                  <a:gd name="connsiteX370" fmla="*/ 754714 w 1386206"/>
                  <a:gd name="connsiteY370" fmla="*/ 457867 h 1386047"/>
                  <a:gd name="connsiteX371" fmla="*/ 642687 w 1386206"/>
                  <a:gd name="connsiteY371" fmla="*/ 460722 h 1386047"/>
                  <a:gd name="connsiteX372" fmla="*/ 602728 w 1386206"/>
                  <a:gd name="connsiteY372" fmla="*/ 465719 h 1386047"/>
                  <a:gd name="connsiteX373" fmla="*/ 526378 w 1386206"/>
                  <a:gd name="connsiteY373" fmla="*/ 489274 h 1386047"/>
                  <a:gd name="connsiteX374" fmla="*/ 517816 w 1386206"/>
                  <a:gd name="connsiteY374" fmla="*/ 494985 h 1386047"/>
                  <a:gd name="connsiteX375" fmla="*/ 505685 w 1386206"/>
                  <a:gd name="connsiteY375" fmla="*/ 504978 h 1386047"/>
                  <a:gd name="connsiteX376" fmla="*/ 495696 w 1386206"/>
                  <a:gd name="connsiteY376" fmla="*/ 517112 h 1386047"/>
                  <a:gd name="connsiteX377" fmla="*/ 472862 w 1386206"/>
                  <a:gd name="connsiteY377" fmla="*/ 570647 h 1386047"/>
                  <a:gd name="connsiteX378" fmla="*/ 469294 w 1386206"/>
                  <a:gd name="connsiteY378" fmla="*/ 585637 h 1386047"/>
                  <a:gd name="connsiteX379" fmla="*/ 467867 w 1386206"/>
                  <a:gd name="connsiteY379" fmla="*/ 594202 h 1386047"/>
                  <a:gd name="connsiteX380" fmla="*/ 466440 w 1386206"/>
                  <a:gd name="connsiteY380" fmla="*/ 602054 h 1386047"/>
                  <a:gd name="connsiteX381" fmla="*/ 461445 w 1386206"/>
                  <a:gd name="connsiteY381" fmla="*/ 642026 h 1386047"/>
                  <a:gd name="connsiteX382" fmla="*/ 458591 w 1386206"/>
                  <a:gd name="connsiteY382" fmla="*/ 754092 h 1386047"/>
                  <a:gd name="connsiteX383" fmla="*/ 460732 w 1386206"/>
                  <a:gd name="connsiteY383" fmla="*/ 799775 h 1386047"/>
                  <a:gd name="connsiteX384" fmla="*/ 464299 w 1386206"/>
                  <a:gd name="connsiteY384" fmla="*/ 872582 h 1386047"/>
                  <a:gd name="connsiteX385" fmla="*/ 464299 w 1386206"/>
                  <a:gd name="connsiteY385" fmla="*/ 873296 h 1386047"/>
                  <a:gd name="connsiteX386" fmla="*/ 465726 w 1386206"/>
                  <a:gd name="connsiteY386" fmla="*/ 887572 h 1386047"/>
                  <a:gd name="connsiteX387" fmla="*/ 462872 w 1386206"/>
                  <a:gd name="connsiteY387" fmla="*/ 887572 h 1386047"/>
                  <a:gd name="connsiteX388" fmla="*/ 433617 w 1386206"/>
                  <a:gd name="connsiteY388" fmla="*/ 885431 h 1386047"/>
                  <a:gd name="connsiteX389" fmla="*/ 430049 w 1386206"/>
                  <a:gd name="connsiteY389" fmla="*/ 824044 h 1386047"/>
                  <a:gd name="connsiteX390" fmla="*/ 427195 w 1386206"/>
                  <a:gd name="connsiteY390" fmla="*/ 733392 h 1386047"/>
                  <a:gd name="connsiteX391" fmla="*/ 427195 w 1386206"/>
                  <a:gd name="connsiteY391" fmla="*/ 721258 h 1386047"/>
                  <a:gd name="connsiteX392" fmla="*/ 427195 w 1386206"/>
                  <a:gd name="connsiteY392" fmla="*/ 711265 h 1386047"/>
                  <a:gd name="connsiteX393" fmla="*/ 427195 w 1386206"/>
                  <a:gd name="connsiteY393" fmla="*/ 701271 h 1386047"/>
                  <a:gd name="connsiteX394" fmla="*/ 483565 w 1386206"/>
                  <a:gd name="connsiteY394" fmla="*/ 482850 h 1386047"/>
                  <a:gd name="connsiteX395" fmla="*/ 680505 w 1386206"/>
                  <a:gd name="connsiteY395" fmla="*/ 427174 h 1386047"/>
                  <a:gd name="connsiteX396" fmla="*/ 681218 w 1386206"/>
                  <a:gd name="connsiteY396" fmla="*/ 427174 h 1386047"/>
                  <a:gd name="connsiteX397" fmla="*/ 694062 w 1386206"/>
                  <a:gd name="connsiteY397" fmla="*/ 426460 h 1386047"/>
                  <a:gd name="connsiteX398" fmla="*/ 697630 w 1386206"/>
                  <a:gd name="connsiteY398" fmla="*/ 426460 h 1386047"/>
                  <a:gd name="connsiteX399" fmla="*/ 863174 w 1386206"/>
                  <a:gd name="connsiteY399" fmla="*/ 431457 h 1386047"/>
                  <a:gd name="connsiteX400" fmla="*/ 886721 w 1386206"/>
                  <a:gd name="connsiteY400" fmla="*/ 432884 h 1386047"/>
                  <a:gd name="connsiteX401" fmla="*/ 918117 w 1386206"/>
                  <a:gd name="connsiteY401" fmla="*/ 435026 h 1386047"/>
                  <a:gd name="connsiteX402" fmla="*/ 944519 w 1386206"/>
                  <a:gd name="connsiteY402" fmla="*/ 437167 h 1386047"/>
                  <a:gd name="connsiteX403" fmla="*/ 950227 w 1386206"/>
                  <a:gd name="connsiteY403" fmla="*/ 437167 h 1386047"/>
                  <a:gd name="connsiteX404" fmla="*/ 980910 w 1386206"/>
                  <a:gd name="connsiteY404" fmla="*/ 439308 h 1386047"/>
                  <a:gd name="connsiteX405" fmla="*/ 981623 w 1386206"/>
                  <a:gd name="connsiteY405" fmla="*/ 439308 h 1386047"/>
                  <a:gd name="connsiteX406" fmla="*/ 986618 w 1386206"/>
                  <a:gd name="connsiteY406" fmla="*/ 440022 h 1386047"/>
                  <a:gd name="connsiteX407" fmla="*/ 993040 w 1386206"/>
                  <a:gd name="connsiteY407" fmla="*/ 440022 h 1386047"/>
                  <a:gd name="connsiteX408" fmla="*/ 1003743 w 1386206"/>
                  <a:gd name="connsiteY408" fmla="*/ 440736 h 1386047"/>
                  <a:gd name="connsiteX409" fmla="*/ 1005171 w 1386206"/>
                  <a:gd name="connsiteY409" fmla="*/ 440736 h 1386047"/>
                  <a:gd name="connsiteX410" fmla="*/ 1008025 w 1386206"/>
                  <a:gd name="connsiteY410" fmla="*/ 441450 h 1386047"/>
                  <a:gd name="connsiteX411" fmla="*/ 1020155 w 1386206"/>
                  <a:gd name="connsiteY411" fmla="*/ 442164 h 1386047"/>
                  <a:gd name="connsiteX412" fmla="*/ 1023723 w 1386206"/>
                  <a:gd name="connsiteY412" fmla="*/ 442164 h 1386047"/>
                  <a:gd name="connsiteX413" fmla="*/ 1035853 w 1386206"/>
                  <a:gd name="connsiteY413" fmla="*/ 442877 h 1386047"/>
                  <a:gd name="connsiteX414" fmla="*/ 1038707 w 1386206"/>
                  <a:gd name="connsiteY414" fmla="*/ 442877 h 1386047"/>
                  <a:gd name="connsiteX415" fmla="*/ 1051551 w 1386206"/>
                  <a:gd name="connsiteY415" fmla="*/ 443591 h 1386047"/>
                  <a:gd name="connsiteX416" fmla="*/ 1053692 w 1386206"/>
                  <a:gd name="connsiteY416" fmla="*/ 444305 h 1386047"/>
                  <a:gd name="connsiteX417" fmla="*/ 1058687 w 1386206"/>
                  <a:gd name="connsiteY417" fmla="*/ 444305 h 1386047"/>
                  <a:gd name="connsiteX418" fmla="*/ 1067249 w 1386206"/>
                  <a:gd name="connsiteY418" fmla="*/ 445019 h 1386047"/>
                  <a:gd name="connsiteX419" fmla="*/ 1081520 w 1386206"/>
                  <a:gd name="connsiteY419" fmla="*/ 445019 h 1386047"/>
                  <a:gd name="connsiteX420" fmla="*/ 1082947 w 1386206"/>
                  <a:gd name="connsiteY420" fmla="*/ 445733 h 1386047"/>
                  <a:gd name="connsiteX421" fmla="*/ 1096505 w 1386206"/>
                  <a:gd name="connsiteY421" fmla="*/ 445733 h 1386047"/>
                  <a:gd name="connsiteX422" fmla="*/ 1097932 w 1386206"/>
                  <a:gd name="connsiteY422" fmla="*/ 445733 h 1386047"/>
                  <a:gd name="connsiteX423" fmla="*/ 1105068 w 1386206"/>
                  <a:gd name="connsiteY423" fmla="*/ 446446 h 1386047"/>
                  <a:gd name="connsiteX424" fmla="*/ 1110776 w 1386206"/>
                  <a:gd name="connsiteY424" fmla="*/ 446446 h 1386047"/>
                  <a:gd name="connsiteX425" fmla="*/ 1112917 w 1386206"/>
                  <a:gd name="connsiteY425" fmla="*/ 446446 h 1386047"/>
                  <a:gd name="connsiteX426" fmla="*/ 1125760 w 1386206"/>
                  <a:gd name="connsiteY426" fmla="*/ 447160 h 1386047"/>
                  <a:gd name="connsiteX427" fmla="*/ 1127188 w 1386206"/>
                  <a:gd name="connsiteY427" fmla="*/ 447160 h 1386047"/>
                  <a:gd name="connsiteX428" fmla="*/ 1140031 w 1386206"/>
                  <a:gd name="connsiteY428" fmla="*/ 447160 h 1386047"/>
                  <a:gd name="connsiteX429" fmla="*/ 1141459 w 1386206"/>
                  <a:gd name="connsiteY429" fmla="*/ 447160 h 1386047"/>
                  <a:gd name="connsiteX430" fmla="*/ 1154302 w 1386206"/>
                  <a:gd name="connsiteY430" fmla="*/ 447160 h 1386047"/>
                  <a:gd name="connsiteX431" fmla="*/ 1155730 w 1386206"/>
                  <a:gd name="connsiteY431" fmla="*/ 447160 h 1386047"/>
                  <a:gd name="connsiteX432" fmla="*/ 1168573 w 1386206"/>
                  <a:gd name="connsiteY432" fmla="*/ 447160 h 1386047"/>
                  <a:gd name="connsiteX433" fmla="*/ 1169287 w 1386206"/>
                  <a:gd name="connsiteY433" fmla="*/ 447160 h 1386047"/>
                  <a:gd name="connsiteX434" fmla="*/ 1194975 w 1386206"/>
                  <a:gd name="connsiteY434" fmla="*/ 446446 h 1386047"/>
                  <a:gd name="connsiteX435" fmla="*/ 1195688 w 1386206"/>
                  <a:gd name="connsiteY435" fmla="*/ 446446 h 1386047"/>
                  <a:gd name="connsiteX436" fmla="*/ 1207819 w 1386206"/>
                  <a:gd name="connsiteY436" fmla="*/ 446446 h 1386047"/>
                  <a:gd name="connsiteX437" fmla="*/ 1209246 w 1386206"/>
                  <a:gd name="connsiteY437" fmla="*/ 446446 h 1386047"/>
                  <a:gd name="connsiteX438" fmla="*/ 1219235 w 1386206"/>
                  <a:gd name="connsiteY438" fmla="*/ 445733 h 1386047"/>
                  <a:gd name="connsiteX439" fmla="*/ 1220663 w 1386206"/>
                  <a:gd name="connsiteY439" fmla="*/ 445733 h 1386047"/>
                  <a:gd name="connsiteX440" fmla="*/ 1222090 w 1386206"/>
                  <a:gd name="connsiteY440" fmla="*/ 445733 h 1386047"/>
                  <a:gd name="connsiteX441" fmla="*/ 1232793 w 1386206"/>
                  <a:gd name="connsiteY441" fmla="*/ 445019 h 1386047"/>
                  <a:gd name="connsiteX442" fmla="*/ 1234220 w 1386206"/>
                  <a:gd name="connsiteY442" fmla="*/ 444305 h 1386047"/>
                  <a:gd name="connsiteX443" fmla="*/ 1244923 w 1386206"/>
                  <a:gd name="connsiteY443" fmla="*/ 443591 h 1386047"/>
                  <a:gd name="connsiteX444" fmla="*/ 1246350 w 1386206"/>
                  <a:gd name="connsiteY444" fmla="*/ 443591 h 1386047"/>
                  <a:gd name="connsiteX445" fmla="*/ 1257054 w 1386206"/>
                  <a:gd name="connsiteY445" fmla="*/ 442164 h 1386047"/>
                  <a:gd name="connsiteX446" fmla="*/ 1257767 w 1386206"/>
                  <a:gd name="connsiteY446" fmla="*/ 442164 h 1386047"/>
                  <a:gd name="connsiteX447" fmla="*/ 1259908 w 1386206"/>
                  <a:gd name="connsiteY447" fmla="*/ 442164 h 1386047"/>
                  <a:gd name="connsiteX448" fmla="*/ 1267757 w 1386206"/>
                  <a:gd name="connsiteY448" fmla="*/ 440736 h 1386047"/>
                  <a:gd name="connsiteX449" fmla="*/ 1268470 w 1386206"/>
                  <a:gd name="connsiteY449" fmla="*/ 440736 h 1386047"/>
                  <a:gd name="connsiteX450" fmla="*/ 1288450 w 1386206"/>
                  <a:gd name="connsiteY450" fmla="*/ 437167 h 1386047"/>
                  <a:gd name="connsiteX451" fmla="*/ 1289163 w 1386206"/>
                  <a:gd name="connsiteY451" fmla="*/ 437167 h 1386047"/>
                  <a:gd name="connsiteX452" fmla="*/ 1298439 w 1386206"/>
                  <a:gd name="connsiteY452" fmla="*/ 435026 h 1386047"/>
                  <a:gd name="connsiteX453" fmla="*/ 1299153 w 1386206"/>
                  <a:gd name="connsiteY453" fmla="*/ 434312 h 1386047"/>
                  <a:gd name="connsiteX454" fmla="*/ 1307716 w 1386206"/>
                  <a:gd name="connsiteY454" fmla="*/ 432171 h 1386047"/>
                  <a:gd name="connsiteX455" fmla="*/ 1309143 w 1386206"/>
                  <a:gd name="connsiteY455" fmla="*/ 432171 h 1386047"/>
                  <a:gd name="connsiteX456" fmla="*/ 1316992 w 1386206"/>
                  <a:gd name="connsiteY456" fmla="*/ 429315 h 1386047"/>
                  <a:gd name="connsiteX457" fmla="*/ 1317705 w 1386206"/>
                  <a:gd name="connsiteY457" fmla="*/ 428602 h 1386047"/>
                  <a:gd name="connsiteX458" fmla="*/ 1324841 w 1386206"/>
                  <a:gd name="connsiteY458" fmla="*/ 426460 h 1386047"/>
                  <a:gd name="connsiteX459" fmla="*/ 1326268 w 1386206"/>
                  <a:gd name="connsiteY459" fmla="*/ 425746 h 1386047"/>
                  <a:gd name="connsiteX460" fmla="*/ 1333403 w 1386206"/>
                  <a:gd name="connsiteY460" fmla="*/ 422891 h 1386047"/>
                  <a:gd name="connsiteX461" fmla="*/ 1333403 w 1386206"/>
                  <a:gd name="connsiteY461" fmla="*/ 422177 h 1386047"/>
                  <a:gd name="connsiteX462" fmla="*/ 1340539 w 1386206"/>
                  <a:gd name="connsiteY462" fmla="*/ 418608 h 1386047"/>
                  <a:gd name="connsiteX463" fmla="*/ 1346961 w 1386206"/>
                  <a:gd name="connsiteY463" fmla="*/ 415039 h 1386047"/>
                  <a:gd name="connsiteX464" fmla="*/ 1359091 w 1386206"/>
                  <a:gd name="connsiteY464" fmla="*/ 405046 h 1386047"/>
                  <a:gd name="connsiteX465" fmla="*/ 1370508 w 1386206"/>
                  <a:gd name="connsiteY465" fmla="*/ 400228 h 1386047"/>
                  <a:gd name="connsiteX466" fmla="*/ 971731 w 1386206"/>
                  <a:gd name="connsiteY466" fmla="*/ 0 h 1386047"/>
                  <a:gd name="connsiteX467" fmla="*/ 982664 w 1386206"/>
                  <a:gd name="connsiteY467" fmla="*/ 4284 h 1386047"/>
                  <a:gd name="connsiteX468" fmla="*/ 982664 w 1386206"/>
                  <a:gd name="connsiteY468" fmla="*/ 27130 h 1386047"/>
                  <a:gd name="connsiteX469" fmla="*/ 972544 w 1386206"/>
                  <a:gd name="connsiteY469" fmla="*/ 39268 h 1386047"/>
                  <a:gd name="connsiteX470" fmla="*/ 968929 w 1386206"/>
                  <a:gd name="connsiteY470" fmla="*/ 45693 h 1386047"/>
                  <a:gd name="connsiteX471" fmla="*/ 965315 w 1386206"/>
                  <a:gd name="connsiteY471" fmla="*/ 52833 h 1386047"/>
                  <a:gd name="connsiteX472" fmla="*/ 964592 w 1386206"/>
                  <a:gd name="connsiteY472" fmla="*/ 52833 h 1386047"/>
                  <a:gd name="connsiteX473" fmla="*/ 961701 w 1386206"/>
                  <a:gd name="connsiteY473" fmla="*/ 59972 h 1386047"/>
                  <a:gd name="connsiteX474" fmla="*/ 960978 w 1386206"/>
                  <a:gd name="connsiteY474" fmla="*/ 61400 h 1386047"/>
                  <a:gd name="connsiteX475" fmla="*/ 958809 w 1386206"/>
                  <a:gd name="connsiteY475" fmla="*/ 68540 h 1386047"/>
                  <a:gd name="connsiteX476" fmla="*/ 958086 w 1386206"/>
                  <a:gd name="connsiteY476" fmla="*/ 69254 h 1386047"/>
                  <a:gd name="connsiteX477" fmla="*/ 955195 w 1386206"/>
                  <a:gd name="connsiteY477" fmla="*/ 77107 h 1386047"/>
                  <a:gd name="connsiteX478" fmla="*/ 955195 w 1386206"/>
                  <a:gd name="connsiteY478" fmla="*/ 78535 h 1386047"/>
                  <a:gd name="connsiteX479" fmla="*/ 953026 w 1386206"/>
                  <a:gd name="connsiteY479" fmla="*/ 87103 h 1386047"/>
                  <a:gd name="connsiteX480" fmla="*/ 952303 w 1386206"/>
                  <a:gd name="connsiteY480" fmla="*/ 87817 h 1386047"/>
                  <a:gd name="connsiteX481" fmla="*/ 950135 w 1386206"/>
                  <a:gd name="connsiteY481" fmla="*/ 97098 h 1386047"/>
                  <a:gd name="connsiteX482" fmla="*/ 950135 w 1386206"/>
                  <a:gd name="connsiteY482" fmla="*/ 97812 h 1386047"/>
                  <a:gd name="connsiteX483" fmla="*/ 946520 w 1386206"/>
                  <a:gd name="connsiteY483" fmla="*/ 117803 h 1386047"/>
                  <a:gd name="connsiteX484" fmla="*/ 946520 w 1386206"/>
                  <a:gd name="connsiteY484" fmla="*/ 118517 h 1386047"/>
                  <a:gd name="connsiteX485" fmla="*/ 945074 w 1386206"/>
                  <a:gd name="connsiteY485" fmla="*/ 126370 h 1386047"/>
                  <a:gd name="connsiteX486" fmla="*/ 945074 w 1386206"/>
                  <a:gd name="connsiteY486" fmla="*/ 128512 h 1386047"/>
                  <a:gd name="connsiteX487" fmla="*/ 945074 w 1386206"/>
                  <a:gd name="connsiteY487" fmla="*/ 129940 h 1386047"/>
                  <a:gd name="connsiteX488" fmla="*/ 943629 w 1386206"/>
                  <a:gd name="connsiteY488" fmla="*/ 139935 h 1386047"/>
                  <a:gd name="connsiteX489" fmla="*/ 943629 w 1386206"/>
                  <a:gd name="connsiteY489" fmla="*/ 141363 h 1386047"/>
                  <a:gd name="connsiteX490" fmla="*/ 942906 w 1386206"/>
                  <a:gd name="connsiteY490" fmla="*/ 152073 h 1386047"/>
                  <a:gd name="connsiteX491" fmla="*/ 942183 w 1386206"/>
                  <a:gd name="connsiteY491" fmla="*/ 153501 h 1386047"/>
                  <a:gd name="connsiteX492" fmla="*/ 941460 w 1386206"/>
                  <a:gd name="connsiteY492" fmla="*/ 164210 h 1386047"/>
                  <a:gd name="connsiteX493" fmla="*/ 941460 w 1386206"/>
                  <a:gd name="connsiteY493" fmla="*/ 165638 h 1386047"/>
                  <a:gd name="connsiteX494" fmla="*/ 941460 w 1386206"/>
                  <a:gd name="connsiteY494" fmla="*/ 167066 h 1386047"/>
                  <a:gd name="connsiteX495" fmla="*/ 940737 w 1386206"/>
                  <a:gd name="connsiteY495" fmla="*/ 177061 h 1386047"/>
                  <a:gd name="connsiteX496" fmla="*/ 940737 w 1386206"/>
                  <a:gd name="connsiteY496" fmla="*/ 178489 h 1386047"/>
                  <a:gd name="connsiteX497" fmla="*/ 940737 w 1386206"/>
                  <a:gd name="connsiteY497" fmla="*/ 190626 h 1386047"/>
                  <a:gd name="connsiteX498" fmla="*/ 940737 w 1386206"/>
                  <a:gd name="connsiteY498" fmla="*/ 191340 h 1386047"/>
                  <a:gd name="connsiteX499" fmla="*/ 940014 w 1386206"/>
                  <a:gd name="connsiteY499" fmla="*/ 217043 h 1386047"/>
                  <a:gd name="connsiteX500" fmla="*/ 940014 w 1386206"/>
                  <a:gd name="connsiteY500" fmla="*/ 217757 h 1386047"/>
                  <a:gd name="connsiteX501" fmla="*/ 940014 w 1386206"/>
                  <a:gd name="connsiteY501" fmla="*/ 230608 h 1386047"/>
                  <a:gd name="connsiteX502" fmla="*/ 940014 w 1386206"/>
                  <a:gd name="connsiteY502" fmla="*/ 232036 h 1386047"/>
                  <a:gd name="connsiteX503" fmla="*/ 940014 w 1386206"/>
                  <a:gd name="connsiteY503" fmla="*/ 244887 h 1386047"/>
                  <a:gd name="connsiteX504" fmla="*/ 940014 w 1386206"/>
                  <a:gd name="connsiteY504" fmla="*/ 246315 h 1386047"/>
                  <a:gd name="connsiteX505" fmla="*/ 940014 w 1386206"/>
                  <a:gd name="connsiteY505" fmla="*/ 259166 h 1386047"/>
                  <a:gd name="connsiteX506" fmla="*/ 940014 w 1386206"/>
                  <a:gd name="connsiteY506" fmla="*/ 260594 h 1386047"/>
                  <a:gd name="connsiteX507" fmla="*/ 940737 w 1386206"/>
                  <a:gd name="connsiteY507" fmla="*/ 273445 h 1386047"/>
                  <a:gd name="connsiteX508" fmla="*/ 940737 w 1386206"/>
                  <a:gd name="connsiteY508" fmla="*/ 275587 h 1386047"/>
                  <a:gd name="connsiteX509" fmla="*/ 940737 w 1386206"/>
                  <a:gd name="connsiteY509" fmla="*/ 281299 h 1386047"/>
                  <a:gd name="connsiteX510" fmla="*/ 941460 w 1386206"/>
                  <a:gd name="connsiteY510" fmla="*/ 288438 h 1386047"/>
                  <a:gd name="connsiteX511" fmla="*/ 941460 w 1386206"/>
                  <a:gd name="connsiteY511" fmla="*/ 289866 h 1386047"/>
                  <a:gd name="connsiteX512" fmla="*/ 941460 w 1386206"/>
                  <a:gd name="connsiteY512" fmla="*/ 303431 h 1386047"/>
                  <a:gd name="connsiteX513" fmla="*/ 942183 w 1386206"/>
                  <a:gd name="connsiteY513" fmla="*/ 304859 h 1386047"/>
                  <a:gd name="connsiteX514" fmla="*/ 942906 w 1386206"/>
                  <a:gd name="connsiteY514" fmla="*/ 327706 h 1386047"/>
                  <a:gd name="connsiteX515" fmla="*/ 943629 w 1386206"/>
                  <a:gd name="connsiteY515" fmla="*/ 333417 h 1386047"/>
                  <a:gd name="connsiteX516" fmla="*/ 943629 w 1386206"/>
                  <a:gd name="connsiteY516" fmla="*/ 334131 h 1386047"/>
                  <a:gd name="connsiteX517" fmla="*/ 944351 w 1386206"/>
                  <a:gd name="connsiteY517" fmla="*/ 348411 h 1386047"/>
                  <a:gd name="connsiteX518" fmla="*/ 944351 w 1386206"/>
                  <a:gd name="connsiteY518" fmla="*/ 349838 h 1386047"/>
                  <a:gd name="connsiteX519" fmla="*/ 945074 w 1386206"/>
                  <a:gd name="connsiteY519" fmla="*/ 363404 h 1386047"/>
                  <a:gd name="connsiteX520" fmla="*/ 945074 w 1386206"/>
                  <a:gd name="connsiteY520" fmla="*/ 365545 h 1386047"/>
                  <a:gd name="connsiteX521" fmla="*/ 945797 w 1386206"/>
                  <a:gd name="connsiteY521" fmla="*/ 379111 h 1386047"/>
                  <a:gd name="connsiteX522" fmla="*/ 946520 w 1386206"/>
                  <a:gd name="connsiteY522" fmla="*/ 381253 h 1386047"/>
                  <a:gd name="connsiteX523" fmla="*/ 947243 w 1386206"/>
                  <a:gd name="connsiteY523" fmla="*/ 394818 h 1386047"/>
                  <a:gd name="connsiteX524" fmla="*/ 947243 w 1386206"/>
                  <a:gd name="connsiteY524" fmla="*/ 396960 h 1386047"/>
                  <a:gd name="connsiteX525" fmla="*/ 947966 w 1386206"/>
                  <a:gd name="connsiteY525" fmla="*/ 403385 h 1386047"/>
                  <a:gd name="connsiteX526" fmla="*/ 946520 w 1386206"/>
                  <a:gd name="connsiteY526" fmla="*/ 403385 h 1386047"/>
                  <a:gd name="connsiteX527" fmla="*/ 915436 w 1386206"/>
                  <a:gd name="connsiteY527" fmla="*/ 401243 h 1386047"/>
                  <a:gd name="connsiteX528" fmla="*/ 915436 w 1386206"/>
                  <a:gd name="connsiteY528" fmla="*/ 395532 h 1386047"/>
                  <a:gd name="connsiteX529" fmla="*/ 914713 w 1386206"/>
                  <a:gd name="connsiteY529" fmla="*/ 392676 h 1386047"/>
                  <a:gd name="connsiteX530" fmla="*/ 913990 w 1386206"/>
                  <a:gd name="connsiteY530" fmla="*/ 378397 h 1386047"/>
                  <a:gd name="connsiteX531" fmla="*/ 913990 w 1386206"/>
                  <a:gd name="connsiteY531" fmla="*/ 375541 h 1386047"/>
                  <a:gd name="connsiteX532" fmla="*/ 913267 w 1386206"/>
                  <a:gd name="connsiteY532" fmla="*/ 361976 h 1386047"/>
                  <a:gd name="connsiteX533" fmla="*/ 912545 w 1386206"/>
                  <a:gd name="connsiteY533" fmla="*/ 359120 h 1386047"/>
                  <a:gd name="connsiteX534" fmla="*/ 911822 w 1386206"/>
                  <a:gd name="connsiteY534" fmla="*/ 344841 h 1386047"/>
                  <a:gd name="connsiteX535" fmla="*/ 911822 w 1386206"/>
                  <a:gd name="connsiteY535" fmla="*/ 342699 h 1386047"/>
                  <a:gd name="connsiteX536" fmla="*/ 911099 w 1386206"/>
                  <a:gd name="connsiteY536" fmla="*/ 328420 h 1386047"/>
                  <a:gd name="connsiteX537" fmla="*/ 911099 w 1386206"/>
                  <a:gd name="connsiteY537" fmla="*/ 326278 h 1386047"/>
                  <a:gd name="connsiteX538" fmla="*/ 910376 w 1386206"/>
                  <a:gd name="connsiteY538" fmla="*/ 311999 h 1386047"/>
                  <a:gd name="connsiteX539" fmla="*/ 910376 w 1386206"/>
                  <a:gd name="connsiteY539" fmla="*/ 310571 h 1386047"/>
                  <a:gd name="connsiteX540" fmla="*/ 909653 w 1386206"/>
                  <a:gd name="connsiteY540" fmla="*/ 295578 h 1386047"/>
                  <a:gd name="connsiteX541" fmla="*/ 908930 w 1386206"/>
                  <a:gd name="connsiteY541" fmla="*/ 280585 h 1386047"/>
                  <a:gd name="connsiteX542" fmla="*/ 908930 w 1386206"/>
                  <a:gd name="connsiteY542" fmla="*/ 279871 h 1386047"/>
                  <a:gd name="connsiteX543" fmla="*/ 908930 w 1386206"/>
                  <a:gd name="connsiteY543" fmla="*/ 265592 h 1386047"/>
                  <a:gd name="connsiteX544" fmla="*/ 908207 w 1386206"/>
                  <a:gd name="connsiteY544" fmla="*/ 264164 h 1386047"/>
                  <a:gd name="connsiteX545" fmla="*/ 908207 w 1386206"/>
                  <a:gd name="connsiteY545" fmla="*/ 249885 h 1386047"/>
                  <a:gd name="connsiteX546" fmla="*/ 908207 w 1386206"/>
                  <a:gd name="connsiteY546" fmla="*/ 248457 h 1386047"/>
                  <a:gd name="connsiteX547" fmla="*/ 908207 w 1386206"/>
                  <a:gd name="connsiteY547" fmla="*/ 234892 h 1386047"/>
                  <a:gd name="connsiteX548" fmla="*/ 908207 w 1386206"/>
                  <a:gd name="connsiteY548" fmla="*/ 233464 h 1386047"/>
                  <a:gd name="connsiteX549" fmla="*/ 908207 w 1386206"/>
                  <a:gd name="connsiteY549" fmla="*/ 219898 h 1386047"/>
                  <a:gd name="connsiteX550" fmla="*/ 908207 w 1386206"/>
                  <a:gd name="connsiteY550" fmla="*/ 218471 h 1386047"/>
                  <a:gd name="connsiteX551" fmla="*/ 908207 w 1386206"/>
                  <a:gd name="connsiteY551" fmla="*/ 205619 h 1386047"/>
                  <a:gd name="connsiteX552" fmla="*/ 908207 w 1386206"/>
                  <a:gd name="connsiteY552" fmla="*/ 203477 h 1386047"/>
                  <a:gd name="connsiteX553" fmla="*/ 908207 w 1386206"/>
                  <a:gd name="connsiteY553" fmla="*/ 191340 h 1386047"/>
                  <a:gd name="connsiteX554" fmla="*/ 908930 w 1386206"/>
                  <a:gd name="connsiteY554" fmla="*/ 189912 h 1386047"/>
                  <a:gd name="connsiteX555" fmla="*/ 908930 w 1386206"/>
                  <a:gd name="connsiteY555" fmla="*/ 177061 h 1386047"/>
                  <a:gd name="connsiteX556" fmla="*/ 908930 w 1386206"/>
                  <a:gd name="connsiteY556" fmla="*/ 175633 h 1386047"/>
                  <a:gd name="connsiteX557" fmla="*/ 909653 w 1386206"/>
                  <a:gd name="connsiteY557" fmla="*/ 163496 h 1386047"/>
                  <a:gd name="connsiteX558" fmla="*/ 909653 w 1386206"/>
                  <a:gd name="connsiteY558" fmla="*/ 162782 h 1386047"/>
                  <a:gd name="connsiteX559" fmla="*/ 911099 w 1386206"/>
                  <a:gd name="connsiteY559" fmla="*/ 150645 h 1386047"/>
                  <a:gd name="connsiteX560" fmla="*/ 911099 w 1386206"/>
                  <a:gd name="connsiteY560" fmla="*/ 149931 h 1386047"/>
                  <a:gd name="connsiteX561" fmla="*/ 911822 w 1386206"/>
                  <a:gd name="connsiteY561" fmla="*/ 137794 h 1386047"/>
                  <a:gd name="connsiteX562" fmla="*/ 912545 w 1386206"/>
                  <a:gd name="connsiteY562" fmla="*/ 136366 h 1386047"/>
                  <a:gd name="connsiteX563" fmla="*/ 913267 w 1386206"/>
                  <a:gd name="connsiteY563" fmla="*/ 125656 h 1386047"/>
                  <a:gd name="connsiteX564" fmla="*/ 913990 w 1386206"/>
                  <a:gd name="connsiteY564" fmla="*/ 124228 h 1386047"/>
                  <a:gd name="connsiteX565" fmla="*/ 915436 w 1386206"/>
                  <a:gd name="connsiteY565" fmla="*/ 113519 h 1386047"/>
                  <a:gd name="connsiteX566" fmla="*/ 915436 w 1386206"/>
                  <a:gd name="connsiteY566" fmla="*/ 111377 h 1386047"/>
                  <a:gd name="connsiteX567" fmla="*/ 917605 w 1386206"/>
                  <a:gd name="connsiteY567" fmla="*/ 101382 h 1386047"/>
                  <a:gd name="connsiteX568" fmla="*/ 917605 w 1386206"/>
                  <a:gd name="connsiteY568" fmla="*/ 99954 h 1386047"/>
                  <a:gd name="connsiteX569" fmla="*/ 919773 w 1386206"/>
                  <a:gd name="connsiteY569" fmla="*/ 89958 h 1386047"/>
                  <a:gd name="connsiteX570" fmla="*/ 919773 w 1386206"/>
                  <a:gd name="connsiteY570" fmla="*/ 88531 h 1386047"/>
                  <a:gd name="connsiteX571" fmla="*/ 921942 w 1386206"/>
                  <a:gd name="connsiteY571" fmla="*/ 79249 h 1386047"/>
                  <a:gd name="connsiteX572" fmla="*/ 922665 w 1386206"/>
                  <a:gd name="connsiteY572" fmla="*/ 77821 h 1386047"/>
                  <a:gd name="connsiteX573" fmla="*/ 924834 w 1386206"/>
                  <a:gd name="connsiteY573" fmla="*/ 68540 h 1386047"/>
                  <a:gd name="connsiteX574" fmla="*/ 925556 w 1386206"/>
                  <a:gd name="connsiteY574" fmla="*/ 67826 h 1386047"/>
                  <a:gd name="connsiteX575" fmla="*/ 928448 w 1386206"/>
                  <a:gd name="connsiteY575" fmla="*/ 58544 h 1386047"/>
                  <a:gd name="connsiteX576" fmla="*/ 928448 w 1386206"/>
                  <a:gd name="connsiteY576" fmla="*/ 57830 h 1386047"/>
                  <a:gd name="connsiteX577" fmla="*/ 932062 w 1386206"/>
                  <a:gd name="connsiteY577" fmla="*/ 49263 h 1386047"/>
                  <a:gd name="connsiteX578" fmla="*/ 932062 w 1386206"/>
                  <a:gd name="connsiteY578" fmla="*/ 48549 h 1386047"/>
                  <a:gd name="connsiteX579" fmla="*/ 935677 w 1386206"/>
                  <a:gd name="connsiteY579" fmla="*/ 40696 h 1386047"/>
                  <a:gd name="connsiteX580" fmla="*/ 936400 w 1386206"/>
                  <a:gd name="connsiteY580" fmla="*/ 39982 h 1386047"/>
                  <a:gd name="connsiteX581" fmla="*/ 940014 w 1386206"/>
                  <a:gd name="connsiteY581" fmla="*/ 32128 h 1386047"/>
                  <a:gd name="connsiteX582" fmla="*/ 940737 w 1386206"/>
                  <a:gd name="connsiteY582" fmla="*/ 31414 h 1386047"/>
                  <a:gd name="connsiteX583" fmla="*/ 944351 w 1386206"/>
                  <a:gd name="connsiteY583" fmla="*/ 24275 h 1386047"/>
                  <a:gd name="connsiteX584" fmla="*/ 945074 w 1386206"/>
                  <a:gd name="connsiteY584" fmla="*/ 23561 h 1386047"/>
                  <a:gd name="connsiteX585" fmla="*/ 949412 w 1386206"/>
                  <a:gd name="connsiteY585" fmla="*/ 17135 h 1386047"/>
                  <a:gd name="connsiteX586" fmla="*/ 950135 w 1386206"/>
                  <a:gd name="connsiteY586" fmla="*/ 16421 h 1386047"/>
                  <a:gd name="connsiteX587" fmla="*/ 960255 w 1386206"/>
                  <a:gd name="connsiteY587" fmla="*/ 4284 h 1386047"/>
                  <a:gd name="connsiteX588" fmla="*/ 971731 w 1386206"/>
                  <a:gd name="connsiteY588" fmla="*/ 0 h 138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Lst>
                <a:rect l="l" t="t" r="r" b="b"/>
                <a:pathLst>
                  <a:path w="1386206" h="1386047">
                    <a:moveTo>
                      <a:pt x="439725" y="982822"/>
                    </a:moveTo>
                    <a:cubicBezTo>
                      <a:pt x="444686" y="982822"/>
                      <a:pt x="450355" y="983538"/>
                      <a:pt x="455316" y="983538"/>
                    </a:cubicBezTo>
                    <a:cubicBezTo>
                      <a:pt x="460277" y="984255"/>
                      <a:pt x="465947" y="984255"/>
                      <a:pt x="470908" y="984971"/>
                    </a:cubicBezTo>
                    <a:cubicBezTo>
                      <a:pt x="470908" y="986403"/>
                      <a:pt x="470908" y="987836"/>
                      <a:pt x="470908" y="989268"/>
                    </a:cubicBezTo>
                    <a:cubicBezTo>
                      <a:pt x="470908" y="989984"/>
                      <a:pt x="470908" y="991417"/>
                      <a:pt x="471616" y="992133"/>
                    </a:cubicBezTo>
                    <a:cubicBezTo>
                      <a:pt x="471616" y="997146"/>
                      <a:pt x="471616" y="1001444"/>
                      <a:pt x="472325" y="1006457"/>
                    </a:cubicBezTo>
                    <a:cubicBezTo>
                      <a:pt x="472325" y="1007173"/>
                      <a:pt x="472325" y="1007889"/>
                      <a:pt x="472325" y="1009322"/>
                    </a:cubicBezTo>
                    <a:cubicBezTo>
                      <a:pt x="472325" y="1013619"/>
                      <a:pt x="473034" y="1018633"/>
                      <a:pt x="473034" y="1022930"/>
                    </a:cubicBezTo>
                    <a:cubicBezTo>
                      <a:pt x="473034" y="1024362"/>
                      <a:pt x="473034" y="1025078"/>
                      <a:pt x="473743" y="1025795"/>
                    </a:cubicBezTo>
                    <a:cubicBezTo>
                      <a:pt x="473743" y="1030808"/>
                      <a:pt x="473743" y="1035105"/>
                      <a:pt x="474451" y="1040119"/>
                    </a:cubicBezTo>
                    <a:cubicBezTo>
                      <a:pt x="474451" y="1040835"/>
                      <a:pt x="474451" y="1041551"/>
                      <a:pt x="474451" y="1042267"/>
                    </a:cubicBezTo>
                    <a:cubicBezTo>
                      <a:pt x="474451" y="1047281"/>
                      <a:pt x="475160" y="1051578"/>
                      <a:pt x="475160" y="1056592"/>
                    </a:cubicBezTo>
                    <a:cubicBezTo>
                      <a:pt x="475160" y="1057308"/>
                      <a:pt x="475160" y="1058024"/>
                      <a:pt x="475160" y="1058740"/>
                    </a:cubicBezTo>
                    <a:cubicBezTo>
                      <a:pt x="475160" y="1063037"/>
                      <a:pt x="475869" y="1068051"/>
                      <a:pt x="475869" y="1073064"/>
                    </a:cubicBezTo>
                    <a:cubicBezTo>
                      <a:pt x="475869" y="1073781"/>
                      <a:pt x="475869" y="1073781"/>
                      <a:pt x="475869" y="1074497"/>
                    </a:cubicBezTo>
                    <a:cubicBezTo>
                      <a:pt x="475869" y="1079510"/>
                      <a:pt x="476577" y="1084524"/>
                      <a:pt x="476577" y="1089537"/>
                    </a:cubicBezTo>
                    <a:cubicBezTo>
                      <a:pt x="476577" y="1094551"/>
                      <a:pt x="477286" y="1099564"/>
                      <a:pt x="477286" y="1104577"/>
                    </a:cubicBezTo>
                    <a:cubicBezTo>
                      <a:pt x="477286" y="1105294"/>
                      <a:pt x="477286" y="1105294"/>
                      <a:pt x="477286" y="1105294"/>
                    </a:cubicBezTo>
                    <a:cubicBezTo>
                      <a:pt x="477286" y="1110307"/>
                      <a:pt x="477286" y="1115321"/>
                      <a:pt x="477286" y="1119618"/>
                    </a:cubicBezTo>
                    <a:cubicBezTo>
                      <a:pt x="477995" y="1120334"/>
                      <a:pt x="477995" y="1121050"/>
                      <a:pt x="477995" y="1121050"/>
                    </a:cubicBezTo>
                    <a:cubicBezTo>
                      <a:pt x="477995" y="1126064"/>
                      <a:pt x="477995" y="1130361"/>
                      <a:pt x="477995" y="1135374"/>
                    </a:cubicBezTo>
                    <a:cubicBezTo>
                      <a:pt x="477995" y="1135374"/>
                      <a:pt x="477995" y="1136091"/>
                      <a:pt x="477995" y="1136807"/>
                    </a:cubicBezTo>
                    <a:cubicBezTo>
                      <a:pt x="477995" y="1141104"/>
                      <a:pt x="477995" y="1146118"/>
                      <a:pt x="477995" y="1150415"/>
                    </a:cubicBezTo>
                    <a:cubicBezTo>
                      <a:pt x="477995" y="1151131"/>
                      <a:pt x="477995" y="1151847"/>
                      <a:pt x="477995" y="1151847"/>
                    </a:cubicBezTo>
                    <a:cubicBezTo>
                      <a:pt x="477995" y="1156861"/>
                      <a:pt x="477995" y="1161158"/>
                      <a:pt x="477995" y="1165455"/>
                    </a:cubicBezTo>
                    <a:cubicBezTo>
                      <a:pt x="477995" y="1165455"/>
                      <a:pt x="477995" y="1166171"/>
                      <a:pt x="477995" y="1166888"/>
                    </a:cubicBezTo>
                    <a:cubicBezTo>
                      <a:pt x="477995" y="1171185"/>
                      <a:pt x="477995" y="1175482"/>
                      <a:pt x="477995" y="1179779"/>
                    </a:cubicBezTo>
                    <a:cubicBezTo>
                      <a:pt x="477995" y="1180495"/>
                      <a:pt x="477995" y="1181212"/>
                      <a:pt x="477995" y="1181928"/>
                    </a:cubicBezTo>
                    <a:cubicBezTo>
                      <a:pt x="477995" y="1186225"/>
                      <a:pt x="477995" y="1189806"/>
                      <a:pt x="477995" y="1194103"/>
                    </a:cubicBezTo>
                    <a:cubicBezTo>
                      <a:pt x="477286" y="1194820"/>
                      <a:pt x="477286" y="1195536"/>
                      <a:pt x="477286" y="1195536"/>
                    </a:cubicBezTo>
                    <a:cubicBezTo>
                      <a:pt x="477286" y="1199833"/>
                      <a:pt x="477286" y="1204130"/>
                      <a:pt x="477286" y="1208428"/>
                    </a:cubicBezTo>
                    <a:cubicBezTo>
                      <a:pt x="477286" y="1209144"/>
                      <a:pt x="477286" y="1209144"/>
                      <a:pt x="477286" y="1209860"/>
                    </a:cubicBezTo>
                    <a:cubicBezTo>
                      <a:pt x="476577" y="1214157"/>
                      <a:pt x="476577" y="1218455"/>
                      <a:pt x="476577" y="1222036"/>
                    </a:cubicBezTo>
                    <a:cubicBezTo>
                      <a:pt x="476577" y="1222752"/>
                      <a:pt x="476577" y="1222752"/>
                      <a:pt x="476577" y="1222752"/>
                    </a:cubicBezTo>
                    <a:cubicBezTo>
                      <a:pt x="475869" y="1227049"/>
                      <a:pt x="475869" y="1231346"/>
                      <a:pt x="475160" y="1234927"/>
                    </a:cubicBezTo>
                    <a:cubicBezTo>
                      <a:pt x="475160" y="1235643"/>
                      <a:pt x="475160" y="1235643"/>
                      <a:pt x="475160" y="1235643"/>
                    </a:cubicBezTo>
                    <a:cubicBezTo>
                      <a:pt x="475160" y="1239941"/>
                      <a:pt x="474451" y="1244238"/>
                      <a:pt x="474451" y="1247819"/>
                    </a:cubicBezTo>
                    <a:cubicBezTo>
                      <a:pt x="474451" y="1248535"/>
                      <a:pt x="474451" y="1248535"/>
                      <a:pt x="473743" y="1249251"/>
                    </a:cubicBezTo>
                    <a:cubicBezTo>
                      <a:pt x="473743" y="1252832"/>
                      <a:pt x="473034" y="1256414"/>
                      <a:pt x="473034" y="1259995"/>
                    </a:cubicBezTo>
                    <a:cubicBezTo>
                      <a:pt x="473034" y="1260711"/>
                      <a:pt x="472325" y="1261427"/>
                      <a:pt x="472325" y="1261427"/>
                    </a:cubicBezTo>
                    <a:cubicBezTo>
                      <a:pt x="472325" y="1265008"/>
                      <a:pt x="471616" y="1268589"/>
                      <a:pt x="470908" y="1272170"/>
                    </a:cubicBezTo>
                    <a:cubicBezTo>
                      <a:pt x="470908" y="1272886"/>
                      <a:pt x="470908" y="1273603"/>
                      <a:pt x="470908" y="1274319"/>
                    </a:cubicBezTo>
                    <a:cubicBezTo>
                      <a:pt x="470199" y="1277184"/>
                      <a:pt x="469490" y="1280765"/>
                      <a:pt x="468782" y="1284346"/>
                    </a:cubicBezTo>
                    <a:cubicBezTo>
                      <a:pt x="468782" y="1285062"/>
                      <a:pt x="468782" y="1285062"/>
                      <a:pt x="468782" y="1285778"/>
                    </a:cubicBezTo>
                    <a:cubicBezTo>
                      <a:pt x="468073" y="1289359"/>
                      <a:pt x="467364" y="1292224"/>
                      <a:pt x="466655" y="1295805"/>
                    </a:cubicBezTo>
                    <a:cubicBezTo>
                      <a:pt x="466655" y="1295805"/>
                      <a:pt x="466655" y="1296521"/>
                      <a:pt x="466655" y="1297237"/>
                    </a:cubicBezTo>
                    <a:cubicBezTo>
                      <a:pt x="465947" y="1300102"/>
                      <a:pt x="465238" y="1303683"/>
                      <a:pt x="464529" y="1306548"/>
                    </a:cubicBezTo>
                    <a:cubicBezTo>
                      <a:pt x="463821" y="1307264"/>
                      <a:pt x="463821" y="1307264"/>
                      <a:pt x="463821" y="1307980"/>
                    </a:cubicBezTo>
                    <a:cubicBezTo>
                      <a:pt x="463112" y="1310845"/>
                      <a:pt x="462403" y="1314426"/>
                      <a:pt x="461695" y="1317291"/>
                    </a:cubicBezTo>
                    <a:cubicBezTo>
                      <a:pt x="460986" y="1317291"/>
                      <a:pt x="460986" y="1318007"/>
                      <a:pt x="460986" y="1318007"/>
                    </a:cubicBezTo>
                    <a:cubicBezTo>
                      <a:pt x="460277" y="1321588"/>
                      <a:pt x="458860" y="1324453"/>
                      <a:pt x="458151" y="1327318"/>
                    </a:cubicBezTo>
                    <a:cubicBezTo>
                      <a:pt x="458151" y="1327318"/>
                      <a:pt x="458151" y="1327318"/>
                      <a:pt x="458151" y="1328034"/>
                    </a:cubicBezTo>
                    <a:cubicBezTo>
                      <a:pt x="456734" y="1330899"/>
                      <a:pt x="456025" y="1333764"/>
                      <a:pt x="454607" y="1336629"/>
                    </a:cubicBezTo>
                    <a:cubicBezTo>
                      <a:pt x="454607" y="1336629"/>
                      <a:pt x="454607" y="1336629"/>
                      <a:pt x="454607" y="1337345"/>
                    </a:cubicBezTo>
                    <a:cubicBezTo>
                      <a:pt x="453190" y="1339494"/>
                      <a:pt x="452481" y="1342358"/>
                      <a:pt x="451064" y="1345223"/>
                    </a:cubicBezTo>
                    <a:cubicBezTo>
                      <a:pt x="451064" y="1345223"/>
                      <a:pt x="450355" y="1345940"/>
                      <a:pt x="450355" y="1345940"/>
                    </a:cubicBezTo>
                    <a:cubicBezTo>
                      <a:pt x="449647" y="1348804"/>
                      <a:pt x="448229" y="1350953"/>
                      <a:pt x="446812" y="1353818"/>
                    </a:cubicBezTo>
                    <a:cubicBezTo>
                      <a:pt x="446812" y="1353818"/>
                      <a:pt x="446103" y="1354534"/>
                      <a:pt x="446103" y="1354534"/>
                    </a:cubicBezTo>
                    <a:cubicBezTo>
                      <a:pt x="444686" y="1356683"/>
                      <a:pt x="443977" y="1359547"/>
                      <a:pt x="442559" y="1361696"/>
                    </a:cubicBezTo>
                    <a:cubicBezTo>
                      <a:pt x="441851" y="1361696"/>
                      <a:pt x="441851" y="1362412"/>
                      <a:pt x="441851" y="1362412"/>
                    </a:cubicBezTo>
                    <a:cubicBezTo>
                      <a:pt x="440433" y="1364561"/>
                      <a:pt x="439016" y="1366710"/>
                      <a:pt x="437599" y="1368858"/>
                    </a:cubicBezTo>
                    <a:cubicBezTo>
                      <a:pt x="436890" y="1368858"/>
                      <a:pt x="436890" y="1369574"/>
                      <a:pt x="436890" y="1369574"/>
                    </a:cubicBezTo>
                    <a:cubicBezTo>
                      <a:pt x="434055" y="1373872"/>
                      <a:pt x="430511" y="1377453"/>
                      <a:pt x="426968" y="1381750"/>
                    </a:cubicBezTo>
                    <a:cubicBezTo>
                      <a:pt x="423424" y="1384615"/>
                      <a:pt x="419881" y="1386047"/>
                      <a:pt x="415629" y="1386047"/>
                    </a:cubicBezTo>
                    <a:cubicBezTo>
                      <a:pt x="412085" y="1386047"/>
                      <a:pt x="407833" y="1384615"/>
                      <a:pt x="404998" y="1381750"/>
                    </a:cubicBezTo>
                    <a:cubicBezTo>
                      <a:pt x="398620" y="1375304"/>
                      <a:pt x="398620" y="1365277"/>
                      <a:pt x="404998" y="1358831"/>
                    </a:cubicBezTo>
                    <a:cubicBezTo>
                      <a:pt x="408542" y="1355250"/>
                      <a:pt x="411376" y="1351669"/>
                      <a:pt x="414920" y="1346656"/>
                    </a:cubicBezTo>
                    <a:cubicBezTo>
                      <a:pt x="416337" y="1344507"/>
                      <a:pt x="417046" y="1342358"/>
                      <a:pt x="418464" y="1340210"/>
                    </a:cubicBezTo>
                    <a:cubicBezTo>
                      <a:pt x="419881" y="1338061"/>
                      <a:pt x="421298" y="1335913"/>
                      <a:pt x="422007" y="1333048"/>
                    </a:cubicBezTo>
                    <a:cubicBezTo>
                      <a:pt x="422007" y="1333048"/>
                      <a:pt x="422716" y="1333048"/>
                      <a:pt x="422716" y="1333048"/>
                    </a:cubicBezTo>
                    <a:cubicBezTo>
                      <a:pt x="423424" y="1330183"/>
                      <a:pt x="424842" y="1328034"/>
                      <a:pt x="425551" y="1325886"/>
                    </a:cubicBezTo>
                    <a:cubicBezTo>
                      <a:pt x="425551" y="1325169"/>
                      <a:pt x="425551" y="1325169"/>
                      <a:pt x="426259" y="1324453"/>
                    </a:cubicBezTo>
                    <a:cubicBezTo>
                      <a:pt x="426968" y="1322305"/>
                      <a:pt x="427677" y="1320156"/>
                      <a:pt x="428385" y="1317291"/>
                    </a:cubicBezTo>
                    <a:cubicBezTo>
                      <a:pt x="429094" y="1317291"/>
                      <a:pt x="429094" y="1316575"/>
                      <a:pt x="429094" y="1316575"/>
                    </a:cubicBezTo>
                    <a:cubicBezTo>
                      <a:pt x="429803" y="1313710"/>
                      <a:pt x="430511" y="1310845"/>
                      <a:pt x="431929" y="1308697"/>
                    </a:cubicBezTo>
                    <a:cubicBezTo>
                      <a:pt x="431929" y="1307980"/>
                      <a:pt x="431929" y="1307980"/>
                      <a:pt x="431929" y="1307264"/>
                    </a:cubicBezTo>
                    <a:cubicBezTo>
                      <a:pt x="432638" y="1304399"/>
                      <a:pt x="433346" y="1301535"/>
                      <a:pt x="434055" y="1298670"/>
                    </a:cubicBezTo>
                    <a:cubicBezTo>
                      <a:pt x="434055" y="1298670"/>
                      <a:pt x="434055" y="1297954"/>
                      <a:pt x="434764" y="1297954"/>
                    </a:cubicBezTo>
                    <a:cubicBezTo>
                      <a:pt x="435472" y="1295089"/>
                      <a:pt x="436181" y="1292224"/>
                      <a:pt x="436890" y="1288643"/>
                    </a:cubicBezTo>
                    <a:cubicBezTo>
                      <a:pt x="436890" y="1288643"/>
                      <a:pt x="436890" y="1288643"/>
                      <a:pt x="436890" y="1287927"/>
                    </a:cubicBezTo>
                    <a:cubicBezTo>
                      <a:pt x="438307" y="1281481"/>
                      <a:pt x="439016" y="1275035"/>
                      <a:pt x="440433" y="1267873"/>
                    </a:cubicBezTo>
                    <a:cubicBezTo>
                      <a:pt x="440433" y="1267873"/>
                      <a:pt x="440433" y="1267873"/>
                      <a:pt x="440433" y="1267157"/>
                    </a:cubicBezTo>
                    <a:cubicBezTo>
                      <a:pt x="441142" y="1265008"/>
                      <a:pt x="441142" y="1262143"/>
                      <a:pt x="441851" y="1259278"/>
                    </a:cubicBezTo>
                    <a:cubicBezTo>
                      <a:pt x="441851" y="1258562"/>
                      <a:pt x="441851" y="1257846"/>
                      <a:pt x="441851" y="1257130"/>
                    </a:cubicBezTo>
                    <a:cubicBezTo>
                      <a:pt x="441851" y="1256414"/>
                      <a:pt x="441851" y="1256414"/>
                      <a:pt x="441851" y="1255697"/>
                    </a:cubicBezTo>
                    <a:cubicBezTo>
                      <a:pt x="442559" y="1252832"/>
                      <a:pt x="442559" y="1249251"/>
                      <a:pt x="443268" y="1245670"/>
                    </a:cubicBezTo>
                    <a:cubicBezTo>
                      <a:pt x="443268" y="1244954"/>
                      <a:pt x="443268" y="1244954"/>
                      <a:pt x="443268" y="1244238"/>
                    </a:cubicBezTo>
                    <a:cubicBezTo>
                      <a:pt x="443977" y="1240657"/>
                      <a:pt x="443977" y="1237076"/>
                      <a:pt x="443977" y="1233495"/>
                    </a:cubicBezTo>
                    <a:cubicBezTo>
                      <a:pt x="443977" y="1232779"/>
                      <a:pt x="444686" y="1232779"/>
                      <a:pt x="444686" y="1232062"/>
                    </a:cubicBezTo>
                    <a:cubicBezTo>
                      <a:pt x="444686" y="1228481"/>
                      <a:pt x="444686" y="1224900"/>
                      <a:pt x="445394" y="1221319"/>
                    </a:cubicBezTo>
                    <a:cubicBezTo>
                      <a:pt x="445394" y="1220603"/>
                      <a:pt x="445394" y="1219887"/>
                      <a:pt x="445394" y="1219887"/>
                    </a:cubicBezTo>
                    <a:cubicBezTo>
                      <a:pt x="445394" y="1219171"/>
                      <a:pt x="445394" y="1218455"/>
                      <a:pt x="445394" y="1218455"/>
                    </a:cubicBezTo>
                    <a:cubicBezTo>
                      <a:pt x="445394" y="1214873"/>
                      <a:pt x="445394" y="1211292"/>
                      <a:pt x="446103" y="1208428"/>
                    </a:cubicBezTo>
                    <a:cubicBezTo>
                      <a:pt x="446103" y="1207711"/>
                      <a:pt x="446103" y="1206995"/>
                      <a:pt x="446103" y="1206995"/>
                    </a:cubicBezTo>
                    <a:cubicBezTo>
                      <a:pt x="446103" y="1202698"/>
                      <a:pt x="446103" y="1199117"/>
                      <a:pt x="446103" y="1194820"/>
                    </a:cubicBezTo>
                    <a:cubicBezTo>
                      <a:pt x="446103" y="1194820"/>
                      <a:pt x="446103" y="1194103"/>
                      <a:pt x="446103" y="1194103"/>
                    </a:cubicBezTo>
                    <a:cubicBezTo>
                      <a:pt x="446812" y="1185509"/>
                      <a:pt x="446812" y="1176914"/>
                      <a:pt x="446812" y="1168320"/>
                    </a:cubicBezTo>
                    <a:cubicBezTo>
                      <a:pt x="446812" y="1167604"/>
                      <a:pt x="446812" y="1167604"/>
                      <a:pt x="446812" y="1167604"/>
                    </a:cubicBezTo>
                    <a:cubicBezTo>
                      <a:pt x="446812" y="1163307"/>
                      <a:pt x="446812" y="1159009"/>
                      <a:pt x="446812" y="1154712"/>
                    </a:cubicBezTo>
                    <a:cubicBezTo>
                      <a:pt x="446812" y="1153996"/>
                      <a:pt x="446812" y="1153996"/>
                      <a:pt x="446812" y="1153280"/>
                    </a:cubicBezTo>
                    <a:cubicBezTo>
                      <a:pt x="446812" y="1148982"/>
                      <a:pt x="446812" y="1144685"/>
                      <a:pt x="446812" y="1140388"/>
                    </a:cubicBezTo>
                    <a:cubicBezTo>
                      <a:pt x="446812" y="1139672"/>
                      <a:pt x="446812" y="1139672"/>
                      <a:pt x="446812" y="1138955"/>
                    </a:cubicBezTo>
                    <a:cubicBezTo>
                      <a:pt x="446812" y="1134658"/>
                      <a:pt x="446812" y="1130361"/>
                      <a:pt x="446812" y="1126064"/>
                    </a:cubicBezTo>
                    <a:cubicBezTo>
                      <a:pt x="446812" y="1125347"/>
                      <a:pt x="446812" y="1125347"/>
                      <a:pt x="446812" y="1124631"/>
                    </a:cubicBezTo>
                    <a:cubicBezTo>
                      <a:pt x="446103" y="1120334"/>
                      <a:pt x="446103" y="1116037"/>
                      <a:pt x="446103" y="1111740"/>
                    </a:cubicBezTo>
                    <a:cubicBezTo>
                      <a:pt x="446103" y="1111023"/>
                      <a:pt x="446103" y="1110307"/>
                      <a:pt x="446103" y="1109591"/>
                    </a:cubicBezTo>
                    <a:cubicBezTo>
                      <a:pt x="446103" y="1108158"/>
                      <a:pt x="446103" y="1106010"/>
                      <a:pt x="446103" y="1103861"/>
                    </a:cubicBezTo>
                    <a:cubicBezTo>
                      <a:pt x="446103" y="1101713"/>
                      <a:pt x="446103" y="1098848"/>
                      <a:pt x="445394" y="1096699"/>
                    </a:cubicBezTo>
                    <a:cubicBezTo>
                      <a:pt x="445394" y="1095983"/>
                      <a:pt x="445394" y="1095267"/>
                      <a:pt x="445394" y="1095267"/>
                    </a:cubicBezTo>
                    <a:cubicBezTo>
                      <a:pt x="445394" y="1090253"/>
                      <a:pt x="445394" y="1085956"/>
                      <a:pt x="445394" y="1081659"/>
                    </a:cubicBezTo>
                    <a:cubicBezTo>
                      <a:pt x="444686" y="1080943"/>
                      <a:pt x="444686" y="1080943"/>
                      <a:pt x="444686" y="1080226"/>
                    </a:cubicBezTo>
                    <a:cubicBezTo>
                      <a:pt x="444686" y="1073064"/>
                      <a:pt x="443977" y="1065186"/>
                      <a:pt x="443977" y="1057308"/>
                    </a:cubicBezTo>
                    <a:cubicBezTo>
                      <a:pt x="443977" y="1055159"/>
                      <a:pt x="443977" y="1053010"/>
                      <a:pt x="443268" y="1051578"/>
                    </a:cubicBezTo>
                    <a:cubicBezTo>
                      <a:pt x="443268" y="1050862"/>
                      <a:pt x="443268" y="1050862"/>
                      <a:pt x="443268" y="1050862"/>
                    </a:cubicBezTo>
                    <a:cubicBezTo>
                      <a:pt x="443268" y="1045848"/>
                      <a:pt x="443268" y="1040835"/>
                      <a:pt x="442559" y="1036538"/>
                    </a:cubicBezTo>
                    <a:cubicBezTo>
                      <a:pt x="442559" y="1035822"/>
                      <a:pt x="442559" y="1035105"/>
                      <a:pt x="442559" y="1035105"/>
                    </a:cubicBezTo>
                    <a:cubicBezTo>
                      <a:pt x="442559" y="1030092"/>
                      <a:pt x="441851" y="1025795"/>
                      <a:pt x="441851" y="1021497"/>
                    </a:cubicBezTo>
                    <a:cubicBezTo>
                      <a:pt x="441851" y="1020781"/>
                      <a:pt x="441851" y="1020065"/>
                      <a:pt x="441851" y="1019349"/>
                    </a:cubicBezTo>
                    <a:cubicBezTo>
                      <a:pt x="441142" y="1014335"/>
                      <a:pt x="441142" y="1010038"/>
                      <a:pt x="441142" y="1005741"/>
                    </a:cubicBezTo>
                    <a:cubicBezTo>
                      <a:pt x="441142" y="1005025"/>
                      <a:pt x="441142" y="1004308"/>
                      <a:pt x="440433" y="1003592"/>
                    </a:cubicBezTo>
                    <a:cubicBezTo>
                      <a:pt x="440433" y="998579"/>
                      <a:pt x="440433" y="994281"/>
                      <a:pt x="439725" y="989984"/>
                    </a:cubicBezTo>
                    <a:cubicBezTo>
                      <a:pt x="439725" y="989268"/>
                      <a:pt x="439725" y="988552"/>
                      <a:pt x="439725" y="987836"/>
                    </a:cubicBezTo>
                    <a:cubicBezTo>
                      <a:pt x="439725" y="986403"/>
                      <a:pt x="439725" y="984255"/>
                      <a:pt x="439725" y="982822"/>
                    </a:cubicBezTo>
                    <a:close/>
                    <a:moveTo>
                      <a:pt x="922715" y="500222"/>
                    </a:moveTo>
                    <a:cubicBezTo>
                      <a:pt x="928432" y="500934"/>
                      <a:pt x="934150" y="500934"/>
                      <a:pt x="939153" y="501647"/>
                    </a:cubicBezTo>
                    <a:cubicBezTo>
                      <a:pt x="944156" y="501647"/>
                      <a:pt x="949160" y="502359"/>
                      <a:pt x="954163" y="502359"/>
                    </a:cubicBezTo>
                    <a:cubicBezTo>
                      <a:pt x="954163" y="509482"/>
                      <a:pt x="954877" y="516605"/>
                      <a:pt x="955592" y="523727"/>
                    </a:cubicBezTo>
                    <a:cubicBezTo>
                      <a:pt x="955592" y="530138"/>
                      <a:pt x="956307" y="535836"/>
                      <a:pt x="956307" y="542247"/>
                    </a:cubicBezTo>
                    <a:cubicBezTo>
                      <a:pt x="957736" y="560766"/>
                      <a:pt x="958451" y="578573"/>
                      <a:pt x="959166" y="596380"/>
                    </a:cubicBezTo>
                    <a:cubicBezTo>
                      <a:pt x="959880" y="608489"/>
                      <a:pt x="959880" y="620597"/>
                      <a:pt x="960595" y="631994"/>
                    </a:cubicBezTo>
                    <a:cubicBezTo>
                      <a:pt x="960595" y="643390"/>
                      <a:pt x="960595" y="654787"/>
                      <a:pt x="960595" y="665471"/>
                    </a:cubicBezTo>
                    <a:cubicBezTo>
                      <a:pt x="960595" y="669033"/>
                      <a:pt x="960595" y="672594"/>
                      <a:pt x="960595" y="675443"/>
                    </a:cubicBezTo>
                    <a:cubicBezTo>
                      <a:pt x="959880" y="775162"/>
                      <a:pt x="947730" y="856362"/>
                      <a:pt x="907705" y="899811"/>
                    </a:cubicBezTo>
                    <a:cubicBezTo>
                      <a:pt x="906275" y="901236"/>
                      <a:pt x="905561" y="902660"/>
                      <a:pt x="904131" y="903373"/>
                    </a:cubicBezTo>
                    <a:cubicBezTo>
                      <a:pt x="841235" y="966053"/>
                      <a:pt x="691857" y="964629"/>
                      <a:pt x="523181" y="954657"/>
                    </a:cubicBezTo>
                    <a:cubicBezTo>
                      <a:pt x="515319" y="953945"/>
                      <a:pt x="507457" y="953232"/>
                      <a:pt x="500309" y="953232"/>
                    </a:cubicBezTo>
                    <a:cubicBezTo>
                      <a:pt x="489588" y="952520"/>
                      <a:pt x="478868" y="951808"/>
                      <a:pt x="468861" y="951095"/>
                    </a:cubicBezTo>
                    <a:cubicBezTo>
                      <a:pt x="460285" y="950383"/>
                      <a:pt x="450993" y="949671"/>
                      <a:pt x="442416" y="948959"/>
                    </a:cubicBezTo>
                    <a:cubicBezTo>
                      <a:pt x="442416" y="948959"/>
                      <a:pt x="441702" y="948959"/>
                      <a:pt x="440987" y="948959"/>
                    </a:cubicBezTo>
                    <a:cubicBezTo>
                      <a:pt x="439557" y="948959"/>
                      <a:pt x="438128" y="948959"/>
                      <a:pt x="436699" y="948959"/>
                    </a:cubicBezTo>
                    <a:cubicBezTo>
                      <a:pt x="433125" y="948246"/>
                      <a:pt x="428837" y="948246"/>
                      <a:pt x="424548" y="948246"/>
                    </a:cubicBezTo>
                    <a:cubicBezTo>
                      <a:pt x="424548" y="947534"/>
                      <a:pt x="424548" y="947534"/>
                      <a:pt x="424548" y="947534"/>
                    </a:cubicBezTo>
                    <a:cubicBezTo>
                      <a:pt x="423833" y="947534"/>
                      <a:pt x="423119" y="947534"/>
                      <a:pt x="422404" y="947534"/>
                    </a:cubicBezTo>
                    <a:cubicBezTo>
                      <a:pt x="420260" y="947534"/>
                      <a:pt x="418830" y="947534"/>
                      <a:pt x="417401" y="947534"/>
                    </a:cubicBezTo>
                    <a:cubicBezTo>
                      <a:pt x="416686" y="947534"/>
                      <a:pt x="416686" y="947534"/>
                      <a:pt x="415971" y="947534"/>
                    </a:cubicBezTo>
                    <a:cubicBezTo>
                      <a:pt x="412398" y="946822"/>
                      <a:pt x="408824" y="946822"/>
                      <a:pt x="405250" y="946822"/>
                    </a:cubicBezTo>
                    <a:cubicBezTo>
                      <a:pt x="403821" y="946822"/>
                      <a:pt x="402392" y="946109"/>
                      <a:pt x="400962" y="946109"/>
                    </a:cubicBezTo>
                    <a:cubicBezTo>
                      <a:pt x="400247" y="946109"/>
                      <a:pt x="400247" y="946109"/>
                      <a:pt x="399533" y="946109"/>
                    </a:cubicBezTo>
                    <a:cubicBezTo>
                      <a:pt x="399533" y="946109"/>
                      <a:pt x="398818" y="946109"/>
                      <a:pt x="398818" y="946109"/>
                    </a:cubicBezTo>
                    <a:cubicBezTo>
                      <a:pt x="398818" y="946109"/>
                      <a:pt x="398103" y="946109"/>
                      <a:pt x="398103" y="946109"/>
                    </a:cubicBezTo>
                    <a:cubicBezTo>
                      <a:pt x="397388" y="946109"/>
                      <a:pt x="397388" y="946109"/>
                      <a:pt x="396674" y="946109"/>
                    </a:cubicBezTo>
                    <a:cubicBezTo>
                      <a:pt x="395244" y="946109"/>
                      <a:pt x="394530" y="946109"/>
                      <a:pt x="393815" y="946109"/>
                    </a:cubicBezTo>
                    <a:cubicBezTo>
                      <a:pt x="393100" y="946109"/>
                      <a:pt x="392385" y="945397"/>
                      <a:pt x="390956" y="945397"/>
                    </a:cubicBezTo>
                    <a:cubicBezTo>
                      <a:pt x="388097" y="945397"/>
                      <a:pt x="385238" y="945397"/>
                      <a:pt x="381664" y="945397"/>
                    </a:cubicBezTo>
                    <a:cubicBezTo>
                      <a:pt x="380235" y="944685"/>
                      <a:pt x="378806" y="944685"/>
                      <a:pt x="376661" y="944685"/>
                    </a:cubicBezTo>
                    <a:cubicBezTo>
                      <a:pt x="375947" y="944685"/>
                      <a:pt x="375232" y="944685"/>
                      <a:pt x="374517" y="944685"/>
                    </a:cubicBezTo>
                    <a:cubicBezTo>
                      <a:pt x="373088" y="944685"/>
                      <a:pt x="370943" y="944685"/>
                      <a:pt x="369514" y="943973"/>
                    </a:cubicBezTo>
                    <a:cubicBezTo>
                      <a:pt x="368799" y="943973"/>
                      <a:pt x="368085" y="943973"/>
                      <a:pt x="368085" y="943973"/>
                    </a:cubicBezTo>
                    <a:cubicBezTo>
                      <a:pt x="363081" y="943973"/>
                      <a:pt x="358793" y="943973"/>
                      <a:pt x="353790" y="943260"/>
                    </a:cubicBezTo>
                    <a:cubicBezTo>
                      <a:pt x="353075" y="943260"/>
                      <a:pt x="352361" y="943260"/>
                      <a:pt x="350931" y="943260"/>
                    </a:cubicBezTo>
                    <a:cubicBezTo>
                      <a:pt x="350931" y="943260"/>
                      <a:pt x="350931" y="943260"/>
                      <a:pt x="350216" y="943260"/>
                    </a:cubicBezTo>
                    <a:cubicBezTo>
                      <a:pt x="350216" y="943260"/>
                      <a:pt x="349502" y="943260"/>
                      <a:pt x="348787" y="943260"/>
                    </a:cubicBezTo>
                    <a:cubicBezTo>
                      <a:pt x="344499" y="942548"/>
                      <a:pt x="339495" y="942548"/>
                      <a:pt x="334492" y="942548"/>
                    </a:cubicBezTo>
                    <a:cubicBezTo>
                      <a:pt x="334492" y="942548"/>
                      <a:pt x="334492" y="942548"/>
                      <a:pt x="333778" y="942548"/>
                    </a:cubicBezTo>
                    <a:cubicBezTo>
                      <a:pt x="332348" y="941836"/>
                      <a:pt x="330204" y="941836"/>
                      <a:pt x="328060" y="941836"/>
                    </a:cubicBezTo>
                    <a:cubicBezTo>
                      <a:pt x="320198" y="941836"/>
                      <a:pt x="312336" y="941123"/>
                      <a:pt x="304474" y="941123"/>
                    </a:cubicBezTo>
                    <a:cubicBezTo>
                      <a:pt x="304474" y="941123"/>
                      <a:pt x="304474" y="941123"/>
                      <a:pt x="304474" y="940411"/>
                    </a:cubicBezTo>
                    <a:cubicBezTo>
                      <a:pt x="299471" y="940411"/>
                      <a:pt x="295182" y="940411"/>
                      <a:pt x="290179" y="940411"/>
                    </a:cubicBezTo>
                    <a:cubicBezTo>
                      <a:pt x="289464" y="940411"/>
                      <a:pt x="289464" y="940411"/>
                      <a:pt x="288750" y="940411"/>
                    </a:cubicBezTo>
                    <a:cubicBezTo>
                      <a:pt x="286605" y="939699"/>
                      <a:pt x="283747" y="939699"/>
                      <a:pt x="281602" y="939699"/>
                    </a:cubicBezTo>
                    <a:cubicBezTo>
                      <a:pt x="279458" y="939699"/>
                      <a:pt x="277314" y="939699"/>
                      <a:pt x="275885" y="939699"/>
                    </a:cubicBezTo>
                    <a:cubicBezTo>
                      <a:pt x="275170" y="939699"/>
                      <a:pt x="274455" y="939699"/>
                      <a:pt x="273740" y="939699"/>
                    </a:cubicBezTo>
                    <a:cubicBezTo>
                      <a:pt x="269452" y="939699"/>
                      <a:pt x="265164" y="939699"/>
                      <a:pt x="260875" y="938987"/>
                    </a:cubicBezTo>
                    <a:cubicBezTo>
                      <a:pt x="260161" y="938987"/>
                      <a:pt x="260161" y="938987"/>
                      <a:pt x="259446" y="938987"/>
                    </a:cubicBezTo>
                    <a:cubicBezTo>
                      <a:pt x="255157" y="938987"/>
                      <a:pt x="250869" y="938987"/>
                      <a:pt x="246581" y="938987"/>
                    </a:cubicBezTo>
                    <a:cubicBezTo>
                      <a:pt x="245866" y="938987"/>
                      <a:pt x="245151" y="938987"/>
                      <a:pt x="245151" y="938987"/>
                    </a:cubicBezTo>
                    <a:cubicBezTo>
                      <a:pt x="240863" y="938987"/>
                      <a:pt x="236574" y="938987"/>
                      <a:pt x="232286" y="938987"/>
                    </a:cubicBezTo>
                    <a:cubicBezTo>
                      <a:pt x="231571" y="938987"/>
                      <a:pt x="231571" y="938987"/>
                      <a:pt x="230857" y="938987"/>
                    </a:cubicBezTo>
                    <a:cubicBezTo>
                      <a:pt x="226568" y="938987"/>
                      <a:pt x="222280" y="938987"/>
                      <a:pt x="217992" y="938987"/>
                    </a:cubicBezTo>
                    <a:cubicBezTo>
                      <a:pt x="217992" y="938987"/>
                      <a:pt x="217992" y="938987"/>
                      <a:pt x="217277" y="938987"/>
                    </a:cubicBezTo>
                    <a:cubicBezTo>
                      <a:pt x="208700" y="938987"/>
                      <a:pt x="200123" y="938987"/>
                      <a:pt x="191547" y="939699"/>
                    </a:cubicBezTo>
                    <a:cubicBezTo>
                      <a:pt x="191547" y="939699"/>
                      <a:pt x="190832" y="939699"/>
                      <a:pt x="190832" y="939699"/>
                    </a:cubicBezTo>
                    <a:cubicBezTo>
                      <a:pt x="186543" y="939699"/>
                      <a:pt x="182970" y="939699"/>
                      <a:pt x="178681" y="939699"/>
                    </a:cubicBezTo>
                    <a:cubicBezTo>
                      <a:pt x="178681" y="939699"/>
                      <a:pt x="177967" y="939699"/>
                      <a:pt x="177252" y="939699"/>
                    </a:cubicBezTo>
                    <a:cubicBezTo>
                      <a:pt x="174393" y="940411"/>
                      <a:pt x="170819" y="940411"/>
                      <a:pt x="167246" y="940411"/>
                    </a:cubicBezTo>
                    <a:cubicBezTo>
                      <a:pt x="167246" y="940411"/>
                      <a:pt x="166531" y="940411"/>
                      <a:pt x="165816" y="940411"/>
                    </a:cubicBezTo>
                    <a:cubicBezTo>
                      <a:pt x="165816" y="940411"/>
                      <a:pt x="165102" y="940411"/>
                      <a:pt x="164387" y="940411"/>
                    </a:cubicBezTo>
                    <a:cubicBezTo>
                      <a:pt x="160813" y="941123"/>
                      <a:pt x="157240" y="941123"/>
                      <a:pt x="153666" y="941123"/>
                    </a:cubicBezTo>
                    <a:cubicBezTo>
                      <a:pt x="152951" y="941123"/>
                      <a:pt x="152951" y="941836"/>
                      <a:pt x="152236" y="941836"/>
                    </a:cubicBezTo>
                    <a:cubicBezTo>
                      <a:pt x="148663" y="941836"/>
                      <a:pt x="145089" y="941836"/>
                      <a:pt x="141516" y="942548"/>
                    </a:cubicBezTo>
                    <a:cubicBezTo>
                      <a:pt x="140801" y="942548"/>
                      <a:pt x="140801" y="942548"/>
                      <a:pt x="140086" y="942548"/>
                    </a:cubicBezTo>
                    <a:cubicBezTo>
                      <a:pt x="136512" y="943260"/>
                      <a:pt x="132939" y="943260"/>
                      <a:pt x="130080" y="943973"/>
                    </a:cubicBezTo>
                    <a:cubicBezTo>
                      <a:pt x="129365" y="943973"/>
                      <a:pt x="129365" y="943973"/>
                      <a:pt x="128650" y="943973"/>
                    </a:cubicBezTo>
                    <a:cubicBezTo>
                      <a:pt x="127936" y="943973"/>
                      <a:pt x="127221" y="943973"/>
                      <a:pt x="126506" y="943973"/>
                    </a:cubicBezTo>
                    <a:cubicBezTo>
                      <a:pt x="123647" y="944685"/>
                      <a:pt x="120788" y="944685"/>
                      <a:pt x="118644" y="945397"/>
                    </a:cubicBezTo>
                    <a:cubicBezTo>
                      <a:pt x="117929" y="945397"/>
                      <a:pt x="117929" y="945397"/>
                      <a:pt x="117929" y="945397"/>
                    </a:cubicBezTo>
                    <a:cubicBezTo>
                      <a:pt x="114356" y="946109"/>
                      <a:pt x="110782" y="946822"/>
                      <a:pt x="107209" y="947534"/>
                    </a:cubicBezTo>
                    <a:cubicBezTo>
                      <a:pt x="104350" y="947534"/>
                      <a:pt x="100776" y="948246"/>
                      <a:pt x="97917" y="948959"/>
                    </a:cubicBezTo>
                    <a:cubicBezTo>
                      <a:pt x="97202" y="948959"/>
                      <a:pt x="97202" y="948959"/>
                      <a:pt x="97202" y="948959"/>
                    </a:cubicBezTo>
                    <a:cubicBezTo>
                      <a:pt x="93629" y="949671"/>
                      <a:pt x="90770" y="950383"/>
                      <a:pt x="87911" y="951095"/>
                    </a:cubicBezTo>
                    <a:cubicBezTo>
                      <a:pt x="87911" y="951808"/>
                      <a:pt x="87196" y="951808"/>
                      <a:pt x="87196" y="951808"/>
                    </a:cubicBezTo>
                    <a:cubicBezTo>
                      <a:pt x="84337" y="952520"/>
                      <a:pt x="81478" y="953232"/>
                      <a:pt x="78619" y="953945"/>
                    </a:cubicBezTo>
                    <a:cubicBezTo>
                      <a:pt x="77905" y="953945"/>
                      <a:pt x="77905" y="953945"/>
                      <a:pt x="77190" y="953945"/>
                    </a:cubicBezTo>
                    <a:cubicBezTo>
                      <a:pt x="75046" y="955369"/>
                      <a:pt x="72187" y="956081"/>
                      <a:pt x="69328" y="956794"/>
                    </a:cubicBezTo>
                    <a:cubicBezTo>
                      <a:pt x="69328" y="956794"/>
                      <a:pt x="68613" y="956794"/>
                      <a:pt x="68613" y="957506"/>
                    </a:cubicBezTo>
                    <a:cubicBezTo>
                      <a:pt x="65754" y="958218"/>
                      <a:pt x="63610" y="958930"/>
                      <a:pt x="61466" y="959643"/>
                    </a:cubicBezTo>
                    <a:cubicBezTo>
                      <a:pt x="60751" y="960355"/>
                      <a:pt x="60751" y="960355"/>
                      <a:pt x="60036" y="960355"/>
                    </a:cubicBezTo>
                    <a:cubicBezTo>
                      <a:pt x="57892" y="961067"/>
                      <a:pt x="55748" y="962492"/>
                      <a:pt x="52889" y="963204"/>
                    </a:cubicBezTo>
                    <a:cubicBezTo>
                      <a:pt x="52889" y="963204"/>
                      <a:pt x="52889" y="963916"/>
                      <a:pt x="52889" y="963916"/>
                    </a:cubicBezTo>
                    <a:cubicBezTo>
                      <a:pt x="50030" y="964629"/>
                      <a:pt x="47886" y="966053"/>
                      <a:pt x="45742" y="967478"/>
                    </a:cubicBezTo>
                    <a:cubicBezTo>
                      <a:pt x="43598" y="968902"/>
                      <a:pt x="41453" y="969615"/>
                      <a:pt x="39309" y="971039"/>
                    </a:cubicBezTo>
                    <a:cubicBezTo>
                      <a:pt x="34306" y="974601"/>
                      <a:pt x="30733" y="977450"/>
                      <a:pt x="27159" y="981011"/>
                    </a:cubicBezTo>
                    <a:cubicBezTo>
                      <a:pt x="23585" y="984573"/>
                      <a:pt x="20012" y="985997"/>
                      <a:pt x="15723" y="985997"/>
                    </a:cubicBezTo>
                    <a:cubicBezTo>
                      <a:pt x="11435" y="985997"/>
                      <a:pt x="7861" y="984573"/>
                      <a:pt x="4288" y="981011"/>
                    </a:cubicBezTo>
                    <a:cubicBezTo>
                      <a:pt x="-1430" y="975313"/>
                      <a:pt x="-1430" y="965341"/>
                      <a:pt x="4288" y="958930"/>
                    </a:cubicBezTo>
                    <a:cubicBezTo>
                      <a:pt x="8576" y="955369"/>
                      <a:pt x="12150" y="951808"/>
                      <a:pt x="16438" y="948959"/>
                    </a:cubicBezTo>
                    <a:cubicBezTo>
                      <a:pt x="16438" y="948959"/>
                      <a:pt x="17153" y="948959"/>
                      <a:pt x="17153" y="948246"/>
                    </a:cubicBezTo>
                    <a:cubicBezTo>
                      <a:pt x="19297" y="946822"/>
                      <a:pt x="21441" y="945397"/>
                      <a:pt x="23585" y="943973"/>
                    </a:cubicBezTo>
                    <a:cubicBezTo>
                      <a:pt x="23585" y="943973"/>
                      <a:pt x="24300" y="943973"/>
                      <a:pt x="24300" y="943260"/>
                    </a:cubicBezTo>
                    <a:cubicBezTo>
                      <a:pt x="26444" y="941836"/>
                      <a:pt x="29303" y="941123"/>
                      <a:pt x="31447" y="939699"/>
                    </a:cubicBezTo>
                    <a:cubicBezTo>
                      <a:pt x="31447" y="939699"/>
                      <a:pt x="32162" y="938987"/>
                      <a:pt x="32162" y="938987"/>
                    </a:cubicBezTo>
                    <a:cubicBezTo>
                      <a:pt x="35021" y="937562"/>
                      <a:pt x="37165" y="936138"/>
                      <a:pt x="40024" y="935425"/>
                    </a:cubicBezTo>
                    <a:cubicBezTo>
                      <a:pt x="40024" y="935425"/>
                      <a:pt x="40739" y="934713"/>
                      <a:pt x="40739" y="934713"/>
                    </a:cubicBezTo>
                    <a:cubicBezTo>
                      <a:pt x="43598" y="933288"/>
                      <a:pt x="46457" y="932576"/>
                      <a:pt x="48601" y="931152"/>
                    </a:cubicBezTo>
                    <a:cubicBezTo>
                      <a:pt x="49315" y="931152"/>
                      <a:pt x="49315" y="931152"/>
                      <a:pt x="49315" y="931152"/>
                    </a:cubicBezTo>
                    <a:cubicBezTo>
                      <a:pt x="52174" y="929727"/>
                      <a:pt x="55033" y="929015"/>
                      <a:pt x="57892" y="927590"/>
                    </a:cubicBezTo>
                    <a:cubicBezTo>
                      <a:pt x="57892" y="927590"/>
                      <a:pt x="58607" y="927590"/>
                      <a:pt x="58607" y="927590"/>
                    </a:cubicBezTo>
                    <a:cubicBezTo>
                      <a:pt x="61466" y="926878"/>
                      <a:pt x="64325" y="925453"/>
                      <a:pt x="67184" y="924741"/>
                    </a:cubicBezTo>
                    <a:cubicBezTo>
                      <a:pt x="67898" y="924741"/>
                      <a:pt x="68613" y="924741"/>
                      <a:pt x="68613" y="924029"/>
                    </a:cubicBezTo>
                    <a:cubicBezTo>
                      <a:pt x="71472" y="923316"/>
                      <a:pt x="75046" y="922604"/>
                      <a:pt x="77905" y="921892"/>
                    </a:cubicBezTo>
                    <a:cubicBezTo>
                      <a:pt x="78619" y="921892"/>
                      <a:pt x="78619" y="921892"/>
                      <a:pt x="79334" y="921180"/>
                    </a:cubicBezTo>
                    <a:cubicBezTo>
                      <a:pt x="82193" y="920467"/>
                      <a:pt x="85767" y="919755"/>
                      <a:pt x="88626" y="919043"/>
                    </a:cubicBezTo>
                    <a:cubicBezTo>
                      <a:pt x="89340" y="919043"/>
                      <a:pt x="90055" y="919043"/>
                      <a:pt x="90770" y="919043"/>
                    </a:cubicBezTo>
                    <a:cubicBezTo>
                      <a:pt x="93629" y="918331"/>
                      <a:pt x="96488" y="917618"/>
                      <a:pt x="100061" y="916906"/>
                    </a:cubicBezTo>
                    <a:cubicBezTo>
                      <a:pt x="100776" y="916906"/>
                      <a:pt x="101491" y="916906"/>
                      <a:pt x="102205" y="916194"/>
                    </a:cubicBezTo>
                    <a:cubicBezTo>
                      <a:pt x="105064" y="916194"/>
                      <a:pt x="108638" y="915481"/>
                      <a:pt x="111497" y="914769"/>
                    </a:cubicBezTo>
                    <a:cubicBezTo>
                      <a:pt x="112212" y="914769"/>
                      <a:pt x="112926" y="914769"/>
                      <a:pt x="113641" y="914769"/>
                    </a:cubicBezTo>
                    <a:cubicBezTo>
                      <a:pt x="117215" y="914057"/>
                      <a:pt x="120074" y="913345"/>
                      <a:pt x="123647" y="913345"/>
                    </a:cubicBezTo>
                    <a:cubicBezTo>
                      <a:pt x="124362" y="913345"/>
                      <a:pt x="125077" y="912632"/>
                      <a:pt x="125791" y="912632"/>
                    </a:cubicBezTo>
                    <a:cubicBezTo>
                      <a:pt x="129365" y="912632"/>
                      <a:pt x="132939" y="911920"/>
                      <a:pt x="136512" y="911920"/>
                    </a:cubicBezTo>
                    <a:cubicBezTo>
                      <a:pt x="137227" y="911208"/>
                      <a:pt x="137942" y="911208"/>
                      <a:pt x="138657" y="911208"/>
                    </a:cubicBezTo>
                    <a:cubicBezTo>
                      <a:pt x="142230" y="911208"/>
                      <a:pt x="145804" y="910495"/>
                      <a:pt x="149378" y="910495"/>
                    </a:cubicBezTo>
                    <a:cubicBezTo>
                      <a:pt x="150092" y="910495"/>
                      <a:pt x="150807" y="910495"/>
                      <a:pt x="150807" y="910495"/>
                    </a:cubicBezTo>
                    <a:cubicBezTo>
                      <a:pt x="155095" y="909783"/>
                      <a:pt x="158669" y="909783"/>
                      <a:pt x="162243" y="909071"/>
                    </a:cubicBezTo>
                    <a:cubicBezTo>
                      <a:pt x="162957" y="909071"/>
                      <a:pt x="162957" y="909071"/>
                      <a:pt x="163672" y="909071"/>
                    </a:cubicBezTo>
                    <a:cubicBezTo>
                      <a:pt x="167960" y="909071"/>
                      <a:pt x="171534" y="909071"/>
                      <a:pt x="175108" y="908359"/>
                    </a:cubicBezTo>
                    <a:cubicBezTo>
                      <a:pt x="175823" y="908359"/>
                      <a:pt x="176537" y="908359"/>
                      <a:pt x="177252" y="908359"/>
                    </a:cubicBezTo>
                    <a:cubicBezTo>
                      <a:pt x="181540" y="908359"/>
                      <a:pt x="185114" y="908359"/>
                      <a:pt x="189402" y="908359"/>
                    </a:cubicBezTo>
                    <a:cubicBezTo>
                      <a:pt x="190117" y="908359"/>
                      <a:pt x="190832" y="908359"/>
                      <a:pt x="191547" y="907646"/>
                    </a:cubicBezTo>
                    <a:cubicBezTo>
                      <a:pt x="195835" y="907646"/>
                      <a:pt x="199409" y="907646"/>
                      <a:pt x="202982" y="907646"/>
                    </a:cubicBezTo>
                    <a:cubicBezTo>
                      <a:pt x="204412" y="907646"/>
                      <a:pt x="205126" y="907646"/>
                      <a:pt x="206556" y="907646"/>
                    </a:cubicBezTo>
                    <a:cubicBezTo>
                      <a:pt x="210129" y="907646"/>
                      <a:pt x="213703" y="907646"/>
                      <a:pt x="217992" y="907646"/>
                    </a:cubicBezTo>
                    <a:cubicBezTo>
                      <a:pt x="218706" y="907646"/>
                      <a:pt x="220136" y="907646"/>
                      <a:pt x="220850" y="907646"/>
                    </a:cubicBezTo>
                    <a:cubicBezTo>
                      <a:pt x="225139" y="907646"/>
                      <a:pt x="228712" y="907646"/>
                      <a:pt x="233001" y="907646"/>
                    </a:cubicBezTo>
                    <a:cubicBezTo>
                      <a:pt x="233716" y="907646"/>
                      <a:pt x="235145" y="907646"/>
                      <a:pt x="235860" y="907646"/>
                    </a:cubicBezTo>
                    <a:cubicBezTo>
                      <a:pt x="240148" y="907646"/>
                      <a:pt x="243722" y="907646"/>
                      <a:pt x="248010" y="907646"/>
                    </a:cubicBezTo>
                    <a:cubicBezTo>
                      <a:pt x="249440" y="907646"/>
                      <a:pt x="250154" y="907646"/>
                      <a:pt x="251584" y="907646"/>
                    </a:cubicBezTo>
                    <a:cubicBezTo>
                      <a:pt x="255157" y="907646"/>
                      <a:pt x="259446" y="907646"/>
                      <a:pt x="263734" y="907646"/>
                    </a:cubicBezTo>
                    <a:cubicBezTo>
                      <a:pt x="264449" y="907646"/>
                      <a:pt x="265878" y="908359"/>
                      <a:pt x="266593" y="908359"/>
                    </a:cubicBezTo>
                    <a:cubicBezTo>
                      <a:pt x="270881" y="908359"/>
                      <a:pt x="275170" y="908359"/>
                      <a:pt x="279458" y="908359"/>
                    </a:cubicBezTo>
                    <a:cubicBezTo>
                      <a:pt x="280173" y="908359"/>
                      <a:pt x="280888" y="908359"/>
                      <a:pt x="282317" y="908359"/>
                    </a:cubicBezTo>
                    <a:cubicBezTo>
                      <a:pt x="285891" y="908359"/>
                      <a:pt x="290179" y="909071"/>
                      <a:pt x="294467" y="909071"/>
                    </a:cubicBezTo>
                    <a:cubicBezTo>
                      <a:pt x="295182" y="909071"/>
                      <a:pt x="296612" y="909071"/>
                      <a:pt x="297326" y="909071"/>
                    </a:cubicBezTo>
                    <a:cubicBezTo>
                      <a:pt x="301615" y="909071"/>
                      <a:pt x="305903" y="909071"/>
                      <a:pt x="310192" y="909783"/>
                    </a:cubicBezTo>
                    <a:cubicBezTo>
                      <a:pt x="310906" y="909783"/>
                      <a:pt x="311621" y="909783"/>
                      <a:pt x="313050" y="909783"/>
                    </a:cubicBezTo>
                    <a:cubicBezTo>
                      <a:pt x="317339" y="909783"/>
                      <a:pt x="321627" y="910495"/>
                      <a:pt x="325916" y="910495"/>
                    </a:cubicBezTo>
                    <a:cubicBezTo>
                      <a:pt x="327345" y="910495"/>
                      <a:pt x="328060" y="910495"/>
                      <a:pt x="329489" y="910495"/>
                    </a:cubicBezTo>
                    <a:cubicBezTo>
                      <a:pt x="333778" y="910495"/>
                      <a:pt x="338066" y="911208"/>
                      <a:pt x="342354" y="911208"/>
                    </a:cubicBezTo>
                    <a:cubicBezTo>
                      <a:pt x="343784" y="911208"/>
                      <a:pt x="344499" y="911208"/>
                      <a:pt x="345928" y="911208"/>
                    </a:cubicBezTo>
                    <a:cubicBezTo>
                      <a:pt x="350216" y="911920"/>
                      <a:pt x="354505" y="911920"/>
                      <a:pt x="358793" y="911920"/>
                    </a:cubicBezTo>
                    <a:cubicBezTo>
                      <a:pt x="360223" y="912632"/>
                      <a:pt x="361652" y="912632"/>
                      <a:pt x="363081" y="912632"/>
                    </a:cubicBezTo>
                    <a:cubicBezTo>
                      <a:pt x="367370" y="912632"/>
                      <a:pt x="370943" y="912632"/>
                      <a:pt x="375232" y="913345"/>
                    </a:cubicBezTo>
                    <a:cubicBezTo>
                      <a:pt x="376661" y="913345"/>
                      <a:pt x="377376" y="913345"/>
                      <a:pt x="378091" y="913345"/>
                    </a:cubicBezTo>
                    <a:cubicBezTo>
                      <a:pt x="386668" y="914057"/>
                      <a:pt x="394530" y="914769"/>
                      <a:pt x="403106" y="914769"/>
                    </a:cubicBezTo>
                    <a:cubicBezTo>
                      <a:pt x="408824" y="915481"/>
                      <a:pt x="413827" y="915481"/>
                      <a:pt x="419545" y="916194"/>
                    </a:cubicBezTo>
                    <a:cubicBezTo>
                      <a:pt x="420260" y="916194"/>
                      <a:pt x="420260" y="916194"/>
                      <a:pt x="420975" y="916194"/>
                    </a:cubicBezTo>
                    <a:cubicBezTo>
                      <a:pt x="421689" y="916194"/>
                      <a:pt x="421689" y="916194"/>
                      <a:pt x="422404" y="916194"/>
                    </a:cubicBezTo>
                    <a:cubicBezTo>
                      <a:pt x="423119" y="916194"/>
                      <a:pt x="423833" y="916194"/>
                      <a:pt x="423833" y="916194"/>
                    </a:cubicBezTo>
                    <a:cubicBezTo>
                      <a:pt x="427407" y="916906"/>
                      <a:pt x="430981" y="916906"/>
                      <a:pt x="434554" y="916906"/>
                    </a:cubicBezTo>
                    <a:cubicBezTo>
                      <a:pt x="435984" y="917618"/>
                      <a:pt x="437413" y="917618"/>
                      <a:pt x="438843" y="917618"/>
                    </a:cubicBezTo>
                    <a:cubicBezTo>
                      <a:pt x="439557" y="917618"/>
                      <a:pt x="440272" y="917618"/>
                      <a:pt x="440987" y="917618"/>
                    </a:cubicBezTo>
                    <a:cubicBezTo>
                      <a:pt x="441702" y="917618"/>
                      <a:pt x="443131" y="917618"/>
                      <a:pt x="444561" y="917618"/>
                    </a:cubicBezTo>
                    <a:cubicBezTo>
                      <a:pt x="451708" y="918331"/>
                      <a:pt x="459570" y="919043"/>
                      <a:pt x="466717" y="919043"/>
                    </a:cubicBezTo>
                    <a:cubicBezTo>
                      <a:pt x="473864" y="919755"/>
                      <a:pt x="481012" y="920467"/>
                      <a:pt x="488159" y="920467"/>
                    </a:cubicBezTo>
                    <a:cubicBezTo>
                      <a:pt x="491733" y="921180"/>
                      <a:pt x="494592" y="921180"/>
                      <a:pt x="498165" y="921180"/>
                    </a:cubicBezTo>
                    <a:cubicBezTo>
                      <a:pt x="498880" y="921180"/>
                      <a:pt x="498880" y="921180"/>
                      <a:pt x="499595" y="921892"/>
                    </a:cubicBezTo>
                    <a:cubicBezTo>
                      <a:pt x="506027" y="921892"/>
                      <a:pt x="511745" y="922604"/>
                      <a:pt x="518178" y="922604"/>
                    </a:cubicBezTo>
                    <a:cubicBezTo>
                      <a:pt x="518892" y="922604"/>
                      <a:pt x="519607" y="922604"/>
                      <a:pt x="520322" y="922604"/>
                    </a:cubicBezTo>
                    <a:cubicBezTo>
                      <a:pt x="521037" y="922604"/>
                      <a:pt x="521751" y="922604"/>
                      <a:pt x="522466" y="923316"/>
                    </a:cubicBezTo>
                    <a:cubicBezTo>
                      <a:pt x="531757" y="923316"/>
                      <a:pt x="541049" y="924029"/>
                      <a:pt x="549626" y="924741"/>
                    </a:cubicBezTo>
                    <a:cubicBezTo>
                      <a:pt x="550340" y="924741"/>
                      <a:pt x="550340" y="924741"/>
                      <a:pt x="551055" y="924741"/>
                    </a:cubicBezTo>
                    <a:cubicBezTo>
                      <a:pt x="555344" y="924741"/>
                      <a:pt x="560347" y="925453"/>
                      <a:pt x="565350" y="925453"/>
                    </a:cubicBezTo>
                    <a:cubicBezTo>
                      <a:pt x="566064" y="925453"/>
                      <a:pt x="566779" y="925453"/>
                      <a:pt x="566779" y="925453"/>
                    </a:cubicBezTo>
                    <a:cubicBezTo>
                      <a:pt x="567494" y="925453"/>
                      <a:pt x="567494" y="925453"/>
                      <a:pt x="568209" y="925453"/>
                    </a:cubicBezTo>
                    <a:cubicBezTo>
                      <a:pt x="568923" y="925453"/>
                      <a:pt x="570353" y="925453"/>
                      <a:pt x="571782" y="925453"/>
                    </a:cubicBezTo>
                    <a:cubicBezTo>
                      <a:pt x="576071" y="926166"/>
                      <a:pt x="580359" y="926166"/>
                      <a:pt x="584647" y="926166"/>
                    </a:cubicBezTo>
                    <a:cubicBezTo>
                      <a:pt x="585362" y="926166"/>
                      <a:pt x="586077" y="926166"/>
                      <a:pt x="586792" y="926166"/>
                    </a:cubicBezTo>
                    <a:cubicBezTo>
                      <a:pt x="601801" y="926878"/>
                      <a:pt x="617525" y="927590"/>
                      <a:pt x="632534" y="928302"/>
                    </a:cubicBezTo>
                    <a:cubicBezTo>
                      <a:pt x="672559" y="929015"/>
                      <a:pt x="710440" y="928302"/>
                      <a:pt x="744747" y="925453"/>
                    </a:cubicBezTo>
                    <a:cubicBezTo>
                      <a:pt x="759041" y="924029"/>
                      <a:pt x="771906" y="922604"/>
                      <a:pt x="784771" y="920467"/>
                    </a:cubicBezTo>
                    <a:cubicBezTo>
                      <a:pt x="814790" y="916194"/>
                      <a:pt x="840520" y="908359"/>
                      <a:pt x="860533" y="896962"/>
                    </a:cubicBezTo>
                    <a:cubicBezTo>
                      <a:pt x="864106" y="895538"/>
                      <a:pt x="866965" y="893401"/>
                      <a:pt x="869824" y="891264"/>
                    </a:cubicBezTo>
                    <a:cubicBezTo>
                      <a:pt x="874113" y="888415"/>
                      <a:pt x="878401" y="884853"/>
                      <a:pt x="881975" y="881292"/>
                    </a:cubicBezTo>
                    <a:cubicBezTo>
                      <a:pt x="885548" y="877731"/>
                      <a:pt x="889122" y="873457"/>
                      <a:pt x="891981" y="869183"/>
                    </a:cubicBezTo>
                    <a:cubicBezTo>
                      <a:pt x="901987" y="854938"/>
                      <a:pt x="909135" y="837131"/>
                      <a:pt x="914853" y="815762"/>
                    </a:cubicBezTo>
                    <a:cubicBezTo>
                      <a:pt x="917711" y="805790"/>
                      <a:pt x="919856" y="795818"/>
                      <a:pt x="921285" y="784422"/>
                    </a:cubicBezTo>
                    <a:cubicBezTo>
                      <a:pt x="923429" y="771601"/>
                      <a:pt x="924859" y="758780"/>
                      <a:pt x="926288" y="744534"/>
                    </a:cubicBezTo>
                    <a:cubicBezTo>
                      <a:pt x="929147" y="710345"/>
                      <a:pt x="929862" y="672594"/>
                      <a:pt x="929147" y="632706"/>
                    </a:cubicBezTo>
                    <a:cubicBezTo>
                      <a:pt x="928432" y="617748"/>
                      <a:pt x="927718" y="602078"/>
                      <a:pt x="927003" y="587120"/>
                    </a:cubicBezTo>
                    <a:cubicBezTo>
                      <a:pt x="926288" y="562903"/>
                      <a:pt x="924859" y="538685"/>
                      <a:pt x="923429" y="514468"/>
                    </a:cubicBezTo>
                    <a:cubicBezTo>
                      <a:pt x="923429" y="514468"/>
                      <a:pt x="923429" y="514468"/>
                      <a:pt x="923429" y="513755"/>
                    </a:cubicBezTo>
                    <a:cubicBezTo>
                      <a:pt x="922715" y="509482"/>
                      <a:pt x="922715" y="505208"/>
                      <a:pt x="922715" y="500222"/>
                    </a:cubicBezTo>
                    <a:close/>
                    <a:moveTo>
                      <a:pt x="1370508" y="400228"/>
                    </a:moveTo>
                    <a:cubicBezTo>
                      <a:pt x="1374611" y="400228"/>
                      <a:pt x="1378714" y="401834"/>
                      <a:pt x="1381925" y="405046"/>
                    </a:cubicBezTo>
                    <a:cubicBezTo>
                      <a:pt x="1387633" y="410757"/>
                      <a:pt x="1387633" y="420750"/>
                      <a:pt x="1381925" y="427174"/>
                    </a:cubicBezTo>
                    <a:cubicBezTo>
                      <a:pt x="1377644" y="430743"/>
                      <a:pt x="1374076" y="434312"/>
                      <a:pt x="1369794" y="437167"/>
                    </a:cubicBezTo>
                    <a:cubicBezTo>
                      <a:pt x="1369794" y="437167"/>
                      <a:pt x="1369081" y="437167"/>
                      <a:pt x="1369081" y="437881"/>
                    </a:cubicBezTo>
                    <a:cubicBezTo>
                      <a:pt x="1366940" y="439308"/>
                      <a:pt x="1364800" y="440736"/>
                      <a:pt x="1362659" y="442164"/>
                    </a:cubicBezTo>
                    <a:cubicBezTo>
                      <a:pt x="1362659" y="442164"/>
                      <a:pt x="1361945" y="442164"/>
                      <a:pt x="1361945" y="442877"/>
                    </a:cubicBezTo>
                    <a:cubicBezTo>
                      <a:pt x="1359805" y="444305"/>
                      <a:pt x="1356951" y="445019"/>
                      <a:pt x="1354810" y="446446"/>
                    </a:cubicBezTo>
                    <a:cubicBezTo>
                      <a:pt x="1354810" y="446446"/>
                      <a:pt x="1354096" y="447160"/>
                      <a:pt x="1354096" y="447160"/>
                    </a:cubicBezTo>
                    <a:cubicBezTo>
                      <a:pt x="1351242" y="448588"/>
                      <a:pt x="1349102" y="450015"/>
                      <a:pt x="1346247" y="450729"/>
                    </a:cubicBezTo>
                    <a:cubicBezTo>
                      <a:pt x="1346247" y="450729"/>
                      <a:pt x="1345534" y="451443"/>
                      <a:pt x="1345534" y="451443"/>
                    </a:cubicBezTo>
                    <a:cubicBezTo>
                      <a:pt x="1342680" y="452871"/>
                      <a:pt x="1339825" y="453584"/>
                      <a:pt x="1336971" y="455012"/>
                    </a:cubicBezTo>
                    <a:cubicBezTo>
                      <a:pt x="1334117" y="456440"/>
                      <a:pt x="1331263" y="457153"/>
                      <a:pt x="1327695" y="458581"/>
                    </a:cubicBezTo>
                    <a:cubicBezTo>
                      <a:pt x="1324841" y="459295"/>
                      <a:pt x="1321987" y="460722"/>
                      <a:pt x="1318419" y="461436"/>
                    </a:cubicBezTo>
                    <a:cubicBezTo>
                      <a:pt x="1318419" y="461436"/>
                      <a:pt x="1317705" y="461436"/>
                      <a:pt x="1317705" y="461436"/>
                    </a:cubicBezTo>
                    <a:cubicBezTo>
                      <a:pt x="1314851" y="462864"/>
                      <a:pt x="1311283" y="463578"/>
                      <a:pt x="1308429" y="464291"/>
                    </a:cubicBezTo>
                    <a:cubicBezTo>
                      <a:pt x="1307716" y="464291"/>
                      <a:pt x="1307716" y="464291"/>
                      <a:pt x="1307002" y="465005"/>
                    </a:cubicBezTo>
                    <a:cubicBezTo>
                      <a:pt x="1304148" y="465719"/>
                      <a:pt x="1300580" y="466433"/>
                      <a:pt x="1297726" y="467147"/>
                    </a:cubicBezTo>
                    <a:cubicBezTo>
                      <a:pt x="1297012" y="467147"/>
                      <a:pt x="1296299" y="467147"/>
                      <a:pt x="1296299" y="467147"/>
                    </a:cubicBezTo>
                    <a:cubicBezTo>
                      <a:pt x="1292731" y="467860"/>
                      <a:pt x="1289877" y="468574"/>
                      <a:pt x="1286309" y="469288"/>
                    </a:cubicBezTo>
                    <a:cubicBezTo>
                      <a:pt x="1285596" y="469288"/>
                      <a:pt x="1285596" y="469288"/>
                      <a:pt x="1284882" y="469288"/>
                    </a:cubicBezTo>
                    <a:cubicBezTo>
                      <a:pt x="1281314" y="470002"/>
                      <a:pt x="1277747" y="470715"/>
                      <a:pt x="1274179" y="471429"/>
                    </a:cubicBezTo>
                    <a:cubicBezTo>
                      <a:pt x="1274179" y="471429"/>
                      <a:pt x="1273465" y="471429"/>
                      <a:pt x="1273465" y="471429"/>
                    </a:cubicBezTo>
                    <a:cubicBezTo>
                      <a:pt x="1269898" y="472143"/>
                      <a:pt x="1265616" y="472857"/>
                      <a:pt x="1262048" y="472857"/>
                    </a:cubicBezTo>
                    <a:cubicBezTo>
                      <a:pt x="1262048" y="472857"/>
                      <a:pt x="1261335" y="473571"/>
                      <a:pt x="1261335" y="473571"/>
                    </a:cubicBezTo>
                    <a:cubicBezTo>
                      <a:pt x="1257054" y="473571"/>
                      <a:pt x="1253486" y="474284"/>
                      <a:pt x="1249205" y="474998"/>
                    </a:cubicBezTo>
                    <a:cubicBezTo>
                      <a:pt x="1236361" y="475712"/>
                      <a:pt x="1223517" y="477140"/>
                      <a:pt x="1209959" y="477853"/>
                    </a:cubicBezTo>
                    <a:cubicBezTo>
                      <a:pt x="1209959" y="477853"/>
                      <a:pt x="1209959" y="477853"/>
                      <a:pt x="1209246" y="477853"/>
                    </a:cubicBezTo>
                    <a:cubicBezTo>
                      <a:pt x="1204964" y="477853"/>
                      <a:pt x="1200683" y="477853"/>
                      <a:pt x="1196402" y="477853"/>
                    </a:cubicBezTo>
                    <a:cubicBezTo>
                      <a:pt x="1195688" y="477853"/>
                      <a:pt x="1195688" y="477853"/>
                      <a:pt x="1195688" y="477853"/>
                    </a:cubicBezTo>
                    <a:cubicBezTo>
                      <a:pt x="1191407" y="478567"/>
                      <a:pt x="1186412" y="478567"/>
                      <a:pt x="1182131" y="478567"/>
                    </a:cubicBezTo>
                    <a:cubicBezTo>
                      <a:pt x="1182131" y="478567"/>
                      <a:pt x="1181417" y="478567"/>
                      <a:pt x="1181417" y="478567"/>
                    </a:cubicBezTo>
                    <a:cubicBezTo>
                      <a:pt x="1176422" y="478567"/>
                      <a:pt x="1172141" y="478567"/>
                      <a:pt x="1167860" y="478567"/>
                    </a:cubicBezTo>
                    <a:cubicBezTo>
                      <a:pt x="1167146" y="478567"/>
                      <a:pt x="1167146" y="478567"/>
                      <a:pt x="1166433" y="478567"/>
                    </a:cubicBezTo>
                    <a:cubicBezTo>
                      <a:pt x="1162151" y="478567"/>
                      <a:pt x="1157157" y="478567"/>
                      <a:pt x="1152875" y="478567"/>
                    </a:cubicBezTo>
                    <a:cubicBezTo>
                      <a:pt x="1152162" y="478567"/>
                      <a:pt x="1152162" y="478567"/>
                      <a:pt x="1151448" y="478567"/>
                    </a:cubicBezTo>
                    <a:cubicBezTo>
                      <a:pt x="1147167" y="478567"/>
                      <a:pt x="1142172" y="478567"/>
                      <a:pt x="1137891" y="478567"/>
                    </a:cubicBezTo>
                    <a:cubicBezTo>
                      <a:pt x="1137177" y="478567"/>
                      <a:pt x="1137177" y="478567"/>
                      <a:pt x="1136464" y="478567"/>
                    </a:cubicBezTo>
                    <a:cubicBezTo>
                      <a:pt x="1132182" y="478567"/>
                      <a:pt x="1127188" y="478567"/>
                      <a:pt x="1122193" y="478567"/>
                    </a:cubicBezTo>
                    <a:cubicBezTo>
                      <a:pt x="1122193" y="478567"/>
                      <a:pt x="1122193" y="478567"/>
                      <a:pt x="1121479" y="478567"/>
                    </a:cubicBezTo>
                    <a:cubicBezTo>
                      <a:pt x="1101500" y="477853"/>
                      <a:pt x="1080807" y="477140"/>
                      <a:pt x="1058687" y="475712"/>
                    </a:cubicBezTo>
                    <a:cubicBezTo>
                      <a:pt x="1053692" y="475712"/>
                      <a:pt x="1047984" y="474998"/>
                      <a:pt x="1042989" y="474998"/>
                    </a:cubicBezTo>
                    <a:cubicBezTo>
                      <a:pt x="1042989" y="474998"/>
                      <a:pt x="1042275" y="474998"/>
                      <a:pt x="1042275" y="474998"/>
                    </a:cubicBezTo>
                    <a:cubicBezTo>
                      <a:pt x="1036567" y="474284"/>
                      <a:pt x="1031572" y="474284"/>
                      <a:pt x="1026577" y="473571"/>
                    </a:cubicBezTo>
                    <a:cubicBezTo>
                      <a:pt x="1025863" y="473571"/>
                      <a:pt x="1025863" y="473571"/>
                      <a:pt x="1025150" y="473571"/>
                    </a:cubicBezTo>
                    <a:cubicBezTo>
                      <a:pt x="1020155" y="473571"/>
                      <a:pt x="1015160" y="472857"/>
                      <a:pt x="1010165" y="472857"/>
                    </a:cubicBezTo>
                    <a:cubicBezTo>
                      <a:pt x="1009452" y="472857"/>
                      <a:pt x="1009452" y="472857"/>
                      <a:pt x="1008738" y="472857"/>
                    </a:cubicBezTo>
                    <a:cubicBezTo>
                      <a:pt x="1008025" y="472857"/>
                      <a:pt x="1008025" y="472857"/>
                      <a:pt x="1007311" y="472857"/>
                    </a:cubicBezTo>
                    <a:cubicBezTo>
                      <a:pt x="1003030" y="472143"/>
                      <a:pt x="998035" y="472143"/>
                      <a:pt x="993040" y="471429"/>
                    </a:cubicBezTo>
                    <a:cubicBezTo>
                      <a:pt x="993040" y="471429"/>
                      <a:pt x="992327" y="471429"/>
                      <a:pt x="992327" y="471429"/>
                    </a:cubicBezTo>
                    <a:cubicBezTo>
                      <a:pt x="989472" y="471429"/>
                      <a:pt x="986618" y="471429"/>
                      <a:pt x="983764" y="471429"/>
                    </a:cubicBezTo>
                    <a:cubicBezTo>
                      <a:pt x="980910" y="470715"/>
                      <a:pt x="978769" y="470715"/>
                      <a:pt x="975915" y="470715"/>
                    </a:cubicBezTo>
                    <a:cubicBezTo>
                      <a:pt x="968066" y="470002"/>
                      <a:pt x="960217" y="469288"/>
                      <a:pt x="952368" y="469288"/>
                    </a:cubicBezTo>
                    <a:cubicBezTo>
                      <a:pt x="948800" y="468574"/>
                      <a:pt x="945232" y="468574"/>
                      <a:pt x="942378" y="468574"/>
                    </a:cubicBezTo>
                    <a:cubicBezTo>
                      <a:pt x="935243" y="467860"/>
                      <a:pt x="927394" y="467147"/>
                      <a:pt x="920258" y="467147"/>
                    </a:cubicBezTo>
                    <a:cubicBezTo>
                      <a:pt x="910268" y="466433"/>
                      <a:pt x="899565" y="465719"/>
                      <a:pt x="888861" y="465005"/>
                    </a:cubicBezTo>
                    <a:cubicBezTo>
                      <a:pt x="881726" y="464291"/>
                      <a:pt x="873877" y="463578"/>
                      <a:pt x="866741" y="463578"/>
                    </a:cubicBezTo>
                    <a:cubicBezTo>
                      <a:pt x="844621" y="462150"/>
                      <a:pt x="822501" y="460722"/>
                      <a:pt x="800381" y="460009"/>
                    </a:cubicBezTo>
                    <a:cubicBezTo>
                      <a:pt x="785397" y="459295"/>
                      <a:pt x="769699" y="458581"/>
                      <a:pt x="754714" y="457867"/>
                    </a:cubicBezTo>
                    <a:cubicBezTo>
                      <a:pt x="714755" y="457153"/>
                      <a:pt x="676937" y="457867"/>
                      <a:pt x="642687" y="460722"/>
                    </a:cubicBezTo>
                    <a:cubicBezTo>
                      <a:pt x="628416" y="462150"/>
                      <a:pt x="615572" y="463578"/>
                      <a:pt x="602728" y="465719"/>
                    </a:cubicBezTo>
                    <a:cubicBezTo>
                      <a:pt x="572045" y="470002"/>
                      <a:pt x="546358" y="477853"/>
                      <a:pt x="526378" y="489274"/>
                    </a:cubicBezTo>
                    <a:cubicBezTo>
                      <a:pt x="523524" y="491416"/>
                      <a:pt x="520670" y="492843"/>
                      <a:pt x="517816" y="494985"/>
                    </a:cubicBezTo>
                    <a:cubicBezTo>
                      <a:pt x="513534" y="497840"/>
                      <a:pt x="509253" y="501409"/>
                      <a:pt x="505685" y="504978"/>
                    </a:cubicBezTo>
                    <a:cubicBezTo>
                      <a:pt x="502117" y="508547"/>
                      <a:pt x="498550" y="512829"/>
                      <a:pt x="495696" y="517112"/>
                    </a:cubicBezTo>
                    <a:cubicBezTo>
                      <a:pt x="485706" y="531388"/>
                      <a:pt x="478570" y="549233"/>
                      <a:pt x="472862" y="570647"/>
                    </a:cubicBezTo>
                    <a:cubicBezTo>
                      <a:pt x="471435" y="575643"/>
                      <a:pt x="470008" y="580640"/>
                      <a:pt x="469294" y="585637"/>
                    </a:cubicBezTo>
                    <a:cubicBezTo>
                      <a:pt x="468581" y="588492"/>
                      <a:pt x="467867" y="591347"/>
                      <a:pt x="467867" y="594202"/>
                    </a:cubicBezTo>
                    <a:cubicBezTo>
                      <a:pt x="467154" y="596344"/>
                      <a:pt x="466440" y="599199"/>
                      <a:pt x="466440" y="602054"/>
                    </a:cubicBezTo>
                    <a:cubicBezTo>
                      <a:pt x="464299" y="614902"/>
                      <a:pt x="462872" y="627751"/>
                      <a:pt x="461445" y="642026"/>
                    </a:cubicBezTo>
                    <a:cubicBezTo>
                      <a:pt x="458591" y="676289"/>
                      <a:pt x="457877" y="714120"/>
                      <a:pt x="458591" y="754092"/>
                    </a:cubicBezTo>
                    <a:cubicBezTo>
                      <a:pt x="459304" y="769082"/>
                      <a:pt x="460018" y="784786"/>
                      <a:pt x="460732" y="799775"/>
                    </a:cubicBezTo>
                    <a:cubicBezTo>
                      <a:pt x="461445" y="824044"/>
                      <a:pt x="462872" y="848313"/>
                      <a:pt x="464299" y="872582"/>
                    </a:cubicBezTo>
                    <a:cubicBezTo>
                      <a:pt x="464299" y="872582"/>
                      <a:pt x="464299" y="872582"/>
                      <a:pt x="464299" y="873296"/>
                    </a:cubicBezTo>
                    <a:cubicBezTo>
                      <a:pt x="465013" y="878293"/>
                      <a:pt x="465013" y="883289"/>
                      <a:pt x="465726" y="887572"/>
                    </a:cubicBezTo>
                    <a:cubicBezTo>
                      <a:pt x="464299" y="887572"/>
                      <a:pt x="463586" y="887572"/>
                      <a:pt x="462872" y="887572"/>
                    </a:cubicBezTo>
                    <a:cubicBezTo>
                      <a:pt x="453596" y="886858"/>
                      <a:pt x="443606" y="886145"/>
                      <a:pt x="433617" y="885431"/>
                    </a:cubicBezTo>
                    <a:cubicBezTo>
                      <a:pt x="432190" y="864731"/>
                      <a:pt x="431476" y="844031"/>
                      <a:pt x="430049" y="824044"/>
                    </a:cubicBezTo>
                    <a:cubicBezTo>
                      <a:pt x="428622" y="792637"/>
                      <a:pt x="427195" y="762658"/>
                      <a:pt x="427195" y="733392"/>
                    </a:cubicBezTo>
                    <a:cubicBezTo>
                      <a:pt x="427195" y="729110"/>
                      <a:pt x="427195" y="724827"/>
                      <a:pt x="427195" y="721258"/>
                    </a:cubicBezTo>
                    <a:cubicBezTo>
                      <a:pt x="427195" y="717689"/>
                      <a:pt x="427195" y="714120"/>
                      <a:pt x="427195" y="711265"/>
                    </a:cubicBezTo>
                    <a:cubicBezTo>
                      <a:pt x="427195" y="707696"/>
                      <a:pt x="427195" y="704840"/>
                      <a:pt x="427195" y="701271"/>
                    </a:cubicBezTo>
                    <a:cubicBezTo>
                      <a:pt x="428622" y="603481"/>
                      <a:pt x="442179" y="524250"/>
                      <a:pt x="483565" y="482850"/>
                    </a:cubicBezTo>
                    <a:cubicBezTo>
                      <a:pt x="522097" y="444305"/>
                      <a:pt x="592738" y="430029"/>
                      <a:pt x="680505" y="427174"/>
                    </a:cubicBezTo>
                    <a:cubicBezTo>
                      <a:pt x="681218" y="427174"/>
                      <a:pt x="681218" y="427174"/>
                      <a:pt x="681218" y="427174"/>
                    </a:cubicBezTo>
                    <a:cubicBezTo>
                      <a:pt x="685500" y="426460"/>
                      <a:pt x="689781" y="426460"/>
                      <a:pt x="694062" y="426460"/>
                    </a:cubicBezTo>
                    <a:cubicBezTo>
                      <a:pt x="695489" y="426460"/>
                      <a:pt x="696203" y="426460"/>
                      <a:pt x="697630" y="426460"/>
                    </a:cubicBezTo>
                    <a:cubicBezTo>
                      <a:pt x="749006" y="425746"/>
                      <a:pt x="804663" y="427888"/>
                      <a:pt x="863174" y="431457"/>
                    </a:cubicBezTo>
                    <a:cubicBezTo>
                      <a:pt x="871023" y="432171"/>
                      <a:pt x="878872" y="432884"/>
                      <a:pt x="886721" y="432884"/>
                    </a:cubicBezTo>
                    <a:cubicBezTo>
                      <a:pt x="897424" y="433598"/>
                      <a:pt x="908127" y="434312"/>
                      <a:pt x="918117" y="435026"/>
                    </a:cubicBezTo>
                    <a:cubicBezTo>
                      <a:pt x="926680" y="435739"/>
                      <a:pt x="935956" y="436453"/>
                      <a:pt x="944519" y="437167"/>
                    </a:cubicBezTo>
                    <a:cubicBezTo>
                      <a:pt x="945946" y="437167"/>
                      <a:pt x="948087" y="437167"/>
                      <a:pt x="950227" y="437167"/>
                    </a:cubicBezTo>
                    <a:cubicBezTo>
                      <a:pt x="960217" y="437881"/>
                      <a:pt x="970920" y="438595"/>
                      <a:pt x="980910" y="439308"/>
                    </a:cubicBezTo>
                    <a:cubicBezTo>
                      <a:pt x="980910" y="439308"/>
                      <a:pt x="981623" y="439308"/>
                      <a:pt x="981623" y="439308"/>
                    </a:cubicBezTo>
                    <a:cubicBezTo>
                      <a:pt x="983050" y="439308"/>
                      <a:pt x="985191" y="440022"/>
                      <a:pt x="986618" y="440022"/>
                    </a:cubicBezTo>
                    <a:cubicBezTo>
                      <a:pt x="988759" y="440022"/>
                      <a:pt x="990900" y="440022"/>
                      <a:pt x="993040" y="440022"/>
                    </a:cubicBezTo>
                    <a:cubicBezTo>
                      <a:pt x="996608" y="440736"/>
                      <a:pt x="1000176" y="440736"/>
                      <a:pt x="1003743" y="440736"/>
                    </a:cubicBezTo>
                    <a:cubicBezTo>
                      <a:pt x="1004457" y="440736"/>
                      <a:pt x="1004457" y="440736"/>
                      <a:pt x="1005171" y="440736"/>
                    </a:cubicBezTo>
                    <a:cubicBezTo>
                      <a:pt x="1005884" y="441450"/>
                      <a:pt x="1007311" y="441450"/>
                      <a:pt x="1008025" y="441450"/>
                    </a:cubicBezTo>
                    <a:cubicBezTo>
                      <a:pt x="1012306" y="441450"/>
                      <a:pt x="1015874" y="441450"/>
                      <a:pt x="1020155" y="442164"/>
                    </a:cubicBezTo>
                    <a:cubicBezTo>
                      <a:pt x="1020869" y="442164"/>
                      <a:pt x="1022296" y="442164"/>
                      <a:pt x="1023723" y="442164"/>
                    </a:cubicBezTo>
                    <a:cubicBezTo>
                      <a:pt x="1027291" y="442164"/>
                      <a:pt x="1031572" y="442877"/>
                      <a:pt x="1035853" y="442877"/>
                    </a:cubicBezTo>
                    <a:cubicBezTo>
                      <a:pt x="1036567" y="442877"/>
                      <a:pt x="1037994" y="442877"/>
                      <a:pt x="1038707" y="442877"/>
                    </a:cubicBezTo>
                    <a:cubicBezTo>
                      <a:pt x="1042989" y="443591"/>
                      <a:pt x="1047270" y="443591"/>
                      <a:pt x="1051551" y="443591"/>
                    </a:cubicBezTo>
                    <a:cubicBezTo>
                      <a:pt x="1052265" y="443591"/>
                      <a:pt x="1052978" y="443591"/>
                      <a:pt x="1053692" y="444305"/>
                    </a:cubicBezTo>
                    <a:cubicBezTo>
                      <a:pt x="1055119" y="444305"/>
                      <a:pt x="1057260" y="444305"/>
                      <a:pt x="1058687" y="444305"/>
                    </a:cubicBezTo>
                    <a:cubicBezTo>
                      <a:pt x="1061541" y="444305"/>
                      <a:pt x="1064395" y="444305"/>
                      <a:pt x="1067249" y="445019"/>
                    </a:cubicBezTo>
                    <a:cubicBezTo>
                      <a:pt x="1072244" y="445019"/>
                      <a:pt x="1076526" y="445019"/>
                      <a:pt x="1081520" y="445019"/>
                    </a:cubicBezTo>
                    <a:cubicBezTo>
                      <a:pt x="1081520" y="445019"/>
                      <a:pt x="1082234" y="445019"/>
                      <a:pt x="1082947" y="445733"/>
                    </a:cubicBezTo>
                    <a:cubicBezTo>
                      <a:pt x="1087229" y="445733"/>
                      <a:pt x="1091510" y="445733"/>
                      <a:pt x="1096505" y="445733"/>
                    </a:cubicBezTo>
                    <a:cubicBezTo>
                      <a:pt x="1096505" y="445733"/>
                      <a:pt x="1097218" y="445733"/>
                      <a:pt x="1097932" y="445733"/>
                    </a:cubicBezTo>
                    <a:cubicBezTo>
                      <a:pt x="1100073" y="446446"/>
                      <a:pt x="1102927" y="446446"/>
                      <a:pt x="1105068" y="446446"/>
                    </a:cubicBezTo>
                    <a:cubicBezTo>
                      <a:pt x="1107208" y="446446"/>
                      <a:pt x="1108635" y="446446"/>
                      <a:pt x="1110776" y="446446"/>
                    </a:cubicBezTo>
                    <a:cubicBezTo>
                      <a:pt x="1111489" y="446446"/>
                      <a:pt x="1112203" y="446446"/>
                      <a:pt x="1112917" y="446446"/>
                    </a:cubicBezTo>
                    <a:cubicBezTo>
                      <a:pt x="1117198" y="446446"/>
                      <a:pt x="1121479" y="446446"/>
                      <a:pt x="1125760" y="447160"/>
                    </a:cubicBezTo>
                    <a:cubicBezTo>
                      <a:pt x="1126474" y="447160"/>
                      <a:pt x="1126474" y="447160"/>
                      <a:pt x="1127188" y="447160"/>
                    </a:cubicBezTo>
                    <a:cubicBezTo>
                      <a:pt x="1131469" y="447160"/>
                      <a:pt x="1135750" y="447160"/>
                      <a:pt x="1140031" y="447160"/>
                    </a:cubicBezTo>
                    <a:cubicBezTo>
                      <a:pt x="1140745" y="447160"/>
                      <a:pt x="1141459" y="447160"/>
                      <a:pt x="1141459" y="447160"/>
                    </a:cubicBezTo>
                    <a:cubicBezTo>
                      <a:pt x="1145740" y="447160"/>
                      <a:pt x="1150021" y="447160"/>
                      <a:pt x="1154302" y="447160"/>
                    </a:cubicBezTo>
                    <a:cubicBezTo>
                      <a:pt x="1155016" y="447160"/>
                      <a:pt x="1155016" y="447160"/>
                      <a:pt x="1155730" y="447160"/>
                    </a:cubicBezTo>
                    <a:cubicBezTo>
                      <a:pt x="1160011" y="447160"/>
                      <a:pt x="1164292" y="447160"/>
                      <a:pt x="1168573" y="447160"/>
                    </a:cubicBezTo>
                    <a:cubicBezTo>
                      <a:pt x="1168573" y="447160"/>
                      <a:pt x="1168573" y="447160"/>
                      <a:pt x="1169287" y="447160"/>
                    </a:cubicBezTo>
                    <a:cubicBezTo>
                      <a:pt x="1177850" y="447160"/>
                      <a:pt x="1186412" y="447160"/>
                      <a:pt x="1194975" y="446446"/>
                    </a:cubicBezTo>
                    <a:cubicBezTo>
                      <a:pt x="1195688" y="446446"/>
                      <a:pt x="1195688" y="446446"/>
                      <a:pt x="1195688" y="446446"/>
                    </a:cubicBezTo>
                    <a:cubicBezTo>
                      <a:pt x="1199970" y="446446"/>
                      <a:pt x="1203537" y="446446"/>
                      <a:pt x="1207819" y="446446"/>
                    </a:cubicBezTo>
                    <a:cubicBezTo>
                      <a:pt x="1208532" y="446446"/>
                      <a:pt x="1208532" y="446446"/>
                      <a:pt x="1209246" y="446446"/>
                    </a:cubicBezTo>
                    <a:cubicBezTo>
                      <a:pt x="1212100" y="445733"/>
                      <a:pt x="1215668" y="445733"/>
                      <a:pt x="1219235" y="445733"/>
                    </a:cubicBezTo>
                    <a:cubicBezTo>
                      <a:pt x="1219235" y="445733"/>
                      <a:pt x="1219949" y="445733"/>
                      <a:pt x="1220663" y="445733"/>
                    </a:cubicBezTo>
                    <a:cubicBezTo>
                      <a:pt x="1220663" y="445733"/>
                      <a:pt x="1221376" y="445733"/>
                      <a:pt x="1222090" y="445733"/>
                    </a:cubicBezTo>
                    <a:cubicBezTo>
                      <a:pt x="1225657" y="445019"/>
                      <a:pt x="1229225" y="445019"/>
                      <a:pt x="1232793" y="445019"/>
                    </a:cubicBezTo>
                    <a:cubicBezTo>
                      <a:pt x="1233506" y="445019"/>
                      <a:pt x="1233506" y="444305"/>
                      <a:pt x="1234220" y="444305"/>
                    </a:cubicBezTo>
                    <a:cubicBezTo>
                      <a:pt x="1237788" y="444305"/>
                      <a:pt x="1241356" y="444305"/>
                      <a:pt x="1244923" y="443591"/>
                    </a:cubicBezTo>
                    <a:cubicBezTo>
                      <a:pt x="1245637" y="443591"/>
                      <a:pt x="1245637" y="443591"/>
                      <a:pt x="1246350" y="443591"/>
                    </a:cubicBezTo>
                    <a:cubicBezTo>
                      <a:pt x="1249918" y="442877"/>
                      <a:pt x="1253486" y="442877"/>
                      <a:pt x="1257054" y="442164"/>
                    </a:cubicBezTo>
                    <a:cubicBezTo>
                      <a:pt x="1257054" y="442164"/>
                      <a:pt x="1257054" y="442164"/>
                      <a:pt x="1257767" y="442164"/>
                    </a:cubicBezTo>
                    <a:cubicBezTo>
                      <a:pt x="1258481" y="442164"/>
                      <a:pt x="1259194" y="442164"/>
                      <a:pt x="1259908" y="442164"/>
                    </a:cubicBezTo>
                    <a:cubicBezTo>
                      <a:pt x="1262762" y="441450"/>
                      <a:pt x="1265616" y="441450"/>
                      <a:pt x="1267757" y="440736"/>
                    </a:cubicBezTo>
                    <a:cubicBezTo>
                      <a:pt x="1268470" y="440736"/>
                      <a:pt x="1268470" y="440736"/>
                      <a:pt x="1268470" y="440736"/>
                    </a:cubicBezTo>
                    <a:cubicBezTo>
                      <a:pt x="1275606" y="439308"/>
                      <a:pt x="1282028" y="438595"/>
                      <a:pt x="1288450" y="437167"/>
                    </a:cubicBezTo>
                    <a:cubicBezTo>
                      <a:pt x="1289163" y="437167"/>
                      <a:pt x="1289163" y="437167"/>
                      <a:pt x="1289163" y="437167"/>
                    </a:cubicBezTo>
                    <a:cubicBezTo>
                      <a:pt x="1292731" y="436453"/>
                      <a:pt x="1295585" y="435739"/>
                      <a:pt x="1298439" y="435026"/>
                    </a:cubicBezTo>
                    <a:cubicBezTo>
                      <a:pt x="1298439" y="434312"/>
                      <a:pt x="1299153" y="434312"/>
                      <a:pt x="1299153" y="434312"/>
                    </a:cubicBezTo>
                    <a:cubicBezTo>
                      <a:pt x="1302007" y="433598"/>
                      <a:pt x="1304861" y="432884"/>
                      <a:pt x="1307716" y="432171"/>
                    </a:cubicBezTo>
                    <a:cubicBezTo>
                      <a:pt x="1308429" y="432171"/>
                      <a:pt x="1308429" y="432171"/>
                      <a:pt x="1309143" y="432171"/>
                    </a:cubicBezTo>
                    <a:cubicBezTo>
                      <a:pt x="1311283" y="430743"/>
                      <a:pt x="1314138" y="430029"/>
                      <a:pt x="1316992" y="429315"/>
                    </a:cubicBezTo>
                    <a:cubicBezTo>
                      <a:pt x="1316992" y="429315"/>
                      <a:pt x="1317705" y="429315"/>
                      <a:pt x="1317705" y="428602"/>
                    </a:cubicBezTo>
                    <a:cubicBezTo>
                      <a:pt x="1320560" y="427888"/>
                      <a:pt x="1322700" y="427174"/>
                      <a:pt x="1324841" y="426460"/>
                    </a:cubicBezTo>
                    <a:cubicBezTo>
                      <a:pt x="1325554" y="425746"/>
                      <a:pt x="1325554" y="425746"/>
                      <a:pt x="1326268" y="425746"/>
                    </a:cubicBezTo>
                    <a:cubicBezTo>
                      <a:pt x="1328409" y="425033"/>
                      <a:pt x="1330549" y="423605"/>
                      <a:pt x="1333403" y="422891"/>
                    </a:cubicBezTo>
                    <a:cubicBezTo>
                      <a:pt x="1333403" y="422891"/>
                      <a:pt x="1333403" y="422177"/>
                      <a:pt x="1333403" y="422177"/>
                    </a:cubicBezTo>
                    <a:cubicBezTo>
                      <a:pt x="1336258" y="421464"/>
                      <a:pt x="1338398" y="420036"/>
                      <a:pt x="1340539" y="418608"/>
                    </a:cubicBezTo>
                    <a:cubicBezTo>
                      <a:pt x="1342680" y="417181"/>
                      <a:pt x="1344820" y="416467"/>
                      <a:pt x="1346961" y="415039"/>
                    </a:cubicBezTo>
                    <a:cubicBezTo>
                      <a:pt x="1351956" y="411470"/>
                      <a:pt x="1355523" y="408615"/>
                      <a:pt x="1359091" y="405046"/>
                    </a:cubicBezTo>
                    <a:cubicBezTo>
                      <a:pt x="1362302" y="401834"/>
                      <a:pt x="1366405" y="400228"/>
                      <a:pt x="1370508" y="400228"/>
                    </a:cubicBezTo>
                    <a:close/>
                    <a:moveTo>
                      <a:pt x="971731" y="0"/>
                    </a:moveTo>
                    <a:cubicBezTo>
                      <a:pt x="975797" y="0"/>
                      <a:pt x="979773" y="1428"/>
                      <a:pt x="982664" y="4284"/>
                    </a:cubicBezTo>
                    <a:cubicBezTo>
                      <a:pt x="989170" y="10709"/>
                      <a:pt x="989170" y="20705"/>
                      <a:pt x="982664" y="27130"/>
                    </a:cubicBezTo>
                    <a:cubicBezTo>
                      <a:pt x="979050" y="30700"/>
                      <a:pt x="976158" y="34270"/>
                      <a:pt x="972544" y="39268"/>
                    </a:cubicBezTo>
                    <a:cubicBezTo>
                      <a:pt x="971098" y="41409"/>
                      <a:pt x="970375" y="43551"/>
                      <a:pt x="968929" y="45693"/>
                    </a:cubicBezTo>
                    <a:cubicBezTo>
                      <a:pt x="967484" y="47835"/>
                      <a:pt x="966038" y="49977"/>
                      <a:pt x="965315" y="52833"/>
                    </a:cubicBezTo>
                    <a:cubicBezTo>
                      <a:pt x="965315" y="52833"/>
                      <a:pt x="964592" y="52833"/>
                      <a:pt x="964592" y="52833"/>
                    </a:cubicBezTo>
                    <a:cubicBezTo>
                      <a:pt x="963869" y="55689"/>
                      <a:pt x="962424" y="57830"/>
                      <a:pt x="961701" y="59972"/>
                    </a:cubicBezTo>
                    <a:cubicBezTo>
                      <a:pt x="961701" y="60686"/>
                      <a:pt x="961701" y="60686"/>
                      <a:pt x="960978" y="61400"/>
                    </a:cubicBezTo>
                    <a:cubicBezTo>
                      <a:pt x="960255" y="63542"/>
                      <a:pt x="959532" y="65684"/>
                      <a:pt x="958809" y="68540"/>
                    </a:cubicBezTo>
                    <a:cubicBezTo>
                      <a:pt x="958086" y="68540"/>
                      <a:pt x="958086" y="69254"/>
                      <a:pt x="958086" y="69254"/>
                    </a:cubicBezTo>
                    <a:cubicBezTo>
                      <a:pt x="957363" y="72110"/>
                      <a:pt x="956640" y="74965"/>
                      <a:pt x="955195" y="77107"/>
                    </a:cubicBezTo>
                    <a:cubicBezTo>
                      <a:pt x="955195" y="77821"/>
                      <a:pt x="955195" y="77821"/>
                      <a:pt x="955195" y="78535"/>
                    </a:cubicBezTo>
                    <a:cubicBezTo>
                      <a:pt x="954472" y="81391"/>
                      <a:pt x="953749" y="84247"/>
                      <a:pt x="953026" y="87103"/>
                    </a:cubicBezTo>
                    <a:cubicBezTo>
                      <a:pt x="953026" y="87103"/>
                      <a:pt x="953026" y="87817"/>
                      <a:pt x="952303" y="87817"/>
                    </a:cubicBezTo>
                    <a:cubicBezTo>
                      <a:pt x="951580" y="90672"/>
                      <a:pt x="950857" y="93528"/>
                      <a:pt x="950135" y="97098"/>
                    </a:cubicBezTo>
                    <a:cubicBezTo>
                      <a:pt x="950135" y="97098"/>
                      <a:pt x="950135" y="97098"/>
                      <a:pt x="950135" y="97812"/>
                    </a:cubicBezTo>
                    <a:cubicBezTo>
                      <a:pt x="948689" y="104238"/>
                      <a:pt x="947966" y="110663"/>
                      <a:pt x="946520" y="117803"/>
                    </a:cubicBezTo>
                    <a:cubicBezTo>
                      <a:pt x="946520" y="117803"/>
                      <a:pt x="946520" y="117803"/>
                      <a:pt x="946520" y="118517"/>
                    </a:cubicBezTo>
                    <a:cubicBezTo>
                      <a:pt x="945797" y="120659"/>
                      <a:pt x="945797" y="123514"/>
                      <a:pt x="945074" y="126370"/>
                    </a:cubicBezTo>
                    <a:cubicBezTo>
                      <a:pt x="945074" y="127084"/>
                      <a:pt x="945074" y="127798"/>
                      <a:pt x="945074" y="128512"/>
                    </a:cubicBezTo>
                    <a:cubicBezTo>
                      <a:pt x="945074" y="129226"/>
                      <a:pt x="945074" y="129226"/>
                      <a:pt x="945074" y="129940"/>
                    </a:cubicBezTo>
                    <a:cubicBezTo>
                      <a:pt x="944351" y="132796"/>
                      <a:pt x="944351" y="136366"/>
                      <a:pt x="943629" y="139935"/>
                    </a:cubicBezTo>
                    <a:cubicBezTo>
                      <a:pt x="943629" y="140649"/>
                      <a:pt x="943629" y="140649"/>
                      <a:pt x="943629" y="141363"/>
                    </a:cubicBezTo>
                    <a:cubicBezTo>
                      <a:pt x="942906" y="144933"/>
                      <a:pt x="942906" y="148503"/>
                      <a:pt x="942906" y="152073"/>
                    </a:cubicBezTo>
                    <a:cubicBezTo>
                      <a:pt x="942906" y="152787"/>
                      <a:pt x="942183" y="152787"/>
                      <a:pt x="942183" y="153501"/>
                    </a:cubicBezTo>
                    <a:cubicBezTo>
                      <a:pt x="942183" y="157070"/>
                      <a:pt x="942183" y="160640"/>
                      <a:pt x="941460" y="164210"/>
                    </a:cubicBezTo>
                    <a:cubicBezTo>
                      <a:pt x="941460" y="164924"/>
                      <a:pt x="941460" y="165638"/>
                      <a:pt x="941460" y="165638"/>
                    </a:cubicBezTo>
                    <a:cubicBezTo>
                      <a:pt x="941460" y="166352"/>
                      <a:pt x="941460" y="167066"/>
                      <a:pt x="941460" y="167066"/>
                    </a:cubicBezTo>
                    <a:cubicBezTo>
                      <a:pt x="941460" y="170636"/>
                      <a:pt x="941460" y="174205"/>
                      <a:pt x="940737" y="177061"/>
                    </a:cubicBezTo>
                    <a:cubicBezTo>
                      <a:pt x="940737" y="177775"/>
                      <a:pt x="940737" y="178489"/>
                      <a:pt x="940737" y="178489"/>
                    </a:cubicBezTo>
                    <a:cubicBezTo>
                      <a:pt x="940737" y="182773"/>
                      <a:pt x="940737" y="186343"/>
                      <a:pt x="940737" y="190626"/>
                    </a:cubicBezTo>
                    <a:cubicBezTo>
                      <a:pt x="940737" y="190626"/>
                      <a:pt x="940737" y="191340"/>
                      <a:pt x="940737" y="191340"/>
                    </a:cubicBezTo>
                    <a:cubicBezTo>
                      <a:pt x="940014" y="199908"/>
                      <a:pt x="940014" y="208475"/>
                      <a:pt x="940014" y="217043"/>
                    </a:cubicBezTo>
                    <a:cubicBezTo>
                      <a:pt x="940014" y="217757"/>
                      <a:pt x="940014" y="217757"/>
                      <a:pt x="940014" y="217757"/>
                    </a:cubicBezTo>
                    <a:cubicBezTo>
                      <a:pt x="940014" y="222040"/>
                      <a:pt x="940014" y="226324"/>
                      <a:pt x="940014" y="230608"/>
                    </a:cubicBezTo>
                    <a:cubicBezTo>
                      <a:pt x="940014" y="231322"/>
                      <a:pt x="940014" y="231322"/>
                      <a:pt x="940014" y="232036"/>
                    </a:cubicBezTo>
                    <a:cubicBezTo>
                      <a:pt x="940014" y="236319"/>
                      <a:pt x="940014" y="240603"/>
                      <a:pt x="940014" y="244887"/>
                    </a:cubicBezTo>
                    <a:cubicBezTo>
                      <a:pt x="940014" y="244887"/>
                      <a:pt x="940014" y="245601"/>
                      <a:pt x="940014" y="246315"/>
                    </a:cubicBezTo>
                    <a:cubicBezTo>
                      <a:pt x="940014" y="250599"/>
                      <a:pt x="940014" y="254882"/>
                      <a:pt x="940014" y="259166"/>
                    </a:cubicBezTo>
                    <a:cubicBezTo>
                      <a:pt x="940014" y="259880"/>
                      <a:pt x="940014" y="259880"/>
                      <a:pt x="940014" y="260594"/>
                    </a:cubicBezTo>
                    <a:cubicBezTo>
                      <a:pt x="940737" y="264878"/>
                      <a:pt x="940737" y="269161"/>
                      <a:pt x="940737" y="273445"/>
                    </a:cubicBezTo>
                    <a:cubicBezTo>
                      <a:pt x="940737" y="274159"/>
                      <a:pt x="940737" y="274873"/>
                      <a:pt x="940737" y="275587"/>
                    </a:cubicBezTo>
                    <a:cubicBezTo>
                      <a:pt x="940737" y="277015"/>
                      <a:pt x="940737" y="279157"/>
                      <a:pt x="940737" y="281299"/>
                    </a:cubicBezTo>
                    <a:cubicBezTo>
                      <a:pt x="940737" y="283441"/>
                      <a:pt x="940737" y="286296"/>
                      <a:pt x="941460" y="288438"/>
                    </a:cubicBezTo>
                    <a:cubicBezTo>
                      <a:pt x="941460" y="289152"/>
                      <a:pt x="941460" y="289866"/>
                      <a:pt x="941460" y="289866"/>
                    </a:cubicBezTo>
                    <a:cubicBezTo>
                      <a:pt x="941460" y="294864"/>
                      <a:pt x="941460" y="299148"/>
                      <a:pt x="941460" y="303431"/>
                    </a:cubicBezTo>
                    <a:cubicBezTo>
                      <a:pt x="942183" y="304145"/>
                      <a:pt x="942183" y="304145"/>
                      <a:pt x="942183" y="304859"/>
                    </a:cubicBezTo>
                    <a:cubicBezTo>
                      <a:pt x="942183" y="311999"/>
                      <a:pt x="942906" y="319852"/>
                      <a:pt x="942906" y="327706"/>
                    </a:cubicBezTo>
                    <a:cubicBezTo>
                      <a:pt x="942906" y="329848"/>
                      <a:pt x="942906" y="331990"/>
                      <a:pt x="943629" y="333417"/>
                    </a:cubicBezTo>
                    <a:cubicBezTo>
                      <a:pt x="943629" y="334131"/>
                      <a:pt x="943629" y="334131"/>
                      <a:pt x="943629" y="334131"/>
                    </a:cubicBezTo>
                    <a:cubicBezTo>
                      <a:pt x="943629" y="339129"/>
                      <a:pt x="943629" y="344127"/>
                      <a:pt x="944351" y="348411"/>
                    </a:cubicBezTo>
                    <a:cubicBezTo>
                      <a:pt x="944351" y="349124"/>
                      <a:pt x="944351" y="349838"/>
                      <a:pt x="944351" y="349838"/>
                    </a:cubicBezTo>
                    <a:cubicBezTo>
                      <a:pt x="944351" y="354836"/>
                      <a:pt x="945074" y="359120"/>
                      <a:pt x="945074" y="363404"/>
                    </a:cubicBezTo>
                    <a:cubicBezTo>
                      <a:pt x="945074" y="364118"/>
                      <a:pt x="945074" y="364832"/>
                      <a:pt x="945074" y="365545"/>
                    </a:cubicBezTo>
                    <a:cubicBezTo>
                      <a:pt x="945797" y="370543"/>
                      <a:pt x="945797" y="374827"/>
                      <a:pt x="945797" y="379111"/>
                    </a:cubicBezTo>
                    <a:cubicBezTo>
                      <a:pt x="945797" y="379825"/>
                      <a:pt x="945797" y="380539"/>
                      <a:pt x="946520" y="381253"/>
                    </a:cubicBezTo>
                    <a:cubicBezTo>
                      <a:pt x="946520" y="386250"/>
                      <a:pt x="946520" y="390534"/>
                      <a:pt x="947243" y="394818"/>
                    </a:cubicBezTo>
                    <a:cubicBezTo>
                      <a:pt x="947243" y="395532"/>
                      <a:pt x="947243" y="396246"/>
                      <a:pt x="947243" y="396960"/>
                    </a:cubicBezTo>
                    <a:cubicBezTo>
                      <a:pt x="947243" y="399101"/>
                      <a:pt x="947243" y="401243"/>
                      <a:pt x="947966" y="403385"/>
                    </a:cubicBezTo>
                    <a:cubicBezTo>
                      <a:pt x="947243" y="403385"/>
                      <a:pt x="946520" y="403385"/>
                      <a:pt x="946520" y="403385"/>
                    </a:cubicBezTo>
                    <a:cubicBezTo>
                      <a:pt x="936400" y="402671"/>
                      <a:pt x="925556" y="401957"/>
                      <a:pt x="915436" y="401243"/>
                    </a:cubicBezTo>
                    <a:cubicBezTo>
                      <a:pt x="915436" y="399101"/>
                      <a:pt x="915436" y="397673"/>
                      <a:pt x="915436" y="395532"/>
                    </a:cubicBezTo>
                    <a:cubicBezTo>
                      <a:pt x="915436" y="394818"/>
                      <a:pt x="915436" y="393390"/>
                      <a:pt x="914713" y="392676"/>
                    </a:cubicBezTo>
                    <a:cubicBezTo>
                      <a:pt x="914713" y="387678"/>
                      <a:pt x="914713" y="383394"/>
                      <a:pt x="913990" y="378397"/>
                    </a:cubicBezTo>
                    <a:cubicBezTo>
                      <a:pt x="913990" y="377683"/>
                      <a:pt x="913990" y="376969"/>
                      <a:pt x="913990" y="375541"/>
                    </a:cubicBezTo>
                    <a:cubicBezTo>
                      <a:pt x="913990" y="371257"/>
                      <a:pt x="913267" y="366259"/>
                      <a:pt x="913267" y="361976"/>
                    </a:cubicBezTo>
                    <a:cubicBezTo>
                      <a:pt x="913267" y="360548"/>
                      <a:pt x="913267" y="359834"/>
                      <a:pt x="912545" y="359120"/>
                    </a:cubicBezTo>
                    <a:cubicBezTo>
                      <a:pt x="912545" y="354122"/>
                      <a:pt x="912545" y="349838"/>
                      <a:pt x="911822" y="344841"/>
                    </a:cubicBezTo>
                    <a:cubicBezTo>
                      <a:pt x="911822" y="344127"/>
                      <a:pt x="911822" y="343413"/>
                      <a:pt x="911822" y="342699"/>
                    </a:cubicBezTo>
                    <a:cubicBezTo>
                      <a:pt x="911822" y="337701"/>
                      <a:pt x="911099" y="333417"/>
                      <a:pt x="911099" y="328420"/>
                    </a:cubicBezTo>
                    <a:cubicBezTo>
                      <a:pt x="911099" y="327706"/>
                      <a:pt x="911099" y="326992"/>
                      <a:pt x="911099" y="326278"/>
                    </a:cubicBezTo>
                    <a:cubicBezTo>
                      <a:pt x="911099" y="321994"/>
                      <a:pt x="910376" y="316996"/>
                      <a:pt x="910376" y="311999"/>
                    </a:cubicBezTo>
                    <a:cubicBezTo>
                      <a:pt x="910376" y="311285"/>
                      <a:pt x="910376" y="311285"/>
                      <a:pt x="910376" y="310571"/>
                    </a:cubicBezTo>
                    <a:cubicBezTo>
                      <a:pt x="910376" y="305573"/>
                      <a:pt x="909653" y="300575"/>
                      <a:pt x="909653" y="295578"/>
                    </a:cubicBezTo>
                    <a:cubicBezTo>
                      <a:pt x="909653" y="290580"/>
                      <a:pt x="908930" y="285582"/>
                      <a:pt x="908930" y="280585"/>
                    </a:cubicBezTo>
                    <a:cubicBezTo>
                      <a:pt x="908930" y="279871"/>
                      <a:pt x="908930" y="279871"/>
                      <a:pt x="908930" y="279871"/>
                    </a:cubicBezTo>
                    <a:cubicBezTo>
                      <a:pt x="908930" y="274873"/>
                      <a:pt x="908930" y="269875"/>
                      <a:pt x="908930" y="265592"/>
                    </a:cubicBezTo>
                    <a:cubicBezTo>
                      <a:pt x="908207" y="264878"/>
                      <a:pt x="908207" y="264164"/>
                      <a:pt x="908207" y="264164"/>
                    </a:cubicBezTo>
                    <a:cubicBezTo>
                      <a:pt x="908207" y="259166"/>
                      <a:pt x="908207" y="254882"/>
                      <a:pt x="908207" y="249885"/>
                    </a:cubicBezTo>
                    <a:cubicBezTo>
                      <a:pt x="908207" y="249885"/>
                      <a:pt x="908207" y="249171"/>
                      <a:pt x="908207" y="248457"/>
                    </a:cubicBezTo>
                    <a:cubicBezTo>
                      <a:pt x="908207" y="244173"/>
                      <a:pt x="908207" y="239175"/>
                      <a:pt x="908207" y="234892"/>
                    </a:cubicBezTo>
                    <a:cubicBezTo>
                      <a:pt x="908207" y="234178"/>
                      <a:pt x="908207" y="233464"/>
                      <a:pt x="908207" y="233464"/>
                    </a:cubicBezTo>
                    <a:cubicBezTo>
                      <a:pt x="908207" y="228466"/>
                      <a:pt x="908207" y="224182"/>
                      <a:pt x="908207" y="219898"/>
                    </a:cubicBezTo>
                    <a:cubicBezTo>
                      <a:pt x="908207" y="219898"/>
                      <a:pt x="908207" y="219185"/>
                      <a:pt x="908207" y="218471"/>
                    </a:cubicBezTo>
                    <a:cubicBezTo>
                      <a:pt x="908207" y="214187"/>
                      <a:pt x="908207" y="209903"/>
                      <a:pt x="908207" y="205619"/>
                    </a:cubicBezTo>
                    <a:cubicBezTo>
                      <a:pt x="908207" y="204905"/>
                      <a:pt x="908207" y="204191"/>
                      <a:pt x="908207" y="203477"/>
                    </a:cubicBezTo>
                    <a:cubicBezTo>
                      <a:pt x="908207" y="199194"/>
                      <a:pt x="908207" y="195624"/>
                      <a:pt x="908207" y="191340"/>
                    </a:cubicBezTo>
                    <a:cubicBezTo>
                      <a:pt x="908930" y="190626"/>
                      <a:pt x="908930" y="189912"/>
                      <a:pt x="908930" y="189912"/>
                    </a:cubicBezTo>
                    <a:cubicBezTo>
                      <a:pt x="908930" y="185629"/>
                      <a:pt x="908930" y="181345"/>
                      <a:pt x="908930" y="177061"/>
                    </a:cubicBezTo>
                    <a:cubicBezTo>
                      <a:pt x="908930" y="176347"/>
                      <a:pt x="908930" y="176347"/>
                      <a:pt x="908930" y="175633"/>
                    </a:cubicBezTo>
                    <a:cubicBezTo>
                      <a:pt x="909653" y="171349"/>
                      <a:pt x="909653" y="167066"/>
                      <a:pt x="909653" y="163496"/>
                    </a:cubicBezTo>
                    <a:cubicBezTo>
                      <a:pt x="909653" y="162782"/>
                      <a:pt x="909653" y="162782"/>
                      <a:pt x="909653" y="162782"/>
                    </a:cubicBezTo>
                    <a:cubicBezTo>
                      <a:pt x="910376" y="158498"/>
                      <a:pt x="910376" y="154215"/>
                      <a:pt x="911099" y="150645"/>
                    </a:cubicBezTo>
                    <a:cubicBezTo>
                      <a:pt x="911099" y="149931"/>
                      <a:pt x="911099" y="149931"/>
                      <a:pt x="911099" y="149931"/>
                    </a:cubicBezTo>
                    <a:cubicBezTo>
                      <a:pt x="911099" y="145647"/>
                      <a:pt x="911822" y="141363"/>
                      <a:pt x="911822" y="137794"/>
                    </a:cubicBezTo>
                    <a:cubicBezTo>
                      <a:pt x="911822" y="137080"/>
                      <a:pt x="911822" y="137080"/>
                      <a:pt x="912545" y="136366"/>
                    </a:cubicBezTo>
                    <a:cubicBezTo>
                      <a:pt x="912545" y="132796"/>
                      <a:pt x="913267" y="129226"/>
                      <a:pt x="913267" y="125656"/>
                    </a:cubicBezTo>
                    <a:cubicBezTo>
                      <a:pt x="913267" y="124942"/>
                      <a:pt x="913990" y="124228"/>
                      <a:pt x="913990" y="124228"/>
                    </a:cubicBezTo>
                    <a:cubicBezTo>
                      <a:pt x="913990" y="120659"/>
                      <a:pt x="914713" y="117089"/>
                      <a:pt x="915436" y="113519"/>
                    </a:cubicBezTo>
                    <a:cubicBezTo>
                      <a:pt x="915436" y="112805"/>
                      <a:pt x="915436" y="112091"/>
                      <a:pt x="915436" y="111377"/>
                    </a:cubicBezTo>
                    <a:cubicBezTo>
                      <a:pt x="916159" y="108521"/>
                      <a:pt x="916882" y="104952"/>
                      <a:pt x="917605" y="101382"/>
                    </a:cubicBezTo>
                    <a:cubicBezTo>
                      <a:pt x="917605" y="100668"/>
                      <a:pt x="917605" y="100668"/>
                      <a:pt x="917605" y="99954"/>
                    </a:cubicBezTo>
                    <a:cubicBezTo>
                      <a:pt x="918328" y="96384"/>
                      <a:pt x="919051" y="93528"/>
                      <a:pt x="919773" y="89958"/>
                    </a:cubicBezTo>
                    <a:cubicBezTo>
                      <a:pt x="919773" y="89958"/>
                      <a:pt x="919773" y="89245"/>
                      <a:pt x="919773" y="88531"/>
                    </a:cubicBezTo>
                    <a:cubicBezTo>
                      <a:pt x="920496" y="85675"/>
                      <a:pt x="921219" y="82105"/>
                      <a:pt x="921942" y="79249"/>
                    </a:cubicBezTo>
                    <a:cubicBezTo>
                      <a:pt x="922665" y="78535"/>
                      <a:pt x="922665" y="78535"/>
                      <a:pt x="922665" y="77821"/>
                    </a:cubicBezTo>
                    <a:cubicBezTo>
                      <a:pt x="923388" y="74965"/>
                      <a:pt x="924111" y="71396"/>
                      <a:pt x="924834" y="68540"/>
                    </a:cubicBezTo>
                    <a:cubicBezTo>
                      <a:pt x="925556" y="68540"/>
                      <a:pt x="925556" y="67826"/>
                      <a:pt x="925556" y="67826"/>
                    </a:cubicBezTo>
                    <a:cubicBezTo>
                      <a:pt x="926279" y="64256"/>
                      <a:pt x="927725" y="61400"/>
                      <a:pt x="928448" y="58544"/>
                    </a:cubicBezTo>
                    <a:cubicBezTo>
                      <a:pt x="928448" y="58544"/>
                      <a:pt x="928448" y="58544"/>
                      <a:pt x="928448" y="57830"/>
                    </a:cubicBezTo>
                    <a:cubicBezTo>
                      <a:pt x="929894" y="54975"/>
                      <a:pt x="930617" y="52119"/>
                      <a:pt x="932062" y="49263"/>
                    </a:cubicBezTo>
                    <a:cubicBezTo>
                      <a:pt x="932062" y="49263"/>
                      <a:pt x="932062" y="49263"/>
                      <a:pt x="932062" y="48549"/>
                    </a:cubicBezTo>
                    <a:cubicBezTo>
                      <a:pt x="933508" y="46407"/>
                      <a:pt x="934231" y="43551"/>
                      <a:pt x="935677" y="40696"/>
                    </a:cubicBezTo>
                    <a:cubicBezTo>
                      <a:pt x="935677" y="40696"/>
                      <a:pt x="936400" y="39982"/>
                      <a:pt x="936400" y="39982"/>
                    </a:cubicBezTo>
                    <a:cubicBezTo>
                      <a:pt x="937123" y="37126"/>
                      <a:pt x="938568" y="34984"/>
                      <a:pt x="940014" y="32128"/>
                    </a:cubicBezTo>
                    <a:cubicBezTo>
                      <a:pt x="940014" y="32128"/>
                      <a:pt x="940737" y="31414"/>
                      <a:pt x="940737" y="31414"/>
                    </a:cubicBezTo>
                    <a:cubicBezTo>
                      <a:pt x="942183" y="29272"/>
                      <a:pt x="942906" y="26416"/>
                      <a:pt x="944351" y="24275"/>
                    </a:cubicBezTo>
                    <a:cubicBezTo>
                      <a:pt x="945074" y="24275"/>
                      <a:pt x="945074" y="23561"/>
                      <a:pt x="945074" y="23561"/>
                    </a:cubicBezTo>
                    <a:cubicBezTo>
                      <a:pt x="946520" y="21419"/>
                      <a:pt x="947966" y="19277"/>
                      <a:pt x="949412" y="17135"/>
                    </a:cubicBezTo>
                    <a:cubicBezTo>
                      <a:pt x="950135" y="17135"/>
                      <a:pt x="950135" y="16421"/>
                      <a:pt x="950135" y="16421"/>
                    </a:cubicBezTo>
                    <a:cubicBezTo>
                      <a:pt x="953026" y="12137"/>
                      <a:pt x="956640" y="8568"/>
                      <a:pt x="960255" y="4284"/>
                    </a:cubicBezTo>
                    <a:cubicBezTo>
                      <a:pt x="963508" y="1428"/>
                      <a:pt x="967664" y="0"/>
                      <a:pt x="971731"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t" anchorCtr="0" compatLnSpc="1">
                <a:prstTxWarp prst="textNoShape">
                  <a:avLst/>
                </a:prstTxWarp>
                <a:noAutofit/>
              </a:bodyPr>
              <a:lstStyle/>
              <a:p>
                <a:endParaRPr lang="en-US" sz="1559">
                  <a:ea typeface="Microsoft YaHei" panose="020B0503020204020204" pitchFamily="34" charset="-122"/>
                  <a:sym typeface="+mn-lt"/>
                </a:endParaRPr>
              </a:p>
            </p:txBody>
          </p:sp>
        </p:grpSp>
      </p:grpSp>
      <p:cxnSp>
        <p:nvCxnSpPr>
          <p:cNvPr id="153" name="Straight Connector 152">
            <a:extLst>
              <a:ext uri="{FF2B5EF4-FFF2-40B4-BE49-F238E27FC236}">
                <a16:creationId xmlns:a16="http://schemas.microsoft.com/office/drawing/2014/main" id="{713DE2FA-3D62-4E46-8F82-3CAC802589DF}"/>
              </a:ext>
            </a:extLst>
          </p:cNvPr>
          <p:cNvCxnSpPr>
            <a:cxnSpLocks/>
          </p:cNvCxnSpPr>
          <p:nvPr/>
        </p:nvCxnSpPr>
        <p:spPr>
          <a:xfrm>
            <a:off x="628650" y="2300451"/>
            <a:ext cx="10934700" cy="0"/>
          </a:xfrm>
          <a:prstGeom prst="line">
            <a:avLst/>
          </a:prstGeom>
          <a:ln w="12700" cap="rnd" cmpd="sng" algn="ctr">
            <a:solidFill>
              <a:srgbClr val="9A9A9A"/>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4D9A7DB7-AAEB-4DB8-9261-CD36848967A3}"/>
              </a:ext>
            </a:extLst>
          </p:cNvPr>
          <p:cNvCxnSpPr>
            <a:cxnSpLocks/>
          </p:cNvCxnSpPr>
          <p:nvPr/>
        </p:nvCxnSpPr>
        <p:spPr>
          <a:xfrm>
            <a:off x="628650" y="2986242"/>
            <a:ext cx="10934700" cy="0"/>
          </a:xfrm>
          <a:prstGeom prst="line">
            <a:avLst/>
          </a:prstGeom>
          <a:ln w="12700" cap="rnd" cmpd="sng" algn="ctr">
            <a:solidFill>
              <a:srgbClr val="9A9A9A"/>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7A479B02-16DD-4735-932E-B302E9D8A27E}"/>
              </a:ext>
            </a:extLst>
          </p:cNvPr>
          <p:cNvCxnSpPr>
            <a:cxnSpLocks/>
          </p:cNvCxnSpPr>
          <p:nvPr/>
        </p:nvCxnSpPr>
        <p:spPr>
          <a:xfrm>
            <a:off x="628650" y="3994732"/>
            <a:ext cx="10934700" cy="0"/>
          </a:xfrm>
          <a:prstGeom prst="line">
            <a:avLst/>
          </a:prstGeom>
          <a:ln w="12700" cap="rnd" cmpd="sng" algn="ctr">
            <a:solidFill>
              <a:srgbClr val="9A9A9A"/>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F52377C6-2967-45E3-AF23-5BB2DB6E25C6}"/>
              </a:ext>
            </a:extLst>
          </p:cNvPr>
          <p:cNvCxnSpPr>
            <a:cxnSpLocks/>
          </p:cNvCxnSpPr>
          <p:nvPr/>
        </p:nvCxnSpPr>
        <p:spPr>
          <a:xfrm>
            <a:off x="628650" y="4758904"/>
            <a:ext cx="10934700" cy="0"/>
          </a:xfrm>
          <a:prstGeom prst="line">
            <a:avLst/>
          </a:prstGeom>
          <a:ln w="12700" cap="rnd" cmpd="sng" algn="ctr">
            <a:solidFill>
              <a:srgbClr val="9A9A9A"/>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E3D0D7C7-1559-46D4-B183-D575652A60BA}"/>
              </a:ext>
            </a:extLst>
          </p:cNvPr>
          <p:cNvCxnSpPr>
            <a:cxnSpLocks/>
          </p:cNvCxnSpPr>
          <p:nvPr/>
        </p:nvCxnSpPr>
        <p:spPr>
          <a:xfrm>
            <a:off x="628650" y="5394965"/>
            <a:ext cx="10934700" cy="0"/>
          </a:xfrm>
          <a:prstGeom prst="line">
            <a:avLst/>
          </a:prstGeom>
          <a:ln w="12700" cap="rnd" cmpd="sng" algn="ctr">
            <a:solidFill>
              <a:srgbClr val="9A9A9A"/>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4" name="Rectangle 163">
            <a:extLst>
              <a:ext uri="{FF2B5EF4-FFF2-40B4-BE49-F238E27FC236}">
                <a16:creationId xmlns:a16="http://schemas.microsoft.com/office/drawing/2014/main" id="{8865F13B-7956-40D5-844F-804CD3739DF7}"/>
              </a:ext>
            </a:extLst>
          </p:cNvPr>
          <p:cNvSpPr/>
          <p:nvPr/>
        </p:nvSpPr>
        <p:spPr>
          <a:xfrm>
            <a:off x="2434074" y="1474153"/>
            <a:ext cx="3380065" cy="307777"/>
          </a:xfrm>
          <a:prstGeom prst="rect">
            <a:avLst/>
          </a:prstGeom>
        </p:spPr>
        <p:txBody>
          <a:bodyPr wrap="square" lIns="0" rIns="0">
            <a:spAutoFit/>
          </a:bodyPr>
          <a:lstStyle/>
          <a:p>
            <a:pPr algn="ctr">
              <a:buSzPct val="100000"/>
              <a:buFont typeface="Trebuchet MS" panose="020B0603020202020204" pitchFamily="34" charset="0"/>
              <a:buChar char="​"/>
            </a:pPr>
            <a:r>
              <a:rPr lang="zh-TW" altLang="en-US" sz="1400" b="1">
                <a:solidFill>
                  <a:srgbClr val="03522D"/>
                </a:solidFill>
                <a:ea typeface="Microsoft YaHei" panose="020B0503020204020204" pitchFamily="34" charset="-122"/>
                <a:sym typeface="+mn-lt"/>
              </a:rPr>
              <a:t>基礎能力</a:t>
            </a:r>
            <a:endParaRPr lang="en-US" sz="1400" b="1">
              <a:solidFill>
                <a:srgbClr val="03522D"/>
              </a:solidFill>
              <a:ea typeface="Microsoft YaHei" panose="020B0503020204020204" pitchFamily="34" charset="-122"/>
              <a:sym typeface="+mn-lt"/>
            </a:endParaRPr>
          </a:p>
        </p:txBody>
      </p:sp>
      <p:sp>
        <p:nvSpPr>
          <p:cNvPr id="171" name="Rectangle 170">
            <a:extLst>
              <a:ext uri="{FF2B5EF4-FFF2-40B4-BE49-F238E27FC236}">
                <a16:creationId xmlns:a16="http://schemas.microsoft.com/office/drawing/2014/main" id="{FD922FE0-4CF0-402A-B339-4A38072E07C9}"/>
              </a:ext>
            </a:extLst>
          </p:cNvPr>
          <p:cNvSpPr/>
          <p:nvPr/>
        </p:nvSpPr>
        <p:spPr>
          <a:xfrm>
            <a:off x="6009742" y="1474153"/>
            <a:ext cx="3462111" cy="307777"/>
          </a:xfrm>
          <a:prstGeom prst="rect">
            <a:avLst/>
          </a:prstGeom>
        </p:spPr>
        <p:txBody>
          <a:bodyPr wrap="square" lIns="0" rIns="0">
            <a:spAutoFit/>
          </a:bodyPr>
          <a:lstStyle/>
          <a:p>
            <a:pPr algn="ctr">
              <a:buSzPct val="100000"/>
              <a:buFont typeface="Trebuchet MS" panose="020B0603020202020204" pitchFamily="34" charset="0"/>
              <a:buChar char="​"/>
            </a:pPr>
            <a:r>
              <a:rPr lang="zh-TW" altLang="en-US" sz="1400" b="1">
                <a:solidFill>
                  <a:srgbClr val="03522D"/>
                </a:solidFill>
                <a:ea typeface="Microsoft YaHei" panose="020B0503020204020204" pitchFamily="34" charset="-122"/>
                <a:sym typeface="+mn-lt"/>
              </a:rPr>
              <a:t>進階能力 </a:t>
            </a:r>
            <a:r>
              <a:rPr lang="en-US" altLang="zh-TW" sz="1400" b="1">
                <a:solidFill>
                  <a:srgbClr val="03522D"/>
                </a:solidFill>
                <a:ea typeface="Microsoft YaHei" panose="020B0503020204020204" pitchFamily="34" charset="-122"/>
                <a:sym typeface="+mn-lt"/>
              </a:rPr>
              <a:t>(</a:t>
            </a:r>
            <a:r>
              <a:rPr lang="zh-TW" altLang="en-US" sz="1400" b="1">
                <a:solidFill>
                  <a:srgbClr val="03522D"/>
                </a:solidFill>
                <a:ea typeface="Microsoft YaHei" panose="020B0503020204020204" pitchFamily="34" charset="-122"/>
                <a:sym typeface="+mn-lt"/>
              </a:rPr>
              <a:t>理想狀態</a:t>
            </a:r>
            <a:r>
              <a:rPr lang="en-US" altLang="zh-TW" sz="1400" b="1">
                <a:solidFill>
                  <a:srgbClr val="03522D"/>
                </a:solidFill>
                <a:ea typeface="Microsoft YaHei" panose="020B0503020204020204" pitchFamily="34" charset="-122"/>
                <a:sym typeface="+mn-lt"/>
              </a:rPr>
              <a:t>)</a:t>
            </a:r>
            <a:endParaRPr lang="en-US" sz="1400" b="1">
              <a:solidFill>
                <a:srgbClr val="03522D"/>
              </a:solidFill>
              <a:ea typeface="Microsoft YaHei" panose="020B0503020204020204" pitchFamily="34" charset="-122"/>
              <a:sym typeface="+mn-lt"/>
            </a:endParaRPr>
          </a:p>
        </p:txBody>
      </p:sp>
      <p:grpSp>
        <p:nvGrpSpPr>
          <p:cNvPr id="253" name="Group 252">
            <a:extLst>
              <a:ext uri="{FF2B5EF4-FFF2-40B4-BE49-F238E27FC236}">
                <a16:creationId xmlns:a16="http://schemas.microsoft.com/office/drawing/2014/main" id="{20BB45DD-3332-4D2C-A5AC-A7887EBE7956}"/>
              </a:ext>
            </a:extLst>
          </p:cNvPr>
          <p:cNvGrpSpPr>
            <a:grpSpLocks noChangeAspect="1"/>
          </p:cNvGrpSpPr>
          <p:nvPr>
            <p:custDataLst>
              <p:tags r:id="rId3"/>
            </p:custDataLst>
          </p:nvPr>
        </p:nvGrpSpPr>
        <p:grpSpPr>
          <a:xfrm>
            <a:off x="9652288" y="2505376"/>
            <a:ext cx="270329" cy="270329"/>
            <a:chOff x="6096000" y="3429000"/>
            <a:chExt cx="269875" cy="269875"/>
          </a:xfrm>
        </p:grpSpPr>
        <p:sp>
          <p:nvSpPr>
            <p:cNvPr id="278" name="background">
              <a:extLst>
                <a:ext uri="{FF2B5EF4-FFF2-40B4-BE49-F238E27FC236}">
                  <a16:creationId xmlns:a16="http://schemas.microsoft.com/office/drawing/2014/main" id="{A459D7CB-0D77-40E9-A4BB-E05EF0C66F35}"/>
                </a:ext>
              </a:extLst>
            </p:cNvPr>
            <p:cNvSpPr/>
            <p:nvPr/>
          </p:nvSpPr>
          <p:spPr>
            <a:xfrm>
              <a:off x="6096000" y="3429000"/>
              <a:ext cx="269875" cy="269875"/>
            </a:xfrm>
            <a:prstGeom prst="ellipse">
              <a:avLst/>
            </a:prstGeom>
            <a:solidFill>
              <a:srgbClr val="C8C8C8">
                <a:lumMod val="100000"/>
              </a:srgbClr>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ea typeface="Microsoft YaHei" panose="020B0503020204020204" pitchFamily="34" charset="-122"/>
                <a:sym typeface="+mn-lt"/>
              </a:endParaRPr>
            </a:p>
          </p:txBody>
        </p:sp>
        <p:sp>
          <p:nvSpPr>
            <p:cNvPr id="279" name="arc">
              <a:extLst>
                <a:ext uri="{FF2B5EF4-FFF2-40B4-BE49-F238E27FC236}">
                  <a16:creationId xmlns:a16="http://schemas.microsoft.com/office/drawing/2014/main" id="{7148C33D-45D6-4B41-AE47-A49E3EBC933A}"/>
                </a:ext>
              </a:extLst>
            </p:cNvPr>
            <p:cNvSpPr/>
            <p:nvPr/>
          </p:nvSpPr>
          <p:spPr>
            <a:xfrm>
              <a:off x="6096000" y="3429000"/>
              <a:ext cx="269875" cy="269875"/>
            </a:xfrm>
            <a:prstGeom prst="arc">
              <a:avLst>
                <a:gd name="adj1" fmla="val 16200000"/>
                <a:gd name="adj2" fmla="val 5400000"/>
              </a:avLst>
            </a:prstGeom>
            <a:solidFill>
              <a:srgbClr val="29BA74">
                <a:lumMod val="100000"/>
              </a:srgbClr>
            </a:solidFill>
            <a:ln w="9525" cap="rnd" cmpd="sng" algn="ctr">
              <a:noFill/>
              <a:prstDash val="solid"/>
              <a:round/>
            </a:ln>
            <a:effectLst/>
            <a:extLst>
              <a:ext uri="{91240B29-F687-4F45-9708-019B960494DF}">
                <a14:hiddenLine xmlns:a14="http://schemas.microsoft.com/office/drawing/2010/main" w="9525" cap="rnd" cmpd="sng" algn="ctr">
                  <a:solidFill>
                    <a:srgbClr val="7F7F7F"/>
                  </a:solidFill>
                  <a:prstDash val="solid"/>
                  <a:round/>
                </a14:hiddenLine>
              </a:ext>
            </a:extLst>
          </p:spPr>
          <p:style>
            <a:lnRef idx="1">
              <a:schemeClr val="accent1"/>
            </a:lnRef>
            <a:fillRef idx="0">
              <a:schemeClr val="accent1"/>
            </a:fillRef>
            <a:effectRef idx="0">
              <a:schemeClr val="accent1"/>
            </a:effectRef>
            <a:fontRef idx="minor">
              <a:schemeClr val="tx1"/>
            </a:fontRef>
          </p:style>
          <p:txBody>
            <a:bodyPr rtlCol="0" anchor="ctr">
              <a:noAutofit/>
            </a:bodyPr>
            <a:lstStyle/>
            <a:p>
              <a:pPr algn="ctr"/>
              <a:endParaRPr lang="en-US" sz="1559">
                <a:ea typeface="Microsoft YaHei" panose="020B0503020204020204" pitchFamily="34" charset="-122"/>
                <a:sym typeface="+mn-lt"/>
              </a:endParaRPr>
            </a:p>
          </p:txBody>
        </p:sp>
        <p:sp>
          <p:nvSpPr>
            <p:cNvPr id="280" name="circle">
              <a:extLst>
                <a:ext uri="{FF2B5EF4-FFF2-40B4-BE49-F238E27FC236}">
                  <a16:creationId xmlns:a16="http://schemas.microsoft.com/office/drawing/2014/main" id="{57449411-2DD0-44A0-8A34-203EBF0DDBA7}"/>
                </a:ext>
              </a:extLst>
            </p:cNvPr>
            <p:cNvSpPr/>
            <p:nvPr/>
          </p:nvSpPr>
          <p:spPr>
            <a:xfrm>
              <a:off x="6096000" y="3429000"/>
              <a:ext cx="269875" cy="269875"/>
            </a:xfrm>
            <a:prstGeom prst="ellipse">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DC0532"/>
                  </a:solidFill>
                </a14:hiddenFill>
              </a:ex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ea typeface="Microsoft YaHei" panose="020B0503020204020204" pitchFamily="34" charset="-122"/>
                <a:sym typeface="+mn-lt"/>
              </a:endParaRPr>
            </a:p>
          </p:txBody>
        </p:sp>
      </p:grpSp>
      <p:grpSp>
        <p:nvGrpSpPr>
          <p:cNvPr id="254" name="Group 253">
            <a:extLst>
              <a:ext uri="{FF2B5EF4-FFF2-40B4-BE49-F238E27FC236}">
                <a16:creationId xmlns:a16="http://schemas.microsoft.com/office/drawing/2014/main" id="{CE9EA3AC-82C3-42CD-9ADA-5CD76C74B2BC}"/>
              </a:ext>
            </a:extLst>
          </p:cNvPr>
          <p:cNvGrpSpPr>
            <a:grpSpLocks noChangeAspect="1"/>
          </p:cNvGrpSpPr>
          <p:nvPr>
            <p:custDataLst>
              <p:tags r:id="rId4"/>
            </p:custDataLst>
          </p:nvPr>
        </p:nvGrpSpPr>
        <p:grpSpPr>
          <a:xfrm>
            <a:off x="9652288" y="3229583"/>
            <a:ext cx="270329" cy="270329"/>
            <a:chOff x="6096000" y="3429000"/>
            <a:chExt cx="269875" cy="269875"/>
          </a:xfrm>
        </p:grpSpPr>
        <p:sp>
          <p:nvSpPr>
            <p:cNvPr id="275" name="background">
              <a:extLst>
                <a:ext uri="{FF2B5EF4-FFF2-40B4-BE49-F238E27FC236}">
                  <a16:creationId xmlns:a16="http://schemas.microsoft.com/office/drawing/2014/main" id="{D5B9BC88-614F-4DAB-8360-4AEC4C787340}"/>
                </a:ext>
              </a:extLst>
            </p:cNvPr>
            <p:cNvSpPr/>
            <p:nvPr/>
          </p:nvSpPr>
          <p:spPr>
            <a:xfrm>
              <a:off x="6096000" y="3429000"/>
              <a:ext cx="269875" cy="269875"/>
            </a:xfrm>
            <a:prstGeom prst="ellipse">
              <a:avLst/>
            </a:prstGeom>
            <a:solidFill>
              <a:srgbClr val="C8C8C8">
                <a:lumMod val="100000"/>
              </a:srgbClr>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ea typeface="Microsoft YaHei" panose="020B0503020204020204" pitchFamily="34" charset="-122"/>
                <a:sym typeface="+mn-lt"/>
              </a:endParaRPr>
            </a:p>
          </p:txBody>
        </p:sp>
        <p:sp>
          <p:nvSpPr>
            <p:cNvPr id="276" name="arc">
              <a:extLst>
                <a:ext uri="{FF2B5EF4-FFF2-40B4-BE49-F238E27FC236}">
                  <a16:creationId xmlns:a16="http://schemas.microsoft.com/office/drawing/2014/main" id="{0DE3C4B4-D57E-4D37-9F12-3ED0A405A376}"/>
                </a:ext>
              </a:extLst>
            </p:cNvPr>
            <p:cNvSpPr/>
            <p:nvPr/>
          </p:nvSpPr>
          <p:spPr>
            <a:xfrm>
              <a:off x="6096000" y="3429000"/>
              <a:ext cx="269875" cy="269875"/>
            </a:xfrm>
            <a:prstGeom prst="arc">
              <a:avLst>
                <a:gd name="adj1" fmla="val 16200000"/>
                <a:gd name="adj2" fmla="val 0"/>
              </a:avLst>
            </a:prstGeom>
            <a:solidFill>
              <a:srgbClr val="29BA74">
                <a:lumMod val="100000"/>
              </a:srgbClr>
            </a:solidFill>
            <a:ln w="9525" cap="rnd" cmpd="sng" algn="ctr">
              <a:noFill/>
              <a:prstDash val="solid"/>
              <a:round/>
            </a:ln>
            <a:effectLst/>
            <a:extLst>
              <a:ext uri="{91240B29-F687-4F45-9708-019B960494DF}">
                <a14:hiddenLine xmlns:a14="http://schemas.microsoft.com/office/drawing/2010/main" w="9525" cap="rnd" cmpd="sng" algn="ctr">
                  <a:solidFill>
                    <a:srgbClr val="7F7F7F"/>
                  </a:solidFill>
                  <a:prstDash val="solid"/>
                  <a:round/>
                </a14:hiddenLine>
              </a:ext>
            </a:extLst>
          </p:spPr>
          <p:style>
            <a:lnRef idx="1">
              <a:schemeClr val="accent1"/>
            </a:lnRef>
            <a:fillRef idx="0">
              <a:schemeClr val="accent1"/>
            </a:fillRef>
            <a:effectRef idx="0">
              <a:schemeClr val="accent1"/>
            </a:effectRef>
            <a:fontRef idx="minor">
              <a:schemeClr val="tx1"/>
            </a:fontRef>
          </p:style>
          <p:txBody>
            <a:bodyPr rtlCol="0" anchor="ctr">
              <a:noAutofit/>
            </a:bodyPr>
            <a:lstStyle/>
            <a:p>
              <a:pPr algn="ctr"/>
              <a:endParaRPr lang="en-US" sz="1559">
                <a:ea typeface="Microsoft YaHei" panose="020B0503020204020204" pitchFamily="34" charset="-122"/>
                <a:sym typeface="+mn-lt"/>
              </a:endParaRPr>
            </a:p>
          </p:txBody>
        </p:sp>
        <p:sp>
          <p:nvSpPr>
            <p:cNvPr id="277" name="circle">
              <a:extLst>
                <a:ext uri="{FF2B5EF4-FFF2-40B4-BE49-F238E27FC236}">
                  <a16:creationId xmlns:a16="http://schemas.microsoft.com/office/drawing/2014/main" id="{0195AF68-2009-4019-B9D3-1D30B0632A72}"/>
                </a:ext>
              </a:extLst>
            </p:cNvPr>
            <p:cNvSpPr/>
            <p:nvPr/>
          </p:nvSpPr>
          <p:spPr>
            <a:xfrm>
              <a:off x="6096000" y="3429000"/>
              <a:ext cx="269875" cy="269875"/>
            </a:xfrm>
            <a:prstGeom prst="ellipse">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DC0532"/>
                  </a:solidFill>
                </a14:hiddenFill>
              </a:ex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ea typeface="Microsoft YaHei" panose="020B0503020204020204" pitchFamily="34" charset="-122"/>
                <a:sym typeface="+mn-lt"/>
              </a:endParaRPr>
            </a:p>
          </p:txBody>
        </p:sp>
      </p:grpSp>
      <p:grpSp>
        <p:nvGrpSpPr>
          <p:cNvPr id="255" name="Group 254">
            <a:extLst>
              <a:ext uri="{FF2B5EF4-FFF2-40B4-BE49-F238E27FC236}">
                <a16:creationId xmlns:a16="http://schemas.microsoft.com/office/drawing/2014/main" id="{D61C8BDB-D473-43CF-A116-1217EB28D0F5}"/>
              </a:ext>
            </a:extLst>
          </p:cNvPr>
          <p:cNvGrpSpPr>
            <a:grpSpLocks noChangeAspect="1"/>
          </p:cNvGrpSpPr>
          <p:nvPr>
            <p:custDataLst>
              <p:tags r:id="rId5"/>
            </p:custDataLst>
          </p:nvPr>
        </p:nvGrpSpPr>
        <p:grpSpPr>
          <a:xfrm>
            <a:off x="9652288" y="4336999"/>
            <a:ext cx="270329" cy="270329"/>
            <a:chOff x="6096000" y="3429000"/>
            <a:chExt cx="269875" cy="269875"/>
          </a:xfrm>
        </p:grpSpPr>
        <p:sp>
          <p:nvSpPr>
            <p:cNvPr id="272" name="background">
              <a:extLst>
                <a:ext uri="{FF2B5EF4-FFF2-40B4-BE49-F238E27FC236}">
                  <a16:creationId xmlns:a16="http://schemas.microsoft.com/office/drawing/2014/main" id="{D07E85C4-C4C4-4957-960B-845F9419666F}"/>
                </a:ext>
              </a:extLst>
            </p:cNvPr>
            <p:cNvSpPr/>
            <p:nvPr/>
          </p:nvSpPr>
          <p:spPr>
            <a:xfrm>
              <a:off x="6096000" y="3429000"/>
              <a:ext cx="269875" cy="269875"/>
            </a:xfrm>
            <a:prstGeom prst="ellipse">
              <a:avLst/>
            </a:prstGeom>
            <a:solidFill>
              <a:srgbClr val="C8C8C8">
                <a:lumMod val="100000"/>
              </a:srgbClr>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ea typeface="Microsoft YaHei" panose="020B0503020204020204" pitchFamily="34" charset="-122"/>
                <a:sym typeface="+mn-lt"/>
              </a:endParaRPr>
            </a:p>
          </p:txBody>
        </p:sp>
        <p:sp>
          <p:nvSpPr>
            <p:cNvPr id="273" name="arc">
              <a:extLst>
                <a:ext uri="{FF2B5EF4-FFF2-40B4-BE49-F238E27FC236}">
                  <a16:creationId xmlns:a16="http://schemas.microsoft.com/office/drawing/2014/main" id="{7A256AC1-75D0-42E2-BC05-10CF335A31D4}"/>
                </a:ext>
              </a:extLst>
            </p:cNvPr>
            <p:cNvSpPr/>
            <p:nvPr/>
          </p:nvSpPr>
          <p:spPr>
            <a:xfrm>
              <a:off x="6096000" y="3429000"/>
              <a:ext cx="269875" cy="269875"/>
            </a:xfrm>
            <a:prstGeom prst="arc">
              <a:avLst>
                <a:gd name="adj1" fmla="val 16200000"/>
                <a:gd name="adj2" fmla="val 0"/>
              </a:avLst>
            </a:prstGeom>
            <a:solidFill>
              <a:srgbClr val="29BA74">
                <a:lumMod val="100000"/>
              </a:srgbClr>
            </a:solidFill>
            <a:ln w="9525" cap="rnd" cmpd="sng" algn="ctr">
              <a:noFill/>
              <a:prstDash val="solid"/>
              <a:round/>
            </a:ln>
            <a:effectLst/>
            <a:extLst>
              <a:ext uri="{91240B29-F687-4F45-9708-019B960494DF}">
                <a14:hiddenLine xmlns:a14="http://schemas.microsoft.com/office/drawing/2010/main" w="9525" cap="rnd" cmpd="sng" algn="ctr">
                  <a:solidFill>
                    <a:srgbClr val="7F7F7F"/>
                  </a:solidFill>
                  <a:prstDash val="solid"/>
                  <a:round/>
                </a14:hiddenLine>
              </a:ext>
            </a:extLst>
          </p:spPr>
          <p:style>
            <a:lnRef idx="1">
              <a:schemeClr val="accent1"/>
            </a:lnRef>
            <a:fillRef idx="0">
              <a:schemeClr val="accent1"/>
            </a:fillRef>
            <a:effectRef idx="0">
              <a:schemeClr val="accent1"/>
            </a:effectRef>
            <a:fontRef idx="minor">
              <a:schemeClr val="tx1"/>
            </a:fontRef>
          </p:style>
          <p:txBody>
            <a:bodyPr rtlCol="0" anchor="ctr">
              <a:noAutofit/>
            </a:bodyPr>
            <a:lstStyle/>
            <a:p>
              <a:pPr algn="ctr"/>
              <a:endParaRPr lang="en-US" sz="1559">
                <a:ea typeface="Microsoft YaHei" panose="020B0503020204020204" pitchFamily="34" charset="-122"/>
                <a:sym typeface="+mn-lt"/>
              </a:endParaRPr>
            </a:p>
          </p:txBody>
        </p:sp>
        <p:sp>
          <p:nvSpPr>
            <p:cNvPr id="274" name="circle">
              <a:extLst>
                <a:ext uri="{FF2B5EF4-FFF2-40B4-BE49-F238E27FC236}">
                  <a16:creationId xmlns:a16="http://schemas.microsoft.com/office/drawing/2014/main" id="{1F053CD6-3EFF-4945-992A-B6CCDC9804F4}"/>
                </a:ext>
              </a:extLst>
            </p:cNvPr>
            <p:cNvSpPr/>
            <p:nvPr/>
          </p:nvSpPr>
          <p:spPr>
            <a:xfrm>
              <a:off x="6096000" y="3429000"/>
              <a:ext cx="269875" cy="269875"/>
            </a:xfrm>
            <a:prstGeom prst="ellipse">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DC0532"/>
                  </a:solidFill>
                </a14:hiddenFill>
              </a:ex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ea typeface="Microsoft YaHei" panose="020B0503020204020204" pitchFamily="34" charset="-122"/>
                <a:sym typeface="+mn-lt"/>
              </a:endParaRPr>
            </a:p>
          </p:txBody>
        </p:sp>
      </p:grpSp>
      <p:grpSp>
        <p:nvGrpSpPr>
          <p:cNvPr id="256" name="Group 255">
            <a:extLst>
              <a:ext uri="{FF2B5EF4-FFF2-40B4-BE49-F238E27FC236}">
                <a16:creationId xmlns:a16="http://schemas.microsoft.com/office/drawing/2014/main" id="{539B4FC9-5F8E-4AF6-8675-22922828FE8F}"/>
              </a:ext>
            </a:extLst>
          </p:cNvPr>
          <p:cNvGrpSpPr>
            <a:grpSpLocks noChangeAspect="1"/>
          </p:cNvGrpSpPr>
          <p:nvPr>
            <p:custDataLst>
              <p:tags r:id="rId6"/>
            </p:custDataLst>
          </p:nvPr>
        </p:nvGrpSpPr>
        <p:grpSpPr>
          <a:xfrm>
            <a:off x="9652288" y="4876995"/>
            <a:ext cx="270329" cy="270329"/>
            <a:chOff x="6096000" y="3429000"/>
            <a:chExt cx="269875" cy="269875"/>
          </a:xfrm>
        </p:grpSpPr>
        <p:sp>
          <p:nvSpPr>
            <p:cNvPr id="269" name="background">
              <a:extLst>
                <a:ext uri="{FF2B5EF4-FFF2-40B4-BE49-F238E27FC236}">
                  <a16:creationId xmlns:a16="http://schemas.microsoft.com/office/drawing/2014/main" id="{23BEE0B5-A60F-4421-AEBF-0D900665B573}"/>
                </a:ext>
              </a:extLst>
            </p:cNvPr>
            <p:cNvSpPr/>
            <p:nvPr/>
          </p:nvSpPr>
          <p:spPr>
            <a:xfrm>
              <a:off x="6096000" y="3429000"/>
              <a:ext cx="269875" cy="269875"/>
            </a:xfrm>
            <a:prstGeom prst="ellipse">
              <a:avLst/>
            </a:prstGeom>
            <a:solidFill>
              <a:srgbClr val="C8C8C8">
                <a:lumMod val="100000"/>
              </a:srgbClr>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ea typeface="Microsoft YaHei" panose="020B0503020204020204" pitchFamily="34" charset="-122"/>
                <a:sym typeface="+mn-lt"/>
              </a:endParaRPr>
            </a:p>
          </p:txBody>
        </p:sp>
        <p:sp>
          <p:nvSpPr>
            <p:cNvPr id="270" name="arc">
              <a:extLst>
                <a:ext uri="{FF2B5EF4-FFF2-40B4-BE49-F238E27FC236}">
                  <a16:creationId xmlns:a16="http://schemas.microsoft.com/office/drawing/2014/main" id="{0076CEF6-0DDA-479F-BBB9-E3D6EB35C254}"/>
                </a:ext>
              </a:extLst>
            </p:cNvPr>
            <p:cNvSpPr/>
            <p:nvPr/>
          </p:nvSpPr>
          <p:spPr>
            <a:xfrm>
              <a:off x="6096000" y="3429000"/>
              <a:ext cx="269875" cy="269875"/>
            </a:xfrm>
            <a:prstGeom prst="arc">
              <a:avLst>
                <a:gd name="adj1" fmla="val 16200000"/>
                <a:gd name="adj2" fmla="val 0"/>
              </a:avLst>
            </a:prstGeom>
            <a:solidFill>
              <a:srgbClr val="29BA74">
                <a:lumMod val="100000"/>
              </a:srgbClr>
            </a:solidFill>
            <a:ln w="9525" cap="rnd" cmpd="sng" algn="ctr">
              <a:noFill/>
              <a:prstDash val="solid"/>
              <a:round/>
            </a:ln>
            <a:effectLst/>
            <a:extLst>
              <a:ext uri="{91240B29-F687-4F45-9708-019B960494DF}">
                <a14:hiddenLine xmlns:a14="http://schemas.microsoft.com/office/drawing/2010/main" w="9525" cap="rnd" cmpd="sng" algn="ctr">
                  <a:solidFill>
                    <a:srgbClr val="7F7F7F"/>
                  </a:solidFill>
                  <a:prstDash val="solid"/>
                  <a:round/>
                </a14:hiddenLine>
              </a:ext>
            </a:extLst>
          </p:spPr>
          <p:style>
            <a:lnRef idx="1">
              <a:schemeClr val="accent1"/>
            </a:lnRef>
            <a:fillRef idx="0">
              <a:schemeClr val="accent1"/>
            </a:fillRef>
            <a:effectRef idx="0">
              <a:schemeClr val="accent1"/>
            </a:effectRef>
            <a:fontRef idx="minor">
              <a:schemeClr val="tx1"/>
            </a:fontRef>
          </p:style>
          <p:txBody>
            <a:bodyPr rtlCol="0" anchor="ctr">
              <a:noAutofit/>
            </a:bodyPr>
            <a:lstStyle/>
            <a:p>
              <a:pPr algn="ctr"/>
              <a:endParaRPr lang="en-US" sz="1559">
                <a:ea typeface="Microsoft YaHei" panose="020B0503020204020204" pitchFamily="34" charset="-122"/>
                <a:sym typeface="+mn-lt"/>
              </a:endParaRPr>
            </a:p>
          </p:txBody>
        </p:sp>
        <p:sp>
          <p:nvSpPr>
            <p:cNvPr id="271" name="circle">
              <a:extLst>
                <a:ext uri="{FF2B5EF4-FFF2-40B4-BE49-F238E27FC236}">
                  <a16:creationId xmlns:a16="http://schemas.microsoft.com/office/drawing/2014/main" id="{E37D5051-7EDE-4B78-9F57-659D982BCBD0}"/>
                </a:ext>
              </a:extLst>
            </p:cNvPr>
            <p:cNvSpPr/>
            <p:nvPr/>
          </p:nvSpPr>
          <p:spPr>
            <a:xfrm>
              <a:off x="6096000" y="3429000"/>
              <a:ext cx="269875" cy="269875"/>
            </a:xfrm>
            <a:prstGeom prst="ellipse">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DC0532"/>
                  </a:solidFill>
                </a14:hiddenFill>
              </a:ex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ea typeface="Microsoft YaHei" panose="020B0503020204020204" pitchFamily="34" charset="-122"/>
                <a:sym typeface="+mn-lt"/>
              </a:endParaRPr>
            </a:p>
          </p:txBody>
        </p:sp>
      </p:grpSp>
      <p:grpSp>
        <p:nvGrpSpPr>
          <p:cNvPr id="257" name="Group 256">
            <a:extLst>
              <a:ext uri="{FF2B5EF4-FFF2-40B4-BE49-F238E27FC236}">
                <a16:creationId xmlns:a16="http://schemas.microsoft.com/office/drawing/2014/main" id="{7EBA555F-7126-439F-987B-1732DB668D2A}"/>
              </a:ext>
            </a:extLst>
          </p:cNvPr>
          <p:cNvGrpSpPr>
            <a:grpSpLocks noChangeAspect="1"/>
          </p:cNvGrpSpPr>
          <p:nvPr>
            <p:custDataLst>
              <p:tags r:id="rId7"/>
            </p:custDataLst>
          </p:nvPr>
        </p:nvGrpSpPr>
        <p:grpSpPr>
          <a:xfrm>
            <a:off x="9652288" y="5638546"/>
            <a:ext cx="270329" cy="270329"/>
            <a:chOff x="6096000" y="3429000"/>
            <a:chExt cx="269875" cy="269875"/>
          </a:xfrm>
        </p:grpSpPr>
        <p:sp>
          <p:nvSpPr>
            <p:cNvPr id="266" name="background">
              <a:extLst>
                <a:ext uri="{FF2B5EF4-FFF2-40B4-BE49-F238E27FC236}">
                  <a16:creationId xmlns:a16="http://schemas.microsoft.com/office/drawing/2014/main" id="{CCEDC2B1-5940-475E-89DD-ED2F21032436}"/>
                </a:ext>
              </a:extLst>
            </p:cNvPr>
            <p:cNvSpPr/>
            <p:nvPr/>
          </p:nvSpPr>
          <p:spPr>
            <a:xfrm>
              <a:off x="6096000" y="3429000"/>
              <a:ext cx="269875" cy="269875"/>
            </a:xfrm>
            <a:prstGeom prst="ellipse">
              <a:avLst/>
            </a:prstGeom>
            <a:solidFill>
              <a:srgbClr val="C8C8C8">
                <a:lumMod val="100000"/>
              </a:srgbClr>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ea typeface="Microsoft YaHei" panose="020B0503020204020204" pitchFamily="34" charset="-122"/>
                <a:sym typeface="+mn-lt"/>
              </a:endParaRPr>
            </a:p>
          </p:txBody>
        </p:sp>
        <p:sp>
          <p:nvSpPr>
            <p:cNvPr id="267" name="arc">
              <a:extLst>
                <a:ext uri="{FF2B5EF4-FFF2-40B4-BE49-F238E27FC236}">
                  <a16:creationId xmlns:a16="http://schemas.microsoft.com/office/drawing/2014/main" id="{D74B42DB-FA01-4202-9C52-6AF28ECA82E4}"/>
                </a:ext>
              </a:extLst>
            </p:cNvPr>
            <p:cNvSpPr/>
            <p:nvPr/>
          </p:nvSpPr>
          <p:spPr>
            <a:xfrm>
              <a:off x="6096000" y="3429000"/>
              <a:ext cx="269875" cy="269875"/>
            </a:xfrm>
            <a:prstGeom prst="arc">
              <a:avLst>
                <a:gd name="adj1" fmla="val 16200000"/>
                <a:gd name="adj2" fmla="val 0"/>
              </a:avLst>
            </a:prstGeom>
            <a:solidFill>
              <a:srgbClr val="29BA74">
                <a:lumMod val="100000"/>
              </a:srgbClr>
            </a:solidFill>
            <a:ln w="9525" cap="rnd" cmpd="sng" algn="ctr">
              <a:noFill/>
              <a:prstDash val="solid"/>
              <a:round/>
            </a:ln>
            <a:effectLst/>
            <a:extLst>
              <a:ext uri="{91240B29-F687-4F45-9708-019B960494DF}">
                <a14:hiddenLine xmlns:a14="http://schemas.microsoft.com/office/drawing/2010/main" w="9525" cap="rnd" cmpd="sng" algn="ctr">
                  <a:solidFill>
                    <a:srgbClr val="7F7F7F"/>
                  </a:solidFill>
                  <a:prstDash val="solid"/>
                  <a:round/>
                </a14:hiddenLine>
              </a:ext>
            </a:extLst>
          </p:spPr>
          <p:style>
            <a:lnRef idx="1">
              <a:schemeClr val="accent1"/>
            </a:lnRef>
            <a:fillRef idx="0">
              <a:schemeClr val="accent1"/>
            </a:fillRef>
            <a:effectRef idx="0">
              <a:schemeClr val="accent1"/>
            </a:effectRef>
            <a:fontRef idx="minor">
              <a:schemeClr val="tx1"/>
            </a:fontRef>
          </p:style>
          <p:txBody>
            <a:bodyPr rtlCol="0" anchor="ctr">
              <a:noAutofit/>
            </a:bodyPr>
            <a:lstStyle/>
            <a:p>
              <a:pPr algn="ctr"/>
              <a:endParaRPr lang="en-US" sz="1559">
                <a:ea typeface="Microsoft YaHei" panose="020B0503020204020204" pitchFamily="34" charset="-122"/>
                <a:sym typeface="+mn-lt"/>
              </a:endParaRPr>
            </a:p>
          </p:txBody>
        </p:sp>
        <p:sp>
          <p:nvSpPr>
            <p:cNvPr id="268" name="circle">
              <a:extLst>
                <a:ext uri="{FF2B5EF4-FFF2-40B4-BE49-F238E27FC236}">
                  <a16:creationId xmlns:a16="http://schemas.microsoft.com/office/drawing/2014/main" id="{FD444C1C-B018-477D-BD7E-AB8750DEA50E}"/>
                </a:ext>
              </a:extLst>
            </p:cNvPr>
            <p:cNvSpPr/>
            <p:nvPr/>
          </p:nvSpPr>
          <p:spPr>
            <a:xfrm>
              <a:off x="6096000" y="3429000"/>
              <a:ext cx="269875" cy="269875"/>
            </a:xfrm>
            <a:prstGeom prst="ellipse">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DC0532"/>
                  </a:solidFill>
                </a14:hiddenFill>
              </a:ex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ea typeface="Microsoft YaHei" panose="020B0503020204020204" pitchFamily="34" charset="-122"/>
                <a:sym typeface="+mn-lt"/>
              </a:endParaRPr>
            </a:p>
          </p:txBody>
        </p:sp>
      </p:grpSp>
      <p:grpSp>
        <p:nvGrpSpPr>
          <p:cNvPr id="258" name="Group 257">
            <a:extLst>
              <a:ext uri="{FF2B5EF4-FFF2-40B4-BE49-F238E27FC236}">
                <a16:creationId xmlns:a16="http://schemas.microsoft.com/office/drawing/2014/main" id="{282291CD-AD65-4015-A5FF-8254B67EA3EF}"/>
              </a:ext>
            </a:extLst>
          </p:cNvPr>
          <p:cNvGrpSpPr>
            <a:grpSpLocks noChangeAspect="1"/>
          </p:cNvGrpSpPr>
          <p:nvPr>
            <p:custDataLst>
              <p:tags r:id="rId8"/>
            </p:custDataLst>
          </p:nvPr>
        </p:nvGrpSpPr>
        <p:grpSpPr>
          <a:xfrm>
            <a:off x="9652288" y="1951740"/>
            <a:ext cx="270329" cy="270329"/>
            <a:chOff x="6096000" y="3429000"/>
            <a:chExt cx="269875" cy="269875"/>
          </a:xfrm>
        </p:grpSpPr>
        <p:sp>
          <p:nvSpPr>
            <p:cNvPr id="263" name="background">
              <a:extLst>
                <a:ext uri="{FF2B5EF4-FFF2-40B4-BE49-F238E27FC236}">
                  <a16:creationId xmlns:a16="http://schemas.microsoft.com/office/drawing/2014/main" id="{705BEEAC-F657-4DF7-B15C-FC185688D484}"/>
                </a:ext>
              </a:extLst>
            </p:cNvPr>
            <p:cNvSpPr/>
            <p:nvPr/>
          </p:nvSpPr>
          <p:spPr>
            <a:xfrm>
              <a:off x="6096000" y="3429000"/>
              <a:ext cx="269875" cy="269875"/>
            </a:xfrm>
            <a:prstGeom prst="ellipse">
              <a:avLst/>
            </a:prstGeom>
            <a:solidFill>
              <a:srgbClr val="C8C8C8">
                <a:lumMod val="100000"/>
              </a:srgbClr>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a typeface="Microsoft YaHei" panose="020B0503020204020204" pitchFamily="34" charset="-122"/>
                <a:sym typeface="+mn-lt"/>
              </a:endParaRPr>
            </a:p>
          </p:txBody>
        </p:sp>
        <p:sp>
          <p:nvSpPr>
            <p:cNvPr id="264" name="arc">
              <a:extLst>
                <a:ext uri="{FF2B5EF4-FFF2-40B4-BE49-F238E27FC236}">
                  <a16:creationId xmlns:a16="http://schemas.microsoft.com/office/drawing/2014/main" id="{540E75A0-D54D-49BD-ABFB-AFFCBDC9D2C3}"/>
                </a:ext>
              </a:extLst>
            </p:cNvPr>
            <p:cNvSpPr/>
            <p:nvPr/>
          </p:nvSpPr>
          <p:spPr>
            <a:xfrm>
              <a:off x="6096000" y="3429000"/>
              <a:ext cx="269875" cy="269875"/>
            </a:xfrm>
            <a:prstGeom prst="arc">
              <a:avLst>
                <a:gd name="adj1" fmla="val 16200000"/>
                <a:gd name="adj2" fmla="val 5400000"/>
              </a:avLst>
            </a:prstGeom>
            <a:solidFill>
              <a:srgbClr val="29BA74">
                <a:lumMod val="100000"/>
              </a:srgbClr>
            </a:solidFill>
            <a:ln w="9525" cap="rnd" cmpd="sng" algn="ctr">
              <a:noFill/>
              <a:prstDash val="solid"/>
              <a:round/>
            </a:ln>
            <a:effectLst/>
            <a:extLst>
              <a:ext uri="{91240B29-F687-4F45-9708-019B960494DF}">
                <a14:hiddenLine xmlns:a14="http://schemas.microsoft.com/office/drawing/2010/main" w="9525" cap="rnd" cmpd="sng" algn="ctr">
                  <a:solidFill>
                    <a:schemeClr val="tx1">
                      <a:lumMod val="60000"/>
                      <a:lumOff val="40000"/>
                    </a:schemeClr>
                  </a:solidFill>
                  <a:prstDash val="solid"/>
                  <a:round/>
                </a14:hiddenLine>
              </a:ext>
            </a:extLst>
          </p:spPr>
          <p:style>
            <a:lnRef idx="1">
              <a:schemeClr val="accent1"/>
            </a:lnRef>
            <a:fillRef idx="0">
              <a:schemeClr val="accent1"/>
            </a:fillRef>
            <a:effectRef idx="0">
              <a:schemeClr val="accent1"/>
            </a:effectRef>
            <a:fontRef idx="minor">
              <a:schemeClr val="tx1"/>
            </a:fontRef>
          </p:style>
          <p:txBody>
            <a:bodyPr rtlCol="0" anchor="ctr">
              <a:noAutofit/>
            </a:bodyPr>
            <a:lstStyle/>
            <a:p>
              <a:pPr algn="ctr"/>
              <a:endParaRPr lang="en-US">
                <a:ea typeface="Microsoft YaHei" panose="020B0503020204020204" pitchFamily="34" charset="-122"/>
                <a:sym typeface="+mn-lt"/>
              </a:endParaRPr>
            </a:p>
          </p:txBody>
        </p:sp>
        <p:sp>
          <p:nvSpPr>
            <p:cNvPr id="265" name="circle">
              <a:extLst>
                <a:ext uri="{FF2B5EF4-FFF2-40B4-BE49-F238E27FC236}">
                  <a16:creationId xmlns:a16="http://schemas.microsoft.com/office/drawing/2014/main" id="{38C37A6E-004D-400E-85B2-3980AEB98F2D}"/>
                </a:ext>
              </a:extLst>
            </p:cNvPr>
            <p:cNvSpPr/>
            <p:nvPr/>
          </p:nvSpPr>
          <p:spPr>
            <a:xfrm>
              <a:off x="6096000" y="3429000"/>
              <a:ext cx="269875" cy="269875"/>
            </a:xfrm>
            <a:prstGeom prst="ellipse">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a typeface="Microsoft YaHei" panose="020B0503020204020204" pitchFamily="34" charset="-122"/>
                <a:sym typeface="+mn-lt"/>
              </a:endParaRPr>
            </a:p>
          </p:txBody>
        </p:sp>
      </p:grpSp>
      <p:grpSp>
        <p:nvGrpSpPr>
          <p:cNvPr id="105" name="Group 104">
            <a:extLst>
              <a:ext uri="{FF2B5EF4-FFF2-40B4-BE49-F238E27FC236}">
                <a16:creationId xmlns:a16="http://schemas.microsoft.com/office/drawing/2014/main" id="{6AB067A1-8644-42C8-B049-7813C1DC0F33}"/>
              </a:ext>
            </a:extLst>
          </p:cNvPr>
          <p:cNvGrpSpPr/>
          <p:nvPr/>
        </p:nvGrpSpPr>
        <p:grpSpPr>
          <a:xfrm>
            <a:off x="6367566" y="1159236"/>
            <a:ext cx="5270338" cy="178626"/>
            <a:chOff x="4726270" y="6317332"/>
            <a:chExt cx="5270338" cy="178626"/>
          </a:xfrm>
        </p:grpSpPr>
        <p:grpSp>
          <p:nvGrpSpPr>
            <p:cNvPr id="107" name="Group 106">
              <a:extLst>
                <a:ext uri="{FF2B5EF4-FFF2-40B4-BE49-F238E27FC236}">
                  <a16:creationId xmlns:a16="http://schemas.microsoft.com/office/drawing/2014/main" id="{40890ED2-D128-406B-950C-E201B056983C}"/>
                </a:ext>
              </a:extLst>
            </p:cNvPr>
            <p:cNvGrpSpPr>
              <a:grpSpLocks noChangeAspect="1"/>
            </p:cNvGrpSpPr>
            <p:nvPr>
              <p:custDataLst>
                <p:tags r:id="rId9"/>
              </p:custDataLst>
            </p:nvPr>
          </p:nvGrpSpPr>
          <p:grpSpPr>
            <a:xfrm>
              <a:off x="4726270" y="6318519"/>
              <a:ext cx="2190338" cy="177439"/>
              <a:chOff x="6096000" y="3429000"/>
              <a:chExt cx="3331404" cy="269875"/>
            </a:xfrm>
          </p:grpSpPr>
          <p:sp>
            <p:nvSpPr>
              <p:cNvPr id="113" name="arc">
                <a:extLst>
                  <a:ext uri="{FF2B5EF4-FFF2-40B4-BE49-F238E27FC236}">
                    <a16:creationId xmlns:a16="http://schemas.microsoft.com/office/drawing/2014/main" id="{5DE49B78-98CC-43E3-8142-5E8544F4C288}"/>
                  </a:ext>
                </a:extLst>
              </p:cNvPr>
              <p:cNvSpPr/>
              <p:nvPr/>
            </p:nvSpPr>
            <p:spPr>
              <a:xfrm>
                <a:off x="9157529" y="3429000"/>
                <a:ext cx="269875" cy="269875"/>
              </a:xfrm>
              <a:prstGeom prst="arc">
                <a:avLst>
                  <a:gd name="adj1" fmla="val 16200000"/>
                  <a:gd name="adj2" fmla="val 16200000"/>
                </a:avLst>
              </a:prstGeom>
              <a:solidFill>
                <a:srgbClr val="29BA74"/>
              </a:solidFill>
              <a:ln w="9525" cap="rnd" cmpd="sng" algn="ctr">
                <a:noFill/>
                <a:prstDash val="solid"/>
                <a:round/>
              </a:ln>
              <a:effectLst/>
              <a:extLst>
                <a:ext uri="{91240B29-F687-4F45-9708-019B960494DF}">
                  <a14:hiddenLine xmlns:a14="http://schemas.microsoft.com/office/drawing/2010/main" w="9525" cap="rnd" cmpd="sng" algn="ctr">
                    <a:solidFill>
                      <a:srgbClr val="7F7F7F"/>
                    </a:solidFill>
                    <a:prstDash val="solid"/>
                    <a:round/>
                  </a14:hiddenLine>
                </a:ext>
              </a:extLst>
            </p:spPr>
            <p:style>
              <a:lnRef idx="1">
                <a:schemeClr val="accent1"/>
              </a:lnRef>
              <a:fillRef idx="0">
                <a:schemeClr val="accent1"/>
              </a:fillRef>
              <a:effectRef idx="0">
                <a:schemeClr val="accent1"/>
              </a:effectRef>
              <a:fontRef idx="minor">
                <a:schemeClr val="tx1"/>
              </a:fontRef>
            </p:style>
            <p:txBody>
              <a:bodyPr rtlCol="0" anchor="ctr">
                <a:noAutofit/>
              </a:bodyPr>
              <a:lstStyle/>
              <a:p>
                <a:pPr algn="ctr"/>
                <a:endParaRPr lang="en-US" sz="800">
                  <a:ea typeface="Microsoft YaHei" panose="020B0503020204020204" pitchFamily="34" charset="-122"/>
                  <a:sym typeface="+mn-lt"/>
                </a:endParaRPr>
              </a:p>
            </p:txBody>
          </p:sp>
          <p:sp>
            <p:nvSpPr>
              <p:cNvPr id="114" name="circle">
                <a:extLst>
                  <a:ext uri="{FF2B5EF4-FFF2-40B4-BE49-F238E27FC236}">
                    <a16:creationId xmlns:a16="http://schemas.microsoft.com/office/drawing/2014/main" id="{792B82A9-D0F8-496C-BBA5-EEAB598C5817}"/>
                  </a:ext>
                </a:extLst>
              </p:cNvPr>
              <p:cNvSpPr/>
              <p:nvPr/>
            </p:nvSpPr>
            <p:spPr>
              <a:xfrm>
                <a:off x="6096000" y="3429000"/>
                <a:ext cx="269875" cy="269875"/>
              </a:xfrm>
              <a:prstGeom prst="ellipse">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DC0532"/>
                    </a:solidFill>
                  </a14:hiddenFill>
                </a:ex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800">
                  <a:solidFill>
                    <a:srgbClr val="FFFFFF"/>
                  </a:solidFill>
                  <a:ea typeface="Microsoft YaHei" panose="020B0503020204020204" pitchFamily="34" charset="-122"/>
                  <a:sym typeface="+mn-lt"/>
                </a:endParaRPr>
              </a:p>
            </p:txBody>
          </p:sp>
        </p:grpSp>
        <p:sp>
          <p:nvSpPr>
            <p:cNvPr id="108" name="TextBox 107">
              <a:extLst>
                <a:ext uri="{FF2B5EF4-FFF2-40B4-BE49-F238E27FC236}">
                  <a16:creationId xmlns:a16="http://schemas.microsoft.com/office/drawing/2014/main" id="{467B5D70-299C-4630-9909-C3D622F84FFA}"/>
                </a:ext>
              </a:extLst>
            </p:cNvPr>
            <p:cNvSpPr txBox="1"/>
            <p:nvPr/>
          </p:nvSpPr>
          <p:spPr>
            <a:xfrm>
              <a:off x="6961380" y="6330295"/>
              <a:ext cx="1282402" cy="153888"/>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spAutoFit/>
            </a:bodyPr>
            <a:lstStyle/>
            <a:p>
              <a:r>
                <a:rPr lang="zh-TW" altLang="en-US" sz="1000">
                  <a:solidFill>
                    <a:schemeClr val="tx1"/>
                  </a:solidFill>
                  <a:ea typeface="Microsoft YaHei" panose="020B0503020204020204" pitchFamily="34" charset="-122"/>
                  <a:sym typeface="+mn-lt"/>
                </a:rPr>
                <a:t>進階的個性化經營能力</a:t>
              </a:r>
              <a:endParaRPr lang="en-US" sz="1000">
                <a:solidFill>
                  <a:schemeClr val="tx1"/>
                </a:solidFill>
                <a:ea typeface="Microsoft YaHei" panose="020B0503020204020204" pitchFamily="34" charset="-122"/>
                <a:sym typeface="+mn-lt"/>
              </a:endParaRPr>
            </a:p>
          </p:txBody>
        </p:sp>
        <p:grpSp>
          <p:nvGrpSpPr>
            <p:cNvPr id="109" name="Group 108">
              <a:extLst>
                <a:ext uri="{FF2B5EF4-FFF2-40B4-BE49-F238E27FC236}">
                  <a16:creationId xmlns:a16="http://schemas.microsoft.com/office/drawing/2014/main" id="{A87CB569-1260-4B8C-9C3C-FEED0FE2FBA6}"/>
                </a:ext>
              </a:extLst>
            </p:cNvPr>
            <p:cNvGrpSpPr/>
            <p:nvPr/>
          </p:nvGrpSpPr>
          <p:grpSpPr>
            <a:xfrm>
              <a:off x="8378203" y="6317332"/>
              <a:ext cx="1618405" cy="177439"/>
              <a:chOff x="8524253" y="6317332"/>
              <a:chExt cx="1618405" cy="177439"/>
            </a:xfrm>
          </p:grpSpPr>
          <p:sp>
            <p:nvSpPr>
              <p:cNvPr id="110" name="background">
                <a:extLst>
                  <a:ext uri="{FF2B5EF4-FFF2-40B4-BE49-F238E27FC236}">
                    <a16:creationId xmlns:a16="http://schemas.microsoft.com/office/drawing/2014/main" id="{2084C05B-FE92-4B6E-8285-51DFFE0C9144}"/>
                  </a:ext>
                </a:extLst>
              </p:cNvPr>
              <p:cNvSpPr/>
              <p:nvPr/>
            </p:nvSpPr>
            <p:spPr>
              <a:xfrm>
                <a:off x="8524253" y="6317332"/>
                <a:ext cx="177438" cy="177439"/>
              </a:xfrm>
              <a:prstGeom prst="ellipse">
                <a:avLst/>
              </a:prstGeom>
              <a:solidFill>
                <a:srgbClr val="C8C8C8">
                  <a:lumMod val="100000"/>
                </a:srgbClr>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800">
                  <a:solidFill>
                    <a:srgbClr val="FFFFFF"/>
                  </a:solidFill>
                  <a:ea typeface="Microsoft YaHei" panose="020B0503020204020204" pitchFamily="34" charset="-122"/>
                  <a:sym typeface="+mn-lt"/>
                </a:endParaRPr>
              </a:p>
            </p:txBody>
          </p:sp>
          <p:sp>
            <p:nvSpPr>
              <p:cNvPr id="111" name="TextBox 110">
                <a:extLst>
                  <a:ext uri="{FF2B5EF4-FFF2-40B4-BE49-F238E27FC236}">
                    <a16:creationId xmlns:a16="http://schemas.microsoft.com/office/drawing/2014/main" id="{0320DB29-7C11-4F11-A106-FFFE8E6F1A3D}"/>
                  </a:ext>
                </a:extLst>
              </p:cNvPr>
              <p:cNvSpPr txBox="1"/>
              <p:nvPr/>
            </p:nvSpPr>
            <p:spPr>
              <a:xfrm>
                <a:off x="8748323" y="6329108"/>
                <a:ext cx="1394335" cy="153888"/>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spAutoFit/>
              </a:bodyPr>
              <a:lstStyle/>
              <a:p>
                <a:r>
                  <a:rPr lang="zh-TW" altLang="en-US" sz="1000">
                    <a:solidFill>
                      <a:schemeClr val="tx1"/>
                    </a:solidFill>
                    <a:ea typeface="Microsoft YaHei" panose="020B0503020204020204" pitchFamily="34" charset="-122"/>
                    <a:sym typeface="+mn-lt"/>
                  </a:rPr>
                  <a:t>有限的個性化經營能力</a:t>
                </a:r>
                <a:endParaRPr lang="en-US" sz="1000">
                  <a:solidFill>
                    <a:schemeClr val="tx1"/>
                  </a:solidFill>
                  <a:ea typeface="Microsoft YaHei" panose="020B0503020204020204" pitchFamily="34" charset="-122"/>
                  <a:sym typeface="+mn-lt"/>
                </a:endParaRPr>
              </a:p>
            </p:txBody>
          </p:sp>
        </p:grpSp>
      </p:grpSp>
      <p:sp>
        <p:nvSpPr>
          <p:cNvPr id="106" name="Rectangle 105">
            <a:extLst>
              <a:ext uri="{FF2B5EF4-FFF2-40B4-BE49-F238E27FC236}">
                <a16:creationId xmlns:a16="http://schemas.microsoft.com/office/drawing/2014/main" id="{84E5CFD7-33E9-43C9-96CE-B85F5989BF24}"/>
              </a:ext>
            </a:extLst>
          </p:cNvPr>
          <p:cNvSpPr/>
          <p:nvPr/>
        </p:nvSpPr>
        <p:spPr>
          <a:xfrm>
            <a:off x="8286762" y="1080766"/>
            <a:ext cx="3275238" cy="300394"/>
          </a:xfrm>
          <a:prstGeom prst="rect">
            <a:avLst/>
          </a:prstGeom>
          <a:noFill/>
          <a:ln w="12700" cap="rnd" cmpd="sng" algn="ctr">
            <a:solidFill>
              <a:srgbClr val="9A9A9A"/>
            </a:solidFill>
            <a:prstDash val="sysDot"/>
            <a:round/>
            <a:headEnd type="none" w="med" len="med"/>
            <a:tailEnd type="none" w="med" len="med"/>
          </a:ln>
          <a:effectLst/>
          <a:extLst>
            <a:ext uri="{909E8E84-426E-40DD-AFC4-6F175D3DCCD1}">
              <a14:hiddenFill xmlns:a14="http://schemas.microsoft.com/office/drawing/2010/main">
                <a:solidFill>
                  <a:srgbClr val="DC053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ea typeface="Microsoft YaHei" panose="020B0503020204020204" pitchFamily="34" charset="-122"/>
              <a:sym typeface="+mn-lt"/>
            </a:endParaRPr>
          </a:p>
        </p:txBody>
      </p:sp>
      <p:sp>
        <p:nvSpPr>
          <p:cNvPr id="115" name="ee4pHeader1">
            <a:extLst>
              <a:ext uri="{FF2B5EF4-FFF2-40B4-BE49-F238E27FC236}">
                <a16:creationId xmlns:a16="http://schemas.microsoft.com/office/drawing/2014/main" id="{3C5DD11F-60EA-4B7E-8189-3C4535657A71}"/>
              </a:ext>
            </a:extLst>
          </p:cNvPr>
          <p:cNvSpPr txBox="1"/>
          <p:nvPr/>
        </p:nvSpPr>
        <p:spPr>
          <a:xfrm>
            <a:off x="1106274" y="2351321"/>
            <a:ext cx="1348981" cy="469263"/>
          </a:xfrm>
          <a:prstGeom prst="rect">
            <a:avLst/>
          </a:prstGeom>
          <a:noFill/>
          <a:ln cap="rnd">
            <a:noFill/>
          </a:ln>
        </p:spPr>
        <p:txBody>
          <a:bodyPr vert="horz" wrap="square" lIns="0" tIns="0" rIns="0" bIns="0" rtlCol="0" anchor="ctr" anchorCtr="0">
            <a:noAutofit/>
          </a:bodyPr>
          <a:lstStyle/>
          <a:p>
            <a:pPr>
              <a:buSzPct val="100000"/>
              <a:buFont typeface="Trebuchet MS" panose="020B0603020202020204" pitchFamily="34" charset="0"/>
              <a:buChar char="​"/>
            </a:pPr>
            <a:r>
              <a:rPr lang="zh-TW" altLang="en-US" sz="1400" b="1">
                <a:solidFill>
                  <a:srgbClr val="29BA74"/>
                </a:solidFill>
                <a:ea typeface="Microsoft YaHei" panose="020B0503020204020204" pitchFamily="34" charset="-122"/>
                <a:sym typeface="+mn-lt"/>
              </a:rPr>
              <a:t>精準預測模型</a:t>
            </a:r>
            <a:endParaRPr lang="en-US" sz="1400" b="1">
              <a:solidFill>
                <a:srgbClr val="29BA74"/>
              </a:solidFill>
              <a:ea typeface="Microsoft YaHei" panose="020B0503020204020204" pitchFamily="34" charset="-122"/>
              <a:sym typeface="+mn-lt"/>
            </a:endParaRPr>
          </a:p>
        </p:txBody>
      </p:sp>
      <p:sp>
        <p:nvSpPr>
          <p:cNvPr id="116" name="ee4pHeader1">
            <a:extLst>
              <a:ext uri="{FF2B5EF4-FFF2-40B4-BE49-F238E27FC236}">
                <a16:creationId xmlns:a16="http://schemas.microsoft.com/office/drawing/2014/main" id="{C8EFB684-357C-46A8-97B9-DA157BB985E8}"/>
              </a:ext>
            </a:extLst>
          </p:cNvPr>
          <p:cNvSpPr txBox="1"/>
          <p:nvPr/>
        </p:nvSpPr>
        <p:spPr>
          <a:xfrm>
            <a:off x="1106275" y="3275208"/>
            <a:ext cx="1204454" cy="484185"/>
          </a:xfrm>
          <a:prstGeom prst="rect">
            <a:avLst/>
          </a:prstGeom>
          <a:noFill/>
          <a:ln cap="rnd">
            <a:noFill/>
          </a:ln>
        </p:spPr>
        <p:txBody>
          <a:bodyPr vert="horz" wrap="square" lIns="0" tIns="0" rIns="0" bIns="0" rtlCol="0" anchor="ctr" anchorCtr="0">
            <a:noAutofit/>
          </a:bodyPr>
          <a:lstStyle/>
          <a:p>
            <a:pPr>
              <a:buSzPct val="100000"/>
              <a:buFont typeface="Trebuchet MS" panose="020B0603020202020204" pitchFamily="34" charset="0"/>
              <a:buChar char="​"/>
            </a:pPr>
            <a:r>
              <a:rPr lang="zh-TW" altLang="en-US" sz="1400" b="1">
                <a:solidFill>
                  <a:srgbClr val="29BA74"/>
                </a:solidFill>
                <a:ea typeface="Microsoft YaHei" panose="020B0503020204020204" pitchFamily="34" charset="-122"/>
                <a:sym typeface="+mn-lt"/>
              </a:rPr>
              <a:t>多樣化</a:t>
            </a:r>
            <a:endParaRPr lang="en-US" altLang="zh-TW" sz="1400" b="1">
              <a:solidFill>
                <a:srgbClr val="29BA74"/>
              </a:solidFill>
              <a:ea typeface="Microsoft YaHei" panose="020B0503020204020204" pitchFamily="34" charset="-122"/>
              <a:sym typeface="+mn-lt"/>
            </a:endParaRPr>
          </a:p>
          <a:p>
            <a:pPr>
              <a:buSzPct val="100000"/>
              <a:buFont typeface="Trebuchet MS" panose="020B0603020202020204" pitchFamily="34" charset="0"/>
              <a:buChar char="​"/>
            </a:pPr>
            <a:r>
              <a:rPr lang="zh-TW" altLang="en-US" sz="1400" b="1">
                <a:solidFill>
                  <a:srgbClr val="29BA74"/>
                </a:solidFill>
                <a:ea typeface="Microsoft YaHei" panose="020B0503020204020204" pitchFamily="34" charset="-122"/>
                <a:sym typeface="+mn-lt"/>
              </a:rPr>
              <a:t>產品與行銷方案組合庫</a:t>
            </a:r>
            <a:endParaRPr lang="en-US" sz="1400" b="1">
              <a:solidFill>
                <a:srgbClr val="29BA74"/>
              </a:solidFill>
              <a:ea typeface="Microsoft YaHei" panose="020B0503020204020204" pitchFamily="34" charset="-122"/>
              <a:sym typeface="+mn-lt"/>
            </a:endParaRPr>
          </a:p>
        </p:txBody>
      </p:sp>
      <p:sp>
        <p:nvSpPr>
          <p:cNvPr id="117" name="ee4pHeader1">
            <a:extLst>
              <a:ext uri="{FF2B5EF4-FFF2-40B4-BE49-F238E27FC236}">
                <a16:creationId xmlns:a16="http://schemas.microsoft.com/office/drawing/2014/main" id="{5F224EBA-8CDD-4A15-B25D-77759749B4DF}"/>
              </a:ext>
            </a:extLst>
          </p:cNvPr>
          <p:cNvSpPr txBox="1"/>
          <p:nvPr/>
        </p:nvSpPr>
        <p:spPr>
          <a:xfrm>
            <a:off x="1106274" y="4778656"/>
            <a:ext cx="1348981" cy="469263"/>
          </a:xfrm>
          <a:prstGeom prst="rect">
            <a:avLst/>
          </a:prstGeom>
          <a:noFill/>
          <a:ln cap="rnd">
            <a:noFill/>
          </a:ln>
        </p:spPr>
        <p:txBody>
          <a:bodyPr vert="horz" wrap="square" lIns="0" tIns="0" rIns="0" bIns="0" rtlCol="0" anchor="ctr" anchorCtr="0">
            <a:noAutofit/>
          </a:bodyPr>
          <a:lstStyle/>
          <a:p>
            <a:pPr>
              <a:buSzPct val="100000"/>
              <a:buFont typeface="Trebuchet MS" panose="020B0603020202020204" pitchFamily="34" charset="0"/>
              <a:buChar char="​"/>
            </a:pPr>
            <a:r>
              <a:rPr lang="zh-TW" altLang="en-US" sz="1400" b="1">
                <a:solidFill>
                  <a:srgbClr val="29BA74"/>
                </a:solidFill>
                <a:ea typeface="Microsoft YaHei" panose="020B0503020204020204" pitchFamily="34" charset="-122"/>
                <a:sym typeface="+mn-lt"/>
              </a:rPr>
              <a:t>平台系統</a:t>
            </a:r>
            <a:endParaRPr lang="en-US" sz="1400" b="1">
              <a:solidFill>
                <a:srgbClr val="29BA74"/>
              </a:solidFill>
              <a:ea typeface="Microsoft YaHei" panose="020B0503020204020204" pitchFamily="34" charset="-122"/>
              <a:sym typeface="+mn-lt"/>
            </a:endParaRPr>
          </a:p>
        </p:txBody>
      </p:sp>
      <p:sp>
        <p:nvSpPr>
          <p:cNvPr id="118" name="ee4pHeader1">
            <a:extLst>
              <a:ext uri="{FF2B5EF4-FFF2-40B4-BE49-F238E27FC236}">
                <a16:creationId xmlns:a16="http://schemas.microsoft.com/office/drawing/2014/main" id="{6B299A29-F501-4EDA-89CA-34BB0EBF3B0A}"/>
              </a:ext>
            </a:extLst>
          </p:cNvPr>
          <p:cNvSpPr txBox="1"/>
          <p:nvPr/>
        </p:nvSpPr>
        <p:spPr>
          <a:xfrm>
            <a:off x="1106274" y="4129810"/>
            <a:ext cx="1348981" cy="469263"/>
          </a:xfrm>
          <a:prstGeom prst="rect">
            <a:avLst/>
          </a:prstGeom>
          <a:noFill/>
          <a:ln cap="rnd">
            <a:noFill/>
          </a:ln>
        </p:spPr>
        <p:txBody>
          <a:bodyPr vert="horz" wrap="square" lIns="0" tIns="0" rIns="0" bIns="0" rtlCol="0" anchor="ctr" anchorCtr="0">
            <a:noAutofit/>
          </a:bodyPr>
          <a:lstStyle/>
          <a:p>
            <a:pPr>
              <a:buSzPct val="100000"/>
              <a:buFont typeface="Trebuchet MS" panose="020B0603020202020204" pitchFamily="34" charset="0"/>
              <a:buChar char="​"/>
            </a:pPr>
            <a:r>
              <a:rPr lang="zh-TW" altLang="en-US" sz="1400" b="1">
                <a:solidFill>
                  <a:srgbClr val="29BA74"/>
                </a:solidFill>
                <a:ea typeface="Microsoft YaHei" panose="020B0503020204020204" pitchFamily="34" charset="-122"/>
                <a:sym typeface="+mn-lt"/>
              </a:rPr>
              <a:t>追蹤反饋機制</a:t>
            </a:r>
            <a:endParaRPr lang="en-US" sz="1400" b="1">
              <a:solidFill>
                <a:srgbClr val="29BA74"/>
              </a:solidFill>
              <a:ea typeface="Microsoft YaHei" panose="020B0503020204020204" pitchFamily="34" charset="-122"/>
              <a:sym typeface="+mn-lt"/>
            </a:endParaRPr>
          </a:p>
        </p:txBody>
      </p:sp>
      <p:sp>
        <p:nvSpPr>
          <p:cNvPr id="119" name="ee4pHeader1">
            <a:extLst>
              <a:ext uri="{FF2B5EF4-FFF2-40B4-BE49-F238E27FC236}">
                <a16:creationId xmlns:a16="http://schemas.microsoft.com/office/drawing/2014/main" id="{E8F6FF5C-287C-43F8-99BB-4610E82B7CCF}"/>
              </a:ext>
            </a:extLst>
          </p:cNvPr>
          <p:cNvSpPr txBox="1"/>
          <p:nvPr/>
        </p:nvSpPr>
        <p:spPr>
          <a:xfrm>
            <a:off x="1106274" y="5394965"/>
            <a:ext cx="1348981" cy="469263"/>
          </a:xfrm>
          <a:prstGeom prst="rect">
            <a:avLst/>
          </a:prstGeom>
          <a:noFill/>
          <a:ln cap="rnd">
            <a:noFill/>
          </a:ln>
        </p:spPr>
        <p:txBody>
          <a:bodyPr vert="horz" wrap="square" lIns="0" tIns="0" rIns="0" bIns="0" rtlCol="0" anchor="ctr" anchorCtr="0">
            <a:noAutofit/>
          </a:bodyPr>
          <a:lstStyle/>
          <a:p>
            <a:pPr>
              <a:buSzPct val="100000"/>
              <a:buFont typeface="Trebuchet MS" panose="020B0603020202020204" pitchFamily="34" charset="0"/>
              <a:buChar char="​"/>
            </a:pPr>
            <a:r>
              <a:rPr lang="zh-TW" altLang="en-US" sz="1400" b="1">
                <a:solidFill>
                  <a:srgbClr val="29BA74"/>
                </a:solidFill>
                <a:ea typeface="Microsoft YaHei" panose="020B0503020204020204" pitchFamily="34" charset="-122"/>
                <a:sym typeface="+mn-lt"/>
              </a:rPr>
              <a:t>組織設計</a:t>
            </a:r>
            <a:endParaRPr lang="en-US" sz="1400" b="1">
              <a:solidFill>
                <a:srgbClr val="29BA74"/>
              </a:solidFill>
              <a:ea typeface="Microsoft YaHei" panose="020B0503020204020204" pitchFamily="34" charset="-122"/>
              <a:sym typeface="+mn-lt"/>
            </a:endParaRPr>
          </a:p>
        </p:txBody>
      </p:sp>
      <p:sp>
        <p:nvSpPr>
          <p:cNvPr id="120" name="ee4pHeader1">
            <a:extLst>
              <a:ext uri="{FF2B5EF4-FFF2-40B4-BE49-F238E27FC236}">
                <a16:creationId xmlns:a16="http://schemas.microsoft.com/office/drawing/2014/main" id="{CB2FEA72-C569-4DA7-AF9C-EB115B9E3612}"/>
              </a:ext>
            </a:extLst>
          </p:cNvPr>
          <p:cNvSpPr txBox="1"/>
          <p:nvPr/>
        </p:nvSpPr>
        <p:spPr>
          <a:xfrm>
            <a:off x="1106274" y="1803832"/>
            <a:ext cx="1348981" cy="469263"/>
          </a:xfrm>
          <a:prstGeom prst="rect">
            <a:avLst/>
          </a:prstGeom>
          <a:noFill/>
          <a:ln cap="rnd">
            <a:noFill/>
          </a:ln>
        </p:spPr>
        <p:txBody>
          <a:bodyPr vert="horz" wrap="square" lIns="0" tIns="0" rIns="0" bIns="0" rtlCol="0" anchor="ctr" anchorCtr="0">
            <a:noAutofit/>
          </a:bodyPr>
          <a:lstStyle/>
          <a:p>
            <a:pPr>
              <a:buSzPct val="100000"/>
              <a:buFont typeface="Trebuchet MS" panose="020B0603020202020204" pitchFamily="34" charset="0"/>
              <a:buChar char="​"/>
            </a:pPr>
            <a:r>
              <a:rPr lang="zh-TW" altLang="en-US" sz="1400" b="1">
                <a:solidFill>
                  <a:srgbClr val="29BA74"/>
                </a:solidFill>
                <a:ea typeface="Microsoft YaHei" panose="020B0503020204020204" pitchFamily="34" charset="-122"/>
                <a:sym typeface="+mn-lt"/>
              </a:rPr>
              <a:t>豐富數據基礎</a:t>
            </a:r>
            <a:endParaRPr lang="en-US" sz="1400" b="1">
              <a:solidFill>
                <a:srgbClr val="29BA74"/>
              </a:solidFill>
              <a:ea typeface="Microsoft YaHei" panose="020B0503020204020204" pitchFamily="34" charset="-122"/>
              <a:sym typeface="+mn-lt"/>
            </a:endParaRPr>
          </a:p>
        </p:txBody>
      </p:sp>
      <p:sp>
        <p:nvSpPr>
          <p:cNvPr id="100" name="Rectangle 99">
            <a:extLst>
              <a:ext uri="{FF2B5EF4-FFF2-40B4-BE49-F238E27FC236}">
                <a16:creationId xmlns:a16="http://schemas.microsoft.com/office/drawing/2014/main" id="{AEB058AB-C086-4E62-B49D-B2D7021CAACE}"/>
              </a:ext>
            </a:extLst>
          </p:cNvPr>
          <p:cNvSpPr/>
          <p:nvPr/>
        </p:nvSpPr>
        <p:spPr>
          <a:xfrm>
            <a:off x="678135" y="1494760"/>
            <a:ext cx="1535411" cy="307777"/>
          </a:xfrm>
          <a:prstGeom prst="rect">
            <a:avLst/>
          </a:prstGeom>
        </p:spPr>
        <p:txBody>
          <a:bodyPr wrap="square" lIns="0" rIns="0">
            <a:spAutoFit/>
          </a:bodyPr>
          <a:lstStyle/>
          <a:p>
            <a:pPr algn="ctr">
              <a:buSzPct val="100000"/>
              <a:buFont typeface="Trebuchet MS" panose="020B0603020202020204" pitchFamily="34" charset="0"/>
              <a:buChar char="​"/>
            </a:pPr>
            <a:r>
              <a:rPr lang="zh-TW" altLang="en-US" sz="1400" b="1">
                <a:solidFill>
                  <a:srgbClr val="03522D"/>
                </a:solidFill>
                <a:ea typeface="Microsoft YaHei" panose="020B0503020204020204" pitchFamily="34" charset="-122"/>
                <a:sym typeface="+mn-lt"/>
              </a:rPr>
              <a:t>關鍵基石</a:t>
            </a:r>
            <a:endParaRPr lang="en-US" sz="1400" b="1">
              <a:solidFill>
                <a:srgbClr val="03522D"/>
              </a:solidFill>
              <a:ea typeface="Microsoft YaHei" panose="020B0503020204020204" pitchFamily="34" charset="-122"/>
              <a:sym typeface="+mn-lt"/>
            </a:endParaRPr>
          </a:p>
        </p:txBody>
      </p:sp>
      <p:sp>
        <p:nvSpPr>
          <p:cNvPr id="18" name="Rectangle 17">
            <a:extLst>
              <a:ext uri="{FF2B5EF4-FFF2-40B4-BE49-F238E27FC236}">
                <a16:creationId xmlns:a16="http://schemas.microsoft.com/office/drawing/2014/main" id="{50E47FCF-558F-6D03-9E52-6AE3A353C2B6}"/>
              </a:ext>
            </a:extLst>
          </p:cNvPr>
          <p:cNvSpPr/>
          <p:nvPr/>
        </p:nvSpPr>
        <p:spPr>
          <a:xfrm>
            <a:off x="10193356" y="1474153"/>
            <a:ext cx="731601" cy="307777"/>
          </a:xfrm>
          <a:prstGeom prst="rect">
            <a:avLst/>
          </a:prstGeom>
        </p:spPr>
        <p:txBody>
          <a:bodyPr wrap="square" lIns="0" rIns="0">
            <a:spAutoFit/>
          </a:bodyPr>
          <a:lstStyle/>
          <a:p>
            <a:pPr>
              <a:buSzPct val="100000"/>
              <a:buFont typeface="Trebuchet MS" panose="020B0603020202020204" pitchFamily="34" charset="0"/>
              <a:buChar char="​"/>
            </a:pPr>
            <a:r>
              <a:rPr lang="zh-TW" altLang="en-US" sz="1400" b="1">
                <a:solidFill>
                  <a:srgbClr val="03522D"/>
                </a:solidFill>
                <a:ea typeface="Microsoft YaHei" panose="020B0503020204020204" pitchFamily="34" charset="-122"/>
                <a:sym typeface="+mn-lt"/>
              </a:rPr>
              <a:t>凱基現狀</a:t>
            </a:r>
            <a:endParaRPr lang="en-US" sz="1400" b="1">
              <a:solidFill>
                <a:srgbClr val="03522D"/>
              </a:solidFill>
              <a:ea typeface="Microsoft YaHei" panose="020B0503020204020204" pitchFamily="34" charset="-122"/>
              <a:sym typeface="+mn-lt"/>
            </a:endParaRPr>
          </a:p>
        </p:txBody>
      </p:sp>
      <p:sp>
        <p:nvSpPr>
          <p:cNvPr id="19" name="ee4pContent1">
            <a:extLst>
              <a:ext uri="{FF2B5EF4-FFF2-40B4-BE49-F238E27FC236}">
                <a16:creationId xmlns:a16="http://schemas.microsoft.com/office/drawing/2014/main" id="{09D408E6-4B78-719C-B68F-56FD2B0121C5}"/>
              </a:ext>
            </a:extLst>
          </p:cNvPr>
          <p:cNvSpPr txBox="1"/>
          <p:nvPr/>
        </p:nvSpPr>
        <p:spPr>
          <a:xfrm>
            <a:off x="5921937" y="2346995"/>
            <a:ext cx="3530761" cy="430887"/>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sp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lvl="1">
              <a:buClr>
                <a:schemeClr val="tx2">
                  <a:lumMod val="100000"/>
                </a:schemeClr>
              </a:buClr>
            </a:pPr>
            <a:r>
              <a:rPr lang="en-US" altLang="zh-TW" sz="1400">
                <a:solidFill>
                  <a:srgbClr val="29BA74"/>
                </a:solidFill>
                <a:ea typeface="Microsoft YaHei" panose="020B0503020204020204" pitchFamily="34" charset="-122"/>
                <a:sym typeface="+mn-lt"/>
              </a:rPr>
              <a:t>多</a:t>
            </a:r>
            <a:r>
              <a:rPr lang="zh-TW" altLang="en-US" sz="1400">
                <a:solidFill>
                  <a:srgbClr val="29BA74"/>
                </a:solidFill>
                <a:ea typeface="Microsoft YaHei" panose="020B0503020204020204" pitchFamily="34" charset="-122"/>
                <a:sym typeface="+mn-lt"/>
              </a:rPr>
              <a:t>應用情境</a:t>
            </a:r>
            <a:r>
              <a:rPr lang="zh-TW" altLang="en-US" sz="1400">
                <a:solidFill>
                  <a:schemeClr val="tx1">
                    <a:lumMod val="100000"/>
                  </a:schemeClr>
                </a:solidFill>
                <a:ea typeface="Microsoft YaHei" panose="020B0503020204020204" pitchFamily="34" charset="-122"/>
                <a:sym typeface="+mn-lt"/>
              </a:rPr>
              <a:t>，如預測流失、優惠接受度等</a:t>
            </a:r>
            <a:endParaRPr lang="en-US" altLang="zh-TW" sz="1400">
              <a:solidFill>
                <a:schemeClr val="tx1">
                  <a:lumMod val="100000"/>
                </a:schemeClr>
              </a:solidFill>
              <a:ea typeface="Microsoft YaHei" panose="020B0503020204020204" pitchFamily="34" charset="-122"/>
              <a:sym typeface="+mn-lt"/>
            </a:endParaRPr>
          </a:p>
          <a:p>
            <a:pPr lvl="1">
              <a:buClr>
                <a:schemeClr val="tx2">
                  <a:lumMod val="100000"/>
                </a:schemeClr>
              </a:buClr>
            </a:pPr>
            <a:r>
              <a:rPr lang="zh-TW" altLang="en-US" sz="1400">
                <a:solidFill>
                  <a:srgbClr val="29BA74"/>
                </a:solidFill>
                <a:ea typeface="Microsoft YaHei" panose="020B0503020204020204" pitchFamily="34" charset="-122"/>
                <a:sym typeface="+mn-lt"/>
              </a:rPr>
              <a:t>不間斷</a:t>
            </a:r>
            <a:r>
              <a:rPr lang="en-US" altLang="zh-TW" sz="1400" err="1">
                <a:solidFill>
                  <a:srgbClr val="29BA74"/>
                </a:solidFill>
                <a:ea typeface="Microsoft YaHei" panose="020B0503020204020204" pitchFamily="34" charset="-122"/>
                <a:sym typeface="+mn-lt"/>
              </a:rPr>
              <a:t>執行A</a:t>
            </a:r>
            <a:r>
              <a:rPr lang="en-US" altLang="zh-TW" sz="1400">
                <a:solidFill>
                  <a:srgbClr val="29BA74"/>
                </a:solidFill>
                <a:ea typeface="Microsoft YaHei" panose="020B0503020204020204" pitchFamily="34" charset="-122"/>
                <a:sym typeface="+mn-lt"/>
              </a:rPr>
              <a:t>/</a:t>
            </a:r>
            <a:r>
              <a:rPr lang="en-US" altLang="zh-TW" sz="1400" err="1">
                <a:solidFill>
                  <a:srgbClr val="29BA74"/>
                </a:solidFill>
                <a:ea typeface="Microsoft YaHei" panose="020B0503020204020204" pitchFamily="34" charset="-122"/>
                <a:sym typeface="+mn-lt"/>
              </a:rPr>
              <a:t>B測試</a:t>
            </a:r>
            <a:r>
              <a:rPr lang="en-US" altLang="zh-TW" sz="1400" err="1">
                <a:solidFill>
                  <a:schemeClr val="tx1">
                    <a:lumMod val="100000"/>
                  </a:schemeClr>
                </a:solidFill>
                <a:ea typeface="Microsoft YaHei" panose="020B0503020204020204" pitchFamily="34" charset="-122"/>
                <a:sym typeface="+mn-lt"/>
              </a:rPr>
              <a:t>，評估最有效</a:t>
            </a:r>
            <a:r>
              <a:rPr lang="zh-TW" altLang="en-US" sz="1400">
                <a:solidFill>
                  <a:schemeClr val="tx1">
                    <a:lumMod val="100000"/>
                  </a:schemeClr>
                </a:solidFill>
                <a:ea typeface="Microsoft YaHei" panose="020B0503020204020204" pitchFamily="34" charset="-122"/>
                <a:sym typeface="+mn-lt"/>
              </a:rPr>
              <a:t>手段</a:t>
            </a:r>
            <a:endParaRPr lang="en-US" altLang="zh-TW" sz="1400">
              <a:solidFill>
                <a:schemeClr val="tx1">
                  <a:lumMod val="100000"/>
                </a:schemeClr>
              </a:solidFill>
              <a:ea typeface="Microsoft YaHei" panose="020B0503020204020204" pitchFamily="34" charset="-122"/>
              <a:sym typeface="+mn-lt"/>
            </a:endParaRPr>
          </a:p>
        </p:txBody>
      </p:sp>
      <p:sp>
        <p:nvSpPr>
          <p:cNvPr id="20" name="ee4pContent1">
            <a:extLst>
              <a:ext uri="{FF2B5EF4-FFF2-40B4-BE49-F238E27FC236}">
                <a16:creationId xmlns:a16="http://schemas.microsoft.com/office/drawing/2014/main" id="{3BCF74D0-6A39-0A97-DDF2-FD7B6FD0F8FA}"/>
              </a:ext>
            </a:extLst>
          </p:cNvPr>
          <p:cNvSpPr txBox="1"/>
          <p:nvPr/>
        </p:nvSpPr>
        <p:spPr>
          <a:xfrm>
            <a:off x="5921936" y="3086414"/>
            <a:ext cx="3530761" cy="646331"/>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sp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lvl="1">
              <a:buClr>
                <a:schemeClr val="tx2">
                  <a:lumMod val="100000"/>
                </a:schemeClr>
              </a:buClr>
            </a:pPr>
            <a:r>
              <a:rPr lang="zh-TW" altLang="en-US" sz="1400">
                <a:solidFill>
                  <a:srgbClr val="29BA74"/>
                </a:solidFill>
                <a:ea typeface="Microsoft YaHei" panose="020B0503020204020204" pitchFamily="34" charset="-122"/>
                <a:sym typeface="+mn-lt"/>
              </a:rPr>
              <a:t>涵蓋各式情境的組合庫</a:t>
            </a:r>
            <a:r>
              <a:rPr lang="zh-TW" altLang="en-US" sz="1400">
                <a:solidFill>
                  <a:schemeClr val="tx1">
                    <a:lumMod val="100000"/>
                  </a:schemeClr>
                </a:solidFill>
                <a:ea typeface="Microsoft YaHei" panose="020B0503020204020204" pitchFamily="34" charset="-122"/>
                <a:sym typeface="+mn-lt"/>
              </a:rPr>
              <a:t>，含激活、留存等</a:t>
            </a:r>
            <a:endParaRPr lang="en-US" altLang="zh-TW" sz="1400">
              <a:solidFill>
                <a:schemeClr val="tx1">
                  <a:lumMod val="100000"/>
                </a:schemeClr>
              </a:solidFill>
              <a:ea typeface="Microsoft YaHei" panose="020B0503020204020204" pitchFamily="34" charset="-122"/>
              <a:sym typeface="+mn-lt"/>
            </a:endParaRPr>
          </a:p>
          <a:p>
            <a:pPr lvl="1">
              <a:buClr>
                <a:schemeClr val="tx2">
                  <a:lumMod val="100000"/>
                </a:schemeClr>
              </a:buClr>
            </a:pPr>
            <a:r>
              <a:rPr lang="zh-TW" altLang="en-US" sz="1400">
                <a:solidFill>
                  <a:srgbClr val="29BA74"/>
                </a:solidFill>
                <a:ea typeface="Microsoft YaHei" panose="020B0503020204020204" pitchFamily="34" charset="-122"/>
                <a:sym typeface="+mn-lt"/>
              </a:rPr>
              <a:t>精準行銷訊息</a:t>
            </a:r>
            <a:r>
              <a:rPr lang="zh-TW" altLang="en-US" sz="1400">
                <a:solidFill>
                  <a:schemeClr val="tx1">
                    <a:lumMod val="100000"/>
                  </a:schemeClr>
                </a:solidFill>
                <a:ea typeface="Microsoft YaHei" panose="020B0503020204020204" pitchFamily="34" charset="-122"/>
                <a:sym typeface="+mn-lt"/>
              </a:rPr>
              <a:t>，含方案說明方式、溝通管道時間、圖文呈現等</a:t>
            </a:r>
            <a:endParaRPr lang="en-US" altLang="zh-TW" sz="1400">
              <a:solidFill>
                <a:schemeClr val="tx1">
                  <a:lumMod val="100000"/>
                </a:schemeClr>
              </a:solidFill>
              <a:ea typeface="Microsoft YaHei" panose="020B0503020204020204" pitchFamily="34" charset="-122"/>
              <a:sym typeface="+mn-lt"/>
            </a:endParaRPr>
          </a:p>
        </p:txBody>
      </p:sp>
      <p:sp>
        <p:nvSpPr>
          <p:cNvPr id="21" name="ee4pContent1">
            <a:extLst>
              <a:ext uri="{FF2B5EF4-FFF2-40B4-BE49-F238E27FC236}">
                <a16:creationId xmlns:a16="http://schemas.microsoft.com/office/drawing/2014/main" id="{E3C0E79D-DCB4-E66E-1FFC-C88D3E851372}"/>
              </a:ext>
            </a:extLst>
          </p:cNvPr>
          <p:cNvSpPr txBox="1"/>
          <p:nvPr/>
        </p:nvSpPr>
        <p:spPr>
          <a:xfrm>
            <a:off x="5921937" y="4797845"/>
            <a:ext cx="3530761" cy="430887"/>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sp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lvl="1">
              <a:buClr>
                <a:schemeClr val="tx2">
                  <a:lumMod val="100000"/>
                </a:schemeClr>
              </a:buClr>
            </a:pPr>
            <a:r>
              <a:rPr lang="zh-TW" altLang="en-US" sz="1400">
                <a:solidFill>
                  <a:srgbClr val="575757"/>
                </a:solidFill>
                <a:ea typeface="Microsoft YaHei" panose="020B0503020204020204" pitchFamily="34" charset="-122"/>
                <a:sym typeface="+mn-lt"/>
              </a:rPr>
              <a:t>藉由</a:t>
            </a:r>
            <a:r>
              <a:rPr lang="en-US" altLang="zh-TW" sz="1400" err="1">
                <a:solidFill>
                  <a:srgbClr val="29BA74"/>
                </a:solidFill>
                <a:ea typeface="Microsoft YaHei" panose="020B0503020204020204" pitchFamily="34" charset="-122"/>
                <a:sym typeface="+mn-lt"/>
              </a:rPr>
              <a:t>AI</a:t>
            </a:r>
            <a:r>
              <a:rPr lang="en-US" sz="1400" err="1">
                <a:solidFill>
                  <a:srgbClr val="29BA74"/>
                </a:solidFill>
                <a:ea typeface="Microsoft YaHei" panose="020B0503020204020204" pitchFamily="34" charset="-122"/>
                <a:sym typeface="+mn-lt"/>
              </a:rPr>
              <a:t>驅動</a:t>
            </a:r>
            <a:r>
              <a:rPr lang="en-US" altLang="zh-TW" sz="1400" err="1">
                <a:solidFill>
                  <a:srgbClr val="575757"/>
                </a:solidFill>
                <a:ea typeface="Microsoft YaHei" panose="020B0503020204020204" pitchFamily="34" charset="-122"/>
                <a:sym typeface="+mn-lt"/>
              </a:rPr>
              <a:t>多</a:t>
            </a:r>
            <a:r>
              <a:rPr lang="zh-TW" altLang="en-US" sz="1400">
                <a:solidFill>
                  <a:schemeClr val="tx1">
                    <a:lumMod val="100000"/>
                  </a:schemeClr>
                </a:solidFill>
                <a:ea typeface="Microsoft YaHei" panose="020B0503020204020204" pitchFamily="34" charset="-122"/>
                <a:sym typeface="+mn-lt"/>
              </a:rPr>
              <a:t>通路行銷</a:t>
            </a:r>
            <a:endParaRPr lang="en-US" altLang="zh-TW" sz="1400">
              <a:solidFill>
                <a:schemeClr val="tx1">
                  <a:lumMod val="100000"/>
                </a:schemeClr>
              </a:solidFill>
              <a:ea typeface="Microsoft YaHei" panose="020B0503020204020204" pitchFamily="34" charset="-122"/>
              <a:sym typeface="+mn-lt"/>
            </a:endParaRPr>
          </a:p>
          <a:p>
            <a:pPr lvl="1">
              <a:buClr>
                <a:schemeClr val="tx2">
                  <a:lumMod val="100000"/>
                </a:schemeClr>
              </a:buClr>
            </a:pPr>
            <a:r>
              <a:rPr lang="zh-TW" altLang="en-US" sz="1400">
                <a:solidFill>
                  <a:srgbClr val="29BA74"/>
                </a:solidFill>
                <a:ea typeface="Microsoft YaHei" panose="020B0503020204020204" pitchFamily="34" charset="-122"/>
                <a:sym typeface="+mn-lt"/>
              </a:rPr>
              <a:t>自動化支持端到端</a:t>
            </a:r>
            <a:r>
              <a:rPr lang="zh-TW" altLang="en-US" sz="1400">
                <a:solidFill>
                  <a:schemeClr val="tx1">
                    <a:lumMod val="100000"/>
                  </a:schemeClr>
                </a:solidFill>
                <a:ea typeface="Microsoft YaHei" panose="020B0503020204020204" pitchFamily="34" charset="-122"/>
                <a:sym typeface="+mn-lt"/>
              </a:rPr>
              <a:t>行銷互動與管理</a:t>
            </a:r>
            <a:endParaRPr lang="en-US" sz="1400">
              <a:solidFill>
                <a:schemeClr val="tx1">
                  <a:lumMod val="100000"/>
                </a:schemeClr>
              </a:solidFill>
              <a:ea typeface="Microsoft YaHei" panose="020B0503020204020204" pitchFamily="34" charset="-122"/>
              <a:sym typeface="+mn-lt"/>
            </a:endParaRPr>
          </a:p>
        </p:txBody>
      </p:sp>
      <p:sp>
        <p:nvSpPr>
          <p:cNvPr id="23" name="ee4pContent1">
            <a:extLst>
              <a:ext uri="{FF2B5EF4-FFF2-40B4-BE49-F238E27FC236}">
                <a16:creationId xmlns:a16="http://schemas.microsoft.com/office/drawing/2014/main" id="{C6AEFB90-E002-7C23-5FD7-558C77ADE3B0}"/>
              </a:ext>
            </a:extLst>
          </p:cNvPr>
          <p:cNvSpPr txBox="1"/>
          <p:nvPr/>
        </p:nvSpPr>
        <p:spPr>
          <a:xfrm>
            <a:off x="5921937" y="5465932"/>
            <a:ext cx="3530761" cy="430887"/>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sp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lvl="1">
              <a:buClr>
                <a:schemeClr val="tx2">
                  <a:lumMod val="100000"/>
                </a:schemeClr>
              </a:buClr>
            </a:pPr>
            <a:r>
              <a:rPr lang="zh-TW" altLang="en-US" sz="1400">
                <a:solidFill>
                  <a:schemeClr val="tx1">
                    <a:lumMod val="100000"/>
                  </a:schemeClr>
                </a:solidFill>
                <a:ea typeface="Microsoft YaHei" panose="020B0503020204020204" pitchFamily="34" charset="-122"/>
                <a:sym typeface="+mn-lt"/>
              </a:rPr>
              <a:t>打造</a:t>
            </a:r>
            <a:r>
              <a:rPr lang="en-US" sz="1400" err="1">
                <a:solidFill>
                  <a:srgbClr val="29BA74"/>
                </a:solidFill>
                <a:ea typeface="Microsoft YaHei" panose="020B0503020204020204" pitchFamily="34" charset="-122"/>
                <a:sym typeface="+mn-lt"/>
              </a:rPr>
              <a:t>完全敏捷</a:t>
            </a:r>
            <a:r>
              <a:rPr lang="en-US" altLang="zh-TW" sz="1400">
                <a:solidFill>
                  <a:srgbClr val="29BA74"/>
                </a:solidFill>
                <a:ea typeface="Microsoft YaHei" panose="020B0503020204020204" pitchFamily="34" charset="-122"/>
                <a:sym typeface="+mn-lt"/>
              </a:rPr>
              <a:t>(Agile)</a:t>
            </a:r>
            <a:r>
              <a:rPr lang="en-US" sz="1400" err="1">
                <a:solidFill>
                  <a:srgbClr val="29BA74"/>
                </a:solidFill>
                <a:ea typeface="Microsoft YaHei" panose="020B0503020204020204" pitchFamily="34" charset="-122"/>
                <a:sym typeface="+mn-lt"/>
              </a:rPr>
              <a:t>的團隊</a:t>
            </a:r>
            <a:r>
              <a:rPr lang="zh-TW" altLang="en-US" sz="1400">
                <a:solidFill>
                  <a:schemeClr val="tx1">
                    <a:lumMod val="100000"/>
                  </a:schemeClr>
                </a:solidFill>
                <a:ea typeface="Microsoft YaHei" panose="020B0503020204020204" pitchFamily="34" charset="-122"/>
                <a:sym typeface="+mn-lt"/>
              </a:rPr>
              <a:t>，在獲得新資訊時，快速設計與執行新的行銷手段</a:t>
            </a:r>
          </a:p>
        </p:txBody>
      </p:sp>
      <p:sp>
        <p:nvSpPr>
          <p:cNvPr id="24" name="ee4pContent1">
            <a:extLst>
              <a:ext uri="{FF2B5EF4-FFF2-40B4-BE49-F238E27FC236}">
                <a16:creationId xmlns:a16="http://schemas.microsoft.com/office/drawing/2014/main" id="{17450CF3-C843-4110-E8A2-638A29C1A263}"/>
              </a:ext>
            </a:extLst>
          </p:cNvPr>
          <p:cNvSpPr txBox="1"/>
          <p:nvPr/>
        </p:nvSpPr>
        <p:spPr>
          <a:xfrm>
            <a:off x="5921936" y="1823020"/>
            <a:ext cx="3530761" cy="430887"/>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sp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lvl="1">
              <a:buClr>
                <a:schemeClr val="tx2">
                  <a:lumMod val="100000"/>
                </a:schemeClr>
              </a:buClr>
            </a:pPr>
            <a:r>
              <a:rPr lang="en-US" sz="1400" err="1">
                <a:solidFill>
                  <a:srgbClr val="29BA74"/>
                </a:solidFill>
                <a:ea typeface="Microsoft YaHei" panose="020B0503020204020204" pitchFamily="34" charset="-122"/>
                <a:sym typeface="+mn-lt"/>
              </a:rPr>
              <a:t>內部和外部數據</a:t>
            </a:r>
            <a:r>
              <a:rPr lang="zh-TW" altLang="en-US" sz="1400">
                <a:solidFill>
                  <a:srgbClr val="29BA74"/>
                </a:solidFill>
                <a:ea typeface="Microsoft YaHei" panose="020B0503020204020204" pitchFamily="34" charset="-122"/>
                <a:sym typeface="+mn-lt"/>
              </a:rPr>
              <a:t>整合</a:t>
            </a:r>
            <a:r>
              <a:rPr lang="zh-TW" altLang="en-US" sz="1400">
                <a:solidFill>
                  <a:schemeClr val="tx1">
                    <a:lumMod val="100000"/>
                  </a:schemeClr>
                </a:solidFill>
                <a:ea typeface="Microsoft YaHei" panose="020B0503020204020204" pitchFamily="34" charset="-122"/>
                <a:sym typeface="+mn-lt"/>
              </a:rPr>
              <a:t>，</a:t>
            </a:r>
            <a:r>
              <a:rPr lang="en-US" sz="1400">
                <a:solidFill>
                  <a:schemeClr val="tx1">
                    <a:lumMod val="100000"/>
                  </a:schemeClr>
                </a:solidFill>
                <a:ea typeface="Microsoft YaHei" panose="020B0503020204020204" pitchFamily="34" charset="-122"/>
                <a:sym typeface="+mn-lt"/>
              </a:rPr>
              <a:t>實現客戶360</a:t>
            </a:r>
            <a:endParaRPr lang="en-US" altLang="zh-TW" sz="1400">
              <a:solidFill>
                <a:schemeClr val="tx1">
                  <a:lumMod val="100000"/>
                </a:schemeClr>
              </a:solidFill>
              <a:ea typeface="Microsoft YaHei" panose="020B0503020204020204" pitchFamily="34" charset="-122"/>
              <a:sym typeface="+mn-lt"/>
            </a:endParaRPr>
          </a:p>
          <a:p>
            <a:pPr lvl="1">
              <a:buClr>
                <a:schemeClr val="tx2">
                  <a:lumMod val="100000"/>
                </a:schemeClr>
              </a:buClr>
            </a:pPr>
            <a:r>
              <a:rPr lang="zh-TW" altLang="en-US" sz="1400">
                <a:solidFill>
                  <a:srgbClr val="575757"/>
                </a:solidFill>
                <a:ea typeface="Microsoft YaHei" panose="020B0503020204020204" pitchFamily="34" charset="-122"/>
                <a:sym typeface="+mn-lt"/>
              </a:rPr>
              <a:t>即時資料處理與雲端資源應用</a:t>
            </a:r>
            <a:endParaRPr lang="en-US" sz="1400">
              <a:solidFill>
                <a:srgbClr val="575757"/>
              </a:solidFill>
              <a:ea typeface="Microsoft YaHei" panose="020B0503020204020204" pitchFamily="34" charset="-122"/>
              <a:sym typeface="+mn-lt"/>
            </a:endParaRPr>
          </a:p>
        </p:txBody>
      </p:sp>
      <p:sp>
        <p:nvSpPr>
          <p:cNvPr id="25" name="ee4pContent1">
            <a:extLst>
              <a:ext uri="{FF2B5EF4-FFF2-40B4-BE49-F238E27FC236}">
                <a16:creationId xmlns:a16="http://schemas.microsoft.com/office/drawing/2014/main" id="{1DCB91C6-0ED8-1534-E090-3C1254A15D4C}"/>
              </a:ext>
            </a:extLst>
          </p:cNvPr>
          <p:cNvSpPr txBox="1"/>
          <p:nvPr/>
        </p:nvSpPr>
        <p:spPr>
          <a:xfrm>
            <a:off x="5921937" y="4041276"/>
            <a:ext cx="3530761" cy="430887"/>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sp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lvl="1">
              <a:buClr>
                <a:schemeClr val="tx2">
                  <a:lumMod val="100000"/>
                </a:schemeClr>
              </a:buClr>
            </a:pPr>
            <a:r>
              <a:rPr lang="zh-TW" altLang="en-US" sz="1400">
                <a:solidFill>
                  <a:schemeClr val="tx1">
                    <a:lumMod val="100000"/>
                  </a:schemeClr>
                </a:solidFill>
                <a:ea typeface="Microsoft YaHei" panose="020B0503020204020204" pitchFamily="34" charset="-122"/>
                <a:sym typeface="+mn-lt"/>
              </a:rPr>
              <a:t>結合客戶</a:t>
            </a:r>
            <a:r>
              <a:rPr lang="zh-TW" altLang="en-US" sz="1400">
                <a:solidFill>
                  <a:srgbClr val="29BA74"/>
                </a:solidFill>
                <a:ea typeface="Microsoft YaHei" panose="020B0503020204020204" pitchFamily="34" charset="-122"/>
                <a:sym typeface="+mn-lt"/>
              </a:rPr>
              <a:t>線上線下</a:t>
            </a:r>
            <a:r>
              <a:rPr lang="zh-TW" altLang="en-US" sz="1400">
                <a:solidFill>
                  <a:schemeClr val="tx1">
                    <a:lumMod val="100000"/>
                  </a:schemeClr>
                </a:solidFill>
                <a:ea typeface="Microsoft YaHei" panose="020B0503020204020204" pitchFamily="34" charset="-122"/>
                <a:sym typeface="+mn-lt"/>
              </a:rPr>
              <a:t>的行為與反饋</a:t>
            </a:r>
            <a:endParaRPr lang="en-US" sz="1400">
              <a:solidFill>
                <a:schemeClr val="tx1">
                  <a:lumMod val="100000"/>
                </a:schemeClr>
              </a:solidFill>
              <a:ea typeface="Microsoft YaHei" panose="020B0503020204020204" pitchFamily="34" charset="-122"/>
              <a:sym typeface="+mn-lt"/>
            </a:endParaRPr>
          </a:p>
          <a:p>
            <a:pPr lvl="1">
              <a:buClr>
                <a:schemeClr val="tx2">
                  <a:lumMod val="100000"/>
                </a:schemeClr>
              </a:buClr>
            </a:pPr>
            <a:r>
              <a:rPr lang="zh-TW" altLang="en-US" sz="1400">
                <a:solidFill>
                  <a:srgbClr val="29BA74"/>
                </a:solidFill>
                <a:ea typeface="Microsoft YaHei" panose="020B0503020204020204" pitchFamily="34" charset="-122"/>
                <a:sym typeface="+mn-lt"/>
              </a:rPr>
              <a:t>反饋自動</a:t>
            </a:r>
            <a:r>
              <a:rPr lang="zh-TW" altLang="en-US" sz="1400">
                <a:solidFill>
                  <a:schemeClr val="tx1">
                    <a:lumMod val="100000"/>
                  </a:schemeClr>
                </a:solidFill>
                <a:ea typeface="Microsoft YaHei" panose="020B0503020204020204" pitchFamily="34" charset="-122"/>
                <a:sym typeface="+mn-lt"/>
              </a:rPr>
              <a:t>輸入預測模型</a:t>
            </a:r>
            <a:endParaRPr lang="en-US" altLang="zh-TW" sz="1400">
              <a:solidFill>
                <a:schemeClr val="tx1">
                  <a:lumMod val="100000"/>
                </a:schemeClr>
              </a:solidFill>
              <a:ea typeface="Microsoft YaHei" panose="020B0503020204020204" pitchFamily="34" charset="-122"/>
              <a:sym typeface="+mn-lt"/>
            </a:endParaRPr>
          </a:p>
        </p:txBody>
      </p:sp>
      <p:sp>
        <p:nvSpPr>
          <p:cNvPr id="26" name="ee4pContent1">
            <a:extLst>
              <a:ext uri="{FF2B5EF4-FFF2-40B4-BE49-F238E27FC236}">
                <a16:creationId xmlns:a16="http://schemas.microsoft.com/office/drawing/2014/main" id="{DEBF3503-2C8A-130A-EC00-25C84AB990FA}"/>
              </a:ext>
            </a:extLst>
          </p:cNvPr>
          <p:cNvSpPr txBox="1"/>
          <p:nvPr/>
        </p:nvSpPr>
        <p:spPr>
          <a:xfrm>
            <a:off x="2213546" y="2346995"/>
            <a:ext cx="3600593" cy="477914"/>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no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lvl="1">
              <a:buClr>
                <a:schemeClr val="tx2">
                  <a:lumMod val="100000"/>
                </a:schemeClr>
              </a:buClr>
            </a:pPr>
            <a:r>
              <a:rPr lang="zh-TW" altLang="en-US" sz="1400">
                <a:solidFill>
                  <a:srgbClr val="575757"/>
                </a:solidFill>
                <a:ea typeface="Microsoft YaHei" panose="020B0503020204020204" pitchFamily="34" charset="-122"/>
                <a:sym typeface="+mn-lt"/>
              </a:rPr>
              <a:t>建立</a:t>
            </a:r>
            <a:r>
              <a:rPr lang="en-US" altLang="zh-TW" sz="1400">
                <a:solidFill>
                  <a:srgbClr val="575757"/>
                </a:solidFill>
                <a:ea typeface="Microsoft YaHei" panose="020B0503020204020204" pitchFamily="34" charset="-122"/>
                <a:sym typeface="+mn-lt"/>
              </a:rPr>
              <a:t>M</a:t>
            </a:r>
            <a:r>
              <a:rPr lang="zh-TW" altLang="en-US" sz="1400">
                <a:solidFill>
                  <a:srgbClr val="575757"/>
                </a:solidFill>
                <a:ea typeface="Microsoft YaHei" panose="020B0503020204020204" pitchFamily="34" charset="-122"/>
                <a:sym typeface="+mn-lt"/>
              </a:rPr>
              <a:t>客</a:t>
            </a:r>
            <a:r>
              <a:rPr lang="zh-TW" altLang="en-US" sz="1400">
                <a:solidFill>
                  <a:srgbClr val="29BA74"/>
                </a:solidFill>
                <a:ea typeface="Microsoft YaHei" panose="020B0503020204020204" pitchFamily="34" charset="-122"/>
                <a:sym typeface="+mn-lt"/>
              </a:rPr>
              <a:t>激活、跨售、升等預測模型</a:t>
            </a:r>
            <a:endParaRPr lang="en-US" altLang="zh-TW" sz="1400">
              <a:solidFill>
                <a:srgbClr val="29BA74"/>
              </a:solidFill>
              <a:ea typeface="Microsoft YaHei" panose="020B0503020204020204" pitchFamily="34" charset="-122"/>
              <a:sym typeface="+mn-lt"/>
            </a:endParaRPr>
          </a:p>
        </p:txBody>
      </p:sp>
      <p:sp>
        <p:nvSpPr>
          <p:cNvPr id="27" name="ee4pContent1">
            <a:extLst>
              <a:ext uri="{FF2B5EF4-FFF2-40B4-BE49-F238E27FC236}">
                <a16:creationId xmlns:a16="http://schemas.microsoft.com/office/drawing/2014/main" id="{8E7CB11A-5CEB-A638-CF77-77587F51BFB3}"/>
              </a:ext>
            </a:extLst>
          </p:cNvPr>
          <p:cNvSpPr txBox="1"/>
          <p:nvPr/>
        </p:nvSpPr>
        <p:spPr>
          <a:xfrm>
            <a:off x="2213547" y="3086414"/>
            <a:ext cx="3600593" cy="646331"/>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sp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lvl="1" defTabSz="829544">
              <a:buClr>
                <a:schemeClr val="tx2">
                  <a:lumMod val="100000"/>
                </a:schemeClr>
              </a:buClr>
            </a:pPr>
            <a:r>
              <a:rPr lang="zh-TW" altLang="en-US" sz="1400">
                <a:solidFill>
                  <a:schemeClr val="tx1">
                    <a:lumMod val="100000"/>
                  </a:schemeClr>
                </a:solidFill>
                <a:ea typeface="Microsoft YaHei" panose="020B0503020204020204" pitchFamily="34" charset="-122"/>
                <a:sym typeface="+mn-lt"/>
              </a:rPr>
              <a:t>建立優先特定情境</a:t>
            </a:r>
            <a:r>
              <a:rPr lang="zh-TW" altLang="en-US" sz="1400">
                <a:solidFill>
                  <a:srgbClr val="29BA74"/>
                </a:solidFill>
                <a:ea typeface="Microsoft YaHei" panose="020B0503020204020204" pitchFamily="34" charset="-122"/>
                <a:sym typeface="+mn-lt"/>
              </a:rPr>
              <a:t>端到端組合</a:t>
            </a:r>
            <a:r>
              <a:rPr lang="zh-TW" altLang="en-US" sz="1400">
                <a:solidFill>
                  <a:schemeClr val="tx1">
                    <a:lumMod val="100000"/>
                  </a:schemeClr>
                </a:solidFill>
                <a:ea typeface="Microsoft YaHei" panose="020B0503020204020204" pitchFamily="34" charset="-122"/>
                <a:sym typeface="+mn-lt"/>
              </a:rPr>
              <a:t> </a:t>
            </a:r>
            <a:r>
              <a:rPr lang="en-US" altLang="zh-TW" sz="1400">
                <a:solidFill>
                  <a:schemeClr val="tx1">
                    <a:lumMod val="100000"/>
                  </a:schemeClr>
                </a:solidFill>
                <a:ea typeface="Microsoft YaHei" panose="020B0503020204020204" pitchFamily="34" charset="-122"/>
                <a:sym typeface="+mn-lt"/>
              </a:rPr>
              <a:t>(</a:t>
            </a:r>
            <a:r>
              <a:rPr lang="zh-TW" altLang="en-US" sz="1400">
                <a:solidFill>
                  <a:schemeClr val="tx1">
                    <a:lumMod val="100000"/>
                  </a:schemeClr>
                </a:solidFill>
                <a:ea typeface="Microsoft YaHei" panose="020B0503020204020204" pitchFamily="34" charset="-122"/>
                <a:sym typeface="+mn-lt"/>
              </a:rPr>
              <a:t>觸發點、優惠訊息等</a:t>
            </a:r>
            <a:r>
              <a:rPr lang="en-US" altLang="zh-TW" sz="1400">
                <a:solidFill>
                  <a:schemeClr val="tx1">
                    <a:lumMod val="100000"/>
                  </a:schemeClr>
                </a:solidFill>
                <a:ea typeface="Microsoft YaHei" panose="020B0503020204020204" pitchFamily="34" charset="-122"/>
                <a:sym typeface="+mn-lt"/>
              </a:rPr>
              <a:t>)</a:t>
            </a:r>
          </a:p>
          <a:p>
            <a:pPr lvl="1" defTabSz="829544">
              <a:buClr>
                <a:schemeClr val="tx2">
                  <a:lumMod val="100000"/>
                </a:schemeClr>
              </a:buClr>
            </a:pPr>
            <a:r>
              <a:rPr lang="zh-TW" altLang="en-US" sz="1400">
                <a:solidFill>
                  <a:schemeClr val="tx1">
                    <a:lumMod val="100000"/>
                  </a:schemeClr>
                </a:solidFill>
                <a:ea typeface="Microsoft YaHei" panose="020B0503020204020204" pitchFamily="34" charset="-122"/>
                <a:sym typeface="+mn-lt"/>
              </a:rPr>
              <a:t>打造自動化模型所需的業務邏輯輸入</a:t>
            </a:r>
            <a:endParaRPr lang="en-ZA" altLang="zh-TW" sz="1400">
              <a:solidFill>
                <a:schemeClr val="tx1">
                  <a:lumMod val="100000"/>
                </a:schemeClr>
              </a:solidFill>
              <a:ea typeface="Microsoft YaHei" panose="020B0503020204020204" pitchFamily="34" charset="-122"/>
              <a:sym typeface="+mn-lt"/>
            </a:endParaRPr>
          </a:p>
        </p:txBody>
      </p:sp>
      <p:sp>
        <p:nvSpPr>
          <p:cNvPr id="28" name="ee4pContent1">
            <a:extLst>
              <a:ext uri="{FF2B5EF4-FFF2-40B4-BE49-F238E27FC236}">
                <a16:creationId xmlns:a16="http://schemas.microsoft.com/office/drawing/2014/main" id="{EFF4DDF2-B32B-2550-4F27-20F45AAF750C}"/>
              </a:ext>
            </a:extLst>
          </p:cNvPr>
          <p:cNvSpPr txBox="1"/>
          <p:nvPr/>
        </p:nvSpPr>
        <p:spPr>
          <a:xfrm>
            <a:off x="2213547" y="4797846"/>
            <a:ext cx="3600593" cy="430887"/>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sp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lvl="1" defTabSz="829544">
              <a:buClr>
                <a:schemeClr val="tx2">
                  <a:lumMod val="100000"/>
                </a:schemeClr>
              </a:buClr>
            </a:pPr>
            <a:r>
              <a:rPr lang="zh-TW" altLang="en-US" sz="1400">
                <a:solidFill>
                  <a:schemeClr val="tx1">
                    <a:lumMod val="100000"/>
                  </a:schemeClr>
                </a:solidFill>
                <a:ea typeface="Microsoft YaHei" panose="020B0503020204020204" pitchFamily="34" charset="-122"/>
                <a:sym typeface="+mn-lt"/>
              </a:rPr>
              <a:t>基礎行銷通路 </a:t>
            </a:r>
            <a:r>
              <a:rPr lang="en-US" altLang="zh-TW" sz="1400">
                <a:solidFill>
                  <a:schemeClr val="tx1">
                    <a:lumMod val="100000"/>
                  </a:schemeClr>
                </a:solidFill>
                <a:ea typeface="Microsoft YaHei" panose="020B0503020204020204" pitchFamily="34" charset="-122"/>
                <a:sym typeface="+mn-lt"/>
              </a:rPr>
              <a:t>(</a:t>
            </a:r>
            <a:r>
              <a:rPr lang="zh-TW" altLang="en-US" sz="1400">
                <a:solidFill>
                  <a:schemeClr val="tx1">
                    <a:lumMod val="100000"/>
                  </a:schemeClr>
                </a:solidFill>
                <a:ea typeface="Microsoft YaHei" panose="020B0503020204020204" pitchFamily="34" charset="-122"/>
                <a:sym typeface="+mn-lt"/>
              </a:rPr>
              <a:t>如</a:t>
            </a:r>
            <a:r>
              <a:rPr lang="en-US" altLang="zh-TW" sz="1400">
                <a:solidFill>
                  <a:schemeClr val="tx1">
                    <a:lumMod val="100000"/>
                  </a:schemeClr>
                </a:solidFill>
                <a:ea typeface="Microsoft YaHei" panose="020B0503020204020204" pitchFamily="34" charset="-122"/>
                <a:sym typeface="+mn-lt"/>
              </a:rPr>
              <a:t>: e-mail)</a:t>
            </a:r>
            <a:r>
              <a:rPr lang="zh-TW" altLang="en-US" sz="1400">
                <a:solidFill>
                  <a:schemeClr val="tx1">
                    <a:lumMod val="100000"/>
                  </a:schemeClr>
                </a:solidFill>
                <a:ea typeface="Microsoft YaHei" panose="020B0503020204020204" pitchFamily="34" charset="-122"/>
                <a:sym typeface="+mn-lt"/>
              </a:rPr>
              <a:t>的</a:t>
            </a:r>
            <a:r>
              <a:rPr lang="zh-TW" altLang="en-US" sz="1400">
                <a:solidFill>
                  <a:srgbClr val="29BA74"/>
                </a:solidFill>
                <a:ea typeface="Microsoft YaHei" panose="020B0503020204020204" pitchFamily="34" charset="-122"/>
                <a:sym typeface="+mn-lt"/>
              </a:rPr>
              <a:t>端到端系統串聯</a:t>
            </a:r>
            <a:r>
              <a:rPr lang="zh-TW" altLang="en-US" sz="1400">
                <a:solidFill>
                  <a:schemeClr val="tx1">
                    <a:lumMod val="100000"/>
                  </a:schemeClr>
                </a:solidFill>
                <a:ea typeface="Microsoft YaHei" panose="020B0503020204020204" pitchFamily="34" charset="-122"/>
                <a:sym typeface="+mn-lt"/>
              </a:rPr>
              <a:t>，達到</a:t>
            </a:r>
            <a:r>
              <a:rPr lang="zh-TW" altLang="en-US" sz="1400">
                <a:solidFill>
                  <a:srgbClr val="29BA74"/>
                </a:solidFill>
                <a:ea typeface="Microsoft YaHei" panose="020B0503020204020204" pitchFamily="34" charset="-122"/>
                <a:sym typeface="+mn-lt"/>
              </a:rPr>
              <a:t>半自動化</a:t>
            </a:r>
            <a:endParaRPr lang="en-US" altLang="zh-TW" sz="1400">
              <a:solidFill>
                <a:srgbClr val="29BA74"/>
              </a:solidFill>
              <a:ea typeface="Microsoft YaHei" panose="020B0503020204020204" pitchFamily="34" charset="-122"/>
              <a:sym typeface="+mn-lt"/>
            </a:endParaRPr>
          </a:p>
        </p:txBody>
      </p:sp>
      <p:sp>
        <p:nvSpPr>
          <p:cNvPr id="29" name="ee4pContent1">
            <a:extLst>
              <a:ext uri="{FF2B5EF4-FFF2-40B4-BE49-F238E27FC236}">
                <a16:creationId xmlns:a16="http://schemas.microsoft.com/office/drawing/2014/main" id="{BAD9C544-5CC8-A510-BC35-954B6C2638AB}"/>
              </a:ext>
            </a:extLst>
          </p:cNvPr>
          <p:cNvSpPr txBox="1"/>
          <p:nvPr/>
        </p:nvSpPr>
        <p:spPr>
          <a:xfrm>
            <a:off x="2213547" y="5465932"/>
            <a:ext cx="3600593" cy="615556"/>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no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lvl="1">
              <a:buClr>
                <a:schemeClr val="tx2">
                  <a:lumMod val="100000"/>
                </a:schemeClr>
              </a:buClr>
            </a:pPr>
            <a:r>
              <a:rPr lang="zh-TW" altLang="en-US" sz="1400">
                <a:solidFill>
                  <a:schemeClr val="tx1">
                    <a:lumMod val="100000"/>
                  </a:schemeClr>
                </a:solidFill>
                <a:ea typeface="Microsoft YaHei" panose="020B0503020204020204" pitchFamily="34" charset="-122"/>
                <a:sym typeface="+mn-lt"/>
              </a:rPr>
              <a:t>以特定情境</a:t>
            </a:r>
            <a:r>
              <a:rPr lang="en-US" altLang="zh-TW" sz="1400">
                <a:solidFill>
                  <a:schemeClr val="tx1">
                    <a:lumMod val="100000"/>
                  </a:schemeClr>
                </a:solidFill>
                <a:ea typeface="Microsoft YaHei" panose="020B0503020204020204" pitchFamily="34" charset="-122"/>
                <a:sym typeface="+mn-lt"/>
              </a:rPr>
              <a:t>(</a:t>
            </a:r>
            <a:r>
              <a:rPr lang="zh-TW" altLang="en-US" sz="1400">
                <a:solidFill>
                  <a:schemeClr val="tx1">
                    <a:lumMod val="100000"/>
                  </a:schemeClr>
                </a:solidFill>
                <a:ea typeface="Microsoft YaHei" panose="020B0503020204020204" pitchFamily="34" charset="-122"/>
                <a:sym typeface="+mn-lt"/>
              </a:rPr>
              <a:t>如</a:t>
            </a:r>
            <a:r>
              <a:rPr lang="en-US" altLang="zh-TW" sz="1400">
                <a:solidFill>
                  <a:schemeClr val="tx1">
                    <a:lumMod val="100000"/>
                  </a:schemeClr>
                </a:solidFill>
                <a:ea typeface="Microsoft YaHei" panose="020B0503020204020204" pitchFamily="34" charset="-122"/>
                <a:sym typeface="+mn-lt"/>
              </a:rPr>
              <a:t>: </a:t>
            </a:r>
            <a:r>
              <a:rPr lang="zh-TW" altLang="en-US" sz="1400">
                <a:solidFill>
                  <a:schemeClr val="tx1">
                    <a:lumMod val="100000"/>
                  </a:schemeClr>
                </a:solidFill>
                <a:ea typeface="Microsoft YaHei" panose="020B0503020204020204" pitchFamily="34" charset="-122"/>
                <a:sym typeface="+mn-lt"/>
              </a:rPr>
              <a:t>跨售</a:t>
            </a:r>
            <a:r>
              <a:rPr lang="en-US" altLang="zh-TW" sz="1400">
                <a:solidFill>
                  <a:schemeClr val="tx1">
                    <a:lumMod val="100000"/>
                  </a:schemeClr>
                </a:solidFill>
                <a:ea typeface="Microsoft YaHei" panose="020B0503020204020204" pitchFamily="34" charset="-122"/>
                <a:sym typeface="+mn-lt"/>
              </a:rPr>
              <a:t>)</a:t>
            </a:r>
            <a:r>
              <a:rPr lang="zh-TW" altLang="en-US" sz="1400">
                <a:solidFill>
                  <a:schemeClr val="tx1">
                    <a:lumMod val="100000"/>
                  </a:schemeClr>
                </a:solidFill>
                <a:ea typeface="Microsoft YaHei" panose="020B0503020204020204" pitchFamily="34" charset="-122"/>
                <a:sym typeface="+mn-lt"/>
              </a:rPr>
              <a:t>作為試點，建立</a:t>
            </a:r>
            <a:r>
              <a:rPr lang="en-US" altLang="zh-TW" sz="1400">
                <a:solidFill>
                  <a:srgbClr val="29BA74"/>
                </a:solidFill>
                <a:ea typeface="Microsoft YaHei" panose="020B0503020204020204" pitchFamily="34" charset="-122"/>
                <a:sym typeface="+mn-lt"/>
              </a:rPr>
              <a:t>跨</a:t>
            </a:r>
            <a:r>
              <a:rPr lang="zh-TW" altLang="en-US" sz="1400">
                <a:solidFill>
                  <a:srgbClr val="29BA74"/>
                </a:solidFill>
                <a:ea typeface="Microsoft YaHei" panose="020B0503020204020204" pitchFamily="34" charset="-122"/>
                <a:sym typeface="+mn-lt"/>
              </a:rPr>
              <a:t>部門數位經營小組</a:t>
            </a:r>
            <a:r>
              <a:rPr lang="zh-TW" altLang="en-US" sz="1400">
                <a:solidFill>
                  <a:schemeClr val="tx1">
                    <a:lumMod val="100000"/>
                  </a:schemeClr>
                </a:solidFill>
                <a:ea typeface="Microsoft YaHei" panose="020B0503020204020204" pitchFamily="34" charset="-122"/>
                <a:sym typeface="+mn-lt"/>
              </a:rPr>
              <a:t>，各部指派負責同仁協作</a:t>
            </a:r>
            <a:endParaRPr lang="en-US" altLang="zh-TW" sz="1400">
              <a:solidFill>
                <a:schemeClr val="tx1">
                  <a:lumMod val="100000"/>
                </a:schemeClr>
              </a:solidFill>
              <a:ea typeface="Microsoft YaHei" panose="020B0503020204020204" pitchFamily="34" charset="-122"/>
              <a:sym typeface="+mn-lt"/>
            </a:endParaRPr>
          </a:p>
          <a:p>
            <a:pPr lvl="1">
              <a:buClr>
                <a:schemeClr val="tx2">
                  <a:lumMod val="100000"/>
                </a:schemeClr>
              </a:buClr>
            </a:pPr>
            <a:r>
              <a:rPr lang="zh-TW" altLang="en-US" sz="1400">
                <a:solidFill>
                  <a:srgbClr val="575757"/>
                </a:solidFill>
                <a:ea typeface="Microsoft YaHei" panose="020B0503020204020204" pitchFamily="34" charset="-122"/>
                <a:sym typeface="+mn-lt"/>
              </a:rPr>
              <a:t>具備</a:t>
            </a:r>
            <a:r>
              <a:rPr lang="zh-TW" altLang="en-US" sz="1400">
                <a:solidFill>
                  <a:srgbClr val="29BA74"/>
                </a:solidFill>
                <a:ea typeface="Microsoft YaHei" panose="020B0503020204020204" pitchFamily="34" charset="-122"/>
                <a:sym typeface="+mn-lt"/>
              </a:rPr>
              <a:t>數位經營思維</a:t>
            </a:r>
            <a:r>
              <a:rPr lang="zh-TW" altLang="en-US" sz="1400">
                <a:solidFill>
                  <a:schemeClr val="tx1">
                    <a:lumMod val="100000"/>
                  </a:schemeClr>
                </a:solidFill>
                <a:ea typeface="Microsoft YaHei" panose="020B0503020204020204" pitchFamily="34" charset="-122"/>
                <a:sym typeface="+mn-lt"/>
              </a:rPr>
              <a:t>，融入職責及工作模式</a:t>
            </a:r>
            <a:endParaRPr lang="en-US" altLang="zh-TW" sz="1400">
              <a:solidFill>
                <a:schemeClr val="tx1">
                  <a:lumMod val="100000"/>
                </a:schemeClr>
              </a:solidFill>
              <a:ea typeface="Microsoft YaHei" panose="020B0503020204020204" pitchFamily="34" charset="-122"/>
              <a:sym typeface="+mn-lt"/>
            </a:endParaRPr>
          </a:p>
        </p:txBody>
      </p:sp>
      <p:sp>
        <p:nvSpPr>
          <p:cNvPr id="30" name="ee4pContent1">
            <a:extLst>
              <a:ext uri="{FF2B5EF4-FFF2-40B4-BE49-F238E27FC236}">
                <a16:creationId xmlns:a16="http://schemas.microsoft.com/office/drawing/2014/main" id="{5EA0D371-E6F9-CDBF-0FBA-77703C86C543}"/>
              </a:ext>
            </a:extLst>
          </p:cNvPr>
          <p:cNvSpPr txBox="1"/>
          <p:nvPr/>
        </p:nvSpPr>
        <p:spPr>
          <a:xfrm>
            <a:off x="2213546" y="1823020"/>
            <a:ext cx="3600593" cy="430887"/>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sp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lvl="1">
              <a:buClr>
                <a:schemeClr val="tx2">
                  <a:lumMod val="100000"/>
                </a:schemeClr>
              </a:buClr>
            </a:pPr>
            <a:r>
              <a:rPr lang="zh-TW" altLang="en-US" sz="1400">
                <a:solidFill>
                  <a:srgbClr val="29BA74"/>
                </a:solidFill>
                <a:ea typeface="Microsoft YaHei" panose="020B0503020204020204" pitchFamily="34" charset="-122"/>
                <a:sym typeface="+mn-lt"/>
              </a:rPr>
              <a:t>整合行內資訊</a:t>
            </a:r>
            <a:r>
              <a:rPr lang="zh-TW" altLang="en-US" sz="1400">
                <a:solidFill>
                  <a:schemeClr val="tx1">
                    <a:lumMod val="100000"/>
                  </a:schemeClr>
                </a:solidFill>
                <a:ea typeface="Microsoft YaHei" panose="020B0503020204020204" pitchFamily="34" charset="-122"/>
                <a:sym typeface="+mn-lt"/>
              </a:rPr>
              <a:t>，含畫像、互動、偏好等</a:t>
            </a:r>
            <a:endParaRPr lang="en-US" altLang="zh-TW" sz="1400">
              <a:solidFill>
                <a:schemeClr val="tx1">
                  <a:lumMod val="100000"/>
                </a:schemeClr>
              </a:solidFill>
              <a:ea typeface="Microsoft YaHei" panose="020B0503020204020204" pitchFamily="34" charset="-122"/>
              <a:sym typeface="+mn-lt"/>
            </a:endParaRPr>
          </a:p>
          <a:p>
            <a:pPr lvl="1">
              <a:buClr>
                <a:schemeClr val="tx2">
                  <a:lumMod val="100000"/>
                </a:schemeClr>
              </a:buClr>
            </a:pPr>
            <a:r>
              <a:rPr lang="zh-TW" altLang="en-US" sz="1400">
                <a:solidFill>
                  <a:srgbClr val="29BA74"/>
                </a:solidFill>
              </a:rPr>
              <a:t>數據治理</a:t>
            </a:r>
            <a:r>
              <a:rPr lang="zh-TW" altLang="en-US" sz="1400">
                <a:solidFill>
                  <a:srgbClr val="29BA74"/>
                </a:solidFill>
                <a:latin typeface="Trebuchet MS" panose="020B0603020202020204" pitchFamily="34" charset="0"/>
                <a:ea typeface="Microsoft YaHei" panose="020B0503020204020204" pitchFamily="34" charset="-122"/>
              </a:rPr>
              <a:t>：</a:t>
            </a:r>
            <a:r>
              <a:rPr lang="zh-TW" altLang="en-US" sz="1400"/>
              <a:t>確保數據收集、存儲和合規性</a:t>
            </a:r>
            <a:endParaRPr lang="en-US" sz="1400">
              <a:solidFill>
                <a:srgbClr val="29BA74"/>
              </a:solidFill>
              <a:ea typeface="Microsoft YaHei" panose="020B0503020204020204" pitchFamily="34" charset="-122"/>
              <a:sym typeface="+mn-lt"/>
            </a:endParaRPr>
          </a:p>
        </p:txBody>
      </p:sp>
      <p:sp>
        <p:nvSpPr>
          <p:cNvPr id="31" name="ee4pContent1">
            <a:extLst>
              <a:ext uri="{FF2B5EF4-FFF2-40B4-BE49-F238E27FC236}">
                <a16:creationId xmlns:a16="http://schemas.microsoft.com/office/drawing/2014/main" id="{15EC7625-CE05-F03A-987C-278F17261D74}"/>
              </a:ext>
            </a:extLst>
          </p:cNvPr>
          <p:cNvSpPr txBox="1"/>
          <p:nvPr/>
        </p:nvSpPr>
        <p:spPr>
          <a:xfrm>
            <a:off x="2213546" y="4041276"/>
            <a:ext cx="3600593" cy="646331"/>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sp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lvl="1">
              <a:buClr>
                <a:schemeClr val="tx2">
                  <a:lumMod val="100000"/>
                </a:schemeClr>
              </a:buClr>
            </a:pPr>
            <a:r>
              <a:rPr lang="zh-TW" altLang="en-US" sz="1400">
                <a:solidFill>
                  <a:srgbClr val="29BA74"/>
                </a:solidFill>
                <a:ea typeface="Microsoft YaHei" panose="020B0503020204020204" pitchFamily="34" charset="-122"/>
                <a:sym typeface="+mn-lt"/>
              </a:rPr>
              <a:t>人工分析</a:t>
            </a:r>
            <a:r>
              <a:rPr lang="zh-TW" altLang="en-US" sz="1400">
                <a:solidFill>
                  <a:schemeClr val="tx1">
                    <a:lumMod val="100000"/>
                  </a:schemeClr>
                </a:solidFill>
                <a:ea typeface="Microsoft YaHei" panose="020B0503020204020204" pitchFamily="34" charset="-122"/>
                <a:sym typeface="+mn-lt"/>
              </a:rPr>
              <a:t>行銷成效 </a:t>
            </a:r>
            <a:r>
              <a:rPr lang="en-US" altLang="zh-TW" sz="1400">
                <a:solidFill>
                  <a:schemeClr val="tx1">
                    <a:lumMod val="100000"/>
                  </a:schemeClr>
                </a:solidFill>
                <a:ea typeface="Microsoft YaHei" panose="020B0503020204020204" pitchFamily="34" charset="-122"/>
                <a:sym typeface="+mn-lt"/>
              </a:rPr>
              <a:t>(</a:t>
            </a:r>
            <a:r>
              <a:rPr lang="zh-TW" altLang="en-US" sz="1400">
                <a:solidFill>
                  <a:schemeClr val="tx1">
                    <a:lumMod val="100000"/>
                  </a:schemeClr>
                </a:solidFill>
                <a:ea typeface="Microsoft YaHei" panose="020B0503020204020204" pitchFamily="34" charset="-122"/>
                <a:sym typeface="+mn-lt"/>
              </a:rPr>
              <a:t>包括反應率、轉化率、財務影響等</a:t>
            </a:r>
            <a:r>
              <a:rPr lang="en-US" altLang="zh-TW" sz="1400">
                <a:solidFill>
                  <a:schemeClr val="tx1">
                    <a:lumMod val="100000"/>
                  </a:schemeClr>
                </a:solidFill>
                <a:ea typeface="Microsoft YaHei" panose="020B0503020204020204" pitchFamily="34" charset="-122"/>
                <a:sym typeface="+mn-lt"/>
              </a:rPr>
              <a:t>)</a:t>
            </a:r>
          </a:p>
          <a:p>
            <a:pPr lvl="1">
              <a:buClr>
                <a:schemeClr val="tx2">
                  <a:lumMod val="100000"/>
                </a:schemeClr>
              </a:buClr>
            </a:pPr>
            <a:r>
              <a:rPr lang="zh-TW" altLang="en-US" sz="1400">
                <a:solidFill>
                  <a:schemeClr val="tx1">
                    <a:lumMod val="100000"/>
                  </a:schemeClr>
                </a:solidFill>
                <a:ea typeface="Microsoft YaHei" panose="020B0503020204020204" pitchFamily="34" charset="-122"/>
                <a:sym typeface="+mn-lt"/>
              </a:rPr>
              <a:t>蒐集客戶反饋，手動調整模型</a:t>
            </a:r>
            <a:endParaRPr lang="en-US" sz="1400">
              <a:solidFill>
                <a:schemeClr val="tx1">
                  <a:lumMod val="100000"/>
                </a:schemeClr>
              </a:solidFill>
              <a:ea typeface="Microsoft YaHei" panose="020B0503020204020204" pitchFamily="34" charset="-122"/>
              <a:sym typeface="+mn-lt"/>
            </a:endParaRPr>
          </a:p>
        </p:txBody>
      </p:sp>
      <p:sp>
        <p:nvSpPr>
          <p:cNvPr id="46" name="Oval 20">
            <a:extLst>
              <a:ext uri="{FF2B5EF4-FFF2-40B4-BE49-F238E27FC236}">
                <a16:creationId xmlns:a16="http://schemas.microsoft.com/office/drawing/2014/main" id="{80F88A7D-0248-C2AB-F623-6CD4758DB453}"/>
              </a:ext>
            </a:extLst>
          </p:cNvPr>
          <p:cNvSpPr>
            <a:spLocks noChangeAspect="1" noChangeArrowheads="1"/>
          </p:cNvSpPr>
          <p:nvPr/>
        </p:nvSpPr>
        <p:spPr bwMode="auto">
          <a:xfrm>
            <a:off x="325853" y="1966012"/>
            <a:ext cx="238259" cy="238259"/>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altLang="zh-TW" sz="1200">
                <a:solidFill>
                  <a:schemeClr val="bg1"/>
                </a:solidFill>
              </a:rPr>
              <a:t>A</a:t>
            </a:r>
            <a:endParaRPr lang="en-US" sz="1200">
              <a:solidFill>
                <a:schemeClr val="bg1"/>
              </a:solidFill>
            </a:endParaRPr>
          </a:p>
        </p:txBody>
      </p:sp>
      <p:sp>
        <p:nvSpPr>
          <p:cNvPr id="50" name="Oval 20">
            <a:extLst>
              <a:ext uri="{FF2B5EF4-FFF2-40B4-BE49-F238E27FC236}">
                <a16:creationId xmlns:a16="http://schemas.microsoft.com/office/drawing/2014/main" id="{1950CC92-E2BB-1640-30A5-83ACEF6129DB}"/>
              </a:ext>
            </a:extLst>
          </p:cNvPr>
          <p:cNvSpPr>
            <a:spLocks noChangeAspect="1" noChangeArrowheads="1"/>
          </p:cNvSpPr>
          <p:nvPr/>
        </p:nvSpPr>
        <p:spPr bwMode="auto">
          <a:xfrm>
            <a:off x="325853" y="2521424"/>
            <a:ext cx="238259" cy="238259"/>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altLang="zh-TW" sz="1200">
                <a:solidFill>
                  <a:schemeClr val="bg1"/>
                </a:solidFill>
              </a:rPr>
              <a:t>B</a:t>
            </a:r>
            <a:endParaRPr lang="en-US" sz="1200">
              <a:solidFill>
                <a:schemeClr val="bg1"/>
              </a:solidFill>
            </a:endParaRPr>
          </a:p>
        </p:txBody>
      </p:sp>
      <p:sp>
        <p:nvSpPr>
          <p:cNvPr id="51" name="Oval 20">
            <a:extLst>
              <a:ext uri="{FF2B5EF4-FFF2-40B4-BE49-F238E27FC236}">
                <a16:creationId xmlns:a16="http://schemas.microsoft.com/office/drawing/2014/main" id="{3F172A1C-6510-AC16-33C5-3358A7B8969E}"/>
              </a:ext>
            </a:extLst>
          </p:cNvPr>
          <p:cNvSpPr>
            <a:spLocks noChangeAspect="1" noChangeArrowheads="1"/>
          </p:cNvSpPr>
          <p:nvPr/>
        </p:nvSpPr>
        <p:spPr bwMode="auto">
          <a:xfrm>
            <a:off x="325853" y="3274585"/>
            <a:ext cx="238259" cy="238259"/>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altLang="zh-TW" sz="1200">
                <a:solidFill>
                  <a:schemeClr val="bg1"/>
                </a:solidFill>
              </a:rPr>
              <a:t>C</a:t>
            </a:r>
            <a:endParaRPr lang="en-US" sz="1200">
              <a:solidFill>
                <a:schemeClr val="bg1"/>
              </a:solidFill>
            </a:endParaRPr>
          </a:p>
        </p:txBody>
      </p:sp>
      <p:sp>
        <p:nvSpPr>
          <p:cNvPr id="52" name="Oval 20">
            <a:extLst>
              <a:ext uri="{FF2B5EF4-FFF2-40B4-BE49-F238E27FC236}">
                <a16:creationId xmlns:a16="http://schemas.microsoft.com/office/drawing/2014/main" id="{393A54AF-BBDD-D214-3E75-90D0AD6584D1}"/>
              </a:ext>
            </a:extLst>
          </p:cNvPr>
          <p:cNvSpPr>
            <a:spLocks noChangeAspect="1" noChangeArrowheads="1"/>
          </p:cNvSpPr>
          <p:nvPr/>
        </p:nvSpPr>
        <p:spPr bwMode="auto">
          <a:xfrm>
            <a:off x="325853" y="4222860"/>
            <a:ext cx="238259" cy="238259"/>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altLang="zh-TW" sz="1200">
                <a:solidFill>
                  <a:schemeClr val="bg1"/>
                </a:solidFill>
              </a:rPr>
              <a:t>D</a:t>
            </a:r>
            <a:endParaRPr lang="en-US" sz="1200">
              <a:solidFill>
                <a:schemeClr val="bg1"/>
              </a:solidFill>
            </a:endParaRPr>
          </a:p>
        </p:txBody>
      </p:sp>
      <p:sp>
        <p:nvSpPr>
          <p:cNvPr id="53" name="Oval 20">
            <a:extLst>
              <a:ext uri="{FF2B5EF4-FFF2-40B4-BE49-F238E27FC236}">
                <a16:creationId xmlns:a16="http://schemas.microsoft.com/office/drawing/2014/main" id="{6FCCCE6F-0CA4-F114-B2D4-39ACFF939D68}"/>
              </a:ext>
            </a:extLst>
          </p:cNvPr>
          <p:cNvSpPr>
            <a:spLocks noChangeAspect="1" noChangeArrowheads="1"/>
          </p:cNvSpPr>
          <p:nvPr/>
        </p:nvSpPr>
        <p:spPr bwMode="auto">
          <a:xfrm>
            <a:off x="325853" y="5498095"/>
            <a:ext cx="238259" cy="238259"/>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altLang="zh-TW" sz="1200">
                <a:solidFill>
                  <a:schemeClr val="bg1"/>
                </a:solidFill>
              </a:rPr>
              <a:t>F</a:t>
            </a:r>
            <a:endParaRPr lang="en-US" sz="1200">
              <a:solidFill>
                <a:schemeClr val="bg1"/>
              </a:solidFill>
            </a:endParaRPr>
          </a:p>
        </p:txBody>
      </p:sp>
      <p:sp>
        <p:nvSpPr>
          <p:cNvPr id="54" name="Oval 20">
            <a:extLst>
              <a:ext uri="{FF2B5EF4-FFF2-40B4-BE49-F238E27FC236}">
                <a16:creationId xmlns:a16="http://schemas.microsoft.com/office/drawing/2014/main" id="{B1972255-82BA-CB05-EA05-B823C0338580}"/>
              </a:ext>
            </a:extLst>
          </p:cNvPr>
          <p:cNvSpPr>
            <a:spLocks noChangeAspect="1" noChangeArrowheads="1"/>
          </p:cNvSpPr>
          <p:nvPr/>
        </p:nvSpPr>
        <p:spPr bwMode="auto">
          <a:xfrm>
            <a:off x="325853" y="4894158"/>
            <a:ext cx="238259" cy="238259"/>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altLang="zh-TW" sz="1200">
                <a:solidFill>
                  <a:schemeClr val="bg1"/>
                </a:solidFill>
              </a:rPr>
              <a:t>E</a:t>
            </a:r>
            <a:endParaRPr lang="en-US" sz="1200">
              <a:solidFill>
                <a:schemeClr val="bg1"/>
              </a:solidFill>
            </a:endParaRPr>
          </a:p>
        </p:txBody>
      </p:sp>
      <p:cxnSp>
        <p:nvCxnSpPr>
          <p:cNvPr id="56" name="Straight Connector 55">
            <a:extLst>
              <a:ext uri="{FF2B5EF4-FFF2-40B4-BE49-F238E27FC236}">
                <a16:creationId xmlns:a16="http://schemas.microsoft.com/office/drawing/2014/main" id="{E103552F-E93D-2CDA-8493-0ED1B00C7241}"/>
              </a:ext>
            </a:extLst>
          </p:cNvPr>
          <p:cNvCxnSpPr/>
          <p:nvPr/>
        </p:nvCxnSpPr>
        <p:spPr>
          <a:xfrm>
            <a:off x="673485" y="1781930"/>
            <a:ext cx="1528135" cy="0"/>
          </a:xfrm>
          <a:prstGeom prst="line">
            <a:avLst/>
          </a:prstGeom>
          <a:ln w="9525" cap="rnd">
            <a:solidFill>
              <a:schemeClr val="accent1"/>
            </a:solidFill>
            <a:prstDash val="solid"/>
            <a:round/>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84A9B979-7406-9B96-5602-CC870835867B}"/>
              </a:ext>
            </a:extLst>
          </p:cNvPr>
          <p:cNvCxnSpPr>
            <a:cxnSpLocks/>
          </p:cNvCxnSpPr>
          <p:nvPr/>
        </p:nvCxnSpPr>
        <p:spPr>
          <a:xfrm>
            <a:off x="2401217" y="1781930"/>
            <a:ext cx="3412922" cy="0"/>
          </a:xfrm>
          <a:prstGeom prst="line">
            <a:avLst/>
          </a:prstGeom>
          <a:ln w="9525" cap="rnd">
            <a:solidFill>
              <a:schemeClr val="accent1"/>
            </a:solidFill>
            <a:prstDash val="solid"/>
            <a:round/>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5D1F2AE8-D5ED-8045-F4D5-F00086C2EBE1}"/>
              </a:ext>
            </a:extLst>
          </p:cNvPr>
          <p:cNvCxnSpPr>
            <a:cxnSpLocks/>
          </p:cNvCxnSpPr>
          <p:nvPr/>
        </p:nvCxnSpPr>
        <p:spPr>
          <a:xfrm>
            <a:off x="6063712" y="1781930"/>
            <a:ext cx="3388985" cy="0"/>
          </a:xfrm>
          <a:prstGeom prst="line">
            <a:avLst/>
          </a:prstGeom>
          <a:ln w="9525" cap="rnd">
            <a:solidFill>
              <a:schemeClr val="accent1"/>
            </a:solidFill>
            <a:prstDash val="solid"/>
            <a:round/>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8391C264-27DA-71E1-6C90-F947D2CAF1B7}"/>
              </a:ext>
            </a:extLst>
          </p:cNvPr>
          <p:cNvCxnSpPr>
            <a:cxnSpLocks/>
          </p:cNvCxnSpPr>
          <p:nvPr/>
        </p:nvCxnSpPr>
        <p:spPr>
          <a:xfrm>
            <a:off x="9579653" y="1781930"/>
            <a:ext cx="1939851" cy="0"/>
          </a:xfrm>
          <a:prstGeom prst="line">
            <a:avLst/>
          </a:prstGeom>
          <a:ln w="9525" cap="rnd">
            <a:solidFill>
              <a:schemeClr val="accent1"/>
            </a:solidFill>
            <a:prstDash val="solid"/>
            <a:round/>
          </a:ln>
        </p:spPr>
        <p:style>
          <a:lnRef idx="1">
            <a:schemeClr val="accent1"/>
          </a:lnRef>
          <a:fillRef idx="0">
            <a:schemeClr val="accent1"/>
          </a:fillRef>
          <a:effectRef idx="0">
            <a:schemeClr val="accent1"/>
          </a:effectRef>
          <a:fontRef idx="minor">
            <a:schemeClr val="tx1"/>
          </a:fontRef>
        </p:style>
      </p:cxnSp>
      <p:sp>
        <p:nvSpPr>
          <p:cNvPr id="32" name="Oval 20">
            <a:extLst>
              <a:ext uri="{FF2B5EF4-FFF2-40B4-BE49-F238E27FC236}">
                <a16:creationId xmlns:a16="http://schemas.microsoft.com/office/drawing/2014/main" id="{E49E1089-1E71-BD02-2583-E23EDFA05E4C}"/>
              </a:ext>
            </a:extLst>
          </p:cNvPr>
          <p:cNvSpPr>
            <a:spLocks noChangeAspect="1" noChangeArrowheads="1"/>
          </p:cNvSpPr>
          <p:nvPr/>
        </p:nvSpPr>
        <p:spPr bwMode="auto">
          <a:xfrm>
            <a:off x="186544" y="98006"/>
            <a:ext cx="299290" cy="299290"/>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sz="1200">
                <a:solidFill>
                  <a:schemeClr val="bg1"/>
                </a:solidFill>
                <a:ea typeface="Microsoft YaHei" panose="020B0503020204020204" pitchFamily="34" charset="-122"/>
              </a:rPr>
              <a:t>1</a:t>
            </a:r>
          </a:p>
        </p:txBody>
      </p:sp>
      <p:sp>
        <p:nvSpPr>
          <p:cNvPr id="33" name="TextBox 32">
            <a:extLst>
              <a:ext uri="{FF2B5EF4-FFF2-40B4-BE49-F238E27FC236}">
                <a16:creationId xmlns:a16="http://schemas.microsoft.com/office/drawing/2014/main" id="{8072B14A-B7C1-B89E-F265-B2A4A6521FD3}"/>
              </a:ext>
            </a:extLst>
          </p:cNvPr>
          <p:cNvSpPr txBox="1"/>
          <p:nvPr/>
        </p:nvSpPr>
        <p:spPr>
          <a:xfrm>
            <a:off x="490697" y="128208"/>
            <a:ext cx="2217333" cy="276999"/>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a:spAutoFit/>
          </a:bodyPr>
          <a:lstStyle/>
          <a:p>
            <a:r>
              <a:rPr lang="zh-TW" altLang="en-US" sz="1200">
                <a:solidFill>
                  <a:srgbClr val="575757"/>
                </a:solidFill>
                <a:latin typeface="Trebuchet MS" panose="020B0603020202020204" pitchFamily="34" charset="0"/>
                <a:ea typeface="Microsoft YaHei" panose="020B0503020204020204" pitchFamily="34" charset="-122"/>
              </a:rPr>
              <a:t>優化預測模型，個性化經營</a:t>
            </a:r>
            <a:endParaRPr lang="en-US" sz="1200">
              <a:solidFill>
                <a:srgbClr val="575757"/>
              </a:solidFill>
              <a:ea typeface="Microsoft YaHei" panose="020B0503020204020204" pitchFamily="34" charset="-122"/>
            </a:endParaRPr>
          </a:p>
        </p:txBody>
      </p:sp>
      <p:sp>
        <p:nvSpPr>
          <p:cNvPr id="55" name="ee4pContent1">
            <a:extLst>
              <a:ext uri="{FF2B5EF4-FFF2-40B4-BE49-F238E27FC236}">
                <a16:creationId xmlns:a16="http://schemas.microsoft.com/office/drawing/2014/main" id="{EA233F5F-8BCE-29E5-8E8B-B8DF995159B6}"/>
              </a:ext>
            </a:extLst>
          </p:cNvPr>
          <p:cNvSpPr txBox="1"/>
          <p:nvPr/>
        </p:nvSpPr>
        <p:spPr>
          <a:xfrm>
            <a:off x="10067144" y="1823020"/>
            <a:ext cx="1515491" cy="387798"/>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sp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a:lnSpc>
                <a:spcPct val="90000"/>
              </a:lnSpc>
              <a:spcAft>
                <a:spcPts val="600"/>
              </a:spcAft>
            </a:pPr>
            <a:r>
              <a:rPr lang="zh-TW" altLang="en-US" sz="1400">
                <a:solidFill>
                  <a:schemeClr val="tx1">
                    <a:lumMod val="100000"/>
                  </a:schemeClr>
                </a:solidFill>
                <a:ea typeface="Microsoft YaHei" panose="020B0503020204020204" pitchFamily="34" charset="-122"/>
                <a:sym typeface="Trebuchet MS" panose="020B0603020202020204" pitchFamily="34" charset="0"/>
              </a:rPr>
              <a:t>已涵蓋超過</a:t>
            </a:r>
            <a:r>
              <a:rPr lang="en-US" altLang="zh-TW" sz="1400">
                <a:solidFill>
                  <a:schemeClr val="tx1">
                    <a:lumMod val="100000"/>
                  </a:schemeClr>
                </a:solidFill>
                <a:ea typeface="Microsoft YaHei" panose="020B0503020204020204" pitchFamily="34" charset="-122"/>
                <a:sym typeface="Trebuchet MS" panose="020B0603020202020204" pitchFamily="34" charset="0"/>
              </a:rPr>
              <a:t>100</a:t>
            </a:r>
            <a:r>
              <a:rPr lang="zh-TW" altLang="en-US" sz="1400">
                <a:solidFill>
                  <a:schemeClr val="tx1">
                    <a:lumMod val="100000"/>
                  </a:schemeClr>
                </a:solidFill>
                <a:ea typeface="Microsoft YaHei" panose="020B0503020204020204" pitchFamily="34" charset="-122"/>
                <a:sym typeface="Trebuchet MS" panose="020B0603020202020204" pitchFamily="34" charset="0"/>
              </a:rPr>
              <a:t>種變數</a:t>
            </a:r>
            <a:r>
              <a:rPr lang="en-US" altLang="zh-TW" sz="1400">
                <a:solidFill>
                  <a:schemeClr val="tx1">
                    <a:lumMod val="100000"/>
                  </a:schemeClr>
                </a:solidFill>
                <a:ea typeface="Microsoft YaHei" panose="020B0503020204020204" pitchFamily="34" charset="-122"/>
                <a:sym typeface="Trebuchet MS" panose="020B0603020202020204" pitchFamily="34" charset="0"/>
              </a:rPr>
              <a:t>;</a:t>
            </a:r>
            <a:r>
              <a:rPr lang="zh-TW" altLang="en-US" sz="1400">
                <a:solidFill>
                  <a:srgbClr val="E71C57"/>
                </a:solidFill>
                <a:latin typeface="Trebuchet MS" panose="020B0603020202020204" pitchFamily="34" charset="0"/>
                <a:ea typeface="Microsoft YaHei" panose="020B0503020204020204" pitchFamily="34" charset="-122"/>
              </a:rPr>
              <a:t>行內數據為主</a:t>
            </a:r>
            <a:endParaRPr lang="en-US" sz="1400">
              <a:solidFill>
                <a:schemeClr val="tx1">
                  <a:lumMod val="100000"/>
                </a:schemeClr>
              </a:solidFill>
              <a:ea typeface="Microsoft YaHei" panose="020B0503020204020204" pitchFamily="34" charset="-122"/>
              <a:sym typeface="Trebuchet MS" panose="020B0603020202020204" pitchFamily="34" charset="0"/>
            </a:endParaRPr>
          </a:p>
        </p:txBody>
      </p:sp>
      <p:sp>
        <p:nvSpPr>
          <p:cNvPr id="58" name="ee4pContent1">
            <a:extLst>
              <a:ext uri="{FF2B5EF4-FFF2-40B4-BE49-F238E27FC236}">
                <a16:creationId xmlns:a16="http://schemas.microsoft.com/office/drawing/2014/main" id="{6F35F32D-97DE-B631-60D2-43214AE8F8E0}"/>
              </a:ext>
            </a:extLst>
          </p:cNvPr>
          <p:cNvSpPr txBox="1"/>
          <p:nvPr/>
        </p:nvSpPr>
        <p:spPr>
          <a:xfrm>
            <a:off x="10067143" y="2384762"/>
            <a:ext cx="1515491" cy="581698"/>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sp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a:lnSpc>
                <a:spcPct val="90000"/>
              </a:lnSpc>
              <a:spcAft>
                <a:spcPts val="600"/>
              </a:spcAft>
            </a:pPr>
            <a:r>
              <a:rPr lang="zh-TW" altLang="en-US" sz="1400">
                <a:solidFill>
                  <a:schemeClr val="tx1">
                    <a:lumMod val="100000"/>
                  </a:schemeClr>
                </a:solidFill>
                <a:ea typeface="Microsoft YaHei" panose="020B0503020204020204" pitchFamily="34" charset="-122"/>
                <a:sym typeface="Trebuchet MS" panose="020B0603020202020204" pitchFamily="34" charset="0"/>
              </a:rPr>
              <a:t>已打造</a:t>
            </a:r>
            <a:r>
              <a:rPr lang="en-US" altLang="zh-TW" sz="1400">
                <a:solidFill>
                  <a:schemeClr val="tx1">
                    <a:lumMod val="100000"/>
                  </a:schemeClr>
                </a:solidFill>
                <a:ea typeface="Microsoft YaHei" panose="020B0503020204020204" pitchFamily="34" charset="-122"/>
                <a:sym typeface="Trebuchet MS" panose="020B0603020202020204" pitchFamily="34" charset="0"/>
              </a:rPr>
              <a:t>M</a:t>
            </a:r>
            <a:r>
              <a:rPr lang="zh-TW" altLang="en-US" sz="1400">
                <a:solidFill>
                  <a:schemeClr val="tx1">
                    <a:lumMod val="100000"/>
                  </a:schemeClr>
                </a:solidFill>
                <a:ea typeface="Microsoft YaHei" panose="020B0503020204020204" pitchFamily="34" charset="-122"/>
                <a:sym typeface="Trebuchet MS" panose="020B0603020202020204" pitchFamily="34" charset="0"/>
              </a:rPr>
              <a:t>升</a:t>
            </a:r>
            <a:r>
              <a:rPr lang="en-US" altLang="zh-TW" sz="1400">
                <a:solidFill>
                  <a:schemeClr val="tx1">
                    <a:lumMod val="100000"/>
                  </a:schemeClr>
                </a:solidFill>
                <a:ea typeface="Microsoft YaHei" panose="020B0503020204020204" pitchFamily="34" charset="-122"/>
                <a:sym typeface="Trebuchet MS" panose="020B0603020202020204" pitchFamily="34" charset="0"/>
              </a:rPr>
              <a:t>A</a:t>
            </a:r>
            <a:r>
              <a:rPr lang="zh-TW" altLang="en-US" sz="1400">
                <a:solidFill>
                  <a:schemeClr val="tx1">
                    <a:lumMod val="100000"/>
                  </a:schemeClr>
                </a:solidFill>
                <a:ea typeface="Microsoft YaHei" panose="020B0503020204020204" pitchFamily="34" charset="-122"/>
                <a:sym typeface="Trebuchet MS" panose="020B0603020202020204" pitchFamily="34" charset="0"/>
              </a:rPr>
              <a:t>預測模型</a:t>
            </a:r>
            <a:r>
              <a:rPr lang="en-US" altLang="zh-TW" sz="1400">
                <a:solidFill>
                  <a:schemeClr val="tx1">
                    <a:lumMod val="100000"/>
                  </a:schemeClr>
                </a:solidFill>
                <a:ea typeface="Microsoft YaHei" panose="020B0503020204020204" pitchFamily="34" charset="-122"/>
                <a:sym typeface="Trebuchet MS" panose="020B0603020202020204" pitchFamily="34" charset="0"/>
              </a:rPr>
              <a:t>, </a:t>
            </a:r>
            <a:r>
              <a:rPr lang="zh-TW" altLang="en-US" sz="1400">
                <a:solidFill>
                  <a:schemeClr val="tx1">
                    <a:lumMod val="100000"/>
                  </a:schemeClr>
                </a:solidFill>
                <a:ea typeface="Microsoft YaHei" panose="020B0503020204020204" pitchFamily="34" charset="-122"/>
                <a:sym typeface="Trebuchet MS" panose="020B0603020202020204" pitchFamily="34" charset="0"/>
              </a:rPr>
              <a:t>成功率達</a:t>
            </a:r>
            <a:r>
              <a:rPr lang="en-US" altLang="zh-TW" sz="1400">
                <a:solidFill>
                  <a:schemeClr val="tx1">
                    <a:lumMod val="100000"/>
                  </a:schemeClr>
                </a:solidFill>
                <a:ea typeface="Microsoft YaHei" panose="020B0503020204020204" pitchFamily="34" charset="-122"/>
                <a:sym typeface="Trebuchet MS" panose="020B0603020202020204" pitchFamily="34" charset="0"/>
              </a:rPr>
              <a:t>5</a:t>
            </a:r>
            <a:r>
              <a:rPr lang="zh-TW" altLang="en-US" sz="1400">
                <a:solidFill>
                  <a:schemeClr val="tx1">
                    <a:lumMod val="100000"/>
                  </a:schemeClr>
                </a:solidFill>
                <a:ea typeface="Microsoft YaHei" panose="020B0503020204020204" pitchFamily="34" charset="-122"/>
                <a:sym typeface="Trebuchet MS" panose="020B0603020202020204" pitchFamily="34" charset="0"/>
              </a:rPr>
              <a:t>成；</a:t>
            </a:r>
            <a:r>
              <a:rPr lang="zh-TW" altLang="en-US" sz="1400">
                <a:solidFill>
                  <a:srgbClr val="E71C57"/>
                </a:solidFill>
                <a:ea typeface="Microsoft YaHei" panose="020B0503020204020204" pitchFamily="34" charset="-122"/>
                <a:sym typeface="Trebuchet MS" panose="020B0603020202020204" pitchFamily="34" charset="0"/>
              </a:rPr>
              <a:t>未涵蓋其他</a:t>
            </a:r>
            <a:r>
              <a:rPr lang="en-US" altLang="zh-TW" sz="1400">
                <a:solidFill>
                  <a:srgbClr val="E71C57"/>
                </a:solidFill>
                <a:ea typeface="Microsoft YaHei" panose="020B0503020204020204" pitchFamily="34" charset="-122"/>
                <a:sym typeface="Trebuchet MS" panose="020B0603020202020204" pitchFamily="34" charset="0"/>
              </a:rPr>
              <a:t>M</a:t>
            </a:r>
            <a:r>
              <a:rPr lang="zh-TW" altLang="en-US" sz="1400">
                <a:solidFill>
                  <a:srgbClr val="E71C57"/>
                </a:solidFill>
                <a:ea typeface="Microsoft YaHei" panose="020B0503020204020204" pitchFamily="34" charset="-122"/>
                <a:sym typeface="Trebuchet MS" panose="020B0603020202020204" pitchFamily="34" charset="0"/>
              </a:rPr>
              <a:t>客</a:t>
            </a:r>
            <a:endParaRPr lang="en-US" sz="1400">
              <a:solidFill>
                <a:srgbClr val="E71C57"/>
              </a:solidFill>
              <a:ea typeface="Microsoft YaHei" panose="020B0503020204020204" pitchFamily="34" charset="-122"/>
              <a:sym typeface="Trebuchet MS" panose="020B0603020202020204" pitchFamily="34" charset="0"/>
            </a:endParaRPr>
          </a:p>
        </p:txBody>
      </p:sp>
      <p:sp>
        <p:nvSpPr>
          <p:cNvPr id="60" name="ee4pContent1">
            <a:extLst>
              <a:ext uri="{FF2B5EF4-FFF2-40B4-BE49-F238E27FC236}">
                <a16:creationId xmlns:a16="http://schemas.microsoft.com/office/drawing/2014/main" id="{78D527E0-F650-5A3B-20E1-CB36DED957C3}"/>
              </a:ext>
            </a:extLst>
          </p:cNvPr>
          <p:cNvSpPr txBox="1"/>
          <p:nvPr/>
        </p:nvSpPr>
        <p:spPr>
          <a:xfrm>
            <a:off x="10067143" y="3237123"/>
            <a:ext cx="1515491" cy="581698"/>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sp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a:lnSpc>
                <a:spcPct val="90000"/>
              </a:lnSpc>
              <a:spcAft>
                <a:spcPts val="600"/>
              </a:spcAft>
              <a:buNone/>
            </a:pPr>
            <a:r>
              <a:rPr lang="zh-TW" altLang="en-US" sz="1400">
                <a:solidFill>
                  <a:schemeClr val="tx1">
                    <a:lumMod val="100000"/>
                  </a:schemeClr>
                </a:solidFill>
                <a:ea typeface="Microsoft YaHei" panose="020B0503020204020204" pitchFamily="34" charset="-122"/>
                <a:sym typeface="Trebuchet MS" panose="020B0603020202020204" pitchFamily="34" charset="0"/>
              </a:rPr>
              <a:t>未針對不同情境設計</a:t>
            </a:r>
            <a:r>
              <a:rPr lang="zh-TW" altLang="en-US" sz="1400">
                <a:solidFill>
                  <a:srgbClr val="E71C57"/>
                </a:solidFill>
                <a:ea typeface="Microsoft YaHei" panose="020B0503020204020204" pitchFamily="34" charset="-122"/>
                <a:sym typeface="Trebuchet MS" panose="020B0603020202020204" pitchFamily="34" charset="0"/>
              </a:rPr>
              <a:t>對應的產品推薦或個性化行銷資訊</a:t>
            </a:r>
            <a:endParaRPr lang="en-US" sz="1400">
              <a:solidFill>
                <a:srgbClr val="E71C57"/>
              </a:solidFill>
              <a:ea typeface="Microsoft YaHei" panose="020B0503020204020204" pitchFamily="34" charset="-122"/>
              <a:sym typeface="Trebuchet MS" panose="020B0603020202020204" pitchFamily="34" charset="0"/>
            </a:endParaRPr>
          </a:p>
        </p:txBody>
      </p:sp>
      <p:sp>
        <p:nvSpPr>
          <p:cNvPr id="62" name="ee4pContent1">
            <a:extLst>
              <a:ext uri="{FF2B5EF4-FFF2-40B4-BE49-F238E27FC236}">
                <a16:creationId xmlns:a16="http://schemas.microsoft.com/office/drawing/2014/main" id="{CCB91895-BA14-91B5-37C1-22558C2540D0}"/>
              </a:ext>
            </a:extLst>
          </p:cNvPr>
          <p:cNvSpPr txBox="1"/>
          <p:nvPr/>
        </p:nvSpPr>
        <p:spPr>
          <a:xfrm>
            <a:off x="10067143" y="4075103"/>
            <a:ext cx="1515491" cy="581698"/>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sp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a:lnSpc>
                <a:spcPct val="90000"/>
              </a:lnSpc>
              <a:spcAft>
                <a:spcPts val="600"/>
              </a:spcAft>
              <a:buNone/>
            </a:pPr>
            <a:r>
              <a:rPr lang="zh-TW" altLang="en-US" sz="1400">
                <a:solidFill>
                  <a:schemeClr val="tx1">
                    <a:lumMod val="100000"/>
                  </a:schemeClr>
                </a:solidFill>
                <a:ea typeface="Microsoft YaHei" panose="020B0503020204020204" pitchFamily="34" charset="-122"/>
                <a:sym typeface="Trebuchet MS" panose="020B0603020202020204" pitchFamily="34" charset="0"/>
              </a:rPr>
              <a:t>僅由產品</a:t>
            </a:r>
            <a:r>
              <a:rPr lang="en-US" altLang="zh-TW" sz="1400">
                <a:solidFill>
                  <a:schemeClr val="tx1">
                    <a:lumMod val="100000"/>
                  </a:schemeClr>
                </a:solidFill>
                <a:ea typeface="Microsoft YaHei" panose="020B0503020204020204" pitchFamily="34" charset="-122"/>
                <a:sym typeface="Trebuchet MS" panose="020B0603020202020204" pitchFamily="34" charset="0"/>
              </a:rPr>
              <a:t>PM</a:t>
            </a:r>
            <a:r>
              <a:rPr lang="zh-TW" altLang="en-US" sz="1400">
                <a:solidFill>
                  <a:schemeClr val="tx1">
                    <a:lumMod val="100000"/>
                  </a:schemeClr>
                </a:solidFill>
                <a:ea typeface="Microsoft YaHei" panose="020B0503020204020204" pitchFamily="34" charset="-122"/>
                <a:sym typeface="Trebuchet MS" panose="020B0603020202020204" pitchFamily="34" charset="0"/>
              </a:rPr>
              <a:t>人工分析</a:t>
            </a:r>
            <a:r>
              <a:rPr lang="en-US" altLang="zh-TW" sz="1400">
                <a:solidFill>
                  <a:schemeClr val="tx1">
                    <a:lumMod val="100000"/>
                  </a:schemeClr>
                </a:solidFill>
                <a:ea typeface="Microsoft YaHei" panose="020B0503020204020204" pitchFamily="34" charset="-122"/>
                <a:sym typeface="Trebuchet MS" panose="020B0603020202020204" pitchFamily="34" charset="0"/>
              </a:rPr>
              <a:t>;</a:t>
            </a:r>
            <a:r>
              <a:rPr lang="zh-TW" altLang="en-US" sz="1400">
                <a:solidFill>
                  <a:schemeClr val="tx1">
                    <a:lumMod val="100000"/>
                  </a:schemeClr>
                </a:solidFill>
                <a:ea typeface="Microsoft YaHei" panose="020B0503020204020204" pitchFamily="34" charset="-122"/>
                <a:sym typeface="Trebuchet MS" panose="020B0603020202020204" pitchFamily="34" charset="0"/>
              </a:rPr>
              <a:t> </a:t>
            </a:r>
            <a:r>
              <a:rPr lang="zh-TW" altLang="en-US" sz="1400">
                <a:solidFill>
                  <a:srgbClr val="E71C57"/>
                </a:solidFill>
                <a:ea typeface="Microsoft YaHei" panose="020B0503020204020204" pitchFamily="34" charset="-122"/>
                <a:sym typeface="Trebuchet MS" panose="020B0603020202020204" pitchFamily="34" charset="0"/>
              </a:rPr>
              <a:t>未納入模型調整機制</a:t>
            </a:r>
            <a:endParaRPr lang="en-US" sz="1400">
              <a:solidFill>
                <a:srgbClr val="E71C57"/>
              </a:solidFill>
              <a:ea typeface="Microsoft YaHei" panose="020B0503020204020204" pitchFamily="34" charset="-122"/>
              <a:sym typeface="Trebuchet MS" panose="020B0603020202020204" pitchFamily="34" charset="0"/>
            </a:endParaRPr>
          </a:p>
        </p:txBody>
      </p:sp>
      <p:sp>
        <p:nvSpPr>
          <p:cNvPr id="63" name="ee4pContent1">
            <a:extLst>
              <a:ext uri="{FF2B5EF4-FFF2-40B4-BE49-F238E27FC236}">
                <a16:creationId xmlns:a16="http://schemas.microsoft.com/office/drawing/2014/main" id="{11885A6B-2F35-782D-8B25-8F6982FD8217}"/>
              </a:ext>
            </a:extLst>
          </p:cNvPr>
          <p:cNvSpPr txBox="1"/>
          <p:nvPr/>
        </p:nvSpPr>
        <p:spPr>
          <a:xfrm>
            <a:off x="10067143" y="4797845"/>
            <a:ext cx="1515491" cy="581698"/>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sp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a:lnSpc>
                <a:spcPct val="90000"/>
              </a:lnSpc>
              <a:spcAft>
                <a:spcPts val="600"/>
              </a:spcAft>
              <a:buNone/>
            </a:pPr>
            <a:r>
              <a:rPr lang="zh-TW" altLang="en-US" sz="1400">
                <a:solidFill>
                  <a:schemeClr val="tx1">
                    <a:lumMod val="100000"/>
                  </a:schemeClr>
                </a:solidFill>
                <a:ea typeface="Microsoft YaHei" panose="020B0503020204020204" pitchFamily="34" charset="-122"/>
                <a:sym typeface="Trebuchet MS" panose="020B0603020202020204" pitchFamily="34" charset="0"/>
              </a:rPr>
              <a:t>近期正打造</a:t>
            </a:r>
            <a:r>
              <a:rPr lang="en-US" altLang="zh-TW" sz="1400">
                <a:solidFill>
                  <a:schemeClr val="tx1">
                    <a:lumMod val="100000"/>
                  </a:schemeClr>
                </a:solidFill>
                <a:ea typeface="Microsoft YaHei" panose="020B0503020204020204" pitchFamily="34" charset="-122"/>
                <a:sym typeface="Trebuchet MS" panose="020B0603020202020204" pitchFamily="34" charset="0"/>
              </a:rPr>
              <a:t>App</a:t>
            </a:r>
            <a:r>
              <a:rPr lang="zh-TW" altLang="en-US" sz="1400">
                <a:solidFill>
                  <a:schemeClr val="tx1">
                    <a:lumMod val="100000"/>
                  </a:schemeClr>
                </a:solidFill>
                <a:ea typeface="Microsoft YaHei" panose="020B0503020204020204" pitchFamily="34" charset="-122"/>
                <a:sym typeface="Trebuchet MS" panose="020B0603020202020204" pitchFamily="34" charset="0"/>
              </a:rPr>
              <a:t>活動行銷平台</a:t>
            </a:r>
            <a:r>
              <a:rPr lang="en-US" altLang="zh-TW" sz="1400">
                <a:solidFill>
                  <a:schemeClr val="tx1">
                    <a:lumMod val="100000"/>
                  </a:schemeClr>
                </a:solidFill>
                <a:ea typeface="Microsoft YaHei" panose="020B0503020204020204" pitchFamily="34" charset="-122"/>
                <a:sym typeface="Trebuchet MS" panose="020B0603020202020204" pitchFamily="34" charset="0"/>
              </a:rPr>
              <a:t>;</a:t>
            </a:r>
            <a:r>
              <a:rPr lang="zh-TW" altLang="en-US" sz="1400">
                <a:solidFill>
                  <a:schemeClr val="tx1">
                    <a:lumMod val="100000"/>
                  </a:schemeClr>
                </a:solidFill>
                <a:ea typeface="Microsoft YaHei" panose="020B0503020204020204" pitchFamily="34" charset="-122"/>
                <a:sym typeface="Trebuchet MS" panose="020B0603020202020204" pitchFamily="34" charset="0"/>
              </a:rPr>
              <a:t>功能</a:t>
            </a:r>
            <a:r>
              <a:rPr lang="zh-TW" altLang="en-US" sz="1400">
                <a:solidFill>
                  <a:srgbClr val="575757"/>
                </a:solidFill>
                <a:latin typeface="Trebuchet MS" panose="020B0603020202020204" pitchFamily="34" charset="0"/>
                <a:ea typeface="Microsoft YaHei" panose="020B0503020204020204" pitchFamily="34" charset="-122"/>
              </a:rPr>
              <a:t>尚在</a:t>
            </a:r>
            <a:r>
              <a:rPr lang="zh-TW" altLang="en-US" sz="1400">
                <a:solidFill>
                  <a:srgbClr val="E71C57"/>
                </a:solidFill>
                <a:latin typeface="Trebuchet MS" panose="020B0603020202020204" pitchFamily="34" charset="0"/>
                <a:ea typeface="Microsoft YaHei" panose="020B0503020204020204" pitchFamily="34" charset="-122"/>
              </a:rPr>
              <a:t>基礎建設階段</a:t>
            </a:r>
            <a:endParaRPr lang="en-US" sz="1400">
              <a:solidFill>
                <a:srgbClr val="E71C57"/>
              </a:solidFill>
              <a:ea typeface="Microsoft YaHei" panose="020B0503020204020204" pitchFamily="34" charset="-122"/>
              <a:sym typeface="Trebuchet MS" panose="020B0603020202020204" pitchFamily="34" charset="0"/>
            </a:endParaRPr>
          </a:p>
        </p:txBody>
      </p:sp>
      <p:sp>
        <p:nvSpPr>
          <p:cNvPr id="64" name="ee4pContent1">
            <a:extLst>
              <a:ext uri="{FF2B5EF4-FFF2-40B4-BE49-F238E27FC236}">
                <a16:creationId xmlns:a16="http://schemas.microsoft.com/office/drawing/2014/main" id="{7A8B865E-BF4A-E2D1-3117-6780F211F8BB}"/>
              </a:ext>
            </a:extLst>
          </p:cNvPr>
          <p:cNvSpPr txBox="1"/>
          <p:nvPr/>
        </p:nvSpPr>
        <p:spPr>
          <a:xfrm>
            <a:off x="10067143" y="5465932"/>
            <a:ext cx="1515491" cy="581698"/>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sp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a:lnSpc>
                <a:spcPct val="90000"/>
              </a:lnSpc>
              <a:spcAft>
                <a:spcPts val="600"/>
              </a:spcAft>
              <a:buNone/>
            </a:pPr>
            <a:r>
              <a:rPr lang="zh-TW" altLang="en-US" sz="1400">
                <a:solidFill>
                  <a:srgbClr val="E71C57"/>
                </a:solidFill>
                <a:ea typeface="Microsoft YaHei" panose="020B0503020204020204" pitchFamily="34" charset="-122"/>
                <a:sym typeface="Trebuchet MS" panose="020B0603020202020204" pitchFamily="34" charset="0"/>
              </a:rPr>
              <a:t>未有專責數經團隊</a:t>
            </a:r>
            <a:r>
              <a:rPr lang="zh-TW" altLang="en-US" sz="1400">
                <a:solidFill>
                  <a:schemeClr val="tx1">
                    <a:lumMod val="100000"/>
                  </a:schemeClr>
                </a:solidFill>
                <a:ea typeface="Microsoft YaHei" panose="020B0503020204020204" pitchFamily="34" charset="-122"/>
                <a:sym typeface="Trebuchet MS" panose="020B0603020202020204" pitchFamily="34" charset="0"/>
              </a:rPr>
              <a:t>或相關數經職責與</a:t>
            </a:r>
            <a:r>
              <a:rPr lang="en-US" altLang="zh-TW" sz="1400" err="1">
                <a:solidFill>
                  <a:schemeClr val="tx1">
                    <a:lumMod val="100000"/>
                  </a:schemeClr>
                </a:solidFill>
                <a:ea typeface="Microsoft YaHei" panose="020B0503020204020204" pitchFamily="34" charset="-122"/>
                <a:sym typeface="Trebuchet MS" panose="020B0603020202020204" pitchFamily="34" charset="0"/>
              </a:rPr>
              <a:t>KPI</a:t>
            </a:r>
            <a:r>
              <a:rPr lang="zh-TW" altLang="en-US" sz="1400">
                <a:solidFill>
                  <a:schemeClr val="tx1">
                    <a:lumMod val="100000"/>
                  </a:schemeClr>
                </a:solidFill>
                <a:ea typeface="Microsoft YaHei" panose="020B0503020204020204" pitchFamily="34" charset="-122"/>
                <a:sym typeface="Trebuchet MS" panose="020B0603020202020204" pitchFamily="34" charset="0"/>
              </a:rPr>
              <a:t>設計</a:t>
            </a:r>
            <a:endParaRPr lang="en-US" sz="1400">
              <a:solidFill>
                <a:schemeClr val="tx1">
                  <a:lumMod val="100000"/>
                </a:schemeClr>
              </a:solidFill>
              <a:ea typeface="Microsoft YaHei" panose="020B0503020204020204" pitchFamily="34" charset="-122"/>
              <a:sym typeface="Trebuchet MS" panose="020B0603020202020204" pitchFamily="34" charset="0"/>
            </a:endParaRPr>
          </a:p>
        </p:txBody>
      </p:sp>
    </p:spTree>
    <p:extLst>
      <p:ext uri="{BB962C8B-B14F-4D97-AF65-F5344CB8AC3E}">
        <p14:creationId xmlns:p14="http://schemas.microsoft.com/office/powerpoint/2010/main" val="409204460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 name="think-cell data - do not delete" hidden="1">
            <a:extLst>
              <a:ext uri="{FF2B5EF4-FFF2-40B4-BE49-F238E27FC236}">
                <a16:creationId xmlns:a16="http://schemas.microsoft.com/office/drawing/2014/main" id="{6DB49EE0-A4CF-7968-5EDE-896D8BEBF4FF}"/>
              </a:ext>
            </a:extLst>
          </p:cNvPr>
          <p:cNvGraphicFramePr>
            <a:graphicFrameLocks noChangeAspect="1"/>
          </p:cNvGraphicFramePr>
          <p:nvPr>
            <p:custDataLst>
              <p:tags r:id="rId1"/>
            </p:custDataLst>
            <p:extLst>
              <p:ext uri="{D42A27DB-BD31-4B8C-83A1-F6EECF244321}">
                <p14:modId xmlns:p14="http://schemas.microsoft.com/office/powerpoint/2010/main" val="149007770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04" imgH="405" progId="TCLayout.ActiveDocument.1">
                  <p:embed/>
                </p:oleObj>
              </mc:Choice>
              <mc:Fallback>
                <p:oleObj name="think-cell Slide" r:id="rId4" imgW="404" imgH="405" progId="TCLayout.ActiveDocument.1">
                  <p:embed/>
                  <p:pic>
                    <p:nvPicPr>
                      <p:cNvPr id="78" name="think-cell data - do not delete" hidden="1">
                        <a:extLst>
                          <a:ext uri="{FF2B5EF4-FFF2-40B4-BE49-F238E27FC236}">
                            <a16:creationId xmlns:a16="http://schemas.microsoft.com/office/drawing/2014/main" id="{6DB49EE0-A4CF-7968-5EDE-896D8BEBF4FF}"/>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object 4"/>
          <p:cNvSpPr txBox="1"/>
          <p:nvPr/>
        </p:nvSpPr>
        <p:spPr>
          <a:xfrm>
            <a:off x="11986574" y="3898286"/>
            <a:ext cx="107722" cy="2653665"/>
          </a:xfrm>
          <a:prstGeom prst="rect">
            <a:avLst/>
          </a:prstGeom>
        </p:spPr>
        <p:txBody>
          <a:bodyPr vert="vert270" wrap="square" lIns="0" tIns="6350" rIns="0" bIns="0" rtlCol="0">
            <a:spAutoFit/>
          </a:bodyPr>
          <a:lstStyle/>
          <a:p>
            <a:pPr marL="12700">
              <a:lnSpc>
                <a:spcPct val="100000"/>
              </a:lnSpc>
              <a:spcBef>
                <a:spcPts val="50"/>
              </a:spcBef>
            </a:pPr>
            <a:r>
              <a:rPr lang="en-US" sz="700">
                <a:solidFill>
                  <a:srgbClr val="7E7E7E"/>
                </a:solidFill>
                <a:latin typeface="Trebuchet MS"/>
                <a:ea typeface="Microsoft YaHei" panose="020B0503020204020204" pitchFamily="34" charset="-122"/>
                <a:cs typeface="Trebuchet MS"/>
              </a:rPr>
              <a:t>Copyright</a:t>
            </a:r>
            <a:r>
              <a:rPr lang="en-US" sz="700" spc="-25">
                <a:solidFill>
                  <a:srgbClr val="7E7E7E"/>
                </a:solidFill>
                <a:latin typeface="Trebuchet MS"/>
                <a:ea typeface="Microsoft YaHei" panose="020B0503020204020204" pitchFamily="34" charset="-122"/>
                <a:cs typeface="Trebuchet MS"/>
              </a:rPr>
              <a:t> </a:t>
            </a:r>
            <a:r>
              <a:rPr lang="en-US" sz="700">
                <a:solidFill>
                  <a:srgbClr val="7E7E7E"/>
                </a:solidFill>
                <a:latin typeface="Trebuchet MS"/>
                <a:ea typeface="Microsoft YaHei" panose="020B0503020204020204" pitchFamily="34" charset="-122"/>
                <a:cs typeface="Trebuchet MS"/>
              </a:rPr>
              <a:t>©</a:t>
            </a:r>
            <a:r>
              <a:rPr lang="en-US" sz="700" spc="-25">
                <a:solidFill>
                  <a:srgbClr val="7E7E7E"/>
                </a:solidFill>
                <a:latin typeface="Trebuchet MS"/>
                <a:ea typeface="Microsoft YaHei" panose="020B0503020204020204" pitchFamily="34" charset="-122"/>
                <a:cs typeface="Trebuchet MS"/>
              </a:rPr>
              <a:t> </a:t>
            </a:r>
            <a:r>
              <a:rPr lang="en-US" sz="700">
                <a:solidFill>
                  <a:srgbClr val="7E7E7E"/>
                </a:solidFill>
                <a:latin typeface="Trebuchet MS"/>
                <a:ea typeface="Microsoft YaHei" panose="020B0503020204020204" pitchFamily="34" charset="-122"/>
                <a:cs typeface="Trebuchet MS"/>
              </a:rPr>
              <a:t>2019</a:t>
            </a:r>
            <a:r>
              <a:rPr lang="en-US" sz="700" spc="-15">
                <a:solidFill>
                  <a:srgbClr val="7E7E7E"/>
                </a:solidFill>
                <a:latin typeface="Trebuchet MS"/>
                <a:ea typeface="Microsoft YaHei" panose="020B0503020204020204" pitchFamily="34" charset="-122"/>
                <a:cs typeface="Trebuchet MS"/>
              </a:rPr>
              <a:t> </a:t>
            </a:r>
            <a:r>
              <a:rPr lang="en-US" sz="700">
                <a:solidFill>
                  <a:srgbClr val="7E7E7E"/>
                </a:solidFill>
                <a:latin typeface="Trebuchet MS"/>
                <a:ea typeface="Microsoft YaHei" panose="020B0503020204020204" pitchFamily="34" charset="-122"/>
                <a:cs typeface="Trebuchet MS"/>
              </a:rPr>
              <a:t>by</a:t>
            </a:r>
            <a:r>
              <a:rPr lang="en-US" sz="700" spc="-20">
                <a:solidFill>
                  <a:srgbClr val="7E7E7E"/>
                </a:solidFill>
                <a:latin typeface="Trebuchet MS"/>
                <a:ea typeface="Microsoft YaHei" panose="020B0503020204020204" pitchFamily="34" charset="-122"/>
                <a:cs typeface="Trebuchet MS"/>
              </a:rPr>
              <a:t> </a:t>
            </a:r>
            <a:r>
              <a:rPr lang="en-US" sz="700">
                <a:solidFill>
                  <a:srgbClr val="7E7E7E"/>
                </a:solidFill>
                <a:latin typeface="Trebuchet MS"/>
                <a:ea typeface="Microsoft YaHei" panose="020B0503020204020204" pitchFamily="34" charset="-122"/>
                <a:cs typeface="Trebuchet MS"/>
              </a:rPr>
              <a:t>Boston </a:t>
            </a:r>
            <a:r>
              <a:rPr lang="en-US" sz="700" spc="-10">
                <a:solidFill>
                  <a:srgbClr val="7E7E7E"/>
                </a:solidFill>
                <a:latin typeface="Trebuchet MS"/>
                <a:ea typeface="Microsoft YaHei" panose="020B0503020204020204" pitchFamily="34" charset="-122"/>
                <a:cs typeface="Trebuchet MS"/>
              </a:rPr>
              <a:t>Consulting </a:t>
            </a:r>
            <a:r>
              <a:rPr lang="en-US" sz="700">
                <a:solidFill>
                  <a:srgbClr val="7E7E7E"/>
                </a:solidFill>
                <a:latin typeface="Trebuchet MS"/>
                <a:ea typeface="Microsoft YaHei" panose="020B0503020204020204" pitchFamily="34" charset="-122"/>
                <a:cs typeface="Trebuchet MS"/>
              </a:rPr>
              <a:t>Group.</a:t>
            </a:r>
            <a:r>
              <a:rPr lang="en-US" sz="700" spc="-5">
                <a:solidFill>
                  <a:srgbClr val="7E7E7E"/>
                </a:solidFill>
                <a:latin typeface="Trebuchet MS"/>
                <a:ea typeface="Microsoft YaHei" panose="020B0503020204020204" pitchFamily="34" charset="-122"/>
                <a:cs typeface="Trebuchet MS"/>
              </a:rPr>
              <a:t> </a:t>
            </a:r>
            <a:r>
              <a:rPr lang="en-US" sz="700">
                <a:solidFill>
                  <a:srgbClr val="7E7E7E"/>
                </a:solidFill>
                <a:latin typeface="Trebuchet MS"/>
                <a:ea typeface="Microsoft YaHei" panose="020B0503020204020204" pitchFamily="34" charset="-122"/>
                <a:cs typeface="Trebuchet MS"/>
              </a:rPr>
              <a:t>All</a:t>
            </a:r>
            <a:r>
              <a:rPr lang="en-US" sz="700" spc="-5">
                <a:solidFill>
                  <a:srgbClr val="7E7E7E"/>
                </a:solidFill>
                <a:latin typeface="Trebuchet MS"/>
                <a:ea typeface="Microsoft YaHei" panose="020B0503020204020204" pitchFamily="34" charset="-122"/>
                <a:cs typeface="Trebuchet MS"/>
              </a:rPr>
              <a:t> </a:t>
            </a:r>
            <a:r>
              <a:rPr lang="en-US" sz="700">
                <a:solidFill>
                  <a:srgbClr val="7E7E7E"/>
                </a:solidFill>
                <a:latin typeface="Trebuchet MS"/>
                <a:ea typeface="Microsoft YaHei" panose="020B0503020204020204" pitchFamily="34" charset="-122"/>
                <a:cs typeface="Trebuchet MS"/>
              </a:rPr>
              <a:t>rights</a:t>
            </a:r>
            <a:r>
              <a:rPr lang="en-US" sz="700" spc="-25">
                <a:solidFill>
                  <a:srgbClr val="7E7E7E"/>
                </a:solidFill>
                <a:latin typeface="Trebuchet MS"/>
                <a:ea typeface="Microsoft YaHei" panose="020B0503020204020204" pitchFamily="34" charset="-122"/>
                <a:cs typeface="Trebuchet MS"/>
              </a:rPr>
              <a:t> </a:t>
            </a:r>
            <a:r>
              <a:rPr lang="en-US" sz="700" spc="-10">
                <a:solidFill>
                  <a:srgbClr val="7E7E7E"/>
                </a:solidFill>
                <a:latin typeface="Trebuchet MS"/>
                <a:ea typeface="Microsoft YaHei" panose="020B0503020204020204" pitchFamily="34" charset="-122"/>
                <a:cs typeface="Trebuchet MS"/>
              </a:rPr>
              <a:t>reserved.</a:t>
            </a:r>
            <a:endParaRPr lang="en-US" sz="700">
              <a:latin typeface="Trebuchet MS"/>
              <a:ea typeface="Microsoft YaHei" panose="020B0503020204020204" pitchFamily="34" charset="-122"/>
              <a:cs typeface="Trebuchet MS"/>
            </a:endParaRPr>
          </a:p>
        </p:txBody>
      </p:sp>
      <p:sp>
        <p:nvSpPr>
          <p:cNvPr id="7" name="object 7"/>
          <p:cNvSpPr txBox="1"/>
          <p:nvPr/>
        </p:nvSpPr>
        <p:spPr>
          <a:xfrm>
            <a:off x="2116582" y="1669278"/>
            <a:ext cx="1843405" cy="1418337"/>
          </a:xfrm>
          <a:prstGeom prst="rect">
            <a:avLst/>
          </a:prstGeom>
        </p:spPr>
        <p:txBody>
          <a:bodyPr vert="horz" wrap="square" lIns="0" tIns="93980" rIns="0" bIns="0" rtlCol="0">
            <a:spAutoFit/>
          </a:bodyPr>
          <a:lstStyle/>
          <a:p>
            <a:pPr>
              <a:lnSpc>
                <a:spcPct val="100000"/>
              </a:lnSpc>
              <a:spcBef>
                <a:spcPts val="740"/>
              </a:spcBef>
            </a:pPr>
            <a:r>
              <a:rPr lang="zh-TW" altLang="en-US" sz="1400" b="1" spc="-60">
                <a:solidFill>
                  <a:srgbClr val="29BA74"/>
                </a:solidFill>
                <a:latin typeface="Henderson BCG Sans"/>
                <a:ea typeface="Microsoft YaHei" panose="020B0503020204020204" pitchFamily="34" charset="-122"/>
                <a:cs typeface="Henderson BCG Sans"/>
              </a:rPr>
              <a:t>持有產品</a:t>
            </a:r>
            <a:endParaRPr lang="zh-TW" altLang="en-US" sz="1400">
              <a:solidFill>
                <a:srgbClr val="29BA74"/>
              </a:solidFill>
              <a:latin typeface="Henderson BCG Sans"/>
              <a:ea typeface="Microsoft YaHei" panose="020B0503020204020204" pitchFamily="34" charset="-122"/>
              <a:cs typeface="Henderson BCG Sans"/>
            </a:endParaRPr>
          </a:p>
          <a:p>
            <a:pPr marL="324000" marR="5080" lvl="1" indent="-216000">
              <a:buClr>
                <a:schemeClr val="tx2"/>
              </a:buClr>
              <a:buFont typeface="Trebuchet MS" panose="020B0603020202020204" pitchFamily="34" charset="0"/>
              <a:buChar char="•"/>
            </a:pPr>
            <a:r>
              <a:rPr lang="zh-TW" altLang="en-US" sz="1200">
                <a:solidFill>
                  <a:srgbClr val="575757"/>
                </a:solidFill>
                <a:ea typeface="Microsoft YaHei" panose="020B0503020204020204" pitchFamily="34" charset="-122"/>
              </a:rPr>
              <a:t>持有產品數量</a:t>
            </a:r>
            <a:endParaRPr lang="en-US" altLang="zh-TW" sz="1200">
              <a:solidFill>
                <a:srgbClr val="575757"/>
              </a:solidFill>
              <a:ea typeface="Microsoft YaHei" panose="020B0503020204020204" pitchFamily="34" charset="-122"/>
            </a:endParaRPr>
          </a:p>
          <a:p>
            <a:pPr marL="324000" marR="5080" lvl="1" indent="-216000">
              <a:buClr>
                <a:schemeClr val="tx2"/>
              </a:buClr>
              <a:buFont typeface="Trebuchet MS" panose="020B0603020202020204" pitchFamily="34" charset="0"/>
              <a:buChar char="•"/>
            </a:pPr>
            <a:r>
              <a:rPr lang="zh-TW" altLang="en-US" sz="1200">
                <a:solidFill>
                  <a:srgbClr val="575757"/>
                </a:solidFill>
                <a:ea typeface="Microsoft YaHei" panose="020B0503020204020204" pitchFamily="34" charset="-122"/>
              </a:rPr>
              <a:t>持有產品種類</a:t>
            </a:r>
            <a:endParaRPr lang="en-US" altLang="zh-TW" sz="1200">
              <a:solidFill>
                <a:srgbClr val="575757"/>
              </a:solidFill>
              <a:ea typeface="Microsoft YaHei" panose="020B0503020204020204" pitchFamily="34" charset="-122"/>
            </a:endParaRPr>
          </a:p>
          <a:p>
            <a:pPr marL="324000" marR="5080" lvl="1" indent="-216000">
              <a:buClr>
                <a:schemeClr val="tx2"/>
              </a:buClr>
              <a:buFont typeface="Trebuchet MS" panose="020B0603020202020204" pitchFamily="34" charset="0"/>
              <a:buChar char="•"/>
            </a:pPr>
            <a:r>
              <a:rPr lang="zh-TW" altLang="en-US" sz="1200">
                <a:solidFill>
                  <a:srgbClr val="575757"/>
                </a:solidFill>
                <a:ea typeface="Microsoft YaHei" panose="020B0503020204020204" pitchFamily="34" charset="-122"/>
              </a:rPr>
              <a:t>持有產品部位</a:t>
            </a:r>
            <a:endParaRPr lang="en-US" altLang="zh-TW" sz="1200">
              <a:solidFill>
                <a:srgbClr val="575757"/>
              </a:solidFill>
              <a:ea typeface="Microsoft YaHei" panose="020B0503020204020204" pitchFamily="34" charset="-122"/>
            </a:endParaRPr>
          </a:p>
          <a:p>
            <a:pPr marL="324000" marR="5080" lvl="1" indent="-216000">
              <a:buClr>
                <a:schemeClr val="tx2"/>
              </a:buClr>
              <a:buFont typeface="Trebuchet MS" panose="020B0603020202020204" pitchFamily="34" charset="0"/>
              <a:buChar char="•"/>
            </a:pPr>
            <a:r>
              <a:rPr lang="zh-TW" altLang="en-US" sz="1200">
                <a:solidFill>
                  <a:srgbClr val="575757"/>
                </a:solidFill>
                <a:ea typeface="Microsoft YaHei" panose="020B0503020204020204" pitchFamily="34" charset="-122"/>
              </a:rPr>
              <a:t>持有產品持有時間</a:t>
            </a:r>
            <a:endParaRPr lang="en-US" altLang="zh-TW" sz="1200">
              <a:solidFill>
                <a:srgbClr val="575757"/>
              </a:solidFill>
              <a:ea typeface="Microsoft YaHei" panose="020B0503020204020204" pitchFamily="34" charset="-122"/>
            </a:endParaRPr>
          </a:p>
          <a:p>
            <a:pPr marL="324000" marR="5080" lvl="1" indent="-216000">
              <a:buClr>
                <a:schemeClr val="tx2"/>
              </a:buClr>
              <a:buFont typeface="Trebuchet MS" panose="020B0603020202020204" pitchFamily="34" charset="0"/>
              <a:buChar char="•"/>
            </a:pPr>
            <a:r>
              <a:rPr lang="zh-TW" altLang="en-US" sz="1200">
                <a:solidFill>
                  <a:srgbClr val="A8B21C"/>
                </a:solidFill>
                <a:ea typeface="Microsoft YaHei" panose="020B0503020204020204" pitchFamily="34" charset="-122"/>
              </a:rPr>
              <a:t>持有產品部位變化</a:t>
            </a:r>
            <a:endParaRPr lang="en-US" altLang="zh-TW" sz="1200">
              <a:solidFill>
                <a:srgbClr val="A8B21C"/>
              </a:solidFill>
              <a:ea typeface="Microsoft YaHei" panose="020B0503020204020204" pitchFamily="34" charset="-122"/>
            </a:endParaRPr>
          </a:p>
          <a:p>
            <a:pPr marL="324000" marR="5080" lvl="1" indent="-216000">
              <a:buClr>
                <a:schemeClr val="tx2"/>
              </a:buClr>
              <a:buFont typeface="Trebuchet MS" panose="020B0603020202020204" pitchFamily="34" charset="0"/>
              <a:buChar char="•"/>
            </a:pPr>
            <a:r>
              <a:rPr lang="zh-TW" altLang="en-US" sz="1200">
                <a:solidFill>
                  <a:srgbClr val="A8B21C"/>
                </a:solidFill>
                <a:ea typeface="Microsoft YaHei" panose="020B0503020204020204" pitchFamily="34" charset="-122"/>
              </a:rPr>
              <a:t>交易路徑 </a:t>
            </a:r>
            <a:r>
              <a:rPr lang="en-US" altLang="zh-TW" sz="1200">
                <a:solidFill>
                  <a:srgbClr val="A8B21C"/>
                </a:solidFill>
                <a:ea typeface="Microsoft YaHei" panose="020B0503020204020204" pitchFamily="34" charset="-122"/>
              </a:rPr>
              <a:t>(</a:t>
            </a:r>
            <a:r>
              <a:rPr lang="zh-TW" altLang="en-US" sz="1200">
                <a:solidFill>
                  <a:srgbClr val="A8B21C"/>
                </a:solidFill>
                <a:ea typeface="Microsoft YaHei" panose="020B0503020204020204" pitchFamily="34" charset="-122"/>
              </a:rPr>
              <a:t>產品</a:t>
            </a:r>
            <a:r>
              <a:rPr lang="en-US" altLang="zh-TW" sz="1200">
                <a:solidFill>
                  <a:srgbClr val="A8B21C"/>
                </a:solidFill>
                <a:ea typeface="Microsoft YaHei" panose="020B0503020204020204" pitchFamily="34" charset="-122"/>
              </a:rPr>
              <a:t>A&gt;B&gt;C)</a:t>
            </a:r>
            <a:endParaRPr lang="zh-TW" altLang="en-US" sz="1200">
              <a:solidFill>
                <a:srgbClr val="A8B21C"/>
              </a:solidFill>
              <a:latin typeface="Trebuchet MS"/>
              <a:ea typeface="Microsoft YaHei" panose="020B0503020204020204" pitchFamily="34" charset="-122"/>
              <a:cs typeface="Trebuchet MS"/>
            </a:endParaRPr>
          </a:p>
        </p:txBody>
      </p:sp>
      <p:sp>
        <p:nvSpPr>
          <p:cNvPr id="8" name="object 8"/>
          <p:cNvSpPr txBox="1"/>
          <p:nvPr/>
        </p:nvSpPr>
        <p:spPr>
          <a:xfrm>
            <a:off x="1573783" y="3413143"/>
            <a:ext cx="1753108" cy="967573"/>
          </a:xfrm>
          <a:prstGeom prst="rect">
            <a:avLst/>
          </a:prstGeom>
        </p:spPr>
        <p:txBody>
          <a:bodyPr vert="horz" wrap="square" lIns="0" tIns="13335" rIns="0" bIns="0" rtlCol="0">
            <a:spAutoFit/>
          </a:bodyPr>
          <a:lstStyle/>
          <a:p>
            <a:pPr marR="160020">
              <a:lnSpc>
                <a:spcPct val="100000"/>
              </a:lnSpc>
              <a:spcBef>
                <a:spcPts val="740"/>
              </a:spcBef>
            </a:pPr>
            <a:r>
              <a:rPr lang="zh-TW" altLang="en-US" sz="1400" b="1">
                <a:solidFill>
                  <a:srgbClr val="29BA74"/>
                </a:solidFill>
                <a:latin typeface="Henderson BCG Sans"/>
                <a:ea typeface="Microsoft YaHei" panose="020B0503020204020204" pitchFamily="34" charset="-122"/>
                <a:cs typeface="Henderson BCG Sans"/>
              </a:rPr>
              <a:t>參與及互動反應</a:t>
            </a:r>
            <a:endParaRPr lang="en-US" sz="1400" b="1">
              <a:solidFill>
                <a:srgbClr val="29BA74"/>
              </a:solidFill>
              <a:latin typeface="Henderson BCG Sans"/>
              <a:ea typeface="Microsoft YaHei" panose="020B0503020204020204" pitchFamily="34" charset="-122"/>
              <a:cs typeface="Henderson BCG Sans"/>
            </a:endParaRPr>
          </a:p>
          <a:p>
            <a:pPr marL="324000" marR="160020" lvl="1" indent="-216000">
              <a:buClr>
                <a:schemeClr val="tx2"/>
              </a:buClr>
              <a:buFont typeface="Trebuchet MS"/>
              <a:buChar char="•"/>
            </a:pPr>
            <a:r>
              <a:rPr lang="zh-TW" altLang="en-US" sz="1200">
                <a:solidFill>
                  <a:srgbClr val="A8B21C"/>
                </a:solidFill>
                <a:latin typeface="Trebuchet MS"/>
                <a:ea typeface="Microsoft YaHei" panose="020B0503020204020204" pitchFamily="34" charset="-122"/>
                <a:cs typeface="Trebuchet MS"/>
              </a:rPr>
              <a:t>行銷活動反應</a:t>
            </a:r>
            <a:endParaRPr lang="en-US" altLang="zh-TW" sz="1200">
              <a:solidFill>
                <a:srgbClr val="A8B21C"/>
              </a:solidFill>
              <a:latin typeface="Trebuchet MS"/>
              <a:ea typeface="Microsoft YaHei" panose="020B0503020204020204" pitchFamily="34" charset="-122"/>
              <a:cs typeface="Trebuchet MS"/>
            </a:endParaRPr>
          </a:p>
          <a:p>
            <a:pPr marL="324000" marR="160020" lvl="1" indent="-216000">
              <a:buClr>
                <a:schemeClr val="tx2"/>
              </a:buClr>
              <a:buFont typeface="Trebuchet MS"/>
              <a:buChar char="•"/>
            </a:pPr>
            <a:r>
              <a:rPr lang="zh-TW" altLang="en-US" sz="1200">
                <a:solidFill>
                  <a:srgbClr val="575757"/>
                </a:solidFill>
                <a:latin typeface="Trebuchet MS"/>
                <a:ea typeface="Microsoft YaHei" panose="020B0503020204020204" pitchFamily="34" charset="-122"/>
                <a:cs typeface="Trebuchet MS"/>
              </a:rPr>
              <a:t>管道偏好</a:t>
            </a:r>
            <a:endParaRPr lang="en-US" altLang="zh-TW" sz="1200">
              <a:solidFill>
                <a:srgbClr val="575757"/>
              </a:solidFill>
              <a:latin typeface="Trebuchet MS"/>
              <a:ea typeface="Microsoft YaHei" panose="020B0503020204020204" pitchFamily="34" charset="-122"/>
              <a:cs typeface="Trebuchet MS"/>
            </a:endParaRPr>
          </a:p>
          <a:p>
            <a:pPr marL="324000" marR="160020" lvl="1" indent="-216000">
              <a:buClr>
                <a:schemeClr val="tx2"/>
              </a:buClr>
              <a:buFont typeface="Trebuchet MS"/>
              <a:buChar char="•"/>
            </a:pPr>
            <a:r>
              <a:rPr lang="zh-TW" altLang="en-US" sz="1200">
                <a:solidFill>
                  <a:srgbClr val="575757"/>
                </a:solidFill>
                <a:latin typeface="Trebuchet MS"/>
                <a:ea typeface="Microsoft YaHei" panose="020B0503020204020204" pitchFamily="34" charset="-122"/>
                <a:cs typeface="Trebuchet MS"/>
              </a:rPr>
              <a:t>行網銀足跡</a:t>
            </a:r>
            <a:endParaRPr lang="en-US" altLang="zh-TW" sz="1200">
              <a:solidFill>
                <a:srgbClr val="575757"/>
              </a:solidFill>
              <a:latin typeface="Trebuchet MS"/>
              <a:ea typeface="Microsoft YaHei" panose="020B0503020204020204" pitchFamily="34" charset="-122"/>
              <a:cs typeface="Trebuchet MS"/>
            </a:endParaRPr>
          </a:p>
          <a:p>
            <a:pPr marL="324000" marR="160020" lvl="1" indent="-216000">
              <a:buClr>
                <a:schemeClr val="tx2"/>
              </a:buClr>
              <a:buFont typeface="Trebuchet MS"/>
              <a:buChar char="•"/>
            </a:pPr>
            <a:r>
              <a:rPr lang="zh-TW" altLang="en-US" sz="1200">
                <a:solidFill>
                  <a:srgbClr val="A8B21C"/>
                </a:solidFill>
                <a:latin typeface="Trebuchet MS"/>
                <a:ea typeface="Microsoft YaHei" panose="020B0503020204020204" pitchFamily="34" charset="-122"/>
                <a:cs typeface="Trebuchet MS"/>
              </a:rPr>
              <a:t>客服團隊互動狀況</a:t>
            </a:r>
            <a:endParaRPr lang="en-US" sz="1200">
              <a:solidFill>
                <a:srgbClr val="A8B21C"/>
              </a:solidFill>
              <a:latin typeface="Trebuchet MS"/>
              <a:ea typeface="Microsoft YaHei" panose="020B0503020204020204" pitchFamily="34" charset="-122"/>
              <a:cs typeface="Trebuchet MS"/>
            </a:endParaRPr>
          </a:p>
        </p:txBody>
      </p:sp>
      <p:sp>
        <p:nvSpPr>
          <p:cNvPr id="9" name="object 9"/>
          <p:cNvSpPr txBox="1"/>
          <p:nvPr/>
        </p:nvSpPr>
        <p:spPr>
          <a:xfrm>
            <a:off x="1952461" y="4675102"/>
            <a:ext cx="2126298" cy="1605568"/>
          </a:xfrm>
          <a:prstGeom prst="rect">
            <a:avLst/>
          </a:prstGeom>
        </p:spPr>
        <p:txBody>
          <a:bodyPr vert="horz" wrap="square" lIns="0" tIns="96520" rIns="0" bIns="0" rtlCol="0">
            <a:spAutoFit/>
          </a:bodyPr>
          <a:lstStyle/>
          <a:p>
            <a:pPr>
              <a:lnSpc>
                <a:spcPct val="100000"/>
              </a:lnSpc>
              <a:spcBef>
                <a:spcPts val="760"/>
              </a:spcBef>
            </a:pPr>
            <a:r>
              <a:rPr lang="zh-TW" altLang="en-US" sz="1400" b="1" spc="-10">
                <a:solidFill>
                  <a:srgbClr val="29BA74"/>
                </a:solidFill>
                <a:latin typeface="Henderson BCG Sans"/>
                <a:ea typeface="Microsoft YaHei" panose="020B0503020204020204" pitchFamily="34" charset="-122"/>
                <a:cs typeface="Henderson BCG Sans"/>
              </a:rPr>
              <a:t>生活型態</a:t>
            </a:r>
            <a:endParaRPr lang="en-US" sz="1400">
              <a:solidFill>
                <a:srgbClr val="29BA74"/>
              </a:solidFill>
              <a:latin typeface="Henderson BCG Sans"/>
              <a:ea typeface="Microsoft YaHei" panose="020B0503020204020204" pitchFamily="34" charset="-122"/>
              <a:cs typeface="Henderson BCG Sans"/>
            </a:endParaRPr>
          </a:p>
          <a:p>
            <a:pPr marL="324000" marR="5080" lvl="1" indent="-216000">
              <a:buClr>
                <a:schemeClr val="tx2"/>
              </a:buClr>
              <a:buFont typeface="Trebuchet MS"/>
              <a:buChar char="•"/>
            </a:pPr>
            <a:r>
              <a:rPr lang="zh-TW" altLang="en-US" sz="1200">
                <a:solidFill>
                  <a:srgbClr val="A8B21C"/>
                </a:solidFill>
                <a:latin typeface="Trebuchet MS"/>
                <a:ea typeface="Microsoft YaHei" panose="020B0503020204020204" pitchFamily="34" charset="-122"/>
                <a:cs typeface="Trebuchet MS"/>
              </a:rPr>
              <a:t>消費商家類型（購物中心</a:t>
            </a:r>
            <a:r>
              <a:rPr lang="en-US" altLang="zh-TW" sz="1200">
                <a:solidFill>
                  <a:srgbClr val="A8B21C"/>
                </a:solidFill>
                <a:latin typeface="Trebuchet MS"/>
                <a:ea typeface="Microsoft YaHei" panose="020B0503020204020204" pitchFamily="34" charset="-122"/>
                <a:cs typeface="Trebuchet MS"/>
              </a:rPr>
              <a:t>/</a:t>
            </a:r>
            <a:r>
              <a:rPr lang="zh-TW" altLang="en-US" sz="1200">
                <a:solidFill>
                  <a:srgbClr val="A8B21C"/>
                </a:solidFill>
                <a:latin typeface="Trebuchet MS"/>
                <a:ea typeface="Microsoft YaHei" panose="020B0503020204020204" pitchFamily="34" charset="-122"/>
                <a:cs typeface="Trebuchet MS"/>
              </a:rPr>
              <a:t>商店等）</a:t>
            </a:r>
            <a:endParaRPr lang="en-US" altLang="zh-TW" sz="1200">
              <a:solidFill>
                <a:srgbClr val="A8B21C"/>
              </a:solidFill>
              <a:latin typeface="Trebuchet MS"/>
              <a:ea typeface="Microsoft YaHei" panose="020B0503020204020204" pitchFamily="34" charset="-122"/>
              <a:cs typeface="Trebuchet MS"/>
            </a:endParaRPr>
          </a:p>
          <a:p>
            <a:pPr marL="324000" marR="5080" lvl="1" indent="-216000">
              <a:buClr>
                <a:schemeClr val="tx2"/>
              </a:buClr>
              <a:buFont typeface="Trebuchet MS"/>
              <a:buChar char="•"/>
            </a:pPr>
            <a:r>
              <a:rPr lang="zh-TW" altLang="en-US" sz="1200">
                <a:solidFill>
                  <a:srgbClr val="A8B21C"/>
                </a:solidFill>
                <a:latin typeface="Trebuchet MS"/>
                <a:ea typeface="Microsoft YaHei" panose="020B0503020204020204" pitchFamily="34" charset="-122"/>
                <a:cs typeface="Trebuchet MS"/>
              </a:rPr>
              <a:t>消費地點</a:t>
            </a:r>
            <a:endParaRPr lang="en-US" altLang="zh-TW" sz="1200">
              <a:solidFill>
                <a:srgbClr val="A8B21C"/>
              </a:solidFill>
              <a:latin typeface="Trebuchet MS"/>
              <a:ea typeface="Microsoft YaHei" panose="020B0503020204020204" pitchFamily="34" charset="-122"/>
              <a:cs typeface="Trebuchet MS"/>
            </a:endParaRPr>
          </a:p>
          <a:p>
            <a:pPr marL="324000" marR="5080" lvl="1" indent="-216000">
              <a:buClr>
                <a:schemeClr val="tx2"/>
              </a:buClr>
              <a:buFont typeface="Trebuchet MS"/>
              <a:buChar char="•"/>
            </a:pPr>
            <a:r>
              <a:rPr lang="zh-TW" altLang="en-US" sz="1200">
                <a:solidFill>
                  <a:srgbClr val="A8B21C"/>
                </a:solidFill>
                <a:latin typeface="Trebuchet MS"/>
                <a:ea typeface="Microsoft YaHei" panose="020B0503020204020204" pitchFamily="34" charset="-122"/>
                <a:cs typeface="Trebuchet MS"/>
              </a:rPr>
              <a:t>支出類別（餐飲</a:t>
            </a:r>
            <a:r>
              <a:rPr lang="en-US" altLang="zh-TW" sz="1200">
                <a:solidFill>
                  <a:srgbClr val="A8B21C"/>
                </a:solidFill>
                <a:latin typeface="Trebuchet MS"/>
                <a:ea typeface="Microsoft YaHei" panose="020B0503020204020204" pitchFamily="34" charset="-122"/>
                <a:cs typeface="Trebuchet MS"/>
              </a:rPr>
              <a:t>/</a:t>
            </a:r>
            <a:r>
              <a:rPr lang="zh-TW" altLang="en-US" sz="1200">
                <a:solidFill>
                  <a:srgbClr val="A8B21C"/>
                </a:solidFill>
                <a:latin typeface="Trebuchet MS"/>
                <a:ea typeface="Microsoft YaHei" panose="020B0503020204020204" pitchFamily="34" charset="-122"/>
                <a:cs typeface="Trebuchet MS"/>
              </a:rPr>
              <a:t>雜貨等）</a:t>
            </a:r>
            <a:endParaRPr lang="en-US" altLang="zh-TW" sz="1200">
              <a:solidFill>
                <a:srgbClr val="A8B21C"/>
              </a:solidFill>
              <a:latin typeface="Trebuchet MS"/>
              <a:ea typeface="Microsoft YaHei" panose="020B0503020204020204" pitchFamily="34" charset="-122"/>
              <a:cs typeface="Trebuchet MS"/>
            </a:endParaRPr>
          </a:p>
          <a:p>
            <a:pPr marL="324000" marR="5080" lvl="1" indent="-216000">
              <a:buClr>
                <a:schemeClr val="tx2"/>
              </a:buClr>
              <a:buFont typeface="Trebuchet MS"/>
              <a:buChar char="•"/>
            </a:pPr>
            <a:r>
              <a:rPr lang="zh-TW" altLang="en-US" sz="1200">
                <a:solidFill>
                  <a:srgbClr val="A8B21C"/>
                </a:solidFill>
                <a:latin typeface="Trebuchet MS"/>
                <a:ea typeface="Microsoft YaHei" panose="020B0503020204020204" pitchFamily="34" charset="-122"/>
                <a:cs typeface="Trebuchet MS"/>
              </a:rPr>
              <a:t>旅行國家</a:t>
            </a:r>
            <a:endParaRPr lang="en-US" altLang="zh-TW" sz="1200">
              <a:solidFill>
                <a:srgbClr val="A8B21C"/>
              </a:solidFill>
              <a:latin typeface="Trebuchet MS"/>
              <a:ea typeface="Microsoft YaHei" panose="020B0503020204020204" pitchFamily="34" charset="-122"/>
              <a:cs typeface="Trebuchet MS"/>
            </a:endParaRPr>
          </a:p>
          <a:p>
            <a:pPr marL="324000" marR="5080" lvl="1" indent="-216000">
              <a:buClr>
                <a:schemeClr val="tx2"/>
              </a:buClr>
              <a:buFont typeface="Trebuchet MS"/>
              <a:buChar char="•"/>
            </a:pPr>
            <a:r>
              <a:rPr lang="zh-TW" altLang="en-US" sz="1200">
                <a:solidFill>
                  <a:srgbClr val="575757"/>
                </a:solidFill>
                <a:latin typeface="Trebuchet MS"/>
                <a:ea typeface="Microsoft YaHei" panose="020B0503020204020204" pitchFamily="34" charset="-122"/>
                <a:cs typeface="Trebuchet MS"/>
              </a:rPr>
              <a:t>每月支出</a:t>
            </a:r>
            <a:endParaRPr lang="en-US" altLang="zh-TW" sz="1200">
              <a:solidFill>
                <a:srgbClr val="575757"/>
              </a:solidFill>
              <a:latin typeface="Trebuchet MS"/>
              <a:ea typeface="Microsoft YaHei" panose="020B0503020204020204" pitchFamily="34" charset="-122"/>
              <a:cs typeface="Trebuchet MS"/>
            </a:endParaRPr>
          </a:p>
          <a:p>
            <a:pPr marL="324000" marR="5080" lvl="1" indent="-216000">
              <a:buClr>
                <a:schemeClr val="tx2"/>
              </a:buClr>
              <a:buFont typeface="Trebuchet MS"/>
              <a:buChar char="•"/>
            </a:pPr>
            <a:r>
              <a:rPr lang="zh-TW" altLang="en-US" sz="1200">
                <a:solidFill>
                  <a:srgbClr val="A8B21C"/>
                </a:solidFill>
                <a:latin typeface="Trebuchet MS"/>
                <a:ea typeface="Microsoft YaHei" panose="020B0503020204020204" pitchFamily="34" charset="-122"/>
                <a:cs typeface="Trebuchet MS"/>
              </a:rPr>
              <a:t>訂閱服務類別</a:t>
            </a:r>
            <a:endParaRPr lang="en-US" sz="1200">
              <a:solidFill>
                <a:srgbClr val="A8B21C"/>
              </a:solidFill>
              <a:latin typeface="Henderson BCG Sans"/>
              <a:ea typeface="Microsoft YaHei" panose="020B0503020204020204" pitchFamily="34" charset="-122"/>
              <a:cs typeface="Henderson BCG Sans"/>
            </a:endParaRPr>
          </a:p>
        </p:txBody>
      </p:sp>
      <p:sp>
        <p:nvSpPr>
          <p:cNvPr id="10" name="object 10"/>
          <p:cNvSpPr txBox="1"/>
          <p:nvPr/>
        </p:nvSpPr>
        <p:spPr>
          <a:xfrm>
            <a:off x="7569454" y="5033738"/>
            <a:ext cx="2383917" cy="1420261"/>
          </a:xfrm>
          <a:prstGeom prst="rect">
            <a:avLst/>
          </a:prstGeom>
        </p:spPr>
        <p:txBody>
          <a:bodyPr vert="horz" wrap="square" lIns="0" tIns="95885" rIns="0" bIns="0" rtlCol="0">
            <a:spAutoFit/>
          </a:bodyPr>
          <a:lstStyle/>
          <a:p>
            <a:pPr marL="12700" algn="just">
              <a:lnSpc>
                <a:spcPct val="100000"/>
              </a:lnSpc>
              <a:spcBef>
                <a:spcPts val="755"/>
              </a:spcBef>
            </a:pPr>
            <a:r>
              <a:rPr lang="zh-TW" altLang="en-US" sz="1400" b="1">
                <a:solidFill>
                  <a:srgbClr val="29BA74"/>
                </a:solidFill>
                <a:latin typeface="Henderson BCG Sans"/>
                <a:ea typeface="Microsoft YaHei" panose="020B0503020204020204" pitchFamily="34" charset="-122"/>
                <a:cs typeface="Henderson BCG Sans"/>
              </a:rPr>
              <a:t>財富與資產數據</a:t>
            </a:r>
            <a:endParaRPr lang="en-US" altLang="zh-TW" sz="1400" b="1">
              <a:solidFill>
                <a:srgbClr val="29BA74"/>
              </a:solidFill>
              <a:latin typeface="Henderson BCG Sans"/>
              <a:ea typeface="Microsoft YaHei" panose="020B0503020204020204" pitchFamily="34" charset="-122"/>
              <a:cs typeface="Henderson BCG Sans"/>
            </a:endParaRPr>
          </a:p>
          <a:p>
            <a:pPr marL="324000" lvl="1" indent="-216000">
              <a:buClr>
                <a:schemeClr val="tx2"/>
              </a:buClr>
              <a:buFont typeface="Trebuchet MS"/>
              <a:buChar char="•"/>
            </a:pPr>
            <a:r>
              <a:rPr lang="en-US" altLang="zh-TW" sz="1200">
                <a:solidFill>
                  <a:srgbClr val="575757"/>
                </a:solidFill>
                <a:latin typeface="Trebuchet MS"/>
                <a:ea typeface="Microsoft YaHei" panose="020B0503020204020204" pitchFamily="34" charset="-122"/>
                <a:cs typeface="Trebuchet MS"/>
              </a:rPr>
              <a:t>CASA</a:t>
            </a:r>
            <a:r>
              <a:rPr lang="zh-TW" altLang="en-US" sz="1200">
                <a:solidFill>
                  <a:srgbClr val="575757"/>
                </a:solidFill>
                <a:latin typeface="Trebuchet MS"/>
                <a:ea typeface="Microsoft YaHei" panose="020B0503020204020204" pitchFamily="34" charset="-122"/>
                <a:cs typeface="Trebuchet MS"/>
              </a:rPr>
              <a:t> 餘額</a:t>
            </a:r>
            <a:endParaRPr lang="en-US" altLang="zh-TW" sz="1200">
              <a:solidFill>
                <a:srgbClr val="575757"/>
              </a:solidFill>
              <a:latin typeface="Trebuchet MS"/>
              <a:ea typeface="Microsoft YaHei" panose="020B0503020204020204" pitchFamily="34" charset="-122"/>
              <a:cs typeface="Trebuchet MS"/>
            </a:endParaRPr>
          </a:p>
          <a:p>
            <a:pPr marL="324000" lvl="1" indent="-216000">
              <a:buClr>
                <a:schemeClr val="tx2"/>
              </a:buClr>
              <a:buFont typeface="Trebuchet MS"/>
              <a:buChar char="•"/>
            </a:pPr>
            <a:r>
              <a:rPr lang="zh-TW" altLang="en-US" sz="1200">
                <a:solidFill>
                  <a:srgbClr val="575757"/>
                </a:solidFill>
                <a:ea typeface="Microsoft YaHei" panose="020B0503020204020204" pitchFamily="34" charset="-122"/>
                <a:cs typeface="Trebuchet MS"/>
              </a:rPr>
              <a:t>每月現金流入</a:t>
            </a:r>
            <a:r>
              <a:rPr lang="en-US" altLang="zh-TW" sz="1200">
                <a:solidFill>
                  <a:srgbClr val="575757"/>
                </a:solidFill>
                <a:ea typeface="Microsoft YaHei" panose="020B0503020204020204" pitchFamily="34" charset="-122"/>
                <a:cs typeface="Trebuchet MS"/>
              </a:rPr>
              <a:t>/</a:t>
            </a:r>
            <a:r>
              <a:rPr lang="zh-TW" altLang="en-US" sz="1200">
                <a:solidFill>
                  <a:srgbClr val="575757"/>
                </a:solidFill>
                <a:ea typeface="Microsoft YaHei" panose="020B0503020204020204" pitchFamily="34" charset="-122"/>
                <a:cs typeface="Trebuchet MS"/>
              </a:rPr>
              <a:t>流出</a:t>
            </a:r>
            <a:endParaRPr lang="en-US" sz="1200">
              <a:solidFill>
                <a:srgbClr val="575757"/>
              </a:solidFill>
              <a:ea typeface="Microsoft YaHei" panose="020B0503020204020204" pitchFamily="34" charset="-122"/>
              <a:cs typeface="Trebuchet MS"/>
            </a:endParaRPr>
          </a:p>
          <a:p>
            <a:pPr marL="324000" lvl="1" indent="-216000">
              <a:buClr>
                <a:schemeClr val="tx2"/>
              </a:buClr>
              <a:buFont typeface="Trebuchet MS"/>
              <a:buChar char="•"/>
            </a:pPr>
            <a:r>
              <a:rPr lang="zh-TW" altLang="en-US" sz="1200">
                <a:solidFill>
                  <a:srgbClr val="575757"/>
                </a:solidFill>
                <a:latin typeface="Trebuchet MS"/>
                <a:ea typeface="Microsoft YaHei" panose="020B0503020204020204" pitchFamily="34" charset="-122"/>
                <a:cs typeface="Trebuchet MS"/>
              </a:rPr>
              <a:t>定存現況</a:t>
            </a:r>
            <a:endParaRPr lang="en-US" altLang="zh-TW" sz="1200">
              <a:solidFill>
                <a:srgbClr val="575757"/>
              </a:solidFill>
              <a:latin typeface="Trebuchet MS"/>
              <a:ea typeface="Microsoft YaHei" panose="020B0503020204020204" pitchFamily="34" charset="-122"/>
              <a:cs typeface="Trebuchet MS"/>
            </a:endParaRPr>
          </a:p>
          <a:p>
            <a:pPr marL="324000" lvl="1" indent="-216000">
              <a:buClr>
                <a:schemeClr val="tx2"/>
              </a:buClr>
              <a:buFont typeface="Trebuchet MS"/>
              <a:buChar char="•"/>
            </a:pPr>
            <a:r>
              <a:rPr lang="zh-TW" altLang="en-US" sz="1200">
                <a:solidFill>
                  <a:srgbClr val="575757"/>
                </a:solidFill>
                <a:latin typeface="Trebuchet MS"/>
                <a:ea typeface="Microsoft YaHei" panose="020B0503020204020204" pitchFamily="34" charset="-122"/>
                <a:cs typeface="Trebuchet MS"/>
              </a:rPr>
              <a:t>外匯交易</a:t>
            </a:r>
            <a:endParaRPr lang="en-US" altLang="zh-TW" sz="1200">
              <a:solidFill>
                <a:srgbClr val="575757"/>
              </a:solidFill>
              <a:latin typeface="Trebuchet MS"/>
              <a:ea typeface="Microsoft YaHei" panose="020B0503020204020204" pitchFamily="34" charset="-122"/>
              <a:cs typeface="Trebuchet MS"/>
            </a:endParaRPr>
          </a:p>
          <a:p>
            <a:pPr marL="324000" lvl="1" indent="-216000">
              <a:buClr>
                <a:schemeClr val="tx2"/>
              </a:buClr>
              <a:buFont typeface="Trebuchet MS"/>
              <a:buChar char="•"/>
            </a:pPr>
            <a:r>
              <a:rPr lang="zh-TW" altLang="en-US" sz="1200">
                <a:solidFill>
                  <a:srgbClr val="575757"/>
                </a:solidFill>
                <a:latin typeface="Trebuchet MS"/>
                <a:ea typeface="Microsoft YaHei" panose="020B0503020204020204" pitchFamily="34" charset="-122"/>
                <a:cs typeface="Trebuchet MS"/>
              </a:rPr>
              <a:t>財管資産規模</a:t>
            </a:r>
            <a:endParaRPr lang="en-US" altLang="zh-TW" sz="1200">
              <a:solidFill>
                <a:srgbClr val="575757"/>
              </a:solidFill>
              <a:latin typeface="Trebuchet MS"/>
              <a:ea typeface="Microsoft YaHei" panose="020B0503020204020204" pitchFamily="34" charset="-122"/>
              <a:cs typeface="Trebuchet MS"/>
            </a:endParaRPr>
          </a:p>
          <a:p>
            <a:pPr marL="324000" lvl="1" indent="-216000">
              <a:buClr>
                <a:schemeClr val="tx2"/>
              </a:buClr>
              <a:buFont typeface="Trebuchet MS"/>
              <a:buChar char="•"/>
            </a:pPr>
            <a:r>
              <a:rPr lang="zh-TW" altLang="en-US" sz="1200">
                <a:solidFill>
                  <a:srgbClr val="575757"/>
                </a:solidFill>
                <a:latin typeface="Trebuchet MS"/>
                <a:ea typeface="Microsoft YaHei" panose="020B0503020204020204" pitchFamily="34" charset="-122"/>
                <a:cs typeface="Trebuchet MS"/>
              </a:rPr>
              <a:t>財管資産交易次數</a:t>
            </a:r>
            <a:endParaRPr lang="en-US" altLang="zh-TW" sz="1200">
              <a:solidFill>
                <a:srgbClr val="575757"/>
              </a:solidFill>
              <a:latin typeface="Trebuchet MS"/>
              <a:ea typeface="Microsoft YaHei" panose="020B0503020204020204" pitchFamily="34" charset="-122"/>
              <a:cs typeface="Trebuchet MS"/>
            </a:endParaRPr>
          </a:p>
        </p:txBody>
      </p:sp>
      <p:sp>
        <p:nvSpPr>
          <p:cNvPr id="11" name="object 11"/>
          <p:cNvSpPr txBox="1"/>
          <p:nvPr/>
        </p:nvSpPr>
        <p:spPr>
          <a:xfrm>
            <a:off x="8116316" y="3340180"/>
            <a:ext cx="1837055" cy="1209305"/>
          </a:xfrm>
          <a:prstGeom prst="rect">
            <a:avLst/>
          </a:prstGeom>
        </p:spPr>
        <p:txBody>
          <a:bodyPr vert="horz" wrap="square" lIns="0" tIns="69850" rIns="0" bIns="0" rtlCol="0">
            <a:spAutoFit/>
          </a:bodyPr>
          <a:lstStyle/>
          <a:p>
            <a:pPr marL="12700">
              <a:lnSpc>
                <a:spcPct val="100000"/>
              </a:lnSpc>
              <a:spcBef>
                <a:spcPts val="550"/>
              </a:spcBef>
            </a:pPr>
            <a:r>
              <a:rPr lang="zh-TW" altLang="en-US" sz="1400" b="1">
                <a:solidFill>
                  <a:srgbClr val="29BA74"/>
                </a:solidFill>
                <a:latin typeface="Henderson BCG Sans"/>
                <a:ea typeface="Microsoft YaHei" panose="020B0503020204020204" pitchFamily="34" charset="-122"/>
                <a:cs typeface="Henderson BCG Sans"/>
              </a:rPr>
              <a:t>財務行為</a:t>
            </a:r>
            <a:endParaRPr lang="en-US" altLang="zh-TW" sz="1400" b="1">
              <a:solidFill>
                <a:srgbClr val="29BA74"/>
              </a:solidFill>
              <a:latin typeface="Henderson BCG Sans"/>
              <a:ea typeface="Microsoft YaHei" panose="020B0503020204020204" pitchFamily="34" charset="-122"/>
              <a:cs typeface="Henderson BCG Sans"/>
            </a:endParaRPr>
          </a:p>
          <a:p>
            <a:pPr marL="324000" lvl="1" indent="-216000">
              <a:buClr>
                <a:schemeClr val="tx2"/>
              </a:buClr>
              <a:buFont typeface="Trebuchet MS"/>
              <a:buChar char="•"/>
            </a:pPr>
            <a:r>
              <a:rPr lang="zh-TW" altLang="en-US" sz="1200">
                <a:solidFill>
                  <a:srgbClr val="575757"/>
                </a:solidFill>
                <a:latin typeface="Trebuchet MS"/>
                <a:ea typeface="Microsoft YaHei" panose="020B0503020204020204" pitchFamily="34" charset="-122"/>
                <a:cs typeface="Trebuchet MS"/>
              </a:rPr>
              <a:t>逾期率</a:t>
            </a:r>
            <a:endParaRPr lang="en-US" altLang="zh-TW" sz="1200">
              <a:solidFill>
                <a:srgbClr val="575757"/>
              </a:solidFill>
              <a:latin typeface="Trebuchet MS"/>
              <a:ea typeface="Microsoft YaHei" panose="020B0503020204020204" pitchFamily="34" charset="-122"/>
              <a:cs typeface="Trebuchet MS"/>
            </a:endParaRPr>
          </a:p>
          <a:p>
            <a:pPr marL="324000" lvl="1" indent="-216000">
              <a:buClr>
                <a:schemeClr val="tx2"/>
              </a:buClr>
              <a:buFont typeface="Trebuchet MS"/>
              <a:buChar char="•"/>
            </a:pPr>
            <a:r>
              <a:rPr lang="zh-TW" altLang="en-US" sz="1200">
                <a:solidFill>
                  <a:srgbClr val="575757"/>
                </a:solidFill>
                <a:latin typeface="Trebuchet MS"/>
                <a:ea typeface="Microsoft YaHei" panose="020B0503020204020204" pitchFamily="34" charset="-122"/>
                <a:cs typeface="Trebuchet MS"/>
              </a:rPr>
              <a:t>信用與風險評估分數</a:t>
            </a:r>
            <a:endParaRPr lang="en-US" altLang="zh-TW" sz="1200">
              <a:solidFill>
                <a:srgbClr val="575757"/>
              </a:solidFill>
              <a:latin typeface="Trebuchet MS"/>
              <a:ea typeface="Microsoft YaHei" panose="020B0503020204020204" pitchFamily="34" charset="-122"/>
              <a:cs typeface="Trebuchet MS"/>
            </a:endParaRPr>
          </a:p>
          <a:p>
            <a:pPr marL="324000" lvl="1" indent="-216000">
              <a:buClr>
                <a:schemeClr val="tx2"/>
              </a:buClr>
              <a:buFont typeface="Trebuchet MS"/>
              <a:buChar char="•"/>
            </a:pPr>
            <a:r>
              <a:rPr lang="zh-TW" altLang="en-US" sz="1200">
                <a:solidFill>
                  <a:srgbClr val="575757"/>
                </a:solidFill>
                <a:latin typeface="Trebuchet MS"/>
                <a:ea typeface="Microsoft YaHei" panose="020B0503020204020204" pitchFamily="34" charset="-122"/>
                <a:cs typeface="Trebuchet MS"/>
              </a:rPr>
              <a:t>信用壞帳率</a:t>
            </a:r>
            <a:endParaRPr lang="en-US" altLang="zh-TW" sz="1200">
              <a:solidFill>
                <a:srgbClr val="575757"/>
              </a:solidFill>
              <a:latin typeface="Trebuchet MS"/>
              <a:ea typeface="Microsoft YaHei" panose="020B0503020204020204" pitchFamily="34" charset="-122"/>
              <a:cs typeface="Trebuchet MS"/>
            </a:endParaRPr>
          </a:p>
          <a:p>
            <a:pPr marL="324000" lvl="1" indent="-216000">
              <a:buClr>
                <a:schemeClr val="tx2"/>
              </a:buClr>
              <a:buFont typeface="Trebuchet MS"/>
              <a:buChar char="•"/>
            </a:pPr>
            <a:r>
              <a:rPr lang="zh-TW" altLang="en-US" sz="1200">
                <a:solidFill>
                  <a:srgbClr val="575757"/>
                </a:solidFill>
                <a:latin typeface="Trebuchet MS"/>
                <a:ea typeface="Microsoft YaHei" panose="020B0503020204020204" pitchFamily="34" charset="-122"/>
                <a:cs typeface="Trebuchet MS"/>
              </a:rPr>
              <a:t>信用額度</a:t>
            </a:r>
            <a:endParaRPr lang="en-US" altLang="zh-TW" sz="1200">
              <a:solidFill>
                <a:srgbClr val="575757"/>
              </a:solidFill>
              <a:latin typeface="Trebuchet MS"/>
              <a:ea typeface="Microsoft YaHei" panose="020B0503020204020204" pitchFamily="34" charset="-122"/>
              <a:cs typeface="Trebuchet MS"/>
            </a:endParaRPr>
          </a:p>
          <a:p>
            <a:pPr marL="324000" lvl="1" indent="-216000">
              <a:buClr>
                <a:schemeClr val="tx2"/>
              </a:buClr>
              <a:buFont typeface="Trebuchet MS"/>
              <a:buChar char="•"/>
            </a:pPr>
            <a:r>
              <a:rPr lang="zh-TW" altLang="en-US" sz="1200">
                <a:solidFill>
                  <a:srgbClr val="575757"/>
                </a:solidFill>
                <a:latin typeface="Trebuchet MS"/>
                <a:ea typeface="Microsoft YaHei" panose="020B0503020204020204" pitchFamily="34" charset="-122"/>
                <a:cs typeface="Trebuchet MS"/>
              </a:rPr>
              <a:t>信卡消費額</a:t>
            </a:r>
            <a:endParaRPr lang="en-US" sz="1200">
              <a:solidFill>
                <a:srgbClr val="575757"/>
              </a:solidFill>
              <a:latin typeface="Trebuchet MS"/>
              <a:ea typeface="Microsoft YaHei" panose="020B0503020204020204" pitchFamily="34" charset="-122"/>
              <a:cs typeface="Trebuchet MS"/>
            </a:endParaRPr>
          </a:p>
        </p:txBody>
      </p:sp>
      <p:sp>
        <p:nvSpPr>
          <p:cNvPr id="12" name="object 12"/>
          <p:cNvSpPr txBox="1"/>
          <p:nvPr/>
        </p:nvSpPr>
        <p:spPr>
          <a:xfrm>
            <a:off x="7822945" y="1695513"/>
            <a:ext cx="2047937" cy="1222771"/>
          </a:xfrm>
          <a:prstGeom prst="rect">
            <a:avLst/>
          </a:prstGeom>
        </p:spPr>
        <p:txBody>
          <a:bodyPr vert="horz" wrap="square" lIns="0" tIns="83185" rIns="0" bIns="0" rtlCol="0">
            <a:spAutoFit/>
          </a:bodyPr>
          <a:lstStyle/>
          <a:p>
            <a:pPr marL="12700">
              <a:lnSpc>
                <a:spcPct val="100000"/>
              </a:lnSpc>
              <a:spcBef>
                <a:spcPts val="655"/>
              </a:spcBef>
            </a:pPr>
            <a:r>
              <a:rPr lang="zh-TW" altLang="en-US" sz="1400" b="1">
                <a:solidFill>
                  <a:srgbClr val="29BA74"/>
                </a:solidFill>
                <a:latin typeface="Henderson BCG Sans"/>
                <a:ea typeface="Microsoft YaHei" panose="020B0503020204020204" pitchFamily="34" charset="-122"/>
                <a:cs typeface="Henderson BCG Sans"/>
              </a:rPr>
              <a:t>客戶畫像</a:t>
            </a:r>
            <a:endParaRPr lang="en-US" altLang="zh-TW" sz="1400" b="1">
              <a:solidFill>
                <a:srgbClr val="29BA74"/>
              </a:solidFill>
              <a:latin typeface="Henderson BCG Sans"/>
              <a:ea typeface="Microsoft YaHei" panose="020B0503020204020204" pitchFamily="34" charset="-122"/>
              <a:cs typeface="Henderson BCG Sans"/>
            </a:endParaRPr>
          </a:p>
          <a:p>
            <a:pPr marL="324000" lvl="1" indent="-216000">
              <a:buClr>
                <a:schemeClr val="tx2"/>
              </a:buClr>
              <a:buFont typeface="Trebuchet MS" panose="020B0603020202020204" pitchFamily="34" charset="0"/>
              <a:buChar char="•"/>
            </a:pPr>
            <a:r>
              <a:rPr lang="zh-TW" altLang="en-US" sz="1200">
                <a:solidFill>
                  <a:srgbClr val="575757"/>
                </a:solidFill>
                <a:ea typeface="Microsoft YaHei" panose="020B0503020204020204" pitchFamily="34" charset="-122"/>
              </a:rPr>
              <a:t>人口統計資料：年齡、性別、收入、婚姻狀况、家庭所在地、薪資</a:t>
            </a:r>
          </a:p>
          <a:p>
            <a:pPr marL="324000" lvl="1" indent="-216000">
              <a:buClr>
                <a:schemeClr val="tx2"/>
              </a:buClr>
              <a:buFont typeface="Trebuchet MS" panose="020B0603020202020204" pitchFamily="34" charset="0"/>
              <a:buChar char="•"/>
            </a:pPr>
            <a:r>
              <a:rPr lang="zh-TW" altLang="en-US" sz="1200">
                <a:solidFill>
                  <a:srgbClr val="575757"/>
                </a:solidFill>
                <a:ea typeface="Microsoft YaHei" panose="020B0503020204020204" pitchFamily="34" charset="-122"/>
              </a:rPr>
              <a:t>銀行互動：成為銀行客戶時間、分行</a:t>
            </a:r>
          </a:p>
        </p:txBody>
      </p:sp>
      <p:grpSp>
        <p:nvGrpSpPr>
          <p:cNvPr id="2" name="Group 1">
            <a:extLst>
              <a:ext uri="{FF2B5EF4-FFF2-40B4-BE49-F238E27FC236}">
                <a16:creationId xmlns:a16="http://schemas.microsoft.com/office/drawing/2014/main" id="{A165169F-1E0C-F818-A331-A6533BAD61DE}"/>
              </a:ext>
            </a:extLst>
          </p:cNvPr>
          <p:cNvGrpSpPr/>
          <p:nvPr/>
        </p:nvGrpSpPr>
        <p:grpSpPr>
          <a:xfrm>
            <a:off x="3544823" y="2131767"/>
            <a:ext cx="4513072" cy="3758692"/>
            <a:chOff x="3544823" y="1877567"/>
            <a:chExt cx="4513072" cy="3758692"/>
          </a:xfrm>
        </p:grpSpPr>
        <p:sp>
          <p:nvSpPr>
            <p:cNvPr id="5" name="object 5"/>
            <p:cNvSpPr/>
            <p:nvPr/>
          </p:nvSpPr>
          <p:spPr>
            <a:xfrm>
              <a:off x="4357115" y="4841747"/>
              <a:ext cx="826135" cy="652780"/>
            </a:xfrm>
            <a:custGeom>
              <a:avLst/>
              <a:gdLst/>
              <a:ahLst/>
              <a:cxnLst/>
              <a:rect l="l" t="t" r="r" b="b"/>
              <a:pathLst>
                <a:path w="826135" h="652779">
                  <a:moveTo>
                    <a:pt x="779780" y="0"/>
                  </a:moveTo>
                  <a:lnTo>
                    <a:pt x="795932" y="43211"/>
                  </a:lnTo>
                  <a:lnTo>
                    <a:pt x="807942" y="88518"/>
                  </a:lnTo>
                  <a:lnTo>
                    <a:pt x="815427" y="135731"/>
                  </a:lnTo>
                  <a:lnTo>
                    <a:pt x="818007" y="184657"/>
                  </a:lnTo>
                  <a:lnTo>
                    <a:pt x="815345" y="234111"/>
                  </a:lnTo>
                  <a:lnTo>
                    <a:pt x="807548" y="281961"/>
                  </a:lnTo>
                  <a:lnTo>
                    <a:pt x="794894" y="327942"/>
                  </a:lnTo>
                  <a:lnTo>
                    <a:pt x="777661" y="371784"/>
                  </a:lnTo>
                  <a:lnTo>
                    <a:pt x="756129" y="413220"/>
                  </a:lnTo>
                  <a:lnTo>
                    <a:pt x="730578" y="451981"/>
                  </a:lnTo>
                  <a:lnTo>
                    <a:pt x="701285" y="487800"/>
                  </a:lnTo>
                  <a:lnTo>
                    <a:pt x="668531" y="520409"/>
                  </a:lnTo>
                  <a:lnTo>
                    <a:pt x="632594" y="549540"/>
                  </a:lnTo>
                  <a:lnTo>
                    <a:pt x="593753" y="574924"/>
                  </a:lnTo>
                  <a:lnTo>
                    <a:pt x="552287" y="596294"/>
                  </a:lnTo>
                  <a:lnTo>
                    <a:pt x="508476" y="613381"/>
                  </a:lnTo>
                  <a:lnTo>
                    <a:pt x="462598" y="625918"/>
                  </a:lnTo>
                  <a:lnTo>
                    <a:pt x="414933" y="633637"/>
                  </a:lnTo>
                  <a:lnTo>
                    <a:pt x="365760" y="636269"/>
                  </a:lnTo>
                  <a:lnTo>
                    <a:pt x="316226" y="633637"/>
                  </a:lnTo>
                  <a:lnTo>
                    <a:pt x="268302" y="625916"/>
                  </a:lnTo>
                  <a:lnTo>
                    <a:pt x="222250" y="613372"/>
                  </a:lnTo>
                  <a:lnTo>
                    <a:pt x="178333" y="596268"/>
                  </a:lnTo>
                  <a:lnTo>
                    <a:pt x="136815" y="574869"/>
                  </a:lnTo>
                  <a:lnTo>
                    <a:pt x="97959" y="549439"/>
                  </a:lnTo>
                  <a:lnTo>
                    <a:pt x="62029" y="520243"/>
                  </a:lnTo>
                  <a:lnTo>
                    <a:pt x="29288" y="487546"/>
                  </a:lnTo>
                  <a:lnTo>
                    <a:pt x="0" y="451611"/>
                  </a:lnTo>
                  <a:lnTo>
                    <a:pt x="10602" y="467804"/>
                  </a:lnTo>
                  <a:lnTo>
                    <a:pt x="44196" y="511809"/>
                  </a:lnTo>
                  <a:lnTo>
                    <a:pt x="81547" y="546742"/>
                  </a:lnTo>
                  <a:lnTo>
                    <a:pt x="122695" y="577367"/>
                  </a:lnTo>
                  <a:lnTo>
                    <a:pt x="167253" y="603296"/>
                  </a:lnTo>
                  <a:lnTo>
                    <a:pt x="214835" y="624140"/>
                  </a:lnTo>
                  <a:lnTo>
                    <a:pt x="265053" y="639509"/>
                  </a:lnTo>
                  <a:lnTo>
                    <a:pt x="317522" y="649016"/>
                  </a:lnTo>
                  <a:lnTo>
                    <a:pt x="371856" y="652271"/>
                  </a:lnTo>
                  <a:lnTo>
                    <a:pt x="418353" y="649934"/>
                  </a:lnTo>
                  <a:lnTo>
                    <a:pt x="463493" y="643072"/>
                  </a:lnTo>
                  <a:lnTo>
                    <a:pt x="507049" y="631913"/>
                  </a:lnTo>
                  <a:lnTo>
                    <a:pt x="548794" y="616682"/>
                  </a:lnTo>
                  <a:lnTo>
                    <a:pt x="588502" y="597606"/>
                  </a:lnTo>
                  <a:lnTo>
                    <a:pt x="625945" y="574911"/>
                  </a:lnTo>
                  <a:lnTo>
                    <a:pt x="660898" y="548825"/>
                  </a:lnTo>
                  <a:lnTo>
                    <a:pt x="693134" y="519572"/>
                  </a:lnTo>
                  <a:lnTo>
                    <a:pt x="722426" y="487381"/>
                  </a:lnTo>
                  <a:lnTo>
                    <a:pt x="748547" y="452476"/>
                  </a:lnTo>
                  <a:lnTo>
                    <a:pt x="771271" y="415085"/>
                  </a:lnTo>
                  <a:lnTo>
                    <a:pt x="790372" y="375433"/>
                  </a:lnTo>
                  <a:lnTo>
                    <a:pt x="805623" y="333748"/>
                  </a:lnTo>
                  <a:lnTo>
                    <a:pt x="816797" y="290256"/>
                  </a:lnTo>
                  <a:lnTo>
                    <a:pt x="823667" y="245182"/>
                  </a:lnTo>
                  <a:lnTo>
                    <a:pt x="826008" y="198754"/>
                  </a:lnTo>
                  <a:lnTo>
                    <a:pt x="823017" y="146482"/>
                  </a:lnTo>
                  <a:lnTo>
                    <a:pt x="814181" y="95567"/>
                  </a:lnTo>
                  <a:lnTo>
                    <a:pt x="799701" y="46557"/>
                  </a:lnTo>
                  <a:lnTo>
                    <a:pt x="779780" y="0"/>
                  </a:lnTo>
                  <a:close/>
                </a:path>
              </a:pathLst>
            </a:custGeom>
            <a:solidFill>
              <a:srgbClr val="D7D9DD"/>
            </a:solidFill>
          </p:spPr>
          <p:txBody>
            <a:bodyPr wrap="square" lIns="0" tIns="0" rIns="0" bIns="0" rtlCol="0"/>
            <a:lstStyle/>
            <a:p>
              <a:endParaRPr lang="en-US">
                <a:ea typeface="Microsoft YaHei" panose="020B0503020204020204" pitchFamily="34" charset="-122"/>
              </a:endParaRPr>
            </a:p>
          </p:txBody>
        </p:sp>
        <p:pic>
          <p:nvPicPr>
            <p:cNvPr id="13" name="object 13"/>
            <p:cNvPicPr/>
            <p:nvPr/>
          </p:nvPicPr>
          <p:blipFill>
            <a:blip r:embed="rId6" cstate="print"/>
            <a:stretch>
              <a:fillRect/>
            </a:stretch>
          </p:blipFill>
          <p:spPr>
            <a:xfrm>
              <a:off x="5284660" y="4295457"/>
              <a:ext cx="209930" cy="207137"/>
            </a:xfrm>
            <a:prstGeom prst="rect">
              <a:avLst/>
            </a:prstGeom>
          </p:spPr>
        </p:pic>
        <p:grpSp>
          <p:nvGrpSpPr>
            <p:cNvPr id="14" name="object 14"/>
            <p:cNvGrpSpPr/>
            <p:nvPr/>
          </p:nvGrpSpPr>
          <p:grpSpPr>
            <a:xfrm>
              <a:off x="6451091" y="3617976"/>
              <a:ext cx="207263" cy="207263"/>
              <a:chOff x="6451091" y="3617976"/>
              <a:chExt cx="207263" cy="207263"/>
            </a:xfrm>
          </p:grpSpPr>
          <p:pic>
            <p:nvPicPr>
              <p:cNvPr id="15" name="object 15"/>
              <p:cNvPicPr/>
              <p:nvPr/>
            </p:nvPicPr>
            <p:blipFill>
              <a:blip r:embed="rId7" cstate="print"/>
              <a:stretch>
                <a:fillRect/>
              </a:stretch>
            </p:blipFill>
            <p:spPr>
              <a:xfrm>
                <a:off x="6451091" y="3617976"/>
                <a:ext cx="207263" cy="207263"/>
              </a:xfrm>
              <a:prstGeom prst="rect">
                <a:avLst/>
              </a:prstGeom>
            </p:spPr>
          </p:pic>
          <p:pic>
            <p:nvPicPr>
              <p:cNvPr id="16" name="object 16"/>
              <p:cNvPicPr/>
              <p:nvPr/>
            </p:nvPicPr>
            <p:blipFill>
              <a:blip r:embed="rId8" cstate="print"/>
              <a:stretch>
                <a:fillRect/>
              </a:stretch>
            </p:blipFill>
            <p:spPr>
              <a:xfrm>
                <a:off x="6487985" y="3656647"/>
                <a:ext cx="133476" cy="131762"/>
              </a:xfrm>
              <a:prstGeom prst="rect">
                <a:avLst/>
              </a:prstGeom>
            </p:spPr>
          </p:pic>
        </p:grpSp>
        <p:grpSp>
          <p:nvGrpSpPr>
            <p:cNvPr id="17" name="object 17"/>
            <p:cNvGrpSpPr/>
            <p:nvPr/>
          </p:nvGrpSpPr>
          <p:grpSpPr>
            <a:xfrm>
              <a:off x="6106096" y="4291361"/>
              <a:ext cx="209930" cy="206660"/>
              <a:chOff x="6106096" y="4291361"/>
              <a:chExt cx="209930" cy="206660"/>
            </a:xfrm>
          </p:grpSpPr>
          <p:pic>
            <p:nvPicPr>
              <p:cNvPr id="18" name="object 18"/>
              <p:cNvPicPr/>
              <p:nvPr/>
            </p:nvPicPr>
            <p:blipFill>
              <a:blip r:embed="rId9" cstate="print"/>
              <a:stretch>
                <a:fillRect/>
              </a:stretch>
            </p:blipFill>
            <p:spPr>
              <a:xfrm>
                <a:off x="6106096" y="4291361"/>
                <a:ext cx="209930" cy="206660"/>
              </a:xfrm>
              <a:prstGeom prst="rect">
                <a:avLst/>
              </a:prstGeom>
            </p:spPr>
          </p:pic>
          <p:pic>
            <p:nvPicPr>
              <p:cNvPr id="19" name="object 19"/>
              <p:cNvPicPr/>
              <p:nvPr/>
            </p:nvPicPr>
            <p:blipFill>
              <a:blip r:embed="rId10" cstate="print"/>
              <a:stretch>
                <a:fillRect/>
              </a:stretch>
            </p:blipFill>
            <p:spPr>
              <a:xfrm>
                <a:off x="6143561" y="4328731"/>
                <a:ext cx="133476" cy="131762"/>
              </a:xfrm>
              <a:prstGeom prst="rect">
                <a:avLst/>
              </a:prstGeom>
            </p:spPr>
          </p:pic>
        </p:grpSp>
        <p:grpSp>
          <p:nvGrpSpPr>
            <p:cNvPr id="20" name="object 20"/>
            <p:cNvGrpSpPr/>
            <p:nvPr/>
          </p:nvGrpSpPr>
          <p:grpSpPr>
            <a:xfrm>
              <a:off x="4946903" y="3617976"/>
              <a:ext cx="207263" cy="207263"/>
              <a:chOff x="4946903" y="3617976"/>
              <a:chExt cx="207263" cy="207263"/>
            </a:xfrm>
          </p:grpSpPr>
          <p:pic>
            <p:nvPicPr>
              <p:cNvPr id="21" name="object 21"/>
              <p:cNvPicPr/>
              <p:nvPr/>
            </p:nvPicPr>
            <p:blipFill>
              <a:blip r:embed="rId7" cstate="print"/>
              <a:stretch>
                <a:fillRect/>
              </a:stretch>
            </p:blipFill>
            <p:spPr>
              <a:xfrm>
                <a:off x="4946903" y="3617976"/>
                <a:ext cx="207263" cy="207263"/>
              </a:xfrm>
              <a:prstGeom prst="rect">
                <a:avLst/>
              </a:prstGeom>
            </p:spPr>
          </p:pic>
          <p:pic>
            <p:nvPicPr>
              <p:cNvPr id="22" name="object 22"/>
              <p:cNvPicPr/>
              <p:nvPr/>
            </p:nvPicPr>
            <p:blipFill>
              <a:blip r:embed="rId8" cstate="print"/>
              <a:stretch>
                <a:fillRect/>
              </a:stretch>
            </p:blipFill>
            <p:spPr>
              <a:xfrm>
                <a:off x="4983797" y="3656647"/>
                <a:ext cx="133476" cy="131762"/>
              </a:xfrm>
              <a:prstGeom prst="rect">
                <a:avLst/>
              </a:prstGeom>
            </p:spPr>
          </p:pic>
        </p:grpSp>
        <p:grpSp>
          <p:nvGrpSpPr>
            <p:cNvPr id="23" name="object 23"/>
            <p:cNvGrpSpPr/>
            <p:nvPr/>
          </p:nvGrpSpPr>
          <p:grpSpPr>
            <a:xfrm>
              <a:off x="5280088" y="3009201"/>
              <a:ext cx="209930" cy="207137"/>
              <a:chOff x="5280088" y="3009201"/>
              <a:chExt cx="209930" cy="207137"/>
            </a:xfrm>
          </p:grpSpPr>
          <p:pic>
            <p:nvPicPr>
              <p:cNvPr id="24" name="object 24"/>
              <p:cNvPicPr/>
              <p:nvPr/>
            </p:nvPicPr>
            <p:blipFill>
              <a:blip r:embed="rId11" cstate="print"/>
              <a:stretch>
                <a:fillRect/>
              </a:stretch>
            </p:blipFill>
            <p:spPr>
              <a:xfrm>
                <a:off x="5280088" y="3009201"/>
                <a:ext cx="209930" cy="207137"/>
              </a:xfrm>
              <a:prstGeom prst="rect">
                <a:avLst/>
              </a:prstGeom>
            </p:spPr>
          </p:pic>
          <p:pic>
            <p:nvPicPr>
              <p:cNvPr id="25" name="object 25"/>
              <p:cNvPicPr/>
              <p:nvPr/>
            </p:nvPicPr>
            <p:blipFill>
              <a:blip r:embed="rId8" cstate="print"/>
              <a:stretch>
                <a:fillRect/>
              </a:stretch>
            </p:blipFill>
            <p:spPr>
              <a:xfrm>
                <a:off x="5319077" y="3047047"/>
                <a:ext cx="133476" cy="131762"/>
              </a:xfrm>
              <a:prstGeom prst="rect">
                <a:avLst/>
              </a:prstGeom>
            </p:spPr>
          </p:pic>
        </p:grpSp>
        <p:grpSp>
          <p:nvGrpSpPr>
            <p:cNvPr id="26" name="object 26"/>
            <p:cNvGrpSpPr/>
            <p:nvPr/>
          </p:nvGrpSpPr>
          <p:grpSpPr>
            <a:xfrm>
              <a:off x="6173089" y="3007677"/>
              <a:ext cx="208534" cy="207137"/>
              <a:chOff x="6173089" y="3007677"/>
              <a:chExt cx="208534" cy="207137"/>
            </a:xfrm>
          </p:grpSpPr>
          <p:pic>
            <p:nvPicPr>
              <p:cNvPr id="27" name="object 27"/>
              <p:cNvPicPr/>
              <p:nvPr/>
            </p:nvPicPr>
            <p:blipFill>
              <a:blip r:embed="rId12" cstate="print"/>
              <a:stretch>
                <a:fillRect/>
              </a:stretch>
            </p:blipFill>
            <p:spPr>
              <a:xfrm>
                <a:off x="6173089" y="3007677"/>
                <a:ext cx="208534" cy="207137"/>
              </a:xfrm>
              <a:prstGeom prst="rect">
                <a:avLst/>
              </a:prstGeom>
            </p:spPr>
          </p:pic>
          <p:pic>
            <p:nvPicPr>
              <p:cNvPr id="28" name="object 28"/>
              <p:cNvPicPr/>
              <p:nvPr/>
            </p:nvPicPr>
            <p:blipFill>
              <a:blip r:embed="rId10" cstate="print"/>
              <a:stretch>
                <a:fillRect/>
              </a:stretch>
            </p:blipFill>
            <p:spPr>
              <a:xfrm>
                <a:off x="6210617" y="3045523"/>
                <a:ext cx="133477" cy="131762"/>
              </a:xfrm>
              <a:prstGeom prst="rect">
                <a:avLst/>
              </a:prstGeom>
            </p:spPr>
          </p:pic>
        </p:grpSp>
        <p:grpSp>
          <p:nvGrpSpPr>
            <p:cNvPr id="29" name="object 29"/>
            <p:cNvGrpSpPr/>
            <p:nvPr/>
          </p:nvGrpSpPr>
          <p:grpSpPr>
            <a:xfrm>
              <a:off x="3544823" y="1877567"/>
              <a:ext cx="4513072" cy="3758692"/>
              <a:chOff x="3544823" y="1877567"/>
              <a:chExt cx="4513072" cy="3758692"/>
            </a:xfrm>
          </p:grpSpPr>
          <p:pic>
            <p:nvPicPr>
              <p:cNvPr id="30" name="object 30"/>
              <p:cNvPicPr/>
              <p:nvPr/>
            </p:nvPicPr>
            <p:blipFill>
              <a:blip r:embed="rId13" cstate="print"/>
              <a:stretch>
                <a:fillRect/>
              </a:stretch>
            </p:blipFill>
            <p:spPr>
              <a:xfrm>
                <a:off x="5039867" y="2965703"/>
                <a:ext cx="1567434" cy="1570482"/>
              </a:xfrm>
              <a:prstGeom prst="rect">
                <a:avLst/>
              </a:prstGeom>
            </p:spPr>
          </p:pic>
          <p:sp>
            <p:nvSpPr>
              <p:cNvPr id="31" name="object 31"/>
              <p:cNvSpPr/>
              <p:nvPr/>
            </p:nvSpPr>
            <p:spPr>
              <a:xfrm>
                <a:off x="5058155" y="2983991"/>
                <a:ext cx="1515110" cy="1518285"/>
              </a:xfrm>
              <a:custGeom>
                <a:avLst/>
                <a:gdLst/>
                <a:ahLst/>
                <a:cxnLst/>
                <a:rect l="l" t="t" r="r" b="b"/>
                <a:pathLst>
                  <a:path w="1515109" h="1518285">
                    <a:moveTo>
                      <a:pt x="757428" y="0"/>
                    </a:moveTo>
                    <a:lnTo>
                      <a:pt x="709511" y="1492"/>
                    </a:lnTo>
                    <a:lnTo>
                      <a:pt x="662388" y="5910"/>
                    </a:lnTo>
                    <a:lnTo>
                      <a:pt x="616148" y="13164"/>
                    </a:lnTo>
                    <a:lnTo>
                      <a:pt x="570880" y="23167"/>
                    </a:lnTo>
                    <a:lnTo>
                      <a:pt x="526671" y="35829"/>
                    </a:lnTo>
                    <a:lnTo>
                      <a:pt x="483611" y="51061"/>
                    </a:lnTo>
                    <a:lnTo>
                      <a:pt x="441788" y="68776"/>
                    </a:lnTo>
                    <a:lnTo>
                      <a:pt x="401291" y="88884"/>
                    </a:lnTo>
                    <a:lnTo>
                      <a:pt x="362208" y="111296"/>
                    </a:lnTo>
                    <a:lnTo>
                      <a:pt x="324627" y="135925"/>
                    </a:lnTo>
                    <a:lnTo>
                      <a:pt x="288639" y="162680"/>
                    </a:lnTo>
                    <a:lnTo>
                      <a:pt x="254330" y="191474"/>
                    </a:lnTo>
                    <a:lnTo>
                      <a:pt x="221789" y="222218"/>
                    </a:lnTo>
                    <a:lnTo>
                      <a:pt x="191106" y="254822"/>
                    </a:lnTo>
                    <a:lnTo>
                      <a:pt x="162368" y="289199"/>
                    </a:lnTo>
                    <a:lnTo>
                      <a:pt x="135665" y="325260"/>
                    </a:lnTo>
                    <a:lnTo>
                      <a:pt x="111084" y="362916"/>
                    </a:lnTo>
                    <a:lnTo>
                      <a:pt x="88715" y="402077"/>
                    </a:lnTo>
                    <a:lnTo>
                      <a:pt x="68645" y="442657"/>
                    </a:lnTo>
                    <a:lnTo>
                      <a:pt x="50965" y="484565"/>
                    </a:lnTo>
                    <a:lnTo>
                      <a:pt x="35761" y="527713"/>
                    </a:lnTo>
                    <a:lnTo>
                      <a:pt x="23123" y="572013"/>
                    </a:lnTo>
                    <a:lnTo>
                      <a:pt x="13139" y="617375"/>
                    </a:lnTo>
                    <a:lnTo>
                      <a:pt x="5898" y="663712"/>
                    </a:lnTo>
                    <a:lnTo>
                      <a:pt x="1489" y="710933"/>
                    </a:lnTo>
                    <a:lnTo>
                      <a:pt x="0" y="758952"/>
                    </a:lnTo>
                    <a:lnTo>
                      <a:pt x="1489" y="806970"/>
                    </a:lnTo>
                    <a:lnTo>
                      <a:pt x="5898" y="854191"/>
                    </a:lnTo>
                    <a:lnTo>
                      <a:pt x="13139" y="900528"/>
                    </a:lnTo>
                    <a:lnTo>
                      <a:pt x="23123" y="945890"/>
                    </a:lnTo>
                    <a:lnTo>
                      <a:pt x="35761" y="990190"/>
                    </a:lnTo>
                    <a:lnTo>
                      <a:pt x="50965" y="1033338"/>
                    </a:lnTo>
                    <a:lnTo>
                      <a:pt x="68645" y="1075246"/>
                    </a:lnTo>
                    <a:lnTo>
                      <a:pt x="88715" y="1115826"/>
                    </a:lnTo>
                    <a:lnTo>
                      <a:pt x="111084" y="1154987"/>
                    </a:lnTo>
                    <a:lnTo>
                      <a:pt x="135665" y="1192643"/>
                    </a:lnTo>
                    <a:lnTo>
                      <a:pt x="162368" y="1228704"/>
                    </a:lnTo>
                    <a:lnTo>
                      <a:pt x="191106" y="1263081"/>
                    </a:lnTo>
                    <a:lnTo>
                      <a:pt x="221789" y="1295685"/>
                    </a:lnTo>
                    <a:lnTo>
                      <a:pt x="254330" y="1326429"/>
                    </a:lnTo>
                    <a:lnTo>
                      <a:pt x="288639" y="1355223"/>
                    </a:lnTo>
                    <a:lnTo>
                      <a:pt x="324627" y="1381978"/>
                    </a:lnTo>
                    <a:lnTo>
                      <a:pt x="362208" y="1406607"/>
                    </a:lnTo>
                    <a:lnTo>
                      <a:pt x="401291" y="1429019"/>
                    </a:lnTo>
                    <a:lnTo>
                      <a:pt x="441788" y="1449127"/>
                    </a:lnTo>
                    <a:lnTo>
                      <a:pt x="483611" y="1466842"/>
                    </a:lnTo>
                    <a:lnTo>
                      <a:pt x="526671" y="1482074"/>
                    </a:lnTo>
                    <a:lnTo>
                      <a:pt x="570880" y="1494736"/>
                    </a:lnTo>
                    <a:lnTo>
                      <a:pt x="616148" y="1504739"/>
                    </a:lnTo>
                    <a:lnTo>
                      <a:pt x="662388" y="1511993"/>
                    </a:lnTo>
                    <a:lnTo>
                      <a:pt x="709511" y="1516411"/>
                    </a:lnTo>
                    <a:lnTo>
                      <a:pt x="757428" y="1517904"/>
                    </a:lnTo>
                    <a:lnTo>
                      <a:pt x="805344" y="1516411"/>
                    </a:lnTo>
                    <a:lnTo>
                      <a:pt x="852467" y="1511993"/>
                    </a:lnTo>
                    <a:lnTo>
                      <a:pt x="898707" y="1504739"/>
                    </a:lnTo>
                    <a:lnTo>
                      <a:pt x="943975" y="1494736"/>
                    </a:lnTo>
                    <a:lnTo>
                      <a:pt x="974385" y="1486027"/>
                    </a:lnTo>
                    <a:lnTo>
                      <a:pt x="757428" y="1486027"/>
                    </a:lnTo>
                    <a:lnTo>
                      <a:pt x="709242" y="1484458"/>
                    </a:lnTo>
                    <a:lnTo>
                      <a:pt x="661664" y="1479784"/>
                    </a:lnTo>
                    <a:lnTo>
                      <a:pt x="614807" y="1472053"/>
                    </a:lnTo>
                    <a:lnTo>
                      <a:pt x="568785" y="1461313"/>
                    </a:lnTo>
                    <a:lnTo>
                      <a:pt x="523715" y="1447614"/>
                    </a:lnTo>
                    <a:lnTo>
                      <a:pt x="479710" y="1431004"/>
                    </a:lnTo>
                    <a:lnTo>
                      <a:pt x="436885" y="1411531"/>
                    </a:lnTo>
                    <a:lnTo>
                      <a:pt x="395355" y="1389243"/>
                    </a:lnTo>
                    <a:lnTo>
                      <a:pt x="355234" y="1364190"/>
                    </a:lnTo>
                    <a:lnTo>
                      <a:pt x="316638" y="1336419"/>
                    </a:lnTo>
                    <a:lnTo>
                      <a:pt x="279679" y="1305980"/>
                    </a:lnTo>
                    <a:lnTo>
                      <a:pt x="244475" y="1272921"/>
                    </a:lnTo>
                    <a:lnTo>
                      <a:pt x="211476" y="1237623"/>
                    </a:lnTo>
                    <a:lnTo>
                      <a:pt x="181092" y="1200576"/>
                    </a:lnTo>
                    <a:lnTo>
                      <a:pt x="153372" y="1161895"/>
                    </a:lnTo>
                    <a:lnTo>
                      <a:pt x="128364" y="1121692"/>
                    </a:lnTo>
                    <a:lnTo>
                      <a:pt x="106116" y="1080081"/>
                    </a:lnTo>
                    <a:lnTo>
                      <a:pt x="86677" y="1037177"/>
                    </a:lnTo>
                    <a:lnTo>
                      <a:pt x="70096" y="993092"/>
                    </a:lnTo>
                    <a:lnTo>
                      <a:pt x="56420" y="947942"/>
                    </a:lnTo>
                    <a:lnTo>
                      <a:pt x="45700" y="901838"/>
                    </a:lnTo>
                    <a:lnTo>
                      <a:pt x="37982" y="854896"/>
                    </a:lnTo>
                    <a:lnTo>
                      <a:pt x="33316" y="807230"/>
                    </a:lnTo>
                    <a:lnTo>
                      <a:pt x="31750" y="758952"/>
                    </a:lnTo>
                    <a:lnTo>
                      <a:pt x="33316" y="710673"/>
                    </a:lnTo>
                    <a:lnTo>
                      <a:pt x="37982" y="663007"/>
                    </a:lnTo>
                    <a:lnTo>
                      <a:pt x="45700" y="616065"/>
                    </a:lnTo>
                    <a:lnTo>
                      <a:pt x="56420" y="569961"/>
                    </a:lnTo>
                    <a:lnTo>
                      <a:pt x="70096" y="524811"/>
                    </a:lnTo>
                    <a:lnTo>
                      <a:pt x="86677" y="480726"/>
                    </a:lnTo>
                    <a:lnTo>
                      <a:pt x="106116" y="437822"/>
                    </a:lnTo>
                    <a:lnTo>
                      <a:pt x="128364" y="396211"/>
                    </a:lnTo>
                    <a:lnTo>
                      <a:pt x="153372" y="356008"/>
                    </a:lnTo>
                    <a:lnTo>
                      <a:pt x="181092" y="317327"/>
                    </a:lnTo>
                    <a:lnTo>
                      <a:pt x="211476" y="280280"/>
                    </a:lnTo>
                    <a:lnTo>
                      <a:pt x="244475" y="244983"/>
                    </a:lnTo>
                    <a:lnTo>
                      <a:pt x="279679" y="211923"/>
                    </a:lnTo>
                    <a:lnTo>
                      <a:pt x="316638" y="181484"/>
                    </a:lnTo>
                    <a:lnTo>
                      <a:pt x="355234" y="153713"/>
                    </a:lnTo>
                    <a:lnTo>
                      <a:pt x="395355" y="128660"/>
                    </a:lnTo>
                    <a:lnTo>
                      <a:pt x="436885" y="106372"/>
                    </a:lnTo>
                    <a:lnTo>
                      <a:pt x="479710" y="86899"/>
                    </a:lnTo>
                    <a:lnTo>
                      <a:pt x="523715" y="70289"/>
                    </a:lnTo>
                    <a:lnTo>
                      <a:pt x="568785" y="56590"/>
                    </a:lnTo>
                    <a:lnTo>
                      <a:pt x="614806" y="45850"/>
                    </a:lnTo>
                    <a:lnTo>
                      <a:pt x="661664" y="38119"/>
                    </a:lnTo>
                    <a:lnTo>
                      <a:pt x="709242" y="33445"/>
                    </a:lnTo>
                    <a:lnTo>
                      <a:pt x="757428" y="31877"/>
                    </a:lnTo>
                    <a:lnTo>
                      <a:pt x="974385" y="31877"/>
                    </a:lnTo>
                    <a:lnTo>
                      <a:pt x="943975" y="23167"/>
                    </a:lnTo>
                    <a:lnTo>
                      <a:pt x="898707" y="13164"/>
                    </a:lnTo>
                    <a:lnTo>
                      <a:pt x="852467" y="5910"/>
                    </a:lnTo>
                    <a:lnTo>
                      <a:pt x="805344" y="1492"/>
                    </a:lnTo>
                    <a:lnTo>
                      <a:pt x="757428" y="0"/>
                    </a:lnTo>
                    <a:close/>
                  </a:path>
                  <a:path w="1515109" h="1518285">
                    <a:moveTo>
                      <a:pt x="974385" y="31877"/>
                    </a:moveTo>
                    <a:lnTo>
                      <a:pt x="757428" y="31877"/>
                    </a:lnTo>
                    <a:lnTo>
                      <a:pt x="805613" y="33445"/>
                    </a:lnTo>
                    <a:lnTo>
                      <a:pt x="853191" y="38119"/>
                    </a:lnTo>
                    <a:lnTo>
                      <a:pt x="900049" y="45850"/>
                    </a:lnTo>
                    <a:lnTo>
                      <a:pt x="946070" y="56590"/>
                    </a:lnTo>
                    <a:lnTo>
                      <a:pt x="991140" y="70289"/>
                    </a:lnTo>
                    <a:lnTo>
                      <a:pt x="1035145" y="86899"/>
                    </a:lnTo>
                    <a:lnTo>
                      <a:pt x="1077970" y="106372"/>
                    </a:lnTo>
                    <a:lnTo>
                      <a:pt x="1119500" y="128660"/>
                    </a:lnTo>
                    <a:lnTo>
                      <a:pt x="1159621" y="153713"/>
                    </a:lnTo>
                    <a:lnTo>
                      <a:pt x="1198217" y="181484"/>
                    </a:lnTo>
                    <a:lnTo>
                      <a:pt x="1235176" y="211923"/>
                    </a:lnTo>
                    <a:lnTo>
                      <a:pt x="1270381" y="244983"/>
                    </a:lnTo>
                    <a:lnTo>
                      <a:pt x="1303379" y="280280"/>
                    </a:lnTo>
                    <a:lnTo>
                      <a:pt x="1333763" y="317327"/>
                    </a:lnTo>
                    <a:lnTo>
                      <a:pt x="1361483" y="356008"/>
                    </a:lnTo>
                    <a:lnTo>
                      <a:pt x="1386491" y="396211"/>
                    </a:lnTo>
                    <a:lnTo>
                      <a:pt x="1408739" y="437822"/>
                    </a:lnTo>
                    <a:lnTo>
                      <a:pt x="1428178" y="480726"/>
                    </a:lnTo>
                    <a:lnTo>
                      <a:pt x="1444759" y="524811"/>
                    </a:lnTo>
                    <a:lnTo>
                      <a:pt x="1458435" y="569961"/>
                    </a:lnTo>
                    <a:lnTo>
                      <a:pt x="1469155" y="616065"/>
                    </a:lnTo>
                    <a:lnTo>
                      <a:pt x="1476873" y="663007"/>
                    </a:lnTo>
                    <a:lnTo>
                      <a:pt x="1481539" y="710673"/>
                    </a:lnTo>
                    <a:lnTo>
                      <a:pt x="1483105" y="758952"/>
                    </a:lnTo>
                    <a:lnTo>
                      <a:pt x="1481539" y="807230"/>
                    </a:lnTo>
                    <a:lnTo>
                      <a:pt x="1476873" y="854896"/>
                    </a:lnTo>
                    <a:lnTo>
                      <a:pt x="1469155" y="901838"/>
                    </a:lnTo>
                    <a:lnTo>
                      <a:pt x="1458435" y="947942"/>
                    </a:lnTo>
                    <a:lnTo>
                      <a:pt x="1444759" y="993092"/>
                    </a:lnTo>
                    <a:lnTo>
                      <a:pt x="1428178" y="1037177"/>
                    </a:lnTo>
                    <a:lnTo>
                      <a:pt x="1408739" y="1080081"/>
                    </a:lnTo>
                    <a:lnTo>
                      <a:pt x="1386491" y="1121692"/>
                    </a:lnTo>
                    <a:lnTo>
                      <a:pt x="1361483" y="1161895"/>
                    </a:lnTo>
                    <a:lnTo>
                      <a:pt x="1333763" y="1200576"/>
                    </a:lnTo>
                    <a:lnTo>
                      <a:pt x="1303379" y="1237623"/>
                    </a:lnTo>
                    <a:lnTo>
                      <a:pt x="1270381" y="1272921"/>
                    </a:lnTo>
                    <a:lnTo>
                      <a:pt x="1235176" y="1305980"/>
                    </a:lnTo>
                    <a:lnTo>
                      <a:pt x="1198217" y="1336419"/>
                    </a:lnTo>
                    <a:lnTo>
                      <a:pt x="1159621" y="1364190"/>
                    </a:lnTo>
                    <a:lnTo>
                      <a:pt x="1119500" y="1389243"/>
                    </a:lnTo>
                    <a:lnTo>
                      <a:pt x="1077970" y="1411531"/>
                    </a:lnTo>
                    <a:lnTo>
                      <a:pt x="1035145" y="1431004"/>
                    </a:lnTo>
                    <a:lnTo>
                      <a:pt x="991140" y="1447614"/>
                    </a:lnTo>
                    <a:lnTo>
                      <a:pt x="946070" y="1461313"/>
                    </a:lnTo>
                    <a:lnTo>
                      <a:pt x="900049" y="1472053"/>
                    </a:lnTo>
                    <a:lnTo>
                      <a:pt x="853191" y="1479784"/>
                    </a:lnTo>
                    <a:lnTo>
                      <a:pt x="805613" y="1484458"/>
                    </a:lnTo>
                    <a:lnTo>
                      <a:pt x="757428" y="1486027"/>
                    </a:lnTo>
                    <a:lnTo>
                      <a:pt x="974385" y="1486027"/>
                    </a:lnTo>
                    <a:lnTo>
                      <a:pt x="1031244" y="1466842"/>
                    </a:lnTo>
                    <a:lnTo>
                      <a:pt x="1073067" y="1449127"/>
                    </a:lnTo>
                    <a:lnTo>
                      <a:pt x="1113564" y="1429019"/>
                    </a:lnTo>
                    <a:lnTo>
                      <a:pt x="1152647" y="1406607"/>
                    </a:lnTo>
                    <a:lnTo>
                      <a:pt x="1190228" y="1381978"/>
                    </a:lnTo>
                    <a:lnTo>
                      <a:pt x="1226216" y="1355223"/>
                    </a:lnTo>
                    <a:lnTo>
                      <a:pt x="1260525" y="1326429"/>
                    </a:lnTo>
                    <a:lnTo>
                      <a:pt x="1293066" y="1295685"/>
                    </a:lnTo>
                    <a:lnTo>
                      <a:pt x="1323749" y="1263081"/>
                    </a:lnTo>
                    <a:lnTo>
                      <a:pt x="1352487" y="1228704"/>
                    </a:lnTo>
                    <a:lnTo>
                      <a:pt x="1379190" y="1192643"/>
                    </a:lnTo>
                    <a:lnTo>
                      <a:pt x="1403771" y="1154987"/>
                    </a:lnTo>
                    <a:lnTo>
                      <a:pt x="1426140" y="1115826"/>
                    </a:lnTo>
                    <a:lnTo>
                      <a:pt x="1446210" y="1075246"/>
                    </a:lnTo>
                    <a:lnTo>
                      <a:pt x="1463890" y="1033338"/>
                    </a:lnTo>
                    <a:lnTo>
                      <a:pt x="1479094" y="990190"/>
                    </a:lnTo>
                    <a:lnTo>
                      <a:pt x="1491732" y="945890"/>
                    </a:lnTo>
                    <a:lnTo>
                      <a:pt x="1501716" y="900528"/>
                    </a:lnTo>
                    <a:lnTo>
                      <a:pt x="1508957" y="854191"/>
                    </a:lnTo>
                    <a:lnTo>
                      <a:pt x="1513366" y="806970"/>
                    </a:lnTo>
                    <a:lnTo>
                      <a:pt x="1514855" y="758952"/>
                    </a:lnTo>
                    <a:lnTo>
                      <a:pt x="1513366" y="710933"/>
                    </a:lnTo>
                    <a:lnTo>
                      <a:pt x="1508957" y="663712"/>
                    </a:lnTo>
                    <a:lnTo>
                      <a:pt x="1501716" y="617375"/>
                    </a:lnTo>
                    <a:lnTo>
                      <a:pt x="1491732" y="572013"/>
                    </a:lnTo>
                    <a:lnTo>
                      <a:pt x="1479094" y="527713"/>
                    </a:lnTo>
                    <a:lnTo>
                      <a:pt x="1463890" y="484565"/>
                    </a:lnTo>
                    <a:lnTo>
                      <a:pt x="1446210" y="442657"/>
                    </a:lnTo>
                    <a:lnTo>
                      <a:pt x="1426140" y="402077"/>
                    </a:lnTo>
                    <a:lnTo>
                      <a:pt x="1403771" y="362916"/>
                    </a:lnTo>
                    <a:lnTo>
                      <a:pt x="1379190" y="325260"/>
                    </a:lnTo>
                    <a:lnTo>
                      <a:pt x="1352487" y="289199"/>
                    </a:lnTo>
                    <a:lnTo>
                      <a:pt x="1323749" y="254822"/>
                    </a:lnTo>
                    <a:lnTo>
                      <a:pt x="1293066" y="222218"/>
                    </a:lnTo>
                    <a:lnTo>
                      <a:pt x="1260525" y="191474"/>
                    </a:lnTo>
                    <a:lnTo>
                      <a:pt x="1226216" y="162680"/>
                    </a:lnTo>
                    <a:lnTo>
                      <a:pt x="1190228" y="135925"/>
                    </a:lnTo>
                    <a:lnTo>
                      <a:pt x="1152647" y="111296"/>
                    </a:lnTo>
                    <a:lnTo>
                      <a:pt x="1113564" y="88884"/>
                    </a:lnTo>
                    <a:lnTo>
                      <a:pt x="1073067" y="68776"/>
                    </a:lnTo>
                    <a:lnTo>
                      <a:pt x="1031244" y="51061"/>
                    </a:lnTo>
                    <a:lnTo>
                      <a:pt x="988184" y="35829"/>
                    </a:lnTo>
                    <a:lnTo>
                      <a:pt x="974385" y="31877"/>
                    </a:lnTo>
                    <a:close/>
                  </a:path>
                </a:pathLst>
              </a:custGeom>
              <a:solidFill>
                <a:srgbClr val="6D6E73"/>
              </a:solidFill>
            </p:spPr>
            <p:txBody>
              <a:bodyPr wrap="square" lIns="0" tIns="0" rIns="0" bIns="0" rtlCol="0"/>
              <a:lstStyle/>
              <a:p>
                <a:endParaRPr>
                  <a:ea typeface="Microsoft YaHei" panose="020B0503020204020204" pitchFamily="34" charset="-122"/>
                </a:endParaRPr>
              </a:p>
            </p:txBody>
          </p:sp>
          <p:pic>
            <p:nvPicPr>
              <p:cNvPr id="32" name="object 32"/>
              <p:cNvPicPr/>
              <p:nvPr/>
            </p:nvPicPr>
            <p:blipFill>
              <a:blip r:embed="rId14" cstate="print"/>
              <a:stretch>
                <a:fillRect/>
              </a:stretch>
            </p:blipFill>
            <p:spPr>
              <a:xfrm>
                <a:off x="4931663" y="4381500"/>
                <a:ext cx="475488" cy="473963"/>
              </a:xfrm>
              <a:prstGeom prst="rect">
                <a:avLst/>
              </a:prstGeom>
            </p:spPr>
          </p:pic>
          <p:sp>
            <p:nvSpPr>
              <p:cNvPr id="33" name="object 33"/>
              <p:cNvSpPr/>
              <p:nvPr/>
            </p:nvSpPr>
            <p:spPr>
              <a:xfrm>
                <a:off x="4151375" y="4462272"/>
                <a:ext cx="1172210" cy="1169035"/>
              </a:xfrm>
              <a:custGeom>
                <a:avLst/>
                <a:gdLst/>
                <a:ahLst/>
                <a:cxnLst/>
                <a:rect l="l" t="t" r="r" b="b"/>
                <a:pathLst>
                  <a:path w="1172210" h="1169035">
                    <a:moveTo>
                      <a:pt x="592963" y="0"/>
                    </a:moveTo>
                    <a:lnTo>
                      <a:pt x="544307" y="1977"/>
                    </a:lnTo>
                    <a:lnTo>
                      <a:pt x="496738" y="7805"/>
                    </a:lnTo>
                    <a:lnTo>
                      <a:pt x="450410" y="17330"/>
                    </a:lnTo>
                    <a:lnTo>
                      <a:pt x="405473" y="30395"/>
                    </a:lnTo>
                    <a:lnTo>
                      <a:pt x="362080" y="46847"/>
                    </a:lnTo>
                    <a:lnTo>
                      <a:pt x="320384" y="66529"/>
                    </a:lnTo>
                    <a:lnTo>
                      <a:pt x="280537" y="89287"/>
                    </a:lnTo>
                    <a:lnTo>
                      <a:pt x="242690" y="114966"/>
                    </a:lnTo>
                    <a:lnTo>
                      <a:pt x="206997" y="143411"/>
                    </a:lnTo>
                    <a:lnTo>
                      <a:pt x="173608" y="174466"/>
                    </a:lnTo>
                    <a:lnTo>
                      <a:pt x="142678" y="207976"/>
                    </a:lnTo>
                    <a:lnTo>
                      <a:pt x="114356" y="243788"/>
                    </a:lnTo>
                    <a:lnTo>
                      <a:pt x="88797" y="281744"/>
                    </a:lnTo>
                    <a:lnTo>
                      <a:pt x="66152" y="321691"/>
                    </a:lnTo>
                    <a:lnTo>
                      <a:pt x="46573" y="363474"/>
                    </a:lnTo>
                    <a:lnTo>
                      <a:pt x="30212" y="406936"/>
                    </a:lnTo>
                    <a:lnTo>
                      <a:pt x="17223" y="451924"/>
                    </a:lnTo>
                    <a:lnTo>
                      <a:pt x="7756" y="498281"/>
                    </a:lnTo>
                    <a:lnTo>
                      <a:pt x="1964" y="545854"/>
                    </a:lnTo>
                    <a:lnTo>
                      <a:pt x="0" y="594486"/>
                    </a:lnTo>
                    <a:lnTo>
                      <a:pt x="2056" y="644151"/>
                    </a:lnTo>
                    <a:lnTo>
                      <a:pt x="8114" y="692631"/>
                    </a:lnTo>
                    <a:lnTo>
                      <a:pt x="18010" y="739774"/>
                    </a:lnTo>
                    <a:lnTo>
                      <a:pt x="31578" y="785432"/>
                    </a:lnTo>
                    <a:lnTo>
                      <a:pt x="48652" y="829452"/>
                    </a:lnTo>
                    <a:lnTo>
                      <a:pt x="69069" y="871685"/>
                    </a:lnTo>
                    <a:lnTo>
                      <a:pt x="92662" y="911980"/>
                    </a:lnTo>
                    <a:lnTo>
                      <a:pt x="119266" y="950187"/>
                    </a:lnTo>
                    <a:lnTo>
                      <a:pt x="148716" y="986154"/>
                    </a:lnTo>
                    <a:lnTo>
                      <a:pt x="182588" y="1018584"/>
                    </a:lnTo>
                    <a:lnTo>
                      <a:pt x="218930" y="1048320"/>
                    </a:lnTo>
                    <a:lnTo>
                      <a:pt x="257563" y="1075195"/>
                    </a:lnTo>
                    <a:lnTo>
                      <a:pt x="298306" y="1099038"/>
                    </a:lnTo>
                    <a:lnTo>
                      <a:pt x="340979" y="1119679"/>
                    </a:lnTo>
                    <a:lnTo>
                      <a:pt x="385400" y="1136948"/>
                    </a:lnTo>
                    <a:lnTo>
                      <a:pt x="431389" y="1150676"/>
                    </a:lnTo>
                    <a:lnTo>
                      <a:pt x="478766" y="1160691"/>
                    </a:lnTo>
                    <a:lnTo>
                      <a:pt x="527350" y="1166825"/>
                    </a:lnTo>
                    <a:lnTo>
                      <a:pt x="576961" y="1168908"/>
                    </a:lnTo>
                    <a:lnTo>
                      <a:pt x="625631" y="1166944"/>
                    </a:lnTo>
                    <a:lnTo>
                      <a:pt x="673242" y="1161155"/>
                    </a:lnTo>
                    <a:lnTo>
                      <a:pt x="719637" y="1151693"/>
                    </a:lnTo>
                    <a:lnTo>
                      <a:pt x="764661" y="1138711"/>
                    </a:lnTo>
                    <a:lnTo>
                      <a:pt x="808160" y="1122360"/>
                    </a:lnTo>
                    <a:lnTo>
                      <a:pt x="849977" y="1102793"/>
                    </a:lnTo>
                    <a:lnTo>
                      <a:pt x="889959" y="1080162"/>
                    </a:lnTo>
                    <a:lnTo>
                      <a:pt x="927948" y="1054620"/>
                    </a:lnTo>
                    <a:lnTo>
                      <a:pt x="963790" y="1026318"/>
                    </a:lnTo>
                    <a:lnTo>
                      <a:pt x="997331" y="995410"/>
                    </a:lnTo>
                    <a:lnTo>
                      <a:pt x="1028413" y="962047"/>
                    </a:lnTo>
                    <a:lnTo>
                      <a:pt x="1056883" y="926381"/>
                    </a:lnTo>
                    <a:lnTo>
                      <a:pt x="1082585" y="888566"/>
                    </a:lnTo>
                    <a:lnTo>
                      <a:pt x="1105364" y="848753"/>
                    </a:lnTo>
                    <a:lnTo>
                      <a:pt x="1125065" y="807094"/>
                    </a:lnTo>
                    <a:lnTo>
                      <a:pt x="1141531" y="763743"/>
                    </a:lnTo>
                    <a:lnTo>
                      <a:pt x="1154609" y="718851"/>
                    </a:lnTo>
                    <a:lnTo>
                      <a:pt x="1164142" y="672570"/>
                    </a:lnTo>
                    <a:lnTo>
                      <a:pt x="1169976" y="625053"/>
                    </a:lnTo>
                    <a:lnTo>
                      <a:pt x="1171956" y="576452"/>
                    </a:lnTo>
                    <a:lnTo>
                      <a:pt x="1169899" y="526788"/>
                    </a:lnTo>
                    <a:lnTo>
                      <a:pt x="1163841" y="478308"/>
                    </a:lnTo>
                    <a:lnTo>
                      <a:pt x="1153945" y="431164"/>
                    </a:lnTo>
                    <a:lnTo>
                      <a:pt x="1140377" y="385507"/>
                    </a:lnTo>
                    <a:lnTo>
                      <a:pt x="1123303" y="341487"/>
                    </a:lnTo>
                    <a:lnTo>
                      <a:pt x="1102886" y="299254"/>
                    </a:lnTo>
                    <a:lnTo>
                      <a:pt x="1079293" y="258959"/>
                    </a:lnTo>
                    <a:lnTo>
                      <a:pt x="1052689" y="220752"/>
                    </a:lnTo>
                    <a:lnTo>
                      <a:pt x="1023238" y="184784"/>
                    </a:lnTo>
                    <a:lnTo>
                      <a:pt x="989365" y="151805"/>
                    </a:lnTo>
                    <a:lnTo>
                      <a:pt x="953009" y="121627"/>
                    </a:lnTo>
                    <a:lnTo>
                      <a:pt x="914337" y="94409"/>
                    </a:lnTo>
                    <a:lnTo>
                      <a:pt x="873519" y="70308"/>
                    </a:lnTo>
                    <a:lnTo>
                      <a:pt x="830722" y="49482"/>
                    </a:lnTo>
                    <a:lnTo>
                      <a:pt x="786116" y="32089"/>
                    </a:lnTo>
                    <a:lnTo>
                      <a:pt x="739869" y="18286"/>
                    </a:lnTo>
                    <a:lnTo>
                      <a:pt x="692148" y="8232"/>
                    </a:lnTo>
                    <a:lnTo>
                      <a:pt x="643124" y="2084"/>
                    </a:lnTo>
                    <a:lnTo>
                      <a:pt x="592963" y="0"/>
                    </a:lnTo>
                    <a:close/>
                  </a:path>
                </a:pathLst>
              </a:custGeom>
              <a:solidFill>
                <a:srgbClr val="29B974"/>
              </a:solidFill>
            </p:spPr>
            <p:txBody>
              <a:bodyPr wrap="square" lIns="0" tIns="0" rIns="0" bIns="0" rtlCol="0"/>
              <a:lstStyle/>
              <a:p>
                <a:endParaRPr>
                  <a:ea typeface="Microsoft YaHei" panose="020B0503020204020204" pitchFamily="34" charset="-122"/>
                </a:endParaRPr>
              </a:p>
            </p:txBody>
          </p:sp>
          <p:pic>
            <p:nvPicPr>
              <p:cNvPr id="34" name="object 34"/>
              <p:cNvPicPr/>
              <p:nvPr/>
            </p:nvPicPr>
            <p:blipFill>
              <a:blip r:embed="rId15" cstate="print"/>
              <a:stretch>
                <a:fillRect/>
              </a:stretch>
            </p:blipFill>
            <p:spPr>
              <a:xfrm>
                <a:off x="4253483" y="4561319"/>
                <a:ext cx="1005865" cy="1008900"/>
              </a:xfrm>
              <a:prstGeom prst="rect">
                <a:avLst/>
              </a:prstGeom>
            </p:spPr>
          </p:pic>
          <p:sp>
            <p:nvSpPr>
              <p:cNvPr id="35" name="object 35"/>
              <p:cNvSpPr/>
              <p:nvPr/>
            </p:nvSpPr>
            <p:spPr>
              <a:xfrm>
                <a:off x="4279391" y="4587239"/>
                <a:ext cx="904240" cy="906780"/>
              </a:xfrm>
              <a:custGeom>
                <a:avLst/>
                <a:gdLst/>
                <a:ahLst/>
                <a:cxnLst/>
                <a:rect l="l" t="t" r="r" b="b"/>
                <a:pathLst>
                  <a:path w="904239" h="906779">
                    <a:moveTo>
                      <a:pt x="451866" y="0"/>
                    </a:moveTo>
                    <a:lnTo>
                      <a:pt x="402630" y="2659"/>
                    </a:lnTo>
                    <a:lnTo>
                      <a:pt x="354931" y="10455"/>
                    </a:lnTo>
                    <a:lnTo>
                      <a:pt x="309042" y="23109"/>
                    </a:lnTo>
                    <a:lnTo>
                      <a:pt x="265241" y="40347"/>
                    </a:lnTo>
                    <a:lnTo>
                      <a:pt x="223802" y="61891"/>
                    </a:lnTo>
                    <a:lnTo>
                      <a:pt x="185001" y="87465"/>
                    </a:lnTo>
                    <a:lnTo>
                      <a:pt x="149114" y="116793"/>
                    </a:lnTo>
                    <a:lnTo>
                      <a:pt x="116417" y="149598"/>
                    </a:lnTo>
                    <a:lnTo>
                      <a:pt x="87184" y="185604"/>
                    </a:lnTo>
                    <a:lnTo>
                      <a:pt x="61693" y="224536"/>
                    </a:lnTo>
                    <a:lnTo>
                      <a:pt x="40219" y="266115"/>
                    </a:lnTo>
                    <a:lnTo>
                      <a:pt x="23036" y="310066"/>
                    </a:lnTo>
                    <a:lnTo>
                      <a:pt x="10422" y="356114"/>
                    </a:lnTo>
                    <a:lnTo>
                      <a:pt x="2651" y="403980"/>
                    </a:lnTo>
                    <a:lnTo>
                      <a:pt x="0" y="453390"/>
                    </a:lnTo>
                    <a:lnTo>
                      <a:pt x="2651" y="502799"/>
                    </a:lnTo>
                    <a:lnTo>
                      <a:pt x="10422" y="550665"/>
                    </a:lnTo>
                    <a:lnTo>
                      <a:pt x="23036" y="596713"/>
                    </a:lnTo>
                    <a:lnTo>
                      <a:pt x="40219" y="640664"/>
                    </a:lnTo>
                    <a:lnTo>
                      <a:pt x="61693" y="682244"/>
                    </a:lnTo>
                    <a:lnTo>
                      <a:pt x="87184" y="721175"/>
                    </a:lnTo>
                    <a:lnTo>
                      <a:pt x="116417" y="757181"/>
                    </a:lnTo>
                    <a:lnTo>
                      <a:pt x="149114" y="789986"/>
                    </a:lnTo>
                    <a:lnTo>
                      <a:pt x="185001" y="819314"/>
                    </a:lnTo>
                    <a:lnTo>
                      <a:pt x="223802" y="844888"/>
                    </a:lnTo>
                    <a:lnTo>
                      <a:pt x="265241" y="866432"/>
                    </a:lnTo>
                    <a:lnTo>
                      <a:pt x="309042" y="883670"/>
                    </a:lnTo>
                    <a:lnTo>
                      <a:pt x="354931" y="896324"/>
                    </a:lnTo>
                    <a:lnTo>
                      <a:pt x="402630" y="904120"/>
                    </a:lnTo>
                    <a:lnTo>
                      <a:pt x="451866" y="906780"/>
                    </a:lnTo>
                    <a:lnTo>
                      <a:pt x="501101" y="904120"/>
                    </a:lnTo>
                    <a:lnTo>
                      <a:pt x="548800" y="896324"/>
                    </a:lnTo>
                    <a:lnTo>
                      <a:pt x="594689" y="883670"/>
                    </a:lnTo>
                    <a:lnTo>
                      <a:pt x="638490" y="866432"/>
                    </a:lnTo>
                    <a:lnTo>
                      <a:pt x="679929" y="844888"/>
                    </a:lnTo>
                    <a:lnTo>
                      <a:pt x="718730" y="819314"/>
                    </a:lnTo>
                    <a:lnTo>
                      <a:pt x="754617" y="789986"/>
                    </a:lnTo>
                    <a:lnTo>
                      <a:pt x="787314" y="757181"/>
                    </a:lnTo>
                    <a:lnTo>
                      <a:pt x="816547" y="721175"/>
                    </a:lnTo>
                    <a:lnTo>
                      <a:pt x="842038" y="682243"/>
                    </a:lnTo>
                    <a:lnTo>
                      <a:pt x="863512" y="640664"/>
                    </a:lnTo>
                    <a:lnTo>
                      <a:pt x="880695" y="596713"/>
                    </a:lnTo>
                    <a:lnTo>
                      <a:pt x="893309" y="550665"/>
                    </a:lnTo>
                    <a:lnTo>
                      <a:pt x="901080" y="502799"/>
                    </a:lnTo>
                    <a:lnTo>
                      <a:pt x="903732" y="453390"/>
                    </a:lnTo>
                    <a:lnTo>
                      <a:pt x="901080" y="403980"/>
                    </a:lnTo>
                    <a:lnTo>
                      <a:pt x="893309" y="356114"/>
                    </a:lnTo>
                    <a:lnTo>
                      <a:pt x="880695" y="310066"/>
                    </a:lnTo>
                    <a:lnTo>
                      <a:pt x="863512" y="266115"/>
                    </a:lnTo>
                    <a:lnTo>
                      <a:pt x="842038" y="224536"/>
                    </a:lnTo>
                    <a:lnTo>
                      <a:pt x="816547" y="185604"/>
                    </a:lnTo>
                    <a:lnTo>
                      <a:pt x="787314" y="149598"/>
                    </a:lnTo>
                    <a:lnTo>
                      <a:pt x="754617" y="116793"/>
                    </a:lnTo>
                    <a:lnTo>
                      <a:pt x="718730" y="87465"/>
                    </a:lnTo>
                    <a:lnTo>
                      <a:pt x="679929" y="61891"/>
                    </a:lnTo>
                    <a:lnTo>
                      <a:pt x="638490" y="40347"/>
                    </a:lnTo>
                    <a:lnTo>
                      <a:pt x="594689" y="23109"/>
                    </a:lnTo>
                    <a:lnTo>
                      <a:pt x="548800" y="10455"/>
                    </a:lnTo>
                    <a:lnTo>
                      <a:pt x="501101" y="2659"/>
                    </a:lnTo>
                    <a:lnTo>
                      <a:pt x="451866" y="0"/>
                    </a:lnTo>
                    <a:close/>
                  </a:path>
                </a:pathLst>
              </a:custGeom>
              <a:solidFill>
                <a:srgbClr val="FFFFFF"/>
              </a:solidFill>
            </p:spPr>
            <p:txBody>
              <a:bodyPr wrap="square" lIns="0" tIns="0" rIns="0" bIns="0" rtlCol="0"/>
              <a:lstStyle/>
              <a:p>
                <a:endParaRPr>
                  <a:ea typeface="Microsoft YaHei" panose="020B0503020204020204" pitchFamily="34" charset="-122"/>
                </a:endParaRPr>
              </a:p>
            </p:txBody>
          </p:sp>
          <p:pic>
            <p:nvPicPr>
              <p:cNvPr id="36" name="object 36"/>
              <p:cNvPicPr/>
              <p:nvPr/>
            </p:nvPicPr>
            <p:blipFill>
              <a:blip r:embed="rId16" cstate="print"/>
              <a:stretch>
                <a:fillRect/>
              </a:stretch>
            </p:blipFill>
            <p:spPr>
              <a:xfrm>
                <a:off x="6554723" y="3697223"/>
                <a:ext cx="618744" cy="50292"/>
              </a:xfrm>
              <a:prstGeom prst="rect">
                <a:avLst/>
              </a:prstGeom>
            </p:spPr>
          </p:pic>
          <p:sp>
            <p:nvSpPr>
              <p:cNvPr id="37" name="object 37"/>
              <p:cNvSpPr/>
              <p:nvPr/>
            </p:nvSpPr>
            <p:spPr>
              <a:xfrm>
                <a:off x="6886955" y="3110483"/>
                <a:ext cx="1170940" cy="1169035"/>
              </a:xfrm>
              <a:custGeom>
                <a:avLst/>
                <a:gdLst/>
                <a:ahLst/>
                <a:cxnLst/>
                <a:rect l="l" t="t" r="r" b="b"/>
                <a:pathLst>
                  <a:path w="1170940" h="1169035">
                    <a:moveTo>
                      <a:pt x="594233" y="0"/>
                    </a:moveTo>
                    <a:lnTo>
                      <a:pt x="545619" y="1963"/>
                    </a:lnTo>
                    <a:lnTo>
                      <a:pt x="498065" y="7752"/>
                    </a:lnTo>
                    <a:lnTo>
                      <a:pt x="451726" y="17214"/>
                    </a:lnTo>
                    <a:lnTo>
                      <a:pt x="406757" y="30196"/>
                    </a:lnTo>
                    <a:lnTo>
                      <a:pt x="363313" y="46547"/>
                    </a:lnTo>
                    <a:lnTo>
                      <a:pt x="321548" y="66114"/>
                    </a:lnTo>
                    <a:lnTo>
                      <a:pt x="281618" y="88745"/>
                    </a:lnTo>
                    <a:lnTo>
                      <a:pt x="243678" y="114287"/>
                    </a:lnTo>
                    <a:lnTo>
                      <a:pt x="207882" y="142589"/>
                    </a:lnTo>
                    <a:lnTo>
                      <a:pt x="174386" y="173497"/>
                    </a:lnTo>
                    <a:lnTo>
                      <a:pt x="143345" y="206860"/>
                    </a:lnTo>
                    <a:lnTo>
                      <a:pt x="114913" y="242526"/>
                    </a:lnTo>
                    <a:lnTo>
                      <a:pt x="89246" y="280341"/>
                    </a:lnTo>
                    <a:lnTo>
                      <a:pt x="66498" y="320154"/>
                    </a:lnTo>
                    <a:lnTo>
                      <a:pt x="46825" y="361813"/>
                    </a:lnTo>
                    <a:lnTo>
                      <a:pt x="30381" y="405164"/>
                    </a:lnTo>
                    <a:lnTo>
                      <a:pt x="17322" y="450056"/>
                    </a:lnTo>
                    <a:lnTo>
                      <a:pt x="7801" y="496337"/>
                    </a:lnTo>
                    <a:lnTo>
                      <a:pt x="1976" y="543854"/>
                    </a:lnTo>
                    <a:lnTo>
                      <a:pt x="0" y="592454"/>
                    </a:lnTo>
                    <a:lnTo>
                      <a:pt x="2058" y="642189"/>
                    </a:lnTo>
                    <a:lnTo>
                      <a:pt x="8135" y="690855"/>
                    </a:lnTo>
                    <a:lnTo>
                      <a:pt x="18081" y="738269"/>
                    </a:lnTo>
                    <a:lnTo>
                      <a:pt x="31745" y="784247"/>
                    </a:lnTo>
                    <a:lnTo>
                      <a:pt x="48979" y="828605"/>
                    </a:lnTo>
                    <a:lnTo>
                      <a:pt x="69633" y="871158"/>
                    </a:lnTo>
                    <a:lnTo>
                      <a:pt x="93558" y="911724"/>
                    </a:lnTo>
                    <a:lnTo>
                      <a:pt x="120604" y="950117"/>
                    </a:lnTo>
                    <a:lnTo>
                      <a:pt x="150622" y="986154"/>
                    </a:lnTo>
                    <a:lnTo>
                      <a:pt x="183871" y="1018584"/>
                    </a:lnTo>
                    <a:lnTo>
                      <a:pt x="219721" y="1048320"/>
                    </a:lnTo>
                    <a:lnTo>
                      <a:pt x="257987" y="1075195"/>
                    </a:lnTo>
                    <a:lnTo>
                      <a:pt x="298488" y="1099038"/>
                    </a:lnTo>
                    <a:lnTo>
                      <a:pt x="341042" y="1119679"/>
                    </a:lnTo>
                    <a:lnTo>
                      <a:pt x="385467" y="1136948"/>
                    </a:lnTo>
                    <a:lnTo>
                      <a:pt x="431580" y="1150676"/>
                    </a:lnTo>
                    <a:lnTo>
                      <a:pt x="479200" y="1160691"/>
                    </a:lnTo>
                    <a:lnTo>
                      <a:pt x="528144" y="1166825"/>
                    </a:lnTo>
                    <a:lnTo>
                      <a:pt x="578230" y="1168908"/>
                    </a:lnTo>
                    <a:lnTo>
                      <a:pt x="626812" y="1166944"/>
                    </a:lnTo>
                    <a:lnTo>
                      <a:pt x="674310" y="1161155"/>
                    </a:lnTo>
                    <a:lnTo>
                      <a:pt x="720572" y="1151693"/>
                    </a:lnTo>
                    <a:lnTo>
                      <a:pt x="765446" y="1138711"/>
                    </a:lnTo>
                    <a:lnTo>
                      <a:pt x="808779" y="1122360"/>
                    </a:lnTo>
                    <a:lnTo>
                      <a:pt x="850420" y="1102793"/>
                    </a:lnTo>
                    <a:lnTo>
                      <a:pt x="890216" y="1080162"/>
                    </a:lnTo>
                    <a:lnTo>
                      <a:pt x="928015" y="1054620"/>
                    </a:lnTo>
                    <a:lnTo>
                      <a:pt x="963665" y="1026318"/>
                    </a:lnTo>
                    <a:lnTo>
                      <a:pt x="997013" y="995410"/>
                    </a:lnTo>
                    <a:lnTo>
                      <a:pt x="1027908" y="962047"/>
                    </a:lnTo>
                    <a:lnTo>
                      <a:pt x="1056197" y="926381"/>
                    </a:lnTo>
                    <a:lnTo>
                      <a:pt x="1081727" y="888566"/>
                    </a:lnTo>
                    <a:lnTo>
                      <a:pt x="1104348" y="848753"/>
                    </a:lnTo>
                    <a:lnTo>
                      <a:pt x="1123906" y="807094"/>
                    </a:lnTo>
                    <a:lnTo>
                      <a:pt x="1140249" y="763743"/>
                    </a:lnTo>
                    <a:lnTo>
                      <a:pt x="1153226" y="718851"/>
                    </a:lnTo>
                    <a:lnTo>
                      <a:pt x="1162683" y="672570"/>
                    </a:lnTo>
                    <a:lnTo>
                      <a:pt x="1168469" y="625053"/>
                    </a:lnTo>
                    <a:lnTo>
                      <a:pt x="1170432" y="576452"/>
                    </a:lnTo>
                    <a:lnTo>
                      <a:pt x="1168375" y="526718"/>
                    </a:lnTo>
                    <a:lnTo>
                      <a:pt x="1162318" y="478052"/>
                    </a:lnTo>
                    <a:lnTo>
                      <a:pt x="1152426" y="430638"/>
                    </a:lnTo>
                    <a:lnTo>
                      <a:pt x="1138864" y="384660"/>
                    </a:lnTo>
                    <a:lnTo>
                      <a:pt x="1121800" y="340302"/>
                    </a:lnTo>
                    <a:lnTo>
                      <a:pt x="1101400" y="297749"/>
                    </a:lnTo>
                    <a:lnTo>
                      <a:pt x="1077829" y="257183"/>
                    </a:lnTo>
                    <a:lnTo>
                      <a:pt x="1051254" y="218790"/>
                    </a:lnTo>
                    <a:lnTo>
                      <a:pt x="1021842" y="182752"/>
                    </a:lnTo>
                    <a:lnTo>
                      <a:pt x="988098" y="150323"/>
                    </a:lnTo>
                    <a:lnTo>
                      <a:pt x="951962" y="120587"/>
                    </a:lnTo>
                    <a:lnTo>
                      <a:pt x="913580" y="93712"/>
                    </a:lnTo>
                    <a:lnTo>
                      <a:pt x="873097" y="69869"/>
                    </a:lnTo>
                    <a:lnTo>
                      <a:pt x="830659" y="49228"/>
                    </a:lnTo>
                    <a:lnTo>
                      <a:pt x="786411" y="31959"/>
                    </a:lnTo>
                    <a:lnTo>
                      <a:pt x="740499" y="18231"/>
                    </a:lnTo>
                    <a:lnTo>
                      <a:pt x="693068" y="8216"/>
                    </a:lnTo>
                    <a:lnTo>
                      <a:pt x="644264" y="2082"/>
                    </a:lnTo>
                    <a:lnTo>
                      <a:pt x="594233" y="0"/>
                    </a:lnTo>
                    <a:close/>
                  </a:path>
                </a:pathLst>
              </a:custGeom>
              <a:solidFill>
                <a:srgbClr val="29B974"/>
              </a:solidFill>
            </p:spPr>
            <p:txBody>
              <a:bodyPr wrap="square" lIns="0" tIns="0" rIns="0" bIns="0" rtlCol="0"/>
              <a:lstStyle/>
              <a:p>
                <a:endParaRPr>
                  <a:ea typeface="Microsoft YaHei" panose="020B0503020204020204" pitchFamily="34" charset="-122"/>
                </a:endParaRPr>
              </a:p>
            </p:txBody>
          </p:sp>
          <p:pic>
            <p:nvPicPr>
              <p:cNvPr id="38" name="object 38"/>
              <p:cNvPicPr/>
              <p:nvPr/>
            </p:nvPicPr>
            <p:blipFill>
              <a:blip r:embed="rId17" cstate="print"/>
              <a:stretch>
                <a:fillRect/>
              </a:stretch>
            </p:blipFill>
            <p:spPr>
              <a:xfrm>
                <a:off x="6989064" y="3209518"/>
                <a:ext cx="1005865" cy="1005865"/>
              </a:xfrm>
              <a:prstGeom prst="rect">
                <a:avLst/>
              </a:prstGeom>
            </p:spPr>
          </p:pic>
          <p:sp>
            <p:nvSpPr>
              <p:cNvPr id="39" name="object 39"/>
              <p:cNvSpPr/>
              <p:nvPr/>
            </p:nvSpPr>
            <p:spPr>
              <a:xfrm>
                <a:off x="7014971" y="3235451"/>
                <a:ext cx="904240" cy="904240"/>
              </a:xfrm>
              <a:custGeom>
                <a:avLst/>
                <a:gdLst/>
                <a:ahLst/>
                <a:cxnLst/>
                <a:rect l="l" t="t" r="r" b="b"/>
                <a:pathLst>
                  <a:path w="904240" h="904239">
                    <a:moveTo>
                      <a:pt x="451866" y="0"/>
                    </a:moveTo>
                    <a:lnTo>
                      <a:pt x="402630" y="2651"/>
                    </a:lnTo>
                    <a:lnTo>
                      <a:pt x="354931" y="10422"/>
                    </a:lnTo>
                    <a:lnTo>
                      <a:pt x="309042" y="23036"/>
                    </a:lnTo>
                    <a:lnTo>
                      <a:pt x="265241" y="40219"/>
                    </a:lnTo>
                    <a:lnTo>
                      <a:pt x="223802" y="61693"/>
                    </a:lnTo>
                    <a:lnTo>
                      <a:pt x="185001" y="87184"/>
                    </a:lnTo>
                    <a:lnTo>
                      <a:pt x="149114" y="116417"/>
                    </a:lnTo>
                    <a:lnTo>
                      <a:pt x="116417" y="149114"/>
                    </a:lnTo>
                    <a:lnTo>
                      <a:pt x="87184" y="185001"/>
                    </a:lnTo>
                    <a:lnTo>
                      <a:pt x="61693" y="223802"/>
                    </a:lnTo>
                    <a:lnTo>
                      <a:pt x="40219" y="265241"/>
                    </a:lnTo>
                    <a:lnTo>
                      <a:pt x="23036" y="309042"/>
                    </a:lnTo>
                    <a:lnTo>
                      <a:pt x="10422" y="354931"/>
                    </a:lnTo>
                    <a:lnTo>
                      <a:pt x="2651" y="402630"/>
                    </a:lnTo>
                    <a:lnTo>
                      <a:pt x="0" y="451866"/>
                    </a:lnTo>
                    <a:lnTo>
                      <a:pt x="2651" y="501101"/>
                    </a:lnTo>
                    <a:lnTo>
                      <a:pt x="10422" y="548800"/>
                    </a:lnTo>
                    <a:lnTo>
                      <a:pt x="23036" y="594689"/>
                    </a:lnTo>
                    <a:lnTo>
                      <a:pt x="40219" y="638490"/>
                    </a:lnTo>
                    <a:lnTo>
                      <a:pt x="61693" y="679929"/>
                    </a:lnTo>
                    <a:lnTo>
                      <a:pt x="87184" y="718730"/>
                    </a:lnTo>
                    <a:lnTo>
                      <a:pt x="116417" y="754617"/>
                    </a:lnTo>
                    <a:lnTo>
                      <a:pt x="149114" y="787314"/>
                    </a:lnTo>
                    <a:lnTo>
                      <a:pt x="185001" y="816547"/>
                    </a:lnTo>
                    <a:lnTo>
                      <a:pt x="223802" y="842038"/>
                    </a:lnTo>
                    <a:lnTo>
                      <a:pt x="265241" y="863512"/>
                    </a:lnTo>
                    <a:lnTo>
                      <a:pt x="309042" y="880695"/>
                    </a:lnTo>
                    <a:lnTo>
                      <a:pt x="354931" y="893309"/>
                    </a:lnTo>
                    <a:lnTo>
                      <a:pt x="402630" y="901080"/>
                    </a:lnTo>
                    <a:lnTo>
                      <a:pt x="451866" y="903732"/>
                    </a:lnTo>
                    <a:lnTo>
                      <a:pt x="501101" y="901080"/>
                    </a:lnTo>
                    <a:lnTo>
                      <a:pt x="548800" y="893309"/>
                    </a:lnTo>
                    <a:lnTo>
                      <a:pt x="594689" y="880695"/>
                    </a:lnTo>
                    <a:lnTo>
                      <a:pt x="638490" y="863512"/>
                    </a:lnTo>
                    <a:lnTo>
                      <a:pt x="679929" y="842038"/>
                    </a:lnTo>
                    <a:lnTo>
                      <a:pt x="718730" y="816547"/>
                    </a:lnTo>
                    <a:lnTo>
                      <a:pt x="754617" y="787314"/>
                    </a:lnTo>
                    <a:lnTo>
                      <a:pt x="787314" y="754617"/>
                    </a:lnTo>
                    <a:lnTo>
                      <a:pt x="816547" y="718730"/>
                    </a:lnTo>
                    <a:lnTo>
                      <a:pt x="842038" y="679929"/>
                    </a:lnTo>
                    <a:lnTo>
                      <a:pt x="863512" y="638490"/>
                    </a:lnTo>
                    <a:lnTo>
                      <a:pt x="880695" y="594689"/>
                    </a:lnTo>
                    <a:lnTo>
                      <a:pt x="893309" y="548800"/>
                    </a:lnTo>
                    <a:lnTo>
                      <a:pt x="901080" y="501101"/>
                    </a:lnTo>
                    <a:lnTo>
                      <a:pt x="903731" y="451866"/>
                    </a:lnTo>
                    <a:lnTo>
                      <a:pt x="901080" y="402630"/>
                    </a:lnTo>
                    <a:lnTo>
                      <a:pt x="893309" y="354931"/>
                    </a:lnTo>
                    <a:lnTo>
                      <a:pt x="880695" y="309042"/>
                    </a:lnTo>
                    <a:lnTo>
                      <a:pt x="863512" y="265241"/>
                    </a:lnTo>
                    <a:lnTo>
                      <a:pt x="842038" y="223802"/>
                    </a:lnTo>
                    <a:lnTo>
                      <a:pt x="816547" y="185001"/>
                    </a:lnTo>
                    <a:lnTo>
                      <a:pt x="787314" y="149114"/>
                    </a:lnTo>
                    <a:lnTo>
                      <a:pt x="754617" y="116417"/>
                    </a:lnTo>
                    <a:lnTo>
                      <a:pt x="718730" y="87184"/>
                    </a:lnTo>
                    <a:lnTo>
                      <a:pt x="679929" y="61693"/>
                    </a:lnTo>
                    <a:lnTo>
                      <a:pt x="638490" y="40219"/>
                    </a:lnTo>
                    <a:lnTo>
                      <a:pt x="594689" y="23036"/>
                    </a:lnTo>
                    <a:lnTo>
                      <a:pt x="548800" y="10422"/>
                    </a:lnTo>
                    <a:lnTo>
                      <a:pt x="501101" y="2651"/>
                    </a:lnTo>
                    <a:lnTo>
                      <a:pt x="451866" y="0"/>
                    </a:lnTo>
                    <a:close/>
                  </a:path>
                </a:pathLst>
              </a:custGeom>
              <a:solidFill>
                <a:srgbClr val="FFFFFF"/>
              </a:solidFill>
            </p:spPr>
            <p:txBody>
              <a:bodyPr wrap="square" lIns="0" tIns="0" rIns="0" bIns="0" rtlCol="0"/>
              <a:lstStyle/>
              <a:p>
                <a:endParaRPr>
                  <a:ea typeface="Microsoft YaHei" panose="020B0503020204020204" pitchFamily="34" charset="-122"/>
                </a:endParaRPr>
              </a:p>
            </p:txBody>
          </p:sp>
          <p:sp>
            <p:nvSpPr>
              <p:cNvPr id="40" name="object 40"/>
              <p:cNvSpPr/>
              <p:nvPr/>
            </p:nvSpPr>
            <p:spPr>
              <a:xfrm>
                <a:off x="7094220" y="3488435"/>
                <a:ext cx="824865" cy="650875"/>
              </a:xfrm>
              <a:custGeom>
                <a:avLst/>
                <a:gdLst/>
                <a:ahLst/>
                <a:cxnLst/>
                <a:rect l="l" t="t" r="r" b="b"/>
                <a:pathLst>
                  <a:path w="824865" h="650875">
                    <a:moveTo>
                      <a:pt x="778382" y="0"/>
                    </a:moveTo>
                    <a:lnTo>
                      <a:pt x="795637" y="43285"/>
                    </a:lnTo>
                    <a:lnTo>
                      <a:pt x="808212" y="88630"/>
                    </a:lnTo>
                    <a:lnTo>
                      <a:pt x="815905" y="135856"/>
                    </a:lnTo>
                    <a:lnTo>
                      <a:pt x="818514" y="184784"/>
                    </a:lnTo>
                    <a:lnTo>
                      <a:pt x="815858" y="233931"/>
                    </a:lnTo>
                    <a:lnTo>
                      <a:pt x="808076" y="281567"/>
                    </a:lnTo>
                    <a:lnTo>
                      <a:pt x="795445" y="327413"/>
                    </a:lnTo>
                    <a:lnTo>
                      <a:pt x="778245" y="371191"/>
                    </a:lnTo>
                    <a:lnTo>
                      <a:pt x="756755" y="412622"/>
                    </a:lnTo>
                    <a:lnTo>
                      <a:pt x="731252" y="451430"/>
                    </a:lnTo>
                    <a:lnTo>
                      <a:pt x="702016" y="487334"/>
                    </a:lnTo>
                    <a:lnTo>
                      <a:pt x="669325" y="520056"/>
                    </a:lnTo>
                    <a:lnTo>
                      <a:pt x="633458" y="549319"/>
                    </a:lnTo>
                    <a:lnTo>
                      <a:pt x="594693" y="574844"/>
                    </a:lnTo>
                    <a:lnTo>
                      <a:pt x="553310" y="596352"/>
                    </a:lnTo>
                    <a:lnTo>
                      <a:pt x="509585" y="613565"/>
                    </a:lnTo>
                    <a:lnTo>
                      <a:pt x="463799" y="626205"/>
                    </a:lnTo>
                    <a:lnTo>
                      <a:pt x="416230" y="633993"/>
                    </a:lnTo>
                    <a:lnTo>
                      <a:pt x="367156" y="636651"/>
                    </a:lnTo>
                    <a:lnTo>
                      <a:pt x="317638" y="634015"/>
                    </a:lnTo>
                    <a:lnTo>
                      <a:pt x="269610" y="626275"/>
                    </a:lnTo>
                    <a:lnTo>
                      <a:pt x="223369" y="613678"/>
                    </a:lnTo>
                    <a:lnTo>
                      <a:pt x="179210" y="596470"/>
                    </a:lnTo>
                    <a:lnTo>
                      <a:pt x="137428" y="574901"/>
                    </a:lnTo>
                    <a:lnTo>
                      <a:pt x="98321" y="549218"/>
                    </a:lnTo>
                    <a:lnTo>
                      <a:pt x="62183" y="519668"/>
                    </a:lnTo>
                    <a:lnTo>
                      <a:pt x="29311" y="486500"/>
                    </a:lnTo>
                    <a:lnTo>
                      <a:pt x="0" y="449961"/>
                    </a:lnTo>
                    <a:lnTo>
                      <a:pt x="10900" y="466099"/>
                    </a:lnTo>
                    <a:lnTo>
                      <a:pt x="46100" y="510158"/>
                    </a:lnTo>
                    <a:lnTo>
                      <a:pt x="83390" y="545138"/>
                    </a:lnTo>
                    <a:lnTo>
                      <a:pt x="124463" y="575797"/>
                    </a:lnTo>
                    <a:lnTo>
                      <a:pt x="168935" y="601748"/>
                    </a:lnTo>
                    <a:lnTo>
                      <a:pt x="216421" y="622606"/>
                    </a:lnTo>
                    <a:lnTo>
                      <a:pt x="266538" y="637982"/>
                    </a:lnTo>
                    <a:lnTo>
                      <a:pt x="318901" y="647492"/>
                    </a:lnTo>
                    <a:lnTo>
                      <a:pt x="373125" y="650747"/>
                    </a:lnTo>
                    <a:lnTo>
                      <a:pt x="422221" y="648090"/>
                    </a:lnTo>
                    <a:lnTo>
                      <a:pt x="469807" y="640302"/>
                    </a:lnTo>
                    <a:lnTo>
                      <a:pt x="515603" y="627662"/>
                    </a:lnTo>
                    <a:lnTo>
                      <a:pt x="559333" y="610449"/>
                    </a:lnTo>
                    <a:lnTo>
                      <a:pt x="600719" y="588941"/>
                    </a:lnTo>
                    <a:lnTo>
                      <a:pt x="639482" y="563416"/>
                    </a:lnTo>
                    <a:lnTo>
                      <a:pt x="675345" y="534153"/>
                    </a:lnTo>
                    <a:lnTo>
                      <a:pt x="708030" y="501431"/>
                    </a:lnTo>
                    <a:lnTo>
                      <a:pt x="737258" y="465527"/>
                    </a:lnTo>
                    <a:lnTo>
                      <a:pt x="762752" y="426720"/>
                    </a:lnTo>
                    <a:lnTo>
                      <a:pt x="784234" y="385288"/>
                    </a:lnTo>
                    <a:lnTo>
                      <a:pt x="801426" y="341510"/>
                    </a:lnTo>
                    <a:lnTo>
                      <a:pt x="814051" y="295664"/>
                    </a:lnTo>
                    <a:lnTo>
                      <a:pt x="821829" y="248028"/>
                    </a:lnTo>
                    <a:lnTo>
                      <a:pt x="824483" y="198881"/>
                    </a:lnTo>
                    <a:lnTo>
                      <a:pt x="821513" y="145732"/>
                    </a:lnTo>
                    <a:lnTo>
                      <a:pt x="812720" y="94869"/>
                    </a:lnTo>
                    <a:lnTo>
                      <a:pt x="798284" y="46291"/>
                    </a:lnTo>
                    <a:lnTo>
                      <a:pt x="778382" y="0"/>
                    </a:lnTo>
                    <a:close/>
                  </a:path>
                </a:pathLst>
              </a:custGeom>
              <a:solidFill>
                <a:srgbClr val="D7D9DD"/>
              </a:solidFill>
            </p:spPr>
            <p:txBody>
              <a:bodyPr wrap="square" lIns="0" tIns="0" rIns="0" bIns="0" rtlCol="0"/>
              <a:lstStyle/>
              <a:p>
                <a:endParaRPr>
                  <a:ea typeface="Microsoft YaHei" panose="020B0503020204020204" pitchFamily="34" charset="-122"/>
                </a:endParaRPr>
              </a:p>
            </p:txBody>
          </p:sp>
          <p:pic>
            <p:nvPicPr>
              <p:cNvPr id="41" name="object 41"/>
              <p:cNvPicPr/>
              <p:nvPr/>
            </p:nvPicPr>
            <p:blipFill>
              <a:blip r:embed="rId18" cstate="print"/>
              <a:stretch>
                <a:fillRect/>
              </a:stretch>
            </p:blipFill>
            <p:spPr>
              <a:xfrm>
                <a:off x="6192011" y="4376927"/>
                <a:ext cx="472439" cy="473964"/>
              </a:xfrm>
              <a:prstGeom prst="rect">
                <a:avLst/>
              </a:prstGeom>
            </p:spPr>
          </p:pic>
          <p:sp>
            <p:nvSpPr>
              <p:cNvPr id="42" name="object 42"/>
              <p:cNvSpPr/>
              <p:nvPr/>
            </p:nvSpPr>
            <p:spPr>
              <a:xfrm>
                <a:off x="6284975" y="4465319"/>
                <a:ext cx="1170940" cy="1170940"/>
              </a:xfrm>
              <a:custGeom>
                <a:avLst/>
                <a:gdLst/>
                <a:ahLst/>
                <a:cxnLst/>
                <a:rect l="l" t="t" r="r" b="b"/>
                <a:pathLst>
                  <a:path w="1170940" h="1170939">
                    <a:moveTo>
                      <a:pt x="592201" y="0"/>
                    </a:moveTo>
                    <a:lnTo>
                      <a:pt x="543619" y="1965"/>
                    </a:lnTo>
                    <a:lnTo>
                      <a:pt x="496121" y="7759"/>
                    </a:lnTo>
                    <a:lnTo>
                      <a:pt x="449859" y="17231"/>
                    </a:lnTo>
                    <a:lnTo>
                      <a:pt x="404985" y="30227"/>
                    </a:lnTo>
                    <a:lnTo>
                      <a:pt x="361652" y="46595"/>
                    </a:lnTo>
                    <a:lnTo>
                      <a:pt x="320011" y="66183"/>
                    </a:lnTo>
                    <a:lnTo>
                      <a:pt x="280215" y="88838"/>
                    </a:lnTo>
                    <a:lnTo>
                      <a:pt x="242416" y="114409"/>
                    </a:lnTo>
                    <a:lnTo>
                      <a:pt x="206766" y="142743"/>
                    </a:lnTo>
                    <a:lnTo>
                      <a:pt x="173418" y="173688"/>
                    </a:lnTo>
                    <a:lnTo>
                      <a:pt x="142523" y="207091"/>
                    </a:lnTo>
                    <a:lnTo>
                      <a:pt x="114234" y="242800"/>
                    </a:lnTo>
                    <a:lnTo>
                      <a:pt x="88704" y="280663"/>
                    </a:lnTo>
                    <a:lnTo>
                      <a:pt x="66083" y="320528"/>
                    </a:lnTo>
                    <a:lnTo>
                      <a:pt x="46525" y="362241"/>
                    </a:lnTo>
                    <a:lnTo>
                      <a:pt x="30182" y="405652"/>
                    </a:lnTo>
                    <a:lnTo>
                      <a:pt x="17205" y="450607"/>
                    </a:lnTo>
                    <a:lnTo>
                      <a:pt x="7748" y="496954"/>
                    </a:lnTo>
                    <a:lnTo>
                      <a:pt x="1962" y="544542"/>
                    </a:lnTo>
                    <a:lnTo>
                      <a:pt x="0" y="593216"/>
                    </a:lnTo>
                    <a:lnTo>
                      <a:pt x="2056" y="642961"/>
                    </a:lnTo>
                    <a:lnTo>
                      <a:pt x="8113" y="691513"/>
                    </a:lnTo>
                    <a:lnTo>
                      <a:pt x="18005" y="738721"/>
                    </a:lnTo>
                    <a:lnTo>
                      <a:pt x="31567" y="784436"/>
                    </a:lnTo>
                    <a:lnTo>
                      <a:pt x="48631" y="828510"/>
                    </a:lnTo>
                    <a:lnTo>
                      <a:pt x="69031" y="870791"/>
                    </a:lnTo>
                    <a:lnTo>
                      <a:pt x="92602" y="911132"/>
                    </a:lnTo>
                    <a:lnTo>
                      <a:pt x="119177" y="949382"/>
                    </a:lnTo>
                    <a:lnTo>
                      <a:pt x="148589" y="985392"/>
                    </a:lnTo>
                    <a:lnTo>
                      <a:pt x="182390" y="1018441"/>
                    </a:lnTo>
                    <a:lnTo>
                      <a:pt x="218680" y="1048674"/>
                    </a:lnTo>
                    <a:lnTo>
                      <a:pt x="257290" y="1075935"/>
                    </a:lnTo>
                    <a:lnTo>
                      <a:pt x="298049" y="1100068"/>
                    </a:lnTo>
                    <a:lnTo>
                      <a:pt x="340788" y="1120917"/>
                    </a:lnTo>
                    <a:lnTo>
                      <a:pt x="385337" y="1138326"/>
                    </a:lnTo>
                    <a:lnTo>
                      <a:pt x="431525" y="1152138"/>
                    </a:lnTo>
                    <a:lnTo>
                      <a:pt x="479184" y="1162197"/>
                    </a:lnTo>
                    <a:lnTo>
                      <a:pt x="528142" y="1168347"/>
                    </a:lnTo>
                    <a:lnTo>
                      <a:pt x="578230" y="1170431"/>
                    </a:lnTo>
                    <a:lnTo>
                      <a:pt x="626812" y="1168451"/>
                    </a:lnTo>
                    <a:lnTo>
                      <a:pt x="674310" y="1162615"/>
                    </a:lnTo>
                    <a:lnTo>
                      <a:pt x="720572" y="1153077"/>
                    </a:lnTo>
                    <a:lnTo>
                      <a:pt x="765446" y="1139993"/>
                    </a:lnTo>
                    <a:lnTo>
                      <a:pt x="808779" y="1123519"/>
                    </a:lnTo>
                    <a:lnTo>
                      <a:pt x="850420" y="1103809"/>
                    </a:lnTo>
                    <a:lnTo>
                      <a:pt x="890216" y="1081020"/>
                    </a:lnTo>
                    <a:lnTo>
                      <a:pt x="928015" y="1055307"/>
                    </a:lnTo>
                    <a:lnTo>
                      <a:pt x="963665" y="1026824"/>
                    </a:lnTo>
                    <a:lnTo>
                      <a:pt x="997013" y="995727"/>
                    </a:lnTo>
                    <a:lnTo>
                      <a:pt x="1027908" y="962172"/>
                    </a:lnTo>
                    <a:lnTo>
                      <a:pt x="1056197" y="926314"/>
                    </a:lnTo>
                    <a:lnTo>
                      <a:pt x="1081727" y="888308"/>
                    </a:lnTo>
                    <a:lnTo>
                      <a:pt x="1104348" y="848310"/>
                    </a:lnTo>
                    <a:lnTo>
                      <a:pt x="1123906" y="806475"/>
                    </a:lnTo>
                    <a:lnTo>
                      <a:pt x="1140249" y="762959"/>
                    </a:lnTo>
                    <a:lnTo>
                      <a:pt x="1153226" y="717916"/>
                    </a:lnTo>
                    <a:lnTo>
                      <a:pt x="1162683" y="671502"/>
                    </a:lnTo>
                    <a:lnTo>
                      <a:pt x="1168469" y="623872"/>
                    </a:lnTo>
                    <a:lnTo>
                      <a:pt x="1170431" y="575182"/>
                    </a:lnTo>
                    <a:lnTo>
                      <a:pt x="1168375" y="525438"/>
                    </a:lnTo>
                    <a:lnTo>
                      <a:pt x="1162318" y="476886"/>
                    </a:lnTo>
                    <a:lnTo>
                      <a:pt x="1152426" y="429678"/>
                    </a:lnTo>
                    <a:lnTo>
                      <a:pt x="1138864" y="383963"/>
                    </a:lnTo>
                    <a:lnTo>
                      <a:pt x="1121800" y="339889"/>
                    </a:lnTo>
                    <a:lnTo>
                      <a:pt x="1101400" y="297608"/>
                    </a:lnTo>
                    <a:lnTo>
                      <a:pt x="1077829" y="257267"/>
                    </a:lnTo>
                    <a:lnTo>
                      <a:pt x="1051254" y="219017"/>
                    </a:lnTo>
                    <a:lnTo>
                      <a:pt x="1021842" y="183006"/>
                    </a:lnTo>
                    <a:lnTo>
                      <a:pt x="988041" y="150509"/>
                    </a:lnTo>
                    <a:lnTo>
                      <a:pt x="951751" y="120717"/>
                    </a:lnTo>
                    <a:lnTo>
                      <a:pt x="913141" y="93799"/>
                    </a:lnTo>
                    <a:lnTo>
                      <a:pt x="872382" y="69924"/>
                    </a:lnTo>
                    <a:lnTo>
                      <a:pt x="829643" y="49260"/>
                    </a:lnTo>
                    <a:lnTo>
                      <a:pt x="785094" y="31975"/>
                    </a:lnTo>
                    <a:lnTo>
                      <a:pt x="738906" y="18238"/>
                    </a:lnTo>
                    <a:lnTo>
                      <a:pt x="691247" y="8218"/>
                    </a:lnTo>
                    <a:lnTo>
                      <a:pt x="642289" y="2082"/>
                    </a:lnTo>
                    <a:lnTo>
                      <a:pt x="592201" y="0"/>
                    </a:lnTo>
                    <a:close/>
                  </a:path>
                </a:pathLst>
              </a:custGeom>
              <a:solidFill>
                <a:srgbClr val="29B974"/>
              </a:solidFill>
            </p:spPr>
            <p:txBody>
              <a:bodyPr wrap="square" lIns="0" tIns="0" rIns="0" bIns="0" rtlCol="0"/>
              <a:lstStyle/>
              <a:p>
                <a:endParaRPr>
                  <a:ea typeface="Microsoft YaHei" panose="020B0503020204020204" pitchFamily="34" charset="-122"/>
                </a:endParaRPr>
              </a:p>
            </p:txBody>
          </p:sp>
          <p:pic>
            <p:nvPicPr>
              <p:cNvPr id="43" name="object 43"/>
              <p:cNvPicPr/>
              <p:nvPr/>
            </p:nvPicPr>
            <p:blipFill>
              <a:blip r:embed="rId15" cstate="print"/>
              <a:stretch>
                <a:fillRect/>
              </a:stretch>
            </p:blipFill>
            <p:spPr>
              <a:xfrm>
                <a:off x="6387083" y="4564367"/>
                <a:ext cx="1005865" cy="1008900"/>
              </a:xfrm>
              <a:prstGeom prst="rect">
                <a:avLst/>
              </a:prstGeom>
            </p:spPr>
          </p:pic>
          <p:sp>
            <p:nvSpPr>
              <p:cNvPr id="44" name="object 44"/>
              <p:cNvSpPr/>
              <p:nvPr/>
            </p:nvSpPr>
            <p:spPr>
              <a:xfrm>
                <a:off x="6412991" y="4590288"/>
                <a:ext cx="904240" cy="906780"/>
              </a:xfrm>
              <a:custGeom>
                <a:avLst/>
                <a:gdLst/>
                <a:ahLst/>
                <a:cxnLst/>
                <a:rect l="l" t="t" r="r" b="b"/>
                <a:pathLst>
                  <a:path w="904240" h="906779">
                    <a:moveTo>
                      <a:pt x="451865" y="0"/>
                    </a:moveTo>
                    <a:lnTo>
                      <a:pt x="402630" y="2659"/>
                    </a:lnTo>
                    <a:lnTo>
                      <a:pt x="354931" y="10455"/>
                    </a:lnTo>
                    <a:lnTo>
                      <a:pt x="309042" y="23109"/>
                    </a:lnTo>
                    <a:lnTo>
                      <a:pt x="265241" y="40347"/>
                    </a:lnTo>
                    <a:lnTo>
                      <a:pt x="223802" y="61891"/>
                    </a:lnTo>
                    <a:lnTo>
                      <a:pt x="185001" y="87465"/>
                    </a:lnTo>
                    <a:lnTo>
                      <a:pt x="149114" y="116793"/>
                    </a:lnTo>
                    <a:lnTo>
                      <a:pt x="116417" y="149598"/>
                    </a:lnTo>
                    <a:lnTo>
                      <a:pt x="87184" y="185604"/>
                    </a:lnTo>
                    <a:lnTo>
                      <a:pt x="61693" y="224535"/>
                    </a:lnTo>
                    <a:lnTo>
                      <a:pt x="40219" y="266115"/>
                    </a:lnTo>
                    <a:lnTo>
                      <a:pt x="23036" y="310066"/>
                    </a:lnTo>
                    <a:lnTo>
                      <a:pt x="10422" y="356114"/>
                    </a:lnTo>
                    <a:lnTo>
                      <a:pt x="2651" y="403980"/>
                    </a:lnTo>
                    <a:lnTo>
                      <a:pt x="0" y="453389"/>
                    </a:lnTo>
                    <a:lnTo>
                      <a:pt x="2651" y="502799"/>
                    </a:lnTo>
                    <a:lnTo>
                      <a:pt x="10422" y="550665"/>
                    </a:lnTo>
                    <a:lnTo>
                      <a:pt x="23036" y="596713"/>
                    </a:lnTo>
                    <a:lnTo>
                      <a:pt x="40219" y="640664"/>
                    </a:lnTo>
                    <a:lnTo>
                      <a:pt x="61693" y="682244"/>
                    </a:lnTo>
                    <a:lnTo>
                      <a:pt x="87184" y="721175"/>
                    </a:lnTo>
                    <a:lnTo>
                      <a:pt x="116417" y="757181"/>
                    </a:lnTo>
                    <a:lnTo>
                      <a:pt x="149114" y="789986"/>
                    </a:lnTo>
                    <a:lnTo>
                      <a:pt x="185001" y="819314"/>
                    </a:lnTo>
                    <a:lnTo>
                      <a:pt x="223802" y="844888"/>
                    </a:lnTo>
                    <a:lnTo>
                      <a:pt x="265241" y="866432"/>
                    </a:lnTo>
                    <a:lnTo>
                      <a:pt x="309042" y="883670"/>
                    </a:lnTo>
                    <a:lnTo>
                      <a:pt x="354931" y="896324"/>
                    </a:lnTo>
                    <a:lnTo>
                      <a:pt x="402630" y="904120"/>
                    </a:lnTo>
                    <a:lnTo>
                      <a:pt x="451865" y="906780"/>
                    </a:lnTo>
                    <a:lnTo>
                      <a:pt x="501101" y="904120"/>
                    </a:lnTo>
                    <a:lnTo>
                      <a:pt x="548800" y="896324"/>
                    </a:lnTo>
                    <a:lnTo>
                      <a:pt x="594689" y="883670"/>
                    </a:lnTo>
                    <a:lnTo>
                      <a:pt x="638490" y="866432"/>
                    </a:lnTo>
                    <a:lnTo>
                      <a:pt x="679929" y="844888"/>
                    </a:lnTo>
                    <a:lnTo>
                      <a:pt x="718730" y="819314"/>
                    </a:lnTo>
                    <a:lnTo>
                      <a:pt x="754617" y="789986"/>
                    </a:lnTo>
                    <a:lnTo>
                      <a:pt x="787314" y="757181"/>
                    </a:lnTo>
                    <a:lnTo>
                      <a:pt x="816547" y="721175"/>
                    </a:lnTo>
                    <a:lnTo>
                      <a:pt x="842038" y="682244"/>
                    </a:lnTo>
                    <a:lnTo>
                      <a:pt x="863512" y="640664"/>
                    </a:lnTo>
                    <a:lnTo>
                      <a:pt x="880695" y="596713"/>
                    </a:lnTo>
                    <a:lnTo>
                      <a:pt x="893309" y="550665"/>
                    </a:lnTo>
                    <a:lnTo>
                      <a:pt x="901080" y="502799"/>
                    </a:lnTo>
                    <a:lnTo>
                      <a:pt x="903732" y="453389"/>
                    </a:lnTo>
                    <a:lnTo>
                      <a:pt x="901080" y="403980"/>
                    </a:lnTo>
                    <a:lnTo>
                      <a:pt x="893309" y="356114"/>
                    </a:lnTo>
                    <a:lnTo>
                      <a:pt x="880695" y="310066"/>
                    </a:lnTo>
                    <a:lnTo>
                      <a:pt x="863512" y="266115"/>
                    </a:lnTo>
                    <a:lnTo>
                      <a:pt x="842038" y="224536"/>
                    </a:lnTo>
                    <a:lnTo>
                      <a:pt x="816547" y="185604"/>
                    </a:lnTo>
                    <a:lnTo>
                      <a:pt x="787314" y="149598"/>
                    </a:lnTo>
                    <a:lnTo>
                      <a:pt x="754617" y="116793"/>
                    </a:lnTo>
                    <a:lnTo>
                      <a:pt x="718730" y="87465"/>
                    </a:lnTo>
                    <a:lnTo>
                      <a:pt x="679929" y="61891"/>
                    </a:lnTo>
                    <a:lnTo>
                      <a:pt x="638490" y="40347"/>
                    </a:lnTo>
                    <a:lnTo>
                      <a:pt x="594689" y="23109"/>
                    </a:lnTo>
                    <a:lnTo>
                      <a:pt x="548800" y="10455"/>
                    </a:lnTo>
                    <a:lnTo>
                      <a:pt x="501101" y="2659"/>
                    </a:lnTo>
                    <a:lnTo>
                      <a:pt x="451865" y="0"/>
                    </a:lnTo>
                    <a:close/>
                  </a:path>
                </a:pathLst>
              </a:custGeom>
              <a:solidFill>
                <a:srgbClr val="FFFFFF"/>
              </a:solidFill>
            </p:spPr>
            <p:txBody>
              <a:bodyPr wrap="square" lIns="0" tIns="0" rIns="0" bIns="0" rtlCol="0"/>
              <a:lstStyle/>
              <a:p>
                <a:endParaRPr>
                  <a:ea typeface="Microsoft YaHei" panose="020B0503020204020204" pitchFamily="34" charset="-122"/>
                </a:endParaRPr>
              </a:p>
            </p:txBody>
          </p:sp>
          <p:sp>
            <p:nvSpPr>
              <p:cNvPr id="45" name="object 45"/>
              <p:cNvSpPr/>
              <p:nvPr/>
            </p:nvSpPr>
            <p:spPr>
              <a:xfrm>
                <a:off x="6492239" y="4846319"/>
                <a:ext cx="824865" cy="650875"/>
              </a:xfrm>
              <a:custGeom>
                <a:avLst/>
                <a:gdLst/>
                <a:ahLst/>
                <a:cxnLst/>
                <a:rect l="l" t="t" r="r" b="b"/>
                <a:pathLst>
                  <a:path w="824865" h="650875">
                    <a:moveTo>
                      <a:pt x="778383" y="0"/>
                    </a:moveTo>
                    <a:lnTo>
                      <a:pt x="795637" y="43253"/>
                    </a:lnTo>
                    <a:lnTo>
                      <a:pt x="808212" y="88376"/>
                    </a:lnTo>
                    <a:lnTo>
                      <a:pt x="815905" y="134999"/>
                    </a:lnTo>
                    <a:lnTo>
                      <a:pt x="818514" y="182752"/>
                    </a:lnTo>
                    <a:lnTo>
                      <a:pt x="816177" y="229227"/>
                    </a:lnTo>
                    <a:lnTo>
                      <a:pt x="809315" y="274343"/>
                    </a:lnTo>
                    <a:lnTo>
                      <a:pt x="798156" y="317876"/>
                    </a:lnTo>
                    <a:lnTo>
                      <a:pt x="782927" y="359598"/>
                    </a:lnTo>
                    <a:lnTo>
                      <a:pt x="763853" y="399284"/>
                    </a:lnTo>
                    <a:lnTo>
                      <a:pt x="741161" y="436706"/>
                    </a:lnTo>
                    <a:lnTo>
                      <a:pt x="715078" y="471639"/>
                    </a:lnTo>
                    <a:lnTo>
                      <a:pt x="685831" y="503856"/>
                    </a:lnTo>
                    <a:lnTo>
                      <a:pt x="653646" y="533131"/>
                    </a:lnTo>
                    <a:lnTo>
                      <a:pt x="618750" y="559237"/>
                    </a:lnTo>
                    <a:lnTo>
                      <a:pt x="581369" y="581948"/>
                    </a:lnTo>
                    <a:lnTo>
                      <a:pt x="541730" y="601037"/>
                    </a:lnTo>
                    <a:lnTo>
                      <a:pt x="500059" y="616278"/>
                    </a:lnTo>
                    <a:lnTo>
                      <a:pt x="456584" y="627445"/>
                    </a:lnTo>
                    <a:lnTo>
                      <a:pt x="411530" y="634311"/>
                    </a:lnTo>
                    <a:lnTo>
                      <a:pt x="365125" y="636650"/>
                    </a:lnTo>
                    <a:lnTo>
                      <a:pt x="316211" y="633948"/>
                    </a:lnTo>
                    <a:lnTo>
                      <a:pt x="268654" y="626041"/>
                    </a:lnTo>
                    <a:lnTo>
                      <a:pt x="222767" y="613226"/>
                    </a:lnTo>
                    <a:lnTo>
                      <a:pt x="178861" y="595801"/>
                    </a:lnTo>
                    <a:lnTo>
                      <a:pt x="137250" y="574065"/>
                    </a:lnTo>
                    <a:lnTo>
                      <a:pt x="98246" y="548315"/>
                    </a:lnTo>
                    <a:lnTo>
                      <a:pt x="62161" y="518849"/>
                    </a:lnTo>
                    <a:lnTo>
                      <a:pt x="29308" y="485965"/>
                    </a:lnTo>
                    <a:lnTo>
                      <a:pt x="0" y="449960"/>
                    </a:lnTo>
                    <a:lnTo>
                      <a:pt x="10614" y="466099"/>
                    </a:lnTo>
                    <a:lnTo>
                      <a:pt x="46101" y="510158"/>
                    </a:lnTo>
                    <a:lnTo>
                      <a:pt x="83390" y="545138"/>
                    </a:lnTo>
                    <a:lnTo>
                      <a:pt x="124463" y="575797"/>
                    </a:lnTo>
                    <a:lnTo>
                      <a:pt x="168935" y="601748"/>
                    </a:lnTo>
                    <a:lnTo>
                      <a:pt x="216421" y="622606"/>
                    </a:lnTo>
                    <a:lnTo>
                      <a:pt x="266538" y="637982"/>
                    </a:lnTo>
                    <a:lnTo>
                      <a:pt x="318901" y="647492"/>
                    </a:lnTo>
                    <a:lnTo>
                      <a:pt x="373126" y="650747"/>
                    </a:lnTo>
                    <a:lnTo>
                      <a:pt x="422221" y="648089"/>
                    </a:lnTo>
                    <a:lnTo>
                      <a:pt x="469807" y="640297"/>
                    </a:lnTo>
                    <a:lnTo>
                      <a:pt x="515603" y="627646"/>
                    </a:lnTo>
                    <a:lnTo>
                      <a:pt x="559333" y="610410"/>
                    </a:lnTo>
                    <a:lnTo>
                      <a:pt x="600719" y="588866"/>
                    </a:lnTo>
                    <a:lnTo>
                      <a:pt x="639482" y="563286"/>
                    </a:lnTo>
                    <a:lnTo>
                      <a:pt x="675345" y="533947"/>
                    </a:lnTo>
                    <a:lnTo>
                      <a:pt x="708030" y="501122"/>
                    </a:lnTo>
                    <a:lnTo>
                      <a:pt x="737258" y="465088"/>
                    </a:lnTo>
                    <a:lnTo>
                      <a:pt x="762752" y="426117"/>
                    </a:lnTo>
                    <a:lnTo>
                      <a:pt x="784234" y="384486"/>
                    </a:lnTo>
                    <a:lnTo>
                      <a:pt x="801426" y="340469"/>
                    </a:lnTo>
                    <a:lnTo>
                      <a:pt x="814051" y="294341"/>
                    </a:lnTo>
                    <a:lnTo>
                      <a:pt x="821829" y="246376"/>
                    </a:lnTo>
                    <a:lnTo>
                      <a:pt x="824484" y="196849"/>
                    </a:lnTo>
                    <a:lnTo>
                      <a:pt x="821513" y="144607"/>
                    </a:lnTo>
                    <a:lnTo>
                      <a:pt x="812720" y="93900"/>
                    </a:lnTo>
                    <a:lnTo>
                      <a:pt x="798284" y="45456"/>
                    </a:lnTo>
                    <a:lnTo>
                      <a:pt x="778383" y="0"/>
                    </a:lnTo>
                    <a:close/>
                  </a:path>
                </a:pathLst>
              </a:custGeom>
              <a:solidFill>
                <a:srgbClr val="D7D9DD"/>
              </a:solidFill>
            </p:spPr>
            <p:txBody>
              <a:bodyPr wrap="square" lIns="0" tIns="0" rIns="0" bIns="0" rtlCol="0"/>
              <a:lstStyle/>
              <a:p>
                <a:endParaRPr>
                  <a:ea typeface="Microsoft YaHei" panose="020B0503020204020204" pitchFamily="34" charset="-122"/>
                </a:endParaRPr>
              </a:p>
            </p:txBody>
          </p:sp>
          <p:pic>
            <p:nvPicPr>
              <p:cNvPr id="46" name="object 46"/>
              <p:cNvPicPr/>
              <p:nvPr/>
            </p:nvPicPr>
            <p:blipFill>
              <a:blip r:embed="rId19" cstate="print"/>
              <a:stretch>
                <a:fillRect/>
              </a:stretch>
            </p:blipFill>
            <p:spPr>
              <a:xfrm>
                <a:off x="4431791" y="3697223"/>
                <a:ext cx="618743" cy="50292"/>
              </a:xfrm>
              <a:prstGeom prst="rect">
                <a:avLst/>
              </a:prstGeom>
            </p:spPr>
          </p:pic>
          <p:sp>
            <p:nvSpPr>
              <p:cNvPr id="47" name="object 47"/>
              <p:cNvSpPr/>
              <p:nvPr/>
            </p:nvSpPr>
            <p:spPr>
              <a:xfrm>
                <a:off x="3544823" y="3110483"/>
                <a:ext cx="1170940" cy="1169035"/>
              </a:xfrm>
              <a:custGeom>
                <a:avLst/>
                <a:gdLst/>
                <a:ahLst/>
                <a:cxnLst/>
                <a:rect l="l" t="t" r="r" b="b"/>
                <a:pathLst>
                  <a:path w="1170939" h="1169035">
                    <a:moveTo>
                      <a:pt x="592201" y="0"/>
                    </a:moveTo>
                    <a:lnTo>
                      <a:pt x="543619" y="1963"/>
                    </a:lnTo>
                    <a:lnTo>
                      <a:pt x="496121" y="7752"/>
                    </a:lnTo>
                    <a:lnTo>
                      <a:pt x="449859" y="17214"/>
                    </a:lnTo>
                    <a:lnTo>
                      <a:pt x="404985" y="30196"/>
                    </a:lnTo>
                    <a:lnTo>
                      <a:pt x="361652" y="46547"/>
                    </a:lnTo>
                    <a:lnTo>
                      <a:pt x="320011" y="66114"/>
                    </a:lnTo>
                    <a:lnTo>
                      <a:pt x="280215" y="88745"/>
                    </a:lnTo>
                    <a:lnTo>
                      <a:pt x="242416" y="114287"/>
                    </a:lnTo>
                    <a:lnTo>
                      <a:pt x="206766" y="142589"/>
                    </a:lnTo>
                    <a:lnTo>
                      <a:pt x="173418" y="173497"/>
                    </a:lnTo>
                    <a:lnTo>
                      <a:pt x="142523" y="206860"/>
                    </a:lnTo>
                    <a:lnTo>
                      <a:pt x="114234" y="242526"/>
                    </a:lnTo>
                    <a:lnTo>
                      <a:pt x="88704" y="280341"/>
                    </a:lnTo>
                    <a:lnTo>
                      <a:pt x="66083" y="320154"/>
                    </a:lnTo>
                    <a:lnTo>
                      <a:pt x="46525" y="361813"/>
                    </a:lnTo>
                    <a:lnTo>
                      <a:pt x="30182" y="405164"/>
                    </a:lnTo>
                    <a:lnTo>
                      <a:pt x="17205" y="450056"/>
                    </a:lnTo>
                    <a:lnTo>
                      <a:pt x="7748" y="496337"/>
                    </a:lnTo>
                    <a:lnTo>
                      <a:pt x="1962" y="543854"/>
                    </a:lnTo>
                    <a:lnTo>
                      <a:pt x="0" y="592454"/>
                    </a:lnTo>
                    <a:lnTo>
                      <a:pt x="2056" y="642189"/>
                    </a:lnTo>
                    <a:lnTo>
                      <a:pt x="8113" y="690855"/>
                    </a:lnTo>
                    <a:lnTo>
                      <a:pt x="18005" y="738269"/>
                    </a:lnTo>
                    <a:lnTo>
                      <a:pt x="31567" y="784247"/>
                    </a:lnTo>
                    <a:lnTo>
                      <a:pt x="48631" y="828605"/>
                    </a:lnTo>
                    <a:lnTo>
                      <a:pt x="69031" y="871158"/>
                    </a:lnTo>
                    <a:lnTo>
                      <a:pt x="92602" y="911724"/>
                    </a:lnTo>
                    <a:lnTo>
                      <a:pt x="119177" y="950117"/>
                    </a:lnTo>
                    <a:lnTo>
                      <a:pt x="148589" y="986154"/>
                    </a:lnTo>
                    <a:lnTo>
                      <a:pt x="182333" y="1018584"/>
                    </a:lnTo>
                    <a:lnTo>
                      <a:pt x="218469" y="1048320"/>
                    </a:lnTo>
                    <a:lnTo>
                      <a:pt x="256851" y="1075195"/>
                    </a:lnTo>
                    <a:lnTo>
                      <a:pt x="297334" y="1099038"/>
                    </a:lnTo>
                    <a:lnTo>
                      <a:pt x="339772" y="1119679"/>
                    </a:lnTo>
                    <a:lnTo>
                      <a:pt x="384020" y="1136948"/>
                    </a:lnTo>
                    <a:lnTo>
                      <a:pt x="429932" y="1150676"/>
                    </a:lnTo>
                    <a:lnTo>
                      <a:pt x="477363" y="1160691"/>
                    </a:lnTo>
                    <a:lnTo>
                      <a:pt x="526167" y="1166825"/>
                    </a:lnTo>
                    <a:lnTo>
                      <a:pt x="576199" y="1168908"/>
                    </a:lnTo>
                    <a:lnTo>
                      <a:pt x="624812" y="1166944"/>
                    </a:lnTo>
                    <a:lnTo>
                      <a:pt x="672366" y="1161155"/>
                    </a:lnTo>
                    <a:lnTo>
                      <a:pt x="718705" y="1151693"/>
                    </a:lnTo>
                    <a:lnTo>
                      <a:pt x="763674" y="1138711"/>
                    </a:lnTo>
                    <a:lnTo>
                      <a:pt x="807118" y="1122360"/>
                    </a:lnTo>
                    <a:lnTo>
                      <a:pt x="848883" y="1102793"/>
                    </a:lnTo>
                    <a:lnTo>
                      <a:pt x="888813" y="1080162"/>
                    </a:lnTo>
                    <a:lnTo>
                      <a:pt x="926753" y="1054620"/>
                    </a:lnTo>
                    <a:lnTo>
                      <a:pt x="962549" y="1026318"/>
                    </a:lnTo>
                    <a:lnTo>
                      <a:pt x="996045" y="995410"/>
                    </a:lnTo>
                    <a:lnTo>
                      <a:pt x="1027086" y="962047"/>
                    </a:lnTo>
                    <a:lnTo>
                      <a:pt x="1055518" y="926381"/>
                    </a:lnTo>
                    <a:lnTo>
                      <a:pt x="1081185" y="888566"/>
                    </a:lnTo>
                    <a:lnTo>
                      <a:pt x="1103933" y="848753"/>
                    </a:lnTo>
                    <a:lnTo>
                      <a:pt x="1123606" y="807094"/>
                    </a:lnTo>
                    <a:lnTo>
                      <a:pt x="1140050" y="763743"/>
                    </a:lnTo>
                    <a:lnTo>
                      <a:pt x="1153109" y="718851"/>
                    </a:lnTo>
                    <a:lnTo>
                      <a:pt x="1162630" y="672570"/>
                    </a:lnTo>
                    <a:lnTo>
                      <a:pt x="1168455" y="625053"/>
                    </a:lnTo>
                    <a:lnTo>
                      <a:pt x="1170431" y="576452"/>
                    </a:lnTo>
                    <a:lnTo>
                      <a:pt x="1168373" y="526718"/>
                    </a:lnTo>
                    <a:lnTo>
                      <a:pt x="1162296" y="478052"/>
                    </a:lnTo>
                    <a:lnTo>
                      <a:pt x="1152350" y="430638"/>
                    </a:lnTo>
                    <a:lnTo>
                      <a:pt x="1138686" y="384660"/>
                    </a:lnTo>
                    <a:lnTo>
                      <a:pt x="1121452" y="340302"/>
                    </a:lnTo>
                    <a:lnTo>
                      <a:pt x="1100798" y="297749"/>
                    </a:lnTo>
                    <a:lnTo>
                      <a:pt x="1076873" y="257183"/>
                    </a:lnTo>
                    <a:lnTo>
                      <a:pt x="1049827" y="218790"/>
                    </a:lnTo>
                    <a:lnTo>
                      <a:pt x="1019810" y="182752"/>
                    </a:lnTo>
                    <a:lnTo>
                      <a:pt x="986560" y="150323"/>
                    </a:lnTo>
                    <a:lnTo>
                      <a:pt x="950710" y="120587"/>
                    </a:lnTo>
                    <a:lnTo>
                      <a:pt x="912444" y="93712"/>
                    </a:lnTo>
                    <a:lnTo>
                      <a:pt x="871943" y="69869"/>
                    </a:lnTo>
                    <a:lnTo>
                      <a:pt x="829389" y="49228"/>
                    </a:lnTo>
                    <a:lnTo>
                      <a:pt x="784964" y="31959"/>
                    </a:lnTo>
                    <a:lnTo>
                      <a:pt x="738851" y="18231"/>
                    </a:lnTo>
                    <a:lnTo>
                      <a:pt x="691231" y="8216"/>
                    </a:lnTo>
                    <a:lnTo>
                      <a:pt x="642287" y="2082"/>
                    </a:lnTo>
                    <a:lnTo>
                      <a:pt x="592201" y="0"/>
                    </a:lnTo>
                    <a:close/>
                  </a:path>
                </a:pathLst>
              </a:custGeom>
              <a:solidFill>
                <a:srgbClr val="29B974"/>
              </a:solidFill>
            </p:spPr>
            <p:txBody>
              <a:bodyPr wrap="square" lIns="0" tIns="0" rIns="0" bIns="0" rtlCol="0"/>
              <a:lstStyle/>
              <a:p>
                <a:endParaRPr>
                  <a:ea typeface="Microsoft YaHei" panose="020B0503020204020204" pitchFamily="34" charset="-122"/>
                </a:endParaRPr>
              </a:p>
            </p:txBody>
          </p:sp>
          <p:pic>
            <p:nvPicPr>
              <p:cNvPr id="48" name="object 48"/>
              <p:cNvPicPr/>
              <p:nvPr/>
            </p:nvPicPr>
            <p:blipFill>
              <a:blip r:embed="rId20" cstate="print"/>
              <a:stretch>
                <a:fillRect/>
              </a:stretch>
            </p:blipFill>
            <p:spPr>
              <a:xfrm>
                <a:off x="3645407" y="3209518"/>
                <a:ext cx="1007376" cy="1005865"/>
              </a:xfrm>
              <a:prstGeom prst="rect">
                <a:avLst/>
              </a:prstGeom>
            </p:spPr>
          </p:pic>
          <p:sp>
            <p:nvSpPr>
              <p:cNvPr id="49" name="object 49"/>
              <p:cNvSpPr/>
              <p:nvPr/>
            </p:nvSpPr>
            <p:spPr>
              <a:xfrm>
                <a:off x="3671315" y="3235451"/>
                <a:ext cx="905510" cy="904240"/>
              </a:xfrm>
              <a:custGeom>
                <a:avLst/>
                <a:gdLst/>
                <a:ahLst/>
                <a:cxnLst/>
                <a:rect l="l" t="t" r="r" b="b"/>
                <a:pathLst>
                  <a:path w="905510" h="904239">
                    <a:moveTo>
                      <a:pt x="452628" y="0"/>
                    </a:moveTo>
                    <a:lnTo>
                      <a:pt x="403316" y="2651"/>
                    </a:lnTo>
                    <a:lnTo>
                      <a:pt x="355541" y="10422"/>
                    </a:lnTo>
                    <a:lnTo>
                      <a:pt x="309579" y="23036"/>
                    </a:lnTo>
                    <a:lnTo>
                      <a:pt x="265705" y="40219"/>
                    </a:lnTo>
                    <a:lnTo>
                      <a:pt x="224197" y="61693"/>
                    </a:lnTo>
                    <a:lnTo>
                      <a:pt x="185330" y="87184"/>
                    </a:lnTo>
                    <a:lnTo>
                      <a:pt x="149381" y="116417"/>
                    </a:lnTo>
                    <a:lnTo>
                      <a:pt x="116627" y="149114"/>
                    </a:lnTo>
                    <a:lnTo>
                      <a:pt x="87343" y="185001"/>
                    </a:lnTo>
                    <a:lnTo>
                      <a:pt x="61806" y="223802"/>
                    </a:lnTo>
                    <a:lnTo>
                      <a:pt x="40293" y="265241"/>
                    </a:lnTo>
                    <a:lnTo>
                      <a:pt x="23079" y="309042"/>
                    </a:lnTo>
                    <a:lnTo>
                      <a:pt x="10441" y="354931"/>
                    </a:lnTo>
                    <a:lnTo>
                      <a:pt x="2656" y="402630"/>
                    </a:lnTo>
                    <a:lnTo>
                      <a:pt x="0" y="451866"/>
                    </a:lnTo>
                    <a:lnTo>
                      <a:pt x="2656" y="501101"/>
                    </a:lnTo>
                    <a:lnTo>
                      <a:pt x="10441" y="548800"/>
                    </a:lnTo>
                    <a:lnTo>
                      <a:pt x="23079" y="594689"/>
                    </a:lnTo>
                    <a:lnTo>
                      <a:pt x="40293" y="638490"/>
                    </a:lnTo>
                    <a:lnTo>
                      <a:pt x="61806" y="679929"/>
                    </a:lnTo>
                    <a:lnTo>
                      <a:pt x="87343" y="718730"/>
                    </a:lnTo>
                    <a:lnTo>
                      <a:pt x="116627" y="754617"/>
                    </a:lnTo>
                    <a:lnTo>
                      <a:pt x="149381" y="787314"/>
                    </a:lnTo>
                    <a:lnTo>
                      <a:pt x="185330" y="816547"/>
                    </a:lnTo>
                    <a:lnTo>
                      <a:pt x="224197" y="842038"/>
                    </a:lnTo>
                    <a:lnTo>
                      <a:pt x="265705" y="863512"/>
                    </a:lnTo>
                    <a:lnTo>
                      <a:pt x="309579" y="880695"/>
                    </a:lnTo>
                    <a:lnTo>
                      <a:pt x="355541" y="893309"/>
                    </a:lnTo>
                    <a:lnTo>
                      <a:pt x="403316" y="901080"/>
                    </a:lnTo>
                    <a:lnTo>
                      <a:pt x="452628" y="903732"/>
                    </a:lnTo>
                    <a:lnTo>
                      <a:pt x="501939" y="901080"/>
                    </a:lnTo>
                    <a:lnTo>
                      <a:pt x="549714" y="893309"/>
                    </a:lnTo>
                    <a:lnTo>
                      <a:pt x="595676" y="880695"/>
                    </a:lnTo>
                    <a:lnTo>
                      <a:pt x="639550" y="863512"/>
                    </a:lnTo>
                    <a:lnTo>
                      <a:pt x="681058" y="842038"/>
                    </a:lnTo>
                    <a:lnTo>
                      <a:pt x="719925" y="816547"/>
                    </a:lnTo>
                    <a:lnTo>
                      <a:pt x="755874" y="787314"/>
                    </a:lnTo>
                    <a:lnTo>
                      <a:pt x="788628" y="754617"/>
                    </a:lnTo>
                    <a:lnTo>
                      <a:pt x="817912" y="718730"/>
                    </a:lnTo>
                    <a:lnTo>
                      <a:pt x="843449" y="679929"/>
                    </a:lnTo>
                    <a:lnTo>
                      <a:pt x="864962" y="638490"/>
                    </a:lnTo>
                    <a:lnTo>
                      <a:pt x="882176" y="594689"/>
                    </a:lnTo>
                    <a:lnTo>
                      <a:pt x="894814" y="548800"/>
                    </a:lnTo>
                    <a:lnTo>
                      <a:pt x="902599" y="501101"/>
                    </a:lnTo>
                    <a:lnTo>
                      <a:pt x="905256" y="451866"/>
                    </a:lnTo>
                    <a:lnTo>
                      <a:pt x="902599" y="402630"/>
                    </a:lnTo>
                    <a:lnTo>
                      <a:pt x="894814" y="354931"/>
                    </a:lnTo>
                    <a:lnTo>
                      <a:pt x="882176" y="309042"/>
                    </a:lnTo>
                    <a:lnTo>
                      <a:pt x="864962" y="265241"/>
                    </a:lnTo>
                    <a:lnTo>
                      <a:pt x="843449" y="223802"/>
                    </a:lnTo>
                    <a:lnTo>
                      <a:pt x="817912" y="185001"/>
                    </a:lnTo>
                    <a:lnTo>
                      <a:pt x="788628" y="149114"/>
                    </a:lnTo>
                    <a:lnTo>
                      <a:pt x="755874" y="116417"/>
                    </a:lnTo>
                    <a:lnTo>
                      <a:pt x="719925" y="87184"/>
                    </a:lnTo>
                    <a:lnTo>
                      <a:pt x="681058" y="61693"/>
                    </a:lnTo>
                    <a:lnTo>
                      <a:pt x="639550" y="40219"/>
                    </a:lnTo>
                    <a:lnTo>
                      <a:pt x="595676" y="23036"/>
                    </a:lnTo>
                    <a:lnTo>
                      <a:pt x="549714" y="10422"/>
                    </a:lnTo>
                    <a:lnTo>
                      <a:pt x="501939" y="2651"/>
                    </a:lnTo>
                    <a:lnTo>
                      <a:pt x="452628" y="0"/>
                    </a:lnTo>
                    <a:close/>
                  </a:path>
                </a:pathLst>
              </a:custGeom>
              <a:solidFill>
                <a:srgbClr val="FFFFFF"/>
              </a:solidFill>
            </p:spPr>
            <p:txBody>
              <a:bodyPr wrap="square" lIns="0" tIns="0" rIns="0" bIns="0" rtlCol="0"/>
              <a:lstStyle/>
              <a:p>
                <a:endParaRPr>
                  <a:ea typeface="Microsoft YaHei" panose="020B0503020204020204" pitchFamily="34" charset="-122"/>
                </a:endParaRPr>
              </a:p>
            </p:txBody>
          </p:sp>
          <p:sp>
            <p:nvSpPr>
              <p:cNvPr id="50" name="object 50"/>
              <p:cNvSpPr/>
              <p:nvPr/>
            </p:nvSpPr>
            <p:spPr>
              <a:xfrm>
                <a:off x="3752087" y="3488435"/>
                <a:ext cx="824865" cy="650875"/>
              </a:xfrm>
              <a:custGeom>
                <a:avLst/>
                <a:gdLst/>
                <a:ahLst/>
                <a:cxnLst/>
                <a:rect l="l" t="t" r="r" b="b"/>
                <a:pathLst>
                  <a:path w="824864" h="650875">
                    <a:moveTo>
                      <a:pt x="778383" y="0"/>
                    </a:moveTo>
                    <a:lnTo>
                      <a:pt x="794462" y="43285"/>
                    </a:lnTo>
                    <a:lnTo>
                      <a:pt x="806434" y="88630"/>
                    </a:lnTo>
                    <a:lnTo>
                      <a:pt x="813905" y="135856"/>
                    </a:lnTo>
                    <a:lnTo>
                      <a:pt x="816483" y="184784"/>
                    </a:lnTo>
                    <a:lnTo>
                      <a:pt x="813826" y="233931"/>
                    </a:lnTo>
                    <a:lnTo>
                      <a:pt x="806044" y="281567"/>
                    </a:lnTo>
                    <a:lnTo>
                      <a:pt x="793413" y="327413"/>
                    </a:lnTo>
                    <a:lnTo>
                      <a:pt x="776213" y="371191"/>
                    </a:lnTo>
                    <a:lnTo>
                      <a:pt x="754723" y="412622"/>
                    </a:lnTo>
                    <a:lnTo>
                      <a:pt x="729220" y="451430"/>
                    </a:lnTo>
                    <a:lnTo>
                      <a:pt x="699984" y="487334"/>
                    </a:lnTo>
                    <a:lnTo>
                      <a:pt x="667293" y="520056"/>
                    </a:lnTo>
                    <a:lnTo>
                      <a:pt x="631426" y="549319"/>
                    </a:lnTo>
                    <a:lnTo>
                      <a:pt x="592661" y="574844"/>
                    </a:lnTo>
                    <a:lnTo>
                      <a:pt x="551278" y="596352"/>
                    </a:lnTo>
                    <a:lnTo>
                      <a:pt x="507553" y="613565"/>
                    </a:lnTo>
                    <a:lnTo>
                      <a:pt x="461767" y="626205"/>
                    </a:lnTo>
                    <a:lnTo>
                      <a:pt x="414198" y="633993"/>
                    </a:lnTo>
                    <a:lnTo>
                      <a:pt x="365125" y="636651"/>
                    </a:lnTo>
                    <a:lnTo>
                      <a:pt x="315676" y="634015"/>
                    </a:lnTo>
                    <a:lnTo>
                      <a:pt x="267835" y="626275"/>
                    </a:lnTo>
                    <a:lnTo>
                      <a:pt x="221864" y="613678"/>
                    </a:lnTo>
                    <a:lnTo>
                      <a:pt x="178025" y="596470"/>
                    </a:lnTo>
                    <a:lnTo>
                      <a:pt x="136581" y="574901"/>
                    </a:lnTo>
                    <a:lnTo>
                      <a:pt x="97794" y="549218"/>
                    </a:lnTo>
                    <a:lnTo>
                      <a:pt x="61927" y="519668"/>
                    </a:lnTo>
                    <a:lnTo>
                      <a:pt x="29241" y="486500"/>
                    </a:lnTo>
                    <a:lnTo>
                      <a:pt x="0" y="449961"/>
                    </a:lnTo>
                    <a:lnTo>
                      <a:pt x="10584" y="466099"/>
                    </a:lnTo>
                    <a:lnTo>
                      <a:pt x="44196" y="510158"/>
                    </a:lnTo>
                    <a:lnTo>
                      <a:pt x="81438" y="545138"/>
                    </a:lnTo>
                    <a:lnTo>
                      <a:pt x="122477" y="575797"/>
                    </a:lnTo>
                    <a:lnTo>
                      <a:pt x="166926" y="601748"/>
                    </a:lnTo>
                    <a:lnTo>
                      <a:pt x="214399" y="622606"/>
                    </a:lnTo>
                    <a:lnTo>
                      <a:pt x="264509" y="637982"/>
                    </a:lnTo>
                    <a:lnTo>
                      <a:pt x="316869" y="647492"/>
                    </a:lnTo>
                    <a:lnTo>
                      <a:pt x="371094" y="650747"/>
                    </a:lnTo>
                    <a:lnTo>
                      <a:pt x="420569" y="648090"/>
                    </a:lnTo>
                    <a:lnTo>
                      <a:pt x="468484" y="640302"/>
                    </a:lnTo>
                    <a:lnTo>
                      <a:pt x="514563" y="627662"/>
                    </a:lnTo>
                    <a:lnTo>
                      <a:pt x="558532" y="610449"/>
                    </a:lnTo>
                    <a:lnTo>
                      <a:pt x="600117" y="588941"/>
                    </a:lnTo>
                    <a:lnTo>
                      <a:pt x="639043" y="563416"/>
                    </a:lnTo>
                    <a:lnTo>
                      <a:pt x="675037" y="534153"/>
                    </a:lnTo>
                    <a:lnTo>
                      <a:pt x="707823" y="501431"/>
                    </a:lnTo>
                    <a:lnTo>
                      <a:pt x="737128" y="465527"/>
                    </a:lnTo>
                    <a:lnTo>
                      <a:pt x="762677" y="426720"/>
                    </a:lnTo>
                    <a:lnTo>
                      <a:pt x="784196" y="385288"/>
                    </a:lnTo>
                    <a:lnTo>
                      <a:pt x="801410" y="341510"/>
                    </a:lnTo>
                    <a:lnTo>
                      <a:pt x="814046" y="295664"/>
                    </a:lnTo>
                    <a:lnTo>
                      <a:pt x="821828" y="248028"/>
                    </a:lnTo>
                    <a:lnTo>
                      <a:pt x="824484" y="198881"/>
                    </a:lnTo>
                    <a:lnTo>
                      <a:pt x="821513" y="145732"/>
                    </a:lnTo>
                    <a:lnTo>
                      <a:pt x="812720" y="94869"/>
                    </a:lnTo>
                    <a:lnTo>
                      <a:pt x="798284" y="46291"/>
                    </a:lnTo>
                    <a:lnTo>
                      <a:pt x="778383" y="0"/>
                    </a:lnTo>
                    <a:close/>
                  </a:path>
                </a:pathLst>
              </a:custGeom>
              <a:solidFill>
                <a:srgbClr val="D7D9DD"/>
              </a:solidFill>
            </p:spPr>
            <p:txBody>
              <a:bodyPr wrap="square" lIns="0" tIns="0" rIns="0" bIns="0" rtlCol="0"/>
              <a:lstStyle/>
              <a:p>
                <a:endParaRPr>
                  <a:ea typeface="Microsoft YaHei" panose="020B0503020204020204" pitchFamily="34" charset="-122"/>
                </a:endParaRPr>
              </a:p>
            </p:txBody>
          </p:sp>
          <p:pic>
            <p:nvPicPr>
              <p:cNvPr id="51" name="object 51"/>
              <p:cNvPicPr/>
              <p:nvPr/>
            </p:nvPicPr>
            <p:blipFill>
              <a:blip r:embed="rId21" cstate="print"/>
              <a:stretch>
                <a:fillRect/>
              </a:stretch>
            </p:blipFill>
            <p:spPr>
              <a:xfrm>
                <a:off x="4930139" y="2659379"/>
                <a:ext cx="473963" cy="470916"/>
              </a:xfrm>
              <a:prstGeom prst="rect">
                <a:avLst/>
              </a:prstGeom>
            </p:spPr>
          </p:pic>
          <p:sp>
            <p:nvSpPr>
              <p:cNvPr id="52" name="object 52"/>
              <p:cNvSpPr/>
              <p:nvPr/>
            </p:nvSpPr>
            <p:spPr>
              <a:xfrm>
                <a:off x="4151375" y="1877567"/>
                <a:ext cx="1172210" cy="1167765"/>
              </a:xfrm>
              <a:custGeom>
                <a:avLst/>
                <a:gdLst/>
                <a:ahLst/>
                <a:cxnLst/>
                <a:rect l="l" t="t" r="r" b="b"/>
                <a:pathLst>
                  <a:path w="1172210" h="1167764">
                    <a:moveTo>
                      <a:pt x="592963" y="0"/>
                    </a:moveTo>
                    <a:lnTo>
                      <a:pt x="544307" y="1975"/>
                    </a:lnTo>
                    <a:lnTo>
                      <a:pt x="496738" y="7798"/>
                    </a:lnTo>
                    <a:lnTo>
                      <a:pt x="450410" y="17313"/>
                    </a:lnTo>
                    <a:lnTo>
                      <a:pt x="405473" y="30365"/>
                    </a:lnTo>
                    <a:lnTo>
                      <a:pt x="362080" y="46799"/>
                    </a:lnTo>
                    <a:lnTo>
                      <a:pt x="320384" y="66460"/>
                    </a:lnTo>
                    <a:lnTo>
                      <a:pt x="280537" y="89194"/>
                    </a:lnTo>
                    <a:lnTo>
                      <a:pt x="242690" y="114844"/>
                    </a:lnTo>
                    <a:lnTo>
                      <a:pt x="206997" y="143256"/>
                    </a:lnTo>
                    <a:lnTo>
                      <a:pt x="173608" y="174275"/>
                    </a:lnTo>
                    <a:lnTo>
                      <a:pt x="142678" y="207746"/>
                    </a:lnTo>
                    <a:lnTo>
                      <a:pt x="114356" y="243513"/>
                    </a:lnTo>
                    <a:lnTo>
                      <a:pt x="88797" y="281422"/>
                    </a:lnTo>
                    <a:lnTo>
                      <a:pt x="66152" y="321318"/>
                    </a:lnTo>
                    <a:lnTo>
                      <a:pt x="46573" y="363045"/>
                    </a:lnTo>
                    <a:lnTo>
                      <a:pt x="30212" y="406448"/>
                    </a:lnTo>
                    <a:lnTo>
                      <a:pt x="17223" y="451373"/>
                    </a:lnTo>
                    <a:lnTo>
                      <a:pt x="7756" y="497664"/>
                    </a:lnTo>
                    <a:lnTo>
                      <a:pt x="1964" y="545166"/>
                    </a:lnTo>
                    <a:lnTo>
                      <a:pt x="0" y="593725"/>
                    </a:lnTo>
                    <a:lnTo>
                      <a:pt x="2056" y="643338"/>
                    </a:lnTo>
                    <a:lnTo>
                      <a:pt x="8114" y="691754"/>
                    </a:lnTo>
                    <a:lnTo>
                      <a:pt x="18010" y="738824"/>
                    </a:lnTo>
                    <a:lnTo>
                      <a:pt x="31578" y="784406"/>
                    </a:lnTo>
                    <a:lnTo>
                      <a:pt x="48652" y="828352"/>
                    </a:lnTo>
                    <a:lnTo>
                      <a:pt x="69069" y="870519"/>
                    </a:lnTo>
                    <a:lnTo>
                      <a:pt x="92662" y="910760"/>
                    </a:lnTo>
                    <a:lnTo>
                      <a:pt x="119266" y="948930"/>
                    </a:lnTo>
                    <a:lnTo>
                      <a:pt x="148716" y="984885"/>
                    </a:lnTo>
                    <a:lnTo>
                      <a:pt x="182533" y="1017276"/>
                    </a:lnTo>
                    <a:lnTo>
                      <a:pt x="218735" y="1046975"/>
                    </a:lnTo>
                    <a:lnTo>
                      <a:pt x="257179" y="1073814"/>
                    </a:lnTo>
                    <a:lnTo>
                      <a:pt x="297721" y="1097624"/>
                    </a:lnTo>
                    <a:lnTo>
                      <a:pt x="340217" y="1118235"/>
                    </a:lnTo>
                    <a:lnTo>
                      <a:pt x="384522" y="1135477"/>
                    </a:lnTo>
                    <a:lnTo>
                      <a:pt x="430493" y="1149182"/>
                    </a:lnTo>
                    <a:lnTo>
                      <a:pt x="477986" y="1159181"/>
                    </a:lnTo>
                    <a:lnTo>
                      <a:pt x="526856" y="1165305"/>
                    </a:lnTo>
                    <a:lnTo>
                      <a:pt x="576961" y="1167384"/>
                    </a:lnTo>
                    <a:lnTo>
                      <a:pt x="625631" y="1165423"/>
                    </a:lnTo>
                    <a:lnTo>
                      <a:pt x="673242" y="1159642"/>
                    </a:lnTo>
                    <a:lnTo>
                      <a:pt x="719637" y="1150194"/>
                    </a:lnTo>
                    <a:lnTo>
                      <a:pt x="764661" y="1137230"/>
                    </a:lnTo>
                    <a:lnTo>
                      <a:pt x="808160" y="1120902"/>
                    </a:lnTo>
                    <a:lnTo>
                      <a:pt x="849977" y="1101362"/>
                    </a:lnTo>
                    <a:lnTo>
                      <a:pt x="889959" y="1078762"/>
                    </a:lnTo>
                    <a:lnTo>
                      <a:pt x="927948" y="1053254"/>
                    </a:lnTo>
                    <a:lnTo>
                      <a:pt x="963790" y="1024991"/>
                    </a:lnTo>
                    <a:lnTo>
                      <a:pt x="997331" y="994124"/>
                    </a:lnTo>
                    <a:lnTo>
                      <a:pt x="1028413" y="960805"/>
                    </a:lnTo>
                    <a:lnTo>
                      <a:pt x="1056883" y="925186"/>
                    </a:lnTo>
                    <a:lnTo>
                      <a:pt x="1082585" y="887420"/>
                    </a:lnTo>
                    <a:lnTo>
                      <a:pt x="1105364" y="847658"/>
                    </a:lnTo>
                    <a:lnTo>
                      <a:pt x="1125065" y="806053"/>
                    </a:lnTo>
                    <a:lnTo>
                      <a:pt x="1141531" y="762755"/>
                    </a:lnTo>
                    <a:lnTo>
                      <a:pt x="1154609" y="717919"/>
                    </a:lnTo>
                    <a:lnTo>
                      <a:pt x="1164142" y="671694"/>
                    </a:lnTo>
                    <a:lnTo>
                      <a:pt x="1169976" y="624234"/>
                    </a:lnTo>
                    <a:lnTo>
                      <a:pt x="1171956" y="575691"/>
                    </a:lnTo>
                    <a:lnTo>
                      <a:pt x="1169896" y="526072"/>
                    </a:lnTo>
                    <a:lnTo>
                      <a:pt x="1163818" y="477647"/>
                    </a:lnTo>
                    <a:lnTo>
                      <a:pt x="1153870" y="430562"/>
                    </a:lnTo>
                    <a:lnTo>
                      <a:pt x="1140199" y="384968"/>
                    </a:lnTo>
                    <a:lnTo>
                      <a:pt x="1122954" y="341011"/>
                    </a:lnTo>
                    <a:lnTo>
                      <a:pt x="1102284" y="298840"/>
                    </a:lnTo>
                    <a:lnTo>
                      <a:pt x="1078337" y="258604"/>
                    </a:lnTo>
                    <a:lnTo>
                      <a:pt x="1051262" y="220451"/>
                    </a:lnTo>
                    <a:lnTo>
                      <a:pt x="1021207" y="184531"/>
                    </a:lnTo>
                    <a:lnTo>
                      <a:pt x="987884" y="151589"/>
                    </a:lnTo>
                    <a:lnTo>
                      <a:pt x="951968" y="121448"/>
                    </a:lnTo>
                    <a:lnTo>
                      <a:pt x="913640" y="94266"/>
                    </a:lnTo>
                    <a:lnTo>
                      <a:pt x="873080" y="70198"/>
                    </a:lnTo>
                    <a:lnTo>
                      <a:pt x="830468" y="49402"/>
                    </a:lnTo>
                    <a:lnTo>
                      <a:pt x="785986" y="32036"/>
                    </a:lnTo>
                    <a:lnTo>
                      <a:pt x="739814" y="18255"/>
                    </a:lnTo>
                    <a:lnTo>
                      <a:pt x="692132" y="8218"/>
                    </a:lnTo>
                    <a:lnTo>
                      <a:pt x="643122" y="2080"/>
                    </a:lnTo>
                    <a:lnTo>
                      <a:pt x="592963" y="0"/>
                    </a:lnTo>
                    <a:close/>
                  </a:path>
                </a:pathLst>
              </a:custGeom>
              <a:solidFill>
                <a:srgbClr val="29B974"/>
              </a:solidFill>
            </p:spPr>
            <p:txBody>
              <a:bodyPr wrap="square" lIns="0" tIns="0" rIns="0" bIns="0" rtlCol="0"/>
              <a:lstStyle/>
              <a:p>
                <a:endParaRPr>
                  <a:ea typeface="Microsoft YaHei" panose="020B0503020204020204" pitchFamily="34" charset="-122"/>
                </a:endParaRPr>
              </a:p>
            </p:txBody>
          </p:sp>
          <p:pic>
            <p:nvPicPr>
              <p:cNvPr id="53" name="object 53"/>
              <p:cNvPicPr/>
              <p:nvPr/>
            </p:nvPicPr>
            <p:blipFill>
              <a:blip r:embed="rId15" cstate="print"/>
              <a:stretch>
                <a:fillRect/>
              </a:stretch>
            </p:blipFill>
            <p:spPr>
              <a:xfrm>
                <a:off x="4253483" y="1978151"/>
                <a:ext cx="1005865" cy="1008888"/>
              </a:xfrm>
              <a:prstGeom prst="rect">
                <a:avLst/>
              </a:prstGeom>
            </p:spPr>
          </p:pic>
          <p:sp>
            <p:nvSpPr>
              <p:cNvPr id="54" name="object 54"/>
              <p:cNvSpPr/>
              <p:nvPr/>
            </p:nvSpPr>
            <p:spPr>
              <a:xfrm>
                <a:off x="4279391" y="2004059"/>
                <a:ext cx="904240" cy="906780"/>
              </a:xfrm>
              <a:custGeom>
                <a:avLst/>
                <a:gdLst/>
                <a:ahLst/>
                <a:cxnLst/>
                <a:rect l="l" t="t" r="r" b="b"/>
                <a:pathLst>
                  <a:path w="904239" h="906780">
                    <a:moveTo>
                      <a:pt x="451866" y="0"/>
                    </a:moveTo>
                    <a:lnTo>
                      <a:pt x="402630" y="2659"/>
                    </a:lnTo>
                    <a:lnTo>
                      <a:pt x="354931" y="10455"/>
                    </a:lnTo>
                    <a:lnTo>
                      <a:pt x="309042" y="23109"/>
                    </a:lnTo>
                    <a:lnTo>
                      <a:pt x="265241" y="40347"/>
                    </a:lnTo>
                    <a:lnTo>
                      <a:pt x="223802" y="61891"/>
                    </a:lnTo>
                    <a:lnTo>
                      <a:pt x="185001" y="87465"/>
                    </a:lnTo>
                    <a:lnTo>
                      <a:pt x="149114" y="116793"/>
                    </a:lnTo>
                    <a:lnTo>
                      <a:pt x="116417" y="149598"/>
                    </a:lnTo>
                    <a:lnTo>
                      <a:pt x="87184" y="185604"/>
                    </a:lnTo>
                    <a:lnTo>
                      <a:pt x="61693" y="224535"/>
                    </a:lnTo>
                    <a:lnTo>
                      <a:pt x="40219" y="266115"/>
                    </a:lnTo>
                    <a:lnTo>
                      <a:pt x="23036" y="310066"/>
                    </a:lnTo>
                    <a:lnTo>
                      <a:pt x="10422" y="356114"/>
                    </a:lnTo>
                    <a:lnTo>
                      <a:pt x="2651" y="403980"/>
                    </a:lnTo>
                    <a:lnTo>
                      <a:pt x="0" y="453389"/>
                    </a:lnTo>
                    <a:lnTo>
                      <a:pt x="2651" y="502799"/>
                    </a:lnTo>
                    <a:lnTo>
                      <a:pt x="10422" y="550665"/>
                    </a:lnTo>
                    <a:lnTo>
                      <a:pt x="23036" y="596713"/>
                    </a:lnTo>
                    <a:lnTo>
                      <a:pt x="40219" y="640664"/>
                    </a:lnTo>
                    <a:lnTo>
                      <a:pt x="61693" y="682243"/>
                    </a:lnTo>
                    <a:lnTo>
                      <a:pt x="87184" y="721175"/>
                    </a:lnTo>
                    <a:lnTo>
                      <a:pt x="116417" y="757181"/>
                    </a:lnTo>
                    <a:lnTo>
                      <a:pt x="149114" y="789986"/>
                    </a:lnTo>
                    <a:lnTo>
                      <a:pt x="185001" y="819314"/>
                    </a:lnTo>
                    <a:lnTo>
                      <a:pt x="223802" y="844888"/>
                    </a:lnTo>
                    <a:lnTo>
                      <a:pt x="265241" y="866432"/>
                    </a:lnTo>
                    <a:lnTo>
                      <a:pt x="309042" y="883670"/>
                    </a:lnTo>
                    <a:lnTo>
                      <a:pt x="354931" y="896324"/>
                    </a:lnTo>
                    <a:lnTo>
                      <a:pt x="402630" y="904120"/>
                    </a:lnTo>
                    <a:lnTo>
                      <a:pt x="451866" y="906779"/>
                    </a:lnTo>
                    <a:lnTo>
                      <a:pt x="501101" y="904120"/>
                    </a:lnTo>
                    <a:lnTo>
                      <a:pt x="548800" y="896324"/>
                    </a:lnTo>
                    <a:lnTo>
                      <a:pt x="594689" y="883670"/>
                    </a:lnTo>
                    <a:lnTo>
                      <a:pt x="638490" y="866432"/>
                    </a:lnTo>
                    <a:lnTo>
                      <a:pt x="679929" y="844888"/>
                    </a:lnTo>
                    <a:lnTo>
                      <a:pt x="718730" y="819314"/>
                    </a:lnTo>
                    <a:lnTo>
                      <a:pt x="754617" y="789986"/>
                    </a:lnTo>
                    <a:lnTo>
                      <a:pt x="787314" y="757181"/>
                    </a:lnTo>
                    <a:lnTo>
                      <a:pt x="816547" y="721175"/>
                    </a:lnTo>
                    <a:lnTo>
                      <a:pt x="842038" y="682244"/>
                    </a:lnTo>
                    <a:lnTo>
                      <a:pt x="863512" y="640664"/>
                    </a:lnTo>
                    <a:lnTo>
                      <a:pt x="880695" y="596713"/>
                    </a:lnTo>
                    <a:lnTo>
                      <a:pt x="893309" y="550665"/>
                    </a:lnTo>
                    <a:lnTo>
                      <a:pt x="901080" y="502799"/>
                    </a:lnTo>
                    <a:lnTo>
                      <a:pt x="903732" y="453389"/>
                    </a:lnTo>
                    <a:lnTo>
                      <a:pt x="901080" y="403980"/>
                    </a:lnTo>
                    <a:lnTo>
                      <a:pt x="893309" y="356114"/>
                    </a:lnTo>
                    <a:lnTo>
                      <a:pt x="880695" y="310066"/>
                    </a:lnTo>
                    <a:lnTo>
                      <a:pt x="863512" y="266115"/>
                    </a:lnTo>
                    <a:lnTo>
                      <a:pt x="842038" y="224536"/>
                    </a:lnTo>
                    <a:lnTo>
                      <a:pt x="816547" y="185604"/>
                    </a:lnTo>
                    <a:lnTo>
                      <a:pt x="787314" y="149598"/>
                    </a:lnTo>
                    <a:lnTo>
                      <a:pt x="754617" y="116793"/>
                    </a:lnTo>
                    <a:lnTo>
                      <a:pt x="718730" y="87465"/>
                    </a:lnTo>
                    <a:lnTo>
                      <a:pt x="679929" y="61891"/>
                    </a:lnTo>
                    <a:lnTo>
                      <a:pt x="638490" y="40347"/>
                    </a:lnTo>
                    <a:lnTo>
                      <a:pt x="594689" y="23109"/>
                    </a:lnTo>
                    <a:lnTo>
                      <a:pt x="548800" y="10455"/>
                    </a:lnTo>
                    <a:lnTo>
                      <a:pt x="501101" y="2659"/>
                    </a:lnTo>
                    <a:lnTo>
                      <a:pt x="451866" y="0"/>
                    </a:lnTo>
                    <a:close/>
                  </a:path>
                </a:pathLst>
              </a:custGeom>
              <a:solidFill>
                <a:srgbClr val="FFFFFF"/>
              </a:solidFill>
            </p:spPr>
            <p:txBody>
              <a:bodyPr wrap="square" lIns="0" tIns="0" rIns="0" bIns="0" rtlCol="0"/>
              <a:lstStyle/>
              <a:p>
                <a:endParaRPr>
                  <a:ea typeface="Microsoft YaHei" panose="020B0503020204020204" pitchFamily="34" charset="-122"/>
                </a:endParaRPr>
              </a:p>
            </p:txBody>
          </p:sp>
          <p:sp>
            <p:nvSpPr>
              <p:cNvPr id="55" name="object 55"/>
              <p:cNvSpPr/>
              <p:nvPr/>
            </p:nvSpPr>
            <p:spPr>
              <a:xfrm>
                <a:off x="4357115" y="2255519"/>
                <a:ext cx="826135" cy="655320"/>
              </a:xfrm>
              <a:custGeom>
                <a:avLst/>
                <a:gdLst/>
                <a:ahLst/>
                <a:cxnLst/>
                <a:rect l="l" t="t" r="r" b="b"/>
                <a:pathLst>
                  <a:path w="826135" h="655319">
                    <a:moveTo>
                      <a:pt x="779780" y="0"/>
                    </a:moveTo>
                    <a:lnTo>
                      <a:pt x="795932" y="43475"/>
                    </a:lnTo>
                    <a:lnTo>
                      <a:pt x="807942" y="89011"/>
                    </a:lnTo>
                    <a:lnTo>
                      <a:pt x="815427" y="136427"/>
                    </a:lnTo>
                    <a:lnTo>
                      <a:pt x="818007" y="185546"/>
                    </a:lnTo>
                    <a:lnTo>
                      <a:pt x="815345" y="234871"/>
                    </a:lnTo>
                    <a:lnTo>
                      <a:pt x="807548" y="282682"/>
                    </a:lnTo>
                    <a:lnTo>
                      <a:pt x="794894" y="328701"/>
                    </a:lnTo>
                    <a:lnTo>
                      <a:pt x="777661" y="372647"/>
                    </a:lnTo>
                    <a:lnTo>
                      <a:pt x="756129" y="414241"/>
                    </a:lnTo>
                    <a:lnTo>
                      <a:pt x="730578" y="453202"/>
                    </a:lnTo>
                    <a:lnTo>
                      <a:pt x="701285" y="489250"/>
                    </a:lnTo>
                    <a:lnTo>
                      <a:pt x="668531" y="522106"/>
                    </a:lnTo>
                    <a:lnTo>
                      <a:pt x="632594" y="551489"/>
                    </a:lnTo>
                    <a:lnTo>
                      <a:pt x="593753" y="577120"/>
                    </a:lnTo>
                    <a:lnTo>
                      <a:pt x="552287" y="598719"/>
                    </a:lnTo>
                    <a:lnTo>
                      <a:pt x="508476" y="616005"/>
                    </a:lnTo>
                    <a:lnTo>
                      <a:pt x="462598" y="628699"/>
                    </a:lnTo>
                    <a:lnTo>
                      <a:pt x="414933" y="636521"/>
                    </a:lnTo>
                    <a:lnTo>
                      <a:pt x="365760" y="639190"/>
                    </a:lnTo>
                    <a:lnTo>
                      <a:pt x="316226" y="636544"/>
                    </a:lnTo>
                    <a:lnTo>
                      <a:pt x="268302" y="628784"/>
                    </a:lnTo>
                    <a:lnTo>
                      <a:pt x="222250" y="616175"/>
                    </a:lnTo>
                    <a:lnTo>
                      <a:pt x="178333" y="598985"/>
                    </a:lnTo>
                    <a:lnTo>
                      <a:pt x="136815" y="577481"/>
                    </a:lnTo>
                    <a:lnTo>
                      <a:pt x="97959" y="551927"/>
                    </a:lnTo>
                    <a:lnTo>
                      <a:pt x="62029" y="522592"/>
                    </a:lnTo>
                    <a:lnTo>
                      <a:pt x="29288" y="489742"/>
                    </a:lnTo>
                    <a:lnTo>
                      <a:pt x="0" y="453643"/>
                    </a:lnTo>
                    <a:lnTo>
                      <a:pt x="9745" y="469931"/>
                    </a:lnTo>
                    <a:lnTo>
                      <a:pt x="44196" y="514222"/>
                    </a:lnTo>
                    <a:lnTo>
                      <a:pt x="81547" y="549310"/>
                    </a:lnTo>
                    <a:lnTo>
                      <a:pt x="122695" y="580073"/>
                    </a:lnTo>
                    <a:lnTo>
                      <a:pt x="167253" y="606119"/>
                    </a:lnTo>
                    <a:lnTo>
                      <a:pt x="214835" y="627058"/>
                    </a:lnTo>
                    <a:lnTo>
                      <a:pt x="265053" y="642498"/>
                    </a:lnTo>
                    <a:lnTo>
                      <a:pt x="317522" y="652049"/>
                    </a:lnTo>
                    <a:lnTo>
                      <a:pt x="371856" y="655319"/>
                    </a:lnTo>
                    <a:lnTo>
                      <a:pt x="418353" y="652970"/>
                    </a:lnTo>
                    <a:lnTo>
                      <a:pt x="463493" y="646074"/>
                    </a:lnTo>
                    <a:lnTo>
                      <a:pt x="507049" y="634859"/>
                    </a:lnTo>
                    <a:lnTo>
                      <a:pt x="548794" y="619553"/>
                    </a:lnTo>
                    <a:lnTo>
                      <a:pt x="588502" y="600383"/>
                    </a:lnTo>
                    <a:lnTo>
                      <a:pt x="625945" y="577578"/>
                    </a:lnTo>
                    <a:lnTo>
                      <a:pt x="660898" y="551364"/>
                    </a:lnTo>
                    <a:lnTo>
                      <a:pt x="693134" y="521969"/>
                    </a:lnTo>
                    <a:lnTo>
                      <a:pt x="722426" y="489622"/>
                    </a:lnTo>
                    <a:lnTo>
                      <a:pt x="748547" y="454550"/>
                    </a:lnTo>
                    <a:lnTo>
                      <a:pt x="771271" y="416981"/>
                    </a:lnTo>
                    <a:lnTo>
                      <a:pt x="790372" y="377142"/>
                    </a:lnTo>
                    <a:lnTo>
                      <a:pt x="805623" y="335261"/>
                    </a:lnTo>
                    <a:lnTo>
                      <a:pt x="816797" y="291566"/>
                    </a:lnTo>
                    <a:lnTo>
                      <a:pt x="823667" y="246284"/>
                    </a:lnTo>
                    <a:lnTo>
                      <a:pt x="826008" y="199643"/>
                    </a:lnTo>
                    <a:lnTo>
                      <a:pt x="822749" y="147161"/>
                    </a:lnTo>
                    <a:lnTo>
                      <a:pt x="813466" y="96012"/>
                    </a:lnTo>
                    <a:lnTo>
                      <a:pt x="798897" y="46767"/>
                    </a:lnTo>
                    <a:lnTo>
                      <a:pt x="779780" y="0"/>
                    </a:lnTo>
                    <a:close/>
                  </a:path>
                </a:pathLst>
              </a:custGeom>
              <a:solidFill>
                <a:srgbClr val="D7D9DD"/>
              </a:solidFill>
            </p:spPr>
            <p:txBody>
              <a:bodyPr wrap="square" lIns="0" tIns="0" rIns="0" bIns="0" rtlCol="0"/>
              <a:lstStyle/>
              <a:p>
                <a:endParaRPr>
                  <a:ea typeface="Microsoft YaHei" panose="020B0503020204020204" pitchFamily="34" charset="-122"/>
                </a:endParaRPr>
              </a:p>
            </p:txBody>
          </p:sp>
          <p:pic>
            <p:nvPicPr>
              <p:cNvPr id="56" name="object 56"/>
              <p:cNvPicPr/>
              <p:nvPr/>
            </p:nvPicPr>
            <p:blipFill>
              <a:blip r:embed="rId22" cstate="print"/>
              <a:stretch>
                <a:fillRect/>
              </a:stretch>
            </p:blipFill>
            <p:spPr>
              <a:xfrm>
                <a:off x="6259067" y="2656331"/>
                <a:ext cx="473963" cy="472439"/>
              </a:xfrm>
              <a:prstGeom prst="rect">
                <a:avLst/>
              </a:prstGeom>
            </p:spPr>
          </p:pic>
          <p:sp>
            <p:nvSpPr>
              <p:cNvPr id="57" name="object 57"/>
              <p:cNvSpPr/>
              <p:nvPr/>
            </p:nvSpPr>
            <p:spPr>
              <a:xfrm>
                <a:off x="6341363" y="1879091"/>
                <a:ext cx="1172210" cy="1169035"/>
              </a:xfrm>
              <a:custGeom>
                <a:avLst/>
                <a:gdLst/>
                <a:ahLst/>
                <a:cxnLst/>
                <a:rect l="l" t="t" r="r" b="b"/>
                <a:pathLst>
                  <a:path w="1172209" h="1169035">
                    <a:moveTo>
                      <a:pt x="592963" y="0"/>
                    </a:moveTo>
                    <a:lnTo>
                      <a:pt x="544307" y="1963"/>
                    </a:lnTo>
                    <a:lnTo>
                      <a:pt x="496738" y="7752"/>
                    </a:lnTo>
                    <a:lnTo>
                      <a:pt x="450410" y="17214"/>
                    </a:lnTo>
                    <a:lnTo>
                      <a:pt x="405473" y="30196"/>
                    </a:lnTo>
                    <a:lnTo>
                      <a:pt x="362080" y="46547"/>
                    </a:lnTo>
                    <a:lnTo>
                      <a:pt x="320384" y="66114"/>
                    </a:lnTo>
                    <a:lnTo>
                      <a:pt x="280537" y="88745"/>
                    </a:lnTo>
                    <a:lnTo>
                      <a:pt x="242690" y="114287"/>
                    </a:lnTo>
                    <a:lnTo>
                      <a:pt x="206997" y="142589"/>
                    </a:lnTo>
                    <a:lnTo>
                      <a:pt x="173609" y="173497"/>
                    </a:lnTo>
                    <a:lnTo>
                      <a:pt x="142678" y="206860"/>
                    </a:lnTo>
                    <a:lnTo>
                      <a:pt x="114356" y="242526"/>
                    </a:lnTo>
                    <a:lnTo>
                      <a:pt x="88797" y="280341"/>
                    </a:lnTo>
                    <a:lnTo>
                      <a:pt x="66152" y="320154"/>
                    </a:lnTo>
                    <a:lnTo>
                      <a:pt x="46573" y="361813"/>
                    </a:lnTo>
                    <a:lnTo>
                      <a:pt x="30212" y="405164"/>
                    </a:lnTo>
                    <a:lnTo>
                      <a:pt x="17223" y="450056"/>
                    </a:lnTo>
                    <a:lnTo>
                      <a:pt x="7756" y="496337"/>
                    </a:lnTo>
                    <a:lnTo>
                      <a:pt x="1964" y="543854"/>
                    </a:lnTo>
                    <a:lnTo>
                      <a:pt x="0" y="592455"/>
                    </a:lnTo>
                    <a:lnTo>
                      <a:pt x="2056" y="642189"/>
                    </a:lnTo>
                    <a:lnTo>
                      <a:pt x="8114" y="690855"/>
                    </a:lnTo>
                    <a:lnTo>
                      <a:pt x="18010" y="738269"/>
                    </a:lnTo>
                    <a:lnTo>
                      <a:pt x="31578" y="784247"/>
                    </a:lnTo>
                    <a:lnTo>
                      <a:pt x="48652" y="828605"/>
                    </a:lnTo>
                    <a:lnTo>
                      <a:pt x="69069" y="871158"/>
                    </a:lnTo>
                    <a:lnTo>
                      <a:pt x="92662" y="911724"/>
                    </a:lnTo>
                    <a:lnTo>
                      <a:pt x="119266" y="950117"/>
                    </a:lnTo>
                    <a:lnTo>
                      <a:pt x="148716" y="986155"/>
                    </a:lnTo>
                    <a:lnTo>
                      <a:pt x="182590" y="1018584"/>
                    </a:lnTo>
                    <a:lnTo>
                      <a:pt x="218946" y="1048320"/>
                    </a:lnTo>
                    <a:lnTo>
                      <a:pt x="257618" y="1075195"/>
                    </a:lnTo>
                    <a:lnTo>
                      <a:pt x="298436" y="1099038"/>
                    </a:lnTo>
                    <a:lnTo>
                      <a:pt x="341233" y="1119679"/>
                    </a:lnTo>
                    <a:lnTo>
                      <a:pt x="385839" y="1136948"/>
                    </a:lnTo>
                    <a:lnTo>
                      <a:pt x="432086" y="1150676"/>
                    </a:lnTo>
                    <a:lnTo>
                      <a:pt x="479807" y="1160691"/>
                    </a:lnTo>
                    <a:lnTo>
                      <a:pt x="528831" y="1166825"/>
                    </a:lnTo>
                    <a:lnTo>
                      <a:pt x="578992" y="1168908"/>
                    </a:lnTo>
                    <a:lnTo>
                      <a:pt x="627648" y="1166944"/>
                    </a:lnTo>
                    <a:lnTo>
                      <a:pt x="675217" y="1161155"/>
                    </a:lnTo>
                    <a:lnTo>
                      <a:pt x="721545" y="1151693"/>
                    </a:lnTo>
                    <a:lnTo>
                      <a:pt x="766482" y="1138711"/>
                    </a:lnTo>
                    <a:lnTo>
                      <a:pt x="809875" y="1122360"/>
                    </a:lnTo>
                    <a:lnTo>
                      <a:pt x="851571" y="1102793"/>
                    </a:lnTo>
                    <a:lnTo>
                      <a:pt x="891418" y="1080162"/>
                    </a:lnTo>
                    <a:lnTo>
                      <a:pt x="929265" y="1054620"/>
                    </a:lnTo>
                    <a:lnTo>
                      <a:pt x="964958" y="1026318"/>
                    </a:lnTo>
                    <a:lnTo>
                      <a:pt x="998346" y="995410"/>
                    </a:lnTo>
                    <a:lnTo>
                      <a:pt x="1029277" y="962047"/>
                    </a:lnTo>
                    <a:lnTo>
                      <a:pt x="1057599" y="926381"/>
                    </a:lnTo>
                    <a:lnTo>
                      <a:pt x="1083158" y="888566"/>
                    </a:lnTo>
                    <a:lnTo>
                      <a:pt x="1105803" y="848753"/>
                    </a:lnTo>
                    <a:lnTo>
                      <a:pt x="1125382" y="807094"/>
                    </a:lnTo>
                    <a:lnTo>
                      <a:pt x="1141743" y="763743"/>
                    </a:lnTo>
                    <a:lnTo>
                      <a:pt x="1154732" y="718851"/>
                    </a:lnTo>
                    <a:lnTo>
                      <a:pt x="1164199" y="672570"/>
                    </a:lnTo>
                    <a:lnTo>
                      <a:pt x="1169991" y="625053"/>
                    </a:lnTo>
                    <a:lnTo>
                      <a:pt x="1171956" y="576453"/>
                    </a:lnTo>
                    <a:lnTo>
                      <a:pt x="1169899" y="526788"/>
                    </a:lnTo>
                    <a:lnTo>
                      <a:pt x="1163841" y="478308"/>
                    </a:lnTo>
                    <a:lnTo>
                      <a:pt x="1153945" y="431165"/>
                    </a:lnTo>
                    <a:lnTo>
                      <a:pt x="1140377" y="385507"/>
                    </a:lnTo>
                    <a:lnTo>
                      <a:pt x="1123303" y="341487"/>
                    </a:lnTo>
                    <a:lnTo>
                      <a:pt x="1102886" y="299254"/>
                    </a:lnTo>
                    <a:lnTo>
                      <a:pt x="1079293" y="258959"/>
                    </a:lnTo>
                    <a:lnTo>
                      <a:pt x="1052689" y="220752"/>
                    </a:lnTo>
                    <a:lnTo>
                      <a:pt x="1023238" y="184785"/>
                    </a:lnTo>
                    <a:lnTo>
                      <a:pt x="989365" y="151805"/>
                    </a:lnTo>
                    <a:lnTo>
                      <a:pt x="953009" y="121627"/>
                    </a:lnTo>
                    <a:lnTo>
                      <a:pt x="914337" y="94409"/>
                    </a:lnTo>
                    <a:lnTo>
                      <a:pt x="873519" y="70308"/>
                    </a:lnTo>
                    <a:lnTo>
                      <a:pt x="830722" y="49482"/>
                    </a:lnTo>
                    <a:lnTo>
                      <a:pt x="786116" y="32089"/>
                    </a:lnTo>
                    <a:lnTo>
                      <a:pt x="739869" y="18286"/>
                    </a:lnTo>
                    <a:lnTo>
                      <a:pt x="692148" y="8232"/>
                    </a:lnTo>
                    <a:lnTo>
                      <a:pt x="643124" y="2084"/>
                    </a:lnTo>
                    <a:lnTo>
                      <a:pt x="592963" y="0"/>
                    </a:lnTo>
                    <a:close/>
                  </a:path>
                </a:pathLst>
              </a:custGeom>
              <a:solidFill>
                <a:srgbClr val="29B974"/>
              </a:solidFill>
            </p:spPr>
            <p:txBody>
              <a:bodyPr wrap="square" lIns="0" tIns="0" rIns="0" bIns="0" rtlCol="0"/>
              <a:lstStyle/>
              <a:p>
                <a:endParaRPr>
                  <a:ea typeface="Microsoft YaHei" panose="020B0503020204020204" pitchFamily="34" charset="-122"/>
                </a:endParaRPr>
              </a:p>
            </p:txBody>
          </p:sp>
          <p:pic>
            <p:nvPicPr>
              <p:cNvPr id="58" name="object 58"/>
              <p:cNvPicPr/>
              <p:nvPr/>
            </p:nvPicPr>
            <p:blipFill>
              <a:blip r:embed="rId15" cstate="print"/>
              <a:stretch>
                <a:fillRect/>
              </a:stretch>
            </p:blipFill>
            <p:spPr>
              <a:xfrm>
                <a:off x="6443472" y="1979675"/>
                <a:ext cx="1005865" cy="1008888"/>
              </a:xfrm>
              <a:prstGeom prst="rect">
                <a:avLst/>
              </a:prstGeom>
            </p:spPr>
          </p:pic>
          <p:sp>
            <p:nvSpPr>
              <p:cNvPr id="59" name="object 59"/>
              <p:cNvSpPr/>
              <p:nvPr/>
            </p:nvSpPr>
            <p:spPr>
              <a:xfrm>
                <a:off x="6469379" y="2005583"/>
                <a:ext cx="904240" cy="906780"/>
              </a:xfrm>
              <a:custGeom>
                <a:avLst/>
                <a:gdLst/>
                <a:ahLst/>
                <a:cxnLst/>
                <a:rect l="l" t="t" r="r" b="b"/>
                <a:pathLst>
                  <a:path w="904240" h="906780">
                    <a:moveTo>
                      <a:pt x="451866" y="0"/>
                    </a:moveTo>
                    <a:lnTo>
                      <a:pt x="402630" y="2659"/>
                    </a:lnTo>
                    <a:lnTo>
                      <a:pt x="354931" y="10455"/>
                    </a:lnTo>
                    <a:lnTo>
                      <a:pt x="309042" y="23109"/>
                    </a:lnTo>
                    <a:lnTo>
                      <a:pt x="265241" y="40347"/>
                    </a:lnTo>
                    <a:lnTo>
                      <a:pt x="223802" y="61891"/>
                    </a:lnTo>
                    <a:lnTo>
                      <a:pt x="185001" y="87465"/>
                    </a:lnTo>
                    <a:lnTo>
                      <a:pt x="149114" y="116793"/>
                    </a:lnTo>
                    <a:lnTo>
                      <a:pt x="116417" y="149598"/>
                    </a:lnTo>
                    <a:lnTo>
                      <a:pt x="87184" y="185604"/>
                    </a:lnTo>
                    <a:lnTo>
                      <a:pt x="61693" y="224535"/>
                    </a:lnTo>
                    <a:lnTo>
                      <a:pt x="40219" y="266115"/>
                    </a:lnTo>
                    <a:lnTo>
                      <a:pt x="23036" y="310066"/>
                    </a:lnTo>
                    <a:lnTo>
                      <a:pt x="10422" y="356114"/>
                    </a:lnTo>
                    <a:lnTo>
                      <a:pt x="2651" y="403980"/>
                    </a:lnTo>
                    <a:lnTo>
                      <a:pt x="0" y="453389"/>
                    </a:lnTo>
                    <a:lnTo>
                      <a:pt x="2651" y="502799"/>
                    </a:lnTo>
                    <a:lnTo>
                      <a:pt x="10422" y="550665"/>
                    </a:lnTo>
                    <a:lnTo>
                      <a:pt x="23036" y="596713"/>
                    </a:lnTo>
                    <a:lnTo>
                      <a:pt x="40219" y="640664"/>
                    </a:lnTo>
                    <a:lnTo>
                      <a:pt x="61693" y="682243"/>
                    </a:lnTo>
                    <a:lnTo>
                      <a:pt x="87184" y="721175"/>
                    </a:lnTo>
                    <a:lnTo>
                      <a:pt x="116417" y="757181"/>
                    </a:lnTo>
                    <a:lnTo>
                      <a:pt x="149114" y="789986"/>
                    </a:lnTo>
                    <a:lnTo>
                      <a:pt x="185001" y="819314"/>
                    </a:lnTo>
                    <a:lnTo>
                      <a:pt x="223802" y="844888"/>
                    </a:lnTo>
                    <a:lnTo>
                      <a:pt x="265241" y="866432"/>
                    </a:lnTo>
                    <a:lnTo>
                      <a:pt x="309042" y="883670"/>
                    </a:lnTo>
                    <a:lnTo>
                      <a:pt x="354931" y="896324"/>
                    </a:lnTo>
                    <a:lnTo>
                      <a:pt x="402630" y="904120"/>
                    </a:lnTo>
                    <a:lnTo>
                      <a:pt x="451866" y="906779"/>
                    </a:lnTo>
                    <a:lnTo>
                      <a:pt x="501101" y="904120"/>
                    </a:lnTo>
                    <a:lnTo>
                      <a:pt x="548800" y="896324"/>
                    </a:lnTo>
                    <a:lnTo>
                      <a:pt x="594689" y="883670"/>
                    </a:lnTo>
                    <a:lnTo>
                      <a:pt x="638490" y="866432"/>
                    </a:lnTo>
                    <a:lnTo>
                      <a:pt x="679929" y="844888"/>
                    </a:lnTo>
                    <a:lnTo>
                      <a:pt x="718730" y="819314"/>
                    </a:lnTo>
                    <a:lnTo>
                      <a:pt x="754617" y="789986"/>
                    </a:lnTo>
                    <a:lnTo>
                      <a:pt x="787314" y="757181"/>
                    </a:lnTo>
                    <a:lnTo>
                      <a:pt x="816547" y="721175"/>
                    </a:lnTo>
                    <a:lnTo>
                      <a:pt x="842038" y="682243"/>
                    </a:lnTo>
                    <a:lnTo>
                      <a:pt x="863512" y="640664"/>
                    </a:lnTo>
                    <a:lnTo>
                      <a:pt x="880695" y="596713"/>
                    </a:lnTo>
                    <a:lnTo>
                      <a:pt x="893309" y="550665"/>
                    </a:lnTo>
                    <a:lnTo>
                      <a:pt x="901080" y="502799"/>
                    </a:lnTo>
                    <a:lnTo>
                      <a:pt x="903731" y="453389"/>
                    </a:lnTo>
                    <a:lnTo>
                      <a:pt x="901080" y="403980"/>
                    </a:lnTo>
                    <a:lnTo>
                      <a:pt x="893309" y="356114"/>
                    </a:lnTo>
                    <a:lnTo>
                      <a:pt x="880695" y="310066"/>
                    </a:lnTo>
                    <a:lnTo>
                      <a:pt x="863512" y="266115"/>
                    </a:lnTo>
                    <a:lnTo>
                      <a:pt x="842038" y="224536"/>
                    </a:lnTo>
                    <a:lnTo>
                      <a:pt x="816547" y="185604"/>
                    </a:lnTo>
                    <a:lnTo>
                      <a:pt x="787314" y="149598"/>
                    </a:lnTo>
                    <a:lnTo>
                      <a:pt x="754617" y="116793"/>
                    </a:lnTo>
                    <a:lnTo>
                      <a:pt x="718730" y="87465"/>
                    </a:lnTo>
                    <a:lnTo>
                      <a:pt x="679929" y="61891"/>
                    </a:lnTo>
                    <a:lnTo>
                      <a:pt x="638490" y="40347"/>
                    </a:lnTo>
                    <a:lnTo>
                      <a:pt x="594689" y="23109"/>
                    </a:lnTo>
                    <a:lnTo>
                      <a:pt x="548800" y="10455"/>
                    </a:lnTo>
                    <a:lnTo>
                      <a:pt x="501101" y="2659"/>
                    </a:lnTo>
                    <a:lnTo>
                      <a:pt x="451866" y="0"/>
                    </a:lnTo>
                    <a:close/>
                  </a:path>
                </a:pathLst>
              </a:custGeom>
              <a:solidFill>
                <a:srgbClr val="FFFFFF"/>
              </a:solidFill>
            </p:spPr>
            <p:txBody>
              <a:bodyPr wrap="square" lIns="0" tIns="0" rIns="0" bIns="0" rtlCol="0"/>
              <a:lstStyle/>
              <a:p>
                <a:endParaRPr>
                  <a:ea typeface="Microsoft YaHei" panose="020B0503020204020204" pitchFamily="34" charset="-122"/>
                </a:endParaRPr>
              </a:p>
            </p:txBody>
          </p:sp>
          <p:sp>
            <p:nvSpPr>
              <p:cNvPr id="60" name="object 60"/>
              <p:cNvSpPr/>
              <p:nvPr/>
            </p:nvSpPr>
            <p:spPr>
              <a:xfrm>
                <a:off x="6550151" y="2257043"/>
                <a:ext cx="822960" cy="655320"/>
              </a:xfrm>
              <a:custGeom>
                <a:avLst/>
                <a:gdLst/>
                <a:ahLst/>
                <a:cxnLst/>
                <a:rect l="l" t="t" r="r" b="b"/>
                <a:pathLst>
                  <a:path w="822959" h="655319">
                    <a:moveTo>
                      <a:pt x="776858" y="0"/>
                    </a:moveTo>
                    <a:lnTo>
                      <a:pt x="794113" y="43475"/>
                    </a:lnTo>
                    <a:lnTo>
                      <a:pt x="806688" y="89011"/>
                    </a:lnTo>
                    <a:lnTo>
                      <a:pt x="814381" y="136427"/>
                    </a:lnTo>
                    <a:lnTo>
                      <a:pt x="816991" y="185546"/>
                    </a:lnTo>
                    <a:lnTo>
                      <a:pt x="814339" y="234871"/>
                    </a:lnTo>
                    <a:lnTo>
                      <a:pt x="806566" y="282682"/>
                    </a:lnTo>
                    <a:lnTo>
                      <a:pt x="793948" y="328701"/>
                    </a:lnTo>
                    <a:lnTo>
                      <a:pt x="776757" y="372647"/>
                    </a:lnTo>
                    <a:lnTo>
                      <a:pt x="755269" y="414241"/>
                    </a:lnTo>
                    <a:lnTo>
                      <a:pt x="729757" y="453202"/>
                    </a:lnTo>
                    <a:lnTo>
                      <a:pt x="700496" y="489250"/>
                    </a:lnTo>
                    <a:lnTo>
                      <a:pt x="667760" y="522106"/>
                    </a:lnTo>
                    <a:lnTo>
                      <a:pt x="631825" y="551489"/>
                    </a:lnTo>
                    <a:lnTo>
                      <a:pt x="592963" y="577120"/>
                    </a:lnTo>
                    <a:lnTo>
                      <a:pt x="551449" y="598719"/>
                    </a:lnTo>
                    <a:lnTo>
                      <a:pt x="507558" y="616005"/>
                    </a:lnTo>
                    <a:lnTo>
                      <a:pt x="461563" y="628699"/>
                    </a:lnTo>
                    <a:lnTo>
                      <a:pt x="413740" y="636521"/>
                    </a:lnTo>
                    <a:lnTo>
                      <a:pt x="364363" y="639190"/>
                    </a:lnTo>
                    <a:lnTo>
                      <a:pt x="315032" y="636544"/>
                    </a:lnTo>
                    <a:lnTo>
                      <a:pt x="267293" y="628784"/>
                    </a:lnTo>
                    <a:lnTo>
                      <a:pt x="221412" y="616175"/>
                    </a:lnTo>
                    <a:lnTo>
                      <a:pt x="177654" y="598985"/>
                    </a:lnTo>
                    <a:lnTo>
                      <a:pt x="136284" y="577481"/>
                    </a:lnTo>
                    <a:lnTo>
                      <a:pt x="97568" y="551927"/>
                    </a:lnTo>
                    <a:lnTo>
                      <a:pt x="61772" y="522592"/>
                    </a:lnTo>
                    <a:lnTo>
                      <a:pt x="29161" y="489742"/>
                    </a:lnTo>
                    <a:lnTo>
                      <a:pt x="0" y="453643"/>
                    </a:lnTo>
                    <a:lnTo>
                      <a:pt x="10560" y="468788"/>
                    </a:lnTo>
                    <a:lnTo>
                      <a:pt x="46100" y="514222"/>
                    </a:lnTo>
                    <a:lnTo>
                      <a:pt x="83288" y="549310"/>
                    </a:lnTo>
                    <a:lnTo>
                      <a:pt x="124270" y="580073"/>
                    </a:lnTo>
                    <a:lnTo>
                      <a:pt x="168658" y="606119"/>
                    </a:lnTo>
                    <a:lnTo>
                      <a:pt x="216063" y="627058"/>
                    </a:lnTo>
                    <a:lnTo>
                      <a:pt x="266096" y="642498"/>
                    </a:lnTo>
                    <a:lnTo>
                      <a:pt x="318368" y="652049"/>
                    </a:lnTo>
                    <a:lnTo>
                      <a:pt x="372491" y="655319"/>
                    </a:lnTo>
                    <a:lnTo>
                      <a:pt x="421487" y="652649"/>
                    </a:lnTo>
                    <a:lnTo>
                      <a:pt x="468976" y="644824"/>
                    </a:lnTo>
                    <a:lnTo>
                      <a:pt x="514681" y="632118"/>
                    </a:lnTo>
                    <a:lnTo>
                      <a:pt x="558324" y="614810"/>
                    </a:lnTo>
                    <a:lnTo>
                      <a:pt x="599628" y="593174"/>
                    </a:lnTo>
                    <a:lnTo>
                      <a:pt x="638315" y="567488"/>
                    </a:lnTo>
                    <a:lnTo>
                      <a:pt x="674108" y="538028"/>
                    </a:lnTo>
                    <a:lnTo>
                      <a:pt x="706729" y="505071"/>
                    </a:lnTo>
                    <a:lnTo>
                      <a:pt x="735900" y="468892"/>
                    </a:lnTo>
                    <a:lnTo>
                      <a:pt x="761346" y="429767"/>
                    </a:lnTo>
                    <a:lnTo>
                      <a:pt x="782787" y="387975"/>
                    </a:lnTo>
                    <a:lnTo>
                      <a:pt x="799946" y="343790"/>
                    </a:lnTo>
                    <a:lnTo>
                      <a:pt x="812546" y="297488"/>
                    </a:lnTo>
                    <a:lnTo>
                      <a:pt x="820310" y="249348"/>
                    </a:lnTo>
                    <a:lnTo>
                      <a:pt x="822959" y="199643"/>
                    </a:lnTo>
                    <a:lnTo>
                      <a:pt x="819989" y="147161"/>
                    </a:lnTo>
                    <a:lnTo>
                      <a:pt x="811196" y="96012"/>
                    </a:lnTo>
                    <a:lnTo>
                      <a:pt x="796760" y="46767"/>
                    </a:lnTo>
                    <a:lnTo>
                      <a:pt x="776858" y="0"/>
                    </a:lnTo>
                    <a:close/>
                  </a:path>
                </a:pathLst>
              </a:custGeom>
              <a:solidFill>
                <a:srgbClr val="D7D9DD"/>
              </a:solidFill>
            </p:spPr>
            <p:txBody>
              <a:bodyPr wrap="square" lIns="0" tIns="0" rIns="0" bIns="0" rtlCol="0"/>
              <a:lstStyle/>
              <a:p>
                <a:endParaRPr>
                  <a:ea typeface="Microsoft YaHei" panose="020B0503020204020204" pitchFamily="34" charset="-122"/>
                </a:endParaRPr>
              </a:p>
            </p:txBody>
          </p:sp>
          <p:sp>
            <p:nvSpPr>
              <p:cNvPr id="61" name="object 61"/>
              <p:cNvSpPr/>
              <p:nvPr/>
            </p:nvSpPr>
            <p:spPr>
              <a:xfrm>
                <a:off x="6778751" y="2185415"/>
                <a:ext cx="295910" cy="533400"/>
              </a:xfrm>
              <a:custGeom>
                <a:avLst/>
                <a:gdLst/>
                <a:ahLst/>
                <a:cxnLst/>
                <a:rect l="l" t="t" r="r" b="b"/>
                <a:pathLst>
                  <a:path w="295909" h="533400">
                    <a:moveTo>
                      <a:pt x="281141" y="113919"/>
                    </a:moveTo>
                    <a:lnTo>
                      <a:pt x="78231" y="113919"/>
                    </a:lnTo>
                    <a:lnTo>
                      <a:pt x="140866" y="128696"/>
                    </a:lnTo>
                    <a:lnTo>
                      <a:pt x="192595" y="162131"/>
                    </a:lnTo>
                    <a:lnTo>
                      <a:pt x="252095" y="217297"/>
                    </a:lnTo>
                    <a:lnTo>
                      <a:pt x="264848" y="218668"/>
                    </a:lnTo>
                    <a:lnTo>
                      <a:pt x="279161" y="213883"/>
                    </a:lnTo>
                    <a:lnTo>
                      <a:pt x="290831" y="207599"/>
                    </a:lnTo>
                    <a:lnTo>
                      <a:pt x="295655" y="204470"/>
                    </a:lnTo>
                    <a:lnTo>
                      <a:pt x="290423" y="195421"/>
                    </a:lnTo>
                    <a:lnTo>
                      <a:pt x="287131" y="186944"/>
                    </a:lnTo>
                    <a:lnTo>
                      <a:pt x="285596" y="179641"/>
                    </a:lnTo>
                    <a:lnTo>
                      <a:pt x="285517" y="178831"/>
                    </a:lnTo>
                    <a:lnTo>
                      <a:pt x="285369" y="172847"/>
                    </a:lnTo>
                    <a:lnTo>
                      <a:pt x="285896" y="166241"/>
                    </a:lnTo>
                    <a:lnTo>
                      <a:pt x="286017" y="161424"/>
                    </a:lnTo>
                    <a:lnTo>
                      <a:pt x="286003" y="145542"/>
                    </a:lnTo>
                    <a:lnTo>
                      <a:pt x="281141" y="113919"/>
                    </a:lnTo>
                    <a:close/>
                  </a:path>
                  <a:path w="295909" h="533400">
                    <a:moveTo>
                      <a:pt x="143001" y="0"/>
                    </a:moveTo>
                    <a:lnTo>
                      <a:pt x="97113" y="7406"/>
                    </a:lnTo>
                    <a:lnTo>
                      <a:pt x="57771" y="28041"/>
                    </a:lnTo>
                    <a:lnTo>
                      <a:pt x="27074" y="59527"/>
                    </a:lnTo>
                    <a:lnTo>
                      <a:pt x="7118" y="99486"/>
                    </a:lnTo>
                    <a:lnTo>
                      <a:pt x="0" y="145542"/>
                    </a:lnTo>
                    <a:lnTo>
                      <a:pt x="535" y="161424"/>
                    </a:lnTo>
                    <a:lnTo>
                      <a:pt x="2095" y="179641"/>
                    </a:lnTo>
                    <a:lnTo>
                      <a:pt x="4607" y="195762"/>
                    </a:lnTo>
                    <a:lnTo>
                      <a:pt x="8000" y="205359"/>
                    </a:lnTo>
                    <a:lnTo>
                      <a:pt x="17081" y="201543"/>
                    </a:lnTo>
                    <a:lnTo>
                      <a:pt x="26352" y="178831"/>
                    </a:lnTo>
                    <a:lnTo>
                      <a:pt x="40576" y="148619"/>
                    </a:lnTo>
                    <a:lnTo>
                      <a:pt x="64516" y="122300"/>
                    </a:lnTo>
                    <a:lnTo>
                      <a:pt x="68579" y="119380"/>
                    </a:lnTo>
                    <a:lnTo>
                      <a:pt x="78231" y="113919"/>
                    </a:lnTo>
                    <a:lnTo>
                      <a:pt x="281141" y="113919"/>
                    </a:lnTo>
                    <a:lnTo>
                      <a:pt x="278922" y="99486"/>
                    </a:lnTo>
                    <a:lnTo>
                      <a:pt x="259039" y="59527"/>
                    </a:lnTo>
                    <a:lnTo>
                      <a:pt x="228396" y="28041"/>
                    </a:lnTo>
                    <a:lnTo>
                      <a:pt x="189036" y="7406"/>
                    </a:lnTo>
                    <a:lnTo>
                      <a:pt x="143001" y="0"/>
                    </a:lnTo>
                    <a:close/>
                  </a:path>
                  <a:path w="295909" h="533400">
                    <a:moveTo>
                      <a:pt x="143001" y="423925"/>
                    </a:moveTo>
                    <a:lnTo>
                      <a:pt x="111887" y="430657"/>
                    </a:lnTo>
                    <a:lnTo>
                      <a:pt x="112902" y="432688"/>
                    </a:lnTo>
                    <a:lnTo>
                      <a:pt x="129286" y="463931"/>
                    </a:lnTo>
                    <a:lnTo>
                      <a:pt x="129921" y="465455"/>
                    </a:lnTo>
                    <a:lnTo>
                      <a:pt x="129540" y="466471"/>
                    </a:lnTo>
                    <a:lnTo>
                      <a:pt x="129540" y="533400"/>
                    </a:lnTo>
                    <a:lnTo>
                      <a:pt x="154940" y="533400"/>
                    </a:lnTo>
                    <a:lnTo>
                      <a:pt x="154940" y="466089"/>
                    </a:lnTo>
                    <a:lnTo>
                      <a:pt x="154558" y="465455"/>
                    </a:lnTo>
                    <a:lnTo>
                      <a:pt x="154558" y="464566"/>
                    </a:lnTo>
                    <a:lnTo>
                      <a:pt x="155194" y="463550"/>
                    </a:lnTo>
                    <a:lnTo>
                      <a:pt x="171576" y="432688"/>
                    </a:lnTo>
                    <a:lnTo>
                      <a:pt x="172466" y="430657"/>
                    </a:lnTo>
                    <a:lnTo>
                      <a:pt x="171576" y="428498"/>
                    </a:lnTo>
                    <a:lnTo>
                      <a:pt x="169925" y="428117"/>
                    </a:lnTo>
                    <a:lnTo>
                      <a:pt x="164611" y="426765"/>
                    </a:lnTo>
                    <a:lnTo>
                      <a:pt x="157797" y="425402"/>
                    </a:lnTo>
                    <a:lnTo>
                      <a:pt x="150316" y="424348"/>
                    </a:lnTo>
                    <a:lnTo>
                      <a:pt x="143001" y="423925"/>
                    </a:lnTo>
                    <a:close/>
                  </a:path>
                </a:pathLst>
              </a:custGeom>
              <a:solidFill>
                <a:srgbClr val="29B974"/>
              </a:solidFill>
            </p:spPr>
            <p:txBody>
              <a:bodyPr wrap="square" lIns="0" tIns="0" rIns="0" bIns="0" rtlCol="0"/>
              <a:lstStyle/>
              <a:p>
                <a:endParaRPr>
                  <a:ea typeface="Microsoft YaHei" panose="020B0503020204020204" pitchFamily="34" charset="-122"/>
                </a:endParaRPr>
              </a:p>
            </p:txBody>
          </p:sp>
          <p:sp>
            <p:nvSpPr>
              <p:cNvPr id="62" name="object 62"/>
              <p:cNvSpPr/>
              <p:nvPr/>
            </p:nvSpPr>
            <p:spPr>
              <a:xfrm>
                <a:off x="6630923" y="2397251"/>
                <a:ext cx="581025" cy="321945"/>
              </a:xfrm>
              <a:custGeom>
                <a:avLst/>
                <a:gdLst/>
                <a:ahLst/>
                <a:cxnLst/>
                <a:rect l="l" t="t" r="r" b="b"/>
                <a:pathLst>
                  <a:path w="581025" h="321944">
                    <a:moveTo>
                      <a:pt x="196469" y="188340"/>
                    </a:moveTo>
                    <a:lnTo>
                      <a:pt x="150495" y="191388"/>
                    </a:lnTo>
                    <a:lnTo>
                      <a:pt x="109672" y="197770"/>
                    </a:lnTo>
                    <a:lnTo>
                      <a:pt x="71754" y="209676"/>
                    </a:lnTo>
                    <a:lnTo>
                      <a:pt x="26797" y="257889"/>
                    </a:lnTo>
                    <a:lnTo>
                      <a:pt x="1650" y="311912"/>
                    </a:lnTo>
                    <a:lnTo>
                      <a:pt x="0" y="316357"/>
                    </a:lnTo>
                    <a:lnTo>
                      <a:pt x="3175" y="321563"/>
                    </a:lnTo>
                    <a:lnTo>
                      <a:pt x="267843" y="321563"/>
                    </a:lnTo>
                    <a:lnTo>
                      <a:pt x="212471" y="236093"/>
                    </a:lnTo>
                    <a:lnTo>
                      <a:pt x="166877" y="236093"/>
                    </a:lnTo>
                    <a:lnTo>
                      <a:pt x="196469" y="188340"/>
                    </a:lnTo>
                    <a:close/>
                  </a:path>
                  <a:path w="581025" h="321944">
                    <a:moveTo>
                      <a:pt x="384175" y="188340"/>
                    </a:moveTo>
                    <a:lnTo>
                      <a:pt x="413766" y="236093"/>
                    </a:lnTo>
                    <a:lnTo>
                      <a:pt x="368173" y="236093"/>
                    </a:lnTo>
                    <a:lnTo>
                      <a:pt x="312800" y="321563"/>
                    </a:lnTo>
                    <a:lnTo>
                      <a:pt x="577469" y="321563"/>
                    </a:lnTo>
                    <a:lnTo>
                      <a:pt x="580644" y="316357"/>
                    </a:lnTo>
                    <a:lnTo>
                      <a:pt x="553847" y="257889"/>
                    </a:lnTo>
                    <a:lnTo>
                      <a:pt x="508889" y="209676"/>
                    </a:lnTo>
                    <a:lnTo>
                      <a:pt x="470971" y="197770"/>
                    </a:lnTo>
                    <a:lnTo>
                      <a:pt x="430149" y="191388"/>
                    </a:lnTo>
                    <a:lnTo>
                      <a:pt x="397517" y="188817"/>
                    </a:lnTo>
                    <a:lnTo>
                      <a:pt x="384175" y="188340"/>
                    </a:lnTo>
                    <a:close/>
                  </a:path>
                  <a:path w="581025" h="321944">
                    <a:moveTo>
                      <a:pt x="144652" y="0"/>
                    </a:moveTo>
                    <a:lnTo>
                      <a:pt x="145797" y="9913"/>
                    </a:lnTo>
                    <a:lnTo>
                      <a:pt x="149240" y="22351"/>
                    </a:lnTo>
                    <a:lnTo>
                      <a:pt x="155850" y="34504"/>
                    </a:lnTo>
                    <a:lnTo>
                      <a:pt x="166497" y="43561"/>
                    </a:lnTo>
                    <a:lnTo>
                      <a:pt x="175043" y="64775"/>
                    </a:lnTo>
                    <a:lnTo>
                      <a:pt x="187531" y="93741"/>
                    </a:lnTo>
                    <a:lnTo>
                      <a:pt x="201090" y="121302"/>
                    </a:lnTo>
                    <a:lnTo>
                      <a:pt x="213105" y="138684"/>
                    </a:lnTo>
                    <a:lnTo>
                      <a:pt x="213741" y="139064"/>
                    </a:lnTo>
                    <a:lnTo>
                      <a:pt x="214122" y="139319"/>
                    </a:lnTo>
                    <a:lnTo>
                      <a:pt x="214122" y="184531"/>
                    </a:lnTo>
                    <a:lnTo>
                      <a:pt x="217931" y="187706"/>
                    </a:lnTo>
                    <a:lnTo>
                      <a:pt x="222757" y="191643"/>
                    </a:lnTo>
                    <a:lnTo>
                      <a:pt x="228219" y="196469"/>
                    </a:lnTo>
                    <a:lnTo>
                      <a:pt x="228219" y="149987"/>
                    </a:lnTo>
                    <a:lnTo>
                      <a:pt x="255881" y="149987"/>
                    </a:lnTo>
                    <a:lnTo>
                      <a:pt x="254126" y="149177"/>
                    </a:lnTo>
                    <a:lnTo>
                      <a:pt x="222123" y="127762"/>
                    </a:lnTo>
                    <a:lnTo>
                      <a:pt x="201802" y="90598"/>
                    </a:lnTo>
                    <a:lnTo>
                      <a:pt x="178816" y="35813"/>
                    </a:lnTo>
                    <a:lnTo>
                      <a:pt x="177800" y="33909"/>
                    </a:lnTo>
                    <a:lnTo>
                      <a:pt x="176149" y="32258"/>
                    </a:lnTo>
                    <a:lnTo>
                      <a:pt x="174244" y="31623"/>
                    </a:lnTo>
                    <a:lnTo>
                      <a:pt x="168713" y="27866"/>
                    </a:lnTo>
                    <a:lnTo>
                      <a:pt x="164576" y="22145"/>
                    </a:lnTo>
                    <a:lnTo>
                      <a:pt x="161653" y="15353"/>
                    </a:lnTo>
                    <a:lnTo>
                      <a:pt x="159766" y="8382"/>
                    </a:lnTo>
                    <a:lnTo>
                      <a:pt x="155575" y="8382"/>
                    </a:lnTo>
                    <a:lnTo>
                      <a:pt x="153416" y="7747"/>
                    </a:lnTo>
                    <a:lnTo>
                      <a:pt x="152653" y="7747"/>
                    </a:lnTo>
                    <a:lnTo>
                      <a:pt x="152400" y="7365"/>
                    </a:lnTo>
                    <a:lnTo>
                      <a:pt x="151129" y="7112"/>
                    </a:lnTo>
                    <a:lnTo>
                      <a:pt x="150114" y="6476"/>
                    </a:lnTo>
                    <a:lnTo>
                      <a:pt x="148844" y="5842"/>
                    </a:lnTo>
                    <a:lnTo>
                      <a:pt x="148208" y="5207"/>
                    </a:lnTo>
                    <a:lnTo>
                      <a:pt x="147193" y="4572"/>
                    </a:lnTo>
                    <a:lnTo>
                      <a:pt x="146557" y="3556"/>
                    </a:lnTo>
                    <a:lnTo>
                      <a:pt x="145287" y="1015"/>
                    </a:lnTo>
                    <a:lnTo>
                      <a:pt x="144652" y="0"/>
                    </a:lnTo>
                    <a:close/>
                  </a:path>
                  <a:path w="581025" h="321944">
                    <a:moveTo>
                      <a:pt x="366522" y="150240"/>
                    </a:moveTo>
                    <a:lnTo>
                      <a:pt x="352425" y="150240"/>
                    </a:lnTo>
                    <a:lnTo>
                      <a:pt x="352425" y="196087"/>
                    </a:lnTo>
                    <a:lnTo>
                      <a:pt x="362711" y="187706"/>
                    </a:lnTo>
                    <a:lnTo>
                      <a:pt x="366522" y="184531"/>
                    </a:lnTo>
                    <a:lnTo>
                      <a:pt x="366522" y="150240"/>
                    </a:lnTo>
                    <a:close/>
                  </a:path>
                  <a:path w="581025" h="321944">
                    <a:moveTo>
                      <a:pt x="255881" y="149987"/>
                    </a:moveTo>
                    <a:lnTo>
                      <a:pt x="228219" y="149987"/>
                    </a:lnTo>
                    <a:lnTo>
                      <a:pt x="243000" y="159379"/>
                    </a:lnTo>
                    <a:lnTo>
                      <a:pt x="259404" y="167814"/>
                    </a:lnTo>
                    <a:lnTo>
                      <a:pt x="275732" y="173833"/>
                    </a:lnTo>
                    <a:lnTo>
                      <a:pt x="290702" y="176149"/>
                    </a:lnTo>
                    <a:lnTo>
                      <a:pt x="305376" y="173829"/>
                    </a:lnTo>
                    <a:lnTo>
                      <a:pt x="321578" y="167782"/>
                    </a:lnTo>
                    <a:lnTo>
                      <a:pt x="332954" y="161925"/>
                    </a:lnTo>
                    <a:lnTo>
                      <a:pt x="290702" y="161925"/>
                    </a:lnTo>
                    <a:lnTo>
                      <a:pt x="273700" y="158212"/>
                    </a:lnTo>
                    <a:lnTo>
                      <a:pt x="255881" y="149987"/>
                    </a:lnTo>
                    <a:close/>
                  </a:path>
                  <a:path w="581025" h="321944">
                    <a:moveTo>
                      <a:pt x="434975" y="13588"/>
                    </a:moveTo>
                    <a:lnTo>
                      <a:pt x="429895" y="16128"/>
                    </a:lnTo>
                    <a:lnTo>
                      <a:pt x="424052" y="18414"/>
                    </a:lnTo>
                    <a:lnTo>
                      <a:pt x="417956" y="19685"/>
                    </a:lnTo>
                    <a:lnTo>
                      <a:pt x="415417" y="24511"/>
                    </a:lnTo>
                    <a:lnTo>
                      <a:pt x="411860" y="29083"/>
                    </a:lnTo>
                    <a:lnTo>
                      <a:pt x="405765" y="31876"/>
                    </a:lnTo>
                    <a:lnTo>
                      <a:pt x="404495" y="32893"/>
                    </a:lnTo>
                    <a:lnTo>
                      <a:pt x="403225" y="34162"/>
                    </a:lnTo>
                    <a:lnTo>
                      <a:pt x="402590" y="35813"/>
                    </a:lnTo>
                    <a:lnTo>
                      <a:pt x="391779" y="62271"/>
                    </a:lnTo>
                    <a:lnTo>
                      <a:pt x="367585" y="114520"/>
                    </a:lnTo>
                    <a:lnTo>
                      <a:pt x="326882" y="149177"/>
                    </a:lnTo>
                    <a:lnTo>
                      <a:pt x="290702" y="161925"/>
                    </a:lnTo>
                    <a:lnTo>
                      <a:pt x="332954" y="161925"/>
                    </a:lnTo>
                    <a:lnTo>
                      <a:pt x="337691" y="159486"/>
                    </a:lnTo>
                    <a:lnTo>
                      <a:pt x="352425" y="150240"/>
                    </a:lnTo>
                    <a:lnTo>
                      <a:pt x="366522" y="150240"/>
                    </a:lnTo>
                    <a:lnTo>
                      <a:pt x="366522" y="139700"/>
                    </a:lnTo>
                    <a:lnTo>
                      <a:pt x="367156" y="139319"/>
                    </a:lnTo>
                    <a:lnTo>
                      <a:pt x="368173" y="138302"/>
                    </a:lnTo>
                    <a:lnTo>
                      <a:pt x="379920" y="121046"/>
                    </a:lnTo>
                    <a:lnTo>
                      <a:pt x="393573" y="93218"/>
                    </a:lnTo>
                    <a:lnTo>
                      <a:pt x="406177" y="64150"/>
                    </a:lnTo>
                    <a:lnTo>
                      <a:pt x="414781" y="43180"/>
                    </a:lnTo>
                    <a:lnTo>
                      <a:pt x="423348" y="36359"/>
                    </a:lnTo>
                    <a:lnTo>
                      <a:pt x="429212" y="28527"/>
                    </a:lnTo>
                    <a:lnTo>
                      <a:pt x="432909" y="20623"/>
                    </a:lnTo>
                    <a:lnTo>
                      <a:pt x="434975" y="13588"/>
                    </a:lnTo>
                    <a:close/>
                  </a:path>
                </a:pathLst>
              </a:custGeom>
              <a:solidFill>
                <a:srgbClr val="03522C"/>
              </a:solidFill>
            </p:spPr>
            <p:txBody>
              <a:bodyPr wrap="square" lIns="0" tIns="0" rIns="0" bIns="0" rtlCol="0"/>
              <a:lstStyle/>
              <a:p>
                <a:endParaRPr>
                  <a:ea typeface="Microsoft YaHei" panose="020B0503020204020204" pitchFamily="34" charset="-122"/>
                </a:endParaRPr>
              </a:p>
            </p:txBody>
          </p:sp>
          <p:sp>
            <p:nvSpPr>
              <p:cNvPr id="63" name="object 63"/>
              <p:cNvSpPr/>
              <p:nvPr/>
            </p:nvSpPr>
            <p:spPr>
              <a:xfrm>
                <a:off x="4386072" y="2240279"/>
                <a:ext cx="690880" cy="2719070"/>
              </a:xfrm>
              <a:custGeom>
                <a:avLst/>
                <a:gdLst/>
                <a:ahLst/>
                <a:cxnLst/>
                <a:rect l="l" t="t" r="r" b="b"/>
                <a:pathLst>
                  <a:path w="690879" h="2719070">
                    <a:moveTo>
                      <a:pt x="366649" y="2534412"/>
                    </a:moveTo>
                    <a:lnTo>
                      <a:pt x="204216" y="2534412"/>
                    </a:lnTo>
                    <a:lnTo>
                      <a:pt x="201599" y="2542438"/>
                    </a:lnTo>
                    <a:lnTo>
                      <a:pt x="196596" y="2549106"/>
                    </a:lnTo>
                    <a:lnTo>
                      <a:pt x="189674" y="2553792"/>
                    </a:lnTo>
                    <a:lnTo>
                      <a:pt x="181356" y="2555875"/>
                    </a:lnTo>
                    <a:lnTo>
                      <a:pt x="181356" y="2699766"/>
                    </a:lnTo>
                    <a:lnTo>
                      <a:pt x="189242" y="2701582"/>
                    </a:lnTo>
                    <a:lnTo>
                      <a:pt x="195973" y="2705633"/>
                    </a:lnTo>
                    <a:lnTo>
                      <a:pt x="201015" y="2711500"/>
                    </a:lnTo>
                    <a:lnTo>
                      <a:pt x="203835" y="2718816"/>
                    </a:lnTo>
                    <a:lnTo>
                      <a:pt x="365379" y="2718816"/>
                    </a:lnTo>
                    <a:lnTo>
                      <a:pt x="351701" y="2701036"/>
                    </a:lnTo>
                    <a:lnTo>
                      <a:pt x="340334" y="2679281"/>
                    </a:lnTo>
                    <a:lnTo>
                      <a:pt x="332562" y="2654401"/>
                    </a:lnTo>
                    <a:lnTo>
                      <a:pt x="329692" y="2627249"/>
                    </a:lnTo>
                    <a:lnTo>
                      <a:pt x="332638" y="2599537"/>
                    </a:lnTo>
                    <a:lnTo>
                      <a:pt x="340639" y="2574264"/>
                    </a:lnTo>
                    <a:lnTo>
                      <a:pt x="352399" y="2552281"/>
                    </a:lnTo>
                    <a:lnTo>
                      <a:pt x="366649" y="2534412"/>
                    </a:lnTo>
                    <a:close/>
                  </a:path>
                  <a:path w="690879" h="2719070">
                    <a:moveTo>
                      <a:pt x="633984" y="2555875"/>
                    </a:moveTo>
                    <a:lnTo>
                      <a:pt x="625373" y="2554008"/>
                    </a:lnTo>
                    <a:lnTo>
                      <a:pt x="618210" y="2549385"/>
                    </a:lnTo>
                    <a:lnTo>
                      <a:pt x="613029" y="2542641"/>
                    </a:lnTo>
                    <a:lnTo>
                      <a:pt x="610362" y="2534412"/>
                    </a:lnTo>
                    <a:lnTo>
                      <a:pt x="448691" y="2534412"/>
                    </a:lnTo>
                    <a:lnTo>
                      <a:pt x="462864" y="2552281"/>
                    </a:lnTo>
                    <a:lnTo>
                      <a:pt x="474497" y="2574264"/>
                    </a:lnTo>
                    <a:lnTo>
                      <a:pt x="482371" y="2599537"/>
                    </a:lnTo>
                    <a:lnTo>
                      <a:pt x="485267" y="2627249"/>
                    </a:lnTo>
                    <a:lnTo>
                      <a:pt x="482434" y="2654401"/>
                    </a:lnTo>
                    <a:lnTo>
                      <a:pt x="474802" y="2679281"/>
                    </a:lnTo>
                    <a:lnTo>
                      <a:pt x="463550" y="2701048"/>
                    </a:lnTo>
                    <a:lnTo>
                      <a:pt x="449961" y="2718816"/>
                    </a:lnTo>
                    <a:lnTo>
                      <a:pt x="610743" y="2718816"/>
                    </a:lnTo>
                    <a:lnTo>
                      <a:pt x="613778" y="2711234"/>
                    </a:lnTo>
                    <a:lnTo>
                      <a:pt x="618972" y="2705150"/>
                    </a:lnTo>
                    <a:lnTo>
                      <a:pt x="625868" y="2701048"/>
                    </a:lnTo>
                    <a:lnTo>
                      <a:pt x="633984" y="2699385"/>
                    </a:lnTo>
                    <a:lnTo>
                      <a:pt x="633984" y="2555875"/>
                    </a:lnTo>
                    <a:close/>
                  </a:path>
                  <a:path w="690879" h="2719070">
                    <a:moveTo>
                      <a:pt x="690372" y="59944"/>
                    </a:moveTo>
                    <a:lnTo>
                      <a:pt x="685736" y="36817"/>
                    </a:lnTo>
                    <a:lnTo>
                      <a:pt x="673011" y="17741"/>
                    </a:lnTo>
                    <a:lnTo>
                      <a:pt x="653986" y="4787"/>
                    </a:lnTo>
                    <a:lnTo>
                      <a:pt x="630428" y="0"/>
                    </a:lnTo>
                    <a:lnTo>
                      <a:pt x="286004" y="0"/>
                    </a:lnTo>
                    <a:lnTo>
                      <a:pt x="286004" y="164084"/>
                    </a:lnTo>
                    <a:lnTo>
                      <a:pt x="286004" y="209042"/>
                    </a:lnTo>
                    <a:lnTo>
                      <a:pt x="286004" y="226822"/>
                    </a:lnTo>
                    <a:lnTo>
                      <a:pt x="286004" y="287909"/>
                    </a:lnTo>
                    <a:lnTo>
                      <a:pt x="286004" y="305689"/>
                    </a:lnTo>
                    <a:lnTo>
                      <a:pt x="286004" y="350647"/>
                    </a:lnTo>
                    <a:lnTo>
                      <a:pt x="284543" y="358419"/>
                    </a:lnTo>
                    <a:lnTo>
                      <a:pt x="280479" y="364845"/>
                    </a:lnTo>
                    <a:lnTo>
                      <a:pt x="274205" y="369227"/>
                    </a:lnTo>
                    <a:lnTo>
                      <a:pt x="266192" y="370840"/>
                    </a:lnTo>
                    <a:lnTo>
                      <a:pt x="183388" y="370840"/>
                    </a:lnTo>
                    <a:lnTo>
                      <a:pt x="183388" y="305689"/>
                    </a:lnTo>
                    <a:lnTo>
                      <a:pt x="286004" y="305689"/>
                    </a:lnTo>
                    <a:lnTo>
                      <a:pt x="286004" y="287909"/>
                    </a:lnTo>
                    <a:lnTo>
                      <a:pt x="183388" y="287909"/>
                    </a:lnTo>
                    <a:lnTo>
                      <a:pt x="183388" y="226822"/>
                    </a:lnTo>
                    <a:lnTo>
                      <a:pt x="286004" y="226822"/>
                    </a:lnTo>
                    <a:lnTo>
                      <a:pt x="286004" y="209042"/>
                    </a:lnTo>
                    <a:lnTo>
                      <a:pt x="183388" y="209042"/>
                    </a:lnTo>
                    <a:lnTo>
                      <a:pt x="183388" y="144018"/>
                    </a:lnTo>
                    <a:lnTo>
                      <a:pt x="266192" y="144018"/>
                    </a:lnTo>
                    <a:lnTo>
                      <a:pt x="274205" y="145503"/>
                    </a:lnTo>
                    <a:lnTo>
                      <a:pt x="280479" y="149631"/>
                    </a:lnTo>
                    <a:lnTo>
                      <a:pt x="284543" y="155968"/>
                    </a:lnTo>
                    <a:lnTo>
                      <a:pt x="286004" y="164084"/>
                    </a:lnTo>
                    <a:lnTo>
                      <a:pt x="286004" y="0"/>
                    </a:lnTo>
                    <a:lnTo>
                      <a:pt x="165735" y="0"/>
                    </a:lnTo>
                    <a:lnTo>
                      <a:pt x="165735" y="144018"/>
                    </a:lnTo>
                    <a:lnTo>
                      <a:pt x="165735" y="209042"/>
                    </a:lnTo>
                    <a:lnTo>
                      <a:pt x="165735" y="226822"/>
                    </a:lnTo>
                    <a:lnTo>
                      <a:pt x="165735" y="287909"/>
                    </a:lnTo>
                    <a:lnTo>
                      <a:pt x="165735" y="305689"/>
                    </a:lnTo>
                    <a:lnTo>
                      <a:pt x="165735" y="370840"/>
                    </a:lnTo>
                    <a:lnTo>
                      <a:pt x="81280" y="370840"/>
                    </a:lnTo>
                    <a:lnTo>
                      <a:pt x="73507" y="369227"/>
                    </a:lnTo>
                    <a:lnTo>
                      <a:pt x="67081" y="364845"/>
                    </a:lnTo>
                    <a:lnTo>
                      <a:pt x="62699" y="358419"/>
                    </a:lnTo>
                    <a:lnTo>
                      <a:pt x="61087" y="350647"/>
                    </a:lnTo>
                    <a:lnTo>
                      <a:pt x="61087" y="305689"/>
                    </a:lnTo>
                    <a:lnTo>
                      <a:pt x="165735" y="305689"/>
                    </a:lnTo>
                    <a:lnTo>
                      <a:pt x="165735" y="287909"/>
                    </a:lnTo>
                    <a:lnTo>
                      <a:pt x="61087" y="287909"/>
                    </a:lnTo>
                    <a:lnTo>
                      <a:pt x="61087" y="226822"/>
                    </a:lnTo>
                    <a:lnTo>
                      <a:pt x="165735" y="226822"/>
                    </a:lnTo>
                    <a:lnTo>
                      <a:pt x="165735" y="209042"/>
                    </a:lnTo>
                    <a:lnTo>
                      <a:pt x="61087" y="209042"/>
                    </a:lnTo>
                    <a:lnTo>
                      <a:pt x="61087" y="164084"/>
                    </a:lnTo>
                    <a:lnTo>
                      <a:pt x="62699" y="155968"/>
                    </a:lnTo>
                    <a:lnTo>
                      <a:pt x="67081" y="149631"/>
                    </a:lnTo>
                    <a:lnTo>
                      <a:pt x="73507" y="145503"/>
                    </a:lnTo>
                    <a:lnTo>
                      <a:pt x="81280" y="144018"/>
                    </a:lnTo>
                    <a:lnTo>
                      <a:pt x="165735" y="144018"/>
                    </a:lnTo>
                    <a:lnTo>
                      <a:pt x="165735" y="0"/>
                    </a:lnTo>
                    <a:lnTo>
                      <a:pt x="59944" y="0"/>
                    </a:lnTo>
                    <a:lnTo>
                      <a:pt x="36372" y="4787"/>
                    </a:lnTo>
                    <a:lnTo>
                      <a:pt x="17348" y="17741"/>
                    </a:lnTo>
                    <a:lnTo>
                      <a:pt x="4622" y="36817"/>
                    </a:lnTo>
                    <a:lnTo>
                      <a:pt x="0" y="59944"/>
                    </a:lnTo>
                    <a:lnTo>
                      <a:pt x="0" y="375920"/>
                    </a:lnTo>
                    <a:lnTo>
                      <a:pt x="4622" y="399110"/>
                    </a:lnTo>
                    <a:lnTo>
                      <a:pt x="17348" y="418185"/>
                    </a:lnTo>
                    <a:lnTo>
                      <a:pt x="36372" y="431114"/>
                    </a:lnTo>
                    <a:lnTo>
                      <a:pt x="59944" y="435864"/>
                    </a:lnTo>
                    <a:lnTo>
                      <a:pt x="630428" y="435864"/>
                    </a:lnTo>
                    <a:lnTo>
                      <a:pt x="653986" y="431114"/>
                    </a:lnTo>
                    <a:lnTo>
                      <a:pt x="673011" y="418185"/>
                    </a:lnTo>
                    <a:lnTo>
                      <a:pt x="685736" y="399110"/>
                    </a:lnTo>
                    <a:lnTo>
                      <a:pt x="690372" y="375920"/>
                    </a:lnTo>
                    <a:lnTo>
                      <a:pt x="690372" y="370840"/>
                    </a:lnTo>
                    <a:lnTo>
                      <a:pt x="690372" y="305689"/>
                    </a:lnTo>
                    <a:lnTo>
                      <a:pt x="690372" y="287909"/>
                    </a:lnTo>
                    <a:lnTo>
                      <a:pt x="690372" y="226822"/>
                    </a:lnTo>
                    <a:lnTo>
                      <a:pt x="690372" y="209042"/>
                    </a:lnTo>
                    <a:lnTo>
                      <a:pt x="690372" y="144018"/>
                    </a:lnTo>
                    <a:lnTo>
                      <a:pt x="690372" y="59944"/>
                    </a:lnTo>
                    <a:close/>
                  </a:path>
                </a:pathLst>
              </a:custGeom>
              <a:solidFill>
                <a:srgbClr val="29B974"/>
              </a:solidFill>
            </p:spPr>
            <p:txBody>
              <a:bodyPr wrap="square" lIns="0" tIns="0" rIns="0" bIns="0" rtlCol="0"/>
              <a:lstStyle/>
              <a:p>
                <a:endParaRPr>
                  <a:ea typeface="Microsoft YaHei" panose="020B0503020204020204" pitchFamily="34" charset="-122"/>
                </a:endParaRPr>
              </a:p>
            </p:txBody>
          </p:sp>
          <p:sp>
            <p:nvSpPr>
              <p:cNvPr id="64" name="object 64"/>
              <p:cNvSpPr/>
              <p:nvPr/>
            </p:nvSpPr>
            <p:spPr>
              <a:xfrm>
                <a:off x="4424172" y="4690871"/>
                <a:ext cx="2802890" cy="669290"/>
              </a:xfrm>
              <a:custGeom>
                <a:avLst/>
                <a:gdLst/>
                <a:ahLst/>
                <a:cxnLst/>
                <a:rect l="l" t="t" r="r" b="b"/>
                <a:pathLst>
                  <a:path w="2802890" h="669289">
                    <a:moveTo>
                      <a:pt x="403733" y="196977"/>
                    </a:moveTo>
                    <a:lnTo>
                      <a:pt x="377063" y="167513"/>
                    </a:lnTo>
                    <a:lnTo>
                      <a:pt x="367817" y="162483"/>
                    </a:lnTo>
                    <a:lnTo>
                      <a:pt x="361226" y="157492"/>
                    </a:lnTo>
                    <a:lnTo>
                      <a:pt x="357289" y="152590"/>
                    </a:lnTo>
                    <a:lnTo>
                      <a:pt x="355981" y="147828"/>
                    </a:lnTo>
                    <a:lnTo>
                      <a:pt x="355981" y="143891"/>
                    </a:lnTo>
                    <a:lnTo>
                      <a:pt x="357124" y="141097"/>
                    </a:lnTo>
                    <a:lnTo>
                      <a:pt x="359918" y="138303"/>
                    </a:lnTo>
                    <a:lnTo>
                      <a:pt x="362585" y="136017"/>
                    </a:lnTo>
                    <a:lnTo>
                      <a:pt x="366141" y="134747"/>
                    </a:lnTo>
                    <a:lnTo>
                      <a:pt x="378206" y="134747"/>
                    </a:lnTo>
                    <a:lnTo>
                      <a:pt x="385699" y="137541"/>
                    </a:lnTo>
                    <a:lnTo>
                      <a:pt x="393192" y="142240"/>
                    </a:lnTo>
                    <a:lnTo>
                      <a:pt x="395668" y="134747"/>
                    </a:lnTo>
                    <a:lnTo>
                      <a:pt x="398653" y="125730"/>
                    </a:lnTo>
                    <a:lnTo>
                      <a:pt x="394335" y="121793"/>
                    </a:lnTo>
                    <a:lnTo>
                      <a:pt x="386842" y="119761"/>
                    </a:lnTo>
                    <a:lnTo>
                      <a:pt x="377825" y="118618"/>
                    </a:lnTo>
                    <a:lnTo>
                      <a:pt x="377825" y="105664"/>
                    </a:lnTo>
                    <a:lnTo>
                      <a:pt x="360299" y="105664"/>
                    </a:lnTo>
                    <a:lnTo>
                      <a:pt x="360299" y="119761"/>
                    </a:lnTo>
                    <a:lnTo>
                      <a:pt x="352806" y="121412"/>
                    </a:lnTo>
                    <a:lnTo>
                      <a:pt x="347345" y="124968"/>
                    </a:lnTo>
                    <a:lnTo>
                      <a:pt x="343027" y="130048"/>
                    </a:lnTo>
                    <a:lnTo>
                      <a:pt x="337947" y="134747"/>
                    </a:lnTo>
                    <a:lnTo>
                      <a:pt x="335915" y="141097"/>
                    </a:lnTo>
                    <a:lnTo>
                      <a:pt x="335915" y="152590"/>
                    </a:lnTo>
                    <a:lnTo>
                      <a:pt x="362585" y="180467"/>
                    </a:lnTo>
                    <a:lnTo>
                      <a:pt x="370840" y="184785"/>
                    </a:lnTo>
                    <a:lnTo>
                      <a:pt x="376301" y="188722"/>
                    </a:lnTo>
                    <a:lnTo>
                      <a:pt x="379476" y="191897"/>
                    </a:lnTo>
                    <a:lnTo>
                      <a:pt x="382524" y="195453"/>
                    </a:lnTo>
                    <a:lnTo>
                      <a:pt x="383794" y="199390"/>
                    </a:lnTo>
                    <a:lnTo>
                      <a:pt x="383794" y="211201"/>
                    </a:lnTo>
                    <a:lnTo>
                      <a:pt x="378206" y="215138"/>
                    </a:lnTo>
                    <a:lnTo>
                      <a:pt x="359029" y="215138"/>
                    </a:lnTo>
                    <a:lnTo>
                      <a:pt x="351282" y="212344"/>
                    </a:lnTo>
                    <a:lnTo>
                      <a:pt x="343408" y="207264"/>
                    </a:lnTo>
                    <a:lnTo>
                      <a:pt x="335534" y="224536"/>
                    </a:lnTo>
                    <a:lnTo>
                      <a:pt x="341503" y="227749"/>
                    </a:lnTo>
                    <a:lnTo>
                      <a:pt x="347624" y="230098"/>
                    </a:lnTo>
                    <a:lnTo>
                      <a:pt x="353885" y="231546"/>
                    </a:lnTo>
                    <a:lnTo>
                      <a:pt x="360299" y="232029"/>
                    </a:lnTo>
                    <a:lnTo>
                      <a:pt x="360299" y="248285"/>
                    </a:lnTo>
                    <a:lnTo>
                      <a:pt x="377825" y="248285"/>
                    </a:lnTo>
                    <a:lnTo>
                      <a:pt x="377825" y="231267"/>
                    </a:lnTo>
                    <a:lnTo>
                      <a:pt x="385699" y="229362"/>
                    </a:lnTo>
                    <a:lnTo>
                      <a:pt x="392430" y="225425"/>
                    </a:lnTo>
                    <a:lnTo>
                      <a:pt x="397129" y="220218"/>
                    </a:lnTo>
                    <a:lnTo>
                      <a:pt x="401828" y="215138"/>
                    </a:lnTo>
                    <a:lnTo>
                      <a:pt x="403733" y="208788"/>
                    </a:lnTo>
                    <a:lnTo>
                      <a:pt x="403733" y="196977"/>
                    </a:lnTo>
                    <a:close/>
                  </a:path>
                  <a:path w="2802890" h="669289">
                    <a:moveTo>
                      <a:pt x="618515" y="429018"/>
                    </a:moveTo>
                    <a:lnTo>
                      <a:pt x="614045" y="412496"/>
                    </a:lnTo>
                    <a:lnTo>
                      <a:pt x="606094" y="402348"/>
                    </a:lnTo>
                    <a:lnTo>
                      <a:pt x="603123" y="398526"/>
                    </a:lnTo>
                    <a:lnTo>
                      <a:pt x="603123" y="397268"/>
                    </a:lnTo>
                    <a:lnTo>
                      <a:pt x="602361" y="397268"/>
                    </a:lnTo>
                    <a:lnTo>
                      <a:pt x="601370" y="396278"/>
                    </a:lnTo>
                    <a:lnTo>
                      <a:pt x="601370" y="430276"/>
                    </a:lnTo>
                    <a:lnTo>
                      <a:pt x="600049" y="441718"/>
                    </a:lnTo>
                    <a:lnTo>
                      <a:pt x="576834" y="472198"/>
                    </a:lnTo>
                    <a:lnTo>
                      <a:pt x="547395" y="502666"/>
                    </a:lnTo>
                    <a:lnTo>
                      <a:pt x="514273" y="528066"/>
                    </a:lnTo>
                    <a:lnTo>
                      <a:pt x="477926" y="548386"/>
                    </a:lnTo>
                    <a:lnTo>
                      <a:pt x="438785" y="563638"/>
                    </a:lnTo>
                    <a:lnTo>
                      <a:pt x="376428" y="577596"/>
                    </a:lnTo>
                    <a:lnTo>
                      <a:pt x="344728" y="578878"/>
                    </a:lnTo>
                    <a:lnTo>
                      <a:pt x="312928" y="578878"/>
                    </a:lnTo>
                    <a:lnTo>
                      <a:pt x="230632" y="572528"/>
                    </a:lnTo>
                    <a:lnTo>
                      <a:pt x="223583" y="572528"/>
                    </a:lnTo>
                    <a:lnTo>
                      <a:pt x="202692" y="576338"/>
                    </a:lnTo>
                    <a:lnTo>
                      <a:pt x="17526" y="648728"/>
                    </a:lnTo>
                    <a:lnTo>
                      <a:pt x="17526" y="492518"/>
                    </a:lnTo>
                    <a:lnTo>
                      <a:pt x="179578" y="399796"/>
                    </a:lnTo>
                    <a:lnTo>
                      <a:pt x="190271" y="394716"/>
                    </a:lnTo>
                    <a:lnTo>
                      <a:pt x="201650" y="390918"/>
                    </a:lnTo>
                    <a:lnTo>
                      <a:pt x="225552" y="388366"/>
                    </a:lnTo>
                    <a:lnTo>
                      <a:pt x="392684" y="397268"/>
                    </a:lnTo>
                    <a:lnTo>
                      <a:pt x="402602" y="399796"/>
                    </a:lnTo>
                    <a:lnTo>
                      <a:pt x="410578" y="406146"/>
                    </a:lnTo>
                    <a:lnTo>
                      <a:pt x="415899" y="413766"/>
                    </a:lnTo>
                    <a:lnTo>
                      <a:pt x="417830" y="423926"/>
                    </a:lnTo>
                    <a:lnTo>
                      <a:pt x="416026" y="432816"/>
                    </a:lnTo>
                    <a:lnTo>
                      <a:pt x="411022" y="441718"/>
                    </a:lnTo>
                    <a:lnTo>
                      <a:pt x="403466" y="446798"/>
                    </a:lnTo>
                    <a:lnTo>
                      <a:pt x="393954" y="449326"/>
                    </a:lnTo>
                    <a:lnTo>
                      <a:pt x="303022" y="458216"/>
                    </a:lnTo>
                    <a:lnTo>
                      <a:pt x="299847" y="462026"/>
                    </a:lnTo>
                    <a:lnTo>
                      <a:pt x="299466" y="465848"/>
                    </a:lnTo>
                    <a:lnTo>
                      <a:pt x="298704" y="469646"/>
                    </a:lnTo>
                    <a:lnTo>
                      <a:pt x="301117" y="473468"/>
                    </a:lnTo>
                    <a:lnTo>
                      <a:pt x="304546" y="474726"/>
                    </a:lnTo>
                    <a:lnTo>
                      <a:pt x="334899" y="487426"/>
                    </a:lnTo>
                    <a:lnTo>
                      <a:pt x="361238" y="495046"/>
                    </a:lnTo>
                    <a:lnTo>
                      <a:pt x="388569" y="498868"/>
                    </a:lnTo>
                    <a:lnTo>
                      <a:pt x="416204" y="498868"/>
                    </a:lnTo>
                    <a:lnTo>
                      <a:pt x="443484" y="492518"/>
                    </a:lnTo>
                    <a:lnTo>
                      <a:pt x="466090" y="484898"/>
                    </a:lnTo>
                    <a:lnTo>
                      <a:pt x="470789" y="482346"/>
                    </a:lnTo>
                    <a:lnTo>
                      <a:pt x="487235" y="473468"/>
                    </a:lnTo>
                    <a:lnTo>
                      <a:pt x="506552" y="459498"/>
                    </a:lnTo>
                    <a:lnTo>
                      <a:pt x="523748" y="442976"/>
                    </a:lnTo>
                    <a:lnTo>
                      <a:pt x="549617" y="413766"/>
                    </a:lnTo>
                    <a:lnTo>
                      <a:pt x="555117" y="407416"/>
                    </a:lnTo>
                    <a:lnTo>
                      <a:pt x="562610" y="403618"/>
                    </a:lnTo>
                    <a:lnTo>
                      <a:pt x="598551" y="420116"/>
                    </a:lnTo>
                    <a:lnTo>
                      <a:pt x="601370" y="430276"/>
                    </a:lnTo>
                    <a:lnTo>
                      <a:pt x="601370" y="396278"/>
                    </a:lnTo>
                    <a:lnTo>
                      <a:pt x="601091" y="395998"/>
                    </a:lnTo>
                    <a:lnTo>
                      <a:pt x="600710" y="395998"/>
                    </a:lnTo>
                    <a:lnTo>
                      <a:pt x="599567" y="394716"/>
                    </a:lnTo>
                    <a:lnTo>
                      <a:pt x="598805" y="394716"/>
                    </a:lnTo>
                    <a:lnTo>
                      <a:pt x="598043" y="393446"/>
                    </a:lnTo>
                    <a:lnTo>
                      <a:pt x="596392" y="393446"/>
                    </a:lnTo>
                    <a:lnTo>
                      <a:pt x="595630" y="392176"/>
                    </a:lnTo>
                    <a:lnTo>
                      <a:pt x="594487" y="392176"/>
                    </a:lnTo>
                    <a:lnTo>
                      <a:pt x="587756" y="388366"/>
                    </a:lnTo>
                    <a:lnTo>
                      <a:pt x="580263" y="385826"/>
                    </a:lnTo>
                    <a:lnTo>
                      <a:pt x="569214" y="385826"/>
                    </a:lnTo>
                    <a:lnTo>
                      <a:pt x="560882" y="387096"/>
                    </a:lnTo>
                    <a:lnTo>
                      <a:pt x="552958" y="389648"/>
                    </a:lnTo>
                    <a:lnTo>
                      <a:pt x="545592" y="394716"/>
                    </a:lnTo>
                    <a:lnTo>
                      <a:pt x="538988" y="399796"/>
                    </a:lnTo>
                    <a:lnTo>
                      <a:pt x="538226" y="399796"/>
                    </a:lnTo>
                    <a:lnTo>
                      <a:pt x="536956" y="401066"/>
                    </a:lnTo>
                    <a:lnTo>
                      <a:pt x="511048" y="431546"/>
                    </a:lnTo>
                    <a:lnTo>
                      <a:pt x="507492" y="434098"/>
                    </a:lnTo>
                    <a:lnTo>
                      <a:pt x="467537" y="464566"/>
                    </a:lnTo>
                    <a:lnTo>
                      <a:pt x="438658" y="475996"/>
                    </a:lnTo>
                    <a:lnTo>
                      <a:pt x="435102" y="477266"/>
                    </a:lnTo>
                    <a:lnTo>
                      <a:pt x="433197" y="477266"/>
                    </a:lnTo>
                    <a:lnTo>
                      <a:pt x="432689" y="478548"/>
                    </a:lnTo>
                    <a:lnTo>
                      <a:pt x="428752" y="478548"/>
                    </a:lnTo>
                    <a:lnTo>
                      <a:pt x="421005" y="479818"/>
                    </a:lnTo>
                    <a:lnTo>
                      <a:pt x="415036" y="481076"/>
                    </a:lnTo>
                    <a:lnTo>
                      <a:pt x="409194" y="481076"/>
                    </a:lnTo>
                    <a:lnTo>
                      <a:pt x="392595" y="482346"/>
                    </a:lnTo>
                    <a:lnTo>
                      <a:pt x="359740" y="477266"/>
                    </a:lnTo>
                    <a:lnTo>
                      <a:pt x="343789" y="472198"/>
                    </a:lnTo>
                    <a:lnTo>
                      <a:pt x="394919" y="467118"/>
                    </a:lnTo>
                    <a:lnTo>
                      <a:pt x="399288" y="467118"/>
                    </a:lnTo>
                    <a:lnTo>
                      <a:pt x="406400" y="464566"/>
                    </a:lnTo>
                    <a:lnTo>
                      <a:pt x="407924" y="463296"/>
                    </a:lnTo>
                    <a:lnTo>
                      <a:pt x="410337" y="463296"/>
                    </a:lnTo>
                    <a:lnTo>
                      <a:pt x="411861" y="462026"/>
                    </a:lnTo>
                    <a:lnTo>
                      <a:pt x="413512" y="462026"/>
                    </a:lnTo>
                    <a:lnTo>
                      <a:pt x="414274" y="460768"/>
                    </a:lnTo>
                    <a:lnTo>
                      <a:pt x="415036" y="460768"/>
                    </a:lnTo>
                    <a:lnTo>
                      <a:pt x="415417" y="459498"/>
                    </a:lnTo>
                    <a:lnTo>
                      <a:pt x="417068" y="459498"/>
                    </a:lnTo>
                    <a:lnTo>
                      <a:pt x="418592" y="456946"/>
                    </a:lnTo>
                    <a:lnTo>
                      <a:pt x="420497" y="456946"/>
                    </a:lnTo>
                    <a:lnTo>
                      <a:pt x="425424" y="450596"/>
                    </a:lnTo>
                    <a:lnTo>
                      <a:pt x="429463" y="444246"/>
                    </a:lnTo>
                    <a:lnTo>
                      <a:pt x="432473" y="437896"/>
                    </a:lnTo>
                    <a:lnTo>
                      <a:pt x="434340" y="430276"/>
                    </a:lnTo>
                    <a:lnTo>
                      <a:pt x="434721" y="429018"/>
                    </a:lnTo>
                    <a:lnTo>
                      <a:pt x="434721" y="426466"/>
                    </a:lnTo>
                    <a:lnTo>
                      <a:pt x="435102" y="425196"/>
                    </a:lnTo>
                    <a:lnTo>
                      <a:pt x="435102" y="420116"/>
                    </a:lnTo>
                    <a:lnTo>
                      <a:pt x="434340" y="415048"/>
                    </a:lnTo>
                    <a:lnTo>
                      <a:pt x="433578" y="411226"/>
                    </a:lnTo>
                    <a:lnTo>
                      <a:pt x="432308" y="407416"/>
                    </a:lnTo>
                    <a:lnTo>
                      <a:pt x="430784" y="404876"/>
                    </a:lnTo>
                    <a:lnTo>
                      <a:pt x="429641" y="402348"/>
                    </a:lnTo>
                    <a:lnTo>
                      <a:pt x="393827" y="379476"/>
                    </a:lnTo>
                    <a:lnTo>
                      <a:pt x="226187" y="371868"/>
                    </a:lnTo>
                    <a:lnTo>
                      <a:pt x="204216" y="371868"/>
                    </a:lnTo>
                    <a:lnTo>
                      <a:pt x="198247" y="374396"/>
                    </a:lnTo>
                    <a:lnTo>
                      <a:pt x="192024" y="375666"/>
                    </a:lnTo>
                    <a:lnTo>
                      <a:pt x="189992" y="375666"/>
                    </a:lnTo>
                    <a:lnTo>
                      <a:pt x="188849" y="376948"/>
                    </a:lnTo>
                    <a:lnTo>
                      <a:pt x="186817" y="376948"/>
                    </a:lnTo>
                    <a:lnTo>
                      <a:pt x="186055" y="378218"/>
                    </a:lnTo>
                    <a:lnTo>
                      <a:pt x="182499" y="378218"/>
                    </a:lnTo>
                    <a:lnTo>
                      <a:pt x="182118" y="379476"/>
                    </a:lnTo>
                    <a:lnTo>
                      <a:pt x="179832" y="379476"/>
                    </a:lnTo>
                    <a:lnTo>
                      <a:pt x="179451" y="380746"/>
                    </a:lnTo>
                    <a:lnTo>
                      <a:pt x="177419" y="380746"/>
                    </a:lnTo>
                    <a:lnTo>
                      <a:pt x="176657" y="382016"/>
                    </a:lnTo>
                    <a:lnTo>
                      <a:pt x="175006" y="382016"/>
                    </a:lnTo>
                    <a:lnTo>
                      <a:pt x="174625" y="383298"/>
                    </a:lnTo>
                    <a:lnTo>
                      <a:pt x="171577" y="383298"/>
                    </a:lnTo>
                    <a:lnTo>
                      <a:pt x="170688" y="384568"/>
                    </a:lnTo>
                    <a:lnTo>
                      <a:pt x="4318" y="478548"/>
                    </a:lnTo>
                    <a:lnTo>
                      <a:pt x="1905" y="481076"/>
                    </a:lnTo>
                    <a:lnTo>
                      <a:pt x="0" y="483616"/>
                    </a:lnTo>
                    <a:lnTo>
                      <a:pt x="0" y="663956"/>
                    </a:lnTo>
                    <a:lnTo>
                      <a:pt x="1524" y="666496"/>
                    </a:lnTo>
                    <a:lnTo>
                      <a:pt x="3937" y="667778"/>
                    </a:lnTo>
                    <a:lnTo>
                      <a:pt x="5461" y="669036"/>
                    </a:lnTo>
                    <a:lnTo>
                      <a:pt x="11811" y="669036"/>
                    </a:lnTo>
                    <a:lnTo>
                      <a:pt x="64363" y="648728"/>
                    </a:lnTo>
                    <a:lnTo>
                      <a:pt x="208915" y="592836"/>
                    </a:lnTo>
                    <a:lnTo>
                      <a:pt x="210439" y="591578"/>
                    </a:lnTo>
                    <a:lnTo>
                      <a:pt x="213995" y="591578"/>
                    </a:lnTo>
                    <a:lnTo>
                      <a:pt x="213995" y="590296"/>
                    </a:lnTo>
                    <a:lnTo>
                      <a:pt x="229362" y="590296"/>
                    </a:lnTo>
                    <a:lnTo>
                      <a:pt x="266484" y="592836"/>
                    </a:lnTo>
                    <a:lnTo>
                      <a:pt x="311531" y="595388"/>
                    </a:lnTo>
                    <a:lnTo>
                      <a:pt x="321818" y="595388"/>
                    </a:lnTo>
                    <a:lnTo>
                      <a:pt x="323342" y="596646"/>
                    </a:lnTo>
                    <a:lnTo>
                      <a:pt x="350901" y="596646"/>
                    </a:lnTo>
                    <a:lnTo>
                      <a:pt x="352933" y="595388"/>
                    </a:lnTo>
                    <a:lnTo>
                      <a:pt x="366217" y="595388"/>
                    </a:lnTo>
                    <a:lnTo>
                      <a:pt x="374332" y="594106"/>
                    </a:lnTo>
                    <a:lnTo>
                      <a:pt x="382435" y="594106"/>
                    </a:lnTo>
                    <a:lnTo>
                      <a:pt x="390652" y="592836"/>
                    </a:lnTo>
                    <a:lnTo>
                      <a:pt x="391414" y="592836"/>
                    </a:lnTo>
                    <a:lnTo>
                      <a:pt x="393446" y="591578"/>
                    </a:lnTo>
                    <a:lnTo>
                      <a:pt x="398907" y="591578"/>
                    </a:lnTo>
                    <a:lnTo>
                      <a:pt x="403987" y="590296"/>
                    </a:lnTo>
                    <a:lnTo>
                      <a:pt x="415036" y="587756"/>
                    </a:lnTo>
                    <a:lnTo>
                      <a:pt x="418211" y="587756"/>
                    </a:lnTo>
                    <a:lnTo>
                      <a:pt x="420497" y="586486"/>
                    </a:lnTo>
                    <a:lnTo>
                      <a:pt x="421767" y="586486"/>
                    </a:lnTo>
                    <a:lnTo>
                      <a:pt x="423291" y="585228"/>
                    </a:lnTo>
                    <a:lnTo>
                      <a:pt x="429260" y="585228"/>
                    </a:lnTo>
                    <a:lnTo>
                      <a:pt x="430784" y="583946"/>
                    </a:lnTo>
                    <a:lnTo>
                      <a:pt x="432308" y="583946"/>
                    </a:lnTo>
                    <a:lnTo>
                      <a:pt x="433959" y="582688"/>
                    </a:lnTo>
                    <a:lnTo>
                      <a:pt x="436245" y="582688"/>
                    </a:lnTo>
                    <a:lnTo>
                      <a:pt x="439039" y="581406"/>
                    </a:lnTo>
                    <a:lnTo>
                      <a:pt x="441452" y="581406"/>
                    </a:lnTo>
                    <a:lnTo>
                      <a:pt x="443738" y="580136"/>
                    </a:lnTo>
                    <a:lnTo>
                      <a:pt x="447179" y="578878"/>
                    </a:lnTo>
                    <a:lnTo>
                      <a:pt x="464388" y="572528"/>
                    </a:lnTo>
                    <a:lnTo>
                      <a:pt x="484390" y="564896"/>
                    </a:lnTo>
                    <a:lnTo>
                      <a:pt x="503643" y="554736"/>
                    </a:lnTo>
                    <a:lnTo>
                      <a:pt x="522097" y="543306"/>
                    </a:lnTo>
                    <a:lnTo>
                      <a:pt x="523621" y="542036"/>
                    </a:lnTo>
                    <a:lnTo>
                      <a:pt x="528320" y="539496"/>
                    </a:lnTo>
                    <a:lnTo>
                      <a:pt x="562444" y="511568"/>
                    </a:lnTo>
                    <a:lnTo>
                      <a:pt x="590169" y="483616"/>
                    </a:lnTo>
                    <a:lnTo>
                      <a:pt x="616369" y="446798"/>
                    </a:lnTo>
                    <a:lnTo>
                      <a:pt x="618515" y="429018"/>
                    </a:lnTo>
                    <a:close/>
                  </a:path>
                  <a:path w="2802890" h="669289">
                    <a:moveTo>
                      <a:pt x="630936" y="51562"/>
                    </a:moveTo>
                    <a:lnTo>
                      <a:pt x="628142" y="48768"/>
                    </a:lnTo>
                    <a:lnTo>
                      <a:pt x="613410" y="48768"/>
                    </a:lnTo>
                    <a:lnTo>
                      <a:pt x="613410" y="66294"/>
                    </a:lnTo>
                    <a:lnTo>
                      <a:pt x="613410" y="286766"/>
                    </a:lnTo>
                    <a:lnTo>
                      <a:pt x="125857" y="286766"/>
                    </a:lnTo>
                    <a:lnTo>
                      <a:pt x="125857" y="66294"/>
                    </a:lnTo>
                    <a:lnTo>
                      <a:pt x="613410" y="66294"/>
                    </a:lnTo>
                    <a:lnTo>
                      <a:pt x="613410" y="48768"/>
                    </a:lnTo>
                    <a:lnTo>
                      <a:pt x="111506" y="48768"/>
                    </a:lnTo>
                    <a:lnTo>
                      <a:pt x="108331" y="51562"/>
                    </a:lnTo>
                    <a:lnTo>
                      <a:pt x="108331" y="301117"/>
                    </a:lnTo>
                    <a:lnTo>
                      <a:pt x="111506" y="304165"/>
                    </a:lnTo>
                    <a:lnTo>
                      <a:pt x="628142" y="304165"/>
                    </a:lnTo>
                    <a:lnTo>
                      <a:pt x="630936" y="301117"/>
                    </a:lnTo>
                    <a:lnTo>
                      <a:pt x="630936" y="286766"/>
                    </a:lnTo>
                    <a:lnTo>
                      <a:pt x="630936" y="66294"/>
                    </a:lnTo>
                    <a:lnTo>
                      <a:pt x="630936" y="51562"/>
                    </a:lnTo>
                    <a:close/>
                  </a:path>
                  <a:path w="2802890" h="669289">
                    <a:moveTo>
                      <a:pt x="2169668" y="352679"/>
                    </a:moveTo>
                    <a:lnTo>
                      <a:pt x="2165731" y="348615"/>
                    </a:lnTo>
                    <a:lnTo>
                      <a:pt x="2093341" y="348615"/>
                    </a:lnTo>
                    <a:lnTo>
                      <a:pt x="2089404" y="352679"/>
                    </a:lnTo>
                    <a:lnTo>
                      <a:pt x="2089404" y="362077"/>
                    </a:lnTo>
                    <a:lnTo>
                      <a:pt x="2093341" y="366014"/>
                    </a:lnTo>
                    <a:lnTo>
                      <a:pt x="2165731" y="366014"/>
                    </a:lnTo>
                    <a:lnTo>
                      <a:pt x="2169668" y="362077"/>
                    </a:lnTo>
                    <a:lnTo>
                      <a:pt x="2169668" y="352679"/>
                    </a:lnTo>
                    <a:close/>
                  </a:path>
                  <a:path w="2802890" h="669289">
                    <a:moveTo>
                      <a:pt x="2254123" y="556260"/>
                    </a:moveTo>
                    <a:lnTo>
                      <a:pt x="2250567" y="553212"/>
                    </a:lnTo>
                    <a:lnTo>
                      <a:pt x="2247519" y="549656"/>
                    </a:lnTo>
                    <a:lnTo>
                      <a:pt x="2241931" y="549656"/>
                    </a:lnTo>
                    <a:lnTo>
                      <a:pt x="2190496" y="601218"/>
                    </a:lnTo>
                    <a:lnTo>
                      <a:pt x="2190496" y="606679"/>
                    </a:lnTo>
                    <a:lnTo>
                      <a:pt x="2194052" y="609854"/>
                    </a:lnTo>
                    <a:lnTo>
                      <a:pt x="2195576" y="611505"/>
                    </a:lnTo>
                    <a:lnTo>
                      <a:pt x="2197849" y="612648"/>
                    </a:lnTo>
                    <a:lnTo>
                      <a:pt x="2202307" y="612648"/>
                    </a:lnTo>
                    <a:lnTo>
                      <a:pt x="2204593" y="611505"/>
                    </a:lnTo>
                    <a:lnTo>
                      <a:pt x="2206117" y="609854"/>
                    </a:lnTo>
                    <a:lnTo>
                      <a:pt x="2254123" y="561848"/>
                    </a:lnTo>
                    <a:lnTo>
                      <a:pt x="2254123" y="556260"/>
                    </a:lnTo>
                    <a:close/>
                  </a:path>
                  <a:path w="2802890" h="669289">
                    <a:moveTo>
                      <a:pt x="2254123" y="152908"/>
                    </a:moveTo>
                    <a:lnTo>
                      <a:pt x="2206117" y="104775"/>
                    </a:lnTo>
                    <a:lnTo>
                      <a:pt x="2202675" y="101219"/>
                    </a:lnTo>
                    <a:lnTo>
                      <a:pt x="2197100" y="101219"/>
                    </a:lnTo>
                    <a:lnTo>
                      <a:pt x="2194052" y="104775"/>
                    </a:lnTo>
                    <a:lnTo>
                      <a:pt x="2190496" y="108331"/>
                    </a:lnTo>
                    <a:lnTo>
                      <a:pt x="2190496" y="113411"/>
                    </a:lnTo>
                    <a:lnTo>
                      <a:pt x="2238375" y="161544"/>
                    </a:lnTo>
                    <a:lnTo>
                      <a:pt x="2240026" y="163068"/>
                    </a:lnTo>
                    <a:lnTo>
                      <a:pt x="2242312" y="164338"/>
                    </a:lnTo>
                    <a:lnTo>
                      <a:pt x="2246630" y="164338"/>
                    </a:lnTo>
                    <a:lnTo>
                      <a:pt x="2249043" y="163068"/>
                    </a:lnTo>
                    <a:lnTo>
                      <a:pt x="2250567" y="161544"/>
                    </a:lnTo>
                    <a:lnTo>
                      <a:pt x="2254123" y="158369"/>
                    </a:lnTo>
                    <a:lnTo>
                      <a:pt x="2254123" y="152908"/>
                    </a:lnTo>
                    <a:close/>
                  </a:path>
                  <a:path w="2802890" h="669289">
                    <a:moveTo>
                      <a:pt x="2437003" y="447167"/>
                    </a:moveTo>
                    <a:lnTo>
                      <a:pt x="2418969" y="443522"/>
                    </a:lnTo>
                    <a:lnTo>
                      <a:pt x="2404186" y="433552"/>
                    </a:lnTo>
                    <a:lnTo>
                      <a:pt x="2394191" y="418782"/>
                    </a:lnTo>
                    <a:lnTo>
                      <a:pt x="2390521" y="400685"/>
                    </a:lnTo>
                    <a:lnTo>
                      <a:pt x="2386927" y="418782"/>
                    </a:lnTo>
                    <a:lnTo>
                      <a:pt x="2377097" y="433552"/>
                    </a:lnTo>
                    <a:lnTo>
                      <a:pt x="2362492" y="443522"/>
                    </a:lnTo>
                    <a:lnTo>
                      <a:pt x="2344547" y="447167"/>
                    </a:lnTo>
                    <a:lnTo>
                      <a:pt x="2362492" y="450773"/>
                    </a:lnTo>
                    <a:lnTo>
                      <a:pt x="2377097" y="460603"/>
                    </a:lnTo>
                    <a:lnTo>
                      <a:pt x="2386927" y="475246"/>
                    </a:lnTo>
                    <a:lnTo>
                      <a:pt x="2390521" y="493268"/>
                    </a:lnTo>
                    <a:lnTo>
                      <a:pt x="2394191" y="475246"/>
                    </a:lnTo>
                    <a:lnTo>
                      <a:pt x="2404186" y="460603"/>
                    </a:lnTo>
                    <a:lnTo>
                      <a:pt x="2418969" y="450773"/>
                    </a:lnTo>
                    <a:lnTo>
                      <a:pt x="2437003" y="447167"/>
                    </a:lnTo>
                    <a:close/>
                  </a:path>
                  <a:path w="2802890" h="669289">
                    <a:moveTo>
                      <a:pt x="2454656" y="3937"/>
                    </a:moveTo>
                    <a:lnTo>
                      <a:pt x="2450719" y="0"/>
                    </a:lnTo>
                    <a:lnTo>
                      <a:pt x="2441321" y="0"/>
                    </a:lnTo>
                    <a:lnTo>
                      <a:pt x="2437384" y="3937"/>
                    </a:lnTo>
                    <a:lnTo>
                      <a:pt x="2437384" y="76835"/>
                    </a:lnTo>
                    <a:lnTo>
                      <a:pt x="2441321" y="80391"/>
                    </a:lnTo>
                    <a:lnTo>
                      <a:pt x="2450719" y="80391"/>
                    </a:lnTo>
                    <a:lnTo>
                      <a:pt x="2454656" y="76835"/>
                    </a:lnTo>
                    <a:lnTo>
                      <a:pt x="2454656" y="3937"/>
                    </a:lnTo>
                    <a:close/>
                  </a:path>
                  <a:path w="2802890" h="669289">
                    <a:moveTo>
                      <a:pt x="2536444" y="287655"/>
                    </a:moveTo>
                    <a:lnTo>
                      <a:pt x="2518422" y="283984"/>
                    </a:lnTo>
                    <a:lnTo>
                      <a:pt x="2503690" y="273989"/>
                    </a:lnTo>
                    <a:lnTo>
                      <a:pt x="2493734" y="259207"/>
                    </a:lnTo>
                    <a:lnTo>
                      <a:pt x="2490089" y="241173"/>
                    </a:lnTo>
                    <a:lnTo>
                      <a:pt x="2486431" y="259207"/>
                    </a:lnTo>
                    <a:lnTo>
                      <a:pt x="2476462" y="273989"/>
                    </a:lnTo>
                    <a:lnTo>
                      <a:pt x="2461691" y="283984"/>
                    </a:lnTo>
                    <a:lnTo>
                      <a:pt x="2443607" y="287655"/>
                    </a:lnTo>
                    <a:lnTo>
                      <a:pt x="2461691" y="291261"/>
                    </a:lnTo>
                    <a:lnTo>
                      <a:pt x="2476462" y="301091"/>
                    </a:lnTo>
                    <a:lnTo>
                      <a:pt x="2486431" y="315734"/>
                    </a:lnTo>
                    <a:lnTo>
                      <a:pt x="2490089" y="333756"/>
                    </a:lnTo>
                    <a:lnTo>
                      <a:pt x="2493734" y="315734"/>
                    </a:lnTo>
                    <a:lnTo>
                      <a:pt x="2503690" y="301091"/>
                    </a:lnTo>
                    <a:lnTo>
                      <a:pt x="2518422" y="291261"/>
                    </a:lnTo>
                    <a:lnTo>
                      <a:pt x="2536444" y="287655"/>
                    </a:lnTo>
                    <a:close/>
                  </a:path>
                  <a:path w="2802890" h="669289">
                    <a:moveTo>
                      <a:pt x="2701544" y="601218"/>
                    </a:moveTo>
                    <a:lnTo>
                      <a:pt x="2650109" y="549656"/>
                    </a:lnTo>
                    <a:lnTo>
                      <a:pt x="2644521" y="549656"/>
                    </a:lnTo>
                    <a:lnTo>
                      <a:pt x="2641473" y="553212"/>
                    </a:lnTo>
                    <a:lnTo>
                      <a:pt x="2637917" y="556260"/>
                    </a:lnTo>
                    <a:lnTo>
                      <a:pt x="2637917" y="561848"/>
                    </a:lnTo>
                    <a:lnTo>
                      <a:pt x="2685923" y="609854"/>
                    </a:lnTo>
                    <a:lnTo>
                      <a:pt x="2687447" y="611505"/>
                    </a:lnTo>
                    <a:lnTo>
                      <a:pt x="2689733" y="612648"/>
                    </a:lnTo>
                    <a:lnTo>
                      <a:pt x="2694178" y="612648"/>
                    </a:lnTo>
                    <a:lnTo>
                      <a:pt x="2696464" y="611505"/>
                    </a:lnTo>
                    <a:lnTo>
                      <a:pt x="2697988" y="609854"/>
                    </a:lnTo>
                    <a:lnTo>
                      <a:pt x="2701544" y="606679"/>
                    </a:lnTo>
                    <a:lnTo>
                      <a:pt x="2701544" y="601218"/>
                    </a:lnTo>
                    <a:close/>
                  </a:path>
                  <a:path w="2802890" h="669289">
                    <a:moveTo>
                      <a:pt x="2701544" y="108331"/>
                    </a:moveTo>
                    <a:lnTo>
                      <a:pt x="2697988" y="104775"/>
                    </a:lnTo>
                    <a:lnTo>
                      <a:pt x="2694940" y="101219"/>
                    </a:lnTo>
                    <a:lnTo>
                      <a:pt x="2689352" y="101219"/>
                    </a:lnTo>
                    <a:lnTo>
                      <a:pt x="2685923" y="104775"/>
                    </a:lnTo>
                    <a:lnTo>
                      <a:pt x="2637917" y="152908"/>
                    </a:lnTo>
                    <a:lnTo>
                      <a:pt x="2637917" y="158369"/>
                    </a:lnTo>
                    <a:lnTo>
                      <a:pt x="2641473" y="161544"/>
                    </a:lnTo>
                    <a:lnTo>
                      <a:pt x="2642997" y="163068"/>
                    </a:lnTo>
                    <a:lnTo>
                      <a:pt x="2645410" y="164338"/>
                    </a:lnTo>
                    <a:lnTo>
                      <a:pt x="2649728" y="164338"/>
                    </a:lnTo>
                    <a:lnTo>
                      <a:pt x="2652014" y="163068"/>
                    </a:lnTo>
                    <a:lnTo>
                      <a:pt x="2653665" y="161544"/>
                    </a:lnTo>
                    <a:lnTo>
                      <a:pt x="2701544" y="113411"/>
                    </a:lnTo>
                    <a:lnTo>
                      <a:pt x="2701544" y="108331"/>
                    </a:lnTo>
                    <a:close/>
                  </a:path>
                  <a:path w="2802890" h="669289">
                    <a:moveTo>
                      <a:pt x="2802636" y="352679"/>
                    </a:moveTo>
                    <a:lnTo>
                      <a:pt x="2798699" y="348615"/>
                    </a:lnTo>
                    <a:lnTo>
                      <a:pt x="2726309" y="348615"/>
                    </a:lnTo>
                    <a:lnTo>
                      <a:pt x="2722372" y="352679"/>
                    </a:lnTo>
                    <a:lnTo>
                      <a:pt x="2722372" y="362077"/>
                    </a:lnTo>
                    <a:lnTo>
                      <a:pt x="2726309" y="366014"/>
                    </a:lnTo>
                    <a:lnTo>
                      <a:pt x="2798699" y="366014"/>
                    </a:lnTo>
                    <a:lnTo>
                      <a:pt x="2802636" y="362077"/>
                    </a:lnTo>
                    <a:lnTo>
                      <a:pt x="2802636" y="352679"/>
                    </a:lnTo>
                    <a:close/>
                  </a:path>
                </a:pathLst>
              </a:custGeom>
              <a:solidFill>
                <a:srgbClr val="03522C"/>
              </a:solidFill>
            </p:spPr>
            <p:txBody>
              <a:bodyPr wrap="square" lIns="0" tIns="0" rIns="0" bIns="0" rtlCol="0"/>
              <a:lstStyle/>
              <a:p>
                <a:endParaRPr>
                  <a:ea typeface="Microsoft YaHei" panose="020B0503020204020204" pitchFamily="34" charset="-122"/>
                </a:endParaRPr>
              </a:p>
            </p:txBody>
          </p:sp>
          <p:sp>
            <p:nvSpPr>
              <p:cNvPr id="65" name="object 65"/>
              <p:cNvSpPr/>
              <p:nvPr/>
            </p:nvSpPr>
            <p:spPr>
              <a:xfrm>
                <a:off x="6633972" y="4904232"/>
                <a:ext cx="474345" cy="408940"/>
              </a:xfrm>
              <a:custGeom>
                <a:avLst/>
                <a:gdLst/>
                <a:ahLst/>
                <a:cxnLst/>
                <a:rect l="l" t="t" r="r" b="b"/>
                <a:pathLst>
                  <a:path w="474345" h="408939">
                    <a:moveTo>
                      <a:pt x="239775" y="408051"/>
                    </a:moveTo>
                    <a:lnTo>
                      <a:pt x="235838" y="408051"/>
                    </a:lnTo>
                    <a:lnTo>
                      <a:pt x="236220" y="408432"/>
                    </a:lnTo>
                    <a:lnTo>
                      <a:pt x="239395" y="408432"/>
                    </a:lnTo>
                    <a:lnTo>
                      <a:pt x="239775" y="408051"/>
                    </a:lnTo>
                    <a:close/>
                  </a:path>
                  <a:path w="474345" h="408939">
                    <a:moveTo>
                      <a:pt x="241300" y="407670"/>
                    </a:moveTo>
                    <a:lnTo>
                      <a:pt x="234187" y="407670"/>
                    </a:lnTo>
                    <a:lnTo>
                      <a:pt x="234569" y="408051"/>
                    </a:lnTo>
                    <a:lnTo>
                      <a:pt x="240919" y="408051"/>
                    </a:lnTo>
                    <a:lnTo>
                      <a:pt x="241300" y="407670"/>
                    </a:lnTo>
                    <a:close/>
                  </a:path>
                  <a:path w="474345" h="408939">
                    <a:moveTo>
                      <a:pt x="241680" y="407289"/>
                    </a:moveTo>
                    <a:lnTo>
                      <a:pt x="233806" y="407289"/>
                    </a:lnTo>
                    <a:lnTo>
                      <a:pt x="233806" y="407670"/>
                    </a:lnTo>
                    <a:lnTo>
                      <a:pt x="241680" y="407670"/>
                    </a:lnTo>
                    <a:lnTo>
                      <a:pt x="241680" y="407289"/>
                    </a:lnTo>
                    <a:close/>
                  </a:path>
                  <a:path w="474345" h="408939">
                    <a:moveTo>
                      <a:pt x="472821" y="148082"/>
                    </a:moveTo>
                    <a:lnTo>
                      <a:pt x="1143" y="148082"/>
                    </a:lnTo>
                    <a:lnTo>
                      <a:pt x="1143" y="148463"/>
                    </a:lnTo>
                    <a:lnTo>
                      <a:pt x="1904" y="149225"/>
                    </a:lnTo>
                    <a:lnTo>
                      <a:pt x="1904" y="149606"/>
                    </a:lnTo>
                    <a:lnTo>
                      <a:pt x="231521" y="405638"/>
                    </a:lnTo>
                    <a:lnTo>
                      <a:pt x="232282" y="406400"/>
                    </a:lnTo>
                    <a:lnTo>
                      <a:pt x="232663" y="406908"/>
                    </a:lnTo>
                    <a:lnTo>
                      <a:pt x="233045" y="407289"/>
                    </a:lnTo>
                    <a:lnTo>
                      <a:pt x="242443" y="407289"/>
                    </a:lnTo>
                    <a:lnTo>
                      <a:pt x="243712" y="406019"/>
                    </a:lnTo>
                    <a:lnTo>
                      <a:pt x="244094" y="406019"/>
                    </a:lnTo>
                    <a:lnTo>
                      <a:pt x="244094" y="405638"/>
                    </a:lnTo>
                    <a:lnTo>
                      <a:pt x="273155" y="372999"/>
                    </a:lnTo>
                    <a:lnTo>
                      <a:pt x="237744" y="372999"/>
                    </a:lnTo>
                    <a:lnTo>
                      <a:pt x="233899" y="361950"/>
                    </a:lnTo>
                    <a:lnTo>
                      <a:pt x="215773" y="361950"/>
                    </a:lnTo>
                    <a:lnTo>
                      <a:pt x="27939" y="152400"/>
                    </a:lnTo>
                    <a:lnTo>
                      <a:pt x="469571" y="152400"/>
                    </a:lnTo>
                    <a:lnTo>
                      <a:pt x="472058" y="149606"/>
                    </a:lnTo>
                    <a:lnTo>
                      <a:pt x="472058" y="149225"/>
                    </a:lnTo>
                    <a:lnTo>
                      <a:pt x="472821" y="148463"/>
                    </a:lnTo>
                    <a:lnTo>
                      <a:pt x="472821" y="148082"/>
                    </a:lnTo>
                    <a:close/>
                  </a:path>
                  <a:path w="474345" h="408939">
                    <a:moveTo>
                      <a:pt x="331343" y="152400"/>
                    </a:moveTo>
                    <a:lnTo>
                      <a:pt x="312800" y="152400"/>
                    </a:lnTo>
                    <a:lnTo>
                      <a:pt x="237744" y="372999"/>
                    </a:lnTo>
                    <a:lnTo>
                      <a:pt x="273155" y="372999"/>
                    </a:lnTo>
                    <a:lnTo>
                      <a:pt x="282992" y="361950"/>
                    </a:lnTo>
                    <a:lnTo>
                      <a:pt x="259714" y="361950"/>
                    </a:lnTo>
                    <a:lnTo>
                      <a:pt x="331343" y="152400"/>
                    </a:lnTo>
                    <a:close/>
                  </a:path>
                  <a:path w="474345" h="408939">
                    <a:moveTo>
                      <a:pt x="201549" y="268986"/>
                    </a:moveTo>
                    <a:lnTo>
                      <a:pt x="198604" y="275006"/>
                    </a:lnTo>
                    <a:lnTo>
                      <a:pt x="196183" y="281622"/>
                    </a:lnTo>
                    <a:lnTo>
                      <a:pt x="194190" y="288524"/>
                    </a:lnTo>
                    <a:lnTo>
                      <a:pt x="192531" y="295402"/>
                    </a:lnTo>
                    <a:lnTo>
                      <a:pt x="215773" y="361950"/>
                    </a:lnTo>
                    <a:lnTo>
                      <a:pt x="233899" y="361950"/>
                    </a:lnTo>
                    <a:lnTo>
                      <a:pt x="201549" y="268986"/>
                    </a:lnTo>
                    <a:close/>
                  </a:path>
                  <a:path w="474345" h="408939">
                    <a:moveTo>
                      <a:pt x="469571" y="152400"/>
                    </a:moveTo>
                    <a:lnTo>
                      <a:pt x="446024" y="152400"/>
                    </a:lnTo>
                    <a:lnTo>
                      <a:pt x="259714" y="361950"/>
                    </a:lnTo>
                    <a:lnTo>
                      <a:pt x="282992" y="361950"/>
                    </a:lnTo>
                    <a:lnTo>
                      <a:pt x="469571" y="152400"/>
                    </a:lnTo>
                    <a:close/>
                  </a:path>
                  <a:path w="474345" h="408939">
                    <a:moveTo>
                      <a:pt x="161544" y="152400"/>
                    </a:moveTo>
                    <a:lnTo>
                      <a:pt x="143509" y="152400"/>
                    </a:lnTo>
                    <a:lnTo>
                      <a:pt x="160400" y="201676"/>
                    </a:lnTo>
                    <a:lnTo>
                      <a:pt x="163411" y="195865"/>
                    </a:lnTo>
                    <a:lnTo>
                      <a:pt x="166004" y="189769"/>
                    </a:lnTo>
                    <a:lnTo>
                      <a:pt x="168241" y="183530"/>
                    </a:lnTo>
                    <a:lnTo>
                      <a:pt x="170179" y="177292"/>
                    </a:lnTo>
                    <a:lnTo>
                      <a:pt x="161544" y="152400"/>
                    </a:lnTo>
                    <a:close/>
                  </a:path>
                  <a:path w="474345" h="408939">
                    <a:moveTo>
                      <a:pt x="473963" y="141351"/>
                    </a:moveTo>
                    <a:lnTo>
                      <a:pt x="0" y="141351"/>
                    </a:lnTo>
                    <a:lnTo>
                      <a:pt x="0" y="146177"/>
                    </a:lnTo>
                    <a:lnTo>
                      <a:pt x="380" y="146558"/>
                    </a:lnTo>
                    <a:lnTo>
                      <a:pt x="380" y="146939"/>
                    </a:lnTo>
                    <a:lnTo>
                      <a:pt x="761" y="147320"/>
                    </a:lnTo>
                    <a:lnTo>
                      <a:pt x="761" y="148082"/>
                    </a:lnTo>
                    <a:lnTo>
                      <a:pt x="473201" y="148082"/>
                    </a:lnTo>
                    <a:lnTo>
                      <a:pt x="473201" y="147320"/>
                    </a:lnTo>
                    <a:lnTo>
                      <a:pt x="473582" y="146939"/>
                    </a:lnTo>
                    <a:lnTo>
                      <a:pt x="473582" y="146558"/>
                    </a:lnTo>
                    <a:lnTo>
                      <a:pt x="473963" y="146177"/>
                    </a:lnTo>
                    <a:lnTo>
                      <a:pt x="473963" y="141351"/>
                    </a:lnTo>
                    <a:close/>
                  </a:path>
                  <a:path w="474345" h="408939">
                    <a:moveTo>
                      <a:pt x="378078" y="3175"/>
                    </a:moveTo>
                    <a:lnTo>
                      <a:pt x="95884" y="3175"/>
                    </a:lnTo>
                    <a:lnTo>
                      <a:pt x="95884" y="3556"/>
                    </a:lnTo>
                    <a:lnTo>
                      <a:pt x="1524" y="138684"/>
                    </a:lnTo>
                    <a:lnTo>
                      <a:pt x="761" y="139446"/>
                    </a:lnTo>
                    <a:lnTo>
                      <a:pt x="761" y="140208"/>
                    </a:lnTo>
                    <a:lnTo>
                      <a:pt x="380" y="140589"/>
                    </a:lnTo>
                    <a:lnTo>
                      <a:pt x="380" y="141351"/>
                    </a:lnTo>
                    <a:lnTo>
                      <a:pt x="473582" y="141351"/>
                    </a:lnTo>
                    <a:lnTo>
                      <a:pt x="473582" y="140589"/>
                    </a:lnTo>
                    <a:lnTo>
                      <a:pt x="473201" y="140208"/>
                    </a:lnTo>
                    <a:lnTo>
                      <a:pt x="473201" y="139446"/>
                    </a:lnTo>
                    <a:lnTo>
                      <a:pt x="472439" y="138684"/>
                    </a:lnTo>
                    <a:lnTo>
                      <a:pt x="469956" y="135128"/>
                    </a:lnTo>
                    <a:lnTo>
                      <a:pt x="25146" y="135128"/>
                    </a:lnTo>
                    <a:lnTo>
                      <a:pt x="100202" y="27178"/>
                    </a:lnTo>
                    <a:lnTo>
                      <a:pt x="118616" y="27178"/>
                    </a:lnTo>
                    <a:lnTo>
                      <a:pt x="115188" y="17272"/>
                    </a:lnTo>
                    <a:lnTo>
                      <a:pt x="387656" y="17272"/>
                    </a:lnTo>
                    <a:lnTo>
                      <a:pt x="378078" y="3556"/>
                    </a:lnTo>
                    <a:lnTo>
                      <a:pt x="378078" y="3175"/>
                    </a:lnTo>
                    <a:close/>
                  </a:path>
                  <a:path w="474345" h="408939">
                    <a:moveTo>
                      <a:pt x="118616" y="27178"/>
                    </a:moveTo>
                    <a:lnTo>
                      <a:pt x="100202" y="27178"/>
                    </a:lnTo>
                    <a:lnTo>
                      <a:pt x="137541" y="135128"/>
                    </a:lnTo>
                    <a:lnTo>
                      <a:pt x="165480" y="135128"/>
                    </a:lnTo>
                    <a:lnTo>
                      <a:pt x="172614" y="124079"/>
                    </a:lnTo>
                    <a:lnTo>
                      <a:pt x="152146" y="124079"/>
                    </a:lnTo>
                    <a:lnTo>
                      <a:pt x="118616" y="27178"/>
                    </a:lnTo>
                    <a:close/>
                  </a:path>
                  <a:path w="474345" h="408939">
                    <a:moveTo>
                      <a:pt x="307721" y="101219"/>
                    </a:moveTo>
                    <a:lnTo>
                      <a:pt x="303022" y="105156"/>
                    </a:lnTo>
                    <a:lnTo>
                      <a:pt x="299466" y="110236"/>
                    </a:lnTo>
                    <a:lnTo>
                      <a:pt x="296672" y="116205"/>
                    </a:lnTo>
                    <a:lnTo>
                      <a:pt x="308863" y="135128"/>
                    </a:lnTo>
                    <a:lnTo>
                      <a:pt x="337184" y="135128"/>
                    </a:lnTo>
                    <a:lnTo>
                      <a:pt x="340941" y="124079"/>
                    </a:lnTo>
                    <a:lnTo>
                      <a:pt x="322706" y="124079"/>
                    </a:lnTo>
                    <a:lnTo>
                      <a:pt x="307721" y="101219"/>
                    </a:lnTo>
                    <a:close/>
                  </a:path>
                  <a:path w="474345" h="408939">
                    <a:moveTo>
                      <a:pt x="394840" y="27559"/>
                    </a:moveTo>
                    <a:lnTo>
                      <a:pt x="373760" y="27559"/>
                    </a:lnTo>
                    <a:lnTo>
                      <a:pt x="448818" y="135128"/>
                    </a:lnTo>
                    <a:lnTo>
                      <a:pt x="469956" y="135128"/>
                    </a:lnTo>
                    <a:lnTo>
                      <a:pt x="394840" y="27559"/>
                    </a:lnTo>
                    <a:close/>
                  </a:path>
                  <a:path w="474345" h="408939">
                    <a:moveTo>
                      <a:pt x="253110" y="17272"/>
                    </a:moveTo>
                    <a:lnTo>
                      <a:pt x="221233" y="17272"/>
                    </a:lnTo>
                    <a:lnTo>
                      <a:pt x="152146" y="124079"/>
                    </a:lnTo>
                    <a:lnTo>
                      <a:pt x="172614" y="124079"/>
                    </a:lnTo>
                    <a:lnTo>
                      <a:pt x="236981" y="24384"/>
                    </a:lnTo>
                    <a:lnTo>
                      <a:pt x="257682" y="24384"/>
                    </a:lnTo>
                    <a:lnTo>
                      <a:pt x="253110" y="17272"/>
                    </a:lnTo>
                    <a:close/>
                  </a:path>
                  <a:path w="474345" h="408939">
                    <a:moveTo>
                      <a:pt x="387656" y="17272"/>
                    </a:moveTo>
                    <a:lnTo>
                      <a:pt x="358775" y="17272"/>
                    </a:lnTo>
                    <a:lnTo>
                      <a:pt x="322706" y="124079"/>
                    </a:lnTo>
                    <a:lnTo>
                      <a:pt x="340941" y="124079"/>
                    </a:lnTo>
                    <a:lnTo>
                      <a:pt x="373760" y="27559"/>
                    </a:lnTo>
                    <a:lnTo>
                      <a:pt x="394840" y="27559"/>
                    </a:lnTo>
                    <a:lnTo>
                      <a:pt x="387656" y="17272"/>
                    </a:lnTo>
                    <a:close/>
                  </a:path>
                  <a:path w="474345" h="408939">
                    <a:moveTo>
                      <a:pt x="257682" y="24384"/>
                    </a:moveTo>
                    <a:lnTo>
                      <a:pt x="236981" y="24384"/>
                    </a:lnTo>
                    <a:lnTo>
                      <a:pt x="253492" y="50038"/>
                    </a:lnTo>
                    <a:lnTo>
                      <a:pt x="258191" y="45720"/>
                    </a:lnTo>
                    <a:lnTo>
                      <a:pt x="261747" y="40513"/>
                    </a:lnTo>
                    <a:lnTo>
                      <a:pt x="264541" y="35052"/>
                    </a:lnTo>
                    <a:lnTo>
                      <a:pt x="257682" y="24384"/>
                    </a:lnTo>
                    <a:close/>
                  </a:path>
                  <a:path w="474345" h="408939">
                    <a:moveTo>
                      <a:pt x="377698" y="2794"/>
                    </a:moveTo>
                    <a:lnTo>
                      <a:pt x="96266" y="2794"/>
                    </a:lnTo>
                    <a:lnTo>
                      <a:pt x="96266" y="3175"/>
                    </a:lnTo>
                    <a:lnTo>
                      <a:pt x="377698" y="3175"/>
                    </a:lnTo>
                    <a:lnTo>
                      <a:pt x="377698" y="2794"/>
                    </a:lnTo>
                    <a:close/>
                  </a:path>
                  <a:path w="474345" h="408939">
                    <a:moveTo>
                      <a:pt x="377317" y="2413"/>
                    </a:moveTo>
                    <a:lnTo>
                      <a:pt x="96647" y="2413"/>
                    </a:lnTo>
                    <a:lnTo>
                      <a:pt x="96647" y="2794"/>
                    </a:lnTo>
                    <a:lnTo>
                      <a:pt x="377317" y="2794"/>
                    </a:lnTo>
                    <a:lnTo>
                      <a:pt x="377317" y="2413"/>
                    </a:lnTo>
                    <a:close/>
                  </a:path>
                  <a:path w="474345" h="408939">
                    <a:moveTo>
                      <a:pt x="376935" y="2032"/>
                    </a:moveTo>
                    <a:lnTo>
                      <a:pt x="97027" y="2032"/>
                    </a:lnTo>
                    <a:lnTo>
                      <a:pt x="97027" y="2413"/>
                    </a:lnTo>
                    <a:lnTo>
                      <a:pt x="376935" y="2413"/>
                    </a:lnTo>
                    <a:lnTo>
                      <a:pt x="376935" y="2032"/>
                    </a:lnTo>
                    <a:close/>
                  </a:path>
                  <a:path w="474345" h="408939">
                    <a:moveTo>
                      <a:pt x="376554" y="1524"/>
                    </a:moveTo>
                    <a:lnTo>
                      <a:pt x="97408" y="1524"/>
                    </a:lnTo>
                    <a:lnTo>
                      <a:pt x="97408" y="2032"/>
                    </a:lnTo>
                    <a:lnTo>
                      <a:pt x="376554" y="2032"/>
                    </a:lnTo>
                    <a:lnTo>
                      <a:pt x="376554" y="1524"/>
                    </a:lnTo>
                    <a:close/>
                  </a:path>
                  <a:path w="474345" h="408939">
                    <a:moveTo>
                      <a:pt x="376047" y="1143"/>
                    </a:moveTo>
                    <a:lnTo>
                      <a:pt x="97917" y="1143"/>
                    </a:lnTo>
                    <a:lnTo>
                      <a:pt x="97917" y="1524"/>
                    </a:lnTo>
                    <a:lnTo>
                      <a:pt x="376047" y="1524"/>
                    </a:lnTo>
                    <a:lnTo>
                      <a:pt x="376047" y="1143"/>
                    </a:lnTo>
                    <a:close/>
                  </a:path>
                  <a:path w="474345" h="408939">
                    <a:moveTo>
                      <a:pt x="375284" y="762"/>
                    </a:moveTo>
                    <a:lnTo>
                      <a:pt x="98678" y="762"/>
                    </a:lnTo>
                    <a:lnTo>
                      <a:pt x="98678" y="1143"/>
                    </a:lnTo>
                    <a:lnTo>
                      <a:pt x="375666" y="1143"/>
                    </a:lnTo>
                    <a:lnTo>
                      <a:pt x="375284" y="762"/>
                    </a:lnTo>
                    <a:close/>
                  </a:path>
                  <a:path w="474345" h="408939">
                    <a:moveTo>
                      <a:pt x="374523" y="381"/>
                    </a:moveTo>
                    <a:lnTo>
                      <a:pt x="99441" y="381"/>
                    </a:lnTo>
                    <a:lnTo>
                      <a:pt x="99441" y="762"/>
                    </a:lnTo>
                    <a:lnTo>
                      <a:pt x="374523" y="762"/>
                    </a:lnTo>
                    <a:lnTo>
                      <a:pt x="374523" y="381"/>
                    </a:lnTo>
                    <a:close/>
                  </a:path>
                  <a:path w="474345" h="408939">
                    <a:moveTo>
                      <a:pt x="373379" y="0"/>
                    </a:moveTo>
                    <a:lnTo>
                      <a:pt x="100583" y="0"/>
                    </a:lnTo>
                    <a:lnTo>
                      <a:pt x="100202" y="381"/>
                    </a:lnTo>
                    <a:lnTo>
                      <a:pt x="373760" y="381"/>
                    </a:lnTo>
                    <a:lnTo>
                      <a:pt x="373379" y="0"/>
                    </a:lnTo>
                    <a:close/>
                  </a:path>
                </a:pathLst>
              </a:custGeom>
              <a:solidFill>
                <a:srgbClr val="29B974"/>
              </a:solidFill>
            </p:spPr>
            <p:txBody>
              <a:bodyPr wrap="square" lIns="0" tIns="0" rIns="0" bIns="0" rtlCol="0"/>
              <a:lstStyle/>
              <a:p>
                <a:endParaRPr>
                  <a:ea typeface="Microsoft YaHei" panose="020B0503020204020204" pitchFamily="34" charset="-122"/>
                </a:endParaRPr>
              </a:p>
            </p:txBody>
          </p:sp>
          <p:sp>
            <p:nvSpPr>
              <p:cNvPr id="66" name="object 66"/>
              <p:cNvSpPr/>
              <p:nvPr/>
            </p:nvSpPr>
            <p:spPr>
              <a:xfrm>
                <a:off x="4111751" y="3456431"/>
                <a:ext cx="370840" cy="376555"/>
              </a:xfrm>
              <a:custGeom>
                <a:avLst/>
                <a:gdLst/>
                <a:ahLst/>
                <a:cxnLst/>
                <a:rect l="l" t="t" r="r" b="b"/>
                <a:pathLst>
                  <a:path w="370839" h="376554">
                    <a:moveTo>
                      <a:pt x="147320" y="258952"/>
                    </a:moveTo>
                    <a:lnTo>
                      <a:pt x="48387" y="258952"/>
                    </a:lnTo>
                    <a:lnTo>
                      <a:pt x="48387" y="274700"/>
                    </a:lnTo>
                    <a:lnTo>
                      <a:pt x="141986" y="274700"/>
                    </a:lnTo>
                    <a:lnTo>
                      <a:pt x="157803" y="291234"/>
                    </a:lnTo>
                    <a:lnTo>
                      <a:pt x="173561" y="308197"/>
                    </a:lnTo>
                    <a:lnTo>
                      <a:pt x="216804" y="355806"/>
                    </a:lnTo>
                    <a:lnTo>
                      <a:pt x="222347" y="361832"/>
                    </a:lnTo>
                    <a:lnTo>
                      <a:pt x="226568" y="366013"/>
                    </a:lnTo>
                    <a:lnTo>
                      <a:pt x="233045" y="372871"/>
                    </a:lnTo>
                    <a:lnTo>
                      <a:pt x="239522" y="376427"/>
                    </a:lnTo>
                    <a:lnTo>
                      <a:pt x="248412" y="376427"/>
                    </a:lnTo>
                    <a:lnTo>
                      <a:pt x="249555" y="376046"/>
                    </a:lnTo>
                    <a:lnTo>
                      <a:pt x="258825" y="373887"/>
                    </a:lnTo>
                    <a:lnTo>
                      <a:pt x="262763" y="363219"/>
                    </a:lnTo>
                    <a:lnTo>
                      <a:pt x="263144" y="362457"/>
                    </a:lnTo>
                    <a:lnTo>
                      <a:pt x="263144" y="360679"/>
                    </a:lnTo>
                    <a:lnTo>
                      <a:pt x="245237" y="360679"/>
                    </a:lnTo>
                    <a:lnTo>
                      <a:pt x="242697" y="360044"/>
                    </a:lnTo>
                    <a:lnTo>
                      <a:pt x="233729" y="350885"/>
                    </a:lnTo>
                    <a:lnTo>
                      <a:pt x="228298" y="345090"/>
                    </a:lnTo>
                    <a:lnTo>
                      <a:pt x="221652" y="337819"/>
                    </a:lnTo>
                    <a:lnTo>
                      <a:pt x="199774" y="313461"/>
                    </a:lnTo>
                    <a:lnTo>
                      <a:pt x="183959" y="296148"/>
                    </a:lnTo>
                    <a:lnTo>
                      <a:pt x="167382" y="278429"/>
                    </a:lnTo>
                    <a:lnTo>
                      <a:pt x="150875" y="261365"/>
                    </a:lnTo>
                    <a:lnTo>
                      <a:pt x="149478" y="259968"/>
                    </a:lnTo>
                    <a:lnTo>
                      <a:pt x="147320" y="258952"/>
                    </a:lnTo>
                    <a:close/>
                  </a:path>
                  <a:path w="370839" h="376554">
                    <a:moveTo>
                      <a:pt x="370332" y="15747"/>
                    </a:moveTo>
                    <a:lnTo>
                      <a:pt x="354584" y="15747"/>
                    </a:lnTo>
                    <a:lnTo>
                      <a:pt x="354584" y="258952"/>
                    </a:lnTo>
                    <a:lnTo>
                      <a:pt x="250951" y="258952"/>
                    </a:lnTo>
                    <a:lnTo>
                      <a:pt x="247396" y="262508"/>
                    </a:lnTo>
                    <a:lnTo>
                      <a:pt x="247396" y="358901"/>
                    </a:lnTo>
                    <a:lnTo>
                      <a:pt x="247014" y="360044"/>
                    </a:lnTo>
                    <a:lnTo>
                      <a:pt x="246252" y="360679"/>
                    </a:lnTo>
                    <a:lnTo>
                      <a:pt x="263144" y="360679"/>
                    </a:lnTo>
                    <a:lnTo>
                      <a:pt x="263144" y="274700"/>
                    </a:lnTo>
                    <a:lnTo>
                      <a:pt x="363220" y="274700"/>
                    </a:lnTo>
                    <a:lnTo>
                      <a:pt x="370332" y="267842"/>
                    </a:lnTo>
                    <a:lnTo>
                      <a:pt x="370332" y="15747"/>
                    </a:lnTo>
                    <a:close/>
                  </a:path>
                  <a:path w="370839" h="376554">
                    <a:moveTo>
                      <a:pt x="363220" y="0"/>
                    </a:moveTo>
                    <a:lnTo>
                      <a:pt x="7112" y="0"/>
                    </a:lnTo>
                    <a:lnTo>
                      <a:pt x="0" y="7112"/>
                    </a:lnTo>
                    <a:lnTo>
                      <a:pt x="0" y="91439"/>
                    </a:lnTo>
                    <a:lnTo>
                      <a:pt x="15748" y="91439"/>
                    </a:lnTo>
                    <a:lnTo>
                      <a:pt x="15748" y="15747"/>
                    </a:lnTo>
                    <a:lnTo>
                      <a:pt x="370332" y="15747"/>
                    </a:lnTo>
                    <a:lnTo>
                      <a:pt x="370332" y="7112"/>
                    </a:lnTo>
                    <a:lnTo>
                      <a:pt x="363220" y="0"/>
                    </a:lnTo>
                    <a:close/>
                  </a:path>
                </a:pathLst>
              </a:custGeom>
              <a:solidFill>
                <a:srgbClr val="03522C"/>
              </a:solidFill>
            </p:spPr>
            <p:txBody>
              <a:bodyPr wrap="square" lIns="0" tIns="0" rIns="0" bIns="0" rtlCol="0"/>
              <a:lstStyle/>
              <a:p>
                <a:endParaRPr>
                  <a:ea typeface="Microsoft YaHei" panose="020B0503020204020204" pitchFamily="34" charset="-122"/>
                </a:endParaRPr>
              </a:p>
            </p:txBody>
          </p:sp>
          <p:sp>
            <p:nvSpPr>
              <p:cNvPr id="67" name="object 67"/>
              <p:cNvSpPr/>
              <p:nvPr/>
            </p:nvSpPr>
            <p:spPr>
              <a:xfrm>
                <a:off x="3774947" y="3497579"/>
                <a:ext cx="628015" cy="443865"/>
              </a:xfrm>
              <a:custGeom>
                <a:avLst/>
                <a:gdLst/>
                <a:ahLst/>
                <a:cxnLst/>
                <a:rect l="l" t="t" r="r" b="b"/>
                <a:pathLst>
                  <a:path w="628014" h="443864">
                    <a:moveTo>
                      <a:pt x="228218" y="341376"/>
                    </a:moveTo>
                    <a:lnTo>
                      <a:pt x="107061" y="341376"/>
                    </a:lnTo>
                    <a:lnTo>
                      <a:pt x="107061" y="429514"/>
                    </a:lnTo>
                    <a:lnTo>
                      <a:pt x="107441" y="430276"/>
                    </a:lnTo>
                    <a:lnTo>
                      <a:pt x="111378" y="440944"/>
                    </a:lnTo>
                    <a:lnTo>
                      <a:pt x="120650" y="443103"/>
                    </a:lnTo>
                    <a:lnTo>
                      <a:pt x="122174" y="443484"/>
                    </a:lnTo>
                    <a:lnTo>
                      <a:pt x="130682" y="443484"/>
                    </a:lnTo>
                    <a:lnTo>
                      <a:pt x="137160" y="440309"/>
                    </a:lnTo>
                    <a:lnTo>
                      <a:pt x="143637" y="433451"/>
                    </a:lnTo>
                    <a:lnTo>
                      <a:pt x="147857" y="429029"/>
                    </a:lnTo>
                    <a:lnTo>
                      <a:pt x="153400" y="422941"/>
                    </a:lnTo>
                    <a:lnTo>
                      <a:pt x="168021" y="406527"/>
                    </a:lnTo>
                    <a:lnTo>
                      <a:pt x="196595" y="375046"/>
                    </a:lnTo>
                    <a:lnTo>
                      <a:pt x="212383" y="358003"/>
                    </a:lnTo>
                    <a:lnTo>
                      <a:pt x="228218" y="341376"/>
                    </a:lnTo>
                    <a:close/>
                  </a:path>
                  <a:path w="628014" h="443864">
                    <a:moveTo>
                      <a:pt x="362838" y="65912"/>
                    </a:moveTo>
                    <a:lnTo>
                      <a:pt x="7112" y="65912"/>
                    </a:lnTo>
                    <a:lnTo>
                      <a:pt x="0" y="73025"/>
                    </a:lnTo>
                    <a:lnTo>
                      <a:pt x="0" y="334645"/>
                    </a:lnTo>
                    <a:lnTo>
                      <a:pt x="7112" y="341376"/>
                    </a:lnTo>
                    <a:lnTo>
                      <a:pt x="362838" y="341376"/>
                    </a:lnTo>
                    <a:lnTo>
                      <a:pt x="369950" y="334645"/>
                    </a:lnTo>
                    <a:lnTo>
                      <a:pt x="369950" y="263652"/>
                    </a:lnTo>
                    <a:lnTo>
                      <a:pt x="67690" y="263652"/>
                    </a:lnTo>
                    <a:lnTo>
                      <a:pt x="64135" y="260477"/>
                    </a:lnTo>
                    <a:lnTo>
                      <a:pt x="64135" y="251460"/>
                    </a:lnTo>
                    <a:lnTo>
                      <a:pt x="67690" y="247904"/>
                    </a:lnTo>
                    <a:lnTo>
                      <a:pt x="369950" y="247904"/>
                    </a:lnTo>
                    <a:lnTo>
                      <a:pt x="369950" y="214630"/>
                    </a:lnTo>
                    <a:lnTo>
                      <a:pt x="67690" y="214630"/>
                    </a:lnTo>
                    <a:lnTo>
                      <a:pt x="64135" y="210947"/>
                    </a:lnTo>
                    <a:lnTo>
                      <a:pt x="64135" y="202057"/>
                    </a:lnTo>
                    <a:lnTo>
                      <a:pt x="67690" y="198755"/>
                    </a:lnTo>
                    <a:lnTo>
                      <a:pt x="369950" y="198755"/>
                    </a:lnTo>
                    <a:lnTo>
                      <a:pt x="369950" y="165862"/>
                    </a:lnTo>
                    <a:lnTo>
                      <a:pt x="67690" y="165862"/>
                    </a:lnTo>
                    <a:lnTo>
                      <a:pt x="64135" y="162306"/>
                    </a:lnTo>
                    <a:lnTo>
                      <a:pt x="64135" y="153670"/>
                    </a:lnTo>
                    <a:lnTo>
                      <a:pt x="67690" y="150114"/>
                    </a:lnTo>
                    <a:lnTo>
                      <a:pt x="369950" y="150114"/>
                    </a:lnTo>
                    <a:lnTo>
                      <a:pt x="369950" y="73025"/>
                    </a:lnTo>
                    <a:lnTo>
                      <a:pt x="362838" y="65912"/>
                    </a:lnTo>
                    <a:close/>
                  </a:path>
                  <a:path w="628014" h="443864">
                    <a:moveTo>
                      <a:pt x="369950" y="247904"/>
                    </a:moveTo>
                    <a:lnTo>
                      <a:pt x="302260" y="247904"/>
                    </a:lnTo>
                    <a:lnTo>
                      <a:pt x="305942" y="251460"/>
                    </a:lnTo>
                    <a:lnTo>
                      <a:pt x="305942" y="260477"/>
                    </a:lnTo>
                    <a:lnTo>
                      <a:pt x="302260" y="263652"/>
                    </a:lnTo>
                    <a:lnTo>
                      <a:pt x="369950" y="263652"/>
                    </a:lnTo>
                    <a:lnTo>
                      <a:pt x="369950" y="247904"/>
                    </a:lnTo>
                    <a:close/>
                  </a:path>
                  <a:path w="628014" h="443864">
                    <a:moveTo>
                      <a:pt x="369950" y="198755"/>
                    </a:moveTo>
                    <a:lnTo>
                      <a:pt x="302260" y="198755"/>
                    </a:lnTo>
                    <a:lnTo>
                      <a:pt x="305942" y="202057"/>
                    </a:lnTo>
                    <a:lnTo>
                      <a:pt x="305942" y="210947"/>
                    </a:lnTo>
                    <a:lnTo>
                      <a:pt x="302260" y="214630"/>
                    </a:lnTo>
                    <a:lnTo>
                      <a:pt x="369950" y="214630"/>
                    </a:lnTo>
                    <a:lnTo>
                      <a:pt x="369950" y="198755"/>
                    </a:lnTo>
                    <a:close/>
                  </a:path>
                  <a:path w="628014" h="443864">
                    <a:moveTo>
                      <a:pt x="369950" y="150114"/>
                    </a:moveTo>
                    <a:lnTo>
                      <a:pt x="302260" y="150114"/>
                    </a:lnTo>
                    <a:lnTo>
                      <a:pt x="305942" y="153670"/>
                    </a:lnTo>
                    <a:lnTo>
                      <a:pt x="305942" y="162306"/>
                    </a:lnTo>
                    <a:lnTo>
                      <a:pt x="302260" y="165862"/>
                    </a:lnTo>
                    <a:lnTo>
                      <a:pt x="369950" y="165862"/>
                    </a:lnTo>
                    <a:lnTo>
                      <a:pt x="369950" y="150114"/>
                    </a:lnTo>
                    <a:close/>
                  </a:path>
                  <a:path w="628014" h="443864">
                    <a:moveTo>
                      <a:pt x="529716" y="0"/>
                    </a:moveTo>
                    <a:lnTo>
                      <a:pt x="524144" y="42975"/>
                    </a:lnTo>
                    <a:lnTo>
                      <a:pt x="502919" y="56642"/>
                    </a:lnTo>
                    <a:lnTo>
                      <a:pt x="496062" y="60198"/>
                    </a:lnTo>
                    <a:lnTo>
                      <a:pt x="497839" y="62737"/>
                    </a:lnTo>
                    <a:lnTo>
                      <a:pt x="498982" y="65150"/>
                    </a:lnTo>
                    <a:lnTo>
                      <a:pt x="498982" y="168783"/>
                    </a:lnTo>
                    <a:lnTo>
                      <a:pt x="510321" y="174462"/>
                    </a:lnTo>
                    <a:lnTo>
                      <a:pt x="520445" y="177546"/>
                    </a:lnTo>
                    <a:lnTo>
                      <a:pt x="528951" y="178819"/>
                    </a:lnTo>
                    <a:lnTo>
                      <a:pt x="535431" y="179070"/>
                    </a:lnTo>
                    <a:lnTo>
                      <a:pt x="598169" y="179070"/>
                    </a:lnTo>
                    <a:lnTo>
                      <a:pt x="599948" y="177673"/>
                    </a:lnTo>
                    <a:lnTo>
                      <a:pt x="599948" y="150495"/>
                    </a:lnTo>
                    <a:lnTo>
                      <a:pt x="609600" y="150495"/>
                    </a:lnTo>
                    <a:lnTo>
                      <a:pt x="611377" y="148971"/>
                    </a:lnTo>
                    <a:lnTo>
                      <a:pt x="611377" y="121412"/>
                    </a:lnTo>
                    <a:lnTo>
                      <a:pt x="619632" y="121412"/>
                    </a:lnTo>
                    <a:lnTo>
                      <a:pt x="621029" y="120015"/>
                    </a:lnTo>
                    <a:lnTo>
                      <a:pt x="621029" y="92837"/>
                    </a:lnTo>
                    <a:lnTo>
                      <a:pt x="626490" y="92837"/>
                    </a:lnTo>
                    <a:lnTo>
                      <a:pt x="627888" y="91312"/>
                    </a:lnTo>
                    <a:lnTo>
                      <a:pt x="627888" y="64135"/>
                    </a:lnTo>
                    <a:lnTo>
                      <a:pt x="554863" y="64135"/>
                    </a:lnTo>
                    <a:lnTo>
                      <a:pt x="556371" y="61313"/>
                    </a:lnTo>
                    <a:lnTo>
                      <a:pt x="559688" y="53657"/>
                    </a:lnTo>
                    <a:lnTo>
                      <a:pt x="563006" y="42382"/>
                    </a:lnTo>
                    <a:lnTo>
                      <a:pt x="564514" y="28702"/>
                    </a:lnTo>
                    <a:lnTo>
                      <a:pt x="563685" y="24542"/>
                    </a:lnTo>
                    <a:lnTo>
                      <a:pt x="560355" y="15335"/>
                    </a:lnTo>
                    <a:lnTo>
                      <a:pt x="553263" y="5984"/>
                    </a:lnTo>
                    <a:lnTo>
                      <a:pt x="541147" y="1397"/>
                    </a:lnTo>
                    <a:lnTo>
                      <a:pt x="529716" y="0"/>
                    </a:lnTo>
                    <a:close/>
                  </a:path>
                  <a:path w="628014" h="443864">
                    <a:moveTo>
                      <a:pt x="486410" y="63754"/>
                    </a:moveTo>
                    <a:lnTo>
                      <a:pt x="432688" y="63754"/>
                    </a:lnTo>
                    <a:lnTo>
                      <a:pt x="430529" y="65912"/>
                    </a:lnTo>
                    <a:lnTo>
                      <a:pt x="430529" y="170180"/>
                    </a:lnTo>
                    <a:lnTo>
                      <a:pt x="432688" y="171958"/>
                    </a:lnTo>
                    <a:lnTo>
                      <a:pt x="486410" y="171958"/>
                    </a:lnTo>
                    <a:lnTo>
                      <a:pt x="488568" y="170180"/>
                    </a:lnTo>
                    <a:lnTo>
                      <a:pt x="488568" y="162941"/>
                    </a:lnTo>
                    <a:lnTo>
                      <a:pt x="444118" y="162941"/>
                    </a:lnTo>
                    <a:lnTo>
                      <a:pt x="440181" y="159385"/>
                    </a:lnTo>
                    <a:lnTo>
                      <a:pt x="440181" y="150495"/>
                    </a:lnTo>
                    <a:lnTo>
                      <a:pt x="444118" y="146812"/>
                    </a:lnTo>
                    <a:lnTo>
                      <a:pt x="488568" y="146812"/>
                    </a:lnTo>
                    <a:lnTo>
                      <a:pt x="488568" y="65912"/>
                    </a:lnTo>
                    <a:lnTo>
                      <a:pt x="486410" y="63754"/>
                    </a:lnTo>
                    <a:close/>
                  </a:path>
                  <a:path w="628014" h="443864">
                    <a:moveTo>
                      <a:pt x="488568" y="146812"/>
                    </a:moveTo>
                    <a:lnTo>
                      <a:pt x="454151" y="146812"/>
                    </a:lnTo>
                    <a:lnTo>
                      <a:pt x="458088" y="150495"/>
                    </a:lnTo>
                    <a:lnTo>
                      <a:pt x="458088" y="159385"/>
                    </a:lnTo>
                    <a:lnTo>
                      <a:pt x="454151" y="162941"/>
                    </a:lnTo>
                    <a:lnTo>
                      <a:pt x="488568" y="162941"/>
                    </a:lnTo>
                    <a:lnTo>
                      <a:pt x="488568" y="146812"/>
                    </a:lnTo>
                    <a:close/>
                  </a:path>
                </a:pathLst>
              </a:custGeom>
              <a:solidFill>
                <a:srgbClr val="29B974"/>
              </a:solidFill>
            </p:spPr>
            <p:txBody>
              <a:bodyPr wrap="square" lIns="0" tIns="0" rIns="0" bIns="0" rtlCol="0"/>
              <a:lstStyle/>
              <a:p>
                <a:endParaRPr>
                  <a:ea typeface="Microsoft YaHei" panose="020B0503020204020204" pitchFamily="34" charset="-122"/>
                </a:endParaRPr>
              </a:p>
            </p:txBody>
          </p:sp>
          <p:sp>
            <p:nvSpPr>
              <p:cNvPr id="68" name="object 68"/>
              <p:cNvSpPr/>
              <p:nvPr/>
            </p:nvSpPr>
            <p:spPr>
              <a:xfrm>
                <a:off x="7156703" y="3438143"/>
                <a:ext cx="509905" cy="387985"/>
              </a:xfrm>
              <a:custGeom>
                <a:avLst/>
                <a:gdLst/>
                <a:ahLst/>
                <a:cxnLst/>
                <a:rect l="l" t="t" r="r" b="b"/>
                <a:pathLst>
                  <a:path w="509904" h="387985">
                    <a:moveTo>
                      <a:pt x="508279" y="354329"/>
                    </a:moveTo>
                    <a:lnTo>
                      <a:pt x="443865" y="354329"/>
                    </a:lnTo>
                    <a:lnTo>
                      <a:pt x="474472" y="385825"/>
                    </a:lnTo>
                    <a:lnTo>
                      <a:pt x="476123" y="387476"/>
                    </a:lnTo>
                    <a:lnTo>
                      <a:pt x="478409" y="387476"/>
                    </a:lnTo>
                    <a:lnTo>
                      <a:pt x="479425" y="385825"/>
                    </a:lnTo>
                    <a:lnTo>
                      <a:pt x="508000" y="359028"/>
                    </a:lnTo>
                    <a:lnTo>
                      <a:pt x="509397" y="358012"/>
                    </a:lnTo>
                    <a:lnTo>
                      <a:pt x="509397" y="355345"/>
                    </a:lnTo>
                    <a:lnTo>
                      <a:pt x="508279" y="354329"/>
                    </a:lnTo>
                    <a:close/>
                  </a:path>
                  <a:path w="509904" h="387985">
                    <a:moveTo>
                      <a:pt x="372364" y="115315"/>
                    </a:moveTo>
                    <a:lnTo>
                      <a:pt x="322675" y="123983"/>
                    </a:lnTo>
                    <a:lnTo>
                      <a:pt x="278511" y="151891"/>
                    </a:lnTo>
                    <a:lnTo>
                      <a:pt x="248771" y="194520"/>
                    </a:lnTo>
                    <a:lnTo>
                      <a:pt x="238140" y="243554"/>
                    </a:lnTo>
                    <a:lnTo>
                      <a:pt x="246774" y="293016"/>
                    </a:lnTo>
                    <a:lnTo>
                      <a:pt x="274827" y="336930"/>
                    </a:lnTo>
                    <a:lnTo>
                      <a:pt x="312937" y="364045"/>
                    </a:lnTo>
                    <a:lnTo>
                      <a:pt x="356727" y="376015"/>
                    </a:lnTo>
                    <a:lnTo>
                      <a:pt x="401826" y="372792"/>
                    </a:lnTo>
                    <a:lnTo>
                      <a:pt x="430201" y="360330"/>
                    </a:lnTo>
                    <a:lnTo>
                      <a:pt x="361569" y="360330"/>
                    </a:lnTo>
                    <a:lnTo>
                      <a:pt x="321504" y="350075"/>
                    </a:lnTo>
                    <a:lnTo>
                      <a:pt x="286512" y="325246"/>
                    </a:lnTo>
                    <a:lnTo>
                      <a:pt x="262026" y="286906"/>
                    </a:lnTo>
                    <a:lnTo>
                      <a:pt x="254460" y="243697"/>
                    </a:lnTo>
                    <a:lnTo>
                      <a:pt x="263777" y="200749"/>
                    </a:lnTo>
                    <a:lnTo>
                      <a:pt x="289941" y="163194"/>
                    </a:lnTo>
                    <a:lnTo>
                      <a:pt x="328422" y="138985"/>
                    </a:lnTo>
                    <a:lnTo>
                      <a:pt x="371855" y="131444"/>
                    </a:lnTo>
                    <a:lnTo>
                      <a:pt x="432016" y="131444"/>
                    </a:lnTo>
                    <a:lnTo>
                      <a:pt x="421671" y="125793"/>
                    </a:lnTo>
                    <a:lnTo>
                      <a:pt x="397434" y="118173"/>
                    </a:lnTo>
                    <a:lnTo>
                      <a:pt x="372364" y="115315"/>
                    </a:lnTo>
                    <a:close/>
                  </a:path>
                  <a:path w="509904" h="387985">
                    <a:moveTo>
                      <a:pt x="432016" y="131444"/>
                    </a:moveTo>
                    <a:lnTo>
                      <a:pt x="371855" y="131444"/>
                    </a:lnTo>
                    <a:lnTo>
                      <a:pt x="393821" y="133971"/>
                    </a:lnTo>
                    <a:lnTo>
                      <a:pt x="415083" y="140604"/>
                    </a:lnTo>
                    <a:lnTo>
                      <a:pt x="434988" y="151358"/>
                    </a:lnTo>
                    <a:lnTo>
                      <a:pt x="452881" y="166242"/>
                    </a:lnTo>
                    <a:lnTo>
                      <a:pt x="476234" y="201509"/>
                    </a:lnTo>
                    <a:lnTo>
                      <a:pt x="485012" y="241299"/>
                    </a:lnTo>
                    <a:lnTo>
                      <a:pt x="479313" y="281471"/>
                    </a:lnTo>
                    <a:lnTo>
                      <a:pt x="459231" y="317880"/>
                    </a:lnTo>
                    <a:lnTo>
                      <a:pt x="453136" y="325246"/>
                    </a:lnTo>
                    <a:lnTo>
                      <a:pt x="449834" y="328548"/>
                    </a:lnTo>
                    <a:lnTo>
                      <a:pt x="446786" y="331215"/>
                    </a:lnTo>
                    <a:lnTo>
                      <a:pt x="443484" y="334263"/>
                    </a:lnTo>
                    <a:lnTo>
                      <a:pt x="440054" y="336930"/>
                    </a:lnTo>
                    <a:lnTo>
                      <a:pt x="402490" y="355965"/>
                    </a:lnTo>
                    <a:lnTo>
                      <a:pt x="361569" y="360330"/>
                    </a:lnTo>
                    <a:lnTo>
                      <a:pt x="430201" y="360330"/>
                    </a:lnTo>
                    <a:lnTo>
                      <a:pt x="443865" y="354329"/>
                    </a:lnTo>
                    <a:lnTo>
                      <a:pt x="508279" y="354329"/>
                    </a:lnTo>
                    <a:lnTo>
                      <a:pt x="508000" y="354075"/>
                    </a:lnTo>
                    <a:lnTo>
                      <a:pt x="476757" y="321944"/>
                    </a:lnTo>
                    <a:lnTo>
                      <a:pt x="496429" y="281229"/>
                    </a:lnTo>
                    <a:lnTo>
                      <a:pt x="500967" y="237108"/>
                    </a:lnTo>
                    <a:lnTo>
                      <a:pt x="490384" y="193750"/>
                    </a:lnTo>
                    <a:lnTo>
                      <a:pt x="464693" y="155320"/>
                    </a:lnTo>
                    <a:lnTo>
                      <a:pt x="444337" y="138175"/>
                    </a:lnTo>
                    <a:lnTo>
                      <a:pt x="432016" y="131444"/>
                    </a:lnTo>
                    <a:close/>
                  </a:path>
                  <a:path w="509904" h="387985">
                    <a:moveTo>
                      <a:pt x="477647" y="0"/>
                    </a:moveTo>
                    <a:lnTo>
                      <a:pt x="2667" y="0"/>
                    </a:lnTo>
                    <a:lnTo>
                      <a:pt x="0" y="3047"/>
                    </a:lnTo>
                    <a:lnTo>
                      <a:pt x="0" y="270001"/>
                    </a:lnTo>
                    <a:lnTo>
                      <a:pt x="2667" y="273049"/>
                    </a:lnTo>
                    <a:lnTo>
                      <a:pt x="207264" y="273049"/>
                    </a:lnTo>
                    <a:lnTo>
                      <a:pt x="207264" y="282066"/>
                    </a:lnTo>
                    <a:lnTo>
                      <a:pt x="173609" y="300481"/>
                    </a:lnTo>
                    <a:lnTo>
                      <a:pt x="170942" y="302132"/>
                    </a:lnTo>
                    <a:lnTo>
                      <a:pt x="169291" y="305180"/>
                    </a:lnTo>
                    <a:lnTo>
                      <a:pt x="170306" y="308101"/>
                    </a:lnTo>
                    <a:lnTo>
                      <a:pt x="170942" y="311149"/>
                    </a:lnTo>
                    <a:lnTo>
                      <a:pt x="173609" y="313181"/>
                    </a:lnTo>
                    <a:lnTo>
                      <a:pt x="240538" y="313181"/>
                    </a:lnTo>
                    <a:lnTo>
                      <a:pt x="238125" y="308863"/>
                    </a:lnTo>
                    <a:lnTo>
                      <a:pt x="234061" y="299465"/>
                    </a:lnTo>
                    <a:lnTo>
                      <a:pt x="203200" y="299465"/>
                    </a:lnTo>
                    <a:lnTo>
                      <a:pt x="217297" y="292099"/>
                    </a:lnTo>
                    <a:lnTo>
                      <a:pt x="219328" y="291083"/>
                    </a:lnTo>
                    <a:lnTo>
                      <a:pt x="220725" y="288416"/>
                    </a:lnTo>
                    <a:lnTo>
                      <a:pt x="220725" y="262635"/>
                    </a:lnTo>
                    <a:lnTo>
                      <a:pt x="217931" y="259587"/>
                    </a:lnTo>
                    <a:lnTo>
                      <a:pt x="13462" y="259587"/>
                    </a:lnTo>
                    <a:lnTo>
                      <a:pt x="13462" y="13715"/>
                    </a:lnTo>
                    <a:lnTo>
                      <a:pt x="480949" y="13715"/>
                    </a:lnTo>
                    <a:lnTo>
                      <a:pt x="480949" y="3047"/>
                    </a:lnTo>
                    <a:lnTo>
                      <a:pt x="477647" y="0"/>
                    </a:lnTo>
                    <a:close/>
                  </a:path>
                  <a:path w="509904" h="387985">
                    <a:moveTo>
                      <a:pt x="274066" y="282320"/>
                    </a:moveTo>
                    <a:lnTo>
                      <a:pt x="277498" y="290482"/>
                    </a:lnTo>
                    <a:lnTo>
                      <a:pt x="281717" y="298370"/>
                    </a:lnTo>
                    <a:lnTo>
                      <a:pt x="286746" y="305948"/>
                    </a:lnTo>
                    <a:lnTo>
                      <a:pt x="292607" y="313181"/>
                    </a:lnTo>
                    <a:lnTo>
                      <a:pt x="306704" y="313181"/>
                    </a:lnTo>
                    <a:lnTo>
                      <a:pt x="309499" y="311149"/>
                    </a:lnTo>
                    <a:lnTo>
                      <a:pt x="310769" y="305053"/>
                    </a:lnTo>
                    <a:lnTo>
                      <a:pt x="309499" y="302132"/>
                    </a:lnTo>
                    <a:lnTo>
                      <a:pt x="306704" y="300481"/>
                    </a:lnTo>
                    <a:lnTo>
                      <a:pt x="274066" y="282320"/>
                    </a:lnTo>
                    <a:close/>
                  </a:path>
                  <a:path w="509904" h="387985">
                    <a:moveTo>
                      <a:pt x="467741" y="219836"/>
                    </a:moveTo>
                    <a:lnTo>
                      <a:pt x="467741" y="259333"/>
                    </a:lnTo>
                    <a:lnTo>
                      <a:pt x="268731" y="259333"/>
                    </a:lnTo>
                    <a:lnTo>
                      <a:pt x="269748" y="266572"/>
                    </a:lnTo>
                    <a:lnTo>
                      <a:pt x="271399" y="273684"/>
                    </a:lnTo>
                    <a:lnTo>
                      <a:pt x="273685" y="280288"/>
                    </a:lnTo>
                    <a:lnTo>
                      <a:pt x="273685" y="272668"/>
                    </a:lnTo>
                    <a:lnTo>
                      <a:pt x="467741" y="272668"/>
                    </a:lnTo>
                    <a:lnTo>
                      <a:pt x="470370" y="259587"/>
                    </a:lnTo>
                    <a:lnTo>
                      <a:pt x="471265" y="246252"/>
                    </a:lnTo>
                    <a:lnTo>
                      <a:pt x="470384" y="232985"/>
                    </a:lnTo>
                    <a:lnTo>
                      <a:pt x="467741" y="219836"/>
                    </a:lnTo>
                    <a:close/>
                  </a:path>
                  <a:path w="509904" h="387985">
                    <a:moveTo>
                      <a:pt x="480949" y="13715"/>
                    </a:moveTo>
                    <a:lnTo>
                      <a:pt x="467232" y="13715"/>
                    </a:lnTo>
                    <a:lnTo>
                      <a:pt x="467232" y="139826"/>
                    </a:lnTo>
                    <a:lnTo>
                      <a:pt x="469519" y="141858"/>
                    </a:lnTo>
                    <a:lnTo>
                      <a:pt x="471550" y="143890"/>
                    </a:lnTo>
                    <a:lnTo>
                      <a:pt x="473964" y="146176"/>
                    </a:lnTo>
                    <a:lnTo>
                      <a:pt x="476250" y="148589"/>
                    </a:lnTo>
                    <a:lnTo>
                      <a:pt x="478738" y="151358"/>
                    </a:lnTo>
                    <a:lnTo>
                      <a:pt x="480949" y="154304"/>
                    </a:lnTo>
                    <a:lnTo>
                      <a:pt x="480949" y="13715"/>
                    </a:lnTo>
                    <a:close/>
                  </a:path>
                </a:pathLst>
              </a:custGeom>
              <a:solidFill>
                <a:srgbClr val="03522C"/>
              </a:solidFill>
            </p:spPr>
            <p:txBody>
              <a:bodyPr wrap="square" lIns="0" tIns="0" rIns="0" bIns="0" rtlCol="0"/>
              <a:lstStyle/>
              <a:p>
                <a:endParaRPr>
                  <a:ea typeface="Microsoft YaHei" panose="020B0503020204020204" pitchFamily="34" charset="-122"/>
                </a:endParaRPr>
              </a:p>
            </p:txBody>
          </p:sp>
          <p:sp>
            <p:nvSpPr>
              <p:cNvPr id="69" name="object 69"/>
              <p:cNvSpPr/>
              <p:nvPr/>
            </p:nvSpPr>
            <p:spPr>
              <a:xfrm>
                <a:off x="7184135" y="3465575"/>
                <a:ext cx="603250" cy="486409"/>
              </a:xfrm>
              <a:custGeom>
                <a:avLst/>
                <a:gdLst/>
                <a:ahLst/>
                <a:cxnLst/>
                <a:rect l="l" t="t" r="r" b="b"/>
                <a:pathLst>
                  <a:path w="603250" h="486410">
                    <a:moveTo>
                      <a:pt x="500125" y="334518"/>
                    </a:moveTo>
                    <a:lnTo>
                      <a:pt x="496443" y="334518"/>
                    </a:lnTo>
                    <a:lnTo>
                      <a:pt x="494792" y="334772"/>
                    </a:lnTo>
                    <a:lnTo>
                      <a:pt x="493395" y="336169"/>
                    </a:lnTo>
                    <a:lnTo>
                      <a:pt x="455549" y="372744"/>
                    </a:lnTo>
                    <a:lnTo>
                      <a:pt x="453263" y="375412"/>
                    </a:lnTo>
                    <a:lnTo>
                      <a:pt x="453263" y="379475"/>
                    </a:lnTo>
                    <a:lnTo>
                      <a:pt x="455549" y="382143"/>
                    </a:lnTo>
                    <a:lnTo>
                      <a:pt x="550291" y="481456"/>
                    </a:lnTo>
                    <a:lnTo>
                      <a:pt x="553339" y="484505"/>
                    </a:lnTo>
                    <a:lnTo>
                      <a:pt x="557276" y="486156"/>
                    </a:lnTo>
                    <a:lnTo>
                      <a:pt x="561975" y="486156"/>
                    </a:lnTo>
                    <a:lnTo>
                      <a:pt x="568259" y="485350"/>
                    </a:lnTo>
                    <a:lnTo>
                      <a:pt x="574817" y="482949"/>
                    </a:lnTo>
                    <a:lnTo>
                      <a:pt x="581495" y="478976"/>
                    </a:lnTo>
                    <a:lnTo>
                      <a:pt x="588137" y="473456"/>
                    </a:lnTo>
                    <a:lnTo>
                      <a:pt x="560959" y="473456"/>
                    </a:lnTo>
                    <a:lnTo>
                      <a:pt x="559943" y="472440"/>
                    </a:lnTo>
                    <a:lnTo>
                      <a:pt x="470027" y="377825"/>
                    </a:lnTo>
                    <a:lnTo>
                      <a:pt x="497713" y="350647"/>
                    </a:lnTo>
                    <a:lnTo>
                      <a:pt x="516495" y="350647"/>
                    </a:lnTo>
                    <a:lnTo>
                      <a:pt x="503047" y="336550"/>
                    </a:lnTo>
                    <a:lnTo>
                      <a:pt x="501777" y="335153"/>
                    </a:lnTo>
                    <a:lnTo>
                      <a:pt x="500125" y="334518"/>
                    </a:lnTo>
                    <a:close/>
                  </a:path>
                  <a:path w="603250" h="486410">
                    <a:moveTo>
                      <a:pt x="516495" y="350647"/>
                    </a:moveTo>
                    <a:lnTo>
                      <a:pt x="497713" y="350647"/>
                    </a:lnTo>
                    <a:lnTo>
                      <a:pt x="588137" y="445262"/>
                    </a:lnTo>
                    <a:lnTo>
                      <a:pt x="588391" y="445643"/>
                    </a:lnTo>
                    <a:lnTo>
                      <a:pt x="578739" y="463676"/>
                    </a:lnTo>
                    <a:lnTo>
                      <a:pt x="569722" y="472440"/>
                    </a:lnTo>
                    <a:lnTo>
                      <a:pt x="560959" y="473456"/>
                    </a:lnTo>
                    <a:lnTo>
                      <a:pt x="588137" y="473456"/>
                    </a:lnTo>
                    <a:lnTo>
                      <a:pt x="593852" y="467994"/>
                    </a:lnTo>
                    <a:lnTo>
                      <a:pt x="598551" y="461263"/>
                    </a:lnTo>
                    <a:lnTo>
                      <a:pt x="600456" y="454913"/>
                    </a:lnTo>
                    <a:lnTo>
                      <a:pt x="603123" y="447548"/>
                    </a:lnTo>
                    <a:lnTo>
                      <a:pt x="602234" y="440563"/>
                    </a:lnTo>
                    <a:lnTo>
                      <a:pt x="516495" y="350647"/>
                    </a:lnTo>
                    <a:close/>
                  </a:path>
                  <a:path w="603250" h="486410">
                    <a:moveTo>
                      <a:pt x="424434" y="0"/>
                    </a:moveTo>
                    <a:lnTo>
                      <a:pt x="1397" y="0"/>
                    </a:lnTo>
                    <a:lnTo>
                      <a:pt x="0" y="1397"/>
                    </a:lnTo>
                    <a:lnTo>
                      <a:pt x="0" y="215011"/>
                    </a:lnTo>
                    <a:lnTo>
                      <a:pt x="1397" y="216662"/>
                    </a:lnTo>
                    <a:lnTo>
                      <a:pt x="196088" y="216662"/>
                    </a:lnTo>
                    <a:lnTo>
                      <a:pt x="196088" y="209550"/>
                    </a:lnTo>
                    <a:lnTo>
                      <a:pt x="196850" y="202565"/>
                    </a:lnTo>
                    <a:lnTo>
                      <a:pt x="197866" y="195834"/>
                    </a:lnTo>
                    <a:lnTo>
                      <a:pt x="159258" y="195834"/>
                    </a:lnTo>
                    <a:lnTo>
                      <a:pt x="159258" y="195706"/>
                    </a:lnTo>
                    <a:lnTo>
                      <a:pt x="32512" y="195706"/>
                    </a:lnTo>
                    <a:lnTo>
                      <a:pt x="32512" y="182244"/>
                    </a:lnTo>
                    <a:lnTo>
                      <a:pt x="200564" y="182244"/>
                    </a:lnTo>
                    <a:lnTo>
                      <a:pt x="202438" y="174625"/>
                    </a:lnTo>
                    <a:lnTo>
                      <a:pt x="204850" y="167640"/>
                    </a:lnTo>
                    <a:lnTo>
                      <a:pt x="207899" y="160274"/>
                    </a:lnTo>
                    <a:lnTo>
                      <a:pt x="32512" y="160274"/>
                    </a:lnTo>
                    <a:lnTo>
                      <a:pt x="32512" y="146812"/>
                    </a:lnTo>
                    <a:lnTo>
                      <a:pt x="214884" y="146812"/>
                    </a:lnTo>
                    <a:lnTo>
                      <a:pt x="218160" y="140811"/>
                    </a:lnTo>
                    <a:lnTo>
                      <a:pt x="221853" y="135000"/>
                    </a:lnTo>
                    <a:lnTo>
                      <a:pt x="225903" y="129381"/>
                    </a:lnTo>
                    <a:lnTo>
                      <a:pt x="230250" y="123951"/>
                    </a:lnTo>
                    <a:lnTo>
                      <a:pt x="32512" y="123951"/>
                    </a:lnTo>
                    <a:lnTo>
                      <a:pt x="32512" y="110489"/>
                    </a:lnTo>
                    <a:lnTo>
                      <a:pt x="243332" y="110489"/>
                    </a:lnTo>
                    <a:lnTo>
                      <a:pt x="252184" y="102899"/>
                    </a:lnTo>
                    <a:lnTo>
                      <a:pt x="261572" y="96154"/>
                    </a:lnTo>
                    <a:lnTo>
                      <a:pt x="271460" y="90291"/>
                    </a:lnTo>
                    <a:lnTo>
                      <a:pt x="275700" y="88264"/>
                    </a:lnTo>
                    <a:lnTo>
                      <a:pt x="32512" y="88264"/>
                    </a:lnTo>
                    <a:lnTo>
                      <a:pt x="32512" y="74802"/>
                    </a:lnTo>
                    <a:lnTo>
                      <a:pt x="317841" y="74802"/>
                    </a:lnTo>
                    <a:lnTo>
                      <a:pt x="324993" y="73278"/>
                    </a:lnTo>
                    <a:lnTo>
                      <a:pt x="332994" y="72898"/>
                    </a:lnTo>
                    <a:lnTo>
                      <a:pt x="425704" y="72898"/>
                    </a:lnTo>
                    <a:lnTo>
                      <a:pt x="425704" y="49022"/>
                    </a:lnTo>
                    <a:lnTo>
                      <a:pt x="34163" y="49022"/>
                    </a:lnTo>
                    <a:lnTo>
                      <a:pt x="32512" y="47751"/>
                    </a:lnTo>
                    <a:lnTo>
                      <a:pt x="32512" y="21971"/>
                    </a:lnTo>
                    <a:lnTo>
                      <a:pt x="34163" y="20574"/>
                    </a:lnTo>
                    <a:lnTo>
                      <a:pt x="425704" y="20574"/>
                    </a:lnTo>
                    <a:lnTo>
                      <a:pt x="425704" y="1397"/>
                    </a:lnTo>
                    <a:lnTo>
                      <a:pt x="424434" y="0"/>
                    </a:lnTo>
                    <a:close/>
                  </a:path>
                  <a:path w="603250" h="486410">
                    <a:moveTo>
                      <a:pt x="412270" y="146812"/>
                    </a:moveTo>
                    <a:lnTo>
                      <a:pt x="389382" y="146812"/>
                    </a:lnTo>
                    <a:lnTo>
                      <a:pt x="389382" y="160274"/>
                    </a:lnTo>
                    <a:lnTo>
                      <a:pt x="258572" y="160274"/>
                    </a:lnTo>
                    <a:lnTo>
                      <a:pt x="253873" y="167259"/>
                    </a:lnTo>
                    <a:lnTo>
                      <a:pt x="249809" y="174625"/>
                    </a:lnTo>
                    <a:lnTo>
                      <a:pt x="247142" y="182372"/>
                    </a:lnTo>
                    <a:lnTo>
                      <a:pt x="266573" y="182372"/>
                    </a:lnTo>
                    <a:lnTo>
                      <a:pt x="266573" y="195834"/>
                    </a:lnTo>
                    <a:lnTo>
                      <a:pt x="243078" y="195834"/>
                    </a:lnTo>
                    <a:lnTo>
                      <a:pt x="241427" y="202565"/>
                    </a:lnTo>
                    <a:lnTo>
                      <a:pt x="240411" y="209550"/>
                    </a:lnTo>
                    <a:lnTo>
                      <a:pt x="240411" y="216662"/>
                    </a:lnTo>
                    <a:lnTo>
                      <a:pt x="424434" y="216662"/>
                    </a:lnTo>
                    <a:lnTo>
                      <a:pt x="425704" y="215011"/>
                    </a:lnTo>
                    <a:lnTo>
                      <a:pt x="425704" y="195706"/>
                    </a:lnTo>
                    <a:lnTo>
                      <a:pt x="282194" y="195706"/>
                    </a:lnTo>
                    <a:lnTo>
                      <a:pt x="282194" y="182244"/>
                    </a:lnTo>
                    <a:lnTo>
                      <a:pt x="425704" y="182244"/>
                    </a:lnTo>
                    <a:lnTo>
                      <a:pt x="425704" y="163194"/>
                    </a:lnTo>
                    <a:lnTo>
                      <a:pt x="422402" y="158242"/>
                    </a:lnTo>
                    <a:lnTo>
                      <a:pt x="418338" y="152781"/>
                    </a:lnTo>
                    <a:lnTo>
                      <a:pt x="413639" y="148081"/>
                    </a:lnTo>
                    <a:lnTo>
                      <a:pt x="412270" y="146812"/>
                    </a:lnTo>
                    <a:close/>
                  </a:path>
                  <a:path w="603250" h="486410">
                    <a:moveTo>
                      <a:pt x="200564" y="182244"/>
                    </a:moveTo>
                    <a:lnTo>
                      <a:pt x="139954" y="182244"/>
                    </a:lnTo>
                    <a:lnTo>
                      <a:pt x="139954" y="195706"/>
                    </a:lnTo>
                    <a:lnTo>
                      <a:pt x="159258" y="195706"/>
                    </a:lnTo>
                    <a:lnTo>
                      <a:pt x="159258" y="182372"/>
                    </a:lnTo>
                    <a:lnTo>
                      <a:pt x="200533" y="182372"/>
                    </a:lnTo>
                    <a:lnTo>
                      <a:pt x="200564" y="182244"/>
                    </a:lnTo>
                    <a:close/>
                  </a:path>
                  <a:path w="603250" h="486410">
                    <a:moveTo>
                      <a:pt x="425704" y="182244"/>
                    </a:moveTo>
                    <a:lnTo>
                      <a:pt x="389382" y="182244"/>
                    </a:lnTo>
                    <a:lnTo>
                      <a:pt x="389382" y="195706"/>
                    </a:lnTo>
                    <a:lnTo>
                      <a:pt x="425704" y="195706"/>
                    </a:lnTo>
                    <a:lnTo>
                      <a:pt x="425704" y="182244"/>
                    </a:lnTo>
                    <a:close/>
                  </a:path>
                  <a:path w="603250" h="486410">
                    <a:moveTo>
                      <a:pt x="159258" y="146812"/>
                    </a:moveTo>
                    <a:lnTo>
                      <a:pt x="139954" y="146812"/>
                    </a:lnTo>
                    <a:lnTo>
                      <a:pt x="139954" y="160274"/>
                    </a:lnTo>
                    <a:lnTo>
                      <a:pt x="159258" y="160274"/>
                    </a:lnTo>
                    <a:lnTo>
                      <a:pt x="159258" y="146812"/>
                    </a:lnTo>
                    <a:close/>
                  </a:path>
                  <a:path w="603250" h="486410">
                    <a:moveTo>
                      <a:pt x="377952" y="124206"/>
                    </a:moveTo>
                    <a:lnTo>
                      <a:pt x="304038" y="124206"/>
                    </a:lnTo>
                    <a:lnTo>
                      <a:pt x="295350" y="128395"/>
                    </a:lnTo>
                    <a:lnTo>
                      <a:pt x="286924" y="133334"/>
                    </a:lnTo>
                    <a:lnTo>
                      <a:pt x="278927" y="139011"/>
                    </a:lnTo>
                    <a:lnTo>
                      <a:pt x="271525" y="145415"/>
                    </a:lnTo>
                    <a:lnTo>
                      <a:pt x="269494" y="146812"/>
                    </a:lnTo>
                    <a:lnTo>
                      <a:pt x="268224" y="148844"/>
                    </a:lnTo>
                    <a:lnTo>
                      <a:pt x="266573" y="150113"/>
                    </a:lnTo>
                    <a:lnTo>
                      <a:pt x="266573" y="160274"/>
                    </a:lnTo>
                    <a:lnTo>
                      <a:pt x="282194" y="160274"/>
                    </a:lnTo>
                    <a:lnTo>
                      <a:pt x="282194" y="146812"/>
                    </a:lnTo>
                    <a:lnTo>
                      <a:pt x="412270" y="146812"/>
                    </a:lnTo>
                    <a:lnTo>
                      <a:pt x="405598" y="140618"/>
                    </a:lnTo>
                    <a:lnTo>
                      <a:pt x="396938" y="134191"/>
                    </a:lnTo>
                    <a:lnTo>
                      <a:pt x="387707" y="128740"/>
                    </a:lnTo>
                    <a:lnTo>
                      <a:pt x="377952" y="124206"/>
                    </a:lnTo>
                    <a:close/>
                  </a:path>
                  <a:path w="603250" h="486410">
                    <a:moveTo>
                      <a:pt x="159258" y="110489"/>
                    </a:moveTo>
                    <a:lnTo>
                      <a:pt x="139954" y="110489"/>
                    </a:lnTo>
                    <a:lnTo>
                      <a:pt x="139954" y="123951"/>
                    </a:lnTo>
                    <a:lnTo>
                      <a:pt x="159258" y="123951"/>
                    </a:lnTo>
                    <a:lnTo>
                      <a:pt x="159258" y="110489"/>
                    </a:lnTo>
                    <a:close/>
                  </a:path>
                  <a:path w="603250" h="486410">
                    <a:moveTo>
                      <a:pt x="425704" y="72898"/>
                    </a:moveTo>
                    <a:lnTo>
                      <a:pt x="349123" y="72898"/>
                    </a:lnTo>
                    <a:lnTo>
                      <a:pt x="357124" y="73278"/>
                    </a:lnTo>
                    <a:lnTo>
                      <a:pt x="365125" y="74929"/>
                    </a:lnTo>
                    <a:lnTo>
                      <a:pt x="389255" y="74929"/>
                    </a:lnTo>
                    <a:lnTo>
                      <a:pt x="389255" y="80899"/>
                    </a:lnTo>
                    <a:lnTo>
                      <a:pt x="398754" y="84695"/>
                    </a:lnTo>
                    <a:lnTo>
                      <a:pt x="408098" y="89074"/>
                    </a:lnTo>
                    <a:lnTo>
                      <a:pt x="417133" y="94097"/>
                    </a:lnTo>
                    <a:lnTo>
                      <a:pt x="425704" y="99822"/>
                    </a:lnTo>
                    <a:lnTo>
                      <a:pt x="425704" y="72898"/>
                    </a:lnTo>
                    <a:close/>
                  </a:path>
                  <a:path w="603250" h="486410">
                    <a:moveTo>
                      <a:pt x="159385" y="74802"/>
                    </a:moveTo>
                    <a:lnTo>
                      <a:pt x="139954" y="74802"/>
                    </a:lnTo>
                    <a:lnTo>
                      <a:pt x="139954" y="88264"/>
                    </a:lnTo>
                    <a:lnTo>
                      <a:pt x="159385" y="88264"/>
                    </a:lnTo>
                    <a:lnTo>
                      <a:pt x="159385" y="74802"/>
                    </a:lnTo>
                    <a:close/>
                  </a:path>
                  <a:path w="603250" h="486410">
                    <a:moveTo>
                      <a:pt x="317841" y="74802"/>
                    </a:moveTo>
                    <a:lnTo>
                      <a:pt x="266573" y="74802"/>
                    </a:lnTo>
                    <a:lnTo>
                      <a:pt x="266573" y="88264"/>
                    </a:lnTo>
                    <a:lnTo>
                      <a:pt x="275700" y="88264"/>
                    </a:lnTo>
                    <a:lnTo>
                      <a:pt x="281813" y="85344"/>
                    </a:lnTo>
                    <a:lnTo>
                      <a:pt x="281813" y="74929"/>
                    </a:lnTo>
                    <a:lnTo>
                      <a:pt x="317246" y="74929"/>
                    </a:lnTo>
                    <a:lnTo>
                      <a:pt x="317841" y="74802"/>
                    </a:lnTo>
                    <a:close/>
                  </a:path>
                  <a:path w="603250" h="486410">
                    <a:moveTo>
                      <a:pt x="160782" y="20574"/>
                    </a:moveTo>
                    <a:lnTo>
                      <a:pt x="138303" y="20574"/>
                    </a:lnTo>
                    <a:lnTo>
                      <a:pt x="139954" y="21971"/>
                    </a:lnTo>
                    <a:lnTo>
                      <a:pt x="139954" y="47751"/>
                    </a:lnTo>
                    <a:lnTo>
                      <a:pt x="138303" y="49022"/>
                    </a:lnTo>
                    <a:lnTo>
                      <a:pt x="160782" y="49022"/>
                    </a:lnTo>
                    <a:lnTo>
                      <a:pt x="159385" y="47751"/>
                    </a:lnTo>
                    <a:lnTo>
                      <a:pt x="159385" y="21971"/>
                    </a:lnTo>
                    <a:lnTo>
                      <a:pt x="160782" y="20574"/>
                    </a:lnTo>
                    <a:close/>
                  </a:path>
                  <a:path w="603250" h="486410">
                    <a:moveTo>
                      <a:pt x="287274" y="20574"/>
                    </a:moveTo>
                    <a:lnTo>
                      <a:pt x="265175" y="20574"/>
                    </a:lnTo>
                    <a:lnTo>
                      <a:pt x="266573" y="21971"/>
                    </a:lnTo>
                    <a:lnTo>
                      <a:pt x="266573" y="47751"/>
                    </a:lnTo>
                    <a:lnTo>
                      <a:pt x="265175" y="49022"/>
                    </a:lnTo>
                    <a:lnTo>
                      <a:pt x="287274" y="49022"/>
                    </a:lnTo>
                    <a:lnTo>
                      <a:pt x="286004" y="47751"/>
                    </a:lnTo>
                    <a:lnTo>
                      <a:pt x="286004" y="21971"/>
                    </a:lnTo>
                    <a:lnTo>
                      <a:pt x="287274" y="20574"/>
                    </a:lnTo>
                    <a:close/>
                  </a:path>
                  <a:path w="603250" h="486410">
                    <a:moveTo>
                      <a:pt x="425704" y="20574"/>
                    </a:moveTo>
                    <a:lnTo>
                      <a:pt x="391795" y="20574"/>
                    </a:lnTo>
                    <a:lnTo>
                      <a:pt x="393446" y="21971"/>
                    </a:lnTo>
                    <a:lnTo>
                      <a:pt x="393446" y="47751"/>
                    </a:lnTo>
                    <a:lnTo>
                      <a:pt x="391795" y="49022"/>
                    </a:lnTo>
                    <a:lnTo>
                      <a:pt x="425704" y="49022"/>
                    </a:lnTo>
                    <a:lnTo>
                      <a:pt x="425704" y="20574"/>
                    </a:lnTo>
                    <a:close/>
                  </a:path>
                </a:pathLst>
              </a:custGeom>
              <a:solidFill>
                <a:srgbClr val="29B974"/>
              </a:solidFill>
            </p:spPr>
            <p:txBody>
              <a:bodyPr wrap="square" lIns="0" tIns="0" rIns="0" bIns="0" rtlCol="0"/>
              <a:lstStyle/>
              <a:p>
                <a:endParaRPr>
                  <a:ea typeface="Microsoft YaHei" panose="020B0503020204020204" pitchFamily="34" charset="-122"/>
                </a:endParaRPr>
              </a:p>
            </p:txBody>
          </p:sp>
        </p:grpSp>
      </p:grpSp>
      <p:sp>
        <p:nvSpPr>
          <p:cNvPr id="80" name="Title 79">
            <a:extLst>
              <a:ext uri="{FF2B5EF4-FFF2-40B4-BE49-F238E27FC236}">
                <a16:creationId xmlns:a16="http://schemas.microsoft.com/office/drawing/2014/main" id="{168C6B3E-A31D-5C28-691D-55062DDA0ABE}"/>
              </a:ext>
            </a:extLst>
          </p:cNvPr>
          <p:cNvSpPr>
            <a:spLocks noGrp="1"/>
          </p:cNvSpPr>
          <p:nvPr>
            <p:ph type="title"/>
          </p:nvPr>
        </p:nvSpPr>
        <p:spPr>
          <a:xfrm>
            <a:off x="630000" y="622800"/>
            <a:ext cx="10933350" cy="664797"/>
          </a:xfrm>
        </p:spPr>
        <p:txBody>
          <a:bodyPr vert="horz"/>
          <a:lstStyle/>
          <a:p>
            <a:r>
              <a:rPr lang="zh-TW" altLang="en-US">
                <a:ea typeface="Microsoft YaHei" panose="020B0503020204020204" pitchFamily="34" charset="-122"/>
              </a:rPr>
              <a:t>模型參數影響預測的精準度；凱基目前</a:t>
            </a:r>
            <a:r>
              <a:rPr lang="en-US" altLang="zh-TW">
                <a:ea typeface="Microsoft YaHei" panose="020B0503020204020204" pitchFamily="34" charset="-122"/>
              </a:rPr>
              <a:t>M</a:t>
            </a:r>
            <a:r>
              <a:rPr lang="zh-TW" altLang="en-US">
                <a:ea typeface="Microsoft YaHei" panose="020B0503020204020204" pitchFamily="34" charset="-122"/>
              </a:rPr>
              <a:t>升</a:t>
            </a:r>
            <a:r>
              <a:rPr lang="en-US" altLang="zh-TW">
                <a:ea typeface="Microsoft YaHei" panose="020B0503020204020204" pitchFamily="34" charset="-122"/>
              </a:rPr>
              <a:t>A</a:t>
            </a:r>
            <a:r>
              <a:rPr lang="zh-TW" altLang="en-US">
                <a:ea typeface="Microsoft YaHei" panose="020B0503020204020204" pitchFamily="34" charset="-122"/>
              </a:rPr>
              <a:t>模型包括近</a:t>
            </a:r>
            <a:r>
              <a:rPr lang="en-US" altLang="zh-TW">
                <a:ea typeface="Microsoft YaHei" panose="020B0503020204020204" pitchFamily="34" charset="-122"/>
              </a:rPr>
              <a:t>100</a:t>
            </a:r>
            <a:r>
              <a:rPr lang="zh-TW" altLang="en-US">
                <a:ea typeface="Microsoft YaHei" panose="020B0503020204020204" pitchFamily="34" charset="-122"/>
              </a:rPr>
              <a:t>個變數，可進一步考量納入其他動態變數，如過去産品交易路徑、行銷活動反映、行內外足迹等</a:t>
            </a:r>
            <a:endParaRPr lang="en-US">
              <a:ea typeface="Microsoft YaHei" panose="020B0503020204020204" pitchFamily="34" charset="-122"/>
            </a:endParaRPr>
          </a:p>
        </p:txBody>
      </p:sp>
      <p:sp>
        <p:nvSpPr>
          <p:cNvPr id="120" name="TextBox 119">
            <a:extLst>
              <a:ext uri="{FF2B5EF4-FFF2-40B4-BE49-F238E27FC236}">
                <a16:creationId xmlns:a16="http://schemas.microsoft.com/office/drawing/2014/main" id="{B2CDF59E-60D2-C11B-676A-FD2A8C8B6D9C}"/>
              </a:ext>
            </a:extLst>
          </p:cNvPr>
          <p:cNvSpPr txBox="1"/>
          <p:nvPr/>
        </p:nvSpPr>
        <p:spPr>
          <a:xfrm>
            <a:off x="9385231" y="1447680"/>
            <a:ext cx="1778069" cy="184666"/>
          </a:xfrm>
          <a:prstGeom prst="rect">
            <a:avLst/>
          </a:prstGeom>
          <a:noFill/>
          <a:extLst>
            <a:ext uri="{909E8E84-426E-40DD-AFC4-6F175D3DCCD1}">
              <a14:hiddenFill xmlns:a14="http://schemas.microsoft.com/office/drawing/2010/main">
                <a:solidFill>
                  <a:srgbClr val="FF6A10"/>
                </a:solidFill>
              </a14:hiddenFill>
            </a:ext>
          </a:extLst>
        </p:spPr>
        <p:txBody>
          <a:bodyPr wrap="square" lIns="0" tIns="0" rIns="0" bIns="0" rtlCol="0" anchor="ctr">
            <a:spAutoFit/>
          </a:bodyPr>
          <a:lstStyle/>
          <a:p>
            <a:pPr algn="ctr" defTabSz="609585">
              <a:buFont typeface="Trebuchet MS" panose="020B0603020202020204" pitchFamily="34" charset="0"/>
              <a:buChar char="​"/>
              <a:defRPr/>
            </a:pPr>
            <a:r>
              <a:rPr lang="zh-TW" altLang="en-US" sz="1200">
                <a:solidFill>
                  <a:srgbClr val="A8B21C"/>
                </a:solidFill>
                <a:latin typeface="Trebuchet MS" panose="020B0603020202020204" pitchFamily="34" charset="0"/>
                <a:ea typeface="Microsoft YaHei" panose="020B0503020204020204" pitchFamily="34" charset="-122"/>
              </a:rPr>
              <a:t>凱基既有</a:t>
            </a:r>
            <a:r>
              <a:rPr lang="en-US" altLang="zh-TW" sz="1200">
                <a:solidFill>
                  <a:srgbClr val="A8B21C"/>
                </a:solidFill>
                <a:latin typeface="Trebuchet MS" panose="020B0603020202020204" pitchFamily="34" charset="0"/>
                <a:ea typeface="Microsoft YaHei" panose="020B0503020204020204" pitchFamily="34" charset="-122"/>
              </a:rPr>
              <a:t>M</a:t>
            </a:r>
            <a:r>
              <a:rPr lang="zh-TW" altLang="en-US" sz="1200">
                <a:solidFill>
                  <a:srgbClr val="A8B21C"/>
                </a:solidFill>
                <a:latin typeface="Trebuchet MS" panose="020B0603020202020204" pitchFamily="34" charset="0"/>
                <a:ea typeface="Microsoft YaHei" panose="020B0503020204020204" pitchFamily="34" charset="-122"/>
              </a:rPr>
              <a:t>升</a:t>
            </a:r>
            <a:r>
              <a:rPr lang="en-US" altLang="zh-TW" sz="1200">
                <a:solidFill>
                  <a:srgbClr val="A8B21C"/>
                </a:solidFill>
                <a:latin typeface="Trebuchet MS" panose="020B0603020202020204" pitchFamily="34" charset="0"/>
                <a:ea typeface="Microsoft YaHei" panose="020B0503020204020204" pitchFamily="34" charset="-122"/>
              </a:rPr>
              <a:t>A</a:t>
            </a:r>
            <a:r>
              <a:rPr lang="zh-TW" altLang="en-US" sz="1200">
                <a:solidFill>
                  <a:srgbClr val="A8B21C"/>
                </a:solidFill>
                <a:latin typeface="Trebuchet MS" panose="020B0603020202020204" pitchFamily="34" charset="0"/>
                <a:ea typeface="Microsoft YaHei" panose="020B0503020204020204" pitchFamily="34" charset="-122"/>
              </a:rPr>
              <a:t>模型未涵蓋</a:t>
            </a:r>
            <a:endParaRPr lang="fi-FI" sz="1200">
              <a:solidFill>
                <a:srgbClr val="A8B21C"/>
              </a:solidFill>
              <a:latin typeface="Trebuchet MS" panose="020B0603020202020204" pitchFamily="34" charset="0"/>
              <a:ea typeface="Microsoft YaHei" panose="020B0503020204020204" pitchFamily="34" charset="-122"/>
            </a:endParaRPr>
          </a:p>
        </p:txBody>
      </p:sp>
      <p:grpSp>
        <p:nvGrpSpPr>
          <p:cNvPr id="121" name="Group 120">
            <a:extLst>
              <a:ext uri="{FF2B5EF4-FFF2-40B4-BE49-F238E27FC236}">
                <a16:creationId xmlns:a16="http://schemas.microsoft.com/office/drawing/2014/main" id="{63981208-09A9-7355-7EE9-FFB499CEDC44}"/>
              </a:ext>
            </a:extLst>
          </p:cNvPr>
          <p:cNvGrpSpPr>
            <a:grpSpLocks noChangeAspect="1"/>
          </p:cNvGrpSpPr>
          <p:nvPr/>
        </p:nvGrpSpPr>
        <p:grpSpPr>
          <a:xfrm>
            <a:off x="9191198" y="1442996"/>
            <a:ext cx="194033" cy="194033"/>
            <a:chOff x="1500504" y="4271963"/>
            <a:chExt cx="269875" cy="269875"/>
          </a:xfrm>
        </p:grpSpPr>
        <p:sp>
          <p:nvSpPr>
            <p:cNvPr id="122" name="Oval 40">
              <a:extLst>
                <a:ext uri="{FF2B5EF4-FFF2-40B4-BE49-F238E27FC236}">
                  <a16:creationId xmlns:a16="http://schemas.microsoft.com/office/drawing/2014/main" id="{3EC4157F-6944-5B79-02FB-0449B71AD228}"/>
                </a:ext>
              </a:extLst>
            </p:cNvPr>
            <p:cNvSpPr>
              <a:spLocks noChangeArrowheads="1"/>
            </p:cNvSpPr>
            <p:nvPr/>
          </p:nvSpPr>
          <p:spPr bwMode="auto">
            <a:xfrm>
              <a:off x="1500504" y="4271963"/>
              <a:ext cx="269875" cy="269875"/>
            </a:xfrm>
            <a:prstGeom prst="ellipse">
              <a:avLst/>
            </a:prstGeom>
            <a:solidFill>
              <a:srgbClr val="A8B21C"/>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a typeface="Microsoft YaHei" panose="020B0503020204020204" pitchFamily="34" charset="-122"/>
              </a:endParaRPr>
            </a:p>
          </p:txBody>
        </p:sp>
        <p:sp>
          <p:nvSpPr>
            <p:cNvPr id="123" name="Freeform 41">
              <a:extLst>
                <a:ext uri="{FF2B5EF4-FFF2-40B4-BE49-F238E27FC236}">
                  <a16:creationId xmlns:a16="http://schemas.microsoft.com/office/drawing/2014/main" id="{6A042229-E87C-ECB5-A076-EA350CBE1ACB}"/>
                </a:ext>
              </a:extLst>
            </p:cNvPr>
            <p:cNvSpPr>
              <a:spLocks noEditPoints="1"/>
            </p:cNvSpPr>
            <p:nvPr/>
          </p:nvSpPr>
          <p:spPr bwMode="auto">
            <a:xfrm>
              <a:off x="1619566" y="4333875"/>
              <a:ext cx="30162" cy="147637"/>
            </a:xfrm>
            <a:custGeom>
              <a:avLst/>
              <a:gdLst>
                <a:gd name="T0" fmla="*/ 50 w 137"/>
                <a:gd name="T1" fmla="*/ 506 h 689"/>
                <a:gd name="T2" fmla="*/ 15 w 137"/>
                <a:gd name="T3" fmla="*/ 187 h 689"/>
                <a:gd name="T4" fmla="*/ 15 w 137"/>
                <a:gd name="T5" fmla="*/ 0 h 689"/>
                <a:gd name="T6" fmla="*/ 118 w 137"/>
                <a:gd name="T7" fmla="*/ 0 h 689"/>
                <a:gd name="T8" fmla="*/ 118 w 137"/>
                <a:gd name="T9" fmla="*/ 187 h 689"/>
                <a:gd name="T10" fmla="*/ 82 w 137"/>
                <a:gd name="T11" fmla="*/ 506 h 689"/>
                <a:gd name="T12" fmla="*/ 50 w 137"/>
                <a:gd name="T13" fmla="*/ 506 h 689"/>
                <a:gd name="T14" fmla="*/ 69 w 137"/>
                <a:gd name="T15" fmla="*/ 552 h 689"/>
                <a:gd name="T16" fmla="*/ 21 w 137"/>
                <a:gd name="T17" fmla="*/ 572 h 689"/>
                <a:gd name="T18" fmla="*/ 0 w 137"/>
                <a:gd name="T19" fmla="*/ 620 h 689"/>
                <a:gd name="T20" fmla="*/ 21 w 137"/>
                <a:gd name="T21" fmla="*/ 669 h 689"/>
                <a:gd name="T22" fmla="*/ 69 w 137"/>
                <a:gd name="T23" fmla="*/ 689 h 689"/>
                <a:gd name="T24" fmla="*/ 117 w 137"/>
                <a:gd name="T25" fmla="*/ 669 h 689"/>
                <a:gd name="T26" fmla="*/ 137 w 137"/>
                <a:gd name="T27" fmla="*/ 620 h 689"/>
                <a:gd name="T28" fmla="*/ 117 w 137"/>
                <a:gd name="T29" fmla="*/ 572 h 689"/>
                <a:gd name="T30" fmla="*/ 69 w 137"/>
                <a:gd name="T31" fmla="*/ 552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7" h="689">
                  <a:moveTo>
                    <a:pt x="50" y="506"/>
                  </a:moveTo>
                  <a:cubicBezTo>
                    <a:pt x="26" y="353"/>
                    <a:pt x="15" y="247"/>
                    <a:pt x="15" y="187"/>
                  </a:cubicBezTo>
                  <a:cubicBezTo>
                    <a:pt x="15" y="0"/>
                    <a:pt x="15" y="0"/>
                    <a:pt x="15" y="0"/>
                  </a:cubicBezTo>
                  <a:cubicBezTo>
                    <a:pt x="118" y="0"/>
                    <a:pt x="118" y="0"/>
                    <a:pt x="118" y="0"/>
                  </a:cubicBezTo>
                  <a:cubicBezTo>
                    <a:pt x="118" y="187"/>
                    <a:pt x="118" y="187"/>
                    <a:pt x="118" y="187"/>
                  </a:cubicBezTo>
                  <a:cubicBezTo>
                    <a:pt x="118" y="245"/>
                    <a:pt x="106" y="351"/>
                    <a:pt x="82" y="506"/>
                  </a:cubicBezTo>
                  <a:lnTo>
                    <a:pt x="50" y="506"/>
                  </a:lnTo>
                  <a:close/>
                  <a:moveTo>
                    <a:pt x="69" y="552"/>
                  </a:moveTo>
                  <a:cubicBezTo>
                    <a:pt x="50" y="552"/>
                    <a:pt x="34" y="558"/>
                    <a:pt x="21" y="572"/>
                  </a:cubicBezTo>
                  <a:cubicBezTo>
                    <a:pt x="7" y="585"/>
                    <a:pt x="0" y="601"/>
                    <a:pt x="0" y="620"/>
                  </a:cubicBezTo>
                  <a:cubicBezTo>
                    <a:pt x="0" y="639"/>
                    <a:pt x="7" y="655"/>
                    <a:pt x="21" y="669"/>
                  </a:cubicBezTo>
                  <a:cubicBezTo>
                    <a:pt x="34" y="682"/>
                    <a:pt x="50" y="689"/>
                    <a:pt x="69" y="689"/>
                  </a:cubicBezTo>
                  <a:cubicBezTo>
                    <a:pt x="88" y="689"/>
                    <a:pt x="104" y="682"/>
                    <a:pt x="117" y="669"/>
                  </a:cubicBezTo>
                  <a:cubicBezTo>
                    <a:pt x="131" y="655"/>
                    <a:pt x="137" y="639"/>
                    <a:pt x="137" y="620"/>
                  </a:cubicBezTo>
                  <a:cubicBezTo>
                    <a:pt x="137" y="601"/>
                    <a:pt x="131" y="585"/>
                    <a:pt x="117" y="572"/>
                  </a:cubicBezTo>
                  <a:cubicBezTo>
                    <a:pt x="104" y="558"/>
                    <a:pt x="88" y="552"/>
                    <a:pt x="69" y="55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a typeface="Microsoft YaHei" panose="020B0503020204020204" pitchFamily="34" charset="-122"/>
              </a:endParaRPr>
            </a:p>
          </p:txBody>
        </p:sp>
      </p:grpSp>
      <p:grpSp>
        <p:nvGrpSpPr>
          <p:cNvPr id="92" name="Group 91">
            <a:extLst>
              <a:ext uri="{FF2B5EF4-FFF2-40B4-BE49-F238E27FC236}">
                <a16:creationId xmlns:a16="http://schemas.microsoft.com/office/drawing/2014/main" id="{F83669FC-6D7F-3B9E-55C7-8520D62C8F62}"/>
              </a:ext>
            </a:extLst>
          </p:cNvPr>
          <p:cNvGrpSpPr>
            <a:grpSpLocks noChangeAspect="1"/>
          </p:cNvGrpSpPr>
          <p:nvPr/>
        </p:nvGrpSpPr>
        <p:grpSpPr>
          <a:xfrm>
            <a:off x="2163544" y="2693544"/>
            <a:ext cx="194033" cy="194033"/>
            <a:chOff x="1500504" y="4271963"/>
            <a:chExt cx="269875" cy="269875"/>
          </a:xfrm>
        </p:grpSpPr>
        <p:sp>
          <p:nvSpPr>
            <p:cNvPr id="93" name="Oval 40">
              <a:extLst>
                <a:ext uri="{FF2B5EF4-FFF2-40B4-BE49-F238E27FC236}">
                  <a16:creationId xmlns:a16="http://schemas.microsoft.com/office/drawing/2014/main" id="{6ABD9B16-0F3D-9959-61B9-2CD53AC8B1E2}"/>
                </a:ext>
              </a:extLst>
            </p:cNvPr>
            <p:cNvSpPr>
              <a:spLocks noChangeArrowheads="1"/>
            </p:cNvSpPr>
            <p:nvPr/>
          </p:nvSpPr>
          <p:spPr bwMode="auto">
            <a:xfrm>
              <a:off x="1500504" y="4271963"/>
              <a:ext cx="269875" cy="269875"/>
            </a:xfrm>
            <a:prstGeom prst="ellipse">
              <a:avLst/>
            </a:prstGeom>
            <a:solidFill>
              <a:srgbClr val="A8B21C"/>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a typeface="Microsoft YaHei" panose="020B0503020204020204" pitchFamily="34" charset="-122"/>
              </a:endParaRPr>
            </a:p>
          </p:txBody>
        </p:sp>
        <p:sp>
          <p:nvSpPr>
            <p:cNvPr id="94" name="Freeform 41">
              <a:extLst>
                <a:ext uri="{FF2B5EF4-FFF2-40B4-BE49-F238E27FC236}">
                  <a16:creationId xmlns:a16="http://schemas.microsoft.com/office/drawing/2014/main" id="{280C6BAA-D975-06FC-8680-1114831E08C9}"/>
                </a:ext>
              </a:extLst>
            </p:cNvPr>
            <p:cNvSpPr>
              <a:spLocks noEditPoints="1"/>
            </p:cNvSpPr>
            <p:nvPr/>
          </p:nvSpPr>
          <p:spPr bwMode="auto">
            <a:xfrm>
              <a:off x="1619566" y="4333875"/>
              <a:ext cx="30162" cy="147637"/>
            </a:xfrm>
            <a:custGeom>
              <a:avLst/>
              <a:gdLst>
                <a:gd name="T0" fmla="*/ 50 w 137"/>
                <a:gd name="T1" fmla="*/ 506 h 689"/>
                <a:gd name="T2" fmla="*/ 15 w 137"/>
                <a:gd name="T3" fmla="*/ 187 h 689"/>
                <a:gd name="T4" fmla="*/ 15 w 137"/>
                <a:gd name="T5" fmla="*/ 0 h 689"/>
                <a:gd name="T6" fmla="*/ 118 w 137"/>
                <a:gd name="T7" fmla="*/ 0 h 689"/>
                <a:gd name="T8" fmla="*/ 118 w 137"/>
                <a:gd name="T9" fmla="*/ 187 h 689"/>
                <a:gd name="T10" fmla="*/ 82 w 137"/>
                <a:gd name="T11" fmla="*/ 506 h 689"/>
                <a:gd name="T12" fmla="*/ 50 w 137"/>
                <a:gd name="T13" fmla="*/ 506 h 689"/>
                <a:gd name="T14" fmla="*/ 69 w 137"/>
                <a:gd name="T15" fmla="*/ 552 h 689"/>
                <a:gd name="T16" fmla="*/ 21 w 137"/>
                <a:gd name="T17" fmla="*/ 572 h 689"/>
                <a:gd name="T18" fmla="*/ 0 w 137"/>
                <a:gd name="T19" fmla="*/ 620 h 689"/>
                <a:gd name="T20" fmla="*/ 21 w 137"/>
                <a:gd name="T21" fmla="*/ 669 h 689"/>
                <a:gd name="T22" fmla="*/ 69 w 137"/>
                <a:gd name="T23" fmla="*/ 689 h 689"/>
                <a:gd name="T24" fmla="*/ 117 w 137"/>
                <a:gd name="T25" fmla="*/ 669 h 689"/>
                <a:gd name="T26" fmla="*/ 137 w 137"/>
                <a:gd name="T27" fmla="*/ 620 h 689"/>
                <a:gd name="T28" fmla="*/ 117 w 137"/>
                <a:gd name="T29" fmla="*/ 572 h 689"/>
                <a:gd name="T30" fmla="*/ 69 w 137"/>
                <a:gd name="T31" fmla="*/ 552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7" h="689">
                  <a:moveTo>
                    <a:pt x="50" y="506"/>
                  </a:moveTo>
                  <a:cubicBezTo>
                    <a:pt x="26" y="353"/>
                    <a:pt x="15" y="247"/>
                    <a:pt x="15" y="187"/>
                  </a:cubicBezTo>
                  <a:cubicBezTo>
                    <a:pt x="15" y="0"/>
                    <a:pt x="15" y="0"/>
                    <a:pt x="15" y="0"/>
                  </a:cubicBezTo>
                  <a:cubicBezTo>
                    <a:pt x="118" y="0"/>
                    <a:pt x="118" y="0"/>
                    <a:pt x="118" y="0"/>
                  </a:cubicBezTo>
                  <a:cubicBezTo>
                    <a:pt x="118" y="187"/>
                    <a:pt x="118" y="187"/>
                    <a:pt x="118" y="187"/>
                  </a:cubicBezTo>
                  <a:cubicBezTo>
                    <a:pt x="118" y="245"/>
                    <a:pt x="106" y="351"/>
                    <a:pt x="82" y="506"/>
                  </a:cubicBezTo>
                  <a:lnTo>
                    <a:pt x="50" y="506"/>
                  </a:lnTo>
                  <a:close/>
                  <a:moveTo>
                    <a:pt x="69" y="552"/>
                  </a:moveTo>
                  <a:cubicBezTo>
                    <a:pt x="50" y="552"/>
                    <a:pt x="34" y="558"/>
                    <a:pt x="21" y="572"/>
                  </a:cubicBezTo>
                  <a:cubicBezTo>
                    <a:pt x="7" y="585"/>
                    <a:pt x="0" y="601"/>
                    <a:pt x="0" y="620"/>
                  </a:cubicBezTo>
                  <a:cubicBezTo>
                    <a:pt x="0" y="639"/>
                    <a:pt x="7" y="655"/>
                    <a:pt x="21" y="669"/>
                  </a:cubicBezTo>
                  <a:cubicBezTo>
                    <a:pt x="34" y="682"/>
                    <a:pt x="50" y="689"/>
                    <a:pt x="69" y="689"/>
                  </a:cubicBezTo>
                  <a:cubicBezTo>
                    <a:pt x="88" y="689"/>
                    <a:pt x="104" y="682"/>
                    <a:pt x="117" y="669"/>
                  </a:cubicBezTo>
                  <a:cubicBezTo>
                    <a:pt x="131" y="655"/>
                    <a:pt x="137" y="639"/>
                    <a:pt x="137" y="620"/>
                  </a:cubicBezTo>
                  <a:cubicBezTo>
                    <a:pt x="137" y="601"/>
                    <a:pt x="131" y="585"/>
                    <a:pt x="117" y="572"/>
                  </a:cubicBezTo>
                  <a:cubicBezTo>
                    <a:pt x="104" y="558"/>
                    <a:pt x="88" y="552"/>
                    <a:pt x="69" y="55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a typeface="Microsoft YaHei" panose="020B0503020204020204" pitchFamily="34" charset="-122"/>
              </a:endParaRPr>
            </a:p>
          </p:txBody>
        </p:sp>
      </p:grpSp>
      <p:grpSp>
        <p:nvGrpSpPr>
          <p:cNvPr id="125" name="Group 124">
            <a:extLst>
              <a:ext uri="{FF2B5EF4-FFF2-40B4-BE49-F238E27FC236}">
                <a16:creationId xmlns:a16="http://schemas.microsoft.com/office/drawing/2014/main" id="{FD5BB69B-E83F-9816-8CD7-CAD4358E8B98}"/>
              </a:ext>
            </a:extLst>
          </p:cNvPr>
          <p:cNvGrpSpPr>
            <a:grpSpLocks noChangeAspect="1"/>
          </p:cNvGrpSpPr>
          <p:nvPr/>
        </p:nvGrpSpPr>
        <p:grpSpPr>
          <a:xfrm>
            <a:off x="2163544" y="2911156"/>
            <a:ext cx="194033" cy="194033"/>
            <a:chOff x="1500504" y="4271963"/>
            <a:chExt cx="269875" cy="269875"/>
          </a:xfrm>
        </p:grpSpPr>
        <p:sp>
          <p:nvSpPr>
            <p:cNvPr id="126" name="Oval 40">
              <a:extLst>
                <a:ext uri="{FF2B5EF4-FFF2-40B4-BE49-F238E27FC236}">
                  <a16:creationId xmlns:a16="http://schemas.microsoft.com/office/drawing/2014/main" id="{CD3C36C6-2C4B-11F4-6FDD-75411D559CD8}"/>
                </a:ext>
              </a:extLst>
            </p:cNvPr>
            <p:cNvSpPr>
              <a:spLocks noChangeArrowheads="1"/>
            </p:cNvSpPr>
            <p:nvPr/>
          </p:nvSpPr>
          <p:spPr bwMode="auto">
            <a:xfrm>
              <a:off x="1500504" y="4271963"/>
              <a:ext cx="269875" cy="269875"/>
            </a:xfrm>
            <a:prstGeom prst="ellipse">
              <a:avLst/>
            </a:prstGeom>
            <a:solidFill>
              <a:srgbClr val="A8B21C"/>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a typeface="Microsoft YaHei" panose="020B0503020204020204" pitchFamily="34" charset="-122"/>
              </a:endParaRPr>
            </a:p>
          </p:txBody>
        </p:sp>
        <p:sp>
          <p:nvSpPr>
            <p:cNvPr id="127" name="Freeform 41">
              <a:extLst>
                <a:ext uri="{FF2B5EF4-FFF2-40B4-BE49-F238E27FC236}">
                  <a16:creationId xmlns:a16="http://schemas.microsoft.com/office/drawing/2014/main" id="{54675B23-4EDD-3EA4-F5C5-4BDD7F080030}"/>
                </a:ext>
              </a:extLst>
            </p:cNvPr>
            <p:cNvSpPr>
              <a:spLocks noEditPoints="1"/>
            </p:cNvSpPr>
            <p:nvPr/>
          </p:nvSpPr>
          <p:spPr bwMode="auto">
            <a:xfrm>
              <a:off x="1619566" y="4333875"/>
              <a:ext cx="30162" cy="147637"/>
            </a:xfrm>
            <a:custGeom>
              <a:avLst/>
              <a:gdLst>
                <a:gd name="T0" fmla="*/ 50 w 137"/>
                <a:gd name="T1" fmla="*/ 506 h 689"/>
                <a:gd name="T2" fmla="*/ 15 w 137"/>
                <a:gd name="T3" fmla="*/ 187 h 689"/>
                <a:gd name="T4" fmla="*/ 15 w 137"/>
                <a:gd name="T5" fmla="*/ 0 h 689"/>
                <a:gd name="T6" fmla="*/ 118 w 137"/>
                <a:gd name="T7" fmla="*/ 0 h 689"/>
                <a:gd name="T8" fmla="*/ 118 w 137"/>
                <a:gd name="T9" fmla="*/ 187 h 689"/>
                <a:gd name="T10" fmla="*/ 82 w 137"/>
                <a:gd name="T11" fmla="*/ 506 h 689"/>
                <a:gd name="T12" fmla="*/ 50 w 137"/>
                <a:gd name="T13" fmla="*/ 506 h 689"/>
                <a:gd name="T14" fmla="*/ 69 w 137"/>
                <a:gd name="T15" fmla="*/ 552 h 689"/>
                <a:gd name="T16" fmla="*/ 21 w 137"/>
                <a:gd name="T17" fmla="*/ 572 h 689"/>
                <a:gd name="T18" fmla="*/ 0 w 137"/>
                <a:gd name="T19" fmla="*/ 620 h 689"/>
                <a:gd name="T20" fmla="*/ 21 w 137"/>
                <a:gd name="T21" fmla="*/ 669 h 689"/>
                <a:gd name="T22" fmla="*/ 69 w 137"/>
                <a:gd name="T23" fmla="*/ 689 h 689"/>
                <a:gd name="T24" fmla="*/ 117 w 137"/>
                <a:gd name="T25" fmla="*/ 669 h 689"/>
                <a:gd name="T26" fmla="*/ 137 w 137"/>
                <a:gd name="T27" fmla="*/ 620 h 689"/>
                <a:gd name="T28" fmla="*/ 117 w 137"/>
                <a:gd name="T29" fmla="*/ 572 h 689"/>
                <a:gd name="T30" fmla="*/ 69 w 137"/>
                <a:gd name="T31" fmla="*/ 552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7" h="689">
                  <a:moveTo>
                    <a:pt x="50" y="506"/>
                  </a:moveTo>
                  <a:cubicBezTo>
                    <a:pt x="26" y="353"/>
                    <a:pt x="15" y="247"/>
                    <a:pt x="15" y="187"/>
                  </a:cubicBezTo>
                  <a:cubicBezTo>
                    <a:pt x="15" y="0"/>
                    <a:pt x="15" y="0"/>
                    <a:pt x="15" y="0"/>
                  </a:cubicBezTo>
                  <a:cubicBezTo>
                    <a:pt x="118" y="0"/>
                    <a:pt x="118" y="0"/>
                    <a:pt x="118" y="0"/>
                  </a:cubicBezTo>
                  <a:cubicBezTo>
                    <a:pt x="118" y="187"/>
                    <a:pt x="118" y="187"/>
                    <a:pt x="118" y="187"/>
                  </a:cubicBezTo>
                  <a:cubicBezTo>
                    <a:pt x="118" y="245"/>
                    <a:pt x="106" y="351"/>
                    <a:pt x="82" y="506"/>
                  </a:cubicBezTo>
                  <a:lnTo>
                    <a:pt x="50" y="506"/>
                  </a:lnTo>
                  <a:close/>
                  <a:moveTo>
                    <a:pt x="69" y="552"/>
                  </a:moveTo>
                  <a:cubicBezTo>
                    <a:pt x="50" y="552"/>
                    <a:pt x="34" y="558"/>
                    <a:pt x="21" y="572"/>
                  </a:cubicBezTo>
                  <a:cubicBezTo>
                    <a:pt x="7" y="585"/>
                    <a:pt x="0" y="601"/>
                    <a:pt x="0" y="620"/>
                  </a:cubicBezTo>
                  <a:cubicBezTo>
                    <a:pt x="0" y="639"/>
                    <a:pt x="7" y="655"/>
                    <a:pt x="21" y="669"/>
                  </a:cubicBezTo>
                  <a:cubicBezTo>
                    <a:pt x="34" y="682"/>
                    <a:pt x="50" y="689"/>
                    <a:pt x="69" y="689"/>
                  </a:cubicBezTo>
                  <a:cubicBezTo>
                    <a:pt x="88" y="689"/>
                    <a:pt x="104" y="682"/>
                    <a:pt x="117" y="669"/>
                  </a:cubicBezTo>
                  <a:cubicBezTo>
                    <a:pt x="131" y="655"/>
                    <a:pt x="137" y="639"/>
                    <a:pt x="137" y="620"/>
                  </a:cubicBezTo>
                  <a:cubicBezTo>
                    <a:pt x="137" y="601"/>
                    <a:pt x="131" y="585"/>
                    <a:pt x="117" y="572"/>
                  </a:cubicBezTo>
                  <a:cubicBezTo>
                    <a:pt x="104" y="558"/>
                    <a:pt x="88" y="552"/>
                    <a:pt x="69" y="55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a typeface="Microsoft YaHei" panose="020B0503020204020204" pitchFamily="34" charset="-122"/>
              </a:endParaRPr>
            </a:p>
          </p:txBody>
        </p:sp>
      </p:grpSp>
      <p:grpSp>
        <p:nvGrpSpPr>
          <p:cNvPr id="128" name="Group 127">
            <a:extLst>
              <a:ext uri="{FF2B5EF4-FFF2-40B4-BE49-F238E27FC236}">
                <a16:creationId xmlns:a16="http://schemas.microsoft.com/office/drawing/2014/main" id="{7910490D-50BA-9A56-D7BF-93BF409AE615}"/>
              </a:ext>
            </a:extLst>
          </p:cNvPr>
          <p:cNvGrpSpPr>
            <a:grpSpLocks noChangeAspect="1"/>
          </p:cNvGrpSpPr>
          <p:nvPr/>
        </p:nvGrpSpPr>
        <p:grpSpPr>
          <a:xfrm>
            <a:off x="1621867" y="3664520"/>
            <a:ext cx="194033" cy="194033"/>
            <a:chOff x="1500504" y="4271963"/>
            <a:chExt cx="269875" cy="269875"/>
          </a:xfrm>
        </p:grpSpPr>
        <p:sp>
          <p:nvSpPr>
            <p:cNvPr id="129" name="Oval 40">
              <a:extLst>
                <a:ext uri="{FF2B5EF4-FFF2-40B4-BE49-F238E27FC236}">
                  <a16:creationId xmlns:a16="http://schemas.microsoft.com/office/drawing/2014/main" id="{FC683ED7-D8B0-3201-A549-CE200AA2EBE2}"/>
                </a:ext>
              </a:extLst>
            </p:cNvPr>
            <p:cNvSpPr>
              <a:spLocks noChangeArrowheads="1"/>
            </p:cNvSpPr>
            <p:nvPr/>
          </p:nvSpPr>
          <p:spPr bwMode="auto">
            <a:xfrm>
              <a:off x="1500504" y="4271963"/>
              <a:ext cx="269875" cy="269875"/>
            </a:xfrm>
            <a:prstGeom prst="ellipse">
              <a:avLst/>
            </a:prstGeom>
            <a:solidFill>
              <a:srgbClr val="A8B21C"/>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a typeface="Microsoft YaHei" panose="020B0503020204020204" pitchFamily="34" charset="-122"/>
              </a:endParaRPr>
            </a:p>
          </p:txBody>
        </p:sp>
        <p:sp>
          <p:nvSpPr>
            <p:cNvPr id="130" name="Freeform 41">
              <a:extLst>
                <a:ext uri="{FF2B5EF4-FFF2-40B4-BE49-F238E27FC236}">
                  <a16:creationId xmlns:a16="http://schemas.microsoft.com/office/drawing/2014/main" id="{B3B25674-CB1B-7DED-A0F8-457997C27491}"/>
                </a:ext>
              </a:extLst>
            </p:cNvPr>
            <p:cNvSpPr>
              <a:spLocks noEditPoints="1"/>
            </p:cNvSpPr>
            <p:nvPr/>
          </p:nvSpPr>
          <p:spPr bwMode="auto">
            <a:xfrm>
              <a:off x="1619566" y="4333875"/>
              <a:ext cx="30162" cy="147637"/>
            </a:xfrm>
            <a:custGeom>
              <a:avLst/>
              <a:gdLst>
                <a:gd name="T0" fmla="*/ 50 w 137"/>
                <a:gd name="T1" fmla="*/ 506 h 689"/>
                <a:gd name="T2" fmla="*/ 15 w 137"/>
                <a:gd name="T3" fmla="*/ 187 h 689"/>
                <a:gd name="T4" fmla="*/ 15 w 137"/>
                <a:gd name="T5" fmla="*/ 0 h 689"/>
                <a:gd name="T6" fmla="*/ 118 w 137"/>
                <a:gd name="T7" fmla="*/ 0 h 689"/>
                <a:gd name="T8" fmla="*/ 118 w 137"/>
                <a:gd name="T9" fmla="*/ 187 h 689"/>
                <a:gd name="T10" fmla="*/ 82 w 137"/>
                <a:gd name="T11" fmla="*/ 506 h 689"/>
                <a:gd name="T12" fmla="*/ 50 w 137"/>
                <a:gd name="T13" fmla="*/ 506 h 689"/>
                <a:gd name="T14" fmla="*/ 69 w 137"/>
                <a:gd name="T15" fmla="*/ 552 h 689"/>
                <a:gd name="T16" fmla="*/ 21 w 137"/>
                <a:gd name="T17" fmla="*/ 572 h 689"/>
                <a:gd name="T18" fmla="*/ 0 w 137"/>
                <a:gd name="T19" fmla="*/ 620 h 689"/>
                <a:gd name="T20" fmla="*/ 21 w 137"/>
                <a:gd name="T21" fmla="*/ 669 h 689"/>
                <a:gd name="T22" fmla="*/ 69 w 137"/>
                <a:gd name="T23" fmla="*/ 689 h 689"/>
                <a:gd name="T24" fmla="*/ 117 w 137"/>
                <a:gd name="T25" fmla="*/ 669 h 689"/>
                <a:gd name="T26" fmla="*/ 137 w 137"/>
                <a:gd name="T27" fmla="*/ 620 h 689"/>
                <a:gd name="T28" fmla="*/ 117 w 137"/>
                <a:gd name="T29" fmla="*/ 572 h 689"/>
                <a:gd name="T30" fmla="*/ 69 w 137"/>
                <a:gd name="T31" fmla="*/ 552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7" h="689">
                  <a:moveTo>
                    <a:pt x="50" y="506"/>
                  </a:moveTo>
                  <a:cubicBezTo>
                    <a:pt x="26" y="353"/>
                    <a:pt x="15" y="247"/>
                    <a:pt x="15" y="187"/>
                  </a:cubicBezTo>
                  <a:cubicBezTo>
                    <a:pt x="15" y="0"/>
                    <a:pt x="15" y="0"/>
                    <a:pt x="15" y="0"/>
                  </a:cubicBezTo>
                  <a:cubicBezTo>
                    <a:pt x="118" y="0"/>
                    <a:pt x="118" y="0"/>
                    <a:pt x="118" y="0"/>
                  </a:cubicBezTo>
                  <a:cubicBezTo>
                    <a:pt x="118" y="187"/>
                    <a:pt x="118" y="187"/>
                    <a:pt x="118" y="187"/>
                  </a:cubicBezTo>
                  <a:cubicBezTo>
                    <a:pt x="118" y="245"/>
                    <a:pt x="106" y="351"/>
                    <a:pt x="82" y="506"/>
                  </a:cubicBezTo>
                  <a:lnTo>
                    <a:pt x="50" y="506"/>
                  </a:lnTo>
                  <a:close/>
                  <a:moveTo>
                    <a:pt x="69" y="552"/>
                  </a:moveTo>
                  <a:cubicBezTo>
                    <a:pt x="50" y="552"/>
                    <a:pt x="34" y="558"/>
                    <a:pt x="21" y="572"/>
                  </a:cubicBezTo>
                  <a:cubicBezTo>
                    <a:pt x="7" y="585"/>
                    <a:pt x="0" y="601"/>
                    <a:pt x="0" y="620"/>
                  </a:cubicBezTo>
                  <a:cubicBezTo>
                    <a:pt x="0" y="639"/>
                    <a:pt x="7" y="655"/>
                    <a:pt x="21" y="669"/>
                  </a:cubicBezTo>
                  <a:cubicBezTo>
                    <a:pt x="34" y="682"/>
                    <a:pt x="50" y="689"/>
                    <a:pt x="69" y="689"/>
                  </a:cubicBezTo>
                  <a:cubicBezTo>
                    <a:pt x="88" y="689"/>
                    <a:pt x="104" y="682"/>
                    <a:pt x="117" y="669"/>
                  </a:cubicBezTo>
                  <a:cubicBezTo>
                    <a:pt x="131" y="655"/>
                    <a:pt x="137" y="639"/>
                    <a:pt x="137" y="620"/>
                  </a:cubicBezTo>
                  <a:cubicBezTo>
                    <a:pt x="137" y="601"/>
                    <a:pt x="131" y="585"/>
                    <a:pt x="117" y="572"/>
                  </a:cubicBezTo>
                  <a:cubicBezTo>
                    <a:pt x="104" y="558"/>
                    <a:pt x="88" y="552"/>
                    <a:pt x="69" y="55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a typeface="Microsoft YaHei" panose="020B0503020204020204" pitchFamily="34" charset="-122"/>
              </a:endParaRPr>
            </a:p>
          </p:txBody>
        </p:sp>
      </p:grpSp>
      <p:grpSp>
        <p:nvGrpSpPr>
          <p:cNvPr id="131" name="Group 130">
            <a:extLst>
              <a:ext uri="{FF2B5EF4-FFF2-40B4-BE49-F238E27FC236}">
                <a16:creationId xmlns:a16="http://schemas.microsoft.com/office/drawing/2014/main" id="{34D81DE7-FBBD-B5CE-EF06-C77A3CD39B49}"/>
              </a:ext>
            </a:extLst>
          </p:cNvPr>
          <p:cNvGrpSpPr>
            <a:grpSpLocks noChangeAspect="1"/>
          </p:cNvGrpSpPr>
          <p:nvPr/>
        </p:nvGrpSpPr>
        <p:grpSpPr>
          <a:xfrm>
            <a:off x="1621867" y="4193696"/>
            <a:ext cx="194033" cy="194033"/>
            <a:chOff x="1500504" y="4271963"/>
            <a:chExt cx="269875" cy="269875"/>
          </a:xfrm>
        </p:grpSpPr>
        <p:sp>
          <p:nvSpPr>
            <p:cNvPr id="132" name="Oval 40">
              <a:extLst>
                <a:ext uri="{FF2B5EF4-FFF2-40B4-BE49-F238E27FC236}">
                  <a16:creationId xmlns:a16="http://schemas.microsoft.com/office/drawing/2014/main" id="{B8BDF73D-FBF3-0FC1-A177-3DD7E1821F93}"/>
                </a:ext>
              </a:extLst>
            </p:cNvPr>
            <p:cNvSpPr>
              <a:spLocks noChangeArrowheads="1"/>
            </p:cNvSpPr>
            <p:nvPr/>
          </p:nvSpPr>
          <p:spPr bwMode="auto">
            <a:xfrm>
              <a:off x="1500504" y="4271963"/>
              <a:ext cx="269875" cy="269875"/>
            </a:xfrm>
            <a:prstGeom prst="ellipse">
              <a:avLst/>
            </a:prstGeom>
            <a:solidFill>
              <a:srgbClr val="A8B21C"/>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a typeface="Microsoft YaHei" panose="020B0503020204020204" pitchFamily="34" charset="-122"/>
              </a:endParaRPr>
            </a:p>
          </p:txBody>
        </p:sp>
        <p:sp>
          <p:nvSpPr>
            <p:cNvPr id="133" name="Freeform 41">
              <a:extLst>
                <a:ext uri="{FF2B5EF4-FFF2-40B4-BE49-F238E27FC236}">
                  <a16:creationId xmlns:a16="http://schemas.microsoft.com/office/drawing/2014/main" id="{8A4F91E2-9AC2-CC07-D856-FFFF9AF5365C}"/>
                </a:ext>
              </a:extLst>
            </p:cNvPr>
            <p:cNvSpPr>
              <a:spLocks noEditPoints="1"/>
            </p:cNvSpPr>
            <p:nvPr/>
          </p:nvSpPr>
          <p:spPr bwMode="auto">
            <a:xfrm>
              <a:off x="1619566" y="4333875"/>
              <a:ext cx="30162" cy="147637"/>
            </a:xfrm>
            <a:custGeom>
              <a:avLst/>
              <a:gdLst>
                <a:gd name="T0" fmla="*/ 50 w 137"/>
                <a:gd name="T1" fmla="*/ 506 h 689"/>
                <a:gd name="T2" fmla="*/ 15 w 137"/>
                <a:gd name="T3" fmla="*/ 187 h 689"/>
                <a:gd name="T4" fmla="*/ 15 w 137"/>
                <a:gd name="T5" fmla="*/ 0 h 689"/>
                <a:gd name="T6" fmla="*/ 118 w 137"/>
                <a:gd name="T7" fmla="*/ 0 h 689"/>
                <a:gd name="T8" fmla="*/ 118 w 137"/>
                <a:gd name="T9" fmla="*/ 187 h 689"/>
                <a:gd name="T10" fmla="*/ 82 w 137"/>
                <a:gd name="T11" fmla="*/ 506 h 689"/>
                <a:gd name="T12" fmla="*/ 50 w 137"/>
                <a:gd name="T13" fmla="*/ 506 h 689"/>
                <a:gd name="T14" fmla="*/ 69 w 137"/>
                <a:gd name="T15" fmla="*/ 552 h 689"/>
                <a:gd name="T16" fmla="*/ 21 w 137"/>
                <a:gd name="T17" fmla="*/ 572 h 689"/>
                <a:gd name="T18" fmla="*/ 0 w 137"/>
                <a:gd name="T19" fmla="*/ 620 h 689"/>
                <a:gd name="T20" fmla="*/ 21 w 137"/>
                <a:gd name="T21" fmla="*/ 669 h 689"/>
                <a:gd name="T22" fmla="*/ 69 w 137"/>
                <a:gd name="T23" fmla="*/ 689 h 689"/>
                <a:gd name="T24" fmla="*/ 117 w 137"/>
                <a:gd name="T25" fmla="*/ 669 h 689"/>
                <a:gd name="T26" fmla="*/ 137 w 137"/>
                <a:gd name="T27" fmla="*/ 620 h 689"/>
                <a:gd name="T28" fmla="*/ 117 w 137"/>
                <a:gd name="T29" fmla="*/ 572 h 689"/>
                <a:gd name="T30" fmla="*/ 69 w 137"/>
                <a:gd name="T31" fmla="*/ 552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7" h="689">
                  <a:moveTo>
                    <a:pt x="50" y="506"/>
                  </a:moveTo>
                  <a:cubicBezTo>
                    <a:pt x="26" y="353"/>
                    <a:pt x="15" y="247"/>
                    <a:pt x="15" y="187"/>
                  </a:cubicBezTo>
                  <a:cubicBezTo>
                    <a:pt x="15" y="0"/>
                    <a:pt x="15" y="0"/>
                    <a:pt x="15" y="0"/>
                  </a:cubicBezTo>
                  <a:cubicBezTo>
                    <a:pt x="118" y="0"/>
                    <a:pt x="118" y="0"/>
                    <a:pt x="118" y="0"/>
                  </a:cubicBezTo>
                  <a:cubicBezTo>
                    <a:pt x="118" y="187"/>
                    <a:pt x="118" y="187"/>
                    <a:pt x="118" y="187"/>
                  </a:cubicBezTo>
                  <a:cubicBezTo>
                    <a:pt x="118" y="245"/>
                    <a:pt x="106" y="351"/>
                    <a:pt x="82" y="506"/>
                  </a:cubicBezTo>
                  <a:lnTo>
                    <a:pt x="50" y="506"/>
                  </a:lnTo>
                  <a:close/>
                  <a:moveTo>
                    <a:pt x="69" y="552"/>
                  </a:moveTo>
                  <a:cubicBezTo>
                    <a:pt x="50" y="552"/>
                    <a:pt x="34" y="558"/>
                    <a:pt x="21" y="572"/>
                  </a:cubicBezTo>
                  <a:cubicBezTo>
                    <a:pt x="7" y="585"/>
                    <a:pt x="0" y="601"/>
                    <a:pt x="0" y="620"/>
                  </a:cubicBezTo>
                  <a:cubicBezTo>
                    <a:pt x="0" y="639"/>
                    <a:pt x="7" y="655"/>
                    <a:pt x="21" y="669"/>
                  </a:cubicBezTo>
                  <a:cubicBezTo>
                    <a:pt x="34" y="682"/>
                    <a:pt x="50" y="689"/>
                    <a:pt x="69" y="689"/>
                  </a:cubicBezTo>
                  <a:cubicBezTo>
                    <a:pt x="88" y="689"/>
                    <a:pt x="104" y="682"/>
                    <a:pt x="117" y="669"/>
                  </a:cubicBezTo>
                  <a:cubicBezTo>
                    <a:pt x="131" y="655"/>
                    <a:pt x="137" y="639"/>
                    <a:pt x="137" y="620"/>
                  </a:cubicBezTo>
                  <a:cubicBezTo>
                    <a:pt x="137" y="601"/>
                    <a:pt x="131" y="585"/>
                    <a:pt x="117" y="572"/>
                  </a:cubicBezTo>
                  <a:cubicBezTo>
                    <a:pt x="104" y="558"/>
                    <a:pt x="88" y="552"/>
                    <a:pt x="69" y="55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a typeface="Microsoft YaHei" panose="020B0503020204020204" pitchFamily="34" charset="-122"/>
              </a:endParaRPr>
            </a:p>
          </p:txBody>
        </p:sp>
      </p:grpSp>
      <p:grpSp>
        <p:nvGrpSpPr>
          <p:cNvPr id="134" name="Group 133">
            <a:extLst>
              <a:ext uri="{FF2B5EF4-FFF2-40B4-BE49-F238E27FC236}">
                <a16:creationId xmlns:a16="http://schemas.microsoft.com/office/drawing/2014/main" id="{3880F639-5F2E-4F3A-8AB8-E613090E9702}"/>
              </a:ext>
            </a:extLst>
          </p:cNvPr>
          <p:cNvGrpSpPr>
            <a:grpSpLocks noChangeAspect="1"/>
          </p:cNvGrpSpPr>
          <p:nvPr/>
        </p:nvGrpSpPr>
        <p:grpSpPr>
          <a:xfrm>
            <a:off x="2019487" y="5011685"/>
            <a:ext cx="194033" cy="194033"/>
            <a:chOff x="1500504" y="4271963"/>
            <a:chExt cx="269875" cy="269875"/>
          </a:xfrm>
        </p:grpSpPr>
        <p:sp>
          <p:nvSpPr>
            <p:cNvPr id="135" name="Oval 40">
              <a:extLst>
                <a:ext uri="{FF2B5EF4-FFF2-40B4-BE49-F238E27FC236}">
                  <a16:creationId xmlns:a16="http://schemas.microsoft.com/office/drawing/2014/main" id="{9E611B1B-6EA0-34E2-173F-7CBB674114A9}"/>
                </a:ext>
              </a:extLst>
            </p:cNvPr>
            <p:cNvSpPr>
              <a:spLocks noChangeArrowheads="1"/>
            </p:cNvSpPr>
            <p:nvPr/>
          </p:nvSpPr>
          <p:spPr bwMode="auto">
            <a:xfrm>
              <a:off x="1500504" y="4271963"/>
              <a:ext cx="269875" cy="269875"/>
            </a:xfrm>
            <a:prstGeom prst="ellipse">
              <a:avLst/>
            </a:prstGeom>
            <a:solidFill>
              <a:srgbClr val="A8B21C"/>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a typeface="Microsoft YaHei" panose="020B0503020204020204" pitchFamily="34" charset="-122"/>
              </a:endParaRPr>
            </a:p>
          </p:txBody>
        </p:sp>
        <p:sp>
          <p:nvSpPr>
            <p:cNvPr id="136" name="Freeform 41">
              <a:extLst>
                <a:ext uri="{FF2B5EF4-FFF2-40B4-BE49-F238E27FC236}">
                  <a16:creationId xmlns:a16="http://schemas.microsoft.com/office/drawing/2014/main" id="{FA930757-2A51-BDE9-64F8-66E55CD451ED}"/>
                </a:ext>
              </a:extLst>
            </p:cNvPr>
            <p:cNvSpPr>
              <a:spLocks noEditPoints="1"/>
            </p:cNvSpPr>
            <p:nvPr/>
          </p:nvSpPr>
          <p:spPr bwMode="auto">
            <a:xfrm>
              <a:off x="1619566" y="4333875"/>
              <a:ext cx="30162" cy="147637"/>
            </a:xfrm>
            <a:custGeom>
              <a:avLst/>
              <a:gdLst>
                <a:gd name="T0" fmla="*/ 50 w 137"/>
                <a:gd name="T1" fmla="*/ 506 h 689"/>
                <a:gd name="T2" fmla="*/ 15 w 137"/>
                <a:gd name="T3" fmla="*/ 187 h 689"/>
                <a:gd name="T4" fmla="*/ 15 w 137"/>
                <a:gd name="T5" fmla="*/ 0 h 689"/>
                <a:gd name="T6" fmla="*/ 118 w 137"/>
                <a:gd name="T7" fmla="*/ 0 h 689"/>
                <a:gd name="T8" fmla="*/ 118 w 137"/>
                <a:gd name="T9" fmla="*/ 187 h 689"/>
                <a:gd name="T10" fmla="*/ 82 w 137"/>
                <a:gd name="T11" fmla="*/ 506 h 689"/>
                <a:gd name="T12" fmla="*/ 50 w 137"/>
                <a:gd name="T13" fmla="*/ 506 h 689"/>
                <a:gd name="T14" fmla="*/ 69 w 137"/>
                <a:gd name="T15" fmla="*/ 552 h 689"/>
                <a:gd name="T16" fmla="*/ 21 w 137"/>
                <a:gd name="T17" fmla="*/ 572 h 689"/>
                <a:gd name="T18" fmla="*/ 0 w 137"/>
                <a:gd name="T19" fmla="*/ 620 h 689"/>
                <a:gd name="T20" fmla="*/ 21 w 137"/>
                <a:gd name="T21" fmla="*/ 669 h 689"/>
                <a:gd name="T22" fmla="*/ 69 w 137"/>
                <a:gd name="T23" fmla="*/ 689 h 689"/>
                <a:gd name="T24" fmla="*/ 117 w 137"/>
                <a:gd name="T25" fmla="*/ 669 h 689"/>
                <a:gd name="T26" fmla="*/ 137 w 137"/>
                <a:gd name="T27" fmla="*/ 620 h 689"/>
                <a:gd name="T28" fmla="*/ 117 w 137"/>
                <a:gd name="T29" fmla="*/ 572 h 689"/>
                <a:gd name="T30" fmla="*/ 69 w 137"/>
                <a:gd name="T31" fmla="*/ 552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7" h="689">
                  <a:moveTo>
                    <a:pt x="50" y="506"/>
                  </a:moveTo>
                  <a:cubicBezTo>
                    <a:pt x="26" y="353"/>
                    <a:pt x="15" y="247"/>
                    <a:pt x="15" y="187"/>
                  </a:cubicBezTo>
                  <a:cubicBezTo>
                    <a:pt x="15" y="0"/>
                    <a:pt x="15" y="0"/>
                    <a:pt x="15" y="0"/>
                  </a:cubicBezTo>
                  <a:cubicBezTo>
                    <a:pt x="118" y="0"/>
                    <a:pt x="118" y="0"/>
                    <a:pt x="118" y="0"/>
                  </a:cubicBezTo>
                  <a:cubicBezTo>
                    <a:pt x="118" y="187"/>
                    <a:pt x="118" y="187"/>
                    <a:pt x="118" y="187"/>
                  </a:cubicBezTo>
                  <a:cubicBezTo>
                    <a:pt x="118" y="245"/>
                    <a:pt x="106" y="351"/>
                    <a:pt x="82" y="506"/>
                  </a:cubicBezTo>
                  <a:lnTo>
                    <a:pt x="50" y="506"/>
                  </a:lnTo>
                  <a:close/>
                  <a:moveTo>
                    <a:pt x="69" y="552"/>
                  </a:moveTo>
                  <a:cubicBezTo>
                    <a:pt x="50" y="552"/>
                    <a:pt x="34" y="558"/>
                    <a:pt x="21" y="572"/>
                  </a:cubicBezTo>
                  <a:cubicBezTo>
                    <a:pt x="7" y="585"/>
                    <a:pt x="0" y="601"/>
                    <a:pt x="0" y="620"/>
                  </a:cubicBezTo>
                  <a:cubicBezTo>
                    <a:pt x="0" y="639"/>
                    <a:pt x="7" y="655"/>
                    <a:pt x="21" y="669"/>
                  </a:cubicBezTo>
                  <a:cubicBezTo>
                    <a:pt x="34" y="682"/>
                    <a:pt x="50" y="689"/>
                    <a:pt x="69" y="689"/>
                  </a:cubicBezTo>
                  <a:cubicBezTo>
                    <a:pt x="88" y="689"/>
                    <a:pt x="104" y="682"/>
                    <a:pt x="117" y="669"/>
                  </a:cubicBezTo>
                  <a:cubicBezTo>
                    <a:pt x="131" y="655"/>
                    <a:pt x="137" y="639"/>
                    <a:pt x="137" y="620"/>
                  </a:cubicBezTo>
                  <a:cubicBezTo>
                    <a:pt x="137" y="601"/>
                    <a:pt x="131" y="585"/>
                    <a:pt x="117" y="572"/>
                  </a:cubicBezTo>
                  <a:cubicBezTo>
                    <a:pt x="104" y="558"/>
                    <a:pt x="88" y="552"/>
                    <a:pt x="69" y="55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a typeface="Microsoft YaHei" panose="020B0503020204020204" pitchFamily="34" charset="-122"/>
              </a:endParaRPr>
            </a:p>
          </p:txBody>
        </p:sp>
      </p:grpSp>
      <p:grpSp>
        <p:nvGrpSpPr>
          <p:cNvPr id="137" name="Group 136">
            <a:extLst>
              <a:ext uri="{FF2B5EF4-FFF2-40B4-BE49-F238E27FC236}">
                <a16:creationId xmlns:a16="http://schemas.microsoft.com/office/drawing/2014/main" id="{B3E3BA85-A825-BE52-E1E2-D0C1A3EB3B2E}"/>
              </a:ext>
            </a:extLst>
          </p:cNvPr>
          <p:cNvGrpSpPr>
            <a:grpSpLocks noChangeAspect="1"/>
          </p:cNvGrpSpPr>
          <p:nvPr/>
        </p:nvGrpSpPr>
        <p:grpSpPr>
          <a:xfrm>
            <a:off x="2019487" y="5326653"/>
            <a:ext cx="194033" cy="194033"/>
            <a:chOff x="1500504" y="4271963"/>
            <a:chExt cx="269875" cy="269875"/>
          </a:xfrm>
        </p:grpSpPr>
        <p:sp>
          <p:nvSpPr>
            <p:cNvPr id="138" name="Oval 40">
              <a:extLst>
                <a:ext uri="{FF2B5EF4-FFF2-40B4-BE49-F238E27FC236}">
                  <a16:creationId xmlns:a16="http://schemas.microsoft.com/office/drawing/2014/main" id="{86287EE3-CE28-9D3A-2642-5C3CD9A4C9BE}"/>
                </a:ext>
              </a:extLst>
            </p:cNvPr>
            <p:cNvSpPr>
              <a:spLocks noChangeArrowheads="1"/>
            </p:cNvSpPr>
            <p:nvPr/>
          </p:nvSpPr>
          <p:spPr bwMode="auto">
            <a:xfrm>
              <a:off x="1500504" y="4271963"/>
              <a:ext cx="269875" cy="269875"/>
            </a:xfrm>
            <a:prstGeom prst="ellipse">
              <a:avLst/>
            </a:prstGeom>
            <a:solidFill>
              <a:srgbClr val="A8B21C"/>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a typeface="Microsoft YaHei" panose="020B0503020204020204" pitchFamily="34" charset="-122"/>
              </a:endParaRPr>
            </a:p>
          </p:txBody>
        </p:sp>
        <p:sp>
          <p:nvSpPr>
            <p:cNvPr id="139" name="Freeform 41">
              <a:extLst>
                <a:ext uri="{FF2B5EF4-FFF2-40B4-BE49-F238E27FC236}">
                  <a16:creationId xmlns:a16="http://schemas.microsoft.com/office/drawing/2014/main" id="{57BBD319-4977-6E11-2BAC-AB110304837F}"/>
                </a:ext>
              </a:extLst>
            </p:cNvPr>
            <p:cNvSpPr>
              <a:spLocks noEditPoints="1"/>
            </p:cNvSpPr>
            <p:nvPr/>
          </p:nvSpPr>
          <p:spPr bwMode="auto">
            <a:xfrm>
              <a:off x="1619566" y="4333875"/>
              <a:ext cx="30162" cy="147637"/>
            </a:xfrm>
            <a:custGeom>
              <a:avLst/>
              <a:gdLst>
                <a:gd name="T0" fmla="*/ 50 w 137"/>
                <a:gd name="T1" fmla="*/ 506 h 689"/>
                <a:gd name="T2" fmla="*/ 15 w 137"/>
                <a:gd name="T3" fmla="*/ 187 h 689"/>
                <a:gd name="T4" fmla="*/ 15 w 137"/>
                <a:gd name="T5" fmla="*/ 0 h 689"/>
                <a:gd name="T6" fmla="*/ 118 w 137"/>
                <a:gd name="T7" fmla="*/ 0 h 689"/>
                <a:gd name="T8" fmla="*/ 118 w 137"/>
                <a:gd name="T9" fmla="*/ 187 h 689"/>
                <a:gd name="T10" fmla="*/ 82 w 137"/>
                <a:gd name="T11" fmla="*/ 506 h 689"/>
                <a:gd name="T12" fmla="*/ 50 w 137"/>
                <a:gd name="T13" fmla="*/ 506 h 689"/>
                <a:gd name="T14" fmla="*/ 69 w 137"/>
                <a:gd name="T15" fmla="*/ 552 h 689"/>
                <a:gd name="T16" fmla="*/ 21 w 137"/>
                <a:gd name="T17" fmla="*/ 572 h 689"/>
                <a:gd name="T18" fmla="*/ 0 w 137"/>
                <a:gd name="T19" fmla="*/ 620 h 689"/>
                <a:gd name="T20" fmla="*/ 21 w 137"/>
                <a:gd name="T21" fmla="*/ 669 h 689"/>
                <a:gd name="T22" fmla="*/ 69 w 137"/>
                <a:gd name="T23" fmla="*/ 689 h 689"/>
                <a:gd name="T24" fmla="*/ 117 w 137"/>
                <a:gd name="T25" fmla="*/ 669 h 689"/>
                <a:gd name="T26" fmla="*/ 137 w 137"/>
                <a:gd name="T27" fmla="*/ 620 h 689"/>
                <a:gd name="T28" fmla="*/ 117 w 137"/>
                <a:gd name="T29" fmla="*/ 572 h 689"/>
                <a:gd name="T30" fmla="*/ 69 w 137"/>
                <a:gd name="T31" fmla="*/ 552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7" h="689">
                  <a:moveTo>
                    <a:pt x="50" y="506"/>
                  </a:moveTo>
                  <a:cubicBezTo>
                    <a:pt x="26" y="353"/>
                    <a:pt x="15" y="247"/>
                    <a:pt x="15" y="187"/>
                  </a:cubicBezTo>
                  <a:cubicBezTo>
                    <a:pt x="15" y="0"/>
                    <a:pt x="15" y="0"/>
                    <a:pt x="15" y="0"/>
                  </a:cubicBezTo>
                  <a:cubicBezTo>
                    <a:pt x="118" y="0"/>
                    <a:pt x="118" y="0"/>
                    <a:pt x="118" y="0"/>
                  </a:cubicBezTo>
                  <a:cubicBezTo>
                    <a:pt x="118" y="187"/>
                    <a:pt x="118" y="187"/>
                    <a:pt x="118" y="187"/>
                  </a:cubicBezTo>
                  <a:cubicBezTo>
                    <a:pt x="118" y="245"/>
                    <a:pt x="106" y="351"/>
                    <a:pt x="82" y="506"/>
                  </a:cubicBezTo>
                  <a:lnTo>
                    <a:pt x="50" y="506"/>
                  </a:lnTo>
                  <a:close/>
                  <a:moveTo>
                    <a:pt x="69" y="552"/>
                  </a:moveTo>
                  <a:cubicBezTo>
                    <a:pt x="50" y="552"/>
                    <a:pt x="34" y="558"/>
                    <a:pt x="21" y="572"/>
                  </a:cubicBezTo>
                  <a:cubicBezTo>
                    <a:pt x="7" y="585"/>
                    <a:pt x="0" y="601"/>
                    <a:pt x="0" y="620"/>
                  </a:cubicBezTo>
                  <a:cubicBezTo>
                    <a:pt x="0" y="639"/>
                    <a:pt x="7" y="655"/>
                    <a:pt x="21" y="669"/>
                  </a:cubicBezTo>
                  <a:cubicBezTo>
                    <a:pt x="34" y="682"/>
                    <a:pt x="50" y="689"/>
                    <a:pt x="69" y="689"/>
                  </a:cubicBezTo>
                  <a:cubicBezTo>
                    <a:pt x="88" y="689"/>
                    <a:pt x="104" y="682"/>
                    <a:pt x="117" y="669"/>
                  </a:cubicBezTo>
                  <a:cubicBezTo>
                    <a:pt x="131" y="655"/>
                    <a:pt x="137" y="639"/>
                    <a:pt x="137" y="620"/>
                  </a:cubicBezTo>
                  <a:cubicBezTo>
                    <a:pt x="137" y="601"/>
                    <a:pt x="131" y="585"/>
                    <a:pt x="117" y="572"/>
                  </a:cubicBezTo>
                  <a:cubicBezTo>
                    <a:pt x="104" y="558"/>
                    <a:pt x="88" y="552"/>
                    <a:pt x="69" y="55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a typeface="Microsoft YaHei" panose="020B0503020204020204" pitchFamily="34" charset="-122"/>
              </a:endParaRPr>
            </a:p>
          </p:txBody>
        </p:sp>
      </p:grpSp>
      <p:grpSp>
        <p:nvGrpSpPr>
          <p:cNvPr id="140" name="Group 139">
            <a:extLst>
              <a:ext uri="{FF2B5EF4-FFF2-40B4-BE49-F238E27FC236}">
                <a16:creationId xmlns:a16="http://schemas.microsoft.com/office/drawing/2014/main" id="{BB3A98EB-9B52-FFA2-1B8C-957AC836D0F1}"/>
              </a:ext>
            </a:extLst>
          </p:cNvPr>
          <p:cNvGrpSpPr>
            <a:grpSpLocks noChangeAspect="1"/>
          </p:cNvGrpSpPr>
          <p:nvPr/>
        </p:nvGrpSpPr>
        <p:grpSpPr>
          <a:xfrm>
            <a:off x="2019487" y="5549835"/>
            <a:ext cx="194033" cy="194033"/>
            <a:chOff x="1500504" y="4271963"/>
            <a:chExt cx="269875" cy="269875"/>
          </a:xfrm>
        </p:grpSpPr>
        <p:sp>
          <p:nvSpPr>
            <p:cNvPr id="141" name="Oval 40">
              <a:extLst>
                <a:ext uri="{FF2B5EF4-FFF2-40B4-BE49-F238E27FC236}">
                  <a16:creationId xmlns:a16="http://schemas.microsoft.com/office/drawing/2014/main" id="{ABD761F8-15B1-8B53-9BD6-DC658EBF7C43}"/>
                </a:ext>
              </a:extLst>
            </p:cNvPr>
            <p:cNvSpPr>
              <a:spLocks noChangeArrowheads="1"/>
            </p:cNvSpPr>
            <p:nvPr/>
          </p:nvSpPr>
          <p:spPr bwMode="auto">
            <a:xfrm>
              <a:off x="1500504" y="4271963"/>
              <a:ext cx="269875" cy="269875"/>
            </a:xfrm>
            <a:prstGeom prst="ellipse">
              <a:avLst/>
            </a:prstGeom>
            <a:solidFill>
              <a:srgbClr val="A8B21C"/>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a typeface="Microsoft YaHei" panose="020B0503020204020204" pitchFamily="34" charset="-122"/>
              </a:endParaRPr>
            </a:p>
          </p:txBody>
        </p:sp>
        <p:sp>
          <p:nvSpPr>
            <p:cNvPr id="142" name="Freeform 41">
              <a:extLst>
                <a:ext uri="{FF2B5EF4-FFF2-40B4-BE49-F238E27FC236}">
                  <a16:creationId xmlns:a16="http://schemas.microsoft.com/office/drawing/2014/main" id="{360C8E1E-E041-CD55-1D69-B3EB39A2B3F6}"/>
                </a:ext>
              </a:extLst>
            </p:cNvPr>
            <p:cNvSpPr>
              <a:spLocks noEditPoints="1"/>
            </p:cNvSpPr>
            <p:nvPr/>
          </p:nvSpPr>
          <p:spPr bwMode="auto">
            <a:xfrm>
              <a:off x="1619566" y="4333875"/>
              <a:ext cx="30162" cy="147637"/>
            </a:xfrm>
            <a:custGeom>
              <a:avLst/>
              <a:gdLst>
                <a:gd name="T0" fmla="*/ 50 w 137"/>
                <a:gd name="T1" fmla="*/ 506 h 689"/>
                <a:gd name="T2" fmla="*/ 15 w 137"/>
                <a:gd name="T3" fmla="*/ 187 h 689"/>
                <a:gd name="T4" fmla="*/ 15 w 137"/>
                <a:gd name="T5" fmla="*/ 0 h 689"/>
                <a:gd name="T6" fmla="*/ 118 w 137"/>
                <a:gd name="T7" fmla="*/ 0 h 689"/>
                <a:gd name="T8" fmla="*/ 118 w 137"/>
                <a:gd name="T9" fmla="*/ 187 h 689"/>
                <a:gd name="T10" fmla="*/ 82 w 137"/>
                <a:gd name="T11" fmla="*/ 506 h 689"/>
                <a:gd name="T12" fmla="*/ 50 w 137"/>
                <a:gd name="T13" fmla="*/ 506 h 689"/>
                <a:gd name="T14" fmla="*/ 69 w 137"/>
                <a:gd name="T15" fmla="*/ 552 h 689"/>
                <a:gd name="T16" fmla="*/ 21 w 137"/>
                <a:gd name="T17" fmla="*/ 572 h 689"/>
                <a:gd name="T18" fmla="*/ 0 w 137"/>
                <a:gd name="T19" fmla="*/ 620 h 689"/>
                <a:gd name="T20" fmla="*/ 21 w 137"/>
                <a:gd name="T21" fmla="*/ 669 h 689"/>
                <a:gd name="T22" fmla="*/ 69 w 137"/>
                <a:gd name="T23" fmla="*/ 689 h 689"/>
                <a:gd name="T24" fmla="*/ 117 w 137"/>
                <a:gd name="T25" fmla="*/ 669 h 689"/>
                <a:gd name="T26" fmla="*/ 137 w 137"/>
                <a:gd name="T27" fmla="*/ 620 h 689"/>
                <a:gd name="T28" fmla="*/ 117 w 137"/>
                <a:gd name="T29" fmla="*/ 572 h 689"/>
                <a:gd name="T30" fmla="*/ 69 w 137"/>
                <a:gd name="T31" fmla="*/ 552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7" h="689">
                  <a:moveTo>
                    <a:pt x="50" y="506"/>
                  </a:moveTo>
                  <a:cubicBezTo>
                    <a:pt x="26" y="353"/>
                    <a:pt x="15" y="247"/>
                    <a:pt x="15" y="187"/>
                  </a:cubicBezTo>
                  <a:cubicBezTo>
                    <a:pt x="15" y="0"/>
                    <a:pt x="15" y="0"/>
                    <a:pt x="15" y="0"/>
                  </a:cubicBezTo>
                  <a:cubicBezTo>
                    <a:pt x="118" y="0"/>
                    <a:pt x="118" y="0"/>
                    <a:pt x="118" y="0"/>
                  </a:cubicBezTo>
                  <a:cubicBezTo>
                    <a:pt x="118" y="187"/>
                    <a:pt x="118" y="187"/>
                    <a:pt x="118" y="187"/>
                  </a:cubicBezTo>
                  <a:cubicBezTo>
                    <a:pt x="118" y="245"/>
                    <a:pt x="106" y="351"/>
                    <a:pt x="82" y="506"/>
                  </a:cubicBezTo>
                  <a:lnTo>
                    <a:pt x="50" y="506"/>
                  </a:lnTo>
                  <a:close/>
                  <a:moveTo>
                    <a:pt x="69" y="552"/>
                  </a:moveTo>
                  <a:cubicBezTo>
                    <a:pt x="50" y="552"/>
                    <a:pt x="34" y="558"/>
                    <a:pt x="21" y="572"/>
                  </a:cubicBezTo>
                  <a:cubicBezTo>
                    <a:pt x="7" y="585"/>
                    <a:pt x="0" y="601"/>
                    <a:pt x="0" y="620"/>
                  </a:cubicBezTo>
                  <a:cubicBezTo>
                    <a:pt x="0" y="639"/>
                    <a:pt x="7" y="655"/>
                    <a:pt x="21" y="669"/>
                  </a:cubicBezTo>
                  <a:cubicBezTo>
                    <a:pt x="34" y="682"/>
                    <a:pt x="50" y="689"/>
                    <a:pt x="69" y="689"/>
                  </a:cubicBezTo>
                  <a:cubicBezTo>
                    <a:pt x="88" y="689"/>
                    <a:pt x="104" y="682"/>
                    <a:pt x="117" y="669"/>
                  </a:cubicBezTo>
                  <a:cubicBezTo>
                    <a:pt x="131" y="655"/>
                    <a:pt x="137" y="639"/>
                    <a:pt x="137" y="620"/>
                  </a:cubicBezTo>
                  <a:cubicBezTo>
                    <a:pt x="137" y="601"/>
                    <a:pt x="131" y="585"/>
                    <a:pt x="117" y="572"/>
                  </a:cubicBezTo>
                  <a:cubicBezTo>
                    <a:pt x="104" y="558"/>
                    <a:pt x="88" y="552"/>
                    <a:pt x="69" y="55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a typeface="Microsoft YaHei" panose="020B0503020204020204" pitchFamily="34" charset="-122"/>
              </a:endParaRPr>
            </a:p>
          </p:txBody>
        </p:sp>
      </p:grpSp>
      <p:grpSp>
        <p:nvGrpSpPr>
          <p:cNvPr id="143" name="Group 142">
            <a:extLst>
              <a:ext uri="{FF2B5EF4-FFF2-40B4-BE49-F238E27FC236}">
                <a16:creationId xmlns:a16="http://schemas.microsoft.com/office/drawing/2014/main" id="{9FEABDBC-90A6-A4BD-62D0-D6E71A54C8F5}"/>
              </a:ext>
            </a:extLst>
          </p:cNvPr>
          <p:cNvGrpSpPr>
            <a:grpSpLocks noChangeAspect="1"/>
          </p:cNvGrpSpPr>
          <p:nvPr/>
        </p:nvGrpSpPr>
        <p:grpSpPr>
          <a:xfrm>
            <a:off x="2019487" y="5742908"/>
            <a:ext cx="194033" cy="194033"/>
            <a:chOff x="1500504" y="4271963"/>
            <a:chExt cx="269875" cy="269875"/>
          </a:xfrm>
        </p:grpSpPr>
        <p:sp>
          <p:nvSpPr>
            <p:cNvPr id="144" name="Oval 40">
              <a:extLst>
                <a:ext uri="{FF2B5EF4-FFF2-40B4-BE49-F238E27FC236}">
                  <a16:creationId xmlns:a16="http://schemas.microsoft.com/office/drawing/2014/main" id="{05D55197-3BA3-0489-DDE2-CBAA506FE331}"/>
                </a:ext>
              </a:extLst>
            </p:cNvPr>
            <p:cNvSpPr>
              <a:spLocks noChangeArrowheads="1"/>
            </p:cNvSpPr>
            <p:nvPr/>
          </p:nvSpPr>
          <p:spPr bwMode="auto">
            <a:xfrm>
              <a:off x="1500504" y="4271963"/>
              <a:ext cx="269875" cy="269875"/>
            </a:xfrm>
            <a:prstGeom prst="ellipse">
              <a:avLst/>
            </a:prstGeom>
            <a:solidFill>
              <a:srgbClr val="A8B21C"/>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a typeface="Microsoft YaHei" panose="020B0503020204020204" pitchFamily="34" charset="-122"/>
              </a:endParaRPr>
            </a:p>
          </p:txBody>
        </p:sp>
        <p:sp>
          <p:nvSpPr>
            <p:cNvPr id="145" name="Freeform 41">
              <a:extLst>
                <a:ext uri="{FF2B5EF4-FFF2-40B4-BE49-F238E27FC236}">
                  <a16:creationId xmlns:a16="http://schemas.microsoft.com/office/drawing/2014/main" id="{90E09672-317C-CED1-264A-3E1F7B7CDEA8}"/>
                </a:ext>
              </a:extLst>
            </p:cNvPr>
            <p:cNvSpPr>
              <a:spLocks noEditPoints="1"/>
            </p:cNvSpPr>
            <p:nvPr/>
          </p:nvSpPr>
          <p:spPr bwMode="auto">
            <a:xfrm>
              <a:off x="1619566" y="4333875"/>
              <a:ext cx="30162" cy="147637"/>
            </a:xfrm>
            <a:custGeom>
              <a:avLst/>
              <a:gdLst>
                <a:gd name="T0" fmla="*/ 50 w 137"/>
                <a:gd name="T1" fmla="*/ 506 h 689"/>
                <a:gd name="T2" fmla="*/ 15 w 137"/>
                <a:gd name="T3" fmla="*/ 187 h 689"/>
                <a:gd name="T4" fmla="*/ 15 w 137"/>
                <a:gd name="T5" fmla="*/ 0 h 689"/>
                <a:gd name="T6" fmla="*/ 118 w 137"/>
                <a:gd name="T7" fmla="*/ 0 h 689"/>
                <a:gd name="T8" fmla="*/ 118 w 137"/>
                <a:gd name="T9" fmla="*/ 187 h 689"/>
                <a:gd name="T10" fmla="*/ 82 w 137"/>
                <a:gd name="T11" fmla="*/ 506 h 689"/>
                <a:gd name="T12" fmla="*/ 50 w 137"/>
                <a:gd name="T13" fmla="*/ 506 h 689"/>
                <a:gd name="T14" fmla="*/ 69 w 137"/>
                <a:gd name="T15" fmla="*/ 552 h 689"/>
                <a:gd name="T16" fmla="*/ 21 w 137"/>
                <a:gd name="T17" fmla="*/ 572 h 689"/>
                <a:gd name="T18" fmla="*/ 0 w 137"/>
                <a:gd name="T19" fmla="*/ 620 h 689"/>
                <a:gd name="T20" fmla="*/ 21 w 137"/>
                <a:gd name="T21" fmla="*/ 669 h 689"/>
                <a:gd name="T22" fmla="*/ 69 w 137"/>
                <a:gd name="T23" fmla="*/ 689 h 689"/>
                <a:gd name="T24" fmla="*/ 117 w 137"/>
                <a:gd name="T25" fmla="*/ 669 h 689"/>
                <a:gd name="T26" fmla="*/ 137 w 137"/>
                <a:gd name="T27" fmla="*/ 620 h 689"/>
                <a:gd name="T28" fmla="*/ 117 w 137"/>
                <a:gd name="T29" fmla="*/ 572 h 689"/>
                <a:gd name="T30" fmla="*/ 69 w 137"/>
                <a:gd name="T31" fmla="*/ 552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7" h="689">
                  <a:moveTo>
                    <a:pt x="50" y="506"/>
                  </a:moveTo>
                  <a:cubicBezTo>
                    <a:pt x="26" y="353"/>
                    <a:pt x="15" y="247"/>
                    <a:pt x="15" y="187"/>
                  </a:cubicBezTo>
                  <a:cubicBezTo>
                    <a:pt x="15" y="0"/>
                    <a:pt x="15" y="0"/>
                    <a:pt x="15" y="0"/>
                  </a:cubicBezTo>
                  <a:cubicBezTo>
                    <a:pt x="118" y="0"/>
                    <a:pt x="118" y="0"/>
                    <a:pt x="118" y="0"/>
                  </a:cubicBezTo>
                  <a:cubicBezTo>
                    <a:pt x="118" y="187"/>
                    <a:pt x="118" y="187"/>
                    <a:pt x="118" y="187"/>
                  </a:cubicBezTo>
                  <a:cubicBezTo>
                    <a:pt x="118" y="245"/>
                    <a:pt x="106" y="351"/>
                    <a:pt x="82" y="506"/>
                  </a:cubicBezTo>
                  <a:lnTo>
                    <a:pt x="50" y="506"/>
                  </a:lnTo>
                  <a:close/>
                  <a:moveTo>
                    <a:pt x="69" y="552"/>
                  </a:moveTo>
                  <a:cubicBezTo>
                    <a:pt x="50" y="552"/>
                    <a:pt x="34" y="558"/>
                    <a:pt x="21" y="572"/>
                  </a:cubicBezTo>
                  <a:cubicBezTo>
                    <a:pt x="7" y="585"/>
                    <a:pt x="0" y="601"/>
                    <a:pt x="0" y="620"/>
                  </a:cubicBezTo>
                  <a:cubicBezTo>
                    <a:pt x="0" y="639"/>
                    <a:pt x="7" y="655"/>
                    <a:pt x="21" y="669"/>
                  </a:cubicBezTo>
                  <a:cubicBezTo>
                    <a:pt x="34" y="682"/>
                    <a:pt x="50" y="689"/>
                    <a:pt x="69" y="689"/>
                  </a:cubicBezTo>
                  <a:cubicBezTo>
                    <a:pt x="88" y="689"/>
                    <a:pt x="104" y="682"/>
                    <a:pt x="117" y="669"/>
                  </a:cubicBezTo>
                  <a:cubicBezTo>
                    <a:pt x="131" y="655"/>
                    <a:pt x="137" y="639"/>
                    <a:pt x="137" y="620"/>
                  </a:cubicBezTo>
                  <a:cubicBezTo>
                    <a:pt x="137" y="601"/>
                    <a:pt x="131" y="585"/>
                    <a:pt x="117" y="572"/>
                  </a:cubicBezTo>
                  <a:cubicBezTo>
                    <a:pt x="104" y="558"/>
                    <a:pt x="88" y="552"/>
                    <a:pt x="69" y="55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a typeface="Microsoft YaHei" panose="020B0503020204020204" pitchFamily="34" charset="-122"/>
              </a:endParaRPr>
            </a:p>
          </p:txBody>
        </p:sp>
      </p:grpSp>
      <p:grpSp>
        <p:nvGrpSpPr>
          <p:cNvPr id="146" name="Group 145">
            <a:extLst>
              <a:ext uri="{FF2B5EF4-FFF2-40B4-BE49-F238E27FC236}">
                <a16:creationId xmlns:a16="http://schemas.microsoft.com/office/drawing/2014/main" id="{2BA2F332-7ACB-C600-1E52-89464E5EFB37}"/>
              </a:ext>
            </a:extLst>
          </p:cNvPr>
          <p:cNvGrpSpPr>
            <a:grpSpLocks noChangeAspect="1"/>
          </p:cNvGrpSpPr>
          <p:nvPr/>
        </p:nvGrpSpPr>
        <p:grpSpPr>
          <a:xfrm>
            <a:off x="2019487" y="6086157"/>
            <a:ext cx="194033" cy="194033"/>
            <a:chOff x="1500504" y="4271963"/>
            <a:chExt cx="269875" cy="269875"/>
          </a:xfrm>
        </p:grpSpPr>
        <p:sp>
          <p:nvSpPr>
            <p:cNvPr id="147" name="Oval 40">
              <a:extLst>
                <a:ext uri="{FF2B5EF4-FFF2-40B4-BE49-F238E27FC236}">
                  <a16:creationId xmlns:a16="http://schemas.microsoft.com/office/drawing/2014/main" id="{1C32B017-B3B2-4C81-ACFF-F226D0F5D85E}"/>
                </a:ext>
              </a:extLst>
            </p:cNvPr>
            <p:cNvSpPr>
              <a:spLocks noChangeArrowheads="1"/>
            </p:cNvSpPr>
            <p:nvPr/>
          </p:nvSpPr>
          <p:spPr bwMode="auto">
            <a:xfrm>
              <a:off x="1500504" y="4271963"/>
              <a:ext cx="269875" cy="269875"/>
            </a:xfrm>
            <a:prstGeom prst="ellipse">
              <a:avLst/>
            </a:prstGeom>
            <a:solidFill>
              <a:srgbClr val="A8B21C"/>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a typeface="Microsoft YaHei" panose="020B0503020204020204" pitchFamily="34" charset="-122"/>
              </a:endParaRPr>
            </a:p>
          </p:txBody>
        </p:sp>
        <p:sp>
          <p:nvSpPr>
            <p:cNvPr id="148" name="Freeform 41">
              <a:extLst>
                <a:ext uri="{FF2B5EF4-FFF2-40B4-BE49-F238E27FC236}">
                  <a16:creationId xmlns:a16="http://schemas.microsoft.com/office/drawing/2014/main" id="{DFCCE508-AF7B-E335-959A-C0ED7EB97B6C}"/>
                </a:ext>
              </a:extLst>
            </p:cNvPr>
            <p:cNvSpPr>
              <a:spLocks noEditPoints="1"/>
            </p:cNvSpPr>
            <p:nvPr/>
          </p:nvSpPr>
          <p:spPr bwMode="auto">
            <a:xfrm>
              <a:off x="1619566" y="4333875"/>
              <a:ext cx="30162" cy="147637"/>
            </a:xfrm>
            <a:custGeom>
              <a:avLst/>
              <a:gdLst>
                <a:gd name="T0" fmla="*/ 50 w 137"/>
                <a:gd name="T1" fmla="*/ 506 h 689"/>
                <a:gd name="T2" fmla="*/ 15 w 137"/>
                <a:gd name="T3" fmla="*/ 187 h 689"/>
                <a:gd name="T4" fmla="*/ 15 w 137"/>
                <a:gd name="T5" fmla="*/ 0 h 689"/>
                <a:gd name="T6" fmla="*/ 118 w 137"/>
                <a:gd name="T7" fmla="*/ 0 h 689"/>
                <a:gd name="T8" fmla="*/ 118 w 137"/>
                <a:gd name="T9" fmla="*/ 187 h 689"/>
                <a:gd name="T10" fmla="*/ 82 w 137"/>
                <a:gd name="T11" fmla="*/ 506 h 689"/>
                <a:gd name="T12" fmla="*/ 50 w 137"/>
                <a:gd name="T13" fmla="*/ 506 h 689"/>
                <a:gd name="T14" fmla="*/ 69 w 137"/>
                <a:gd name="T15" fmla="*/ 552 h 689"/>
                <a:gd name="T16" fmla="*/ 21 w 137"/>
                <a:gd name="T17" fmla="*/ 572 h 689"/>
                <a:gd name="T18" fmla="*/ 0 w 137"/>
                <a:gd name="T19" fmla="*/ 620 h 689"/>
                <a:gd name="T20" fmla="*/ 21 w 137"/>
                <a:gd name="T21" fmla="*/ 669 h 689"/>
                <a:gd name="T22" fmla="*/ 69 w 137"/>
                <a:gd name="T23" fmla="*/ 689 h 689"/>
                <a:gd name="T24" fmla="*/ 117 w 137"/>
                <a:gd name="T25" fmla="*/ 669 h 689"/>
                <a:gd name="T26" fmla="*/ 137 w 137"/>
                <a:gd name="T27" fmla="*/ 620 h 689"/>
                <a:gd name="T28" fmla="*/ 117 w 137"/>
                <a:gd name="T29" fmla="*/ 572 h 689"/>
                <a:gd name="T30" fmla="*/ 69 w 137"/>
                <a:gd name="T31" fmla="*/ 552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7" h="689">
                  <a:moveTo>
                    <a:pt x="50" y="506"/>
                  </a:moveTo>
                  <a:cubicBezTo>
                    <a:pt x="26" y="353"/>
                    <a:pt x="15" y="247"/>
                    <a:pt x="15" y="187"/>
                  </a:cubicBezTo>
                  <a:cubicBezTo>
                    <a:pt x="15" y="0"/>
                    <a:pt x="15" y="0"/>
                    <a:pt x="15" y="0"/>
                  </a:cubicBezTo>
                  <a:cubicBezTo>
                    <a:pt x="118" y="0"/>
                    <a:pt x="118" y="0"/>
                    <a:pt x="118" y="0"/>
                  </a:cubicBezTo>
                  <a:cubicBezTo>
                    <a:pt x="118" y="187"/>
                    <a:pt x="118" y="187"/>
                    <a:pt x="118" y="187"/>
                  </a:cubicBezTo>
                  <a:cubicBezTo>
                    <a:pt x="118" y="245"/>
                    <a:pt x="106" y="351"/>
                    <a:pt x="82" y="506"/>
                  </a:cubicBezTo>
                  <a:lnTo>
                    <a:pt x="50" y="506"/>
                  </a:lnTo>
                  <a:close/>
                  <a:moveTo>
                    <a:pt x="69" y="552"/>
                  </a:moveTo>
                  <a:cubicBezTo>
                    <a:pt x="50" y="552"/>
                    <a:pt x="34" y="558"/>
                    <a:pt x="21" y="572"/>
                  </a:cubicBezTo>
                  <a:cubicBezTo>
                    <a:pt x="7" y="585"/>
                    <a:pt x="0" y="601"/>
                    <a:pt x="0" y="620"/>
                  </a:cubicBezTo>
                  <a:cubicBezTo>
                    <a:pt x="0" y="639"/>
                    <a:pt x="7" y="655"/>
                    <a:pt x="21" y="669"/>
                  </a:cubicBezTo>
                  <a:cubicBezTo>
                    <a:pt x="34" y="682"/>
                    <a:pt x="50" y="689"/>
                    <a:pt x="69" y="689"/>
                  </a:cubicBezTo>
                  <a:cubicBezTo>
                    <a:pt x="88" y="689"/>
                    <a:pt x="104" y="682"/>
                    <a:pt x="117" y="669"/>
                  </a:cubicBezTo>
                  <a:cubicBezTo>
                    <a:pt x="131" y="655"/>
                    <a:pt x="137" y="639"/>
                    <a:pt x="137" y="620"/>
                  </a:cubicBezTo>
                  <a:cubicBezTo>
                    <a:pt x="137" y="601"/>
                    <a:pt x="131" y="585"/>
                    <a:pt x="117" y="572"/>
                  </a:cubicBezTo>
                  <a:cubicBezTo>
                    <a:pt x="104" y="558"/>
                    <a:pt x="88" y="552"/>
                    <a:pt x="69" y="55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a typeface="Microsoft YaHei" panose="020B0503020204020204" pitchFamily="34" charset="-122"/>
              </a:endParaRPr>
            </a:p>
          </p:txBody>
        </p:sp>
      </p:grpSp>
      <p:sp>
        <p:nvSpPr>
          <p:cNvPr id="76" name="ee4pHeader1">
            <a:extLst>
              <a:ext uri="{FF2B5EF4-FFF2-40B4-BE49-F238E27FC236}">
                <a16:creationId xmlns:a16="http://schemas.microsoft.com/office/drawing/2014/main" id="{36F14BE4-43F9-66D6-8F89-120CA1F9B7DA}"/>
              </a:ext>
            </a:extLst>
          </p:cNvPr>
          <p:cNvSpPr txBox="1"/>
          <p:nvPr/>
        </p:nvSpPr>
        <p:spPr>
          <a:xfrm>
            <a:off x="466919" y="69115"/>
            <a:ext cx="1348981" cy="469263"/>
          </a:xfrm>
          <a:prstGeom prst="rect">
            <a:avLst/>
          </a:prstGeom>
          <a:noFill/>
          <a:ln cap="rnd">
            <a:noFill/>
          </a:ln>
        </p:spPr>
        <p:txBody>
          <a:bodyPr vert="horz" wrap="square" lIns="0" tIns="0" rIns="0" bIns="0" rtlCol="0" anchor="ctr" anchorCtr="0">
            <a:noAutofit/>
          </a:bodyPr>
          <a:lstStyle/>
          <a:p>
            <a:pPr>
              <a:buSzPct val="100000"/>
              <a:buFont typeface="Trebuchet MS" panose="020B0603020202020204" pitchFamily="34" charset="0"/>
              <a:buChar char="​"/>
            </a:pPr>
            <a:r>
              <a:rPr lang="zh-TW" altLang="en-US" sz="1400" b="1">
                <a:solidFill>
                  <a:srgbClr val="29BA74"/>
                </a:solidFill>
                <a:ea typeface="Microsoft YaHei" panose="020B0503020204020204" pitchFamily="34" charset="-122"/>
                <a:sym typeface="+mn-lt"/>
              </a:rPr>
              <a:t>數據基礎</a:t>
            </a:r>
            <a:endParaRPr lang="en-US" sz="1400" b="1">
              <a:solidFill>
                <a:srgbClr val="29BA74"/>
              </a:solidFill>
              <a:ea typeface="Microsoft YaHei" panose="020B0503020204020204" pitchFamily="34" charset="-122"/>
              <a:sym typeface="+mn-lt"/>
            </a:endParaRPr>
          </a:p>
        </p:txBody>
      </p:sp>
      <p:sp>
        <p:nvSpPr>
          <p:cNvPr id="77" name="Oval 20">
            <a:extLst>
              <a:ext uri="{FF2B5EF4-FFF2-40B4-BE49-F238E27FC236}">
                <a16:creationId xmlns:a16="http://schemas.microsoft.com/office/drawing/2014/main" id="{68F3881D-8239-E981-8281-C3B826BB49E6}"/>
              </a:ext>
            </a:extLst>
          </p:cNvPr>
          <p:cNvSpPr>
            <a:spLocks noChangeAspect="1" noChangeArrowheads="1"/>
          </p:cNvSpPr>
          <p:nvPr/>
        </p:nvSpPr>
        <p:spPr bwMode="auto">
          <a:xfrm>
            <a:off x="141430" y="195189"/>
            <a:ext cx="238259" cy="238259"/>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altLang="zh-TW" sz="1200">
                <a:solidFill>
                  <a:schemeClr val="bg1"/>
                </a:solidFill>
              </a:rPr>
              <a:t>A</a:t>
            </a:r>
            <a:endParaRPr lang="en-US" sz="1200">
              <a:solidFill>
                <a:schemeClr val="bg1"/>
              </a:solidFill>
            </a:endParaRPr>
          </a:p>
        </p:txBody>
      </p:sp>
    </p:spTree>
    <p:extLst>
      <p:ext uri="{BB962C8B-B14F-4D97-AF65-F5344CB8AC3E}">
        <p14:creationId xmlns:p14="http://schemas.microsoft.com/office/powerpoint/2010/main" val="243279506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58047EB4-83A9-8671-1EFF-0B66F5EF3DC1}"/>
              </a:ext>
            </a:extLst>
          </p:cNvPr>
          <p:cNvGraphicFramePr>
            <a:graphicFrameLocks noChangeAspect="1"/>
          </p:cNvGraphicFramePr>
          <p:nvPr>
            <p:custDataLst>
              <p:tags r:id="rId1"/>
            </p:custDataLst>
            <p:extLst>
              <p:ext uri="{D42A27DB-BD31-4B8C-83A1-F6EECF244321}">
                <p14:modId xmlns:p14="http://schemas.microsoft.com/office/powerpoint/2010/main" val="339066031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04" imgH="405" progId="TCLayout.ActiveDocument.1">
                  <p:embed/>
                </p:oleObj>
              </mc:Choice>
              <mc:Fallback>
                <p:oleObj name="think-cell Slide" r:id="rId4" imgW="404" imgH="405" progId="TCLayout.ActiveDocument.1">
                  <p:embed/>
                  <p:pic>
                    <p:nvPicPr>
                      <p:cNvPr id="8" name="think-cell data - do not delete" hidden="1">
                        <a:extLst>
                          <a:ext uri="{FF2B5EF4-FFF2-40B4-BE49-F238E27FC236}">
                            <a16:creationId xmlns:a16="http://schemas.microsoft.com/office/drawing/2014/main" id="{58047EB4-83A9-8671-1EFF-0B66F5EF3DC1}"/>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9" name="矩形 55">
            <a:extLst>
              <a:ext uri="{FF2B5EF4-FFF2-40B4-BE49-F238E27FC236}">
                <a16:creationId xmlns:a16="http://schemas.microsoft.com/office/drawing/2014/main" id="{7791C0EB-4E47-53C0-652F-0F7680943AD3}"/>
              </a:ext>
            </a:extLst>
          </p:cNvPr>
          <p:cNvSpPr/>
          <p:nvPr/>
        </p:nvSpPr>
        <p:spPr>
          <a:xfrm>
            <a:off x="628651" y="1708856"/>
            <a:ext cx="2220846" cy="4452232"/>
          </a:xfrm>
          <a:prstGeom prst="rect">
            <a:avLst/>
          </a:prstGeom>
          <a:gradFill>
            <a:gsLst>
              <a:gs pos="0">
                <a:schemeClr val="tx2">
                  <a:lumMod val="20000"/>
                  <a:lumOff val="80000"/>
                </a:schemeClr>
              </a:gs>
              <a:gs pos="100000">
                <a:schemeClr val="bg1">
                  <a:alpha val="0"/>
                </a:schemeClr>
              </a:gs>
            </a:gsLst>
            <a:lin ang="5400000" scaled="1"/>
          </a:gradFill>
          <a:ln w="25400" cap="flat" cmpd="sng" algn="ctr">
            <a:noFill/>
            <a:prstDash val="solid"/>
          </a:ln>
          <a:effectLst>
            <a:outerShdw blurRad="63500" algn="ctr"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Title 1">
            <a:extLst>
              <a:ext uri="{FF2B5EF4-FFF2-40B4-BE49-F238E27FC236}">
                <a16:creationId xmlns:a16="http://schemas.microsoft.com/office/drawing/2014/main" id="{460C1BA1-86DA-6756-DF0B-68DF5A9FE82A}"/>
              </a:ext>
            </a:extLst>
          </p:cNvPr>
          <p:cNvSpPr>
            <a:spLocks noGrp="1"/>
          </p:cNvSpPr>
          <p:nvPr>
            <p:ph type="title"/>
          </p:nvPr>
        </p:nvSpPr>
        <p:spPr>
          <a:xfrm>
            <a:off x="630000" y="622800"/>
            <a:ext cx="10933350" cy="664797"/>
          </a:xfrm>
        </p:spPr>
        <p:txBody>
          <a:bodyPr vert="horz"/>
          <a:lstStyle/>
          <a:p>
            <a:r>
              <a:rPr lang="zh-TW" altLang="en-US">
                <a:ea typeface="Microsoft YaHei" panose="020B0503020204020204" pitchFamily="34" charset="-122"/>
              </a:rPr>
              <a:t>模型參數其中重要一環爲交易路徑，建議納入客戶産品交易路徑分析，與其他參數綜合考量後識別潜在</a:t>
            </a:r>
            <a:r>
              <a:rPr lang="en-US" altLang="zh-TW">
                <a:ea typeface="Microsoft YaHei" panose="020B0503020204020204" pitchFamily="34" charset="-122"/>
              </a:rPr>
              <a:t>Next-best product (</a:t>
            </a:r>
            <a:r>
              <a:rPr lang="zh-TW" altLang="en-US">
                <a:ea typeface="Microsoft YaHei" panose="020B0503020204020204" pitchFamily="34" charset="-122"/>
              </a:rPr>
              <a:t>下一最佳產品</a:t>
            </a:r>
            <a:r>
              <a:rPr lang="en-US" altLang="zh-TW">
                <a:ea typeface="Microsoft YaHei" panose="020B0503020204020204" pitchFamily="34" charset="-122"/>
              </a:rPr>
              <a:t>)</a:t>
            </a:r>
            <a:endParaRPr lang="en-US"/>
          </a:p>
        </p:txBody>
      </p:sp>
      <p:grpSp>
        <p:nvGrpSpPr>
          <p:cNvPr id="4" name="Group 3">
            <a:extLst>
              <a:ext uri="{FF2B5EF4-FFF2-40B4-BE49-F238E27FC236}">
                <a16:creationId xmlns:a16="http://schemas.microsoft.com/office/drawing/2014/main" id="{7BEB63A9-F9F6-5893-B756-3FF7FEE62EAE}"/>
              </a:ext>
            </a:extLst>
          </p:cNvPr>
          <p:cNvGrpSpPr/>
          <p:nvPr/>
        </p:nvGrpSpPr>
        <p:grpSpPr>
          <a:xfrm>
            <a:off x="728958" y="1606351"/>
            <a:ext cx="2031249" cy="424828"/>
            <a:chOff x="738993" y="1967954"/>
            <a:chExt cx="2420460" cy="424828"/>
          </a:xfrm>
        </p:grpSpPr>
        <p:sp>
          <p:nvSpPr>
            <p:cNvPr id="5" name="Round Same Side Corner Rectangle 68">
              <a:extLst>
                <a:ext uri="{FF2B5EF4-FFF2-40B4-BE49-F238E27FC236}">
                  <a16:creationId xmlns:a16="http://schemas.microsoft.com/office/drawing/2014/main" id="{0DE089FC-8418-EEF1-B789-C74462CD5C9D}"/>
                </a:ext>
              </a:extLst>
            </p:cNvPr>
            <p:cNvSpPr/>
            <p:nvPr/>
          </p:nvSpPr>
          <p:spPr>
            <a:xfrm>
              <a:off x="738993" y="1967954"/>
              <a:ext cx="2420460" cy="102505"/>
            </a:xfrm>
            <a:prstGeom prst="round2SameRect">
              <a:avLst>
                <a:gd name="adj1" fmla="val 50000"/>
                <a:gd name="adj2" fmla="val 0"/>
              </a:avLst>
            </a:prstGeom>
            <a:solidFill>
              <a:srgbClr val="03522D"/>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latin typeface="Trebuchet MS" panose="020B0603020202020204" pitchFamily="34" charset="0"/>
                <a:ea typeface="Microsoft YaHei" panose="020B0503020204020204" pitchFamily="34" charset="-122"/>
                <a:sym typeface="Trebuchet MS" panose="020B0603020202020204" pitchFamily="34" charset="0"/>
              </a:endParaRPr>
            </a:p>
          </p:txBody>
        </p:sp>
        <p:sp>
          <p:nvSpPr>
            <p:cNvPr id="6" name="Freeform 71">
              <a:extLst>
                <a:ext uri="{FF2B5EF4-FFF2-40B4-BE49-F238E27FC236}">
                  <a16:creationId xmlns:a16="http://schemas.microsoft.com/office/drawing/2014/main" id="{2FC651BC-EE35-ED1C-A7CD-E40A288EB971}"/>
                </a:ext>
              </a:extLst>
            </p:cNvPr>
            <p:cNvSpPr/>
            <p:nvPr/>
          </p:nvSpPr>
          <p:spPr>
            <a:xfrm flipV="1">
              <a:off x="766605" y="1967954"/>
              <a:ext cx="2365235" cy="424828"/>
            </a:xfrm>
            <a:custGeom>
              <a:avLst/>
              <a:gdLst>
                <a:gd name="connsiteX0" fmla="*/ 1974697 w 1981132"/>
                <a:gd name="connsiteY0" fmla="*/ 370599 h 370599"/>
                <a:gd name="connsiteX1" fmla="*/ 1981132 w 1981132"/>
                <a:gd name="connsiteY1" fmla="*/ 370599 h 370599"/>
                <a:gd name="connsiteX2" fmla="*/ 1981132 w 1981132"/>
                <a:gd name="connsiteY2" fmla="*/ 369153 h 370599"/>
                <a:gd name="connsiteX3" fmla="*/ 6435 w 1981132"/>
                <a:gd name="connsiteY3" fmla="*/ 370599 h 370599"/>
                <a:gd name="connsiteX4" fmla="*/ 521309 w 1981132"/>
                <a:gd name="connsiteY4" fmla="*/ 370599 h 370599"/>
                <a:gd name="connsiteX5" fmla="*/ 550888 w 1981132"/>
                <a:gd name="connsiteY5" fmla="*/ 370599 h 370599"/>
                <a:gd name="connsiteX6" fmla="*/ 740076 w 1981132"/>
                <a:gd name="connsiteY6" fmla="*/ 370599 h 370599"/>
                <a:gd name="connsiteX7" fmla="*/ 743268 w 1981132"/>
                <a:gd name="connsiteY7" fmla="*/ 370599 h 370599"/>
                <a:gd name="connsiteX8" fmla="*/ 783183 w 1981132"/>
                <a:gd name="connsiteY8" fmla="*/ 370599 h 370599"/>
                <a:gd name="connsiteX9" fmla="*/ 786374 w 1981132"/>
                <a:gd name="connsiteY9" fmla="*/ 370599 h 370599"/>
                <a:gd name="connsiteX10" fmla="*/ 877228 w 1981132"/>
                <a:gd name="connsiteY10" fmla="*/ 370599 h 370599"/>
                <a:gd name="connsiteX11" fmla="*/ 952194 w 1981132"/>
                <a:gd name="connsiteY11" fmla="*/ 370599 h 370599"/>
                <a:gd name="connsiteX12" fmla="*/ 985831 w 1981132"/>
                <a:gd name="connsiteY12" fmla="*/ 370599 h 370599"/>
                <a:gd name="connsiteX13" fmla="*/ 995301 w 1981132"/>
                <a:gd name="connsiteY13" fmla="*/ 370599 h 370599"/>
                <a:gd name="connsiteX14" fmla="*/ 1028938 w 1981132"/>
                <a:gd name="connsiteY14" fmla="*/ 370599 h 370599"/>
                <a:gd name="connsiteX15" fmla="*/ 1103904 w 1981132"/>
                <a:gd name="connsiteY15" fmla="*/ 370599 h 370599"/>
                <a:gd name="connsiteX16" fmla="*/ 1194758 w 1981132"/>
                <a:gd name="connsiteY16" fmla="*/ 370599 h 370599"/>
                <a:gd name="connsiteX17" fmla="*/ 1197949 w 1981132"/>
                <a:gd name="connsiteY17" fmla="*/ 370599 h 370599"/>
                <a:gd name="connsiteX18" fmla="*/ 1237864 w 1981132"/>
                <a:gd name="connsiteY18" fmla="*/ 370599 h 370599"/>
                <a:gd name="connsiteX19" fmla="*/ 1241056 w 1981132"/>
                <a:gd name="connsiteY19" fmla="*/ 370599 h 370599"/>
                <a:gd name="connsiteX20" fmla="*/ 1430244 w 1981132"/>
                <a:gd name="connsiteY20" fmla="*/ 370599 h 370599"/>
                <a:gd name="connsiteX21" fmla="*/ 1459823 w 1981132"/>
                <a:gd name="connsiteY21" fmla="*/ 370599 h 370599"/>
                <a:gd name="connsiteX22" fmla="*/ 1974697 w 1981132"/>
                <a:gd name="connsiteY22" fmla="*/ 370599 h 370599"/>
                <a:gd name="connsiteX23" fmla="*/ 1921410 w 1981132"/>
                <a:gd name="connsiteY23" fmla="*/ 311296 h 370599"/>
                <a:gd name="connsiteX24" fmla="*/ 1921410 w 1981132"/>
                <a:gd name="connsiteY24" fmla="*/ 72890 h 370599"/>
                <a:gd name="connsiteX25" fmla="*/ 1920015 w 1981132"/>
                <a:gd name="connsiteY25" fmla="*/ 72890 h 370599"/>
                <a:gd name="connsiteX26" fmla="*/ 1920015 w 1981132"/>
                <a:gd name="connsiteY26" fmla="*/ 46637 h 370599"/>
                <a:gd name="connsiteX27" fmla="*/ 1878109 w 1981132"/>
                <a:gd name="connsiteY27" fmla="*/ 0 h 370599"/>
                <a:gd name="connsiteX28" fmla="*/ 1459823 w 1981132"/>
                <a:gd name="connsiteY28" fmla="*/ 0 h 370599"/>
                <a:gd name="connsiteX29" fmla="*/ 1430244 w 1981132"/>
                <a:gd name="connsiteY29" fmla="*/ 0 h 370599"/>
                <a:gd name="connsiteX30" fmla="*/ 1241056 w 1981132"/>
                <a:gd name="connsiteY30" fmla="*/ 0 h 370599"/>
                <a:gd name="connsiteX31" fmla="*/ 1237864 w 1981132"/>
                <a:gd name="connsiteY31" fmla="*/ 0 h 370599"/>
                <a:gd name="connsiteX32" fmla="*/ 1197949 w 1981132"/>
                <a:gd name="connsiteY32" fmla="*/ 0 h 370599"/>
                <a:gd name="connsiteX33" fmla="*/ 1194758 w 1981132"/>
                <a:gd name="connsiteY33" fmla="*/ 0 h 370599"/>
                <a:gd name="connsiteX34" fmla="*/ 1103904 w 1981132"/>
                <a:gd name="connsiteY34" fmla="*/ 0 h 370599"/>
                <a:gd name="connsiteX35" fmla="*/ 1028938 w 1981132"/>
                <a:gd name="connsiteY35" fmla="*/ 0 h 370599"/>
                <a:gd name="connsiteX36" fmla="*/ 995301 w 1981132"/>
                <a:gd name="connsiteY36" fmla="*/ 0 h 370599"/>
                <a:gd name="connsiteX37" fmla="*/ 985831 w 1981132"/>
                <a:gd name="connsiteY37" fmla="*/ 0 h 370599"/>
                <a:gd name="connsiteX38" fmla="*/ 952194 w 1981132"/>
                <a:gd name="connsiteY38" fmla="*/ 0 h 370599"/>
                <a:gd name="connsiteX39" fmla="*/ 877228 w 1981132"/>
                <a:gd name="connsiteY39" fmla="*/ 0 h 370599"/>
                <a:gd name="connsiteX40" fmla="*/ 786374 w 1981132"/>
                <a:gd name="connsiteY40" fmla="*/ 0 h 370599"/>
                <a:gd name="connsiteX41" fmla="*/ 783183 w 1981132"/>
                <a:gd name="connsiteY41" fmla="*/ 0 h 370599"/>
                <a:gd name="connsiteX42" fmla="*/ 743268 w 1981132"/>
                <a:gd name="connsiteY42" fmla="*/ 0 h 370599"/>
                <a:gd name="connsiteX43" fmla="*/ 740076 w 1981132"/>
                <a:gd name="connsiteY43" fmla="*/ 0 h 370599"/>
                <a:gd name="connsiteX44" fmla="*/ 550888 w 1981132"/>
                <a:gd name="connsiteY44" fmla="*/ 0 h 370599"/>
                <a:gd name="connsiteX45" fmla="*/ 521309 w 1981132"/>
                <a:gd name="connsiteY45" fmla="*/ 0 h 370599"/>
                <a:gd name="connsiteX46" fmla="*/ 103023 w 1981132"/>
                <a:gd name="connsiteY46" fmla="*/ 0 h 370599"/>
                <a:gd name="connsiteX47" fmla="*/ 61117 w 1981132"/>
                <a:gd name="connsiteY47" fmla="*/ 46637 h 370599"/>
                <a:gd name="connsiteX48" fmla="*/ 61117 w 1981132"/>
                <a:gd name="connsiteY48" fmla="*/ 72890 h 370599"/>
                <a:gd name="connsiteX49" fmla="*/ 59722 w 1981132"/>
                <a:gd name="connsiteY49" fmla="*/ 72890 h 370599"/>
                <a:gd name="connsiteX50" fmla="*/ 59722 w 1981132"/>
                <a:gd name="connsiteY50" fmla="*/ 311296 h 370599"/>
                <a:gd name="connsiteX51" fmla="*/ 6435 w 1981132"/>
                <a:gd name="connsiteY51" fmla="*/ 370599 h 370599"/>
                <a:gd name="connsiteX52" fmla="*/ 0 w 1981132"/>
                <a:gd name="connsiteY52" fmla="*/ 370599 h 370599"/>
                <a:gd name="connsiteX53" fmla="*/ 6435 w 1981132"/>
                <a:gd name="connsiteY53" fmla="*/ 370599 h 370599"/>
                <a:gd name="connsiteX54" fmla="*/ 0 w 1981132"/>
                <a:gd name="connsiteY54" fmla="*/ 369153 h 37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981132" h="370599">
                  <a:moveTo>
                    <a:pt x="1974697" y="370599"/>
                  </a:moveTo>
                  <a:lnTo>
                    <a:pt x="1981132" y="370599"/>
                  </a:lnTo>
                  <a:lnTo>
                    <a:pt x="1981132" y="369153"/>
                  </a:lnTo>
                  <a:close/>
                  <a:moveTo>
                    <a:pt x="6435" y="370599"/>
                  </a:moveTo>
                  <a:lnTo>
                    <a:pt x="521309" y="370599"/>
                  </a:lnTo>
                  <a:lnTo>
                    <a:pt x="550888" y="370599"/>
                  </a:lnTo>
                  <a:lnTo>
                    <a:pt x="740076" y="370599"/>
                  </a:lnTo>
                  <a:lnTo>
                    <a:pt x="743268" y="370599"/>
                  </a:lnTo>
                  <a:lnTo>
                    <a:pt x="783183" y="370599"/>
                  </a:lnTo>
                  <a:lnTo>
                    <a:pt x="786374" y="370599"/>
                  </a:lnTo>
                  <a:lnTo>
                    <a:pt x="877228" y="370599"/>
                  </a:lnTo>
                  <a:lnTo>
                    <a:pt x="952194" y="370599"/>
                  </a:lnTo>
                  <a:lnTo>
                    <a:pt x="985831" y="370599"/>
                  </a:lnTo>
                  <a:lnTo>
                    <a:pt x="995301" y="370599"/>
                  </a:lnTo>
                  <a:lnTo>
                    <a:pt x="1028938" y="370599"/>
                  </a:lnTo>
                  <a:lnTo>
                    <a:pt x="1103904" y="370599"/>
                  </a:lnTo>
                  <a:lnTo>
                    <a:pt x="1194758" y="370599"/>
                  </a:lnTo>
                  <a:lnTo>
                    <a:pt x="1197949" y="370599"/>
                  </a:lnTo>
                  <a:lnTo>
                    <a:pt x="1237864" y="370599"/>
                  </a:lnTo>
                  <a:lnTo>
                    <a:pt x="1241056" y="370599"/>
                  </a:lnTo>
                  <a:lnTo>
                    <a:pt x="1430244" y="370599"/>
                  </a:lnTo>
                  <a:lnTo>
                    <a:pt x="1459823" y="370599"/>
                  </a:lnTo>
                  <a:lnTo>
                    <a:pt x="1974697" y="370599"/>
                  </a:lnTo>
                  <a:cubicBezTo>
                    <a:pt x="1945267" y="370599"/>
                    <a:pt x="1921410" y="344049"/>
                    <a:pt x="1921410" y="311296"/>
                  </a:cubicBezTo>
                  <a:lnTo>
                    <a:pt x="1921410" y="72890"/>
                  </a:lnTo>
                  <a:lnTo>
                    <a:pt x="1920015" y="72890"/>
                  </a:lnTo>
                  <a:lnTo>
                    <a:pt x="1920015" y="46637"/>
                  </a:lnTo>
                  <a:cubicBezTo>
                    <a:pt x="1920015" y="20880"/>
                    <a:pt x="1901253" y="0"/>
                    <a:pt x="1878109" y="0"/>
                  </a:cubicBezTo>
                  <a:lnTo>
                    <a:pt x="1459823" y="0"/>
                  </a:lnTo>
                  <a:lnTo>
                    <a:pt x="1430244" y="0"/>
                  </a:lnTo>
                  <a:lnTo>
                    <a:pt x="1241056" y="0"/>
                  </a:lnTo>
                  <a:lnTo>
                    <a:pt x="1237864" y="0"/>
                  </a:lnTo>
                  <a:lnTo>
                    <a:pt x="1197949" y="0"/>
                  </a:lnTo>
                  <a:lnTo>
                    <a:pt x="1194758" y="0"/>
                  </a:lnTo>
                  <a:lnTo>
                    <a:pt x="1103904" y="0"/>
                  </a:lnTo>
                  <a:lnTo>
                    <a:pt x="1028938" y="0"/>
                  </a:lnTo>
                  <a:lnTo>
                    <a:pt x="995301" y="0"/>
                  </a:lnTo>
                  <a:lnTo>
                    <a:pt x="985831" y="0"/>
                  </a:lnTo>
                  <a:lnTo>
                    <a:pt x="952194" y="0"/>
                  </a:lnTo>
                  <a:lnTo>
                    <a:pt x="877228" y="0"/>
                  </a:lnTo>
                  <a:lnTo>
                    <a:pt x="786374" y="0"/>
                  </a:lnTo>
                  <a:lnTo>
                    <a:pt x="783183" y="0"/>
                  </a:lnTo>
                  <a:lnTo>
                    <a:pt x="743268" y="0"/>
                  </a:lnTo>
                  <a:lnTo>
                    <a:pt x="740076" y="0"/>
                  </a:lnTo>
                  <a:lnTo>
                    <a:pt x="550888" y="0"/>
                  </a:lnTo>
                  <a:lnTo>
                    <a:pt x="521309" y="0"/>
                  </a:lnTo>
                  <a:lnTo>
                    <a:pt x="103023" y="0"/>
                  </a:lnTo>
                  <a:cubicBezTo>
                    <a:pt x="79879" y="0"/>
                    <a:pt x="61117" y="20880"/>
                    <a:pt x="61117" y="46637"/>
                  </a:cubicBezTo>
                  <a:lnTo>
                    <a:pt x="61117" y="72890"/>
                  </a:lnTo>
                  <a:lnTo>
                    <a:pt x="59722" y="72890"/>
                  </a:lnTo>
                  <a:lnTo>
                    <a:pt x="59722" y="311296"/>
                  </a:lnTo>
                  <a:cubicBezTo>
                    <a:pt x="59722" y="344049"/>
                    <a:pt x="35865" y="370599"/>
                    <a:pt x="6435" y="370599"/>
                  </a:cubicBezTo>
                  <a:close/>
                  <a:moveTo>
                    <a:pt x="0" y="370599"/>
                  </a:moveTo>
                  <a:lnTo>
                    <a:pt x="6435" y="370599"/>
                  </a:lnTo>
                  <a:lnTo>
                    <a:pt x="0" y="369153"/>
                  </a:lnTo>
                  <a:close/>
                </a:path>
              </a:pathLst>
            </a:custGeom>
            <a:gradFill>
              <a:gsLst>
                <a:gs pos="60000">
                  <a:schemeClr val="tx2"/>
                </a:gs>
                <a:gs pos="100000">
                  <a:schemeClr val="accent2"/>
                </a:gs>
              </a:gsLst>
              <a:lin ang="5400000" scaled="1"/>
            </a:gradFill>
            <a:ln w="9525" cap="rnd" cmpd="sng" algn="ctr">
              <a:noFill/>
              <a:prstDash val="solid"/>
              <a:round/>
              <a:headEnd type="none" w="med" len="med"/>
              <a:tailEnd type="none" w="med" len="med"/>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latin typeface="Trebuchet MS" panose="020B0603020202020204" pitchFamily="34" charset="0"/>
                <a:ea typeface="Microsoft YaHei" panose="020B0503020204020204" pitchFamily="34" charset="-122"/>
                <a:sym typeface="Trebuchet MS" panose="020B0603020202020204" pitchFamily="34" charset="0"/>
              </a:endParaRPr>
            </a:p>
          </p:txBody>
        </p:sp>
      </p:grpSp>
      <p:sp>
        <p:nvSpPr>
          <p:cNvPr id="11" name="TextBox 10">
            <a:extLst>
              <a:ext uri="{FF2B5EF4-FFF2-40B4-BE49-F238E27FC236}">
                <a16:creationId xmlns:a16="http://schemas.microsoft.com/office/drawing/2014/main" id="{D0BA0035-D02F-6EC1-C5E9-BB852E6C895E}"/>
              </a:ext>
            </a:extLst>
          </p:cNvPr>
          <p:cNvSpPr txBox="1"/>
          <p:nvPr/>
        </p:nvSpPr>
        <p:spPr>
          <a:xfrm>
            <a:off x="831512" y="1657603"/>
            <a:ext cx="1826141" cy="338554"/>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spAutoFit/>
          </a:bodyPr>
          <a:lstStyle/>
          <a:p>
            <a:pPr algn="ctr"/>
            <a:r>
              <a:rPr lang="zh-TW" altLang="en-US" sz="1600" b="1">
                <a:solidFill>
                  <a:schemeClr val="bg1"/>
                </a:solidFill>
                <a:effectLst>
                  <a:outerShdw blurRad="38100" dist="38100" dir="2700000" algn="tl">
                    <a:srgbClr val="000000">
                      <a:alpha val="43137"/>
                    </a:srgbClr>
                  </a:outerShdw>
                </a:effectLst>
                <a:ea typeface="Microsoft YaHei" panose="020B0503020204020204" pitchFamily="34" charset="-122"/>
              </a:rPr>
              <a:t>客戶路徑識別方法</a:t>
            </a:r>
            <a:endParaRPr lang="en-US" sz="1600" b="1">
              <a:solidFill>
                <a:schemeClr val="bg1"/>
              </a:solidFill>
              <a:effectLst>
                <a:outerShdw blurRad="38100" dist="38100" dir="2700000" algn="tl">
                  <a:srgbClr val="000000">
                    <a:alpha val="43137"/>
                  </a:srgbClr>
                </a:outerShdw>
              </a:effectLst>
              <a:ea typeface="Microsoft YaHei" panose="020B0503020204020204" pitchFamily="34" charset="-122"/>
            </a:endParaRPr>
          </a:p>
        </p:txBody>
      </p:sp>
      <p:sp>
        <p:nvSpPr>
          <p:cNvPr id="12" name="IllustrativeStamp">
            <a:extLst>
              <a:ext uri="{FF2B5EF4-FFF2-40B4-BE49-F238E27FC236}">
                <a16:creationId xmlns:a16="http://schemas.microsoft.com/office/drawing/2014/main" id="{F7483FBD-5C9C-A45B-2B68-2913B499FE5B}"/>
              </a:ext>
            </a:extLst>
          </p:cNvPr>
          <p:cNvSpPr/>
          <p:nvPr/>
        </p:nvSpPr>
        <p:spPr>
          <a:xfrm>
            <a:off x="750493" y="2182225"/>
            <a:ext cx="1988179" cy="2662975"/>
          </a:xfrm>
          <a:prstGeom prst="rect">
            <a:avLst/>
          </a:prstGeom>
          <a:noFill/>
          <a:ln w="9525">
            <a:no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marL="324000" lvl="1" indent="-216000">
              <a:buClr>
                <a:schemeClr val="tx2"/>
              </a:buClr>
              <a:buFont typeface="Trebuchet MS" panose="020B0603020202020204" pitchFamily="34" charset="0"/>
              <a:buChar char="•"/>
            </a:pPr>
            <a:r>
              <a:rPr lang="zh-TW" altLang="en-US" sz="1400" b="1">
                <a:solidFill>
                  <a:schemeClr val="tx1"/>
                </a:solidFill>
                <a:ea typeface="Microsoft YaHei" panose="020B0503020204020204" pitchFamily="34" charset="-122"/>
              </a:rPr>
              <a:t>分析</a:t>
            </a:r>
            <a:r>
              <a:rPr lang="zh-TW" altLang="en-US" sz="1400" b="1">
                <a:solidFill>
                  <a:srgbClr val="29BA74"/>
                </a:solidFill>
                <a:ea typeface="Microsoft YaHei" panose="020B0503020204020204" pitchFamily="34" charset="-122"/>
              </a:rPr>
              <a:t>客戶活躍程度</a:t>
            </a:r>
            <a:endParaRPr lang="en-US" altLang="zh-TW" sz="1400" b="1">
              <a:solidFill>
                <a:srgbClr val="29BA74"/>
              </a:solidFill>
              <a:ea typeface="Microsoft YaHei" panose="020B0503020204020204" pitchFamily="34" charset="-122"/>
            </a:endParaRPr>
          </a:p>
          <a:p>
            <a:pPr marL="324000" lvl="1" indent="-216000">
              <a:buClr>
                <a:schemeClr val="tx2"/>
              </a:buClr>
              <a:buFont typeface="Trebuchet MS" panose="020B0603020202020204" pitchFamily="34" charset="0"/>
              <a:buChar char="•"/>
            </a:pPr>
            <a:endParaRPr lang="en-US" altLang="zh-TW" sz="1400" b="1">
              <a:solidFill>
                <a:schemeClr val="tx1"/>
              </a:solidFill>
              <a:ea typeface="Microsoft YaHei" panose="020B0503020204020204" pitchFamily="34" charset="-122"/>
            </a:endParaRPr>
          </a:p>
          <a:p>
            <a:pPr marL="324000" lvl="1" indent="-216000">
              <a:buClr>
                <a:schemeClr val="tx2"/>
              </a:buClr>
              <a:buFont typeface="Trebuchet MS" panose="020B0603020202020204" pitchFamily="34" charset="0"/>
              <a:buChar char="•"/>
            </a:pPr>
            <a:r>
              <a:rPr lang="zh-TW" altLang="en-US" sz="1400" b="1">
                <a:solidFill>
                  <a:schemeClr val="tx1"/>
                </a:solidFill>
                <a:ea typeface="Microsoft YaHei" panose="020B0503020204020204" pitchFamily="34" charset="-122"/>
              </a:rPr>
              <a:t>觀察</a:t>
            </a:r>
            <a:r>
              <a:rPr lang="zh-TW" altLang="en-US" sz="1400" b="1">
                <a:solidFill>
                  <a:srgbClr val="29BA74"/>
                </a:solidFill>
                <a:ea typeface="Microsoft YaHei" panose="020B0503020204020204" pitchFamily="34" charset="-122"/>
              </a:rPr>
              <a:t>持有產品變化</a:t>
            </a:r>
            <a:r>
              <a:rPr lang="zh-TW" altLang="en-US" sz="1400" b="1">
                <a:solidFill>
                  <a:schemeClr val="tx1"/>
                </a:solidFill>
                <a:ea typeface="Microsoft YaHei" panose="020B0503020204020204" pitchFamily="34" charset="-122"/>
              </a:rPr>
              <a:t>，包含是否僅日常交易、有無房貸、有無投資</a:t>
            </a:r>
            <a:endParaRPr lang="en-US" altLang="zh-TW" sz="1400" b="1">
              <a:solidFill>
                <a:schemeClr val="tx1"/>
              </a:solidFill>
              <a:ea typeface="Microsoft YaHei" panose="020B0503020204020204" pitchFamily="34" charset="-122"/>
            </a:endParaRPr>
          </a:p>
          <a:p>
            <a:pPr marL="324000" lvl="1" indent="-216000">
              <a:buClr>
                <a:schemeClr val="tx2"/>
              </a:buClr>
              <a:buFont typeface="Trebuchet MS" panose="020B0603020202020204" pitchFamily="34" charset="0"/>
              <a:buChar char="•"/>
            </a:pPr>
            <a:endParaRPr lang="en-US" altLang="zh-TW" sz="1400" b="1">
              <a:solidFill>
                <a:schemeClr val="tx1"/>
              </a:solidFill>
              <a:ea typeface="Microsoft YaHei" panose="020B0503020204020204" pitchFamily="34" charset="-122"/>
            </a:endParaRPr>
          </a:p>
          <a:p>
            <a:pPr marL="324000" lvl="1" indent="-216000">
              <a:buClr>
                <a:schemeClr val="tx2"/>
              </a:buClr>
              <a:buFont typeface="Trebuchet MS" panose="020B0603020202020204" pitchFamily="34" charset="0"/>
              <a:buChar char="•"/>
            </a:pPr>
            <a:r>
              <a:rPr lang="zh-TW" altLang="en-US" sz="1400" b="1">
                <a:solidFill>
                  <a:srgbClr val="29BA74"/>
                </a:solidFill>
                <a:ea typeface="Microsoft YaHei" panose="020B0503020204020204" pitchFamily="34" charset="-122"/>
              </a:rPr>
              <a:t>識別關鍵產品承做路徑</a:t>
            </a:r>
            <a:r>
              <a:rPr lang="zh-TW" altLang="en-US" sz="1400" b="1">
                <a:solidFill>
                  <a:schemeClr val="tx1"/>
                </a:solidFill>
                <a:ea typeface="Microsoft YaHei" panose="020B0503020204020204" pitchFamily="34" charset="-122"/>
              </a:rPr>
              <a:t>，與其他行爲參數綜合考量後，識別</a:t>
            </a:r>
            <a:r>
              <a:rPr lang="zh-TW" altLang="en-US" sz="1400" b="1">
                <a:solidFill>
                  <a:srgbClr val="29BA74"/>
                </a:solidFill>
                <a:ea typeface="Microsoft YaHei" panose="020B0503020204020204" pitchFamily="34" charset="-122"/>
              </a:rPr>
              <a:t>下一最佳產品推薦</a:t>
            </a:r>
            <a:endParaRPr lang="en-US" altLang="zh-TW" sz="1400" b="1">
              <a:solidFill>
                <a:srgbClr val="29BA74"/>
              </a:solidFill>
              <a:ea typeface="Microsoft YaHei" panose="020B0503020204020204" pitchFamily="34" charset="-122"/>
            </a:endParaRPr>
          </a:p>
        </p:txBody>
      </p:sp>
      <p:grpSp>
        <p:nvGrpSpPr>
          <p:cNvPr id="13" name="bcgIcons_Opportunity Mapping ">
            <a:extLst>
              <a:ext uri="{FF2B5EF4-FFF2-40B4-BE49-F238E27FC236}">
                <a16:creationId xmlns:a16="http://schemas.microsoft.com/office/drawing/2014/main" id="{3846BEF8-0404-2DEB-F337-B66868F80071}"/>
              </a:ext>
            </a:extLst>
          </p:cNvPr>
          <p:cNvGrpSpPr>
            <a:grpSpLocks noChangeAspect="1"/>
          </p:cNvGrpSpPr>
          <p:nvPr/>
        </p:nvGrpSpPr>
        <p:grpSpPr bwMode="auto">
          <a:xfrm>
            <a:off x="1333483" y="5087811"/>
            <a:ext cx="822198" cy="822960"/>
            <a:chOff x="1682" y="0"/>
            <a:chExt cx="4316" cy="4320"/>
          </a:xfrm>
        </p:grpSpPr>
        <p:sp>
          <p:nvSpPr>
            <p:cNvPr id="14" name="AutoShape 13">
              <a:extLst>
                <a:ext uri="{FF2B5EF4-FFF2-40B4-BE49-F238E27FC236}">
                  <a16:creationId xmlns:a16="http://schemas.microsoft.com/office/drawing/2014/main" id="{53A9EAF6-2219-A58F-5A17-215072C7C241}"/>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5">
              <a:extLst>
                <a:ext uri="{FF2B5EF4-FFF2-40B4-BE49-F238E27FC236}">
                  <a16:creationId xmlns:a16="http://schemas.microsoft.com/office/drawing/2014/main" id="{7C2869E4-49E0-52D3-20A9-4407C2F870AD}"/>
                </a:ext>
              </a:extLst>
            </p:cNvPr>
            <p:cNvSpPr>
              <a:spLocks noEditPoints="1"/>
            </p:cNvSpPr>
            <p:nvPr/>
          </p:nvSpPr>
          <p:spPr bwMode="auto">
            <a:xfrm>
              <a:off x="2604" y="877"/>
              <a:ext cx="2493" cy="1855"/>
            </a:xfrm>
            <a:custGeom>
              <a:avLst/>
              <a:gdLst>
                <a:gd name="T0" fmla="*/ 300 w 1331"/>
                <a:gd name="T1" fmla="*/ 3 h 989"/>
                <a:gd name="T2" fmla="*/ 0 w 1331"/>
                <a:gd name="T3" fmla="*/ 310 h 989"/>
                <a:gd name="T4" fmla="*/ 294 w 1331"/>
                <a:gd name="T5" fmla="*/ 984 h 989"/>
                <a:gd name="T6" fmla="*/ 306 w 1331"/>
                <a:gd name="T7" fmla="*/ 984 h 989"/>
                <a:gd name="T8" fmla="*/ 597 w 1331"/>
                <a:gd name="T9" fmla="*/ 310 h 989"/>
                <a:gd name="T10" fmla="*/ 300 w 1331"/>
                <a:gd name="T11" fmla="*/ 3 h 989"/>
                <a:gd name="T12" fmla="*/ 419 w 1331"/>
                <a:gd name="T13" fmla="*/ 226 h 989"/>
                <a:gd name="T14" fmla="*/ 364 w 1331"/>
                <a:gd name="T15" fmla="*/ 279 h 989"/>
                <a:gd name="T16" fmla="*/ 362 w 1331"/>
                <a:gd name="T17" fmla="*/ 284 h 989"/>
                <a:gd name="T18" fmla="*/ 374 w 1331"/>
                <a:gd name="T19" fmla="*/ 359 h 989"/>
                <a:gd name="T20" fmla="*/ 367 w 1331"/>
                <a:gd name="T21" fmla="*/ 364 h 989"/>
                <a:gd name="T22" fmla="*/ 300 w 1331"/>
                <a:gd name="T23" fmla="*/ 328 h 989"/>
                <a:gd name="T24" fmla="*/ 295 w 1331"/>
                <a:gd name="T25" fmla="*/ 328 h 989"/>
                <a:gd name="T26" fmla="*/ 228 w 1331"/>
                <a:gd name="T27" fmla="*/ 363 h 989"/>
                <a:gd name="T28" fmla="*/ 220 w 1331"/>
                <a:gd name="T29" fmla="*/ 357 h 989"/>
                <a:gd name="T30" fmla="*/ 234 w 1331"/>
                <a:gd name="T31" fmla="*/ 282 h 989"/>
                <a:gd name="T32" fmla="*/ 232 w 1331"/>
                <a:gd name="T33" fmla="*/ 277 h 989"/>
                <a:gd name="T34" fmla="*/ 179 w 1331"/>
                <a:gd name="T35" fmla="*/ 224 h 989"/>
                <a:gd name="T36" fmla="*/ 182 w 1331"/>
                <a:gd name="T37" fmla="*/ 215 h 989"/>
                <a:gd name="T38" fmla="*/ 256 w 1331"/>
                <a:gd name="T39" fmla="*/ 204 h 989"/>
                <a:gd name="T40" fmla="*/ 261 w 1331"/>
                <a:gd name="T41" fmla="*/ 202 h 989"/>
                <a:gd name="T42" fmla="*/ 295 w 1331"/>
                <a:gd name="T43" fmla="*/ 134 h 989"/>
                <a:gd name="T44" fmla="*/ 304 w 1331"/>
                <a:gd name="T45" fmla="*/ 134 h 989"/>
                <a:gd name="T46" fmla="*/ 337 w 1331"/>
                <a:gd name="T47" fmla="*/ 202 h 989"/>
                <a:gd name="T48" fmla="*/ 341 w 1331"/>
                <a:gd name="T49" fmla="*/ 206 h 989"/>
                <a:gd name="T50" fmla="*/ 416 w 1331"/>
                <a:gd name="T51" fmla="*/ 217 h 989"/>
                <a:gd name="T52" fmla="*/ 419 w 1331"/>
                <a:gd name="T53" fmla="*/ 226 h 989"/>
                <a:gd name="T54" fmla="*/ 1146 w 1331"/>
                <a:gd name="T55" fmla="*/ 0 h 989"/>
                <a:gd name="T56" fmla="*/ 958 w 1331"/>
                <a:gd name="T57" fmla="*/ 192 h 989"/>
                <a:gd name="T58" fmla="*/ 1142 w 1331"/>
                <a:gd name="T59" fmla="*/ 613 h 989"/>
                <a:gd name="T60" fmla="*/ 1149 w 1331"/>
                <a:gd name="T61" fmla="*/ 613 h 989"/>
                <a:gd name="T62" fmla="*/ 1331 w 1331"/>
                <a:gd name="T63" fmla="*/ 192 h 989"/>
                <a:gd name="T64" fmla="*/ 1146 w 1331"/>
                <a:gd name="T65" fmla="*/ 0 h 989"/>
                <a:gd name="T66" fmla="*/ 1220 w 1331"/>
                <a:gd name="T67" fmla="*/ 155 h 989"/>
                <a:gd name="T68" fmla="*/ 1186 w 1331"/>
                <a:gd name="T69" fmla="*/ 188 h 989"/>
                <a:gd name="T70" fmla="*/ 1185 w 1331"/>
                <a:gd name="T71" fmla="*/ 191 h 989"/>
                <a:gd name="T72" fmla="*/ 1192 w 1331"/>
                <a:gd name="T73" fmla="*/ 238 h 989"/>
                <a:gd name="T74" fmla="*/ 1187 w 1331"/>
                <a:gd name="T75" fmla="*/ 241 h 989"/>
                <a:gd name="T76" fmla="*/ 1146 w 1331"/>
                <a:gd name="T77" fmla="*/ 219 h 989"/>
                <a:gd name="T78" fmla="*/ 1143 w 1331"/>
                <a:gd name="T79" fmla="*/ 218 h 989"/>
                <a:gd name="T80" fmla="*/ 1101 w 1331"/>
                <a:gd name="T81" fmla="*/ 240 h 989"/>
                <a:gd name="T82" fmla="*/ 1096 w 1331"/>
                <a:gd name="T83" fmla="*/ 237 h 989"/>
                <a:gd name="T84" fmla="*/ 1104 w 1331"/>
                <a:gd name="T85" fmla="*/ 190 h 989"/>
                <a:gd name="T86" fmla="*/ 1103 w 1331"/>
                <a:gd name="T87" fmla="*/ 187 h 989"/>
                <a:gd name="T88" fmla="*/ 1070 w 1331"/>
                <a:gd name="T89" fmla="*/ 153 h 989"/>
                <a:gd name="T90" fmla="*/ 1072 w 1331"/>
                <a:gd name="T91" fmla="*/ 148 h 989"/>
                <a:gd name="T92" fmla="*/ 1118 w 1331"/>
                <a:gd name="T93" fmla="*/ 141 h 989"/>
                <a:gd name="T94" fmla="*/ 1121 w 1331"/>
                <a:gd name="T95" fmla="*/ 139 h 989"/>
                <a:gd name="T96" fmla="*/ 1142 w 1331"/>
                <a:gd name="T97" fmla="*/ 97 h 989"/>
                <a:gd name="T98" fmla="*/ 1149 w 1331"/>
                <a:gd name="T99" fmla="*/ 97 h 989"/>
                <a:gd name="T100" fmla="*/ 1169 w 1331"/>
                <a:gd name="T101" fmla="*/ 140 h 989"/>
                <a:gd name="T102" fmla="*/ 1171 w 1331"/>
                <a:gd name="T103" fmla="*/ 142 h 989"/>
                <a:gd name="T104" fmla="*/ 1218 w 1331"/>
                <a:gd name="T105" fmla="*/ 149 h 989"/>
                <a:gd name="T106" fmla="*/ 1220 w 1331"/>
                <a:gd name="T107" fmla="*/ 155 h 9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31" h="989">
                  <a:moveTo>
                    <a:pt x="300" y="3"/>
                  </a:moveTo>
                  <a:cubicBezTo>
                    <a:pt x="134" y="3"/>
                    <a:pt x="0" y="142"/>
                    <a:pt x="0" y="310"/>
                  </a:cubicBezTo>
                  <a:cubicBezTo>
                    <a:pt x="0" y="465"/>
                    <a:pt x="251" y="910"/>
                    <a:pt x="294" y="984"/>
                  </a:cubicBezTo>
                  <a:cubicBezTo>
                    <a:pt x="296" y="989"/>
                    <a:pt x="303" y="989"/>
                    <a:pt x="306" y="984"/>
                  </a:cubicBezTo>
                  <a:cubicBezTo>
                    <a:pt x="348" y="910"/>
                    <a:pt x="597" y="465"/>
                    <a:pt x="597" y="310"/>
                  </a:cubicBezTo>
                  <a:cubicBezTo>
                    <a:pt x="597" y="142"/>
                    <a:pt x="466" y="3"/>
                    <a:pt x="300" y="3"/>
                  </a:cubicBezTo>
                  <a:close/>
                  <a:moveTo>
                    <a:pt x="419" y="226"/>
                  </a:moveTo>
                  <a:cubicBezTo>
                    <a:pt x="364" y="279"/>
                    <a:pt x="364" y="279"/>
                    <a:pt x="364" y="279"/>
                  </a:cubicBezTo>
                  <a:cubicBezTo>
                    <a:pt x="363" y="280"/>
                    <a:pt x="362" y="282"/>
                    <a:pt x="362" y="284"/>
                  </a:cubicBezTo>
                  <a:cubicBezTo>
                    <a:pt x="374" y="359"/>
                    <a:pt x="374" y="359"/>
                    <a:pt x="374" y="359"/>
                  </a:cubicBezTo>
                  <a:cubicBezTo>
                    <a:pt x="375" y="363"/>
                    <a:pt x="371" y="366"/>
                    <a:pt x="367" y="364"/>
                  </a:cubicBezTo>
                  <a:cubicBezTo>
                    <a:pt x="300" y="328"/>
                    <a:pt x="300" y="328"/>
                    <a:pt x="300" y="328"/>
                  </a:cubicBezTo>
                  <a:cubicBezTo>
                    <a:pt x="298" y="327"/>
                    <a:pt x="297" y="327"/>
                    <a:pt x="295" y="328"/>
                  </a:cubicBezTo>
                  <a:cubicBezTo>
                    <a:pt x="228" y="363"/>
                    <a:pt x="228" y="363"/>
                    <a:pt x="228" y="363"/>
                  </a:cubicBezTo>
                  <a:cubicBezTo>
                    <a:pt x="224" y="365"/>
                    <a:pt x="219" y="361"/>
                    <a:pt x="220" y="357"/>
                  </a:cubicBezTo>
                  <a:cubicBezTo>
                    <a:pt x="234" y="282"/>
                    <a:pt x="234" y="282"/>
                    <a:pt x="234" y="282"/>
                  </a:cubicBezTo>
                  <a:cubicBezTo>
                    <a:pt x="234" y="280"/>
                    <a:pt x="234" y="278"/>
                    <a:pt x="232" y="277"/>
                  </a:cubicBezTo>
                  <a:cubicBezTo>
                    <a:pt x="179" y="224"/>
                    <a:pt x="179" y="224"/>
                    <a:pt x="179" y="224"/>
                  </a:cubicBezTo>
                  <a:cubicBezTo>
                    <a:pt x="176" y="221"/>
                    <a:pt x="177" y="215"/>
                    <a:pt x="182" y="215"/>
                  </a:cubicBezTo>
                  <a:cubicBezTo>
                    <a:pt x="256" y="204"/>
                    <a:pt x="256" y="204"/>
                    <a:pt x="256" y="204"/>
                  </a:cubicBezTo>
                  <a:cubicBezTo>
                    <a:pt x="258" y="204"/>
                    <a:pt x="260" y="203"/>
                    <a:pt x="261" y="202"/>
                  </a:cubicBezTo>
                  <a:cubicBezTo>
                    <a:pt x="295" y="134"/>
                    <a:pt x="295" y="134"/>
                    <a:pt x="295" y="134"/>
                  </a:cubicBezTo>
                  <a:cubicBezTo>
                    <a:pt x="297" y="130"/>
                    <a:pt x="302" y="130"/>
                    <a:pt x="304" y="134"/>
                  </a:cubicBezTo>
                  <a:cubicBezTo>
                    <a:pt x="337" y="202"/>
                    <a:pt x="337" y="202"/>
                    <a:pt x="337" y="202"/>
                  </a:cubicBezTo>
                  <a:cubicBezTo>
                    <a:pt x="338" y="204"/>
                    <a:pt x="339" y="205"/>
                    <a:pt x="341" y="206"/>
                  </a:cubicBezTo>
                  <a:cubicBezTo>
                    <a:pt x="416" y="217"/>
                    <a:pt x="416" y="217"/>
                    <a:pt x="416" y="217"/>
                  </a:cubicBezTo>
                  <a:cubicBezTo>
                    <a:pt x="420" y="218"/>
                    <a:pt x="422" y="223"/>
                    <a:pt x="419" y="226"/>
                  </a:cubicBezTo>
                  <a:close/>
                  <a:moveTo>
                    <a:pt x="1146" y="0"/>
                  </a:moveTo>
                  <a:cubicBezTo>
                    <a:pt x="1042" y="0"/>
                    <a:pt x="958" y="87"/>
                    <a:pt x="958" y="192"/>
                  </a:cubicBezTo>
                  <a:cubicBezTo>
                    <a:pt x="958" y="289"/>
                    <a:pt x="1115" y="567"/>
                    <a:pt x="1142" y="613"/>
                  </a:cubicBezTo>
                  <a:cubicBezTo>
                    <a:pt x="1144" y="616"/>
                    <a:pt x="1148" y="616"/>
                    <a:pt x="1149" y="613"/>
                  </a:cubicBezTo>
                  <a:cubicBezTo>
                    <a:pt x="1176" y="567"/>
                    <a:pt x="1331" y="289"/>
                    <a:pt x="1331" y="192"/>
                  </a:cubicBezTo>
                  <a:cubicBezTo>
                    <a:pt x="1331" y="87"/>
                    <a:pt x="1249" y="0"/>
                    <a:pt x="1146" y="0"/>
                  </a:cubicBezTo>
                  <a:close/>
                  <a:moveTo>
                    <a:pt x="1220" y="155"/>
                  </a:moveTo>
                  <a:cubicBezTo>
                    <a:pt x="1186" y="188"/>
                    <a:pt x="1186" y="188"/>
                    <a:pt x="1186" y="188"/>
                  </a:cubicBezTo>
                  <a:cubicBezTo>
                    <a:pt x="1185" y="188"/>
                    <a:pt x="1185" y="190"/>
                    <a:pt x="1185" y="191"/>
                  </a:cubicBezTo>
                  <a:cubicBezTo>
                    <a:pt x="1192" y="238"/>
                    <a:pt x="1192" y="238"/>
                    <a:pt x="1192" y="238"/>
                  </a:cubicBezTo>
                  <a:cubicBezTo>
                    <a:pt x="1193" y="240"/>
                    <a:pt x="1190" y="242"/>
                    <a:pt x="1187" y="241"/>
                  </a:cubicBezTo>
                  <a:cubicBezTo>
                    <a:pt x="1146" y="219"/>
                    <a:pt x="1146" y="219"/>
                    <a:pt x="1146" y="219"/>
                  </a:cubicBezTo>
                  <a:cubicBezTo>
                    <a:pt x="1145" y="218"/>
                    <a:pt x="1144" y="218"/>
                    <a:pt x="1143" y="218"/>
                  </a:cubicBezTo>
                  <a:cubicBezTo>
                    <a:pt x="1101" y="240"/>
                    <a:pt x="1101" y="240"/>
                    <a:pt x="1101" y="240"/>
                  </a:cubicBezTo>
                  <a:cubicBezTo>
                    <a:pt x="1098" y="241"/>
                    <a:pt x="1095" y="239"/>
                    <a:pt x="1096" y="237"/>
                  </a:cubicBezTo>
                  <a:cubicBezTo>
                    <a:pt x="1104" y="190"/>
                    <a:pt x="1104" y="190"/>
                    <a:pt x="1104" y="190"/>
                  </a:cubicBezTo>
                  <a:cubicBezTo>
                    <a:pt x="1104" y="189"/>
                    <a:pt x="1104" y="188"/>
                    <a:pt x="1103" y="187"/>
                  </a:cubicBezTo>
                  <a:cubicBezTo>
                    <a:pt x="1070" y="153"/>
                    <a:pt x="1070" y="153"/>
                    <a:pt x="1070" y="153"/>
                  </a:cubicBezTo>
                  <a:cubicBezTo>
                    <a:pt x="1068" y="151"/>
                    <a:pt x="1069" y="148"/>
                    <a:pt x="1072" y="148"/>
                  </a:cubicBezTo>
                  <a:cubicBezTo>
                    <a:pt x="1118" y="141"/>
                    <a:pt x="1118" y="141"/>
                    <a:pt x="1118" y="141"/>
                  </a:cubicBezTo>
                  <a:cubicBezTo>
                    <a:pt x="1120" y="141"/>
                    <a:pt x="1121" y="141"/>
                    <a:pt x="1121" y="139"/>
                  </a:cubicBezTo>
                  <a:cubicBezTo>
                    <a:pt x="1142" y="97"/>
                    <a:pt x="1142" y="97"/>
                    <a:pt x="1142" y="97"/>
                  </a:cubicBezTo>
                  <a:cubicBezTo>
                    <a:pt x="1144" y="95"/>
                    <a:pt x="1147" y="95"/>
                    <a:pt x="1149" y="97"/>
                  </a:cubicBezTo>
                  <a:cubicBezTo>
                    <a:pt x="1169" y="140"/>
                    <a:pt x="1169" y="140"/>
                    <a:pt x="1169" y="140"/>
                  </a:cubicBezTo>
                  <a:cubicBezTo>
                    <a:pt x="1169" y="141"/>
                    <a:pt x="1170" y="142"/>
                    <a:pt x="1171" y="142"/>
                  </a:cubicBezTo>
                  <a:cubicBezTo>
                    <a:pt x="1218" y="149"/>
                    <a:pt x="1218" y="149"/>
                    <a:pt x="1218" y="149"/>
                  </a:cubicBezTo>
                  <a:cubicBezTo>
                    <a:pt x="1221" y="150"/>
                    <a:pt x="1222" y="153"/>
                    <a:pt x="1220" y="155"/>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6">
              <a:extLst>
                <a:ext uri="{FF2B5EF4-FFF2-40B4-BE49-F238E27FC236}">
                  <a16:creationId xmlns:a16="http://schemas.microsoft.com/office/drawing/2014/main" id="{9C6583CD-2417-D0F1-0E0A-9ED8A0F0A21B}"/>
                </a:ext>
              </a:extLst>
            </p:cNvPr>
            <p:cNvSpPr>
              <a:spLocks noEditPoints="1"/>
            </p:cNvSpPr>
            <p:nvPr/>
          </p:nvSpPr>
          <p:spPr bwMode="auto">
            <a:xfrm>
              <a:off x="1864" y="712"/>
              <a:ext cx="3956" cy="2665"/>
            </a:xfrm>
            <a:custGeom>
              <a:avLst/>
              <a:gdLst>
                <a:gd name="T0" fmla="*/ 663 w 2112"/>
                <a:gd name="T1" fmla="*/ 1199 h 1421"/>
                <a:gd name="T2" fmla="*/ 469 w 2112"/>
                <a:gd name="T3" fmla="*/ 844 h 1421"/>
                <a:gd name="T4" fmla="*/ 695 w 2112"/>
                <a:gd name="T5" fmla="*/ 0 h 1421"/>
                <a:gd name="T6" fmla="*/ 920 w 2112"/>
                <a:gd name="T7" fmla="*/ 844 h 1421"/>
                <a:gd name="T8" fmla="*/ 727 w 2112"/>
                <a:gd name="T9" fmla="*/ 1199 h 1421"/>
                <a:gd name="T10" fmla="*/ 695 w 2112"/>
                <a:gd name="T11" fmla="*/ 1218 h 1421"/>
                <a:gd name="T12" fmla="*/ 352 w 2112"/>
                <a:gd name="T13" fmla="*/ 395 h 1421"/>
                <a:gd name="T14" fmla="*/ 662 w 2112"/>
                <a:gd name="T15" fmla="*/ 1110 h 1421"/>
                <a:gd name="T16" fmla="*/ 728 w 2112"/>
                <a:gd name="T17" fmla="*/ 1110 h 1421"/>
                <a:gd name="T18" fmla="*/ 1036 w 2112"/>
                <a:gd name="T19" fmla="*/ 395 h 1421"/>
                <a:gd name="T20" fmla="*/ 1344 w 2112"/>
                <a:gd name="T21" fmla="*/ 593 h 1421"/>
                <a:gd name="T22" fmla="*/ 1081 w 2112"/>
                <a:gd name="T23" fmla="*/ 587 h 1421"/>
                <a:gd name="T24" fmla="*/ 1364 w 2112"/>
                <a:gd name="T25" fmla="*/ 631 h 1421"/>
                <a:gd name="T26" fmla="*/ 2110 w 2112"/>
                <a:gd name="T27" fmla="*/ 1377 h 1421"/>
                <a:gd name="T28" fmla="*/ 1876 w 2112"/>
                <a:gd name="T29" fmla="*/ 587 h 1421"/>
                <a:gd name="T30" fmla="*/ 1736 w 2112"/>
                <a:gd name="T31" fmla="*/ 592 h 1421"/>
                <a:gd name="T32" fmla="*/ 1876 w 2112"/>
                <a:gd name="T33" fmla="*/ 631 h 1421"/>
                <a:gd name="T34" fmla="*/ 2064 w 2112"/>
                <a:gd name="T35" fmla="*/ 1377 h 1421"/>
                <a:gd name="T36" fmla="*/ 232 w 2112"/>
                <a:gd name="T37" fmla="*/ 631 h 1421"/>
                <a:gd name="T38" fmla="*/ 324 w 2112"/>
                <a:gd name="T39" fmla="*/ 631 h 1421"/>
                <a:gd name="T40" fmla="*/ 236 w 2112"/>
                <a:gd name="T41" fmla="*/ 587 h 1421"/>
                <a:gd name="T42" fmla="*/ 2 w 2112"/>
                <a:gd name="T43" fmla="*/ 1377 h 1421"/>
                <a:gd name="T44" fmla="*/ 45 w 2112"/>
                <a:gd name="T45" fmla="*/ 1421 h 1421"/>
                <a:gd name="T46" fmla="*/ 2104 w 2112"/>
                <a:gd name="T47" fmla="*/ 1405 h 1421"/>
                <a:gd name="T48" fmla="*/ 1541 w 2112"/>
                <a:gd name="T49" fmla="*/ 826 h 1421"/>
                <a:gd name="T50" fmla="*/ 1487 w 2112"/>
                <a:gd name="T51" fmla="*/ 765 h 1421"/>
                <a:gd name="T52" fmla="*/ 1276 w 2112"/>
                <a:gd name="T53" fmla="*/ 270 h 1421"/>
                <a:gd name="T54" fmla="*/ 1804 w 2112"/>
                <a:gd name="T55" fmla="*/ 270 h 1421"/>
                <a:gd name="T56" fmla="*/ 1594 w 2112"/>
                <a:gd name="T57" fmla="*/ 765 h 1421"/>
                <a:gd name="T58" fmla="*/ 1541 w 2112"/>
                <a:gd name="T59" fmla="*/ 826 h 1421"/>
                <a:gd name="T60" fmla="*/ 1541 w 2112"/>
                <a:gd name="T61" fmla="*/ 44 h 1421"/>
                <a:gd name="T62" fmla="*/ 1423 w 2112"/>
                <a:gd name="T63" fmla="*/ 553 h 1421"/>
                <a:gd name="T64" fmla="*/ 1541 w 2112"/>
                <a:gd name="T65" fmla="*/ 770 h 1421"/>
                <a:gd name="T66" fmla="*/ 1658 w 2112"/>
                <a:gd name="T67" fmla="*/ 553 h 1421"/>
                <a:gd name="T68" fmla="*/ 1541 w 2112"/>
                <a:gd name="T69" fmla="*/ 44 h 1421"/>
                <a:gd name="T70" fmla="*/ 1195 w 2112"/>
                <a:gd name="T71" fmla="*/ 908 h 1421"/>
                <a:gd name="T72" fmla="*/ 1195 w 2112"/>
                <a:gd name="T73" fmla="*/ 826 h 1421"/>
                <a:gd name="T74" fmla="*/ 1449 w 2112"/>
                <a:gd name="T75" fmla="*/ 787 h 1421"/>
                <a:gd name="T76" fmla="*/ 1195 w 2112"/>
                <a:gd name="T77" fmla="*/ 782 h 1421"/>
                <a:gd name="T78" fmla="*/ 1195 w 2112"/>
                <a:gd name="T79" fmla="*/ 952 h 1421"/>
                <a:gd name="T80" fmla="*/ 1659 w 2112"/>
                <a:gd name="T81" fmla="*/ 1063 h 1421"/>
                <a:gd name="T82" fmla="*/ 793 w 2112"/>
                <a:gd name="T83" fmla="*/ 1174 h 1421"/>
                <a:gd name="T84" fmla="*/ 1548 w 2112"/>
                <a:gd name="T85" fmla="*/ 1218 h 1421"/>
                <a:gd name="T86" fmla="*/ 1548 w 2112"/>
                <a:gd name="T87" fmla="*/ 908 h 1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2" h="1421">
                  <a:moveTo>
                    <a:pt x="695" y="1218"/>
                  </a:moveTo>
                  <a:cubicBezTo>
                    <a:pt x="681" y="1218"/>
                    <a:pt x="669" y="1211"/>
                    <a:pt x="663" y="1199"/>
                  </a:cubicBezTo>
                  <a:cubicBezTo>
                    <a:pt x="624" y="1132"/>
                    <a:pt x="624" y="1132"/>
                    <a:pt x="624" y="1132"/>
                  </a:cubicBezTo>
                  <a:cubicBezTo>
                    <a:pt x="623" y="1131"/>
                    <a:pt x="545" y="997"/>
                    <a:pt x="469" y="844"/>
                  </a:cubicBezTo>
                  <a:cubicBezTo>
                    <a:pt x="360" y="627"/>
                    <a:pt x="308" y="480"/>
                    <a:pt x="308" y="395"/>
                  </a:cubicBezTo>
                  <a:cubicBezTo>
                    <a:pt x="308" y="177"/>
                    <a:pt x="481" y="0"/>
                    <a:pt x="695" y="0"/>
                  </a:cubicBezTo>
                  <a:cubicBezTo>
                    <a:pt x="907" y="0"/>
                    <a:pt x="1080" y="177"/>
                    <a:pt x="1080" y="395"/>
                  </a:cubicBezTo>
                  <a:cubicBezTo>
                    <a:pt x="1080" y="480"/>
                    <a:pt x="1027" y="627"/>
                    <a:pt x="920" y="844"/>
                  </a:cubicBezTo>
                  <a:cubicBezTo>
                    <a:pt x="844" y="997"/>
                    <a:pt x="767" y="1131"/>
                    <a:pt x="766" y="1132"/>
                  </a:cubicBezTo>
                  <a:cubicBezTo>
                    <a:pt x="727" y="1199"/>
                    <a:pt x="727" y="1199"/>
                    <a:pt x="727" y="1199"/>
                  </a:cubicBezTo>
                  <a:cubicBezTo>
                    <a:pt x="721" y="1211"/>
                    <a:pt x="709" y="1218"/>
                    <a:pt x="695" y="1218"/>
                  </a:cubicBezTo>
                  <a:cubicBezTo>
                    <a:pt x="695" y="1218"/>
                    <a:pt x="695" y="1218"/>
                    <a:pt x="695" y="1218"/>
                  </a:cubicBezTo>
                  <a:close/>
                  <a:moveTo>
                    <a:pt x="695" y="44"/>
                  </a:moveTo>
                  <a:cubicBezTo>
                    <a:pt x="506" y="44"/>
                    <a:pt x="352" y="202"/>
                    <a:pt x="352" y="395"/>
                  </a:cubicBezTo>
                  <a:cubicBezTo>
                    <a:pt x="352" y="473"/>
                    <a:pt x="403" y="614"/>
                    <a:pt x="508" y="825"/>
                  </a:cubicBezTo>
                  <a:cubicBezTo>
                    <a:pt x="584" y="976"/>
                    <a:pt x="661" y="1109"/>
                    <a:pt x="662" y="1110"/>
                  </a:cubicBezTo>
                  <a:cubicBezTo>
                    <a:pt x="695" y="1167"/>
                    <a:pt x="695" y="1167"/>
                    <a:pt x="695" y="1167"/>
                  </a:cubicBezTo>
                  <a:cubicBezTo>
                    <a:pt x="728" y="1110"/>
                    <a:pt x="728" y="1110"/>
                    <a:pt x="728" y="1110"/>
                  </a:cubicBezTo>
                  <a:cubicBezTo>
                    <a:pt x="729" y="1109"/>
                    <a:pt x="805" y="976"/>
                    <a:pt x="880" y="825"/>
                  </a:cubicBezTo>
                  <a:cubicBezTo>
                    <a:pt x="985" y="614"/>
                    <a:pt x="1036" y="473"/>
                    <a:pt x="1036" y="395"/>
                  </a:cubicBezTo>
                  <a:cubicBezTo>
                    <a:pt x="1036" y="202"/>
                    <a:pt x="883" y="44"/>
                    <a:pt x="695" y="44"/>
                  </a:cubicBezTo>
                  <a:close/>
                  <a:moveTo>
                    <a:pt x="1344" y="593"/>
                  </a:moveTo>
                  <a:cubicBezTo>
                    <a:pt x="1343" y="591"/>
                    <a:pt x="1343" y="589"/>
                    <a:pt x="1342" y="587"/>
                  </a:cubicBezTo>
                  <a:cubicBezTo>
                    <a:pt x="1081" y="587"/>
                    <a:pt x="1081" y="587"/>
                    <a:pt x="1081" y="587"/>
                  </a:cubicBezTo>
                  <a:cubicBezTo>
                    <a:pt x="1076" y="601"/>
                    <a:pt x="1070" y="616"/>
                    <a:pt x="1064" y="631"/>
                  </a:cubicBezTo>
                  <a:cubicBezTo>
                    <a:pt x="1364" y="631"/>
                    <a:pt x="1364" y="631"/>
                    <a:pt x="1364" y="631"/>
                  </a:cubicBezTo>
                  <a:cubicBezTo>
                    <a:pt x="1357" y="619"/>
                    <a:pt x="1351" y="606"/>
                    <a:pt x="1344" y="593"/>
                  </a:cubicBezTo>
                  <a:close/>
                  <a:moveTo>
                    <a:pt x="2110" y="1377"/>
                  </a:moveTo>
                  <a:cubicBezTo>
                    <a:pt x="1921" y="615"/>
                    <a:pt x="1921" y="615"/>
                    <a:pt x="1921" y="615"/>
                  </a:cubicBezTo>
                  <a:cubicBezTo>
                    <a:pt x="1916" y="596"/>
                    <a:pt x="1894" y="587"/>
                    <a:pt x="1876" y="587"/>
                  </a:cubicBezTo>
                  <a:cubicBezTo>
                    <a:pt x="1739" y="587"/>
                    <a:pt x="1739" y="587"/>
                    <a:pt x="1739" y="587"/>
                  </a:cubicBezTo>
                  <a:cubicBezTo>
                    <a:pt x="1738" y="589"/>
                    <a:pt x="1737" y="591"/>
                    <a:pt x="1736" y="592"/>
                  </a:cubicBezTo>
                  <a:cubicBezTo>
                    <a:pt x="1730" y="605"/>
                    <a:pt x="1723" y="618"/>
                    <a:pt x="1717" y="631"/>
                  </a:cubicBezTo>
                  <a:cubicBezTo>
                    <a:pt x="1876" y="631"/>
                    <a:pt x="1876" y="631"/>
                    <a:pt x="1876" y="631"/>
                  </a:cubicBezTo>
                  <a:cubicBezTo>
                    <a:pt x="1877" y="631"/>
                    <a:pt x="1879" y="631"/>
                    <a:pt x="1880" y="631"/>
                  </a:cubicBezTo>
                  <a:cubicBezTo>
                    <a:pt x="2064" y="1377"/>
                    <a:pt x="2064" y="1377"/>
                    <a:pt x="2064" y="1377"/>
                  </a:cubicBezTo>
                  <a:cubicBezTo>
                    <a:pt x="48" y="1377"/>
                    <a:pt x="48" y="1377"/>
                    <a:pt x="48" y="1377"/>
                  </a:cubicBezTo>
                  <a:cubicBezTo>
                    <a:pt x="232" y="631"/>
                    <a:pt x="232" y="631"/>
                    <a:pt x="232" y="631"/>
                  </a:cubicBezTo>
                  <a:cubicBezTo>
                    <a:pt x="233" y="631"/>
                    <a:pt x="235" y="631"/>
                    <a:pt x="236" y="631"/>
                  </a:cubicBezTo>
                  <a:cubicBezTo>
                    <a:pt x="324" y="631"/>
                    <a:pt x="324" y="631"/>
                    <a:pt x="324" y="631"/>
                  </a:cubicBezTo>
                  <a:cubicBezTo>
                    <a:pt x="318" y="616"/>
                    <a:pt x="312" y="601"/>
                    <a:pt x="307" y="587"/>
                  </a:cubicBezTo>
                  <a:cubicBezTo>
                    <a:pt x="236" y="587"/>
                    <a:pt x="236" y="587"/>
                    <a:pt x="236" y="587"/>
                  </a:cubicBezTo>
                  <a:cubicBezTo>
                    <a:pt x="218" y="587"/>
                    <a:pt x="196" y="596"/>
                    <a:pt x="191" y="615"/>
                  </a:cubicBezTo>
                  <a:cubicBezTo>
                    <a:pt x="2" y="1377"/>
                    <a:pt x="2" y="1377"/>
                    <a:pt x="2" y="1377"/>
                  </a:cubicBezTo>
                  <a:cubicBezTo>
                    <a:pt x="0" y="1387"/>
                    <a:pt x="2" y="1397"/>
                    <a:pt x="8" y="1405"/>
                  </a:cubicBezTo>
                  <a:cubicBezTo>
                    <a:pt x="16" y="1415"/>
                    <a:pt x="30" y="1421"/>
                    <a:pt x="45" y="1421"/>
                  </a:cubicBezTo>
                  <a:cubicBezTo>
                    <a:pt x="2067" y="1421"/>
                    <a:pt x="2067" y="1421"/>
                    <a:pt x="2067" y="1421"/>
                  </a:cubicBezTo>
                  <a:cubicBezTo>
                    <a:pt x="2082" y="1421"/>
                    <a:pt x="2096" y="1415"/>
                    <a:pt x="2104" y="1405"/>
                  </a:cubicBezTo>
                  <a:cubicBezTo>
                    <a:pt x="2110" y="1397"/>
                    <a:pt x="2112" y="1387"/>
                    <a:pt x="2110" y="1377"/>
                  </a:cubicBezTo>
                  <a:close/>
                  <a:moveTo>
                    <a:pt x="1541" y="826"/>
                  </a:moveTo>
                  <a:cubicBezTo>
                    <a:pt x="1529" y="826"/>
                    <a:pt x="1519" y="819"/>
                    <a:pt x="1513" y="810"/>
                  </a:cubicBezTo>
                  <a:cubicBezTo>
                    <a:pt x="1487" y="765"/>
                    <a:pt x="1487" y="765"/>
                    <a:pt x="1487" y="765"/>
                  </a:cubicBezTo>
                  <a:cubicBezTo>
                    <a:pt x="1487" y="764"/>
                    <a:pt x="1435" y="675"/>
                    <a:pt x="1384" y="573"/>
                  </a:cubicBezTo>
                  <a:cubicBezTo>
                    <a:pt x="1310" y="425"/>
                    <a:pt x="1276" y="329"/>
                    <a:pt x="1276" y="270"/>
                  </a:cubicBezTo>
                  <a:cubicBezTo>
                    <a:pt x="1276" y="122"/>
                    <a:pt x="1395" y="0"/>
                    <a:pt x="1541" y="0"/>
                  </a:cubicBezTo>
                  <a:cubicBezTo>
                    <a:pt x="1686" y="0"/>
                    <a:pt x="1804" y="122"/>
                    <a:pt x="1804" y="270"/>
                  </a:cubicBezTo>
                  <a:cubicBezTo>
                    <a:pt x="1804" y="329"/>
                    <a:pt x="1770" y="425"/>
                    <a:pt x="1697" y="573"/>
                  </a:cubicBezTo>
                  <a:cubicBezTo>
                    <a:pt x="1647" y="675"/>
                    <a:pt x="1595" y="764"/>
                    <a:pt x="1594" y="765"/>
                  </a:cubicBezTo>
                  <a:cubicBezTo>
                    <a:pt x="1569" y="809"/>
                    <a:pt x="1569" y="809"/>
                    <a:pt x="1569" y="809"/>
                  </a:cubicBezTo>
                  <a:cubicBezTo>
                    <a:pt x="1563" y="819"/>
                    <a:pt x="1552" y="826"/>
                    <a:pt x="1541" y="826"/>
                  </a:cubicBezTo>
                  <a:cubicBezTo>
                    <a:pt x="1541" y="826"/>
                    <a:pt x="1541" y="826"/>
                    <a:pt x="1541" y="826"/>
                  </a:cubicBezTo>
                  <a:close/>
                  <a:moveTo>
                    <a:pt x="1541" y="44"/>
                  </a:moveTo>
                  <a:cubicBezTo>
                    <a:pt x="1419" y="44"/>
                    <a:pt x="1320" y="146"/>
                    <a:pt x="1320" y="270"/>
                  </a:cubicBezTo>
                  <a:cubicBezTo>
                    <a:pt x="1320" y="321"/>
                    <a:pt x="1354" y="416"/>
                    <a:pt x="1423" y="553"/>
                  </a:cubicBezTo>
                  <a:cubicBezTo>
                    <a:pt x="1474" y="655"/>
                    <a:pt x="1525" y="742"/>
                    <a:pt x="1525" y="743"/>
                  </a:cubicBezTo>
                  <a:cubicBezTo>
                    <a:pt x="1541" y="770"/>
                    <a:pt x="1541" y="770"/>
                    <a:pt x="1541" y="770"/>
                  </a:cubicBezTo>
                  <a:cubicBezTo>
                    <a:pt x="1556" y="743"/>
                    <a:pt x="1556" y="743"/>
                    <a:pt x="1556" y="743"/>
                  </a:cubicBezTo>
                  <a:cubicBezTo>
                    <a:pt x="1557" y="742"/>
                    <a:pt x="1607" y="655"/>
                    <a:pt x="1658" y="553"/>
                  </a:cubicBezTo>
                  <a:cubicBezTo>
                    <a:pt x="1726" y="416"/>
                    <a:pt x="1760" y="321"/>
                    <a:pt x="1760" y="270"/>
                  </a:cubicBezTo>
                  <a:cubicBezTo>
                    <a:pt x="1760" y="146"/>
                    <a:pt x="1662" y="44"/>
                    <a:pt x="1541" y="44"/>
                  </a:cubicBezTo>
                  <a:close/>
                  <a:moveTo>
                    <a:pt x="1548" y="908"/>
                  </a:moveTo>
                  <a:cubicBezTo>
                    <a:pt x="1195" y="908"/>
                    <a:pt x="1195" y="908"/>
                    <a:pt x="1195" y="908"/>
                  </a:cubicBezTo>
                  <a:cubicBezTo>
                    <a:pt x="1172" y="908"/>
                    <a:pt x="1154" y="889"/>
                    <a:pt x="1154" y="867"/>
                  </a:cubicBezTo>
                  <a:cubicBezTo>
                    <a:pt x="1154" y="844"/>
                    <a:pt x="1172" y="826"/>
                    <a:pt x="1195" y="826"/>
                  </a:cubicBezTo>
                  <a:cubicBezTo>
                    <a:pt x="1471" y="826"/>
                    <a:pt x="1471" y="826"/>
                    <a:pt x="1471" y="826"/>
                  </a:cubicBezTo>
                  <a:cubicBezTo>
                    <a:pt x="1449" y="787"/>
                    <a:pt x="1449" y="787"/>
                    <a:pt x="1449" y="787"/>
                  </a:cubicBezTo>
                  <a:cubicBezTo>
                    <a:pt x="1449" y="787"/>
                    <a:pt x="1448" y="785"/>
                    <a:pt x="1446" y="782"/>
                  </a:cubicBezTo>
                  <a:cubicBezTo>
                    <a:pt x="1195" y="782"/>
                    <a:pt x="1195" y="782"/>
                    <a:pt x="1195" y="782"/>
                  </a:cubicBezTo>
                  <a:cubicBezTo>
                    <a:pt x="1148" y="782"/>
                    <a:pt x="1110" y="820"/>
                    <a:pt x="1110" y="867"/>
                  </a:cubicBezTo>
                  <a:cubicBezTo>
                    <a:pt x="1110" y="914"/>
                    <a:pt x="1148" y="952"/>
                    <a:pt x="1195" y="952"/>
                  </a:cubicBezTo>
                  <a:cubicBezTo>
                    <a:pt x="1548" y="952"/>
                    <a:pt x="1548" y="952"/>
                    <a:pt x="1548" y="952"/>
                  </a:cubicBezTo>
                  <a:cubicBezTo>
                    <a:pt x="1609" y="952"/>
                    <a:pt x="1659" y="1002"/>
                    <a:pt x="1659" y="1063"/>
                  </a:cubicBezTo>
                  <a:cubicBezTo>
                    <a:pt x="1659" y="1124"/>
                    <a:pt x="1609" y="1174"/>
                    <a:pt x="1548" y="1174"/>
                  </a:cubicBezTo>
                  <a:cubicBezTo>
                    <a:pt x="793" y="1174"/>
                    <a:pt x="793" y="1174"/>
                    <a:pt x="793" y="1174"/>
                  </a:cubicBezTo>
                  <a:cubicBezTo>
                    <a:pt x="767" y="1218"/>
                    <a:pt x="767" y="1218"/>
                    <a:pt x="767" y="1218"/>
                  </a:cubicBezTo>
                  <a:cubicBezTo>
                    <a:pt x="1548" y="1218"/>
                    <a:pt x="1548" y="1218"/>
                    <a:pt x="1548" y="1218"/>
                  </a:cubicBezTo>
                  <a:cubicBezTo>
                    <a:pt x="1633" y="1218"/>
                    <a:pt x="1703" y="1148"/>
                    <a:pt x="1703" y="1063"/>
                  </a:cubicBezTo>
                  <a:cubicBezTo>
                    <a:pt x="1703" y="977"/>
                    <a:pt x="1633" y="908"/>
                    <a:pt x="1548" y="90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aphicFrame>
        <p:nvGraphicFramePr>
          <p:cNvPr id="18" name="Table 4">
            <a:extLst>
              <a:ext uri="{FF2B5EF4-FFF2-40B4-BE49-F238E27FC236}">
                <a16:creationId xmlns:a16="http://schemas.microsoft.com/office/drawing/2014/main" id="{C02F940E-B842-8078-8AB1-9E0CBADD89E4}"/>
              </a:ext>
            </a:extLst>
          </p:cNvPr>
          <p:cNvGraphicFramePr>
            <a:graphicFrameLocks noGrp="1"/>
          </p:cNvGraphicFramePr>
          <p:nvPr>
            <p:extLst>
              <p:ext uri="{D42A27DB-BD31-4B8C-83A1-F6EECF244321}">
                <p14:modId xmlns:p14="http://schemas.microsoft.com/office/powerpoint/2010/main" val="3606469356"/>
              </p:ext>
            </p:extLst>
          </p:nvPr>
        </p:nvGraphicFramePr>
        <p:xfrm>
          <a:off x="3441866" y="2081177"/>
          <a:ext cx="5794394" cy="4066645"/>
        </p:xfrm>
        <a:graphic>
          <a:graphicData uri="http://schemas.openxmlformats.org/drawingml/2006/table">
            <a:tbl>
              <a:tblPr>
                <a:tableStyleId>{8799B23B-EC83-4686-B30A-512413B5E67A}</a:tableStyleId>
              </a:tblPr>
              <a:tblGrid>
                <a:gridCol w="585686">
                  <a:extLst>
                    <a:ext uri="{9D8B030D-6E8A-4147-A177-3AD203B41FA5}">
                      <a16:colId xmlns:a16="http://schemas.microsoft.com/office/drawing/2014/main" val="1000933853"/>
                    </a:ext>
                  </a:extLst>
                </a:gridCol>
                <a:gridCol w="868118">
                  <a:extLst>
                    <a:ext uri="{9D8B030D-6E8A-4147-A177-3AD203B41FA5}">
                      <a16:colId xmlns:a16="http://schemas.microsoft.com/office/drawing/2014/main" val="3554108037"/>
                    </a:ext>
                  </a:extLst>
                </a:gridCol>
                <a:gridCol w="868118">
                  <a:extLst>
                    <a:ext uri="{9D8B030D-6E8A-4147-A177-3AD203B41FA5}">
                      <a16:colId xmlns:a16="http://schemas.microsoft.com/office/drawing/2014/main" val="4068591135"/>
                    </a:ext>
                  </a:extLst>
                </a:gridCol>
                <a:gridCol w="868118">
                  <a:extLst>
                    <a:ext uri="{9D8B030D-6E8A-4147-A177-3AD203B41FA5}">
                      <a16:colId xmlns:a16="http://schemas.microsoft.com/office/drawing/2014/main" val="190935453"/>
                    </a:ext>
                  </a:extLst>
                </a:gridCol>
                <a:gridCol w="868118">
                  <a:extLst>
                    <a:ext uri="{9D8B030D-6E8A-4147-A177-3AD203B41FA5}">
                      <a16:colId xmlns:a16="http://schemas.microsoft.com/office/drawing/2014/main" val="4087017923"/>
                    </a:ext>
                  </a:extLst>
                </a:gridCol>
                <a:gridCol w="868118">
                  <a:extLst>
                    <a:ext uri="{9D8B030D-6E8A-4147-A177-3AD203B41FA5}">
                      <a16:colId xmlns:a16="http://schemas.microsoft.com/office/drawing/2014/main" val="3818671370"/>
                    </a:ext>
                  </a:extLst>
                </a:gridCol>
                <a:gridCol w="868118">
                  <a:extLst>
                    <a:ext uri="{9D8B030D-6E8A-4147-A177-3AD203B41FA5}">
                      <a16:colId xmlns:a16="http://schemas.microsoft.com/office/drawing/2014/main" val="3282140004"/>
                    </a:ext>
                  </a:extLst>
                </a:gridCol>
              </a:tblGrid>
              <a:tr h="683304">
                <a:tc rowSpan="2">
                  <a:txBody>
                    <a:bodyPr/>
                    <a:lstStyle/>
                    <a:p>
                      <a:pPr algn="ctr" rtl="0"/>
                      <a:endParaRPr lang="fi-FI" sz="1400" noProof="0">
                        <a:solidFill>
                          <a:srgbClr val="FFFFFF"/>
                        </a:solidFill>
                        <a:ea typeface="Microsoft YaHei" panose="020B0503020204020204" pitchFamily="34" charset="-122"/>
                      </a:endParaRPr>
                    </a:p>
                  </a:txBody>
                  <a:tcPr marL="0" marR="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6350" cap="flat" cmpd="sng" algn="ctr">
                      <a:solidFill>
                        <a:schemeClr val="bg2">
                          <a:lumMod val="75000"/>
                        </a:schemeClr>
                      </a:solidFill>
                      <a:prstDash val="sysDot"/>
                      <a:round/>
                      <a:headEnd type="none" w="med" len="med"/>
                      <a:tailEnd type="none" w="med" len="med"/>
                    </a:lnB>
                    <a:solidFill>
                      <a:srgbClr val="FFFFFF"/>
                    </a:solidFill>
                  </a:tcPr>
                </a:tc>
                <a:tc rowSpan="2">
                  <a:txBody>
                    <a:bodyPr/>
                    <a:lstStyle/>
                    <a:p>
                      <a:pPr algn="ctr" rtl="0"/>
                      <a:r>
                        <a:rPr lang="zh-TW" altLang="en-US" sz="1400" b="1" noProof="0">
                          <a:solidFill>
                            <a:srgbClr val="575757"/>
                          </a:solidFill>
                          <a:ea typeface="Microsoft YaHei" panose="020B0503020204020204" pitchFamily="34" charset="-122"/>
                        </a:rPr>
                        <a:t>僅保險</a:t>
                      </a:r>
                      <a:endParaRPr lang="fi-FI" sz="1400" b="1" noProof="0">
                        <a:solidFill>
                          <a:srgbClr val="575757"/>
                        </a:solidFill>
                        <a:ea typeface="Microsoft YaHei" panose="020B0503020204020204" pitchFamily="34" charset="-122"/>
                      </a:endParaRPr>
                    </a:p>
                  </a:txBody>
                  <a:tcPr marL="73152" marR="73152" marT="73152" marB="73152"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6350" cap="flat" cmpd="sng" algn="ctr">
                      <a:solidFill>
                        <a:schemeClr val="bg2">
                          <a:lumMod val="75000"/>
                        </a:schemeClr>
                      </a:solidFill>
                      <a:prstDash val="sysDot"/>
                      <a:round/>
                      <a:headEnd type="none" w="med" len="med"/>
                      <a:tailEnd type="none" w="med" len="med"/>
                    </a:lnB>
                    <a:solidFill>
                      <a:schemeClr val="tx1">
                        <a:lumMod val="20000"/>
                        <a:lumOff val="80000"/>
                      </a:schemeClr>
                    </a:solidFill>
                  </a:tcPr>
                </a:tc>
                <a:tc rowSpan="2">
                  <a:txBody>
                    <a:bodyPr/>
                    <a:lstStyle/>
                    <a:p>
                      <a:pPr algn="ctr" rtl="0"/>
                      <a:r>
                        <a:rPr lang="zh-TW" altLang="en-US" sz="1400" b="1" noProof="0">
                          <a:solidFill>
                            <a:srgbClr val="575757"/>
                          </a:solidFill>
                          <a:ea typeface="Microsoft YaHei" panose="020B0503020204020204" pitchFamily="34" charset="-122"/>
                        </a:rPr>
                        <a:t>日常交易</a:t>
                      </a:r>
                      <a:endParaRPr lang="fi-FI" sz="1400" b="1" noProof="0">
                        <a:solidFill>
                          <a:srgbClr val="575757"/>
                        </a:solidFill>
                        <a:ea typeface="Microsoft YaHei" panose="020B0503020204020204" pitchFamily="34" charset="-122"/>
                      </a:endParaRPr>
                    </a:p>
                  </a:txBody>
                  <a:tcPr marL="0" marR="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6350" cap="flat" cmpd="sng" algn="ctr">
                      <a:solidFill>
                        <a:schemeClr val="bg2">
                          <a:lumMod val="75000"/>
                        </a:schemeClr>
                      </a:solidFill>
                      <a:prstDash val="sysDot"/>
                      <a:round/>
                      <a:headEnd type="none" w="med" len="med"/>
                      <a:tailEnd type="none" w="med" len="med"/>
                    </a:lnB>
                    <a:solidFill>
                      <a:schemeClr val="tx1">
                        <a:lumMod val="20000"/>
                        <a:lumOff val="80000"/>
                      </a:schemeClr>
                    </a:solidFill>
                  </a:tcPr>
                </a:tc>
                <a:tc gridSpan="2">
                  <a:txBody>
                    <a:bodyPr/>
                    <a:lstStyle/>
                    <a:p>
                      <a:pPr algn="ctr"/>
                      <a:r>
                        <a:rPr lang="zh-TW" altLang="en-US" sz="1400" b="1">
                          <a:solidFill>
                            <a:schemeClr val="bg1"/>
                          </a:solidFill>
                          <a:ea typeface="Microsoft YaHei" panose="020B0503020204020204" pitchFamily="34" charset="-122"/>
                        </a:rPr>
                        <a:t>無房貸</a:t>
                      </a:r>
                      <a:endParaRPr lang="en-US" sz="1400" b="1">
                        <a:solidFill>
                          <a:schemeClr val="bg1"/>
                        </a:solidFill>
                        <a:ea typeface="Microsoft YaHei" panose="020B0503020204020204" pitchFamily="34" charset="-122"/>
                      </a:endParaRPr>
                    </a:p>
                  </a:txBody>
                  <a:tcPr marL="0" marR="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6350" cap="flat" cmpd="sng" algn="ctr">
                      <a:solidFill>
                        <a:schemeClr val="bg2">
                          <a:lumMod val="75000"/>
                        </a:schemeClr>
                      </a:solidFill>
                      <a:prstDash val="sysDot"/>
                      <a:round/>
                      <a:headEnd type="none" w="med" len="med"/>
                      <a:tailEnd type="none" w="med" len="med"/>
                    </a:lnB>
                    <a:gradFill>
                      <a:gsLst>
                        <a:gs pos="0">
                          <a:schemeClr val="tx2"/>
                        </a:gs>
                        <a:gs pos="100000">
                          <a:schemeClr val="accent1"/>
                        </a:gs>
                      </a:gsLst>
                      <a:lin ang="5400000" scaled="1"/>
                    </a:gradFill>
                  </a:tcPr>
                </a:tc>
                <a:tc hMerge="1">
                  <a:txBody>
                    <a:bodyPr/>
                    <a:lstStyle/>
                    <a:p>
                      <a:pPr algn="ctr"/>
                      <a:endParaRPr lang="en-US" sz="800"/>
                    </a:p>
                  </a:txBody>
                  <a:tcPr marL="0" marR="0" marT="0" marB="0" anchor="ctr">
                    <a:lnL w="28575" cap="flat" cmpd="sng" algn="ctr">
                      <a:solidFill>
                        <a:schemeClr val="bg1"/>
                      </a:solidFill>
                      <a:prstDash val="solid"/>
                      <a:round/>
                      <a:headEnd type="none" w="med" len="med"/>
                      <a:tailEnd type="none" w="med" len="med"/>
                    </a:lnL>
                  </a:tcPr>
                </a:tc>
                <a:tc gridSpan="2">
                  <a:txBody>
                    <a:bodyPr/>
                    <a:lstStyle/>
                    <a:p>
                      <a:pPr algn="ctr" rtl="0"/>
                      <a:r>
                        <a:rPr lang="zh-TW" altLang="en-US" sz="1400" b="1" noProof="0">
                          <a:solidFill>
                            <a:schemeClr val="bg1"/>
                          </a:solidFill>
                          <a:ea typeface="Microsoft YaHei" panose="020B0503020204020204" pitchFamily="34" charset="-122"/>
                        </a:rPr>
                        <a:t>有房貸</a:t>
                      </a:r>
                      <a:endParaRPr lang="fi-FI" sz="1400" b="1" noProof="0">
                        <a:solidFill>
                          <a:schemeClr val="bg1"/>
                        </a:solidFill>
                        <a:ea typeface="Microsoft YaHei" panose="020B0503020204020204" pitchFamily="34" charset="-122"/>
                      </a:endParaRPr>
                    </a:p>
                  </a:txBody>
                  <a:tcPr marL="0" marR="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6350" cap="flat" cmpd="sng" algn="ctr">
                      <a:solidFill>
                        <a:schemeClr val="bg2">
                          <a:lumMod val="75000"/>
                        </a:schemeClr>
                      </a:solidFill>
                      <a:prstDash val="sysDot"/>
                      <a:round/>
                      <a:headEnd type="none" w="med" len="med"/>
                      <a:tailEnd type="none" w="med" len="med"/>
                    </a:lnB>
                    <a:gradFill>
                      <a:gsLst>
                        <a:gs pos="0">
                          <a:schemeClr val="accent6">
                            <a:lumMod val="60000"/>
                            <a:lumOff val="40000"/>
                          </a:schemeClr>
                        </a:gs>
                        <a:gs pos="100000">
                          <a:schemeClr val="accent6"/>
                        </a:gs>
                      </a:gsLst>
                      <a:lin ang="5400000" scaled="1"/>
                    </a:gradFill>
                  </a:tcPr>
                </a:tc>
                <a:tc hMerge="1">
                  <a:txBody>
                    <a:bodyPr/>
                    <a:lstStyle/>
                    <a:p>
                      <a:pPr algn="ctr"/>
                      <a:endParaRPr lang="en-US" sz="800"/>
                    </a:p>
                  </a:txBody>
                  <a:tcPr marL="0" marR="0" marT="0" marB="0" anchor="ctr">
                    <a:lnL w="28575" cap="flat" cmpd="sng" algn="ctr">
                      <a:solidFill>
                        <a:schemeClr val="bg1"/>
                      </a:solidFill>
                      <a:prstDash val="solid"/>
                      <a:round/>
                      <a:headEnd type="none" w="med" len="med"/>
                      <a:tailEnd type="none" w="med" len="med"/>
                    </a:lnL>
                  </a:tcPr>
                </a:tc>
                <a:extLst>
                  <a:ext uri="{0D108BD9-81ED-4DB2-BD59-A6C34878D82A}">
                    <a16:rowId xmlns:a16="http://schemas.microsoft.com/office/drawing/2014/main" val="3508345056"/>
                  </a:ext>
                </a:extLst>
              </a:tr>
              <a:tr h="669205">
                <a:tc vMerge="1">
                  <a:txBody>
                    <a:bodyPr/>
                    <a:lstStyle/>
                    <a:p>
                      <a:endParaRPr lang="en-US"/>
                    </a:p>
                  </a:txBody>
                  <a:tcPr/>
                </a:tc>
                <a:tc vMerge="1">
                  <a:txBody>
                    <a:bodyPr/>
                    <a:lstStyle/>
                    <a:p>
                      <a:pPr algn="ctr"/>
                      <a:endParaRPr lang="en-US" sz="800"/>
                    </a:p>
                  </a:txBody>
                  <a:tcPr marL="0" marR="0" marT="0" marB="0" anchor="ctr"/>
                </a:tc>
                <a:tc vMerge="1">
                  <a:txBody>
                    <a:bodyPr/>
                    <a:lstStyle/>
                    <a:p>
                      <a:pPr algn="ctr"/>
                      <a:endParaRPr lang="en-US" sz="800"/>
                    </a:p>
                  </a:txBody>
                  <a:tcPr marL="0" marR="0" marT="0" marB="0" anchor="ctr"/>
                </a:tc>
                <a:tc>
                  <a:txBody>
                    <a:bodyPr/>
                    <a:lstStyle/>
                    <a:p>
                      <a:pPr algn="ctr"/>
                      <a:r>
                        <a:rPr lang="zh-TW" altLang="en-US" sz="1400" b="1">
                          <a:solidFill>
                            <a:srgbClr val="575757"/>
                          </a:solidFill>
                          <a:ea typeface="Microsoft YaHei" panose="020B0503020204020204" pitchFamily="34" charset="-122"/>
                        </a:rPr>
                        <a:t>無投資</a:t>
                      </a:r>
                      <a:endParaRPr lang="en-US" sz="1400" b="1">
                        <a:solidFill>
                          <a:srgbClr val="575757"/>
                        </a:solidFill>
                        <a:ea typeface="Microsoft YaHei" panose="020B0503020204020204" pitchFamily="34" charset="-122"/>
                      </a:endParaRPr>
                    </a:p>
                  </a:txBody>
                  <a:tcPr marL="0" marR="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6350" cap="flat" cmpd="sng" algn="ctr">
                      <a:solidFill>
                        <a:schemeClr val="bg2">
                          <a:lumMod val="75000"/>
                        </a:schemeClr>
                      </a:solidFill>
                      <a:prstDash val="sysDot"/>
                      <a:round/>
                      <a:headEnd type="none" w="med" len="med"/>
                      <a:tailEnd type="none" w="med" len="med"/>
                    </a:lnT>
                    <a:lnB w="6350" cap="flat" cmpd="sng" algn="ctr">
                      <a:solidFill>
                        <a:schemeClr val="bg2">
                          <a:lumMod val="75000"/>
                        </a:schemeClr>
                      </a:solidFill>
                      <a:prstDash val="sysDot"/>
                      <a:round/>
                      <a:headEnd type="none" w="med" len="med"/>
                      <a:tailEnd type="none" w="med" len="med"/>
                    </a:lnB>
                    <a:solidFill>
                      <a:schemeClr val="tx1">
                        <a:lumMod val="20000"/>
                        <a:lumOff val="80000"/>
                      </a:schemeClr>
                    </a:solidFill>
                  </a:tcPr>
                </a:tc>
                <a:tc>
                  <a:txBody>
                    <a:bodyPr/>
                    <a:lstStyle/>
                    <a:p>
                      <a:pPr algn="ctr"/>
                      <a:r>
                        <a:rPr lang="zh-TW" altLang="en-US" sz="1400" b="1">
                          <a:solidFill>
                            <a:schemeClr val="bg1"/>
                          </a:solidFill>
                          <a:ea typeface="Microsoft YaHei" panose="020B0503020204020204" pitchFamily="34" charset="-122"/>
                        </a:rPr>
                        <a:t>有投資</a:t>
                      </a:r>
                      <a:endParaRPr lang="en-US" altLang="zh-TW" sz="1400" b="1">
                        <a:solidFill>
                          <a:schemeClr val="bg1"/>
                        </a:solidFill>
                        <a:ea typeface="Microsoft YaHei" panose="020B0503020204020204" pitchFamily="34" charset="-122"/>
                      </a:endParaRPr>
                    </a:p>
                  </a:txBody>
                  <a:tcPr marL="0" marR="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6350" cap="flat" cmpd="sng" algn="ctr">
                      <a:solidFill>
                        <a:schemeClr val="bg2">
                          <a:lumMod val="75000"/>
                        </a:schemeClr>
                      </a:solidFill>
                      <a:prstDash val="sysDot"/>
                      <a:round/>
                      <a:headEnd type="none" w="med" len="med"/>
                      <a:tailEnd type="none" w="med" len="med"/>
                    </a:lnT>
                    <a:lnB w="6350" cap="flat" cmpd="sng" algn="ctr">
                      <a:solidFill>
                        <a:schemeClr val="bg2">
                          <a:lumMod val="75000"/>
                        </a:schemeClr>
                      </a:solidFill>
                      <a:prstDash val="sysDot"/>
                      <a:round/>
                      <a:headEnd type="none" w="med" len="med"/>
                      <a:tailEnd type="none" w="med" len="med"/>
                    </a:lnB>
                    <a:gradFill>
                      <a:gsLst>
                        <a:gs pos="0">
                          <a:schemeClr val="accent3">
                            <a:lumMod val="75000"/>
                          </a:schemeClr>
                        </a:gs>
                        <a:gs pos="100000">
                          <a:schemeClr val="accent3">
                            <a:lumMod val="50000"/>
                          </a:schemeClr>
                        </a:gs>
                      </a:gsLst>
                      <a:lin ang="5400000" scaled="1"/>
                    </a:gradFill>
                  </a:tcPr>
                </a:tc>
                <a:tc>
                  <a:txBody>
                    <a:bodyPr/>
                    <a:lstStyle/>
                    <a:p>
                      <a:pPr algn="ctr" rtl="0"/>
                      <a:r>
                        <a:rPr lang="zh-TW" altLang="en-US" sz="1400" b="1" noProof="0">
                          <a:solidFill>
                            <a:srgbClr val="575757"/>
                          </a:solidFill>
                          <a:ea typeface="Microsoft YaHei" panose="020B0503020204020204" pitchFamily="34" charset="-122"/>
                        </a:rPr>
                        <a:t>無投資</a:t>
                      </a:r>
                      <a:endParaRPr lang="fi-FI" sz="1400" b="1" noProof="0">
                        <a:solidFill>
                          <a:srgbClr val="575757"/>
                        </a:solidFill>
                        <a:ea typeface="Microsoft YaHei" panose="020B0503020204020204" pitchFamily="34" charset="-122"/>
                      </a:endParaRPr>
                    </a:p>
                  </a:txBody>
                  <a:tcPr marL="0" marR="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6350" cap="flat" cmpd="sng" algn="ctr">
                      <a:solidFill>
                        <a:schemeClr val="bg2">
                          <a:lumMod val="75000"/>
                        </a:schemeClr>
                      </a:solidFill>
                      <a:prstDash val="sysDot"/>
                      <a:round/>
                      <a:headEnd type="none" w="med" len="med"/>
                      <a:tailEnd type="none" w="med" len="med"/>
                    </a:lnT>
                    <a:lnB w="6350" cap="flat" cmpd="sng" algn="ctr">
                      <a:solidFill>
                        <a:schemeClr val="bg2">
                          <a:lumMod val="75000"/>
                        </a:schemeClr>
                      </a:solidFill>
                      <a:prstDash val="sysDot"/>
                      <a:round/>
                      <a:headEnd type="none" w="med" len="med"/>
                      <a:tailEnd type="none" w="med" len="med"/>
                    </a:lnB>
                    <a:solidFill>
                      <a:schemeClr val="tx1">
                        <a:lumMod val="20000"/>
                        <a:lumOff val="80000"/>
                      </a:schemeClr>
                    </a:solidFill>
                  </a:tcPr>
                </a:tc>
                <a:tc>
                  <a:txBody>
                    <a:bodyPr/>
                    <a:lstStyle/>
                    <a:p>
                      <a:pPr algn="ctr" rtl="0"/>
                      <a:r>
                        <a:rPr lang="zh-TW" altLang="en-US" sz="1400" b="1" noProof="0">
                          <a:solidFill>
                            <a:schemeClr val="bg1"/>
                          </a:solidFill>
                          <a:ea typeface="Microsoft YaHei" panose="020B0503020204020204" pitchFamily="34" charset="-122"/>
                        </a:rPr>
                        <a:t>有投資</a:t>
                      </a:r>
                      <a:endParaRPr lang="fi-FI" sz="1400" b="1" noProof="0">
                        <a:solidFill>
                          <a:schemeClr val="bg1"/>
                        </a:solidFill>
                        <a:ea typeface="Microsoft YaHei" panose="020B0503020204020204" pitchFamily="34" charset="-122"/>
                      </a:endParaRPr>
                    </a:p>
                  </a:txBody>
                  <a:tcPr marL="0" marR="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6350" cap="flat" cmpd="sng" algn="ctr">
                      <a:solidFill>
                        <a:schemeClr val="bg2">
                          <a:lumMod val="75000"/>
                        </a:schemeClr>
                      </a:solidFill>
                      <a:prstDash val="sysDot"/>
                      <a:round/>
                      <a:headEnd type="none" w="med" len="med"/>
                      <a:tailEnd type="none" w="med" len="med"/>
                    </a:lnT>
                    <a:lnB w="6350" cap="flat" cmpd="sng" algn="ctr">
                      <a:solidFill>
                        <a:schemeClr val="bg2">
                          <a:lumMod val="75000"/>
                        </a:schemeClr>
                      </a:solidFill>
                      <a:prstDash val="sysDot"/>
                      <a:round/>
                      <a:headEnd type="none" w="med" len="med"/>
                      <a:tailEnd type="none" w="med" len="med"/>
                    </a:lnB>
                    <a:gradFill>
                      <a:gsLst>
                        <a:gs pos="0">
                          <a:schemeClr val="accent3">
                            <a:lumMod val="75000"/>
                          </a:schemeClr>
                        </a:gs>
                        <a:gs pos="100000">
                          <a:schemeClr val="accent3">
                            <a:lumMod val="50000"/>
                          </a:schemeClr>
                        </a:gs>
                      </a:gsLst>
                      <a:lin ang="5400000" scaled="1"/>
                    </a:gradFill>
                  </a:tcPr>
                </a:tc>
                <a:extLst>
                  <a:ext uri="{0D108BD9-81ED-4DB2-BD59-A6C34878D82A}">
                    <a16:rowId xmlns:a16="http://schemas.microsoft.com/office/drawing/2014/main" val="3511032720"/>
                  </a:ext>
                </a:extLst>
              </a:tr>
              <a:tr h="1266597">
                <a:tc>
                  <a:txBody>
                    <a:bodyPr/>
                    <a:lstStyle/>
                    <a:p>
                      <a:pPr algn="ctr" rtl="0"/>
                      <a:r>
                        <a:rPr lang="zh-TW" altLang="en-US" sz="1400" b="1" noProof="0">
                          <a:solidFill>
                            <a:srgbClr val="FFFFFF"/>
                          </a:solidFill>
                          <a:ea typeface="Microsoft YaHei" panose="020B0503020204020204" pitchFamily="34" charset="-122"/>
                        </a:rPr>
                        <a:t>活躍</a:t>
                      </a:r>
                      <a:endParaRPr lang="en-US" altLang="zh-TW" sz="1400" b="1" noProof="0">
                        <a:solidFill>
                          <a:srgbClr val="FFFFFF"/>
                        </a:solidFill>
                        <a:ea typeface="Microsoft YaHei" panose="020B0503020204020204" pitchFamily="34" charset="-122"/>
                      </a:endParaRPr>
                    </a:p>
                    <a:p>
                      <a:pPr algn="ctr" rtl="0"/>
                      <a:r>
                        <a:rPr lang="zh-TW" altLang="en-US" sz="1400" b="1" noProof="0">
                          <a:solidFill>
                            <a:srgbClr val="FFFFFF"/>
                          </a:solidFill>
                          <a:ea typeface="Microsoft YaHei" panose="020B0503020204020204" pitchFamily="34" charset="-122"/>
                        </a:rPr>
                        <a:t>用戶</a:t>
                      </a:r>
                      <a:endParaRPr lang="fi-FI" sz="1400" b="1" noProof="0">
                        <a:solidFill>
                          <a:srgbClr val="FFFFFF"/>
                        </a:solidFill>
                        <a:ea typeface="Microsoft YaHei" panose="020B0503020204020204" pitchFamily="34" charset="-122"/>
                      </a:endParaRPr>
                    </a:p>
                  </a:txBody>
                  <a:tcPr marL="0" marR="0" marT="0" marB="0" anchor="ctr">
                    <a:lnL w="28575" cap="flat" cmpd="sng" algn="ctr">
                      <a:solidFill>
                        <a:schemeClr val="bg1"/>
                      </a:solidFill>
                      <a:prstDash val="solid"/>
                      <a:round/>
                      <a:headEnd type="none" w="med" len="med"/>
                      <a:tailEnd type="none" w="med" len="med"/>
                    </a:lnL>
                    <a:lnR w="28575" cap="flat" cmpd="sng" algn="ctr">
                      <a:noFill/>
                      <a:prstDash val="solid"/>
                      <a:round/>
                      <a:headEnd type="none" w="med" len="med"/>
                      <a:tailEnd type="none" w="med" len="med"/>
                    </a:lnR>
                    <a:lnT w="6350" cap="flat" cmpd="sng" algn="ctr">
                      <a:solidFill>
                        <a:schemeClr val="bg2">
                          <a:lumMod val="75000"/>
                        </a:schemeClr>
                      </a:solidFill>
                      <a:prstDash val="sysDot"/>
                      <a:round/>
                      <a:headEnd type="none" w="med" len="med"/>
                      <a:tailEnd type="none" w="med" len="med"/>
                    </a:lnT>
                    <a:lnB w="6350" cap="flat" cmpd="sng" algn="ctr">
                      <a:solidFill>
                        <a:schemeClr val="bg2">
                          <a:lumMod val="75000"/>
                        </a:schemeClr>
                      </a:solidFill>
                      <a:prstDash val="sysDot"/>
                      <a:round/>
                      <a:headEnd type="none" w="med" len="med"/>
                      <a:tailEnd type="none" w="med" len="med"/>
                    </a:lnB>
                    <a:solidFill>
                      <a:srgbClr val="29BA74"/>
                    </a:solidFill>
                  </a:tcPr>
                </a:tc>
                <a:tc>
                  <a:txBody>
                    <a:bodyPr/>
                    <a:lstStyle/>
                    <a:p>
                      <a:pPr algn="ctr" rtl="0"/>
                      <a:endParaRPr lang="fi-FI" sz="1400" noProof="0">
                        <a:solidFill>
                          <a:srgbClr val="6E6E6E"/>
                        </a:solidFill>
                        <a:ea typeface="Microsoft YaHei" panose="020B0503020204020204" pitchFamily="34" charset="-122"/>
                      </a:endParaRPr>
                    </a:p>
                  </a:txBody>
                  <a:tcPr marL="0" marR="0" marT="0" marB="0" anchor="ctr">
                    <a:lnL w="28575" cap="flat" cmpd="sng" algn="ctr">
                      <a:noFill/>
                      <a:prstDash val="solid"/>
                      <a:round/>
                      <a:headEnd type="none" w="med" len="med"/>
                      <a:tailEnd type="none" w="med" len="med"/>
                    </a:lnL>
                    <a:lnR w="9525" cap="flat" cmpd="sng" algn="ctr">
                      <a:solidFill>
                        <a:srgbClr val="9A9A9A"/>
                      </a:solidFill>
                      <a:prstDash val="sysDot"/>
                      <a:round/>
                      <a:headEnd type="none" w="med" len="med"/>
                      <a:tailEnd type="none" w="med" len="med"/>
                    </a:lnR>
                    <a:lnT w="6350" cap="flat" cmpd="sng" algn="ctr">
                      <a:solidFill>
                        <a:schemeClr val="bg2">
                          <a:lumMod val="75000"/>
                        </a:schemeClr>
                      </a:solidFill>
                      <a:prstDash val="sysDot"/>
                      <a:round/>
                      <a:headEnd type="none" w="med" len="med"/>
                      <a:tailEnd type="none" w="med" len="med"/>
                    </a:lnT>
                    <a:lnB w="6350" cap="flat" cmpd="sng" algn="ctr">
                      <a:solidFill>
                        <a:schemeClr val="bg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tx2">
                        <a:lumMod val="20000"/>
                        <a:lumOff val="80000"/>
                        <a:alpha val="50000"/>
                      </a:schemeClr>
                    </a:solidFill>
                  </a:tcPr>
                </a:tc>
                <a:tc>
                  <a:txBody>
                    <a:bodyPr/>
                    <a:lstStyle/>
                    <a:p>
                      <a:pPr algn="ctr" rtl="0"/>
                      <a:endParaRPr lang="fi-FI" sz="1400" noProof="0">
                        <a:solidFill>
                          <a:srgbClr val="6E6E6E"/>
                        </a:solidFill>
                        <a:ea typeface="Microsoft YaHei" panose="020B0503020204020204" pitchFamily="34" charset="-122"/>
                      </a:endParaRPr>
                    </a:p>
                  </a:txBody>
                  <a:tcPr marL="0" marR="0" marT="0" marB="0" anchor="ctr">
                    <a:lnL w="9525" cap="flat" cmpd="sng" algn="ctr">
                      <a:solidFill>
                        <a:srgbClr val="9A9A9A"/>
                      </a:solidFill>
                      <a:prstDash val="sysDot"/>
                      <a:round/>
                      <a:headEnd type="none" w="med" len="med"/>
                      <a:tailEnd type="none" w="med" len="med"/>
                    </a:lnL>
                    <a:lnR w="9525" cap="flat" cmpd="sng" algn="ctr">
                      <a:solidFill>
                        <a:srgbClr val="9A9A9A"/>
                      </a:solidFill>
                      <a:prstDash val="sysDot"/>
                      <a:round/>
                      <a:headEnd type="none" w="med" len="med"/>
                      <a:tailEnd type="none" w="med" len="med"/>
                    </a:lnR>
                    <a:lnT w="6350" cap="flat" cmpd="sng" algn="ctr">
                      <a:solidFill>
                        <a:schemeClr val="bg2">
                          <a:lumMod val="75000"/>
                        </a:schemeClr>
                      </a:solidFill>
                      <a:prstDash val="sysDot"/>
                      <a:round/>
                      <a:headEnd type="none" w="med" len="med"/>
                      <a:tailEnd type="none" w="med" len="med"/>
                    </a:lnT>
                    <a:lnB w="6350" cap="flat" cmpd="sng" algn="ctr">
                      <a:solidFill>
                        <a:schemeClr val="bg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tx2">
                        <a:lumMod val="20000"/>
                        <a:lumOff val="80000"/>
                        <a:alpha val="50000"/>
                      </a:schemeClr>
                    </a:solidFill>
                  </a:tcPr>
                </a:tc>
                <a:tc>
                  <a:txBody>
                    <a:bodyPr/>
                    <a:lstStyle/>
                    <a:p>
                      <a:pPr algn="ctr" rtl="0"/>
                      <a:endParaRPr lang="fi-FI" sz="1400" noProof="0">
                        <a:solidFill>
                          <a:srgbClr val="6E6E6E"/>
                        </a:solidFill>
                        <a:ea typeface="Microsoft YaHei" panose="020B0503020204020204" pitchFamily="34" charset="-122"/>
                      </a:endParaRPr>
                    </a:p>
                  </a:txBody>
                  <a:tcPr marL="0" marR="0" marT="0" marB="0" anchor="ctr">
                    <a:lnL w="9525" cap="flat" cmpd="sng" algn="ctr">
                      <a:solidFill>
                        <a:srgbClr val="9A9A9A"/>
                      </a:solidFill>
                      <a:prstDash val="sysDot"/>
                      <a:round/>
                      <a:headEnd type="none" w="med" len="med"/>
                      <a:tailEnd type="none" w="med" len="med"/>
                    </a:lnL>
                    <a:lnR w="9525" cap="flat" cmpd="sng" algn="ctr">
                      <a:solidFill>
                        <a:srgbClr val="9A9A9A"/>
                      </a:solidFill>
                      <a:prstDash val="sysDot"/>
                      <a:round/>
                      <a:headEnd type="none" w="med" len="med"/>
                      <a:tailEnd type="none" w="med" len="med"/>
                    </a:lnR>
                    <a:lnT w="6350" cap="flat" cmpd="sng" algn="ctr">
                      <a:solidFill>
                        <a:schemeClr val="bg2">
                          <a:lumMod val="75000"/>
                        </a:schemeClr>
                      </a:solidFill>
                      <a:prstDash val="sysDot"/>
                      <a:round/>
                      <a:headEnd type="none" w="med" len="med"/>
                      <a:tailEnd type="none" w="med" len="med"/>
                    </a:lnT>
                    <a:lnB w="6350" cap="flat" cmpd="sng" algn="ctr">
                      <a:solidFill>
                        <a:schemeClr val="bg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tx2">
                        <a:lumMod val="20000"/>
                        <a:lumOff val="80000"/>
                        <a:alpha val="50000"/>
                      </a:schemeClr>
                    </a:solidFill>
                  </a:tcPr>
                </a:tc>
                <a:tc>
                  <a:txBody>
                    <a:bodyPr/>
                    <a:lstStyle/>
                    <a:p>
                      <a:pPr algn="ctr" rtl="0"/>
                      <a:endParaRPr lang="fi-FI" sz="1400" noProof="0">
                        <a:solidFill>
                          <a:srgbClr val="6E6E6E"/>
                        </a:solidFill>
                        <a:ea typeface="Microsoft YaHei" panose="020B0503020204020204" pitchFamily="34" charset="-122"/>
                      </a:endParaRPr>
                    </a:p>
                  </a:txBody>
                  <a:tcPr marL="0" marR="0" marT="0" marB="0" anchor="ctr">
                    <a:lnL w="9525" cap="flat" cmpd="sng" algn="ctr">
                      <a:solidFill>
                        <a:srgbClr val="9A9A9A"/>
                      </a:solidFill>
                      <a:prstDash val="sysDot"/>
                      <a:round/>
                      <a:headEnd type="none" w="med" len="med"/>
                      <a:tailEnd type="none" w="med" len="med"/>
                    </a:lnL>
                    <a:lnR w="9525" cap="flat" cmpd="sng" algn="ctr">
                      <a:solidFill>
                        <a:srgbClr val="9A9A9A"/>
                      </a:solidFill>
                      <a:prstDash val="sysDot"/>
                      <a:round/>
                      <a:headEnd type="none" w="med" len="med"/>
                      <a:tailEnd type="none" w="med" len="med"/>
                    </a:lnR>
                    <a:lnT w="6350" cap="flat" cmpd="sng" algn="ctr">
                      <a:solidFill>
                        <a:schemeClr val="bg2">
                          <a:lumMod val="75000"/>
                        </a:schemeClr>
                      </a:solidFill>
                      <a:prstDash val="sysDot"/>
                      <a:round/>
                      <a:headEnd type="none" w="med" len="med"/>
                      <a:tailEnd type="none" w="med" len="med"/>
                    </a:lnT>
                    <a:lnB w="6350" cap="flat" cmpd="sng" algn="ctr">
                      <a:solidFill>
                        <a:schemeClr val="bg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tx2">
                        <a:lumMod val="20000"/>
                        <a:lumOff val="80000"/>
                        <a:alpha val="50000"/>
                      </a:schemeClr>
                    </a:solidFill>
                  </a:tcPr>
                </a:tc>
                <a:tc>
                  <a:txBody>
                    <a:bodyPr/>
                    <a:lstStyle/>
                    <a:p>
                      <a:pPr algn="ctr" rtl="0"/>
                      <a:endParaRPr lang="fi-FI" sz="1400" noProof="0">
                        <a:solidFill>
                          <a:srgbClr val="6E6E6E"/>
                        </a:solidFill>
                        <a:ea typeface="Microsoft YaHei" panose="020B0503020204020204" pitchFamily="34" charset="-122"/>
                      </a:endParaRPr>
                    </a:p>
                  </a:txBody>
                  <a:tcPr marL="0" marR="0" marT="0" marB="0" anchor="ctr">
                    <a:lnL w="9525" cap="flat" cmpd="sng" algn="ctr">
                      <a:solidFill>
                        <a:srgbClr val="9A9A9A"/>
                      </a:solidFill>
                      <a:prstDash val="sysDot"/>
                      <a:round/>
                      <a:headEnd type="none" w="med" len="med"/>
                      <a:tailEnd type="none" w="med" len="med"/>
                    </a:lnL>
                    <a:lnR w="9525" cap="flat" cmpd="sng" algn="ctr">
                      <a:solidFill>
                        <a:srgbClr val="9A9A9A"/>
                      </a:solidFill>
                      <a:prstDash val="sysDot"/>
                      <a:round/>
                      <a:headEnd type="none" w="med" len="med"/>
                      <a:tailEnd type="none" w="med" len="med"/>
                    </a:lnR>
                    <a:lnT w="6350" cap="flat" cmpd="sng" algn="ctr">
                      <a:solidFill>
                        <a:schemeClr val="bg2">
                          <a:lumMod val="75000"/>
                        </a:schemeClr>
                      </a:solidFill>
                      <a:prstDash val="sysDot"/>
                      <a:round/>
                      <a:headEnd type="none" w="med" len="med"/>
                      <a:tailEnd type="none" w="med" len="med"/>
                    </a:lnT>
                    <a:lnB w="6350" cap="flat" cmpd="sng" algn="ctr">
                      <a:solidFill>
                        <a:schemeClr val="bg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tx2">
                        <a:lumMod val="20000"/>
                        <a:lumOff val="80000"/>
                        <a:alpha val="50000"/>
                      </a:schemeClr>
                    </a:solidFill>
                  </a:tcPr>
                </a:tc>
                <a:tc>
                  <a:txBody>
                    <a:bodyPr/>
                    <a:lstStyle/>
                    <a:p>
                      <a:pPr algn="ctr" rtl="0"/>
                      <a:endParaRPr lang="fi-FI" sz="1400" noProof="0">
                        <a:solidFill>
                          <a:srgbClr val="6E6E6E"/>
                        </a:solidFill>
                        <a:ea typeface="Microsoft YaHei" panose="020B0503020204020204" pitchFamily="34" charset="-122"/>
                      </a:endParaRPr>
                    </a:p>
                  </a:txBody>
                  <a:tcPr marL="0" marR="0" marT="0" marB="0" anchor="ctr">
                    <a:lnL w="9525" cap="flat" cmpd="sng" algn="ctr">
                      <a:solidFill>
                        <a:srgbClr val="9A9A9A"/>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bg2">
                          <a:lumMod val="75000"/>
                        </a:schemeClr>
                      </a:solidFill>
                      <a:prstDash val="sysDot"/>
                      <a:round/>
                      <a:headEnd type="none" w="med" len="med"/>
                      <a:tailEnd type="none" w="med" len="med"/>
                    </a:lnT>
                    <a:lnB w="6350" cap="flat" cmpd="sng" algn="ctr">
                      <a:solidFill>
                        <a:schemeClr val="bg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tx2">
                        <a:lumMod val="20000"/>
                        <a:lumOff val="80000"/>
                        <a:alpha val="50000"/>
                      </a:schemeClr>
                    </a:solidFill>
                  </a:tcPr>
                </a:tc>
                <a:extLst>
                  <a:ext uri="{0D108BD9-81ED-4DB2-BD59-A6C34878D82A}">
                    <a16:rowId xmlns:a16="http://schemas.microsoft.com/office/drawing/2014/main" val="1504374302"/>
                  </a:ext>
                </a:extLst>
              </a:tr>
              <a:tr h="1447539">
                <a:tc>
                  <a:txBody>
                    <a:bodyPr/>
                    <a:lstStyle/>
                    <a:p>
                      <a:pPr algn="ctr" rtl="0"/>
                      <a:r>
                        <a:rPr lang="zh-TW" altLang="en-US" sz="1400" b="1" noProof="0">
                          <a:solidFill>
                            <a:srgbClr val="6E6E6E"/>
                          </a:solidFill>
                          <a:ea typeface="Microsoft YaHei" panose="020B0503020204020204" pitchFamily="34" charset="-122"/>
                        </a:rPr>
                        <a:t>非活躍用戶</a:t>
                      </a:r>
                      <a:endParaRPr lang="fi-FI" sz="1400" b="1" noProof="0">
                        <a:solidFill>
                          <a:srgbClr val="6E6E6E"/>
                        </a:solidFill>
                        <a:ea typeface="Microsoft YaHei" panose="020B0503020204020204" pitchFamily="34" charset="-122"/>
                      </a:endParaRPr>
                    </a:p>
                  </a:txBody>
                  <a:tcPr marL="0" marR="0" marT="0" marB="0" anchor="ctr">
                    <a:lnL w="28575" cap="flat" cmpd="sng" algn="ctr">
                      <a:solidFill>
                        <a:schemeClr val="bg1"/>
                      </a:solidFill>
                      <a:prstDash val="solid"/>
                      <a:round/>
                      <a:headEnd type="none" w="med" len="med"/>
                      <a:tailEnd type="none" w="med" len="med"/>
                    </a:lnL>
                    <a:lnR w="28575" cap="flat" cmpd="sng" algn="ctr">
                      <a:noFill/>
                      <a:prstDash val="solid"/>
                      <a:round/>
                      <a:headEnd type="none" w="med" len="med"/>
                      <a:tailEnd type="none" w="med" len="med"/>
                    </a:lnR>
                    <a:lnT w="6350" cap="flat" cmpd="sng" algn="ctr">
                      <a:solidFill>
                        <a:schemeClr val="bg2">
                          <a:lumMod val="75000"/>
                        </a:schemeClr>
                      </a:solidFill>
                      <a:prstDash val="sysDot"/>
                      <a:round/>
                      <a:headEnd type="none" w="med" len="med"/>
                      <a:tailEnd type="none" w="med" len="med"/>
                    </a:lnT>
                    <a:lnB w="28575" cap="flat" cmpd="sng" algn="ctr">
                      <a:solidFill>
                        <a:schemeClr val="bg1"/>
                      </a:solidFill>
                      <a:prstDash val="solid"/>
                      <a:round/>
                      <a:headEnd type="none" w="med" len="med"/>
                      <a:tailEnd type="none" w="med" len="med"/>
                    </a:lnB>
                    <a:solidFill>
                      <a:schemeClr val="bg2">
                        <a:lumMod val="90000"/>
                      </a:schemeClr>
                    </a:solidFill>
                  </a:tcPr>
                </a:tc>
                <a:tc>
                  <a:txBody>
                    <a:bodyPr/>
                    <a:lstStyle/>
                    <a:p>
                      <a:pPr algn="ctr" rtl="0"/>
                      <a:endParaRPr lang="fi-FI" sz="1400" noProof="0">
                        <a:solidFill>
                          <a:srgbClr val="6E6E6E"/>
                        </a:solidFill>
                        <a:ea typeface="Microsoft YaHei" panose="020B0503020204020204" pitchFamily="34" charset="-122"/>
                      </a:endParaRPr>
                    </a:p>
                  </a:txBody>
                  <a:tcPr marL="0" marR="0" marT="0" marB="0" anchor="ctr">
                    <a:lnL w="28575" cap="flat" cmpd="sng" algn="ctr">
                      <a:noFill/>
                      <a:prstDash val="solid"/>
                      <a:round/>
                      <a:headEnd type="none" w="med" len="med"/>
                      <a:tailEnd type="none" w="med" len="med"/>
                    </a:lnL>
                    <a:lnR w="9525" cap="flat" cmpd="sng" algn="ctr">
                      <a:solidFill>
                        <a:srgbClr val="9A9A9A"/>
                      </a:solidFill>
                      <a:prstDash val="sysDot"/>
                      <a:round/>
                      <a:headEnd type="none" w="med" len="med"/>
                      <a:tailEnd type="none" w="med" len="med"/>
                    </a:lnR>
                    <a:lnT w="6350" cap="flat" cmpd="sng" algn="ctr">
                      <a:solidFill>
                        <a:schemeClr val="bg2">
                          <a:lumMod val="75000"/>
                        </a:schemeClr>
                      </a:solid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rtl="0"/>
                      <a:endParaRPr lang="fi-FI" sz="1400" noProof="0">
                        <a:solidFill>
                          <a:srgbClr val="6E6E6E"/>
                        </a:solidFill>
                        <a:ea typeface="Microsoft YaHei" panose="020B0503020204020204" pitchFamily="34" charset="-122"/>
                      </a:endParaRPr>
                    </a:p>
                  </a:txBody>
                  <a:tcPr marL="0" marR="0" marT="0" marB="0" anchor="ctr">
                    <a:lnL w="9525" cap="flat" cmpd="sng" algn="ctr">
                      <a:solidFill>
                        <a:srgbClr val="9A9A9A"/>
                      </a:solidFill>
                      <a:prstDash val="sysDot"/>
                      <a:round/>
                      <a:headEnd type="none" w="med" len="med"/>
                      <a:tailEnd type="none" w="med" len="med"/>
                    </a:lnL>
                    <a:lnR w="9525" cap="flat" cmpd="sng" algn="ctr">
                      <a:solidFill>
                        <a:srgbClr val="9A9A9A"/>
                      </a:solidFill>
                      <a:prstDash val="sysDot"/>
                      <a:round/>
                      <a:headEnd type="none" w="med" len="med"/>
                      <a:tailEnd type="none" w="med" len="med"/>
                    </a:lnR>
                    <a:lnT w="6350" cap="flat" cmpd="sng" algn="ctr">
                      <a:solidFill>
                        <a:schemeClr val="bg2">
                          <a:lumMod val="75000"/>
                        </a:schemeClr>
                      </a:solid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rtl="0"/>
                      <a:endParaRPr lang="fi-FI" sz="1400" noProof="0">
                        <a:solidFill>
                          <a:srgbClr val="6E6E6E"/>
                        </a:solidFill>
                        <a:ea typeface="Microsoft YaHei" panose="020B0503020204020204" pitchFamily="34" charset="-122"/>
                      </a:endParaRPr>
                    </a:p>
                  </a:txBody>
                  <a:tcPr marL="0" marR="0" marT="0" marB="0" anchor="ctr">
                    <a:lnL w="9525" cap="flat" cmpd="sng" algn="ctr">
                      <a:solidFill>
                        <a:srgbClr val="9A9A9A"/>
                      </a:solidFill>
                      <a:prstDash val="sysDot"/>
                      <a:round/>
                      <a:headEnd type="none" w="med" len="med"/>
                      <a:tailEnd type="none" w="med" len="med"/>
                    </a:lnL>
                    <a:lnR w="9525" cap="flat" cmpd="sng" algn="ctr">
                      <a:solidFill>
                        <a:srgbClr val="9A9A9A"/>
                      </a:solidFill>
                      <a:prstDash val="sysDot"/>
                      <a:round/>
                      <a:headEnd type="none" w="med" len="med"/>
                      <a:tailEnd type="none" w="med" len="med"/>
                    </a:lnR>
                    <a:lnT w="6350" cap="flat" cmpd="sng" algn="ctr">
                      <a:solidFill>
                        <a:schemeClr val="bg2">
                          <a:lumMod val="75000"/>
                        </a:schemeClr>
                      </a:solid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rtl="0"/>
                      <a:endParaRPr lang="fi-FI" sz="1400" noProof="0">
                        <a:solidFill>
                          <a:srgbClr val="6E6E6E"/>
                        </a:solidFill>
                        <a:ea typeface="Microsoft YaHei" panose="020B0503020204020204" pitchFamily="34" charset="-122"/>
                      </a:endParaRPr>
                    </a:p>
                  </a:txBody>
                  <a:tcPr marL="0" marR="0" marT="0" marB="0" anchor="ctr">
                    <a:lnL w="9525" cap="flat" cmpd="sng" algn="ctr">
                      <a:solidFill>
                        <a:srgbClr val="9A9A9A"/>
                      </a:solidFill>
                      <a:prstDash val="sysDot"/>
                      <a:round/>
                      <a:headEnd type="none" w="med" len="med"/>
                      <a:tailEnd type="none" w="med" len="med"/>
                    </a:lnL>
                    <a:lnR w="9525" cap="flat" cmpd="sng" algn="ctr">
                      <a:solidFill>
                        <a:srgbClr val="9A9A9A"/>
                      </a:solidFill>
                      <a:prstDash val="sysDot"/>
                      <a:round/>
                      <a:headEnd type="none" w="med" len="med"/>
                      <a:tailEnd type="none" w="med" len="med"/>
                    </a:lnR>
                    <a:lnT w="6350" cap="flat" cmpd="sng" algn="ctr">
                      <a:solidFill>
                        <a:schemeClr val="bg2">
                          <a:lumMod val="75000"/>
                        </a:schemeClr>
                      </a:solid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rtl="0"/>
                      <a:endParaRPr lang="fi-FI" sz="1400" noProof="0">
                        <a:solidFill>
                          <a:srgbClr val="6E6E6E"/>
                        </a:solidFill>
                        <a:ea typeface="Microsoft YaHei" panose="020B0503020204020204" pitchFamily="34" charset="-122"/>
                      </a:endParaRPr>
                    </a:p>
                  </a:txBody>
                  <a:tcPr marL="0" marR="0" marT="0" marB="0" anchor="ctr">
                    <a:lnL w="9525" cap="flat" cmpd="sng" algn="ctr">
                      <a:solidFill>
                        <a:srgbClr val="9A9A9A"/>
                      </a:solidFill>
                      <a:prstDash val="sysDot"/>
                      <a:round/>
                      <a:headEnd type="none" w="med" len="med"/>
                      <a:tailEnd type="none" w="med" len="med"/>
                    </a:lnL>
                    <a:lnR w="9525" cap="flat" cmpd="sng" algn="ctr">
                      <a:solidFill>
                        <a:srgbClr val="9A9A9A"/>
                      </a:solidFill>
                      <a:prstDash val="sysDot"/>
                      <a:round/>
                      <a:headEnd type="none" w="med" len="med"/>
                      <a:tailEnd type="none" w="med" len="med"/>
                    </a:lnR>
                    <a:lnT w="6350" cap="flat" cmpd="sng" algn="ctr">
                      <a:solidFill>
                        <a:schemeClr val="bg2">
                          <a:lumMod val="75000"/>
                        </a:schemeClr>
                      </a:solid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rtl="0"/>
                      <a:endParaRPr lang="fi-FI" sz="1400" noProof="0">
                        <a:solidFill>
                          <a:srgbClr val="6E6E6E"/>
                        </a:solidFill>
                        <a:ea typeface="Microsoft YaHei" panose="020B0503020204020204" pitchFamily="34" charset="-122"/>
                      </a:endParaRPr>
                    </a:p>
                  </a:txBody>
                  <a:tcPr marL="0" marR="0" marT="0" marB="0" anchor="ctr">
                    <a:lnL w="9525" cap="flat" cmpd="sng" algn="ctr">
                      <a:solidFill>
                        <a:srgbClr val="9A9A9A"/>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bg2">
                          <a:lumMod val="75000"/>
                        </a:schemeClr>
                      </a:solid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06448459"/>
                  </a:ext>
                </a:extLst>
              </a:tr>
            </a:tbl>
          </a:graphicData>
        </a:graphic>
      </p:graphicFrame>
      <p:grpSp>
        <p:nvGrpSpPr>
          <p:cNvPr id="77" name="Group 76">
            <a:extLst>
              <a:ext uri="{FF2B5EF4-FFF2-40B4-BE49-F238E27FC236}">
                <a16:creationId xmlns:a16="http://schemas.microsoft.com/office/drawing/2014/main" id="{B17E0EFD-9823-7F92-8047-27955FF4D515}"/>
              </a:ext>
            </a:extLst>
          </p:cNvPr>
          <p:cNvGrpSpPr/>
          <p:nvPr/>
        </p:nvGrpSpPr>
        <p:grpSpPr>
          <a:xfrm>
            <a:off x="4076481" y="3508451"/>
            <a:ext cx="4762668" cy="2651054"/>
            <a:chOff x="3946992" y="3324603"/>
            <a:chExt cx="4762668" cy="2651054"/>
          </a:xfrm>
        </p:grpSpPr>
        <p:cxnSp>
          <p:nvCxnSpPr>
            <p:cNvPr id="22" name="Straight Arrow Connector 21">
              <a:extLst>
                <a:ext uri="{FF2B5EF4-FFF2-40B4-BE49-F238E27FC236}">
                  <a16:creationId xmlns:a16="http://schemas.microsoft.com/office/drawing/2014/main" id="{40F76A1C-94CF-AA6C-003C-134F2B0DFF24}"/>
                </a:ext>
              </a:extLst>
            </p:cNvPr>
            <p:cNvCxnSpPr/>
            <p:nvPr/>
          </p:nvCxnSpPr>
          <p:spPr>
            <a:xfrm>
              <a:off x="5468601" y="3861041"/>
              <a:ext cx="1239903" cy="0"/>
            </a:xfrm>
            <a:prstGeom prst="straightConnector1">
              <a:avLst/>
            </a:prstGeom>
            <a:ln w="28575" cap="flat" cmpd="sng" algn="ctr">
              <a:solidFill>
                <a:srgbClr val="9A9A9A"/>
              </a:solidFill>
              <a:prstDash val="solid"/>
              <a:miter lim="800000"/>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3" name="Straight Arrow Connector 22">
              <a:extLst>
                <a:ext uri="{FF2B5EF4-FFF2-40B4-BE49-F238E27FC236}">
                  <a16:creationId xmlns:a16="http://schemas.microsoft.com/office/drawing/2014/main" id="{76E47E05-7AE8-2CC0-6DFF-2E13FCBA2C55}"/>
                </a:ext>
              </a:extLst>
            </p:cNvPr>
            <p:cNvCxnSpPr/>
            <p:nvPr/>
          </p:nvCxnSpPr>
          <p:spPr>
            <a:xfrm>
              <a:off x="6840759" y="4084002"/>
              <a:ext cx="1735307" cy="0"/>
            </a:xfrm>
            <a:prstGeom prst="straightConnector1">
              <a:avLst/>
            </a:prstGeom>
            <a:ln w="28575" cap="flat" cmpd="sng" algn="ctr">
              <a:solidFill>
                <a:srgbClr val="9A9A9A"/>
              </a:solidFill>
              <a:prstDash val="solid"/>
              <a:miter lim="800000"/>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4" name="Arc 23">
              <a:extLst>
                <a:ext uri="{FF2B5EF4-FFF2-40B4-BE49-F238E27FC236}">
                  <a16:creationId xmlns:a16="http://schemas.microsoft.com/office/drawing/2014/main" id="{1915086C-9047-4993-4F21-CE251ECB56F0}"/>
                </a:ext>
              </a:extLst>
            </p:cNvPr>
            <p:cNvSpPr/>
            <p:nvPr/>
          </p:nvSpPr>
          <p:spPr>
            <a:xfrm>
              <a:off x="6388271" y="3338970"/>
              <a:ext cx="392132" cy="427348"/>
            </a:xfrm>
            <a:prstGeom prst="arc">
              <a:avLst>
                <a:gd name="adj1" fmla="val 1737061"/>
                <a:gd name="adj2" fmla="val 0"/>
              </a:avLst>
            </a:prstGeom>
            <a:ln w="28575" cap="flat" cmpd="sng" algn="ctr">
              <a:solidFill>
                <a:srgbClr val="A8A8A8"/>
              </a:solidFill>
              <a:prstDash val="solid"/>
              <a:miter lim="800000"/>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defTabSz="609585">
                <a:defRPr/>
              </a:pPr>
              <a:endParaRPr lang="en-US" sz="1000">
                <a:solidFill>
                  <a:srgbClr val="6E6E6E"/>
                </a:solidFill>
                <a:ea typeface="Microsoft YaHei" panose="020B0503020204020204" pitchFamily="34" charset="-122"/>
              </a:endParaRPr>
            </a:p>
          </p:txBody>
        </p:sp>
        <p:sp>
          <p:nvSpPr>
            <p:cNvPr id="25" name="Freeform: Shape 24">
              <a:extLst>
                <a:ext uri="{FF2B5EF4-FFF2-40B4-BE49-F238E27FC236}">
                  <a16:creationId xmlns:a16="http://schemas.microsoft.com/office/drawing/2014/main" id="{73137D0C-D621-09DA-EC0B-B2B4C02A2C38}"/>
                </a:ext>
              </a:extLst>
            </p:cNvPr>
            <p:cNvSpPr/>
            <p:nvPr/>
          </p:nvSpPr>
          <p:spPr>
            <a:xfrm>
              <a:off x="7731163" y="4232990"/>
              <a:ext cx="321258" cy="920502"/>
            </a:xfrm>
            <a:custGeom>
              <a:avLst/>
              <a:gdLst>
                <a:gd name="connsiteX0" fmla="*/ 0 w 271220"/>
                <a:gd name="connsiteY0" fmla="*/ 46495 h 937746"/>
                <a:gd name="connsiteX1" fmla="*/ 170481 w 271220"/>
                <a:gd name="connsiteY1" fmla="*/ 937648 h 937746"/>
                <a:gd name="connsiteX2" fmla="*/ 271220 w 271220"/>
                <a:gd name="connsiteY2" fmla="*/ 0 h 937746"/>
              </a:gdLst>
              <a:ahLst/>
              <a:cxnLst>
                <a:cxn ang="0">
                  <a:pos x="connsiteX0" y="connsiteY0"/>
                </a:cxn>
                <a:cxn ang="0">
                  <a:pos x="connsiteX1" y="connsiteY1"/>
                </a:cxn>
                <a:cxn ang="0">
                  <a:pos x="connsiteX2" y="connsiteY2"/>
                </a:cxn>
              </a:cxnLst>
              <a:rect l="l" t="t" r="r" b="b"/>
              <a:pathLst>
                <a:path w="271220" h="937745">
                  <a:moveTo>
                    <a:pt x="0" y="46495"/>
                  </a:moveTo>
                  <a:cubicBezTo>
                    <a:pt x="62639" y="495946"/>
                    <a:pt x="125278" y="945397"/>
                    <a:pt x="170481" y="937648"/>
                  </a:cubicBezTo>
                  <a:cubicBezTo>
                    <a:pt x="215684" y="929899"/>
                    <a:pt x="231183" y="276387"/>
                    <a:pt x="271220" y="0"/>
                  </a:cubicBezTo>
                </a:path>
              </a:pathLst>
            </a:custGeom>
            <a:noFill/>
            <a:ln w="28575" cap="rnd" cmpd="sng" algn="ctr">
              <a:solidFill>
                <a:srgbClr val="A8A8A8"/>
              </a:solidFill>
              <a:prstDash val="solid"/>
              <a:roun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09585">
                <a:defRPr/>
              </a:pPr>
              <a:endParaRPr lang="en-US" sz="1000">
                <a:solidFill>
                  <a:srgbClr val="FFFFFF"/>
                </a:solidFill>
                <a:ea typeface="Microsoft YaHei" panose="020B0503020204020204" pitchFamily="34" charset="-122"/>
              </a:endParaRPr>
            </a:p>
          </p:txBody>
        </p:sp>
        <p:cxnSp>
          <p:nvCxnSpPr>
            <p:cNvPr id="26" name="Straight Arrow Connector 25">
              <a:extLst>
                <a:ext uri="{FF2B5EF4-FFF2-40B4-BE49-F238E27FC236}">
                  <a16:creationId xmlns:a16="http://schemas.microsoft.com/office/drawing/2014/main" id="{CC4C3572-F045-B01E-B65A-E590AA962969}"/>
                </a:ext>
              </a:extLst>
            </p:cNvPr>
            <p:cNvCxnSpPr/>
            <p:nvPr/>
          </p:nvCxnSpPr>
          <p:spPr>
            <a:xfrm flipH="1" flipV="1">
              <a:off x="6549850" y="4068077"/>
              <a:ext cx="0" cy="1226578"/>
            </a:xfrm>
            <a:prstGeom prst="straightConnector1">
              <a:avLst/>
            </a:prstGeom>
            <a:ln w="28575" cap="flat" cmpd="sng" algn="ctr">
              <a:solidFill>
                <a:srgbClr val="9A9A9A"/>
              </a:solidFill>
              <a:prstDash val="solid"/>
              <a:miter lim="800000"/>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7" name="Oval 20">
              <a:extLst>
                <a:ext uri="{FF2B5EF4-FFF2-40B4-BE49-F238E27FC236}">
                  <a16:creationId xmlns:a16="http://schemas.microsoft.com/office/drawing/2014/main" id="{4D1ADC65-94CC-5F1E-6732-BCFB49ADAE63}"/>
                </a:ext>
              </a:extLst>
            </p:cNvPr>
            <p:cNvSpPr>
              <a:spLocks noChangeArrowheads="1"/>
            </p:cNvSpPr>
            <p:nvPr/>
          </p:nvSpPr>
          <p:spPr bwMode="auto">
            <a:xfrm>
              <a:off x="5598893" y="3741063"/>
              <a:ext cx="219456" cy="219456"/>
            </a:xfrm>
            <a:prstGeom prst="ellipse">
              <a:avLst/>
            </a:prstGeom>
            <a:solidFill>
              <a:srgbClr val="FFFFFF"/>
            </a:solidFill>
            <a:ln w="9525" cap="flat" cmpd="sng" algn="ctr">
              <a:solidFill>
                <a:srgbClr val="9A9A9A"/>
              </a:solidFill>
              <a:prstDash val="solid"/>
              <a:round/>
              <a:headEnd type="none" w="med" len="med"/>
              <a:tailEnd type="none" w="med" len="med"/>
            </a:ln>
            <a:effectLst>
              <a:outerShdw blurRad="76200" dir="18900000" sy="23000" kx="-1200000" algn="bl" rotWithShape="0">
                <a:prstClr val="black">
                  <a:alpha val="20000"/>
                </a:prstClr>
              </a:outerShdw>
            </a:effectLst>
          </p:spPr>
          <p:txBody>
            <a:bodyPr vert="horz" wrap="square" lIns="0" tIns="0" rIns="0" bIns="0" numCol="1" anchor="ctr" anchorCtr="0" compatLnSpc="1">
              <a:prstTxWarp prst="textNoShape">
                <a:avLst/>
              </a:prstTxWarp>
            </a:bodyPr>
            <a:lstStyle/>
            <a:p>
              <a:pPr algn="ctr" defTabSz="609585">
                <a:defRPr/>
              </a:pPr>
              <a:r>
                <a:rPr lang="en-US" sz="1000">
                  <a:solidFill>
                    <a:srgbClr val="575757"/>
                  </a:solidFill>
                  <a:ea typeface="Microsoft YaHei" panose="020B0503020204020204" pitchFamily="34" charset="-122"/>
                </a:rPr>
                <a:t>8</a:t>
              </a:r>
            </a:p>
          </p:txBody>
        </p:sp>
        <p:sp>
          <p:nvSpPr>
            <p:cNvPr id="28" name="Oval 20">
              <a:extLst>
                <a:ext uri="{FF2B5EF4-FFF2-40B4-BE49-F238E27FC236}">
                  <a16:creationId xmlns:a16="http://schemas.microsoft.com/office/drawing/2014/main" id="{A8CDF141-1D78-64DF-F54F-EEB224147BA5}"/>
                </a:ext>
              </a:extLst>
            </p:cNvPr>
            <p:cNvSpPr>
              <a:spLocks noChangeArrowheads="1"/>
            </p:cNvSpPr>
            <p:nvPr/>
          </p:nvSpPr>
          <p:spPr bwMode="auto">
            <a:xfrm>
              <a:off x="7067319" y="3964191"/>
              <a:ext cx="219456" cy="219456"/>
            </a:xfrm>
            <a:prstGeom prst="ellipse">
              <a:avLst/>
            </a:prstGeom>
            <a:solidFill>
              <a:srgbClr val="FFFFFF"/>
            </a:solidFill>
            <a:ln w="9525" cap="flat" cmpd="sng" algn="ctr">
              <a:solidFill>
                <a:srgbClr val="9A9A9A"/>
              </a:solidFill>
              <a:prstDash val="solid"/>
              <a:round/>
              <a:headEnd type="none" w="med" len="med"/>
              <a:tailEnd type="none" w="med" len="med"/>
            </a:ln>
            <a:effectLst>
              <a:outerShdw blurRad="76200" dir="18900000" sy="23000" kx="-1200000" algn="bl" rotWithShape="0">
                <a:prstClr val="black">
                  <a:alpha val="20000"/>
                </a:prstClr>
              </a:outerShdw>
            </a:effectLst>
          </p:spPr>
          <p:txBody>
            <a:bodyPr vert="horz" wrap="square" lIns="0" tIns="0" rIns="0" bIns="0" numCol="1" anchor="ctr" anchorCtr="0" compatLnSpc="1">
              <a:prstTxWarp prst="textNoShape">
                <a:avLst/>
              </a:prstTxWarp>
            </a:bodyPr>
            <a:lstStyle/>
            <a:p>
              <a:pPr algn="ctr" defTabSz="609585">
                <a:defRPr/>
              </a:pPr>
              <a:r>
                <a:rPr lang="en-US" sz="1000">
                  <a:solidFill>
                    <a:srgbClr val="575757"/>
                  </a:solidFill>
                  <a:ea typeface="Microsoft YaHei" panose="020B0503020204020204" pitchFamily="34" charset="-122"/>
                </a:rPr>
                <a:t>3</a:t>
              </a:r>
            </a:p>
          </p:txBody>
        </p:sp>
        <p:sp>
          <p:nvSpPr>
            <p:cNvPr id="29" name="Oval 20">
              <a:extLst>
                <a:ext uri="{FF2B5EF4-FFF2-40B4-BE49-F238E27FC236}">
                  <a16:creationId xmlns:a16="http://schemas.microsoft.com/office/drawing/2014/main" id="{7A33FAD2-F2DA-87F5-C056-B5B23CDB95EF}"/>
                </a:ext>
              </a:extLst>
            </p:cNvPr>
            <p:cNvSpPr>
              <a:spLocks noChangeArrowheads="1"/>
            </p:cNvSpPr>
            <p:nvPr/>
          </p:nvSpPr>
          <p:spPr bwMode="auto">
            <a:xfrm>
              <a:off x="6356339" y="3324603"/>
              <a:ext cx="219456" cy="219456"/>
            </a:xfrm>
            <a:prstGeom prst="ellipse">
              <a:avLst/>
            </a:prstGeom>
            <a:solidFill>
              <a:srgbClr val="FFFFFF"/>
            </a:solidFill>
            <a:ln w="9525" cap="flat" cmpd="sng" algn="ctr">
              <a:solidFill>
                <a:srgbClr val="9A9A9A"/>
              </a:solidFill>
              <a:prstDash val="solid"/>
              <a:round/>
              <a:headEnd type="none" w="med" len="med"/>
              <a:tailEnd type="none" w="med" len="med"/>
            </a:ln>
            <a:effectLst>
              <a:outerShdw blurRad="76200" dir="18900000" sy="23000" kx="-1200000" algn="bl" rotWithShape="0">
                <a:prstClr val="black">
                  <a:alpha val="20000"/>
                </a:prstClr>
              </a:outerShdw>
            </a:effectLst>
          </p:spPr>
          <p:txBody>
            <a:bodyPr vert="horz" wrap="square" lIns="0" tIns="0" rIns="0" bIns="0" numCol="1" anchor="ctr" anchorCtr="0" compatLnSpc="1">
              <a:prstTxWarp prst="textNoShape">
                <a:avLst/>
              </a:prstTxWarp>
            </a:bodyPr>
            <a:lstStyle/>
            <a:p>
              <a:pPr algn="ctr" defTabSz="609585">
                <a:defRPr/>
              </a:pPr>
              <a:r>
                <a:rPr lang="en-US" sz="1000">
                  <a:solidFill>
                    <a:srgbClr val="575757"/>
                  </a:solidFill>
                  <a:ea typeface="Microsoft YaHei" panose="020B0503020204020204" pitchFamily="34" charset="-122"/>
                </a:rPr>
                <a:t>4</a:t>
              </a:r>
            </a:p>
          </p:txBody>
        </p:sp>
        <p:sp>
          <p:nvSpPr>
            <p:cNvPr id="30" name="Oval 20">
              <a:extLst>
                <a:ext uri="{FF2B5EF4-FFF2-40B4-BE49-F238E27FC236}">
                  <a16:creationId xmlns:a16="http://schemas.microsoft.com/office/drawing/2014/main" id="{B8A05D39-D8A5-16F5-7337-02EF4954DFF9}"/>
                </a:ext>
              </a:extLst>
            </p:cNvPr>
            <p:cNvSpPr>
              <a:spLocks noChangeArrowheads="1"/>
            </p:cNvSpPr>
            <p:nvPr/>
          </p:nvSpPr>
          <p:spPr bwMode="auto">
            <a:xfrm>
              <a:off x="7925978" y="4735863"/>
              <a:ext cx="219456" cy="219456"/>
            </a:xfrm>
            <a:prstGeom prst="ellipse">
              <a:avLst/>
            </a:prstGeom>
            <a:solidFill>
              <a:srgbClr val="FFFFFF"/>
            </a:solidFill>
            <a:ln w="9525" cap="flat" cmpd="sng" algn="ctr">
              <a:solidFill>
                <a:srgbClr val="9A9A9A"/>
              </a:solidFill>
              <a:prstDash val="solid"/>
              <a:round/>
              <a:headEnd type="none" w="med" len="med"/>
              <a:tailEnd type="none" w="med" len="med"/>
            </a:ln>
            <a:effectLst>
              <a:outerShdw blurRad="76200" dir="18900000" sy="23000" kx="-1200000" algn="bl" rotWithShape="0">
                <a:prstClr val="black">
                  <a:alpha val="20000"/>
                </a:prstClr>
              </a:outerShdw>
            </a:effectLst>
          </p:spPr>
          <p:txBody>
            <a:bodyPr vert="horz" wrap="square" lIns="0" tIns="0" rIns="0" bIns="0" numCol="1" anchor="ctr" anchorCtr="0" compatLnSpc="1">
              <a:prstTxWarp prst="textNoShape">
                <a:avLst/>
              </a:prstTxWarp>
            </a:bodyPr>
            <a:lstStyle/>
            <a:p>
              <a:pPr algn="ctr" defTabSz="609585">
                <a:defRPr/>
              </a:pPr>
              <a:r>
                <a:rPr lang="en-US" sz="1000">
                  <a:solidFill>
                    <a:srgbClr val="575757"/>
                  </a:solidFill>
                  <a:ea typeface="Microsoft YaHei" panose="020B0503020204020204" pitchFamily="34" charset="-122"/>
                </a:rPr>
                <a:t>5</a:t>
              </a:r>
            </a:p>
          </p:txBody>
        </p:sp>
        <p:sp>
          <p:nvSpPr>
            <p:cNvPr id="31" name="Freeform: Shape 30">
              <a:extLst>
                <a:ext uri="{FF2B5EF4-FFF2-40B4-BE49-F238E27FC236}">
                  <a16:creationId xmlns:a16="http://schemas.microsoft.com/office/drawing/2014/main" id="{8BF3C5E1-FCC0-1F48-7F2D-917904B9EA9D}"/>
                </a:ext>
              </a:extLst>
            </p:cNvPr>
            <p:cNvSpPr/>
            <p:nvPr/>
          </p:nvSpPr>
          <p:spPr>
            <a:xfrm>
              <a:off x="3976493" y="4172658"/>
              <a:ext cx="3478257" cy="1230527"/>
            </a:xfrm>
            <a:custGeom>
              <a:avLst/>
              <a:gdLst>
                <a:gd name="connsiteX0" fmla="*/ 0 w 4541004"/>
                <a:gd name="connsiteY0" fmla="*/ 1069383 h 1314600"/>
                <a:gd name="connsiteX1" fmla="*/ 2820692 w 4541004"/>
                <a:gd name="connsiteY1" fmla="*/ 1239864 h 1314600"/>
                <a:gd name="connsiteX2" fmla="*/ 4541004 w 4541004"/>
                <a:gd name="connsiteY2" fmla="*/ 0 h 1314600"/>
              </a:gdLst>
              <a:ahLst/>
              <a:cxnLst>
                <a:cxn ang="0">
                  <a:pos x="connsiteX0" y="connsiteY0"/>
                </a:cxn>
                <a:cxn ang="0">
                  <a:pos x="connsiteX1" y="connsiteY1"/>
                </a:cxn>
                <a:cxn ang="0">
                  <a:pos x="connsiteX2" y="connsiteY2"/>
                </a:cxn>
              </a:cxnLst>
              <a:rect l="l" t="t" r="r" b="b"/>
              <a:pathLst>
                <a:path w="4541004" h="1314600">
                  <a:moveTo>
                    <a:pt x="0" y="1069383"/>
                  </a:moveTo>
                  <a:cubicBezTo>
                    <a:pt x="1031929" y="1243739"/>
                    <a:pt x="2063858" y="1418095"/>
                    <a:pt x="2820692" y="1239864"/>
                  </a:cubicBezTo>
                  <a:cubicBezTo>
                    <a:pt x="3577526" y="1061633"/>
                    <a:pt x="4245245" y="204061"/>
                    <a:pt x="4541004" y="0"/>
                  </a:cubicBezTo>
                </a:path>
              </a:pathLst>
            </a:custGeom>
            <a:noFill/>
            <a:ln w="28575" cap="rnd" cmpd="sng" algn="ctr">
              <a:solidFill>
                <a:srgbClr val="29BA74"/>
              </a:solidFill>
              <a:prstDash val="solid"/>
              <a:roun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09585">
                <a:defRPr/>
              </a:pPr>
              <a:endParaRPr lang="en-US" sz="1000">
                <a:solidFill>
                  <a:srgbClr val="FFFFFF"/>
                </a:solidFill>
                <a:ea typeface="Microsoft YaHei" panose="020B0503020204020204" pitchFamily="34" charset="-122"/>
              </a:endParaRPr>
            </a:p>
          </p:txBody>
        </p:sp>
        <p:sp>
          <p:nvSpPr>
            <p:cNvPr id="32" name="Oval 20">
              <a:extLst>
                <a:ext uri="{FF2B5EF4-FFF2-40B4-BE49-F238E27FC236}">
                  <a16:creationId xmlns:a16="http://schemas.microsoft.com/office/drawing/2014/main" id="{AB45C9AF-1E75-9663-5C4D-BDA663F6F3F7}"/>
                </a:ext>
              </a:extLst>
            </p:cNvPr>
            <p:cNvSpPr>
              <a:spLocks noChangeArrowheads="1"/>
            </p:cNvSpPr>
            <p:nvPr/>
          </p:nvSpPr>
          <p:spPr bwMode="auto">
            <a:xfrm>
              <a:off x="4101320" y="5113214"/>
              <a:ext cx="219456" cy="219456"/>
            </a:xfrm>
            <a:prstGeom prst="ellipse">
              <a:avLst/>
            </a:prstGeom>
            <a:solidFill>
              <a:schemeClr val="tx2"/>
            </a:solidFill>
            <a:ln w="9525" cap="flat" cmpd="sng" algn="ctr">
              <a:solidFill>
                <a:schemeClr val="bg1"/>
              </a:solidFill>
              <a:prstDash val="solid"/>
              <a:round/>
              <a:headEnd type="none" w="med" len="med"/>
              <a:tailEnd type="none" w="med" len="med"/>
            </a:ln>
            <a:effectLst>
              <a:outerShdw blurRad="76200" dir="18900000" sy="23000" kx="-1200000" algn="bl" rotWithShape="0">
                <a:prstClr val="black">
                  <a:alpha val="20000"/>
                </a:prstClr>
              </a:outerShdw>
            </a:effectLst>
          </p:spPr>
          <p:txBody>
            <a:bodyPr vert="horz" wrap="square" lIns="0" tIns="0" rIns="0" bIns="0" numCol="1" anchor="ctr" anchorCtr="0" compatLnSpc="1">
              <a:prstTxWarp prst="textNoShape">
                <a:avLst/>
              </a:prstTxWarp>
            </a:bodyPr>
            <a:lstStyle/>
            <a:p>
              <a:pPr algn="ctr" defTabSz="609585">
                <a:defRPr/>
              </a:pPr>
              <a:r>
                <a:rPr lang="en-US" sz="1000">
                  <a:solidFill>
                    <a:schemeClr val="bg1"/>
                  </a:solidFill>
                  <a:ea typeface="Microsoft YaHei" panose="020B0503020204020204" pitchFamily="34" charset="-122"/>
                </a:rPr>
                <a:t>9</a:t>
              </a:r>
            </a:p>
          </p:txBody>
        </p:sp>
        <p:sp>
          <p:nvSpPr>
            <p:cNvPr id="33" name="Freeform: Shape 32">
              <a:extLst>
                <a:ext uri="{FF2B5EF4-FFF2-40B4-BE49-F238E27FC236}">
                  <a16:creationId xmlns:a16="http://schemas.microsoft.com/office/drawing/2014/main" id="{DEFF3BAA-17EE-0A7C-9F84-D1247F0DFA43}"/>
                </a:ext>
              </a:extLst>
            </p:cNvPr>
            <p:cNvSpPr/>
            <p:nvPr/>
          </p:nvSpPr>
          <p:spPr>
            <a:xfrm>
              <a:off x="7068658" y="3406847"/>
              <a:ext cx="1641002" cy="286201"/>
            </a:xfrm>
            <a:custGeom>
              <a:avLst/>
              <a:gdLst>
                <a:gd name="connsiteX0" fmla="*/ 982980 w 2034546"/>
                <a:gd name="connsiteY0" fmla="*/ 339905 h 360891"/>
                <a:gd name="connsiteX1" fmla="*/ 2034540 w 2034546"/>
                <a:gd name="connsiteY1" fmla="*/ 324665 h 360891"/>
                <a:gd name="connsiteX2" fmla="*/ 998220 w 2034546"/>
                <a:gd name="connsiteY2" fmla="*/ 4625 h 360891"/>
                <a:gd name="connsiteX3" fmla="*/ 0 w 2034546"/>
                <a:gd name="connsiteY3" fmla="*/ 164645 h 360891"/>
              </a:gdLst>
              <a:ahLst/>
              <a:cxnLst>
                <a:cxn ang="0">
                  <a:pos x="connsiteX0" y="connsiteY0"/>
                </a:cxn>
                <a:cxn ang="0">
                  <a:pos x="connsiteX1" y="connsiteY1"/>
                </a:cxn>
                <a:cxn ang="0">
                  <a:pos x="connsiteX2" y="connsiteY2"/>
                </a:cxn>
                <a:cxn ang="0">
                  <a:pos x="connsiteX3" y="connsiteY3"/>
                </a:cxn>
              </a:cxnLst>
              <a:rect l="l" t="t" r="r" b="b"/>
              <a:pathLst>
                <a:path w="2034546" h="360891">
                  <a:moveTo>
                    <a:pt x="982980" y="339905"/>
                  </a:moveTo>
                  <a:cubicBezTo>
                    <a:pt x="1507490" y="360225"/>
                    <a:pt x="2032000" y="380545"/>
                    <a:pt x="2034540" y="324665"/>
                  </a:cubicBezTo>
                  <a:cubicBezTo>
                    <a:pt x="2037080" y="268785"/>
                    <a:pt x="1337310" y="31295"/>
                    <a:pt x="998220" y="4625"/>
                  </a:cubicBezTo>
                  <a:cubicBezTo>
                    <a:pt x="659130" y="-22045"/>
                    <a:pt x="329565" y="71300"/>
                    <a:pt x="0" y="164645"/>
                  </a:cubicBezTo>
                </a:path>
              </a:pathLst>
            </a:custGeom>
            <a:noFill/>
            <a:ln w="28575" cap="rnd" cmpd="sng" algn="ctr">
              <a:solidFill>
                <a:srgbClr val="A8A8A8"/>
              </a:solidFill>
              <a:prstDash val="solid"/>
              <a:roun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09585">
                <a:defRPr/>
              </a:pPr>
              <a:endParaRPr lang="en-US" sz="1000">
                <a:solidFill>
                  <a:srgbClr val="FFFFFF"/>
                </a:solidFill>
                <a:ea typeface="Microsoft YaHei" panose="020B0503020204020204" pitchFamily="34" charset="-122"/>
              </a:endParaRPr>
            </a:p>
          </p:txBody>
        </p:sp>
        <p:sp>
          <p:nvSpPr>
            <p:cNvPr id="34" name="Oval 20">
              <a:extLst>
                <a:ext uri="{FF2B5EF4-FFF2-40B4-BE49-F238E27FC236}">
                  <a16:creationId xmlns:a16="http://schemas.microsoft.com/office/drawing/2014/main" id="{1F743219-1D6A-61D3-EDA2-70641C0BEBD2}"/>
                </a:ext>
              </a:extLst>
            </p:cNvPr>
            <p:cNvSpPr>
              <a:spLocks noChangeArrowheads="1"/>
            </p:cNvSpPr>
            <p:nvPr/>
          </p:nvSpPr>
          <p:spPr bwMode="auto">
            <a:xfrm>
              <a:off x="7794870" y="3543198"/>
              <a:ext cx="219456" cy="219456"/>
            </a:xfrm>
            <a:prstGeom prst="ellipse">
              <a:avLst/>
            </a:prstGeom>
            <a:solidFill>
              <a:srgbClr val="FFFFFF"/>
            </a:solidFill>
            <a:ln w="9525" cap="flat" cmpd="sng" algn="ctr">
              <a:solidFill>
                <a:srgbClr val="9A9A9A"/>
              </a:solidFill>
              <a:prstDash val="solid"/>
              <a:round/>
              <a:headEnd type="none" w="med" len="med"/>
              <a:tailEnd type="none" w="med" len="med"/>
            </a:ln>
            <a:effectLst>
              <a:outerShdw blurRad="76200" dir="18900000" sy="23000" kx="-1200000" algn="bl" rotWithShape="0">
                <a:prstClr val="black">
                  <a:alpha val="20000"/>
                </a:prstClr>
              </a:outerShdw>
            </a:effectLst>
          </p:spPr>
          <p:txBody>
            <a:bodyPr vert="horz" wrap="square" lIns="0" tIns="0" rIns="0" bIns="0" numCol="1" anchor="ctr" anchorCtr="0" compatLnSpc="1">
              <a:prstTxWarp prst="textNoShape">
                <a:avLst/>
              </a:prstTxWarp>
            </a:bodyPr>
            <a:lstStyle/>
            <a:p>
              <a:pPr algn="ctr" defTabSz="609585">
                <a:defRPr/>
              </a:pPr>
              <a:r>
                <a:rPr lang="en-US" sz="1000">
                  <a:solidFill>
                    <a:srgbClr val="575757"/>
                  </a:solidFill>
                  <a:ea typeface="Microsoft YaHei" panose="020B0503020204020204" pitchFamily="34" charset="-122"/>
                </a:rPr>
                <a:t>1</a:t>
              </a:r>
            </a:p>
          </p:txBody>
        </p:sp>
        <p:cxnSp>
          <p:nvCxnSpPr>
            <p:cNvPr id="35" name="Straight Arrow Connector 34">
              <a:extLst>
                <a:ext uri="{FF2B5EF4-FFF2-40B4-BE49-F238E27FC236}">
                  <a16:creationId xmlns:a16="http://schemas.microsoft.com/office/drawing/2014/main" id="{01DDDEED-281D-9CAA-9CF3-907A9ADF6822}"/>
                </a:ext>
              </a:extLst>
            </p:cNvPr>
            <p:cNvCxnSpPr/>
            <p:nvPr/>
          </p:nvCxnSpPr>
          <p:spPr>
            <a:xfrm flipH="1">
              <a:off x="6902796" y="3861766"/>
              <a:ext cx="1161969" cy="0"/>
            </a:xfrm>
            <a:prstGeom prst="straightConnector1">
              <a:avLst/>
            </a:prstGeom>
            <a:ln w="28575" cap="flat" cmpd="sng" algn="ctr">
              <a:solidFill>
                <a:srgbClr val="9A9A9A"/>
              </a:solidFill>
              <a:prstDash val="solid"/>
              <a:miter lim="800000"/>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6" name="Oval 20">
              <a:extLst>
                <a:ext uri="{FF2B5EF4-FFF2-40B4-BE49-F238E27FC236}">
                  <a16:creationId xmlns:a16="http://schemas.microsoft.com/office/drawing/2014/main" id="{D56450BC-BE06-6CA8-75CA-94598261EE57}"/>
                </a:ext>
              </a:extLst>
            </p:cNvPr>
            <p:cNvSpPr>
              <a:spLocks noChangeArrowheads="1"/>
            </p:cNvSpPr>
            <p:nvPr/>
          </p:nvSpPr>
          <p:spPr bwMode="auto">
            <a:xfrm>
              <a:off x="7442080" y="3742798"/>
              <a:ext cx="219456" cy="219456"/>
            </a:xfrm>
            <a:prstGeom prst="ellipse">
              <a:avLst/>
            </a:prstGeom>
            <a:solidFill>
              <a:srgbClr val="FFFFFF"/>
            </a:solidFill>
            <a:ln w="9525" cap="flat" cmpd="sng" algn="ctr">
              <a:solidFill>
                <a:srgbClr val="9A9A9A"/>
              </a:solidFill>
              <a:prstDash val="solid"/>
              <a:round/>
              <a:headEnd type="none" w="med" len="med"/>
              <a:tailEnd type="none" w="med" len="med"/>
            </a:ln>
            <a:effectLst>
              <a:outerShdw blurRad="76200" dir="18900000" sy="23000" kx="-1200000" algn="bl" rotWithShape="0">
                <a:prstClr val="black">
                  <a:alpha val="20000"/>
                </a:prstClr>
              </a:outerShdw>
            </a:effectLst>
          </p:spPr>
          <p:txBody>
            <a:bodyPr vert="horz" wrap="square" lIns="0" tIns="0" rIns="0" bIns="0" numCol="1" anchor="ctr" anchorCtr="0" compatLnSpc="1">
              <a:prstTxWarp prst="textNoShape">
                <a:avLst/>
              </a:prstTxWarp>
            </a:bodyPr>
            <a:lstStyle/>
            <a:p>
              <a:pPr algn="ctr" defTabSz="609585">
                <a:defRPr/>
              </a:pPr>
              <a:r>
                <a:rPr lang="en-US" sz="1000">
                  <a:solidFill>
                    <a:srgbClr val="575757"/>
                  </a:solidFill>
                  <a:ea typeface="Microsoft YaHei" panose="020B0503020204020204" pitchFamily="34" charset="-122"/>
                </a:rPr>
                <a:t>6</a:t>
              </a:r>
            </a:p>
          </p:txBody>
        </p:sp>
        <p:cxnSp>
          <p:nvCxnSpPr>
            <p:cNvPr id="37" name="Straight Arrow Connector 36">
              <a:extLst>
                <a:ext uri="{FF2B5EF4-FFF2-40B4-BE49-F238E27FC236}">
                  <a16:creationId xmlns:a16="http://schemas.microsoft.com/office/drawing/2014/main" id="{0EA017F9-1F41-B24A-453A-99FAD4FF849A}"/>
                </a:ext>
              </a:extLst>
            </p:cNvPr>
            <p:cNvCxnSpPr/>
            <p:nvPr/>
          </p:nvCxnSpPr>
          <p:spPr>
            <a:xfrm>
              <a:off x="5474083" y="4271177"/>
              <a:ext cx="2187774" cy="0"/>
            </a:xfrm>
            <a:prstGeom prst="straightConnector1">
              <a:avLst/>
            </a:prstGeom>
            <a:ln w="28575" cap="flat" cmpd="sng" algn="ctr">
              <a:solidFill>
                <a:srgbClr val="9A9A9A"/>
              </a:solidFill>
              <a:prstDash val="solid"/>
              <a:miter lim="800000"/>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8" name="Straight Arrow Connector 37">
              <a:extLst>
                <a:ext uri="{FF2B5EF4-FFF2-40B4-BE49-F238E27FC236}">
                  <a16:creationId xmlns:a16="http://schemas.microsoft.com/office/drawing/2014/main" id="{44C5B438-BD4D-E415-BC38-19F3C7E36B13}"/>
                </a:ext>
              </a:extLst>
            </p:cNvPr>
            <p:cNvCxnSpPr/>
            <p:nvPr/>
          </p:nvCxnSpPr>
          <p:spPr>
            <a:xfrm>
              <a:off x="5044367" y="4271177"/>
              <a:ext cx="429715" cy="0"/>
            </a:xfrm>
            <a:prstGeom prst="straightConnector1">
              <a:avLst/>
            </a:prstGeom>
            <a:ln w="12700" cap="flat" cmpd="sng" algn="ctr">
              <a:solidFill>
                <a:srgbClr val="9A9A9A"/>
              </a:solidFill>
              <a:prstDash val="dash"/>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Oval 20">
              <a:extLst>
                <a:ext uri="{FF2B5EF4-FFF2-40B4-BE49-F238E27FC236}">
                  <a16:creationId xmlns:a16="http://schemas.microsoft.com/office/drawing/2014/main" id="{204D532C-8EDD-193F-FAC1-96D76D81FEFD}"/>
                </a:ext>
              </a:extLst>
            </p:cNvPr>
            <p:cNvSpPr>
              <a:spLocks noChangeArrowheads="1"/>
            </p:cNvSpPr>
            <p:nvPr/>
          </p:nvSpPr>
          <p:spPr bwMode="auto">
            <a:xfrm>
              <a:off x="5556488" y="4143746"/>
              <a:ext cx="219456" cy="219456"/>
            </a:xfrm>
            <a:prstGeom prst="ellipse">
              <a:avLst/>
            </a:prstGeom>
            <a:solidFill>
              <a:srgbClr val="FFFFFF"/>
            </a:solidFill>
            <a:ln w="9525" cap="flat" cmpd="sng" algn="ctr">
              <a:solidFill>
                <a:srgbClr val="9A9A9A"/>
              </a:solidFill>
              <a:prstDash val="solid"/>
              <a:round/>
              <a:headEnd type="none" w="med" len="med"/>
              <a:tailEnd type="none" w="med" len="med"/>
            </a:ln>
            <a:effectLst>
              <a:outerShdw blurRad="76200" dir="18900000" sy="23000" kx="-1200000" algn="bl" rotWithShape="0">
                <a:prstClr val="black">
                  <a:alpha val="20000"/>
                </a:prstClr>
              </a:outerShdw>
            </a:effectLst>
          </p:spPr>
          <p:txBody>
            <a:bodyPr vert="horz" wrap="square" lIns="0" tIns="0" rIns="0" bIns="0" numCol="1" anchor="ctr" anchorCtr="0" compatLnSpc="1">
              <a:prstTxWarp prst="textNoShape">
                <a:avLst/>
              </a:prstTxWarp>
            </a:bodyPr>
            <a:lstStyle/>
            <a:p>
              <a:pPr algn="ctr" defTabSz="609585">
                <a:defRPr/>
              </a:pPr>
              <a:r>
                <a:rPr lang="en-US" sz="1000">
                  <a:solidFill>
                    <a:srgbClr val="575757"/>
                  </a:solidFill>
                  <a:ea typeface="Microsoft YaHei" panose="020B0503020204020204" pitchFamily="34" charset="-122"/>
                </a:rPr>
                <a:t>2</a:t>
              </a:r>
            </a:p>
          </p:txBody>
        </p:sp>
        <p:cxnSp>
          <p:nvCxnSpPr>
            <p:cNvPr id="40" name="Straight Arrow Connector 39">
              <a:extLst>
                <a:ext uri="{FF2B5EF4-FFF2-40B4-BE49-F238E27FC236}">
                  <a16:creationId xmlns:a16="http://schemas.microsoft.com/office/drawing/2014/main" id="{B860F5EE-6D5F-6924-0DBC-D1ACE1EA9D40}"/>
                </a:ext>
              </a:extLst>
            </p:cNvPr>
            <p:cNvCxnSpPr/>
            <p:nvPr/>
          </p:nvCxnSpPr>
          <p:spPr>
            <a:xfrm>
              <a:off x="5038886" y="3861041"/>
              <a:ext cx="429715" cy="0"/>
            </a:xfrm>
            <a:prstGeom prst="straightConnector1">
              <a:avLst/>
            </a:prstGeom>
            <a:ln w="12700" cap="flat" cmpd="sng" algn="ctr">
              <a:solidFill>
                <a:srgbClr val="9A9A9A"/>
              </a:solidFill>
              <a:prstDash val="dash"/>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1" name="Freeform: Shape 40">
              <a:extLst>
                <a:ext uri="{FF2B5EF4-FFF2-40B4-BE49-F238E27FC236}">
                  <a16:creationId xmlns:a16="http://schemas.microsoft.com/office/drawing/2014/main" id="{9E166AEE-ADBC-CAA0-8BD7-6C367A474BEE}"/>
                </a:ext>
              </a:extLst>
            </p:cNvPr>
            <p:cNvSpPr/>
            <p:nvPr/>
          </p:nvSpPr>
          <p:spPr>
            <a:xfrm>
              <a:off x="3946992" y="4277734"/>
              <a:ext cx="2978525" cy="1686240"/>
            </a:xfrm>
            <a:custGeom>
              <a:avLst/>
              <a:gdLst>
                <a:gd name="connsiteX0" fmla="*/ 0 w 2514600"/>
                <a:gd name="connsiteY0" fmla="*/ 1306286 h 1306286"/>
                <a:gd name="connsiteX1" fmla="*/ 873578 w 2514600"/>
                <a:gd name="connsiteY1" fmla="*/ 685800 h 1306286"/>
                <a:gd name="connsiteX2" fmla="*/ 2065564 w 2514600"/>
                <a:gd name="connsiteY2" fmla="*/ 481693 h 1306286"/>
                <a:gd name="connsiteX3" fmla="*/ 2514600 w 2514600"/>
                <a:gd name="connsiteY3" fmla="*/ 0 h 1306286"/>
              </a:gdLst>
              <a:ahLst/>
              <a:cxnLst>
                <a:cxn ang="0">
                  <a:pos x="connsiteX0" y="connsiteY0"/>
                </a:cxn>
                <a:cxn ang="0">
                  <a:pos x="connsiteX1" y="connsiteY1"/>
                </a:cxn>
                <a:cxn ang="0">
                  <a:pos x="connsiteX2" y="connsiteY2"/>
                </a:cxn>
                <a:cxn ang="0">
                  <a:pos x="connsiteX3" y="connsiteY3"/>
                </a:cxn>
              </a:cxnLst>
              <a:rect l="l" t="t" r="r" b="b"/>
              <a:pathLst>
                <a:path w="2514600" h="1306286">
                  <a:moveTo>
                    <a:pt x="0" y="1306286"/>
                  </a:moveTo>
                  <a:cubicBezTo>
                    <a:pt x="264658" y="1064759"/>
                    <a:pt x="529317" y="823232"/>
                    <a:pt x="873578" y="685800"/>
                  </a:cubicBezTo>
                  <a:cubicBezTo>
                    <a:pt x="1217839" y="548368"/>
                    <a:pt x="1792060" y="595993"/>
                    <a:pt x="2065564" y="481693"/>
                  </a:cubicBezTo>
                  <a:cubicBezTo>
                    <a:pt x="2339068" y="367393"/>
                    <a:pt x="2426834" y="183696"/>
                    <a:pt x="2514600" y="0"/>
                  </a:cubicBezTo>
                </a:path>
              </a:pathLst>
            </a:custGeom>
            <a:noFill/>
            <a:ln w="28575" cap="rnd" cmpd="sng" algn="ctr">
              <a:solidFill>
                <a:schemeClr val="accent1"/>
              </a:solidFill>
              <a:prstDash val="solid"/>
              <a:roun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09585">
                <a:defRPr/>
              </a:pPr>
              <a:endParaRPr lang="en-US" sz="1000">
                <a:solidFill>
                  <a:srgbClr val="FFFFFF"/>
                </a:solidFill>
                <a:ea typeface="Microsoft YaHei" panose="020B0503020204020204" pitchFamily="34" charset="-122"/>
              </a:endParaRPr>
            </a:p>
          </p:txBody>
        </p:sp>
        <p:sp>
          <p:nvSpPr>
            <p:cNvPr id="42" name="Oval 20">
              <a:extLst>
                <a:ext uri="{FF2B5EF4-FFF2-40B4-BE49-F238E27FC236}">
                  <a16:creationId xmlns:a16="http://schemas.microsoft.com/office/drawing/2014/main" id="{24A111ED-44C0-3CA0-7A9D-4DD4297E2BFD}"/>
                </a:ext>
              </a:extLst>
            </p:cNvPr>
            <p:cNvSpPr>
              <a:spLocks noChangeArrowheads="1"/>
            </p:cNvSpPr>
            <p:nvPr/>
          </p:nvSpPr>
          <p:spPr bwMode="auto">
            <a:xfrm>
              <a:off x="6447426" y="4676298"/>
              <a:ext cx="219456" cy="219456"/>
            </a:xfrm>
            <a:prstGeom prst="ellipse">
              <a:avLst/>
            </a:prstGeom>
            <a:solidFill>
              <a:schemeClr val="accent6"/>
            </a:solidFill>
            <a:ln w="9525" cap="flat" cmpd="sng" algn="ctr">
              <a:solidFill>
                <a:schemeClr val="bg1"/>
              </a:solidFill>
              <a:prstDash val="solid"/>
              <a:round/>
              <a:headEnd type="none" w="med" len="med"/>
              <a:tailEnd type="none" w="med" len="med"/>
            </a:ln>
            <a:effectLst>
              <a:outerShdw blurRad="76200" dir="18900000" sy="23000" kx="-1200000" algn="bl" rotWithShape="0">
                <a:prstClr val="black">
                  <a:alpha val="20000"/>
                </a:prstClr>
              </a:outerShdw>
            </a:effectLst>
          </p:spPr>
          <p:txBody>
            <a:bodyPr vert="horz" wrap="square" lIns="0" tIns="0" rIns="0" bIns="0" numCol="1" anchor="ctr" anchorCtr="0" compatLnSpc="1">
              <a:prstTxWarp prst="textNoShape">
                <a:avLst/>
              </a:prstTxWarp>
            </a:bodyPr>
            <a:lstStyle/>
            <a:p>
              <a:pPr algn="ctr" defTabSz="609585">
                <a:defRPr/>
              </a:pPr>
              <a:r>
                <a:rPr lang="en-US" sz="1000">
                  <a:solidFill>
                    <a:schemeClr val="bg1"/>
                  </a:solidFill>
                  <a:ea typeface="Microsoft YaHei" panose="020B0503020204020204" pitchFamily="34" charset="-122"/>
                </a:rPr>
                <a:t>7</a:t>
              </a:r>
            </a:p>
          </p:txBody>
        </p:sp>
        <p:sp>
          <p:nvSpPr>
            <p:cNvPr id="43" name="Oval 20">
              <a:extLst>
                <a:ext uri="{FF2B5EF4-FFF2-40B4-BE49-F238E27FC236}">
                  <a16:creationId xmlns:a16="http://schemas.microsoft.com/office/drawing/2014/main" id="{BF688EF8-65D3-2A37-D688-6D243A2F8223}"/>
                </a:ext>
              </a:extLst>
            </p:cNvPr>
            <p:cNvSpPr>
              <a:spLocks noChangeArrowheads="1"/>
            </p:cNvSpPr>
            <p:nvPr/>
          </p:nvSpPr>
          <p:spPr bwMode="auto">
            <a:xfrm>
              <a:off x="4035232" y="5653136"/>
              <a:ext cx="219456" cy="219456"/>
            </a:xfrm>
            <a:prstGeom prst="ellipse">
              <a:avLst/>
            </a:prstGeom>
            <a:solidFill>
              <a:schemeClr val="accent1"/>
            </a:solidFill>
            <a:ln w="9525" cap="flat" cmpd="sng" algn="ctr">
              <a:solidFill>
                <a:schemeClr val="bg1"/>
              </a:solidFill>
              <a:prstDash val="solid"/>
              <a:round/>
              <a:headEnd type="none" w="med" len="med"/>
              <a:tailEnd type="none" w="med" len="med"/>
            </a:ln>
            <a:effectLst>
              <a:outerShdw blurRad="76200" dir="18900000" sy="23000" kx="-1200000" algn="bl" rotWithShape="0">
                <a:prstClr val="black">
                  <a:alpha val="20000"/>
                </a:prstClr>
              </a:outerShdw>
            </a:effectLst>
          </p:spPr>
          <p:txBody>
            <a:bodyPr vert="horz" wrap="square" lIns="0" tIns="0" rIns="0" bIns="0" numCol="1" anchor="ctr" anchorCtr="0" compatLnSpc="1">
              <a:prstTxWarp prst="textNoShape">
                <a:avLst/>
              </a:prstTxWarp>
            </a:bodyPr>
            <a:lstStyle/>
            <a:p>
              <a:pPr algn="ctr" defTabSz="609585">
                <a:defRPr/>
              </a:pPr>
              <a:r>
                <a:rPr lang="en-US" sz="1000">
                  <a:solidFill>
                    <a:schemeClr val="bg1"/>
                  </a:solidFill>
                  <a:ea typeface="Microsoft YaHei" panose="020B0503020204020204" pitchFamily="34" charset="-122"/>
                </a:rPr>
                <a:t>11</a:t>
              </a:r>
            </a:p>
          </p:txBody>
        </p:sp>
        <p:sp>
          <p:nvSpPr>
            <p:cNvPr id="44" name="Freeform: Shape 43">
              <a:extLst>
                <a:ext uri="{FF2B5EF4-FFF2-40B4-BE49-F238E27FC236}">
                  <a16:creationId xmlns:a16="http://schemas.microsoft.com/office/drawing/2014/main" id="{BFE6BE40-192C-4CFC-8CDD-FE20B0C75F61}"/>
                </a:ext>
              </a:extLst>
            </p:cNvPr>
            <p:cNvSpPr/>
            <p:nvPr/>
          </p:nvSpPr>
          <p:spPr>
            <a:xfrm>
              <a:off x="4413676" y="4143747"/>
              <a:ext cx="3225233" cy="1831910"/>
            </a:xfrm>
            <a:custGeom>
              <a:avLst/>
              <a:gdLst>
                <a:gd name="connsiteX0" fmla="*/ 0 w 2514600"/>
                <a:gd name="connsiteY0" fmla="*/ 1306286 h 1306286"/>
                <a:gd name="connsiteX1" fmla="*/ 873578 w 2514600"/>
                <a:gd name="connsiteY1" fmla="*/ 685800 h 1306286"/>
                <a:gd name="connsiteX2" fmla="*/ 2065564 w 2514600"/>
                <a:gd name="connsiteY2" fmla="*/ 481693 h 1306286"/>
                <a:gd name="connsiteX3" fmla="*/ 2514600 w 2514600"/>
                <a:gd name="connsiteY3" fmla="*/ 0 h 1306286"/>
              </a:gdLst>
              <a:ahLst/>
              <a:cxnLst>
                <a:cxn ang="0">
                  <a:pos x="connsiteX0" y="connsiteY0"/>
                </a:cxn>
                <a:cxn ang="0">
                  <a:pos x="connsiteX1" y="connsiteY1"/>
                </a:cxn>
                <a:cxn ang="0">
                  <a:pos x="connsiteX2" y="connsiteY2"/>
                </a:cxn>
                <a:cxn ang="0">
                  <a:pos x="connsiteX3" y="connsiteY3"/>
                </a:cxn>
              </a:cxnLst>
              <a:rect l="l" t="t" r="r" b="b"/>
              <a:pathLst>
                <a:path w="2514600" h="1306286">
                  <a:moveTo>
                    <a:pt x="0" y="1306286"/>
                  </a:moveTo>
                  <a:cubicBezTo>
                    <a:pt x="264658" y="1064759"/>
                    <a:pt x="529317" y="823232"/>
                    <a:pt x="873578" y="685800"/>
                  </a:cubicBezTo>
                  <a:cubicBezTo>
                    <a:pt x="1217839" y="548368"/>
                    <a:pt x="1792060" y="595993"/>
                    <a:pt x="2065564" y="481693"/>
                  </a:cubicBezTo>
                  <a:cubicBezTo>
                    <a:pt x="2339068" y="367393"/>
                    <a:pt x="2426834" y="183696"/>
                    <a:pt x="2514600" y="0"/>
                  </a:cubicBezTo>
                </a:path>
              </a:pathLst>
            </a:custGeom>
            <a:noFill/>
            <a:ln w="28575" cap="rnd" cmpd="sng" algn="ctr">
              <a:solidFill>
                <a:schemeClr val="accent1"/>
              </a:solidFill>
              <a:prstDash val="solid"/>
              <a:roun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09585">
                <a:defRPr/>
              </a:pPr>
              <a:endParaRPr lang="en-US" sz="1000">
                <a:solidFill>
                  <a:srgbClr val="FFFFFF"/>
                </a:solidFill>
                <a:ea typeface="Microsoft YaHei" panose="020B0503020204020204" pitchFamily="34" charset="-122"/>
              </a:endParaRPr>
            </a:p>
          </p:txBody>
        </p:sp>
        <p:sp>
          <p:nvSpPr>
            <p:cNvPr id="45" name="Oval 20">
              <a:extLst>
                <a:ext uri="{FF2B5EF4-FFF2-40B4-BE49-F238E27FC236}">
                  <a16:creationId xmlns:a16="http://schemas.microsoft.com/office/drawing/2014/main" id="{A4FBC41A-267C-3DF9-4B72-28EDB0BA9E00}"/>
                </a:ext>
              </a:extLst>
            </p:cNvPr>
            <p:cNvSpPr>
              <a:spLocks noChangeArrowheads="1"/>
            </p:cNvSpPr>
            <p:nvPr/>
          </p:nvSpPr>
          <p:spPr bwMode="auto">
            <a:xfrm>
              <a:off x="4459985" y="5672623"/>
              <a:ext cx="219456" cy="219456"/>
            </a:xfrm>
            <a:prstGeom prst="ellipse">
              <a:avLst/>
            </a:prstGeom>
            <a:solidFill>
              <a:schemeClr val="accent1"/>
            </a:solidFill>
            <a:ln w="9525" cap="flat" cmpd="sng" algn="ctr">
              <a:solidFill>
                <a:schemeClr val="bg1"/>
              </a:solidFill>
              <a:prstDash val="solid"/>
              <a:round/>
              <a:headEnd type="none" w="med" len="med"/>
              <a:tailEnd type="none" w="med" len="med"/>
            </a:ln>
            <a:effectLst>
              <a:outerShdw blurRad="76200" dir="18900000" sy="23000" kx="-1200000" algn="bl" rotWithShape="0">
                <a:prstClr val="black">
                  <a:alpha val="20000"/>
                </a:prstClr>
              </a:outerShdw>
            </a:effectLst>
          </p:spPr>
          <p:txBody>
            <a:bodyPr vert="horz" wrap="square" lIns="0" tIns="0" rIns="0" bIns="0" numCol="1" anchor="ctr" anchorCtr="0" compatLnSpc="1">
              <a:prstTxWarp prst="textNoShape">
                <a:avLst/>
              </a:prstTxWarp>
            </a:bodyPr>
            <a:lstStyle/>
            <a:p>
              <a:pPr algn="ctr" defTabSz="609585">
                <a:defRPr/>
              </a:pPr>
              <a:r>
                <a:rPr lang="en-US" sz="1000">
                  <a:solidFill>
                    <a:schemeClr val="bg1"/>
                  </a:solidFill>
                  <a:ea typeface="Microsoft YaHei" panose="020B0503020204020204" pitchFamily="34" charset="-122"/>
                </a:rPr>
                <a:t>10</a:t>
              </a:r>
            </a:p>
          </p:txBody>
        </p:sp>
      </p:grpSp>
      <p:sp>
        <p:nvSpPr>
          <p:cNvPr id="53" name="TextBox 52">
            <a:extLst>
              <a:ext uri="{FF2B5EF4-FFF2-40B4-BE49-F238E27FC236}">
                <a16:creationId xmlns:a16="http://schemas.microsoft.com/office/drawing/2014/main" id="{8F9D1ECD-0B9C-BAA7-F88E-CFBB19F804C3}"/>
              </a:ext>
            </a:extLst>
          </p:cNvPr>
          <p:cNvSpPr txBox="1"/>
          <p:nvPr/>
        </p:nvSpPr>
        <p:spPr>
          <a:xfrm rot="16200000">
            <a:off x="2599779" y="4569764"/>
            <a:ext cx="1077219" cy="215444"/>
          </a:xfrm>
          <a:prstGeom prst="rect">
            <a:avLst/>
          </a:prstGeom>
          <a:noFill/>
          <a:extLst>
            <a:ext uri="{909E8E84-426E-40DD-AFC4-6F175D3DCCD1}">
              <a14:hiddenFill xmlns:a14="http://schemas.microsoft.com/office/drawing/2010/main">
                <a:solidFill>
                  <a:srgbClr val="FFB900"/>
                </a:solidFill>
              </a14:hiddenFill>
            </a:ext>
          </a:extLst>
        </p:spPr>
        <p:txBody>
          <a:bodyPr wrap="none" lIns="0" tIns="0" rIns="0" bIns="0" rtlCol="0" anchor="ctr">
            <a:spAutoFit/>
          </a:bodyPr>
          <a:lstStyle/>
          <a:p>
            <a:pPr algn="ctr" defTabSz="609585">
              <a:defRPr/>
            </a:pPr>
            <a:r>
              <a:rPr lang="zh-TW" altLang="en-US" sz="1400">
                <a:solidFill>
                  <a:srgbClr val="6E6E6E"/>
                </a:solidFill>
                <a:ea typeface="Microsoft YaHei" panose="020B0503020204020204" pitchFamily="34" charset="-122"/>
              </a:rPr>
              <a:t>客戶關係深度</a:t>
            </a:r>
            <a:endParaRPr lang="fi-FI" sz="1400">
              <a:solidFill>
                <a:srgbClr val="6E6E6E"/>
              </a:solidFill>
              <a:ea typeface="Microsoft YaHei" panose="020B0503020204020204" pitchFamily="34" charset="-122"/>
            </a:endParaRPr>
          </a:p>
        </p:txBody>
      </p:sp>
      <p:sp>
        <p:nvSpPr>
          <p:cNvPr id="56" name="Arrow: Right 55">
            <a:extLst>
              <a:ext uri="{FF2B5EF4-FFF2-40B4-BE49-F238E27FC236}">
                <a16:creationId xmlns:a16="http://schemas.microsoft.com/office/drawing/2014/main" id="{49BBA7F2-F2EC-2EE5-0098-BA06A84D5CD4}"/>
              </a:ext>
            </a:extLst>
          </p:cNvPr>
          <p:cNvSpPr/>
          <p:nvPr/>
        </p:nvSpPr>
        <p:spPr>
          <a:xfrm rot="16200000">
            <a:off x="1892499" y="4585464"/>
            <a:ext cx="2891280" cy="184047"/>
          </a:xfrm>
          <a:prstGeom prst="rightArrow">
            <a:avLst>
              <a:gd name="adj1" fmla="val 50000"/>
              <a:gd name="adj2" fmla="val 94952"/>
            </a:avLst>
          </a:prstGeom>
          <a:solidFill>
            <a:schemeClr val="tx1">
              <a:lumMod val="40000"/>
              <a:lumOff val="6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57" name="IllustrativeStamp">
            <a:extLst>
              <a:ext uri="{FF2B5EF4-FFF2-40B4-BE49-F238E27FC236}">
                <a16:creationId xmlns:a16="http://schemas.microsoft.com/office/drawing/2014/main" id="{FD127958-9F24-AE29-B909-614E54D8F0CA}"/>
              </a:ext>
            </a:extLst>
          </p:cNvPr>
          <p:cNvSpPr/>
          <p:nvPr/>
        </p:nvSpPr>
        <p:spPr>
          <a:xfrm>
            <a:off x="10101943" y="1362615"/>
            <a:ext cx="1460057" cy="191773"/>
          </a:xfrm>
          <a:prstGeom prst="rect">
            <a:avLst/>
          </a:prstGeom>
          <a:solidFill>
            <a:schemeClr val="tx2"/>
          </a:solidFill>
          <a:ln w="9525">
            <a:no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l"/>
            <a:r>
              <a:rPr lang="en-US" altLang="zh-TW" sz="1200">
                <a:solidFill>
                  <a:schemeClr val="bg1"/>
                </a:solidFill>
              </a:rPr>
              <a:t>BCG</a:t>
            </a:r>
            <a:r>
              <a:rPr lang="zh-TW" altLang="en-US" sz="1200">
                <a:solidFill>
                  <a:schemeClr val="bg1"/>
                </a:solidFill>
              </a:rPr>
              <a:t>其他專案示意圖</a:t>
            </a:r>
            <a:endParaRPr lang="en-US" sz="1200">
              <a:solidFill>
                <a:schemeClr val="bg1"/>
              </a:solidFill>
            </a:endParaRPr>
          </a:p>
        </p:txBody>
      </p:sp>
      <p:sp>
        <p:nvSpPr>
          <p:cNvPr id="62" name="Rectangle 61">
            <a:extLst>
              <a:ext uri="{FF2B5EF4-FFF2-40B4-BE49-F238E27FC236}">
                <a16:creationId xmlns:a16="http://schemas.microsoft.com/office/drawing/2014/main" id="{F7FB1716-3E22-F2B4-780B-249617E8627B}"/>
              </a:ext>
            </a:extLst>
          </p:cNvPr>
          <p:cNvSpPr/>
          <p:nvPr/>
        </p:nvSpPr>
        <p:spPr>
          <a:xfrm>
            <a:off x="9417613" y="1821181"/>
            <a:ext cx="2145736" cy="4339908"/>
          </a:xfrm>
          <a:prstGeom prst="rect">
            <a:avLst/>
          </a:prstGeom>
          <a:solidFill>
            <a:schemeClr val="tx2">
              <a:lumMod val="20000"/>
              <a:lumOff val="8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63" name="Isosceles Triangle 62">
            <a:extLst>
              <a:ext uri="{FF2B5EF4-FFF2-40B4-BE49-F238E27FC236}">
                <a16:creationId xmlns:a16="http://schemas.microsoft.com/office/drawing/2014/main" id="{67CE6D22-D39E-9B78-18B5-2D742F0D83D4}"/>
              </a:ext>
            </a:extLst>
          </p:cNvPr>
          <p:cNvSpPr/>
          <p:nvPr/>
        </p:nvSpPr>
        <p:spPr>
          <a:xfrm flipH="1">
            <a:off x="9420913" y="1707931"/>
            <a:ext cx="195079" cy="110834"/>
          </a:xfrm>
          <a:prstGeom prst="triangle">
            <a:avLst>
              <a:gd name="adj" fmla="val 0"/>
            </a:avLst>
          </a:prstGeom>
          <a:solidFill>
            <a:schemeClr val="accent1"/>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64" name="Oval 20">
            <a:extLst>
              <a:ext uri="{FF2B5EF4-FFF2-40B4-BE49-F238E27FC236}">
                <a16:creationId xmlns:a16="http://schemas.microsoft.com/office/drawing/2014/main" id="{5EAF63BF-5B18-1D34-0B31-BC576C84DEBC}"/>
              </a:ext>
            </a:extLst>
          </p:cNvPr>
          <p:cNvSpPr>
            <a:spLocks noChangeAspect="1" noChangeArrowheads="1"/>
          </p:cNvSpPr>
          <p:nvPr/>
        </p:nvSpPr>
        <p:spPr bwMode="auto">
          <a:xfrm>
            <a:off x="9529934" y="2300843"/>
            <a:ext cx="223243" cy="223243"/>
          </a:xfrm>
          <a:prstGeom prst="ellipse">
            <a:avLst/>
          </a:prstGeom>
          <a:solidFill>
            <a:srgbClr val="FFFFFF"/>
          </a:solidFill>
          <a:ln w="9525" cap="flat" cmpd="sng" algn="ctr">
            <a:solidFill>
              <a:srgbClr val="9A9A9A"/>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algn="ctr" defTabSz="609585">
              <a:defRPr/>
            </a:pPr>
            <a:r>
              <a:rPr lang="en-US" sz="933">
                <a:solidFill>
                  <a:srgbClr val="575757"/>
                </a:solidFill>
                <a:ea typeface="Microsoft YaHei" panose="020B0503020204020204" pitchFamily="34" charset="-122"/>
              </a:rPr>
              <a:t>1</a:t>
            </a:r>
          </a:p>
        </p:txBody>
      </p:sp>
      <p:sp>
        <p:nvSpPr>
          <p:cNvPr id="65" name="Oval 20">
            <a:extLst>
              <a:ext uri="{FF2B5EF4-FFF2-40B4-BE49-F238E27FC236}">
                <a16:creationId xmlns:a16="http://schemas.microsoft.com/office/drawing/2014/main" id="{A46E0AAD-F261-2BB8-E896-CBA6DD5F4CE6}"/>
              </a:ext>
            </a:extLst>
          </p:cNvPr>
          <p:cNvSpPr>
            <a:spLocks noChangeAspect="1" noChangeArrowheads="1"/>
          </p:cNvSpPr>
          <p:nvPr/>
        </p:nvSpPr>
        <p:spPr bwMode="auto">
          <a:xfrm>
            <a:off x="9529934" y="2620270"/>
            <a:ext cx="223243" cy="223243"/>
          </a:xfrm>
          <a:prstGeom prst="ellipse">
            <a:avLst/>
          </a:prstGeom>
          <a:solidFill>
            <a:srgbClr val="FFFFFF"/>
          </a:solidFill>
          <a:ln w="9525" cap="flat" cmpd="sng" algn="ctr">
            <a:solidFill>
              <a:srgbClr val="9A9A9A"/>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algn="ctr" defTabSz="609585">
              <a:defRPr/>
            </a:pPr>
            <a:r>
              <a:rPr lang="en-US" sz="933">
                <a:solidFill>
                  <a:srgbClr val="575757"/>
                </a:solidFill>
                <a:ea typeface="Microsoft YaHei" panose="020B0503020204020204" pitchFamily="34" charset="-122"/>
              </a:rPr>
              <a:t>2</a:t>
            </a:r>
          </a:p>
        </p:txBody>
      </p:sp>
      <p:sp>
        <p:nvSpPr>
          <p:cNvPr id="66" name="Oval 20">
            <a:extLst>
              <a:ext uri="{FF2B5EF4-FFF2-40B4-BE49-F238E27FC236}">
                <a16:creationId xmlns:a16="http://schemas.microsoft.com/office/drawing/2014/main" id="{30C47A77-CA01-1ABA-75F6-6A9B2BC88C37}"/>
              </a:ext>
            </a:extLst>
          </p:cNvPr>
          <p:cNvSpPr>
            <a:spLocks noChangeAspect="1" noChangeArrowheads="1"/>
          </p:cNvSpPr>
          <p:nvPr/>
        </p:nvSpPr>
        <p:spPr bwMode="auto">
          <a:xfrm>
            <a:off x="9529934" y="2939697"/>
            <a:ext cx="223243" cy="223243"/>
          </a:xfrm>
          <a:prstGeom prst="ellipse">
            <a:avLst/>
          </a:prstGeom>
          <a:solidFill>
            <a:srgbClr val="FFFFFF"/>
          </a:solidFill>
          <a:ln w="9525" cap="flat" cmpd="sng" algn="ctr">
            <a:solidFill>
              <a:srgbClr val="9A9A9A"/>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algn="ctr" defTabSz="609585">
              <a:defRPr/>
            </a:pPr>
            <a:r>
              <a:rPr lang="en-US" sz="933">
                <a:solidFill>
                  <a:srgbClr val="575757"/>
                </a:solidFill>
                <a:ea typeface="Microsoft YaHei" panose="020B0503020204020204" pitchFamily="34" charset="-122"/>
              </a:rPr>
              <a:t>3</a:t>
            </a:r>
          </a:p>
        </p:txBody>
      </p:sp>
      <p:sp>
        <p:nvSpPr>
          <p:cNvPr id="67" name="Oval 20">
            <a:extLst>
              <a:ext uri="{FF2B5EF4-FFF2-40B4-BE49-F238E27FC236}">
                <a16:creationId xmlns:a16="http://schemas.microsoft.com/office/drawing/2014/main" id="{22398025-F394-A748-14C9-51ADF007D59D}"/>
              </a:ext>
            </a:extLst>
          </p:cNvPr>
          <p:cNvSpPr>
            <a:spLocks noChangeAspect="1" noChangeArrowheads="1"/>
          </p:cNvSpPr>
          <p:nvPr/>
        </p:nvSpPr>
        <p:spPr bwMode="auto">
          <a:xfrm>
            <a:off x="9529934" y="3259124"/>
            <a:ext cx="223243" cy="223243"/>
          </a:xfrm>
          <a:prstGeom prst="ellipse">
            <a:avLst/>
          </a:prstGeom>
          <a:solidFill>
            <a:srgbClr val="FFFFFF"/>
          </a:solidFill>
          <a:ln w="9525" cap="flat" cmpd="sng" algn="ctr">
            <a:solidFill>
              <a:srgbClr val="9A9A9A"/>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algn="ctr" defTabSz="609585">
              <a:defRPr/>
            </a:pPr>
            <a:r>
              <a:rPr lang="en-US" sz="933">
                <a:solidFill>
                  <a:srgbClr val="575757"/>
                </a:solidFill>
                <a:ea typeface="Microsoft YaHei" panose="020B0503020204020204" pitchFamily="34" charset="-122"/>
              </a:rPr>
              <a:t>4</a:t>
            </a:r>
          </a:p>
        </p:txBody>
      </p:sp>
      <p:sp>
        <p:nvSpPr>
          <p:cNvPr id="68" name="Oval 20">
            <a:extLst>
              <a:ext uri="{FF2B5EF4-FFF2-40B4-BE49-F238E27FC236}">
                <a16:creationId xmlns:a16="http://schemas.microsoft.com/office/drawing/2014/main" id="{A075C568-99CA-92F2-7F07-1978CFB5ECF2}"/>
              </a:ext>
            </a:extLst>
          </p:cNvPr>
          <p:cNvSpPr>
            <a:spLocks noChangeAspect="1" noChangeArrowheads="1"/>
          </p:cNvSpPr>
          <p:nvPr/>
        </p:nvSpPr>
        <p:spPr bwMode="auto">
          <a:xfrm>
            <a:off x="9529934" y="3578551"/>
            <a:ext cx="223243" cy="223243"/>
          </a:xfrm>
          <a:prstGeom prst="ellipse">
            <a:avLst/>
          </a:prstGeom>
          <a:solidFill>
            <a:srgbClr val="FFFFFF"/>
          </a:solidFill>
          <a:ln w="9525" cap="flat" cmpd="sng" algn="ctr">
            <a:solidFill>
              <a:srgbClr val="9A9A9A"/>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algn="ctr" defTabSz="609585">
              <a:defRPr/>
            </a:pPr>
            <a:r>
              <a:rPr lang="en-US" sz="933">
                <a:solidFill>
                  <a:srgbClr val="575757"/>
                </a:solidFill>
                <a:ea typeface="Microsoft YaHei" panose="020B0503020204020204" pitchFamily="34" charset="-122"/>
              </a:rPr>
              <a:t>5</a:t>
            </a:r>
          </a:p>
        </p:txBody>
      </p:sp>
      <p:sp>
        <p:nvSpPr>
          <p:cNvPr id="69" name="Oval 20">
            <a:extLst>
              <a:ext uri="{FF2B5EF4-FFF2-40B4-BE49-F238E27FC236}">
                <a16:creationId xmlns:a16="http://schemas.microsoft.com/office/drawing/2014/main" id="{535934D5-069E-8BA1-BB46-C723A649D24F}"/>
              </a:ext>
            </a:extLst>
          </p:cNvPr>
          <p:cNvSpPr>
            <a:spLocks noChangeAspect="1" noChangeArrowheads="1"/>
          </p:cNvSpPr>
          <p:nvPr/>
        </p:nvSpPr>
        <p:spPr bwMode="auto">
          <a:xfrm>
            <a:off x="9529934" y="3897978"/>
            <a:ext cx="223243" cy="223243"/>
          </a:xfrm>
          <a:prstGeom prst="ellipse">
            <a:avLst/>
          </a:prstGeom>
          <a:solidFill>
            <a:srgbClr val="FFFFFF"/>
          </a:solidFill>
          <a:ln w="9525" cap="flat" cmpd="sng" algn="ctr">
            <a:solidFill>
              <a:srgbClr val="9A9A9A"/>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algn="ctr" defTabSz="609585">
              <a:defRPr/>
            </a:pPr>
            <a:r>
              <a:rPr lang="en-US" altLang="zh-TW" sz="933">
                <a:solidFill>
                  <a:srgbClr val="575757"/>
                </a:solidFill>
                <a:ea typeface="Microsoft YaHei" panose="020B0503020204020204" pitchFamily="34" charset="-122"/>
              </a:rPr>
              <a:t>6</a:t>
            </a:r>
            <a:endParaRPr lang="en-US" sz="933">
              <a:solidFill>
                <a:srgbClr val="575757"/>
              </a:solidFill>
              <a:ea typeface="Microsoft YaHei" panose="020B0503020204020204" pitchFamily="34" charset="-122"/>
            </a:endParaRPr>
          </a:p>
        </p:txBody>
      </p:sp>
      <p:sp>
        <p:nvSpPr>
          <p:cNvPr id="70" name="Oval 20">
            <a:extLst>
              <a:ext uri="{FF2B5EF4-FFF2-40B4-BE49-F238E27FC236}">
                <a16:creationId xmlns:a16="http://schemas.microsoft.com/office/drawing/2014/main" id="{DDA12A66-D79B-3F6B-9859-C30AA8D3B003}"/>
              </a:ext>
            </a:extLst>
          </p:cNvPr>
          <p:cNvSpPr>
            <a:spLocks noChangeAspect="1" noChangeArrowheads="1"/>
          </p:cNvSpPr>
          <p:nvPr/>
        </p:nvSpPr>
        <p:spPr bwMode="auto">
          <a:xfrm>
            <a:off x="9529933" y="4217405"/>
            <a:ext cx="223243" cy="223243"/>
          </a:xfrm>
          <a:prstGeom prst="ellipse">
            <a:avLst/>
          </a:prstGeom>
          <a:solidFill>
            <a:schemeClr val="accent6"/>
          </a:solidFill>
          <a:ln w="9525" cap="flat" cmpd="sng" algn="ctr">
            <a:solidFill>
              <a:schemeClr val="bg1"/>
            </a:solidFill>
            <a:prstDash val="solid"/>
            <a:round/>
            <a:headEnd type="none" w="med" len="med"/>
            <a:tailEnd type="none" w="med" len="med"/>
          </a:ln>
          <a:effectLst>
            <a:outerShdw blurRad="76200" dir="18900000" sy="23000" kx="-1200000" algn="bl" rotWithShape="0">
              <a:prstClr val="black">
                <a:alpha val="20000"/>
              </a:prstClr>
            </a:outerShdw>
          </a:effectLst>
        </p:spPr>
        <p:txBody>
          <a:bodyPr vert="horz" wrap="square" lIns="0" tIns="0" rIns="0" bIns="0" numCol="1" anchor="ctr" anchorCtr="0" compatLnSpc="1">
            <a:prstTxWarp prst="textNoShape">
              <a:avLst/>
            </a:prstTxWarp>
          </a:bodyPr>
          <a:lstStyle/>
          <a:p>
            <a:pPr algn="ctr" defTabSz="609585"/>
            <a:r>
              <a:rPr lang="en-US" sz="1000">
                <a:solidFill>
                  <a:schemeClr val="bg1"/>
                </a:solidFill>
                <a:ea typeface="Microsoft YaHei" panose="020B0503020204020204" pitchFamily="34" charset="-122"/>
              </a:rPr>
              <a:t>7</a:t>
            </a:r>
          </a:p>
        </p:txBody>
      </p:sp>
      <p:sp>
        <p:nvSpPr>
          <p:cNvPr id="71" name="Oval 70">
            <a:extLst>
              <a:ext uri="{FF2B5EF4-FFF2-40B4-BE49-F238E27FC236}">
                <a16:creationId xmlns:a16="http://schemas.microsoft.com/office/drawing/2014/main" id="{ED24A2BF-38FE-6751-AA9A-27F257092694}"/>
              </a:ext>
            </a:extLst>
          </p:cNvPr>
          <p:cNvSpPr>
            <a:spLocks noChangeAspect="1" noChangeArrowheads="1"/>
          </p:cNvSpPr>
          <p:nvPr/>
        </p:nvSpPr>
        <p:spPr bwMode="auto">
          <a:xfrm>
            <a:off x="9529934" y="4536832"/>
            <a:ext cx="223243" cy="223243"/>
          </a:xfrm>
          <a:prstGeom prst="ellipse">
            <a:avLst/>
          </a:prstGeom>
          <a:solidFill>
            <a:srgbClr val="FFFFFF"/>
          </a:solidFill>
          <a:ln w="9525" cap="flat" cmpd="sng" algn="ctr">
            <a:solidFill>
              <a:srgbClr val="9A9A9A"/>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algn="ctr" defTabSz="609585">
              <a:defRPr/>
            </a:pPr>
            <a:r>
              <a:rPr lang="en-US" altLang="zh-TW" sz="933">
                <a:solidFill>
                  <a:srgbClr val="575757"/>
                </a:solidFill>
                <a:ea typeface="Microsoft YaHei" panose="020B0503020204020204" pitchFamily="34" charset="-122"/>
              </a:rPr>
              <a:t>8</a:t>
            </a:r>
            <a:endParaRPr lang="en-US" sz="933">
              <a:solidFill>
                <a:srgbClr val="575757"/>
              </a:solidFill>
              <a:ea typeface="Microsoft YaHei" panose="020B0503020204020204" pitchFamily="34" charset="-122"/>
            </a:endParaRPr>
          </a:p>
        </p:txBody>
      </p:sp>
      <p:sp>
        <p:nvSpPr>
          <p:cNvPr id="72" name="Oval 20">
            <a:extLst>
              <a:ext uri="{FF2B5EF4-FFF2-40B4-BE49-F238E27FC236}">
                <a16:creationId xmlns:a16="http://schemas.microsoft.com/office/drawing/2014/main" id="{D17CCCB4-C2A3-5806-4137-A80A53581CF5}"/>
              </a:ext>
            </a:extLst>
          </p:cNvPr>
          <p:cNvSpPr>
            <a:spLocks noChangeAspect="1" noChangeArrowheads="1"/>
          </p:cNvSpPr>
          <p:nvPr/>
        </p:nvSpPr>
        <p:spPr bwMode="auto">
          <a:xfrm>
            <a:off x="9529934" y="4856259"/>
            <a:ext cx="223243" cy="223243"/>
          </a:xfrm>
          <a:prstGeom prst="ellipse">
            <a:avLst/>
          </a:prstGeom>
          <a:solidFill>
            <a:schemeClr val="tx2"/>
          </a:solidFill>
          <a:ln w="9525" cap="flat" cmpd="sng" algn="ctr">
            <a:solidFill>
              <a:schemeClr val="bg1"/>
            </a:solidFill>
            <a:prstDash val="solid"/>
            <a:round/>
            <a:headEnd type="none" w="med" len="med"/>
            <a:tailEnd type="none" w="med" len="med"/>
          </a:ln>
          <a:effectLst>
            <a:outerShdw blurRad="76200" dir="18900000" sy="23000" kx="-1200000" algn="bl" rotWithShape="0">
              <a:prstClr val="black">
                <a:alpha val="20000"/>
              </a:prstClr>
            </a:outerShdw>
          </a:effectLst>
        </p:spPr>
        <p:txBody>
          <a:bodyPr vert="horz" wrap="square" lIns="0" tIns="0" rIns="0" bIns="0" numCol="1" anchor="ctr" anchorCtr="0" compatLnSpc="1">
            <a:prstTxWarp prst="textNoShape">
              <a:avLst/>
            </a:prstTxWarp>
          </a:bodyPr>
          <a:lstStyle/>
          <a:p>
            <a:pPr algn="ctr" defTabSz="609585"/>
            <a:r>
              <a:rPr lang="en-US" sz="1000">
                <a:solidFill>
                  <a:schemeClr val="bg1"/>
                </a:solidFill>
                <a:ea typeface="Microsoft YaHei" panose="020B0503020204020204" pitchFamily="34" charset="-122"/>
              </a:rPr>
              <a:t>9</a:t>
            </a:r>
          </a:p>
        </p:txBody>
      </p:sp>
      <p:sp>
        <p:nvSpPr>
          <p:cNvPr id="73" name="Oval 20">
            <a:extLst>
              <a:ext uri="{FF2B5EF4-FFF2-40B4-BE49-F238E27FC236}">
                <a16:creationId xmlns:a16="http://schemas.microsoft.com/office/drawing/2014/main" id="{D649FCC0-1E34-2BE9-2BAB-42E4B9315826}"/>
              </a:ext>
            </a:extLst>
          </p:cNvPr>
          <p:cNvSpPr>
            <a:spLocks noChangeAspect="1" noChangeArrowheads="1"/>
          </p:cNvSpPr>
          <p:nvPr/>
        </p:nvSpPr>
        <p:spPr bwMode="auto">
          <a:xfrm>
            <a:off x="9529934" y="5175686"/>
            <a:ext cx="223243" cy="223243"/>
          </a:xfrm>
          <a:prstGeom prst="ellipse">
            <a:avLst/>
          </a:prstGeom>
          <a:solidFill>
            <a:schemeClr val="accent1"/>
          </a:solidFill>
          <a:ln w="9525" cap="flat" cmpd="sng" algn="ctr">
            <a:solidFill>
              <a:schemeClr val="bg1"/>
            </a:solidFill>
            <a:prstDash val="solid"/>
            <a:round/>
            <a:headEnd type="none" w="med" len="med"/>
            <a:tailEnd type="none" w="med" len="med"/>
          </a:ln>
          <a:effectLst>
            <a:outerShdw blurRad="76200" dir="18900000" sy="23000" kx="-1200000" algn="bl" rotWithShape="0">
              <a:prstClr val="black">
                <a:alpha val="20000"/>
              </a:prstClr>
            </a:outerShdw>
          </a:effectLst>
        </p:spPr>
        <p:txBody>
          <a:bodyPr vert="horz" wrap="square" lIns="0" tIns="0" rIns="0" bIns="0" numCol="1" anchor="ctr" anchorCtr="0" compatLnSpc="1">
            <a:prstTxWarp prst="textNoShape">
              <a:avLst/>
            </a:prstTxWarp>
          </a:bodyPr>
          <a:lstStyle/>
          <a:p>
            <a:pPr algn="ctr" defTabSz="609585"/>
            <a:r>
              <a:rPr lang="en-US" sz="1000">
                <a:solidFill>
                  <a:schemeClr val="bg1"/>
                </a:solidFill>
                <a:ea typeface="Microsoft YaHei" panose="020B0503020204020204" pitchFamily="34" charset="-122"/>
              </a:rPr>
              <a:t>10</a:t>
            </a:r>
          </a:p>
        </p:txBody>
      </p:sp>
      <p:sp>
        <p:nvSpPr>
          <p:cNvPr id="74" name="Oval 20">
            <a:extLst>
              <a:ext uri="{FF2B5EF4-FFF2-40B4-BE49-F238E27FC236}">
                <a16:creationId xmlns:a16="http://schemas.microsoft.com/office/drawing/2014/main" id="{3C676C8A-63DB-4E13-14DA-F1395F449079}"/>
              </a:ext>
            </a:extLst>
          </p:cNvPr>
          <p:cNvSpPr>
            <a:spLocks noChangeAspect="1" noChangeArrowheads="1"/>
          </p:cNvSpPr>
          <p:nvPr/>
        </p:nvSpPr>
        <p:spPr bwMode="auto">
          <a:xfrm>
            <a:off x="9529934" y="5495115"/>
            <a:ext cx="223243" cy="223243"/>
          </a:xfrm>
          <a:prstGeom prst="ellipse">
            <a:avLst/>
          </a:prstGeom>
          <a:solidFill>
            <a:schemeClr val="accent1"/>
          </a:solidFill>
          <a:ln w="9525" cap="flat" cmpd="sng" algn="ctr">
            <a:solidFill>
              <a:schemeClr val="bg1"/>
            </a:solidFill>
            <a:prstDash val="solid"/>
            <a:round/>
            <a:headEnd type="none" w="med" len="med"/>
            <a:tailEnd type="none" w="med" len="med"/>
          </a:ln>
          <a:effectLst>
            <a:outerShdw blurRad="76200" dir="18900000" sy="23000" kx="-1200000" algn="bl" rotWithShape="0">
              <a:prstClr val="black">
                <a:alpha val="20000"/>
              </a:prstClr>
            </a:outerShdw>
          </a:effectLst>
        </p:spPr>
        <p:txBody>
          <a:bodyPr vert="horz" wrap="square" lIns="0" tIns="0" rIns="0" bIns="0" numCol="1" anchor="ctr" anchorCtr="0" compatLnSpc="1">
            <a:prstTxWarp prst="textNoShape">
              <a:avLst/>
            </a:prstTxWarp>
          </a:bodyPr>
          <a:lstStyle/>
          <a:p>
            <a:pPr algn="ctr" defTabSz="609585"/>
            <a:r>
              <a:rPr lang="en-US" sz="1000">
                <a:solidFill>
                  <a:schemeClr val="bg1"/>
                </a:solidFill>
                <a:ea typeface="Microsoft YaHei" panose="020B0503020204020204" pitchFamily="34" charset="-122"/>
              </a:rPr>
              <a:t>11</a:t>
            </a:r>
          </a:p>
        </p:txBody>
      </p:sp>
      <p:sp>
        <p:nvSpPr>
          <p:cNvPr id="75" name="Content Placeholder 9">
            <a:extLst>
              <a:ext uri="{FF2B5EF4-FFF2-40B4-BE49-F238E27FC236}">
                <a16:creationId xmlns:a16="http://schemas.microsoft.com/office/drawing/2014/main" id="{908AACA2-8E2F-FAE9-6CD4-289EAEE8118F}"/>
              </a:ext>
            </a:extLst>
          </p:cNvPr>
          <p:cNvSpPr txBox="1"/>
          <p:nvPr/>
        </p:nvSpPr>
        <p:spPr>
          <a:xfrm>
            <a:off x="9752466" y="2235020"/>
            <a:ext cx="1809534" cy="3628674"/>
          </a:xfrm>
          <a:prstGeom prst="rect">
            <a:avLst/>
          </a:prstGeom>
        </p:spPr>
        <p:txBody>
          <a:bodyPr lIns="0" tIns="0" rIns="0" bIns="0">
            <a:noAutofit/>
          </a:bodyPr>
          <a:lstStyle>
            <a:lvl1pPr marL="269875" indent="-269875" algn="l" defTabSz="685800" rtl="0" eaLnBrk="1" latinLnBrk="0" hangingPunct="1">
              <a:lnSpc>
                <a:spcPct val="90000"/>
              </a:lnSpc>
              <a:spcBef>
                <a:spcPts val="750"/>
              </a:spcBef>
              <a:buClr>
                <a:schemeClr val="accent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1pPr>
            <a:lvl2pPr marL="539750" indent="-269875"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2pPr>
            <a:lvl3pPr marL="80645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3pPr>
            <a:lvl4pPr marL="1079500" indent="-27305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4pPr>
            <a:lvl5pPr marL="134620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5pPr>
            <a:lvl6pPr marL="161290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6pPr>
            <a:lvl7pPr marL="1885950" indent="-27305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7pPr>
            <a:lvl8pPr marL="215265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8pPr>
            <a:lvl9pPr marL="241935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9pPr>
          </a:lstStyle>
          <a:p>
            <a:pPr marL="108000" lvl="1" indent="0" defTabSz="914377">
              <a:lnSpc>
                <a:spcPct val="150000"/>
              </a:lnSpc>
              <a:spcBef>
                <a:spcPct val="0"/>
              </a:spcBef>
              <a:buClr>
                <a:schemeClr val="accent6"/>
              </a:buClr>
              <a:buNone/>
              <a:defRPr/>
            </a:pPr>
            <a:r>
              <a:rPr lang="zh-TW" altLang="en-US" sz="1400">
                <a:latin typeface="Trebuchet MS" panose="020B0603020202020204" pitchFamily="34" charset="0"/>
                <a:ea typeface="Microsoft YaHei" panose="020B0503020204020204" pitchFamily="34" charset="-122"/>
              </a:rPr>
              <a:t>房貸 </a:t>
            </a:r>
            <a:r>
              <a:rPr lang="en-US" altLang="zh-TW" sz="1400">
                <a:latin typeface="Trebuchet MS" panose="020B0603020202020204" pitchFamily="34" charset="0"/>
                <a:ea typeface="Microsoft YaHei" panose="020B0503020204020204" pitchFamily="34" charset="-122"/>
              </a:rPr>
              <a:t>&gt;</a:t>
            </a:r>
            <a:r>
              <a:rPr lang="zh-TW" altLang="en-US" sz="1400">
                <a:latin typeface="Trebuchet MS" panose="020B0603020202020204" pitchFamily="34" charset="0"/>
                <a:ea typeface="Microsoft YaHei" panose="020B0503020204020204" pitchFamily="34" charset="-122"/>
              </a:rPr>
              <a:t> 財管</a:t>
            </a:r>
            <a:endParaRPr lang="fi-FI" sz="1400">
              <a:latin typeface="Trebuchet MS" panose="020B0603020202020204" pitchFamily="34" charset="0"/>
              <a:ea typeface="Microsoft YaHei" panose="020B0503020204020204" pitchFamily="34" charset="-122"/>
            </a:endParaRPr>
          </a:p>
          <a:p>
            <a:pPr marL="108000" lvl="1" indent="0" defTabSz="914377">
              <a:lnSpc>
                <a:spcPct val="150000"/>
              </a:lnSpc>
              <a:spcBef>
                <a:spcPct val="0"/>
              </a:spcBef>
              <a:buClr>
                <a:schemeClr val="accent6"/>
              </a:buClr>
              <a:buNone/>
              <a:defRPr/>
            </a:pPr>
            <a:r>
              <a:rPr lang="zh-TW" altLang="en-US" sz="1400">
                <a:latin typeface="Trebuchet MS" panose="020B0603020202020204" pitchFamily="34" charset="0"/>
                <a:ea typeface="Microsoft YaHei" panose="020B0503020204020204" pitchFamily="34" charset="-122"/>
              </a:rPr>
              <a:t>日常交易 </a:t>
            </a:r>
            <a:r>
              <a:rPr lang="en-US" altLang="zh-TW" sz="1400">
                <a:latin typeface="Trebuchet MS" panose="020B0603020202020204" pitchFamily="34" charset="0"/>
                <a:ea typeface="Microsoft YaHei" panose="020B0503020204020204" pitchFamily="34" charset="-122"/>
              </a:rPr>
              <a:t>&gt;</a:t>
            </a:r>
            <a:r>
              <a:rPr lang="zh-TW" altLang="en-US" sz="1400">
                <a:latin typeface="Trebuchet MS" panose="020B0603020202020204" pitchFamily="34" charset="0"/>
                <a:ea typeface="Microsoft YaHei" panose="020B0503020204020204" pitchFamily="34" charset="-122"/>
              </a:rPr>
              <a:t> 房貸</a:t>
            </a:r>
            <a:endParaRPr lang="fi-FI" sz="1400">
              <a:latin typeface="Trebuchet MS" panose="020B0603020202020204" pitchFamily="34" charset="0"/>
              <a:ea typeface="Microsoft YaHei" panose="020B0503020204020204" pitchFamily="34" charset="-122"/>
            </a:endParaRPr>
          </a:p>
          <a:p>
            <a:pPr marL="108000" lvl="1" indent="0" defTabSz="914377">
              <a:lnSpc>
                <a:spcPct val="150000"/>
              </a:lnSpc>
              <a:spcBef>
                <a:spcPct val="0"/>
              </a:spcBef>
              <a:buClr>
                <a:schemeClr val="accent6"/>
              </a:buClr>
              <a:buNone/>
              <a:defRPr/>
            </a:pPr>
            <a:r>
              <a:rPr lang="zh-TW" altLang="en-US" sz="1400">
                <a:latin typeface="Trebuchet MS" panose="020B0603020202020204" pitchFamily="34" charset="0"/>
                <a:ea typeface="Microsoft YaHei" panose="020B0503020204020204" pitchFamily="34" charset="-122"/>
              </a:rPr>
              <a:t>儲蓄 </a:t>
            </a:r>
            <a:r>
              <a:rPr lang="en-US" altLang="zh-TW" sz="1400">
                <a:latin typeface="Trebuchet MS" panose="020B0603020202020204" pitchFamily="34" charset="0"/>
                <a:ea typeface="Microsoft YaHei" panose="020B0503020204020204" pitchFamily="34" charset="-122"/>
              </a:rPr>
              <a:t>&gt;</a:t>
            </a:r>
            <a:r>
              <a:rPr lang="zh-TW" altLang="en-US" sz="1400">
                <a:latin typeface="Trebuchet MS" panose="020B0603020202020204" pitchFamily="34" charset="0"/>
                <a:ea typeface="Microsoft YaHei" panose="020B0503020204020204" pitchFamily="34" charset="-122"/>
              </a:rPr>
              <a:t> 房貸</a:t>
            </a:r>
            <a:endParaRPr lang="fi-FI" sz="1400">
              <a:latin typeface="Trebuchet MS" panose="020B0603020202020204" pitchFamily="34" charset="0"/>
              <a:ea typeface="Microsoft YaHei" panose="020B0503020204020204" pitchFamily="34" charset="-122"/>
            </a:endParaRPr>
          </a:p>
          <a:p>
            <a:pPr marL="108000" lvl="1" indent="0" defTabSz="914377">
              <a:lnSpc>
                <a:spcPct val="150000"/>
              </a:lnSpc>
              <a:spcBef>
                <a:spcPct val="0"/>
              </a:spcBef>
              <a:buClr>
                <a:schemeClr val="accent6"/>
              </a:buClr>
              <a:buNone/>
              <a:defRPr/>
            </a:pPr>
            <a:r>
              <a:rPr lang="zh-TW" altLang="en-US" sz="1400">
                <a:latin typeface="Trebuchet MS" panose="020B0603020202020204" pitchFamily="34" charset="0"/>
                <a:ea typeface="Microsoft YaHei" panose="020B0503020204020204" pitchFamily="34" charset="-122"/>
              </a:rPr>
              <a:t>維持理財部位</a:t>
            </a:r>
            <a:endParaRPr lang="en-US" altLang="zh-TW" sz="1400">
              <a:latin typeface="Trebuchet MS" panose="020B0603020202020204" pitchFamily="34" charset="0"/>
              <a:ea typeface="Microsoft YaHei" panose="020B0503020204020204" pitchFamily="34" charset="-122"/>
            </a:endParaRPr>
          </a:p>
          <a:p>
            <a:pPr marL="108000" lvl="1" indent="0" defTabSz="914377">
              <a:lnSpc>
                <a:spcPct val="150000"/>
              </a:lnSpc>
              <a:spcBef>
                <a:spcPct val="0"/>
              </a:spcBef>
              <a:buClr>
                <a:schemeClr val="accent6"/>
              </a:buClr>
              <a:buNone/>
              <a:defRPr/>
            </a:pPr>
            <a:r>
              <a:rPr lang="zh-TW" altLang="en-US" sz="1400">
                <a:latin typeface="Trebuchet MS" panose="020B0603020202020204" pitchFamily="34" charset="0"/>
                <a:ea typeface="Microsoft YaHei" panose="020B0503020204020204" pitchFamily="34" charset="-122"/>
              </a:rPr>
              <a:t>維持信貸客戶</a:t>
            </a:r>
            <a:endParaRPr lang="fi-FI" sz="1400">
              <a:latin typeface="Trebuchet MS" panose="020B0603020202020204" pitchFamily="34" charset="0"/>
              <a:ea typeface="Microsoft YaHei" panose="020B0503020204020204" pitchFamily="34" charset="-122"/>
            </a:endParaRPr>
          </a:p>
          <a:p>
            <a:pPr marL="108000" lvl="1" indent="0" defTabSz="914377">
              <a:lnSpc>
                <a:spcPct val="150000"/>
              </a:lnSpc>
              <a:spcBef>
                <a:spcPct val="0"/>
              </a:spcBef>
              <a:buClr>
                <a:schemeClr val="accent6"/>
              </a:buClr>
              <a:buNone/>
              <a:defRPr/>
            </a:pPr>
            <a:r>
              <a:rPr lang="zh-TW" altLang="en-US" sz="1400">
                <a:latin typeface="Trebuchet MS" panose="020B0603020202020204" pitchFamily="34" charset="0"/>
                <a:ea typeface="Microsoft YaHei" panose="020B0503020204020204" pitchFamily="34" charset="-122"/>
              </a:rPr>
              <a:t>激活本行僅房貸客戶</a:t>
            </a:r>
            <a:endParaRPr lang="en-US" altLang="zh-TW" sz="1400">
              <a:latin typeface="Trebuchet MS" panose="020B0603020202020204" pitchFamily="34" charset="0"/>
              <a:ea typeface="Microsoft YaHei" panose="020B0503020204020204" pitchFamily="34" charset="-122"/>
            </a:endParaRPr>
          </a:p>
          <a:p>
            <a:pPr marL="108000" lvl="1" indent="0" defTabSz="914377">
              <a:lnSpc>
                <a:spcPct val="150000"/>
              </a:lnSpc>
              <a:spcBef>
                <a:spcPct val="0"/>
              </a:spcBef>
              <a:buClr>
                <a:schemeClr val="accent6"/>
              </a:buClr>
              <a:buNone/>
              <a:defRPr/>
            </a:pPr>
            <a:r>
              <a:rPr lang="zh-TW" altLang="en-US" sz="1400">
                <a:latin typeface="Trebuchet MS" panose="020B0603020202020204" pitchFamily="34" charset="0"/>
                <a:ea typeface="Microsoft YaHei" panose="020B0503020204020204" pitchFamily="34" charset="-122"/>
              </a:rPr>
              <a:t>激活非忠誠客戶</a:t>
            </a:r>
            <a:endParaRPr lang="en-US" altLang="zh-TW" sz="1400">
              <a:latin typeface="Trebuchet MS" panose="020B0603020202020204" pitchFamily="34" charset="0"/>
              <a:ea typeface="Microsoft YaHei" panose="020B0503020204020204" pitchFamily="34" charset="-122"/>
            </a:endParaRPr>
          </a:p>
          <a:p>
            <a:pPr marL="108000" lvl="1" indent="0" defTabSz="914377">
              <a:lnSpc>
                <a:spcPct val="150000"/>
              </a:lnSpc>
              <a:spcBef>
                <a:spcPct val="0"/>
              </a:spcBef>
              <a:buClr>
                <a:schemeClr val="accent6"/>
              </a:buClr>
              <a:buNone/>
              <a:defRPr/>
            </a:pPr>
            <a:r>
              <a:rPr lang="zh-TW" altLang="en-US" sz="1400">
                <a:latin typeface="Trebuchet MS" panose="020B0603020202020204" pitchFamily="34" charset="0"/>
                <a:ea typeface="Microsoft YaHei" panose="020B0503020204020204" pitchFamily="34" charset="-122"/>
              </a:rPr>
              <a:t>日常交易 </a:t>
            </a:r>
            <a:r>
              <a:rPr lang="en-US" altLang="zh-TW" sz="1400">
                <a:latin typeface="Trebuchet MS" panose="020B0603020202020204" pitchFamily="34" charset="0"/>
                <a:ea typeface="Microsoft YaHei" panose="020B0503020204020204" pitchFamily="34" charset="-122"/>
              </a:rPr>
              <a:t>&gt;</a:t>
            </a:r>
            <a:r>
              <a:rPr lang="zh-TW" altLang="en-US" sz="1400">
                <a:latin typeface="Trebuchet MS" panose="020B0603020202020204" pitchFamily="34" charset="0"/>
                <a:ea typeface="Microsoft YaHei" panose="020B0503020204020204" pitchFamily="34" charset="-122"/>
              </a:rPr>
              <a:t> 存款</a:t>
            </a:r>
            <a:endParaRPr lang="en-US" altLang="zh-TW" sz="1400">
              <a:latin typeface="Trebuchet MS" panose="020B0603020202020204" pitchFamily="34" charset="0"/>
              <a:ea typeface="Microsoft YaHei" panose="020B0503020204020204" pitchFamily="34" charset="-122"/>
            </a:endParaRPr>
          </a:p>
          <a:p>
            <a:pPr marL="108000" lvl="1" indent="0" defTabSz="914377">
              <a:lnSpc>
                <a:spcPct val="150000"/>
              </a:lnSpc>
              <a:spcBef>
                <a:spcPct val="0"/>
              </a:spcBef>
              <a:buClr>
                <a:schemeClr val="accent6"/>
              </a:buClr>
              <a:buNone/>
              <a:defRPr/>
            </a:pPr>
            <a:r>
              <a:rPr lang="zh-TW" altLang="en-US" sz="1400">
                <a:latin typeface="Trebuchet MS" panose="020B0603020202020204" pitchFamily="34" charset="0"/>
                <a:ea typeface="Microsoft YaHei" panose="020B0503020204020204" pitchFamily="34" charset="-122"/>
              </a:rPr>
              <a:t>保險 </a:t>
            </a:r>
            <a:r>
              <a:rPr lang="en-US" altLang="zh-TW" sz="1400">
                <a:latin typeface="Trebuchet MS" panose="020B0603020202020204" pitchFamily="34" charset="0"/>
                <a:ea typeface="Microsoft YaHei" panose="020B0503020204020204" pitchFamily="34" charset="-122"/>
              </a:rPr>
              <a:t>&gt;</a:t>
            </a:r>
            <a:r>
              <a:rPr lang="zh-TW" altLang="en-US" sz="1400">
                <a:latin typeface="Trebuchet MS" panose="020B0603020202020204" pitchFamily="34" charset="0"/>
                <a:ea typeface="Microsoft YaHei" panose="020B0503020204020204" pitchFamily="34" charset="-122"/>
              </a:rPr>
              <a:t> 房貸</a:t>
            </a:r>
            <a:endParaRPr lang="en-US" altLang="zh-TW" sz="1400">
              <a:latin typeface="Trebuchet MS" panose="020B0603020202020204" pitchFamily="34" charset="0"/>
              <a:ea typeface="Microsoft YaHei" panose="020B0503020204020204" pitchFamily="34" charset="-122"/>
            </a:endParaRPr>
          </a:p>
          <a:p>
            <a:pPr marL="108000" lvl="1" indent="0" defTabSz="914377">
              <a:lnSpc>
                <a:spcPct val="150000"/>
              </a:lnSpc>
              <a:spcBef>
                <a:spcPct val="0"/>
              </a:spcBef>
              <a:buClr>
                <a:schemeClr val="accent6"/>
              </a:buClr>
              <a:buNone/>
              <a:defRPr/>
            </a:pPr>
            <a:r>
              <a:rPr lang="zh-TW" altLang="en-US" sz="1400">
                <a:latin typeface="Trebuchet MS" panose="020B0603020202020204" pitchFamily="34" charset="0"/>
                <a:ea typeface="Microsoft YaHei" panose="020B0503020204020204" pitchFamily="34" charset="-122"/>
              </a:rPr>
              <a:t>新房貸客戶</a:t>
            </a:r>
            <a:endParaRPr lang="en-US" altLang="zh-TW" sz="1400">
              <a:latin typeface="Trebuchet MS" panose="020B0603020202020204" pitchFamily="34" charset="0"/>
              <a:ea typeface="Microsoft YaHei" panose="020B0503020204020204" pitchFamily="34" charset="-122"/>
            </a:endParaRPr>
          </a:p>
          <a:p>
            <a:pPr marL="108000" lvl="1" indent="0" defTabSz="914377">
              <a:lnSpc>
                <a:spcPct val="150000"/>
              </a:lnSpc>
              <a:spcBef>
                <a:spcPct val="0"/>
              </a:spcBef>
              <a:buClr>
                <a:schemeClr val="accent6"/>
              </a:buClr>
              <a:buNone/>
              <a:defRPr/>
            </a:pPr>
            <a:r>
              <a:rPr lang="zh-TW" altLang="en-US" sz="1400">
                <a:latin typeface="Trebuchet MS" panose="020B0603020202020204" pitchFamily="34" charset="0"/>
                <a:ea typeface="Microsoft YaHei" panose="020B0503020204020204" pitchFamily="34" charset="-122"/>
              </a:rPr>
              <a:t>新理財客戶</a:t>
            </a:r>
            <a:endParaRPr lang="fi-FI" sz="1400">
              <a:latin typeface="Trebuchet MS" panose="020B0603020202020204" pitchFamily="34" charset="0"/>
              <a:ea typeface="Microsoft YaHei" panose="020B0503020204020204" pitchFamily="34" charset="-122"/>
            </a:endParaRPr>
          </a:p>
        </p:txBody>
      </p:sp>
      <p:sp>
        <p:nvSpPr>
          <p:cNvPr id="78" name="Rectangle 77">
            <a:extLst>
              <a:ext uri="{FF2B5EF4-FFF2-40B4-BE49-F238E27FC236}">
                <a16:creationId xmlns:a16="http://schemas.microsoft.com/office/drawing/2014/main" id="{F8752895-5F94-D8D1-A588-8254444B5DB5}"/>
              </a:ext>
            </a:extLst>
          </p:cNvPr>
          <p:cNvSpPr/>
          <p:nvPr/>
        </p:nvSpPr>
        <p:spPr>
          <a:xfrm>
            <a:off x="7848277" y="5543442"/>
            <a:ext cx="1228369" cy="579686"/>
          </a:xfrm>
          <a:prstGeom prst="rect">
            <a:avLst/>
          </a:prstGeom>
          <a:solidFill>
            <a:srgbClr val="FFFFFF"/>
          </a:solidFill>
          <a:ln w="952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cxnSp>
        <p:nvCxnSpPr>
          <p:cNvPr id="79" name="Straight Arrow Connector 78">
            <a:extLst>
              <a:ext uri="{FF2B5EF4-FFF2-40B4-BE49-F238E27FC236}">
                <a16:creationId xmlns:a16="http://schemas.microsoft.com/office/drawing/2014/main" id="{BD543A1D-417B-EA8E-DAAD-9EF7977063B4}"/>
              </a:ext>
            </a:extLst>
          </p:cNvPr>
          <p:cNvCxnSpPr/>
          <p:nvPr/>
        </p:nvCxnSpPr>
        <p:spPr>
          <a:xfrm>
            <a:off x="7904990" y="5650213"/>
            <a:ext cx="234814" cy="0"/>
          </a:xfrm>
          <a:prstGeom prst="straightConnector1">
            <a:avLst/>
          </a:prstGeom>
          <a:ln w="12700" cap="flat" cmpd="sng" algn="ctr">
            <a:solidFill>
              <a:srgbClr val="9A9A9A"/>
            </a:solidFill>
            <a:prstDash val="solid"/>
            <a:round/>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0" name="Straight Arrow Connector 79">
            <a:extLst>
              <a:ext uri="{FF2B5EF4-FFF2-40B4-BE49-F238E27FC236}">
                <a16:creationId xmlns:a16="http://schemas.microsoft.com/office/drawing/2014/main" id="{C4C77A6A-B436-9B06-2838-5CD9A6B8B351}"/>
              </a:ext>
            </a:extLst>
          </p:cNvPr>
          <p:cNvCxnSpPr/>
          <p:nvPr/>
        </p:nvCxnSpPr>
        <p:spPr>
          <a:xfrm>
            <a:off x="7904990" y="5821169"/>
            <a:ext cx="234814" cy="0"/>
          </a:xfrm>
          <a:prstGeom prst="straightConnector1">
            <a:avLst/>
          </a:prstGeom>
          <a:ln w="12700" cap="flat" cmpd="sng" algn="ctr">
            <a:solidFill>
              <a:srgbClr val="29BA74"/>
            </a:solidFill>
            <a:prstDash val="solid"/>
            <a:round/>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1" name="Straight Arrow Connector 80">
            <a:extLst>
              <a:ext uri="{FF2B5EF4-FFF2-40B4-BE49-F238E27FC236}">
                <a16:creationId xmlns:a16="http://schemas.microsoft.com/office/drawing/2014/main" id="{A79590E7-39D3-7703-EB2E-E4CE9567BC93}"/>
              </a:ext>
            </a:extLst>
          </p:cNvPr>
          <p:cNvCxnSpPr/>
          <p:nvPr/>
        </p:nvCxnSpPr>
        <p:spPr>
          <a:xfrm>
            <a:off x="7904990" y="5992126"/>
            <a:ext cx="234814" cy="0"/>
          </a:xfrm>
          <a:prstGeom prst="straightConnector1">
            <a:avLst/>
          </a:prstGeom>
          <a:ln w="12700" cap="flat" cmpd="sng" algn="ctr">
            <a:solidFill>
              <a:schemeClr val="accent1"/>
            </a:solidFill>
            <a:prstDash val="solid"/>
            <a:roun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2" name="ee4pFootnotes">
            <a:extLst>
              <a:ext uri="{FF2B5EF4-FFF2-40B4-BE49-F238E27FC236}">
                <a16:creationId xmlns:a16="http://schemas.microsoft.com/office/drawing/2014/main" id="{7A64A3EB-5292-20B7-F359-BB6C7E0EDE1D}"/>
              </a:ext>
            </a:extLst>
          </p:cNvPr>
          <p:cNvSpPr>
            <a:spLocks noChangeArrowheads="1"/>
          </p:cNvSpPr>
          <p:nvPr/>
        </p:nvSpPr>
        <p:spPr bwMode="auto">
          <a:xfrm>
            <a:off x="630000" y="6421441"/>
            <a:ext cx="9030914" cy="138499"/>
          </a:xfrm>
          <a:prstGeom prst="rect">
            <a:avLst/>
          </a:prstGeom>
          <a:noFill/>
          <a:ln w="9525" algn="ctr">
            <a:noFill/>
            <a:miter lim="800000"/>
            <a:headEnd type="none" w="lg" len="lg"/>
            <a:tailEnd type="none" w="lg" len="lg"/>
          </a:ln>
        </p:spPr>
        <p:txBody>
          <a:bodyPr vert="horz" wrap="square" lIns="0" tIns="0" rIns="0" bIns="0" anchor="b" anchorCtr="0">
            <a:spAutoFit/>
          </a:bodyPr>
          <a:lstStyle/>
          <a:p>
            <a:pPr defTabSz="609585">
              <a:lnSpc>
                <a:spcPct val="90000"/>
              </a:lnSpc>
              <a:defRPr/>
            </a:pPr>
            <a:r>
              <a:rPr lang="zh-TW" altLang="en-US" sz="1000">
                <a:solidFill>
                  <a:schemeClr val="bg1">
                    <a:lumMod val="50000"/>
                  </a:schemeClr>
                </a:solidFill>
                <a:latin typeface="Trebuchet MS" panose="020B0603020202020204" pitchFamily="34" charset="0"/>
                <a:ea typeface="Microsoft YaHei" panose="020B0503020204020204" pitchFamily="34" charset="-122"/>
                <a:sym typeface="+mn-lt"/>
              </a:rPr>
              <a:t>資料來源</a:t>
            </a:r>
            <a:r>
              <a:rPr lang="en-US" altLang="zh-TW" sz="1000">
                <a:solidFill>
                  <a:schemeClr val="bg1">
                    <a:lumMod val="50000"/>
                  </a:schemeClr>
                </a:solidFill>
                <a:latin typeface="Trebuchet MS" panose="020B0603020202020204" pitchFamily="34" charset="0"/>
                <a:ea typeface="Microsoft YaHei" panose="020B0503020204020204" pitchFamily="34" charset="-122"/>
                <a:sym typeface="+mn-lt"/>
              </a:rPr>
              <a:t>:</a:t>
            </a:r>
            <a:r>
              <a:rPr lang="zh-TW" altLang="en-US" sz="1000">
                <a:solidFill>
                  <a:schemeClr val="bg1">
                    <a:lumMod val="50000"/>
                  </a:schemeClr>
                </a:solidFill>
                <a:latin typeface="Trebuchet MS" panose="020B0603020202020204" pitchFamily="34" charset="0"/>
                <a:ea typeface="Microsoft YaHei" panose="020B0503020204020204" pitchFamily="34" charset="-122"/>
                <a:sym typeface="+mn-lt"/>
              </a:rPr>
              <a:t> </a:t>
            </a:r>
            <a:r>
              <a:rPr lang="en-US" altLang="zh-TW" sz="1000">
                <a:solidFill>
                  <a:schemeClr val="bg1">
                    <a:lumMod val="50000"/>
                  </a:schemeClr>
                </a:solidFill>
                <a:latin typeface="Trebuchet MS" panose="020B0603020202020204" pitchFamily="34" charset="0"/>
                <a:ea typeface="Microsoft YaHei" panose="020B0503020204020204" pitchFamily="34" charset="-122"/>
                <a:sym typeface="+mn-lt"/>
              </a:rPr>
              <a:t>BCG</a:t>
            </a:r>
            <a:r>
              <a:rPr lang="zh-TW" altLang="en-US" sz="1000">
                <a:solidFill>
                  <a:schemeClr val="bg1">
                    <a:lumMod val="50000"/>
                  </a:schemeClr>
                </a:solidFill>
                <a:latin typeface="Trebuchet MS" panose="020B0603020202020204" pitchFamily="34" charset="0"/>
                <a:ea typeface="Microsoft YaHei" panose="020B0503020204020204" pitchFamily="34" charset="-122"/>
                <a:sym typeface="+mn-lt"/>
              </a:rPr>
              <a:t>過去專案經驗</a:t>
            </a:r>
            <a:endParaRPr lang="en-US" sz="1000">
              <a:solidFill>
                <a:schemeClr val="bg1">
                  <a:lumMod val="50000"/>
                </a:schemeClr>
              </a:solidFill>
              <a:latin typeface="Trebuchet MS" panose="020B0603020202020204" pitchFamily="34" charset="0"/>
              <a:ea typeface="Microsoft YaHei" panose="020B0503020204020204" pitchFamily="34" charset="-122"/>
              <a:sym typeface="+mn-lt"/>
            </a:endParaRPr>
          </a:p>
        </p:txBody>
      </p:sp>
      <p:sp>
        <p:nvSpPr>
          <p:cNvPr id="83" name="ee4pFootnotes">
            <a:extLst>
              <a:ext uri="{FF2B5EF4-FFF2-40B4-BE49-F238E27FC236}">
                <a16:creationId xmlns:a16="http://schemas.microsoft.com/office/drawing/2014/main" id="{D316A529-29C5-4BD8-48F7-649096E503AD}"/>
              </a:ext>
            </a:extLst>
          </p:cNvPr>
          <p:cNvSpPr>
            <a:spLocks noChangeArrowheads="1"/>
          </p:cNvSpPr>
          <p:nvPr/>
        </p:nvSpPr>
        <p:spPr bwMode="auto">
          <a:xfrm>
            <a:off x="8190190" y="5929517"/>
            <a:ext cx="1003333" cy="147797"/>
          </a:xfrm>
          <a:prstGeom prst="rect">
            <a:avLst/>
          </a:prstGeom>
          <a:noFill/>
          <a:ln w="9525" algn="ctr">
            <a:noFill/>
            <a:miter lim="800000"/>
            <a:headEnd type="none" w="lg" len="lg"/>
            <a:tailEnd type="none" w="lg" len="lg"/>
          </a:ln>
        </p:spPr>
        <p:txBody>
          <a:bodyPr vert="horz" wrap="square" lIns="0" tIns="0" rIns="0" bIns="0" anchor="b" anchorCtr="0">
            <a:spAutoFit/>
          </a:bodyPr>
          <a:lstStyle/>
          <a:p>
            <a:pPr defTabSz="609585">
              <a:lnSpc>
                <a:spcPct val="90000"/>
              </a:lnSpc>
              <a:defRPr/>
            </a:pPr>
            <a:r>
              <a:rPr lang="zh-TW" altLang="en-US" sz="1067">
                <a:solidFill>
                  <a:srgbClr val="FFFFFF">
                    <a:lumMod val="50000"/>
                  </a:srgbClr>
                </a:solidFill>
                <a:latin typeface="OP Chevin Pro Light"/>
                <a:ea typeface="Microsoft YaHei" panose="020B0503020204020204" pitchFamily="34" charset="-122"/>
                <a:sym typeface="+mn-lt"/>
              </a:rPr>
              <a:t>全新客戶</a:t>
            </a:r>
            <a:endParaRPr lang="en-US" sz="1067">
              <a:solidFill>
                <a:srgbClr val="FFFFFF">
                  <a:lumMod val="50000"/>
                </a:srgbClr>
              </a:solidFill>
              <a:latin typeface="OP Chevin Pro Light"/>
              <a:ea typeface="Microsoft YaHei" panose="020B0503020204020204" pitchFamily="34" charset="-122"/>
              <a:sym typeface="+mn-lt"/>
            </a:endParaRPr>
          </a:p>
        </p:txBody>
      </p:sp>
      <p:sp>
        <p:nvSpPr>
          <p:cNvPr id="84" name="ee4pFootnotes">
            <a:extLst>
              <a:ext uri="{FF2B5EF4-FFF2-40B4-BE49-F238E27FC236}">
                <a16:creationId xmlns:a16="http://schemas.microsoft.com/office/drawing/2014/main" id="{239F0297-BF70-EA09-1FBA-35439BEF8CDE}"/>
              </a:ext>
            </a:extLst>
          </p:cNvPr>
          <p:cNvSpPr>
            <a:spLocks noChangeArrowheads="1"/>
          </p:cNvSpPr>
          <p:nvPr/>
        </p:nvSpPr>
        <p:spPr bwMode="auto">
          <a:xfrm>
            <a:off x="8190190" y="5758562"/>
            <a:ext cx="1003333" cy="147797"/>
          </a:xfrm>
          <a:prstGeom prst="rect">
            <a:avLst/>
          </a:prstGeom>
          <a:noFill/>
          <a:ln w="9525" algn="ctr">
            <a:noFill/>
            <a:miter lim="800000"/>
            <a:headEnd type="none" w="lg" len="lg"/>
            <a:tailEnd type="none" w="lg" len="lg"/>
          </a:ln>
        </p:spPr>
        <p:txBody>
          <a:bodyPr vert="horz" wrap="square" lIns="0" tIns="0" rIns="0" bIns="0" anchor="b" anchorCtr="0">
            <a:spAutoFit/>
          </a:bodyPr>
          <a:lstStyle/>
          <a:p>
            <a:pPr defTabSz="609585">
              <a:lnSpc>
                <a:spcPct val="90000"/>
              </a:lnSpc>
              <a:defRPr/>
            </a:pPr>
            <a:r>
              <a:rPr lang="zh-TW" altLang="en-US" sz="1067">
                <a:solidFill>
                  <a:srgbClr val="FFFFFF">
                    <a:lumMod val="50000"/>
                  </a:srgbClr>
                </a:solidFill>
                <a:latin typeface="OP Chevin Pro Light"/>
                <a:ea typeface="Microsoft YaHei" panose="020B0503020204020204" pitchFamily="34" charset="-122"/>
                <a:sym typeface="+mn-lt"/>
              </a:rPr>
              <a:t>既有保險客戶</a:t>
            </a:r>
            <a:endParaRPr lang="en-US" sz="1067">
              <a:solidFill>
                <a:srgbClr val="FFFFFF">
                  <a:lumMod val="50000"/>
                </a:srgbClr>
              </a:solidFill>
              <a:latin typeface="OP Chevin Pro Light"/>
              <a:ea typeface="Microsoft YaHei" panose="020B0503020204020204" pitchFamily="34" charset="-122"/>
              <a:sym typeface="+mn-lt"/>
            </a:endParaRPr>
          </a:p>
        </p:txBody>
      </p:sp>
      <p:sp>
        <p:nvSpPr>
          <p:cNvPr id="17" name="Arrow: Right 16">
            <a:extLst>
              <a:ext uri="{FF2B5EF4-FFF2-40B4-BE49-F238E27FC236}">
                <a16:creationId xmlns:a16="http://schemas.microsoft.com/office/drawing/2014/main" id="{915C6B05-ECAF-1391-4B1B-5C4EEAC66697}"/>
              </a:ext>
            </a:extLst>
          </p:cNvPr>
          <p:cNvSpPr/>
          <p:nvPr/>
        </p:nvSpPr>
        <p:spPr>
          <a:xfrm>
            <a:off x="4076481" y="1892704"/>
            <a:ext cx="5117042" cy="196521"/>
          </a:xfrm>
          <a:prstGeom prst="rightArrow">
            <a:avLst>
              <a:gd name="adj1" fmla="val 50000"/>
              <a:gd name="adj2" fmla="val 119794"/>
            </a:avLst>
          </a:prstGeom>
          <a:solidFill>
            <a:schemeClr val="tx1">
              <a:lumMod val="40000"/>
              <a:lumOff val="6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21" name="TextBox 20">
            <a:extLst>
              <a:ext uri="{FF2B5EF4-FFF2-40B4-BE49-F238E27FC236}">
                <a16:creationId xmlns:a16="http://schemas.microsoft.com/office/drawing/2014/main" id="{C241759E-FA81-A9C0-74FA-BE8F3CE309AF}"/>
              </a:ext>
            </a:extLst>
          </p:cNvPr>
          <p:cNvSpPr txBox="1"/>
          <p:nvPr/>
        </p:nvSpPr>
        <p:spPr>
          <a:xfrm>
            <a:off x="6216950" y="1676335"/>
            <a:ext cx="1077219" cy="215444"/>
          </a:xfrm>
          <a:prstGeom prst="rect">
            <a:avLst/>
          </a:prstGeom>
          <a:noFill/>
          <a:extLst>
            <a:ext uri="{909E8E84-426E-40DD-AFC4-6F175D3DCCD1}">
              <a14:hiddenFill xmlns:a14="http://schemas.microsoft.com/office/drawing/2010/main">
                <a:solidFill>
                  <a:srgbClr val="FF6A10"/>
                </a:solidFill>
              </a14:hiddenFill>
            </a:ext>
          </a:extLst>
        </p:spPr>
        <p:txBody>
          <a:bodyPr wrap="none" lIns="0" tIns="0" rIns="0" bIns="0" rtlCol="0" anchor="ctr">
            <a:spAutoFit/>
          </a:bodyPr>
          <a:lstStyle/>
          <a:p>
            <a:pPr algn="ctr" defTabSz="609585">
              <a:buFont typeface="Trebuchet MS" panose="020B0603020202020204" pitchFamily="34" charset="0"/>
              <a:buChar char="​"/>
              <a:defRPr/>
            </a:pPr>
            <a:r>
              <a:rPr lang="zh-TW" altLang="en-US" sz="1400">
                <a:latin typeface="Trebuchet MS" panose="020B0603020202020204" pitchFamily="34" charset="0"/>
                <a:ea typeface="Microsoft YaHei" panose="020B0503020204020204" pitchFamily="34" charset="-122"/>
              </a:rPr>
              <a:t>客戶關係廣度</a:t>
            </a:r>
            <a:endParaRPr lang="fi-FI" sz="1400">
              <a:latin typeface="Trebuchet MS" panose="020B0603020202020204" pitchFamily="34" charset="0"/>
              <a:ea typeface="Microsoft YaHei" panose="020B0503020204020204" pitchFamily="34" charset="-122"/>
            </a:endParaRPr>
          </a:p>
        </p:txBody>
      </p:sp>
      <p:sp>
        <p:nvSpPr>
          <p:cNvPr id="107" name="ee4pFootnotes">
            <a:extLst>
              <a:ext uri="{FF2B5EF4-FFF2-40B4-BE49-F238E27FC236}">
                <a16:creationId xmlns:a16="http://schemas.microsoft.com/office/drawing/2014/main" id="{8291250B-9BEC-C126-A239-32D0F9F1F673}"/>
              </a:ext>
            </a:extLst>
          </p:cNvPr>
          <p:cNvSpPr>
            <a:spLocks noChangeArrowheads="1"/>
          </p:cNvSpPr>
          <p:nvPr/>
        </p:nvSpPr>
        <p:spPr bwMode="auto">
          <a:xfrm>
            <a:off x="8190190" y="5577645"/>
            <a:ext cx="1003333" cy="147797"/>
          </a:xfrm>
          <a:prstGeom prst="rect">
            <a:avLst/>
          </a:prstGeom>
          <a:noFill/>
          <a:ln w="9525" algn="ctr">
            <a:noFill/>
            <a:miter lim="800000"/>
            <a:headEnd type="none" w="lg" len="lg"/>
            <a:tailEnd type="none" w="lg" len="lg"/>
          </a:ln>
        </p:spPr>
        <p:txBody>
          <a:bodyPr vert="horz" wrap="square" lIns="0" tIns="0" rIns="0" bIns="0" anchor="b" anchorCtr="0">
            <a:spAutoFit/>
          </a:bodyPr>
          <a:lstStyle/>
          <a:p>
            <a:pPr defTabSz="609585">
              <a:lnSpc>
                <a:spcPct val="90000"/>
              </a:lnSpc>
              <a:defRPr/>
            </a:pPr>
            <a:r>
              <a:rPr lang="zh-TW" altLang="en-US" sz="1067">
                <a:solidFill>
                  <a:srgbClr val="FFFFFF">
                    <a:lumMod val="50000"/>
                  </a:srgbClr>
                </a:solidFill>
                <a:latin typeface="OP Chevin Pro Light"/>
                <a:ea typeface="Microsoft YaHei" panose="020B0503020204020204" pitchFamily="34" charset="-122"/>
                <a:sym typeface="+mn-lt"/>
              </a:rPr>
              <a:t>既有銀行客戶</a:t>
            </a:r>
            <a:endParaRPr lang="en-US" sz="1067">
              <a:solidFill>
                <a:srgbClr val="FFFFFF">
                  <a:lumMod val="50000"/>
                </a:srgbClr>
              </a:solidFill>
              <a:latin typeface="OP Chevin Pro Light"/>
              <a:ea typeface="Microsoft YaHei" panose="020B0503020204020204" pitchFamily="34" charset="-122"/>
              <a:sym typeface="+mn-lt"/>
            </a:endParaRPr>
          </a:p>
        </p:txBody>
      </p:sp>
      <p:sp>
        <p:nvSpPr>
          <p:cNvPr id="19" name="ee4pHeader1">
            <a:extLst>
              <a:ext uri="{FF2B5EF4-FFF2-40B4-BE49-F238E27FC236}">
                <a16:creationId xmlns:a16="http://schemas.microsoft.com/office/drawing/2014/main" id="{583E0771-A90C-402F-5DC6-2D38072031E2}"/>
              </a:ext>
            </a:extLst>
          </p:cNvPr>
          <p:cNvSpPr txBox="1"/>
          <p:nvPr/>
        </p:nvSpPr>
        <p:spPr>
          <a:xfrm>
            <a:off x="466919" y="69115"/>
            <a:ext cx="1348981" cy="469263"/>
          </a:xfrm>
          <a:prstGeom prst="rect">
            <a:avLst/>
          </a:prstGeom>
          <a:noFill/>
          <a:ln cap="rnd">
            <a:noFill/>
          </a:ln>
        </p:spPr>
        <p:txBody>
          <a:bodyPr vert="horz" wrap="square" lIns="0" tIns="0" rIns="0" bIns="0" rtlCol="0" anchor="ctr" anchorCtr="0">
            <a:noAutofit/>
          </a:bodyPr>
          <a:lstStyle/>
          <a:p>
            <a:pPr>
              <a:buSzPct val="100000"/>
              <a:buFont typeface="Trebuchet MS" panose="020B0603020202020204" pitchFamily="34" charset="0"/>
              <a:buChar char="​"/>
            </a:pPr>
            <a:r>
              <a:rPr lang="zh-TW" altLang="en-US" sz="1400" b="1">
                <a:solidFill>
                  <a:srgbClr val="29BA74"/>
                </a:solidFill>
                <a:ea typeface="Microsoft YaHei" panose="020B0503020204020204" pitchFamily="34" charset="-122"/>
                <a:sym typeface="+mn-lt"/>
              </a:rPr>
              <a:t>數據基礎</a:t>
            </a:r>
            <a:endParaRPr lang="en-US" sz="1400" b="1">
              <a:solidFill>
                <a:srgbClr val="29BA74"/>
              </a:solidFill>
              <a:ea typeface="Microsoft YaHei" panose="020B0503020204020204" pitchFamily="34" charset="-122"/>
              <a:sym typeface="+mn-lt"/>
            </a:endParaRPr>
          </a:p>
        </p:txBody>
      </p:sp>
      <p:sp>
        <p:nvSpPr>
          <p:cNvPr id="20" name="Oval 20">
            <a:extLst>
              <a:ext uri="{FF2B5EF4-FFF2-40B4-BE49-F238E27FC236}">
                <a16:creationId xmlns:a16="http://schemas.microsoft.com/office/drawing/2014/main" id="{35F78F28-5282-5F67-8E24-9B51D25765E6}"/>
              </a:ext>
            </a:extLst>
          </p:cNvPr>
          <p:cNvSpPr>
            <a:spLocks noChangeAspect="1" noChangeArrowheads="1"/>
          </p:cNvSpPr>
          <p:nvPr/>
        </p:nvSpPr>
        <p:spPr bwMode="auto">
          <a:xfrm>
            <a:off x="141430" y="195189"/>
            <a:ext cx="238259" cy="238259"/>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altLang="zh-TW" sz="1200">
                <a:solidFill>
                  <a:schemeClr val="bg1"/>
                </a:solidFill>
              </a:rPr>
              <a:t>A</a:t>
            </a:r>
            <a:endParaRPr lang="en-US" sz="1200">
              <a:solidFill>
                <a:schemeClr val="bg1"/>
              </a:solidFill>
            </a:endParaRPr>
          </a:p>
        </p:txBody>
      </p:sp>
    </p:spTree>
    <p:extLst>
      <p:ext uri="{BB962C8B-B14F-4D97-AF65-F5344CB8AC3E}">
        <p14:creationId xmlns:p14="http://schemas.microsoft.com/office/powerpoint/2010/main" val="352733284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Object 14" hidden="1"/>
          <p:cNvGraphicFramePr>
            <a:graphicFrameLocks noChangeAspect="1"/>
          </p:cNvGraphicFramePr>
          <p:nvPr>
            <p:custDataLst>
              <p:tags r:id="rId1"/>
            </p:custDataLst>
            <p:extLst>
              <p:ext uri="{D42A27DB-BD31-4B8C-83A1-F6EECF244321}">
                <p14:modId xmlns:p14="http://schemas.microsoft.com/office/powerpoint/2010/main" val="994405823"/>
              </p:ext>
            </p:extLst>
          </p:nvPr>
        </p:nvGraphicFramePr>
        <p:xfrm>
          <a:off x="1589" y="1589"/>
          <a:ext cx="1587" cy="1587"/>
        </p:xfrm>
        <a:graphic>
          <a:graphicData uri="http://schemas.openxmlformats.org/presentationml/2006/ole">
            <mc:AlternateContent xmlns:mc="http://schemas.openxmlformats.org/markup-compatibility/2006">
              <mc:Choice xmlns:v="urn:schemas-microsoft-com:vml" Requires="v">
                <p:oleObj name="think-cell Slide" r:id="rId19" imgW="270" imgH="270" progId="TCLayout.ActiveDocument.1">
                  <p:embed/>
                </p:oleObj>
              </mc:Choice>
              <mc:Fallback>
                <p:oleObj name="think-cell Slide" r:id="rId19" imgW="270" imgH="270" progId="TCLayout.ActiveDocument.1">
                  <p:embed/>
                  <p:pic>
                    <p:nvPicPr>
                      <p:cNvPr id="15" name="Object 14" hidden="1"/>
                      <p:cNvPicPr/>
                      <p:nvPr/>
                    </p:nvPicPr>
                    <p:blipFill>
                      <a:blip r:embed="rId20"/>
                      <a:stretch>
                        <a:fillRect/>
                      </a:stretch>
                    </p:blipFill>
                    <p:spPr>
                      <a:xfrm>
                        <a:off x="1589" y="1589"/>
                        <a:ext cx="1587" cy="1587"/>
                      </a:xfrm>
                      <a:prstGeom prst="rect">
                        <a:avLst/>
                      </a:prstGeom>
                    </p:spPr>
                  </p:pic>
                </p:oleObj>
              </mc:Fallback>
            </mc:AlternateContent>
          </a:graphicData>
        </a:graphic>
      </p:graphicFrame>
      <p:sp>
        <p:nvSpPr>
          <p:cNvPr id="28" name="Rectangle 27">
            <a:extLst>
              <a:ext uri="{FF2B5EF4-FFF2-40B4-BE49-F238E27FC236}">
                <a16:creationId xmlns:a16="http://schemas.microsoft.com/office/drawing/2014/main" id="{9AF8B782-008A-40CE-BB23-796A3E1F45A3}"/>
              </a:ext>
            </a:extLst>
          </p:cNvPr>
          <p:cNvSpPr/>
          <p:nvPr/>
        </p:nvSpPr>
        <p:spPr>
          <a:xfrm>
            <a:off x="8472775" y="2925762"/>
            <a:ext cx="2824163" cy="3054350"/>
          </a:xfrm>
          <a:prstGeom prst="rect">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FFFFFF"/>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defTabSz="914377"/>
            <a:r>
              <a:rPr lang="zh-TW" altLang="en-US" sz="1200">
                <a:solidFill>
                  <a:srgbClr val="6E6E6E"/>
                </a:solidFill>
              </a:rPr>
              <a:t>測試期間</a:t>
            </a:r>
            <a:endParaRPr lang="en-US" sz="1200">
              <a:solidFill>
                <a:srgbClr val="6E6E6E"/>
              </a:solidFill>
            </a:endParaRPr>
          </a:p>
        </p:txBody>
      </p:sp>
      <p:cxnSp>
        <p:nvCxnSpPr>
          <p:cNvPr id="40" name="Straight Connector 39">
            <a:extLst>
              <a:ext uri="{FF2B5EF4-FFF2-40B4-BE49-F238E27FC236}">
                <a16:creationId xmlns:a16="http://schemas.microsoft.com/office/drawing/2014/main" id="{3B78E7BB-B631-44EC-BA92-6C2169AEAF47}"/>
              </a:ext>
            </a:extLst>
          </p:cNvPr>
          <p:cNvCxnSpPr>
            <a:cxnSpLocks/>
          </p:cNvCxnSpPr>
          <p:nvPr/>
        </p:nvCxnSpPr>
        <p:spPr>
          <a:xfrm>
            <a:off x="8477538" y="3019425"/>
            <a:ext cx="0" cy="2962275"/>
          </a:xfrm>
          <a:prstGeom prst="line">
            <a:avLst/>
          </a:prstGeom>
          <a:ln w="9525" cap="flat" cmpd="sng" algn="ctr">
            <a:solidFill>
              <a:schemeClr val="bg2"/>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 name="Rectangle 4" hidden="1">
            <a:extLst>
              <a:ext uri="{FF2B5EF4-FFF2-40B4-BE49-F238E27FC236}">
                <a16:creationId xmlns:a16="http://schemas.microsoft.com/office/drawing/2014/main" id="{B985BA38-C927-409E-9DFD-55AEF960ACD2}"/>
              </a:ext>
            </a:extLst>
          </p:cNvPr>
          <p:cNvSpPr/>
          <p:nvPr>
            <p:custDataLst>
              <p:tags r:id="rId2"/>
            </p:custDataLst>
          </p:nvPr>
        </p:nvSpPr>
        <p:spPr>
          <a:xfrm>
            <a:off x="2" y="2"/>
            <a:ext cx="158751" cy="158751"/>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endParaRPr lang="en-US" sz="900">
              <a:solidFill>
                <a:srgbClr val="FFFFFF"/>
              </a:solidFill>
              <a:latin typeface="Trebuchet MS" panose="020B0603020202020204" pitchFamily="34" charset="0"/>
              <a:sym typeface="Trebuchet MS" panose="020B0603020202020204" pitchFamily="34" charset="0"/>
            </a:endParaRPr>
          </a:p>
        </p:txBody>
      </p:sp>
      <p:sp>
        <p:nvSpPr>
          <p:cNvPr id="4" name="Rectangle 3" hidden="1">
            <a:extLst>
              <a:ext uri="{FF2B5EF4-FFF2-40B4-BE49-F238E27FC236}">
                <a16:creationId xmlns:a16="http://schemas.microsoft.com/office/drawing/2014/main" id="{24250499-F407-4349-89B7-6C51155F9D47}"/>
              </a:ext>
            </a:extLst>
          </p:cNvPr>
          <p:cNvSpPr/>
          <p:nvPr>
            <p:custDataLst>
              <p:tags r:id="rId3"/>
            </p:custDataLst>
          </p:nvPr>
        </p:nvSpPr>
        <p:spPr>
          <a:xfrm>
            <a:off x="2" y="2"/>
            <a:ext cx="158751" cy="158751"/>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endParaRPr lang="en-US" sz="2400">
              <a:solidFill>
                <a:srgbClr val="FFFFFF"/>
              </a:solidFill>
              <a:latin typeface="Trebuchet MS" panose="020B0603020202020204" pitchFamily="34" charset="0"/>
              <a:ea typeface="+mj-ea"/>
              <a:cs typeface="+mj-cs"/>
              <a:sym typeface="Trebuchet MS" panose="020B0603020202020204" pitchFamily="34" charset="0"/>
            </a:endParaRPr>
          </a:p>
        </p:txBody>
      </p:sp>
      <p:sp>
        <p:nvSpPr>
          <p:cNvPr id="14" name="Rectangle 13" hidden="1"/>
          <p:cNvSpPr/>
          <p:nvPr>
            <p:custDataLst>
              <p:tags r:id="rId4"/>
            </p:custDataLst>
          </p:nvPr>
        </p:nvSpPr>
        <p:spPr bwMode="gray">
          <a:xfrm>
            <a:off x="2" y="2"/>
            <a:ext cx="158751" cy="158751"/>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spcBef>
                <a:spcPct val="0"/>
              </a:spcBef>
              <a:spcAft>
                <a:spcPct val="0"/>
              </a:spcAft>
            </a:pPr>
            <a:endParaRPr lang="en-GB" sz="1200">
              <a:solidFill>
                <a:srgbClr val="FFFFFF"/>
              </a:solidFill>
              <a:latin typeface="Trebuchet MS" panose="020B0603020202020204" pitchFamily="34" charset="0"/>
              <a:sym typeface="Trebuchet MS" panose="020B0603020202020204" pitchFamily="34" charset="0"/>
            </a:endParaRPr>
          </a:p>
        </p:txBody>
      </p:sp>
      <p:graphicFrame>
        <p:nvGraphicFramePr>
          <p:cNvPr id="18" name="Chart 17">
            <a:extLst>
              <a:ext uri="{FF2B5EF4-FFF2-40B4-BE49-F238E27FC236}">
                <a16:creationId xmlns:a16="http://schemas.microsoft.com/office/drawing/2014/main" id="{7B9D3099-20A4-6086-2977-AAADA32712A5}"/>
              </a:ext>
            </a:extLst>
          </p:cNvPr>
          <p:cNvGraphicFramePr/>
          <p:nvPr>
            <p:custDataLst>
              <p:tags r:id="rId5"/>
            </p:custDataLst>
            <p:extLst>
              <p:ext uri="{D42A27DB-BD31-4B8C-83A1-F6EECF244321}">
                <p14:modId xmlns:p14="http://schemas.microsoft.com/office/powerpoint/2010/main" val="878043541"/>
              </p:ext>
            </p:extLst>
          </p:nvPr>
        </p:nvGraphicFramePr>
        <p:xfrm>
          <a:off x="4135438" y="3146425"/>
          <a:ext cx="7369175" cy="3157538"/>
        </p:xfrm>
        <a:graphic>
          <a:graphicData uri="http://schemas.openxmlformats.org/drawingml/2006/chart">
            <c:chart xmlns:c="http://schemas.openxmlformats.org/drawingml/2006/chart" xmlns:r="http://schemas.openxmlformats.org/officeDocument/2006/relationships" r:id="rId21"/>
          </a:graphicData>
        </a:graphic>
      </p:graphicFrame>
      <p:sp>
        <p:nvSpPr>
          <p:cNvPr id="31" name="Text Placeholder 2">
            <a:extLst>
              <a:ext uri="{FF2B5EF4-FFF2-40B4-BE49-F238E27FC236}">
                <a16:creationId xmlns:a16="http://schemas.microsoft.com/office/drawing/2014/main" id="{5FE4DD11-D38E-4A0A-9928-771F754D7683}"/>
              </a:ext>
            </a:extLst>
          </p:cNvPr>
          <p:cNvSpPr>
            <a:spLocks noGrp="1"/>
          </p:cNvSpPr>
          <p:nvPr>
            <p:custDataLst>
              <p:tags r:id="rId6"/>
            </p:custDataLst>
          </p:nvPr>
        </p:nvSpPr>
        <p:spPr bwMode="gray">
          <a:xfrm>
            <a:off x="10496550" y="6275388"/>
            <a:ext cx="860425" cy="150813"/>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269875" indent="-269875" algn="l" defTabSz="685800" rtl="0" eaLnBrk="1" latinLnBrk="0" hangingPunct="1">
              <a:lnSpc>
                <a:spcPct val="90000"/>
              </a:lnSpc>
              <a:spcBef>
                <a:spcPts val="750"/>
              </a:spcBef>
              <a:buClr>
                <a:schemeClr val="accent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1pPr>
            <a:lvl2pPr marL="539750" indent="-269875"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2pPr>
            <a:lvl3pPr marL="80645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3pPr>
            <a:lvl4pPr marL="1079500" indent="-27305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4pPr>
            <a:lvl5pPr marL="134620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5pPr>
            <a:lvl6pPr marL="161290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6pPr>
            <a:lvl7pPr marL="1885950" indent="-27305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7pPr>
            <a:lvl8pPr marL="215265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8pPr>
            <a:lvl9pPr marL="241935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9pPr>
          </a:lstStyle>
          <a:p>
            <a:pPr marL="0" indent="0" algn="r">
              <a:spcBef>
                <a:spcPct val="0"/>
              </a:spcBef>
              <a:spcAft>
                <a:spcPct val="0"/>
              </a:spcAft>
              <a:buNone/>
            </a:pPr>
            <a:r>
              <a:rPr lang="en-US" altLang="en-US" sz="1100">
                <a:latin typeface="+mn-lt"/>
              </a:rPr>
              <a:t>Week number</a:t>
            </a:r>
            <a:endParaRPr lang="en-US" sz="1100">
              <a:latin typeface="+mn-lt"/>
            </a:endParaRPr>
          </a:p>
        </p:txBody>
      </p:sp>
      <p:sp>
        <p:nvSpPr>
          <p:cNvPr id="30" name="Text Placeholder 2">
            <a:extLst>
              <a:ext uri="{FF2B5EF4-FFF2-40B4-BE49-F238E27FC236}">
                <a16:creationId xmlns:a16="http://schemas.microsoft.com/office/drawing/2014/main" id="{4FEF6416-5F79-4B4C-97F5-A3BC57C112E8}"/>
              </a:ext>
            </a:extLst>
          </p:cNvPr>
          <p:cNvSpPr>
            <a:spLocks noGrp="1"/>
          </p:cNvSpPr>
          <p:nvPr>
            <p:custDataLst>
              <p:tags r:id="rId7"/>
            </p:custDataLst>
          </p:nvPr>
        </p:nvSpPr>
        <p:spPr bwMode="gray">
          <a:xfrm>
            <a:off x="4243388" y="3001963"/>
            <a:ext cx="3570288" cy="150813"/>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b" anchorCtr="0">
            <a:noAutofit/>
          </a:bodyPr>
          <a:lstStyle>
            <a:lvl1pPr marL="269875" indent="-269875" algn="l" defTabSz="685800" rtl="0" eaLnBrk="1" latinLnBrk="0" hangingPunct="1">
              <a:lnSpc>
                <a:spcPct val="90000"/>
              </a:lnSpc>
              <a:spcBef>
                <a:spcPts val="750"/>
              </a:spcBef>
              <a:buClr>
                <a:schemeClr val="accent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1pPr>
            <a:lvl2pPr marL="539750" indent="-269875"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2pPr>
            <a:lvl3pPr marL="80645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3pPr>
            <a:lvl4pPr marL="1079500" indent="-27305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4pPr>
            <a:lvl5pPr marL="134620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5pPr>
            <a:lvl6pPr marL="161290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6pPr>
            <a:lvl7pPr marL="1885950" indent="-27305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7pPr>
            <a:lvl8pPr marL="215265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8pPr>
            <a:lvl9pPr marL="241935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9pPr>
          </a:lstStyle>
          <a:p>
            <a:pPr marL="0" indent="0">
              <a:spcBef>
                <a:spcPct val="0"/>
              </a:spcBef>
              <a:spcAft>
                <a:spcPct val="0"/>
              </a:spcAft>
              <a:buNone/>
            </a:pPr>
            <a:r>
              <a:rPr lang="en-US" sz="1100">
                <a:latin typeface="+mn-lt"/>
              </a:rPr>
              <a:t>Appointment conversion, indexed 2-week rolling average</a:t>
            </a:r>
          </a:p>
        </p:txBody>
      </p:sp>
      <p:cxnSp>
        <p:nvCxnSpPr>
          <p:cNvPr id="32" name="Straight Connector 31">
            <a:extLst>
              <a:ext uri="{FF2B5EF4-FFF2-40B4-BE49-F238E27FC236}">
                <a16:creationId xmlns:a16="http://schemas.microsoft.com/office/drawing/2014/main" id="{5A55A799-0CAC-4E8A-A0FB-EFF810C7ADC7}"/>
              </a:ext>
            </a:extLst>
          </p:cNvPr>
          <p:cNvCxnSpPr/>
          <p:nvPr>
            <p:custDataLst>
              <p:tags r:id="rId8"/>
            </p:custDataLst>
          </p:nvPr>
        </p:nvCxnSpPr>
        <p:spPr bwMode="gray">
          <a:xfrm>
            <a:off x="8482013" y="2324100"/>
            <a:ext cx="231775" cy="0"/>
          </a:xfrm>
          <a:prstGeom prst="line">
            <a:avLst/>
          </a:prstGeom>
          <a:ln w="38100" cap="rnd" cmpd="sng" algn="ctr">
            <a:solidFill>
              <a:schemeClr val="tx2"/>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63" name="Straight Connector 62">
            <a:extLst>
              <a:ext uri="{FF2B5EF4-FFF2-40B4-BE49-F238E27FC236}">
                <a16:creationId xmlns:a16="http://schemas.microsoft.com/office/drawing/2014/main" id="{B1D922CE-6B36-4C87-A95C-995C2CC925DA}"/>
              </a:ext>
            </a:extLst>
          </p:cNvPr>
          <p:cNvCxnSpPr/>
          <p:nvPr>
            <p:custDataLst>
              <p:tags r:id="rId9"/>
            </p:custDataLst>
          </p:nvPr>
        </p:nvCxnSpPr>
        <p:spPr bwMode="gray">
          <a:xfrm>
            <a:off x="8482013" y="2533650"/>
            <a:ext cx="231775" cy="0"/>
          </a:xfrm>
          <a:prstGeom prst="line">
            <a:avLst/>
          </a:prstGeom>
          <a:ln w="38100" cap="rnd"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2" name="Straight Connector 11">
            <a:extLst>
              <a:ext uri="{FF2B5EF4-FFF2-40B4-BE49-F238E27FC236}">
                <a16:creationId xmlns:a16="http://schemas.microsoft.com/office/drawing/2014/main" id="{CD7016A8-A0BA-449D-99D3-48091327F3B5}"/>
              </a:ext>
            </a:extLst>
          </p:cNvPr>
          <p:cNvCxnSpPr/>
          <p:nvPr>
            <p:custDataLst>
              <p:tags r:id="rId10"/>
            </p:custDataLst>
          </p:nvPr>
        </p:nvCxnSpPr>
        <p:spPr bwMode="gray">
          <a:xfrm>
            <a:off x="8482013" y="2743200"/>
            <a:ext cx="231775" cy="0"/>
          </a:xfrm>
          <a:prstGeom prst="line">
            <a:avLst/>
          </a:prstGeom>
          <a:ln w="38100" cap="rnd" cmpd="sng" algn="ctr">
            <a:solidFill>
              <a:srgbClr val="9A9A9A"/>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35" name="Oval 34">
            <a:extLst>
              <a:ext uri="{FF2B5EF4-FFF2-40B4-BE49-F238E27FC236}">
                <a16:creationId xmlns:a16="http://schemas.microsoft.com/office/drawing/2014/main" id="{3B99DB13-F45E-4F27-8EB1-69FFE72055B1}"/>
              </a:ext>
            </a:extLst>
          </p:cNvPr>
          <p:cNvSpPr/>
          <p:nvPr>
            <p:custDataLst>
              <p:tags r:id="rId11"/>
            </p:custDataLst>
          </p:nvPr>
        </p:nvSpPr>
        <p:spPr bwMode="auto">
          <a:xfrm>
            <a:off x="8566150" y="2292350"/>
            <a:ext cx="63500" cy="63500"/>
          </a:xfrm>
          <a:prstGeom prst="ellipse">
            <a:avLst/>
          </a:prstGeom>
          <a:solidFill>
            <a:schemeClr val="tx2"/>
          </a:solidFill>
          <a:ln w="9525" cap="rnd" cmpd="sng" algn="ctr">
            <a:solidFill>
              <a:schemeClr val="tx2"/>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en-US" sz="1200">
              <a:solidFill>
                <a:srgbClr val="FFFFFF"/>
              </a:solidFill>
            </a:endParaRPr>
          </a:p>
        </p:txBody>
      </p:sp>
      <p:sp>
        <p:nvSpPr>
          <p:cNvPr id="70" name="Rectangle 69">
            <a:extLst>
              <a:ext uri="{FF2B5EF4-FFF2-40B4-BE49-F238E27FC236}">
                <a16:creationId xmlns:a16="http://schemas.microsoft.com/office/drawing/2014/main" id="{7E3BC70A-5D2C-483B-9D20-6E857FD9D4BD}"/>
              </a:ext>
            </a:extLst>
          </p:cNvPr>
          <p:cNvSpPr/>
          <p:nvPr>
            <p:custDataLst>
              <p:tags r:id="rId12"/>
            </p:custDataLst>
          </p:nvPr>
        </p:nvSpPr>
        <p:spPr bwMode="auto">
          <a:xfrm>
            <a:off x="8566150" y="2501900"/>
            <a:ext cx="63500" cy="63500"/>
          </a:xfrm>
          <a:prstGeom prst="rect">
            <a:avLst/>
          </a:prstGeom>
          <a:solidFill>
            <a:schemeClr val="tx1"/>
          </a:solidFill>
          <a:ln w="9525" cap="rnd" cmpd="sng" algn="ctr">
            <a:solidFill>
              <a:schemeClr val="tx1"/>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a:endParaRPr lang="en-US" sz="1600">
              <a:solidFill>
                <a:srgbClr val="FFFFFF"/>
              </a:solidFill>
            </a:endParaRPr>
          </a:p>
        </p:txBody>
      </p:sp>
      <p:sp>
        <p:nvSpPr>
          <p:cNvPr id="13" name="Isosceles Triangle 12">
            <a:extLst>
              <a:ext uri="{FF2B5EF4-FFF2-40B4-BE49-F238E27FC236}">
                <a16:creationId xmlns:a16="http://schemas.microsoft.com/office/drawing/2014/main" id="{0E8C7081-EB9F-44E0-A0CE-62024C93D597}"/>
              </a:ext>
            </a:extLst>
          </p:cNvPr>
          <p:cNvSpPr/>
          <p:nvPr>
            <p:custDataLst>
              <p:tags r:id="rId13"/>
            </p:custDataLst>
          </p:nvPr>
        </p:nvSpPr>
        <p:spPr bwMode="auto">
          <a:xfrm>
            <a:off x="8566150" y="2711450"/>
            <a:ext cx="63500" cy="63500"/>
          </a:xfrm>
          <a:prstGeom prst="triangle">
            <a:avLst/>
          </a:prstGeom>
          <a:solidFill>
            <a:srgbClr val="9A9A9A"/>
          </a:solidFill>
          <a:ln w="9525" cap="rnd" cmpd="sng" algn="ctr">
            <a:solidFill>
              <a:srgbClr val="9A9A9A"/>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a:endParaRPr lang="en-US" sz="1600">
              <a:solidFill>
                <a:srgbClr val="FFFFFF"/>
              </a:solidFill>
            </a:endParaRPr>
          </a:p>
        </p:txBody>
      </p:sp>
      <p:sp>
        <p:nvSpPr>
          <p:cNvPr id="37" name="Text Placeholder 2">
            <a:extLst>
              <a:ext uri="{FF2B5EF4-FFF2-40B4-BE49-F238E27FC236}">
                <a16:creationId xmlns:a16="http://schemas.microsoft.com/office/drawing/2014/main" id="{3AC26FD6-EB85-4F97-8052-B645620974E6}"/>
              </a:ext>
            </a:extLst>
          </p:cNvPr>
          <p:cNvSpPr>
            <a:spLocks noGrp="1"/>
          </p:cNvSpPr>
          <p:nvPr>
            <p:custDataLst>
              <p:tags r:id="rId14"/>
            </p:custDataLst>
          </p:nvPr>
        </p:nvSpPr>
        <p:spPr bwMode="gray">
          <a:xfrm>
            <a:off x="8783638" y="2259013"/>
            <a:ext cx="2163763" cy="150813"/>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269875" indent="-269875" algn="l" defTabSz="685800" rtl="0" eaLnBrk="1" latinLnBrk="0" hangingPunct="1">
              <a:lnSpc>
                <a:spcPct val="90000"/>
              </a:lnSpc>
              <a:spcBef>
                <a:spcPts val="750"/>
              </a:spcBef>
              <a:buClr>
                <a:schemeClr val="accent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1pPr>
            <a:lvl2pPr marL="539750" indent="-269875"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2pPr>
            <a:lvl3pPr marL="80645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3pPr>
            <a:lvl4pPr marL="1079500" indent="-27305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4pPr>
            <a:lvl5pPr marL="134620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5pPr>
            <a:lvl6pPr marL="161290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6pPr>
            <a:lvl7pPr marL="1885950" indent="-27305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7pPr>
            <a:lvl8pPr marL="215265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8pPr>
            <a:lvl9pPr marL="241935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9pPr>
          </a:lstStyle>
          <a:p>
            <a:pPr marL="0" indent="0">
              <a:spcBef>
                <a:spcPct val="0"/>
              </a:spcBef>
              <a:spcAft>
                <a:spcPct val="0"/>
              </a:spcAft>
              <a:buNone/>
            </a:pPr>
            <a:r>
              <a:rPr lang="zh-TW" altLang="en-US" sz="1100">
                <a:latin typeface="+mn-lt"/>
              </a:rPr>
              <a:t>測試組</a:t>
            </a:r>
            <a:r>
              <a:rPr lang="en-US" altLang="en-US" sz="1100">
                <a:latin typeface="+mn-lt"/>
              </a:rPr>
              <a:t> (new models, new process)</a:t>
            </a:r>
            <a:endParaRPr lang="en-US" sz="1100">
              <a:latin typeface="+mn-lt"/>
            </a:endParaRPr>
          </a:p>
        </p:txBody>
      </p:sp>
      <p:sp>
        <p:nvSpPr>
          <p:cNvPr id="68" name="Text Placeholder 2">
            <a:extLst>
              <a:ext uri="{FF2B5EF4-FFF2-40B4-BE49-F238E27FC236}">
                <a16:creationId xmlns:a16="http://schemas.microsoft.com/office/drawing/2014/main" id="{76F606C2-DBC8-47EA-AB9B-63F4023FC5FE}"/>
              </a:ext>
            </a:extLst>
          </p:cNvPr>
          <p:cNvSpPr>
            <a:spLocks noGrp="1"/>
          </p:cNvSpPr>
          <p:nvPr>
            <p:custDataLst>
              <p:tags r:id="rId15"/>
            </p:custDataLst>
          </p:nvPr>
        </p:nvSpPr>
        <p:spPr bwMode="gray">
          <a:xfrm>
            <a:off x="8783638" y="2468563"/>
            <a:ext cx="2101850" cy="150813"/>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269875" indent="-269875" algn="l" defTabSz="685800" rtl="0" eaLnBrk="1" latinLnBrk="0" hangingPunct="1">
              <a:lnSpc>
                <a:spcPct val="90000"/>
              </a:lnSpc>
              <a:spcBef>
                <a:spcPts val="750"/>
              </a:spcBef>
              <a:buClr>
                <a:schemeClr val="accent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1pPr>
            <a:lvl2pPr marL="539750" indent="-269875"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2pPr>
            <a:lvl3pPr marL="80645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3pPr>
            <a:lvl4pPr marL="1079500" indent="-27305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4pPr>
            <a:lvl5pPr marL="134620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5pPr>
            <a:lvl6pPr marL="161290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6pPr>
            <a:lvl7pPr marL="1885950" indent="-27305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7pPr>
            <a:lvl8pPr marL="215265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8pPr>
            <a:lvl9pPr marL="241935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9pPr>
          </a:lstStyle>
          <a:p>
            <a:pPr marL="0" indent="0">
              <a:spcBef>
                <a:spcPct val="0"/>
              </a:spcBef>
              <a:spcAft>
                <a:spcPct val="0"/>
              </a:spcAft>
              <a:buNone/>
            </a:pPr>
            <a:r>
              <a:rPr lang="zh-TW" altLang="en-US" sz="1100">
                <a:latin typeface="+mn-lt"/>
              </a:rPr>
              <a:t>控制組</a:t>
            </a:r>
            <a:r>
              <a:rPr lang="en-US" altLang="en-US" sz="1100">
                <a:latin typeface="+mn-lt"/>
              </a:rPr>
              <a:t> (old models, new process)</a:t>
            </a:r>
            <a:endParaRPr lang="en-US" sz="1100">
              <a:latin typeface="+mn-lt"/>
            </a:endParaRPr>
          </a:p>
        </p:txBody>
      </p:sp>
      <p:sp>
        <p:nvSpPr>
          <p:cNvPr id="42" name="Text Placeholder 2">
            <a:extLst>
              <a:ext uri="{FF2B5EF4-FFF2-40B4-BE49-F238E27FC236}">
                <a16:creationId xmlns:a16="http://schemas.microsoft.com/office/drawing/2014/main" id="{05250F3E-BFFA-48D7-91C7-0988BD79844E}"/>
              </a:ext>
            </a:extLst>
          </p:cNvPr>
          <p:cNvSpPr>
            <a:spLocks noGrp="1"/>
          </p:cNvSpPr>
          <p:nvPr>
            <p:custDataLst>
              <p:tags r:id="rId16"/>
            </p:custDataLst>
          </p:nvPr>
        </p:nvSpPr>
        <p:spPr bwMode="gray">
          <a:xfrm>
            <a:off x="8783638" y="2678113"/>
            <a:ext cx="328613" cy="301625"/>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269875" indent="-269875" algn="l" defTabSz="685800" rtl="0" eaLnBrk="1" latinLnBrk="0" hangingPunct="1">
              <a:lnSpc>
                <a:spcPct val="90000"/>
              </a:lnSpc>
              <a:spcBef>
                <a:spcPts val="750"/>
              </a:spcBef>
              <a:buClr>
                <a:schemeClr val="accent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1pPr>
            <a:lvl2pPr marL="539750" indent="-269875"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2pPr>
            <a:lvl3pPr marL="80645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3pPr>
            <a:lvl4pPr marL="1079500" indent="-27305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4pPr>
            <a:lvl5pPr marL="134620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5pPr>
            <a:lvl6pPr marL="161290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6pPr>
            <a:lvl7pPr marL="1885950" indent="-27305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7pPr>
            <a:lvl8pPr marL="215265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8pPr>
            <a:lvl9pPr marL="241935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9pPr>
          </a:lstStyle>
          <a:p>
            <a:pPr marL="0" indent="0">
              <a:spcBef>
                <a:spcPct val="0"/>
              </a:spcBef>
              <a:spcAft>
                <a:spcPct val="0"/>
              </a:spcAft>
              <a:buNone/>
            </a:pPr>
            <a:r>
              <a:rPr lang="zh-TW" altLang="en-US" sz="1100">
                <a:latin typeface="+mn-lt"/>
              </a:rPr>
              <a:t>基準</a:t>
            </a:r>
            <a:r>
              <a:rPr lang="en-US" altLang="en-US" sz="1100" baseline="30000">
                <a:latin typeface="+mn-lt"/>
              </a:rPr>
              <a:t>1</a:t>
            </a:r>
            <a:endParaRPr lang="en-US" sz="1100" baseline="30000">
              <a:latin typeface="+mn-lt"/>
            </a:endParaRPr>
          </a:p>
          <a:p>
            <a:pPr marL="0" indent="0">
              <a:spcBef>
                <a:spcPct val="0"/>
              </a:spcBef>
              <a:spcAft>
                <a:spcPct val="0"/>
              </a:spcAft>
              <a:buNone/>
            </a:pPr>
            <a:endParaRPr lang="en-US" sz="1100">
              <a:latin typeface="+mn-lt"/>
            </a:endParaRPr>
          </a:p>
        </p:txBody>
      </p:sp>
      <p:sp>
        <p:nvSpPr>
          <p:cNvPr id="39" name="TextBox 38">
            <a:extLst>
              <a:ext uri="{FF2B5EF4-FFF2-40B4-BE49-F238E27FC236}">
                <a16:creationId xmlns:a16="http://schemas.microsoft.com/office/drawing/2014/main" id="{7312E20C-4CD2-4F66-8ADE-52F46F7CD5F3}"/>
              </a:ext>
            </a:extLst>
          </p:cNvPr>
          <p:cNvSpPr txBox="1"/>
          <p:nvPr/>
        </p:nvSpPr>
        <p:spPr>
          <a:xfrm>
            <a:off x="4135438" y="2439040"/>
            <a:ext cx="5813425" cy="523220"/>
          </a:xfrm>
          <a:prstGeom prst="rect">
            <a:avLst/>
          </a:prstGeom>
          <a:noFill/>
        </p:spPr>
        <p:txBody>
          <a:bodyPr wrap="square" rtlCol="0">
            <a:spAutoFit/>
          </a:bodyPr>
          <a:lstStyle/>
          <a:p>
            <a:r>
              <a:rPr lang="zh-TW" altLang="en-US" sz="1400" b="1">
                <a:solidFill>
                  <a:srgbClr val="29BA74"/>
                </a:solidFill>
              </a:rPr>
              <a:t>預約理專見面</a:t>
            </a:r>
            <a:r>
              <a:rPr lang="en-US" altLang="zh-TW" sz="1400" b="1">
                <a:solidFill>
                  <a:srgbClr val="29BA74"/>
                </a:solidFill>
              </a:rPr>
              <a:t>/</a:t>
            </a:r>
            <a:r>
              <a:rPr lang="zh-TW" altLang="en-US" sz="1400" b="1">
                <a:solidFill>
                  <a:srgbClr val="29BA74"/>
                </a:solidFill>
              </a:rPr>
              <a:t>接聽電話比率</a:t>
            </a:r>
            <a:endParaRPr lang="en-US" altLang="zh-TW" sz="1400" b="1">
              <a:solidFill>
                <a:srgbClr val="29BA74"/>
              </a:solidFill>
            </a:endParaRPr>
          </a:p>
          <a:p>
            <a:r>
              <a:rPr lang="en-US" sz="1400" b="1">
                <a:solidFill>
                  <a:srgbClr val="575757"/>
                </a:solidFill>
              </a:rPr>
              <a:t>(%)</a:t>
            </a:r>
          </a:p>
        </p:txBody>
      </p:sp>
      <p:sp>
        <p:nvSpPr>
          <p:cNvPr id="57" name="ee4pFootnotes">
            <a:extLst>
              <a:ext uri="{FF2B5EF4-FFF2-40B4-BE49-F238E27FC236}">
                <a16:creationId xmlns:a16="http://schemas.microsoft.com/office/drawing/2014/main" id="{ACB1782A-0F84-4D49-81BA-0DF10595238B}"/>
              </a:ext>
            </a:extLst>
          </p:cNvPr>
          <p:cNvSpPr>
            <a:spLocks noChangeArrowheads="1"/>
          </p:cNvSpPr>
          <p:nvPr/>
        </p:nvSpPr>
        <p:spPr bwMode="auto">
          <a:xfrm>
            <a:off x="681006" y="6230474"/>
            <a:ext cx="10672793" cy="443391"/>
          </a:xfrm>
          <a:prstGeom prst="rect">
            <a:avLst/>
          </a:prstGeom>
          <a:noFill/>
          <a:ln w="9525" algn="ctr">
            <a:noFill/>
            <a:miter lim="800000"/>
            <a:headEnd type="none" w="lg" len="lg"/>
            <a:tailEnd type="none" w="lg" len="lg"/>
          </a:ln>
        </p:spPr>
        <p:txBody>
          <a:bodyPr vert="horz" wrap="square" lIns="0" tIns="0" rIns="0" bIns="0" anchor="b" anchorCtr="0">
            <a:spAutoFit/>
          </a:bodyPr>
          <a:lstStyle/>
          <a:p>
            <a:pPr marL="228600" indent="-228600">
              <a:lnSpc>
                <a:spcPct val="90000"/>
              </a:lnSpc>
              <a:buAutoNum type="arabicPeriod"/>
            </a:pPr>
            <a:r>
              <a:rPr lang="en-US" sz="1067">
                <a:solidFill>
                  <a:schemeClr val="bg1">
                    <a:lumMod val="50000"/>
                  </a:schemeClr>
                </a:solidFill>
                <a:sym typeface="+mn-lt"/>
              </a:rPr>
              <a:t>Average conversion from conversation to appointment for advisors before the pilot period.</a:t>
            </a:r>
          </a:p>
          <a:p>
            <a:pPr>
              <a:lnSpc>
                <a:spcPct val="90000"/>
              </a:lnSpc>
            </a:pPr>
            <a:r>
              <a:rPr lang="en-US" sz="1067">
                <a:solidFill>
                  <a:schemeClr val="bg1">
                    <a:lumMod val="50000"/>
                  </a:schemeClr>
                </a:solidFill>
                <a:sym typeface="+mn-lt"/>
              </a:rPr>
              <a:t>Note:  Before the pilot: Advisors mostly reached out to customers who already have investment products (up-selling). During the pilot: Advisors contacted only customers that do not yet invest (cross-selling).</a:t>
            </a:r>
          </a:p>
        </p:txBody>
      </p:sp>
      <p:cxnSp>
        <p:nvCxnSpPr>
          <p:cNvPr id="29" name="Straight Connector 28">
            <a:extLst>
              <a:ext uri="{FF2B5EF4-FFF2-40B4-BE49-F238E27FC236}">
                <a16:creationId xmlns:a16="http://schemas.microsoft.com/office/drawing/2014/main" id="{A878DC6F-1011-495E-A2B2-754AB51C0FB0}"/>
              </a:ext>
            </a:extLst>
          </p:cNvPr>
          <p:cNvCxnSpPr>
            <a:cxnSpLocks/>
          </p:cNvCxnSpPr>
          <p:nvPr/>
        </p:nvCxnSpPr>
        <p:spPr>
          <a:xfrm>
            <a:off x="7718425" y="3871913"/>
            <a:ext cx="3703638" cy="0"/>
          </a:xfrm>
          <a:prstGeom prst="line">
            <a:avLst/>
          </a:prstGeom>
          <a:ln w="9525" cap="rnd" cmpd="sng" algn="ctr">
            <a:solidFill>
              <a:srgbClr val="29BA74"/>
            </a:solidFill>
            <a:prstDash val="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 name="Straight Arrow Connector 32">
            <a:extLst>
              <a:ext uri="{FF2B5EF4-FFF2-40B4-BE49-F238E27FC236}">
                <a16:creationId xmlns:a16="http://schemas.microsoft.com/office/drawing/2014/main" id="{B15A0BBC-7714-4FF6-9ECE-FD1BF065E9FB}"/>
              </a:ext>
            </a:extLst>
          </p:cNvPr>
          <p:cNvCxnSpPr>
            <a:cxnSpLocks/>
          </p:cNvCxnSpPr>
          <p:nvPr/>
        </p:nvCxnSpPr>
        <p:spPr>
          <a:xfrm>
            <a:off x="8062913" y="3905250"/>
            <a:ext cx="0" cy="1057275"/>
          </a:xfrm>
          <a:prstGeom prst="straightConnector1">
            <a:avLst/>
          </a:prstGeom>
          <a:ln w="9525" cap="rnd">
            <a:solidFill>
              <a:schemeClr val="tx1">
                <a:lumMod val="60000"/>
                <a:lumOff val="40000"/>
              </a:schemeClr>
            </a:solidFill>
            <a:prstDash val="solid"/>
            <a:round/>
            <a:headEnd type="triangle"/>
            <a:tailEnd type="triangle"/>
          </a:ln>
        </p:spPr>
        <p:style>
          <a:lnRef idx="1">
            <a:schemeClr val="accent1"/>
          </a:lnRef>
          <a:fillRef idx="0">
            <a:schemeClr val="accent1"/>
          </a:fillRef>
          <a:effectRef idx="0">
            <a:schemeClr val="accent1"/>
          </a:effectRef>
          <a:fontRef idx="minor">
            <a:schemeClr val="tx1"/>
          </a:fontRef>
        </p:style>
      </p:cxnSp>
      <p:sp>
        <p:nvSpPr>
          <p:cNvPr id="34" name="Oval 33">
            <a:extLst>
              <a:ext uri="{FF2B5EF4-FFF2-40B4-BE49-F238E27FC236}">
                <a16:creationId xmlns:a16="http://schemas.microsoft.com/office/drawing/2014/main" id="{53ED99A3-CD41-41E3-BEFC-A2CE75F6F752}"/>
              </a:ext>
            </a:extLst>
          </p:cNvPr>
          <p:cNvSpPr/>
          <p:nvPr/>
        </p:nvSpPr>
        <p:spPr>
          <a:xfrm>
            <a:off x="7794625" y="4125912"/>
            <a:ext cx="539750" cy="539750"/>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pPr>
            <a:r>
              <a:rPr lang="en-US" kern="0">
                <a:solidFill>
                  <a:srgbClr val="29BA74"/>
                </a:solidFill>
              </a:rPr>
              <a:t>80%</a:t>
            </a:r>
          </a:p>
        </p:txBody>
      </p:sp>
      <p:sp>
        <p:nvSpPr>
          <p:cNvPr id="8" name="TextBox 7">
            <a:extLst>
              <a:ext uri="{FF2B5EF4-FFF2-40B4-BE49-F238E27FC236}">
                <a16:creationId xmlns:a16="http://schemas.microsoft.com/office/drawing/2014/main" id="{5EAA1569-A6B8-42D1-9B10-DEF1539EE4EE}"/>
              </a:ext>
            </a:extLst>
          </p:cNvPr>
          <p:cNvSpPr txBox="1"/>
          <p:nvPr/>
        </p:nvSpPr>
        <p:spPr>
          <a:xfrm>
            <a:off x="6157153" y="4073147"/>
            <a:ext cx="1609759" cy="523220"/>
          </a:xfrm>
          <a:prstGeom prst="rect">
            <a:avLst/>
          </a:prstGeom>
          <a:noFill/>
          <a:extLst>
            <a:ext uri="{909E8E84-426E-40DD-AFC4-6F175D3DCCD1}">
              <a14:hiddenFill xmlns:a14="http://schemas.microsoft.com/office/drawing/2010/main">
                <a:solidFill>
                  <a:srgbClr val="FF6A10"/>
                </a:solidFill>
              </a14:hiddenFill>
            </a:ext>
          </a:extLst>
        </p:spPr>
        <p:txBody>
          <a:bodyPr wrap="square" rtlCol="0">
            <a:spAutoFit/>
          </a:bodyPr>
          <a:lstStyle/>
          <a:p>
            <a:pPr algn="r"/>
            <a:r>
              <a:rPr lang="zh-TW" altLang="en-US" sz="1400" b="1">
                <a:solidFill>
                  <a:srgbClr val="29BA74"/>
                </a:solidFill>
              </a:rPr>
              <a:t>測試組轉換率相較測試前基準上升</a:t>
            </a:r>
            <a:endParaRPr lang="en-US" sz="1333">
              <a:solidFill>
                <a:srgbClr val="29BA74"/>
              </a:solidFill>
            </a:endParaRPr>
          </a:p>
        </p:txBody>
      </p:sp>
      <p:cxnSp>
        <p:nvCxnSpPr>
          <p:cNvPr id="47" name="Straight Arrow Connector 46">
            <a:extLst>
              <a:ext uri="{FF2B5EF4-FFF2-40B4-BE49-F238E27FC236}">
                <a16:creationId xmlns:a16="http://schemas.microsoft.com/office/drawing/2014/main" id="{76D54197-B6DB-49DE-938B-20A7D6576382}"/>
              </a:ext>
            </a:extLst>
          </p:cNvPr>
          <p:cNvCxnSpPr>
            <a:cxnSpLocks/>
          </p:cNvCxnSpPr>
          <p:nvPr/>
        </p:nvCxnSpPr>
        <p:spPr>
          <a:xfrm>
            <a:off x="11289956" y="3884613"/>
            <a:ext cx="0" cy="1284288"/>
          </a:xfrm>
          <a:prstGeom prst="straightConnector1">
            <a:avLst/>
          </a:prstGeom>
          <a:ln w="9525" cap="rnd">
            <a:solidFill>
              <a:schemeClr val="tx1">
                <a:lumMod val="60000"/>
                <a:lumOff val="40000"/>
              </a:schemeClr>
            </a:solidFill>
            <a:prstDash val="solid"/>
            <a:round/>
            <a:headEnd type="triangle"/>
            <a:tailEnd type="triangle"/>
          </a:ln>
        </p:spPr>
        <p:style>
          <a:lnRef idx="1">
            <a:schemeClr val="accent1"/>
          </a:lnRef>
          <a:fillRef idx="0">
            <a:schemeClr val="accent1"/>
          </a:fillRef>
          <a:effectRef idx="0">
            <a:schemeClr val="accent1"/>
          </a:effectRef>
          <a:fontRef idx="minor">
            <a:schemeClr val="tx1"/>
          </a:fontRef>
        </p:style>
      </p:cxnSp>
      <p:sp>
        <p:nvSpPr>
          <p:cNvPr id="48" name="Oval 47">
            <a:extLst>
              <a:ext uri="{FF2B5EF4-FFF2-40B4-BE49-F238E27FC236}">
                <a16:creationId xmlns:a16="http://schemas.microsoft.com/office/drawing/2014/main" id="{6CD6C3D8-57D5-43F0-831C-8D0B694A4B9D}"/>
              </a:ext>
            </a:extLst>
          </p:cNvPr>
          <p:cNvSpPr/>
          <p:nvPr/>
        </p:nvSpPr>
        <p:spPr>
          <a:xfrm>
            <a:off x="11074400" y="4233862"/>
            <a:ext cx="539750" cy="539750"/>
          </a:xfrm>
          <a:prstGeom prst="ellipse">
            <a:avLst/>
          </a:prstGeom>
          <a:solidFill>
            <a:srgbClr val="FFFFFF"/>
          </a:solidFill>
          <a:ln w="19050">
            <a:gradFill flip="none" rotWithShape="1">
              <a:gsLst>
                <a:gs pos="0">
                  <a:srgbClr val="670F31"/>
                </a:gs>
                <a:gs pos="100000">
                  <a:srgbClr val="E71C5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pPr>
            <a:r>
              <a:rPr lang="en-US" kern="0">
                <a:solidFill>
                  <a:srgbClr val="E71C57"/>
                </a:solidFill>
              </a:rPr>
              <a:t>85%</a:t>
            </a:r>
          </a:p>
        </p:txBody>
      </p:sp>
      <p:sp>
        <p:nvSpPr>
          <p:cNvPr id="52" name="TextBox 51">
            <a:extLst>
              <a:ext uri="{FF2B5EF4-FFF2-40B4-BE49-F238E27FC236}">
                <a16:creationId xmlns:a16="http://schemas.microsoft.com/office/drawing/2014/main" id="{574D7401-57A0-4DB7-81F0-5F37BA59831C}"/>
              </a:ext>
            </a:extLst>
          </p:cNvPr>
          <p:cNvSpPr txBox="1"/>
          <p:nvPr/>
        </p:nvSpPr>
        <p:spPr>
          <a:xfrm>
            <a:off x="9635812" y="5289173"/>
            <a:ext cx="1931363" cy="523220"/>
          </a:xfrm>
          <a:prstGeom prst="rect">
            <a:avLst/>
          </a:prstGeom>
          <a:noFill/>
          <a:extLst>
            <a:ext uri="{909E8E84-426E-40DD-AFC4-6F175D3DCCD1}">
              <a14:hiddenFill xmlns:a14="http://schemas.microsoft.com/office/drawing/2010/main">
                <a:solidFill>
                  <a:srgbClr val="FF6A10"/>
                </a:solidFill>
              </a14:hiddenFill>
            </a:ext>
          </a:extLst>
        </p:spPr>
        <p:txBody>
          <a:bodyPr wrap="square" rtlCol="0">
            <a:spAutoFit/>
          </a:bodyPr>
          <a:lstStyle/>
          <a:p>
            <a:pPr>
              <a:buFont typeface="Trebuchet MS" panose="020B0603020202020204" pitchFamily="34" charset="0"/>
              <a:buChar char="​"/>
            </a:pPr>
            <a:r>
              <a:rPr lang="zh-TW" altLang="en-US" sz="1400" b="1">
                <a:solidFill>
                  <a:srgbClr val="E71C57"/>
                </a:solidFill>
              </a:rPr>
              <a:t>測試組相較控制組在同一期間轉換率差異</a:t>
            </a:r>
            <a:endParaRPr lang="en-US" sz="1333">
              <a:solidFill>
                <a:srgbClr val="E71C57"/>
              </a:solidFill>
            </a:endParaRPr>
          </a:p>
        </p:txBody>
      </p:sp>
      <p:sp>
        <p:nvSpPr>
          <p:cNvPr id="101" name="Title 100">
            <a:extLst>
              <a:ext uri="{FF2B5EF4-FFF2-40B4-BE49-F238E27FC236}">
                <a16:creationId xmlns:a16="http://schemas.microsoft.com/office/drawing/2014/main" id="{929CE394-9AA0-454C-BAE4-E63031A425A3}"/>
              </a:ext>
            </a:extLst>
          </p:cNvPr>
          <p:cNvSpPr>
            <a:spLocks noGrp="1"/>
          </p:cNvSpPr>
          <p:nvPr>
            <p:ph type="title"/>
          </p:nvPr>
        </p:nvSpPr>
        <p:spPr>
          <a:xfrm>
            <a:off x="630000" y="622800"/>
            <a:ext cx="10933350" cy="664797"/>
          </a:xfrm>
        </p:spPr>
        <p:txBody>
          <a:bodyPr vert="horz"/>
          <a:lstStyle/>
          <a:p>
            <a:r>
              <a:rPr lang="zh-TW" altLang="en-US"/>
              <a:t>在</a:t>
            </a:r>
            <a:r>
              <a:rPr lang="en-US" altLang="zh-TW"/>
              <a:t>A/B</a:t>
            </a:r>
            <a:r>
              <a:rPr lang="zh-TW" altLang="en-US"/>
              <a:t>測試期間，使用新模型建議電訪之轉換率 </a:t>
            </a:r>
            <a:r>
              <a:rPr lang="en-US" altLang="zh-TW"/>
              <a:t>(</a:t>
            </a:r>
            <a:r>
              <a:rPr lang="zh-TW" altLang="en-US"/>
              <a:t>預約見面</a:t>
            </a:r>
            <a:r>
              <a:rPr lang="en-US" altLang="zh-TW"/>
              <a:t>/</a:t>
            </a:r>
            <a:r>
              <a:rPr lang="zh-TW" altLang="en-US"/>
              <a:t>接聽電話</a:t>
            </a:r>
            <a:r>
              <a:rPr lang="en-US" altLang="zh-TW"/>
              <a:t>)</a:t>
            </a:r>
            <a:r>
              <a:rPr lang="zh-TW" altLang="en-US"/>
              <a:t> 相較既有模型高出</a:t>
            </a:r>
            <a:r>
              <a:rPr lang="en-US" altLang="zh-TW"/>
              <a:t>85%</a:t>
            </a:r>
            <a:endParaRPr lang="en-US"/>
          </a:p>
        </p:txBody>
      </p:sp>
      <p:pic>
        <p:nvPicPr>
          <p:cNvPr id="7" name="BackupStamp">
            <a:extLst>
              <a:ext uri="{FF2B5EF4-FFF2-40B4-BE49-F238E27FC236}">
                <a16:creationId xmlns:a16="http://schemas.microsoft.com/office/drawing/2014/main" id="{85EE0EE5-E376-5836-1B63-917F5E651E56}"/>
              </a:ext>
            </a:extLst>
          </p:cNvPr>
          <p:cNvPicPr>
            <a:picLocks noChangeAspect="1"/>
          </p:cNvPicPr>
          <p:nvPr/>
        </p:nvPicPr>
        <p:blipFill>
          <a:blip r:embed="rId22"/>
          <a:stretch>
            <a:fillRect/>
          </a:stretch>
        </p:blipFill>
        <p:spPr>
          <a:xfrm>
            <a:off x="5229967" y="1582"/>
            <a:ext cx="1732066" cy="334800"/>
          </a:xfrm>
          <a:prstGeom prst="rect">
            <a:avLst/>
          </a:prstGeom>
        </p:spPr>
      </p:pic>
      <p:sp>
        <p:nvSpPr>
          <p:cNvPr id="16" name="TextBox 15">
            <a:extLst>
              <a:ext uri="{FF2B5EF4-FFF2-40B4-BE49-F238E27FC236}">
                <a16:creationId xmlns:a16="http://schemas.microsoft.com/office/drawing/2014/main" id="{B123640A-7F30-B91A-D19C-064B955D31A8}"/>
              </a:ext>
            </a:extLst>
          </p:cNvPr>
          <p:cNvSpPr txBox="1"/>
          <p:nvPr/>
        </p:nvSpPr>
        <p:spPr>
          <a:xfrm>
            <a:off x="1028110" y="2515153"/>
            <a:ext cx="2712642" cy="3539430"/>
          </a:xfrm>
          <a:prstGeom prst="rect">
            <a:avLst/>
          </a:prstGeom>
          <a:noFill/>
        </p:spPr>
        <p:txBody>
          <a:bodyPr wrap="square" rtlCol="0">
            <a:spAutoFit/>
          </a:bodyPr>
          <a:lstStyle/>
          <a:p>
            <a:r>
              <a:rPr lang="zh-TW" altLang="en-US" sz="1600" b="1">
                <a:solidFill>
                  <a:srgbClr val="575757"/>
                </a:solidFill>
              </a:rPr>
              <a:t>識別最佳客戶路徑及下產品建議</a:t>
            </a:r>
            <a:endParaRPr lang="en-US" altLang="zh-TW" sz="1600" b="1">
              <a:solidFill>
                <a:srgbClr val="575757"/>
              </a:solidFill>
            </a:endParaRPr>
          </a:p>
          <a:p>
            <a:endParaRPr lang="en-US" altLang="zh-TW" sz="1600" b="1">
              <a:solidFill>
                <a:srgbClr val="575757"/>
              </a:solidFill>
            </a:endParaRPr>
          </a:p>
          <a:p>
            <a:r>
              <a:rPr lang="zh-TW" altLang="en-US" sz="1600" b="1">
                <a:solidFill>
                  <a:srgbClr val="575757"/>
                </a:solidFill>
              </a:rPr>
              <a:t>小範圍</a:t>
            </a:r>
            <a:r>
              <a:rPr lang="en-US" altLang="zh-TW" sz="1600" b="1">
                <a:solidFill>
                  <a:srgbClr val="575757"/>
                </a:solidFill>
              </a:rPr>
              <a:t>A/B</a:t>
            </a:r>
            <a:r>
              <a:rPr lang="zh-TW" altLang="en-US" sz="1600" b="1">
                <a:solidFill>
                  <a:srgbClr val="575757"/>
                </a:solidFill>
              </a:rPr>
              <a:t>測試</a:t>
            </a:r>
            <a:endParaRPr lang="en-US" altLang="zh-TW" sz="1600" b="1">
              <a:solidFill>
                <a:srgbClr val="575757"/>
              </a:solidFill>
            </a:endParaRPr>
          </a:p>
          <a:p>
            <a:pPr marL="324000" lvl="1" indent="-216000">
              <a:buClr>
                <a:schemeClr val="tx2"/>
              </a:buClr>
              <a:buFont typeface="Trebuchet MS" panose="020B0603020202020204" pitchFamily="34" charset="0"/>
              <a:buChar char="•"/>
            </a:pPr>
            <a:r>
              <a:rPr lang="en-US" altLang="zh-TW" sz="1600" b="1"/>
              <a:t>27</a:t>
            </a:r>
            <a:r>
              <a:rPr lang="zh-TW" altLang="en-US" sz="1600" b="1"/>
              <a:t>位理專參與三周測試</a:t>
            </a:r>
            <a:endParaRPr lang="en-US" altLang="zh-TW" sz="1600" b="1"/>
          </a:p>
          <a:p>
            <a:pPr marL="324000" lvl="1" indent="-216000">
              <a:buClr>
                <a:schemeClr val="tx2"/>
              </a:buClr>
              <a:buFont typeface="Trebuchet MS" panose="020B0603020202020204" pitchFamily="34" charset="0"/>
              <a:buChar char="•"/>
            </a:pPr>
            <a:r>
              <a:rPr lang="zh-TW" altLang="en-US" sz="1600" b="1"/>
              <a:t>控制組</a:t>
            </a:r>
            <a:r>
              <a:rPr lang="en-US" altLang="zh-TW" sz="1600" b="1"/>
              <a:t>:</a:t>
            </a:r>
            <a:r>
              <a:rPr lang="zh-TW" altLang="en-US" sz="1600" b="1"/>
              <a:t> 根據</a:t>
            </a:r>
            <a:r>
              <a:rPr lang="zh-TW" altLang="en-US" sz="1600" b="1">
                <a:solidFill>
                  <a:srgbClr val="29BA74"/>
                </a:solidFill>
              </a:rPr>
              <a:t>既有模型建議</a:t>
            </a:r>
            <a:r>
              <a:rPr lang="zh-TW" altLang="en-US" sz="1600" b="1"/>
              <a:t>進行電訪</a:t>
            </a:r>
            <a:endParaRPr lang="en-US" altLang="zh-TW" sz="1600" b="1"/>
          </a:p>
          <a:p>
            <a:pPr marL="324000" lvl="1" indent="-216000">
              <a:buClr>
                <a:schemeClr val="tx2"/>
              </a:buClr>
              <a:buFont typeface="Trebuchet MS" panose="020B0603020202020204" pitchFamily="34" charset="0"/>
              <a:buChar char="•"/>
            </a:pPr>
            <a:r>
              <a:rPr lang="zh-TW" altLang="en-US" sz="1600" b="1"/>
              <a:t>測試組</a:t>
            </a:r>
            <a:r>
              <a:rPr lang="en-US" altLang="zh-TW" sz="1600" b="1"/>
              <a:t>:</a:t>
            </a:r>
            <a:r>
              <a:rPr lang="zh-TW" altLang="en-US" sz="1600" b="1"/>
              <a:t> 根據</a:t>
            </a:r>
            <a:r>
              <a:rPr lang="zh-TW" altLang="en-US" sz="1600" b="1">
                <a:solidFill>
                  <a:srgbClr val="29BA74"/>
                </a:solidFill>
              </a:rPr>
              <a:t>新模型建議</a:t>
            </a:r>
            <a:r>
              <a:rPr lang="en-US" altLang="zh-TW" sz="1600" b="1">
                <a:solidFill>
                  <a:srgbClr val="29BA74"/>
                </a:solidFill>
              </a:rPr>
              <a:t>(</a:t>
            </a:r>
            <a:r>
              <a:rPr lang="zh-TW" altLang="en-US" sz="1600" b="1">
                <a:solidFill>
                  <a:srgbClr val="29BA74"/>
                </a:solidFill>
              </a:rPr>
              <a:t>參考更多數據、包含產品建議</a:t>
            </a:r>
            <a:r>
              <a:rPr lang="en-US" altLang="zh-TW" sz="1600" b="1">
                <a:solidFill>
                  <a:srgbClr val="29BA74"/>
                </a:solidFill>
              </a:rPr>
              <a:t>)</a:t>
            </a:r>
            <a:r>
              <a:rPr lang="zh-TW" altLang="en-US" sz="1600" b="1"/>
              <a:t>進行電訪</a:t>
            </a:r>
            <a:endParaRPr lang="en-US" altLang="zh-TW" sz="1600" b="1"/>
          </a:p>
          <a:p>
            <a:endParaRPr lang="en-US" altLang="zh-TW" sz="1600" b="1">
              <a:solidFill>
                <a:srgbClr val="575757"/>
              </a:solidFill>
            </a:endParaRPr>
          </a:p>
          <a:p>
            <a:r>
              <a:rPr lang="zh-TW" altLang="en-US" sz="1600" b="1">
                <a:solidFill>
                  <a:srgbClr val="575757"/>
                </a:solidFill>
              </a:rPr>
              <a:t>根據測試結果適度調整模型</a:t>
            </a:r>
            <a:endParaRPr lang="en-US" altLang="zh-TW" sz="1600" b="1">
              <a:solidFill>
                <a:srgbClr val="575757"/>
              </a:solidFill>
            </a:endParaRPr>
          </a:p>
          <a:p>
            <a:endParaRPr lang="en-US" altLang="zh-TW" sz="1600" b="1">
              <a:solidFill>
                <a:srgbClr val="575757"/>
              </a:solidFill>
            </a:endParaRPr>
          </a:p>
          <a:p>
            <a:r>
              <a:rPr lang="zh-TW" altLang="en-US" sz="1600" b="1">
                <a:solidFill>
                  <a:srgbClr val="575757"/>
                </a:solidFill>
              </a:rPr>
              <a:t>大規模應用</a:t>
            </a:r>
            <a:endParaRPr lang="en-US" sz="1600" b="1">
              <a:solidFill>
                <a:srgbClr val="575757"/>
              </a:solidFill>
            </a:endParaRPr>
          </a:p>
        </p:txBody>
      </p:sp>
      <p:sp>
        <p:nvSpPr>
          <p:cNvPr id="19" name="TextBox 18">
            <a:extLst>
              <a:ext uri="{FF2B5EF4-FFF2-40B4-BE49-F238E27FC236}">
                <a16:creationId xmlns:a16="http://schemas.microsoft.com/office/drawing/2014/main" id="{E1D33AC6-D660-FDA5-639F-9066CF4AEC37}"/>
              </a:ext>
            </a:extLst>
          </p:cNvPr>
          <p:cNvSpPr txBox="1"/>
          <p:nvPr/>
        </p:nvSpPr>
        <p:spPr>
          <a:xfrm>
            <a:off x="600752" y="1754487"/>
            <a:ext cx="3028982" cy="584775"/>
          </a:xfrm>
          <a:prstGeom prst="rect">
            <a:avLst/>
          </a:prstGeom>
          <a:noFill/>
        </p:spPr>
        <p:txBody>
          <a:bodyPr wrap="square" rtlCol="0">
            <a:spAutoFit/>
          </a:bodyPr>
          <a:lstStyle/>
          <a:p>
            <a:r>
              <a:rPr lang="zh-TW" altLang="en-US" sz="1600" b="1">
                <a:solidFill>
                  <a:srgbClr val="29BA74"/>
                </a:solidFill>
              </a:rPr>
              <a:t>在潛力模型進行大規模實施前，先進行</a:t>
            </a:r>
            <a:r>
              <a:rPr lang="en-US" altLang="zh-TW" sz="1600" b="1">
                <a:solidFill>
                  <a:srgbClr val="29BA74"/>
                </a:solidFill>
              </a:rPr>
              <a:t>A/B</a:t>
            </a:r>
            <a:r>
              <a:rPr lang="zh-TW" altLang="en-US" sz="1600" b="1">
                <a:solidFill>
                  <a:srgbClr val="29BA74"/>
                </a:solidFill>
              </a:rPr>
              <a:t>測試確認成效</a:t>
            </a:r>
            <a:endParaRPr lang="en-US" sz="1600" b="1">
              <a:solidFill>
                <a:srgbClr val="29BA74"/>
              </a:solidFill>
            </a:endParaRPr>
          </a:p>
        </p:txBody>
      </p:sp>
      <p:sp>
        <p:nvSpPr>
          <p:cNvPr id="20" name="Oval 20">
            <a:extLst>
              <a:ext uri="{FF2B5EF4-FFF2-40B4-BE49-F238E27FC236}">
                <a16:creationId xmlns:a16="http://schemas.microsoft.com/office/drawing/2014/main" id="{6A74CB3D-4724-23C9-2DAA-164940544869}"/>
              </a:ext>
            </a:extLst>
          </p:cNvPr>
          <p:cNvSpPr>
            <a:spLocks noChangeAspect="1" noChangeArrowheads="1"/>
          </p:cNvSpPr>
          <p:nvPr/>
        </p:nvSpPr>
        <p:spPr bwMode="auto">
          <a:xfrm>
            <a:off x="721200" y="5683640"/>
            <a:ext cx="306910" cy="306910"/>
          </a:xfrm>
          <a:prstGeom prst="ellipse">
            <a:avLst/>
          </a:prstGeom>
          <a:solidFill>
            <a:srgbClr val="29BA74"/>
          </a:solidFill>
          <a:ln w="9525" cap="flat" cmpd="sng" algn="ctr">
            <a:solidFill>
              <a:srgbClr val="29BA74"/>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algn="ctr"/>
            <a:r>
              <a:rPr lang="en-US" sz="1200">
                <a:solidFill>
                  <a:srgbClr val="FFFFFF"/>
                </a:solidFill>
              </a:rPr>
              <a:t>4</a:t>
            </a:r>
          </a:p>
        </p:txBody>
      </p:sp>
      <p:sp>
        <p:nvSpPr>
          <p:cNvPr id="21" name="Oval 20">
            <a:extLst>
              <a:ext uri="{FF2B5EF4-FFF2-40B4-BE49-F238E27FC236}">
                <a16:creationId xmlns:a16="http://schemas.microsoft.com/office/drawing/2014/main" id="{597B2608-0520-583A-5102-66CE559369B4}"/>
              </a:ext>
            </a:extLst>
          </p:cNvPr>
          <p:cNvSpPr>
            <a:spLocks noChangeAspect="1" noChangeArrowheads="1"/>
          </p:cNvSpPr>
          <p:nvPr/>
        </p:nvSpPr>
        <p:spPr bwMode="auto">
          <a:xfrm>
            <a:off x="721200" y="5182685"/>
            <a:ext cx="306910" cy="306910"/>
          </a:xfrm>
          <a:prstGeom prst="ellipse">
            <a:avLst/>
          </a:prstGeom>
          <a:solidFill>
            <a:srgbClr val="29BA74"/>
          </a:solidFill>
          <a:ln w="9525" cap="flat" cmpd="sng" algn="ctr">
            <a:solidFill>
              <a:srgbClr val="29BA74"/>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algn="ctr"/>
            <a:r>
              <a:rPr lang="en-US" sz="1200">
                <a:solidFill>
                  <a:srgbClr val="FFFFFF"/>
                </a:solidFill>
              </a:rPr>
              <a:t>3</a:t>
            </a:r>
          </a:p>
        </p:txBody>
      </p:sp>
      <p:sp>
        <p:nvSpPr>
          <p:cNvPr id="22" name="Oval 20">
            <a:extLst>
              <a:ext uri="{FF2B5EF4-FFF2-40B4-BE49-F238E27FC236}">
                <a16:creationId xmlns:a16="http://schemas.microsoft.com/office/drawing/2014/main" id="{03D1D06B-1078-D512-D389-83804A7858F0}"/>
              </a:ext>
            </a:extLst>
          </p:cNvPr>
          <p:cNvSpPr>
            <a:spLocks noChangeAspect="1" noChangeArrowheads="1"/>
          </p:cNvSpPr>
          <p:nvPr/>
        </p:nvSpPr>
        <p:spPr bwMode="auto">
          <a:xfrm>
            <a:off x="721200" y="3261270"/>
            <a:ext cx="306910" cy="306910"/>
          </a:xfrm>
          <a:prstGeom prst="ellipse">
            <a:avLst/>
          </a:prstGeom>
          <a:solidFill>
            <a:srgbClr val="29BA74"/>
          </a:solidFill>
          <a:ln>
            <a:noFill/>
          </a:ln>
        </p:spPr>
        <p:txBody>
          <a:bodyPr vert="horz" wrap="square" lIns="0" tIns="0" rIns="0" bIns="0" numCol="1" anchor="ctr" anchorCtr="0" compatLnSpc="1">
            <a:prstTxWarp prst="textNoShape">
              <a:avLst/>
            </a:prstTxWarp>
          </a:bodyPr>
          <a:lstStyle/>
          <a:p>
            <a:pPr algn="ctr"/>
            <a:r>
              <a:rPr lang="en-US" sz="1200">
                <a:solidFill>
                  <a:schemeClr val="bg1"/>
                </a:solidFill>
              </a:rPr>
              <a:t>2</a:t>
            </a:r>
          </a:p>
        </p:txBody>
      </p:sp>
      <p:sp>
        <p:nvSpPr>
          <p:cNvPr id="23" name="Oval 20">
            <a:extLst>
              <a:ext uri="{FF2B5EF4-FFF2-40B4-BE49-F238E27FC236}">
                <a16:creationId xmlns:a16="http://schemas.microsoft.com/office/drawing/2014/main" id="{F7895538-A9AD-6980-E98E-61C66F988E79}"/>
              </a:ext>
            </a:extLst>
          </p:cNvPr>
          <p:cNvSpPr>
            <a:spLocks noChangeAspect="1" noChangeArrowheads="1"/>
          </p:cNvSpPr>
          <p:nvPr/>
        </p:nvSpPr>
        <p:spPr bwMode="auto">
          <a:xfrm>
            <a:off x="721200" y="2554781"/>
            <a:ext cx="306910" cy="306910"/>
          </a:xfrm>
          <a:prstGeom prst="ellipse">
            <a:avLst/>
          </a:prstGeom>
          <a:solidFill>
            <a:srgbClr val="29BA74"/>
          </a:solidFill>
          <a:ln>
            <a:noFill/>
          </a:ln>
        </p:spPr>
        <p:txBody>
          <a:bodyPr vert="horz" wrap="square" lIns="0" tIns="0" rIns="0" bIns="0" numCol="1" anchor="ctr" anchorCtr="0" compatLnSpc="1">
            <a:prstTxWarp prst="textNoShape">
              <a:avLst/>
            </a:prstTxWarp>
          </a:bodyPr>
          <a:lstStyle/>
          <a:p>
            <a:pPr algn="ctr"/>
            <a:r>
              <a:rPr lang="en-US" sz="1200">
                <a:solidFill>
                  <a:schemeClr val="bg1"/>
                </a:solidFill>
              </a:rPr>
              <a:t>1</a:t>
            </a:r>
          </a:p>
        </p:txBody>
      </p:sp>
      <p:sp>
        <p:nvSpPr>
          <p:cNvPr id="24" name="TextBox 23">
            <a:extLst>
              <a:ext uri="{FF2B5EF4-FFF2-40B4-BE49-F238E27FC236}">
                <a16:creationId xmlns:a16="http://schemas.microsoft.com/office/drawing/2014/main" id="{16061F32-C671-D195-BEA4-3B79053B31DB}"/>
              </a:ext>
            </a:extLst>
          </p:cNvPr>
          <p:cNvSpPr txBox="1"/>
          <p:nvPr/>
        </p:nvSpPr>
        <p:spPr>
          <a:xfrm>
            <a:off x="4128246" y="1754487"/>
            <a:ext cx="7485904" cy="338554"/>
          </a:xfrm>
          <a:prstGeom prst="rect">
            <a:avLst/>
          </a:prstGeom>
          <a:noFill/>
        </p:spPr>
        <p:txBody>
          <a:bodyPr wrap="square" rtlCol="0">
            <a:spAutoFit/>
          </a:bodyPr>
          <a:lstStyle/>
          <a:p>
            <a:r>
              <a:rPr lang="zh-TW" altLang="en-US" sz="1600" b="1">
                <a:solidFill>
                  <a:srgbClr val="29BA74"/>
                </a:solidFill>
              </a:rPr>
              <a:t>在</a:t>
            </a:r>
            <a:r>
              <a:rPr lang="en-US" altLang="zh-TW" sz="1600" b="1">
                <a:solidFill>
                  <a:srgbClr val="29BA74"/>
                </a:solidFill>
              </a:rPr>
              <a:t>A/B</a:t>
            </a:r>
            <a:r>
              <a:rPr lang="zh-TW" altLang="en-US" sz="1600" b="1">
                <a:solidFill>
                  <a:srgbClr val="29BA74"/>
                </a:solidFill>
              </a:rPr>
              <a:t>測試期間，轉換率相較測試前提升</a:t>
            </a:r>
            <a:r>
              <a:rPr lang="en-US" altLang="zh-TW" sz="1600" b="1">
                <a:solidFill>
                  <a:srgbClr val="29BA74"/>
                </a:solidFill>
              </a:rPr>
              <a:t>80%</a:t>
            </a:r>
            <a:r>
              <a:rPr lang="zh-TW" altLang="en-US" sz="1600" b="1">
                <a:solidFill>
                  <a:srgbClr val="29BA74"/>
                </a:solidFill>
              </a:rPr>
              <a:t>，相較控制組在同一期間高出</a:t>
            </a:r>
            <a:r>
              <a:rPr lang="en-US" altLang="zh-TW" sz="1600" b="1">
                <a:solidFill>
                  <a:srgbClr val="29BA74"/>
                </a:solidFill>
              </a:rPr>
              <a:t>85%</a:t>
            </a:r>
          </a:p>
        </p:txBody>
      </p:sp>
      <p:sp>
        <p:nvSpPr>
          <p:cNvPr id="26" name="AutoShape 4">
            <a:extLst>
              <a:ext uri="{FF2B5EF4-FFF2-40B4-BE49-F238E27FC236}">
                <a16:creationId xmlns:a16="http://schemas.microsoft.com/office/drawing/2014/main" id="{C7CAC532-E115-6205-163E-19D9BBBDD70D}"/>
              </a:ext>
            </a:extLst>
          </p:cNvPr>
          <p:cNvSpPr>
            <a:spLocks noChangeArrowheads="1"/>
          </p:cNvSpPr>
          <p:nvPr/>
        </p:nvSpPr>
        <p:spPr bwMode="auto">
          <a:xfrm flipH="1">
            <a:off x="3745515" y="1857127"/>
            <a:ext cx="1341982" cy="4185527"/>
          </a:xfrm>
          <a:prstGeom prst="homePlate">
            <a:avLst>
              <a:gd name="adj" fmla="val 15610"/>
            </a:avLst>
          </a:prstGeom>
          <a:gradFill>
            <a:gsLst>
              <a:gs pos="69000">
                <a:schemeClr val="bg1">
                  <a:alpha val="0"/>
                </a:schemeClr>
              </a:gs>
              <a:gs pos="27000">
                <a:schemeClr val="bg1">
                  <a:alpha val="0"/>
                </a:schemeClr>
              </a:gs>
              <a:gs pos="0">
                <a:schemeClr val="accent1">
                  <a:lumMod val="40000"/>
                  <a:lumOff val="60000"/>
                </a:schemeClr>
              </a:gs>
            </a:gsLst>
            <a:lin ang="10800000" scaled="1"/>
          </a:gradFill>
          <a:ln>
            <a:noFill/>
          </a:ln>
          <a:effectLst/>
        </p:spPr>
        <p:txBody>
          <a:bodyPr/>
          <a:lstStyle/>
          <a:p>
            <a:endParaRPr lang="en-US" altLang="zh-CN">
              <a:solidFill>
                <a:srgbClr val="575757"/>
              </a:solidFill>
              <a:latin typeface="Trebuchet MS" panose="020B0603020202020204" pitchFamily="34" charset="0"/>
              <a:sym typeface="Trebuchet MS" panose="020B0603020202020204" pitchFamily="34" charset="0"/>
            </a:endParaRPr>
          </a:p>
        </p:txBody>
      </p:sp>
    </p:spTree>
    <p:extLst>
      <p:ext uri="{BB962C8B-B14F-4D97-AF65-F5344CB8AC3E}">
        <p14:creationId xmlns:p14="http://schemas.microsoft.com/office/powerpoint/2010/main" val="329845601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3CBF8222-F7A3-4B65-8FFF-4D6FC853F29A}"/>
              </a:ext>
            </a:extLst>
          </p:cNvPr>
          <p:cNvGraphicFramePr>
            <a:graphicFrameLocks noChangeAspect="1"/>
          </p:cNvGraphicFramePr>
          <p:nvPr>
            <p:custDataLst>
              <p:tags r:id="rId1"/>
            </p:custDataLst>
            <p:extLst>
              <p:ext uri="{D42A27DB-BD31-4B8C-83A1-F6EECF244321}">
                <p14:modId xmlns:p14="http://schemas.microsoft.com/office/powerpoint/2010/main" val="34924686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395" imgH="394" progId="TCLayout.ActiveDocument.1">
                  <p:embed/>
                </p:oleObj>
              </mc:Choice>
              <mc:Fallback>
                <p:oleObj name="think-cell Slide" r:id="rId7" imgW="395" imgH="394" progId="TCLayout.ActiveDocument.1">
                  <p:embed/>
                  <p:pic>
                    <p:nvPicPr>
                      <p:cNvPr id="4" name="Object 3" hidden="1">
                        <a:extLst>
                          <a:ext uri="{FF2B5EF4-FFF2-40B4-BE49-F238E27FC236}">
                            <a16:creationId xmlns:a16="http://schemas.microsoft.com/office/drawing/2014/main" id="{3CBF8222-F7A3-4B65-8FFF-4D6FC853F29A}"/>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5" name="Rectangle 4" hidden="1">
            <a:extLst>
              <a:ext uri="{FF2B5EF4-FFF2-40B4-BE49-F238E27FC236}">
                <a16:creationId xmlns:a16="http://schemas.microsoft.com/office/drawing/2014/main" id="{3A3C92E9-99B5-47F1-B4DF-62C8D80CB936}"/>
              </a:ext>
            </a:extLst>
          </p:cNvPr>
          <p:cNvSpPr/>
          <p:nvPr>
            <p:custDataLst>
              <p:tags r:id="rId2"/>
            </p:custDataLst>
          </p:nvPr>
        </p:nvSpPr>
        <p:spPr>
          <a:xfrm>
            <a:off x="0" y="0"/>
            <a:ext cx="158750" cy="158750"/>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endParaRPr lang="en-US" sz="3400">
              <a:solidFill>
                <a:srgbClr val="FFFFFF"/>
              </a:solidFill>
              <a:latin typeface="Trebuchet MS" panose="020B0603020202020204" pitchFamily="34" charset="0"/>
              <a:ea typeface="Microsoft YaHei" panose="020B0503020204020204" pitchFamily="34" charset="-122"/>
              <a:cs typeface="+mj-cs"/>
              <a:sym typeface="Trebuchet MS" panose="020B0603020202020204" pitchFamily="34" charset="0"/>
            </a:endParaRPr>
          </a:p>
        </p:txBody>
      </p:sp>
      <p:grpSp>
        <p:nvGrpSpPr>
          <p:cNvPr id="10" name="Group 9">
            <a:extLst>
              <a:ext uri="{FF2B5EF4-FFF2-40B4-BE49-F238E27FC236}">
                <a16:creationId xmlns:a16="http://schemas.microsoft.com/office/drawing/2014/main" id="{BDBD3918-BFA3-4FF5-BD28-839E2424D8B3}"/>
              </a:ext>
            </a:extLst>
          </p:cNvPr>
          <p:cNvGrpSpPr/>
          <p:nvPr/>
        </p:nvGrpSpPr>
        <p:grpSpPr>
          <a:xfrm>
            <a:off x="629998" y="1319808"/>
            <a:ext cx="3497518" cy="1644341"/>
            <a:chOff x="629998" y="1319808"/>
            <a:chExt cx="3497518" cy="1644341"/>
          </a:xfrm>
        </p:grpSpPr>
        <p:sp>
          <p:nvSpPr>
            <p:cNvPr id="14" name="ee4pHeader1">
              <a:extLst>
                <a:ext uri="{FF2B5EF4-FFF2-40B4-BE49-F238E27FC236}">
                  <a16:creationId xmlns:a16="http://schemas.microsoft.com/office/drawing/2014/main" id="{FD10E240-783C-4551-94A1-63B39EFE5DFA}"/>
                </a:ext>
              </a:extLst>
            </p:cNvPr>
            <p:cNvSpPr txBox="1"/>
            <p:nvPr/>
          </p:nvSpPr>
          <p:spPr>
            <a:xfrm>
              <a:off x="629998" y="1770969"/>
              <a:ext cx="3317778" cy="1193180"/>
            </a:xfrm>
            <a:prstGeom prst="rect">
              <a:avLst/>
            </a:prstGeom>
            <a:solidFill>
              <a:srgbClr val="F2F2F2"/>
            </a:solidFill>
            <a:ln w="6858" cap="rnd" cmpd="sng" algn="ctr">
              <a:solidFill>
                <a:srgbClr val="9A9A9A"/>
              </a:solidFill>
              <a:prstDash val="solid"/>
              <a:round/>
              <a:headEnd type="none" w="med" len="med"/>
              <a:tailEnd type="none" w="med" len="med"/>
            </a:ln>
          </p:spPr>
          <p:txBody>
            <a:bodyPr wrap="square" lIns="91440" tIns="91440" rIns="91440" bIns="91440" rtlCol="0" anchor="t" anchorCtr="0">
              <a:noAutofit/>
            </a:bodyPr>
            <a:lstStyle>
              <a:defPPr>
                <a:defRPr lang="en-US"/>
              </a:defPPr>
              <a:lvl1pPr>
                <a:buSzPct val="100000"/>
                <a:buFont typeface="Trebuchet MS" panose="020B0603020202020204" pitchFamily="34" charset="0"/>
                <a:buChar char="​"/>
                <a:defRPr sz="1400">
                  <a:solidFill>
                    <a:schemeClr val="tx1">
                      <a:lumMod val="100000"/>
                    </a:schemeClr>
                  </a:solidFill>
                  <a:latin typeface="Trebuchet MS" panose="020B0603020202020204" pitchFamily="34" charset="0"/>
                </a:defRPr>
              </a:lvl1pPr>
              <a:lvl2pPr marL="324000" lvl="1" indent="-216000">
                <a:spcBef>
                  <a:spcPts val="600"/>
                </a:spcBef>
                <a:buClr>
                  <a:schemeClr val="tx2">
                    <a:lumMod val="100000"/>
                  </a:schemeClr>
                </a:buClr>
                <a:buSzPct val="100000"/>
                <a:buFont typeface="Trebuchet MS" panose="020B0603020202020204" pitchFamily="34" charset="0"/>
                <a:buChar char="•"/>
                <a:defRPr sz="1200">
                  <a:solidFill>
                    <a:schemeClr val="tx1">
                      <a:lumMod val="100000"/>
                    </a:schemeClr>
                  </a:solidFill>
                  <a:latin typeface="Trebuchet MS" panose="020B0603020202020204" pitchFamily="34" charset="0"/>
                </a:defRPr>
              </a:lvl2pPr>
            </a:lstStyle>
            <a:p>
              <a:r>
                <a:rPr lang="zh-TW" altLang="en-US">
                  <a:ea typeface="Microsoft YaHei" panose="020B0503020204020204" pitchFamily="34" charset="-122"/>
                </a:rPr>
                <a:t>新戶活動，用於激活關鍵通路</a:t>
              </a:r>
              <a:endParaRPr lang="en-US" altLang="zh-TW">
                <a:ea typeface="Microsoft YaHei" panose="020B0503020204020204" pitchFamily="34" charset="-122"/>
              </a:endParaRPr>
            </a:p>
            <a:p>
              <a:endParaRPr lang="en-US" altLang="zh-TW">
                <a:ea typeface="Microsoft YaHei" panose="020B0503020204020204" pitchFamily="34" charset="-122"/>
              </a:endParaRPr>
            </a:p>
            <a:p>
              <a:r>
                <a:rPr lang="en-US">
                  <a:ea typeface="Microsoft YaHei" panose="020B0503020204020204" pitchFamily="34" charset="-122"/>
                </a:rPr>
                <a:t>"</a:t>
              </a:r>
              <a:r>
                <a:rPr lang="en-US" err="1">
                  <a:ea typeface="Microsoft YaHei" panose="020B0503020204020204" pitchFamily="34" charset="-122"/>
                </a:rPr>
                <a:t>下載</a:t>
              </a:r>
              <a:r>
                <a:rPr lang="en-US" altLang="zh-TW" err="1">
                  <a:ea typeface="Microsoft YaHei" panose="020B0503020204020204" pitchFamily="34" charset="-122"/>
                </a:rPr>
                <a:t>APP</a:t>
              </a:r>
              <a:r>
                <a:rPr lang="en-US" err="1">
                  <a:ea typeface="Microsoft YaHei" panose="020B0503020204020204" pitchFamily="34" charset="-122"/>
                </a:rPr>
                <a:t>並設定使用者名稱，體驗</a:t>
              </a:r>
              <a:r>
                <a:rPr lang="zh-TW" altLang="en-US">
                  <a:ea typeface="Microsoft YaHei" panose="020B0503020204020204" pitchFamily="34" charset="-122"/>
                </a:rPr>
                <a:t>凱基銀行</a:t>
              </a:r>
              <a:r>
                <a:rPr lang="en-US">
                  <a:ea typeface="Microsoft YaHei" panose="020B0503020204020204" pitchFamily="34" charset="-122"/>
                </a:rPr>
                <a:t>的</a:t>
              </a:r>
              <a:r>
                <a:rPr lang="zh-TW" altLang="en-US">
                  <a:ea typeface="Microsoft YaHei" panose="020B0503020204020204" pitchFamily="34" charset="-122"/>
                </a:rPr>
                <a:t>全新</a:t>
              </a:r>
              <a:r>
                <a:rPr lang="en-US" err="1">
                  <a:ea typeface="Microsoft YaHei" panose="020B0503020204020204" pitchFamily="34" charset="-122"/>
                </a:rPr>
                <a:t>世界</a:t>
              </a:r>
              <a:r>
                <a:rPr lang="en-US">
                  <a:ea typeface="Microsoft YaHei" panose="020B0503020204020204" pitchFamily="34" charset="-122"/>
                </a:rPr>
                <a:t>！"</a:t>
              </a:r>
            </a:p>
          </p:txBody>
        </p:sp>
        <p:sp>
          <p:nvSpPr>
            <p:cNvPr id="78" name="Rounded Rectangle 30">
              <a:extLst>
                <a:ext uri="{FF2B5EF4-FFF2-40B4-BE49-F238E27FC236}">
                  <a16:creationId xmlns:a16="http://schemas.microsoft.com/office/drawing/2014/main" id="{2CDC42DD-C35B-4A2C-8CA6-75C3DFAB8C93}"/>
                </a:ext>
              </a:extLst>
            </p:cNvPr>
            <p:cNvSpPr>
              <a:spLocks noChangeArrowheads="1"/>
            </p:cNvSpPr>
            <p:nvPr/>
          </p:nvSpPr>
          <p:spPr bwMode="auto">
            <a:xfrm>
              <a:off x="809738" y="1391826"/>
              <a:ext cx="3317778" cy="409105"/>
            </a:xfrm>
            <a:prstGeom prst="roundRect">
              <a:avLst>
                <a:gd name="adj" fmla="val 50000"/>
              </a:avLst>
            </a:prstGeom>
            <a:solidFill>
              <a:schemeClr val="bg1">
                <a:lumMod val="85000"/>
              </a:schemeClr>
            </a:solidFill>
            <a:ln>
              <a:noFill/>
            </a:ln>
          </p:spPr>
          <p:txBody>
            <a:bodyPr vert="horz" wrap="square" lIns="45720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TW" altLang="en-US" sz="1600" b="1">
                  <a:solidFill>
                    <a:srgbClr val="03522D"/>
                  </a:solidFill>
                  <a:ea typeface="Microsoft YaHei" panose="020B0503020204020204" pitchFamily="34" charset="-122"/>
                </a:rPr>
                <a:t>激活新用戶</a:t>
              </a:r>
              <a:endParaRPr lang="en-US" sz="1600" b="1">
                <a:solidFill>
                  <a:srgbClr val="03522D"/>
                </a:solidFill>
                <a:latin typeface="Trebuchet MS" panose="020B0603020202020204" pitchFamily="34" charset="0"/>
                <a:ea typeface="Microsoft YaHei" panose="020B0503020204020204" pitchFamily="34" charset="-122"/>
                <a:sym typeface="Trebuchet MS" panose="020B0603020202020204" pitchFamily="34" charset="0"/>
              </a:endParaRPr>
            </a:p>
          </p:txBody>
        </p:sp>
        <p:grpSp>
          <p:nvGrpSpPr>
            <p:cNvPr id="13" name="Group 12">
              <a:extLst>
                <a:ext uri="{FF2B5EF4-FFF2-40B4-BE49-F238E27FC236}">
                  <a16:creationId xmlns:a16="http://schemas.microsoft.com/office/drawing/2014/main" id="{EB06B33E-6B0F-4D20-9434-01D64B7B384A}"/>
                </a:ext>
              </a:extLst>
            </p:cNvPr>
            <p:cNvGrpSpPr/>
            <p:nvPr/>
          </p:nvGrpSpPr>
          <p:grpSpPr>
            <a:xfrm>
              <a:off x="629999" y="1319808"/>
              <a:ext cx="702244" cy="521457"/>
              <a:chOff x="629997" y="1545149"/>
              <a:chExt cx="1144825" cy="600364"/>
            </a:xfrm>
          </p:grpSpPr>
          <p:sp>
            <p:nvSpPr>
              <p:cNvPr id="77" name="Freeform 29">
                <a:extLst>
                  <a:ext uri="{FF2B5EF4-FFF2-40B4-BE49-F238E27FC236}">
                    <a16:creationId xmlns:a16="http://schemas.microsoft.com/office/drawing/2014/main" id="{66710F25-1A2F-4F40-AB99-4446185181A4}"/>
                  </a:ext>
                </a:extLst>
              </p:cNvPr>
              <p:cNvSpPr>
                <a:spLocks/>
              </p:cNvSpPr>
              <p:nvPr/>
            </p:nvSpPr>
            <p:spPr bwMode="auto">
              <a:xfrm>
                <a:off x="1618042" y="1545149"/>
                <a:ext cx="156780" cy="91462"/>
              </a:xfrm>
              <a:custGeom>
                <a:avLst/>
                <a:gdLst>
                  <a:gd name="T0" fmla="*/ 95 w 95"/>
                  <a:gd name="T1" fmla="*/ 51 h 51"/>
                  <a:gd name="T2" fmla="*/ 0 w 95"/>
                  <a:gd name="T3" fmla="*/ 51 h 51"/>
                  <a:gd name="T4" fmla="*/ 39 w 95"/>
                  <a:gd name="T5" fmla="*/ 0 h 51"/>
                  <a:gd name="T6" fmla="*/ 95 w 95"/>
                  <a:gd name="T7" fmla="*/ 51 h 51"/>
                </a:gdLst>
                <a:ahLst/>
                <a:cxnLst>
                  <a:cxn ang="0">
                    <a:pos x="T0" y="T1"/>
                  </a:cxn>
                  <a:cxn ang="0">
                    <a:pos x="T2" y="T3"/>
                  </a:cxn>
                  <a:cxn ang="0">
                    <a:pos x="T4" y="T5"/>
                  </a:cxn>
                  <a:cxn ang="0">
                    <a:pos x="T6" y="T7"/>
                  </a:cxn>
                </a:cxnLst>
                <a:rect l="0" t="0" r="r" b="b"/>
                <a:pathLst>
                  <a:path w="95" h="51">
                    <a:moveTo>
                      <a:pt x="95" y="51"/>
                    </a:moveTo>
                    <a:lnTo>
                      <a:pt x="0" y="51"/>
                    </a:lnTo>
                    <a:lnTo>
                      <a:pt x="39" y="0"/>
                    </a:lnTo>
                    <a:lnTo>
                      <a:pt x="95" y="51"/>
                    </a:ln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rgbClr val="000000"/>
                  </a:solidFill>
                  <a:latin typeface="Trebuchet MS" panose="020B0603020202020204" pitchFamily="34" charset="0"/>
                  <a:ea typeface="Microsoft YaHei" panose="020B0503020204020204" pitchFamily="34" charset="-122"/>
                  <a:sym typeface="Trebuchet MS" panose="020B0603020202020204" pitchFamily="34" charset="0"/>
                </a:endParaRPr>
              </a:p>
            </p:txBody>
          </p:sp>
          <p:sp>
            <p:nvSpPr>
              <p:cNvPr id="79" name="Freeform: Shape 76">
                <a:extLst>
                  <a:ext uri="{FF2B5EF4-FFF2-40B4-BE49-F238E27FC236}">
                    <a16:creationId xmlns:a16="http://schemas.microsoft.com/office/drawing/2014/main" id="{152BBD49-F1B2-4012-B662-97C648D6EF3C}"/>
                  </a:ext>
                </a:extLst>
              </p:cNvPr>
              <p:cNvSpPr>
                <a:spLocks/>
              </p:cNvSpPr>
              <p:nvPr/>
            </p:nvSpPr>
            <p:spPr bwMode="auto">
              <a:xfrm>
                <a:off x="1055771" y="1603886"/>
                <a:ext cx="538474" cy="493589"/>
              </a:xfrm>
              <a:custGeom>
                <a:avLst/>
                <a:gdLst>
                  <a:gd name="connsiteX0" fmla="*/ 0 w 949466"/>
                  <a:gd name="connsiteY0" fmla="*/ 0 h 800896"/>
                  <a:gd name="connsiteX1" fmla="*/ 949466 w 949466"/>
                  <a:gd name="connsiteY1" fmla="*/ 0 h 800896"/>
                  <a:gd name="connsiteX2" fmla="*/ 344345 w 949466"/>
                  <a:gd name="connsiteY2" fmla="*/ 800896 h 800896"/>
                  <a:gd name="connsiteX3" fmla="*/ 0 w 949466"/>
                  <a:gd name="connsiteY3" fmla="*/ 800896 h 800896"/>
                </a:gdLst>
                <a:ahLst/>
                <a:cxnLst>
                  <a:cxn ang="0">
                    <a:pos x="connsiteX0" y="connsiteY0"/>
                  </a:cxn>
                  <a:cxn ang="0">
                    <a:pos x="connsiteX1" y="connsiteY1"/>
                  </a:cxn>
                  <a:cxn ang="0">
                    <a:pos x="connsiteX2" y="connsiteY2"/>
                  </a:cxn>
                  <a:cxn ang="0">
                    <a:pos x="connsiteX3" y="connsiteY3"/>
                  </a:cxn>
                </a:cxnLst>
                <a:rect l="l" t="t" r="r" b="b"/>
                <a:pathLst>
                  <a:path w="949466" h="800896">
                    <a:moveTo>
                      <a:pt x="0" y="0"/>
                    </a:moveTo>
                    <a:lnTo>
                      <a:pt x="949466" y="0"/>
                    </a:lnTo>
                    <a:lnTo>
                      <a:pt x="344345" y="800896"/>
                    </a:lnTo>
                    <a:lnTo>
                      <a:pt x="0" y="800896"/>
                    </a:lnTo>
                    <a:close/>
                  </a:path>
                </a:pathLst>
              </a:custGeom>
              <a:solidFill>
                <a:schemeClr val="accent4"/>
              </a:solidFill>
              <a:ln>
                <a:noFill/>
              </a:ln>
              <a:effectLst>
                <a:outerShdw blurRad="228600" dist="76200" algn="l" rotWithShape="0">
                  <a:prstClr val="black">
                    <a:alpha val="40000"/>
                  </a:prstClr>
                </a:outerShdw>
              </a:effectLst>
            </p:spPr>
            <p:txBody>
              <a:bodyPr vert="horz" wrap="square" lIns="182880" tIns="45720" rIns="91440" bIns="45720" numCol="1" anchor="ctr"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6600" b="1">
                  <a:solidFill>
                    <a:prstClr val="white"/>
                  </a:solidFill>
                  <a:latin typeface="Trebuchet MS" panose="020B0603020202020204" pitchFamily="34" charset="0"/>
                  <a:ea typeface="Microsoft YaHei" panose="020B0503020204020204" pitchFamily="34" charset="-122"/>
                  <a:sym typeface="Trebuchet MS" panose="020B0603020202020204" pitchFamily="34" charset="0"/>
                </a:endParaRPr>
              </a:p>
            </p:txBody>
          </p:sp>
          <p:sp>
            <p:nvSpPr>
              <p:cNvPr id="80" name="Freeform 32">
                <a:extLst>
                  <a:ext uri="{FF2B5EF4-FFF2-40B4-BE49-F238E27FC236}">
                    <a16:creationId xmlns:a16="http://schemas.microsoft.com/office/drawing/2014/main" id="{11038A25-5EA9-44F5-959F-D055EBADBD71}"/>
                  </a:ext>
                </a:extLst>
              </p:cNvPr>
              <p:cNvSpPr>
                <a:spLocks/>
              </p:cNvSpPr>
              <p:nvPr/>
            </p:nvSpPr>
            <p:spPr bwMode="auto">
              <a:xfrm>
                <a:off x="629997" y="1545149"/>
                <a:ext cx="1057882" cy="600364"/>
              </a:xfrm>
              <a:custGeom>
                <a:avLst/>
                <a:gdLst>
                  <a:gd name="T0" fmla="*/ 1175 w 1175"/>
                  <a:gd name="T1" fmla="*/ 0 h 675"/>
                  <a:gd name="T2" fmla="*/ 0 w 1175"/>
                  <a:gd name="T3" fmla="*/ 0 h 675"/>
                  <a:gd name="T4" fmla="*/ 0 w 1175"/>
                  <a:gd name="T5" fmla="*/ 675 h 675"/>
                  <a:gd name="T6" fmla="*/ 665 w 1175"/>
                  <a:gd name="T7" fmla="*/ 675 h 675"/>
                  <a:gd name="T8" fmla="*/ 1175 w 1175"/>
                  <a:gd name="T9" fmla="*/ 0 h 675"/>
                </a:gdLst>
                <a:ahLst/>
                <a:cxnLst>
                  <a:cxn ang="0">
                    <a:pos x="T0" y="T1"/>
                  </a:cxn>
                  <a:cxn ang="0">
                    <a:pos x="T2" y="T3"/>
                  </a:cxn>
                  <a:cxn ang="0">
                    <a:pos x="T4" y="T5"/>
                  </a:cxn>
                  <a:cxn ang="0">
                    <a:pos x="T6" y="T7"/>
                  </a:cxn>
                  <a:cxn ang="0">
                    <a:pos x="T8" y="T9"/>
                  </a:cxn>
                </a:cxnLst>
                <a:rect l="0" t="0" r="r" b="b"/>
                <a:pathLst>
                  <a:path w="1175" h="675">
                    <a:moveTo>
                      <a:pt x="1175" y="0"/>
                    </a:moveTo>
                    <a:lnTo>
                      <a:pt x="0" y="0"/>
                    </a:lnTo>
                    <a:lnTo>
                      <a:pt x="0" y="675"/>
                    </a:lnTo>
                    <a:lnTo>
                      <a:pt x="665" y="675"/>
                    </a:lnTo>
                    <a:lnTo>
                      <a:pt x="1175" y="0"/>
                    </a:lnTo>
                    <a:close/>
                  </a:path>
                </a:pathLst>
              </a:custGeom>
              <a:solidFill>
                <a:schemeClr val="tx2"/>
              </a:solidFill>
              <a:ln>
                <a:noFill/>
              </a:ln>
            </p:spPr>
            <p:txBody>
              <a:bodyPr vert="horz" wrap="square" lIns="27432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6600" b="1">
                  <a:solidFill>
                    <a:prstClr val="white"/>
                  </a:solidFill>
                  <a:effectLst>
                    <a:outerShdw blurRad="38100" dist="38100" dir="2700000" algn="tl">
                      <a:srgbClr val="000000">
                        <a:alpha val="43137"/>
                      </a:srgbClr>
                    </a:outerShdw>
                  </a:effectLst>
                  <a:latin typeface="Trebuchet MS" panose="020B0603020202020204" pitchFamily="34" charset="0"/>
                  <a:ea typeface="Microsoft YaHei" panose="020B0503020204020204" pitchFamily="34" charset="-122"/>
                  <a:sym typeface="Trebuchet MS" panose="020B0603020202020204" pitchFamily="34" charset="0"/>
                </a:endParaRPr>
              </a:p>
            </p:txBody>
          </p:sp>
        </p:grpSp>
        <p:grpSp>
          <p:nvGrpSpPr>
            <p:cNvPr id="125" name="bcgIcons_InteractiveHand">
              <a:extLst>
                <a:ext uri="{FF2B5EF4-FFF2-40B4-BE49-F238E27FC236}">
                  <a16:creationId xmlns:a16="http://schemas.microsoft.com/office/drawing/2014/main" id="{489F5818-4FEC-41D3-8E48-616FF494B7E8}"/>
                </a:ext>
              </a:extLst>
            </p:cNvPr>
            <p:cNvGrpSpPr>
              <a:grpSpLocks noChangeAspect="1"/>
            </p:cNvGrpSpPr>
            <p:nvPr/>
          </p:nvGrpSpPr>
          <p:grpSpPr bwMode="auto">
            <a:xfrm>
              <a:off x="660345" y="1371462"/>
              <a:ext cx="417750" cy="418138"/>
              <a:chOff x="1682" y="0"/>
              <a:chExt cx="4316" cy="4320"/>
            </a:xfrm>
          </p:grpSpPr>
          <p:sp>
            <p:nvSpPr>
              <p:cNvPr id="126" name="AutoShape 13">
                <a:extLst>
                  <a:ext uri="{FF2B5EF4-FFF2-40B4-BE49-F238E27FC236}">
                    <a16:creationId xmlns:a16="http://schemas.microsoft.com/office/drawing/2014/main" id="{58EADD2A-CE02-4BC0-B3C7-BF49CEE26995}"/>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5837" tIns="32918" rIns="65837" bIns="32918" numCol="1" anchor="t" anchorCtr="0" compatLnSpc="1">
                <a:prstTxWarp prst="textNoShape">
                  <a:avLst/>
                </a:prstTxWarp>
              </a:bodyPr>
              <a:lstStyle/>
              <a:p>
                <a:endParaRPr lang="en-US"/>
              </a:p>
            </p:txBody>
          </p:sp>
          <p:sp>
            <p:nvSpPr>
              <p:cNvPr id="127" name="Freeform 15">
                <a:extLst>
                  <a:ext uri="{FF2B5EF4-FFF2-40B4-BE49-F238E27FC236}">
                    <a16:creationId xmlns:a16="http://schemas.microsoft.com/office/drawing/2014/main" id="{091A7918-A6E0-4C12-80A0-B63558FEC66E}"/>
                  </a:ext>
                </a:extLst>
              </p:cNvPr>
              <p:cNvSpPr>
                <a:spLocks/>
              </p:cNvSpPr>
              <p:nvPr/>
            </p:nvSpPr>
            <p:spPr bwMode="auto">
              <a:xfrm>
                <a:off x="2795" y="821"/>
                <a:ext cx="2120" cy="2351"/>
              </a:xfrm>
              <a:custGeom>
                <a:avLst/>
                <a:gdLst>
                  <a:gd name="T0" fmla="*/ 1012 w 1132"/>
                  <a:gd name="T1" fmla="*/ 516 h 1254"/>
                  <a:gd name="T2" fmla="*/ 931 w 1132"/>
                  <a:gd name="T3" fmla="*/ 548 h 1254"/>
                  <a:gd name="T4" fmla="*/ 816 w 1132"/>
                  <a:gd name="T5" fmla="*/ 462 h 1254"/>
                  <a:gd name="T6" fmla="*/ 735 w 1132"/>
                  <a:gd name="T7" fmla="*/ 492 h 1254"/>
                  <a:gd name="T8" fmla="*/ 620 w 1132"/>
                  <a:gd name="T9" fmla="*/ 404 h 1254"/>
                  <a:gd name="T10" fmla="*/ 544 w 1132"/>
                  <a:gd name="T11" fmla="*/ 431 h 1254"/>
                  <a:gd name="T12" fmla="*/ 544 w 1132"/>
                  <a:gd name="T13" fmla="*/ 120 h 1254"/>
                  <a:gd name="T14" fmla="*/ 424 w 1132"/>
                  <a:gd name="T15" fmla="*/ 0 h 1254"/>
                  <a:gd name="T16" fmla="*/ 304 w 1132"/>
                  <a:gd name="T17" fmla="*/ 120 h 1254"/>
                  <a:gd name="T18" fmla="*/ 304 w 1132"/>
                  <a:gd name="T19" fmla="*/ 774 h 1254"/>
                  <a:gd name="T20" fmla="*/ 231 w 1132"/>
                  <a:gd name="T21" fmla="*/ 670 h 1254"/>
                  <a:gd name="T22" fmla="*/ 72 w 1132"/>
                  <a:gd name="T23" fmla="*/ 637 h 1254"/>
                  <a:gd name="T24" fmla="*/ 30 w 1132"/>
                  <a:gd name="T25" fmla="*/ 794 h 1254"/>
                  <a:gd name="T26" fmla="*/ 278 w 1132"/>
                  <a:gd name="T27" fmla="*/ 1254 h 1254"/>
                  <a:gd name="T28" fmla="*/ 312 w 1132"/>
                  <a:gd name="T29" fmla="*/ 1225 h 1254"/>
                  <a:gd name="T30" fmla="*/ 68 w 1132"/>
                  <a:gd name="T31" fmla="*/ 774 h 1254"/>
                  <a:gd name="T32" fmla="*/ 95 w 1132"/>
                  <a:gd name="T33" fmla="*/ 675 h 1254"/>
                  <a:gd name="T34" fmla="*/ 195 w 1132"/>
                  <a:gd name="T35" fmla="*/ 695 h 1254"/>
                  <a:gd name="T36" fmla="*/ 308 w 1132"/>
                  <a:gd name="T37" fmla="*/ 856 h 1254"/>
                  <a:gd name="T38" fmla="*/ 332 w 1132"/>
                  <a:gd name="T39" fmla="*/ 865 h 1254"/>
                  <a:gd name="T40" fmla="*/ 348 w 1132"/>
                  <a:gd name="T41" fmla="*/ 844 h 1254"/>
                  <a:gd name="T42" fmla="*/ 348 w 1132"/>
                  <a:gd name="T43" fmla="*/ 120 h 1254"/>
                  <a:gd name="T44" fmla="*/ 424 w 1132"/>
                  <a:gd name="T45" fmla="*/ 44 h 1254"/>
                  <a:gd name="T46" fmla="*/ 500 w 1132"/>
                  <a:gd name="T47" fmla="*/ 120 h 1254"/>
                  <a:gd name="T48" fmla="*/ 500 w 1132"/>
                  <a:gd name="T49" fmla="*/ 524 h 1254"/>
                  <a:gd name="T50" fmla="*/ 500 w 1132"/>
                  <a:gd name="T51" fmla="*/ 636 h 1254"/>
                  <a:gd name="T52" fmla="*/ 500 w 1132"/>
                  <a:gd name="T53" fmla="*/ 647 h 1254"/>
                  <a:gd name="T54" fmla="*/ 522 w 1132"/>
                  <a:gd name="T55" fmla="*/ 669 h 1254"/>
                  <a:gd name="T56" fmla="*/ 544 w 1132"/>
                  <a:gd name="T57" fmla="*/ 647 h 1254"/>
                  <a:gd name="T58" fmla="*/ 544 w 1132"/>
                  <a:gd name="T59" fmla="*/ 636 h 1254"/>
                  <a:gd name="T60" fmla="*/ 544 w 1132"/>
                  <a:gd name="T61" fmla="*/ 524 h 1254"/>
                  <a:gd name="T62" fmla="*/ 620 w 1132"/>
                  <a:gd name="T63" fmla="*/ 448 h 1254"/>
                  <a:gd name="T64" fmla="*/ 696 w 1132"/>
                  <a:gd name="T65" fmla="*/ 524 h 1254"/>
                  <a:gd name="T66" fmla="*/ 696 w 1132"/>
                  <a:gd name="T67" fmla="*/ 582 h 1254"/>
                  <a:gd name="T68" fmla="*/ 696 w 1132"/>
                  <a:gd name="T69" fmla="*/ 621 h 1254"/>
                  <a:gd name="T70" fmla="*/ 696 w 1132"/>
                  <a:gd name="T71" fmla="*/ 665 h 1254"/>
                  <a:gd name="T72" fmla="*/ 718 w 1132"/>
                  <a:gd name="T73" fmla="*/ 687 h 1254"/>
                  <a:gd name="T74" fmla="*/ 740 w 1132"/>
                  <a:gd name="T75" fmla="*/ 665 h 1254"/>
                  <a:gd name="T76" fmla="*/ 740 w 1132"/>
                  <a:gd name="T77" fmla="*/ 621 h 1254"/>
                  <a:gd name="T78" fmla="*/ 740 w 1132"/>
                  <a:gd name="T79" fmla="*/ 582 h 1254"/>
                  <a:gd name="T80" fmla="*/ 816 w 1132"/>
                  <a:gd name="T81" fmla="*/ 506 h 1254"/>
                  <a:gd name="T82" fmla="*/ 892 w 1132"/>
                  <a:gd name="T83" fmla="*/ 582 h 1254"/>
                  <a:gd name="T84" fmla="*/ 892 w 1132"/>
                  <a:gd name="T85" fmla="*/ 636 h 1254"/>
                  <a:gd name="T86" fmla="*/ 892 w 1132"/>
                  <a:gd name="T87" fmla="*/ 672 h 1254"/>
                  <a:gd name="T88" fmla="*/ 892 w 1132"/>
                  <a:gd name="T89" fmla="*/ 691 h 1254"/>
                  <a:gd name="T90" fmla="*/ 914 w 1132"/>
                  <a:gd name="T91" fmla="*/ 713 h 1254"/>
                  <a:gd name="T92" fmla="*/ 936 w 1132"/>
                  <a:gd name="T93" fmla="*/ 691 h 1254"/>
                  <a:gd name="T94" fmla="*/ 936 w 1132"/>
                  <a:gd name="T95" fmla="*/ 672 h 1254"/>
                  <a:gd name="T96" fmla="*/ 936 w 1132"/>
                  <a:gd name="T97" fmla="*/ 636 h 1254"/>
                  <a:gd name="T98" fmla="*/ 1012 w 1132"/>
                  <a:gd name="T99" fmla="*/ 560 h 1254"/>
                  <a:gd name="T100" fmla="*/ 1088 w 1132"/>
                  <a:gd name="T101" fmla="*/ 636 h 1254"/>
                  <a:gd name="T102" fmla="*/ 1088 w 1132"/>
                  <a:gd name="T103" fmla="*/ 981 h 1254"/>
                  <a:gd name="T104" fmla="*/ 1001 w 1132"/>
                  <a:gd name="T105" fmla="*/ 1224 h 1254"/>
                  <a:gd name="T106" fmla="*/ 1035 w 1132"/>
                  <a:gd name="T107" fmla="*/ 1252 h 1254"/>
                  <a:gd name="T108" fmla="*/ 1132 w 1132"/>
                  <a:gd name="T109" fmla="*/ 981 h 1254"/>
                  <a:gd name="T110" fmla="*/ 1132 w 1132"/>
                  <a:gd name="T111" fmla="*/ 636 h 1254"/>
                  <a:gd name="T112" fmla="*/ 1012 w 1132"/>
                  <a:gd name="T113" fmla="*/ 516 h 1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32" h="1254">
                    <a:moveTo>
                      <a:pt x="1012" y="516"/>
                    </a:moveTo>
                    <a:cubicBezTo>
                      <a:pt x="981" y="516"/>
                      <a:pt x="952" y="528"/>
                      <a:pt x="931" y="548"/>
                    </a:cubicBezTo>
                    <a:cubicBezTo>
                      <a:pt x="916" y="498"/>
                      <a:pt x="870" y="462"/>
                      <a:pt x="816" y="462"/>
                    </a:cubicBezTo>
                    <a:cubicBezTo>
                      <a:pt x="785" y="462"/>
                      <a:pt x="757" y="473"/>
                      <a:pt x="735" y="492"/>
                    </a:cubicBezTo>
                    <a:cubicBezTo>
                      <a:pt x="722" y="442"/>
                      <a:pt x="675" y="404"/>
                      <a:pt x="620" y="404"/>
                    </a:cubicBezTo>
                    <a:cubicBezTo>
                      <a:pt x="591" y="404"/>
                      <a:pt x="564" y="414"/>
                      <a:pt x="544" y="431"/>
                    </a:cubicBezTo>
                    <a:cubicBezTo>
                      <a:pt x="544" y="120"/>
                      <a:pt x="544" y="120"/>
                      <a:pt x="544" y="120"/>
                    </a:cubicBezTo>
                    <a:cubicBezTo>
                      <a:pt x="544" y="54"/>
                      <a:pt x="490" y="0"/>
                      <a:pt x="424" y="0"/>
                    </a:cubicBezTo>
                    <a:cubicBezTo>
                      <a:pt x="357" y="0"/>
                      <a:pt x="304" y="54"/>
                      <a:pt x="304" y="120"/>
                    </a:cubicBezTo>
                    <a:cubicBezTo>
                      <a:pt x="304" y="774"/>
                      <a:pt x="304" y="774"/>
                      <a:pt x="304" y="774"/>
                    </a:cubicBezTo>
                    <a:cubicBezTo>
                      <a:pt x="231" y="670"/>
                      <a:pt x="231" y="670"/>
                      <a:pt x="231" y="670"/>
                    </a:cubicBezTo>
                    <a:cubicBezTo>
                      <a:pt x="195" y="619"/>
                      <a:pt x="125" y="605"/>
                      <a:pt x="72" y="637"/>
                    </a:cubicBezTo>
                    <a:cubicBezTo>
                      <a:pt x="18" y="670"/>
                      <a:pt x="0" y="739"/>
                      <a:pt x="30" y="794"/>
                    </a:cubicBezTo>
                    <a:cubicBezTo>
                      <a:pt x="278" y="1254"/>
                      <a:pt x="278" y="1254"/>
                      <a:pt x="278" y="1254"/>
                    </a:cubicBezTo>
                    <a:cubicBezTo>
                      <a:pt x="285" y="1241"/>
                      <a:pt x="298" y="1230"/>
                      <a:pt x="312" y="1225"/>
                    </a:cubicBezTo>
                    <a:cubicBezTo>
                      <a:pt x="68" y="774"/>
                      <a:pt x="68" y="774"/>
                      <a:pt x="68" y="774"/>
                    </a:cubicBezTo>
                    <a:cubicBezTo>
                      <a:pt x="50" y="739"/>
                      <a:pt x="61" y="695"/>
                      <a:pt x="95" y="675"/>
                    </a:cubicBezTo>
                    <a:cubicBezTo>
                      <a:pt x="128" y="654"/>
                      <a:pt x="172" y="664"/>
                      <a:pt x="195" y="695"/>
                    </a:cubicBezTo>
                    <a:cubicBezTo>
                      <a:pt x="308" y="856"/>
                      <a:pt x="308" y="856"/>
                      <a:pt x="308" y="856"/>
                    </a:cubicBezTo>
                    <a:cubicBezTo>
                      <a:pt x="313" y="864"/>
                      <a:pt x="323" y="868"/>
                      <a:pt x="332" y="865"/>
                    </a:cubicBezTo>
                    <a:cubicBezTo>
                      <a:pt x="341" y="862"/>
                      <a:pt x="348" y="853"/>
                      <a:pt x="348" y="844"/>
                    </a:cubicBezTo>
                    <a:cubicBezTo>
                      <a:pt x="348" y="120"/>
                      <a:pt x="348" y="120"/>
                      <a:pt x="348" y="120"/>
                    </a:cubicBezTo>
                    <a:cubicBezTo>
                      <a:pt x="348" y="78"/>
                      <a:pt x="382" y="44"/>
                      <a:pt x="424" y="44"/>
                    </a:cubicBezTo>
                    <a:cubicBezTo>
                      <a:pt x="466" y="44"/>
                      <a:pt x="500" y="78"/>
                      <a:pt x="500" y="120"/>
                    </a:cubicBezTo>
                    <a:cubicBezTo>
                      <a:pt x="500" y="524"/>
                      <a:pt x="500" y="524"/>
                      <a:pt x="500" y="524"/>
                    </a:cubicBezTo>
                    <a:cubicBezTo>
                      <a:pt x="500" y="636"/>
                      <a:pt x="500" y="636"/>
                      <a:pt x="500" y="636"/>
                    </a:cubicBezTo>
                    <a:cubicBezTo>
                      <a:pt x="500" y="647"/>
                      <a:pt x="500" y="647"/>
                      <a:pt x="500" y="647"/>
                    </a:cubicBezTo>
                    <a:cubicBezTo>
                      <a:pt x="500" y="659"/>
                      <a:pt x="510" y="669"/>
                      <a:pt x="522" y="669"/>
                    </a:cubicBezTo>
                    <a:cubicBezTo>
                      <a:pt x="534" y="669"/>
                      <a:pt x="544" y="659"/>
                      <a:pt x="544" y="647"/>
                    </a:cubicBezTo>
                    <a:cubicBezTo>
                      <a:pt x="544" y="636"/>
                      <a:pt x="544" y="636"/>
                      <a:pt x="544" y="636"/>
                    </a:cubicBezTo>
                    <a:cubicBezTo>
                      <a:pt x="544" y="524"/>
                      <a:pt x="544" y="524"/>
                      <a:pt x="544" y="524"/>
                    </a:cubicBezTo>
                    <a:cubicBezTo>
                      <a:pt x="544" y="482"/>
                      <a:pt x="578" y="448"/>
                      <a:pt x="620" y="448"/>
                    </a:cubicBezTo>
                    <a:cubicBezTo>
                      <a:pt x="662" y="448"/>
                      <a:pt x="696" y="482"/>
                      <a:pt x="696" y="524"/>
                    </a:cubicBezTo>
                    <a:cubicBezTo>
                      <a:pt x="696" y="582"/>
                      <a:pt x="696" y="582"/>
                      <a:pt x="696" y="582"/>
                    </a:cubicBezTo>
                    <a:cubicBezTo>
                      <a:pt x="696" y="621"/>
                      <a:pt x="696" y="621"/>
                      <a:pt x="696" y="621"/>
                    </a:cubicBezTo>
                    <a:cubicBezTo>
                      <a:pt x="696" y="665"/>
                      <a:pt x="696" y="665"/>
                      <a:pt x="696" y="665"/>
                    </a:cubicBezTo>
                    <a:cubicBezTo>
                      <a:pt x="696" y="677"/>
                      <a:pt x="706" y="687"/>
                      <a:pt x="718" y="687"/>
                    </a:cubicBezTo>
                    <a:cubicBezTo>
                      <a:pt x="730" y="687"/>
                      <a:pt x="740" y="677"/>
                      <a:pt x="740" y="665"/>
                    </a:cubicBezTo>
                    <a:cubicBezTo>
                      <a:pt x="740" y="621"/>
                      <a:pt x="740" y="621"/>
                      <a:pt x="740" y="621"/>
                    </a:cubicBezTo>
                    <a:cubicBezTo>
                      <a:pt x="740" y="582"/>
                      <a:pt x="740" y="582"/>
                      <a:pt x="740" y="582"/>
                    </a:cubicBezTo>
                    <a:cubicBezTo>
                      <a:pt x="740" y="540"/>
                      <a:pt x="774" y="506"/>
                      <a:pt x="816" y="506"/>
                    </a:cubicBezTo>
                    <a:cubicBezTo>
                      <a:pt x="858" y="506"/>
                      <a:pt x="892" y="540"/>
                      <a:pt x="892" y="582"/>
                    </a:cubicBezTo>
                    <a:cubicBezTo>
                      <a:pt x="892" y="636"/>
                      <a:pt x="892" y="636"/>
                      <a:pt x="892" y="636"/>
                    </a:cubicBezTo>
                    <a:cubicBezTo>
                      <a:pt x="892" y="672"/>
                      <a:pt x="892" y="672"/>
                      <a:pt x="892" y="672"/>
                    </a:cubicBezTo>
                    <a:cubicBezTo>
                      <a:pt x="892" y="691"/>
                      <a:pt x="892" y="691"/>
                      <a:pt x="892" y="691"/>
                    </a:cubicBezTo>
                    <a:cubicBezTo>
                      <a:pt x="892" y="704"/>
                      <a:pt x="902" y="713"/>
                      <a:pt x="914" y="713"/>
                    </a:cubicBezTo>
                    <a:cubicBezTo>
                      <a:pt x="926" y="713"/>
                      <a:pt x="936" y="704"/>
                      <a:pt x="936" y="691"/>
                    </a:cubicBezTo>
                    <a:cubicBezTo>
                      <a:pt x="936" y="672"/>
                      <a:pt x="936" y="672"/>
                      <a:pt x="936" y="672"/>
                    </a:cubicBezTo>
                    <a:cubicBezTo>
                      <a:pt x="936" y="636"/>
                      <a:pt x="936" y="636"/>
                      <a:pt x="936" y="636"/>
                    </a:cubicBezTo>
                    <a:cubicBezTo>
                      <a:pt x="936" y="594"/>
                      <a:pt x="970" y="560"/>
                      <a:pt x="1012" y="560"/>
                    </a:cubicBezTo>
                    <a:cubicBezTo>
                      <a:pt x="1054" y="560"/>
                      <a:pt x="1088" y="594"/>
                      <a:pt x="1088" y="636"/>
                    </a:cubicBezTo>
                    <a:cubicBezTo>
                      <a:pt x="1088" y="981"/>
                      <a:pt x="1088" y="981"/>
                      <a:pt x="1088" y="981"/>
                    </a:cubicBezTo>
                    <a:cubicBezTo>
                      <a:pt x="1088" y="1014"/>
                      <a:pt x="1088" y="1110"/>
                      <a:pt x="1001" y="1224"/>
                    </a:cubicBezTo>
                    <a:cubicBezTo>
                      <a:pt x="1015" y="1229"/>
                      <a:pt x="1027" y="1239"/>
                      <a:pt x="1035" y="1252"/>
                    </a:cubicBezTo>
                    <a:cubicBezTo>
                      <a:pt x="1100" y="1167"/>
                      <a:pt x="1132" y="1078"/>
                      <a:pt x="1132" y="981"/>
                    </a:cubicBezTo>
                    <a:cubicBezTo>
                      <a:pt x="1132" y="636"/>
                      <a:pt x="1132" y="636"/>
                      <a:pt x="1132" y="636"/>
                    </a:cubicBezTo>
                    <a:cubicBezTo>
                      <a:pt x="1132" y="570"/>
                      <a:pt x="1078" y="516"/>
                      <a:pt x="1012" y="5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5837" tIns="32918" rIns="65837" bIns="32918" numCol="1" anchor="t" anchorCtr="0" compatLnSpc="1">
                <a:prstTxWarp prst="textNoShape">
                  <a:avLst/>
                </a:prstTxWarp>
              </a:bodyPr>
              <a:lstStyle/>
              <a:p>
                <a:endParaRPr lang="en-US">
                  <a:ea typeface="Microsoft YaHei" panose="020B0503020204020204" pitchFamily="34" charset="-122"/>
                </a:endParaRPr>
              </a:p>
            </p:txBody>
          </p:sp>
          <p:sp>
            <p:nvSpPr>
              <p:cNvPr id="128" name="Freeform 16">
                <a:extLst>
                  <a:ext uri="{FF2B5EF4-FFF2-40B4-BE49-F238E27FC236}">
                    <a16:creationId xmlns:a16="http://schemas.microsoft.com/office/drawing/2014/main" id="{3BBF16FF-CF2F-4F6A-BB5F-9CA79CBFB9C5}"/>
                  </a:ext>
                </a:extLst>
              </p:cNvPr>
              <p:cNvSpPr>
                <a:spLocks noEditPoints="1"/>
              </p:cNvSpPr>
              <p:nvPr/>
            </p:nvSpPr>
            <p:spPr bwMode="auto">
              <a:xfrm>
                <a:off x="3145" y="420"/>
                <a:ext cx="1523" cy="3456"/>
              </a:xfrm>
              <a:custGeom>
                <a:avLst/>
                <a:gdLst>
                  <a:gd name="T0" fmla="*/ 472 w 813"/>
                  <a:gd name="T1" fmla="*/ 236 h 1843"/>
                  <a:gd name="T2" fmla="*/ 401 w 813"/>
                  <a:gd name="T3" fmla="*/ 405 h 1843"/>
                  <a:gd name="T4" fmla="*/ 401 w 813"/>
                  <a:gd name="T5" fmla="*/ 334 h 1843"/>
                  <a:gd name="T6" fmla="*/ 237 w 813"/>
                  <a:gd name="T7" fmla="*/ 170 h 1843"/>
                  <a:gd name="T8" fmla="*/ 73 w 813"/>
                  <a:gd name="T9" fmla="*/ 334 h 1843"/>
                  <a:gd name="T10" fmla="*/ 73 w 813"/>
                  <a:gd name="T11" fmla="*/ 407 h 1843"/>
                  <a:gd name="T12" fmla="*/ 0 w 813"/>
                  <a:gd name="T13" fmla="*/ 236 h 1843"/>
                  <a:gd name="T14" fmla="*/ 236 w 813"/>
                  <a:gd name="T15" fmla="*/ 0 h 1843"/>
                  <a:gd name="T16" fmla="*/ 472 w 813"/>
                  <a:gd name="T17" fmla="*/ 236 h 1843"/>
                  <a:gd name="T18" fmla="*/ 813 w 813"/>
                  <a:gd name="T19" fmla="*/ 1500 h 1843"/>
                  <a:gd name="T20" fmla="*/ 791 w 813"/>
                  <a:gd name="T21" fmla="*/ 1478 h 1843"/>
                  <a:gd name="T22" fmla="*/ 149 w 813"/>
                  <a:gd name="T23" fmla="*/ 1478 h 1843"/>
                  <a:gd name="T24" fmla="*/ 127 w 813"/>
                  <a:gd name="T25" fmla="*/ 1500 h 1843"/>
                  <a:gd name="T26" fmla="*/ 127 w 813"/>
                  <a:gd name="T27" fmla="*/ 1821 h 1843"/>
                  <a:gd name="T28" fmla="*/ 149 w 813"/>
                  <a:gd name="T29" fmla="*/ 1843 h 1843"/>
                  <a:gd name="T30" fmla="*/ 791 w 813"/>
                  <a:gd name="T31" fmla="*/ 1843 h 1843"/>
                  <a:gd name="T32" fmla="*/ 813 w 813"/>
                  <a:gd name="T33" fmla="*/ 1821 h 1843"/>
                  <a:gd name="T34" fmla="*/ 813 w 813"/>
                  <a:gd name="T35" fmla="*/ 1500 h 1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13" h="1843">
                    <a:moveTo>
                      <a:pt x="472" y="236"/>
                    </a:moveTo>
                    <a:cubicBezTo>
                      <a:pt x="472" y="302"/>
                      <a:pt x="445" y="362"/>
                      <a:pt x="401" y="405"/>
                    </a:cubicBezTo>
                    <a:cubicBezTo>
                      <a:pt x="401" y="334"/>
                      <a:pt x="401" y="334"/>
                      <a:pt x="401" y="334"/>
                    </a:cubicBezTo>
                    <a:cubicBezTo>
                      <a:pt x="401" y="244"/>
                      <a:pt x="327" y="170"/>
                      <a:pt x="237" y="170"/>
                    </a:cubicBezTo>
                    <a:cubicBezTo>
                      <a:pt x="146" y="170"/>
                      <a:pt x="73" y="244"/>
                      <a:pt x="73" y="334"/>
                    </a:cubicBezTo>
                    <a:cubicBezTo>
                      <a:pt x="73" y="407"/>
                      <a:pt x="73" y="407"/>
                      <a:pt x="73" y="407"/>
                    </a:cubicBezTo>
                    <a:cubicBezTo>
                      <a:pt x="28" y="364"/>
                      <a:pt x="0" y="303"/>
                      <a:pt x="0" y="236"/>
                    </a:cubicBezTo>
                    <a:cubicBezTo>
                      <a:pt x="0" y="106"/>
                      <a:pt x="106" y="0"/>
                      <a:pt x="236" y="0"/>
                    </a:cubicBezTo>
                    <a:cubicBezTo>
                      <a:pt x="366" y="0"/>
                      <a:pt x="472" y="106"/>
                      <a:pt x="472" y="236"/>
                    </a:cubicBezTo>
                    <a:close/>
                    <a:moveTo>
                      <a:pt x="813" y="1500"/>
                    </a:moveTo>
                    <a:cubicBezTo>
                      <a:pt x="813" y="1488"/>
                      <a:pt x="803" y="1478"/>
                      <a:pt x="791" y="1478"/>
                    </a:cubicBezTo>
                    <a:cubicBezTo>
                      <a:pt x="149" y="1478"/>
                      <a:pt x="149" y="1478"/>
                      <a:pt x="149" y="1478"/>
                    </a:cubicBezTo>
                    <a:cubicBezTo>
                      <a:pt x="136" y="1478"/>
                      <a:pt x="127" y="1488"/>
                      <a:pt x="127" y="1500"/>
                    </a:cubicBezTo>
                    <a:cubicBezTo>
                      <a:pt x="127" y="1821"/>
                      <a:pt x="127" y="1821"/>
                      <a:pt x="127" y="1821"/>
                    </a:cubicBezTo>
                    <a:cubicBezTo>
                      <a:pt x="127" y="1833"/>
                      <a:pt x="136" y="1843"/>
                      <a:pt x="149" y="1843"/>
                    </a:cubicBezTo>
                    <a:cubicBezTo>
                      <a:pt x="791" y="1843"/>
                      <a:pt x="791" y="1843"/>
                      <a:pt x="791" y="1843"/>
                    </a:cubicBezTo>
                    <a:cubicBezTo>
                      <a:pt x="803" y="1843"/>
                      <a:pt x="813" y="1833"/>
                      <a:pt x="813" y="1821"/>
                    </a:cubicBezTo>
                    <a:lnTo>
                      <a:pt x="813" y="15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5837" tIns="32918" rIns="65837" bIns="32918" numCol="1" anchor="t" anchorCtr="0" compatLnSpc="1">
                <a:prstTxWarp prst="textNoShape">
                  <a:avLst/>
                </a:prstTxWarp>
              </a:bodyPr>
              <a:lstStyle/>
              <a:p>
                <a:endParaRPr lang="en-US">
                  <a:ea typeface="Microsoft YaHei" panose="020B0503020204020204" pitchFamily="34" charset="-122"/>
                </a:endParaRPr>
              </a:p>
            </p:txBody>
          </p:sp>
        </p:grpSp>
      </p:grpSp>
      <p:grpSp>
        <p:nvGrpSpPr>
          <p:cNvPr id="6" name="Group 5">
            <a:extLst>
              <a:ext uri="{FF2B5EF4-FFF2-40B4-BE49-F238E27FC236}">
                <a16:creationId xmlns:a16="http://schemas.microsoft.com/office/drawing/2014/main" id="{B10B4A27-6ED7-4670-B017-0B83CB333F3A}"/>
              </a:ext>
            </a:extLst>
          </p:cNvPr>
          <p:cNvGrpSpPr/>
          <p:nvPr/>
        </p:nvGrpSpPr>
        <p:grpSpPr>
          <a:xfrm>
            <a:off x="629998" y="3115816"/>
            <a:ext cx="3497518" cy="1616168"/>
            <a:chOff x="629998" y="3106291"/>
            <a:chExt cx="3497518" cy="1616168"/>
          </a:xfrm>
        </p:grpSpPr>
        <p:sp>
          <p:nvSpPr>
            <p:cNvPr id="15" name="ee4pHeader1">
              <a:extLst>
                <a:ext uri="{FF2B5EF4-FFF2-40B4-BE49-F238E27FC236}">
                  <a16:creationId xmlns:a16="http://schemas.microsoft.com/office/drawing/2014/main" id="{5E7BE6CE-4E91-4D4A-B205-C02957077BE5}"/>
                </a:ext>
              </a:extLst>
            </p:cNvPr>
            <p:cNvSpPr txBox="1"/>
            <p:nvPr/>
          </p:nvSpPr>
          <p:spPr>
            <a:xfrm>
              <a:off x="629998" y="3582126"/>
              <a:ext cx="3317778" cy="1140333"/>
            </a:xfrm>
            <a:prstGeom prst="rect">
              <a:avLst/>
            </a:prstGeom>
            <a:solidFill>
              <a:srgbClr val="F2F2F2"/>
            </a:solidFill>
            <a:ln w="6858" cap="rnd" cmpd="sng" algn="ctr">
              <a:solidFill>
                <a:srgbClr val="9A9A9A"/>
              </a:solidFill>
              <a:prstDash val="solid"/>
              <a:round/>
              <a:headEnd type="none" w="med" len="med"/>
              <a:tailEnd type="none" w="med" len="med"/>
            </a:ln>
          </p:spPr>
          <p:txBody>
            <a:bodyPr wrap="square" lIns="91440" tIns="91440" rIns="91440" bIns="91440" rtlCol="0" anchor="t" anchorCtr="0">
              <a:noAutofit/>
            </a:bodyPr>
            <a:lstStyle>
              <a:defPPr>
                <a:defRPr lang="en-US"/>
              </a:defPPr>
              <a:lvl1pPr>
                <a:buSzPct val="100000"/>
                <a:buFont typeface="Trebuchet MS" panose="020B0603020202020204" pitchFamily="34" charset="0"/>
                <a:buChar char="​"/>
                <a:defRPr sz="1400">
                  <a:solidFill>
                    <a:schemeClr val="tx1">
                      <a:lumMod val="100000"/>
                    </a:schemeClr>
                  </a:solidFill>
                  <a:latin typeface="Trebuchet MS" panose="020B0603020202020204" pitchFamily="34" charset="0"/>
                </a:defRPr>
              </a:lvl1pPr>
              <a:lvl2pPr marL="324000" lvl="1" indent="-216000">
                <a:spcBef>
                  <a:spcPts val="600"/>
                </a:spcBef>
                <a:buClr>
                  <a:schemeClr val="tx2">
                    <a:lumMod val="100000"/>
                  </a:schemeClr>
                </a:buClr>
                <a:buSzPct val="100000"/>
                <a:buFont typeface="Trebuchet MS" panose="020B0603020202020204" pitchFamily="34" charset="0"/>
                <a:buChar char="•"/>
                <a:defRPr sz="1200">
                  <a:solidFill>
                    <a:schemeClr val="tx1">
                      <a:lumMod val="100000"/>
                    </a:schemeClr>
                  </a:solidFill>
                  <a:latin typeface="Trebuchet MS" panose="020B0603020202020204" pitchFamily="34" charset="0"/>
                </a:defRPr>
              </a:lvl2pPr>
            </a:lstStyle>
            <a:p>
              <a:r>
                <a:rPr lang="zh-TW" altLang="en-US">
                  <a:ea typeface="Microsoft YaHei" panose="020B0503020204020204" pitchFamily="34" charset="-122"/>
                </a:rPr>
                <a:t>成為主力銀行行為</a:t>
              </a:r>
              <a:endParaRPr lang="en-US" altLang="zh-TW">
                <a:ea typeface="Microsoft YaHei" panose="020B0503020204020204" pitchFamily="34" charset="-122"/>
              </a:endParaRPr>
            </a:p>
            <a:p>
              <a:endParaRPr lang="en-US">
                <a:ea typeface="Microsoft YaHei" panose="020B0503020204020204" pitchFamily="34" charset="-122"/>
              </a:endParaRPr>
            </a:p>
            <a:p>
              <a:pPr>
                <a:buNone/>
              </a:pPr>
              <a:r>
                <a:rPr lang="en-US">
                  <a:ea typeface="Microsoft YaHei" panose="020B0503020204020204" pitchFamily="34" charset="-122"/>
                </a:rPr>
                <a:t>"</a:t>
              </a:r>
              <a:r>
                <a:rPr lang="en-US" err="1">
                  <a:ea typeface="Microsoft YaHei" panose="020B0503020204020204" pitchFamily="34" charset="-122"/>
                </a:rPr>
                <a:t>使用</a:t>
              </a:r>
              <a:r>
                <a:rPr lang="zh-TW" altLang="en-US">
                  <a:ea typeface="Microsoft YaHei" panose="020B0503020204020204" pitchFamily="34" charset="-122"/>
                </a:rPr>
                <a:t>凱基</a:t>
              </a:r>
              <a:r>
                <a:rPr lang="en-US">
                  <a:ea typeface="Microsoft YaHei" panose="020B0503020204020204" pitchFamily="34" charset="-122"/>
                </a:rPr>
                <a:t>，</a:t>
              </a:r>
              <a:r>
                <a:rPr lang="en-US" err="1">
                  <a:ea typeface="Microsoft YaHei" panose="020B0503020204020204" pitchFamily="34" charset="-122"/>
                </a:rPr>
                <a:t>立即將資金轉移到任何地點的任何人</a:t>
              </a:r>
              <a:r>
                <a:rPr lang="en-US">
                  <a:ea typeface="Microsoft YaHei" panose="020B0503020204020204" pitchFamily="34" charset="-122"/>
                </a:rPr>
                <a:t>。</a:t>
              </a:r>
              <a:r>
                <a:rPr lang="zh-TW" altLang="en-US">
                  <a:ea typeface="Microsoft YaHei" panose="020B0503020204020204" pitchFamily="34" charset="-122"/>
                </a:rPr>
                <a:t>點擊</a:t>
              </a:r>
              <a:r>
                <a:rPr lang="en-US" err="1">
                  <a:ea typeface="Microsoft YaHei" panose="020B0503020204020204" pitchFamily="34" charset="-122"/>
                </a:rPr>
                <a:t>此處</a:t>
              </a:r>
              <a:r>
                <a:rPr lang="zh-TW" altLang="en-US">
                  <a:ea typeface="Microsoft YaHei" panose="020B0503020204020204" pitchFamily="34" charset="-122"/>
                </a:rPr>
                <a:t>立即</a:t>
              </a:r>
              <a:r>
                <a:rPr lang="en-US" err="1">
                  <a:ea typeface="Microsoft YaHei" panose="020B0503020204020204" pitchFamily="34" charset="-122"/>
                </a:rPr>
                <a:t>啟動</a:t>
              </a:r>
              <a:r>
                <a:rPr lang="en-US">
                  <a:ea typeface="Microsoft YaHei" panose="020B0503020204020204" pitchFamily="34" charset="-122"/>
                </a:rPr>
                <a:t>"</a:t>
              </a:r>
            </a:p>
          </p:txBody>
        </p:sp>
        <p:sp>
          <p:nvSpPr>
            <p:cNvPr id="82" name="Rounded Rectangle 30">
              <a:extLst>
                <a:ext uri="{FF2B5EF4-FFF2-40B4-BE49-F238E27FC236}">
                  <a16:creationId xmlns:a16="http://schemas.microsoft.com/office/drawing/2014/main" id="{0B1EED68-8835-4FAB-BD74-05A3987C55F8}"/>
                </a:ext>
              </a:extLst>
            </p:cNvPr>
            <p:cNvSpPr>
              <a:spLocks noChangeArrowheads="1"/>
            </p:cNvSpPr>
            <p:nvPr/>
          </p:nvSpPr>
          <p:spPr bwMode="auto">
            <a:xfrm>
              <a:off x="809738" y="3178309"/>
              <a:ext cx="3317778" cy="409105"/>
            </a:xfrm>
            <a:prstGeom prst="roundRect">
              <a:avLst>
                <a:gd name="adj" fmla="val 50000"/>
              </a:avLst>
            </a:prstGeom>
            <a:solidFill>
              <a:schemeClr val="bg1">
                <a:lumMod val="85000"/>
              </a:schemeClr>
            </a:solidFill>
            <a:ln>
              <a:noFill/>
            </a:ln>
          </p:spPr>
          <p:txBody>
            <a:bodyPr vert="horz" wrap="square" lIns="45720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TW" altLang="en-US" sz="1600" b="1">
                  <a:solidFill>
                    <a:srgbClr val="03522D"/>
                  </a:solidFill>
                  <a:ea typeface="Microsoft YaHei" panose="020B0503020204020204" pitchFamily="34" charset="-122"/>
                </a:rPr>
                <a:t>觸發成為主力銀行</a:t>
              </a:r>
              <a:endParaRPr lang="en-US" sz="1600" b="1">
                <a:solidFill>
                  <a:srgbClr val="03522D"/>
                </a:solidFill>
                <a:latin typeface="Trebuchet MS" panose="020B0603020202020204" pitchFamily="34" charset="0"/>
                <a:ea typeface="Microsoft YaHei" panose="020B0503020204020204" pitchFamily="34" charset="-122"/>
                <a:sym typeface="Trebuchet MS" panose="020B0603020202020204" pitchFamily="34" charset="0"/>
              </a:endParaRPr>
            </a:p>
          </p:txBody>
        </p:sp>
        <p:grpSp>
          <p:nvGrpSpPr>
            <p:cNvPr id="83" name="Group 82">
              <a:extLst>
                <a:ext uri="{FF2B5EF4-FFF2-40B4-BE49-F238E27FC236}">
                  <a16:creationId xmlns:a16="http://schemas.microsoft.com/office/drawing/2014/main" id="{61B6F703-843D-4840-B29C-99FBA06ABF7F}"/>
                </a:ext>
              </a:extLst>
            </p:cNvPr>
            <p:cNvGrpSpPr/>
            <p:nvPr/>
          </p:nvGrpSpPr>
          <p:grpSpPr>
            <a:xfrm>
              <a:off x="629999" y="3106291"/>
              <a:ext cx="702244" cy="521457"/>
              <a:chOff x="629997" y="1545149"/>
              <a:chExt cx="1144825" cy="600364"/>
            </a:xfrm>
          </p:grpSpPr>
          <p:sp>
            <p:nvSpPr>
              <p:cNvPr id="84" name="Freeform 29">
                <a:extLst>
                  <a:ext uri="{FF2B5EF4-FFF2-40B4-BE49-F238E27FC236}">
                    <a16:creationId xmlns:a16="http://schemas.microsoft.com/office/drawing/2014/main" id="{5DA47A83-886B-40BB-AA1D-F9DD3B45686E}"/>
                  </a:ext>
                </a:extLst>
              </p:cNvPr>
              <p:cNvSpPr>
                <a:spLocks/>
              </p:cNvSpPr>
              <p:nvPr/>
            </p:nvSpPr>
            <p:spPr bwMode="auto">
              <a:xfrm>
                <a:off x="1618042" y="1545149"/>
                <a:ext cx="156780" cy="91462"/>
              </a:xfrm>
              <a:custGeom>
                <a:avLst/>
                <a:gdLst>
                  <a:gd name="T0" fmla="*/ 95 w 95"/>
                  <a:gd name="T1" fmla="*/ 51 h 51"/>
                  <a:gd name="T2" fmla="*/ 0 w 95"/>
                  <a:gd name="T3" fmla="*/ 51 h 51"/>
                  <a:gd name="T4" fmla="*/ 39 w 95"/>
                  <a:gd name="T5" fmla="*/ 0 h 51"/>
                  <a:gd name="T6" fmla="*/ 95 w 95"/>
                  <a:gd name="T7" fmla="*/ 51 h 51"/>
                </a:gdLst>
                <a:ahLst/>
                <a:cxnLst>
                  <a:cxn ang="0">
                    <a:pos x="T0" y="T1"/>
                  </a:cxn>
                  <a:cxn ang="0">
                    <a:pos x="T2" y="T3"/>
                  </a:cxn>
                  <a:cxn ang="0">
                    <a:pos x="T4" y="T5"/>
                  </a:cxn>
                  <a:cxn ang="0">
                    <a:pos x="T6" y="T7"/>
                  </a:cxn>
                </a:cxnLst>
                <a:rect l="0" t="0" r="r" b="b"/>
                <a:pathLst>
                  <a:path w="95" h="51">
                    <a:moveTo>
                      <a:pt x="95" y="51"/>
                    </a:moveTo>
                    <a:lnTo>
                      <a:pt x="0" y="51"/>
                    </a:lnTo>
                    <a:lnTo>
                      <a:pt x="39" y="0"/>
                    </a:lnTo>
                    <a:lnTo>
                      <a:pt x="95" y="51"/>
                    </a:ln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rgbClr val="000000"/>
                  </a:solidFill>
                  <a:latin typeface="Trebuchet MS" panose="020B0603020202020204" pitchFamily="34" charset="0"/>
                  <a:ea typeface="Microsoft YaHei" panose="020B0503020204020204" pitchFamily="34" charset="-122"/>
                  <a:sym typeface="Trebuchet MS" panose="020B0603020202020204" pitchFamily="34" charset="0"/>
                </a:endParaRPr>
              </a:p>
            </p:txBody>
          </p:sp>
          <p:sp>
            <p:nvSpPr>
              <p:cNvPr id="85" name="Freeform: Shape 76">
                <a:extLst>
                  <a:ext uri="{FF2B5EF4-FFF2-40B4-BE49-F238E27FC236}">
                    <a16:creationId xmlns:a16="http://schemas.microsoft.com/office/drawing/2014/main" id="{D9A791E7-2817-4AB3-A1A4-00D064F5A844}"/>
                  </a:ext>
                </a:extLst>
              </p:cNvPr>
              <p:cNvSpPr>
                <a:spLocks/>
              </p:cNvSpPr>
              <p:nvPr/>
            </p:nvSpPr>
            <p:spPr bwMode="auto">
              <a:xfrm>
                <a:off x="1055771" y="1603886"/>
                <a:ext cx="538474" cy="493589"/>
              </a:xfrm>
              <a:custGeom>
                <a:avLst/>
                <a:gdLst>
                  <a:gd name="connsiteX0" fmla="*/ 0 w 949466"/>
                  <a:gd name="connsiteY0" fmla="*/ 0 h 800896"/>
                  <a:gd name="connsiteX1" fmla="*/ 949466 w 949466"/>
                  <a:gd name="connsiteY1" fmla="*/ 0 h 800896"/>
                  <a:gd name="connsiteX2" fmla="*/ 344345 w 949466"/>
                  <a:gd name="connsiteY2" fmla="*/ 800896 h 800896"/>
                  <a:gd name="connsiteX3" fmla="*/ 0 w 949466"/>
                  <a:gd name="connsiteY3" fmla="*/ 800896 h 800896"/>
                </a:gdLst>
                <a:ahLst/>
                <a:cxnLst>
                  <a:cxn ang="0">
                    <a:pos x="connsiteX0" y="connsiteY0"/>
                  </a:cxn>
                  <a:cxn ang="0">
                    <a:pos x="connsiteX1" y="connsiteY1"/>
                  </a:cxn>
                  <a:cxn ang="0">
                    <a:pos x="connsiteX2" y="connsiteY2"/>
                  </a:cxn>
                  <a:cxn ang="0">
                    <a:pos x="connsiteX3" y="connsiteY3"/>
                  </a:cxn>
                </a:cxnLst>
                <a:rect l="l" t="t" r="r" b="b"/>
                <a:pathLst>
                  <a:path w="949466" h="800896">
                    <a:moveTo>
                      <a:pt x="0" y="0"/>
                    </a:moveTo>
                    <a:lnTo>
                      <a:pt x="949466" y="0"/>
                    </a:lnTo>
                    <a:lnTo>
                      <a:pt x="344345" y="800896"/>
                    </a:lnTo>
                    <a:lnTo>
                      <a:pt x="0" y="800896"/>
                    </a:lnTo>
                    <a:close/>
                  </a:path>
                </a:pathLst>
              </a:custGeom>
              <a:solidFill>
                <a:schemeClr val="accent4"/>
              </a:solidFill>
              <a:ln>
                <a:noFill/>
              </a:ln>
              <a:effectLst>
                <a:outerShdw blurRad="228600" dist="76200" algn="l" rotWithShape="0">
                  <a:prstClr val="black">
                    <a:alpha val="40000"/>
                  </a:prstClr>
                </a:outerShdw>
              </a:effectLst>
            </p:spPr>
            <p:txBody>
              <a:bodyPr vert="horz" wrap="square" lIns="182880" tIns="45720" rIns="91440" bIns="45720" numCol="1" anchor="ctr"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6600" b="1">
                  <a:solidFill>
                    <a:prstClr val="white"/>
                  </a:solidFill>
                  <a:latin typeface="Trebuchet MS" panose="020B0603020202020204" pitchFamily="34" charset="0"/>
                  <a:ea typeface="Microsoft YaHei" panose="020B0503020204020204" pitchFamily="34" charset="-122"/>
                  <a:sym typeface="Trebuchet MS" panose="020B0603020202020204" pitchFamily="34" charset="0"/>
                </a:endParaRPr>
              </a:p>
            </p:txBody>
          </p:sp>
          <p:sp>
            <p:nvSpPr>
              <p:cNvPr id="86" name="Freeform 32">
                <a:extLst>
                  <a:ext uri="{FF2B5EF4-FFF2-40B4-BE49-F238E27FC236}">
                    <a16:creationId xmlns:a16="http://schemas.microsoft.com/office/drawing/2014/main" id="{9A9F4718-6BED-4F5B-B5A2-58D36631822F}"/>
                  </a:ext>
                </a:extLst>
              </p:cNvPr>
              <p:cNvSpPr>
                <a:spLocks/>
              </p:cNvSpPr>
              <p:nvPr/>
            </p:nvSpPr>
            <p:spPr bwMode="auto">
              <a:xfrm>
                <a:off x="629997" y="1545149"/>
                <a:ext cx="1057882" cy="600364"/>
              </a:xfrm>
              <a:custGeom>
                <a:avLst/>
                <a:gdLst>
                  <a:gd name="T0" fmla="*/ 1175 w 1175"/>
                  <a:gd name="T1" fmla="*/ 0 h 675"/>
                  <a:gd name="T2" fmla="*/ 0 w 1175"/>
                  <a:gd name="T3" fmla="*/ 0 h 675"/>
                  <a:gd name="T4" fmla="*/ 0 w 1175"/>
                  <a:gd name="T5" fmla="*/ 675 h 675"/>
                  <a:gd name="T6" fmla="*/ 665 w 1175"/>
                  <a:gd name="T7" fmla="*/ 675 h 675"/>
                  <a:gd name="T8" fmla="*/ 1175 w 1175"/>
                  <a:gd name="T9" fmla="*/ 0 h 675"/>
                </a:gdLst>
                <a:ahLst/>
                <a:cxnLst>
                  <a:cxn ang="0">
                    <a:pos x="T0" y="T1"/>
                  </a:cxn>
                  <a:cxn ang="0">
                    <a:pos x="T2" y="T3"/>
                  </a:cxn>
                  <a:cxn ang="0">
                    <a:pos x="T4" y="T5"/>
                  </a:cxn>
                  <a:cxn ang="0">
                    <a:pos x="T6" y="T7"/>
                  </a:cxn>
                  <a:cxn ang="0">
                    <a:pos x="T8" y="T9"/>
                  </a:cxn>
                </a:cxnLst>
                <a:rect l="0" t="0" r="r" b="b"/>
                <a:pathLst>
                  <a:path w="1175" h="675">
                    <a:moveTo>
                      <a:pt x="1175" y="0"/>
                    </a:moveTo>
                    <a:lnTo>
                      <a:pt x="0" y="0"/>
                    </a:lnTo>
                    <a:lnTo>
                      <a:pt x="0" y="675"/>
                    </a:lnTo>
                    <a:lnTo>
                      <a:pt x="665" y="675"/>
                    </a:lnTo>
                    <a:lnTo>
                      <a:pt x="1175" y="0"/>
                    </a:lnTo>
                    <a:close/>
                  </a:path>
                </a:pathLst>
              </a:custGeom>
              <a:solidFill>
                <a:schemeClr val="tx2"/>
              </a:solidFill>
              <a:ln>
                <a:noFill/>
              </a:ln>
            </p:spPr>
            <p:txBody>
              <a:bodyPr vert="horz" wrap="square" lIns="27432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6600" b="1">
                  <a:solidFill>
                    <a:prstClr val="white"/>
                  </a:solidFill>
                  <a:effectLst>
                    <a:outerShdw blurRad="38100" dist="38100" dir="2700000" algn="tl">
                      <a:srgbClr val="000000">
                        <a:alpha val="43137"/>
                      </a:srgbClr>
                    </a:outerShdw>
                  </a:effectLst>
                  <a:latin typeface="Trebuchet MS" panose="020B0603020202020204" pitchFamily="34" charset="0"/>
                  <a:ea typeface="Microsoft YaHei" panose="020B0503020204020204" pitchFamily="34" charset="-122"/>
                  <a:sym typeface="Trebuchet MS" panose="020B0603020202020204" pitchFamily="34" charset="0"/>
                </a:endParaRPr>
              </a:p>
            </p:txBody>
          </p:sp>
        </p:grpSp>
        <p:grpSp>
          <p:nvGrpSpPr>
            <p:cNvPr id="134" name="bcgBugs_Link">
              <a:extLst>
                <a:ext uri="{FF2B5EF4-FFF2-40B4-BE49-F238E27FC236}">
                  <a16:creationId xmlns:a16="http://schemas.microsoft.com/office/drawing/2014/main" id="{BB3E4D1B-5CF2-4CA5-B035-B7A8EADA13BC}"/>
                </a:ext>
              </a:extLst>
            </p:cNvPr>
            <p:cNvGrpSpPr>
              <a:grpSpLocks noChangeAspect="1"/>
            </p:cNvGrpSpPr>
            <p:nvPr/>
          </p:nvGrpSpPr>
          <p:grpSpPr bwMode="auto">
            <a:xfrm>
              <a:off x="651025" y="3160373"/>
              <a:ext cx="412879" cy="413282"/>
              <a:chOff x="2818" y="1137"/>
              <a:chExt cx="2044" cy="2046"/>
            </a:xfrm>
          </p:grpSpPr>
          <p:sp>
            <p:nvSpPr>
              <p:cNvPr id="135" name="AutoShape 23">
                <a:extLst>
                  <a:ext uri="{FF2B5EF4-FFF2-40B4-BE49-F238E27FC236}">
                    <a16:creationId xmlns:a16="http://schemas.microsoft.com/office/drawing/2014/main" id="{76060CAC-97B7-49AA-A269-7CFDDAC806F3}"/>
                  </a:ext>
                </a:extLst>
              </p:cNvPr>
              <p:cNvSpPr>
                <a:spLocks noChangeAspect="1" noChangeArrowheads="1" noTextEdit="1"/>
              </p:cNvSpPr>
              <p:nvPr/>
            </p:nvSpPr>
            <p:spPr bwMode="auto">
              <a:xfrm>
                <a:off x="2818" y="1137"/>
                <a:ext cx="2044" cy="2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5837" tIns="32918" rIns="65837" bIns="32918" numCol="1" anchor="t" anchorCtr="0" compatLnSpc="1">
                <a:prstTxWarp prst="textNoShape">
                  <a:avLst/>
                </a:prstTxWarp>
              </a:bodyPr>
              <a:lstStyle/>
              <a:p>
                <a:endParaRPr lang="en-US"/>
              </a:p>
            </p:txBody>
          </p:sp>
          <p:sp>
            <p:nvSpPr>
              <p:cNvPr id="136" name="Freeform 25">
                <a:extLst>
                  <a:ext uri="{FF2B5EF4-FFF2-40B4-BE49-F238E27FC236}">
                    <a16:creationId xmlns:a16="http://schemas.microsoft.com/office/drawing/2014/main" id="{5BA1E94B-8B54-459C-9523-5FB807BCFA51}"/>
                  </a:ext>
                </a:extLst>
              </p:cNvPr>
              <p:cNvSpPr>
                <a:spLocks noEditPoints="1"/>
              </p:cNvSpPr>
              <p:nvPr/>
            </p:nvSpPr>
            <p:spPr bwMode="auto">
              <a:xfrm>
                <a:off x="3021" y="1340"/>
                <a:ext cx="1641" cy="1642"/>
              </a:xfrm>
              <a:custGeom>
                <a:avLst/>
                <a:gdLst>
                  <a:gd name="T0" fmla="*/ 456 w 802"/>
                  <a:gd name="T1" fmla="*/ 642 h 802"/>
                  <a:gd name="T2" fmla="*/ 448 w 802"/>
                  <a:gd name="T3" fmla="*/ 650 h 802"/>
                  <a:gd name="T4" fmla="*/ 378 w 802"/>
                  <a:gd name="T5" fmla="*/ 720 h 802"/>
                  <a:gd name="T6" fmla="*/ 82 w 802"/>
                  <a:gd name="T7" fmla="*/ 720 h 802"/>
                  <a:gd name="T8" fmla="*/ 82 w 802"/>
                  <a:gd name="T9" fmla="*/ 424 h 802"/>
                  <a:gd name="T10" fmla="*/ 152 w 802"/>
                  <a:gd name="T11" fmla="*/ 354 h 802"/>
                  <a:gd name="T12" fmla="*/ 225 w 802"/>
                  <a:gd name="T13" fmla="*/ 281 h 802"/>
                  <a:gd name="T14" fmla="*/ 521 w 802"/>
                  <a:gd name="T15" fmla="*/ 281 h 802"/>
                  <a:gd name="T16" fmla="*/ 559 w 802"/>
                  <a:gd name="T17" fmla="*/ 333 h 802"/>
                  <a:gd name="T18" fmla="*/ 486 w 802"/>
                  <a:gd name="T19" fmla="*/ 406 h 802"/>
                  <a:gd name="T20" fmla="*/ 453 w 802"/>
                  <a:gd name="T21" fmla="*/ 349 h 802"/>
                  <a:gd name="T22" fmla="*/ 453 w 802"/>
                  <a:gd name="T23" fmla="*/ 349 h 802"/>
                  <a:gd name="T24" fmla="*/ 277 w 802"/>
                  <a:gd name="T25" fmla="*/ 349 h 802"/>
                  <a:gd name="T26" fmla="*/ 148 w 802"/>
                  <a:gd name="T27" fmla="*/ 478 h 802"/>
                  <a:gd name="T28" fmla="*/ 148 w 802"/>
                  <a:gd name="T29" fmla="*/ 654 h 802"/>
                  <a:gd name="T30" fmla="*/ 148 w 802"/>
                  <a:gd name="T31" fmla="*/ 654 h 802"/>
                  <a:gd name="T32" fmla="*/ 324 w 802"/>
                  <a:gd name="T33" fmla="*/ 654 h 802"/>
                  <a:gd name="T34" fmla="*/ 348 w 802"/>
                  <a:gd name="T35" fmla="*/ 631 h 802"/>
                  <a:gd name="T36" fmla="*/ 429 w 802"/>
                  <a:gd name="T37" fmla="*/ 643 h 802"/>
                  <a:gd name="T38" fmla="*/ 456 w 802"/>
                  <a:gd name="T39" fmla="*/ 642 h 802"/>
                  <a:gd name="T40" fmla="*/ 720 w 802"/>
                  <a:gd name="T41" fmla="*/ 82 h 802"/>
                  <a:gd name="T42" fmla="*/ 424 w 802"/>
                  <a:gd name="T43" fmla="*/ 82 h 802"/>
                  <a:gd name="T44" fmla="*/ 352 w 802"/>
                  <a:gd name="T45" fmla="*/ 154 h 802"/>
                  <a:gd name="T46" fmla="*/ 346 w 802"/>
                  <a:gd name="T47" fmla="*/ 160 h 802"/>
                  <a:gd name="T48" fmla="*/ 373 w 802"/>
                  <a:gd name="T49" fmla="*/ 159 h 802"/>
                  <a:gd name="T50" fmla="*/ 454 w 802"/>
                  <a:gd name="T51" fmla="*/ 171 h 802"/>
                  <a:gd name="T52" fmla="*/ 476 w 802"/>
                  <a:gd name="T53" fmla="*/ 149 h 802"/>
                  <a:gd name="T54" fmla="*/ 653 w 802"/>
                  <a:gd name="T55" fmla="*/ 149 h 802"/>
                  <a:gd name="T56" fmla="*/ 653 w 802"/>
                  <a:gd name="T57" fmla="*/ 149 h 802"/>
                  <a:gd name="T58" fmla="*/ 653 w 802"/>
                  <a:gd name="T59" fmla="*/ 326 h 802"/>
                  <a:gd name="T60" fmla="*/ 524 w 802"/>
                  <a:gd name="T61" fmla="*/ 455 h 802"/>
                  <a:gd name="T62" fmla="*/ 347 w 802"/>
                  <a:gd name="T63" fmla="*/ 455 h 802"/>
                  <a:gd name="T64" fmla="*/ 347 w 802"/>
                  <a:gd name="T65" fmla="*/ 455 h 802"/>
                  <a:gd name="T66" fmla="*/ 314 w 802"/>
                  <a:gd name="T67" fmla="*/ 398 h 802"/>
                  <a:gd name="T68" fmla="*/ 243 w 802"/>
                  <a:gd name="T69" fmla="*/ 469 h 802"/>
                  <a:gd name="T70" fmla="*/ 281 w 802"/>
                  <a:gd name="T71" fmla="*/ 521 h 802"/>
                  <a:gd name="T72" fmla="*/ 577 w 802"/>
                  <a:gd name="T73" fmla="*/ 521 h 802"/>
                  <a:gd name="T74" fmla="*/ 648 w 802"/>
                  <a:gd name="T75" fmla="*/ 450 h 802"/>
                  <a:gd name="T76" fmla="*/ 720 w 802"/>
                  <a:gd name="T77" fmla="*/ 378 h 802"/>
                  <a:gd name="T78" fmla="*/ 720 w 802"/>
                  <a:gd name="T79" fmla="*/ 82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02" h="802">
                    <a:moveTo>
                      <a:pt x="456" y="642"/>
                    </a:moveTo>
                    <a:cubicBezTo>
                      <a:pt x="448" y="650"/>
                      <a:pt x="448" y="650"/>
                      <a:pt x="448" y="650"/>
                    </a:cubicBezTo>
                    <a:cubicBezTo>
                      <a:pt x="378" y="720"/>
                      <a:pt x="378" y="720"/>
                      <a:pt x="378" y="720"/>
                    </a:cubicBezTo>
                    <a:cubicBezTo>
                      <a:pt x="296" y="802"/>
                      <a:pt x="164" y="802"/>
                      <a:pt x="82" y="720"/>
                    </a:cubicBezTo>
                    <a:cubicBezTo>
                      <a:pt x="0" y="638"/>
                      <a:pt x="0" y="506"/>
                      <a:pt x="82" y="424"/>
                    </a:cubicBezTo>
                    <a:cubicBezTo>
                      <a:pt x="152" y="354"/>
                      <a:pt x="152" y="354"/>
                      <a:pt x="152" y="354"/>
                    </a:cubicBezTo>
                    <a:cubicBezTo>
                      <a:pt x="225" y="281"/>
                      <a:pt x="225" y="281"/>
                      <a:pt x="225" y="281"/>
                    </a:cubicBezTo>
                    <a:cubicBezTo>
                      <a:pt x="306" y="199"/>
                      <a:pt x="439" y="199"/>
                      <a:pt x="521" y="281"/>
                    </a:cubicBezTo>
                    <a:cubicBezTo>
                      <a:pt x="537" y="297"/>
                      <a:pt x="549" y="315"/>
                      <a:pt x="559" y="333"/>
                    </a:cubicBezTo>
                    <a:cubicBezTo>
                      <a:pt x="486" y="406"/>
                      <a:pt x="486" y="406"/>
                      <a:pt x="486" y="406"/>
                    </a:cubicBezTo>
                    <a:cubicBezTo>
                      <a:pt x="481" y="385"/>
                      <a:pt x="470" y="365"/>
                      <a:pt x="453" y="349"/>
                    </a:cubicBezTo>
                    <a:cubicBezTo>
                      <a:pt x="453" y="349"/>
                      <a:pt x="453" y="349"/>
                      <a:pt x="453" y="349"/>
                    </a:cubicBezTo>
                    <a:cubicBezTo>
                      <a:pt x="404" y="300"/>
                      <a:pt x="325" y="300"/>
                      <a:pt x="277" y="349"/>
                    </a:cubicBezTo>
                    <a:cubicBezTo>
                      <a:pt x="148" y="478"/>
                      <a:pt x="148" y="478"/>
                      <a:pt x="148" y="478"/>
                    </a:cubicBezTo>
                    <a:cubicBezTo>
                      <a:pt x="99" y="526"/>
                      <a:pt x="99" y="606"/>
                      <a:pt x="148" y="654"/>
                    </a:cubicBezTo>
                    <a:cubicBezTo>
                      <a:pt x="148" y="654"/>
                      <a:pt x="148" y="654"/>
                      <a:pt x="148" y="654"/>
                    </a:cubicBezTo>
                    <a:cubicBezTo>
                      <a:pt x="196" y="703"/>
                      <a:pt x="276" y="703"/>
                      <a:pt x="324" y="654"/>
                    </a:cubicBezTo>
                    <a:cubicBezTo>
                      <a:pt x="348" y="631"/>
                      <a:pt x="348" y="631"/>
                      <a:pt x="348" y="631"/>
                    </a:cubicBezTo>
                    <a:cubicBezTo>
                      <a:pt x="374" y="639"/>
                      <a:pt x="401" y="643"/>
                      <a:pt x="429" y="643"/>
                    </a:cubicBezTo>
                    <a:cubicBezTo>
                      <a:pt x="438" y="643"/>
                      <a:pt x="447" y="643"/>
                      <a:pt x="456" y="642"/>
                    </a:cubicBezTo>
                    <a:close/>
                    <a:moveTo>
                      <a:pt x="720" y="82"/>
                    </a:moveTo>
                    <a:cubicBezTo>
                      <a:pt x="638" y="0"/>
                      <a:pt x="506" y="0"/>
                      <a:pt x="424" y="82"/>
                    </a:cubicBezTo>
                    <a:cubicBezTo>
                      <a:pt x="352" y="154"/>
                      <a:pt x="352" y="154"/>
                      <a:pt x="352" y="154"/>
                    </a:cubicBezTo>
                    <a:cubicBezTo>
                      <a:pt x="346" y="160"/>
                      <a:pt x="346" y="160"/>
                      <a:pt x="346" y="160"/>
                    </a:cubicBezTo>
                    <a:cubicBezTo>
                      <a:pt x="355" y="159"/>
                      <a:pt x="364" y="159"/>
                      <a:pt x="373" y="159"/>
                    </a:cubicBezTo>
                    <a:cubicBezTo>
                      <a:pt x="401" y="159"/>
                      <a:pt x="428" y="163"/>
                      <a:pt x="454" y="171"/>
                    </a:cubicBezTo>
                    <a:cubicBezTo>
                      <a:pt x="476" y="149"/>
                      <a:pt x="476" y="149"/>
                      <a:pt x="476" y="149"/>
                    </a:cubicBezTo>
                    <a:cubicBezTo>
                      <a:pt x="525" y="101"/>
                      <a:pt x="604" y="101"/>
                      <a:pt x="653" y="149"/>
                    </a:cubicBezTo>
                    <a:cubicBezTo>
                      <a:pt x="653" y="149"/>
                      <a:pt x="653" y="149"/>
                      <a:pt x="653" y="149"/>
                    </a:cubicBezTo>
                    <a:cubicBezTo>
                      <a:pt x="701" y="198"/>
                      <a:pt x="701" y="277"/>
                      <a:pt x="653" y="326"/>
                    </a:cubicBezTo>
                    <a:cubicBezTo>
                      <a:pt x="524" y="455"/>
                      <a:pt x="524" y="455"/>
                      <a:pt x="524" y="455"/>
                    </a:cubicBezTo>
                    <a:cubicBezTo>
                      <a:pt x="475" y="504"/>
                      <a:pt x="396" y="504"/>
                      <a:pt x="347" y="455"/>
                    </a:cubicBezTo>
                    <a:cubicBezTo>
                      <a:pt x="347" y="455"/>
                      <a:pt x="347" y="455"/>
                      <a:pt x="347" y="455"/>
                    </a:cubicBezTo>
                    <a:cubicBezTo>
                      <a:pt x="330" y="439"/>
                      <a:pt x="319" y="419"/>
                      <a:pt x="314" y="398"/>
                    </a:cubicBezTo>
                    <a:cubicBezTo>
                      <a:pt x="243" y="469"/>
                      <a:pt x="243" y="469"/>
                      <a:pt x="243" y="469"/>
                    </a:cubicBezTo>
                    <a:cubicBezTo>
                      <a:pt x="253" y="487"/>
                      <a:pt x="265" y="505"/>
                      <a:pt x="281" y="521"/>
                    </a:cubicBezTo>
                    <a:cubicBezTo>
                      <a:pt x="363" y="603"/>
                      <a:pt x="496" y="603"/>
                      <a:pt x="577" y="521"/>
                    </a:cubicBezTo>
                    <a:cubicBezTo>
                      <a:pt x="648" y="450"/>
                      <a:pt x="648" y="450"/>
                      <a:pt x="648" y="450"/>
                    </a:cubicBezTo>
                    <a:cubicBezTo>
                      <a:pt x="720" y="378"/>
                      <a:pt x="720" y="378"/>
                      <a:pt x="720" y="378"/>
                    </a:cubicBezTo>
                    <a:cubicBezTo>
                      <a:pt x="802" y="296"/>
                      <a:pt x="802" y="164"/>
                      <a:pt x="720" y="8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5837" tIns="32918" rIns="65837" bIns="32918" numCol="1" anchor="t" anchorCtr="0" compatLnSpc="1">
                <a:prstTxWarp prst="textNoShape">
                  <a:avLst/>
                </a:prstTxWarp>
              </a:bodyPr>
              <a:lstStyle/>
              <a:p>
                <a:endParaRPr lang="en-US">
                  <a:ea typeface="Microsoft YaHei" panose="020B0503020204020204" pitchFamily="34" charset="-122"/>
                </a:endParaRPr>
              </a:p>
            </p:txBody>
          </p:sp>
        </p:grpSp>
      </p:grpSp>
      <p:grpSp>
        <p:nvGrpSpPr>
          <p:cNvPr id="8" name="Group 7">
            <a:extLst>
              <a:ext uri="{FF2B5EF4-FFF2-40B4-BE49-F238E27FC236}">
                <a16:creationId xmlns:a16="http://schemas.microsoft.com/office/drawing/2014/main" id="{7E0E7AF5-31E9-4F2D-A137-2255636EF740}"/>
              </a:ext>
            </a:extLst>
          </p:cNvPr>
          <p:cNvGrpSpPr/>
          <p:nvPr/>
        </p:nvGrpSpPr>
        <p:grpSpPr>
          <a:xfrm>
            <a:off x="4303913" y="1319808"/>
            <a:ext cx="3497519" cy="1644341"/>
            <a:chOff x="7977824" y="1319808"/>
            <a:chExt cx="3497519" cy="1644341"/>
          </a:xfrm>
        </p:grpSpPr>
        <p:sp>
          <p:nvSpPr>
            <p:cNvPr id="17" name="ee4pHeader1">
              <a:extLst>
                <a:ext uri="{FF2B5EF4-FFF2-40B4-BE49-F238E27FC236}">
                  <a16:creationId xmlns:a16="http://schemas.microsoft.com/office/drawing/2014/main" id="{0F5D0446-0344-4646-A056-CB2BCD05D078}"/>
                </a:ext>
              </a:extLst>
            </p:cNvPr>
            <p:cNvSpPr txBox="1"/>
            <p:nvPr/>
          </p:nvSpPr>
          <p:spPr>
            <a:xfrm>
              <a:off x="7977824" y="1770969"/>
              <a:ext cx="3317778" cy="1193180"/>
            </a:xfrm>
            <a:prstGeom prst="rect">
              <a:avLst/>
            </a:prstGeom>
            <a:solidFill>
              <a:srgbClr val="F2F2F2"/>
            </a:solidFill>
            <a:ln w="6858" cap="rnd" cmpd="sng" algn="ctr">
              <a:solidFill>
                <a:srgbClr val="9A9A9A"/>
              </a:solidFill>
              <a:prstDash val="solid"/>
              <a:round/>
              <a:headEnd type="none" w="med" len="med"/>
              <a:tailEnd type="none" w="med" len="med"/>
            </a:ln>
          </p:spPr>
          <p:txBody>
            <a:bodyPr wrap="square" lIns="91440" tIns="91440" rIns="91440" bIns="91440" rtlCol="0" anchor="t" anchorCtr="0">
              <a:noAutofit/>
            </a:bodyPr>
            <a:lstStyle>
              <a:defPPr>
                <a:defRPr lang="en-US"/>
              </a:defPPr>
              <a:lvl1pPr>
                <a:buSzPct val="100000"/>
                <a:buFont typeface="Trebuchet MS" panose="020B0603020202020204" pitchFamily="34" charset="0"/>
                <a:buChar char="​"/>
                <a:defRPr sz="1400">
                  <a:solidFill>
                    <a:schemeClr val="tx1">
                      <a:lumMod val="100000"/>
                    </a:schemeClr>
                  </a:solidFill>
                  <a:latin typeface="Trebuchet MS" panose="020B0603020202020204" pitchFamily="34" charset="0"/>
                </a:defRPr>
              </a:lvl1pPr>
              <a:lvl2pPr marL="324000" lvl="1" indent="-216000">
                <a:spcBef>
                  <a:spcPts val="600"/>
                </a:spcBef>
                <a:buClr>
                  <a:schemeClr val="tx2">
                    <a:lumMod val="100000"/>
                  </a:schemeClr>
                </a:buClr>
                <a:buSzPct val="100000"/>
                <a:buFont typeface="Trebuchet MS" panose="020B0603020202020204" pitchFamily="34" charset="0"/>
                <a:buChar char="•"/>
                <a:defRPr sz="1200">
                  <a:solidFill>
                    <a:schemeClr val="tx1">
                      <a:lumMod val="100000"/>
                    </a:schemeClr>
                  </a:solidFill>
                  <a:latin typeface="Trebuchet MS" panose="020B0603020202020204" pitchFamily="34" charset="0"/>
                </a:defRPr>
              </a:lvl2pPr>
            </a:lstStyle>
            <a:p>
              <a:r>
                <a:rPr lang="zh-TW" altLang="en-US">
                  <a:ea typeface="Microsoft YaHei" panose="020B0503020204020204" pitchFamily="34" charset="-122"/>
                </a:rPr>
                <a:t>跨售</a:t>
              </a:r>
              <a:r>
                <a:rPr lang="en-US" altLang="zh-TW">
                  <a:ea typeface="Microsoft YaHei" panose="020B0503020204020204" pitchFamily="34" charset="-122"/>
                </a:rPr>
                <a:t>/</a:t>
              </a:r>
              <a:r>
                <a:rPr lang="zh-TW" altLang="en-US">
                  <a:ea typeface="Microsoft YaHei" panose="020B0503020204020204" pitchFamily="34" charset="-122"/>
                </a:rPr>
                <a:t>追加</a:t>
              </a:r>
              <a:r>
                <a:rPr lang="en-US" err="1">
                  <a:ea typeface="Microsoft YaHei" panose="020B0503020204020204" pitchFamily="34" charset="-122"/>
                </a:rPr>
                <a:t>現有銀行產品</a:t>
              </a:r>
              <a:endParaRPr lang="en-US">
                <a:ea typeface="Microsoft YaHei" panose="020B0503020204020204" pitchFamily="34" charset="-122"/>
              </a:endParaRPr>
            </a:p>
            <a:p>
              <a:endParaRPr lang="en-US">
                <a:ea typeface="Microsoft YaHei" panose="020B0503020204020204" pitchFamily="34" charset="-122"/>
              </a:endParaRPr>
            </a:p>
            <a:p>
              <a:pPr>
                <a:buNone/>
              </a:pPr>
              <a:r>
                <a:rPr lang="en-US" altLang="zh-TW">
                  <a:ea typeface="Microsoft YaHei" panose="020B0503020204020204" pitchFamily="34" charset="-122"/>
                </a:rPr>
                <a:t>"</a:t>
              </a:r>
              <a:r>
                <a:rPr lang="zh-TW" altLang="en-US">
                  <a:ea typeface="Microsoft YaHei" panose="020B0503020204020204" pitchFamily="34" charset="-122"/>
                </a:rPr>
                <a:t>凱基客戶享有的專屬保險優惠，點擊此處看更多優惠詳情</a:t>
              </a:r>
              <a:r>
                <a:rPr lang="en-US" altLang="zh-TW">
                  <a:ea typeface="Microsoft YaHei" panose="020B0503020204020204" pitchFamily="34" charset="-122"/>
                </a:rPr>
                <a:t>"</a:t>
              </a:r>
              <a:endParaRPr lang="en-US">
                <a:ea typeface="Microsoft YaHei" panose="020B0503020204020204" pitchFamily="34" charset="-122"/>
              </a:endParaRPr>
            </a:p>
          </p:txBody>
        </p:sp>
        <p:sp>
          <p:nvSpPr>
            <p:cNvPr id="114" name="Rounded Rectangle 30">
              <a:extLst>
                <a:ext uri="{FF2B5EF4-FFF2-40B4-BE49-F238E27FC236}">
                  <a16:creationId xmlns:a16="http://schemas.microsoft.com/office/drawing/2014/main" id="{8879F035-27AB-4010-B369-E43FDF6E8033}"/>
                </a:ext>
              </a:extLst>
            </p:cNvPr>
            <p:cNvSpPr>
              <a:spLocks noChangeArrowheads="1"/>
            </p:cNvSpPr>
            <p:nvPr/>
          </p:nvSpPr>
          <p:spPr bwMode="auto">
            <a:xfrm>
              <a:off x="8157565" y="1391826"/>
              <a:ext cx="3317778" cy="409105"/>
            </a:xfrm>
            <a:prstGeom prst="roundRect">
              <a:avLst>
                <a:gd name="adj" fmla="val 50000"/>
              </a:avLst>
            </a:prstGeom>
            <a:solidFill>
              <a:schemeClr val="bg1">
                <a:lumMod val="85000"/>
              </a:schemeClr>
            </a:solidFill>
            <a:ln>
              <a:noFill/>
            </a:ln>
          </p:spPr>
          <p:txBody>
            <a:bodyPr vert="horz" wrap="square" lIns="45720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TW" altLang="en-US" sz="1600" b="1">
                  <a:solidFill>
                    <a:srgbClr val="295E7E"/>
                  </a:solidFill>
                  <a:ea typeface="Microsoft YaHei" panose="020B0503020204020204" pitchFamily="34" charset="-122"/>
                </a:rPr>
                <a:t>跨售</a:t>
              </a:r>
              <a:r>
                <a:rPr lang="en-US" sz="1600" b="1">
                  <a:solidFill>
                    <a:srgbClr val="295E7E"/>
                  </a:solidFill>
                  <a:ea typeface="Microsoft YaHei" panose="020B0503020204020204" pitchFamily="34" charset="-122"/>
                </a:rPr>
                <a:t>/</a:t>
              </a:r>
              <a:r>
                <a:rPr lang="en-US" sz="1600" b="1" err="1">
                  <a:solidFill>
                    <a:srgbClr val="295E7E"/>
                  </a:solidFill>
                  <a:ea typeface="Microsoft YaHei" panose="020B0503020204020204" pitchFamily="34" charset="-122"/>
                </a:rPr>
                <a:t>追加銷售</a:t>
              </a:r>
              <a:endParaRPr lang="en-US" sz="1600" b="1">
                <a:solidFill>
                  <a:srgbClr val="295E7E"/>
                </a:solidFill>
                <a:latin typeface="Trebuchet MS" panose="020B0603020202020204" pitchFamily="34" charset="0"/>
                <a:ea typeface="Microsoft YaHei" panose="020B0503020204020204" pitchFamily="34" charset="-122"/>
                <a:sym typeface="Trebuchet MS" panose="020B0603020202020204" pitchFamily="34" charset="0"/>
              </a:endParaRPr>
            </a:p>
          </p:txBody>
        </p:sp>
        <p:grpSp>
          <p:nvGrpSpPr>
            <p:cNvPr id="115" name="Group 114">
              <a:extLst>
                <a:ext uri="{FF2B5EF4-FFF2-40B4-BE49-F238E27FC236}">
                  <a16:creationId xmlns:a16="http://schemas.microsoft.com/office/drawing/2014/main" id="{FA417972-A685-401B-AC7A-3ADCDD169E1A}"/>
                </a:ext>
              </a:extLst>
            </p:cNvPr>
            <p:cNvGrpSpPr/>
            <p:nvPr/>
          </p:nvGrpSpPr>
          <p:grpSpPr>
            <a:xfrm>
              <a:off x="7977826" y="1319808"/>
              <a:ext cx="702244" cy="521457"/>
              <a:chOff x="629997" y="1545149"/>
              <a:chExt cx="1144825" cy="600364"/>
            </a:xfrm>
          </p:grpSpPr>
          <p:sp>
            <p:nvSpPr>
              <p:cNvPr id="116" name="Freeform 29">
                <a:extLst>
                  <a:ext uri="{FF2B5EF4-FFF2-40B4-BE49-F238E27FC236}">
                    <a16:creationId xmlns:a16="http://schemas.microsoft.com/office/drawing/2014/main" id="{855C4EAF-9906-4A80-9953-84B14892901A}"/>
                  </a:ext>
                </a:extLst>
              </p:cNvPr>
              <p:cNvSpPr>
                <a:spLocks/>
              </p:cNvSpPr>
              <p:nvPr/>
            </p:nvSpPr>
            <p:spPr bwMode="auto">
              <a:xfrm>
                <a:off x="1618042" y="1545149"/>
                <a:ext cx="156780" cy="91462"/>
              </a:xfrm>
              <a:custGeom>
                <a:avLst/>
                <a:gdLst>
                  <a:gd name="T0" fmla="*/ 95 w 95"/>
                  <a:gd name="T1" fmla="*/ 51 h 51"/>
                  <a:gd name="T2" fmla="*/ 0 w 95"/>
                  <a:gd name="T3" fmla="*/ 51 h 51"/>
                  <a:gd name="T4" fmla="*/ 39 w 95"/>
                  <a:gd name="T5" fmla="*/ 0 h 51"/>
                  <a:gd name="T6" fmla="*/ 95 w 95"/>
                  <a:gd name="T7" fmla="*/ 51 h 51"/>
                </a:gdLst>
                <a:ahLst/>
                <a:cxnLst>
                  <a:cxn ang="0">
                    <a:pos x="T0" y="T1"/>
                  </a:cxn>
                  <a:cxn ang="0">
                    <a:pos x="T2" y="T3"/>
                  </a:cxn>
                  <a:cxn ang="0">
                    <a:pos x="T4" y="T5"/>
                  </a:cxn>
                  <a:cxn ang="0">
                    <a:pos x="T6" y="T7"/>
                  </a:cxn>
                </a:cxnLst>
                <a:rect l="0" t="0" r="r" b="b"/>
                <a:pathLst>
                  <a:path w="95" h="51">
                    <a:moveTo>
                      <a:pt x="95" y="51"/>
                    </a:moveTo>
                    <a:lnTo>
                      <a:pt x="0" y="51"/>
                    </a:lnTo>
                    <a:lnTo>
                      <a:pt x="39" y="0"/>
                    </a:lnTo>
                    <a:lnTo>
                      <a:pt x="95" y="51"/>
                    </a:ln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rgbClr val="000000"/>
                  </a:solidFill>
                  <a:latin typeface="Trebuchet MS" panose="020B0603020202020204" pitchFamily="34" charset="0"/>
                  <a:ea typeface="Microsoft YaHei" panose="020B0503020204020204" pitchFamily="34" charset="-122"/>
                  <a:sym typeface="Trebuchet MS" panose="020B0603020202020204" pitchFamily="34" charset="0"/>
                </a:endParaRPr>
              </a:p>
            </p:txBody>
          </p:sp>
          <p:sp>
            <p:nvSpPr>
              <p:cNvPr id="117" name="Freeform: Shape 76">
                <a:extLst>
                  <a:ext uri="{FF2B5EF4-FFF2-40B4-BE49-F238E27FC236}">
                    <a16:creationId xmlns:a16="http://schemas.microsoft.com/office/drawing/2014/main" id="{2A2E983F-46F6-4CD3-A6D8-B36732E92700}"/>
                  </a:ext>
                </a:extLst>
              </p:cNvPr>
              <p:cNvSpPr>
                <a:spLocks/>
              </p:cNvSpPr>
              <p:nvPr/>
            </p:nvSpPr>
            <p:spPr bwMode="auto">
              <a:xfrm>
                <a:off x="1055771" y="1603886"/>
                <a:ext cx="538474" cy="493589"/>
              </a:xfrm>
              <a:custGeom>
                <a:avLst/>
                <a:gdLst>
                  <a:gd name="connsiteX0" fmla="*/ 0 w 949466"/>
                  <a:gd name="connsiteY0" fmla="*/ 0 h 800896"/>
                  <a:gd name="connsiteX1" fmla="*/ 949466 w 949466"/>
                  <a:gd name="connsiteY1" fmla="*/ 0 h 800896"/>
                  <a:gd name="connsiteX2" fmla="*/ 344345 w 949466"/>
                  <a:gd name="connsiteY2" fmla="*/ 800896 h 800896"/>
                  <a:gd name="connsiteX3" fmla="*/ 0 w 949466"/>
                  <a:gd name="connsiteY3" fmla="*/ 800896 h 800896"/>
                </a:gdLst>
                <a:ahLst/>
                <a:cxnLst>
                  <a:cxn ang="0">
                    <a:pos x="connsiteX0" y="connsiteY0"/>
                  </a:cxn>
                  <a:cxn ang="0">
                    <a:pos x="connsiteX1" y="connsiteY1"/>
                  </a:cxn>
                  <a:cxn ang="0">
                    <a:pos x="connsiteX2" y="connsiteY2"/>
                  </a:cxn>
                  <a:cxn ang="0">
                    <a:pos x="connsiteX3" y="connsiteY3"/>
                  </a:cxn>
                </a:cxnLst>
                <a:rect l="l" t="t" r="r" b="b"/>
                <a:pathLst>
                  <a:path w="949466" h="800896">
                    <a:moveTo>
                      <a:pt x="0" y="0"/>
                    </a:moveTo>
                    <a:lnTo>
                      <a:pt x="949466" y="0"/>
                    </a:lnTo>
                    <a:lnTo>
                      <a:pt x="344345" y="800896"/>
                    </a:lnTo>
                    <a:lnTo>
                      <a:pt x="0" y="800896"/>
                    </a:lnTo>
                    <a:close/>
                  </a:path>
                </a:pathLst>
              </a:custGeom>
              <a:solidFill>
                <a:schemeClr val="accent4"/>
              </a:solidFill>
              <a:ln>
                <a:noFill/>
              </a:ln>
              <a:effectLst>
                <a:outerShdw blurRad="228600" dist="76200" algn="l" rotWithShape="0">
                  <a:prstClr val="black">
                    <a:alpha val="40000"/>
                  </a:prstClr>
                </a:outerShdw>
              </a:effectLst>
            </p:spPr>
            <p:txBody>
              <a:bodyPr vert="horz" wrap="square" lIns="182880" tIns="45720" rIns="91440" bIns="45720" numCol="1" anchor="ctr"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6600" b="1">
                  <a:solidFill>
                    <a:prstClr val="white"/>
                  </a:solidFill>
                  <a:latin typeface="Trebuchet MS" panose="020B0603020202020204" pitchFamily="34" charset="0"/>
                  <a:ea typeface="Microsoft YaHei" panose="020B0503020204020204" pitchFamily="34" charset="-122"/>
                  <a:sym typeface="Trebuchet MS" panose="020B0603020202020204" pitchFamily="34" charset="0"/>
                </a:endParaRPr>
              </a:p>
            </p:txBody>
          </p:sp>
          <p:sp>
            <p:nvSpPr>
              <p:cNvPr id="118" name="Freeform 32">
                <a:extLst>
                  <a:ext uri="{FF2B5EF4-FFF2-40B4-BE49-F238E27FC236}">
                    <a16:creationId xmlns:a16="http://schemas.microsoft.com/office/drawing/2014/main" id="{C67E094D-B11D-48BB-BAC9-A856B53DBF6B}"/>
                  </a:ext>
                </a:extLst>
              </p:cNvPr>
              <p:cNvSpPr>
                <a:spLocks/>
              </p:cNvSpPr>
              <p:nvPr/>
            </p:nvSpPr>
            <p:spPr bwMode="auto">
              <a:xfrm>
                <a:off x="629997" y="1545149"/>
                <a:ext cx="1057882" cy="600364"/>
              </a:xfrm>
              <a:custGeom>
                <a:avLst/>
                <a:gdLst>
                  <a:gd name="T0" fmla="*/ 1175 w 1175"/>
                  <a:gd name="T1" fmla="*/ 0 h 675"/>
                  <a:gd name="T2" fmla="*/ 0 w 1175"/>
                  <a:gd name="T3" fmla="*/ 0 h 675"/>
                  <a:gd name="T4" fmla="*/ 0 w 1175"/>
                  <a:gd name="T5" fmla="*/ 675 h 675"/>
                  <a:gd name="T6" fmla="*/ 665 w 1175"/>
                  <a:gd name="T7" fmla="*/ 675 h 675"/>
                  <a:gd name="T8" fmla="*/ 1175 w 1175"/>
                  <a:gd name="T9" fmla="*/ 0 h 675"/>
                </a:gdLst>
                <a:ahLst/>
                <a:cxnLst>
                  <a:cxn ang="0">
                    <a:pos x="T0" y="T1"/>
                  </a:cxn>
                  <a:cxn ang="0">
                    <a:pos x="T2" y="T3"/>
                  </a:cxn>
                  <a:cxn ang="0">
                    <a:pos x="T4" y="T5"/>
                  </a:cxn>
                  <a:cxn ang="0">
                    <a:pos x="T6" y="T7"/>
                  </a:cxn>
                  <a:cxn ang="0">
                    <a:pos x="T8" y="T9"/>
                  </a:cxn>
                </a:cxnLst>
                <a:rect l="0" t="0" r="r" b="b"/>
                <a:pathLst>
                  <a:path w="1175" h="675">
                    <a:moveTo>
                      <a:pt x="1175" y="0"/>
                    </a:moveTo>
                    <a:lnTo>
                      <a:pt x="0" y="0"/>
                    </a:lnTo>
                    <a:lnTo>
                      <a:pt x="0" y="675"/>
                    </a:lnTo>
                    <a:lnTo>
                      <a:pt x="665" y="675"/>
                    </a:lnTo>
                    <a:lnTo>
                      <a:pt x="1175" y="0"/>
                    </a:lnTo>
                    <a:close/>
                  </a:path>
                </a:pathLst>
              </a:custGeom>
              <a:solidFill>
                <a:srgbClr val="295E7E"/>
              </a:solidFill>
              <a:ln>
                <a:noFill/>
              </a:ln>
            </p:spPr>
            <p:txBody>
              <a:bodyPr vert="horz" wrap="square" lIns="27432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6600" b="1">
                  <a:solidFill>
                    <a:prstClr val="white"/>
                  </a:solidFill>
                  <a:effectLst>
                    <a:outerShdw blurRad="38100" dist="38100" dir="2700000" algn="tl">
                      <a:srgbClr val="000000">
                        <a:alpha val="43137"/>
                      </a:srgbClr>
                    </a:outerShdw>
                  </a:effectLst>
                  <a:latin typeface="Trebuchet MS" panose="020B0603020202020204" pitchFamily="34" charset="0"/>
                  <a:ea typeface="Microsoft YaHei" panose="020B0503020204020204" pitchFamily="34" charset="-122"/>
                  <a:sym typeface="Trebuchet MS" panose="020B0603020202020204" pitchFamily="34" charset="0"/>
                </a:endParaRPr>
              </a:p>
            </p:txBody>
          </p:sp>
        </p:grpSp>
        <p:grpSp>
          <p:nvGrpSpPr>
            <p:cNvPr id="150" name="Group 149">
              <a:extLst>
                <a:ext uri="{FF2B5EF4-FFF2-40B4-BE49-F238E27FC236}">
                  <a16:creationId xmlns:a16="http://schemas.microsoft.com/office/drawing/2014/main" id="{41E90066-921C-44C7-B5BF-5348456E52C7}"/>
                </a:ext>
              </a:extLst>
            </p:cNvPr>
            <p:cNvGrpSpPr>
              <a:grpSpLocks noChangeAspect="1"/>
            </p:cNvGrpSpPr>
            <p:nvPr/>
          </p:nvGrpSpPr>
          <p:grpSpPr>
            <a:xfrm>
              <a:off x="8006091" y="1342616"/>
              <a:ext cx="417736" cy="418136"/>
              <a:chOff x="5273675" y="2514600"/>
              <a:chExt cx="1644650" cy="1646238"/>
            </a:xfrm>
          </p:grpSpPr>
          <p:sp>
            <p:nvSpPr>
              <p:cNvPr id="151" name="AutoShape 90">
                <a:extLst>
                  <a:ext uri="{FF2B5EF4-FFF2-40B4-BE49-F238E27FC236}">
                    <a16:creationId xmlns:a16="http://schemas.microsoft.com/office/drawing/2014/main" id="{E5CCDA13-8872-4BC0-8FA2-A1F084E0E1F2}"/>
                  </a:ext>
                </a:extLst>
              </p:cNvPr>
              <p:cNvSpPr>
                <a:spLocks noChangeAspect="1" noChangeArrowheads="1" noTextEdit="1"/>
              </p:cNvSpPr>
              <p:nvPr/>
            </p:nvSpPr>
            <p:spPr bwMode="auto">
              <a:xfrm>
                <a:off x="5273675" y="2514600"/>
                <a:ext cx="1644650" cy="1646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5837" tIns="32918" rIns="65837" bIns="32918" numCol="1" anchor="t" anchorCtr="0" compatLnSpc="1">
                <a:prstTxWarp prst="textNoShape">
                  <a:avLst/>
                </a:prstTxWarp>
              </a:bodyPr>
              <a:lstStyle/>
              <a:p>
                <a:endParaRPr lang="en-US"/>
              </a:p>
            </p:txBody>
          </p:sp>
          <p:grpSp>
            <p:nvGrpSpPr>
              <p:cNvPr id="152" name="Group 151">
                <a:extLst>
                  <a:ext uri="{FF2B5EF4-FFF2-40B4-BE49-F238E27FC236}">
                    <a16:creationId xmlns:a16="http://schemas.microsoft.com/office/drawing/2014/main" id="{E71DE2EB-6C27-432A-8DAD-F19F906E762A}"/>
                  </a:ext>
                </a:extLst>
              </p:cNvPr>
              <p:cNvGrpSpPr/>
              <p:nvPr/>
            </p:nvGrpSpPr>
            <p:grpSpPr>
              <a:xfrm>
                <a:off x="5508625" y="3076575"/>
                <a:ext cx="1174751" cy="806450"/>
                <a:chOff x="5508625" y="3076575"/>
                <a:chExt cx="1174751" cy="806450"/>
              </a:xfrm>
            </p:grpSpPr>
            <p:sp>
              <p:nvSpPr>
                <p:cNvPr id="153" name="Freeform 92">
                  <a:extLst>
                    <a:ext uri="{FF2B5EF4-FFF2-40B4-BE49-F238E27FC236}">
                      <a16:creationId xmlns:a16="http://schemas.microsoft.com/office/drawing/2014/main" id="{A744E1A3-3D29-4A6D-9581-300250C8346B}"/>
                    </a:ext>
                  </a:extLst>
                </p:cNvPr>
                <p:cNvSpPr>
                  <a:spLocks/>
                </p:cNvSpPr>
                <p:nvPr/>
              </p:nvSpPr>
              <p:spPr bwMode="auto">
                <a:xfrm>
                  <a:off x="6113463" y="3076575"/>
                  <a:ext cx="569913" cy="612775"/>
                </a:xfrm>
                <a:custGeom>
                  <a:avLst/>
                  <a:gdLst>
                    <a:gd name="T0" fmla="*/ 799 w 799"/>
                    <a:gd name="T1" fmla="*/ 222 h 858"/>
                    <a:gd name="T2" fmla="*/ 799 w 799"/>
                    <a:gd name="T3" fmla="*/ 220 h 858"/>
                    <a:gd name="T4" fmla="*/ 799 w 799"/>
                    <a:gd name="T5" fmla="*/ 219 h 858"/>
                    <a:gd name="T6" fmla="*/ 799 w 799"/>
                    <a:gd name="T7" fmla="*/ 218 h 858"/>
                    <a:gd name="T8" fmla="*/ 799 w 799"/>
                    <a:gd name="T9" fmla="*/ 215 h 858"/>
                    <a:gd name="T10" fmla="*/ 798 w 799"/>
                    <a:gd name="T11" fmla="*/ 215 h 858"/>
                    <a:gd name="T12" fmla="*/ 798 w 799"/>
                    <a:gd name="T13" fmla="*/ 215 h 858"/>
                    <a:gd name="T14" fmla="*/ 798 w 799"/>
                    <a:gd name="T15" fmla="*/ 213 h 858"/>
                    <a:gd name="T16" fmla="*/ 798 w 799"/>
                    <a:gd name="T17" fmla="*/ 211 h 858"/>
                    <a:gd name="T18" fmla="*/ 798 w 799"/>
                    <a:gd name="T19" fmla="*/ 210 h 858"/>
                    <a:gd name="T20" fmla="*/ 797 w 799"/>
                    <a:gd name="T21" fmla="*/ 210 h 858"/>
                    <a:gd name="T22" fmla="*/ 797 w 799"/>
                    <a:gd name="T23" fmla="*/ 209 h 858"/>
                    <a:gd name="T24" fmla="*/ 796 w 799"/>
                    <a:gd name="T25" fmla="*/ 207 h 858"/>
                    <a:gd name="T26" fmla="*/ 796 w 799"/>
                    <a:gd name="T27" fmla="*/ 206 h 858"/>
                    <a:gd name="T28" fmla="*/ 796 w 799"/>
                    <a:gd name="T29" fmla="*/ 204 h 858"/>
                    <a:gd name="T30" fmla="*/ 795 w 799"/>
                    <a:gd name="T31" fmla="*/ 202 h 858"/>
                    <a:gd name="T32" fmla="*/ 794 w 799"/>
                    <a:gd name="T33" fmla="*/ 201 h 858"/>
                    <a:gd name="T34" fmla="*/ 794 w 799"/>
                    <a:gd name="T35" fmla="*/ 200 h 858"/>
                    <a:gd name="T36" fmla="*/ 793 w 799"/>
                    <a:gd name="T37" fmla="*/ 198 h 858"/>
                    <a:gd name="T38" fmla="*/ 792 w 799"/>
                    <a:gd name="T39" fmla="*/ 197 h 858"/>
                    <a:gd name="T40" fmla="*/ 791 w 799"/>
                    <a:gd name="T41" fmla="*/ 197 h 858"/>
                    <a:gd name="T42" fmla="*/ 790 w 799"/>
                    <a:gd name="T43" fmla="*/ 195 h 858"/>
                    <a:gd name="T44" fmla="*/ 789 w 799"/>
                    <a:gd name="T45" fmla="*/ 194 h 858"/>
                    <a:gd name="T46" fmla="*/ 789 w 799"/>
                    <a:gd name="T47" fmla="*/ 193 h 858"/>
                    <a:gd name="T48" fmla="*/ 789 w 799"/>
                    <a:gd name="T49" fmla="*/ 193 h 858"/>
                    <a:gd name="T50" fmla="*/ 787 w 799"/>
                    <a:gd name="T51" fmla="*/ 191 h 858"/>
                    <a:gd name="T52" fmla="*/ 786 w 799"/>
                    <a:gd name="T53" fmla="*/ 189 h 858"/>
                    <a:gd name="T54" fmla="*/ 784 w 799"/>
                    <a:gd name="T55" fmla="*/ 188 h 858"/>
                    <a:gd name="T56" fmla="*/ 782 w 799"/>
                    <a:gd name="T57" fmla="*/ 186 h 858"/>
                    <a:gd name="T58" fmla="*/ 780 w 799"/>
                    <a:gd name="T59" fmla="*/ 185 h 858"/>
                    <a:gd name="T60" fmla="*/ 778 w 799"/>
                    <a:gd name="T61" fmla="*/ 183 h 858"/>
                    <a:gd name="T62" fmla="*/ 777 w 799"/>
                    <a:gd name="T63" fmla="*/ 183 h 858"/>
                    <a:gd name="T64" fmla="*/ 497 w 799"/>
                    <a:gd name="T65" fmla="*/ 7 h 858"/>
                    <a:gd name="T66" fmla="*/ 472 w 799"/>
                    <a:gd name="T67" fmla="*/ 0 h 858"/>
                    <a:gd name="T68" fmla="*/ 432 w 799"/>
                    <a:gd name="T69" fmla="*/ 22 h 858"/>
                    <a:gd name="T70" fmla="*/ 447 w 799"/>
                    <a:gd name="T71" fmla="*/ 87 h 858"/>
                    <a:gd name="T72" fmla="*/ 628 w 799"/>
                    <a:gd name="T73" fmla="*/ 200 h 858"/>
                    <a:gd name="T74" fmla="*/ 164 w 799"/>
                    <a:gd name="T75" fmla="*/ 447 h 858"/>
                    <a:gd name="T76" fmla="*/ 0 w 799"/>
                    <a:gd name="T77" fmla="*/ 694 h 858"/>
                    <a:gd name="T78" fmla="*/ 47 w 799"/>
                    <a:gd name="T79" fmla="*/ 858 h 858"/>
                    <a:gd name="T80" fmla="*/ 661 w 799"/>
                    <a:gd name="T81" fmla="*/ 289 h 858"/>
                    <a:gd name="T82" fmla="*/ 548 w 799"/>
                    <a:gd name="T83" fmla="*/ 486 h 858"/>
                    <a:gd name="T84" fmla="*/ 565 w 799"/>
                    <a:gd name="T85" fmla="*/ 550 h 858"/>
                    <a:gd name="T86" fmla="*/ 588 w 799"/>
                    <a:gd name="T87" fmla="*/ 556 h 858"/>
                    <a:gd name="T88" fmla="*/ 629 w 799"/>
                    <a:gd name="T89" fmla="*/ 533 h 858"/>
                    <a:gd name="T90" fmla="*/ 793 w 799"/>
                    <a:gd name="T91" fmla="*/ 246 h 858"/>
                    <a:gd name="T92" fmla="*/ 794 w 799"/>
                    <a:gd name="T93" fmla="*/ 244 h 858"/>
                    <a:gd name="T94" fmla="*/ 795 w 799"/>
                    <a:gd name="T95" fmla="*/ 242 h 858"/>
                    <a:gd name="T96" fmla="*/ 795 w 799"/>
                    <a:gd name="T97" fmla="*/ 242 h 858"/>
                    <a:gd name="T98" fmla="*/ 796 w 799"/>
                    <a:gd name="T99" fmla="*/ 240 h 858"/>
                    <a:gd name="T100" fmla="*/ 796 w 799"/>
                    <a:gd name="T101" fmla="*/ 238 h 858"/>
                    <a:gd name="T102" fmla="*/ 797 w 799"/>
                    <a:gd name="T103" fmla="*/ 237 h 858"/>
                    <a:gd name="T104" fmla="*/ 797 w 799"/>
                    <a:gd name="T105" fmla="*/ 236 h 858"/>
                    <a:gd name="T106" fmla="*/ 798 w 799"/>
                    <a:gd name="T107" fmla="*/ 234 h 858"/>
                    <a:gd name="T108" fmla="*/ 798 w 799"/>
                    <a:gd name="T109" fmla="*/ 233 h 858"/>
                    <a:gd name="T110" fmla="*/ 798 w 799"/>
                    <a:gd name="T111" fmla="*/ 231 h 858"/>
                    <a:gd name="T112" fmla="*/ 798 w 799"/>
                    <a:gd name="T113" fmla="*/ 231 h 858"/>
                    <a:gd name="T114" fmla="*/ 799 w 799"/>
                    <a:gd name="T115" fmla="*/ 229 h 858"/>
                    <a:gd name="T116" fmla="*/ 799 w 799"/>
                    <a:gd name="T117" fmla="*/ 228 h 858"/>
                    <a:gd name="T118" fmla="*/ 799 w 799"/>
                    <a:gd name="T119" fmla="*/ 227 h 858"/>
                    <a:gd name="T120" fmla="*/ 799 w 799"/>
                    <a:gd name="T121" fmla="*/ 225 h 858"/>
                    <a:gd name="T122" fmla="*/ 799 w 799"/>
                    <a:gd name="T123" fmla="*/ 224 h 858"/>
                    <a:gd name="T124" fmla="*/ 799 w 799"/>
                    <a:gd name="T125" fmla="*/ 222 h 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9" h="858">
                      <a:moveTo>
                        <a:pt x="799" y="222"/>
                      </a:moveTo>
                      <a:cubicBezTo>
                        <a:pt x="799" y="221"/>
                        <a:pt x="799" y="221"/>
                        <a:pt x="799" y="220"/>
                      </a:cubicBezTo>
                      <a:cubicBezTo>
                        <a:pt x="799" y="220"/>
                        <a:pt x="799" y="220"/>
                        <a:pt x="799" y="219"/>
                      </a:cubicBezTo>
                      <a:cubicBezTo>
                        <a:pt x="799" y="219"/>
                        <a:pt x="799" y="218"/>
                        <a:pt x="799" y="218"/>
                      </a:cubicBezTo>
                      <a:cubicBezTo>
                        <a:pt x="799" y="217"/>
                        <a:pt x="799" y="216"/>
                        <a:pt x="799" y="215"/>
                      </a:cubicBezTo>
                      <a:cubicBezTo>
                        <a:pt x="799" y="215"/>
                        <a:pt x="799" y="215"/>
                        <a:pt x="798" y="215"/>
                      </a:cubicBezTo>
                      <a:cubicBezTo>
                        <a:pt x="798" y="215"/>
                        <a:pt x="798" y="215"/>
                        <a:pt x="798" y="215"/>
                      </a:cubicBezTo>
                      <a:cubicBezTo>
                        <a:pt x="798" y="214"/>
                        <a:pt x="798" y="214"/>
                        <a:pt x="798" y="213"/>
                      </a:cubicBezTo>
                      <a:cubicBezTo>
                        <a:pt x="798" y="212"/>
                        <a:pt x="798" y="212"/>
                        <a:pt x="798" y="211"/>
                      </a:cubicBezTo>
                      <a:cubicBezTo>
                        <a:pt x="798" y="211"/>
                        <a:pt x="798" y="211"/>
                        <a:pt x="798" y="210"/>
                      </a:cubicBezTo>
                      <a:cubicBezTo>
                        <a:pt x="798" y="210"/>
                        <a:pt x="798" y="210"/>
                        <a:pt x="797" y="210"/>
                      </a:cubicBezTo>
                      <a:cubicBezTo>
                        <a:pt x="797" y="210"/>
                        <a:pt x="797" y="209"/>
                        <a:pt x="797" y="209"/>
                      </a:cubicBezTo>
                      <a:cubicBezTo>
                        <a:pt x="797" y="208"/>
                        <a:pt x="797" y="207"/>
                        <a:pt x="796" y="207"/>
                      </a:cubicBezTo>
                      <a:cubicBezTo>
                        <a:pt x="796" y="206"/>
                        <a:pt x="796" y="206"/>
                        <a:pt x="796" y="206"/>
                      </a:cubicBezTo>
                      <a:cubicBezTo>
                        <a:pt x="796" y="205"/>
                        <a:pt x="796" y="205"/>
                        <a:pt x="796" y="204"/>
                      </a:cubicBezTo>
                      <a:cubicBezTo>
                        <a:pt x="795" y="204"/>
                        <a:pt x="795" y="203"/>
                        <a:pt x="795" y="202"/>
                      </a:cubicBezTo>
                      <a:cubicBezTo>
                        <a:pt x="795" y="202"/>
                        <a:pt x="794" y="202"/>
                        <a:pt x="794" y="201"/>
                      </a:cubicBezTo>
                      <a:cubicBezTo>
                        <a:pt x="794" y="201"/>
                        <a:pt x="794" y="201"/>
                        <a:pt x="794" y="200"/>
                      </a:cubicBezTo>
                      <a:cubicBezTo>
                        <a:pt x="793" y="200"/>
                        <a:pt x="793" y="199"/>
                        <a:pt x="793" y="198"/>
                      </a:cubicBezTo>
                      <a:cubicBezTo>
                        <a:pt x="792" y="198"/>
                        <a:pt x="792" y="198"/>
                        <a:pt x="792" y="197"/>
                      </a:cubicBezTo>
                      <a:cubicBezTo>
                        <a:pt x="792" y="197"/>
                        <a:pt x="792" y="197"/>
                        <a:pt x="791" y="197"/>
                      </a:cubicBezTo>
                      <a:cubicBezTo>
                        <a:pt x="791" y="196"/>
                        <a:pt x="791" y="195"/>
                        <a:pt x="790" y="195"/>
                      </a:cubicBezTo>
                      <a:cubicBezTo>
                        <a:pt x="790" y="194"/>
                        <a:pt x="790" y="194"/>
                        <a:pt x="789" y="194"/>
                      </a:cubicBezTo>
                      <a:cubicBezTo>
                        <a:pt x="789" y="194"/>
                        <a:pt x="789" y="193"/>
                        <a:pt x="789" y="193"/>
                      </a:cubicBezTo>
                      <a:cubicBezTo>
                        <a:pt x="789" y="193"/>
                        <a:pt x="789" y="193"/>
                        <a:pt x="789" y="193"/>
                      </a:cubicBezTo>
                      <a:cubicBezTo>
                        <a:pt x="788" y="192"/>
                        <a:pt x="788" y="192"/>
                        <a:pt x="787" y="191"/>
                      </a:cubicBezTo>
                      <a:cubicBezTo>
                        <a:pt x="787" y="191"/>
                        <a:pt x="786" y="190"/>
                        <a:pt x="786" y="189"/>
                      </a:cubicBezTo>
                      <a:cubicBezTo>
                        <a:pt x="785" y="189"/>
                        <a:pt x="785" y="188"/>
                        <a:pt x="784" y="188"/>
                      </a:cubicBezTo>
                      <a:cubicBezTo>
                        <a:pt x="783" y="187"/>
                        <a:pt x="783" y="187"/>
                        <a:pt x="782" y="186"/>
                      </a:cubicBezTo>
                      <a:cubicBezTo>
                        <a:pt x="782" y="186"/>
                        <a:pt x="781" y="185"/>
                        <a:pt x="780" y="185"/>
                      </a:cubicBezTo>
                      <a:cubicBezTo>
                        <a:pt x="780" y="184"/>
                        <a:pt x="779" y="184"/>
                        <a:pt x="778" y="183"/>
                      </a:cubicBezTo>
                      <a:cubicBezTo>
                        <a:pt x="778" y="183"/>
                        <a:pt x="778" y="183"/>
                        <a:pt x="777" y="183"/>
                      </a:cubicBezTo>
                      <a:cubicBezTo>
                        <a:pt x="497" y="7"/>
                        <a:pt x="497" y="7"/>
                        <a:pt x="497" y="7"/>
                      </a:cubicBezTo>
                      <a:cubicBezTo>
                        <a:pt x="489" y="2"/>
                        <a:pt x="480" y="0"/>
                        <a:pt x="472" y="0"/>
                      </a:cubicBezTo>
                      <a:cubicBezTo>
                        <a:pt x="456" y="0"/>
                        <a:pt x="441" y="8"/>
                        <a:pt x="432" y="22"/>
                      </a:cubicBezTo>
                      <a:cubicBezTo>
                        <a:pt x="419" y="44"/>
                        <a:pt x="425" y="73"/>
                        <a:pt x="447" y="87"/>
                      </a:cubicBezTo>
                      <a:cubicBezTo>
                        <a:pt x="628" y="200"/>
                        <a:pt x="628" y="200"/>
                        <a:pt x="628" y="200"/>
                      </a:cubicBezTo>
                      <a:cubicBezTo>
                        <a:pt x="435" y="248"/>
                        <a:pt x="279" y="330"/>
                        <a:pt x="164" y="447"/>
                      </a:cubicBezTo>
                      <a:cubicBezTo>
                        <a:pt x="93" y="518"/>
                        <a:pt x="39" y="600"/>
                        <a:pt x="0" y="694"/>
                      </a:cubicBezTo>
                      <a:cubicBezTo>
                        <a:pt x="20" y="746"/>
                        <a:pt x="35" y="801"/>
                        <a:pt x="47" y="858"/>
                      </a:cubicBezTo>
                      <a:cubicBezTo>
                        <a:pt x="127" y="504"/>
                        <a:pt x="399" y="352"/>
                        <a:pt x="661" y="289"/>
                      </a:cubicBezTo>
                      <a:cubicBezTo>
                        <a:pt x="548" y="486"/>
                        <a:pt x="548" y="486"/>
                        <a:pt x="548" y="486"/>
                      </a:cubicBezTo>
                      <a:cubicBezTo>
                        <a:pt x="535" y="509"/>
                        <a:pt x="543" y="537"/>
                        <a:pt x="565" y="550"/>
                      </a:cubicBezTo>
                      <a:cubicBezTo>
                        <a:pt x="572" y="554"/>
                        <a:pt x="580" y="556"/>
                        <a:pt x="588" y="556"/>
                      </a:cubicBezTo>
                      <a:cubicBezTo>
                        <a:pt x="604" y="556"/>
                        <a:pt x="620" y="548"/>
                        <a:pt x="629" y="533"/>
                      </a:cubicBezTo>
                      <a:cubicBezTo>
                        <a:pt x="793" y="246"/>
                        <a:pt x="793" y="246"/>
                        <a:pt x="793" y="246"/>
                      </a:cubicBezTo>
                      <a:cubicBezTo>
                        <a:pt x="793" y="245"/>
                        <a:pt x="793" y="245"/>
                        <a:pt x="794" y="244"/>
                      </a:cubicBezTo>
                      <a:cubicBezTo>
                        <a:pt x="794" y="244"/>
                        <a:pt x="794" y="243"/>
                        <a:pt x="795" y="242"/>
                      </a:cubicBezTo>
                      <a:cubicBezTo>
                        <a:pt x="795" y="242"/>
                        <a:pt x="795" y="242"/>
                        <a:pt x="795" y="242"/>
                      </a:cubicBezTo>
                      <a:cubicBezTo>
                        <a:pt x="795" y="241"/>
                        <a:pt x="795" y="241"/>
                        <a:pt x="796" y="240"/>
                      </a:cubicBezTo>
                      <a:cubicBezTo>
                        <a:pt x="796" y="239"/>
                        <a:pt x="796" y="239"/>
                        <a:pt x="796" y="238"/>
                      </a:cubicBezTo>
                      <a:cubicBezTo>
                        <a:pt x="796" y="238"/>
                        <a:pt x="797" y="238"/>
                        <a:pt x="797" y="237"/>
                      </a:cubicBezTo>
                      <a:cubicBezTo>
                        <a:pt x="797" y="237"/>
                        <a:pt x="797" y="236"/>
                        <a:pt x="797" y="236"/>
                      </a:cubicBezTo>
                      <a:cubicBezTo>
                        <a:pt x="797" y="235"/>
                        <a:pt x="798" y="234"/>
                        <a:pt x="798" y="234"/>
                      </a:cubicBezTo>
                      <a:cubicBezTo>
                        <a:pt x="798" y="233"/>
                        <a:pt x="798" y="233"/>
                        <a:pt x="798" y="233"/>
                      </a:cubicBezTo>
                      <a:cubicBezTo>
                        <a:pt x="798" y="232"/>
                        <a:pt x="798" y="232"/>
                        <a:pt x="798" y="231"/>
                      </a:cubicBezTo>
                      <a:cubicBezTo>
                        <a:pt x="798" y="231"/>
                        <a:pt x="798" y="231"/>
                        <a:pt x="798" y="231"/>
                      </a:cubicBezTo>
                      <a:cubicBezTo>
                        <a:pt x="798" y="230"/>
                        <a:pt x="799" y="230"/>
                        <a:pt x="799" y="229"/>
                      </a:cubicBezTo>
                      <a:cubicBezTo>
                        <a:pt x="799" y="229"/>
                        <a:pt x="799" y="229"/>
                        <a:pt x="799" y="228"/>
                      </a:cubicBezTo>
                      <a:cubicBezTo>
                        <a:pt x="799" y="228"/>
                        <a:pt x="799" y="227"/>
                        <a:pt x="799" y="227"/>
                      </a:cubicBezTo>
                      <a:cubicBezTo>
                        <a:pt x="799" y="226"/>
                        <a:pt x="799" y="225"/>
                        <a:pt x="799" y="225"/>
                      </a:cubicBezTo>
                      <a:cubicBezTo>
                        <a:pt x="799" y="224"/>
                        <a:pt x="799" y="224"/>
                        <a:pt x="799" y="224"/>
                      </a:cubicBezTo>
                      <a:cubicBezTo>
                        <a:pt x="799" y="223"/>
                        <a:pt x="799" y="223"/>
                        <a:pt x="799" y="2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5837" tIns="32918" rIns="65837" bIns="32918" numCol="1" anchor="t" anchorCtr="0" compatLnSpc="1">
                  <a:prstTxWarp prst="textNoShape">
                    <a:avLst/>
                  </a:prstTxWarp>
                </a:bodyPr>
                <a:lstStyle/>
                <a:p>
                  <a:endParaRPr lang="en-US">
                    <a:ea typeface="Microsoft YaHei" panose="020B0503020204020204" pitchFamily="34" charset="-122"/>
                  </a:endParaRPr>
                </a:p>
              </p:txBody>
            </p:sp>
            <p:sp>
              <p:nvSpPr>
                <p:cNvPr id="154" name="Freeform 93">
                  <a:extLst>
                    <a:ext uri="{FF2B5EF4-FFF2-40B4-BE49-F238E27FC236}">
                      <a16:creationId xmlns:a16="http://schemas.microsoft.com/office/drawing/2014/main" id="{40E5C0CB-99C6-4829-86A6-EF6C9BAE57C1}"/>
                    </a:ext>
                  </a:extLst>
                </p:cNvPr>
                <p:cNvSpPr>
                  <a:spLocks/>
                </p:cNvSpPr>
                <p:nvPr/>
              </p:nvSpPr>
              <p:spPr bwMode="auto">
                <a:xfrm>
                  <a:off x="5508625" y="3076575"/>
                  <a:ext cx="620713" cy="806450"/>
                </a:xfrm>
                <a:custGeom>
                  <a:avLst/>
                  <a:gdLst>
                    <a:gd name="T0" fmla="*/ 811 w 870"/>
                    <a:gd name="T1" fmla="*/ 725 h 1130"/>
                    <a:gd name="T2" fmla="*/ 635 w 870"/>
                    <a:gd name="T3" fmla="*/ 447 h 1130"/>
                    <a:gd name="T4" fmla="*/ 352 w 870"/>
                    <a:gd name="T5" fmla="*/ 87 h 1130"/>
                    <a:gd name="T6" fmla="*/ 327 w 870"/>
                    <a:gd name="T7" fmla="*/ 0 h 1130"/>
                    <a:gd name="T8" fmla="*/ 22 w 870"/>
                    <a:gd name="T9" fmla="*/ 183 h 1130"/>
                    <a:gd name="T10" fmla="*/ 21 w 870"/>
                    <a:gd name="T11" fmla="*/ 184 h 1130"/>
                    <a:gd name="T12" fmla="*/ 17 w 870"/>
                    <a:gd name="T13" fmla="*/ 186 h 1130"/>
                    <a:gd name="T14" fmla="*/ 13 w 870"/>
                    <a:gd name="T15" fmla="*/ 189 h 1130"/>
                    <a:gd name="T16" fmla="*/ 13 w 870"/>
                    <a:gd name="T17" fmla="*/ 190 h 1130"/>
                    <a:gd name="T18" fmla="*/ 10 w 870"/>
                    <a:gd name="T19" fmla="*/ 193 h 1130"/>
                    <a:gd name="T20" fmla="*/ 9 w 870"/>
                    <a:gd name="T21" fmla="*/ 195 h 1130"/>
                    <a:gd name="T22" fmla="*/ 7 w 870"/>
                    <a:gd name="T23" fmla="*/ 198 h 1130"/>
                    <a:gd name="T24" fmla="*/ 5 w 870"/>
                    <a:gd name="T25" fmla="*/ 200 h 1130"/>
                    <a:gd name="T26" fmla="*/ 4 w 870"/>
                    <a:gd name="T27" fmla="*/ 202 h 1130"/>
                    <a:gd name="T28" fmla="*/ 3 w 870"/>
                    <a:gd name="T29" fmla="*/ 206 h 1130"/>
                    <a:gd name="T30" fmla="*/ 2 w 870"/>
                    <a:gd name="T31" fmla="*/ 209 h 1130"/>
                    <a:gd name="T32" fmla="*/ 1 w 870"/>
                    <a:gd name="T33" fmla="*/ 210 h 1130"/>
                    <a:gd name="T34" fmla="*/ 1 w 870"/>
                    <a:gd name="T35" fmla="*/ 213 h 1130"/>
                    <a:gd name="T36" fmla="*/ 1 w 870"/>
                    <a:gd name="T37" fmla="*/ 215 h 1130"/>
                    <a:gd name="T38" fmla="*/ 0 w 870"/>
                    <a:gd name="T39" fmla="*/ 218 h 1130"/>
                    <a:gd name="T40" fmla="*/ 0 w 870"/>
                    <a:gd name="T41" fmla="*/ 220 h 1130"/>
                    <a:gd name="T42" fmla="*/ 0 w 870"/>
                    <a:gd name="T43" fmla="*/ 224 h 1130"/>
                    <a:gd name="T44" fmla="*/ 0 w 870"/>
                    <a:gd name="T45" fmla="*/ 227 h 1130"/>
                    <a:gd name="T46" fmla="*/ 0 w 870"/>
                    <a:gd name="T47" fmla="*/ 229 h 1130"/>
                    <a:gd name="T48" fmla="*/ 1 w 870"/>
                    <a:gd name="T49" fmla="*/ 233 h 1130"/>
                    <a:gd name="T50" fmla="*/ 2 w 870"/>
                    <a:gd name="T51" fmla="*/ 236 h 1130"/>
                    <a:gd name="T52" fmla="*/ 3 w 870"/>
                    <a:gd name="T53" fmla="*/ 238 h 1130"/>
                    <a:gd name="T54" fmla="*/ 4 w 870"/>
                    <a:gd name="T55" fmla="*/ 242 h 1130"/>
                    <a:gd name="T56" fmla="*/ 5 w 870"/>
                    <a:gd name="T57" fmla="*/ 244 h 1130"/>
                    <a:gd name="T58" fmla="*/ 170 w 870"/>
                    <a:gd name="T59" fmla="*/ 533 h 1130"/>
                    <a:gd name="T60" fmla="*/ 234 w 870"/>
                    <a:gd name="T61" fmla="*/ 550 h 1130"/>
                    <a:gd name="T62" fmla="*/ 138 w 870"/>
                    <a:gd name="T63" fmla="*/ 289 h 1130"/>
                    <a:gd name="T64" fmla="*/ 765 w 870"/>
                    <a:gd name="T65" fmla="*/ 922 h 1130"/>
                    <a:gd name="T66" fmla="*/ 823 w 870"/>
                    <a:gd name="T67" fmla="*/ 1130 h 1130"/>
                    <a:gd name="T68" fmla="*/ 823 w 870"/>
                    <a:gd name="T69" fmla="*/ 759 h 1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70" h="1130">
                      <a:moveTo>
                        <a:pt x="823" y="759"/>
                      </a:moveTo>
                      <a:cubicBezTo>
                        <a:pt x="819" y="748"/>
                        <a:pt x="815" y="736"/>
                        <a:pt x="811" y="725"/>
                      </a:cubicBezTo>
                      <a:cubicBezTo>
                        <a:pt x="807" y="715"/>
                        <a:pt x="803" y="704"/>
                        <a:pt x="799" y="694"/>
                      </a:cubicBezTo>
                      <a:cubicBezTo>
                        <a:pt x="760" y="600"/>
                        <a:pt x="706" y="518"/>
                        <a:pt x="635" y="447"/>
                      </a:cubicBezTo>
                      <a:cubicBezTo>
                        <a:pt x="520" y="330"/>
                        <a:pt x="364" y="248"/>
                        <a:pt x="171" y="200"/>
                      </a:cubicBezTo>
                      <a:cubicBezTo>
                        <a:pt x="352" y="87"/>
                        <a:pt x="352" y="87"/>
                        <a:pt x="352" y="87"/>
                      </a:cubicBezTo>
                      <a:cubicBezTo>
                        <a:pt x="374" y="73"/>
                        <a:pt x="380" y="44"/>
                        <a:pt x="367" y="22"/>
                      </a:cubicBezTo>
                      <a:cubicBezTo>
                        <a:pt x="358" y="8"/>
                        <a:pt x="343" y="0"/>
                        <a:pt x="327" y="0"/>
                      </a:cubicBezTo>
                      <a:cubicBezTo>
                        <a:pt x="319" y="0"/>
                        <a:pt x="310" y="2"/>
                        <a:pt x="302" y="7"/>
                      </a:cubicBezTo>
                      <a:cubicBezTo>
                        <a:pt x="22" y="183"/>
                        <a:pt x="22" y="183"/>
                        <a:pt x="22" y="183"/>
                      </a:cubicBezTo>
                      <a:cubicBezTo>
                        <a:pt x="21" y="183"/>
                        <a:pt x="21" y="183"/>
                        <a:pt x="21" y="183"/>
                      </a:cubicBezTo>
                      <a:cubicBezTo>
                        <a:pt x="21" y="183"/>
                        <a:pt x="21" y="183"/>
                        <a:pt x="21" y="184"/>
                      </a:cubicBezTo>
                      <a:cubicBezTo>
                        <a:pt x="20" y="184"/>
                        <a:pt x="19" y="184"/>
                        <a:pt x="19" y="185"/>
                      </a:cubicBezTo>
                      <a:cubicBezTo>
                        <a:pt x="18" y="185"/>
                        <a:pt x="17" y="186"/>
                        <a:pt x="17" y="186"/>
                      </a:cubicBezTo>
                      <a:cubicBezTo>
                        <a:pt x="16" y="187"/>
                        <a:pt x="16" y="187"/>
                        <a:pt x="15" y="188"/>
                      </a:cubicBezTo>
                      <a:cubicBezTo>
                        <a:pt x="14" y="188"/>
                        <a:pt x="14" y="189"/>
                        <a:pt x="13" y="189"/>
                      </a:cubicBezTo>
                      <a:cubicBezTo>
                        <a:pt x="13" y="189"/>
                        <a:pt x="13" y="190"/>
                        <a:pt x="13" y="190"/>
                      </a:cubicBezTo>
                      <a:cubicBezTo>
                        <a:pt x="13" y="190"/>
                        <a:pt x="13" y="190"/>
                        <a:pt x="13" y="190"/>
                      </a:cubicBezTo>
                      <a:cubicBezTo>
                        <a:pt x="12" y="191"/>
                        <a:pt x="12" y="191"/>
                        <a:pt x="12" y="191"/>
                      </a:cubicBezTo>
                      <a:cubicBezTo>
                        <a:pt x="11" y="192"/>
                        <a:pt x="11" y="192"/>
                        <a:pt x="10" y="193"/>
                      </a:cubicBezTo>
                      <a:cubicBezTo>
                        <a:pt x="10" y="193"/>
                        <a:pt x="10" y="193"/>
                        <a:pt x="10" y="194"/>
                      </a:cubicBezTo>
                      <a:cubicBezTo>
                        <a:pt x="9" y="194"/>
                        <a:pt x="9" y="194"/>
                        <a:pt x="9" y="195"/>
                      </a:cubicBezTo>
                      <a:cubicBezTo>
                        <a:pt x="9" y="195"/>
                        <a:pt x="8" y="196"/>
                        <a:pt x="8" y="196"/>
                      </a:cubicBezTo>
                      <a:cubicBezTo>
                        <a:pt x="7" y="197"/>
                        <a:pt x="7" y="197"/>
                        <a:pt x="7" y="198"/>
                      </a:cubicBezTo>
                      <a:cubicBezTo>
                        <a:pt x="7" y="198"/>
                        <a:pt x="7" y="198"/>
                        <a:pt x="6" y="198"/>
                      </a:cubicBezTo>
                      <a:cubicBezTo>
                        <a:pt x="6" y="199"/>
                        <a:pt x="6" y="200"/>
                        <a:pt x="5" y="200"/>
                      </a:cubicBezTo>
                      <a:cubicBezTo>
                        <a:pt x="5" y="201"/>
                        <a:pt x="5" y="201"/>
                        <a:pt x="5" y="202"/>
                      </a:cubicBezTo>
                      <a:cubicBezTo>
                        <a:pt x="5" y="202"/>
                        <a:pt x="4" y="202"/>
                        <a:pt x="4" y="202"/>
                      </a:cubicBezTo>
                      <a:cubicBezTo>
                        <a:pt x="4" y="203"/>
                        <a:pt x="4" y="204"/>
                        <a:pt x="3" y="204"/>
                      </a:cubicBezTo>
                      <a:cubicBezTo>
                        <a:pt x="3" y="205"/>
                        <a:pt x="3" y="205"/>
                        <a:pt x="3" y="206"/>
                      </a:cubicBezTo>
                      <a:cubicBezTo>
                        <a:pt x="3" y="206"/>
                        <a:pt x="3" y="206"/>
                        <a:pt x="3" y="207"/>
                      </a:cubicBezTo>
                      <a:cubicBezTo>
                        <a:pt x="2" y="207"/>
                        <a:pt x="2" y="208"/>
                        <a:pt x="2" y="209"/>
                      </a:cubicBezTo>
                      <a:cubicBezTo>
                        <a:pt x="2" y="209"/>
                        <a:pt x="2" y="210"/>
                        <a:pt x="2" y="210"/>
                      </a:cubicBezTo>
                      <a:cubicBezTo>
                        <a:pt x="1" y="210"/>
                        <a:pt x="1" y="210"/>
                        <a:pt x="1" y="210"/>
                      </a:cubicBezTo>
                      <a:cubicBezTo>
                        <a:pt x="1" y="211"/>
                        <a:pt x="1" y="211"/>
                        <a:pt x="1" y="211"/>
                      </a:cubicBezTo>
                      <a:cubicBezTo>
                        <a:pt x="1" y="212"/>
                        <a:pt x="1" y="212"/>
                        <a:pt x="1" y="213"/>
                      </a:cubicBezTo>
                      <a:cubicBezTo>
                        <a:pt x="1" y="214"/>
                        <a:pt x="1" y="214"/>
                        <a:pt x="1" y="215"/>
                      </a:cubicBezTo>
                      <a:cubicBezTo>
                        <a:pt x="1" y="215"/>
                        <a:pt x="1" y="215"/>
                        <a:pt x="1" y="215"/>
                      </a:cubicBezTo>
                      <a:cubicBezTo>
                        <a:pt x="0" y="215"/>
                        <a:pt x="0" y="215"/>
                        <a:pt x="0" y="215"/>
                      </a:cubicBezTo>
                      <a:cubicBezTo>
                        <a:pt x="0" y="216"/>
                        <a:pt x="0" y="217"/>
                        <a:pt x="0" y="218"/>
                      </a:cubicBezTo>
                      <a:cubicBezTo>
                        <a:pt x="0" y="218"/>
                        <a:pt x="0" y="219"/>
                        <a:pt x="0" y="219"/>
                      </a:cubicBezTo>
                      <a:cubicBezTo>
                        <a:pt x="0" y="220"/>
                        <a:pt x="0" y="220"/>
                        <a:pt x="0" y="220"/>
                      </a:cubicBezTo>
                      <a:cubicBezTo>
                        <a:pt x="0" y="221"/>
                        <a:pt x="0" y="221"/>
                        <a:pt x="0" y="222"/>
                      </a:cubicBezTo>
                      <a:cubicBezTo>
                        <a:pt x="0" y="223"/>
                        <a:pt x="0" y="223"/>
                        <a:pt x="0" y="224"/>
                      </a:cubicBezTo>
                      <a:cubicBezTo>
                        <a:pt x="0" y="224"/>
                        <a:pt x="0" y="224"/>
                        <a:pt x="0" y="225"/>
                      </a:cubicBezTo>
                      <a:cubicBezTo>
                        <a:pt x="0" y="225"/>
                        <a:pt x="0" y="226"/>
                        <a:pt x="0" y="227"/>
                      </a:cubicBezTo>
                      <a:cubicBezTo>
                        <a:pt x="0" y="227"/>
                        <a:pt x="0" y="228"/>
                        <a:pt x="0" y="228"/>
                      </a:cubicBezTo>
                      <a:cubicBezTo>
                        <a:pt x="0" y="229"/>
                        <a:pt x="0" y="229"/>
                        <a:pt x="0" y="229"/>
                      </a:cubicBezTo>
                      <a:cubicBezTo>
                        <a:pt x="0" y="230"/>
                        <a:pt x="1" y="230"/>
                        <a:pt x="1" y="231"/>
                      </a:cubicBezTo>
                      <a:cubicBezTo>
                        <a:pt x="1" y="232"/>
                        <a:pt x="1" y="232"/>
                        <a:pt x="1" y="233"/>
                      </a:cubicBezTo>
                      <a:cubicBezTo>
                        <a:pt x="1" y="233"/>
                        <a:pt x="1" y="233"/>
                        <a:pt x="1" y="234"/>
                      </a:cubicBezTo>
                      <a:cubicBezTo>
                        <a:pt x="1" y="234"/>
                        <a:pt x="2" y="235"/>
                        <a:pt x="2" y="236"/>
                      </a:cubicBezTo>
                      <a:cubicBezTo>
                        <a:pt x="2" y="236"/>
                        <a:pt x="2" y="237"/>
                        <a:pt x="2" y="237"/>
                      </a:cubicBezTo>
                      <a:cubicBezTo>
                        <a:pt x="2" y="238"/>
                        <a:pt x="3" y="238"/>
                        <a:pt x="3" y="238"/>
                      </a:cubicBezTo>
                      <a:cubicBezTo>
                        <a:pt x="3" y="239"/>
                        <a:pt x="3" y="239"/>
                        <a:pt x="3" y="240"/>
                      </a:cubicBezTo>
                      <a:cubicBezTo>
                        <a:pt x="4" y="241"/>
                        <a:pt x="4" y="241"/>
                        <a:pt x="4" y="242"/>
                      </a:cubicBezTo>
                      <a:cubicBezTo>
                        <a:pt x="4" y="242"/>
                        <a:pt x="4" y="242"/>
                        <a:pt x="4" y="242"/>
                      </a:cubicBezTo>
                      <a:cubicBezTo>
                        <a:pt x="5" y="243"/>
                        <a:pt x="5" y="244"/>
                        <a:pt x="5" y="244"/>
                      </a:cubicBezTo>
                      <a:cubicBezTo>
                        <a:pt x="6" y="245"/>
                        <a:pt x="6" y="245"/>
                        <a:pt x="6" y="246"/>
                      </a:cubicBezTo>
                      <a:cubicBezTo>
                        <a:pt x="170" y="533"/>
                        <a:pt x="170" y="533"/>
                        <a:pt x="170" y="533"/>
                      </a:cubicBezTo>
                      <a:cubicBezTo>
                        <a:pt x="179" y="548"/>
                        <a:pt x="195" y="556"/>
                        <a:pt x="211" y="556"/>
                      </a:cubicBezTo>
                      <a:cubicBezTo>
                        <a:pt x="219" y="556"/>
                        <a:pt x="227" y="554"/>
                        <a:pt x="234" y="550"/>
                      </a:cubicBezTo>
                      <a:cubicBezTo>
                        <a:pt x="256" y="537"/>
                        <a:pt x="264" y="509"/>
                        <a:pt x="251" y="486"/>
                      </a:cubicBezTo>
                      <a:cubicBezTo>
                        <a:pt x="138" y="289"/>
                        <a:pt x="138" y="289"/>
                        <a:pt x="138" y="289"/>
                      </a:cubicBezTo>
                      <a:cubicBezTo>
                        <a:pt x="400" y="352"/>
                        <a:pt x="672" y="504"/>
                        <a:pt x="752" y="858"/>
                      </a:cubicBezTo>
                      <a:cubicBezTo>
                        <a:pt x="757" y="879"/>
                        <a:pt x="761" y="900"/>
                        <a:pt x="765" y="922"/>
                      </a:cubicBezTo>
                      <a:cubicBezTo>
                        <a:pt x="772" y="972"/>
                        <a:pt x="776" y="1026"/>
                        <a:pt x="776" y="1083"/>
                      </a:cubicBezTo>
                      <a:cubicBezTo>
                        <a:pt x="776" y="1109"/>
                        <a:pt x="797" y="1130"/>
                        <a:pt x="823" y="1130"/>
                      </a:cubicBezTo>
                      <a:cubicBezTo>
                        <a:pt x="849" y="1130"/>
                        <a:pt x="870" y="1109"/>
                        <a:pt x="870" y="1083"/>
                      </a:cubicBezTo>
                      <a:cubicBezTo>
                        <a:pt x="870" y="965"/>
                        <a:pt x="854" y="857"/>
                        <a:pt x="823" y="75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5837" tIns="32918" rIns="65837" bIns="32918" numCol="1" anchor="t" anchorCtr="0" compatLnSpc="1">
                  <a:prstTxWarp prst="textNoShape">
                    <a:avLst/>
                  </a:prstTxWarp>
                </a:bodyPr>
                <a:lstStyle/>
                <a:p>
                  <a:endParaRPr lang="en-US">
                    <a:ea typeface="Microsoft YaHei" panose="020B0503020204020204" pitchFamily="34" charset="-122"/>
                  </a:endParaRPr>
                </a:p>
              </p:txBody>
            </p:sp>
          </p:grpSp>
        </p:grpSp>
      </p:grpSp>
      <p:grpSp>
        <p:nvGrpSpPr>
          <p:cNvPr id="19" name="Group 18">
            <a:extLst>
              <a:ext uri="{FF2B5EF4-FFF2-40B4-BE49-F238E27FC236}">
                <a16:creationId xmlns:a16="http://schemas.microsoft.com/office/drawing/2014/main" id="{72102CD4-1832-406B-B1B6-780BFC17AB31}"/>
              </a:ext>
            </a:extLst>
          </p:cNvPr>
          <p:cNvGrpSpPr/>
          <p:nvPr/>
        </p:nvGrpSpPr>
        <p:grpSpPr>
          <a:xfrm>
            <a:off x="4303914" y="3115816"/>
            <a:ext cx="3497518" cy="1612929"/>
            <a:chOff x="6221698" y="4845550"/>
            <a:chExt cx="3497518" cy="1612929"/>
          </a:xfrm>
        </p:grpSpPr>
        <p:sp>
          <p:nvSpPr>
            <p:cNvPr id="22" name="ee4pHeader1">
              <a:extLst>
                <a:ext uri="{FF2B5EF4-FFF2-40B4-BE49-F238E27FC236}">
                  <a16:creationId xmlns:a16="http://schemas.microsoft.com/office/drawing/2014/main" id="{8E16DF11-2403-4BF5-9747-054FB4046C8D}"/>
                </a:ext>
              </a:extLst>
            </p:cNvPr>
            <p:cNvSpPr txBox="1"/>
            <p:nvPr/>
          </p:nvSpPr>
          <p:spPr>
            <a:xfrm>
              <a:off x="6221698" y="5318146"/>
              <a:ext cx="3317778" cy="1140333"/>
            </a:xfrm>
            <a:prstGeom prst="rect">
              <a:avLst/>
            </a:prstGeom>
            <a:solidFill>
              <a:srgbClr val="F2F2F2"/>
            </a:solidFill>
            <a:ln w="6858" cap="rnd" cmpd="sng" algn="ctr">
              <a:solidFill>
                <a:srgbClr val="9A9A9A"/>
              </a:solidFill>
              <a:prstDash val="solid"/>
              <a:round/>
              <a:headEnd type="none" w="med" len="med"/>
              <a:tailEnd type="none" w="med" len="med"/>
            </a:ln>
          </p:spPr>
          <p:txBody>
            <a:bodyPr wrap="square" lIns="91440" tIns="91440" rIns="91440" bIns="91440" rtlCol="0" anchor="t" anchorCtr="0">
              <a:noAutofit/>
            </a:bodyPr>
            <a:lstStyle>
              <a:defPPr>
                <a:defRPr lang="en-US"/>
              </a:defPPr>
              <a:lvl1pPr>
                <a:buSzPct val="100000"/>
                <a:buFont typeface="Trebuchet MS" panose="020B0603020202020204" pitchFamily="34" charset="0"/>
                <a:buChar char="​"/>
                <a:defRPr sz="1400">
                  <a:solidFill>
                    <a:schemeClr val="tx1">
                      <a:lumMod val="100000"/>
                    </a:schemeClr>
                  </a:solidFill>
                  <a:latin typeface="Trebuchet MS" panose="020B0603020202020204" pitchFamily="34" charset="0"/>
                </a:defRPr>
              </a:lvl1pPr>
              <a:lvl2pPr marL="324000" lvl="1" indent="-216000">
                <a:spcBef>
                  <a:spcPts val="600"/>
                </a:spcBef>
                <a:buClr>
                  <a:schemeClr val="tx2">
                    <a:lumMod val="100000"/>
                  </a:schemeClr>
                </a:buClr>
                <a:buSzPct val="100000"/>
                <a:buFont typeface="Trebuchet MS" panose="020B0603020202020204" pitchFamily="34" charset="0"/>
                <a:buChar char="•"/>
                <a:defRPr sz="1200">
                  <a:solidFill>
                    <a:schemeClr val="tx1">
                      <a:lumMod val="100000"/>
                    </a:schemeClr>
                  </a:solidFill>
                  <a:latin typeface="Trebuchet MS" panose="020B0603020202020204" pitchFamily="34" charset="0"/>
                </a:defRPr>
              </a:lvl2pPr>
            </a:lstStyle>
            <a:p>
              <a:r>
                <a:rPr lang="en-US" err="1">
                  <a:ea typeface="Microsoft YaHei" panose="020B0503020204020204" pitchFamily="34" charset="-122"/>
                </a:rPr>
                <a:t>即時</a:t>
              </a:r>
              <a:r>
                <a:rPr lang="zh-TW" altLang="en-US">
                  <a:ea typeface="Microsoft YaHei" panose="020B0503020204020204" pitchFamily="34" charset="-122"/>
                </a:rPr>
                <a:t>根據用戶場景觸發服務</a:t>
              </a:r>
              <a:endParaRPr lang="en-US" altLang="zh-TW">
                <a:ea typeface="Microsoft YaHei" panose="020B0503020204020204" pitchFamily="34" charset="-122"/>
              </a:endParaRPr>
            </a:p>
            <a:p>
              <a:endParaRPr lang="en-US">
                <a:ea typeface="Microsoft YaHei" panose="020B0503020204020204" pitchFamily="34" charset="-122"/>
              </a:endParaRPr>
            </a:p>
            <a:p>
              <a:pPr marL="0" lvl="1" indent="0">
                <a:spcBef>
                  <a:spcPts val="0"/>
                </a:spcBef>
                <a:buNone/>
              </a:pPr>
              <a:r>
                <a:rPr lang="en-US" altLang="zh-TW" sz="1400">
                  <a:ea typeface="Microsoft YaHei" panose="020B0503020204020204" pitchFamily="34" charset="-122"/>
                </a:rPr>
                <a:t>"</a:t>
              </a:r>
              <a:r>
                <a:rPr lang="en-US" sz="1400" err="1">
                  <a:ea typeface="Microsoft YaHei" panose="020B0503020204020204" pitchFamily="34" charset="-122"/>
                </a:rPr>
                <a:t>出國旅遊？按一下這裡即可獲得即時旅行保險</a:t>
              </a:r>
              <a:r>
                <a:rPr lang="en-US" sz="1400">
                  <a:ea typeface="Microsoft YaHei" panose="020B0503020204020204" pitchFamily="34" charset="-122"/>
                </a:rPr>
                <a:t>"</a:t>
              </a:r>
            </a:p>
            <a:p>
              <a:endParaRPr lang="en-US">
                <a:ea typeface="Microsoft YaHei" panose="020B0503020204020204" pitchFamily="34" charset="-122"/>
              </a:endParaRPr>
            </a:p>
          </p:txBody>
        </p:sp>
        <p:sp>
          <p:nvSpPr>
            <p:cNvPr id="102" name="Rounded Rectangle 30">
              <a:extLst>
                <a:ext uri="{FF2B5EF4-FFF2-40B4-BE49-F238E27FC236}">
                  <a16:creationId xmlns:a16="http://schemas.microsoft.com/office/drawing/2014/main" id="{0DD59C90-F089-499D-9DA7-44B20157FEC9}"/>
                </a:ext>
              </a:extLst>
            </p:cNvPr>
            <p:cNvSpPr>
              <a:spLocks noChangeArrowheads="1"/>
            </p:cNvSpPr>
            <p:nvPr/>
          </p:nvSpPr>
          <p:spPr bwMode="auto">
            <a:xfrm>
              <a:off x="6401438" y="4917568"/>
              <a:ext cx="3317778" cy="409105"/>
            </a:xfrm>
            <a:prstGeom prst="roundRect">
              <a:avLst>
                <a:gd name="adj" fmla="val 50000"/>
              </a:avLst>
            </a:prstGeom>
            <a:solidFill>
              <a:schemeClr val="bg1">
                <a:lumMod val="85000"/>
              </a:schemeClr>
            </a:solidFill>
            <a:ln>
              <a:noFill/>
            </a:ln>
          </p:spPr>
          <p:txBody>
            <a:bodyPr vert="horz" wrap="square" lIns="45720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600" b="1" err="1">
                  <a:solidFill>
                    <a:srgbClr val="295E7E"/>
                  </a:solidFill>
                  <a:ea typeface="Microsoft YaHei" panose="020B0503020204020204" pitchFamily="34" charset="-122"/>
                </a:rPr>
                <a:t>實時觸發</a:t>
              </a:r>
              <a:endParaRPr lang="en-US" sz="1600" b="1">
                <a:solidFill>
                  <a:srgbClr val="295E7E"/>
                </a:solidFill>
                <a:ea typeface="Microsoft YaHei" panose="020B0503020204020204" pitchFamily="34" charset="-122"/>
              </a:endParaRPr>
            </a:p>
          </p:txBody>
        </p:sp>
        <p:grpSp>
          <p:nvGrpSpPr>
            <p:cNvPr id="103" name="Group 102">
              <a:extLst>
                <a:ext uri="{FF2B5EF4-FFF2-40B4-BE49-F238E27FC236}">
                  <a16:creationId xmlns:a16="http://schemas.microsoft.com/office/drawing/2014/main" id="{A98FA93A-ADBF-415D-AB13-EB3554C28E0B}"/>
                </a:ext>
              </a:extLst>
            </p:cNvPr>
            <p:cNvGrpSpPr/>
            <p:nvPr/>
          </p:nvGrpSpPr>
          <p:grpSpPr>
            <a:xfrm>
              <a:off x="6221699" y="4845550"/>
              <a:ext cx="702244" cy="521457"/>
              <a:chOff x="629997" y="1545149"/>
              <a:chExt cx="1144825" cy="600364"/>
            </a:xfrm>
          </p:grpSpPr>
          <p:sp>
            <p:nvSpPr>
              <p:cNvPr id="104" name="Freeform 29">
                <a:extLst>
                  <a:ext uri="{FF2B5EF4-FFF2-40B4-BE49-F238E27FC236}">
                    <a16:creationId xmlns:a16="http://schemas.microsoft.com/office/drawing/2014/main" id="{6072D5D9-C97F-4825-BEF0-2F7D0D3860DA}"/>
                  </a:ext>
                </a:extLst>
              </p:cNvPr>
              <p:cNvSpPr>
                <a:spLocks/>
              </p:cNvSpPr>
              <p:nvPr/>
            </p:nvSpPr>
            <p:spPr bwMode="auto">
              <a:xfrm>
                <a:off x="1618042" y="1545149"/>
                <a:ext cx="156780" cy="91462"/>
              </a:xfrm>
              <a:custGeom>
                <a:avLst/>
                <a:gdLst>
                  <a:gd name="T0" fmla="*/ 95 w 95"/>
                  <a:gd name="T1" fmla="*/ 51 h 51"/>
                  <a:gd name="T2" fmla="*/ 0 w 95"/>
                  <a:gd name="T3" fmla="*/ 51 h 51"/>
                  <a:gd name="T4" fmla="*/ 39 w 95"/>
                  <a:gd name="T5" fmla="*/ 0 h 51"/>
                  <a:gd name="T6" fmla="*/ 95 w 95"/>
                  <a:gd name="T7" fmla="*/ 51 h 51"/>
                </a:gdLst>
                <a:ahLst/>
                <a:cxnLst>
                  <a:cxn ang="0">
                    <a:pos x="T0" y="T1"/>
                  </a:cxn>
                  <a:cxn ang="0">
                    <a:pos x="T2" y="T3"/>
                  </a:cxn>
                  <a:cxn ang="0">
                    <a:pos x="T4" y="T5"/>
                  </a:cxn>
                  <a:cxn ang="0">
                    <a:pos x="T6" y="T7"/>
                  </a:cxn>
                </a:cxnLst>
                <a:rect l="0" t="0" r="r" b="b"/>
                <a:pathLst>
                  <a:path w="95" h="51">
                    <a:moveTo>
                      <a:pt x="95" y="51"/>
                    </a:moveTo>
                    <a:lnTo>
                      <a:pt x="0" y="51"/>
                    </a:lnTo>
                    <a:lnTo>
                      <a:pt x="39" y="0"/>
                    </a:lnTo>
                    <a:lnTo>
                      <a:pt x="95" y="51"/>
                    </a:ln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rgbClr val="000000"/>
                  </a:solidFill>
                  <a:latin typeface="Trebuchet MS" panose="020B0603020202020204" pitchFamily="34" charset="0"/>
                  <a:ea typeface="Microsoft YaHei" panose="020B0503020204020204" pitchFamily="34" charset="-122"/>
                  <a:sym typeface="Trebuchet MS" panose="020B0603020202020204" pitchFamily="34" charset="0"/>
                </a:endParaRPr>
              </a:p>
            </p:txBody>
          </p:sp>
          <p:sp>
            <p:nvSpPr>
              <p:cNvPr id="105" name="Freeform: Shape 76">
                <a:extLst>
                  <a:ext uri="{FF2B5EF4-FFF2-40B4-BE49-F238E27FC236}">
                    <a16:creationId xmlns:a16="http://schemas.microsoft.com/office/drawing/2014/main" id="{6393316E-386A-497D-AD97-E488D1341150}"/>
                  </a:ext>
                </a:extLst>
              </p:cNvPr>
              <p:cNvSpPr>
                <a:spLocks/>
              </p:cNvSpPr>
              <p:nvPr/>
            </p:nvSpPr>
            <p:spPr bwMode="auto">
              <a:xfrm>
                <a:off x="1055771" y="1603886"/>
                <a:ext cx="538474" cy="493589"/>
              </a:xfrm>
              <a:custGeom>
                <a:avLst/>
                <a:gdLst>
                  <a:gd name="connsiteX0" fmla="*/ 0 w 949466"/>
                  <a:gd name="connsiteY0" fmla="*/ 0 h 800896"/>
                  <a:gd name="connsiteX1" fmla="*/ 949466 w 949466"/>
                  <a:gd name="connsiteY1" fmla="*/ 0 h 800896"/>
                  <a:gd name="connsiteX2" fmla="*/ 344345 w 949466"/>
                  <a:gd name="connsiteY2" fmla="*/ 800896 h 800896"/>
                  <a:gd name="connsiteX3" fmla="*/ 0 w 949466"/>
                  <a:gd name="connsiteY3" fmla="*/ 800896 h 800896"/>
                </a:gdLst>
                <a:ahLst/>
                <a:cxnLst>
                  <a:cxn ang="0">
                    <a:pos x="connsiteX0" y="connsiteY0"/>
                  </a:cxn>
                  <a:cxn ang="0">
                    <a:pos x="connsiteX1" y="connsiteY1"/>
                  </a:cxn>
                  <a:cxn ang="0">
                    <a:pos x="connsiteX2" y="connsiteY2"/>
                  </a:cxn>
                  <a:cxn ang="0">
                    <a:pos x="connsiteX3" y="connsiteY3"/>
                  </a:cxn>
                </a:cxnLst>
                <a:rect l="l" t="t" r="r" b="b"/>
                <a:pathLst>
                  <a:path w="949466" h="800896">
                    <a:moveTo>
                      <a:pt x="0" y="0"/>
                    </a:moveTo>
                    <a:lnTo>
                      <a:pt x="949466" y="0"/>
                    </a:lnTo>
                    <a:lnTo>
                      <a:pt x="344345" y="800896"/>
                    </a:lnTo>
                    <a:lnTo>
                      <a:pt x="0" y="800896"/>
                    </a:lnTo>
                    <a:close/>
                  </a:path>
                </a:pathLst>
              </a:custGeom>
              <a:solidFill>
                <a:schemeClr val="accent4"/>
              </a:solidFill>
              <a:ln>
                <a:noFill/>
              </a:ln>
              <a:effectLst>
                <a:outerShdw blurRad="228600" dist="76200" algn="l" rotWithShape="0">
                  <a:prstClr val="black">
                    <a:alpha val="40000"/>
                  </a:prstClr>
                </a:outerShdw>
              </a:effectLst>
            </p:spPr>
            <p:txBody>
              <a:bodyPr vert="horz" wrap="square" lIns="182880" tIns="45720" rIns="91440" bIns="45720" numCol="1" anchor="ctr"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6600" b="1">
                  <a:solidFill>
                    <a:prstClr val="white"/>
                  </a:solidFill>
                  <a:latin typeface="Trebuchet MS" panose="020B0603020202020204" pitchFamily="34" charset="0"/>
                  <a:ea typeface="Microsoft YaHei" panose="020B0503020204020204" pitchFamily="34" charset="-122"/>
                  <a:sym typeface="Trebuchet MS" panose="020B0603020202020204" pitchFamily="34" charset="0"/>
                </a:endParaRPr>
              </a:p>
            </p:txBody>
          </p:sp>
          <p:sp>
            <p:nvSpPr>
              <p:cNvPr id="106" name="Freeform 32">
                <a:extLst>
                  <a:ext uri="{FF2B5EF4-FFF2-40B4-BE49-F238E27FC236}">
                    <a16:creationId xmlns:a16="http://schemas.microsoft.com/office/drawing/2014/main" id="{48A4B04C-3750-4BFE-BD78-A1F8AC950A24}"/>
                  </a:ext>
                </a:extLst>
              </p:cNvPr>
              <p:cNvSpPr>
                <a:spLocks/>
              </p:cNvSpPr>
              <p:nvPr/>
            </p:nvSpPr>
            <p:spPr bwMode="auto">
              <a:xfrm>
                <a:off x="629997" y="1545149"/>
                <a:ext cx="1057883" cy="600364"/>
              </a:xfrm>
              <a:custGeom>
                <a:avLst/>
                <a:gdLst>
                  <a:gd name="T0" fmla="*/ 1175 w 1175"/>
                  <a:gd name="T1" fmla="*/ 0 h 675"/>
                  <a:gd name="T2" fmla="*/ 0 w 1175"/>
                  <a:gd name="T3" fmla="*/ 0 h 675"/>
                  <a:gd name="T4" fmla="*/ 0 w 1175"/>
                  <a:gd name="T5" fmla="*/ 675 h 675"/>
                  <a:gd name="T6" fmla="*/ 665 w 1175"/>
                  <a:gd name="T7" fmla="*/ 675 h 675"/>
                  <a:gd name="T8" fmla="*/ 1175 w 1175"/>
                  <a:gd name="T9" fmla="*/ 0 h 675"/>
                </a:gdLst>
                <a:ahLst/>
                <a:cxnLst>
                  <a:cxn ang="0">
                    <a:pos x="T0" y="T1"/>
                  </a:cxn>
                  <a:cxn ang="0">
                    <a:pos x="T2" y="T3"/>
                  </a:cxn>
                  <a:cxn ang="0">
                    <a:pos x="T4" y="T5"/>
                  </a:cxn>
                  <a:cxn ang="0">
                    <a:pos x="T6" y="T7"/>
                  </a:cxn>
                  <a:cxn ang="0">
                    <a:pos x="T8" y="T9"/>
                  </a:cxn>
                </a:cxnLst>
                <a:rect l="0" t="0" r="r" b="b"/>
                <a:pathLst>
                  <a:path w="1175" h="675">
                    <a:moveTo>
                      <a:pt x="1175" y="0"/>
                    </a:moveTo>
                    <a:lnTo>
                      <a:pt x="0" y="0"/>
                    </a:lnTo>
                    <a:lnTo>
                      <a:pt x="0" y="675"/>
                    </a:lnTo>
                    <a:lnTo>
                      <a:pt x="665" y="675"/>
                    </a:lnTo>
                    <a:lnTo>
                      <a:pt x="1175" y="0"/>
                    </a:lnTo>
                    <a:close/>
                  </a:path>
                </a:pathLst>
              </a:custGeom>
              <a:solidFill>
                <a:srgbClr val="295E7E"/>
              </a:solidFill>
              <a:ln>
                <a:noFill/>
              </a:ln>
            </p:spPr>
            <p:txBody>
              <a:bodyPr vert="horz" wrap="square" lIns="27432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6600" b="1">
                  <a:solidFill>
                    <a:prstClr val="white"/>
                  </a:solidFill>
                  <a:effectLst>
                    <a:outerShdw blurRad="38100" dist="38100" dir="2700000" algn="tl">
                      <a:srgbClr val="000000">
                        <a:alpha val="43137"/>
                      </a:srgbClr>
                    </a:outerShdw>
                  </a:effectLst>
                  <a:latin typeface="Trebuchet MS" panose="020B0603020202020204" pitchFamily="34" charset="0"/>
                  <a:ea typeface="Microsoft YaHei" panose="020B0503020204020204" pitchFamily="34" charset="-122"/>
                  <a:sym typeface="Trebuchet MS" panose="020B0603020202020204" pitchFamily="34" charset="0"/>
                </a:endParaRPr>
              </a:p>
            </p:txBody>
          </p:sp>
        </p:grpSp>
        <p:grpSp>
          <p:nvGrpSpPr>
            <p:cNvPr id="145" name="Group 144">
              <a:extLst>
                <a:ext uri="{FF2B5EF4-FFF2-40B4-BE49-F238E27FC236}">
                  <a16:creationId xmlns:a16="http://schemas.microsoft.com/office/drawing/2014/main" id="{94E7D147-F041-47EF-87AA-0F1B5DD590DB}"/>
                </a:ext>
              </a:extLst>
            </p:cNvPr>
            <p:cNvGrpSpPr>
              <a:grpSpLocks noChangeAspect="1"/>
            </p:cNvGrpSpPr>
            <p:nvPr/>
          </p:nvGrpSpPr>
          <p:grpSpPr>
            <a:xfrm>
              <a:off x="6249761" y="4868445"/>
              <a:ext cx="409373" cy="409373"/>
              <a:chOff x="5273675" y="2606675"/>
              <a:chExt cx="1644650" cy="1644650"/>
            </a:xfrm>
          </p:grpSpPr>
          <p:sp>
            <p:nvSpPr>
              <p:cNvPr id="146" name="AutoShape 3">
                <a:extLst>
                  <a:ext uri="{FF2B5EF4-FFF2-40B4-BE49-F238E27FC236}">
                    <a16:creationId xmlns:a16="http://schemas.microsoft.com/office/drawing/2014/main" id="{A3613911-C817-4FAF-B9B8-A87F0D74FBF5}"/>
                  </a:ext>
                </a:extLst>
              </p:cNvPr>
              <p:cNvSpPr>
                <a:spLocks noChangeAspect="1" noChangeArrowheads="1" noTextEdit="1"/>
              </p:cNvSpPr>
              <p:nvPr/>
            </p:nvSpPr>
            <p:spPr bwMode="auto">
              <a:xfrm>
                <a:off x="5273675" y="2606675"/>
                <a:ext cx="1644650"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5837" tIns="32918" rIns="65837" bIns="32918" numCol="1" anchor="t" anchorCtr="0" compatLnSpc="1">
                <a:prstTxWarp prst="textNoShape">
                  <a:avLst/>
                </a:prstTxWarp>
              </a:bodyPr>
              <a:lstStyle/>
              <a:p>
                <a:endParaRPr lang="en-US"/>
              </a:p>
            </p:txBody>
          </p:sp>
          <p:grpSp>
            <p:nvGrpSpPr>
              <p:cNvPr id="147" name="Group 146">
                <a:extLst>
                  <a:ext uri="{FF2B5EF4-FFF2-40B4-BE49-F238E27FC236}">
                    <a16:creationId xmlns:a16="http://schemas.microsoft.com/office/drawing/2014/main" id="{E6DD7E22-70C4-43D5-82F9-919EDE393B54}"/>
                  </a:ext>
                </a:extLst>
              </p:cNvPr>
              <p:cNvGrpSpPr/>
              <p:nvPr/>
            </p:nvGrpSpPr>
            <p:grpSpPr>
              <a:xfrm>
                <a:off x="5448499" y="2803525"/>
                <a:ext cx="1295201" cy="1277938"/>
                <a:chOff x="5448499" y="2803525"/>
                <a:chExt cx="1295201" cy="1277938"/>
              </a:xfrm>
            </p:grpSpPr>
            <p:sp>
              <p:nvSpPr>
                <p:cNvPr id="148" name="Freeform 10">
                  <a:extLst>
                    <a:ext uri="{FF2B5EF4-FFF2-40B4-BE49-F238E27FC236}">
                      <a16:creationId xmlns:a16="http://schemas.microsoft.com/office/drawing/2014/main" id="{7A92CC08-E88F-453A-8283-8D6ED8A37FB9}"/>
                    </a:ext>
                  </a:extLst>
                </p:cNvPr>
                <p:cNvSpPr>
                  <a:spLocks/>
                </p:cNvSpPr>
                <p:nvPr/>
              </p:nvSpPr>
              <p:spPr bwMode="auto">
                <a:xfrm>
                  <a:off x="5448499" y="3108325"/>
                  <a:ext cx="1295201" cy="973138"/>
                </a:xfrm>
                <a:custGeom>
                  <a:avLst/>
                  <a:gdLst>
                    <a:gd name="connsiteX0" fmla="*/ 848020 w 1295201"/>
                    <a:gd name="connsiteY0" fmla="*/ 647700 h 973138"/>
                    <a:gd name="connsiteX1" fmla="*/ 874350 w 1295201"/>
                    <a:gd name="connsiteY1" fmla="*/ 647700 h 973138"/>
                    <a:gd name="connsiteX2" fmla="*/ 874350 w 1295201"/>
                    <a:gd name="connsiteY2" fmla="*/ 666232 h 973138"/>
                    <a:gd name="connsiteX3" fmla="*/ 907086 w 1295201"/>
                    <a:gd name="connsiteY3" fmla="*/ 676210 h 973138"/>
                    <a:gd name="connsiteX4" fmla="*/ 897834 w 1295201"/>
                    <a:gd name="connsiteY4" fmla="*/ 701157 h 973138"/>
                    <a:gd name="connsiteX5" fmla="*/ 863676 w 1295201"/>
                    <a:gd name="connsiteY5" fmla="*/ 689753 h 973138"/>
                    <a:gd name="connsiteX6" fmla="*/ 847308 w 1295201"/>
                    <a:gd name="connsiteY6" fmla="*/ 695455 h 973138"/>
                    <a:gd name="connsiteX7" fmla="*/ 841615 w 1295201"/>
                    <a:gd name="connsiteY7" fmla="*/ 708997 h 973138"/>
                    <a:gd name="connsiteX8" fmla="*/ 873639 w 1295201"/>
                    <a:gd name="connsiteY8" fmla="*/ 738220 h 973138"/>
                    <a:gd name="connsiteX9" fmla="*/ 899258 w 1295201"/>
                    <a:gd name="connsiteY9" fmla="*/ 753188 h 973138"/>
                    <a:gd name="connsiteX10" fmla="*/ 909932 w 1295201"/>
                    <a:gd name="connsiteY10" fmla="*/ 768868 h 973138"/>
                    <a:gd name="connsiteX11" fmla="*/ 914202 w 1295201"/>
                    <a:gd name="connsiteY11" fmla="*/ 788113 h 973138"/>
                    <a:gd name="connsiteX12" fmla="*/ 904239 w 1295201"/>
                    <a:gd name="connsiteY12" fmla="*/ 815910 h 973138"/>
                    <a:gd name="connsiteX13" fmla="*/ 874350 w 1295201"/>
                    <a:gd name="connsiteY13" fmla="*/ 831591 h 973138"/>
                    <a:gd name="connsiteX14" fmla="*/ 874350 w 1295201"/>
                    <a:gd name="connsiteY14" fmla="*/ 857250 h 973138"/>
                    <a:gd name="connsiteX15" fmla="*/ 848020 w 1295201"/>
                    <a:gd name="connsiteY15" fmla="*/ 857250 h 973138"/>
                    <a:gd name="connsiteX16" fmla="*/ 848020 w 1295201"/>
                    <a:gd name="connsiteY16" fmla="*/ 833729 h 973138"/>
                    <a:gd name="connsiteX17" fmla="*/ 811014 w 1295201"/>
                    <a:gd name="connsiteY17" fmla="*/ 822325 h 973138"/>
                    <a:gd name="connsiteX18" fmla="*/ 822401 w 1295201"/>
                    <a:gd name="connsiteY18" fmla="*/ 795953 h 973138"/>
                    <a:gd name="connsiteX19" fmla="*/ 857983 w 1295201"/>
                    <a:gd name="connsiteY19" fmla="*/ 808070 h 973138"/>
                    <a:gd name="connsiteX20" fmla="*/ 884313 w 1295201"/>
                    <a:gd name="connsiteY20" fmla="*/ 790251 h 973138"/>
                    <a:gd name="connsiteX21" fmla="*/ 877197 w 1295201"/>
                    <a:gd name="connsiteY21" fmla="*/ 774571 h 973138"/>
                    <a:gd name="connsiteX22" fmla="*/ 851578 w 1295201"/>
                    <a:gd name="connsiteY22" fmla="*/ 757464 h 973138"/>
                    <a:gd name="connsiteX23" fmla="*/ 825959 w 1295201"/>
                    <a:gd name="connsiteY23" fmla="*/ 742497 h 973138"/>
                    <a:gd name="connsiteX24" fmla="*/ 815284 w 1295201"/>
                    <a:gd name="connsiteY24" fmla="*/ 728241 h 973138"/>
                    <a:gd name="connsiteX25" fmla="*/ 811726 w 1295201"/>
                    <a:gd name="connsiteY25" fmla="*/ 709710 h 973138"/>
                    <a:gd name="connsiteX26" fmla="*/ 821689 w 1295201"/>
                    <a:gd name="connsiteY26" fmla="*/ 683338 h 973138"/>
                    <a:gd name="connsiteX27" fmla="*/ 848020 w 1295201"/>
                    <a:gd name="connsiteY27" fmla="*/ 667657 h 973138"/>
                    <a:gd name="connsiteX28" fmla="*/ 848020 w 1295201"/>
                    <a:gd name="connsiteY28" fmla="*/ 647700 h 973138"/>
                    <a:gd name="connsiteX29" fmla="*/ 463351 w 1295201"/>
                    <a:gd name="connsiteY29" fmla="*/ 565150 h 973138"/>
                    <a:gd name="connsiteX30" fmla="*/ 463351 w 1295201"/>
                    <a:gd name="connsiteY30" fmla="*/ 941388 h 973138"/>
                    <a:gd name="connsiteX31" fmla="*/ 1263451 w 1295201"/>
                    <a:gd name="connsiteY31" fmla="*/ 941388 h 973138"/>
                    <a:gd name="connsiteX32" fmla="*/ 1263451 w 1295201"/>
                    <a:gd name="connsiteY32" fmla="*/ 565150 h 973138"/>
                    <a:gd name="connsiteX33" fmla="*/ 463351 w 1295201"/>
                    <a:gd name="connsiteY33" fmla="*/ 565150 h 973138"/>
                    <a:gd name="connsiteX34" fmla="*/ 447303 w 1295201"/>
                    <a:gd name="connsiteY34" fmla="*/ 533400 h 973138"/>
                    <a:gd name="connsiteX35" fmla="*/ 1279499 w 1295201"/>
                    <a:gd name="connsiteY35" fmla="*/ 533400 h 973138"/>
                    <a:gd name="connsiteX36" fmla="*/ 1295201 w 1295201"/>
                    <a:gd name="connsiteY36" fmla="*/ 548440 h 973138"/>
                    <a:gd name="connsiteX37" fmla="*/ 1295201 w 1295201"/>
                    <a:gd name="connsiteY37" fmla="*/ 957382 h 973138"/>
                    <a:gd name="connsiteX38" fmla="*/ 1279499 w 1295201"/>
                    <a:gd name="connsiteY38" fmla="*/ 973138 h 973138"/>
                    <a:gd name="connsiteX39" fmla="*/ 447303 w 1295201"/>
                    <a:gd name="connsiteY39" fmla="*/ 973138 h 973138"/>
                    <a:gd name="connsiteX40" fmla="*/ 431601 w 1295201"/>
                    <a:gd name="connsiteY40" fmla="*/ 957382 h 973138"/>
                    <a:gd name="connsiteX41" fmla="*/ 431601 w 1295201"/>
                    <a:gd name="connsiteY41" fmla="*/ 548440 h 973138"/>
                    <a:gd name="connsiteX42" fmla="*/ 447303 w 1295201"/>
                    <a:gd name="connsiteY42" fmla="*/ 533400 h 973138"/>
                    <a:gd name="connsiteX43" fmla="*/ 98208 w 1295201"/>
                    <a:gd name="connsiteY43" fmla="*/ 284163 h 973138"/>
                    <a:gd name="connsiteX44" fmla="*/ 111778 w 1295201"/>
                    <a:gd name="connsiteY44" fmla="*/ 297725 h 973138"/>
                    <a:gd name="connsiteX45" fmla="*/ 190345 w 1295201"/>
                    <a:gd name="connsiteY45" fmla="*/ 376243 h 973138"/>
                    <a:gd name="connsiteX46" fmla="*/ 193202 w 1295201"/>
                    <a:gd name="connsiteY46" fmla="*/ 401939 h 973138"/>
                    <a:gd name="connsiteX47" fmla="*/ 178203 w 1295201"/>
                    <a:gd name="connsiteY47" fmla="*/ 409077 h 973138"/>
                    <a:gd name="connsiteX48" fmla="*/ 166775 w 1295201"/>
                    <a:gd name="connsiteY48" fmla="*/ 405508 h 973138"/>
                    <a:gd name="connsiteX49" fmla="*/ 117492 w 1295201"/>
                    <a:gd name="connsiteY49" fmla="*/ 356256 h 973138"/>
                    <a:gd name="connsiteX50" fmla="*/ 117492 w 1295201"/>
                    <a:gd name="connsiteY50" fmla="*/ 735282 h 973138"/>
                    <a:gd name="connsiteX51" fmla="*/ 400331 w 1295201"/>
                    <a:gd name="connsiteY51" fmla="*/ 735282 h 973138"/>
                    <a:gd name="connsiteX52" fmla="*/ 418902 w 1295201"/>
                    <a:gd name="connsiteY52" fmla="*/ 754554 h 973138"/>
                    <a:gd name="connsiteX53" fmla="*/ 400331 w 1295201"/>
                    <a:gd name="connsiteY53" fmla="*/ 773113 h 973138"/>
                    <a:gd name="connsiteX54" fmla="*/ 79637 w 1295201"/>
                    <a:gd name="connsiteY54" fmla="*/ 773113 h 973138"/>
                    <a:gd name="connsiteX55" fmla="*/ 79637 w 1295201"/>
                    <a:gd name="connsiteY55" fmla="*/ 356256 h 973138"/>
                    <a:gd name="connsiteX56" fmla="*/ 31783 w 1295201"/>
                    <a:gd name="connsiteY56" fmla="*/ 403367 h 973138"/>
                    <a:gd name="connsiteX57" fmla="*/ 5356 w 1295201"/>
                    <a:gd name="connsiteY57" fmla="*/ 403367 h 973138"/>
                    <a:gd name="connsiteX58" fmla="*/ 5356 w 1295201"/>
                    <a:gd name="connsiteY58" fmla="*/ 376957 h 973138"/>
                    <a:gd name="connsiteX59" fmla="*/ 98208 w 1295201"/>
                    <a:gd name="connsiteY59" fmla="*/ 284163 h 973138"/>
                    <a:gd name="connsiteX60" fmla="*/ 737502 w 1295201"/>
                    <a:gd name="connsiteY60" fmla="*/ 0 h 973138"/>
                    <a:gd name="connsiteX61" fmla="*/ 1058075 w 1295201"/>
                    <a:gd name="connsiteY61" fmla="*/ 0 h 973138"/>
                    <a:gd name="connsiteX62" fmla="*/ 1058075 w 1295201"/>
                    <a:gd name="connsiteY62" fmla="*/ 412272 h 973138"/>
                    <a:gd name="connsiteX63" fmla="*/ 1104483 w 1295201"/>
                    <a:gd name="connsiteY63" fmla="*/ 366701 h 973138"/>
                    <a:gd name="connsiteX64" fmla="*/ 1130900 w 1295201"/>
                    <a:gd name="connsiteY64" fmla="*/ 367413 h 973138"/>
                    <a:gd name="connsiteX65" fmla="*/ 1130900 w 1295201"/>
                    <a:gd name="connsiteY65" fmla="*/ 393759 h 973138"/>
                    <a:gd name="connsiteX66" fmla="*/ 1055219 w 1295201"/>
                    <a:gd name="connsiteY66" fmla="*/ 467811 h 973138"/>
                    <a:gd name="connsiteX67" fmla="*/ 1049507 w 1295201"/>
                    <a:gd name="connsiteY67" fmla="*/ 473508 h 973138"/>
                    <a:gd name="connsiteX68" fmla="*/ 1038797 w 1295201"/>
                    <a:gd name="connsiteY68" fmla="*/ 484188 h 973138"/>
                    <a:gd name="connsiteX69" fmla="*/ 1025232 w 1295201"/>
                    <a:gd name="connsiteY69" fmla="*/ 470659 h 973138"/>
                    <a:gd name="connsiteX70" fmla="*/ 948123 w 1295201"/>
                    <a:gd name="connsiteY70" fmla="*/ 394471 h 973138"/>
                    <a:gd name="connsiteX71" fmla="*/ 944554 w 1295201"/>
                    <a:gd name="connsiteY71" fmla="*/ 368837 h 973138"/>
                    <a:gd name="connsiteX72" fmla="*/ 970970 w 1295201"/>
                    <a:gd name="connsiteY72" fmla="*/ 365277 h 973138"/>
                    <a:gd name="connsiteX73" fmla="*/ 1020948 w 1295201"/>
                    <a:gd name="connsiteY73" fmla="*/ 413696 h 973138"/>
                    <a:gd name="connsiteX74" fmla="*/ 1020948 w 1295201"/>
                    <a:gd name="connsiteY74" fmla="*/ 37026 h 973138"/>
                    <a:gd name="connsiteX75" fmla="*/ 737502 w 1295201"/>
                    <a:gd name="connsiteY75" fmla="*/ 37026 h 973138"/>
                    <a:gd name="connsiteX76" fmla="*/ 718939 w 1295201"/>
                    <a:gd name="connsiteY76" fmla="*/ 18513 h 973138"/>
                    <a:gd name="connsiteX77" fmla="*/ 737502 w 1295201"/>
                    <a:gd name="connsiteY77" fmla="*/ 0 h 973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295201" h="973138">
                      <a:moveTo>
                        <a:pt x="848020" y="647700"/>
                      </a:moveTo>
                      <a:cubicBezTo>
                        <a:pt x="874350" y="647700"/>
                        <a:pt x="874350" y="647700"/>
                        <a:pt x="874350" y="647700"/>
                      </a:cubicBezTo>
                      <a:cubicBezTo>
                        <a:pt x="874350" y="666232"/>
                        <a:pt x="874350" y="666232"/>
                        <a:pt x="874350" y="666232"/>
                      </a:cubicBezTo>
                      <a:cubicBezTo>
                        <a:pt x="889295" y="667657"/>
                        <a:pt x="899969" y="671221"/>
                        <a:pt x="907086" y="676210"/>
                      </a:cubicBezTo>
                      <a:cubicBezTo>
                        <a:pt x="897834" y="701157"/>
                        <a:pt x="897834" y="701157"/>
                        <a:pt x="897834" y="701157"/>
                      </a:cubicBezTo>
                      <a:cubicBezTo>
                        <a:pt x="886448" y="694029"/>
                        <a:pt x="875062" y="689753"/>
                        <a:pt x="863676" y="689753"/>
                      </a:cubicBezTo>
                      <a:cubicBezTo>
                        <a:pt x="856559" y="689753"/>
                        <a:pt x="851578" y="691891"/>
                        <a:pt x="847308" y="695455"/>
                      </a:cubicBezTo>
                      <a:cubicBezTo>
                        <a:pt x="843750" y="699018"/>
                        <a:pt x="841615" y="704008"/>
                        <a:pt x="841615" y="708997"/>
                      </a:cubicBezTo>
                      <a:cubicBezTo>
                        <a:pt x="841615" y="718976"/>
                        <a:pt x="852289" y="728241"/>
                        <a:pt x="873639" y="738220"/>
                      </a:cubicBezTo>
                      <a:cubicBezTo>
                        <a:pt x="885737" y="743209"/>
                        <a:pt x="894276" y="748199"/>
                        <a:pt x="899258" y="753188"/>
                      </a:cubicBezTo>
                      <a:cubicBezTo>
                        <a:pt x="904239" y="757464"/>
                        <a:pt x="907086" y="763166"/>
                        <a:pt x="909932" y="768868"/>
                      </a:cubicBezTo>
                      <a:cubicBezTo>
                        <a:pt x="912779" y="775283"/>
                        <a:pt x="914202" y="780985"/>
                        <a:pt x="914202" y="788113"/>
                      </a:cubicBezTo>
                      <a:cubicBezTo>
                        <a:pt x="914202" y="798804"/>
                        <a:pt x="910644" y="808070"/>
                        <a:pt x="904239" y="815910"/>
                      </a:cubicBezTo>
                      <a:cubicBezTo>
                        <a:pt x="897123" y="823038"/>
                        <a:pt x="887160" y="828740"/>
                        <a:pt x="874350" y="831591"/>
                      </a:cubicBezTo>
                      <a:cubicBezTo>
                        <a:pt x="874350" y="857250"/>
                        <a:pt x="874350" y="857250"/>
                        <a:pt x="874350" y="857250"/>
                      </a:cubicBezTo>
                      <a:cubicBezTo>
                        <a:pt x="848020" y="857250"/>
                        <a:pt x="848020" y="857250"/>
                        <a:pt x="848020" y="857250"/>
                      </a:cubicBezTo>
                      <a:cubicBezTo>
                        <a:pt x="848020" y="833729"/>
                        <a:pt x="848020" y="833729"/>
                        <a:pt x="848020" y="833729"/>
                      </a:cubicBezTo>
                      <a:cubicBezTo>
                        <a:pt x="835210" y="832304"/>
                        <a:pt x="822401" y="828740"/>
                        <a:pt x="811014" y="822325"/>
                      </a:cubicBezTo>
                      <a:cubicBezTo>
                        <a:pt x="822401" y="795953"/>
                        <a:pt x="822401" y="795953"/>
                        <a:pt x="822401" y="795953"/>
                      </a:cubicBezTo>
                      <a:cubicBezTo>
                        <a:pt x="834498" y="804506"/>
                        <a:pt x="845885" y="808070"/>
                        <a:pt x="857983" y="808070"/>
                      </a:cubicBezTo>
                      <a:cubicBezTo>
                        <a:pt x="875062" y="808070"/>
                        <a:pt x="884313" y="802368"/>
                        <a:pt x="884313" y="790251"/>
                      </a:cubicBezTo>
                      <a:cubicBezTo>
                        <a:pt x="884313" y="784549"/>
                        <a:pt x="882178" y="778847"/>
                        <a:pt x="877197" y="774571"/>
                      </a:cubicBezTo>
                      <a:cubicBezTo>
                        <a:pt x="872927" y="769581"/>
                        <a:pt x="864387" y="763879"/>
                        <a:pt x="851578" y="757464"/>
                      </a:cubicBezTo>
                      <a:cubicBezTo>
                        <a:pt x="838768" y="751050"/>
                        <a:pt x="830229" y="746060"/>
                        <a:pt x="825959" y="742497"/>
                      </a:cubicBezTo>
                      <a:cubicBezTo>
                        <a:pt x="820977" y="738220"/>
                        <a:pt x="817419" y="733231"/>
                        <a:pt x="815284" y="728241"/>
                      </a:cubicBezTo>
                      <a:cubicBezTo>
                        <a:pt x="812438" y="722539"/>
                        <a:pt x="811726" y="716125"/>
                        <a:pt x="811726" y="709710"/>
                      </a:cubicBezTo>
                      <a:cubicBezTo>
                        <a:pt x="811726" y="699018"/>
                        <a:pt x="814572" y="690465"/>
                        <a:pt x="821689" y="683338"/>
                      </a:cubicBezTo>
                      <a:cubicBezTo>
                        <a:pt x="828094" y="675498"/>
                        <a:pt x="836633" y="669796"/>
                        <a:pt x="848020" y="667657"/>
                      </a:cubicBezTo>
                      <a:cubicBezTo>
                        <a:pt x="848020" y="647700"/>
                        <a:pt x="848020" y="647700"/>
                        <a:pt x="848020" y="647700"/>
                      </a:cubicBezTo>
                      <a:close/>
                      <a:moveTo>
                        <a:pt x="463351" y="565150"/>
                      </a:moveTo>
                      <a:cubicBezTo>
                        <a:pt x="463351" y="565150"/>
                        <a:pt x="463351" y="565150"/>
                        <a:pt x="463351" y="941388"/>
                      </a:cubicBezTo>
                      <a:cubicBezTo>
                        <a:pt x="463351" y="941388"/>
                        <a:pt x="463351" y="941388"/>
                        <a:pt x="1263451" y="941388"/>
                      </a:cubicBezTo>
                      <a:cubicBezTo>
                        <a:pt x="1263451" y="941388"/>
                        <a:pt x="1263451" y="941388"/>
                        <a:pt x="1263451" y="565150"/>
                      </a:cubicBezTo>
                      <a:cubicBezTo>
                        <a:pt x="1263451" y="565150"/>
                        <a:pt x="1263451" y="565150"/>
                        <a:pt x="463351" y="565150"/>
                      </a:cubicBezTo>
                      <a:close/>
                      <a:moveTo>
                        <a:pt x="447303" y="533400"/>
                      </a:moveTo>
                      <a:cubicBezTo>
                        <a:pt x="1279499" y="533400"/>
                        <a:pt x="1279499" y="533400"/>
                        <a:pt x="1279499" y="533400"/>
                      </a:cubicBezTo>
                      <a:cubicBezTo>
                        <a:pt x="1288064" y="533400"/>
                        <a:pt x="1295201" y="539846"/>
                        <a:pt x="1295201" y="548440"/>
                      </a:cubicBezTo>
                      <a:cubicBezTo>
                        <a:pt x="1295201" y="957382"/>
                        <a:pt x="1295201" y="957382"/>
                        <a:pt x="1295201" y="957382"/>
                      </a:cubicBezTo>
                      <a:cubicBezTo>
                        <a:pt x="1295201" y="965976"/>
                        <a:pt x="1288064" y="973138"/>
                        <a:pt x="1279499" y="973138"/>
                      </a:cubicBezTo>
                      <a:cubicBezTo>
                        <a:pt x="447303" y="973138"/>
                        <a:pt x="447303" y="973138"/>
                        <a:pt x="447303" y="973138"/>
                      </a:cubicBezTo>
                      <a:cubicBezTo>
                        <a:pt x="438738" y="973138"/>
                        <a:pt x="431601" y="965976"/>
                        <a:pt x="431601" y="957382"/>
                      </a:cubicBezTo>
                      <a:cubicBezTo>
                        <a:pt x="431601" y="548440"/>
                        <a:pt x="431601" y="548440"/>
                        <a:pt x="431601" y="548440"/>
                      </a:cubicBezTo>
                      <a:cubicBezTo>
                        <a:pt x="431601" y="539846"/>
                        <a:pt x="438738" y="533400"/>
                        <a:pt x="447303" y="533400"/>
                      </a:cubicBezTo>
                      <a:close/>
                      <a:moveTo>
                        <a:pt x="98208" y="284163"/>
                      </a:moveTo>
                      <a:cubicBezTo>
                        <a:pt x="98208" y="284163"/>
                        <a:pt x="98208" y="284163"/>
                        <a:pt x="111778" y="297725"/>
                      </a:cubicBezTo>
                      <a:cubicBezTo>
                        <a:pt x="139633" y="325563"/>
                        <a:pt x="184631" y="371246"/>
                        <a:pt x="190345" y="376243"/>
                      </a:cubicBezTo>
                      <a:cubicBezTo>
                        <a:pt x="197487" y="382667"/>
                        <a:pt x="198916" y="393374"/>
                        <a:pt x="193202" y="401939"/>
                      </a:cubicBezTo>
                      <a:cubicBezTo>
                        <a:pt x="189630" y="406222"/>
                        <a:pt x="183916" y="409077"/>
                        <a:pt x="178203" y="409077"/>
                      </a:cubicBezTo>
                      <a:cubicBezTo>
                        <a:pt x="173917" y="409077"/>
                        <a:pt x="170346" y="407650"/>
                        <a:pt x="166775" y="405508"/>
                      </a:cubicBezTo>
                      <a:cubicBezTo>
                        <a:pt x="165346" y="404795"/>
                        <a:pt x="163203" y="402653"/>
                        <a:pt x="117492" y="356256"/>
                      </a:cubicBezTo>
                      <a:cubicBezTo>
                        <a:pt x="117492" y="356256"/>
                        <a:pt x="117492" y="356256"/>
                        <a:pt x="117492" y="735282"/>
                      </a:cubicBezTo>
                      <a:cubicBezTo>
                        <a:pt x="117492" y="735282"/>
                        <a:pt x="117492" y="735282"/>
                        <a:pt x="400331" y="735282"/>
                      </a:cubicBezTo>
                      <a:cubicBezTo>
                        <a:pt x="411045" y="735282"/>
                        <a:pt x="418902" y="743848"/>
                        <a:pt x="418902" y="754554"/>
                      </a:cubicBezTo>
                      <a:cubicBezTo>
                        <a:pt x="418902" y="764548"/>
                        <a:pt x="411045" y="773113"/>
                        <a:pt x="400331" y="773113"/>
                      </a:cubicBezTo>
                      <a:cubicBezTo>
                        <a:pt x="400331" y="773113"/>
                        <a:pt x="400331" y="773113"/>
                        <a:pt x="79637" y="773113"/>
                      </a:cubicBezTo>
                      <a:cubicBezTo>
                        <a:pt x="79637" y="773113"/>
                        <a:pt x="79637" y="773113"/>
                        <a:pt x="79637" y="356256"/>
                      </a:cubicBezTo>
                      <a:cubicBezTo>
                        <a:pt x="79637" y="356256"/>
                        <a:pt x="79637" y="356256"/>
                        <a:pt x="31783" y="403367"/>
                      </a:cubicBezTo>
                      <a:cubicBezTo>
                        <a:pt x="24641" y="411219"/>
                        <a:pt x="12499" y="411219"/>
                        <a:pt x="5356" y="403367"/>
                      </a:cubicBezTo>
                      <a:cubicBezTo>
                        <a:pt x="-1786" y="396229"/>
                        <a:pt x="-1786" y="384095"/>
                        <a:pt x="5356" y="376957"/>
                      </a:cubicBezTo>
                      <a:cubicBezTo>
                        <a:pt x="5356" y="376957"/>
                        <a:pt x="5356" y="376957"/>
                        <a:pt x="98208" y="284163"/>
                      </a:cubicBezTo>
                      <a:close/>
                      <a:moveTo>
                        <a:pt x="737502" y="0"/>
                      </a:moveTo>
                      <a:cubicBezTo>
                        <a:pt x="737502" y="0"/>
                        <a:pt x="737502" y="0"/>
                        <a:pt x="1058075" y="0"/>
                      </a:cubicBezTo>
                      <a:cubicBezTo>
                        <a:pt x="1058075" y="0"/>
                        <a:pt x="1058075" y="0"/>
                        <a:pt x="1058075" y="412272"/>
                      </a:cubicBezTo>
                      <a:cubicBezTo>
                        <a:pt x="1058075" y="412272"/>
                        <a:pt x="1058075" y="412272"/>
                        <a:pt x="1104483" y="366701"/>
                      </a:cubicBezTo>
                      <a:cubicBezTo>
                        <a:pt x="1111622" y="359581"/>
                        <a:pt x="1123760" y="359581"/>
                        <a:pt x="1130900" y="367413"/>
                      </a:cubicBezTo>
                      <a:cubicBezTo>
                        <a:pt x="1138039" y="374534"/>
                        <a:pt x="1138039" y="386638"/>
                        <a:pt x="1130900" y="393759"/>
                      </a:cubicBezTo>
                      <a:cubicBezTo>
                        <a:pt x="1130900" y="393759"/>
                        <a:pt x="1130900" y="393759"/>
                        <a:pt x="1055219" y="467811"/>
                      </a:cubicBezTo>
                      <a:cubicBezTo>
                        <a:pt x="1053791" y="470659"/>
                        <a:pt x="1051649" y="472083"/>
                        <a:pt x="1049507" y="473508"/>
                      </a:cubicBezTo>
                      <a:cubicBezTo>
                        <a:pt x="1049507" y="473508"/>
                        <a:pt x="1049507" y="473508"/>
                        <a:pt x="1038797" y="484188"/>
                      </a:cubicBezTo>
                      <a:cubicBezTo>
                        <a:pt x="1038797" y="484188"/>
                        <a:pt x="1038797" y="484188"/>
                        <a:pt x="1025232" y="470659"/>
                      </a:cubicBezTo>
                      <a:cubicBezTo>
                        <a:pt x="998101" y="444314"/>
                        <a:pt x="953121" y="399455"/>
                        <a:pt x="948123" y="394471"/>
                      </a:cubicBezTo>
                      <a:cubicBezTo>
                        <a:pt x="940270" y="388063"/>
                        <a:pt x="938842" y="377382"/>
                        <a:pt x="944554" y="368837"/>
                      </a:cubicBezTo>
                      <a:cubicBezTo>
                        <a:pt x="950979" y="361005"/>
                        <a:pt x="962403" y="358869"/>
                        <a:pt x="970970" y="365277"/>
                      </a:cubicBezTo>
                      <a:cubicBezTo>
                        <a:pt x="972398" y="365989"/>
                        <a:pt x="974540" y="367413"/>
                        <a:pt x="1020948" y="413696"/>
                      </a:cubicBezTo>
                      <a:cubicBezTo>
                        <a:pt x="1020948" y="413696"/>
                        <a:pt x="1020948" y="413696"/>
                        <a:pt x="1020948" y="37026"/>
                      </a:cubicBezTo>
                      <a:cubicBezTo>
                        <a:pt x="1020948" y="37026"/>
                        <a:pt x="1020948" y="37026"/>
                        <a:pt x="737502" y="37026"/>
                      </a:cubicBezTo>
                      <a:cubicBezTo>
                        <a:pt x="727507" y="37026"/>
                        <a:pt x="718939" y="29194"/>
                        <a:pt x="718939" y="18513"/>
                      </a:cubicBezTo>
                      <a:cubicBezTo>
                        <a:pt x="718939" y="8545"/>
                        <a:pt x="727507" y="0"/>
                        <a:pt x="73750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5837" tIns="32918" rIns="65837" bIns="32918" numCol="1" anchor="t" anchorCtr="0" compatLnSpc="1">
                  <a:prstTxWarp prst="textNoShape">
                    <a:avLst/>
                  </a:prstTxWarp>
                  <a:noAutofit/>
                </a:bodyPr>
                <a:lstStyle/>
                <a:p>
                  <a:endParaRPr lang="en-US">
                    <a:ea typeface="Microsoft YaHei" panose="020B0503020204020204" pitchFamily="34" charset="-122"/>
                  </a:endParaRPr>
                </a:p>
              </p:txBody>
            </p:sp>
            <p:sp>
              <p:nvSpPr>
                <p:cNvPr id="149" name="Freeform 11">
                  <a:extLst>
                    <a:ext uri="{FF2B5EF4-FFF2-40B4-BE49-F238E27FC236}">
                      <a16:creationId xmlns:a16="http://schemas.microsoft.com/office/drawing/2014/main" id="{3DB9188C-7C65-4EA8-88A7-C5579BBC1F05}"/>
                    </a:ext>
                  </a:extLst>
                </p:cNvPr>
                <p:cNvSpPr>
                  <a:spLocks/>
                </p:cNvSpPr>
                <p:nvPr/>
              </p:nvSpPr>
              <p:spPr bwMode="auto">
                <a:xfrm>
                  <a:off x="5476367" y="2803525"/>
                  <a:ext cx="1199071" cy="1208088"/>
                </a:xfrm>
                <a:custGeom>
                  <a:avLst/>
                  <a:gdLst>
                    <a:gd name="connsiteX0" fmla="*/ 878957 w 1199071"/>
                    <a:gd name="connsiteY0" fmla="*/ 901700 h 1208088"/>
                    <a:gd name="connsiteX1" fmla="*/ 1146793 w 1199071"/>
                    <a:gd name="connsiteY1" fmla="*/ 901700 h 1208088"/>
                    <a:gd name="connsiteX2" fmla="*/ 1148941 w 1199071"/>
                    <a:gd name="connsiteY2" fmla="*/ 903122 h 1208088"/>
                    <a:gd name="connsiteX3" fmla="*/ 1146793 w 1199071"/>
                    <a:gd name="connsiteY3" fmla="*/ 914496 h 1208088"/>
                    <a:gd name="connsiteX4" fmla="*/ 1184032 w 1199071"/>
                    <a:gd name="connsiteY4" fmla="*/ 950751 h 1208088"/>
                    <a:gd name="connsiteX5" fmla="*/ 1196923 w 1199071"/>
                    <a:gd name="connsiteY5" fmla="*/ 947907 h 1208088"/>
                    <a:gd name="connsiteX6" fmla="*/ 1199071 w 1199071"/>
                    <a:gd name="connsiteY6" fmla="*/ 950040 h 1208088"/>
                    <a:gd name="connsiteX7" fmla="*/ 1199071 w 1199071"/>
                    <a:gd name="connsiteY7" fmla="*/ 1160459 h 1208088"/>
                    <a:gd name="connsiteX8" fmla="*/ 1196923 w 1199071"/>
                    <a:gd name="connsiteY8" fmla="*/ 1161881 h 1208088"/>
                    <a:gd name="connsiteX9" fmla="*/ 1184032 w 1199071"/>
                    <a:gd name="connsiteY9" fmla="*/ 1159748 h 1208088"/>
                    <a:gd name="connsiteX10" fmla="*/ 1146793 w 1199071"/>
                    <a:gd name="connsiteY10" fmla="*/ 1195292 h 1208088"/>
                    <a:gd name="connsiteX11" fmla="*/ 1148225 w 1199071"/>
                    <a:gd name="connsiteY11" fmla="*/ 1205956 h 1208088"/>
                    <a:gd name="connsiteX12" fmla="*/ 1146793 w 1199071"/>
                    <a:gd name="connsiteY12" fmla="*/ 1208088 h 1208088"/>
                    <a:gd name="connsiteX13" fmla="*/ 878957 w 1199071"/>
                    <a:gd name="connsiteY13" fmla="*/ 1208088 h 1208088"/>
                    <a:gd name="connsiteX14" fmla="*/ 878241 w 1199071"/>
                    <a:gd name="connsiteY14" fmla="*/ 1205245 h 1208088"/>
                    <a:gd name="connsiteX15" fmla="*/ 952003 w 1199071"/>
                    <a:gd name="connsiteY15" fmla="*/ 1055250 h 1208088"/>
                    <a:gd name="connsiteX16" fmla="*/ 878241 w 1199071"/>
                    <a:gd name="connsiteY16" fmla="*/ 903833 h 1208088"/>
                    <a:gd name="connsiteX17" fmla="*/ 878957 w 1199071"/>
                    <a:gd name="connsiteY17" fmla="*/ 901700 h 1208088"/>
                    <a:gd name="connsiteX18" fmla="*/ 518927 w 1199071"/>
                    <a:gd name="connsiteY18" fmla="*/ 901700 h 1208088"/>
                    <a:gd name="connsiteX19" fmla="*/ 786633 w 1199071"/>
                    <a:gd name="connsiteY19" fmla="*/ 901700 h 1208088"/>
                    <a:gd name="connsiteX20" fmla="*/ 788065 w 1199071"/>
                    <a:gd name="connsiteY20" fmla="*/ 903833 h 1208088"/>
                    <a:gd name="connsiteX21" fmla="*/ 713622 w 1199071"/>
                    <a:gd name="connsiteY21" fmla="*/ 1055250 h 1208088"/>
                    <a:gd name="connsiteX22" fmla="*/ 788065 w 1199071"/>
                    <a:gd name="connsiteY22" fmla="*/ 1205245 h 1208088"/>
                    <a:gd name="connsiteX23" fmla="*/ 786633 w 1199071"/>
                    <a:gd name="connsiteY23" fmla="*/ 1208088 h 1208088"/>
                    <a:gd name="connsiteX24" fmla="*/ 519643 w 1199071"/>
                    <a:gd name="connsiteY24" fmla="*/ 1208088 h 1208088"/>
                    <a:gd name="connsiteX25" fmla="*/ 518211 w 1199071"/>
                    <a:gd name="connsiteY25" fmla="*/ 1205956 h 1208088"/>
                    <a:gd name="connsiteX26" fmla="*/ 519643 w 1199071"/>
                    <a:gd name="connsiteY26" fmla="*/ 1195292 h 1208088"/>
                    <a:gd name="connsiteX27" fmla="*/ 483137 w 1199071"/>
                    <a:gd name="connsiteY27" fmla="*/ 1159748 h 1208088"/>
                    <a:gd name="connsiteX28" fmla="*/ 470969 w 1199071"/>
                    <a:gd name="connsiteY28" fmla="*/ 1161170 h 1208088"/>
                    <a:gd name="connsiteX29" fmla="*/ 468821 w 1199071"/>
                    <a:gd name="connsiteY29" fmla="*/ 1159748 h 1208088"/>
                    <a:gd name="connsiteX30" fmla="*/ 468821 w 1199071"/>
                    <a:gd name="connsiteY30" fmla="*/ 950040 h 1208088"/>
                    <a:gd name="connsiteX31" fmla="*/ 470969 w 1199071"/>
                    <a:gd name="connsiteY31" fmla="*/ 948618 h 1208088"/>
                    <a:gd name="connsiteX32" fmla="*/ 483137 w 1199071"/>
                    <a:gd name="connsiteY32" fmla="*/ 950751 h 1208088"/>
                    <a:gd name="connsiteX33" fmla="*/ 519643 w 1199071"/>
                    <a:gd name="connsiteY33" fmla="*/ 914496 h 1208088"/>
                    <a:gd name="connsiteX34" fmla="*/ 518211 w 1199071"/>
                    <a:gd name="connsiteY34" fmla="*/ 903122 h 1208088"/>
                    <a:gd name="connsiteX35" fmla="*/ 518927 w 1199071"/>
                    <a:gd name="connsiteY35" fmla="*/ 901700 h 1208088"/>
                    <a:gd name="connsiteX36" fmla="*/ 326025 w 1199071"/>
                    <a:gd name="connsiteY36" fmla="*/ 182184 h 1208088"/>
                    <a:gd name="connsiteX37" fmla="*/ 273872 w 1199071"/>
                    <a:gd name="connsiteY37" fmla="*/ 193386 h 1208088"/>
                    <a:gd name="connsiteX38" fmla="*/ 204469 w 1199071"/>
                    <a:gd name="connsiteY38" fmla="*/ 370489 h 1208088"/>
                    <a:gd name="connsiteX39" fmla="*/ 381196 w 1199071"/>
                    <a:gd name="connsiteY39" fmla="*/ 440904 h 1208088"/>
                    <a:gd name="connsiteX40" fmla="*/ 449884 w 1199071"/>
                    <a:gd name="connsiteY40" fmla="*/ 263801 h 1208088"/>
                    <a:gd name="connsiteX41" fmla="*/ 326025 w 1199071"/>
                    <a:gd name="connsiteY41" fmla="*/ 182184 h 1208088"/>
                    <a:gd name="connsiteX42" fmla="*/ 423813 w 1199071"/>
                    <a:gd name="connsiteY42" fmla="*/ 0 h 1208088"/>
                    <a:gd name="connsiteX43" fmla="*/ 543626 w 1199071"/>
                    <a:gd name="connsiteY43" fmla="*/ 68477 h 1208088"/>
                    <a:gd name="connsiteX44" fmla="*/ 540060 w 1199071"/>
                    <a:gd name="connsiteY44" fmla="*/ 124115 h 1208088"/>
                    <a:gd name="connsiteX45" fmla="*/ 574293 w 1199071"/>
                    <a:gd name="connsiteY45" fmla="*/ 171193 h 1208088"/>
                    <a:gd name="connsiteX46" fmla="*/ 597828 w 1199071"/>
                    <a:gd name="connsiteY46" fmla="*/ 221837 h 1208088"/>
                    <a:gd name="connsiteX47" fmla="*/ 647750 w 1199071"/>
                    <a:gd name="connsiteY47" fmla="*/ 244663 h 1208088"/>
                    <a:gd name="connsiteX48" fmla="*/ 649176 w 1199071"/>
                    <a:gd name="connsiteY48" fmla="*/ 382331 h 1208088"/>
                    <a:gd name="connsiteX49" fmla="*/ 600680 w 1199071"/>
                    <a:gd name="connsiteY49" fmla="*/ 404443 h 1208088"/>
                    <a:gd name="connsiteX50" fmla="*/ 541487 w 1199071"/>
                    <a:gd name="connsiteY50" fmla="*/ 509298 h 1208088"/>
                    <a:gd name="connsiteX51" fmla="*/ 548618 w 1199071"/>
                    <a:gd name="connsiteY51" fmla="*/ 564223 h 1208088"/>
                    <a:gd name="connsiteX52" fmla="*/ 493704 w 1199071"/>
                    <a:gd name="connsiteY52" fmla="*/ 605594 h 1208088"/>
                    <a:gd name="connsiteX53" fmla="*/ 431658 w 1199071"/>
                    <a:gd name="connsiteY53" fmla="*/ 633413 h 1208088"/>
                    <a:gd name="connsiteX54" fmla="*/ 387441 w 1199071"/>
                    <a:gd name="connsiteY54" fmla="*/ 600601 h 1208088"/>
                    <a:gd name="connsiteX55" fmla="*/ 269054 w 1199071"/>
                    <a:gd name="connsiteY55" fmla="*/ 599888 h 1208088"/>
                    <a:gd name="connsiteX56" fmla="*/ 225550 w 1199071"/>
                    <a:gd name="connsiteY56" fmla="*/ 633413 h 1208088"/>
                    <a:gd name="connsiteX57" fmla="*/ 107163 w 1199071"/>
                    <a:gd name="connsiteY57" fmla="*/ 562083 h 1208088"/>
                    <a:gd name="connsiteX58" fmla="*/ 114295 w 1199071"/>
                    <a:gd name="connsiteY58" fmla="*/ 507159 h 1208088"/>
                    <a:gd name="connsiteX59" fmla="*/ 82202 w 1199071"/>
                    <a:gd name="connsiteY59" fmla="*/ 461507 h 1208088"/>
                    <a:gd name="connsiteX60" fmla="*/ 57241 w 1199071"/>
                    <a:gd name="connsiteY60" fmla="*/ 407296 h 1208088"/>
                    <a:gd name="connsiteX61" fmla="*/ 7319 w 1199071"/>
                    <a:gd name="connsiteY61" fmla="*/ 386610 h 1208088"/>
                    <a:gd name="connsiteX62" fmla="*/ 8745 w 1199071"/>
                    <a:gd name="connsiteY62" fmla="*/ 243950 h 1208088"/>
                    <a:gd name="connsiteX63" fmla="*/ 58667 w 1199071"/>
                    <a:gd name="connsiteY63" fmla="*/ 221124 h 1208088"/>
                    <a:gd name="connsiteX64" fmla="*/ 113582 w 1199071"/>
                    <a:gd name="connsiteY64" fmla="*/ 127681 h 1208088"/>
                    <a:gd name="connsiteX65" fmla="*/ 106450 w 1199071"/>
                    <a:gd name="connsiteY65" fmla="*/ 72044 h 1208088"/>
                    <a:gd name="connsiteX66" fmla="*/ 163504 w 1199071"/>
                    <a:gd name="connsiteY66" fmla="*/ 29959 h 1208088"/>
                    <a:gd name="connsiteX67" fmla="*/ 227690 w 1199071"/>
                    <a:gd name="connsiteY67" fmla="*/ 713 h 1208088"/>
                    <a:gd name="connsiteX68" fmla="*/ 272620 w 1199071"/>
                    <a:gd name="connsiteY68" fmla="*/ 33525 h 1208088"/>
                    <a:gd name="connsiteX69" fmla="*/ 379596 w 1199071"/>
                    <a:gd name="connsiteY69" fmla="*/ 33525 h 1208088"/>
                    <a:gd name="connsiteX70" fmla="*/ 423813 w 1199071"/>
                    <a:gd name="connsiteY70" fmla="*/ 0 h 1208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99071" h="1208088">
                      <a:moveTo>
                        <a:pt x="878957" y="901700"/>
                      </a:moveTo>
                      <a:cubicBezTo>
                        <a:pt x="878957" y="901700"/>
                        <a:pt x="878957" y="901700"/>
                        <a:pt x="1146793" y="901700"/>
                      </a:cubicBezTo>
                      <a:cubicBezTo>
                        <a:pt x="1148225" y="901700"/>
                        <a:pt x="1148941" y="902411"/>
                        <a:pt x="1148941" y="903122"/>
                      </a:cubicBezTo>
                      <a:cubicBezTo>
                        <a:pt x="1147509" y="906676"/>
                        <a:pt x="1146793" y="910942"/>
                        <a:pt x="1146793" y="914496"/>
                      </a:cubicBezTo>
                      <a:cubicBezTo>
                        <a:pt x="1146793" y="934400"/>
                        <a:pt x="1163264" y="950751"/>
                        <a:pt x="1184032" y="950751"/>
                      </a:cubicBezTo>
                      <a:cubicBezTo>
                        <a:pt x="1188329" y="950751"/>
                        <a:pt x="1193342" y="950040"/>
                        <a:pt x="1196923" y="947907"/>
                      </a:cubicBezTo>
                      <a:cubicBezTo>
                        <a:pt x="1198355" y="947907"/>
                        <a:pt x="1199071" y="948618"/>
                        <a:pt x="1199071" y="950040"/>
                      </a:cubicBezTo>
                      <a:cubicBezTo>
                        <a:pt x="1199071" y="950040"/>
                        <a:pt x="1199071" y="950040"/>
                        <a:pt x="1199071" y="1160459"/>
                      </a:cubicBezTo>
                      <a:cubicBezTo>
                        <a:pt x="1199071" y="1161170"/>
                        <a:pt x="1198355" y="1161881"/>
                        <a:pt x="1196923" y="1161881"/>
                      </a:cubicBezTo>
                      <a:cubicBezTo>
                        <a:pt x="1193342" y="1160459"/>
                        <a:pt x="1188329" y="1159748"/>
                        <a:pt x="1184032" y="1159748"/>
                      </a:cubicBezTo>
                      <a:cubicBezTo>
                        <a:pt x="1163264" y="1159748"/>
                        <a:pt x="1146793" y="1176099"/>
                        <a:pt x="1146793" y="1195292"/>
                      </a:cubicBezTo>
                      <a:cubicBezTo>
                        <a:pt x="1146793" y="1198847"/>
                        <a:pt x="1146793" y="1202401"/>
                        <a:pt x="1148225" y="1205956"/>
                      </a:cubicBezTo>
                      <a:cubicBezTo>
                        <a:pt x="1148941" y="1206666"/>
                        <a:pt x="1148225" y="1208088"/>
                        <a:pt x="1146793" y="1208088"/>
                      </a:cubicBezTo>
                      <a:cubicBezTo>
                        <a:pt x="1146793" y="1208088"/>
                        <a:pt x="1146793" y="1208088"/>
                        <a:pt x="878957" y="1208088"/>
                      </a:cubicBezTo>
                      <a:cubicBezTo>
                        <a:pt x="877524" y="1208088"/>
                        <a:pt x="876808" y="1205956"/>
                        <a:pt x="878241" y="1205245"/>
                      </a:cubicBezTo>
                      <a:cubicBezTo>
                        <a:pt x="915480" y="1178942"/>
                        <a:pt x="952003" y="1121361"/>
                        <a:pt x="952003" y="1055250"/>
                      </a:cubicBezTo>
                      <a:cubicBezTo>
                        <a:pt x="952003" y="988427"/>
                        <a:pt x="915480" y="930135"/>
                        <a:pt x="878241" y="903833"/>
                      </a:cubicBezTo>
                      <a:cubicBezTo>
                        <a:pt x="876808" y="903122"/>
                        <a:pt x="877524" y="901700"/>
                        <a:pt x="878957" y="901700"/>
                      </a:cubicBezTo>
                      <a:close/>
                      <a:moveTo>
                        <a:pt x="518927" y="901700"/>
                      </a:moveTo>
                      <a:cubicBezTo>
                        <a:pt x="518927" y="901700"/>
                        <a:pt x="518927" y="901700"/>
                        <a:pt x="786633" y="901700"/>
                      </a:cubicBezTo>
                      <a:cubicBezTo>
                        <a:pt x="788780" y="901700"/>
                        <a:pt x="789496" y="903122"/>
                        <a:pt x="788065" y="903833"/>
                      </a:cubicBezTo>
                      <a:cubicBezTo>
                        <a:pt x="750128" y="930135"/>
                        <a:pt x="713622" y="988427"/>
                        <a:pt x="713622" y="1055250"/>
                      </a:cubicBezTo>
                      <a:cubicBezTo>
                        <a:pt x="713622" y="1121361"/>
                        <a:pt x="750128" y="1178942"/>
                        <a:pt x="788065" y="1205245"/>
                      </a:cubicBezTo>
                      <a:cubicBezTo>
                        <a:pt x="789496" y="1205956"/>
                        <a:pt x="788780" y="1208088"/>
                        <a:pt x="786633" y="1208088"/>
                      </a:cubicBezTo>
                      <a:cubicBezTo>
                        <a:pt x="786633" y="1208088"/>
                        <a:pt x="786633" y="1208088"/>
                        <a:pt x="519643" y="1208088"/>
                      </a:cubicBezTo>
                      <a:cubicBezTo>
                        <a:pt x="518927" y="1208088"/>
                        <a:pt x="518211" y="1206666"/>
                        <a:pt x="518211" y="1205956"/>
                      </a:cubicBezTo>
                      <a:cubicBezTo>
                        <a:pt x="518927" y="1202401"/>
                        <a:pt x="519643" y="1198847"/>
                        <a:pt x="519643" y="1195292"/>
                      </a:cubicBezTo>
                      <a:cubicBezTo>
                        <a:pt x="519643" y="1176099"/>
                        <a:pt x="503895" y="1159748"/>
                        <a:pt x="483137" y="1159748"/>
                      </a:cubicBezTo>
                      <a:cubicBezTo>
                        <a:pt x="478842" y="1159748"/>
                        <a:pt x="474548" y="1160459"/>
                        <a:pt x="470969" y="1161170"/>
                      </a:cubicBezTo>
                      <a:cubicBezTo>
                        <a:pt x="470253" y="1161881"/>
                        <a:pt x="468821" y="1161170"/>
                        <a:pt x="468821" y="1159748"/>
                      </a:cubicBezTo>
                      <a:cubicBezTo>
                        <a:pt x="468821" y="1159748"/>
                        <a:pt x="468821" y="1159748"/>
                        <a:pt x="468821" y="950040"/>
                      </a:cubicBezTo>
                      <a:cubicBezTo>
                        <a:pt x="468821" y="948618"/>
                        <a:pt x="470253" y="947907"/>
                        <a:pt x="470969" y="948618"/>
                      </a:cubicBezTo>
                      <a:cubicBezTo>
                        <a:pt x="474548" y="950040"/>
                        <a:pt x="478842" y="950751"/>
                        <a:pt x="483137" y="950751"/>
                      </a:cubicBezTo>
                      <a:cubicBezTo>
                        <a:pt x="503895" y="950751"/>
                        <a:pt x="519643" y="934400"/>
                        <a:pt x="519643" y="914496"/>
                      </a:cubicBezTo>
                      <a:cubicBezTo>
                        <a:pt x="519643" y="910942"/>
                        <a:pt x="518927" y="906676"/>
                        <a:pt x="518211" y="903122"/>
                      </a:cubicBezTo>
                      <a:cubicBezTo>
                        <a:pt x="517495" y="902411"/>
                        <a:pt x="518211" y="901700"/>
                        <a:pt x="518927" y="901700"/>
                      </a:cubicBezTo>
                      <a:close/>
                      <a:moveTo>
                        <a:pt x="326025" y="182184"/>
                      </a:moveTo>
                      <a:cubicBezTo>
                        <a:pt x="308574" y="182317"/>
                        <a:pt x="290865" y="185918"/>
                        <a:pt x="273872" y="193386"/>
                      </a:cubicBezTo>
                      <a:cubicBezTo>
                        <a:pt x="205900" y="222548"/>
                        <a:pt x="175134" y="301497"/>
                        <a:pt x="204469" y="370489"/>
                      </a:cubicBezTo>
                      <a:cubicBezTo>
                        <a:pt x="233805" y="438770"/>
                        <a:pt x="313224" y="471488"/>
                        <a:pt x="381196" y="440904"/>
                      </a:cubicBezTo>
                      <a:cubicBezTo>
                        <a:pt x="449168" y="412454"/>
                        <a:pt x="479934" y="332081"/>
                        <a:pt x="449884" y="263801"/>
                      </a:cubicBezTo>
                      <a:cubicBezTo>
                        <a:pt x="428419" y="212590"/>
                        <a:pt x="378379" y="181784"/>
                        <a:pt x="326025" y="182184"/>
                      </a:cubicBezTo>
                      <a:close/>
                      <a:moveTo>
                        <a:pt x="423813" y="0"/>
                      </a:moveTo>
                      <a:cubicBezTo>
                        <a:pt x="467317" y="13553"/>
                        <a:pt x="510107" y="37805"/>
                        <a:pt x="543626" y="68477"/>
                      </a:cubicBezTo>
                      <a:cubicBezTo>
                        <a:pt x="543626" y="68477"/>
                        <a:pt x="543626" y="68477"/>
                        <a:pt x="540060" y="124115"/>
                      </a:cubicBezTo>
                      <a:cubicBezTo>
                        <a:pt x="552898" y="138381"/>
                        <a:pt x="565021" y="154074"/>
                        <a:pt x="574293" y="171193"/>
                      </a:cubicBezTo>
                      <a:cubicBezTo>
                        <a:pt x="584277" y="188312"/>
                        <a:pt x="592122" y="205431"/>
                        <a:pt x="597828" y="221837"/>
                      </a:cubicBezTo>
                      <a:cubicBezTo>
                        <a:pt x="597828" y="221837"/>
                        <a:pt x="597828" y="221837"/>
                        <a:pt x="647750" y="244663"/>
                      </a:cubicBezTo>
                      <a:cubicBezTo>
                        <a:pt x="657021" y="290314"/>
                        <a:pt x="657734" y="338106"/>
                        <a:pt x="649176" y="382331"/>
                      </a:cubicBezTo>
                      <a:cubicBezTo>
                        <a:pt x="649176" y="382331"/>
                        <a:pt x="649176" y="382331"/>
                        <a:pt x="600680" y="404443"/>
                      </a:cubicBezTo>
                      <a:cubicBezTo>
                        <a:pt x="587843" y="442961"/>
                        <a:pt x="568587" y="479340"/>
                        <a:pt x="541487" y="509298"/>
                      </a:cubicBezTo>
                      <a:cubicBezTo>
                        <a:pt x="541487" y="509298"/>
                        <a:pt x="541487" y="509298"/>
                        <a:pt x="548618" y="564223"/>
                      </a:cubicBezTo>
                      <a:cubicBezTo>
                        <a:pt x="530789" y="579202"/>
                        <a:pt x="512247" y="592755"/>
                        <a:pt x="493704" y="605594"/>
                      </a:cubicBezTo>
                      <a:cubicBezTo>
                        <a:pt x="473022" y="616294"/>
                        <a:pt x="452340" y="625567"/>
                        <a:pt x="431658" y="633413"/>
                      </a:cubicBezTo>
                      <a:cubicBezTo>
                        <a:pt x="431658" y="633413"/>
                        <a:pt x="431658" y="633413"/>
                        <a:pt x="387441" y="600601"/>
                      </a:cubicBezTo>
                      <a:cubicBezTo>
                        <a:pt x="346790" y="609161"/>
                        <a:pt x="307565" y="609161"/>
                        <a:pt x="269054" y="599888"/>
                      </a:cubicBezTo>
                      <a:cubicBezTo>
                        <a:pt x="269054" y="599888"/>
                        <a:pt x="269054" y="599888"/>
                        <a:pt x="225550" y="633413"/>
                      </a:cubicBezTo>
                      <a:cubicBezTo>
                        <a:pt x="183473" y="617720"/>
                        <a:pt x="142822" y="594895"/>
                        <a:pt x="107163" y="562083"/>
                      </a:cubicBezTo>
                      <a:cubicBezTo>
                        <a:pt x="107163" y="562083"/>
                        <a:pt x="107163" y="562083"/>
                        <a:pt x="114295" y="507159"/>
                      </a:cubicBezTo>
                      <a:cubicBezTo>
                        <a:pt x="102171" y="493606"/>
                        <a:pt x="91473" y="478626"/>
                        <a:pt x="82202" y="461507"/>
                      </a:cubicBezTo>
                      <a:cubicBezTo>
                        <a:pt x="71504" y="445101"/>
                        <a:pt x="62946" y="425842"/>
                        <a:pt x="57241" y="407296"/>
                      </a:cubicBezTo>
                      <a:cubicBezTo>
                        <a:pt x="57241" y="407296"/>
                        <a:pt x="57241" y="407296"/>
                        <a:pt x="7319" y="386610"/>
                      </a:cubicBezTo>
                      <a:cubicBezTo>
                        <a:pt x="-2666" y="337392"/>
                        <a:pt x="-2666" y="289601"/>
                        <a:pt x="8745" y="243950"/>
                      </a:cubicBezTo>
                      <a:cubicBezTo>
                        <a:pt x="8745" y="243950"/>
                        <a:pt x="8745" y="243950"/>
                        <a:pt x="58667" y="221124"/>
                      </a:cubicBezTo>
                      <a:cubicBezTo>
                        <a:pt x="70078" y="187599"/>
                        <a:pt x="89334" y="156213"/>
                        <a:pt x="113582" y="127681"/>
                      </a:cubicBezTo>
                      <a:cubicBezTo>
                        <a:pt x="113582" y="127681"/>
                        <a:pt x="113582" y="127681"/>
                        <a:pt x="106450" y="72044"/>
                      </a:cubicBezTo>
                      <a:cubicBezTo>
                        <a:pt x="122853" y="57064"/>
                        <a:pt x="142822" y="42085"/>
                        <a:pt x="163504" y="29959"/>
                      </a:cubicBezTo>
                      <a:cubicBezTo>
                        <a:pt x="184899" y="17833"/>
                        <a:pt x="205581" y="8560"/>
                        <a:pt x="227690" y="713"/>
                      </a:cubicBezTo>
                      <a:cubicBezTo>
                        <a:pt x="227690" y="713"/>
                        <a:pt x="227690" y="713"/>
                        <a:pt x="272620" y="33525"/>
                      </a:cubicBezTo>
                      <a:cubicBezTo>
                        <a:pt x="307565" y="26392"/>
                        <a:pt x="343937" y="25679"/>
                        <a:pt x="379596" y="33525"/>
                      </a:cubicBezTo>
                      <a:cubicBezTo>
                        <a:pt x="379596" y="33525"/>
                        <a:pt x="379596" y="33525"/>
                        <a:pt x="42381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5837" tIns="32918" rIns="65837" bIns="32918" numCol="1" anchor="t" anchorCtr="0" compatLnSpc="1">
                  <a:prstTxWarp prst="textNoShape">
                    <a:avLst/>
                  </a:prstTxWarp>
                  <a:noAutofit/>
                </a:bodyPr>
                <a:lstStyle/>
                <a:p>
                  <a:endParaRPr lang="en-US">
                    <a:ea typeface="Microsoft YaHei" panose="020B0503020204020204" pitchFamily="34" charset="-122"/>
                  </a:endParaRPr>
                </a:p>
              </p:txBody>
            </p:sp>
          </p:grpSp>
        </p:grpSp>
      </p:grpSp>
      <p:grpSp>
        <p:nvGrpSpPr>
          <p:cNvPr id="7" name="Group 6">
            <a:extLst>
              <a:ext uri="{FF2B5EF4-FFF2-40B4-BE49-F238E27FC236}">
                <a16:creationId xmlns:a16="http://schemas.microsoft.com/office/drawing/2014/main" id="{027B5E8B-299D-4423-A5B0-B59DD0F0BE44}"/>
              </a:ext>
            </a:extLst>
          </p:cNvPr>
          <p:cNvGrpSpPr/>
          <p:nvPr/>
        </p:nvGrpSpPr>
        <p:grpSpPr>
          <a:xfrm>
            <a:off x="7977824" y="4893241"/>
            <a:ext cx="3497518" cy="1558574"/>
            <a:chOff x="7977825" y="3106286"/>
            <a:chExt cx="3497518" cy="1558574"/>
          </a:xfrm>
        </p:grpSpPr>
        <p:sp>
          <p:nvSpPr>
            <p:cNvPr id="20" name="ee4pHeader1">
              <a:extLst>
                <a:ext uri="{FF2B5EF4-FFF2-40B4-BE49-F238E27FC236}">
                  <a16:creationId xmlns:a16="http://schemas.microsoft.com/office/drawing/2014/main" id="{A33BC80B-5412-403D-BF97-9CD80E44431E}"/>
                </a:ext>
              </a:extLst>
            </p:cNvPr>
            <p:cNvSpPr txBox="1"/>
            <p:nvPr/>
          </p:nvSpPr>
          <p:spPr>
            <a:xfrm>
              <a:off x="7977825" y="3524527"/>
              <a:ext cx="3317778" cy="1140333"/>
            </a:xfrm>
            <a:prstGeom prst="rect">
              <a:avLst/>
            </a:prstGeom>
            <a:solidFill>
              <a:srgbClr val="F2F2F2"/>
            </a:solidFill>
            <a:ln w="6858" cap="rnd" cmpd="sng" algn="ctr">
              <a:solidFill>
                <a:srgbClr val="9A9A9A"/>
              </a:solidFill>
              <a:prstDash val="solid"/>
              <a:round/>
              <a:headEnd type="none" w="med" len="med"/>
              <a:tailEnd type="none" w="med" len="med"/>
            </a:ln>
          </p:spPr>
          <p:txBody>
            <a:bodyPr wrap="square" lIns="91440" tIns="91440" rIns="91440" bIns="91440" rtlCol="0" anchor="t" anchorCtr="0">
              <a:noAutofit/>
            </a:bodyPr>
            <a:lstStyle>
              <a:defPPr>
                <a:defRPr lang="en-US"/>
              </a:defPPr>
              <a:lvl1pPr>
                <a:buSzPct val="100000"/>
                <a:buFont typeface="Trebuchet MS" panose="020B0603020202020204" pitchFamily="34" charset="0"/>
                <a:buChar char="​"/>
                <a:defRPr sz="1400">
                  <a:solidFill>
                    <a:schemeClr val="tx1">
                      <a:lumMod val="100000"/>
                    </a:schemeClr>
                  </a:solidFill>
                  <a:latin typeface="Trebuchet MS" panose="020B0603020202020204" pitchFamily="34" charset="0"/>
                </a:defRPr>
              </a:lvl1pPr>
              <a:lvl2pPr marL="324000" lvl="1" indent="-216000">
                <a:spcBef>
                  <a:spcPts val="600"/>
                </a:spcBef>
                <a:buClr>
                  <a:schemeClr val="tx2">
                    <a:lumMod val="100000"/>
                  </a:schemeClr>
                </a:buClr>
                <a:buSzPct val="100000"/>
                <a:buFont typeface="Trebuchet MS" panose="020B0603020202020204" pitchFamily="34" charset="0"/>
                <a:buChar char="•"/>
                <a:defRPr sz="1200">
                  <a:solidFill>
                    <a:schemeClr val="tx1">
                      <a:lumMod val="100000"/>
                    </a:schemeClr>
                  </a:solidFill>
                  <a:latin typeface="Trebuchet MS" panose="020B0603020202020204" pitchFamily="34" charset="0"/>
                </a:defRPr>
              </a:lvl2pPr>
            </a:lstStyle>
            <a:p>
              <a:r>
                <a:rPr lang="en-US" err="1">
                  <a:ea typeface="Microsoft YaHei" panose="020B0503020204020204" pitchFamily="34" charset="-122"/>
                </a:rPr>
                <a:t>提供</a:t>
              </a:r>
              <a:r>
                <a:rPr lang="zh-TW" altLang="en-US">
                  <a:ea typeface="Microsoft YaHei" panose="020B0503020204020204" pitchFamily="34" charset="-122"/>
                </a:rPr>
                <a:t>第三方合作</a:t>
              </a:r>
              <a:r>
                <a:rPr lang="en-US" err="1">
                  <a:ea typeface="Microsoft YaHei" panose="020B0503020204020204" pitchFamily="34" charset="-122"/>
                </a:rPr>
                <a:t>商家折扣</a:t>
              </a:r>
              <a:endParaRPr lang="en-US">
                <a:ea typeface="Microsoft YaHei" panose="020B0503020204020204" pitchFamily="34" charset="-122"/>
              </a:endParaRPr>
            </a:p>
            <a:p>
              <a:endParaRPr lang="en-US">
                <a:ea typeface="Microsoft YaHei" panose="020B0503020204020204" pitchFamily="34" charset="-122"/>
              </a:endParaRPr>
            </a:p>
            <a:p>
              <a:pPr>
                <a:buNone/>
              </a:pPr>
              <a:r>
                <a:rPr lang="en-US" altLang="zh-TW" sz="1400">
                  <a:ea typeface="Microsoft YaHei" panose="020B0503020204020204" pitchFamily="34" charset="-122"/>
                </a:rPr>
                <a:t>"</a:t>
              </a:r>
              <a:r>
                <a:rPr lang="zh-TW" altLang="en-US">
                  <a:ea typeface="Microsoft YaHei" panose="020B0503020204020204" pitchFamily="34" charset="-122"/>
                </a:rPr>
                <a:t>凱基用戶獨享</a:t>
              </a:r>
              <a:r>
                <a:rPr lang="en-US" altLang="zh-TW">
                  <a:ea typeface="Microsoft YaHei" panose="020B0503020204020204" pitchFamily="34" charset="-122"/>
                </a:rPr>
                <a:t>X</a:t>
              </a:r>
              <a:r>
                <a:rPr lang="zh-TW" altLang="en-US">
                  <a:ea typeface="Microsoft YaHei" panose="020B0503020204020204" pitchFamily="34" charset="-122"/>
                </a:rPr>
                <a:t>次叫車優惠，點此領取優惠碼</a:t>
              </a:r>
              <a:r>
                <a:rPr lang="en-US" altLang="zh-TW">
                  <a:ea typeface="Microsoft YaHei" panose="020B0503020204020204" pitchFamily="34" charset="-122"/>
                </a:rPr>
                <a:t>！"</a:t>
              </a:r>
            </a:p>
            <a:p>
              <a:endParaRPr lang="en-US">
                <a:ea typeface="Microsoft YaHei" panose="020B0503020204020204" pitchFamily="34" charset="-122"/>
              </a:endParaRPr>
            </a:p>
          </p:txBody>
        </p:sp>
        <p:sp>
          <p:nvSpPr>
            <p:cNvPr id="108" name="Rounded Rectangle 30">
              <a:extLst>
                <a:ext uri="{FF2B5EF4-FFF2-40B4-BE49-F238E27FC236}">
                  <a16:creationId xmlns:a16="http://schemas.microsoft.com/office/drawing/2014/main" id="{E079D035-AABB-443A-8269-BE4E37837CFB}"/>
                </a:ext>
              </a:extLst>
            </p:cNvPr>
            <p:cNvSpPr>
              <a:spLocks noChangeArrowheads="1"/>
            </p:cNvSpPr>
            <p:nvPr/>
          </p:nvSpPr>
          <p:spPr bwMode="auto">
            <a:xfrm>
              <a:off x="8157565" y="3178309"/>
              <a:ext cx="3317778" cy="409105"/>
            </a:xfrm>
            <a:prstGeom prst="roundRect">
              <a:avLst>
                <a:gd name="adj" fmla="val 50000"/>
              </a:avLst>
            </a:prstGeom>
            <a:solidFill>
              <a:schemeClr val="bg1">
                <a:lumMod val="85000"/>
              </a:schemeClr>
            </a:solidFill>
            <a:ln>
              <a:noFill/>
            </a:ln>
          </p:spPr>
          <p:txBody>
            <a:bodyPr vert="horz" wrap="square" lIns="45720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600" b="1" err="1">
                  <a:solidFill>
                    <a:srgbClr val="670F31"/>
                  </a:solidFill>
                  <a:ea typeface="Microsoft YaHei" panose="020B0503020204020204" pitchFamily="34" charset="-122"/>
                </a:rPr>
                <a:t>第三方優惠</a:t>
              </a:r>
              <a:endParaRPr lang="en-US" sz="1600" b="1">
                <a:solidFill>
                  <a:srgbClr val="295E7E"/>
                </a:solidFill>
                <a:ea typeface="Microsoft YaHei" panose="020B0503020204020204" pitchFamily="34" charset="-122"/>
              </a:endParaRPr>
            </a:p>
          </p:txBody>
        </p:sp>
        <p:sp>
          <p:nvSpPr>
            <p:cNvPr id="110" name="Freeform 29">
              <a:extLst>
                <a:ext uri="{FF2B5EF4-FFF2-40B4-BE49-F238E27FC236}">
                  <a16:creationId xmlns:a16="http://schemas.microsoft.com/office/drawing/2014/main" id="{A2304356-D8B4-482B-AE10-2E1E63B4C63C}"/>
                </a:ext>
              </a:extLst>
            </p:cNvPr>
            <p:cNvSpPr>
              <a:spLocks/>
            </p:cNvSpPr>
            <p:nvPr/>
          </p:nvSpPr>
          <p:spPr bwMode="auto">
            <a:xfrm>
              <a:off x="8583897" y="3106286"/>
              <a:ext cx="96170" cy="79441"/>
            </a:xfrm>
            <a:custGeom>
              <a:avLst/>
              <a:gdLst>
                <a:gd name="T0" fmla="*/ 95 w 95"/>
                <a:gd name="T1" fmla="*/ 51 h 51"/>
                <a:gd name="T2" fmla="*/ 0 w 95"/>
                <a:gd name="T3" fmla="*/ 51 h 51"/>
                <a:gd name="T4" fmla="*/ 39 w 95"/>
                <a:gd name="T5" fmla="*/ 0 h 51"/>
                <a:gd name="T6" fmla="*/ 95 w 95"/>
                <a:gd name="T7" fmla="*/ 51 h 51"/>
              </a:gdLst>
              <a:ahLst/>
              <a:cxnLst>
                <a:cxn ang="0">
                  <a:pos x="T0" y="T1"/>
                </a:cxn>
                <a:cxn ang="0">
                  <a:pos x="T2" y="T3"/>
                </a:cxn>
                <a:cxn ang="0">
                  <a:pos x="T4" y="T5"/>
                </a:cxn>
                <a:cxn ang="0">
                  <a:pos x="T6" y="T7"/>
                </a:cxn>
              </a:cxnLst>
              <a:rect l="0" t="0" r="r" b="b"/>
              <a:pathLst>
                <a:path w="95" h="51">
                  <a:moveTo>
                    <a:pt x="95" y="51"/>
                  </a:moveTo>
                  <a:lnTo>
                    <a:pt x="0" y="51"/>
                  </a:lnTo>
                  <a:lnTo>
                    <a:pt x="39" y="0"/>
                  </a:lnTo>
                  <a:lnTo>
                    <a:pt x="95" y="51"/>
                  </a:ln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rgbClr val="000000"/>
                </a:solidFill>
                <a:latin typeface="Trebuchet MS" panose="020B0603020202020204" pitchFamily="34" charset="0"/>
                <a:ea typeface="Microsoft YaHei" panose="020B0503020204020204" pitchFamily="34" charset="-122"/>
                <a:sym typeface="Trebuchet MS" panose="020B0603020202020204" pitchFamily="34" charset="0"/>
              </a:endParaRPr>
            </a:p>
          </p:txBody>
        </p:sp>
        <p:grpSp>
          <p:nvGrpSpPr>
            <p:cNvPr id="155" name="Group 154">
              <a:extLst>
                <a:ext uri="{FF2B5EF4-FFF2-40B4-BE49-F238E27FC236}">
                  <a16:creationId xmlns:a16="http://schemas.microsoft.com/office/drawing/2014/main" id="{BBD5606E-01B9-4287-B52D-0E93111EAC87}"/>
                </a:ext>
              </a:extLst>
            </p:cNvPr>
            <p:cNvGrpSpPr>
              <a:grpSpLocks noChangeAspect="1"/>
            </p:cNvGrpSpPr>
            <p:nvPr/>
          </p:nvGrpSpPr>
          <p:grpSpPr>
            <a:xfrm>
              <a:off x="8005889" y="3144462"/>
              <a:ext cx="418138" cy="418138"/>
              <a:chOff x="5273675" y="2606675"/>
              <a:chExt cx="1644650" cy="1644650"/>
            </a:xfrm>
          </p:grpSpPr>
          <p:sp>
            <p:nvSpPr>
              <p:cNvPr id="156" name="AutoShape 16">
                <a:extLst>
                  <a:ext uri="{FF2B5EF4-FFF2-40B4-BE49-F238E27FC236}">
                    <a16:creationId xmlns:a16="http://schemas.microsoft.com/office/drawing/2014/main" id="{02F871B3-FB3E-4A09-9375-930572392CCE}"/>
                  </a:ext>
                </a:extLst>
              </p:cNvPr>
              <p:cNvSpPr>
                <a:spLocks noChangeAspect="1" noChangeArrowheads="1" noTextEdit="1"/>
              </p:cNvSpPr>
              <p:nvPr/>
            </p:nvSpPr>
            <p:spPr bwMode="auto">
              <a:xfrm>
                <a:off x="5273675" y="2606675"/>
                <a:ext cx="1644650"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5837" tIns="32918" rIns="65837" bIns="32918" numCol="1" anchor="t" anchorCtr="0" compatLnSpc="1">
                <a:prstTxWarp prst="textNoShape">
                  <a:avLst/>
                </a:prstTxWarp>
              </a:bodyPr>
              <a:lstStyle/>
              <a:p>
                <a:endParaRPr lang="en-US"/>
              </a:p>
            </p:txBody>
          </p:sp>
          <p:grpSp>
            <p:nvGrpSpPr>
              <p:cNvPr id="157" name="Group 156">
                <a:extLst>
                  <a:ext uri="{FF2B5EF4-FFF2-40B4-BE49-F238E27FC236}">
                    <a16:creationId xmlns:a16="http://schemas.microsoft.com/office/drawing/2014/main" id="{4616147B-312A-4144-A348-20368F6BBA41}"/>
                  </a:ext>
                </a:extLst>
              </p:cNvPr>
              <p:cNvGrpSpPr/>
              <p:nvPr/>
            </p:nvGrpSpPr>
            <p:grpSpPr>
              <a:xfrm>
                <a:off x="5544501" y="2878138"/>
                <a:ext cx="1102998" cy="1101725"/>
                <a:chOff x="5544501" y="2878138"/>
                <a:chExt cx="1102998" cy="1101725"/>
              </a:xfrm>
            </p:grpSpPr>
            <p:sp>
              <p:nvSpPr>
                <p:cNvPr id="158" name="Freeform 39">
                  <a:extLst>
                    <a:ext uri="{FF2B5EF4-FFF2-40B4-BE49-F238E27FC236}">
                      <a16:creationId xmlns:a16="http://schemas.microsoft.com/office/drawing/2014/main" id="{BD9D4132-6A4D-4B8C-B1B9-2D950717ED4E}"/>
                    </a:ext>
                  </a:extLst>
                </p:cNvPr>
                <p:cNvSpPr>
                  <a:spLocks/>
                </p:cNvSpPr>
                <p:nvPr/>
              </p:nvSpPr>
              <p:spPr bwMode="auto">
                <a:xfrm>
                  <a:off x="5544501" y="2878138"/>
                  <a:ext cx="1102998" cy="1101725"/>
                </a:xfrm>
                <a:custGeom>
                  <a:avLst/>
                  <a:gdLst>
                    <a:gd name="connsiteX0" fmla="*/ 995289 w 1102998"/>
                    <a:gd name="connsiteY0" fmla="*/ 920750 h 1101725"/>
                    <a:gd name="connsiteX1" fmla="*/ 942705 w 1102998"/>
                    <a:gd name="connsiteY1" fmla="*/ 942170 h 1101725"/>
                    <a:gd name="connsiteX2" fmla="*/ 921387 w 1102998"/>
                    <a:gd name="connsiteY2" fmla="*/ 995006 h 1101725"/>
                    <a:gd name="connsiteX3" fmla="*/ 943416 w 1102998"/>
                    <a:gd name="connsiteY3" fmla="*/ 1048555 h 1101725"/>
                    <a:gd name="connsiteX4" fmla="*/ 996000 w 1102998"/>
                    <a:gd name="connsiteY4" fmla="*/ 1069975 h 1101725"/>
                    <a:gd name="connsiteX5" fmla="*/ 1049294 w 1102998"/>
                    <a:gd name="connsiteY5" fmla="*/ 1049269 h 1101725"/>
                    <a:gd name="connsiteX6" fmla="*/ 1070612 w 1102998"/>
                    <a:gd name="connsiteY6" fmla="*/ 995720 h 1101725"/>
                    <a:gd name="connsiteX7" fmla="*/ 1048584 w 1102998"/>
                    <a:gd name="connsiteY7" fmla="*/ 942884 h 1101725"/>
                    <a:gd name="connsiteX8" fmla="*/ 995289 w 1102998"/>
                    <a:gd name="connsiteY8" fmla="*/ 920750 h 1101725"/>
                    <a:gd name="connsiteX9" fmla="*/ 107710 w 1102998"/>
                    <a:gd name="connsiteY9" fmla="*/ 920750 h 1101725"/>
                    <a:gd name="connsiteX10" fmla="*/ 54416 w 1102998"/>
                    <a:gd name="connsiteY10" fmla="*/ 942884 h 1101725"/>
                    <a:gd name="connsiteX11" fmla="*/ 32387 w 1102998"/>
                    <a:gd name="connsiteY11" fmla="*/ 995720 h 1101725"/>
                    <a:gd name="connsiteX12" fmla="*/ 53705 w 1102998"/>
                    <a:gd name="connsiteY12" fmla="*/ 1049269 h 1101725"/>
                    <a:gd name="connsiteX13" fmla="*/ 107000 w 1102998"/>
                    <a:gd name="connsiteY13" fmla="*/ 1069975 h 1101725"/>
                    <a:gd name="connsiteX14" fmla="*/ 159584 w 1102998"/>
                    <a:gd name="connsiteY14" fmla="*/ 1048555 h 1101725"/>
                    <a:gd name="connsiteX15" fmla="*/ 181612 w 1102998"/>
                    <a:gd name="connsiteY15" fmla="*/ 995006 h 1101725"/>
                    <a:gd name="connsiteX16" fmla="*/ 160294 w 1102998"/>
                    <a:gd name="connsiteY16" fmla="*/ 942170 h 1101725"/>
                    <a:gd name="connsiteX17" fmla="*/ 107710 w 1102998"/>
                    <a:gd name="connsiteY17" fmla="*/ 920750 h 1101725"/>
                    <a:gd name="connsiteX18" fmla="*/ 995283 w 1102998"/>
                    <a:gd name="connsiteY18" fmla="*/ 890587 h 1101725"/>
                    <a:gd name="connsiteX19" fmla="*/ 1071212 w 1102998"/>
                    <a:gd name="connsiteY19" fmla="*/ 920546 h 1101725"/>
                    <a:gd name="connsiteX20" fmla="*/ 1071928 w 1102998"/>
                    <a:gd name="connsiteY20" fmla="*/ 1071053 h 1101725"/>
                    <a:gd name="connsiteX21" fmla="*/ 995999 w 1102998"/>
                    <a:gd name="connsiteY21" fmla="*/ 1101725 h 1101725"/>
                    <a:gd name="connsiteX22" fmla="*/ 920070 w 1102998"/>
                    <a:gd name="connsiteY22" fmla="*/ 1070340 h 1101725"/>
                    <a:gd name="connsiteX23" fmla="*/ 920070 w 1102998"/>
                    <a:gd name="connsiteY23" fmla="*/ 920546 h 1101725"/>
                    <a:gd name="connsiteX24" fmla="*/ 995283 w 1102998"/>
                    <a:gd name="connsiteY24" fmla="*/ 890587 h 1101725"/>
                    <a:gd name="connsiteX25" fmla="*/ 107716 w 1102998"/>
                    <a:gd name="connsiteY25" fmla="*/ 890587 h 1101725"/>
                    <a:gd name="connsiteX26" fmla="*/ 182928 w 1102998"/>
                    <a:gd name="connsiteY26" fmla="*/ 920546 h 1101725"/>
                    <a:gd name="connsiteX27" fmla="*/ 182928 w 1102998"/>
                    <a:gd name="connsiteY27" fmla="*/ 1070340 h 1101725"/>
                    <a:gd name="connsiteX28" fmla="*/ 106999 w 1102998"/>
                    <a:gd name="connsiteY28" fmla="*/ 1101725 h 1101725"/>
                    <a:gd name="connsiteX29" fmla="*/ 31070 w 1102998"/>
                    <a:gd name="connsiteY29" fmla="*/ 1071053 h 1101725"/>
                    <a:gd name="connsiteX30" fmla="*/ 31787 w 1102998"/>
                    <a:gd name="connsiteY30" fmla="*/ 920546 h 1101725"/>
                    <a:gd name="connsiteX31" fmla="*/ 107716 w 1102998"/>
                    <a:gd name="connsiteY31" fmla="*/ 890587 h 1101725"/>
                    <a:gd name="connsiteX32" fmla="*/ 550733 w 1102998"/>
                    <a:gd name="connsiteY32" fmla="*/ 323850 h 1101725"/>
                    <a:gd name="connsiteX33" fmla="*/ 395182 w 1102998"/>
                    <a:gd name="connsiteY33" fmla="*/ 387585 h 1101725"/>
                    <a:gd name="connsiteX34" fmla="*/ 392328 w 1102998"/>
                    <a:gd name="connsiteY34" fmla="*/ 390450 h 1101725"/>
                    <a:gd name="connsiteX35" fmla="*/ 389474 w 1102998"/>
                    <a:gd name="connsiteY35" fmla="*/ 393315 h 1101725"/>
                    <a:gd name="connsiteX36" fmla="*/ 392328 w 1102998"/>
                    <a:gd name="connsiteY36" fmla="*/ 710559 h 1101725"/>
                    <a:gd name="connsiteX37" fmla="*/ 392328 w 1102998"/>
                    <a:gd name="connsiteY37" fmla="*/ 711275 h 1101725"/>
                    <a:gd name="connsiteX38" fmla="*/ 393041 w 1102998"/>
                    <a:gd name="connsiteY38" fmla="*/ 711275 h 1101725"/>
                    <a:gd name="connsiteX39" fmla="*/ 552160 w 1102998"/>
                    <a:gd name="connsiteY39" fmla="*/ 777875 h 1101725"/>
                    <a:gd name="connsiteX40" fmla="*/ 707711 w 1102998"/>
                    <a:gd name="connsiteY40" fmla="*/ 714140 h 1101725"/>
                    <a:gd name="connsiteX41" fmla="*/ 710565 w 1102998"/>
                    <a:gd name="connsiteY41" fmla="*/ 711275 h 1101725"/>
                    <a:gd name="connsiteX42" fmla="*/ 713419 w 1102998"/>
                    <a:gd name="connsiteY42" fmla="*/ 708411 h 1101725"/>
                    <a:gd name="connsiteX43" fmla="*/ 776924 w 1102998"/>
                    <a:gd name="connsiteY43" fmla="*/ 550863 h 1101725"/>
                    <a:gd name="connsiteX44" fmla="*/ 710565 w 1102998"/>
                    <a:gd name="connsiteY44" fmla="*/ 391166 h 1101725"/>
                    <a:gd name="connsiteX45" fmla="*/ 710565 w 1102998"/>
                    <a:gd name="connsiteY45" fmla="*/ 390450 h 1101725"/>
                    <a:gd name="connsiteX46" fmla="*/ 709852 w 1102998"/>
                    <a:gd name="connsiteY46" fmla="*/ 390450 h 1101725"/>
                    <a:gd name="connsiteX47" fmla="*/ 550733 w 1102998"/>
                    <a:gd name="connsiteY47" fmla="*/ 323850 h 1101725"/>
                    <a:gd name="connsiteX48" fmla="*/ 211227 w 1102998"/>
                    <a:gd name="connsiteY48" fmla="*/ 198437 h 1101725"/>
                    <a:gd name="connsiteX49" fmla="*/ 211942 w 1102998"/>
                    <a:gd name="connsiteY49" fmla="*/ 198437 h 1101725"/>
                    <a:gd name="connsiteX50" fmla="*/ 214086 w 1102998"/>
                    <a:gd name="connsiteY50" fmla="*/ 198437 h 1101725"/>
                    <a:gd name="connsiteX51" fmla="*/ 214801 w 1102998"/>
                    <a:gd name="connsiteY51" fmla="*/ 198437 h 1101725"/>
                    <a:gd name="connsiteX52" fmla="*/ 215516 w 1102998"/>
                    <a:gd name="connsiteY52" fmla="*/ 198437 h 1101725"/>
                    <a:gd name="connsiteX53" fmla="*/ 314166 w 1102998"/>
                    <a:gd name="connsiteY53" fmla="*/ 206285 h 1101725"/>
                    <a:gd name="connsiteX54" fmla="*/ 329178 w 1102998"/>
                    <a:gd name="connsiteY54" fmla="*/ 222693 h 1101725"/>
                    <a:gd name="connsiteX55" fmla="*/ 312022 w 1102998"/>
                    <a:gd name="connsiteY55" fmla="*/ 237675 h 1101725"/>
                    <a:gd name="connsiteX56" fmla="*/ 255548 w 1102998"/>
                    <a:gd name="connsiteY56" fmla="*/ 232681 h 1101725"/>
                    <a:gd name="connsiteX57" fmla="*/ 381363 w 1102998"/>
                    <a:gd name="connsiteY57" fmla="*/ 357528 h 1101725"/>
                    <a:gd name="connsiteX58" fmla="*/ 550784 w 1102998"/>
                    <a:gd name="connsiteY58" fmla="*/ 293321 h 1101725"/>
                    <a:gd name="connsiteX59" fmla="*/ 721635 w 1102998"/>
                    <a:gd name="connsiteY59" fmla="*/ 358241 h 1101725"/>
                    <a:gd name="connsiteX60" fmla="*/ 847450 w 1102998"/>
                    <a:gd name="connsiteY60" fmla="*/ 232681 h 1101725"/>
                    <a:gd name="connsiteX61" fmla="*/ 790977 w 1102998"/>
                    <a:gd name="connsiteY61" fmla="*/ 237675 h 1101725"/>
                    <a:gd name="connsiteX62" fmla="*/ 773820 w 1102998"/>
                    <a:gd name="connsiteY62" fmla="*/ 222693 h 1101725"/>
                    <a:gd name="connsiteX63" fmla="*/ 788832 w 1102998"/>
                    <a:gd name="connsiteY63" fmla="*/ 206285 h 1101725"/>
                    <a:gd name="connsiteX64" fmla="*/ 887482 w 1102998"/>
                    <a:gd name="connsiteY64" fmla="*/ 198437 h 1101725"/>
                    <a:gd name="connsiteX65" fmla="*/ 888197 w 1102998"/>
                    <a:gd name="connsiteY65" fmla="*/ 198437 h 1101725"/>
                    <a:gd name="connsiteX66" fmla="*/ 888912 w 1102998"/>
                    <a:gd name="connsiteY66" fmla="*/ 198437 h 1101725"/>
                    <a:gd name="connsiteX67" fmla="*/ 891057 w 1102998"/>
                    <a:gd name="connsiteY67" fmla="*/ 198437 h 1101725"/>
                    <a:gd name="connsiteX68" fmla="*/ 891772 w 1102998"/>
                    <a:gd name="connsiteY68" fmla="*/ 198437 h 1101725"/>
                    <a:gd name="connsiteX69" fmla="*/ 893916 w 1102998"/>
                    <a:gd name="connsiteY69" fmla="*/ 199151 h 1101725"/>
                    <a:gd name="connsiteX70" fmla="*/ 894631 w 1102998"/>
                    <a:gd name="connsiteY70" fmla="*/ 199151 h 1101725"/>
                    <a:gd name="connsiteX71" fmla="*/ 896776 w 1102998"/>
                    <a:gd name="connsiteY71" fmla="*/ 200577 h 1101725"/>
                    <a:gd name="connsiteX72" fmla="*/ 897490 w 1102998"/>
                    <a:gd name="connsiteY72" fmla="*/ 201291 h 1101725"/>
                    <a:gd name="connsiteX73" fmla="*/ 899635 w 1102998"/>
                    <a:gd name="connsiteY73" fmla="*/ 202718 h 1101725"/>
                    <a:gd name="connsiteX74" fmla="*/ 901780 w 1102998"/>
                    <a:gd name="connsiteY74" fmla="*/ 204858 h 1101725"/>
                    <a:gd name="connsiteX75" fmla="*/ 901780 w 1102998"/>
                    <a:gd name="connsiteY75" fmla="*/ 205571 h 1101725"/>
                    <a:gd name="connsiteX76" fmla="*/ 903209 w 1102998"/>
                    <a:gd name="connsiteY76" fmla="*/ 207711 h 1101725"/>
                    <a:gd name="connsiteX77" fmla="*/ 903209 w 1102998"/>
                    <a:gd name="connsiteY77" fmla="*/ 208425 h 1101725"/>
                    <a:gd name="connsiteX78" fmla="*/ 903924 w 1102998"/>
                    <a:gd name="connsiteY78" fmla="*/ 210565 h 1101725"/>
                    <a:gd name="connsiteX79" fmla="*/ 903924 w 1102998"/>
                    <a:gd name="connsiteY79" fmla="*/ 211279 h 1101725"/>
                    <a:gd name="connsiteX80" fmla="*/ 903924 w 1102998"/>
                    <a:gd name="connsiteY80" fmla="*/ 213419 h 1101725"/>
                    <a:gd name="connsiteX81" fmla="*/ 903924 w 1102998"/>
                    <a:gd name="connsiteY81" fmla="*/ 214132 h 1101725"/>
                    <a:gd name="connsiteX82" fmla="*/ 903924 w 1102998"/>
                    <a:gd name="connsiteY82" fmla="*/ 214846 h 1101725"/>
                    <a:gd name="connsiteX83" fmla="*/ 896061 w 1102998"/>
                    <a:gd name="connsiteY83" fmla="*/ 313296 h 1101725"/>
                    <a:gd name="connsiteX84" fmla="*/ 880334 w 1102998"/>
                    <a:gd name="connsiteY84" fmla="*/ 328278 h 1101725"/>
                    <a:gd name="connsiteX85" fmla="*/ 879619 w 1102998"/>
                    <a:gd name="connsiteY85" fmla="*/ 328278 h 1101725"/>
                    <a:gd name="connsiteX86" fmla="*/ 864607 w 1102998"/>
                    <a:gd name="connsiteY86" fmla="*/ 311156 h 1101725"/>
                    <a:gd name="connsiteX87" fmla="*/ 869611 w 1102998"/>
                    <a:gd name="connsiteY87" fmla="*/ 254797 h 1101725"/>
                    <a:gd name="connsiteX88" fmla="*/ 743796 w 1102998"/>
                    <a:gd name="connsiteY88" fmla="*/ 380357 h 1101725"/>
                    <a:gd name="connsiteX89" fmla="*/ 744511 w 1102998"/>
                    <a:gd name="connsiteY89" fmla="*/ 721367 h 1101725"/>
                    <a:gd name="connsiteX90" fmla="*/ 869611 w 1102998"/>
                    <a:gd name="connsiteY90" fmla="*/ 846928 h 1101725"/>
                    <a:gd name="connsiteX91" fmla="*/ 864607 w 1102998"/>
                    <a:gd name="connsiteY91" fmla="*/ 790568 h 1101725"/>
                    <a:gd name="connsiteX92" fmla="*/ 879619 w 1102998"/>
                    <a:gd name="connsiteY92" fmla="*/ 773446 h 1101725"/>
                    <a:gd name="connsiteX93" fmla="*/ 896061 w 1102998"/>
                    <a:gd name="connsiteY93" fmla="*/ 788428 h 1101725"/>
                    <a:gd name="connsiteX94" fmla="*/ 903924 w 1102998"/>
                    <a:gd name="connsiteY94" fmla="*/ 886879 h 1101725"/>
                    <a:gd name="connsiteX95" fmla="*/ 903924 w 1102998"/>
                    <a:gd name="connsiteY95" fmla="*/ 887592 h 1101725"/>
                    <a:gd name="connsiteX96" fmla="*/ 903924 w 1102998"/>
                    <a:gd name="connsiteY96" fmla="*/ 888306 h 1101725"/>
                    <a:gd name="connsiteX97" fmla="*/ 903924 w 1102998"/>
                    <a:gd name="connsiteY97" fmla="*/ 890446 h 1101725"/>
                    <a:gd name="connsiteX98" fmla="*/ 903924 w 1102998"/>
                    <a:gd name="connsiteY98" fmla="*/ 891159 h 1101725"/>
                    <a:gd name="connsiteX99" fmla="*/ 903209 w 1102998"/>
                    <a:gd name="connsiteY99" fmla="*/ 893299 h 1101725"/>
                    <a:gd name="connsiteX100" fmla="*/ 903209 w 1102998"/>
                    <a:gd name="connsiteY100" fmla="*/ 894013 h 1101725"/>
                    <a:gd name="connsiteX101" fmla="*/ 901780 w 1102998"/>
                    <a:gd name="connsiteY101" fmla="*/ 896153 h 1101725"/>
                    <a:gd name="connsiteX102" fmla="*/ 901780 w 1102998"/>
                    <a:gd name="connsiteY102" fmla="*/ 896866 h 1101725"/>
                    <a:gd name="connsiteX103" fmla="*/ 899635 w 1102998"/>
                    <a:gd name="connsiteY103" fmla="*/ 899007 h 1101725"/>
                    <a:gd name="connsiteX104" fmla="*/ 897490 w 1102998"/>
                    <a:gd name="connsiteY104" fmla="*/ 901147 h 1101725"/>
                    <a:gd name="connsiteX105" fmla="*/ 895346 w 1102998"/>
                    <a:gd name="connsiteY105" fmla="*/ 901860 h 1101725"/>
                    <a:gd name="connsiteX106" fmla="*/ 894631 w 1102998"/>
                    <a:gd name="connsiteY106" fmla="*/ 902574 h 1101725"/>
                    <a:gd name="connsiteX107" fmla="*/ 892486 w 1102998"/>
                    <a:gd name="connsiteY107" fmla="*/ 903287 h 1101725"/>
                    <a:gd name="connsiteX108" fmla="*/ 891772 w 1102998"/>
                    <a:gd name="connsiteY108" fmla="*/ 903287 h 1101725"/>
                    <a:gd name="connsiteX109" fmla="*/ 888197 w 1102998"/>
                    <a:gd name="connsiteY109" fmla="*/ 903287 h 1101725"/>
                    <a:gd name="connsiteX110" fmla="*/ 887482 w 1102998"/>
                    <a:gd name="connsiteY110" fmla="*/ 903287 h 1101725"/>
                    <a:gd name="connsiteX111" fmla="*/ 788832 w 1102998"/>
                    <a:gd name="connsiteY111" fmla="*/ 895440 h 1101725"/>
                    <a:gd name="connsiteX112" fmla="*/ 773820 w 1102998"/>
                    <a:gd name="connsiteY112" fmla="*/ 879031 h 1101725"/>
                    <a:gd name="connsiteX113" fmla="*/ 790977 w 1102998"/>
                    <a:gd name="connsiteY113" fmla="*/ 864050 h 1101725"/>
                    <a:gd name="connsiteX114" fmla="*/ 847450 w 1102998"/>
                    <a:gd name="connsiteY114" fmla="*/ 869043 h 1101725"/>
                    <a:gd name="connsiteX115" fmla="*/ 721635 w 1102998"/>
                    <a:gd name="connsiteY115" fmla="*/ 744197 h 1101725"/>
                    <a:gd name="connsiteX116" fmla="*/ 552214 w 1102998"/>
                    <a:gd name="connsiteY116" fmla="*/ 808404 h 1101725"/>
                    <a:gd name="connsiteX117" fmla="*/ 381363 w 1102998"/>
                    <a:gd name="connsiteY117" fmla="*/ 743483 h 1101725"/>
                    <a:gd name="connsiteX118" fmla="*/ 255548 w 1102998"/>
                    <a:gd name="connsiteY118" fmla="*/ 869043 h 1101725"/>
                    <a:gd name="connsiteX119" fmla="*/ 312022 w 1102998"/>
                    <a:gd name="connsiteY119" fmla="*/ 864050 h 1101725"/>
                    <a:gd name="connsiteX120" fmla="*/ 329178 w 1102998"/>
                    <a:gd name="connsiteY120" fmla="*/ 879031 h 1101725"/>
                    <a:gd name="connsiteX121" fmla="*/ 314166 w 1102998"/>
                    <a:gd name="connsiteY121" fmla="*/ 895440 h 1101725"/>
                    <a:gd name="connsiteX122" fmla="*/ 215516 w 1102998"/>
                    <a:gd name="connsiteY122" fmla="*/ 903287 h 1101725"/>
                    <a:gd name="connsiteX123" fmla="*/ 214801 w 1102998"/>
                    <a:gd name="connsiteY123" fmla="*/ 903287 h 1101725"/>
                    <a:gd name="connsiteX124" fmla="*/ 211227 w 1102998"/>
                    <a:gd name="connsiteY124" fmla="*/ 903287 h 1101725"/>
                    <a:gd name="connsiteX125" fmla="*/ 210512 w 1102998"/>
                    <a:gd name="connsiteY125" fmla="*/ 903287 h 1101725"/>
                    <a:gd name="connsiteX126" fmla="*/ 208367 w 1102998"/>
                    <a:gd name="connsiteY126" fmla="*/ 902574 h 1101725"/>
                    <a:gd name="connsiteX127" fmla="*/ 207653 w 1102998"/>
                    <a:gd name="connsiteY127" fmla="*/ 901860 h 1101725"/>
                    <a:gd name="connsiteX128" fmla="*/ 205508 w 1102998"/>
                    <a:gd name="connsiteY128" fmla="*/ 901147 h 1101725"/>
                    <a:gd name="connsiteX129" fmla="*/ 203363 w 1102998"/>
                    <a:gd name="connsiteY129" fmla="*/ 899007 h 1101725"/>
                    <a:gd name="connsiteX130" fmla="*/ 201219 w 1102998"/>
                    <a:gd name="connsiteY130" fmla="*/ 896866 h 1101725"/>
                    <a:gd name="connsiteX131" fmla="*/ 201219 w 1102998"/>
                    <a:gd name="connsiteY131" fmla="*/ 896153 h 1101725"/>
                    <a:gd name="connsiteX132" fmla="*/ 199789 w 1102998"/>
                    <a:gd name="connsiteY132" fmla="*/ 894013 h 1101725"/>
                    <a:gd name="connsiteX133" fmla="*/ 199789 w 1102998"/>
                    <a:gd name="connsiteY133" fmla="*/ 893299 h 1101725"/>
                    <a:gd name="connsiteX134" fmla="*/ 199074 w 1102998"/>
                    <a:gd name="connsiteY134" fmla="*/ 891159 h 1101725"/>
                    <a:gd name="connsiteX135" fmla="*/ 199074 w 1102998"/>
                    <a:gd name="connsiteY135" fmla="*/ 890446 h 1101725"/>
                    <a:gd name="connsiteX136" fmla="*/ 199074 w 1102998"/>
                    <a:gd name="connsiteY136" fmla="*/ 888306 h 1101725"/>
                    <a:gd name="connsiteX137" fmla="*/ 199074 w 1102998"/>
                    <a:gd name="connsiteY137" fmla="*/ 887592 h 1101725"/>
                    <a:gd name="connsiteX138" fmla="*/ 199074 w 1102998"/>
                    <a:gd name="connsiteY138" fmla="*/ 886879 h 1101725"/>
                    <a:gd name="connsiteX139" fmla="*/ 206938 w 1102998"/>
                    <a:gd name="connsiteY139" fmla="*/ 788428 h 1101725"/>
                    <a:gd name="connsiteX140" fmla="*/ 223379 w 1102998"/>
                    <a:gd name="connsiteY140" fmla="*/ 773446 h 1101725"/>
                    <a:gd name="connsiteX141" fmla="*/ 238391 w 1102998"/>
                    <a:gd name="connsiteY141" fmla="*/ 790568 h 1101725"/>
                    <a:gd name="connsiteX142" fmla="*/ 233387 w 1102998"/>
                    <a:gd name="connsiteY142" fmla="*/ 846928 h 1101725"/>
                    <a:gd name="connsiteX143" fmla="*/ 359202 w 1102998"/>
                    <a:gd name="connsiteY143" fmla="*/ 721367 h 1101725"/>
                    <a:gd name="connsiteX144" fmla="*/ 358488 w 1102998"/>
                    <a:gd name="connsiteY144" fmla="*/ 380357 h 1101725"/>
                    <a:gd name="connsiteX145" fmla="*/ 233387 w 1102998"/>
                    <a:gd name="connsiteY145" fmla="*/ 254797 h 1101725"/>
                    <a:gd name="connsiteX146" fmla="*/ 238391 w 1102998"/>
                    <a:gd name="connsiteY146" fmla="*/ 311156 h 1101725"/>
                    <a:gd name="connsiteX147" fmla="*/ 223379 w 1102998"/>
                    <a:gd name="connsiteY147" fmla="*/ 328278 h 1101725"/>
                    <a:gd name="connsiteX148" fmla="*/ 222665 w 1102998"/>
                    <a:gd name="connsiteY148" fmla="*/ 328278 h 1101725"/>
                    <a:gd name="connsiteX149" fmla="*/ 206938 w 1102998"/>
                    <a:gd name="connsiteY149" fmla="*/ 313296 h 1101725"/>
                    <a:gd name="connsiteX150" fmla="*/ 199074 w 1102998"/>
                    <a:gd name="connsiteY150" fmla="*/ 214846 h 1101725"/>
                    <a:gd name="connsiteX151" fmla="*/ 199074 w 1102998"/>
                    <a:gd name="connsiteY151" fmla="*/ 214132 h 1101725"/>
                    <a:gd name="connsiteX152" fmla="*/ 199074 w 1102998"/>
                    <a:gd name="connsiteY152" fmla="*/ 213419 h 1101725"/>
                    <a:gd name="connsiteX153" fmla="*/ 199074 w 1102998"/>
                    <a:gd name="connsiteY153" fmla="*/ 211279 h 1101725"/>
                    <a:gd name="connsiteX154" fmla="*/ 199074 w 1102998"/>
                    <a:gd name="connsiteY154" fmla="*/ 210565 h 1101725"/>
                    <a:gd name="connsiteX155" fmla="*/ 199789 w 1102998"/>
                    <a:gd name="connsiteY155" fmla="*/ 208425 h 1101725"/>
                    <a:gd name="connsiteX156" fmla="*/ 199789 w 1102998"/>
                    <a:gd name="connsiteY156" fmla="*/ 207711 h 1101725"/>
                    <a:gd name="connsiteX157" fmla="*/ 201219 w 1102998"/>
                    <a:gd name="connsiteY157" fmla="*/ 205571 h 1101725"/>
                    <a:gd name="connsiteX158" fmla="*/ 201219 w 1102998"/>
                    <a:gd name="connsiteY158" fmla="*/ 204858 h 1101725"/>
                    <a:gd name="connsiteX159" fmla="*/ 203363 w 1102998"/>
                    <a:gd name="connsiteY159" fmla="*/ 202718 h 1101725"/>
                    <a:gd name="connsiteX160" fmla="*/ 205508 w 1102998"/>
                    <a:gd name="connsiteY160" fmla="*/ 201291 h 1101725"/>
                    <a:gd name="connsiteX161" fmla="*/ 206223 w 1102998"/>
                    <a:gd name="connsiteY161" fmla="*/ 200577 h 1101725"/>
                    <a:gd name="connsiteX162" fmla="*/ 208367 w 1102998"/>
                    <a:gd name="connsiteY162" fmla="*/ 199864 h 1101725"/>
                    <a:gd name="connsiteX163" fmla="*/ 209082 w 1102998"/>
                    <a:gd name="connsiteY163" fmla="*/ 199151 h 1101725"/>
                    <a:gd name="connsiteX164" fmla="*/ 211227 w 1102998"/>
                    <a:gd name="connsiteY164" fmla="*/ 198437 h 1101725"/>
                    <a:gd name="connsiteX165" fmla="*/ 996000 w 1102998"/>
                    <a:gd name="connsiteY165" fmla="*/ 31750 h 1101725"/>
                    <a:gd name="connsiteX166" fmla="*/ 943416 w 1102998"/>
                    <a:gd name="connsiteY166" fmla="*/ 53779 h 1101725"/>
                    <a:gd name="connsiteX167" fmla="*/ 921387 w 1102998"/>
                    <a:gd name="connsiteY167" fmla="*/ 106363 h 1101725"/>
                    <a:gd name="connsiteX168" fmla="*/ 942705 w 1102998"/>
                    <a:gd name="connsiteY168" fmla="*/ 159657 h 1101725"/>
                    <a:gd name="connsiteX169" fmla="*/ 995289 w 1102998"/>
                    <a:gd name="connsiteY169" fmla="*/ 180975 h 1101725"/>
                    <a:gd name="connsiteX170" fmla="*/ 1048584 w 1102998"/>
                    <a:gd name="connsiteY170" fmla="*/ 158947 h 1101725"/>
                    <a:gd name="connsiteX171" fmla="*/ 1070612 w 1102998"/>
                    <a:gd name="connsiteY171" fmla="*/ 106363 h 1101725"/>
                    <a:gd name="connsiteX172" fmla="*/ 1049294 w 1102998"/>
                    <a:gd name="connsiteY172" fmla="*/ 53068 h 1101725"/>
                    <a:gd name="connsiteX173" fmla="*/ 996000 w 1102998"/>
                    <a:gd name="connsiteY173" fmla="*/ 31750 h 1101725"/>
                    <a:gd name="connsiteX174" fmla="*/ 107000 w 1102998"/>
                    <a:gd name="connsiteY174" fmla="*/ 31750 h 1101725"/>
                    <a:gd name="connsiteX175" fmla="*/ 53705 w 1102998"/>
                    <a:gd name="connsiteY175" fmla="*/ 53068 h 1101725"/>
                    <a:gd name="connsiteX176" fmla="*/ 32387 w 1102998"/>
                    <a:gd name="connsiteY176" fmla="*/ 106363 h 1101725"/>
                    <a:gd name="connsiteX177" fmla="*/ 54416 w 1102998"/>
                    <a:gd name="connsiteY177" fmla="*/ 158947 h 1101725"/>
                    <a:gd name="connsiteX178" fmla="*/ 107710 w 1102998"/>
                    <a:gd name="connsiteY178" fmla="*/ 180975 h 1101725"/>
                    <a:gd name="connsiteX179" fmla="*/ 160294 w 1102998"/>
                    <a:gd name="connsiteY179" fmla="*/ 159657 h 1101725"/>
                    <a:gd name="connsiteX180" fmla="*/ 181612 w 1102998"/>
                    <a:gd name="connsiteY180" fmla="*/ 106363 h 1101725"/>
                    <a:gd name="connsiteX181" fmla="*/ 159584 w 1102998"/>
                    <a:gd name="connsiteY181" fmla="*/ 53779 h 1101725"/>
                    <a:gd name="connsiteX182" fmla="*/ 107000 w 1102998"/>
                    <a:gd name="connsiteY182" fmla="*/ 31750 h 1101725"/>
                    <a:gd name="connsiteX183" fmla="*/ 995999 w 1102998"/>
                    <a:gd name="connsiteY183" fmla="*/ 0 h 1101725"/>
                    <a:gd name="connsiteX184" fmla="*/ 1071928 w 1102998"/>
                    <a:gd name="connsiteY184" fmla="*/ 29959 h 1101725"/>
                    <a:gd name="connsiteX185" fmla="*/ 1071212 w 1102998"/>
                    <a:gd name="connsiteY185" fmla="*/ 181179 h 1101725"/>
                    <a:gd name="connsiteX186" fmla="*/ 995283 w 1102998"/>
                    <a:gd name="connsiteY186" fmla="*/ 211138 h 1101725"/>
                    <a:gd name="connsiteX187" fmla="*/ 920070 w 1102998"/>
                    <a:gd name="connsiteY187" fmla="*/ 181179 h 1101725"/>
                    <a:gd name="connsiteX188" fmla="*/ 920070 w 1102998"/>
                    <a:gd name="connsiteY188" fmla="*/ 30672 h 1101725"/>
                    <a:gd name="connsiteX189" fmla="*/ 995999 w 1102998"/>
                    <a:gd name="connsiteY189" fmla="*/ 0 h 1101725"/>
                    <a:gd name="connsiteX190" fmla="*/ 106999 w 1102998"/>
                    <a:gd name="connsiteY190" fmla="*/ 0 h 1101725"/>
                    <a:gd name="connsiteX191" fmla="*/ 182928 w 1102998"/>
                    <a:gd name="connsiteY191" fmla="*/ 30672 h 1101725"/>
                    <a:gd name="connsiteX192" fmla="*/ 182928 w 1102998"/>
                    <a:gd name="connsiteY192" fmla="*/ 181179 h 1101725"/>
                    <a:gd name="connsiteX193" fmla="*/ 107716 w 1102998"/>
                    <a:gd name="connsiteY193" fmla="*/ 211138 h 1101725"/>
                    <a:gd name="connsiteX194" fmla="*/ 31787 w 1102998"/>
                    <a:gd name="connsiteY194" fmla="*/ 181179 h 1101725"/>
                    <a:gd name="connsiteX195" fmla="*/ 31070 w 1102998"/>
                    <a:gd name="connsiteY195" fmla="*/ 29959 h 1101725"/>
                    <a:gd name="connsiteX196" fmla="*/ 106999 w 1102998"/>
                    <a:gd name="connsiteY196" fmla="*/ 0 h 1101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102998" h="1101725">
                      <a:moveTo>
                        <a:pt x="995289" y="920750"/>
                      </a:moveTo>
                      <a:cubicBezTo>
                        <a:pt x="975392" y="920750"/>
                        <a:pt x="956917" y="928604"/>
                        <a:pt x="942705" y="942170"/>
                      </a:cubicBezTo>
                      <a:cubicBezTo>
                        <a:pt x="928493" y="956450"/>
                        <a:pt x="921387" y="975728"/>
                        <a:pt x="921387" y="995006"/>
                      </a:cubicBezTo>
                      <a:cubicBezTo>
                        <a:pt x="921387" y="1015711"/>
                        <a:pt x="929204" y="1034275"/>
                        <a:pt x="943416" y="1048555"/>
                      </a:cubicBezTo>
                      <a:cubicBezTo>
                        <a:pt x="957628" y="1062835"/>
                        <a:pt x="975392" y="1069975"/>
                        <a:pt x="996000" y="1069975"/>
                      </a:cubicBezTo>
                      <a:cubicBezTo>
                        <a:pt x="1015896" y="1069975"/>
                        <a:pt x="1035082" y="1062835"/>
                        <a:pt x="1049294" y="1049269"/>
                      </a:cubicBezTo>
                      <a:cubicBezTo>
                        <a:pt x="1062796" y="1034989"/>
                        <a:pt x="1070612" y="1015711"/>
                        <a:pt x="1070612" y="995720"/>
                      </a:cubicBezTo>
                      <a:cubicBezTo>
                        <a:pt x="1070612" y="975728"/>
                        <a:pt x="1062796" y="957164"/>
                        <a:pt x="1048584" y="942884"/>
                      </a:cubicBezTo>
                      <a:cubicBezTo>
                        <a:pt x="1034372" y="928604"/>
                        <a:pt x="1015896" y="920750"/>
                        <a:pt x="995289" y="920750"/>
                      </a:cubicBezTo>
                      <a:close/>
                      <a:moveTo>
                        <a:pt x="107710" y="920750"/>
                      </a:moveTo>
                      <a:cubicBezTo>
                        <a:pt x="87103" y="920750"/>
                        <a:pt x="68628" y="928604"/>
                        <a:pt x="54416" y="942884"/>
                      </a:cubicBezTo>
                      <a:cubicBezTo>
                        <a:pt x="40204" y="957164"/>
                        <a:pt x="32387" y="975728"/>
                        <a:pt x="32387" y="995720"/>
                      </a:cubicBezTo>
                      <a:cubicBezTo>
                        <a:pt x="32387" y="1015711"/>
                        <a:pt x="40204" y="1034989"/>
                        <a:pt x="53705" y="1049269"/>
                      </a:cubicBezTo>
                      <a:cubicBezTo>
                        <a:pt x="67917" y="1062835"/>
                        <a:pt x="87103" y="1069975"/>
                        <a:pt x="107000" y="1069975"/>
                      </a:cubicBezTo>
                      <a:cubicBezTo>
                        <a:pt x="127607" y="1069975"/>
                        <a:pt x="145372" y="1062835"/>
                        <a:pt x="159584" y="1048555"/>
                      </a:cubicBezTo>
                      <a:cubicBezTo>
                        <a:pt x="173796" y="1034275"/>
                        <a:pt x="181612" y="1015711"/>
                        <a:pt x="181612" y="995006"/>
                      </a:cubicBezTo>
                      <a:cubicBezTo>
                        <a:pt x="181612" y="975728"/>
                        <a:pt x="174506" y="956450"/>
                        <a:pt x="160294" y="942170"/>
                      </a:cubicBezTo>
                      <a:cubicBezTo>
                        <a:pt x="146082" y="928604"/>
                        <a:pt x="127607" y="920750"/>
                        <a:pt x="107710" y="920750"/>
                      </a:cubicBezTo>
                      <a:close/>
                      <a:moveTo>
                        <a:pt x="995283" y="890587"/>
                      </a:moveTo>
                      <a:cubicBezTo>
                        <a:pt x="1023219" y="890587"/>
                        <a:pt x="1050439" y="899860"/>
                        <a:pt x="1071212" y="920546"/>
                      </a:cubicBezTo>
                      <a:cubicBezTo>
                        <a:pt x="1113474" y="962631"/>
                        <a:pt x="1113474" y="1029681"/>
                        <a:pt x="1071928" y="1071053"/>
                      </a:cubicBezTo>
                      <a:cubicBezTo>
                        <a:pt x="1050439" y="1091739"/>
                        <a:pt x="1023219" y="1101725"/>
                        <a:pt x="995999" y="1101725"/>
                      </a:cubicBezTo>
                      <a:cubicBezTo>
                        <a:pt x="968063" y="1101725"/>
                        <a:pt x="941560" y="1091739"/>
                        <a:pt x="920070" y="1070340"/>
                      </a:cubicBezTo>
                      <a:cubicBezTo>
                        <a:pt x="878524" y="1029681"/>
                        <a:pt x="878524" y="962631"/>
                        <a:pt x="920070" y="920546"/>
                      </a:cubicBezTo>
                      <a:cubicBezTo>
                        <a:pt x="941560" y="899860"/>
                        <a:pt x="968063" y="890587"/>
                        <a:pt x="995283" y="890587"/>
                      </a:cubicBezTo>
                      <a:close/>
                      <a:moveTo>
                        <a:pt x="107716" y="890587"/>
                      </a:moveTo>
                      <a:cubicBezTo>
                        <a:pt x="134935" y="890587"/>
                        <a:pt x="161439" y="899860"/>
                        <a:pt x="182928" y="920546"/>
                      </a:cubicBezTo>
                      <a:cubicBezTo>
                        <a:pt x="224474" y="962631"/>
                        <a:pt x="224474" y="1029681"/>
                        <a:pt x="182928" y="1070340"/>
                      </a:cubicBezTo>
                      <a:cubicBezTo>
                        <a:pt x="161439" y="1091739"/>
                        <a:pt x="134935" y="1101725"/>
                        <a:pt x="106999" y="1101725"/>
                      </a:cubicBezTo>
                      <a:cubicBezTo>
                        <a:pt x="79779" y="1101725"/>
                        <a:pt x="52560" y="1091739"/>
                        <a:pt x="31070" y="1071053"/>
                      </a:cubicBezTo>
                      <a:cubicBezTo>
                        <a:pt x="-10476" y="1029681"/>
                        <a:pt x="-10476" y="962631"/>
                        <a:pt x="31787" y="920546"/>
                      </a:cubicBezTo>
                      <a:cubicBezTo>
                        <a:pt x="52560" y="899860"/>
                        <a:pt x="79779" y="890587"/>
                        <a:pt x="107716" y="890587"/>
                      </a:cubicBezTo>
                      <a:close/>
                      <a:moveTo>
                        <a:pt x="550733" y="323850"/>
                      </a:moveTo>
                      <a:cubicBezTo>
                        <a:pt x="492223" y="323850"/>
                        <a:pt x="436567" y="346766"/>
                        <a:pt x="395182" y="387585"/>
                      </a:cubicBezTo>
                      <a:cubicBezTo>
                        <a:pt x="394468" y="388302"/>
                        <a:pt x="393755" y="389734"/>
                        <a:pt x="392328" y="390450"/>
                      </a:cubicBezTo>
                      <a:cubicBezTo>
                        <a:pt x="391614" y="391882"/>
                        <a:pt x="390187" y="392598"/>
                        <a:pt x="389474" y="393315"/>
                      </a:cubicBezTo>
                      <a:cubicBezTo>
                        <a:pt x="303849" y="481398"/>
                        <a:pt x="305276" y="623192"/>
                        <a:pt x="392328" y="710559"/>
                      </a:cubicBezTo>
                      <a:cubicBezTo>
                        <a:pt x="392328" y="711275"/>
                        <a:pt x="392328" y="711275"/>
                        <a:pt x="392328" y="711275"/>
                      </a:cubicBezTo>
                      <a:cubicBezTo>
                        <a:pt x="392328" y="711275"/>
                        <a:pt x="392328" y="711275"/>
                        <a:pt x="393041" y="711275"/>
                      </a:cubicBezTo>
                      <a:cubicBezTo>
                        <a:pt x="435140" y="754243"/>
                        <a:pt x="491509" y="777875"/>
                        <a:pt x="552160" y="777875"/>
                      </a:cubicBezTo>
                      <a:cubicBezTo>
                        <a:pt x="610670" y="777875"/>
                        <a:pt x="666326" y="754959"/>
                        <a:pt x="707711" y="714140"/>
                      </a:cubicBezTo>
                      <a:cubicBezTo>
                        <a:pt x="708425" y="713424"/>
                        <a:pt x="709138" y="711991"/>
                        <a:pt x="710565" y="711275"/>
                      </a:cubicBezTo>
                      <a:cubicBezTo>
                        <a:pt x="711279" y="709843"/>
                        <a:pt x="712706" y="709127"/>
                        <a:pt x="713419" y="708411"/>
                      </a:cubicBezTo>
                      <a:cubicBezTo>
                        <a:pt x="754091" y="666159"/>
                        <a:pt x="776924" y="610301"/>
                        <a:pt x="776924" y="550863"/>
                      </a:cubicBezTo>
                      <a:cubicBezTo>
                        <a:pt x="776924" y="490708"/>
                        <a:pt x="753378" y="434134"/>
                        <a:pt x="710565" y="391166"/>
                      </a:cubicBezTo>
                      <a:cubicBezTo>
                        <a:pt x="710565" y="390450"/>
                        <a:pt x="710565" y="390450"/>
                        <a:pt x="710565" y="390450"/>
                      </a:cubicBezTo>
                      <a:cubicBezTo>
                        <a:pt x="710565" y="390450"/>
                        <a:pt x="710565" y="390450"/>
                        <a:pt x="709852" y="390450"/>
                      </a:cubicBezTo>
                      <a:cubicBezTo>
                        <a:pt x="667753" y="347482"/>
                        <a:pt x="611384" y="323850"/>
                        <a:pt x="550733" y="323850"/>
                      </a:cubicBezTo>
                      <a:close/>
                      <a:moveTo>
                        <a:pt x="211227" y="198437"/>
                      </a:moveTo>
                      <a:cubicBezTo>
                        <a:pt x="211227" y="198437"/>
                        <a:pt x="211227" y="198437"/>
                        <a:pt x="211942" y="198437"/>
                      </a:cubicBezTo>
                      <a:cubicBezTo>
                        <a:pt x="212657" y="198437"/>
                        <a:pt x="213371" y="198437"/>
                        <a:pt x="214086" y="198437"/>
                      </a:cubicBezTo>
                      <a:cubicBezTo>
                        <a:pt x="214801" y="198437"/>
                        <a:pt x="214801" y="198437"/>
                        <a:pt x="214801" y="198437"/>
                      </a:cubicBezTo>
                      <a:cubicBezTo>
                        <a:pt x="215516" y="198437"/>
                        <a:pt x="215516" y="198437"/>
                        <a:pt x="215516" y="198437"/>
                      </a:cubicBezTo>
                      <a:cubicBezTo>
                        <a:pt x="215516" y="198437"/>
                        <a:pt x="215516" y="198437"/>
                        <a:pt x="314166" y="206285"/>
                      </a:cubicBezTo>
                      <a:cubicBezTo>
                        <a:pt x="322745" y="206998"/>
                        <a:pt x="329893" y="214132"/>
                        <a:pt x="329178" y="222693"/>
                      </a:cubicBezTo>
                      <a:cubicBezTo>
                        <a:pt x="328464" y="231254"/>
                        <a:pt x="320600" y="237675"/>
                        <a:pt x="312022" y="237675"/>
                      </a:cubicBezTo>
                      <a:cubicBezTo>
                        <a:pt x="312022" y="237675"/>
                        <a:pt x="312022" y="237675"/>
                        <a:pt x="255548" y="232681"/>
                      </a:cubicBezTo>
                      <a:cubicBezTo>
                        <a:pt x="255548" y="232681"/>
                        <a:pt x="255548" y="232681"/>
                        <a:pt x="381363" y="357528"/>
                      </a:cubicBezTo>
                      <a:cubicBezTo>
                        <a:pt x="429259" y="314723"/>
                        <a:pt x="490021" y="293321"/>
                        <a:pt x="550784" y="293321"/>
                      </a:cubicBezTo>
                      <a:cubicBezTo>
                        <a:pt x="612262" y="293321"/>
                        <a:pt x="673740" y="314723"/>
                        <a:pt x="721635" y="358241"/>
                      </a:cubicBezTo>
                      <a:cubicBezTo>
                        <a:pt x="721635" y="358241"/>
                        <a:pt x="721635" y="358241"/>
                        <a:pt x="847450" y="232681"/>
                      </a:cubicBezTo>
                      <a:cubicBezTo>
                        <a:pt x="847450" y="232681"/>
                        <a:pt x="847450" y="232681"/>
                        <a:pt x="790977" y="237675"/>
                      </a:cubicBezTo>
                      <a:cubicBezTo>
                        <a:pt x="782398" y="238388"/>
                        <a:pt x="774535" y="231254"/>
                        <a:pt x="773820" y="222693"/>
                      </a:cubicBezTo>
                      <a:cubicBezTo>
                        <a:pt x="773820" y="214132"/>
                        <a:pt x="780254" y="206998"/>
                        <a:pt x="788832" y="206285"/>
                      </a:cubicBezTo>
                      <a:cubicBezTo>
                        <a:pt x="788832" y="206285"/>
                        <a:pt x="788832" y="206285"/>
                        <a:pt x="887482" y="198437"/>
                      </a:cubicBezTo>
                      <a:cubicBezTo>
                        <a:pt x="887482" y="198437"/>
                        <a:pt x="887482" y="198437"/>
                        <a:pt x="888197" y="198437"/>
                      </a:cubicBezTo>
                      <a:cubicBezTo>
                        <a:pt x="888197" y="198437"/>
                        <a:pt x="888197" y="198437"/>
                        <a:pt x="888912" y="198437"/>
                      </a:cubicBezTo>
                      <a:cubicBezTo>
                        <a:pt x="889627" y="198437"/>
                        <a:pt x="890342" y="198437"/>
                        <a:pt x="891057" y="198437"/>
                      </a:cubicBezTo>
                      <a:cubicBezTo>
                        <a:pt x="891057" y="198437"/>
                        <a:pt x="891057" y="198437"/>
                        <a:pt x="891772" y="198437"/>
                      </a:cubicBezTo>
                      <a:cubicBezTo>
                        <a:pt x="892486" y="198437"/>
                        <a:pt x="893201" y="199151"/>
                        <a:pt x="893916" y="199151"/>
                      </a:cubicBezTo>
                      <a:cubicBezTo>
                        <a:pt x="894631" y="199151"/>
                        <a:pt x="894631" y="199151"/>
                        <a:pt x="894631" y="199151"/>
                      </a:cubicBezTo>
                      <a:cubicBezTo>
                        <a:pt x="895346" y="199864"/>
                        <a:pt x="896061" y="200577"/>
                        <a:pt x="896776" y="200577"/>
                      </a:cubicBezTo>
                      <a:cubicBezTo>
                        <a:pt x="896776" y="200577"/>
                        <a:pt x="897490" y="200577"/>
                        <a:pt x="897490" y="201291"/>
                      </a:cubicBezTo>
                      <a:cubicBezTo>
                        <a:pt x="898205" y="201291"/>
                        <a:pt x="898920" y="202004"/>
                        <a:pt x="899635" y="202718"/>
                      </a:cubicBezTo>
                      <a:cubicBezTo>
                        <a:pt x="900350" y="203431"/>
                        <a:pt x="901065" y="204144"/>
                        <a:pt x="901780" y="204858"/>
                      </a:cubicBezTo>
                      <a:cubicBezTo>
                        <a:pt x="901780" y="204858"/>
                        <a:pt x="901780" y="204858"/>
                        <a:pt x="901780" y="205571"/>
                      </a:cubicBezTo>
                      <a:cubicBezTo>
                        <a:pt x="901780" y="206285"/>
                        <a:pt x="902495" y="206998"/>
                        <a:pt x="903209" y="207711"/>
                      </a:cubicBezTo>
                      <a:cubicBezTo>
                        <a:pt x="903209" y="207711"/>
                        <a:pt x="903209" y="207711"/>
                        <a:pt x="903209" y="208425"/>
                      </a:cubicBezTo>
                      <a:cubicBezTo>
                        <a:pt x="903209" y="209138"/>
                        <a:pt x="903924" y="209852"/>
                        <a:pt x="903924" y="210565"/>
                      </a:cubicBezTo>
                      <a:cubicBezTo>
                        <a:pt x="903924" y="210565"/>
                        <a:pt x="903924" y="210565"/>
                        <a:pt x="903924" y="211279"/>
                      </a:cubicBezTo>
                      <a:cubicBezTo>
                        <a:pt x="903924" y="211992"/>
                        <a:pt x="903924" y="212705"/>
                        <a:pt x="903924" y="213419"/>
                      </a:cubicBezTo>
                      <a:cubicBezTo>
                        <a:pt x="903924" y="214132"/>
                        <a:pt x="903924" y="214132"/>
                        <a:pt x="903924" y="214132"/>
                      </a:cubicBezTo>
                      <a:cubicBezTo>
                        <a:pt x="903924" y="214132"/>
                        <a:pt x="903924" y="214132"/>
                        <a:pt x="903924" y="214846"/>
                      </a:cubicBezTo>
                      <a:cubicBezTo>
                        <a:pt x="903924" y="214846"/>
                        <a:pt x="903924" y="214846"/>
                        <a:pt x="896061" y="313296"/>
                      </a:cubicBezTo>
                      <a:cubicBezTo>
                        <a:pt x="895346" y="321857"/>
                        <a:pt x="888912" y="328278"/>
                        <a:pt x="880334" y="328278"/>
                      </a:cubicBezTo>
                      <a:cubicBezTo>
                        <a:pt x="880334" y="328278"/>
                        <a:pt x="880334" y="328278"/>
                        <a:pt x="879619" y="328278"/>
                      </a:cubicBezTo>
                      <a:cubicBezTo>
                        <a:pt x="871041" y="327565"/>
                        <a:pt x="864607" y="319717"/>
                        <a:pt x="864607" y="311156"/>
                      </a:cubicBezTo>
                      <a:cubicBezTo>
                        <a:pt x="864607" y="311156"/>
                        <a:pt x="864607" y="311156"/>
                        <a:pt x="869611" y="254797"/>
                      </a:cubicBezTo>
                      <a:cubicBezTo>
                        <a:pt x="869611" y="254797"/>
                        <a:pt x="869611" y="254797"/>
                        <a:pt x="743796" y="380357"/>
                      </a:cubicBezTo>
                      <a:cubicBezTo>
                        <a:pt x="830294" y="478094"/>
                        <a:pt x="830294" y="624343"/>
                        <a:pt x="744511" y="721367"/>
                      </a:cubicBezTo>
                      <a:cubicBezTo>
                        <a:pt x="744511" y="721367"/>
                        <a:pt x="744511" y="721367"/>
                        <a:pt x="869611" y="846928"/>
                      </a:cubicBezTo>
                      <a:cubicBezTo>
                        <a:pt x="869611" y="846928"/>
                        <a:pt x="869611" y="846928"/>
                        <a:pt x="864607" y="790568"/>
                      </a:cubicBezTo>
                      <a:cubicBezTo>
                        <a:pt x="864607" y="782007"/>
                        <a:pt x="871041" y="774160"/>
                        <a:pt x="879619" y="773446"/>
                      </a:cubicBezTo>
                      <a:cubicBezTo>
                        <a:pt x="888197" y="772733"/>
                        <a:pt x="895346" y="779867"/>
                        <a:pt x="896061" y="788428"/>
                      </a:cubicBezTo>
                      <a:cubicBezTo>
                        <a:pt x="896061" y="788428"/>
                        <a:pt x="896061" y="788428"/>
                        <a:pt x="903924" y="886879"/>
                      </a:cubicBezTo>
                      <a:cubicBezTo>
                        <a:pt x="903924" y="886879"/>
                        <a:pt x="903924" y="886879"/>
                        <a:pt x="903924" y="887592"/>
                      </a:cubicBezTo>
                      <a:cubicBezTo>
                        <a:pt x="903924" y="887592"/>
                        <a:pt x="903924" y="887592"/>
                        <a:pt x="903924" y="888306"/>
                      </a:cubicBezTo>
                      <a:cubicBezTo>
                        <a:pt x="903924" y="889019"/>
                        <a:pt x="903924" y="889732"/>
                        <a:pt x="903924" y="890446"/>
                      </a:cubicBezTo>
                      <a:cubicBezTo>
                        <a:pt x="903924" y="890446"/>
                        <a:pt x="903924" y="890446"/>
                        <a:pt x="903924" y="891159"/>
                      </a:cubicBezTo>
                      <a:cubicBezTo>
                        <a:pt x="903924" y="891873"/>
                        <a:pt x="903209" y="892586"/>
                        <a:pt x="903209" y="893299"/>
                      </a:cubicBezTo>
                      <a:cubicBezTo>
                        <a:pt x="903209" y="894013"/>
                        <a:pt x="903209" y="894013"/>
                        <a:pt x="903209" y="894013"/>
                      </a:cubicBezTo>
                      <a:cubicBezTo>
                        <a:pt x="902495" y="894726"/>
                        <a:pt x="901780" y="895440"/>
                        <a:pt x="901780" y="896153"/>
                      </a:cubicBezTo>
                      <a:cubicBezTo>
                        <a:pt x="901780" y="896153"/>
                        <a:pt x="901780" y="896153"/>
                        <a:pt x="901780" y="896866"/>
                      </a:cubicBezTo>
                      <a:cubicBezTo>
                        <a:pt x="901065" y="897580"/>
                        <a:pt x="900350" y="898293"/>
                        <a:pt x="899635" y="899007"/>
                      </a:cubicBezTo>
                      <a:cubicBezTo>
                        <a:pt x="898920" y="899720"/>
                        <a:pt x="898205" y="900434"/>
                        <a:pt x="897490" y="901147"/>
                      </a:cubicBezTo>
                      <a:cubicBezTo>
                        <a:pt x="896776" y="901147"/>
                        <a:pt x="896061" y="901860"/>
                        <a:pt x="895346" y="901860"/>
                      </a:cubicBezTo>
                      <a:cubicBezTo>
                        <a:pt x="895346" y="901860"/>
                        <a:pt x="894631" y="901860"/>
                        <a:pt x="894631" y="902574"/>
                      </a:cubicBezTo>
                      <a:cubicBezTo>
                        <a:pt x="893916" y="902574"/>
                        <a:pt x="893201" y="902574"/>
                        <a:pt x="892486" y="903287"/>
                      </a:cubicBezTo>
                      <a:cubicBezTo>
                        <a:pt x="891772" y="903287"/>
                        <a:pt x="891772" y="903287"/>
                        <a:pt x="891772" y="903287"/>
                      </a:cubicBezTo>
                      <a:cubicBezTo>
                        <a:pt x="890342" y="903287"/>
                        <a:pt x="889627" y="903287"/>
                        <a:pt x="888197" y="903287"/>
                      </a:cubicBezTo>
                      <a:cubicBezTo>
                        <a:pt x="888197" y="903287"/>
                        <a:pt x="888197" y="903287"/>
                        <a:pt x="887482" y="903287"/>
                      </a:cubicBezTo>
                      <a:cubicBezTo>
                        <a:pt x="887482" y="903287"/>
                        <a:pt x="887482" y="903287"/>
                        <a:pt x="788832" y="895440"/>
                      </a:cubicBezTo>
                      <a:cubicBezTo>
                        <a:pt x="780254" y="894726"/>
                        <a:pt x="773820" y="887592"/>
                        <a:pt x="773820" y="879031"/>
                      </a:cubicBezTo>
                      <a:cubicBezTo>
                        <a:pt x="774535" y="870470"/>
                        <a:pt x="782398" y="864050"/>
                        <a:pt x="790977" y="864050"/>
                      </a:cubicBezTo>
                      <a:cubicBezTo>
                        <a:pt x="790977" y="864050"/>
                        <a:pt x="790977" y="864050"/>
                        <a:pt x="847450" y="869043"/>
                      </a:cubicBezTo>
                      <a:cubicBezTo>
                        <a:pt x="847450" y="869043"/>
                        <a:pt x="847450" y="869043"/>
                        <a:pt x="721635" y="744197"/>
                      </a:cubicBezTo>
                      <a:cubicBezTo>
                        <a:pt x="673740" y="787001"/>
                        <a:pt x="612977" y="808404"/>
                        <a:pt x="552214" y="808404"/>
                      </a:cubicBezTo>
                      <a:cubicBezTo>
                        <a:pt x="490736" y="808404"/>
                        <a:pt x="429259" y="787001"/>
                        <a:pt x="381363" y="743483"/>
                      </a:cubicBezTo>
                      <a:cubicBezTo>
                        <a:pt x="381363" y="743483"/>
                        <a:pt x="381363" y="743483"/>
                        <a:pt x="255548" y="869043"/>
                      </a:cubicBezTo>
                      <a:cubicBezTo>
                        <a:pt x="255548" y="869043"/>
                        <a:pt x="255548" y="869043"/>
                        <a:pt x="312022" y="864050"/>
                      </a:cubicBezTo>
                      <a:cubicBezTo>
                        <a:pt x="320600" y="864050"/>
                        <a:pt x="328464" y="870470"/>
                        <a:pt x="329178" y="879031"/>
                      </a:cubicBezTo>
                      <a:cubicBezTo>
                        <a:pt x="329893" y="887592"/>
                        <a:pt x="322745" y="894726"/>
                        <a:pt x="314166" y="895440"/>
                      </a:cubicBezTo>
                      <a:cubicBezTo>
                        <a:pt x="314166" y="895440"/>
                        <a:pt x="314166" y="895440"/>
                        <a:pt x="215516" y="903287"/>
                      </a:cubicBezTo>
                      <a:cubicBezTo>
                        <a:pt x="215516" y="903287"/>
                        <a:pt x="215516" y="903287"/>
                        <a:pt x="214801" y="903287"/>
                      </a:cubicBezTo>
                      <a:cubicBezTo>
                        <a:pt x="213371" y="903287"/>
                        <a:pt x="212657" y="903287"/>
                        <a:pt x="211227" y="903287"/>
                      </a:cubicBezTo>
                      <a:cubicBezTo>
                        <a:pt x="211227" y="903287"/>
                        <a:pt x="211227" y="903287"/>
                        <a:pt x="210512" y="903287"/>
                      </a:cubicBezTo>
                      <a:cubicBezTo>
                        <a:pt x="209797" y="902574"/>
                        <a:pt x="209082" y="902574"/>
                        <a:pt x="208367" y="902574"/>
                      </a:cubicBezTo>
                      <a:cubicBezTo>
                        <a:pt x="208367" y="901860"/>
                        <a:pt x="207653" y="901860"/>
                        <a:pt x="207653" y="901860"/>
                      </a:cubicBezTo>
                      <a:cubicBezTo>
                        <a:pt x="206938" y="901860"/>
                        <a:pt x="206223" y="901147"/>
                        <a:pt x="205508" y="901147"/>
                      </a:cubicBezTo>
                      <a:cubicBezTo>
                        <a:pt x="204793" y="900434"/>
                        <a:pt x="204078" y="899720"/>
                        <a:pt x="203363" y="899007"/>
                      </a:cubicBezTo>
                      <a:cubicBezTo>
                        <a:pt x="202649" y="898293"/>
                        <a:pt x="201934" y="897580"/>
                        <a:pt x="201219" y="896866"/>
                      </a:cubicBezTo>
                      <a:cubicBezTo>
                        <a:pt x="201219" y="896866"/>
                        <a:pt x="201219" y="896866"/>
                        <a:pt x="201219" y="896153"/>
                      </a:cubicBezTo>
                      <a:cubicBezTo>
                        <a:pt x="201219" y="895440"/>
                        <a:pt x="200504" y="894726"/>
                        <a:pt x="199789" y="894013"/>
                      </a:cubicBezTo>
                      <a:cubicBezTo>
                        <a:pt x="199789" y="894013"/>
                        <a:pt x="199789" y="894013"/>
                        <a:pt x="199789" y="893299"/>
                      </a:cubicBezTo>
                      <a:cubicBezTo>
                        <a:pt x="199789" y="892586"/>
                        <a:pt x="199074" y="891873"/>
                        <a:pt x="199074" y="891159"/>
                      </a:cubicBezTo>
                      <a:cubicBezTo>
                        <a:pt x="199074" y="891159"/>
                        <a:pt x="199074" y="891159"/>
                        <a:pt x="199074" y="890446"/>
                      </a:cubicBezTo>
                      <a:cubicBezTo>
                        <a:pt x="199074" y="889732"/>
                        <a:pt x="199074" y="889019"/>
                        <a:pt x="199074" y="888306"/>
                      </a:cubicBezTo>
                      <a:cubicBezTo>
                        <a:pt x="199074" y="887592"/>
                        <a:pt x="199074" y="887592"/>
                        <a:pt x="199074" y="887592"/>
                      </a:cubicBezTo>
                      <a:cubicBezTo>
                        <a:pt x="199074" y="887592"/>
                        <a:pt x="199074" y="887592"/>
                        <a:pt x="199074" y="886879"/>
                      </a:cubicBezTo>
                      <a:cubicBezTo>
                        <a:pt x="199074" y="886879"/>
                        <a:pt x="199074" y="886879"/>
                        <a:pt x="206938" y="788428"/>
                      </a:cubicBezTo>
                      <a:cubicBezTo>
                        <a:pt x="207653" y="779867"/>
                        <a:pt x="214801" y="773446"/>
                        <a:pt x="223379" y="773446"/>
                      </a:cubicBezTo>
                      <a:cubicBezTo>
                        <a:pt x="231958" y="774160"/>
                        <a:pt x="238391" y="782007"/>
                        <a:pt x="238391" y="790568"/>
                      </a:cubicBezTo>
                      <a:cubicBezTo>
                        <a:pt x="238391" y="790568"/>
                        <a:pt x="238391" y="790568"/>
                        <a:pt x="233387" y="846928"/>
                      </a:cubicBezTo>
                      <a:cubicBezTo>
                        <a:pt x="233387" y="846928"/>
                        <a:pt x="233387" y="846928"/>
                        <a:pt x="359202" y="721367"/>
                      </a:cubicBezTo>
                      <a:cubicBezTo>
                        <a:pt x="272705" y="623630"/>
                        <a:pt x="272705" y="477381"/>
                        <a:pt x="358488" y="380357"/>
                      </a:cubicBezTo>
                      <a:cubicBezTo>
                        <a:pt x="358488" y="380357"/>
                        <a:pt x="358488" y="380357"/>
                        <a:pt x="233387" y="254797"/>
                      </a:cubicBezTo>
                      <a:cubicBezTo>
                        <a:pt x="233387" y="254797"/>
                        <a:pt x="233387" y="254797"/>
                        <a:pt x="238391" y="311156"/>
                      </a:cubicBezTo>
                      <a:cubicBezTo>
                        <a:pt x="238391" y="319717"/>
                        <a:pt x="231958" y="327565"/>
                        <a:pt x="223379" y="328278"/>
                      </a:cubicBezTo>
                      <a:cubicBezTo>
                        <a:pt x="223379" y="328278"/>
                        <a:pt x="223379" y="328278"/>
                        <a:pt x="222665" y="328278"/>
                      </a:cubicBezTo>
                      <a:cubicBezTo>
                        <a:pt x="214086" y="328278"/>
                        <a:pt x="207653" y="321857"/>
                        <a:pt x="206938" y="313296"/>
                      </a:cubicBezTo>
                      <a:cubicBezTo>
                        <a:pt x="206938" y="313296"/>
                        <a:pt x="206938" y="313296"/>
                        <a:pt x="199074" y="214846"/>
                      </a:cubicBezTo>
                      <a:cubicBezTo>
                        <a:pt x="199074" y="214846"/>
                        <a:pt x="199074" y="214846"/>
                        <a:pt x="199074" y="214132"/>
                      </a:cubicBezTo>
                      <a:cubicBezTo>
                        <a:pt x="199074" y="214132"/>
                        <a:pt x="199074" y="214132"/>
                        <a:pt x="199074" y="213419"/>
                      </a:cubicBezTo>
                      <a:cubicBezTo>
                        <a:pt x="199074" y="212705"/>
                        <a:pt x="199074" y="211992"/>
                        <a:pt x="199074" y="211279"/>
                      </a:cubicBezTo>
                      <a:cubicBezTo>
                        <a:pt x="199074" y="211279"/>
                        <a:pt x="199074" y="211279"/>
                        <a:pt x="199074" y="210565"/>
                      </a:cubicBezTo>
                      <a:cubicBezTo>
                        <a:pt x="199074" y="209852"/>
                        <a:pt x="199789" y="209138"/>
                        <a:pt x="199789" y="208425"/>
                      </a:cubicBezTo>
                      <a:cubicBezTo>
                        <a:pt x="199789" y="207711"/>
                        <a:pt x="199789" y="207711"/>
                        <a:pt x="199789" y="207711"/>
                      </a:cubicBezTo>
                      <a:cubicBezTo>
                        <a:pt x="200504" y="206998"/>
                        <a:pt x="201219" y="206285"/>
                        <a:pt x="201219" y="205571"/>
                      </a:cubicBezTo>
                      <a:cubicBezTo>
                        <a:pt x="201219" y="205571"/>
                        <a:pt x="201219" y="205571"/>
                        <a:pt x="201219" y="204858"/>
                      </a:cubicBezTo>
                      <a:cubicBezTo>
                        <a:pt x="201934" y="204144"/>
                        <a:pt x="202649" y="203431"/>
                        <a:pt x="203363" y="202718"/>
                      </a:cubicBezTo>
                      <a:cubicBezTo>
                        <a:pt x="204078" y="202004"/>
                        <a:pt x="204793" y="201291"/>
                        <a:pt x="205508" y="201291"/>
                      </a:cubicBezTo>
                      <a:cubicBezTo>
                        <a:pt x="205508" y="200577"/>
                        <a:pt x="206223" y="200577"/>
                        <a:pt x="206223" y="200577"/>
                      </a:cubicBezTo>
                      <a:cubicBezTo>
                        <a:pt x="206938" y="200577"/>
                        <a:pt x="207653" y="199864"/>
                        <a:pt x="208367" y="199864"/>
                      </a:cubicBezTo>
                      <a:cubicBezTo>
                        <a:pt x="208367" y="199151"/>
                        <a:pt x="208367" y="199151"/>
                        <a:pt x="209082" y="199151"/>
                      </a:cubicBezTo>
                      <a:cubicBezTo>
                        <a:pt x="209797" y="199151"/>
                        <a:pt x="210512" y="198437"/>
                        <a:pt x="211227" y="198437"/>
                      </a:cubicBezTo>
                      <a:close/>
                      <a:moveTo>
                        <a:pt x="996000" y="31750"/>
                      </a:moveTo>
                      <a:cubicBezTo>
                        <a:pt x="975392" y="31750"/>
                        <a:pt x="957628" y="39567"/>
                        <a:pt x="943416" y="53779"/>
                      </a:cubicBezTo>
                      <a:cubicBezTo>
                        <a:pt x="929204" y="67990"/>
                        <a:pt x="921387" y="86466"/>
                        <a:pt x="921387" y="106363"/>
                      </a:cubicBezTo>
                      <a:cubicBezTo>
                        <a:pt x="921387" y="126259"/>
                        <a:pt x="928493" y="145445"/>
                        <a:pt x="942705" y="159657"/>
                      </a:cubicBezTo>
                      <a:cubicBezTo>
                        <a:pt x="956917" y="173159"/>
                        <a:pt x="975392" y="180975"/>
                        <a:pt x="995289" y="180975"/>
                      </a:cubicBezTo>
                      <a:cubicBezTo>
                        <a:pt x="1015896" y="180975"/>
                        <a:pt x="1034372" y="173159"/>
                        <a:pt x="1048584" y="158947"/>
                      </a:cubicBezTo>
                      <a:cubicBezTo>
                        <a:pt x="1062796" y="144735"/>
                        <a:pt x="1070612" y="126259"/>
                        <a:pt x="1070612" y="106363"/>
                      </a:cubicBezTo>
                      <a:cubicBezTo>
                        <a:pt x="1070612" y="86466"/>
                        <a:pt x="1062796" y="67280"/>
                        <a:pt x="1049294" y="53068"/>
                      </a:cubicBezTo>
                      <a:cubicBezTo>
                        <a:pt x="1035082" y="39567"/>
                        <a:pt x="1015896" y="31750"/>
                        <a:pt x="996000" y="31750"/>
                      </a:cubicBezTo>
                      <a:close/>
                      <a:moveTo>
                        <a:pt x="107000" y="31750"/>
                      </a:moveTo>
                      <a:cubicBezTo>
                        <a:pt x="87103" y="31750"/>
                        <a:pt x="67917" y="39567"/>
                        <a:pt x="53705" y="53068"/>
                      </a:cubicBezTo>
                      <a:cubicBezTo>
                        <a:pt x="40204" y="67280"/>
                        <a:pt x="32387" y="86466"/>
                        <a:pt x="32387" y="106363"/>
                      </a:cubicBezTo>
                      <a:cubicBezTo>
                        <a:pt x="32387" y="126259"/>
                        <a:pt x="40204" y="144735"/>
                        <a:pt x="54416" y="158947"/>
                      </a:cubicBezTo>
                      <a:cubicBezTo>
                        <a:pt x="68628" y="173159"/>
                        <a:pt x="87103" y="180975"/>
                        <a:pt x="107710" y="180975"/>
                      </a:cubicBezTo>
                      <a:cubicBezTo>
                        <a:pt x="127607" y="180975"/>
                        <a:pt x="146082" y="173159"/>
                        <a:pt x="160294" y="159657"/>
                      </a:cubicBezTo>
                      <a:cubicBezTo>
                        <a:pt x="174506" y="145445"/>
                        <a:pt x="181612" y="126259"/>
                        <a:pt x="181612" y="106363"/>
                      </a:cubicBezTo>
                      <a:cubicBezTo>
                        <a:pt x="181612" y="86466"/>
                        <a:pt x="173796" y="67990"/>
                        <a:pt x="159584" y="53779"/>
                      </a:cubicBezTo>
                      <a:cubicBezTo>
                        <a:pt x="145372" y="39567"/>
                        <a:pt x="127607" y="31750"/>
                        <a:pt x="107000" y="31750"/>
                      </a:cubicBezTo>
                      <a:close/>
                      <a:moveTo>
                        <a:pt x="995999" y="0"/>
                      </a:moveTo>
                      <a:cubicBezTo>
                        <a:pt x="1023219" y="0"/>
                        <a:pt x="1050439" y="9986"/>
                        <a:pt x="1071928" y="29959"/>
                      </a:cubicBezTo>
                      <a:cubicBezTo>
                        <a:pt x="1113474" y="72044"/>
                        <a:pt x="1113474" y="139094"/>
                        <a:pt x="1071212" y="181179"/>
                      </a:cubicBezTo>
                      <a:cubicBezTo>
                        <a:pt x="1050439" y="201152"/>
                        <a:pt x="1023219" y="211138"/>
                        <a:pt x="995283" y="211138"/>
                      </a:cubicBezTo>
                      <a:cubicBezTo>
                        <a:pt x="968063" y="211138"/>
                        <a:pt x="941560" y="201152"/>
                        <a:pt x="920070" y="181179"/>
                      </a:cubicBezTo>
                      <a:cubicBezTo>
                        <a:pt x="878524" y="139094"/>
                        <a:pt x="878524" y="72044"/>
                        <a:pt x="920070" y="30672"/>
                      </a:cubicBezTo>
                      <a:cubicBezTo>
                        <a:pt x="941560" y="9986"/>
                        <a:pt x="968063" y="0"/>
                        <a:pt x="995999" y="0"/>
                      </a:cubicBezTo>
                      <a:close/>
                      <a:moveTo>
                        <a:pt x="106999" y="0"/>
                      </a:moveTo>
                      <a:cubicBezTo>
                        <a:pt x="134935" y="0"/>
                        <a:pt x="161439" y="9986"/>
                        <a:pt x="182928" y="30672"/>
                      </a:cubicBezTo>
                      <a:cubicBezTo>
                        <a:pt x="224474" y="72044"/>
                        <a:pt x="224474" y="139094"/>
                        <a:pt x="182928" y="181179"/>
                      </a:cubicBezTo>
                      <a:cubicBezTo>
                        <a:pt x="161439" y="201152"/>
                        <a:pt x="134935" y="211138"/>
                        <a:pt x="107716" y="211138"/>
                      </a:cubicBezTo>
                      <a:cubicBezTo>
                        <a:pt x="79779" y="211138"/>
                        <a:pt x="52560" y="201152"/>
                        <a:pt x="31787" y="181179"/>
                      </a:cubicBezTo>
                      <a:cubicBezTo>
                        <a:pt x="-10476" y="139094"/>
                        <a:pt x="-10476" y="72044"/>
                        <a:pt x="31070" y="29959"/>
                      </a:cubicBezTo>
                      <a:cubicBezTo>
                        <a:pt x="52560" y="9986"/>
                        <a:pt x="79779" y="0"/>
                        <a:pt x="106999" y="0"/>
                      </a:cubicBezTo>
                      <a:close/>
                    </a:path>
                  </a:pathLst>
                </a:custGeom>
                <a:solidFill>
                  <a:srgbClr val="FFFFFF"/>
                </a:solidFill>
                <a:ln>
                  <a:noFill/>
                </a:ln>
              </p:spPr>
              <p:txBody>
                <a:bodyPr vert="horz" wrap="square" lIns="65837" tIns="32918" rIns="65837" bIns="32918" numCol="1" anchor="t" anchorCtr="0" compatLnSpc="1">
                  <a:prstTxWarp prst="textNoShape">
                    <a:avLst/>
                  </a:prstTxWarp>
                  <a:noAutofit/>
                </a:bodyPr>
                <a:lstStyle/>
                <a:p>
                  <a:endParaRPr lang="en-US">
                    <a:ea typeface="Microsoft YaHei" panose="020B0503020204020204" pitchFamily="34" charset="-122"/>
                  </a:endParaRPr>
                </a:p>
              </p:txBody>
            </p:sp>
            <p:sp>
              <p:nvSpPr>
                <p:cNvPr id="159" name="Freeform 40">
                  <a:extLst>
                    <a:ext uri="{FF2B5EF4-FFF2-40B4-BE49-F238E27FC236}">
                      <a16:creationId xmlns:a16="http://schemas.microsoft.com/office/drawing/2014/main" id="{28CB9460-601B-48F0-AE9B-F8931A5E3411}"/>
                    </a:ext>
                  </a:extLst>
                </p:cNvPr>
                <p:cNvSpPr>
                  <a:spLocks/>
                </p:cNvSpPr>
                <p:nvPr/>
              </p:nvSpPr>
              <p:spPr bwMode="auto">
                <a:xfrm>
                  <a:off x="5606736" y="2939745"/>
                  <a:ext cx="978523" cy="978507"/>
                </a:xfrm>
                <a:custGeom>
                  <a:avLst/>
                  <a:gdLst>
                    <a:gd name="connsiteX0" fmla="*/ 44235 w 978523"/>
                    <a:gd name="connsiteY0" fmla="*/ 889000 h 978509"/>
                    <a:gd name="connsiteX1" fmla="*/ 74586 w 978523"/>
                    <a:gd name="connsiteY1" fmla="*/ 902373 h 978509"/>
                    <a:gd name="connsiteX2" fmla="*/ 74586 w 978523"/>
                    <a:gd name="connsiteY2" fmla="*/ 965137 h 978509"/>
                    <a:gd name="connsiteX3" fmla="*/ 13350 w 978523"/>
                    <a:gd name="connsiteY3" fmla="*/ 965137 h 978509"/>
                    <a:gd name="connsiteX4" fmla="*/ 13350 w 978523"/>
                    <a:gd name="connsiteY4" fmla="*/ 902373 h 978509"/>
                    <a:gd name="connsiteX5" fmla="*/ 44235 w 978523"/>
                    <a:gd name="connsiteY5" fmla="*/ 889000 h 978509"/>
                    <a:gd name="connsiteX6" fmla="*/ 934288 w 978523"/>
                    <a:gd name="connsiteY6" fmla="*/ 889000 h 978509"/>
                    <a:gd name="connsiteX7" fmla="*/ 965173 w 978523"/>
                    <a:gd name="connsiteY7" fmla="*/ 902373 h 978509"/>
                    <a:gd name="connsiteX8" fmla="*/ 965173 w 978523"/>
                    <a:gd name="connsiteY8" fmla="*/ 965137 h 978509"/>
                    <a:gd name="connsiteX9" fmla="*/ 903937 w 978523"/>
                    <a:gd name="connsiteY9" fmla="*/ 965137 h 978509"/>
                    <a:gd name="connsiteX10" fmla="*/ 903937 w 978523"/>
                    <a:gd name="connsiteY10" fmla="*/ 902373 h 978509"/>
                    <a:gd name="connsiteX11" fmla="*/ 934288 w 978523"/>
                    <a:gd name="connsiteY11" fmla="*/ 889000 h 978509"/>
                    <a:gd name="connsiteX12" fmla="*/ 488995 w 978523"/>
                    <a:gd name="connsiteY12" fmla="*/ 294320 h 978509"/>
                    <a:gd name="connsiteX13" fmla="*/ 627390 w 978523"/>
                    <a:gd name="connsiteY13" fmla="*/ 351380 h 978509"/>
                    <a:gd name="connsiteX14" fmla="*/ 627390 w 978523"/>
                    <a:gd name="connsiteY14" fmla="*/ 627129 h 978509"/>
                    <a:gd name="connsiteX15" fmla="*/ 351133 w 978523"/>
                    <a:gd name="connsiteY15" fmla="*/ 627129 h 978509"/>
                    <a:gd name="connsiteX16" fmla="*/ 351133 w 978523"/>
                    <a:gd name="connsiteY16" fmla="*/ 351380 h 978509"/>
                    <a:gd name="connsiteX17" fmla="*/ 488995 w 978523"/>
                    <a:gd name="connsiteY17" fmla="*/ 294320 h 978509"/>
                    <a:gd name="connsiteX18" fmla="*/ 934288 w 978523"/>
                    <a:gd name="connsiteY18" fmla="*/ 0 h 978509"/>
                    <a:gd name="connsiteX19" fmla="*/ 965173 w 978523"/>
                    <a:gd name="connsiteY19" fmla="*/ 13372 h 978509"/>
                    <a:gd name="connsiteX20" fmla="*/ 965173 w 978523"/>
                    <a:gd name="connsiteY20" fmla="*/ 76136 h 978509"/>
                    <a:gd name="connsiteX21" fmla="*/ 903937 w 978523"/>
                    <a:gd name="connsiteY21" fmla="*/ 76136 h 978509"/>
                    <a:gd name="connsiteX22" fmla="*/ 903937 w 978523"/>
                    <a:gd name="connsiteY22" fmla="*/ 13372 h 978509"/>
                    <a:gd name="connsiteX23" fmla="*/ 934288 w 978523"/>
                    <a:gd name="connsiteY23" fmla="*/ 0 h 978509"/>
                    <a:gd name="connsiteX24" fmla="*/ 44235 w 978523"/>
                    <a:gd name="connsiteY24" fmla="*/ 0 h 978509"/>
                    <a:gd name="connsiteX25" fmla="*/ 74586 w 978523"/>
                    <a:gd name="connsiteY25" fmla="*/ 13372 h 978509"/>
                    <a:gd name="connsiteX26" fmla="*/ 74586 w 978523"/>
                    <a:gd name="connsiteY26" fmla="*/ 76136 h 978509"/>
                    <a:gd name="connsiteX27" fmla="*/ 13350 w 978523"/>
                    <a:gd name="connsiteY27" fmla="*/ 76136 h 978509"/>
                    <a:gd name="connsiteX28" fmla="*/ 13350 w 978523"/>
                    <a:gd name="connsiteY28" fmla="*/ 13372 h 978509"/>
                    <a:gd name="connsiteX29" fmla="*/ 44235 w 978523"/>
                    <a:gd name="connsiteY29" fmla="*/ 0 h 97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78523" h="978509">
                      <a:moveTo>
                        <a:pt x="44235" y="889000"/>
                      </a:moveTo>
                      <a:cubicBezTo>
                        <a:pt x="55361" y="889000"/>
                        <a:pt x="66397" y="893457"/>
                        <a:pt x="74586" y="902373"/>
                      </a:cubicBezTo>
                      <a:cubicBezTo>
                        <a:pt x="92387" y="919490"/>
                        <a:pt x="92387" y="948019"/>
                        <a:pt x="74586" y="965137"/>
                      </a:cubicBezTo>
                      <a:cubicBezTo>
                        <a:pt x="58209" y="982967"/>
                        <a:pt x="30439" y="982967"/>
                        <a:pt x="13350" y="965137"/>
                      </a:cubicBezTo>
                      <a:cubicBezTo>
                        <a:pt x="-4451" y="948019"/>
                        <a:pt x="-4451" y="919490"/>
                        <a:pt x="13350" y="902373"/>
                      </a:cubicBezTo>
                      <a:cubicBezTo>
                        <a:pt x="21894" y="893457"/>
                        <a:pt x="33109" y="889000"/>
                        <a:pt x="44235" y="889000"/>
                      </a:cubicBezTo>
                      <a:close/>
                      <a:moveTo>
                        <a:pt x="934288" y="889000"/>
                      </a:moveTo>
                      <a:cubicBezTo>
                        <a:pt x="945414" y="889000"/>
                        <a:pt x="956629" y="893457"/>
                        <a:pt x="965173" y="902373"/>
                      </a:cubicBezTo>
                      <a:cubicBezTo>
                        <a:pt x="982974" y="919490"/>
                        <a:pt x="982974" y="948019"/>
                        <a:pt x="965173" y="965137"/>
                      </a:cubicBezTo>
                      <a:cubicBezTo>
                        <a:pt x="948084" y="982967"/>
                        <a:pt x="920314" y="982967"/>
                        <a:pt x="903937" y="965137"/>
                      </a:cubicBezTo>
                      <a:cubicBezTo>
                        <a:pt x="886136" y="948019"/>
                        <a:pt x="886136" y="919490"/>
                        <a:pt x="903937" y="902373"/>
                      </a:cubicBezTo>
                      <a:cubicBezTo>
                        <a:pt x="912126" y="893457"/>
                        <a:pt x="923163" y="889000"/>
                        <a:pt x="934288" y="889000"/>
                      </a:cubicBezTo>
                      <a:close/>
                      <a:moveTo>
                        <a:pt x="488995" y="294320"/>
                      </a:moveTo>
                      <a:cubicBezTo>
                        <a:pt x="538924" y="294409"/>
                        <a:pt x="588942" y="313518"/>
                        <a:pt x="627390" y="351380"/>
                      </a:cubicBezTo>
                      <a:cubicBezTo>
                        <a:pt x="702862" y="427818"/>
                        <a:pt x="703574" y="551405"/>
                        <a:pt x="627390" y="627129"/>
                      </a:cubicBezTo>
                      <a:cubicBezTo>
                        <a:pt x="551206" y="703567"/>
                        <a:pt x="428030" y="702853"/>
                        <a:pt x="351133" y="627129"/>
                      </a:cubicBezTo>
                      <a:cubicBezTo>
                        <a:pt x="275661" y="550691"/>
                        <a:pt x="274949" y="427104"/>
                        <a:pt x="351133" y="351380"/>
                      </a:cubicBezTo>
                      <a:cubicBezTo>
                        <a:pt x="389225" y="313161"/>
                        <a:pt x="439066" y="294230"/>
                        <a:pt x="488995" y="294320"/>
                      </a:cubicBezTo>
                      <a:close/>
                      <a:moveTo>
                        <a:pt x="934288" y="0"/>
                      </a:moveTo>
                      <a:cubicBezTo>
                        <a:pt x="945414" y="0"/>
                        <a:pt x="956629" y="4457"/>
                        <a:pt x="965173" y="13372"/>
                      </a:cubicBezTo>
                      <a:cubicBezTo>
                        <a:pt x="982974" y="30490"/>
                        <a:pt x="982974" y="59019"/>
                        <a:pt x="965173" y="76136"/>
                      </a:cubicBezTo>
                      <a:cubicBezTo>
                        <a:pt x="948084" y="93967"/>
                        <a:pt x="920314" y="93967"/>
                        <a:pt x="903937" y="76136"/>
                      </a:cubicBezTo>
                      <a:cubicBezTo>
                        <a:pt x="886136" y="59019"/>
                        <a:pt x="886136" y="30490"/>
                        <a:pt x="903937" y="13372"/>
                      </a:cubicBezTo>
                      <a:cubicBezTo>
                        <a:pt x="912126" y="4457"/>
                        <a:pt x="923163" y="0"/>
                        <a:pt x="934288" y="0"/>
                      </a:cubicBezTo>
                      <a:close/>
                      <a:moveTo>
                        <a:pt x="44235" y="0"/>
                      </a:moveTo>
                      <a:cubicBezTo>
                        <a:pt x="55361" y="0"/>
                        <a:pt x="66397" y="4457"/>
                        <a:pt x="74586" y="13372"/>
                      </a:cubicBezTo>
                      <a:cubicBezTo>
                        <a:pt x="92387" y="30490"/>
                        <a:pt x="92387" y="59019"/>
                        <a:pt x="74586" y="76136"/>
                      </a:cubicBezTo>
                      <a:cubicBezTo>
                        <a:pt x="58209" y="93967"/>
                        <a:pt x="30439" y="93967"/>
                        <a:pt x="13350" y="76136"/>
                      </a:cubicBezTo>
                      <a:cubicBezTo>
                        <a:pt x="-4451" y="59019"/>
                        <a:pt x="-4451" y="30490"/>
                        <a:pt x="13350" y="13372"/>
                      </a:cubicBezTo>
                      <a:cubicBezTo>
                        <a:pt x="21894" y="4457"/>
                        <a:pt x="33109" y="0"/>
                        <a:pt x="44235" y="0"/>
                      </a:cubicBezTo>
                      <a:close/>
                    </a:path>
                  </a:pathLst>
                </a:custGeom>
                <a:solidFill>
                  <a:srgbClr val="FFFFFF"/>
                </a:solidFill>
                <a:ln>
                  <a:noFill/>
                </a:ln>
              </p:spPr>
              <p:txBody>
                <a:bodyPr vert="horz" wrap="square" lIns="65837" tIns="32918" rIns="65837" bIns="32918" numCol="1" anchor="t" anchorCtr="0" compatLnSpc="1">
                  <a:prstTxWarp prst="textNoShape">
                    <a:avLst/>
                  </a:prstTxWarp>
                  <a:noAutofit/>
                </a:bodyPr>
                <a:lstStyle/>
                <a:p>
                  <a:endParaRPr lang="en-US">
                    <a:ea typeface="Microsoft YaHei" panose="020B0503020204020204" pitchFamily="34" charset="-122"/>
                  </a:endParaRPr>
                </a:p>
              </p:txBody>
            </p:sp>
          </p:grpSp>
        </p:grpSp>
      </p:grpSp>
      <p:grpSp>
        <p:nvGrpSpPr>
          <p:cNvPr id="11" name="Group 10">
            <a:extLst>
              <a:ext uri="{FF2B5EF4-FFF2-40B4-BE49-F238E27FC236}">
                <a16:creationId xmlns:a16="http://schemas.microsoft.com/office/drawing/2014/main" id="{2E3BE01B-2050-47F1-8AF2-A113E15E1C49}"/>
              </a:ext>
            </a:extLst>
          </p:cNvPr>
          <p:cNvGrpSpPr/>
          <p:nvPr/>
        </p:nvGrpSpPr>
        <p:grpSpPr>
          <a:xfrm>
            <a:off x="7977824" y="1319808"/>
            <a:ext cx="3497518" cy="3408937"/>
            <a:chOff x="4303913" y="1319808"/>
            <a:chExt cx="3497518" cy="3408937"/>
          </a:xfrm>
        </p:grpSpPr>
        <p:grpSp>
          <p:nvGrpSpPr>
            <p:cNvPr id="2" name="Group 1">
              <a:extLst>
                <a:ext uri="{FF2B5EF4-FFF2-40B4-BE49-F238E27FC236}">
                  <a16:creationId xmlns:a16="http://schemas.microsoft.com/office/drawing/2014/main" id="{D57801AE-187F-4020-9578-C11A5DB703CB}"/>
                </a:ext>
              </a:extLst>
            </p:cNvPr>
            <p:cNvGrpSpPr/>
            <p:nvPr/>
          </p:nvGrpSpPr>
          <p:grpSpPr>
            <a:xfrm>
              <a:off x="4303913" y="3115816"/>
              <a:ext cx="3497518" cy="1612929"/>
              <a:chOff x="4300314" y="3051931"/>
              <a:chExt cx="3497518" cy="1612929"/>
            </a:xfrm>
          </p:grpSpPr>
          <p:sp>
            <p:nvSpPr>
              <p:cNvPr id="24" name="ee4pHeader1">
                <a:extLst>
                  <a:ext uri="{FF2B5EF4-FFF2-40B4-BE49-F238E27FC236}">
                    <a16:creationId xmlns:a16="http://schemas.microsoft.com/office/drawing/2014/main" id="{7B01E8DA-482F-41EA-85BD-9673E364D8EF}"/>
                  </a:ext>
                </a:extLst>
              </p:cNvPr>
              <p:cNvSpPr txBox="1"/>
              <p:nvPr/>
            </p:nvSpPr>
            <p:spPr>
              <a:xfrm>
                <a:off x="4300314" y="3524527"/>
                <a:ext cx="3324143" cy="1140333"/>
              </a:xfrm>
              <a:prstGeom prst="rect">
                <a:avLst/>
              </a:prstGeom>
              <a:solidFill>
                <a:srgbClr val="F2F2F2"/>
              </a:solidFill>
              <a:ln w="6858" cap="rnd" cmpd="sng" algn="ctr">
                <a:solidFill>
                  <a:srgbClr val="9A9A9A"/>
                </a:solidFill>
                <a:prstDash val="solid"/>
                <a:round/>
                <a:headEnd type="none" w="med" len="med"/>
                <a:tailEnd type="none" w="med" len="med"/>
              </a:ln>
            </p:spPr>
            <p:txBody>
              <a:bodyPr wrap="square" lIns="91440" tIns="91440" rIns="91440" bIns="91440" rtlCol="0" anchor="t" anchorCtr="0">
                <a:noAutofit/>
              </a:bodyPr>
              <a:lstStyle>
                <a:defPPr>
                  <a:defRPr lang="en-US"/>
                </a:defPPr>
                <a:lvl1pPr>
                  <a:buSzPct val="100000"/>
                  <a:buFont typeface="Trebuchet MS" panose="020B0603020202020204" pitchFamily="34" charset="0"/>
                  <a:buChar char="​"/>
                  <a:defRPr sz="1400">
                    <a:solidFill>
                      <a:schemeClr val="tx1">
                        <a:lumMod val="100000"/>
                      </a:schemeClr>
                    </a:solidFill>
                    <a:latin typeface="Trebuchet MS" panose="020B0603020202020204" pitchFamily="34" charset="0"/>
                  </a:defRPr>
                </a:lvl1pPr>
                <a:lvl2pPr marL="324000" lvl="1" indent="-216000">
                  <a:spcBef>
                    <a:spcPts val="600"/>
                  </a:spcBef>
                  <a:buClr>
                    <a:schemeClr val="tx2">
                      <a:lumMod val="100000"/>
                    </a:schemeClr>
                  </a:buClr>
                  <a:buSzPct val="100000"/>
                  <a:buFont typeface="Trebuchet MS" panose="020B0603020202020204" pitchFamily="34" charset="0"/>
                  <a:buChar char="•"/>
                  <a:defRPr sz="1200">
                    <a:solidFill>
                      <a:schemeClr val="tx1">
                        <a:lumMod val="100000"/>
                      </a:schemeClr>
                    </a:solidFill>
                    <a:latin typeface="Trebuchet MS" panose="020B0603020202020204" pitchFamily="34" charset="0"/>
                  </a:defRPr>
                </a:lvl2pPr>
              </a:lstStyle>
              <a:p>
                <a:pPr indent="-216000">
                  <a:buNone/>
                </a:pPr>
                <a:r>
                  <a:rPr lang="zh-TW" altLang="en-US">
                    <a:ea typeface="Microsoft YaHei" panose="020B0503020204020204" pitchFamily="34" charset="-122"/>
                  </a:rPr>
                  <a:t>根據支出的習慣、趨勢，提供對應服務</a:t>
                </a:r>
                <a:endParaRPr lang="en-US" altLang="zh-TW">
                  <a:ea typeface="Microsoft YaHei" panose="020B0503020204020204" pitchFamily="34" charset="-122"/>
                </a:endParaRPr>
              </a:p>
              <a:p>
                <a:pPr marL="0" lvl="1" indent="0">
                  <a:spcBef>
                    <a:spcPts val="0"/>
                  </a:spcBef>
                  <a:buNone/>
                </a:pPr>
                <a:endParaRPr lang="en-US" sz="1400">
                  <a:ea typeface="Microsoft YaHei" panose="020B0503020204020204" pitchFamily="34" charset="-122"/>
                </a:endParaRPr>
              </a:p>
              <a:p>
                <a:pPr marL="0" lvl="1" indent="0">
                  <a:spcBef>
                    <a:spcPts val="0"/>
                  </a:spcBef>
                  <a:buNone/>
                </a:pPr>
                <a:r>
                  <a:rPr lang="en-US" sz="1400">
                    <a:ea typeface="Microsoft YaHei" panose="020B0503020204020204" pitchFamily="34" charset="-122"/>
                  </a:rPr>
                  <a:t>"</a:t>
                </a:r>
                <a:r>
                  <a:rPr lang="en-US" sz="1400" err="1">
                    <a:ea typeface="Microsoft YaHei" panose="020B0503020204020204" pitchFamily="34" charset="-122"/>
                  </a:rPr>
                  <a:t>給媽媽的定期付款將於下周結束。請在此</a:t>
                </a:r>
                <a:r>
                  <a:rPr lang="zh-TW" altLang="en-US" sz="1400">
                    <a:ea typeface="Microsoft YaHei" panose="020B0503020204020204" pitchFamily="34" charset="-122"/>
                  </a:rPr>
                  <a:t>更新設定</a:t>
                </a:r>
                <a:r>
                  <a:rPr lang="en-US" sz="1400">
                    <a:ea typeface="Microsoft YaHei" panose="020B0503020204020204" pitchFamily="34" charset="-122"/>
                  </a:rPr>
                  <a:t>！"</a:t>
                </a:r>
              </a:p>
            </p:txBody>
          </p:sp>
          <p:sp>
            <p:nvSpPr>
              <p:cNvPr id="96" name="Rounded Rectangle 30">
                <a:extLst>
                  <a:ext uri="{FF2B5EF4-FFF2-40B4-BE49-F238E27FC236}">
                    <a16:creationId xmlns:a16="http://schemas.microsoft.com/office/drawing/2014/main" id="{E35AAE09-60E2-4B4F-BF63-5331E5161526}"/>
                  </a:ext>
                </a:extLst>
              </p:cNvPr>
              <p:cNvSpPr>
                <a:spLocks noChangeArrowheads="1"/>
              </p:cNvSpPr>
              <p:nvPr/>
            </p:nvSpPr>
            <p:spPr bwMode="auto">
              <a:xfrm>
                <a:off x="4480054" y="3123949"/>
                <a:ext cx="3317778" cy="409105"/>
              </a:xfrm>
              <a:prstGeom prst="roundRect">
                <a:avLst>
                  <a:gd name="adj" fmla="val 50000"/>
                </a:avLst>
              </a:prstGeom>
              <a:solidFill>
                <a:schemeClr val="bg1">
                  <a:lumMod val="85000"/>
                </a:schemeClr>
              </a:solidFill>
              <a:ln>
                <a:noFill/>
              </a:ln>
            </p:spPr>
            <p:txBody>
              <a:bodyPr vert="horz" wrap="square" lIns="45720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TW" altLang="en-US" sz="1600" b="1">
                    <a:solidFill>
                      <a:srgbClr val="670F31"/>
                    </a:solidFill>
                    <a:ea typeface="Microsoft YaHei" panose="020B0503020204020204" pitchFamily="34" charset="-122"/>
                  </a:rPr>
                  <a:t>依交易狀況觸發</a:t>
                </a:r>
                <a:endParaRPr lang="en-US" sz="1600" b="1">
                  <a:solidFill>
                    <a:srgbClr val="670F31"/>
                  </a:solidFill>
                  <a:latin typeface="Trebuchet MS" panose="020B0603020202020204" pitchFamily="34" charset="0"/>
                  <a:ea typeface="Microsoft YaHei" panose="020B0503020204020204" pitchFamily="34" charset="-122"/>
                  <a:sym typeface="Trebuchet MS" panose="020B0603020202020204" pitchFamily="34" charset="0"/>
                </a:endParaRPr>
              </a:p>
            </p:txBody>
          </p:sp>
          <p:grpSp>
            <p:nvGrpSpPr>
              <p:cNvPr id="97" name="Group 96">
                <a:extLst>
                  <a:ext uri="{FF2B5EF4-FFF2-40B4-BE49-F238E27FC236}">
                    <a16:creationId xmlns:a16="http://schemas.microsoft.com/office/drawing/2014/main" id="{AD1E9470-74C4-42F8-BBE7-65E07F77A5BC}"/>
                  </a:ext>
                </a:extLst>
              </p:cNvPr>
              <p:cNvGrpSpPr/>
              <p:nvPr/>
            </p:nvGrpSpPr>
            <p:grpSpPr>
              <a:xfrm>
                <a:off x="4300315" y="3051931"/>
                <a:ext cx="702244" cy="521457"/>
                <a:chOff x="629997" y="1545149"/>
                <a:chExt cx="1144825" cy="600364"/>
              </a:xfrm>
            </p:grpSpPr>
            <p:sp>
              <p:nvSpPr>
                <p:cNvPr id="98" name="Freeform 29">
                  <a:extLst>
                    <a:ext uri="{FF2B5EF4-FFF2-40B4-BE49-F238E27FC236}">
                      <a16:creationId xmlns:a16="http://schemas.microsoft.com/office/drawing/2014/main" id="{414A1DEE-9093-47FB-B404-E0D26739DE46}"/>
                    </a:ext>
                  </a:extLst>
                </p:cNvPr>
                <p:cNvSpPr>
                  <a:spLocks/>
                </p:cNvSpPr>
                <p:nvPr/>
              </p:nvSpPr>
              <p:spPr bwMode="auto">
                <a:xfrm>
                  <a:off x="1618042" y="1545149"/>
                  <a:ext cx="156780" cy="91462"/>
                </a:xfrm>
                <a:custGeom>
                  <a:avLst/>
                  <a:gdLst>
                    <a:gd name="T0" fmla="*/ 95 w 95"/>
                    <a:gd name="T1" fmla="*/ 51 h 51"/>
                    <a:gd name="T2" fmla="*/ 0 w 95"/>
                    <a:gd name="T3" fmla="*/ 51 h 51"/>
                    <a:gd name="T4" fmla="*/ 39 w 95"/>
                    <a:gd name="T5" fmla="*/ 0 h 51"/>
                    <a:gd name="T6" fmla="*/ 95 w 95"/>
                    <a:gd name="T7" fmla="*/ 51 h 51"/>
                  </a:gdLst>
                  <a:ahLst/>
                  <a:cxnLst>
                    <a:cxn ang="0">
                      <a:pos x="T0" y="T1"/>
                    </a:cxn>
                    <a:cxn ang="0">
                      <a:pos x="T2" y="T3"/>
                    </a:cxn>
                    <a:cxn ang="0">
                      <a:pos x="T4" y="T5"/>
                    </a:cxn>
                    <a:cxn ang="0">
                      <a:pos x="T6" y="T7"/>
                    </a:cxn>
                  </a:cxnLst>
                  <a:rect l="0" t="0" r="r" b="b"/>
                  <a:pathLst>
                    <a:path w="95" h="51">
                      <a:moveTo>
                        <a:pt x="95" y="51"/>
                      </a:moveTo>
                      <a:lnTo>
                        <a:pt x="0" y="51"/>
                      </a:lnTo>
                      <a:lnTo>
                        <a:pt x="39" y="0"/>
                      </a:lnTo>
                      <a:lnTo>
                        <a:pt x="95" y="51"/>
                      </a:ln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rgbClr val="000000"/>
                    </a:solidFill>
                    <a:latin typeface="Trebuchet MS" panose="020B0603020202020204" pitchFamily="34" charset="0"/>
                    <a:ea typeface="Microsoft YaHei" panose="020B0503020204020204" pitchFamily="34" charset="-122"/>
                    <a:sym typeface="Trebuchet MS" panose="020B0603020202020204" pitchFamily="34" charset="0"/>
                  </a:endParaRPr>
                </a:p>
              </p:txBody>
            </p:sp>
            <p:sp>
              <p:nvSpPr>
                <p:cNvPr id="99" name="Freeform: Shape 76">
                  <a:extLst>
                    <a:ext uri="{FF2B5EF4-FFF2-40B4-BE49-F238E27FC236}">
                      <a16:creationId xmlns:a16="http://schemas.microsoft.com/office/drawing/2014/main" id="{7EEB6AA6-403D-491D-BB0F-5A264D7FC59A}"/>
                    </a:ext>
                  </a:extLst>
                </p:cNvPr>
                <p:cNvSpPr>
                  <a:spLocks/>
                </p:cNvSpPr>
                <p:nvPr/>
              </p:nvSpPr>
              <p:spPr bwMode="auto">
                <a:xfrm>
                  <a:off x="1055771" y="1603886"/>
                  <a:ext cx="538474" cy="493589"/>
                </a:xfrm>
                <a:custGeom>
                  <a:avLst/>
                  <a:gdLst>
                    <a:gd name="connsiteX0" fmla="*/ 0 w 949466"/>
                    <a:gd name="connsiteY0" fmla="*/ 0 h 800896"/>
                    <a:gd name="connsiteX1" fmla="*/ 949466 w 949466"/>
                    <a:gd name="connsiteY1" fmla="*/ 0 h 800896"/>
                    <a:gd name="connsiteX2" fmla="*/ 344345 w 949466"/>
                    <a:gd name="connsiteY2" fmla="*/ 800896 h 800896"/>
                    <a:gd name="connsiteX3" fmla="*/ 0 w 949466"/>
                    <a:gd name="connsiteY3" fmla="*/ 800896 h 800896"/>
                  </a:gdLst>
                  <a:ahLst/>
                  <a:cxnLst>
                    <a:cxn ang="0">
                      <a:pos x="connsiteX0" y="connsiteY0"/>
                    </a:cxn>
                    <a:cxn ang="0">
                      <a:pos x="connsiteX1" y="connsiteY1"/>
                    </a:cxn>
                    <a:cxn ang="0">
                      <a:pos x="connsiteX2" y="connsiteY2"/>
                    </a:cxn>
                    <a:cxn ang="0">
                      <a:pos x="connsiteX3" y="connsiteY3"/>
                    </a:cxn>
                  </a:cxnLst>
                  <a:rect l="l" t="t" r="r" b="b"/>
                  <a:pathLst>
                    <a:path w="949466" h="800896">
                      <a:moveTo>
                        <a:pt x="0" y="0"/>
                      </a:moveTo>
                      <a:lnTo>
                        <a:pt x="949466" y="0"/>
                      </a:lnTo>
                      <a:lnTo>
                        <a:pt x="344345" y="800896"/>
                      </a:lnTo>
                      <a:lnTo>
                        <a:pt x="0" y="800896"/>
                      </a:lnTo>
                      <a:close/>
                    </a:path>
                  </a:pathLst>
                </a:custGeom>
                <a:solidFill>
                  <a:schemeClr val="accent4"/>
                </a:solidFill>
                <a:ln>
                  <a:noFill/>
                </a:ln>
                <a:effectLst>
                  <a:outerShdw blurRad="228600" dist="76200" algn="l" rotWithShape="0">
                    <a:prstClr val="black">
                      <a:alpha val="40000"/>
                    </a:prstClr>
                  </a:outerShdw>
                </a:effectLst>
              </p:spPr>
              <p:txBody>
                <a:bodyPr vert="horz" wrap="square" lIns="182880" tIns="45720" rIns="91440" bIns="45720" numCol="1" anchor="ctr"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6600" b="1">
                    <a:solidFill>
                      <a:prstClr val="white"/>
                    </a:solidFill>
                    <a:latin typeface="Trebuchet MS" panose="020B0603020202020204" pitchFamily="34" charset="0"/>
                    <a:ea typeface="Microsoft YaHei" panose="020B0503020204020204" pitchFamily="34" charset="-122"/>
                    <a:sym typeface="Trebuchet MS" panose="020B0603020202020204" pitchFamily="34" charset="0"/>
                  </a:endParaRPr>
                </a:p>
              </p:txBody>
            </p:sp>
            <p:sp>
              <p:nvSpPr>
                <p:cNvPr id="100" name="Freeform 32">
                  <a:extLst>
                    <a:ext uri="{FF2B5EF4-FFF2-40B4-BE49-F238E27FC236}">
                      <a16:creationId xmlns:a16="http://schemas.microsoft.com/office/drawing/2014/main" id="{9E7B74BD-5BC2-45E2-BE66-765F10C70EEA}"/>
                    </a:ext>
                  </a:extLst>
                </p:cNvPr>
                <p:cNvSpPr>
                  <a:spLocks/>
                </p:cNvSpPr>
                <p:nvPr/>
              </p:nvSpPr>
              <p:spPr bwMode="auto">
                <a:xfrm>
                  <a:off x="629997" y="1545149"/>
                  <a:ext cx="1057882" cy="600364"/>
                </a:xfrm>
                <a:custGeom>
                  <a:avLst/>
                  <a:gdLst>
                    <a:gd name="T0" fmla="*/ 1175 w 1175"/>
                    <a:gd name="T1" fmla="*/ 0 h 675"/>
                    <a:gd name="T2" fmla="*/ 0 w 1175"/>
                    <a:gd name="T3" fmla="*/ 0 h 675"/>
                    <a:gd name="T4" fmla="*/ 0 w 1175"/>
                    <a:gd name="T5" fmla="*/ 675 h 675"/>
                    <a:gd name="T6" fmla="*/ 665 w 1175"/>
                    <a:gd name="T7" fmla="*/ 675 h 675"/>
                    <a:gd name="T8" fmla="*/ 1175 w 1175"/>
                    <a:gd name="T9" fmla="*/ 0 h 675"/>
                  </a:gdLst>
                  <a:ahLst/>
                  <a:cxnLst>
                    <a:cxn ang="0">
                      <a:pos x="T0" y="T1"/>
                    </a:cxn>
                    <a:cxn ang="0">
                      <a:pos x="T2" y="T3"/>
                    </a:cxn>
                    <a:cxn ang="0">
                      <a:pos x="T4" y="T5"/>
                    </a:cxn>
                    <a:cxn ang="0">
                      <a:pos x="T6" y="T7"/>
                    </a:cxn>
                    <a:cxn ang="0">
                      <a:pos x="T8" y="T9"/>
                    </a:cxn>
                  </a:cxnLst>
                  <a:rect l="0" t="0" r="r" b="b"/>
                  <a:pathLst>
                    <a:path w="1175" h="675">
                      <a:moveTo>
                        <a:pt x="1175" y="0"/>
                      </a:moveTo>
                      <a:lnTo>
                        <a:pt x="0" y="0"/>
                      </a:lnTo>
                      <a:lnTo>
                        <a:pt x="0" y="675"/>
                      </a:lnTo>
                      <a:lnTo>
                        <a:pt x="665" y="675"/>
                      </a:lnTo>
                      <a:lnTo>
                        <a:pt x="1175" y="0"/>
                      </a:lnTo>
                      <a:close/>
                    </a:path>
                  </a:pathLst>
                </a:custGeom>
                <a:solidFill>
                  <a:srgbClr val="670F31"/>
                </a:solidFill>
                <a:ln>
                  <a:noFill/>
                </a:ln>
              </p:spPr>
              <p:txBody>
                <a:bodyPr vert="horz" wrap="square" lIns="27432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6600" b="1">
                    <a:solidFill>
                      <a:prstClr val="white"/>
                    </a:solidFill>
                    <a:effectLst>
                      <a:outerShdw blurRad="38100" dist="38100" dir="2700000" algn="tl">
                        <a:srgbClr val="000000">
                          <a:alpha val="43137"/>
                        </a:srgbClr>
                      </a:outerShdw>
                    </a:effectLst>
                    <a:latin typeface="Trebuchet MS" panose="020B0603020202020204" pitchFamily="34" charset="0"/>
                    <a:ea typeface="Microsoft YaHei" panose="020B0503020204020204" pitchFamily="34" charset="-122"/>
                    <a:sym typeface="Trebuchet MS" panose="020B0603020202020204" pitchFamily="34" charset="0"/>
                  </a:endParaRPr>
                </a:p>
              </p:txBody>
            </p:sp>
          </p:grpSp>
          <p:grpSp>
            <p:nvGrpSpPr>
              <p:cNvPr id="137" name="Group 136">
                <a:extLst>
                  <a:ext uri="{FF2B5EF4-FFF2-40B4-BE49-F238E27FC236}">
                    <a16:creationId xmlns:a16="http://schemas.microsoft.com/office/drawing/2014/main" id="{3E57D7CA-E298-4B84-BF5C-FE623CD1271C}"/>
                  </a:ext>
                </a:extLst>
              </p:cNvPr>
              <p:cNvGrpSpPr>
                <a:grpSpLocks noChangeAspect="1"/>
              </p:cNvGrpSpPr>
              <p:nvPr/>
            </p:nvGrpSpPr>
            <p:grpSpPr>
              <a:xfrm>
                <a:off x="4337619" y="3085978"/>
                <a:ext cx="418542" cy="418138"/>
                <a:chOff x="6464300" y="2606675"/>
                <a:chExt cx="1646238" cy="1644650"/>
              </a:xfrm>
            </p:grpSpPr>
            <p:sp>
              <p:nvSpPr>
                <p:cNvPr id="138" name="AutoShape 3">
                  <a:extLst>
                    <a:ext uri="{FF2B5EF4-FFF2-40B4-BE49-F238E27FC236}">
                      <a16:creationId xmlns:a16="http://schemas.microsoft.com/office/drawing/2014/main" id="{3B65010F-DC85-4706-A786-4A981B0D2FCE}"/>
                    </a:ext>
                  </a:extLst>
                </p:cNvPr>
                <p:cNvSpPr>
                  <a:spLocks noChangeAspect="1" noChangeArrowheads="1" noTextEdit="1"/>
                </p:cNvSpPr>
                <p:nvPr/>
              </p:nvSpPr>
              <p:spPr bwMode="auto">
                <a:xfrm>
                  <a:off x="6464300"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5837" tIns="32918" rIns="65837" bIns="32918" numCol="1" anchor="t" anchorCtr="0" compatLnSpc="1">
                  <a:prstTxWarp prst="textNoShape">
                    <a:avLst/>
                  </a:prstTxWarp>
                </a:bodyPr>
                <a:lstStyle/>
                <a:p>
                  <a:endParaRPr lang="en-US"/>
                </a:p>
              </p:txBody>
            </p:sp>
            <p:grpSp>
              <p:nvGrpSpPr>
                <p:cNvPr id="139" name="Group 138">
                  <a:extLst>
                    <a:ext uri="{FF2B5EF4-FFF2-40B4-BE49-F238E27FC236}">
                      <a16:creationId xmlns:a16="http://schemas.microsoft.com/office/drawing/2014/main" id="{9D3AC6BD-6131-496A-9DBE-DC4310853503}"/>
                    </a:ext>
                  </a:extLst>
                </p:cNvPr>
                <p:cNvGrpSpPr/>
                <p:nvPr/>
              </p:nvGrpSpPr>
              <p:grpSpPr>
                <a:xfrm>
                  <a:off x="6729413" y="2881312"/>
                  <a:ext cx="1146175" cy="1125538"/>
                  <a:chOff x="6729413" y="2881312"/>
                  <a:chExt cx="1146175" cy="1125538"/>
                </a:xfrm>
              </p:grpSpPr>
              <p:sp>
                <p:nvSpPr>
                  <p:cNvPr id="140" name="Freeform 10">
                    <a:extLst>
                      <a:ext uri="{FF2B5EF4-FFF2-40B4-BE49-F238E27FC236}">
                        <a16:creationId xmlns:a16="http://schemas.microsoft.com/office/drawing/2014/main" id="{AE45C14B-F8BD-48A3-91D0-1E372440711B}"/>
                      </a:ext>
                    </a:extLst>
                  </p:cNvPr>
                  <p:cNvSpPr>
                    <a:spLocks/>
                  </p:cNvSpPr>
                  <p:nvPr/>
                </p:nvSpPr>
                <p:spPr bwMode="auto">
                  <a:xfrm>
                    <a:off x="6989763" y="2944813"/>
                    <a:ext cx="822325" cy="336550"/>
                  </a:xfrm>
                  <a:custGeom>
                    <a:avLst/>
                    <a:gdLst>
                      <a:gd name="connsiteX0" fmla="*/ 485775 w 822325"/>
                      <a:gd name="connsiteY0" fmla="*/ 0 h 336550"/>
                      <a:gd name="connsiteX1" fmla="*/ 779453 w 822325"/>
                      <a:gd name="connsiteY1" fmla="*/ 0 h 336550"/>
                      <a:gd name="connsiteX2" fmla="*/ 822325 w 822325"/>
                      <a:gd name="connsiteY2" fmla="*/ 39134 h 336550"/>
                      <a:gd name="connsiteX3" fmla="*/ 822325 w 822325"/>
                      <a:gd name="connsiteY3" fmla="*/ 300974 h 336550"/>
                      <a:gd name="connsiteX4" fmla="*/ 780167 w 822325"/>
                      <a:gd name="connsiteY4" fmla="*/ 336550 h 336550"/>
                      <a:gd name="connsiteX5" fmla="*/ 487919 w 822325"/>
                      <a:gd name="connsiteY5" fmla="*/ 336550 h 336550"/>
                      <a:gd name="connsiteX6" fmla="*/ 552228 w 822325"/>
                      <a:gd name="connsiteY6" fmla="*/ 169342 h 336550"/>
                      <a:gd name="connsiteX7" fmla="*/ 485775 w 822325"/>
                      <a:gd name="connsiteY7" fmla="*/ 0 h 336550"/>
                      <a:gd name="connsiteX8" fmla="*/ 41444 w 822325"/>
                      <a:gd name="connsiteY8" fmla="*/ 0 h 336550"/>
                      <a:gd name="connsiteX9" fmla="*/ 336550 w 822325"/>
                      <a:gd name="connsiteY9" fmla="*/ 0 h 336550"/>
                      <a:gd name="connsiteX10" fmla="*/ 269383 w 822325"/>
                      <a:gd name="connsiteY10" fmla="*/ 169342 h 336550"/>
                      <a:gd name="connsiteX11" fmla="*/ 334407 w 822325"/>
                      <a:gd name="connsiteY11" fmla="*/ 336550 h 336550"/>
                      <a:gd name="connsiteX12" fmla="*/ 40729 w 822325"/>
                      <a:gd name="connsiteY12" fmla="*/ 336550 h 336550"/>
                      <a:gd name="connsiteX13" fmla="*/ 0 w 822325"/>
                      <a:gd name="connsiteY13" fmla="*/ 301686 h 336550"/>
                      <a:gd name="connsiteX14" fmla="*/ 0 w 822325"/>
                      <a:gd name="connsiteY14" fmla="*/ 39134 h 336550"/>
                      <a:gd name="connsiteX15" fmla="*/ 41444 w 822325"/>
                      <a:gd name="connsiteY15" fmla="*/ 0 h 33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2325" h="336550">
                        <a:moveTo>
                          <a:pt x="485775" y="0"/>
                        </a:moveTo>
                        <a:cubicBezTo>
                          <a:pt x="485775" y="0"/>
                          <a:pt x="485775" y="0"/>
                          <a:pt x="779453" y="0"/>
                        </a:cubicBezTo>
                        <a:cubicBezTo>
                          <a:pt x="782311" y="21346"/>
                          <a:pt x="800174" y="38422"/>
                          <a:pt x="822325" y="39134"/>
                        </a:cubicBezTo>
                        <a:cubicBezTo>
                          <a:pt x="822325" y="39134"/>
                          <a:pt x="822325" y="39134"/>
                          <a:pt x="822325" y="300974"/>
                        </a:cubicBezTo>
                        <a:cubicBezTo>
                          <a:pt x="801603" y="301686"/>
                          <a:pt x="784454" y="316628"/>
                          <a:pt x="780167" y="336550"/>
                        </a:cubicBezTo>
                        <a:cubicBezTo>
                          <a:pt x="780167" y="336550"/>
                          <a:pt x="780167" y="336550"/>
                          <a:pt x="487919" y="336550"/>
                        </a:cubicBezTo>
                        <a:cubicBezTo>
                          <a:pt x="522932" y="298839"/>
                          <a:pt x="552228" y="237649"/>
                          <a:pt x="552228" y="169342"/>
                        </a:cubicBezTo>
                        <a:cubicBezTo>
                          <a:pt x="552228" y="99613"/>
                          <a:pt x="522217" y="37711"/>
                          <a:pt x="485775" y="0"/>
                        </a:cubicBezTo>
                        <a:close/>
                        <a:moveTo>
                          <a:pt x="41444" y="0"/>
                        </a:moveTo>
                        <a:lnTo>
                          <a:pt x="336550" y="0"/>
                        </a:lnTo>
                        <a:cubicBezTo>
                          <a:pt x="300109" y="37711"/>
                          <a:pt x="269383" y="99613"/>
                          <a:pt x="269383" y="169342"/>
                        </a:cubicBezTo>
                        <a:cubicBezTo>
                          <a:pt x="269383" y="237649"/>
                          <a:pt x="299394" y="298839"/>
                          <a:pt x="334407" y="336550"/>
                        </a:cubicBezTo>
                        <a:cubicBezTo>
                          <a:pt x="334407" y="336550"/>
                          <a:pt x="334407" y="336550"/>
                          <a:pt x="40729" y="336550"/>
                        </a:cubicBezTo>
                        <a:cubicBezTo>
                          <a:pt x="37157" y="317339"/>
                          <a:pt x="20007" y="303109"/>
                          <a:pt x="0" y="301686"/>
                        </a:cubicBezTo>
                        <a:cubicBezTo>
                          <a:pt x="0" y="301686"/>
                          <a:pt x="0" y="301686"/>
                          <a:pt x="0" y="39134"/>
                        </a:cubicBezTo>
                        <a:cubicBezTo>
                          <a:pt x="21437" y="37711"/>
                          <a:pt x="38586" y="20634"/>
                          <a:pt x="41444" y="0"/>
                        </a:cubicBezTo>
                        <a:close/>
                      </a:path>
                    </a:pathLst>
                  </a:custGeom>
                  <a:solidFill>
                    <a:srgbClr val="FFFFFF"/>
                  </a:solidFill>
                  <a:ln>
                    <a:noFill/>
                  </a:ln>
                </p:spPr>
                <p:txBody>
                  <a:bodyPr vert="horz" wrap="square" lIns="65837" tIns="32918" rIns="65837" bIns="32918" numCol="1" anchor="t" anchorCtr="0" compatLnSpc="1">
                    <a:prstTxWarp prst="textNoShape">
                      <a:avLst/>
                    </a:prstTxWarp>
                    <a:noAutofit/>
                  </a:bodyPr>
                  <a:lstStyle/>
                  <a:p>
                    <a:endParaRPr lang="en-US">
                      <a:ea typeface="Microsoft YaHei" panose="020B0503020204020204" pitchFamily="34" charset="-122"/>
                    </a:endParaRPr>
                  </a:p>
                </p:txBody>
              </p:sp>
              <p:sp>
                <p:nvSpPr>
                  <p:cNvPr id="141" name="Freeform 11">
                    <a:extLst>
                      <a:ext uri="{FF2B5EF4-FFF2-40B4-BE49-F238E27FC236}">
                        <a16:creationId xmlns:a16="http://schemas.microsoft.com/office/drawing/2014/main" id="{24A0E42C-74DB-4ECF-8530-77DA22440AF9}"/>
                      </a:ext>
                    </a:extLst>
                  </p:cNvPr>
                  <p:cNvSpPr>
                    <a:spLocks/>
                  </p:cNvSpPr>
                  <p:nvPr/>
                </p:nvSpPr>
                <p:spPr bwMode="auto">
                  <a:xfrm>
                    <a:off x="6729413" y="2881312"/>
                    <a:ext cx="1146175" cy="1125538"/>
                  </a:xfrm>
                  <a:custGeom>
                    <a:avLst/>
                    <a:gdLst>
                      <a:gd name="connsiteX0" fmla="*/ 409739 w 1146175"/>
                      <a:gd name="connsiteY0" fmla="*/ 615791 h 1125538"/>
                      <a:gd name="connsiteX1" fmla="*/ 326138 w 1146175"/>
                      <a:gd name="connsiteY1" fmla="*/ 635801 h 1125538"/>
                      <a:gd name="connsiteX2" fmla="*/ 31750 w 1146175"/>
                      <a:gd name="connsiteY2" fmla="*/ 803020 h 1125538"/>
                      <a:gd name="connsiteX3" fmla="*/ 31750 w 1146175"/>
                      <a:gd name="connsiteY3" fmla="*/ 1087437 h 1125538"/>
                      <a:gd name="connsiteX4" fmla="*/ 368296 w 1146175"/>
                      <a:gd name="connsiteY4" fmla="*/ 957377 h 1125538"/>
                      <a:gd name="connsiteX5" fmla="*/ 419028 w 1146175"/>
                      <a:gd name="connsiteY5" fmla="*/ 949516 h 1125538"/>
                      <a:gd name="connsiteX6" fmla="*/ 568366 w 1146175"/>
                      <a:gd name="connsiteY6" fmla="*/ 960236 h 1125538"/>
                      <a:gd name="connsiteX7" fmla="*/ 797017 w 1146175"/>
                      <a:gd name="connsiteY7" fmla="*/ 933795 h 1125538"/>
                      <a:gd name="connsiteX8" fmla="*/ 1047818 w 1146175"/>
                      <a:gd name="connsiteY8" fmla="*/ 767290 h 1125538"/>
                      <a:gd name="connsiteX9" fmla="*/ 1079972 w 1146175"/>
                      <a:gd name="connsiteY9" fmla="*/ 730130 h 1125538"/>
                      <a:gd name="connsiteX10" fmla="*/ 1074971 w 1146175"/>
                      <a:gd name="connsiteY10" fmla="*/ 655810 h 1125538"/>
                      <a:gd name="connsiteX11" fmla="*/ 1036386 w 1146175"/>
                      <a:gd name="connsiteY11" fmla="*/ 642232 h 1125538"/>
                      <a:gd name="connsiteX12" fmla="*/ 999230 w 1146175"/>
                      <a:gd name="connsiteY12" fmla="*/ 660097 h 1125538"/>
                      <a:gd name="connsiteX13" fmla="*/ 951356 w 1146175"/>
                      <a:gd name="connsiteY13" fmla="*/ 713694 h 1125538"/>
                      <a:gd name="connsiteX14" fmla="*/ 805591 w 1146175"/>
                      <a:gd name="connsiteY14" fmla="*/ 805164 h 1125538"/>
                      <a:gd name="connsiteX15" fmla="*/ 608380 w 1146175"/>
                      <a:gd name="connsiteY15" fmla="*/ 794445 h 1125538"/>
                      <a:gd name="connsiteX16" fmla="*/ 553360 w 1146175"/>
                      <a:gd name="connsiteY16" fmla="*/ 772292 h 1125538"/>
                      <a:gd name="connsiteX17" fmla="*/ 544071 w 1146175"/>
                      <a:gd name="connsiteY17" fmla="*/ 755856 h 1125538"/>
                      <a:gd name="connsiteX18" fmla="*/ 557648 w 1146175"/>
                      <a:gd name="connsiteY18" fmla="*/ 742278 h 1125538"/>
                      <a:gd name="connsiteX19" fmla="*/ 715560 w 1146175"/>
                      <a:gd name="connsiteY19" fmla="*/ 726557 h 1125538"/>
                      <a:gd name="connsiteX20" fmla="*/ 759146 w 1146175"/>
                      <a:gd name="connsiteY20" fmla="*/ 679392 h 1125538"/>
                      <a:gd name="connsiteX21" fmla="*/ 713416 w 1146175"/>
                      <a:gd name="connsiteY21" fmla="*/ 631513 h 1125538"/>
                      <a:gd name="connsiteX22" fmla="*/ 409739 w 1146175"/>
                      <a:gd name="connsiteY22" fmla="*/ 615791 h 1125538"/>
                      <a:gd name="connsiteX23" fmla="*/ 390213 w 1146175"/>
                      <a:gd name="connsiteY23" fmla="*/ 584200 h 1125538"/>
                      <a:gd name="connsiteX24" fmla="*/ 393786 w 1146175"/>
                      <a:gd name="connsiteY24" fmla="*/ 584200 h 1125538"/>
                      <a:gd name="connsiteX25" fmla="*/ 396645 w 1146175"/>
                      <a:gd name="connsiteY25" fmla="*/ 584200 h 1125538"/>
                      <a:gd name="connsiteX26" fmla="*/ 399504 w 1146175"/>
                      <a:gd name="connsiteY26" fmla="*/ 584200 h 1125538"/>
                      <a:gd name="connsiteX27" fmla="*/ 403077 w 1146175"/>
                      <a:gd name="connsiteY27" fmla="*/ 584200 h 1125538"/>
                      <a:gd name="connsiteX28" fmla="*/ 410939 w 1146175"/>
                      <a:gd name="connsiteY28" fmla="*/ 584200 h 1125538"/>
                      <a:gd name="connsiteX29" fmla="*/ 715390 w 1146175"/>
                      <a:gd name="connsiteY29" fmla="*/ 599912 h 1125538"/>
                      <a:gd name="connsiteX30" fmla="*/ 780426 w 1146175"/>
                      <a:gd name="connsiteY30" fmla="*/ 640619 h 1125538"/>
                      <a:gd name="connsiteX31" fmla="*/ 782570 w 1146175"/>
                      <a:gd name="connsiteY31" fmla="*/ 644904 h 1125538"/>
                      <a:gd name="connsiteX32" fmla="*/ 789002 w 1146175"/>
                      <a:gd name="connsiteY32" fmla="*/ 663473 h 1125538"/>
                      <a:gd name="connsiteX33" fmla="*/ 790431 w 1146175"/>
                      <a:gd name="connsiteY33" fmla="*/ 679184 h 1125538"/>
                      <a:gd name="connsiteX34" fmla="*/ 789716 w 1146175"/>
                      <a:gd name="connsiteY34" fmla="*/ 684898 h 1125538"/>
                      <a:gd name="connsiteX35" fmla="*/ 789716 w 1146175"/>
                      <a:gd name="connsiteY35" fmla="*/ 685612 h 1125538"/>
                      <a:gd name="connsiteX36" fmla="*/ 789002 w 1146175"/>
                      <a:gd name="connsiteY36" fmla="*/ 691325 h 1125538"/>
                      <a:gd name="connsiteX37" fmla="*/ 763988 w 1146175"/>
                      <a:gd name="connsiteY37" fmla="*/ 738460 h 1125538"/>
                      <a:gd name="connsiteX38" fmla="*/ 763273 w 1146175"/>
                      <a:gd name="connsiteY38" fmla="*/ 738460 h 1125538"/>
                      <a:gd name="connsiteX39" fmla="*/ 758985 w 1146175"/>
                      <a:gd name="connsiteY39" fmla="*/ 742031 h 1125538"/>
                      <a:gd name="connsiteX40" fmla="*/ 754697 w 1146175"/>
                      <a:gd name="connsiteY40" fmla="*/ 744888 h 1125538"/>
                      <a:gd name="connsiteX41" fmla="*/ 753983 w 1146175"/>
                      <a:gd name="connsiteY41" fmla="*/ 745602 h 1125538"/>
                      <a:gd name="connsiteX42" fmla="*/ 749695 w 1146175"/>
                      <a:gd name="connsiteY42" fmla="*/ 748458 h 1125538"/>
                      <a:gd name="connsiteX43" fmla="*/ 748265 w 1146175"/>
                      <a:gd name="connsiteY43" fmla="*/ 749173 h 1125538"/>
                      <a:gd name="connsiteX44" fmla="*/ 743263 w 1146175"/>
                      <a:gd name="connsiteY44" fmla="*/ 751315 h 1125538"/>
                      <a:gd name="connsiteX45" fmla="*/ 742548 w 1146175"/>
                      <a:gd name="connsiteY45" fmla="*/ 752029 h 1125538"/>
                      <a:gd name="connsiteX46" fmla="*/ 738260 w 1146175"/>
                      <a:gd name="connsiteY46" fmla="*/ 753458 h 1125538"/>
                      <a:gd name="connsiteX47" fmla="*/ 718964 w 1146175"/>
                      <a:gd name="connsiteY47" fmla="*/ 757743 h 1125538"/>
                      <a:gd name="connsiteX48" fmla="*/ 624626 w 1146175"/>
                      <a:gd name="connsiteY48" fmla="*/ 767027 h 1125538"/>
                      <a:gd name="connsiteX49" fmla="*/ 743263 w 1146175"/>
                      <a:gd name="connsiteY49" fmla="*/ 784167 h 1125538"/>
                      <a:gd name="connsiteX50" fmla="*/ 775423 w 1146175"/>
                      <a:gd name="connsiteY50" fmla="*/ 779882 h 1125538"/>
                      <a:gd name="connsiteX51" fmla="*/ 785428 w 1146175"/>
                      <a:gd name="connsiteY51" fmla="*/ 777739 h 1125538"/>
                      <a:gd name="connsiteX52" fmla="*/ 786858 w 1146175"/>
                      <a:gd name="connsiteY52" fmla="*/ 777025 h 1125538"/>
                      <a:gd name="connsiteX53" fmla="*/ 796863 w 1146175"/>
                      <a:gd name="connsiteY53" fmla="*/ 774883 h 1125538"/>
                      <a:gd name="connsiteX54" fmla="*/ 826880 w 1146175"/>
                      <a:gd name="connsiteY54" fmla="*/ 764170 h 1125538"/>
                      <a:gd name="connsiteX55" fmla="*/ 909782 w 1146175"/>
                      <a:gd name="connsiteY55" fmla="*/ 711322 h 1125538"/>
                      <a:gd name="connsiteX56" fmla="*/ 928363 w 1146175"/>
                      <a:gd name="connsiteY56" fmla="*/ 692753 h 1125538"/>
                      <a:gd name="connsiteX57" fmla="*/ 975532 w 1146175"/>
                      <a:gd name="connsiteY57" fmla="*/ 639191 h 1125538"/>
                      <a:gd name="connsiteX58" fmla="*/ 978391 w 1146175"/>
                      <a:gd name="connsiteY58" fmla="*/ 635620 h 1125538"/>
                      <a:gd name="connsiteX59" fmla="*/ 979105 w 1146175"/>
                      <a:gd name="connsiteY59" fmla="*/ 635620 h 1125538"/>
                      <a:gd name="connsiteX60" fmla="*/ 1034135 w 1146175"/>
                      <a:gd name="connsiteY60" fmla="*/ 610624 h 1125538"/>
                      <a:gd name="connsiteX61" fmla="*/ 1034850 w 1146175"/>
                      <a:gd name="connsiteY61" fmla="*/ 610624 h 1125538"/>
                      <a:gd name="connsiteX62" fmla="*/ 1039138 w 1146175"/>
                      <a:gd name="connsiteY62" fmla="*/ 610624 h 1125538"/>
                      <a:gd name="connsiteX63" fmla="*/ 1040567 w 1146175"/>
                      <a:gd name="connsiteY63" fmla="*/ 610624 h 1125538"/>
                      <a:gd name="connsiteX64" fmla="*/ 1079875 w 1146175"/>
                      <a:gd name="connsiteY64" fmla="*/ 621337 h 1125538"/>
                      <a:gd name="connsiteX65" fmla="*/ 1083448 w 1146175"/>
                      <a:gd name="connsiteY65" fmla="*/ 623479 h 1125538"/>
                      <a:gd name="connsiteX66" fmla="*/ 1086307 w 1146175"/>
                      <a:gd name="connsiteY66" fmla="*/ 624908 h 1125538"/>
                      <a:gd name="connsiteX67" fmla="*/ 1087021 w 1146175"/>
                      <a:gd name="connsiteY67" fmla="*/ 625622 h 1125538"/>
                      <a:gd name="connsiteX68" fmla="*/ 1089880 w 1146175"/>
                      <a:gd name="connsiteY68" fmla="*/ 627764 h 1125538"/>
                      <a:gd name="connsiteX69" fmla="*/ 1090595 w 1146175"/>
                      <a:gd name="connsiteY69" fmla="*/ 628478 h 1125538"/>
                      <a:gd name="connsiteX70" fmla="*/ 1092739 w 1146175"/>
                      <a:gd name="connsiteY70" fmla="*/ 629907 h 1125538"/>
                      <a:gd name="connsiteX71" fmla="*/ 1095597 w 1146175"/>
                      <a:gd name="connsiteY71" fmla="*/ 632049 h 1125538"/>
                      <a:gd name="connsiteX72" fmla="*/ 1095597 w 1146175"/>
                      <a:gd name="connsiteY72" fmla="*/ 632763 h 1125538"/>
                      <a:gd name="connsiteX73" fmla="*/ 1103459 w 1146175"/>
                      <a:gd name="connsiteY73" fmla="*/ 749887 h 1125538"/>
                      <a:gd name="connsiteX74" fmla="*/ 1072013 w 1146175"/>
                      <a:gd name="connsiteY74" fmla="*/ 787738 h 1125538"/>
                      <a:gd name="connsiteX75" fmla="*/ 966241 w 1146175"/>
                      <a:gd name="connsiteY75" fmla="*/ 884150 h 1125538"/>
                      <a:gd name="connsiteX76" fmla="*/ 956950 w 1146175"/>
                      <a:gd name="connsiteY76" fmla="*/ 890577 h 1125538"/>
                      <a:gd name="connsiteX77" fmla="*/ 948374 w 1146175"/>
                      <a:gd name="connsiteY77" fmla="*/ 896291 h 1125538"/>
                      <a:gd name="connsiteX78" fmla="*/ 806154 w 1146175"/>
                      <a:gd name="connsiteY78" fmla="*/ 963422 h 1125538"/>
                      <a:gd name="connsiteX79" fmla="*/ 792575 w 1146175"/>
                      <a:gd name="connsiteY79" fmla="*/ 967707 h 1125538"/>
                      <a:gd name="connsiteX80" fmla="*/ 788287 w 1146175"/>
                      <a:gd name="connsiteY80" fmla="*/ 968422 h 1125538"/>
                      <a:gd name="connsiteX81" fmla="*/ 779711 w 1146175"/>
                      <a:gd name="connsiteY81" fmla="*/ 971278 h 1125538"/>
                      <a:gd name="connsiteX82" fmla="*/ 773994 w 1146175"/>
                      <a:gd name="connsiteY82" fmla="*/ 972707 h 1125538"/>
                      <a:gd name="connsiteX83" fmla="*/ 766132 w 1146175"/>
                      <a:gd name="connsiteY83" fmla="*/ 974135 h 1125538"/>
                      <a:gd name="connsiteX84" fmla="*/ 759700 w 1146175"/>
                      <a:gd name="connsiteY84" fmla="*/ 976277 h 1125538"/>
                      <a:gd name="connsiteX85" fmla="*/ 753983 w 1146175"/>
                      <a:gd name="connsiteY85" fmla="*/ 976992 h 1125538"/>
                      <a:gd name="connsiteX86" fmla="*/ 724681 w 1146175"/>
                      <a:gd name="connsiteY86" fmla="*/ 983419 h 1125538"/>
                      <a:gd name="connsiteX87" fmla="*/ 721822 w 1146175"/>
                      <a:gd name="connsiteY87" fmla="*/ 983419 h 1125538"/>
                      <a:gd name="connsiteX88" fmla="*/ 711102 w 1146175"/>
                      <a:gd name="connsiteY88" fmla="*/ 985562 h 1125538"/>
                      <a:gd name="connsiteX89" fmla="*/ 709673 w 1146175"/>
                      <a:gd name="connsiteY89" fmla="*/ 985562 h 1125538"/>
                      <a:gd name="connsiteX90" fmla="*/ 650355 w 1146175"/>
                      <a:gd name="connsiteY90" fmla="*/ 991989 h 1125538"/>
                      <a:gd name="connsiteX91" fmla="*/ 648211 w 1146175"/>
                      <a:gd name="connsiteY91" fmla="*/ 991989 h 1125538"/>
                      <a:gd name="connsiteX92" fmla="*/ 637491 w 1146175"/>
                      <a:gd name="connsiteY92" fmla="*/ 992703 h 1125538"/>
                      <a:gd name="connsiteX93" fmla="*/ 635347 w 1146175"/>
                      <a:gd name="connsiteY93" fmla="*/ 992703 h 1125538"/>
                      <a:gd name="connsiteX94" fmla="*/ 621053 w 1146175"/>
                      <a:gd name="connsiteY94" fmla="*/ 992703 h 1125538"/>
                      <a:gd name="connsiteX95" fmla="*/ 620338 w 1146175"/>
                      <a:gd name="connsiteY95" fmla="*/ 992703 h 1125538"/>
                      <a:gd name="connsiteX96" fmla="*/ 612477 w 1146175"/>
                      <a:gd name="connsiteY96" fmla="*/ 992703 h 1125538"/>
                      <a:gd name="connsiteX97" fmla="*/ 606045 w 1146175"/>
                      <a:gd name="connsiteY97" fmla="*/ 992703 h 1125538"/>
                      <a:gd name="connsiteX98" fmla="*/ 598898 w 1146175"/>
                      <a:gd name="connsiteY98" fmla="*/ 992703 h 1125538"/>
                      <a:gd name="connsiteX99" fmla="*/ 592466 w 1146175"/>
                      <a:gd name="connsiteY99" fmla="*/ 992703 h 1125538"/>
                      <a:gd name="connsiteX100" fmla="*/ 584605 w 1146175"/>
                      <a:gd name="connsiteY100" fmla="*/ 991989 h 1125538"/>
                      <a:gd name="connsiteX101" fmla="*/ 578887 w 1146175"/>
                      <a:gd name="connsiteY101" fmla="*/ 991989 h 1125538"/>
                      <a:gd name="connsiteX102" fmla="*/ 566738 w 1146175"/>
                      <a:gd name="connsiteY102" fmla="*/ 991275 h 1125538"/>
                      <a:gd name="connsiteX103" fmla="*/ 566023 w 1146175"/>
                      <a:gd name="connsiteY103" fmla="*/ 991275 h 1125538"/>
                      <a:gd name="connsiteX104" fmla="*/ 485265 w 1146175"/>
                      <a:gd name="connsiteY104" fmla="*/ 985562 h 1125538"/>
                      <a:gd name="connsiteX105" fmla="*/ 416656 w 1146175"/>
                      <a:gd name="connsiteY105" fmla="*/ 980562 h 1125538"/>
                      <a:gd name="connsiteX106" fmla="*/ 410939 w 1146175"/>
                      <a:gd name="connsiteY106" fmla="*/ 980562 h 1125538"/>
                      <a:gd name="connsiteX107" fmla="*/ 407365 w 1146175"/>
                      <a:gd name="connsiteY107" fmla="*/ 980562 h 1125538"/>
                      <a:gd name="connsiteX108" fmla="*/ 393072 w 1146175"/>
                      <a:gd name="connsiteY108" fmla="*/ 981991 h 1125538"/>
                      <a:gd name="connsiteX109" fmla="*/ 388784 w 1146175"/>
                      <a:gd name="connsiteY109" fmla="*/ 982705 h 1125538"/>
                      <a:gd name="connsiteX110" fmla="*/ 388784 w 1146175"/>
                      <a:gd name="connsiteY110" fmla="*/ 983419 h 1125538"/>
                      <a:gd name="connsiteX111" fmla="*/ 384496 w 1146175"/>
                      <a:gd name="connsiteY111" fmla="*/ 984133 h 1125538"/>
                      <a:gd name="connsiteX112" fmla="*/ 383781 w 1146175"/>
                      <a:gd name="connsiteY112" fmla="*/ 984847 h 1125538"/>
                      <a:gd name="connsiteX113" fmla="*/ 379493 w 1146175"/>
                      <a:gd name="connsiteY113" fmla="*/ 986276 h 1125538"/>
                      <a:gd name="connsiteX114" fmla="*/ 21441 w 1146175"/>
                      <a:gd name="connsiteY114" fmla="*/ 1124824 h 1125538"/>
                      <a:gd name="connsiteX115" fmla="*/ 15723 w 1146175"/>
                      <a:gd name="connsiteY115" fmla="*/ 1125538 h 1125538"/>
                      <a:gd name="connsiteX116" fmla="*/ 7147 w 1146175"/>
                      <a:gd name="connsiteY116" fmla="*/ 1122681 h 1125538"/>
                      <a:gd name="connsiteX117" fmla="*/ 0 w 1146175"/>
                      <a:gd name="connsiteY117" fmla="*/ 1109826 h 1125538"/>
                      <a:gd name="connsiteX118" fmla="*/ 0 w 1146175"/>
                      <a:gd name="connsiteY118" fmla="*/ 793451 h 1125538"/>
                      <a:gd name="connsiteX119" fmla="*/ 7862 w 1146175"/>
                      <a:gd name="connsiteY119" fmla="*/ 779882 h 1125538"/>
                      <a:gd name="connsiteX120" fmla="*/ 310169 w 1146175"/>
                      <a:gd name="connsiteY120" fmla="*/ 608482 h 1125538"/>
                      <a:gd name="connsiteX121" fmla="*/ 315887 w 1146175"/>
                      <a:gd name="connsiteY121" fmla="*/ 605625 h 1125538"/>
                      <a:gd name="connsiteX122" fmla="*/ 318031 w 1146175"/>
                      <a:gd name="connsiteY122" fmla="*/ 604197 h 1125538"/>
                      <a:gd name="connsiteX123" fmla="*/ 320889 w 1146175"/>
                      <a:gd name="connsiteY123" fmla="*/ 602768 h 1125538"/>
                      <a:gd name="connsiteX124" fmla="*/ 324463 w 1146175"/>
                      <a:gd name="connsiteY124" fmla="*/ 601340 h 1125538"/>
                      <a:gd name="connsiteX125" fmla="*/ 326607 w 1146175"/>
                      <a:gd name="connsiteY125" fmla="*/ 599912 h 1125538"/>
                      <a:gd name="connsiteX126" fmla="*/ 330180 w 1146175"/>
                      <a:gd name="connsiteY126" fmla="*/ 598483 h 1125538"/>
                      <a:gd name="connsiteX127" fmla="*/ 332324 w 1146175"/>
                      <a:gd name="connsiteY127" fmla="*/ 597769 h 1125538"/>
                      <a:gd name="connsiteX128" fmla="*/ 336612 w 1146175"/>
                      <a:gd name="connsiteY128" fmla="*/ 596341 h 1125538"/>
                      <a:gd name="connsiteX129" fmla="*/ 338042 w 1146175"/>
                      <a:gd name="connsiteY129" fmla="*/ 595627 h 1125538"/>
                      <a:gd name="connsiteX130" fmla="*/ 342330 w 1146175"/>
                      <a:gd name="connsiteY130" fmla="*/ 594198 h 1125538"/>
                      <a:gd name="connsiteX131" fmla="*/ 343044 w 1146175"/>
                      <a:gd name="connsiteY131" fmla="*/ 593484 h 1125538"/>
                      <a:gd name="connsiteX132" fmla="*/ 348047 w 1146175"/>
                      <a:gd name="connsiteY132" fmla="*/ 592056 h 1125538"/>
                      <a:gd name="connsiteX133" fmla="*/ 348762 w 1146175"/>
                      <a:gd name="connsiteY133" fmla="*/ 592056 h 1125538"/>
                      <a:gd name="connsiteX134" fmla="*/ 382352 w 1146175"/>
                      <a:gd name="connsiteY134" fmla="*/ 584914 h 1125538"/>
                      <a:gd name="connsiteX135" fmla="*/ 383781 w 1146175"/>
                      <a:gd name="connsiteY135" fmla="*/ 584914 h 1125538"/>
                      <a:gd name="connsiteX136" fmla="*/ 387354 w 1146175"/>
                      <a:gd name="connsiteY136" fmla="*/ 584914 h 1125538"/>
                      <a:gd name="connsiteX137" fmla="*/ 390213 w 1146175"/>
                      <a:gd name="connsiteY137" fmla="*/ 584200 h 1125538"/>
                      <a:gd name="connsiteX138" fmla="*/ 654433 w 1146175"/>
                      <a:gd name="connsiteY138" fmla="*/ 103187 h 1125538"/>
                      <a:gd name="connsiteX139" fmla="*/ 686457 w 1146175"/>
                      <a:gd name="connsiteY139" fmla="*/ 103187 h 1125538"/>
                      <a:gd name="connsiteX140" fmla="*/ 686457 w 1146175"/>
                      <a:gd name="connsiteY140" fmla="*/ 126776 h 1125538"/>
                      <a:gd name="connsiteX141" fmla="*/ 724174 w 1146175"/>
                      <a:gd name="connsiteY141" fmla="*/ 139643 h 1125538"/>
                      <a:gd name="connsiteX142" fmla="*/ 714211 w 1146175"/>
                      <a:gd name="connsiteY142" fmla="*/ 169665 h 1125538"/>
                      <a:gd name="connsiteX143" fmla="*/ 672936 w 1146175"/>
                      <a:gd name="connsiteY143" fmla="*/ 156083 h 1125538"/>
                      <a:gd name="connsiteX144" fmla="*/ 653722 w 1146175"/>
                      <a:gd name="connsiteY144" fmla="*/ 162517 h 1125538"/>
                      <a:gd name="connsiteX145" fmla="*/ 646605 w 1146175"/>
                      <a:gd name="connsiteY145" fmla="*/ 179672 h 1125538"/>
                      <a:gd name="connsiteX146" fmla="*/ 685034 w 1146175"/>
                      <a:gd name="connsiteY146" fmla="*/ 215413 h 1125538"/>
                      <a:gd name="connsiteX147" fmla="*/ 715634 w 1146175"/>
                      <a:gd name="connsiteY147" fmla="*/ 233998 h 1125538"/>
                      <a:gd name="connsiteX148" fmla="*/ 729155 w 1146175"/>
                      <a:gd name="connsiteY148" fmla="*/ 253298 h 1125538"/>
                      <a:gd name="connsiteX149" fmla="*/ 733425 w 1146175"/>
                      <a:gd name="connsiteY149" fmla="*/ 278317 h 1125538"/>
                      <a:gd name="connsiteX150" fmla="*/ 721327 w 1146175"/>
                      <a:gd name="connsiteY150" fmla="*/ 311198 h 1125538"/>
                      <a:gd name="connsiteX151" fmla="*/ 686457 w 1146175"/>
                      <a:gd name="connsiteY151" fmla="*/ 331213 h 1125538"/>
                      <a:gd name="connsiteX152" fmla="*/ 686457 w 1146175"/>
                      <a:gd name="connsiteY152" fmla="*/ 361950 h 1125538"/>
                      <a:gd name="connsiteX153" fmla="*/ 654433 w 1146175"/>
                      <a:gd name="connsiteY153" fmla="*/ 361950 h 1125538"/>
                      <a:gd name="connsiteX154" fmla="*/ 654433 w 1146175"/>
                      <a:gd name="connsiteY154" fmla="*/ 332643 h 1125538"/>
                      <a:gd name="connsiteX155" fmla="*/ 609600 w 1146175"/>
                      <a:gd name="connsiteY155" fmla="*/ 319061 h 1125538"/>
                      <a:gd name="connsiteX156" fmla="*/ 623833 w 1146175"/>
                      <a:gd name="connsiteY156" fmla="*/ 287609 h 1125538"/>
                      <a:gd name="connsiteX157" fmla="*/ 665820 w 1146175"/>
                      <a:gd name="connsiteY157" fmla="*/ 301906 h 1125538"/>
                      <a:gd name="connsiteX158" fmla="*/ 697132 w 1146175"/>
                      <a:gd name="connsiteY158" fmla="*/ 280461 h 1125538"/>
                      <a:gd name="connsiteX159" fmla="*/ 689304 w 1146175"/>
                      <a:gd name="connsiteY159" fmla="*/ 259732 h 1125538"/>
                      <a:gd name="connsiteX160" fmla="*/ 658703 w 1146175"/>
                      <a:gd name="connsiteY160" fmla="*/ 239002 h 1125538"/>
                      <a:gd name="connsiteX161" fmla="*/ 627391 w 1146175"/>
                      <a:gd name="connsiteY161" fmla="*/ 220417 h 1125538"/>
                      <a:gd name="connsiteX162" fmla="*/ 613870 w 1146175"/>
                      <a:gd name="connsiteY162" fmla="*/ 202546 h 1125538"/>
                      <a:gd name="connsiteX163" fmla="*/ 610312 w 1146175"/>
                      <a:gd name="connsiteY163" fmla="*/ 179672 h 1125538"/>
                      <a:gd name="connsiteX164" fmla="*/ 623121 w 1146175"/>
                      <a:gd name="connsiteY164" fmla="*/ 147506 h 1125538"/>
                      <a:gd name="connsiteX165" fmla="*/ 654433 w 1146175"/>
                      <a:gd name="connsiteY165" fmla="*/ 128920 h 1125538"/>
                      <a:gd name="connsiteX166" fmla="*/ 654433 w 1146175"/>
                      <a:gd name="connsiteY166" fmla="*/ 103187 h 1125538"/>
                      <a:gd name="connsiteX167" fmla="*/ 228600 w 1146175"/>
                      <a:gd name="connsiteY167" fmla="*/ 31750 h 1125538"/>
                      <a:gd name="connsiteX168" fmla="*/ 228600 w 1146175"/>
                      <a:gd name="connsiteY168" fmla="*/ 431800 h 1125538"/>
                      <a:gd name="connsiteX169" fmla="*/ 1114425 w 1146175"/>
                      <a:gd name="connsiteY169" fmla="*/ 431800 h 1125538"/>
                      <a:gd name="connsiteX170" fmla="*/ 1114425 w 1146175"/>
                      <a:gd name="connsiteY170" fmla="*/ 31750 h 1125538"/>
                      <a:gd name="connsiteX171" fmla="*/ 209003 w 1146175"/>
                      <a:gd name="connsiteY171" fmla="*/ 0 h 1125538"/>
                      <a:gd name="connsiteX172" fmla="*/ 1134023 w 1146175"/>
                      <a:gd name="connsiteY172" fmla="*/ 0 h 1125538"/>
                      <a:gd name="connsiteX173" fmla="*/ 1146175 w 1146175"/>
                      <a:gd name="connsiteY173" fmla="*/ 11428 h 1125538"/>
                      <a:gd name="connsiteX174" fmla="*/ 1146175 w 1146175"/>
                      <a:gd name="connsiteY174" fmla="*/ 451408 h 1125538"/>
                      <a:gd name="connsiteX175" fmla="*/ 1134023 w 1146175"/>
                      <a:gd name="connsiteY175" fmla="*/ 463550 h 1125538"/>
                      <a:gd name="connsiteX176" fmla="*/ 209003 w 1146175"/>
                      <a:gd name="connsiteY176" fmla="*/ 463550 h 1125538"/>
                      <a:gd name="connsiteX177" fmla="*/ 196850 w 1146175"/>
                      <a:gd name="connsiteY177" fmla="*/ 451408 h 1125538"/>
                      <a:gd name="connsiteX178" fmla="*/ 196850 w 1146175"/>
                      <a:gd name="connsiteY178" fmla="*/ 11428 h 1125538"/>
                      <a:gd name="connsiteX179" fmla="*/ 209003 w 1146175"/>
                      <a:gd name="connsiteY179" fmla="*/ 0 h 1125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1146175" h="1125538">
                        <a:moveTo>
                          <a:pt x="409739" y="615791"/>
                        </a:moveTo>
                        <a:cubicBezTo>
                          <a:pt x="380443" y="614362"/>
                          <a:pt x="351147" y="621508"/>
                          <a:pt x="326138" y="635801"/>
                        </a:cubicBezTo>
                        <a:cubicBezTo>
                          <a:pt x="326138" y="635801"/>
                          <a:pt x="326138" y="635801"/>
                          <a:pt x="31750" y="803020"/>
                        </a:cubicBezTo>
                        <a:cubicBezTo>
                          <a:pt x="31750" y="803020"/>
                          <a:pt x="31750" y="803020"/>
                          <a:pt x="31750" y="1087437"/>
                        </a:cubicBezTo>
                        <a:cubicBezTo>
                          <a:pt x="31750" y="1087437"/>
                          <a:pt x="31750" y="1087437"/>
                          <a:pt x="368296" y="957377"/>
                        </a:cubicBezTo>
                        <a:cubicBezTo>
                          <a:pt x="384730" y="950946"/>
                          <a:pt x="401879" y="948087"/>
                          <a:pt x="419028" y="949516"/>
                        </a:cubicBezTo>
                        <a:cubicBezTo>
                          <a:pt x="419028" y="949516"/>
                          <a:pt x="419028" y="949516"/>
                          <a:pt x="568366" y="960236"/>
                        </a:cubicBezTo>
                        <a:cubicBezTo>
                          <a:pt x="645535" y="965953"/>
                          <a:pt x="722705" y="956663"/>
                          <a:pt x="797017" y="933795"/>
                        </a:cubicBezTo>
                        <a:cubicBezTo>
                          <a:pt x="894908" y="903067"/>
                          <a:pt x="981367" y="845897"/>
                          <a:pt x="1047818" y="767290"/>
                        </a:cubicBezTo>
                        <a:cubicBezTo>
                          <a:pt x="1047818" y="767290"/>
                          <a:pt x="1047818" y="767290"/>
                          <a:pt x="1079972" y="730130"/>
                        </a:cubicBezTo>
                        <a:cubicBezTo>
                          <a:pt x="1098550" y="707977"/>
                          <a:pt x="1096407" y="675104"/>
                          <a:pt x="1074971" y="655810"/>
                        </a:cubicBezTo>
                        <a:cubicBezTo>
                          <a:pt x="1064253" y="646520"/>
                          <a:pt x="1050676" y="641517"/>
                          <a:pt x="1036386" y="642232"/>
                        </a:cubicBezTo>
                        <a:cubicBezTo>
                          <a:pt x="1022095" y="642947"/>
                          <a:pt x="1008519" y="649378"/>
                          <a:pt x="999230" y="660097"/>
                        </a:cubicBezTo>
                        <a:cubicBezTo>
                          <a:pt x="999230" y="660097"/>
                          <a:pt x="999230" y="660097"/>
                          <a:pt x="951356" y="713694"/>
                        </a:cubicBezTo>
                        <a:cubicBezTo>
                          <a:pt x="912771" y="758000"/>
                          <a:pt x="862039" y="789443"/>
                          <a:pt x="805591" y="805164"/>
                        </a:cubicBezTo>
                        <a:cubicBezTo>
                          <a:pt x="740568" y="823744"/>
                          <a:pt x="670544" y="819457"/>
                          <a:pt x="608380" y="794445"/>
                        </a:cubicBezTo>
                        <a:cubicBezTo>
                          <a:pt x="608380" y="794445"/>
                          <a:pt x="608380" y="794445"/>
                          <a:pt x="553360" y="772292"/>
                        </a:cubicBezTo>
                        <a:cubicBezTo>
                          <a:pt x="546930" y="769434"/>
                          <a:pt x="542642" y="763002"/>
                          <a:pt x="544071" y="755856"/>
                        </a:cubicBezTo>
                        <a:cubicBezTo>
                          <a:pt x="544786" y="748710"/>
                          <a:pt x="550502" y="742993"/>
                          <a:pt x="557648" y="742278"/>
                        </a:cubicBezTo>
                        <a:cubicBezTo>
                          <a:pt x="557648" y="742278"/>
                          <a:pt x="557648" y="742278"/>
                          <a:pt x="715560" y="726557"/>
                        </a:cubicBezTo>
                        <a:cubicBezTo>
                          <a:pt x="740568" y="724413"/>
                          <a:pt x="759146" y="703689"/>
                          <a:pt x="759146" y="679392"/>
                        </a:cubicBezTo>
                        <a:cubicBezTo>
                          <a:pt x="759146" y="653666"/>
                          <a:pt x="739139" y="632942"/>
                          <a:pt x="713416" y="631513"/>
                        </a:cubicBezTo>
                        <a:cubicBezTo>
                          <a:pt x="713416" y="631513"/>
                          <a:pt x="713416" y="631513"/>
                          <a:pt x="409739" y="615791"/>
                        </a:cubicBezTo>
                        <a:close/>
                        <a:moveTo>
                          <a:pt x="390213" y="584200"/>
                        </a:moveTo>
                        <a:cubicBezTo>
                          <a:pt x="391642" y="584200"/>
                          <a:pt x="392357" y="584200"/>
                          <a:pt x="393786" y="584200"/>
                        </a:cubicBezTo>
                        <a:cubicBezTo>
                          <a:pt x="394501" y="584200"/>
                          <a:pt x="395930" y="584200"/>
                          <a:pt x="396645" y="584200"/>
                        </a:cubicBezTo>
                        <a:cubicBezTo>
                          <a:pt x="398074" y="584200"/>
                          <a:pt x="398789" y="584200"/>
                          <a:pt x="399504" y="584200"/>
                        </a:cubicBezTo>
                        <a:cubicBezTo>
                          <a:pt x="400933" y="584200"/>
                          <a:pt x="401648" y="584200"/>
                          <a:pt x="403077" y="584200"/>
                        </a:cubicBezTo>
                        <a:cubicBezTo>
                          <a:pt x="405221" y="584200"/>
                          <a:pt x="408080" y="584200"/>
                          <a:pt x="410939" y="584200"/>
                        </a:cubicBezTo>
                        <a:cubicBezTo>
                          <a:pt x="410939" y="584200"/>
                          <a:pt x="410939" y="584200"/>
                          <a:pt x="715390" y="599912"/>
                        </a:cubicBezTo>
                        <a:cubicBezTo>
                          <a:pt x="743263" y="601340"/>
                          <a:pt x="766847" y="617766"/>
                          <a:pt x="780426" y="640619"/>
                        </a:cubicBezTo>
                        <a:cubicBezTo>
                          <a:pt x="781140" y="642048"/>
                          <a:pt x="781855" y="643476"/>
                          <a:pt x="782570" y="644904"/>
                        </a:cubicBezTo>
                        <a:cubicBezTo>
                          <a:pt x="785428" y="650618"/>
                          <a:pt x="787572" y="657045"/>
                          <a:pt x="789002" y="663473"/>
                        </a:cubicBezTo>
                        <a:cubicBezTo>
                          <a:pt x="789716" y="668472"/>
                          <a:pt x="790431" y="673471"/>
                          <a:pt x="790431" y="679184"/>
                        </a:cubicBezTo>
                        <a:cubicBezTo>
                          <a:pt x="790431" y="681327"/>
                          <a:pt x="790431" y="682755"/>
                          <a:pt x="789716" y="684898"/>
                        </a:cubicBezTo>
                        <a:cubicBezTo>
                          <a:pt x="789716" y="684898"/>
                          <a:pt x="789716" y="685612"/>
                          <a:pt x="789716" y="685612"/>
                        </a:cubicBezTo>
                        <a:cubicBezTo>
                          <a:pt x="789716" y="687754"/>
                          <a:pt x="789716" y="689183"/>
                          <a:pt x="789002" y="691325"/>
                        </a:cubicBezTo>
                        <a:cubicBezTo>
                          <a:pt x="786143" y="709893"/>
                          <a:pt x="776852" y="726319"/>
                          <a:pt x="763988" y="738460"/>
                        </a:cubicBezTo>
                        <a:cubicBezTo>
                          <a:pt x="763988" y="738460"/>
                          <a:pt x="763273" y="738460"/>
                          <a:pt x="763273" y="738460"/>
                        </a:cubicBezTo>
                        <a:cubicBezTo>
                          <a:pt x="761844" y="739888"/>
                          <a:pt x="760415" y="740603"/>
                          <a:pt x="758985" y="742031"/>
                        </a:cubicBezTo>
                        <a:cubicBezTo>
                          <a:pt x="757556" y="743459"/>
                          <a:pt x="756127" y="744173"/>
                          <a:pt x="754697" y="744888"/>
                        </a:cubicBezTo>
                        <a:cubicBezTo>
                          <a:pt x="753983" y="745602"/>
                          <a:pt x="753983" y="745602"/>
                          <a:pt x="753983" y="745602"/>
                        </a:cubicBezTo>
                        <a:cubicBezTo>
                          <a:pt x="752553" y="746316"/>
                          <a:pt x="751124" y="747744"/>
                          <a:pt x="749695" y="748458"/>
                        </a:cubicBezTo>
                        <a:cubicBezTo>
                          <a:pt x="748980" y="748458"/>
                          <a:pt x="748265" y="748458"/>
                          <a:pt x="748265" y="749173"/>
                        </a:cubicBezTo>
                        <a:cubicBezTo>
                          <a:pt x="746836" y="749887"/>
                          <a:pt x="745407" y="750601"/>
                          <a:pt x="743263" y="751315"/>
                        </a:cubicBezTo>
                        <a:cubicBezTo>
                          <a:pt x="743263" y="751315"/>
                          <a:pt x="742548" y="751315"/>
                          <a:pt x="742548" y="752029"/>
                        </a:cubicBezTo>
                        <a:cubicBezTo>
                          <a:pt x="741118" y="752029"/>
                          <a:pt x="739689" y="752743"/>
                          <a:pt x="738260" y="753458"/>
                        </a:cubicBezTo>
                        <a:cubicBezTo>
                          <a:pt x="731828" y="755600"/>
                          <a:pt x="725396" y="757028"/>
                          <a:pt x="718964" y="757743"/>
                        </a:cubicBezTo>
                        <a:cubicBezTo>
                          <a:pt x="718964" y="757743"/>
                          <a:pt x="718964" y="757743"/>
                          <a:pt x="624626" y="767027"/>
                        </a:cubicBezTo>
                        <a:cubicBezTo>
                          <a:pt x="662504" y="781310"/>
                          <a:pt x="703241" y="787023"/>
                          <a:pt x="743263" y="784167"/>
                        </a:cubicBezTo>
                        <a:cubicBezTo>
                          <a:pt x="753983" y="783453"/>
                          <a:pt x="764703" y="782024"/>
                          <a:pt x="775423" y="779882"/>
                        </a:cubicBezTo>
                        <a:cubicBezTo>
                          <a:pt x="778996" y="779168"/>
                          <a:pt x="781855" y="778453"/>
                          <a:pt x="785428" y="777739"/>
                        </a:cubicBezTo>
                        <a:cubicBezTo>
                          <a:pt x="786143" y="777739"/>
                          <a:pt x="786143" y="777739"/>
                          <a:pt x="786858" y="777025"/>
                        </a:cubicBezTo>
                        <a:cubicBezTo>
                          <a:pt x="790431" y="776311"/>
                          <a:pt x="793290" y="775597"/>
                          <a:pt x="796863" y="774883"/>
                        </a:cubicBezTo>
                        <a:cubicBezTo>
                          <a:pt x="806869" y="772026"/>
                          <a:pt x="816874" y="768455"/>
                          <a:pt x="826880" y="764170"/>
                        </a:cubicBezTo>
                        <a:cubicBezTo>
                          <a:pt x="857611" y="752029"/>
                          <a:pt x="885483" y="734175"/>
                          <a:pt x="909782" y="711322"/>
                        </a:cubicBezTo>
                        <a:cubicBezTo>
                          <a:pt x="916214" y="705608"/>
                          <a:pt x="921931" y="699181"/>
                          <a:pt x="928363" y="692753"/>
                        </a:cubicBezTo>
                        <a:cubicBezTo>
                          <a:pt x="928363" y="692753"/>
                          <a:pt x="928363" y="692753"/>
                          <a:pt x="975532" y="639191"/>
                        </a:cubicBezTo>
                        <a:cubicBezTo>
                          <a:pt x="976961" y="637763"/>
                          <a:pt x="977676" y="637048"/>
                          <a:pt x="978391" y="635620"/>
                        </a:cubicBezTo>
                        <a:cubicBezTo>
                          <a:pt x="979105" y="635620"/>
                          <a:pt x="979105" y="635620"/>
                          <a:pt x="979105" y="635620"/>
                        </a:cubicBezTo>
                        <a:cubicBezTo>
                          <a:pt x="994114" y="620623"/>
                          <a:pt x="1013410" y="612053"/>
                          <a:pt x="1034135" y="610624"/>
                        </a:cubicBezTo>
                        <a:cubicBezTo>
                          <a:pt x="1034850" y="610624"/>
                          <a:pt x="1034850" y="610624"/>
                          <a:pt x="1034850" y="610624"/>
                        </a:cubicBezTo>
                        <a:cubicBezTo>
                          <a:pt x="1036279" y="610624"/>
                          <a:pt x="1037709" y="610624"/>
                          <a:pt x="1039138" y="610624"/>
                        </a:cubicBezTo>
                        <a:cubicBezTo>
                          <a:pt x="1039138" y="610624"/>
                          <a:pt x="1039853" y="610624"/>
                          <a:pt x="1040567" y="610624"/>
                        </a:cubicBezTo>
                        <a:cubicBezTo>
                          <a:pt x="1054146" y="610624"/>
                          <a:pt x="1067725" y="614909"/>
                          <a:pt x="1079875" y="621337"/>
                        </a:cubicBezTo>
                        <a:cubicBezTo>
                          <a:pt x="1081304" y="622051"/>
                          <a:pt x="1082019" y="622765"/>
                          <a:pt x="1083448" y="623479"/>
                        </a:cubicBezTo>
                        <a:cubicBezTo>
                          <a:pt x="1084877" y="624193"/>
                          <a:pt x="1085592" y="624908"/>
                          <a:pt x="1086307" y="624908"/>
                        </a:cubicBezTo>
                        <a:cubicBezTo>
                          <a:pt x="1087021" y="625622"/>
                          <a:pt x="1087021" y="625622"/>
                          <a:pt x="1087021" y="625622"/>
                        </a:cubicBezTo>
                        <a:cubicBezTo>
                          <a:pt x="1087736" y="626336"/>
                          <a:pt x="1089165" y="627050"/>
                          <a:pt x="1089880" y="627764"/>
                        </a:cubicBezTo>
                        <a:cubicBezTo>
                          <a:pt x="1089880" y="627764"/>
                          <a:pt x="1090595" y="628478"/>
                          <a:pt x="1090595" y="628478"/>
                        </a:cubicBezTo>
                        <a:cubicBezTo>
                          <a:pt x="1091309" y="629193"/>
                          <a:pt x="1092024" y="629193"/>
                          <a:pt x="1092739" y="629907"/>
                        </a:cubicBezTo>
                        <a:cubicBezTo>
                          <a:pt x="1093453" y="630621"/>
                          <a:pt x="1094168" y="631335"/>
                          <a:pt x="1095597" y="632049"/>
                        </a:cubicBezTo>
                        <a:cubicBezTo>
                          <a:pt x="1095597" y="632049"/>
                          <a:pt x="1095597" y="632763"/>
                          <a:pt x="1095597" y="632763"/>
                        </a:cubicBezTo>
                        <a:cubicBezTo>
                          <a:pt x="1129902" y="663473"/>
                          <a:pt x="1133475" y="714893"/>
                          <a:pt x="1103459" y="749887"/>
                        </a:cubicBezTo>
                        <a:cubicBezTo>
                          <a:pt x="1103459" y="749887"/>
                          <a:pt x="1103459" y="749887"/>
                          <a:pt x="1072013" y="787738"/>
                        </a:cubicBezTo>
                        <a:cubicBezTo>
                          <a:pt x="1040567" y="824160"/>
                          <a:pt x="1004834" y="857012"/>
                          <a:pt x="966241" y="884150"/>
                        </a:cubicBezTo>
                        <a:cubicBezTo>
                          <a:pt x="963383" y="886292"/>
                          <a:pt x="959809" y="888435"/>
                          <a:pt x="956950" y="890577"/>
                        </a:cubicBezTo>
                        <a:cubicBezTo>
                          <a:pt x="954092" y="892720"/>
                          <a:pt x="951233" y="894862"/>
                          <a:pt x="948374" y="896291"/>
                        </a:cubicBezTo>
                        <a:cubicBezTo>
                          <a:pt x="904779" y="924857"/>
                          <a:pt x="856896" y="947711"/>
                          <a:pt x="806154" y="963422"/>
                        </a:cubicBezTo>
                        <a:cubicBezTo>
                          <a:pt x="801866" y="964851"/>
                          <a:pt x="797578" y="966279"/>
                          <a:pt x="792575" y="967707"/>
                        </a:cubicBezTo>
                        <a:cubicBezTo>
                          <a:pt x="791146" y="967707"/>
                          <a:pt x="789716" y="968422"/>
                          <a:pt x="788287" y="968422"/>
                        </a:cubicBezTo>
                        <a:cubicBezTo>
                          <a:pt x="785428" y="969136"/>
                          <a:pt x="782570" y="970564"/>
                          <a:pt x="779711" y="971278"/>
                        </a:cubicBezTo>
                        <a:cubicBezTo>
                          <a:pt x="777567" y="971278"/>
                          <a:pt x="775423" y="971992"/>
                          <a:pt x="773994" y="972707"/>
                        </a:cubicBezTo>
                        <a:cubicBezTo>
                          <a:pt x="771135" y="973421"/>
                          <a:pt x="768991" y="973421"/>
                          <a:pt x="766132" y="974135"/>
                        </a:cubicBezTo>
                        <a:cubicBezTo>
                          <a:pt x="763988" y="974849"/>
                          <a:pt x="761844" y="975563"/>
                          <a:pt x="759700" y="976277"/>
                        </a:cubicBezTo>
                        <a:cubicBezTo>
                          <a:pt x="757556" y="976277"/>
                          <a:pt x="756127" y="976992"/>
                          <a:pt x="753983" y="976992"/>
                        </a:cubicBezTo>
                        <a:cubicBezTo>
                          <a:pt x="743977" y="979134"/>
                          <a:pt x="733972" y="981277"/>
                          <a:pt x="724681" y="983419"/>
                        </a:cubicBezTo>
                        <a:cubicBezTo>
                          <a:pt x="723252" y="983419"/>
                          <a:pt x="722537" y="983419"/>
                          <a:pt x="721822" y="983419"/>
                        </a:cubicBezTo>
                        <a:cubicBezTo>
                          <a:pt x="718249" y="984133"/>
                          <a:pt x="714676" y="984847"/>
                          <a:pt x="711102" y="985562"/>
                        </a:cubicBezTo>
                        <a:cubicBezTo>
                          <a:pt x="710387" y="985562"/>
                          <a:pt x="710387" y="985562"/>
                          <a:pt x="709673" y="985562"/>
                        </a:cubicBezTo>
                        <a:cubicBezTo>
                          <a:pt x="689662" y="988418"/>
                          <a:pt x="670366" y="990561"/>
                          <a:pt x="650355" y="991989"/>
                        </a:cubicBezTo>
                        <a:cubicBezTo>
                          <a:pt x="649640" y="991989"/>
                          <a:pt x="648925" y="991989"/>
                          <a:pt x="648211" y="991989"/>
                        </a:cubicBezTo>
                        <a:cubicBezTo>
                          <a:pt x="644637" y="991989"/>
                          <a:pt x="641064" y="991989"/>
                          <a:pt x="637491" y="992703"/>
                        </a:cubicBezTo>
                        <a:cubicBezTo>
                          <a:pt x="636776" y="992703"/>
                          <a:pt x="636061" y="992703"/>
                          <a:pt x="635347" y="992703"/>
                        </a:cubicBezTo>
                        <a:cubicBezTo>
                          <a:pt x="630344" y="992703"/>
                          <a:pt x="626056" y="992703"/>
                          <a:pt x="621053" y="992703"/>
                        </a:cubicBezTo>
                        <a:cubicBezTo>
                          <a:pt x="621053" y="992703"/>
                          <a:pt x="620338" y="992703"/>
                          <a:pt x="620338" y="992703"/>
                        </a:cubicBezTo>
                        <a:cubicBezTo>
                          <a:pt x="617480" y="992703"/>
                          <a:pt x="614621" y="992703"/>
                          <a:pt x="612477" y="992703"/>
                        </a:cubicBezTo>
                        <a:cubicBezTo>
                          <a:pt x="610333" y="992703"/>
                          <a:pt x="608189" y="992703"/>
                          <a:pt x="606045" y="992703"/>
                        </a:cubicBezTo>
                        <a:cubicBezTo>
                          <a:pt x="603901" y="992703"/>
                          <a:pt x="601042" y="992703"/>
                          <a:pt x="598898" y="992703"/>
                        </a:cubicBezTo>
                        <a:cubicBezTo>
                          <a:pt x="596754" y="992703"/>
                          <a:pt x="594610" y="992703"/>
                          <a:pt x="592466" y="992703"/>
                        </a:cubicBezTo>
                        <a:cubicBezTo>
                          <a:pt x="589607" y="992703"/>
                          <a:pt x="587463" y="992703"/>
                          <a:pt x="584605" y="991989"/>
                        </a:cubicBezTo>
                        <a:cubicBezTo>
                          <a:pt x="582461" y="991989"/>
                          <a:pt x="581031" y="991989"/>
                          <a:pt x="578887" y="991989"/>
                        </a:cubicBezTo>
                        <a:cubicBezTo>
                          <a:pt x="575314" y="991989"/>
                          <a:pt x="571026" y="991275"/>
                          <a:pt x="566738" y="991275"/>
                        </a:cubicBezTo>
                        <a:cubicBezTo>
                          <a:pt x="566738" y="991275"/>
                          <a:pt x="566023" y="991275"/>
                          <a:pt x="566023" y="991275"/>
                        </a:cubicBezTo>
                        <a:cubicBezTo>
                          <a:pt x="566023" y="991275"/>
                          <a:pt x="566023" y="991275"/>
                          <a:pt x="485265" y="985562"/>
                        </a:cubicBezTo>
                        <a:cubicBezTo>
                          <a:pt x="485265" y="985562"/>
                          <a:pt x="485265" y="985562"/>
                          <a:pt x="416656" y="980562"/>
                        </a:cubicBezTo>
                        <a:cubicBezTo>
                          <a:pt x="415227" y="980562"/>
                          <a:pt x="413083" y="980562"/>
                          <a:pt x="410939" y="980562"/>
                        </a:cubicBezTo>
                        <a:cubicBezTo>
                          <a:pt x="410224" y="980562"/>
                          <a:pt x="408794" y="980562"/>
                          <a:pt x="407365" y="980562"/>
                        </a:cubicBezTo>
                        <a:cubicBezTo>
                          <a:pt x="402362" y="980562"/>
                          <a:pt x="398074" y="981277"/>
                          <a:pt x="393072" y="981991"/>
                        </a:cubicBezTo>
                        <a:cubicBezTo>
                          <a:pt x="391642" y="982705"/>
                          <a:pt x="390213" y="982705"/>
                          <a:pt x="388784" y="982705"/>
                        </a:cubicBezTo>
                        <a:cubicBezTo>
                          <a:pt x="388784" y="983419"/>
                          <a:pt x="388784" y="983419"/>
                          <a:pt x="388784" y="983419"/>
                        </a:cubicBezTo>
                        <a:cubicBezTo>
                          <a:pt x="387354" y="983419"/>
                          <a:pt x="385925" y="984133"/>
                          <a:pt x="384496" y="984133"/>
                        </a:cubicBezTo>
                        <a:cubicBezTo>
                          <a:pt x="384496" y="984133"/>
                          <a:pt x="384496" y="984133"/>
                          <a:pt x="383781" y="984847"/>
                        </a:cubicBezTo>
                        <a:cubicBezTo>
                          <a:pt x="382352" y="984847"/>
                          <a:pt x="380922" y="985562"/>
                          <a:pt x="379493" y="986276"/>
                        </a:cubicBezTo>
                        <a:cubicBezTo>
                          <a:pt x="379493" y="986276"/>
                          <a:pt x="379493" y="986276"/>
                          <a:pt x="21441" y="1124824"/>
                        </a:cubicBezTo>
                        <a:cubicBezTo>
                          <a:pt x="20011" y="1125538"/>
                          <a:pt x="17867" y="1125538"/>
                          <a:pt x="15723" y="1125538"/>
                        </a:cubicBezTo>
                        <a:cubicBezTo>
                          <a:pt x="12864" y="1125538"/>
                          <a:pt x="10006" y="1124824"/>
                          <a:pt x="7147" y="1122681"/>
                        </a:cubicBezTo>
                        <a:cubicBezTo>
                          <a:pt x="2859" y="1119825"/>
                          <a:pt x="0" y="1114826"/>
                          <a:pt x="0" y="1109826"/>
                        </a:cubicBezTo>
                        <a:cubicBezTo>
                          <a:pt x="0" y="1109826"/>
                          <a:pt x="0" y="1109826"/>
                          <a:pt x="0" y="793451"/>
                        </a:cubicBezTo>
                        <a:cubicBezTo>
                          <a:pt x="0" y="787738"/>
                          <a:pt x="3574" y="782738"/>
                          <a:pt x="7862" y="779882"/>
                        </a:cubicBezTo>
                        <a:cubicBezTo>
                          <a:pt x="7862" y="779882"/>
                          <a:pt x="7862" y="779882"/>
                          <a:pt x="310169" y="608482"/>
                        </a:cubicBezTo>
                        <a:cubicBezTo>
                          <a:pt x="311599" y="607053"/>
                          <a:pt x="313743" y="606339"/>
                          <a:pt x="315887" y="605625"/>
                        </a:cubicBezTo>
                        <a:cubicBezTo>
                          <a:pt x="316601" y="604911"/>
                          <a:pt x="317316" y="604911"/>
                          <a:pt x="318031" y="604197"/>
                        </a:cubicBezTo>
                        <a:cubicBezTo>
                          <a:pt x="318745" y="603483"/>
                          <a:pt x="320175" y="602768"/>
                          <a:pt x="320889" y="602768"/>
                        </a:cubicBezTo>
                        <a:cubicBezTo>
                          <a:pt x="322319" y="602054"/>
                          <a:pt x="323033" y="601340"/>
                          <a:pt x="324463" y="601340"/>
                        </a:cubicBezTo>
                        <a:cubicBezTo>
                          <a:pt x="325177" y="600626"/>
                          <a:pt x="325892" y="600626"/>
                          <a:pt x="326607" y="599912"/>
                        </a:cubicBezTo>
                        <a:cubicBezTo>
                          <a:pt x="328036" y="599198"/>
                          <a:pt x="329466" y="599198"/>
                          <a:pt x="330180" y="598483"/>
                        </a:cubicBezTo>
                        <a:cubicBezTo>
                          <a:pt x="330895" y="598483"/>
                          <a:pt x="331610" y="597769"/>
                          <a:pt x="332324" y="597769"/>
                        </a:cubicBezTo>
                        <a:cubicBezTo>
                          <a:pt x="333754" y="597055"/>
                          <a:pt x="335183" y="596341"/>
                          <a:pt x="336612" y="596341"/>
                        </a:cubicBezTo>
                        <a:cubicBezTo>
                          <a:pt x="336612" y="595627"/>
                          <a:pt x="337327" y="595627"/>
                          <a:pt x="338042" y="595627"/>
                        </a:cubicBezTo>
                        <a:cubicBezTo>
                          <a:pt x="339471" y="594913"/>
                          <a:pt x="340900" y="594198"/>
                          <a:pt x="342330" y="594198"/>
                        </a:cubicBezTo>
                        <a:cubicBezTo>
                          <a:pt x="343044" y="593484"/>
                          <a:pt x="343044" y="593484"/>
                          <a:pt x="343044" y="593484"/>
                        </a:cubicBezTo>
                        <a:cubicBezTo>
                          <a:pt x="345188" y="592770"/>
                          <a:pt x="346618" y="592770"/>
                          <a:pt x="348047" y="592056"/>
                        </a:cubicBezTo>
                        <a:cubicBezTo>
                          <a:pt x="348762" y="592056"/>
                          <a:pt x="348762" y="592056"/>
                          <a:pt x="348762" y="592056"/>
                        </a:cubicBezTo>
                        <a:cubicBezTo>
                          <a:pt x="360197" y="588485"/>
                          <a:pt x="370917" y="586343"/>
                          <a:pt x="382352" y="584914"/>
                        </a:cubicBezTo>
                        <a:cubicBezTo>
                          <a:pt x="383066" y="584914"/>
                          <a:pt x="383781" y="584914"/>
                          <a:pt x="383781" y="584914"/>
                        </a:cubicBezTo>
                        <a:cubicBezTo>
                          <a:pt x="385210" y="584914"/>
                          <a:pt x="386640" y="584914"/>
                          <a:pt x="387354" y="584914"/>
                        </a:cubicBezTo>
                        <a:cubicBezTo>
                          <a:pt x="388784" y="584914"/>
                          <a:pt x="389498" y="584914"/>
                          <a:pt x="390213" y="584200"/>
                        </a:cubicBezTo>
                        <a:close/>
                        <a:moveTo>
                          <a:pt x="654433" y="103187"/>
                        </a:moveTo>
                        <a:cubicBezTo>
                          <a:pt x="686457" y="103187"/>
                          <a:pt x="686457" y="103187"/>
                          <a:pt x="686457" y="103187"/>
                        </a:cubicBezTo>
                        <a:cubicBezTo>
                          <a:pt x="686457" y="126776"/>
                          <a:pt x="686457" y="126776"/>
                          <a:pt x="686457" y="126776"/>
                        </a:cubicBezTo>
                        <a:cubicBezTo>
                          <a:pt x="702825" y="128920"/>
                          <a:pt x="716346" y="132495"/>
                          <a:pt x="724174" y="139643"/>
                        </a:cubicBezTo>
                        <a:cubicBezTo>
                          <a:pt x="714211" y="169665"/>
                          <a:pt x="714211" y="169665"/>
                          <a:pt x="714211" y="169665"/>
                        </a:cubicBezTo>
                        <a:cubicBezTo>
                          <a:pt x="700690" y="161087"/>
                          <a:pt x="687169" y="156083"/>
                          <a:pt x="672936" y="156083"/>
                        </a:cubicBezTo>
                        <a:cubicBezTo>
                          <a:pt x="665108" y="156083"/>
                          <a:pt x="658703" y="158228"/>
                          <a:pt x="653722" y="162517"/>
                        </a:cubicBezTo>
                        <a:cubicBezTo>
                          <a:pt x="648740" y="167520"/>
                          <a:pt x="646605" y="172524"/>
                          <a:pt x="646605" y="179672"/>
                        </a:cubicBezTo>
                        <a:cubicBezTo>
                          <a:pt x="646605" y="191109"/>
                          <a:pt x="659415" y="203261"/>
                          <a:pt x="685034" y="215413"/>
                        </a:cubicBezTo>
                        <a:cubicBezTo>
                          <a:pt x="698555" y="222561"/>
                          <a:pt x="709230" y="228280"/>
                          <a:pt x="715634" y="233998"/>
                        </a:cubicBezTo>
                        <a:cubicBezTo>
                          <a:pt x="722039" y="239717"/>
                          <a:pt x="725597" y="246150"/>
                          <a:pt x="729155" y="253298"/>
                        </a:cubicBezTo>
                        <a:cubicBezTo>
                          <a:pt x="732002" y="261161"/>
                          <a:pt x="733425" y="269024"/>
                          <a:pt x="733425" y="278317"/>
                        </a:cubicBezTo>
                        <a:cubicBezTo>
                          <a:pt x="733425" y="290469"/>
                          <a:pt x="729867" y="301906"/>
                          <a:pt x="721327" y="311198"/>
                        </a:cubicBezTo>
                        <a:cubicBezTo>
                          <a:pt x="712788" y="320491"/>
                          <a:pt x="700690" y="327639"/>
                          <a:pt x="686457" y="331213"/>
                        </a:cubicBezTo>
                        <a:cubicBezTo>
                          <a:pt x="686457" y="361950"/>
                          <a:pt x="686457" y="361950"/>
                          <a:pt x="686457" y="361950"/>
                        </a:cubicBezTo>
                        <a:cubicBezTo>
                          <a:pt x="654433" y="361950"/>
                          <a:pt x="654433" y="361950"/>
                          <a:pt x="654433" y="361950"/>
                        </a:cubicBezTo>
                        <a:cubicBezTo>
                          <a:pt x="654433" y="332643"/>
                          <a:pt x="654433" y="332643"/>
                          <a:pt x="654433" y="332643"/>
                        </a:cubicBezTo>
                        <a:cubicBezTo>
                          <a:pt x="638777" y="332643"/>
                          <a:pt x="623833" y="327639"/>
                          <a:pt x="609600" y="319061"/>
                        </a:cubicBezTo>
                        <a:cubicBezTo>
                          <a:pt x="623833" y="287609"/>
                          <a:pt x="623833" y="287609"/>
                          <a:pt x="623833" y="287609"/>
                        </a:cubicBezTo>
                        <a:cubicBezTo>
                          <a:pt x="638066" y="296902"/>
                          <a:pt x="652299" y="301906"/>
                          <a:pt x="665820" y="301906"/>
                        </a:cubicBezTo>
                        <a:cubicBezTo>
                          <a:pt x="687169" y="301906"/>
                          <a:pt x="697132" y="294758"/>
                          <a:pt x="697132" y="280461"/>
                        </a:cubicBezTo>
                        <a:cubicBezTo>
                          <a:pt x="697132" y="273313"/>
                          <a:pt x="694997" y="266165"/>
                          <a:pt x="689304" y="259732"/>
                        </a:cubicBezTo>
                        <a:cubicBezTo>
                          <a:pt x="683611" y="254013"/>
                          <a:pt x="673648" y="246865"/>
                          <a:pt x="658703" y="239002"/>
                        </a:cubicBezTo>
                        <a:cubicBezTo>
                          <a:pt x="643047" y="231854"/>
                          <a:pt x="633084" y="225420"/>
                          <a:pt x="627391" y="220417"/>
                        </a:cubicBezTo>
                        <a:cubicBezTo>
                          <a:pt x="621698" y="215413"/>
                          <a:pt x="618140" y="209695"/>
                          <a:pt x="613870" y="202546"/>
                        </a:cubicBezTo>
                        <a:cubicBezTo>
                          <a:pt x="611735" y="195398"/>
                          <a:pt x="610312" y="188250"/>
                          <a:pt x="610312" y="179672"/>
                        </a:cubicBezTo>
                        <a:cubicBezTo>
                          <a:pt x="610312" y="167520"/>
                          <a:pt x="613870" y="156083"/>
                          <a:pt x="623121" y="147506"/>
                        </a:cubicBezTo>
                        <a:cubicBezTo>
                          <a:pt x="630949" y="138213"/>
                          <a:pt x="640912" y="131780"/>
                          <a:pt x="654433" y="128920"/>
                        </a:cubicBezTo>
                        <a:cubicBezTo>
                          <a:pt x="654433" y="103187"/>
                          <a:pt x="654433" y="103187"/>
                          <a:pt x="654433" y="103187"/>
                        </a:cubicBezTo>
                        <a:close/>
                        <a:moveTo>
                          <a:pt x="228600" y="31750"/>
                        </a:moveTo>
                        <a:lnTo>
                          <a:pt x="228600" y="431800"/>
                        </a:lnTo>
                        <a:lnTo>
                          <a:pt x="1114425" y="431800"/>
                        </a:lnTo>
                        <a:lnTo>
                          <a:pt x="1114425" y="31750"/>
                        </a:lnTo>
                        <a:close/>
                        <a:moveTo>
                          <a:pt x="209003" y="0"/>
                        </a:moveTo>
                        <a:cubicBezTo>
                          <a:pt x="1134023" y="0"/>
                          <a:pt x="1134023" y="0"/>
                          <a:pt x="1134023" y="0"/>
                        </a:cubicBezTo>
                        <a:cubicBezTo>
                          <a:pt x="1141171" y="0"/>
                          <a:pt x="1146175" y="5000"/>
                          <a:pt x="1146175" y="11428"/>
                        </a:cubicBezTo>
                        <a:cubicBezTo>
                          <a:pt x="1146175" y="451408"/>
                          <a:pt x="1146175" y="451408"/>
                          <a:pt x="1146175" y="451408"/>
                        </a:cubicBezTo>
                        <a:cubicBezTo>
                          <a:pt x="1146175" y="457836"/>
                          <a:pt x="1141171" y="463550"/>
                          <a:pt x="1134023" y="463550"/>
                        </a:cubicBezTo>
                        <a:cubicBezTo>
                          <a:pt x="209003" y="463550"/>
                          <a:pt x="209003" y="463550"/>
                          <a:pt x="209003" y="463550"/>
                        </a:cubicBezTo>
                        <a:cubicBezTo>
                          <a:pt x="202569" y="463550"/>
                          <a:pt x="196850" y="457836"/>
                          <a:pt x="196850" y="451408"/>
                        </a:cubicBezTo>
                        <a:cubicBezTo>
                          <a:pt x="196850" y="11428"/>
                          <a:pt x="196850" y="11428"/>
                          <a:pt x="196850" y="11428"/>
                        </a:cubicBezTo>
                        <a:cubicBezTo>
                          <a:pt x="196850" y="5000"/>
                          <a:pt x="202569" y="0"/>
                          <a:pt x="209003" y="0"/>
                        </a:cubicBezTo>
                        <a:close/>
                      </a:path>
                    </a:pathLst>
                  </a:custGeom>
                  <a:solidFill>
                    <a:srgbClr val="FFFFFF"/>
                  </a:solidFill>
                  <a:ln>
                    <a:noFill/>
                  </a:ln>
                </p:spPr>
                <p:txBody>
                  <a:bodyPr vert="horz" wrap="square" lIns="65837" tIns="32918" rIns="65837" bIns="32918" numCol="1" anchor="t" anchorCtr="0" compatLnSpc="1">
                    <a:prstTxWarp prst="textNoShape">
                      <a:avLst/>
                    </a:prstTxWarp>
                    <a:noAutofit/>
                  </a:bodyPr>
                  <a:lstStyle/>
                  <a:p>
                    <a:endParaRPr lang="en-US">
                      <a:ea typeface="Microsoft YaHei" panose="020B0503020204020204" pitchFamily="34" charset="-122"/>
                    </a:endParaRPr>
                  </a:p>
                </p:txBody>
              </p:sp>
            </p:grpSp>
          </p:grpSp>
        </p:grpSp>
        <p:grpSp>
          <p:nvGrpSpPr>
            <p:cNvPr id="9" name="Group 8">
              <a:extLst>
                <a:ext uri="{FF2B5EF4-FFF2-40B4-BE49-F238E27FC236}">
                  <a16:creationId xmlns:a16="http://schemas.microsoft.com/office/drawing/2014/main" id="{4D462D74-0399-42A9-B989-3281C18BE985}"/>
                </a:ext>
              </a:extLst>
            </p:cNvPr>
            <p:cNvGrpSpPr/>
            <p:nvPr/>
          </p:nvGrpSpPr>
          <p:grpSpPr>
            <a:xfrm>
              <a:off x="4309981" y="1319808"/>
              <a:ext cx="3478183" cy="1644342"/>
              <a:chOff x="4309981" y="1319808"/>
              <a:chExt cx="3478183" cy="1644342"/>
            </a:xfrm>
          </p:grpSpPr>
          <p:sp>
            <p:nvSpPr>
              <p:cNvPr id="18" name="ee4pHeader1">
                <a:extLst>
                  <a:ext uri="{FF2B5EF4-FFF2-40B4-BE49-F238E27FC236}">
                    <a16:creationId xmlns:a16="http://schemas.microsoft.com/office/drawing/2014/main" id="{5B52588B-6308-490E-BEB3-D306DD0150F1}"/>
                  </a:ext>
                </a:extLst>
              </p:cNvPr>
              <p:cNvSpPr txBox="1"/>
              <p:nvPr/>
            </p:nvSpPr>
            <p:spPr>
              <a:xfrm>
                <a:off x="4309981" y="1770970"/>
                <a:ext cx="3304771" cy="1193180"/>
              </a:xfrm>
              <a:prstGeom prst="rect">
                <a:avLst/>
              </a:prstGeom>
              <a:solidFill>
                <a:srgbClr val="F2F2F2"/>
              </a:solidFill>
              <a:ln w="6858" cap="rnd" cmpd="sng" algn="ctr">
                <a:solidFill>
                  <a:srgbClr val="9A9A9A"/>
                </a:solidFill>
                <a:prstDash val="solid"/>
                <a:round/>
                <a:headEnd type="none" w="med" len="med"/>
                <a:tailEnd type="none" w="med" len="med"/>
              </a:ln>
            </p:spPr>
            <p:txBody>
              <a:bodyPr wrap="square" lIns="91440" tIns="91440" rIns="91440" bIns="91440" rtlCol="0" anchor="t" anchorCtr="0">
                <a:noAutofit/>
              </a:bodyPr>
              <a:lstStyle/>
              <a:p>
                <a:pPr>
                  <a:buSzPct val="100000"/>
                  <a:buFont typeface="Trebuchet MS" panose="020B0603020202020204" pitchFamily="34" charset="0"/>
                  <a:buChar char="​"/>
                </a:pPr>
                <a:r>
                  <a:rPr lang="en-US" sz="1400" err="1">
                    <a:solidFill>
                      <a:schemeClr val="tx1">
                        <a:lumMod val="100000"/>
                      </a:schemeClr>
                    </a:solidFill>
                    <a:latin typeface="Trebuchet MS" panose="020B0603020202020204" pitchFamily="34" charset="0"/>
                    <a:ea typeface="Microsoft YaHei" panose="020B0503020204020204" pitchFamily="34" charset="-122"/>
                  </a:rPr>
                  <a:t>用利</a:t>
                </a:r>
                <a:r>
                  <a:rPr lang="zh-TW" altLang="en-US" sz="1400">
                    <a:solidFill>
                      <a:schemeClr val="tx1">
                        <a:lumMod val="100000"/>
                      </a:schemeClr>
                    </a:solidFill>
                    <a:latin typeface="Trebuchet MS" panose="020B0603020202020204" pitchFamily="34" charset="0"/>
                    <a:ea typeface="Microsoft YaHei" panose="020B0503020204020204" pitchFamily="34" charset="-122"/>
                  </a:rPr>
                  <a:t>於客戶的服務</a:t>
                </a:r>
                <a:r>
                  <a:rPr lang="en-US" altLang="zh-TW" sz="1400">
                    <a:solidFill>
                      <a:schemeClr val="tx1">
                        <a:lumMod val="100000"/>
                      </a:schemeClr>
                    </a:solidFill>
                    <a:latin typeface="Trebuchet MS" panose="020B0603020202020204" pitchFamily="34" charset="0"/>
                    <a:ea typeface="Microsoft YaHei" panose="020B0503020204020204" pitchFamily="34" charset="-122"/>
                  </a:rPr>
                  <a:t>/</a:t>
                </a:r>
                <a:r>
                  <a:rPr lang="zh-TW" altLang="en-US" sz="1400">
                    <a:solidFill>
                      <a:schemeClr val="tx1">
                        <a:lumMod val="100000"/>
                      </a:schemeClr>
                    </a:solidFill>
                    <a:latin typeface="Trebuchet MS" panose="020B0603020202020204" pitchFamily="34" charset="0"/>
                    <a:ea typeface="Microsoft YaHei" panose="020B0503020204020204" pitchFamily="34" charset="-122"/>
                  </a:rPr>
                  <a:t>產品</a:t>
                </a:r>
                <a:r>
                  <a:rPr lang="en-US" sz="1400" err="1">
                    <a:solidFill>
                      <a:schemeClr val="tx1">
                        <a:lumMod val="100000"/>
                      </a:schemeClr>
                    </a:solidFill>
                    <a:latin typeface="Trebuchet MS" panose="020B0603020202020204" pitchFamily="34" charset="0"/>
                    <a:ea typeface="Microsoft YaHei" panose="020B0503020204020204" pitchFamily="34" charset="-122"/>
                  </a:rPr>
                  <a:t>打破</a:t>
                </a:r>
                <a:r>
                  <a:rPr lang="zh-TW" altLang="en-US" sz="1400">
                    <a:solidFill>
                      <a:schemeClr val="tx1">
                        <a:lumMod val="100000"/>
                      </a:schemeClr>
                    </a:solidFill>
                    <a:latin typeface="Trebuchet MS" panose="020B0603020202020204" pitchFamily="34" charset="0"/>
                    <a:ea typeface="Microsoft YaHei" panose="020B0503020204020204" pitchFamily="34" charset="-122"/>
                  </a:rPr>
                  <a:t>既有服務</a:t>
                </a:r>
                <a:r>
                  <a:rPr lang="en-US" sz="1400" err="1">
                    <a:solidFill>
                      <a:schemeClr val="tx1">
                        <a:lumMod val="100000"/>
                      </a:schemeClr>
                    </a:solidFill>
                    <a:latin typeface="Trebuchet MS" panose="020B0603020202020204" pitchFamily="34" charset="0"/>
                    <a:ea typeface="Microsoft YaHei" panose="020B0503020204020204" pitchFamily="34" charset="-122"/>
                  </a:rPr>
                  <a:t>模式，增加正面</a:t>
                </a:r>
                <a:r>
                  <a:rPr lang="zh-TW" altLang="en-US" sz="1400">
                    <a:solidFill>
                      <a:schemeClr val="tx1">
                        <a:lumMod val="100000"/>
                      </a:schemeClr>
                    </a:solidFill>
                    <a:latin typeface="Trebuchet MS" panose="020B0603020202020204" pitchFamily="34" charset="0"/>
                    <a:ea typeface="Microsoft YaHei" panose="020B0503020204020204" pitchFamily="34" charset="-122"/>
                  </a:rPr>
                  <a:t>觀感</a:t>
                </a:r>
                <a:endParaRPr lang="en-US" sz="1400">
                  <a:solidFill>
                    <a:schemeClr val="tx1">
                      <a:lumMod val="100000"/>
                    </a:schemeClr>
                  </a:solidFill>
                  <a:latin typeface="Trebuchet MS" panose="020B0603020202020204" pitchFamily="34" charset="0"/>
                  <a:ea typeface="Microsoft YaHei" panose="020B0503020204020204" pitchFamily="34" charset="-122"/>
                </a:endParaRPr>
              </a:p>
              <a:p>
                <a:pPr>
                  <a:buSzPct val="100000"/>
                  <a:buFont typeface="Trebuchet MS" panose="020B0603020202020204" pitchFamily="34" charset="0"/>
                  <a:buChar char="​"/>
                </a:pPr>
                <a:endParaRPr lang="en-US" sz="1600">
                  <a:solidFill>
                    <a:schemeClr val="tx1">
                      <a:lumMod val="100000"/>
                    </a:schemeClr>
                  </a:solidFill>
                  <a:latin typeface="Trebuchet MS" panose="020B0603020202020204" pitchFamily="34" charset="0"/>
                  <a:ea typeface="Microsoft YaHei" panose="020B0503020204020204" pitchFamily="34" charset="-122"/>
                </a:endParaRPr>
              </a:p>
              <a:p>
                <a:pPr marL="0" lvl="1">
                  <a:buClr>
                    <a:schemeClr val="tx2">
                      <a:lumMod val="100000"/>
                    </a:schemeClr>
                  </a:buClr>
                  <a:buSzPct val="100000"/>
                </a:pPr>
                <a:r>
                  <a:rPr lang="en-US" sz="1400">
                    <a:solidFill>
                      <a:schemeClr val="tx1">
                        <a:lumMod val="100000"/>
                      </a:schemeClr>
                    </a:solidFill>
                    <a:latin typeface="Trebuchet MS" panose="020B0603020202020204" pitchFamily="34" charset="0"/>
                    <a:ea typeface="Microsoft YaHei" panose="020B0503020204020204" pitchFamily="34" charset="-122"/>
                  </a:rPr>
                  <a:t>"您的卡上有7個訂閱</a:t>
                </a:r>
                <a:r>
                  <a:rPr lang="zh-TW" altLang="en-US" sz="1400">
                    <a:solidFill>
                      <a:schemeClr val="tx1">
                        <a:lumMod val="100000"/>
                      </a:schemeClr>
                    </a:solidFill>
                    <a:latin typeface="Trebuchet MS" panose="020B0603020202020204" pitchFamily="34" charset="0"/>
                    <a:ea typeface="Microsoft YaHei" panose="020B0503020204020204" pitchFamily="34" charset="-122"/>
                  </a:rPr>
                  <a:t>服務</a:t>
                </a:r>
                <a:r>
                  <a:rPr lang="en-US" sz="1400">
                    <a:solidFill>
                      <a:schemeClr val="tx1">
                        <a:lumMod val="100000"/>
                      </a:schemeClr>
                    </a:solidFill>
                    <a:latin typeface="Trebuchet MS" panose="020B0603020202020204" pitchFamily="34" charset="0"/>
                    <a:ea typeface="Microsoft YaHei" panose="020B0503020204020204" pitchFamily="34" charset="-122"/>
                  </a:rPr>
                  <a:t>，由</a:t>
                </a:r>
                <a:r>
                  <a:rPr lang="zh-TW" altLang="en-US" sz="1400">
                    <a:solidFill>
                      <a:schemeClr val="tx1">
                        <a:lumMod val="100000"/>
                      </a:schemeClr>
                    </a:solidFill>
                    <a:latin typeface="Trebuchet MS" panose="020B0603020202020204" pitchFamily="34" charset="0"/>
                    <a:ea typeface="Microsoft YaHei" panose="020B0503020204020204" pitchFamily="34" charset="-122"/>
                  </a:rPr>
                  <a:t>此處更高效地</a:t>
                </a:r>
                <a:r>
                  <a:rPr lang="en-US" sz="1400" err="1">
                    <a:solidFill>
                      <a:schemeClr val="tx1">
                        <a:lumMod val="100000"/>
                      </a:schemeClr>
                    </a:solidFill>
                    <a:latin typeface="Trebuchet MS" panose="020B0603020202020204" pitchFamily="34" charset="0"/>
                    <a:ea typeface="Microsoft YaHei" panose="020B0503020204020204" pitchFamily="34" charset="-122"/>
                  </a:rPr>
                  <a:t>管理您的現金流出</a:t>
                </a:r>
                <a:r>
                  <a:rPr lang="en-US" sz="1400">
                    <a:solidFill>
                      <a:schemeClr val="tx1">
                        <a:lumMod val="100000"/>
                      </a:schemeClr>
                    </a:solidFill>
                    <a:latin typeface="Trebuchet MS" panose="020B0603020202020204" pitchFamily="34" charset="0"/>
                    <a:ea typeface="Microsoft YaHei" panose="020B0503020204020204" pitchFamily="34" charset="-122"/>
                  </a:rPr>
                  <a:t>"</a:t>
                </a:r>
              </a:p>
            </p:txBody>
          </p:sp>
          <p:sp>
            <p:nvSpPr>
              <p:cNvPr id="120" name="Rounded Rectangle 30">
                <a:extLst>
                  <a:ext uri="{FF2B5EF4-FFF2-40B4-BE49-F238E27FC236}">
                    <a16:creationId xmlns:a16="http://schemas.microsoft.com/office/drawing/2014/main" id="{7043D340-D163-467A-997E-F5F67B00F82E}"/>
                  </a:ext>
                </a:extLst>
              </p:cNvPr>
              <p:cNvSpPr>
                <a:spLocks noChangeArrowheads="1"/>
              </p:cNvSpPr>
              <p:nvPr/>
            </p:nvSpPr>
            <p:spPr bwMode="auto">
              <a:xfrm>
                <a:off x="4489721" y="1391826"/>
                <a:ext cx="3298443" cy="409105"/>
              </a:xfrm>
              <a:prstGeom prst="roundRect">
                <a:avLst>
                  <a:gd name="adj" fmla="val 50000"/>
                </a:avLst>
              </a:prstGeom>
              <a:solidFill>
                <a:schemeClr val="bg1">
                  <a:lumMod val="85000"/>
                </a:schemeClr>
              </a:solidFill>
              <a:ln>
                <a:noFill/>
              </a:ln>
            </p:spPr>
            <p:txBody>
              <a:bodyPr vert="horz" wrap="square" lIns="45720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TW" altLang="en-US" sz="1600" b="1">
                    <a:solidFill>
                      <a:srgbClr val="670F31"/>
                    </a:solidFill>
                    <a:ea typeface="Microsoft YaHei" panose="020B0503020204020204" pitchFamily="34" charset="-122"/>
                  </a:rPr>
                  <a:t>依財務狀況觸發</a:t>
                </a:r>
                <a:endParaRPr lang="en-US" sz="1600" b="1">
                  <a:solidFill>
                    <a:srgbClr val="670F31"/>
                  </a:solidFill>
                  <a:latin typeface="Trebuchet MS" panose="020B0603020202020204" pitchFamily="34" charset="0"/>
                  <a:ea typeface="Microsoft YaHei" panose="020B0503020204020204" pitchFamily="34" charset="-122"/>
                  <a:sym typeface="Trebuchet MS" panose="020B0603020202020204" pitchFamily="34" charset="0"/>
                </a:endParaRPr>
              </a:p>
            </p:txBody>
          </p:sp>
          <p:grpSp>
            <p:nvGrpSpPr>
              <p:cNvPr id="121" name="Group 120">
                <a:extLst>
                  <a:ext uri="{FF2B5EF4-FFF2-40B4-BE49-F238E27FC236}">
                    <a16:creationId xmlns:a16="http://schemas.microsoft.com/office/drawing/2014/main" id="{642CF62B-48E6-4192-BB95-CADE69CCE817}"/>
                  </a:ext>
                </a:extLst>
              </p:cNvPr>
              <p:cNvGrpSpPr/>
              <p:nvPr/>
            </p:nvGrpSpPr>
            <p:grpSpPr>
              <a:xfrm>
                <a:off x="4309982" y="1319808"/>
                <a:ext cx="702244" cy="521457"/>
                <a:chOff x="629997" y="1545149"/>
                <a:chExt cx="1144825" cy="600364"/>
              </a:xfrm>
            </p:grpSpPr>
            <p:sp>
              <p:nvSpPr>
                <p:cNvPr id="122" name="Freeform 29">
                  <a:extLst>
                    <a:ext uri="{FF2B5EF4-FFF2-40B4-BE49-F238E27FC236}">
                      <a16:creationId xmlns:a16="http://schemas.microsoft.com/office/drawing/2014/main" id="{5370E8EA-A0A8-4B92-A749-B2596AF76520}"/>
                    </a:ext>
                  </a:extLst>
                </p:cNvPr>
                <p:cNvSpPr>
                  <a:spLocks/>
                </p:cNvSpPr>
                <p:nvPr/>
              </p:nvSpPr>
              <p:spPr bwMode="auto">
                <a:xfrm>
                  <a:off x="1618042" y="1545149"/>
                  <a:ext cx="156780" cy="91462"/>
                </a:xfrm>
                <a:custGeom>
                  <a:avLst/>
                  <a:gdLst>
                    <a:gd name="T0" fmla="*/ 95 w 95"/>
                    <a:gd name="T1" fmla="*/ 51 h 51"/>
                    <a:gd name="T2" fmla="*/ 0 w 95"/>
                    <a:gd name="T3" fmla="*/ 51 h 51"/>
                    <a:gd name="T4" fmla="*/ 39 w 95"/>
                    <a:gd name="T5" fmla="*/ 0 h 51"/>
                    <a:gd name="T6" fmla="*/ 95 w 95"/>
                    <a:gd name="T7" fmla="*/ 51 h 51"/>
                  </a:gdLst>
                  <a:ahLst/>
                  <a:cxnLst>
                    <a:cxn ang="0">
                      <a:pos x="T0" y="T1"/>
                    </a:cxn>
                    <a:cxn ang="0">
                      <a:pos x="T2" y="T3"/>
                    </a:cxn>
                    <a:cxn ang="0">
                      <a:pos x="T4" y="T5"/>
                    </a:cxn>
                    <a:cxn ang="0">
                      <a:pos x="T6" y="T7"/>
                    </a:cxn>
                  </a:cxnLst>
                  <a:rect l="0" t="0" r="r" b="b"/>
                  <a:pathLst>
                    <a:path w="95" h="51">
                      <a:moveTo>
                        <a:pt x="95" y="51"/>
                      </a:moveTo>
                      <a:lnTo>
                        <a:pt x="0" y="51"/>
                      </a:lnTo>
                      <a:lnTo>
                        <a:pt x="39" y="0"/>
                      </a:lnTo>
                      <a:lnTo>
                        <a:pt x="95" y="51"/>
                      </a:ln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rgbClr val="000000"/>
                    </a:solidFill>
                    <a:latin typeface="Trebuchet MS" panose="020B0603020202020204" pitchFamily="34" charset="0"/>
                    <a:ea typeface="Microsoft YaHei" panose="020B0503020204020204" pitchFamily="34" charset="-122"/>
                    <a:sym typeface="Trebuchet MS" panose="020B0603020202020204" pitchFamily="34" charset="0"/>
                  </a:endParaRPr>
                </a:p>
              </p:txBody>
            </p:sp>
            <p:sp>
              <p:nvSpPr>
                <p:cNvPr id="123" name="Freeform: Shape 76">
                  <a:extLst>
                    <a:ext uri="{FF2B5EF4-FFF2-40B4-BE49-F238E27FC236}">
                      <a16:creationId xmlns:a16="http://schemas.microsoft.com/office/drawing/2014/main" id="{ABFEFE9F-DDD2-4086-AFA3-39988BAC6387}"/>
                    </a:ext>
                  </a:extLst>
                </p:cNvPr>
                <p:cNvSpPr>
                  <a:spLocks/>
                </p:cNvSpPr>
                <p:nvPr/>
              </p:nvSpPr>
              <p:spPr bwMode="auto">
                <a:xfrm>
                  <a:off x="1055771" y="1603886"/>
                  <a:ext cx="538474" cy="493589"/>
                </a:xfrm>
                <a:custGeom>
                  <a:avLst/>
                  <a:gdLst>
                    <a:gd name="connsiteX0" fmla="*/ 0 w 949466"/>
                    <a:gd name="connsiteY0" fmla="*/ 0 h 800896"/>
                    <a:gd name="connsiteX1" fmla="*/ 949466 w 949466"/>
                    <a:gd name="connsiteY1" fmla="*/ 0 h 800896"/>
                    <a:gd name="connsiteX2" fmla="*/ 344345 w 949466"/>
                    <a:gd name="connsiteY2" fmla="*/ 800896 h 800896"/>
                    <a:gd name="connsiteX3" fmla="*/ 0 w 949466"/>
                    <a:gd name="connsiteY3" fmla="*/ 800896 h 800896"/>
                  </a:gdLst>
                  <a:ahLst/>
                  <a:cxnLst>
                    <a:cxn ang="0">
                      <a:pos x="connsiteX0" y="connsiteY0"/>
                    </a:cxn>
                    <a:cxn ang="0">
                      <a:pos x="connsiteX1" y="connsiteY1"/>
                    </a:cxn>
                    <a:cxn ang="0">
                      <a:pos x="connsiteX2" y="connsiteY2"/>
                    </a:cxn>
                    <a:cxn ang="0">
                      <a:pos x="connsiteX3" y="connsiteY3"/>
                    </a:cxn>
                  </a:cxnLst>
                  <a:rect l="l" t="t" r="r" b="b"/>
                  <a:pathLst>
                    <a:path w="949466" h="800896">
                      <a:moveTo>
                        <a:pt x="0" y="0"/>
                      </a:moveTo>
                      <a:lnTo>
                        <a:pt x="949466" y="0"/>
                      </a:lnTo>
                      <a:lnTo>
                        <a:pt x="344345" y="800896"/>
                      </a:lnTo>
                      <a:lnTo>
                        <a:pt x="0" y="800896"/>
                      </a:lnTo>
                      <a:close/>
                    </a:path>
                  </a:pathLst>
                </a:custGeom>
                <a:solidFill>
                  <a:schemeClr val="accent4"/>
                </a:solidFill>
                <a:ln>
                  <a:noFill/>
                </a:ln>
                <a:effectLst>
                  <a:outerShdw blurRad="228600" dist="76200" algn="l" rotWithShape="0">
                    <a:prstClr val="black">
                      <a:alpha val="40000"/>
                    </a:prstClr>
                  </a:outerShdw>
                </a:effectLst>
              </p:spPr>
              <p:txBody>
                <a:bodyPr vert="horz" wrap="square" lIns="182880" tIns="45720" rIns="91440" bIns="45720" numCol="1" anchor="ctr"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6600" b="1">
                    <a:solidFill>
                      <a:prstClr val="white"/>
                    </a:solidFill>
                    <a:latin typeface="Trebuchet MS" panose="020B0603020202020204" pitchFamily="34" charset="0"/>
                    <a:ea typeface="Microsoft YaHei" panose="020B0503020204020204" pitchFamily="34" charset="-122"/>
                    <a:sym typeface="Trebuchet MS" panose="020B0603020202020204" pitchFamily="34" charset="0"/>
                  </a:endParaRPr>
                </a:p>
              </p:txBody>
            </p:sp>
            <p:sp>
              <p:nvSpPr>
                <p:cNvPr id="124" name="Freeform 32">
                  <a:extLst>
                    <a:ext uri="{FF2B5EF4-FFF2-40B4-BE49-F238E27FC236}">
                      <a16:creationId xmlns:a16="http://schemas.microsoft.com/office/drawing/2014/main" id="{3C9AB922-B461-470A-BD69-BB188E41B60A}"/>
                    </a:ext>
                  </a:extLst>
                </p:cNvPr>
                <p:cNvSpPr>
                  <a:spLocks/>
                </p:cNvSpPr>
                <p:nvPr/>
              </p:nvSpPr>
              <p:spPr bwMode="auto">
                <a:xfrm>
                  <a:off x="629997" y="1545149"/>
                  <a:ext cx="1057882" cy="600364"/>
                </a:xfrm>
                <a:custGeom>
                  <a:avLst/>
                  <a:gdLst>
                    <a:gd name="T0" fmla="*/ 1175 w 1175"/>
                    <a:gd name="T1" fmla="*/ 0 h 675"/>
                    <a:gd name="T2" fmla="*/ 0 w 1175"/>
                    <a:gd name="T3" fmla="*/ 0 h 675"/>
                    <a:gd name="T4" fmla="*/ 0 w 1175"/>
                    <a:gd name="T5" fmla="*/ 675 h 675"/>
                    <a:gd name="T6" fmla="*/ 665 w 1175"/>
                    <a:gd name="T7" fmla="*/ 675 h 675"/>
                    <a:gd name="T8" fmla="*/ 1175 w 1175"/>
                    <a:gd name="T9" fmla="*/ 0 h 675"/>
                  </a:gdLst>
                  <a:ahLst/>
                  <a:cxnLst>
                    <a:cxn ang="0">
                      <a:pos x="T0" y="T1"/>
                    </a:cxn>
                    <a:cxn ang="0">
                      <a:pos x="T2" y="T3"/>
                    </a:cxn>
                    <a:cxn ang="0">
                      <a:pos x="T4" y="T5"/>
                    </a:cxn>
                    <a:cxn ang="0">
                      <a:pos x="T6" y="T7"/>
                    </a:cxn>
                    <a:cxn ang="0">
                      <a:pos x="T8" y="T9"/>
                    </a:cxn>
                  </a:cxnLst>
                  <a:rect l="0" t="0" r="r" b="b"/>
                  <a:pathLst>
                    <a:path w="1175" h="675">
                      <a:moveTo>
                        <a:pt x="1175" y="0"/>
                      </a:moveTo>
                      <a:lnTo>
                        <a:pt x="0" y="0"/>
                      </a:lnTo>
                      <a:lnTo>
                        <a:pt x="0" y="675"/>
                      </a:lnTo>
                      <a:lnTo>
                        <a:pt x="665" y="675"/>
                      </a:lnTo>
                      <a:lnTo>
                        <a:pt x="1175" y="0"/>
                      </a:lnTo>
                      <a:close/>
                    </a:path>
                  </a:pathLst>
                </a:custGeom>
                <a:solidFill>
                  <a:srgbClr val="670F31"/>
                </a:solidFill>
                <a:ln>
                  <a:noFill/>
                </a:ln>
              </p:spPr>
              <p:txBody>
                <a:bodyPr vert="horz" wrap="square" lIns="27432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6600" b="1">
                    <a:solidFill>
                      <a:prstClr val="white"/>
                    </a:solidFill>
                    <a:effectLst>
                      <a:outerShdw blurRad="38100" dist="38100" dir="2700000" algn="tl">
                        <a:srgbClr val="000000">
                          <a:alpha val="43137"/>
                        </a:srgbClr>
                      </a:outerShdw>
                    </a:effectLst>
                    <a:latin typeface="Trebuchet MS" panose="020B0603020202020204" pitchFamily="34" charset="0"/>
                    <a:ea typeface="Microsoft YaHei" panose="020B0503020204020204" pitchFamily="34" charset="-122"/>
                    <a:sym typeface="Trebuchet MS" panose="020B0603020202020204" pitchFamily="34" charset="0"/>
                  </a:endParaRPr>
                </a:p>
              </p:txBody>
            </p:sp>
          </p:grpSp>
          <p:grpSp>
            <p:nvGrpSpPr>
              <p:cNvPr id="142" name="Group 141">
                <a:extLst>
                  <a:ext uri="{FF2B5EF4-FFF2-40B4-BE49-F238E27FC236}">
                    <a16:creationId xmlns:a16="http://schemas.microsoft.com/office/drawing/2014/main" id="{DD878B6C-B620-4329-B974-10562C02D219}"/>
                  </a:ext>
                </a:extLst>
              </p:cNvPr>
              <p:cNvGrpSpPr>
                <a:grpSpLocks noChangeAspect="1"/>
              </p:cNvGrpSpPr>
              <p:nvPr/>
            </p:nvGrpSpPr>
            <p:grpSpPr>
              <a:xfrm>
                <a:off x="4345449" y="1374782"/>
                <a:ext cx="377202" cy="377202"/>
                <a:chOff x="5867400" y="3200400"/>
                <a:chExt cx="457200" cy="457200"/>
              </a:xfrm>
            </p:grpSpPr>
            <p:sp>
              <p:nvSpPr>
                <p:cNvPr id="143" name="AutoShape 9">
                  <a:extLst>
                    <a:ext uri="{FF2B5EF4-FFF2-40B4-BE49-F238E27FC236}">
                      <a16:creationId xmlns:a16="http://schemas.microsoft.com/office/drawing/2014/main" id="{1DE624F3-B8AE-4D42-94E7-F4D8AAC06FB5}"/>
                    </a:ext>
                  </a:extLst>
                </p:cNvPr>
                <p:cNvSpPr>
                  <a:spLocks noChangeAspect="1" noChangeArrowheads="1" noTextEdit="1"/>
                </p:cNvSpPr>
                <p:nvPr/>
              </p:nvSpPr>
              <p:spPr bwMode="auto">
                <a:xfrm>
                  <a:off x="5867400" y="3200400"/>
                  <a:ext cx="457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15">
                  <a:extLst>
                    <a:ext uri="{FF2B5EF4-FFF2-40B4-BE49-F238E27FC236}">
                      <a16:creationId xmlns:a16="http://schemas.microsoft.com/office/drawing/2014/main" id="{8FFA7D00-D66F-4163-B21A-6F7A10DCEDAF}"/>
                    </a:ext>
                  </a:extLst>
                </p:cNvPr>
                <p:cNvSpPr>
                  <a:spLocks/>
                </p:cNvSpPr>
                <p:nvPr/>
              </p:nvSpPr>
              <p:spPr bwMode="auto">
                <a:xfrm>
                  <a:off x="5895975" y="3227388"/>
                  <a:ext cx="400050" cy="403225"/>
                </a:xfrm>
                <a:custGeom>
                  <a:avLst/>
                  <a:gdLst>
                    <a:gd name="connsiteX0" fmla="*/ 31583 w 400050"/>
                    <a:gd name="connsiteY0" fmla="*/ 349250 h 403225"/>
                    <a:gd name="connsiteX1" fmla="*/ 368467 w 400050"/>
                    <a:gd name="connsiteY1" fmla="*/ 349250 h 403225"/>
                    <a:gd name="connsiteX2" fmla="*/ 373502 w 400050"/>
                    <a:gd name="connsiteY2" fmla="*/ 354239 h 403225"/>
                    <a:gd name="connsiteX3" fmla="*/ 373502 w 400050"/>
                    <a:gd name="connsiteY3" fmla="*/ 365125 h 403225"/>
                    <a:gd name="connsiteX4" fmla="*/ 395015 w 400050"/>
                    <a:gd name="connsiteY4" fmla="*/ 365125 h 403225"/>
                    <a:gd name="connsiteX5" fmla="*/ 400050 w 400050"/>
                    <a:gd name="connsiteY5" fmla="*/ 369661 h 403225"/>
                    <a:gd name="connsiteX6" fmla="*/ 400050 w 400050"/>
                    <a:gd name="connsiteY6" fmla="*/ 398236 h 403225"/>
                    <a:gd name="connsiteX7" fmla="*/ 395015 w 400050"/>
                    <a:gd name="connsiteY7" fmla="*/ 403225 h 403225"/>
                    <a:gd name="connsiteX8" fmla="*/ 5035 w 400050"/>
                    <a:gd name="connsiteY8" fmla="*/ 403225 h 403225"/>
                    <a:gd name="connsiteX9" fmla="*/ 0 w 400050"/>
                    <a:gd name="connsiteY9" fmla="*/ 398236 h 403225"/>
                    <a:gd name="connsiteX10" fmla="*/ 0 w 400050"/>
                    <a:gd name="connsiteY10" fmla="*/ 369661 h 403225"/>
                    <a:gd name="connsiteX11" fmla="*/ 5035 w 400050"/>
                    <a:gd name="connsiteY11" fmla="*/ 365125 h 403225"/>
                    <a:gd name="connsiteX12" fmla="*/ 26548 w 400050"/>
                    <a:gd name="connsiteY12" fmla="*/ 365125 h 403225"/>
                    <a:gd name="connsiteX13" fmla="*/ 26548 w 400050"/>
                    <a:gd name="connsiteY13" fmla="*/ 354239 h 403225"/>
                    <a:gd name="connsiteX14" fmla="*/ 31583 w 400050"/>
                    <a:gd name="connsiteY14" fmla="*/ 349250 h 403225"/>
                    <a:gd name="connsiteX15" fmla="*/ 312470 w 400050"/>
                    <a:gd name="connsiteY15" fmla="*/ 165100 h 403225"/>
                    <a:gd name="connsiteX16" fmla="*/ 339993 w 400050"/>
                    <a:gd name="connsiteY16" fmla="*/ 165100 h 403225"/>
                    <a:gd name="connsiteX17" fmla="*/ 342249 w 400050"/>
                    <a:gd name="connsiteY17" fmla="*/ 166932 h 403225"/>
                    <a:gd name="connsiteX18" fmla="*/ 347663 w 400050"/>
                    <a:gd name="connsiteY18" fmla="*/ 326323 h 403225"/>
                    <a:gd name="connsiteX19" fmla="*/ 345407 w 400050"/>
                    <a:gd name="connsiteY19" fmla="*/ 328155 h 403225"/>
                    <a:gd name="connsiteX20" fmla="*/ 345407 w 400050"/>
                    <a:gd name="connsiteY20" fmla="*/ 328613 h 403225"/>
                    <a:gd name="connsiteX21" fmla="*/ 307056 w 400050"/>
                    <a:gd name="connsiteY21" fmla="*/ 328613 h 403225"/>
                    <a:gd name="connsiteX22" fmla="*/ 307056 w 400050"/>
                    <a:gd name="connsiteY22" fmla="*/ 328155 h 403225"/>
                    <a:gd name="connsiteX23" fmla="*/ 304800 w 400050"/>
                    <a:gd name="connsiteY23" fmla="*/ 326323 h 403225"/>
                    <a:gd name="connsiteX24" fmla="*/ 310215 w 400050"/>
                    <a:gd name="connsiteY24" fmla="*/ 166932 h 403225"/>
                    <a:gd name="connsiteX25" fmla="*/ 312470 w 400050"/>
                    <a:gd name="connsiteY25" fmla="*/ 165100 h 403225"/>
                    <a:gd name="connsiteX26" fmla="*/ 189140 w 400050"/>
                    <a:gd name="connsiteY26" fmla="*/ 165100 h 403225"/>
                    <a:gd name="connsiteX27" fmla="*/ 208643 w 400050"/>
                    <a:gd name="connsiteY27" fmla="*/ 165100 h 403225"/>
                    <a:gd name="connsiteX28" fmla="*/ 208643 w 400050"/>
                    <a:gd name="connsiteY28" fmla="*/ 165557 h 403225"/>
                    <a:gd name="connsiteX29" fmla="*/ 208643 w 400050"/>
                    <a:gd name="connsiteY29" fmla="*/ 179716 h 403225"/>
                    <a:gd name="connsiteX30" fmla="*/ 232229 w 400050"/>
                    <a:gd name="connsiteY30" fmla="*/ 187480 h 403225"/>
                    <a:gd name="connsiteX31" fmla="*/ 225425 w 400050"/>
                    <a:gd name="connsiteY31" fmla="*/ 207120 h 403225"/>
                    <a:gd name="connsiteX32" fmla="*/ 200479 w 400050"/>
                    <a:gd name="connsiteY32" fmla="*/ 198442 h 403225"/>
                    <a:gd name="connsiteX33" fmla="*/ 188686 w 400050"/>
                    <a:gd name="connsiteY33" fmla="*/ 202553 h 403225"/>
                    <a:gd name="connsiteX34" fmla="*/ 184604 w 400050"/>
                    <a:gd name="connsiteY34" fmla="*/ 213058 h 403225"/>
                    <a:gd name="connsiteX35" fmla="*/ 208190 w 400050"/>
                    <a:gd name="connsiteY35" fmla="*/ 235895 h 403225"/>
                    <a:gd name="connsiteX36" fmla="*/ 226332 w 400050"/>
                    <a:gd name="connsiteY36" fmla="*/ 247313 h 403225"/>
                    <a:gd name="connsiteX37" fmla="*/ 234950 w 400050"/>
                    <a:gd name="connsiteY37" fmla="*/ 259645 h 403225"/>
                    <a:gd name="connsiteX38" fmla="*/ 238125 w 400050"/>
                    <a:gd name="connsiteY38" fmla="*/ 275175 h 403225"/>
                    <a:gd name="connsiteX39" fmla="*/ 230415 w 400050"/>
                    <a:gd name="connsiteY39" fmla="*/ 296185 h 403225"/>
                    <a:gd name="connsiteX40" fmla="*/ 208643 w 400050"/>
                    <a:gd name="connsiteY40" fmla="*/ 308517 h 403225"/>
                    <a:gd name="connsiteX41" fmla="*/ 208643 w 400050"/>
                    <a:gd name="connsiteY41" fmla="*/ 328156 h 403225"/>
                    <a:gd name="connsiteX42" fmla="*/ 208643 w 400050"/>
                    <a:gd name="connsiteY42" fmla="*/ 328613 h 403225"/>
                    <a:gd name="connsiteX43" fmla="*/ 189140 w 400050"/>
                    <a:gd name="connsiteY43" fmla="*/ 328613 h 403225"/>
                    <a:gd name="connsiteX44" fmla="*/ 189140 w 400050"/>
                    <a:gd name="connsiteY44" fmla="*/ 328156 h 403225"/>
                    <a:gd name="connsiteX45" fmla="*/ 189140 w 400050"/>
                    <a:gd name="connsiteY45" fmla="*/ 309887 h 403225"/>
                    <a:gd name="connsiteX46" fmla="*/ 161925 w 400050"/>
                    <a:gd name="connsiteY46" fmla="*/ 301209 h 403225"/>
                    <a:gd name="connsiteX47" fmla="*/ 170090 w 400050"/>
                    <a:gd name="connsiteY47" fmla="*/ 281112 h 403225"/>
                    <a:gd name="connsiteX48" fmla="*/ 195943 w 400050"/>
                    <a:gd name="connsiteY48" fmla="*/ 290247 h 403225"/>
                    <a:gd name="connsiteX49" fmla="*/ 215900 w 400050"/>
                    <a:gd name="connsiteY49" fmla="*/ 276545 h 403225"/>
                    <a:gd name="connsiteX50" fmla="*/ 210911 w 400050"/>
                    <a:gd name="connsiteY50" fmla="*/ 263756 h 403225"/>
                    <a:gd name="connsiteX51" fmla="*/ 191861 w 400050"/>
                    <a:gd name="connsiteY51" fmla="*/ 250967 h 403225"/>
                    <a:gd name="connsiteX52" fmla="*/ 172811 w 400050"/>
                    <a:gd name="connsiteY52" fmla="*/ 239092 h 403225"/>
                    <a:gd name="connsiteX53" fmla="*/ 164647 w 400050"/>
                    <a:gd name="connsiteY53" fmla="*/ 227674 h 403225"/>
                    <a:gd name="connsiteX54" fmla="*/ 161925 w 400050"/>
                    <a:gd name="connsiteY54" fmla="*/ 213515 h 403225"/>
                    <a:gd name="connsiteX55" fmla="*/ 169636 w 400050"/>
                    <a:gd name="connsiteY55" fmla="*/ 192505 h 403225"/>
                    <a:gd name="connsiteX56" fmla="*/ 189140 w 400050"/>
                    <a:gd name="connsiteY56" fmla="*/ 180629 h 403225"/>
                    <a:gd name="connsiteX57" fmla="*/ 189140 w 400050"/>
                    <a:gd name="connsiteY57" fmla="*/ 165557 h 403225"/>
                    <a:gd name="connsiteX58" fmla="*/ 189140 w 400050"/>
                    <a:gd name="connsiteY58" fmla="*/ 165100 h 403225"/>
                    <a:gd name="connsiteX59" fmla="*/ 60342 w 400050"/>
                    <a:gd name="connsiteY59" fmla="*/ 165100 h 403225"/>
                    <a:gd name="connsiteX60" fmla="*/ 88884 w 400050"/>
                    <a:gd name="connsiteY60" fmla="*/ 165100 h 403225"/>
                    <a:gd name="connsiteX61" fmla="*/ 91223 w 400050"/>
                    <a:gd name="connsiteY61" fmla="*/ 166932 h 403225"/>
                    <a:gd name="connsiteX62" fmla="*/ 96838 w 400050"/>
                    <a:gd name="connsiteY62" fmla="*/ 326323 h 403225"/>
                    <a:gd name="connsiteX63" fmla="*/ 94498 w 400050"/>
                    <a:gd name="connsiteY63" fmla="*/ 328155 h 403225"/>
                    <a:gd name="connsiteX64" fmla="*/ 94498 w 400050"/>
                    <a:gd name="connsiteY64" fmla="*/ 328613 h 403225"/>
                    <a:gd name="connsiteX65" fmla="*/ 54727 w 400050"/>
                    <a:gd name="connsiteY65" fmla="*/ 328613 h 403225"/>
                    <a:gd name="connsiteX66" fmla="*/ 54727 w 400050"/>
                    <a:gd name="connsiteY66" fmla="*/ 328155 h 403225"/>
                    <a:gd name="connsiteX67" fmla="*/ 52388 w 400050"/>
                    <a:gd name="connsiteY67" fmla="*/ 326323 h 403225"/>
                    <a:gd name="connsiteX68" fmla="*/ 58002 w 400050"/>
                    <a:gd name="connsiteY68" fmla="*/ 166932 h 403225"/>
                    <a:gd name="connsiteX69" fmla="*/ 60342 w 400050"/>
                    <a:gd name="connsiteY69" fmla="*/ 165100 h 403225"/>
                    <a:gd name="connsiteX70" fmla="*/ 200026 w 400050"/>
                    <a:gd name="connsiteY70" fmla="*/ 63500 h 403225"/>
                    <a:gd name="connsiteX71" fmla="*/ 179388 w 400050"/>
                    <a:gd name="connsiteY71" fmla="*/ 84138 h 403225"/>
                    <a:gd name="connsiteX72" fmla="*/ 200026 w 400050"/>
                    <a:gd name="connsiteY72" fmla="*/ 104776 h 403225"/>
                    <a:gd name="connsiteX73" fmla="*/ 220664 w 400050"/>
                    <a:gd name="connsiteY73" fmla="*/ 84138 h 403225"/>
                    <a:gd name="connsiteX74" fmla="*/ 200026 w 400050"/>
                    <a:gd name="connsiteY74" fmla="*/ 63500 h 403225"/>
                    <a:gd name="connsiteX75" fmla="*/ 200025 w 400050"/>
                    <a:gd name="connsiteY75" fmla="*/ 0 h 403225"/>
                    <a:gd name="connsiteX76" fmla="*/ 202314 w 400050"/>
                    <a:gd name="connsiteY76" fmla="*/ 461 h 403225"/>
                    <a:gd name="connsiteX77" fmla="*/ 397304 w 400050"/>
                    <a:gd name="connsiteY77" fmla="*/ 96752 h 403225"/>
                    <a:gd name="connsiteX78" fmla="*/ 400050 w 400050"/>
                    <a:gd name="connsiteY78" fmla="*/ 101360 h 403225"/>
                    <a:gd name="connsiteX79" fmla="*/ 400050 w 400050"/>
                    <a:gd name="connsiteY79" fmla="*/ 117024 h 403225"/>
                    <a:gd name="connsiteX80" fmla="*/ 395473 w 400050"/>
                    <a:gd name="connsiteY80" fmla="*/ 122092 h 403225"/>
                    <a:gd name="connsiteX81" fmla="*/ 362975 w 400050"/>
                    <a:gd name="connsiteY81" fmla="*/ 122092 h 403225"/>
                    <a:gd name="connsiteX82" fmla="*/ 362975 w 400050"/>
                    <a:gd name="connsiteY82" fmla="*/ 140982 h 403225"/>
                    <a:gd name="connsiteX83" fmla="*/ 358397 w 400050"/>
                    <a:gd name="connsiteY83" fmla="*/ 146050 h 403225"/>
                    <a:gd name="connsiteX84" fmla="*/ 41653 w 400050"/>
                    <a:gd name="connsiteY84" fmla="*/ 146050 h 403225"/>
                    <a:gd name="connsiteX85" fmla="*/ 37076 w 400050"/>
                    <a:gd name="connsiteY85" fmla="*/ 140982 h 403225"/>
                    <a:gd name="connsiteX86" fmla="*/ 37076 w 400050"/>
                    <a:gd name="connsiteY86" fmla="*/ 122092 h 403225"/>
                    <a:gd name="connsiteX87" fmla="*/ 4577 w 400050"/>
                    <a:gd name="connsiteY87" fmla="*/ 122092 h 403225"/>
                    <a:gd name="connsiteX88" fmla="*/ 0 w 400050"/>
                    <a:gd name="connsiteY88" fmla="*/ 117024 h 403225"/>
                    <a:gd name="connsiteX89" fmla="*/ 0 w 400050"/>
                    <a:gd name="connsiteY89" fmla="*/ 101360 h 403225"/>
                    <a:gd name="connsiteX90" fmla="*/ 2747 w 400050"/>
                    <a:gd name="connsiteY90" fmla="*/ 96752 h 403225"/>
                    <a:gd name="connsiteX91" fmla="*/ 197737 w 400050"/>
                    <a:gd name="connsiteY91" fmla="*/ 461 h 403225"/>
                    <a:gd name="connsiteX92" fmla="*/ 200025 w 400050"/>
                    <a:gd name="connsiteY92" fmla="*/ 0 h 403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400050" h="403225">
                      <a:moveTo>
                        <a:pt x="31583" y="349250"/>
                      </a:moveTo>
                      <a:cubicBezTo>
                        <a:pt x="31583" y="349250"/>
                        <a:pt x="31583" y="349250"/>
                        <a:pt x="368467" y="349250"/>
                      </a:cubicBezTo>
                      <a:cubicBezTo>
                        <a:pt x="371671" y="349250"/>
                        <a:pt x="373502" y="351518"/>
                        <a:pt x="373502" y="354239"/>
                      </a:cubicBezTo>
                      <a:cubicBezTo>
                        <a:pt x="373502" y="354239"/>
                        <a:pt x="373502" y="354239"/>
                        <a:pt x="373502" y="365125"/>
                      </a:cubicBezTo>
                      <a:cubicBezTo>
                        <a:pt x="373502" y="365125"/>
                        <a:pt x="373502" y="365125"/>
                        <a:pt x="395015" y="365125"/>
                      </a:cubicBezTo>
                      <a:cubicBezTo>
                        <a:pt x="397762" y="365125"/>
                        <a:pt x="400050" y="366939"/>
                        <a:pt x="400050" y="369661"/>
                      </a:cubicBezTo>
                      <a:cubicBezTo>
                        <a:pt x="400050" y="369661"/>
                        <a:pt x="400050" y="369661"/>
                        <a:pt x="400050" y="398236"/>
                      </a:cubicBezTo>
                      <a:cubicBezTo>
                        <a:pt x="400050" y="400957"/>
                        <a:pt x="397762" y="403225"/>
                        <a:pt x="395015" y="403225"/>
                      </a:cubicBezTo>
                      <a:cubicBezTo>
                        <a:pt x="395015" y="403225"/>
                        <a:pt x="395015" y="403225"/>
                        <a:pt x="5035" y="403225"/>
                      </a:cubicBezTo>
                      <a:cubicBezTo>
                        <a:pt x="2288" y="403225"/>
                        <a:pt x="0" y="400957"/>
                        <a:pt x="0" y="398236"/>
                      </a:cubicBezTo>
                      <a:cubicBezTo>
                        <a:pt x="0" y="398236"/>
                        <a:pt x="0" y="398236"/>
                        <a:pt x="0" y="369661"/>
                      </a:cubicBezTo>
                      <a:cubicBezTo>
                        <a:pt x="0" y="366939"/>
                        <a:pt x="2288" y="365125"/>
                        <a:pt x="5035" y="365125"/>
                      </a:cubicBezTo>
                      <a:cubicBezTo>
                        <a:pt x="5035" y="365125"/>
                        <a:pt x="5035" y="365125"/>
                        <a:pt x="26548" y="365125"/>
                      </a:cubicBezTo>
                      <a:cubicBezTo>
                        <a:pt x="26548" y="365125"/>
                        <a:pt x="26548" y="365125"/>
                        <a:pt x="26548" y="354239"/>
                      </a:cubicBezTo>
                      <a:cubicBezTo>
                        <a:pt x="26548" y="351518"/>
                        <a:pt x="28379" y="349250"/>
                        <a:pt x="31583" y="349250"/>
                      </a:cubicBezTo>
                      <a:close/>
                      <a:moveTo>
                        <a:pt x="312470" y="165100"/>
                      </a:moveTo>
                      <a:cubicBezTo>
                        <a:pt x="312470" y="165100"/>
                        <a:pt x="312470" y="165100"/>
                        <a:pt x="339993" y="165100"/>
                      </a:cubicBezTo>
                      <a:cubicBezTo>
                        <a:pt x="341347" y="165100"/>
                        <a:pt x="342249" y="166016"/>
                        <a:pt x="342249" y="166932"/>
                      </a:cubicBezTo>
                      <a:cubicBezTo>
                        <a:pt x="342249" y="166932"/>
                        <a:pt x="342249" y="166932"/>
                        <a:pt x="347663" y="326323"/>
                      </a:cubicBezTo>
                      <a:cubicBezTo>
                        <a:pt x="347663" y="327239"/>
                        <a:pt x="346761" y="328155"/>
                        <a:pt x="345407" y="328155"/>
                      </a:cubicBezTo>
                      <a:cubicBezTo>
                        <a:pt x="345407" y="328155"/>
                        <a:pt x="345407" y="328613"/>
                        <a:pt x="345407" y="328613"/>
                      </a:cubicBezTo>
                      <a:cubicBezTo>
                        <a:pt x="345407" y="328613"/>
                        <a:pt x="345407" y="328613"/>
                        <a:pt x="307056" y="328613"/>
                      </a:cubicBezTo>
                      <a:cubicBezTo>
                        <a:pt x="307056" y="328613"/>
                        <a:pt x="307056" y="328155"/>
                        <a:pt x="307056" y="328155"/>
                      </a:cubicBezTo>
                      <a:cubicBezTo>
                        <a:pt x="305703" y="328155"/>
                        <a:pt x="304800" y="327239"/>
                        <a:pt x="304800" y="326323"/>
                      </a:cubicBezTo>
                      <a:cubicBezTo>
                        <a:pt x="304800" y="326323"/>
                        <a:pt x="304800" y="326323"/>
                        <a:pt x="310215" y="166932"/>
                      </a:cubicBezTo>
                      <a:cubicBezTo>
                        <a:pt x="310215" y="166016"/>
                        <a:pt x="311117" y="165100"/>
                        <a:pt x="312470" y="165100"/>
                      </a:cubicBezTo>
                      <a:close/>
                      <a:moveTo>
                        <a:pt x="189140" y="165100"/>
                      </a:moveTo>
                      <a:cubicBezTo>
                        <a:pt x="189140" y="165100"/>
                        <a:pt x="189140" y="165100"/>
                        <a:pt x="208643" y="165100"/>
                      </a:cubicBezTo>
                      <a:cubicBezTo>
                        <a:pt x="208643" y="165100"/>
                        <a:pt x="208643" y="165100"/>
                        <a:pt x="208643" y="165557"/>
                      </a:cubicBezTo>
                      <a:cubicBezTo>
                        <a:pt x="208643" y="165557"/>
                        <a:pt x="208643" y="165557"/>
                        <a:pt x="208643" y="179716"/>
                      </a:cubicBezTo>
                      <a:cubicBezTo>
                        <a:pt x="219075" y="181086"/>
                        <a:pt x="227240" y="183370"/>
                        <a:pt x="232229" y="187480"/>
                      </a:cubicBezTo>
                      <a:cubicBezTo>
                        <a:pt x="232229" y="187480"/>
                        <a:pt x="232229" y="187480"/>
                        <a:pt x="225425" y="207120"/>
                      </a:cubicBezTo>
                      <a:cubicBezTo>
                        <a:pt x="217715" y="201183"/>
                        <a:pt x="209097" y="198442"/>
                        <a:pt x="200479" y="198442"/>
                      </a:cubicBezTo>
                      <a:cubicBezTo>
                        <a:pt x="195490" y="198442"/>
                        <a:pt x="191407" y="199812"/>
                        <a:pt x="188686" y="202553"/>
                      </a:cubicBezTo>
                      <a:cubicBezTo>
                        <a:pt x="185965" y="205293"/>
                        <a:pt x="184604" y="208947"/>
                        <a:pt x="184604" y="213058"/>
                      </a:cubicBezTo>
                      <a:cubicBezTo>
                        <a:pt x="184604" y="220366"/>
                        <a:pt x="192315" y="228130"/>
                        <a:pt x="208190" y="235895"/>
                      </a:cubicBezTo>
                      <a:cubicBezTo>
                        <a:pt x="216807" y="240006"/>
                        <a:pt x="222704" y="243659"/>
                        <a:pt x="226332" y="247313"/>
                      </a:cubicBezTo>
                      <a:cubicBezTo>
                        <a:pt x="230415" y="250967"/>
                        <a:pt x="233136" y="255078"/>
                        <a:pt x="234950" y="259645"/>
                      </a:cubicBezTo>
                      <a:cubicBezTo>
                        <a:pt x="236765" y="264213"/>
                        <a:pt x="238125" y="269237"/>
                        <a:pt x="238125" y="275175"/>
                      </a:cubicBezTo>
                      <a:cubicBezTo>
                        <a:pt x="238125" y="282939"/>
                        <a:pt x="235404" y="290247"/>
                        <a:pt x="230415" y="296185"/>
                      </a:cubicBezTo>
                      <a:cubicBezTo>
                        <a:pt x="224972" y="302122"/>
                        <a:pt x="217715" y="306233"/>
                        <a:pt x="208643" y="308517"/>
                      </a:cubicBezTo>
                      <a:cubicBezTo>
                        <a:pt x="208643" y="308517"/>
                        <a:pt x="208643" y="308517"/>
                        <a:pt x="208643" y="328156"/>
                      </a:cubicBezTo>
                      <a:cubicBezTo>
                        <a:pt x="208643" y="328156"/>
                        <a:pt x="208643" y="328156"/>
                        <a:pt x="208643" y="328613"/>
                      </a:cubicBezTo>
                      <a:cubicBezTo>
                        <a:pt x="208643" y="328613"/>
                        <a:pt x="208643" y="328613"/>
                        <a:pt x="189140" y="328613"/>
                      </a:cubicBezTo>
                      <a:cubicBezTo>
                        <a:pt x="189140" y="328613"/>
                        <a:pt x="189140" y="328613"/>
                        <a:pt x="189140" y="328156"/>
                      </a:cubicBezTo>
                      <a:cubicBezTo>
                        <a:pt x="189140" y="328156"/>
                        <a:pt x="189140" y="328156"/>
                        <a:pt x="189140" y="309887"/>
                      </a:cubicBezTo>
                      <a:cubicBezTo>
                        <a:pt x="179161" y="309430"/>
                        <a:pt x="170090" y="306233"/>
                        <a:pt x="161925" y="301209"/>
                      </a:cubicBezTo>
                      <a:cubicBezTo>
                        <a:pt x="161925" y="301209"/>
                        <a:pt x="161925" y="301209"/>
                        <a:pt x="170090" y="281112"/>
                      </a:cubicBezTo>
                      <a:cubicBezTo>
                        <a:pt x="178707" y="287050"/>
                        <a:pt x="187779" y="290247"/>
                        <a:pt x="195943" y="290247"/>
                      </a:cubicBezTo>
                      <a:cubicBezTo>
                        <a:pt x="209097" y="290247"/>
                        <a:pt x="215900" y="285680"/>
                        <a:pt x="215900" y="276545"/>
                      </a:cubicBezTo>
                      <a:cubicBezTo>
                        <a:pt x="215900" y="271977"/>
                        <a:pt x="214086" y="267867"/>
                        <a:pt x="210911" y="263756"/>
                      </a:cubicBezTo>
                      <a:cubicBezTo>
                        <a:pt x="207282" y="259645"/>
                        <a:pt x="200932" y="255535"/>
                        <a:pt x="191861" y="250967"/>
                      </a:cubicBezTo>
                      <a:cubicBezTo>
                        <a:pt x="182336" y="245943"/>
                        <a:pt x="175986" y="242289"/>
                        <a:pt x="172811" y="239092"/>
                      </a:cubicBezTo>
                      <a:cubicBezTo>
                        <a:pt x="169182" y="235895"/>
                        <a:pt x="166461" y="232241"/>
                        <a:pt x="164647" y="227674"/>
                      </a:cubicBezTo>
                      <a:cubicBezTo>
                        <a:pt x="162832" y="223563"/>
                        <a:pt x="161925" y="218539"/>
                        <a:pt x="161925" y="213515"/>
                      </a:cubicBezTo>
                      <a:cubicBezTo>
                        <a:pt x="161925" y="205750"/>
                        <a:pt x="164647" y="198899"/>
                        <a:pt x="169636" y="192505"/>
                      </a:cubicBezTo>
                      <a:cubicBezTo>
                        <a:pt x="174172" y="186567"/>
                        <a:pt x="180975" y="182913"/>
                        <a:pt x="189140" y="180629"/>
                      </a:cubicBezTo>
                      <a:cubicBezTo>
                        <a:pt x="189140" y="180629"/>
                        <a:pt x="189140" y="180629"/>
                        <a:pt x="189140" y="165557"/>
                      </a:cubicBezTo>
                      <a:cubicBezTo>
                        <a:pt x="189140" y="165557"/>
                        <a:pt x="189140" y="165557"/>
                        <a:pt x="189140" y="165100"/>
                      </a:cubicBezTo>
                      <a:close/>
                      <a:moveTo>
                        <a:pt x="60342" y="165100"/>
                      </a:moveTo>
                      <a:cubicBezTo>
                        <a:pt x="60342" y="165100"/>
                        <a:pt x="60342" y="165100"/>
                        <a:pt x="88884" y="165100"/>
                      </a:cubicBezTo>
                      <a:cubicBezTo>
                        <a:pt x="90287" y="165100"/>
                        <a:pt x="91223" y="166016"/>
                        <a:pt x="91223" y="166932"/>
                      </a:cubicBezTo>
                      <a:cubicBezTo>
                        <a:pt x="91223" y="166932"/>
                        <a:pt x="91223" y="166932"/>
                        <a:pt x="96838" y="326323"/>
                      </a:cubicBezTo>
                      <a:cubicBezTo>
                        <a:pt x="96838" y="327239"/>
                        <a:pt x="95902" y="328155"/>
                        <a:pt x="94498" y="328155"/>
                      </a:cubicBezTo>
                      <a:cubicBezTo>
                        <a:pt x="94498" y="328155"/>
                        <a:pt x="94498" y="328613"/>
                        <a:pt x="94498" y="328613"/>
                      </a:cubicBezTo>
                      <a:cubicBezTo>
                        <a:pt x="94498" y="328613"/>
                        <a:pt x="94498" y="328613"/>
                        <a:pt x="54727" y="328613"/>
                      </a:cubicBezTo>
                      <a:cubicBezTo>
                        <a:pt x="54727" y="328613"/>
                        <a:pt x="54727" y="328155"/>
                        <a:pt x="54727" y="328155"/>
                      </a:cubicBezTo>
                      <a:cubicBezTo>
                        <a:pt x="53324" y="328155"/>
                        <a:pt x="52388" y="327239"/>
                        <a:pt x="52388" y="326323"/>
                      </a:cubicBezTo>
                      <a:cubicBezTo>
                        <a:pt x="52388" y="326323"/>
                        <a:pt x="52388" y="326323"/>
                        <a:pt x="58002" y="166932"/>
                      </a:cubicBezTo>
                      <a:cubicBezTo>
                        <a:pt x="58002" y="166016"/>
                        <a:pt x="58938" y="165100"/>
                        <a:pt x="60342" y="165100"/>
                      </a:cubicBezTo>
                      <a:close/>
                      <a:moveTo>
                        <a:pt x="200026" y="63500"/>
                      </a:moveTo>
                      <a:cubicBezTo>
                        <a:pt x="188628" y="63500"/>
                        <a:pt x="179388" y="72740"/>
                        <a:pt x="179388" y="84138"/>
                      </a:cubicBezTo>
                      <a:cubicBezTo>
                        <a:pt x="179388" y="95536"/>
                        <a:pt x="188628" y="104776"/>
                        <a:pt x="200026" y="104776"/>
                      </a:cubicBezTo>
                      <a:cubicBezTo>
                        <a:pt x="211424" y="104776"/>
                        <a:pt x="220664" y="95536"/>
                        <a:pt x="220664" y="84138"/>
                      </a:cubicBezTo>
                      <a:cubicBezTo>
                        <a:pt x="220664" y="72740"/>
                        <a:pt x="211424" y="63500"/>
                        <a:pt x="200026" y="63500"/>
                      </a:cubicBezTo>
                      <a:close/>
                      <a:moveTo>
                        <a:pt x="200025" y="0"/>
                      </a:moveTo>
                      <a:cubicBezTo>
                        <a:pt x="200941" y="0"/>
                        <a:pt x="201398" y="0"/>
                        <a:pt x="202314" y="461"/>
                      </a:cubicBezTo>
                      <a:cubicBezTo>
                        <a:pt x="202314" y="461"/>
                        <a:pt x="202314" y="461"/>
                        <a:pt x="397304" y="96752"/>
                      </a:cubicBezTo>
                      <a:cubicBezTo>
                        <a:pt x="399135" y="97674"/>
                        <a:pt x="400050" y="99517"/>
                        <a:pt x="400050" y="101360"/>
                      </a:cubicBezTo>
                      <a:cubicBezTo>
                        <a:pt x="400050" y="101360"/>
                        <a:pt x="400050" y="101360"/>
                        <a:pt x="400050" y="117024"/>
                      </a:cubicBezTo>
                      <a:cubicBezTo>
                        <a:pt x="400050" y="119789"/>
                        <a:pt x="397762" y="122092"/>
                        <a:pt x="395473" y="122092"/>
                      </a:cubicBezTo>
                      <a:cubicBezTo>
                        <a:pt x="395473" y="122092"/>
                        <a:pt x="395473" y="122092"/>
                        <a:pt x="362975" y="122092"/>
                      </a:cubicBezTo>
                      <a:cubicBezTo>
                        <a:pt x="362975" y="122092"/>
                        <a:pt x="362975" y="122092"/>
                        <a:pt x="362975" y="140982"/>
                      </a:cubicBezTo>
                      <a:cubicBezTo>
                        <a:pt x="362975" y="143747"/>
                        <a:pt x="361144" y="146050"/>
                        <a:pt x="358397" y="146050"/>
                      </a:cubicBezTo>
                      <a:cubicBezTo>
                        <a:pt x="358397" y="146050"/>
                        <a:pt x="358397" y="146050"/>
                        <a:pt x="41653" y="146050"/>
                      </a:cubicBezTo>
                      <a:cubicBezTo>
                        <a:pt x="38907" y="146050"/>
                        <a:pt x="37076" y="143747"/>
                        <a:pt x="37076" y="140982"/>
                      </a:cubicBezTo>
                      <a:cubicBezTo>
                        <a:pt x="37076" y="140982"/>
                        <a:pt x="37076" y="140982"/>
                        <a:pt x="37076" y="122092"/>
                      </a:cubicBezTo>
                      <a:cubicBezTo>
                        <a:pt x="37076" y="122092"/>
                        <a:pt x="37076" y="122092"/>
                        <a:pt x="4577" y="122092"/>
                      </a:cubicBezTo>
                      <a:cubicBezTo>
                        <a:pt x="2289" y="122092"/>
                        <a:pt x="0" y="119789"/>
                        <a:pt x="0" y="117024"/>
                      </a:cubicBezTo>
                      <a:cubicBezTo>
                        <a:pt x="0" y="117024"/>
                        <a:pt x="0" y="117024"/>
                        <a:pt x="0" y="101360"/>
                      </a:cubicBezTo>
                      <a:cubicBezTo>
                        <a:pt x="0" y="99517"/>
                        <a:pt x="916" y="97674"/>
                        <a:pt x="2747" y="96752"/>
                      </a:cubicBezTo>
                      <a:cubicBezTo>
                        <a:pt x="2747" y="96752"/>
                        <a:pt x="2747" y="96752"/>
                        <a:pt x="197737" y="461"/>
                      </a:cubicBezTo>
                      <a:cubicBezTo>
                        <a:pt x="198652" y="0"/>
                        <a:pt x="199110" y="0"/>
                        <a:pt x="200025" y="0"/>
                      </a:cubicBez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p>
                  <a:endParaRPr lang="en-US">
                    <a:ea typeface="Microsoft YaHei" panose="020B0503020204020204" pitchFamily="34" charset="-122"/>
                  </a:endParaRPr>
                </a:p>
              </p:txBody>
            </p:sp>
          </p:grpSp>
        </p:grpSp>
      </p:grpSp>
      <p:grpSp>
        <p:nvGrpSpPr>
          <p:cNvPr id="21" name="Group 20">
            <a:extLst>
              <a:ext uri="{FF2B5EF4-FFF2-40B4-BE49-F238E27FC236}">
                <a16:creationId xmlns:a16="http://schemas.microsoft.com/office/drawing/2014/main" id="{90966F62-4066-4F09-BFA5-96244531D4F1}"/>
              </a:ext>
            </a:extLst>
          </p:cNvPr>
          <p:cNvGrpSpPr/>
          <p:nvPr/>
        </p:nvGrpSpPr>
        <p:grpSpPr>
          <a:xfrm>
            <a:off x="629998" y="4893246"/>
            <a:ext cx="3497521" cy="1612929"/>
            <a:chOff x="629995" y="4845550"/>
            <a:chExt cx="3497521" cy="1612929"/>
          </a:xfrm>
        </p:grpSpPr>
        <p:sp>
          <p:nvSpPr>
            <p:cNvPr id="93" name="ee4pHeader1">
              <a:extLst>
                <a:ext uri="{FF2B5EF4-FFF2-40B4-BE49-F238E27FC236}">
                  <a16:creationId xmlns:a16="http://schemas.microsoft.com/office/drawing/2014/main" id="{6724452A-12B1-47B1-A26B-F36E7666C69F}"/>
                </a:ext>
              </a:extLst>
            </p:cNvPr>
            <p:cNvSpPr txBox="1"/>
            <p:nvPr/>
          </p:nvSpPr>
          <p:spPr>
            <a:xfrm>
              <a:off x="629995" y="5318146"/>
              <a:ext cx="3317778" cy="1140333"/>
            </a:xfrm>
            <a:prstGeom prst="rect">
              <a:avLst/>
            </a:prstGeom>
            <a:solidFill>
              <a:srgbClr val="F2F2F2"/>
            </a:solidFill>
            <a:ln w="6858" cap="rnd" cmpd="sng" algn="ctr">
              <a:solidFill>
                <a:srgbClr val="9A9A9A"/>
              </a:solidFill>
              <a:prstDash val="solid"/>
              <a:round/>
              <a:headEnd type="none" w="med" len="med"/>
              <a:tailEnd type="none" w="med" len="med"/>
            </a:ln>
          </p:spPr>
          <p:txBody>
            <a:bodyPr wrap="square" lIns="91440" tIns="91440" rIns="91440" bIns="91440" rtlCol="0" anchor="t" anchorCtr="0">
              <a:noAutofit/>
            </a:bodyPr>
            <a:lstStyle>
              <a:defPPr>
                <a:defRPr lang="en-US"/>
              </a:defPPr>
              <a:lvl1pPr>
                <a:buSzPct val="100000"/>
                <a:buFont typeface="Trebuchet MS" panose="020B0603020202020204" pitchFamily="34" charset="0"/>
                <a:buChar char="​"/>
                <a:defRPr sz="1400">
                  <a:solidFill>
                    <a:schemeClr val="tx1">
                      <a:lumMod val="100000"/>
                    </a:schemeClr>
                  </a:solidFill>
                  <a:latin typeface="Trebuchet MS" panose="020B0603020202020204" pitchFamily="34" charset="0"/>
                </a:defRPr>
              </a:lvl1pPr>
              <a:lvl2pPr marL="324000" lvl="1" indent="-216000">
                <a:spcBef>
                  <a:spcPts val="600"/>
                </a:spcBef>
                <a:buClr>
                  <a:schemeClr val="tx2">
                    <a:lumMod val="100000"/>
                  </a:schemeClr>
                </a:buClr>
                <a:buSzPct val="100000"/>
                <a:buFont typeface="Trebuchet MS" panose="020B0603020202020204" pitchFamily="34" charset="0"/>
                <a:buChar char="•"/>
                <a:defRPr sz="1200">
                  <a:solidFill>
                    <a:schemeClr val="tx1">
                      <a:lumMod val="100000"/>
                    </a:schemeClr>
                  </a:solidFill>
                  <a:latin typeface="Trebuchet MS" panose="020B0603020202020204" pitchFamily="34" charset="0"/>
                </a:defRPr>
              </a:lvl2pPr>
            </a:lstStyle>
            <a:p>
              <a:r>
                <a:rPr lang="en-US" err="1">
                  <a:ea typeface="Microsoft YaHei" panose="020B0503020204020204" pitchFamily="34" charset="-122"/>
                </a:rPr>
                <a:t>向用戶介紹功能</a:t>
              </a:r>
              <a:endParaRPr lang="en-US">
                <a:ea typeface="Microsoft YaHei" panose="020B0503020204020204" pitchFamily="34" charset="-122"/>
              </a:endParaRPr>
            </a:p>
            <a:p>
              <a:endParaRPr lang="en-US">
                <a:ea typeface="Microsoft YaHei" panose="020B0503020204020204" pitchFamily="34" charset="-122"/>
              </a:endParaRPr>
            </a:p>
            <a:p>
              <a:pPr>
                <a:buNone/>
              </a:pPr>
              <a:r>
                <a:rPr lang="en-US" altLang="zh-TW">
                  <a:ea typeface="Microsoft YaHei" panose="020B0503020204020204" pitchFamily="34" charset="-122"/>
                </a:rPr>
                <a:t>"</a:t>
              </a:r>
              <a:r>
                <a:rPr lang="en-US" err="1">
                  <a:ea typeface="Microsoft YaHei" panose="020B0503020204020204" pitchFamily="34" charset="-122"/>
                </a:rPr>
                <a:t>再也不用擔心</a:t>
              </a:r>
              <a:r>
                <a:rPr lang="en-US" altLang="zh-TW" err="1">
                  <a:ea typeface="Microsoft YaHei" panose="020B0503020204020204" pitchFamily="34" charset="-122"/>
                </a:rPr>
                <a:t>XX</a:t>
              </a:r>
              <a:r>
                <a:rPr lang="en-US" err="1">
                  <a:ea typeface="Microsoft YaHei" panose="020B0503020204020204" pitchFamily="34" charset="-122"/>
                </a:rPr>
                <a:t>費用了！使用我們的新儀表板監控您的每月支出</a:t>
              </a:r>
              <a:r>
                <a:rPr lang="en-US">
                  <a:ea typeface="Microsoft YaHei" panose="020B0503020204020204" pitchFamily="34" charset="-122"/>
                </a:rPr>
                <a:t>"</a:t>
              </a:r>
            </a:p>
          </p:txBody>
        </p:sp>
        <p:sp>
          <p:nvSpPr>
            <p:cNvPr id="88" name="Rounded Rectangle 30">
              <a:extLst>
                <a:ext uri="{FF2B5EF4-FFF2-40B4-BE49-F238E27FC236}">
                  <a16:creationId xmlns:a16="http://schemas.microsoft.com/office/drawing/2014/main" id="{A419C0A4-7B60-4D67-9FFD-5AF0555BA3C7}"/>
                </a:ext>
              </a:extLst>
            </p:cNvPr>
            <p:cNvSpPr>
              <a:spLocks noChangeArrowheads="1"/>
            </p:cNvSpPr>
            <p:nvPr/>
          </p:nvSpPr>
          <p:spPr bwMode="auto">
            <a:xfrm>
              <a:off x="809738" y="4917568"/>
              <a:ext cx="3317778" cy="409105"/>
            </a:xfrm>
            <a:prstGeom prst="roundRect">
              <a:avLst>
                <a:gd name="adj" fmla="val 50000"/>
              </a:avLst>
            </a:prstGeom>
            <a:solidFill>
              <a:schemeClr val="bg1">
                <a:lumMod val="85000"/>
              </a:schemeClr>
            </a:solidFill>
            <a:ln>
              <a:noFill/>
            </a:ln>
          </p:spPr>
          <p:txBody>
            <a:bodyPr vert="horz" wrap="square" lIns="45720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TW" altLang="en-US" sz="1600" b="1">
                  <a:solidFill>
                    <a:srgbClr val="03522D"/>
                  </a:solidFill>
                  <a:ea typeface="Microsoft YaHei" panose="020B0503020204020204" pitchFamily="34" charset="-122"/>
                </a:rPr>
                <a:t>觸發使用新產品功能</a:t>
              </a:r>
              <a:endParaRPr lang="en-US" sz="1600" b="1">
                <a:solidFill>
                  <a:srgbClr val="03522D"/>
                </a:solidFill>
                <a:latin typeface="Trebuchet MS" panose="020B0603020202020204" pitchFamily="34" charset="0"/>
                <a:ea typeface="Microsoft YaHei" panose="020B0503020204020204" pitchFamily="34" charset="-122"/>
                <a:sym typeface="Trebuchet MS" panose="020B0603020202020204" pitchFamily="34" charset="0"/>
              </a:endParaRPr>
            </a:p>
          </p:txBody>
        </p:sp>
        <p:grpSp>
          <p:nvGrpSpPr>
            <p:cNvPr id="89" name="Group 88">
              <a:extLst>
                <a:ext uri="{FF2B5EF4-FFF2-40B4-BE49-F238E27FC236}">
                  <a16:creationId xmlns:a16="http://schemas.microsoft.com/office/drawing/2014/main" id="{AC9FC62F-71DB-4BA6-AF0D-6ECBF13431C1}"/>
                </a:ext>
              </a:extLst>
            </p:cNvPr>
            <p:cNvGrpSpPr/>
            <p:nvPr/>
          </p:nvGrpSpPr>
          <p:grpSpPr>
            <a:xfrm>
              <a:off x="629999" y="4845550"/>
              <a:ext cx="702244" cy="521457"/>
              <a:chOff x="629997" y="1545149"/>
              <a:chExt cx="1144825" cy="600364"/>
            </a:xfrm>
          </p:grpSpPr>
          <p:sp>
            <p:nvSpPr>
              <p:cNvPr id="90" name="Freeform 29">
                <a:extLst>
                  <a:ext uri="{FF2B5EF4-FFF2-40B4-BE49-F238E27FC236}">
                    <a16:creationId xmlns:a16="http://schemas.microsoft.com/office/drawing/2014/main" id="{2C56333D-854A-4AA6-80A6-C1808987FEE1}"/>
                  </a:ext>
                </a:extLst>
              </p:cNvPr>
              <p:cNvSpPr>
                <a:spLocks/>
              </p:cNvSpPr>
              <p:nvPr/>
            </p:nvSpPr>
            <p:spPr bwMode="auto">
              <a:xfrm>
                <a:off x="1618042" y="1545149"/>
                <a:ext cx="156780" cy="91462"/>
              </a:xfrm>
              <a:custGeom>
                <a:avLst/>
                <a:gdLst>
                  <a:gd name="T0" fmla="*/ 95 w 95"/>
                  <a:gd name="T1" fmla="*/ 51 h 51"/>
                  <a:gd name="T2" fmla="*/ 0 w 95"/>
                  <a:gd name="T3" fmla="*/ 51 h 51"/>
                  <a:gd name="T4" fmla="*/ 39 w 95"/>
                  <a:gd name="T5" fmla="*/ 0 h 51"/>
                  <a:gd name="T6" fmla="*/ 95 w 95"/>
                  <a:gd name="T7" fmla="*/ 51 h 51"/>
                </a:gdLst>
                <a:ahLst/>
                <a:cxnLst>
                  <a:cxn ang="0">
                    <a:pos x="T0" y="T1"/>
                  </a:cxn>
                  <a:cxn ang="0">
                    <a:pos x="T2" y="T3"/>
                  </a:cxn>
                  <a:cxn ang="0">
                    <a:pos x="T4" y="T5"/>
                  </a:cxn>
                  <a:cxn ang="0">
                    <a:pos x="T6" y="T7"/>
                  </a:cxn>
                </a:cxnLst>
                <a:rect l="0" t="0" r="r" b="b"/>
                <a:pathLst>
                  <a:path w="95" h="51">
                    <a:moveTo>
                      <a:pt x="95" y="51"/>
                    </a:moveTo>
                    <a:lnTo>
                      <a:pt x="0" y="51"/>
                    </a:lnTo>
                    <a:lnTo>
                      <a:pt x="39" y="0"/>
                    </a:lnTo>
                    <a:lnTo>
                      <a:pt x="95" y="51"/>
                    </a:ln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rgbClr val="000000"/>
                  </a:solidFill>
                  <a:latin typeface="Trebuchet MS" panose="020B0603020202020204" pitchFamily="34" charset="0"/>
                  <a:ea typeface="Microsoft YaHei" panose="020B0503020204020204" pitchFamily="34" charset="-122"/>
                  <a:sym typeface="Trebuchet MS" panose="020B0603020202020204" pitchFamily="34" charset="0"/>
                </a:endParaRPr>
              </a:p>
            </p:txBody>
          </p:sp>
          <p:sp>
            <p:nvSpPr>
              <p:cNvPr id="91" name="Freeform: Shape 76">
                <a:extLst>
                  <a:ext uri="{FF2B5EF4-FFF2-40B4-BE49-F238E27FC236}">
                    <a16:creationId xmlns:a16="http://schemas.microsoft.com/office/drawing/2014/main" id="{7DD8B9E9-50BB-463C-A488-8451B2599EF7}"/>
                  </a:ext>
                </a:extLst>
              </p:cNvPr>
              <p:cNvSpPr>
                <a:spLocks/>
              </p:cNvSpPr>
              <p:nvPr/>
            </p:nvSpPr>
            <p:spPr bwMode="auto">
              <a:xfrm>
                <a:off x="1055771" y="1603886"/>
                <a:ext cx="538474" cy="493589"/>
              </a:xfrm>
              <a:custGeom>
                <a:avLst/>
                <a:gdLst>
                  <a:gd name="connsiteX0" fmla="*/ 0 w 949466"/>
                  <a:gd name="connsiteY0" fmla="*/ 0 h 800896"/>
                  <a:gd name="connsiteX1" fmla="*/ 949466 w 949466"/>
                  <a:gd name="connsiteY1" fmla="*/ 0 h 800896"/>
                  <a:gd name="connsiteX2" fmla="*/ 344345 w 949466"/>
                  <a:gd name="connsiteY2" fmla="*/ 800896 h 800896"/>
                  <a:gd name="connsiteX3" fmla="*/ 0 w 949466"/>
                  <a:gd name="connsiteY3" fmla="*/ 800896 h 800896"/>
                </a:gdLst>
                <a:ahLst/>
                <a:cxnLst>
                  <a:cxn ang="0">
                    <a:pos x="connsiteX0" y="connsiteY0"/>
                  </a:cxn>
                  <a:cxn ang="0">
                    <a:pos x="connsiteX1" y="connsiteY1"/>
                  </a:cxn>
                  <a:cxn ang="0">
                    <a:pos x="connsiteX2" y="connsiteY2"/>
                  </a:cxn>
                  <a:cxn ang="0">
                    <a:pos x="connsiteX3" y="connsiteY3"/>
                  </a:cxn>
                </a:cxnLst>
                <a:rect l="l" t="t" r="r" b="b"/>
                <a:pathLst>
                  <a:path w="949466" h="800896">
                    <a:moveTo>
                      <a:pt x="0" y="0"/>
                    </a:moveTo>
                    <a:lnTo>
                      <a:pt x="949466" y="0"/>
                    </a:lnTo>
                    <a:lnTo>
                      <a:pt x="344345" y="800896"/>
                    </a:lnTo>
                    <a:lnTo>
                      <a:pt x="0" y="800896"/>
                    </a:lnTo>
                    <a:close/>
                  </a:path>
                </a:pathLst>
              </a:custGeom>
              <a:solidFill>
                <a:schemeClr val="accent4"/>
              </a:solidFill>
              <a:ln>
                <a:noFill/>
              </a:ln>
              <a:effectLst>
                <a:outerShdw blurRad="228600" dist="76200" algn="l" rotWithShape="0">
                  <a:prstClr val="black">
                    <a:alpha val="40000"/>
                  </a:prstClr>
                </a:outerShdw>
              </a:effectLst>
            </p:spPr>
            <p:txBody>
              <a:bodyPr vert="horz" wrap="square" lIns="182880" tIns="45720" rIns="91440" bIns="45720" numCol="1" anchor="ctr"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6600" b="1">
                  <a:solidFill>
                    <a:prstClr val="white"/>
                  </a:solidFill>
                  <a:latin typeface="Trebuchet MS" panose="020B0603020202020204" pitchFamily="34" charset="0"/>
                  <a:ea typeface="Microsoft YaHei" panose="020B0503020204020204" pitchFamily="34" charset="-122"/>
                  <a:sym typeface="Trebuchet MS" panose="020B0603020202020204" pitchFamily="34" charset="0"/>
                </a:endParaRPr>
              </a:p>
            </p:txBody>
          </p:sp>
          <p:sp>
            <p:nvSpPr>
              <p:cNvPr id="92" name="Freeform 32">
                <a:extLst>
                  <a:ext uri="{FF2B5EF4-FFF2-40B4-BE49-F238E27FC236}">
                    <a16:creationId xmlns:a16="http://schemas.microsoft.com/office/drawing/2014/main" id="{CA598E92-E8A6-4DDE-8D8F-1DD9342F0869}"/>
                  </a:ext>
                </a:extLst>
              </p:cNvPr>
              <p:cNvSpPr>
                <a:spLocks/>
              </p:cNvSpPr>
              <p:nvPr/>
            </p:nvSpPr>
            <p:spPr bwMode="auto">
              <a:xfrm>
                <a:off x="629997" y="1545149"/>
                <a:ext cx="1057882" cy="600364"/>
              </a:xfrm>
              <a:custGeom>
                <a:avLst/>
                <a:gdLst>
                  <a:gd name="T0" fmla="*/ 1175 w 1175"/>
                  <a:gd name="T1" fmla="*/ 0 h 675"/>
                  <a:gd name="T2" fmla="*/ 0 w 1175"/>
                  <a:gd name="T3" fmla="*/ 0 h 675"/>
                  <a:gd name="T4" fmla="*/ 0 w 1175"/>
                  <a:gd name="T5" fmla="*/ 675 h 675"/>
                  <a:gd name="T6" fmla="*/ 665 w 1175"/>
                  <a:gd name="T7" fmla="*/ 675 h 675"/>
                  <a:gd name="T8" fmla="*/ 1175 w 1175"/>
                  <a:gd name="T9" fmla="*/ 0 h 675"/>
                </a:gdLst>
                <a:ahLst/>
                <a:cxnLst>
                  <a:cxn ang="0">
                    <a:pos x="T0" y="T1"/>
                  </a:cxn>
                  <a:cxn ang="0">
                    <a:pos x="T2" y="T3"/>
                  </a:cxn>
                  <a:cxn ang="0">
                    <a:pos x="T4" y="T5"/>
                  </a:cxn>
                  <a:cxn ang="0">
                    <a:pos x="T6" y="T7"/>
                  </a:cxn>
                  <a:cxn ang="0">
                    <a:pos x="T8" y="T9"/>
                  </a:cxn>
                </a:cxnLst>
                <a:rect l="0" t="0" r="r" b="b"/>
                <a:pathLst>
                  <a:path w="1175" h="675">
                    <a:moveTo>
                      <a:pt x="1175" y="0"/>
                    </a:moveTo>
                    <a:lnTo>
                      <a:pt x="0" y="0"/>
                    </a:lnTo>
                    <a:lnTo>
                      <a:pt x="0" y="675"/>
                    </a:lnTo>
                    <a:lnTo>
                      <a:pt x="665" y="675"/>
                    </a:lnTo>
                    <a:lnTo>
                      <a:pt x="1175" y="0"/>
                    </a:lnTo>
                    <a:close/>
                  </a:path>
                </a:pathLst>
              </a:custGeom>
              <a:solidFill>
                <a:schemeClr val="tx2"/>
              </a:solidFill>
              <a:ln>
                <a:noFill/>
              </a:ln>
            </p:spPr>
            <p:txBody>
              <a:bodyPr vert="horz" wrap="square" lIns="27432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6600" b="1">
                  <a:solidFill>
                    <a:prstClr val="white"/>
                  </a:solidFill>
                  <a:effectLst>
                    <a:outerShdw blurRad="38100" dist="38100" dir="2700000" algn="tl">
                      <a:srgbClr val="000000">
                        <a:alpha val="43137"/>
                      </a:srgbClr>
                    </a:outerShdw>
                  </a:effectLst>
                  <a:latin typeface="Trebuchet MS" panose="020B0603020202020204" pitchFamily="34" charset="0"/>
                  <a:ea typeface="Microsoft YaHei" panose="020B0503020204020204" pitchFamily="34" charset="-122"/>
                  <a:sym typeface="Trebuchet MS" panose="020B0603020202020204" pitchFamily="34" charset="0"/>
                </a:endParaRPr>
              </a:p>
            </p:txBody>
          </p:sp>
        </p:grpSp>
        <p:grpSp>
          <p:nvGrpSpPr>
            <p:cNvPr id="129" name="Group 128">
              <a:extLst>
                <a:ext uri="{FF2B5EF4-FFF2-40B4-BE49-F238E27FC236}">
                  <a16:creationId xmlns:a16="http://schemas.microsoft.com/office/drawing/2014/main" id="{075CAB97-ED31-4583-AC45-19BB4118CCA1}"/>
                </a:ext>
              </a:extLst>
            </p:cNvPr>
            <p:cNvGrpSpPr>
              <a:grpSpLocks noChangeAspect="1"/>
            </p:cNvGrpSpPr>
            <p:nvPr/>
          </p:nvGrpSpPr>
          <p:grpSpPr>
            <a:xfrm>
              <a:off x="660151" y="4879598"/>
              <a:ext cx="418138" cy="418138"/>
              <a:chOff x="5273675" y="2606675"/>
              <a:chExt cx="1644650" cy="1644650"/>
            </a:xfrm>
          </p:grpSpPr>
          <p:sp>
            <p:nvSpPr>
              <p:cNvPr id="130" name="AutoShape 3">
                <a:extLst>
                  <a:ext uri="{FF2B5EF4-FFF2-40B4-BE49-F238E27FC236}">
                    <a16:creationId xmlns:a16="http://schemas.microsoft.com/office/drawing/2014/main" id="{171D7D56-005D-4557-A7FD-C3A5FA8286B6}"/>
                  </a:ext>
                </a:extLst>
              </p:cNvPr>
              <p:cNvSpPr>
                <a:spLocks noChangeAspect="1" noChangeArrowheads="1" noTextEdit="1"/>
              </p:cNvSpPr>
              <p:nvPr/>
            </p:nvSpPr>
            <p:spPr bwMode="auto">
              <a:xfrm>
                <a:off x="5273675" y="2606675"/>
                <a:ext cx="1644650"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5837" tIns="32918" rIns="65837" bIns="32918" numCol="1" anchor="t" anchorCtr="0" compatLnSpc="1">
                <a:prstTxWarp prst="textNoShape">
                  <a:avLst/>
                </a:prstTxWarp>
              </a:bodyPr>
              <a:lstStyle/>
              <a:p>
                <a:endParaRPr lang="en-US"/>
              </a:p>
            </p:txBody>
          </p:sp>
          <p:grpSp>
            <p:nvGrpSpPr>
              <p:cNvPr id="131" name="Group 130">
                <a:extLst>
                  <a:ext uri="{FF2B5EF4-FFF2-40B4-BE49-F238E27FC236}">
                    <a16:creationId xmlns:a16="http://schemas.microsoft.com/office/drawing/2014/main" id="{891EFF23-0B04-46F6-960B-5DAFFA6FB3FC}"/>
                  </a:ext>
                </a:extLst>
              </p:cNvPr>
              <p:cNvGrpSpPr/>
              <p:nvPr/>
            </p:nvGrpSpPr>
            <p:grpSpPr>
              <a:xfrm>
                <a:off x="5646738" y="2776538"/>
                <a:ext cx="898525" cy="1304925"/>
                <a:chOff x="5646738" y="2776538"/>
                <a:chExt cx="898525" cy="1304925"/>
              </a:xfrm>
            </p:grpSpPr>
            <p:sp>
              <p:nvSpPr>
                <p:cNvPr id="132" name="Freeform 27">
                  <a:extLst>
                    <a:ext uri="{FF2B5EF4-FFF2-40B4-BE49-F238E27FC236}">
                      <a16:creationId xmlns:a16="http://schemas.microsoft.com/office/drawing/2014/main" id="{D921F220-A200-4D66-8EA0-8D1546E1C621}"/>
                    </a:ext>
                  </a:extLst>
                </p:cNvPr>
                <p:cNvSpPr>
                  <a:spLocks/>
                </p:cNvSpPr>
                <p:nvPr/>
              </p:nvSpPr>
              <p:spPr bwMode="auto">
                <a:xfrm>
                  <a:off x="5646738" y="2890838"/>
                  <a:ext cx="898525" cy="1190625"/>
                </a:xfrm>
                <a:custGeom>
                  <a:avLst/>
                  <a:gdLst>
                    <a:gd name="connsiteX0" fmla="*/ 311196 w 898525"/>
                    <a:gd name="connsiteY0" fmla="*/ 816042 h 1190625"/>
                    <a:gd name="connsiteX1" fmla="*/ 333306 w 898525"/>
                    <a:gd name="connsiteY1" fmla="*/ 816042 h 1190625"/>
                    <a:gd name="connsiteX2" fmla="*/ 333306 w 898525"/>
                    <a:gd name="connsiteY2" fmla="*/ 838143 h 1190625"/>
                    <a:gd name="connsiteX3" fmla="*/ 302637 w 898525"/>
                    <a:gd name="connsiteY3" fmla="*/ 868800 h 1190625"/>
                    <a:gd name="connsiteX4" fmla="*/ 271255 w 898525"/>
                    <a:gd name="connsiteY4" fmla="*/ 900170 h 1190625"/>
                    <a:gd name="connsiteX5" fmla="*/ 247006 w 898525"/>
                    <a:gd name="connsiteY5" fmla="*/ 924410 h 1190625"/>
                    <a:gd name="connsiteX6" fmla="*/ 236307 w 898525"/>
                    <a:gd name="connsiteY6" fmla="*/ 928688 h 1190625"/>
                    <a:gd name="connsiteX7" fmla="*/ 224896 w 898525"/>
                    <a:gd name="connsiteY7" fmla="*/ 924410 h 1190625"/>
                    <a:gd name="connsiteX8" fmla="*/ 197793 w 898525"/>
                    <a:gd name="connsiteY8" fmla="*/ 896605 h 1190625"/>
                    <a:gd name="connsiteX9" fmla="*/ 197793 w 898525"/>
                    <a:gd name="connsiteY9" fmla="*/ 874504 h 1190625"/>
                    <a:gd name="connsiteX10" fmla="*/ 219903 w 898525"/>
                    <a:gd name="connsiteY10" fmla="*/ 874504 h 1190625"/>
                    <a:gd name="connsiteX11" fmla="*/ 236307 w 898525"/>
                    <a:gd name="connsiteY11" fmla="*/ 890902 h 1190625"/>
                    <a:gd name="connsiteX12" fmla="*/ 269829 w 898525"/>
                    <a:gd name="connsiteY12" fmla="*/ 857393 h 1190625"/>
                    <a:gd name="connsiteX13" fmla="*/ 297645 w 898525"/>
                    <a:gd name="connsiteY13" fmla="*/ 829588 h 1190625"/>
                    <a:gd name="connsiteX14" fmla="*/ 311196 w 898525"/>
                    <a:gd name="connsiteY14" fmla="*/ 816042 h 1190625"/>
                    <a:gd name="connsiteX15" fmla="*/ 311196 w 898525"/>
                    <a:gd name="connsiteY15" fmla="*/ 539104 h 1190625"/>
                    <a:gd name="connsiteX16" fmla="*/ 333306 w 898525"/>
                    <a:gd name="connsiteY16" fmla="*/ 539104 h 1190625"/>
                    <a:gd name="connsiteX17" fmla="*/ 333306 w 898525"/>
                    <a:gd name="connsiteY17" fmla="*/ 561918 h 1190625"/>
                    <a:gd name="connsiteX18" fmla="*/ 302637 w 898525"/>
                    <a:gd name="connsiteY18" fmla="*/ 592575 h 1190625"/>
                    <a:gd name="connsiteX19" fmla="*/ 271255 w 898525"/>
                    <a:gd name="connsiteY19" fmla="*/ 623945 h 1190625"/>
                    <a:gd name="connsiteX20" fmla="*/ 247006 w 898525"/>
                    <a:gd name="connsiteY20" fmla="*/ 647472 h 1190625"/>
                    <a:gd name="connsiteX21" fmla="*/ 236307 w 898525"/>
                    <a:gd name="connsiteY21" fmla="*/ 652463 h 1190625"/>
                    <a:gd name="connsiteX22" fmla="*/ 224896 w 898525"/>
                    <a:gd name="connsiteY22" fmla="*/ 647472 h 1190625"/>
                    <a:gd name="connsiteX23" fmla="*/ 197793 w 898525"/>
                    <a:gd name="connsiteY23" fmla="*/ 620380 h 1190625"/>
                    <a:gd name="connsiteX24" fmla="*/ 197793 w 898525"/>
                    <a:gd name="connsiteY24" fmla="*/ 598279 h 1190625"/>
                    <a:gd name="connsiteX25" fmla="*/ 219903 w 898525"/>
                    <a:gd name="connsiteY25" fmla="*/ 598279 h 1190625"/>
                    <a:gd name="connsiteX26" fmla="*/ 236307 w 898525"/>
                    <a:gd name="connsiteY26" fmla="*/ 614677 h 1190625"/>
                    <a:gd name="connsiteX27" fmla="*/ 269829 w 898525"/>
                    <a:gd name="connsiteY27" fmla="*/ 581168 h 1190625"/>
                    <a:gd name="connsiteX28" fmla="*/ 297645 w 898525"/>
                    <a:gd name="connsiteY28" fmla="*/ 553363 h 1190625"/>
                    <a:gd name="connsiteX29" fmla="*/ 311196 w 898525"/>
                    <a:gd name="connsiteY29" fmla="*/ 539104 h 1190625"/>
                    <a:gd name="connsiteX30" fmla="*/ 311196 w 898525"/>
                    <a:gd name="connsiteY30" fmla="*/ 257242 h 1190625"/>
                    <a:gd name="connsiteX31" fmla="*/ 333306 w 898525"/>
                    <a:gd name="connsiteY31" fmla="*/ 257242 h 1190625"/>
                    <a:gd name="connsiteX32" fmla="*/ 333306 w 898525"/>
                    <a:gd name="connsiteY32" fmla="*/ 279343 h 1190625"/>
                    <a:gd name="connsiteX33" fmla="*/ 302637 w 898525"/>
                    <a:gd name="connsiteY33" fmla="*/ 310000 h 1190625"/>
                    <a:gd name="connsiteX34" fmla="*/ 271255 w 898525"/>
                    <a:gd name="connsiteY34" fmla="*/ 341370 h 1190625"/>
                    <a:gd name="connsiteX35" fmla="*/ 247006 w 898525"/>
                    <a:gd name="connsiteY35" fmla="*/ 365610 h 1190625"/>
                    <a:gd name="connsiteX36" fmla="*/ 236307 w 898525"/>
                    <a:gd name="connsiteY36" fmla="*/ 369888 h 1190625"/>
                    <a:gd name="connsiteX37" fmla="*/ 224896 w 898525"/>
                    <a:gd name="connsiteY37" fmla="*/ 365610 h 1190625"/>
                    <a:gd name="connsiteX38" fmla="*/ 197793 w 898525"/>
                    <a:gd name="connsiteY38" fmla="*/ 338518 h 1190625"/>
                    <a:gd name="connsiteX39" fmla="*/ 197793 w 898525"/>
                    <a:gd name="connsiteY39" fmla="*/ 316417 h 1190625"/>
                    <a:gd name="connsiteX40" fmla="*/ 219903 w 898525"/>
                    <a:gd name="connsiteY40" fmla="*/ 316417 h 1190625"/>
                    <a:gd name="connsiteX41" fmla="*/ 236307 w 898525"/>
                    <a:gd name="connsiteY41" fmla="*/ 332102 h 1190625"/>
                    <a:gd name="connsiteX42" fmla="*/ 269829 w 898525"/>
                    <a:gd name="connsiteY42" fmla="*/ 298593 h 1190625"/>
                    <a:gd name="connsiteX43" fmla="*/ 297645 w 898525"/>
                    <a:gd name="connsiteY43" fmla="*/ 271501 h 1190625"/>
                    <a:gd name="connsiteX44" fmla="*/ 311196 w 898525"/>
                    <a:gd name="connsiteY44" fmla="*/ 257242 h 1190625"/>
                    <a:gd name="connsiteX45" fmla="*/ 15714 w 898525"/>
                    <a:gd name="connsiteY45" fmla="*/ 0 h 1190625"/>
                    <a:gd name="connsiteX46" fmla="*/ 272843 w 898525"/>
                    <a:gd name="connsiteY46" fmla="*/ 0 h 1190625"/>
                    <a:gd name="connsiteX47" fmla="*/ 272843 w 898525"/>
                    <a:gd name="connsiteY47" fmla="*/ 31370 h 1190625"/>
                    <a:gd name="connsiteX48" fmla="*/ 31427 w 898525"/>
                    <a:gd name="connsiteY48" fmla="*/ 31370 h 1190625"/>
                    <a:gd name="connsiteX49" fmla="*/ 31427 w 898525"/>
                    <a:gd name="connsiteY49" fmla="*/ 1159255 h 1190625"/>
                    <a:gd name="connsiteX50" fmla="*/ 867098 w 898525"/>
                    <a:gd name="connsiteY50" fmla="*/ 1159255 h 1190625"/>
                    <a:gd name="connsiteX51" fmla="*/ 867098 w 898525"/>
                    <a:gd name="connsiteY51" fmla="*/ 31370 h 1190625"/>
                    <a:gd name="connsiteX52" fmla="*/ 625682 w 898525"/>
                    <a:gd name="connsiteY52" fmla="*/ 31370 h 1190625"/>
                    <a:gd name="connsiteX53" fmla="*/ 625682 w 898525"/>
                    <a:gd name="connsiteY53" fmla="*/ 0 h 1190625"/>
                    <a:gd name="connsiteX54" fmla="*/ 882812 w 898525"/>
                    <a:gd name="connsiteY54" fmla="*/ 0 h 1190625"/>
                    <a:gd name="connsiteX55" fmla="*/ 898525 w 898525"/>
                    <a:gd name="connsiteY55" fmla="*/ 15685 h 1190625"/>
                    <a:gd name="connsiteX56" fmla="*/ 898525 w 898525"/>
                    <a:gd name="connsiteY56" fmla="*/ 1174940 h 1190625"/>
                    <a:gd name="connsiteX57" fmla="*/ 882812 w 898525"/>
                    <a:gd name="connsiteY57" fmla="*/ 1190625 h 1190625"/>
                    <a:gd name="connsiteX58" fmla="*/ 15714 w 898525"/>
                    <a:gd name="connsiteY58" fmla="*/ 1190625 h 1190625"/>
                    <a:gd name="connsiteX59" fmla="*/ 0 w 898525"/>
                    <a:gd name="connsiteY59" fmla="*/ 1174940 h 1190625"/>
                    <a:gd name="connsiteX60" fmla="*/ 0 w 898525"/>
                    <a:gd name="connsiteY60" fmla="*/ 15685 h 1190625"/>
                    <a:gd name="connsiteX61" fmla="*/ 15714 w 898525"/>
                    <a:gd name="connsiteY61" fmla="*/ 0 h 11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898525" h="1190625">
                      <a:moveTo>
                        <a:pt x="311196" y="816042"/>
                      </a:moveTo>
                      <a:cubicBezTo>
                        <a:pt x="317615" y="809625"/>
                        <a:pt x="327600" y="809625"/>
                        <a:pt x="333306" y="816042"/>
                      </a:cubicBezTo>
                      <a:cubicBezTo>
                        <a:pt x="339725" y="821745"/>
                        <a:pt x="339725" y="831727"/>
                        <a:pt x="333306" y="838143"/>
                      </a:cubicBezTo>
                      <a:cubicBezTo>
                        <a:pt x="333306" y="838143"/>
                        <a:pt x="333306" y="838143"/>
                        <a:pt x="302637" y="868800"/>
                      </a:cubicBezTo>
                      <a:cubicBezTo>
                        <a:pt x="302637" y="868800"/>
                        <a:pt x="302637" y="868800"/>
                        <a:pt x="271255" y="900170"/>
                      </a:cubicBezTo>
                      <a:cubicBezTo>
                        <a:pt x="271255" y="900170"/>
                        <a:pt x="271255" y="900170"/>
                        <a:pt x="247006" y="924410"/>
                      </a:cubicBezTo>
                      <a:cubicBezTo>
                        <a:pt x="244153" y="927262"/>
                        <a:pt x="240587" y="928688"/>
                        <a:pt x="236307" y="928688"/>
                      </a:cubicBezTo>
                      <a:cubicBezTo>
                        <a:pt x="232028" y="928688"/>
                        <a:pt x="228462" y="927262"/>
                        <a:pt x="224896" y="924410"/>
                      </a:cubicBezTo>
                      <a:cubicBezTo>
                        <a:pt x="224896" y="924410"/>
                        <a:pt x="224896" y="924410"/>
                        <a:pt x="197793" y="896605"/>
                      </a:cubicBezTo>
                      <a:cubicBezTo>
                        <a:pt x="192087" y="890902"/>
                        <a:pt x="192087" y="880920"/>
                        <a:pt x="197793" y="874504"/>
                      </a:cubicBezTo>
                      <a:cubicBezTo>
                        <a:pt x="204212" y="868800"/>
                        <a:pt x="214197" y="868800"/>
                        <a:pt x="219903" y="874504"/>
                      </a:cubicBezTo>
                      <a:cubicBezTo>
                        <a:pt x="219903" y="874504"/>
                        <a:pt x="219903" y="874504"/>
                        <a:pt x="236307" y="890902"/>
                      </a:cubicBezTo>
                      <a:cubicBezTo>
                        <a:pt x="236307" y="890902"/>
                        <a:pt x="236307" y="890902"/>
                        <a:pt x="269829" y="857393"/>
                      </a:cubicBezTo>
                      <a:cubicBezTo>
                        <a:pt x="269829" y="857393"/>
                        <a:pt x="269829" y="857393"/>
                        <a:pt x="297645" y="829588"/>
                      </a:cubicBezTo>
                      <a:cubicBezTo>
                        <a:pt x="297645" y="829588"/>
                        <a:pt x="297645" y="829588"/>
                        <a:pt x="311196" y="816042"/>
                      </a:cubicBezTo>
                      <a:close/>
                      <a:moveTo>
                        <a:pt x="311196" y="539104"/>
                      </a:moveTo>
                      <a:cubicBezTo>
                        <a:pt x="317615" y="533400"/>
                        <a:pt x="327600" y="533400"/>
                        <a:pt x="333306" y="539104"/>
                      </a:cubicBezTo>
                      <a:cubicBezTo>
                        <a:pt x="339725" y="545520"/>
                        <a:pt x="339725" y="555502"/>
                        <a:pt x="333306" y="561918"/>
                      </a:cubicBezTo>
                      <a:cubicBezTo>
                        <a:pt x="333306" y="561918"/>
                        <a:pt x="333306" y="561918"/>
                        <a:pt x="302637" y="592575"/>
                      </a:cubicBezTo>
                      <a:cubicBezTo>
                        <a:pt x="302637" y="592575"/>
                        <a:pt x="302637" y="592575"/>
                        <a:pt x="271255" y="623945"/>
                      </a:cubicBezTo>
                      <a:cubicBezTo>
                        <a:pt x="271255" y="623945"/>
                        <a:pt x="271255" y="623945"/>
                        <a:pt x="247006" y="647472"/>
                      </a:cubicBezTo>
                      <a:cubicBezTo>
                        <a:pt x="244153" y="651037"/>
                        <a:pt x="240587" y="652463"/>
                        <a:pt x="236307" y="652463"/>
                      </a:cubicBezTo>
                      <a:cubicBezTo>
                        <a:pt x="232028" y="652463"/>
                        <a:pt x="228462" y="651037"/>
                        <a:pt x="224896" y="647472"/>
                      </a:cubicBezTo>
                      <a:cubicBezTo>
                        <a:pt x="224896" y="647472"/>
                        <a:pt x="224896" y="647472"/>
                        <a:pt x="197793" y="620380"/>
                      </a:cubicBezTo>
                      <a:cubicBezTo>
                        <a:pt x="192087" y="614677"/>
                        <a:pt x="192087" y="604695"/>
                        <a:pt x="197793" y="598279"/>
                      </a:cubicBezTo>
                      <a:cubicBezTo>
                        <a:pt x="204212" y="592575"/>
                        <a:pt x="214197" y="592575"/>
                        <a:pt x="219903" y="598279"/>
                      </a:cubicBezTo>
                      <a:cubicBezTo>
                        <a:pt x="219903" y="598279"/>
                        <a:pt x="219903" y="598279"/>
                        <a:pt x="236307" y="614677"/>
                      </a:cubicBezTo>
                      <a:cubicBezTo>
                        <a:pt x="236307" y="614677"/>
                        <a:pt x="236307" y="614677"/>
                        <a:pt x="269829" y="581168"/>
                      </a:cubicBezTo>
                      <a:cubicBezTo>
                        <a:pt x="269829" y="581168"/>
                        <a:pt x="269829" y="581168"/>
                        <a:pt x="297645" y="553363"/>
                      </a:cubicBezTo>
                      <a:cubicBezTo>
                        <a:pt x="297645" y="553363"/>
                        <a:pt x="297645" y="553363"/>
                        <a:pt x="311196" y="539104"/>
                      </a:cubicBezTo>
                      <a:close/>
                      <a:moveTo>
                        <a:pt x="311196" y="257242"/>
                      </a:moveTo>
                      <a:cubicBezTo>
                        <a:pt x="317615" y="250825"/>
                        <a:pt x="327600" y="250825"/>
                        <a:pt x="333306" y="257242"/>
                      </a:cubicBezTo>
                      <a:cubicBezTo>
                        <a:pt x="339725" y="263658"/>
                        <a:pt x="339725" y="272927"/>
                        <a:pt x="333306" y="279343"/>
                      </a:cubicBezTo>
                      <a:cubicBezTo>
                        <a:pt x="333306" y="279343"/>
                        <a:pt x="333306" y="279343"/>
                        <a:pt x="302637" y="310000"/>
                      </a:cubicBezTo>
                      <a:cubicBezTo>
                        <a:pt x="302637" y="310000"/>
                        <a:pt x="302637" y="310000"/>
                        <a:pt x="271255" y="341370"/>
                      </a:cubicBezTo>
                      <a:cubicBezTo>
                        <a:pt x="271255" y="341370"/>
                        <a:pt x="271255" y="341370"/>
                        <a:pt x="247006" y="365610"/>
                      </a:cubicBezTo>
                      <a:cubicBezTo>
                        <a:pt x="244153" y="368462"/>
                        <a:pt x="240587" y="369888"/>
                        <a:pt x="236307" y="369888"/>
                      </a:cubicBezTo>
                      <a:cubicBezTo>
                        <a:pt x="232028" y="369888"/>
                        <a:pt x="228462" y="368462"/>
                        <a:pt x="224896" y="365610"/>
                      </a:cubicBezTo>
                      <a:cubicBezTo>
                        <a:pt x="224896" y="365610"/>
                        <a:pt x="224896" y="365610"/>
                        <a:pt x="197793" y="338518"/>
                      </a:cubicBezTo>
                      <a:cubicBezTo>
                        <a:pt x="192087" y="332102"/>
                        <a:pt x="192087" y="322120"/>
                        <a:pt x="197793" y="316417"/>
                      </a:cubicBezTo>
                      <a:cubicBezTo>
                        <a:pt x="204212" y="310000"/>
                        <a:pt x="214197" y="310000"/>
                        <a:pt x="219903" y="316417"/>
                      </a:cubicBezTo>
                      <a:cubicBezTo>
                        <a:pt x="219903" y="316417"/>
                        <a:pt x="219903" y="316417"/>
                        <a:pt x="236307" y="332102"/>
                      </a:cubicBezTo>
                      <a:cubicBezTo>
                        <a:pt x="236307" y="332102"/>
                        <a:pt x="236307" y="332102"/>
                        <a:pt x="269829" y="298593"/>
                      </a:cubicBezTo>
                      <a:cubicBezTo>
                        <a:pt x="269829" y="298593"/>
                        <a:pt x="269829" y="298593"/>
                        <a:pt x="297645" y="271501"/>
                      </a:cubicBezTo>
                      <a:cubicBezTo>
                        <a:pt x="297645" y="271501"/>
                        <a:pt x="297645" y="271501"/>
                        <a:pt x="311196" y="257242"/>
                      </a:cubicBezTo>
                      <a:close/>
                      <a:moveTo>
                        <a:pt x="15714" y="0"/>
                      </a:moveTo>
                      <a:cubicBezTo>
                        <a:pt x="15714" y="0"/>
                        <a:pt x="15714" y="0"/>
                        <a:pt x="272843" y="0"/>
                      </a:cubicBezTo>
                      <a:cubicBezTo>
                        <a:pt x="272843" y="0"/>
                        <a:pt x="272843" y="0"/>
                        <a:pt x="272843" y="31370"/>
                      </a:cubicBezTo>
                      <a:cubicBezTo>
                        <a:pt x="272843" y="31370"/>
                        <a:pt x="272843" y="31370"/>
                        <a:pt x="31427" y="31370"/>
                      </a:cubicBezTo>
                      <a:cubicBezTo>
                        <a:pt x="31427" y="31370"/>
                        <a:pt x="31427" y="31370"/>
                        <a:pt x="31427" y="1159255"/>
                      </a:cubicBezTo>
                      <a:cubicBezTo>
                        <a:pt x="31427" y="1159255"/>
                        <a:pt x="31427" y="1159255"/>
                        <a:pt x="867098" y="1159255"/>
                      </a:cubicBezTo>
                      <a:cubicBezTo>
                        <a:pt x="867098" y="1159255"/>
                        <a:pt x="867098" y="1159255"/>
                        <a:pt x="867098" y="31370"/>
                      </a:cubicBezTo>
                      <a:cubicBezTo>
                        <a:pt x="867098" y="31370"/>
                        <a:pt x="867098" y="31370"/>
                        <a:pt x="625682" y="31370"/>
                      </a:cubicBezTo>
                      <a:cubicBezTo>
                        <a:pt x="625682" y="31370"/>
                        <a:pt x="625682" y="31370"/>
                        <a:pt x="625682" y="0"/>
                      </a:cubicBezTo>
                      <a:cubicBezTo>
                        <a:pt x="625682" y="0"/>
                        <a:pt x="625682" y="0"/>
                        <a:pt x="882812" y="0"/>
                      </a:cubicBezTo>
                      <a:cubicBezTo>
                        <a:pt x="892097" y="0"/>
                        <a:pt x="898525" y="7130"/>
                        <a:pt x="898525" y="15685"/>
                      </a:cubicBezTo>
                      <a:cubicBezTo>
                        <a:pt x="898525" y="15685"/>
                        <a:pt x="898525" y="15685"/>
                        <a:pt x="898525" y="1174940"/>
                      </a:cubicBezTo>
                      <a:cubicBezTo>
                        <a:pt x="898525" y="1184209"/>
                        <a:pt x="892097" y="1190625"/>
                        <a:pt x="882812" y="1190625"/>
                      </a:cubicBezTo>
                      <a:cubicBezTo>
                        <a:pt x="882812" y="1190625"/>
                        <a:pt x="882812" y="1190625"/>
                        <a:pt x="15714" y="1190625"/>
                      </a:cubicBezTo>
                      <a:cubicBezTo>
                        <a:pt x="6428" y="1190625"/>
                        <a:pt x="0" y="1184209"/>
                        <a:pt x="0" y="1174940"/>
                      </a:cubicBezTo>
                      <a:cubicBezTo>
                        <a:pt x="0" y="1174940"/>
                        <a:pt x="0" y="1174940"/>
                        <a:pt x="0" y="15685"/>
                      </a:cubicBezTo>
                      <a:cubicBezTo>
                        <a:pt x="0" y="7130"/>
                        <a:pt x="6428" y="0"/>
                        <a:pt x="1571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5837" tIns="32918" rIns="65837" bIns="32918" numCol="1" anchor="t" anchorCtr="0" compatLnSpc="1">
                  <a:prstTxWarp prst="textNoShape">
                    <a:avLst/>
                  </a:prstTxWarp>
                  <a:noAutofit/>
                </a:bodyPr>
                <a:lstStyle/>
                <a:p>
                  <a:endParaRPr lang="en-US">
                    <a:ea typeface="Microsoft YaHei" panose="020B0503020204020204" pitchFamily="34" charset="-122"/>
                  </a:endParaRPr>
                </a:p>
              </p:txBody>
            </p:sp>
            <p:sp>
              <p:nvSpPr>
                <p:cNvPr id="133" name="Freeform 26">
                  <a:extLst>
                    <a:ext uri="{FF2B5EF4-FFF2-40B4-BE49-F238E27FC236}">
                      <a16:creationId xmlns:a16="http://schemas.microsoft.com/office/drawing/2014/main" id="{016ECB05-E8DC-442B-B7AA-70D7A89316D1}"/>
                    </a:ext>
                  </a:extLst>
                </p:cNvPr>
                <p:cNvSpPr>
                  <a:spLocks/>
                </p:cNvSpPr>
                <p:nvPr/>
              </p:nvSpPr>
              <p:spPr bwMode="auto">
                <a:xfrm>
                  <a:off x="5795963" y="2776538"/>
                  <a:ext cx="600075" cy="1093787"/>
                </a:xfrm>
                <a:custGeom>
                  <a:avLst/>
                  <a:gdLst>
                    <a:gd name="connsiteX0" fmla="*/ 296727 w 600075"/>
                    <a:gd name="connsiteY0" fmla="*/ 1044575 h 1093787"/>
                    <a:gd name="connsiteX1" fmla="*/ 584335 w 600075"/>
                    <a:gd name="connsiteY1" fmla="*/ 1044575 h 1093787"/>
                    <a:gd name="connsiteX2" fmla="*/ 600075 w 600075"/>
                    <a:gd name="connsiteY2" fmla="*/ 1060450 h 1093787"/>
                    <a:gd name="connsiteX3" fmla="*/ 584335 w 600075"/>
                    <a:gd name="connsiteY3" fmla="*/ 1076325 h 1093787"/>
                    <a:gd name="connsiteX4" fmla="*/ 296727 w 600075"/>
                    <a:gd name="connsiteY4" fmla="*/ 1076325 h 1093787"/>
                    <a:gd name="connsiteX5" fmla="*/ 280987 w 600075"/>
                    <a:gd name="connsiteY5" fmla="*/ 1060450 h 1093787"/>
                    <a:gd name="connsiteX6" fmla="*/ 296727 w 600075"/>
                    <a:gd name="connsiteY6" fmla="*/ 1044575 h 1093787"/>
                    <a:gd name="connsiteX7" fmla="*/ 296727 w 600075"/>
                    <a:gd name="connsiteY7" fmla="*/ 958850 h 1093787"/>
                    <a:gd name="connsiteX8" fmla="*/ 584335 w 600075"/>
                    <a:gd name="connsiteY8" fmla="*/ 958850 h 1093787"/>
                    <a:gd name="connsiteX9" fmla="*/ 600075 w 600075"/>
                    <a:gd name="connsiteY9" fmla="*/ 974725 h 1093787"/>
                    <a:gd name="connsiteX10" fmla="*/ 584335 w 600075"/>
                    <a:gd name="connsiteY10" fmla="*/ 990600 h 1093787"/>
                    <a:gd name="connsiteX11" fmla="*/ 296727 w 600075"/>
                    <a:gd name="connsiteY11" fmla="*/ 990600 h 1093787"/>
                    <a:gd name="connsiteX12" fmla="*/ 280987 w 600075"/>
                    <a:gd name="connsiteY12" fmla="*/ 974725 h 1093787"/>
                    <a:gd name="connsiteX13" fmla="*/ 296727 w 600075"/>
                    <a:gd name="connsiteY13" fmla="*/ 958850 h 1093787"/>
                    <a:gd name="connsiteX14" fmla="*/ 15667 w 600075"/>
                    <a:gd name="connsiteY14" fmla="*/ 941387 h 1093787"/>
                    <a:gd name="connsiteX15" fmla="*/ 107534 w 600075"/>
                    <a:gd name="connsiteY15" fmla="*/ 941387 h 1093787"/>
                    <a:gd name="connsiteX16" fmla="*/ 76200 w 600075"/>
                    <a:gd name="connsiteY16" fmla="*/ 972722 h 1093787"/>
                    <a:gd name="connsiteX17" fmla="*/ 31334 w 600075"/>
                    <a:gd name="connsiteY17" fmla="*/ 972722 h 1093787"/>
                    <a:gd name="connsiteX18" fmla="*/ 31334 w 600075"/>
                    <a:gd name="connsiteY18" fmla="*/ 1062453 h 1093787"/>
                    <a:gd name="connsiteX19" fmla="*/ 121065 w 600075"/>
                    <a:gd name="connsiteY19" fmla="*/ 1062453 h 1093787"/>
                    <a:gd name="connsiteX20" fmla="*/ 121065 w 600075"/>
                    <a:gd name="connsiteY20" fmla="*/ 1058892 h 1093787"/>
                    <a:gd name="connsiteX21" fmla="*/ 152400 w 600075"/>
                    <a:gd name="connsiteY21" fmla="*/ 1027557 h 1093787"/>
                    <a:gd name="connsiteX22" fmla="*/ 152400 w 600075"/>
                    <a:gd name="connsiteY22" fmla="*/ 1078120 h 1093787"/>
                    <a:gd name="connsiteX23" fmla="*/ 136732 w 600075"/>
                    <a:gd name="connsiteY23" fmla="*/ 1093787 h 1093787"/>
                    <a:gd name="connsiteX24" fmla="*/ 15667 w 600075"/>
                    <a:gd name="connsiteY24" fmla="*/ 1093787 h 1093787"/>
                    <a:gd name="connsiteX25" fmla="*/ 0 w 600075"/>
                    <a:gd name="connsiteY25" fmla="*/ 1078120 h 1093787"/>
                    <a:gd name="connsiteX26" fmla="*/ 0 w 600075"/>
                    <a:gd name="connsiteY26" fmla="*/ 957054 h 1093787"/>
                    <a:gd name="connsiteX27" fmla="*/ 15667 w 600075"/>
                    <a:gd name="connsiteY27" fmla="*/ 941387 h 1093787"/>
                    <a:gd name="connsiteX28" fmla="*/ 296727 w 600075"/>
                    <a:gd name="connsiteY28" fmla="*/ 766762 h 1093787"/>
                    <a:gd name="connsiteX29" fmla="*/ 584335 w 600075"/>
                    <a:gd name="connsiteY29" fmla="*/ 766762 h 1093787"/>
                    <a:gd name="connsiteX30" fmla="*/ 600075 w 600075"/>
                    <a:gd name="connsiteY30" fmla="*/ 782637 h 1093787"/>
                    <a:gd name="connsiteX31" fmla="*/ 584335 w 600075"/>
                    <a:gd name="connsiteY31" fmla="*/ 798512 h 1093787"/>
                    <a:gd name="connsiteX32" fmla="*/ 296727 w 600075"/>
                    <a:gd name="connsiteY32" fmla="*/ 798512 h 1093787"/>
                    <a:gd name="connsiteX33" fmla="*/ 280987 w 600075"/>
                    <a:gd name="connsiteY33" fmla="*/ 782637 h 1093787"/>
                    <a:gd name="connsiteX34" fmla="*/ 296727 w 600075"/>
                    <a:gd name="connsiteY34" fmla="*/ 766762 h 1093787"/>
                    <a:gd name="connsiteX35" fmla="*/ 296727 w 600075"/>
                    <a:gd name="connsiteY35" fmla="*/ 681037 h 1093787"/>
                    <a:gd name="connsiteX36" fmla="*/ 584335 w 600075"/>
                    <a:gd name="connsiteY36" fmla="*/ 681037 h 1093787"/>
                    <a:gd name="connsiteX37" fmla="*/ 600075 w 600075"/>
                    <a:gd name="connsiteY37" fmla="*/ 696912 h 1093787"/>
                    <a:gd name="connsiteX38" fmla="*/ 584335 w 600075"/>
                    <a:gd name="connsiteY38" fmla="*/ 712787 h 1093787"/>
                    <a:gd name="connsiteX39" fmla="*/ 296727 w 600075"/>
                    <a:gd name="connsiteY39" fmla="*/ 712787 h 1093787"/>
                    <a:gd name="connsiteX40" fmla="*/ 280987 w 600075"/>
                    <a:gd name="connsiteY40" fmla="*/ 696912 h 1093787"/>
                    <a:gd name="connsiteX41" fmla="*/ 296727 w 600075"/>
                    <a:gd name="connsiteY41" fmla="*/ 681037 h 1093787"/>
                    <a:gd name="connsiteX42" fmla="*/ 15667 w 600075"/>
                    <a:gd name="connsiteY42" fmla="*/ 663575 h 1093787"/>
                    <a:gd name="connsiteX43" fmla="*/ 107534 w 600075"/>
                    <a:gd name="connsiteY43" fmla="*/ 663575 h 1093787"/>
                    <a:gd name="connsiteX44" fmla="*/ 76200 w 600075"/>
                    <a:gd name="connsiteY44" fmla="*/ 694910 h 1093787"/>
                    <a:gd name="connsiteX45" fmla="*/ 31334 w 600075"/>
                    <a:gd name="connsiteY45" fmla="*/ 694910 h 1093787"/>
                    <a:gd name="connsiteX46" fmla="*/ 31334 w 600075"/>
                    <a:gd name="connsiteY46" fmla="*/ 784641 h 1093787"/>
                    <a:gd name="connsiteX47" fmla="*/ 121065 w 600075"/>
                    <a:gd name="connsiteY47" fmla="*/ 784641 h 1093787"/>
                    <a:gd name="connsiteX48" fmla="*/ 121065 w 600075"/>
                    <a:gd name="connsiteY48" fmla="*/ 781080 h 1093787"/>
                    <a:gd name="connsiteX49" fmla="*/ 152400 w 600075"/>
                    <a:gd name="connsiteY49" fmla="*/ 749745 h 1093787"/>
                    <a:gd name="connsiteX50" fmla="*/ 152400 w 600075"/>
                    <a:gd name="connsiteY50" fmla="*/ 800308 h 1093787"/>
                    <a:gd name="connsiteX51" fmla="*/ 136732 w 600075"/>
                    <a:gd name="connsiteY51" fmla="*/ 815975 h 1093787"/>
                    <a:gd name="connsiteX52" fmla="*/ 15667 w 600075"/>
                    <a:gd name="connsiteY52" fmla="*/ 815975 h 1093787"/>
                    <a:gd name="connsiteX53" fmla="*/ 0 w 600075"/>
                    <a:gd name="connsiteY53" fmla="*/ 800308 h 1093787"/>
                    <a:gd name="connsiteX54" fmla="*/ 0 w 600075"/>
                    <a:gd name="connsiteY54" fmla="*/ 679242 h 1093787"/>
                    <a:gd name="connsiteX55" fmla="*/ 15667 w 600075"/>
                    <a:gd name="connsiteY55" fmla="*/ 663575 h 1093787"/>
                    <a:gd name="connsiteX56" fmla="*/ 296727 w 600075"/>
                    <a:gd name="connsiteY56" fmla="*/ 485775 h 1093787"/>
                    <a:gd name="connsiteX57" fmla="*/ 584335 w 600075"/>
                    <a:gd name="connsiteY57" fmla="*/ 485775 h 1093787"/>
                    <a:gd name="connsiteX58" fmla="*/ 600075 w 600075"/>
                    <a:gd name="connsiteY58" fmla="*/ 501650 h 1093787"/>
                    <a:gd name="connsiteX59" fmla="*/ 584335 w 600075"/>
                    <a:gd name="connsiteY59" fmla="*/ 517525 h 1093787"/>
                    <a:gd name="connsiteX60" fmla="*/ 296727 w 600075"/>
                    <a:gd name="connsiteY60" fmla="*/ 517525 h 1093787"/>
                    <a:gd name="connsiteX61" fmla="*/ 280987 w 600075"/>
                    <a:gd name="connsiteY61" fmla="*/ 501650 h 1093787"/>
                    <a:gd name="connsiteX62" fmla="*/ 296727 w 600075"/>
                    <a:gd name="connsiteY62" fmla="*/ 485775 h 1093787"/>
                    <a:gd name="connsiteX63" fmla="*/ 296727 w 600075"/>
                    <a:gd name="connsiteY63" fmla="*/ 400050 h 1093787"/>
                    <a:gd name="connsiteX64" fmla="*/ 584335 w 600075"/>
                    <a:gd name="connsiteY64" fmla="*/ 400050 h 1093787"/>
                    <a:gd name="connsiteX65" fmla="*/ 600075 w 600075"/>
                    <a:gd name="connsiteY65" fmla="*/ 415925 h 1093787"/>
                    <a:gd name="connsiteX66" fmla="*/ 584335 w 600075"/>
                    <a:gd name="connsiteY66" fmla="*/ 431800 h 1093787"/>
                    <a:gd name="connsiteX67" fmla="*/ 296727 w 600075"/>
                    <a:gd name="connsiteY67" fmla="*/ 431800 h 1093787"/>
                    <a:gd name="connsiteX68" fmla="*/ 280987 w 600075"/>
                    <a:gd name="connsiteY68" fmla="*/ 415925 h 1093787"/>
                    <a:gd name="connsiteX69" fmla="*/ 296727 w 600075"/>
                    <a:gd name="connsiteY69" fmla="*/ 400050 h 1093787"/>
                    <a:gd name="connsiteX70" fmla="*/ 15667 w 600075"/>
                    <a:gd name="connsiteY70" fmla="*/ 382587 h 1093787"/>
                    <a:gd name="connsiteX71" fmla="*/ 107534 w 600075"/>
                    <a:gd name="connsiteY71" fmla="*/ 382587 h 1093787"/>
                    <a:gd name="connsiteX72" fmla="*/ 76200 w 600075"/>
                    <a:gd name="connsiteY72" fmla="*/ 413776 h 1093787"/>
                    <a:gd name="connsiteX73" fmla="*/ 31334 w 600075"/>
                    <a:gd name="connsiteY73" fmla="*/ 413776 h 1093787"/>
                    <a:gd name="connsiteX74" fmla="*/ 31334 w 600075"/>
                    <a:gd name="connsiteY74" fmla="*/ 503798 h 1093787"/>
                    <a:gd name="connsiteX75" fmla="*/ 121065 w 600075"/>
                    <a:gd name="connsiteY75" fmla="*/ 503798 h 1093787"/>
                    <a:gd name="connsiteX76" fmla="*/ 121065 w 600075"/>
                    <a:gd name="connsiteY76" fmla="*/ 499545 h 1093787"/>
                    <a:gd name="connsiteX77" fmla="*/ 152400 w 600075"/>
                    <a:gd name="connsiteY77" fmla="*/ 468356 h 1093787"/>
                    <a:gd name="connsiteX78" fmla="*/ 152400 w 600075"/>
                    <a:gd name="connsiteY78" fmla="*/ 519393 h 1093787"/>
                    <a:gd name="connsiteX79" fmla="*/ 136732 w 600075"/>
                    <a:gd name="connsiteY79" fmla="*/ 534987 h 1093787"/>
                    <a:gd name="connsiteX80" fmla="*/ 15667 w 600075"/>
                    <a:gd name="connsiteY80" fmla="*/ 534987 h 1093787"/>
                    <a:gd name="connsiteX81" fmla="*/ 0 w 600075"/>
                    <a:gd name="connsiteY81" fmla="*/ 519393 h 1093787"/>
                    <a:gd name="connsiteX82" fmla="*/ 0 w 600075"/>
                    <a:gd name="connsiteY82" fmla="*/ 398182 h 1093787"/>
                    <a:gd name="connsiteX83" fmla="*/ 15667 w 600075"/>
                    <a:gd name="connsiteY83" fmla="*/ 382587 h 1093787"/>
                    <a:gd name="connsiteX84" fmla="*/ 301266 w 600075"/>
                    <a:gd name="connsiteY84" fmla="*/ 31750 h 1093787"/>
                    <a:gd name="connsiteX85" fmla="*/ 279758 w 600075"/>
                    <a:gd name="connsiteY85" fmla="*/ 36027 h 1093787"/>
                    <a:gd name="connsiteX86" fmla="*/ 246062 w 600075"/>
                    <a:gd name="connsiteY86" fmla="*/ 66675 h 1093787"/>
                    <a:gd name="connsiteX87" fmla="*/ 357187 w 600075"/>
                    <a:gd name="connsiteY87" fmla="*/ 66675 h 1093787"/>
                    <a:gd name="connsiteX88" fmla="*/ 323491 w 600075"/>
                    <a:gd name="connsiteY88" fmla="*/ 36027 h 1093787"/>
                    <a:gd name="connsiteX89" fmla="*/ 301266 w 600075"/>
                    <a:gd name="connsiteY89" fmla="*/ 31750 h 1093787"/>
                    <a:gd name="connsiteX90" fmla="*/ 300832 w 600075"/>
                    <a:gd name="connsiteY90" fmla="*/ 0 h 1093787"/>
                    <a:gd name="connsiteX91" fmla="*/ 373818 w 600075"/>
                    <a:gd name="connsiteY91" fmla="*/ 35602 h 1093787"/>
                    <a:gd name="connsiteX92" fmla="*/ 390275 w 600075"/>
                    <a:gd name="connsiteY92" fmla="*/ 66220 h 1093787"/>
                    <a:gd name="connsiteX93" fmla="*/ 439648 w 600075"/>
                    <a:gd name="connsiteY93" fmla="*/ 66220 h 1093787"/>
                    <a:gd name="connsiteX94" fmla="*/ 446088 w 600075"/>
                    <a:gd name="connsiteY94" fmla="*/ 73340 h 1093787"/>
                    <a:gd name="connsiteX95" fmla="*/ 446088 w 600075"/>
                    <a:gd name="connsiteY95" fmla="*/ 113927 h 1093787"/>
                    <a:gd name="connsiteX96" fmla="*/ 446088 w 600075"/>
                    <a:gd name="connsiteY96" fmla="*/ 145256 h 1093787"/>
                    <a:gd name="connsiteX97" fmla="*/ 446088 w 600075"/>
                    <a:gd name="connsiteY97" fmla="*/ 178010 h 1093787"/>
                    <a:gd name="connsiteX98" fmla="*/ 431062 w 600075"/>
                    <a:gd name="connsiteY98" fmla="*/ 193675 h 1093787"/>
                    <a:gd name="connsiteX99" fmla="*/ 171317 w 600075"/>
                    <a:gd name="connsiteY99" fmla="*/ 193675 h 1093787"/>
                    <a:gd name="connsiteX100" fmla="*/ 155575 w 600075"/>
                    <a:gd name="connsiteY100" fmla="*/ 178010 h 1093787"/>
                    <a:gd name="connsiteX101" fmla="*/ 155575 w 600075"/>
                    <a:gd name="connsiteY101" fmla="*/ 145256 h 1093787"/>
                    <a:gd name="connsiteX102" fmla="*/ 155575 w 600075"/>
                    <a:gd name="connsiteY102" fmla="*/ 113927 h 1093787"/>
                    <a:gd name="connsiteX103" fmla="*/ 155575 w 600075"/>
                    <a:gd name="connsiteY103" fmla="*/ 73340 h 1093787"/>
                    <a:gd name="connsiteX104" fmla="*/ 162731 w 600075"/>
                    <a:gd name="connsiteY104" fmla="*/ 66220 h 1093787"/>
                    <a:gd name="connsiteX105" fmla="*/ 212104 w 600075"/>
                    <a:gd name="connsiteY105" fmla="*/ 66220 h 1093787"/>
                    <a:gd name="connsiteX106" fmla="*/ 227846 w 600075"/>
                    <a:gd name="connsiteY106" fmla="*/ 35602 h 1093787"/>
                    <a:gd name="connsiteX107" fmla="*/ 300832 w 600075"/>
                    <a:gd name="connsiteY107" fmla="*/ 0 h 1093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600075" h="1093787">
                      <a:moveTo>
                        <a:pt x="296727" y="1044575"/>
                      </a:moveTo>
                      <a:cubicBezTo>
                        <a:pt x="296727" y="1044575"/>
                        <a:pt x="296727" y="1044575"/>
                        <a:pt x="584335" y="1044575"/>
                      </a:cubicBezTo>
                      <a:cubicBezTo>
                        <a:pt x="592921" y="1044575"/>
                        <a:pt x="600075" y="1051791"/>
                        <a:pt x="600075" y="1060450"/>
                      </a:cubicBezTo>
                      <a:cubicBezTo>
                        <a:pt x="600075" y="1069109"/>
                        <a:pt x="592921" y="1076325"/>
                        <a:pt x="584335" y="1076325"/>
                      </a:cubicBezTo>
                      <a:cubicBezTo>
                        <a:pt x="584335" y="1076325"/>
                        <a:pt x="584335" y="1076325"/>
                        <a:pt x="296727" y="1076325"/>
                      </a:cubicBezTo>
                      <a:cubicBezTo>
                        <a:pt x="288142" y="1076325"/>
                        <a:pt x="280987" y="1069109"/>
                        <a:pt x="280987" y="1060450"/>
                      </a:cubicBezTo>
                      <a:cubicBezTo>
                        <a:pt x="280987" y="1051791"/>
                        <a:pt x="288142" y="1044575"/>
                        <a:pt x="296727" y="1044575"/>
                      </a:cubicBezTo>
                      <a:close/>
                      <a:moveTo>
                        <a:pt x="296727" y="958850"/>
                      </a:moveTo>
                      <a:cubicBezTo>
                        <a:pt x="296727" y="958850"/>
                        <a:pt x="296727" y="958850"/>
                        <a:pt x="584335" y="958850"/>
                      </a:cubicBezTo>
                      <a:cubicBezTo>
                        <a:pt x="592921" y="958850"/>
                        <a:pt x="600075" y="966066"/>
                        <a:pt x="600075" y="974725"/>
                      </a:cubicBezTo>
                      <a:cubicBezTo>
                        <a:pt x="600075" y="983384"/>
                        <a:pt x="592921" y="990600"/>
                        <a:pt x="584335" y="990600"/>
                      </a:cubicBezTo>
                      <a:cubicBezTo>
                        <a:pt x="584335" y="990600"/>
                        <a:pt x="584335" y="990600"/>
                        <a:pt x="296727" y="990600"/>
                      </a:cubicBezTo>
                      <a:cubicBezTo>
                        <a:pt x="288142" y="990600"/>
                        <a:pt x="280987" y="983384"/>
                        <a:pt x="280987" y="974725"/>
                      </a:cubicBezTo>
                      <a:cubicBezTo>
                        <a:pt x="280987" y="966066"/>
                        <a:pt x="288142" y="958850"/>
                        <a:pt x="296727" y="958850"/>
                      </a:cubicBezTo>
                      <a:close/>
                      <a:moveTo>
                        <a:pt x="15667" y="941387"/>
                      </a:moveTo>
                      <a:cubicBezTo>
                        <a:pt x="15667" y="941387"/>
                        <a:pt x="15667" y="941387"/>
                        <a:pt x="107534" y="941387"/>
                      </a:cubicBezTo>
                      <a:cubicBezTo>
                        <a:pt x="107534" y="941387"/>
                        <a:pt x="107534" y="941387"/>
                        <a:pt x="76200" y="972722"/>
                      </a:cubicBezTo>
                      <a:cubicBezTo>
                        <a:pt x="76200" y="972722"/>
                        <a:pt x="76200" y="972722"/>
                        <a:pt x="31334" y="972722"/>
                      </a:cubicBezTo>
                      <a:cubicBezTo>
                        <a:pt x="31334" y="972722"/>
                        <a:pt x="31334" y="972722"/>
                        <a:pt x="31334" y="1062453"/>
                      </a:cubicBezTo>
                      <a:cubicBezTo>
                        <a:pt x="31334" y="1062453"/>
                        <a:pt x="31334" y="1062453"/>
                        <a:pt x="121065" y="1062453"/>
                      </a:cubicBezTo>
                      <a:cubicBezTo>
                        <a:pt x="121065" y="1062453"/>
                        <a:pt x="121065" y="1062453"/>
                        <a:pt x="121065" y="1058892"/>
                      </a:cubicBezTo>
                      <a:cubicBezTo>
                        <a:pt x="121065" y="1058892"/>
                        <a:pt x="121065" y="1058892"/>
                        <a:pt x="152400" y="1027557"/>
                      </a:cubicBezTo>
                      <a:cubicBezTo>
                        <a:pt x="152400" y="1027557"/>
                        <a:pt x="152400" y="1027557"/>
                        <a:pt x="152400" y="1078120"/>
                      </a:cubicBezTo>
                      <a:cubicBezTo>
                        <a:pt x="152400" y="1086666"/>
                        <a:pt x="145990" y="1093787"/>
                        <a:pt x="136732" y="1093787"/>
                      </a:cubicBezTo>
                      <a:lnTo>
                        <a:pt x="15667" y="1093787"/>
                      </a:lnTo>
                      <a:cubicBezTo>
                        <a:pt x="7121" y="1093787"/>
                        <a:pt x="0" y="1086666"/>
                        <a:pt x="0" y="1078120"/>
                      </a:cubicBezTo>
                      <a:cubicBezTo>
                        <a:pt x="0" y="1078120"/>
                        <a:pt x="0" y="1078120"/>
                        <a:pt x="0" y="957054"/>
                      </a:cubicBezTo>
                      <a:cubicBezTo>
                        <a:pt x="0" y="948509"/>
                        <a:pt x="7121" y="941387"/>
                        <a:pt x="15667" y="941387"/>
                      </a:cubicBezTo>
                      <a:close/>
                      <a:moveTo>
                        <a:pt x="296727" y="766762"/>
                      </a:moveTo>
                      <a:cubicBezTo>
                        <a:pt x="296727" y="766762"/>
                        <a:pt x="296727" y="766762"/>
                        <a:pt x="584335" y="766762"/>
                      </a:cubicBezTo>
                      <a:cubicBezTo>
                        <a:pt x="592921" y="766762"/>
                        <a:pt x="600075" y="773978"/>
                        <a:pt x="600075" y="782637"/>
                      </a:cubicBezTo>
                      <a:cubicBezTo>
                        <a:pt x="600075" y="791296"/>
                        <a:pt x="592921" y="798512"/>
                        <a:pt x="584335" y="798512"/>
                      </a:cubicBezTo>
                      <a:cubicBezTo>
                        <a:pt x="584335" y="798512"/>
                        <a:pt x="584335" y="798512"/>
                        <a:pt x="296727" y="798512"/>
                      </a:cubicBezTo>
                      <a:cubicBezTo>
                        <a:pt x="288142" y="798512"/>
                        <a:pt x="280987" y="791296"/>
                        <a:pt x="280987" y="782637"/>
                      </a:cubicBezTo>
                      <a:cubicBezTo>
                        <a:pt x="280987" y="773978"/>
                        <a:pt x="288142" y="766762"/>
                        <a:pt x="296727" y="766762"/>
                      </a:cubicBezTo>
                      <a:close/>
                      <a:moveTo>
                        <a:pt x="296727" y="681037"/>
                      </a:moveTo>
                      <a:cubicBezTo>
                        <a:pt x="296727" y="681037"/>
                        <a:pt x="296727" y="681037"/>
                        <a:pt x="584335" y="681037"/>
                      </a:cubicBezTo>
                      <a:cubicBezTo>
                        <a:pt x="592921" y="681037"/>
                        <a:pt x="600075" y="688253"/>
                        <a:pt x="600075" y="696912"/>
                      </a:cubicBezTo>
                      <a:cubicBezTo>
                        <a:pt x="600075" y="705571"/>
                        <a:pt x="592921" y="712787"/>
                        <a:pt x="584335" y="712787"/>
                      </a:cubicBezTo>
                      <a:cubicBezTo>
                        <a:pt x="584335" y="712787"/>
                        <a:pt x="584335" y="712787"/>
                        <a:pt x="296727" y="712787"/>
                      </a:cubicBezTo>
                      <a:cubicBezTo>
                        <a:pt x="288142" y="712787"/>
                        <a:pt x="280987" y="705571"/>
                        <a:pt x="280987" y="696912"/>
                      </a:cubicBezTo>
                      <a:cubicBezTo>
                        <a:pt x="280987" y="688253"/>
                        <a:pt x="288142" y="681037"/>
                        <a:pt x="296727" y="681037"/>
                      </a:cubicBezTo>
                      <a:close/>
                      <a:moveTo>
                        <a:pt x="15667" y="663575"/>
                      </a:moveTo>
                      <a:cubicBezTo>
                        <a:pt x="15667" y="663575"/>
                        <a:pt x="15667" y="663575"/>
                        <a:pt x="107534" y="663575"/>
                      </a:cubicBezTo>
                      <a:cubicBezTo>
                        <a:pt x="107534" y="663575"/>
                        <a:pt x="107534" y="663575"/>
                        <a:pt x="76200" y="694910"/>
                      </a:cubicBezTo>
                      <a:cubicBezTo>
                        <a:pt x="76200" y="694910"/>
                        <a:pt x="76200" y="694910"/>
                        <a:pt x="31334" y="694910"/>
                      </a:cubicBezTo>
                      <a:cubicBezTo>
                        <a:pt x="31334" y="694910"/>
                        <a:pt x="31334" y="694910"/>
                        <a:pt x="31334" y="784641"/>
                      </a:cubicBezTo>
                      <a:cubicBezTo>
                        <a:pt x="31334" y="784641"/>
                        <a:pt x="31334" y="784641"/>
                        <a:pt x="121065" y="784641"/>
                      </a:cubicBezTo>
                      <a:cubicBezTo>
                        <a:pt x="121065" y="784641"/>
                        <a:pt x="121065" y="784641"/>
                        <a:pt x="121065" y="781080"/>
                      </a:cubicBezTo>
                      <a:cubicBezTo>
                        <a:pt x="121065" y="781080"/>
                        <a:pt x="121065" y="781080"/>
                        <a:pt x="152400" y="749745"/>
                      </a:cubicBezTo>
                      <a:cubicBezTo>
                        <a:pt x="152400" y="749745"/>
                        <a:pt x="152400" y="749745"/>
                        <a:pt x="152400" y="800308"/>
                      </a:cubicBezTo>
                      <a:cubicBezTo>
                        <a:pt x="152400" y="808854"/>
                        <a:pt x="145990" y="815975"/>
                        <a:pt x="136732" y="815975"/>
                      </a:cubicBezTo>
                      <a:cubicBezTo>
                        <a:pt x="136732" y="815975"/>
                        <a:pt x="136732" y="815975"/>
                        <a:pt x="15667" y="815975"/>
                      </a:cubicBezTo>
                      <a:cubicBezTo>
                        <a:pt x="7121" y="815975"/>
                        <a:pt x="0" y="808854"/>
                        <a:pt x="0" y="800308"/>
                      </a:cubicBezTo>
                      <a:lnTo>
                        <a:pt x="0" y="679242"/>
                      </a:lnTo>
                      <a:cubicBezTo>
                        <a:pt x="0" y="670697"/>
                        <a:pt x="7121" y="663575"/>
                        <a:pt x="15667" y="663575"/>
                      </a:cubicBezTo>
                      <a:close/>
                      <a:moveTo>
                        <a:pt x="296727" y="485775"/>
                      </a:moveTo>
                      <a:cubicBezTo>
                        <a:pt x="296727" y="485775"/>
                        <a:pt x="296727" y="485775"/>
                        <a:pt x="584335" y="485775"/>
                      </a:cubicBezTo>
                      <a:cubicBezTo>
                        <a:pt x="592921" y="485775"/>
                        <a:pt x="600075" y="492991"/>
                        <a:pt x="600075" y="501650"/>
                      </a:cubicBezTo>
                      <a:cubicBezTo>
                        <a:pt x="600075" y="511031"/>
                        <a:pt x="592921" y="517525"/>
                        <a:pt x="584335" y="517525"/>
                      </a:cubicBezTo>
                      <a:cubicBezTo>
                        <a:pt x="584335" y="517525"/>
                        <a:pt x="584335" y="517525"/>
                        <a:pt x="296727" y="517525"/>
                      </a:cubicBezTo>
                      <a:cubicBezTo>
                        <a:pt x="288142" y="517525"/>
                        <a:pt x="280987" y="511031"/>
                        <a:pt x="280987" y="501650"/>
                      </a:cubicBezTo>
                      <a:cubicBezTo>
                        <a:pt x="280987" y="492991"/>
                        <a:pt x="288142" y="485775"/>
                        <a:pt x="296727" y="485775"/>
                      </a:cubicBezTo>
                      <a:close/>
                      <a:moveTo>
                        <a:pt x="296727" y="400050"/>
                      </a:moveTo>
                      <a:cubicBezTo>
                        <a:pt x="296727" y="400050"/>
                        <a:pt x="296727" y="400050"/>
                        <a:pt x="584335" y="400050"/>
                      </a:cubicBezTo>
                      <a:cubicBezTo>
                        <a:pt x="592921" y="400050"/>
                        <a:pt x="600075" y="406544"/>
                        <a:pt x="600075" y="415925"/>
                      </a:cubicBezTo>
                      <a:cubicBezTo>
                        <a:pt x="600075" y="424584"/>
                        <a:pt x="592921" y="431800"/>
                        <a:pt x="584335" y="431800"/>
                      </a:cubicBezTo>
                      <a:cubicBezTo>
                        <a:pt x="584335" y="431800"/>
                        <a:pt x="584335" y="431800"/>
                        <a:pt x="296727" y="431800"/>
                      </a:cubicBezTo>
                      <a:cubicBezTo>
                        <a:pt x="288142" y="431800"/>
                        <a:pt x="280987" y="424584"/>
                        <a:pt x="280987" y="415925"/>
                      </a:cubicBezTo>
                      <a:cubicBezTo>
                        <a:pt x="280987" y="406544"/>
                        <a:pt x="288142" y="400050"/>
                        <a:pt x="296727" y="400050"/>
                      </a:cubicBezTo>
                      <a:close/>
                      <a:moveTo>
                        <a:pt x="15667" y="382587"/>
                      </a:moveTo>
                      <a:cubicBezTo>
                        <a:pt x="15667" y="382587"/>
                        <a:pt x="15667" y="382587"/>
                        <a:pt x="107534" y="382587"/>
                      </a:cubicBezTo>
                      <a:cubicBezTo>
                        <a:pt x="107534" y="382587"/>
                        <a:pt x="107534" y="382587"/>
                        <a:pt x="76200" y="413776"/>
                      </a:cubicBezTo>
                      <a:lnTo>
                        <a:pt x="31334" y="413776"/>
                      </a:lnTo>
                      <a:cubicBezTo>
                        <a:pt x="31334" y="413776"/>
                        <a:pt x="31334" y="413776"/>
                        <a:pt x="31334" y="503798"/>
                      </a:cubicBezTo>
                      <a:cubicBezTo>
                        <a:pt x="31334" y="503798"/>
                        <a:pt x="31334" y="503798"/>
                        <a:pt x="121065" y="503798"/>
                      </a:cubicBezTo>
                      <a:cubicBezTo>
                        <a:pt x="121065" y="503798"/>
                        <a:pt x="121065" y="503798"/>
                        <a:pt x="121065" y="499545"/>
                      </a:cubicBezTo>
                      <a:cubicBezTo>
                        <a:pt x="121065" y="499545"/>
                        <a:pt x="121065" y="499545"/>
                        <a:pt x="152400" y="468356"/>
                      </a:cubicBezTo>
                      <a:cubicBezTo>
                        <a:pt x="152400" y="468356"/>
                        <a:pt x="152400" y="468356"/>
                        <a:pt x="152400" y="519393"/>
                      </a:cubicBezTo>
                      <a:cubicBezTo>
                        <a:pt x="152400" y="527899"/>
                        <a:pt x="145990" y="534987"/>
                        <a:pt x="136732" y="534987"/>
                      </a:cubicBezTo>
                      <a:cubicBezTo>
                        <a:pt x="136732" y="534987"/>
                        <a:pt x="136732" y="534987"/>
                        <a:pt x="15667" y="534987"/>
                      </a:cubicBezTo>
                      <a:cubicBezTo>
                        <a:pt x="7121" y="534987"/>
                        <a:pt x="0" y="527899"/>
                        <a:pt x="0" y="519393"/>
                      </a:cubicBezTo>
                      <a:cubicBezTo>
                        <a:pt x="0" y="519393"/>
                        <a:pt x="0" y="519393"/>
                        <a:pt x="0" y="398182"/>
                      </a:cubicBezTo>
                      <a:cubicBezTo>
                        <a:pt x="0" y="389675"/>
                        <a:pt x="7121" y="382587"/>
                        <a:pt x="15667" y="382587"/>
                      </a:cubicBezTo>
                      <a:close/>
                      <a:moveTo>
                        <a:pt x="301266" y="31750"/>
                      </a:moveTo>
                      <a:cubicBezTo>
                        <a:pt x="294097" y="31750"/>
                        <a:pt x="286211" y="33176"/>
                        <a:pt x="279758" y="36027"/>
                      </a:cubicBezTo>
                      <a:cubicBezTo>
                        <a:pt x="264703" y="41016"/>
                        <a:pt x="252515" y="52420"/>
                        <a:pt x="246062" y="66675"/>
                      </a:cubicBezTo>
                      <a:cubicBezTo>
                        <a:pt x="246062" y="66675"/>
                        <a:pt x="246062" y="66675"/>
                        <a:pt x="357187" y="66675"/>
                      </a:cubicBezTo>
                      <a:cubicBezTo>
                        <a:pt x="350018" y="52420"/>
                        <a:pt x="337830" y="41016"/>
                        <a:pt x="323491" y="36027"/>
                      </a:cubicBezTo>
                      <a:cubicBezTo>
                        <a:pt x="316322" y="33176"/>
                        <a:pt x="309153" y="31750"/>
                        <a:pt x="301266" y="31750"/>
                      </a:cubicBezTo>
                      <a:close/>
                      <a:moveTo>
                        <a:pt x="300832" y="0"/>
                      </a:moveTo>
                      <a:cubicBezTo>
                        <a:pt x="330885" y="0"/>
                        <a:pt x="356645" y="13529"/>
                        <a:pt x="373818" y="35602"/>
                      </a:cubicBezTo>
                      <a:cubicBezTo>
                        <a:pt x="380973" y="44147"/>
                        <a:pt x="386698" y="54827"/>
                        <a:pt x="390275" y="66220"/>
                      </a:cubicBezTo>
                      <a:cubicBezTo>
                        <a:pt x="390275" y="66220"/>
                        <a:pt x="390275" y="66220"/>
                        <a:pt x="439648" y="66220"/>
                      </a:cubicBezTo>
                      <a:cubicBezTo>
                        <a:pt x="443226" y="66220"/>
                        <a:pt x="446088" y="69068"/>
                        <a:pt x="446088" y="73340"/>
                      </a:cubicBezTo>
                      <a:cubicBezTo>
                        <a:pt x="446088" y="73340"/>
                        <a:pt x="446088" y="73340"/>
                        <a:pt x="446088" y="113927"/>
                      </a:cubicBezTo>
                      <a:cubicBezTo>
                        <a:pt x="446088" y="113927"/>
                        <a:pt x="446088" y="113927"/>
                        <a:pt x="446088" y="145256"/>
                      </a:cubicBezTo>
                      <a:cubicBezTo>
                        <a:pt x="446088" y="145256"/>
                        <a:pt x="446088" y="145256"/>
                        <a:pt x="446088" y="178010"/>
                      </a:cubicBezTo>
                      <a:cubicBezTo>
                        <a:pt x="446088" y="186555"/>
                        <a:pt x="439648" y="193675"/>
                        <a:pt x="431062" y="193675"/>
                      </a:cubicBezTo>
                      <a:lnTo>
                        <a:pt x="171317" y="193675"/>
                      </a:lnTo>
                      <a:cubicBezTo>
                        <a:pt x="162731" y="193675"/>
                        <a:pt x="155575" y="186555"/>
                        <a:pt x="155575" y="178010"/>
                      </a:cubicBezTo>
                      <a:cubicBezTo>
                        <a:pt x="155575" y="178010"/>
                        <a:pt x="155575" y="178010"/>
                        <a:pt x="155575" y="145256"/>
                      </a:cubicBezTo>
                      <a:cubicBezTo>
                        <a:pt x="155575" y="145256"/>
                        <a:pt x="155575" y="145256"/>
                        <a:pt x="155575" y="113927"/>
                      </a:cubicBezTo>
                      <a:cubicBezTo>
                        <a:pt x="155575" y="113927"/>
                        <a:pt x="155575" y="113927"/>
                        <a:pt x="155575" y="73340"/>
                      </a:cubicBezTo>
                      <a:cubicBezTo>
                        <a:pt x="155575" y="69068"/>
                        <a:pt x="159153" y="66220"/>
                        <a:pt x="162731" y="66220"/>
                      </a:cubicBezTo>
                      <a:cubicBezTo>
                        <a:pt x="162731" y="66220"/>
                        <a:pt x="162731" y="66220"/>
                        <a:pt x="212104" y="66220"/>
                      </a:cubicBezTo>
                      <a:cubicBezTo>
                        <a:pt x="215681" y="54827"/>
                        <a:pt x="220690" y="44147"/>
                        <a:pt x="227846" y="35602"/>
                      </a:cubicBezTo>
                      <a:cubicBezTo>
                        <a:pt x="245019" y="13529"/>
                        <a:pt x="271494" y="0"/>
                        <a:pt x="30083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5837" tIns="32918" rIns="65837" bIns="32918" numCol="1" anchor="t" anchorCtr="0" compatLnSpc="1">
                  <a:prstTxWarp prst="textNoShape">
                    <a:avLst/>
                  </a:prstTxWarp>
                  <a:noAutofit/>
                </a:bodyPr>
                <a:lstStyle/>
                <a:p>
                  <a:endParaRPr lang="en-US">
                    <a:ea typeface="Microsoft YaHei" panose="020B0503020204020204" pitchFamily="34" charset="-122"/>
                  </a:endParaRPr>
                </a:p>
              </p:txBody>
            </p:sp>
          </p:grpSp>
        </p:grpSp>
      </p:grpSp>
      <p:sp>
        <p:nvSpPr>
          <p:cNvPr id="161" name="Freeform 32">
            <a:extLst>
              <a:ext uri="{FF2B5EF4-FFF2-40B4-BE49-F238E27FC236}">
                <a16:creationId xmlns:a16="http://schemas.microsoft.com/office/drawing/2014/main" id="{C08501DD-3D6E-46E1-BFA4-C63201EBC682}"/>
              </a:ext>
            </a:extLst>
          </p:cNvPr>
          <p:cNvSpPr>
            <a:spLocks/>
          </p:cNvSpPr>
          <p:nvPr/>
        </p:nvSpPr>
        <p:spPr bwMode="auto">
          <a:xfrm>
            <a:off x="7977824" y="4897887"/>
            <a:ext cx="648912" cy="521455"/>
          </a:xfrm>
          <a:custGeom>
            <a:avLst/>
            <a:gdLst>
              <a:gd name="T0" fmla="*/ 1175 w 1175"/>
              <a:gd name="T1" fmla="*/ 0 h 675"/>
              <a:gd name="T2" fmla="*/ 0 w 1175"/>
              <a:gd name="T3" fmla="*/ 0 h 675"/>
              <a:gd name="T4" fmla="*/ 0 w 1175"/>
              <a:gd name="T5" fmla="*/ 675 h 675"/>
              <a:gd name="T6" fmla="*/ 665 w 1175"/>
              <a:gd name="T7" fmla="*/ 675 h 675"/>
              <a:gd name="T8" fmla="*/ 1175 w 1175"/>
              <a:gd name="T9" fmla="*/ 0 h 675"/>
            </a:gdLst>
            <a:ahLst/>
            <a:cxnLst>
              <a:cxn ang="0">
                <a:pos x="T0" y="T1"/>
              </a:cxn>
              <a:cxn ang="0">
                <a:pos x="T2" y="T3"/>
              </a:cxn>
              <a:cxn ang="0">
                <a:pos x="T4" y="T5"/>
              </a:cxn>
              <a:cxn ang="0">
                <a:pos x="T6" y="T7"/>
              </a:cxn>
              <a:cxn ang="0">
                <a:pos x="T8" y="T9"/>
              </a:cxn>
            </a:cxnLst>
            <a:rect l="0" t="0" r="r" b="b"/>
            <a:pathLst>
              <a:path w="1175" h="675">
                <a:moveTo>
                  <a:pt x="1175" y="0"/>
                </a:moveTo>
                <a:lnTo>
                  <a:pt x="0" y="0"/>
                </a:lnTo>
                <a:lnTo>
                  <a:pt x="0" y="675"/>
                </a:lnTo>
                <a:lnTo>
                  <a:pt x="665" y="675"/>
                </a:lnTo>
                <a:lnTo>
                  <a:pt x="1175" y="0"/>
                </a:lnTo>
                <a:close/>
              </a:path>
            </a:pathLst>
          </a:custGeom>
          <a:solidFill>
            <a:srgbClr val="670F31"/>
          </a:solidFill>
          <a:ln>
            <a:noFill/>
          </a:ln>
        </p:spPr>
        <p:txBody>
          <a:bodyPr vert="horz" wrap="square" lIns="27432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6600" b="1">
              <a:solidFill>
                <a:prstClr val="white"/>
              </a:solidFill>
              <a:effectLst>
                <a:outerShdw blurRad="38100" dist="38100" dir="2700000" algn="tl">
                  <a:srgbClr val="000000">
                    <a:alpha val="43137"/>
                  </a:srgbClr>
                </a:outerShdw>
              </a:effectLst>
              <a:latin typeface="Trebuchet MS" panose="020B0603020202020204" pitchFamily="34" charset="0"/>
              <a:ea typeface="Microsoft YaHei" panose="020B0503020204020204" pitchFamily="34" charset="-122"/>
              <a:sym typeface="Trebuchet MS" panose="020B0603020202020204" pitchFamily="34" charset="0"/>
            </a:endParaRPr>
          </a:p>
        </p:txBody>
      </p:sp>
      <p:sp>
        <p:nvSpPr>
          <p:cNvPr id="163" name="Freeform 39">
            <a:extLst>
              <a:ext uri="{FF2B5EF4-FFF2-40B4-BE49-F238E27FC236}">
                <a16:creationId xmlns:a16="http://schemas.microsoft.com/office/drawing/2014/main" id="{DE92E90B-2F57-4EE3-AEB5-EA78DB2EC348}"/>
              </a:ext>
            </a:extLst>
          </p:cNvPr>
          <p:cNvSpPr>
            <a:spLocks/>
          </p:cNvSpPr>
          <p:nvPr/>
        </p:nvSpPr>
        <p:spPr bwMode="auto">
          <a:xfrm>
            <a:off x="8083319" y="5034164"/>
            <a:ext cx="280428" cy="280104"/>
          </a:xfrm>
          <a:custGeom>
            <a:avLst/>
            <a:gdLst>
              <a:gd name="connsiteX0" fmla="*/ 995289 w 1102998"/>
              <a:gd name="connsiteY0" fmla="*/ 920750 h 1101725"/>
              <a:gd name="connsiteX1" fmla="*/ 942705 w 1102998"/>
              <a:gd name="connsiteY1" fmla="*/ 942170 h 1101725"/>
              <a:gd name="connsiteX2" fmla="*/ 921387 w 1102998"/>
              <a:gd name="connsiteY2" fmla="*/ 995006 h 1101725"/>
              <a:gd name="connsiteX3" fmla="*/ 943416 w 1102998"/>
              <a:gd name="connsiteY3" fmla="*/ 1048555 h 1101725"/>
              <a:gd name="connsiteX4" fmla="*/ 996000 w 1102998"/>
              <a:gd name="connsiteY4" fmla="*/ 1069975 h 1101725"/>
              <a:gd name="connsiteX5" fmla="*/ 1049294 w 1102998"/>
              <a:gd name="connsiteY5" fmla="*/ 1049269 h 1101725"/>
              <a:gd name="connsiteX6" fmla="*/ 1070612 w 1102998"/>
              <a:gd name="connsiteY6" fmla="*/ 995720 h 1101725"/>
              <a:gd name="connsiteX7" fmla="*/ 1048584 w 1102998"/>
              <a:gd name="connsiteY7" fmla="*/ 942884 h 1101725"/>
              <a:gd name="connsiteX8" fmla="*/ 995289 w 1102998"/>
              <a:gd name="connsiteY8" fmla="*/ 920750 h 1101725"/>
              <a:gd name="connsiteX9" fmla="*/ 107710 w 1102998"/>
              <a:gd name="connsiteY9" fmla="*/ 920750 h 1101725"/>
              <a:gd name="connsiteX10" fmla="*/ 54416 w 1102998"/>
              <a:gd name="connsiteY10" fmla="*/ 942884 h 1101725"/>
              <a:gd name="connsiteX11" fmla="*/ 32387 w 1102998"/>
              <a:gd name="connsiteY11" fmla="*/ 995720 h 1101725"/>
              <a:gd name="connsiteX12" fmla="*/ 53705 w 1102998"/>
              <a:gd name="connsiteY12" fmla="*/ 1049269 h 1101725"/>
              <a:gd name="connsiteX13" fmla="*/ 107000 w 1102998"/>
              <a:gd name="connsiteY13" fmla="*/ 1069975 h 1101725"/>
              <a:gd name="connsiteX14" fmla="*/ 159584 w 1102998"/>
              <a:gd name="connsiteY14" fmla="*/ 1048555 h 1101725"/>
              <a:gd name="connsiteX15" fmla="*/ 181612 w 1102998"/>
              <a:gd name="connsiteY15" fmla="*/ 995006 h 1101725"/>
              <a:gd name="connsiteX16" fmla="*/ 160294 w 1102998"/>
              <a:gd name="connsiteY16" fmla="*/ 942170 h 1101725"/>
              <a:gd name="connsiteX17" fmla="*/ 107710 w 1102998"/>
              <a:gd name="connsiteY17" fmla="*/ 920750 h 1101725"/>
              <a:gd name="connsiteX18" fmla="*/ 995283 w 1102998"/>
              <a:gd name="connsiteY18" fmla="*/ 890587 h 1101725"/>
              <a:gd name="connsiteX19" fmla="*/ 1071212 w 1102998"/>
              <a:gd name="connsiteY19" fmla="*/ 920546 h 1101725"/>
              <a:gd name="connsiteX20" fmla="*/ 1071928 w 1102998"/>
              <a:gd name="connsiteY20" fmla="*/ 1071053 h 1101725"/>
              <a:gd name="connsiteX21" fmla="*/ 995999 w 1102998"/>
              <a:gd name="connsiteY21" fmla="*/ 1101725 h 1101725"/>
              <a:gd name="connsiteX22" fmla="*/ 920070 w 1102998"/>
              <a:gd name="connsiteY22" fmla="*/ 1070340 h 1101725"/>
              <a:gd name="connsiteX23" fmla="*/ 920070 w 1102998"/>
              <a:gd name="connsiteY23" fmla="*/ 920546 h 1101725"/>
              <a:gd name="connsiteX24" fmla="*/ 995283 w 1102998"/>
              <a:gd name="connsiteY24" fmla="*/ 890587 h 1101725"/>
              <a:gd name="connsiteX25" fmla="*/ 107716 w 1102998"/>
              <a:gd name="connsiteY25" fmla="*/ 890587 h 1101725"/>
              <a:gd name="connsiteX26" fmla="*/ 182928 w 1102998"/>
              <a:gd name="connsiteY26" fmla="*/ 920546 h 1101725"/>
              <a:gd name="connsiteX27" fmla="*/ 182928 w 1102998"/>
              <a:gd name="connsiteY27" fmla="*/ 1070340 h 1101725"/>
              <a:gd name="connsiteX28" fmla="*/ 106999 w 1102998"/>
              <a:gd name="connsiteY28" fmla="*/ 1101725 h 1101725"/>
              <a:gd name="connsiteX29" fmla="*/ 31070 w 1102998"/>
              <a:gd name="connsiteY29" fmla="*/ 1071053 h 1101725"/>
              <a:gd name="connsiteX30" fmla="*/ 31787 w 1102998"/>
              <a:gd name="connsiteY30" fmla="*/ 920546 h 1101725"/>
              <a:gd name="connsiteX31" fmla="*/ 107716 w 1102998"/>
              <a:gd name="connsiteY31" fmla="*/ 890587 h 1101725"/>
              <a:gd name="connsiteX32" fmla="*/ 550733 w 1102998"/>
              <a:gd name="connsiteY32" fmla="*/ 323850 h 1101725"/>
              <a:gd name="connsiteX33" fmla="*/ 395182 w 1102998"/>
              <a:gd name="connsiteY33" fmla="*/ 387585 h 1101725"/>
              <a:gd name="connsiteX34" fmla="*/ 392328 w 1102998"/>
              <a:gd name="connsiteY34" fmla="*/ 390450 h 1101725"/>
              <a:gd name="connsiteX35" fmla="*/ 389474 w 1102998"/>
              <a:gd name="connsiteY35" fmla="*/ 393315 h 1101725"/>
              <a:gd name="connsiteX36" fmla="*/ 392328 w 1102998"/>
              <a:gd name="connsiteY36" fmla="*/ 710559 h 1101725"/>
              <a:gd name="connsiteX37" fmla="*/ 392328 w 1102998"/>
              <a:gd name="connsiteY37" fmla="*/ 711275 h 1101725"/>
              <a:gd name="connsiteX38" fmla="*/ 393041 w 1102998"/>
              <a:gd name="connsiteY38" fmla="*/ 711275 h 1101725"/>
              <a:gd name="connsiteX39" fmla="*/ 552160 w 1102998"/>
              <a:gd name="connsiteY39" fmla="*/ 777875 h 1101725"/>
              <a:gd name="connsiteX40" fmla="*/ 707711 w 1102998"/>
              <a:gd name="connsiteY40" fmla="*/ 714140 h 1101725"/>
              <a:gd name="connsiteX41" fmla="*/ 710565 w 1102998"/>
              <a:gd name="connsiteY41" fmla="*/ 711275 h 1101725"/>
              <a:gd name="connsiteX42" fmla="*/ 713419 w 1102998"/>
              <a:gd name="connsiteY42" fmla="*/ 708411 h 1101725"/>
              <a:gd name="connsiteX43" fmla="*/ 776924 w 1102998"/>
              <a:gd name="connsiteY43" fmla="*/ 550863 h 1101725"/>
              <a:gd name="connsiteX44" fmla="*/ 710565 w 1102998"/>
              <a:gd name="connsiteY44" fmla="*/ 391166 h 1101725"/>
              <a:gd name="connsiteX45" fmla="*/ 710565 w 1102998"/>
              <a:gd name="connsiteY45" fmla="*/ 390450 h 1101725"/>
              <a:gd name="connsiteX46" fmla="*/ 709852 w 1102998"/>
              <a:gd name="connsiteY46" fmla="*/ 390450 h 1101725"/>
              <a:gd name="connsiteX47" fmla="*/ 550733 w 1102998"/>
              <a:gd name="connsiteY47" fmla="*/ 323850 h 1101725"/>
              <a:gd name="connsiteX48" fmla="*/ 211227 w 1102998"/>
              <a:gd name="connsiteY48" fmla="*/ 198437 h 1101725"/>
              <a:gd name="connsiteX49" fmla="*/ 211942 w 1102998"/>
              <a:gd name="connsiteY49" fmla="*/ 198437 h 1101725"/>
              <a:gd name="connsiteX50" fmla="*/ 214086 w 1102998"/>
              <a:gd name="connsiteY50" fmla="*/ 198437 h 1101725"/>
              <a:gd name="connsiteX51" fmla="*/ 214801 w 1102998"/>
              <a:gd name="connsiteY51" fmla="*/ 198437 h 1101725"/>
              <a:gd name="connsiteX52" fmla="*/ 215516 w 1102998"/>
              <a:gd name="connsiteY52" fmla="*/ 198437 h 1101725"/>
              <a:gd name="connsiteX53" fmla="*/ 314166 w 1102998"/>
              <a:gd name="connsiteY53" fmla="*/ 206285 h 1101725"/>
              <a:gd name="connsiteX54" fmla="*/ 329178 w 1102998"/>
              <a:gd name="connsiteY54" fmla="*/ 222693 h 1101725"/>
              <a:gd name="connsiteX55" fmla="*/ 312022 w 1102998"/>
              <a:gd name="connsiteY55" fmla="*/ 237675 h 1101725"/>
              <a:gd name="connsiteX56" fmla="*/ 255548 w 1102998"/>
              <a:gd name="connsiteY56" fmla="*/ 232681 h 1101725"/>
              <a:gd name="connsiteX57" fmla="*/ 381363 w 1102998"/>
              <a:gd name="connsiteY57" fmla="*/ 357528 h 1101725"/>
              <a:gd name="connsiteX58" fmla="*/ 550784 w 1102998"/>
              <a:gd name="connsiteY58" fmla="*/ 293321 h 1101725"/>
              <a:gd name="connsiteX59" fmla="*/ 721635 w 1102998"/>
              <a:gd name="connsiteY59" fmla="*/ 358241 h 1101725"/>
              <a:gd name="connsiteX60" fmla="*/ 847450 w 1102998"/>
              <a:gd name="connsiteY60" fmla="*/ 232681 h 1101725"/>
              <a:gd name="connsiteX61" fmla="*/ 790977 w 1102998"/>
              <a:gd name="connsiteY61" fmla="*/ 237675 h 1101725"/>
              <a:gd name="connsiteX62" fmla="*/ 773820 w 1102998"/>
              <a:gd name="connsiteY62" fmla="*/ 222693 h 1101725"/>
              <a:gd name="connsiteX63" fmla="*/ 788832 w 1102998"/>
              <a:gd name="connsiteY63" fmla="*/ 206285 h 1101725"/>
              <a:gd name="connsiteX64" fmla="*/ 887482 w 1102998"/>
              <a:gd name="connsiteY64" fmla="*/ 198437 h 1101725"/>
              <a:gd name="connsiteX65" fmla="*/ 888197 w 1102998"/>
              <a:gd name="connsiteY65" fmla="*/ 198437 h 1101725"/>
              <a:gd name="connsiteX66" fmla="*/ 888912 w 1102998"/>
              <a:gd name="connsiteY66" fmla="*/ 198437 h 1101725"/>
              <a:gd name="connsiteX67" fmla="*/ 891057 w 1102998"/>
              <a:gd name="connsiteY67" fmla="*/ 198437 h 1101725"/>
              <a:gd name="connsiteX68" fmla="*/ 891772 w 1102998"/>
              <a:gd name="connsiteY68" fmla="*/ 198437 h 1101725"/>
              <a:gd name="connsiteX69" fmla="*/ 893916 w 1102998"/>
              <a:gd name="connsiteY69" fmla="*/ 199151 h 1101725"/>
              <a:gd name="connsiteX70" fmla="*/ 894631 w 1102998"/>
              <a:gd name="connsiteY70" fmla="*/ 199151 h 1101725"/>
              <a:gd name="connsiteX71" fmla="*/ 896776 w 1102998"/>
              <a:gd name="connsiteY71" fmla="*/ 200577 h 1101725"/>
              <a:gd name="connsiteX72" fmla="*/ 897490 w 1102998"/>
              <a:gd name="connsiteY72" fmla="*/ 201291 h 1101725"/>
              <a:gd name="connsiteX73" fmla="*/ 899635 w 1102998"/>
              <a:gd name="connsiteY73" fmla="*/ 202718 h 1101725"/>
              <a:gd name="connsiteX74" fmla="*/ 901780 w 1102998"/>
              <a:gd name="connsiteY74" fmla="*/ 204858 h 1101725"/>
              <a:gd name="connsiteX75" fmla="*/ 901780 w 1102998"/>
              <a:gd name="connsiteY75" fmla="*/ 205571 h 1101725"/>
              <a:gd name="connsiteX76" fmla="*/ 903209 w 1102998"/>
              <a:gd name="connsiteY76" fmla="*/ 207711 h 1101725"/>
              <a:gd name="connsiteX77" fmla="*/ 903209 w 1102998"/>
              <a:gd name="connsiteY77" fmla="*/ 208425 h 1101725"/>
              <a:gd name="connsiteX78" fmla="*/ 903924 w 1102998"/>
              <a:gd name="connsiteY78" fmla="*/ 210565 h 1101725"/>
              <a:gd name="connsiteX79" fmla="*/ 903924 w 1102998"/>
              <a:gd name="connsiteY79" fmla="*/ 211279 h 1101725"/>
              <a:gd name="connsiteX80" fmla="*/ 903924 w 1102998"/>
              <a:gd name="connsiteY80" fmla="*/ 213419 h 1101725"/>
              <a:gd name="connsiteX81" fmla="*/ 903924 w 1102998"/>
              <a:gd name="connsiteY81" fmla="*/ 214132 h 1101725"/>
              <a:gd name="connsiteX82" fmla="*/ 903924 w 1102998"/>
              <a:gd name="connsiteY82" fmla="*/ 214846 h 1101725"/>
              <a:gd name="connsiteX83" fmla="*/ 896061 w 1102998"/>
              <a:gd name="connsiteY83" fmla="*/ 313296 h 1101725"/>
              <a:gd name="connsiteX84" fmla="*/ 880334 w 1102998"/>
              <a:gd name="connsiteY84" fmla="*/ 328278 h 1101725"/>
              <a:gd name="connsiteX85" fmla="*/ 879619 w 1102998"/>
              <a:gd name="connsiteY85" fmla="*/ 328278 h 1101725"/>
              <a:gd name="connsiteX86" fmla="*/ 864607 w 1102998"/>
              <a:gd name="connsiteY86" fmla="*/ 311156 h 1101725"/>
              <a:gd name="connsiteX87" fmla="*/ 869611 w 1102998"/>
              <a:gd name="connsiteY87" fmla="*/ 254797 h 1101725"/>
              <a:gd name="connsiteX88" fmla="*/ 743796 w 1102998"/>
              <a:gd name="connsiteY88" fmla="*/ 380357 h 1101725"/>
              <a:gd name="connsiteX89" fmla="*/ 744511 w 1102998"/>
              <a:gd name="connsiteY89" fmla="*/ 721367 h 1101725"/>
              <a:gd name="connsiteX90" fmla="*/ 869611 w 1102998"/>
              <a:gd name="connsiteY90" fmla="*/ 846928 h 1101725"/>
              <a:gd name="connsiteX91" fmla="*/ 864607 w 1102998"/>
              <a:gd name="connsiteY91" fmla="*/ 790568 h 1101725"/>
              <a:gd name="connsiteX92" fmla="*/ 879619 w 1102998"/>
              <a:gd name="connsiteY92" fmla="*/ 773446 h 1101725"/>
              <a:gd name="connsiteX93" fmla="*/ 896061 w 1102998"/>
              <a:gd name="connsiteY93" fmla="*/ 788428 h 1101725"/>
              <a:gd name="connsiteX94" fmla="*/ 903924 w 1102998"/>
              <a:gd name="connsiteY94" fmla="*/ 886879 h 1101725"/>
              <a:gd name="connsiteX95" fmla="*/ 903924 w 1102998"/>
              <a:gd name="connsiteY95" fmla="*/ 887592 h 1101725"/>
              <a:gd name="connsiteX96" fmla="*/ 903924 w 1102998"/>
              <a:gd name="connsiteY96" fmla="*/ 888306 h 1101725"/>
              <a:gd name="connsiteX97" fmla="*/ 903924 w 1102998"/>
              <a:gd name="connsiteY97" fmla="*/ 890446 h 1101725"/>
              <a:gd name="connsiteX98" fmla="*/ 903924 w 1102998"/>
              <a:gd name="connsiteY98" fmla="*/ 891159 h 1101725"/>
              <a:gd name="connsiteX99" fmla="*/ 903209 w 1102998"/>
              <a:gd name="connsiteY99" fmla="*/ 893299 h 1101725"/>
              <a:gd name="connsiteX100" fmla="*/ 903209 w 1102998"/>
              <a:gd name="connsiteY100" fmla="*/ 894013 h 1101725"/>
              <a:gd name="connsiteX101" fmla="*/ 901780 w 1102998"/>
              <a:gd name="connsiteY101" fmla="*/ 896153 h 1101725"/>
              <a:gd name="connsiteX102" fmla="*/ 901780 w 1102998"/>
              <a:gd name="connsiteY102" fmla="*/ 896866 h 1101725"/>
              <a:gd name="connsiteX103" fmla="*/ 899635 w 1102998"/>
              <a:gd name="connsiteY103" fmla="*/ 899007 h 1101725"/>
              <a:gd name="connsiteX104" fmla="*/ 897490 w 1102998"/>
              <a:gd name="connsiteY104" fmla="*/ 901147 h 1101725"/>
              <a:gd name="connsiteX105" fmla="*/ 895346 w 1102998"/>
              <a:gd name="connsiteY105" fmla="*/ 901860 h 1101725"/>
              <a:gd name="connsiteX106" fmla="*/ 894631 w 1102998"/>
              <a:gd name="connsiteY106" fmla="*/ 902574 h 1101725"/>
              <a:gd name="connsiteX107" fmla="*/ 892486 w 1102998"/>
              <a:gd name="connsiteY107" fmla="*/ 903287 h 1101725"/>
              <a:gd name="connsiteX108" fmla="*/ 891772 w 1102998"/>
              <a:gd name="connsiteY108" fmla="*/ 903287 h 1101725"/>
              <a:gd name="connsiteX109" fmla="*/ 888197 w 1102998"/>
              <a:gd name="connsiteY109" fmla="*/ 903287 h 1101725"/>
              <a:gd name="connsiteX110" fmla="*/ 887482 w 1102998"/>
              <a:gd name="connsiteY110" fmla="*/ 903287 h 1101725"/>
              <a:gd name="connsiteX111" fmla="*/ 788832 w 1102998"/>
              <a:gd name="connsiteY111" fmla="*/ 895440 h 1101725"/>
              <a:gd name="connsiteX112" fmla="*/ 773820 w 1102998"/>
              <a:gd name="connsiteY112" fmla="*/ 879031 h 1101725"/>
              <a:gd name="connsiteX113" fmla="*/ 790977 w 1102998"/>
              <a:gd name="connsiteY113" fmla="*/ 864050 h 1101725"/>
              <a:gd name="connsiteX114" fmla="*/ 847450 w 1102998"/>
              <a:gd name="connsiteY114" fmla="*/ 869043 h 1101725"/>
              <a:gd name="connsiteX115" fmla="*/ 721635 w 1102998"/>
              <a:gd name="connsiteY115" fmla="*/ 744197 h 1101725"/>
              <a:gd name="connsiteX116" fmla="*/ 552214 w 1102998"/>
              <a:gd name="connsiteY116" fmla="*/ 808404 h 1101725"/>
              <a:gd name="connsiteX117" fmla="*/ 381363 w 1102998"/>
              <a:gd name="connsiteY117" fmla="*/ 743483 h 1101725"/>
              <a:gd name="connsiteX118" fmla="*/ 255548 w 1102998"/>
              <a:gd name="connsiteY118" fmla="*/ 869043 h 1101725"/>
              <a:gd name="connsiteX119" fmla="*/ 312022 w 1102998"/>
              <a:gd name="connsiteY119" fmla="*/ 864050 h 1101725"/>
              <a:gd name="connsiteX120" fmla="*/ 329178 w 1102998"/>
              <a:gd name="connsiteY120" fmla="*/ 879031 h 1101725"/>
              <a:gd name="connsiteX121" fmla="*/ 314166 w 1102998"/>
              <a:gd name="connsiteY121" fmla="*/ 895440 h 1101725"/>
              <a:gd name="connsiteX122" fmla="*/ 215516 w 1102998"/>
              <a:gd name="connsiteY122" fmla="*/ 903287 h 1101725"/>
              <a:gd name="connsiteX123" fmla="*/ 214801 w 1102998"/>
              <a:gd name="connsiteY123" fmla="*/ 903287 h 1101725"/>
              <a:gd name="connsiteX124" fmla="*/ 211227 w 1102998"/>
              <a:gd name="connsiteY124" fmla="*/ 903287 h 1101725"/>
              <a:gd name="connsiteX125" fmla="*/ 210512 w 1102998"/>
              <a:gd name="connsiteY125" fmla="*/ 903287 h 1101725"/>
              <a:gd name="connsiteX126" fmla="*/ 208367 w 1102998"/>
              <a:gd name="connsiteY126" fmla="*/ 902574 h 1101725"/>
              <a:gd name="connsiteX127" fmla="*/ 207653 w 1102998"/>
              <a:gd name="connsiteY127" fmla="*/ 901860 h 1101725"/>
              <a:gd name="connsiteX128" fmla="*/ 205508 w 1102998"/>
              <a:gd name="connsiteY128" fmla="*/ 901147 h 1101725"/>
              <a:gd name="connsiteX129" fmla="*/ 203363 w 1102998"/>
              <a:gd name="connsiteY129" fmla="*/ 899007 h 1101725"/>
              <a:gd name="connsiteX130" fmla="*/ 201219 w 1102998"/>
              <a:gd name="connsiteY130" fmla="*/ 896866 h 1101725"/>
              <a:gd name="connsiteX131" fmla="*/ 201219 w 1102998"/>
              <a:gd name="connsiteY131" fmla="*/ 896153 h 1101725"/>
              <a:gd name="connsiteX132" fmla="*/ 199789 w 1102998"/>
              <a:gd name="connsiteY132" fmla="*/ 894013 h 1101725"/>
              <a:gd name="connsiteX133" fmla="*/ 199789 w 1102998"/>
              <a:gd name="connsiteY133" fmla="*/ 893299 h 1101725"/>
              <a:gd name="connsiteX134" fmla="*/ 199074 w 1102998"/>
              <a:gd name="connsiteY134" fmla="*/ 891159 h 1101725"/>
              <a:gd name="connsiteX135" fmla="*/ 199074 w 1102998"/>
              <a:gd name="connsiteY135" fmla="*/ 890446 h 1101725"/>
              <a:gd name="connsiteX136" fmla="*/ 199074 w 1102998"/>
              <a:gd name="connsiteY136" fmla="*/ 888306 h 1101725"/>
              <a:gd name="connsiteX137" fmla="*/ 199074 w 1102998"/>
              <a:gd name="connsiteY137" fmla="*/ 887592 h 1101725"/>
              <a:gd name="connsiteX138" fmla="*/ 199074 w 1102998"/>
              <a:gd name="connsiteY138" fmla="*/ 886879 h 1101725"/>
              <a:gd name="connsiteX139" fmla="*/ 206938 w 1102998"/>
              <a:gd name="connsiteY139" fmla="*/ 788428 h 1101725"/>
              <a:gd name="connsiteX140" fmla="*/ 223379 w 1102998"/>
              <a:gd name="connsiteY140" fmla="*/ 773446 h 1101725"/>
              <a:gd name="connsiteX141" fmla="*/ 238391 w 1102998"/>
              <a:gd name="connsiteY141" fmla="*/ 790568 h 1101725"/>
              <a:gd name="connsiteX142" fmla="*/ 233387 w 1102998"/>
              <a:gd name="connsiteY142" fmla="*/ 846928 h 1101725"/>
              <a:gd name="connsiteX143" fmla="*/ 359202 w 1102998"/>
              <a:gd name="connsiteY143" fmla="*/ 721367 h 1101725"/>
              <a:gd name="connsiteX144" fmla="*/ 358488 w 1102998"/>
              <a:gd name="connsiteY144" fmla="*/ 380357 h 1101725"/>
              <a:gd name="connsiteX145" fmla="*/ 233387 w 1102998"/>
              <a:gd name="connsiteY145" fmla="*/ 254797 h 1101725"/>
              <a:gd name="connsiteX146" fmla="*/ 238391 w 1102998"/>
              <a:gd name="connsiteY146" fmla="*/ 311156 h 1101725"/>
              <a:gd name="connsiteX147" fmla="*/ 223379 w 1102998"/>
              <a:gd name="connsiteY147" fmla="*/ 328278 h 1101725"/>
              <a:gd name="connsiteX148" fmla="*/ 222665 w 1102998"/>
              <a:gd name="connsiteY148" fmla="*/ 328278 h 1101725"/>
              <a:gd name="connsiteX149" fmla="*/ 206938 w 1102998"/>
              <a:gd name="connsiteY149" fmla="*/ 313296 h 1101725"/>
              <a:gd name="connsiteX150" fmla="*/ 199074 w 1102998"/>
              <a:gd name="connsiteY150" fmla="*/ 214846 h 1101725"/>
              <a:gd name="connsiteX151" fmla="*/ 199074 w 1102998"/>
              <a:gd name="connsiteY151" fmla="*/ 214132 h 1101725"/>
              <a:gd name="connsiteX152" fmla="*/ 199074 w 1102998"/>
              <a:gd name="connsiteY152" fmla="*/ 213419 h 1101725"/>
              <a:gd name="connsiteX153" fmla="*/ 199074 w 1102998"/>
              <a:gd name="connsiteY153" fmla="*/ 211279 h 1101725"/>
              <a:gd name="connsiteX154" fmla="*/ 199074 w 1102998"/>
              <a:gd name="connsiteY154" fmla="*/ 210565 h 1101725"/>
              <a:gd name="connsiteX155" fmla="*/ 199789 w 1102998"/>
              <a:gd name="connsiteY155" fmla="*/ 208425 h 1101725"/>
              <a:gd name="connsiteX156" fmla="*/ 199789 w 1102998"/>
              <a:gd name="connsiteY156" fmla="*/ 207711 h 1101725"/>
              <a:gd name="connsiteX157" fmla="*/ 201219 w 1102998"/>
              <a:gd name="connsiteY157" fmla="*/ 205571 h 1101725"/>
              <a:gd name="connsiteX158" fmla="*/ 201219 w 1102998"/>
              <a:gd name="connsiteY158" fmla="*/ 204858 h 1101725"/>
              <a:gd name="connsiteX159" fmla="*/ 203363 w 1102998"/>
              <a:gd name="connsiteY159" fmla="*/ 202718 h 1101725"/>
              <a:gd name="connsiteX160" fmla="*/ 205508 w 1102998"/>
              <a:gd name="connsiteY160" fmla="*/ 201291 h 1101725"/>
              <a:gd name="connsiteX161" fmla="*/ 206223 w 1102998"/>
              <a:gd name="connsiteY161" fmla="*/ 200577 h 1101725"/>
              <a:gd name="connsiteX162" fmla="*/ 208367 w 1102998"/>
              <a:gd name="connsiteY162" fmla="*/ 199864 h 1101725"/>
              <a:gd name="connsiteX163" fmla="*/ 209082 w 1102998"/>
              <a:gd name="connsiteY163" fmla="*/ 199151 h 1101725"/>
              <a:gd name="connsiteX164" fmla="*/ 211227 w 1102998"/>
              <a:gd name="connsiteY164" fmla="*/ 198437 h 1101725"/>
              <a:gd name="connsiteX165" fmla="*/ 996000 w 1102998"/>
              <a:gd name="connsiteY165" fmla="*/ 31750 h 1101725"/>
              <a:gd name="connsiteX166" fmla="*/ 943416 w 1102998"/>
              <a:gd name="connsiteY166" fmla="*/ 53779 h 1101725"/>
              <a:gd name="connsiteX167" fmla="*/ 921387 w 1102998"/>
              <a:gd name="connsiteY167" fmla="*/ 106363 h 1101725"/>
              <a:gd name="connsiteX168" fmla="*/ 942705 w 1102998"/>
              <a:gd name="connsiteY168" fmla="*/ 159657 h 1101725"/>
              <a:gd name="connsiteX169" fmla="*/ 995289 w 1102998"/>
              <a:gd name="connsiteY169" fmla="*/ 180975 h 1101725"/>
              <a:gd name="connsiteX170" fmla="*/ 1048584 w 1102998"/>
              <a:gd name="connsiteY170" fmla="*/ 158947 h 1101725"/>
              <a:gd name="connsiteX171" fmla="*/ 1070612 w 1102998"/>
              <a:gd name="connsiteY171" fmla="*/ 106363 h 1101725"/>
              <a:gd name="connsiteX172" fmla="*/ 1049294 w 1102998"/>
              <a:gd name="connsiteY172" fmla="*/ 53068 h 1101725"/>
              <a:gd name="connsiteX173" fmla="*/ 996000 w 1102998"/>
              <a:gd name="connsiteY173" fmla="*/ 31750 h 1101725"/>
              <a:gd name="connsiteX174" fmla="*/ 107000 w 1102998"/>
              <a:gd name="connsiteY174" fmla="*/ 31750 h 1101725"/>
              <a:gd name="connsiteX175" fmla="*/ 53705 w 1102998"/>
              <a:gd name="connsiteY175" fmla="*/ 53068 h 1101725"/>
              <a:gd name="connsiteX176" fmla="*/ 32387 w 1102998"/>
              <a:gd name="connsiteY176" fmla="*/ 106363 h 1101725"/>
              <a:gd name="connsiteX177" fmla="*/ 54416 w 1102998"/>
              <a:gd name="connsiteY177" fmla="*/ 158947 h 1101725"/>
              <a:gd name="connsiteX178" fmla="*/ 107710 w 1102998"/>
              <a:gd name="connsiteY178" fmla="*/ 180975 h 1101725"/>
              <a:gd name="connsiteX179" fmla="*/ 160294 w 1102998"/>
              <a:gd name="connsiteY179" fmla="*/ 159657 h 1101725"/>
              <a:gd name="connsiteX180" fmla="*/ 181612 w 1102998"/>
              <a:gd name="connsiteY180" fmla="*/ 106363 h 1101725"/>
              <a:gd name="connsiteX181" fmla="*/ 159584 w 1102998"/>
              <a:gd name="connsiteY181" fmla="*/ 53779 h 1101725"/>
              <a:gd name="connsiteX182" fmla="*/ 107000 w 1102998"/>
              <a:gd name="connsiteY182" fmla="*/ 31750 h 1101725"/>
              <a:gd name="connsiteX183" fmla="*/ 995999 w 1102998"/>
              <a:gd name="connsiteY183" fmla="*/ 0 h 1101725"/>
              <a:gd name="connsiteX184" fmla="*/ 1071928 w 1102998"/>
              <a:gd name="connsiteY184" fmla="*/ 29959 h 1101725"/>
              <a:gd name="connsiteX185" fmla="*/ 1071212 w 1102998"/>
              <a:gd name="connsiteY185" fmla="*/ 181179 h 1101725"/>
              <a:gd name="connsiteX186" fmla="*/ 995283 w 1102998"/>
              <a:gd name="connsiteY186" fmla="*/ 211138 h 1101725"/>
              <a:gd name="connsiteX187" fmla="*/ 920070 w 1102998"/>
              <a:gd name="connsiteY187" fmla="*/ 181179 h 1101725"/>
              <a:gd name="connsiteX188" fmla="*/ 920070 w 1102998"/>
              <a:gd name="connsiteY188" fmla="*/ 30672 h 1101725"/>
              <a:gd name="connsiteX189" fmla="*/ 995999 w 1102998"/>
              <a:gd name="connsiteY189" fmla="*/ 0 h 1101725"/>
              <a:gd name="connsiteX190" fmla="*/ 106999 w 1102998"/>
              <a:gd name="connsiteY190" fmla="*/ 0 h 1101725"/>
              <a:gd name="connsiteX191" fmla="*/ 182928 w 1102998"/>
              <a:gd name="connsiteY191" fmla="*/ 30672 h 1101725"/>
              <a:gd name="connsiteX192" fmla="*/ 182928 w 1102998"/>
              <a:gd name="connsiteY192" fmla="*/ 181179 h 1101725"/>
              <a:gd name="connsiteX193" fmla="*/ 107716 w 1102998"/>
              <a:gd name="connsiteY193" fmla="*/ 211138 h 1101725"/>
              <a:gd name="connsiteX194" fmla="*/ 31787 w 1102998"/>
              <a:gd name="connsiteY194" fmla="*/ 181179 h 1101725"/>
              <a:gd name="connsiteX195" fmla="*/ 31070 w 1102998"/>
              <a:gd name="connsiteY195" fmla="*/ 29959 h 1101725"/>
              <a:gd name="connsiteX196" fmla="*/ 106999 w 1102998"/>
              <a:gd name="connsiteY196" fmla="*/ 0 h 1101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102998" h="1101725">
                <a:moveTo>
                  <a:pt x="995289" y="920750"/>
                </a:moveTo>
                <a:cubicBezTo>
                  <a:pt x="975392" y="920750"/>
                  <a:pt x="956917" y="928604"/>
                  <a:pt x="942705" y="942170"/>
                </a:cubicBezTo>
                <a:cubicBezTo>
                  <a:pt x="928493" y="956450"/>
                  <a:pt x="921387" y="975728"/>
                  <a:pt x="921387" y="995006"/>
                </a:cubicBezTo>
                <a:cubicBezTo>
                  <a:pt x="921387" y="1015711"/>
                  <a:pt x="929204" y="1034275"/>
                  <a:pt x="943416" y="1048555"/>
                </a:cubicBezTo>
                <a:cubicBezTo>
                  <a:pt x="957628" y="1062835"/>
                  <a:pt x="975392" y="1069975"/>
                  <a:pt x="996000" y="1069975"/>
                </a:cubicBezTo>
                <a:cubicBezTo>
                  <a:pt x="1015896" y="1069975"/>
                  <a:pt x="1035082" y="1062835"/>
                  <a:pt x="1049294" y="1049269"/>
                </a:cubicBezTo>
                <a:cubicBezTo>
                  <a:pt x="1062796" y="1034989"/>
                  <a:pt x="1070612" y="1015711"/>
                  <a:pt x="1070612" y="995720"/>
                </a:cubicBezTo>
                <a:cubicBezTo>
                  <a:pt x="1070612" y="975728"/>
                  <a:pt x="1062796" y="957164"/>
                  <a:pt x="1048584" y="942884"/>
                </a:cubicBezTo>
                <a:cubicBezTo>
                  <a:pt x="1034372" y="928604"/>
                  <a:pt x="1015896" y="920750"/>
                  <a:pt x="995289" y="920750"/>
                </a:cubicBezTo>
                <a:close/>
                <a:moveTo>
                  <a:pt x="107710" y="920750"/>
                </a:moveTo>
                <a:cubicBezTo>
                  <a:pt x="87103" y="920750"/>
                  <a:pt x="68628" y="928604"/>
                  <a:pt x="54416" y="942884"/>
                </a:cubicBezTo>
                <a:cubicBezTo>
                  <a:pt x="40204" y="957164"/>
                  <a:pt x="32387" y="975728"/>
                  <a:pt x="32387" y="995720"/>
                </a:cubicBezTo>
                <a:cubicBezTo>
                  <a:pt x="32387" y="1015711"/>
                  <a:pt x="40204" y="1034989"/>
                  <a:pt x="53705" y="1049269"/>
                </a:cubicBezTo>
                <a:cubicBezTo>
                  <a:pt x="67917" y="1062835"/>
                  <a:pt x="87103" y="1069975"/>
                  <a:pt x="107000" y="1069975"/>
                </a:cubicBezTo>
                <a:cubicBezTo>
                  <a:pt x="127607" y="1069975"/>
                  <a:pt x="145372" y="1062835"/>
                  <a:pt x="159584" y="1048555"/>
                </a:cubicBezTo>
                <a:cubicBezTo>
                  <a:pt x="173796" y="1034275"/>
                  <a:pt x="181612" y="1015711"/>
                  <a:pt x="181612" y="995006"/>
                </a:cubicBezTo>
                <a:cubicBezTo>
                  <a:pt x="181612" y="975728"/>
                  <a:pt x="174506" y="956450"/>
                  <a:pt x="160294" y="942170"/>
                </a:cubicBezTo>
                <a:cubicBezTo>
                  <a:pt x="146082" y="928604"/>
                  <a:pt x="127607" y="920750"/>
                  <a:pt x="107710" y="920750"/>
                </a:cubicBezTo>
                <a:close/>
                <a:moveTo>
                  <a:pt x="995283" y="890587"/>
                </a:moveTo>
                <a:cubicBezTo>
                  <a:pt x="1023219" y="890587"/>
                  <a:pt x="1050439" y="899860"/>
                  <a:pt x="1071212" y="920546"/>
                </a:cubicBezTo>
                <a:cubicBezTo>
                  <a:pt x="1113474" y="962631"/>
                  <a:pt x="1113474" y="1029681"/>
                  <a:pt x="1071928" y="1071053"/>
                </a:cubicBezTo>
                <a:cubicBezTo>
                  <a:pt x="1050439" y="1091739"/>
                  <a:pt x="1023219" y="1101725"/>
                  <a:pt x="995999" y="1101725"/>
                </a:cubicBezTo>
                <a:cubicBezTo>
                  <a:pt x="968063" y="1101725"/>
                  <a:pt x="941560" y="1091739"/>
                  <a:pt x="920070" y="1070340"/>
                </a:cubicBezTo>
                <a:cubicBezTo>
                  <a:pt x="878524" y="1029681"/>
                  <a:pt x="878524" y="962631"/>
                  <a:pt x="920070" y="920546"/>
                </a:cubicBezTo>
                <a:cubicBezTo>
                  <a:pt x="941560" y="899860"/>
                  <a:pt x="968063" y="890587"/>
                  <a:pt x="995283" y="890587"/>
                </a:cubicBezTo>
                <a:close/>
                <a:moveTo>
                  <a:pt x="107716" y="890587"/>
                </a:moveTo>
                <a:cubicBezTo>
                  <a:pt x="134935" y="890587"/>
                  <a:pt x="161439" y="899860"/>
                  <a:pt x="182928" y="920546"/>
                </a:cubicBezTo>
                <a:cubicBezTo>
                  <a:pt x="224474" y="962631"/>
                  <a:pt x="224474" y="1029681"/>
                  <a:pt x="182928" y="1070340"/>
                </a:cubicBezTo>
                <a:cubicBezTo>
                  <a:pt x="161439" y="1091739"/>
                  <a:pt x="134935" y="1101725"/>
                  <a:pt x="106999" y="1101725"/>
                </a:cubicBezTo>
                <a:cubicBezTo>
                  <a:pt x="79779" y="1101725"/>
                  <a:pt x="52560" y="1091739"/>
                  <a:pt x="31070" y="1071053"/>
                </a:cubicBezTo>
                <a:cubicBezTo>
                  <a:pt x="-10476" y="1029681"/>
                  <a:pt x="-10476" y="962631"/>
                  <a:pt x="31787" y="920546"/>
                </a:cubicBezTo>
                <a:cubicBezTo>
                  <a:pt x="52560" y="899860"/>
                  <a:pt x="79779" y="890587"/>
                  <a:pt x="107716" y="890587"/>
                </a:cubicBezTo>
                <a:close/>
                <a:moveTo>
                  <a:pt x="550733" y="323850"/>
                </a:moveTo>
                <a:cubicBezTo>
                  <a:pt x="492223" y="323850"/>
                  <a:pt x="436567" y="346766"/>
                  <a:pt x="395182" y="387585"/>
                </a:cubicBezTo>
                <a:cubicBezTo>
                  <a:pt x="394468" y="388302"/>
                  <a:pt x="393755" y="389734"/>
                  <a:pt x="392328" y="390450"/>
                </a:cubicBezTo>
                <a:cubicBezTo>
                  <a:pt x="391614" y="391882"/>
                  <a:pt x="390187" y="392598"/>
                  <a:pt x="389474" y="393315"/>
                </a:cubicBezTo>
                <a:cubicBezTo>
                  <a:pt x="303849" y="481398"/>
                  <a:pt x="305276" y="623192"/>
                  <a:pt x="392328" y="710559"/>
                </a:cubicBezTo>
                <a:cubicBezTo>
                  <a:pt x="392328" y="711275"/>
                  <a:pt x="392328" y="711275"/>
                  <a:pt x="392328" y="711275"/>
                </a:cubicBezTo>
                <a:cubicBezTo>
                  <a:pt x="392328" y="711275"/>
                  <a:pt x="392328" y="711275"/>
                  <a:pt x="393041" y="711275"/>
                </a:cubicBezTo>
                <a:cubicBezTo>
                  <a:pt x="435140" y="754243"/>
                  <a:pt x="491509" y="777875"/>
                  <a:pt x="552160" y="777875"/>
                </a:cubicBezTo>
                <a:cubicBezTo>
                  <a:pt x="610670" y="777875"/>
                  <a:pt x="666326" y="754959"/>
                  <a:pt x="707711" y="714140"/>
                </a:cubicBezTo>
                <a:cubicBezTo>
                  <a:pt x="708425" y="713424"/>
                  <a:pt x="709138" y="711991"/>
                  <a:pt x="710565" y="711275"/>
                </a:cubicBezTo>
                <a:cubicBezTo>
                  <a:pt x="711279" y="709843"/>
                  <a:pt x="712706" y="709127"/>
                  <a:pt x="713419" y="708411"/>
                </a:cubicBezTo>
                <a:cubicBezTo>
                  <a:pt x="754091" y="666159"/>
                  <a:pt x="776924" y="610301"/>
                  <a:pt x="776924" y="550863"/>
                </a:cubicBezTo>
                <a:cubicBezTo>
                  <a:pt x="776924" y="490708"/>
                  <a:pt x="753378" y="434134"/>
                  <a:pt x="710565" y="391166"/>
                </a:cubicBezTo>
                <a:cubicBezTo>
                  <a:pt x="710565" y="390450"/>
                  <a:pt x="710565" y="390450"/>
                  <a:pt x="710565" y="390450"/>
                </a:cubicBezTo>
                <a:cubicBezTo>
                  <a:pt x="710565" y="390450"/>
                  <a:pt x="710565" y="390450"/>
                  <a:pt x="709852" y="390450"/>
                </a:cubicBezTo>
                <a:cubicBezTo>
                  <a:pt x="667753" y="347482"/>
                  <a:pt x="611384" y="323850"/>
                  <a:pt x="550733" y="323850"/>
                </a:cubicBezTo>
                <a:close/>
                <a:moveTo>
                  <a:pt x="211227" y="198437"/>
                </a:moveTo>
                <a:cubicBezTo>
                  <a:pt x="211227" y="198437"/>
                  <a:pt x="211227" y="198437"/>
                  <a:pt x="211942" y="198437"/>
                </a:cubicBezTo>
                <a:cubicBezTo>
                  <a:pt x="212657" y="198437"/>
                  <a:pt x="213371" y="198437"/>
                  <a:pt x="214086" y="198437"/>
                </a:cubicBezTo>
                <a:cubicBezTo>
                  <a:pt x="214801" y="198437"/>
                  <a:pt x="214801" y="198437"/>
                  <a:pt x="214801" y="198437"/>
                </a:cubicBezTo>
                <a:cubicBezTo>
                  <a:pt x="215516" y="198437"/>
                  <a:pt x="215516" y="198437"/>
                  <a:pt x="215516" y="198437"/>
                </a:cubicBezTo>
                <a:cubicBezTo>
                  <a:pt x="215516" y="198437"/>
                  <a:pt x="215516" y="198437"/>
                  <a:pt x="314166" y="206285"/>
                </a:cubicBezTo>
                <a:cubicBezTo>
                  <a:pt x="322745" y="206998"/>
                  <a:pt x="329893" y="214132"/>
                  <a:pt x="329178" y="222693"/>
                </a:cubicBezTo>
                <a:cubicBezTo>
                  <a:pt x="328464" y="231254"/>
                  <a:pt x="320600" y="237675"/>
                  <a:pt x="312022" y="237675"/>
                </a:cubicBezTo>
                <a:cubicBezTo>
                  <a:pt x="312022" y="237675"/>
                  <a:pt x="312022" y="237675"/>
                  <a:pt x="255548" y="232681"/>
                </a:cubicBezTo>
                <a:cubicBezTo>
                  <a:pt x="255548" y="232681"/>
                  <a:pt x="255548" y="232681"/>
                  <a:pt x="381363" y="357528"/>
                </a:cubicBezTo>
                <a:cubicBezTo>
                  <a:pt x="429259" y="314723"/>
                  <a:pt x="490021" y="293321"/>
                  <a:pt x="550784" y="293321"/>
                </a:cubicBezTo>
                <a:cubicBezTo>
                  <a:pt x="612262" y="293321"/>
                  <a:pt x="673740" y="314723"/>
                  <a:pt x="721635" y="358241"/>
                </a:cubicBezTo>
                <a:cubicBezTo>
                  <a:pt x="721635" y="358241"/>
                  <a:pt x="721635" y="358241"/>
                  <a:pt x="847450" y="232681"/>
                </a:cubicBezTo>
                <a:cubicBezTo>
                  <a:pt x="847450" y="232681"/>
                  <a:pt x="847450" y="232681"/>
                  <a:pt x="790977" y="237675"/>
                </a:cubicBezTo>
                <a:cubicBezTo>
                  <a:pt x="782398" y="238388"/>
                  <a:pt x="774535" y="231254"/>
                  <a:pt x="773820" y="222693"/>
                </a:cubicBezTo>
                <a:cubicBezTo>
                  <a:pt x="773820" y="214132"/>
                  <a:pt x="780254" y="206998"/>
                  <a:pt x="788832" y="206285"/>
                </a:cubicBezTo>
                <a:cubicBezTo>
                  <a:pt x="788832" y="206285"/>
                  <a:pt x="788832" y="206285"/>
                  <a:pt x="887482" y="198437"/>
                </a:cubicBezTo>
                <a:cubicBezTo>
                  <a:pt x="887482" y="198437"/>
                  <a:pt x="887482" y="198437"/>
                  <a:pt x="888197" y="198437"/>
                </a:cubicBezTo>
                <a:cubicBezTo>
                  <a:pt x="888197" y="198437"/>
                  <a:pt x="888197" y="198437"/>
                  <a:pt x="888912" y="198437"/>
                </a:cubicBezTo>
                <a:cubicBezTo>
                  <a:pt x="889627" y="198437"/>
                  <a:pt x="890342" y="198437"/>
                  <a:pt x="891057" y="198437"/>
                </a:cubicBezTo>
                <a:cubicBezTo>
                  <a:pt x="891057" y="198437"/>
                  <a:pt x="891057" y="198437"/>
                  <a:pt x="891772" y="198437"/>
                </a:cubicBezTo>
                <a:cubicBezTo>
                  <a:pt x="892486" y="198437"/>
                  <a:pt x="893201" y="199151"/>
                  <a:pt x="893916" y="199151"/>
                </a:cubicBezTo>
                <a:cubicBezTo>
                  <a:pt x="894631" y="199151"/>
                  <a:pt x="894631" y="199151"/>
                  <a:pt x="894631" y="199151"/>
                </a:cubicBezTo>
                <a:cubicBezTo>
                  <a:pt x="895346" y="199864"/>
                  <a:pt x="896061" y="200577"/>
                  <a:pt x="896776" y="200577"/>
                </a:cubicBezTo>
                <a:cubicBezTo>
                  <a:pt x="896776" y="200577"/>
                  <a:pt x="897490" y="200577"/>
                  <a:pt x="897490" y="201291"/>
                </a:cubicBezTo>
                <a:cubicBezTo>
                  <a:pt x="898205" y="201291"/>
                  <a:pt x="898920" y="202004"/>
                  <a:pt x="899635" y="202718"/>
                </a:cubicBezTo>
                <a:cubicBezTo>
                  <a:pt x="900350" y="203431"/>
                  <a:pt x="901065" y="204144"/>
                  <a:pt x="901780" y="204858"/>
                </a:cubicBezTo>
                <a:cubicBezTo>
                  <a:pt x="901780" y="204858"/>
                  <a:pt x="901780" y="204858"/>
                  <a:pt x="901780" y="205571"/>
                </a:cubicBezTo>
                <a:cubicBezTo>
                  <a:pt x="901780" y="206285"/>
                  <a:pt x="902495" y="206998"/>
                  <a:pt x="903209" y="207711"/>
                </a:cubicBezTo>
                <a:cubicBezTo>
                  <a:pt x="903209" y="207711"/>
                  <a:pt x="903209" y="207711"/>
                  <a:pt x="903209" y="208425"/>
                </a:cubicBezTo>
                <a:cubicBezTo>
                  <a:pt x="903209" y="209138"/>
                  <a:pt x="903924" y="209852"/>
                  <a:pt x="903924" y="210565"/>
                </a:cubicBezTo>
                <a:cubicBezTo>
                  <a:pt x="903924" y="210565"/>
                  <a:pt x="903924" y="210565"/>
                  <a:pt x="903924" y="211279"/>
                </a:cubicBezTo>
                <a:cubicBezTo>
                  <a:pt x="903924" y="211992"/>
                  <a:pt x="903924" y="212705"/>
                  <a:pt x="903924" y="213419"/>
                </a:cubicBezTo>
                <a:cubicBezTo>
                  <a:pt x="903924" y="214132"/>
                  <a:pt x="903924" y="214132"/>
                  <a:pt x="903924" y="214132"/>
                </a:cubicBezTo>
                <a:cubicBezTo>
                  <a:pt x="903924" y="214132"/>
                  <a:pt x="903924" y="214132"/>
                  <a:pt x="903924" y="214846"/>
                </a:cubicBezTo>
                <a:cubicBezTo>
                  <a:pt x="903924" y="214846"/>
                  <a:pt x="903924" y="214846"/>
                  <a:pt x="896061" y="313296"/>
                </a:cubicBezTo>
                <a:cubicBezTo>
                  <a:pt x="895346" y="321857"/>
                  <a:pt x="888912" y="328278"/>
                  <a:pt x="880334" y="328278"/>
                </a:cubicBezTo>
                <a:cubicBezTo>
                  <a:pt x="880334" y="328278"/>
                  <a:pt x="880334" y="328278"/>
                  <a:pt x="879619" y="328278"/>
                </a:cubicBezTo>
                <a:cubicBezTo>
                  <a:pt x="871041" y="327565"/>
                  <a:pt x="864607" y="319717"/>
                  <a:pt x="864607" y="311156"/>
                </a:cubicBezTo>
                <a:cubicBezTo>
                  <a:pt x="864607" y="311156"/>
                  <a:pt x="864607" y="311156"/>
                  <a:pt x="869611" y="254797"/>
                </a:cubicBezTo>
                <a:cubicBezTo>
                  <a:pt x="869611" y="254797"/>
                  <a:pt x="869611" y="254797"/>
                  <a:pt x="743796" y="380357"/>
                </a:cubicBezTo>
                <a:cubicBezTo>
                  <a:pt x="830294" y="478094"/>
                  <a:pt x="830294" y="624343"/>
                  <a:pt x="744511" y="721367"/>
                </a:cubicBezTo>
                <a:cubicBezTo>
                  <a:pt x="744511" y="721367"/>
                  <a:pt x="744511" y="721367"/>
                  <a:pt x="869611" y="846928"/>
                </a:cubicBezTo>
                <a:cubicBezTo>
                  <a:pt x="869611" y="846928"/>
                  <a:pt x="869611" y="846928"/>
                  <a:pt x="864607" y="790568"/>
                </a:cubicBezTo>
                <a:cubicBezTo>
                  <a:pt x="864607" y="782007"/>
                  <a:pt x="871041" y="774160"/>
                  <a:pt x="879619" y="773446"/>
                </a:cubicBezTo>
                <a:cubicBezTo>
                  <a:pt x="888197" y="772733"/>
                  <a:pt x="895346" y="779867"/>
                  <a:pt x="896061" y="788428"/>
                </a:cubicBezTo>
                <a:cubicBezTo>
                  <a:pt x="896061" y="788428"/>
                  <a:pt x="896061" y="788428"/>
                  <a:pt x="903924" y="886879"/>
                </a:cubicBezTo>
                <a:cubicBezTo>
                  <a:pt x="903924" y="886879"/>
                  <a:pt x="903924" y="886879"/>
                  <a:pt x="903924" y="887592"/>
                </a:cubicBezTo>
                <a:cubicBezTo>
                  <a:pt x="903924" y="887592"/>
                  <a:pt x="903924" y="887592"/>
                  <a:pt x="903924" y="888306"/>
                </a:cubicBezTo>
                <a:cubicBezTo>
                  <a:pt x="903924" y="889019"/>
                  <a:pt x="903924" y="889732"/>
                  <a:pt x="903924" y="890446"/>
                </a:cubicBezTo>
                <a:cubicBezTo>
                  <a:pt x="903924" y="890446"/>
                  <a:pt x="903924" y="890446"/>
                  <a:pt x="903924" y="891159"/>
                </a:cubicBezTo>
                <a:cubicBezTo>
                  <a:pt x="903924" y="891873"/>
                  <a:pt x="903209" y="892586"/>
                  <a:pt x="903209" y="893299"/>
                </a:cubicBezTo>
                <a:cubicBezTo>
                  <a:pt x="903209" y="894013"/>
                  <a:pt x="903209" y="894013"/>
                  <a:pt x="903209" y="894013"/>
                </a:cubicBezTo>
                <a:cubicBezTo>
                  <a:pt x="902495" y="894726"/>
                  <a:pt x="901780" y="895440"/>
                  <a:pt x="901780" y="896153"/>
                </a:cubicBezTo>
                <a:cubicBezTo>
                  <a:pt x="901780" y="896153"/>
                  <a:pt x="901780" y="896153"/>
                  <a:pt x="901780" y="896866"/>
                </a:cubicBezTo>
                <a:cubicBezTo>
                  <a:pt x="901065" y="897580"/>
                  <a:pt x="900350" y="898293"/>
                  <a:pt x="899635" y="899007"/>
                </a:cubicBezTo>
                <a:cubicBezTo>
                  <a:pt x="898920" y="899720"/>
                  <a:pt x="898205" y="900434"/>
                  <a:pt x="897490" y="901147"/>
                </a:cubicBezTo>
                <a:cubicBezTo>
                  <a:pt x="896776" y="901147"/>
                  <a:pt x="896061" y="901860"/>
                  <a:pt x="895346" y="901860"/>
                </a:cubicBezTo>
                <a:cubicBezTo>
                  <a:pt x="895346" y="901860"/>
                  <a:pt x="894631" y="901860"/>
                  <a:pt x="894631" y="902574"/>
                </a:cubicBezTo>
                <a:cubicBezTo>
                  <a:pt x="893916" y="902574"/>
                  <a:pt x="893201" y="902574"/>
                  <a:pt x="892486" y="903287"/>
                </a:cubicBezTo>
                <a:cubicBezTo>
                  <a:pt x="891772" y="903287"/>
                  <a:pt x="891772" y="903287"/>
                  <a:pt x="891772" y="903287"/>
                </a:cubicBezTo>
                <a:cubicBezTo>
                  <a:pt x="890342" y="903287"/>
                  <a:pt x="889627" y="903287"/>
                  <a:pt x="888197" y="903287"/>
                </a:cubicBezTo>
                <a:cubicBezTo>
                  <a:pt x="888197" y="903287"/>
                  <a:pt x="888197" y="903287"/>
                  <a:pt x="887482" y="903287"/>
                </a:cubicBezTo>
                <a:cubicBezTo>
                  <a:pt x="887482" y="903287"/>
                  <a:pt x="887482" y="903287"/>
                  <a:pt x="788832" y="895440"/>
                </a:cubicBezTo>
                <a:cubicBezTo>
                  <a:pt x="780254" y="894726"/>
                  <a:pt x="773820" y="887592"/>
                  <a:pt x="773820" y="879031"/>
                </a:cubicBezTo>
                <a:cubicBezTo>
                  <a:pt x="774535" y="870470"/>
                  <a:pt x="782398" y="864050"/>
                  <a:pt x="790977" y="864050"/>
                </a:cubicBezTo>
                <a:cubicBezTo>
                  <a:pt x="790977" y="864050"/>
                  <a:pt x="790977" y="864050"/>
                  <a:pt x="847450" y="869043"/>
                </a:cubicBezTo>
                <a:cubicBezTo>
                  <a:pt x="847450" y="869043"/>
                  <a:pt x="847450" y="869043"/>
                  <a:pt x="721635" y="744197"/>
                </a:cubicBezTo>
                <a:cubicBezTo>
                  <a:pt x="673740" y="787001"/>
                  <a:pt x="612977" y="808404"/>
                  <a:pt x="552214" y="808404"/>
                </a:cubicBezTo>
                <a:cubicBezTo>
                  <a:pt x="490736" y="808404"/>
                  <a:pt x="429259" y="787001"/>
                  <a:pt x="381363" y="743483"/>
                </a:cubicBezTo>
                <a:cubicBezTo>
                  <a:pt x="381363" y="743483"/>
                  <a:pt x="381363" y="743483"/>
                  <a:pt x="255548" y="869043"/>
                </a:cubicBezTo>
                <a:cubicBezTo>
                  <a:pt x="255548" y="869043"/>
                  <a:pt x="255548" y="869043"/>
                  <a:pt x="312022" y="864050"/>
                </a:cubicBezTo>
                <a:cubicBezTo>
                  <a:pt x="320600" y="864050"/>
                  <a:pt x="328464" y="870470"/>
                  <a:pt x="329178" y="879031"/>
                </a:cubicBezTo>
                <a:cubicBezTo>
                  <a:pt x="329893" y="887592"/>
                  <a:pt x="322745" y="894726"/>
                  <a:pt x="314166" y="895440"/>
                </a:cubicBezTo>
                <a:cubicBezTo>
                  <a:pt x="314166" y="895440"/>
                  <a:pt x="314166" y="895440"/>
                  <a:pt x="215516" y="903287"/>
                </a:cubicBezTo>
                <a:cubicBezTo>
                  <a:pt x="215516" y="903287"/>
                  <a:pt x="215516" y="903287"/>
                  <a:pt x="214801" y="903287"/>
                </a:cubicBezTo>
                <a:cubicBezTo>
                  <a:pt x="213371" y="903287"/>
                  <a:pt x="212657" y="903287"/>
                  <a:pt x="211227" y="903287"/>
                </a:cubicBezTo>
                <a:cubicBezTo>
                  <a:pt x="211227" y="903287"/>
                  <a:pt x="211227" y="903287"/>
                  <a:pt x="210512" y="903287"/>
                </a:cubicBezTo>
                <a:cubicBezTo>
                  <a:pt x="209797" y="902574"/>
                  <a:pt x="209082" y="902574"/>
                  <a:pt x="208367" y="902574"/>
                </a:cubicBezTo>
                <a:cubicBezTo>
                  <a:pt x="208367" y="901860"/>
                  <a:pt x="207653" y="901860"/>
                  <a:pt x="207653" y="901860"/>
                </a:cubicBezTo>
                <a:cubicBezTo>
                  <a:pt x="206938" y="901860"/>
                  <a:pt x="206223" y="901147"/>
                  <a:pt x="205508" y="901147"/>
                </a:cubicBezTo>
                <a:cubicBezTo>
                  <a:pt x="204793" y="900434"/>
                  <a:pt x="204078" y="899720"/>
                  <a:pt x="203363" y="899007"/>
                </a:cubicBezTo>
                <a:cubicBezTo>
                  <a:pt x="202649" y="898293"/>
                  <a:pt x="201934" y="897580"/>
                  <a:pt x="201219" y="896866"/>
                </a:cubicBezTo>
                <a:cubicBezTo>
                  <a:pt x="201219" y="896866"/>
                  <a:pt x="201219" y="896866"/>
                  <a:pt x="201219" y="896153"/>
                </a:cubicBezTo>
                <a:cubicBezTo>
                  <a:pt x="201219" y="895440"/>
                  <a:pt x="200504" y="894726"/>
                  <a:pt x="199789" y="894013"/>
                </a:cubicBezTo>
                <a:cubicBezTo>
                  <a:pt x="199789" y="894013"/>
                  <a:pt x="199789" y="894013"/>
                  <a:pt x="199789" y="893299"/>
                </a:cubicBezTo>
                <a:cubicBezTo>
                  <a:pt x="199789" y="892586"/>
                  <a:pt x="199074" y="891873"/>
                  <a:pt x="199074" y="891159"/>
                </a:cubicBezTo>
                <a:cubicBezTo>
                  <a:pt x="199074" y="891159"/>
                  <a:pt x="199074" y="891159"/>
                  <a:pt x="199074" y="890446"/>
                </a:cubicBezTo>
                <a:cubicBezTo>
                  <a:pt x="199074" y="889732"/>
                  <a:pt x="199074" y="889019"/>
                  <a:pt x="199074" y="888306"/>
                </a:cubicBezTo>
                <a:cubicBezTo>
                  <a:pt x="199074" y="887592"/>
                  <a:pt x="199074" y="887592"/>
                  <a:pt x="199074" y="887592"/>
                </a:cubicBezTo>
                <a:cubicBezTo>
                  <a:pt x="199074" y="887592"/>
                  <a:pt x="199074" y="887592"/>
                  <a:pt x="199074" y="886879"/>
                </a:cubicBezTo>
                <a:cubicBezTo>
                  <a:pt x="199074" y="886879"/>
                  <a:pt x="199074" y="886879"/>
                  <a:pt x="206938" y="788428"/>
                </a:cubicBezTo>
                <a:cubicBezTo>
                  <a:pt x="207653" y="779867"/>
                  <a:pt x="214801" y="773446"/>
                  <a:pt x="223379" y="773446"/>
                </a:cubicBezTo>
                <a:cubicBezTo>
                  <a:pt x="231958" y="774160"/>
                  <a:pt x="238391" y="782007"/>
                  <a:pt x="238391" y="790568"/>
                </a:cubicBezTo>
                <a:cubicBezTo>
                  <a:pt x="238391" y="790568"/>
                  <a:pt x="238391" y="790568"/>
                  <a:pt x="233387" y="846928"/>
                </a:cubicBezTo>
                <a:cubicBezTo>
                  <a:pt x="233387" y="846928"/>
                  <a:pt x="233387" y="846928"/>
                  <a:pt x="359202" y="721367"/>
                </a:cubicBezTo>
                <a:cubicBezTo>
                  <a:pt x="272705" y="623630"/>
                  <a:pt x="272705" y="477381"/>
                  <a:pt x="358488" y="380357"/>
                </a:cubicBezTo>
                <a:cubicBezTo>
                  <a:pt x="358488" y="380357"/>
                  <a:pt x="358488" y="380357"/>
                  <a:pt x="233387" y="254797"/>
                </a:cubicBezTo>
                <a:cubicBezTo>
                  <a:pt x="233387" y="254797"/>
                  <a:pt x="233387" y="254797"/>
                  <a:pt x="238391" y="311156"/>
                </a:cubicBezTo>
                <a:cubicBezTo>
                  <a:pt x="238391" y="319717"/>
                  <a:pt x="231958" y="327565"/>
                  <a:pt x="223379" y="328278"/>
                </a:cubicBezTo>
                <a:cubicBezTo>
                  <a:pt x="223379" y="328278"/>
                  <a:pt x="223379" y="328278"/>
                  <a:pt x="222665" y="328278"/>
                </a:cubicBezTo>
                <a:cubicBezTo>
                  <a:pt x="214086" y="328278"/>
                  <a:pt x="207653" y="321857"/>
                  <a:pt x="206938" y="313296"/>
                </a:cubicBezTo>
                <a:cubicBezTo>
                  <a:pt x="206938" y="313296"/>
                  <a:pt x="206938" y="313296"/>
                  <a:pt x="199074" y="214846"/>
                </a:cubicBezTo>
                <a:cubicBezTo>
                  <a:pt x="199074" y="214846"/>
                  <a:pt x="199074" y="214846"/>
                  <a:pt x="199074" y="214132"/>
                </a:cubicBezTo>
                <a:cubicBezTo>
                  <a:pt x="199074" y="214132"/>
                  <a:pt x="199074" y="214132"/>
                  <a:pt x="199074" y="213419"/>
                </a:cubicBezTo>
                <a:cubicBezTo>
                  <a:pt x="199074" y="212705"/>
                  <a:pt x="199074" y="211992"/>
                  <a:pt x="199074" y="211279"/>
                </a:cubicBezTo>
                <a:cubicBezTo>
                  <a:pt x="199074" y="211279"/>
                  <a:pt x="199074" y="211279"/>
                  <a:pt x="199074" y="210565"/>
                </a:cubicBezTo>
                <a:cubicBezTo>
                  <a:pt x="199074" y="209852"/>
                  <a:pt x="199789" y="209138"/>
                  <a:pt x="199789" y="208425"/>
                </a:cubicBezTo>
                <a:cubicBezTo>
                  <a:pt x="199789" y="207711"/>
                  <a:pt x="199789" y="207711"/>
                  <a:pt x="199789" y="207711"/>
                </a:cubicBezTo>
                <a:cubicBezTo>
                  <a:pt x="200504" y="206998"/>
                  <a:pt x="201219" y="206285"/>
                  <a:pt x="201219" y="205571"/>
                </a:cubicBezTo>
                <a:cubicBezTo>
                  <a:pt x="201219" y="205571"/>
                  <a:pt x="201219" y="205571"/>
                  <a:pt x="201219" y="204858"/>
                </a:cubicBezTo>
                <a:cubicBezTo>
                  <a:pt x="201934" y="204144"/>
                  <a:pt x="202649" y="203431"/>
                  <a:pt x="203363" y="202718"/>
                </a:cubicBezTo>
                <a:cubicBezTo>
                  <a:pt x="204078" y="202004"/>
                  <a:pt x="204793" y="201291"/>
                  <a:pt x="205508" y="201291"/>
                </a:cubicBezTo>
                <a:cubicBezTo>
                  <a:pt x="205508" y="200577"/>
                  <a:pt x="206223" y="200577"/>
                  <a:pt x="206223" y="200577"/>
                </a:cubicBezTo>
                <a:cubicBezTo>
                  <a:pt x="206938" y="200577"/>
                  <a:pt x="207653" y="199864"/>
                  <a:pt x="208367" y="199864"/>
                </a:cubicBezTo>
                <a:cubicBezTo>
                  <a:pt x="208367" y="199151"/>
                  <a:pt x="208367" y="199151"/>
                  <a:pt x="209082" y="199151"/>
                </a:cubicBezTo>
                <a:cubicBezTo>
                  <a:pt x="209797" y="199151"/>
                  <a:pt x="210512" y="198437"/>
                  <a:pt x="211227" y="198437"/>
                </a:cubicBezTo>
                <a:close/>
                <a:moveTo>
                  <a:pt x="996000" y="31750"/>
                </a:moveTo>
                <a:cubicBezTo>
                  <a:pt x="975392" y="31750"/>
                  <a:pt x="957628" y="39567"/>
                  <a:pt x="943416" y="53779"/>
                </a:cubicBezTo>
                <a:cubicBezTo>
                  <a:pt x="929204" y="67990"/>
                  <a:pt x="921387" y="86466"/>
                  <a:pt x="921387" y="106363"/>
                </a:cubicBezTo>
                <a:cubicBezTo>
                  <a:pt x="921387" y="126259"/>
                  <a:pt x="928493" y="145445"/>
                  <a:pt x="942705" y="159657"/>
                </a:cubicBezTo>
                <a:cubicBezTo>
                  <a:pt x="956917" y="173159"/>
                  <a:pt x="975392" y="180975"/>
                  <a:pt x="995289" y="180975"/>
                </a:cubicBezTo>
                <a:cubicBezTo>
                  <a:pt x="1015896" y="180975"/>
                  <a:pt x="1034372" y="173159"/>
                  <a:pt x="1048584" y="158947"/>
                </a:cubicBezTo>
                <a:cubicBezTo>
                  <a:pt x="1062796" y="144735"/>
                  <a:pt x="1070612" y="126259"/>
                  <a:pt x="1070612" y="106363"/>
                </a:cubicBezTo>
                <a:cubicBezTo>
                  <a:pt x="1070612" y="86466"/>
                  <a:pt x="1062796" y="67280"/>
                  <a:pt x="1049294" y="53068"/>
                </a:cubicBezTo>
                <a:cubicBezTo>
                  <a:pt x="1035082" y="39567"/>
                  <a:pt x="1015896" y="31750"/>
                  <a:pt x="996000" y="31750"/>
                </a:cubicBezTo>
                <a:close/>
                <a:moveTo>
                  <a:pt x="107000" y="31750"/>
                </a:moveTo>
                <a:cubicBezTo>
                  <a:pt x="87103" y="31750"/>
                  <a:pt x="67917" y="39567"/>
                  <a:pt x="53705" y="53068"/>
                </a:cubicBezTo>
                <a:cubicBezTo>
                  <a:pt x="40204" y="67280"/>
                  <a:pt x="32387" y="86466"/>
                  <a:pt x="32387" y="106363"/>
                </a:cubicBezTo>
                <a:cubicBezTo>
                  <a:pt x="32387" y="126259"/>
                  <a:pt x="40204" y="144735"/>
                  <a:pt x="54416" y="158947"/>
                </a:cubicBezTo>
                <a:cubicBezTo>
                  <a:pt x="68628" y="173159"/>
                  <a:pt x="87103" y="180975"/>
                  <a:pt x="107710" y="180975"/>
                </a:cubicBezTo>
                <a:cubicBezTo>
                  <a:pt x="127607" y="180975"/>
                  <a:pt x="146082" y="173159"/>
                  <a:pt x="160294" y="159657"/>
                </a:cubicBezTo>
                <a:cubicBezTo>
                  <a:pt x="174506" y="145445"/>
                  <a:pt x="181612" y="126259"/>
                  <a:pt x="181612" y="106363"/>
                </a:cubicBezTo>
                <a:cubicBezTo>
                  <a:pt x="181612" y="86466"/>
                  <a:pt x="173796" y="67990"/>
                  <a:pt x="159584" y="53779"/>
                </a:cubicBezTo>
                <a:cubicBezTo>
                  <a:pt x="145372" y="39567"/>
                  <a:pt x="127607" y="31750"/>
                  <a:pt x="107000" y="31750"/>
                </a:cubicBezTo>
                <a:close/>
                <a:moveTo>
                  <a:pt x="995999" y="0"/>
                </a:moveTo>
                <a:cubicBezTo>
                  <a:pt x="1023219" y="0"/>
                  <a:pt x="1050439" y="9986"/>
                  <a:pt x="1071928" y="29959"/>
                </a:cubicBezTo>
                <a:cubicBezTo>
                  <a:pt x="1113474" y="72044"/>
                  <a:pt x="1113474" y="139094"/>
                  <a:pt x="1071212" y="181179"/>
                </a:cubicBezTo>
                <a:cubicBezTo>
                  <a:pt x="1050439" y="201152"/>
                  <a:pt x="1023219" y="211138"/>
                  <a:pt x="995283" y="211138"/>
                </a:cubicBezTo>
                <a:cubicBezTo>
                  <a:pt x="968063" y="211138"/>
                  <a:pt x="941560" y="201152"/>
                  <a:pt x="920070" y="181179"/>
                </a:cubicBezTo>
                <a:cubicBezTo>
                  <a:pt x="878524" y="139094"/>
                  <a:pt x="878524" y="72044"/>
                  <a:pt x="920070" y="30672"/>
                </a:cubicBezTo>
                <a:cubicBezTo>
                  <a:pt x="941560" y="9986"/>
                  <a:pt x="968063" y="0"/>
                  <a:pt x="995999" y="0"/>
                </a:cubicBezTo>
                <a:close/>
                <a:moveTo>
                  <a:pt x="106999" y="0"/>
                </a:moveTo>
                <a:cubicBezTo>
                  <a:pt x="134935" y="0"/>
                  <a:pt x="161439" y="9986"/>
                  <a:pt x="182928" y="30672"/>
                </a:cubicBezTo>
                <a:cubicBezTo>
                  <a:pt x="224474" y="72044"/>
                  <a:pt x="224474" y="139094"/>
                  <a:pt x="182928" y="181179"/>
                </a:cubicBezTo>
                <a:cubicBezTo>
                  <a:pt x="161439" y="201152"/>
                  <a:pt x="134935" y="211138"/>
                  <a:pt x="107716" y="211138"/>
                </a:cubicBezTo>
                <a:cubicBezTo>
                  <a:pt x="79779" y="211138"/>
                  <a:pt x="52560" y="201152"/>
                  <a:pt x="31787" y="181179"/>
                </a:cubicBezTo>
                <a:cubicBezTo>
                  <a:pt x="-10476" y="139094"/>
                  <a:pt x="-10476" y="72044"/>
                  <a:pt x="31070" y="29959"/>
                </a:cubicBezTo>
                <a:cubicBezTo>
                  <a:pt x="52560" y="9986"/>
                  <a:pt x="79779" y="0"/>
                  <a:pt x="106999" y="0"/>
                </a:cubicBezTo>
                <a:close/>
              </a:path>
            </a:pathLst>
          </a:custGeom>
          <a:solidFill>
            <a:srgbClr val="FFFFFF"/>
          </a:solidFill>
          <a:ln>
            <a:noFill/>
          </a:ln>
        </p:spPr>
        <p:txBody>
          <a:bodyPr vert="horz" wrap="square" lIns="65837" tIns="32918" rIns="65837" bIns="32918" numCol="1" anchor="t" anchorCtr="0" compatLnSpc="1">
            <a:prstTxWarp prst="textNoShape">
              <a:avLst/>
            </a:prstTxWarp>
            <a:noAutofit/>
          </a:bodyPr>
          <a:lstStyle/>
          <a:p>
            <a:endParaRPr lang="en-US">
              <a:ea typeface="Microsoft YaHei" panose="020B0503020204020204" pitchFamily="34" charset="-122"/>
            </a:endParaRPr>
          </a:p>
        </p:txBody>
      </p:sp>
      <p:sp>
        <p:nvSpPr>
          <p:cNvPr id="164" name="Freeform 40">
            <a:extLst>
              <a:ext uri="{FF2B5EF4-FFF2-40B4-BE49-F238E27FC236}">
                <a16:creationId xmlns:a16="http://schemas.microsoft.com/office/drawing/2014/main" id="{DF6631E2-623B-4F6F-9F13-88EA9015A0D9}"/>
              </a:ext>
            </a:extLst>
          </p:cNvPr>
          <p:cNvSpPr>
            <a:spLocks/>
          </p:cNvSpPr>
          <p:nvPr/>
        </p:nvSpPr>
        <p:spPr bwMode="auto">
          <a:xfrm>
            <a:off x="8091945" y="5058286"/>
            <a:ext cx="248781" cy="248777"/>
          </a:xfrm>
          <a:custGeom>
            <a:avLst/>
            <a:gdLst>
              <a:gd name="connsiteX0" fmla="*/ 44235 w 978523"/>
              <a:gd name="connsiteY0" fmla="*/ 889000 h 978509"/>
              <a:gd name="connsiteX1" fmla="*/ 74586 w 978523"/>
              <a:gd name="connsiteY1" fmla="*/ 902373 h 978509"/>
              <a:gd name="connsiteX2" fmla="*/ 74586 w 978523"/>
              <a:gd name="connsiteY2" fmla="*/ 965137 h 978509"/>
              <a:gd name="connsiteX3" fmla="*/ 13350 w 978523"/>
              <a:gd name="connsiteY3" fmla="*/ 965137 h 978509"/>
              <a:gd name="connsiteX4" fmla="*/ 13350 w 978523"/>
              <a:gd name="connsiteY4" fmla="*/ 902373 h 978509"/>
              <a:gd name="connsiteX5" fmla="*/ 44235 w 978523"/>
              <a:gd name="connsiteY5" fmla="*/ 889000 h 978509"/>
              <a:gd name="connsiteX6" fmla="*/ 934288 w 978523"/>
              <a:gd name="connsiteY6" fmla="*/ 889000 h 978509"/>
              <a:gd name="connsiteX7" fmla="*/ 965173 w 978523"/>
              <a:gd name="connsiteY7" fmla="*/ 902373 h 978509"/>
              <a:gd name="connsiteX8" fmla="*/ 965173 w 978523"/>
              <a:gd name="connsiteY8" fmla="*/ 965137 h 978509"/>
              <a:gd name="connsiteX9" fmla="*/ 903937 w 978523"/>
              <a:gd name="connsiteY9" fmla="*/ 965137 h 978509"/>
              <a:gd name="connsiteX10" fmla="*/ 903937 w 978523"/>
              <a:gd name="connsiteY10" fmla="*/ 902373 h 978509"/>
              <a:gd name="connsiteX11" fmla="*/ 934288 w 978523"/>
              <a:gd name="connsiteY11" fmla="*/ 889000 h 978509"/>
              <a:gd name="connsiteX12" fmla="*/ 488995 w 978523"/>
              <a:gd name="connsiteY12" fmla="*/ 294320 h 978509"/>
              <a:gd name="connsiteX13" fmla="*/ 627390 w 978523"/>
              <a:gd name="connsiteY13" fmla="*/ 351380 h 978509"/>
              <a:gd name="connsiteX14" fmla="*/ 627390 w 978523"/>
              <a:gd name="connsiteY14" fmla="*/ 627129 h 978509"/>
              <a:gd name="connsiteX15" fmla="*/ 351133 w 978523"/>
              <a:gd name="connsiteY15" fmla="*/ 627129 h 978509"/>
              <a:gd name="connsiteX16" fmla="*/ 351133 w 978523"/>
              <a:gd name="connsiteY16" fmla="*/ 351380 h 978509"/>
              <a:gd name="connsiteX17" fmla="*/ 488995 w 978523"/>
              <a:gd name="connsiteY17" fmla="*/ 294320 h 978509"/>
              <a:gd name="connsiteX18" fmla="*/ 934288 w 978523"/>
              <a:gd name="connsiteY18" fmla="*/ 0 h 978509"/>
              <a:gd name="connsiteX19" fmla="*/ 965173 w 978523"/>
              <a:gd name="connsiteY19" fmla="*/ 13372 h 978509"/>
              <a:gd name="connsiteX20" fmla="*/ 965173 w 978523"/>
              <a:gd name="connsiteY20" fmla="*/ 76136 h 978509"/>
              <a:gd name="connsiteX21" fmla="*/ 903937 w 978523"/>
              <a:gd name="connsiteY21" fmla="*/ 76136 h 978509"/>
              <a:gd name="connsiteX22" fmla="*/ 903937 w 978523"/>
              <a:gd name="connsiteY22" fmla="*/ 13372 h 978509"/>
              <a:gd name="connsiteX23" fmla="*/ 934288 w 978523"/>
              <a:gd name="connsiteY23" fmla="*/ 0 h 978509"/>
              <a:gd name="connsiteX24" fmla="*/ 44235 w 978523"/>
              <a:gd name="connsiteY24" fmla="*/ 0 h 978509"/>
              <a:gd name="connsiteX25" fmla="*/ 74586 w 978523"/>
              <a:gd name="connsiteY25" fmla="*/ 13372 h 978509"/>
              <a:gd name="connsiteX26" fmla="*/ 74586 w 978523"/>
              <a:gd name="connsiteY26" fmla="*/ 76136 h 978509"/>
              <a:gd name="connsiteX27" fmla="*/ 13350 w 978523"/>
              <a:gd name="connsiteY27" fmla="*/ 76136 h 978509"/>
              <a:gd name="connsiteX28" fmla="*/ 13350 w 978523"/>
              <a:gd name="connsiteY28" fmla="*/ 13372 h 978509"/>
              <a:gd name="connsiteX29" fmla="*/ 44235 w 978523"/>
              <a:gd name="connsiteY29" fmla="*/ 0 h 97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78523" h="978509">
                <a:moveTo>
                  <a:pt x="44235" y="889000"/>
                </a:moveTo>
                <a:cubicBezTo>
                  <a:pt x="55361" y="889000"/>
                  <a:pt x="66397" y="893457"/>
                  <a:pt x="74586" y="902373"/>
                </a:cubicBezTo>
                <a:cubicBezTo>
                  <a:pt x="92387" y="919490"/>
                  <a:pt x="92387" y="948019"/>
                  <a:pt x="74586" y="965137"/>
                </a:cubicBezTo>
                <a:cubicBezTo>
                  <a:pt x="58209" y="982967"/>
                  <a:pt x="30439" y="982967"/>
                  <a:pt x="13350" y="965137"/>
                </a:cubicBezTo>
                <a:cubicBezTo>
                  <a:pt x="-4451" y="948019"/>
                  <a:pt x="-4451" y="919490"/>
                  <a:pt x="13350" y="902373"/>
                </a:cubicBezTo>
                <a:cubicBezTo>
                  <a:pt x="21894" y="893457"/>
                  <a:pt x="33109" y="889000"/>
                  <a:pt x="44235" y="889000"/>
                </a:cubicBezTo>
                <a:close/>
                <a:moveTo>
                  <a:pt x="934288" y="889000"/>
                </a:moveTo>
                <a:cubicBezTo>
                  <a:pt x="945414" y="889000"/>
                  <a:pt x="956629" y="893457"/>
                  <a:pt x="965173" y="902373"/>
                </a:cubicBezTo>
                <a:cubicBezTo>
                  <a:pt x="982974" y="919490"/>
                  <a:pt x="982974" y="948019"/>
                  <a:pt x="965173" y="965137"/>
                </a:cubicBezTo>
                <a:cubicBezTo>
                  <a:pt x="948084" y="982967"/>
                  <a:pt x="920314" y="982967"/>
                  <a:pt x="903937" y="965137"/>
                </a:cubicBezTo>
                <a:cubicBezTo>
                  <a:pt x="886136" y="948019"/>
                  <a:pt x="886136" y="919490"/>
                  <a:pt x="903937" y="902373"/>
                </a:cubicBezTo>
                <a:cubicBezTo>
                  <a:pt x="912126" y="893457"/>
                  <a:pt x="923163" y="889000"/>
                  <a:pt x="934288" y="889000"/>
                </a:cubicBezTo>
                <a:close/>
                <a:moveTo>
                  <a:pt x="488995" y="294320"/>
                </a:moveTo>
                <a:cubicBezTo>
                  <a:pt x="538924" y="294409"/>
                  <a:pt x="588942" y="313518"/>
                  <a:pt x="627390" y="351380"/>
                </a:cubicBezTo>
                <a:cubicBezTo>
                  <a:pt x="702862" y="427818"/>
                  <a:pt x="703574" y="551405"/>
                  <a:pt x="627390" y="627129"/>
                </a:cubicBezTo>
                <a:cubicBezTo>
                  <a:pt x="551206" y="703567"/>
                  <a:pt x="428030" y="702853"/>
                  <a:pt x="351133" y="627129"/>
                </a:cubicBezTo>
                <a:cubicBezTo>
                  <a:pt x="275661" y="550691"/>
                  <a:pt x="274949" y="427104"/>
                  <a:pt x="351133" y="351380"/>
                </a:cubicBezTo>
                <a:cubicBezTo>
                  <a:pt x="389225" y="313161"/>
                  <a:pt x="439066" y="294230"/>
                  <a:pt x="488995" y="294320"/>
                </a:cubicBezTo>
                <a:close/>
                <a:moveTo>
                  <a:pt x="934288" y="0"/>
                </a:moveTo>
                <a:cubicBezTo>
                  <a:pt x="945414" y="0"/>
                  <a:pt x="956629" y="4457"/>
                  <a:pt x="965173" y="13372"/>
                </a:cubicBezTo>
                <a:cubicBezTo>
                  <a:pt x="982974" y="30490"/>
                  <a:pt x="982974" y="59019"/>
                  <a:pt x="965173" y="76136"/>
                </a:cubicBezTo>
                <a:cubicBezTo>
                  <a:pt x="948084" y="93967"/>
                  <a:pt x="920314" y="93967"/>
                  <a:pt x="903937" y="76136"/>
                </a:cubicBezTo>
                <a:cubicBezTo>
                  <a:pt x="886136" y="59019"/>
                  <a:pt x="886136" y="30490"/>
                  <a:pt x="903937" y="13372"/>
                </a:cubicBezTo>
                <a:cubicBezTo>
                  <a:pt x="912126" y="4457"/>
                  <a:pt x="923163" y="0"/>
                  <a:pt x="934288" y="0"/>
                </a:cubicBezTo>
                <a:close/>
                <a:moveTo>
                  <a:pt x="44235" y="0"/>
                </a:moveTo>
                <a:cubicBezTo>
                  <a:pt x="55361" y="0"/>
                  <a:pt x="66397" y="4457"/>
                  <a:pt x="74586" y="13372"/>
                </a:cubicBezTo>
                <a:cubicBezTo>
                  <a:pt x="92387" y="30490"/>
                  <a:pt x="92387" y="59019"/>
                  <a:pt x="74586" y="76136"/>
                </a:cubicBezTo>
                <a:cubicBezTo>
                  <a:pt x="58209" y="93967"/>
                  <a:pt x="30439" y="93967"/>
                  <a:pt x="13350" y="76136"/>
                </a:cubicBezTo>
                <a:cubicBezTo>
                  <a:pt x="-4451" y="59019"/>
                  <a:pt x="-4451" y="30490"/>
                  <a:pt x="13350" y="13372"/>
                </a:cubicBezTo>
                <a:cubicBezTo>
                  <a:pt x="21894" y="4457"/>
                  <a:pt x="33109" y="0"/>
                  <a:pt x="44235" y="0"/>
                </a:cubicBezTo>
                <a:close/>
              </a:path>
            </a:pathLst>
          </a:custGeom>
          <a:solidFill>
            <a:srgbClr val="FFFFFF"/>
          </a:solidFill>
          <a:ln>
            <a:noFill/>
          </a:ln>
        </p:spPr>
        <p:txBody>
          <a:bodyPr vert="horz" wrap="square" lIns="65837" tIns="32918" rIns="65837" bIns="32918" numCol="1" anchor="t" anchorCtr="0" compatLnSpc="1">
            <a:prstTxWarp prst="textNoShape">
              <a:avLst/>
            </a:prstTxWarp>
            <a:noAutofit/>
          </a:bodyPr>
          <a:lstStyle/>
          <a:p>
            <a:endParaRPr lang="en-US">
              <a:ea typeface="Microsoft YaHei" panose="020B0503020204020204" pitchFamily="34" charset="-122"/>
            </a:endParaRPr>
          </a:p>
        </p:txBody>
      </p:sp>
      <p:sp>
        <p:nvSpPr>
          <p:cNvPr id="64" name="ee4pHeader1">
            <a:extLst>
              <a:ext uri="{FF2B5EF4-FFF2-40B4-BE49-F238E27FC236}">
                <a16:creationId xmlns:a16="http://schemas.microsoft.com/office/drawing/2014/main" id="{5EC4961C-1B90-4670-DB08-D19264D4D763}"/>
              </a:ext>
            </a:extLst>
          </p:cNvPr>
          <p:cNvSpPr txBox="1"/>
          <p:nvPr/>
        </p:nvSpPr>
        <p:spPr>
          <a:xfrm>
            <a:off x="466919" y="69115"/>
            <a:ext cx="1348981" cy="469263"/>
          </a:xfrm>
          <a:prstGeom prst="rect">
            <a:avLst/>
          </a:prstGeom>
          <a:noFill/>
          <a:ln cap="rnd">
            <a:noFill/>
          </a:ln>
        </p:spPr>
        <p:txBody>
          <a:bodyPr vert="horz" wrap="square" lIns="0" tIns="0" rIns="0" bIns="0" rtlCol="0" anchor="ctr" anchorCtr="0">
            <a:noAutofit/>
          </a:bodyPr>
          <a:lstStyle/>
          <a:p>
            <a:pPr>
              <a:buSzPct val="100000"/>
              <a:buFont typeface="Trebuchet MS" panose="020B0603020202020204" pitchFamily="34" charset="0"/>
              <a:buChar char="​"/>
            </a:pPr>
            <a:r>
              <a:rPr lang="zh-TW" altLang="en-US" sz="1400" b="1">
                <a:solidFill>
                  <a:srgbClr val="29BA74"/>
                </a:solidFill>
                <a:ea typeface="Microsoft YaHei" panose="020B0503020204020204" pitchFamily="34" charset="-122"/>
                <a:sym typeface="+mn-lt"/>
              </a:rPr>
              <a:t>方案組合庫</a:t>
            </a:r>
            <a:endParaRPr lang="en-US" sz="1400" b="1">
              <a:solidFill>
                <a:srgbClr val="29BA74"/>
              </a:solidFill>
              <a:ea typeface="Microsoft YaHei" panose="020B0503020204020204" pitchFamily="34" charset="-122"/>
              <a:sym typeface="+mn-lt"/>
            </a:endParaRPr>
          </a:p>
        </p:txBody>
      </p:sp>
      <p:sp>
        <p:nvSpPr>
          <p:cNvPr id="65" name="Oval 20">
            <a:extLst>
              <a:ext uri="{FF2B5EF4-FFF2-40B4-BE49-F238E27FC236}">
                <a16:creationId xmlns:a16="http://schemas.microsoft.com/office/drawing/2014/main" id="{B6DBA5C6-E6F5-B305-242E-28B998D04E05}"/>
              </a:ext>
            </a:extLst>
          </p:cNvPr>
          <p:cNvSpPr>
            <a:spLocks noChangeAspect="1" noChangeArrowheads="1"/>
          </p:cNvSpPr>
          <p:nvPr/>
        </p:nvSpPr>
        <p:spPr bwMode="auto">
          <a:xfrm>
            <a:off x="141430" y="195189"/>
            <a:ext cx="238259" cy="238259"/>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altLang="zh-TW" sz="1200">
                <a:solidFill>
                  <a:schemeClr val="bg1"/>
                </a:solidFill>
                <a:ea typeface="Microsoft YaHei" panose="020B0503020204020204" pitchFamily="34" charset="-122"/>
              </a:rPr>
              <a:t>C</a:t>
            </a:r>
            <a:endParaRPr lang="en-US" sz="1200">
              <a:solidFill>
                <a:schemeClr val="bg1"/>
              </a:solidFill>
              <a:ea typeface="Microsoft YaHei" panose="020B0503020204020204" pitchFamily="34" charset="-122"/>
            </a:endParaRPr>
          </a:p>
        </p:txBody>
      </p:sp>
      <p:sp>
        <p:nvSpPr>
          <p:cNvPr id="61" name="Textfeld 1">
            <a:extLst>
              <a:ext uri="{FF2B5EF4-FFF2-40B4-BE49-F238E27FC236}">
                <a16:creationId xmlns:a16="http://schemas.microsoft.com/office/drawing/2014/main" id="{929EB7F8-5260-51ED-40E0-2F1C32F27C9A}"/>
              </a:ext>
            </a:extLst>
          </p:cNvPr>
          <p:cNvSpPr txBox="1"/>
          <p:nvPr>
            <p:custDataLst>
              <p:tags r:id="rId3"/>
            </p:custDataLst>
          </p:nvPr>
        </p:nvSpPr>
        <p:spPr>
          <a:xfrm>
            <a:off x="8823690" y="163390"/>
            <a:ext cx="2743200" cy="649409"/>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en-US" sz="1200" b="1">
                <a:solidFill>
                  <a:srgbClr val="575757"/>
                </a:solidFill>
                <a:sym typeface="Trebuchet MS" panose="020B0603020202020204" pitchFamily="34" charset="0"/>
              </a:rPr>
              <a:t>TM 24.Jun.24:
</a:t>
            </a:r>
            <a:r>
              <a:rPr lang="zh-TW" altLang="en-US" sz="1200" b="1">
                <a:solidFill>
                  <a:srgbClr val="575757"/>
                </a:solidFill>
                <a:sym typeface="Trebuchet MS" panose="020B0603020202020204" pitchFamily="34" charset="0"/>
              </a:rPr>
              <a:t>可以請</a:t>
            </a:r>
            <a:r>
              <a:rPr lang="en-US" altLang="zh-TW" sz="1200" b="1">
                <a:solidFill>
                  <a:srgbClr val="575757"/>
                </a:solidFill>
                <a:sym typeface="Trebuchet MS" panose="020B0603020202020204" pitchFamily="34" charset="0"/>
              </a:rPr>
              <a:t>PTA</a:t>
            </a:r>
            <a:r>
              <a:rPr lang="zh-TW" altLang="en-US" sz="1200" b="1">
                <a:solidFill>
                  <a:srgbClr val="575757"/>
                </a:solidFill>
                <a:sym typeface="Trebuchet MS" panose="020B0603020202020204" pitchFamily="34" charset="0"/>
              </a:rPr>
              <a:t>豐富每一格</a:t>
            </a:r>
            <a:r>
              <a:rPr lang="en-US" altLang="zh-TW" sz="1200" b="1">
                <a:solidFill>
                  <a:srgbClr val="575757"/>
                </a:solidFill>
                <a:sym typeface="Trebuchet MS" panose="020B0603020202020204" pitchFamily="34" charset="0"/>
              </a:rPr>
              <a:t>, </a:t>
            </a:r>
            <a:r>
              <a:rPr lang="zh-TW" altLang="en-US" sz="1200" b="1">
                <a:solidFill>
                  <a:srgbClr val="575757"/>
                </a:solidFill>
                <a:sym typeface="Trebuchet MS" panose="020B0603020202020204" pitchFamily="34" charset="0"/>
              </a:rPr>
              <a:t>加上 </a:t>
            </a:r>
            <a:r>
              <a:rPr lang="en-US" altLang="zh-TW" sz="1200" b="1">
                <a:solidFill>
                  <a:srgbClr val="575757"/>
                </a:solidFill>
                <a:sym typeface="Trebuchet MS" panose="020B0603020202020204" pitchFamily="34" charset="0"/>
              </a:rPr>
              <a:t>"</a:t>
            </a:r>
            <a:r>
              <a:rPr lang="zh-TW" altLang="en-US" sz="1200" b="1">
                <a:solidFill>
                  <a:srgbClr val="575757"/>
                </a:solidFill>
                <a:sym typeface="Trebuchet MS" panose="020B0603020202020204" pitchFamily="34" charset="0"/>
              </a:rPr>
              <a:t>觸發條件</a:t>
            </a:r>
            <a:r>
              <a:rPr lang="en-US" altLang="zh-TW" sz="1200" b="1">
                <a:solidFill>
                  <a:srgbClr val="575757"/>
                </a:solidFill>
                <a:sym typeface="Trebuchet MS" panose="020B0603020202020204" pitchFamily="34" charset="0"/>
              </a:rPr>
              <a:t>" &amp; "</a:t>
            </a:r>
            <a:r>
              <a:rPr lang="zh-TW" altLang="en-US" sz="1200" b="1">
                <a:solidFill>
                  <a:srgbClr val="575757"/>
                </a:solidFill>
                <a:sym typeface="Trebuchet MS" panose="020B0603020202020204" pitchFamily="34" charset="0"/>
              </a:rPr>
              <a:t>溝通管道與時間</a:t>
            </a:r>
            <a:r>
              <a:rPr lang="en-US" altLang="zh-TW" sz="1200" b="1">
                <a:solidFill>
                  <a:srgbClr val="575757"/>
                </a:solidFill>
                <a:sym typeface="Trebuchet MS" panose="020B0603020202020204" pitchFamily="34" charset="0"/>
              </a:rPr>
              <a:t>"</a:t>
            </a:r>
          </a:p>
        </p:txBody>
      </p:sp>
      <p:sp>
        <p:nvSpPr>
          <p:cNvPr id="62" name="Title 1">
            <a:extLst>
              <a:ext uri="{FF2B5EF4-FFF2-40B4-BE49-F238E27FC236}">
                <a16:creationId xmlns:a16="http://schemas.microsoft.com/office/drawing/2014/main" id="{65203E10-0BDC-BDF2-EFCE-D52544008AE6}"/>
              </a:ext>
            </a:extLst>
          </p:cNvPr>
          <p:cNvSpPr>
            <a:spLocks noGrp="1"/>
          </p:cNvSpPr>
          <p:nvPr>
            <p:ph type="title"/>
          </p:nvPr>
        </p:nvSpPr>
        <p:spPr>
          <a:xfrm>
            <a:off x="630000" y="622800"/>
            <a:ext cx="10933200" cy="332399"/>
          </a:xfrm>
        </p:spPr>
        <p:txBody>
          <a:bodyPr vert="horz"/>
          <a:lstStyle/>
          <a:p>
            <a:r>
              <a:rPr lang="zh-TW" altLang="en-US" sz="2400">
                <a:solidFill>
                  <a:srgbClr val="29BA74"/>
                </a:solidFill>
                <a:ea typeface="Microsoft YaHei" panose="020B0503020204020204" pitchFamily="34" charset="-122"/>
              </a:rPr>
              <a:t>根據不同情境設計的產品與行銷方案組合庫</a:t>
            </a:r>
            <a:endParaRPr lang="en-US">
              <a:latin typeface="+mj-lt"/>
            </a:endParaRPr>
          </a:p>
        </p:txBody>
      </p:sp>
      <p:sp>
        <p:nvSpPr>
          <p:cNvPr id="66" name="IllustrativeStamp">
            <a:extLst>
              <a:ext uri="{FF2B5EF4-FFF2-40B4-BE49-F238E27FC236}">
                <a16:creationId xmlns:a16="http://schemas.microsoft.com/office/drawing/2014/main" id="{9FDF7DD9-6CED-DFDF-BC01-BE2573B6CC96}"/>
              </a:ext>
            </a:extLst>
          </p:cNvPr>
          <p:cNvSpPr/>
          <p:nvPr/>
        </p:nvSpPr>
        <p:spPr>
          <a:xfrm>
            <a:off x="10336333" y="1091017"/>
            <a:ext cx="1225296" cy="191773"/>
          </a:xfrm>
          <a:prstGeom prst="rect">
            <a:avLst/>
          </a:prstGeom>
          <a:solidFill>
            <a:schemeClr val="tx2"/>
          </a:solidFill>
          <a:ln w="9525">
            <a:no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l"/>
            <a:r>
              <a:rPr lang="zh-TW" altLang="en-US" sz="1200">
                <a:solidFill>
                  <a:schemeClr val="bg1"/>
                </a:solidFill>
              </a:rPr>
              <a:t>示意</a:t>
            </a:r>
            <a:endParaRPr lang="en-US" sz="1200">
              <a:solidFill>
                <a:schemeClr val="bg1"/>
              </a:solidFill>
            </a:endParaRPr>
          </a:p>
        </p:txBody>
      </p:sp>
      <p:sp>
        <p:nvSpPr>
          <p:cNvPr id="67" name="Textfeld 1">
            <a:extLst>
              <a:ext uri="{FF2B5EF4-FFF2-40B4-BE49-F238E27FC236}">
                <a16:creationId xmlns:a16="http://schemas.microsoft.com/office/drawing/2014/main" id="{5BD14CE9-F4F2-92CE-051D-F6F89565EAC6}"/>
              </a:ext>
            </a:extLst>
          </p:cNvPr>
          <p:cNvSpPr txBox="1"/>
          <p:nvPr>
            <p:custDataLst>
              <p:tags r:id="rId4"/>
            </p:custDataLst>
          </p:nvPr>
        </p:nvSpPr>
        <p:spPr>
          <a:xfrm>
            <a:off x="4316449" y="4601968"/>
            <a:ext cx="3305242" cy="1135696"/>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zh-TW" altLang="en-US" sz="1200" b="1">
                <a:solidFill>
                  <a:srgbClr val="575757"/>
                </a:solidFill>
                <a:sym typeface="Trebuchet MS" panose="020B0603020202020204" pitchFamily="34" charset="0"/>
              </a:rPr>
              <a:t>舉例</a:t>
            </a:r>
            <a:r>
              <a:rPr lang="en-US" altLang="zh-TW" sz="1200" b="1">
                <a:solidFill>
                  <a:srgbClr val="575757"/>
                </a:solidFill>
                <a:sym typeface="Trebuchet MS" panose="020B0603020202020204" pitchFamily="34" charset="0"/>
              </a:rPr>
              <a:t>:</a:t>
            </a:r>
            <a:r>
              <a:rPr lang="en-US" sz="1200" b="1">
                <a:solidFill>
                  <a:srgbClr val="575757"/>
                </a:solidFill>
                <a:sym typeface="Trebuchet MS" panose="020B0603020202020204" pitchFamily="34" charset="0"/>
              </a:rPr>
              <a:t>
</a:t>
            </a:r>
            <a:r>
              <a:rPr lang="zh-TW" altLang="en-US" sz="1200" b="1">
                <a:solidFill>
                  <a:srgbClr val="575757"/>
                </a:solidFill>
                <a:sym typeface="Trebuchet MS" panose="020B0603020202020204" pitchFamily="34" charset="0"/>
              </a:rPr>
              <a:t>觸發條件</a:t>
            </a:r>
            <a:r>
              <a:rPr lang="en-US" altLang="zh-TW" sz="1200" b="1">
                <a:solidFill>
                  <a:srgbClr val="575757"/>
                </a:solidFill>
                <a:sym typeface="Trebuchet MS" panose="020B0603020202020204" pitchFamily="34" charset="0"/>
              </a:rPr>
              <a:t>:</a:t>
            </a:r>
            <a:r>
              <a:rPr lang="zh-TW" altLang="en-US" sz="1200" b="1">
                <a:solidFill>
                  <a:srgbClr val="575757"/>
                </a:solidFill>
                <a:sym typeface="Trebuchet MS" panose="020B0603020202020204" pitchFamily="34" charset="0"/>
              </a:rPr>
              <a:t> 用戶近期瀏覽線上訂房網站、航空公司官網、旅遊論壇</a:t>
            </a:r>
            <a:endParaRPr lang="en-US" altLang="zh-TW" sz="1200" b="1">
              <a:solidFill>
                <a:srgbClr val="575757"/>
              </a:solidFill>
              <a:sym typeface="Trebuchet MS" panose="020B0603020202020204" pitchFamily="34" charset="0"/>
            </a:endParaRPr>
          </a:p>
          <a:p>
            <a:pPr>
              <a:lnSpc>
                <a:spcPct val="90000"/>
              </a:lnSpc>
              <a:spcAft>
                <a:spcPts val="600"/>
              </a:spcAft>
            </a:pPr>
            <a:r>
              <a:rPr lang="zh-TW" altLang="en-US" sz="1200" b="1">
                <a:solidFill>
                  <a:srgbClr val="575757"/>
                </a:solidFill>
                <a:sym typeface="Trebuchet MS" panose="020B0603020202020204" pitchFamily="34" charset="0"/>
              </a:rPr>
              <a:t>溝通管道</a:t>
            </a:r>
            <a:r>
              <a:rPr lang="en-US" altLang="zh-TW" sz="1200" b="1">
                <a:solidFill>
                  <a:srgbClr val="575757"/>
                </a:solidFill>
                <a:sym typeface="Trebuchet MS" panose="020B0603020202020204" pitchFamily="34" charset="0"/>
              </a:rPr>
              <a:t>:</a:t>
            </a:r>
            <a:r>
              <a:rPr lang="zh-TW" altLang="en-US" sz="1200" b="1">
                <a:solidFill>
                  <a:srgbClr val="575757"/>
                </a:solidFill>
                <a:sym typeface="Trebuchet MS" panose="020B0603020202020204" pitchFamily="34" charset="0"/>
              </a:rPr>
              <a:t> </a:t>
            </a:r>
            <a:r>
              <a:rPr lang="en-US" altLang="zh-TW" sz="1200" b="1">
                <a:solidFill>
                  <a:srgbClr val="575757"/>
                </a:solidFill>
                <a:sym typeface="Trebuchet MS" panose="020B0603020202020204" pitchFamily="34" charset="0"/>
              </a:rPr>
              <a:t>Email</a:t>
            </a:r>
            <a:r>
              <a:rPr lang="zh-TW" altLang="en-US" sz="1200" b="1">
                <a:solidFill>
                  <a:srgbClr val="575757"/>
                </a:solidFill>
                <a:sym typeface="Trebuchet MS" panose="020B0603020202020204" pitchFamily="34" charset="0"/>
              </a:rPr>
              <a:t> 、訂房網站置入廣告</a:t>
            </a:r>
            <a:endParaRPr lang="en-US" altLang="zh-TW" sz="1200" b="1">
              <a:solidFill>
                <a:srgbClr val="575757"/>
              </a:solidFill>
              <a:sym typeface="Trebuchet MS" panose="020B0603020202020204" pitchFamily="34" charset="0"/>
            </a:endParaRPr>
          </a:p>
          <a:p>
            <a:pPr>
              <a:lnSpc>
                <a:spcPct val="90000"/>
              </a:lnSpc>
              <a:spcAft>
                <a:spcPts val="600"/>
              </a:spcAft>
            </a:pPr>
            <a:r>
              <a:rPr lang="zh-TW" altLang="en-US" sz="1200" b="1">
                <a:solidFill>
                  <a:srgbClr val="575757"/>
                </a:solidFill>
                <a:sym typeface="Trebuchet MS" panose="020B0603020202020204" pitchFamily="34" charset="0"/>
              </a:rPr>
              <a:t>時間</a:t>
            </a:r>
            <a:r>
              <a:rPr lang="en-US" altLang="zh-TW" sz="1200" b="1">
                <a:solidFill>
                  <a:srgbClr val="575757"/>
                </a:solidFill>
                <a:sym typeface="Trebuchet MS" panose="020B0603020202020204" pitchFamily="34" charset="0"/>
              </a:rPr>
              <a:t>:</a:t>
            </a:r>
            <a:r>
              <a:rPr lang="zh-TW" altLang="en-US" sz="1200" b="1">
                <a:solidFill>
                  <a:srgbClr val="575757"/>
                </a:solidFill>
                <a:sym typeface="Trebuchet MS" panose="020B0603020202020204" pitchFamily="34" charset="0"/>
              </a:rPr>
              <a:t> 晚上</a:t>
            </a:r>
            <a:r>
              <a:rPr lang="en-US" altLang="zh-TW" sz="1200" b="1">
                <a:solidFill>
                  <a:srgbClr val="575757"/>
                </a:solidFill>
                <a:sym typeface="Trebuchet MS" panose="020B0603020202020204" pitchFamily="34" charset="0"/>
              </a:rPr>
              <a:t>10</a:t>
            </a:r>
            <a:r>
              <a:rPr lang="zh-TW" altLang="en-US" sz="1200" b="1">
                <a:solidFill>
                  <a:srgbClr val="575757"/>
                </a:solidFill>
                <a:sym typeface="Trebuchet MS" panose="020B0603020202020204" pitchFamily="34" charset="0"/>
              </a:rPr>
              <a:t>點過後</a:t>
            </a:r>
            <a:endParaRPr lang="en-US" altLang="zh-TW" sz="1200" b="1">
              <a:solidFill>
                <a:srgbClr val="575757"/>
              </a:solidFill>
              <a:sym typeface="Trebuchet MS" panose="020B0603020202020204" pitchFamily="34" charset="0"/>
            </a:endParaRPr>
          </a:p>
        </p:txBody>
      </p:sp>
    </p:spTree>
    <p:extLst>
      <p:ext uri="{BB962C8B-B14F-4D97-AF65-F5344CB8AC3E}">
        <p14:creationId xmlns:p14="http://schemas.microsoft.com/office/powerpoint/2010/main" val="212404597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84009456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4" name="Object 3"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2"/>
            </p:custDataLst>
          </p:nvPr>
        </p:nvSpPr>
        <p:spPr>
          <a:xfrm>
            <a:off x="0" y="0"/>
            <a:ext cx="158750" cy="158750"/>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lnSpc>
                <a:spcPct val="90000"/>
              </a:lnSpc>
              <a:spcBef>
                <a:spcPct val="0"/>
              </a:spcBef>
              <a:spcAft>
                <a:spcPct val="0"/>
              </a:spcAft>
            </a:pPr>
            <a:endParaRPr lang="en-US" sz="3200">
              <a:solidFill>
                <a:srgbClr val="FFFFFF"/>
              </a:solidFill>
              <a:latin typeface="Trebuchet MS" panose="020B0603020202020204" pitchFamily="34" charset="0"/>
              <a:ea typeface="+mj-ea"/>
              <a:cs typeface="+mj-cs"/>
              <a:sym typeface="Trebuchet MS" panose="020B0603020202020204" pitchFamily="34" charset="0"/>
            </a:endParaRPr>
          </a:p>
        </p:txBody>
      </p:sp>
      <p:sp>
        <p:nvSpPr>
          <p:cNvPr id="49" name="Rounded Rectangle 2">
            <a:extLst>
              <a:ext uri="{FF2B5EF4-FFF2-40B4-BE49-F238E27FC236}">
                <a16:creationId xmlns:a16="http://schemas.microsoft.com/office/drawing/2014/main" id="{E478729C-89F3-43AB-9C48-431E3F609FD2}"/>
              </a:ext>
            </a:extLst>
          </p:cNvPr>
          <p:cNvSpPr/>
          <p:nvPr/>
        </p:nvSpPr>
        <p:spPr bwMode="auto">
          <a:xfrm>
            <a:off x="638930" y="3114289"/>
            <a:ext cx="4720860" cy="610788"/>
          </a:xfrm>
          <a:prstGeom prst="roundRect">
            <a:avLst>
              <a:gd name="adj" fmla="val 0"/>
            </a:avLst>
          </a:prstGeom>
          <a:noFill/>
          <a:ln w="18288" cap="flat" cmpd="sng" algn="ctr">
            <a:solidFill>
              <a:srgbClr val="6E6F73"/>
            </a:solidFill>
            <a:prstDash val="solid"/>
            <a:miter lim="800000"/>
            <a:headEnd type="none" w="sm" len="sm"/>
            <a:tailEnd type="triangle" w="med" len="med"/>
          </a:ln>
          <a:effectLst>
            <a:innerShdw blurRad="76200">
              <a:prstClr val="black"/>
            </a:innerShdw>
          </a:effectLst>
          <a:extLst>
            <a:ext uri="{909E8E84-426E-40DD-AFC4-6F175D3DCCD1}">
              <a14:hiddenFill xmlns:a14="http://schemas.microsoft.com/office/drawing/2010/main">
                <a:solidFill>
                  <a:srgbClr val="FFFFFF"/>
                </a:solidFill>
              </a14:hiddenFill>
            </a:ext>
          </a:extLst>
        </p:spPr>
        <p:txBody>
          <a:bodyPr vert="horz" wrap="none" lIns="65837" tIns="32918" rIns="65837" bIns="32918"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600" b="0" i="0" u="none" strike="noStrike" cap="none" normalizeH="0" baseline="0">
              <a:ln>
                <a:noFill/>
              </a:ln>
              <a:solidFill>
                <a:schemeClr val="tx1"/>
              </a:solidFill>
              <a:effectLst/>
              <a:latin typeface="Arial" charset="0"/>
            </a:endParaRPr>
          </a:p>
        </p:txBody>
      </p:sp>
      <p:sp>
        <p:nvSpPr>
          <p:cNvPr id="50" name="ee4pContent1"/>
          <p:cNvSpPr txBox="1"/>
          <p:nvPr/>
        </p:nvSpPr>
        <p:spPr>
          <a:xfrm>
            <a:off x="1240615" y="3195087"/>
            <a:ext cx="4025289" cy="446276"/>
          </a:xfrm>
          <a:prstGeom prst="rect">
            <a:avLst/>
          </a:prstGeom>
          <a:ln cap="rnd">
            <a:noFill/>
          </a:ln>
        </p:spPr>
        <p:txBody>
          <a:bodyPr vert="horz" wrap="square" lIns="0" tIns="0" rIns="0" bIns="0" rtlCol="0">
            <a:spAutoFit/>
          </a:bodyPr>
          <a:lstStyle>
            <a:lvl1pPr lvl="0" indent="0">
              <a:lnSpc>
                <a:spcPct val="100000"/>
              </a:lnSpc>
              <a:spcBef>
                <a:spcPts val="0"/>
              </a:spcBef>
              <a:spcAft>
                <a:spcPts val="0"/>
              </a:spcAft>
              <a:buFont typeface="Trebuchet MS" panose="020B0603020202020204" pitchFamily="34" charset="0"/>
              <a:buChar char="​"/>
              <a:defRPr sz="2000">
                <a:latin typeface="Trebuchet MS" panose="020B0603020202020204" pitchFamily="34" charset="0"/>
                <a:sym typeface="Trebuchet MS" panose="020B0603020202020204" pitchFamily="34" charset="0"/>
              </a:defRPr>
            </a:lvl1pPr>
            <a:lvl2pPr marL="324000" lvl="1" indent="-216000">
              <a:lnSpc>
                <a:spcPct val="100000"/>
              </a:lnSpc>
              <a:spcBef>
                <a:spcPts val="0"/>
              </a:spcBef>
              <a:spcAft>
                <a:spcPts val="0"/>
              </a:spcAft>
              <a:buClr>
                <a:schemeClr val="tx2"/>
              </a:buClr>
              <a:buFont typeface="Trebuchet MS" panose="020B0603020202020204" pitchFamily="34" charset="0"/>
              <a:buChar char="•"/>
              <a:defRPr sz="2000">
                <a:latin typeface="Trebuchet MS" panose="020B0603020202020204" pitchFamily="34" charset="0"/>
                <a:sym typeface="Trebuchet MS" panose="020B0603020202020204" pitchFamily="34" charset="0"/>
              </a:defRPr>
            </a:lvl2pPr>
            <a:lvl3pPr marL="648000" lvl="2" indent="-216000">
              <a:lnSpc>
                <a:spcPct val="100000"/>
              </a:lnSpc>
              <a:spcBef>
                <a:spcPts val="0"/>
              </a:spcBef>
              <a:spcAft>
                <a:spcPts val="0"/>
              </a:spcAft>
              <a:buClr>
                <a:schemeClr val="tx2"/>
              </a:buClr>
              <a:buFont typeface="Trebuchet MS" panose="020B0603020202020204" pitchFamily="34" charset="0"/>
              <a:buChar char="–"/>
              <a:defRPr sz="2000">
                <a:latin typeface="Trebuchet MS" panose="020B0603020202020204" pitchFamily="34" charset="0"/>
                <a:sym typeface="Trebuchet MS" panose="020B0603020202020204" pitchFamily="34" charset="0"/>
              </a:defRPr>
            </a:lvl3pPr>
            <a:lvl4pPr marL="0" lvl="3" indent="0">
              <a:lnSpc>
                <a:spcPct val="100000"/>
              </a:lnSpc>
              <a:spcBef>
                <a:spcPts val="0"/>
              </a:spcBef>
              <a:spcAft>
                <a:spcPts val="0"/>
              </a:spcAft>
              <a:buClr>
                <a:schemeClr val="tx2"/>
              </a:buClr>
              <a:buFont typeface="Trebuchet MS" panose="020B0603020202020204" pitchFamily="34" charset="0"/>
              <a:buChar char="​"/>
              <a:defRPr sz="2400">
                <a:solidFill>
                  <a:schemeClr val="tx2"/>
                </a:solidFill>
                <a:latin typeface="Trebuchet MS" panose="020B0603020202020204" pitchFamily="34" charset="0"/>
                <a:sym typeface="Trebuchet MS" panose="020B0603020202020204" pitchFamily="34" charset="0"/>
              </a:defRPr>
            </a:lvl4pPr>
            <a:lvl5pPr marL="0" lvl="4" indent="0">
              <a:lnSpc>
                <a:spcPct val="100000"/>
              </a:lnSpc>
              <a:spcBef>
                <a:spcPts val="0"/>
              </a:spcBef>
              <a:spcAft>
                <a:spcPts val="0"/>
              </a:spcAft>
              <a:buClrTx/>
              <a:buFont typeface="Trebuchet MS" panose="020B0603020202020204" pitchFamily="34" charset="0"/>
              <a:buChar char="​"/>
              <a:defRPr sz="2400" b="1">
                <a:latin typeface="Trebuchet MS" panose="020B0603020202020204" pitchFamily="34" charset="0"/>
                <a:sym typeface="Trebuchet MS" panose="020B0603020202020204" pitchFamily="34" charset="0"/>
              </a:defRPr>
            </a:lvl5pPr>
            <a:lvl6pPr marL="324000" lvl="5" indent="-216000">
              <a:lnSpc>
                <a:spcPct val="100000"/>
              </a:lnSpc>
              <a:spcBef>
                <a:spcPts val="0"/>
              </a:spcBef>
              <a:spcAft>
                <a:spcPts val="0"/>
              </a:spcAft>
              <a:buClr>
                <a:schemeClr val="tx2"/>
              </a:buClr>
              <a:buFont typeface="Trebuchet MS" panose="020B0603020202020204" pitchFamily="34" charset="0"/>
              <a:buChar char="•"/>
              <a:defRPr sz="2400">
                <a:latin typeface="Trebuchet MS" panose="020B0603020202020204" pitchFamily="34" charset="0"/>
                <a:sym typeface="Trebuchet MS" panose="020B0603020202020204" pitchFamily="34" charset="0"/>
              </a:defRPr>
            </a:lvl6pPr>
            <a:lvl7pPr marL="0" lvl="6" indent="0">
              <a:lnSpc>
                <a:spcPct val="100000"/>
              </a:lnSpc>
              <a:spcBef>
                <a:spcPts val="0"/>
              </a:spcBef>
              <a:spcAft>
                <a:spcPts val="0"/>
              </a:spcAft>
              <a:buFont typeface="Trebuchet MS" panose="020B0603020202020204" pitchFamily="34" charset="0"/>
              <a:buChar char="​"/>
              <a:defRPr sz="5400" baseline="0">
                <a:latin typeface="Trebuchet MS" panose="020B0603020202020204" pitchFamily="34" charset="0"/>
                <a:sym typeface="Trebuchet MS" panose="020B0603020202020204" pitchFamily="34" charset="0"/>
              </a:defRPr>
            </a:lvl7pPr>
            <a:lvl8pPr marL="0" lvl="7" indent="0">
              <a:lnSpc>
                <a:spcPct val="100000"/>
              </a:lnSpc>
              <a:spcBef>
                <a:spcPts val="0"/>
              </a:spcBef>
              <a:spcAft>
                <a:spcPts val="0"/>
              </a:spcAft>
              <a:buFont typeface="Trebuchet MS" panose="020B0603020202020204" pitchFamily="34" charset="0"/>
              <a:buChar char="​"/>
              <a:defRPr sz="6600">
                <a:solidFill>
                  <a:schemeClr val="tx2"/>
                </a:solidFill>
                <a:latin typeface="Trebuchet MS" panose="020B0603020202020204" pitchFamily="34" charset="0"/>
                <a:sym typeface="Trebuchet MS" panose="020B0603020202020204" pitchFamily="34" charset="0"/>
              </a:defRPr>
            </a:lvl8pPr>
            <a:lvl9pPr marL="0" lvl="8" indent="0">
              <a:lnSpc>
                <a:spcPct val="100000"/>
              </a:lnSpc>
              <a:spcBef>
                <a:spcPts val="0"/>
              </a:spcBef>
              <a:spcAft>
                <a:spcPts val="0"/>
              </a:spcAft>
              <a:buFont typeface="Trebuchet MS" panose="020B0603020202020204" pitchFamily="34" charset="0"/>
              <a:buChar char="​"/>
              <a:defRPr sz="4400">
                <a:solidFill>
                  <a:schemeClr val="tx2"/>
                </a:solidFill>
                <a:latin typeface="Trebuchet MS" panose="020B0603020202020204" pitchFamily="34" charset="0"/>
                <a:sym typeface="Trebuchet MS" panose="020B0603020202020204" pitchFamily="34" charset="0"/>
              </a:defRPr>
            </a:lvl9pPr>
          </a:lstStyle>
          <a:p>
            <a:pPr>
              <a:spcBef>
                <a:spcPts val="600"/>
              </a:spcBef>
              <a:buSzPct val="100000"/>
            </a:pPr>
            <a:r>
              <a:rPr lang="en-US" sz="1200">
                <a:solidFill>
                  <a:srgbClr val="03522D"/>
                </a:solidFill>
              </a:rPr>
              <a:t>啟動：</a:t>
            </a:r>
            <a:r>
              <a:rPr lang="en-US" sz="1200">
                <a:solidFill>
                  <a:srgbClr val="29BA74"/>
                </a:solidFill>
              </a:rPr>
              <a:t>10+項優惠</a:t>
            </a:r>
          </a:p>
          <a:p>
            <a:pPr marL="233280" lvl="1" indent="-155520">
              <a:spcBef>
                <a:spcPts val="600"/>
              </a:spcBef>
              <a:buClr>
                <a:schemeClr val="tx2">
                  <a:lumMod val="100000"/>
                </a:schemeClr>
              </a:buClr>
              <a:buSzPct val="100000"/>
            </a:pPr>
            <a:r>
              <a:rPr lang="en-US" altLang="zh-TW" sz="1200" err="1">
                <a:solidFill>
                  <a:schemeClr val="tx1">
                    <a:lumMod val="100000"/>
                  </a:schemeClr>
                </a:solidFill>
              </a:rPr>
              <a:t>APP</a:t>
            </a:r>
            <a:r>
              <a:rPr lang="en-US" sz="1200" err="1">
                <a:solidFill>
                  <a:schemeClr val="tx1">
                    <a:lumMod val="100000"/>
                  </a:schemeClr>
                </a:solidFill>
              </a:rPr>
              <a:t>啟</a:t>
            </a:r>
            <a:r>
              <a:rPr lang="zh-TW" altLang="en-US" sz="1200">
                <a:solidFill>
                  <a:schemeClr val="tx1">
                    <a:lumMod val="100000"/>
                  </a:schemeClr>
                </a:solidFill>
              </a:rPr>
              <a:t>用</a:t>
            </a:r>
            <a:r>
              <a:rPr lang="en-US" sz="1200">
                <a:solidFill>
                  <a:schemeClr val="tx1">
                    <a:lumMod val="100000"/>
                  </a:schemeClr>
                </a:solidFill>
              </a:rPr>
              <a:t>、</a:t>
            </a:r>
            <a:r>
              <a:rPr lang="en-US" altLang="zh-TW" sz="1200" err="1">
                <a:solidFill>
                  <a:schemeClr val="tx1">
                    <a:lumMod val="100000"/>
                  </a:schemeClr>
                </a:solidFill>
              </a:rPr>
              <a:t>APP</a:t>
            </a:r>
            <a:r>
              <a:rPr lang="en-US" sz="1200" err="1">
                <a:solidFill>
                  <a:schemeClr val="tx1">
                    <a:lumMod val="100000"/>
                  </a:schemeClr>
                </a:solidFill>
              </a:rPr>
              <a:t>登入等</a:t>
            </a:r>
            <a:endParaRPr lang="en-US" sz="1200">
              <a:solidFill>
                <a:schemeClr val="tx1">
                  <a:lumMod val="100000"/>
                </a:schemeClr>
              </a:solidFill>
            </a:endParaRPr>
          </a:p>
        </p:txBody>
      </p:sp>
      <p:sp>
        <p:nvSpPr>
          <p:cNvPr id="51" name="ee4pHeader1"/>
          <p:cNvSpPr txBox="1"/>
          <p:nvPr/>
        </p:nvSpPr>
        <p:spPr>
          <a:xfrm>
            <a:off x="638930" y="2371030"/>
            <a:ext cx="4720861" cy="507187"/>
          </a:xfrm>
          <a:prstGeom prst="rect">
            <a:avLst/>
          </a:prstGeom>
          <a:solidFill>
            <a:srgbClr val="FFFFFF"/>
          </a:solidFill>
          <a:ln w="6858" cap="rnd" cmpd="sng" algn="ctr">
            <a:solidFill>
              <a:srgbClr val="29BA74"/>
            </a:solidFill>
            <a:prstDash val="solid"/>
            <a:round/>
            <a:headEnd type="none" w="med" len="med"/>
            <a:tailEnd type="none" w="med" len="med"/>
          </a:ln>
        </p:spPr>
        <p:txBody>
          <a:bodyPr wrap="square" lIns="0" tIns="0" rIns="0" bIns="0" rtlCol="0" anchor="ctr" anchorCtr="0">
            <a:noAutofit/>
          </a:bodyPr>
          <a:lstStyle/>
          <a:p>
            <a:pPr marL="0" lvl="3" algn="ctr"/>
            <a:r>
              <a:rPr lang="en-US" sz="1400">
                <a:solidFill>
                  <a:srgbClr val="295E7E"/>
                </a:solidFill>
              </a:rPr>
              <a:t>240+</a:t>
            </a:r>
          </a:p>
          <a:p>
            <a:pPr marL="0" lvl="3" algn="ctr"/>
            <a:r>
              <a:rPr lang="zh-TW" altLang="en-US" sz="1400">
                <a:solidFill>
                  <a:schemeClr val="tx2"/>
                </a:solidFill>
              </a:rPr>
              <a:t>規模化激活</a:t>
            </a:r>
            <a:r>
              <a:rPr lang="en-US" sz="1400">
                <a:solidFill>
                  <a:schemeClr val="tx2"/>
                </a:solidFill>
              </a:rPr>
              <a:t>、</a:t>
            </a:r>
            <a:r>
              <a:rPr lang="zh-TW" altLang="en-US" sz="1400">
                <a:solidFill>
                  <a:schemeClr val="tx2"/>
                </a:solidFill>
              </a:rPr>
              <a:t>觸發成為主力銀行、新產品優惠</a:t>
            </a:r>
            <a:endParaRPr lang="en-US" sz="1400">
              <a:solidFill>
                <a:srgbClr val="295E7E"/>
              </a:solidFill>
            </a:endParaRPr>
          </a:p>
        </p:txBody>
      </p:sp>
      <p:sp>
        <p:nvSpPr>
          <p:cNvPr id="52" name="ee4pHeader2"/>
          <p:cNvSpPr txBox="1"/>
          <p:nvPr/>
        </p:nvSpPr>
        <p:spPr>
          <a:xfrm>
            <a:off x="5536596" y="2371030"/>
            <a:ext cx="2767970" cy="507187"/>
          </a:xfrm>
          <a:prstGeom prst="rect">
            <a:avLst/>
          </a:prstGeom>
          <a:solidFill>
            <a:srgbClr val="FFFFFF"/>
          </a:solidFill>
          <a:ln w="6858" cap="rnd" cmpd="sng" algn="ctr">
            <a:solidFill>
              <a:srgbClr val="29BA74"/>
            </a:solidFill>
            <a:prstDash val="solid"/>
            <a:round/>
            <a:headEnd type="none" w="med" len="med"/>
            <a:tailEnd type="none" w="med" len="med"/>
          </a:ln>
        </p:spPr>
        <p:txBody>
          <a:bodyPr wrap="square" lIns="0" tIns="0" rIns="0" bIns="0" rtlCol="0" anchor="ctr" anchorCtr="0">
            <a:noAutofit/>
          </a:bodyPr>
          <a:lstStyle/>
          <a:p>
            <a:pPr marL="0" lvl="3" algn="ctr"/>
            <a:r>
              <a:rPr lang="en-US" sz="1400">
                <a:solidFill>
                  <a:srgbClr val="295E7E"/>
                </a:solidFill>
              </a:rPr>
              <a:t>30+</a:t>
            </a:r>
          </a:p>
          <a:p>
            <a:pPr marL="0" lvl="3" algn="ctr"/>
            <a:r>
              <a:rPr lang="zh-TW" altLang="en-US" sz="1400">
                <a:solidFill>
                  <a:schemeClr val="tx2"/>
                </a:solidFill>
              </a:rPr>
              <a:t>規模化</a:t>
            </a:r>
            <a:r>
              <a:rPr lang="en-US" sz="1400" err="1">
                <a:solidFill>
                  <a:schemeClr val="tx2"/>
                </a:solidFill>
              </a:rPr>
              <a:t>跨售優惠</a:t>
            </a:r>
            <a:endParaRPr lang="en-US" sz="1400">
              <a:solidFill>
                <a:srgbClr val="295E7E"/>
              </a:solidFill>
            </a:endParaRPr>
          </a:p>
        </p:txBody>
      </p:sp>
      <p:sp>
        <p:nvSpPr>
          <p:cNvPr id="53" name="ee4pHeader3"/>
          <p:cNvSpPr txBox="1"/>
          <p:nvPr/>
        </p:nvSpPr>
        <p:spPr>
          <a:xfrm>
            <a:off x="8673307" y="2371030"/>
            <a:ext cx="2888322" cy="507187"/>
          </a:xfrm>
          <a:prstGeom prst="rect">
            <a:avLst/>
          </a:prstGeom>
          <a:solidFill>
            <a:srgbClr val="FFFFFF"/>
          </a:solidFill>
          <a:ln w="6858" cap="rnd" cmpd="sng" algn="ctr">
            <a:solidFill>
              <a:srgbClr val="29BA74"/>
            </a:solidFill>
            <a:prstDash val="solid"/>
            <a:round/>
            <a:headEnd type="none" w="med" len="med"/>
            <a:tailEnd type="none" w="med" len="med"/>
          </a:ln>
        </p:spPr>
        <p:txBody>
          <a:bodyPr wrap="square" lIns="0" tIns="0" rIns="0" bIns="0" rtlCol="0" anchor="ctr" anchorCtr="0">
            <a:noAutofit/>
          </a:bodyPr>
          <a:lstStyle/>
          <a:p>
            <a:pPr marL="0" lvl="3" algn="ctr"/>
            <a:r>
              <a:rPr lang="en-US" sz="1400">
                <a:solidFill>
                  <a:srgbClr val="295E7E"/>
                </a:solidFill>
              </a:rPr>
              <a:t>40+</a:t>
            </a:r>
          </a:p>
          <a:p>
            <a:pPr marL="0" lvl="3" algn="ctr"/>
            <a:r>
              <a:rPr lang="en-US" sz="1400" err="1">
                <a:solidFill>
                  <a:schemeClr val="tx2"/>
                </a:solidFill>
              </a:rPr>
              <a:t>擴大即時優惠</a:t>
            </a:r>
            <a:endParaRPr lang="en-US" sz="1400">
              <a:solidFill>
                <a:srgbClr val="295E7E"/>
              </a:solidFill>
            </a:endParaRPr>
          </a:p>
        </p:txBody>
      </p:sp>
      <p:sp>
        <p:nvSpPr>
          <p:cNvPr id="54" name="Rounded Rectangle 2">
            <a:extLst>
              <a:ext uri="{FF2B5EF4-FFF2-40B4-BE49-F238E27FC236}">
                <a16:creationId xmlns:a16="http://schemas.microsoft.com/office/drawing/2014/main" id="{FF6100CC-E342-4D4D-92E2-0D695F332455}"/>
              </a:ext>
            </a:extLst>
          </p:cNvPr>
          <p:cNvSpPr/>
          <p:nvPr/>
        </p:nvSpPr>
        <p:spPr bwMode="auto">
          <a:xfrm>
            <a:off x="638930" y="4751737"/>
            <a:ext cx="4720860" cy="744022"/>
          </a:xfrm>
          <a:prstGeom prst="roundRect">
            <a:avLst>
              <a:gd name="adj" fmla="val 0"/>
            </a:avLst>
          </a:prstGeom>
          <a:noFill/>
          <a:ln w="18288" cap="flat" cmpd="sng" algn="ctr">
            <a:solidFill>
              <a:srgbClr val="6E6F73"/>
            </a:solidFill>
            <a:prstDash val="solid"/>
            <a:miter lim="800000"/>
            <a:headEnd type="none" w="sm" len="sm"/>
            <a:tailEnd type="triangle" w="med" len="med"/>
          </a:ln>
          <a:effectLst>
            <a:innerShdw blurRad="76200">
              <a:prstClr val="black"/>
            </a:innerShdw>
          </a:effectLst>
          <a:extLst>
            <a:ext uri="{909E8E84-426E-40DD-AFC4-6F175D3DCCD1}">
              <a14:hiddenFill xmlns:a14="http://schemas.microsoft.com/office/drawing/2010/main">
                <a:solidFill>
                  <a:srgbClr val="FFFFFF"/>
                </a:solidFill>
              </a14:hiddenFill>
            </a:ext>
          </a:extLst>
        </p:spPr>
        <p:txBody>
          <a:bodyPr vert="horz" wrap="none" lIns="65837" tIns="32918" rIns="65837" bIns="32918"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600" b="0" i="0" u="none" strike="noStrike" cap="none" normalizeH="0" baseline="0">
              <a:ln>
                <a:noFill/>
              </a:ln>
              <a:solidFill>
                <a:schemeClr val="tx1"/>
              </a:solidFill>
              <a:effectLst/>
              <a:latin typeface="Arial" charset="0"/>
            </a:endParaRPr>
          </a:p>
        </p:txBody>
      </p:sp>
      <p:sp>
        <p:nvSpPr>
          <p:cNvPr id="55" name="Rounded Rectangle 2">
            <a:extLst>
              <a:ext uri="{FF2B5EF4-FFF2-40B4-BE49-F238E27FC236}">
                <a16:creationId xmlns:a16="http://schemas.microsoft.com/office/drawing/2014/main" id="{2E06FC8D-95E7-411D-9D0E-E70DD0F3DDF3}"/>
              </a:ext>
            </a:extLst>
          </p:cNvPr>
          <p:cNvSpPr/>
          <p:nvPr/>
        </p:nvSpPr>
        <p:spPr bwMode="auto">
          <a:xfrm>
            <a:off x="638930" y="5703694"/>
            <a:ext cx="4720860" cy="744022"/>
          </a:xfrm>
          <a:prstGeom prst="roundRect">
            <a:avLst>
              <a:gd name="adj" fmla="val 0"/>
            </a:avLst>
          </a:prstGeom>
          <a:noFill/>
          <a:ln w="18288" cap="flat" cmpd="sng" algn="ctr">
            <a:solidFill>
              <a:srgbClr val="6E6F73"/>
            </a:solidFill>
            <a:prstDash val="solid"/>
            <a:miter lim="800000"/>
            <a:headEnd type="none" w="sm" len="sm"/>
            <a:tailEnd type="triangle" w="med" len="med"/>
          </a:ln>
          <a:effectLst>
            <a:innerShdw blurRad="76200">
              <a:prstClr val="black"/>
            </a:innerShdw>
          </a:effectLst>
          <a:extLst>
            <a:ext uri="{909E8E84-426E-40DD-AFC4-6F175D3DCCD1}">
              <a14:hiddenFill xmlns:a14="http://schemas.microsoft.com/office/drawing/2010/main">
                <a:solidFill>
                  <a:srgbClr val="FFFFFF"/>
                </a:solidFill>
              </a14:hiddenFill>
            </a:ext>
          </a:extLst>
        </p:spPr>
        <p:txBody>
          <a:bodyPr vert="horz" wrap="none" lIns="65837" tIns="32918" rIns="65837" bIns="32918"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600" b="0" i="0" u="none" strike="noStrike" cap="none" normalizeH="0" baseline="0">
              <a:ln>
                <a:noFill/>
              </a:ln>
              <a:solidFill>
                <a:schemeClr val="tx1"/>
              </a:solidFill>
              <a:effectLst/>
              <a:latin typeface="Arial" charset="0"/>
            </a:endParaRPr>
          </a:p>
        </p:txBody>
      </p:sp>
      <p:grpSp>
        <p:nvGrpSpPr>
          <p:cNvPr id="66" name="bcgIcons_InteractiveHand">
            <a:extLst>
              <a:ext uri="{FF2B5EF4-FFF2-40B4-BE49-F238E27FC236}">
                <a16:creationId xmlns:a16="http://schemas.microsoft.com/office/drawing/2014/main" id="{4D934E72-C9E5-47F8-A35C-3E197E8DE1C9}"/>
              </a:ext>
            </a:extLst>
          </p:cNvPr>
          <p:cNvGrpSpPr>
            <a:grpSpLocks noChangeAspect="1"/>
          </p:cNvGrpSpPr>
          <p:nvPr/>
        </p:nvGrpSpPr>
        <p:grpSpPr bwMode="auto">
          <a:xfrm>
            <a:off x="688762" y="3211242"/>
            <a:ext cx="416494" cy="416881"/>
            <a:chOff x="1682" y="0"/>
            <a:chExt cx="4316" cy="4320"/>
          </a:xfrm>
        </p:grpSpPr>
        <p:sp>
          <p:nvSpPr>
            <p:cNvPr id="151" name="AutoShape 13">
              <a:extLst>
                <a:ext uri="{FF2B5EF4-FFF2-40B4-BE49-F238E27FC236}">
                  <a16:creationId xmlns:a16="http://schemas.microsoft.com/office/drawing/2014/main" id="{C08B98B9-ED82-4A68-97ED-EF6AD5F92E07}"/>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5837" tIns="32918" rIns="65837" bIns="32918" numCol="1" anchor="t" anchorCtr="0" compatLnSpc="1">
              <a:prstTxWarp prst="textNoShape">
                <a:avLst/>
              </a:prstTxWarp>
            </a:bodyPr>
            <a:lstStyle/>
            <a:p>
              <a:endParaRPr lang="en-US"/>
            </a:p>
          </p:txBody>
        </p:sp>
        <p:sp>
          <p:nvSpPr>
            <p:cNvPr id="152" name="Freeform 15">
              <a:extLst>
                <a:ext uri="{FF2B5EF4-FFF2-40B4-BE49-F238E27FC236}">
                  <a16:creationId xmlns:a16="http://schemas.microsoft.com/office/drawing/2014/main" id="{D11ECF7B-A83D-4992-8AC3-B90697EFC1D8}"/>
                </a:ext>
              </a:extLst>
            </p:cNvPr>
            <p:cNvSpPr>
              <a:spLocks/>
            </p:cNvSpPr>
            <p:nvPr/>
          </p:nvSpPr>
          <p:spPr bwMode="auto">
            <a:xfrm>
              <a:off x="2795" y="821"/>
              <a:ext cx="2120" cy="2351"/>
            </a:xfrm>
            <a:custGeom>
              <a:avLst/>
              <a:gdLst>
                <a:gd name="T0" fmla="*/ 1012 w 1132"/>
                <a:gd name="T1" fmla="*/ 516 h 1254"/>
                <a:gd name="T2" fmla="*/ 931 w 1132"/>
                <a:gd name="T3" fmla="*/ 548 h 1254"/>
                <a:gd name="T4" fmla="*/ 816 w 1132"/>
                <a:gd name="T5" fmla="*/ 462 h 1254"/>
                <a:gd name="T6" fmla="*/ 735 w 1132"/>
                <a:gd name="T7" fmla="*/ 492 h 1254"/>
                <a:gd name="T8" fmla="*/ 620 w 1132"/>
                <a:gd name="T9" fmla="*/ 404 h 1254"/>
                <a:gd name="T10" fmla="*/ 544 w 1132"/>
                <a:gd name="T11" fmla="*/ 431 h 1254"/>
                <a:gd name="T12" fmla="*/ 544 w 1132"/>
                <a:gd name="T13" fmla="*/ 120 h 1254"/>
                <a:gd name="T14" fmla="*/ 424 w 1132"/>
                <a:gd name="T15" fmla="*/ 0 h 1254"/>
                <a:gd name="T16" fmla="*/ 304 w 1132"/>
                <a:gd name="T17" fmla="*/ 120 h 1254"/>
                <a:gd name="T18" fmla="*/ 304 w 1132"/>
                <a:gd name="T19" fmla="*/ 774 h 1254"/>
                <a:gd name="T20" fmla="*/ 231 w 1132"/>
                <a:gd name="T21" fmla="*/ 670 h 1254"/>
                <a:gd name="T22" fmla="*/ 72 w 1132"/>
                <a:gd name="T23" fmla="*/ 637 h 1254"/>
                <a:gd name="T24" fmla="*/ 30 w 1132"/>
                <a:gd name="T25" fmla="*/ 794 h 1254"/>
                <a:gd name="T26" fmla="*/ 278 w 1132"/>
                <a:gd name="T27" fmla="*/ 1254 h 1254"/>
                <a:gd name="T28" fmla="*/ 312 w 1132"/>
                <a:gd name="T29" fmla="*/ 1225 h 1254"/>
                <a:gd name="T30" fmla="*/ 68 w 1132"/>
                <a:gd name="T31" fmla="*/ 774 h 1254"/>
                <a:gd name="T32" fmla="*/ 95 w 1132"/>
                <a:gd name="T33" fmla="*/ 675 h 1254"/>
                <a:gd name="T34" fmla="*/ 195 w 1132"/>
                <a:gd name="T35" fmla="*/ 695 h 1254"/>
                <a:gd name="T36" fmla="*/ 308 w 1132"/>
                <a:gd name="T37" fmla="*/ 856 h 1254"/>
                <a:gd name="T38" fmla="*/ 332 w 1132"/>
                <a:gd name="T39" fmla="*/ 865 h 1254"/>
                <a:gd name="T40" fmla="*/ 348 w 1132"/>
                <a:gd name="T41" fmla="*/ 844 h 1254"/>
                <a:gd name="T42" fmla="*/ 348 w 1132"/>
                <a:gd name="T43" fmla="*/ 120 h 1254"/>
                <a:gd name="T44" fmla="*/ 424 w 1132"/>
                <a:gd name="T45" fmla="*/ 44 h 1254"/>
                <a:gd name="T46" fmla="*/ 500 w 1132"/>
                <a:gd name="T47" fmla="*/ 120 h 1254"/>
                <a:gd name="T48" fmla="*/ 500 w 1132"/>
                <a:gd name="T49" fmla="*/ 524 h 1254"/>
                <a:gd name="T50" fmla="*/ 500 w 1132"/>
                <a:gd name="T51" fmla="*/ 636 h 1254"/>
                <a:gd name="T52" fmla="*/ 500 w 1132"/>
                <a:gd name="T53" fmla="*/ 647 h 1254"/>
                <a:gd name="T54" fmla="*/ 522 w 1132"/>
                <a:gd name="T55" fmla="*/ 669 h 1254"/>
                <a:gd name="T56" fmla="*/ 544 w 1132"/>
                <a:gd name="T57" fmla="*/ 647 h 1254"/>
                <a:gd name="T58" fmla="*/ 544 w 1132"/>
                <a:gd name="T59" fmla="*/ 636 h 1254"/>
                <a:gd name="T60" fmla="*/ 544 w 1132"/>
                <a:gd name="T61" fmla="*/ 524 h 1254"/>
                <a:gd name="T62" fmla="*/ 620 w 1132"/>
                <a:gd name="T63" fmla="*/ 448 h 1254"/>
                <a:gd name="T64" fmla="*/ 696 w 1132"/>
                <a:gd name="T65" fmla="*/ 524 h 1254"/>
                <a:gd name="T66" fmla="*/ 696 w 1132"/>
                <a:gd name="T67" fmla="*/ 582 h 1254"/>
                <a:gd name="T68" fmla="*/ 696 w 1132"/>
                <a:gd name="T69" fmla="*/ 621 h 1254"/>
                <a:gd name="T70" fmla="*/ 696 w 1132"/>
                <a:gd name="T71" fmla="*/ 665 h 1254"/>
                <a:gd name="T72" fmla="*/ 718 w 1132"/>
                <a:gd name="T73" fmla="*/ 687 h 1254"/>
                <a:gd name="T74" fmla="*/ 740 w 1132"/>
                <a:gd name="T75" fmla="*/ 665 h 1254"/>
                <a:gd name="T76" fmla="*/ 740 w 1132"/>
                <a:gd name="T77" fmla="*/ 621 h 1254"/>
                <a:gd name="T78" fmla="*/ 740 w 1132"/>
                <a:gd name="T79" fmla="*/ 582 h 1254"/>
                <a:gd name="T80" fmla="*/ 816 w 1132"/>
                <a:gd name="T81" fmla="*/ 506 h 1254"/>
                <a:gd name="T82" fmla="*/ 892 w 1132"/>
                <a:gd name="T83" fmla="*/ 582 h 1254"/>
                <a:gd name="T84" fmla="*/ 892 w 1132"/>
                <a:gd name="T85" fmla="*/ 636 h 1254"/>
                <a:gd name="T86" fmla="*/ 892 w 1132"/>
                <a:gd name="T87" fmla="*/ 672 h 1254"/>
                <a:gd name="T88" fmla="*/ 892 w 1132"/>
                <a:gd name="T89" fmla="*/ 691 h 1254"/>
                <a:gd name="T90" fmla="*/ 914 w 1132"/>
                <a:gd name="T91" fmla="*/ 713 h 1254"/>
                <a:gd name="T92" fmla="*/ 936 w 1132"/>
                <a:gd name="T93" fmla="*/ 691 h 1254"/>
                <a:gd name="T94" fmla="*/ 936 w 1132"/>
                <a:gd name="T95" fmla="*/ 672 h 1254"/>
                <a:gd name="T96" fmla="*/ 936 w 1132"/>
                <a:gd name="T97" fmla="*/ 636 h 1254"/>
                <a:gd name="T98" fmla="*/ 1012 w 1132"/>
                <a:gd name="T99" fmla="*/ 560 h 1254"/>
                <a:gd name="T100" fmla="*/ 1088 w 1132"/>
                <a:gd name="T101" fmla="*/ 636 h 1254"/>
                <a:gd name="T102" fmla="*/ 1088 w 1132"/>
                <a:gd name="T103" fmla="*/ 981 h 1254"/>
                <a:gd name="T104" fmla="*/ 1001 w 1132"/>
                <a:gd name="T105" fmla="*/ 1224 h 1254"/>
                <a:gd name="T106" fmla="*/ 1035 w 1132"/>
                <a:gd name="T107" fmla="*/ 1252 h 1254"/>
                <a:gd name="T108" fmla="*/ 1132 w 1132"/>
                <a:gd name="T109" fmla="*/ 981 h 1254"/>
                <a:gd name="T110" fmla="*/ 1132 w 1132"/>
                <a:gd name="T111" fmla="*/ 636 h 1254"/>
                <a:gd name="T112" fmla="*/ 1012 w 1132"/>
                <a:gd name="T113" fmla="*/ 516 h 1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32" h="1254">
                  <a:moveTo>
                    <a:pt x="1012" y="516"/>
                  </a:moveTo>
                  <a:cubicBezTo>
                    <a:pt x="981" y="516"/>
                    <a:pt x="952" y="528"/>
                    <a:pt x="931" y="548"/>
                  </a:cubicBezTo>
                  <a:cubicBezTo>
                    <a:pt x="916" y="498"/>
                    <a:pt x="870" y="462"/>
                    <a:pt x="816" y="462"/>
                  </a:cubicBezTo>
                  <a:cubicBezTo>
                    <a:pt x="785" y="462"/>
                    <a:pt x="757" y="473"/>
                    <a:pt x="735" y="492"/>
                  </a:cubicBezTo>
                  <a:cubicBezTo>
                    <a:pt x="722" y="442"/>
                    <a:pt x="675" y="404"/>
                    <a:pt x="620" y="404"/>
                  </a:cubicBezTo>
                  <a:cubicBezTo>
                    <a:pt x="591" y="404"/>
                    <a:pt x="564" y="414"/>
                    <a:pt x="544" y="431"/>
                  </a:cubicBezTo>
                  <a:cubicBezTo>
                    <a:pt x="544" y="120"/>
                    <a:pt x="544" y="120"/>
                    <a:pt x="544" y="120"/>
                  </a:cubicBezTo>
                  <a:cubicBezTo>
                    <a:pt x="544" y="54"/>
                    <a:pt x="490" y="0"/>
                    <a:pt x="424" y="0"/>
                  </a:cubicBezTo>
                  <a:cubicBezTo>
                    <a:pt x="357" y="0"/>
                    <a:pt x="304" y="54"/>
                    <a:pt x="304" y="120"/>
                  </a:cubicBezTo>
                  <a:cubicBezTo>
                    <a:pt x="304" y="774"/>
                    <a:pt x="304" y="774"/>
                    <a:pt x="304" y="774"/>
                  </a:cubicBezTo>
                  <a:cubicBezTo>
                    <a:pt x="231" y="670"/>
                    <a:pt x="231" y="670"/>
                    <a:pt x="231" y="670"/>
                  </a:cubicBezTo>
                  <a:cubicBezTo>
                    <a:pt x="195" y="619"/>
                    <a:pt x="125" y="605"/>
                    <a:pt x="72" y="637"/>
                  </a:cubicBezTo>
                  <a:cubicBezTo>
                    <a:pt x="18" y="670"/>
                    <a:pt x="0" y="739"/>
                    <a:pt x="30" y="794"/>
                  </a:cubicBezTo>
                  <a:cubicBezTo>
                    <a:pt x="278" y="1254"/>
                    <a:pt x="278" y="1254"/>
                    <a:pt x="278" y="1254"/>
                  </a:cubicBezTo>
                  <a:cubicBezTo>
                    <a:pt x="285" y="1241"/>
                    <a:pt x="298" y="1230"/>
                    <a:pt x="312" y="1225"/>
                  </a:cubicBezTo>
                  <a:cubicBezTo>
                    <a:pt x="68" y="774"/>
                    <a:pt x="68" y="774"/>
                    <a:pt x="68" y="774"/>
                  </a:cubicBezTo>
                  <a:cubicBezTo>
                    <a:pt x="50" y="739"/>
                    <a:pt x="61" y="695"/>
                    <a:pt x="95" y="675"/>
                  </a:cubicBezTo>
                  <a:cubicBezTo>
                    <a:pt x="128" y="654"/>
                    <a:pt x="172" y="664"/>
                    <a:pt x="195" y="695"/>
                  </a:cubicBezTo>
                  <a:cubicBezTo>
                    <a:pt x="308" y="856"/>
                    <a:pt x="308" y="856"/>
                    <a:pt x="308" y="856"/>
                  </a:cubicBezTo>
                  <a:cubicBezTo>
                    <a:pt x="313" y="864"/>
                    <a:pt x="323" y="868"/>
                    <a:pt x="332" y="865"/>
                  </a:cubicBezTo>
                  <a:cubicBezTo>
                    <a:pt x="341" y="862"/>
                    <a:pt x="348" y="853"/>
                    <a:pt x="348" y="844"/>
                  </a:cubicBezTo>
                  <a:cubicBezTo>
                    <a:pt x="348" y="120"/>
                    <a:pt x="348" y="120"/>
                    <a:pt x="348" y="120"/>
                  </a:cubicBezTo>
                  <a:cubicBezTo>
                    <a:pt x="348" y="78"/>
                    <a:pt x="382" y="44"/>
                    <a:pt x="424" y="44"/>
                  </a:cubicBezTo>
                  <a:cubicBezTo>
                    <a:pt x="466" y="44"/>
                    <a:pt x="500" y="78"/>
                    <a:pt x="500" y="120"/>
                  </a:cubicBezTo>
                  <a:cubicBezTo>
                    <a:pt x="500" y="524"/>
                    <a:pt x="500" y="524"/>
                    <a:pt x="500" y="524"/>
                  </a:cubicBezTo>
                  <a:cubicBezTo>
                    <a:pt x="500" y="636"/>
                    <a:pt x="500" y="636"/>
                    <a:pt x="500" y="636"/>
                  </a:cubicBezTo>
                  <a:cubicBezTo>
                    <a:pt x="500" y="647"/>
                    <a:pt x="500" y="647"/>
                    <a:pt x="500" y="647"/>
                  </a:cubicBezTo>
                  <a:cubicBezTo>
                    <a:pt x="500" y="659"/>
                    <a:pt x="510" y="669"/>
                    <a:pt x="522" y="669"/>
                  </a:cubicBezTo>
                  <a:cubicBezTo>
                    <a:pt x="534" y="669"/>
                    <a:pt x="544" y="659"/>
                    <a:pt x="544" y="647"/>
                  </a:cubicBezTo>
                  <a:cubicBezTo>
                    <a:pt x="544" y="636"/>
                    <a:pt x="544" y="636"/>
                    <a:pt x="544" y="636"/>
                  </a:cubicBezTo>
                  <a:cubicBezTo>
                    <a:pt x="544" y="524"/>
                    <a:pt x="544" y="524"/>
                    <a:pt x="544" y="524"/>
                  </a:cubicBezTo>
                  <a:cubicBezTo>
                    <a:pt x="544" y="482"/>
                    <a:pt x="578" y="448"/>
                    <a:pt x="620" y="448"/>
                  </a:cubicBezTo>
                  <a:cubicBezTo>
                    <a:pt x="662" y="448"/>
                    <a:pt x="696" y="482"/>
                    <a:pt x="696" y="524"/>
                  </a:cubicBezTo>
                  <a:cubicBezTo>
                    <a:pt x="696" y="582"/>
                    <a:pt x="696" y="582"/>
                    <a:pt x="696" y="582"/>
                  </a:cubicBezTo>
                  <a:cubicBezTo>
                    <a:pt x="696" y="621"/>
                    <a:pt x="696" y="621"/>
                    <a:pt x="696" y="621"/>
                  </a:cubicBezTo>
                  <a:cubicBezTo>
                    <a:pt x="696" y="665"/>
                    <a:pt x="696" y="665"/>
                    <a:pt x="696" y="665"/>
                  </a:cubicBezTo>
                  <a:cubicBezTo>
                    <a:pt x="696" y="677"/>
                    <a:pt x="706" y="687"/>
                    <a:pt x="718" y="687"/>
                  </a:cubicBezTo>
                  <a:cubicBezTo>
                    <a:pt x="730" y="687"/>
                    <a:pt x="740" y="677"/>
                    <a:pt x="740" y="665"/>
                  </a:cubicBezTo>
                  <a:cubicBezTo>
                    <a:pt x="740" y="621"/>
                    <a:pt x="740" y="621"/>
                    <a:pt x="740" y="621"/>
                  </a:cubicBezTo>
                  <a:cubicBezTo>
                    <a:pt x="740" y="582"/>
                    <a:pt x="740" y="582"/>
                    <a:pt x="740" y="582"/>
                  </a:cubicBezTo>
                  <a:cubicBezTo>
                    <a:pt x="740" y="540"/>
                    <a:pt x="774" y="506"/>
                    <a:pt x="816" y="506"/>
                  </a:cubicBezTo>
                  <a:cubicBezTo>
                    <a:pt x="858" y="506"/>
                    <a:pt x="892" y="540"/>
                    <a:pt x="892" y="582"/>
                  </a:cubicBezTo>
                  <a:cubicBezTo>
                    <a:pt x="892" y="636"/>
                    <a:pt x="892" y="636"/>
                    <a:pt x="892" y="636"/>
                  </a:cubicBezTo>
                  <a:cubicBezTo>
                    <a:pt x="892" y="672"/>
                    <a:pt x="892" y="672"/>
                    <a:pt x="892" y="672"/>
                  </a:cubicBezTo>
                  <a:cubicBezTo>
                    <a:pt x="892" y="691"/>
                    <a:pt x="892" y="691"/>
                    <a:pt x="892" y="691"/>
                  </a:cubicBezTo>
                  <a:cubicBezTo>
                    <a:pt x="892" y="704"/>
                    <a:pt x="902" y="713"/>
                    <a:pt x="914" y="713"/>
                  </a:cubicBezTo>
                  <a:cubicBezTo>
                    <a:pt x="926" y="713"/>
                    <a:pt x="936" y="704"/>
                    <a:pt x="936" y="691"/>
                  </a:cubicBezTo>
                  <a:cubicBezTo>
                    <a:pt x="936" y="672"/>
                    <a:pt x="936" y="672"/>
                    <a:pt x="936" y="672"/>
                  </a:cubicBezTo>
                  <a:cubicBezTo>
                    <a:pt x="936" y="636"/>
                    <a:pt x="936" y="636"/>
                    <a:pt x="936" y="636"/>
                  </a:cubicBezTo>
                  <a:cubicBezTo>
                    <a:pt x="936" y="594"/>
                    <a:pt x="970" y="560"/>
                    <a:pt x="1012" y="560"/>
                  </a:cubicBezTo>
                  <a:cubicBezTo>
                    <a:pt x="1054" y="560"/>
                    <a:pt x="1088" y="594"/>
                    <a:pt x="1088" y="636"/>
                  </a:cubicBezTo>
                  <a:cubicBezTo>
                    <a:pt x="1088" y="981"/>
                    <a:pt x="1088" y="981"/>
                    <a:pt x="1088" y="981"/>
                  </a:cubicBezTo>
                  <a:cubicBezTo>
                    <a:pt x="1088" y="1014"/>
                    <a:pt x="1088" y="1110"/>
                    <a:pt x="1001" y="1224"/>
                  </a:cubicBezTo>
                  <a:cubicBezTo>
                    <a:pt x="1015" y="1229"/>
                    <a:pt x="1027" y="1239"/>
                    <a:pt x="1035" y="1252"/>
                  </a:cubicBezTo>
                  <a:cubicBezTo>
                    <a:pt x="1100" y="1167"/>
                    <a:pt x="1132" y="1078"/>
                    <a:pt x="1132" y="981"/>
                  </a:cubicBezTo>
                  <a:cubicBezTo>
                    <a:pt x="1132" y="636"/>
                    <a:pt x="1132" y="636"/>
                    <a:pt x="1132" y="636"/>
                  </a:cubicBezTo>
                  <a:cubicBezTo>
                    <a:pt x="1132" y="570"/>
                    <a:pt x="1078" y="516"/>
                    <a:pt x="1012" y="51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5837" tIns="32918" rIns="65837" bIns="32918" numCol="1" anchor="t" anchorCtr="0" compatLnSpc="1">
              <a:prstTxWarp prst="textNoShape">
                <a:avLst/>
              </a:prstTxWarp>
            </a:bodyPr>
            <a:lstStyle/>
            <a:p>
              <a:endParaRPr lang="en-US"/>
            </a:p>
          </p:txBody>
        </p:sp>
        <p:sp>
          <p:nvSpPr>
            <p:cNvPr id="153" name="Freeform 16">
              <a:extLst>
                <a:ext uri="{FF2B5EF4-FFF2-40B4-BE49-F238E27FC236}">
                  <a16:creationId xmlns:a16="http://schemas.microsoft.com/office/drawing/2014/main" id="{7282781C-79BA-44AB-9339-C1C20DD283D1}"/>
                </a:ext>
              </a:extLst>
            </p:cNvPr>
            <p:cNvSpPr>
              <a:spLocks noEditPoints="1"/>
            </p:cNvSpPr>
            <p:nvPr/>
          </p:nvSpPr>
          <p:spPr bwMode="auto">
            <a:xfrm>
              <a:off x="3145" y="420"/>
              <a:ext cx="1523" cy="3456"/>
            </a:xfrm>
            <a:custGeom>
              <a:avLst/>
              <a:gdLst>
                <a:gd name="T0" fmla="*/ 472 w 813"/>
                <a:gd name="T1" fmla="*/ 236 h 1843"/>
                <a:gd name="T2" fmla="*/ 401 w 813"/>
                <a:gd name="T3" fmla="*/ 405 h 1843"/>
                <a:gd name="T4" fmla="*/ 401 w 813"/>
                <a:gd name="T5" fmla="*/ 334 h 1843"/>
                <a:gd name="T6" fmla="*/ 237 w 813"/>
                <a:gd name="T7" fmla="*/ 170 h 1843"/>
                <a:gd name="T8" fmla="*/ 73 w 813"/>
                <a:gd name="T9" fmla="*/ 334 h 1843"/>
                <a:gd name="T10" fmla="*/ 73 w 813"/>
                <a:gd name="T11" fmla="*/ 407 h 1843"/>
                <a:gd name="T12" fmla="*/ 0 w 813"/>
                <a:gd name="T13" fmla="*/ 236 h 1843"/>
                <a:gd name="T14" fmla="*/ 236 w 813"/>
                <a:gd name="T15" fmla="*/ 0 h 1843"/>
                <a:gd name="T16" fmla="*/ 472 w 813"/>
                <a:gd name="T17" fmla="*/ 236 h 1843"/>
                <a:gd name="T18" fmla="*/ 813 w 813"/>
                <a:gd name="T19" fmla="*/ 1500 h 1843"/>
                <a:gd name="T20" fmla="*/ 791 w 813"/>
                <a:gd name="T21" fmla="*/ 1478 h 1843"/>
                <a:gd name="T22" fmla="*/ 149 w 813"/>
                <a:gd name="T23" fmla="*/ 1478 h 1843"/>
                <a:gd name="T24" fmla="*/ 127 w 813"/>
                <a:gd name="T25" fmla="*/ 1500 h 1843"/>
                <a:gd name="T26" fmla="*/ 127 w 813"/>
                <a:gd name="T27" fmla="*/ 1821 h 1843"/>
                <a:gd name="T28" fmla="*/ 149 w 813"/>
                <a:gd name="T29" fmla="*/ 1843 h 1843"/>
                <a:gd name="T30" fmla="*/ 791 w 813"/>
                <a:gd name="T31" fmla="*/ 1843 h 1843"/>
                <a:gd name="T32" fmla="*/ 813 w 813"/>
                <a:gd name="T33" fmla="*/ 1821 h 1843"/>
                <a:gd name="T34" fmla="*/ 813 w 813"/>
                <a:gd name="T35" fmla="*/ 1500 h 1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13" h="1843">
                  <a:moveTo>
                    <a:pt x="472" y="236"/>
                  </a:moveTo>
                  <a:cubicBezTo>
                    <a:pt x="472" y="302"/>
                    <a:pt x="445" y="362"/>
                    <a:pt x="401" y="405"/>
                  </a:cubicBezTo>
                  <a:cubicBezTo>
                    <a:pt x="401" y="334"/>
                    <a:pt x="401" y="334"/>
                    <a:pt x="401" y="334"/>
                  </a:cubicBezTo>
                  <a:cubicBezTo>
                    <a:pt x="401" y="244"/>
                    <a:pt x="327" y="170"/>
                    <a:pt x="237" y="170"/>
                  </a:cubicBezTo>
                  <a:cubicBezTo>
                    <a:pt x="146" y="170"/>
                    <a:pt x="73" y="244"/>
                    <a:pt x="73" y="334"/>
                  </a:cubicBezTo>
                  <a:cubicBezTo>
                    <a:pt x="73" y="407"/>
                    <a:pt x="73" y="407"/>
                    <a:pt x="73" y="407"/>
                  </a:cubicBezTo>
                  <a:cubicBezTo>
                    <a:pt x="28" y="364"/>
                    <a:pt x="0" y="303"/>
                    <a:pt x="0" y="236"/>
                  </a:cubicBezTo>
                  <a:cubicBezTo>
                    <a:pt x="0" y="106"/>
                    <a:pt x="106" y="0"/>
                    <a:pt x="236" y="0"/>
                  </a:cubicBezTo>
                  <a:cubicBezTo>
                    <a:pt x="366" y="0"/>
                    <a:pt x="472" y="106"/>
                    <a:pt x="472" y="236"/>
                  </a:cubicBezTo>
                  <a:close/>
                  <a:moveTo>
                    <a:pt x="813" y="1500"/>
                  </a:moveTo>
                  <a:cubicBezTo>
                    <a:pt x="813" y="1488"/>
                    <a:pt x="803" y="1478"/>
                    <a:pt x="791" y="1478"/>
                  </a:cubicBezTo>
                  <a:cubicBezTo>
                    <a:pt x="149" y="1478"/>
                    <a:pt x="149" y="1478"/>
                    <a:pt x="149" y="1478"/>
                  </a:cubicBezTo>
                  <a:cubicBezTo>
                    <a:pt x="136" y="1478"/>
                    <a:pt x="127" y="1488"/>
                    <a:pt x="127" y="1500"/>
                  </a:cubicBezTo>
                  <a:cubicBezTo>
                    <a:pt x="127" y="1821"/>
                    <a:pt x="127" y="1821"/>
                    <a:pt x="127" y="1821"/>
                  </a:cubicBezTo>
                  <a:cubicBezTo>
                    <a:pt x="127" y="1833"/>
                    <a:pt x="136" y="1843"/>
                    <a:pt x="149" y="1843"/>
                  </a:cubicBezTo>
                  <a:cubicBezTo>
                    <a:pt x="791" y="1843"/>
                    <a:pt x="791" y="1843"/>
                    <a:pt x="791" y="1843"/>
                  </a:cubicBezTo>
                  <a:cubicBezTo>
                    <a:pt x="803" y="1843"/>
                    <a:pt x="813" y="1833"/>
                    <a:pt x="813" y="1821"/>
                  </a:cubicBezTo>
                  <a:lnTo>
                    <a:pt x="813" y="150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5837" tIns="32918" rIns="65837" bIns="32918" numCol="1" anchor="t" anchorCtr="0" compatLnSpc="1">
              <a:prstTxWarp prst="textNoShape">
                <a:avLst/>
              </a:prstTxWarp>
            </a:bodyPr>
            <a:lstStyle/>
            <a:p>
              <a:endParaRPr lang="en-US"/>
            </a:p>
          </p:txBody>
        </p:sp>
      </p:grpSp>
      <p:grpSp>
        <p:nvGrpSpPr>
          <p:cNvPr id="67" name="Group 66">
            <a:extLst>
              <a:ext uri="{FF2B5EF4-FFF2-40B4-BE49-F238E27FC236}">
                <a16:creationId xmlns:a16="http://schemas.microsoft.com/office/drawing/2014/main" id="{0852615B-C735-4AB2-9A68-60373BF06546}"/>
              </a:ext>
            </a:extLst>
          </p:cNvPr>
          <p:cNvGrpSpPr>
            <a:grpSpLocks noChangeAspect="1"/>
          </p:cNvGrpSpPr>
          <p:nvPr/>
        </p:nvGrpSpPr>
        <p:grpSpPr>
          <a:xfrm>
            <a:off x="688367" y="4915308"/>
            <a:ext cx="417284" cy="416881"/>
            <a:chOff x="6464300" y="2606675"/>
            <a:chExt cx="1646238" cy="1644650"/>
          </a:xfrm>
        </p:grpSpPr>
        <p:sp>
          <p:nvSpPr>
            <p:cNvPr id="147" name="AutoShape 3">
              <a:extLst>
                <a:ext uri="{FF2B5EF4-FFF2-40B4-BE49-F238E27FC236}">
                  <a16:creationId xmlns:a16="http://schemas.microsoft.com/office/drawing/2014/main" id="{9D7E155D-9F3B-41AB-9CDE-3D6AEB140D04}"/>
                </a:ext>
              </a:extLst>
            </p:cNvPr>
            <p:cNvSpPr>
              <a:spLocks noChangeAspect="1" noChangeArrowheads="1" noTextEdit="1"/>
            </p:cNvSpPr>
            <p:nvPr/>
          </p:nvSpPr>
          <p:spPr bwMode="auto">
            <a:xfrm>
              <a:off x="6464300"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5837" tIns="32918" rIns="65837" bIns="32918" numCol="1" anchor="t" anchorCtr="0" compatLnSpc="1">
              <a:prstTxWarp prst="textNoShape">
                <a:avLst/>
              </a:prstTxWarp>
            </a:bodyPr>
            <a:lstStyle/>
            <a:p>
              <a:endParaRPr lang="en-US"/>
            </a:p>
          </p:txBody>
        </p:sp>
        <p:grpSp>
          <p:nvGrpSpPr>
            <p:cNvPr id="148" name="Group 147">
              <a:extLst>
                <a:ext uri="{FF2B5EF4-FFF2-40B4-BE49-F238E27FC236}">
                  <a16:creationId xmlns:a16="http://schemas.microsoft.com/office/drawing/2014/main" id="{46A0A8AA-B353-4443-90DA-16506B8185E7}"/>
                </a:ext>
              </a:extLst>
            </p:cNvPr>
            <p:cNvGrpSpPr/>
            <p:nvPr/>
          </p:nvGrpSpPr>
          <p:grpSpPr>
            <a:xfrm>
              <a:off x="6729413" y="2881312"/>
              <a:ext cx="1146175" cy="1125538"/>
              <a:chOff x="6729413" y="2881312"/>
              <a:chExt cx="1146175" cy="1125538"/>
            </a:xfrm>
          </p:grpSpPr>
          <p:sp>
            <p:nvSpPr>
              <p:cNvPr id="149" name="Freeform 10">
                <a:extLst>
                  <a:ext uri="{FF2B5EF4-FFF2-40B4-BE49-F238E27FC236}">
                    <a16:creationId xmlns:a16="http://schemas.microsoft.com/office/drawing/2014/main" id="{321C165B-33FB-4799-B991-5BB88BA0D4FE}"/>
                  </a:ext>
                </a:extLst>
              </p:cNvPr>
              <p:cNvSpPr>
                <a:spLocks/>
              </p:cNvSpPr>
              <p:nvPr/>
            </p:nvSpPr>
            <p:spPr bwMode="auto">
              <a:xfrm>
                <a:off x="6989763" y="2944813"/>
                <a:ext cx="822325" cy="336550"/>
              </a:xfrm>
              <a:custGeom>
                <a:avLst/>
                <a:gdLst>
                  <a:gd name="connsiteX0" fmla="*/ 485775 w 822325"/>
                  <a:gd name="connsiteY0" fmla="*/ 0 h 336550"/>
                  <a:gd name="connsiteX1" fmla="*/ 779453 w 822325"/>
                  <a:gd name="connsiteY1" fmla="*/ 0 h 336550"/>
                  <a:gd name="connsiteX2" fmla="*/ 822325 w 822325"/>
                  <a:gd name="connsiteY2" fmla="*/ 39134 h 336550"/>
                  <a:gd name="connsiteX3" fmla="*/ 822325 w 822325"/>
                  <a:gd name="connsiteY3" fmla="*/ 300974 h 336550"/>
                  <a:gd name="connsiteX4" fmla="*/ 780167 w 822325"/>
                  <a:gd name="connsiteY4" fmla="*/ 336550 h 336550"/>
                  <a:gd name="connsiteX5" fmla="*/ 487919 w 822325"/>
                  <a:gd name="connsiteY5" fmla="*/ 336550 h 336550"/>
                  <a:gd name="connsiteX6" fmla="*/ 552228 w 822325"/>
                  <a:gd name="connsiteY6" fmla="*/ 169342 h 336550"/>
                  <a:gd name="connsiteX7" fmla="*/ 485775 w 822325"/>
                  <a:gd name="connsiteY7" fmla="*/ 0 h 336550"/>
                  <a:gd name="connsiteX8" fmla="*/ 41444 w 822325"/>
                  <a:gd name="connsiteY8" fmla="*/ 0 h 336550"/>
                  <a:gd name="connsiteX9" fmla="*/ 336550 w 822325"/>
                  <a:gd name="connsiteY9" fmla="*/ 0 h 336550"/>
                  <a:gd name="connsiteX10" fmla="*/ 269383 w 822325"/>
                  <a:gd name="connsiteY10" fmla="*/ 169342 h 336550"/>
                  <a:gd name="connsiteX11" fmla="*/ 334407 w 822325"/>
                  <a:gd name="connsiteY11" fmla="*/ 336550 h 336550"/>
                  <a:gd name="connsiteX12" fmla="*/ 40729 w 822325"/>
                  <a:gd name="connsiteY12" fmla="*/ 336550 h 336550"/>
                  <a:gd name="connsiteX13" fmla="*/ 0 w 822325"/>
                  <a:gd name="connsiteY13" fmla="*/ 301686 h 336550"/>
                  <a:gd name="connsiteX14" fmla="*/ 0 w 822325"/>
                  <a:gd name="connsiteY14" fmla="*/ 39134 h 336550"/>
                  <a:gd name="connsiteX15" fmla="*/ 41444 w 822325"/>
                  <a:gd name="connsiteY15" fmla="*/ 0 h 33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2325" h="336550">
                    <a:moveTo>
                      <a:pt x="485775" y="0"/>
                    </a:moveTo>
                    <a:cubicBezTo>
                      <a:pt x="485775" y="0"/>
                      <a:pt x="485775" y="0"/>
                      <a:pt x="779453" y="0"/>
                    </a:cubicBezTo>
                    <a:cubicBezTo>
                      <a:pt x="782311" y="21346"/>
                      <a:pt x="800174" y="38422"/>
                      <a:pt x="822325" y="39134"/>
                    </a:cubicBezTo>
                    <a:cubicBezTo>
                      <a:pt x="822325" y="39134"/>
                      <a:pt x="822325" y="39134"/>
                      <a:pt x="822325" y="300974"/>
                    </a:cubicBezTo>
                    <a:cubicBezTo>
                      <a:pt x="801603" y="301686"/>
                      <a:pt x="784454" y="316628"/>
                      <a:pt x="780167" y="336550"/>
                    </a:cubicBezTo>
                    <a:cubicBezTo>
                      <a:pt x="780167" y="336550"/>
                      <a:pt x="780167" y="336550"/>
                      <a:pt x="487919" y="336550"/>
                    </a:cubicBezTo>
                    <a:cubicBezTo>
                      <a:pt x="522932" y="298839"/>
                      <a:pt x="552228" y="237649"/>
                      <a:pt x="552228" y="169342"/>
                    </a:cubicBezTo>
                    <a:cubicBezTo>
                      <a:pt x="552228" y="99613"/>
                      <a:pt x="522217" y="37711"/>
                      <a:pt x="485775" y="0"/>
                    </a:cubicBezTo>
                    <a:close/>
                    <a:moveTo>
                      <a:pt x="41444" y="0"/>
                    </a:moveTo>
                    <a:lnTo>
                      <a:pt x="336550" y="0"/>
                    </a:lnTo>
                    <a:cubicBezTo>
                      <a:pt x="300109" y="37711"/>
                      <a:pt x="269383" y="99613"/>
                      <a:pt x="269383" y="169342"/>
                    </a:cubicBezTo>
                    <a:cubicBezTo>
                      <a:pt x="269383" y="237649"/>
                      <a:pt x="299394" y="298839"/>
                      <a:pt x="334407" y="336550"/>
                    </a:cubicBezTo>
                    <a:cubicBezTo>
                      <a:pt x="334407" y="336550"/>
                      <a:pt x="334407" y="336550"/>
                      <a:pt x="40729" y="336550"/>
                    </a:cubicBezTo>
                    <a:cubicBezTo>
                      <a:pt x="37157" y="317339"/>
                      <a:pt x="20007" y="303109"/>
                      <a:pt x="0" y="301686"/>
                    </a:cubicBezTo>
                    <a:cubicBezTo>
                      <a:pt x="0" y="301686"/>
                      <a:pt x="0" y="301686"/>
                      <a:pt x="0" y="39134"/>
                    </a:cubicBezTo>
                    <a:cubicBezTo>
                      <a:pt x="21437" y="37711"/>
                      <a:pt x="38586" y="20634"/>
                      <a:pt x="41444" y="0"/>
                    </a:cubicBezTo>
                    <a:close/>
                  </a:path>
                </a:pathLst>
              </a:custGeom>
              <a:solidFill>
                <a:schemeClr val="tx2"/>
              </a:solidFill>
              <a:ln>
                <a:noFill/>
              </a:ln>
            </p:spPr>
            <p:txBody>
              <a:bodyPr vert="horz" wrap="square" lIns="65837" tIns="32918" rIns="65837" bIns="32918" numCol="1" anchor="t" anchorCtr="0" compatLnSpc="1">
                <a:prstTxWarp prst="textNoShape">
                  <a:avLst/>
                </a:prstTxWarp>
                <a:noAutofit/>
              </a:bodyPr>
              <a:lstStyle/>
              <a:p>
                <a:endParaRPr lang="en-US"/>
              </a:p>
            </p:txBody>
          </p:sp>
          <p:sp>
            <p:nvSpPr>
              <p:cNvPr id="150" name="Freeform 11">
                <a:extLst>
                  <a:ext uri="{FF2B5EF4-FFF2-40B4-BE49-F238E27FC236}">
                    <a16:creationId xmlns:a16="http://schemas.microsoft.com/office/drawing/2014/main" id="{90710556-0083-46DF-8684-8FE3441EA884}"/>
                  </a:ext>
                </a:extLst>
              </p:cNvPr>
              <p:cNvSpPr>
                <a:spLocks/>
              </p:cNvSpPr>
              <p:nvPr/>
            </p:nvSpPr>
            <p:spPr bwMode="auto">
              <a:xfrm>
                <a:off x="6729413" y="2881312"/>
                <a:ext cx="1146175" cy="1125538"/>
              </a:xfrm>
              <a:custGeom>
                <a:avLst/>
                <a:gdLst>
                  <a:gd name="connsiteX0" fmla="*/ 409739 w 1146175"/>
                  <a:gd name="connsiteY0" fmla="*/ 615791 h 1125538"/>
                  <a:gd name="connsiteX1" fmla="*/ 326138 w 1146175"/>
                  <a:gd name="connsiteY1" fmla="*/ 635801 h 1125538"/>
                  <a:gd name="connsiteX2" fmla="*/ 31750 w 1146175"/>
                  <a:gd name="connsiteY2" fmla="*/ 803020 h 1125538"/>
                  <a:gd name="connsiteX3" fmla="*/ 31750 w 1146175"/>
                  <a:gd name="connsiteY3" fmla="*/ 1087437 h 1125538"/>
                  <a:gd name="connsiteX4" fmla="*/ 368296 w 1146175"/>
                  <a:gd name="connsiteY4" fmla="*/ 957377 h 1125538"/>
                  <a:gd name="connsiteX5" fmla="*/ 419028 w 1146175"/>
                  <a:gd name="connsiteY5" fmla="*/ 949516 h 1125538"/>
                  <a:gd name="connsiteX6" fmla="*/ 568366 w 1146175"/>
                  <a:gd name="connsiteY6" fmla="*/ 960236 h 1125538"/>
                  <a:gd name="connsiteX7" fmla="*/ 797017 w 1146175"/>
                  <a:gd name="connsiteY7" fmla="*/ 933795 h 1125538"/>
                  <a:gd name="connsiteX8" fmla="*/ 1047818 w 1146175"/>
                  <a:gd name="connsiteY8" fmla="*/ 767290 h 1125538"/>
                  <a:gd name="connsiteX9" fmla="*/ 1079972 w 1146175"/>
                  <a:gd name="connsiteY9" fmla="*/ 730130 h 1125538"/>
                  <a:gd name="connsiteX10" fmla="*/ 1074971 w 1146175"/>
                  <a:gd name="connsiteY10" fmla="*/ 655810 h 1125538"/>
                  <a:gd name="connsiteX11" fmla="*/ 1036386 w 1146175"/>
                  <a:gd name="connsiteY11" fmla="*/ 642232 h 1125538"/>
                  <a:gd name="connsiteX12" fmla="*/ 999230 w 1146175"/>
                  <a:gd name="connsiteY12" fmla="*/ 660097 h 1125538"/>
                  <a:gd name="connsiteX13" fmla="*/ 951356 w 1146175"/>
                  <a:gd name="connsiteY13" fmla="*/ 713694 h 1125538"/>
                  <a:gd name="connsiteX14" fmla="*/ 805591 w 1146175"/>
                  <a:gd name="connsiteY14" fmla="*/ 805164 h 1125538"/>
                  <a:gd name="connsiteX15" fmla="*/ 608380 w 1146175"/>
                  <a:gd name="connsiteY15" fmla="*/ 794445 h 1125538"/>
                  <a:gd name="connsiteX16" fmla="*/ 553360 w 1146175"/>
                  <a:gd name="connsiteY16" fmla="*/ 772292 h 1125538"/>
                  <a:gd name="connsiteX17" fmla="*/ 544071 w 1146175"/>
                  <a:gd name="connsiteY17" fmla="*/ 755856 h 1125538"/>
                  <a:gd name="connsiteX18" fmla="*/ 557648 w 1146175"/>
                  <a:gd name="connsiteY18" fmla="*/ 742278 h 1125538"/>
                  <a:gd name="connsiteX19" fmla="*/ 715560 w 1146175"/>
                  <a:gd name="connsiteY19" fmla="*/ 726557 h 1125538"/>
                  <a:gd name="connsiteX20" fmla="*/ 759146 w 1146175"/>
                  <a:gd name="connsiteY20" fmla="*/ 679392 h 1125538"/>
                  <a:gd name="connsiteX21" fmla="*/ 713416 w 1146175"/>
                  <a:gd name="connsiteY21" fmla="*/ 631513 h 1125538"/>
                  <a:gd name="connsiteX22" fmla="*/ 409739 w 1146175"/>
                  <a:gd name="connsiteY22" fmla="*/ 615791 h 1125538"/>
                  <a:gd name="connsiteX23" fmla="*/ 390213 w 1146175"/>
                  <a:gd name="connsiteY23" fmla="*/ 584200 h 1125538"/>
                  <a:gd name="connsiteX24" fmla="*/ 393786 w 1146175"/>
                  <a:gd name="connsiteY24" fmla="*/ 584200 h 1125538"/>
                  <a:gd name="connsiteX25" fmla="*/ 396645 w 1146175"/>
                  <a:gd name="connsiteY25" fmla="*/ 584200 h 1125538"/>
                  <a:gd name="connsiteX26" fmla="*/ 399504 w 1146175"/>
                  <a:gd name="connsiteY26" fmla="*/ 584200 h 1125538"/>
                  <a:gd name="connsiteX27" fmla="*/ 403077 w 1146175"/>
                  <a:gd name="connsiteY27" fmla="*/ 584200 h 1125538"/>
                  <a:gd name="connsiteX28" fmla="*/ 410939 w 1146175"/>
                  <a:gd name="connsiteY28" fmla="*/ 584200 h 1125538"/>
                  <a:gd name="connsiteX29" fmla="*/ 715390 w 1146175"/>
                  <a:gd name="connsiteY29" fmla="*/ 599912 h 1125538"/>
                  <a:gd name="connsiteX30" fmla="*/ 780426 w 1146175"/>
                  <a:gd name="connsiteY30" fmla="*/ 640619 h 1125538"/>
                  <a:gd name="connsiteX31" fmla="*/ 782570 w 1146175"/>
                  <a:gd name="connsiteY31" fmla="*/ 644904 h 1125538"/>
                  <a:gd name="connsiteX32" fmla="*/ 789002 w 1146175"/>
                  <a:gd name="connsiteY32" fmla="*/ 663473 h 1125538"/>
                  <a:gd name="connsiteX33" fmla="*/ 790431 w 1146175"/>
                  <a:gd name="connsiteY33" fmla="*/ 679184 h 1125538"/>
                  <a:gd name="connsiteX34" fmla="*/ 789716 w 1146175"/>
                  <a:gd name="connsiteY34" fmla="*/ 684898 h 1125538"/>
                  <a:gd name="connsiteX35" fmla="*/ 789716 w 1146175"/>
                  <a:gd name="connsiteY35" fmla="*/ 685612 h 1125538"/>
                  <a:gd name="connsiteX36" fmla="*/ 789002 w 1146175"/>
                  <a:gd name="connsiteY36" fmla="*/ 691325 h 1125538"/>
                  <a:gd name="connsiteX37" fmla="*/ 763988 w 1146175"/>
                  <a:gd name="connsiteY37" fmla="*/ 738460 h 1125538"/>
                  <a:gd name="connsiteX38" fmla="*/ 763273 w 1146175"/>
                  <a:gd name="connsiteY38" fmla="*/ 738460 h 1125538"/>
                  <a:gd name="connsiteX39" fmla="*/ 758985 w 1146175"/>
                  <a:gd name="connsiteY39" fmla="*/ 742031 h 1125538"/>
                  <a:gd name="connsiteX40" fmla="*/ 754697 w 1146175"/>
                  <a:gd name="connsiteY40" fmla="*/ 744888 h 1125538"/>
                  <a:gd name="connsiteX41" fmla="*/ 753983 w 1146175"/>
                  <a:gd name="connsiteY41" fmla="*/ 745602 h 1125538"/>
                  <a:gd name="connsiteX42" fmla="*/ 749695 w 1146175"/>
                  <a:gd name="connsiteY42" fmla="*/ 748458 h 1125538"/>
                  <a:gd name="connsiteX43" fmla="*/ 748265 w 1146175"/>
                  <a:gd name="connsiteY43" fmla="*/ 749173 h 1125538"/>
                  <a:gd name="connsiteX44" fmla="*/ 743263 w 1146175"/>
                  <a:gd name="connsiteY44" fmla="*/ 751315 h 1125538"/>
                  <a:gd name="connsiteX45" fmla="*/ 742548 w 1146175"/>
                  <a:gd name="connsiteY45" fmla="*/ 752029 h 1125538"/>
                  <a:gd name="connsiteX46" fmla="*/ 738260 w 1146175"/>
                  <a:gd name="connsiteY46" fmla="*/ 753458 h 1125538"/>
                  <a:gd name="connsiteX47" fmla="*/ 718964 w 1146175"/>
                  <a:gd name="connsiteY47" fmla="*/ 757743 h 1125538"/>
                  <a:gd name="connsiteX48" fmla="*/ 624626 w 1146175"/>
                  <a:gd name="connsiteY48" fmla="*/ 767027 h 1125538"/>
                  <a:gd name="connsiteX49" fmla="*/ 743263 w 1146175"/>
                  <a:gd name="connsiteY49" fmla="*/ 784167 h 1125538"/>
                  <a:gd name="connsiteX50" fmla="*/ 775423 w 1146175"/>
                  <a:gd name="connsiteY50" fmla="*/ 779882 h 1125538"/>
                  <a:gd name="connsiteX51" fmla="*/ 785428 w 1146175"/>
                  <a:gd name="connsiteY51" fmla="*/ 777739 h 1125538"/>
                  <a:gd name="connsiteX52" fmla="*/ 786858 w 1146175"/>
                  <a:gd name="connsiteY52" fmla="*/ 777025 h 1125538"/>
                  <a:gd name="connsiteX53" fmla="*/ 796863 w 1146175"/>
                  <a:gd name="connsiteY53" fmla="*/ 774883 h 1125538"/>
                  <a:gd name="connsiteX54" fmla="*/ 826880 w 1146175"/>
                  <a:gd name="connsiteY54" fmla="*/ 764170 h 1125538"/>
                  <a:gd name="connsiteX55" fmla="*/ 909782 w 1146175"/>
                  <a:gd name="connsiteY55" fmla="*/ 711322 h 1125538"/>
                  <a:gd name="connsiteX56" fmla="*/ 928363 w 1146175"/>
                  <a:gd name="connsiteY56" fmla="*/ 692753 h 1125538"/>
                  <a:gd name="connsiteX57" fmla="*/ 975532 w 1146175"/>
                  <a:gd name="connsiteY57" fmla="*/ 639191 h 1125538"/>
                  <a:gd name="connsiteX58" fmla="*/ 978391 w 1146175"/>
                  <a:gd name="connsiteY58" fmla="*/ 635620 h 1125538"/>
                  <a:gd name="connsiteX59" fmla="*/ 979105 w 1146175"/>
                  <a:gd name="connsiteY59" fmla="*/ 635620 h 1125538"/>
                  <a:gd name="connsiteX60" fmla="*/ 1034135 w 1146175"/>
                  <a:gd name="connsiteY60" fmla="*/ 610624 h 1125538"/>
                  <a:gd name="connsiteX61" fmla="*/ 1034850 w 1146175"/>
                  <a:gd name="connsiteY61" fmla="*/ 610624 h 1125538"/>
                  <a:gd name="connsiteX62" fmla="*/ 1039138 w 1146175"/>
                  <a:gd name="connsiteY62" fmla="*/ 610624 h 1125538"/>
                  <a:gd name="connsiteX63" fmla="*/ 1040567 w 1146175"/>
                  <a:gd name="connsiteY63" fmla="*/ 610624 h 1125538"/>
                  <a:gd name="connsiteX64" fmla="*/ 1079875 w 1146175"/>
                  <a:gd name="connsiteY64" fmla="*/ 621337 h 1125538"/>
                  <a:gd name="connsiteX65" fmla="*/ 1083448 w 1146175"/>
                  <a:gd name="connsiteY65" fmla="*/ 623479 h 1125538"/>
                  <a:gd name="connsiteX66" fmla="*/ 1086307 w 1146175"/>
                  <a:gd name="connsiteY66" fmla="*/ 624908 h 1125538"/>
                  <a:gd name="connsiteX67" fmla="*/ 1087021 w 1146175"/>
                  <a:gd name="connsiteY67" fmla="*/ 625622 h 1125538"/>
                  <a:gd name="connsiteX68" fmla="*/ 1089880 w 1146175"/>
                  <a:gd name="connsiteY68" fmla="*/ 627764 h 1125538"/>
                  <a:gd name="connsiteX69" fmla="*/ 1090595 w 1146175"/>
                  <a:gd name="connsiteY69" fmla="*/ 628478 h 1125538"/>
                  <a:gd name="connsiteX70" fmla="*/ 1092739 w 1146175"/>
                  <a:gd name="connsiteY70" fmla="*/ 629907 h 1125538"/>
                  <a:gd name="connsiteX71" fmla="*/ 1095597 w 1146175"/>
                  <a:gd name="connsiteY71" fmla="*/ 632049 h 1125538"/>
                  <a:gd name="connsiteX72" fmla="*/ 1095597 w 1146175"/>
                  <a:gd name="connsiteY72" fmla="*/ 632763 h 1125538"/>
                  <a:gd name="connsiteX73" fmla="*/ 1103459 w 1146175"/>
                  <a:gd name="connsiteY73" fmla="*/ 749887 h 1125538"/>
                  <a:gd name="connsiteX74" fmla="*/ 1072013 w 1146175"/>
                  <a:gd name="connsiteY74" fmla="*/ 787738 h 1125538"/>
                  <a:gd name="connsiteX75" fmla="*/ 966241 w 1146175"/>
                  <a:gd name="connsiteY75" fmla="*/ 884150 h 1125538"/>
                  <a:gd name="connsiteX76" fmla="*/ 956950 w 1146175"/>
                  <a:gd name="connsiteY76" fmla="*/ 890577 h 1125538"/>
                  <a:gd name="connsiteX77" fmla="*/ 948374 w 1146175"/>
                  <a:gd name="connsiteY77" fmla="*/ 896291 h 1125538"/>
                  <a:gd name="connsiteX78" fmla="*/ 806154 w 1146175"/>
                  <a:gd name="connsiteY78" fmla="*/ 963422 h 1125538"/>
                  <a:gd name="connsiteX79" fmla="*/ 792575 w 1146175"/>
                  <a:gd name="connsiteY79" fmla="*/ 967707 h 1125538"/>
                  <a:gd name="connsiteX80" fmla="*/ 788287 w 1146175"/>
                  <a:gd name="connsiteY80" fmla="*/ 968422 h 1125538"/>
                  <a:gd name="connsiteX81" fmla="*/ 779711 w 1146175"/>
                  <a:gd name="connsiteY81" fmla="*/ 971278 h 1125538"/>
                  <a:gd name="connsiteX82" fmla="*/ 773994 w 1146175"/>
                  <a:gd name="connsiteY82" fmla="*/ 972707 h 1125538"/>
                  <a:gd name="connsiteX83" fmla="*/ 766132 w 1146175"/>
                  <a:gd name="connsiteY83" fmla="*/ 974135 h 1125538"/>
                  <a:gd name="connsiteX84" fmla="*/ 759700 w 1146175"/>
                  <a:gd name="connsiteY84" fmla="*/ 976277 h 1125538"/>
                  <a:gd name="connsiteX85" fmla="*/ 753983 w 1146175"/>
                  <a:gd name="connsiteY85" fmla="*/ 976992 h 1125538"/>
                  <a:gd name="connsiteX86" fmla="*/ 724681 w 1146175"/>
                  <a:gd name="connsiteY86" fmla="*/ 983419 h 1125538"/>
                  <a:gd name="connsiteX87" fmla="*/ 721822 w 1146175"/>
                  <a:gd name="connsiteY87" fmla="*/ 983419 h 1125538"/>
                  <a:gd name="connsiteX88" fmla="*/ 711102 w 1146175"/>
                  <a:gd name="connsiteY88" fmla="*/ 985562 h 1125538"/>
                  <a:gd name="connsiteX89" fmla="*/ 709673 w 1146175"/>
                  <a:gd name="connsiteY89" fmla="*/ 985562 h 1125538"/>
                  <a:gd name="connsiteX90" fmla="*/ 650355 w 1146175"/>
                  <a:gd name="connsiteY90" fmla="*/ 991989 h 1125538"/>
                  <a:gd name="connsiteX91" fmla="*/ 648211 w 1146175"/>
                  <a:gd name="connsiteY91" fmla="*/ 991989 h 1125538"/>
                  <a:gd name="connsiteX92" fmla="*/ 637491 w 1146175"/>
                  <a:gd name="connsiteY92" fmla="*/ 992703 h 1125538"/>
                  <a:gd name="connsiteX93" fmla="*/ 635347 w 1146175"/>
                  <a:gd name="connsiteY93" fmla="*/ 992703 h 1125538"/>
                  <a:gd name="connsiteX94" fmla="*/ 621053 w 1146175"/>
                  <a:gd name="connsiteY94" fmla="*/ 992703 h 1125538"/>
                  <a:gd name="connsiteX95" fmla="*/ 620338 w 1146175"/>
                  <a:gd name="connsiteY95" fmla="*/ 992703 h 1125538"/>
                  <a:gd name="connsiteX96" fmla="*/ 612477 w 1146175"/>
                  <a:gd name="connsiteY96" fmla="*/ 992703 h 1125538"/>
                  <a:gd name="connsiteX97" fmla="*/ 606045 w 1146175"/>
                  <a:gd name="connsiteY97" fmla="*/ 992703 h 1125538"/>
                  <a:gd name="connsiteX98" fmla="*/ 598898 w 1146175"/>
                  <a:gd name="connsiteY98" fmla="*/ 992703 h 1125538"/>
                  <a:gd name="connsiteX99" fmla="*/ 592466 w 1146175"/>
                  <a:gd name="connsiteY99" fmla="*/ 992703 h 1125538"/>
                  <a:gd name="connsiteX100" fmla="*/ 584605 w 1146175"/>
                  <a:gd name="connsiteY100" fmla="*/ 991989 h 1125538"/>
                  <a:gd name="connsiteX101" fmla="*/ 578887 w 1146175"/>
                  <a:gd name="connsiteY101" fmla="*/ 991989 h 1125538"/>
                  <a:gd name="connsiteX102" fmla="*/ 566738 w 1146175"/>
                  <a:gd name="connsiteY102" fmla="*/ 991275 h 1125538"/>
                  <a:gd name="connsiteX103" fmla="*/ 566023 w 1146175"/>
                  <a:gd name="connsiteY103" fmla="*/ 991275 h 1125538"/>
                  <a:gd name="connsiteX104" fmla="*/ 485265 w 1146175"/>
                  <a:gd name="connsiteY104" fmla="*/ 985562 h 1125538"/>
                  <a:gd name="connsiteX105" fmla="*/ 416656 w 1146175"/>
                  <a:gd name="connsiteY105" fmla="*/ 980562 h 1125538"/>
                  <a:gd name="connsiteX106" fmla="*/ 410939 w 1146175"/>
                  <a:gd name="connsiteY106" fmla="*/ 980562 h 1125538"/>
                  <a:gd name="connsiteX107" fmla="*/ 407365 w 1146175"/>
                  <a:gd name="connsiteY107" fmla="*/ 980562 h 1125538"/>
                  <a:gd name="connsiteX108" fmla="*/ 393072 w 1146175"/>
                  <a:gd name="connsiteY108" fmla="*/ 981991 h 1125538"/>
                  <a:gd name="connsiteX109" fmla="*/ 388784 w 1146175"/>
                  <a:gd name="connsiteY109" fmla="*/ 982705 h 1125538"/>
                  <a:gd name="connsiteX110" fmla="*/ 388784 w 1146175"/>
                  <a:gd name="connsiteY110" fmla="*/ 983419 h 1125538"/>
                  <a:gd name="connsiteX111" fmla="*/ 384496 w 1146175"/>
                  <a:gd name="connsiteY111" fmla="*/ 984133 h 1125538"/>
                  <a:gd name="connsiteX112" fmla="*/ 383781 w 1146175"/>
                  <a:gd name="connsiteY112" fmla="*/ 984847 h 1125538"/>
                  <a:gd name="connsiteX113" fmla="*/ 379493 w 1146175"/>
                  <a:gd name="connsiteY113" fmla="*/ 986276 h 1125538"/>
                  <a:gd name="connsiteX114" fmla="*/ 21441 w 1146175"/>
                  <a:gd name="connsiteY114" fmla="*/ 1124824 h 1125538"/>
                  <a:gd name="connsiteX115" fmla="*/ 15723 w 1146175"/>
                  <a:gd name="connsiteY115" fmla="*/ 1125538 h 1125538"/>
                  <a:gd name="connsiteX116" fmla="*/ 7147 w 1146175"/>
                  <a:gd name="connsiteY116" fmla="*/ 1122681 h 1125538"/>
                  <a:gd name="connsiteX117" fmla="*/ 0 w 1146175"/>
                  <a:gd name="connsiteY117" fmla="*/ 1109826 h 1125538"/>
                  <a:gd name="connsiteX118" fmla="*/ 0 w 1146175"/>
                  <a:gd name="connsiteY118" fmla="*/ 793451 h 1125538"/>
                  <a:gd name="connsiteX119" fmla="*/ 7862 w 1146175"/>
                  <a:gd name="connsiteY119" fmla="*/ 779882 h 1125538"/>
                  <a:gd name="connsiteX120" fmla="*/ 310169 w 1146175"/>
                  <a:gd name="connsiteY120" fmla="*/ 608482 h 1125538"/>
                  <a:gd name="connsiteX121" fmla="*/ 315887 w 1146175"/>
                  <a:gd name="connsiteY121" fmla="*/ 605625 h 1125538"/>
                  <a:gd name="connsiteX122" fmla="*/ 318031 w 1146175"/>
                  <a:gd name="connsiteY122" fmla="*/ 604197 h 1125538"/>
                  <a:gd name="connsiteX123" fmla="*/ 320889 w 1146175"/>
                  <a:gd name="connsiteY123" fmla="*/ 602768 h 1125538"/>
                  <a:gd name="connsiteX124" fmla="*/ 324463 w 1146175"/>
                  <a:gd name="connsiteY124" fmla="*/ 601340 h 1125538"/>
                  <a:gd name="connsiteX125" fmla="*/ 326607 w 1146175"/>
                  <a:gd name="connsiteY125" fmla="*/ 599912 h 1125538"/>
                  <a:gd name="connsiteX126" fmla="*/ 330180 w 1146175"/>
                  <a:gd name="connsiteY126" fmla="*/ 598483 h 1125538"/>
                  <a:gd name="connsiteX127" fmla="*/ 332324 w 1146175"/>
                  <a:gd name="connsiteY127" fmla="*/ 597769 h 1125538"/>
                  <a:gd name="connsiteX128" fmla="*/ 336612 w 1146175"/>
                  <a:gd name="connsiteY128" fmla="*/ 596341 h 1125538"/>
                  <a:gd name="connsiteX129" fmla="*/ 338042 w 1146175"/>
                  <a:gd name="connsiteY129" fmla="*/ 595627 h 1125538"/>
                  <a:gd name="connsiteX130" fmla="*/ 342330 w 1146175"/>
                  <a:gd name="connsiteY130" fmla="*/ 594198 h 1125538"/>
                  <a:gd name="connsiteX131" fmla="*/ 343044 w 1146175"/>
                  <a:gd name="connsiteY131" fmla="*/ 593484 h 1125538"/>
                  <a:gd name="connsiteX132" fmla="*/ 348047 w 1146175"/>
                  <a:gd name="connsiteY132" fmla="*/ 592056 h 1125538"/>
                  <a:gd name="connsiteX133" fmla="*/ 348762 w 1146175"/>
                  <a:gd name="connsiteY133" fmla="*/ 592056 h 1125538"/>
                  <a:gd name="connsiteX134" fmla="*/ 382352 w 1146175"/>
                  <a:gd name="connsiteY134" fmla="*/ 584914 h 1125538"/>
                  <a:gd name="connsiteX135" fmla="*/ 383781 w 1146175"/>
                  <a:gd name="connsiteY135" fmla="*/ 584914 h 1125538"/>
                  <a:gd name="connsiteX136" fmla="*/ 387354 w 1146175"/>
                  <a:gd name="connsiteY136" fmla="*/ 584914 h 1125538"/>
                  <a:gd name="connsiteX137" fmla="*/ 390213 w 1146175"/>
                  <a:gd name="connsiteY137" fmla="*/ 584200 h 1125538"/>
                  <a:gd name="connsiteX138" fmla="*/ 654433 w 1146175"/>
                  <a:gd name="connsiteY138" fmla="*/ 103187 h 1125538"/>
                  <a:gd name="connsiteX139" fmla="*/ 686457 w 1146175"/>
                  <a:gd name="connsiteY139" fmla="*/ 103187 h 1125538"/>
                  <a:gd name="connsiteX140" fmla="*/ 686457 w 1146175"/>
                  <a:gd name="connsiteY140" fmla="*/ 126776 h 1125538"/>
                  <a:gd name="connsiteX141" fmla="*/ 724174 w 1146175"/>
                  <a:gd name="connsiteY141" fmla="*/ 139643 h 1125538"/>
                  <a:gd name="connsiteX142" fmla="*/ 714211 w 1146175"/>
                  <a:gd name="connsiteY142" fmla="*/ 169665 h 1125538"/>
                  <a:gd name="connsiteX143" fmla="*/ 672936 w 1146175"/>
                  <a:gd name="connsiteY143" fmla="*/ 156083 h 1125538"/>
                  <a:gd name="connsiteX144" fmla="*/ 653722 w 1146175"/>
                  <a:gd name="connsiteY144" fmla="*/ 162517 h 1125538"/>
                  <a:gd name="connsiteX145" fmla="*/ 646605 w 1146175"/>
                  <a:gd name="connsiteY145" fmla="*/ 179672 h 1125538"/>
                  <a:gd name="connsiteX146" fmla="*/ 685034 w 1146175"/>
                  <a:gd name="connsiteY146" fmla="*/ 215413 h 1125538"/>
                  <a:gd name="connsiteX147" fmla="*/ 715634 w 1146175"/>
                  <a:gd name="connsiteY147" fmla="*/ 233998 h 1125538"/>
                  <a:gd name="connsiteX148" fmla="*/ 729155 w 1146175"/>
                  <a:gd name="connsiteY148" fmla="*/ 253298 h 1125538"/>
                  <a:gd name="connsiteX149" fmla="*/ 733425 w 1146175"/>
                  <a:gd name="connsiteY149" fmla="*/ 278317 h 1125538"/>
                  <a:gd name="connsiteX150" fmla="*/ 721327 w 1146175"/>
                  <a:gd name="connsiteY150" fmla="*/ 311198 h 1125538"/>
                  <a:gd name="connsiteX151" fmla="*/ 686457 w 1146175"/>
                  <a:gd name="connsiteY151" fmla="*/ 331213 h 1125538"/>
                  <a:gd name="connsiteX152" fmla="*/ 686457 w 1146175"/>
                  <a:gd name="connsiteY152" fmla="*/ 361950 h 1125538"/>
                  <a:gd name="connsiteX153" fmla="*/ 654433 w 1146175"/>
                  <a:gd name="connsiteY153" fmla="*/ 361950 h 1125538"/>
                  <a:gd name="connsiteX154" fmla="*/ 654433 w 1146175"/>
                  <a:gd name="connsiteY154" fmla="*/ 332643 h 1125538"/>
                  <a:gd name="connsiteX155" fmla="*/ 609600 w 1146175"/>
                  <a:gd name="connsiteY155" fmla="*/ 319061 h 1125538"/>
                  <a:gd name="connsiteX156" fmla="*/ 623833 w 1146175"/>
                  <a:gd name="connsiteY156" fmla="*/ 287609 h 1125538"/>
                  <a:gd name="connsiteX157" fmla="*/ 665820 w 1146175"/>
                  <a:gd name="connsiteY157" fmla="*/ 301906 h 1125538"/>
                  <a:gd name="connsiteX158" fmla="*/ 697132 w 1146175"/>
                  <a:gd name="connsiteY158" fmla="*/ 280461 h 1125538"/>
                  <a:gd name="connsiteX159" fmla="*/ 689304 w 1146175"/>
                  <a:gd name="connsiteY159" fmla="*/ 259732 h 1125538"/>
                  <a:gd name="connsiteX160" fmla="*/ 658703 w 1146175"/>
                  <a:gd name="connsiteY160" fmla="*/ 239002 h 1125538"/>
                  <a:gd name="connsiteX161" fmla="*/ 627391 w 1146175"/>
                  <a:gd name="connsiteY161" fmla="*/ 220417 h 1125538"/>
                  <a:gd name="connsiteX162" fmla="*/ 613870 w 1146175"/>
                  <a:gd name="connsiteY162" fmla="*/ 202546 h 1125538"/>
                  <a:gd name="connsiteX163" fmla="*/ 610312 w 1146175"/>
                  <a:gd name="connsiteY163" fmla="*/ 179672 h 1125538"/>
                  <a:gd name="connsiteX164" fmla="*/ 623121 w 1146175"/>
                  <a:gd name="connsiteY164" fmla="*/ 147506 h 1125538"/>
                  <a:gd name="connsiteX165" fmla="*/ 654433 w 1146175"/>
                  <a:gd name="connsiteY165" fmla="*/ 128920 h 1125538"/>
                  <a:gd name="connsiteX166" fmla="*/ 654433 w 1146175"/>
                  <a:gd name="connsiteY166" fmla="*/ 103187 h 1125538"/>
                  <a:gd name="connsiteX167" fmla="*/ 228600 w 1146175"/>
                  <a:gd name="connsiteY167" fmla="*/ 31750 h 1125538"/>
                  <a:gd name="connsiteX168" fmla="*/ 228600 w 1146175"/>
                  <a:gd name="connsiteY168" fmla="*/ 431800 h 1125538"/>
                  <a:gd name="connsiteX169" fmla="*/ 1114425 w 1146175"/>
                  <a:gd name="connsiteY169" fmla="*/ 431800 h 1125538"/>
                  <a:gd name="connsiteX170" fmla="*/ 1114425 w 1146175"/>
                  <a:gd name="connsiteY170" fmla="*/ 31750 h 1125538"/>
                  <a:gd name="connsiteX171" fmla="*/ 209003 w 1146175"/>
                  <a:gd name="connsiteY171" fmla="*/ 0 h 1125538"/>
                  <a:gd name="connsiteX172" fmla="*/ 1134023 w 1146175"/>
                  <a:gd name="connsiteY172" fmla="*/ 0 h 1125538"/>
                  <a:gd name="connsiteX173" fmla="*/ 1146175 w 1146175"/>
                  <a:gd name="connsiteY173" fmla="*/ 11428 h 1125538"/>
                  <a:gd name="connsiteX174" fmla="*/ 1146175 w 1146175"/>
                  <a:gd name="connsiteY174" fmla="*/ 451408 h 1125538"/>
                  <a:gd name="connsiteX175" fmla="*/ 1134023 w 1146175"/>
                  <a:gd name="connsiteY175" fmla="*/ 463550 h 1125538"/>
                  <a:gd name="connsiteX176" fmla="*/ 209003 w 1146175"/>
                  <a:gd name="connsiteY176" fmla="*/ 463550 h 1125538"/>
                  <a:gd name="connsiteX177" fmla="*/ 196850 w 1146175"/>
                  <a:gd name="connsiteY177" fmla="*/ 451408 h 1125538"/>
                  <a:gd name="connsiteX178" fmla="*/ 196850 w 1146175"/>
                  <a:gd name="connsiteY178" fmla="*/ 11428 h 1125538"/>
                  <a:gd name="connsiteX179" fmla="*/ 209003 w 1146175"/>
                  <a:gd name="connsiteY179" fmla="*/ 0 h 1125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1146175" h="1125538">
                    <a:moveTo>
                      <a:pt x="409739" y="615791"/>
                    </a:moveTo>
                    <a:cubicBezTo>
                      <a:pt x="380443" y="614362"/>
                      <a:pt x="351147" y="621508"/>
                      <a:pt x="326138" y="635801"/>
                    </a:cubicBezTo>
                    <a:cubicBezTo>
                      <a:pt x="326138" y="635801"/>
                      <a:pt x="326138" y="635801"/>
                      <a:pt x="31750" y="803020"/>
                    </a:cubicBezTo>
                    <a:cubicBezTo>
                      <a:pt x="31750" y="803020"/>
                      <a:pt x="31750" y="803020"/>
                      <a:pt x="31750" y="1087437"/>
                    </a:cubicBezTo>
                    <a:cubicBezTo>
                      <a:pt x="31750" y="1087437"/>
                      <a:pt x="31750" y="1087437"/>
                      <a:pt x="368296" y="957377"/>
                    </a:cubicBezTo>
                    <a:cubicBezTo>
                      <a:pt x="384730" y="950946"/>
                      <a:pt x="401879" y="948087"/>
                      <a:pt x="419028" y="949516"/>
                    </a:cubicBezTo>
                    <a:cubicBezTo>
                      <a:pt x="419028" y="949516"/>
                      <a:pt x="419028" y="949516"/>
                      <a:pt x="568366" y="960236"/>
                    </a:cubicBezTo>
                    <a:cubicBezTo>
                      <a:pt x="645535" y="965953"/>
                      <a:pt x="722705" y="956663"/>
                      <a:pt x="797017" y="933795"/>
                    </a:cubicBezTo>
                    <a:cubicBezTo>
                      <a:pt x="894908" y="903067"/>
                      <a:pt x="981367" y="845897"/>
                      <a:pt x="1047818" y="767290"/>
                    </a:cubicBezTo>
                    <a:cubicBezTo>
                      <a:pt x="1047818" y="767290"/>
                      <a:pt x="1047818" y="767290"/>
                      <a:pt x="1079972" y="730130"/>
                    </a:cubicBezTo>
                    <a:cubicBezTo>
                      <a:pt x="1098550" y="707977"/>
                      <a:pt x="1096407" y="675104"/>
                      <a:pt x="1074971" y="655810"/>
                    </a:cubicBezTo>
                    <a:cubicBezTo>
                      <a:pt x="1064253" y="646520"/>
                      <a:pt x="1050676" y="641517"/>
                      <a:pt x="1036386" y="642232"/>
                    </a:cubicBezTo>
                    <a:cubicBezTo>
                      <a:pt x="1022095" y="642947"/>
                      <a:pt x="1008519" y="649378"/>
                      <a:pt x="999230" y="660097"/>
                    </a:cubicBezTo>
                    <a:cubicBezTo>
                      <a:pt x="999230" y="660097"/>
                      <a:pt x="999230" y="660097"/>
                      <a:pt x="951356" y="713694"/>
                    </a:cubicBezTo>
                    <a:cubicBezTo>
                      <a:pt x="912771" y="758000"/>
                      <a:pt x="862039" y="789443"/>
                      <a:pt x="805591" y="805164"/>
                    </a:cubicBezTo>
                    <a:cubicBezTo>
                      <a:pt x="740568" y="823744"/>
                      <a:pt x="670544" y="819457"/>
                      <a:pt x="608380" y="794445"/>
                    </a:cubicBezTo>
                    <a:cubicBezTo>
                      <a:pt x="608380" y="794445"/>
                      <a:pt x="608380" y="794445"/>
                      <a:pt x="553360" y="772292"/>
                    </a:cubicBezTo>
                    <a:cubicBezTo>
                      <a:pt x="546930" y="769434"/>
                      <a:pt x="542642" y="763002"/>
                      <a:pt x="544071" y="755856"/>
                    </a:cubicBezTo>
                    <a:cubicBezTo>
                      <a:pt x="544786" y="748710"/>
                      <a:pt x="550502" y="742993"/>
                      <a:pt x="557648" y="742278"/>
                    </a:cubicBezTo>
                    <a:cubicBezTo>
                      <a:pt x="557648" y="742278"/>
                      <a:pt x="557648" y="742278"/>
                      <a:pt x="715560" y="726557"/>
                    </a:cubicBezTo>
                    <a:cubicBezTo>
                      <a:pt x="740568" y="724413"/>
                      <a:pt x="759146" y="703689"/>
                      <a:pt x="759146" y="679392"/>
                    </a:cubicBezTo>
                    <a:cubicBezTo>
                      <a:pt x="759146" y="653666"/>
                      <a:pt x="739139" y="632942"/>
                      <a:pt x="713416" y="631513"/>
                    </a:cubicBezTo>
                    <a:cubicBezTo>
                      <a:pt x="713416" y="631513"/>
                      <a:pt x="713416" y="631513"/>
                      <a:pt x="409739" y="615791"/>
                    </a:cubicBezTo>
                    <a:close/>
                    <a:moveTo>
                      <a:pt x="390213" y="584200"/>
                    </a:moveTo>
                    <a:cubicBezTo>
                      <a:pt x="391642" y="584200"/>
                      <a:pt x="392357" y="584200"/>
                      <a:pt x="393786" y="584200"/>
                    </a:cubicBezTo>
                    <a:cubicBezTo>
                      <a:pt x="394501" y="584200"/>
                      <a:pt x="395930" y="584200"/>
                      <a:pt x="396645" y="584200"/>
                    </a:cubicBezTo>
                    <a:cubicBezTo>
                      <a:pt x="398074" y="584200"/>
                      <a:pt x="398789" y="584200"/>
                      <a:pt x="399504" y="584200"/>
                    </a:cubicBezTo>
                    <a:cubicBezTo>
                      <a:pt x="400933" y="584200"/>
                      <a:pt x="401648" y="584200"/>
                      <a:pt x="403077" y="584200"/>
                    </a:cubicBezTo>
                    <a:cubicBezTo>
                      <a:pt x="405221" y="584200"/>
                      <a:pt x="408080" y="584200"/>
                      <a:pt x="410939" y="584200"/>
                    </a:cubicBezTo>
                    <a:cubicBezTo>
                      <a:pt x="410939" y="584200"/>
                      <a:pt x="410939" y="584200"/>
                      <a:pt x="715390" y="599912"/>
                    </a:cubicBezTo>
                    <a:cubicBezTo>
                      <a:pt x="743263" y="601340"/>
                      <a:pt x="766847" y="617766"/>
                      <a:pt x="780426" y="640619"/>
                    </a:cubicBezTo>
                    <a:cubicBezTo>
                      <a:pt x="781140" y="642048"/>
                      <a:pt x="781855" y="643476"/>
                      <a:pt x="782570" y="644904"/>
                    </a:cubicBezTo>
                    <a:cubicBezTo>
                      <a:pt x="785428" y="650618"/>
                      <a:pt x="787572" y="657045"/>
                      <a:pt x="789002" y="663473"/>
                    </a:cubicBezTo>
                    <a:cubicBezTo>
                      <a:pt x="789716" y="668472"/>
                      <a:pt x="790431" y="673471"/>
                      <a:pt x="790431" y="679184"/>
                    </a:cubicBezTo>
                    <a:cubicBezTo>
                      <a:pt x="790431" y="681327"/>
                      <a:pt x="790431" y="682755"/>
                      <a:pt x="789716" y="684898"/>
                    </a:cubicBezTo>
                    <a:cubicBezTo>
                      <a:pt x="789716" y="684898"/>
                      <a:pt x="789716" y="685612"/>
                      <a:pt x="789716" y="685612"/>
                    </a:cubicBezTo>
                    <a:cubicBezTo>
                      <a:pt x="789716" y="687754"/>
                      <a:pt x="789716" y="689183"/>
                      <a:pt x="789002" y="691325"/>
                    </a:cubicBezTo>
                    <a:cubicBezTo>
                      <a:pt x="786143" y="709893"/>
                      <a:pt x="776852" y="726319"/>
                      <a:pt x="763988" y="738460"/>
                    </a:cubicBezTo>
                    <a:cubicBezTo>
                      <a:pt x="763988" y="738460"/>
                      <a:pt x="763273" y="738460"/>
                      <a:pt x="763273" y="738460"/>
                    </a:cubicBezTo>
                    <a:cubicBezTo>
                      <a:pt x="761844" y="739888"/>
                      <a:pt x="760415" y="740603"/>
                      <a:pt x="758985" y="742031"/>
                    </a:cubicBezTo>
                    <a:cubicBezTo>
                      <a:pt x="757556" y="743459"/>
                      <a:pt x="756127" y="744173"/>
                      <a:pt x="754697" y="744888"/>
                    </a:cubicBezTo>
                    <a:cubicBezTo>
                      <a:pt x="753983" y="745602"/>
                      <a:pt x="753983" y="745602"/>
                      <a:pt x="753983" y="745602"/>
                    </a:cubicBezTo>
                    <a:cubicBezTo>
                      <a:pt x="752553" y="746316"/>
                      <a:pt x="751124" y="747744"/>
                      <a:pt x="749695" y="748458"/>
                    </a:cubicBezTo>
                    <a:cubicBezTo>
                      <a:pt x="748980" y="748458"/>
                      <a:pt x="748265" y="748458"/>
                      <a:pt x="748265" y="749173"/>
                    </a:cubicBezTo>
                    <a:cubicBezTo>
                      <a:pt x="746836" y="749887"/>
                      <a:pt x="745407" y="750601"/>
                      <a:pt x="743263" y="751315"/>
                    </a:cubicBezTo>
                    <a:cubicBezTo>
                      <a:pt x="743263" y="751315"/>
                      <a:pt x="742548" y="751315"/>
                      <a:pt x="742548" y="752029"/>
                    </a:cubicBezTo>
                    <a:cubicBezTo>
                      <a:pt x="741118" y="752029"/>
                      <a:pt x="739689" y="752743"/>
                      <a:pt x="738260" y="753458"/>
                    </a:cubicBezTo>
                    <a:cubicBezTo>
                      <a:pt x="731828" y="755600"/>
                      <a:pt x="725396" y="757028"/>
                      <a:pt x="718964" y="757743"/>
                    </a:cubicBezTo>
                    <a:cubicBezTo>
                      <a:pt x="718964" y="757743"/>
                      <a:pt x="718964" y="757743"/>
                      <a:pt x="624626" y="767027"/>
                    </a:cubicBezTo>
                    <a:cubicBezTo>
                      <a:pt x="662504" y="781310"/>
                      <a:pt x="703241" y="787023"/>
                      <a:pt x="743263" y="784167"/>
                    </a:cubicBezTo>
                    <a:cubicBezTo>
                      <a:pt x="753983" y="783453"/>
                      <a:pt x="764703" y="782024"/>
                      <a:pt x="775423" y="779882"/>
                    </a:cubicBezTo>
                    <a:cubicBezTo>
                      <a:pt x="778996" y="779168"/>
                      <a:pt x="781855" y="778453"/>
                      <a:pt x="785428" y="777739"/>
                    </a:cubicBezTo>
                    <a:cubicBezTo>
                      <a:pt x="786143" y="777739"/>
                      <a:pt x="786143" y="777739"/>
                      <a:pt x="786858" y="777025"/>
                    </a:cubicBezTo>
                    <a:cubicBezTo>
                      <a:pt x="790431" y="776311"/>
                      <a:pt x="793290" y="775597"/>
                      <a:pt x="796863" y="774883"/>
                    </a:cubicBezTo>
                    <a:cubicBezTo>
                      <a:pt x="806869" y="772026"/>
                      <a:pt x="816874" y="768455"/>
                      <a:pt x="826880" y="764170"/>
                    </a:cubicBezTo>
                    <a:cubicBezTo>
                      <a:pt x="857611" y="752029"/>
                      <a:pt x="885483" y="734175"/>
                      <a:pt x="909782" y="711322"/>
                    </a:cubicBezTo>
                    <a:cubicBezTo>
                      <a:pt x="916214" y="705608"/>
                      <a:pt x="921931" y="699181"/>
                      <a:pt x="928363" y="692753"/>
                    </a:cubicBezTo>
                    <a:cubicBezTo>
                      <a:pt x="928363" y="692753"/>
                      <a:pt x="928363" y="692753"/>
                      <a:pt x="975532" y="639191"/>
                    </a:cubicBezTo>
                    <a:cubicBezTo>
                      <a:pt x="976961" y="637763"/>
                      <a:pt x="977676" y="637048"/>
                      <a:pt x="978391" y="635620"/>
                    </a:cubicBezTo>
                    <a:cubicBezTo>
                      <a:pt x="979105" y="635620"/>
                      <a:pt x="979105" y="635620"/>
                      <a:pt x="979105" y="635620"/>
                    </a:cubicBezTo>
                    <a:cubicBezTo>
                      <a:pt x="994114" y="620623"/>
                      <a:pt x="1013410" y="612053"/>
                      <a:pt x="1034135" y="610624"/>
                    </a:cubicBezTo>
                    <a:cubicBezTo>
                      <a:pt x="1034850" y="610624"/>
                      <a:pt x="1034850" y="610624"/>
                      <a:pt x="1034850" y="610624"/>
                    </a:cubicBezTo>
                    <a:cubicBezTo>
                      <a:pt x="1036279" y="610624"/>
                      <a:pt x="1037709" y="610624"/>
                      <a:pt x="1039138" y="610624"/>
                    </a:cubicBezTo>
                    <a:cubicBezTo>
                      <a:pt x="1039138" y="610624"/>
                      <a:pt x="1039853" y="610624"/>
                      <a:pt x="1040567" y="610624"/>
                    </a:cubicBezTo>
                    <a:cubicBezTo>
                      <a:pt x="1054146" y="610624"/>
                      <a:pt x="1067725" y="614909"/>
                      <a:pt x="1079875" y="621337"/>
                    </a:cubicBezTo>
                    <a:cubicBezTo>
                      <a:pt x="1081304" y="622051"/>
                      <a:pt x="1082019" y="622765"/>
                      <a:pt x="1083448" y="623479"/>
                    </a:cubicBezTo>
                    <a:cubicBezTo>
                      <a:pt x="1084877" y="624193"/>
                      <a:pt x="1085592" y="624908"/>
                      <a:pt x="1086307" y="624908"/>
                    </a:cubicBezTo>
                    <a:cubicBezTo>
                      <a:pt x="1087021" y="625622"/>
                      <a:pt x="1087021" y="625622"/>
                      <a:pt x="1087021" y="625622"/>
                    </a:cubicBezTo>
                    <a:cubicBezTo>
                      <a:pt x="1087736" y="626336"/>
                      <a:pt x="1089165" y="627050"/>
                      <a:pt x="1089880" y="627764"/>
                    </a:cubicBezTo>
                    <a:cubicBezTo>
                      <a:pt x="1089880" y="627764"/>
                      <a:pt x="1090595" y="628478"/>
                      <a:pt x="1090595" y="628478"/>
                    </a:cubicBezTo>
                    <a:cubicBezTo>
                      <a:pt x="1091309" y="629193"/>
                      <a:pt x="1092024" y="629193"/>
                      <a:pt x="1092739" y="629907"/>
                    </a:cubicBezTo>
                    <a:cubicBezTo>
                      <a:pt x="1093453" y="630621"/>
                      <a:pt x="1094168" y="631335"/>
                      <a:pt x="1095597" y="632049"/>
                    </a:cubicBezTo>
                    <a:cubicBezTo>
                      <a:pt x="1095597" y="632049"/>
                      <a:pt x="1095597" y="632763"/>
                      <a:pt x="1095597" y="632763"/>
                    </a:cubicBezTo>
                    <a:cubicBezTo>
                      <a:pt x="1129902" y="663473"/>
                      <a:pt x="1133475" y="714893"/>
                      <a:pt x="1103459" y="749887"/>
                    </a:cubicBezTo>
                    <a:cubicBezTo>
                      <a:pt x="1103459" y="749887"/>
                      <a:pt x="1103459" y="749887"/>
                      <a:pt x="1072013" y="787738"/>
                    </a:cubicBezTo>
                    <a:cubicBezTo>
                      <a:pt x="1040567" y="824160"/>
                      <a:pt x="1004834" y="857012"/>
                      <a:pt x="966241" y="884150"/>
                    </a:cubicBezTo>
                    <a:cubicBezTo>
                      <a:pt x="963383" y="886292"/>
                      <a:pt x="959809" y="888435"/>
                      <a:pt x="956950" y="890577"/>
                    </a:cubicBezTo>
                    <a:cubicBezTo>
                      <a:pt x="954092" y="892720"/>
                      <a:pt x="951233" y="894862"/>
                      <a:pt x="948374" y="896291"/>
                    </a:cubicBezTo>
                    <a:cubicBezTo>
                      <a:pt x="904779" y="924857"/>
                      <a:pt x="856896" y="947711"/>
                      <a:pt x="806154" y="963422"/>
                    </a:cubicBezTo>
                    <a:cubicBezTo>
                      <a:pt x="801866" y="964851"/>
                      <a:pt x="797578" y="966279"/>
                      <a:pt x="792575" y="967707"/>
                    </a:cubicBezTo>
                    <a:cubicBezTo>
                      <a:pt x="791146" y="967707"/>
                      <a:pt x="789716" y="968422"/>
                      <a:pt x="788287" y="968422"/>
                    </a:cubicBezTo>
                    <a:cubicBezTo>
                      <a:pt x="785428" y="969136"/>
                      <a:pt x="782570" y="970564"/>
                      <a:pt x="779711" y="971278"/>
                    </a:cubicBezTo>
                    <a:cubicBezTo>
                      <a:pt x="777567" y="971278"/>
                      <a:pt x="775423" y="971992"/>
                      <a:pt x="773994" y="972707"/>
                    </a:cubicBezTo>
                    <a:cubicBezTo>
                      <a:pt x="771135" y="973421"/>
                      <a:pt x="768991" y="973421"/>
                      <a:pt x="766132" y="974135"/>
                    </a:cubicBezTo>
                    <a:cubicBezTo>
                      <a:pt x="763988" y="974849"/>
                      <a:pt x="761844" y="975563"/>
                      <a:pt x="759700" y="976277"/>
                    </a:cubicBezTo>
                    <a:cubicBezTo>
                      <a:pt x="757556" y="976277"/>
                      <a:pt x="756127" y="976992"/>
                      <a:pt x="753983" y="976992"/>
                    </a:cubicBezTo>
                    <a:cubicBezTo>
                      <a:pt x="743977" y="979134"/>
                      <a:pt x="733972" y="981277"/>
                      <a:pt x="724681" y="983419"/>
                    </a:cubicBezTo>
                    <a:cubicBezTo>
                      <a:pt x="723252" y="983419"/>
                      <a:pt x="722537" y="983419"/>
                      <a:pt x="721822" y="983419"/>
                    </a:cubicBezTo>
                    <a:cubicBezTo>
                      <a:pt x="718249" y="984133"/>
                      <a:pt x="714676" y="984847"/>
                      <a:pt x="711102" y="985562"/>
                    </a:cubicBezTo>
                    <a:cubicBezTo>
                      <a:pt x="710387" y="985562"/>
                      <a:pt x="710387" y="985562"/>
                      <a:pt x="709673" y="985562"/>
                    </a:cubicBezTo>
                    <a:cubicBezTo>
                      <a:pt x="689662" y="988418"/>
                      <a:pt x="670366" y="990561"/>
                      <a:pt x="650355" y="991989"/>
                    </a:cubicBezTo>
                    <a:cubicBezTo>
                      <a:pt x="649640" y="991989"/>
                      <a:pt x="648925" y="991989"/>
                      <a:pt x="648211" y="991989"/>
                    </a:cubicBezTo>
                    <a:cubicBezTo>
                      <a:pt x="644637" y="991989"/>
                      <a:pt x="641064" y="991989"/>
                      <a:pt x="637491" y="992703"/>
                    </a:cubicBezTo>
                    <a:cubicBezTo>
                      <a:pt x="636776" y="992703"/>
                      <a:pt x="636061" y="992703"/>
                      <a:pt x="635347" y="992703"/>
                    </a:cubicBezTo>
                    <a:cubicBezTo>
                      <a:pt x="630344" y="992703"/>
                      <a:pt x="626056" y="992703"/>
                      <a:pt x="621053" y="992703"/>
                    </a:cubicBezTo>
                    <a:cubicBezTo>
                      <a:pt x="621053" y="992703"/>
                      <a:pt x="620338" y="992703"/>
                      <a:pt x="620338" y="992703"/>
                    </a:cubicBezTo>
                    <a:cubicBezTo>
                      <a:pt x="617480" y="992703"/>
                      <a:pt x="614621" y="992703"/>
                      <a:pt x="612477" y="992703"/>
                    </a:cubicBezTo>
                    <a:cubicBezTo>
                      <a:pt x="610333" y="992703"/>
                      <a:pt x="608189" y="992703"/>
                      <a:pt x="606045" y="992703"/>
                    </a:cubicBezTo>
                    <a:cubicBezTo>
                      <a:pt x="603901" y="992703"/>
                      <a:pt x="601042" y="992703"/>
                      <a:pt x="598898" y="992703"/>
                    </a:cubicBezTo>
                    <a:cubicBezTo>
                      <a:pt x="596754" y="992703"/>
                      <a:pt x="594610" y="992703"/>
                      <a:pt x="592466" y="992703"/>
                    </a:cubicBezTo>
                    <a:cubicBezTo>
                      <a:pt x="589607" y="992703"/>
                      <a:pt x="587463" y="992703"/>
                      <a:pt x="584605" y="991989"/>
                    </a:cubicBezTo>
                    <a:cubicBezTo>
                      <a:pt x="582461" y="991989"/>
                      <a:pt x="581031" y="991989"/>
                      <a:pt x="578887" y="991989"/>
                    </a:cubicBezTo>
                    <a:cubicBezTo>
                      <a:pt x="575314" y="991989"/>
                      <a:pt x="571026" y="991275"/>
                      <a:pt x="566738" y="991275"/>
                    </a:cubicBezTo>
                    <a:cubicBezTo>
                      <a:pt x="566738" y="991275"/>
                      <a:pt x="566023" y="991275"/>
                      <a:pt x="566023" y="991275"/>
                    </a:cubicBezTo>
                    <a:cubicBezTo>
                      <a:pt x="566023" y="991275"/>
                      <a:pt x="566023" y="991275"/>
                      <a:pt x="485265" y="985562"/>
                    </a:cubicBezTo>
                    <a:cubicBezTo>
                      <a:pt x="485265" y="985562"/>
                      <a:pt x="485265" y="985562"/>
                      <a:pt x="416656" y="980562"/>
                    </a:cubicBezTo>
                    <a:cubicBezTo>
                      <a:pt x="415227" y="980562"/>
                      <a:pt x="413083" y="980562"/>
                      <a:pt x="410939" y="980562"/>
                    </a:cubicBezTo>
                    <a:cubicBezTo>
                      <a:pt x="410224" y="980562"/>
                      <a:pt x="408794" y="980562"/>
                      <a:pt x="407365" y="980562"/>
                    </a:cubicBezTo>
                    <a:cubicBezTo>
                      <a:pt x="402362" y="980562"/>
                      <a:pt x="398074" y="981277"/>
                      <a:pt x="393072" y="981991"/>
                    </a:cubicBezTo>
                    <a:cubicBezTo>
                      <a:pt x="391642" y="982705"/>
                      <a:pt x="390213" y="982705"/>
                      <a:pt x="388784" y="982705"/>
                    </a:cubicBezTo>
                    <a:cubicBezTo>
                      <a:pt x="388784" y="983419"/>
                      <a:pt x="388784" y="983419"/>
                      <a:pt x="388784" y="983419"/>
                    </a:cubicBezTo>
                    <a:cubicBezTo>
                      <a:pt x="387354" y="983419"/>
                      <a:pt x="385925" y="984133"/>
                      <a:pt x="384496" y="984133"/>
                    </a:cubicBezTo>
                    <a:cubicBezTo>
                      <a:pt x="384496" y="984133"/>
                      <a:pt x="384496" y="984133"/>
                      <a:pt x="383781" y="984847"/>
                    </a:cubicBezTo>
                    <a:cubicBezTo>
                      <a:pt x="382352" y="984847"/>
                      <a:pt x="380922" y="985562"/>
                      <a:pt x="379493" y="986276"/>
                    </a:cubicBezTo>
                    <a:cubicBezTo>
                      <a:pt x="379493" y="986276"/>
                      <a:pt x="379493" y="986276"/>
                      <a:pt x="21441" y="1124824"/>
                    </a:cubicBezTo>
                    <a:cubicBezTo>
                      <a:pt x="20011" y="1125538"/>
                      <a:pt x="17867" y="1125538"/>
                      <a:pt x="15723" y="1125538"/>
                    </a:cubicBezTo>
                    <a:cubicBezTo>
                      <a:pt x="12864" y="1125538"/>
                      <a:pt x="10006" y="1124824"/>
                      <a:pt x="7147" y="1122681"/>
                    </a:cubicBezTo>
                    <a:cubicBezTo>
                      <a:pt x="2859" y="1119825"/>
                      <a:pt x="0" y="1114826"/>
                      <a:pt x="0" y="1109826"/>
                    </a:cubicBezTo>
                    <a:cubicBezTo>
                      <a:pt x="0" y="1109826"/>
                      <a:pt x="0" y="1109826"/>
                      <a:pt x="0" y="793451"/>
                    </a:cubicBezTo>
                    <a:cubicBezTo>
                      <a:pt x="0" y="787738"/>
                      <a:pt x="3574" y="782738"/>
                      <a:pt x="7862" y="779882"/>
                    </a:cubicBezTo>
                    <a:cubicBezTo>
                      <a:pt x="7862" y="779882"/>
                      <a:pt x="7862" y="779882"/>
                      <a:pt x="310169" y="608482"/>
                    </a:cubicBezTo>
                    <a:cubicBezTo>
                      <a:pt x="311599" y="607053"/>
                      <a:pt x="313743" y="606339"/>
                      <a:pt x="315887" y="605625"/>
                    </a:cubicBezTo>
                    <a:cubicBezTo>
                      <a:pt x="316601" y="604911"/>
                      <a:pt x="317316" y="604911"/>
                      <a:pt x="318031" y="604197"/>
                    </a:cubicBezTo>
                    <a:cubicBezTo>
                      <a:pt x="318745" y="603483"/>
                      <a:pt x="320175" y="602768"/>
                      <a:pt x="320889" y="602768"/>
                    </a:cubicBezTo>
                    <a:cubicBezTo>
                      <a:pt x="322319" y="602054"/>
                      <a:pt x="323033" y="601340"/>
                      <a:pt x="324463" y="601340"/>
                    </a:cubicBezTo>
                    <a:cubicBezTo>
                      <a:pt x="325177" y="600626"/>
                      <a:pt x="325892" y="600626"/>
                      <a:pt x="326607" y="599912"/>
                    </a:cubicBezTo>
                    <a:cubicBezTo>
                      <a:pt x="328036" y="599198"/>
                      <a:pt x="329466" y="599198"/>
                      <a:pt x="330180" y="598483"/>
                    </a:cubicBezTo>
                    <a:cubicBezTo>
                      <a:pt x="330895" y="598483"/>
                      <a:pt x="331610" y="597769"/>
                      <a:pt x="332324" y="597769"/>
                    </a:cubicBezTo>
                    <a:cubicBezTo>
                      <a:pt x="333754" y="597055"/>
                      <a:pt x="335183" y="596341"/>
                      <a:pt x="336612" y="596341"/>
                    </a:cubicBezTo>
                    <a:cubicBezTo>
                      <a:pt x="336612" y="595627"/>
                      <a:pt x="337327" y="595627"/>
                      <a:pt x="338042" y="595627"/>
                    </a:cubicBezTo>
                    <a:cubicBezTo>
                      <a:pt x="339471" y="594913"/>
                      <a:pt x="340900" y="594198"/>
                      <a:pt x="342330" y="594198"/>
                    </a:cubicBezTo>
                    <a:cubicBezTo>
                      <a:pt x="343044" y="593484"/>
                      <a:pt x="343044" y="593484"/>
                      <a:pt x="343044" y="593484"/>
                    </a:cubicBezTo>
                    <a:cubicBezTo>
                      <a:pt x="345188" y="592770"/>
                      <a:pt x="346618" y="592770"/>
                      <a:pt x="348047" y="592056"/>
                    </a:cubicBezTo>
                    <a:cubicBezTo>
                      <a:pt x="348762" y="592056"/>
                      <a:pt x="348762" y="592056"/>
                      <a:pt x="348762" y="592056"/>
                    </a:cubicBezTo>
                    <a:cubicBezTo>
                      <a:pt x="360197" y="588485"/>
                      <a:pt x="370917" y="586343"/>
                      <a:pt x="382352" y="584914"/>
                    </a:cubicBezTo>
                    <a:cubicBezTo>
                      <a:pt x="383066" y="584914"/>
                      <a:pt x="383781" y="584914"/>
                      <a:pt x="383781" y="584914"/>
                    </a:cubicBezTo>
                    <a:cubicBezTo>
                      <a:pt x="385210" y="584914"/>
                      <a:pt x="386640" y="584914"/>
                      <a:pt x="387354" y="584914"/>
                    </a:cubicBezTo>
                    <a:cubicBezTo>
                      <a:pt x="388784" y="584914"/>
                      <a:pt x="389498" y="584914"/>
                      <a:pt x="390213" y="584200"/>
                    </a:cubicBezTo>
                    <a:close/>
                    <a:moveTo>
                      <a:pt x="654433" y="103187"/>
                    </a:moveTo>
                    <a:cubicBezTo>
                      <a:pt x="686457" y="103187"/>
                      <a:pt x="686457" y="103187"/>
                      <a:pt x="686457" y="103187"/>
                    </a:cubicBezTo>
                    <a:cubicBezTo>
                      <a:pt x="686457" y="126776"/>
                      <a:pt x="686457" y="126776"/>
                      <a:pt x="686457" y="126776"/>
                    </a:cubicBezTo>
                    <a:cubicBezTo>
                      <a:pt x="702825" y="128920"/>
                      <a:pt x="716346" y="132495"/>
                      <a:pt x="724174" y="139643"/>
                    </a:cubicBezTo>
                    <a:cubicBezTo>
                      <a:pt x="714211" y="169665"/>
                      <a:pt x="714211" y="169665"/>
                      <a:pt x="714211" y="169665"/>
                    </a:cubicBezTo>
                    <a:cubicBezTo>
                      <a:pt x="700690" y="161087"/>
                      <a:pt x="687169" y="156083"/>
                      <a:pt x="672936" y="156083"/>
                    </a:cubicBezTo>
                    <a:cubicBezTo>
                      <a:pt x="665108" y="156083"/>
                      <a:pt x="658703" y="158228"/>
                      <a:pt x="653722" y="162517"/>
                    </a:cubicBezTo>
                    <a:cubicBezTo>
                      <a:pt x="648740" y="167520"/>
                      <a:pt x="646605" y="172524"/>
                      <a:pt x="646605" y="179672"/>
                    </a:cubicBezTo>
                    <a:cubicBezTo>
                      <a:pt x="646605" y="191109"/>
                      <a:pt x="659415" y="203261"/>
                      <a:pt x="685034" y="215413"/>
                    </a:cubicBezTo>
                    <a:cubicBezTo>
                      <a:pt x="698555" y="222561"/>
                      <a:pt x="709230" y="228280"/>
                      <a:pt x="715634" y="233998"/>
                    </a:cubicBezTo>
                    <a:cubicBezTo>
                      <a:pt x="722039" y="239717"/>
                      <a:pt x="725597" y="246150"/>
                      <a:pt x="729155" y="253298"/>
                    </a:cubicBezTo>
                    <a:cubicBezTo>
                      <a:pt x="732002" y="261161"/>
                      <a:pt x="733425" y="269024"/>
                      <a:pt x="733425" y="278317"/>
                    </a:cubicBezTo>
                    <a:cubicBezTo>
                      <a:pt x="733425" y="290469"/>
                      <a:pt x="729867" y="301906"/>
                      <a:pt x="721327" y="311198"/>
                    </a:cubicBezTo>
                    <a:cubicBezTo>
                      <a:pt x="712788" y="320491"/>
                      <a:pt x="700690" y="327639"/>
                      <a:pt x="686457" y="331213"/>
                    </a:cubicBezTo>
                    <a:cubicBezTo>
                      <a:pt x="686457" y="361950"/>
                      <a:pt x="686457" y="361950"/>
                      <a:pt x="686457" y="361950"/>
                    </a:cubicBezTo>
                    <a:cubicBezTo>
                      <a:pt x="654433" y="361950"/>
                      <a:pt x="654433" y="361950"/>
                      <a:pt x="654433" y="361950"/>
                    </a:cubicBezTo>
                    <a:cubicBezTo>
                      <a:pt x="654433" y="332643"/>
                      <a:pt x="654433" y="332643"/>
                      <a:pt x="654433" y="332643"/>
                    </a:cubicBezTo>
                    <a:cubicBezTo>
                      <a:pt x="638777" y="332643"/>
                      <a:pt x="623833" y="327639"/>
                      <a:pt x="609600" y="319061"/>
                    </a:cubicBezTo>
                    <a:cubicBezTo>
                      <a:pt x="623833" y="287609"/>
                      <a:pt x="623833" y="287609"/>
                      <a:pt x="623833" y="287609"/>
                    </a:cubicBezTo>
                    <a:cubicBezTo>
                      <a:pt x="638066" y="296902"/>
                      <a:pt x="652299" y="301906"/>
                      <a:pt x="665820" y="301906"/>
                    </a:cubicBezTo>
                    <a:cubicBezTo>
                      <a:pt x="687169" y="301906"/>
                      <a:pt x="697132" y="294758"/>
                      <a:pt x="697132" y="280461"/>
                    </a:cubicBezTo>
                    <a:cubicBezTo>
                      <a:pt x="697132" y="273313"/>
                      <a:pt x="694997" y="266165"/>
                      <a:pt x="689304" y="259732"/>
                    </a:cubicBezTo>
                    <a:cubicBezTo>
                      <a:pt x="683611" y="254013"/>
                      <a:pt x="673648" y="246865"/>
                      <a:pt x="658703" y="239002"/>
                    </a:cubicBezTo>
                    <a:cubicBezTo>
                      <a:pt x="643047" y="231854"/>
                      <a:pt x="633084" y="225420"/>
                      <a:pt x="627391" y="220417"/>
                    </a:cubicBezTo>
                    <a:cubicBezTo>
                      <a:pt x="621698" y="215413"/>
                      <a:pt x="618140" y="209695"/>
                      <a:pt x="613870" y="202546"/>
                    </a:cubicBezTo>
                    <a:cubicBezTo>
                      <a:pt x="611735" y="195398"/>
                      <a:pt x="610312" y="188250"/>
                      <a:pt x="610312" y="179672"/>
                    </a:cubicBezTo>
                    <a:cubicBezTo>
                      <a:pt x="610312" y="167520"/>
                      <a:pt x="613870" y="156083"/>
                      <a:pt x="623121" y="147506"/>
                    </a:cubicBezTo>
                    <a:cubicBezTo>
                      <a:pt x="630949" y="138213"/>
                      <a:pt x="640912" y="131780"/>
                      <a:pt x="654433" y="128920"/>
                    </a:cubicBezTo>
                    <a:cubicBezTo>
                      <a:pt x="654433" y="103187"/>
                      <a:pt x="654433" y="103187"/>
                      <a:pt x="654433" y="103187"/>
                    </a:cubicBezTo>
                    <a:close/>
                    <a:moveTo>
                      <a:pt x="228600" y="31750"/>
                    </a:moveTo>
                    <a:lnTo>
                      <a:pt x="228600" y="431800"/>
                    </a:lnTo>
                    <a:lnTo>
                      <a:pt x="1114425" y="431800"/>
                    </a:lnTo>
                    <a:lnTo>
                      <a:pt x="1114425" y="31750"/>
                    </a:lnTo>
                    <a:close/>
                    <a:moveTo>
                      <a:pt x="209003" y="0"/>
                    </a:moveTo>
                    <a:cubicBezTo>
                      <a:pt x="1134023" y="0"/>
                      <a:pt x="1134023" y="0"/>
                      <a:pt x="1134023" y="0"/>
                    </a:cubicBezTo>
                    <a:cubicBezTo>
                      <a:pt x="1141171" y="0"/>
                      <a:pt x="1146175" y="5000"/>
                      <a:pt x="1146175" y="11428"/>
                    </a:cubicBezTo>
                    <a:cubicBezTo>
                      <a:pt x="1146175" y="451408"/>
                      <a:pt x="1146175" y="451408"/>
                      <a:pt x="1146175" y="451408"/>
                    </a:cubicBezTo>
                    <a:cubicBezTo>
                      <a:pt x="1146175" y="457836"/>
                      <a:pt x="1141171" y="463550"/>
                      <a:pt x="1134023" y="463550"/>
                    </a:cubicBezTo>
                    <a:cubicBezTo>
                      <a:pt x="209003" y="463550"/>
                      <a:pt x="209003" y="463550"/>
                      <a:pt x="209003" y="463550"/>
                    </a:cubicBezTo>
                    <a:cubicBezTo>
                      <a:pt x="202569" y="463550"/>
                      <a:pt x="196850" y="457836"/>
                      <a:pt x="196850" y="451408"/>
                    </a:cubicBezTo>
                    <a:cubicBezTo>
                      <a:pt x="196850" y="11428"/>
                      <a:pt x="196850" y="11428"/>
                      <a:pt x="196850" y="11428"/>
                    </a:cubicBezTo>
                    <a:cubicBezTo>
                      <a:pt x="196850" y="5000"/>
                      <a:pt x="202569" y="0"/>
                      <a:pt x="209003" y="0"/>
                    </a:cubicBezTo>
                    <a:close/>
                  </a:path>
                </a:pathLst>
              </a:custGeom>
              <a:solidFill>
                <a:schemeClr val="accent1"/>
              </a:solidFill>
              <a:ln>
                <a:noFill/>
              </a:ln>
            </p:spPr>
            <p:txBody>
              <a:bodyPr vert="horz" wrap="square" lIns="65837" tIns="32918" rIns="65837" bIns="32918" numCol="1" anchor="t" anchorCtr="0" compatLnSpc="1">
                <a:prstTxWarp prst="textNoShape">
                  <a:avLst/>
                </a:prstTxWarp>
                <a:noAutofit/>
              </a:bodyPr>
              <a:lstStyle/>
              <a:p>
                <a:endParaRPr lang="en-US"/>
              </a:p>
            </p:txBody>
          </p:sp>
        </p:grpSp>
      </p:grpSp>
      <p:grpSp>
        <p:nvGrpSpPr>
          <p:cNvPr id="68" name="Group 67">
            <a:extLst>
              <a:ext uri="{FF2B5EF4-FFF2-40B4-BE49-F238E27FC236}">
                <a16:creationId xmlns:a16="http://schemas.microsoft.com/office/drawing/2014/main" id="{3978FF2D-C77B-4F05-83B4-F9ABA9FB50E9}"/>
              </a:ext>
            </a:extLst>
          </p:cNvPr>
          <p:cNvGrpSpPr>
            <a:grpSpLocks noChangeAspect="1"/>
          </p:cNvGrpSpPr>
          <p:nvPr/>
        </p:nvGrpSpPr>
        <p:grpSpPr>
          <a:xfrm>
            <a:off x="688569" y="5867264"/>
            <a:ext cx="416881" cy="416881"/>
            <a:chOff x="5273675" y="2606675"/>
            <a:chExt cx="1644650" cy="1644650"/>
          </a:xfrm>
        </p:grpSpPr>
        <p:sp>
          <p:nvSpPr>
            <p:cNvPr id="143" name="AutoShape 3">
              <a:extLst>
                <a:ext uri="{FF2B5EF4-FFF2-40B4-BE49-F238E27FC236}">
                  <a16:creationId xmlns:a16="http://schemas.microsoft.com/office/drawing/2014/main" id="{FAF37AC5-E123-41B9-A02E-62E150456177}"/>
                </a:ext>
              </a:extLst>
            </p:cNvPr>
            <p:cNvSpPr>
              <a:spLocks noChangeAspect="1" noChangeArrowheads="1" noTextEdit="1"/>
            </p:cNvSpPr>
            <p:nvPr/>
          </p:nvSpPr>
          <p:spPr bwMode="auto">
            <a:xfrm>
              <a:off x="5273675" y="2606675"/>
              <a:ext cx="1644650"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5837" tIns="32918" rIns="65837" bIns="32918" numCol="1" anchor="t" anchorCtr="0" compatLnSpc="1">
              <a:prstTxWarp prst="textNoShape">
                <a:avLst/>
              </a:prstTxWarp>
            </a:bodyPr>
            <a:lstStyle/>
            <a:p>
              <a:endParaRPr lang="en-US"/>
            </a:p>
          </p:txBody>
        </p:sp>
        <p:grpSp>
          <p:nvGrpSpPr>
            <p:cNvPr id="144" name="Group 143">
              <a:extLst>
                <a:ext uri="{FF2B5EF4-FFF2-40B4-BE49-F238E27FC236}">
                  <a16:creationId xmlns:a16="http://schemas.microsoft.com/office/drawing/2014/main" id="{C7C6A393-08CF-421A-819D-8E3EEFBFE95D}"/>
                </a:ext>
              </a:extLst>
            </p:cNvPr>
            <p:cNvGrpSpPr/>
            <p:nvPr/>
          </p:nvGrpSpPr>
          <p:grpSpPr>
            <a:xfrm>
              <a:off x="5646738" y="2776538"/>
              <a:ext cx="898525" cy="1304925"/>
              <a:chOff x="5646738" y="2776538"/>
              <a:chExt cx="898525" cy="1304925"/>
            </a:xfrm>
          </p:grpSpPr>
          <p:sp>
            <p:nvSpPr>
              <p:cNvPr id="145" name="Freeform 27">
                <a:extLst>
                  <a:ext uri="{FF2B5EF4-FFF2-40B4-BE49-F238E27FC236}">
                    <a16:creationId xmlns:a16="http://schemas.microsoft.com/office/drawing/2014/main" id="{7C822522-FBCE-48F8-88CD-FCB3A96F83BB}"/>
                  </a:ext>
                </a:extLst>
              </p:cNvPr>
              <p:cNvSpPr>
                <a:spLocks/>
              </p:cNvSpPr>
              <p:nvPr/>
            </p:nvSpPr>
            <p:spPr bwMode="auto">
              <a:xfrm>
                <a:off x="5646738" y="2890838"/>
                <a:ext cx="898525" cy="1190625"/>
              </a:xfrm>
              <a:custGeom>
                <a:avLst/>
                <a:gdLst>
                  <a:gd name="connsiteX0" fmla="*/ 311196 w 898525"/>
                  <a:gd name="connsiteY0" fmla="*/ 816042 h 1190625"/>
                  <a:gd name="connsiteX1" fmla="*/ 333306 w 898525"/>
                  <a:gd name="connsiteY1" fmla="*/ 816042 h 1190625"/>
                  <a:gd name="connsiteX2" fmla="*/ 333306 w 898525"/>
                  <a:gd name="connsiteY2" fmla="*/ 838143 h 1190625"/>
                  <a:gd name="connsiteX3" fmla="*/ 302637 w 898525"/>
                  <a:gd name="connsiteY3" fmla="*/ 868800 h 1190625"/>
                  <a:gd name="connsiteX4" fmla="*/ 271255 w 898525"/>
                  <a:gd name="connsiteY4" fmla="*/ 900170 h 1190625"/>
                  <a:gd name="connsiteX5" fmla="*/ 247006 w 898525"/>
                  <a:gd name="connsiteY5" fmla="*/ 924410 h 1190625"/>
                  <a:gd name="connsiteX6" fmla="*/ 236307 w 898525"/>
                  <a:gd name="connsiteY6" fmla="*/ 928688 h 1190625"/>
                  <a:gd name="connsiteX7" fmla="*/ 224896 w 898525"/>
                  <a:gd name="connsiteY7" fmla="*/ 924410 h 1190625"/>
                  <a:gd name="connsiteX8" fmla="*/ 197793 w 898525"/>
                  <a:gd name="connsiteY8" fmla="*/ 896605 h 1190625"/>
                  <a:gd name="connsiteX9" fmla="*/ 197793 w 898525"/>
                  <a:gd name="connsiteY9" fmla="*/ 874504 h 1190625"/>
                  <a:gd name="connsiteX10" fmla="*/ 219903 w 898525"/>
                  <a:gd name="connsiteY10" fmla="*/ 874504 h 1190625"/>
                  <a:gd name="connsiteX11" fmla="*/ 236307 w 898525"/>
                  <a:gd name="connsiteY11" fmla="*/ 890902 h 1190625"/>
                  <a:gd name="connsiteX12" fmla="*/ 269829 w 898525"/>
                  <a:gd name="connsiteY12" fmla="*/ 857393 h 1190625"/>
                  <a:gd name="connsiteX13" fmla="*/ 297645 w 898525"/>
                  <a:gd name="connsiteY13" fmla="*/ 829588 h 1190625"/>
                  <a:gd name="connsiteX14" fmla="*/ 311196 w 898525"/>
                  <a:gd name="connsiteY14" fmla="*/ 816042 h 1190625"/>
                  <a:gd name="connsiteX15" fmla="*/ 311196 w 898525"/>
                  <a:gd name="connsiteY15" fmla="*/ 539104 h 1190625"/>
                  <a:gd name="connsiteX16" fmla="*/ 333306 w 898525"/>
                  <a:gd name="connsiteY16" fmla="*/ 539104 h 1190625"/>
                  <a:gd name="connsiteX17" fmla="*/ 333306 w 898525"/>
                  <a:gd name="connsiteY17" fmla="*/ 561918 h 1190625"/>
                  <a:gd name="connsiteX18" fmla="*/ 302637 w 898525"/>
                  <a:gd name="connsiteY18" fmla="*/ 592575 h 1190625"/>
                  <a:gd name="connsiteX19" fmla="*/ 271255 w 898525"/>
                  <a:gd name="connsiteY19" fmla="*/ 623945 h 1190625"/>
                  <a:gd name="connsiteX20" fmla="*/ 247006 w 898525"/>
                  <a:gd name="connsiteY20" fmla="*/ 647472 h 1190625"/>
                  <a:gd name="connsiteX21" fmla="*/ 236307 w 898525"/>
                  <a:gd name="connsiteY21" fmla="*/ 652463 h 1190625"/>
                  <a:gd name="connsiteX22" fmla="*/ 224896 w 898525"/>
                  <a:gd name="connsiteY22" fmla="*/ 647472 h 1190625"/>
                  <a:gd name="connsiteX23" fmla="*/ 197793 w 898525"/>
                  <a:gd name="connsiteY23" fmla="*/ 620380 h 1190625"/>
                  <a:gd name="connsiteX24" fmla="*/ 197793 w 898525"/>
                  <a:gd name="connsiteY24" fmla="*/ 598279 h 1190625"/>
                  <a:gd name="connsiteX25" fmla="*/ 219903 w 898525"/>
                  <a:gd name="connsiteY25" fmla="*/ 598279 h 1190625"/>
                  <a:gd name="connsiteX26" fmla="*/ 236307 w 898525"/>
                  <a:gd name="connsiteY26" fmla="*/ 614677 h 1190625"/>
                  <a:gd name="connsiteX27" fmla="*/ 269829 w 898525"/>
                  <a:gd name="connsiteY27" fmla="*/ 581168 h 1190625"/>
                  <a:gd name="connsiteX28" fmla="*/ 297645 w 898525"/>
                  <a:gd name="connsiteY28" fmla="*/ 553363 h 1190625"/>
                  <a:gd name="connsiteX29" fmla="*/ 311196 w 898525"/>
                  <a:gd name="connsiteY29" fmla="*/ 539104 h 1190625"/>
                  <a:gd name="connsiteX30" fmla="*/ 311196 w 898525"/>
                  <a:gd name="connsiteY30" fmla="*/ 257242 h 1190625"/>
                  <a:gd name="connsiteX31" fmla="*/ 333306 w 898525"/>
                  <a:gd name="connsiteY31" fmla="*/ 257242 h 1190625"/>
                  <a:gd name="connsiteX32" fmla="*/ 333306 w 898525"/>
                  <a:gd name="connsiteY32" fmla="*/ 279343 h 1190625"/>
                  <a:gd name="connsiteX33" fmla="*/ 302637 w 898525"/>
                  <a:gd name="connsiteY33" fmla="*/ 310000 h 1190625"/>
                  <a:gd name="connsiteX34" fmla="*/ 271255 w 898525"/>
                  <a:gd name="connsiteY34" fmla="*/ 341370 h 1190625"/>
                  <a:gd name="connsiteX35" fmla="*/ 247006 w 898525"/>
                  <a:gd name="connsiteY35" fmla="*/ 365610 h 1190625"/>
                  <a:gd name="connsiteX36" fmla="*/ 236307 w 898525"/>
                  <a:gd name="connsiteY36" fmla="*/ 369888 h 1190625"/>
                  <a:gd name="connsiteX37" fmla="*/ 224896 w 898525"/>
                  <a:gd name="connsiteY37" fmla="*/ 365610 h 1190625"/>
                  <a:gd name="connsiteX38" fmla="*/ 197793 w 898525"/>
                  <a:gd name="connsiteY38" fmla="*/ 338518 h 1190625"/>
                  <a:gd name="connsiteX39" fmla="*/ 197793 w 898525"/>
                  <a:gd name="connsiteY39" fmla="*/ 316417 h 1190625"/>
                  <a:gd name="connsiteX40" fmla="*/ 219903 w 898525"/>
                  <a:gd name="connsiteY40" fmla="*/ 316417 h 1190625"/>
                  <a:gd name="connsiteX41" fmla="*/ 236307 w 898525"/>
                  <a:gd name="connsiteY41" fmla="*/ 332102 h 1190625"/>
                  <a:gd name="connsiteX42" fmla="*/ 269829 w 898525"/>
                  <a:gd name="connsiteY42" fmla="*/ 298593 h 1190625"/>
                  <a:gd name="connsiteX43" fmla="*/ 297645 w 898525"/>
                  <a:gd name="connsiteY43" fmla="*/ 271501 h 1190625"/>
                  <a:gd name="connsiteX44" fmla="*/ 311196 w 898525"/>
                  <a:gd name="connsiteY44" fmla="*/ 257242 h 1190625"/>
                  <a:gd name="connsiteX45" fmla="*/ 15714 w 898525"/>
                  <a:gd name="connsiteY45" fmla="*/ 0 h 1190625"/>
                  <a:gd name="connsiteX46" fmla="*/ 272843 w 898525"/>
                  <a:gd name="connsiteY46" fmla="*/ 0 h 1190625"/>
                  <a:gd name="connsiteX47" fmla="*/ 272843 w 898525"/>
                  <a:gd name="connsiteY47" fmla="*/ 31370 h 1190625"/>
                  <a:gd name="connsiteX48" fmla="*/ 31427 w 898525"/>
                  <a:gd name="connsiteY48" fmla="*/ 31370 h 1190625"/>
                  <a:gd name="connsiteX49" fmla="*/ 31427 w 898525"/>
                  <a:gd name="connsiteY49" fmla="*/ 1159255 h 1190625"/>
                  <a:gd name="connsiteX50" fmla="*/ 867098 w 898525"/>
                  <a:gd name="connsiteY50" fmla="*/ 1159255 h 1190625"/>
                  <a:gd name="connsiteX51" fmla="*/ 867098 w 898525"/>
                  <a:gd name="connsiteY51" fmla="*/ 31370 h 1190625"/>
                  <a:gd name="connsiteX52" fmla="*/ 625682 w 898525"/>
                  <a:gd name="connsiteY52" fmla="*/ 31370 h 1190625"/>
                  <a:gd name="connsiteX53" fmla="*/ 625682 w 898525"/>
                  <a:gd name="connsiteY53" fmla="*/ 0 h 1190625"/>
                  <a:gd name="connsiteX54" fmla="*/ 882812 w 898525"/>
                  <a:gd name="connsiteY54" fmla="*/ 0 h 1190625"/>
                  <a:gd name="connsiteX55" fmla="*/ 898525 w 898525"/>
                  <a:gd name="connsiteY55" fmla="*/ 15685 h 1190625"/>
                  <a:gd name="connsiteX56" fmla="*/ 898525 w 898525"/>
                  <a:gd name="connsiteY56" fmla="*/ 1174940 h 1190625"/>
                  <a:gd name="connsiteX57" fmla="*/ 882812 w 898525"/>
                  <a:gd name="connsiteY57" fmla="*/ 1190625 h 1190625"/>
                  <a:gd name="connsiteX58" fmla="*/ 15714 w 898525"/>
                  <a:gd name="connsiteY58" fmla="*/ 1190625 h 1190625"/>
                  <a:gd name="connsiteX59" fmla="*/ 0 w 898525"/>
                  <a:gd name="connsiteY59" fmla="*/ 1174940 h 1190625"/>
                  <a:gd name="connsiteX60" fmla="*/ 0 w 898525"/>
                  <a:gd name="connsiteY60" fmla="*/ 15685 h 1190625"/>
                  <a:gd name="connsiteX61" fmla="*/ 15714 w 898525"/>
                  <a:gd name="connsiteY61" fmla="*/ 0 h 11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898525" h="1190625">
                    <a:moveTo>
                      <a:pt x="311196" y="816042"/>
                    </a:moveTo>
                    <a:cubicBezTo>
                      <a:pt x="317615" y="809625"/>
                      <a:pt x="327600" y="809625"/>
                      <a:pt x="333306" y="816042"/>
                    </a:cubicBezTo>
                    <a:cubicBezTo>
                      <a:pt x="339725" y="821745"/>
                      <a:pt x="339725" y="831727"/>
                      <a:pt x="333306" y="838143"/>
                    </a:cubicBezTo>
                    <a:cubicBezTo>
                      <a:pt x="333306" y="838143"/>
                      <a:pt x="333306" y="838143"/>
                      <a:pt x="302637" y="868800"/>
                    </a:cubicBezTo>
                    <a:cubicBezTo>
                      <a:pt x="302637" y="868800"/>
                      <a:pt x="302637" y="868800"/>
                      <a:pt x="271255" y="900170"/>
                    </a:cubicBezTo>
                    <a:cubicBezTo>
                      <a:pt x="271255" y="900170"/>
                      <a:pt x="271255" y="900170"/>
                      <a:pt x="247006" y="924410"/>
                    </a:cubicBezTo>
                    <a:cubicBezTo>
                      <a:pt x="244153" y="927262"/>
                      <a:pt x="240587" y="928688"/>
                      <a:pt x="236307" y="928688"/>
                    </a:cubicBezTo>
                    <a:cubicBezTo>
                      <a:pt x="232028" y="928688"/>
                      <a:pt x="228462" y="927262"/>
                      <a:pt x="224896" y="924410"/>
                    </a:cubicBezTo>
                    <a:cubicBezTo>
                      <a:pt x="224896" y="924410"/>
                      <a:pt x="224896" y="924410"/>
                      <a:pt x="197793" y="896605"/>
                    </a:cubicBezTo>
                    <a:cubicBezTo>
                      <a:pt x="192087" y="890902"/>
                      <a:pt x="192087" y="880920"/>
                      <a:pt x="197793" y="874504"/>
                    </a:cubicBezTo>
                    <a:cubicBezTo>
                      <a:pt x="204212" y="868800"/>
                      <a:pt x="214197" y="868800"/>
                      <a:pt x="219903" y="874504"/>
                    </a:cubicBezTo>
                    <a:cubicBezTo>
                      <a:pt x="219903" y="874504"/>
                      <a:pt x="219903" y="874504"/>
                      <a:pt x="236307" y="890902"/>
                    </a:cubicBezTo>
                    <a:cubicBezTo>
                      <a:pt x="236307" y="890902"/>
                      <a:pt x="236307" y="890902"/>
                      <a:pt x="269829" y="857393"/>
                    </a:cubicBezTo>
                    <a:cubicBezTo>
                      <a:pt x="269829" y="857393"/>
                      <a:pt x="269829" y="857393"/>
                      <a:pt x="297645" y="829588"/>
                    </a:cubicBezTo>
                    <a:cubicBezTo>
                      <a:pt x="297645" y="829588"/>
                      <a:pt x="297645" y="829588"/>
                      <a:pt x="311196" y="816042"/>
                    </a:cubicBezTo>
                    <a:close/>
                    <a:moveTo>
                      <a:pt x="311196" y="539104"/>
                    </a:moveTo>
                    <a:cubicBezTo>
                      <a:pt x="317615" y="533400"/>
                      <a:pt x="327600" y="533400"/>
                      <a:pt x="333306" y="539104"/>
                    </a:cubicBezTo>
                    <a:cubicBezTo>
                      <a:pt x="339725" y="545520"/>
                      <a:pt x="339725" y="555502"/>
                      <a:pt x="333306" y="561918"/>
                    </a:cubicBezTo>
                    <a:cubicBezTo>
                      <a:pt x="333306" y="561918"/>
                      <a:pt x="333306" y="561918"/>
                      <a:pt x="302637" y="592575"/>
                    </a:cubicBezTo>
                    <a:cubicBezTo>
                      <a:pt x="302637" y="592575"/>
                      <a:pt x="302637" y="592575"/>
                      <a:pt x="271255" y="623945"/>
                    </a:cubicBezTo>
                    <a:cubicBezTo>
                      <a:pt x="271255" y="623945"/>
                      <a:pt x="271255" y="623945"/>
                      <a:pt x="247006" y="647472"/>
                    </a:cubicBezTo>
                    <a:cubicBezTo>
                      <a:pt x="244153" y="651037"/>
                      <a:pt x="240587" y="652463"/>
                      <a:pt x="236307" y="652463"/>
                    </a:cubicBezTo>
                    <a:cubicBezTo>
                      <a:pt x="232028" y="652463"/>
                      <a:pt x="228462" y="651037"/>
                      <a:pt x="224896" y="647472"/>
                    </a:cubicBezTo>
                    <a:cubicBezTo>
                      <a:pt x="224896" y="647472"/>
                      <a:pt x="224896" y="647472"/>
                      <a:pt x="197793" y="620380"/>
                    </a:cubicBezTo>
                    <a:cubicBezTo>
                      <a:pt x="192087" y="614677"/>
                      <a:pt x="192087" y="604695"/>
                      <a:pt x="197793" y="598279"/>
                    </a:cubicBezTo>
                    <a:cubicBezTo>
                      <a:pt x="204212" y="592575"/>
                      <a:pt x="214197" y="592575"/>
                      <a:pt x="219903" y="598279"/>
                    </a:cubicBezTo>
                    <a:cubicBezTo>
                      <a:pt x="219903" y="598279"/>
                      <a:pt x="219903" y="598279"/>
                      <a:pt x="236307" y="614677"/>
                    </a:cubicBezTo>
                    <a:cubicBezTo>
                      <a:pt x="236307" y="614677"/>
                      <a:pt x="236307" y="614677"/>
                      <a:pt x="269829" y="581168"/>
                    </a:cubicBezTo>
                    <a:cubicBezTo>
                      <a:pt x="269829" y="581168"/>
                      <a:pt x="269829" y="581168"/>
                      <a:pt x="297645" y="553363"/>
                    </a:cubicBezTo>
                    <a:cubicBezTo>
                      <a:pt x="297645" y="553363"/>
                      <a:pt x="297645" y="553363"/>
                      <a:pt x="311196" y="539104"/>
                    </a:cubicBezTo>
                    <a:close/>
                    <a:moveTo>
                      <a:pt x="311196" y="257242"/>
                    </a:moveTo>
                    <a:cubicBezTo>
                      <a:pt x="317615" y="250825"/>
                      <a:pt x="327600" y="250825"/>
                      <a:pt x="333306" y="257242"/>
                    </a:cubicBezTo>
                    <a:cubicBezTo>
                      <a:pt x="339725" y="263658"/>
                      <a:pt x="339725" y="272927"/>
                      <a:pt x="333306" y="279343"/>
                    </a:cubicBezTo>
                    <a:cubicBezTo>
                      <a:pt x="333306" y="279343"/>
                      <a:pt x="333306" y="279343"/>
                      <a:pt x="302637" y="310000"/>
                    </a:cubicBezTo>
                    <a:cubicBezTo>
                      <a:pt x="302637" y="310000"/>
                      <a:pt x="302637" y="310000"/>
                      <a:pt x="271255" y="341370"/>
                    </a:cubicBezTo>
                    <a:cubicBezTo>
                      <a:pt x="271255" y="341370"/>
                      <a:pt x="271255" y="341370"/>
                      <a:pt x="247006" y="365610"/>
                    </a:cubicBezTo>
                    <a:cubicBezTo>
                      <a:pt x="244153" y="368462"/>
                      <a:pt x="240587" y="369888"/>
                      <a:pt x="236307" y="369888"/>
                    </a:cubicBezTo>
                    <a:cubicBezTo>
                      <a:pt x="232028" y="369888"/>
                      <a:pt x="228462" y="368462"/>
                      <a:pt x="224896" y="365610"/>
                    </a:cubicBezTo>
                    <a:cubicBezTo>
                      <a:pt x="224896" y="365610"/>
                      <a:pt x="224896" y="365610"/>
                      <a:pt x="197793" y="338518"/>
                    </a:cubicBezTo>
                    <a:cubicBezTo>
                      <a:pt x="192087" y="332102"/>
                      <a:pt x="192087" y="322120"/>
                      <a:pt x="197793" y="316417"/>
                    </a:cubicBezTo>
                    <a:cubicBezTo>
                      <a:pt x="204212" y="310000"/>
                      <a:pt x="214197" y="310000"/>
                      <a:pt x="219903" y="316417"/>
                    </a:cubicBezTo>
                    <a:cubicBezTo>
                      <a:pt x="219903" y="316417"/>
                      <a:pt x="219903" y="316417"/>
                      <a:pt x="236307" y="332102"/>
                    </a:cubicBezTo>
                    <a:cubicBezTo>
                      <a:pt x="236307" y="332102"/>
                      <a:pt x="236307" y="332102"/>
                      <a:pt x="269829" y="298593"/>
                    </a:cubicBezTo>
                    <a:cubicBezTo>
                      <a:pt x="269829" y="298593"/>
                      <a:pt x="269829" y="298593"/>
                      <a:pt x="297645" y="271501"/>
                    </a:cubicBezTo>
                    <a:cubicBezTo>
                      <a:pt x="297645" y="271501"/>
                      <a:pt x="297645" y="271501"/>
                      <a:pt x="311196" y="257242"/>
                    </a:cubicBezTo>
                    <a:close/>
                    <a:moveTo>
                      <a:pt x="15714" y="0"/>
                    </a:moveTo>
                    <a:cubicBezTo>
                      <a:pt x="15714" y="0"/>
                      <a:pt x="15714" y="0"/>
                      <a:pt x="272843" y="0"/>
                    </a:cubicBezTo>
                    <a:cubicBezTo>
                      <a:pt x="272843" y="0"/>
                      <a:pt x="272843" y="0"/>
                      <a:pt x="272843" y="31370"/>
                    </a:cubicBezTo>
                    <a:cubicBezTo>
                      <a:pt x="272843" y="31370"/>
                      <a:pt x="272843" y="31370"/>
                      <a:pt x="31427" y="31370"/>
                    </a:cubicBezTo>
                    <a:cubicBezTo>
                      <a:pt x="31427" y="31370"/>
                      <a:pt x="31427" y="31370"/>
                      <a:pt x="31427" y="1159255"/>
                    </a:cubicBezTo>
                    <a:cubicBezTo>
                      <a:pt x="31427" y="1159255"/>
                      <a:pt x="31427" y="1159255"/>
                      <a:pt x="867098" y="1159255"/>
                    </a:cubicBezTo>
                    <a:cubicBezTo>
                      <a:pt x="867098" y="1159255"/>
                      <a:pt x="867098" y="1159255"/>
                      <a:pt x="867098" y="31370"/>
                    </a:cubicBezTo>
                    <a:cubicBezTo>
                      <a:pt x="867098" y="31370"/>
                      <a:pt x="867098" y="31370"/>
                      <a:pt x="625682" y="31370"/>
                    </a:cubicBezTo>
                    <a:cubicBezTo>
                      <a:pt x="625682" y="31370"/>
                      <a:pt x="625682" y="31370"/>
                      <a:pt x="625682" y="0"/>
                    </a:cubicBezTo>
                    <a:cubicBezTo>
                      <a:pt x="625682" y="0"/>
                      <a:pt x="625682" y="0"/>
                      <a:pt x="882812" y="0"/>
                    </a:cubicBezTo>
                    <a:cubicBezTo>
                      <a:pt x="892097" y="0"/>
                      <a:pt x="898525" y="7130"/>
                      <a:pt x="898525" y="15685"/>
                    </a:cubicBezTo>
                    <a:cubicBezTo>
                      <a:pt x="898525" y="15685"/>
                      <a:pt x="898525" y="15685"/>
                      <a:pt x="898525" y="1174940"/>
                    </a:cubicBezTo>
                    <a:cubicBezTo>
                      <a:pt x="898525" y="1184209"/>
                      <a:pt x="892097" y="1190625"/>
                      <a:pt x="882812" y="1190625"/>
                    </a:cubicBezTo>
                    <a:cubicBezTo>
                      <a:pt x="882812" y="1190625"/>
                      <a:pt x="882812" y="1190625"/>
                      <a:pt x="15714" y="1190625"/>
                    </a:cubicBezTo>
                    <a:cubicBezTo>
                      <a:pt x="6428" y="1190625"/>
                      <a:pt x="0" y="1184209"/>
                      <a:pt x="0" y="1174940"/>
                    </a:cubicBezTo>
                    <a:cubicBezTo>
                      <a:pt x="0" y="1174940"/>
                      <a:pt x="0" y="1174940"/>
                      <a:pt x="0" y="15685"/>
                    </a:cubicBezTo>
                    <a:cubicBezTo>
                      <a:pt x="0" y="7130"/>
                      <a:pt x="6428" y="0"/>
                      <a:pt x="15714"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5837" tIns="32918" rIns="65837" bIns="32918" numCol="1" anchor="t" anchorCtr="0" compatLnSpc="1">
                <a:prstTxWarp prst="textNoShape">
                  <a:avLst/>
                </a:prstTxWarp>
                <a:noAutofit/>
              </a:bodyPr>
              <a:lstStyle/>
              <a:p>
                <a:endParaRPr lang="en-US"/>
              </a:p>
            </p:txBody>
          </p:sp>
          <p:sp>
            <p:nvSpPr>
              <p:cNvPr id="146" name="Freeform 26">
                <a:extLst>
                  <a:ext uri="{FF2B5EF4-FFF2-40B4-BE49-F238E27FC236}">
                    <a16:creationId xmlns:a16="http://schemas.microsoft.com/office/drawing/2014/main" id="{3505DE80-9C50-4787-8D34-803DC428BA01}"/>
                  </a:ext>
                </a:extLst>
              </p:cNvPr>
              <p:cNvSpPr>
                <a:spLocks/>
              </p:cNvSpPr>
              <p:nvPr/>
            </p:nvSpPr>
            <p:spPr bwMode="auto">
              <a:xfrm>
                <a:off x="5795963" y="2776538"/>
                <a:ext cx="600075" cy="1093787"/>
              </a:xfrm>
              <a:custGeom>
                <a:avLst/>
                <a:gdLst>
                  <a:gd name="connsiteX0" fmla="*/ 296727 w 600075"/>
                  <a:gd name="connsiteY0" fmla="*/ 1044575 h 1093787"/>
                  <a:gd name="connsiteX1" fmla="*/ 584335 w 600075"/>
                  <a:gd name="connsiteY1" fmla="*/ 1044575 h 1093787"/>
                  <a:gd name="connsiteX2" fmla="*/ 600075 w 600075"/>
                  <a:gd name="connsiteY2" fmla="*/ 1060450 h 1093787"/>
                  <a:gd name="connsiteX3" fmla="*/ 584335 w 600075"/>
                  <a:gd name="connsiteY3" fmla="*/ 1076325 h 1093787"/>
                  <a:gd name="connsiteX4" fmla="*/ 296727 w 600075"/>
                  <a:gd name="connsiteY4" fmla="*/ 1076325 h 1093787"/>
                  <a:gd name="connsiteX5" fmla="*/ 280987 w 600075"/>
                  <a:gd name="connsiteY5" fmla="*/ 1060450 h 1093787"/>
                  <a:gd name="connsiteX6" fmla="*/ 296727 w 600075"/>
                  <a:gd name="connsiteY6" fmla="*/ 1044575 h 1093787"/>
                  <a:gd name="connsiteX7" fmla="*/ 296727 w 600075"/>
                  <a:gd name="connsiteY7" fmla="*/ 958850 h 1093787"/>
                  <a:gd name="connsiteX8" fmla="*/ 584335 w 600075"/>
                  <a:gd name="connsiteY8" fmla="*/ 958850 h 1093787"/>
                  <a:gd name="connsiteX9" fmla="*/ 600075 w 600075"/>
                  <a:gd name="connsiteY9" fmla="*/ 974725 h 1093787"/>
                  <a:gd name="connsiteX10" fmla="*/ 584335 w 600075"/>
                  <a:gd name="connsiteY10" fmla="*/ 990600 h 1093787"/>
                  <a:gd name="connsiteX11" fmla="*/ 296727 w 600075"/>
                  <a:gd name="connsiteY11" fmla="*/ 990600 h 1093787"/>
                  <a:gd name="connsiteX12" fmla="*/ 280987 w 600075"/>
                  <a:gd name="connsiteY12" fmla="*/ 974725 h 1093787"/>
                  <a:gd name="connsiteX13" fmla="*/ 296727 w 600075"/>
                  <a:gd name="connsiteY13" fmla="*/ 958850 h 1093787"/>
                  <a:gd name="connsiteX14" fmla="*/ 15667 w 600075"/>
                  <a:gd name="connsiteY14" fmla="*/ 941387 h 1093787"/>
                  <a:gd name="connsiteX15" fmla="*/ 107534 w 600075"/>
                  <a:gd name="connsiteY15" fmla="*/ 941387 h 1093787"/>
                  <a:gd name="connsiteX16" fmla="*/ 76200 w 600075"/>
                  <a:gd name="connsiteY16" fmla="*/ 972722 h 1093787"/>
                  <a:gd name="connsiteX17" fmla="*/ 31334 w 600075"/>
                  <a:gd name="connsiteY17" fmla="*/ 972722 h 1093787"/>
                  <a:gd name="connsiteX18" fmla="*/ 31334 w 600075"/>
                  <a:gd name="connsiteY18" fmla="*/ 1062453 h 1093787"/>
                  <a:gd name="connsiteX19" fmla="*/ 121065 w 600075"/>
                  <a:gd name="connsiteY19" fmla="*/ 1062453 h 1093787"/>
                  <a:gd name="connsiteX20" fmla="*/ 121065 w 600075"/>
                  <a:gd name="connsiteY20" fmla="*/ 1058892 h 1093787"/>
                  <a:gd name="connsiteX21" fmla="*/ 152400 w 600075"/>
                  <a:gd name="connsiteY21" fmla="*/ 1027557 h 1093787"/>
                  <a:gd name="connsiteX22" fmla="*/ 152400 w 600075"/>
                  <a:gd name="connsiteY22" fmla="*/ 1078120 h 1093787"/>
                  <a:gd name="connsiteX23" fmla="*/ 136732 w 600075"/>
                  <a:gd name="connsiteY23" fmla="*/ 1093787 h 1093787"/>
                  <a:gd name="connsiteX24" fmla="*/ 15667 w 600075"/>
                  <a:gd name="connsiteY24" fmla="*/ 1093787 h 1093787"/>
                  <a:gd name="connsiteX25" fmla="*/ 0 w 600075"/>
                  <a:gd name="connsiteY25" fmla="*/ 1078120 h 1093787"/>
                  <a:gd name="connsiteX26" fmla="*/ 0 w 600075"/>
                  <a:gd name="connsiteY26" fmla="*/ 957054 h 1093787"/>
                  <a:gd name="connsiteX27" fmla="*/ 15667 w 600075"/>
                  <a:gd name="connsiteY27" fmla="*/ 941387 h 1093787"/>
                  <a:gd name="connsiteX28" fmla="*/ 296727 w 600075"/>
                  <a:gd name="connsiteY28" fmla="*/ 766762 h 1093787"/>
                  <a:gd name="connsiteX29" fmla="*/ 584335 w 600075"/>
                  <a:gd name="connsiteY29" fmla="*/ 766762 h 1093787"/>
                  <a:gd name="connsiteX30" fmla="*/ 600075 w 600075"/>
                  <a:gd name="connsiteY30" fmla="*/ 782637 h 1093787"/>
                  <a:gd name="connsiteX31" fmla="*/ 584335 w 600075"/>
                  <a:gd name="connsiteY31" fmla="*/ 798512 h 1093787"/>
                  <a:gd name="connsiteX32" fmla="*/ 296727 w 600075"/>
                  <a:gd name="connsiteY32" fmla="*/ 798512 h 1093787"/>
                  <a:gd name="connsiteX33" fmla="*/ 280987 w 600075"/>
                  <a:gd name="connsiteY33" fmla="*/ 782637 h 1093787"/>
                  <a:gd name="connsiteX34" fmla="*/ 296727 w 600075"/>
                  <a:gd name="connsiteY34" fmla="*/ 766762 h 1093787"/>
                  <a:gd name="connsiteX35" fmla="*/ 296727 w 600075"/>
                  <a:gd name="connsiteY35" fmla="*/ 681037 h 1093787"/>
                  <a:gd name="connsiteX36" fmla="*/ 584335 w 600075"/>
                  <a:gd name="connsiteY36" fmla="*/ 681037 h 1093787"/>
                  <a:gd name="connsiteX37" fmla="*/ 600075 w 600075"/>
                  <a:gd name="connsiteY37" fmla="*/ 696912 h 1093787"/>
                  <a:gd name="connsiteX38" fmla="*/ 584335 w 600075"/>
                  <a:gd name="connsiteY38" fmla="*/ 712787 h 1093787"/>
                  <a:gd name="connsiteX39" fmla="*/ 296727 w 600075"/>
                  <a:gd name="connsiteY39" fmla="*/ 712787 h 1093787"/>
                  <a:gd name="connsiteX40" fmla="*/ 280987 w 600075"/>
                  <a:gd name="connsiteY40" fmla="*/ 696912 h 1093787"/>
                  <a:gd name="connsiteX41" fmla="*/ 296727 w 600075"/>
                  <a:gd name="connsiteY41" fmla="*/ 681037 h 1093787"/>
                  <a:gd name="connsiteX42" fmla="*/ 15667 w 600075"/>
                  <a:gd name="connsiteY42" fmla="*/ 663575 h 1093787"/>
                  <a:gd name="connsiteX43" fmla="*/ 107534 w 600075"/>
                  <a:gd name="connsiteY43" fmla="*/ 663575 h 1093787"/>
                  <a:gd name="connsiteX44" fmla="*/ 76200 w 600075"/>
                  <a:gd name="connsiteY44" fmla="*/ 694910 h 1093787"/>
                  <a:gd name="connsiteX45" fmla="*/ 31334 w 600075"/>
                  <a:gd name="connsiteY45" fmla="*/ 694910 h 1093787"/>
                  <a:gd name="connsiteX46" fmla="*/ 31334 w 600075"/>
                  <a:gd name="connsiteY46" fmla="*/ 784641 h 1093787"/>
                  <a:gd name="connsiteX47" fmla="*/ 121065 w 600075"/>
                  <a:gd name="connsiteY47" fmla="*/ 784641 h 1093787"/>
                  <a:gd name="connsiteX48" fmla="*/ 121065 w 600075"/>
                  <a:gd name="connsiteY48" fmla="*/ 781080 h 1093787"/>
                  <a:gd name="connsiteX49" fmla="*/ 152400 w 600075"/>
                  <a:gd name="connsiteY49" fmla="*/ 749745 h 1093787"/>
                  <a:gd name="connsiteX50" fmla="*/ 152400 w 600075"/>
                  <a:gd name="connsiteY50" fmla="*/ 800308 h 1093787"/>
                  <a:gd name="connsiteX51" fmla="*/ 136732 w 600075"/>
                  <a:gd name="connsiteY51" fmla="*/ 815975 h 1093787"/>
                  <a:gd name="connsiteX52" fmla="*/ 15667 w 600075"/>
                  <a:gd name="connsiteY52" fmla="*/ 815975 h 1093787"/>
                  <a:gd name="connsiteX53" fmla="*/ 0 w 600075"/>
                  <a:gd name="connsiteY53" fmla="*/ 800308 h 1093787"/>
                  <a:gd name="connsiteX54" fmla="*/ 0 w 600075"/>
                  <a:gd name="connsiteY54" fmla="*/ 679242 h 1093787"/>
                  <a:gd name="connsiteX55" fmla="*/ 15667 w 600075"/>
                  <a:gd name="connsiteY55" fmla="*/ 663575 h 1093787"/>
                  <a:gd name="connsiteX56" fmla="*/ 296727 w 600075"/>
                  <a:gd name="connsiteY56" fmla="*/ 485775 h 1093787"/>
                  <a:gd name="connsiteX57" fmla="*/ 584335 w 600075"/>
                  <a:gd name="connsiteY57" fmla="*/ 485775 h 1093787"/>
                  <a:gd name="connsiteX58" fmla="*/ 600075 w 600075"/>
                  <a:gd name="connsiteY58" fmla="*/ 501650 h 1093787"/>
                  <a:gd name="connsiteX59" fmla="*/ 584335 w 600075"/>
                  <a:gd name="connsiteY59" fmla="*/ 517525 h 1093787"/>
                  <a:gd name="connsiteX60" fmla="*/ 296727 w 600075"/>
                  <a:gd name="connsiteY60" fmla="*/ 517525 h 1093787"/>
                  <a:gd name="connsiteX61" fmla="*/ 280987 w 600075"/>
                  <a:gd name="connsiteY61" fmla="*/ 501650 h 1093787"/>
                  <a:gd name="connsiteX62" fmla="*/ 296727 w 600075"/>
                  <a:gd name="connsiteY62" fmla="*/ 485775 h 1093787"/>
                  <a:gd name="connsiteX63" fmla="*/ 296727 w 600075"/>
                  <a:gd name="connsiteY63" fmla="*/ 400050 h 1093787"/>
                  <a:gd name="connsiteX64" fmla="*/ 584335 w 600075"/>
                  <a:gd name="connsiteY64" fmla="*/ 400050 h 1093787"/>
                  <a:gd name="connsiteX65" fmla="*/ 600075 w 600075"/>
                  <a:gd name="connsiteY65" fmla="*/ 415925 h 1093787"/>
                  <a:gd name="connsiteX66" fmla="*/ 584335 w 600075"/>
                  <a:gd name="connsiteY66" fmla="*/ 431800 h 1093787"/>
                  <a:gd name="connsiteX67" fmla="*/ 296727 w 600075"/>
                  <a:gd name="connsiteY67" fmla="*/ 431800 h 1093787"/>
                  <a:gd name="connsiteX68" fmla="*/ 280987 w 600075"/>
                  <a:gd name="connsiteY68" fmla="*/ 415925 h 1093787"/>
                  <a:gd name="connsiteX69" fmla="*/ 296727 w 600075"/>
                  <a:gd name="connsiteY69" fmla="*/ 400050 h 1093787"/>
                  <a:gd name="connsiteX70" fmla="*/ 15667 w 600075"/>
                  <a:gd name="connsiteY70" fmla="*/ 382587 h 1093787"/>
                  <a:gd name="connsiteX71" fmla="*/ 107534 w 600075"/>
                  <a:gd name="connsiteY71" fmla="*/ 382587 h 1093787"/>
                  <a:gd name="connsiteX72" fmla="*/ 76200 w 600075"/>
                  <a:gd name="connsiteY72" fmla="*/ 413776 h 1093787"/>
                  <a:gd name="connsiteX73" fmla="*/ 31334 w 600075"/>
                  <a:gd name="connsiteY73" fmla="*/ 413776 h 1093787"/>
                  <a:gd name="connsiteX74" fmla="*/ 31334 w 600075"/>
                  <a:gd name="connsiteY74" fmla="*/ 503798 h 1093787"/>
                  <a:gd name="connsiteX75" fmla="*/ 121065 w 600075"/>
                  <a:gd name="connsiteY75" fmla="*/ 503798 h 1093787"/>
                  <a:gd name="connsiteX76" fmla="*/ 121065 w 600075"/>
                  <a:gd name="connsiteY76" fmla="*/ 499545 h 1093787"/>
                  <a:gd name="connsiteX77" fmla="*/ 152400 w 600075"/>
                  <a:gd name="connsiteY77" fmla="*/ 468356 h 1093787"/>
                  <a:gd name="connsiteX78" fmla="*/ 152400 w 600075"/>
                  <a:gd name="connsiteY78" fmla="*/ 519393 h 1093787"/>
                  <a:gd name="connsiteX79" fmla="*/ 136732 w 600075"/>
                  <a:gd name="connsiteY79" fmla="*/ 534987 h 1093787"/>
                  <a:gd name="connsiteX80" fmla="*/ 15667 w 600075"/>
                  <a:gd name="connsiteY80" fmla="*/ 534987 h 1093787"/>
                  <a:gd name="connsiteX81" fmla="*/ 0 w 600075"/>
                  <a:gd name="connsiteY81" fmla="*/ 519393 h 1093787"/>
                  <a:gd name="connsiteX82" fmla="*/ 0 w 600075"/>
                  <a:gd name="connsiteY82" fmla="*/ 398182 h 1093787"/>
                  <a:gd name="connsiteX83" fmla="*/ 15667 w 600075"/>
                  <a:gd name="connsiteY83" fmla="*/ 382587 h 1093787"/>
                  <a:gd name="connsiteX84" fmla="*/ 301266 w 600075"/>
                  <a:gd name="connsiteY84" fmla="*/ 31750 h 1093787"/>
                  <a:gd name="connsiteX85" fmla="*/ 279758 w 600075"/>
                  <a:gd name="connsiteY85" fmla="*/ 36027 h 1093787"/>
                  <a:gd name="connsiteX86" fmla="*/ 246062 w 600075"/>
                  <a:gd name="connsiteY86" fmla="*/ 66675 h 1093787"/>
                  <a:gd name="connsiteX87" fmla="*/ 357187 w 600075"/>
                  <a:gd name="connsiteY87" fmla="*/ 66675 h 1093787"/>
                  <a:gd name="connsiteX88" fmla="*/ 323491 w 600075"/>
                  <a:gd name="connsiteY88" fmla="*/ 36027 h 1093787"/>
                  <a:gd name="connsiteX89" fmla="*/ 301266 w 600075"/>
                  <a:gd name="connsiteY89" fmla="*/ 31750 h 1093787"/>
                  <a:gd name="connsiteX90" fmla="*/ 300832 w 600075"/>
                  <a:gd name="connsiteY90" fmla="*/ 0 h 1093787"/>
                  <a:gd name="connsiteX91" fmla="*/ 373818 w 600075"/>
                  <a:gd name="connsiteY91" fmla="*/ 35602 h 1093787"/>
                  <a:gd name="connsiteX92" fmla="*/ 390275 w 600075"/>
                  <a:gd name="connsiteY92" fmla="*/ 66220 h 1093787"/>
                  <a:gd name="connsiteX93" fmla="*/ 439648 w 600075"/>
                  <a:gd name="connsiteY93" fmla="*/ 66220 h 1093787"/>
                  <a:gd name="connsiteX94" fmla="*/ 446088 w 600075"/>
                  <a:gd name="connsiteY94" fmla="*/ 73340 h 1093787"/>
                  <a:gd name="connsiteX95" fmla="*/ 446088 w 600075"/>
                  <a:gd name="connsiteY95" fmla="*/ 113927 h 1093787"/>
                  <a:gd name="connsiteX96" fmla="*/ 446088 w 600075"/>
                  <a:gd name="connsiteY96" fmla="*/ 145256 h 1093787"/>
                  <a:gd name="connsiteX97" fmla="*/ 446088 w 600075"/>
                  <a:gd name="connsiteY97" fmla="*/ 178010 h 1093787"/>
                  <a:gd name="connsiteX98" fmla="*/ 431062 w 600075"/>
                  <a:gd name="connsiteY98" fmla="*/ 193675 h 1093787"/>
                  <a:gd name="connsiteX99" fmla="*/ 171317 w 600075"/>
                  <a:gd name="connsiteY99" fmla="*/ 193675 h 1093787"/>
                  <a:gd name="connsiteX100" fmla="*/ 155575 w 600075"/>
                  <a:gd name="connsiteY100" fmla="*/ 178010 h 1093787"/>
                  <a:gd name="connsiteX101" fmla="*/ 155575 w 600075"/>
                  <a:gd name="connsiteY101" fmla="*/ 145256 h 1093787"/>
                  <a:gd name="connsiteX102" fmla="*/ 155575 w 600075"/>
                  <a:gd name="connsiteY102" fmla="*/ 113927 h 1093787"/>
                  <a:gd name="connsiteX103" fmla="*/ 155575 w 600075"/>
                  <a:gd name="connsiteY103" fmla="*/ 73340 h 1093787"/>
                  <a:gd name="connsiteX104" fmla="*/ 162731 w 600075"/>
                  <a:gd name="connsiteY104" fmla="*/ 66220 h 1093787"/>
                  <a:gd name="connsiteX105" fmla="*/ 212104 w 600075"/>
                  <a:gd name="connsiteY105" fmla="*/ 66220 h 1093787"/>
                  <a:gd name="connsiteX106" fmla="*/ 227846 w 600075"/>
                  <a:gd name="connsiteY106" fmla="*/ 35602 h 1093787"/>
                  <a:gd name="connsiteX107" fmla="*/ 300832 w 600075"/>
                  <a:gd name="connsiteY107" fmla="*/ 0 h 1093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600075" h="1093787">
                    <a:moveTo>
                      <a:pt x="296727" y="1044575"/>
                    </a:moveTo>
                    <a:cubicBezTo>
                      <a:pt x="296727" y="1044575"/>
                      <a:pt x="296727" y="1044575"/>
                      <a:pt x="584335" y="1044575"/>
                    </a:cubicBezTo>
                    <a:cubicBezTo>
                      <a:pt x="592921" y="1044575"/>
                      <a:pt x="600075" y="1051791"/>
                      <a:pt x="600075" y="1060450"/>
                    </a:cubicBezTo>
                    <a:cubicBezTo>
                      <a:pt x="600075" y="1069109"/>
                      <a:pt x="592921" y="1076325"/>
                      <a:pt x="584335" y="1076325"/>
                    </a:cubicBezTo>
                    <a:cubicBezTo>
                      <a:pt x="584335" y="1076325"/>
                      <a:pt x="584335" y="1076325"/>
                      <a:pt x="296727" y="1076325"/>
                    </a:cubicBezTo>
                    <a:cubicBezTo>
                      <a:pt x="288142" y="1076325"/>
                      <a:pt x="280987" y="1069109"/>
                      <a:pt x="280987" y="1060450"/>
                    </a:cubicBezTo>
                    <a:cubicBezTo>
                      <a:pt x="280987" y="1051791"/>
                      <a:pt x="288142" y="1044575"/>
                      <a:pt x="296727" y="1044575"/>
                    </a:cubicBezTo>
                    <a:close/>
                    <a:moveTo>
                      <a:pt x="296727" y="958850"/>
                    </a:moveTo>
                    <a:cubicBezTo>
                      <a:pt x="296727" y="958850"/>
                      <a:pt x="296727" y="958850"/>
                      <a:pt x="584335" y="958850"/>
                    </a:cubicBezTo>
                    <a:cubicBezTo>
                      <a:pt x="592921" y="958850"/>
                      <a:pt x="600075" y="966066"/>
                      <a:pt x="600075" y="974725"/>
                    </a:cubicBezTo>
                    <a:cubicBezTo>
                      <a:pt x="600075" y="983384"/>
                      <a:pt x="592921" y="990600"/>
                      <a:pt x="584335" y="990600"/>
                    </a:cubicBezTo>
                    <a:cubicBezTo>
                      <a:pt x="584335" y="990600"/>
                      <a:pt x="584335" y="990600"/>
                      <a:pt x="296727" y="990600"/>
                    </a:cubicBezTo>
                    <a:cubicBezTo>
                      <a:pt x="288142" y="990600"/>
                      <a:pt x="280987" y="983384"/>
                      <a:pt x="280987" y="974725"/>
                    </a:cubicBezTo>
                    <a:cubicBezTo>
                      <a:pt x="280987" y="966066"/>
                      <a:pt x="288142" y="958850"/>
                      <a:pt x="296727" y="958850"/>
                    </a:cubicBezTo>
                    <a:close/>
                    <a:moveTo>
                      <a:pt x="15667" y="941387"/>
                    </a:moveTo>
                    <a:cubicBezTo>
                      <a:pt x="15667" y="941387"/>
                      <a:pt x="15667" y="941387"/>
                      <a:pt x="107534" y="941387"/>
                    </a:cubicBezTo>
                    <a:cubicBezTo>
                      <a:pt x="107534" y="941387"/>
                      <a:pt x="107534" y="941387"/>
                      <a:pt x="76200" y="972722"/>
                    </a:cubicBezTo>
                    <a:cubicBezTo>
                      <a:pt x="76200" y="972722"/>
                      <a:pt x="76200" y="972722"/>
                      <a:pt x="31334" y="972722"/>
                    </a:cubicBezTo>
                    <a:cubicBezTo>
                      <a:pt x="31334" y="972722"/>
                      <a:pt x="31334" y="972722"/>
                      <a:pt x="31334" y="1062453"/>
                    </a:cubicBezTo>
                    <a:cubicBezTo>
                      <a:pt x="31334" y="1062453"/>
                      <a:pt x="31334" y="1062453"/>
                      <a:pt x="121065" y="1062453"/>
                    </a:cubicBezTo>
                    <a:cubicBezTo>
                      <a:pt x="121065" y="1062453"/>
                      <a:pt x="121065" y="1062453"/>
                      <a:pt x="121065" y="1058892"/>
                    </a:cubicBezTo>
                    <a:cubicBezTo>
                      <a:pt x="121065" y="1058892"/>
                      <a:pt x="121065" y="1058892"/>
                      <a:pt x="152400" y="1027557"/>
                    </a:cubicBezTo>
                    <a:cubicBezTo>
                      <a:pt x="152400" y="1027557"/>
                      <a:pt x="152400" y="1027557"/>
                      <a:pt x="152400" y="1078120"/>
                    </a:cubicBezTo>
                    <a:cubicBezTo>
                      <a:pt x="152400" y="1086666"/>
                      <a:pt x="145990" y="1093787"/>
                      <a:pt x="136732" y="1093787"/>
                    </a:cubicBezTo>
                    <a:lnTo>
                      <a:pt x="15667" y="1093787"/>
                    </a:lnTo>
                    <a:cubicBezTo>
                      <a:pt x="7121" y="1093787"/>
                      <a:pt x="0" y="1086666"/>
                      <a:pt x="0" y="1078120"/>
                    </a:cubicBezTo>
                    <a:cubicBezTo>
                      <a:pt x="0" y="1078120"/>
                      <a:pt x="0" y="1078120"/>
                      <a:pt x="0" y="957054"/>
                    </a:cubicBezTo>
                    <a:cubicBezTo>
                      <a:pt x="0" y="948509"/>
                      <a:pt x="7121" y="941387"/>
                      <a:pt x="15667" y="941387"/>
                    </a:cubicBezTo>
                    <a:close/>
                    <a:moveTo>
                      <a:pt x="296727" y="766762"/>
                    </a:moveTo>
                    <a:cubicBezTo>
                      <a:pt x="296727" y="766762"/>
                      <a:pt x="296727" y="766762"/>
                      <a:pt x="584335" y="766762"/>
                    </a:cubicBezTo>
                    <a:cubicBezTo>
                      <a:pt x="592921" y="766762"/>
                      <a:pt x="600075" y="773978"/>
                      <a:pt x="600075" y="782637"/>
                    </a:cubicBezTo>
                    <a:cubicBezTo>
                      <a:pt x="600075" y="791296"/>
                      <a:pt x="592921" y="798512"/>
                      <a:pt x="584335" y="798512"/>
                    </a:cubicBezTo>
                    <a:cubicBezTo>
                      <a:pt x="584335" y="798512"/>
                      <a:pt x="584335" y="798512"/>
                      <a:pt x="296727" y="798512"/>
                    </a:cubicBezTo>
                    <a:cubicBezTo>
                      <a:pt x="288142" y="798512"/>
                      <a:pt x="280987" y="791296"/>
                      <a:pt x="280987" y="782637"/>
                    </a:cubicBezTo>
                    <a:cubicBezTo>
                      <a:pt x="280987" y="773978"/>
                      <a:pt x="288142" y="766762"/>
                      <a:pt x="296727" y="766762"/>
                    </a:cubicBezTo>
                    <a:close/>
                    <a:moveTo>
                      <a:pt x="296727" y="681037"/>
                    </a:moveTo>
                    <a:cubicBezTo>
                      <a:pt x="296727" y="681037"/>
                      <a:pt x="296727" y="681037"/>
                      <a:pt x="584335" y="681037"/>
                    </a:cubicBezTo>
                    <a:cubicBezTo>
                      <a:pt x="592921" y="681037"/>
                      <a:pt x="600075" y="688253"/>
                      <a:pt x="600075" y="696912"/>
                    </a:cubicBezTo>
                    <a:cubicBezTo>
                      <a:pt x="600075" y="705571"/>
                      <a:pt x="592921" y="712787"/>
                      <a:pt x="584335" y="712787"/>
                    </a:cubicBezTo>
                    <a:cubicBezTo>
                      <a:pt x="584335" y="712787"/>
                      <a:pt x="584335" y="712787"/>
                      <a:pt x="296727" y="712787"/>
                    </a:cubicBezTo>
                    <a:cubicBezTo>
                      <a:pt x="288142" y="712787"/>
                      <a:pt x="280987" y="705571"/>
                      <a:pt x="280987" y="696912"/>
                    </a:cubicBezTo>
                    <a:cubicBezTo>
                      <a:pt x="280987" y="688253"/>
                      <a:pt x="288142" y="681037"/>
                      <a:pt x="296727" y="681037"/>
                    </a:cubicBezTo>
                    <a:close/>
                    <a:moveTo>
                      <a:pt x="15667" y="663575"/>
                    </a:moveTo>
                    <a:cubicBezTo>
                      <a:pt x="15667" y="663575"/>
                      <a:pt x="15667" y="663575"/>
                      <a:pt x="107534" y="663575"/>
                    </a:cubicBezTo>
                    <a:cubicBezTo>
                      <a:pt x="107534" y="663575"/>
                      <a:pt x="107534" y="663575"/>
                      <a:pt x="76200" y="694910"/>
                    </a:cubicBezTo>
                    <a:cubicBezTo>
                      <a:pt x="76200" y="694910"/>
                      <a:pt x="76200" y="694910"/>
                      <a:pt x="31334" y="694910"/>
                    </a:cubicBezTo>
                    <a:cubicBezTo>
                      <a:pt x="31334" y="694910"/>
                      <a:pt x="31334" y="694910"/>
                      <a:pt x="31334" y="784641"/>
                    </a:cubicBezTo>
                    <a:cubicBezTo>
                      <a:pt x="31334" y="784641"/>
                      <a:pt x="31334" y="784641"/>
                      <a:pt x="121065" y="784641"/>
                    </a:cubicBezTo>
                    <a:cubicBezTo>
                      <a:pt x="121065" y="784641"/>
                      <a:pt x="121065" y="784641"/>
                      <a:pt x="121065" y="781080"/>
                    </a:cubicBezTo>
                    <a:cubicBezTo>
                      <a:pt x="121065" y="781080"/>
                      <a:pt x="121065" y="781080"/>
                      <a:pt x="152400" y="749745"/>
                    </a:cubicBezTo>
                    <a:cubicBezTo>
                      <a:pt x="152400" y="749745"/>
                      <a:pt x="152400" y="749745"/>
                      <a:pt x="152400" y="800308"/>
                    </a:cubicBezTo>
                    <a:cubicBezTo>
                      <a:pt x="152400" y="808854"/>
                      <a:pt x="145990" y="815975"/>
                      <a:pt x="136732" y="815975"/>
                    </a:cubicBezTo>
                    <a:cubicBezTo>
                      <a:pt x="136732" y="815975"/>
                      <a:pt x="136732" y="815975"/>
                      <a:pt x="15667" y="815975"/>
                    </a:cubicBezTo>
                    <a:cubicBezTo>
                      <a:pt x="7121" y="815975"/>
                      <a:pt x="0" y="808854"/>
                      <a:pt x="0" y="800308"/>
                    </a:cubicBezTo>
                    <a:lnTo>
                      <a:pt x="0" y="679242"/>
                    </a:lnTo>
                    <a:cubicBezTo>
                      <a:pt x="0" y="670697"/>
                      <a:pt x="7121" y="663575"/>
                      <a:pt x="15667" y="663575"/>
                    </a:cubicBezTo>
                    <a:close/>
                    <a:moveTo>
                      <a:pt x="296727" y="485775"/>
                    </a:moveTo>
                    <a:cubicBezTo>
                      <a:pt x="296727" y="485775"/>
                      <a:pt x="296727" y="485775"/>
                      <a:pt x="584335" y="485775"/>
                    </a:cubicBezTo>
                    <a:cubicBezTo>
                      <a:pt x="592921" y="485775"/>
                      <a:pt x="600075" y="492991"/>
                      <a:pt x="600075" y="501650"/>
                    </a:cubicBezTo>
                    <a:cubicBezTo>
                      <a:pt x="600075" y="511031"/>
                      <a:pt x="592921" y="517525"/>
                      <a:pt x="584335" y="517525"/>
                    </a:cubicBezTo>
                    <a:cubicBezTo>
                      <a:pt x="584335" y="517525"/>
                      <a:pt x="584335" y="517525"/>
                      <a:pt x="296727" y="517525"/>
                    </a:cubicBezTo>
                    <a:cubicBezTo>
                      <a:pt x="288142" y="517525"/>
                      <a:pt x="280987" y="511031"/>
                      <a:pt x="280987" y="501650"/>
                    </a:cubicBezTo>
                    <a:cubicBezTo>
                      <a:pt x="280987" y="492991"/>
                      <a:pt x="288142" y="485775"/>
                      <a:pt x="296727" y="485775"/>
                    </a:cubicBezTo>
                    <a:close/>
                    <a:moveTo>
                      <a:pt x="296727" y="400050"/>
                    </a:moveTo>
                    <a:cubicBezTo>
                      <a:pt x="296727" y="400050"/>
                      <a:pt x="296727" y="400050"/>
                      <a:pt x="584335" y="400050"/>
                    </a:cubicBezTo>
                    <a:cubicBezTo>
                      <a:pt x="592921" y="400050"/>
                      <a:pt x="600075" y="406544"/>
                      <a:pt x="600075" y="415925"/>
                    </a:cubicBezTo>
                    <a:cubicBezTo>
                      <a:pt x="600075" y="424584"/>
                      <a:pt x="592921" y="431800"/>
                      <a:pt x="584335" y="431800"/>
                    </a:cubicBezTo>
                    <a:cubicBezTo>
                      <a:pt x="584335" y="431800"/>
                      <a:pt x="584335" y="431800"/>
                      <a:pt x="296727" y="431800"/>
                    </a:cubicBezTo>
                    <a:cubicBezTo>
                      <a:pt x="288142" y="431800"/>
                      <a:pt x="280987" y="424584"/>
                      <a:pt x="280987" y="415925"/>
                    </a:cubicBezTo>
                    <a:cubicBezTo>
                      <a:pt x="280987" y="406544"/>
                      <a:pt x="288142" y="400050"/>
                      <a:pt x="296727" y="400050"/>
                    </a:cubicBezTo>
                    <a:close/>
                    <a:moveTo>
                      <a:pt x="15667" y="382587"/>
                    </a:moveTo>
                    <a:cubicBezTo>
                      <a:pt x="15667" y="382587"/>
                      <a:pt x="15667" y="382587"/>
                      <a:pt x="107534" y="382587"/>
                    </a:cubicBezTo>
                    <a:cubicBezTo>
                      <a:pt x="107534" y="382587"/>
                      <a:pt x="107534" y="382587"/>
                      <a:pt x="76200" y="413776"/>
                    </a:cubicBezTo>
                    <a:lnTo>
                      <a:pt x="31334" y="413776"/>
                    </a:lnTo>
                    <a:cubicBezTo>
                      <a:pt x="31334" y="413776"/>
                      <a:pt x="31334" y="413776"/>
                      <a:pt x="31334" y="503798"/>
                    </a:cubicBezTo>
                    <a:cubicBezTo>
                      <a:pt x="31334" y="503798"/>
                      <a:pt x="31334" y="503798"/>
                      <a:pt x="121065" y="503798"/>
                    </a:cubicBezTo>
                    <a:cubicBezTo>
                      <a:pt x="121065" y="503798"/>
                      <a:pt x="121065" y="503798"/>
                      <a:pt x="121065" y="499545"/>
                    </a:cubicBezTo>
                    <a:cubicBezTo>
                      <a:pt x="121065" y="499545"/>
                      <a:pt x="121065" y="499545"/>
                      <a:pt x="152400" y="468356"/>
                    </a:cubicBezTo>
                    <a:cubicBezTo>
                      <a:pt x="152400" y="468356"/>
                      <a:pt x="152400" y="468356"/>
                      <a:pt x="152400" y="519393"/>
                    </a:cubicBezTo>
                    <a:cubicBezTo>
                      <a:pt x="152400" y="527899"/>
                      <a:pt x="145990" y="534987"/>
                      <a:pt x="136732" y="534987"/>
                    </a:cubicBezTo>
                    <a:cubicBezTo>
                      <a:pt x="136732" y="534987"/>
                      <a:pt x="136732" y="534987"/>
                      <a:pt x="15667" y="534987"/>
                    </a:cubicBezTo>
                    <a:cubicBezTo>
                      <a:pt x="7121" y="534987"/>
                      <a:pt x="0" y="527899"/>
                      <a:pt x="0" y="519393"/>
                    </a:cubicBezTo>
                    <a:cubicBezTo>
                      <a:pt x="0" y="519393"/>
                      <a:pt x="0" y="519393"/>
                      <a:pt x="0" y="398182"/>
                    </a:cubicBezTo>
                    <a:cubicBezTo>
                      <a:pt x="0" y="389675"/>
                      <a:pt x="7121" y="382587"/>
                      <a:pt x="15667" y="382587"/>
                    </a:cubicBezTo>
                    <a:close/>
                    <a:moveTo>
                      <a:pt x="301266" y="31750"/>
                    </a:moveTo>
                    <a:cubicBezTo>
                      <a:pt x="294097" y="31750"/>
                      <a:pt x="286211" y="33176"/>
                      <a:pt x="279758" y="36027"/>
                    </a:cubicBezTo>
                    <a:cubicBezTo>
                      <a:pt x="264703" y="41016"/>
                      <a:pt x="252515" y="52420"/>
                      <a:pt x="246062" y="66675"/>
                    </a:cubicBezTo>
                    <a:cubicBezTo>
                      <a:pt x="246062" y="66675"/>
                      <a:pt x="246062" y="66675"/>
                      <a:pt x="357187" y="66675"/>
                    </a:cubicBezTo>
                    <a:cubicBezTo>
                      <a:pt x="350018" y="52420"/>
                      <a:pt x="337830" y="41016"/>
                      <a:pt x="323491" y="36027"/>
                    </a:cubicBezTo>
                    <a:cubicBezTo>
                      <a:pt x="316322" y="33176"/>
                      <a:pt x="309153" y="31750"/>
                      <a:pt x="301266" y="31750"/>
                    </a:cubicBezTo>
                    <a:close/>
                    <a:moveTo>
                      <a:pt x="300832" y="0"/>
                    </a:moveTo>
                    <a:cubicBezTo>
                      <a:pt x="330885" y="0"/>
                      <a:pt x="356645" y="13529"/>
                      <a:pt x="373818" y="35602"/>
                    </a:cubicBezTo>
                    <a:cubicBezTo>
                      <a:pt x="380973" y="44147"/>
                      <a:pt x="386698" y="54827"/>
                      <a:pt x="390275" y="66220"/>
                    </a:cubicBezTo>
                    <a:cubicBezTo>
                      <a:pt x="390275" y="66220"/>
                      <a:pt x="390275" y="66220"/>
                      <a:pt x="439648" y="66220"/>
                    </a:cubicBezTo>
                    <a:cubicBezTo>
                      <a:pt x="443226" y="66220"/>
                      <a:pt x="446088" y="69068"/>
                      <a:pt x="446088" y="73340"/>
                    </a:cubicBezTo>
                    <a:cubicBezTo>
                      <a:pt x="446088" y="73340"/>
                      <a:pt x="446088" y="73340"/>
                      <a:pt x="446088" y="113927"/>
                    </a:cubicBezTo>
                    <a:cubicBezTo>
                      <a:pt x="446088" y="113927"/>
                      <a:pt x="446088" y="113927"/>
                      <a:pt x="446088" y="145256"/>
                    </a:cubicBezTo>
                    <a:cubicBezTo>
                      <a:pt x="446088" y="145256"/>
                      <a:pt x="446088" y="145256"/>
                      <a:pt x="446088" y="178010"/>
                    </a:cubicBezTo>
                    <a:cubicBezTo>
                      <a:pt x="446088" y="186555"/>
                      <a:pt x="439648" y="193675"/>
                      <a:pt x="431062" y="193675"/>
                    </a:cubicBezTo>
                    <a:lnTo>
                      <a:pt x="171317" y="193675"/>
                    </a:lnTo>
                    <a:cubicBezTo>
                      <a:pt x="162731" y="193675"/>
                      <a:pt x="155575" y="186555"/>
                      <a:pt x="155575" y="178010"/>
                    </a:cubicBezTo>
                    <a:cubicBezTo>
                      <a:pt x="155575" y="178010"/>
                      <a:pt x="155575" y="178010"/>
                      <a:pt x="155575" y="145256"/>
                    </a:cubicBezTo>
                    <a:cubicBezTo>
                      <a:pt x="155575" y="145256"/>
                      <a:pt x="155575" y="145256"/>
                      <a:pt x="155575" y="113927"/>
                    </a:cubicBezTo>
                    <a:cubicBezTo>
                      <a:pt x="155575" y="113927"/>
                      <a:pt x="155575" y="113927"/>
                      <a:pt x="155575" y="73340"/>
                    </a:cubicBezTo>
                    <a:cubicBezTo>
                      <a:pt x="155575" y="69068"/>
                      <a:pt x="159153" y="66220"/>
                      <a:pt x="162731" y="66220"/>
                    </a:cubicBezTo>
                    <a:cubicBezTo>
                      <a:pt x="162731" y="66220"/>
                      <a:pt x="162731" y="66220"/>
                      <a:pt x="212104" y="66220"/>
                    </a:cubicBezTo>
                    <a:cubicBezTo>
                      <a:pt x="215681" y="54827"/>
                      <a:pt x="220690" y="44147"/>
                      <a:pt x="227846" y="35602"/>
                    </a:cubicBezTo>
                    <a:cubicBezTo>
                      <a:pt x="245019" y="13529"/>
                      <a:pt x="271494" y="0"/>
                      <a:pt x="300832"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5837" tIns="32918" rIns="65837" bIns="32918" numCol="1" anchor="t" anchorCtr="0" compatLnSpc="1">
                <a:prstTxWarp prst="textNoShape">
                  <a:avLst/>
                </a:prstTxWarp>
                <a:noAutofit/>
              </a:bodyPr>
              <a:lstStyle/>
              <a:p>
                <a:endParaRPr lang="en-US"/>
              </a:p>
            </p:txBody>
          </p:sp>
        </p:grpSp>
      </p:grpSp>
      <p:sp>
        <p:nvSpPr>
          <p:cNvPr id="69" name="Rounded Rectangle 2">
            <a:extLst>
              <a:ext uri="{FF2B5EF4-FFF2-40B4-BE49-F238E27FC236}">
                <a16:creationId xmlns:a16="http://schemas.microsoft.com/office/drawing/2014/main" id="{9F744535-DEDC-4261-A861-35EBDB8EE025}"/>
              </a:ext>
            </a:extLst>
          </p:cNvPr>
          <p:cNvSpPr/>
          <p:nvPr/>
        </p:nvSpPr>
        <p:spPr bwMode="auto">
          <a:xfrm>
            <a:off x="5536596" y="3114289"/>
            <a:ext cx="2767970" cy="1246946"/>
          </a:xfrm>
          <a:prstGeom prst="roundRect">
            <a:avLst>
              <a:gd name="adj" fmla="val 0"/>
            </a:avLst>
          </a:prstGeom>
          <a:noFill/>
          <a:ln w="18288" cap="flat" cmpd="sng" algn="ctr">
            <a:solidFill>
              <a:srgbClr val="6E6F73"/>
            </a:solidFill>
            <a:prstDash val="solid"/>
            <a:miter lim="800000"/>
            <a:headEnd type="none" w="sm" len="sm"/>
            <a:tailEnd type="triangle" w="med" len="med"/>
          </a:ln>
          <a:effectLst>
            <a:innerShdw blurRad="76200">
              <a:prstClr val="black"/>
            </a:innerShdw>
          </a:effectLst>
          <a:extLst>
            <a:ext uri="{909E8E84-426E-40DD-AFC4-6F175D3DCCD1}">
              <a14:hiddenFill xmlns:a14="http://schemas.microsoft.com/office/drawing/2010/main">
                <a:solidFill>
                  <a:srgbClr val="FFFFFF"/>
                </a:solidFill>
              </a14:hiddenFill>
            </a:ext>
          </a:extLst>
        </p:spPr>
        <p:txBody>
          <a:bodyPr vert="horz" wrap="none" lIns="65837" tIns="32918" rIns="65837" bIns="32918"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600" b="0" i="0" u="none" strike="noStrike" cap="none" normalizeH="0" baseline="0">
              <a:ln>
                <a:noFill/>
              </a:ln>
              <a:solidFill>
                <a:schemeClr val="tx1"/>
              </a:solidFill>
              <a:effectLst/>
              <a:latin typeface="Arial" charset="0"/>
            </a:endParaRPr>
          </a:p>
        </p:txBody>
      </p:sp>
      <p:sp>
        <p:nvSpPr>
          <p:cNvPr id="72" name="ee4pContent1">
            <a:extLst>
              <a:ext uri="{FF2B5EF4-FFF2-40B4-BE49-F238E27FC236}">
                <a16:creationId xmlns:a16="http://schemas.microsoft.com/office/drawing/2014/main" id="{6A7E52DF-6BFD-4315-AA31-FD2CB58D7F25}"/>
              </a:ext>
            </a:extLst>
          </p:cNvPr>
          <p:cNvSpPr txBox="1"/>
          <p:nvPr/>
        </p:nvSpPr>
        <p:spPr>
          <a:xfrm>
            <a:off x="6162284" y="3152346"/>
            <a:ext cx="1849126" cy="1107996"/>
          </a:xfrm>
          <a:prstGeom prst="rect">
            <a:avLst/>
          </a:prstGeom>
          <a:ln cap="rnd">
            <a:noFill/>
          </a:ln>
        </p:spPr>
        <p:txBody>
          <a:bodyPr vert="horz" wrap="square" lIns="0" tIns="0" rIns="0" bIns="0" rtlCol="0">
            <a:spAutoFit/>
          </a:bodyPr>
          <a:lstStyle>
            <a:lvl1pPr lvl="0" indent="0">
              <a:lnSpc>
                <a:spcPct val="100000"/>
              </a:lnSpc>
              <a:spcBef>
                <a:spcPts val="0"/>
              </a:spcBef>
              <a:spcAft>
                <a:spcPts val="0"/>
              </a:spcAft>
              <a:buFont typeface="Trebuchet MS" panose="020B0603020202020204" pitchFamily="34" charset="0"/>
              <a:buChar char="​"/>
              <a:defRPr sz="2000">
                <a:latin typeface="Trebuchet MS" panose="020B0603020202020204" pitchFamily="34" charset="0"/>
                <a:sym typeface="Trebuchet MS" panose="020B0603020202020204" pitchFamily="34" charset="0"/>
              </a:defRPr>
            </a:lvl1pPr>
            <a:lvl2pPr marL="324000" lvl="1" indent="-216000">
              <a:lnSpc>
                <a:spcPct val="100000"/>
              </a:lnSpc>
              <a:spcBef>
                <a:spcPts val="0"/>
              </a:spcBef>
              <a:spcAft>
                <a:spcPts val="0"/>
              </a:spcAft>
              <a:buClr>
                <a:schemeClr val="tx2"/>
              </a:buClr>
              <a:buFont typeface="Trebuchet MS" panose="020B0603020202020204" pitchFamily="34" charset="0"/>
              <a:buChar char="•"/>
              <a:defRPr sz="2000">
                <a:latin typeface="Trebuchet MS" panose="020B0603020202020204" pitchFamily="34" charset="0"/>
                <a:sym typeface="Trebuchet MS" panose="020B0603020202020204" pitchFamily="34" charset="0"/>
              </a:defRPr>
            </a:lvl2pPr>
            <a:lvl3pPr marL="648000" lvl="2" indent="-216000">
              <a:lnSpc>
                <a:spcPct val="100000"/>
              </a:lnSpc>
              <a:spcBef>
                <a:spcPts val="0"/>
              </a:spcBef>
              <a:spcAft>
                <a:spcPts val="0"/>
              </a:spcAft>
              <a:buClr>
                <a:schemeClr val="tx2"/>
              </a:buClr>
              <a:buFont typeface="Trebuchet MS" panose="020B0603020202020204" pitchFamily="34" charset="0"/>
              <a:buChar char="–"/>
              <a:defRPr sz="2000">
                <a:latin typeface="Trebuchet MS" panose="020B0603020202020204" pitchFamily="34" charset="0"/>
                <a:sym typeface="Trebuchet MS" panose="020B0603020202020204" pitchFamily="34" charset="0"/>
              </a:defRPr>
            </a:lvl3pPr>
            <a:lvl4pPr marL="0" lvl="3" indent="0">
              <a:lnSpc>
                <a:spcPct val="100000"/>
              </a:lnSpc>
              <a:spcBef>
                <a:spcPts val="0"/>
              </a:spcBef>
              <a:spcAft>
                <a:spcPts val="0"/>
              </a:spcAft>
              <a:buClr>
                <a:schemeClr val="tx2"/>
              </a:buClr>
              <a:buFont typeface="Trebuchet MS" panose="020B0603020202020204" pitchFamily="34" charset="0"/>
              <a:buChar char="​"/>
              <a:defRPr sz="2400">
                <a:solidFill>
                  <a:schemeClr val="tx2"/>
                </a:solidFill>
                <a:latin typeface="Trebuchet MS" panose="020B0603020202020204" pitchFamily="34" charset="0"/>
                <a:sym typeface="Trebuchet MS" panose="020B0603020202020204" pitchFamily="34" charset="0"/>
              </a:defRPr>
            </a:lvl4pPr>
            <a:lvl5pPr marL="0" lvl="4" indent="0">
              <a:lnSpc>
                <a:spcPct val="100000"/>
              </a:lnSpc>
              <a:spcBef>
                <a:spcPts val="0"/>
              </a:spcBef>
              <a:spcAft>
                <a:spcPts val="0"/>
              </a:spcAft>
              <a:buClrTx/>
              <a:buFont typeface="Trebuchet MS" panose="020B0603020202020204" pitchFamily="34" charset="0"/>
              <a:buChar char="​"/>
              <a:defRPr sz="2400" b="1">
                <a:latin typeface="Trebuchet MS" panose="020B0603020202020204" pitchFamily="34" charset="0"/>
                <a:sym typeface="Trebuchet MS" panose="020B0603020202020204" pitchFamily="34" charset="0"/>
              </a:defRPr>
            </a:lvl5pPr>
            <a:lvl6pPr marL="324000" lvl="5" indent="-216000">
              <a:lnSpc>
                <a:spcPct val="100000"/>
              </a:lnSpc>
              <a:spcBef>
                <a:spcPts val="0"/>
              </a:spcBef>
              <a:spcAft>
                <a:spcPts val="0"/>
              </a:spcAft>
              <a:buClr>
                <a:schemeClr val="tx2"/>
              </a:buClr>
              <a:buFont typeface="Trebuchet MS" panose="020B0603020202020204" pitchFamily="34" charset="0"/>
              <a:buChar char="•"/>
              <a:defRPr sz="2400">
                <a:latin typeface="Trebuchet MS" panose="020B0603020202020204" pitchFamily="34" charset="0"/>
                <a:sym typeface="Trebuchet MS" panose="020B0603020202020204" pitchFamily="34" charset="0"/>
              </a:defRPr>
            </a:lvl6pPr>
            <a:lvl7pPr marL="0" lvl="6" indent="0">
              <a:lnSpc>
                <a:spcPct val="100000"/>
              </a:lnSpc>
              <a:spcBef>
                <a:spcPts val="0"/>
              </a:spcBef>
              <a:spcAft>
                <a:spcPts val="0"/>
              </a:spcAft>
              <a:buFont typeface="Trebuchet MS" panose="020B0603020202020204" pitchFamily="34" charset="0"/>
              <a:buChar char="​"/>
              <a:defRPr sz="5400" baseline="0">
                <a:latin typeface="Trebuchet MS" panose="020B0603020202020204" pitchFamily="34" charset="0"/>
                <a:sym typeface="Trebuchet MS" panose="020B0603020202020204" pitchFamily="34" charset="0"/>
              </a:defRPr>
            </a:lvl7pPr>
            <a:lvl8pPr marL="0" lvl="7" indent="0">
              <a:lnSpc>
                <a:spcPct val="100000"/>
              </a:lnSpc>
              <a:spcBef>
                <a:spcPts val="0"/>
              </a:spcBef>
              <a:spcAft>
                <a:spcPts val="0"/>
              </a:spcAft>
              <a:buFont typeface="Trebuchet MS" panose="020B0603020202020204" pitchFamily="34" charset="0"/>
              <a:buChar char="​"/>
              <a:defRPr sz="6600">
                <a:solidFill>
                  <a:schemeClr val="tx2"/>
                </a:solidFill>
                <a:latin typeface="Trebuchet MS" panose="020B0603020202020204" pitchFamily="34" charset="0"/>
                <a:sym typeface="Trebuchet MS" panose="020B0603020202020204" pitchFamily="34" charset="0"/>
              </a:defRPr>
            </a:lvl8pPr>
            <a:lvl9pPr marL="0" lvl="8" indent="0">
              <a:lnSpc>
                <a:spcPct val="100000"/>
              </a:lnSpc>
              <a:spcBef>
                <a:spcPts val="0"/>
              </a:spcBef>
              <a:spcAft>
                <a:spcPts val="0"/>
              </a:spcAft>
              <a:buFont typeface="Trebuchet MS" panose="020B0603020202020204" pitchFamily="34" charset="0"/>
              <a:buChar char="​"/>
              <a:defRPr sz="4400">
                <a:solidFill>
                  <a:schemeClr val="tx2"/>
                </a:solidFill>
                <a:latin typeface="Trebuchet MS" panose="020B0603020202020204" pitchFamily="34" charset="0"/>
                <a:sym typeface="Trebuchet MS" panose="020B0603020202020204" pitchFamily="34" charset="0"/>
              </a:defRPr>
            </a:lvl9pPr>
          </a:lstStyle>
          <a:p>
            <a:pPr>
              <a:spcBef>
                <a:spcPts val="600"/>
              </a:spcBef>
              <a:buSzPct val="100000"/>
            </a:pPr>
            <a:r>
              <a:rPr lang="en-US" sz="1200" err="1">
                <a:solidFill>
                  <a:srgbClr val="03522D"/>
                </a:solidFill>
              </a:rPr>
              <a:t>跨售</a:t>
            </a:r>
            <a:r>
              <a:rPr lang="en-US" sz="1200">
                <a:solidFill>
                  <a:srgbClr val="03522D"/>
                </a:solidFill>
              </a:rPr>
              <a:t>：</a:t>
            </a:r>
            <a:endParaRPr lang="en-US" sz="1200">
              <a:solidFill>
                <a:srgbClr val="29BA74"/>
              </a:solidFill>
            </a:endParaRPr>
          </a:p>
          <a:p>
            <a:pPr marL="233280" lvl="1" indent="-155520">
              <a:buClr>
                <a:schemeClr val="tx2">
                  <a:lumMod val="100000"/>
                </a:schemeClr>
              </a:buClr>
              <a:buSzPct val="100000"/>
            </a:pPr>
            <a:r>
              <a:rPr lang="zh-TW" altLang="en-US" sz="1200">
                <a:solidFill>
                  <a:srgbClr val="575757"/>
                </a:solidFill>
              </a:rPr>
              <a:t>定期存款 </a:t>
            </a:r>
            <a:r>
              <a:rPr lang="en-US" altLang="zh-TW" sz="1200">
                <a:solidFill>
                  <a:srgbClr val="575757"/>
                </a:solidFill>
              </a:rPr>
              <a:t>(FD</a:t>
            </a:r>
            <a:r>
              <a:rPr lang="zh-TW" altLang="en-US" sz="1200">
                <a:solidFill>
                  <a:srgbClr val="575757"/>
                </a:solidFill>
              </a:rPr>
              <a:t>、</a:t>
            </a:r>
            <a:r>
              <a:rPr lang="en-US" altLang="zh-TW" sz="1200">
                <a:solidFill>
                  <a:srgbClr val="575757"/>
                </a:solidFill>
              </a:rPr>
              <a:t>RD)</a:t>
            </a:r>
            <a:endParaRPr lang="en-US" altLang="zh-TW" sz="1200">
              <a:solidFill>
                <a:srgbClr val="575757"/>
              </a:solidFill>
              <a:highlight>
                <a:srgbClr val="FFFF00"/>
              </a:highlight>
            </a:endParaRPr>
          </a:p>
          <a:p>
            <a:pPr marL="233280" lvl="1" indent="-155520">
              <a:buClr>
                <a:schemeClr val="tx2">
                  <a:lumMod val="100000"/>
                </a:schemeClr>
              </a:buClr>
              <a:buSzPct val="100000"/>
            </a:pPr>
            <a:r>
              <a:rPr lang="zh-TW" altLang="en-US" sz="1200">
                <a:solidFill>
                  <a:srgbClr val="575757"/>
                </a:solidFill>
              </a:rPr>
              <a:t>個人信貸；房貸</a:t>
            </a:r>
            <a:endParaRPr lang="en-US" altLang="zh-TW" sz="1200">
              <a:solidFill>
                <a:srgbClr val="575757"/>
              </a:solidFill>
            </a:endParaRPr>
          </a:p>
          <a:p>
            <a:pPr marL="233280" lvl="1" indent="-155520">
              <a:buClr>
                <a:schemeClr val="tx2">
                  <a:lumMod val="100000"/>
                </a:schemeClr>
              </a:buClr>
              <a:buSzPct val="100000"/>
            </a:pPr>
            <a:r>
              <a:rPr lang="zh-TW" altLang="en-US" sz="1200">
                <a:solidFill>
                  <a:srgbClr val="575757"/>
                </a:solidFill>
              </a:rPr>
              <a:t>保險商品</a:t>
            </a:r>
            <a:endParaRPr lang="en-US" altLang="zh-TW" sz="1200">
              <a:solidFill>
                <a:srgbClr val="575757"/>
              </a:solidFill>
            </a:endParaRPr>
          </a:p>
          <a:p>
            <a:pPr marL="233280" lvl="1" indent="-155520">
              <a:buClr>
                <a:schemeClr val="tx2">
                  <a:lumMod val="100000"/>
                </a:schemeClr>
              </a:buClr>
              <a:buSzPct val="100000"/>
            </a:pPr>
            <a:r>
              <a:rPr lang="zh-TW" altLang="en-US" sz="1200">
                <a:solidFill>
                  <a:srgbClr val="575757"/>
                </a:solidFill>
              </a:rPr>
              <a:t>理財商品 </a:t>
            </a:r>
            <a:r>
              <a:rPr lang="en-US" altLang="zh-TW" sz="1200">
                <a:solidFill>
                  <a:srgbClr val="575757"/>
                </a:solidFill>
              </a:rPr>
              <a:t>(ETF</a:t>
            </a:r>
            <a:r>
              <a:rPr lang="zh-TW" altLang="en-US" sz="1200">
                <a:solidFill>
                  <a:srgbClr val="575757"/>
                </a:solidFill>
              </a:rPr>
              <a:t>、債券、基金等</a:t>
            </a:r>
            <a:r>
              <a:rPr lang="en-US" altLang="zh-TW" sz="1200">
                <a:solidFill>
                  <a:srgbClr val="575757"/>
                </a:solidFill>
              </a:rPr>
              <a:t>)</a:t>
            </a:r>
            <a:endParaRPr lang="en-US" sz="1200">
              <a:solidFill>
                <a:srgbClr val="575757"/>
              </a:solidFill>
            </a:endParaRPr>
          </a:p>
        </p:txBody>
      </p:sp>
      <p:grpSp>
        <p:nvGrpSpPr>
          <p:cNvPr id="73" name="Group 72">
            <a:extLst>
              <a:ext uri="{FF2B5EF4-FFF2-40B4-BE49-F238E27FC236}">
                <a16:creationId xmlns:a16="http://schemas.microsoft.com/office/drawing/2014/main" id="{0B51B63B-FD71-40C9-B3CC-AB05C164A76F}"/>
              </a:ext>
            </a:extLst>
          </p:cNvPr>
          <p:cNvGrpSpPr>
            <a:grpSpLocks noChangeAspect="1"/>
          </p:cNvGrpSpPr>
          <p:nvPr/>
        </p:nvGrpSpPr>
        <p:grpSpPr>
          <a:xfrm>
            <a:off x="5610091" y="3529321"/>
            <a:ext cx="416478" cy="416881"/>
            <a:chOff x="5273675" y="2514600"/>
            <a:chExt cx="1644650" cy="1646238"/>
          </a:xfrm>
        </p:grpSpPr>
        <p:sp>
          <p:nvSpPr>
            <p:cNvPr id="139" name="AutoShape 90">
              <a:extLst>
                <a:ext uri="{FF2B5EF4-FFF2-40B4-BE49-F238E27FC236}">
                  <a16:creationId xmlns:a16="http://schemas.microsoft.com/office/drawing/2014/main" id="{12DCB337-ABEF-483C-A893-1AB144E014D5}"/>
                </a:ext>
              </a:extLst>
            </p:cNvPr>
            <p:cNvSpPr>
              <a:spLocks noChangeAspect="1" noChangeArrowheads="1" noTextEdit="1"/>
            </p:cNvSpPr>
            <p:nvPr/>
          </p:nvSpPr>
          <p:spPr bwMode="auto">
            <a:xfrm>
              <a:off x="5273675" y="2514600"/>
              <a:ext cx="1644650" cy="1646238"/>
            </a:xfrm>
            <a:prstGeom prst="rect">
              <a:avLst/>
            </a:prstGeom>
            <a:noFill/>
            <a:ln>
              <a:noFill/>
            </a:ln>
            <a:extLst>
              <a:ext uri="{909E8E84-426E-40DD-AFC4-6F175D3DCCD1}">
                <a14:hiddenFill xmlns:a14="http://schemas.microsoft.com/office/drawing/2010/main">
                  <a:solidFill>
                    <a:srgbClr val="D4DF33"/>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5837" tIns="32918" rIns="65837" bIns="32918" numCol="1" anchor="t" anchorCtr="0" compatLnSpc="1">
              <a:prstTxWarp prst="textNoShape">
                <a:avLst/>
              </a:prstTxWarp>
            </a:bodyPr>
            <a:lstStyle/>
            <a:p>
              <a:endParaRPr lang="en-US"/>
            </a:p>
          </p:txBody>
        </p:sp>
        <p:grpSp>
          <p:nvGrpSpPr>
            <p:cNvPr id="140" name="Group 139">
              <a:extLst>
                <a:ext uri="{FF2B5EF4-FFF2-40B4-BE49-F238E27FC236}">
                  <a16:creationId xmlns:a16="http://schemas.microsoft.com/office/drawing/2014/main" id="{E19F3FCA-4E3B-4481-88DB-1A209BDF0A71}"/>
                </a:ext>
              </a:extLst>
            </p:cNvPr>
            <p:cNvGrpSpPr/>
            <p:nvPr/>
          </p:nvGrpSpPr>
          <p:grpSpPr>
            <a:xfrm>
              <a:off x="5508625" y="3076575"/>
              <a:ext cx="1174751" cy="806450"/>
              <a:chOff x="5508625" y="3076575"/>
              <a:chExt cx="1174751" cy="806450"/>
            </a:xfrm>
          </p:grpSpPr>
          <p:sp>
            <p:nvSpPr>
              <p:cNvPr id="141" name="Freeform 92">
                <a:extLst>
                  <a:ext uri="{FF2B5EF4-FFF2-40B4-BE49-F238E27FC236}">
                    <a16:creationId xmlns:a16="http://schemas.microsoft.com/office/drawing/2014/main" id="{20336692-14B2-4F27-AEC0-3DFCACAAE452}"/>
                  </a:ext>
                </a:extLst>
              </p:cNvPr>
              <p:cNvSpPr>
                <a:spLocks/>
              </p:cNvSpPr>
              <p:nvPr/>
            </p:nvSpPr>
            <p:spPr bwMode="auto">
              <a:xfrm>
                <a:off x="6113463" y="3076575"/>
                <a:ext cx="569913" cy="612775"/>
              </a:xfrm>
              <a:custGeom>
                <a:avLst/>
                <a:gdLst>
                  <a:gd name="T0" fmla="*/ 799 w 799"/>
                  <a:gd name="T1" fmla="*/ 222 h 858"/>
                  <a:gd name="T2" fmla="*/ 799 w 799"/>
                  <a:gd name="T3" fmla="*/ 220 h 858"/>
                  <a:gd name="T4" fmla="*/ 799 w 799"/>
                  <a:gd name="T5" fmla="*/ 219 h 858"/>
                  <a:gd name="T6" fmla="*/ 799 w 799"/>
                  <a:gd name="T7" fmla="*/ 218 h 858"/>
                  <a:gd name="T8" fmla="*/ 799 w 799"/>
                  <a:gd name="T9" fmla="*/ 215 h 858"/>
                  <a:gd name="T10" fmla="*/ 798 w 799"/>
                  <a:gd name="T11" fmla="*/ 215 h 858"/>
                  <a:gd name="T12" fmla="*/ 798 w 799"/>
                  <a:gd name="T13" fmla="*/ 215 h 858"/>
                  <a:gd name="T14" fmla="*/ 798 w 799"/>
                  <a:gd name="T15" fmla="*/ 213 h 858"/>
                  <a:gd name="T16" fmla="*/ 798 w 799"/>
                  <a:gd name="T17" fmla="*/ 211 h 858"/>
                  <a:gd name="T18" fmla="*/ 798 w 799"/>
                  <a:gd name="T19" fmla="*/ 210 h 858"/>
                  <a:gd name="T20" fmla="*/ 797 w 799"/>
                  <a:gd name="T21" fmla="*/ 210 h 858"/>
                  <a:gd name="T22" fmla="*/ 797 w 799"/>
                  <a:gd name="T23" fmla="*/ 209 h 858"/>
                  <a:gd name="T24" fmla="*/ 796 w 799"/>
                  <a:gd name="T25" fmla="*/ 207 h 858"/>
                  <a:gd name="T26" fmla="*/ 796 w 799"/>
                  <a:gd name="T27" fmla="*/ 206 h 858"/>
                  <a:gd name="T28" fmla="*/ 796 w 799"/>
                  <a:gd name="T29" fmla="*/ 204 h 858"/>
                  <a:gd name="T30" fmla="*/ 795 w 799"/>
                  <a:gd name="T31" fmla="*/ 202 h 858"/>
                  <a:gd name="T32" fmla="*/ 794 w 799"/>
                  <a:gd name="T33" fmla="*/ 201 h 858"/>
                  <a:gd name="T34" fmla="*/ 794 w 799"/>
                  <a:gd name="T35" fmla="*/ 200 h 858"/>
                  <a:gd name="T36" fmla="*/ 793 w 799"/>
                  <a:gd name="T37" fmla="*/ 198 h 858"/>
                  <a:gd name="T38" fmla="*/ 792 w 799"/>
                  <a:gd name="T39" fmla="*/ 197 h 858"/>
                  <a:gd name="T40" fmla="*/ 791 w 799"/>
                  <a:gd name="T41" fmla="*/ 197 h 858"/>
                  <a:gd name="T42" fmla="*/ 790 w 799"/>
                  <a:gd name="T43" fmla="*/ 195 h 858"/>
                  <a:gd name="T44" fmla="*/ 789 w 799"/>
                  <a:gd name="T45" fmla="*/ 194 h 858"/>
                  <a:gd name="T46" fmla="*/ 789 w 799"/>
                  <a:gd name="T47" fmla="*/ 193 h 858"/>
                  <a:gd name="T48" fmla="*/ 789 w 799"/>
                  <a:gd name="T49" fmla="*/ 193 h 858"/>
                  <a:gd name="T50" fmla="*/ 787 w 799"/>
                  <a:gd name="T51" fmla="*/ 191 h 858"/>
                  <a:gd name="T52" fmla="*/ 786 w 799"/>
                  <a:gd name="T53" fmla="*/ 189 h 858"/>
                  <a:gd name="T54" fmla="*/ 784 w 799"/>
                  <a:gd name="T55" fmla="*/ 188 h 858"/>
                  <a:gd name="T56" fmla="*/ 782 w 799"/>
                  <a:gd name="T57" fmla="*/ 186 h 858"/>
                  <a:gd name="T58" fmla="*/ 780 w 799"/>
                  <a:gd name="T59" fmla="*/ 185 h 858"/>
                  <a:gd name="T60" fmla="*/ 778 w 799"/>
                  <a:gd name="T61" fmla="*/ 183 h 858"/>
                  <a:gd name="T62" fmla="*/ 777 w 799"/>
                  <a:gd name="T63" fmla="*/ 183 h 858"/>
                  <a:gd name="T64" fmla="*/ 497 w 799"/>
                  <a:gd name="T65" fmla="*/ 7 h 858"/>
                  <a:gd name="T66" fmla="*/ 472 w 799"/>
                  <a:gd name="T67" fmla="*/ 0 h 858"/>
                  <a:gd name="T68" fmla="*/ 432 w 799"/>
                  <a:gd name="T69" fmla="*/ 22 h 858"/>
                  <a:gd name="T70" fmla="*/ 447 w 799"/>
                  <a:gd name="T71" fmla="*/ 87 h 858"/>
                  <a:gd name="T72" fmla="*/ 628 w 799"/>
                  <a:gd name="T73" fmla="*/ 200 h 858"/>
                  <a:gd name="T74" fmla="*/ 164 w 799"/>
                  <a:gd name="T75" fmla="*/ 447 h 858"/>
                  <a:gd name="T76" fmla="*/ 0 w 799"/>
                  <a:gd name="T77" fmla="*/ 694 h 858"/>
                  <a:gd name="T78" fmla="*/ 47 w 799"/>
                  <a:gd name="T79" fmla="*/ 858 h 858"/>
                  <a:gd name="T80" fmla="*/ 661 w 799"/>
                  <a:gd name="T81" fmla="*/ 289 h 858"/>
                  <a:gd name="T82" fmla="*/ 548 w 799"/>
                  <a:gd name="T83" fmla="*/ 486 h 858"/>
                  <a:gd name="T84" fmla="*/ 565 w 799"/>
                  <a:gd name="T85" fmla="*/ 550 h 858"/>
                  <a:gd name="T86" fmla="*/ 588 w 799"/>
                  <a:gd name="T87" fmla="*/ 556 h 858"/>
                  <a:gd name="T88" fmla="*/ 629 w 799"/>
                  <a:gd name="T89" fmla="*/ 533 h 858"/>
                  <a:gd name="T90" fmla="*/ 793 w 799"/>
                  <a:gd name="T91" fmla="*/ 246 h 858"/>
                  <a:gd name="T92" fmla="*/ 794 w 799"/>
                  <a:gd name="T93" fmla="*/ 244 h 858"/>
                  <a:gd name="T94" fmla="*/ 795 w 799"/>
                  <a:gd name="T95" fmla="*/ 242 h 858"/>
                  <a:gd name="T96" fmla="*/ 795 w 799"/>
                  <a:gd name="T97" fmla="*/ 242 h 858"/>
                  <a:gd name="T98" fmla="*/ 796 w 799"/>
                  <a:gd name="T99" fmla="*/ 240 h 858"/>
                  <a:gd name="T100" fmla="*/ 796 w 799"/>
                  <a:gd name="T101" fmla="*/ 238 h 858"/>
                  <a:gd name="T102" fmla="*/ 797 w 799"/>
                  <a:gd name="T103" fmla="*/ 237 h 858"/>
                  <a:gd name="T104" fmla="*/ 797 w 799"/>
                  <a:gd name="T105" fmla="*/ 236 h 858"/>
                  <a:gd name="T106" fmla="*/ 798 w 799"/>
                  <a:gd name="T107" fmla="*/ 234 h 858"/>
                  <a:gd name="T108" fmla="*/ 798 w 799"/>
                  <a:gd name="T109" fmla="*/ 233 h 858"/>
                  <a:gd name="T110" fmla="*/ 798 w 799"/>
                  <a:gd name="T111" fmla="*/ 231 h 858"/>
                  <a:gd name="T112" fmla="*/ 798 w 799"/>
                  <a:gd name="T113" fmla="*/ 231 h 858"/>
                  <a:gd name="T114" fmla="*/ 799 w 799"/>
                  <a:gd name="T115" fmla="*/ 229 h 858"/>
                  <a:gd name="T116" fmla="*/ 799 w 799"/>
                  <a:gd name="T117" fmla="*/ 228 h 858"/>
                  <a:gd name="T118" fmla="*/ 799 w 799"/>
                  <a:gd name="T119" fmla="*/ 227 h 858"/>
                  <a:gd name="T120" fmla="*/ 799 w 799"/>
                  <a:gd name="T121" fmla="*/ 225 h 858"/>
                  <a:gd name="T122" fmla="*/ 799 w 799"/>
                  <a:gd name="T123" fmla="*/ 224 h 858"/>
                  <a:gd name="T124" fmla="*/ 799 w 799"/>
                  <a:gd name="T125" fmla="*/ 222 h 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9" h="858">
                    <a:moveTo>
                      <a:pt x="799" y="222"/>
                    </a:moveTo>
                    <a:cubicBezTo>
                      <a:pt x="799" y="221"/>
                      <a:pt x="799" y="221"/>
                      <a:pt x="799" y="220"/>
                    </a:cubicBezTo>
                    <a:cubicBezTo>
                      <a:pt x="799" y="220"/>
                      <a:pt x="799" y="220"/>
                      <a:pt x="799" y="219"/>
                    </a:cubicBezTo>
                    <a:cubicBezTo>
                      <a:pt x="799" y="219"/>
                      <a:pt x="799" y="218"/>
                      <a:pt x="799" y="218"/>
                    </a:cubicBezTo>
                    <a:cubicBezTo>
                      <a:pt x="799" y="217"/>
                      <a:pt x="799" y="216"/>
                      <a:pt x="799" y="215"/>
                    </a:cubicBezTo>
                    <a:cubicBezTo>
                      <a:pt x="799" y="215"/>
                      <a:pt x="799" y="215"/>
                      <a:pt x="798" y="215"/>
                    </a:cubicBezTo>
                    <a:cubicBezTo>
                      <a:pt x="798" y="215"/>
                      <a:pt x="798" y="215"/>
                      <a:pt x="798" y="215"/>
                    </a:cubicBezTo>
                    <a:cubicBezTo>
                      <a:pt x="798" y="214"/>
                      <a:pt x="798" y="214"/>
                      <a:pt x="798" y="213"/>
                    </a:cubicBezTo>
                    <a:cubicBezTo>
                      <a:pt x="798" y="212"/>
                      <a:pt x="798" y="212"/>
                      <a:pt x="798" y="211"/>
                    </a:cubicBezTo>
                    <a:cubicBezTo>
                      <a:pt x="798" y="211"/>
                      <a:pt x="798" y="211"/>
                      <a:pt x="798" y="210"/>
                    </a:cubicBezTo>
                    <a:cubicBezTo>
                      <a:pt x="798" y="210"/>
                      <a:pt x="798" y="210"/>
                      <a:pt x="797" y="210"/>
                    </a:cubicBezTo>
                    <a:cubicBezTo>
                      <a:pt x="797" y="210"/>
                      <a:pt x="797" y="209"/>
                      <a:pt x="797" y="209"/>
                    </a:cubicBezTo>
                    <a:cubicBezTo>
                      <a:pt x="797" y="208"/>
                      <a:pt x="797" y="207"/>
                      <a:pt x="796" y="207"/>
                    </a:cubicBezTo>
                    <a:cubicBezTo>
                      <a:pt x="796" y="206"/>
                      <a:pt x="796" y="206"/>
                      <a:pt x="796" y="206"/>
                    </a:cubicBezTo>
                    <a:cubicBezTo>
                      <a:pt x="796" y="205"/>
                      <a:pt x="796" y="205"/>
                      <a:pt x="796" y="204"/>
                    </a:cubicBezTo>
                    <a:cubicBezTo>
                      <a:pt x="795" y="204"/>
                      <a:pt x="795" y="203"/>
                      <a:pt x="795" y="202"/>
                    </a:cubicBezTo>
                    <a:cubicBezTo>
                      <a:pt x="795" y="202"/>
                      <a:pt x="794" y="202"/>
                      <a:pt x="794" y="201"/>
                    </a:cubicBezTo>
                    <a:cubicBezTo>
                      <a:pt x="794" y="201"/>
                      <a:pt x="794" y="201"/>
                      <a:pt x="794" y="200"/>
                    </a:cubicBezTo>
                    <a:cubicBezTo>
                      <a:pt x="793" y="200"/>
                      <a:pt x="793" y="199"/>
                      <a:pt x="793" y="198"/>
                    </a:cubicBezTo>
                    <a:cubicBezTo>
                      <a:pt x="792" y="198"/>
                      <a:pt x="792" y="198"/>
                      <a:pt x="792" y="197"/>
                    </a:cubicBezTo>
                    <a:cubicBezTo>
                      <a:pt x="792" y="197"/>
                      <a:pt x="792" y="197"/>
                      <a:pt x="791" y="197"/>
                    </a:cubicBezTo>
                    <a:cubicBezTo>
                      <a:pt x="791" y="196"/>
                      <a:pt x="791" y="195"/>
                      <a:pt x="790" y="195"/>
                    </a:cubicBezTo>
                    <a:cubicBezTo>
                      <a:pt x="790" y="194"/>
                      <a:pt x="790" y="194"/>
                      <a:pt x="789" y="194"/>
                    </a:cubicBezTo>
                    <a:cubicBezTo>
                      <a:pt x="789" y="194"/>
                      <a:pt x="789" y="193"/>
                      <a:pt x="789" y="193"/>
                    </a:cubicBezTo>
                    <a:cubicBezTo>
                      <a:pt x="789" y="193"/>
                      <a:pt x="789" y="193"/>
                      <a:pt x="789" y="193"/>
                    </a:cubicBezTo>
                    <a:cubicBezTo>
                      <a:pt x="788" y="192"/>
                      <a:pt x="788" y="192"/>
                      <a:pt x="787" y="191"/>
                    </a:cubicBezTo>
                    <a:cubicBezTo>
                      <a:pt x="787" y="191"/>
                      <a:pt x="786" y="190"/>
                      <a:pt x="786" y="189"/>
                    </a:cubicBezTo>
                    <a:cubicBezTo>
                      <a:pt x="785" y="189"/>
                      <a:pt x="785" y="188"/>
                      <a:pt x="784" y="188"/>
                    </a:cubicBezTo>
                    <a:cubicBezTo>
                      <a:pt x="783" y="187"/>
                      <a:pt x="783" y="187"/>
                      <a:pt x="782" y="186"/>
                    </a:cubicBezTo>
                    <a:cubicBezTo>
                      <a:pt x="782" y="186"/>
                      <a:pt x="781" y="185"/>
                      <a:pt x="780" y="185"/>
                    </a:cubicBezTo>
                    <a:cubicBezTo>
                      <a:pt x="780" y="184"/>
                      <a:pt x="779" y="184"/>
                      <a:pt x="778" y="183"/>
                    </a:cubicBezTo>
                    <a:cubicBezTo>
                      <a:pt x="778" y="183"/>
                      <a:pt x="778" y="183"/>
                      <a:pt x="777" y="183"/>
                    </a:cubicBezTo>
                    <a:cubicBezTo>
                      <a:pt x="497" y="7"/>
                      <a:pt x="497" y="7"/>
                      <a:pt x="497" y="7"/>
                    </a:cubicBezTo>
                    <a:cubicBezTo>
                      <a:pt x="489" y="2"/>
                      <a:pt x="480" y="0"/>
                      <a:pt x="472" y="0"/>
                    </a:cubicBezTo>
                    <a:cubicBezTo>
                      <a:pt x="456" y="0"/>
                      <a:pt x="441" y="8"/>
                      <a:pt x="432" y="22"/>
                    </a:cubicBezTo>
                    <a:cubicBezTo>
                      <a:pt x="419" y="44"/>
                      <a:pt x="425" y="73"/>
                      <a:pt x="447" y="87"/>
                    </a:cubicBezTo>
                    <a:cubicBezTo>
                      <a:pt x="628" y="200"/>
                      <a:pt x="628" y="200"/>
                      <a:pt x="628" y="200"/>
                    </a:cubicBezTo>
                    <a:cubicBezTo>
                      <a:pt x="435" y="248"/>
                      <a:pt x="279" y="330"/>
                      <a:pt x="164" y="447"/>
                    </a:cubicBezTo>
                    <a:cubicBezTo>
                      <a:pt x="93" y="518"/>
                      <a:pt x="39" y="600"/>
                      <a:pt x="0" y="694"/>
                    </a:cubicBezTo>
                    <a:cubicBezTo>
                      <a:pt x="20" y="746"/>
                      <a:pt x="35" y="801"/>
                      <a:pt x="47" y="858"/>
                    </a:cubicBezTo>
                    <a:cubicBezTo>
                      <a:pt x="127" y="504"/>
                      <a:pt x="399" y="352"/>
                      <a:pt x="661" y="289"/>
                    </a:cubicBezTo>
                    <a:cubicBezTo>
                      <a:pt x="548" y="486"/>
                      <a:pt x="548" y="486"/>
                      <a:pt x="548" y="486"/>
                    </a:cubicBezTo>
                    <a:cubicBezTo>
                      <a:pt x="535" y="509"/>
                      <a:pt x="543" y="537"/>
                      <a:pt x="565" y="550"/>
                    </a:cubicBezTo>
                    <a:cubicBezTo>
                      <a:pt x="572" y="554"/>
                      <a:pt x="580" y="556"/>
                      <a:pt x="588" y="556"/>
                    </a:cubicBezTo>
                    <a:cubicBezTo>
                      <a:pt x="604" y="556"/>
                      <a:pt x="620" y="548"/>
                      <a:pt x="629" y="533"/>
                    </a:cubicBezTo>
                    <a:cubicBezTo>
                      <a:pt x="793" y="246"/>
                      <a:pt x="793" y="246"/>
                      <a:pt x="793" y="246"/>
                    </a:cubicBezTo>
                    <a:cubicBezTo>
                      <a:pt x="793" y="245"/>
                      <a:pt x="793" y="245"/>
                      <a:pt x="794" y="244"/>
                    </a:cubicBezTo>
                    <a:cubicBezTo>
                      <a:pt x="794" y="244"/>
                      <a:pt x="794" y="243"/>
                      <a:pt x="795" y="242"/>
                    </a:cubicBezTo>
                    <a:cubicBezTo>
                      <a:pt x="795" y="242"/>
                      <a:pt x="795" y="242"/>
                      <a:pt x="795" y="242"/>
                    </a:cubicBezTo>
                    <a:cubicBezTo>
                      <a:pt x="795" y="241"/>
                      <a:pt x="795" y="241"/>
                      <a:pt x="796" y="240"/>
                    </a:cubicBezTo>
                    <a:cubicBezTo>
                      <a:pt x="796" y="239"/>
                      <a:pt x="796" y="239"/>
                      <a:pt x="796" y="238"/>
                    </a:cubicBezTo>
                    <a:cubicBezTo>
                      <a:pt x="796" y="238"/>
                      <a:pt x="797" y="238"/>
                      <a:pt x="797" y="237"/>
                    </a:cubicBezTo>
                    <a:cubicBezTo>
                      <a:pt x="797" y="237"/>
                      <a:pt x="797" y="236"/>
                      <a:pt x="797" y="236"/>
                    </a:cubicBezTo>
                    <a:cubicBezTo>
                      <a:pt x="797" y="235"/>
                      <a:pt x="798" y="234"/>
                      <a:pt x="798" y="234"/>
                    </a:cubicBezTo>
                    <a:cubicBezTo>
                      <a:pt x="798" y="233"/>
                      <a:pt x="798" y="233"/>
                      <a:pt x="798" y="233"/>
                    </a:cubicBezTo>
                    <a:cubicBezTo>
                      <a:pt x="798" y="232"/>
                      <a:pt x="798" y="232"/>
                      <a:pt x="798" y="231"/>
                    </a:cubicBezTo>
                    <a:cubicBezTo>
                      <a:pt x="798" y="231"/>
                      <a:pt x="798" y="231"/>
                      <a:pt x="798" y="231"/>
                    </a:cubicBezTo>
                    <a:cubicBezTo>
                      <a:pt x="798" y="230"/>
                      <a:pt x="799" y="230"/>
                      <a:pt x="799" y="229"/>
                    </a:cubicBezTo>
                    <a:cubicBezTo>
                      <a:pt x="799" y="229"/>
                      <a:pt x="799" y="229"/>
                      <a:pt x="799" y="228"/>
                    </a:cubicBezTo>
                    <a:cubicBezTo>
                      <a:pt x="799" y="228"/>
                      <a:pt x="799" y="227"/>
                      <a:pt x="799" y="227"/>
                    </a:cubicBezTo>
                    <a:cubicBezTo>
                      <a:pt x="799" y="226"/>
                      <a:pt x="799" y="225"/>
                      <a:pt x="799" y="225"/>
                    </a:cubicBezTo>
                    <a:cubicBezTo>
                      <a:pt x="799" y="224"/>
                      <a:pt x="799" y="224"/>
                      <a:pt x="799" y="224"/>
                    </a:cubicBezTo>
                    <a:cubicBezTo>
                      <a:pt x="799" y="223"/>
                      <a:pt x="799" y="223"/>
                      <a:pt x="799" y="22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5837" tIns="32918" rIns="65837" bIns="32918" numCol="1" anchor="t" anchorCtr="0" compatLnSpc="1">
                <a:prstTxWarp prst="textNoShape">
                  <a:avLst/>
                </a:prstTxWarp>
              </a:bodyPr>
              <a:lstStyle/>
              <a:p>
                <a:endParaRPr lang="en-US"/>
              </a:p>
            </p:txBody>
          </p:sp>
          <p:sp>
            <p:nvSpPr>
              <p:cNvPr id="142" name="Freeform 93">
                <a:extLst>
                  <a:ext uri="{FF2B5EF4-FFF2-40B4-BE49-F238E27FC236}">
                    <a16:creationId xmlns:a16="http://schemas.microsoft.com/office/drawing/2014/main" id="{C1A5DE9A-4A7D-4A63-B2EF-368854B6E926}"/>
                  </a:ext>
                </a:extLst>
              </p:cNvPr>
              <p:cNvSpPr>
                <a:spLocks/>
              </p:cNvSpPr>
              <p:nvPr/>
            </p:nvSpPr>
            <p:spPr bwMode="auto">
              <a:xfrm>
                <a:off x="5508625" y="3076575"/>
                <a:ext cx="620713" cy="806450"/>
              </a:xfrm>
              <a:custGeom>
                <a:avLst/>
                <a:gdLst>
                  <a:gd name="T0" fmla="*/ 811 w 870"/>
                  <a:gd name="T1" fmla="*/ 725 h 1130"/>
                  <a:gd name="T2" fmla="*/ 635 w 870"/>
                  <a:gd name="T3" fmla="*/ 447 h 1130"/>
                  <a:gd name="T4" fmla="*/ 352 w 870"/>
                  <a:gd name="T5" fmla="*/ 87 h 1130"/>
                  <a:gd name="T6" fmla="*/ 327 w 870"/>
                  <a:gd name="T7" fmla="*/ 0 h 1130"/>
                  <a:gd name="T8" fmla="*/ 22 w 870"/>
                  <a:gd name="T9" fmla="*/ 183 h 1130"/>
                  <a:gd name="T10" fmla="*/ 21 w 870"/>
                  <a:gd name="T11" fmla="*/ 184 h 1130"/>
                  <a:gd name="T12" fmla="*/ 17 w 870"/>
                  <a:gd name="T13" fmla="*/ 186 h 1130"/>
                  <a:gd name="T14" fmla="*/ 13 w 870"/>
                  <a:gd name="T15" fmla="*/ 189 h 1130"/>
                  <a:gd name="T16" fmla="*/ 13 w 870"/>
                  <a:gd name="T17" fmla="*/ 190 h 1130"/>
                  <a:gd name="T18" fmla="*/ 10 w 870"/>
                  <a:gd name="T19" fmla="*/ 193 h 1130"/>
                  <a:gd name="T20" fmla="*/ 9 w 870"/>
                  <a:gd name="T21" fmla="*/ 195 h 1130"/>
                  <a:gd name="T22" fmla="*/ 7 w 870"/>
                  <a:gd name="T23" fmla="*/ 198 h 1130"/>
                  <a:gd name="T24" fmla="*/ 5 w 870"/>
                  <a:gd name="T25" fmla="*/ 200 h 1130"/>
                  <a:gd name="T26" fmla="*/ 4 w 870"/>
                  <a:gd name="T27" fmla="*/ 202 h 1130"/>
                  <a:gd name="T28" fmla="*/ 3 w 870"/>
                  <a:gd name="T29" fmla="*/ 206 h 1130"/>
                  <a:gd name="T30" fmla="*/ 2 w 870"/>
                  <a:gd name="T31" fmla="*/ 209 h 1130"/>
                  <a:gd name="T32" fmla="*/ 1 w 870"/>
                  <a:gd name="T33" fmla="*/ 210 h 1130"/>
                  <a:gd name="T34" fmla="*/ 1 w 870"/>
                  <a:gd name="T35" fmla="*/ 213 h 1130"/>
                  <a:gd name="T36" fmla="*/ 1 w 870"/>
                  <a:gd name="T37" fmla="*/ 215 h 1130"/>
                  <a:gd name="T38" fmla="*/ 0 w 870"/>
                  <a:gd name="T39" fmla="*/ 218 h 1130"/>
                  <a:gd name="T40" fmla="*/ 0 w 870"/>
                  <a:gd name="T41" fmla="*/ 220 h 1130"/>
                  <a:gd name="T42" fmla="*/ 0 w 870"/>
                  <a:gd name="T43" fmla="*/ 224 h 1130"/>
                  <a:gd name="T44" fmla="*/ 0 w 870"/>
                  <a:gd name="T45" fmla="*/ 227 h 1130"/>
                  <a:gd name="T46" fmla="*/ 0 w 870"/>
                  <a:gd name="T47" fmla="*/ 229 h 1130"/>
                  <a:gd name="T48" fmla="*/ 1 w 870"/>
                  <a:gd name="T49" fmla="*/ 233 h 1130"/>
                  <a:gd name="T50" fmla="*/ 2 w 870"/>
                  <a:gd name="T51" fmla="*/ 236 h 1130"/>
                  <a:gd name="T52" fmla="*/ 3 w 870"/>
                  <a:gd name="T53" fmla="*/ 238 h 1130"/>
                  <a:gd name="T54" fmla="*/ 4 w 870"/>
                  <a:gd name="T55" fmla="*/ 242 h 1130"/>
                  <a:gd name="T56" fmla="*/ 5 w 870"/>
                  <a:gd name="T57" fmla="*/ 244 h 1130"/>
                  <a:gd name="T58" fmla="*/ 170 w 870"/>
                  <a:gd name="T59" fmla="*/ 533 h 1130"/>
                  <a:gd name="T60" fmla="*/ 234 w 870"/>
                  <a:gd name="T61" fmla="*/ 550 h 1130"/>
                  <a:gd name="T62" fmla="*/ 138 w 870"/>
                  <a:gd name="T63" fmla="*/ 289 h 1130"/>
                  <a:gd name="T64" fmla="*/ 765 w 870"/>
                  <a:gd name="T65" fmla="*/ 922 h 1130"/>
                  <a:gd name="T66" fmla="*/ 823 w 870"/>
                  <a:gd name="T67" fmla="*/ 1130 h 1130"/>
                  <a:gd name="T68" fmla="*/ 823 w 870"/>
                  <a:gd name="T69" fmla="*/ 759 h 1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70" h="1130">
                    <a:moveTo>
                      <a:pt x="823" y="759"/>
                    </a:moveTo>
                    <a:cubicBezTo>
                      <a:pt x="819" y="748"/>
                      <a:pt x="815" y="736"/>
                      <a:pt x="811" y="725"/>
                    </a:cubicBezTo>
                    <a:cubicBezTo>
                      <a:pt x="807" y="715"/>
                      <a:pt x="803" y="704"/>
                      <a:pt x="799" y="694"/>
                    </a:cubicBezTo>
                    <a:cubicBezTo>
                      <a:pt x="760" y="600"/>
                      <a:pt x="706" y="518"/>
                      <a:pt x="635" y="447"/>
                    </a:cubicBezTo>
                    <a:cubicBezTo>
                      <a:pt x="520" y="330"/>
                      <a:pt x="364" y="248"/>
                      <a:pt x="171" y="200"/>
                    </a:cubicBezTo>
                    <a:cubicBezTo>
                      <a:pt x="352" y="87"/>
                      <a:pt x="352" y="87"/>
                      <a:pt x="352" y="87"/>
                    </a:cubicBezTo>
                    <a:cubicBezTo>
                      <a:pt x="374" y="73"/>
                      <a:pt x="380" y="44"/>
                      <a:pt x="367" y="22"/>
                    </a:cubicBezTo>
                    <a:cubicBezTo>
                      <a:pt x="358" y="8"/>
                      <a:pt x="343" y="0"/>
                      <a:pt x="327" y="0"/>
                    </a:cubicBezTo>
                    <a:cubicBezTo>
                      <a:pt x="319" y="0"/>
                      <a:pt x="310" y="2"/>
                      <a:pt x="302" y="7"/>
                    </a:cubicBezTo>
                    <a:cubicBezTo>
                      <a:pt x="22" y="183"/>
                      <a:pt x="22" y="183"/>
                      <a:pt x="22" y="183"/>
                    </a:cubicBezTo>
                    <a:cubicBezTo>
                      <a:pt x="21" y="183"/>
                      <a:pt x="21" y="183"/>
                      <a:pt x="21" y="183"/>
                    </a:cubicBezTo>
                    <a:cubicBezTo>
                      <a:pt x="21" y="183"/>
                      <a:pt x="21" y="183"/>
                      <a:pt x="21" y="184"/>
                    </a:cubicBezTo>
                    <a:cubicBezTo>
                      <a:pt x="20" y="184"/>
                      <a:pt x="19" y="184"/>
                      <a:pt x="19" y="185"/>
                    </a:cubicBezTo>
                    <a:cubicBezTo>
                      <a:pt x="18" y="185"/>
                      <a:pt x="17" y="186"/>
                      <a:pt x="17" y="186"/>
                    </a:cubicBezTo>
                    <a:cubicBezTo>
                      <a:pt x="16" y="187"/>
                      <a:pt x="16" y="187"/>
                      <a:pt x="15" y="188"/>
                    </a:cubicBezTo>
                    <a:cubicBezTo>
                      <a:pt x="14" y="188"/>
                      <a:pt x="14" y="189"/>
                      <a:pt x="13" y="189"/>
                    </a:cubicBezTo>
                    <a:cubicBezTo>
                      <a:pt x="13" y="189"/>
                      <a:pt x="13" y="190"/>
                      <a:pt x="13" y="190"/>
                    </a:cubicBezTo>
                    <a:cubicBezTo>
                      <a:pt x="13" y="190"/>
                      <a:pt x="13" y="190"/>
                      <a:pt x="13" y="190"/>
                    </a:cubicBezTo>
                    <a:cubicBezTo>
                      <a:pt x="12" y="191"/>
                      <a:pt x="12" y="191"/>
                      <a:pt x="12" y="191"/>
                    </a:cubicBezTo>
                    <a:cubicBezTo>
                      <a:pt x="11" y="192"/>
                      <a:pt x="11" y="192"/>
                      <a:pt x="10" y="193"/>
                    </a:cubicBezTo>
                    <a:cubicBezTo>
                      <a:pt x="10" y="193"/>
                      <a:pt x="10" y="193"/>
                      <a:pt x="10" y="194"/>
                    </a:cubicBezTo>
                    <a:cubicBezTo>
                      <a:pt x="9" y="194"/>
                      <a:pt x="9" y="194"/>
                      <a:pt x="9" y="195"/>
                    </a:cubicBezTo>
                    <a:cubicBezTo>
                      <a:pt x="9" y="195"/>
                      <a:pt x="8" y="196"/>
                      <a:pt x="8" y="196"/>
                    </a:cubicBezTo>
                    <a:cubicBezTo>
                      <a:pt x="7" y="197"/>
                      <a:pt x="7" y="197"/>
                      <a:pt x="7" y="198"/>
                    </a:cubicBezTo>
                    <a:cubicBezTo>
                      <a:pt x="7" y="198"/>
                      <a:pt x="7" y="198"/>
                      <a:pt x="6" y="198"/>
                    </a:cubicBezTo>
                    <a:cubicBezTo>
                      <a:pt x="6" y="199"/>
                      <a:pt x="6" y="200"/>
                      <a:pt x="5" y="200"/>
                    </a:cubicBezTo>
                    <a:cubicBezTo>
                      <a:pt x="5" y="201"/>
                      <a:pt x="5" y="201"/>
                      <a:pt x="5" y="202"/>
                    </a:cubicBezTo>
                    <a:cubicBezTo>
                      <a:pt x="5" y="202"/>
                      <a:pt x="4" y="202"/>
                      <a:pt x="4" y="202"/>
                    </a:cubicBezTo>
                    <a:cubicBezTo>
                      <a:pt x="4" y="203"/>
                      <a:pt x="4" y="204"/>
                      <a:pt x="3" y="204"/>
                    </a:cubicBezTo>
                    <a:cubicBezTo>
                      <a:pt x="3" y="205"/>
                      <a:pt x="3" y="205"/>
                      <a:pt x="3" y="206"/>
                    </a:cubicBezTo>
                    <a:cubicBezTo>
                      <a:pt x="3" y="206"/>
                      <a:pt x="3" y="206"/>
                      <a:pt x="3" y="207"/>
                    </a:cubicBezTo>
                    <a:cubicBezTo>
                      <a:pt x="2" y="207"/>
                      <a:pt x="2" y="208"/>
                      <a:pt x="2" y="209"/>
                    </a:cubicBezTo>
                    <a:cubicBezTo>
                      <a:pt x="2" y="209"/>
                      <a:pt x="2" y="210"/>
                      <a:pt x="2" y="210"/>
                    </a:cubicBezTo>
                    <a:cubicBezTo>
                      <a:pt x="1" y="210"/>
                      <a:pt x="1" y="210"/>
                      <a:pt x="1" y="210"/>
                    </a:cubicBezTo>
                    <a:cubicBezTo>
                      <a:pt x="1" y="211"/>
                      <a:pt x="1" y="211"/>
                      <a:pt x="1" y="211"/>
                    </a:cubicBezTo>
                    <a:cubicBezTo>
                      <a:pt x="1" y="212"/>
                      <a:pt x="1" y="212"/>
                      <a:pt x="1" y="213"/>
                    </a:cubicBezTo>
                    <a:cubicBezTo>
                      <a:pt x="1" y="214"/>
                      <a:pt x="1" y="214"/>
                      <a:pt x="1" y="215"/>
                    </a:cubicBezTo>
                    <a:cubicBezTo>
                      <a:pt x="1" y="215"/>
                      <a:pt x="1" y="215"/>
                      <a:pt x="1" y="215"/>
                    </a:cubicBezTo>
                    <a:cubicBezTo>
                      <a:pt x="0" y="215"/>
                      <a:pt x="0" y="215"/>
                      <a:pt x="0" y="215"/>
                    </a:cubicBezTo>
                    <a:cubicBezTo>
                      <a:pt x="0" y="216"/>
                      <a:pt x="0" y="217"/>
                      <a:pt x="0" y="218"/>
                    </a:cubicBezTo>
                    <a:cubicBezTo>
                      <a:pt x="0" y="218"/>
                      <a:pt x="0" y="219"/>
                      <a:pt x="0" y="219"/>
                    </a:cubicBezTo>
                    <a:cubicBezTo>
                      <a:pt x="0" y="220"/>
                      <a:pt x="0" y="220"/>
                      <a:pt x="0" y="220"/>
                    </a:cubicBezTo>
                    <a:cubicBezTo>
                      <a:pt x="0" y="221"/>
                      <a:pt x="0" y="221"/>
                      <a:pt x="0" y="222"/>
                    </a:cubicBezTo>
                    <a:cubicBezTo>
                      <a:pt x="0" y="223"/>
                      <a:pt x="0" y="223"/>
                      <a:pt x="0" y="224"/>
                    </a:cubicBezTo>
                    <a:cubicBezTo>
                      <a:pt x="0" y="224"/>
                      <a:pt x="0" y="224"/>
                      <a:pt x="0" y="225"/>
                    </a:cubicBezTo>
                    <a:cubicBezTo>
                      <a:pt x="0" y="225"/>
                      <a:pt x="0" y="226"/>
                      <a:pt x="0" y="227"/>
                    </a:cubicBezTo>
                    <a:cubicBezTo>
                      <a:pt x="0" y="227"/>
                      <a:pt x="0" y="228"/>
                      <a:pt x="0" y="228"/>
                    </a:cubicBezTo>
                    <a:cubicBezTo>
                      <a:pt x="0" y="229"/>
                      <a:pt x="0" y="229"/>
                      <a:pt x="0" y="229"/>
                    </a:cubicBezTo>
                    <a:cubicBezTo>
                      <a:pt x="0" y="230"/>
                      <a:pt x="1" y="230"/>
                      <a:pt x="1" y="231"/>
                    </a:cubicBezTo>
                    <a:cubicBezTo>
                      <a:pt x="1" y="232"/>
                      <a:pt x="1" y="232"/>
                      <a:pt x="1" y="233"/>
                    </a:cubicBezTo>
                    <a:cubicBezTo>
                      <a:pt x="1" y="233"/>
                      <a:pt x="1" y="233"/>
                      <a:pt x="1" y="234"/>
                    </a:cubicBezTo>
                    <a:cubicBezTo>
                      <a:pt x="1" y="234"/>
                      <a:pt x="2" y="235"/>
                      <a:pt x="2" y="236"/>
                    </a:cubicBezTo>
                    <a:cubicBezTo>
                      <a:pt x="2" y="236"/>
                      <a:pt x="2" y="237"/>
                      <a:pt x="2" y="237"/>
                    </a:cubicBezTo>
                    <a:cubicBezTo>
                      <a:pt x="2" y="238"/>
                      <a:pt x="3" y="238"/>
                      <a:pt x="3" y="238"/>
                    </a:cubicBezTo>
                    <a:cubicBezTo>
                      <a:pt x="3" y="239"/>
                      <a:pt x="3" y="239"/>
                      <a:pt x="3" y="240"/>
                    </a:cubicBezTo>
                    <a:cubicBezTo>
                      <a:pt x="4" y="241"/>
                      <a:pt x="4" y="241"/>
                      <a:pt x="4" y="242"/>
                    </a:cubicBezTo>
                    <a:cubicBezTo>
                      <a:pt x="4" y="242"/>
                      <a:pt x="4" y="242"/>
                      <a:pt x="4" y="242"/>
                    </a:cubicBezTo>
                    <a:cubicBezTo>
                      <a:pt x="5" y="243"/>
                      <a:pt x="5" y="244"/>
                      <a:pt x="5" y="244"/>
                    </a:cubicBezTo>
                    <a:cubicBezTo>
                      <a:pt x="6" y="245"/>
                      <a:pt x="6" y="245"/>
                      <a:pt x="6" y="246"/>
                    </a:cubicBezTo>
                    <a:cubicBezTo>
                      <a:pt x="170" y="533"/>
                      <a:pt x="170" y="533"/>
                      <a:pt x="170" y="533"/>
                    </a:cubicBezTo>
                    <a:cubicBezTo>
                      <a:pt x="179" y="548"/>
                      <a:pt x="195" y="556"/>
                      <a:pt x="211" y="556"/>
                    </a:cubicBezTo>
                    <a:cubicBezTo>
                      <a:pt x="219" y="556"/>
                      <a:pt x="227" y="554"/>
                      <a:pt x="234" y="550"/>
                    </a:cubicBezTo>
                    <a:cubicBezTo>
                      <a:pt x="256" y="537"/>
                      <a:pt x="264" y="509"/>
                      <a:pt x="251" y="486"/>
                    </a:cubicBezTo>
                    <a:cubicBezTo>
                      <a:pt x="138" y="289"/>
                      <a:pt x="138" y="289"/>
                      <a:pt x="138" y="289"/>
                    </a:cubicBezTo>
                    <a:cubicBezTo>
                      <a:pt x="400" y="352"/>
                      <a:pt x="672" y="504"/>
                      <a:pt x="752" y="858"/>
                    </a:cubicBezTo>
                    <a:cubicBezTo>
                      <a:pt x="757" y="879"/>
                      <a:pt x="761" y="900"/>
                      <a:pt x="765" y="922"/>
                    </a:cubicBezTo>
                    <a:cubicBezTo>
                      <a:pt x="772" y="972"/>
                      <a:pt x="776" y="1026"/>
                      <a:pt x="776" y="1083"/>
                    </a:cubicBezTo>
                    <a:cubicBezTo>
                      <a:pt x="776" y="1109"/>
                      <a:pt x="797" y="1130"/>
                      <a:pt x="823" y="1130"/>
                    </a:cubicBezTo>
                    <a:cubicBezTo>
                      <a:pt x="849" y="1130"/>
                      <a:pt x="870" y="1109"/>
                      <a:pt x="870" y="1083"/>
                    </a:cubicBezTo>
                    <a:cubicBezTo>
                      <a:pt x="870" y="965"/>
                      <a:pt x="854" y="857"/>
                      <a:pt x="823" y="759"/>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5837" tIns="32918" rIns="65837" bIns="32918" numCol="1" anchor="t" anchorCtr="0" compatLnSpc="1">
                <a:prstTxWarp prst="textNoShape">
                  <a:avLst/>
                </a:prstTxWarp>
              </a:bodyPr>
              <a:lstStyle/>
              <a:p>
                <a:endParaRPr lang="en-US"/>
              </a:p>
            </p:txBody>
          </p:sp>
        </p:grpSp>
      </p:grpSp>
      <p:sp>
        <p:nvSpPr>
          <p:cNvPr id="74" name="Rounded Rectangle 2">
            <a:extLst>
              <a:ext uri="{FF2B5EF4-FFF2-40B4-BE49-F238E27FC236}">
                <a16:creationId xmlns:a16="http://schemas.microsoft.com/office/drawing/2014/main" id="{395BB97E-6B44-4DBA-B80B-2D64D257D369}"/>
              </a:ext>
            </a:extLst>
          </p:cNvPr>
          <p:cNvSpPr/>
          <p:nvPr/>
        </p:nvSpPr>
        <p:spPr bwMode="auto">
          <a:xfrm>
            <a:off x="5536596" y="5196748"/>
            <a:ext cx="2767970" cy="1250968"/>
          </a:xfrm>
          <a:prstGeom prst="roundRect">
            <a:avLst>
              <a:gd name="adj" fmla="val 0"/>
            </a:avLst>
          </a:prstGeom>
          <a:noFill/>
          <a:ln w="18288" cap="flat" cmpd="sng" algn="ctr">
            <a:solidFill>
              <a:srgbClr val="6E6F73"/>
            </a:solidFill>
            <a:prstDash val="solid"/>
            <a:miter lim="800000"/>
            <a:headEnd type="none" w="sm" len="sm"/>
            <a:tailEnd type="triangle" w="med" len="med"/>
          </a:ln>
          <a:effectLst>
            <a:innerShdw blurRad="76200">
              <a:prstClr val="black"/>
            </a:innerShdw>
          </a:effectLst>
          <a:extLst>
            <a:ext uri="{909E8E84-426E-40DD-AFC4-6F175D3DCCD1}">
              <a14:hiddenFill xmlns:a14="http://schemas.microsoft.com/office/drawing/2010/main">
                <a:solidFill>
                  <a:srgbClr val="FFFFFF"/>
                </a:solidFill>
              </a14:hiddenFill>
            </a:ext>
          </a:extLst>
        </p:spPr>
        <p:txBody>
          <a:bodyPr vert="horz" wrap="none" lIns="65837" tIns="32918" rIns="65837" bIns="32918"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600" b="0" i="0" u="none" strike="noStrike" cap="none" normalizeH="0" baseline="0">
              <a:ln>
                <a:noFill/>
              </a:ln>
              <a:solidFill>
                <a:schemeClr val="tx1"/>
              </a:solidFill>
              <a:effectLst/>
              <a:latin typeface="Arial" charset="0"/>
            </a:endParaRPr>
          </a:p>
        </p:txBody>
      </p:sp>
      <p:sp>
        <p:nvSpPr>
          <p:cNvPr id="75" name="ee4pContent1">
            <a:extLst>
              <a:ext uri="{FF2B5EF4-FFF2-40B4-BE49-F238E27FC236}">
                <a16:creationId xmlns:a16="http://schemas.microsoft.com/office/drawing/2014/main" id="{2869015B-5085-4D24-A77E-C8FF3ED081CD}"/>
              </a:ext>
            </a:extLst>
          </p:cNvPr>
          <p:cNvSpPr txBox="1"/>
          <p:nvPr/>
        </p:nvSpPr>
        <p:spPr>
          <a:xfrm>
            <a:off x="6165086" y="5427114"/>
            <a:ext cx="2044050" cy="815608"/>
          </a:xfrm>
          <a:prstGeom prst="rect">
            <a:avLst/>
          </a:prstGeom>
          <a:ln cap="rnd">
            <a:noFill/>
          </a:ln>
        </p:spPr>
        <p:txBody>
          <a:bodyPr vert="horz" wrap="square" lIns="0" tIns="0" rIns="0" bIns="0" rtlCol="0">
            <a:spAutoFit/>
          </a:bodyPr>
          <a:lstStyle>
            <a:lvl1pPr lvl="0" indent="0">
              <a:lnSpc>
                <a:spcPct val="100000"/>
              </a:lnSpc>
              <a:spcBef>
                <a:spcPts val="0"/>
              </a:spcBef>
              <a:spcAft>
                <a:spcPts val="0"/>
              </a:spcAft>
              <a:buFont typeface="Trebuchet MS" panose="020B0603020202020204" pitchFamily="34" charset="0"/>
              <a:buChar char="​"/>
              <a:defRPr sz="2000">
                <a:latin typeface="Trebuchet MS" panose="020B0603020202020204" pitchFamily="34" charset="0"/>
                <a:sym typeface="Trebuchet MS" panose="020B0603020202020204" pitchFamily="34" charset="0"/>
              </a:defRPr>
            </a:lvl1pPr>
            <a:lvl2pPr marL="324000" lvl="1" indent="-216000">
              <a:lnSpc>
                <a:spcPct val="100000"/>
              </a:lnSpc>
              <a:spcBef>
                <a:spcPts val="0"/>
              </a:spcBef>
              <a:spcAft>
                <a:spcPts val="0"/>
              </a:spcAft>
              <a:buClr>
                <a:schemeClr val="tx2"/>
              </a:buClr>
              <a:buFont typeface="Trebuchet MS" panose="020B0603020202020204" pitchFamily="34" charset="0"/>
              <a:buChar char="•"/>
              <a:defRPr sz="2000">
                <a:latin typeface="Trebuchet MS" panose="020B0603020202020204" pitchFamily="34" charset="0"/>
                <a:sym typeface="Trebuchet MS" panose="020B0603020202020204" pitchFamily="34" charset="0"/>
              </a:defRPr>
            </a:lvl2pPr>
            <a:lvl3pPr marL="648000" lvl="2" indent="-216000">
              <a:lnSpc>
                <a:spcPct val="100000"/>
              </a:lnSpc>
              <a:spcBef>
                <a:spcPts val="0"/>
              </a:spcBef>
              <a:spcAft>
                <a:spcPts val="0"/>
              </a:spcAft>
              <a:buClr>
                <a:schemeClr val="tx2"/>
              </a:buClr>
              <a:buFont typeface="Trebuchet MS" panose="020B0603020202020204" pitchFamily="34" charset="0"/>
              <a:buChar char="–"/>
              <a:defRPr sz="2000">
                <a:latin typeface="Trebuchet MS" panose="020B0603020202020204" pitchFamily="34" charset="0"/>
                <a:sym typeface="Trebuchet MS" panose="020B0603020202020204" pitchFamily="34" charset="0"/>
              </a:defRPr>
            </a:lvl3pPr>
            <a:lvl4pPr marL="0" lvl="3" indent="0">
              <a:lnSpc>
                <a:spcPct val="100000"/>
              </a:lnSpc>
              <a:spcBef>
                <a:spcPts val="0"/>
              </a:spcBef>
              <a:spcAft>
                <a:spcPts val="0"/>
              </a:spcAft>
              <a:buClr>
                <a:schemeClr val="tx2"/>
              </a:buClr>
              <a:buFont typeface="Trebuchet MS" panose="020B0603020202020204" pitchFamily="34" charset="0"/>
              <a:buChar char="​"/>
              <a:defRPr sz="2400">
                <a:solidFill>
                  <a:schemeClr val="tx2"/>
                </a:solidFill>
                <a:latin typeface="Trebuchet MS" panose="020B0603020202020204" pitchFamily="34" charset="0"/>
                <a:sym typeface="Trebuchet MS" panose="020B0603020202020204" pitchFamily="34" charset="0"/>
              </a:defRPr>
            </a:lvl4pPr>
            <a:lvl5pPr marL="0" lvl="4" indent="0">
              <a:lnSpc>
                <a:spcPct val="100000"/>
              </a:lnSpc>
              <a:spcBef>
                <a:spcPts val="0"/>
              </a:spcBef>
              <a:spcAft>
                <a:spcPts val="0"/>
              </a:spcAft>
              <a:buClrTx/>
              <a:buFont typeface="Trebuchet MS" panose="020B0603020202020204" pitchFamily="34" charset="0"/>
              <a:buChar char="​"/>
              <a:defRPr sz="2400" b="1">
                <a:latin typeface="Trebuchet MS" panose="020B0603020202020204" pitchFamily="34" charset="0"/>
                <a:sym typeface="Trebuchet MS" panose="020B0603020202020204" pitchFamily="34" charset="0"/>
              </a:defRPr>
            </a:lvl5pPr>
            <a:lvl6pPr marL="324000" lvl="5" indent="-216000">
              <a:lnSpc>
                <a:spcPct val="100000"/>
              </a:lnSpc>
              <a:spcBef>
                <a:spcPts val="0"/>
              </a:spcBef>
              <a:spcAft>
                <a:spcPts val="0"/>
              </a:spcAft>
              <a:buClr>
                <a:schemeClr val="tx2"/>
              </a:buClr>
              <a:buFont typeface="Trebuchet MS" panose="020B0603020202020204" pitchFamily="34" charset="0"/>
              <a:buChar char="•"/>
              <a:defRPr sz="2400">
                <a:latin typeface="Trebuchet MS" panose="020B0603020202020204" pitchFamily="34" charset="0"/>
                <a:sym typeface="Trebuchet MS" panose="020B0603020202020204" pitchFamily="34" charset="0"/>
              </a:defRPr>
            </a:lvl6pPr>
            <a:lvl7pPr marL="0" lvl="6" indent="0">
              <a:lnSpc>
                <a:spcPct val="100000"/>
              </a:lnSpc>
              <a:spcBef>
                <a:spcPts val="0"/>
              </a:spcBef>
              <a:spcAft>
                <a:spcPts val="0"/>
              </a:spcAft>
              <a:buFont typeface="Trebuchet MS" panose="020B0603020202020204" pitchFamily="34" charset="0"/>
              <a:buChar char="​"/>
              <a:defRPr sz="5400" baseline="0">
                <a:latin typeface="Trebuchet MS" panose="020B0603020202020204" pitchFamily="34" charset="0"/>
                <a:sym typeface="Trebuchet MS" panose="020B0603020202020204" pitchFamily="34" charset="0"/>
              </a:defRPr>
            </a:lvl7pPr>
            <a:lvl8pPr marL="0" lvl="7" indent="0">
              <a:lnSpc>
                <a:spcPct val="100000"/>
              </a:lnSpc>
              <a:spcBef>
                <a:spcPts val="0"/>
              </a:spcBef>
              <a:spcAft>
                <a:spcPts val="0"/>
              </a:spcAft>
              <a:buFont typeface="Trebuchet MS" panose="020B0603020202020204" pitchFamily="34" charset="0"/>
              <a:buChar char="​"/>
              <a:defRPr sz="6600">
                <a:solidFill>
                  <a:schemeClr val="tx2"/>
                </a:solidFill>
                <a:latin typeface="Trebuchet MS" panose="020B0603020202020204" pitchFamily="34" charset="0"/>
                <a:sym typeface="Trebuchet MS" panose="020B0603020202020204" pitchFamily="34" charset="0"/>
              </a:defRPr>
            </a:lvl8pPr>
            <a:lvl9pPr marL="0" lvl="8" indent="0">
              <a:lnSpc>
                <a:spcPct val="100000"/>
              </a:lnSpc>
              <a:spcBef>
                <a:spcPts val="0"/>
              </a:spcBef>
              <a:spcAft>
                <a:spcPts val="0"/>
              </a:spcAft>
              <a:buFont typeface="Trebuchet MS" panose="020B0603020202020204" pitchFamily="34" charset="0"/>
              <a:buChar char="​"/>
              <a:defRPr sz="4400">
                <a:solidFill>
                  <a:schemeClr val="tx2"/>
                </a:solidFill>
                <a:latin typeface="Trebuchet MS" panose="020B0603020202020204" pitchFamily="34" charset="0"/>
                <a:sym typeface="Trebuchet MS" panose="020B0603020202020204" pitchFamily="34" charset="0"/>
              </a:defRPr>
            </a:lvl9pPr>
          </a:lstStyle>
          <a:p>
            <a:pPr>
              <a:spcBef>
                <a:spcPts val="600"/>
              </a:spcBef>
              <a:buSzPct val="100000"/>
            </a:pPr>
            <a:r>
              <a:rPr lang="zh-TW" altLang="en-US" sz="1200">
                <a:solidFill>
                  <a:srgbClr val="03522D"/>
                </a:solidFill>
              </a:rPr>
              <a:t>第三方優惠：涵蓋購物、餐飲、旅遊等領域</a:t>
            </a:r>
          </a:p>
          <a:p>
            <a:pPr marL="233280" lvl="1" indent="-155520">
              <a:spcBef>
                <a:spcPts val="600"/>
              </a:spcBef>
              <a:buClr>
                <a:schemeClr val="tx2">
                  <a:lumMod val="100000"/>
                </a:schemeClr>
              </a:buClr>
              <a:buSzPct val="100000"/>
            </a:pPr>
            <a:r>
              <a:rPr lang="en-US" altLang="zh-TW" sz="1200">
                <a:solidFill>
                  <a:schemeClr val="tx2"/>
                </a:solidFill>
              </a:rPr>
              <a:t>10+</a:t>
            </a:r>
            <a:r>
              <a:rPr lang="zh-TW" altLang="en-US" sz="1200">
                <a:solidFill>
                  <a:schemeClr val="tx2"/>
                </a:solidFill>
              </a:rPr>
              <a:t>個主打優惠，</a:t>
            </a:r>
            <a:r>
              <a:rPr lang="zh-TW" altLang="en-US" sz="1200">
                <a:solidFill>
                  <a:schemeClr val="tx1">
                    <a:lumMod val="100000"/>
                  </a:schemeClr>
                </a:solidFill>
              </a:rPr>
              <a:t>涵蓋電子產品、服飾等領域</a:t>
            </a:r>
          </a:p>
        </p:txBody>
      </p:sp>
      <p:grpSp>
        <p:nvGrpSpPr>
          <p:cNvPr id="76" name="Group 75">
            <a:extLst>
              <a:ext uri="{FF2B5EF4-FFF2-40B4-BE49-F238E27FC236}">
                <a16:creationId xmlns:a16="http://schemas.microsoft.com/office/drawing/2014/main" id="{ACB8C5DA-DD3B-43F9-814B-824AB21BB8B1}"/>
              </a:ext>
            </a:extLst>
          </p:cNvPr>
          <p:cNvGrpSpPr>
            <a:grpSpLocks noChangeAspect="1"/>
          </p:cNvGrpSpPr>
          <p:nvPr/>
        </p:nvGrpSpPr>
        <p:grpSpPr>
          <a:xfrm>
            <a:off x="5609889" y="5613791"/>
            <a:ext cx="416881" cy="416881"/>
            <a:chOff x="5273675" y="2606675"/>
            <a:chExt cx="1644650" cy="1644650"/>
          </a:xfrm>
        </p:grpSpPr>
        <p:sp>
          <p:nvSpPr>
            <p:cNvPr id="135" name="AutoShape 16">
              <a:extLst>
                <a:ext uri="{FF2B5EF4-FFF2-40B4-BE49-F238E27FC236}">
                  <a16:creationId xmlns:a16="http://schemas.microsoft.com/office/drawing/2014/main" id="{613D70A7-1ABE-4766-9985-4077887B9364}"/>
                </a:ext>
              </a:extLst>
            </p:cNvPr>
            <p:cNvSpPr>
              <a:spLocks noChangeAspect="1" noChangeArrowheads="1" noTextEdit="1"/>
            </p:cNvSpPr>
            <p:nvPr/>
          </p:nvSpPr>
          <p:spPr bwMode="auto">
            <a:xfrm>
              <a:off x="5273675" y="2606675"/>
              <a:ext cx="1644650"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5837" tIns="32918" rIns="65837" bIns="32918" numCol="1" anchor="t" anchorCtr="0" compatLnSpc="1">
              <a:prstTxWarp prst="textNoShape">
                <a:avLst/>
              </a:prstTxWarp>
            </a:bodyPr>
            <a:lstStyle/>
            <a:p>
              <a:endParaRPr lang="en-US"/>
            </a:p>
          </p:txBody>
        </p:sp>
        <p:grpSp>
          <p:nvGrpSpPr>
            <p:cNvPr id="136" name="Group 135">
              <a:extLst>
                <a:ext uri="{FF2B5EF4-FFF2-40B4-BE49-F238E27FC236}">
                  <a16:creationId xmlns:a16="http://schemas.microsoft.com/office/drawing/2014/main" id="{02E5A3F2-F944-4E0F-B304-FF9CEF049550}"/>
                </a:ext>
              </a:extLst>
            </p:cNvPr>
            <p:cNvGrpSpPr/>
            <p:nvPr/>
          </p:nvGrpSpPr>
          <p:grpSpPr>
            <a:xfrm>
              <a:off x="5544501" y="2878138"/>
              <a:ext cx="1102998" cy="1101725"/>
              <a:chOff x="5544501" y="2878138"/>
              <a:chExt cx="1102998" cy="1101725"/>
            </a:xfrm>
          </p:grpSpPr>
          <p:sp>
            <p:nvSpPr>
              <p:cNvPr id="137" name="Freeform 39">
                <a:extLst>
                  <a:ext uri="{FF2B5EF4-FFF2-40B4-BE49-F238E27FC236}">
                    <a16:creationId xmlns:a16="http://schemas.microsoft.com/office/drawing/2014/main" id="{604D4018-B9A9-44E7-BD8B-BB39B591E0ED}"/>
                  </a:ext>
                </a:extLst>
              </p:cNvPr>
              <p:cNvSpPr>
                <a:spLocks/>
              </p:cNvSpPr>
              <p:nvPr/>
            </p:nvSpPr>
            <p:spPr bwMode="auto">
              <a:xfrm>
                <a:off x="5544501" y="2878138"/>
                <a:ext cx="1102998" cy="1101725"/>
              </a:xfrm>
              <a:custGeom>
                <a:avLst/>
                <a:gdLst>
                  <a:gd name="connsiteX0" fmla="*/ 995289 w 1102998"/>
                  <a:gd name="connsiteY0" fmla="*/ 920750 h 1101725"/>
                  <a:gd name="connsiteX1" fmla="*/ 942705 w 1102998"/>
                  <a:gd name="connsiteY1" fmla="*/ 942170 h 1101725"/>
                  <a:gd name="connsiteX2" fmla="*/ 921387 w 1102998"/>
                  <a:gd name="connsiteY2" fmla="*/ 995006 h 1101725"/>
                  <a:gd name="connsiteX3" fmla="*/ 943416 w 1102998"/>
                  <a:gd name="connsiteY3" fmla="*/ 1048555 h 1101725"/>
                  <a:gd name="connsiteX4" fmla="*/ 996000 w 1102998"/>
                  <a:gd name="connsiteY4" fmla="*/ 1069975 h 1101725"/>
                  <a:gd name="connsiteX5" fmla="*/ 1049294 w 1102998"/>
                  <a:gd name="connsiteY5" fmla="*/ 1049269 h 1101725"/>
                  <a:gd name="connsiteX6" fmla="*/ 1070612 w 1102998"/>
                  <a:gd name="connsiteY6" fmla="*/ 995720 h 1101725"/>
                  <a:gd name="connsiteX7" fmla="*/ 1048584 w 1102998"/>
                  <a:gd name="connsiteY7" fmla="*/ 942884 h 1101725"/>
                  <a:gd name="connsiteX8" fmla="*/ 995289 w 1102998"/>
                  <a:gd name="connsiteY8" fmla="*/ 920750 h 1101725"/>
                  <a:gd name="connsiteX9" fmla="*/ 107710 w 1102998"/>
                  <a:gd name="connsiteY9" fmla="*/ 920750 h 1101725"/>
                  <a:gd name="connsiteX10" fmla="*/ 54416 w 1102998"/>
                  <a:gd name="connsiteY10" fmla="*/ 942884 h 1101725"/>
                  <a:gd name="connsiteX11" fmla="*/ 32387 w 1102998"/>
                  <a:gd name="connsiteY11" fmla="*/ 995720 h 1101725"/>
                  <a:gd name="connsiteX12" fmla="*/ 53705 w 1102998"/>
                  <a:gd name="connsiteY12" fmla="*/ 1049269 h 1101725"/>
                  <a:gd name="connsiteX13" fmla="*/ 107000 w 1102998"/>
                  <a:gd name="connsiteY13" fmla="*/ 1069975 h 1101725"/>
                  <a:gd name="connsiteX14" fmla="*/ 159584 w 1102998"/>
                  <a:gd name="connsiteY14" fmla="*/ 1048555 h 1101725"/>
                  <a:gd name="connsiteX15" fmla="*/ 181612 w 1102998"/>
                  <a:gd name="connsiteY15" fmla="*/ 995006 h 1101725"/>
                  <a:gd name="connsiteX16" fmla="*/ 160294 w 1102998"/>
                  <a:gd name="connsiteY16" fmla="*/ 942170 h 1101725"/>
                  <a:gd name="connsiteX17" fmla="*/ 107710 w 1102998"/>
                  <a:gd name="connsiteY17" fmla="*/ 920750 h 1101725"/>
                  <a:gd name="connsiteX18" fmla="*/ 995283 w 1102998"/>
                  <a:gd name="connsiteY18" fmla="*/ 890587 h 1101725"/>
                  <a:gd name="connsiteX19" fmla="*/ 1071212 w 1102998"/>
                  <a:gd name="connsiteY19" fmla="*/ 920546 h 1101725"/>
                  <a:gd name="connsiteX20" fmla="*/ 1071928 w 1102998"/>
                  <a:gd name="connsiteY20" fmla="*/ 1071053 h 1101725"/>
                  <a:gd name="connsiteX21" fmla="*/ 995999 w 1102998"/>
                  <a:gd name="connsiteY21" fmla="*/ 1101725 h 1101725"/>
                  <a:gd name="connsiteX22" fmla="*/ 920070 w 1102998"/>
                  <a:gd name="connsiteY22" fmla="*/ 1070340 h 1101725"/>
                  <a:gd name="connsiteX23" fmla="*/ 920070 w 1102998"/>
                  <a:gd name="connsiteY23" fmla="*/ 920546 h 1101725"/>
                  <a:gd name="connsiteX24" fmla="*/ 995283 w 1102998"/>
                  <a:gd name="connsiteY24" fmla="*/ 890587 h 1101725"/>
                  <a:gd name="connsiteX25" fmla="*/ 107716 w 1102998"/>
                  <a:gd name="connsiteY25" fmla="*/ 890587 h 1101725"/>
                  <a:gd name="connsiteX26" fmla="*/ 182928 w 1102998"/>
                  <a:gd name="connsiteY26" fmla="*/ 920546 h 1101725"/>
                  <a:gd name="connsiteX27" fmla="*/ 182928 w 1102998"/>
                  <a:gd name="connsiteY27" fmla="*/ 1070340 h 1101725"/>
                  <a:gd name="connsiteX28" fmla="*/ 106999 w 1102998"/>
                  <a:gd name="connsiteY28" fmla="*/ 1101725 h 1101725"/>
                  <a:gd name="connsiteX29" fmla="*/ 31070 w 1102998"/>
                  <a:gd name="connsiteY29" fmla="*/ 1071053 h 1101725"/>
                  <a:gd name="connsiteX30" fmla="*/ 31787 w 1102998"/>
                  <a:gd name="connsiteY30" fmla="*/ 920546 h 1101725"/>
                  <a:gd name="connsiteX31" fmla="*/ 107716 w 1102998"/>
                  <a:gd name="connsiteY31" fmla="*/ 890587 h 1101725"/>
                  <a:gd name="connsiteX32" fmla="*/ 550733 w 1102998"/>
                  <a:gd name="connsiteY32" fmla="*/ 323850 h 1101725"/>
                  <a:gd name="connsiteX33" fmla="*/ 395182 w 1102998"/>
                  <a:gd name="connsiteY33" fmla="*/ 387585 h 1101725"/>
                  <a:gd name="connsiteX34" fmla="*/ 392328 w 1102998"/>
                  <a:gd name="connsiteY34" fmla="*/ 390450 h 1101725"/>
                  <a:gd name="connsiteX35" fmla="*/ 389474 w 1102998"/>
                  <a:gd name="connsiteY35" fmla="*/ 393315 h 1101725"/>
                  <a:gd name="connsiteX36" fmla="*/ 392328 w 1102998"/>
                  <a:gd name="connsiteY36" fmla="*/ 710559 h 1101725"/>
                  <a:gd name="connsiteX37" fmla="*/ 392328 w 1102998"/>
                  <a:gd name="connsiteY37" fmla="*/ 711275 h 1101725"/>
                  <a:gd name="connsiteX38" fmla="*/ 393041 w 1102998"/>
                  <a:gd name="connsiteY38" fmla="*/ 711275 h 1101725"/>
                  <a:gd name="connsiteX39" fmla="*/ 552160 w 1102998"/>
                  <a:gd name="connsiteY39" fmla="*/ 777875 h 1101725"/>
                  <a:gd name="connsiteX40" fmla="*/ 707711 w 1102998"/>
                  <a:gd name="connsiteY40" fmla="*/ 714140 h 1101725"/>
                  <a:gd name="connsiteX41" fmla="*/ 710565 w 1102998"/>
                  <a:gd name="connsiteY41" fmla="*/ 711275 h 1101725"/>
                  <a:gd name="connsiteX42" fmla="*/ 713419 w 1102998"/>
                  <a:gd name="connsiteY42" fmla="*/ 708411 h 1101725"/>
                  <a:gd name="connsiteX43" fmla="*/ 776924 w 1102998"/>
                  <a:gd name="connsiteY43" fmla="*/ 550863 h 1101725"/>
                  <a:gd name="connsiteX44" fmla="*/ 710565 w 1102998"/>
                  <a:gd name="connsiteY44" fmla="*/ 391166 h 1101725"/>
                  <a:gd name="connsiteX45" fmla="*/ 710565 w 1102998"/>
                  <a:gd name="connsiteY45" fmla="*/ 390450 h 1101725"/>
                  <a:gd name="connsiteX46" fmla="*/ 709852 w 1102998"/>
                  <a:gd name="connsiteY46" fmla="*/ 390450 h 1101725"/>
                  <a:gd name="connsiteX47" fmla="*/ 550733 w 1102998"/>
                  <a:gd name="connsiteY47" fmla="*/ 323850 h 1101725"/>
                  <a:gd name="connsiteX48" fmla="*/ 211227 w 1102998"/>
                  <a:gd name="connsiteY48" fmla="*/ 198437 h 1101725"/>
                  <a:gd name="connsiteX49" fmla="*/ 211942 w 1102998"/>
                  <a:gd name="connsiteY49" fmla="*/ 198437 h 1101725"/>
                  <a:gd name="connsiteX50" fmla="*/ 214086 w 1102998"/>
                  <a:gd name="connsiteY50" fmla="*/ 198437 h 1101725"/>
                  <a:gd name="connsiteX51" fmla="*/ 214801 w 1102998"/>
                  <a:gd name="connsiteY51" fmla="*/ 198437 h 1101725"/>
                  <a:gd name="connsiteX52" fmla="*/ 215516 w 1102998"/>
                  <a:gd name="connsiteY52" fmla="*/ 198437 h 1101725"/>
                  <a:gd name="connsiteX53" fmla="*/ 314166 w 1102998"/>
                  <a:gd name="connsiteY53" fmla="*/ 206285 h 1101725"/>
                  <a:gd name="connsiteX54" fmla="*/ 329178 w 1102998"/>
                  <a:gd name="connsiteY54" fmla="*/ 222693 h 1101725"/>
                  <a:gd name="connsiteX55" fmla="*/ 312022 w 1102998"/>
                  <a:gd name="connsiteY55" fmla="*/ 237675 h 1101725"/>
                  <a:gd name="connsiteX56" fmla="*/ 255548 w 1102998"/>
                  <a:gd name="connsiteY56" fmla="*/ 232681 h 1101725"/>
                  <a:gd name="connsiteX57" fmla="*/ 381363 w 1102998"/>
                  <a:gd name="connsiteY57" fmla="*/ 357528 h 1101725"/>
                  <a:gd name="connsiteX58" fmla="*/ 550784 w 1102998"/>
                  <a:gd name="connsiteY58" fmla="*/ 293321 h 1101725"/>
                  <a:gd name="connsiteX59" fmla="*/ 721635 w 1102998"/>
                  <a:gd name="connsiteY59" fmla="*/ 358241 h 1101725"/>
                  <a:gd name="connsiteX60" fmla="*/ 847450 w 1102998"/>
                  <a:gd name="connsiteY60" fmla="*/ 232681 h 1101725"/>
                  <a:gd name="connsiteX61" fmla="*/ 790977 w 1102998"/>
                  <a:gd name="connsiteY61" fmla="*/ 237675 h 1101725"/>
                  <a:gd name="connsiteX62" fmla="*/ 773820 w 1102998"/>
                  <a:gd name="connsiteY62" fmla="*/ 222693 h 1101725"/>
                  <a:gd name="connsiteX63" fmla="*/ 788832 w 1102998"/>
                  <a:gd name="connsiteY63" fmla="*/ 206285 h 1101725"/>
                  <a:gd name="connsiteX64" fmla="*/ 887482 w 1102998"/>
                  <a:gd name="connsiteY64" fmla="*/ 198437 h 1101725"/>
                  <a:gd name="connsiteX65" fmla="*/ 888197 w 1102998"/>
                  <a:gd name="connsiteY65" fmla="*/ 198437 h 1101725"/>
                  <a:gd name="connsiteX66" fmla="*/ 888912 w 1102998"/>
                  <a:gd name="connsiteY66" fmla="*/ 198437 h 1101725"/>
                  <a:gd name="connsiteX67" fmla="*/ 891057 w 1102998"/>
                  <a:gd name="connsiteY67" fmla="*/ 198437 h 1101725"/>
                  <a:gd name="connsiteX68" fmla="*/ 891772 w 1102998"/>
                  <a:gd name="connsiteY68" fmla="*/ 198437 h 1101725"/>
                  <a:gd name="connsiteX69" fmla="*/ 893916 w 1102998"/>
                  <a:gd name="connsiteY69" fmla="*/ 199151 h 1101725"/>
                  <a:gd name="connsiteX70" fmla="*/ 894631 w 1102998"/>
                  <a:gd name="connsiteY70" fmla="*/ 199151 h 1101725"/>
                  <a:gd name="connsiteX71" fmla="*/ 896776 w 1102998"/>
                  <a:gd name="connsiteY71" fmla="*/ 200577 h 1101725"/>
                  <a:gd name="connsiteX72" fmla="*/ 897490 w 1102998"/>
                  <a:gd name="connsiteY72" fmla="*/ 201291 h 1101725"/>
                  <a:gd name="connsiteX73" fmla="*/ 899635 w 1102998"/>
                  <a:gd name="connsiteY73" fmla="*/ 202718 h 1101725"/>
                  <a:gd name="connsiteX74" fmla="*/ 901780 w 1102998"/>
                  <a:gd name="connsiteY74" fmla="*/ 204858 h 1101725"/>
                  <a:gd name="connsiteX75" fmla="*/ 901780 w 1102998"/>
                  <a:gd name="connsiteY75" fmla="*/ 205571 h 1101725"/>
                  <a:gd name="connsiteX76" fmla="*/ 903209 w 1102998"/>
                  <a:gd name="connsiteY76" fmla="*/ 207711 h 1101725"/>
                  <a:gd name="connsiteX77" fmla="*/ 903209 w 1102998"/>
                  <a:gd name="connsiteY77" fmla="*/ 208425 h 1101725"/>
                  <a:gd name="connsiteX78" fmla="*/ 903924 w 1102998"/>
                  <a:gd name="connsiteY78" fmla="*/ 210565 h 1101725"/>
                  <a:gd name="connsiteX79" fmla="*/ 903924 w 1102998"/>
                  <a:gd name="connsiteY79" fmla="*/ 211279 h 1101725"/>
                  <a:gd name="connsiteX80" fmla="*/ 903924 w 1102998"/>
                  <a:gd name="connsiteY80" fmla="*/ 213419 h 1101725"/>
                  <a:gd name="connsiteX81" fmla="*/ 903924 w 1102998"/>
                  <a:gd name="connsiteY81" fmla="*/ 214132 h 1101725"/>
                  <a:gd name="connsiteX82" fmla="*/ 903924 w 1102998"/>
                  <a:gd name="connsiteY82" fmla="*/ 214846 h 1101725"/>
                  <a:gd name="connsiteX83" fmla="*/ 896061 w 1102998"/>
                  <a:gd name="connsiteY83" fmla="*/ 313296 h 1101725"/>
                  <a:gd name="connsiteX84" fmla="*/ 880334 w 1102998"/>
                  <a:gd name="connsiteY84" fmla="*/ 328278 h 1101725"/>
                  <a:gd name="connsiteX85" fmla="*/ 879619 w 1102998"/>
                  <a:gd name="connsiteY85" fmla="*/ 328278 h 1101725"/>
                  <a:gd name="connsiteX86" fmla="*/ 864607 w 1102998"/>
                  <a:gd name="connsiteY86" fmla="*/ 311156 h 1101725"/>
                  <a:gd name="connsiteX87" fmla="*/ 869611 w 1102998"/>
                  <a:gd name="connsiteY87" fmla="*/ 254797 h 1101725"/>
                  <a:gd name="connsiteX88" fmla="*/ 743796 w 1102998"/>
                  <a:gd name="connsiteY88" fmla="*/ 380357 h 1101725"/>
                  <a:gd name="connsiteX89" fmla="*/ 744511 w 1102998"/>
                  <a:gd name="connsiteY89" fmla="*/ 721367 h 1101725"/>
                  <a:gd name="connsiteX90" fmla="*/ 869611 w 1102998"/>
                  <a:gd name="connsiteY90" fmla="*/ 846928 h 1101725"/>
                  <a:gd name="connsiteX91" fmla="*/ 864607 w 1102998"/>
                  <a:gd name="connsiteY91" fmla="*/ 790568 h 1101725"/>
                  <a:gd name="connsiteX92" fmla="*/ 879619 w 1102998"/>
                  <a:gd name="connsiteY92" fmla="*/ 773446 h 1101725"/>
                  <a:gd name="connsiteX93" fmla="*/ 896061 w 1102998"/>
                  <a:gd name="connsiteY93" fmla="*/ 788428 h 1101725"/>
                  <a:gd name="connsiteX94" fmla="*/ 903924 w 1102998"/>
                  <a:gd name="connsiteY94" fmla="*/ 886879 h 1101725"/>
                  <a:gd name="connsiteX95" fmla="*/ 903924 w 1102998"/>
                  <a:gd name="connsiteY95" fmla="*/ 887592 h 1101725"/>
                  <a:gd name="connsiteX96" fmla="*/ 903924 w 1102998"/>
                  <a:gd name="connsiteY96" fmla="*/ 888306 h 1101725"/>
                  <a:gd name="connsiteX97" fmla="*/ 903924 w 1102998"/>
                  <a:gd name="connsiteY97" fmla="*/ 890446 h 1101725"/>
                  <a:gd name="connsiteX98" fmla="*/ 903924 w 1102998"/>
                  <a:gd name="connsiteY98" fmla="*/ 891159 h 1101725"/>
                  <a:gd name="connsiteX99" fmla="*/ 903209 w 1102998"/>
                  <a:gd name="connsiteY99" fmla="*/ 893299 h 1101725"/>
                  <a:gd name="connsiteX100" fmla="*/ 903209 w 1102998"/>
                  <a:gd name="connsiteY100" fmla="*/ 894013 h 1101725"/>
                  <a:gd name="connsiteX101" fmla="*/ 901780 w 1102998"/>
                  <a:gd name="connsiteY101" fmla="*/ 896153 h 1101725"/>
                  <a:gd name="connsiteX102" fmla="*/ 901780 w 1102998"/>
                  <a:gd name="connsiteY102" fmla="*/ 896866 h 1101725"/>
                  <a:gd name="connsiteX103" fmla="*/ 899635 w 1102998"/>
                  <a:gd name="connsiteY103" fmla="*/ 899007 h 1101725"/>
                  <a:gd name="connsiteX104" fmla="*/ 897490 w 1102998"/>
                  <a:gd name="connsiteY104" fmla="*/ 901147 h 1101725"/>
                  <a:gd name="connsiteX105" fmla="*/ 895346 w 1102998"/>
                  <a:gd name="connsiteY105" fmla="*/ 901860 h 1101725"/>
                  <a:gd name="connsiteX106" fmla="*/ 894631 w 1102998"/>
                  <a:gd name="connsiteY106" fmla="*/ 902574 h 1101725"/>
                  <a:gd name="connsiteX107" fmla="*/ 892486 w 1102998"/>
                  <a:gd name="connsiteY107" fmla="*/ 903287 h 1101725"/>
                  <a:gd name="connsiteX108" fmla="*/ 891772 w 1102998"/>
                  <a:gd name="connsiteY108" fmla="*/ 903287 h 1101725"/>
                  <a:gd name="connsiteX109" fmla="*/ 888197 w 1102998"/>
                  <a:gd name="connsiteY109" fmla="*/ 903287 h 1101725"/>
                  <a:gd name="connsiteX110" fmla="*/ 887482 w 1102998"/>
                  <a:gd name="connsiteY110" fmla="*/ 903287 h 1101725"/>
                  <a:gd name="connsiteX111" fmla="*/ 788832 w 1102998"/>
                  <a:gd name="connsiteY111" fmla="*/ 895440 h 1101725"/>
                  <a:gd name="connsiteX112" fmla="*/ 773820 w 1102998"/>
                  <a:gd name="connsiteY112" fmla="*/ 879031 h 1101725"/>
                  <a:gd name="connsiteX113" fmla="*/ 790977 w 1102998"/>
                  <a:gd name="connsiteY113" fmla="*/ 864050 h 1101725"/>
                  <a:gd name="connsiteX114" fmla="*/ 847450 w 1102998"/>
                  <a:gd name="connsiteY114" fmla="*/ 869043 h 1101725"/>
                  <a:gd name="connsiteX115" fmla="*/ 721635 w 1102998"/>
                  <a:gd name="connsiteY115" fmla="*/ 744197 h 1101725"/>
                  <a:gd name="connsiteX116" fmla="*/ 552214 w 1102998"/>
                  <a:gd name="connsiteY116" fmla="*/ 808404 h 1101725"/>
                  <a:gd name="connsiteX117" fmla="*/ 381363 w 1102998"/>
                  <a:gd name="connsiteY117" fmla="*/ 743483 h 1101725"/>
                  <a:gd name="connsiteX118" fmla="*/ 255548 w 1102998"/>
                  <a:gd name="connsiteY118" fmla="*/ 869043 h 1101725"/>
                  <a:gd name="connsiteX119" fmla="*/ 312022 w 1102998"/>
                  <a:gd name="connsiteY119" fmla="*/ 864050 h 1101725"/>
                  <a:gd name="connsiteX120" fmla="*/ 329178 w 1102998"/>
                  <a:gd name="connsiteY120" fmla="*/ 879031 h 1101725"/>
                  <a:gd name="connsiteX121" fmla="*/ 314166 w 1102998"/>
                  <a:gd name="connsiteY121" fmla="*/ 895440 h 1101725"/>
                  <a:gd name="connsiteX122" fmla="*/ 215516 w 1102998"/>
                  <a:gd name="connsiteY122" fmla="*/ 903287 h 1101725"/>
                  <a:gd name="connsiteX123" fmla="*/ 214801 w 1102998"/>
                  <a:gd name="connsiteY123" fmla="*/ 903287 h 1101725"/>
                  <a:gd name="connsiteX124" fmla="*/ 211227 w 1102998"/>
                  <a:gd name="connsiteY124" fmla="*/ 903287 h 1101725"/>
                  <a:gd name="connsiteX125" fmla="*/ 210512 w 1102998"/>
                  <a:gd name="connsiteY125" fmla="*/ 903287 h 1101725"/>
                  <a:gd name="connsiteX126" fmla="*/ 208367 w 1102998"/>
                  <a:gd name="connsiteY126" fmla="*/ 902574 h 1101725"/>
                  <a:gd name="connsiteX127" fmla="*/ 207653 w 1102998"/>
                  <a:gd name="connsiteY127" fmla="*/ 901860 h 1101725"/>
                  <a:gd name="connsiteX128" fmla="*/ 205508 w 1102998"/>
                  <a:gd name="connsiteY128" fmla="*/ 901147 h 1101725"/>
                  <a:gd name="connsiteX129" fmla="*/ 203363 w 1102998"/>
                  <a:gd name="connsiteY129" fmla="*/ 899007 h 1101725"/>
                  <a:gd name="connsiteX130" fmla="*/ 201219 w 1102998"/>
                  <a:gd name="connsiteY130" fmla="*/ 896866 h 1101725"/>
                  <a:gd name="connsiteX131" fmla="*/ 201219 w 1102998"/>
                  <a:gd name="connsiteY131" fmla="*/ 896153 h 1101725"/>
                  <a:gd name="connsiteX132" fmla="*/ 199789 w 1102998"/>
                  <a:gd name="connsiteY132" fmla="*/ 894013 h 1101725"/>
                  <a:gd name="connsiteX133" fmla="*/ 199789 w 1102998"/>
                  <a:gd name="connsiteY133" fmla="*/ 893299 h 1101725"/>
                  <a:gd name="connsiteX134" fmla="*/ 199074 w 1102998"/>
                  <a:gd name="connsiteY134" fmla="*/ 891159 h 1101725"/>
                  <a:gd name="connsiteX135" fmla="*/ 199074 w 1102998"/>
                  <a:gd name="connsiteY135" fmla="*/ 890446 h 1101725"/>
                  <a:gd name="connsiteX136" fmla="*/ 199074 w 1102998"/>
                  <a:gd name="connsiteY136" fmla="*/ 888306 h 1101725"/>
                  <a:gd name="connsiteX137" fmla="*/ 199074 w 1102998"/>
                  <a:gd name="connsiteY137" fmla="*/ 887592 h 1101725"/>
                  <a:gd name="connsiteX138" fmla="*/ 199074 w 1102998"/>
                  <a:gd name="connsiteY138" fmla="*/ 886879 h 1101725"/>
                  <a:gd name="connsiteX139" fmla="*/ 206938 w 1102998"/>
                  <a:gd name="connsiteY139" fmla="*/ 788428 h 1101725"/>
                  <a:gd name="connsiteX140" fmla="*/ 223379 w 1102998"/>
                  <a:gd name="connsiteY140" fmla="*/ 773446 h 1101725"/>
                  <a:gd name="connsiteX141" fmla="*/ 238391 w 1102998"/>
                  <a:gd name="connsiteY141" fmla="*/ 790568 h 1101725"/>
                  <a:gd name="connsiteX142" fmla="*/ 233387 w 1102998"/>
                  <a:gd name="connsiteY142" fmla="*/ 846928 h 1101725"/>
                  <a:gd name="connsiteX143" fmla="*/ 359202 w 1102998"/>
                  <a:gd name="connsiteY143" fmla="*/ 721367 h 1101725"/>
                  <a:gd name="connsiteX144" fmla="*/ 358488 w 1102998"/>
                  <a:gd name="connsiteY144" fmla="*/ 380357 h 1101725"/>
                  <a:gd name="connsiteX145" fmla="*/ 233387 w 1102998"/>
                  <a:gd name="connsiteY145" fmla="*/ 254797 h 1101725"/>
                  <a:gd name="connsiteX146" fmla="*/ 238391 w 1102998"/>
                  <a:gd name="connsiteY146" fmla="*/ 311156 h 1101725"/>
                  <a:gd name="connsiteX147" fmla="*/ 223379 w 1102998"/>
                  <a:gd name="connsiteY147" fmla="*/ 328278 h 1101725"/>
                  <a:gd name="connsiteX148" fmla="*/ 222665 w 1102998"/>
                  <a:gd name="connsiteY148" fmla="*/ 328278 h 1101725"/>
                  <a:gd name="connsiteX149" fmla="*/ 206938 w 1102998"/>
                  <a:gd name="connsiteY149" fmla="*/ 313296 h 1101725"/>
                  <a:gd name="connsiteX150" fmla="*/ 199074 w 1102998"/>
                  <a:gd name="connsiteY150" fmla="*/ 214846 h 1101725"/>
                  <a:gd name="connsiteX151" fmla="*/ 199074 w 1102998"/>
                  <a:gd name="connsiteY151" fmla="*/ 214132 h 1101725"/>
                  <a:gd name="connsiteX152" fmla="*/ 199074 w 1102998"/>
                  <a:gd name="connsiteY152" fmla="*/ 213419 h 1101725"/>
                  <a:gd name="connsiteX153" fmla="*/ 199074 w 1102998"/>
                  <a:gd name="connsiteY153" fmla="*/ 211279 h 1101725"/>
                  <a:gd name="connsiteX154" fmla="*/ 199074 w 1102998"/>
                  <a:gd name="connsiteY154" fmla="*/ 210565 h 1101725"/>
                  <a:gd name="connsiteX155" fmla="*/ 199789 w 1102998"/>
                  <a:gd name="connsiteY155" fmla="*/ 208425 h 1101725"/>
                  <a:gd name="connsiteX156" fmla="*/ 199789 w 1102998"/>
                  <a:gd name="connsiteY156" fmla="*/ 207711 h 1101725"/>
                  <a:gd name="connsiteX157" fmla="*/ 201219 w 1102998"/>
                  <a:gd name="connsiteY157" fmla="*/ 205571 h 1101725"/>
                  <a:gd name="connsiteX158" fmla="*/ 201219 w 1102998"/>
                  <a:gd name="connsiteY158" fmla="*/ 204858 h 1101725"/>
                  <a:gd name="connsiteX159" fmla="*/ 203363 w 1102998"/>
                  <a:gd name="connsiteY159" fmla="*/ 202718 h 1101725"/>
                  <a:gd name="connsiteX160" fmla="*/ 205508 w 1102998"/>
                  <a:gd name="connsiteY160" fmla="*/ 201291 h 1101725"/>
                  <a:gd name="connsiteX161" fmla="*/ 206223 w 1102998"/>
                  <a:gd name="connsiteY161" fmla="*/ 200577 h 1101725"/>
                  <a:gd name="connsiteX162" fmla="*/ 208367 w 1102998"/>
                  <a:gd name="connsiteY162" fmla="*/ 199864 h 1101725"/>
                  <a:gd name="connsiteX163" fmla="*/ 209082 w 1102998"/>
                  <a:gd name="connsiteY163" fmla="*/ 199151 h 1101725"/>
                  <a:gd name="connsiteX164" fmla="*/ 211227 w 1102998"/>
                  <a:gd name="connsiteY164" fmla="*/ 198437 h 1101725"/>
                  <a:gd name="connsiteX165" fmla="*/ 996000 w 1102998"/>
                  <a:gd name="connsiteY165" fmla="*/ 31750 h 1101725"/>
                  <a:gd name="connsiteX166" fmla="*/ 943416 w 1102998"/>
                  <a:gd name="connsiteY166" fmla="*/ 53779 h 1101725"/>
                  <a:gd name="connsiteX167" fmla="*/ 921387 w 1102998"/>
                  <a:gd name="connsiteY167" fmla="*/ 106363 h 1101725"/>
                  <a:gd name="connsiteX168" fmla="*/ 942705 w 1102998"/>
                  <a:gd name="connsiteY168" fmla="*/ 159657 h 1101725"/>
                  <a:gd name="connsiteX169" fmla="*/ 995289 w 1102998"/>
                  <a:gd name="connsiteY169" fmla="*/ 180975 h 1101725"/>
                  <a:gd name="connsiteX170" fmla="*/ 1048584 w 1102998"/>
                  <a:gd name="connsiteY170" fmla="*/ 158947 h 1101725"/>
                  <a:gd name="connsiteX171" fmla="*/ 1070612 w 1102998"/>
                  <a:gd name="connsiteY171" fmla="*/ 106363 h 1101725"/>
                  <a:gd name="connsiteX172" fmla="*/ 1049294 w 1102998"/>
                  <a:gd name="connsiteY172" fmla="*/ 53068 h 1101725"/>
                  <a:gd name="connsiteX173" fmla="*/ 996000 w 1102998"/>
                  <a:gd name="connsiteY173" fmla="*/ 31750 h 1101725"/>
                  <a:gd name="connsiteX174" fmla="*/ 107000 w 1102998"/>
                  <a:gd name="connsiteY174" fmla="*/ 31750 h 1101725"/>
                  <a:gd name="connsiteX175" fmla="*/ 53705 w 1102998"/>
                  <a:gd name="connsiteY175" fmla="*/ 53068 h 1101725"/>
                  <a:gd name="connsiteX176" fmla="*/ 32387 w 1102998"/>
                  <a:gd name="connsiteY176" fmla="*/ 106363 h 1101725"/>
                  <a:gd name="connsiteX177" fmla="*/ 54416 w 1102998"/>
                  <a:gd name="connsiteY177" fmla="*/ 158947 h 1101725"/>
                  <a:gd name="connsiteX178" fmla="*/ 107710 w 1102998"/>
                  <a:gd name="connsiteY178" fmla="*/ 180975 h 1101725"/>
                  <a:gd name="connsiteX179" fmla="*/ 160294 w 1102998"/>
                  <a:gd name="connsiteY179" fmla="*/ 159657 h 1101725"/>
                  <a:gd name="connsiteX180" fmla="*/ 181612 w 1102998"/>
                  <a:gd name="connsiteY180" fmla="*/ 106363 h 1101725"/>
                  <a:gd name="connsiteX181" fmla="*/ 159584 w 1102998"/>
                  <a:gd name="connsiteY181" fmla="*/ 53779 h 1101725"/>
                  <a:gd name="connsiteX182" fmla="*/ 107000 w 1102998"/>
                  <a:gd name="connsiteY182" fmla="*/ 31750 h 1101725"/>
                  <a:gd name="connsiteX183" fmla="*/ 995999 w 1102998"/>
                  <a:gd name="connsiteY183" fmla="*/ 0 h 1101725"/>
                  <a:gd name="connsiteX184" fmla="*/ 1071928 w 1102998"/>
                  <a:gd name="connsiteY184" fmla="*/ 29959 h 1101725"/>
                  <a:gd name="connsiteX185" fmla="*/ 1071212 w 1102998"/>
                  <a:gd name="connsiteY185" fmla="*/ 181179 h 1101725"/>
                  <a:gd name="connsiteX186" fmla="*/ 995283 w 1102998"/>
                  <a:gd name="connsiteY186" fmla="*/ 211138 h 1101725"/>
                  <a:gd name="connsiteX187" fmla="*/ 920070 w 1102998"/>
                  <a:gd name="connsiteY187" fmla="*/ 181179 h 1101725"/>
                  <a:gd name="connsiteX188" fmla="*/ 920070 w 1102998"/>
                  <a:gd name="connsiteY188" fmla="*/ 30672 h 1101725"/>
                  <a:gd name="connsiteX189" fmla="*/ 995999 w 1102998"/>
                  <a:gd name="connsiteY189" fmla="*/ 0 h 1101725"/>
                  <a:gd name="connsiteX190" fmla="*/ 106999 w 1102998"/>
                  <a:gd name="connsiteY190" fmla="*/ 0 h 1101725"/>
                  <a:gd name="connsiteX191" fmla="*/ 182928 w 1102998"/>
                  <a:gd name="connsiteY191" fmla="*/ 30672 h 1101725"/>
                  <a:gd name="connsiteX192" fmla="*/ 182928 w 1102998"/>
                  <a:gd name="connsiteY192" fmla="*/ 181179 h 1101725"/>
                  <a:gd name="connsiteX193" fmla="*/ 107716 w 1102998"/>
                  <a:gd name="connsiteY193" fmla="*/ 211138 h 1101725"/>
                  <a:gd name="connsiteX194" fmla="*/ 31787 w 1102998"/>
                  <a:gd name="connsiteY194" fmla="*/ 181179 h 1101725"/>
                  <a:gd name="connsiteX195" fmla="*/ 31070 w 1102998"/>
                  <a:gd name="connsiteY195" fmla="*/ 29959 h 1101725"/>
                  <a:gd name="connsiteX196" fmla="*/ 106999 w 1102998"/>
                  <a:gd name="connsiteY196" fmla="*/ 0 h 1101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102998" h="1101725">
                    <a:moveTo>
                      <a:pt x="995289" y="920750"/>
                    </a:moveTo>
                    <a:cubicBezTo>
                      <a:pt x="975392" y="920750"/>
                      <a:pt x="956917" y="928604"/>
                      <a:pt x="942705" y="942170"/>
                    </a:cubicBezTo>
                    <a:cubicBezTo>
                      <a:pt x="928493" y="956450"/>
                      <a:pt x="921387" y="975728"/>
                      <a:pt x="921387" y="995006"/>
                    </a:cubicBezTo>
                    <a:cubicBezTo>
                      <a:pt x="921387" y="1015711"/>
                      <a:pt x="929204" y="1034275"/>
                      <a:pt x="943416" y="1048555"/>
                    </a:cubicBezTo>
                    <a:cubicBezTo>
                      <a:pt x="957628" y="1062835"/>
                      <a:pt x="975392" y="1069975"/>
                      <a:pt x="996000" y="1069975"/>
                    </a:cubicBezTo>
                    <a:cubicBezTo>
                      <a:pt x="1015896" y="1069975"/>
                      <a:pt x="1035082" y="1062835"/>
                      <a:pt x="1049294" y="1049269"/>
                    </a:cubicBezTo>
                    <a:cubicBezTo>
                      <a:pt x="1062796" y="1034989"/>
                      <a:pt x="1070612" y="1015711"/>
                      <a:pt x="1070612" y="995720"/>
                    </a:cubicBezTo>
                    <a:cubicBezTo>
                      <a:pt x="1070612" y="975728"/>
                      <a:pt x="1062796" y="957164"/>
                      <a:pt x="1048584" y="942884"/>
                    </a:cubicBezTo>
                    <a:cubicBezTo>
                      <a:pt x="1034372" y="928604"/>
                      <a:pt x="1015896" y="920750"/>
                      <a:pt x="995289" y="920750"/>
                    </a:cubicBezTo>
                    <a:close/>
                    <a:moveTo>
                      <a:pt x="107710" y="920750"/>
                    </a:moveTo>
                    <a:cubicBezTo>
                      <a:pt x="87103" y="920750"/>
                      <a:pt x="68628" y="928604"/>
                      <a:pt x="54416" y="942884"/>
                    </a:cubicBezTo>
                    <a:cubicBezTo>
                      <a:pt x="40204" y="957164"/>
                      <a:pt x="32387" y="975728"/>
                      <a:pt x="32387" y="995720"/>
                    </a:cubicBezTo>
                    <a:cubicBezTo>
                      <a:pt x="32387" y="1015711"/>
                      <a:pt x="40204" y="1034989"/>
                      <a:pt x="53705" y="1049269"/>
                    </a:cubicBezTo>
                    <a:cubicBezTo>
                      <a:pt x="67917" y="1062835"/>
                      <a:pt x="87103" y="1069975"/>
                      <a:pt x="107000" y="1069975"/>
                    </a:cubicBezTo>
                    <a:cubicBezTo>
                      <a:pt x="127607" y="1069975"/>
                      <a:pt x="145372" y="1062835"/>
                      <a:pt x="159584" y="1048555"/>
                    </a:cubicBezTo>
                    <a:cubicBezTo>
                      <a:pt x="173796" y="1034275"/>
                      <a:pt x="181612" y="1015711"/>
                      <a:pt x="181612" y="995006"/>
                    </a:cubicBezTo>
                    <a:cubicBezTo>
                      <a:pt x="181612" y="975728"/>
                      <a:pt x="174506" y="956450"/>
                      <a:pt x="160294" y="942170"/>
                    </a:cubicBezTo>
                    <a:cubicBezTo>
                      <a:pt x="146082" y="928604"/>
                      <a:pt x="127607" y="920750"/>
                      <a:pt x="107710" y="920750"/>
                    </a:cubicBezTo>
                    <a:close/>
                    <a:moveTo>
                      <a:pt x="995283" y="890587"/>
                    </a:moveTo>
                    <a:cubicBezTo>
                      <a:pt x="1023219" y="890587"/>
                      <a:pt x="1050439" y="899860"/>
                      <a:pt x="1071212" y="920546"/>
                    </a:cubicBezTo>
                    <a:cubicBezTo>
                      <a:pt x="1113474" y="962631"/>
                      <a:pt x="1113474" y="1029681"/>
                      <a:pt x="1071928" y="1071053"/>
                    </a:cubicBezTo>
                    <a:cubicBezTo>
                      <a:pt x="1050439" y="1091739"/>
                      <a:pt x="1023219" y="1101725"/>
                      <a:pt x="995999" y="1101725"/>
                    </a:cubicBezTo>
                    <a:cubicBezTo>
                      <a:pt x="968063" y="1101725"/>
                      <a:pt x="941560" y="1091739"/>
                      <a:pt x="920070" y="1070340"/>
                    </a:cubicBezTo>
                    <a:cubicBezTo>
                      <a:pt x="878524" y="1029681"/>
                      <a:pt x="878524" y="962631"/>
                      <a:pt x="920070" y="920546"/>
                    </a:cubicBezTo>
                    <a:cubicBezTo>
                      <a:pt x="941560" y="899860"/>
                      <a:pt x="968063" y="890587"/>
                      <a:pt x="995283" y="890587"/>
                    </a:cubicBezTo>
                    <a:close/>
                    <a:moveTo>
                      <a:pt x="107716" y="890587"/>
                    </a:moveTo>
                    <a:cubicBezTo>
                      <a:pt x="134935" y="890587"/>
                      <a:pt x="161439" y="899860"/>
                      <a:pt x="182928" y="920546"/>
                    </a:cubicBezTo>
                    <a:cubicBezTo>
                      <a:pt x="224474" y="962631"/>
                      <a:pt x="224474" y="1029681"/>
                      <a:pt x="182928" y="1070340"/>
                    </a:cubicBezTo>
                    <a:cubicBezTo>
                      <a:pt x="161439" y="1091739"/>
                      <a:pt x="134935" y="1101725"/>
                      <a:pt x="106999" y="1101725"/>
                    </a:cubicBezTo>
                    <a:cubicBezTo>
                      <a:pt x="79779" y="1101725"/>
                      <a:pt x="52560" y="1091739"/>
                      <a:pt x="31070" y="1071053"/>
                    </a:cubicBezTo>
                    <a:cubicBezTo>
                      <a:pt x="-10476" y="1029681"/>
                      <a:pt x="-10476" y="962631"/>
                      <a:pt x="31787" y="920546"/>
                    </a:cubicBezTo>
                    <a:cubicBezTo>
                      <a:pt x="52560" y="899860"/>
                      <a:pt x="79779" y="890587"/>
                      <a:pt x="107716" y="890587"/>
                    </a:cubicBezTo>
                    <a:close/>
                    <a:moveTo>
                      <a:pt x="550733" y="323850"/>
                    </a:moveTo>
                    <a:cubicBezTo>
                      <a:pt x="492223" y="323850"/>
                      <a:pt x="436567" y="346766"/>
                      <a:pt x="395182" y="387585"/>
                    </a:cubicBezTo>
                    <a:cubicBezTo>
                      <a:pt x="394468" y="388302"/>
                      <a:pt x="393755" y="389734"/>
                      <a:pt x="392328" y="390450"/>
                    </a:cubicBezTo>
                    <a:cubicBezTo>
                      <a:pt x="391614" y="391882"/>
                      <a:pt x="390187" y="392598"/>
                      <a:pt x="389474" y="393315"/>
                    </a:cubicBezTo>
                    <a:cubicBezTo>
                      <a:pt x="303849" y="481398"/>
                      <a:pt x="305276" y="623192"/>
                      <a:pt x="392328" y="710559"/>
                    </a:cubicBezTo>
                    <a:cubicBezTo>
                      <a:pt x="392328" y="711275"/>
                      <a:pt x="392328" y="711275"/>
                      <a:pt x="392328" y="711275"/>
                    </a:cubicBezTo>
                    <a:cubicBezTo>
                      <a:pt x="392328" y="711275"/>
                      <a:pt x="392328" y="711275"/>
                      <a:pt x="393041" y="711275"/>
                    </a:cubicBezTo>
                    <a:cubicBezTo>
                      <a:pt x="435140" y="754243"/>
                      <a:pt x="491509" y="777875"/>
                      <a:pt x="552160" y="777875"/>
                    </a:cubicBezTo>
                    <a:cubicBezTo>
                      <a:pt x="610670" y="777875"/>
                      <a:pt x="666326" y="754959"/>
                      <a:pt x="707711" y="714140"/>
                    </a:cubicBezTo>
                    <a:cubicBezTo>
                      <a:pt x="708425" y="713424"/>
                      <a:pt x="709138" y="711991"/>
                      <a:pt x="710565" y="711275"/>
                    </a:cubicBezTo>
                    <a:cubicBezTo>
                      <a:pt x="711279" y="709843"/>
                      <a:pt x="712706" y="709127"/>
                      <a:pt x="713419" y="708411"/>
                    </a:cubicBezTo>
                    <a:cubicBezTo>
                      <a:pt x="754091" y="666159"/>
                      <a:pt x="776924" y="610301"/>
                      <a:pt x="776924" y="550863"/>
                    </a:cubicBezTo>
                    <a:cubicBezTo>
                      <a:pt x="776924" y="490708"/>
                      <a:pt x="753378" y="434134"/>
                      <a:pt x="710565" y="391166"/>
                    </a:cubicBezTo>
                    <a:cubicBezTo>
                      <a:pt x="710565" y="390450"/>
                      <a:pt x="710565" y="390450"/>
                      <a:pt x="710565" y="390450"/>
                    </a:cubicBezTo>
                    <a:cubicBezTo>
                      <a:pt x="710565" y="390450"/>
                      <a:pt x="710565" y="390450"/>
                      <a:pt x="709852" y="390450"/>
                    </a:cubicBezTo>
                    <a:cubicBezTo>
                      <a:pt x="667753" y="347482"/>
                      <a:pt x="611384" y="323850"/>
                      <a:pt x="550733" y="323850"/>
                    </a:cubicBezTo>
                    <a:close/>
                    <a:moveTo>
                      <a:pt x="211227" y="198437"/>
                    </a:moveTo>
                    <a:cubicBezTo>
                      <a:pt x="211227" y="198437"/>
                      <a:pt x="211227" y="198437"/>
                      <a:pt x="211942" y="198437"/>
                    </a:cubicBezTo>
                    <a:cubicBezTo>
                      <a:pt x="212657" y="198437"/>
                      <a:pt x="213371" y="198437"/>
                      <a:pt x="214086" y="198437"/>
                    </a:cubicBezTo>
                    <a:cubicBezTo>
                      <a:pt x="214801" y="198437"/>
                      <a:pt x="214801" y="198437"/>
                      <a:pt x="214801" y="198437"/>
                    </a:cubicBezTo>
                    <a:cubicBezTo>
                      <a:pt x="215516" y="198437"/>
                      <a:pt x="215516" y="198437"/>
                      <a:pt x="215516" y="198437"/>
                    </a:cubicBezTo>
                    <a:cubicBezTo>
                      <a:pt x="215516" y="198437"/>
                      <a:pt x="215516" y="198437"/>
                      <a:pt x="314166" y="206285"/>
                    </a:cubicBezTo>
                    <a:cubicBezTo>
                      <a:pt x="322745" y="206998"/>
                      <a:pt x="329893" y="214132"/>
                      <a:pt x="329178" y="222693"/>
                    </a:cubicBezTo>
                    <a:cubicBezTo>
                      <a:pt x="328464" y="231254"/>
                      <a:pt x="320600" y="237675"/>
                      <a:pt x="312022" y="237675"/>
                    </a:cubicBezTo>
                    <a:cubicBezTo>
                      <a:pt x="312022" y="237675"/>
                      <a:pt x="312022" y="237675"/>
                      <a:pt x="255548" y="232681"/>
                    </a:cubicBezTo>
                    <a:cubicBezTo>
                      <a:pt x="255548" y="232681"/>
                      <a:pt x="255548" y="232681"/>
                      <a:pt x="381363" y="357528"/>
                    </a:cubicBezTo>
                    <a:cubicBezTo>
                      <a:pt x="429259" y="314723"/>
                      <a:pt x="490021" y="293321"/>
                      <a:pt x="550784" y="293321"/>
                    </a:cubicBezTo>
                    <a:cubicBezTo>
                      <a:pt x="612262" y="293321"/>
                      <a:pt x="673740" y="314723"/>
                      <a:pt x="721635" y="358241"/>
                    </a:cubicBezTo>
                    <a:cubicBezTo>
                      <a:pt x="721635" y="358241"/>
                      <a:pt x="721635" y="358241"/>
                      <a:pt x="847450" y="232681"/>
                    </a:cubicBezTo>
                    <a:cubicBezTo>
                      <a:pt x="847450" y="232681"/>
                      <a:pt x="847450" y="232681"/>
                      <a:pt x="790977" y="237675"/>
                    </a:cubicBezTo>
                    <a:cubicBezTo>
                      <a:pt x="782398" y="238388"/>
                      <a:pt x="774535" y="231254"/>
                      <a:pt x="773820" y="222693"/>
                    </a:cubicBezTo>
                    <a:cubicBezTo>
                      <a:pt x="773820" y="214132"/>
                      <a:pt x="780254" y="206998"/>
                      <a:pt x="788832" y="206285"/>
                    </a:cubicBezTo>
                    <a:cubicBezTo>
                      <a:pt x="788832" y="206285"/>
                      <a:pt x="788832" y="206285"/>
                      <a:pt x="887482" y="198437"/>
                    </a:cubicBezTo>
                    <a:cubicBezTo>
                      <a:pt x="887482" y="198437"/>
                      <a:pt x="887482" y="198437"/>
                      <a:pt x="888197" y="198437"/>
                    </a:cubicBezTo>
                    <a:cubicBezTo>
                      <a:pt x="888197" y="198437"/>
                      <a:pt x="888197" y="198437"/>
                      <a:pt x="888912" y="198437"/>
                    </a:cubicBezTo>
                    <a:cubicBezTo>
                      <a:pt x="889627" y="198437"/>
                      <a:pt x="890342" y="198437"/>
                      <a:pt x="891057" y="198437"/>
                    </a:cubicBezTo>
                    <a:cubicBezTo>
                      <a:pt x="891057" y="198437"/>
                      <a:pt x="891057" y="198437"/>
                      <a:pt x="891772" y="198437"/>
                    </a:cubicBezTo>
                    <a:cubicBezTo>
                      <a:pt x="892486" y="198437"/>
                      <a:pt x="893201" y="199151"/>
                      <a:pt x="893916" y="199151"/>
                    </a:cubicBezTo>
                    <a:cubicBezTo>
                      <a:pt x="894631" y="199151"/>
                      <a:pt x="894631" y="199151"/>
                      <a:pt x="894631" y="199151"/>
                    </a:cubicBezTo>
                    <a:cubicBezTo>
                      <a:pt x="895346" y="199864"/>
                      <a:pt x="896061" y="200577"/>
                      <a:pt x="896776" y="200577"/>
                    </a:cubicBezTo>
                    <a:cubicBezTo>
                      <a:pt x="896776" y="200577"/>
                      <a:pt x="897490" y="200577"/>
                      <a:pt x="897490" y="201291"/>
                    </a:cubicBezTo>
                    <a:cubicBezTo>
                      <a:pt x="898205" y="201291"/>
                      <a:pt x="898920" y="202004"/>
                      <a:pt x="899635" y="202718"/>
                    </a:cubicBezTo>
                    <a:cubicBezTo>
                      <a:pt x="900350" y="203431"/>
                      <a:pt x="901065" y="204144"/>
                      <a:pt x="901780" y="204858"/>
                    </a:cubicBezTo>
                    <a:cubicBezTo>
                      <a:pt x="901780" y="204858"/>
                      <a:pt x="901780" y="204858"/>
                      <a:pt x="901780" y="205571"/>
                    </a:cubicBezTo>
                    <a:cubicBezTo>
                      <a:pt x="901780" y="206285"/>
                      <a:pt x="902495" y="206998"/>
                      <a:pt x="903209" y="207711"/>
                    </a:cubicBezTo>
                    <a:cubicBezTo>
                      <a:pt x="903209" y="207711"/>
                      <a:pt x="903209" y="207711"/>
                      <a:pt x="903209" y="208425"/>
                    </a:cubicBezTo>
                    <a:cubicBezTo>
                      <a:pt x="903209" y="209138"/>
                      <a:pt x="903924" y="209852"/>
                      <a:pt x="903924" y="210565"/>
                    </a:cubicBezTo>
                    <a:cubicBezTo>
                      <a:pt x="903924" y="210565"/>
                      <a:pt x="903924" y="210565"/>
                      <a:pt x="903924" y="211279"/>
                    </a:cubicBezTo>
                    <a:cubicBezTo>
                      <a:pt x="903924" y="211992"/>
                      <a:pt x="903924" y="212705"/>
                      <a:pt x="903924" y="213419"/>
                    </a:cubicBezTo>
                    <a:cubicBezTo>
                      <a:pt x="903924" y="214132"/>
                      <a:pt x="903924" y="214132"/>
                      <a:pt x="903924" y="214132"/>
                    </a:cubicBezTo>
                    <a:cubicBezTo>
                      <a:pt x="903924" y="214132"/>
                      <a:pt x="903924" y="214132"/>
                      <a:pt x="903924" y="214846"/>
                    </a:cubicBezTo>
                    <a:cubicBezTo>
                      <a:pt x="903924" y="214846"/>
                      <a:pt x="903924" y="214846"/>
                      <a:pt x="896061" y="313296"/>
                    </a:cubicBezTo>
                    <a:cubicBezTo>
                      <a:pt x="895346" y="321857"/>
                      <a:pt x="888912" y="328278"/>
                      <a:pt x="880334" y="328278"/>
                    </a:cubicBezTo>
                    <a:cubicBezTo>
                      <a:pt x="880334" y="328278"/>
                      <a:pt x="880334" y="328278"/>
                      <a:pt x="879619" y="328278"/>
                    </a:cubicBezTo>
                    <a:cubicBezTo>
                      <a:pt x="871041" y="327565"/>
                      <a:pt x="864607" y="319717"/>
                      <a:pt x="864607" y="311156"/>
                    </a:cubicBezTo>
                    <a:cubicBezTo>
                      <a:pt x="864607" y="311156"/>
                      <a:pt x="864607" y="311156"/>
                      <a:pt x="869611" y="254797"/>
                    </a:cubicBezTo>
                    <a:cubicBezTo>
                      <a:pt x="869611" y="254797"/>
                      <a:pt x="869611" y="254797"/>
                      <a:pt x="743796" y="380357"/>
                    </a:cubicBezTo>
                    <a:cubicBezTo>
                      <a:pt x="830294" y="478094"/>
                      <a:pt x="830294" y="624343"/>
                      <a:pt x="744511" y="721367"/>
                    </a:cubicBezTo>
                    <a:cubicBezTo>
                      <a:pt x="744511" y="721367"/>
                      <a:pt x="744511" y="721367"/>
                      <a:pt x="869611" y="846928"/>
                    </a:cubicBezTo>
                    <a:cubicBezTo>
                      <a:pt x="869611" y="846928"/>
                      <a:pt x="869611" y="846928"/>
                      <a:pt x="864607" y="790568"/>
                    </a:cubicBezTo>
                    <a:cubicBezTo>
                      <a:pt x="864607" y="782007"/>
                      <a:pt x="871041" y="774160"/>
                      <a:pt x="879619" y="773446"/>
                    </a:cubicBezTo>
                    <a:cubicBezTo>
                      <a:pt x="888197" y="772733"/>
                      <a:pt x="895346" y="779867"/>
                      <a:pt x="896061" y="788428"/>
                    </a:cubicBezTo>
                    <a:cubicBezTo>
                      <a:pt x="896061" y="788428"/>
                      <a:pt x="896061" y="788428"/>
                      <a:pt x="903924" y="886879"/>
                    </a:cubicBezTo>
                    <a:cubicBezTo>
                      <a:pt x="903924" y="886879"/>
                      <a:pt x="903924" y="886879"/>
                      <a:pt x="903924" y="887592"/>
                    </a:cubicBezTo>
                    <a:cubicBezTo>
                      <a:pt x="903924" y="887592"/>
                      <a:pt x="903924" y="887592"/>
                      <a:pt x="903924" y="888306"/>
                    </a:cubicBezTo>
                    <a:cubicBezTo>
                      <a:pt x="903924" y="889019"/>
                      <a:pt x="903924" y="889732"/>
                      <a:pt x="903924" y="890446"/>
                    </a:cubicBezTo>
                    <a:cubicBezTo>
                      <a:pt x="903924" y="890446"/>
                      <a:pt x="903924" y="890446"/>
                      <a:pt x="903924" y="891159"/>
                    </a:cubicBezTo>
                    <a:cubicBezTo>
                      <a:pt x="903924" y="891873"/>
                      <a:pt x="903209" y="892586"/>
                      <a:pt x="903209" y="893299"/>
                    </a:cubicBezTo>
                    <a:cubicBezTo>
                      <a:pt x="903209" y="894013"/>
                      <a:pt x="903209" y="894013"/>
                      <a:pt x="903209" y="894013"/>
                    </a:cubicBezTo>
                    <a:cubicBezTo>
                      <a:pt x="902495" y="894726"/>
                      <a:pt x="901780" y="895440"/>
                      <a:pt x="901780" y="896153"/>
                    </a:cubicBezTo>
                    <a:cubicBezTo>
                      <a:pt x="901780" y="896153"/>
                      <a:pt x="901780" y="896153"/>
                      <a:pt x="901780" y="896866"/>
                    </a:cubicBezTo>
                    <a:cubicBezTo>
                      <a:pt x="901065" y="897580"/>
                      <a:pt x="900350" y="898293"/>
                      <a:pt x="899635" y="899007"/>
                    </a:cubicBezTo>
                    <a:cubicBezTo>
                      <a:pt x="898920" y="899720"/>
                      <a:pt x="898205" y="900434"/>
                      <a:pt x="897490" y="901147"/>
                    </a:cubicBezTo>
                    <a:cubicBezTo>
                      <a:pt x="896776" y="901147"/>
                      <a:pt x="896061" y="901860"/>
                      <a:pt x="895346" y="901860"/>
                    </a:cubicBezTo>
                    <a:cubicBezTo>
                      <a:pt x="895346" y="901860"/>
                      <a:pt x="894631" y="901860"/>
                      <a:pt x="894631" y="902574"/>
                    </a:cubicBezTo>
                    <a:cubicBezTo>
                      <a:pt x="893916" y="902574"/>
                      <a:pt x="893201" y="902574"/>
                      <a:pt x="892486" y="903287"/>
                    </a:cubicBezTo>
                    <a:cubicBezTo>
                      <a:pt x="891772" y="903287"/>
                      <a:pt x="891772" y="903287"/>
                      <a:pt x="891772" y="903287"/>
                    </a:cubicBezTo>
                    <a:cubicBezTo>
                      <a:pt x="890342" y="903287"/>
                      <a:pt x="889627" y="903287"/>
                      <a:pt x="888197" y="903287"/>
                    </a:cubicBezTo>
                    <a:cubicBezTo>
                      <a:pt x="888197" y="903287"/>
                      <a:pt x="888197" y="903287"/>
                      <a:pt x="887482" y="903287"/>
                    </a:cubicBezTo>
                    <a:cubicBezTo>
                      <a:pt x="887482" y="903287"/>
                      <a:pt x="887482" y="903287"/>
                      <a:pt x="788832" y="895440"/>
                    </a:cubicBezTo>
                    <a:cubicBezTo>
                      <a:pt x="780254" y="894726"/>
                      <a:pt x="773820" y="887592"/>
                      <a:pt x="773820" y="879031"/>
                    </a:cubicBezTo>
                    <a:cubicBezTo>
                      <a:pt x="774535" y="870470"/>
                      <a:pt x="782398" y="864050"/>
                      <a:pt x="790977" y="864050"/>
                    </a:cubicBezTo>
                    <a:cubicBezTo>
                      <a:pt x="790977" y="864050"/>
                      <a:pt x="790977" y="864050"/>
                      <a:pt x="847450" y="869043"/>
                    </a:cubicBezTo>
                    <a:cubicBezTo>
                      <a:pt x="847450" y="869043"/>
                      <a:pt x="847450" y="869043"/>
                      <a:pt x="721635" y="744197"/>
                    </a:cubicBezTo>
                    <a:cubicBezTo>
                      <a:pt x="673740" y="787001"/>
                      <a:pt x="612977" y="808404"/>
                      <a:pt x="552214" y="808404"/>
                    </a:cubicBezTo>
                    <a:cubicBezTo>
                      <a:pt x="490736" y="808404"/>
                      <a:pt x="429259" y="787001"/>
                      <a:pt x="381363" y="743483"/>
                    </a:cubicBezTo>
                    <a:cubicBezTo>
                      <a:pt x="381363" y="743483"/>
                      <a:pt x="381363" y="743483"/>
                      <a:pt x="255548" y="869043"/>
                    </a:cubicBezTo>
                    <a:cubicBezTo>
                      <a:pt x="255548" y="869043"/>
                      <a:pt x="255548" y="869043"/>
                      <a:pt x="312022" y="864050"/>
                    </a:cubicBezTo>
                    <a:cubicBezTo>
                      <a:pt x="320600" y="864050"/>
                      <a:pt x="328464" y="870470"/>
                      <a:pt x="329178" y="879031"/>
                    </a:cubicBezTo>
                    <a:cubicBezTo>
                      <a:pt x="329893" y="887592"/>
                      <a:pt x="322745" y="894726"/>
                      <a:pt x="314166" y="895440"/>
                    </a:cubicBezTo>
                    <a:cubicBezTo>
                      <a:pt x="314166" y="895440"/>
                      <a:pt x="314166" y="895440"/>
                      <a:pt x="215516" y="903287"/>
                    </a:cubicBezTo>
                    <a:cubicBezTo>
                      <a:pt x="215516" y="903287"/>
                      <a:pt x="215516" y="903287"/>
                      <a:pt x="214801" y="903287"/>
                    </a:cubicBezTo>
                    <a:cubicBezTo>
                      <a:pt x="213371" y="903287"/>
                      <a:pt x="212657" y="903287"/>
                      <a:pt x="211227" y="903287"/>
                    </a:cubicBezTo>
                    <a:cubicBezTo>
                      <a:pt x="211227" y="903287"/>
                      <a:pt x="211227" y="903287"/>
                      <a:pt x="210512" y="903287"/>
                    </a:cubicBezTo>
                    <a:cubicBezTo>
                      <a:pt x="209797" y="902574"/>
                      <a:pt x="209082" y="902574"/>
                      <a:pt x="208367" y="902574"/>
                    </a:cubicBezTo>
                    <a:cubicBezTo>
                      <a:pt x="208367" y="901860"/>
                      <a:pt x="207653" y="901860"/>
                      <a:pt x="207653" y="901860"/>
                    </a:cubicBezTo>
                    <a:cubicBezTo>
                      <a:pt x="206938" y="901860"/>
                      <a:pt x="206223" y="901147"/>
                      <a:pt x="205508" y="901147"/>
                    </a:cubicBezTo>
                    <a:cubicBezTo>
                      <a:pt x="204793" y="900434"/>
                      <a:pt x="204078" y="899720"/>
                      <a:pt x="203363" y="899007"/>
                    </a:cubicBezTo>
                    <a:cubicBezTo>
                      <a:pt x="202649" y="898293"/>
                      <a:pt x="201934" y="897580"/>
                      <a:pt x="201219" y="896866"/>
                    </a:cubicBezTo>
                    <a:cubicBezTo>
                      <a:pt x="201219" y="896866"/>
                      <a:pt x="201219" y="896866"/>
                      <a:pt x="201219" y="896153"/>
                    </a:cubicBezTo>
                    <a:cubicBezTo>
                      <a:pt x="201219" y="895440"/>
                      <a:pt x="200504" y="894726"/>
                      <a:pt x="199789" y="894013"/>
                    </a:cubicBezTo>
                    <a:cubicBezTo>
                      <a:pt x="199789" y="894013"/>
                      <a:pt x="199789" y="894013"/>
                      <a:pt x="199789" y="893299"/>
                    </a:cubicBezTo>
                    <a:cubicBezTo>
                      <a:pt x="199789" y="892586"/>
                      <a:pt x="199074" y="891873"/>
                      <a:pt x="199074" y="891159"/>
                    </a:cubicBezTo>
                    <a:cubicBezTo>
                      <a:pt x="199074" y="891159"/>
                      <a:pt x="199074" y="891159"/>
                      <a:pt x="199074" y="890446"/>
                    </a:cubicBezTo>
                    <a:cubicBezTo>
                      <a:pt x="199074" y="889732"/>
                      <a:pt x="199074" y="889019"/>
                      <a:pt x="199074" y="888306"/>
                    </a:cubicBezTo>
                    <a:cubicBezTo>
                      <a:pt x="199074" y="887592"/>
                      <a:pt x="199074" y="887592"/>
                      <a:pt x="199074" y="887592"/>
                    </a:cubicBezTo>
                    <a:cubicBezTo>
                      <a:pt x="199074" y="887592"/>
                      <a:pt x="199074" y="887592"/>
                      <a:pt x="199074" y="886879"/>
                    </a:cubicBezTo>
                    <a:cubicBezTo>
                      <a:pt x="199074" y="886879"/>
                      <a:pt x="199074" y="886879"/>
                      <a:pt x="206938" y="788428"/>
                    </a:cubicBezTo>
                    <a:cubicBezTo>
                      <a:pt x="207653" y="779867"/>
                      <a:pt x="214801" y="773446"/>
                      <a:pt x="223379" y="773446"/>
                    </a:cubicBezTo>
                    <a:cubicBezTo>
                      <a:pt x="231958" y="774160"/>
                      <a:pt x="238391" y="782007"/>
                      <a:pt x="238391" y="790568"/>
                    </a:cubicBezTo>
                    <a:cubicBezTo>
                      <a:pt x="238391" y="790568"/>
                      <a:pt x="238391" y="790568"/>
                      <a:pt x="233387" y="846928"/>
                    </a:cubicBezTo>
                    <a:cubicBezTo>
                      <a:pt x="233387" y="846928"/>
                      <a:pt x="233387" y="846928"/>
                      <a:pt x="359202" y="721367"/>
                    </a:cubicBezTo>
                    <a:cubicBezTo>
                      <a:pt x="272705" y="623630"/>
                      <a:pt x="272705" y="477381"/>
                      <a:pt x="358488" y="380357"/>
                    </a:cubicBezTo>
                    <a:cubicBezTo>
                      <a:pt x="358488" y="380357"/>
                      <a:pt x="358488" y="380357"/>
                      <a:pt x="233387" y="254797"/>
                    </a:cubicBezTo>
                    <a:cubicBezTo>
                      <a:pt x="233387" y="254797"/>
                      <a:pt x="233387" y="254797"/>
                      <a:pt x="238391" y="311156"/>
                    </a:cubicBezTo>
                    <a:cubicBezTo>
                      <a:pt x="238391" y="319717"/>
                      <a:pt x="231958" y="327565"/>
                      <a:pt x="223379" y="328278"/>
                    </a:cubicBezTo>
                    <a:cubicBezTo>
                      <a:pt x="223379" y="328278"/>
                      <a:pt x="223379" y="328278"/>
                      <a:pt x="222665" y="328278"/>
                    </a:cubicBezTo>
                    <a:cubicBezTo>
                      <a:pt x="214086" y="328278"/>
                      <a:pt x="207653" y="321857"/>
                      <a:pt x="206938" y="313296"/>
                    </a:cubicBezTo>
                    <a:cubicBezTo>
                      <a:pt x="206938" y="313296"/>
                      <a:pt x="206938" y="313296"/>
                      <a:pt x="199074" y="214846"/>
                    </a:cubicBezTo>
                    <a:cubicBezTo>
                      <a:pt x="199074" y="214846"/>
                      <a:pt x="199074" y="214846"/>
                      <a:pt x="199074" y="214132"/>
                    </a:cubicBezTo>
                    <a:cubicBezTo>
                      <a:pt x="199074" y="214132"/>
                      <a:pt x="199074" y="214132"/>
                      <a:pt x="199074" y="213419"/>
                    </a:cubicBezTo>
                    <a:cubicBezTo>
                      <a:pt x="199074" y="212705"/>
                      <a:pt x="199074" y="211992"/>
                      <a:pt x="199074" y="211279"/>
                    </a:cubicBezTo>
                    <a:cubicBezTo>
                      <a:pt x="199074" y="211279"/>
                      <a:pt x="199074" y="211279"/>
                      <a:pt x="199074" y="210565"/>
                    </a:cubicBezTo>
                    <a:cubicBezTo>
                      <a:pt x="199074" y="209852"/>
                      <a:pt x="199789" y="209138"/>
                      <a:pt x="199789" y="208425"/>
                    </a:cubicBezTo>
                    <a:cubicBezTo>
                      <a:pt x="199789" y="207711"/>
                      <a:pt x="199789" y="207711"/>
                      <a:pt x="199789" y="207711"/>
                    </a:cubicBezTo>
                    <a:cubicBezTo>
                      <a:pt x="200504" y="206998"/>
                      <a:pt x="201219" y="206285"/>
                      <a:pt x="201219" y="205571"/>
                    </a:cubicBezTo>
                    <a:cubicBezTo>
                      <a:pt x="201219" y="205571"/>
                      <a:pt x="201219" y="205571"/>
                      <a:pt x="201219" y="204858"/>
                    </a:cubicBezTo>
                    <a:cubicBezTo>
                      <a:pt x="201934" y="204144"/>
                      <a:pt x="202649" y="203431"/>
                      <a:pt x="203363" y="202718"/>
                    </a:cubicBezTo>
                    <a:cubicBezTo>
                      <a:pt x="204078" y="202004"/>
                      <a:pt x="204793" y="201291"/>
                      <a:pt x="205508" y="201291"/>
                    </a:cubicBezTo>
                    <a:cubicBezTo>
                      <a:pt x="205508" y="200577"/>
                      <a:pt x="206223" y="200577"/>
                      <a:pt x="206223" y="200577"/>
                    </a:cubicBezTo>
                    <a:cubicBezTo>
                      <a:pt x="206938" y="200577"/>
                      <a:pt x="207653" y="199864"/>
                      <a:pt x="208367" y="199864"/>
                    </a:cubicBezTo>
                    <a:cubicBezTo>
                      <a:pt x="208367" y="199151"/>
                      <a:pt x="208367" y="199151"/>
                      <a:pt x="209082" y="199151"/>
                    </a:cubicBezTo>
                    <a:cubicBezTo>
                      <a:pt x="209797" y="199151"/>
                      <a:pt x="210512" y="198437"/>
                      <a:pt x="211227" y="198437"/>
                    </a:cubicBezTo>
                    <a:close/>
                    <a:moveTo>
                      <a:pt x="996000" y="31750"/>
                    </a:moveTo>
                    <a:cubicBezTo>
                      <a:pt x="975392" y="31750"/>
                      <a:pt x="957628" y="39567"/>
                      <a:pt x="943416" y="53779"/>
                    </a:cubicBezTo>
                    <a:cubicBezTo>
                      <a:pt x="929204" y="67990"/>
                      <a:pt x="921387" y="86466"/>
                      <a:pt x="921387" y="106363"/>
                    </a:cubicBezTo>
                    <a:cubicBezTo>
                      <a:pt x="921387" y="126259"/>
                      <a:pt x="928493" y="145445"/>
                      <a:pt x="942705" y="159657"/>
                    </a:cubicBezTo>
                    <a:cubicBezTo>
                      <a:pt x="956917" y="173159"/>
                      <a:pt x="975392" y="180975"/>
                      <a:pt x="995289" y="180975"/>
                    </a:cubicBezTo>
                    <a:cubicBezTo>
                      <a:pt x="1015896" y="180975"/>
                      <a:pt x="1034372" y="173159"/>
                      <a:pt x="1048584" y="158947"/>
                    </a:cubicBezTo>
                    <a:cubicBezTo>
                      <a:pt x="1062796" y="144735"/>
                      <a:pt x="1070612" y="126259"/>
                      <a:pt x="1070612" y="106363"/>
                    </a:cubicBezTo>
                    <a:cubicBezTo>
                      <a:pt x="1070612" y="86466"/>
                      <a:pt x="1062796" y="67280"/>
                      <a:pt x="1049294" y="53068"/>
                    </a:cubicBezTo>
                    <a:cubicBezTo>
                      <a:pt x="1035082" y="39567"/>
                      <a:pt x="1015896" y="31750"/>
                      <a:pt x="996000" y="31750"/>
                    </a:cubicBezTo>
                    <a:close/>
                    <a:moveTo>
                      <a:pt x="107000" y="31750"/>
                    </a:moveTo>
                    <a:cubicBezTo>
                      <a:pt x="87103" y="31750"/>
                      <a:pt x="67917" y="39567"/>
                      <a:pt x="53705" y="53068"/>
                    </a:cubicBezTo>
                    <a:cubicBezTo>
                      <a:pt x="40204" y="67280"/>
                      <a:pt x="32387" y="86466"/>
                      <a:pt x="32387" y="106363"/>
                    </a:cubicBezTo>
                    <a:cubicBezTo>
                      <a:pt x="32387" y="126259"/>
                      <a:pt x="40204" y="144735"/>
                      <a:pt x="54416" y="158947"/>
                    </a:cubicBezTo>
                    <a:cubicBezTo>
                      <a:pt x="68628" y="173159"/>
                      <a:pt x="87103" y="180975"/>
                      <a:pt x="107710" y="180975"/>
                    </a:cubicBezTo>
                    <a:cubicBezTo>
                      <a:pt x="127607" y="180975"/>
                      <a:pt x="146082" y="173159"/>
                      <a:pt x="160294" y="159657"/>
                    </a:cubicBezTo>
                    <a:cubicBezTo>
                      <a:pt x="174506" y="145445"/>
                      <a:pt x="181612" y="126259"/>
                      <a:pt x="181612" y="106363"/>
                    </a:cubicBezTo>
                    <a:cubicBezTo>
                      <a:pt x="181612" y="86466"/>
                      <a:pt x="173796" y="67990"/>
                      <a:pt x="159584" y="53779"/>
                    </a:cubicBezTo>
                    <a:cubicBezTo>
                      <a:pt x="145372" y="39567"/>
                      <a:pt x="127607" y="31750"/>
                      <a:pt x="107000" y="31750"/>
                    </a:cubicBezTo>
                    <a:close/>
                    <a:moveTo>
                      <a:pt x="995999" y="0"/>
                    </a:moveTo>
                    <a:cubicBezTo>
                      <a:pt x="1023219" y="0"/>
                      <a:pt x="1050439" y="9986"/>
                      <a:pt x="1071928" y="29959"/>
                    </a:cubicBezTo>
                    <a:cubicBezTo>
                      <a:pt x="1113474" y="72044"/>
                      <a:pt x="1113474" y="139094"/>
                      <a:pt x="1071212" y="181179"/>
                    </a:cubicBezTo>
                    <a:cubicBezTo>
                      <a:pt x="1050439" y="201152"/>
                      <a:pt x="1023219" y="211138"/>
                      <a:pt x="995283" y="211138"/>
                    </a:cubicBezTo>
                    <a:cubicBezTo>
                      <a:pt x="968063" y="211138"/>
                      <a:pt x="941560" y="201152"/>
                      <a:pt x="920070" y="181179"/>
                    </a:cubicBezTo>
                    <a:cubicBezTo>
                      <a:pt x="878524" y="139094"/>
                      <a:pt x="878524" y="72044"/>
                      <a:pt x="920070" y="30672"/>
                    </a:cubicBezTo>
                    <a:cubicBezTo>
                      <a:pt x="941560" y="9986"/>
                      <a:pt x="968063" y="0"/>
                      <a:pt x="995999" y="0"/>
                    </a:cubicBezTo>
                    <a:close/>
                    <a:moveTo>
                      <a:pt x="106999" y="0"/>
                    </a:moveTo>
                    <a:cubicBezTo>
                      <a:pt x="134935" y="0"/>
                      <a:pt x="161439" y="9986"/>
                      <a:pt x="182928" y="30672"/>
                    </a:cubicBezTo>
                    <a:cubicBezTo>
                      <a:pt x="224474" y="72044"/>
                      <a:pt x="224474" y="139094"/>
                      <a:pt x="182928" y="181179"/>
                    </a:cubicBezTo>
                    <a:cubicBezTo>
                      <a:pt x="161439" y="201152"/>
                      <a:pt x="134935" y="211138"/>
                      <a:pt x="107716" y="211138"/>
                    </a:cubicBezTo>
                    <a:cubicBezTo>
                      <a:pt x="79779" y="211138"/>
                      <a:pt x="52560" y="201152"/>
                      <a:pt x="31787" y="181179"/>
                    </a:cubicBezTo>
                    <a:cubicBezTo>
                      <a:pt x="-10476" y="139094"/>
                      <a:pt x="-10476" y="72044"/>
                      <a:pt x="31070" y="29959"/>
                    </a:cubicBezTo>
                    <a:cubicBezTo>
                      <a:pt x="52560" y="9986"/>
                      <a:pt x="79779" y="0"/>
                      <a:pt x="106999" y="0"/>
                    </a:cubicBezTo>
                    <a:close/>
                  </a:path>
                </a:pathLst>
              </a:custGeom>
              <a:solidFill>
                <a:schemeClr val="accent1"/>
              </a:solidFill>
              <a:ln>
                <a:noFill/>
              </a:ln>
            </p:spPr>
            <p:txBody>
              <a:bodyPr vert="horz" wrap="square" lIns="65837" tIns="32918" rIns="65837" bIns="32918" numCol="1" anchor="t" anchorCtr="0" compatLnSpc="1">
                <a:prstTxWarp prst="textNoShape">
                  <a:avLst/>
                </a:prstTxWarp>
                <a:noAutofit/>
              </a:bodyPr>
              <a:lstStyle/>
              <a:p>
                <a:endParaRPr lang="en-US"/>
              </a:p>
            </p:txBody>
          </p:sp>
          <p:sp>
            <p:nvSpPr>
              <p:cNvPr id="138" name="Freeform 40">
                <a:extLst>
                  <a:ext uri="{FF2B5EF4-FFF2-40B4-BE49-F238E27FC236}">
                    <a16:creationId xmlns:a16="http://schemas.microsoft.com/office/drawing/2014/main" id="{5CCFE1CD-AB2D-427A-996D-15D697B3E66D}"/>
                  </a:ext>
                </a:extLst>
              </p:cNvPr>
              <p:cNvSpPr>
                <a:spLocks/>
              </p:cNvSpPr>
              <p:nvPr/>
            </p:nvSpPr>
            <p:spPr bwMode="auto">
              <a:xfrm>
                <a:off x="5606739" y="2939746"/>
                <a:ext cx="978523" cy="978509"/>
              </a:xfrm>
              <a:custGeom>
                <a:avLst/>
                <a:gdLst>
                  <a:gd name="connsiteX0" fmla="*/ 44235 w 978523"/>
                  <a:gd name="connsiteY0" fmla="*/ 889000 h 978509"/>
                  <a:gd name="connsiteX1" fmla="*/ 74586 w 978523"/>
                  <a:gd name="connsiteY1" fmla="*/ 902373 h 978509"/>
                  <a:gd name="connsiteX2" fmla="*/ 74586 w 978523"/>
                  <a:gd name="connsiteY2" fmla="*/ 965137 h 978509"/>
                  <a:gd name="connsiteX3" fmla="*/ 13350 w 978523"/>
                  <a:gd name="connsiteY3" fmla="*/ 965137 h 978509"/>
                  <a:gd name="connsiteX4" fmla="*/ 13350 w 978523"/>
                  <a:gd name="connsiteY4" fmla="*/ 902373 h 978509"/>
                  <a:gd name="connsiteX5" fmla="*/ 44235 w 978523"/>
                  <a:gd name="connsiteY5" fmla="*/ 889000 h 978509"/>
                  <a:gd name="connsiteX6" fmla="*/ 934288 w 978523"/>
                  <a:gd name="connsiteY6" fmla="*/ 889000 h 978509"/>
                  <a:gd name="connsiteX7" fmla="*/ 965173 w 978523"/>
                  <a:gd name="connsiteY7" fmla="*/ 902373 h 978509"/>
                  <a:gd name="connsiteX8" fmla="*/ 965173 w 978523"/>
                  <a:gd name="connsiteY8" fmla="*/ 965137 h 978509"/>
                  <a:gd name="connsiteX9" fmla="*/ 903937 w 978523"/>
                  <a:gd name="connsiteY9" fmla="*/ 965137 h 978509"/>
                  <a:gd name="connsiteX10" fmla="*/ 903937 w 978523"/>
                  <a:gd name="connsiteY10" fmla="*/ 902373 h 978509"/>
                  <a:gd name="connsiteX11" fmla="*/ 934288 w 978523"/>
                  <a:gd name="connsiteY11" fmla="*/ 889000 h 978509"/>
                  <a:gd name="connsiteX12" fmla="*/ 488995 w 978523"/>
                  <a:gd name="connsiteY12" fmla="*/ 294320 h 978509"/>
                  <a:gd name="connsiteX13" fmla="*/ 627390 w 978523"/>
                  <a:gd name="connsiteY13" fmla="*/ 351380 h 978509"/>
                  <a:gd name="connsiteX14" fmla="*/ 627390 w 978523"/>
                  <a:gd name="connsiteY14" fmla="*/ 627129 h 978509"/>
                  <a:gd name="connsiteX15" fmla="*/ 351133 w 978523"/>
                  <a:gd name="connsiteY15" fmla="*/ 627129 h 978509"/>
                  <a:gd name="connsiteX16" fmla="*/ 351133 w 978523"/>
                  <a:gd name="connsiteY16" fmla="*/ 351380 h 978509"/>
                  <a:gd name="connsiteX17" fmla="*/ 488995 w 978523"/>
                  <a:gd name="connsiteY17" fmla="*/ 294320 h 978509"/>
                  <a:gd name="connsiteX18" fmla="*/ 934288 w 978523"/>
                  <a:gd name="connsiteY18" fmla="*/ 0 h 978509"/>
                  <a:gd name="connsiteX19" fmla="*/ 965173 w 978523"/>
                  <a:gd name="connsiteY19" fmla="*/ 13372 h 978509"/>
                  <a:gd name="connsiteX20" fmla="*/ 965173 w 978523"/>
                  <a:gd name="connsiteY20" fmla="*/ 76136 h 978509"/>
                  <a:gd name="connsiteX21" fmla="*/ 903937 w 978523"/>
                  <a:gd name="connsiteY21" fmla="*/ 76136 h 978509"/>
                  <a:gd name="connsiteX22" fmla="*/ 903937 w 978523"/>
                  <a:gd name="connsiteY22" fmla="*/ 13372 h 978509"/>
                  <a:gd name="connsiteX23" fmla="*/ 934288 w 978523"/>
                  <a:gd name="connsiteY23" fmla="*/ 0 h 978509"/>
                  <a:gd name="connsiteX24" fmla="*/ 44235 w 978523"/>
                  <a:gd name="connsiteY24" fmla="*/ 0 h 978509"/>
                  <a:gd name="connsiteX25" fmla="*/ 74586 w 978523"/>
                  <a:gd name="connsiteY25" fmla="*/ 13372 h 978509"/>
                  <a:gd name="connsiteX26" fmla="*/ 74586 w 978523"/>
                  <a:gd name="connsiteY26" fmla="*/ 76136 h 978509"/>
                  <a:gd name="connsiteX27" fmla="*/ 13350 w 978523"/>
                  <a:gd name="connsiteY27" fmla="*/ 76136 h 978509"/>
                  <a:gd name="connsiteX28" fmla="*/ 13350 w 978523"/>
                  <a:gd name="connsiteY28" fmla="*/ 13372 h 978509"/>
                  <a:gd name="connsiteX29" fmla="*/ 44235 w 978523"/>
                  <a:gd name="connsiteY29" fmla="*/ 0 h 97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78523" h="978509">
                    <a:moveTo>
                      <a:pt x="44235" y="889000"/>
                    </a:moveTo>
                    <a:cubicBezTo>
                      <a:pt x="55361" y="889000"/>
                      <a:pt x="66397" y="893457"/>
                      <a:pt x="74586" y="902373"/>
                    </a:cubicBezTo>
                    <a:cubicBezTo>
                      <a:pt x="92387" y="919490"/>
                      <a:pt x="92387" y="948019"/>
                      <a:pt x="74586" y="965137"/>
                    </a:cubicBezTo>
                    <a:cubicBezTo>
                      <a:pt x="58209" y="982967"/>
                      <a:pt x="30439" y="982967"/>
                      <a:pt x="13350" y="965137"/>
                    </a:cubicBezTo>
                    <a:cubicBezTo>
                      <a:pt x="-4451" y="948019"/>
                      <a:pt x="-4451" y="919490"/>
                      <a:pt x="13350" y="902373"/>
                    </a:cubicBezTo>
                    <a:cubicBezTo>
                      <a:pt x="21894" y="893457"/>
                      <a:pt x="33109" y="889000"/>
                      <a:pt x="44235" y="889000"/>
                    </a:cubicBezTo>
                    <a:close/>
                    <a:moveTo>
                      <a:pt x="934288" y="889000"/>
                    </a:moveTo>
                    <a:cubicBezTo>
                      <a:pt x="945414" y="889000"/>
                      <a:pt x="956629" y="893457"/>
                      <a:pt x="965173" y="902373"/>
                    </a:cubicBezTo>
                    <a:cubicBezTo>
                      <a:pt x="982974" y="919490"/>
                      <a:pt x="982974" y="948019"/>
                      <a:pt x="965173" y="965137"/>
                    </a:cubicBezTo>
                    <a:cubicBezTo>
                      <a:pt x="948084" y="982967"/>
                      <a:pt x="920314" y="982967"/>
                      <a:pt x="903937" y="965137"/>
                    </a:cubicBezTo>
                    <a:cubicBezTo>
                      <a:pt x="886136" y="948019"/>
                      <a:pt x="886136" y="919490"/>
                      <a:pt x="903937" y="902373"/>
                    </a:cubicBezTo>
                    <a:cubicBezTo>
                      <a:pt x="912126" y="893457"/>
                      <a:pt x="923163" y="889000"/>
                      <a:pt x="934288" y="889000"/>
                    </a:cubicBezTo>
                    <a:close/>
                    <a:moveTo>
                      <a:pt x="488995" y="294320"/>
                    </a:moveTo>
                    <a:cubicBezTo>
                      <a:pt x="538924" y="294409"/>
                      <a:pt x="588942" y="313518"/>
                      <a:pt x="627390" y="351380"/>
                    </a:cubicBezTo>
                    <a:cubicBezTo>
                      <a:pt x="702862" y="427818"/>
                      <a:pt x="703574" y="551405"/>
                      <a:pt x="627390" y="627129"/>
                    </a:cubicBezTo>
                    <a:cubicBezTo>
                      <a:pt x="551206" y="703567"/>
                      <a:pt x="428030" y="702853"/>
                      <a:pt x="351133" y="627129"/>
                    </a:cubicBezTo>
                    <a:cubicBezTo>
                      <a:pt x="275661" y="550691"/>
                      <a:pt x="274949" y="427104"/>
                      <a:pt x="351133" y="351380"/>
                    </a:cubicBezTo>
                    <a:cubicBezTo>
                      <a:pt x="389225" y="313161"/>
                      <a:pt x="439066" y="294230"/>
                      <a:pt x="488995" y="294320"/>
                    </a:cubicBezTo>
                    <a:close/>
                    <a:moveTo>
                      <a:pt x="934288" y="0"/>
                    </a:moveTo>
                    <a:cubicBezTo>
                      <a:pt x="945414" y="0"/>
                      <a:pt x="956629" y="4457"/>
                      <a:pt x="965173" y="13372"/>
                    </a:cubicBezTo>
                    <a:cubicBezTo>
                      <a:pt x="982974" y="30490"/>
                      <a:pt x="982974" y="59019"/>
                      <a:pt x="965173" y="76136"/>
                    </a:cubicBezTo>
                    <a:cubicBezTo>
                      <a:pt x="948084" y="93967"/>
                      <a:pt x="920314" y="93967"/>
                      <a:pt x="903937" y="76136"/>
                    </a:cubicBezTo>
                    <a:cubicBezTo>
                      <a:pt x="886136" y="59019"/>
                      <a:pt x="886136" y="30490"/>
                      <a:pt x="903937" y="13372"/>
                    </a:cubicBezTo>
                    <a:cubicBezTo>
                      <a:pt x="912126" y="4457"/>
                      <a:pt x="923163" y="0"/>
                      <a:pt x="934288" y="0"/>
                    </a:cubicBezTo>
                    <a:close/>
                    <a:moveTo>
                      <a:pt x="44235" y="0"/>
                    </a:moveTo>
                    <a:cubicBezTo>
                      <a:pt x="55361" y="0"/>
                      <a:pt x="66397" y="4457"/>
                      <a:pt x="74586" y="13372"/>
                    </a:cubicBezTo>
                    <a:cubicBezTo>
                      <a:pt x="92387" y="30490"/>
                      <a:pt x="92387" y="59019"/>
                      <a:pt x="74586" y="76136"/>
                    </a:cubicBezTo>
                    <a:cubicBezTo>
                      <a:pt x="58209" y="93967"/>
                      <a:pt x="30439" y="93967"/>
                      <a:pt x="13350" y="76136"/>
                    </a:cubicBezTo>
                    <a:cubicBezTo>
                      <a:pt x="-4451" y="59019"/>
                      <a:pt x="-4451" y="30490"/>
                      <a:pt x="13350" y="13372"/>
                    </a:cubicBezTo>
                    <a:cubicBezTo>
                      <a:pt x="21894" y="4457"/>
                      <a:pt x="33109" y="0"/>
                      <a:pt x="44235" y="0"/>
                    </a:cubicBezTo>
                    <a:close/>
                  </a:path>
                </a:pathLst>
              </a:custGeom>
              <a:solidFill>
                <a:schemeClr val="tx2"/>
              </a:solidFill>
              <a:ln>
                <a:noFill/>
              </a:ln>
            </p:spPr>
            <p:txBody>
              <a:bodyPr vert="horz" wrap="square" lIns="65837" tIns="32918" rIns="65837" bIns="32918" numCol="1" anchor="t" anchorCtr="0" compatLnSpc="1">
                <a:prstTxWarp prst="textNoShape">
                  <a:avLst/>
                </a:prstTxWarp>
                <a:noAutofit/>
              </a:bodyPr>
              <a:lstStyle/>
              <a:p>
                <a:endParaRPr lang="en-US"/>
              </a:p>
            </p:txBody>
          </p:sp>
        </p:grpSp>
      </p:grpSp>
      <p:sp>
        <p:nvSpPr>
          <p:cNvPr id="77" name="Rounded Rectangle 2">
            <a:extLst>
              <a:ext uri="{FF2B5EF4-FFF2-40B4-BE49-F238E27FC236}">
                <a16:creationId xmlns:a16="http://schemas.microsoft.com/office/drawing/2014/main" id="{34A49C37-F8B8-4C1D-806B-58AA4236234A}"/>
              </a:ext>
            </a:extLst>
          </p:cNvPr>
          <p:cNvSpPr/>
          <p:nvPr/>
        </p:nvSpPr>
        <p:spPr bwMode="auto">
          <a:xfrm>
            <a:off x="8673307" y="3092093"/>
            <a:ext cx="2888322" cy="1015285"/>
          </a:xfrm>
          <a:prstGeom prst="roundRect">
            <a:avLst>
              <a:gd name="adj" fmla="val 0"/>
            </a:avLst>
          </a:prstGeom>
          <a:noFill/>
          <a:ln w="18288" cap="flat" cmpd="sng" algn="ctr">
            <a:solidFill>
              <a:srgbClr val="6E6F73"/>
            </a:solidFill>
            <a:prstDash val="solid"/>
            <a:miter lim="800000"/>
            <a:headEnd type="none" w="sm" len="sm"/>
            <a:tailEnd type="triangle" w="med" len="med"/>
          </a:ln>
          <a:effectLst>
            <a:innerShdw blurRad="76200">
              <a:prstClr val="black"/>
            </a:innerShdw>
          </a:effectLst>
          <a:extLst>
            <a:ext uri="{909E8E84-426E-40DD-AFC4-6F175D3DCCD1}">
              <a14:hiddenFill xmlns:a14="http://schemas.microsoft.com/office/drawing/2010/main">
                <a:solidFill>
                  <a:srgbClr val="FFFFFF"/>
                </a:solidFill>
              </a14:hiddenFill>
            </a:ext>
          </a:extLst>
        </p:spPr>
        <p:txBody>
          <a:bodyPr vert="horz" wrap="none" lIns="65837" tIns="32918" rIns="65837" bIns="32918"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600" b="0" i="0" u="none" strike="noStrike" cap="none" normalizeH="0" baseline="0">
              <a:ln>
                <a:noFill/>
              </a:ln>
              <a:solidFill>
                <a:schemeClr val="tx1"/>
              </a:solidFill>
              <a:effectLst/>
              <a:latin typeface="Arial" charset="0"/>
            </a:endParaRPr>
          </a:p>
        </p:txBody>
      </p:sp>
      <p:sp>
        <p:nvSpPr>
          <p:cNvPr id="78" name="ee4pContent1">
            <a:extLst>
              <a:ext uri="{FF2B5EF4-FFF2-40B4-BE49-F238E27FC236}">
                <a16:creationId xmlns:a16="http://schemas.microsoft.com/office/drawing/2014/main" id="{B0B2A3D8-6253-42B2-B47B-ECC596B4C0AC}"/>
              </a:ext>
            </a:extLst>
          </p:cNvPr>
          <p:cNvSpPr txBox="1"/>
          <p:nvPr/>
        </p:nvSpPr>
        <p:spPr>
          <a:xfrm>
            <a:off x="9319273" y="3284265"/>
            <a:ext cx="2101110" cy="630942"/>
          </a:xfrm>
          <a:prstGeom prst="rect">
            <a:avLst/>
          </a:prstGeom>
          <a:ln cap="rnd">
            <a:noFill/>
          </a:ln>
        </p:spPr>
        <p:txBody>
          <a:bodyPr vert="horz" wrap="square" lIns="0" tIns="0" rIns="0" bIns="0" rtlCol="0">
            <a:spAutoFit/>
          </a:bodyPr>
          <a:lstStyle>
            <a:lvl1pPr lvl="0" indent="0">
              <a:lnSpc>
                <a:spcPct val="100000"/>
              </a:lnSpc>
              <a:spcBef>
                <a:spcPts val="0"/>
              </a:spcBef>
              <a:spcAft>
                <a:spcPts val="0"/>
              </a:spcAft>
              <a:buFont typeface="Trebuchet MS" panose="020B0603020202020204" pitchFamily="34" charset="0"/>
              <a:buChar char="​"/>
              <a:defRPr sz="2000">
                <a:latin typeface="Trebuchet MS" panose="020B0603020202020204" pitchFamily="34" charset="0"/>
                <a:sym typeface="Trebuchet MS" panose="020B0603020202020204" pitchFamily="34" charset="0"/>
              </a:defRPr>
            </a:lvl1pPr>
            <a:lvl2pPr marL="324000" lvl="1" indent="-216000">
              <a:lnSpc>
                <a:spcPct val="100000"/>
              </a:lnSpc>
              <a:spcBef>
                <a:spcPts val="0"/>
              </a:spcBef>
              <a:spcAft>
                <a:spcPts val="0"/>
              </a:spcAft>
              <a:buClr>
                <a:schemeClr val="tx2"/>
              </a:buClr>
              <a:buFont typeface="Trebuchet MS" panose="020B0603020202020204" pitchFamily="34" charset="0"/>
              <a:buChar char="•"/>
              <a:defRPr sz="2000">
                <a:latin typeface="Trebuchet MS" panose="020B0603020202020204" pitchFamily="34" charset="0"/>
                <a:sym typeface="Trebuchet MS" panose="020B0603020202020204" pitchFamily="34" charset="0"/>
              </a:defRPr>
            </a:lvl2pPr>
            <a:lvl3pPr marL="648000" lvl="2" indent="-216000">
              <a:lnSpc>
                <a:spcPct val="100000"/>
              </a:lnSpc>
              <a:spcBef>
                <a:spcPts val="0"/>
              </a:spcBef>
              <a:spcAft>
                <a:spcPts val="0"/>
              </a:spcAft>
              <a:buClr>
                <a:schemeClr val="tx2"/>
              </a:buClr>
              <a:buFont typeface="Trebuchet MS" panose="020B0603020202020204" pitchFamily="34" charset="0"/>
              <a:buChar char="–"/>
              <a:defRPr sz="2000">
                <a:latin typeface="Trebuchet MS" panose="020B0603020202020204" pitchFamily="34" charset="0"/>
                <a:sym typeface="Trebuchet MS" panose="020B0603020202020204" pitchFamily="34" charset="0"/>
              </a:defRPr>
            </a:lvl3pPr>
            <a:lvl4pPr marL="0" lvl="3" indent="0">
              <a:lnSpc>
                <a:spcPct val="100000"/>
              </a:lnSpc>
              <a:spcBef>
                <a:spcPts val="0"/>
              </a:spcBef>
              <a:spcAft>
                <a:spcPts val="0"/>
              </a:spcAft>
              <a:buClr>
                <a:schemeClr val="tx2"/>
              </a:buClr>
              <a:buFont typeface="Trebuchet MS" panose="020B0603020202020204" pitchFamily="34" charset="0"/>
              <a:buChar char="​"/>
              <a:defRPr sz="2400">
                <a:solidFill>
                  <a:schemeClr val="tx2"/>
                </a:solidFill>
                <a:latin typeface="Trebuchet MS" panose="020B0603020202020204" pitchFamily="34" charset="0"/>
                <a:sym typeface="Trebuchet MS" panose="020B0603020202020204" pitchFamily="34" charset="0"/>
              </a:defRPr>
            </a:lvl4pPr>
            <a:lvl5pPr marL="0" lvl="4" indent="0">
              <a:lnSpc>
                <a:spcPct val="100000"/>
              </a:lnSpc>
              <a:spcBef>
                <a:spcPts val="0"/>
              </a:spcBef>
              <a:spcAft>
                <a:spcPts val="0"/>
              </a:spcAft>
              <a:buClrTx/>
              <a:buFont typeface="Trebuchet MS" panose="020B0603020202020204" pitchFamily="34" charset="0"/>
              <a:buChar char="​"/>
              <a:defRPr sz="2400" b="1">
                <a:latin typeface="Trebuchet MS" panose="020B0603020202020204" pitchFamily="34" charset="0"/>
                <a:sym typeface="Trebuchet MS" panose="020B0603020202020204" pitchFamily="34" charset="0"/>
              </a:defRPr>
            </a:lvl5pPr>
            <a:lvl6pPr marL="324000" lvl="5" indent="-216000">
              <a:lnSpc>
                <a:spcPct val="100000"/>
              </a:lnSpc>
              <a:spcBef>
                <a:spcPts val="0"/>
              </a:spcBef>
              <a:spcAft>
                <a:spcPts val="0"/>
              </a:spcAft>
              <a:buClr>
                <a:schemeClr val="tx2"/>
              </a:buClr>
              <a:buFont typeface="Trebuchet MS" panose="020B0603020202020204" pitchFamily="34" charset="0"/>
              <a:buChar char="•"/>
              <a:defRPr sz="2400">
                <a:latin typeface="Trebuchet MS" panose="020B0603020202020204" pitchFamily="34" charset="0"/>
                <a:sym typeface="Trebuchet MS" panose="020B0603020202020204" pitchFamily="34" charset="0"/>
              </a:defRPr>
            </a:lvl6pPr>
            <a:lvl7pPr marL="0" lvl="6" indent="0">
              <a:lnSpc>
                <a:spcPct val="100000"/>
              </a:lnSpc>
              <a:spcBef>
                <a:spcPts val="0"/>
              </a:spcBef>
              <a:spcAft>
                <a:spcPts val="0"/>
              </a:spcAft>
              <a:buFont typeface="Trebuchet MS" panose="020B0603020202020204" pitchFamily="34" charset="0"/>
              <a:buChar char="​"/>
              <a:defRPr sz="5400" baseline="0">
                <a:latin typeface="Trebuchet MS" panose="020B0603020202020204" pitchFamily="34" charset="0"/>
                <a:sym typeface="Trebuchet MS" panose="020B0603020202020204" pitchFamily="34" charset="0"/>
              </a:defRPr>
            </a:lvl7pPr>
            <a:lvl8pPr marL="0" lvl="7" indent="0">
              <a:lnSpc>
                <a:spcPct val="100000"/>
              </a:lnSpc>
              <a:spcBef>
                <a:spcPts val="0"/>
              </a:spcBef>
              <a:spcAft>
                <a:spcPts val="0"/>
              </a:spcAft>
              <a:buFont typeface="Trebuchet MS" panose="020B0603020202020204" pitchFamily="34" charset="0"/>
              <a:buChar char="​"/>
              <a:defRPr sz="6600">
                <a:solidFill>
                  <a:schemeClr val="tx2"/>
                </a:solidFill>
                <a:latin typeface="Trebuchet MS" panose="020B0603020202020204" pitchFamily="34" charset="0"/>
                <a:sym typeface="Trebuchet MS" panose="020B0603020202020204" pitchFamily="34" charset="0"/>
              </a:defRPr>
            </a:lvl8pPr>
            <a:lvl9pPr marL="0" lvl="8" indent="0">
              <a:lnSpc>
                <a:spcPct val="100000"/>
              </a:lnSpc>
              <a:spcBef>
                <a:spcPts val="0"/>
              </a:spcBef>
              <a:spcAft>
                <a:spcPts val="0"/>
              </a:spcAft>
              <a:buFont typeface="Trebuchet MS" panose="020B0603020202020204" pitchFamily="34" charset="0"/>
              <a:buChar char="​"/>
              <a:defRPr sz="4400">
                <a:solidFill>
                  <a:schemeClr val="tx2"/>
                </a:solidFill>
                <a:latin typeface="Trebuchet MS" panose="020B0603020202020204" pitchFamily="34" charset="0"/>
                <a:sym typeface="Trebuchet MS" panose="020B0603020202020204" pitchFamily="34" charset="0"/>
              </a:defRPr>
            </a:lvl9pPr>
          </a:lstStyle>
          <a:p>
            <a:pPr>
              <a:spcBef>
                <a:spcPts val="600"/>
              </a:spcBef>
              <a:buSzPct val="100000"/>
            </a:pPr>
            <a:r>
              <a:rPr lang="en-US" sz="1200" err="1">
                <a:solidFill>
                  <a:srgbClr val="03522D"/>
                </a:solidFill>
              </a:rPr>
              <a:t>基於交易</a:t>
            </a:r>
            <a:r>
              <a:rPr lang="zh-TW" altLang="en-US" sz="1200">
                <a:solidFill>
                  <a:srgbClr val="03522D"/>
                </a:solidFill>
              </a:rPr>
              <a:t>行為</a:t>
            </a:r>
            <a:endParaRPr lang="en-US" sz="1200">
              <a:solidFill>
                <a:srgbClr val="03522D"/>
              </a:solidFill>
            </a:endParaRPr>
          </a:p>
          <a:p>
            <a:pPr marL="233280" lvl="1" indent="-155520">
              <a:spcBef>
                <a:spcPts val="600"/>
              </a:spcBef>
              <a:buClr>
                <a:schemeClr val="tx2">
                  <a:lumMod val="100000"/>
                </a:schemeClr>
              </a:buClr>
              <a:buSzPct val="100000"/>
            </a:pPr>
            <a:r>
              <a:rPr lang="en-US" sz="1200">
                <a:solidFill>
                  <a:srgbClr val="29BA74"/>
                </a:solidFill>
              </a:rPr>
              <a:t>10+個優惠</a:t>
            </a:r>
            <a:r>
              <a:rPr lang="en-US" sz="1200">
                <a:solidFill>
                  <a:schemeClr val="tx1">
                    <a:lumMod val="100000"/>
                  </a:schemeClr>
                </a:solidFill>
              </a:rPr>
              <a:t>涵蓋</a:t>
            </a:r>
            <a:r>
              <a:rPr lang="zh-TW" altLang="en-US" sz="1200">
                <a:solidFill>
                  <a:schemeClr val="tx1">
                    <a:lumMod val="100000"/>
                  </a:schemeClr>
                </a:solidFill>
              </a:rPr>
              <a:t>存款、理財、房信貸優惠</a:t>
            </a:r>
            <a:endParaRPr lang="en-US" sz="1200">
              <a:solidFill>
                <a:schemeClr val="tx1">
                  <a:lumMod val="100000"/>
                </a:schemeClr>
              </a:solidFill>
            </a:endParaRPr>
          </a:p>
        </p:txBody>
      </p:sp>
      <p:grpSp>
        <p:nvGrpSpPr>
          <p:cNvPr id="79" name="Group 78">
            <a:extLst>
              <a:ext uri="{FF2B5EF4-FFF2-40B4-BE49-F238E27FC236}">
                <a16:creationId xmlns:a16="http://schemas.microsoft.com/office/drawing/2014/main" id="{60A8C9C2-DB1B-47DE-9939-360944581937}"/>
              </a:ext>
            </a:extLst>
          </p:cNvPr>
          <p:cNvGrpSpPr>
            <a:grpSpLocks noChangeAspect="1"/>
          </p:cNvGrpSpPr>
          <p:nvPr/>
        </p:nvGrpSpPr>
        <p:grpSpPr>
          <a:xfrm>
            <a:off x="8734945" y="3391295"/>
            <a:ext cx="416881" cy="416881"/>
            <a:chOff x="5273675" y="2606675"/>
            <a:chExt cx="1644650" cy="1644650"/>
          </a:xfrm>
        </p:grpSpPr>
        <p:sp>
          <p:nvSpPr>
            <p:cNvPr id="131" name="AutoShape 3">
              <a:extLst>
                <a:ext uri="{FF2B5EF4-FFF2-40B4-BE49-F238E27FC236}">
                  <a16:creationId xmlns:a16="http://schemas.microsoft.com/office/drawing/2014/main" id="{FC39093B-95A5-4F95-B96C-0978F0866312}"/>
                </a:ext>
              </a:extLst>
            </p:cNvPr>
            <p:cNvSpPr>
              <a:spLocks noChangeAspect="1" noChangeArrowheads="1" noTextEdit="1"/>
            </p:cNvSpPr>
            <p:nvPr/>
          </p:nvSpPr>
          <p:spPr bwMode="auto">
            <a:xfrm>
              <a:off x="5273675" y="2606675"/>
              <a:ext cx="1644650"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5837" tIns="32918" rIns="65837" bIns="32918" numCol="1" anchor="t" anchorCtr="0" compatLnSpc="1">
              <a:prstTxWarp prst="textNoShape">
                <a:avLst/>
              </a:prstTxWarp>
            </a:bodyPr>
            <a:lstStyle/>
            <a:p>
              <a:endParaRPr lang="en-US"/>
            </a:p>
          </p:txBody>
        </p:sp>
        <p:grpSp>
          <p:nvGrpSpPr>
            <p:cNvPr id="132" name="Group 131">
              <a:extLst>
                <a:ext uri="{FF2B5EF4-FFF2-40B4-BE49-F238E27FC236}">
                  <a16:creationId xmlns:a16="http://schemas.microsoft.com/office/drawing/2014/main" id="{C7271FC0-4995-45D1-9490-6B515FC9A8D9}"/>
                </a:ext>
              </a:extLst>
            </p:cNvPr>
            <p:cNvGrpSpPr/>
            <p:nvPr/>
          </p:nvGrpSpPr>
          <p:grpSpPr>
            <a:xfrm>
              <a:off x="5448499" y="2803525"/>
              <a:ext cx="1295201" cy="1277938"/>
              <a:chOff x="5448499" y="2803525"/>
              <a:chExt cx="1295201" cy="1277938"/>
            </a:xfrm>
          </p:grpSpPr>
          <p:sp>
            <p:nvSpPr>
              <p:cNvPr id="133" name="Freeform 10">
                <a:extLst>
                  <a:ext uri="{FF2B5EF4-FFF2-40B4-BE49-F238E27FC236}">
                    <a16:creationId xmlns:a16="http://schemas.microsoft.com/office/drawing/2014/main" id="{5F33E368-D708-46D1-80D5-222A2A1938C6}"/>
                  </a:ext>
                </a:extLst>
              </p:cNvPr>
              <p:cNvSpPr>
                <a:spLocks/>
              </p:cNvSpPr>
              <p:nvPr/>
            </p:nvSpPr>
            <p:spPr bwMode="auto">
              <a:xfrm>
                <a:off x="5448499" y="3108325"/>
                <a:ext cx="1295201" cy="973138"/>
              </a:xfrm>
              <a:custGeom>
                <a:avLst/>
                <a:gdLst>
                  <a:gd name="connsiteX0" fmla="*/ 848020 w 1295201"/>
                  <a:gd name="connsiteY0" fmla="*/ 647700 h 973138"/>
                  <a:gd name="connsiteX1" fmla="*/ 874350 w 1295201"/>
                  <a:gd name="connsiteY1" fmla="*/ 647700 h 973138"/>
                  <a:gd name="connsiteX2" fmla="*/ 874350 w 1295201"/>
                  <a:gd name="connsiteY2" fmla="*/ 666232 h 973138"/>
                  <a:gd name="connsiteX3" fmla="*/ 907086 w 1295201"/>
                  <a:gd name="connsiteY3" fmla="*/ 676210 h 973138"/>
                  <a:gd name="connsiteX4" fmla="*/ 897834 w 1295201"/>
                  <a:gd name="connsiteY4" fmla="*/ 701157 h 973138"/>
                  <a:gd name="connsiteX5" fmla="*/ 863676 w 1295201"/>
                  <a:gd name="connsiteY5" fmla="*/ 689753 h 973138"/>
                  <a:gd name="connsiteX6" fmla="*/ 847308 w 1295201"/>
                  <a:gd name="connsiteY6" fmla="*/ 695455 h 973138"/>
                  <a:gd name="connsiteX7" fmla="*/ 841615 w 1295201"/>
                  <a:gd name="connsiteY7" fmla="*/ 708997 h 973138"/>
                  <a:gd name="connsiteX8" fmla="*/ 873639 w 1295201"/>
                  <a:gd name="connsiteY8" fmla="*/ 738220 h 973138"/>
                  <a:gd name="connsiteX9" fmla="*/ 899258 w 1295201"/>
                  <a:gd name="connsiteY9" fmla="*/ 753188 h 973138"/>
                  <a:gd name="connsiteX10" fmla="*/ 909932 w 1295201"/>
                  <a:gd name="connsiteY10" fmla="*/ 768868 h 973138"/>
                  <a:gd name="connsiteX11" fmla="*/ 914202 w 1295201"/>
                  <a:gd name="connsiteY11" fmla="*/ 788113 h 973138"/>
                  <a:gd name="connsiteX12" fmla="*/ 904239 w 1295201"/>
                  <a:gd name="connsiteY12" fmla="*/ 815910 h 973138"/>
                  <a:gd name="connsiteX13" fmla="*/ 874350 w 1295201"/>
                  <a:gd name="connsiteY13" fmla="*/ 831591 h 973138"/>
                  <a:gd name="connsiteX14" fmla="*/ 874350 w 1295201"/>
                  <a:gd name="connsiteY14" fmla="*/ 857250 h 973138"/>
                  <a:gd name="connsiteX15" fmla="*/ 848020 w 1295201"/>
                  <a:gd name="connsiteY15" fmla="*/ 857250 h 973138"/>
                  <a:gd name="connsiteX16" fmla="*/ 848020 w 1295201"/>
                  <a:gd name="connsiteY16" fmla="*/ 833729 h 973138"/>
                  <a:gd name="connsiteX17" fmla="*/ 811014 w 1295201"/>
                  <a:gd name="connsiteY17" fmla="*/ 822325 h 973138"/>
                  <a:gd name="connsiteX18" fmla="*/ 822401 w 1295201"/>
                  <a:gd name="connsiteY18" fmla="*/ 795953 h 973138"/>
                  <a:gd name="connsiteX19" fmla="*/ 857983 w 1295201"/>
                  <a:gd name="connsiteY19" fmla="*/ 808070 h 973138"/>
                  <a:gd name="connsiteX20" fmla="*/ 884313 w 1295201"/>
                  <a:gd name="connsiteY20" fmla="*/ 790251 h 973138"/>
                  <a:gd name="connsiteX21" fmla="*/ 877197 w 1295201"/>
                  <a:gd name="connsiteY21" fmla="*/ 774571 h 973138"/>
                  <a:gd name="connsiteX22" fmla="*/ 851578 w 1295201"/>
                  <a:gd name="connsiteY22" fmla="*/ 757464 h 973138"/>
                  <a:gd name="connsiteX23" fmla="*/ 825959 w 1295201"/>
                  <a:gd name="connsiteY23" fmla="*/ 742497 h 973138"/>
                  <a:gd name="connsiteX24" fmla="*/ 815284 w 1295201"/>
                  <a:gd name="connsiteY24" fmla="*/ 728241 h 973138"/>
                  <a:gd name="connsiteX25" fmla="*/ 811726 w 1295201"/>
                  <a:gd name="connsiteY25" fmla="*/ 709710 h 973138"/>
                  <a:gd name="connsiteX26" fmla="*/ 821689 w 1295201"/>
                  <a:gd name="connsiteY26" fmla="*/ 683338 h 973138"/>
                  <a:gd name="connsiteX27" fmla="*/ 848020 w 1295201"/>
                  <a:gd name="connsiteY27" fmla="*/ 667657 h 973138"/>
                  <a:gd name="connsiteX28" fmla="*/ 848020 w 1295201"/>
                  <a:gd name="connsiteY28" fmla="*/ 647700 h 973138"/>
                  <a:gd name="connsiteX29" fmla="*/ 463351 w 1295201"/>
                  <a:gd name="connsiteY29" fmla="*/ 565150 h 973138"/>
                  <a:gd name="connsiteX30" fmla="*/ 463351 w 1295201"/>
                  <a:gd name="connsiteY30" fmla="*/ 941388 h 973138"/>
                  <a:gd name="connsiteX31" fmla="*/ 1263451 w 1295201"/>
                  <a:gd name="connsiteY31" fmla="*/ 941388 h 973138"/>
                  <a:gd name="connsiteX32" fmla="*/ 1263451 w 1295201"/>
                  <a:gd name="connsiteY32" fmla="*/ 565150 h 973138"/>
                  <a:gd name="connsiteX33" fmla="*/ 463351 w 1295201"/>
                  <a:gd name="connsiteY33" fmla="*/ 565150 h 973138"/>
                  <a:gd name="connsiteX34" fmla="*/ 447303 w 1295201"/>
                  <a:gd name="connsiteY34" fmla="*/ 533400 h 973138"/>
                  <a:gd name="connsiteX35" fmla="*/ 1279499 w 1295201"/>
                  <a:gd name="connsiteY35" fmla="*/ 533400 h 973138"/>
                  <a:gd name="connsiteX36" fmla="*/ 1295201 w 1295201"/>
                  <a:gd name="connsiteY36" fmla="*/ 548440 h 973138"/>
                  <a:gd name="connsiteX37" fmla="*/ 1295201 w 1295201"/>
                  <a:gd name="connsiteY37" fmla="*/ 957382 h 973138"/>
                  <a:gd name="connsiteX38" fmla="*/ 1279499 w 1295201"/>
                  <a:gd name="connsiteY38" fmla="*/ 973138 h 973138"/>
                  <a:gd name="connsiteX39" fmla="*/ 447303 w 1295201"/>
                  <a:gd name="connsiteY39" fmla="*/ 973138 h 973138"/>
                  <a:gd name="connsiteX40" fmla="*/ 431601 w 1295201"/>
                  <a:gd name="connsiteY40" fmla="*/ 957382 h 973138"/>
                  <a:gd name="connsiteX41" fmla="*/ 431601 w 1295201"/>
                  <a:gd name="connsiteY41" fmla="*/ 548440 h 973138"/>
                  <a:gd name="connsiteX42" fmla="*/ 447303 w 1295201"/>
                  <a:gd name="connsiteY42" fmla="*/ 533400 h 973138"/>
                  <a:gd name="connsiteX43" fmla="*/ 98208 w 1295201"/>
                  <a:gd name="connsiteY43" fmla="*/ 284163 h 973138"/>
                  <a:gd name="connsiteX44" fmla="*/ 111778 w 1295201"/>
                  <a:gd name="connsiteY44" fmla="*/ 297725 h 973138"/>
                  <a:gd name="connsiteX45" fmla="*/ 190345 w 1295201"/>
                  <a:gd name="connsiteY45" fmla="*/ 376243 h 973138"/>
                  <a:gd name="connsiteX46" fmla="*/ 193202 w 1295201"/>
                  <a:gd name="connsiteY46" fmla="*/ 401939 h 973138"/>
                  <a:gd name="connsiteX47" fmla="*/ 178203 w 1295201"/>
                  <a:gd name="connsiteY47" fmla="*/ 409077 h 973138"/>
                  <a:gd name="connsiteX48" fmla="*/ 166775 w 1295201"/>
                  <a:gd name="connsiteY48" fmla="*/ 405508 h 973138"/>
                  <a:gd name="connsiteX49" fmla="*/ 117492 w 1295201"/>
                  <a:gd name="connsiteY49" fmla="*/ 356256 h 973138"/>
                  <a:gd name="connsiteX50" fmla="*/ 117492 w 1295201"/>
                  <a:gd name="connsiteY50" fmla="*/ 735282 h 973138"/>
                  <a:gd name="connsiteX51" fmla="*/ 400331 w 1295201"/>
                  <a:gd name="connsiteY51" fmla="*/ 735282 h 973138"/>
                  <a:gd name="connsiteX52" fmla="*/ 418902 w 1295201"/>
                  <a:gd name="connsiteY52" fmla="*/ 754554 h 973138"/>
                  <a:gd name="connsiteX53" fmla="*/ 400331 w 1295201"/>
                  <a:gd name="connsiteY53" fmla="*/ 773113 h 973138"/>
                  <a:gd name="connsiteX54" fmla="*/ 79637 w 1295201"/>
                  <a:gd name="connsiteY54" fmla="*/ 773113 h 973138"/>
                  <a:gd name="connsiteX55" fmla="*/ 79637 w 1295201"/>
                  <a:gd name="connsiteY55" fmla="*/ 356256 h 973138"/>
                  <a:gd name="connsiteX56" fmla="*/ 31783 w 1295201"/>
                  <a:gd name="connsiteY56" fmla="*/ 403367 h 973138"/>
                  <a:gd name="connsiteX57" fmla="*/ 5356 w 1295201"/>
                  <a:gd name="connsiteY57" fmla="*/ 403367 h 973138"/>
                  <a:gd name="connsiteX58" fmla="*/ 5356 w 1295201"/>
                  <a:gd name="connsiteY58" fmla="*/ 376957 h 973138"/>
                  <a:gd name="connsiteX59" fmla="*/ 98208 w 1295201"/>
                  <a:gd name="connsiteY59" fmla="*/ 284163 h 973138"/>
                  <a:gd name="connsiteX60" fmla="*/ 737502 w 1295201"/>
                  <a:gd name="connsiteY60" fmla="*/ 0 h 973138"/>
                  <a:gd name="connsiteX61" fmla="*/ 1058075 w 1295201"/>
                  <a:gd name="connsiteY61" fmla="*/ 0 h 973138"/>
                  <a:gd name="connsiteX62" fmla="*/ 1058075 w 1295201"/>
                  <a:gd name="connsiteY62" fmla="*/ 412272 h 973138"/>
                  <a:gd name="connsiteX63" fmla="*/ 1104483 w 1295201"/>
                  <a:gd name="connsiteY63" fmla="*/ 366701 h 973138"/>
                  <a:gd name="connsiteX64" fmla="*/ 1130900 w 1295201"/>
                  <a:gd name="connsiteY64" fmla="*/ 367413 h 973138"/>
                  <a:gd name="connsiteX65" fmla="*/ 1130900 w 1295201"/>
                  <a:gd name="connsiteY65" fmla="*/ 393759 h 973138"/>
                  <a:gd name="connsiteX66" fmla="*/ 1055219 w 1295201"/>
                  <a:gd name="connsiteY66" fmla="*/ 467811 h 973138"/>
                  <a:gd name="connsiteX67" fmla="*/ 1049507 w 1295201"/>
                  <a:gd name="connsiteY67" fmla="*/ 473508 h 973138"/>
                  <a:gd name="connsiteX68" fmla="*/ 1038797 w 1295201"/>
                  <a:gd name="connsiteY68" fmla="*/ 484188 h 973138"/>
                  <a:gd name="connsiteX69" fmla="*/ 1025232 w 1295201"/>
                  <a:gd name="connsiteY69" fmla="*/ 470659 h 973138"/>
                  <a:gd name="connsiteX70" fmla="*/ 948123 w 1295201"/>
                  <a:gd name="connsiteY70" fmla="*/ 394471 h 973138"/>
                  <a:gd name="connsiteX71" fmla="*/ 944554 w 1295201"/>
                  <a:gd name="connsiteY71" fmla="*/ 368837 h 973138"/>
                  <a:gd name="connsiteX72" fmla="*/ 970970 w 1295201"/>
                  <a:gd name="connsiteY72" fmla="*/ 365277 h 973138"/>
                  <a:gd name="connsiteX73" fmla="*/ 1020948 w 1295201"/>
                  <a:gd name="connsiteY73" fmla="*/ 413696 h 973138"/>
                  <a:gd name="connsiteX74" fmla="*/ 1020948 w 1295201"/>
                  <a:gd name="connsiteY74" fmla="*/ 37026 h 973138"/>
                  <a:gd name="connsiteX75" fmla="*/ 737502 w 1295201"/>
                  <a:gd name="connsiteY75" fmla="*/ 37026 h 973138"/>
                  <a:gd name="connsiteX76" fmla="*/ 718939 w 1295201"/>
                  <a:gd name="connsiteY76" fmla="*/ 18513 h 973138"/>
                  <a:gd name="connsiteX77" fmla="*/ 737502 w 1295201"/>
                  <a:gd name="connsiteY77" fmla="*/ 0 h 973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295201" h="973138">
                    <a:moveTo>
                      <a:pt x="848020" y="647700"/>
                    </a:moveTo>
                    <a:cubicBezTo>
                      <a:pt x="874350" y="647700"/>
                      <a:pt x="874350" y="647700"/>
                      <a:pt x="874350" y="647700"/>
                    </a:cubicBezTo>
                    <a:cubicBezTo>
                      <a:pt x="874350" y="666232"/>
                      <a:pt x="874350" y="666232"/>
                      <a:pt x="874350" y="666232"/>
                    </a:cubicBezTo>
                    <a:cubicBezTo>
                      <a:pt x="889295" y="667657"/>
                      <a:pt x="899969" y="671221"/>
                      <a:pt x="907086" y="676210"/>
                    </a:cubicBezTo>
                    <a:cubicBezTo>
                      <a:pt x="897834" y="701157"/>
                      <a:pt x="897834" y="701157"/>
                      <a:pt x="897834" y="701157"/>
                    </a:cubicBezTo>
                    <a:cubicBezTo>
                      <a:pt x="886448" y="694029"/>
                      <a:pt x="875062" y="689753"/>
                      <a:pt x="863676" y="689753"/>
                    </a:cubicBezTo>
                    <a:cubicBezTo>
                      <a:pt x="856559" y="689753"/>
                      <a:pt x="851578" y="691891"/>
                      <a:pt x="847308" y="695455"/>
                    </a:cubicBezTo>
                    <a:cubicBezTo>
                      <a:pt x="843750" y="699018"/>
                      <a:pt x="841615" y="704008"/>
                      <a:pt x="841615" y="708997"/>
                    </a:cubicBezTo>
                    <a:cubicBezTo>
                      <a:pt x="841615" y="718976"/>
                      <a:pt x="852289" y="728241"/>
                      <a:pt x="873639" y="738220"/>
                    </a:cubicBezTo>
                    <a:cubicBezTo>
                      <a:pt x="885737" y="743209"/>
                      <a:pt x="894276" y="748199"/>
                      <a:pt x="899258" y="753188"/>
                    </a:cubicBezTo>
                    <a:cubicBezTo>
                      <a:pt x="904239" y="757464"/>
                      <a:pt x="907086" y="763166"/>
                      <a:pt x="909932" y="768868"/>
                    </a:cubicBezTo>
                    <a:cubicBezTo>
                      <a:pt x="912779" y="775283"/>
                      <a:pt x="914202" y="780985"/>
                      <a:pt x="914202" y="788113"/>
                    </a:cubicBezTo>
                    <a:cubicBezTo>
                      <a:pt x="914202" y="798804"/>
                      <a:pt x="910644" y="808070"/>
                      <a:pt x="904239" y="815910"/>
                    </a:cubicBezTo>
                    <a:cubicBezTo>
                      <a:pt x="897123" y="823038"/>
                      <a:pt x="887160" y="828740"/>
                      <a:pt x="874350" y="831591"/>
                    </a:cubicBezTo>
                    <a:cubicBezTo>
                      <a:pt x="874350" y="857250"/>
                      <a:pt x="874350" y="857250"/>
                      <a:pt x="874350" y="857250"/>
                    </a:cubicBezTo>
                    <a:cubicBezTo>
                      <a:pt x="848020" y="857250"/>
                      <a:pt x="848020" y="857250"/>
                      <a:pt x="848020" y="857250"/>
                    </a:cubicBezTo>
                    <a:cubicBezTo>
                      <a:pt x="848020" y="833729"/>
                      <a:pt x="848020" y="833729"/>
                      <a:pt x="848020" y="833729"/>
                    </a:cubicBezTo>
                    <a:cubicBezTo>
                      <a:pt x="835210" y="832304"/>
                      <a:pt x="822401" y="828740"/>
                      <a:pt x="811014" y="822325"/>
                    </a:cubicBezTo>
                    <a:cubicBezTo>
                      <a:pt x="822401" y="795953"/>
                      <a:pt x="822401" y="795953"/>
                      <a:pt x="822401" y="795953"/>
                    </a:cubicBezTo>
                    <a:cubicBezTo>
                      <a:pt x="834498" y="804506"/>
                      <a:pt x="845885" y="808070"/>
                      <a:pt x="857983" y="808070"/>
                    </a:cubicBezTo>
                    <a:cubicBezTo>
                      <a:pt x="875062" y="808070"/>
                      <a:pt x="884313" y="802368"/>
                      <a:pt x="884313" y="790251"/>
                    </a:cubicBezTo>
                    <a:cubicBezTo>
                      <a:pt x="884313" y="784549"/>
                      <a:pt x="882178" y="778847"/>
                      <a:pt x="877197" y="774571"/>
                    </a:cubicBezTo>
                    <a:cubicBezTo>
                      <a:pt x="872927" y="769581"/>
                      <a:pt x="864387" y="763879"/>
                      <a:pt x="851578" y="757464"/>
                    </a:cubicBezTo>
                    <a:cubicBezTo>
                      <a:pt x="838768" y="751050"/>
                      <a:pt x="830229" y="746060"/>
                      <a:pt x="825959" y="742497"/>
                    </a:cubicBezTo>
                    <a:cubicBezTo>
                      <a:pt x="820977" y="738220"/>
                      <a:pt x="817419" y="733231"/>
                      <a:pt x="815284" y="728241"/>
                    </a:cubicBezTo>
                    <a:cubicBezTo>
                      <a:pt x="812438" y="722539"/>
                      <a:pt x="811726" y="716125"/>
                      <a:pt x="811726" y="709710"/>
                    </a:cubicBezTo>
                    <a:cubicBezTo>
                      <a:pt x="811726" y="699018"/>
                      <a:pt x="814572" y="690465"/>
                      <a:pt x="821689" y="683338"/>
                    </a:cubicBezTo>
                    <a:cubicBezTo>
                      <a:pt x="828094" y="675498"/>
                      <a:pt x="836633" y="669796"/>
                      <a:pt x="848020" y="667657"/>
                    </a:cubicBezTo>
                    <a:cubicBezTo>
                      <a:pt x="848020" y="647700"/>
                      <a:pt x="848020" y="647700"/>
                      <a:pt x="848020" y="647700"/>
                    </a:cubicBezTo>
                    <a:close/>
                    <a:moveTo>
                      <a:pt x="463351" y="565150"/>
                    </a:moveTo>
                    <a:cubicBezTo>
                      <a:pt x="463351" y="565150"/>
                      <a:pt x="463351" y="565150"/>
                      <a:pt x="463351" y="941388"/>
                    </a:cubicBezTo>
                    <a:cubicBezTo>
                      <a:pt x="463351" y="941388"/>
                      <a:pt x="463351" y="941388"/>
                      <a:pt x="1263451" y="941388"/>
                    </a:cubicBezTo>
                    <a:cubicBezTo>
                      <a:pt x="1263451" y="941388"/>
                      <a:pt x="1263451" y="941388"/>
                      <a:pt x="1263451" y="565150"/>
                    </a:cubicBezTo>
                    <a:cubicBezTo>
                      <a:pt x="1263451" y="565150"/>
                      <a:pt x="1263451" y="565150"/>
                      <a:pt x="463351" y="565150"/>
                    </a:cubicBezTo>
                    <a:close/>
                    <a:moveTo>
                      <a:pt x="447303" y="533400"/>
                    </a:moveTo>
                    <a:cubicBezTo>
                      <a:pt x="1279499" y="533400"/>
                      <a:pt x="1279499" y="533400"/>
                      <a:pt x="1279499" y="533400"/>
                    </a:cubicBezTo>
                    <a:cubicBezTo>
                      <a:pt x="1288064" y="533400"/>
                      <a:pt x="1295201" y="539846"/>
                      <a:pt x="1295201" y="548440"/>
                    </a:cubicBezTo>
                    <a:cubicBezTo>
                      <a:pt x="1295201" y="957382"/>
                      <a:pt x="1295201" y="957382"/>
                      <a:pt x="1295201" y="957382"/>
                    </a:cubicBezTo>
                    <a:cubicBezTo>
                      <a:pt x="1295201" y="965976"/>
                      <a:pt x="1288064" y="973138"/>
                      <a:pt x="1279499" y="973138"/>
                    </a:cubicBezTo>
                    <a:cubicBezTo>
                      <a:pt x="447303" y="973138"/>
                      <a:pt x="447303" y="973138"/>
                      <a:pt x="447303" y="973138"/>
                    </a:cubicBezTo>
                    <a:cubicBezTo>
                      <a:pt x="438738" y="973138"/>
                      <a:pt x="431601" y="965976"/>
                      <a:pt x="431601" y="957382"/>
                    </a:cubicBezTo>
                    <a:cubicBezTo>
                      <a:pt x="431601" y="548440"/>
                      <a:pt x="431601" y="548440"/>
                      <a:pt x="431601" y="548440"/>
                    </a:cubicBezTo>
                    <a:cubicBezTo>
                      <a:pt x="431601" y="539846"/>
                      <a:pt x="438738" y="533400"/>
                      <a:pt x="447303" y="533400"/>
                    </a:cubicBezTo>
                    <a:close/>
                    <a:moveTo>
                      <a:pt x="98208" y="284163"/>
                    </a:moveTo>
                    <a:cubicBezTo>
                      <a:pt x="98208" y="284163"/>
                      <a:pt x="98208" y="284163"/>
                      <a:pt x="111778" y="297725"/>
                    </a:cubicBezTo>
                    <a:cubicBezTo>
                      <a:pt x="139633" y="325563"/>
                      <a:pt x="184631" y="371246"/>
                      <a:pt x="190345" y="376243"/>
                    </a:cubicBezTo>
                    <a:cubicBezTo>
                      <a:pt x="197487" y="382667"/>
                      <a:pt x="198916" y="393374"/>
                      <a:pt x="193202" y="401939"/>
                    </a:cubicBezTo>
                    <a:cubicBezTo>
                      <a:pt x="189630" y="406222"/>
                      <a:pt x="183916" y="409077"/>
                      <a:pt x="178203" y="409077"/>
                    </a:cubicBezTo>
                    <a:cubicBezTo>
                      <a:pt x="173917" y="409077"/>
                      <a:pt x="170346" y="407650"/>
                      <a:pt x="166775" y="405508"/>
                    </a:cubicBezTo>
                    <a:cubicBezTo>
                      <a:pt x="165346" y="404795"/>
                      <a:pt x="163203" y="402653"/>
                      <a:pt x="117492" y="356256"/>
                    </a:cubicBezTo>
                    <a:cubicBezTo>
                      <a:pt x="117492" y="356256"/>
                      <a:pt x="117492" y="356256"/>
                      <a:pt x="117492" y="735282"/>
                    </a:cubicBezTo>
                    <a:cubicBezTo>
                      <a:pt x="117492" y="735282"/>
                      <a:pt x="117492" y="735282"/>
                      <a:pt x="400331" y="735282"/>
                    </a:cubicBezTo>
                    <a:cubicBezTo>
                      <a:pt x="411045" y="735282"/>
                      <a:pt x="418902" y="743848"/>
                      <a:pt x="418902" y="754554"/>
                    </a:cubicBezTo>
                    <a:cubicBezTo>
                      <a:pt x="418902" y="764548"/>
                      <a:pt x="411045" y="773113"/>
                      <a:pt x="400331" y="773113"/>
                    </a:cubicBezTo>
                    <a:cubicBezTo>
                      <a:pt x="400331" y="773113"/>
                      <a:pt x="400331" y="773113"/>
                      <a:pt x="79637" y="773113"/>
                    </a:cubicBezTo>
                    <a:cubicBezTo>
                      <a:pt x="79637" y="773113"/>
                      <a:pt x="79637" y="773113"/>
                      <a:pt x="79637" y="356256"/>
                    </a:cubicBezTo>
                    <a:cubicBezTo>
                      <a:pt x="79637" y="356256"/>
                      <a:pt x="79637" y="356256"/>
                      <a:pt x="31783" y="403367"/>
                    </a:cubicBezTo>
                    <a:cubicBezTo>
                      <a:pt x="24641" y="411219"/>
                      <a:pt x="12499" y="411219"/>
                      <a:pt x="5356" y="403367"/>
                    </a:cubicBezTo>
                    <a:cubicBezTo>
                      <a:pt x="-1786" y="396229"/>
                      <a:pt x="-1786" y="384095"/>
                      <a:pt x="5356" y="376957"/>
                    </a:cubicBezTo>
                    <a:cubicBezTo>
                      <a:pt x="5356" y="376957"/>
                      <a:pt x="5356" y="376957"/>
                      <a:pt x="98208" y="284163"/>
                    </a:cubicBezTo>
                    <a:close/>
                    <a:moveTo>
                      <a:pt x="737502" y="0"/>
                    </a:moveTo>
                    <a:cubicBezTo>
                      <a:pt x="737502" y="0"/>
                      <a:pt x="737502" y="0"/>
                      <a:pt x="1058075" y="0"/>
                    </a:cubicBezTo>
                    <a:cubicBezTo>
                      <a:pt x="1058075" y="0"/>
                      <a:pt x="1058075" y="0"/>
                      <a:pt x="1058075" y="412272"/>
                    </a:cubicBezTo>
                    <a:cubicBezTo>
                      <a:pt x="1058075" y="412272"/>
                      <a:pt x="1058075" y="412272"/>
                      <a:pt x="1104483" y="366701"/>
                    </a:cubicBezTo>
                    <a:cubicBezTo>
                      <a:pt x="1111622" y="359581"/>
                      <a:pt x="1123760" y="359581"/>
                      <a:pt x="1130900" y="367413"/>
                    </a:cubicBezTo>
                    <a:cubicBezTo>
                      <a:pt x="1138039" y="374534"/>
                      <a:pt x="1138039" y="386638"/>
                      <a:pt x="1130900" y="393759"/>
                    </a:cubicBezTo>
                    <a:cubicBezTo>
                      <a:pt x="1130900" y="393759"/>
                      <a:pt x="1130900" y="393759"/>
                      <a:pt x="1055219" y="467811"/>
                    </a:cubicBezTo>
                    <a:cubicBezTo>
                      <a:pt x="1053791" y="470659"/>
                      <a:pt x="1051649" y="472083"/>
                      <a:pt x="1049507" y="473508"/>
                    </a:cubicBezTo>
                    <a:cubicBezTo>
                      <a:pt x="1049507" y="473508"/>
                      <a:pt x="1049507" y="473508"/>
                      <a:pt x="1038797" y="484188"/>
                    </a:cubicBezTo>
                    <a:cubicBezTo>
                      <a:pt x="1038797" y="484188"/>
                      <a:pt x="1038797" y="484188"/>
                      <a:pt x="1025232" y="470659"/>
                    </a:cubicBezTo>
                    <a:cubicBezTo>
                      <a:pt x="998101" y="444314"/>
                      <a:pt x="953121" y="399455"/>
                      <a:pt x="948123" y="394471"/>
                    </a:cubicBezTo>
                    <a:cubicBezTo>
                      <a:pt x="940270" y="388063"/>
                      <a:pt x="938842" y="377382"/>
                      <a:pt x="944554" y="368837"/>
                    </a:cubicBezTo>
                    <a:cubicBezTo>
                      <a:pt x="950979" y="361005"/>
                      <a:pt x="962403" y="358869"/>
                      <a:pt x="970970" y="365277"/>
                    </a:cubicBezTo>
                    <a:cubicBezTo>
                      <a:pt x="972398" y="365989"/>
                      <a:pt x="974540" y="367413"/>
                      <a:pt x="1020948" y="413696"/>
                    </a:cubicBezTo>
                    <a:cubicBezTo>
                      <a:pt x="1020948" y="413696"/>
                      <a:pt x="1020948" y="413696"/>
                      <a:pt x="1020948" y="37026"/>
                    </a:cubicBezTo>
                    <a:cubicBezTo>
                      <a:pt x="1020948" y="37026"/>
                      <a:pt x="1020948" y="37026"/>
                      <a:pt x="737502" y="37026"/>
                    </a:cubicBezTo>
                    <a:cubicBezTo>
                      <a:pt x="727507" y="37026"/>
                      <a:pt x="718939" y="29194"/>
                      <a:pt x="718939" y="18513"/>
                    </a:cubicBezTo>
                    <a:cubicBezTo>
                      <a:pt x="718939" y="8545"/>
                      <a:pt x="727507" y="0"/>
                      <a:pt x="737502"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5837" tIns="32918" rIns="65837" bIns="32918" numCol="1" anchor="t" anchorCtr="0" compatLnSpc="1">
                <a:prstTxWarp prst="textNoShape">
                  <a:avLst/>
                </a:prstTxWarp>
                <a:noAutofit/>
              </a:bodyPr>
              <a:lstStyle/>
              <a:p>
                <a:endParaRPr lang="en-US"/>
              </a:p>
            </p:txBody>
          </p:sp>
          <p:sp>
            <p:nvSpPr>
              <p:cNvPr id="134" name="Freeform 11">
                <a:extLst>
                  <a:ext uri="{FF2B5EF4-FFF2-40B4-BE49-F238E27FC236}">
                    <a16:creationId xmlns:a16="http://schemas.microsoft.com/office/drawing/2014/main" id="{BFCCB5FF-73EC-4002-809F-06B577BED5AD}"/>
                  </a:ext>
                </a:extLst>
              </p:cNvPr>
              <p:cNvSpPr>
                <a:spLocks/>
              </p:cNvSpPr>
              <p:nvPr/>
            </p:nvSpPr>
            <p:spPr bwMode="auto">
              <a:xfrm>
                <a:off x="5476367" y="2803525"/>
                <a:ext cx="1199071" cy="1208088"/>
              </a:xfrm>
              <a:custGeom>
                <a:avLst/>
                <a:gdLst>
                  <a:gd name="connsiteX0" fmla="*/ 878957 w 1199071"/>
                  <a:gd name="connsiteY0" fmla="*/ 901700 h 1208088"/>
                  <a:gd name="connsiteX1" fmla="*/ 1146793 w 1199071"/>
                  <a:gd name="connsiteY1" fmla="*/ 901700 h 1208088"/>
                  <a:gd name="connsiteX2" fmla="*/ 1148941 w 1199071"/>
                  <a:gd name="connsiteY2" fmla="*/ 903122 h 1208088"/>
                  <a:gd name="connsiteX3" fmla="*/ 1146793 w 1199071"/>
                  <a:gd name="connsiteY3" fmla="*/ 914496 h 1208088"/>
                  <a:gd name="connsiteX4" fmla="*/ 1184032 w 1199071"/>
                  <a:gd name="connsiteY4" fmla="*/ 950751 h 1208088"/>
                  <a:gd name="connsiteX5" fmla="*/ 1196923 w 1199071"/>
                  <a:gd name="connsiteY5" fmla="*/ 947907 h 1208088"/>
                  <a:gd name="connsiteX6" fmla="*/ 1199071 w 1199071"/>
                  <a:gd name="connsiteY6" fmla="*/ 950040 h 1208088"/>
                  <a:gd name="connsiteX7" fmla="*/ 1199071 w 1199071"/>
                  <a:gd name="connsiteY7" fmla="*/ 1160459 h 1208088"/>
                  <a:gd name="connsiteX8" fmla="*/ 1196923 w 1199071"/>
                  <a:gd name="connsiteY8" fmla="*/ 1161881 h 1208088"/>
                  <a:gd name="connsiteX9" fmla="*/ 1184032 w 1199071"/>
                  <a:gd name="connsiteY9" fmla="*/ 1159748 h 1208088"/>
                  <a:gd name="connsiteX10" fmla="*/ 1146793 w 1199071"/>
                  <a:gd name="connsiteY10" fmla="*/ 1195292 h 1208088"/>
                  <a:gd name="connsiteX11" fmla="*/ 1148225 w 1199071"/>
                  <a:gd name="connsiteY11" fmla="*/ 1205956 h 1208088"/>
                  <a:gd name="connsiteX12" fmla="*/ 1146793 w 1199071"/>
                  <a:gd name="connsiteY12" fmla="*/ 1208088 h 1208088"/>
                  <a:gd name="connsiteX13" fmla="*/ 878957 w 1199071"/>
                  <a:gd name="connsiteY13" fmla="*/ 1208088 h 1208088"/>
                  <a:gd name="connsiteX14" fmla="*/ 878241 w 1199071"/>
                  <a:gd name="connsiteY14" fmla="*/ 1205245 h 1208088"/>
                  <a:gd name="connsiteX15" fmla="*/ 952003 w 1199071"/>
                  <a:gd name="connsiteY15" fmla="*/ 1055250 h 1208088"/>
                  <a:gd name="connsiteX16" fmla="*/ 878241 w 1199071"/>
                  <a:gd name="connsiteY16" fmla="*/ 903833 h 1208088"/>
                  <a:gd name="connsiteX17" fmla="*/ 878957 w 1199071"/>
                  <a:gd name="connsiteY17" fmla="*/ 901700 h 1208088"/>
                  <a:gd name="connsiteX18" fmla="*/ 518927 w 1199071"/>
                  <a:gd name="connsiteY18" fmla="*/ 901700 h 1208088"/>
                  <a:gd name="connsiteX19" fmla="*/ 786633 w 1199071"/>
                  <a:gd name="connsiteY19" fmla="*/ 901700 h 1208088"/>
                  <a:gd name="connsiteX20" fmla="*/ 788065 w 1199071"/>
                  <a:gd name="connsiteY20" fmla="*/ 903833 h 1208088"/>
                  <a:gd name="connsiteX21" fmla="*/ 713622 w 1199071"/>
                  <a:gd name="connsiteY21" fmla="*/ 1055250 h 1208088"/>
                  <a:gd name="connsiteX22" fmla="*/ 788065 w 1199071"/>
                  <a:gd name="connsiteY22" fmla="*/ 1205245 h 1208088"/>
                  <a:gd name="connsiteX23" fmla="*/ 786633 w 1199071"/>
                  <a:gd name="connsiteY23" fmla="*/ 1208088 h 1208088"/>
                  <a:gd name="connsiteX24" fmla="*/ 519643 w 1199071"/>
                  <a:gd name="connsiteY24" fmla="*/ 1208088 h 1208088"/>
                  <a:gd name="connsiteX25" fmla="*/ 518211 w 1199071"/>
                  <a:gd name="connsiteY25" fmla="*/ 1205956 h 1208088"/>
                  <a:gd name="connsiteX26" fmla="*/ 519643 w 1199071"/>
                  <a:gd name="connsiteY26" fmla="*/ 1195292 h 1208088"/>
                  <a:gd name="connsiteX27" fmla="*/ 483137 w 1199071"/>
                  <a:gd name="connsiteY27" fmla="*/ 1159748 h 1208088"/>
                  <a:gd name="connsiteX28" fmla="*/ 470969 w 1199071"/>
                  <a:gd name="connsiteY28" fmla="*/ 1161170 h 1208088"/>
                  <a:gd name="connsiteX29" fmla="*/ 468821 w 1199071"/>
                  <a:gd name="connsiteY29" fmla="*/ 1159748 h 1208088"/>
                  <a:gd name="connsiteX30" fmla="*/ 468821 w 1199071"/>
                  <a:gd name="connsiteY30" fmla="*/ 950040 h 1208088"/>
                  <a:gd name="connsiteX31" fmla="*/ 470969 w 1199071"/>
                  <a:gd name="connsiteY31" fmla="*/ 948618 h 1208088"/>
                  <a:gd name="connsiteX32" fmla="*/ 483137 w 1199071"/>
                  <a:gd name="connsiteY32" fmla="*/ 950751 h 1208088"/>
                  <a:gd name="connsiteX33" fmla="*/ 519643 w 1199071"/>
                  <a:gd name="connsiteY33" fmla="*/ 914496 h 1208088"/>
                  <a:gd name="connsiteX34" fmla="*/ 518211 w 1199071"/>
                  <a:gd name="connsiteY34" fmla="*/ 903122 h 1208088"/>
                  <a:gd name="connsiteX35" fmla="*/ 518927 w 1199071"/>
                  <a:gd name="connsiteY35" fmla="*/ 901700 h 1208088"/>
                  <a:gd name="connsiteX36" fmla="*/ 326025 w 1199071"/>
                  <a:gd name="connsiteY36" fmla="*/ 182184 h 1208088"/>
                  <a:gd name="connsiteX37" fmla="*/ 273872 w 1199071"/>
                  <a:gd name="connsiteY37" fmla="*/ 193386 h 1208088"/>
                  <a:gd name="connsiteX38" fmla="*/ 204469 w 1199071"/>
                  <a:gd name="connsiteY38" fmla="*/ 370489 h 1208088"/>
                  <a:gd name="connsiteX39" fmla="*/ 381196 w 1199071"/>
                  <a:gd name="connsiteY39" fmla="*/ 440904 h 1208088"/>
                  <a:gd name="connsiteX40" fmla="*/ 449884 w 1199071"/>
                  <a:gd name="connsiteY40" fmla="*/ 263801 h 1208088"/>
                  <a:gd name="connsiteX41" fmla="*/ 326025 w 1199071"/>
                  <a:gd name="connsiteY41" fmla="*/ 182184 h 1208088"/>
                  <a:gd name="connsiteX42" fmla="*/ 423813 w 1199071"/>
                  <a:gd name="connsiteY42" fmla="*/ 0 h 1208088"/>
                  <a:gd name="connsiteX43" fmla="*/ 543626 w 1199071"/>
                  <a:gd name="connsiteY43" fmla="*/ 68477 h 1208088"/>
                  <a:gd name="connsiteX44" fmla="*/ 540060 w 1199071"/>
                  <a:gd name="connsiteY44" fmla="*/ 124115 h 1208088"/>
                  <a:gd name="connsiteX45" fmla="*/ 574293 w 1199071"/>
                  <a:gd name="connsiteY45" fmla="*/ 171193 h 1208088"/>
                  <a:gd name="connsiteX46" fmla="*/ 597828 w 1199071"/>
                  <a:gd name="connsiteY46" fmla="*/ 221837 h 1208088"/>
                  <a:gd name="connsiteX47" fmla="*/ 647750 w 1199071"/>
                  <a:gd name="connsiteY47" fmla="*/ 244663 h 1208088"/>
                  <a:gd name="connsiteX48" fmla="*/ 649176 w 1199071"/>
                  <a:gd name="connsiteY48" fmla="*/ 382331 h 1208088"/>
                  <a:gd name="connsiteX49" fmla="*/ 600680 w 1199071"/>
                  <a:gd name="connsiteY49" fmla="*/ 404443 h 1208088"/>
                  <a:gd name="connsiteX50" fmla="*/ 541487 w 1199071"/>
                  <a:gd name="connsiteY50" fmla="*/ 509298 h 1208088"/>
                  <a:gd name="connsiteX51" fmla="*/ 548618 w 1199071"/>
                  <a:gd name="connsiteY51" fmla="*/ 564223 h 1208088"/>
                  <a:gd name="connsiteX52" fmla="*/ 493704 w 1199071"/>
                  <a:gd name="connsiteY52" fmla="*/ 605594 h 1208088"/>
                  <a:gd name="connsiteX53" fmla="*/ 431658 w 1199071"/>
                  <a:gd name="connsiteY53" fmla="*/ 633413 h 1208088"/>
                  <a:gd name="connsiteX54" fmla="*/ 387441 w 1199071"/>
                  <a:gd name="connsiteY54" fmla="*/ 600601 h 1208088"/>
                  <a:gd name="connsiteX55" fmla="*/ 269054 w 1199071"/>
                  <a:gd name="connsiteY55" fmla="*/ 599888 h 1208088"/>
                  <a:gd name="connsiteX56" fmla="*/ 225550 w 1199071"/>
                  <a:gd name="connsiteY56" fmla="*/ 633413 h 1208088"/>
                  <a:gd name="connsiteX57" fmla="*/ 107163 w 1199071"/>
                  <a:gd name="connsiteY57" fmla="*/ 562083 h 1208088"/>
                  <a:gd name="connsiteX58" fmla="*/ 114295 w 1199071"/>
                  <a:gd name="connsiteY58" fmla="*/ 507159 h 1208088"/>
                  <a:gd name="connsiteX59" fmla="*/ 82202 w 1199071"/>
                  <a:gd name="connsiteY59" fmla="*/ 461507 h 1208088"/>
                  <a:gd name="connsiteX60" fmla="*/ 57241 w 1199071"/>
                  <a:gd name="connsiteY60" fmla="*/ 407296 h 1208088"/>
                  <a:gd name="connsiteX61" fmla="*/ 7319 w 1199071"/>
                  <a:gd name="connsiteY61" fmla="*/ 386610 h 1208088"/>
                  <a:gd name="connsiteX62" fmla="*/ 8745 w 1199071"/>
                  <a:gd name="connsiteY62" fmla="*/ 243950 h 1208088"/>
                  <a:gd name="connsiteX63" fmla="*/ 58667 w 1199071"/>
                  <a:gd name="connsiteY63" fmla="*/ 221124 h 1208088"/>
                  <a:gd name="connsiteX64" fmla="*/ 113582 w 1199071"/>
                  <a:gd name="connsiteY64" fmla="*/ 127681 h 1208088"/>
                  <a:gd name="connsiteX65" fmla="*/ 106450 w 1199071"/>
                  <a:gd name="connsiteY65" fmla="*/ 72044 h 1208088"/>
                  <a:gd name="connsiteX66" fmla="*/ 163504 w 1199071"/>
                  <a:gd name="connsiteY66" fmla="*/ 29959 h 1208088"/>
                  <a:gd name="connsiteX67" fmla="*/ 227690 w 1199071"/>
                  <a:gd name="connsiteY67" fmla="*/ 713 h 1208088"/>
                  <a:gd name="connsiteX68" fmla="*/ 272620 w 1199071"/>
                  <a:gd name="connsiteY68" fmla="*/ 33525 h 1208088"/>
                  <a:gd name="connsiteX69" fmla="*/ 379596 w 1199071"/>
                  <a:gd name="connsiteY69" fmla="*/ 33525 h 1208088"/>
                  <a:gd name="connsiteX70" fmla="*/ 423813 w 1199071"/>
                  <a:gd name="connsiteY70" fmla="*/ 0 h 1208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99071" h="1208088">
                    <a:moveTo>
                      <a:pt x="878957" y="901700"/>
                    </a:moveTo>
                    <a:cubicBezTo>
                      <a:pt x="878957" y="901700"/>
                      <a:pt x="878957" y="901700"/>
                      <a:pt x="1146793" y="901700"/>
                    </a:cubicBezTo>
                    <a:cubicBezTo>
                      <a:pt x="1148225" y="901700"/>
                      <a:pt x="1148941" y="902411"/>
                      <a:pt x="1148941" y="903122"/>
                    </a:cubicBezTo>
                    <a:cubicBezTo>
                      <a:pt x="1147509" y="906676"/>
                      <a:pt x="1146793" y="910942"/>
                      <a:pt x="1146793" y="914496"/>
                    </a:cubicBezTo>
                    <a:cubicBezTo>
                      <a:pt x="1146793" y="934400"/>
                      <a:pt x="1163264" y="950751"/>
                      <a:pt x="1184032" y="950751"/>
                    </a:cubicBezTo>
                    <a:cubicBezTo>
                      <a:pt x="1188329" y="950751"/>
                      <a:pt x="1193342" y="950040"/>
                      <a:pt x="1196923" y="947907"/>
                    </a:cubicBezTo>
                    <a:cubicBezTo>
                      <a:pt x="1198355" y="947907"/>
                      <a:pt x="1199071" y="948618"/>
                      <a:pt x="1199071" y="950040"/>
                    </a:cubicBezTo>
                    <a:cubicBezTo>
                      <a:pt x="1199071" y="950040"/>
                      <a:pt x="1199071" y="950040"/>
                      <a:pt x="1199071" y="1160459"/>
                    </a:cubicBezTo>
                    <a:cubicBezTo>
                      <a:pt x="1199071" y="1161170"/>
                      <a:pt x="1198355" y="1161881"/>
                      <a:pt x="1196923" y="1161881"/>
                    </a:cubicBezTo>
                    <a:cubicBezTo>
                      <a:pt x="1193342" y="1160459"/>
                      <a:pt x="1188329" y="1159748"/>
                      <a:pt x="1184032" y="1159748"/>
                    </a:cubicBezTo>
                    <a:cubicBezTo>
                      <a:pt x="1163264" y="1159748"/>
                      <a:pt x="1146793" y="1176099"/>
                      <a:pt x="1146793" y="1195292"/>
                    </a:cubicBezTo>
                    <a:cubicBezTo>
                      <a:pt x="1146793" y="1198847"/>
                      <a:pt x="1146793" y="1202401"/>
                      <a:pt x="1148225" y="1205956"/>
                    </a:cubicBezTo>
                    <a:cubicBezTo>
                      <a:pt x="1148941" y="1206666"/>
                      <a:pt x="1148225" y="1208088"/>
                      <a:pt x="1146793" y="1208088"/>
                    </a:cubicBezTo>
                    <a:cubicBezTo>
                      <a:pt x="1146793" y="1208088"/>
                      <a:pt x="1146793" y="1208088"/>
                      <a:pt x="878957" y="1208088"/>
                    </a:cubicBezTo>
                    <a:cubicBezTo>
                      <a:pt x="877524" y="1208088"/>
                      <a:pt x="876808" y="1205956"/>
                      <a:pt x="878241" y="1205245"/>
                    </a:cubicBezTo>
                    <a:cubicBezTo>
                      <a:pt x="915480" y="1178942"/>
                      <a:pt x="952003" y="1121361"/>
                      <a:pt x="952003" y="1055250"/>
                    </a:cubicBezTo>
                    <a:cubicBezTo>
                      <a:pt x="952003" y="988427"/>
                      <a:pt x="915480" y="930135"/>
                      <a:pt x="878241" y="903833"/>
                    </a:cubicBezTo>
                    <a:cubicBezTo>
                      <a:pt x="876808" y="903122"/>
                      <a:pt x="877524" y="901700"/>
                      <a:pt x="878957" y="901700"/>
                    </a:cubicBezTo>
                    <a:close/>
                    <a:moveTo>
                      <a:pt x="518927" y="901700"/>
                    </a:moveTo>
                    <a:cubicBezTo>
                      <a:pt x="518927" y="901700"/>
                      <a:pt x="518927" y="901700"/>
                      <a:pt x="786633" y="901700"/>
                    </a:cubicBezTo>
                    <a:cubicBezTo>
                      <a:pt x="788780" y="901700"/>
                      <a:pt x="789496" y="903122"/>
                      <a:pt x="788065" y="903833"/>
                    </a:cubicBezTo>
                    <a:cubicBezTo>
                      <a:pt x="750128" y="930135"/>
                      <a:pt x="713622" y="988427"/>
                      <a:pt x="713622" y="1055250"/>
                    </a:cubicBezTo>
                    <a:cubicBezTo>
                      <a:pt x="713622" y="1121361"/>
                      <a:pt x="750128" y="1178942"/>
                      <a:pt x="788065" y="1205245"/>
                    </a:cubicBezTo>
                    <a:cubicBezTo>
                      <a:pt x="789496" y="1205956"/>
                      <a:pt x="788780" y="1208088"/>
                      <a:pt x="786633" y="1208088"/>
                    </a:cubicBezTo>
                    <a:cubicBezTo>
                      <a:pt x="786633" y="1208088"/>
                      <a:pt x="786633" y="1208088"/>
                      <a:pt x="519643" y="1208088"/>
                    </a:cubicBezTo>
                    <a:cubicBezTo>
                      <a:pt x="518927" y="1208088"/>
                      <a:pt x="518211" y="1206666"/>
                      <a:pt x="518211" y="1205956"/>
                    </a:cubicBezTo>
                    <a:cubicBezTo>
                      <a:pt x="518927" y="1202401"/>
                      <a:pt x="519643" y="1198847"/>
                      <a:pt x="519643" y="1195292"/>
                    </a:cubicBezTo>
                    <a:cubicBezTo>
                      <a:pt x="519643" y="1176099"/>
                      <a:pt x="503895" y="1159748"/>
                      <a:pt x="483137" y="1159748"/>
                    </a:cubicBezTo>
                    <a:cubicBezTo>
                      <a:pt x="478842" y="1159748"/>
                      <a:pt x="474548" y="1160459"/>
                      <a:pt x="470969" y="1161170"/>
                    </a:cubicBezTo>
                    <a:cubicBezTo>
                      <a:pt x="470253" y="1161881"/>
                      <a:pt x="468821" y="1161170"/>
                      <a:pt x="468821" y="1159748"/>
                    </a:cubicBezTo>
                    <a:cubicBezTo>
                      <a:pt x="468821" y="1159748"/>
                      <a:pt x="468821" y="1159748"/>
                      <a:pt x="468821" y="950040"/>
                    </a:cubicBezTo>
                    <a:cubicBezTo>
                      <a:pt x="468821" y="948618"/>
                      <a:pt x="470253" y="947907"/>
                      <a:pt x="470969" y="948618"/>
                    </a:cubicBezTo>
                    <a:cubicBezTo>
                      <a:pt x="474548" y="950040"/>
                      <a:pt x="478842" y="950751"/>
                      <a:pt x="483137" y="950751"/>
                    </a:cubicBezTo>
                    <a:cubicBezTo>
                      <a:pt x="503895" y="950751"/>
                      <a:pt x="519643" y="934400"/>
                      <a:pt x="519643" y="914496"/>
                    </a:cubicBezTo>
                    <a:cubicBezTo>
                      <a:pt x="519643" y="910942"/>
                      <a:pt x="518927" y="906676"/>
                      <a:pt x="518211" y="903122"/>
                    </a:cubicBezTo>
                    <a:cubicBezTo>
                      <a:pt x="517495" y="902411"/>
                      <a:pt x="518211" y="901700"/>
                      <a:pt x="518927" y="901700"/>
                    </a:cubicBezTo>
                    <a:close/>
                    <a:moveTo>
                      <a:pt x="326025" y="182184"/>
                    </a:moveTo>
                    <a:cubicBezTo>
                      <a:pt x="308574" y="182317"/>
                      <a:pt x="290865" y="185918"/>
                      <a:pt x="273872" y="193386"/>
                    </a:cubicBezTo>
                    <a:cubicBezTo>
                      <a:pt x="205900" y="222548"/>
                      <a:pt x="175134" y="301497"/>
                      <a:pt x="204469" y="370489"/>
                    </a:cubicBezTo>
                    <a:cubicBezTo>
                      <a:pt x="233805" y="438770"/>
                      <a:pt x="313224" y="471488"/>
                      <a:pt x="381196" y="440904"/>
                    </a:cubicBezTo>
                    <a:cubicBezTo>
                      <a:pt x="449168" y="412454"/>
                      <a:pt x="479934" y="332081"/>
                      <a:pt x="449884" y="263801"/>
                    </a:cubicBezTo>
                    <a:cubicBezTo>
                      <a:pt x="428419" y="212590"/>
                      <a:pt x="378379" y="181784"/>
                      <a:pt x="326025" y="182184"/>
                    </a:cubicBezTo>
                    <a:close/>
                    <a:moveTo>
                      <a:pt x="423813" y="0"/>
                    </a:moveTo>
                    <a:cubicBezTo>
                      <a:pt x="467317" y="13553"/>
                      <a:pt x="510107" y="37805"/>
                      <a:pt x="543626" y="68477"/>
                    </a:cubicBezTo>
                    <a:cubicBezTo>
                      <a:pt x="543626" y="68477"/>
                      <a:pt x="543626" y="68477"/>
                      <a:pt x="540060" y="124115"/>
                    </a:cubicBezTo>
                    <a:cubicBezTo>
                      <a:pt x="552898" y="138381"/>
                      <a:pt x="565021" y="154074"/>
                      <a:pt x="574293" y="171193"/>
                    </a:cubicBezTo>
                    <a:cubicBezTo>
                      <a:pt x="584277" y="188312"/>
                      <a:pt x="592122" y="205431"/>
                      <a:pt x="597828" y="221837"/>
                    </a:cubicBezTo>
                    <a:cubicBezTo>
                      <a:pt x="597828" y="221837"/>
                      <a:pt x="597828" y="221837"/>
                      <a:pt x="647750" y="244663"/>
                    </a:cubicBezTo>
                    <a:cubicBezTo>
                      <a:pt x="657021" y="290314"/>
                      <a:pt x="657734" y="338106"/>
                      <a:pt x="649176" y="382331"/>
                    </a:cubicBezTo>
                    <a:cubicBezTo>
                      <a:pt x="649176" y="382331"/>
                      <a:pt x="649176" y="382331"/>
                      <a:pt x="600680" y="404443"/>
                    </a:cubicBezTo>
                    <a:cubicBezTo>
                      <a:pt x="587843" y="442961"/>
                      <a:pt x="568587" y="479340"/>
                      <a:pt x="541487" y="509298"/>
                    </a:cubicBezTo>
                    <a:cubicBezTo>
                      <a:pt x="541487" y="509298"/>
                      <a:pt x="541487" y="509298"/>
                      <a:pt x="548618" y="564223"/>
                    </a:cubicBezTo>
                    <a:cubicBezTo>
                      <a:pt x="530789" y="579202"/>
                      <a:pt x="512247" y="592755"/>
                      <a:pt x="493704" y="605594"/>
                    </a:cubicBezTo>
                    <a:cubicBezTo>
                      <a:pt x="473022" y="616294"/>
                      <a:pt x="452340" y="625567"/>
                      <a:pt x="431658" y="633413"/>
                    </a:cubicBezTo>
                    <a:cubicBezTo>
                      <a:pt x="431658" y="633413"/>
                      <a:pt x="431658" y="633413"/>
                      <a:pt x="387441" y="600601"/>
                    </a:cubicBezTo>
                    <a:cubicBezTo>
                      <a:pt x="346790" y="609161"/>
                      <a:pt x="307565" y="609161"/>
                      <a:pt x="269054" y="599888"/>
                    </a:cubicBezTo>
                    <a:cubicBezTo>
                      <a:pt x="269054" y="599888"/>
                      <a:pt x="269054" y="599888"/>
                      <a:pt x="225550" y="633413"/>
                    </a:cubicBezTo>
                    <a:cubicBezTo>
                      <a:pt x="183473" y="617720"/>
                      <a:pt x="142822" y="594895"/>
                      <a:pt x="107163" y="562083"/>
                    </a:cubicBezTo>
                    <a:cubicBezTo>
                      <a:pt x="107163" y="562083"/>
                      <a:pt x="107163" y="562083"/>
                      <a:pt x="114295" y="507159"/>
                    </a:cubicBezTo>
                    <a:cubicBezTo>
                      <a:pt x="102171" y="493606"/>
                      <a:pt x="91473" y="478626"/>
                      <a:pt x="82202" y="461507"/>
                    </a:cubicBezTo>
                    <a:cubicBezTo>
                      <a:pt x="71504" y="445101"/>
                      <a:pt x="62946" y="425842"/>
                      <a:pt x="57241" y="407296"/>
                    </a:cubicBezTo>
                    <a:cubicBezTo>
                      <a:pt x="57241" y="407296"/>
                      <a:pt x="57241" y="407296"/>
                      <a:pt x="7319" y="386610"/>
                    </a:cubicBezTo>
                    <a:cubicBezTo>
                      <a:pt x="-2666" y="337392"/>
                      <a:pt x="-2666" y="289601"/>
                      <a:pt x="8745" y="243950"/>
                    </a:cubicBezTo>
                    <a:cubicBezTo>
                      <a:pt x="8745" y="243950"/>
                      <a:pt x="8745" y="243950"/>
                      <a:pt x="58667" y="221124"/>
                    </a:cubicBezTo>
                    <a:cubicBezTo>
                      <a:pt x="70078" y="187599"/>
                      <a:pt x="89334" y="156213"/>
                      <a:pt x="113582" y="127681"/>
                    </a:cubicBezTo>
                    <a:cubicBezTo>
                      <a:pt x="113582" y="127681"/>
                      <a:pt x="113582" y="127681"/>
                      <a:pt x="106450" y="72044"/>
                    </a:cubicBezTo>
                    <a:cubicBezTo>
                      <a:pt x="122853" y="57064"/>
                      <a:pt x="142822" y="42085"/>
                      <a:pt x="163504" y="29959"/>
                    </a:cubicBezTo>
                    <a:cubicBezTo>
                      <a:pt x="184899" y="17833"/>
                      <a:pt x="205581" y="8560"/>
                      <a:pt x="227690" y="713"/>
                    </a:cubicBezTo>
                    <a:cubicBezTo>
                      <a:pt x="227690" y="713"/>
                      <a:pt x="227690" y="713"/>
                      <a:pt x="272620" y="33525"/>
                    </a:cubicBezTo>
                    <a:cubicBezTo>
                      <a:pt x="307565" y="26392"/>
                      <a:pt x="343937" y="25679"/>
                      <a:pt x="379596" y="33525"/>
                    </a:cubicBezTo>
                    <a:cubicBezTo>
                      <a:pt x="379596" y="33525"/>
                      <a:pt x="379596" y="33525"/>
                      <a:pt x="423813"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5837" tIns="32918" rIns="65837" bIns="32918" numCol="1" anchor="t" anchorCtr="0" compatLnSpc="1">
                <a:prstTxWarp prst="textNoShape">
                  <a:avLst/>
                </a:prstTxWarp>
                <a:noAutofit/>
              </a:bodyPr>
              <a:lstStyle/>
              <a:p>
                <a:endParaRPr lang="en-US"/>
              </a:p>
            </p:txBody>
          </p:sp>
        </p:grpSp>
      </p:grpSp>
      <p:sp>
        <p:nvSpPr>
          <p:cNvPr id="80" name="Rounded Rectangle 2">
            <a:extLst>
              <a:ext uri="{FF2B5EF4-FFF2-40B4-BE49-F238E27FC236}">
                <a16:creationId xmlns:a16="http://schemas.microsoft.com/office/drawing/2014/main" id="{755AC79A-9278-4337-90E8-86A28D11096F}"/>
              </a:ext>
            </a:extLst>
          </p:cNvPr>
          <p:cNvSpPr/>
          <p:nvPr/>
        </p:nvSpPr>
        <p:spPr bwMode="auto">
          <a:xfrm>
            <a:off x="8673307" y="4324363"/>
            <a:ext cx="2888322" cy="1003757"/>
          </a:xfrm>
          <a:prstGeom prst="roundRect">
            <a:avLst>
              <a:gd name="adj" fmla="val 0"/>
            </a:avLst>
          </a:prstGeom>
          <a:noFill/>
          <a:ln w="18288" cap="flat" cmpd="sng" algn="ctr">
            <a:solidFill>
              <a:srgbClr val="6E6F73"/>
            </a:solidFill>
            <a:prstDash val="solid"/>
            <a:miter lim="800000"/>
            <a:headEnd type="none" w="sm" len="sm"/>
            <a:tailEnd type="triangle" w="med" len="med"/>
          </a:ln>
          <a:effectLst>
            <a:innerShdw blurRad="76200">
              <a:prstClr val="black"/>
            </a:innerShdw>
          </a:effectLst>
          <a:extLst>
            <a:ext uri="{909E8E84-426E-40DD-AFC4-6F175D3DCCD1}">
              <a14:hiddenFill xmlns:a14="http://schemas.microsoft.com/office/drawing/2010/main">
                <a:solidFill>
                  <a:srgbClr val="FFFFFF"/>
                </a:solidFill>
              </a14:hiddenFill>
            </a:ext>
          </a:extLst>
        </p:spPr>
        <p:txBody>
          <a:bodyPr vert="horz" wrap="none" lIns="65837" tIns="32918" rIns="65837" bIns="32918"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600" b="0" i="0" u="none" strike="noStrike" cap="none" normalizeH="0" baseline="0">
              <a:ln>
                <a:noFill/>
              </a:ln>
              <a:solidFill>
                <a:schemeClr val="tx1"/>
              </a:solidFill>
              <a:effectLst/>
              <a:latin typeface="Arial" charset="0"/>
            </a:endParaRPr>
          </a:p>
        </p:txBody>
      </p:sp>
      <p:sp>
        <p:nvSpPr>
          <p:cNvPr id="81" name="ee4pContent1">
            <a:extLst>
              <a:ext uri="{FF2B5EF4-FFF2-40B4-BE49-F238E27FC236}">
                <a16:creationId xmlns:a16="http://schemas.microsoft.com/office/drawing/2014/main" id="{D222A311-AEC3-4737-B40A-4206D5CD9F9C}"/>
              </a:ext>
            </a:extLst>
          </p:cNvPr>
          <p:cNvSpPr txBox="1"/>
          <p:nvPr/>
        </p:nvSpPr>
        <p:spPr>
          <a:xfrm>
            <a:off x="9319273" y="4611886"/>
            <a:ext cx="2101110" cy="446276"/>
          </a:xfrm>
          <a:prstGeom prst="rect">
            <a:avLst/>
          </a:prstGeom>
          <a:ln cap="rnd">
            <a:noFill/>
          </a:ln>
        </p:spPr>
        <p:txBody>
          <a:bodyPr vert="horz" wrap="square" lIns="0" tIns="0" rIns="0" bIns="0" rtlCol="0">
            <a:spAutoFit/>
          </a:bodyPr>
          <a:lstStyle>
            <a:lvl1pPr lvl="0" indent="0">
              <a:lnSpc>
                <a:spcPct val="100000"/>
              </a:lnSpc>
              <a:spcBef>
                <a:spcPts val="0"/>
              </a:spcBef>
              <a:spcAft>
                <a:spcPts val="0"/>
              </a:spcAft>
              <a:buFont typeface="Trebuchet MS" panose="020B0603020202020204" pitchFamily="34" charset="0"/>
              <a:buChar char="​"/>
              <a:defRPr sz="2000">
                <a:latin typeface="Trebuchet MS" panose="020B0603020202020204" pitchFamily="34" charset="0"/>
                <a:sym typeface="Trebuchet MS" panose="020B0603020202020204" pitchFamily="34" charset="0"/>
              </a:defRPr>
            </a:lvl1pPr>
            <a:lvl2pPr marL="324000" lvl="1" indent="-216000">
              <a:lnSpc>
                <a:spcPct val="100000"/>
              </a:lnSpc>
              <a:spcBef>
                <a:spcPts val="0"/>
              </a:spcBef>
              <a:spcAft>
                <a:spcPts val="0"/>
              </a:spcAft>
              <a:buClr>
                <a:schemeClr val="tx2"/>
              </a:buClr>
              <a:buFont typeface="Trebuchet MS" panose="020B0603020202020204" pitchFamily="34" charset="0"/>
              <a:buChar char="•"/>
              <a:defRPr sz="2000">
                <a:latin typeface="Trebuchet MS" panose="020B0603020202020204" pitchFamily="34" charset="0"/>
                <a:sym typeface="Trebuchet MS" panose="020B0603020202020204" pitchFamily="34" charset="0"/>
              </a:defRPr>
            </a:lvl2pPr>
            <a:lvl3pPr marL="648000" lvl="2" indent="-216000">
              <a:lnSpc>
                <a:spcPct val="100000"/>
              </a:lnSpc>
              <a:spcBef>
                <a:spcPts val="0"/>
              </a:spcBef>
              <a:spcAft>
                <a:spcPts val="0"/>
              </a:spcAft>
              <a:buClr>
                <a:schemeClr val="tx2"/>
              </a:buClr>
              <a:buFont typeface="Trebuchet MS" panose="020B0603020202020204" pitchFamily="34" charset="0"/>
              <a:buChar char="–"/>
              <a:defRPr sz="2000">
                <a:latin typeface="Trebuchet MS" panose="020B0603020202020204" pitchFamily="34" charset="0"/>
                <a:sym typeface="Trebuchet MS" panose="020B0603020202020204" pitchFamily="34" charset="0"/>
              </a:defRPr>
            </a:lvl3pPr>
            <a:lvl4pPr marL="0" lvl="3" indent="0">
              <a:lnSpc>
                <a:spcPct val="100000"/>
              </a:lnSpc>
              <a:spcBef>
                <a:spcPts val="0"/>
              </a:spcBef>
              <a:spcAft>
                <a:spcPts val="0"/>
              </a:spcAft>
              <a:buClr>
                <a:schemeClr val="tx2"/>
              </a:buClr>
              <a:buFont typeface="Trebuchet MS" panose="020B0603020202020204" pitchFamily="34" charset="0"/>
              <a:buChar char="​"/>
              <a:defRPr sz="2400">
                <a:solidFill>
                  <a:schemeClr val="tx2"/>
                </a:solidFill>
                <a:latin typeface="Trebuchet MS" panose="020B0603020202020204" pitchFamily="34" charset="0"/>
                <a:sym typeface="Trebuchet MS" panose="020B0603020202020204" pitchFamily="34" charset="0"/>
              </a:defRPr>
            </a:lvl4pPr>
            <a:lvl5pPr marL="0" lvl="4" indent="0">
              <a:lnSpc>
                <a:spcPct val="100000"/>
              </a:lnSpc>
              <a:spcBef>
                <a:spcPts val="0"/>
              </a:spcBef>
              <a:spcAft>
                <a:spcPts val="0"/>
              </a:spcAft>
              <a:buClrTx/>
              <a:buFont typeface="Trebuchet MS" panose="020B0603020202020204" pitchFamily="34" charset="0"/>
              <a:buChar char="​"/>
              <a:defRPr sz="2400" b="1">
                <a:latin typeface="Trebuchet MS" panose="020B0603020202020204" pitchFamily="34" charset="0"/>
                <a:sym typeface="Trebuchet MS" panose="020B0603020202020204" pitchFamily="34" charset="0"/>
              </a:defRPr>
            </a:lvl5pPr>
            <a:lvl6pPr marL="324000" lvl="5" indent="-216000">
              <a:lnSpc>
                <a:spcPct val="100000"/>
              </a:lnSpc>
              <a:spcBef>
                <a:spcPts val="0"/>
              </a:spcBef>
              <a:spcAft>
                <a:spcPts val="0"/>
              </a:spcAft>
              <a:buClr>
                <a:schemeClr val="tx2"/>
              </a:buClr>
              <a:buFont typeface="Trebuchet MS" panose="020B0603020202020204" pitchFamily="34" charset="0"/>
              <a:buChar char="•"/>
              <a:defRPr sz="2400">
                <a:latin typeface="Trebuchet MS" panose="020B0603020202020204" pitchFamily="34" charset="0"/>
                <a:sym typeface="Trebuchet MS" panose="020B0603020202020204" pitchFamily="34" charset="0"/>
              </a:defRPr>
            </a:lvl6pPr>
            <a:lvl7pPr marL="0" lvl="6" indent="0">
              <a:lnSpc>
                <a:spcPct val="100000"/>
              </a:lnSpc>
              <a:spcBef>
                <a:spcPts val="0"/>
              </a:spcBef>
              <a:spcAft>
                <a:spcPts val="0"/>
              </a:spcAft>
              <a:buFont typeface="Trebuchet MS" panose="020B0603020202020204" pitchFamily="34" charset="0"/>
              <a:buChar char="​"/>
              <a:defRPr sz="5400" baseline="0">
                <a:latin typeface="Trebuchet MS" panose="020B0603020202020204" pitchFamily="34" charset="0"/>
                <a:sym typeface="Trebuchet MS" panose="020B0603020202020204" pitchFamily="34" charset="0"/>
              </a:defRPr>
            </a:lvl7pPr>
            <a:lvl8pPr marL="0" lvl="7" indent="0">
              <a:lnSpc>
                <a:spcPct val="100000"/>
              </a:lnSpc>
              <a:spcBef>
                <a:spcPts val="0"/>
              </a:spcBef>
              <a:spcAft>
                <a:spcPts val="0"/>
              </a:spcAft>
              <a:buFont typeface="Trebuchet MS" panose="020B0603020202020204" pitchFamily="34" charset="0"/>
              <a:buChar char="​"/>
              <a:defRPr sz="6600">
                <a:solidFill>
                  <a:schemeClr val="tx2"/>
                </a:solidFill>
                <a:latin typeface="Trebuchet MS" panose="020B0603020202020204" pitchFamily="34" charset="0"/>
                <a:sym typeface="Trebuchet MS" panose="020B0603020202020204" pitchFamily="34" charset="0"/>
              </a:defRPr>
            </a:lvl8pPr>
            <a:lvl9pPr marL="0" lvl="8" indent="0">
              <a:lnSpc>
                <a:spcPct val="100000"/>
              </a:lnSpc>
              <a:spcBef>
                <a:spcPts val="0"/>
              </a:spcBef>
              <a:spcAft>
                <a:spcPts val="0"/>
              </a:spcAft>
              <a:buFont typeface="Trebuchet MS" panose="020B0603020202020204" pitchFamily="34" charset="0"/>
              <a:buChar char="​"/>
              <a:defRPr sz="4400">
                <a:solidFill>
                  <a:schemeClr val="tx2"/>
                </a:solidFill>
                <a:latin typeface="Trebuchet MS" panose="020B0603020202020204" pitchFamily="34" charset="0"/>
                <a:sym typeface="Trebuchet MS" panose="020B0603020202020204" pitchFamily="34" charset="0"/>
              </a:defRPr>
            </a:lvl9pPr>
          </a:lstStyle>
          <a:p>
            <a:pPr>
              <a:spcBef>
                <a:spcPts val="600"/>
              </a:spcBef>
              <a:buSzPct val="100000"/>
            </a:pPr>
            <a:r>
              <a:rPr lang="en-US" sz="1200" err="1">
                <a:solidFill>
                  <a:srgbClr val="03522D"/>
                </a:solidFill>
              </a:rPr>
              <a:t>基於點擊</a:t>
            </a:r>
            <a:r>
              <a:rPr lang="zh-TW" altLang="en-US" sz="1200">
                <a:solidFill>
                  <a:srgbClr val="03522D"/>
                </a:solidFill>
              </a:rPr>
              <a:t>紀錄</a:t>
            </a:r>
            <a:endParaRPr lang="en-US" sz="1200">
              <a:solidFill>
                <a:srgbClr val="03522D"/>
              </a:solidFill>
            </a:endParaRPr>
          </a:p>
          <a:p>
            <a:pPr marL="233280" lvl="1" indent="-155520">
              <a:spcBef>
                <a:spcPts val="600"/>
              </a:spcBef>
              <a:buClr>
                <a:schemeClr val="tx2">
                  <a:lumMod val="100000"/>
                </a:schemeClr>
              </a:buClr>
              <a:buSzPct val="100000"/>
            </a:pPr>
            <a:r>
              <a:rPr lang="en-US" altLang="zh-TW" sz="1200">
                <a:solidFill>
                  <a:srgbClr val="29BA74"/>
                </a:solidFill>
              </a:rPr>
              <a:t>5+個</a:t>
            </a:r>
            <a:r>
              <a:rPr lang="zh-TW" altLang="en-US" sz="1200">
                <a:solidFill>
                  <a:srgbClr val="575757"/>
                </a:solidFill>
              </a:rPr>
              <a:t>數位專屬優惠</a:t>
            </a:r>
            <a:endParaRPr lang="en-US" altLang="zh-TW" sz="1200">
              <a:solidFill>
                <a:srgbClr val="575757"/>
              </a:solidFill>
            </a:endParaRPr>
          </a:p>
        </p:txBody>
      </p:sp>
      <p:grpSp>
        <p:nvGrpSpPr>
          <p:cNvPr id="82" name="bcgIcons_Mouse">
            <a:extLst>
              <a:ext uri="{FF2B5EF4-FFF2-40B4-BE49-F238E27FC236}">
                <a16:creationId xmlns:a16="http://schemas.microsoft.com/office/drawing/2014/main" id="{DE6B34F5-A71E-4AC2-80AA-571C476762BA}"/>
              </a:ext>
            </a:extLst>
          </p:cNvPr>
          <p:cNvGrpSpPr>
            <a:grpSpLocks noChangeAspect="1"/>
          </p:cNvGrpSpPr>
          <p:nvPr/>
        </p:nvGrpSpPr>
        <p:grpSpPr bwMode="auto">
          <a:xfrm>
            <a:off x="8734945" y="4617801"/>
            <a:ext cx="416494" cy="416881"/>
            <a:chOff x="1682" y="0"/>
            <a:chExt cx="4316" cy="4320"/>
          </a:xfrm>
        </p:grpSpPr>
        <p:sp>
          <p:nvSpPr>
            <p:cNvPr id="127" name="AutoShape 44">
              <a:extLst>
                <a:ext uri="{FF2B5EF4-FFF2-40B4-BE49-F238E27FC236}">
                  <a16:creationId xmlns:a16="http://schemas.microsoft.com/office/drawing/2014/main" id="{108D6A8A-715E-43C3-8445-28587AD894F1}"/>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5837" tIns="32918" rIns="65837" bIns="32918" numCol="1" anchor="t" anchorCtr="0" compatLnSpc="1">
              <a:prstTxWarp prst="textNoShape">
                <a:avLst/>
              </a:prstTxWarp>
            </a:bodyPr>
            <a:lstStyle/>
            <a:p>
              <a:endParaRPr lang="en-US"/>
            </a:p>
          </p:txBody>
        </p:sp>
        <p:sp>
          <p:nvSpPr>
            <p:cNvPr id="128" name="Freeform 46">
              <a:extLst>
                <a:ext uri="{FF2B5EF4-FFF2-40B4-BE49-F238E27FC236}">
                  <a16:creationId xmlns:a16="http://schemas.microsoft.com/office/drawing/2014/main" id="{EF2877FA-849E-4ED5-BAB9-57D93A4C06C0}"/>
                </a:ext>
              </a:extLst>
            </p:cNvPr>
            <p:cNvSpPr>
              <a:spLocks/>
            </p:cNvSpPr>
            <p:nvPr/>
          </p:nvSpPr>
          <p:spPr bwMode="auto">
            <a:xfrm>
              <a:off x="3602" y="461"/>
              <a:ext cx="1753" cy="2573"/>
            </a:xfrm>
            <a:custGeom>
              <a:avLst/>
              <a:gdLst>
                <a:gd name="T0" fmla="*/ 914 w 936"/>
                <a:gd name="T1" fmla="*/ 624 h 1372"/>
                <a:gd name="T2" fmla="*/ 892 w 936"/>
                <a:gd name="T3" fmla="*/ 646 h 1372"/>
                <a:gd name="T4" fmla="*/ 892 w 936"/>
                <a:gd name="T5" fmla="*/ 1230 h 1372"/>
                <a:gd name="T6" fmla="*/ 794 w 936"/>
                <a:gd name="T7" fmla="*/ 1328 h 1372"/>
                <a:gd name="T8" fmla="*/ 696 w 936"/>
                <a:gd name="T9" fmla="*/ 1230 h 1372"/>
                <a:gd name="T10" fmla="*/ 696 w 936"/>
                <a:gd name="T11" fmla="*/ 142 h 1372"/>
                <a:gd name="T12" fmla="*/ 554 w 936"/>
                <a:gd name="T13" fmla="*/ 0 h 1372"/>
                <a:gd name="T14" fmla="*/ 142 w 936"/>
                <a:gd name="T15" fmla="*/ 0 h 1372"/>
                <a:gd name="T16" fmla="*/ 0 w 936"/>
                <a:gd name="T17" fmla="*/ 142 h 1372"/>
                <a:gd name="T18" fmla="*/ 0 w 936"/>
                <a:gd name="T19" fmla="*/ 219 h 1372"/>
                <a:gd name="T20" fmla="*/ 22 w 936"/>
                <a:gd name="T21" fmla="*/ 219 h 1372"/>
                <a:gd name="T22" fmla="*/ 44 w 936"/>
                <a:gd name="T23" fmla="*/ 219 h 1372"/>
                <a:gd name="T24" fmla="*/ 44 w 936"/>
                <a:gd name="T25" fmla="*/ 142 h 1372"/>
                <a:gd name="T26" fmla="*/ 142 w 936"/>
                <a:gd name="T27" fmla="*/ 44 h 1372"/>
                <a:gd name="T28" fmla="*/ 554 w 936"/>
                <a:gd name="T29" fmla="*/ 44 h 1372"/>
                <a:gd name="T30" fmla="*/ 652 w 936"/>
                <a:gd name="T31" fmla="*/ 142 h 1372"/>
                <a:gd name="T32" fmla="*/ 652 w 936"/>
                <a:gd name="T33" fmla="*/ 1230 h 1372"/>
                <a:gd name="T34" fmla="*/ 794 w 936"/>
                <a:gd name="T35" fmla="*/ 1372 h 1372"/>
                <a:gd name="T36" fmla="*/ 936 w 936"/>
                <a:gd name="T37" fmla="*/ 1230 h 1372"/>
                <a:gd name="T38" fmla="*/ 936 w 936"/>
                <a:gd name="T39" fmla="*/ 646 h 1372"/>
                <a:gd name="T40" fmla="*/ 914 w 936"/>
                <a:gd name="T41" fmla="*/ 624 h 1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36" h="1372">
                  <a:moveTo>
                    <a:pt x="914" y="624"/>
                  </a:moveTo>
                  <a:cubicBezTo>
                    <a:pt x="902" y="624"/>
                    <a:pt x="892" y="634"/>
                    <a:pt x="892" y="646"/>
                  </a:cubicBezTo>
                  <a:cubicBezTo>
                    <a:pt x="892" y="1230"/>
                    <a:pt x="892" y="1230"/>
                    <a:pt x="892" y="1230"/>
                  </a:cubicBezTo>
                  <a:cubicBezTo>
                    <a:pt x="892" y="1284"/>
                    <a:pt x="848" y="1328"/>
                    <a:pt x="794" y="1328"/>
                  </a:cubicBezTo>
                  <a:cubicBezTo>
                    <a:pt x="740" y="1328"/>
                    <a:pt x="696" y="1284"/>
                    <a:pt x="696" y="1230"/>
                  </a:cubicBezTo>
                  <a:cubicBezTo>
                    <a:pt x="696" y="142"/>
                    <a:pt x="696" y="142"/>
                    <a:pt x="696" y="142"/>
                  </a:cubicBezTo>
                  <a:cubicBezTo>
                    <a:pt x="696" y="64"/>
                    <a:pt x="632" y="0"/>
                    <a:pt x="554" y="0"/>
                  </a:cubicBezTo>
                  <a:cubicBezTo>
                    <a:pt x="142" y="0"/>
                    <a:pt x="142" y="0"/>
                    <a:pt x="142" y="0"/>
                  </a:cubicBezTo>
                  <a:cubicBezTo>
                    <a:pt x="64" y="0"/>
                    <a:pt x="0" y="64"/>
                    <a:pt x="0" y="142"/>
                  </a:cubicBezTo>
                  <a:cubicBezTo>
                    <a:pt x="0" y="219"/>
                    <a:pt x="0" y="219"/>
                    <a:pt x="0" y="219"/>
                  </a:cubicBezTo>
                  <a:cubicBezTo>
                    <a:pt x="7" y="219"/>
                    <a:pt x="15" y="219"/>
                    <a:pt x="22" y="219"/>
                  </a:cubicBezTo>
                  <a:cubicBezTo>
                    <a:pt x="29" y="219"/>
                    <a:pt x="37" y="219"/>
                    <a:pt x="44" y="219"/>
                  </a:cubicBezTo>
                  <a:cubicBezTo>
                    <a:pt x="44" y="142"/>
                    <a:pt x="44" y="142"/>
                    <a:pt x="44" y="142"/>
                  </a:cubicBezTo>
                  <a:cubicBezTo>
                    <a:pt x="44" y="88"/>
                    <a:pt x="88" y="44"/>
                    <a:pt x="142" y="44"/>
                  </a:cubicBezTo>
                  <a:cubicBezTo>
                    <a:pt x="554" y="44"/>
                    <a:pt x="554" y="44"/>
                    <a:pt x="554" y="44"/>
                  </a:cubicBezTo>
                  <a:cubicBezTo>
                    <a:pt x="608" y="44"/>
                    <a:pt x="652" y="88"/>
                    <a:pt x="652" y="142"/>
                  </a:cubicBezTo>
                  <a:cubicBezTo>
                    <a:pt x="652" y="1230"/>
                    <a:pt x="652" y="1230"/>
                    <a:pt x="652" y="1230"/>
                  </a:cubicBezTo>
                  <a:cubicBezTo>
                    <a:pt x="652" y="1308"/>
                    <a:pt x="716" y="1372"/>
                    <a:pt x="794" y="1372"/>
                  </a:cubicBezTo>
                  <a:cubicBezTo>
                    <a:pt x="872" y="1372"/>
                    <a:pt x="936" y="1308"/>
                    <a:pt x="936" y="1230"/>
                  </a:cubicBezTo>
                  <a:cubicBezTo>
                    <a:pt x="936" y="646"/>
                    <a:pt x="936" y="646"/>
                    <a:pt x="936" y="646"/>
                  </a:cubicBezTo>
                  <a:cubicBezTo>
                    <a:pt x="936" y="634"/>
                    <a:pt x="926" y="624"/>
                    <a:pt x="914" y="62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5837" tIns="32918" rIns="65837" bIns="32918" numCol="1" anchor="t" anchorCtr="0" compatLnSpc="1">
              <a:prstTxWarp prst="textNoShape">
                <a:avLst/>
              </a:prstTxWarp>
            </a:bodyPr>
            <a:lstStyle/>
            <a:p>
              <a:endParaRPr lang="en-US"/>
            </a:p>
          </p:txBody>
        </p:sp>
        <p:sp>
          <p:nvSpPr>
            <p:cNvPr id="129" name="Freeform 47">
              <a:extLst>
                <a:ext uri="{FF2B5EF4-FFF2-40B4-BE49-F238E27FC236}">
                  <a16:creationId xmlns:a16="http://schemas.microsoft.com/office/drawing/2014/main" id="{B41BA6E5-9B34-4B4F-B22D-72E7C61557D4}"/>
                </a:ext>
              </a:extLst>
            </p:cNvPr>
            <p:cNvSpPr>
              <a:spLocks/>
            </p:cNvSpPr>
            <p:nvPr/>
          </p:nvSpPr>
          <p:spPr bwMode="auto">
            <a:xfrm>
              <a:off x="3510" y="1556"/>
              <a:ext cx="266" cy="604"/>
            </a:xfrm>
            <a:custGeom>
              <a:avLst/>
              <a:gdLst>
                <a:gd name="T0" fmla="*/ 71 w 142"/>
                <a:gd name="T1" fmla="*/ 0 h 322"/>
                <a:gd name="T2" fmla="*/ 142 w 142"/>
                <a:gd name="T3" fmla="*/ 70 h 322"/>
                <a:gd name="T4" fmla="*/ 142 w 142"/>
                <a:gd name="T5" fmla="*/ 251 h 322"/>
                <a:gd name="T6" fmla="*/ 71 w 142"/>
                <a:gd name="T7" fmla="*/ 322 h 322"/>
                <a:gd name="T8" fmla="*/ 0 w 142"/>
                <a:gd name="T9" fmla="*/ 251 h 322"/>
                <a:gd name="T10" fmla="*/ 0 w 142"/>
                <a:gd name="T11" fmla="*/ 70 h 322"/>
                <a:gd name="T12" fmla="*/ 71 w 142"/>
                <a:gd name="T13" fmla="*/ 0 h 322"/>
              </a:gdLst>
              <a:ahLst/>
              <a:cxnLst>
                <a:cxn ang="0">
                  <a:pos x="T0" y="T1"/>
                </a:cxn>
                <a:cxn ang="0">
                  <a:pos x="T2" y="T3"/>
                </a:cxn>
                <a:cxn ang="0">
                  <a:pos x="T4" y="T5"/>
                </a:cxn>
                <a:cxn ang="0">
                  <a:pos x="T6" y="T7"/>
                </a:cxn>
                <a:cxn ang="0">
                  <a:pos x="T8" y="T9"/>
                </a:cxn>
                <a:cxn ang="0">
                  <a:pos x="T10" y="T11"/>
                </a:cxn>
                <a:cxn ang="0">
                  <a:pos x="T12" y="T13"/>
                </a:cxn>
              </a:cxnLst>
              <a:rect l="0" t="0" r="r" b="b"/>
              <a:pathLst>
                <a:path w="142" h="322">
                  <a:moveTo>
                    <a:pt x="71" y="0"/>
                  </a:moveTo>
                  <a:cubicBezTo>
                    <a:pt x="110" y="0"/>
                    <a:pt x="142" y="31"/>
                    <a:pt x="142" y="70"/>
                  </a:cubicBezTo>
                  <a:cubicBezTo>
                    <a:pt x="142" y="251"/>
                    <a:pt x="142" y="251"/>
                    <a:pt x="142" y="251"/>
                  </a:cubicBezTo>
                  <a:cubicBezTo>
                    <a:pt x="142" y="290"/>
                    <a:pt x="110" y="322"/>
                    <a:pt x="71" y="322"/>
                  </a:cubicBezTo>
                  <a:cubicBezTo>
                    <a:pt x="32" y="322"/>
                    <a:pt x="0" y="290"/>
                    <a:pt x="0" y="251"/>
                  </a:cubicBezTo>
                  <a:cubicBezTo>
                    <a:pt x="0" y="70"/>
                    <a:pt x="0" y="70"/>
                    <a:pt x="0" y="70"/>
                  </a:cubicBezTo>
                  <a:cubicBezTo>
                    <a:pt x="0" y="31"/>
                    <a:pt x="32" y="0"/>
                    <a:pt x="71" y="0"/>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5837" tIns="32918" rIns="65837" bIns="32918" numCol="1" anchor="t" anchorCtr="0" compatLnSpc="1">
              <a:prstTxWarp prst="textNoShape">
                <a:avLst/>
              </a:prstTxWarp>
            </a:bodyPr>
            <a:lstStyle/>
            <a:p>
              <a:endParaRPr lang="en-US"/>
            </a:p>
          </p:txBody>
        </p:sp>
        <p:sp>
          <p:nvSpPr>
            <p:cNvPr id="130" name="Freeform 48">
              <a:extLst>
                <a:ext uri="{FF2B5EF4-FFF2-40B4-BE49-F238E27FC236}">
                  <a16:creationId xmlns:a16="http://schemas.microsoft.com/office/drawing/2014/main" id="{5A933900-3245-4D35-80A4-12E9B90935E1}"/>
                </a:ext>
              </a:extLst>
            </p:cNvPr>
            <p:cNvSpPr>
              <a:spLocks noEditPoints="1"/>
            </p:cNvSpPr>
            <p:nvPr/>
          </p:nvSpPr>
          <p:spPr bwMode="auto">
            <a:xfrm>
              <a:off x="2798" y="954"/>
              <a:ext cx="1690" cy="2957"/>
            </a:xfrm>
            <a:custGeom>
              <a:avLst/>
              <a:gdLst>
                <a:gd name="T0" fmla="*/ 451 w 902"/>
                <a:gd name="T1" fmla="*/ 0 h 1577"/>
                <a:gd name="T2" fmla="*/ 0 w 902"/>
                <a:gd name="T3" fmla="*/ 451 h 1577"/>
                <a:gd name="T4" fmla="*/ 0 w 902"/>
                <a:gd name="T5" fmla="*/ 1126 h 1577"/>
                <a:gd name="T6" fmla="*/ 451 w 902"/>
                <a:gd name="T7" fmla="*/ 1577 h 1577"/>
                <a:gd name="T8" fmla="*/ 902 w 902"/>
                <a:gd name="T9" fmla="*/ 1126 h 1577"/>
                <a:gd name="T10" fmla="*/ 902 w 902"/>
                <a:gd name="T11" fmla="*/ 451 h 1577"/>
                <a:gd name="T12" fmla="*/ 451 w 902"/>
                <a:gd name="T13" fmla="*/ 0 h 1577"/>
                <a:gd name="T14" fmla="*/ 566 w 902"/>
                <a:gd name="T15" fmla="*/ 572 h 1577"/>
                <a:gd name="T16" fmla="*/ 451 w 902"/>
                <a:gd name="T17" fmla="*/ 687 h 1577"/>
                <a:gd name="T18" fmla="*/ 336 w 902"/>
                <a:gd name="T19" fmla="*/ 572 h 1577"/>
                <a:gd name="T20" fmla="*/ 336 w 902"/>
                <a:gd name="T21" fmla="*/ 391 h 1577"/>
                <a:gd name="T22" fmla="*/ 451 w 902"/>
                <a:gd name="T23" fmla="*/ 277 h 1577"/>
                <a:gd name="T24" fmla="*/ 566 w 902"/>
                <a:gd name="T25" fmla="*/ 391 h 1577"/>
                <a:gd name="T26" fmla="*/ 566 w 902"/>
                <a:gd name="T27" fmla="*/ 572 h 1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02" h="1577">
                  <a:moveTo>
                    <a:pt x="451" y="0"/>
                  </a:moveTo>
                  <a:cubicBezTo>
                    <a:pt x="202" y="0"/>
                    <a:pt x="0" y="202"/>
                    <a:pt x="0" y="451"/>
                  </a:cubicBezTo>
                  <a:cubicBezTo>
                    <a:pt x="0" y="1126"/>
                    <a:pt x="0" y="1126"/>
                    <a:pt x="0" y="1126"/>
                  </a:cubicBezTo>
                  <a:cubicBezTo>
                    <a:pt x="0" y="1375"/>
                    <a:pt x="202" y="1577"/>
                    <a:pt x="451" y="1577"/>
                  </a:cubicBezTo>
                  <a:cubicBezTo>
                    <a:pt x="700" y="1577"/>
                    <a:pt x="902" y="1375"/>
                    <a:pt x="902" y="1126"/>
                  </a:cubicBezTo>
                  <a:cubicBezTo>
                    <a:pt x="902" y="451"/>
                    <a:pt x="902" y="451"/>
                    <a:pt x="902" y="451"/>
                  </a:cubicBezTo>
                  <a:cubicBezTo>
                    <a:pt x="902" y="202"/>
                    <a:pt x="700" y="0"/>
                    <a:pt x="451" y="0"/>
                  </a:cubicBezTo>
                  <a:close/>
                  <a:moveTo>
                    <a:pt x="566" y="572"/>
                  </a:moveTo>
                  <a:cubicBezTo>
                    <a:pt x="566" y="636"/>
                    <a:pt x="514" y="687"/>
                    <a:pt x="451" y="687"/>
                  </a:cubicBezTo>
                  <a:cubicBezTo>
                    <a:pt x="388" y="687"/>
                    <a:pt x="336" y="636"/>
                    <a:pt x="336" y="572"/>
                  </a:cubicBezTo>
                  <a:cubicBezTo>
                    <a:pt x="336" y="391"/>
                    <a:pt x="336" y="391"/>
                    <a:pt x="336" y="391"/>
                  </a:cubicBezTo>
                  <a:cubicBezTo>
                    <a:pt x="336" y="328"/>
                    <a:pt x="388" y="277"/>
                    <a:pt x="451" y="277"/>
                  </a:cubicBezTo>
                  <a:cubicBezTo>
                    <a:pt x="514" y="277"/>
                    <a:pt x="566" y="328"/>
                    <a:pt x="566" y="391"/>
                  </a:cubicBezTo>
                  <a:lnTo>
                    <a:pt x="566" y="572"/>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5837" tIns="32918" rIns="65837" bIns="32918" numCol="1" anchor="t" anchorCtr="0" compatLnSpc="1">
              <a:prstTxWarp prst="textNoShape">
                <a:avLst/>
              </a:prstTxWarp>
            </a:bodyPr>
            <a:lstStyle/>
            <a:p>
              <a:endParaRPr lang="en-US"/>
            </a:p>
          </p:txBody>
        </p:sp>
      </p:grpSp>
      <p:sp>
        <p:nvSpPr>
          <p:cNvPr id="83" name="Rounded Rectangle 2">
            <a:extLst>
              <a:ext uri="{FF2B5EF4-FFF2-40B4-BE49-F238E27FC236}">
                <a16:creationId xmlns:a16="http://schemas.microsoft.com/office/drawing/2014/main" id="{9CCC8F28-3F56-49EB-AB10-A06190CF2B6A}"/>
              </a:ext>
            </a:extLst>
          </p:cNvPr>
          <p:cNvSpPr/>
          <p:nvPr/>
        </p:nvSpPr>
        <p:spPr bwMode="auto">
          <a:xfrm>
            <a:off x="8673307" y="5545104"/>
            <a:ext cx="2888322" cy="902612"/>
          </a:xfrm>
          <a:prstGeom prst="roundRect">
            <a:avLst>
              <a:gd name="adj" fmla="val 0"/>
            </a:avLst>
          </a:prstGeom>
          <a:noFill/>
          <a:ln w="18288" cap="flat" cmpd="sng" algn="ctr">
            <a:solidFill>
              <a:srgbClr val="6E6F73"/>
            </a:solidFill>
            <a:prstDash val="solid"/>
            <a:miter lim="800000"/>
            <a:headEnd type="none" w="sm" len="sm"/>
            <a:tailEnd type="triangle" w="med" len="med"/>
          </a:ln>
          <a:effectLst>
            <a:innerShdw blurRad="76200">
              <a:prstClr val="black"/>
            </a:innerShdw>
          </a:effectLst>
          <a:extLst>
            <a:ext uri="{909E8E84-426E-40DD-AFC4-6F175D3DCCD1}">
              <a14:hiddenFill xmlns:a14="http://schemas.microsoft.com/office/drawing/2010/main">
                <a:solidFill>
                  <a:srgbClr val="FFFFFF"/>
                </a:solidFill>
              </a14:hiddenFill>
            </a:ext>
          </a:extLst>
        </p:spPr>
        <p:txBody>
          <a:bodyPr vert="horz" wrap="none" lIns="65837" tIns="32918" rIns="65837" bIns="32918"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600" b="0" i="0" u="none" strike="noStrike" cap="none" normalizeH="0" baseline="0">
              <a:ln>
                <a:noFill/>
              </a:ln>
              <a:solidFill>
                <a:schemeClr val="tx1"/>
              </a:solidFill>
              <a:effectLst/>
              <a:latin typeface="Arial" charset="0"/>
            </a:endParaRPr>
          </a:p>
        </p:txBody>
      </p:sp>
      <p:sp>
        <p:nvSpPr>
          <p:cNvPr id="84" name="ee4pContent1">
            <a:extLst>
              <a:ext uri="{FF2B5EF4-FFF2-40B4-BE49-F238E27FC236}">
                <a16:creationId xmlns:a16="http://schemas.microsoft.com/office/drawing/2014/main" id="{EE41BA84-D3C5-4287-9F13-1F6E2392FFD5}"/>
              </a:ext>
            </a:extLst>
          </p:cNvPr>
          <p:cNvSpPr txBox="1"/>
          <p:nvPr/>
        </p:nvSpPr>
        <p:spPr>
          <a:xfrm>
            <a:off x="9319273" y="5783701"/>
            <a:ext cx="2101110" cy="446276"/>
          </a:xfrm>
          <a:prstGeom prst="rect">
            <a:avLst/>
          </a:prstGeom>
          <a:ln cap="rnd">
            <a:noFill/>
          </a:ln>
        </p:spPr>
        <p:txBody>
          <a:bodyPr vert="horz" wrap="square" lIns="0" tIns="0" rIns="0" bIns="0" rtlCol="0">
            <a:spAutoFit/>
          </a:bodyPr>
          <a:lstStyle>
            <a:lvl1pPr lvl="0" indent="0">
              <a:lnSpc>
                <a:spcPct val="100000"/>
              </a:lnSpc>
              <a:spcBef>
                <a:spcPts val="0"/>
              </a:spcBef>
              <a:spcAft>
                <a:spcPts val="0"/>
              </a:spcAft>
              <a:buFont typeface="Trebuchet MS" panose="020B0603020202020204" pitchFamily="34" charset="0"/>
              <a:buChar char="​"/>
              <a:defRPr sz="2000">
                <a:latin typeface="Trebuchet MS" panose="020B0603020202020204" pitchFamily="34" charset="0"/>
                <a:sym typeface="Trebuchet MS" panose="020B0603020202020204" pitchFamily="34" charset="0"/>
              </a:defRPr>
            </a:lvl1pPr>
            <a:lvl2pPr marL="324000" lvl="1" indent="-216000">
              <a:lnSpc>
                <a:spcPct val="100000"/>
              </a:lnSpc>
              <a:spcBef>
                <a:spcPts val="0"/>
              </a:spcBef>
              <a:spcAft>
                <a:spcPts val="0"/>
              </a:spcAft>
              <a:buClr>
                <a:schemeClr val="tx2"/>
              </a:buClr>
              <a:buFont typeface="Trebuchet MS" panose="020B0603020202020204" pitchFamily="34" charset="0"/>
              <a:buChar char="•"/>
              <a:defRPr sz="2000">
                <a:latin typeface="Trebuchet MS" panose="020B0603020202020204" pitchFamily="34" charset="0"/>
                <a:sym typeface="Trebuchet MS" panose="020B0603020202020204" pitchFamily="34" charset="0"/>
              </a:defRPr>
            </a:lvl2pPr>
            <a:lvl3pPr marL="648000" lvl="2" indent="-216000">
              <a:lnSpc>
                <a:spcPct val="100000"/>
              </a:lnSpc>
              <a:spcBef>
                <a:spcPts val="0"/>
              </a:spcBef>
              <a:spcAft>
                <a:spcPts val="0"/>
              </a:spcAft>
              <a:buClr>
                <a:schemeClr val="tx2"/>
              </a:buClr>
              <a:buFont typeface="Trebuchet MS" panose="020B0603020202020204" pitchFamily="34" charset="0"/>
              <a:buChar char="–"/>
              <a:defRPr sz="2000">
                <a:latin typeface="Trebuchet MS" panose="020B0603020202020204" pitchFamily="34" charset="0"/>
                <a:sym typeface="Trebuchet MS" panose="020B0603020202020204" pitchFamily="34" charset="0"/>
              </a:defRPr>
            </a:lvl3pPr>
            <a:lvl4pPr marL="0" lvl="3" indent="0">
              <a:lnSpc>
                <a:spcPct val="100000"/>
              </a:lnSpc>
              <a:spcBef>
                <a:spcPts val="0"/>
              </a:spcBef>
              <a:spcAft>
                <a:spcPts val="0"/>
              </a:spcAft>
              <a:buClr>
                <a:schemeClr val="tx2"/>
              </a:buClr>
              <a:buFont typeface="Trebuchet MS" panose="020B0603020202020204" pitchFamily="34" charset="0"/>
              <a:buChar char="​"/>
              <a:defRPr sz="2400">
                <a:solidFill>
                  <a:schemeClr val="tx2"/>
                </a:solidFill>
                <a:latin typeface="Trebuchet MS" panose="020B0603020202020204" pitchFamily="34" charset="0"/>
                <a:sym typeface="Trebuchet MS" panose="020B0603020202020204" pitchFamily="34" charset="0"/>
              </a:defRPr>
            </a:lvl4pPr>
            <a:lvl5pPr marL="0" lvl="4" indent="0">
              <a:lnSpc>
                <a:spcPct val="100000"/>
              </a:lnSpc>
              <a:spcBef>
                <a:spcPts val="0"/>
              </a:spcBef>
              <a:spcAft>
                <a:spcPts val="0"/>
              </a:spcAft>
              <a:buClrTx/>
              <a:buFont typeface="Trebuchet MS" panose="020B0603020202020204" pitchFamily="34" charset="0"/>
              <a:buChar char="​"/>
              <a:defRPr sz="2400" b="1">
                <a:latin typeface="Trebuchet MS" panose="020B0603020202020204" pitchFamily="34" charset="0"/>
                <a:sym typeface="Trebuchet MS" panose="020B0603020202020204" pitchFamily="34" charset="0"/>
              </a:defRPr>
            </a:lvl5pPr>
            <a:lvl6pPr marL="324000" lvl="5" indent="-216000">
              <a:lnSpc>
                <a:spcPct val="100000"/>
              </a:lnSpc>
              <a:spcBef>
                <a:spcPts val="0"/>
              </a:spcBef>
              <a:spcAft>
                <a:spcPts val="0"/>
              </a:spcAft>
              <a:buClr>
                <a:schemeClr val="tx2"/>
              </a:buClr>
              <a:buFont typeface="Trebuchet MS" panose="020B0603020202020204" pitchFamily="34" charset="0"/>
              <a:buChar char="•"/>
              <a:defRPr sz="2400">
                <a:latin typeface="Trebuchet MS" panose="020B0603020202020204" pitchFamily="34" charset="0"/>
                <a:sym typeface="Trebuchet MS" panose="020B0603020202020204" pitchFamily="34" charset="0"/>
              </a:defRPr>
            </a:lvl6pPr>
            <a:lvl7pPr marL="0" lvl="6" indent="0">
              <a:lnSpc>
                <a:spcPct val="100000"/>
              </a:lnSpc>
              <a:spcBef>
                <a:spcPts val="0"/>
              </a:spcBef>
              <a:spcAft>
                <a:spcPts val="0"/>
              </a:spcAft>
              <a:buFont typeface="Trebuchet MS" panose="020B0603020202020204" pitchFamily="34" charset="0"/>
              <a:buChar char="​"/>
              <a:defRPr sz="5400" baseline="0">
                <a:latin typeface="Trebuchet MS" panose="020B0603020202020204" pitchFamily="34" charset="0"/>
                <a:sym typeface="Trebuchet MS" panose="020B0603020202020204" pitchFamily="34" charset="0"/>
              </a:defRPr>
            </a:lvl7pPr>
            <a:lvl8pPr marL="0" lvl="7" indent="0">
              <a:lnSpc>
                <a:spcPct val="100000"/>
              </a:lnSpc>
              <a:spcBef>
                <a:spcPts val="0"/>
              </a:spcBef>
              <a:spcAft>
                <a:spcPts val="0"/>
              </a:spcAft>
              <a:buFont typeface="Trebuchet MS" panose="020B0603020202020204" pitchFamily="34" charset="0"/>
              <a:buChar char="​"/>
              <a:defRPr sz="6600">
                <a:solidFill>
                  <a:schemeClr val="tx2"/>
                </a:solidFill>
                <a:latin typeface="Trebuchet MS" panose="020B0603020202020204" pitchFamily="34" charset="0"/>
                <a:sym typeface="Trebuchet MS" panose="020B0603020202020204" pitchFamily="34" charset="0"/>
              </a:defRPr>
            </a:lvl8pPr>
            <a:lvl9pPr marL="0" lvl="8" indent="0">
              <a:lnSpc>
                <a:spcPct val="100000"/>
              </a:lnSpc>
              <a:spcBef>
                <a:spcPts val="0"/>
              </a:spcBef>
              <a:spcAft>
                <a:spcPts val="0"/>
              </a:spcAft>
              <a:buFont typeface="Trebuchet MS" panose="020B0603020202020204" pitchFamily="34" charset="0"/>
              <a:buChar char="​"/>
              <a:defRPr sz="4400">
                <a:solidFill>
                  <a:schemeClr val="tx2"/>
                </a:solidFill>
                <a:latin typeface="Trebuchet MS" panose="020B0603020202020204" pitchFamily="34" charset="0"/>
                <a:sym typeface="Trebuchet MS" panose="020B0603020202020204" pitchFamily="34" charset="0"/>
              </a:defRPr>
            </a:lvl9pPr>
          </a:lstStyle>
          <a:p>
            <a:pPr>
              <a:spcBef>
                <a:spcPts val="600"/>
              </a:spcBef>
              <a:buSzPct val="100000"/>
            </a:pPr>
            <a:r>
              <a:rPr lang="en-US" sz="1200" err="1">
                <a:solidFill>
                  <a:srgbClr val="03522D"/>
                </a:solidFill>
              </a:rPr>
              <a:t>基於地理位置</a:t>
            </a:r>
            <a:endParaRPr lang="en-US" sz="1200">
              <a:solidFill>
                <a:srgbClr val="03522D"/>
              </a:solidFill>
            </a:endParaRPr>
          </a:p>
          <a:p>
            <a:pPr marL="233280" lvl="1" indent="-155520">
              <a:spcBef>
                <a:spcPts val="600"/>
              </a:spcBef>
              <a:buClr>
                <a:schemeClr val="tx2">
                  <a:lumMod val="100000"/>
                </a:schemeClr>
              </a:buClr>
              <a:buSzPct val="100000"/>
            </a:pPr>
            <a:r>
              <a:rPr lang="en-US" altLang="zh-TW" sz="1200">
                <a:solidFill>
                  <a:srgbClr val="29BA74"/>
                </a:solidFill>
              </a:rPr>
              <a:t>5+</a:t>
            </a:r>
            <a:r>
              <a:rPr lang="zh-TW" altLang="en-US" sz="1200">
                <a:solidFill>
                  <a:srgbClr val="29BA74"/>
                </a:solidFill>
              </a:rPr>
              <a:t>個優惠</a:t>
            </a:r>
            <a:endParaRPr lang="en-US" altLang="zh-TW" sz="1200">
              <a:solidFill>
                <a:schemeClr val="tx1">
                  <a:lumMod val="100000"/>
                </a:schemeClr>
              </a:solidFill>
            </a:endParaRPr>
          </a:p>
        </p:txBody>
      </p:sp>
      <p:grpSp>
        <p:nvGrpSpPr>
          <p:cNvPr id="85" name="bcgIcons_OpportunityMapping">
            <a:extLst>
              <a:ext uri="{FF2B5EF4-FFF2-40B4-BE49-F238E27FC236}">
                <a16:creationId xmlns:a16="http://schemas.microsoft.com/office/drawing/2014/main" id="{7D23F4D7-8833-4327-BB80-AF9FF9E3099E}"/>
              </a:ext>
            </a:extLst>
          </p:cNvPr>
          <p:cNvGrpSpPr>
            <a:grpSpLocks noChangeAspect="1"/>
          </p:cNvGrpSpPr>
          <p:nvPr/>
        </p:nvGrpSpPr>
        <p:grpSpPr bwMode="auto">
          <a:xfrm>
            <a:off x="8734945" y="5787970"/>
            <a:ext cx="416494" cy="416881"/>
            <a:chOff x="1682" y="0"/>
            <a:chExt cx="4316" cy="4320"/>
          </a:xfrm>
        </p:grpSpPr>
        <p:sp>
          <p:nvSpPr>
            <p:cNvPr id="124" name="AutoShape 13">
              <a:extLst>
                <a:ext uri="{FF2B5EF4-FFF2-40B4-BE49-F238E27FC236}">
                  <a16:creationId xmlns:a16="http://schemas.microsoft.com/office/drawing/2014/main" id="{154D8A9C-CD2E-4CA0-A83B-A900F511832D}"/>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5837" tIns="32918" rIns="65837" bIns="32918" numCol="1" anchor="t" anchorCtr="0" compatLnSpc="1">
              <a:prstTxWarp prst="textNoShape">
                <a:avLst/>
              </a:prstTxWarp>
            </a:bodyPr>
            <a:lstStyle/>
            <a:p>
              <a:endParaRPr lang="en-US"/>
            </a:p>
          </p:txBody>
        </p:sp>
        <p:sp>
          <p:nvSpPr>
            <p:cNvPr id="125" name="Freeform 15">
              <a:extLst>
                <a:ext uri="{FF2B5EF4-FFF2-40B4-BE49-F238E27FC236}">
                  <a16:creationId xmlns:a16="http://schemas.microsoft.com/office/drawing/2014/main" id="{365D2875-94C7-4F7E-8925-5FF76D6D104D}"/>
                </a:ext>
              </a:extLst>
            </p:cNvPr>
            <p:cNvSpPr>
              <a:spLocks noEditPoints="1"/>
            </p:cNvSpPr>
            <p:nvPr/>
          </p:nvSpPr>
          <p:spPr bwMode="auto">
            <a:xfrm>
              <a:off x="2604" y="877"/>
              <a:ext cx="2493" cy="1855"/>
            </a:xfrm>
            <a:custGeom>
              <a:avLst/>
              <a:gdLst>
                <a:gd name="T0" fmla="*/ 300 w 1331"/>
                <a:gd name="T1" fmla="*/ 3 h 989"/>
                <a:gd name="T2" fmla="*/ 0 w 1331"/>
                <a:gd name="T3" fmla="*/ 310 h 989"/>
                <a:gd name="T4" fmla="*/ 294 w 1331"/>
                <a:gd name="T5" fmla="*/ 984 h 989"/>
                <a:gd name="T6" fmla="*/ 306 w 1331"/>
                <a:gd name="T7" fmla="*/ 984 h 989"/>
                <a:gd name="T8" fmla="*/ 597 w 1331"/>
                <a:gd name="T9" fmla="*/ 310 h 989"/>
                <a:gd name="T10" fmla="*/ 300 w 1331"/>
                <a:gd name="T11" fmla="*/ 3 h 989"/>
                <a:gd name="T12" fmla="*/ 419 w 1331"/>
                <a:gd name="T13" fmla="*/ 226 h 989"/>
                <a:gd name="T14" fmla="*/ 364 w 1331"/>
                <a:gd name="T15" fmla="*/ 279 h 989"/>
                <a:gd name="T16" fmla="*/ 362 w 1331"/>
                <a:gd name="T17" fmla="*/ 284 h 989"/>
                <a:gd name="T18" fmla="*/ 374 w 1331"/>
                <a:gd name="T19" fmla="*/ 359 h 989"/>
                <a:gd name="T20" fmla="*/ 367 w 1331"/>
                <a:gd name="T21" fmla="*/ 364 h 989"/>
                <a:gd name="T22" fmla="*/ 300 w 1331"/>
                <a:gd name="T23" fmla="*/ 328 h 989"/>
                <a:gd name="T24" fmla="*/ 295 w 1331"/>
                <a:gd name="T25" fmla="*/ 328 h 989"/>
                <a:gd name="T26" fmla="*/ 228 w 1331"/>
                <a:gd name="T27" fmla="*/ 363 h 989"/>
                <a:gd name="T28" fmla="*/ 220 w 1331"/>
                <a:gd name="T29" fmla="*/ 357 h 989"/>
                <a:gd name="T30" fmla="*/ 234 w 1331"/>
                <a:gd name="T31" fmla="*/ 282 h 989"/>
                <a:gd name="T32" fmla="*/ 232 w 1331"/>
                <a:gd name="T33" fmla="*/ 277 h 989"/>
                <a:gd name="T34" fmla="*/ 179 w 1331"/>
                <a:gd name="T35" fmla="*/ 224 h 989"/>
                <a:gd name="T36" fmla="*/ 182 w 1331"/>
                <a:gd name="T37" fmla="*/ 215 h 989"/>
                <a:gd name="T38" fmla="*/ 256 w 1331"/>
                <a:gd name="T39" fmla="*/ 204 h 989"/>
                <a:gd name="T40" fmla="*/ 261 w 1331"/>
                <a:gd name="T41" fmla="*/ 202 h 989"/>
                <a:gd name="T42" fmla="*/ 295 w 1331"/>
                <a:gd name="T43" fmla="*/ 134 h 989"/>
                <a:gd name="T44" fmla="*/ 304 w 1331"/>
                <a:gd name="T45" fmla="*/ 134 h 989"/>
                <a:gd name="T46" fmla="*/ 337 w 1331"/>
                <a:gd name="T47" fmla="*/ 202 h 989"/>
                <a:gd name="T48" fmla="*/ 341 w 1331"/>
                <a:gd name="T49" fmla="*/ 206 h 989"/>
                <a:gd name="T50" fmla="*/ 416 w 1331"/>
                <a:gd name="T51" fmla="*/ 217 h 989"/>
                <a:gd name="T52" fmla="*/ 419 w 1331"/>
                <a:gd name="T53" fmla="*/ 226 h 989"/>
                <a:gd name="T54" fmla="*/ 1146 w 1331"/>
                <a:gd name="T55" fmla="*/ 0 h 989"/>
                <a:gd name="T56" fmla="*/ 958 w 1331"/>
                <a:gd name="T57" fmla="*/ 192 h 989"/>
                <a:gd name="T58" fmla="*/ 1142 w 1331"/>
                <a:gd name="T59" fmla="*/ 613 h 989"/>
                <a:gd name="T60" fmla="*/ 1149 w 1331"/>
                <a:gd name="T61" fmla="*/ 613 h 989"/>
                <a:gd name="T62" fmla="*/ 1331 w 1331"/>
                <a:gd name="T63" fmla="*/ 192 h 989"/>
                <a:gd name="T64" fmla="*/ 1146 w 1331"/>
                <a:gd name="T65" fmla="*/ 0 h 989"/>
                <a:gd name="T66" fmla="*/ 1220 w 1331"/>
                <a:gd name="T67" fmla="*/ 155 h 989"/>
                <a:gd name="T68" fmla="*/ 1186 w 1331"/>
                <a:gd name="T69" fmla="*/ 188 h 989"/>
                <a:gd name="T70" fmla="*/ 1185 w 1331"/>
                <a:gd name="T71" fmla="*/ 191 h 989"/>
                <a:gd name="T72" fmla="*/ 1192 w 1331"/>
                <a:gd name="T73" fmla="*/ 238 h 989"/>
                <a:gd name="T74" fmla="*/ 1187 w 1331"/>
                <a:gd name="T75" fmla="*/ 241 h 989"/>
                <a:gd name="T76" fmla="*/ 1146 w 1331"/>
                <a:gd name="T77" fmla="*/ 219 h 989"/>
                <a:gd name="T78" fmla="*/ 1143 w 1331"/>
                <a:gd name="T79" fmla="*/ 218 h 989"/>
                <a:gd name="T80" fmla="*/ 1101 w 1331"/>
                <a:gd name="T81" fmla="*/ 240 h 989"/>
                <a:gd name="T82" fmla="*/ 1096 w 1331"/>
                <a:gd name="T83" fmla="*/ 237 h 989"/>
                <a:gd name="T84" fmla="*/ 1104 w 1331"/>
                <a:gd name="T85" fmla="*/ 190 h 989"/>
                <a:gd name="T86" fmla="*/ 1103 w 1331"/>
                <a:gd name="T87" fmla="*/ 187 h 989"/>
                <a:gd name="T88" fmla="*/ 1070 w 1331"/>
                <a:gd name="T89" fmla="*/ 153 h 989"/>
                <a:gd name="T90" fmla="*/ 1072 w 1331"/>
                <a:gd name="T91" fmla="*/ 148 h 989"/>
                <a:gd name="T92" fmla="*/ 1118 w 1331"/>
                <a:gd name="T93" fmla="*/ 141 h 989"/>
                <a:gd name="T94" fmla="*/ 1121 w 1331"/>
                <a:gd name="T95" fmla="*/ 139 h 989"/>
                <a:gd name="T96" fmla="*/ 1142 w 1331"/>
                <a:gd name="T97" fmla="*/ 97 h 989"/>
                <a:gd name="T98" fmla="*/ 1149 w 1331"/>
                <a:gd name="T99" fmla="*/ 97 h 989"/>
                <a:gd name="T100" fmla="*/ 1169 w 1331"/>
                <a:gd name="T101" fmla="*/ 140 h 989"/>
                <a:gd name="T102" fmla="*/ 1171 w 1331"/>
                <a:gd name="T103" fmla="*/ 142 h 989"/>
                <a:gd name="T104" fmla="*/ 1218 w 1331"/>
                <a:gd name="T105" fmla="*/ 149 h 989"/>
                <a:gd name="T106" fmla="*/ 1220 w 1331"/>
                <a:gd name="T107" fmla="*/ 155 h 9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31" h="989">
                  <a:moveTo>
                    <a:pt x="300" y="3"/>
                  </a:moveTo>
                  <a:cubicBezTo>
                    <a:pt x="134" y="3"/>
                    <a:pt x="0" y="142"/>
                    <a:pt x="0" y="310"/>
                  </a:cubicBezTo>
                  <a:cubicBezTo>
                    <a:pt x="0" y="465"/>
                    <a:pt x="251" y="910"/>
                    <a:pt x="294" y="984"/>
                  </a:cubicBezTo>
                  <a:cubicBezTo>
                    <a:pt x="296" y="989"/>
                    <a:pt x="303" y="989"/>
                    <a:pt x="306" y="984"/>
                  </a:cubicBezTo>
                  <a:cubicBezTo>
                    <a:pt x="348" y="910"/>
                    <a:pt x="597" y="465"/>
                    <a:pt x="597" y="310"/>
                  </a:cubicBezTo>
                  <a:cubicBezTo>
                    <a:pt x="597" y="142"/>
                    <a:pt x="466" y="3"/>
                    <a:pt x="300" y="3"/>
                  </a:cubicBezTo>
                  <a:close/>
                  <a:moveTo>
                    <a:pt x="419" y="226"/>
                  </a:moveTo>
                  <a:cubicBezTo>
                    <a:pt x="364" y="279"/>
                    <a:pt x="364" y="279"/>
                    <a:pt x="364" y="279"/>
                  </a:cubicBezTo>
                  <a:cubicBezTo>
                    <a:pt x="363" y="280"/>
                    <a:pt x="362" y="282"/>
                    <a:pt x="362" y="284"/>
                  </a:cubicBezTo>
                  <a:cubicBezTo>
                    <a:pt x="374" y="359"/>
                    <a:pt x="374" y="359"/>
                    <a:pt x="374" y="359"/>
                  </a:cubicBezTo>
                  <a:cubicBezTo>
                    <a:pt x="375" y="363"/>
                    <a:pt x="371" y="366"/>
                    <a:pt x="367" y="364"/>
                  </a:cubicBezTo>
                  <a:cubicBezTo>
                    <a:pt x="300" y="328"/>
                    <a:pt x="300" y="328"/>
                    <a:pt x="300" y="328"/>
                  </a:cubicBezTo>
                  <a:cubicBezTo>
                    <a:pt x="298" y="327"/>
                    <a:pt x="297" y="327"/>
                    <a:pt x="295" y="328"/>
                  </a:cubicBezTo>
                  <a:cubicBezTo>
                    <a:pt x="228" y="363"/>
                    <a:pt x="228" y="363"/>
                    <a:pt x="228" y="363"/>
                  </a:cubicBezTo>
                  <a:cubicBezTo>
                    <a:pt x="224" y="365"/>
                    <a:pt x="219" y="361"/>
                    <a:pt x="220" y="357"/>
                  </a:cubicBezTo>
                  <a:cubicBezTo>
                    <a:pt x="234" y="282"/>
                    <a:pt x="234" y="282"/>
                    <a:pt x="234" y="282"/>
                  </a:cubicBezTo>
                  <a:cubicBezTo>
                    <a:pt x="234" y="280"/>
                    <a:pt x="234" y="278"/>
                    <a:pt x="232" y="277"/>
                  </a:cubicBezTo>
                  <a:cubicBezTo>
                    <a:pt x="179" y="224"/>
                    <a:pt x="179" y="224"/>
                    <a:pt x="179" y="224"/>
                  </a:cubicBezTo>
                  <a:cubicBezTo>
                    <a:pt x="176" y="221"/>
                    <a:pt x="177" y="215"/>
                    <a:pt x="182" y="215"/>
                  </a:cubicBezTo>
                  <a:cubicBezTo>
                    <a:pt x="256" y="204"/>
                    <a:pt x="256" y="204"/>
                    <a:pt x="256" y="204"/>
                  </a:cubicBezTo>
                  <a:cubicBezTo>
                    <a:pt x="258" y="204"/>
                    <a:pt x="260" y="203"/>
                    <a:pt x="261" y="202"/>
                  </a:cubicBezTo>
                  <a:cubicBezTo>
                    <a:pt x="295" y="134"/>
                    <a:pt x="295" y="134"/>
                    <a:pt x="295" y="134"/>
                  </a:cubicBezTo>
                  <a:cubicBezTo>
                    <a:pt x="297" y="130"/>
                    <a:pt x="302" y="130"/>
                    <a:pt x="304" y="134"/>
                  </a:cubicBezTo>
                  <a:cubicBezTo>
                    <a:pt x="337" y="202"/>
                    <a:pt x="337" y="202"/>
                    <a:pt x="337" y="202"/>
                  </a:cubicBezTo>
                  <a:cubicBezTo>
                    <a:pt x="338" y="204"/>
                    <a:pt x="339" y="205"/>
                    <a:pt x="341" y="206"/>
                  </a:cubicBezTo>
                  <a:cubicBezTo>
                    <a:pt x="416" y="217"/>
                    <a:pt x="416" y="217"/>
                    <a:pt x="416" y="217"/>
                  </a:cubicBezTo>
                  <a:cubicBezTo>
                    <a:pt x="420" y="218"/>
                    <a:pt x="422" y="223"/>
                    <a:pt x="419" y="226"/>
                  </a:cubicBezTo>
                  <a:close/>
                  <a:moveTo>
                    <a:pt x="1146" y="0"/>
                  </a:moveTo>
                  <a:cubicBezTo>
                    <a:pt x="1042" y="0"/>
                    <a:pt x="958" y="87"/>
                    <a:pt x="958" y="192"/>
                  </a:cubicBezTo>
                  <a:cubicBezTo>
                    <a:pt x="958" y="289"/>
                    <a:pt x="1115" y="567"/>
                    <a:pt x="1142" y="613"/>
                  </a:cubicBezTo>
                  <a:cubicBezTo>
                    <a:pt x="1144" y="616"/>
                    <a:pt x="1148" y="616"/>
                    <a:pt x="1149" y="613"/>
                  </a:cubicBezTo>
                  <a:cubicBezTo>
                    <a:pt x="1176" y="567"/>
                    <a:pt x="1331" y="289"/>
                    <a:pt x="1331" y="192"/>
                  </a:cubicBezTo>
                  <a:cubicBezTo>
                    <a:pt x="1331" y="87"/>
                    <a:pt x="1249" y="0"/>
                    <a:pt x="1146" y="0"/>
                  </a:cubicBezTo>
                  <a:close/>
                  <a:moveTo>
                    <a:pt x="1220" y="155"/>
                  </a:moveTo>
                  <a:cubicBezTo>
                    <a:pt x="1186" y="188"/>
                    <a:pt x="1186" y="188"/>
                    <a:pt x="1186" y="188"/>
                  </a:cubicBezTo>
                  <a:cubicBezTo>
                    <a:pt x="1185" y="188"/>
                    <a:pt x="1185" y="190"/>
                    <a:pt x="1185" y="191"/>
                  </a:cubicBezTo>
                  <a:cubicBezTo>
                    <a:pt x="1192" y="238"/>
                    <a:pt x="1192" y="238"/>
                    <a:pt x="1192" y="238"/>
                  </a:cubicBezTo>
                  <a:cubicBezTo>
                    <a:pt x="1193" y="240"/>
                    <a:pt x="1190" y="242"/>
                    <a:pt x="1187" y="241"/>
                  </a:cubicBezTo>
                  <a:cubicBezTo>
                    <a:pt x="1146" y="219"/>
                    <a:pt x="1146" y="219"/>
                    <a:pt x="1146" y="219"/>
                  </a:cubicBezTo>
                  <a:cubicBezTo>
                    <a:pt x="1145" y="218"/>
                    <a:pt x="1144" y="218"/>
                    <a:pt x="1143" y="218"/>
                  </a:cubicBezTo>
                  <a:cubicBezTo>
                    <a:pt x="1101" y="240"/>
                    <a:pt x="1101" y="240"/>
                    <a:pt x="1101" y="240"/>
                  </a:cubicBezTo>
                  <a:cubicBezTo>
                    <a:pt x="1098" y="241"/>
                    <a:pt x="1095" y="239"/>
                    <a:pt x="1096" y="237"/>
                  </a:cubicBezTo>
                  <a:cubicBezTo>
                    <a:pt x="1104" y="190"/>
                    <a:pt x="1104" y="190"/>
                    <a:pt x="1104" y="190"/>
                  </a:cubicBezTo>
                  <a:cubicBezTo>
                    <a:pt x="1104" y="189"/>
                    <a:pt x="1104" y="188"/>
                    <a:pt x="1103" y="187"/>
                  </a:cubicBezTo>
                  <a:cubicBezTo>
                    <a:pt x="1070" y="153"/>
                    <a:pt x="1070" y="153"/>
                    <a:pt x="1070" y="153"/>
                  </a:cubicBezTo>
                  <a:cubicBezTo>
                    <a:pt x="1068" y="151"/>
                    <a:pt x="1069" y="148"/>
                    <a:pt x="1072" y="148"/>
                  </a:cubicBezTo>
                  <a:cubicBezTo>
                    <a:pt x="1118" y="141"/>
                    <a:pt x="1118" y="141"/>
                    <a:pt x="1118" y="141"/>
                  </a:cubicBezTo>
                  <a:cubicBezTo>
                    <a:pt x="1120" y="141"/>
                    <a:pt x="1121" y="141"/>
                    <a:pt x="1121" y="139"/>
                  </a:cubicBezTo>
                  <a:cubicBezTo>
                    <a:pt x="1142" y="97"/>
                    <a:pt x="1142" y="97"/>
                    <a:pt x="1142" y="97"/>
                  </a:cubicBezTo>
                  <a:cubicBezTo>
                    <a:pt x="1144" y="95"/>
                    <a:pt x="1147" y="95"/>
                    <a:pt x="1149" y="97"/>
                  </a:cubicBezTo>
                  <a:cubicBezTo>
                    <a:pt x="1169" y="140"/>
                    <a:pt x="1169" y="140"/>
                    <a:pt x="1169" y="140"/>
                  </a:cubicBezTo>
                  <a:cubicBezTo>
                    <a:pt x="1169" y="141"/>
                    <a:pt x="1170" y="142"/>
                    <a:pt x="1171" y="142"/>
                  </a:cubicBezTo>
                  <a:cubicBezTo>
                    <a:pt x="1218" y="149"/>
                    <a:pt x="1218" y="149"/>
                    <a:pt x="1218" y="149"/>
                  </a:cubicBezTo>
                  <a:cubicBezTo>
                    <a:pt x="1221" y="150"/>
                    <a:pt x="1222" y="153"/>
                    <a:pt x="1220" y="155"/>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5837" tIns="32918" rIns="65837" bIns="32918" numCol="1" anchor="t" anchorCtr="0" compatLnSpc="1">
              <a:prstTxWarp prst="textNoShape">
                <a:avLst/>
              </a:prstTxWarp>
            </a:bodyPr>
            <a:lstStyle/>
            <a:p>
              <a:endParaRPr lang="en-US"/>
            </a:p>
          </p:txBody>
        </p:sp>
        <p:sp>
          <p:nvSpPr>
            <p:cNvPr id="126" name="Freeform 16">
              <a:extLst>
                <a:ext uri="{FF2B5EF4-FFF2-40B4-BE49-F238E27FC236}">
                  <a16:creationId xmlns:a16="http://schemas.microsoft.com/office/drawing/2014/main" id="{9F226803-9A9A-4230-80B9-4D6317B593DF}"/>
                </a:ext>
              </a:extLst>
            </p:cNvPr>
            <p:cNvSpPr>
              <a:spLocks noEditPoints="1"/>
            </p:cNvSpPr>
            <p:nvPr/>
          </p:nvSpPr>
          <p:spPr bwMode="auto">
            <a:xfrm>
              <a:off x="1864" y="712"/>
              <a:ext cx="3956" cy="2665"/>
            </a:xfrm>
            <a:custGeom>
              <a:avLst/>
              <a:gdLst>
                <a:gd name="T0" fmla="*/ 663 w 2112"/>
                <a:gd name="T1" fmla="*/ 1199 h 1421"/>
                <a:gd name="T2" fmla="*/ 469 w 2112"/>
                <a:gd name="T3" fmla="*/ 844 h 1421"/>
                <a:gd name="T4" fmla="*/ 695 w 2112"/>
                <a:gd name="T5" fmla="*/ 0 h 1421"/>
                <a:gd name="T6" fmla="*/ 920 w 2112"/>
                <a:gd name="T7" fmla="*/ 844 h 1421"/>
                <a:gd name="T8" fmla="*/ 727 w 2112"/>
                <a:gd name="T9" fmla="*/ 1199 h 1421"/>
                <a:gd name="T10" fmla="*/ 695 w 2112"/>
                <a:gd name="T11" fmla="*/ 1218 h 1421"/>
                <a:gd name="T12" fmla="*/ 352 w 2112"/>
                <a:gd name="T13" fmla="*/ 395 h 1421"/>
                <a:gd name="T14" fmla="*/ 662 w 2112"/>
                <a:gd name="T15" fmla="*/ 1110 h 1421"/>
                <a:gd name="T16" fmla="*/ 728 w 2112"/>
                <a:gd name="T17" fmla="*/ 1110 h 1421"/>
                <a:gd name="T18" fmla="*/ 1036 w 2112"/>
                <a:gd name="T19" fmla="*/ 395 h 1421"/>
                <a:gd name="T20" fmla="*/ 1344 w 2112"/>
                <a:gd name="T21" fmla="*/ 593 h 1421"/>
                <a:gd name="T22" fmla="*/ 1081 w 2112"/>
                <a:gd name="T23" fmla="*/ 587 h 1421"/>
                <a:gd name="T24" fmla="*/ 1364 w 2112"/>
                <a:gd name="T25" fmla="*/ 631 h 1421"/>
                <a:gd name="T26" fmla="*/ 2110 w 2112"/>
                <a:gd name="T27" fmla="*/ 1377 h 1421"/>
                <a:gd name="T28" fmla="*/ 1876 w 2112"/>
                <a:gd name="T29" fmla="*/ 587 h 1421"/>
                <a:gd name="T30" fmla="*/ 1736 w 2112"/>
                <a:gd name="T31" fmla="*/ 592 h 1421"/>
                <a:gd name="T32" fmla="*/ 1876 w 2112"/>
                <a:gd name="T33" fmla="*/ 631 h 1421"/>
                <a:gd name="T34" fmla="*/ 2064 w 2112"/>
                <a:gd name="T35" fmla="*/ 1377 h 1421"/>
                <a:gd name="T36" fmla="*/ 232 w 2112"/>
                <a:gd name="T37" fmla="*/ 631 h 1421"/>
                <a:gd name="T38" fmla="*/ 324 w 2112"/>
                <a:gd name="T39" fmla="*/ 631 h 1421"/>
                <a:gd name="T40" fmla="*/ 236 w 2112"/>
                <a:gd name="T41" fmla="*/ 587 h 1421"/>
                <a:gd name="T42" fmla="*/ 2 w 2112"/>
                <a:gd name="T43" fmla="*/ 1377 h 1421"/>
                <a:gd name="T44" fmla="*/ 45 w 2112"/>
                <a:gd name="T45" fmla="*/ 1421 h 1421"/>
                <a:gd name="T46" fmla="*/ 2104 w 2112"/>
                <a:gd name="T47" fmla="*/ 1405 h 1421"/>
                <a:gd name="T48" fmla="*/ 1541 w 2112"/>
                <a:gd name="T49" fmla="*/ 826 h 1421"/>
                <a:gd name="T50" fmla="*/ 1487 w 2112"/>
                <a:gd name="T51" fmla="*/ 765 h 1421"/>
                <a:gd name="T52" fmla="*/ 1276 w 2112"/>
                <a:gd name="T53" fmla="*/ 270 h 1421"/>
                <a:gd name="T54" fmla="*/ 1804 w 2112"/>
                <a:gd name="T55" fmla="*/ 270 h 1421"/>
                <a:gd name="T56" fmla="*/ 1594 w 2112"/>
                <a:gd name="T57" fmla="*/ 765 h 1421"/>
                <a:gd name="T58" fmla="*/ 1541 w 2112"/>
                <a:gd name="T59" fmla="*/ 826 h 1421"/>
                <a:gd name="T60" fmla="*/ 1541 w 2112"/>
                <a:gd name="T61" fmla="*/ 44 h 1421"/>
                <a:gd name="T62" fmla="*/ 1423 w 2112"/>
                <a:gd name="T63" fmla="*/ 553 h 1421"/>
                <a:gd name="T64" fmla="*/ 1541 w 2112"/>
                <a:gd name="T65" fmla="*/ 770 h 1421"/>
                <a:gd name="T66" fmla="*/ 1658 w 2112"/>
                <a:gd name="T67" fmla="*/ 553 h 1421"/>
                <a:gd name="T68" fmla="*/ 1541 w 2112"/>
                <a:gd name="T69" fmla="*/ 44 h 1421"/>
                <a:gd name="T70" fmla="*/ 1195 w 2112"/>
                <a:gd name="T71" fmla="*/ 908 h 1421"/>
                <a:gd name="T72" fmla="*/ 1195 w 2112"/>
                <a:gd name="T73" fmla="*/ 826 h 1421"/>
                <a:gd name="T74" fmla="*/ 1449 w 2112"/>
                <a:gd name="T75" fmla="*/ 787 h 1421"/>
                <a:gd name="T76" fmla="*/ 1195 w 2112"/>
                <a:gd name="T77" fmla="*/ 782 h 1421"/>
                <a:gd name="T78" fmla="*/ 1195 w 2112"/>
                <a:gd name="T79" fmla="*/ 952 h 1421"/>
                <a:gd name="T80" fmla="*/ 1659 w 2112"/>
                <a:gd name="T81" fmla="*/ 1063 h 1421"/>
                <a:gd name="T82" fmla="*/ 793 w 2112"/>
                <a:gd name="T83" fmla="*/ 1174 h 1421"/>
                <a:gd name="T84" fmla="*/ 1548 w 2112"/>
                <a:gd name="T85" fmla="*/ 1218 h 1421"/>
                <a:gd name="T86" fmla="*/ 1548 w 2112"/>
                <a:gd name="T87" fmla="*/ 908 h 1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2" h="1421">
                  <a:moveTo>
                    <a:pt x="695" y="1218"/>
                  </a:moveTo>
                  <a:cubicBezTo>
                    <a:pt x="681" y="1218"/>
                    <a:pt x="669" y="1211"/>
                    <a:pt x="663" y="1199"/>
                  </a:cubicBezTo>
                  <a:cubicBezTo>
                    <a:pt x="624" y="1132"/>
                    <a:pt x="624" y="1132"/>
                    <a:pt x="624" y="1132"/>
                  </a:cubicBezTo>
                  <a:cubicBezTo>
                    <a:pt x="623" y="1131"/>
                    <a:pt x="545" y="997"/>
                    <a:pt x="469" y="844"/>
                  </a:cubicBezTo>
                  <a:cubicBezTo>
                    <a:pt x="360" y="627"/>
                    <a:pt x="308" y="480"/>
                    <a:pt x="308" y="395"/>
                  </a:cubicBezTo>
                  <a:cubicBezTo>
                    <a:pt x="308" y="177"/>
                    <a:pt x="481" y="0"/>
                    <a:pt x="695" y="0"/>
                  </a:cubicBezTo>
                  <a:cubicBezTo>
                    <a:pt x="907" y="0"/>
                    <a:pt x="1080" y="177"/>
                    <a:pt x="1080" y="395"/>
                  </a:cubicBezTo>
                  <a:cubicBezTo>
                    <a:pt x="1080" y="480"/>
                    <a:pt x="1027" y="627"/>
                    <a:pt x="920" y="844"/>
                  </a:cubicBezTo>
                  <a:cubicBezTo>
                    <a:pt x="844" y="997"/>
                    <a:pt x="767" y="1131"/>
                    <a:pt x="766" y="1132"/>
                  </a:cubicBezTo>
                  <a:cubicBezTo>
                    <a:pt x="727" y="1199"/>
                    <a:pt x="727" y="1199"/>
                    <a:pt x="727" y="1199"/>
                  </a:cubicBezTo>
                  <a:cubicBezTo>
                    <a:pt x="721" y="1211"/>
                    <a:pt x="709" y="1218"/>
                    <a:pt x="695" y="1218"/>
                  </a:cubicBezTo>
                  <a:cubicBezTo>
                    <a:pt x="695" y="1218"/>
                    <a:pt x="695" y="1218"/>
                    <a:pt x="695" y="1218"/>
                  </a:cubicBezTo>
                  <a:close/>
                  <a:moveTo>
                    <a:pt x="695" y="44"/>
                  </a:moveTo>
                  <a:cubicBezTo>
                    <a:pt x="506" y="44"/>
                    <a:pt x="352" y="202"/>
                    <a:pt x="352" y="395"/>
                  </a:cubicBezTo>
                  <a:cubicBezTo>
                    <a:pt x="352" y="473"/>
                    <a:pt x="403" y="614"/>
                    <a:pt x="508" y="825"/>
                  </a:cubicBezTo>
                  <a:cubicBezTo>
                    <a:pt x="584" y="976"/>
                    <a:pt x="661" y="1109"/>
                    <a:pt x="662" y="1110"/>
                  </a:cubicBezTo>
                  <a:cubicBezTo>
                    <a:pt x="695" y="1167"/>
                    <a:pt x="695" y="1167"/>
                    <a:pt x="695" y="1167"/>
                  </a:cubicBezTo>
                  <a:cubicBezTo>
                    <a:pt x="728" y="1110"/>
                    <a:pt x="728" y="1110"/>
                    <a:pt x="728" y="1110"/>
                  </a:cubicBezTo>
                  <a:cubicBezTo>
                    <a:pt x="729" y="1109"/>
                    <a:pt x="805" y="976"/>
                    <a:pt x="880" y="825"/>
                  </a:cubicBezTo>
                  <a:cubicBezTo>
                    <a:pt x="985" y="614"/>
                    <a:pt x="1036" y="473"/>
                    <a:pt x="1036" y="395"/>
                  </a:cubicBezTo>
                  <a:cubicBezTo>
                    <a:pt x="1036" y="202"/>
                    <a:pt x="883" y="44"/>
                    <a:pt x="695" y="44"/>
                  </a:cubicBezTo>
                  <a:close/>
                  <a:moveTo>
                    <a:pt x="1344" y="593"/>
                  </a:moveTo>
                  <a:cubicBezTo>
                    <a:pt x="1343" y="591"/>
                    <a:pt x="1343" y="589"/>
                    <a:pt x="1342" y="587"/>
                  </a:cubicBezTo>
                  <a:cubicBezTo>
                    <a:pt x="1081" y="587"/>
                    <a:pt x="1081" y="587"/>
                    <a:pt x="1081" y="587"/>
                  </a:cubicBezTo>
                  <a:cubicBezTo>
                    <a:pt x="1076" y="601"/>
                    <a:pt x="1070" y="616"/>
                    <a:pt x="1064" y="631"/>
                  </a:cubicBezTo>
                  <a:cubicBezTo>
                    <a:pt x="1364" y="631"/>
                    <a:pt x="1364" y="631"/>
                    <a:pt x="1364" y="631"/>
                  </a:cubicBezTo>
                  <a:cubicBezTo>
                    <a:pt x="1357" y="619"/>
                    <a:pt x="1351" y="606"/>
                    <a:pt x="1344" y="593"/>
                  </a:cubicBezTo>
                  <a:close/>
                  <a:moveTo>
                    <a:pt x="2110" y="1377"/>
                  </a:moveTo>
                  <a:cubicBezTo>
                    <a:pt x="1921" y="615"/>
                    <a:pt x="1921" y="615"/>
                    <a:pt x="1921" y="615"/>
                  </a:cubicBezTo>
                  <a:cubicBezTo>
                    <a:pt x="1916" y="596"/>
                    <a:pt x="1894" y="587"/>
                    <a:pt x="1876" y="587"/>
                  </a:cubicBezTo>
                  <a:cubicBezTo>
                    <a:pt x="1739" y="587"/>
                    <a:pt x="1739" y="587"/>
                    <a:pt x="1739" y="587"/>
                  </a:cubicBezTo>
                  <a:cubicBezTo>
                    <a:pt x="1738" y="589"/>
                    <a:pt x="1737" y="591"/>
                    <a:pt x="1736" y="592"/>
                  </a:cubicBezTo>
                  <a:cubicBezTo>
                    <a:pt x="1730" y="605"/>
                    <a:pt x="1723" y="618"/>
                    <a:pt x="1717" y="631"/>
                  </a:cubicBezTo>
                  <a:cubicBezTo>
                    <a:pt x="1876" y="631"/>
                    <a:pt x="1876" y="631"/>
                    <a:pt x="1876" y="631"/>
                  </a:cubicBezTo>
                  <a:cubicBezTo>
                    <a:pt x="1877" y="631"/>
                    <a:pt x="1879" y="631"/>
                    <a:pt x="1880" y="631"/>
                  </a:cubicBezTo>
                  <a:cubicBezTo>
                    <a:pt x="2064" y="1377"/>
                    <a:pt x="2064" y="1377"/>
                    <a:pt x="2064" y="1377"/>
                  </a:cubicBezTo>
                  <a:cubicBezTo>
                    <a:pt x="48" y="1377"/>
                    <a:pt x="48" y="1377"/>
                    <a:pt x="48" y="1377"/>
                  </a:cubicBezTo>
                  <a:cubicBezTo>
                    <a:pt x="232" y="631"/>
                    <a:pt x="232" y="631"/>
                    <a:pt x="232" y="631"/>
                  </a:cubicBezTo>
                  <a:cubicBezTo>
                    <a:pt x="233" y="631"/>
                    <a:pt x="235" y="631"/>
                    <a:pt x="236" y="631"/>
                  </a:cubicBezTo>
                  <a:cubicBezTo>
                    <a:pt x="324" y="631"/>
                    <a:pt x="324" y="631"/>
                    <a:pt x="324" y="631"/>
                  </a:cubicBezTo>
                  <a:cubicBezTo>
                    <a:pt x="318" y="616"/>
                    <a:pt x="312" y="601"/>
                    <a:pt x="307" y="587"/>
                  </a:cubicBezTo>
                  <a:cubicBezTo>
                    <a:pt x="236" y="587"/>
                    <a:pt x="236" y="587"/>
                    <a:pt x="236" y="587"/>
                  </a:cubicBezTo>
                  <a:cubicBezTo>
                    <a:pt x="218" y="587"/>
                    <a:pt x="196" y="596"/>
                    <a:pt x="191" y="615"/>
                  </a:cubicBezTo>
                  <a:cubicBezTo>
                    <a:pt x="2" y="1377"/>
                    <a:pt x="2" y="1377"/>
                    <a:pt x="2" y="1377"/>
                  </a:cubicBezTo>
                  <a:cubicBezTo>
                    <a:pt x="0" y="1387"/>
                    <a:pt x="2" y="1397"/>
                    <a:pt x="8" y="1405"/>
                  </a:cubicBezTo>
                  <a:cubicBezTo>
                    <a:pt x="16" y="1415"/>
                    <a:pt x="30" y="1421"/>
                    <a:pt x="45" y="1421"/>
                  </a:cubicBezTo>
                  <a:cubicBezTo>
                    <a:pt x="2067" y="1421"/>
                    <a:pt x="2067" y="1421"/>
                    <a:pt x="2067" y="1421"/>
                  </a:cubicBezTo>
                  <a:cubicBezTo>
                    <a:pt x="2082" y="1421"/>
                    <a:pt x="2096" y="1415"/>
                    <a:pt x="2104" y="1405"/>
                  </a:cubicBezTo>
                  <a:cubicBezTo>
                    <a:pt x="2110" y="1397"/>
                    <a:pt x="2112" y="1387"/>
                    <a:pt x="2110" y="1377"/>
                  </a:cubicBezTo>
                  <a:close/>
                  <a:moveTo>
                    <a:pt x="1541" y="826"/>
                  </a:moveTo>
                  <a:cubicBezTo>
                    <a:pt x="1529" y="826"/>
                    <a:pt x="1519" y="819"/>
                    <a:pt x="1513" y="810"/>
                  </a:cubicBezTo>
                  <a:cubicBezTo>
                    <a:pt x="1487" y="765"/>
                    <a:pt x="1487" y="765"/>
                    <a:pt x="1487" y="765"/>
                  </a:cubicBezTo>
                  <a:cubicBezTo>
                    <a:pt x="1487" y="764"/>
                    <a:pt x="1435" y="675"/>
                    <a:pt x="1384" y="573"/>
                  </a:cubicBezTo>
                  <a:cubicBezTo>
                    <a:pt x="1310" y="425"/>
                    <a:pt x="1276" y="329"/>
                    <a:pt x="1276" y="270"/>
                  </a:cubicBezTo>
                  <a:cubicBezTo>
                    <a:pt x="1276" y="122"/>
                    <a:pt x="1395" y="0"/>
                    <a:pt x="1541" y="0"/>
                  </a:cubicBezTo>
                  <a:cubicBezTo>
                    <a:pt x="1686" y="0"/>
                    <a:pt x="1804" y="122"/>
                    <a:pt x="1804" y="270"/>
                  </a:cubicBezTo>
                  <a:cubicBezTo>
                    <a:pt x="1804" y="329"/>
                    <a:pt x="1770" y="425"/>
                    <a:pt x="1697" y="573"/>
                  </a:cubicBezTo>
                  <a:cubicBezTo>
                    <a:pt x="1647" y="675"/>
                    <a:pt x="1595" y="764"/>
                    <a:pt x="1594" y="765"/>
                  </a:cubicBezTo>
                  <a:cubicBezTo>
                    <a:pt x="1569" y="809"/>
                    <a:pt x="1569" y="809"/>
                    <a:pt x="1569" y="809"/>
                  </a:cubicBezTo>
                  <a:cubicBezTo>
                    <a:pt x="1563" y="819"/>
                    <a:pt x="1552" y="826"/>
                    <a:pt x="1541" y="826"/>
                  </a:cubicBezTo>
                  <a:cubicBezTo>
                    <a:pt x="1541" y="826"/>
                    <a:pt x="1541" y="826"/>
                    <a:pt x="1541" y="826"/>
                  </a:cubicBezTo>
                  <a:close/>
                  <a:moveTo>
                    <a:pt x="1541" y="44"/>
                  </a:moveTo>
                  <a:cubicBezTo>
                    <a:pt x="1419" y="44"/>
                    <a:pt x="1320" y="146"/>
                    <a:pt x="1320" y="270"/>
                  </a:cubicBezTo>
                  <a:cubicBezTo>
                    <a:pt x="1320" y="321"/>
                    <a:pt x="1354" y="416"/>
                    <a:pt x="1423" y="553"/>
                  </a:cubicBezTo>
                  <a:cubicBezTo>
                    <a:pt x="1474" y="655"/>
                    <a:pt x="1525" y="742"/>
                    <a:pt x="1525" y="743"/>
                  </a:cubicBezTo>
                  <a:cubicBezTo>
                    <a:pt x="1541" y="770"/>
                    <a:pt x="1541" y="770"/>
                    <a:pt x="1541" y="770"/>
                  </a:cubicBezTo>
                  <a:cubicBezTo>
                    <a:pt x="1556" y="743"/>
                    <a:pt x="1556" y="743"/>
                    <a:pt x="1556" y="743"/>
                  </a:cubicBezTo>
                  <a:cubicBezTo>
                    <a:pt x="1557" y="742"/>
                    <a:pt x="1607" y="655"/>
                    <a:pt x="1658" y="553"/>
                  </a:cubicBezTo>
                  <a:cubicBezTo>
                    <a:pt x="1726" y="416"/>
                    <a:pt x="1760" y="321"/>
                    <a:pt x="1760" y="270"/>
                  </a:cubicBezTo>
                  <a:cubicBezTo>
                    <a:pt x="1760" y="146"/>
                    <a:pt x="1662" y="44"/>
                    <a:pt x="1541" y="44"/>
                  </a:cubicBezTo>
                  <a:close/>
                  <a:moveTo>
                    <a:pt x="1548" y="908"/>
                  </a:moveTo>
                  <a:cubicBezTo>
                    <a:pt x="1195" y="908"/>
                    <a:pt x="1195" y="908"/>
                    <a:pt x="1195" y="908"/>
                  </a:cubicBezTo>
                  <a:cubicBezTo>
                    <a:pt x="1172" y="908"/>
                    <a:pt x="1154" y="889"/>
                    <a:pt x="1154" y="867"/>
                  </a:cubicBezTo>
                  <a:cubicBezTo>
                    <a:pt x="1154" y="844"/>
                    <a:pt x="1172" y="826"/>
                    <a:pt x="1195" y="826"/>
                  </a:cubicBezTo>
                  <a:cubicBezTo>
                    <a:pt x="1471" y="826"/>
                    <a:pt x="1471" y="826"/>
                    <a:pt x="1471" y="826"/>
                  </a:cubicBezTo>
                  <a:cubicBezTo>
                    <a:pt x="1449" y="787"/>
                    <a:pt x="1449" y="787"/>
                    <a:pt x="1449" y="787"/>
                  </a:cubicBezTo>
                  <a:cubicBezTo>
                    <a:pt x="1449" y="787"/>
                    <a:pt x="1448" y="785"/>
                    <a:pt x="1446" y="782"/>
                  </a:cubicBezTo>
                  <a:cubicBezTo>
                    <a:pt x="1195" y="782"/>
                    <a:pt x="1195" y="782"/>
                    <a:pt x="1195" y="782"/>
                  </a:cubicBezTo>
                  <a:cubicBezTo>
                    <a:pt x="1148" y="782"/>
                    <a:pt x="1110" y="820"/>
                    <a:pt x="1110" y="867"/>
                  </a:cubicBezTo>
                  <a:cubicBezTo>
                    <a:pt x="1110" y="914"/>
                    <a:pt x="1148" y="952"/>
                    <a:pt x="1195" y="952"/>
                  </a:cubicBezTo>
                  <a:cubicBezTo>
                    <a:pt x="1548" y="952"/>
                    <a:pt x="1548" y="952"/>
                    <a:pt x="1548" y="952"/>
                  </a:cubicBezTo>
                  <a:cubicBezTo>
                    <a:pt x="1609" y="952"/>
                    <a:pt x="1659" y="1002"/>
                    <a:pt x="1659" y="1063"/>
                  </a:cubicBezTo>
                  <a:cubicBezTo>
                    <a:pt x="1659" y="1124"/>
                    <a:pt x="1609" y="1174"/>
                    <a:pt x="1548" y="1174"/>
                  </a:cubicBezTo>
                  <a:cubicBezTo>
                    <a:pt x="793" y="1174"/>
                    <a:pt x="793" y="1174"/>
                    <a:pt x="793" y="1174"/>
                  </a:cubicBezTo>
                  <a:cubicBezTo>
                    <a:pt x="767" y="1218"/>
                    <a:pt x="767" y="1218"/>
                    <a:pt x="767" y="1218"/>
                  </a:cubicBezTo>
                  <a:cubicBezTo>
                    <a:pt x="1548" y="1218"/>
                    <a:pt x="1548" y="1218"/>
                    <a:pt x="1548" y="1218"/>
                  </a:cubicBezTo>
                  <a:cubicBezTo>
                    <a:pt x="1633" y="1218"/>
                    <a:pt x="1703" y="1148"/>
                    <a:pt x="1703" y="1063"/>
                  </a:cubicBezTo>
                  <a:cubicBezTo>
                    <a:pt x="1703" y="977"/>
                    <a:pt x="1633" y="908"/>
                    <a:pt x="1548" y="90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5837" tIns="32918" rIns="65837" bIns="32918" numCol="1" anchor="t" anchorCtr="0" compatLnSpc="1">
              <a:prstTxWarp prst="textNoShape">
                <a:avLst/>
              </a:prstTxWarp>
            </a:bodyPr>
            <a:lstStyle/>
            <a:p>
              <a:endParaRPr lang="en-US"/>
            </a:p>
          </p:txBody>
        </p:sp>
      </p:grpSp>
      <p:sp>
        <p:nvSpPr>
          <p:cNvPr id="86" name="Isosceles Triangle 85">
            <a:extLst>
              <a:ext uri="{FF2B5EF4-FFF2-40B4-BE49-F238E27FC236}">
                <a16:creationId xmlns:a16="http://schemas.microsoft.com/office/drawing/2014/main" id="{5633C7B3-6835-4F3E-9B3E-AE68EED20CFE}"/>
              </a:ext>
            </a:extLst>
          </p:cNvPr>
          <p:cNvSpPr/>
          <p:nvPr/>
        </p:nvSpPr>
        <p:spPr>
          <a:xfrm rot="5400000" flipV="1">
            <a:off x="1394545" y="1156194"/>
            <a:ext cx="171502" cy="1312645"/>
          </a:xfrm>
          <a:prstGeom prst="triangle">
            <a:avLst/>
          </a:prstGeom>
          <a:solidFill>
            <a:sysClr val="window" lastClr="FFFFFF">
              <a:lumMod val="65000"/>
              <a:alpha val="98000"/>
            </a:sysClr>
          </a:solidFill>
          <a:ln w="12700" cap="flat" cmpd="sng" algn="ctr">
            <a:noFill/>
            <a:prstDash val="solid"/>
            <a:miter lim="800000"/>
          </a:ln>
          <a:effectLst>
            <a:softEdge rad="317500"/>
          </a:effectLst>
        </p:spPr>
        <p:txBody>
          <a:bodyPr lIns="65837" tIns="32918" rIns="65837" bIns="32918"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64" b="0" i="0" u="none" strike="noStrike" kern="0" cap="none" spc="0" normalizeH="0" baseline="0" noProof="0">
              <a:ln>
                <a:noFill/>
              </a:ln>
              <a:solidFill>
                <a:prstClr val="white"/>
              </a:solidFill>
              <a:effectLst/>
              <a:uLnTx/>
              <a:uFillTx/>
              <a:latin typeface="Calibri" panose="020F0502020204030204"/>
            </a:endParaRPr>
          </a:p>
        </p:txBody>
      </p:sp>
      <p:sp>
        <p:nvSpPr>
          <p:cNvPr id="87" name="AutoShape 3">
            <a:extLst>
              <a:ext uri="{FF2B5EF4-FFF2-40B4-BE49-F238E27FC236}">
                <a16:creationId xmlns:a16="http://schemas.microsoft.com/office/drawing/2014/main" id="{07780ABA-DE3A-4FFE-B6AF-317399F39A4B}"/>
              </a:ext>
            </a:extLst>
          </p:cNvPr>
          <p:cNvSpPr>
            <a:spLocks noChangeAspect="1" noChangeArrowheads="1" noTextEdit="1"/>
          </p:cNvSpPr>
          <p:nvPr/>
        </p:nvSpPr>
        <p:spPr bwMode="auto">
          <a:xfrm>
            <a:off x="824592" y="1705594"/>
            <a:ext cx="1631247" cy="4724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0863" tIns="30432" rIns="60863" bIns="30432"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64" b="0" i="0" u="none" strike="noStrike" kern="0" cap="none" spc="0" normalizeH="0" baseline="0" noProof="0">
              <a:ln>
                <a:noFill/>
              </a:ln>
              <a:solidFill>
                <a:prstClr val="black"/>
              </a:solidFill>
              <a:effectLst/>
              <a:uLnTx/>
              <a:uFillTx/>
              <a:latin typeface="Calibri" panose="020F0502020204030204"/>
            </a:endParaRPr>
          </a:p>
        </p:txBody>
      </p:sp>
      <p:sp>
        <p:nvSpPr>
          <p:cNvPr id="88" name="Freeform 5">
            <a:extLst>
              <a:ext uri="{FF2B5EF4-FFF2-40B4-BE49-F238E27FC236}">
                <a16:creationId xmlns:a16="http://schemas.microsoft.com/office/drawing/2014/main" id="{496FD452-1058-4FDE-AF02-2940923C381E}"/>
              </a:ext>
            </a:extLst>
          </p:cNvPr>
          <p:cNvSpPr>
            <a:spLocks/>
          </p:cNvSpPr>
          <p:nvPr/>
        </p:nvSpPr>
        <p:spPr bwMode="auto">
          <a:xfrm>
            <a:off x="8075551" y="1708401"/>
            <a:ext cx="81872" cy="472939"/>
          </a:xfrm>
          <a:custGeom>
            <a:avLst/>
            <a:gdLst>
              <a:gd name="T0" fmla="*/ 450 w 480"/>
              <a:gd name="T1" fmla="*/ 0 h 799"/>
              <a:gd name="T2" fmla="*/ 40 w 480"/>
              <a:gd name="T3" fmla="*/ 0 h 799"/>
              <a:gd name="T4" fmla="*/ 12 w 480"/>
              <a:gd name="T5" fmla="*/ 11 h 799"/>
              <a:gd name="T6" fmla="*/ 0 w 480"/>
              <a:gd name="T7" fmla="*/ 40 h 799"/>
              <a:gd name="T8" fmla="*/ 0 w 480"/>
              <a:gd name="T9" fmla="*/ 399 h 799"/>
              <a:gd name="T10" fmla="*/ 0 w 480"/>
              <a:gd name="T11" fmla="*/ 759 h 799"/>
              <a:gd name="T12" fmla="*/ 12 w 480"/>
              <a:gd name="T13" fmla="*/ 787 h 799"/>
              <a:gd name="T14" fmla="*/ 40 w 480"/>
              <a:gd name="T15" fmla="*/ 799 h 799"/>
              <a:gd name="T16" fmla="*/ 450 w 480"/>
              <a:gd name="T17" fmla="*/ 799 h 799"/>
              <a:gd name="T18" fmla="*/ 480 w 480"/>
              <a:gd name="T19" fmla="*/ 794 h 799"/>
              <a:gd name="T20" fmla="*/ 480 w 480"/>
              <a:gd name="T21" fmla="*/ 399 h 799"/>
              <a:gd name="T22" fmla="*/ 480 w 480"/>
              <a:gd name="T23" fmla="*/ 5 h 799"/>
              <a:gd name="T24" fmla="*/ 450 w 480"/>
              <a:gd name="T25" fmla="*/ 0 h 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0" h="799">
                <a:moveTo>
                  <a:pt x="450" y="0"/>
                </a:moveTo>
                <a:cubicBezTo>
                  <a:pt x="40" y="0"/>
                  <a:pt x="40" y="0"/>
                  <a:pt x="40" y="0"/>
                </a:cubicBezTo>
                <a:cubicBezTo>
                  <a:pt x="30" y="0"/>
                  <a:pt x="20" y="3"/>
                  <a:pt x="12" y="11"/>
                </a:cubicBezTo>
                <a:cubicBezTo>
                  <a:pt x="4" y="19"/>
                  <a:pt x="0" y="29"/>
                  <a:pt x="0" y="40"/>
                </a:cubicBezTo>
                <a:cubicBezTo>
                  <a:pt x="0" y="399"/>
                  <a:pt x="0" y="399"/>
                  <a:pt x="0" y="399"/>
                </a:cubicBezTo>
                <a:cubicBezTo>
                  <a:pt x="0" y="759"/>
                  <a:pt x="0" y="759"/>
                  <a:pt x="0" y="759"/>
                </a:cubicBezTo>
                <a:cubicBezTo>
                  <a:pt x="0" y="769"/>
                  <a:pt x="4" y="779"/>
                  <a:pt x="12" y="787"/>
                </a:cubicBezTo>
                <a:cubicBezTo>
                  <a:pt x="20" y="795"/>
                  <a:pt x="30" y="799"/>
                  <a:pt x="40" y="799"/>
                </a:cubicBezTo>
                <a:cubicBezTo>
                  <a:pt x="450" y="799"/>
                  <a:pt x="450" y="799"/>
                  <a:pt x="450" y="799"/>
                </a:cubicBezTo>
                <a:cubicBezTo>
                  <a:pt x="461" y="799"/>
                  <a:pt x="471" y="797"/>
                  <a:pt x="480" y="794"/>
                </a:cubicBezTo>
                <a:cubicBezTo>
                  <a:pt x="480" y="399"/>
                  <a:pt x="480" y="399"/>
                  <a:pt x="480" y="399"/>
                </a:cubicBezTo>
                <a:cubicBezTo>
                  <a:pt x="480" y="5"/>
                  <a:pt x="480" y="5"/>
                  <a:pt x="480" y="5"/>
                </a:cubicBezTo>
                <a:cubicBezTo>
                  <a:pt x="471" y="1"/>
                  <a:pt x="461" y="0"/>
                  <a:pt x="450" y="0"/>
                </a:cubicBezTo>
                <a:close/>
              </a:path>
            </a:pathLst>
          </a:custGeom>
          <a:solidFill>
            <a:srgbClr val="123A26"/>
          </a:solidFill>
          <a:ln>
            <a:noFill/>
          </a:ln>
        </p:spPr>
        <p:txBody>
          <a:bodyPr vert="horz" wrap="square" lIns="60863" tIns="30432" rIns="60863" bIns="30432"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64" b="0" i="0" u="none" strike="noStrike" kern="0" cap="none" spc="0" normalizeH="0" baseline="0" noProof="0">
              <a:ln>
                <a:noFill/>
              </a:ln>
              <a:solidFill>
                <a:prstClr val="black"/>
              </a:solidFill>
              <a:effectLst/>
              <a:uLnTx/>
              <a:uFillTx/>
              <a:latin typeface="Calibri" panose="020F0502020204030204"/>
            </a:endParaRPr>
          </a:p>
        </p:txBody>
      </p:sp>
      <p:sp>
        <p:nvSpPr>
          <p:cNvPr id="89" name="Rectangle 6">
            <a:extLst>
              <a:ext uri="{FF2B5EF4-FFF2-40B4-BE49-F238E27FC236}">
                <a16:creationId xmlns:a16="http://schemas.microsoft.com/office/drawing/2014/main" id="{CF22CF2B-820C-4F65-B35D-4B69AD2BCD87}"/>
              </a:ext>
            </a:extLst>
          </p:cNvPr>
          <p:cNvSpPr>
            <a:spLocks noChangeArrowheads="1"/>
          </p:cNvSpPr>
          <p:nvPr/>
        </p:nvSpPr>
        <p:spPr bwMode="auto">
          <a:xfrm>
            <a:off x="1292516" y="1766131"/>
            <a:ext cx="7012049" cy="351365"/>
          </a:xfrm>
          <a:prstGeom prst="rect">
            <a:avLst/>
          </a:prstGeom>
          <a:solidFill>
            <a:srgbClr val="C9E7CA"/>
          </a:solidFill>
          <a:ln>
            <a:noFill/>
          </a:ln>
        </p:spPr>
        <p:txBody>
          <a:bodyPr vert="horz" wrap="square" lIns="197510" tIns="30432" rIns="60863" bIns="30432" numCol="1" anchor="ctr" anchorCtr="0" compatLnSpc="1">
            <a:prstTxWarp prst="textNoShape">
              <a:avLst/>
            </a:prstTxWarp>
          </a:bodyPr>
          <a:lstStyle/>
          <a:p>
            <a:pPr lvl="0" algn="ctr">
              <a:defRPr/>
            </a:pPr>
            <a:r>
              <a:rPr lang="en-US" b="1" kern="0" err="1">
                <a:solidFill>
                  <a:srgbClr val="03522D"/>
                </a:solidFill>
                <a:latin typeface="+mj-lt"/>
              </a:rPr>
              <a:t>批次</a:t>
            </a:r>
            <a:endParaRPr lang="en-US" b="1" kern="0">
              <a:solidFill>
                <a:srgbClr val="03522D"/>
              </a:solidFill>
              <a:latin typeface="+mj-lt"/>
            </a:endParaRPr>
          </a:p>
        </p:txBody>
      </p:sp>
      <p:sp>
        <p:nvSpPr>
          <p:cNvPr id="90" name="Freeform 7">
            <a:extLst>
              <a:ext uri="{FF2B5EF4-FFF2-40B4-BE49-F238E27FC236}">
                <a16:creationId xmlns:a16="http://schemas.microsoft.com/office/drawing/2014/main" id="{F9C5DBA7-1531-4283-9D5B-3B1459179CD5}"/>
              </a:ext>
            </a:extLst>
          </p:cNvPr>
          <p:cNvSpPr>
            <a:spLocks/>
          </p:cNvSpPr>
          <p:nvPr/>
        </p:nvSpPr>
        <p:spPr bwMode="auto">
          <a:xfrm>
            <a:off x="8103266" y="1708401"/>
            <a:ext cx="354510" cy="236220"/>
          </a:xfrm>
          <a:custGeom>
            <a:avLst/>
            <a:gdLst>
              <a:gd name="T0" fmla="*/ 846 w 846"/>
              <a:gd name="T1" fmla="*/ 399 h 399"/>
              <a:gd name="T2" fmla="*/ 417 w 846"/>
              <a:gd name="T3" fmla="*/ 399 h 399"/>
              <a:gd name="T4" fmla="*/ 29 w 846"/>
              <a:gd name="T5" fmla="*/ 11 h 399"/>
              <a:gd name="T6" fmla="*/ 0 w 846"/>
              <a:gd name="T7" fmla="*/ 0 h 399"/>
              <a:gd name="T8" fmla="*/ 410 w 846"/>
              <a:gd name="T9" fmla="*/ 0 h 399"/>
              <a:gd name="T10" fmla="*/ 472 w 846"/>
              <a:gd name="T11" fmla="*/ 25 h 399"/>
              <a:gd name="T12" fmla="*/ 846 w 846"/>
              <a:gd name="T13" fmla="*/ 399 h 399"/>
            </a:gdLst>
            <a:ahLst/>
            <a:cxnLst>
              <a:cxn ang="0">
                <a:pos x="T0" y="T1"/>
              </a:cxn>
              <a:cxn ang="0">
                <a:pos x="T2" y="T3"/>
              </a:cxn>
              <a:cxn ang="0">
                <a:pos x="T4" y="T5"/>
              </a:cxn>
              <a:cxn ang="0">
                <a:pos x="T6" y="T7"/>
              </a:cxn>
              <a:cxn ang="0">
                <a:pos x="T8" y="T9"/>
              </a:cxn>
              <a:cxn ang="0">
                <a:pos x="T10" y="T11"/>
              </a:cxn>
              <a:cxn ang="0">
                <a:pos x="T12" y="T13"/>
              </a:cxn>
            </a:cxnLst>
            <a:rect l="0" t="0" r="r" b="b"/>
            <a:pathLst>
              <a:path w="846" h="399">
                <a:moveTo>
                  <a:pt x="846" y="399"/>
                </a:moveTo>
                <a:cubicBezTo>
                  <a:pt x="417" y="399"/>
                  <a:pt x="417" y="399"/>
                  <a:pt x="417" y="399"/>
                </a:cubicBezTo>
                <a:cubicBezTo>
                  <a:pt x="29" y="11"/>
                  <a:pt x="29" y="11"/>
                  <a:pt x="29" y="11"/>
                </a:cubicBezTo>
                <a:cubicBezTo>
                  <a:pt x="21" y="3"/>
                  <a:pt x="11" y="0"/>
                  <a:pt x="0" y="0"/>
                </a:cubicBezTo>
                <a:cubicBezTo>
                  <a:pt x="410" y="0"/>
                  <a:pt x="410" y="0"/>
                  <a:pt x="410" y="0"/>
                </a:cubicBezTo>
                <a:cubicBezTo>
                  <a:pt x="434" y="0"/>
                  <a:pt x="456" y="9"/>
                  <a:pt x="472" y="25"/>
                </a:cubicBezTo>
                <a:lnTo>
                  <a:pt x="846" y="399"/>
                </a:lnTo>
                <a:close/>
              </a:path>
            </a:pathLst>
          </a:custGeom>
          <a:gradFill flip="none" rotWithShape="1">
            <a:gsLst>
              <a:gs pos="77000">
                <a:srgbClr val="15432C"/>
              </a:gs>
              <a:gs pos="12000">
                <a:srgbClr val="3DC380"/>
              </a:gs>
              <a:gs pos="25000">
                <a:srgbClr val="2D915F"/>
              </a:gs>
            </a:gsLst>
            <a:lin ang="5400000" scaled="1"/>
            <a:tileRect/>
          </a:gradFill>
          <a:ln>
            <a:noFill/>
          </a:ln>
        </p:spPr>
        <p:txBody>
          <a:bodyPr vert="horz" wrap="square" lIns="60863" tIns="30432" rIns="60863" bIns="30432"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64" b="0" i="0" u="none" strike="noStrike" kern="0" cap="none" spc="0" normalizeH="0" baseline="0" noProof="0">
              <a:ln>
                <a:noFill/>
              </a:ln>
              <a:solidFill>
                <a:prstClr val="black"/>
              </a:solidFill>
              <a:effectLst/>
              <a:uLnTx/>
              <a:uFillTx/>
              <a:latin typeface="Calibri" panose="020F0502020204030204"/>
            </a:endParaRPr>
          </a:p>
        </p:txBody>
      </p:sp>
      <p:sp>
        <p:nvSpPr>
          <p:cNvPr id="91" name="Freeform 8">
            <a:extLst>
              <a:ext uri="{FF2B5EF4-FFF2-40B4-BE49-F238E27FC236}">
                <a16:creationId xmlns:a16="http://schemas.microsoft.com/office/drawing/2014/main" id="{EA28497B-8525-4CE8-8DAF-957449653E39}"/>
              </a:ext>
            </a:extLst>
          </p:cNvPr>
          <p:cNvSpPr>
            <a:spLocks/>
          </p:cNvSpPr>
          <p:nvPr/>
        </p:nvSpPr>
        <p:spPr bwMode="auto">
          <a:xfrm>
            <a:off x="8103266" y="1944622"/>
            <a:ext cx="354510" cy="236719"/>
          </a:xfrm>
          <a:custGeom>
            <a:avLst/>
            <a:gdLst>
              <a:gd name="T0" fmla="*/ 846 w 846"/>
              <a:gd name="T1" fmla="*/ 0 h 400"/>
              <a:gd name="T2" fmla="*/ 417 w 846"/>
              <a:gd name="T3" fmla="*/ 0 h 400"/>
              <a:gd name="T4" fmla="*/ 29 w 846"/>
              <a:gd name="T5" fmla="*/ 388 h 400"/>
              <a:gd name="T6" fmla="*/ 0 w 846"/>
              <a:gd name="T7" fmla="*/ 400 h 400"/>
              <a:gd name="T8" fmla="*/ 410 w 846"/>
              <a:gd name="T9" fmla="*/ 400 h 400"/>
              <a:gd name="T10" fmla="*/ 472 w 846"/>
              <a:gd name="T11" fmla="*/ 374 h 400"/>
              <a:gd name="T12" fmla="*/ 846 w 846"/>
              <a:gd name="T13" fmla="*/ 0 h 400"/>
            </a:gdLst>
            <a:ahLst/>
            <a:cxnLst>
              <a:cxn ang="0">
                <a:pos x="T0" y="T1"/>
              </a:cxn>
              <a:cxn ang="0">
                <a:pos x="T2" y="T3"/>
              </a:cxn>
              <a:cxn ang="0">
                <a:pos x="T4" y="T5"/>
              </a:cxn>
              <a:cxn ang="0">
                <a:pos x="T6" y="T7"/>
              </a:cxn>
              <a:cxn ang="0">
                <a:pos x="T8" y="T9"/>
              </a:cxn>
              <a:cxn ang="0">
                <a:pos x="T10" y="T11"/>
              </a:cxn>
              <a:cxn ang="0">
                <a:pos x="T12" y="T13"/>
              </a:cxn>
            </a:cxnLst>
            <a:rect l="0" t="0" r="r" b="b"/>
            <a:pathLst>
              <a:path w="846" h="400">
                <a:moveTo>
                  <a:pt x="846" y="0"/>
                </a:moveTo>
                <a:cubicBezTo>
                  <a:pt x="417" y="0"/>
                  <a:pt x="417" y="0"/>
                  <a:pt x="417" y="0"/>
                </a:cubicBezTo>
                <a:cubicBezTo>
                  <a:pt x="29" y="388"/>
                  <a:pt x="29" y="388"/>
                  <a:pt x="29" y="388"/>
                </a:cubicBezTo>
                <a:cubicBezTo>
                  <a:pt x="21" y="396"/>
                  <a:pt x="11" y="400"/>
                  <a:pt x="0" y="400"/>
                </a:cubicBezTo>
                <a:cubicBezTo>
                  <a:pt x="410" y="400"/>
                  <a:pt x="410" y="400"/>
                  <a:pt x="410" y="400"/>
                </a:cubicBezTo>
                <a:cubicBezTo>
                  <a:pt x="434" y="400"/>
                  <a:pt x="456" y="391"/>
                  <a:pt x="472" y="374"/>
                </a:cubicBezTo>
                <a:lnTo>
                  <a:pt x="846" y="0"/>
                </a:lnTo>
                <a:close/>
              </a:path>
            </a:pathLst>
          </a:custGeom>
          <a:solidFill>
            <a:srgbClr val="2D915F"/>
          </a:solidFill>
          <a:ln>
            <a:noFill/>
          </a:ln>
        </p:spPr>
        <p:txBody>
          <a:bodyPr vert="horz" wrap="square" lIns="60863" tIns="30432" rIns="60863" bIns="30432"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64" b="0" i="0" u="none" strike="noStrike" kern="0" cap="none" spc="0" normalizeH="0" baseline="0" noProof="0">
              <a:ln>
                <a:noFill/>
              </a:ln>
              <a:solidFill>
                <a:prstClr val="black"/>
              </a:solidFill>
              <a:effectLst/>
              <a:uLnTx/>
              <a:uFillTx/>
              <a:latin typeface="Calibri" panose="020F0502020204030204"/>
            </a:endParaRPr>
          </a:p>
        </p:txBody>
      </p:sp>
      <p:sp>
        <p:nvSpPr>
          <p:cNvPr id="119" name="Oval 118">
            <a:extLst>
              <a:ext uri="{FF2B5EF4-FFF2-40B4-BE49-F238E27FC236}">
                <a16:creationId xmlns:a16="http://schemas.microsoft.com/office/drawing/2014/main" id="{4AAE286D-92ED-4231-A2F4-A07282BDAC29}"/>
              </a:ext>
            </a:extLst>
          </p:cNvPr>
          <p:cNvSpPr/>
          <p:nvPr>
            <p:custDataLst>
              <p:tags r:id="rId3"/>
            </p:custDataLst>
          </p:nvPr>
        </p:nvSpPr>
        <p:spPr>
          <a:xfrm>
            <a:off x="638930" y="1587751"/>
            <a:ext cx="707470" cy="708126"/>
          </a:xfrm>
          <a:prstGeom prst="ellipse">
            <a:avLst/>
          </a:prstGeom>
          <a:solidFill>
            <a:srgbClr val="FFFFFF"/>
          </a:solidFill>
          <a:ln w="28575">
            <a:gradFill flip="none" rotWithShape="1">
              <a:gsLst>
                <a:gs pos="0">
                  <a:schemeClr val="accent4"/>
                </a:gs>
                <a:gs pos="100000">
                  <a:schemeClr val="accent3"/>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5837" tIns="65837" rIns="65837" bIns="65837" rtlCol="0" anchor="ctr"/>
          <a:lstStyle/>
          <a:p>
            <a:pPr algn="ctr">
              <a:lnSpc>
                <a:spcPct val="95000"/>
              </a:lnSpc>
            </a:pPr>
            <a:endParaRPr lang="en-US" sz="2000" kern="0">
              <a:solidFill>
                <a:schemeClr val="bg1">
                  <a:lumMod val="50000"/>
                </a:schemeClr>
              </a:solidFill>
            </a:endParaRPr>
          </a:p>
        </p:txBody>
      </p:sp>
      <p:grpSp>
        <p:nvGrpSpPr>
          <p:cNvPr id="120" name="bcgIcons_AbstractionInHiddenLayers">
            <a:extLst>
              <a:ext uri="{FF2B5EF4-FFF2-40B4-BE49-F238E27FC236}">
                <a16:creationId xmlns:a16="http://schemas.microsoft.com/office/drawing/2014/main" id="{1C70C0EB-01ED-4FB3-98BD-41A69BBE008F}"/>
              </a:ext>
            </a:extLst>
          </p:cNvPr>
          <p:cNvGrpSpPr>
            <a:grpSpLocks noChangeAspect="1"/>
          </p:cNvGrpSpPr>
          <p:nvPr/>
        </p:nvGrpSpPr>
        <p:grpSpPr bwMode="auto">
          <a:xfrm>
            <a:off x="742537" y="1691454"/>
            <a:ext cx="500257" cy="500721"/>
            <a:chOff x="1682" y="0"/>
            <a:chExt cx="4316" cy="4320"/>
          </a:xfrm>
        </p:grpSpPr>
        <p:sp>
          <p:nvSpPr>
            <p:cNvPr id="121" name="AutoShape 30">
              <a:extLst>
                <a:ext uri="{FF2B5EF4-FFF2-40B4-BE49-F238E27FC236}">
                  <a16:creationId xmlns:a16="http://schemas.microsoft.com/office/drawing/2014/main" id="{1A62AB25-D5D4-4976-BD94-752463B40F2C}"/>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5837" tIns="32918" rIns="65837" bIns="32918" numCol="1" anchor="t" anchorCtr="0" compatLnSpc="1">
              <a:prstTxWarp prst="textNoShape">
                <a:avLst/>
              </a:prstTxWarp>
            </a:bodyPr>
            <a:lstStyle/>
            <a:p>
              <a:endParaRPr lang="en-US"/>
            </a:p>
          </p:txBody>
        </p:sp>
        <p:sp>
          <p:nvSpPr>
            <p:cNvPr id="122" name="Freeform 32">
              <a:extLst>
                <a:ext uri="{FF2B5EF4-FFF2-40B4-BE49-F238E27FC236}">
                  <a16:creationId xmlns:a16="http://schemas.microsoft.com/office/drawing/2014/main" id="{84B72023-97B6-4321-81D2-C29121638814}"/>
                </a:ext>
              </a:extLst>
            </p:cNvPr>
            <p:cNvSpPr>
              <a:spLocks noEditPoints="1"/>
            </p:cNvSpPr>
            <p:nvPr/>
          </p:nvSpPr>
          <p:spPr bwMode="auto">
            <a:xfrm>
              <a:off x="2111" y="1136"/>
              <a:ext cx="2145" cy="2044"/>
            </a:xfrm>
            <a:custGeom>
              <a:avLst/>
              <a:gdLst>
                <a:gd name="T0" fmla="*/ 559 w 1145"/>
                <a:gd name="T1" fmla="*/ 1052 h 1090"/>
                <a:gd name="T2" fmla="*/ 559 w 1145"/>
                <a:gd name="T3" fmla="*/ 1084 h 1090"/>
                <a:gd name="T4" fmla="*/ 544 w 1145"/>
                <a:gd name="T5" fmla="*/ 1090 h 1090"/>
                <a:gd name="T6" fmla="*/ 528 w 1145"/>
                <a:gd name="T7" fmla="*/ 1084 h 1090"/>
                <a:gd name="T8" fmla="*/ 6 w 1145"/>
                <a:gd name="T9" fmla="*/ 562 h 1090"/>
                <a:gd name="T10" fmla="*/ 0 w 1145"/>
                <a:gd name="T11" fmla="*/ 546 h 1090"/>
                <a:gd name="T12" fmla="*/ 6 w 1145"/>
                <a:gd name="T13" fmla="*/ 530 h 1090"/>
                <a:gd name="T14" fmla="*/ 528 w 1145"/>
                <a:gd name="T15" fmla="*/ 8 h 1090"/>
                <a:gd name="T16" fmla="*/ 559 w 1145"/>
                <a:gd name="T17" fmla="*/ 8 h 1090"/>
                <a:gd name="T18" fmla="*/ 639 w 1145"/>
                <a:gd name="T19" fmla="*/ 88 h 1090"/>
                <a:gd name="T20" fmla="*/ 608 w 1145"/>
                <a:gd name="T21" fmla="*/ 119 h 1090"/>
                <a:gd name="T22" fmla="*/ 544 w 1145"/>
                <a:gd name="T23" fmla="*/ 55 h 1090"/>
                <a:gd name="T24" fmla="*/ 53 w 1145"/>
                <a:gd name="T25" fmla="*/ 546 h 1090"/>
                <a:gd name="T26" fmla="*/ 559 w 1145"/>
                <a:gd name="T27" fmla="*/ 1052 h 1090"/>
                <a:gd name="T28" fmla="*/ 306 w 1145"/>
                <a:gd name="T29" fmla="*/ 546 h 1090"/>
                <a:gd name="T30" fmla="*/ 797 w 1145"/>
                <a:gd name="T31" fmla="*/ 55 h 1090"/>
                <a:gd name="T32" fmla="*/ 861 w 1145"/>
                <a:gd name="T33" fmla="*/ 119 h 1090"/>
                <a:gd name="T34" fmla="*/ 892 w 1145"/>
                <a:gd name="T35" fmla="*/ 88 h 1090"/>
                <a:gd name="T36" fmla="*/ 812 w 1145"/>
                <a:gd name="T37" fmla="*/ 8 h 1090"/>
                <a:gd name="T38" fmla="*/ 781 w 1145"/>
                <a:gd name="T39" fmla="*/ 8 h 1090"/>
                <a:gd name="T40" fmla="*/ 259 w 1145"/>
                <a:gd name="T41" fmla="*/ 530 h 1090"/>
                <a:gd name="T42" fmla="*/ 259 w 1145"/>
                <a:gd name="T43" fmla="*/ 562 h 1090"/>
                <a:gd name="T44" fmla="*/ 781 w 1145"/>
                <a:gd name="T45" fmla="*/ 1084 h 1090"/>
                <a:gd name="T46" fmla="*/ 797 w 1145"/>
                <a:gd name="T47" fmla="*/ 1090 h 1090"/>
                <a:gd name="T48" fmla="*/ 812 w 1145"/>
                <a:gd name="T49" fmla="*/ 1084 h 1090"/>
                <a:gd name="T50" fmla="*/ 812 w 1145"/>
                <a:gd name="T51" fmla="*/ 1052 h 1090"/>
                <a:gd name="T52" fmla="*/ 306 w 1145"/>
                <a:gd name="T53" fmla="*/ 546 h 1090"/>
                <a:gd name="T54" fmla="*/ 559 w 1145"/>
                <a:gd name="T55" fmla="*/ 546 h 1090"/>
                <a:gd name="T56" fmla="*/ 1049 w 1145"/>
                <a:gd name="T57" fmla="*/ 55 h 1090"/>
                <a:gd name="T58" fmla="*/ 1114 w 1145"/>
                <a:gd name="T59" fmla="*/ 119 h 1090"/>
                <a:gd name="T60" fmla="*/ 1145 w 1145"/>
                <a:gd name="T61" fmla="*/ 88 h 1090"/>
                <a:gd name="T62" fmla="*/ 1065 w 1145"/>
                <a:gd name="T63" fmla="*/ 8 h 1090"/>
                <a:gd name="T64" fmla="*/ 1034 w 1145"/>
                <a:gd name="T65" fmla="*/ 8 h 1090"/>
                <a:gd name="T66" fmla="*/ 512 w 1145"/>
                <a:gd name="T67" fmla="*/ 530 h 1090"/>
                <a:gd name="T68" fmla="*/ 505 w 1145"/>
                <a:gd name="T69" fmla="*/ 546 h 1090"/>
                <a:gd name="T70" fmla="*/ 512 w 1145"/>
                <a:gd name="T71" fmla="*/ 562 h 1090"/>
                <a:gd name="T72" fmla="*/ 1034 w 1145"/>
                <a:gd name="T73" fmla="*/ 1084 h 1090"/>
                <a:gd name="T74" fmla="*/ 1049 w 1145"/>
                <a:gd name="T75" fmla="*/ 1090 h 1090"/>
                <a:gd name="T76" fmla="*/ 1065 w 1145"/>
                <a:gd name="T77" fmla="*/ 1084 h 1090"/>
                <a:gd name="T78" fmla="*/ 1065 w 1145"/>
                <a:gd name="T79" fmla="*/ 1052 h 1090"/>
                <a:gd name="T80" fmla="*/ 559 w 1145"/>
                <a:gd name="T81" fmla="*/ 546 h 1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45" h="1090">
                  <a:moveTo>
                    <a:pt x="559" y="1052"/>
                  </a:moveTo>
                  <a:cubicBezTo>
                    <a:pt x="568" y="1061"/>
                    <a:pt x="568" y="1075"/>
                    <a:pt x="559" y="1084"/>
                  </a:cubicBezTo>
                  <a:cubicBezTo>
                    <a:pt x="555" y="1088"/>
                    <a:pt x="549" y="1090"/>
                    <a:pt x="544" y="1090"/>
                  </a:cubicBezTo>
                  <a:cubicBezTo>
                    <a:pt x="538" y="1090"/>
                    <a:pt x="532" y="1088"/>
                    <a:pt x="528" y="1084"/>
                  </a:cubicBezTo>
                  <a:cubicBezTo>
                    <a:pt x="6" y="562"/>
                    <a:pt x="6" y="562"/>
                    <a:pt x="6" y="562"/>
                  </a:cubicBezTo>
                  <a:cubicBezTo>
                    <a:pt x="2" y="557"/>
                    <a:pt x="0" y="552"/>
                    <a:pt x="0" y="546"/>
                  </a:cubicBezTo>
                  <a:cubicBezTo>
                    <a:pt x="0" y="540"/>
                    <a:pt x="2" y="535"/>
                    <a:pt x="6" y="530"/>
                  </a:cubicBezTo>
                  <a:cubicBezTo>
                    <a:pt x="528" y="8"/>
                    <a:pt x="528" y="8"/>
                    <a:pt x="528" y="8"/>
                  </a:cubicBezTo>
                  <a:cubicBezTo>
                    <a:pt x="537" y="0"/>
                    <a:pt x="551" y="0"/>
                    <a:pt x="559" y="8"/>
                  </a:cubicBezTo>
                  <a:cubicBezTo>
                    <a:pt x="639" y="88"/>
                    <a:pt x="639" y="88"/>
                    <a:pt x="639" y="88"/>
                  </a:cubicBezTo>
                  <a:cubicBezTo>
                    <a:pt x="608" y="119"/>
                    <a:pt x="608" y="119"/>
                    <a:pt x="608" y="119"/>
                  </a:cubicBezTo>
                  <a:cubicBezTo>
                    <a:pt x="544" y="55"/>
                    <a:pt x="544" y="55"/>
                    <a:pt x="544" y="55"/>
                  </a:cubicBezTo>
                  <a:cubicBezTo>
                    <a:pt x="53" y="546"/>
                    <a:pt x="53" y="546"/>
                    <a:pt x="53" y="546"/>
                  </a:cubicBezTo>
                  <a:lnTo>
                    <a:pt x="559" y="1052"/>
                  </a:lnTo>
                  <a:close/>
                  <a:moveTo>
                    <a:pt x="306" y="546"/>
                  </a:moveTo>
                  <a:cubicBezTo>
                    <a:pt x="797" y="55"/>
                    <a:pt x="797" y="55"/>
                    <a:pt x="797" y="55"/>
                  </a:cubicBezTo>
                  <a:cubicBezTo>
                    <a:pt x="861" y="119"/>
                    <a:pt x="861" y="119"/>
                    <a:pt x="861" y="119"/>
                  </a:cubicBezTo>
                  <a:cubicBezTo>
                    <a:pt x="892" y="88"/>
                    <a:pt x="892" y="88"/>
                    <a:pt x="892" y="88"/>
                  </a:cubicBezTo>
                  <a:cubicBezTo>
                    <a:pt x="812" y="8"/>
                    <a:pt x="812" y="8"/>
                    <a:pt x="812" y="8"/>
                  </a:cubicBezTo>
                  <a:cubicBezTo>
                    <a:pt x="804" y="0"/>
                    <a:pt x="790" y="0"/>
                    <a:pt x="781" y="8"/>
                  </a:cubicBezTo>
                  <a:cubicBezTo>
                    <a:pt x="259" y="530"/>
                    <a:pt x="259" y="530"/>
                    <a:pt x="259" y="530"/>
                  </a:cubicBezTo>
                  <a:cubicBezTo>
                    <a:pt x="250" y="539"/>
                    <a:pt x="250" y="553"/>
                    <a:pt x="259" y="562"/>
                  </a:cubicBezTo>
                  <a:cubicBezTo>
                    <a:pt x="781" y="1084"/>
                    <a:pt x="781" y="1084"/>
                    <a:pt x="781" y="1084"/>
                  </a:cubicBezTo>
                  <a:cubicBezTo>
                    <a:pt x="785" y="1088"/>
                    <a:pt x="791" y="1090"/>
                    <a:pt x="797" y="1090"/>
                  </a:cubicBezTo>
                  <a:cubicBezTo>
                    <a:pt x="802" y="1090"/>
                    <a:pt x="808" y="1088"/>
                    <a:pt x="812" y="1084"/>
                  </a:cubicBezTo>
                  <a:cubicBezTo>
                    <a:pt x="821" y="1075"/>
                    <a:pt x="821" y="1061"/>
                    <a:pt x="812" y="1052"/>
                  </a:cubicBezTo>
                  <a:lnTo>
                    <a:pt x="306" y="546"/>
                  </a:lnTo>
                  <a:close/>
                  <a:moveTo>
                    <a:pt x="559" y="546"/>
                  </a:moveTo>
                  <a:cubicBezTo>
                    <a:pt x="1049" y="55"/>
                    <a:pt x="1049" y="55"/>
                    <a:pt x="1049" y="55"/>
                  </a:cubicBezTo>
                  <a:cubicBezTo>
                    <a:pt x="1114" y="119"/>
                    <a:pt x="1114" y="119"/>
                    <a:pt x="1114" y="119"/>
                  </a:cubicBezTo>
                  <a:cubicBezTo>
                    <a:pt x="1145" y="88"/>
                    <a:pt x="1145" y="88"/>
                    <a:pt x="1145" y="88"/>
                  </a:cubicBezTo>
                  <a:cubicBezTo>
                    <a:pt x="1065" y="8"/>
                    <a:pt x="1065" y="8"/>
                    <a:pt x="1065" y="8"/>
                  </a:cubicBezTo>
                  <a:cubicBezTo>
                    <a:pt x="1056" y="0"/>
                    <a:pt x="1042" y="0"/>
                    <a:pt x="1034" y="8"/>
                  </a:cubicBezTo>
                  <a:cubicBezTo>
                    <a:pt x="512" y="530"/>
                    <a:pt x="512" y="530"/>
                    <a:pt x="512" y="530"/>
                  </a:cubicBezTo>
                  <a:cubicBezTo>
                    <a:pt x="508" y="535"/>
                    <a:pt x="505" y="540"/>
                    <a:pt x="505" y="546"/>
                  </a:cubicBezTo>
                  <a:cubicBezTo>
                    <a:pt x="505" y="552"/>
                    <a:pt x="508" y="557"/>
                    <a:pt x="512" y="562"/>
                  </a:cubicBezTo>
                  <a:cubicBezTo>
                    <a:pt x="1034" y="1084"/>
                    <a:pt x="1034" y="1084"/>
                    <a:pt x="1034" y="1084"/>
                  </a:cubicBezTo>
                  <a:cubicBezTo>
                    <a:pt x="1038" y="1088"/>
                    <a:pt x="1044" y="1090"/>
                    <a:pt x="1049" y="1090"/>
                  </a:cubicBezTo>
                  <a:cubicBezTo>
                    <a:pt x="1055" y="1090"/>
                    <a:pt x="1061" y="1088"/>
                    <a:pt x="1065" y="1084"/>
                  </a:cubicBezTo>
                  <a:cubicBezTo>
                    <a:pt x="1074" y="1075"/>
                    <a:pt x="1074" y="1061"/>
                    <a:pt x="1065" y="1052"/>
                  </a:cubicBezTo>
                  <a:lnTo>
                    <a:pt x="559" y="5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5837" tIns="32918" rIns="65837" bIns="32918" numCol="1" anchor="t" anchorCtr="0" compatLnSpc="1">
              <a:prstTxWarp prst="textNoShape">
                <a:avLst/>
              </a:prstTxWarp>
            </a:bodyPr>
            <a:lstStyle/>
            <a:p>
              <a:endParaRPr lang="en-US"/>
            </a:p>
          </p:txBody>
        </p:sp>
        <p:sp>
          <p:nvSpPr>
            <p:cNvPr id="123" name="Freeform 33">
              <a:extLst>
                <a:ext uri="{FF2B5EF4-FFF2-40B4-BE49-F238E27FC236}">
                  <a16:creationId xmlns:a16="http://schemas.microsoft.com/office/drawing/2014/main" id="{DD9ECD46-75D1-4A29-A2BE-E06906AA5743}"/>
                </a:ext>
              </a:extLst>
            </p:cNvPr>
            <p:cNvSpPr>
              <a:spLocks/>
            </p:cNvSpPr>
            <p:nvPr/>
          </p:nvSpPr>
          <p:spPr bwMode="auto">
            <a:xfrm>
              <a:off x="3531" y="1136"/>
              <a:ext cx="2038" cy="2044"/>
            </a:xfrm>
            <a:custGeom>
              <a:avLst/>
              <a:gdLst>
                <a:gd name="T0" fmla="*/ 1082 w 1088"/>
                <a:gd name="T1" fmla="*/ 530 h 1090"/>
                <a:gd name="T2" fmla="*/ 560 w 1088"/>
                <a:gd name="T3" fmla="*/ 8 h 1090"/>
                <a:gd name="T4" fmla="*/ 529 w 1088"/>
                <a:gd name="T5" fmla="*/ 8 h 1090"/>
                <a:gd name="T6" fmla="*/ 7 w 1088"/>
                <a:gd name="T7" fmla="*/ 530 h 1090"/>
                <a:gd name="T8" fmla="*/ 0 w 1088"/>
                <a:gd name="T9" fmla="*/ 546 h 1090"/>
                <a:gd name="T10" fmla="*/ 7 w 1088"/>
                <a:gd name="T11" fmla="*/ 562 h 1090"/>
                <a:gd name="T12" fmla="*/ 529 w 1088"/>
                <a:gd name="T13" fmla="*/ 1084 h 1090"/>
                <a:gd name="T14" fmla="*/ 544 w 1088"/>
                <a:gd name="T15" fmla="*/ 1090 h 1090"/>
                <a:gd name="T16" fmla="*/ 560 w 1088"/>
                <a:gd name="T17" fmla="*/ 1084 h 1090"/>
                <a:gd name="T18" fmla="*/ 1082 w 1088"/>
                <a:gd name="T19" fmla="*/ 562 h 1090"/>
                <a:gd name="T20" fmla="*/ 1088 w 1088"/>
                <a:gd name="T21" fmla="*/ 546 h 1090"/>
                <a:gd name="T22" fmla="*/ 1082 w 1088"/>
                <a:gd name="T23" fmla="*/ 530 h 1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88" h="1090">
                  <a:moveTo>
                    <a:pt x="1082" y="530"/>
                  </a:moveTo>
                  <a:cubicBezTo>
                    <a:pt x="560" y="8"/>
                    <a:pt x="560" y="8"/>
                    <a:pt x="560" y="8"/>
                  </a:cubicBezTo>
                  <a:cubicBezTo>
                    <a:pt x="551" y="0"/>
                    <a:pt x="537" y="0"/>
                    <a:pt x="529" y="8"/>
                  </a:cubicBezTo>
                  <a:cubicBezTo>
                    <a:pt x="7" y="530"/>
                    <a:pt x="7" y="530"/>
                    <a:pt x="7" y="530"/>
                  </a:cubicBezTo>
                  <a:cubicBezTo>
                    <a:pt x="3" y="535"/>
                    <a:pt x="0" y="540"/>
                    <a:pt x="0" y="546"/>
                  </a:cubicBezTo>
                  <a:cubicBezTo>
                    <a:pt x="0" y="552"/>
                    <a:pt x="3" y="557"/>
                    <a:pt x="7" y="562"/>
                  </a:cubicBezTo>
                  <a:cubicBezTo>
                    <a:pt x="529" y="1084"/>
                    <a:pt x="529" y="1084"/>
                    <a:pt x="529" y="1084"/>
                  </a:cubicBezTo>
                  <a:cubicBezTo>
                    <a:pt x="533" y="1088"/>
                    <a:pt x="539" y="1090"/>
                    <a:pt x="544" y="1090"/>
                  </a:cubicBezTo>
                  <a:cubicBezTo>
                    <a:pt x="550" y="1090"/>
                    <a:pt x="556" y="1088"/>
                    <a:pt x="560" y="1084"/>
                  </a:cubicBezTo>
                  <a:cubicBezTo>
                    <a:pt x="1082" y="562"/>
                    <a:pt x="1082" y="562"/>
                    <a:pt x="1082" y="562"/>
                  </a:cubicBezTo>
                  <a:cubicBezTo>
                    <a:pt x="1086" y="557"/>
                    <a:pt x="1088" y="552"/>
                    <a:pt x="1088" y="546"/>
                  </a:cubicBezTo>
                  <a:cubicBezTo>
                    <a:pt x="1088" y="540"/>
                    <a:pt x="1086" y="535"/>
                    <a:pt x="1082" y="53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5837" tIns="32918" rIns="65837" bIns="32918" numCol="1" anchor="t" anchorCtr="0" compatLnSpc="1">
              <a:prstTxWarp prst="textNoShape">
                <a:avLst/>
              </a:prstTxWarp>
            </a:bodyPr>
            <a:lstStyle/>
            <a:p>
              <a:endParaRPr lang="en-US"/>
            </a:p>
          </p:txBody>
        </p:sp>
      </p:grpSp>
      <p:sp>
        <p:nvSpPr>
          <p:cNvPr id="104" name="Rounded Rectangle 2">
            <a:extLst>
              <a:ext uri="{FF2B5EF4-FFF2-40B4-BE49-F238E27FC236}">
                <a16:creationId xmlns:a16="http://schemas.microsoft.com/office/drawing/2014/main" id="{FF6100CC-E342-4D4D-92E2-0D695F332455}"/>
              </a:ext>
            </a:extLst>
          </p:cNvPr>
          <p:cNvSpPr/>
          <p:nvPr/>
        </p:nvSpPr>
        <p:spPr bwMode="auto">
          <a:xfrm>
            <a:off x="638930" y="3933013"/>
            <a:ext cx="4720860" cy="610788"/>
          </a:xfrm>
          <a:prstGeom prst="roundRect">
            <a:avLst>
              <a:gd name="adj" fmla="val 0"/>
            </a:avLst>
          </a:prstGeom>
          <a:noFill/>
          <a:ln w="18288" cap="flat" cmpd="sng" algn="ctr">
            <a:solidFill>
              <a:srgbClr val="6E6F73"/>
            </a:solidFill>
            <a:prstDash val="solid"/>
            <a:miter lim="800000"/>
            <a:headEnd type="none" w="sm" len="sm"/>
            <a:tailEnd type="triangle" w="med" len="med"/>
          </a:ln>
          <a:effectLst>
            <a:innerShdw blurRad="76200">
              <a:prstClr val="black"/>
            </a:innerShdw>
          </a:effectLst>
          <a:extLst>
            <a:ext uri="{909E8E84-426E-40DD-AFC4-6F175D3DCCD1}">
              <a14:hiddenFill xmlns:a14="http://schemas.microsoft.com/office/drawing/2010/main">
                <a:solidFill>
                  <a:srgbClr val="FFFFFF"/>
                </a:solidFill>
              </a14:hiddenFill>
            </a:ext>
          </a:extLst>
        </p:spPr>
        <p:txBody>
          <a:bodyPr vert="horz" wrap="none" lIns="65837" tIns="32918" rIns="65837" bIns="32918"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600" b="0" i="0" u="none" strike="noStrike" cap="none" normalizeH="0" baseline="0">
              <a:ln>
                <a:noFill/>
              </a:ln>
              <a:solidFill>
                <a:schemeClr val="tx1"/>
              </a:solidFill>
              <a:effectLst/>
              <a:latin typeface="Arial" charset="0"/>
            </a:endParaRPr>
          </a:p>
        </p:txBody>
      </p:sp>
      <p:sp>
        <p:nvSpPr>
          <p:cNvPr id="105" name="ee4pContent1">
            <a:extLst>
              <a:ext uri="{FF2B5EF4-FFF2-40B4-BE49-F238E27FC236}">
                <a16:creationId xmlns:a16="http://schemas.microsoft.com/office/drawing/2014/main" id="{90BC2D8C-DCB8-4931-88F0-C0389C456067}"/>
              </a:ext>
            </a:extLst>
          </p:cNvPr>
          <p:cNvSpPr txBox="1"/>
          <p:nvPr/>
        </p:nvSpPr>
        <p:spPr>
          <a:xfrm>
            <a:off x="1240615" y="4014730"/>
            <a:ext cx="4025289" cy="446276"/>
          </a:xfrm>
          <a:prstGeom prst="rect">
            <a:avLst/>
          </a:prstGeom>
          <a:ln cap="rnd">
            <a:noFill/>
          </a:ln>
        </p:spPr>
        <p:txBody>
          <a:bodyPr vert="horz" wrap="square" lIns="0" tIns="0" rIns="0" bIns="0" rtlCol="0">
            <a:spAutoFit/>
          </a:bodyPr>
          <a:lstStyle>
            <a:lvl1pPr lvl="0" indent="0">
              <a:lnSpc>
                <a:spcPct val="100000"/>
              </a:lnSpc>
              <a:spcBef>
                <a:spcPts val="0"/>
              </a:spcBef>
              <a:spcAft>
                <a:spcPts val="0"/>
              </a:spcAft>
              <a:buFont typeface="Trebuchet MS" panose="020B0603020202020204" pitchFamily="34" charset="0"/>
              <a:buChar char="​"/>
              <a:defRPr sz="2000">
                <a:latin typeface="Trebuchet MS" panose="020B0603020202020204" pitchFamily="34" charset="0"/>
                <a:sym typeface="Trebuchet MS" panose="020B0603020202020204" pitchFamily="34" charset="0"/>
              </a:defRPr>
            </a:lvl1pPr>
            <a:lvl2pPr marL="324000" lvl="1" indent="-216000">
              <a:lnSpc>
                <a:spcPct val="100000"/>
              </a:lnSpc>
              <a:spcBef>
                <a:spcPts val="0"/>
              </a:spcBef>
              <a:spcAft>
                <a:spcPts val="0"/>
              </a:spcAft>
              <a:buClr>
                <a:schemeClr val="tx2"/>
              </a:buClr>
              <a:buFont typeface="Trebuchet MS" panose="020B0603020202020204" pitchFamily="34" charset="0"/>
              <a:buChar char="•"/>
              <a:defRPr sz="2000">
                <a:latin typeface="Trebuchet MS" panose="020B0603020202020204" pitchFamily="34" charset="0"/>
                <a:sym typeface="Trebuchet MS" panose="020B0603020202020204" pitchFamily="34" charset="0"/>
              </a:defRPr>
            </a:lvl2pPr>
            <a:lvl3pPr marL="648000" lvl="2" indent="-216000">
              <a:lnSpc>
                <a:spcPct val="100000"/>
              </a:lnSpc>
              <a:spcBef>
                <a:spcPts val="0"/>
              </a:spcBef>
              <a:spcAft>
                <a:spcPts val="0"/>
              </a:spcAft>
              <a:buClr>
                <a:schemeClr val="tx2"/>
              </a:buClr>
              <a:buFont typeface="Trebuchet MS" panose="020B0603020202020204" pitchFamily="34" charset="0"/>
              <a:buChar char="–"/>
              <a:defRPr sz="2000">
                <a:latin typeface="Trebuchet MS" panose="020B0603020202020204" pitchFamily="34" charset="0"/>
                <a:sym typeface="Trebuchet MS" panose="020B0603020202020204" pitchFamily="34" charset="0"/>
              </a:defRPr>
            </a:lvl3pPr>
            <a:lvl4pPr marL="0" lvl="3" indent="0">
              <a:lnSpc>
                <a:spcPct val="100000"/>
              </a:lnSpc>
              <a:spcBef>
                <a:spcPts val="0"/>
              </a:spcBef>
              <a:spcAft>
                <a:spcPts val="0"/>
              </a:spcAft>
              <a:buClr>
                <a:schemeClr val="tx2"/>
              </a:buClr>
              <a:buFont typeface="Trebuchet MS" panose="020B0603020202020204" pitchFamily="34" charset="0"/>
              <a:buChar char="​"/>
              <a:defRPr sz="2400">
                <a:solidFill>
                  <a:schemeClr val="tx2"/>
                </a:solidFill>
                <a:latin typeface="Trebuchet MS" panose="020B0603020202020204" pitchFamily="34" charset="0"/>
                <a:sym typeface="Trebuchet MS" panose="020B0603020202020204" pitchFamily="34" charset="0"/>
              </a:defRPr>
            </a:lvl4pPr>
            <a:lvl5pPr marL="0" lvl="4" indent="0">
              <a:lnSpc>
                <a:spcPct val="100000"/>
              </a:lnSpc>
              <a:spcBef>
                <a:spcPts val="0"/>
              </a:spcBef>
              <a:spcAft>
                <a:spcPts val="0"/>
              </a:spcAft>
              <a:buClrTx/>
              <a:buFont typeface="Trebuchet MS" panose="020B0603020202020204" pitchFamily="34" charset="0"/>
              <a:buChar char="​"/>
              <a:defRPr sz="2400" b="1">
                <a:latin typeface="Trebuchet MS" panose="020B0603020202020204" pitchFamily="34" charset="0"/>
                <a:sym typeface="Trebuchet MS" panose="020B0603020202020204" pitchFamily="34" charset="0"/>
              </a:defRPr>
            </a:lvl5pPr>
            <a:lvl6pPr marL="324000" lvl="5" indent="-216000">
              <a:lnSpc>
                <a:spcPct val="100000"/>
              </a:lnSpc>
              <a:spcBef>
                <a:spcPts val="0"/>
              </a:spcBef>
              <a:spcAft>
                <a:spcPts val="0"/>
              </a:spcAft>
              <a:buClr>
                <a:schemeClr val="tx2"/>
              </a:buClr>
              <a:buFont typeface="Trebuchet MS" panose="020B0603020202020204" pitchFamily="34" charset="0"/>
              <a:buChar char="•"/>
              <a:defRPr sz="2400">
                <a:latin typeface="Trebuchet MS" panose="020B0603020202020204" pitchFamily="34" charset="0"/>
                <a:sym typeface="Trebuchet MS" panose="020B0603020202020204" pitchFamily="34" charset="0"/>
              </a:defRPr>
            </a:lvl6pPr>
            <a:lvl7pPr marL="0" lvl="6" indent="0">
              <a:lnSpc>
                <a:spcPct val="100000"/>
              </a:lnSpc>
              <a:spcBef>
                <a:spcPts val="0"/>
              </a:spcBef>
              <a:spcAft>
                <a:spcPts val="0"/>
              </a:spcAft>
              <a:buFont typeface="Trebuchet MS" panose="020B0603020202020204" pitchFamily="34" charset="0"/>
              <a:buChar char="​"/>
              <a:defRPr sz="5400" baseline="0">
                <a:latin typeface="Trebuchet MS" panose="020B0603020202020204" pitchFamily="34" charset="0"/>
                <a:sym typeface="Trebuchet MS" panose="020B0603020202020204" pitchFamily="34" charset="0"/>
              </a:defRPr>
            </a:lvl7pPr>
            <a:lvl8pPr marL="0" lvl="7" indent="0">
              <a:lnSpc>
                <a:spcPct val="100000"/>
              </a:lnSpc>
              <a:spcBef>
                <a:spcPts val="0"/>
              </a:spcBef>
              <a:spcAft>
                <a:spcPts val="0"/>
              </a:spcAft>
              <a:buFont typeface="Trebuchet MS" panose="020B0603020202020204" pitchFamily="34" charset="0"/>
              <a:buChar char="​"/>
              <a:defRPr sz="6600">
                <a:solidFill>
                  <a:schemeClr val="tx2"/>
                </a:solidFill>
                <a:latin typeface="Trebuchet MS" panose="020B0603020202020204" pitchFamily="34" charset="0"/>
                <a:sym typeface="Trebuchet MS" panose="020B0603020202020204" pitchFamily="34" charset="0"/>
              </a:defRPr>
            </a:lvl8pPr>
            <a:lvl9pPr marL="0" lvl="8" indent="0">
              <a:lnSpc>
                <a:spcPct val="100000"/>
              </a:lnSpc>
              <a:spcBef>
                <a:spcPts val="0"/>
              </a:spcBef>
              <a:spcAft>
                <a:spcPts val="0"/>
              </a:spcAft>
              <a:buFont typeface="Trebuchet MS" panose="020B0603020202020204" pitchFamily="34" charset="0"/>
              <a:buChar char="​"/>
              <a:defRPr sz="4400">
                <a:solidFill>
                  <a:schemeClr val="tx2"/>
                </a:solidFill>
                <a:latin typeface="Trebuchet MS" panose="020B0603020202020204" pitchFamily="34" charset="0"/>
                <a:sym typeface="Trebuchet MS" panose="020B0603020202020204" pitchFamily="34" charset="0"/>
              </a:defRPr>
            </a:lvl9pPr>
          </a:lstStyle>
          <a:p>
            <a:pPr>
              <a:spcBef>
                <a:spcPts val="600"/>
              </a:spcBef>
              <a:buSzPct val="100000"/>
            </a:pPr>
            <a:r>
              <a:rPr lang="zh-TW" altLang="en-US" sz="1200">
                <a:solidFill>
                  <a:srgbClr val="03522D"/>
                </a:solidFill>
              </a:rPr>
              <a:t>成為主力行</a:t>
            </a:r>
            <a:r>
              <a:rPr lang="en-US" sz="1200">
                <a:solidFill>
                  <a:srgbClr val="03522D"/>
                </a:solidFill>
              </a:rPr>
              <a:t>：</a:t>
            </a:r>
            <a:r>
              <a:rPr lang="en-US" sz="1200">
                <a:solidFill>
                  <a:srgbClr val="29BA74"/>
                </a:solidFill>
              </a:rPr>
              <a:t>15+項優惠</a:t>
            </a:r>
          </a:p>
          <a:p>
            <a:pPr marL="233280" lvl="1" indent="-155520">
              <a:spcBef>
                <a:spcPts val="600"/>
              </a:spcBef>
              <a:buClr>
                <a:schemeClr val="tx2">
                  <a:lumMod val="100000"/>
                </a:schemeClr>
              </a:buClr>
              <a:buSzPct val="100000"/>
            </a:pPr>
            <a:r>
              <a:rPr lang="zh-TW" altLang="en-US" sz="1200">
                <a:solidFill>
                  <a:schemeClr val="tx1">
                    <a:lumMod val="100000"/>
                  </a:schemeClr>
                </a:solidFill>
              </a:rPr>
              <a:t>設定代扣繳、綁定行動支付等</a:t>
            </a:r>
          </a:p>
        </p:txBody>
      </p:sp>
      <p:grpSp>
        <p:nvGrpSpPr>
          <p:cNvPr id="107" name="bcgBugs_Link"/>
          <p:cNvGrpSpPr>
            <a:grpSpLocks noChangeAspect="1"/>
          </p:cNvGrpSpPr>
          <p:nvPr/>
        </p:nvGrpSpPr>
        <p:grpSpPr bwMode="auto">
          <a:xfrm>
            <a:off x="688773" y="4030047"/>
            <a:ext cx="416473" cy="416881"/>
            <a:chOff x="2818" y="1137"/>
            <a:chExt cx="2044" cy="2046"/>
          </a:xfrm>
        </p:grpSpPr>
        <p:sp>
          <p:nvSpPr>
            <p:cNvPr id="111" name="AutoShape 23"/>
            <p:cNvSpPr>
              <a:spLocks noChangeAspect="1" noChangeArrowheads="1" noTextEdit="1"/>
            </p:cNvSpPr>
            <p:nvPr/>
          </p:nvSpPr>
          <p:spPr bwMode="auto">
            <a:xfrm>
              <a:off x="2818" y="1137"/>
              <a:ext cx="2044" cy="2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5837" tIns="32918" rIns="65837" bIns="32918" numCol="1" anchor="t" anchorCtr="0" compatLnSpc="1">
              <a:prstTxWarp prst="textNoShape">
                <a:avLst/>
              </a:prstTxWarp>
            </a:bodyPr>
            <a:lstStyle/>
            <a:p>
              <a:endParaRPr lang="en-US"/>
            </a:p>
          </p:txBody>
        </p:sp>
        <p:sp>
          <p:nvSpPr>
            <p:cNvPr id="112" name="Freeform 25"/>
            <p:cNvSpPr>
              <a:spLocks noEditPoints="1"/>
            </p:cNvSpPr>
            <p:nvPr/>
          </p:nvSpPr>
          <p:spPr bwMode="auto">
            <a:xfrm>
              <a:off x="3021" y="1340"/>
              <a:ext cx="1641" cy="1642"/>
            </a:xfrm>
            <a:custGeom>
              <a:avLst/>
              <a:gdLst>
                <a:gd name="T0" fmla="*/ 456 w 802"/>
                <a:gd name="T1" fmla="*/ 642 h 802"/>
                <a:gd name="T2" fmla="*/ 448 w 802"/>
                <a:gd name="T3" fmla="*/ 650 h 802"/>
                <a:gd name="T4" fmla="*/ 378 w 802"/>
                <a:gd name="T5" fmla="*/ 720 h 802"/>
                <a:gd name="T6" fmla="*/ 82 w 802"/>
                <a:gd name="T7" fmla="*/ 720 h 802"/>
                <a:gd name="T8" fmla="*/ 82 w 802"/>
                <a:gd name="T9" fmla="*/ 424 h 802"/>
                <a:gd name="T10" fmla="*/ 152 w 802"/>
                <a:gd name="T11" fmla="*/ 354 h 802"/>
                <a:gd name="T12" fmla="*/ 225 w 802"/>
                <a:gd name="T13" fmla="*/ 281 h 802"/>
                <a:gd name="T14" fmla="*/ 521 w 802"/>
                <a:gd name="T15" fmla="*/ 281 h 802"/>
                <a:gd name="T16" fmla="*/ 559 w 802"/>
                <a:gd name="T17" fmla="*/ 333 h 802"/>
                <a:gd name="T18" fmla="*/ 486 w 802"/>
                <a:gd name="T19" fmla="*/ 406 h 802"/>
                <a:gd name="T20" fmla="*/ 453 w 802"/>
                <a:gd name="T21" fmla="*/ 349 h 802"/>
                <a:gd name="T22" fmla="*/ 453 w 802"/>
                <a:gd name="T23" fmla="*/ 349 h 802"/>
                <a:gd name="T24" fmla="*/ 277 w 802"/>
                <a:gd name="T25" fmla="*/ 349 h 802"/>
                <a:gd name="T26" fmla="*/ 148 w 802"/>
                <a:gd name="T27" fmla="*/ 478 h 802"/>
                <a:gd name="T28" fmla="*/ 148 w 802"/>
                <a:gd name="T29" fmla="*/ 654 h 802"/>
                <a:gd name="T30" fmla="*/ 148 w 802"/>
                <a:gd name="T31" fmla="*/ 654 h 802"/>
                <a:gd name="T32" fmla="*/ 324 w 802"/>
                <a:gd name="T33" fmla="*/ 654 h 802"/>
                <a:gd name="T34" fmla="*/ 348 w 802"/>
                <a:gd name="T35" fmla="*/ 631 h 802"/>
                <a:gd name="T36" fmla="*/ 429 w 802"/>
                <a:gd name="T37" fmla="*/ 643 h 802"/>
                <a:gd name="T38" fmla="*/ 456 w 802"/>
                <a:gd name="T39" fmla="*/ 642 h 802"/>
                <a:gd name="T40" fmla="*/ 720 w 802"/>
                <a:gd name="T41" fmla="*/ 82 h 802"/>
                <a:gd name="T42" fmla="*/ 424 w 802"/>
                <a:gd name="T43" fmla="*/ 82 h 802"/>
                <a:gd name="T44" fmla="*/ 352 w 802"/>
                <a:gd name="T45" fmla="*/ 154 h 802"/>
                <a:gd name="T46" fmla="*/ 346 w 802"/>
                <a:gd name="T47" fmla="*/ 160 h 802"/>
                <a:gd name="T48" fmla="*/ 373 w 802"/>
                <a:gd name="T49" fmla="*/ 159 h 802"/>
                <a:gd name="T50" fmla="*/ 454 w 802"/>
                <a:gd name="T51" fmla="*/ 171 h 802"/>
                <a:gd name="T52" fmla="*/ 476 w 802"/>
                <a:gd name="T53" fmla="*/ 149 h 802"/>
                <a:gd name="T54" fmla="*/ 653 w 802"/>
                <a:gd name="T55" fmla="*/ 149 h 802"/>
                <a:gd name="T56" fmla="*/ 653 w 802"/>
                <a:gd name="T57" fmla="*/ 149 h 802"/>
                <a:gd name="T58" fmla="*/ 653 w 802"/>
                <a:gd name="T59" fmla="*/ 326 h 802"/>
                <a:gd name="T60" fmla="*/ 524 w 802"/>
                <a:gd name="T61" fmla="*/ 455 h 802"/>
                <a:gd name="T62" fmla="*/ 347 w 802"/>
                <a:gd name="T63" fmla="*/ 455 h 802"/>
                <a:gd name="T64" fmla="*/ 347 w 802"/>
                <a:gd name="T65" fmla="*/ 455 h 802"/>
                <a:gd name="T66" fmla="*/ 314 w 802"/>
                <a:gd name="T67" fmla="*/ 398 h 802"/>
                <a:gd name="T68" fmla="*/ 243 w 802"/>
                <a:gd name="T69" fmla="*/ 469 h 802"/>
                <a:gd name="T70" fmla="*/ 281 w 802"/>
                <a:gd name="T71" fmla="*/ 521 h 802"/>
                <a:gd name="T72" fmla="*/ 577 w 802"/>
                <a:gd name="T73" fmla="*/ 521 h 802"/>
                <a:gd name="T74" fmla="*/ 648 w 802"/>
                <a:gd name="T75" fmla="*/ 450 h 802"/>
                <a:gd name="T76" fmla="*/ 720 w 802"/>
                <a:gd name="T77" fmla="*/ 378 h 802"/>
                <a:gd name="T78" fmla="*/ 720 w 802"/>
                <a:gd name="T79" fmla="*/ 82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02" h="802">
                  <a:moveTo>
                    <a:pt x="456" y="642"/>
                  </a:moveTo>
                  <a:cubicBezTo>
                    <a:pt x="448" y="650"/>
                    <a:pt x="448" y="650"/>
                    <a:pt x="448" y="650"/>
                  </a:cubicBezTo>
                  <a:cubicBezTo>
                    <a:pt x="378" y="720"/>
                    <a:pt x="378" y="720"/>
                    <a:pt x="378" y="720"/>
                  </a:cubicBezTo>
                  <a:cubicBezTo>
                    <a:pt x="296" y="802"/>
                    <a:pt x="164" y="802"/>
                    <a:pt x="82" y="720"/>
                  </a:cubicBezTo>
                  <a:cubicBezTo>
                    <a:pt x="0" y="638"/>
                    <a:pt x="0" y="506"/>
                    <a:pt x="82" y="424"/>
                  </a:cubicBezTo>
                  <a:cubicBezTo>
                    <a:pt x="152" y="354"/>
                    <a:pt x="152" y="354"/>
                    <a:pt x="152" y="354"/>
                  </a:cubicBezTo>
                  <a:cubicBezTo>
                    <a:pt x="225" y="281"/>
                    <a:pt x="225" y="281"/>
                    <a:pt x="225" y="281"/>
                  </a:cubicBezTo>
                  <a:cubicBezTo>
                    <a:pt x="306" y="199"/>
                    <a:pt x="439" y="199"/>
                    <a:pt x="521" y="281"/>
                  </a:cubicBezTo>
                  <a:cubicBezTo>
                    <a:pt x="537" y="297"/>
                    <a:pt x="549" y="315"/>
                    <a:pt x="559" y="333"/>
                  </a:cubicBezTo>
                  <a:cubicBezTo>
                    <a:pt x="486" y="406"/>
                    <a:pt x="486" y="406"/>
                    <a:pt x="486" y="406"/>
                  </a:cubicBezTo>
                  <a:cubicBezTo>
                    <a:pt x="481" y="385"/>
                    <a:pt x="470" y="365"/>
                    <a:pt x="453" y="349"/>
                  </a:cubicBezTo>
                  <a:cubicBezTo>
                    <a:pt x="453" y="349"/>
                    <a:pt x="453" y="349"/>
                    <a:pt x="453" y="349"/>
                  </a:cubicBezTo>
                  <a:cubicBezTo>
                    <a:pt x="404" y="300"/>
                    <a:pt x="325" y="300"/>
                    <a:pt x="277" y="349"/>
                  </a:cubicBezTo>
                  <a:cubicBezTo>
                    <a:pt x="148" y="478"/>
                    <a:pt x="148" y="478"/>
                    <a:pt x="148" y="478"/>
                  </a:cubicBezTo>
                  <a:cubicBezTo>
                    <a:pt x="99" y="526"/>
                    <a:pt x="99" y="606"/>
                    <a:pt x="148" y="654"/>
                  </a:cubicBezTo>
                  <a:cubicBezTo>
                    <a:pt x="148" y="654"/>
                    <a:pt x="148" y="654"/>
                    <a:pt x="148" y="654"/>
                  </a:cubicBezTo>
                  <a:cubicBezTo>
                    <a:pt x="196" y="703"/>
                    <a:pt x="276" y="703"/>
                    <a:pt x="324" y="654"/>
                  </a:cubicBezTo>
                  <a:cubicBezTo>
                    <a:pt x="348" y="631"/>
                    <a:pt x="348" y="631"/>
                    <a:pt x="348" y="631"/>
                  </a:cubicBezTo>
                  <a:cubicBezTo>
                    <a:pt x="374" y="639"/>
                    <a:pt x="401" y="643"/>
                    <a:pt x="429" y="643"/>
                  </a:cubicBezTo>
                  <a:cubicBezTo>
                    <a:pt x="438" y="643"/>
                    <a:pt x="447" y="643"/>
                    <a:pt x="456" y="642"/>
                  </a:cubicBezTo>
                  <a:close/>
                  <a:moveTo>
                    <a:pt x="720" y="82"/>
                  </a:moveTo>
                  <a:cubicBezTo>
                    <a:pt x="638" y="0"/>
                    <a:pt x="506" y="0"/>
                    <a:pt x="424" y="82"/>
                  </a:cubicBezTo>
                  <a:cubicBezTo>
                    <a:pt x="352" y="154"/>
                    <a:pt x="352" y="154"/>
                    <a:pt x="352" y="154"/>
                  </a:cubicBezTo>
                  <a:cubicBezTo>
                    <a:pt x="346" y="160"/>
                    <a:pt x="346" y="160"/>
                    <a:pt x="346" y="160"/>
                  </a:cubicBezTo>
                  <a:cubicBezTo>
                    <a:pt x="355" y="159"/>
                    <a:pt x="364" y="159"/>
                    <a:pt x="373" y="159"/>
                  </a:cubicBezTo>
                  <a:cubicBezTo>
                    <a:pt x="401" y="159"/>
                    <a:pt x="428" y="163"/>
                    <a:pt x="454" y="171"/>
                  </a:cubicBezTo>
                  <a:cubicBezTo>
                    <a:pt x="476" y="149"/>
                    <a:pt x="476" y="149"/>
                    <a:pt x="476" y="149"/>
                  </a:cubicBezTo>
                  <a:cubicBezTo>
                    <a:pt x="525" y="101"/>
                    <a:pt x="604" y="101"/>
                    <a:pt x="653" y="149"/>
                  </a:cubicBezTo>
                  <a:cubicBezTo>
                    <a:pt x="653" y="149"/>
                    <a:pt x="653" y="149"/>
                    <a:pt x="653" y="149"/>
                  </a:cubicBezTo>
                  <a:cubicBezTo>
                    <a:pt x="701" y="198"/>
                    <a:pt x="701" y="277"/>
                    <a:pt x="653" y="326"/>
                  </a:cubicBezTo>
                  <a:cubicBezTo>
                    <a:pt x="524" y="455"/>
                    <a:pt x="524" y="455"/>
                    <a:pt x="524" y="455"/>
                  </a:cubicBezTo>
                  <a:cubicBezTo>
                    <a:pt x="475" y="504"/>
                    <a:pt x="396" y="504"/>
                    <a:pt x="347" y="455"/>
                  </a:cubicBezTo>
                  <a:cubicBezTo>
                    <a:pt x="347" y="455"/>
                    <a:pt x="347" y="455"/>
                    <a:pt x="347" y="455"/>
                  </a:cubicBezTo>
                  <a:cubicBezTo>
                    <a:pt x="330" y="439"/>
                    <a:pt x="319" y="419"/>
                    <a:pt x="314" y="398"/>
                  </a:cubicBezTo>
                  <a:cubicBezTo>
                    <a:pt x="243" y="469"/>
                    <a:pt x="243" y="469"/>
                    <a:pt x="243" y="469"/>
                  </a:cubicBezTo>
                  <a:cubicBezTo>
                    <a:pt x="253" y="487"/>
                    <a:pt x="265" y="505"/>
                    <a:pt x="281" y="521"/>
                  </a:cubicBezTo>
                  <a:cubicBezTo>
                    <a:pt x="363" y="603"/>
                    <a:pt x="496" y="603"/>
                    <a:pt x="577" y="521"/>
                  </a:cubicBezTo>
                  <a:cubicBezTo>
                    <a:pt x="648" y="450"/>
                    <a:pt x="648" y="450"/>
                    <a:pt x="648" y="450"/>
                  </a:cubicBezTo>
                  <a:cubicBezTo>
                    <a:pt x="720" y="378"/>
                    <a:pt x="720" y="378"/>
                    <a:pt x="720" y="378"/>
                  </a:cubicBezTo>
                  <a:cubicBezTo>
                    <a:pt x="802" y="296"/>
                    <a:pt x="802" y="164"/>
                    <a:pt x="720" y="82"/>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5837" tIns="32918" rIns="65837" bIns="32918" numCol="1" anchor="t" anchorCtr="0" compatLnSpc="1">
              <a:prstTxWarp prst="textNoShape">
                <a:avLst/>
              </a:prstTxWarp>
            </a:bodyPr>
            <a:lstStyle/>
            <a:p>
              <a:endParaRPr lang="en-US"/>
            </a:p>
          </p:txBody>
        </p:sp>
      </p:grpSp>
      <p:sp>
        <p:nvSpPr>
          <p:cNvPr id="108" name="ee4pHeader2"/>
          <p:cNvSpPr txBox="1"/>
          <p:nvPr/>
        </p:nvSpPr>
        <p:spPr>
          <a:xfrm>
            <a:off x="5536596" y="4525398"/>
            <a:ext cx="2767970" cy="507187"/>
          </a:xfrm>
          <a:prstGeom prst="rect">
            <a:avLst/>
          </a:prstGeom>
          <a:solidFill>
            <a:srgbClr val="FFFFFF"/>
          </a:solidFill>
          <a:ln w="6858" cap="rnd" cmpd="sng" algn="ctr">
            <a:solidFill>
              <a:srgbClr val="29BA74"/>
            </a:solidFill>
            <a:prstDash val="solid"/>
            <a:round/>
            <a:headEnd type="none" w="med" len="med"/>
            <a:tailEnd type="none" w="med" len="med"/>
          </a:ln>
        </p:spPr>
        <p:txBody>
          <a:bodyPr wrap="square" lIns="0" tIns="0" rIns="0" bIns="0" rtlCol="0" anchor="ctr" anchorCtr="0">
            <a:noAutofit/>
          </a:bodyPr>
          <a:lstStyle/>
          <a:p>
            <a:pPr marL="0" lvl="3" algn="ctr"/>
            <a:r>
              <a:rPr lang="en-US" sz="1400">
                <a:solidFill>
                  <a:srgbClr val="295E7E"/>
                </a:solidFill>
              </a:rPr>
              <a:t>200+</a:t>
            </a:r>
          </a:p>
          <a:p>
            <a:pPr marL="0" lvl="3" algn="ctr"/>
            <a:r>
              <a:rPr lang="en-US" sz="1400" err="1">
                <a:solidFill>
                  <a:schemeClr val="tx2"/>
                </a:solidFill>
              </a:rPr>
              <a:t>擴大第三方優惠</a:t>
            </a:r>
            <a:endParaRPr lang="en-US" sz="1400">
              <a:solidFill>
                <a:srgbClr val="295E7E"/>
              </a:solidFill>
            </a:endParaRPr>
          </a:p>
        </p:txBody>
      </p:sp>
      <p:sp>
        <p:nvSpPr>
          <p:cNvPr id="109" name="ee4pContent1">
            <a:extLst>
              <a:ext uri="{FF2B5EF4-FFF2-40B4-BE49-F238E27FC236}">
                <a16:creationId xmlns:a16="http://schemas.microsoft.com/office/drawing/2014/main" id="{6A7E52DF-6BFD-4315-AA31-FD2CB58D7F25}"/>
              </a:ext>
            </a:extLst>
          </p:cNvPr>
          <p:cNvSpPr txBox="1"/>
          <p:nvPr/>
        </p:nvSpPr>
        <p:spPr>
          <a:xfrm>
            <a:off x="1240615" y="4910583"/>
            <a:ext cx="4025289" cy="446276"/>
          </a:xfrm>
          <a:prstGeom prst="rect">
            <a:avLst/>
          </a:prstGeom>
          <a:ln cap="rnd">
            <a:noFill/>
          </a:ln>
        </p:spPr>
        <p:txBody>
          <a:bodyPr vert="horz" wrap="square" lIns="0" tIns="0" rIns="0" bIns="0" rtlCol="0">
            <a:spAutoFit/>
          </a:bodyPr>
          <a:lstStyle>
            <a:lvl1pPr lvl="0" indent="0">
              <a:lnSpc>
                <a:spcPct val="100000"/>
              </a:lnSpc>
              <a:spcBef>
                <a:spcPts val="0"/>
              </a:spcBef>
              <a:spcAft>
                <a:spcPts val="0"/>
              </a:spcAft>
              <a:buFont typeface="Trebuchet MS" panose="020B0603020202020204" pitchFamily="34" charset="0"/>
              <a:buChar char="​"/>
              <a:defRPr sz="2000">
                <a:latin typeface="Trebuchet MS" panose="020B0603020202020204" pitchFamily="34" charset="0"/>
                <a:sym typeface="Trebuchet MS" panose="020B0603020202020204" pitchFamily="34" charset="0"/>
              </a:defRPr>
            </a:lvl1pPr>
            <a:lvl2pPr marL="324000" lvl="1" indent="-216000">
              <a:lnSpc>
                <a:spcPct val="100000"/>
              </a:lnSpc>
              <a:spcBef>
                <a:spcPts val="0"/>
              </a:spcBef>
              <a:spcAft>
                <a:spcPts val="0"/>
              </a:spcAft>
              <a:buClr>
                <a:schemeClr val="tx2"/>
              </a:buClr>
              <a:buFont typeface="Trebuchet MS" panose="020B0603020202020204" pitchFamily="34" charset="0"/>
              <a:buChar char="•"/>
              <a:defRPr sz="2000">
                <a:latin typeface="Trebuchet MS" panose="020B0603020202020204" pitchFamily="34" charset="0"/>
                <a:sym typeface="Trebuchet MS" panose="020B0603020202020204" pitchFamily="34" charset="0"/>
              </a:defRPr>
            </a:lvl2pPr>
            <a:lvl3pPr marL="648000" lvl="2" indent="-216000">
              <a:lnSpc>
                <a:spcPct val="100000"/>
              </a:lnSpc>
              <a:spcBef>
                <a:spcPts val="0"/>
              </a:spcBef>
              <a:spcAft>
                <a:spcPts val="0"/>
              </a:spcAft>
              <a:buClr>
                <a:schemeClr val="tx2"/>
              </a:buClr>
              <a:buFont typeface="Trebuchet MS" panose="020B0603020202020204" pitchFamily="34" charset="0"/>
              <a:buChar char="–"/>
              <a:defRPr sz="2000">
                <a:latin typeface="Trebuchet MS" panose="020B0603020202020204" pitchFamily="34" charset="0"/>
                <a:sym typeface="Trebuchet MS" panose="020B0603020202020204" pitchFamily="34" charset="0"/>
              </a:defRPr>
            </a:lvl3pPr>
            <a:lvl4pPr marL="0" lvl="3" indent="0">
              <a:lnSpc>
                <a:spcPct val="100000"/>
              </a:lnSpc>
              <a:spcBef>
                <a:spcPts val="0"/>
              </a:spcBef>
              <a:spcAft>
                <a:spcPts val="0"/>
              </a:spcAft>
              <a:buClr>
                <a:schemeClr val="tx2"/>
              </a:buClr>
              <a:buFont typeface="Trebuchet MS" panose="020B0603020202020204" pitchFamily="34" charset="0"/>
              <a:buChar char="​"/>
              <a:defRPr sz="2400">
                <a:solidFill>
                  <a:schemeClr val="tx2"/>
                </a:solidFill>
                <a:latin typeface="Trebuchet MS" panose="020B0603020202020204" pitchFamily="34" charset="0"/>
                <a:sym typeface="Trebuchet MS" panose="020B0603020202020204" pitchFamily="34" charset="0"/>
              </a:defRPr>
            </a:lvl4pPr>
            <a:lvl5pPr marL="0" lvl="4" indent="0">
              <a:lnSpc>
                <a:spcPct val="100000"/>
              </a:lnSpc>
              <a:spcBef>
                <a:spcPts val="0"/>
              </a:spcBef>
              <a:spcAft>
                <a:spcPts val="0"/>
              </a:spcAft>
              <a:buClrTx/>
              <a:buFont typeface="Trebuchet MS" panose="020B0603020202020204" pitchFamily="34" charset="0"/>
              <a:buChar char="​"/>
              <a:defRPr sz="2400" b="1">
                <a:latin typeface="Trebuchet MS" panose="020B0603020202020204" pitchFamily="34" charset="0"/>
                <a:sym typeface="Trebuchet MS" panose="020B0603020202020204" pitchFamily="34" charset="0"/>
              </a:defRPr>
            </a:lvl5pPr>
            <a:lvl6pPr marL="324000" lvl="5" indent="-216000">
              <a:lnSpc>
                <a:spcPct val="100000"/>
              </a:lnSpc>
              <a:spcBef>
                <a:spcPts val="0"/>
              </a:spcBef>
              <a:spcAft>
                <a:spcPts val="0"/>
              </a:spcAft>
              <a:buClr>
                <a:schemeClr val="tx2"/>
              </a:buClr>
              <a:buFont typeface="Trebuchet MS" panose="020B0603020202020204" pitchFamily="34" charset="0"/>
              <a:buChar char="•"/>
              <a:defRPr sz="2400">
                <a:latin typeface="Trebuchet MS" panose="020B0603020202020204" pitchFamily="34" charset="0"/>
                <a:sym typeface="Trebuchet MS" panose="020B0603020202020204" pitchFamily="34" charset="0"/>
              </a:defRPr>
            </a:lvl6pPr>
            <a:lvl7pPr marL="0" lvl="6" indent="0">
              <a:lnSpc>
                <a:spcPct val="100000"/>
              </a:lnSpc>
              <a:spcBef>
                <a:spcPts val="0"/>
              </a:spcBef>
              <a:spcAft>
                <a:spcPts val="0"/>
              </a:spcAft>
              <a:buFont typeface="Trebuchet MS" panose="020B0603020202020204" pitchFamily="34" charset="0"/>
              <a:buChar char="​"/>
              <a:defRPr sz="5400" baseline="0">
                <a:latin typeface="Trebuchet MS" panose="020B0603020202020204" pitchFamily="34" charset="0"/>
                <a:sym typeface="Trebuchet MS" panose="020B0603020202020204" pitchFamily="34" charset="0"/>
              </a:defRPr>
            </a:lvl7pPr>
            <a:lvl8pPr marL="0" lvl="7" indent="0">
              <a:lnSpc>
                <a:spcPct val="100000"/>
              </a:lnSpc>
              <a:spcBef>
                <a:spcPts val="0"/>
              </a:spcBef>
              <a:spcAft>
                <a:spcPts val="0"/>
              </a:spcAft>
              <a:buFont typeface="Trebuchet MS" panose="020B0603020202020204" pitchFamily="34" charset="0"/>
              <a:buChar char="​"/>
              <a:defRPr sz="6600">
                <a:solidFill>
                  <a:schemeClr val="tx2"/>
                </a:solidFill>
                <a:latin typeface="Trebuchet MS" panose="020B0603020202020204" pitchFamily="34" charset="0"/>
                <a:sym typeface="Trebuchet MS" panose="020B0603020202020204" pitchFamily="34" charset="0"/>
              </a:defRPr>
            </a:lvl8pPr>
            <a:lvl9pPr marL="0" lvl="8" indent="0">
              <a:lnSpc>
                <a:spcPct val="100000"/>
              </a:lnSpc>
              <a:spcBef>
                <a:spcPts val="0"/>
              </a:spcBef>
              <a:spcAft>
                <a:spcPts val="0"/>
              </a:spcAft>
              <a:buFont typeface="Trebuchet MS" panose="020B0603020202020204" pitchFamily="34" charset="0"/>
              <a:buChar char="​"/>
              <a:defRPr sz="4400">
                <a:solidFill>
                  <a:schemeClr val="tx2"/>
                </a:solidFill>
                <a:latin typeface="Trebuchet MS" panose="020B0603020202020204" pitchFamily="34" charset="0"/>
                <a:sym typeface="Trebuchet MS" panose="020B0603020202020204" pitchFamily="34" charset="0"/>
              </a:defRPr>
            </a:lvl9pPr>
          </a:lstStyle>
          <a:p>
            <a:pPr>
              <a:spcBef>
                <a:spcPts val="600"/>
              </a:spcBef>
              <a:buSzPct val="100000"/>
            </a:pPr>
            <a:r>
              <a:rPr lang="en-US" sz="1200" err="1">
                <a:solidFill>
                  <a:srgbClr val="03522D"/>
                </a:solidFill>
              </a:rPr>
              <a:t>基於</a:t>
            </a:r>
            <a:r>
              <a:rPr lang="zh-TW" altLang="en-US" sz="1200">
                <a:solidFill>
                  <a:srgbClr val="03522D"/>
                </a:solidFill>
              </a:rPr>
              <a:t>交易趨勢</a:t>
            </a:r>
            <a:r>
              <a:rPr lang="en-US" altLang="zh-TW" sz="1200">
                <a:solidFill>
                  <a:srgbClr val="03522D"/>
                </a:solidFill>
              </a:rPr>
              <a:t>/</a:t>
            </a:r>
            <a:r>
              <a:rPr lang="zh-TW" altLang="en-US" sz="1200">
                <a:solidFill>
                  <a:srgbClr val="03522D"/>
                </a:solidFill>
              </a:rPr>
              <a:t>洞察</a:t>
            </a:r>
            <a:r>
              <a:rPr lang="en-US" sz="1200">
                <a:solidFill>
                  <a:srgbClr val="03522D"/>
                </a:solidFill>
              </a:rPr>
              <a:t>的</a:t>
            </a:r>
            <a:r>
              <a:rPr lang="zh-TW" altLang="en-US" sz="1200">
                <a:solidFill>
                  <a:srgbClr val="03522D"/>
                </a:solidFill>
              </a:rPr>
              <a:t>推薦</a:t>
            </a:r>
            <a:r>
              <a:rPr lang="en-US" sz="1200">
                <a:solidFill>
                  <a:srgbClr val="03522D"/>
                </a:solidFill>
              </a:rPr>
              <a:t>：</a:t>
            </a:r>
            <a:r>
              <a:rPr lang="en-US" sz="1200">
                <a:solidFill>
                  <a:srgbClr val="29BA74"/>
                </a:solidFill>
              </a:rPr>
              <a:t>80+項優惠</a:t>
            </a:r>
          </a:p>
          <a:p>
            <a:pPr marL="233280" lvl="1" indent="-155520">
              <a:spcBef>
                <a:spcPts val="600"/>
              </a:spcBef>
              <a:buClr>
                <a:schemeClr val="tx2">
                  <a:lumMod val="100000"/>
                </a:schemeClr>
              </a:buClr>
              <a:buSzPct val="100000"/>
            </a:pPr>
            <a:r>
              <a:rPr lang="zh-TW" altLang="en-US" sz="1200">
                <a:solidFill>
                  <a:schemeClr val="tx1">
                    <a:lumMod val="100000"/>
                  </a:schemeClr>
                </a:solidFill>
              </a:rPr>
              <a:t>繳費提醒、餘額即將不足</a:t>
            </a:r>
            <a:r>
              <a:rPr lang="en-US" sz="1200" err="1">
                <a:solidFill>
                  <a:schemeClr val="tx1">
                    <a:lumMod val="100000"/>
                  </a:schemeClr>
                </a:solidFill>
              </a:rPr>
              <a:t>提醒</a:t>
            </a:r>
            <a:r>
              <a:rPr lang="zh-TW" altLang="en-US" sz="1200">
                <a:solidFill>
                  <a:schemeClr val="tx1">
                    <a:lumMod val="100000"/>
                  </a:schemeClr>
                </a:solidFill>
              </a:rPr>
              <a:t>、異常交易提醒</a:t>
            </a:r>
            <a:endParaRPr lang="en-US" sz="1200">
              <a:solidFill>
                <a:schemeClr val="tx1">
                  <a:lumMod val="100000"/>
                </a:schemeClr>
              </a:solidFill>
            </a:endParaRPr>
          </a:p>
        </p:txBody>
      </p:sp>
      <p:sp>
        <p:nvSpPr>
          <p:cNvPr id="110" name="ee4pContent1">
            <a:extLst>
              <a:ext uri="{FF2B5EF4-FFF2-40B4-BE49-F238E27FC236}">
                <a16:creationId xmlns:a16="http://schemas.microsoft.com/office/drawing/2014/main" id="{2869015B-5085-4D24-A77E-C8FF3ED081CD}"/>
              </a:ext>
            </a:extLst>
          </p:cNvPr>
          <p:cNvSpPr txBox="1"/>
          <p:nvPr/>
        </p:nvSpPr>
        <p:spPr>
          <a:xfrm>
            <a:off x="1240615" y="5775126"/>
            <a:ext cx="4025289" cy="446276"/>
          </a:xfrm>
          <a:prstGeom prst="rect">
            <a:avLst/>
          </a:prstGeom>
          <a:ln cap="rnd">
            <a:noFill/>
          </a:ln>
        </p:spPr>
        <p:txBody>
          <a:bodyPr vert="horz" wrap="square" lIns="0" tIns="0" rIns="0" bIns="0" rtlCol="0">
            <a:spAutoFit/>
          </a:bodyPr>
          <a:lstStyle>
            <a:lvl1pPr lvl="0" indent="0">
              <a:lnSpc>
                <a:spcPct val="100000"/>
              </a:lnSpc>
              <a:spcBef>
                <a:spcPts val="0"/>
              </a:spcBef>
              <a:spcAft>
                <a:spcPts val="0"/>
              </a:spcAft>
              <a:buFont typeface="Trebuchet MS" panose="020B0603020202020204" pitchFamily="34" charset="0"/>
              <a:buChar char="​"/>
              <a:defRPr sz="2000">
                <a:latin typeface="Trebuchet MS" panose="020B0603020202020204" pitchFamily="34" charset="0"/>
                <a:sym typeface="Trebuchet MS" panose="020B0603020202020204" pitchFamily="34" charset="0"/>
              </a:defRPr>
            </a:lvl1pPr>
            <a:lvl2pPr marL="324000" lvl="1" indent="-216000">
              <a:lnSpc>
                <a:spcPct val="100000"/>
              </a:lnSpc>
              <a:spcBef>
                <a:spcPts val="0"/>
              </a:spcBef>
              <a:spcAft>
                <a:spcPts val="0"/>
              </a:spcAft>
              <a:buClr>
                <a:schemeClr val="tx2"/>
              </a:buClr>
              <a:buFont typeface="Trebuchet MS" panose="020B0603020202020204" pitchFamily="34" charset="0"/>
              <a:buChar char="•"/>
              <a:defRPr sz="2000">
                <a:latin typeface="Trebuchet MS" panose="020B0603020202020204" pitchFamily="34" charset="0"/>
                <a:sym typeface="Trebuchet MS" panose="020B0603020202020204" pitchFamily="34" charset="0"/>
              </a:defRPr>
            </a:lvl2pPr>
            <a:lvl3pPr marL="648000" lvl="2" indent="-216000">
              <a:lnSpc>
                <a:spcPct val="100000"/>
              </a:lnSpc>
              <a:spcBef>
                <a:spcPts val="0"/>
              </a:spcBef>
              <a:spcAft>
                <a:spcPts val="0"/>
              </a:spcAft>
              <a:buClr>
                <a:schemeClr val="tx2"/>
              </a:buClr>
              <a:buFont typeface="Trebuchet MS" panose="020B0603020202020204" pitchFamily="34" charset="0"/>
              <a:buChar char="–"/>
              <a:defRPr sz="2000">
                <a:latin typeface="Trebuchet MS" panose="020B0603020202020204" pitchFamily="34" charset="0"/>
                <a:sym typeface="Trebuchet MS" panose="020B0603020202020204" pitchFamily="34" charset="0"/>
              </a:defRPr>
            </a:lvl3pPr>
            <a:lvl4pPr marL="0" lvl="3" indent="0">
              <a:lnSpc>
                <a:spcPct val="100000"/>
              </a:lnSpc>
              <a:spcBef>
                <a:spcPts val="0"/>
              </a:spcBef>
              <a:spcAft>
                <a:spcPts val="0"/>
              </a:spcAft>
              <a:buClr>
                <a:schemeClr val="tx2"/>
              </a:buClr>
              <a:buFont typeface="Trebuchet MS" panose="020B0603020202020204" pitchFamily="34" charset="0"/>
              <a:buChar char="​"/>
              <a:defRPr sz="2400">
                <a:solidFill>
                  <a:schemeClr val="tx2"/>
                </a:solidFill>
                <a:latin typeface="Trebuchet MS" panose="020B0603020202020204" pitchFamily="34" charset="0"/>
                <a:sym typeface="Trebuchet MS" panose="020B0603020202020204" pitchFamily="34" charset="0"/>
              </a:defRPr>
            </a:lvl4pPr>
            <a:lvl5pPr marL="0" lvl="4" indent="0">
              <a:lnSpc>
                <a:spcPct val="100000"/>
              </a:lnSpc>
              <a:spcBef>
                <a:spcPts val="0"/>
              </a:spcBef>
              <a:spcAft>
                <a:spcPts val="0"/>
              </a:spcAft>
              <a:buClrTx/>
              <a:buFont typeface="Trebuchet MS" panose="020B0603020202020204" pitchFamily="34" charset="0"/>
              <a:buChar char="​"/>
              <a:defRPr sz="2400" b="1">
                <a:latin typeface="Trebuchet MS" panose="020B0603020202020204" pitchFamily="34" charset="0"/>
                <a:sym typeface="Trebuchet MS" panose="020B0603020202020204" pitchFamily="34" charset="0"/>
              </a:defRPr>
            </a:lvl5pPr>
            <a:lvl6pPr marL="324000" lvl="5" indent="-216000">
              <a:lnSpc>
                <a:spcPct val="100000"/>
              </a:lnSpc>
              <a:spcBef>
                <a:spcPts val="0"/>
              </a:spcBef>
              <a:spcAft>
                <a:spcPts val="0"/>
              </a:spcAft>
              <a:buClr>
                <a:schemeClr val="tx2"/>
              </a:buClr>
              <a:buFont typeface="Trebuchet MS" panose="020B0603020202020204" pitchFamily="34" charset="0"/>
              <a:buChar char="•"/>
              <a:defRPr sz="2400">
                <a:latin typeface="Trebuchet MS" panose="020B0603020202020204" pitchFamily="34" charset="0"/>
                <a:sym typeface="Trebuchet MS" panose="020B0603020202020204" pitchFamily="34" charset="0"/>
              </a:defRPr>
            </a:lvl6pPr>
            <a:lvl7pPr marL="0" lvl="6" indent="0">
              <a:lnSpc>
                <a:spcPct val="100000"/>
              </a:lnSpc>
              <a:spcBef>
                <a:spcPts val="0"/>
              </a:spcBef>
              <a:spcAft>
                <a:spcPts val="0"/>
              </a:spcAft>
              <a:buFont typeface="Trebuchet MS" panose="020B0603020202020204" pitchFamily="34" charset="0"/>
              <a:buChar char="​"/>
              <a:defRPr sz="5400" baseline="0">
                <a:latin typeface="Trebuchet MS" panose="020B0603020202020204" pitchFamily="34" charset="0"/>
                <a:sym typeface="Trebuchet MS" panose="020B0603020202020204" pitchFamily="34" charset="0"/>
              </a:defRPr>
            </a:lvl7pPr>
            <a:lvl8pPr marL="0" lvl="7" indent="0">
              <a:lnSpc>
                <a:spcPct val="100000"/>
              </a:lnSpc>
              <a:spcBef>
                <a:spcPts val="0"/>
              </a:spcBef>
              <a:spcAft>
                <a:spcPts val="0"/>
              </a:spcAft>
              <a:buFont typeface="Trebuchet MS" panose="020B0603020202020204" pitchFamily="34" charset="0"/>
              <a:buChar char="​"/>
              <a:defRPr sz="6600">
                <a:solidFill>
                  <a:schemeClr val="tx2"/>
                </a:solidFill>
                <a:latin typeface="Trebuchet MS" panose="020B0603020202020204" pitchFamily="34" charset="0"/>
                <a:sym typeface="Trebuchet MS" panose="020B0603020202020204" pitchFamily="34" charset="0"/>
              </a:defRPr>
            </a:lvl8pPr>
            <a:lvl9pPr marL="0" lvl="8" indent="0">
              <a:lnSpc>
                <a:spcPct val="100000"/>
              </a:lnSpc>
              <a:spcBef>
                <a:spcPts val="0"/>
              </a:spcBef>
              <a:spcAft>
                <a:spcPts val="0"/>
              </a:spcAft>
              <a:buFont typeface="Trebuchet MS" panose="020B0603020202020204" pitchFamily="34" charset="0"/>
              <a:buChar char="​"/>
              <a:defRPr sz="4400">
                <a:solidFill>
                  <a:schemeClr val="tx2"/>
                </a:solidFill>
                <a:latin typeface="Trebuchet MS" panose="020B0603020202020204" pitchFamily="34" charset="0"/>
                <a:sym typeface="Trebuchet MS" panose="020B0603020202020204" pitchFamily="34" charset="0"/>
              </a:defRPr>
            </a:lvl9pPr>
          </a:lstStyle>
          <a:p>
            <a:pPr>
              <a:spcBef>
                <a:spcPts val="600"/>
              </a:spcBef>
              <a:buSzPct val="100000"/>
            </a:pPr>
            <a:r>
              <a:rPr lang="en-US" sz="1200">
                <a:solidFill>
                  <a:srgbClr val="03522D"/>
                </a:solidFill>
              </a:rPr>
              <a:t>產品特色：</a:t>
            </a:r>
            <a:r>
              <a:rPr lang="en-US" sz="1200">
                <a:solidFill>
                  <a:srgbClr val="29BA74"/>
                </a:solidFill>
              </a:rPr>
              <a:t>100+項</a:t>
            </a:r>
            <a:r>
              <a:rPr lang="en-US" altLang="zh-TW" sz="1200">
                <a:solidFill>
                  <a:srgbClr val="29BA74"/>
                </a:solidFill>
              </a:rPr>
              <a:t>優惠</a:t>
            </a:r>
            <a:endParaRPr lang="en-US" sz="1200">
              <a:solidFill>
                <a:srgbClr val="29BA74"/>
              </a:solidFill>
            </a:endParaRPr>
          </a:p>
          <a:p>
            <a:pPr marL="233280" lvl="1" indent="-155520">
              <a:spcBef>
                <a:spcPts val="600"/>
              </a:spcBef>
              <a:buClr>
                <a:schemeClr val="tx2">
                  <a:lumMod val="100000"/>
                </a:schemeClr>
              </a:buClr>
              <a:buSzPct val="100000"/>
            </a:pPr>
            <a:r>
              <a:rPr lang="zh-TW" altLang="en-US" sz="1200">
                <a:solidFill>
                  <a:schemeClr val="tx1">
                    <a:lumMod val="100000"/>
                  </a:schemeClr>
                </a:solidFill>
              </a:rPr>
              <a:t>個人財務管理功能、付款功能、財富管理（儀表板）等。</a:t>
            </a:r>
          </a:p>
        </p:txBody>
      </p:sp>
      <p:sp>
        <p:nvSpPr>
          <p:cNvPr id="154" name="IllustrativeStamp">
            <a:extLst>
              <a:ext uri="{FF2B5EF4-FFF2-40B4-BE49-F238E27FC236}">
                <a16:creationId xmlns:a16="http://schemas.microsoft.com/office/drawing/2014/main" id="{C9DBB9D6-BE50-44C6-8142-1E27EEF8ED86}"/>
              </a:ext>
            </a:extLst>
          </p:cNvPr>
          <p:cNvSpPr/>
          <p:nvPr/>
        </p:nvSpPr>
        <p:spPr>
          <a:xfrm>
            <a:off x="9501810" y="1207275"/>
            <a:ext cx="2059820" cy="301458"/>
          </a:xfrm>
          <a:prstGeom prst="rect">
            <a:avLst/>
          </a:prstGeom>
          <a:solidFill>
            <a:schemeClr val="tx2"/>
          </a:solidFill>
          <a:ln w="9525">
            <a:no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l"/>
            <a:r>
              <a:rPr lang="zh-TW" altLang="en-US" sz="1200">
                <a:solidFill>
                  <a:schemeClr val="bg1"/>
                </a:solidFill>
              </a:rPr>
              <a:t>以提供存款帳戶客戶方案示意</a:t>
            </a:r>
            <a:endParaRPr lang="en-US" sz="1200">
              <a:solidFill>
                <a:schemeClr val="bg1"/>
              </a:solidFill>
            </a:endParaRPr>
          </a:p>
        </p:txBody>
      </p:sp>
      <p:sp>
        <p:nvSpPr>
          <p:cNvPr id="168" name="Freeform 5">
            <a:extLst>
              <a:ext uri="{FF2B5EF4-FFF2-40B4-BE49-F238E27FC236}">
                <a16:creationId xmlns:a16="http://schemas.microsoft.com/office/drawing/2014/main" id="{90B39F5E-C5B6-49E0-9D57-B2535621CAAE}"/>
              </a:ext>
            </a:extLst>
          </p:cNvPr>
          <p:cNvSpPr>
            <a:spLocks/>
          </p:cNvSpPr>
          <p:nvPr/>
        </p:nvSpPr>
        <p:spPr bwMode="auto">
          <a:xfrm>
            <a:off x="11191370" y="1708401"/>
            <a:ext cx="81872" cy="472939"/>
          </a:xfrm>
          <a:custGeom>
            <a:avLst/>
            <a:gdLst>
              <a:gd name="T0" fmla="*/ 450 w 480"/>
              <a:gd name="T1" fmla="*/ 0 h 799"/>
              <a:gd name="T2" fmla="*/ 40 w 480"/>
              <a:gd name="T3" fmla="*/ 0 h 799"/>
              <a:gd name="T4" fmla="*/ 12 w 480"/>
              <a:gd name="T5" fmla="*/ 11 h 799"/>
              <a:gd name="T6" fmla="*/ 0 w 480"/>
              <a:gd name="T7" fmla="*/ 40 h 799"/>
              <a:gd name="T8" fmla="*/ 0 w 480"/>
              <a:gd name="T9" fmla="*/ 399 h 799"/>
              <a:gd name="T10" fmla="*/ 0 w 480"/>
              <a:gd name="T11" fmla="*/ 759 h 799"/>
              <a:gd name="T12" fmla="*/ 12 w 480"/>
              <a:gd name="T13" fmla="*/ 787 h 799"/>
              <a:gd name="T14" fmla="*/ 40 w 480"/>
              <a:gd name="T15" fmla="*/ 799 h 799"/>
              <a:gd name="T16" fmla="*/ 450 w 480"/>
              <a:gd name="T17" fmla="*/ 799 h 799"/>
              <a:gd name="T18" fmla="*/ 480 w 480"/>
              <a:gd name="T19" fmla="*/ 794 h 799"/>
              <a:gd name="T20" fmla="*/ 480 w 480"/>
              <a:gd name="T21" fmla="*/ 399 h 799"/>
              <a:gd name="T22" fmla="*/ 480 w 480"/>
              <a:gd name="T23" fmla="*/ 5 h 799"/>
              <a:gd name="T24" fmla="*/ 450 w 480"/>
              <a:gd name="T25" fmla="*/ 0 h 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0" h="799">
                <a:moveTo>
                  <a:pt x="450" y="0"/>
                </a:moveTo>
                <a:cubicBezTo>
                  <a:pt x="40" y="0"/>
                  <a:pt x="40" y="0"/>
                  <a:pt x="40" y="0"/>
                </a:cubicBezTo>
                <a:cubicBezTo>
                  <a:pt x="30" y="0"/>
                  <a:pt x="20" y="3"/>
                  <a:pt x="12" y="11"/>
                </a:cubicBezTo>
                <a:cubicBezTo>
                  <a:pt x="4" y="19"/>
                  <a:pt x="0" y="29"/>
                  <a:pt x="0" y="40"/>
                </a:cubicBezTo>
                <a:cubicBezTo>
                  <a:pt x="0" y="399"/>
                  <a:pt x="0" y="399"/>
                  <a:pt x="0" y="399"/>
                </a:cubicBezTo>
                <a:cubicBezTo>
                  <a:pt x="0" y="759"/>
                  <a:pt x="0" y="759"/>
                  <a:pt x="0" y="759"/>
                </a:cubicBezTo>
                <a:cubicBezTo>
                  <a:pt x="0" y="769"/>
                  <a:pt x="4" y="779"/>
                  <a:pt x="12" y="787"/>
                </a:cubicBezTo>
                <a:cubicBezTo>
                  <a:pt x="20" y="795"/>
                  <a:pt x="30" y="799"/>
                  <a:pt x="40" y="799"/>
                </a:cubicBezTo>
                <a:cubicBezTo>
                  <a:pt x="450" y="799"/>
                  <a:pt x="450" y="799"/>
                  <a:pt x="450" y="799"/>
                </a:cubicBezTo>
                <a:cubicBezTo>
                  <a:pt x="461" y="799"/>
                  <a:pt x="471" y="797"/>
                  <a:pt x="480" y="794"/>
                </a:cubicBezTo>
                <a:cubicBezTo>
                  <a:pt x="480" y="399"/>
                  <a:pt x="480" y="399"/>
                  <a:pt x="480" y="399"/>
                </a:cubicBezTo>
                <a:cubicBezTo>
                  <a:pt x="480" y="5"/>
                  <a:pt x="480" y="5"/>
                  <a:pt x="480" y="5"/>
                </a:cubicBezTo>
                <a:cubicBezTo>
                  <a:pt x="471" y="1"/>
                  <a:pt x="461" y="0"/>
                  <a:pt x="450" y="0"/>
                </a:cubicBezTo>
                <a:close/>
              </a:path>
            </a:pathLst>
          </a:custGeom>
          <a:solidFill>
            <a:srgbClr val="123A26"/>
          </a:solidFill>
          <a:ln>
            <a:noFill/>
          </a:ln>
        </p:spPr>
        <p:txBody>
          <a:bodyPr vert="horz" wrap="square" lIns="60863" tIns="30432" rIns="60863" bIns="30432"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64" b="0" i="0" u="none" strike="noStrike" kern="0" cap="none" spc="0" normalizeH="0" baseline="0" noProof="0">
              <a:ln>
                <a:noFill/>
              </a:ln>
              <a:solidFill>
                <a:prstClr val="black"/>
              </a:solidFill>
              <a:effectLst/>
              <a:uLnTx/>
              <a:uFillTx/>
              <a:latin typeface="Calibri" panose="020F0502020204030204"/>
            </a:endParaRPr>
          </a:p>
        </p:txBody>
      </p:sp>
      <p:sp>
        <p:nvSpPr>
          <p:cNvPr id="169" name="Rectangle 6">
            <a:extLst>
              <a:ext uri="{FF2B5EF4-FFF2-40B4-BE49-F238E27FC236}">
                <a16:creationId xmlns:a16="http://schemas.microsoft.com/office/drawing/2014/main" id="{82F49A20-2944-4167-86E6-C58E3C6F622B}"/>
              </a:ext>
            </a:extLst>
          </p:cNvPr>
          <p:cNvSpPr>
            <a:spLocks noChangeArrowheads="1"/>
          </p:cNvSpPr>
          <p:nvPr/>
        </p:nvSpPr>
        <p:spPr bwMode="auto">
          <a:xfrm>
            <a:off x="9116930" y="1766131"/>
            <a:ext cx="2303454" cy="351365"/>
          </a:xfrm>
          <a:prstGeom prst="rect">
            <a:avLst/>
          </a:prstGeom>
          <a:solidFill>
            <a:srgbClr val="C9E7CA"/>
          </a:solidFill>
          <a:ln>
            <a:noFill/>
          </a:ln>
        </p:spPr>
        <p:txBody>
          <a:bodyPr vert="horz" wrap="square" lIns="197510" tIns="30432" rIns="60863" bIns="30432" numCol="1" anchor="ctr" anchorCtr="0" compatLnSpc="1">
            <a:prstTxWarp prst="textNoShape">
              <a:avLst/>
            </a:prstTxWarp>
          </a:bodyPr>
          <a:lstStyle/>
          <a:p>
            <a:pPr lvl="0" algn="ctr">
              <a:defRPr/>
            </a:pPr>
            <a:r>
              <a:rPr lang="en-US" b="1" kern="0" err="1">
                <a:solidFill>
                  <a:srgbClr val="03522D"/>
                </a:solidFill>
                <a:latin typeface="+mj-lt"/>
              </a:rPr>
              <a:t>即時</a:t>
            </a:r>
            <a:endParaRPr lang="en-US" b="1" kern="0">
              <a:solidFill>
                <a:srgbClr val="03522D"/>
              </a:solidFill>
              <a:latin typeface="+mj-lt"/>
            </a:endParaRPr>
          </a:p>
        </p:txBody>
      </p:sp>
      <p:sp>
        <p:nvSpPr>
          <p:cNvPr id="170" name="Freeform 7">
            <a:extLst>
              <a:ext uri="{FF2B5EF4-FFF2-40B4-BE49-F238E27FC236}">
                <a16:creationId xmlns:a16="http://schemas.microsoft.com/office/drawing/2014/main" id="{02967F52-7FD3-4272-8964-9F4BE9898AA2}"/>
              </a:ext>
            </a:extLst>
          </p:cNvPr>
          <p:cNvSpPr>
            <a:spLocks/>
          </p:cNvSpPr>
          <p:nvPr/>
        </p:nvSpPr>
        <p:spPr bwMode="auto">
          <a:xfrm>
            <a:off x="11219085" y="1708401"/>
            <a:ext cx="354510" cy="236220"/>
          </a:xfrm>
          <a:custGeom>
            <a:avLst/>
            <a:gdLst>
              <a:gd name="T0" fmla="*/ 846 w 846"/>
              <a:gd name="T1" fmla="*/ 399 h 399"/>
              <a:gd name="T2" fmla="*/ 417 w 846"/>
              <a:gd name="T3" fmla="*/ 399 h 399"/>
              <a:gd name="T4" fmla="*/ 29 w 846"/>
              <a:gd name="T5" fmla="*/ 11 h 399"/>
              <a:gd name="T6" fmla="*/ 0 w 846"/>
              <a:gd name="T7" fmla="*/ 0 h 399"/>
              <a:gd name="T8" fmla="*/ 410 w 846"/>
              <a:gd name="T9" fmla="*/ 0 h 399"/>
              <a:gd name="T10" fmla="*/ 472 w 846"/>
              <a:gd name="T11" fmla="*/ 25 h 399"/>
              <a:gd name="T12" fmla="*/ 846 w 846"/>
              <a:gd name="T13" fmla="*/ 399 h 399"/>
            </a:gdLst>
            <a:ahLst/>
            <a:cxnLst>
              <a:cxn ang="0">
                <a:pos x="T0" y="T1"/>
              </a:cxn>
              <a:cxn ang="0">
                <a:pos x="T2" y="T3"/>
              </a:cxn>
              <a:cxn ang="0">
                <a:pos x="T4" y="T5"/>
              </a:cxn>
              <a:cxn ang="0">
                <a:pos x="T6" y="T7"/>
              </a:cxn>
              <a:cxn ang="0">
                <a:pos x="T8" y="T9"/>
              </a:cxn>
              <a:cxn ang="0">
                <a:pos x="T10" y="T11"/>
              </a:cxn>
              <a:cxn ang="0">
                <a:pos x="T12" y="T13"/>
              </a:cxn>
            </a:cxnLst>
            <a:rect l="0" t="0" r="r" b="b"/>
            <a:pathLst>
              <a:path w="846" h="399">
                <a:moveTo>
                  <a:pt x="846" y="399"/>
                </a:moveTo>
                <a:cubicBezTo>
                  <a:pt x="417" y="399"/>
                  <a:pt x="417" y="399"/>
                  <a:pt x="417" y="399"/>
                </a:cubicBezTo>
                <a:cubicBezTo>
                  <a:pt x="29" y="11"/>
                  <a:pt x="29" y="11"/>
                  <a:pt x="29" y="11"/>
                </a:cubicBezTo>
                <a:cubicBezTo>
                  <a:pt x="21" y="3"/>
                  <a:pt x="11" y="0"/>
                  <a:pt x="0" y="0"/>
                </a:cubicBezTo>
                <a:cubicBezTo>
                  <a:pt x="410" y="0"/>
                  <a:pt x="410" y="0"/>
                  <a:pt x="410" y="0"/>
                </a:cubicBezTo>
                <a:cubicBezTo>
                  <a:pt x="434" y="0"/>
                  <a:pt x="456" y="9"/>
                  <a:pt x="472" y="25"/>
                </a:cubicBezTo>
                <a:lnTo>
                  <a:pt x="846" y="399"/>
                </a:lnTo>
                <a:close/>
              </a:path>
            </a:pathLst>
          </a:custGeom>
          <a:gradFill flip="none" rotWithShape="1">
            <a:gsLst>
              <a:gs pos="77000">
                <a:srgbClr val="15432C"/>
              </a:gs>
              <a:gs pos="12000">
                <a:srgbClr val="3DC380"/>
              </a:gs>
              <a:gs pos="25000">
                <a:srgbClr val="2D915F"/>
              </a:gs>
            </a:gsLst>
            <a:lin ang="5400000" scaled="1"/>
            <a:tileRect/>
          </a:gradFill>
          <a:ln>
            <a:noFill/>
          </a:ln>
        </p:spPr>
        <p:txBody>
          <a:bodyPr vert="horz" wrap="square" lIns="60863" tIns="30432" rIns="60863" bIns="30432"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64" b="0" i="0" u="none" strike="noStrike" kern="0" cap="none" spc="0" normalizeH="0" baseline="0" noProof="0">
              <a:ln>
                <a:noFill/>
              </a:ln>
              <a:solidFill>
                <a:prstClr val="black"/>
              </a:solidFill>
              <a:effectLst/>
              <a:uLnTx/>
              <a:uFillTx/>
              <a:latin typeface="Calibri" panose="020F0502020204030204"/>
            </a:endParaRPr>
          </a:p>
        </p:txBody>
      </p:sp>
      <p:sp>
        <p:nvSpPr>
          <p:cNvPr id="171" name="Freeform 8">
            <a:extLst>
              <a:ext uri="{FF2B5EF4-FFF2-40B4-BE49-F238E27FC236}">
                <a16:creationId xmlns:a16="http://schemas.microsoft.com/office/drawing/2014/main" id="{9F1CD4E0-2D31-4442-A926-3D6556880360}"/>
              </a:ext>
            </a:extLst>
          </p:cNvPr>
          <p:cNvSpPr>
            <a:spLocks/>
          </p:cNvSpPr>
          <p:nvPr/>
        </p:nvSpPr>
        <p:spPr bwMode="auto">
          <a:xfrm>
            <a:off x="11219085" y="1944622"/>
            <a:ext cx="354510" cy="236719"/>
          </a:xfrm>
          <a:custGeom>
            <a:avLst/>
            <a:gdLst>
              <a:gd name="T0" fmla="*/ 846 w 846"/>
              <a:gd name="T1" fmla="*/ 0 h 400"/>
              <a:gd name="T2" fmla="*/ 417 w 846"/>
              <a:gd name="T3" fmla="*/ 0 h 400"/>
              <a:gd name="T4" fmla="*/ 29 w 846"/>
              <a:gd name="T5" fmla="*/ 388 h 400"/>
              <a:gd name="T6" fmla="*/ 0 w 846"/>
              <a:gd name="T7" fmla="*/ 400 h 400"/>
              <a:gd name="T8" fmla="*/ 410 w 846"/>
              <a:gd name="T9" fmla="*/ 400 h 400"/>
              <a:gd name="T10" fmla="*/ 472 w 846"/>
              <a:gd name="T11" fmla="*/ 374 h 400"/>
              <a:gd name="T12" fmla="*/ 846 w 846"/>
              <a:gd name="T13" fmla="*/ 0 h 400"/>
            </a:gdLst>
            <a:ahLst/>
            <a:cxnLst>
              <a:cxn ang="0">
                <a:pos x="T0" y="T1"/>
              </a:cxn>
              <a:cxn ang="0">
                <a:pos x="T2" y="T3"/>
              </a:cxn>
              <a:cxn ang="0">
                <a:pos x="T4" y="T5"/>
              </a:cxn>
              <a:cxn ang="0">
                <a:pos x="T6" y="T7"/>
              </a:cxn>
              <a:cxn ang="0">
                <a:pos x="T8" y="T9"/>
              </a:cxn>
              <a:cxn ang="0">
                <a:pos x="T10" y="T11"/>
              </a:cxn>
              <a:cxn ang="0">
                <a:pos x="T12" y="T13"/>
              </a:cxn>
            </a:cxnLst>
            <a:rect l="0" t="0" r="r" b="b"/>
            <a:pathLst>
              <a:path w="846" h="400">
                <a:moveTo>
                  <a:pt x="846" y="0"/>
                </a:moveTo>
                <a:cubicBezTo>
                  <a:pt x="417" y="0"/>
                  <a:pt x="417" y="0"/>
                  <a:pt x="417" y="0"/>
                </a:cubicBezTo>
                <a:cubicBezTo>
                  <a:pt x="29" y="388"/>
                  <a:pt x="29" y="388"/>
                  <a:pt x="29" y="388"/>
                </a:cubicBezTo>
                <a:cubicBezTo>
                  <a:pt x="21" y="396"/>
                  <a:pt x="11" y="400"/>
                  <a:pt x="0" y="400"/>
                </a:cubicBezTo>
                <a:cubicBezTo>
                  <a:pt x="410" y="400"/>
                  <a:pt x="410" y="400"/>
                  <a:pt x="410" y="400"/>
                </a:cubicBezTo>
                <a:cubicBezTo>
                  <a:pt x="434" y="400"/>
                  <a:pt x="456" y="391"/>
                  <a:pt x="472" y="374"/>
                </a:cubicBezTo>
                <a:lnTo>
                  <a:pt x="846" y="0"/>
                </a:lnTo>
                <a:close/>
              </a:path>
            </a:pathLst>
          </a:custGeom>
          <a:solidFill>
            <a:srgbClr val="2D915F"/>
          </a:solidFill>
          <a:ln>
            <a:noFill/>
          </a:ln>
        </p:spPr>
        <p:txBody>
          <a:bodyPr vert="horz" wrap="square" lIns="60863" tIns="30432" rIns="60863" bIns="30432"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64" b="0" i="0" u="none" strike="noStrike" kern="0" cap="none" spc="0" normalizeH="0" baseline="0" noProof="0">
              <a:ln>
                <a:noFill/>
              </a:ln>
              <a:solidFill>
                <a:prstClr val="black"/>
              </a:solidFill>
              <a:effectLst/>
              <a:uLnTx/>
              <a:uFillTx/>
              <a:latin typeface="Calibri" panose="020F0502020204030204"/>
            </a:endParaRPr>
          </a:p>
        </p:txBody>
      </p:sp>
      <p:sp>
        <p:nvSpPr>
          <p:cNvPr id="113" name="Oval 112">
            <a:extLst>
              <a:ext uri="{FF2B5EF4-FFF2-40B4-BE49-F238E27FC236}">
                <a16:creationId xmlns:a16="http://schemas.microsoft.com/office/drawing/2014/main" id="{0E0E8D82-04A2-4CE0-A4A8-F08E32E87CBB}"/>
              </a:ext>
            </a:extLst>
          </p:cNvPr>
          <p:cNvSpPr/>
          <p:nvPr>
            <p:custDataLst>
              <p:tags r:id="rId4"/>
            </p:custDataLst>
          </p:nvPr>
        </p:nvSpPr>
        <p:spPr>
          <a:xfrm>
            <a:off x="8560761" y="1588078"/>
            <a:ext cx="707470" cy="708126"/>
          </a:xfrm>
          <a:prstGeom prst="ellipse">
            <a:avLst/>
          </a:prstGeom>
          <a:solidFill>
            <a:srgbClr val="FFFFFF"/>
          </a:solidFill>
          <a:ln w="28575">
            <a:gradFill flip="none" rotWithShape="1">
              <a:gsLst>
                <a:gs pos="0">
                  <a:schemeClr val="accent4"/>
                </a:gs>
                <a:gs pos="100000">
                  <a:schemeClr val="accent3"/>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5837" tIns="65837" rIns="65837" bIns="65837" rtlCol="0" anchor="ctr"/>
          <a:lstStyle/>
          <a:p>
            <a:pPr algn="ctr">
              <a:lnSpc>
                <a:spcPct val="95000"/>
              </a:lnSpc>
            </a:pPr>
            <a:endParaRPr lang="en-US" sz="2000" kern="0">
              <a:solidFill>
                <a:schemeClr val="bg1">
                  <a:lumMod val="50000"/>
                </a:schemeClr>
              </a:solidFill>
            </a:endParaRPr>
          </a:p>
        </p:txBody>
      </p:sp>
      <p:grpSp>
        <p:nvGrpSpPr>
          <p:cNvPr id="114" name="Group 113">
            <a:extLst>
              <a:ext uri="{FF2B5EF4-FFF2-40B4-BE49-F238E27FC236}">
                <a16:creationId xmlns:a16="http://schemas.microsoft.com/office/drawing/2014/main" id="{51ED540D-12BF-4A63-AAB3-1EF6AF562268}"/>
              </a:ext>
            </a:extLst>
          </p:cNvPr>
          <p:cNvGrpSpPr>
            <a:grpSpLocks noChangeAspect="1"/>
          </p:cNvGrpSpPr>
          <p:nvPr/>
        </p:nvGrpSpPr>
        <p:grpSpPr>
          <a:xfrm>
            <a:off x="8664367" y="1691781"/>
            <a:ext cx="500256" cy="500721"/>
            <a:chOff x="5273675" y="2606675"/>
            <a:chExt cx="1644650" cy="1644650"/>
          </a:xfrm>
        </p:grpSpPr>
        <p:sp>
          <p:nvSpPr>
            <p:cNvPr id="115" name="AutoShape 3">
              <a:extLst>
                <a:ext uri="{FF2B5EF4-FFF2-40B4-BE49-F238E27FC236}">
                  <a16:creationId xmlns:a16="http://schemas.microsoft.com/office/drawing/2014/main" id="{DFDBC1A0-7EF4-4B2C-AF4B-0A9F2CFE6AC3}"/>
                </a:ext>
              </a:extLst>
            </p:cNvPr>
            <p:cNvSpPr>
              <a:spLocks noChangeAspect="1" noChangeArrowheads="1" noTextEdit="1"/>
            </p:cNvSpPr>
            <p:nvPr/>
          </p:nvSpPr>
          <p:spPr bwMode="auto">
            <a:xfrm>
              <a:off x="5273675" y="2606675"/>
              <a:ext cx="1644650"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5837" tIns="32918" rIns="65837" bIns="32918" numCol="1" anchor="t" anchorCtr="0" compatLnSpc="1">
              <a:prstTxWarp prst="textNoShape">
                <a:avLst/>
              </a:prstTxWarp>
            </a:bodyPr>
            <a:lstStyle/>
            <a:p>
              <a:endParaRPr lang="en-US"/>
            </a:p>
          </p:txBody>
        </p:sp>
        <p:grpSp>
          <p:nvGrpSpPr>
            <p:cNvPr id="116" name="Group 115">
              <a:extLst>
                <a:ext uri="{FF2B5EF4-FFF2-40B4-BE49-F238E27FC236}">
                  <a16:creationId xmlns:a16="http://schemas.microsoft.com/office/drawing/2014/main" id="{30EB5B20-8B36-49CC-A963-B85DDA92C2D3}"/>
                </a:ext>
              </a:extLst>
            </p:cNvPr>
            <p:cNvGrpSpPr/>
            <p:nvPr/>
          </p:nvGrpSpPr>
          <p:grpSpPr>
            <a:xfrm>
              <a:off x="5521593" y="2882900"/>
              <a:ext cx="1148814" cy="1092200"/>
              <a:chOff x="5521593" y="2882900"/>
              <a:chExt cx="1148814" cy="1092200"/>
            </a:xfrm>
          </p:grpSpPr>
          <p:sp>
            <p:nvSpPr>
              <p:cNvPr id="117" name="Freeform 5">
                <a:extLst>
                  <a:ext uri="{FF2B5EF4-FFF2-40B4-BE49-F238E27FC236}">
                    <a16:creationId xmlns:a16="http://schemas.microsoft.com/office/drawing/2014/main" id="{18C12A2E-7E96-4866-93D1-70BDF9EC3114}"/>
                  </a:ext>
                </a:extLst>
              </p:cNvPr>
              <p:cNvSpPr>
                <a:spLocks noChangeArrowheads="1"/>
              </p:cNvSpPr>
              <p:nvPr/>
            </p:nvSpPr>
            <p:spPr bwMode="auto">
              <a:xfrm>
                <a:off x="5521593" y="2882900"/>
                <a:ext cx="1148814" cy="1092200"/>
              </a:xfrm>
              <a:custGeom>
                <a:avLst/>
                <a:gdLst>
                  <a:gd name="connsiteX0" fmla="*/ 546456 w 1148814"/>
                  <a:gd name="connsiteY0" fmla="*/ 141288 h 1092200"/>
                  <a:gd name="connsiteX1" fmla="*/ 259907 w 1148814"/>
                  <a:gd name="connsiteY1" fmla="*/ 259805 h 1092200"/>
                  <a:gd name="connsiteX2" fmla="*/ 141286 w 1148814"/>
                  <a:gd name="connsiteY2" fmla="*/ 546101 h 1092200"/>
                  <a:gd name="connsiteX3" fmla="*/ 259907 w 1148814"/>
                  <a:gd name="connsiteY3" fmla="*/ 832397 h 1092200"/>
                  <a:gd name="connsiteX4" fmla="*/ 546456 w 1148814"/>
                  <a:gd name="connsiteY4" fmla="*/ 950913 h 1092200"/>
                  <a:gd name="connsiteX5" fmla="*/ 832290 w 1148814"/>
                  <a:gd name="connsiteY5" fmla="*/ 832397 h 1092200"/>
                  <a:gd name="connsiteX6" fmla="*/ 950911 w 1148814"/>
                  <a:gd name="connsiteY6" fmla="*/ 546101 h 1092200"/>
                  <a:gd name="connsiteX7" fmla="*/ 832290 w 1148814"/>
                  <a:gd name="connsiteY7" fmla="*/ 259805 h 1092200"/>
                  <a:gd name="connsiteX8" fmla="*/ 546456 w 1148814"/>
                  <a:gd name="connsiteY8" fmla="*/ 141288 h 1092200"/>
                  <a:gd name="connsiteX9" fmla="*/ 546893 w 1148814"/>
                  <a:gd name="connsiteY9" fmla="*/ 111125 h 1092200"/>
                  <a:gd name="connsiteX10" fmla="*/ 981075 w 1148814"/>
                  <a:gd name="connsiteY10" fmla="*/ 546100 h 1092200"/>
                  <a:gd name="connsiteX11" fmla="*/ 546893 w 1148814"/>
                  <a:gd name="connsiteY11" fmla="*/ 981075 h 1092200"/>
                  <a:gd name="connsiteX12" fmla="*/ 112711 w 1148814"/>
                  <a:gd name="connsiteY12" fmla="*/ 546100 h 1092200"/>
                  <a:gd name="connsiteX13" fmla="*/ 546893 w 1148814"/>
                  <a:gd name="connsiteY13" fmla="*/ 111125 h 1092200"/>
                  <a:gd name="connsiteX14" fmla="*/ 546571 w 1148814"/>
                  <a:gd name="connsiteY14" fmla="*/ 0 h 1092200"/>
                  <a:gd name="connsiteX15" fmla="*/ 1093142 w 1148814"/>
                  <a:gd name="connsiteY15" fmla="*/ 543245 h 1092200"/>
                  <a:gd name="connsiteX16" fmla="*/ 1142376 w 1148814"/>
                  <a:gd name="connsiteY16" fmla="*/ 543245 h 1092200"/>
                  <a:gd name="connsiteX17" fmla="*/ 1147370 w 1148814"/>
                  <a:gd name="connsiteY17" fmla="*/ 553953 h 1092200"/>
                  <a:gd name="connsiteX18" fmla="*/ 1083152 w 1148814"/>
                  <a:gd name="connsiteY18" fmla="*/ 639615 h 1092200"/>
                  <a:gd name="connsiteX19" fmla="*/ 1071735 w 1148814"/>
                  <a:gd name="connsiteY19" fmla="*/ 639615 h 1092200"/>
                  <a:gd name="connsiteX20" fmla="*/ 1007517 w 1148814"/>
                  <a:gd name="connsiteY20" fmla="*/ 553953 h 1092200"/>
                  <a:gd name="connsiteX21" fmla="*/ 1012512 w 1148814"/>
                  <a:gd name="connsiteY21" fmla="*/ 543245 h 1092200"/>
                  <a:gd name="connsiteX22" fmla="*/ 1061746 w 1148814"/>
                  <a:gd name="connsiteY22" fmla="*/ 543245 h 1092200"/>
                  <a:gd name="connsiteX23" fmla="*/ 546571 w 1148814"/>
                  <a:gd name="connsiteY23" fmla="*/ 31410 h 1092200"/>
                  <a:gd name="connsiteX24" fmla="*/ 31395 w 1148814"/>
                  <a:gd name="connsiteY24" fmla="*/ 546100 h 1092200"/>
                  <a:gd name="connsiteX25" fmla="*/ 546571 w 1148814"/>
                  <a:gd name="connsiteY25" fmla="*/ 1060791 h 1092200"/>
                  <a:gd name="connsiteX26" fmla="*/ 562269 w 1148814"/>
                  <a:gd name="connsiteY26" fmla="*/ 1076495 h 1092200"/>
                  <a:gd name="connsiteX27" fmla="*/ 546571 w 1148814"/>
                  <a:gd name="connsiteY27" fmla="*/ 1092200 h 1092200"/>
                  <a:gd name="connsiteX28" fmla="*/ 0 w 1148814"/>
                  <a:gd name="connsiteY28" fmla="*/ 546100 h 1092200"/>
                  <a:gd name="connsiteX29" fmla="*/ 546571 w 1148814"/>
                  <a:gd name="connsiteY29" fmla="*/ 0 h 1092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48814" h="1092200">
                    <a:moveTo>
                      <a:pt x="546456" y="141288"/>
                    </a:moveTo>
                    <a:cubicBezTo>
                      <a:pt x="437839" y="141288"/>
                      <a:pt x="336368" y="183411"/>
                      <a:pt x="259907" y="259805"/>
                    </a:cubicBezTo>
                    <a:cubicBezTo>
                      <a:pt x="183447" y="335484"/>
                      <a:pt x="141286" y="437579"/>
                      <a:pt x="141286" y="546101"/>
                    </a:cubicBezTo>
                    <a:cubicBezTo>
                      <a:pt x="141286" y="654622"/>
                      <a:pt x="183447" y="756003"/>
                      <a:pt x="259907" y="832397"/>
                    </a:cubicBezTo>
                    <a:cubicBezTo>
                      <a:pt x="336368" y="908790"/>
                      <a:pt x="437839" y="950913"/>
                      <a:pt x="546456" y="950913"/>
                    </a:cubicBezTo>
                    <a:cubicBezTo>
                      <a:pt x="654358" y="950913"/>
                      <a:pt x="756544" y="908790"/>
                      <a:pt x="832290" y="832397"/>
                    </a:cubicBezTo>
                    <a:cubicBezTo>
                      <a:pt x="908751" y="756003"/>
                      <a:pt x="950911" y="654622"/>
                      <a:pt x="950911" y="546101"/>
                    </a:cubicBezTo>
                    <a:cubicBezTo>
                      <a:pt x="950911" y="437579"/>
                      <a:pt x="908751" y="335484"/>
                      <a:pt x="832290" y="259805"/>
                    </a:cubicBezTo>
                    <a:cubicBezTo>
                      <a:pt x="756544" y="183411"/>
                      <a:pt x="654358" y="141288"/>
                      <a:pt x="546456" y="141288"/>
                    </a:cubicBezTo>
                    <a:close/>
                    <a:moveTo>
                      <a:pt x="546893" y="111125"/>
                    </a:moveTo>
                    <a:cubicBezTo>
                      <a:pt x="786685" y="111125"/>
                      <a:pt x="981075" y="305870"/>
                      <a:pt x="981075" y="546100"/>
                    </a:cubicBezTo>
                    <a:cubicBezTo>
                      <a:pt x="981075" y="786330"/>
                      <a:pt x="786685" y="981075"/>
                      <a:pt x="546893" y="981075"/>
                    </a:cubicBezTo>
                    <a:cubicBezTo>
                      <a:pt x="307101" y="981075"/>
                      <a:pt x="112711" y="786330"/>
                      <a:pt x="112711" y="546100"/>
                    </a:cubicBezTo>
                    <a:cubicBezTo>
                      <a:pt x="112711" y="305870"/>
                      <a:pt x="307101" y="111125"/>
                      <a:pt x="546893" y="111125"/>
                    </a:cubicBezTo>
                    <a:close/>
                    <a:moveTo>
                      <a:pt x="546571" y="0"/>
                    </a:moveTo>
                    <a:cubicBezTo>
                      <a:pt x="846971" y="0"/>
                      <a:pt x="1091714" y="243425"/>
                      <a:pt x="1093142" y="543245"/>
                    </a:cubicBezTo>
                    <a:cubicBezTo>
                      <a:pt x="1093142" y="543245"/>
                      <a:pt x="1093142" y="543245"/>
                      <a:pt x="1142376" y="543245"/>
                    </a:cubicBezTo>
                    <a:cubicBezTo>
                      <a:pt x="1147370" y="543245"/>
                      <a:pt x="1150938" y="549669"/>
                      <a:pt x="1147370" y="553953"/>
                    </a:cubicBezTo>
                    <a:cubicBezTo>
                      <a:pt x="1147370" y="553953"/>
                      <a:pt x="1147370" y="553953"/>
                      <a:pt x="1083152" y="639615"/>
                    </a:cubicBezTo>
                    <a:cubicBezTo>
                      <a:pt x="1080298" y="643898"/>
                      <a:pt x="1074590" y="643898"/>
                      <a:pt x="1071735" y="639615"/>
                    </a:cubicBezTo>
                    <a:cubicBezTo>
                      <a:pt x="1071735" y="639615"/>
                      <a:pt x="1071735" y="639615"/>
                      <a:pt x="1007517" y="553953"/>
                    </a:cubicBezTo>
                    <a:cubicBezTo>
                      <a:pt x="1003949" y="549669"/>
                      <a:pt x="1007517" y="543245"/>
                      <a:pt x="1012512" y="543245"/>
                    </a:cubicBezTo>
                    <a:cubicBezTo>
                      <a:pt x="1012512" y="543245"/>
                      <a:pt x="1012512" y="543245"/>
                      <a:pt x="1061746" y="543245"/>
                    </a:cubicBezTo>
                    <a:cubicBezTo>
                      <a:pt x="1060319" y="260558"/>
                      <a:pt x="829132" y="31410"/>
                      <a:pt x="546571" y="31410"/>
                    </a:cubicBezTo>
                    <a:cubicBezTo>
                      <a:pt x="261869" y="31410"/>
                      <a:pt x="31395" y="261985"/>
                      <a:pt x="31395" y="546100"/>
                    </a:cubicBezTo>
                    <a:cubicBezTo>
                      <a:pt x="31395" y="830215"/>
                      <a:pt x="261869" y="1060791"/>
                      <a:pt x="546571" y="1060791"/>
                    </a:cubicBezTo>
                    <a:cubicBezTo>
                      <a:pt x="555133" y="1060791"/>
                      <a:pt x="562269" y="1067929"/>
                      <a:pt x="562269" y="1076495"/>
                    </a:cubicBezTo>
                    <a:cubicBezTo>
                      <a:pt x="562269" y="1085062"/>
                      <a:pt x="555133" y="1092200"/>
                      <a:pt x="546571" y="1092200"/>
                    </a:cubicBezTo>
                    <a:cubicBezTo>
                      <a:pt x="244744" y="1092200"/>
                      <a:pt x="0" y="847347"/>
                      <a:pt x="0" y="546100"/>
                    </a:cubicBezTo>
                    <a:cubicBezTo>
                      <a:pt x="0" y="244853"/>
                      <a:pt x="244744" y="0"/>
                      <a:pt x="546571" y="0"/>
                    </a:cubicBezTo>
                    <a:close/>
                  </a:path>
                </a:pathLst>
              </a:custGeom>
              <a:solidFill>
                <a:schemeClr val="accent1"/>
              </a:solidFill>
              <a:ln>
                <a:noFill/>
              </a:ln>
            </p:spPr>
            <p:txBody>
              <a:bodyPr vert="horz" wrap="square" lIns="65837" tIns="32918" rIns="65837" bIns="32918" numCol="1" anchor="t" anchorCtr="0" compatLnSpc="1">
                <a:prstTxWarp prst="textNoShape">
                  <a:avLst/>
                </a:prstTxWarp>
                <a:noAutofit/>
              </a:bodyPr>
              <a:lstStyle/>
              <a:p>
                <a:endParaRPr lang="en-US"/>
              </a:p>
            </p:txBody>
          </p:sp>
          <p:sp>
            <p:nvSpPr>
              <p:cNvPr id="118" name="Freeform 7">
                <a:extLst>
                  <a:ext uri="{FF2B5EF4-FFF2-40B4-BE49-F238E27FC236}">
                    <a16:creationId xmlns:a16="http://schemas.microsoft.com/office/drawing/2014/main" id="{EC5871F2-817B-4ED9-B565-29C0401D27BB}"/>
                  </a:ext>
                </a:extLst>
              </p:cNvPr>
              <p:cNvSpPr>
                <a:spLocks noEditPoints="1"/>
              </p:cNvSpPr>
              <p:nvPr/>
            </p:nvSpPr>
            <p:spPr bwMode="auto">
              <a:xfrm>
                <a:off x="5694630" y="3054350"/>
                <a:ext cx="747713" cy="749300"/>
              </a:xfrm>
              <a:custGeom>
                <a:avLst/>
                <a:gdLst>
                  <a:gd name="T0" fmla="*/ 993 w 1048"/>
                  <a:gd name="T1" fmla="*/ 551 h 1048"/>
                  <a:gd name="T2" fmla="*/ 993 w 1048"/>
                  <a:gd name="T3" fmla="*/ 493 h 1048"/>
                  <a:gd name="T4" fmla="*/ 1048 w 1048"/>
                  <a:gd name="T5" fmla="*/ 493 h 1048"/>
                  <a:gd name="T6" fmla="*/ 551 w 1048"/>
                  <a:gd name="T7" fmla="*/ 0 h 1048"/>
                  <a:gd name="T8" fmla="*/ 522 w 1048"/>
                  <a:gd name="T9" fmla="*/ 85 h 1048"/>
                  <a:gd name="T10" fmla="*/ 493 w 1048"/>
                  <a:gd name="T11" fmla="*/ 0 h 1048"/>
                  <a:gd name="T12" fmla="*/ 308 w 1048"/>
                  <a:gd name="T13" fmla="*/ 46 h 1048"/>
                  <a:gd name="T14" fmla="*/ 297 w 1048"/>
                  <a:gd name="T15" fmla="*/ 50 h 1048"/>
                  <a:gd name="T16" fmla="*/ 289 w 1048"/>
                  <a:gd name="T17" fmla="*/ 55 h 1048"/>
                  <a:gd name="T18" fmla="*/ 55 w 1048"/>
                  <a:gd name="T19" fmla="*/ 496 h 1048"/>
                  <a:gd name="T20" fmla="*/ 55 w 1048"/>
                  <a:gd name="T21" fmla="*/ 555 h 1048"/>
                  <a:gd name="T22" fmla="*/ 399 w 1048"/>
                  <a:gd name="T23" fmla="*/ 1034 h 1048"/>
                  <a:gd name="T24" fmla="*/ 409 w 1048"/>
                  <a:gd name="T25" fmla="*/ 1036 h 1048"/>
                  <a:gd name="T26" fmla="*/ 421 w 1048"/>
                  <a:gd name="T27" fmla="*/ 1039 h 1048"/>
                  <a:gd name="T28" fmla="*/ 432 w 1048"/>
                  <a:gd name="T29" fmla="*/ 1041 h 1048"/>
                  <a:gd name="T30" fmla="*/ 444 w 1048"/>
                  <a:gd name="T31" fmla="*/ 1043 h 1048"/>
                  <a:gd name="T32" fmla="*/ 456 w 1048"/>
                  <a:gd name="T33" fmla="*/ 1044 h 1048"/>
                  <a:gd name="T34" fmla="*/ 496 w 1048"/>
                  <a:gd name="T35" fmla="*/ 1048 h 1048"/>
                  <a:gd name="T36" fmla="*/ 525 w 1048"/>
                  <a:gd name="T37" fmla="*/ 963 h 1048"/>
                  <a:gd name="T38" fmla="*/ 554 w 1048"/>
                  <a:gd name="T39" fmla="*/ 1048 h 1048"/>
                  <a:gd name="T40" fmla="*/ 1048 w 1048"/>
                  <a:gd name="T41" fmla="*/ 551 h 1048"/>
                  <a:gd name="T42" fmla="*/ 132 w 1048"/>
                  <a:gd name="T43" fmla="*/ 266 h 1048"/>
                  <a:gd name="T44" fmla="*/ 103 w 1048"/>
                  <a:gd name="T45" fmla="*/ 316 h 1048"/>
                  <a:gd name="T46" fmla="*/ 133 w 1048"/>
                  <a:gd name="T47" fmla="*/ 785 h 1048"/>
                  <a:gd name="T48" fmla="*/ 104 w 1048"/>
                  <a:gd name="T49" fmla="*/ 734 h 1048"/>
                  <a:gd name="T50" fmla="*/ 133 w 1048"/>
                  <a:gd name="T51" fmla="*/ 785 h 1048"/>
                  <a:gd name="T52" fmla="*/ 771 w 1048"/>
                  <a:gd name="T53" fmla="*/ 93 h 1048"/>
                  <a:gd name="T54" fmla="*/ 742 w 1048"/>
                  <a:gd name="T55" fmla="*/ 143 h 1048"/>
                  <a:gd name="T56" fmla="*/ 273 w 1048"/>
                  <a:gd name="T57" fmla="*/ 94 h 1048"/>
                  <a:gd name="T58" fmla="*/ 303 w 1048"/>
                  <a:gd name="T59" fmla="*/ 144 h 1048"/>
                  <a:gd name="T60" fmla="*/ 273 w 1048"/>
                  <a:gd name="T61" fmla="*/ 94 h 1048"/>
                  <a:gd name="T62" fmla="*/ 276 w 1048"/>
                  <a:gd name="T63" fmla="*/ 955 h 1048"/>
                  <a:gd name="T64" fmla="*/ 305 w 1048"/>
                  <a:gd name="T65" fmla="*/ 905 h 1048"/>
                  <a:gd name="T66" fmla="*/ 773 w 1048"/>
                  <a:gd name="T67" fmla="*/ 954 h 1048"/>
                  <a:gd name="T68" fmla="*/ 744 w 1048"/>
                  <a:gd name="T69" fmla="*/ 903 h 1048"/>
                  <a:gd name="T70" fmla="*/ 773 w 1048"/>
                  <a:gd name="T71" fmla="*/ 954 h 1048"/>
                  <a:gd name="T72" fmla="*/ 571 w 1048"/>
                  <a:gd name="T73" fmla="*/ 521 h 1048"/>
                  <a:gd name="T74" fmla="*/ 524 w 1048"/>
                  <a:gd name="T75" fmla="*/ 570 h 1048"/>
                  <a:gd name="T76" fmla="*/ 329 w 1048"/>
                  <a:gd name="T77" fmla="*/ 423 h 1048"/>
                  <a:gd name="T78" fmla="*/ 349 w 1048"/>
                  <a:gd name="T79" fmla="*/ 391 h 1048"/>
                  <a:gd name="T80" fmla="*/ 524 w 1048"/>
                  <a:gd name="T81" fmla="*/ 476 h 1048"/>
                  <a:gd name="T82" fmla="*/ 781 w 1048"/>
                  <a:gd name="T83" fmla="*/ 293 h 1048"/>
                  <a:gd name="T84" fmla="*/ 804 w 1048"/>
                  <a:gd name="T85" fmla="*/ 322 h 1048"/>
                  <a:gd name="T86" fmla="*/ 954 w 1048"/>
                  <a:gd name="T87" fmla="*/ 274 h 1048"/>
                  <a:gd name="T88" fmla="*/ 904 w 1048"/>
                  <a:gd name="T89" fmla="*/ 303 h 1048"/>
                  <a:gd name="T90" fmla="*/ 956 w 1048"/>
                  <a:gd name="T91" fmla="*/ 771 h 1048"/>
                  <a:gd name="T92" fmla="*/ 906 w 1048"/>
                  <a:gd name="T93" fmla="*/ 742 h 1048"/>
                  <a:gd name="T94" fmla="*/ 956 w 1048"/>
                  <a:gd name="T95" fmla="*/ 771 h 1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48" h="1048">
                    <a:moveTo>
                      <a:pt x="1048" y="551"/>
                    </a:moveTo>
                    <a:cubicBezTo>
                      <a:pt x="993" y="551"/>
                      <a:pt x="993" y="551"/>
                      <a:pt x="993" y="551"/>
                    </a:cubicBezTo>
                    <a:cubicBezTo>
                      <a:pt x="977" y="551"/>
                      <a:pt x="964" y="538"/>
                      <a:pt x="964" y="522"/>
                    </a:cubicBezTo>
                    <a:cubicBezTo>
                      <a:pt x="964" y="506"/>
                      <a:pt x="977" y="493"/>
                      <a:pt x="993" y="493"/>
                    </a:cubicBezTo>
                    <a:cubicBezTo>
                      <a:pt x="1047" y="493"/>
                      <a:pt x="1047" y="493"/>
                      <a:pt x="1047" y="493"/>
                    </a:cubicBezTo>
                    <a:cubicBezTo>
                      <a:pt x="1048" y="493"/>
                      <a:pt x="1048" y="493"/>
                      <a:pt x="1048" y="493"/>
                    </a:cubicBezTo>
                    <a:cubicBezTo>
                      <a:pt x="1033" y="227"/>
                      <a:pt x="818" y="14"/>
                      <a:pt x="551" y="0"/>
                    </a:cubicBezTo>
                    <a:cubicBezTo>
                      <a:pt x="551" y="0"/>
                      <a:pt x="551" y="0"/>
                      <a:pt x="551" y="0"/>
                    </a:cubicBezTo>
                    <a:cubicBezTo>
                      <a:pt x="551" y="56"/>
                      <a:pt x="551" y="56"/>
                      <a:pt x="551" y="56"/>
                    </a:cubicBezTo>
                    <a:cubicBezTo>
                      <a:pt x="551" y="72"/>
                      <a:pt x="538" y="85"/>
                      <a:pt x="522" y="85"/>
                    </a:cubicBezTo>
                    <a:cubicBezTo>
                      <a:pt x="506" y="85"/>
                      <a:pt x="493" y="72"/>
                      <a:pt x="493" y="56"/>
                    </a:cubicBezTo>
                    <a:cubicBezTo>
                      <a:pt x="493" y="0"/>
                      <a:pt x="493" y="0"/>
                      <a:pt x="493" y="0"/>
                    </a:cubicBezTo>
                    <a:cubicBezTo>
                      <a:pt x="493" y="0"/>
                      <a:pt x="493" y="0"/>
                      <a:pt x="493" y="0"/>
                    </a:cubicBezTo>
                    <a:cubicBezTo>
                      <a:pt x="427" y="4"/>
                      <a:pt x="365" y="20"/>
                      <a:pt x="308" y="46"/>
                    </a:cubicBezTo>
                    <a:cubicBezTo>
                      <a:pt x="307" y="46"/>
                      <a:pt x="307" y="46"/>
                      <a:pt x="307" y="46"/>
                    </a:cubicBezTo>
                    <a:cubicBezTo>
                      <a:pt x="304" y="47"/>
                      <a:pt x="301" y="49"/>
                      <a:pt x="297" y="50"/>
                    </a:cubicBezTo>
                    <a:cubicBezTo>
                      <a:pt x="297" y="51"/>
                      <a:pt x="296" y="51"/>
                      <a:pt x="295" y="51"/>
                    </a:cubicBezTo>
                    <a:cubicBezTo>
                      <a:pt x="293" y="52"/>
                      <a:pt x="291" y="54"/>
                      <a:pt x="289" y="55"/>
                    </a:cubicBezTo>
                    <a:cubicBezTo>
                      <a:pt x="125" y="137"/>
                      <a:pt x="10" y="303"/>
                      <a:pt x="0" y="496"/>
                    </a:cubicBezTo>
                    <a:cubicBezTo>
                      <a:pt x="55" y="496"/>
                      <a:pt x="55" y="496"/>
                      <a:pt x="55" y="496"/>
                    </a:cubicBezTo>
                    <a:cubicBezTo>
                      <a:pt x="71" y="496"/>
                      <a:pt x="84" y="509"/>
                      <a:pt x="84" y="526"/>
                    </a:cubicBezTo>
                    <a:cubicBezTo>
                      <a:pt x="84" y="542"/>
                      <a:pt x="71" y="555"/>
                      <a:pt x="55" y="555"/>
                    </a:cubicBezTo>
                    <a:cubicBezTo>
                      <a:pt x="0" y="555"/>
                      <a:pt x="0" y="555"/>
                      <a:pt x="0" y="555"/>
                    </a:cubicBezTo>
                    <a:cubicBezTo>
                      <a:pt x="13" y="788"/>
                      <a:pt x="179" y="980"/>
                      <a:pt x="399" y="1034"/>
                    </a:cubicBezTo>
                    <a:cubicBezTo>
                      <a:pt x="399" y="1034"/>
                      <a:pt x="399" y="1034"/>
                      <a:pt x="399" y="1034"/>
                    </a:cubicBezTo>
                    <a:cubicBezTo>
                      <a:pt x="402" y="1035"/>
                      <a:pt x="406" y="1035"/>
                      <a:pt x="409" y="1036"/>
                    </a:cubicBezTo>
                    <a:cubicBezTo>
                      <a:pt x="410" y="1036"/>
                      <a:pt x="411" y="1036"/>
                      <a:pt x="412" y="1037"/>
                    </a:cubicBezTo>
                    <a:cubicBezTo>
                      <a:pt x="415" y="1037"/>
                      <a:pt x="418" y="1038"/>
                      <a:pt x="421" y="1039"/>
                    </a:cubicBezTo>
                    <a:cubicBezTo>
                      <a:pt x="422" y="1039"/>
                      <a:pt x="424" y="1039"/>
                      <a:pt x="425" y="1039"/>
                    </a:cubicBezTo>
                    <a:cubicBezTo>
                      <a:pt x="428" y="1040"/>
                      <a:pt x="430" y="1040"/>
                      <a:pt x="432" y="1041"/>
                    </a:cubicBezTo>
                    <a:cubicBezTo>
                      <a:pt x="435" y="1041"/>
                      <a:pt x="437" y="1041"/>
                      <a:pt x="440" y="1042"/>
                    </a:cubicBezTo>
                    <a:cubicBezTo>
                      <a:pt x="441" y="1042"/>
                      <a:pt x="443" y="1042"/>
                      <a:pt x="444" y="1043"/>
                    </a:cubicBezTo>
                    <a:cubicBezTo>
                      <a:pt x="448" y="1043"/>
                      <a:pt x="451" y="1044"/>
                      <a:pt x="455" y="1044"/>
                    </a:cubicBezTo>
                    <a:cubicBezTo>
                      <a:pt x="456" y="1044"/>
                      <a:pt x="456" y="1044"/>
                      <a:pt x="456" y="1044"/>
                    </a:cubicBezTo>
                    <a:cubicBezTo>
                      <a:pt x="469" y="1046"/>
                      <a:pt x="483" y="1047"/>
                      <a:pt x="496" y="1048"/>
                    </a:cubicBezTo>
                    <a:cubicBezTo>
                      <a:pt x="496" y="1048"/>
                      <a:pt x="496" y="1048"/>
                      <a:pt x="496" y="1048"/>
                    </a:cubicBezTo>
                    <a:cubicBezTo>
                      <a:pt x="496" y="992"/>
                      <a:pt x="496" y="992"/>
                      <a:pt x="496" y="992"/>
                    </a:cubicBezTo>
                    <a:cubicBezTo>
                      <a:pt x="496" y="976"/>
                      <a:pt x="509" y="963"/>
                      <a:pt x="525" y="963"/>
                    </a:cubicBezTo>
                    <a:cubicBezTo>
                      <a:pt x="541" y="963"/>
                      <a:pt x="554" y="976"/>
                      <a:pt x="554" y="992"/>
                    </a:cubicBezTo>
                    <a:cubicBezTo>
                      <a:pt x="554" y="1048"/>
                      <a:pt x="554" y="1048"/>
                      <a:pt x="554" y="1048"/>
                    </a:cubicBezTo>
                    <a:cubicBezTo>
                      <a:pt x="554" y="1048"/>
                      <a:pt x="554" y="1048"/>
                      <a:pt x="554" y="1048"/>
                    </a:cubicBezTo>
                    <a:cubicBezTo>
                      <a:pt x="822" y="1032"/>
                      <a:pt x="1035" y="818"/>
                      <a:pt x="1048" y="551"/>
                    </a:cubicBezTo>
                    <a:close/>
                    <a:moveTo>
                      <a:pt x="92" y="277"/>
                    </a:moveTo>
                    <a:cubicBezTo>
                      <a:pt x="100" y="263"/>
                      <a:pt x="118" y="258"/>
                      <a:pt x="132" y="266"/>
                    </a:cubicBezTo>
                    <a:cubicBezTo>
                      <a:pt x="146" y="274"/>
                      <a:pt x="150" y="292"/>
                      <a:pt x="142" y="306"/>
                    </a:cubicBezTo>
                    <a:cubicBezTo>
                      <a:pt x="134" y="320"/>
                      <a:pt x="117" y="324"/>
                      <a:pt x="103" y="316"/>
                    </a:cubicBezTo>
                    <a:cubicBezTo>
                      <a:pt x="89" y="308"/>
                      <a:pt x="84" y="291"/>
                      <a:pt x="92" y="277"/>
                    </a:cubicBezTo>
                    <a:close/>
                    <a:moveTo>
                      <a:pt x="133" y="785"/>
                    </a:moveTo>
                    <a:cubicBezTo>
                      <a:pt x="119" y="793"/>
                      <a:pt x="102" y="788"/>
                      <a:pt x="94" y="774"/>
                    </a:cubicBezTo>
                    <a:cubicBezTo>
                      <a:pt x="86" y="760"/>
                      <a:pt x="90" y="742"/>
                      <a:pt x="104" y="734"/>
                    </a:cubicBezTo>
                    <a:cubicBezTo>
                      <a:pt x="118" y="726"/>
                      <a:pt x="136" y="731"/>
                      <a:pt x="144" y="745"/>
                    </a:cubicBezTo>
                    <a:cubicBezTo>
                      <a:pt x="152" y="759"/>
                      <a:pt x="147" y="777"/>
                      <a:pt x="133" y="785"/>
                    </a:cubicBezTo>
                    <a:close/>
                    <a:moveTo>
                      <a:pt x="731" y="103"/>
                    </a:moveTo>
                    <a:cubicBezTo>
                      <a:pt x="739" y="89"/>
                      <a:pt x="757" y="84"/>
                      <a:pt x="771" y="93"/>
                    </a:cubicBezTo>
                    <a:cubicBezTo>
                      <a:pt x="785" y="101"/>
                      <a:pt x="789" y="118"/>
                      <a:pt x="781" y="132"/>
                    </a:cubicBezTo>
                    <a:cubicBezTo>
                      <a:pt x="773" y="146"/>
                      <a:pt x="756" y="151"/>
                      <a:pt x="742" y="143"/>
                    </a:cubicBezTo>
                    <a:cubicBezTo>
                      <a:pt x="728" y="135"/>
                      <a:pt x="723" y="117"/>
                      <a:pt x="731" y="103"/>
                    </a:cubicBezTo>
                    <a:close/>
                    <a:moveTo>
                      <a:pt x="273" y="94"/>
                    </a:moveTo>
                    <a:cubicBezTo>
                      <a:pt x="287" y="86"/>
                      <a:pt x="305" y="91"/>
                      <a:pt x="313" y="105"/>
                    </a:cubicBezTo>
                    <a:cubicBezTo>
                      <a:pt x="321" y="119"/>
                      <a:pt x="316" y="136"/>
                      <a:pt x="303" y="144"/>
                    </a:cubicBezTo>
                    <a:cubicBezTo>
                      <a:pt x="289" y="152"/>
                      <a:pt x="271" y="148"/>
                      <a:pt x="263" y="134"/>
                    </a:cubicBezTo>
                    <a:cubicBezTo>
                      <a:pt x="255" y="120"/>
                      <a:pt x="260" y="102"/>
                      <a:pt x="273" y="94"/>
                    </a:cubicBezTo>
                    <a:close/>
                    <a:moveTo>
                      <a:pt x="316" y="945"/>
                    </a:moveTo>
                    <a:cubicBezTo>
                      <a:pt x="308" y="959"/>
                      <a:pt x="290" y="963"/>
                      <a:pt x="276" y="955"/>
                    </a:cubicBezTo>
                    <a:cubicBezTo>
                      <a:pt x="262" y="947"/>
                      <a:pt x="258" y="930"/>
                      <a:pt x="266" y="916"/>
                    </a:cubicBezTo>
                    <a:cubicBezTo>
                      <a:pt x="274" y="902"/>
                      <a:pt x="291" y="897"/>
                      <a:pt x="305" y="905"/>
                    </a:cubicBezTo>
                    <a:cubicBezTo>
                      <a:pt x="319" y="913"/>
                      <a:pt x="324" y="931"/>
                      <a:pt x="316" y="945"/>
                    </a:cubicBezTo>
                    <a:close/>
                    <a:moveTo>
                      <a:pt x="773" y="954"/>
                    </a:moveTo>
                    <a:cubicBezTo>
                      <a:pt x="760" y="962"/>
                      <a:pt x="742" y="957"/>
                      <a:pt x="734" y="943"/>
                    </a:cubicBezTo>
                    <a:cubicBezTo>
                      <a:pt x="726" y="929"/>
                      <a:pt x="731" y="911"/>
                      <a:pt x="744" y="903"/>
                    </a:cubicBezTo>
                    <a:cubicBezTo>
                      <a:pt x="758" y="895"/>
                      <a:pt x="776" y="900"/>
                      <a:pt x="784" y="914"/>
                    </a:cubicBezTo>
                    <a:cubicBezTo>
                      <a:pt x="792" y="928"/>
                      <a:pt x="787" y="946"/>
                      <a:pt x="773" y="954"/>
                    </a:cubicBezTo>
                    <a:close/>
                    <a:moveTo>
                      <a:pt x="804" y="322"/>
                    </a:moveTo>
                    <a:cubicBezTo>
                      <a:pt x="571" y="521"/>
                      <a:pt x="571" y="521"/>
                      <a:pt x="571" y="521"/>
                    </a:cubicBezTo>
                    <a:cubicBezTo>
                      <a:pt x="571" y="522"/>
                      <a:pt x="571" y="522"/>
                      <a:pt x="571" y="523"/>
                    </a:cubicBezTo>
                    <a:cubicBezTo>
                      <a:pt x="571" y="549"/>
                      <a:pt x="550" y="570"/>
                      <a:pt x="524" y="570"/>
                    </a:cubicBezTo>
                    <a:cubicBezTo>
                      <a:pt x="499" y="570"/>
                      <a:pt x="478" y="550"/>
                      <a:pt x="477" y="525"/>
                    </a:cubicBezTo>
                    <a:cubicBezTo>
                      <a:pt x="329" y="423"/>
                      <a:pt x="329" y="423"/>
                      <a:pt x="329" y="423"/>
                    </a:cubicBezTo>
                    <a:cubicBezTo>
                      <a:pt x="320" y="417"/>
                      <a:pt x="318" y="406"/>
                      <a:pt x="323" y="397"/>
                    </a:cubicBezTo>
                    <a:cubicBezTo>
                      <a:pt x="329" y="389"/>
                      <a:pt x="340" y="386"/>
                      <a:pt x="349" y="391"/>
                    </a:cubicBezTo>
                    <a:cubicBezTo>
                      <a:pt x="507" y="479"/>
                      <a:pt x="507" y="479"/>
                      <a:pt x="507" y="479"/>
                    </a:cubicBezTo>
                    <a:cubicBezTo>
                      <a:pt x="512" y="477"/>
                      <a:pt x="518" y="476"/>
                      <a:pt x="524" y="476"/>
                    </a:cubicBezTo>
                    <a:cubicBezTo>
                      <a:pt x="528" y="476"/>
                      <a:pt x="533" y="476"/>
                      <a:pt x="537" y="477"/>
                    </a:cubicBezTo>
                    <a:cubicBezTo>
                      <a:pt x="781" y="293"/>
                      <a:pt x="781" y="293"/>
                      <a:pt x="781" y="293"/>
                    </a:cubicBezTo>
                    <a:cubicBezTo>
                      <a:pt x="789" y="287"/>
                      <a:pt x="801" y="288"/>
                      <a:pt x="807" y="296"/>
                    </a:cubicBezTo>
                    <a:cubicBezTo>
                      <a:pt x="814" y="304"/>
                      <a:pt x="812" y="316"/>
                      <a:pt x="804" y="322"/>
                    </a:cubicBezTo>
                    <a:close/>
                    <a:moveTo>
                      <a:pt x="915" y="263"/>
                    </a:moveTo>
                    <a:cubicBezTo>
                      <a:pt x="928" y="255"/>
                      <a:pt x="946" y="260"/>
                      <a:pt x="954" y="274"/>
                    </a:cubicBezTo>
                    <a:cubicBezTo>
                      <a:pt x="962" y="288"/>
                      <a:pt x="958" y="306"/>
                      <a:pt x="944" y="314"/>
                    </a:cubicBezTo>
                    <a:cubicBezTo>
                      <a:pt x="930" y="322"/>
                      <a:pt x="912" y="317"/>
                      <a:pt x="904" y="303"/>
                    </a:cubicBezTo>
                    <a:cubicBezTo>
                      <a:pt x="896" y="289"/>
                      <a:pt x="901" y="271"/>
                      <a:pt x="915" y="263"/>
                    </a:cubicBezTo>
                    <a:close/>
                    <a:moveTo>
                      <a:pt x="956" y="771"/>
                    </a:moveTo>
                    <a:cubicBezTo>
                      <a:pt x="948" y="785"/>
                      <a:pt x="930" y="790"/>
                      <a:pt x="916" y="782"/>
                    </a:cubicBezTo>
                    <a:cubicBezTo>
                      <a:pt x="902" y="774"/>
                      <a:pt x="898" y="756"/>
                      <a:pt x="906" y="742"/>
                    </a:cubicBezTo>
                    <a:cubicBezTo>
                      <a:pt x="914" y="728"/>
                      <a:pt x="931" y="723"/>
                      <a:pt x="945" y="731"/>
                    </a:cubicBezTo>
                    <a:cubicBezTo>
                      <a:pt x="959" y="739"/>
                      <a:pt x="964" y="757"/>
                      <a:pt x="956" y="771"/>
                    </a:cubicBezTo>
                    <a:close/>
                  </a:path>
                </a:pathLst>
              </a:custGeom>
              <a:solidFill>
                <a:schemeClr val="tx2"/>
              </a:solidFill>
              <a:ln>
                <a:noFill/>
              </a:ln>
            </p:spPr>
            <p:txBody>
              <a:bodyPr vert="horz" wrap="square" lIns="65837" tIns="32918" rIns="65837" bIns="32918" numCol="1" anchor="t" anchorCtr="0" compatLnSpc="1">
                <a:prstTxWarp prst="textNoShape">
                  <a:avLst/>
                </a:prstTxWarp>
              </a:bodyPr>
              <a:lstStyle/>
              <a:p>
                <a:endParaRPr lang="en-US"/>
              </a:p>
            </p:txBody>
          </p:sp>
        </p:grpSp>
      </p:grpSp>
      <p:cxnSp>
        <p:nvCxnSpPr>
          <p:cNvPr id="14" name="Straight Connector 13">
            <a:extLst>
              <a:ext uri="{FF2B5EF4-FFF2-40B4-BE49-F238E27FC236}">
                <a16:creationId xmlns:a16="http://schemas.microsoft.com/office/drawing/2014/main" id="{938D2B40-7150-45B6-BE73-495FBEC0DF70}"/>
              </a:ext>
            </a:extLst>
          </p:cNvPr>
          <p:cNvCxnSpPr/>
          <p:nvPr/>
        </p:nvCxnSpPr>
        <p:spPr>
          <a:xfrm>
            <a:off x="638930" y="2960963"/>
            <a:ext cx="4720860" cy="0"/>
          </a:xfrm>
          <a:prstGeom prst="line">
            <a:avLst/>
          </a:prstGeom>
          <a:ln w="9525" cap="rnd">
            <a:solidFill>
              <a:schemeClr val="tx1">
                <a:lumMod val="60000"/>
                <a:lumOff val="40000"/>
              </a:schemeClr>
            </a:solidFill>
            <a:prstDash val="solid"/>
            <a:roun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40CA78B4-12F0-412A-A92E-73F613249B2D}"/>
              </a:ext>
            </a:extLst>
          </p:cNvPr>
          <p:cNvCxnSpPr>
            <a:cxnSpLocks/>
          </p:cNvCxnSpPr>
          <p:nvPr/>
        </p:nvCxnSpPr>
        <p:spPr>
          <a:xfrm>
            <a:off x="5546506" y="2960963"/>
            <a:ext cx="2748150" cy="0"/>
          </a:xfrm>
          <a:prstGeom prst="line">
            <a:avLst/>
          </a:prstGeom>
          <a:ln w="9525" cap="rnd">
            <a:solidFill>
              <a:schemeClr val="tx1">
                <a:lumMod val="60000"/>
                <a:lumOff val="40000"/>
              </a:schemeClr>
            </a:solidFill>
            <a:prstDash val="solid"/>
            <a:roun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3A272E76-3328-461F-9865-B8A73FD46BCB}"/>
              </a:ext>
            </a:extLst>
          </p:cNvPr>
          <p:cNvCxnSpPr>
            <a:cxnSpLocks/>
          </p:cNvCxnSpPr>
          <p:nvPr/>
        </p:nvCxnSpPr>
        <p:spPr>
          <a:xfrm>
            <a:off x="8673307" y="2960963"/>
            <a:ext cx="2888322" cy="0"/>
          </a:xfrm>
          <a:prstGeom prst="line">
            <a:avLst/>
          </a:prstGeom>
          <a:ln w="9525" cap="rnd">
            <a:solidFill>
              <a:schemeClr val="tx1">
                <a:lumMod val="60000"/>
                <a:lumOff val="40000"/>
              </a:schemeClr>
            </a:solidFill>
            <a:prstDash val="solid"/>
            <a:roun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7C2AAB0-FA8B-4784-BC2A-A60A080420DC}"/>
              </a:ext>
            </a:extLst>
          </p:cNvPr>
          <p:cNvCxnSpPr/>
          <p:nvPr/>
        </p:nvCxnSpPr>
        <p:spPr>
          <a:xfrm>
            <a:off x="1105246" y="3196545"/>
            <a:ext cx="0" cy="446276"/>
          </a:xfrm>
          <a:prstGeom prst="line">
            <a:avLst/>
          </a:prstGeom>
          <a:ln w="9525" cap="rnd">
            <a:solidFill>
              <a:schemeClr val="tx1">
                <a:lumMod val="60000"/>
                <a:lumOff val="40000"/>
              </a:schemeClr>
            </a:solidFill>
            <a:prstDash val="solid"/>
            <a:roun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2E3BC483-871B-49AE-A9D8-8C0332C51554}"/>
              </a:ext>
            </a:extLst>
          </p:cNvPr>
          <p:cNvCxnSpPr/>
          <p:nvPr/>
        </p:nvCxnSpPr>
        <p:spPr>
          <a:xfrm>
            <a:off x="1105246" y="4010997"/>
            <a:ext cx="0" cy="446276"/>
          </a:xfrm>
          <a:prstGeom prst="line">
            <a:avLst/>
          </a:prstGeom>
          <a:ln w="9525" cap="rnd">
            <a:solidFill>
              <a:schemeClr val="tx1">
                <a:lumMod val="60000"/>
                <a:lumOff val="40000"/>
              </a:schemeClr>
            </a:solidFill>
            <a:prstDash val="solid"/>
            <a:roun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722225EF-B383-4B38-A2E3-02D00E062184}"/>
              </a:ext>
            </a:extLst>
          </p:cNvPr>
          <p:cNvCxnSpPr>
            <a:cxnSpLocks/>
          </p:cNvCxnSpPr>
          <p:nvPr/>
        </p:nvCxnSpPr>
        <p:spPr>
          <a:xfrm>
            <a:off x="1105246" y="4895365"/>
            <a:ext cx="0" cy="446276"/>
          </a:xfrm>
          <a:prstGeom prst="line">
            <a:avLst/>
          </a:prstGeom>
          <a:ln w="9525" cap="rnd">
            <a:solidFill>
              <a:schemeClr val="tx1">
                <a:lumMod val="60000"/>
                <a:lumOff val="40000"/>
              </a:schemeClr>
            </a:solidFill>
            <a:prstDash val="solid"/>
            <a:roun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id="{DAC66DE7-9589-4156-B6AD-3FD260A06C59}"/>
              </a:ext>
            </a:extLst>
          </p:cNvPr>
          <p:cNvCxnSpPr>
            <a:cxnSpLocks/>
          </p:cNvCxnSpPr>
          <p:nvPr/>
        </p:nvCxnSpPr>
        <p:spPr>
          <a:xfrm>
            <a:off x="1105246" y="5867459"/>
            <a:ext cx="0" cy="446276"/>
          </a:xfrm>
          <a:prstGeom prst="line">
            <a:avLst/>
          </a:prstGeom>
          <a:ln w="9525" cap="rnd">
            <a:solidFill>
              <a:schemeClr val="tx1">
                <a:lumMod val="60000"/>
                <a:lumOff val="40000"/>
              </a:schemeClr>
            </a:solidFill>
            <a:prstDash val="solid"/>
            <a:roun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a16="http://schemas.microsoft.com/office/drawing/2014/main" id="{2C51C4D2-082E-49C3-BBA1-715D64BBB8B2}"/>
              </a:ext>
            </a:extLst>
          </p:cNvPr>
          <p:cNvCxnSpPr>
            <a:cxnSpLocks/>
          </p:cNvCxnSpPr>
          <p:nvPr/>
        </p:nvCxnSpPr>
        <p:spPr>
          <a:xfrm>
            <a:off x="6026915" y="3343359"/>
            <a:ext cx="0" cy="788807"/>
          </a:xfrm>
          <a:prstGeom prst="line">
            <a:avLst/>
          </a:prstGeom>
          <a:ln w="9525" cap="rnd">
            <a:solidFill>
              <a:schemeClr val="tx1">
                <a:lumMod val="60000"/>
                <a:lumOff val="40000"/>
              </a:schemeClr>
            </a:solidFill>
            <a:prstDash val="solid"/>
            <a:roun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78" name="Straight Connector 177">
            <a:extLst>
              <a:ext uri="{FF2B5EF4-FFF2-40B4-BE49-F238E27FC236}">
                <a16:creationId xmlns:a16="http://schemas.microsoft.com/office/drawing/2014/main" id="{1A7E69DE-8932-47DE-BFC0-EC3B7E39BBE9}"/>
              </a:ext>
            </a:extLst>
          </p:cNvPr>
          <p:cNvCxnSpPr>
            <a:cxnSpLocks/>
          </p:cNvCxnSpPr>
          <p:nvPr/>
        </p:nvCxnSpPr>
        <p:spPr>
          <a:xfrm>
            <a:off x="6026915" y="5414428"/>
            <a:ext cx="0" cy="788807"/>
          </a:xfrm>
          <a:prstGeom prst="line">
            <a:avLst/>
          </a:prstGeom>
          <a:ln w="9525" cap="rnd">
            <a:solidFill>
              <a:schemeClr val="tx1">
                <a:lumMod val="60000"/>
                <a:lumOff val="40000"/>
              </a:schemeClr>
            </a:solidFill>
            <a:prstDash val="solid"/>
            <a:roun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79" name="Straight Connector 178">
            <a:extLst>
              <a:ext uri="{FF2B5EF4-FFF2-40B4-BE49-F238E27FC236}">
                <a16:creationId xmlns:a16="http://schemas.microsoft.com/office/drawing/2014/main" id="{CE7C2CAC-AAE3-4993-ABFA-0180B381B571}"/>
              </a:ext>
            </a:extLst>
          </p:cNvPr>
          <p:cNvCxnSpPr>
            <a:cxnSpLocks/>
          </p:cNvCxnSpPr>
          <p:nvPr/>
        </p:nvCxnSpPr>
        <p:spPr>
          <a:xfrm>
            <a:off x="9203129" y="3247573"/>
            <a:ext cx="0" cy="704325"/>
          </a:xfrm>
          <a:prstGeom prst="line">
            <a:avLst/>
          </a:prstGeom>
          <a:ln w="9525" cap="rnd">
            <a:solidFill>
              <a:schemeClr val="tx1">
                <a:lumMod val="60000"/>
                <a:lumOff val="40000"/>
              </a:schemeClr>
            </a:solidFill>
            <a:prstDash val="solid"/>
            <a:roun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3B613988-91EA-4A92-B19B-024232D01062}"/>
              </a:ext>
            </a:extLst>
          </p:cNvPr>
          <p:cNvCxnSpPr>
            <a:cxnSpLocks/>
          </p:cNvCxnSpPr>
          <p:nvPr/>
        </p:nvCxnSpPr>
        <p:spPr>
          <a:xfrm>
            <a:off x="9203129" y="4492423"/>
            <a:ext cx="0" cy="704325"/>
          </a:xfrm>
          <a:prstGeom prst="line">
            <a:avLst/>
          </a:prstGeom>
          <a:ln w="9525" cap="rnd">
            <a:solidFill>
              <a:schemeClr val="tx1">
                <a:lumMod val="60000"/>
                <a:lumOff val="40000"/>
              </a:schemeClr>
            </a:solidFill>
            <a:prstDash val="solid"/>
            <a:roun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B615A8AC-90BB-47F0-B819-D563917283D3}"/>
              </a:ext>
            </a:extLst>
          </p:cNvPr>
          <p:cNvCxnSpPr>
            <a:cxnSpLocks/>
          </p:cNvCxnSpPr>
          <p:nvPr/>
        </p:nvCxnSpPr>
        <p:spPr>
          <a:xfrm>
            <a:off x="9203129" y="5644247"/>
            <a:ext cx="0" cy="704325"/>
          </a:xfrm>
          <a:prstGeom prst="line">
            <a:avLst/>
          </a:prstGeom>
          <a:ln w="9525" cap="rnd">
            <a:solidFill>
              <a:schemeClr val="tx1">
                <a:lumMod val="60000"/>
                <a:lumOff val="40000"/>
              </a:schemeClr>
            </a:solidFill>
            <a:prstDash val="solid"/>
            <a:round/>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8" name="Title 1">
            <a:extLst>
              <a:ext uri="{FF2B5EF4-FFF2-40B4-BE49-F238E27FC236}">
                <a16:creationId xmlns:a16="http://schemas.microsoft.com/office/drawing/2014/main" id="{59682E27-1F9F-A4FA-179A-C602E0FAD172}"/>
              </a:ext>
            </a:extLst>
          </p:cNvPr>
          <p:cNvSpPr>
            <a:spLocks noGrp="1"/>
          </p:cNvSpPr>
          <p:nvPr>
            <p:ph type="title"/>
          </p:nvPr>
        </p:nvSpPr>
        <p:spPr>
          <a:xfrm>
            <a:off x="630000" y="622800"/>
            <a:ext cx="10933350" cy="332399"/>
          </a:xfrm>
        </p:spPr>
        <p:txBody>
          <a:bodyPr vert="horz">
            <a:spAutoFit/>
          </a:bodyPr>
          <a:lstStyle/>
          <a:p>
            <a:pPr>
              <a:buSzPts val="2400"/>
            </a:pPr>
            <a:r>
              <a:rPr lang="zh-TW" altLang="en-US"/>
              <a:t>依據不同目的在不同時機點發送不同訊息</a:t>
            </a:r>
            <a:endParaRPr lang="en-US"/>
          </a:p>
        </p:txBody>
      </p:sp>
      <p:sp>
        <p:nvSpPr>
          <p:cNvPr id="9" name="ee4pHeader1">
            <a:extLst>
              <a:ext uri="{FF2B5EF4-FFF2-40B4-BE49-F238E27FC236}">
                <a16:creationId xmlns:a16="http://schemas.microsoft.com/office/drawing/2014/main" id="{78F41FB7-9DED-D0E6-D1CC-92EC0C4513B4}"/>
              </a:ext>
            </a:extLst>
          </p:cNvPr>
          <p:cNvSpPr txBox="1"/>
          <p:nvPr/>
        </p:nvSpPr>
        <p:spPr>
          <a:xfrm>
            <a:off x="466919" y="69115"/>
            <a:ext cx="1348981" cy="469263"/>
          </a:xfrm>
          <a:prstGeom prst="rect">
            <a:avLst/>
          </a:prstGeom>
          <a:noFill/>
          <a:ln cap="rnd">
            <a:noFill/>
          </a:ln>
        </p:spPr>
        <p:txBody>
          <a:bodyPr vert="horz" wrap="square" lIns="0" tIns="0" rIns="0" bIns="0" rtlCol="0" anchor="ctr" anchorCtr="0">
            <a:noAutofit/>
          </a:bodyPr>
          <a:lstStyle/>
          <a:p>
            <a:pPr>
              <a:buSzPct val="100000"/>
              <a:buFont typeface="Trebuchet MS" panose="020B0603020202020204" pitchFamily="34" charset="0"/>
              <a:buChar char="​"/>
            </a:pPr>
            <a:r>
              <a:rPr lang="zh-TW" altLang="en-US" sz="1400" b="1">
                <a:solidFill>
                  <a:srgbClr val="29BA74"/>
                </a:solidFill>
                <a:ea typeface="Microsoft YaHei" panose="020B0503020204020204" pitchFamily="34" charset="-122"/>
                <a:sym typeface="+mn-lt"/>
              </a:rPr>
              <a:t>方案組合庫</a:t>
            </a:r>
            <a:endParaRPr lang="en-US" sz="1400" b="1">
              <a:solidFill>
                <a:srgbClr val="29BA74"/>
              </a:solidFill>
              <a:ea typeface="Microsoft YaHei" panose="020B0503020204020204" pitchFamily="34" charset="-122"/>
              <a:sym typeface="+mn-lt"/>
            </a:endParaRPr>
          </a:p>
        </p:txBody>
      </p:sp>
      <p:sp>
        <p:nvSpPr>
          <p:cNvPr id="10" name="Oval 20">
            <a:extLst>
              <a:ext uri="{FF2B5EF4-FFF2-40B4-BE49-F238E27FC236}">
                <a16:creationId xmlns:a16="http://schemas.microsoft.com/office/drawing/2014/main" id="{1836AB95-C30B-094B-42AC-EC687C044262}"/>
              </a:ext>
            </a:extLst>
          </p:cNvPr>
          <p:cNvSpPr>
            <a:spLocks noChangeAspect="1" noChangeArrowheads="1"/>
          </p:cNvSpPr>
          <p:nvPr/>
        </p:nvSpPr>
        <p:spPr bwMode="auto">
          <a:xfrm>
            <a:off x="141430" y="195189"/>
            <a:ext cx="238259" cy="238259"/>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altLang="zh-TW" sz="1200">
                <a:solidFill>
                  <a:schemeClr val="bg1"/>
                </a:solidFill>
              </a:rPr>
              <a:t>C</a:t>
            </a:r>
            <a:endParaRPr lang="en-US" sz="1200">
              <a:solidFill>
                <a:schemeClr val="bg1"/>
              </a:solidFill>
            </a:endParaRPr>
          </a:p>
        </p:txBody>
      </p:sp>
    </p:spTree>
    <p:extLst>
      <p:ext uri="{BB962C8B-B14F-4D97-AF65-F5344CB8AC3E}">
        <p14:creationId xmlns:p14="http://schemas.microsoft.com/office/powerpoint/2010/main" val="52433361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BD37CA23-2A56-40BF-B779-BB44BD6B3C0E}"/>
              </a:ext>
            </a:extLst>
          </p:cNvPr>
          <p:cNvGraphicFramePr>
            <a:graphicFrameLocks noChangeAspect="1"/>
          </p:cNvGraphicFramePr>
          <p:nvPr>
            <p:custDataLst>
              <p:tags r:id="rId1"/>
            </p:custDataLst>
            <p:extLst>
              <p:ext uri="{D42A27DB-BD31-4B8C-83A1-F6EECF244321}">
                <p14:modId xmlns:p14="http://schemas.microsoft.com/office/powerpoint/2010/main" val="167695149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395" imgH="396" progId="TCLayout.ActiveDocument.1">
                  <p:embed/>
                </p:oleObj>
              </mc:Choice>
              <mc:Fallback>
                <p:oleObj name="think-cell Slide" r:id="rId4" imgW="395" imgH="396" progId="TCLayout.ActiveDocument.1">
                  <p:embed/>
                  <p:pic>
                    <p:nvPicPr>
                      <p:cNvPr id="2" name="Object 1" hidden="1">
                        <a:extLst>
                          <a:ext uri="{FF2B5EF4-FFF2-40B4-BE49-F238E27FC236}">
                            <a16:creationId xmlns:a16="http://schemas.microsoft.com/office/drawing/2014/main" id="{BD37CA23-2A56-40BF-B779-BB44BD6B3C0E}"/>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12" name="TextBox 11">
            <a:extLst>
              <a:ext uri="{FF2B5EF4-FFF2-40B4-BE49-F238E27FC236}">
                <a16:creationId xmlns:a16="http://schemas.microsoft.com/office/drawing/2014/main" id="{99593A83-365E-4318-9280-2DABFBD48C1A}"/>
              </a:ext>
            </a:extLst>
          </p:cNvPr>
          <p:cNvSpPr txBox="1"/>
          <p:nvPr/>
        </p:nvSpPr>
        <p:spPr>
          <a:xfrm>
            <a:off x="630000" y="2361232"/>
            <a:ext cx="10933350" cy="584775"/>
          </a:xfrm>
          <a:prstGeom prst="rect">
            <a:avLst/>
          </a:prstGeom>
          <a:solidFill>
            <a:srgbClr val="F2F2F2"/>
          </a:solidFill>
          <a:ln w="9525" cap="rnd" cmpd="sng" algn="ctr">
            <a:solidFill>
              <a:schemeClr val="bg1">
                <a:lumMod val="50000"/>
              </a:schemeClr>
            </a:solidFill>
            <a:prstDash val="solid"/>
            <a:round/>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a:spAutoFit/>
          </a:bodyPr>
          <a:lstStyle/>
          <a:p>
            <a:pPr marL="0" marR="0" lvl="0" indent="0" algn="l"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zh-TW" altLang="en-US" sz="1600" b="1"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小美過去兩個月中在服裝類別的</a:t>
            </a:r>
            <a:r>
              <a:rPr kumimoji="0" lang="zh-TW" altLang="en-US" sz="1600" b="1" u="none" strike="noStrike" kern="1200" cap="none" spc="0" normalizeH="0" baseline="0" noProof="0">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rPr>
              <a:t>支出下降了超過</a:t>
            </a:r>
            <a:r>
              <a:rPr kumimoji="0" lang="en-US" altLang="zh-TW" sz="1600" b="1" u="none" strike="noStrike" kern="1200" cap="none" spc="0" normalizeH="0" baseline="0" noProof="0">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rPr>
              <a:t>25%</a:t>
            </a:r>
            <a:r>
              <a:rPr kumimoji="0" lang="zh-TW" altLang="en-US" sz="1600" b="1"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。他會收到</a:t>
            </a:r>
            <a:r>
              <a:rPr kumimoji="0" lang="en-US" altLang="zh-TW" sz="1600" b="1" u="none" strike="noStrike" kern="1200" cap="none" spc="0" normalizeH="0" baseline="0" noProof="0">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rPr>
              <a:t>APP</a:t>
            </a:r>
            <a:r>
              <a:rPr kumimoji="0" lang="zh-TW" altLang="en-US" sz="1600" b="1" u="none" strike="noStrike" kern="1200" cap="none" spc="0" normalizeH="0" baseline="0" noProof="0">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rPr>
              <a:t>推送</a:t>
            </a:r>
            <a:r>
              <a:rPr kumimoji="0" lang="zh-TW" altLang="en-US" sz="1600" b="1" u="none" strike="noStrike" kern="1200" cap="none" spc="0" normalizeH="0" baseline="0" noProof="0">
                <a:ln>
                  <a:noFill/>
                </a:ln>
                <a:solidFill>
                  <a:schemeClr val="tx2"/>
                </a:solidFill>
                <a:effectLst/>
                <a:uLnTx/>
                <a:uFillTx/>
                <a:latin typeface="Trebuchet MS" panose="020B0603020202020204" pitchFamily="34" charset="0"/>
                <a:cs typeface="Arial" panose="020B0604020202020204" pitchFamily="34" charset="0"/>
                <a:sym typeface="Trebuchet MS" panose="020B0603020202020204" pitchFamily="34" charset="0"/>
              </a:rPr>
              <a:t>通知</a:t>
            </a:r>
            <a:r>
              <a:rPr kumimoji="0" lang="zh-TW" altLang="en-US" sz="1600" b="1"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，建議他在</a:t>
            </a:r>
            <a:r>
              <a:rPr kumimoji="0" lang="zh-TW" altLang="en-US" sz="1600" b="1" u="none" strike="noStrike" kern="1200" cap="none" spc="0" normalizeH="0" baseline="0" noProof="0">
                <a:ln>
                  <a:noFill/>
                </a:ln>
                <a:solidFill>
                  <a:schemeClr val="tx2"/>
                </a:solidFill>
                <a:effectLst/>
                <a:uLnTx/>
                <a:uFillTx/>
                <a:latin typeface="Trebuchet MS" panose="020B0603020202020204" pitchFamily="34" charset="0"/>
                <a:cs typeface="Arial" panose="020B0604020202020204" pitchFamily="34" charset="0"/>
                <a:sym typeface="Trebuchet MS" panose="020B0603020202020204" pitchFamily="34" charset="0"/>
              </a:rPr>
              <a:t>特定服飾廠商（動態類別）</a:t>
            </a:r>
            <a:r>
              <a:rPr kumimoji="0" lang="zh-TW" altLang="en-US" sz="1600" b="1"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使用</a:t>
            </a:r>
            <a:r>
              <a:rPr kumimoji="0" lang="zh-TW" altLang="en-US" sz="1600" b="1" u="none" strike="noStrike" kern="1200" cap="none" spc="0" normalizeH="0" baseline="0" noProof="0">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rPr>
              <a:t>凱基銀行信用卡消費來</a:t>
            </a:r>
            <a:r>
              <a:rPr kumimoji="0" lang="zh-TW" altLang="en-US" sz="1600" b="1" u="none" strike="noStrike" kern="1200" cap="none" spc="0" normalizeH="0" baseline="0" noProof="0">
                <a:ln>
                  <a:noFill/>
                </a:ln>
                <a:solidFill>
                  <a:schemeClr val="tx2"/>
                </a:solidFill>
                <a:effectLst/>
                <a:uLnTx/>
                <a:uFillTx/>
                <a:latin typeface="Trebuchet MS" panose="020B0603020202020204" pitchFamily="34" charset="0"/>
                <a:cs typeface="Arial" panose="020B0604020202020204" pitchFamily="34" charset="0"/>
                <a:sym typeface="Trebuchet MS" panose="020B0603020202020204" pitchFamily="34" charset="0"/>
              </a:rPr>
              <a:t>享受</a:t>
            </a:r>
            <a:r>
              <a:rPr kumimoji="0" lang="en-US" altLang="zh-TW" sz="1600" b="1" u="none" strike="noStrike" kern="1200" cap="none" spc="0" normalizeH="0" baseline="0" noProof="0">
                <a:ln>
                  <a:noFill/>
                </a:ln>
                <a:solidFill>
                  <a:schemeClr val="tx2"/>
                </a:solidFill>
                <a:effectLst/>
                <a:uLnTx/>
                <a:uFillTx/>
                <a:latin typeface="Trebuchet MS" panose="020B0603020202020204" pitchFamily="34" charset="0"/>
                <a:cs typeface="Arial" panose="020B0604020202020204" pitchFamily="34" charset="0"/>
                <a:sym typeface="Trebuchet MS" panose="020B0603020202020204" pitchFamily="34" charset="0"/>
              </a:rPr>
              <a:t>9</a:t>
            </a:r>
            <a:r>
              <a:rPr kumimoji="0" lang="zh-TW" altLang="en-US" sz="1600" b="1" u="none" strike="noStrike" kern="1200" cap="none" spc="0" normalizeH="0" baseline="0" noProof="0">
                <a:ln>
                  <a:noFill/>
                </a:ln>
                <a:solidFill>
                  <a:schemeClr val="tx2"/>
                </a:solidFill>
                <a:effectLst/>
                <a:uLnTx/>
                <a:uFillTx/>
                <a:latin typeface="Trebuchet MS" panose="020B0603020202020204" pitchFamily="34" charset="0"/>
                <a:cs typeface="Arial" panose="020B0604020202020204" pitchFamily="34" charset="0"/>
                <a:sym typeface="Trebuchet MS" panose="020B0603020202020204" pitchFamily="34" charset="0"/>
              </a:rPr>
              <a:t>折</a:t>
            </a:r>
            <a:r>
              <a:rPr lang="zh-TW" altLang="en-US" sz="1600" b="1">
                <a:solidFill>
                  <a:schemeClr val="tx2"/>
                </a:solidFill>
                <a:latin typeface="Trebuchet MS" panose="020B0603020202020204" pitchFamily="34" charset="0"/>
                <a:cs typeface="Arial" panose="020B0604020202020204" pitchFamily="34" charset="0"/>
                <a:sym typeface="Trebuchet MS" panose="020B0603020202020204" pitchFamily="34" charset="0"/>
              </a:rPr>
              <a:t>優惠</a:t>
            </a:r>
            <a:r>
              <a:rPr kumimoji="0" lang="zh-TW" altLang="en-US" sz="1600" b="1"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a:t>
            </a:r>
          </a:p>
        </p:txBody>
      </p:sp>
      <p:sp>
        <p:nvSpPr>
          <p:cNvPr id="13" name="Rectangle 12">
            <a:extLst>
              <a:ext uri="{FF2B5EF4-FFF2-40B4-BE49-F238E27FC236}">
                <a16:creationId xmlns:a16="http://schemas.microsoft.com/office/drawing/2014/main" id="{A9511A90-8477-429A-8697-612DE4F1D25F}"/>
              </a:ext>
            </a:extLst>
          </p:cNvPr>
          <p:cNvSpPr/>
          <p:nvPr/>
        </p:nvSpPr>
        <p:spPr>
          <a:xfrm>
            <a:off x="2726789" y="4185305"/>
            <a:ext cx="7120697" cy="1444128"/>
          </a:xfrm>
          <a:prstGeom prst="rect">
            <a:avLst/>
          </a:prstGeom>
          <a:solidFill>
            <a:schemeClr val="bg1"/>
          </a:solidFill>
          <a:ln w="12700" cap="rnd" cmpd="sng" algn="ctr">
            <a:solidFill>
              <a:schemeClr val="tx2"/>
            </a:solidFill>
            <a:prstDash val="dash"/>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1" i="1" u="none" strike="noStrike" kern="1200" cap="none" spc="0" normalizeH="0" baseline="0" noProof="0">
                <a:ln>
                  <a:noFill/>
                </a:ln>
                <a:solidFill>
                  <a:srgbClr val="575757">
                    <a:lumMod val="100000"/>
                  </a:srgbClr>
                </a:solidFill>
                <a:effectLst/>
                <a:uLnTx/>
                <a:uFillTx/>
                <a:latin typeface="Trebuchet MS" panose="020B0603020202020204" pitchFamily="34" charset="0"/>
                <a:ea typeface="Calibri" panose="020F0502020204030204" pitchFamily="34" charset="0"/>
                <a:cs typeface="Arial" panose="020B0604020202020204" pitchFamily="34" charset="0"/>
                <a:sym typeface="Trebuchet MS" panose="020B0603020202020204" pitchFamily="34" charset="0"/>
              </a:rPr>
              <a:t>發送時間：</a:t>
            </a:r>
            <a:r>
              <a:rPr kumimoji="0" lang="en-US" sz="1000" b="1" i="1" u="none" strike="noStrike" kern="1200" cap="none" spc="0" normalizeH="0" baseline="0" noProof="0">
                <a:ln>
                  <a:noFill/>
                </a:ln>
                <a:solidFill>
                  <a:schemeClr val="tx1"/>
                </a:solidFill>
                <a:effectLst/>
                <a:uLnTx/>
                <a:uFillTx/>
                <a:latin typeface="Trebuchet MS" panose="020B0603020202020204" pitchFamily="34" charset="0"/>
                <a:ea typeface="Calibri" panose="020F0502020204030204" pitchFamily="34" charset="0"/>
                <a:cs typeface="Arial" panose="020B0604020202020204" pitchFamily="34" charset="0"/>
                <a:sym typeface="Trebuchet MS" panose="020B0603020202020204" pitchFamily="34" charset="0"/>
              </a:rPr>
              <a:t>星期六上午10點</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b="1" i="0" u="none" strike="noStrike" kern="1200" cap="none" spc="0" normalizeH="0" baseline="0" noProof="0">
                <a:ln>
                  <a:noFill/>
                </a:ln>
                <a:solidFill>
                  <a:schemeClr val="tx2"/>
                </a:solidFill>
                <a:effectLst/>
                <a:uLnTx/>
                <a:uFillTx/>
                <a:latin typeface="Trebuchet MS" panose="020B0603020202020204" pitchFamily="34" charset="0"/>
                <a:cs typeface="Arial" panose="020B0604020202020204" pitchFamily="34" charset="0"/>
                <a:sym typeface="Trebuchet MS" panose="020B0603020202020204" pitchFamily="34" charset="0"/>
              </a:rPr>
              <a:t>"</a:t>
            </a:r>
            <a:r>
              <a:rPr kumimoji="0" lang="en-US" b="1" i="0" u="none" strike="noStrike" kern="1200" cap="none" spc="0" normalizeH="0" baseline="0" noProof="0" err="1">
                <a:ln>
                  <a:noFill/>
                </a:ln>
                <a:solidFill>
                  <a:schemeClr val="tx2"/>
                </a:solidFill>
                <a:effectLst/>
                <a:uLnTx/>
                <a:uFillTx/>
                <a:latin typeface="Trebuchet MS" panose="020B0603020202020204" pitchFamily="34" charset="0"/>
                <a:cs typeface="Arial" panose="020B0604020202020204" pitchFamily="34" charset="0"/>
                <a:sym typeface="Trebuchet MS" panose="020B0603020202020204" pitchFamily="34" charset="0"/>
              </a:rPr>
              <a:t>您好</a:t>
            </a:r>
            <a:r>
              <a:rPr kumimoji="0" lang="zh-TW" altLang="en-US" b="1" i="0" u="none" strike="noStrike" kern="1200" cap="none" spc="0" normalizeH="0" baseline="0" noProof="0">
                <a:ln>
                  <a:noFill/>
                </a:ln>
                <a:solidFill>
                  <a:schemeClr val="tx2"/>
                </a:solidFill>
                <a:effectLst/>
                <a:uLnTx/>
                <a:uFillTx/>
                <a:latin typeface="Trebuchet MS" panose="020B0603020202020204" pitchFamily="34" charset="0"/>
                <a:ea typeface="Calibri" panose="020F0502020204030204" pitchFamily="34" charset="0"/>
                <a:cs typeface="Arial" panose="020B0604020202020204" pitchFamily="34" charset="0"/>
                <a:sym typeface="Trebuchet MS" panose="020B0603020202020204" pitchFamily="34" charset="0"/>
              </a:rPr>
              <a:t>小美</a:t>
            </a:r>
            <a:r>
              <a:rPr kumimoji="0" lang="en-US" b="1" i="0" u="none" strike="noStrike" kern="1200" cap="none" spc="0" normalizeH="0" baseline="0" noProof="0">
                <a:ln>
                  <a:noFill/>
                </a:ln>
                <a:solidFill>
                  <a:schemeClr val="tx2"/>
                </a:solidFill>
                <a:effectLst/>
                <a:uLnTx/>
                <a:uFillTx/>
                <a:latin typeface="Trebuchet MS" panose="020B0603020202020204" pitchFamily="34" charset="0"/>
                <a:ea typeface="Calibri" panose="020F0502020204030204" pitchFamily="34" charset="0"/>
                <a:cs typeface="Arial" panose="020B0604020202020204" pitchFamily="34" charset="0"/>
                <a:sym typeface="Trebuchet MS" panose="020B0603020202020204" pitchFamily="34" charset="0"/>
              </a:rPr>
              <a:t>，</a:t>
            </a:r>
            <a:r>
              <a:rPr lang="en-US" b="1" err="1">
                <a:solidFill>
                  <a:schemeClr val="tx1"/>
                </a:solidFill>
                <a:latin typeface="Trebuchet MS" panose="020B0603020202020204" pitchFamily="34" charset="0"/>
                <a:ea typeface="Calibri" panose="020F0502020204030204" pitchFamily="34" charset="0"/>
                <a:cs typeface="Arial" panose="020B0604020202020204" pitchFamily="34" charset="0"/>
                <a:sym typeface="Trebuchet MS" panose="020B0603020202020204" pitchFamily="34" charset="0"/>
              </a:rPr>
              <a:t>準備好</a:t>
            </a:r>
            <a:r>
              <a:rPr lang="zh-TW" altLang="en-US" b="1">
                <a:solidFill>
                  <a:schemeClr val="tx1"/>
                </a:solidFill>
                <a:latin typeface="Trebuchet MS" panose="020B0603020202020204" pitchFamily="34" charset="0"/>
                <a:ea typeface="Calibri" panose="020F0502020204030204" pitchFamily="34" charset="0"/>
                <a:cs typeface="Arial" panose="020B0604020202020204" pitchFamily="34" charset="0"/>
                <a:sym typeface="Trebuchet MS" panose="020B0603020202020204" pitchFamily="34" charset="0"/>
              </a:rPr>
              <a:t>為你的衣櫃</a:t>
            </a:r>
            <a:r>
              <a:rPr lang="en-US" b="1">
                <a:solidFill>
                  <a:schemeClr val="tx2"/>
                </a:solidFill>
                <a:latin typeface="Trebuchet MS" panose="020B0603020202020204" pitchFamily="34" charset="0"/>
                <a:ea typeface="Calibri" panose="020F0502020204030204" pitchFamily="34" charset="0"/>
                <a:cs typeface="Arial" panose="020B0604020202020204" pitchFamily="34" charset="0"/>
                <a:sym typeface="Trebuchet MS" panose="020B0603020202020204" pitchFamily="34" charset="0"/>
              </a:rPr>
              <a:t>&lt;</a:t>
            </a:r>
            <a:r>
              <a:rPr lang="zh-TW" altLang="en-US" b="1">
                <a:solidFill>
                  <a:schemeClr val="tx2"/>
                </a:solidFill>
                <a:latin typeface="Trebuchet MS" panose="020B0603020202020204" pitchFamily="34" charset="0"/>
                <a:ea typeface="Calibri" panose="020F0502020204030204" pitchFamily="34" charset="0"/>
                <a:cs typeface="Arial" panose="020B0604020202020204" pitchFamily="34" charset="0"/>
                <a:sym typeface="Trebuchet MS" panose="020B0603020202020204" pitchFamily="34" charset="0"/>
              </a:rPr>
              <a:t>增添新衣</a:t>
            </a:r>
            <a:r>
              <a:rPr lang="en-US" b="1">
                <a:solidFill>
                  <a:schemeClr val="tx2"/>
                </a:solidFill>
                <a:latin typeface="Trebuchet MS" panose="020B0603020202020204" pitchFamily="34" charset="0"/>
                <a:ea typeface="Calibri" panose="020F0502020204030204" pitchFamily="34" charset="0"/>
                <a:cs typeface="Arial" panose="020B0604020202020204" pitchFamily="34" charset="0"/>
                <a:sym typeface="Trebuchet MS" panose="020B0603020202020204" pitchFamily="34" charset="0"/>
              </a:rPr>
              <a:t>&gt;</a:t>
            </a:r>
            <a:r>
              <a:rPr lang="en-US" b="1" err="1">
                <a:solidFill>
                  <a:schemeClr val="tx1"/>
                </a:solidFill>
                <a:latin typeface="Trebuchet MS" panose="020B0603020202020204" pitchFamily="34" charset="0"/>
                <a:ea typeface="Calibri" panose="020F0502020204030204" pitchFamily="34" charset="0"/>
                <a:cs typeface="Arial" panose="020B0604020202020204" pitchFamily="34" charset="0"/>
                <a:sym typeface="Trebuchet MS" panose="020B0603020202020204" pitchFamily="34" charset="0"/>
              </a:rPr>
              <a:t>了嗎</a:t>
            </a:r>
            <a:r>
              <a:rPr lang="en-US" b="1">
                <a:solidFill>
                  <a:schemeClr val="tx1"/>
                </a:solidFill>
                <a:latin typeface="Trebuchet MS" panose="020B0603020202020204" pitchFamily="34" charset="0"/>
                <a:ea typeface="Calibri" panose="020F0502020204030204" pitchFamily="34" charset="0"/>
                <a:cs typeface="Arial" panose="020B0604020202020204" pitchFamily="34" charset="0"/>
                <a:sym typeface="Trebuchet MS" panose="020B0603020202020204" pitchFamily="34" charset="0"/>
              </a:rPr>
              <a:t>？</a:t>
            </a:r>
            <a:endParaRPr kumimoji="0" lang="en-US" b="1" i="0" u="none" strike="noStrike" kern="1200" cap="none" spc="0" normalizeH="0" baseline="0" noProof="0">
              <a:ln>
                <a:noFill/>
              </a:ln>
              <a:solidFill>
                <a:schemeClr val="tx2"/>
              </a:solidFill>
              <a:effectLst/>
              <a:uLnTx/>
              <a:uFillTx/>
              <a:latin typeface="Trebuchet MS" panose="020B0603020202020204" pitchFamily="34" charset="0"/>
              <a:cs typeface="Arial" panose="020B0604020202020204" pitchFamily="34" charset="0"/>
              <a:sym typeface="Trebuchet MS" panose="020B0603020202020204" pitchFamily="34" charset="0"/>
            </a:endParaRPr>
          </a:p>
          <a:p>
            <a:pPr>
              <a:defRPr/>
            </a:pPr>
            <a:r>
              <a:rPr kumimoji="0" lang="en-US" b="1" i="0" u="none" strike="noStrike" kern="1200" cap="none" spc="0" normalizeH="0" baseline="0" noProof="0" err="1">
                <a:ln>
                  <a:noFill/>
                </a:ln>
                <a:solidFill>
                  <a:schemeClr val="tx1"/>
                </a:solidFill>
                <a:effectLst/>
                <a:uLnTx/>
                <a:uFillTx/>
                <a:latin typeface="Trebuchet MS" panose="020B0603020202020204" pitchFamily="34" charset="0"/>
                <a:ea typeface="Calibri" panose="020F0502020204030204" pitchFamily="34" charset="0"/>
                <a:cs typeface="Arial" panose="020B0604020202020204" pitchFamily="34" charset="0"/>
                <a:sym typeface="Trebuchet MS" panose="020B0603020202020204" pitchFamily="34" charset="0"/>
              </a:rPr>
              <a:t>使用您的</a:t>
            </a:r>
            <a:r>
              <a:rPr lang="zh-TW" altLang="en-US" b="1">
                <a:solidFill>
                  <a:schemeClr val="tx1"/>
                </a:solidFill>
                <a:latin typeface="Trebuchet MS" panose="020B0603020202020204" pitchFamily="34" charset="0"/>
                <a:ea typeface="Calibri" panose="020F0502020204030204" pitchFamily="34" charset="0"/>
                <a:cs typeface="Arial" panose="020B0604020202020204" pitchFamily="34" charset="0"/>
                <a:sym typeface="Trebuchet MS" panose="020B0603020202020204" pitchFamily="34" charset="0"/>
              </a:rPr>
              <a:t>凱基銀</a:t>
            </a:r>
            <a:r>
              <a:rPr kumimoji="0" lang="zh-TW" altLang="en-US" b="1" i="0" u="none" strike="noStrike" kern="1200" cap="none" spc="0" normalizeH="0" baseline="0" noProof="0">
                <a:ln>
                  <a:noFill/>
                </a:ln>
                <a:solidFill>
                  <a:schemeClr val="tx1"/>
                </a:solidFill>
                <a:effectLst/>
                <a:uLnTx/>
                <a:uFillTx/>
                <a:latin typeface="Trebuchet MS" panose="020B0603020202020204" pitchFamily="34" charset="0"/>
                <a:ea typeface="Calibri" panose="020F0502020204030204" pitchFamily="34" charset="0"/>
                <a:cs typeface="Arial" panose="020B0604020202020204" pitchFamily="34" charset="0"/>
                <a:sym typeface="Trebuchet MS" panose="020B0603020202020204" pitchFamily="34" charset="0"/>
              </a:rPr>
              <a:t>行</a:t>
            </a:r>
            <a:r>
              <a:rPr kumimoji="0" lang="en-US" b="1" i="0" u="none" strike="noStrike" kern="1200" cap="none" spc="0" normalizeH="0" baseline="0" noProof="0" err="1">
                <a:ln>
                  <a:noFill/>
                </a:ln>
                <a:solidFill>
                  <a:schemeClr val="tx1"/>
                </a:solidFill>
                <a:effectLst/>
                <a:uLnTx/>
                <a:uFillTx/>
                <a:latin typeface="Trebuchet MS" panose="020B0603020202020204" pitchFamily="34" charset="0"/>
                <a:ea typeface="Calibri" panose="020F0502020204030204" pitchFamily="34" charset="0"/>
                <a:cs typeface="Arial" panose="020B0604020202020204" pitchFamily="34" charset="0"/>
                <a:sym typeface="Trebuchet MS" panose="020B0603020202020204" pitchFamily="34" charset="0"/>
              </a:rPr>
              <a:t>信用卡</a:t>
            </a:r>
            <a:r>
              <a:rPr lang="zh-TW" altLang="en-US" b="1">
                <a:solidFill>
                  <a:schemeClr val="tx1"/>
                </a:solidFill>
                <a:latin typeface="Trebuchet MS" panose="020B0603020202020204" pitchFamily="34" charset="0"/>
                <a:ea typeface="Calibri" panose="020F0502020204030204" pitchFamily="34" charset="0"/>
                <a:cs typeface="Arial" panose="020B0604020202020204" pitchFamily="34" charset="0"/>
                <a:sym typeface="Trebuchet MS" panose="020B0603020202020204" pitchFamily="34" charset="0"/>
              </a:rPr>
              <a:t>在</a:t>
            </a:r>
            <a:r>
              <a:rPr kumimoji="0" lang="en-US" altLang="zh-TW" b="1" i="0" u="none" strike="noStrike" kern="1200" cap="none" spc="0" normalizeH="0" baseline="0" noProof="0">
                <a:ln>
                  <a:noFill/>
                </a:ln>
                <a:solidFill>
                  <a:schemeClr val="tx2"/>
                </a:solidFill>
                <a:effectLst/>
                <a:uLnTx/>
                <a:uFillTx/>
                <a:latin typeface="Trebuchet MS" panose="020B0603020202020204" pitchFamily="34" charset="0"/>
                <a:ea typeface="Calibri" panose="020F0502020204030204" pitchFamily="34" charset="0"/>
                <a:cs typeface="Arial" panose="020B0604020202020204" pitchFamily="34" charset="0"/>
                <a:sym typeface="Trebuchet MS" panose="020B0603020202020204" pitchFamily="34" charset="0"/>
              </a:rPr>
              <a:t>&lt;</a:t>
            </a:r>
            <a:r>
              <a:rPr lang="zh-TW" altLang="en-US" b="1">
                <a:solidFill>
                  <a:schemeClr val="tx2"/>
                </a:solidFill>
                <a:latin typeface="Trebuchet MS" panose="020B0603020202020204" pitchFamily="34" charset="0"/>
                <a:ea typeface="Calibri" panose="020F0502020204030204" pitchFamily="34" charset="0"/>
                <a:cs typeface="Arial" panose="020B0604020202020204" pitchFamily="34" charset="0"/>
                <a:sym typeface="Trebuchet MS" panose="020B0603020202020204" pitchFamily="34" charset="0"/>
              </a:rPr>
              <a:t>特定服飾廠商</a:t>
            </a:r>
            <a:r>
              <a:rPr kumimoji="0" lang="en-US" altLang="zh-TW" b="1" i="0" u="none" strike="noStrike" kern="1200" cap="none" spc="0" normalizeH="0" baseline="0" noProof="0">
                <a:ln>
                  <a:noFill/>
                </a:ln>
                <a:solidFill>
                  <a:schemeClr val="tx2"/>
                </a:solidFill>
                <a:effectLst/>
                <a:uLnTx/>
                <a:uFillTx/>
                <a:latin typeface="Trebuchet MS" panose="020B0603020202020204" pitchFamily="34" charset="0"/>
                <a:ea typeface="Calibri" panose="020F0502020204030204" pitchFamily="34" charset="0"/>
                <a:cs typeface="Arial" panose="020B0604020202020204" pitchFamily="34" charset="0"/>
                <a:sym typeface="Trebuchet MS" panose="020B0603020202020204" pitchFamily="34" charset="0"/>
              </a:rPr>
              <a:t>&gt;</a:t>
            </a:r>
            <a:endParaRPr kumimoji="0" lang="en-US" b="1" i="0" u="none" strike="noStrike" kern="1200" cap="none" spc="0" normalizeH="0" baseline="0" noProof="0">
              <a:ln>
                <a:noFill/>
              </a:ln>
              <a:solidFill>
                <a:schemeClr val="tx1"/>
              </a:solidFill>
              <a:effectLst/>
              <a:uLnTx/>
              <a:uFillTx/>
              <a:latin typeface="Trebuchet MS" panose="020B0603020202020204" pitchFamily="34" charset="0"/>
              <a:ea typeface="Calibri" panose="020F0502020204030204" pitchFamily="34" charset="0"/>
              <a:cs typeface="Arial" panose="020B0604020202020204" pitchFamily="34" charset="0"/>
              <a:sym typeface="Trebuchet MS" panose="020B0603020202020204" pitchFamily="34" charset="0"/>
            </a:endParaRPr>
          </a:p>
          <a:p>
            <a:pPr>
              <a:defRPr/>
            </a:pPr>
            <a:r>
              <a:rPr kumimoji="0" lang="zh-TW" altLang="en-US" b="1" i="0" u="none" strike="noStrike" kern="1200" cap="none" spc="0" normalizeH="0" baseline="0" noProof="0">
                <a:ln>
                  <a:noFill/>
                </a:ln>
                <a:solidFill>
                  <a:schemeClr val="tx1"/>
                </a:solidFill>
                <a:effectLst/>
                <a:uLnTx/>
                <a:uFillTx/>
                <a:latin typeface="Trebuchet MS" panose="020B0603020202020204" pitchFamily="34" charset="0"/>
                <a:ea typeface="Calibri" panose="020F0502020204030204" pitchFamily="34" charset="0"/>
                <a:cs typeface="Arial" panose="020B0604020202020204" pitchFamily="34" charset="0"/>
                <a:sym typeface="Trebuchet MS" panose="020B0603020202020204" pitchFamily="34" charset="0"/>
              </a:rPr>
              <a:t>享有</a:t>
            </a:r>
            <a:r>
              <a:rPr lang="en-US" altLang="zh-TW" b="1" err="1">
                <a:solidFill>
                  <a:schemeClr val="tx1"/>
                </a:solidFill>
                <a:latin typeface="Trebuchet MS" panose="020B0603020202020204" pitchFamily="34" charset="0"/>
                <a:ea typeface="Calibri" panose="020F0502020204030204" pitchFamily="34" charset="0"/>
                <a:cs typeface="Arial" panose="020B0604020202020204" pitchFamily="34" charset="0"/>
                <a:sym typeface="Trebuchet MS" panose="020B0603020202020204" pitchFamily="34" charset="0"/>
              </a:rPr>
              <a:t>獨家</a:t>
            </a:r>
            <a:r>
              <a:rPr lang="en-US" altLang="zh-TW" b="1" err="1">
                <a:solidFill>
                  <a:schemeClr val="tx2"/>
                </a:solidFill>
                <a:latin typeface="Trebuchet MS" panose="020B0603020202020204" pitchFamily="34" charset="0"/>
                <a:ea typeface="Calibri" panose="020F0502020204030204" pitchFamily="34" charset="0"/>
                <a:cs typeface="Arial" panose="020B0604020202020204" pitchFamily="34" charset="0"/>
                <a:sym typeface="Trebuchet MS" panose="020B0603020202020204" pitchFamily="34" charset="0"/>
              </a:rPr>
              <a:t>九折優惠</a:t>
            </a:r>
            <a:endParaRPr lang="en-US" altLang="zh-TW" b="1">
              <a:solidFill>
                <a:schemeClr val="tx2"/>
              </a:solidFill>
              <a:latin typeface="Trebuchet MS" panose="020B0603020202020204" pitchFamily="34" charset="0"/>
              <a:ea typeface="Calibri" panose="020F0502020204030204" pitchFamily="34" charset="0"/>
              <a:cs typeface="Arial" panose="020B0604020202020204" pitchFamily="34" charset="0"/>
              <a:sym typeface="Trebuchet MS" panose="020B0603020202020204" pitchFamily="34" charset="0"/>
            </a:endParaRPr>
          </a:p>
          <a:p>
            <a:pPr marL="0" marR="0" lvl="0" indent="0" defTabSz="914400" rtl="0" eaLnBrk="1" fontAlgn="auto" latinLnBrk="0" hangingPunct="1">
              <a:lnSpc>
                <a:spcPct val="100000"/>
              </a:lnSpc>
              <a:spcBef>
                <a:spcPts val="0"/>
              </a:spcBef>
              <a:spcAft>
                <a:spcPts val="0"/>
              </a:spcAft>
              <a:buClrTx/>
              <a:buSzTx/>
              <a:buFontTx/>
              <a:buNone/>
              <a:tabLst/>
              <a:defRPr/>
            </a:pPr>
            <a:r>
              <a:rPr kumimoji="0" lang="en-US" b="1" i="0" u="none" strike="noStrike" kern="1200" cap="none" spc="0" normalizeH="0" baseline="0" noProof="0" err="1">
                <a:ln>
                  <a:noFill/>
                </a:ln>
                <a:solidFill>
                  <a:schemeClr val="tx2"/>
                </a:solidFill>
                <a:effectLst/>
                <a:uLnTx/>
                <a:uFillTx/>
                <a:latin typeface="Trebuchet MS" panose="020B0603020202020204" pitchFamily="34" charset="0"/>
                <a:ea typeface="Calibri" panose="020F0502020204030204" pitchFamily="34" charset="0"/>
                <a:cs typeface="Arial" panose="020B0604020202020204" pitchFamily="34" charset="0"/>
                <a:sym typeface="Trebuchet MS" panose="020B0603020202020204" pitchFamily="34" charset="0"/>
              </a:rPr>
              <a:t>單擊此處</a:t>
            </a:r>
            <a:r>
              <a:rPr kumimoji="0" lang="en-US" altLang="zh-TW" b="1" i="0" u="none" strike="noStrike" kern="1200" cap="none" spc="0" normalizeH="0" baseline="0" noProof="0">
                <a:ln>
                  <a:noFill/>
                </a:ln>
                <a:solidFill>
                  <a:schemeClr val="tx2"/>
                </a:solidFill>
                <a:effectLst/>
                <a:uLnTx/>
                <a:uFillTx/>
                <a:latin typeface="Trebuchet MS" panose="020B0603020202020204" pitchFamily="34" charset="0"/>
                <a:ea typeface="Calibri" panose="020F0502020204030204" pitchFamily="34" charset="0"/>
                <a:cs typeface="Arial" panose="020B0604020202020204" pitchFamily="34" charset="0"/>
                <a:sym typeface="Trebuchet MS" panose="020B0603020202020204" pitchFamily="34" charset="0"/>
              </a:rPr>
              <a:t>&lt;</a:t>
            </a:r>
            <a:r>
              <a:rPr kumimoji="0" lang="en-US" b="1" i="0" u="none" strike="noStrike" kern="1200" cap="none" spc="0" normalizeH="0" baseline="0" noProof="0" err="1">
                <a:ln>
                  <a:noFill/>
                </a:ln>
                <a:solidFill>
                  <a:schemeClr val="tx2"/>
                </a:solidFill>
                <a:effectLst/>
                <a:uLnTx/>
                <a:uFillTx/>
                <a:latin typeface="Trebuchet MS" panose="020B0603020202020204" pitchFamily="34" charset="0"/>
                <a:ea typeface="Calibri" panose="020F0502020204030204" pitchFamily="34" charset="0"/>
                <a:cs typeface="Arial" panose="020B0604020202020204" pitchFamily="34" charset="0"/>
                <a:sym typeface="Trebuchet MS" panose="020B0603020202020204" pitchFamily="34" charset="0"/>
              </a:rPr>
              <a:t>連結</a:t>
            </a:r>
            <a:r>
              <a:rPr kumimoji="0" lang="en-US" altLang="zh-TW" b="1" i="0" u="none" strike="noStrike" kern="1200" cap="none" spc="0" normalizeH="0" baseline="0" noProof="0">
                <a:ln>
                  <a:noFill/>
                </a:ln>
                <a:solidFill>
                  <a:schemeClr val="tx2"/>
                </a:solidFill>
                <a:effectLst/>
                <a:uLnTx/>
                <a:uFillTx/>
                <a:latin typeface="Trebuchet MS" panose="020B0603020202020204" pitchFamily="34" charset="0"/>
                <a:ea typeface="Calibri" panose="020F0502020204030204" pitchFamily="34" charset="0"/>
                <a:cs typeface="Arial" panose="020B0604020202020204" pitchFamily="34" charset="0"/>
                <a:sym typeface="Trebuchet MS" panose="020B0603020202020204" pitchFamily="34" charset="0"/>
              </a:rPr>
              <a:t>&gt;</a:t>
            </a:r>
            <a:endParaRPr kumimoji="0" lang="en-US" b="1" i="0" u="none" strike="noStrike" kern="1200" cap="none" spc="0" normalizeH="0" baseline="0" noProof="0">
              <a:ln>
                <a:noFill/>
              </a:ln>
              <a:solidFill>
                <a:schemeClr val="tx1"/>
              </a:solidFill>
              <a:effectLst/>
              <a:uLnTx/>
              <a:uFillTx/>
              <a:latin typeface="Trebuchet MS" panose="020B0603020202020204" pitchFamily="34" charset="0"/>
              <a:ea typeface="Calibri" panose="020F0502020204030204" pitchFamily="34" charset="0"/>
              <a:cs typeface="Arial" panose="020B0604020202020204" pitchFamily="34" charset="0"/>
              <a:sym typeface="Trebuchet MS" panose="020B0603020202020204" pitchFamily="34" charset="0"/>
            </a:endParaRPr>
          </a:p>
        </p:txBody>
      </p:sp>
      <p:sp>
        <p:nvSpPr>
          <p:cNvPr id="14" name="Rectangle 13">
            <a:extLst>
              <a:ext uri="{FF2B5EF4-FFF2-40B4-BE49-F238E27FC236}">
                <a16:creationId xmlns:a16="http://schemas.microsoft.com/office/drawing/2014/main" id="{8A336B6B-D123-478C-925D-5AAED6A15815}"/>
              </a:ext>
            </a:extLst>
          </p:cNvPr>
          <p:cNvSpPr/>
          <p:nvPr/>
        </p:nvSpPr>
        <p:spPr>
          <a:xfrm>
            <a:off x="5382619" y="5893366"/>
            <a:ext cx="1229124" cy="341834"/>
          </a:xfrm>
          <a:prstGeom prst="rect">
            <a:avLst/>
          </a:prstGeom>
          <a:solidFill>
            <a:schemeClr val="bg1"/>
          </a:solidFill>
          <a:ln w="19050" cap="rnd" cmpd="sng" algn="ctr">
            <a:solidFill>
              <a:schemeClr val="bg1">
                <a:lumMod val="50000"/>
              </a:scheme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TW" altLang="en-US" sz="1600" b="1" i="0" u="none" strike="noStrike" kern="1200" cap="none" spc="0" normalizeH="0" baseline="0" noProof="0">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rPr>
              <a:t>優惠</a:t>
            </a:r>
            <a:r>
              <a:rPr kumimoji="0" lang="en-US" sz="1600" b="1" i="0" u="none" strike="noStrike" kern="1200" cap="none" spc="0" normalizeH="0" baseline="0" noProof="0" err="1">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rPr>
              <a:t>類別</a:t>
            </a:r>
            <a:endParaRPr kumimoji="0" lang="en-US" sz="1600" b="1" i="0" u="none" strike="noStrike" kern="1200" cap="none" spc="0" normalizeH="0" baseline="0" noProof="0">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endParaRPr>
          </a:p>
        </p:txBody>
      </p:sp>
      <p:cxnSp>
        <p:nvCxnSpPr>
          <p:cNvPr id="15" name="Straight Arrow Connector 14">
            <a:extLst>
              <a:ext uri="{FF2B5EF4-FFF2-40B4-BE49-F238E27FC236}">
                <a16:creationId xmlns:a16="http://schemas.microsoft.com/office/drawing/2014/main" id="{12E76392-A209-4DB0-A522-72BDCD6F52E2}"/>
              </a:ext>
            </a:extLst>
          </p:cNvPr>
          <p:cNvCxnSpPr>
            <a:cxnSpLocks/>
            <a:endCxn id="16" idx="2"/>
          </p:cNvCxnSpPr>
          <p:nvPr/>
        </p:nvCxnSpPr>
        <p:spPr>
          <a:xfrm flipV="1">
            <a:off x="3341351" y="3927731"/>
            <a:ext cx="0" cy="352951"/>
          </a:xfrm>
          <a:prstGeom prst="straightConnector1">
            <a:avLst/>
          </a:prstGeom>
          <a:ln w="9525" cap="flat" cmpd="sng" algn="ctr">
            <a:solidFill>
              <a:schemeClr val="bg1">
                <a:lumMod val="50000"/>
              </a:schemeClr>
            </a:solidFill>
            <a:prstDash val="sysDot"/>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16" name="Rectangle 15">
            <a:extLst>
              <a:ext uri="{FF2B5EF4-FFF2-40B4-BE49-F238E27FC236}">
                <a16:creationId xmlns:a16="http://schemas.microsoft.com/office/drawing/2014/main" id="{0915D2A4-BDD8-4F12-902A-B938C22884DC}"/>
              </a:ext>
            </a:extLst>
          </p:cNvPr>
          <p:cNvSpPr/>
          <p:nvPr/>
        </p:nvSpPr>
        <p:spPr>
          <a:xfrm>
            <a:off x="2726789" y="3585897"/>
            <a:ext cx="1229124" cy="341834"/>
          </a:xfrm>
          <a:prstGeom prst="rect">
            <a:avLst/>
          </a:prstGeom>
          <a:solidFill>
            <a:schemeClr val="bg1"/>
          </a:solidFill>
          <a:ln w="19050" cap="rnd" cmpd="sng" algn="ctr">
            <a:solidFill>
              <a:schemeClr val="bg1">
                <a:lumMod val="50000"/>
              </a:scheme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rPr>
              <a:t>稱呼</a:t>
            </a:r>
          </a:p>
        </p:txBody>
      </p:sp>
      <p:sp>
        <p:nvSpPr>
          <p:cNvPr id="17" name="Rectangle 16">
            <a:extLst>
              <a:ext uri="{FF2B5EF4-FFF2-40B4-BE49-F238E27FC236}">
                <a16:creationId xmlns:a16="http://schemas.microsoft.com/office/drawing/2014/main" id="{6125E30F-2864-4BA7-98EB-E5C375DED2C2}"/>
              </a:ext>
            </a:extLst>
          </p:cNvPr>
          <p:cNvSpPr/>
          <p:nvPr/>
        </p:nvSpPr>
        <p:spPr>
          <a:xfrm>
            <a:off x="4320418" y="3073298"/>
            <a:ext cx="1335377" cy="341834"/>
          </a:xfrm>
          <a:prstGeom prst="rect">
            <a:avLst/>
          </a:prstGeom>
          <a:solidFill>
            <a:schemeClr val="bg1"/>
          </a:solidFill>
          <a:ln w="19050" cap="rnd" cmpd="sng" algn="ctr">
            <a:solidFill>
              <a:schemeClr val="bg1">
                <a:lumMod val="50000"/>
              </a:scheme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TW" altLang="en-US" sz="1600" b="1" i="0" u="none" strike="noStrike" kern="1200" cap="none" spc="0" normalizeH="0" baseline="0" noProof="0">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rPr>
              <a:t>觀察行為</a:t>
            </a:r>
            <a:endParaRPr kumimoji="0" lang="en-US" sz="1600" b="1" i="0" u="none" strike="noStrike" kern="1200" cap="none" spc="0" normalizeH="0" baseline="0" noProof="0">
              <a:ln>
                <a:noFill/>
              </a:ln>
              <a:solidFill>
                <a:srgbClr val="575757"/>
              </a:solidFill>
              <a:effectLst/>
              <a:uLnTx/>
              <a:uFillTx/>
              <a:latin typeface="Trebuchet MS" panose="020B0603020202020204" pitchFamily="34" charset="0"/>
              <a:cs typeface="Arial" panose="020B0604020202020204" pitchFamily="34" charset="0"/>
              <a:sym typeface="Trebuchet MS" panose="020B0603020202020204" pitchFamily="34" charset="0"/>
            </a:endParaRPr>
          </a:p>
        </p:txBody>
      </p:sp>
      <p:cxnSp>
        <p:nvCxnSpPr>
          <p:cNvPr id="18" name="Straight Arrow Connector 17">
            <a:extLst>
              <a:ext uri="{FF2B5EF4-FFF2-40B4-BE49-F238E27FC236}">
                <a16:creationId xmlns:a16="http://schemas.microsoft.com/office/drawing/2014/main" id="{12992D6C-9577-4913-B737-6700F158D6A6}"/>
              </a:ext>
            </a:extLst>
          </p:cNvPr>
          <p:cNvCxnSpPr>
            <a:cxnSpLocks/>
          </p:cNvCxnSpPr>
          <p:nvPr/>
        </p:nvCxnSpPr>
        <p:spPr>
          <a:xfrm>
            <a:off x="4943233" y="2565036"/>
            <a:ext cx="0" cy="498444"/>
          </a:xfrm>
          <a:prstGeom prst="straightConnector1">
            <a:avLst/>
          </a:prstGeom>
          <a:ln w="9525" cap="flat" cmpd="sng" algn="ctr">
            <a:solidFill>
              <a:schemeClr val="bg1">
                <a:lumMod val="50000"/>
              </a:schemeClr>
            </a:solidFill>
            <a:prstDash val="sysDot"/>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19" name="Rectangle 18">
            <a:extLst>
              <a:ext uri="{FF2B5EF4-FFF2-40B4-BE49-F238E27FC236}">
                <a16:creationId xmlns:a16="http://schemas.microsoft.com/office/drawing/2014/main" id="{B214C421-217C-4BF8-9ABF-8CABD4B306DE}"/>
              </a:ext>
            </a:extLst>
          </p:cNvPr>
          <p:cNvSpPr/>
          <p:nvPr/>
        </p:nvSpPr>
        <p:spPr>
          <a:xfrm>
            <a:off x="5590099" y="3585897"/>
            <a:ext cx="1508423" cy="341834"/>
          </a:xfrm>
          <a:prstGeom prst="rect">
            <a:avLst/>
          </a:prstGeom>
          <a:solidFill>
            <a:schemeClr val="bg1"/>
          </a:solidFill>
          <a:ln w="19050" cap="rnd" cmpd="sng" algn="ctr">
            <a:solidFill>
              <a:schemeClr val="bg1">
                <a:lumMod val="50000"/>
              </a:scheme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err="1">
                <a:solidFill>
                  <a:srgbClr val="29BA74"/>
                </a:solidFill>
                <a:latin typeface="Trebuchet MS" panose="020B0603020202020204" pitchFamily="34" charset="0"/>
                <a:cs typeface="Arial" panose="020B0604020202020204" pitchFamily="34" charset="0"/>
                <a:sym typeface="Trebuchet MS" panose="020B0603020202020204" pitchFamily="34" charset="0"/>
              </a:rPr>
              <a:t>客製化</a:t>
            </a:r>
            <a:r>
              <a:rPr kumimoji="0" lang="en-US" sz="1600" b="1" i="0" u="none" strike="noStrike" kern="1200" cap="none" spc="0" normalizeH="0" baseline="0" noProof="0" err="1">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rPr>
              <a:t>數據</a:t>
            </a:r>
            <a:r>
              <a:rPr kumimoji="0" lang="zh-TW" altLang="en-US" sz="1600" b="1" i="0" u="none" strike="noStrike" kern="1200" cap="none" spc="0" normalizeH="0" baseline="0" noProof="0">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rPr>
              <a:t> </a:t>
            </a:r>
            <a:endParaRPr kumimoji="0" lang="en-US" sz="1600" b="1" i="0" u="none" strike="noStrike" kern="1200" cap="none" spc="0" normalizeH="0" baseline="0" noProof="0">
              <a:ln>
                <a:noFill/>
              </a:ln>
              <a:solidFill>
                <a:srgbClr val="575757"/>
              </a:solidFill>
              <a:effectLst/>
              <a:uLnTx/>
              <a:uFillTx/>
              <a:latin typeface="Trebuchet MS" panose="020B0603020202020204" pitchFamily="34" charset="0"/>
              <a:cs typeface="Arial" panose="020B0604020202020204" pitchFamily="34" charset="0"/>
              <a:sym typeface="Trebuchet MS" panose="020B0603020202020204" pitchFamily="34" charset="0"/>
            </a:endParaRPr>
          </a:p>
        </p:txBody>
      </p:sp>
      <p:cxnSp>
        <p:nvCxnSpPr>
          <p:cNvPr id="22" name="Straight Arrow Connector 21">
            <a:extLst>
              <a:ext uri="{FF2B5EF4-FFF2-40B4-BE49-F238E27FC236}">
                <a16:creationId xmlns:a16="http://schemas.microsoft.com/office/drawing/2014/main" id="{6ED621BB-5E48-45C4-81AC-428AC5BECCE4}"/>
              </a:ext>
            </a:extLst>
          </p:cNvPr>
          <p:cNvCxnSpPr>
            <a:cxnSpLocks/>
            <a:endCxn id="24" idx="0"/>
          </p:cNvCxnSpPr>
          <p:nvPr/>
        </p:nvCxnSpPr>
        <p:spPr>
          <a:xfrm>
            <a:off x="4576847" y="5624942"/>
            <a:ext cx="0" cy="268424"/>
          </a:xfrm>
          <a:prstGeom prst="straightConnector1">
            <a:avLst/>
          </a:prstGeom>
          <a:ln w="9525" cap="flat" cmpd="sng" algn="ctr">
            <a:solidFill>
              <a:schemeClr val="bg1">
                <a:lumMod val="50000"/>
              </a:schemeClr>
            </a:solidFill>
            <a:prstDash val="sysDot"/>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23" name="Rectangle 22">
            <a:extLst>
              <a:ext uri="{FF2B5EF4-FFF2-40B4-BE49-F238E27FC236}">
                <a16:creationId xmlns:a16="http://schemas.microsoft.com/office/drawing/2014/main" id="{EC6A11F3-22C0-4A3F-9468-1DEF38C49B1F}"/>
              </a:ext>
            </a:extLst>
          </p:cNvPr>
          <p:cNvSpPr/>
          <p:nvPr/>
        </p:nvSpPr>
        <p:spPr>
          <a:xfrm>
            <a:off x="2635116" y="5893366"/>
            <a:ext cx="1117386" cy="341834"/>
          </a:xfrm>
          <a:prstGeom prst="rect">
            <a:avLst/>
          </a:prstGeom>
          <a:solidFill>
            <a:schemeClr val="bg1"/>
          </a:solidFill>
          <a:ln w="19050" cap="rnd" cmpd="sng" algn="ctr">
            <a:solidFill>
              <a:schemeClr val="bg1">
                <a:lumMod val="50000"/>
              </a:scheme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err="1">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rPr>
              <a:t>語言</a:t>
            </a:r>
            <a:r>
              <a:rPr kumimoji="0" lang="en-US" sz="1600" b="1" i="0" u="none" strike="noStrike" kern="1200" cap="none" spc="0" normalizeH="0" baseline="0" noProof="0">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rPr>
              <a:t>-</a:t>
            </a:r>
            <a:r>
              <a:rPr lang="en-US" sz="1600" b="1" err="1">
                <a:solidFill>
                  <a:srgbClr val="29BA74"/>
                </a:solidFill>
                <a:latin typeface="Trebuchet MS" panose="020B0603020202020204" pitchFamily="34" charset="0"/>
                <a:cs typeface="Arial" panose="020B0604020202020204" pitchFamily="34" charset="0"/>
                <a:sym typeface="Trebuchet MS" panose="020B0603020202020204" pitchFamily="34" charset="0"/>
              </a:rPr>
              <a:t>中文</a:t>
            </a:r>
            <a:endParaRPr kumimoji="0" lang="en-US" sz="1600" b="1" i="0" u="none" strike="noStrike" kern="1200" cap="none" spc="0" normalizeH="0" baseline="0" noProof="0">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endParaRPr>
          </a:p>
        </p:txBody>
      </p:sp>
      <p:sp>
        <p:nvSpPr>
          <p:cNvPr id="24" name="Rectangle 23">
            <a:extLst>
              <a:ext uri="{FF2B5EF4-FFF2-40B4-BE49-F238E27FC236}">
                <a16:creationId xmlns:a16="http://schemas.microsoft.com/office/drawing/2014/main" id="{3E7D4046-AA6E-456C-8A5F-95A3D66E7766}"/>
              </a:ext>
            </a:extLst>
          </p:cNvPr>
          <p:cNvSpPr/>
          <p:nvPr/>
        </p:nvSpPr>
        <p:spPr>
          <a:xfrm>
            <a:off x="4018154" y="5893366"/>
            <a:ext cx="1117386" cy="341834"/>
          </a:xfrm>
          <a:prstGeom prst="rect">
            <a:avLst/>
          </a:prstGeom>
          <a:solidFill>
            <a:schemeClr val="bg1"/>
          </a:solidFill>
          <a:ln w="19050" cap="rnd" cmpd="sng" algn="ctr">
            <a:solidFill>
              <a:schemeClr val="bg1">
                <a:lumMod val="50000"/>
              </a:scheme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err="1">
                <a:solidFill>
                  <a:srgbClr val="29BA74"/>
                </a:solidFill>
                <a:latin typeface="Trebuchet MS" panose="020B0603020202020204" pitchFamily="34" charset="0"/>
                <a:cs typeface="Arial" panose="020B0604020202020204" pitchFamily="34" charset="0"/>
                <a:sym typeface="Trebuchet MS" panose="020B0603020202020204" pitchFamily="34" charset="0"/>
              </a:rPr>
              <a:t>語調</a:t>
            </a:r>
            <a:r>
              <a:rPr kumimoji="0" lang="en-US" sz="1600" b="1" i="0" u="none" strike="noStrike" kern="1200" cap="none" spc="0" normalizeH="0" baseline="0" noProof="0">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rPr>
              <a:t>–口語</a:t>
            </a:r>
          </a:p>
        </p:txBody>
      </p:sp>
      <p:pic>
        <p:nvPicPr>
          <p:cNvPr id="25" name="Picture 24">
            <a:extLst>
              <a:ext uri="{FF2B5EF4-FFF2-40B4-BE49-F238E27FC236}">
                <a16:creationId xmlns:a16="http://schemas.microsoft.com/office/drawing/2014/main" id="{BC91E085-C66A-43ED-931A-5D60732149EB}"/>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8095819" y="4501127"/>
            <a:ext cx="1597755" cy="1042104"/>
          </a:xfrm>
          <a:prstGeom prst="rect">
            <a:avLst/>
          </a:prstGeom>
        </p:spPr>
      </p:pic>
      <p:sp>
        <p:nvSpPr>
          <p:cNvPr id="26" name="Rectangle 25">
            <a:extLst>
              <a:ext uri="{FF2B5EF4-FFF2-40B4-BE49-F238E27FC236}">
                <a16:creationId xmlns:a16="http://schemas.microsoft.com/office/drawing/2014/main" id="{6CB036A7-22B6-41C8-B4A0-8F190B98A186}"/>
              </a:ext>
            </a:extLst>
          </p:cNvPr>
          <p:cNvSpPr/>
          <p:nvPr/>
        </p:nvSpPr>
        <p:spPr>
          <a:xfrm>
            <a:off x="6431897" y="3071021"/>
            <a:ext cx="1229124" cy="332628"/>
          </a:xfrm>
          <a:prstGeom prst="rect">
            <a:avLst/>
          </a:prstGeom>
          <a:solidFill>
            <a:schemeClr val="bg1"/>
          </a:solidFill>
          <a:ln w="19050" cap="rnd" cmpd="sng" algn="ctr">
            <a:solidFill>
              <a:schemeClr val="bg1">
                <a:lumMod val="50000"/>
              </a:scheme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TW" altLang="en-US" sz="1600" b="1">
                <a:solidFill>
                  <a:srgbClr val="29BA74"/>
                </a:solidFill>
                <a:latin typeface="Trebuchet MS" panose="020B0603020202020204" pitchFamily="34" charset="0"/>
                <a:cs typeface="Arial" panose="020B0604020202020204" pitchFamily="34" charset="0"/>
                <a:sym typeface="Trebuchet MS" panose="020B0603020202020204" pitchFamily="34" charset="0"/>
              </a:rPr>
              <a:t>偏好</a:t>
            </a:r>
            <a:r>
              <a:rPr kumimoji="0" lang="zh-TW" altLang="en-US" sz="1600" b="1" i="0" u="none" strike="noStrike" kern="1200" cap="none" spc="0" normalizeH="0" baseline="0" noProof="0">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rPr>
              <a:t>管道</a:t>
            </a:r>
            <a:endParaRPr kumimoji="0" lang="en-US" sz="1600" b="1" i="0" u="none" strike="noStrike" kern="1200" cap="none" spc="0" normalizeH="0" baseline="0" noProof="0">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endParaRPr>
          </a:p>
        </p:txBody>
      </p:sp>
      <p:cxnSp>
        <p:nvCxnSpPr>
          <p:cNvPr id="27" name="Straight Arrow Connector 26">
            <a:extLst>
              <a:ext uri="{FF2B5EF4-FFF2-40B4-BE49-F238E27FC236}">
                <a16:creationId xmlns:a16="http://schemas.microsoft.com/office/drawing/2014/main" id="{BFAC7D10-8928-4F34-A95E-DAB9C8FA6690}"/>
              </a:ext>
            </a:extLst>
          </p:cNvPr>
          <p:cNvCxnSpPr>
            <a:cxnSpLocks/>
            <a:endCxn id="26" idx="0"/>
          </p:cNvCxnSpPr>
          <p:nvPr/>
        </p:nvCxnSpPr>
        <p:spPr>
          <a:xfrm>
            <a:off x="7046459" y="2559763"/>
            <a:ext cx="0" cy="511258"/>
          </a:xfrm>
          <a:prstGeom prst="straightConnector1">
            <a:avLst/>
          </a:prstGeom>
          <a:ln w="9525" cap="flat" cmpd="sng" algn="ctr">
            <a:solidFill>
              <a:schemeClr val="bg1">
                <a:lumMod val="50000"/>
              </a:schemeClr>
            </a:solidFill>
            <a:prstDash val="sysDot"/>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28" name="Straight Arrow Connector 27">
            <a:extLst>
              <a:ext uri="{FF2B5EF4-FFF2-40B4-BE49-F238E27FC236}">
                <a16:creationId xmlns:a16="http://schemas.microsoft.com/office/drawing/2014/main" id="{04209E93-DE07-474C-B680-31A575C1DCF9}"/>
              </a:ext>
            </a:extLst>
          </p:cNvPr>
          <p:cNvCxnSpPr>
            <a:cxnSpLocks/>
            <a:stCxn id="29" idx="3"/>
          </p:cNvCxnSpPr>
          <p:nvPr/>
        </p:nvCxnSpPr>
        <p:spPr>
          <a:xfrm>
            <a:off x="2344514" y="4983816"/>
            <a:ext cx="382275" cy="0"/>
          </a:xfrm>
          <a:prstGeom prst="straightConnector1">
            <a:avLst/>
          </a:prstGeom>
          <a:ln w="9525" cap="flat" cmpd="sng" algn="ctr">
            <a:solidFill>
              <a:schemeClr val="bg1">
                <a:lumMod val="50000"/>
              </a:schemeClr>
            </a:solidFill>
            <a:prstDash val="sysDot"/>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29" name="Rectangle 28">
            <a:extLst>
              <a:ext uri="{FF2B5EF4-FFF2-40B4-BE49-F238E27FC236}">
                <a16:creationId xmlns:a16="http://schemas.microsoft.com/office/drawing/2014/main" id="{9629D1DF-2CC7-446B-A6A9-E29F9D0FCE16}"/>
              </a:ext>
            </a:extLst>
          </p:cNvPr>
          <p:cNvSpPr/>
          <p:nvPr/>
        </p:nvSpPr>
        <p:spPr>
          <a:xfrm>
            <a:off x="984820" y="4812899"/>
            <a:ext cx="1359694" cy="341834"/>
          </a:xfrm>
          <a:prstGeom prst="rect">
            <a:avLst/>
          </a:prstGeom>
          <a:solidFill>
            <a:schemeClr val="bg1"/>
          </a:solidFill>
          <a:ln w="19050" cap="rnd" cmpd="sng" algn="ctr">
            <a:solidFill>
              <a:schemeClr val="bg1">
                <a:lumMod val="50000"/>
              </a:scheme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TW" altLang="en-US" sz="1600" b="1" i="0" u="none" strike="noStrike" kern="1200" cap="none" spc="0" normalizeH="0" baseline="0" noProof="0">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rPr>
              <a:t>獨家</a:t>
            </a:r>
            <a:r>
              <a:rPr kumimoji="0" lang="en-US" sz="1600" b="1" i="0" u="none" strike="noStrike" kern="1200" cap="none" spc="0" normalizeH="0" baseline="0" noProof="0" err="1">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rPr>
              <a:t>優惠</a:t>
            </a:r>
            <a:endParaRPr kumimoji="0" lang="en-US" sz="1600" b="1" i="0" u="none" strike="noStrike" kern="1200" cap="none" spc="0" normalizeH="0" baseline="0" noProof="0">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endParaRPr>
          </a:p>
        </p:txBody>
      </p:sp>
      <p:cxnSp>
        <p:nvCxnSpPr>
          <p:cNvPr id="30" name="Straight Arrow Connector 29">
            <a:extLst>
              <a:ext uri="{FF2B5EF4-FFF2-40B4-BE49-F238E27FC236}">
                <a16:creationId xmlns:a16="http://schemas.microsoft.com/office/drawing/2014/main" id="{FCAC7AD3-AFF1-434D-B850-01ABBF595F8E}"/>
              </a:ext>
            </a:extLst>
          </p:cNvPr>
          <p:cNvCxnSpPr>
            <a:cxnSpLocks/>
            <a:endCxn id="14" idx="0"/>
          </p:cNvCxnSpPr>
          <p:nvPr/>
        </p:nvCxnSpPr>
        <p:spPr>
          <a:xfrm>
            <a:off x="5997181" y="4983816"/>
            <a:ext cx="0" cy="909550"/>
          </a:xfrm>
          <a:prstGeom prst="straightConnector1">
            <a:avLst/>
          </a:prstGeom>
          <a:ln w="9525" cap="flat" cmpd="sng" algn="ctr">
            <a:solidFill>
              <a:schemeClr val="bg1">
                <a:lumMod val="50000"/>
              </a:schemeClr>
            </a:solidFill>
            <a:prstDash val="sysDot"/>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31" name="Straight Arrow Connector 30">
            <a:extLst>
              <a:ext uri="{FF2B5EF4-FFF2-40B4-BE49-F238E27FC236}">
                <a16:creationId xmlns:a16="http://schemas.microsoft.com/office/drawing/2014/main" id="{B10AE98F-C56B-4990-8EF5-ED99B8BDD964}"/>
              </a:ext>
            </a:extLst>
          </p:cNvPr>
          <p:cNvCxnSpPr>
            <a:cxnSpLocks/>
            <a:endCxn id="23" idx="0"/>
          </p:cNvCxnSpPr>
          <p:nvPr/>
        </p:nvCxnSpPr>
        <p:spPr>
          <a:xfrm>
            <a:off x="3193809" y="5624942"/>
            <a:ext cx="0" cy="268424"/>
          </a:xfrm>
          <a:prstGeom prst="straightConnector1">
            <a:avLst/>
          </a:prstGeom>
          <a:ln w="9525" cap="flat" cmpd="sng" algn="ctr">
            <a:solidFill>
              <a:schemeClr val="bg1">
                <a:lumMod val="50000"/>
              </a:schemeClr>
            </a:solidFill>
            <a:prstDash val="sysDot"/>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32" name="Rectangle 31">
            <a:extLst>
              <a:ext uri="{FF2B5EF4-FFF2-40B4-BE49-F238E27FC236}">
                <a16:creationId xmlns:a16="http://schemas.microsoft.com/office/drawing/2014/main" id="{0D1B63E5-3F65-4514-A102-C954DFCE4F6D}"/>
              </a:ext>
            </a:extLst>
          </p:cNvPr>
          <p:cNvSpPr/>
          <p:nvPr/>
        </p:nvSpPr>
        <p:spPr>
          <a:xfrm>
            <a:off x="8016520" y="5893366"/>
            <a:ext cx="1528267" cy="341834"/>
          </a:xfrm>
          <a:prstGeom prst="rect">
            <a:avLst/>
          </a:prstGeom>
          <a:solidFill>
            <a:schemeClr val="bg1"/>
          </a:solidFill>
          <a:ln w="19050" cap="rnd" cmpd="sng" algn="ctr">
            <a:solidFill>
              <a:schemeClr val="bg1">
                <a:lumMod val="50000"/>
              </a:scheme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err="1">
                <a:solidFill>
                  <a:srgbClr val="29BA74"/>
                </a:solidFill>
                <a:latin typeface="Trebuchet MS" panose="020B0603020202020204" pitchFamily="34" charset="0"/>
                <a:cs typeface="Arial" panose="020B0604020202020204" pitchFamily="34" charset="0"/>
                <a:sym typeface="Trebuchet MS" panose="020B0603020202020204" pitchFamily="34" charset="0"/>
              </a:rPr>
              <a:t>圖片</a:t>
            </a:r>
            <a:r>
              <a:rPr kumimoji="0" lang="en-US" sz="1600" b="1" i="0" u="none" strike="noStrike" kern="1200" cap="none" spc="0" normalizeH="0" baseline="0" noProof="0">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rPr>
              <a:t>-服飾</a:t>
            </a:r>
          </a:p>
        </p:txBody>
      </p:sp>
      <p:cxnSp>
        <p:nvCxnSpPr>
          <p:cNvPr id="33" name="Straight Arrow Connector 32">
            <a:extLst>
              <a:ext uri="{FF2B5EF4-FFF2-40B4-BE49-F238E27FC236}">
                <a16:creationId xmlns:a16="http://schemas.microsoft.com/office/drawing/2014/main" id="{C363F32A-E888-4974-97EA-D6A145094FE1}"/>
              </a:ext>
            </a:extLst>
          </p:cNvPr>
          <p:cNvCxnSpPr>
            <a:cxnSpLocks/>
            <a:endCxn id="32" idx="0"/>
          </p:cNvCxnSpPr>
          <p:nvPr/>
        </p:nvCxnSpPr>
        <p:spPr>
          <a:xfrm>
            <a:off x="8780654" y="5497466"/>
            <a:ext cx="0" cy="395900"/>
          </a:xfrm>
          <a:prstGeom prst="straightConnector1">
            <a:avLst/>
          </a:prstGeom>
          <a:ln w="9525" cap="flat" cmpd="sng" algn="ctr">
            <a:solidFill>
              <a:schemeClr val="bg1">
                <a:lumMod val="50000"/>
              </a:schemeClr>
            </a:solidFill>
            <a:prstDash val="sysDot"/>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34" name="Rectangle 33">
            <a:extLst>
              <a:ext uri="{FF2B5EF4-FFF2-40B4-BE49-F238E27FC236}">
                <a16:creationId xmlns:a16="http://schemas.microsoft.com/office/drawing/2014/main" id="{182A45CC-A628-4721-A2C7-94D995A293AE}"/>
              </a:ext>
            </a:extLst>
          </p:cNvPr>
          <p:cNvSpPr/>
          <p:nvPr/>
        </p:nvSpPr>
        <p:spPr>
          <a:xfrm>
            <a:off x="8733031" y="3585897"/>
            <a:ext cx="1252174" cy="341834"/>
          </a:xfrm>
          <a:prstGeom prst="rect">
            <a:avLst/>
          </a:prstGeom>
          <a:solidFill>
            <a:schemeClr val="bg1"/>
          </a:solidFill>
          <a:ln w="19050" cap="rnd" cmpd="sng" algn="ctr">
            <a:solidFill>
              <a:schemeClr val="bg1">
                <a:lumMod val="50000"/>
              </a:scheme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TW" altLang="en-US" sz="1600" b="1" i="0" u="none" strike="noStrike" kern="1200" cap="none" spc="0" normalizeH="0" baseline="0" noProof="0">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rPr>
              <a:t>特定時間</a:t>
            </a:r>
            <a:endParaRPr kumimoji="0" lang="en-US" sz="1600" b="1" i="0" u="none" strike="noStrike" kern="1200" cap="none" spc="0" normalizeH="0" baseline="0" noProof="0">
              <a:ln>
                <a:noFill/>
              </a:ln>
              <a:solidFill>
                <a:srgbClr val="575757"/>
              </a:solidFill>
              <a:effectLst/>
              <a:uLnTx/>
              <a:uFillTx/>
              <a:latin typeface="Trebuchet MS" panose="020B0603020202020204" pitchFamily="34" charset="0"/>
              <a:cs typeface="Arial" panose="020B0604020202020204" pitchFamily="34" charset="0"/>
              <a:sym typeface="Trebuchet MS" panose="020B0603020202020204" pitchFamily="34" charset="0"/>
            </a:endParaRPr>
          </a:p>
        </p:txBody>
      </p:sp>
      <p:cxnSp>
        <p:nvCxnSpPr>
          <p:cNvPr id="35" name="Straight Arrow Connector 34">
            <a:extLst>
              <a:ext uri="{FF2B5EF4-FFF2-40B4-BE49-F238E27FC236}">
                <a16:creationId xmlns:a16="http://schemas.microsoft.com/office/drawing/2014/main" id="{A34CAD91-CCC5-420E-8CF9-84E7AA815738}"/>
              </a:ext>
            </a:extLst>
          </p:cNvPr>
          <p:cNvCxnSpPr>
            <a:cxnSpLocks/>
            <a:endCxn id="34" idx="2"/>
          </p:cNvCxnSpPr>
          <p:nvPr/>
        </p:nvCxnSpPr>
        <p:spPr>
          <a:xfrm flipV="1">
            <a:off x="9359118" y="3927731"/>
            <a:ext cx="0" cy="225024"/>
          </a:xfrm>
          <a:prstGeom prst="straightConnector1">
            <a:avLst/>
          </a:prstGeom>
          <a:ln w="9525" cap="flat" cmpd="sng" algn="ctr">
            <a:solidFill>
              <a:schemeClr val="bg1">
                <a:lumMod val="50000"/>
              </a:schemeClr>
            </a:solidFill>
            <a:prstDash val="sysDot"/>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36" name="Straight Arrow Connector 35">
            <a:extLst>
              <a:ext uri="{FF2B5EF4-FFF2-40B4-BE49-F238E27FC236}">
                <a16:creationId xmlns:a16="http://schemas.microsoft.com/office/drawing/2014/main" id="{83D707B9-4425-446C-9535-1FE1E0E9CE20}"/>
              </a:ext>
            </a:extLst>
          </p:cNvPr>
          <p:cNvCxnSpPr>
            <a:cxnSpLocks/>
            <a:endCxn id="19" idx="2"/>
          </p:cNvCxnSpPr>
          <p:nvPr/>
        </p:nvCxnSpPr>
        <p:spPr>
          <a:xfrm flipH="1" flipV="1">
            <a:off x="6344311" y="3927731"/>
            <a:ext cx="1" cy="341834"/>
          </a:xfrm>
          <a:prstGeom prst="straightConnector1">
            <a:avLst/>
          </a:prstGeom>
          <a:ln w="9525" cap="flat" cmpd="sng" algn="ctr">
            <a:solidFill>
              <a:schemeClr val="bg1">
                <a:lumMod val="50000"/>
              </a:schemeClr>
            </a:solidFill>
            <a:prstDash val="sysDot"/>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78" name="ee4pHeader1">
            <a:extLst>
              <a:ext uri="{FF2B5EF4-FFF2-40B4-BE49-F238E27FC236}">
                <a16:creationId xmlns:a16="http://schemas.microsoft.com/office/drawing/2014/main" id="{1C430A28-85C9-D905-5A12-9430D46E884D}"/>
              </a:ext>
            </a:extLst>
          </p:cNvPr>
          <p:cNvSpPr txBox="1"/>
          <p:nvPr/>
        </p:nvSpPr>
        <p:spPr>
          <a:xfrm>
            <a:off x="466919" y="69115"/>
            <a:ext cx="1348981" cy="469263"/>
          </a:xfrm>
          <a:prstGeom prst="rect">
            <a:avLst/>
          </a:prstGeom>
          <a:noFill/>
          <a:ln cap="rnd">
            <a:noFill/>
          </a:ln>
        </p:spPr>
        <p:txBody>
          <a:bodyPr vert="horz" wrap="square" lIns="0" tIns="0" rIns="0" bIns="0" rtlCol="0" anchor="ctr" anchorCtr="0">
            <a:noAutofit/>
          </a:bodyPr>
          <a:lstStyle/>
          <a:p>
            <a:pPr>
              <a:buSzPct val="100000"/>
              <a:buFont typeface="Trebuchet MS" panose="020B0603020202020204" pitchFamily="34" charset="0"/>
              <a:buChar char="​"/>
            </a:pPr>
            <a:r>
              <a:rPr lang="zh-TW" altLang="en-US" sz="1400" b="1">
                <a:solidFill>
                  <a:srgbClr val="29BA74"/>
                </a:solidFill>
                <a:ea typeface="Microsoft YaHei" panose="020B0503020204020204" pitchFamily="34" charset="-122"/>
                <a:sym typeface="+mn-lt"/>
              </a:rPr>
              <a:t>方案組合庫</a:t>
            </a:r>
            <a:endParaRPr lang="en-US" sz="1400" b="1">
              <a:solidFill>
                <a:srgbClr val="29BA74"/>
              </a:solidFill>
              <a:ea typeface="Microsoft YaHei" panose="020B0503020204020204" pitchFamily="34" charset="-122"/>
              <a:sym typeface="+mn-lt"/>
            </a:endParaRPr>
          </a:p>
        </p:txBody>
      </p:sp>
      <p:sp>
        <p:nvSpPr>
          <p:cNvPr id="79" name="Oval 20">
            <a:extLst>
              <a:ext uri="{FF2B5EF4-FFF2-40B4-BE49-F238E27FC236}">
                <a16:creationId xmlns:a16="http://schemas.microsoft.com/office/drawing/2014/main" id="{0AD9D723-A4C5-6CB7-5BA3-5FB7F448D423}"/>
              </a:ext>
            </a:extLst>
          </p:cNvPr>
          <p:cNvSpPr>
            <a:spLocks noChangeAspect="1" noChangeArrowheads="1"/>
          </p:cNvSpPr>
          <p:nvPr/>
        </p:nvSpPr>
        <p:spPr bwMode="auto">
          <a:xfrm>
            <a:off x="141430" y="195189"/>
            <a:ext cx="238259" cy="238259"/>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altLang="zh-TW" sz="1200">
                <a:solidFill>
                  <a:schemeClr val="bg1"/>
                </a:solidFill>
              </a:rPr>
              <a:t>C</a:t>
            </a:r>
            <a:endParaRPr lang="en-US" sz="1200">
              <a:solidFill>
                <a:schemeClr val="bg1"/>
              </a:solidFill>
            </a:endParaRPr>
          </a:p>
        </p:txBody>
      </p:sp>
      <p:sp>
        <p:nvSpPr>
          <p:cNvPr id="80" name="Title 79">
            <a:extLst>
              <a:ext uri="{FF2B5EF4-FFF2-40B4-BE49-F238E27FC236}">
                <a16:creationId xmlns:a16="http://schemas.microsoft.com/office/drawing/2014/main" id="{78890073-87F3-079C-70A3-31B7BA980CAC}"/>
              </a:ext>
            </a:extLst>
          </p:cNvPr>
          <p:cNvSpPr>
            <a:spLocks noGrp="1"/>
          </p:cNvSpPr>
          <p:nvPr>
            <p:ph type="title"/>
          </p:nvPr>
        </p:nvSpPr>
        <p:spPr>
          <a:xfrm>
            <a:off x="630000" y="622800"/>
            <a:ext cx="10933350" cy="664797"/>
          </a:xfrm>
        </p:spPr>
        <p:txBody>
          <a:bodyPr vert="horz"/>
          <a:lstStyle/>
          <a:p>
            <a:r>
              <a:rPr lang="zh-TW" altLang="en-US">
                <a:solidFill>
                  <a:srgbClr val="29BA74"/>
                </a:solidFill>
              </a:rPr>
              <a:t>除了選對時機提供相關優惠或產品資訊，進一步測試不同的個性化行銷訊息組合，從中尋找高點擊率、高轉化率的最佳組合</a:t>
            </a:r>
            <a:endParaRPr lang="en-US"/>
          </a:p>
        </p:txBody>
      </p:sp>
      <p:sp>
        <p:nvSpPr>
          <p:cNvPr id="4" name="Title 79">
            <a:extLst>
              <a:ext uri="{FF2B5EF4-FFF2-40B4-BE49-F238E27FC236}">
                <a16:creationId xmlns:a16="http://schemas.microsoft.com/office/drawing/2014/main" id="{8F958E7E-8BE3-2DD5-BD02-2E77D13A7EAD}"/>
              </a:ext>
            </a:extLst>
          </p:cNvPr>
          <p:cNvSpPr txBox="1">
            <a:spLocks/>
          </p:cNvSpPr>
          <p:nvPr/>
        </p:nvSpPr>
        <p:spPr>
          <a:xfrm>
            <a:off x="630000" y="1757774"/>
            <a:ext cx="10933350" cy="246221"/>
          </a:xfrm>
          <a:prstGeom prst="rect">
            <a:avLst/>
          </a:prstGeom>
        </p:spPr>
        <p:txBody>
          <a:bodyPr vert="horz" wrap="square" lIns="0" tIns="0" rIns="0" bIns="0" rtlCol="0" anchor="t">
            <a:sp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sym typeface="Trebuchet MS" panose="020B0603020202020204" pitchFamily="34" charset="0"/>
              </a:defRPr>
            </a:lvl1pPr>
          </a:lstStyle>
          <a:p>
            <a:pPr>
              <a:lnSpc>
                <a:spcPct val="100000"/>
              </a:lnSpc>
              <a:spcBef>
                <a:spcPts val="0"/>
              </a:spcBef>
              <a:buFont typeface="Trebuchet MS" panose="020B0603020202020204" pitchFamily="34" charset="0"/>
              <a:buChar char="​"/>
            </a:pPr>
            <a:r>
              <a:rPr lang="zh-TW" altLang="en-US" sz="1600">
                <a:solidFill>
                  <a:srgbClr val="29BA74"/>
                </a:solidFill>
              </a:rPr>
              <a:t>可將一則行銷信息拆解為</a:t>
            </a:r>
            <a:r>
              <a:rPr lang="en-US" altLang="zh-TW" sz="1600">
                <a:solidFill>
                  <a:srgbClr val="29BA74"/>
                </a:solidFill>
              </a:rPr>
              <a:t>10</a:t>
            </a:r>
            <a:r>
              <a:rPr lang="zh-TW" altLang="en-US" sz="1600">
                <a:solidFill>
                  <a:srgbClr val="29BA74"/>
                </a:solidFill>
              </a:rPr>
              <a:t>個關鍵輸入因子，通過不斷的</a:t>
            </a:r>
            <a:r>
              <a:rPr lang="en-US" altLang="zh-TW" sz="1600">
                <a:solidFill>
                  <a:srgbClr val="29BA74"/>
                </a:solidFill>
              </a:rPr>
              <a:t>A/B</a:t>
            </a:r>
            <a:r>
              <a:rPr lang="zh-TW" altLang="en-US" sz="1600">
                <a:solidFill>
                  <a:srgbClr val="29BA74"/>
                </a:solidFill>
              </a:rPr>
              <a:t>測試，找出特定樣貌的客群被吸引且成功轉化的致勝組合</a:t>
            </a:r>
            <a:endParaRPr lang="en-US" sz="1600">
              <a:solidFill>
                <a:srgbClr val="29BA74"/>
              </a:solidFill>
            </a:endParaRPr>
          </a:p>
        </p:txBody>
      </p:sp>
      <p:sp>
        <p:nvSpPr>
          <p:cNvPr id="6" name="IllustrativeStamp">
            <a:extLst>
              <a:ext uri="{FF2B5EF4-FFF2-40B4-BE49-F238E27FC236}">
                <a16:creationId xmlns:a16="http://schemas.microsoft.com/office/drawing/2014/main" id="{5EB8EB15-717B-CDDC-4487-82F3418FFD18}"/>
              </a:ext>
            </a:extLst>
          </p:cNvPr>
          <p:cNvSpPr/>
          <p:nvPr/>
        </p:nvSpPr>
        <p:spPr>
          <a:xfrm>
            <a:off x="10336333" y="2086727"/>
            <a:ext cx="1225296" cy="191773"/>
          </a:xfrm>
          <a:prstGeom prst="rect">
            <a:avLst/>
          </a:prstGeom>
          <a:solidFill>
            <a:schemeClr val="tx2"/>
          </a:solidFill>
          <a:ln w="9525">
            <a:no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l"/>
            <a:r>
              <a:rPr lang="zh-TW" altLang="en-US" sz="1200">
                <a:solidFill>
                  <a:schemeClr val="bg1"/>
                </a:solidFill>
              </a:rPr>
              <a:t>示例</a:t>
            </a:r>
            <a:endParaRPr lang="en-US" sz="1200">
              <a:solidFill>
                <a:schemeClr val="bg1"/>
              </a:solidFill>
            </a:endParaRPr>
          </a:p>
        </p:txBody>
      </p:sp>
    </p:spTree>
    <p:extLst>
      <p:ext uri="{BB962C8B-B14F-4D97-AF65-F5344CB8AC3E}">
        <p14:creationId xmlns:p14="http://schemas.microsoft.com/office/powerpoint/2010/main" val="198815999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189B7092-585B-479B-FB94-A0B6954B3409}"/>
              </a:ext>
            </a:extLst>
          </p:cNvPr>
          <p:cNvGraphicFramePr>
            <a:graphicFrameLocks noChangeAspect="1"/>
          </p:cNvGraphicFramePr>
          <p:nvPr>
            <p:custDataLst>
              <p:tags r:id="rId1"/>
            </p:custDataLst>
            <p:extLst>
              <p:ext uri="{D42A27DB-BD31-4B8C-83A1-F6EECF244321}">
                <p14:modId xmlns:p14="http://schemas.microsoft.com/office/powerpoint/2010/main" val="423295260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04" imgH="405" progId="TCLayout.ActiveDocument.1">
                  <p:embed/>
                </p:oleObj>
              </mc:Choice>
              <mc:Fallback>
                <p:oleObj name="think-cell Slide" r:id="rId3" imgW="404" imgH="405" progId="TCLayout.ActiveDocument.1">
                  <p:embed/>
                  <p:pic>
                    <p:nvPicPr>
                      <p:cNvPr id="3" name="think-cell data - do not delete" hidden="1">
                        <a:extLst>
                          <a:ext uri="{FF2B5EF4-FFF2-40B4-BE49-F238E27FC236}">
                            <a16:creationId xmlns:a16="http://schemas.microsoft.com/office/drawing/2014/main" id="{189B7092-585B-479B-FB94-A0B6954B3409}"/>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5DF07646-55F1-6759-34B0-D770F237C93D}"/>
              </a:ext>
            </a:extLst>
          </p:cNvPr>
          <p:cNvSpPr>
            <a:spLocks noGrp="1"/>
          </p:cNvSpPr>
          <p:nvPr>
            <p:ph type="title"/>
          </p:nvPr>
        </p:nvSpPr>
        <p:spPr>
          <a:xfrm>
            <a:off x="630000" y="622800"/>
            <a:ext cx="10933350" cy="664797"/>
          </a:xfrm>
        </p:spPr>
        <p:txBody>
          <a:bodyPr vert="horz"/>
          <a:lstStyle/>
          <a:p>
            <a:r>
              <a:rPr lang="zh-TW" altLang="en-US"/>
              <a:t>個性化經營以成效追蹤為核心，透過</a:t>
            </a:r>
            <a:r>
              <a:rPr lang="en-US" altLang="zh-TW"/>
              <a:t>A/B</a:t>
            </a:r>
            <a:r>
              <a:rPr lang="zh-TW" altLang="en-US"/>
              <a:t>測試衡量效益，並定期追蹤不同層級指標，將其結果反饋回預測模型，作為未來改善的重要輸入</a:t>
            </a:r>
            <a:endParaRPr lang="en-US"/>
          </a:p>
        </p:txBody>
      </p:sp>
      <p:sp>
        <p:nvSpPr>
          <p:cNvPr id="4" name="ee4pHeader1">
            <a:extLst>
              <a:ext uri="{FF2B5EF4-FFF2-40B4-BE49-F238E27FC236}">
                <a16:creationId xmlns:a16="http://schemas.microsoft.com/office/drawing/2014/main" id="{E665D04B-F152-8498-1739-C0E42EDE5B66}"/>
              </a:ext>
            </a:extLst>
          </p:cNvPr>
          <p:cNvSpPr txBox="1"/>
          <p:nvPr/>
        </p:nvSpPr>
        <p:spPr>
          <a:xfrm>
            <a:off x="466919" y="69115"/>
            <a:ext cx="1348981" cy="469263"/>
          </a:xfrm>
          <a:prstGeom prst="rect">
            <a:avLst/>
          </a:prstGeom>
          <a:noFill/>
          <a:ln cap="rnd">
            <a:noFill/>
          </a:ln>
        </p:spPr>
        <p:txBody>
          <a:bodyPr vert="horz" wrap="square" lIns="0" tIns="0" rIns="0" bIns="0" rtlCol="0" anchor="ctr" anchorCtr="0">
            <a:noAutofit/>
          </a:bodyPr>
          <a:lstStyle/>
          <a:p>
            <a:pPr>
              <a:buSzPct val="100000"/>
              <a:buFont typeface="Trebuchet MS" panose="020B0603020202020204" pitchFamily="34" charset="0"/>
              <a:buChar char="​"/>
            </a:pPr>
            <a:r>
              <a:rPr lang="zh-TW" altLang="en-US" sz="1400" b="1">
                <a:solidFill>
                  <a:srgbClr val="29BA74"/>
                </a:solidFill>
                <a:ea typeface="Microsoft YaHei" panose="020B0503020204020204" pitchFamily="34" charset="-122"/>
                <a:sym typeface="+mn-lt"/>
              </a:rPr>
              <a:t>追蹤反饋機制</a:t>
            </a:r>
            <a:endParaRPr lang="en-US" sz="1400" b="1">
              <a:solidFill>
                <a:srgbClr val="29BA74"/>
              </a:solidFill>
              <a:ea typeface="Microsoft YaHei" panose="020B0503020204020204" pitchFamily="34" charset="-122"/>
              <a:sym typeface="+mn-lt"/>
            </a:endParaRPr>
          </a:p>
        </p:txBody>
      </p:sp>
      <p:sp>
        <p:nvSpPr>
          <p:cNvPr id="5" name="Oval 20">
            <a:extLst>
              <a:ext uri="{FF2B5EF4-FFF2-40B4-BE49-F238E27FC236}">
                <a16:creationId xmlns:a16="http://schemas.microsoft.com/office/drawing/2014/main" id="{C5B5656F-30A7-C23D-537F-E8AD94806F60}"/>
              </a:ext>
            </a:extLst>
          </p:cNvPr>
          <p:cNvSpPr>
            <a:spLocks noChangeAspect="1" noChangeArrowheads="1"/>
          </p:cNvSpPr>
          <p:nvPr/>
        </p:nvSpPr>
        <p:spPr bwMode="auto">
          <a:xfrm>
            <a:off x="141430" y="195189"/>
            <a:ext cx="238259" cy="238259"/>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altLang="zh-TW" sz="1200">
                <a:solidFill>
                  <a:schemeClr val="bg1"/>
                </a:solidFill>
              </a:rPr>
              <a:t>D</a:t>
            </a:r>
            <a:endParaRPr lang="en-US" sz="1200">
              <a:solidFill>
                <a:schemeClr val="bg1"/>
              </a:solidFill>
            </a:endParaRPr>
          </a:p>
        </p:txBody>
      </p:sp>
      <p:sp>
        <p:nvSpPr>
          <p:cNvPr id="6" name="Title 1">
            <a:extLst>
              <a:ext uri="{FF2B5EF4-FFF2-40B4-BE49-F238E27FC236}">
                <a16:creationId xmlns:a16="http://schemas.microsoft.com/office/drawing/2014/main" id="{A48C1273-E69A-3698-CBDF-2CEC8C27F112}"/>
              </a:ext>
            </a:extLst>
          </p:cNvPr>
          <p:cNvSpPr txBox="1">
            <a:spLocks/>
          </p:cNvSpPr>
          <p:nvPr/>
        </p:nvSpPr>
        <p:spPr>
          <a:xfrm>
            <a:off x="628650" y="1799227"/>
            <a:ext cx="4874683" cy="221599"/>
          </a:xfrm>
          <a:prstGeom prst="rect">
            <a:avLst/>
          </a:prstGeom>
        </p:spPr>
        <p:txBody>
          <a:bodyPr vert="horz" wrap="square" lIns="0" tIns="0" rIns="0" bIns="0" rtlCol="0" anchor="t">
            <a:sp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sym typeface="Trebuchet MS" panose="020B0603020202020204" pitchFamily="34" charset="0"/>
              </a:defRPr>
            </a:lvl1pPr>
          </a:lstStyle>
          <a:p>
            <a:pPr>
              <a:buSzPts val="2400"/>
            </a:pPr>
            <a:r>
              <a:rPr lang="zh-TW" altLang="en-US" sz="1600">
                <a:solidFill>
                  <a:srgbClr val="29BA74"/>
                </a:solidFill>
                <a:latin typeface="Microsoft YaHei" panose="020B0503020204020204" pitchFamily="34" charset="-122"/>
                <a:ea typeface="Microsoft YaHei" panose="020B0503020204020204" pitchFamily="34" charset="-122"/>
              </a:rPr>
              <a:t>以</a:t>
            </a:r>
            <a:r>
              <a:rPr lang="en-US" sz="1600">
                <a:solidFill>
                  <a:srgbClr val="29BA74"/>
                </a:solidFill>
                <a:latin typeface="Microsoft YaHei" panose="020B0503020204020204" pitchFamily="34" charset="-122"/>
                <a:ea typeface="Microsoft YaHei" panose="020B0503020204020204" pitchFamily="34" charset="-122"/>
              </a:rPr>
              <a:t>A/B</a:t>
            </a:r>
            <a:r>
              <a:rPr lang="zh-TW" altLang="en-US" sz="1600">
                <a:solidFill>
                  <a:srgbClr val="29BA74"/>
                </a:solidFill>
                <a:latin typeface="Microsoft YaHei" panose="020B0503020204020204" pitchFamily="34" charset="-122"/>
                <a:ea typeface="Microsoft YaHei" panose="020B0503020204020204" pitchFamily="34" charset="-122"/>
              </a:rPr>
              <a:t>測試衡量客製化通知帶來的增量效益</a:t>
            </a:r>
            <a:r>
              <a:rPr lang="en-US" altLang="zh-TW" sz="1600">
                <a:solidFill>
                  <a:srgbClr val="29BA74"/>
                </a:solidFill>
                <a:latin typeface="Microsoft YaHei" panose="020B0503020204020204" pitchFamily="34" charset="-122"/>
                <a:ea typeface="Microsoft YaHei" panose="020B0503020204020204" pitchFamily="34" charset="-122"/>
              </a:rPr>
              <a:t>…</a:t>
            </a:r>
            <a:endParaRPr lang="en-US" sz="1600">
              <a:solidFill>
                <a:srgbClr val="29BA74"/>
              </a:solidFill>
              <a:latin typeface="Microsoft YaHei" panose="020B0503020204020204" pitchFamily="34" charset="-122"/>
              <a:ea typeface="Microsoft YaHei" panose="020B0503020204020204" pitchFamily="34" charset="-122"/>
            </a:endParaRPr>
          </a:p>
        </p:txBody>
      </p:sp>
      <p:sp>
        <p:nvSpPr>
          <p:cNvPr id="18" name="Rectangle 17">
            <a:extLst>
              <a:ext uri="{FF2B5EF4-FFF2-40B4-BE49-F238E27FC236}">
                <a16:creationId xmlns:a16="http://schemas.microsoft.com/office/drawing/2014/main" id="{4A6C2D81-7186-3587-FF26-17FCEF2C5F3E}"/>
              </a:ext>
            </a:extLst>
          </p:cNvPr>
          <p:cNvSpPr/>
          <p:nvPr/>
        </p:nvSpPr>
        <p:spPr>
          <a:xfrm>
            <a:off x="622100" y="2618021"/>
            <a:ext cx="1071234" cy="838463"/>
          </a:xfrm>
          <a:prstGeom prst="rect">
            <a:avLst/>
          </a:prstGeom>
          <a:solidFill>
            <a:schemeClr val="tx2"/>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TW" altLang="en-US" sz="1400" b="1">
                <a:solidFill>
                  <a:srgbClr val="FFFFFF"/>
                </a:solidFill>
                <a:latin typeface="Trebuchet MS" panose="020B0603020202020204" pitchFamily="34" charset="0"/>
                <a:cs typeface="Arial" panose="020B0604020202020204" pitchFamily="34" charset="0"/>
                <a:sym typeface="Trebuchet MS" panose="020B0603020202020204" pitchFamily="34" charset="0"/>
              </a:rPr>
              <a:t>測試組</a:t>
            </a:r>
            <a:endParaRPr kumimoji="0" lang="en-US" sz="1400" b="1" i="0" u="none" strike="noStrike" kern="1200" cap="none" spc="0" normalizeH="0" baseline="0" noProof="0">
              <a:ln>
                <a:noFill/>
              </a:ln>
              <a:solidFill>
                <a:srgbClr val="FFFFFF"/>
              </a:solidFill>
              <a:effectLst/>
              <a:uLnTx/>
              <a:uFillTx/>
              <a:latin typeface="Trebuchet MS" panose="020B0603020202020204" pitchFamily="34" charset="0"/>
              <a:cs typeface="Arial" panose="020B0604020202020204" pitchFamily="34" charset="0"/>
              <a:sym typeface="Trebuchet MS" panose="020B0603020202020204" pitchFamily="34" charset="0"/>
            </a:endParaRPr>
          </a:p>
        </p:txBody>
      </p:sp>
      <p:sp>
        <p:nvSpPr>
          <p:cNvPr id="19" name="TextBox 18">
            <a:extLst>
              <a:ext uri="{FF2B5EF4-FFF2-40B4-BE49-F238E27FC236}">
                <a16:creationId xmlns:a16="http://schemas.microsoft.com/office/drawing/2014/main" id="{0F5BEC88-04DC-A547-422E-EEAB1D3AE190}"/>
              </a:ext>
            </a:extLst>
          </p:cNvPr>
          <p:cNvSpPr txBox="1"/>
          <p:nvPr/>
        </p:nvSpPr>
        <p:spPr>
          <a:xfrm>
            <a:off x="1696846" y="2581462"/>
            <a:ext cx="3059474" cy="738664"/>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marL="324000" marR="0" lvl="1" indent="-216000" algn="l" defTabSz="914400" rtl="0" eaLnBrk="1" fontAlgn="auto" latinLnBrk="0" hangingPunct="1">
              <a:lnSpc>
                <a:spcPct val="100000"/>
              </a:lnSpc>
              <a:spcBef>
                <a:spcPts val="0"/>
              </a:spcBef>
              <a:spcAft>
                <a:spcPts val="0"/>
              </a:spcAft>
              <a:buClr>
                <a:schemeClr val="tx2"/>
              </a:buClr>
              <a:buSzPct val="100000"/>
              <a:buFont typeface="Trebuchet MS" panose="020B0603020202020204" pitchFamily="34" charset="0"/>
              <a:buChar char="•"/>
              <a:tabLst/>
              <a:defRPr/>
            </a:pPr>
            <a:r>
              <a:rPr kumimoji="0" lang="zh-TW" altLang="en-US" sz="1400" b="0" i="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符合條件的客戶將獲得優先提示</a:t>
            </a:r>
          </a:p>
          <a:p>
            <a:pPr marL="324000" marR="0" lvl="1" indent="-216000" algn="l" defTabSz="914400" rtl="0" eaLnBrk="1" fontAlgn="auto" latinLnBrk="0" hangingPunct="1">
              <a:lnSpc>
                <a:spcPct val="100000"/>
              </a:lnSpc>
              <a:spcBef>
                <a:spcPts val="0"/>
              </a:spcBef>
              <a:spcAft>
                <a:spcPts val="0"/>
              </a:spcAft>
              <a:buClr>
                <a:schemeClr val="tx2"/>
              </a:buClr>
              <a:buSzPct val="100000"/>
              <a:buFont typeface="Trebuchet MS" panose="020B0603020202020204" pitchFamily="34" charset="0"/>
              <a:buChar char="•"/>
              <a:tabLst/>
              <a:defRPr/>
            </a:pPr>
            <a:r>
              <a:rPr kumimoji="0" lang="zh-TW" altLang="en-US" sz="1400" b="0" i="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所有其他日常業務營運（</a:t>
            </a:r>
            <a:r>
              <a:rPr kumimoji="0" lang="en-US" sz="1400" b="0" i="0" u="none" strike="noStrike" kern="1200" cap="none" spc="0" normalizeH="0" baseline="0" noProof="0" err="1">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BAU</a:t>
            </a:r>
            <a:r>
              <a:rPr kumimoji="0" lang="en-US" sz="1400" b="0" i="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a:t>
            </a:r>
            <a:r>
              <a:rPr kumimoji="0" lang="zh-TW" altLang="en-US" sz="1400" b="0" i="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活動持續進行</a:t>
            </a:r>
          </a:p>
        </p:txBody>
      </p:sp>
      <p:sp>
        <p:nvSpPr>
          <p:cNvPr id="20" name="Rectangle 19">
            <a:extLst>
              <a:ext uri="{FF2B5EF4-FFF2-40B4-BE49-F238E27FC236}">
                <a16:creationId xmlns:a16="http://schemas.microsoft.com/office/drawing/2014/main" id="{39057713-827E-FA31-18E2-61D0E9D09B3F}"/>
              </a:ext>
            </a:extLst>
          </p:cNvPr>
          <p:cNvSpPr/>
          <p:nvPr/>
        </p:nvSpPr>
        <p:spPr>
          <a:xfrm>
            <a:off x="628651" y="3656691"/>
            <a:ext cx="1060628" cy="838463"/>
          </a:xfrm>
          <a:prstGeom prst="rect">
            <a:avLst/>
          </a:prstGeom>
          <a:solidFill>
            <a:srgbClr val="03522D"/>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TW" altLang="en-US" sz="1400" b="1" i="0" u="none" strike="noStrike" kern="1200" cap="none" spc="0" normalizeH="0" baseline="0" noProof="0">
                <a:ln>
                  <a:noFill/>
                </a:ln>
                <a:solidFill>
                  <a:srgbClr val="FFFFFF"/>
                </a:solidFill>
                <a:effectLst/>
                <a:uLnTx/>
                <a:uFillTx/>
                <a:latin typeface="Trebuchet MS" panose="020B0603020202020204" pitchFamily="34" charset="0"/>
                <a:cs typeface="Arial" panose="020B0604020202020204" pitchFamily="34" charset="0"/>
                <a:sym typeface="Trebuchet MS" panose="020B0603020202020204" pitchFamily="34" charset="0"/>
              </a:rPr>
              <a:t>控制組 </a:t>
            </a:r>
            <a:endParaRPr kumimoji="0" lang="en-US" altLang="zh-TW" sz="1400" b="1" i="0" u="none" strike="noStrike" kern="1200" cap="none" spc="0" normalizeH="0" baseline="0" noProof="0">
              <a:ln>
                <a:noFill/>
              </a:ln>
              <a:solidFill>
                <a:srgbClr val="FFFFFF"/>
              </a:solidFill>
              <a:effectLst/>
              <a:uLnTx/>
              <a:uFillTx/>
              <a:latin typeface="Trebuchet MS" panose="020B0603020202020204" pitchFamily="34" charset="0"/>
              <a:cs typeface="Arial" panose="020B0604020202020204" pitchFamily="34" charset="0"/>
              <a:sym typeface="Trebuchet MS" panose="020B0603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1400" b="1" i="0" u="none" strike="noStrike" kern="1200" cap="none" spc="0" normalizeH="0" baseline="0" noProof="0">
                <a:ln>
                  <a:noFill/>
                </a:ln>
                <a:solidFill>
                  <a:srgbClr val="FFFFFF"/>
                </a:solidFill>
                <a:effectLst/>
                <a:uLnTx/>
                <a:uFillTx/>
                <a:latin typeface="Trebuchet MS" panose="020B0603020202020204" pitchFamily="34" charset="0"/>
                <a:cs typeface="Arial" panose="020B0604020202020204" pitchFamily="34" charset="0"/>
                <a:sym typeface="Trebuchet MS" panose="020B0603020202020204" pitchFamily="34" charset="0"/>
              </a:rPr>
              <a:t>(</a:t>
            </a:r>
            <a:r>
              <a:rPr kumimoji="0" lang="en-US" altLang="zh-TW" sz="1400" b="1" i="0" u="none" strike="noStrike" kern="1200" cap="none" spc="0" normalizeH="0" baseline="0" noProof="0" err="1">
                <a:ln>
                  <a:noFill/>
                </a:ln>
                <a:solidFill>
                  <a:srgbClr val="FFFFFF"/>
                </a:solidFill>
                <a:effectLst/>
                <a:uLnTx/>
                <a:uFillTx/>
                <a:latin typeface="Trebuchet MS" panose="020B0603020202020204" pitchFamily="34" charset="0"/>
                <a:cs typeface="Arial" panose="020B0604020202020204" pitchFamily="34" charset="0"/>
                <a:sym typeface="Trebuchet MS" panose="020B0603020202020204" pitchFamily="34" charset="0"/>
              </a:rPr>
              <a:t>BAU</a:t>
            </a:r>
            <a:r>
              <a:rPr kumimoji="0" lang="en-US" altLang="zh-TW" sz="1400" b="1" i="0" u="none" strike="noStrike" kern="1200" cap="none" spc="0" normalizeH="0" baseline="0" noProof="0">
                <a:ln>
                  <a:noFill/>
                </a:ln>
                <a:solidFill>
                  <a:srgbClr val="FFFFFF"/>
                </a:solidFill>
                <a:effectLst/>
                <a:uLnTx/>
                <a:uFillTx/>
                <a:latin typeface="Trebuchet MS" panose="020B0603020202020204" pitchFamily="34" charset="0"/>
                <a:cs typeface="Arial" panose="020B0604020202020204" pitchFamily="34" charset="0"/>
                <a:sym typeface="Trebuchet MS" panose="020B0603020202020204" pitchFamily="34" charset="0"/>
              </a:rPr>
              <a:t>)</a:t>
            </a:r>
            <a:endParaRPr kumimoji="0" lang="en-US" sz="1400" b="1" i="0" u="none" strike="noStrike" kern="1200" cap="none" spc="0" normalizeH="0" baseline="0" noProof="0">
              <a:ln>
                <a:noFill/>
              </a:ln>
              <a:solidFill>
                <a:srgbClr val="FFFFFF"/>
              </a:solidFill>
              <a:effectLst/>
              <a:uLnTx/>
              <a:uFillTx/>
              <a:latin typeface="Trebuchet MS" panose="020B0603020202020204" pitchFamily="34" charset="0"/>
              <a:cs typeface="Arial" panose="020B0604020202020204" pitchFamily="34" charset="0"/>
              <a:sym typeface="Trebuchet MS" panose="020B0603020202020204" pitchFamily="34" charset="0"/>
            </a:endParaRPr>
          </a:p>
        </p:txBody>
      </p:sp>
      <p:sp>
        <p:nvSpPr>
          <p:cNvPr id="21" name="TextBox 20">
            <a:extLst>
              <a:ext uri="{FF2B5EF4-FFF2-40B4-BE49-F238E27FC236}">
                <a16:creationId xmlns:a16="http://schemas.microsoft.com/office/drawing/2014/main" id="{886658D7-D5BC-0450-2B7F-F16133F9F1CD}"/>
              </a:ext>
            </a:extLst>
          </p:cNvPr>
          <p:cNvSpPr txBox="1"/>
          <p:nvPr/>
        </p:nvSpPr>
        <p:spPr>
          <a:xfrm>
            <a:off x="1696848" y="3613642"/>
            <a:ext cx="3059474" cy="95410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marL="324000" marR="0" lvl="1" indent="-216000" algn="l" defTabSz="914400" rtl="0" eaLnBrk="1" fontAlgn="auto" latinLnBrk="0" hangingPunct="1">
              <a:lnSpc>
                <a:spcPct val="100000"/>
              </a:lnSpc>
              <a:spcBef>
                <a:spcPts val="0"/>
              </a:spcBef>
              <a:spcAft>
                <a:spcPts val="0"/>
              </a:spcAft>
              <a:buClr>
                <a:schemeClr val="tx2"/>
              </a:buClr>
              <a:buSzPct val="100000"/>
              <a:buFont typeface="Trebuchet MS" panose="020B0603020202020204" pitchFamily="34" charset="0"/>
              <a:buChar char="•"/>
              <a:tabLst/>
              <a:defRPr/>
            </a:pPr>
            <a:r>
              <a:rPr kumimoji="0" lang="zh-TW" altLang="en-US" sz="1400" b="0" i="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符合條件的客戶獲得日常業務營運（</a:t>
            </a:r>
            <a:r>
              <a:rPr kumimoji="0" lang="en-US" altLang="zh-TW" sz="1400" b="0" i="0" u="none" strike="noStrike" kern="1200" cap="none" spc="0" normalizeH="0" baseline="0" noProof="0" err="1">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BAU</a:t>
            </a:r>
            <a:r>
              <a:rPr kumimoji="0" lang="en-US" altLang="zh-TW" sz="1400" b="0" i="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a:t>
            </a:r>
            <a:r>
              <a:rPr kumimoji="0" lang="zh-TW" altLang="en-US" sz="1400" b="0" i="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活動（如有）</a:t>
            </a:r>
          </a:p>
          <a:p>
            <a:pPr marL="324000" marR="0" lvl="1" indent="-216000" algn="l" defTabSz="914400" rtl="0" eaLnBrk="1" fontAlgn="auto" latinLnBrk="0" hangingPunct="1">
              <a:lnSpc>
                <a:spcPct val="100000"/>
              </a:lnSpc>
              <a:spcBef>
                <a:spcPts val="0"/>
              </a:spcBef>
              <a:spcAft>
                <a:spcPts val="0"/>
              </a:spcAft>
              <a:buClr>
                <a:schemeClr val="tx2"/>
              </a:buClr>
              <a:buSzPct val="100000"/>
              <a:buFont typeface="Trebuchet MS" panose="020B0603020202020204" pitchFamily="34" charset="0"/>
              <a:buChar char="•"/>
              <a:tabLst/>
              <a:defRPr/>
            </a:pPr>
            <a:r>
              <a:rPr kumimoji="0" lang="zh-TW" altLang="en-US" sz="1400" b="0" i="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所有其他日常業務營運（</a:t>
            </a:r>
            <a:r>
              <a:rPr kumimoji="0" lang="en-US" altLang="zh-TW" sz="1400" b="0" i="0" u="none" strike="noStrike" kern="1200" cap="none" spc="0" normalizeH="0" baseline="0" noProof="0" err="1">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BAU</a:t>
            </a:r>
            <a:r>
              <a:rPr kumimoji="0" lang="en-US" altLang="zh-TW" sz="1400" b="0" i="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a:t>
            </a:r>
            <a:r>
              <a:rPr kumimoji="0" lang="zh-TW" altLang="en-US" sz="1400" b="0" i="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活動持續進行</a:t>
            </a:r>
          </a:p>
        </p:txBody>
      </p:sp>
      <p:sp>
        <p:nvSpPr>
          <p:cNvPr id="23" name="Rectangle 22">
            <a:extLst>
              <a:ext uri="{FF2B5EF4-FFF2-40B4-BE49-F238E27FC236}">
                <a16:creationId xmlns:a16="http://schemas.microsoft.com/office/drawing/2014/main" id="{E2736858-F937-A4A3-1C01-DB4EC54F31C9}"/>
              </a:ext>
            </a:extLst>
          </p:cNvPr>
          <p:cNvSpPr/>
          <p:nvPr/>
        </p:nvSpPr>
        <p:spPr>
          <a:xfrm>
            <a:off x="628651" y="4695361"/>
            <a:ext cx="1060628" cy="838465"/>
          </a:xfrm>
          <a:prstGeom prst="rect">
            <a:avLst/>
          </a:prstGeom>
          <a:solidFill>
            <a:srgbClr val="C9E7CA"/>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TW" altLang="en-US" sz="1400" b="1">
                <a:solidFill>
                  <a:srgbClr val="2E3558">
                    <a:lumMod val="100000"/>
                  </a:srgbClr>
                </a:solidFill>
                <a:latin typeface="Trebuchet MS" panose="020B0603020202020204" pitchFamily="34" charset="0"/>
                <a:cs typeface="Arial" panose="020B0604020202020204" pitchFamily="34" charset="0"/>
                <a:sym typeface="Trebuchet MS" panose="020B0603020202020204" pitchFamily="34" charset="0"/>
              </a:rPr>
              <a:t>控制組 </a:t>
            </a:r>
            <a:endParaRPr lang="en-US" altLang="zh-TW" sz="1400" b="1">
              <a:solidFill>
                <a:srgbClr val="2E3558">
                  <a:lumMod val="100000"/>
                </a:srgbClr>
              </a:solidFill>
              <a:latin typeface="Trebuchet MS" panose="020B0603020202020204" pitchFamily="34" charset="0"/>
              <a:cs typeface="Arial" panose="020B0604020202020204" pitchFamily="34" charset="0"/>
              <a:sym typeface="Trebuchet MS" panose="020B0603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TW" sz="1400" b="1">
                <a:solidFill>
                  <a:srgbClr val="2E3558">
                    <a:lumMod val="100000"/>
                  </a:srgbClr>
                </a:solidFill>
                <a:latin typeface="Trebuchet MS" panose="020B0603020202020204" pitchFamily="34" charset="0"/>
                <a:cs typeface="Arial" panose="020B0604020202020204" pitchFamily="34" charset="0"/>
                <a:sym typeface="Trebuchet MS" panose="020B0603020202020204" pitchFamily="34" charset="0"/>
              </a:rPr>
              <a:t>(</a:t>
            </a:r>
            <a:r>
              <a:rPr kumimoji="0" lang="en-US" sz="1400" b="1" i="0" u="none" strike="noStrike" kern="1200" cap="none" spc="0" normalizeH="0" baseline="0" noProof="0" err="1">
                <a:ln>
                  <a:noFill/>
                </a:ln>
                <a:solidFill>
                  <a:srgbClr val="2E3558">
                    <a:lumMod val="100000"/>
                  </a:srgbClr>
                </a:solidFill>
                <a:effectLst/>
                <a:uLnTx/>
                <a:uFillTx/>
                <a:latin typeface="Trebuchet MS" panose="020B0603020202020204" pitchFamily="34" charset="0"/>
                <a:cs typeface="Arial" panose="020B0604020202020204" pitchFamily="34" charset="0"/>
                <a:sym typeface="Trebuchet MS" panose="020B0603020202020204" pitchFamily="34" charset="0"/>
              </a:rPr>
              <a:t>無干擾</a:t>
            </a:r>
            <a:r>
              <a:rPr kumimoji="0" lang="en-US" altLang="zh-TW" sz="1400" b="1" i="0" u="none" strike="noStrike" kern="1200" cap="none" spc="0" normalizeH="0" baseline="0" noProof="0">
                <a:ln>
                  <a:noFill/>
                </a:ln>
                <a:solidFill>
                  <a:srgbClr val="2E3558">
                    <a:lumMod val="100000"/>
                  </a:srgbClr>
                </a:solidFill>
                <a:effectLst/>
                <a:uLnTx/>
                <a:uFillTx/>
                <a:latin typeface="Trebuchet MS" panose="020B0603020202020204" pitchFamily="34" charset="0"/>
                <a:cs typeface="Arial" panose="020B0604020202020204" pitchFamily="34" charset="0"/>
                <a:sym typeface="Trebuchet MS" panose="020B0603020202020204" pitchFamily="34" charset="0"/>
              </a:rPr>
              <a:t>)</a:t>
            </a:r>
            <a:endParaRPr kumimoji="0" lang="en-US" sz="1400" b="1" i="0" u="none" strike="noStrike" kern="1200" cap="none" spc="0" normalizeH="0" baseline="0" noProof="0">
              <a:ln>
                <a:noFill/>
              </a:ln>
              <a:solidFill>
                <a:srgbClr val="2E3558">
                  <a:lumMod val="100000"/>
                </a:srgbClr>
              </a:solidFill>
              <a:effectLst/>
              <a:uLnTx/>
              <a:uFillTx/>
              <a:latin typeface="Trebuchet MS" panose="020B0603020202020204" pitchFamily="34" charset="0"/>
              <a:cs typeface="Arial" panose="020B0604020202020204" pitchFamily="34" charset="0"/>
              <a:sym typeface="Trebuchet MS" panose="020B0603020202020204" pitchFamily="34" charset="0"/>
            </a:endParaRPr>
          </a:p>
        </p:txBody>
      </p:sp>
      <p:sp>
        <p:nvSpPr>
          <p:cNvPr id="24" name="TextBox 23">
            <a:extLst>
              <a:ext uri="{FF2B5EF4-FFF2-40B4-BE49-F238E27FC236}">
                <a16:creationId xmlns:a16="http://schemas.microsoft.com/office/drawing/2014/main" id="{7D9D8184-2C31-6E6D-8B8C-3A550CE05E91}"/>
              </a:ext>
            </a:extLst>
          </p:cNvPr>
          <p:cNvSpPr txBox="1"/>
          <p:nvPr/>
        </p:nvSpPr>
        <p:spPr>
          <a:xfrm>
            <a:off x="1696846" y="4695361"/>
            <a:ext cx="3059474" cy="523220"/>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marL="324000" marR="0" lvl="1" indent="-216000" algn="l" defTabSz="914400" rtl="0" eaLnBrk="1" fontAlgn="auto" latinLnBrk="0" hangingPunct="1">
              <a:lnSpc>
                <a:spcPct val="100000"/>
              </a:lnSpc>
              <a:spcBef>
                <a:spcPts val="0"/>
              </a:spcBef>
              <a:spcAft>
                <a:spcPts val="0"/>
              </a:spcAft>
              <a:buClr>
                <a:schemeClr val="tx2"/>
              </a:buClr>
              <a:buSzPct val="100000"/>
              <a:buFont typeface="Trebuchet MS" panose="020B0603020202020204" pitchFamily="34" charset="0"/>
              <a:buChar char="•"/>
              <a:tabLst/>
              <a:defRPr/>
            </a:pPr>
            <a:r>
              <a:rPr lang="zh-TW" altLang="en-US" sz="1400">
                <a:solidFill>
                  <a:schemeClr val="tx1"/>
                </a:solidFill>
                <a:latin typeface="Trebuchet MS" panose="020B0603020202020204" pitchFamily="34" charset="0"/>
                <a:cs typeface="Arial" panose="020B0604020202020204" pitchFamily="34" charset="0"/>
                <a:sym typeface="Trebuchet MS" panose="020B0603020202020204" pitchFamily="34" charset="0"/>
              </a:rPr>
              <a:t>除了法規要求的通知外，停止傳送所有銀行的通知</a:t>
            </a:r>
          </a:p>
        </p:txBody>
      </p:sp>
      <p:cxnSp>
        <p:nvCxnSpPr>
          <p:cNvPr id="28" name="Straight Connector 27">
            <a:extLst>
              <a:ext uri="{FF2B5EF4-FFF2-40B4-BE49-F238E27FC236}">
                <a16:creationId xmlns:a16="http://schemas.microsoft.com/office/drawing/2014/main" id="{A47FC4E3-EB01-4610-B5C6-446FC55589F8}"/>
              </a:ext>
            </a:extLst>
          </p:cNvPr>
          <p:cNvCxnSpPr>
            <a:cxnSpLocks/>
          </p:cNvCxnSpPr>
          <p:nvPr/>
        </p:nvCxnSpPr>
        <p:spPr>
          <a:xfrm>
            <a:off x="628650" y="4595257"/>
            <a:ext cx="4127671" cy="0"/>
          </a:xfrm>
          <a:prstGeom prst="line">
            <a:avLst/>
          </a:prstGeom>
          <a:ln w="9525" cap="rnd">
            <a:solidFill>
              <a:srgbClr val="6E6F73"/>
            </a:solidFill>
            <a:prstDash val="sysDash"/>
            <a:round/>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84D3048D-BDAB-A39C-612D-5000E6DA0F9A}"/>
              </a:ext>
            </a:extLst>
          </p:cNvPr>
          <p:cNvCxnSpPr>
            <a:cxnSpLocks/>
          </p:cNvCxnSpPr>
          <p:nvPr/>
        </p:nvCxnSpPr>
        <p:spPr>
          <a:xfrm>
            <a:off x="633541" y="3556588"/>
            <a:ext cx="4122779" cy="0"/>
          </a:xfrm>
          <a:prstGeom prst="line">
            <a:avLst/>
          </a:prstGeom>
          <a:ln w="9525" cap="rnd">
            <a:solidFill>
              <a:srgbClr val="6E6F73"/>
            </a:solidFill>
            <a:prstDash val="sysDash"/>
            <a:round/>
            <a:tailEnd type="none"/>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A4DECEB0-A8D2-EC63-3523-62F52A29F1BD}"/>
              </a:ext>
            </a:extLst>
          </p:cNvPr>
          <p:cNvSpPr txBox="1"/>
          <p:nvPr/>
        </p:nvSpPr>
        <p:spPr>
          <a:xfrm>
            <a:off x="628650" y="5646171"/>
            <a:ext cx="10934699" cy="540898"/>
          </a:xfrm>
          <a:prstGeom prst="rect">
            <a:avLst/>
          </a:prstGeom>
          <a:gradFill flip="none" rotWithShape="1">
            <a:gsLst>
              <a:gs pos="0">
                <a:schemeClr val="tx2"/>
              </a:gs>
              <a:gs pos="100000">
                <a:schemeClr val="accent2"/>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defPPr>
              <a:defRPr lang="en-US"/>
            </a:defPPr>
            <a:lvl1pPr marR="0" lvl="0" indent="0" algn="ctr" fontAlgn="auto">
              <a:lnSpc>
                <a:spcPct val="95000"/>
              </a:lnSpc>
              <a:spcBef>
                <a:spcPts val="0"/>
              </a:spcBef>
              <a:spcAft>
                <a:spcPts val="0"/>
              </a:spcAft>
              <a:buClrTx/>
              <a:buSzTx/>
              <a:buFontTx/>
              <a:buNone/>
              <a:tabLst/>
              <a:defRPr kumimoji="0" b="0" i="0" u="none" strike="noStrike" kern="0" cap="none" spc="0" normalizeH="0" baseline="0">
                <a:ln>
                  <a:noFill/>
                </a:ln>
                <a:solidFill>
                  <a:schemeClr val="bg1"/>
                </a:solidFill>
                <a:effectLst/>
                <a:uLnTx/>
                <a:uFillTx/>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zh-TW" altLang="en-US">
                <a:sym typeface="Trebuchet MS" panose="020B0603020202020204" pitchFamily="34" charset="0"/>
              </a:rPr>
              <a:t>建立可規模化的追蹤架構以實現效益衡量及每日</a:t>
            </a:r>
            <a:r>
              <a:rPr lang="en-US" altLang="zh-TW">
                <a:sym typeface="Trebuchet MS" panose="020B0603020202020204" pitchFamily="34" charset="0"/>
              </a:rPr>
              <a:t>(</a:t>
            </a:r>
            <a:r>
              <a:rPr lang="zh-TW" altLang="en-US">
                <a:sym typeface="Trebuchet MS" panose="020B0603020202020204" pitchFamily="34" charset="0"/>
              </a:rPr>
              <a:t>定期</a:t>
            </a:r>
            <a:r>
              <a:rPr lang="en-US" altLang="zh-TW">
                <a:sym typeface="Trebuchet MS" panose="020B0603020202020204" pitchFamily="34" charset="0"/>
              </a:rPr>
              <a:t>)</a:t>
            </a:r>
            <a:r>
              <a:rPr lang="zh-TW" altLang="en-US">
                <a:sym typeface="Trebuchet MS" panose="020B0603020202020204" pitchFamily="34" charset="0"/>
              </a:rPr>
              <a:t>績效報告</a:t>
            </a:r>
            <a:endParaRPr lang="en-US" altLang="zh-TW">
              <a:sym typeface="Trebuchet MS" panose="020B0603020202020204" pitchFamily="34" charset="0"/>
            </a:endParaRPr>
          </a:p>
          <a:p>
            <a:r>
              <a:rPr lang="zh-TW" altLang="en-US">
                <a:sym typeface="Trebuchet MS" panose="020B0603020202020204" pitchFamily="34" charset="0"/>
              </a:rPr>
              <a:t>同時將成效自動反饋至預測模型，做為下一次預測產出的重要輸入</a:t>
            </a:r>
            <a:endParaRPr lang="en-US" altLang="zh-TW">
              <a:sym typeface="Trebuchet MS" panose="020B0603020202020204" pitchFamily="34" charset="0"/>
            </a:endParaRPr>
          </a:p>
        </p:txBody>
      </p:sp>
      <p:sp>
        <p:nvSpPr>
          <p:cNvPr id="35" name="TextBox 34">
            <a:extLst>
              <a:ext uri="{FF2B5EF4-FFF2-40B4-BE49-F238E27FC236}">
                <a16:creationId xmlns:a16="http://schemas.microsoft.com/office/drawing/2014/main" id="{CA6315BD-C4CF-B694-F3B9-AD9BEE51845D}"/>
              </a:ext>
            </a:extLst>
          </p:cNvPr>
          <p:cNvSpPr txBox="1"/>
          <p:nvPr/>
        </p:nvSpPr>
        <p:spPr>
          <a:xfrm>
            <a:off x="1696846" y="2083859"/>
            <a:ext cx="3059474" cy="307975"/>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TW" altLang="en-US" sz="1400" b="1">
                <a:solidFill>
                  <a:srgbClr val="29BA74"/>
                </a:solidFill>
                <a:latin typeface="Trebuchet MS" panose="020B0603020202020204" pitchFamily="34" charset="0"/>
                <a:ea typeface="Microsoft YaHei" panose="020B0503020204020204" pitchFamily="34" charset="-122"/>
                <a:sym typeface="Microsoft YaHei" panose="020B0503020204020204" pitchFamily="34" charset="-122"/>
              </a:rPr>
              <a:t>測試項目</a:t>
            </a:r>
            <a:endParaRPr lang="en-US" sz="1400" b="1">
              <a:solidFill>
                <a:srgbClr val="29BA74"/>
              </a:solidFill>
              <a:latin typeface="Trebuchet MS" panose="020B0603020202020204" pitchFamily="34" charset="0"/>
              <a:ea typeface="Microsoft YaHei" panose="020B0503020204020204" pitchFamily="34" charset="-122"/>
              <a:sym typeface="Microsoft YaHei" panose="020B0503020204020204" pitchFamily="34" charset="-122"/>
            </a:endParaRPr>
          </a:p>
        </p:txBody>
      </p:sp>
      <p:cxnSp>
        <p:nvCxnSpPr>
          <p:cNvPr id="36" name="Straight Connector 35">
            <a:extLst>
              <a:ext uri="{FF2B5EF4-FFF2-40B4-BE49-F238E27FC236}">
                <a16:creationId xmlns:a16="http://schemas.microsoft.com/office/drawing/2014/main" id="{DE2BD05F-5CC9-9951-49D1-8970D95F0291}"/>
              </a:ext>
            </a:extLst>
          </p:cNvPr>
          <p:cNvCxnSpPr>
            <a:cxnSpLocks/>
          </p:cNvCxnSpPr>
          <p:nvPr/>
        </p:nvCxnSpPr>
        <p:spPr>
          <a:xfrm>
            <a:off x="1696845" y="2485497"/>
            <a:ext cx="3059474" cy="0"/>
          </a:xfrm>
          <a:prstGeom prst="line">
            <a:avLst/>
          </a:prstGeom>
          <a:ln w="19050" cap="rnd" cmpd="sng" algn="ctr">
            <a:solidFill>
              <a:srgbClr val="29BA74"/>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7" name="Title 1">
            <a:extLst>
              <a:ext uri="{FF2B5EF4-FFF2-40B4-BE49-F238E27FC236}">
                <a16:creationId xmlns:a16="http://schemas.microsoft.com/office/drawing/2014/main" id="{80B33ED8-4CB8-6AF7-B93C-FAD5B73B4556}"/>
              </a:ext>
            </a:extLst>
          </p:cNvPr>
          <p:cNvSpPr txBox="1">
            <a:spLocks/>
          </p:cNvSpPr>
          <p:nvPr/>
        </p:nvSpPr>
        <p:spPr>
          <a:xfrm>
            <a:off x="5370188" y="1799227"/>
            <a:ext cx="4874683" cy="221599"/>
          </a:xfrm>
          <a:prstGeom prst="rect">
            <a:avLst/>
          </a:prstGeom>
        </p:spPr>
        <p:txBody>
          <a:bodyPr vert="horz" wrap="square" lIns="0" tIns="0" rIns="0" bIns="0" rtlCol="0" anchor="t">
            <a:sp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sym typeface="Trebuchet MS" panose="020B0603020202020204" pitchFamily="34" charset="0"/>
              </a:defRPr>
            </a:lvl1pPr>
          </a:lstStyle>
          <a:p>
            <a:pPr>
              <a:buSzPts val="2400"/>
            </a:pPr>
            <a:r>
              <a:rPr lang="en-US" altLang="zh-TW" sz="1600">
                <a:solidFill>
                  <a:srgbClr val="29BA74"/>
                </a:solidFill>
                <a:latin typeface="Microsoft YaHei" panose="020B0503020204020204" pitchFamily="34" charset="-122"/>
                <a:ea typeface="Microsoft YaHei" panose="020B0503020204020204" pitchFamily="34" charset="-122"/>
              </a:rPr>
              <a:t>…</a:t>
            </a:r>
            <a:r>
              <a:rPr lang="zh-TW" altLang="en-US" sz="1600">
                <a:solidFill>
                  <a:srgbClr val="29BA74"/>
                </a:solidFill>
                <a:latin typeface="Microsoft YaHei" panose="020B0503020204020204" pitchFamily="34" charset="-122"/>
                <a:ea typeface="Microsoft YaHei" panose="020B0503020204020204" pitchFamily="34" charset="-122"/>
              </a:rPr>
              <a:t>並透過</a:t>
            </a:r>
            <a:r>
              <a:rPr lang="en-US" altLang="zh-TW" sz="1600">
                <a:solidFill>
                  <a:srgbClr val="29BA74"/>
                </a:solidFill>
                <a:latin typeface="Microsoft YaHei" panose="020B0503020204020204" pitchFamily="34" charset="-122"/>
                <a:ea typeface="Microsoft YaHei" panose="020B0503020204020204" pitchFamily="34" charset="-122"/>
              </a:rPr>
              <a:t>3</a:t>
            </a:r>
            <a:r>
              <a:rPr lang="zh-TW" altLang="en-US" sz="1600">
                <a:solidFill>
                  <a:srgbClr val="29BA74"/>
                </a:solidFill>
                <a:latin typeface="Microsoft YaHei" panose="020B0503020204020204" pitchFamily="34" charset="-122"/>
                <a:ea typeface="Microsoft YaHei" panose="020B0503020204020204" pitchFamily="34" charset="-122"/>
              </a:rPr>
              <a:t>個層級的指標追蹤個性化經營成效</a:t>
            </a:r>
            <a:endParaRPr lang="en-US" sz="1600">
              <a:solidFill>
                <a:srgbClr val="29BA74"/>
              </a:solidFill>
              <a:latin typeface="Microsoft YaHei" panose="020B0503020204020204" pitchFamily="34" charset="-122"/>
              <a:ea typeface="Microsoft YaHei" panose="020B0503020204020204" pitchFamily="34" charset="-122"/>
            </a:endParaRPr>
          </a:p>
        </p:txBody>
      </p:sp>
      <p:grpSp>
        <p:nvGrpSpPr>
          <p:cNvPr id="38" name="Group 37">
            <a:extLst>
              <a:ext uri="{FF2B5EF4-FFF2-40B4-BE49-F238E27FC236}">
                <a16:creationId xmlns:a16="http://schemas.microsoft.com/office/drawing/2014/main" id="{BB70BFBC-1756-B783-B1CC-950E09C97B46}"/>
              </a:ext>
            </a:extLst>
          </p:cNvPr>
          <p:cNvGrpSpPr/>
          <p:nvPr/>
        </p:nvGrpSpPr>
        <p:grpSpPr>
          <a:xfrm>
            <a:off x="4827933" y="2111271"/>
            <a:ext cx="306171" cy="3478728"/>
            <a:chOff x="5942914" y="2381389"/>
            <a:chExt cx="306171" cy="3478728"/>
          </a:xfrm>
        </p:grpSpPr>
        <p:cxnSp>
          <p:nvCxnSpPr>
            <p:cNvPr id="39" name="Straight Connector 38">
              <a:extLst>
                <a:ext uri="{FF2B5EF4-FFF2-40B4-BE49-F238E27FC236}">
                  <a16:creationId xmlns:a16="http://schemas.microsoft.com/office/drawing/2014/main" id="{742CCAEA-B361-96FE-CCC2-ED9C5B532B6D}"/>
                </a:ext>
              </a:extLst>
            </p:cNvPr>
            <p:cNvCxnSpPr/>
            <p:nvPr/>
          </p:nvCxnSpPr>
          <p:spPr>
            <a:xfrm>
              <a:off x="6096000" y="2381389"/>
              <a:ext cx="0" cy="3478728"/>
            </a:xfrm>
            <a:prstGeom prst="line">
              <a:avLst/>
            </a:prstGeom>
            <a:ln w="9525" cap="rnd">
              <a:solidFill>
                <a:srgbClr val="9A9A9A"/>
              </a:solidFill>
              <a:prstDash val="solid"/>
            </a:ln>
          </p:spPr>
          <p:style>
            <a:lnRef idx="1">
              <a:schemeClr val="accent1"/>
            </a:lnRef>
            <a:fillRef idx="0">
              <a:schemeClr val="accent1"/>
            </a:fillRef>
            <a:effectRef idx="0">
              <a:schemeClr val="accent1"/>
            </a:effectRef>
            <a:fontRef idx="minor">
              <a:schemeClr val="tx1"/>
            </a:fontRef>
          </p:style>
        </p:cxnSp>
        <p:grpSp>
          <p:nvGrpSpPr>
            <p:cNvPr id="40" name="Group 39">
              <a:extLst>
                <a:ext uri="{FF2B5EF4-FFF2-40B4-BE49-F238E27FC236}">
                  <a16:creationId xmlns:a16="http://schemas.microsoft.com/office/drawing/2014/main" id="{EDECF4E5-A3BD-5C3A-E8EB-0C124E62EDFE}"/>
                </a:ext>
              </a:extLst>
            </p:cNvPr>
            <p:cNvGrpSpPr/>
            <p:nvPr/>
          </p:nvGrpSpPr>
          <p:grpSpPr>
            <a:xfrm>
              <a:off x="5942914" y="3967299"/>
              <a:ext cx="306171" cy="306910"/>
              <a:chOff x="5937564" y="3833745"/>
              <a:chExt cx="306171" cy="306910"/>
            </a:xfrm>
          </p:grpSpPr>
          <p:sp>
            <p:nvSpPr>
              <p:cNvPr id="41" name="Freeform 94">
                <a:extLst>
                  <a:ext uri="{FF2B5EF4-FFF2-40B4-BE49-F238E27FC236}">
                    <a16:creationId xmlns:a16="http://schemas.microsoft.com/office/drawing/2014/main" id="{53921AE7-61FD-810A-487A-2B26DF3F8AE1}"/>
                  </a:ext>
                </a:extLst>
              </p:cNvPr>
              <p:cNvSpPr>
                <a:spLocks/>
              </p:cNvSpPr>
              <p:nvPr/>
            </p:nvSpPr>
            <p:spPr bwMode="gray">
              <a:xfrm>
                <a:off x="5937564" y="3833745"/>
                <a:ext cx="306171" cy="306910"/>
              </a:xfrm>
              <a:custGeom>
                <a:avLst/>
                <a:gdLst>
                  <a:gd name="T0" fmla="*/ 0 w 1052"/>
                  <a:gd name="T1" fmla="*/ 526 h 1052"/>
                  <a:gd name="T2" fmla="*/ 0 w 1052"/>
                  <a:gd name="T3" fmla="*/ 526 h 1052"/>
                  <a:gd name="T4" fmla="*/ 526 w 1052"/>
                  <a:gd name="T5" fmla="*/ 0 h 1052"/>
                  <a:gd name="T6" fmla="*/ 1052 w 1052"/>
                  <a:gd name="T7" fmla="*/ 526 h 1052"/>
                  <a:gd name="T8" fmla="*/ 1052 w 1052"/>
                  <a:gd name="T9" fmla="*/ 526 h 1052"/>
                  <a:gd name="T10" fmla="*/ 526 w 1052"/>
                  <a:gd name="T11" fmla="*/ 1052 h 1052"/>
                  <a:gd name="T12" fmla="*/ 526 w 1052"/>
                  <a:gd name="T13" fmla="*/ 1052 h 1052"/>
                  <a:gd name="T14" fmla="*/ 0 w 1052"/>
                  <a:gd name="T15" fmla="*/ 526 h 10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2" h="1052">
                    <a:moveTo>
                      <a:pt x="0" y="526"/>
                    </a:moveTo>
                    <a:cubicBezTo>
                      <a:pt x="0" y="526"/>
                      <a:pt x="0" y="526"/>
                      <a:pt x="0" y="526"/>
                    </a:cubicBezTo>
                    <a:cubicBezTo>
                      <a:pt x="0" y="236"/>
                      <a:pt x="236" y="0"/>
                      <a:pt x="526" y="0"/>
                    </a:cubicBezTo>
                    <a:cubicBezTo>
                      <a:pt x="817" y="0"/>
                      <a:pt x="1052" y="236"/>
                      <a:pt x="1052" y="526"/>
                    </a:cubicBezTo>
                    <a:cubicBezTo>
                      <a:pt x="1052" y="526"/>
                      <a:pt x="1052" y="526"/>
                      <a:pt x="1052" y="526"/>
                    </a:cubicBezTo>
                    <a:cubicBezTo>
                      <a:pt x="1052" y="817"/>
                      <a:pt x="817" y="1052"/>
                      <a:pt x="526" y="1052"/>
                    </a:cubicBezTo>
                    <a:cubicBezTo>
                      <a:pt x="526" y="1052"/>
                      <a:pt x="526" y="1052"/>
                      <a:pt x="526" y="1052"/>
                    </a:cubicBezTo>
                    <a:cubicBezTo>
                      <a:pt x="236" y="1052"/>
                      <a:pt x="0" y="817"/>
                      <a:pt x="0" y="526"/>
                    </a:cubicBezTo>
                    <a:close/>
                  </a:path>
                </a:pathLst>
              </a:custGeom>
              <a:solidFill>
                <a:schemeClr val="tx2"/>
              </a:solidFill>
              <a:ln>
                <a:solidFill>
                  <a:schemeClr val="tx2"/>
                </a:solidFill>
              </a:ln>
            </p:spPr>
            <p:txBody>
              <a:bodyPr vert="horz" wrap="square" lIns="88641" tIns="44321" rIns="88641" bIns="44321" numCol="1" anchor="t" anchorCtr="0" compatLnSpc="1">
                <a:prstTxWarp prst="textNoShape">
                  <a:avLst/>
                </a:prstTxWarp>
              </a:bodyPr>
              <a:lstStyle/>
              <a:p>
                <a:endParaRPr lang="en-US">
                  <a:solidFill>
                    <a:srgbClr val="6E6F73"/>
                  </a:solidFill>
                </a:endParaRPr>
              </a:p>
            </p:txBody>
          </p:sp>
          <p:sp>
            <p:nvSpPr>
              <p:cNvPr id="42" name="Freeform 95">
                <a:extLst>
                  <a:ext uri="{FF2B5EF4-FFF2-40B4-BE49-F238E27FC236}">
                    <a16:creationId xmlns:a16="http://schemas.microsoft.com/office/drawing/2014/main" id="{6F40D9B0-9778-BEC5-3818-148E5C71E61E}"/>
                  </a:ext>
                </a:extLst>
              </p:cNvPr>
              <p:cNvSpPr>
                <a:spLocks/>
              </p:cNvSpPr>
              <p:nvPr/>
            </p:nvSpPr>
            <p:spPr bwMode="gray">
              <a:xfrm>
                <a:off x="6053995" y="3876005"/>
                <a:ext cx="120251" cy="224731"/>
              </a:xfrm>
              <a:custGeom>
                <a:avLst/>
                <a:gdLst>
                  <a:gd name="T0" fmla="*/ 66 w 976"/>
                  <a:gd name="T1" fmla="*/ 1824 h 1824"/>
                  <a:gd name="T2" fmla="*/ 0 w 976"/>
                  <a:gd name="T3" fmla="*/ 1758 h 1824"/>
                  <a:gd name="T4" fmla="*/ 843 w 976"/>
                  <a:gd name="T5" fmla="*/ 912 h 1824"/>
                  <a:gd name="T6" fmla="*/ 0 w 976"/>
                  <a:gd name="T7" fmla="*/ 66 h 1824"/>
                  <a:gd name="T8" fmla="*/ 66 w 976"/>
                  <a:gd name="T9" fmla="*/ 0 h 1824"/>
                  <a:gd name="T10" fmla="*/ 976 w 976"/>
                  <a:gd name="T11" fmla="*/ 912 h 1824"/>
                  <a:gd name="T12" fmla="*/ 66 w 976"/>
                  <a:gd name="T13" fmla="*/ 1824 h 1824"/>
                </a:gdLst>
                <a:ahLst/>
                <a:cxnLst>
                  <a:cxn ang="0">
                    <a:pos x="T0" y="T1"/>
                  </a:cxn>
                  <a:cxn ang="0">
                    <a:pos x="T2" y="T3"/>
                  </a:cxn>
                  <a:cxn ang="0">
                    <a:pos x="T4" y="T5"/>
                  </a:cxn>
                  <a:cxn ang="0">
                    <a:pos x="T6" y="T7"/>
                  </a:cxn>
                  <a:cxn ang="0">
                    <a:pos x="T8" y="T9"/>
                  </a:cxn>
                  <a:cxn ang="0">
                    <a:pos x="T10" y="T11"/>
                  </a:cxn>
                  <a:cxn ang="0">
                    <a:pos x="T12" y="T13"/>
                  </a:cxn>
                </a:cxnLst>
                <a:rect l="0" t="0" r="r" b="b"/>
                <a:pathLst>
                  <a:path w="976" h="1824">
                    <a:moveTo>
                      <a:pt x="66" y="1824"/>
                    </a:moveTo>
                    <a:lnTo>
                      <a:pt x="0" y="1758"/>
                    </a:lnTo>
                    <a:lnTo>
                      <a:pt x="843" y="912"/>
                    </a:lnTo>
                    <a:lnTo>
                      <a:pt x="0" y="66"/>
                    </a:lnTo>
                    <a:lnTo>
                      <a:pt x="66" y="0"/>
                    </a:lnTo>
                    <a:lnTo>
                      <a:pt x="976" y="912"/>
                    </a:lnTo>
                    <a:lnTo>
                      <a:pt x="66" y="18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8641" tIns="44321" rIns="88641" bIns="44321" numCol="1" anchor="t" anchorCtr="0" compatLnSpc="1">
                <a:prstTxWarp prst="textNoShape">
                  <a:avLst/>
                </a:prstTxWarp>
              </a:bodyPr>
              <a:lstStyle/>
              <a:p>
                <a:endParaRPr lang="en-US">
                  <a:solidFill>
                    <a:srgbClr val="6E6F73"/>
                  </a:solidFill>
                </a:endParaRPr>
              </a:p>
            </p:txBody>
          </p:sp>
        </p:grpSp>
      </p:grpSp>
      <p:sp>
        <p:nvSpPr>
          <p:cNvPr id="44" name="Rectangle 43">
            <a:extLst>
              <a:ext uri="{FF2B5EF4-FFF2-40B4-BE49-F238E27FC236}">
                <a16:creationId xmlns:a16="http://schemas.microsoft.com/office/drawing/2014/main" id="{88C24382-97E8-EA17-0EFF-66DED93267E5}"/>
              </a:ext>
            </a:extLst>
          </p:cNvPr>
          <p:cNvSpPr/>
          <p:nvPr/>
        </p:nvSpPr>
        <p:spPr>
          <a:xfrm>
            <a:off x="5205714" y="3099249"/>
            <a:ext cx="746345" cy="1129852"/>
          </a:xfrm>
          <a:prstGeom prst="rect">
            <a:avLst/>
          </a:prstGeom>
          <a:ln w="10795" cap="flat" cmpd="sng" algn="ctr">
            <a:solidFill>
              <a:srgbClr val="29BA74"/>
            </a:solidFill>
            <a:prstDash val="solid"/>
            <a:round/>
            <a:headEnd type="none" w="med" len="med"/>
            <a:tailEnd type="none" w="med" len="med"/>
          </a:ln>
        </p:spPr>
        <p:style>
          <a:lnRef idx="2">
            <a:schemeClr val="accent2"/>
          </a:lnRef>
          <a:fillRef idx="1">
            <a:schemeClr val="lt1"/>
          </a:fillRef>
          <a:effectRef idx="0">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err="1">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rPr>
              <a:t>衡量</a:t>
            </a:r>
            <a:endParaRPr kumimoji="0" lang="en-US" sz="1400" b="1" i="0" u="none" strike="noStrike" kern="1200" cap="none" spc="0" normalizeH="0" baseline="0" noProof="0">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err="1">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rPr>
              <a:t>指標</a:t>
            </a:r>
            <a:endParaRPr kumimoji="0" lang="en-US" sz="1400" b="1" i="0" u="none" strike="noStrike" kern="1200" cap="none" spc="0" normalizeH="0" baseline="0" noProof="0">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endParaRPr>
          </a:p>
        </p:txBody>
      </p:sp>
      <p:sp>
        <p:nvSpPr>
          <p:cNvPr id="45" name="Rectangle 44">
            <a:extLst>
              <a:ext uri="{FF2B5EF4-FFF2-40B4-BE49-F238E27FC236}">
                <a16:creationId xmlns:a16="http://schemas.microsoft.com/office/drawing/2014/main" id="{8B4B35B4-6506-214E-BC66-46688BAA867C}"/>
              </a:ext>
            </a:extLst>
          </p:cNvPr>
          <p:cNvSpPr/>
          <p:nvPr/>
        </p:nvSpPr>
        <p:spPr>
          <a:xfrm>
            <a:off x="5205715" y="4391371"/>
            <a:ext cx="746348" cy="530640"/>
          </a:xfrm>
          <a:prstGeom prst="rect">
            <a:avLst/>
          </a:prstGeom>
          <a:ln w="10795" cap="flat" cmpd="sng" algn="ctr">
            <a:solidFill>
              <a:srgbClr val="29BA74"/>
            </a:solidFill>
            <a:prstDash val="solid"/>
            <a:round/>
            <a:headEnd type="none" w="med" len="med"/>
            <a:tailEnd type="none" w="med" len="med"/>
          </a:ln>
        </p:spPr>
        <p:style>
          <a:lnRef idx="2">
            <a:schemeClr val="accent2"/>
          </a:lnRef>
          <a:fillRef idx="1">
            <a:schemeClr val="lt1"/>
          </a:fillRef>
          <a:effectRef idx="0">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TW" altLang="en-US" sz="1400" b="1">
                <a:solidFill>
                  <a:srgbClr val="29BA74"/>
                </a:solidFill>
                <a:latin typeface="Trebuchet MS" panose="020B0603020202020204" pitchFamily="34" charset="0"/>
                <a:cs typeface="Arial" panose="020B0604020202020204" pitchFamily="34" charset="0"/>
                <a:sym typeface="Trebuchet MS" panose="020B0603020202020204" pitchFamily="34" charset="0"/>
              </a:rPr>
              <a:t>追蹤</a:t>
            </a:r>
            <a:r>
              <a:rPr kumimoji="0" lang="en-US" sz="1400" b="1" i="0" u="none" strike="noStrike" kern="1200" cap="none" spc="0" normalizeH="0" baseline="0" noProof="0">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rPr>
              <a:t>期</a:t>
            </a:r>
          </a:p>
        </p:txBody>
      </p:sp>
      <p:sp>
        <p:nvSpPr>
          <p:cNvPr id="49" name="TextBox 48">
            <a:extLst>
              <a:ext uri="{FF2B5EF4-FFF2-40B4-BE49-F238E27FC236}">
                <a16:creationId xmlns:a16="http://schemas.microsoft.com/office/drawing/2014/main" id="{BA8122FB-1265-E6D9-E65F-3F4B7D1228F2}"/>
              </a:ext>
            </a:extLst>
          </p:cNvPr>
          <p:cNvSpPr txBox="1"/>
          <p:nvPr/>
        </p:nvSpPr>
        <p:spPr>
          <a:xfrm>
            <a:off x="6023669" y="3053641"/>
            <a:ext cx="1954711" cy="95410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TW" altLang="en-US" sz="1400" b="1" i="0" u="none" strike="noStrike" kern="1200" cap="none" spc="0" normalizeH="0" baseline="0" noProof="0">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rPr>
              <a:t>回</a:t>
            </a:r>
            <a:r>
              <a:rPr lang="zh-TW" altLang="en-US" sz="1400" b="1">
                <a:solidFill>
                  <a:srgbClr val="29BA74"/>
                </a:solidFill>
                <a:latin typeface="Trebuchet MS" panose="020B0603020202020204" pitchFamily="34" charset="0"/>
                <a:cs typeface="Arial" panose="020B0604020202020204" pitchFamily="34" charset="0"/>
                <a:sym typeface="Trebuchet MS" panose="020B0603020202020204" pitchFamily="34" charset="0"/>
              </a:rPr>
              <a:t>覆</a:t>
            </a:r>
            <a:r>
              <a:rPr kumimoji="0" lang="zh-TW" altLang="en-US" sz="1400" b="1" i="0" u="none" strike="noStrike" kern="1200" cap="none" spc="0" normalizeH="0" baseline="0" noProof="0">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rPr>
              <a:t>率</a:t>
            </a:r>
            <a:endParaRPr kumimoji="0" lang="en-US" altLang="zh-TW" sz="1400" b="1" i="0" u="none" strike="noStrike" kern="1200" cap="none" spc="0" normalizeH="0" baseline="0" noProof="0">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endParaRPr>
          </a:p>
          <a:p>
            <a:pPr marL="324000" lvl="1" indent="-216000">
              <a:buClr>
                <a:schemeClr val="tx2"/>
              </a:buClr>
              <a:buFont typeface="Trebuchet MS" panose="020B0603020202020204" pitchFamily="34" charset="0"/>
              <a:buChar char="•"/>
              <a:defRPr/>
            </a:pPr>
            <a:r>
              <a:rPr lang="en-US" sz="1400" err="1">
                <a:solidFill>
                  <a:schemeClr val="tx1"/>
                </a:solidFill>
                <a:latin typeface="Trebuchet MS" panose="020B0603020202020204" pitchFamily="34" charset="0"/>
                <a:cs typeface="Arial" panose="020B0604020202020204" pitchFamily="34" charset="0"/>
                <a:sym typeface="Trebuchet MS" panose="020B0603020202020204" pitchFamily="34" charset="0"/>
              </a:rPr>
              <a:t>已送達</a:t>
            </a:r>
            <a:r>
              <a:rPr kumimoji="0" lang="en-US" sz="1400" b="0" u="none" strike="noStrike" kern="1200" cap="none" spc="0" normalizeH="0" baseline="0" noProof="0" err="1">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數量</a:t>
            </a:r>
            <a:endParaRPr kumimoji="0" lang="en-US" sz="1400" b="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endParaRPr>
          </a:p>
          <a:p>
            <a:pPr marL="324000" lvl="1" indent="-216000">
              <a:buClr>
                <a:schemeClr val="tx2"/>
              </a:buClr>
              <a:buSzPct val="100000"/>
              <a:buFont typeface="Trebuchet MS" panose="020B0603020202020204" pitchFamily="34" charset="0"/>
              <a:buChar char="•"/>
              <a:defRPr/>
            </a:pPr>
            <a:r>
              <a:rPr lang="en-US" sz="1400" err="1">
                <a:solidFill>
                  <a:schemeClr val="tx1"/>
                </a:solidFill>
                <a:latin typeface="Trebuchet MS" panose="020B0603020202020204" pitchFamily="34" charset="0"/>
                <a:cs typeface="Arial" panose="020B0604020202020204" pitchFamily="34" charset="0"/>
                <a:sym typeface="Trebuchet MS" panose="020B0603020202020204" pitchFamily="34" charset="0"/>
              </a:rPr>
              <a:t>點擊率</a:t>
            </a:r>
            <a:endParaRPr kumimoji="0" lang="en-US" sz="1400" b="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endParaRPr>
          </a:p>
          <a:p>
            <a:pPr marL="324000" marR="0" lvl="1" indent="-216000" algn="l" defTabSz="914400" rtl="0" eaLnBrk="1" fontAlgn="auto" latinLnBrk="0" hangingPunct="1">
              <a:lnSpc>
                <a:spcPct val="100000"/>
              </a:lnSpc>
              <a:spcBef>
                <a:spcPts val="0"/>
              </a:spcBef>
              <a:spcAft>
                <a:spcPts val="0"/>
              </a:spcAft>
              <a:buClr>
                <a:schemeClr val="tx2"/>
              </a:buClr>
              <a:buSzPct val="100000"/>
              <a:buFont typeface="Trebuchet MS" panose="020B0603020202020204" pitchFamily="34" charset="0"/>
              <a:buChar char="•"/>
              <a:tabLst/>
              <a:defRPr/>
            </a:pPr>
            <a:r>
              <a:rPr kumimoji="0" lang="en-US" sz="1400" b="0" i="0" u="none" strike="noStrike" kern="1200" cap="none" spc="0" normalizeH="0" baseline="0" noProof="0" err="1">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開啟率</a:t>
            </a:r>
            <a:endParaRPr kumimoji="0" lang="en-US" sz="1400" b="0" i="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endParaRPr>
          </a:p>
        </p:txBody>
      </p:sp>
      <p:sp>
        <p:nvSpPr>
          <p:cNvPr id="50" name="TextBox 49">
            <a:extLst>
              <a:ext uri="{FF2B5EF4-FFF2-40B4-BE49-F238E27FC236}">
                <a16:creationId xmlns:a16="http://schemas.microsoft.com/office/drawing/2014/main" id="{30718EFB-702D-B593-497C-11443AF4A5E6}"/>
              </a:ext>
            </a:extLst>
          </p:cNvPr>
          <p:cNvSpPr txBox="1"/>
          <p:nvPr/>
        </p:nvSpPr>
        <p:spPr>
          <a:xfrm>
            <a:off x="7750807" y="3053641"/>
            <a:ext cx="1954711" cy="95410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err="1">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rPr>
              <a:t>轉換率</a:t>
            </a:r>
            <a:endParaRPr kumimoji="0" lang="en-US" sz="1400" b="1" i="0" u="none" strike="noStrike" kern="1200" cap="none" spc="0" normalizeH="0" baseline="0" noProof="0">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endParaRPr>
          </a:p>
          <a:p>
            <a:pPr marL="324000" marR="0" lvl="1" indent="-216000" algn="l" defTabSz="914400" rtl="0" eaLnBrk="1" fontAlgn="auto" latinLnBrk="0" hangingPunct="1">
              <a:lnSpc>
                <a:spcPct val="100000"/>
              </a:lnSpc>
              <a:spcBef>
                <a:spcPts val="0"/>
              </a:spcBef>
              <a:spcAft>
                <a:spcPts val="0"/>
              </a:spcAft>
              <a:buClr>
                <a:schemeClr val="tx2"/>
              </a:buClr>
              <a:buSzPct val="100000"/>
              <a:buFont typeface="Trebuchet MS" panose="020B0603020202020204" pitchFamily="34" charset="0"/>
              <a:buChar char="•"/>
              <a:tabLst/>
              <a:defRPr/>
            </a:pPr>
            <a:r>
              <a:rPr kumimoji="0" lang="en-US" sz="1400" b="0" i="0" u="none" strike="noStrike" kern="1200" cap="none" spc="0" normalizeH="0" baseline="0" noProof="0" err="1">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在#天內完成設定</a:t>
            </a:r>
            <a:r>
              <a:rPr kumimoji="0" lang="en-US" sz="1400" b="0" i="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a:t>
            </a:r>
            <a:r>
              <a:rPr kumimoji="0" lang="zh-TW" altLang="en-US" sz="1400" b="0" i="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使用服務</a:t>
            </a:r>
            <a:endParaRPr kumimoji="0" lang="en-US" sz="1400" b="0" i="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endParaRPr>
          </a:p>
          <a:p>
            <a:pPr marL="324000" marR="0" lvl="1" indent="-216000" algn="l" defTabSz="914400" rtl="0" eaLnBrk="1" fontAlgn="auto" latinLnBrk="0" hangingPunct="1">
              <a:lnSpc>
                <a:spcPct val="100000"/>
              </a:lnSpc>
              <a:spcBef>
                <a:spcPts val="0"/>
              </a:spcBef>
              <a:spcAft>
                <a:spcPts val="0"/>
              </a:spcAft>
              <a:buClr>
                <a:schemeClr val="tx2"/>
              </a:buClr>
              <a:buSzPct val="100000"/>
              <a:buFont typeface="Trebuchet MS" panose="020B0603020202020204" pitchFamily="34" charset="0"/>
              <a:buChar char="•"/>
              <a:tabLst/>
              <a:defRPr/>
            </a:pPr>
            <a:r>
              <a:rPr kumimoji="0" lang="en-US" sz="1400" b="0" i="0" u="none" strike="noStrike" kern="1200" cap="none" spc="0" normalizeH="0" baseline="0" noProof="0" err="1">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客戶重新啟動比率</a:t>
            </a:r>
            <a:endParaRPr kumimoji="0" lang="en-US" sz="1400" b="0" i="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endParaRPr>
          </a:p>
        </p:txBody>
      </p:sp>
      <p:sp>
        <p:nvSpPr>
          <p:cNvPr id="51" name="TextBox 50">
            <a:extLst>
              <a:ext uri="{FF2B5EF4-FFF2-40B4-BE49-F238E27FC236}">
                <a16:creationId xmlns:a16="http://schemas.microsoft.com/office/drawing/2014/main" id="{3DA66225-C498-3E96-4393-24CB29A54CD1}"/>
              </a:ext>
            </a:extLst>
          </p:cNvPr>
          <p:cNvSpPr txBox="1"/>
          <p:nvPr/>
        </p:nvSpPr>
        <p:spPr>
          <a:xfrm>
            <a:off x="9733722" y="3053641"/>
            <a:ext cx="1954711" cy="738664"/>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err="1">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rPr>
              <a:t>影響</a:t>
            </a:r>
            <a:r>
              <a:rPr kumimoji="0" lang="zh-TW" altLang="en-US" sz="1400" b="1" i="0" u="none" strike="noStrike" kern="1200" cap="none" spc="0" normalizeH="0" baseline="0" noProof="0">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rPr>
              <a:t>力</a:t>
            </a:r>
            <a:endParaRPr kumimoji="0" lang="en-US" sz="1400" b="1" i="0" u="none" strike="noStrike" kern="1200" cap="none" spc="0" normalizeH="0" baseline="0" noProof="0">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endParaRPr>
          </a:p>
          <a:p>
            <a:pPr marL="324000" marR="0" lvl="1" indent="-216000" algn="l" defTabSz="914400" rtl="0" eaLnBrk="1" fontAlgn="auto" latinLnBrk="0" hangingPunct="1">
              <a:lnSpc>
                <a:spcPct val="100000"/>
              </a:lnSpc>
              <a:spcBef>
                <a:spcPts val="0"/>
              </a:spcBef>
              <a:spcAft>
                <a:spcPts val="0"/>
              </a:spcAft>
              <a:buClr>
                <a:schemeClr val="tx2"/>
              </a:buClr>
              <a:buSzPct val="100000"/>
              <a:buFont typeface="Trebuchet MS" panose="020B0603020202020204" pitchFamily="34" charset="0"/>
              <a:buChar char="•"/>
              <a:tabLst/>
              <a:defRPr/>
            </a:pPr>
            <a:r>
              <a:rPr kumimoji="0" lang="en-US" sz="1400" b="0" i="0" u="none" strike="noStrike" kern="1200" cap="none" spc="0" normalizeH="0" baseline="0" noProof="0" err="1">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增加的</a:t>
            </a:r>
            <a:r>
              <a:rPr kumimoji="0" lang="zh-TW" altLang="en-US" sz="1400" b="0" i="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手續費收入</a:t>
            </a:r>
            <a:endParaRPr kumimoji="0" lang="en-US" sz="1400" b="0" i="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endParaRPr>
          </a:p>
          <a:p>
            <a:pPr marL="324000" marR="0" lvl="1" indent="-216000" algn="l" defTabSz="914400" rtl="0" eaLnBrk="1" fontAlgn="auto" latinLnBrk="0" hangingPunct="1">
              <a:lnSpc>
                <a:spcPct val="100000"/>
              </a:lnSpc>
              <a:spcBef>
                <a:spcPts val="0"/>
              </a:spcBef>
              <a:spcAft>
                <a:spcPts val="0"/>
              </a:spcAft>
              <a:buClr>
                <a:schemeClr val="tx2"/>
              </a:buClr>
              <a:buSzPct val="100000"/>
              <a:buFont typeface="Trebuchet MS" panose="020B0603020202020204" pitchFamily="34" charset="0"/>
              <a:buChar char="•"/>
              <a:tabLst/>
              <a:defRPr/>
            </a:pPr>
            <a:r>
              <a:rPr lang="en-US" sz="1400" err="1">
                <a:solidFill>
                  <a:schemeClr val="tx1"/>
                </a:solidFill>
                <a:latin typeface="Trebuchet MS" panose="020B0603020202020204" pitchFamily="34" charset="0"/>
                <a:cs typeface="Arial" panose="020B0604020202020204" pitchFamily="34" charset="0"/>
                <a:sym typeface="Trebuchet MS" panose="020B0603020202020204" pitchFamily="34" charset="0"/>
              </a:rPr>
              <a:t>增加的</a:t>
            </a:r>
            <a:r>
              <a:rPr kumimoji="0" lang="zh-TW" altLang="en-US" sz="1400" b="0" i="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平均餘額</a:t>
            </a:r>
            <a:endParaRPr kumimoji="0" lang="en-US" sz="1400" b="0" i="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endParaRPr>
          </a:p>
        </p:txBody>
      </p:sp>
      <p:sp>
        <p:nvSpPr>
          <p:cNvPr id="53" name="Title 1">
            <a:extLst>
              <a:ext uri="{FF2B5EF4-FFF2-40B4-BE49-F238E27FC236}">
                <a16:creationId xmlns:a16="http://schemas.microsoft.com/office/drawing/2014/main" id="{440A79D5-8117-1EEC-FA34-18DED70791A4}"/>
              </a:ext>
            </a:extLst>
          </p:cNvPr>
          <p:cNvSpPr txBox="1">
            <a:spLocks/>
          </p:cNvSpPr>
          <p:nvPr/>
        </p:nvSpPr>
        <p:spPr>
          <a:xfrm>
            <a:off x="5952059" y="2541827"/>
            <a:ext cx="1789610" cy="414754"/>
          </a:xfrm>
          <a:prstGeom prst="round2SameRect">
            <a:avLst/>
          </a:prstGeom>
          <a:gradFill flip="none" rotWithShape="1">
            <a:gsLst>
              <a:gs pos="0">
                <a:schemeClr val="tx2">
                  <a:alpha val="25000"/>
                </a:schemeClr>
              </a:gs>
              <a:gs pos="100000">
                <a:schemeClr val="tx2">
                  <a:alpha val="0"/>
                </a:schemeClr>
              </a:gs>
            </a:gsLst>
            <a:lin ang="5400000" scaled="1"/>
            <a:tileRect/>
          </a:gradFill>
          <a:ln w="9525" cap="rnd" cmpd="sng" algn="ctr">
            <a:gradFill flip="none" rotWithShape="1">
              <a:gsLst>
                <a:gs pos="1000">
                  <a:schemeClr val="accent1">
                    <a:lumMod val="5000"/>
                    <a:lumOff val="95000"/>
                    <a:alpha val="0"/>
                  </a:schemeClr>
                </a:gs>
                <a:gs pos="100000">
                  <a:schemeClr val="tx2"/>
                </a:gs>
              </a:gsLst>
              <a:lin ang="16200000" scaled="1"/>
              <a:tileRect/>
            </a:gra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36000" bIns="45720" numCol="1" spcCol="0" rtlCol="0" fromWordArt="0" anchor="ctr" anchorCtr="0" forceAA="0" compatLnSpc="1">
            <a:prstTxWarp prst="textNoShape">
              <a:avLst/>
            </a:prstTxWarp>
            <a:noAutofit/>
          </a:bodyPr>
          <a:lstStyle>
            <a:defPPr>
              <a:defRPr lang="en-US"/>
            </a:defPPr>
            <a:lvl1pPr algn="ctr">
              <a:lnSpc>
                <a:spcPct val="90000"/>
              </a:lnSpc>
              <a:spcAft>
                <a:spcPts val="1000"/>
              </a:spcAft>
              <a:defRPr sz="1600" b="1">
                <a:solidFill>
                  <a:schemeClr val="accent2"/>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914400" rtl="0" eaLnBrk="1" fontAlgn="auto" latinLnBrk="0" hangingPunct="1">
              <a:lnSpc>
                <a:spcPct val="90000"/>
              </a:lnSpc>
              <a:spcBef>
                <a:spcPts val="0"/>
              </a:spcBef>
              <a:spcAft>
                <a:spcPts val="1000"/>
              </a:spcAft>
              <a:buClrTx/>
              <a:buSzTx/>
              <a:buFontTx/>
              <a:buNone/>
              <a:tabLst/>
              <a:defRPr/>
            </a:pPr>
            <a:r>
              <a:rPr kumimoji="0" lang="zh-TW" altLang="en-US" sz="1400" b="1" i="0" u="none" strike="noStrike" kern="1200" cap="none" spc="0" normalizeH="0" baseline="0" noProof="0">
                <a:ln>
                  <a:noFill/>
                </a:ln>
                <a:solidFill>
                  <a:schemeClr val="tx2"/>
                </a:solidFill>
                <a:effectLst/>
                <a:uLnTx/>
                <a:uFillTx/>
                <a:latin typeface="Microsoft YaHei" panose="020B0503020204020204" pitchFamily="34" charset="-122"/>
                <a:ea typeface="Microsoft YaHei" panose="020B0503020204020204" pitchFamily="34" charset="-122"/>
                <a:sym typeface="+mn-lt"/>
              </a:rPr>
              <a:t>級別</a:t>
            </a:r>
            <a:r>
              <a:rPr kumimoji="0" lang="en-US" altLang="zh-TW" sz="1400" b="1" i="0" u="none" strike="noStrike" kern="1200" cap="none" spc="0" normalizeH="0" baseline="0" noProof="0">
                <a:ln>
                  <a:noFill/>
                </a:ln>
                <a:solidFill>
                  <a:schemeClr val="tx2"/>
                </a:solidFill>
                <a:effectLst/>
                <a:uLnTx/>
                <a:uFillTx/>
                <a:latin typeface="Microsoft YaHei" panose="020B0503020204020204" pitchFamily="34" charset="-122"/>
                <a:ea typeface="Microsoft YaHei" panose="020B0503020204020204" pitchFamily="34" charset="-122"/>
                <a:sym typeface="+mn-lt"/>
              </a:rPr>
              <a:t>1</a:t>
            </a:r>
            <a:endParaRPr kumimoji="0" lang="en-US" b="1" i="0" u="none" strike="noStrike" kern="1200" cap="none" spc="0" normalizeH="0" baseline="0" noProof="0">
              <a:ln>
                <a:noFill/>
              </a:ln>
              <a:solidFill>
                <a:schemeClr val="tx2"/>
              </a:solidFill>
              <a:effectLst/>
              <a:uLnTx/>
              <a:uFillTx/>
              <a:latin typeface="Microsoft YaHei" panose="020B0503020204020204" pitchFamily="34" charset="-122"/>
              <a:ea typeface="Microsoft YaHei" panose="020B0503020204020204" pitchFamily="34" charset="-122"/>
              <a:sym typeface="+mn-lt"/>
            </a:endParaRPr>
          </a:p>
        </p:txBody>
      </p:sp>
      <p:sp>
        <p:nvSpPr>
          <p:cNvPr id="54" name="Title 1">
            <a:extLst>
              <a:ext uri="{FF2B5EF4-FFF2-40B4-BE49-F238E27FC236}">
                <a16:creationId xmlns:a16="http://schemas.microsoft.com/office/drawing/2014/main" id="{CEE6220D-3DB8-6C82-4739-BBDEAC35969E}"/>
              </a:ext>
            </a:extLst>
          </p:cNvPr>
          <p:cNvSpPr txBox="1">
            <a:spLocks/>
          </p:cNvSpPr>
          <p:nvPr/>
        </p:nvSpPr>
        <p:spPr>
          <a:xfrm>
            <a:off x="7862900" y="2541827"/>
            <a:ext cx="1789610" cy="414754"/>
          </a:xfrm>
          <a:prstGeom prst="round2SameRect">
            <a:avLst/>
          </a:prstGeom>
          <a:gradFill flip="none" rotWithShape="1">
            <a:gsLst>
              <a:gs pos="0">
                <a:schemeClr val="tx2">
                  <a:alpha val="25000"/>
                </a:schemeClr>
              </a:gs>
              <a:gs pos="100000">
                <a:schemeClr val="tx2">
                  <a:alpha val="0"/>
                </a:schemeClr>
              </a:gs>
            </a:gsLst>
            <a:lin ang="5400000" scaled="1"/>
            <a:tileRect/>
          </a:gradFill>
          <a:ln w="9525" cap="rnd" cmpd="sng" algn="ctr">
            <a:gradFill flip="none" rotWithShape="1">
              <a:gsLst>
                <a:gs pos="1000">
                  <a:schemeClr val="accent1">
                    <a:lumMod val="5000"/>
                    <a:lumOff val="95000"/>
                    <a:alpha val="0"/>
                  </a:schemeClr>
                </a:gs>
                <a:gs pos="100000">
                  <a:schemeClr val="tx2"/>
                </a:gs>
              </a:gsLst>
              <a:lin ang="16200000" scaled="1"/>
              <a:tileRect/>
            </a:gra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36000" bIns="45720" numCol="1" spcCol="0" rtlCol="0" fromWordArt="0" anchor="ctr" anchorCtr="0" forceAA="0" compatLnSpc="1">
            <a:prstTxWarp prst="textNoShape">
              <a:avLst/>
            </a:prstTxWarp>
            <a:noAutofit/>
          </a:bodyPr>
          <a:lstStyle>
            <a:defPPr>
              <a:defRPr lang="en-US"/>
            </a:defPPr>
            <a:lvl1pPr algn="ctr">
              <a:lnSpc>
                <a:spcPct val="90000"/>
              </a:lnSpc>
              <a:spcAft>
                <a:spcPts val="1000"/>
              </a:spcAft>
              <a:defRPr sz="1600" b="1">
                <a:solidFill>
                  <a:schemeClr val="accent2"/>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914400" rtl="0" eaLnBrk="1" fontAlgn="auto" latinLnBrk="0" hangingPunct="1">
              <a:lnSpc>
                <a:spcPct val="90000"/>
              </a:lnSpc>
              <a:spcBef>
                <a:spcPts val="0"/>
              </a:spcBef>
              <a:spcAft>
                <a:spcPts val="1000"/>
              </a:spcAft>
              <a:buClrTx/>
              <a:buSzTx/>
              <a:buFontTx/>
              <a:buNone/>
              <a:tabLst/>
              <a:defRPr/>
            </a:pPr>
            <a:r>
              <a:rPr kumimoji="0" lang="zh-TW" altLang="en-US" sz="1400" b="1" i="0" u="none" strike="noStrike" kern="1200" cap="none" spc="0" normalizeH="0" baseline="0" noProof="0">
                <a:ln>
                  <a:noFill/>
                </a:ln>
                <a:solidFill>
                  <a:schemeClr val="tx2"/>
                </a:solidFill>
                <a:effectLst/>
                <a:uLnTx/>
                <a:uFillTx/>
                <a:latin typeface="Microsoft YaHei" panose="020B0503020204020204" pitchFamily="34" charset="-122"/>
                <a:ea typeface="Microsoft YaHei" panose="020B0503020204020204" pitchFamily="34" charset="-122"/>
                <a:sym typeface="+mn-lt"/>
              </a:rPr>
              <a:t>級別</a:t>
            </a:r>
            <a:r>
              <a:rPr kumimoji="0" lang="en-US" altLang="zh-TW" sz="1400" b="1" i="0" u="none" strike="noStrike" kern="1200" cap="none" spc="0" normalizeH="0" baseline="0" noProof="0">
                <a:ln>
                  <a:noFill/>
                </a:ln>
                <a:solidFill>
                  <a:schemeClr val="tx2"/>
                </a:solidFill>
                <a:effectLst/>
                <a:uLnTx/>
                <a:uFillTx/>
                <a:latin typeface="Microsoft YaHei" panose="020B0503020204020204" pitchFamily="34" charset="-122"/>
                <a:ea typeface="Microsoft YaHei" panose="020B0503020204020204" pitchFamily="34" charset="-122"/>
                <a:sym typeface="+mn-lt"/>
              </a:rPr>
              <a:t>2</a:t>
            </a:r>
            <a:endParaRPr kumimoji="0" lang="en-US" b="1" i="0" u="none" strike="noStrike" kern="1200" cap="none" spc="0" normalizeH="0" baseline="0" noProof="0">
              <a:ln>
                <a:noFill/>
              </a:ln>
              <a:solidFill>
                <a:schemeClr val="tx2"/>
              </a:solidFill>
              <a:effectLst/>
              <a:uLnTx/>
              <a:uFillTx/>
              <a:latin typeface="Microsoft YaHei" panose="020B0503020204020204" pitchFamily="34" charset="-122"/>
              <a:ea typeface="Microsoft YaHei" panose="020B0503020204020204" pitchFamily="34" charset="-122"/>
              <a:sym typeface="+mn-lt"/>
            </a:endParaRPr>
          </a:p>
        </p:txBody>
      </p:sp>
      <p:sp>
        <p:nvSpPr>
          <p:cNvPr id="55" name="Title 1">
            <a:extLst>
              <a:ext uri="{FF2B5EF4-FFF2-40B4-BE49-F238E27FC236}">
                <a16:creationId xmlns:a16="http://schemas.microsoft.com/office/drawing/2014/main" id="{F8C4AF22-8A3C-E371-ED34-AC31C50DD9A3}"/>
              </a:ext>
            </a:extLst>
          </p:cNvPr>
          <p:cNvSpPr txBox="1">
            <a:spLocks/>
          </p:cNvSpPr>
          <p:nvPr/>
        </p:nvSpPr>
        <p:spPr>
          <a:xfrm>
            <a:off x="9773740" y="2541827"/>
            <a:ext cx="1789610" cy="414754"/>
          </a:xfrm>
          <a:prstGeom prst="round2SameRect">
            <a:avLst/>
          </a:prstGeom>
          <a:gradFill flip="none" rotWithShape="1">
            <a:gsLst>
              <a:gs pos="0">
                <a:schemeClr val="tx2">
                  <a:alpha val="25000"/>
                </a:schemeClr>
              </a:gs>
              <a:gs pos="100000">
                <a:schemeClr val="tx2">
                  <a:alpha val="0"/>
                </a:schemeClr>
              </a:gs>
            </a:gsLst>
            <a:lin ang="5400000" scaled="1"/>
            <a:tileRect/>
          </a:gradFill>
          <a:ln w="9525" cap="rnd" cmpd="sng" algn="ctr">
            <a:gradFill flip="none" rotWithShape="1">
              <a:gsLst>
                <a:gs pos="1000">
                  <a:schemeClr val="accent1">
                    <a:lumMod val="5000"/>
                    <a:lumOff val="95000"/>
                    <a:alpha val="0"/>
                  </a:schemeClr>
                </a:gs>
                <a:gs pos="100000">
                  <a:schemeClr val="tx2"/>
                </a:gs>
              </a:gsLst>
              <a:lin ang="16200000" scaled="1"/>
              <a:tileRect/>
            </a:gra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36000" bIns="45720" numCol="1" spcCol="0" rtlCol="0" fromWordArt="0" anchor="ctr" anchorCtr="0" forceAA="0" compatLnSpc="1">
            <a:prstTxWarp prst="textNoShape">
              <a:avLst/>
            </a:prstTxWarp>
            <a:noAutofit/>
          </a:bodyPr>
          <a:lstStyle>
            <a:defPPr>
              <a:defRPr lang="en-US"/>
            </a:defPPr>
            <a:lvl1pPr algn="ctr">
              <a:lnSpc>
                <a:spcPct val="90000"/>
              </a:lnSpc>
              <a:spcAft>
                <a:spcPts val="1000"/>
              </a:spcAft>
              <a:defRPr sz="1600" b="1">
                <a:solidFill>
                  <a:schemeClr val="accent2"/>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914400" rtl="0" eaLnBrk="1" fontAlgn="auto" latinLnBrk="0" hangingPunct="1">
              <a:lnSpc>
                <a:spcPct val="90000"/>
              </a:lnSpc>
              <a:spcBef>
                <a:spcPts val="0"/>
              </a:spcBef>
              <a:spcAft>
                <a:spcPts val="1000"/>
              </a:spcAft>
              <a:buClrTx/>
              <a:buSzTx/>
              <a:buFontTx/>
              <a:buNone/>
              <a:tabLst/>
              <a:defRPr/>
            </a:pPr>
            <a:r>
              <a:rPr kumimoji="0" lang="zh-TW" altLang="en-US" sz="1400" b="1" i="0" u="none" strike="noStrike" kern="1200" cap="none" spc="0" normalizeH="0" baseline="0" noProof="0">
                <a:ln>
                  <a:noFill/>
                </a:ln>
                <a:solidFill>
                  <a:schemeClr val="tx2"/>
                </a:solidFill>
                <a:effectLst/>
                <a:uLnTx/>
                <a:uFillTx/>
                <a:latin typeface="Microsoft YaHei" panose="020B0503020204020204" pitchFamily="34" charset="-122"/>
                <a:ea typeface="Microsoft YaHei" panose="020B0503020204020204" pitchFamily="34" charset="-122"/>
                <a:sym typeface="+mn-lt"/>
              </a:rPr>
              <a:t>級別</a:t>
            </a:r>
            <a:r>
              <a:rPr kumimoji="0" lang="en-US" altLang="zh-TW" sz="1400" b="1" i="0" u="none" strike="noStrike" kern="1200" cap="none" spc="0" normalizeH="0" baseline="0" noProof="0">
                <a:ln>
                  <a:noFill/>
                </a:ln>
                <a:solidFill>
                  <a:schemeClr val="tx2"/>
                </a:solidFill>
                <a:effectLst/>
                <a:uLnTx/>
                <a:uFillTx/>
                <a:latin typeface="Microsoft YaHei" panose="020B0503020204020204" pitchFamily="34" charset="-122"/>
                <a:ea typeface="Microsoft YaHei" panose="020B0503020204020204" pitchFamily="34" charset="-122"/>
                <a:sym typeface="+mn-lt"/>
              </a:rPr>
              <a:t>3</a:t>
            </a:r>
            <a:endParaRPr kumimoji="0" lang="en-US" b="1" i="0" u="none" strike="noStrike" kern="1200" cap="none" spc="0" normalizeH="0" baseline="0" noProof="0">
              <a:ln>
                <a:noFill/>
              </a:ln>
              <a:solidFill>
                <a:schemeClr val="tx2"/>
              </a:solidFill>
              <a:effectLst/>
              <a:uLnTx/>
              <a:uFillTx/>
              <a:latin typeface="Microsoft YaHei" panose="020B0503020204020204" pitchFamily="34" charset="-122"/>
              <a:ea typeface="Microsoft YaHei" panose="020B0503020204020204" pitchFamily="34" charset="-122"/>
              <a:sym typeface="+mn-lt"/>
            </a:endParaRPr>
          </a:p>
        </p:txBody>
      </p:sp>
      <p:sp>
        <p:nvSpPr>
          <p:cNvPr id="56" name="TextBox 55">
            <a:extLst>
              <a:ext uri="{FF2B5EF4-FFF2-40B4-BE49-F238E27FC236}">
                <a16:creationId xmlns:a16="http://schemas.microsoft.com/office/drawing/2014/main" id="{3A4857CE-DDA9-2C16-E8D9-88B7826D44B7}"/>
              </a:ext>
            </a:extLst>
          </p:cNvPr>
          <p:cNvSpPr txBox="1"/>
          <p:nvPr/>
        </p:nvSpPr>
        <p:spPr>
          <a:xfrm>
            <a:off x="6023669" y="4430134"/>
            <a:ext cx="1954711" cy="419070"/>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TW" altLang="en-US" sz="1400" b="0" i="0" u="none" strike="noStrike" kern="1200" cap="none" spc="0" normalizeH="0" baseline="0" noProof="0">
                <a:ln>
                  <a:noFill/>
                </a:ln>
                <a:solidFill>
                  <a:srgbClr val="575757"/>
                </a:solidFill>
                <a:effectLst/>
                <a:uLnTx/>
                <a:uFillTx/>
                <a:latin typeface="Trebuchet MS" panose="020B0603020202020204" pitchFamily="34" charset="0"/>
                <a:cs typeface="Arial" panose="020B0604020202020204" pitchFamily="34" charset="0"/>
                <a:sym typeface="Trebuchet MS" panose="020B0603020202020204" pitchFamily="34" charset="0"/>
              </a:rPr>
              <a:t>發送</a:t>
            </a:r>
            <a:r>
              <a:rPr kumimoji="0" lang="en-US" sz="1400" b="0" i="0" u="none" strike="noStrike" kern="1200" cap="none" spc="0" normalizeH="0" baseline="0" noProof="0">
                <a:ln>
                  <a:noFill/>
                </a:ln>
                <a:solidFill>
                  <a:srgbClr val="575757"/>
                </a:solidFill>
                <a:effectLst/>
                <a:uLnTx/>
                <a:uFillTx/>
                <a:latin typeface="Trebuchet MS" panose="020B0603020202020204" pitchFamily="34" charset="0"/>
                <a:cs typeface="Arial" panose="020B0604020202020204" pitchFamily="34" charset="0"/>
                <a:sym typeface="Trebuchet MS" panose="020B0603020202020204" pitchFamily="34" charset="0"/>
              </a:rPr>
              <a:t>7天</a:t>
            </a:r>
            <a:r>
              <a:rPr kumimoji="0" lang="zh-TW" altLang="en-US" sz="1400" b="0" i="0" u="none" strike="noStrike" kern="1200" cap="none" spc="0" normalizeH="0" baseline="0" noProof="0">
                <a:ln>
                  <a:noFill/>
                </a:ln>
                <a:solidFill>
                  <a:srgbClr val="575757"/>
                </a:solidFill>
                <a:effectLst/>
                <a:uLnTx/>
                <a:uFillTx/>
                <a:latin typeface="Trebuchet MS" panose="020B0603020202020204" pitchFamily="34" charset="0"/>
                <a:cs typeface="Arial" panose="020B0604020202020204" pitchFamily="34" charset="0"/>
                <a:sym typeface="Trebuchet MS" panose="020B0603020202020204" pitchFamily="34" charset="0"/>
              </a:rPr>
              <a:t>內</a:t>
            </a:r>
            <a:endParaRPr kumimoji="0" lang="en-US" sz="1400" b="0" i="0" u="none" strike="noStrike" kern="1200" cap="none" spc="0" normalizeH="0" baseline="0" noProof="0">
              <a:ln>
                <a:noFill/>
              </a:ln>
              <a:solidFill>
                <a:srgbClr val="575757"/>
              </a:solidFill>
              <a:effectLst/>
              <a:uLnTx/>
              <a:uFillTx/>
              <a:latin typeface="Trebuchet MS" panose="020B0603020202020204" pitchFamily="34" charset="0"/>
              <a:cs typeface="Arial" panose="020B0604020202020204" pitchFamily="34" charset="0"/>
              <a:sym typeface="Trebuchet MS" panose="020B0603020202020204" pitchFamily="34" charset="0"/>
            </a:endParaRPr>
          </a:p>
        </p:txBody>
      </p:sp>
      <p:sp>
        <p:nvSpPr>
          <p:cNvPr id="57" name="TextBox 56">
            <a:extLst>
              <a:ext uri="{FF2B5EF4-FFF2-40B4-BE49-F238E27FC236}">
                <a16:creationId xmlns:a16="http://schemas.microsoft.com/office/drawing/2014/main" id="{5FE59FBF-CCBE-73C3-38D6-7464547607CD}"/>
              </a:ext>
            </a:extLst>
          </p:cNvPr>
          <p:cNvSpPr txBox="1"/>
          <p:nvPr/>
        </p:nvSpPr>
        <p:spPr>
          <a:xfrm>
            <a:off x="7750807" y="4430134"/>
            <a:ext cx="1954711" cy="419070"/>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TW" altLang="en-US" sz="1400" b="0" i="0" u="none" strike="noStrike" kern="1200" cap="none" spc="0" normalizeH="0" baseline="0" noProof="0">
                <a:ln>
                  <a:noFill/>
                </a:ln>
                <a:solidFill>
                  <a:srgbClr val="575757"/>
                </a:solidFill>
                <a:effectLst/>
                <a:uLnTx/>
                <a:uFillTx/>
                <a:latin typeface="Trebuchet MS" panose="020B0603020202020204" pitchFamily="34" charset="0"/>
                <a:cs typeface="Arial" panose="020B0604020202020204" pitchFamily="34" charset="0"/>
                <a:sym typeface="Trebuchet MS" panose="020B0603020202020204" pitchFamily="34" charset="0"/>
              </a:rPr>
              <a:t>發送</a:t>
            </a:r>
            <a:r>
              <a:rPr kumimoji="0" lang="en-US" sz="1400" b="0" i="0" u="none" strike="noStrike" kern="1200" cap="none" spc="0" normalizeH="0" baseline="0" noProof="0" err="1">
                <a:ln>
                  <a:noFill/>
                </a:ln>
                <a:solidFill>
                  <a:srgbClr val="575757"/>
                </a:solidFill>
                <a:effectLst/>
                <a:uLnTx/>
                <a:uFillTx/>
                <a:latin typeface="Trebuchet MS" panose="020B0603020202020204" pitchFamily="34" charset="0"/>
                <a:cs typeface="Arial" panose="020B0604020202020204" pitchFamily="34" charset="0"/>
                <a:sym typeface="Trebuchet MS" panose="020B0603020202020204" pitchFamily="34" charset="0"/>
              </a:rPr>
              <a:t>或優惠</a:t>
            </a:r>
            <a:r>
              <a:rPr kumimoji="0" lang="zh-TW" altLang="en-US" sz="1400" b="0" i="0" u="none" strike="noStrike" kern="1200" cap="none" spc="0" normalizeH="0" baseline="0" noProof="0">
                <a:ln>
                  <a:noFill/>
                </a:ln>
                <a:solidFill>
                  <a:srgbClr val="575757"/>
                </a:solidFill>
                <a:effectLst/>
                <a:uLnTx/>
                <a:uFillTx/>
                <a:latin typeface="Trebuchet MS" panose="020B0603020202020204" pitchFamily="34" charset="0"/>
                <a:cs typeface="Arial" panose="020B0604020202020204" pitchFamily="34" charset="0"/>
                <a:sym typeface="Trebuchet MS" panose="020B0603020202020204" pitchFamily="34" charset="0"/>
              </a:rPr>
              <a:t>到期日</a:t>
            </a:r>
            <a:endParaRPr kumimoji="0" lang="en-US" altLang="zh-TW" sz="1400" b="0" i="0" u="none" strike="noStrike" kern="1200" cap="none" spc="0" normalizeH="0" baseline="0" noProof="0">
              <a:ln>
                <a:noFill/>
              </a:ln>
              <a:solidFill>
                <a:srgbClr val="575757"/>
              </a:solidFill>
              <a:effectLst/>
              <a:uLnTx/>
              <a:uFillTx/>
              <a:latin typeface="Trebuchet MS" panose="020B0603020202020204" pitchFamily="34" charset="0"/>
              <a:cs typeface="Arial" panose="020B0604020202020204" pitchFamily="34" charset="0"/>
              <a:sym typeface="Trebuchet MS" panose="020B0603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TW" altLang="en-US" sz="1400" b="0" i="0" u="none" strike="noStrike" kern="1200" cap="none" spc="0" normalizeH="0" baseline="0" noProof="0">
                <a:ln>
                  <a:noFill/>
                </a:ln>
                <a:solidFill>
                  <a:srgbClr val="575757"/>
                </a:solidFill>
                <a:effectLst/>
                <a:uLnTx/>
                <a:uFillTx/>
                <a:latin typeface="Trebuchet MS" panose="020B0603020202020204" pitchFamily="34" charset="0"/>
                <a:cs typeface="Arial" panose="020B0604020202020204" pitchFamily="34" charset="0"/>
                <a:sym typeface="Trebuchet MS" panose="020B0603020202020204" pitchFamily="34" charset="0"/>
              </a:rPr>
              <a:t>後</a:t>
            </a:r>
            <a:r>
              <a:rPr kumimoji="0" lang="en-US" altLang="zh-TW" sz="1400" b="0" i="0" u="none" strike="noStrike" kern="1200" cap="none" spc="0" normalizeH="0" baseline="0" noProof="0">
                <a:ln>
                  <a:noFill/>
                </a:ln>
                <a:solidFill>
                  <a:srgbClr val="575757"/>
                </a:solidFill>
                <a:effectLst/>
                <a:uLnTx/>
                <a:uFillTx/>
                <a:latin typeface="Trebuchet MS" panose="020B0603020202020204" pitchFamily="34" charset="0"/>
                <a:cs typeface="Arial" panose="020B0604020202020204" pitchFamily="34" charset="0"/>
                <a:sym typeface="Trebuchet MS" panose="020B0603020202020204" pitchFamily="34" charset="0"/>
              </a:rPr>
              <a:t>30</a:t>
            </a:r>
            <a:r>
              <a:rPr kumimoji="0" lang="zh-TW" altLang="en-US" sz="1400" b="0" i="0" u="none" strike="noStrike" kern="1200" cap="none" spc="0" normalizeH="0" baseline="0" noProof="0">
                <a:ln>
                  <a:noFill/>
                </a:ln>
                <a:solidFill>
                  <a:srgbClr val="575757"/>
                </a:solidFill>
                <a:effectLst/>
                <a:uLnTx/>
                <a:uFillTx/>
                <a:latin typeface="Trebuchet MS" panose="020B0603020202020204" pitchFamily="34" charset="0"/>
                <a:cs typeface="Arial" panose="020B0604020202020204" pitchFamily="34" charset="0"/>
                <a:sym typeface="Trebuchet MS" panose="020B0603020202020204" pitchFamily="34" charset="0"/>
              </a:rPr>
              <a:t>天內</a:t>
            </a:r>
            <a:endParaRPr kumimoji="0" lang="en-US" sz="1400" b="0" i="0" u="none" strike="noStrike" kern="1200" cap="none" spc="0" normalizeH="0" baseline="0" noProof="0">
              <a:ln>
                <a:noFill/>
              </a:ln>
              <a:solidFill>
                <a:srgbClr val="575757"/>
              </a:solidFill>
              <a:effectLst/>
              <a:uLnTx/>
              <a:uFillTx/>
              <a:latin typeface="Trebuchet MS" panose="020B0603020202020204" pitchFamily="34" charset="0"/>
              <a:cs typeface="Arial" panose="020B0604020202020204" pitchFamily="34" charset="0"/>
              <a:sym typeface="Trebuchet MS" panose="020B0603020202020204" pitchFamily="34" charset="0"/>
            </a:endParaRPr>
          </a:p>
        </p:txBody>
      </p:sp>
      <p:sp>
        <p:nvSpPr>
          <p:cNvPr id="58" name="TextBox 57">
            <a:extLst>
              <a:ext uri="{FF2B5EF4-FFF2-40B4-BE49-F238E27FC236}">
                <a16:creationId xmlns:a16="http://schemas.microsoft.com/office/drawing/2014/main" id="{F7C3A309-1B74-EB2B-903E-F3A5E19C02C9}"/>
              </a:ext>
            </a:extLst>
          </p:cNvPr>
          <p:cNvSpPr txBox="1"/>
          <p:nvPr/>
        </p:nvSpPr>
        <p:spPr>
          <a:xfrm>
            <a:off x="9733722" y="4430134"/>
            <a:ext cx="1954711" cy="419070"/>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TW" altLang="en-US" sz="1400" b="0" i="0" u="none" strike="noStrike" kern="1200" cap="none" spc="0" normalizeH="0" baseline="0" noProof="0">
                <a:ln>
                  <a:noFill/>
                </a:ln>
                <a:solidFill>
                  <a:srgbClr val="575757"/>
                </a:solidFill>
                <a:effectLst/>
                <a:uLnTx/>
                <a:uFillTx/>
                <a:latin typeface="Trebuchet MS" panose="020B0603020202020204" pitchFamily="34" charset="0"/>
                <a:cs typeface="Arial" panose="020B0604020202020204" pitchFamily="34" charset="0"/>
                <a:sym typeface="Trebuchet MS" panose="020B0603020202020204" pitchFamily="34" charset="0"/>
              </a:rPr>
              <a:t>定期</a:t>
            </a:r>
            <a:r>
              <a:rPr lang="zh-TW" altLang="en-US" sz="1400">
                <a:solidFill>
                  <a:srgbClr val="575757"/>
                </a:solidFill>
                <a:latin typeface="Trebuchet MS" panose="020B0603020202020204" pitchFamily="34" charset="0"/>
                <a:cs typeface="Arial" panose="020B0604020202020204" pitchFamily="34" charset="0"/>
                <a:sym typeface="Trebuchet MS" panose="020B0603020202020204" pitchFamily="34" charset="0"/>
              </a:rPr>
              <a:t>追蹤</a:t>
            </a:r>
            <a:endParaRPr lang="en-US" altLang="zh-TW" sz="1400">
              <a:solidFill>
                <a:srgbClr val="575757"/>
              </a:solidFill>
              <a:latin typeface="Trebuchet MS" panose="020B0603020202020204" pitchFamily="34" charset="0"/>
              <a:cs typeface="Arial" panose="020B0604020202020204" pitchFamily="34" charset="0"/>
              <a:sym typeface="Trebuchet MS" panose="020B0603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TW" altLang="en-US" sz="1400" b="0" i="0" u="none" strike="noStrike" kern="1200" cap="none" spc="0" normalizeH="0" baseline="0" noProof="0">
                <a:ln>
                  <a:noFill/>
                </a:ln>
                <a:solidFill>
                  <a:srgbClr val="575757"/>
                </a:solidFill>
                <a:effectLst/>
                <a:uLnTx/>
                <a:uFillTx/>
                <a:latin typeface="Trebuchet MS" panose="020B0603020202020204" pitchFamily="34" charset="0"/>
                <a:cs typeface="Arial" panose="020B0604020202020204" pitchFamily="34" charset="0"/>
                <a:sym typeface="Trebuchet MS" panose="020B0603020202020204" pitchFamily="34" charset="0"/>
              </a:rPr>
              <a:t>（每半年</a:t>
            </a:r>
            <a:r>
              <a:rPr kumimoji="0" lang="en-US" altLang="zh-TW" sz="1400" b="0" i="0" u="none" strike="noStrike" kern="1200" cap="none" spc="0" normalizeH="0" baseline="0" noProof="0">
                <a:ln>
                  <a:noFill/>
                </a:ln>
                <a:solidFill>
                  <a:srgbClr val="575757"/>
                </a:solidFill>
                <a:effectLst/>
                <a:uLnTx/>
                <a:uFillTx/>
                <a:latin typeface="Trebuchet MS" panose="020B0603020202020204" pitchFamily="34" charset="0"/>
                <a:cs typeface="Arial" panose="020B0604020202020204" pitchFamily="34" charset="0"/>
                <a:sym typeface="Trebuchet MS" panose="020B0603020202020204" pitchFamily="34" charset="0"/>
              </a:rPr>
              <a:t>/</a:t>
            </a:r>
            <a:r>
              <a:rPr kumimoji="0" lang="zh-TW" altLang="en-US" sz="1400" b="0" i="0" u="none" strike="noStrike" kern="1200" cap="none" spc="0" normalizeH="0" baseline="0" noProof="0">
                <a:ln>
                  <a:noFill/>
                </a:ln>
                <a:solidFill>
                  <a:srgbClr val="575757"/>
                </a:solidFill>
                <a:effectLst/>
                <a:uLnTx/>
                <a:uFillTx/>
                <a:latin typeface="Trebuchet MS" panose="020B0603020202020204" pitchFamily="34" charset="0"/>
                <a:cs typeface="Arial" panose="020B0604020202020204" pitchFamily="34" charset="0"/>
                <a:sym typeface="Trebuchet MS" panose="020B0603020202020204" pitchFamily="34" charset="0"/>
              </a:rPr>
              <a:t>每季）</a:t>
            </a:r>
          </a:p>
        </p:txBody>
      </p:sp>
      <p:sp>
        <p:nvSpPr>
          <p:cNvPr id="60" name="IllustrativeStamp">
            <a:extLst>
              <a:ext uri="{FF2B5EF4-FFF2-40B4-BE49-F238E27FC236}">
                <a16:creationId xmlns:a16="http://schemas.microsoft.com/office/drawing/2014/main" id="{D933DD10-D947-12F0-B970-1A9F0B846045}"/>
              </a:ext>
            </a:extLst>
          </p:cNvPr>
          <p:cNvSpPr/>
          <p:nvPr/>
        </p:nvSpPr>
        <p:spPr>
          <a:xfrm>
            <a:off x="10336333" y="2089553"/>
            <a:ext cx="1225296" cy="191773"/>
          </a:xfrm>
          <a:prstGeom prst="rect">
            <a:avLst/>
          </a:prstGeom>
          <a:solidFill>
            <a:schemeClr val="tx2"/>
          </a:solidFill>
          <a:ln w="9525">
            <a:no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l"/>
            <a:r>
              <a:rPr lang="zh-TW" altLang="en-US" sz="1200">
                <a:solidFill>
                  <a:schemeClr val="bg1"/>
                </a:solidFill>
              </a:rPr>
              <a:t>示意</a:t>
            </a:r>
            <a:endParaRPr lang="en-US" sz="1200">
              <a:solidFill>
                <a:schemeClr val="bg1"/>
              </a:solidFill>
            </a:endParaRPr>
          </a:p>
        </p:txBody>
      </p:sp>
    </p:spTree>
    <p:extLst>
      <p:ext uri="{BB962C8B-B14F-4D97-AF65-F5344CB8AC3E}">
        <p14:creationId xmlns:p14="http://schemas.microsoft.com/office/powerpoint/2010/main" val="327271952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 name="think-cell data - do not delete" hidden="1">
            <a:extLst>
              <a:ext uri="{FF2B5EF4-FFF2-40B4-BE49-F238E27FC236}">
                <a16:creationId xmlns:a16="http://schemas.microsoft.com/office/drawing/2014/main" id="{D8972066-EFF8-9277-1BC0-FFCC695B9EA1}"/>
              </a:ext>
            </a:extLst>
          </p:cNvPr>
          <p:cNvGraphicFramePr>
            <a:graphicFrameLocks noChangeAspect="1"/>
          </p:cNvGraphicFramePr>
          <p:nvPr>
            <p:custDataLst>
              <p:tags r:id="rId2"/>
            </p:custDataLst>
            <p:extLst>
              <p:ext uri="{D42A27DB-BD31-4B8C-83A1-F6EECF244321}">
                <p14:modId xmlns:p14="http://schemas.microsoft.com/office/powerpoint/2010/main" val="263854607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404" imgH="405" progId="TCLayout.ActiveDocument.1">
                  <p:embed/>
                </p:oleObj>
              </mc:Choice>
              <mc:Fallback>
                <p:oleObj name="think-cell Slide" r:id="rId6" imgW="404" imgH="405" progId="TCLayout.ActiveDocument.1">
                  <p:embed/>
                  <p:pic>
                    <p:nvPicPr>
                      <p:cNvPr id="71" name="think-cell data - do not delete" hidden="1">
                        <a:extLst>
                          <a:ext uri="{FF2B5EF4-FFF2-40B4-BE49-F238E27FC236}">
                            <a16:creationId xmlns:a16="http://schemas.microsoft.com/office/drawing/2014/main" id="{D8972066-EFF8-9277-1BC0-FFCC695B9EA1}"/>
                          </a:ext>
                        </a:extLst>
                      </p:cNvPr>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48" name="TextBox 47">
            <a:extLst>
              <a:ext uri="{FF2B5EF4-FFF2-40B4-BE49-F238E27FC236}">
                <a16:creationId xmlns:a16="http://schemas.microsoft.com/office/drawing/2014/main" id="{730DBF73-16A0-4EEF-C5C2-C2287FDD018D}"/>
              </a:ext>
            </a:extLst>
          </p:cNvPr>
          <p:cNvSpPr txBox="1"/>
          <p:nvPr/>
        </p:nvSpPr>
        <p:spPr>
          <a:xfrm>
            <a:off x="6441281" y="5602725"/>
            <a:ext cx="987649" cy="784983"/>
          </a:xfrm>
          <a:prstGeom prst="rect">
            <a:avLst/>
          </a:prstGeom>
          <a:solidFill>
            <a:srgbClr val="C9E7CA"/>
          </a:solidFill>
          <a:ln w="9525" cap="flat" cmpd="sng" algn="ctr">
            <a:noFill/>
            <a:prstDash val="solid"/>
            <a:round/>
            <a:headEnd type="none" w="med" len="med"/>
            <a:tailEnd type="none" w="med" len="med"/>
          </a:ln>
          <a:effectLst/>
          <a:extLst>
            <a:ext uri="{53640926-AAD7-44D8-BBD7-CCE9431645EC}">
              <a14:shadowObscured xmlns:a14="http://schemas.microsoft.com/office/drawing/2010/main"/>
            </a:ext>
          </a:extLst>
        </p:spPr>
        <p:txBody>
          <a:bodyPr wrap="none" lIns="93761" tIns="92285" rIns="93761" bIns="92285" rtlCol="0" anchor="ctr">
            <a:noAutofit/>
          </a:bodyPr>
          <a:lstStyle/>
          <a:p>
            <a:pPr defTabSz="685800">
              <a:defRPr/>
            </a:pPr>
            <a:r>
              <a:rPr lang="zh-TW" altLang="en-US" sz="1200">
                <a:solidFill>
                  <a:srgbClr val="575757"/>
                </a:solidFill>
                <a:latin typeface="OP Chevin Pro Light"/>
                <a:ea typeface="Microsoft YaHei" panose="020B0503020204020204" pitchFamily="34" charset="-122"/>
              </a:rPr>
              <a:t>相關步驟</a:t>
            </a:r>
            <a:r>
              <a:rPr lang="en-US" altLang="zh-TW" sz="1200">
                <a:solidFill>
                  <a:srgbClr val="575757"/>
                </a:solidFill>
                <a:latin typeface="OP Chevin Pro Light"/>
                <a:ea typeface="Microsoft YaHei" panose="020B0503020204020204" pitchFamily="34" charset="-122"/>
              </a:rPr>
              <a:t>:</a:t>
            </a:r>
            <a:r>
              <a:rPr lang="zh-TW" altLang="en-US" sz="1200">
                <a:solidFill>
                  <a:srgbClr val="575757"/>
                </a:solidFill>
                <a:latin typeface="OP Chevin Pro Light"/>
                <a:ea typeface="Microsoft YaHei" panose="020B0503020204020204" pitchFamily="34" charset="-122"/>
              </a:rPr>
              <a:t>    </a:t>
            </a:r>
            <a:endParaRPr lang="fi-FI" sz="1200">
              <a:solidFill>
                <a:srgbClr val="575757"/>
              </a:solidFill>
              <a:latin typeface="OP Chevin Pro Light"/>
              <a:ea typeface="Microsoft YaHei" panose="020B0503020204020204" pitchFamily="34" charset="-122"/>
            </a:endParaRPr>
          </a:p>
        </p:txBody>
      </p:sp>
      <p:sp>
        <p:nvSpPr>
          <p:cNvPr id="152" name="矩形 55" hidden="1">
            <a:extLst>
              <a:ext uri="{FF2B5EF4-FFF2-40B4-BE49-F238E27FC236}">
                <a16:creationId xmlns:a16="http://schemas.microsoft.com/office/drawing/2014/main" id="{655B7E00-1AEB-3F73-D8A9-7C2296C38893}"/>
              </a:ext>
            </a:extLst>
          </p:cNvPr>
          <p:cNvSpPr/>
          <p:nvPr>
            <p:custDataLst>
              <p:tags r:id="rId3"/>
            </p:custDataLst>
          </p:nvPr>
        </p:nvSpPr>
        <p:spPr>
          <a:xfrm>
            <a:off x="812050" y="1419829"/>
            <a:ext cx="9876136" cy="4774849"/>
          </a:xfrm>
          <a:prstGeom prst="rect">
            <a:avLst/>
          </a:prstGeom>
          <a:solidFill>
            <a:srgbClr val="FFFFFF"/>
          </a:solidFill>
          <a:ln w="25400" cap="flat" cmpd="sng" algn="ctr">
            <a:noFill/>
            <a:prstDash val="solid"/>
          </a:ln>
          <a:effectLst>
            <a:outerShdw blurRad="63500" algn="ctr" rotWithShape="0">
              <a:schemeClr val="bg1">
                <a:lumMod val="50000"/>
                <a:alpha val="40000"/>
              </a:schemeClr>
            </a:outerShdw>
          </a:effectLst>
          <a:extLst>
            <a:ext uri="{91240B29-F687-4F45-9708-019B960494DF}">
              <a14:hiddenLine xmlns:a14="http://schemas.microsoft.com/office/drawing/2010/main" w="25400" cap="flat" cmpd="sng" algn="ctr">
                <a:solidFill>
                  <a:schemeClr val="bg1">
                    <a:lumMod val="95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3" name="Rectangle 112">
            <a:extLst>
              <a:ext uri="{FF2B5EF4-FFF2-40B4-BE49-F238E27FC236}">
                <a16:creationId xmlns:a16="http://schemas.microsoft.com/office/drawing/2014/main" id="{D790F01A-C98F-8D74-142A-1A166DEBBD80}"/>
              </a:ext>
            </a:extLst>
          </p:cNvPr>
          <p:cNvSpPr/>
          <p:nvPr/>
        </p:nvSpPr>
        <p:spPr>
          <a:xfrm>
            <a:off x="7259289" y="3963607"/>
            <a:ext cx="2578487" cy="856218"/>
          </a:xfrm>
          <a:prstGeom prst="rect">
            <a:avLst/>
          </a:prstGeom>
          <a:solidFill>
            <a:schemeClr val="bg1"/>
          </a:solidFill>
          <a:ln w="9525"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cxnSp>
        <p:nvCxnSpPr>
          <p:cNvPr id="99" name="Connector: Elbow 98">
            <a:extLst>
              <a:ext uri="{FF2B5EF4-FFF2-40B4-BE49-F238E27FC236}">
                <a16:creationId xmlns:a16="http://schemas.microsoft.com/office/drawing/2014/main" id="{A9591132-D119-9C94-5025-15DAEF046FCF}"/>
              </a:ext>
            </a:extLst>
          </p:cNvPr>
          <p:cNvCxnSpPr>
            <a:cxnSpLocks/>
            <a:stCxn id="70" idx="2"/>
            <a:endCxn id="97" idx="1"/>
          </p:cNvCxnSpPr>
          <p:nvPr/>
        </p:nvCxnSpPr>
        <p:spPr>
          <a:xfrm rot="16200000" flipH="1">
            <a:off x="2445749" y="4680809"/>
            <a:ext cx="438946" cy="759130"/>
          </a:xfrm>
          <a:prstGeom prst="bentConnector2">
            <a:avLst/>
          </a:prstGeom>
          <a:ln w="9525" cap="rnd">
            <a:solidFill>
              <a:schemeClr val="tx1">
                <a:lumMod val="60000"/>
                <a:lumOff val="40000"/>
              </a:schemeClr>
            </a:solidFill>
            <a:prstDash val="solid"/>
            <a:round/>
            <a:headEnd type="triangle"/>
            <a:tailEnd type="triangle"/>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B58460E6-C9F3-271F-4C16-C01162EA06F1}"/>
              </a:ext>
            </a:extLst>
          </p:cNvPr>
          <p:cNvSpPr txBox="1"/>
          <p:nvPr/>
        </p:nvSpPr>
        <p:spPr>
          <a:xfrm>
            <a:off x="1818763" y="4955256"/>
            <a:ext cx="1031051" cy="261610"/>
          </a:xfrm>
          <a:prstGeom prst="rect">
            <a:avLst/>
          </a:prstGeom>
          <a:solidFill>
            <a:schemeClr val="bg1"/>
          </a:solid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spAutoFit/>
          </a:bodyPr>
          <a:lstStyle/>
          <a:p>
            <a:pPr algn="ctr"/>
            <a:r>
              <a:rPr lang="zh-CN" altLang="en-US" sz="1100" b="1">
                <a:solidFill>
                  <a:srgbClr val="575757"/>
                </a:solidFill>
              </a:rPr>
              <a:t>資料採擷分析</a:t>
            </a:r>
            <a:endParaRPr lang="en-US" sz="1100" b="1">
              <a:solidFill>
                <a:srgbClr val="575757"/>
              </a:solidFill>
            </a:endParaRPr>
          </a:p>
        </p:txBody>
      </p:sp>
      <p:sp>
        <p:nvSpPr>
          <p:cNvPr id="97" name="Rectangle 96">
            <a:extLst>
              <a:ext uri="{FF2B5EF4-FFF2-40B4-BE49-F238E27FC236}">
                <a16:creationId xmlns:a16="http://schemas.microsoft.com/office/drawing/2014/main" id="{01E2AAF2-DE96-8B0A-067E-D0F54780E463}"/>
              </a:ext>
            </a:extLst>
          </p:cNvPr>
          <p:cNvSpPr/>
          <p:nvPr/>
        </p:nvSpPr>
        <p:spPr>
          <a:xfrm>
            <a:off x="3044787" y="4967632"/>
            <a:ext cx="6792989" cy="624430"/>
          </a:xfrm>
          <a:prstGeom prst="rect">
            <a:avLst/>
          </a:prstGeom>
          <a:solidFill>
            <a:srgbClr val="FFFFFF"/>
          </a:solidFill>
          <a:ln w="9525"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77" name="Rectangle 76">
            <a:extLst>
              <a:ext uri="{FF2B5EF4-FFF2-40B4-BE49-F238E27FC236}">
                <a16:creationId xmlns:a16="http://schemas.microsoft.com/office/drawing/2014/main" id="{2F762AB8-E55E-4CED-CAFB-7A58CCE29970}"/>
              </a:ext>
            </a:extLst>
          </p:cNvPr>
          <p:cNvSpPr/>
          <p:nvPr/>
        </p:nvSpPr>
        <p:spPr>
          <a:xfrm>
            <a:off x="3143015" y="2228502"/>
            <a:ext cx="3686450" cy="2307033"/>
          </a:xfrm>
          <a:prstGeom prst="rect">
            <a:avLst/>
          </a:prstGeom>
          <a:no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70" name="Rectangle 69">
            <a:extLst>
              <a:ext uri="{FF2B5EF4-FFF2-40B4-BE49-F238E27FC236}">
                <a16:creationId xmlns:a16="http://schemas.microsoft.com/office/drawing/2014/main" id="{C915F357-B2C9-2D0D-1B3A-69768107C5ED}"/>
              </a:ext>
            </a:extLst>
          </p:cNvPr>
          <p:cNvSpPr/>
          <p:nvPr/>
        </p:nvSpPr>
        <p:spPr>
          <a:xfrm>
            <a:off x="1724426" y="2354962"/>
            <a:ext cx="1122462" cy="2485939"/>
          </a:xfrm>
          <a:prstGeom prst="rect">
            <a:avLst/>
          </a:prstGeom>
          <a:no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2" name="Title 1">
            <a:extLst>
              <a:ext uri="{FF2B5EF4-FFF2-40B4-BE49-F238E27FC236}">
                <a16:creationId xmlns:a16="http://schemas.microsoft.com/office/drawing/2014/main" id="{B825C1CD-4C79-C7EE-C709-7F7AF84D7622}"/>
              </a:ext>
            </a:extLst>
          </p:cNvPr>
          <p:cNvSpPr>
            <a:spLocks noGrp="1"/>
          </p:cNvSpPr>
          <p:nvPr>
            <p:ph type="title"/>
          </p:nvPr>
        </p:nvSpPr>
        <p:spPr/>
        <p:txBody>
          <a:bodyPr vert="horz"/>
          <a:lstStyle/>
          <a:p>
            <a:r>
              <a:rPr lang="zh-TW" altLang="en-US">
                <a:solidFill>
                  <a:srgbClr val="29BA74"/>
                </a:solidFill>
                <a:ea typeface="Microsoft YaHei" panose="020B0503020204020204" pitchFamily="34" charset="-122"/>
              </a:rPr>
              <a:t>案例分享</a:t>
            </a:r>
            <a:r>
              <a:rPr lang="en-US" altLang="zh-TW">
                <a:solidFill>
                  <a:srgbClr val="29BA74"/>
                </a:solidFill>
                <a:ea typeface="Microsoft YaHei" panose="020B0503020204020204" pitchFamily="34" charset="-122"/>
              </a:rPr>
              <a:t>| </a:t>
            </a:r>
            <a:r>
              <a:rPr lang="zh-TW" altLang="en-US">
                <a:solidFill>
                  <a:srgbClr val="29BA74"/>
                </a:solidFill>
                <a:ea typeface="Microsoft YaHei" panose="020B0503020204020204" pitchFamily="34" charset="-122"/>
              </a:rPr>
              <a:t>為</a:t>
            </a:r>
            <a:r>
              <a:rPr lang="zh-CN" altLang="en-US">
                <a:solidFill>
                  <a:srgbClr val="29BA74"/>
                </a:solidFill>
                <a:ea typeface="Microsoft YaHei" panose="020B0503020204020204" pitchFamily="34" charset="-122"/>
              </a:rPr>
              <a:t>實現智慧</a:t>
            </a:r>
            <a:r>
              <a:rPr lang="zh-TW" altLang="en-US">
                <a:solidFill>
                  <a:srgbClr val="29BA74"/>
                </a:solidFill>
                <a:ea typeface="Microsoft YaHei" panose="020B0503020204020204" pitchFamily="34" charset="-122"/>
              </a:rPr>
              <a:t>個性化</a:t>
            </a:r>
            <a:r>
              <a:rPr lang="zh-CN" altLang="en-US">
                <a:solidFill>
                  <a:srgbClr val="29BA74"/>
                </a:solidFill>
                <a:ea typeface="Microsoft YaHei" panose="020B0503020204020204" pitchFamily="34" charset="-122"/>
              </a:rPr>
              <a:t>行銷布局，搭建</a:t>
            </a:r>
            <a:r>
              <a:rPr lang="zh-TW" altLang="en-US">
                <a:solidFill>
                  <a:srgbClr val="29BA74"/>
                </a:solidFill>
                <a:ea typeface="Microsoft YaHei" panose="020B0503020204020204" pitchFamily="34" charset="-122"/>
              </a:rPr>
              <a:t>端到端個性化行銷</a:t>
            </a:r>
            <a:r>
              <a:rPr lang="zh-CN" altLang="en-US">
                <a:solidFill>
                  <a:srgbClr val="29BA74"/>
                </a:solidFill>
                <a:ea typeface="Microsoft YaHei" panose="020B0503020204020204" pitchFamily="34" charset="-122"/>
              </a:rPr>
              <a:t>平台</a:t>
            </a:r>
            <a:endParaRPr lang="en-US">
              <a:solidFill>
                <a:srgbClr val="29BA74"/>
              </a:solidFill>
            </a:endParaRPr>
          </a:p>
        </p:txBody>
      </p:sp>
      <p:sp>
        <p:nvSpPr>
          <p:cNvPr id="4" name="Flowchart: Magnetic Disk 3">
            <a:extLst>
              <a:ext uri="{FF2B5EF4-FFF2-40B4-BE49-F238E27FC236}">
                <a16:creationId xmlns:a16="http://schemas.microsoft.com/office/drawing/2014/main" id="{CF41CC6A-AFE6-868B-3B7A-2604A654B82E}"/>
              </a:ext>
            </a:extLst>
          </p:cNvPr>
          <p:cNvSpPr/>
          <p:nvPr/>
        </p:nvSpPr>
        <p:spPr>
          <a:xfrm>
            <a:off x="1750345" y="2563062"/>
            <a:ext cx="1008300" cy="403860"/>
          </a:xfrm>
          <a:prstGeom prst="flowChartMagneticDisk">
            <a:avLst/>
          </a:prstGeom>
          <a:solidFill>
            <a:schemeClr val="bg2">
              <a:lumMod val="90000"/>
            </a:schemeClr>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r>
              <a:rPr lang="zh-CN" altLang="en-US" sz="1100">
                <a:solidFill>
                  <a:schemeClr val="tx1"/>
                </a:solidFill>
              </a:rPr>
              <a:t>行銷報表資料</a:t>
            </a:r>
            <a:endParaRPr lang="en-US" sz="1100">
              <a:solidFill>
                <a:schemeClr val="tx1"/>
              </a:solidFill>
            </a:endParaRPr>
          </a:p>
        </p:txBody>
      </p:sp>
      <p:sp>
        <p:nvSpPr>
          <p:cNvPr id="5" name="Flowchart: Magnetic Disk 4">
            <a:extLst>
              <a:ext uri="{FF2B5EF4-FFF2-40B4-BE49-F238E27FC236}">
                <a16:creationId xmlns:a16="http://schemas.microsoft.com/office/drawing/2014/main" id="{30B30BCA-C4CD-E49E-6CA5-B768896C9775}"/>
              </a:ext>
            </a:extLst>
          </p:cNvPr>
          <p:cNvSpPr/>
          <p:nvPr/>
        </p:nvSpPr>
        <p:spPr>
          <a:xfrm>
            <a:off x="1750345" y="3328502"/>
            <a:ext cx="1008300" cy="403860"/>
          </a:xfrm>
          <a:prstGeom prst="flowChartMagneticDisk">
            <a:avLst/>
          </a:prstGeom>
          <a:solidFill>
            <a:schemeClr val="bg2">
              <a:lumMod val="90000"/>
            </a:schemeClr>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r>
              <a:rPr lang="zh-CN" altLang="en-US" sz="1100">
                <a:solidFill>
                  <a:schemeClr val="tx1"/>
                </a:solidFill>
              </a:rPr>
              <a:t>行銷活動資料</a:t>
            </a:r>
            <a:endParaRPr lang="en-US" sz="1100">
              <a:solidFill>
                <a:schemeClr val="tx1"/>
              </a:solidFill>
            </a:endParaRPr>
          </a:p>
        </p:txBody>
      </p:sp>
      <p:sp>
        <p:nvSpPr>
          <p:cNvPr id="6" name="Flowchart: Magnetic Disk 5">
            <a:extLst>
              <a:ext uri="{FF2B5EF4-FFF2-40B4-BE49-F238E27FC236}">
                <a16:creationId xmlns:a16="http://schemas.microsoft.com/office/drawing/2014/main" id="{2E234909-ED96-7110-7835-C666B1C16362}"/>
              </a:ext>
            </a:extLst>
          </p:cNvPr>
          <p:cNvSpPr/>
          <p:nvPr/>
        </p:nvSpPr>
        <p:spPr>
          <a:xfrm>
            <a:off x="1750345" y="4093942"/>
            <a:ext cx="1008300" cy="403860"/>
          </a:xfrm>
          <a:prstGeom prst="flowChartMagneticDisk">
            <a:avLst/>
          </a:prstGeom>
          <a:solidFill>
            <a:schemeClr val="bg2">
              <a:lumMod val="90000"/>
            </a:schemeClr>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r>
              <a:rPr lang="zh-CN" altLang="en-US" sz="1100">
                <a:solidFill>
                  <a:schemeClr val="tx1"/>
                </a:solidFill>
              </a:rPr>
              <a:t>客戶分析</a:t>
            </a:r>
            <a:r>
              <a:rPr lang="zh-TW" altLang="en-US" sz="1100">
                <a:solidFill>
                  <a:schemeClr val="tx1"/>
                </a:solidFill>
              </a:rPr>
              <a:t>模型</a:t>
            </a:r>
            <a:endParaRPr lang="en-US" sz="1100">
              <a:solidFill>
                <a:schemeClr val="tx1"/>
              </a:solidFill>
            </a:endParaRPr>
          </a:p>
        </p:txBody>
      </p:sp>
      <p:sp>
        <p:nvSpPr>
          <p:cNvPr id="72" name="Rectangle 71">
            <a:extLst>
              <a:ext uri="{FF2B5EF4-FFF2-40B4-BE49-F238E27FC236}">
                <a16:creationId xmlns:a16="http://schemas.microsoft.com/office/drawing/2014/main" id="{CD54243D-83CB-65B3-892B-7264D986487E}"/>
              </a:ext>
            </a:extLst>
          </p:cNvPr>
          <p:cNvSpPr/>
          <p:nvPr/>
        </p:nvSpPr>
        <p:spPr>
          <a:xfrm>
            <a:off x="3143015" y="1246034"/>
            <a:ext cx="6694762" cy="624430"/>
          </a:xfrm>
          <a:prstGeom prst="rect">
            <a:avLst/>
          </a:prstGeom>
          <a:solidFill>
            <a:schemeClr val="bg1"/>
          </a:solidFill>
          <a:ln w="9525"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7" name="Rectangle 6">
            <a:extLst>
              <a:ext uri="{FF2B5EF4-FFF2-40B4-BE49-F238E27FC236}">
                <a16:creationId xmlns:a16="http://schemas.microsoft.com/office/drawing/2014/main" id="{05D04E2B-25EF-2606-4228-892AC9A12A6C}"/>
              </a:ext>
            </a:extLst>
          </p:cNvPr>
          <p:cNvSpPr/>
          <p:nvPr/>
        </p:nvSpPr>
        <p:spPr>
          <a:xfrm>
            <a:off x="3550492" y="1363939"/>
            <a:ext cx="1011696" cy="388620"/>
          </a:xfrm>
          <a:prstGeom prst="rect">
            <a:avLst/>
          </a:prstGeom>
          <a:solidFill>
            <a:schemeClr val="bg2">
              <a:lumMod val="9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100">
                <a:solidFill>
                  <a:schemeClr val="tx1"/>
                </a:solidFill>
              </a:rPr>
              <a:t>活動影響率</a:t>
            </a:r>
            <a:endParaRPr lang="en-US" sz="1100">
              <a:solidFill>
                <a:schemeClr val="tx1"/>
              </a:solidFill>
            </a:endParaRPr>
          </a:p>
        </p:txBody>
      </p:sp>
      <p:sp>
        <p:nvSpPr>
          <p:cNvPr id="9" name="Rectangle 8">
            <a:extLst>
              <a:ext uri="{FF2B5EF4-FFF2-40B4-BE49-F238E27FC236}">
                <a16:creationId xmlns:a16="http://schemas.microsoft.com/office/drawing/2014/main" id="{B59ADEDE-43BA-6BDC-99BE-60FCA17C2FD3}"/>
              </a:ext>
            </a:extLst>
          </p:cNvPr>
          <p:cNvSpPr/>
          <p:nvPr/>
        </p:nvSpPr>
        <p:spPr>
          <a:xfrm>
            <a:off x="4815252" y="1363939"/>
            <a:ext cx="1011696" cy="388620"/>
          </a:xfrm>
          <a:prstGeom prst="rect">
            <a:avLst/>
          </a:prstGeom>
          <a:solidFill>
            <a:schemeClr val="bg2">
              <a:lumMod val="9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100">
                <a:solidFill>
                  <a:schemeClr val="tx1"/>
                </a:solidFill>
              </a:rPr>
              <a:t>行銷成本</a:t>
            </a:r>
            <a:endParaRPr lang="en-US" sz="1100">
              <a:solidFill>
                <a:schemeClr val="tx1"/>
              </a:solidFill>
            </a:endParaRPr>
          </a:p>
        </p:txBody>
      </p:sp>
      <p:sp>
        <p:nvSpPr>
          <p:cNvPr id="10" name="Rectangle 9">
            <a:extLst>
              <a:ext uri="{FF2B5EF4-FFF2-40B4-BE49-F238E27FC236}">
                <a16:creationId xmlns:a16="http://schemas.microsoft.com/office/drawing/2014/main" id="{35C8F035-EE1D-7184-AF72-B456337D1913}"/>
              </a:ext>
            </a:extLst>
          </p:cNvPr>
          <p:cNvSpPr/>
          <p:nvPr/>
        </p:nvSpPr>
        <p:spPr>
          <a:xfrm>
            <a:off x="6080012" y="1363939"/>
            <a:ext cx="1011696" cy="388620"/>
          </a:xfrm>
          <a:prstGeom prst="rect">
            <a:avLst/>
          </a:prstGeom>
          <a:solidFill>
            <a:schemeClr val="bg2">
              <a:lumMod val="9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100">
                <a:solidFill>
                  <a:schemeClr val="tx1"/>
                </a:solidFill>
              </a:rPr>
              <a:t>活動收益</a:t>
            </a:r>
            <a:endParaRPr lang="en-US" sz="1100">
              <a:solidFill>
                <a:schemeClr val="tx1"/>
              </a:solidFill>
            </a:endParaRPr>
          </a:p>
        </p:txBody>
      </p:sp>
      <p:sp>
        <p:nvSpPr>
          <p:cNvPr id="11" name="Rectangle 10">
            <a:extLst>
              <a:ext uri="{FF2B5EF4-FFF2-40B4-BE49-F238E27FC236}">
                <a16:creationId xmlns:a16="http://schemas.microsoft.com/office/drawing/2014/main" id="{31E7DE07-6138-A746-6CBD-54F358C7FCC0}"/>
              </a:ext>
            </a:extLst>
          </p:cNvPr>
          <p:cNvSpPr/>
          <p:nvPr/>
        </p:nvSpPr>
        <p:spPr>
          <a:xfrm>
            <a:off x="7344772" y="1363939"/>
            <a:ext cx="1011696" cy="388620"/>
          </a:xfrm>
          <a:prstGeom prst="rect">
            <a:avLst/>
          </a:prstGeom>
          <a:solidFill>
            <a:schemeClr val="bg2">
              <a:lumMod val="9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100">
                <a:solidFill>
                  <a:schemeClr val="tx1"/>
                </a:solidFill>
              </a:rPr>
              <a:t>活動</a:t>
            </a:r>
            <a:r>
              <a:rPr lang="en-US" altLang="zh-CN" sz="1100">
                <a:solidFill>
                  <a:schemeClr val="tx1"/>
                </a:solidFill>
              </a:rPr>
              <a:t>ROI</a:t>
            </a:r>
            <a:endParaRPr lang="en-US" sz="1100">
              <a:solidFill>
                <a:schemeClr val="tx1"/>
              </a:solidFill>
            </a:endParaRPr>
          </a:p>
        </p:txBody>
      </p:sp>
      <p:sp>
        <p:nvSpPr>
          <p:cNvPr id="12" name="Rectangle 11">
            <a:extLst>
              <a:ext uri="{FF2B5EF4-FFF2-40B4-BE49-F238E27FC236}">
                <a16:creationId xmlns:a16="http://schemas.microsoft.com/office/drawing/2014/main" id="{D0AAD940-A9BD-F0BB-6028-0DDCF338BADF}"/>
              </a:ext>
            </a:extLst>
          </p:cNvPr>
          <p:cNvSpPr/>
          <p:nvPr/>
        </p:nvSpPr>
        <p:spPr>
          <a:xfrm>
            <a:off x="8609534" y="1363939"/>
            <a:ext cx="1011696" cy="388620"/>
          </a:xfrm>
          <a:prstGeom prst="rect">
            <a:avLst/>
          </a:prstGeom>
          <a:solidFill>
            <a:schemeClr val="bg2">
              <a:lumMod val="9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100">
                <a:solidFill>
                  <a:schemeClr val="tx1"/>
                </a:solidFill>
              </a:rPr>
              <a:t>流失率趨勢</a:t>
            </a:r>
            <a:endParaRPr lang="en-US" sz="1100">
              <a:solidFill>
                <a:schemeClr val="tx1"/>
              </a:solidFill>
            </a:endParaRPr>
          </a:p>
        </p:txBody>
      </p:sp>
      <p:sp>
        <p:nvSpPr>
          <p:cNvPr id="13" name="Rectangle 12">
            <a:extLst>
              <a:ext uri="{FF2B5EF4-FFF2-40B4-BE49-F238E27FC236}">
                <a16:creationId xmlns:a16="http://schemas.microsoft.com/office/drawing/2014/main" id="{9DB8D633-4049-6020-0284-5768534A557A}"/>
              </a:ext>
            </a:extLst>
          </p:cNvPr>
          <p:cNvSpPr/>
          <p:nvPr/>
        </p:nvSpPr>
        <p:spPr>
          <a:xfrm>
            <a:off x="3247479" y="2329647"/>
            <a:ext cx="1059180" cy="327729"/>
          </a:xfrm>
          <a:prstGeom prst="rect">
            <a:avLst/>
          </a:prstGeom>
          <a:solidFill>
            <a:schemeClr val="bg2">
              <a:lumMod val="9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100">
                <a:solidFill>
                  <a:schemeClr val="tx1"/>
                </a:solidFill>
              </a:rPr>
              <a:t>事件篩選</a:t>
            </a:r>
            <a:endParaRPr lang="en-US" sz="1100">
              <a:solidFill>
                <a:schemeClr val="tx1"/>
              </a:solidFill>
            </a:endParaRPr>
          </a:p>
        </p:txBody>
      </p:sp>
      <p:sp>
        <p:nvSpPr>
          <p:cNvPr id="14" name="Rectangle 13">
            <a:extLst>
              <a:ext uri="{FF2B5EF4-FFF2-40B4-BE49-F238E27FC236}">
                <a16:creationId xmlns:a16="http://schemas.microsoft.com/office/drawing/2014/main" id="{4C21E5FB-215D-2F6B-85D1-148FA8131541}"/>
              </a:ext>
            </a:extLst>
          </p:cNvPr>
          <p:cNvSpPr/>
          <p:nvPr/>
        </p:nvSpPr>
        <p:spPr>
          <a:xfrm>
            <a:off x="3247479" y="2772068"/>
            <a:ext cx="1059180" cy="327729"/>
          </a:xfrm>
          <a:prstGeom prst="rect">
            <a:avLst/>
          </a:prstGeom>
          <a:solidFill>
            <a:schemeClr val="bg2">
              <a:lumMod val="9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100">
                <a:solidFill>
                  <a:schemeClr val="tx1"/>
                </a:solidFill>
              </a:rPr>
              <a:t>客戶聯繫規則</a:t>
            </a:r>
            <a:endParaRPr lang="en-US" sz="1100">
              <a:solidFill>
                <a:schemeClr val="tx1"/>
              </a:solidFill>
            </a:endParaRPr>
          </a:p>
        </p:txBody>
      </p:sp>
      <p:sp>
        <p:nvSpPr>
          <p:cNvPr id="15" name="Rectangle 14">
            <a:extLst>
              <a:ext uri="{FF2B5EF4-FFF2-40B4-BE49-F238E27FC236}">
                <a16:creationId xmlns:a16="http://schemas.microsoft.com/office/drawing/2014/main" id="{0169CB13-6583-2951-F5B5-5E373FB59026}"/>
              </a:ext>
            </a:extLst>
          </p:cNvPr>
          <p:cNvSpPr/>
          <p:nvPr/>
        </p:nvSpPr>
        <p:spPr>
          <a:xfrm>
            <a:off x="3247479" y="3214488"/>
            <a:ext cx="1059180" cy="327729"/>
          </a:xfrm>
          <a:prstGeom prst="rect">
            <a:avLst/>
          </a:prstGeom>
          <a:solidFill>
            <a:schemeClr val="bg2">
              <a:lumMod val="9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100">
                <a:solidFill>
                  <a:schemeClr val="tx1"/>
                </a:solidFill>
              </a:rPr>
              <a:t>客戶</a:t>
            </a:r>
            <a:r>
              <a:rPr lang="zh-TW" altLang="en-US" sz="1100">
                <a:solidFill>
                  <a:schemeClr val="tx1"/>
                </a:solidFill>
              </a:rPr>
              <a:t>篩選 </a:t>
            </a:r>
            <a:endParaRPr lang="en-US" altLang="zh-TW" sz="1100">
              <a:solidFill>
                <a:schemeClr val="tx1"/>
              </a:solidFill>
            </a:endParaRPr>
          </a:p>
          <a:p>
            <a:pPr algn="ctr"/>
            <a:r>
              <a:rPr lang="en-US" altLang="zh-TW" sz="1100">
                <a:solidFill>
                  <a:schemeClr val="tx1"/>
                </a:solidFill>
              </a:rPr>
              <a:t>(</a:t>
            </a:r>
            <a:r>
              <a:rPr lang="zh-TW" altLang="en-US" sz="1100">
                <a:solidFill>
                  <a:schemeClr val="tx1"/>
                </a:solidFill>
              </a:rPr>
              <a:t>如</a:t>
            </a:r>
            <a:r>
              <a:rPr lang="en-US" altLang="zh-TW" sz="1100">
                <a:solidFill>
                  <a:schemeClr val="tx1"/>
                </a:solidFill>
              </a:rPr>
              <a:t>: </a:t>
            </a:r>
            <a:r>
              <a:rPr lang="zh-TW" altLang="en-US" sz="1100">
                <a:solidFill>
                  <a:schemeClr val="tx1"/>
                </a:solidFill>
              </a:rPr>
              <a:t>黑名單</a:t>
            </a:r>
            <a:r>
              <a:rPr lang="en-US" altLang="zh-TW" sz="1100">
                <a:solidFill>
                  <a:schemeClr val="tx1"/>
                </a:solidFill>
              </a:rPr>
              <a:t>)</a:t>
            </a:r>
            <a:endParaRPr lang="en-US" sz="1100">
              <a:solidFill>
                <a:schemeClr val="tx1"/>
              </a:solidFill>
            </a:endParaRPr>
          </a:p>
        </p:txBody>
      </p:sp>
      <p:sp>
        <p:nvSpPr>
          <p:cNvPr id="16" name="Rectangle 15">
            <a:extLst>
              <a:ext uri="{FF2B5EF4-FFF2-40B4-BE49-F238E27FC236}">
                <a16:creationId xmlns:a16="http://schemas.microsoft.com/office/drawing/2014/main" id="{907CA751-DB35-20A4-3589-0A8003032F9F}"/>
              </a:ext>
            </a:extLst>
          </p:cNvPr>
          <p:cNvSpPr/>
          <p:nvPr/>
        </p:nvSpPr>
        <p:spPr>
          <a:xfrm>
            <a:off x="3247479" y="3656908"/>
            <a:ext cx="1059180" cy="327729"/>
          </a:xfrm>
          <a:prstGeom prst="rect">
            <a:avLst/>
          </a:prstGeom>
          <a:solidFill>
            <a:schemeClr val="bg2">
              <a:lumMod val="9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zh-TW" sz="1100">
                <a:solidFill>
                  <a:schemeClr val="tx1"/>
                </a:solidFill>
              </a:rPr>
              <a:t>A/B</a:t>
            </a:r>
            <a:r>
              <a:rPr lang="zh-TW" altLang="en-US" sz="1100">
                <a:solidFill>
                  <a:schemeClr val="tx1"/>
                </a:solidFill>
              </a:rPr>
              <a:t>群測試</a:t>
            </a:r>
            <a:endParaRPr lang="en-US" sz="1100">
              <a:solidFill>
                <a:schemeClr val="tx1"/>
              </a:solidFill>
            </a:endParaRPr>
          </a:p>
        </p:txBody>
      </p:sp>
      <p:sp>
        <p:nvSpPr>
          <p:cNvPr id="17" name="Rectangle 16">
            <a:extLst>
              <a:ext uri="{FF2B5EF4-FFF2-40B4-BE49-F238E27FC236}">
                <a16:creationId xmlns:a16="http://schemas.microsoft.com/office/drawing/2014/main" id="{B2A5E6D6-6AC3-153E-3415-8F197EE09479}"/>
              </a:ext>
            </a:extLst>
          </p:cNvPr>
          <p:cNvSpPr/>
          <p:nvPr/>
        </p:nvSpPr>
        <p:spPr>
          <a:xfrm>
            <a:off x="3247479" y="4099329"/>
            <a:ext cx="3474720" cy="327729"/>
          </a:xfrm>
          <a:prstGeom prst="rect">
            <a:avLst/>
          </a:prstGeom>
          <a:solidFill>
            <a:schemeClr val="bg2">
              <a:lumMod val="9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100">
                <a:solidFill>
                  <a:schemeClr val="tx1"/>
                </a:solidFill>
              </a:rPr>
              <a:t>行銷活動流程管理</a:t>
            </a:r>
            <a:r>
              <a:rPr lang="zh-TW" altLang="en-US" sz="1100">
                <a:solidFill>
                  <a:schemeClr val="tx1"/>
                </a:solidFill>
              </a:rPr>
              <a:t>與行銷規範</a:t>
            </a:r>
            <a:endParaRPr lang="en-US" sz="1100">
              <a:solidFill>
                <a:schemeClr val="tx1"/>
              </a:solidFill>
            </a:endParaRPr>
          </a:p>
        </p:txBody>
      </p:sp>
      <p:sp>
        <p:nvSpPr>
          <p:cNvPr id="18" name="Rectangle 17">
            <a:extLst>
              <a:ext uri="{FF2B5EF4-FFF2-40B4-BE49-F238E27FC236}">
                <a16:creationId xmlns:a16="http://schemas.microsoft.com/office/drawing/2014/main" id="{0752CBFD-76AF-8782-CAEF-330FF1A9CB2C}"/>
              </a:ext>
            </a:extLst>
          </p:cNvPr>
          <p:cNvSpPr/>
          <p:nvPr/>
        </p:nvSpPr>
        <p:spPr>
          <a:xfrm>
            <a:off x="4557391" y="3656908"/>
            <a:ext cx="1059180" cy="327729"/>
          </a:xfrm>
          <a:prstGeom prst="rect">
            <a:avLst/>
          </a:prstGeom>
          <a:solidFill>
            <a:schemeClr val="bg2">
              <a:lumMod val="9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100">
                <a:solidFill>
                  <a:schemeClr val="tx1"/>
                </a:solidFill>
              </a:rPr>
              <a:t>名單數量控制</a:t>
            </a:r>
            <a:endParaRPr lang="en-US" sz="1100">
              <a:solidFill>
                <a:schemeClr val="tx1"/>
              </a:solidFill>
            </a:endParaRPr>
          </a:p>
        </p:txBody>
      </p:sp>
      <p:sp>
        <p:nvSpPr>
          <p:cNvPr id="19" name="Rectangle 18">
            <a:extLst>
              <a:ext uri="{FF2B5EF4-FFF2-40B4-BE49-F238E27FC236}">
                <a16:creationId xmlns:a16="http://schemas.microsoft.com/office/drawing/2014/main" id="{8D20C3A6-4BD3-95EB-CE5A-18B5F02B51FF}"/>
              </a:ext>
            </a:extLst>
          </p:cNvPr>
          <p:cNvSpPr/>
          <p:nvPr/>
        </p:nvSpPr>
        <p:spPr>
          <a:xfrm>
            <a:off x="5883812" y="2329647"/>
            <a:ext cx="350178" cy="1694783"/>
          </a:xfrm>
          <a:prstGeom prst="rect">
            <a:avLst/>
          </a:prstGeom>
          <a:solidFill>
            <a:schemeClr val="bg2">
              <a:lumMod val="9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100">
                <a:solidFill>
                  <a:schemeClr val="tx1"/>
                </a:solidFill>
              </a:rPr>
              <a:t>活動排期管理</a:t>
            </a:r>
            <a:endParaRPr lang="en-US" sz="1100">
              <a:solidFill>
                <a:schemeClr val="tx1"/>
              </a:solidFill>
            </a:endParaRPr>
          </a:p>
        </p:txBody>
      </p:sp>
      <p:sp>
        <p:nvSpPr>
          <p:cNvPr id="20" name="Rectangle 19">
            <a:extLst>
              <a:ext uri="{FF2B5EF4-FFF2-40B4-BE49-F238E27FC236}">
                <a16:creationId xmlns:a16="http://schemas.microsoft.com/office/drawing/2014/main" id="{D03D72DA-6526-C7A5-18EF-10B4D4E59456}"/>
              </a:ext>
            </a:extLst>
          </p:cNvPr>
          <p:cNvSpPr/>
          <p:nvPr/>
        </p:nvSpPr>
        <p:spPr>
          <a:xfrm>
            <a:off x="6350160" y="2329647"/>
            <a:ext cx="350178" cy="1694783"/>
          </a:xfrm>
          <a:prstGeom prst="rect">
            <a:avLst/>
          </a:prstGeom>
          <a:solidFill>
            <a:schemeClr val="bg2">
              <a:lumMod val="9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100">
                <a:solidFill>
                  <a:schemeClr val="tx1"/>
                </a:solidFill>
              </a:rPr>
              <a:t>去重</a:t>
            </a:r>
            <a:r>
              <a:rPr lang="zh-TW" altLang="en-US" sz="1100">
                <a:solidFill>
                  <a:schemeClr val="tx1"/>
                </a:solidFill>
              </a:rPr>
              <a:t>複名單</a:t>
            </a:r>
            <a:endParaRPr lang="en-US" sz="1100">
              <a:solidFill>
                <a:schemeClr val="tx1"/>
              </a:solidFill>
            </a:endParaRPr>
          </a:p>
        </p:txBody>
      </p:sp>
      <p:sp>
        <p:nvSpPr>
          <p:cNvPr id="74" name="Rectangle 73">
            <a:extLst>
              <a:ext uri="{FF2B5EF4-FFF2-40B4-BE49-F238E27FC236}">
                <a16:creationId xmlns:a16="http://schemas.microsoft.com/office/drawing/2014/main" id="{D1F4FBF9-50C8-EB86-D3C5-30A26788E0D0}"/>
              </a:ext>
            </a:extLst>
          </p:cNvPr>
          <p:cNvSpPr/>
          <p:nvPr/>
        </p:nvSpPr>
        <p:spPr>
          <a:xfrm>
            <a:off x="7228175" y="2236251"/>
            <a:ext cx="2609602" cy="1092252"/>
          </a:xfrm>
          <a:prstGeom prst="rect">
            <a:avLst/>
          </a:prstGeom>
          <a:solidFill>
            <a:schemeClr val="bg1"/>
          </a:solidFill>
          <a:ln w="9525"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21" name="Rectangle 20">
            <a:extLst>
              <a:ext uri="{FF2B5EF4-FFF2-40B4-BE49-F238E27FC236}">
                <a16:creationId xmlns:a16="http://schemas.microsoft.com/office/drawing/2014/main" id="{772E1EDE-9015-1697-540B-B7EDC907F712}"/>
              </a:ext>
            </a:extLst>
          </p:cNvPr>
          <p:cNvSpPr/>
          <p:nvPr/>
        </p:nvSpPr>
        <p:spPr>
          <a:xfrm>
            <a:off x="7287455" y="2318240"/>
            <a:ext cx="803910" cy="273367"/>
          </a:xfrm>
          <a:prstGeom prst="rect">
            <a:avLst/>
          </a:prstGeom>
          <a:solidFill>
            <a:schemeClr val="bg2">
              <a:lumMod val="9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r>
              <a:rPr lang="zh-TW" altLang="en-US" sz="1100">
                <a:solidFill>
                  <a:schemeClr val="tx1"/>
                </a:solidFill>
              </a:rPr>
              <a:t>簡訊</a:t>
            </a:r>
            <a:endParaRPr lang="en-US" sz="1100">
              <a:solidFill>
                <a:schemeClr val="tx1"/>
              </a:solidFill>
            </a:endParaRPr>
          </a:p>
        </p:txBody>
      </p:sp>
      <p:sp>
        <p:nvSpPr>
          <p:cNvPr id="22" name="Rectangle 21">
            <a:extLst>
              <a:ext uri="{FF2B5EF4-FFF2-40B4-BE49-F238E27FC236}">
                <a16:creationId xmlns:a16="http://schemas.microsoft.com/office/drawing/2014/main" id="{D7126643-7BEF-3EA8-63C9-68D3270D4E29}"/>
              </a:ext>
            </a:extLst>
          </p:cNvPr>
          <p:cNvSpPr/>
          <p:nvPr/>
        </p:nvSpPr>
        <p:spPr>
          <a:xfrm>
            <a:off x="8132407" y="2323415"/>
            <a:ext cx="803910" cy="273367"/>
          </a:xfrm>
          <a:prstGeom prst="rect">
            <a:avLst/>
          </a:prstGeom>
          <a:solidFill>
            <a:schemeClr val="bg2">
              <a:lumMod val="9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r>
              <a:rPr lang="en-US" altLang="zh-TW" sz="1100">
                <a:solidFill>
                  <a:schemeClr val="tx1"/>
                </a:solidFill>
              </a:rPr>
              <a:t>E-mail</a:t>
            </a:r>
            <a:endParaRPr lang="en-US" sz="1100">
              <a:solidFill>
                <a:schemeClr val="tx1"/>
              </a:solidFill>
            </a:endParaRPr>
          </a:p>
        </p:txBody>
      </p:sp>
      <p:sp>
        <p:nvSpPr>
          <p:cNvPr id="23" name="Rectangle 22">
            <a:extLst>
              <a:ext uri="{FF2B5EF4-FFF2-40B4-BE49-F238E27FC236}">
                <a16:creationId xmlns:a16="http://schemas.microsoft.com/office/drawing/2014/main" id="{925E8819-DF0C-319A-4710-D42C2B247ED0}"/>
              </a:ext>
            </a:extLst>
          </p:cNvPr>
          <p:cNvSpPr/>
          <p:nvPr/>
        </p:nvSpPr>
        <p:spPr>
          <a:xfrm>
            <a:off x="7287455" y="2654676"/>
            <a:ext cx="803910" cy="273367"/>
          </a:xfrm>
          <a:prstGeom prst="rect">
            <a:avLst/>
          </a:prstGeom>
          <a:solidFill>
            <a:schemeClr val="bg2">
              <a:lumMod val="9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r>
              <a:rPr lang="zh-TW" altLang="en-US" sz="1100">
                <a:solidFill>
                  <a:schemeClr val="tx1"/>
                </a:solidFill>
              </a:rPr>
              <a:t>實體信件</a:t>
            </a:r>
            <a:endParaRPr lang="en-US" sz="1100">
              <a:solidFill>
                <a:schemeClr val="tx1"/>
              </a:solidFill>
            </a:endParaRPr>
          </a:p>
        </p:txBody>
      </p:sp>
      <p:sp>
        <p:nvSpPr>
          <p:cNvPr id="24" name="Rectangle 23">
            <a:extLst>
              <a:ext uri="{FF2B5EF4-FFF2-40B4-BE49-F238E27FC236}">
                <a16:creationId xmlns:a16="http://schemas.microsoft.com/office/drawing/2014/main" id="{8FC58CF1-D546-ECF5-1226-40500F7002F9}"/>
              </a:ext>
            </a:extLst>
          </p:cNvPr>
          <p:cNvSpPr/>
          <p:nvPr/>
        </p:nvSpPr>
        <p:spPr>
          <a:xfrm>
            <a:off x="8137507" y="2661797"/>
            <a:ext cx="803910" cy="273367"/>
          </a:xfrm>
          <a:prstGeom prst="rect">
            <a:avLst/>
          </a:prstGeom>
          <a:solidFill>
            <a:schemeClr val="bg2">
              <a:lumMod val="9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r>
              <a:rPr lang="zh-CN" altLang="en-US" sz="1100">
                <a:solidFill>
                  <a:schemeClr val="tx1"/>
                </a:solidFill>
              </a:rPr>
              <a:t>帳單</a:t>
            </a:r>
            <a:endParaRPr lang="en-US" sz="1100">
              <a:solidFill>
                <a:schemeClr val="tx1"/>
              </a:solidFill>
            </a:endParaRPr>
          </a:p>
        </p:txBody>
      </p:sp>
      <p:sp>
        <p:nvSpPr>
          <p:cNvPr id="25" name="Rectangle 24">
            <a:extLst>
              <a:ext uri="{FF2B5EF4-FFF2-40B4-BE49-F238E27FC236}">
                <a16:creationId xmlns:a16="http://schemas.microsoft.com/office/drawing/2014/main" id="{A50A2136-3071-ECCE-1EBA-6B64FD8EC8D8}"/>
              </a:ext>
            </a:extLst>
          </p:cNvPr>
          <p:cNvSpPr/>
          <p:nvPr/>
        </p:nvSpPr>
        <p:spPr>
          <a:xfrm>
            <a:off x="7287455" y="2973430"/>
            <a:ext cx="803910" cy="273367"/>
          </a:xfrm>
          <a:prstGeom prst="rect">
            <a:avLst/>
          </a:prstGeom>
          <a:solidFill>
            <a:schemeClr val="bg2">
              <a:lumMod val="9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r>
              <a:rPr lang="zh-TW" altLang="en-US" sz="1100">
                <a:solidFill>
                  <a:schemeClr val="tx1"/>
                </a:solidFill>
              </a:rPr>
              <a:t>分行櫃檯</a:t>
            </a:r>
            <a:endParaRPr lang="en-US" sz="1100">
              <a:solidFill>
                <a:schemeClr val="tx1"/>
              </a:solidFill>
            </a:endParaRPr>
          </a:p>
        </p:txBody>
      </p:sp>
      <p:sp>
        <p:nvSpPr>
          <p:cNvPr id="26" name="Rectangle 25">
            <a:extLst>
              <a:ext uri="{FF2B5EF4-FFF2-40B4-BE49-F238E27FC236}">
                <a16:creationId xmlns:a16="http://schemas.microsoft.com/office/drawing/2014/main" id="{35E9A3AC-FDD1-6E61-D71F-071620943D7C}"/>
              </a:ext>
            </a:extLst>
          </p:cNvPr>
          <p:cNvSpPr/>
          <p:nvPr/>
        </p:nvSpPr>
        <p:spPr>
          <a:xfrm>
            <a:off x="8143306" y="2973430"/>
            <a:ext cx="803910" cy="273367"/>
          </a:xfrm>
          <a:prstGeom prst="rect">
            <a:avLst/>
          </a:prstGeom>
          <a:solidFill>
            <a:schemeClr val="bg2">
              <a:lumMod val="9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r>
              <a:rPr lang="zh-TW" altLang="en-US" sz="1100">
                <a:solidFill>
                  <a:schemeClr val="tx1"/>
                </a:solidFill>
              </a:rPr>
              <a:t>電話中心</a:t>
            </a:r>
            <a:endParaRPr lang="en-US" sz="1100">
              <a:solidFill>
                <a:schemeClr val="tx1"/>
              </a:solidFill>
            </a:endParaRPr>
          </a:p>
        </p:txBody>
      </p:sp>
      <p:sp>
        <p:nvSpPr>
          <p:cNvPr id="27" name="Rectangle 26">
            <a:extLst>
              <a:ext uri="{FF2B5EF4-FFF2-40B4-BE49-F238E27FC236}">
                <a16:creationId xmlns:a16="http://schemas.microsoft.com/office/drawing/2014/main" id="{0D4A0F02-A006-61E7-FE32-6507A91C532F}"/>
              </a:ext>
            </a:extLst>
          </p:cNvPr>
          <p:cNvSpPr/>
          <p:nvPr/>
        </p:nvSpPr>
        <p:spPr>
          <a:xfrm>
            <a:off x="8981915" y="2316569"/>
            <a:ext cx="803910" cy="273367"/>
          </a:xfrm>
          <a:prstGeom prst="rect">
            <a:avLst/>
          </a:prstGeom>
          <a:solidFill>
            <a:schemeClr val="bg2">
              <a:lumMod val="9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r>
              <a:rPr lang="zh-CN" altLang="en-US" sz="1100">
                <a:solidFill>
                  <a:schemeClr val="tx1"/>
                </a:solidFill>
              </a:rPr>
              <a:t>網銀</a:t>
            </a:r>
            <a:endParaRPr lang="en-US" sz="1100">
              <a:solidFill>
                <a:schemeClr val="tx1"/>
              </a:solidFill>
            </a:endParaRPr>
          </a:p>
        </p:txBody>
      </p:sp>
      <p:sp>
        <p:nvSpPr>
          <p:cNvPr id="28" name="Rectangle 27">
            <a:extLst>
              <a:ext uri="{FF2B5EF4-FFF2-40B4-BE49-F238E27FC236}">
                <a16:creationId xmlns:a16="http://schemas.microsoft.com/office/drawing/2014/main" id="{A86B4C9A-9750-21C4-99F1-5AFC175E64BE}"/>
              </a:ext>
            </a:extLst>
          </p:cNvPr>
          <p:cNvSpPr/>
          <p:nvPr/>
        </p:nvSpPr>
        <p:spPr>
          <a:xfrm>
            <a:off x="8980042" y="2661797"/>
            <a:ext cx="803910" cy="273367"/>
          </a:xfrm>
          <a:prstGeom prst="rect">
            <a:avLst/>
          </a:prstGeom>
          <a:solidFill>
            <a:schemeClr val="bg2">
              <a:lumMod val="9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r>
              <a:rPr lang="en-US" altLang="zh-CN" sz="1100">
                <a:solidFill>
                  <a:schemeClr val="tx1"/>
                </a:solidFill>
              </a:rPr>
              <a:t>ATM</a:t>
            </a:r>
            <a:endParaRPr lang="en-US" sz="1100">
              <a:solidFill>
                <a:schemeClr val="tx1"/>
              </a:solidFill>
            </a:endParaRPr>
          </a:p>
        </p:txBody>
      </p:sp>
      <p:sp>
        <p:nvSpPr>
          <p:cNvPr id="38" name="Rectangle 37">
            <a:extLst>
              <a:ext uri="{FF2B5EF4-FFF2-40B4-BE49-F238E27FC236}">
                <a16:creationId xmlns:a16="http://schemas.microsoft.com/office/drawing/2014/main" id="{7186C30D-67AE-342B-F26D-9FF916C7C063}"/>
              </a:ext>
            </a:extLst>
          </p:cNvPr>
          <p:cNvSpPr/>
          <p:nvPr/>
        </p:nvSpPr>
        <p:spPr>
          <a:xfrm>
            <a:off x="3131390" y="5085537"/>
            <a:ext cx="1011696" cy="388620"/>
          </a:xfrm>
          <a:prstGeom prst="rect">
            <a:avLst/>
          </a:prstGeom>
          <a:solidFill>
            <a:schemeClr val="bg2">
              <a:lumMod val="9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100">
                <a:solidFill>
                  <a:schemeClr val="tx1"/>
                </a:solidFill>
              </a:rPr>
              <a:t>事件分析</a:t>
            </a:r>
            <a:endParaRPr lang="en-US" sz="1100">
              <a:solidFill>
                <a:schemeClr val="tx1"/>
              </a:solidFill>
            </a:endParaRPr>
          </a:p>
        </p:txBody>
      </p:sp>
      <p:sp>
        <p:nvSpPr>
          <p:cNvPr id="39" name="Rectangle 38">
            <a:extLst>
              <a:ext uri="{FF2B5EF4-FFF2-40B4-BE49-F238E27FC236}">
                <a16:creationId xmlns:a16="http://schemas.microsoft.com/office/drawing/2014/main" id="{AD9AA2AA-8690-24BD-5A08-243AEC8C042B}"/>
              </a:ext>
            </a:extLst>
          </p:cNvPr>
          <p:cNvSpPr/>
          <p:nvPr/>
        </p:nvSpPr>
        <p:spPr>
          <a:xfrm>
            <a:off x="4227019" y="5085537"/>
            <a:ext cx="1011696" cy="388620"/>
          </a:xfrm>
          <a:prstGeom prst="rect">
            <a:avLst/>
          </a:prstGeom>
          <a:solidFill>
            <a:schemeClr val="bg2">
              <a:lumMod val="9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100">
                <a:solidFill>
                  <a:schemeClr val="tx1"/>
                </a:solidFill>
              </a:rPr>
              <a:t>客戶細分</a:t>
            </a:r>
            <a:r>
              <a:rPr lang="en-US" altLang="zh-CN" sz="1100">
                <a:solidFill>
                  <a:schemeClr val="tx1"/>
                </a:solidFill>
              </a:rPr>
              <a:t>/</a:t>
            </a:r>
          </a:p>
          <a:p>
            <a:pPr algn="ctr"/>
            <a:r>
              <a:rPr lang="zh-CN" altLang="en-US" sz="1100">
                <a:solidFill>
                  <a:schemeClr val="tx1"/>
                </a:solidFill>
              </a:rPr>
              <a:t>輪廓分析</a:t>
            </a:r>
            <a:endParaRPr lang="en-US" sz="1100">
              <a:solidFill>
                <a:schemeClr val="tx1"/>
              </a:solidFill>
            </a:endParaRPr>
          </a:p>
        </p:txBody>
      </p:sp>
      <p:sp>
        <p:nvSpPr>
          <p:cNvPr id="40" name="Rectangle 39">
            <a:extLst>
              <a:ext uri="{FF2B5EF4-FFF2-40B4-BE49-F238E27FC236}">
                <a16:creationId xmlns:a16="http://schemas.microsoft.com/office/drawing/2014/main" id="{8DBE8511-BFB5-B36A-0522-A6ACC4A34D0C}"/>
              </a:ext>
            </a:extLst>
          </p:cNvPr>
          <p:cNvSpPr/>
          <p:nvPr/>
        </p:nvSpPr>
        <p:spPr>
          <a:xfrm>
            <a:off x="5322648" y="5085537"/>
            <a:ext cx="1011696" cy="388620"/>
          </a:xfrm>
          <a:prstGeom prst="rect">
            <a:avLst/>
          </a:prstGeom>
          <a:solidFill>
            <a:schemeClr val="bg2">
              <a:lumMod val="9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100">
                <a:solidFill>
                  <a:schemeClr val="tx1"/>
                </a:solidFill>
              </a:rPr>
              <a:t>交叉</a:t>
            </a:r>
            <a:endParaRPr lang="en-US" altLang="zh-CN" sz="1100">
              <a:solidFill>
                <a:schemeClr val="tx1"/>
              </a:solidFill>
            </a:endParaRPr>
          </a:p>
          <a:p>
            <a:pPr algn="ctr"/>
            <a:r>
              <a:rPr lang="zh-CN" altLang="en-US" sz="1100">
                <a:solidFill>
                  <a:schemeClr val="tx1"/>
                </a:solidFill>
              </a:rPr>
              <a:t>銷售</a:t>
            </a:r>
            <a:endParaRPr lang="en-US" sz="1100">
              <a:solidFill>
                <a:schemeClr val="tx1"/>
              </a:solidFill>
            </a:endParaRPr>
          </a:p>
        </p:txBody>
      </p:sp>
      <p:sp>
        <p:nvSpPr>
          <p:cNvPr id="41" name="Rectangle 40">
            <a:extLst>
              <a:ext uri="{FF2B5EF4-FFF2-40B4-BE49-F238E27FC236}">
                <a16:creationId xmlns:a16="http://schemas.microsoft.com/office/drawing/2014/main" id="{DC6A6B9F-BCBB-1DE8-145A-5CF50C247BC5}"/>
              </a:ext>
            </a:extLst>
          </p:cNvPr>
          <p:cNvSpPr/>
          <p:nvPr/>
        </p:nvSpPr>
        <p:spPr>
          <a:xfrm>
            <a:off x="6418277" y="5085537"/>
            <a:ext cx="1011696" cy="388620"/>
          </a:xfrm>
          <a:prstGeom prst="rect">
            <a:avLst/>
          </a:prstGeom>
          <a:solidFill>
            <a:schemeClr val="bg2">
              <a:lumMod val="9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100">
                <a:solidFill>
                  <a:schemeClr val="tx1"/>
                </a:solidFill>
              </a:rPr>
              <a:t>客戶流失</a:t>
            </a:r>
            <a:endParaRPr lang="en-US" sz="1100">
              <a:solidFill>
                <a:schemeClr val="tx1"/>
              </a:solidFill>
            </a:endParaRPr>
          </a:p>
        </p:txBody>
      </p:sp>
      <p:sp>
        <p:nvSpPr>
          <p:cNvPr id="42" name="Rectangle 41">
            <a:extLst>
              <a:ext uri="{FF2B5EF4-FFF2-40B4-BE49-F238E27FC236}">
                <a16:creationId xmlns:a16="http://schemas.microsoft.com/office/drawing/2014/main" id="{EF55354C-DB39-13A9-28D3-95AFC211E2BE}"/>
              </a:ext>
            </a:extLst>
          </p:cNvPr>
          <p:cNvSpPr/>
          <p:nvPr/>
        </p:nvSpPr>
        <p:spPr>
          <a:xfrm>
            <a:off x="7513906" y="5085537"/>
            <a:ext cx="1011696" cy="388620"/>
          </a:xfrm>
          <a:prstGeom prst="rect">
            <a:avLst/>
          </a:prstGeom>
          <a:solidFill>
            <a:schemeClr val="bg2">
              <a:lumMod val="9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100">
                <a:solidFill>
                  <a:schemeClr val="tx1"/>
                </a:solidFill>
              </a:rPr>
              <a:t>客戶價值（</a:t>
            </a:r>
            <a:r>
              <a:rPr lang="en-US" altLang="zh-CN" sz="1100">
                <a:solidFill>
                  <a:schemeClr val="tx1"/>
                </a:solidFill>
              </a:rPr>
              <a:t>LTV</a:t>
            </a:r>
            <a:r>
              <a:rPr lang="en-US" altLang="zh-CN" sz="1100" baseline="30000">
                <a:solidFill>
                  <a:schemeClr val="tx1"/>
                </a:solidFill>
              </a:rPr>
              <a:t>1</a:t>
            </a:r>
            <a:r>
              <a:rPr lang="zh-CN" altLang="en-US" sz="1100">
                <a:solidFill>
                  <a:schemeClr val="tx1"/>
                </a:solidFill>
              </a:rPr>
              <a:t>）</a:t>
            </a:r>
            <a:endParaRPr lang="en-US" sz="1100">
              <a:solidFill>
                <a:schemeClr val="tx1"/>
              </a:solidFill>
            </a:endParaRPr>
          </a:p>
        </p:txBody>
      </p:sp>
      <p:sp>
        <p:nvSpPr>
          <p:cNvPr id="43" name="Rectangle 42">
            <a:extLst>
              <a:ext uri="{FF2B5EF4-FFF2-40B4-BE49-F238E27FC236}">
                <a16:creationId xmlns:a16="http://schemas.microsoft.com/office/drawing/2014/main" id="{11E317B9-58B4-7373-2A97-5D6688506933}"/>
              </a:ext>
            </a:extLst>
          </p:cNvPr>
          <p:cNvSpPr/>
          <p:nvPr/>
        </p:nvSpPr>
        <p:spPr>
          <a:xfrm>
            <a:off x="8609534" y="5085537"/>
            <a:ext cx="1011696" cy="388620"/>
          </a:xfrm>
          <a:prstGeom prst="rect">
            <a:avLst/>
          </a:prstGeom>
          <a:solidFill>
            <a:schemeClr val="bg2">
              <a:lumMod val="9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100">
                <a:solidFill>
                  <a:schemeClr val="tx1"/>
                </a:solidFill>
              </a:rPr>
              <a:t>管道偏好</a:t>
            </a:r>
            <a:r>
              <a:rPr lang="en-US" altLang="zh-CN" sz="1100">
                <a:solidFill>
                  <a:schemeClr val="tx1"/>
                </a:solidFill>
              </a:rPr>
              <a:t>/</a:t>
            </a:r>
          </a:p>
          <a:p>
            <a:pPr algn="ctr"/>
            <a:r>
              <a:rPr lang="zh-CN" altLang="en-US" sz="1100">
                <a:solidFill>
                  <a:schemeClr val="tx1"/>
                </a:solidFill>
              </a:rPr>
              <a:t>禮品敏感度</a:t>
            </a:r>
            <a:r>
              <a:rPr lang="en-US" altLang="zh-CN" sz="1100">
                <a:solidFill>
                  <a:schemeClr val="tx1"/>
                </a:solidFill>
              </a:rPr>
              <a:t>…</a:t>
            </a:r>
            <a:endParaRPr lang="en-US" sz="1100">
              <a:solidFill>
                <a:schemeClr val="tx1"/>
              </a:solidFill>
            </a:endParaRPr>
          </a:p>
        </p:txBody>
      </p:sp>
      <p:cxnSp>
        <p:nvCxnSpPr>
          <p:cNvPr id="45" name="Straight Arrow Connector 44">
            <a:extLst>
              <a:ext uri="{FF2B5EF4-FFF2-40B4-BE49-F238E27FC236}">
                <a16:creationId xmlns:a16="http://schemas.microsoft.com/office/drawing/2014/main" id="{5B15132F-CE39-6E6D-E2A7-D0C9FC4E0782}"/>
              </a:ext>
            </a:extLst>
          </p:cNvPr>
          <p:cNvCxnSpPr>
            <a:stCxn id="4" idx="3"/>
            <a:endCxn id="5" idx="1"/>
          </p:cNvCxnSpPr>
          <p:nvPr/>
        </p:nvCxnSpPr>
        <p:spPr>
          <a:xfrm>
            <a:off x="2254495" y="2966922"/>
            <a:ext cx="0" cy="361580"/>
          </a:xfrm>
          <a:prstGeom prst="straightConnector1">
            <a:avLst/>
          </a:prstGeom>
          <a:ln w="9525" cap="rnd">
            <a:solidFill>
              <a:schemeClr val="tx1">
                <a:lumMod val="60000"/>
                <a:lumOff val="40000"/>
              </a:schemeClr>
            </a:solidFill>
            <a:prstDash val="solid"/>
            <a:round/>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6" name="Straight Arrow Connector 45">
            <a:extLst>
              <a:ext uri="{FF2B5EF4-FFF2-40B4-BE49-F238E27FC236}">
                <a16:creationId xmlns:a16="http://schemas.microsoft.com/office/drawing/2014/main" id="{0A16DFD2-9F0C-7197-6D68-223B15FA0734}"/>
              </a:ext>
            </a:extLst>
          </p:cNvPr>
          <p:cNvCxnSpPr>
            <a:cxnSpLocks/>
            <a:stCxn id="5" idx="3"/>
            <a:endCxn id="6" idx="1"/>
          </p:cNvCxnSpPr>
          <p:nvPr/>
        </p:nvCxnSpPr>
        <p:spPr>
          <a:xfrm>
            <a:off x="2254495" y="3732362"/>
            <a:ext cx="0" cy="361580"/>
          </a:xfrm>
          <a:prstGeom prst="straightConnector1">
            <a:avLst/>
          </a:prstGeom>
          <a:ln w="9525" cap="rnd">
            <a:solidFill>
              <a:schemeClr val="tx1">
                <a:lumMod val="60000"/>
                <a:lumOff val="40000"/>
              </a:schemeClr>
            </a:solidFill>
            <a:prstDash val="solid"/>
            <a:round/>
            <a:headEnd type="triangle"/>
            <a:tailEnd type="triangle"/>
          </a:ln>
        </p:spPr>
        <p:style>
          <a:lnRef idx="1">
            <a:schemeClr val="accent1"/>
          </a:lnRef>
          <a:fillRef idx="0">
            <a:schemeClr val="accent1"/>
          </a:fillRef>
          <a:effectRef idx="0">
            <a:schemeClr val="accent1"/>
          </a:effectRef>
          <a:fontRef idx="minor">
            <a:schemeClr val="tx1"/>
          </a:fontRef>
        </p:style>
      </p:cxnSp>
      <p:sp>
        <p:nvSpPr>
          <p:cNvPr id="49" name="TextBox 48">
            <a:extLst>
              <a:ext uri="{FF2B5EF4-FFF2-40B4-BE49-F238E27FC236}">
                <a16:creationId xmlns:a16="http://schemas.microsoft.com/office/drawing/2014/main" id="{5857F019-644A-39F4-323F-D7AF423A8A3D}"/>
              </a:ext>
            </a:extLst>
          </p:cNvPr>
          <p:cNvSpPr txBox="1"/>
          <p:nvPr/>
        </p:nvSpPr>
        <p:spPr>
          <a:xfrm>
            <a:off x="2009263" y="1223763"/>
            <a:ext cx="748923" cy="261610"/>
          </a:xfrm>
          <a:prstGeom prst="rect">
            <a:avLst/>
          </a:prstGeom>
          <a:solidFill>
            <a:schemeClr val="bg1"/>
          </a:solid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spAutoFit/>
          </a:bodyPr>
          <a:lstStyle/>
          <a:p>
            <a:pPr algn="ctr"/>
            <a:r>
              <a:rPr lang="zh-CN" altLang="en-US" sz="1100" b="1">
                <a:solidFill>
                  <a:srgbClr val="575757"/>
                </a:solidFill>
              </a:rPr>
              <a:t>行銷報表</a:t>
            </a:r>
            <a:endParaRPr lang="en-US" sz="1100" b="1">
              <a:solidFill>
                <a:srgbClr val="575757"/>
              </a:solidFill>
            </a:endParaRPr>
          </a:p>
        </p:txBody>
      </p:sp>
      <p:sp>
        <p:nvSpPr>
          <p:cNvPr id="51" name="TextBox 50">
            <a:extLst>
              <a:ext uri="{FF2B5EF4-FFF2-40B4-BE49-F238E27FC236}">
                <a16:creationId xmlns:a16="http://schemas.microsoft.com/office/drawing/2014/main" id="{58CD04A0-F001-802A-5A87-97D2075A6086}"/>
              </a:ext>
            </a:extLst>
          </p:cNvPr>
          <p:cNvSpPr txBox="1"/>
          <p:nvPr/>
        </p:nvSpPr>
        <p:spPr>
          <a:xfrm>
            <a:off x="4430956" y="1966676"/>
            <a:ext cx="1353256" cy="261610"/>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spAutoFit/>
          </a:bodyPr>
          <a:lstStyle/>
          <a:p>
            <a:pPr algn="ctr"/>
            <a:r>
              <a:rPr lang="zh-CN" altLang="en-US" sz="1100" b="1">
                <a:solidFill>
                  <a:srgbClr val="575757"/>
                </a:solidFill>
              </a:rPr>
              <a:t>事件行銷互動管理</a:t>
            </a:r>
            <a:endParaRPr lang="en-US" sz="1100" b="1">
              <a:solidFill>
                <a:srgbClr val="575757"/>
              </a:solidFill>
            </a:endParaRPr>
          </a:p>
        </p:txBody>
      </p:sp>
      <p:sp>
        <p:nvSpPr>
          <p:cNvPr id="54" name="TextBox 53">
            <a:extLst>
              <a:ext uri="{FF2B5EF4-FFF2-40B4-BE49-F238E27FC236}">
                <a16:creationId xmlns:a16="http://schemas.microsoft.com/office/drawing/2014/main" id="{FE91FE6A-A3E9-3FD5-EE33-5145315ADA5A}"/>
              </a:ext>
            </a:extLst>
          </p:cNvPr>
          <p:cNvSpPr txBox="1"/>
          <p:nvPr/>
        </p:nvSpPr>
        <p:spPr>
          <a:xfrm>
            <a:off x="7439261" y="3651463"/>
            <a:ext cx="1172116" cy="261610"/>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spAutoFit/>
          </a:bodyPr>
          <a:lstStyle/>
          <a:p>
            <a:pPr algn="ctr"/>
            <a:r>
              <a:rPr lang="zh-CN" altLang="en-US" sz="1100" b="1">
                <a:solidFill>
                  <a:srgbClr val="575757"/>
                </a:solidFill>
              </a:rPr>
              <a:t>接觸點事件</a:t>
            </a:r>
            <a:r>
              <a:rPr lang="zh-TW" altLang="en-US" sz="1100" b="1">
                <a:solidFill>
                  <a:srgbClr val="575757"/>
                </a:solidFill>
              </a:rPr>
              <a:t>管理</a:t>
            </a:r>
            <a:endParaRPr lang="en-US" sz="1100" b="1">
              <a:solidFill>
                <a:srgbClr val="575757"/>
              </a:solidFill>
            </a:endParaRPr>
          </a:p>
        </p:txBody>
      </p:sp>
      <p:sp>
        <p:nvSpPr>
          <p:cNvPr id="62" name="Oval 20">
            <a:extLst>
              <a:ext uri="{FF2B5EF4-FFF2-40B4-BE49-F238E27FC236}">
                <a16:creationId xmlns:a16="http://schemas.microsoft.com/office/drawing/2014/main" id="{0AA27BCF-0B55-D1DC-9639-E3BC36F49E6F}"/>
              </a:ext>
            </a:extLst>
          </p:cNvPr>
          <p:cNvSpPr>
            <a:spLocks noChangeAspect="1" noChangeArrowheads="1"/>
          </p:cNvSpPr>
          <p:nvPr/>
        </p:nvSpPr>
        <p:spPr bwMode="auto">
          <a:xfrm>
            <a:off x="2726098" y="1251519"/>
            <a:ext cx="207678" cy="207678"/>
          </a:xfrm>
          <a:prstGeom prst="ellipse">
            <a:avLst/>
          </a:prstGeom>
          <a:solidFill>
            <a:srgbClr val="29BA74"/>
          </a:solidFill>
          <a:ln>
            <a:noFill/>
          </a:ln>
        </p:spPr>
        <p:txBody>
          <a:bodyPr vert="horz" wrap="square" lIns="0" tIns="0" rIns="0" bIns="0" numCol="1" anchor="ctr" anchorCtr="0" compatLnSpc="1">
            <a:prstTxWarp prst="textNoShape">
              <a:avLst/>
            </a:prstTxWarp>
          </a:bodyPr>
          <a:lstStyle/>
          <a:p>
            <a:pPr algn="ctr"/>
            <a:r>
              <a:rPr lang="en-US" sz="1050">
                <a:solidFill>
                  <a:schemeClr val="bg1"/>
                </a:solidFill>
              </a:rPr>
              <a:t>7</a:t>
            </a:r>
          </a:p>
        </p:txBody>
      </p:sp>
      <p:sp>
        <p:nvSpPr>
          <p:cNvPr id="63" name="Oval 20">
            <a:extLst>
              <a:ext uri="{FF2B5EF4-FFF2-40B4-BE49-F238E27FC236}">
                <a16:creationId xmlns:a16="http://schemas.microsoft.com/office/drawing/2014/main" id="{D76B764E-5548-42D6-15C6-71997C7E1B5A}"/>
              </a:ext>
            </a:extLst>
          </p:cNvPr>
          <p:cNvSpPr>
            <a:spLocks noChangeAspect="1" noChangeArrowheads="1"/>
          </p:cNvSpPr>
          <p:nvPr/>
        </p:nvSpPr>
        <p:spPr bwMode="auto">
          <a:xfrm>
            <a:off x="4249216" y="1966676"/>
            <a:ext cx="207678" cy="207678"/>
          </a:xfrm>
          <a:prstGeom prst="ellipse">
            <a:avLst/>
          </a:prstGeom>
          <a:solidFill>
            <a:srgbClr val="29BA74"/>
          </a:solidFill>
          <a:ln>
            <a:noFill/>
          </a:ln>
        </p:spPr>
        <p:txBody>
          <a:bodyPr vert="horz" wrap="square" lIns="0" tIns="0" rIns="0" bIns="0" numCol="1" anchor="ctr" anchorCtr="0" compatLnSpc="1">
            <a:prstTxWarp prst="textNoShape">
              <a:avLst/>
            </a:prstTxWarp>
          </a:bodyPr>
          <a:lstStyle/>
          <a:p>
            <a:pPr algn="ctr"/>
            <a:r>
              <a:rPr lang="en-US" sz="1050">
                <a:solidFill>
                  <a:schemeClr val="bg1"/>
                </a:solidFill>
              </a:rPr>
              <a:t>3</a:t>
            </a:r>
          </a:p>
        </p:txBody>
      </p:sp>
      <p:sp>
        <p:nvSpPr>
          <p:cNvPr id="65" name="Oval 20">
            <a:extLst>
              <a:ext uri="{FF2B5EF4-FFF2-40B4-BE49-F238E27FC236}">
                <a16:creationId xmlns:a16="http://schemas.microsoft.com/office/drawing/2014/main" id="{BAD6B5A1-C6C4-F601-D368-3E032898661B}"/>
              </a:ext>
            </a:extLst>
          </p:cNvPr>
          <p:cNvSpPr>
            <a:spLocks noChangeAspect="1" noChangeArrowheads="1"/>
          </p:cNvSpPr>
          <p:nvPr/>
        </p:nvSpPr>
        <p:spPr bwMode="auto">
          <a:xfrm>
            <a:off x="7276585" y="3678428"/>
            <a:ext cx="207678" cy="207678"/>
          </a:xfrm>
          <a:prstGeom prst="ellipse">
            <a:avLst/>
          </a:prstGeom>
          <a:solidFill>
            <a:srgbClr val="29BA74"/>
          </a:solidFill>
          <a:ln>
            <a:noFill/>
          </a:ln>
        </p:spPr>
        <p:txBody>
          <a:bodyPr vert="horz" wrap="square" lIns="0" tIns="0" rIns="0" bIns="0" numCol="1" anchor="ctr" anchorCtr="0" compatLnSpc="1">
            <a:prstTxWarp prst="textNoShape">
              <a:avLst/>
            </a:prstTxWarp>
          </a:bodyPr>
          <a:lstStyle/>
          <a:p>
            <a:pPr algn="ctr"/>
            <a:r>
              <a:rPr lang="en-US" sz="1050">
                <a:solidFill>
                  <a:schemeClr val="bg1"/>
                </a:solidFill>
              </a:rPr>
              <a:t>5</a:t>
            </a:r>
          </a:p>
        </p:txBody>
      </p:sp>
      <p:sp>
        <p:nvSpPr>
          <p:cNvPr id="66" name="Oval 20">
            <a:extLst>
              <a:ext uri="{FF2B5EF4-FFF2-40B4-BE49-F238E27FC236}">
                <a16:creationId xmlns:a16="http://schemas.microsoft.com/office/drawing/2014/main" id="{AA658E0F-97F4-F2B1-6C91-B2C3345CACD9}"/>
              </a:ext>
            </a:extLst>
          </p:cNvPr>
          <p:cNvSpPr>
            <a:spLocks noChangeAspect="1" noChangeArrowheads="1"/>
          </p:cNvSpPr>
          <p:nvPr/>
        </p:nvSpPr>
        <p:spPr bwMode="auto">
          <a:xfrm>
            <a:off x="7225800" y="1966676"/>
            <a:ext cx="207678" cy="207678"/>
          </a:xfrm>
          <a:prstGeom prst="ellipse">
            <a:avLst/>
          </a:prstGeom>
          <a:solidFill>
            <a:srgbClr val="29BA74"/>
          </a:solidFill>
          <a:ln>
            <a:noFill/>
          </a:ln>
        </p:spPr>
        <p:txBody>
          <a:bodyPr vert="horz" wrap="square" lIns="0" tIns="0" rIns="0" bIns="0" numCol="1" anchor="ctr" anchorCtr="0" compatLnSpc="1">
            <a:prstTxWarp prst="textNoShape">
              <a:avLst/>
            </a:prstTxWarp>
          </a:bodyPr>
          <a:lstStyle/>
          <a:p>
            <a:pPr algn="ctr"/>
            <a:r>
              <a:rPr lang="en-US" sz="1050">
                <a:solidFill>
                  <a:schemeClr val="bg1"/>
                </a:solidFill>
              </a:rPr>
              <a:t>4</a:t>
            </a:r>
          </a:p>
        </p:txBody>
      </p:sp>
      <p:sp>
        <p:nvSpPr>
          <p:cNvPr id="67" name="Oval 20">
            <a:extLst>
              <a:ext uri="{FF2B5EF4-FFF2-40B4-BE49-F238E27FC236}">
                <a16:creationId xmlns:a16="http://schemas.microsoft.com/office/drawing/2014/main" id="{22BCA4BB-AF36-1CC4-559C-9B8DF12DE7CA}"/>
              </a:ext>
            </a:extLst>
          </p:cNvPr>
          <p:cNvSpPr>
            <a:spLocks noChangeAspect="1" noChangeArrowheads="1"/>
          </p:cNvSpPr>
          <p:nvPr/>
        </p:nvSpPr>
        <p:spPr bwMode="auto">
          <a:xfrm>
            <a:off x="2768337" y="4981698"/>
            <a:ext cx="207678" cy="207678"/>
          </a:xfrm>
          <a:prstGeom prst="ellipse">
            <a:avLst/>
          </a:prstGeom>
          <a:solidFill>
            <a:srgbClr val="29BA74"/>
          </a:solidFill>
          <a:ln>
            <a:noFill/>
          </a:ln>
        </p:spPr>
        <p:txBody>
          <a:bodyPr vert="horz" wrap="square" lIns="0" tIns="0" rIns="0" bIns="0" numCol="1" anchor="ctr" anchorCtr="0" compatLnSpc="1">
            <a:prstTxWarp prst="textNoShape">
              <a:avLst/>
            </a:prstTxWarp>
          </a:bodyPr>
          <a:lstStyle/>
          <a:p>
            <a:pPr algn="ctr"/>
            <a:r>
              <a:rPr lang="en-US" sz="1050">
                <a:solidFill>
                  <a:schemeClr val="bg1"/>
                </a:solidFill>
              </a:rPr>
              <a:t>2</a:t>
            </a:r>
          </a:p>
        </p:txBody>
      </p:sp>
      <p:cxnSp>
        <p:nvCxnSpPr>
          <p:cNvPr id="76" name="Connector: Elbow 75">
            <a:extLst>
              <a:ext uri="{FF2B5EF4-FFF2-40B4-BE49-F238E27FC236}">
                <a16:creationId xmlns:a16="http://schemas.microsoft.com/office/drawing/2014/main" id="{1AFCECA3-8739-3F0F-747F-531F2D85A589}"/>
              </a:ext>
            </a:extLst>
          </p:cNvPr>
          <p:cNvCxnSpPr>
            <a:cxnSpLocks/>
            <a:stCxn id="70" idx="0"/>
            <a:endCxn id="72" idx="1"/>
          </p:cNvCxnSpPr>
          <p:nvPr/>
        </p:nvCxnSpPr>
        <p:spPr>
          <a:xfrm rot="5400000" flipH="1" flipV="1">
            <a:off x="2315980" y="1527927"/>
            <a:ext cx="796713" cy="857358"/>
          </a:xfrm>
          <a:prstGeom prst="bentConnector2">
            <a:avLst/>
          </a:prstGeom>
          <a:ln w="9525" cap="rnd">
            <a:solidFill>
              <a:schemeClr val="tx1">
                <a:lumMod val="60000"/>
                <a:lumOff val="40000"/>
              </a:schemeClr>
            </a:solidFill>
            <a:prstDash val="solid"/>
            <a:round/>
            <a:tailEnd type="triangle"/>
          </a:ln>
        </p:spPr>
        <p:style>
          <a:lnRef idx="1">
            <a:schemeClr val="accent1"/>
          </a:lnRef>
          <a:fillRef idx="0">
            <a:schemeClr val="accent1"/>
          </a:fillRef>
          <a:effectRef idx="0">
            <a:schemeClr val="accent1"/>
          </a:effectRef>
          <a:fontRef idx="minor">
            <a:schemeClr val="tx1"/>
          </a:fontRef>
        </p:style>
      </p:cxnSp>
      <p:sp>
        <p:nvSpPr>
          <p:cNvPr id="50" name="TextBox 49">
            <a:extLst>
              <a:ext uri="{FF2B5EF4-FFF2-40B4-BE49-F238E27FC236}">
                <a16:creationId xmlns:a16="http://schemas.microsoft.com/office/drawing/2014/main" id="{99EAA20F-8962-CD9D-5A79-395DDAD3ACF0}"/>
              </a:ext>
            </a:extLst>
          </p:cNvPr>
          <p:cNvSpPr txBox="1"/>
          <p:nvPr/>
        </p:nvSpPr>
        <p:spPr>
          <a:xfrm>
            <a:off x="1799794" y="2138628"/>
            <a:ext cx="1037465" cy="186206"/>
          </a:xfrm>
          <a:prstGeom prst="rect">
            <a:avLst/>
          </a:prstGeom>
          <a:no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noAutofit/>
          </a:bodyPr>
          <a:lstStyle/>
          <a:p>
            <a:pPr algn="ctr"/>
            <a:r>
              <a:rPr lang="zh-CN" altLang="en-US" sz="1100" b="1">
                <a:solidFill>
                  <a:srgbClr val="575757"/>
                </a:solidFill>
              </a:rPr>
              <a:t>行銷資料</a:t>
            </a:r>
            <a:r>
              <a:rPr lang="zh-TW" altLang="en-US" sz="1100" b="1">
                <a:solidFill>
                  <a:srgbClr val="575757"/>
                </a:solidFill>
              </a:rPr>
              <a:t>集</a:t>
            </a:r>
            <a:endParaRPr lang="en-US" sz="1100" b="1">
              <a:solidFill>
                <a:srgbClr val="575757"/>
              </a:solidFill>
            </a:endParaRPr>
          </a:p>
        </p:txBody>
      </p:sp>
      <p:sp>
        <p:nvSpPr>
          <p:cNvPr id="61" name="Oval 20">
            <a:extLst>
              <a:ext uri="{FF2B5EF4-FFF2-40B4-BE49-F238E27FC236}">
                <a16:creationId xmlns:a16="http://schemas.microsoft.com/office/drawing/2014/main" id="{D8C68C5C-54B4-4EB3-0E8D-0B160C9B05AC}"/>
              </a:ext>
            </a:extLst>
          </p:cNvPr>
          <p:cNvSpPr>
            <a:spLocks noChangeAspect="1" noChangeArrowheads="1"/>
          </p:cNvSpPr>
          <p:nvPr/>
        </p:nvSpPr>
        <p:spPr bwMode="auto">
          <a:xfrm>
            <a:off x="1714924" y="2118912"/>
            <a:ext cx="207678" cy="207678"/>
          </a:xfrm>
          <a:prstGeom prst="ellipse">
            <a:avLst/>
          </a:prstGeom>
          <a:solidFill>
            <a:srgbClr val="29BA74"/>
          </a:solidFill>
          <a:ln>
            <a:noFill/>
          </a:ln>
        </p:spPr>
        <p:txBody>
          <a:bodyPr vert="horz" wrap="square" lIns="0" tIns="0" rIns="0" bIns="0" numCol="1" anchor="ctr" anchorCtr="0" compatLnSpc="1">
            <a:prstTxWarp prst="textNoShape">
              <a:avLst/>
            </a:prstTxWarp>
          </a:bodyPr>
          <a:lstStyle/>
          <a:p>
            <a:pPr algn="ctr"/>
            <a:r>
              <a:rPr lang="en-US" sz="1050">
                <a:solidFill>
                  <a:schemeClr val="bg1"/>
                </a:solidFill>
              </a:rPr>
              <a:t>1</a:t>
            </a:r>
          </a:p>
        </p:txBody>
      </p:sp>
      <p:pic>
        <p:nvPicPr>
          <p:cNvPr id="79" name="Picture 78">
            <a:extLst>
              <a:ext uri="{FF2B5EF4-FFF2-40B4-BE49-F238E27FC236}">
                <a16:creationId xmlns:a16="http://schemas.microsoft.com/office/drawing/2014/main" id="{69623E02-7BD2-F952-7848-620D94DB6F8E}"/>
              </a:ext>
            </a:extLst>
          </p:cNvPr>
          <p:cNvPicPr>
            <a:picLocks noChangeAspect="1"/>
          </p:cNvPicPr>
          <p:nvPr/>
        </p:nvPicPr>
        <p:blipFill>
          <a:blip r:embed="rId8"/>
          <a:stretch>
            <a:fillRect/>
          </a:stretch>
        </p:blipFill>
        <p:spPr>
          <a:xfrm>
            <a:off x="4687958" y="2888505"/>
            <a:ext cx="798046" cy="523089"/>
          </a:xfrm>
          <a:prstGeom prst="rect">
            <a:avLst/>
          </a:prstGeom>
        </p:spPr>
      </p:pic>
      <p:cxnSp>
        <p:nvCxnSpPr>
          <p:cNvPr id="81" name="Straight Arrow Connector 80">
            <a:extLst>
              <a:ext uri="{FF2B5EF4-FFF2-40B4-BE49-F238E27FC236}">
                <a16:creationId xmlns:a16="http://schemas.microsoft.com/office/drawing/2014/main" id="{B4337A6E-B128-F8C0-6DD1-1EC35AD3409C}"/>
              </a:ext>
            </a:extLst>
          </p:cNvPr>
          <p:cNvCxnSpPr>
            <a:stCxn id="13" idx="3"/>
            <a:endCxn id="79" idx="1"/>
          </p:cNvCxnSpPr>
          <p:nvPr/>
        </p:nvCxnSpPr>
        <p:spPr>
          <a:xfrm>
            <a:off x="4306659" y="2493512"/>
            <a:ext cx="381299" cy="656538"/>
          </a:xfrm>
          <a:prstGeom prst="straightConnector1">
            <a:avLst/>
          </a:prstGeom>
          <a:ln w="9525" cap="rnd">
            <a:solidFill>
              <a:schemeClr val="tx1">
                <a:lumMod val="60000"/>
                <a:lumOff val="40000"/>
              </a:schemeClr>
            </a:solidFill>
            <a:prstDash val="solid"/>
            <a:round/>
            <a:tailEnd type="triangle"/>
          </a:ln>
        </p:spPr>
        <p:style>
          <a:lnRef idx="1">
            <a:schemeClr val="accent1"/>
          </a:lnRef>
          <a:fillRef idx="0">
            <a:schemeClr val="accent1"/>
          </a:fillRef>
          <a:effectRef idx="0">
            <a:schemeClr val="accent1"/>
          </a:effectRef>
          <a:fontRef idx="minor">
            <a:schemeClr val="tx1"/>
          </a:fontRef>
        </p:style>
      </p:cxnSp>
      <p:cxnSp>
        <p:nvCxnSpPr>
          <p:cNvPr id="82" name="Straight Arrow Connector 81">
            <a:extLst>
              <a:ext uri="{FF2B5EF4-FFF2-40B4-BE49-F238E27FC236}">
                <a16:creationId xmlns:a16="http://schemas.microsoft.com/office/drawing/2014/main" id="{08773765-947D-5CEA-B666-0B5B7726B62F}"/>
              </a:ext>
            </a:extLst>
          </p:cNvPr>
          <p:cNvCxnSpPr>
            <a:cxnSpLocks/>
            <a:stCxn id="14" idx="3"/>
            <a:endCxn id="79" idx="1"/>
          </p:cNvCxnSpPr>
          <p:nvPr/>
        </p:nvCxnSpPr>
        <p:spPr>
          <a:xfrm>
            <a:off x="4306659" y="2935933"/>
            <a:ext cx="381299" cy="214117"/>
          </a:xfrm>
          <a:prstGeom prst="straightConnector1">
            <a:avLst/>
          </a:prstGeom>
          <a:ln w="9525" cap="rnd">
            <a:solidFill>
              <a:schemeClr val="tx1">
                <a:lumMod val="60000"/>
                <a:lumOff val="40000"/>
              </a:schemeClr>
            </a:solidFill>
            <a:prstDash val="solid"/>
            <a:round/>
            <a:tailEnd type="triangle"/>
          </a:ln>
        </p:spPr>
        <p:style>
          <a:lnRef idx="1">
            <a:schemeClr val="accent1"/>
          </a:lnRef>
          <a:fillRef idx="0">
            <a:schemeClr val="accent1"/>
          </a:fillRef>
          <a:effectRef idx="0">
            <a:schemeClr val="accent1"/>
          </a:effectRef>
          <a:fontRef idx="minor">
            <a:schemeClr val="tx1"/>
          </a:fontRef>
        </p:style>
      </p:cxnSp>
      <p:cxnSp>
        <p:nvCxnSpPr>
          <p:cNvPr id="86" name="Straight Arrow Connector 85">
            <a:extLst>
              <a:ext uri="{FF2B5EF4-FFF2-40B4-BE49-F238E27FC236}">
                <a16:creationId xmlns:a16="http://schemas.microsoft.com/office/drawing/2014/main" id="{F9CDE2A2-DA9D-2877-3186-160A9F2767D6}"/>
              </a:ext>
            </a:extLst>
          </p:cNvPr>
          <p:cNvCxnSpPr>
            <a:cxnSpLocks/>
            <a:stCxn id="15" idx="3"/>
            <a:endCxn id="79" idx="1"/>
          </p:cNvCxnSpPr>
          <p:nvPr/>
        </p:nvCxnSpPr>
        <p:spPr>
          <a:xfrm flipV="1">
            <a:off x="4306659" y="3150050"/>
            <a:ext cx="381299" cy="228303"/>
          </a:xfrm>
          <a:prstGeom prst="straightConnector1">
            <a:avLst/>
          </a:prstGeom>
          <a:ln w="9525" cap="rnd">
            <a:solidFill>
              <a:schemeClr val="tx1">
                <a:lumMod val="60000"/>
                <a:lumOff val="40000"/>
              </a:schemeClr>
            </a:solidFill>
            <a:prstDash val="solid"/>
            <a:round/>
            <a:tailEnd type="triangle"/>
          </a:ln>
        </p:spPr>
        <p:style>
          <a:lnRef idx="1">
            <a:schemeClr val="accent1"/>
          </a:lnRef>
          <a:fillRef idx="0">
            <a:schemeClr val="accent1"/>
          </a:fillRef>
          <a:effectRef idx="0">
            <a:schemeClr val="accent1"/>
          </a:effectRef>
          <a:fontRef idx="minor">
            <a:schemeClr val="tx1"/>
          </a:fontRef>
        </p:style>
      </p:cxnSp>
      <p:cxnSp>
        <p:nvCxnSpPr>
          <p:cNvPr id="89" name="Straight Arrow Connector 88">
            <a:extLst>
              <a:ext uri="{FF2B5EF4-FFF2-40B4-BE49-F238E27FC236}">
                <a16:creationId xmlns:a16="http://schemas.microsoft.com/office/drawing/2014/main" id="{B0E5BBC4-3FAF-5518-2F5C-993F895DAD1B}"/>
              </a:ext>
            </a:extLst>
          </p:cNvPr>
          <p:cNvCxnSpPr>
            <a:cxnSpLocks/>
            <a:stCxn id="16" idx="3"/>
            <a:endCxn id="79" idx="1"/>
          </p:cNvCxnSpPr>
          <p:nvPr/>
        </p:nvCxnSpPr>
        <p:spPr>
          <a:xfrm flipV="1">
            <a:off x="4306659" y="3150050"/>
            <a:ext cx="381299" cy="670723"/>
          </a:xfrm>
          <a:prstGeom prst="straightConnector1">
            <a:avLst/>
          </a:prstGeom>
          <a:ln w="9525" cap="rnd">
            <a:solidFill>
              <a:schemeClr val="tx1">
                <a:lumMod val="60000"/>
                <a:lumOff val="40000"/>
              </a:schemeClr>
            </a:solidFill>
            <a:prstDash val="solid"/>
            <a:round/>
            <a:tailEnd type="triangle"/>
          </a:ln>
        </p:spPr>
        <p:style>
          <a:lnRef idx="1">
            <a:schemeClr val="accent1"/>
          </a:lnRef>
          <a:fillRef idx="0">
            <a:schemeClr val="accent1"/>
          </a:fillRef>
          <a:effectRef idx="0">
            <a:schemeClr val="accent1"/>
          </a:effectRef>
          <a:fontRef idx="minor">
            <a:schemeClr val="tx1"/>
          </a:fontRef>
        </p:style>
      </p:cxnSp>
      <p:sp>
        <p:nvSpPr>
          <p:cNvPr id="92" name="Rectangle 91">
            <a:extLst>
              <a:ext uri="{FF2B5EF4-FFF2-40B4-BE49-F238E27FC236}">
                <a16:creationId xmlns:a16="http://schemas.microsoft.com/office/drawing/2014/main" id="{4DFF70E8-8E50-2F56-D0A0-9F0CDE683632}"/>
              </a:ext>
            </a:extLst>
          </p:cNvPr>
          <p:cNvSpPr/>
          <p:nvPr/>
        </p:nvSpPr>
        <p:spPr>
          <a:xfrm>
            <a:off x="4557390" y="2315461"/>
            <a:ext cx="1059180" cy="327729"/>
          </a:xfrm>
          <a:prstGeom prst="rect">
            <a:avLst/>
          </a:prstGeom>
          <a:solidFill>
            <a:schemeClr val="bg2">
              <a:lumMod val="9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100">
                <a:solidFill>
                  <a:schemeClr val="tx1"/>
                </a:solidFill>
              </a:rPr>
              <a:t>活動優先順序</a:t>
            </a:r>
            <a:endParaRPr lang="en-US" sz="1100">
              <a:solidFill>
                <a:schemeClr val="tx1"/>
              </a:solidFill>
            </a:endParaRPr>
          </a:p>
        </p:txBody>
      </p:sp>
      <p:cxnSp>
        <p:nvCxnSpPr>
          <p:cNvPr id="103" name="Straight Arrow Connector 102">
            <a:extLst>
              <a:ext uri="{FF2B5EF4-FFF2-40B4-BE49-F238E27FC236}">
                <a16:creationId xmlns:a16="http://schemas.microsoft.com/office/drawing/2014/main" id="{5AE77FF4-1A66-A5A1-1F8C-A23A7137DD13}"/>
              </a:ext>
            </a:extLst>
          </p:cNvPr>
          <p:cNvCxnSpPr>
            <a:cxnSpLocks/>
          </p:cNvCxnSpPr>
          <p:nvPr/>
        </p:nvCxnSpPr>
        <p:spPr>
          <a:xfrm>
            <a:off x="5483189" y="3150049"/>
            <a:ext cx="400623" cy="0"/>
          </a:xfrm>
          <a:prstGeom prst="straightConnector1">
            <a:avLst/>
          </a:prstGeom>
          <a:ln w="9525" cap="rnd">
            <a:solidFill>
              <a:schemeClr val="tx1">
                <a:lumMod val="60000"/>
                <a:lumOff val="40000"/>
              </a:schemeClr>
            </a:solidFill>
            <a:prstDash val="solid"/>
            <a:round/>
            <a:tailEnd type="triangle"/>
          </a:ln>
        </p:spPr>
        <p:style>
          <a:lnRef idx="1">
            <a:schemeClr val="accent1"/>
          </a:lnRef>
          <a:fillRef idx="0">
            <a:schemeClr val="accent1"/>
          </a:fillRef>
          <a:effectRef idx="0">
            <a:schemeClr val="accent1"/>
          </a:effectRef>
          <a:fontRef idx="minor">
            <a:schemeClr val="tx1"/>
          </a:fontRef>
        </p:style>
      </p:cxnSp>
      <p:cxnSp>
        <p:nvCxnSpPr>
          <p:cNvPr id="108" name="Straight Arrow Connector 107">
            <a:extLst>
              <a:ext uri="{FF2B5EF4-FFF2-40B4-BE49-F238E27FC236}">
                <a16:creationId xmlns:a16="http://schemas.microsoft.com/office/drawing/2014/main" id="{41FE579D-CB7E-0458-67C6-220DE0BED24A}"/>
              </a:ext>
            </a:extLst>
          </p:cNvPr>
          <p:cNvCxnSpPr>
            <a:cxnSpLocks/>
            <a:stCxn id="92" idx="2"/>
            <a:endCxn id="79" idx="0"/>
          </p:cNvCxnSpPr>
          <p:nvPr/>
        </p:nvCxnSpPr>
        <p:spPr>
          <a:xfrm>
            <a:off x="5086980" y="2643190"/>
            <a:ext cx="1" cy="245315"/>
          </a:xfrm>
          <a:prstGeom prst="straightConnector1">
            <a:avLst/>
          </a:prstGeom>
          <a:ln w="9525" cap="rnd">
            <a:solidFill>
              <a:schemeClr val="tx1">
                <a:lumMod val="60000"/>
                <a:lumOff val="40000"/>
              </a:schemeClr>
            </a:solidFill>
            <a:prstDash val="solid"/>
            <a:round/>
            <a:tailEnd type="triangle"/>
          </a:ln>
        </p:spPr>
        <p:style>
          <a:lnRef idx="1">
            <a:schemeClr val="accent1"/>
          </a:lnRef>
          <a:fillRef idx="0">
            <a:schemeClr val="accent1"/>
          </a:fillRef>
          <a:effectRef idx="0">
            <a:schemeClr val="accent1"/>
          </a:effectRef>
          <a:fontRef idx="minor">
            <a:schemeClr val="tx1"/>
          </a:fontRef>
        </p:style>
      </p:cxnSp>
      <p:cxnSp>
        <p:nvCxnSpPr>
          <p:cNvPr id="111" name="Straight Arrow Connector 110">
            <a:extLst>
              <a:ext uri="{FF2B5EF4-FFF2-40B4-BE49-F238E27FC236}">
                <a16:creationId xmlns:a16="http://schemas.microsoft.com/office/drawing/2014/main" id="{8B58F6CF-3BB3-175E-396E-989094277E40}"/>
              </a:ext>
            </a:extLst>
          </p:cNvPr>
          <p:cNvCxnSpPr>
            <a:cxnSpLocks/>
          </p:cNvCxnSpPr>
          <p:nvPr/>
        </p:nvCxnSpPr>
        <p:spPr>
          <a:xfrm flipV="1">
            <a:off x="5086980" y="3420120"/>
            <a:ext cx="1" cy="245315"/>
          </a:xfrm>
          <a:prstGeom prst="straightConnector1">
            <a:avLst/>
          </a:prstGeom>
          <a:ln w="9525" cap="rnd">
            <a:solidFill>
              <a:schemeClr val="tx1">
                <a:lumMod val="60000"/>
                <a:lumOff val="40000"/>
              </a:schemeClr>
            </a:solidFill>
            <a:prstDash val="solid"/>
            <a:round/>
            <a:tailEnd type="triangle"/>
          </a:ln>
        </p:spPr>
        <p:style>
          <a:lnRef idx="1">
            <a:schemeClr val="accent1"/>
          </a:lnRef>
          <a:fillRef idx="0">
            <a:schemeClr val="accent1"/>
          </a:fillRef>
          <a:effectRef idx="0">
            <a:schemeClr val="accent1"/>
          </a:effectRef>
          <a:fontRef idx="minor">
            <a:schemeClr val="tx1"/>
          </a:fontRef>
        </p:style>
      </p:cxnSp>
      <p:cxnSp>
        <p:nvCxnSpPr>
          <p:cNvPr id="114" name="Straight Arrow Connector 113">
            <a:extLst>
              <a:ext uri="{FF2B5EF4-FFF2-40B4-BE49-F238E27FC236}">
                <a16:creationId xmlns:a16="http://schemas.microsoft.com/office/drawing/2014/main" id="{57ABA4A2-DB53-2F1B-26C1-EFE445DDF105}"/>
              </a:ext>
            </a:extLst>
          </p:cNvPr>
          <p:cNvCxnSpPr>
            <a:cxnSpLocks/>
          </p:cNvCxnSpPr>
          <p:nvPr/>
        </p:nvCxnSpPr>
        <p:spPr>
          <a:xfrm>
            <a:off x="6810729" y="2479325"/>
            <a:ext cx="371850" cy="0"/>
          </a:xfrm>
          <a:prstGeom prst="straightConnector1">
            <a:avLst/>
          </a:prstGeom>
          <a:ln w="9525" cap="rnd">
            <a:solidFill>
              <a:schemeClr val="tx1">
                <a:lumMod val="60000"/>
                <a:lumOff val="40000"/>
              </a:schemeClr>
            </a:solidFill>
            <a:prstDash val="solid"/>
            <a:round/>
            <a:tailEnd type="triangle"/>
          </a:ln>
        </p:spPr>
        <p:style>
          <a:lnRef idx="1">
            <a:schemeClr val="accent1"/>
          </a:lnRef>
          <a:fillRef idx="0">
            <a:schemeClr val="accent1"/>
          </a:fillRef>
          <a:effectRef idx="0">
            <a:schemeClr val="accent1"/>
          </a:effectRef>
          <a:fontRef idx="minor">
            <a:schemeClr val="tx1"/>
          </a:fontRef>
        </p:style>
      </p:cxnSp>
      <p:sp>
        <p:nvSpPr>
          <p:cNvPr id="32" name="Rectangle 31">
            <a:extLst>
              <a:ext uri="{FF2B5EF4-FFF2-40B4-BE49-F238E27FC236}">
                <a16:creationId xmlns:a16="http://schemas.microsoft.com/office/drawing/2014/main" id="{7D701F58-7EE9-1905-2F62-87235D1FA08C}"/>
              </a:ext>
            </a:extLst>
          </p:cNvPr>
          <p:cNvSpPr/>
          <p:nvPr/>
        </p:nvSpPr>
        <p:spPr>
          <a:xfrm>
            <a:off x="7479266" y="4047885"/>
            <a:ext cx="982927" cy="297804"/>
          </a:xfrm>
          <a:prstGeom prst="rect">
            <a:avLst/>
          </a:prstGeom>
          <a:solidFill>
            <a:schemeClr val="bg2">
              <a:lumMod val="9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r>
              <a:rPr lang="zh-TW" altLang="en-US" sz="1100">
                <a:solidFill>
                  <a:schemeClr val="tx1"/>
                </a:solidFill>
              </a:rPr>
              <a:t>成功</a:t>
            </a:r>
            <a:r>
              <a:rPr lang="zh-CN" altLang="en-US" sz="1100">
                <a:solidFill>
                  <a:schemeClr val="tx1"/>
                </a:solidFill>
              </a:rPr>
              <a:t>概率</a:t>
            </a:r>
            <a:endParaRPr lang="en-US" sz="1100">
              <a:solidFill>
                <a:schemeClr val="tx1"/>
              </a:solidFill>
            </a:endParaRPr>
          </a:p>
        </p:txBody>
      </p:sp>
      <p:sp>
        <p:nvSpPr>
          <p:cNvPr id="34" name="Rectangle 33">
            <a:extLst>
              <a:ext uri="{FF2B5EF4-FFF2-40B4-BE49-F238E27FC236}">
                <a16:creationId xmlns:a16="http://schemas.microsoft.com/office/drawing/2014/main" id="{1EFAD401-4D41-9B4B-0958-4A06E86AE30F}"/>
              </a:ext>
            </a:extLst>
          </p:cNvPr>
          <p:cNvSpPr/>
          <p:nvPr/>
        </p:nvSpPr>
        <p:spPr>
          <a:xfrm>
            <a:off x="7471647" y="4421453"/>
            <a:ext cx="982927" cy="304137"/>
          </a:xfrm>
          <a:prstGeom prst="rect">
            <a:avLst/>
          </a:prstGeom>
          <a:solidFill>
            <a:schemeClr val="bg2">
              <a:lumMod val="9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r>
              <a:rPr lang="zh-CN" altLang="en-US" sz="1100">
                <a:solidFill>
                  <a:schemeClr val="tx1"/>
                </a:solidFill>
              </a:rPr>
              <a:t>行銷歷史</a:t>
            </a:r>
            <a:endParaRPr lang="en-US" sz="1100">
              <a:solidFill>
                <a:schemeClr val="tx1"/>
              </a:solidFill>
            </a:endParaRPr>
          </a:p>
        </p:txBody>
      </p:sp>
      <p:sp>
        <p:nvSpPr>
          <p:cNvPr id="36" name="Rectangle 35">
            <a:extLst>
              <a:ext uri="{FF2B5EF4-FFF2-40B4-BE49-F238E27FC236}">
                <a16:creationId xmlns:a16="http://schemas.microsoft.com/office/drawing/2014/main" id="{FC4B5C4A-4898-9F3D-CD32-C4BFE9D9B16B}"/>
              </a:ext>
            </a:extLst>
          </p:cNvPr>
          <p:cNvSpPr/>
          <p:nvPr/>
        </p:nvSpPr>
        <p:spPr>
          <a:xfrm>
            <a:off x="8564212" y="4432247"/>
            <a:ext cx="982927" cy="304137"/>
          </a:xfrm>
          <a:prstGeom prst="rect">
            <a:avLst/>
          </a:prstGeom>
          <a:solidFill>
            <a:schemeClr val="bg2">
              <a:lumMod val="9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r>
              <a:rPr lang="zh-CN" altLang="en-US" sz="1100">
                <a:solidFill>
                  <a:schemeClr val="tx1"/>
                </a:solidFill>
              </a:rPr>
              <a:t>需求傾向</a:t>
            </a:r>
            <a:endParaRPr lang="en-US" sz="1100">
              <a:solidFill>
                <a:schemeClr val="tx1"/>
              </a:solidFill>
            </a:endParaRPr>
          </a:p>
        </p:txBody>
      </p:sp>
      <p:sp>
        <p:nvSpPr>
          <p:cNvPr id="37" name="Rectangle 36">
            <a:extLst>
              <a:ext uri="{FF2B5EF4-FFF2-40B4-BE49-F238E27FC236}">
                <a16:creationId xmlns:a16="http://schemas.microsoft.com/office/drawing/2014/main" id="{087B044D-688A-C05C-EEA9-FD2E459847B5}"/>
              </a:ext>
            </a:extLst>
          </p:cNvPr>
          <p:cNvSpPr/>
          <p:nvPr/>
        </p:nvSpPr>
        <p:spPr>
          <a:xfrm>
            <a:off x="8559243" y="4041552"/>
            <a:ext cx="982927" cy="304137"/>
          </a:xfrm>
          <a:prstGeom prst="rect">
            <a:avLst/>
          </a:prstGeom>
          <a:solidFill>
            <a:schemeClr val="bg2">
              <a:lumMod val="9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r>
              <a:rPr lang="zh-CN" altLang="en-US" sz="1100">
                <a:solidFill>
                  <a:schemeClr val="tx1"/>
                </a:solidFill>
              </a:rPr>
              <a:t>客戶行為</a:t>
            </a:r>
            <a:endParaRPr lang="en-US" sz="1100">
              <a:solidFill>
                <a:schemeClr val="tx1"/>
              </a:solidFill>
            </a:endParaRPr>
          </a:p>
        </p:txBody>
      </p:sp>
      <p:grpSp>
        <p:nvGrpSpPr>
          <p:cNvPr id="141" name="Group 140">
            <a:extLst>
              <a:ext uri="{FF2B5EF4-FFF2-40B4-BE49-F238E27FC236}">
                <a16:creationId xmlns:a16="http://schemas.microsoft.com/office/drawing/2014/main" id="{581DD553-4FF7-B354-0379-0B75AF80AA7B}"/>
              </a:ext>
            </a:extLst>
          </p:cNvPr>
          <p:cNvGrpSpPr/>
          <p:nvPr/>
        </p:nvGrpSpPr>
        <p:grpSpPr>
          <a:xfrm>
            <a:off x="2846888" y="3861647"/>
            <a:ext cx="4412401" cy="100101"/>
            <a:chOff x="3561729" y="4995406"/>
            <a:chExt cx="4283274" cy="100101"/>
          </a:xfrm>
        </p:grpSpPr>
        <p:cxnSp>
          <p:nvCxnSpPr>
            <p:cNvPr id="131" name="Straight Arrow Connector 130">
              <a:extLst>
                <a:ext uri="{FF2B5EF4-FFF2-40B4-BE49-F238E27FC236}">
                  <a16:creationId xmlns:a16="http://schemas.microsoft.com/office/drawing/2014/main" id="{15FEC936-8C55-276D-CDAA-5827F797688B}"/>
                </a:ext>
              </a:extLst>
            </p:cNvPr>
            <p:cNvCxnSpPr>
              <a:cxnSpLocks/>
            </p:cNvCxnSpPr>
            <p:nvPr/>
          </p:nvCxnSpPr>
          <p:spPr>
            <a:xfrm>
              <a:off x="3561729" y="4995406"/>
              <a:ext cx="4283274" cy="0"/>
            </a:xfrm>
            <a:prstGeom prst="straightConnector1">
              <a:avLst/>
            </a:prstGeom>
            <a:ln w="9525" cap="rnd" cmpd="sng" algn="ctr">
              <a:solidFill>
                <a:srgbClr val="9A9A9A"/>
              </a:solidFill>
              <a:prstDash val="solid"/>
              <a:round/>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3" name="Straight Arrow Connector 132">
              <a:extLst>
                <a:ext uri="{FF2B5EF4-FFF2-40B4-BE49-F238E27FC236}">
                  <a16:creationId xmlns:a16="http://schemas.microsoft.com/office/drawing/2014/main" id="{E1921FDD-31A9-EEB7-45C1-BBAB006A35E7}"/>
                </a:ext>
              </a:extLst>
            </p:cNvPr>
            <p:cNvCxnSpPr>
              <a:cxnSpLocks/>
            </p:cNvCxnSpPr>
            <p:nvPr/>
          </p:nvCxnSpPr>
          <p:spPr>
            <a:xfrm flipH="1">
              <a:off x="3561729" y="5095507"/>
              <a:ext cx="4283274" cy="0"/>
            </a:xfrm>
            <a:prstGeom prst="straightConnector1">
              <a:avLst/>
            </a:prstGeom>
            <a:ln w="9525" cap="rnd" cmpd="sng" algn="ctr">
              <a:solidFill>
                <a:srgbClr val="9A9A9A"/>
              </a:solidFill>
              <a:prstDash val="solid"/>
              <a:round/>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136" name="Group 135">
            <a:extLst>
              <a:ext uri="{FF2B5EF4-FFF2-40B4-BE49-F238E27FC236}">
                <a16:creationId xmlns:a16="http://schemas.microsoft.com/office/drawing/2014/main" id="{96BDB0EF-970F-DCF6-1FE4-5BC7114788A0}"/>
              </a:ext>
            </a:extLst>
          </p:cNvPr>
          <p:cNvGrpSpPr/>
          <p:nvPr/>
        </p:nvGrpSpPr>
        <p:grpSpPr>
          <a:xfrm flipV="1">
            <a:off x="2851540" y="4663914"/>
            <a:ext cx="279770" cy="524613"/>
            <a:chOff x="7424482" y="3063228"/>
            <a:chExt cx="400623" cy="524613"/>
          </a:xfrm>
        </p:grpSpPr>
        <p:cxnSp>
          <p:nvCxnSpPr>
            <p:cNvPr id="137" name="Straight Arrow Connector 136">
              <a:extLst>
                <a:ext uri="{FF2B5EF4-FFF2-40B4-BE49-F238E27FC236}">
                  <a16:creationId xmlns:a16="http://schemas.microsoft.com/office/drawing/2014/main" id="{F499B6FC-3354-DD3D-A0CC-C48A97AF5ABE}"/>
                </a:ext>
              </a:extLst>
            </p:cNvPr>
            <p:cNvCxnSpPr>
              <a:cxnSpLocks/>
            </p:cNvCxnSpPr>
            <p:nvPr/>
          </p:nvCxnSpPr>
          <p:spPr>
            <a:xfrm>
              <a:off x="7424482" y="3587841"/>
              <a:ext cx="400623" cy="0"/>
            </a:xfrm>
            <a:prstGeom prst="straightConnector1">
              <a:avLst/>
            </a:prstGeom>
            <a:ln w="9525" cap="rnd">
              <a:solidFill>
                <a:schemeClr val="tx1">
                  <a:lumMod val="60000"/>
                  <a:lumOff val="40000"/>
                </a:schemeClr>
              </a:solidFill>
              <a:prstDash val="solid"/>
              <a:round/>
              <a:tailEnd type="triangle"/>
            </a:ln>
          </p:spPr>
          <p:style>
            <a:lnRef idx="1">
              <a:schemeClr val="accent1"/>
            </a:lnRef>
            <a:fillRef idx="0">
              <a:schemeClr val="accent1"/>
            </a:fillRef>
            <a:effectRef idx="0">
              <a:schemeClr val="accent1"/>
            </a:effectRef>
            <a:fontRef idx="minor">
              <a:schemeClr val="tx1"/>
            </a:fontRef>
          </p:style>
        </p:cxnSp>
        <p:cxnSp>
          <p:nvCxnSpPr>
            <p:cNvPr id="138" name="Straight Arrow Connector 137">
              <a:extLst>
                <a:ext uri="{FF2B5EF4-FFF2-40B4-BE49-F238E27FC236}">
                  <a16:creationId xmlns:a16="http://schemas.microsoft.com/office/drawing/2014/main" id="{8F662A53-7A8A-8A5E-CADA-B3314BB99D3F}"/>
                </a:ext>
              </a:extLst>
            </p:cNvPr>
            <p:cNvCxnSpPr>
              <a:cxnSpLocks/>
            </p:cNvCxnSpPr>
            <p:nvPr/>
          </p:nvCxnSpPr>
          <p:spPr>
            <a:xfrm flipH="1">
              <a:off x="7424482" y="3063228"/>
              <a:ext cx="400623" cy="0"/>
            </a:xfrm>
            <a:prstGeom prst="straightConnector1">
              <a:avLst/>
            </a:prstGeom>
            <a:ln w="9525" cap="rnd">
              <a:solidFill>
                <a:schemeClr val="tx1">
                  <a:lumMod val="60000"/>
                  <a:lumOff val="40000"/>
                </a:schemeClr>
              </a:solidFill>
              <a:prstDash val="solid"/>
              <a:round/>
              <a:tailEnd type="triangle"/>
            </a:ln>
          </p:spPr>
          <p:style>
            <a:lnRef idx="1">
              <a:schemeClr val="accent1"/>
            </a:lnRef>
            <a:fillRef idx="0">
              <a:schemeClr val="accent1"/>
            </a:fillRef>
            <a:effectRef idx="0">
              <a:schemeClr val="accent1"/>
            </a:effectRef>
            <a:fontRef idx="minor">
              <a:schemeClr val="tx1"/>
            </a:fontRef>
          </p:style>
        </p:cxnSp>
      </p:grpSp>
      <p:cxnSp>
        <p:nvCxnSpPr>
          <p:cNvPr id="143" name="Straight Arrow Connector 142">
            <a:extLst>
              <a:ext uri="{FF2B5EF4-FFF2-40B4-BE49-F238E27FC236}">
                <a16:creationId xmlns:a16="http://schemas.microsoft.com/office/drawing/2014/main" id="{EBE17928-8522-E27B-D5BB-8D4E62DF2F74}"/>
              </a:ext>
            </a:extLst>
          </p:cNvPr>
          <p:cNvCxnSpPr>
            <a:cxnSpLocks/>
          </p:cNvCxnSpPr>
          <p:nvPr/>
        </p:nvCxnSpPr>
        <p:spPr>
          <a:xfrm rot="16200000" flipV="1">
            <a:off x="8683782" y="3651462"/>
            <a:ext cx="377763" cy="0"/>
          </a:xfrm>
          <a:prstGeom prst="straightConnector1">
            <a:avLst/>
          </a:prstGeom>
          <a:ln w="9525" cap="rnd">
            <a:solidFill>
              <a:schemeClr val="tx1">
                <a:lumMod val="60000"/>
                <a:lumOff val="40000"/>
              </a:schemeClr>
            </a:solidFill>
            <a:prstDash val="solid"/>
            <a:round/>
            <a:tailEnd type="triangle"/>
          </a:ln>
        </p:spPr>
        <p:style>
          <a:lnRef idx="1">
            <a:schemeClr val="accent1"/>
          </a:lnRef>
          <a:fillRef idx="0">
            <a:schemeClr val="accent1"/>
          </a:fillRef>
          <a:effectRef idx="0">
            <a:schemeClr val="accent1"/>
          </a:effectRef>
          <a:fontRef idx="minor">
            <a:schemeClr val="tx1"/>
          </a:fontRef>
        </p:style>
      </p:cxnSp>
      <p:cxnSp>
        <p:nvCxnSpPr>
          <p:cNvPr id="144" name="Straight Arrow Connector 143">
            <a:extLst>
              <a:ext uri="{FF2B5EF4-FFF2-40B4-BE49-F238E27FC236}">
                <a16:creationId xmlns:a16="http://schemas.microsoft.com/office/drawing/2014/main" id="{B2A854DA-7CE5-F8BE-F038-E368269DE62D}"/>
              </a:ext>
            </a:extLst>
          </p:cNvPr>
          <p:cNvCxnSpPr>
            <a:cxnSpLocks/>
          </p:cNvCxnSpPr>
          <p:nvPr/>
        </p:nvCxnSpPr>
        <p:spPr>
          <a:xfrm rot="16200000" flipH="1" flipV="1">
            <a:off x="8888563" y="3651463"/>
            <a:ext cx="377763" cy="0"/>
          </a:xfrm>
          <a:prstGeom prst="straightConnector1">
            <a:avLst/>
          </a:prstGeom>
          <a:ln w="9525" cap="rnd">
            <a:solidFill>
              <a:schemeClr val="tx1">
                <a:lumMod val="60000"/>
                <a:lumOff val="40000"/>
              </a:schemeClr>
            </a:solidFill>
            <a:prstDash val="solid"/>
            <a:round/>
            <a:tailEnd type="triangle"/>
          </a:ln>
        </p:spPr>
        <p:style>
          <a:lnRef idx="1">
            <a:schemeClr val="accent1"/>
          </a:lnRef>
          <a:fillRef idx="0">
            <a:schemeClr val="accent1"/>
          </a:fillRef>
          <a:effectRef idx="0">
            <a:schemeClr val="accent1"/>
          </a:effectRef>
          <a:fontRef idx="minor">
            <a:schemeClr val="tx1"/>
          </a:fontRef>
        </p:style>
      </p:cxnSp>
      <p:pic>
        <p:nvPicPr>
          <p:cNvPr id="151" name="Picture 2">
            <a:extLst>
              <a:ext uri="{FF2B5EF4-FFF2-40B4-BE49-F238E27FC236}">
                <a16:creationId xmlns:a16="http://schemas.microsoft.com/office/drawing/2014/main" id="{75B18B13-9985-2C6C-DF44-3110F1E416A4}"/>
              </a:ext>
            </a:extLst>
          </p:cNvPr>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0717092" y="-107062"/>
            <a:ext cx="1580317" cy="886887"/>
          </a:xfrm>
          <a:prstGeom prst="rect">
            <a:avLst/>
          </a:prstGeom>
          <a:noFill/>
          <a:extLst>
            <a:ext uri="{909E8E84-426E-40DD-AFC4-6F175D3DCCD1}">
              <a14:hiddenFill xmlns:a14="http://schemas.microsoft.com/office/drawing/2010/main">
                <a:solidFill>
                  <a:srgbClr val="FFFFFF"/>
                </a:solidFill>
              </a14:hiddenFill>
            </a:ext>
          </a:extLst>
        </p:spPr>
      </p:pic>
      <p:sp>
        <p:nvSpPr>
          <p:cNvPr id="155" name="TextBox 154">
            <a:extLst>
              <a:ext uri="{FF2B5EF4-FFF2-40B4-BE49-F238E27FC236}">
                <a16:creationId xmlns:a16="http://schemas.microsoft.com/office/drawing/2014/main" id="{C55E4201-5E14-83AA-6FF6-D0D4DC73D0E0}"/>
              </a:ext>
            </a:extLst>
          </p:cNvPr>
          <p:cNvSpPr txBox="1"/>
          <p:nvPr/>
        </p:nvSpPr>
        <p:spPr>
          <a:xfrm>
            <a:off x="9951594" y="1880617"/>
            <a:ext cx="1823772" cy="1694478"/>
          </a:xfrm>
          <a:prstGeom prst="rect">
            <a:avLst/>
          </a:prstGeom>
          <a:solidFill>
            <a:srgbClr val="C9E7CA"/>
          </a:solidFill>
          <a:ln w="9525" cap="flat" cmpd="sng" algn="ctr">
            <a:noFill/>
            <a:prstDash val="solid"/>
            <a:round/>
            <a:headEnd type="none" w="med" len="med"/>
            <a:tailEnd type="none" w="med" len="med"/>
          </a:ln>
          <a:effectLst/>
          <a:extLst>
            <a:ext uri="{53640926-AAD7-44D8-BBD7-CCE9431645EC}">
              <a14:shadowObscured xmlns:a14="http://schemas.microsoft.com/office/drawing/2010/main"/>
            </a:ext>
          </a:extLst>
        </p:spPr>
        <p:txBody>
          <a:bodyPr wrap="square" lIns="93761" tIns="92285" rIns="93761" bIns="92285" rtlCol="0" anchor="ctr">
            <a:spAutoFit/>
          </a:bodyPr>
          <a:lstStyle/>
          <a:p>
            <a:pPr marR="0" lvl="0" algn="ctr" defTabSz="685800" eaLnBrk="1" fontAlgn="auto" latinLnBrk="0" hangingPunct="1">
              <a:lnSpc>
                <a:spcPct val="100000"/>
              </a:lnSpc>
              <a:spcBef>
                <a:spcPts val="0"/>
              </a:spcBef>
              <a:spcAft>
                <a:spcPts val="0"/>
              </a:spcAft>
              <a:buClrTx/>
              <a:buSzTx/>
              <a:buFontTx/>
              <a:buNone/>
              <a:tabLst/>
              <a:defRPr/>
            </a:pPr>
            <a:r>
              <a:rPr lang="zh-TW" altLang="en-US" sz="1600" b="1" i="1">
                <a:solidFill>
                  <a:srgbClr val="03522D"/>
                </a:solidFill>
                <a:latin typeface="OP Chevin Pro Light"/>
                <a:ea typeface="Microsoft YaHei" panose="020B0503020204020204" pitchFamily="34" charset="-122"/>
              </a:rPr>
              <a:t>行銷活動自動化</a:t>
            </a:r>
            <a:endParaRPr lang="en-US" altLang="zh-TW" sz="1600" b="1" i="1">
              <a:solidFill>
                <a:srgbClr val="03522D"/>
              </a:solidFill>
              <a:latin typeface="OP Chevin Pro Light"/>
              <a:ea typeface="Microsoft YaHei" panose="020B0503020204020204" pitchFamily="34" charset="-122"/>
            </a:endParaRPr>
          </a:p>
          <a:p>
            <a:pPr marR="0" lvl="0" algn="ctr" defTabSz="685800" eaLnBrk="1" fontAlgn="auto" latinLnBrk="0" hangingPunct="1">
              <a:lnSpc>
                <a:spcPct val="100000"/>
              </a:lnSpc>
              <a:spcBef>
                <a:spcPts val="0"/>
              </a:spcBef>
              <a:spcAft>
                <a:spcPts val="0"/>
              </a:spcAft>
              <a:buClrTx/>
              <a:buSzTx/>
              <a:buFontTx/>
              <a:buNone/>
              <a:tabLst/>
              <a:defRPr/>
            </a:pPr>
            <a:r>
              <a:rPr kumimoji="0" lang="zh-TW" altLang="en-US" sz="1400" u="none" strike="noStrike" kern="1200" cap="none" spc="0" normalizeH="0" baseline="0" noProof="0">
                <a:ln>
                  <a:noFill/>
                </a:ln>
                <a:solidFill>
                  <a:srgbClr val="575757"/>
                </a:solidFill>
                <a:effectLst/>
                <a:uLnTx/>
                <a:uFillTx/>
                <a:latin typeface="OP Chevin Pro Light"/>
                <a:ea typeface="Microsoft YaHei" panose="020B0503020204020204" pitchFamily="34" charset="-122"/>
              </a:rPr>
              <a:t>系統自動依客戶分析模型</a:t>
            </a:r>
            <a:r>
              <a:rPr lang="zh-TW" altLang="en-US" sz="1400">
                <a:solidFill>
                  <a:srgbClr val="575757"/>
                </a:solidFill>
                <a:latin typeface="OP Chevin Pro Light"/>
                <a:ea typeface="Microsoft YaHei" panose="020B0503020204020204" pitchFamily="34" charset="-122"/>
              </a:rPr>
              <a:t>，在規範內自動產生內容並</a:t>
            </a:r>
            <a:r>
              <a:rPr kumimoji="0" lang="zh-TW" altLang="en-US" sz="1400" u="none" strike="noStrike" kern="1200" cap="none" spc="0" normalizeH="0" baseline="0" noProof="0">
                <a:ln>
                  <a:noFill/>
                </a:ln>
                <a:solidFill>
                  <a:srgbClr val="575757"/>
                </a:solidFill>
                <a:effectLst/>
                <a:uLnTx/>
                <a:uFillTx/>
                <a:latin typeface="OP Chevin Pro Light"/>
                <a:ea typeface="Microsoft YaHei" panose="020B0503020204020204" pitchFamily="34" charset="-122"/>
              </a:rPr>
              <a:t>推送與管理行銷信息</a:t>
            </a:r>
            <a:endParaRPr kumimoji="0" lang="en-US" altLang="zh-TW" sz="1400" u="none" strike="noStrike" kern="1200" cap="none" spc="0" normalizeH="0" baseline="0" noProof="0">
              <a:ln>
                <a:noFill/>
              </a:ln>
              <a:solidFill>
                <a:srgbClr val="575757"/>
              </a:solidFill>
              <a:effectLst/>
              <a:uLnTx/>
              <a:uFillTx/>
              <a:latin typeface="OP Chevin Pro Light"/>
              <a:ea typeface="Microsoft YaHei" panose="020B0503020204020204" pitchFamily="34" charset="-122"/>
            </a:endParaRPr>
          </a:p>
          <a:p>
            <a:pPr marR="0" lvl="0" algn="ctr" defTabSz="685800" eaLnBrk="1" fontAlgn="auto" latinLnBrk="0" hangingPunct="1">
              <a:lnSpc>
                <a:spcPct val="100000"/>
              </a:lnSpc>
              <a:spcBef>
                <a:spcPts val="0"/>
              </a:spcBef>
              <a:spcAft>
                <a:spcPts val="0"/>
              </a:spcAft>
              <a:buClrTx/>
              <a:buSzTx/>
              <a:buFontTx/>
              <a:buNone/>
              <a:tabLst/>
              <a:defRPr/>
            </a:pPr>
            <a:endParaRPr kumimoji="0" lang="fi-FI" sz="1400" u="none" strike="noStrike" kern="1200" cap="none" spc="0" normalizeH="0" baseline="0" noProof="0">
              <a:ln>
                <a:noFill/>
              </a:ln>
              <a:solidFill>
                <a:srgbClr val="575757"/>
              </a:solidFill>
              <a:effectLst/>
              <a:uLnTx/>
              <a:uFillTx/>
              <a:latin typeface="OP Chevin Pro Light"/>
              <a:ea typeface="Microsoft YaHei" panose="020B0503020204020204" pitchFamily="34" charset="-122"/>
            </a:endParaRPr>
          </a:p>
          <a:p>
            <a:pPr defTabSz="685800">
              <a:defRPr/>
            </a:pPr>
            <a:r>
              <a:rPr lang="zh-TW" altLang="en-US" sz="1200">
                <a:solidFill>
                  <a:srgbClr val="575757"/>
                </a:solidFill>
                <a:latin typeface="OP Chevin Pro Light"/>
                <a:ea typeface="Microsoft YaHei" panose="020B0503020204020204" pitchFamily="34" charset="-122"/>
              </a:rPr>
              <a:t>相關步驟</a:t>
            </a:r>
            <a:r>
              <a:rPr lang="en-US" altLang="zh-TW" sz="1200">
                <a:solidFill>
                  <a:srgbClr val="575757"/>
                </a:solidFill>
                <a:latin typeface="OP Chevin Pro Light"/>
                <a:ea typeface="Microsoft YaHei" panose="020B0503020204020204" pitchFamily="34" charset="-122"/>
              </a:rPr>
              <a:t>:</a:t>
            </a:r>
            <a:endParaRPr lang="fi-FI" sz="1200">
              <a:solidFill>
                <a:srgbClr val="575757"/>
              </a:solidFill>
              <a:latin typeface="OP Chevin Pro Light"/>
              <a:ea typeface="Microsoft YaHei" panose="020B0503020204020204" pitchFamily="34" charset="-122"/>
            </a:endParaRPr>
          </a:p>
        </p:txBody>
      </p:sp>
      <p:sp>
        <p:nvSpPr>
          <p:cNvPr id="75" name="TextBox 74">
            <a:extLst>
              <a:ext uri="{FF2B5EF4-FFF2-40B4-BE49-F238E27FC236}">
                <a16:creationId xmlns:a16="http://schemas.microsoft.com/office/drawing/2014/main" id="{37CC6DFB-116D-B036-61B5-AC2555EBD22F}"/>
              </a:ext>
            </a:extLst>
          </p:cNvPr>
          <p:cNvSpPr txBox="1"/>
          <p:nvPr/>
        </p:nvSpPr>
        <p:spPr>
          <a:xfrm>
            <a:off x="9951594" y="4453742"/>
            <a:ext cx="1823772" cy="1263590"/>
          </a:xfrm>
          <a:prstGeom prst="rect">
            <a:avLst/>
          </a:prstGeom>
          <a:solidFill>
            <a:srgbClr val="C9E7CA"/>
          </a:solidFill>
          <a:ln w="9525" cap="flat" cmpd="sng" algn="ctr">
            <a:noFill/>
            <a:prstDash val="solid"/>
            <a:round/>
            <a:headEnd type="none" w="med" len="med"/>
            <a:tailEnd type="none" w="med" len="med"/>
          </a:ln>
          <a:effectLst/>
          <a:extLst>
            <a:ext uri="{53640926-AAD7-44D8-BBD7-CCE9431645EC}">
              <a14:shadowObscured xmlns:a14="http://schemas.microsoft.com/office/drawing/2010/main"/>
            </a:ext>
          </a:extLst>
        </p:spPr>
        <p:txBody>
          <a:bodyPr wrap="square" lIns="93761" tIns="92285" rIns="93761" bIns="92285" rtlCol="0" anchor="ctr">
            <a:spAutoFit/>
          </a:bodyPr>
          <a:lstStyle/>
          <a:p>
            <a:pPr marR="0" lvl="0" algn="ctr" defTabSz="685800" eaLnBrk="1" fontAlgn="auto" latinLnBrk="0" hangingPunct="1">
              <a:lnSpc>
                <a:spcPct val="100000"/>
              </a:lnSpc>
              <a:spcBef>
                <a:spcPts val="0"/>
              </a:spcBef>
              <a:spcAft>
                <a:spcPts val="0"/>
              </a:spcAft>
              <a:buClrTx/>
              <a:buSzTx/>
              <a:buFontTx/>
              <a:buNone/>
              <a:tabLst/>
              <a:defRPr/>
            </a:pPr>
            <a:r>
              <a:rPr kumimoji="0" lang="zh-TW" altLang="en-US" sz="1600" b="1" i="1" u="none" strike="noStrike" kern="1200" cap="none" spc="0" normalizeH="0" baseline="0" noProof="0">
                <a:ln>
                  <a:noFill/>
                </a:ln>
                <a:solidFill>
                  <a:srgbClr val="03522D"/>
                </a:solidFill>
                <a:effectLst/>
                <a:uLnTx/>
                <a:uFillTx/>
                <a:latin typeface="OP Chevin Pro Light"/>
                <a:ea typeface="Microsoft YaHei" panose="020B0503020204020204" pitchFamily="34" charset="-122"/>
              </a:rPr>
              <a:t>輔助追蹤體系</a:t>
            </a:r>
            <a:endParaRPr kumimoji="0" lang="en-US" altLang="zh-TW" sz="1600" b="1" i="1" u="none" strike="noStrike" kern="1200" cap="none" spc="0" normalizeH="0" baseline="0" noProof="0">
              <a:ln>
                <a:noFill/>
              </a:ln>
              <a:solidFill>
                <a:srgbClr val="03522D"/>
              </a:solidFill>
              <a:effectLst/>
              <a:uLnTx/>
              <a:uFillTx/>
              <a:latin typeface="OP Chevin Pro Light"/>
              <a:ea typeface="Microsoft YaHei" panose="020B0503020204020204" pitchFamily="34" charset="-122"/>
            </a:endParaRPr>
          </a:p>
          <a:p>
            <a:pPr marR="0" lvl="0" algn="ctr" defTabSz="685800" eaLnBrk="1" fontAlgn="auto" latinLnBrk="0" hangingPunct="1">
              <a:lnSpc>
                <a:spcPct val="100000"/>
              </a:lnSpc>
              <a:spcBef>
                <a:spcPts val="0"/>
              </a:spcBef>
              <a:spcAft>
                <a:spcPts val="0"/>
              </a:spcAft>
              <a:buClrTx/>
              <a:buSzTx/>
              <a:buFontTx/>
              <a:buNone/>
              <a:tabLst/>
              <a:defRPr/>
            </a:pPr>
            <a:r>
              <a:rPr kumimoji="0" lang="zh-TW" altLang="en-US" sz="1400" u="none" strike="noStrike" kern="1200" cap="none" spc="0" normalizeH="0" baseline="0" noProof="0">
                <a:ln>
                  <a:noFill/>
                </a:ln>
                <a:solidFill>
                  <a:srgbClr val="575757"/>
                </a:solidFill>
                <a:effectLst/>
                <a:uLnTx/>
                <a:uFillTx/>
                <a:latin typeface="OP Chevin Pro Light"/>
                <a:ea typeface="Microsoft YaHei" panose="020B0503020204020204" pitchFamily="34" charset="-122"/>
              </a:rPr>
              <a:t>系統</a:t>
            </a:r>
            <a:r>
              <a:rPr lang="zh-TW" altLang="en-US" sz="1400">
                <a:solidFill>
                  <a:srgbClr val="575757"/>
                </a:solidFill>
                <a:latin typeface="OP Chevin Pro Light"/>
                <a:ea typeface="Microsoft YaHei" panose="020B0503020204020204" pitchFamily="34" charset="-122"/>
              </a:rPr>
              <a:t>閉環將行銷成果　反饋回行銷資料集中</a:t>
            </a:r>
            <a:endParaRPr lang="en-US" altLang="zh-TW" sz="1400">
              <a:solidFill>
                <a:srgbClr val="575757"/>
              </a:solidFill>
              <a:latin typeface="OP Chevin Pro Light"/>
              <a:ea typeface="Microsoft YaHei" panose="020B0503020204020204" pitchFamily="34" charset="-122"/>
            </a:endParaRPr>
          </a:p>
          <a:p>
            <a:pPr marR="0" lvl="0" algn="ctr" defTabSz="685800" eaLnBrk="1" fontAlgn="auto" latinLnBrk="0" hangingPunct="1">
              <a:lnSpc>
                <a:spcPct val="100000"/>
              </a:lnSpc>
              <a:spcBef>
                <a:spcPts val="0"/>
              </a:spcBef>
              <a:spcAft>
                <a:spcPts val="0"/>
              </a:spcAft>
              <a:buClrTx/>
              <a:buSzTx/>
              <a:buFontTx/>
              <a:buNone/>
              <a:tabLst/>
              <a:defRPr/>
            </a:pPr>
            <a:endParaRPr kumimoji="0" lang="en-US" sz="1400" u="none" strike="noStrike" kern="1200" cap="none" spc="0" normalizeH="0" baseline="0" noProof="0">
              <a:ln>
                <a:noFill/>
              </a:ln>
              <a:solidFill>
                <a:srgbClr val="575757"/>
              </a:solidFill>
              <a:effectLst/>
              <a:uLnTx/>
              <a:uFillTx/>
              <a:latin typeface="OP Chevin Pro Light"/>
              <a:ea typeface="Microsoft YaHei" panose="020B0503020204020204" pitchFamily="34" charset="-122"/>
            </a:endParaRPr>
          </a:p>
          <a:p>
            <a:pPr marR="0" lvl="0" defTabSz="685800" eaLnBrk="1" fontAlgn="auto" latinLnBrk="0" hangingPunct="1">
              <a:lnSpc>
                <a:spcPct val="100000"/>
              </a:lnSpc>
              <a:spcBef>
                <a:spcPts val="0"/>
              </a:spcBef>
              <a:spcAft>
                <a:spcPts val="0"/>
              </a:spcAft>
              <a:buClrTx/>
              <a:buSzTx/>
              <a:buFontTx/>
              <a:buNone/>
              <a:tabLst/>
              <a:defRPr/>
            </a:pPr>
            <a:r>
              <a:rPr kumimoji="0" lang="zh-TW" altLang="en-US" sz="1200" u="none" strike="noStrike" kern="1200" cap="none" spc="0" normalizeH="0" baseline="0" noProof="0">
                <a:ln>
                  <a:noFill/>
                </a:ln>
                <a:solidFill>
                  <a:srgbClr val="575757"/>
                </a:solidFill>
                <a:effectLst/>
                <a:uLnTx/>
                <a:uFillTx/>
                <a:latin typeface="OP Chevin Pro Light"/>
                <a:ea typeface="Microsoft YaHei" panose="020B0503020204020204" pitchFamily="34" charset="-122"/>
              </a:rPr>
              <a:t>相關步驟</a:t>
            </a:r>
            <a:r>
              <a:rPr kumimoji="0" lang="en-US" altLang="zh-TW" sz="1200" u="none" strike="noStrike" kern="1200" cap="none" spc="0" normalizeH="0" baseline="0" noProof="0">
                <a:ln>
                  <a:noFill/>
                </a:ln>
                <a:solidFill>
                  <a:srgbClr val="575757"/>
                </a:solidFill>
                <a:effectLst/>
                <a:uLnTx/>
                <a:uFillTx/>
                <a:latin typeface="OP Chevin Pro Light"/>
                <a:ea typeface="Microsoft YaHei" panose="020B0503020204020204" pitchFamily="34" charset="-122"/>
              </a:rPr>
              <a:t>:</a:t>
            </a:r>
            <a:r>
              <a:rPr kumimoji="0" lang="zh-TW" altLang="en-US" sz="1200" u="none" strike="noStrike" kern="1200" cap="none" spc="0" normalizeH="0" baseline="0" noProof="0">
                <a:ln>
                  <a:noFill/>
                </a:ln>
                <a:solidFill>
                  <a:srgbClr val="575757"/>
                </a:solidFill>
                <a:effectLst/>
                <a:uLnTx/>
                <a:uFillTx/>
                <a:latin typeface="OP Chevin Pro Light"/>
                <a:ea typeface="Microsoft YaHei" panose="020B0503020204020204" pitchFamily="34" charset="-122"/>
              </a:rPr>
              <a:t> </a:t>
            </a:r>
            <a:endParaRPr kumimoji="0" lang="fi-FI" sz="1200" u="none" strike="noStrike" kern="1200" cap="none" spc="0" normalizeH="0" baseline="0" noProof="0">
              <a:ln>
                <a:noFill/>
              </a:ln>
              <a:solidFill>
                <a:srgbClr val="575757"/>
              </a:solidFill>
              <a:effectLst/>
              <a:uLnTx/>
              <a:uFillTx/>
              <a:latin typeface="OP Chevin Pro Light"/>
              <a:ea typeface="Microsoft YaHei" panose="020B0503020204020204" pitchFamily="34" charset="-122"/>
            </a:endParaRPr>
          </a:p>
        </p:txBody>
      </p:sp>
      <p:sp>
        <p:nvSpPr>
          <p:cNvPr id="78" name="TextBox 77">
            <a:extLst>
              <a:ext uri="{FF2B5EF4-FFF2-40B4-BE49-F238E27FC236}">
                <a16:creationId xmlns:a16="http://schemas.microsoft.com/office/drawing/2014/main" id="{F6028722-5607-8686-429E-541930D9EEC2}"/>
              </a:ext>
            </a:extLst>
          </p:cNvPr>
          <p:cNvSpPr txBox="1"/>
          <p:nvPr/>
        </p:nvSpPr>
        <p:spPr>
          <a:xfrm>
            <a:off x="243964" y="2359607"/>
            <a:ext cx="1398089" cy="2371586"/>
          </a:xfrm>
          <a:prstGeom prst="rect">
            <a:avLst/>
          </a:prstGeom>
          <a:solidFill>
            <a:srgbClr val="C9E7CA"/>
          </a:solidFill>
          <a:ln w="9525" cap="flat" cmpd="sng" algn="ctr">
            <a:noFill/>
            <a:prstDash val="solid"/>
            <a:round/>
            <a:headEnd type="none" w="med" len="med"/>
            <a:tailEnd type="none" w="med" len="med"/>
          </a:ln>
          <a:effectLst/>
          <a:extLst>
            <a:ext uri="{53640926-AAD7-44D8-BBD7-CCE9431645EC}">
              <a14:shadowObscured xmlns:a14="http://schemas.microsoft.com/office/drawing/2010/main"/>
            </a:ext>
          </a:extLst>
        </p:spPr>
        <p:txBody>
          <a:bodyPr wrap="square" lIns="93761" tIns="92285" rIns="93761" bIns="92285" rtlCol="0" anchor="ctr">
            <a:spAutoFit/>
          </a:bodyPr>
          <a:lstStyle/>
          <a:p>
            <a:pPr marR="0" lvl="0" algn="ctr" defTabSz="685800" eaLnBrk="1" fontAlgn="auto" latinLnBrk="0" hangingPunct="1">
              <a:lnSpc>
                <a:spcPct val="100000"/>
              </a:lnSpc>
              <a:spcBef>
                <a:spcPts val="0"/>
              </a:spcBef>
              <a:spcAft>
                <a:spcPts val="0"/>
              </a:spcAft>
              <a:buClrTx/>
              <a:buSzTx/>
              <a:buFontTx/>
              <a:buNone/>
              <a:tabLst/>
              <a:defRPr/>
            </a:pPr>
            <a:r>
              <a:rPr lang="zh-TW" altLang="en-US" sz="1600" b="1" i="1">
                <a:solidFill>
                  <a:srgbClr val="03522D"/>
                </a:solidFill>
                <a:latin typeface="OP Chevin Pro Light"/>
                <a:ea typeface="Microsoft YaHei" panose="020B0503020204020204" pitchFamily="34" charset="-122"/>
              </a:rPr>
              <a:t>中央管理數據基礎</a:t>
            </a:r>
            <a:endParaRPr lang="en-US" altLang="zh-TW" sz="1600" b="1" i="1">
              <a:solidFill>
                <a:srgbClr val="03522D"/>
              </a:solidFill>
              <a:latin typeface="OP Chevin Pro Light"/>
              <a:ea typeface="Microsoft YaHei" panose="020B0503020204020204" pitchFamily="34" charset="-122"/>
            </a:endParaRPr>
          </a:p>
          <a:p>
            <a:pPr marR="0" lvl="0" algn="ctr" defTabSz="685800" eaLnBrk="1" fontAlgn="auto" latinLnBrk="0" hangingPunct="1">
              <a:lnSpc>
                <a:spcPct val="100000"/>
              </a:lnSpc>
              <a:spcBef>
                <a:spcPts val="0"/>
              </a:spcBef>
              <a:spcAft>
                <a:spcPts val="0"/>
              </a:spcAft>
              <a:buClrTx/>
              <a:buSzTx/>
              <a:buFontTx/>
              <a:buNone/>
              <a:tabLst/>
              <a:defRPr/>
            </a:pPr>
            <a:r>
              <a:rPr lang="zh-TW" altLang="en-US" sz="1400">
                <a:solidFill>
                  <a:srgbClr val="575757"/>
                </a:solidFill>
                <a:latin typeface="OP Chevin Pro Light"/>
                <a:ea typeface="Microsoft YaHei" panose="020B0503020204020204" pitchFamily="34" charset="-122"/>
              </a:rPr>
              <a:t>有效集中客戶</a:t>
            </a:r>
            <a:r>
              <a:rPr lang="en-US" altLang="zh-TW" sz="1400">
                <a:solidFill>
                  <a:srgbClr val="575757"/>
                </a:solidFill>
                <a:latin typeface="OP Chevin Pro Light"/>
                <a:ea typeface="Microsoft YaHei" panose="020B0503020204020204" pitchFamily="34" charset="-122"/>
              </a:rPr>
              <a:t>360</a:t>
            </a:r>
            <a:r>
              <a:rPr lang="zh-TW" altLang="en-US" sz="1400">
                <a:solidFill>
                  <a:srgbClr val="575757"/>
                </a:solidFill>
                <a:latin typeface="OP Chevin Pro Light"/>
                <a:ea typeface="Microsoft YaHei" panose="020B0503020204020204" pitchFamily="34" charset="-122"/>
              </a:rPr>
              <a:t>數據，透過靜動態參數分析客戶行爲與偏好，打造精準預測模型</a:t>
            </a:r>
            <a:endParaRPr lang="en-US" altLang="zh-TW" sz="1400">
              <a:solidFill>
                <a:srgbClr val="575757"/>
              </a:solidFill>
              <a:latin typeface="OP Chevin Pro Light"/>
              <a:ea typeface="Microsoft YaHei" panose="020B0503020204020204" pitchFamily="34" charset="-122"/>
            </a:endParaRPr>
          </a:p>
          <a:p>
            <a:pPr marR="0" lvl="0" defTabSz="685800" eaLnBrk="1" fontAlgn="auto" latinLnBrk="0" hangingPunct="1">
              <a:lnSpc>
                <a:spcPct val="100000"/>
              </a:lnSpc>
              <a:spcBef>
                <a:spcPts val="0"/>
              </a:spcBef>
              <a:spcAft>
                <a:spcPts val="0"/>
              </a:spcAft>
              <a:buClrTx/>
              <a:buSzTx/>
              <a:buFontTx/>
              <a:buNone/>
              <a:tabLst/>
              <a:defRPr/>
            </a:pPr>
            <a:endParaRPr lang="en-US" altLang="zh-TW" sz="1400">
              <a:solidFill>
                <a:srgbClr val="575757"/>
              </a:solidFill>
              <a:latin typeface="OP Chevin Pro Light"/>
              <a:ea typeface="Microsoft YaHei" panose="020B0503020204020204" pitchFamily="34" charset="-122"/>
            </a:endParaRPr>
          </a:p>
          <a:p>
            <a:pPr marR="0" lvl="0" defTabSz="685800" eaLnBrk="1" fontAlgn="auto" latinLnBrk="0" hangingPunct="1">
              <a:lnSpc>
                <a:spcPct val="100000"/>
              </a:lnSpc>
              <a:spcBef>
                <a:spcPts val="0"/>
              </a:spcBef>
              <a:spcAft>
                <a:spcPts val="0"/>
              </a:spcAft>
              <a:buClrTx/>
              <a:buSzTx/>
              <a:buFontTx/>
              <a:buNone/>
              <a:tabLst/>
              <a:defRPr/>
            </a:pPr>
            <a:r>
              <a:rPr lang="zh-TW" altLang="en-US" sz="1200">
                <a:solidFill>
                  <a:srgbClr val="575757"/>
                </a:solidFill>
                <a:latin typeface="OP Chevin Pro Light"/>
                <a:ea typeface="Microsoft YaHei" panose="020B0503020204020204" pitchFamily="34" charset="-122"/>
              </a:rPr>
              <a:t>相關步驟</a:t>
            </a:r>
            <a:r>
              <a:rPr lang="en-US" altLang="zh-TW" sz="1200">
                <a:solidFill>
                  <a:srgbClr val="575757"/>
                </a:solidFill>
                <a:latin typeface="OP Chevin Pro Light"/>
                <a:ea typeface="Microsoft YaHei" panose="020B0503020204020204" pitchFamily="34" charset="-122"/>
              </a:rPr>
              <a:t>:</a:t>
            </a:r>
            <a:endParaRPr lang="fi-FI" sz="1200">
              <a:solidFill>
                <a:srgbClr val="575757"/>
              </a:solidFill>
              <a:latin typeface="OP Chevin Pro Light"/>
              <a:ea typeface="Microsoft YaHei" panose="020B0503020204020204" pitchFamily="34" charset="-122"/>
            </a:endParaRPr>
          </a:p>
        </p:txBody>
      </p:sp>
      <p:sp>
        <p:nvSpPr>
          <p:cNvPr id="88" name="TextBox 87">
            <a:extLst>
              <a:ext uri="{FF2B5EF4-FFF2-40B4-BE49-F238E27FC236}">
                <a16:creationId xmlns:a16="http://schemas.microsoft.com/office/drawing/2014/main" id="{611867F5-5E83-755A-1799-2CE23B5CA49F}"/>
              </a:ext>
            </a:extLst>
          </p:cNvPr>
          <p:cNvSpPr txBox="1"/>
          <p:nvPr/>
        </p:nvSpPr>
        <p:spPr>
          <a:xfrm>
            <a:off x="3620952" y="4625068"/>
            <a:ext cx="748923" cy="261610"/>
          </a:xfrm>
          <a:prstGeom prst="rect">
            <a:avLst/>
          </a:prstGeom>
          <a:solidFill>
            <a:srgbClr val="FFFFFF"/>
          </a:solid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100" b="1">
                <a:solidFill>
                  <a:srgbClr val="575757"/>
                </a:solidFill>
              </a:rPr>
              <a:t>行銷回饋</a:t>
            </a:r>
            <a:endParaRPr lang="en-US" sz="1100" b="1">
              <a:solidFill>
                <a:srgbClr val="575757"/>
              </a:solidFill>
            </a:endParaRPr>
          </a:p>
        </p:txBody>
      </p:sp>
      <p:sp>
        <p:nvSpPr>
          <p:cNvPr id="90" name="Oval 20">
            <a:extLst>
              <a:ext uri="{FF2B5EF4-FFF2-40B4-BE49-F238E27FC236}">
                <a16:creationId xmlns:a16="http://schemas.microsoft.com/office/drawing/2014/main" id="{2C8FEE76-B0EA-C4C9-2833-827C3ACC7FA1}"/>
              </a:ext>
            </a:extLst>
          </p:cNvPr>
          <p:cNvSpPr>
            <a:spLocks noChangeAspect="1" noChangeArrowheads="1"/>
          </p:cNvSpPr>
          <p:nvPr/>
        </p:nvSpPr>
        <p:spPr bwMode="auto">
          <a:xfrm>
            <a:off x="1040194" y="4434198"/>
            <a:ext cx="207678" cy="207678"/>
          </a:xfrm>
          <a:prstGeom prst="ellipse">
            <a:avLst/>
          </a:prstGeom>
          <a:solidFill>
            <a:srgbClr val="29BA74"/>
          </a:solidFill>
          <a:ln>
            <a:noFill/>
          </a:ln>
        </p:spPr>
        <p:txBody>
          <a:bodyPr vert="horz" wrap="square" lIns="0" tIns="0" rIns="0" bIns="0" numCol="1" anchor="ctr" anchorCtr="0" compatLnSpc="1">
            <a:prstTxWarp prst="textNoShape">
              <a:avLst/>
            </a:prstTxWarp>
          </a:bodyPr>
          <a:lstStyle/>
          <a:p>
            <a:pPr algn="ctr"/>
            <a:r>
              <a:rPr lang="en-US" sz="1050">
                <a:solidFill>
                  <a:schemeClr val="bg1"/>
                </a:solidFill>
              </a:rPr>
              <a:t>1</a:t>
            </a:r>
          </a:p>
        </p:txBody>
      </p:sp>
      <p:sp>
        <p:nvSpPr>
          <p:cNvPr id="91" name="Oval 20">
            <a:extLst>
              <a:ext uri="{FF2B5EF4-FFF2-40B4-BE49-F238E27FC236}">
                <a16:creationId xmlns:a16="http://schemas.microsoft.com/office/drawing/2014/main" id="{C1D3A675-6D30-41DD-1067-60A7C3D48C37}"/>
              </a:ext>
            </a:extLst>
          </p:cNvPr>
          <p:cNvSpPr>
            <a:spLocks noChangeAspect="1" noChangeArrowheads="1"/>
          </p:cNvSpPr>
          <p:nvPr/>
        </p:nvSpPr>
        <p:spPr bwMode="auto">
          <a:xfrm>
            <a:off x="3496046" y="4630053"/>
            <a:ext cx="207678" cy="207678"/>
          </a:xfrm>
          <a:prstGeom prst="ellipse">
            <a:avLst/>
          </a:prstGeom>
          <a:solidFill>
            <a:srgbClr val="29BA74"/>
          </a:solidFill>
          <a:ln>
            <a:noFill/>
          </a:ln>
        </p:spPr>
        <p:txBody>
          <a:bodyPr vert="horz" wrap="square" lIns="0" tIns="0" rIns="0" bIns="0" numCol="1" anchor="ctr" anchorCtr="0" compatLnSpc="1">
            <a:prstTxWarp prst="textNoShape">
              <a:avLst/>
            </a:prstTxWarp>
          </a:bodyPr>
          <a:lstStyle/>
          <a:p>
            <a:pPr algn="ctr"/>
            <a:r>
              <a:rPr lang="en-US" sz="1050">
                <a:solidFill>
                  <a:schemeClr val="bg1"/>
                </a:solidFill>
              </a:rPr>
              <a:t>6</a:t>
            </a:r>
          </a:p>
        </p:txBody>
      </p:sp>
      <p:sp>
        <p:nvSpPr>
          <p:cNvPr id="93" name="TextBox 92">
            <a:extLst>
              <a:ext uri="{FF2B5EF4-FFF2-40B4-BE49-F238E27FC236}">
                <a16:creationId xmlns:a16="http://schemas.microsoft.com/office/drawing/2014/main" id="{BAC9C29C-22D2-6A96-6421-23EFF2100199}"/>
              </a:ext>
            </a:extLst>
          </p:cNvPr>
          <p:cNvSpPr txBox="1"/>
          <p:nvPr/>
        </p:nvSpPr>
        <p:spPr>
          <a:xfrm>
            <a:off x="7399623" y="1966676"/>
            <a:ext cx="1031051" cy="261610"/>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spAutoFit/>
          </a:bodyPr>
          <a:lstStyle/>
          <a:p>
            <a:pPr algn="ctr"/>
            <a:r>
              <a:rPr lang="zh-TW" altLang="en-US" sz="1100" b="1">
                <a:solidFill>
                  <a:srgbClr val="575757"/>
                </a:solidFill>
              </a:rPr>
              <a:t>發送行銷信息</a:t>
            </a:r>
            <a:endParaRPr lang="en-US" sz="1100" b="1">
              <a:solidFill>
                <a:srgbClr val="575757"/>
              </a:solidFill>
            </a:endParaRPr>
          </a:p>
        </p:txBody>
      </p:sp>
      <p:sp>
        <p:nvSpPr>
          <p:cNvPr id="96" name="Oval 20">
            <a:extLst>
              <a:ext uri="{FF2B5EF4-FFF2-40B4-BE49-F238E27FC236}">
                <a16:creationId xmlns:a16="http://schemas.microsoft.com/office/drawing/2014/main" id="{A50EC4F5-FFDE-DD32-9D74-D7437B87C77B}"/>
              </a:ext>
            </a:extLst>
          </p:cNvPr>
          <p:cNvSpPr>
            <a:spLocks noChangeAspect="1" noChangeArrowheads="1"/>
          </p:cNvSpPr>
          <p:nvPr/>
        </p:nvSpPr>
        <p:spPr bwMode="auto">
          <a:xfrm>
            <a:off x="10762421" y="3257570"/>
            <a:ext cx="207678" cy="207678"/>
          </a:xfrm>
          <a:prstGeom prst="ellipse">
            <a:avLst/>
          </a:prstGeom>
          <a:solidFill>
            <a:srgbClr val="29BA74"/>
          </a:solidFill>
          <a:ln>
            <a:noFill/>
          </a:ln>
        </p:spPr>
        <p:txBody>
          <a:bodyPr vert="horz" wrap="square" lIns="0" tIns="0" rIns="0" bIns="0" numCol="1" anchor="ctr" anchorCtr="0" compatLnSpc="1">
            <a:prstTxWarp prst="textNoShape">
              <a:avLst/>
            </a:prstTxWarp>
          </a:bodyPr>
          <a:lstStyle/>
          <a:p>
            <a:pPr algn="ctr"/>
            <a:r>
              <a:rPr lang="en-US" sz="1050">
                <a:solidFill>
                  <a:schemeClr val="bg1"/>
                </a:solidFill>
              </a:rPr>
              <a:t>2</a:t>
            </a:r>
          </a:p>
        </p:txBody>
      </p:sp>
      <p:sp>
        <p:nvSpPr>
          <p:cNvPr id="98" name="Oval 20">
            <a:extLst>
              <a:ext uri="{FF2B5EF4-FFF2-40B4-BE49-F238E27FC236}">
                <a16:creationId xmlns:a16="http://schemas.microsoft.com/office/drawing/2014/main" id="{6F02EF8F-0477-37DB-F417-D1B1C100F270}"/>
              </a:ext>
            </a:extLst>
          </p:cNvPr>
          <p:cNvSpPr>
            <a:spLocks noChangeAspect="1" noChangeArrowheads="1"/>
          </p:cNvSpPr>
          <p:nvPr/>
        </p:nvSpPr>
        <p:spPr bwMode="auto">
          <a:xfrm>
            <a:off x="11205806" y="3257570"/>
            <a:ext cx="207678" cy="207678"/>
          </a:xfrm>
          <a:prstGeom prst="ellipse">
            <a:avLst/>
          </a:prstGeom>
          <a:solidFill>
            <a:srgbClr val="29BA74"/>
          </a:solidFill>
          <a:ln>
            <a:noFill/>
          </a:ln>
        </p:spPr>
        <p:txBody>
          <a:bodyPr vert="horz" wrap="square" lIns="0" tIns="0" rIns="0" bIns="0" numCol="1" anchor="ctr" anchorCtr="0" compatLnSpc="1">
            <a:prstTxWarp prst="textNoShape">
              <a:avLst/>
            </a:prstTxWarp>
          </a:bodyPr>
          <a:lstStyle/>
          <a:p>
            <a:pPr algn="ctr"/>
            <a:r>
              <a:rPr lang="en-US" sz="1050">
                <a:solidFill>
                  <a:schemeClr val="bg1"/>
                </a:solidFill>
              </a:rPr>
              <a:t>4</a:t>
            </a:r>
          </a:p>
        </p:txBody>
      </p:sp>
      <p:sp>
        <p:nvSpPr>
          <p:cNvPr id="100" name="TextBox 99">
            <a:extLst>
              <a:ext uri="{FF2B5EF4-FFF2-40B4-BE49-F238E27FC236}">
                <a16:creationId xmlns:a16="http://schemas.microsoft.com/office/drawing/2014/main" id="{A87316B3-F10E-9875-5916-F76ED29B73FD}"/>
              </a:ext>
            </a:extLst>
          </p:cNvPr>
          <p:cNvSpPr txBox="1"/>
          <p:nvPr/>
        </p:nvSpPr>
        <p:spPr>
          <a:xfrm>
            <a:off x="10918675" y="3228876"/>
            <a:ext cx="338555" cy="276999"/>
          </a:xfrm>
          <a:prstGeom prst="rect">
            <a:avLst/>
          </a:prstGeom>
          <a:noFill/>
          <a:ln w="9525" cap="rnd">
            <a:noFill/>
            <a:prstDash val="solid"/>
            <a:round/>
          </a:ln>
          <a:extLst>
            <a:ext uri="{909E8E84-426E-40DD-AFC4-6F175D3DCCD1}">
              <a14:hiddenFill xmlns:a14="http://schemas.microsoft.com/office/drawing/2010/main">
                <a:solidFill>
                  <a:schemeClr val="bg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spAutoFit/>
          </a:bodyPr>
          <a:lstStyle/>
          <a:p>
            <a:pPr algn="ctr"/>
            <a:r>
              <a:rPr lang="zh-TW" altLang="en-US" sz="1200">
                <a:solidFill>
                  <a:srgbClr val="575757"/>
                </a:solidFill>
              </a:rPr>
              <a:t>至</a:t>
            </a:r>
            <a:endParaRPr lang="en-US" sz="1100">
              <a:solidFill>
                <a:srgbClr val="575757"/>
              </a:solidFill>
            </a:endParaRPr>
          </a:p>
        </p:txBody>
      </p:sp>
      <p:sp>
        <p:nvSpPr>
          <p:cNvPr id="102" name="Oval 20">
            <a:extLst>
              <a:ext uri="{FF2B5EF4-FFF2-40B4-BE49-F238E27FC236}">
                <a16:creationId xmlns:a16="http://schemas.microsoft.com/office/drawing/2014/main" id="{5187E13E-8BFA-F5F6-D10F-8359698C14B1}"/>
              </a:ext>
            </a:extLst>
          </p:cNvPr>
          <p:cNvSpPr>
            <a:spLocks noChangeAspect="1" noChangeArrowheads="1"/>
          </p:cNvSpPr>
          <p:nvPr/>
        </p:nvSpPr>
        <p:spPr bwMode="auto">
          <a:xfrm>
            <a:off x="10737201" y="5411722"/>
            <a:ext cx="207678" cy="207678"/>
          </a:xfrm>
          <a:prstGeom prst="ellipse">
            <a:avLst/>
          </a:prstGeom>
          <a:solidFill>
            <a:srgbClr val="29BA74"/>
          </a:solidFill>
          <a:ln>
            <a:noFill/>
          </a:ln>
        </p:spPr>
        <p:txBody>
          <a:bodyPr vert="horz" wrap="square" lIns="0" tIns="0" rIns="0" bIns="0" numCol="1" anchor="ctr" anchorCtr="0" compatLnSpc="1">
            <a:prstTxWarp prst="textNoShape">
              <a:avLst/>
            </a:prstTxWarp>
          </a:bodyPr>
          <a:lstStyle/>
          <a:p>
            <a:pPr algn="ctr"/>
            <a:r>
              <a:rPr lang="en-US" sz="1050">
                <a:solidFill>
                  <a:schemeClr val="bg1"/>
                </a:solidFill>
              </a:rPr>
              <a:t>5</a:t>
            </a:r>
          </a:p>
        </p:txBody>
      </p:sp>
      <p:sp>
        <p:nvSpPr>
          <p:cNvPr id="104" name="Oval 20">
            <a:extLst>
              <a:ext uri="{FF2B5EF4-FFF2-40B4-BE49-F238E27FC236}">
                <a16:creationId xmlns:a16="http://schemas.microsoft.com/office/drawing/2014/main" id="{E62EE907-4B03-02B1-E63F-123731493C7E}"/>
              </a:ext>
            </a:extLst>
          </p:cNvPr>
          <p:cNvSpPr>
            <a:spLocks noChangeAspect="1" noChangeArrowheads="1"/>
          </p:cNvSpPr>
          <p:nvPr/>
        </p:nvSpPr>
        <p:spPr bwMode="auto">
          <a:xfrm>
            <a:off x="11180586" y="5411722"/>
            <a:ext cx="207678" cy="207678"/>
          </a:xfrm>
          <a:prstGeom prst="ellipse">
            <a:avLst/>
          </a:prstGeom>
          <a:solidFill>
            <a:srgbClr val="29BA74"/>
          </a:solidFill>
          <a:ln>
            <a:noFill/>
          </a:ln>
        </p:spPr>
        <p:txBody>
          <a:bodyPr vert="horz" wrap="square" lIns="0" tIns="0" rIns="0" bIns="0" numCol="1" anchor="ctr" anchorCtr="0" compatLnSpc="1">
            <a:prstTxWarp prst="textNoShape">
              <a:avLst/>
            </a:prstTxWarp>
          </a:bodyPr>
          <a:lstStyle/>
          <a:p>
            <a:pPr algn="ctr"/>
            <a:r>
              <a:rPr lang="en-US" sz="1050">
                <a:solidFill>
                  <a:schemeClr val="bg1"/>
                </a:solidFill>
              </a:rPr>
              <a:t>7</a:t>
            </a:r>
          </a:p>
        </p:txBody>
      </p:sp>
      <p:sp>
        <p:nvSpPr>
          <p:cNvPr id="105" name="TextBox 104">
            <a:extLst>
              <a:ext uri="{FF2B5EF4-FFF2-40B4-BE49-F238E27FC236}">
                <a16:creationId xmlns:a16="http://schemas.microsoft.com/office/drawing/2014/main" id="{AC844B59-4075-48C5-DD02-BB5BC4CC21C2}"/>
              </a:ext>
            </a:extLst>
          </p:cNvPr>
          <p:cNvSpPr txBox="1"/>
          <p:nvPr/>
        </p:nvSpPr>
        <p:spPr>
          <a:xfrm>
            <a:off x="10893455" y="5383028"/>
            <a:ext cx="338555" cy="276999"/>
          </a:xfrm>
          <a:prstGeom prst="rect">
            <a:avLst/>
          </a:prstGeom>
          <a:noFill/>
          <a:ln w="9525" cap="rnd">
            <a:noFill/>
            <a:prstDash val="solid"/>
            <a:round/>
          </a:ln>
          <a:extLst>
            <a:ext uri="{909E8E84-426E-40DD-AFC4-6F175D3DCCD1}">
              <a14:hiddenFill xmlns:a14="http://schemas.microsoft.com/office/drawing/2010/main">
                <a:solidFill>
                  <a:schemeClr val="bg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spAutoFit/>
          </a:bodyPr>
          <a:lstStyle/>
          <a:p>
            <a:pPr algn="ctr"/>
            <a:r>
              <a:rPr lang="zh-TW" altLang="en-US" sz="1200">
                <a:solidFill>
                  <a:srgbClr val="575757"/>
                </a:solidFill>
              </a:rPr>
              <a:t>至</a:t>
            </a:r>
            <a:endParaRPr lang="en-US" sz="1100">
              <a:solidFill>
                <a:srgbClr val="575757"/>
              </a:solidFill>
            </a:endParaRPr>
          </a:p>
        </p:txBody>
      </p:sp>
      <p:sp>
        <p:nvSpPr>
          <p:cNvPr id="106" name="Rectangle: Rounded Corners 105">
            <a:extLst>
              <a:ext uri="{FF2B5EF4-FFF2-40B4-BE49-F238E27FC236}">
                <a16:creationId xmlns:a16="http://schemas.microsoft.com/office/drawing/2014/main" id="{D2E14125-2DAC-8D55-A07F-87B2AB1E6EC2}"/>
              </a:ext>
            </a:extLst>
          </p:cNvPr>
          <p:cNvSpPr/>
          <p:nvPr/>
        </p:nvSpPr>
        <p:spPr>
          <a:xfrm>
            <a:off x="9926946" y="4193620"/>
            <a:ext cx="810255" cy="291046"/>
          </a:xfrm>
          <a:prstGeom prst="roundRect">
            <a:avLst>
              <a:gd name="adj" fmla="val 50000"/>
            </a:avLst>
          </a:prstGeom>
          <a:gradFill>
            <a:gsLst>
              <a:gs pos="0">
                <a:schemeClr val="accent1"/>
              </a:gs>
              <a:gs pos="100000">
                <a:srgbClr val="92D050"/>
              </a:gs>
            </a:gsLst>
            <a:lin ang="0" scaled="0"/>
          </a:gra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400" b="1">
                <a:solidFill>
                  <a:schemeClr val="bg1"/>
                </a:solidFill>
                <a:effectLst>
                  <a:outerShdw blurRad="38100" dist="38100" dir="2700000" algn="tl">
                    <a:srgbClr val="000000">
                      <a:alpha val="43137"/>
                    </a:srgbClr>
                  </a:outerShdw>
                </a:effectLst>
              </a:rPr>
              <a:t>關鍵</a:t>
            </a:r>
            <a:r>
              <a:rPr lang="en-US" altLang="zh-TW" sz="1400" b="1">
                <a:solidFill>
                  <a:schemeClr val="bg1"/>
                </a:solidFill>
                <a:effectLst>
                  <a:outerShdw blurRad="38100" dist="38100" dir="2700000" algn="tl">
                    <a:srgbClr val="000000">
                      <a:alpha val="43137"/>
                    </a:srgbClr>
                  </a:outerShdw>
                </a:effectLst>
              </a:rPr>
              <a:t>D</a:t>
            </a:r>
          </a:p>
        </p:txBody>
      </p:sp>
      <p:sp>
        <p:nvSpPr>
          <p:cNvPr id="107" name="Oval 20">
            <a:extLst>
              <a:ext uri="{FF2B5EF4-FFF2-40B4-BE49-F238E27FC236}">
                <a16:creationId xmlns:a16="http://schemas.microsoft.com/office/drawing/2014/main" id="{138450F4-FEEE-6D57-A929-5BC8CB8405D7}"/>
              </a:ext>
            </a:extLst>
          </p:cNvPr>
          <p:cNvSpPr>
            <a:spLocks noChangeAspect="1" noChangeArrowheads="1"/>
          </p:cNvSpPr>
          <p:nvPr/>
        </p:nvSpPr>
        <p:spPr bwMode="auto">
          <a:xfrm>
            <a:off x="1424402" y="4434198"/>
            <a:ext cx="207678" cy="207678"/>
          </a:xfrm>
          <a:prstGeom prst="ellipse">
            <a:avLst/>
          </a:prstGeom>
          <a:solidFill>
            <a:srgbClr val="29BA74"/>
          </a:solidFill>
          <a:ln>
            <a:noFill/>
          </a:ln>
        </p:spPr>
        <p:txBody>
          <a:bodyPr vert="horz" wrap="square" lIns="0" tIns="0" rIns="0" bIns="0" numCol="1" anchor="ctr" anchorCtr="0" compatLnSpc="1">
            <a:prstTxWarp prst="textNoShape">
              <a:avLst/>
            </a:prstTxWarp>
          </a:bodyPr>
          <a:lstStyle/>
          <a:p>
            <a:pPr algn="ctr"/>
            <a:r>
              <a:rPr lang="en-US" sz="1050">
                <a:solidFill>
                  <a:schemeClr val="bg1"/>
                </a:solidFill>
              </a:rPr>
              <a:t>2</a:t>
            </a:r>
          </a:p>
        </p:txBody>
      </p:sp>
      <p:sp>
        <p:nvSpPr>
          <p:cNvPr id="110" name="TextBox 109">
            <a:extLst>
              <a:ext uri="{FF2B5EF4-FFF2-40B4-BE49-F238E27FC236}">
                <a16:creationId xmlns:a16="http://schemas.microsoft.com/office/drawing/2014/main" id="{80BED354-0CD4-89F7-E7E5-78F43381A986}"/>
              </a:ext>
            </a:extLst>
          </p:cNvPr>
          <p:cNvSpPr txBox="1"/>
          <p:nvPr/>
        </p:nvSpPr>
        <p:spPr>
          <a:xfrm>
            <a:off x="1165596" y="4405040"/>
            <a:ext cx="338555" cy="276999"/>
          </a:xfrm>
          <a:prstGeom prst="rect">
            <a:avLst/>
          </a:prstGeom>
          <a:noFill/>
          <a:ln w="9525" cap="rnd">
            <a:noFill/>
            <a:prstDash val="solid"/>
            <a:round/>
          </a:ln>
          <a:extLst>
            <a:ext uri="{909E8E84-426E-40DD-AFC4-6F175D3DCCD1}">
              <a14:hiddenFill xmlns:a14="http://schemas.microsoft.com/office/drawing/2010/main">
                <a:solidFill>
                  <a:schemeClr val="bg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spAutoFit/>
          </a:bodyPr>
          <a:lstStyle/>
          <a:p>
            <a:pPr algn="ctr"/>
            <a:r>
              <a:rPr lang="zh-TW" altLang="en-US" sz="1200">
                <a:solidFill>
                  <a:srgbClr val="575757"/>
                </a:solidFill>
              </a:rPr>
              <a:t>至</a:t>
            </a:r>
            <a:endParaRPr lang="en-US" sz="1100">
              <a:solidFill>
                <a:srgbClr val="575757"/>
              </a:solidFill>
            </a:endParaRPr>
          </a:p>
        </p:txBody>
      </p:sp>
      <p:sp>
        <p:nvSpPr>
          <p:cNvPr id="119" name="ee4pFootnotes">
            <a:extLst>
              <a:ext uri="{FF2B5EF4-FFF2-40B4-BE49-F238E27FC236}">
                <a16:creationId xmlns:a16="http://schemas.microsoft.com/office/drawing/2014/main" id="{4ADBF1D3-DC2D-07BD-AFD0-DA839BF8842A}"/>
              </a:ext>
            </a:extLst>
          </p:cNvPr>
          <p:cNvSpPr>
            <a:spLocks noChangeArrowheads="1"/>
          </p:cNvSpPr>
          <p:nvPr/>
        </p:nvSpPr>
        <p:spPr bwMode="auto">
          <a:xfrm>
            <a:off x="630000" y="6282941"/>
            <a:ext cx="9030914" cy="276999"/>
          </a:xfrm>
          <a:prstGeom prst="rect">
            <a:avLst/>
          </a:prstGeom>
          <a:noFill/>
          <a:ln w="9525" algn="ctr">
            <a:noFill/>
            <a:miter lim="800000"/>
            <a:headEnd type="none" w="lg" len="lg"/>
            <a:tailEnd type="none" w="lg" len="lg"/>
          </a:ln>
        </p:spPr>
        <p:txBody>
          <a:bodyPr vert="horz" wrap="square" lIns="0" tIns="0" rIns="0" bIns="0" anchor="b" anchorCtr="0">
            <a:spAutoFit/>
          </a:bodyPr>
          <a:lstStyle/>
          <a:p>
            <a:pPr marL="228600" indent="-228600">
              <a:lnSpc>
                <a:spcPct val="90000"/>
              </a:lnSpc>
              <a:buAutoNum type="arabicPeriod"/>
            </a:pPr>
            <a:r>
              <a:rPr lang="en-US" sz="1000">
                <a:solidFill>
                  <a:schemeClr val="bg1">
                    <a:lumMod val="50000"/>
                  </a:schemeClr>
                </a:solidFill>
                <a:latin typeface="Trebuchet MS" panose="020B0603020202020204" pitchFamily="34" charset="0"/>
                <a:cs typeface="Arial" pitchFamily="34" charset="0"/>
              </a:rPr>
              <a:t>Life Time Value</a:t>
            </a:r>
            <a:r>
              <a:rPr lang="zh-TW" altLang="en-US" sz="1000">
                <a:solidFill>
                  <a:schemeClr val="bg1">
                    <a:lumMod val="50000"/>
                  </a:schemeClr>
                </a:solidFill>
                <a:latin typeface="Trebuchet MS" panose="020B0603020202020204" pitchFamily="34" charset="0"/>
                <a:cs typeface="Arial" pitchFamily="34" charset="0"/>
              </a:rPr>
              <a:t>的簡稱</a:t>
            </a:r>
            <a:endParaRPr lang="en-US" altLang="zh-TW" sz="1000">
              <a:solidFill>
                <a:schemeClr val="bg1">
                  <a:lumMod val="50000"/>
                </a:schemeClr>
              </a:solidFill>
              <a:latin typeface="Trebuchet MS" panose="020B0603020202020204" pitchFamily="34" charset="0"/>
              <a:cs typeface="Arial" pitchFamily="34" charset="0"/>
            </a:endParaRPr>
          </a:p>
          <a:p>
            <a:pPr>
              <a:lnSpc>
                <a:spcPct val="90000"/>
              </a:lnSpc>
            </a:pPr>
            <a:r>
              <a:rPr lang="zh-TW" altLang="en-US" sz="1000">
                <a:solidFill>
                  <a:schemeClr val="bg1">
                    <a:lumMod val="50000"/>
                  </a:schemeClr>
                </a:solidFill>
                <a:latin typeface="Trebuchet MS" panose="020B0603020202020204" pitchFamily="34" charset="0"/>
                <a:cs typeface="Arial" pitchFamily="34" charset="0"/>
              </a:rPr>
              <a:t>資料來源：專家訪談</a:t>
            </a:r>
            <a:r>
              <a:rPr lang="en-US" altLang="zh-TW" sz="1000">
                <a:solidFill>
                  <a:schemeClr val="bg1">
                    <a:lumMod val="50000"/>
                  </a:schemeClr>
                </a:solidFill>
                <a:latin typeface="Trebuchet MS" panose="020B0603020202020204" pitchFamily="34" charset="0"/>
                <a:cs typeface="Arial" pitchFamily="34" charset="0"/>
              </a:rPr>
              <a:t>; BCG</a:t>
            </a:r>
            <a:r>
              <a:rPr lang="zh-TW" altLang="en-US" sz="1000">
                <a:solidFill>
                  <a:schemeClr val="bg1">
                    <a:lumMod val="50000"/>
                  </a:schemeClr>
                </a:solidFill>
                <a:latin typeface="Trebuchet MS" panose="020B0603020202020204" pitchFamily="34" charset="0"/>
                <a:cs typeface="Arial" pitchFamily="34" charset="0"/>
              </a:rPr>
              <a:t>過去專案經驗</a:t>
            </a:r>
            <a:endParaRPr lang="en-US" sz="1000">
              <a:solidFill>
                <a:schemeClr val="bg1">
                  <a:lumMod val="50000"/>
                </a:schemeClr>
              </a:solidFill>
              <a:latin typeface="Trebuchet MS" panose="020B0603020202020204" pitchFamily="34" charset="0"/>
              <a:cs typeface="Arial" pitchFamily="34" charset="0"/>
            </a:endParaRPr>
          </a:p>
        </p:txBody>
      </p:sp>
      <p:sp>
        <p:nvSpPr>
          <p:cNvPr id="124" name="Rectangle: Rounded Corners 123">
            <a:extLst>
              <a:ext uri="{FF2B5EF4-FFF2-40B4-BE49-F238E27FC236}">
                <a16:creationId xmlns:a16="http://schemas.microsoft.com/office/drawing/2014/main" id="{FB6343DB-1D07-5ED3-69CD-F123248112B8}"/>
              </a:ext>
            </a:extLst>
          </p:cNvPr>
          <p:cNvSpPr/>
          <p:nvPr/>
        </p:nvSpPr>
        <p:spPr>
          <a:xfrm>
            <a:off x="9926946" y="1641660"/>
            <a:ext cx="810255" cy="291046"/>
          </a:xfrm>
          <a:prstGeom prst="roundRect">
            <a:avLst>
              <a:gd name="adj" fmla="val 50000"/>
            </a:avLst>
          </a:prstGeom>
          <a:gradFill>
            <a:gsLst>
              <a:gs pos="0">
                <a:schemeClr val="accent1"/>
              </a:gs>
              <a:gs pos="100000">
                <a:srgbClr val="92D050"/>
              </a:gs>
            </a:gsLst>
            <a:lin ang="0" scaled="0"/>
          </a:gra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400" b="1">
                <a:solidFill>
                  <a:schemeClr val="bg1"/>
                </a:solidFill>
                <a:effectLst>
                  <a:outerShdw blurRad="38100" dist="38100" dir="2700000" algn="tl">
                    <a:srgbClr val="000000">
                      <a:alpha val="43137"/>
                    </a:srgbClr>
                  </a:outerShdw>
                </a:effectLst>
              </a:rPr>
              <a:t>關鍵</a:t>
            </a:r>
            <a:r>
              <a:rPr lang="en-US" altLang="zh-TW" sz="1400" b="1">
                <a:solidFill>
                  <a:schemeClr val="bg1"/>
                </a:solidFill>
                <a:effectLst>
                  <a:outerShdw blurRad="38100" dist="38100" dir="2700000" algn="tl">
                    <a:srgbClr val="000000">
                      <a:alpha val="43137"/>
                    </a:srgbClr>
                  </a:outerShdw>
                </a:effectLst>
              </a:rPr>
              <a:t>C</a:t>
            </a:r>
          </a:p>
        </p:txBody>
      </p:sp>
      <p:sp>
        <p:nvSpPr>
          <p:cNvPr id="129" name="Rectangle: Rounded Corners 128">
            <a:extLst>
              <a:ext uri="{FF2B5EF4-FFF2-40B4-BE49-F238E27FC236}">
                <a16:creationId xmlns:a16="http://schemas.microsoft.com/office/drawing/2014/main" id="{3CEE68D4-CD36-FBAC-D54F-77F169D16294}"/>
              </a:ext>
            </a:extLst>
          </p:cNvPr>
          <p:cNvSpPr/>
          <p:nvPr/>
        </p:nvSpPr>
        <p:spPr>
          <a:xfrm>
            <a:off x="200962" y="2107556"/>
            <a:ext cx="810255" cy="291046"/>
          </a:xfrm>
          <a:prstGeom prst="roundRect">
            <a:avLst>
              <a:gd name="adj" fmla="val 50000"/>
            </a:avLst>
          </a:prstGeom>
          <a:gradFill>
            <a:gsLst>
              <a:gs pos="0">
                <a:schemeClr val="accent1"/>
              </a:gs>
              <a:gs pos="100000">
                <a:srgbClr val="92D050"/>
              </a:gs>
            </a:gsLst>
            <a:lin ang="0" scaled="0"/>
          </a:gra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400" b="1">
                <a:solidFill>
                  <a:schemeClr val="bg1"/>
                </a:solidFill>
                <a:effectLst>
                  <a:outerShdw blurRad="38100" dist="38100" dir="2700000" algn="tl">
                    <a:srgbClr val="000000">
                      <a:alpha val="43137"/>
                    </a:srgbClr>
                  </a:outerShdw>
                </a:effectLst>
              </a:rPr>
              <a:t>關鍵</a:t>
            </a:r>
            <a:r>
              <a:rPr lang="en-US" altLang="zh-TW" sz="1400" b="1">
                <a:solidFill>
                  <a:schemeClr val="bg1"/>
                </a:solidFill>
                <a:effectLst>
                  <a:outerShdw blurRad="38100" dist="38100" dir="2700000" algn="tl">
                    <a:srgbClr val="000000">
                      <a:alpha val="43137"/>
                    </a:srgbClr>
                  </a:outerShdw>
                </a:effectLst>
              </a:rPr>
              <a:t>A</a:t>
            </a:r>
          </a:p>
        </p:txBody>
      </p:sp>
      <p:sp>
        <p:nvSpPr>
          <p:cNvPr id="8" name="ee4pHeader1">
            <a:extLst>
              <a:ext uri="{FF2B5EF4-FFF2-40B4-BE49-F238E27FC236}">
                <a16:creationId xmlns:a16="http://schemas.microsoft.com/office/drawing/2014/main" id="{E057C0D5-E455-D54C-EFA1-3FADF40CA2A1}"/>
              </a:ext>
            </a:extLst>
          </p:cNvPr>
          <p:cNvSpPr txBox="1"/>
          <p:nvPr/>
        </p:nvSpPr>
        <p:spPr>
          <a:xfrm>
            <a:off x="466919" y="69115"/>
            <a:ext cx="1348981" cy="469263"/>
          </a:xfrm>
          <a:prstGeom prst="rect">
            <a:avLst/>
          </a:prstGeom>
          <a:noFill/>
          <a:ln cap="rnd">
            <a:noFill/>
          </a:ln>
        </p:spPr>
        <p:txBody>
          <a:bodyPr vert="horz" wrap="square" lIns="0" tIns="0" rIns="0" bIns="0" rtlCol="0" anchor="ctr" anchorCtr="0">
            <a:noAutofit/>
          </a:bodyPr>
          <a:lstStyle/>
          <a:p>
            <a:pPr>
              <a:buSzPct val="100000"/>
              <a:buFont typeface="Trebuchet MS" panose="020B0603020202020204" pitchFamily="34" charset="0"/>
              <a:buChar char="​"/>
            </a:pPr>
            <a:r>
              <a:rPr lang="zh-TW" altLang="en-US" sz="1400" b="1">
                <a:solidFill>
                  <a:srgbClr val="29BA74"/>
                </a:solidFill>
                <a:ea typeface="Microsoft YaHei" panose="020B0503020204020204" pitchFamily="34" charset="-122"/>
                <a:sym typeface="+mn-lt"/>
              </a:rPr>
              <a:t>平台系統</a:t>
            </a:r>
            <a:endParaRPr lang="en-US" sz="1400" b="1">
              <a:solidFill>
                <a:srgbClr val="29BA74"/>
              </a:solidFill>
              <a:ea typeface="Microsoft YaHei" panose="020B0503020204020204" pitchFamily="34" charset="-122"/>
              <a:sym typeface="+mn-lt"/>
            </a:endParaRPr>
          </a:p>
        </p:txBody>
      </p:sp>
      <p:sp>
        <p:nvSpPr>
          <p:cNvPr id="29" name="Oval 20">
            <a:extLst>
              <a:ext uri="{FF2B5EF4-FFF2-40B4-BE49-F238E27FC236}">
                <a16:creationId xmlns:a16="http://schemas.microsoft.com/office/drawing/2014/main" id="{415192D0-1D98-CC3C-F00E-B1FD85A3FCEF}"/>
              </a:ext>
            </a:extLst>
          </p:cNvPr>
          <p:cNvSpPr>
            <a:spLocks noChangeAspect="1" noChangeArrowheads="1"/>
          </p:cNvSpPr>
          <p:nvPr/>
        </p:nvSpPr>
        <p:spPr bwMode="auto">
          <a:xfrm>
            <a:off x="141430" y="195189"/>
            <a:ext cx="238259" cy="238259"/>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altLang="zh-TW" sz="1200">
                <a:solidFill>
                  <a:schemeClr val="bg1"/>
                </a:solidFill>
              </a:rPr>
              <a:t>E</a:t>
            </a:r>
            <a:endParaRPr lang="en-US" sz="1200">
              <a:solidFill>
                <a:schemeClr val="bg1"/>
              </a:solidFill>
            </a:endParaRPr>
          </a:p>
        </p:txBody>
      </p:sp>
      <p:sp>
        <p:nvSpPr>
          <p:cNvPr id="30" name="TextBox 29">
            <a:extLst>
              <a:ext uri="{FF2B5EF4-FFF2-40B4-BE49-F238E27FC236}">
                <a16:creationId xmlns:a16="http://schemas.microsoft.com/office/drawing/2014/main" id="{5C7EE73B-2B3A-91C7-32FA-4343E7C4166D}"/>
              </a:ext>
            </a:extLst>
          </p:cNvPr>
          <p:cNvSpPr txBox="1"/>
          <p:nvPr/>
        </p:nvSpPr>
        <p:spPr>
          <a:xfrm>
            <a:off x="2872176" y="5602725"/>
            <a:ext cx="3642924" cy="784983"/>
          </a:xfrm>
          <a:prstGeom prst="rect">
            <a:avLst/>
          </a:prstGeom>
          <a:solidFill>
            <a:srgbClr val="C9E7CA"/>
          </a:solidFill>
          <a:ln w="9525" cap="flat" cmpd="sng" algn="ctr">
            <a:noFill/>
            <a:prstDash val="solid"/>
            <a:round/>
            <a:headEnd type="none" w="med" len="med"/>
            <a:tailEnd type="none" w="med" len="med"/>
          </a:ln>
          <a:effectLst/>
          <a:extLst>
            <a:ext uri="{53640926-AAD7-44D8-BBD7-CCE9431645EC}">
              <a14:shadowObscured xmlns:a14="http://schemas.microsoft.com/office/drawing/2010/main"/>
            </a:ext>
          </a:extLst>
        </p:spPr>
        <p:txBody>
          <a:bodyPr wrap="square" lIns="93761" tIns="92285" rIns="93761" bIns="92285" rtlCol="0" anchor="ctr">
            <a:spAutoFit/>
          </a:bodyPr>
          <a:lstStyle/>
          <a:p>
            <a:pPr marR="0" lvl="0" algn="ctr" defTabSz="685800" eaLnBrk="1" fontAlgn="auto" latinLnBrk="0" hangingPunct="1">
              <a:lnSpc>
                <a:spcPct val="100000"/>
              </a:lnSpc>
              <a:spcBef>
                <a:spcPts val="0"/>
              </a:spcBef>
              <a:spcAft>
                <a:spcPts val="0"/>
              </a:spcAft>
              <a:buClrTx/>
              <a:buSzTx/>
              <a:buFontTx/>
              <a:buNone/>
              <a:tabLst/>
              <a:defRPr/>
            </a:pPr>
            <a:r>
              <a:rPr lang="zh-TW" altLang="en-US" sz="1600" b="1" i="1">
                <a:solidFill>
                  <a:srgbClr val="03522D"/>
                </a:solidFill>
                <a:latin typeface="OP Chevin Pro Light"/>
                <a:ea typeface="Microsoft YaHei" panose="020B0503020204020204" pitchFamily="34" charset="-122"/>
              </a:rPr>
              <a:t>精準預測模型</a:t>
            </a:r>
            <a:endParaRPr lang="en-US" altLang="zh-TW" sz="1600" b="1" i="1">
              <a:solidFill>
                <a:srgbClr val="03522D"/>
              </a:solidFill>
              <a:latin typeface="OP Chevin Pro Light"/>
              <a:ea typeface="Microsoft YaHei" panose="020B0503020204020204" pitchFamily="34" charset="-122"/>
            </a:endParaRPr>
          </a:p>
          <a:p>
            <a:pPr marR="0" lvl="0" algn="ctr" defTabSz="685800" eaLnBrk="1" fontAlgn="auto" latinLnBrk="0" hangingPunct="1">
              <a:lnSpc>
                <a:spcPct val="100000"/>
              </a:lnSpc>
              <a:spcBef>
                <a:spcPts val="0"/>
              </a:spcBef>
              <a:spcAft>
                <a:spcPts val="0"/>
              </a:spcAft>
              <a:buClrTx/>
              <a:buSzTx/>
              <a:buFontTx/>
              <a:buNone/>
              <a:tabLst/>
              <a:defRPr/>
            </a:pPr>
            <a:r>
              <a:rPr kumimoji="0" lang="zh-TW" altLang="en-US" sz="1400" u="none" strike="noStrike" kern="1200" cap="none" spc="0" normalizeH="0" baseline="0" noProof="0">
                <a:ln>
                  <a:noFill/>
                </a:ln>
                <a:solidFill>
                  <a:srgbClr val="575757"/>
                </a:solidFill>
                <a:effectLst/>
                <a:uLnTx/>
                <a:uFillTx/>
                <a:latin typeface="OP Chevin Pro Light"/>
                <a:ea typeface="Microsoft YaHei" panose="020B0503020204020204" pitchFamily="34" charset="-122"/>
              </a:rPr>
              <a:t>透過各式</a:t>
            </a:r>
            <a:r>
              <a:rPr kumimoji="0" lang="en-US" altLang="zh-TW" sz="1400" u="none" strike="noStrike" kern="1200" cap="none" spc="0" normalizeH="0" baseline="0" noProof="0">
                <a:ln>
                  <a:noFill/>
                </a:ln>
                <a:solidFill>
                  <a:srgbClr val="575757"/>
                </a:solidFill>
                <a:effectLst/>
                <a:uLnTx/>
                <a:uFillTx/>
                <a:latin typeface="OP Chevin Pro Light"/>
                <a:ea typeface="Microsoft YaHei" panose="020B0503020204020204" pitchFamily="34" charset="-122"/>
              </a:rPr>
              <a:t>A/B</a:t>
            </a:r>
            <a:r>
              <a:rPr kumimoji="0" lang="zh-TW" altLang="en-US" sz="1400" u="none" strike="noStrike" kern="1200" cap="none" spc="0" normalizeH="0" baseline="0" noProof="0">
                <a:ln>
                  <a:noFill/>
                </a:ln>
                <a:solidFill>
                  <a:srgbClr val="575757"/>
                </a:solidFill>
                <a:effectLst/>
                <a:uLnTx/>
                <a:uFillTx/>
                <a:latin typeface="OP Chevin Pro Light"/>
                <a:ea typeface="Microsoft YaHei" panose="020B0503020204020204" pitchFamily="34" charset="-122"/>
              </a:rPr>
              <a:t>測試分析，驗證方案精準度及有效性，逐步優化個性化經營精準度</a:t>
            </a:r>
            <a:endParaRPr kumimoji="0" lang="en-US" altLang="zh-TW" sz="1400" u="none" strike="noStrike" kern="1200" cap="none" spc="0" normalizeH="0" baseline="0" noProof="0">
              <a:ln>
                <a:noFill/>
              </a:ln>
              <a:solidFill>
                <a:srgbClr val="575757"/>
              </a:solidFill>
              <a:effectLst/>
              <a:uLnTx/>
              <a:uFillTx/>
              <a:latin typeface="OP Chevin Pro Light"/>
              <a:ea typeface="Microsoft YaHei" panose="020B0503020204020204" pitchFamily="34" charset="-122"/>
            </a:endParaRPr>
          </a:p>
        </p:txBody>
      </p:sp>
      <p:sp>
        <p:nvSpPr>
          <p:cNvPr id="31" name="Rectangle: Rounded Corners 30">
            <a:extLst>
              <a:ext uri="{FF2B5EF4-FFF2-40B4-BE49-F238E27FC236}">
                <a16:creationId xmlns:a16="http://schemas.microsoft.com/office/drawing/2014/main" id="{35CF54F5-937B-EEEA-1AFF-4CD96F3AAF22}"/>
              </a:ext>
            </a:extLst>
          </p:cNvPr>
          <p:cNvSpPr/>
          <p:nvPr/>
        </p:nvSpPr>
        <p:spPr>
          <a:xfrm>
            <a:off x="3090918" y="5578052"/>
            <a:ext cx="810255" cy="291046"/>
          </a:xfrm>
          <a:prstGeom prst="roundRect">
            <a:avLst>
              <a:gd name="adj" fmla="val 50000"/>
            </a:avLst>
          </a:prstGeom>
          <a:gradFill>
            <a:gsLst>
              <a:gs pos="0">
                <a:schemeClr val="accent1"/>
              </a:gs>
              <a:gs pos="100000">
                <a:srgbClr val="92D050"/>
              </a:gs>
            </a:gsLst>
            <a:lin ang="0" scaled="0"/>
          </a:gra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400" b="1">
                <a:solidFill>
                  <a:schemeClr val="bg1"/>
                </a:solidFill>
                <a:effectLst>
                  <a:outerShdw blurRad="38100" dist="38100" dir="2700000" algn="tl">
                    <a:srgbClr val="000000">
                      <a:alpha val="43137"/>
                    </a:srgbClr>
                  </a:outerShdw>
                </a:effectLst>
              </a:rPr>
              <a:t>關鍵</a:t>
            </a:r>
            <a:r>
              <a:rPr lang="en-US" altLang="zh-TW" sz="1400" b="1">
                <a:solidFill>
                  <a:schemeClr val="bg1"/>
                </a:solidFill>
                <a:effectLst>
                  <a:outerShdw blurRad="38100" dist="38100" dir="2700000" algn="tl">
                    <a:srgbClr val="000000">
                      <a:alpha val="43137"/>
                    </a:srgbClr>
                  </a:outerShdw>
                </a:effectLst>
              </a:rPr>
              <a:t>B</a:t>
            </a:r>
          </a:p>
        </p:txBody>
      </p:sp>
      <p:sp>
        <p:nvSpPr>
          <p:cNvPr id="35" name="Oval 20">
            <a:extLst>
              <a:ext uri="{FF2B5EF4-FFF2-40B4-BE49-F238E27FC236}">
                <a16:creationId xmlns:a16="http://schemas.microsoft.com/office/drawing/2014/main" id="{7BBBCDBE-F688-02A4-C4B4-2CFA495289FA}"/>
              </a:ext>
            </a:extLst>
          </p:cNvPr>
          <p:cNvSpPr>
            <a:spLocks noChangeAspect="1" noChangeArrowheads="1"/>
          </p:cNvSpPr>
          <p:nvPr/>
        </p:nvSpPr>
        <p:spPr bwMode="auto">
          <a:xfrm>
            <a:off x="6549630" y="6142734"/>
            <a:ext cx="207678" cy="207678"/>
          </a:xfrm>
          <a:prstGeom prst="ellipse">
            <a:avLst/>
          </a:prstGeom>
          <a:solidFill>
            <a:srgbClr val="29BA74"/>
          </a:solidFill>
          <a:ln>
            <a:noFill/>
          </a:ln>
        </p:spPr>
        <p:txBody>
          <a:bodyPr vert="horz" wrap="square" lIns="0" tIns="0" rIns="0" bIns="0" numCol="1" anchor="ctr" anchorCtr="0" compatLnSpc="1">
            <a:prstTxWarp prst="textNoShape">
              <a:avLst/>
            </a:prstTxWarp>
          </a:bodyPr>
          <a:lstStyle/>
          <a:p>
            <a:pPr algn="ctr"/>
            <a:r>
              <a:rPr lang="en-US" sz="1050">
                <a:solidFill>
                  <a:schemeClr val="bg1"/>
                </a:solidFill>
              </a:rPr>
              <a:t>2</a:t>
            </a:r>
          </a:p>
        </p:txBody>
      </p:sp>
      <p:sp>
        <p:nvSpPr>
          <p:cNvPr id="44" name="Oval 20">
            <a:extLst>
              <a:ext uri="{FF2B5EF4-FFF2-40B4-BE49-F238E27FC236}">
                <a16:creationId xmlns:a16="http://schemas.microsoft.com/office/drawing/2014/main" id="{F39759E9-BCCE-750B-7E20-C8683534CB6B}"/>
              </a:ext>
            </a:extLst>
          </p:cNvPr>
          <p:cNvSpPr>
            <a:spLocks noChangeAspect="1" noChangeArrowheads="1"/>
          </p:cNvSpPr>
          <p:nvPr/>
        </p:nvSpPr>
        <p:spPr bwMode="auto">
          <a:xfrm>
            <a:off x="6788420" y="6142734"/>
            <a:ext cx="207678" cy="207678"/>
          </a:xfrm>
          <a:prstGeom prst="ellipse">
            <a:avLst/>
          </a:prstGeom>
          <a:solidFill>
            <a:srgbClr val="29BA74"/>
          </a:solidFill>
          <a:ln>
            <a:noFill/>
          </a:ln>
        </p:spPr>
        <p:txBody>
          <a:bodyPr vert="horz" wrap="square" lIns="0" tIns="0" rIns="0" bIns="0" numCol="1" anchor="ctr" anchorCtr="0" compatLnSpc="1">
            <a:prstTxWarp prst="textNoShape">
              <a:avLst/>
            </a:prstTxWarp>
          </a:bodyPr>
          <a:lstStyle/>
          <a:p>
            <a:pPr algn="ctr"/>
            <a:r>
              <a:rPr lang="en-US" sz="1050">
                <a:solidFill>
                  <a:schemeClr val="bg1"/>
                </a:solidFill>
              </a:rPr>
              <a:t>6</a:t>
            </a:r>
          </a:p>
        </p:txBody>
      </p:sp>
      <p:sp>
        <p:nvSpPr>
          <p:cNvPr id="47" name="Oval 20">
            <a:extLst>
              <a:ext uri="{FF2B5EF4-FFF2-40B4-BE49-F238E27FC236}">
                <a16:creationId xmlns:a16="http://schemas.microsoft.com/office/drawing/2014/main" id="{B2510981-8D77-CE11-09D7-AA4C95BB8534}"/>
              </a:ext>
            </a:extLst>
          </p:cNvPr>
          <p:cNvSpPr>
            <a:spLocks noChangeAspect="1" noChangeArrowheads="1"/>
          </p:cNvSpPr>
          <p:nvPr/>
        </p:nvSpPr>
        <p:spPr bwMode="auto">
          <a:xfrm>
            <a:off x="7034724" y="6142734"/>
            <a:ext cx="207678" cy="207678"/>
          </a:xfrm>
          <a:prstGeom prst="ellipse">
            <a:avLst/>
          </a:prstGeom>
          <a:solidFill>
            <a:srgbClr val="29BA74"/>
          </a:solidFill>
          <a:ln>
            <a:noFill/>
          </a:ln>
        </p:spPr>
        <p:txBody>
          <a:bodyPr vert="horz" wrap="square" lIns="0" tIns="0" rIns="0" bIns="0" numCol="1" anchor="ctr" anchorCtr="0" compatLnSpc="1">
            <a:prstTxWarp prst="textNoShape">
              <a:avLst/>
            </a:prstTxWarp>
          </a:bodyPr>
          <a:lstStyle/>
          <a:p>
            <a:pPr algn="ctr"/>
            <a:r>
              <a:rPr lang="en-US" sz="1050">
                <a:solidFill>
                  <a:schemeClr val="bg1"/>
                </a:solidFill>
              </a:rPr>
              <a:t>7</a:t>
            </a:r>
          </a:p>
        </p:txBody>
      </p:sp>
    </p:spTree>
    <p:custDataLst>
      <p:tags r:id="rId1"/>
    </p:custDataLst>
    <p:extLst>
      <p:ext uri="{BB962C8B-B14F-4D97-AF65-F5344CB8AC3E}">
        <p14:creationId xmlns:p14="http://schemas.microsoft.com/office/powerpoint/2010/main" val="82123451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BA5E576F-0015-42E3-B18E-25D0994838ED}"/>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6" imgW="425" imgH="426" progId="TCLayout.ActiveDocument.1">
                  <p:embed/>
                </p:oleObj>
              </mc:Choice>
              <mc:Fallback>
                <p:oleObj name="think-cell Slide" r:id="rId36" imgW="425" imgH="426" progId="TCLayout.ActiveDocument.1">
                  <p:embed/>
                  <p:pic>
                    <p:nvPicPr>
                      <p:cNvPr id="4" name="Object 3" hidden="1">
                        <a:extLst>
                          <a:ext uri="{FF2B5EF4-FFF2-40B4-BE49-F238E27FC236}">
                            <a16:creationId xmlns:a16="http://schemas.microsoft.com/office/drawing/2014/main" id="{BA5E576F-0015-42E3-B18E-25D0994838ED}"/>
                          </a:ext>
                        </a:extLst>
                      </p:cNvPr>
                      <p:cNvPicPr/>
                      <p:nvPr/>
                    </p:nvPicPr>
                    <p:blipFill>
                      <a:blip r:embed="rId37"/>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4D27EE2C-9CA2-4DAF-883C-B787BD77458F}"/>
              </a:ext>
            </a:extLst>
          </p:cNvPr>
          <p:cNvSpPr>
            <a:spLocks noGrp="1"/>
          </p:cNvSpPr>
          <p:nvPr>
            <p:ph type="title"/>
          </p:nvPr>
        </p:nvSpPr>
        <p:spPr>
          <a:xfrm>
            <a:off x="630000" y="622800"/>
            <a:ext cx="10933350" cy="664797"/>
          </a:xfrm>
        </p:spPr>
        <p:txBody>
          <a:bodyPr vert="horz">
            <a:spAutoFit/>
          </a:bodyPr>
          <a:lstStyle/>
          <a:p>
            <a:r>
              <a:rPr lang="en-US"/>
              <a:t>Logical architecture: How best-in-class players enable this “under the hood” the hood”</a:t>
            </a:r>
            <a:endParaRPr lang="en-US" sz="1600"/>
          </a:p>
        </p:txBody>
      </p:sp>
      <p:grpSp>
        <p:nvGrpSpPr>
          <p:cNvPr id="94" name="Group 93">
            <a:extLst>
              <a:ext uri="{FF2B5EF4-FFF2-40B4-BE49-F238E27FC236}">
                <a16:creationId xmlns:a16="http://schemas.microsoft.com/office/drawing/2014/main" id="{FEAC0A35-6FAE-4180-8769-26167112A29C}"/>
              </a:ext>
            </a:extLst>
          </p:cNvPr>
          <p:cNvGrpSpPr/>
          <p:nvPr/>
        </p:nvGrpSpPr>
        <p:grpSpPr>
          <a:xfrm>
            <a:off x="630000" y="1356947"/>
            <a:ext cx="11091701" cy="324266"/>
            <a:chOff x="630000" y="1222678"/>
            <a:chExt cx="11091701" cy="324266"/>
          </a:xfrm>
          <a:gradFill>
            <a:gsLst>
              <a:gs pos="0">
                <a:schemeClr val="tx2"/>
              </a:gs>
              <a:gs pos="100000">
                <a:schemeClr val="accent1"/>
              </a:gs>
            </a:gsLst>
            <a:lin ang="0" scaled="1"/>
          </a:gradFill>
        </p:grpSpPr>
        <p:sp>
          <p:nvSpPr>
            <p:cNvPr id="5" name="ee4pHeader1">
              <a:extLst>
                <a:ext uri="{FF2B5EF4-FFF2-40B4-BE49-F238E27FC236}">
                  <a16:creationId xmlns:a16="http://schemas.microsoft.com/office/drawing/2014/main" id="{C56A5DA0-21C9-40CD-9A09-D8B64C92AD9D}"/>
                </a:ext>
              </a:extLst>
            </p:cNvPr>
            <p:cNvSpPr>
              <a:spLocks noChangeArrowheads="1"/>
            </p:cNvSpPr>
            <p:nvPr>
              <p:custDataLst>
                <p:tags r:id="rId30"/>
              </p:custDataLst>
            </p:nvPr>
          </p:nvSpPr>
          <p:spPr bwMode="gray">
            <a:xfrm>
              <a:off x="630000" y="1222678"/>
              <a:ext cx="3625844" cy="324266"/>
            </a:xfrm>
            <a:prstGeom prst="homePlate">
              <a:avLst>
                <a:gd name="adj" fmla="val 12004"/>
              </a:avLst>
            </a:prstGeom>
            <a:grpFill/>
            <a:ln w="38100" cap="rnd" algn="ctr">
              <a:noFill/>
              <a:round/>
              <a:headEnd/>
              <a:tailEnd/>
            </a:ln>
          </p:spPr>
          <p:txBody>
            <a:bodyPr lIns="0" tIns="0" rIns="0" bIns="0" rtlCol="0" anchor="ctr" anchorCtr="0"/>
            <a:lstStyle/>
            <a:p>
              <a:pPr algn="ctr" rtl="0" eaLnBrk="0" hangingPunct="0"/>
              <a:r>
                <a:rPr lang="en-US" sz="1200">
                  <a:solidFill>
                    <a:srgbClr val="FFFFFF"/>
                  </a:solidFill>
                  <a:latin typeface="+mj-lt"/>
                  <a:sym typeface="+mn-lt"/>
                </a:rPr>
                <a:t>Data layer</a:t>
              </a:r>
              <a:endParaRPr lang="ru" sz="1200">
                <a:solidFill>
                  <a:srgbClr val="FFFFFF"/>
                </a:solidFill>
                <a:latin typeface="+mj-lt"/>
                <a:sym typeface="+mn-lt"/>
              </a:endParaRPr>
            </a:p>
          </p:txBody>
        </p:sp>
        <p:sp>
          <p:nvSpPr>
            <p:cNvPr id="6" name="ee4pHeader2">
              <a:extLst>
                <a:ext uri="{FF2B5EF4-FFF2-40B4-BE49-F238E27FC236}">
                  <a16:creationId xmlns:a16="http://schemas.microsoft.com/office/drawing/2014/main" id="{15032A53-3006-4065-BF2B-AB378E385687}"/>
                </a:ext>
              </a:extLst>
            </p:cNvPr>
            <p:cNvSpPr>
              <a:spLocks noChangeArrowheads="1"/>
            </p:cNvSpPr>
            <p:nvPr>
              <p:custDataLst>
                <p:tags r:id="rId31"/>
              </p:custDataLst>
            </p:nvPr>
          </p:nvSpPr>
          <p:spPr bwMode="gray">
            <a:xfrm>
              <a:off x="4276818" y="1222678"/>
              <a:ext cx="2903132" cy="324266"/>
            </a:xfrm>
            <a:prstGeom prst="chevron">
              <a:avLst>
                <a:gd name="adj" fmla="val 12004"/>
              </a:avLst>
            </a:prstGeom>
            <a:grpFill/>
            <a:ln w="38100" cap="rnd" algn="ctr">
              <a:noFill/>
              <a:round/>
              <a:headEnd/>
              <a:tailEnd/>
            </a:ln>
          </p:spPr>
          <p:txBody>
            <a:bodyPr lIns="0" tIns="0" rIns="0" bIns="0" rtlCol="0" anchor="ctr" anchorCtr="0"/>
            <a:lstStyle/>
            <a:p>
              <a:pPr algn="ctr" rtl="0" eaLnBrk="0" hangingPunct="0"/>
              <a:r>
                <a:rPr lang="en-US" sz="1200">
                  <a:solidFill>
                    <a:srgbClr val="FFFFFF"/>
                  </a:solidFill>
                  <a:latin typeface="+mj-lt"/>
                  <a:sym typeface="+mn-lt"/>
                </a:rPr>
                <a:t>Analytical layer</a:t>
              </a:r>
              <a:endParaRPr lang="ru" sz="1200">
                <a:solidFill>
                  <a:srgbClr val="FFFFFF"/>
                </a:solidFill>
                <a:latin typeface="+mj-lt"/>
                <a:sym typeface="+mn-lt"/>
              </a:endParaRPr>
            </a:p>
          </p:txBody>
        </p:sp>
        <p:sp>
          <p:nvSpPr>
            <p:cNvPr id="7" name="ee4pHeader3">
              <a:extLst>
                <a:ext uri="{FF2B5EF4-FFF2-40B4-BE49-F238E27FC236}">
                  <a16:creationId xmlns:a16="http://schemas.microsoft.com/office/drawing/2014/main" id="{24027EA3-924F-4373-AE1F-6C82457D8DB7}"/>
                </a:ext>
              </a:extLst>
            </p:cNvPr>
            <p:cNvSpPr>
              <a:spLocks noChangeArrowheads="1"/>
            </p:cNvSpPr>
            <p:nvPr>
              <p:custDataLst>
                <p:tags r:id="rId32"/>
              </p:custDataLst>
            </p:nvPr>
          </p:nvSpPr>
          <p:spPr bwMode="gray">
            <a:xfrm>
              <a:off x="9158650" y="1222678"/>
              <a:ext cx="2563051" cy="324266"/>
            </a:xfrm>
            <a:prstGeom prst="chevron">
              <a:avLst>
                <a:gd name="adj" fmla="val 12004"/>
              </a:avLst>
            </a:prstGeom>
            <a:grpFill/>
            <a:ln w="38100" cap="rnd" algn="ctr">
              <a:noFill/>
              <a:round/>
              <a:headEnd/>
              <a:tailEnd/>
            </a:ln>
          </p:spPr>
          <p:txBody>
            <a:bodyPr lIns="0" tIns="0" rIns="0" bIns="0" rtlCol="0" anchor="ctr" anchorCtr="0"/>
            <a:lstStyle/>
            <a:p>
              <a:pPr algn="ctr" rtl="0" eaLnBrk="0" hangingPunct="0"/>
              <a:r>
                <a:rPr lang="en-US" sz="1200">
                  <a:solidFill>
                    <a:srgbClr val="FFFFFF"/>
                  </a:solidFill>
                  <a:latin typeface="+mj-lt"/>
                  <a:sym typeface="+mn-lt"/>
                </a:rPr>
                <a:t>Interaction layer</a:t>
              </a:r>
              <a:endParaRPr lang="ru" sz="1200">
                <a:solidFill>
                  <a:srgbClr val="FFFFFF"/>
                </a:solidFill>
                <a:latin typeface="+mj-lt"/>
                <a:sym typeface="+mn-lt"/>
              </a:endParaRPr>
            </a:p>
          </p:txBody>
        </p:sp>
        <p:sp>
          <p:nvSpPr>
            <p:cNvPr id="8" name="ee4pHeader2">
              <a:extLst>
                <a:ext uri="{FF2B5EF4-FFF2-40B4-BE49-F238E27FC236}">
                  <a16:creationId xmlns:a16="http://schemas.microsoft.com/office/drawing/2014/main" id="{8925E736-1D61-4024-95E8-A2A793014E68}"/>
                </a:ext>
              </a:extLst>
            </p:cNvPr>
            <p:cNvSpPr>
              <a:spLocks noChangeArrowheads="1"/>
            </p:cNvSpPr>
            <p:nvPr>
              <p:custDataLst>
                <p:tags r:id="rId33"/>
              </p:custDataLst>
            </p:nvPr>
          </p:nvSpPr>
          <p:spPr bwMode="gray">
            <a:xfrm>
              <a:off x="7200925" y="1222678"/>
              <a:ext cx="1936750" cy="324266"/>
            </a:xfrm>
            <a:prstGeom prst="chevron">
              <a:avLst>
                <a:gd name="adj" fmla="val 12004"/>
              </a:avLst>
            </a:prstGeom>
            <a:grpFill/>
            <a:ln w="38100" cap="rnd" algn="ctr">
              <a:noFill/>
              <a:round/>
              <a:headEnd/>
              <a:tailEnd/>
            </a:ln>
          </p:spPr>
          <p:txBody>
            <a:bodyPr lIns="0" tIns="0" rIns="0" bIns="0" rtlCol="0" anchor="ctr" anchorCtr="0"/>
            <a:lstStyle/>
            <a:p>
              <a:pPr algn="ctr" rtl="0" eaLnBrk="0" hangingPunct="0"/>
              <a:r>
                <a:rPr lang="en-US" sz="1200">
                  <a:solidFill>
                    <a:srgbClr val="FFFFFF"/>
                  </a:solidFill>
                  <a:latin typeface="+mj-lt"/>
                  <a:sym typeface="+mn-lt"/>
                </a:rPr>
                <a:t>Orchestration layer</a:t>
              </a:r>
              <a:endParaRPr lang="ru" sz="1200">
                <a:solidFill>
                  <a:srgbClr val="FFFFFF"/>
                </a:solidFill>
                <a:latin typeface="+mj-lt"/>
                <a:sym typeface="+mn-lt"/>
              </a:endParaRPr>
            </a:p>
          </p:txBody>
        </p:sp>
      </p:grpSp>
      <p:sp>
        <p:nvSpPr>
          <p:cNvPr id="9" name="Textfeld 1">
            <a:extLst>
              <a:ext uri="{FF2B5EF4-FFF2-40B4-BE49-F238E27FC236}">
                <a16:creationId xmlns:a16="http://schemas.microsoft.com/office/drawing/2014/main" id="{8B27F29F-7CC8-48AC-B134-79E596092509}"/>
              </a:ext>
            </a:extLst>
          </p:cNvPr>
          <p:cNvSpPr txBox="1"/>
          <p:nvPr>
            <p:custDataLst>
              <p:tags r:id="rId2"/>
            </p:custDataLst>
          </p:nvPr>
        </p:nvSpPr>
        <p:spPr>
          <a:xfrm>
            <a:off x="1042012" y="1732377"/>
            <a:ext cx="2801819" cy="307777"/>
          </a:xfrm>
          <a:prstGeom prst="rect">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 uri="{AF507438-7753-43E0-B8FC-AC1667EBCBE1}">
              <a14:hiddenEffects xmlns:a14="http://schemas.microsoft.com/office/drawing/2010/main">
                <a:effectLst>
                  <a:outerShdw dist="35560" dir="3498616" rotWithShape="0">
                    <a:scrgbClr r="0" g="0" b="0"/>
                  </a:outerShdw>
                </a:effectLst>
              </a14:hiddenEffects>
            </a:ext>
          </a:extLst>
        </p:spPr>
        <p:txBody>
          <a:bodyPr vert="horz" wrap="square" lIns="0" tIns="0" rIns="0" bIns="0" rtlCol="0" anchor="ctr" anchorCtr="0">
            <a:spAutoFit/>
          </a:bodyPr>
          <a:lstStyle>
            <a:defPPr>
              <a:defRPr lang="en-US"/>
            </a:defPPr>
            <a:lvl1pPr marR="0" lvl="0" indent="0" algn="ctr" fontAlgn="auto">
              <a:lnSpc>
                <a:spcPct val="100000"/>
              </a:lnSpc>
              <a:spcBef>
                <a:spcPts val="0"/>
              </a:spcBef>
              <a:spcAft>
                <a:spcPts val="0"/>
              </a:spcAft>
              <a:buClrTx/>
              <a:buSzTx/>
              <a:buFontTx/>
              <a:buNone/>
              <a:tabLst/>
              <a:defRPr sz="1000" kern="0">
                <a:solidFill>
                  <a:srgbClr val="29BA74">
                    <a:lumMod val="100000"/>
                  </a:srgbClr>
                </a:solidFill>
                <a:latin typeface="+mj-lt"/>
              </a:defRPr>
            </a:lvl1pPr>
          </a:lstStyle>
          <a:p>
            <a:r>
              <a:rPr lang="en-US">
                <a:solidFill>
                  <a:srgbClr val="575757"/>
                </a:solidFill>
                <a:latin typeface="+mn-lt"/>
                <a:sym typeface="Trebuchet MS" panose="020B0603020202020204" pitchFamily="34" charset="0"/>
              </a:rPr>
              <a:t>Single integrated data hub with real-time updates from internal and external resources</a:t>
            </a:r>
            <a:endParaRPr lang="ru">
              <a:solidFill>
                <a:srgbClr val="575757"/>
              </a:solidFill>
              <a:latin typeface="+mn-lt"/>
              <a:sym typeface="Trebuchet MS" panose="020B0603020202020204" pitchFamily="34" charset="0"/>
            </a:endParaRPr>
          </a:p>
        </p:txBody>
      </p:sp>
      <p:sp>
        <p:nvSpPr>
          <p:cNvPr id="10" name="Textfeld 1">
            <a:extLst>
              <a:ext uri="{FF2B5EF4-FFF2-40B4-BE49-F238E27FC236}">
                <a16:creationId xmlns:a16="http://schemas.microsoft.com/office/drawing/2014/main" id="{5EB1D9B6-E360-4CAB-BB24-05C6AF167503}"/>
              </a:ext>
            </a:extLst>
          </p:cNvPr>
          <p:cNvSpPr txBox="1"/>
          <p:nvPr>
            <p:custDataLst>
              <p:tags r:id="rId3"/>
            </p:custDataLst>
          </p:nvPr>
        </p:nvSpPr>
        <p:spPr>
          <a:xfrm>
            <a:off x="4288687" y="1732377"/>
            <a:ext cx="2836249" cy="307777"/>
          </a:xfrm>
          <a:prstGeom prst="rect">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 uri="{AF507438-7753-43E0-B8FC-AC1667EBCBE1}">
              <a14:hiddenEffects xmlns:a14="http://schemas.microsoft.com/office/drawing/2010/main">
                <a:effectLst>
                  <a:outerShdw dist="35560" dir="3498616" rotWithShape="0">
                    <a:scrgbClr r="0" g="0" b="0"/>
                  </a:outerShdw>
                </a:effectLst>
              </a14:hiddenEffects>
            </a:ext>
          </a:extLst>
        </p:spPr>
        <p:txBody>
          <a:bodyPr vert="horz"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kern="0">
                <a:solidFill>
                  <a:srgbClr val="575757"/>
                </a:solidFill>
                <a:sym typeface="Trebuchet MS" panose="020B0603020202020204" pitchFamily="34" charset="0"/>
              </a:rPr>
              <a:t>ML algorithms and analytics engine prioritizing value offers and optimizing over time</a:t>
            </a:r>
          </a:p>
        </p:txBody>
      </p:sp>
      <p:sp>
        <p:nvSpPr>
          <p:cNvPr id="11" name="Textfeld 1">
            <a:extLst>
              <a:ext uri="{FF2B5EF4-FFF2-40B4-BE49-F238E27FC236}">
                <a16:creationId xmlns:a16="http://schemas.microsoft.com/office/drawing/2014/main" id="{36FF597E-730C-4D84-BF48-2E775AB470D4}"/>
              </a:ext>
            </a:extLst>
          </p:cNvPr>
          <p:cNvSpPr txBox="1"/>
          <p:nvPr>
            <p:custDataLst>
              <p:tags r:id="rId4"/>
            </p:custDataLst>
          </p:nvPr>
        </p:nvSpPr>
        <p:spPr>
          <a:xfrm>
            <a:off x="9188802" y="1732377"/>
            <a:ext cx="2502749" cy="307777"/>
          </a:xfrm>
          <a:prstGeom prst="rect">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 uri="{AF507438-7753-43E0-B8FC-AC1667EBCBE1}">
              <a14:hiddenEffects xmlns:a14="http://schemas.microsoft.com/office/drawing/2010/main">
                <a:effectLst>
                  <a:outerShdw dist="35560" dir="3498616" rotWithShape="0">
                    <a:scrgbClr r="0" g="0" b="0"/>
                  </a:outerShdw>
                </a:effectLst>
              </a14:hiddenEffects>
            </a:ext>
          </a:extLst>
        </p:spPr>
        <p:txBody>
          <a:bodyPr vert="horz" wrap="square" lIns="0" tIns="0" rIns="0" bIns="0" rtlCol="0" anchor="ctr" anchorCtr="0">
            <a:spAutoFit/>
          </a:bodyPr>
          <a:lstStyle>
            <a:defPPr>
              <a:defRPr lang="en-US"/>
            </a:defPPr>
            <a:lvl1pPr marR="0" lvl="0" indent="0" algn="ctr" fontAlgn="auto">
              <a:lnSpc>
                <a:spcPct val="100000"/>
              </a:lnSpc>
              <a:spcBef>
                <a:spcPts val="0"/>
              </a:spcBef>
              <a:spcAft>
                <a:spcPts val="0"/>
              </a:spcAft>
              <a:buClrTx/>
              <a:buSzTx/>
              <a:buFontTx/>
              <a:buNone/>
              <a:tabLst/>
              <a:defRPr sz="1000" kern="0">
                <a:solidFill>
                  <a:srgbClr val="29BA74">
                    <a:lumMod val="100000"/>
                  </a:srgbClr>
                </a:solidFill>
                <a:latin typeface="+mj-lt"/>
              </a:defRPr>
            </a:lvl1pPr>
          </a:lstStyle>
          <a:p>
            <a:r>
              <a:rPr lang="en-US" err="1">
                <a:solidFill>
                  <a:srgbClr val="575757"/>
                </a:solidFill>
                <a:latin typeface="+mn-lt"/>
                <a:sym typeface="Trebuchet MS" panose="020B0603020202020204" pitchFamily="34" charset="0"/>
              </a:rPr>
              <a:t>Personalised</a:t>
            </a:r>
            <a:r>
              <a:rPr lang="en-US">
                <a:solidFill>
                  <a:srgbClr val="575757"/>
                </a:solidFill>
                <a:latin typeface="+mn-lt"/>
                <a:sym typeface="Trebuchet MS" panose="020B0603020202020204" pitchFamily="34" charset="0"/>
              </a:rPr>
              <a:t> and seamless omni-channel delivery and interaction with the client</a:t>
            </a:r>
            <a:endParaRPr lang="ru">
              <a:solidFill>
                <a:srgbClr val="575757"/>
              </a:solidFill>
              <a:latin typeface="+mn-lt"/>
              <a:sym typeface="Trebuchet MS" panose="020B0603020202020204" pitchFamily="34" charset="0"/>
            </a:endParaRPr>
          </a:p>
        </p:txBody>
      </p:sp>
      <p:sp>
        <p:nvSpPr>
          <p:cNvPr id="12" name="Textfeld 1">
            <a:extLst>
              <a:ext uri="{FF2B5EF4-FFF2-40B4-BE49-F238E27FC236}">
                <a16:creationId xmlns:a16="http://schemas.microsoft.com/office/drawing/2014/main" id="{6D64C40B-A10C-4B70-A406-7DD5EAB45E5F}"/>
              </a:ext>
            </a:extLst>
          </p:cNvPr>
          <p:cNvSpPr txBox="1"/>
          <p:nvPr>
            <p:custDataLst>
              <p:tags r:id="rId5"/>
            </p:custDataLst>
          </p:nvPr>
        </p:nvSpPr>
        <p:spPr>
          <a:xfrm>
            <a:off x="7296472" y="1732377"/>
            <a:ext cx="1727560" cy="307777"/>
          </a:xfrm>
          <a:prstGeom prst="rect">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 uri="{AF507438-7753-43E0-B8FC-AC1667EBCBE1}">
              <a14:hiddenEffects xmlns:a14="http://schemas.microsoft.com/office/drawing/2010/main">
                <a:effectLst>
                  <a:outerShdw dist="35560" dir="3498616" rotWithShape="0">
                    <a:scrgbClr r="0" g="0" b="0"/>
                  </a:outerShdw>
                </a:effectLst>
              </a14:hiddenEffects>
            </a:ext>
          </a:extLst>
        </p:spPr>
        <p:txBody>
          <a:bodyPr vert="horz" wrap="square" lIns="0" tIns="0" rIns="0" bIns="0" rtlCol="0" anchor="ctr" anchorCtr="0">
            <a:spAutoFit/>
          </a:bodyPr>
          <a:lstStyle>
            <a:defPPr>
              <a:defRPr lang="en-US"/>
            </a:defPPr>
            <a:lvl1pPr marR="0" lvl="0" indent="0" algn="ctr" fontAlgn="auto">
              <a:lnSpc>
                <a:spcPct val="100000"/>
              </a:lnSpc>
              <a:spcBef>
                <a:spcPts val="0"/>
              </a:spcBef>
              <a:spcAft>
                <a:spcPts val="0"/>
              </a:spcAft>
              <a:buClrTx/>
              <a:buSzTx/>
              <a:buFontTx/>
              <a:buNone/>
              <a:tabLst/>
              <a:defRPr sz="1000" kern="0">
                <a:solidFill>
                  <a:srgbClr val="29BA74">
                    <a:lumMod val="100000"/>
                  </a:srgbClr>
                </a:solidFill>
                <a:latin typeface="+mj-lt"/>
              </a:defRPr>
            </a:lvl1pPr>
          </a:lstStyle>
          <a:p>
            <a:r>
              <a:rPr lang="en-US">
                <a:solidFill>
                  <a:srgbClr val="575757"/>
                </a:solidFill>
                <a:latin typeface="+mn-lt"/>
                <a:sym typeface="Trebuchet MS" panose="020B0603020202020204" pitchFamily="34" charset="0"/>
              </a:rPr>
              <a:t>NBA/</a:t>
            </a:r>
            <a:r>
              <a:rPr lang="en-US" err="1">
                <a:solidFill>
                  <a:srgbClr val="575757"/>
                </a:solidFill>
                <a:latin typeface="+mn-lt"/>
                <a:sym typeface="Trebuchet MS" panose="020B0603020202020204" pitchFamily="34" charset="0"/>
              </a:rPr>
              <a:t>NBO</a:t>
            </a:r>
            <a:r>
              <a:rPr lang="en-US">
                <a:solidFill>
                  <a:srgbClr val="575757"/>
                </a:solidFill>
                <a:latin typeface="+mn-lt"/>
                <a:sym typeface="Trebuchet MS" panose="020B0603020202020204" pitchFamily="34" charset="0"/>
              </a:rPr>
              <a:t> based orchestration across all channels</a:t>
            </a:r>
            <a:endParaRPr lang="ru">
              <a:solidFill>
                <a:srgbClr val="575757"/>
              </a:solidFill>
              <a:latin typeface="+mn-lt"/>
              <a:sym typeface="Trebuchet MS" panose="020B0603020202020204" pitchFamily="34" charset="0"/>
            </a:endParaRPr>
          </a:p>
        </p:txBody>
      </p:sp>
      <p:sp>
        <p:nvSpPr>
          <p:cNvPr id="13" name="Rectangle: Rounded Corners 12">
            <a:extLst>
              <a:ext uri="{FF2B5EF4-FFF2-40B4-BE49-F238E27FC236}">
                <a16:creationId xmlns:a16="http://schemas.microsoft.com/office/drawing/2014/main" id="{D588F0F5-9CE6-4F53-910A-6E2903AFBFEE}"/>
              </a:ext>
            </a:extLst>
          </p:cNvPr>
          <p:cNvSpPr/>
          <p:nvPr>
            <p:custDataLst>
              <p:tags r:id="rId6"/>
            </p:custDataLst>
          </p:nvPr>
        </p:nvSpPr>
        <p:spPr>
          <a:xfrm>
            <a:off x="628650" y="2100839"/>
            <a:ext cx="3621618" cy="4495456"/>
          </a:xfrm>
          <a:prstGeom prst="roundRect">
            <a:avLst>
              <a:gd name="adj" fmla="val 1950"/>
            </a:avLst>
          </a:prstGeom>
          <a:solidFill>
            <a:srgbClr val="F2F2F2"/>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0" rIns="0" bIns="57600" numCol="1" spcCol="0" rtlCol="0" fromWordArt="0" anchor="b" anchorCtr="0" forceAA="0" compatLnSpc="1">
            <a:prstTxWarp prst="textNoShape">
              <a:avLst/>
            </a:prstTxWarp>
            <a:noAutofit/>
          </a:bodyPr>
          <a:lstStyle/>
          <a:p>
            <a:pPr>
              <a:spcBef>
                <a:spcPts val="140"/>
              </a:spcBef>
              <a:spcAft>
                <a:spcPts val="140"/>
              </a:spcAft>
            </a:pPr>
            <a:r>
              <a:rPr lang="en-US" sz="1000" b="1">
                <a:solidFill>
                  <a:srgbClr val="575757"/>
                </a:solidFill>
                <a:sym typeface="Trebuchet MS" panose="020B0603020202020204" pitchFamily="34" charset="0"/>
              </a:rPr>
              <a:t>Data governance: </a:t>
            </a:r>
            <a:r>
              <a:rPr lang="en-US" sz="900">
                <a:solidFill>
                  <a:srgbClr val="575757"/>
                </a:solidFill>
                <a:sym typeface="Trebuchet MS" panose="020B0603020202020204" pitchFamily="34" charset="0"/>
              </a:rPr>
              <a:t>data is a shared asset, including harmonized definitions, tools and processes, establishing single source of truth</a:t>
            </a:r>
          </a:p>
        </p:txBody>
      </p:sp>
      <p:sp>
        <p:nvSpPr>
          <p:cNvPr id="14" name="Rectangle: Rounded Corners 13">
            <a:extLst>
              <a:ext uri="{FF2B5EF4-FFF2-40B4-BE49-F238E27FC236}">
                <a16:creationId xmlns:a16="http://schemas.microsoft.com/office/drawing/2014/main" id="{F01E4063-A6B8-4693-BDCF-24EC31D36660}"/>
              </a:ext>
            </a:extLst>
          </p:cNvPr>
          <p:cNvSpPr/>
          <p:nvPr>
            <p:custDataLst>
              <p:tags r:id="rId7"/>
            </p:custDataLst>
          </p:nvPr>
        </p:nvSpPr>
        <p:spPr>
          <a:xfrm>
            <a:off x="7224076" y="2518586"/>
            <a:ext cx="1873351" cy="2510839"/>
          </a:xfrm>
          <a:prstGeom prst="roundRect">
            <a:avLst>
              <a:gd name="adj" fmla="val 3843"/>
            </a:avLst>
          </a:prstGeom>
          <a:solidFill>
            <a:srgbClr val="F2F2F2"/>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chemeClr val="bg1">
                    <a:lumMod val="85000"/>
                  </a:schemeClr>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57600" numCol="1" spcCol="0" rtlCol="0" fromWordArt="0" anchor="b" anchorCtr="0" forceAA="0" compatLnSpc="1">
            <a:prstTxWarp prst="textNoShape">
              <a:avLst/>
            </a:prstTxWarp>
            <a:noAutofit/>
          </a:bodyPr>
          <a:lstStyle/>
          <a:p>
            <a:pPr algn="ctr">
              <a:spcBef>
                <a:spcPts val="140"/>
              </a:spcBef>
              <a:spcAft>
                <a:spcPts val="140"/>
              </a:spcAft>
            </a:pPr>
            <a:endParaRPr lang="en-US" sz="900">
              <a:solidFill>
                <a:srgbClr val="575757"/>
              </a:solidFill>
              <a:sym typeface="Trebuchet MS" panose="020B0603020202020204" pitchFamily="34" charset="0"/>
            </a:endParaRPr>
          </a:p>
        </p:txBody>
      </p:sp>
      <p:sp>
        <p:nvSpPr>
          <p:cNvPr id="15" name="Rectangle: Rounded Corners 14">
            <a:extLst>
              <a:ext uri="{FF2B5EF4-FFF2-40B4-BE49-F238E27FC236}">
                <a16:creationId xmlns:a16="http://schemas.microsoft.com/office/drawing/2014/main" id="{58E29FD4-7DC2-40BE-9CB7-97CA9602455A}"/>
              </a:ext>
            </a:extLst>
          </p:cNvPr>
          <p:cNvSpPr/>
          <p:nvPr>
            <p:custDataLst>
              <p:tags r:id="rId8"/>
            </p:custDataLst>
          </p:nvPr>
        </p:nvSpPr>
        <p:spPr>
          <a:xfrm>
            <a:off x="4515079" y="5664880"/>
            <a:ext cx="6754811" cy="344455"/>
          </a:xfrm>
          <a:prstGeom prst="roundRect">
            <a:avLst>
              <a:gd name="adj" fmla="val 20903"/>
            </a:avLst>
          </a:prstGeom>
          <a:solidFill>
            <a:srgbClr val="FFFFFF"/>
          </a:solidFill>
          <a:ln w="9525" cap="rnd" cmpd="sng" algn="ctr">
            <a:solidFill>
              <a:srgbClr val="C8C8C8">
                <a:lumMod val="100000"/>
              </a:srgb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spcBef>
                <a:spcPts val="140"/>
              </a:spcBef>
              <a:spcAft>
                <a:spcPts val="140"/>
              </a:spcAft>
            </a:pPr>
            <a:r>
              <a:rPr lang="en-US" sz="1000">
                <a:solidFill>
                  <a:srgbClr val="575757"/>
                </a:solidFill>
              </a:rPr>
              <a:t>Measurements of process workflow and campaigns performance</a:t>
            </a:r>
            <a:endParaRPr lang="ru" sz="1000">
              <a:solidFill>
                <a:srgbClr val="575757"/>
              </a:solidFill>
            </a:endParaRPr>
          </a:p>
        </p:txBody>
      </p:sp>
      <p:cxnSp>
        <p:nvCxnSpPr>
          <p:cNvPr id="16" name="AutoShape 2">
            <a:extLst>
              <a:ext uri="{FF2B5EF4-FFF2-40B4-BE49-F238E27FC236}">
                <a16:creationId xmlns:a16="http://schemas.microsoft.com/office/drawing/2014/main" id="{3D7CC2CF-0ACA-439C-8B8F-46451EFFCB0C}"/>
              </a:ext>
            </a:extLst>
          </p:cNvPr>
          <p:cNvCxnSpPr>
            <a:cxnSpLocks noChangeShapeType="1"/>
            <a:stCxn id="15" idx="3"/>
            <a:endCxn id="53" idx="2"/>
          </p:cNvCxnSpPr>
          <p:nvPr/>
        </p:nvCxnSpPr>
        <p:spPr bwMode="auto">
          <a:xfrm flipV="1">
            <a:off x="11269890" y="3998263"/>
            <a:ext cx="179871" cy="1838845"/>
          </a:xfrm>
          <a:prstGeom prst="bentConnector2">
            <a:avLst/>
          </a:prstGeom>
          <a:noFill/>
          <a:ln w="12700" cap="rnd" cmpd="sng" algn="ctr">
            <a:solidFill>
              <a:schemeClr val="tx2"/>
            </a:solidFill>
            <a:prstDash val="dash"/>
            <a:round/>
            <a:headEnd type="none" w="med" len="med"/>
            <a:tailEnd type="triangle" w="med" len="med"/>
          </a:ln>
        </p:spPr>
      </p:cxnSp>
      <p:sp>
        <p:nvSpPr>
          <p:cNvPr id="18" name="Rectangle: Rounded Corners 17">
            <a:extLst>
              <a:ext uri="{FF2B5EF4-FFF2-40B4-BE49-F238E27FC236}">
                <a16:creationId xmlns:a16="http://schemas.microsoft.com/office/drawing/2014/main" id="{16DC08AB-8096-4DF8-B110-4D6B9120365D}"/>
              </a:ext>
            </a:extLst>
          </p:cNvPr>
          <p:cNvSpPr/>
          <p:nvPr>
            <p:custDataLst>
              <p:tags r:id="rId9"/>
            </p:custDataLst>
          </p:nvPr>
        </p:nvSpPr>
        <p:spPr>
          <a:xfrm>
            <a:off x="4515079" y="2677823"/>
            <a:ext cx="2472150" cy="2351604"/>
          </a:xfrm>
          <a:prstGeom prst="roundRect">
            <a:avLst>
              <a:gd name="adj" fmla="val 3872"/>
            </a:avLst>
          </a:prstGeom>
          <a:solidFill>
            <a:srgbClr val="F2F2F2"/>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chemeClr val="bg1">
                    <a:lumMod val="85000"/>
                  </a:schemeClr>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57600" numCol="1" spcCol="0" rtlCol="0" fromWordArt="0" anchor="b" anchorCtr="0" forceAA="0" compatLnSpc="1">
            <a:prstTxWarp prst="textNoShape">
              <a:avLst/>
            </a:prstTxWarp>
            <a:noAutofit/>
          </a:bodyPr>
          <a:lstStyle/>
          <a:p>
            <a:pPr algn="ctr">
              <a:spcBef>
                <a:spcPts val="140"/>
              </a:spcBef>
              <a:spcAft>
                <a:spcPts val="140"/>
              </a:spcAft>
            </a:pPr>
            <a:r>
              <a:rPr lang="en-US" sz="900">
                <a:solidFill>
                  <a:srgbClr val="575757"/>
                </a:solidFill>
                <a:sym typeface="Trebuchet MS" panose="020B0603020202020204" pitchFamily="34" charset="0"/>
              </a:rPr>
              <a:t>Repetitions check</a:t>
            </a:r>
          </a:p>
          <a:p>
            <a:pPr algn="ctr">
              <a:spcBef>
                <a:spcPts val="140"/>
              </a:spcBef>
              <a:spcAft>
                <a:spcPts val="140"/>
              </a:spcAft>
            </a:pPr>
            <a:r>
              <a:rPr lang="en-US" sz="900">
                <a:solidFill>
                  <a:srgbClr val="575757"/>
                </a:solidFill>
                <a:sym typeface="Trebuchet MS" panose="020B0603020202020204" pitchFamily="34" charset="0"/>
              </a:rPr>
              <a:t>Conflicts check</a:t>
            </a:r>
          </a:p>
          <a:p>
            <a:pPr algn="ctr">
              <a:spcBef>
                <a:spcPts val="140"/>
              </a:spcBef>
              <a:spcAft>
                <a:spcPts val="140"/>
              </a:spcAft>
            </a:pPr>
            <a:r>
              <a:rPr lang="en-US" sz="900">
                <a:solidFill>
                  <a:srgbClr val="575757"/>
                </a:solidFill>
                <a:sym typeface="Trebuchet MS" panose="020B0603020202020204" pitchFamily="34" charset="0"/>
              </a:rPr>
              <a:t>Communication policy check</a:t>
            </a:r>
          </a:p>
          <a:p>
            <a:pPr algn="ctr">
              <a:spcBef>
                <a:spcPts val="140"/>
              </a:spcBef>
              <a:spcAft>
                <a:spcPts val="140"/>
              </a:spcAft>
            </a:pPr>
            <a:r>
              <a:rPr lang="en-US" sz="900">
                <a:solidFill>
                  <a:srgbClr val="575757"/>
                </a:solidFill>
                <a:sym typeface="Trebuchet MS" panose="020B0603020202020204" pitchFamily="34" charset="0"/>
              </a:rPr>
              <a:t>Regulations check</a:t>
            </a:r>
          </a:p>
        </p:txBody>
      </p:sp>
      <p:sp>
        <p:nvSpPr>
          <p:cNvPr id="19" name="Rectangle: Rounded Corners 18">
            <a:extLst>
              <a:ext uri="{FF2B5EF4-FFF2-40B4-BE49-F238E27FC236}">
                <a16:creationId xmlns:a16="http://schemas.microsoft.com/office/drawing/2014/main" id="{3FD21F73-20DB-4FDF-AFEF-D9E4E14F4B6B}"/>
              </a:ext>
            </a:extLst>
          </p:cNvPr>
          <p:cNvSpPr/>
          <p:nvPr>
            <p:custDataLst>
              <p:tags r:id="rId10"/>
            </p:custDataLst>
          </p:nvPr>
        </p:nvSpPr>
        <p:spPr>
          <a:xfrm>
            <a:off x="4515079" y="2794631"/>
            <a:ext cx="2364765" cy="1487079"/>
          </a:xfrm>
          <a:prstGeom prst="roundRect">
            <a:avLst>
              <a:gd name="adj" fmla="val 4538"/>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chemeClr val="bg1">
                    <a:lumMod val="85000"/>
                  </a:schemeClr>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576" tIns="36576" rIns="36576" bIns="36576" numCol="1" spcCol="0" rtlCol="0" fromWordArt="0" anchor="ctr" anchorCtr="0" forceAA="0" compatLnSpc="1">
            <a:prstTxWarp prst="textNoShape">
              <a:avLst/>
            </a:prstTxWarp>
            <a:spAutoFit/>
          </a:bodyPr>
          <a:lstStyle/>
          <a:p>
            <a:pPr>
              <a:buFont typeface="Trebuchet MS" panose="020B0603020202020204" pitchFamily="34" charset="0"/>
              <a:buChar char="​"/>
            </a:pPr>
            <a:r>
              <a:rPr lang="en-US" sz="1000">
                <a:solidFill>
                  <a:schemeClr val="tx1"/>
                </a:solidFill>
                <a:sym typeface="Trebuchet MS" panose="020B0603020202020204" pitchFamily="34" charset="0"/>
              </a:rPr>
              <a:t>ML prioritization models</a:t>
            </a:r>
            <a:br>
              <a:rPr lang="en-US" sz="1000">
                <a:solidFill>
                  <a:schemeClr val="tx1"/>
                </a:solidFill>
                <a:sym typeface="Trebuchet MS" panose="020B0603020202020204" pitchFamily="34" charset="0"/>
              </a:rPr>
            </a:br>
            <a:r>
              <a:rPr lang="en-US" sz="1000">
                <a:solidFill>
                  <a:schemeClr val="tx1"/>
                </a:solidFill>
                <a:sym typeface="Trebuchet MS" panose="020B0603020202020204" pitchFamily="34" charset="0"/>
              </a:rPr>
              <a:t>(</a:t>
            </a:r>
            <a:r>
              <a:rPr lang="en-US" sz="1000" err="1">
                <a:solidFill>
                  <a:schemeClr val="tx1"/>
                </a:solidFill>
                <a:sym typeface="Trebuchet MS" panose="020B0603020202020204" pitchFamily="34" charset="0"/>
              </a:rPr>
              <a:t>Ptb</a:t>
            </a:r>
            <a:r>
              <a:rPr lang="en-US" sz="1000">
                <a:solidFill>
                  <a:schemeClr val="tx1"/>
                </a:solidFill>
                <a:sym typeface="Trebuchet MS" panose="020B0603020202020204" pitchFamily="34" charset="0"/>
              </a:rPr>
              <a:t>, </a:t>
            </a:r>
            <a:r>
              <a:rPr lang="en-US" sz="1000" err="1">
                <a:solidFill>
                  <a:schemeClr val="tx1"/>
                </a:solidFill>
                <a:sym typeface="Trebuchet MS" panose="020B0603020202020204" pitchFamily="34" charset="0"/>
              </a:rPr>
              <a:t>VBP</a:t>
            </a:r>
            <a:r>
              <a:rPr lang="en-US" sz="1000">
                <a:solidFill>
                  <a:schemeClr val="tx1"/>
                </a:solidFill>
                <a:sym typeface="Trebuchet MS" panose="020B0603020202020204" pitchFamily="34" charset="0"/>
              </a:rPr>
              <a:t>, LTV, CLI, Churn,</a:t>
            </a:r>
            <a:br>
              <a:rPr lang="en-US" sz="1000">
                <a:solidFill>
                  <a:schemeClr val="tx1"/>
                </a:solidFill>
                <a:sym typeface="Trebuchet MS" panose="020B0603020202020204" pitchFamily="34" charset="0"/>
              </a:rPr>
            </a:br>
            <a:r>
              <a:rPr lang="en-US" sz="1000">
                <a:solidFill>
                  <a:schemeClr val="tx1"/>
                </a:solidFill>
                <a:sym typeface="Trebuchet MS" panose="020B0603020202020204" pitchFamily="34" charset="0"/>
              </a:rPr>
              <a:t>Hidden Affluent, etc.)</a:t>
            </a:r>
          </a:p>
          <a:p>
            <a:pPr>
              <a:buFont typeface="Trebuchet MS" panose="020B0603020202020204" pitchFamily="34" charset="0"/>
              <a:buChar char="​"/>
            </a:pPr>
            <a:r>
              <a:rPr lang="en-US" sz="1000">
                <a:solidFill>
                  <a:schemeClr val="tx1"/>
                </a:solidFill>
                <a:sym typeface="Trebuchet MS" panose="020B0603020202020204" pitchFamily="34" charset="0"/>
              </a:rPr>
              <a:t>Single mechanism for all use cases</a:t>
            </a:r>
          </a:p>
          <a:p>
            <a:pPr>
              <a:buFont typeface="Trebuchet MS" panose="020B0603020202020204" pitchFamily="34" charset="0"/>
              <a:buChar char="​"/>
            </a:pPr>
            <a:r>
              <a:rPr lang="en-US" sz="1000">
                <a:solidFill>
                  <a:schemeClr val="tx1"/>
                </a:solidFill>
                <a:sym typeface="Trebuchet MS" panose="020B0603020202020204" pitchFamily="34" charset="0"/>
              </a:rPr>
              <a:t>Choice of product, pricing, channel, tone, message and creative driven by</a:t>
            </a:r>
            <a:br>
              <a:rPr lang="ru-RU" sz="1000">
                <a:solidFill>
                  <a:schemeClr val="tx1"/>
                </a:solidFill>
                <a:sym typeface="Trebuchet MS" panose="020B0603020202020204" pitchFamily="34" charset="0"/>
              </a:rPr>
            </a:br>
            <a:r>
              <a:rPr lang="en-US" sz="1000">
                <a:solidFill>
                  <a:schemeClr val="tx1"/>
                </a:solidFill>
                <a:sym typeface="Trebuchet MS" panose="020B0603020202020204" pitchFamily="34" charset="0"/>
              </a:rPr>
              <a:t>a mix and machine learning to optimize between competing alternatives</a:t>
            </a:r>
          </a:p>
        </p:txBody>
      </p:sp>
      <p:sp>
        <p:nvSpPr>
          <p:cNvPr id="20" name="Rectangle: Rounded Corners 19">
            <a:extLst>
              <a:ext uri="{FF2B5EF4-FFF2-40B4-BE49-F238E27FC236}">
                <a16:creationId xmlns:a16="http://schemas.microsoft.com/office/drawing/2014/main" id="{8D6BEC92-F9B4-4BDE-B4CB-6EFABCE5A5DE}"/>
              </a:ext>
            </a:extLst>
          </p:cNvPr>
          <p:cNvSpPr/>
          <p:nvPr>
            <p:custDataLst>
              <p:tags r:id="rId11"/>
            </p:custDataLst>
          </p:nvPr>
        </p:nvSpPr>
        <p:spPr>
          <a:xfrm>
            <a:off x="4515079" y="5154674"/>
            <a:ext cx="2472150" cy="339519"/>
          </a:xfrm>
          <a:prstGeom prst="roundRect">
            <a:avLst>
              <a:gd name="adj" fmla="val 18853"/>
            </a:avLst>
          </a:prstGeom>
          <a:solidFill>
            <a:srgbClr val="FFFFFF"/>
          </a:solidFill>
          <a:ln w="9525" cap="rnd" cmpd="sng" algn="ctr">
            <a:solidFill>
              <a:srgbClr val="C8C8C8">
                <a:lumMod val="100000"/>
              </a:srgb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spcBef>
                <a:spcPts val="140"/>
              </a:spcBef>
              <a:spcAft>
                <a:spcPts val="140"/>
              </a:spcAft>
            </a:pPr>
            <a:r>
              <a:rPr lang="en-US" sz="1000" b="1">
                <a:solidFill>
                  <a:schemeClr val="tx1"/>
                </a:solidFill>
                <a:sym typeface="Trebuchet MS" panose="020B0603020202020204" pitchFamily="34" charset="0"/>
              </a:rPr>
              <a:t>Real-time triggers</a:t>
            </a:r>
            <a:endParaRPr lang="ru" sz="1000" b="1">
              <a:solidFill>
                <a:schemeClr val="tx1"/>
              </a:solidFill>
              <a:sym typeface="Trebuchet MS" panose="020B0603020202020204" pitchFamily="34" charset="0"/>
            </a:endParaRPr>
          </a:p>
        </p:txBody>
      </p:sp>
      <p:sp>
        <p:nvSpPr>
          <p:cNvPr id="21" name="Rectangle: Rounded Corners 20">
            <a:extLst>
              <a:ext uri="{FF2B5EF4-FFF2-40B4-BE49-F238E27FC236}">
                <a16:creationId xmlns:a16="http://schemas.microsoft.com/office/drawing/2014/main" id="{536C8892-CF94-4CEA-B60C-7E4C419DC6E6}"/>
              </a:ext>
            </a:extLst>
          </p:cNvPr>
          <p:cNvSpPr/>
          <p:nvPr>
            <p:custDataLst>
              <p:tags r:id="rId12"/>
            </p:custDataLst>
          </p:nvPr>
        </p:nvSpPr>
        <p:spPr>
          <a:xfrm>
            <a:off x="740488" y="2143261"/>
            <a:ext cx="2061085" cy="1975050"/>
          </a:xfrm>
          <a:prstGeom prst="roundRect">
            <a:avLst>
              <a:gd name="adj" fmla="val 3241"/>
            </a:avLst>
          </a:prstGeom>
          <a:solidFill>
            <a:srgbClr val="FFFFFF"/>
          </a:solidFill>
          <a:ln w="9525" cap="rnd" cmpd="sng" algn="ctr">
            <a:solidFill>
              <a:srgbClr val="C8C8C8">
                <a:lumMod val="100000"/>
              </a:srgb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spAutoFit/>
          </a:bodyPr>
          <a:lstStyle/>
          <a:p>
            <a:r>
              <a:rPr lang="en-US" sz="1000" b="1">
                <a:solidFill>
                  <a:schemeClr val="tx1"/>
                </a:solidFill>
                <a:sym typeface="Trebuchet MS" panose="020B0603020202020204" pitchFamily="34" charset="0"/>
              </a:rPr>
              <a:t>Internal sources</a:t>
            </a:r>
          </a:p>
          <a:p>
            <a:pPr marL="324000" lvl="1" indent="-216000">
              <a:buClr>
                <a:schemeClr val="tx2"/>
              </a:buClr>
              <a:buFont typeface="Trebuchet MS" panose="020B0603020202020204" pitchFamily="34" charset="0"/>
              <a:buChar char="•"/>
            </a:pPr>
            <a:r>
              <a:rPr lang="en-US" sz="1000">
                <a:solidFill>
                  <a:schemeClr val="tx1"/>
                </a:solidFill>
                <a:sym typeface="Trebuchet MS" panose="020B0603020202020204" pitchFamily="34" charset="0"/>
              </a:rPr>
              <a:t>Proper integration between core system (deals and transactional data)</a:t>
            </a:r>
          </a:p>
          <a:p>
            <a:pPr marL="324000" lvl="1" indent="-216000">
              <a:buClr>
                <a:schemeClr val="tx2"/>
              </a:buClr>
              <a:buFont typeface="Trebuchet MS" panose="020B0603020202020204" pitchFamily="34" charset="0"/>
              <a:buChar char="•"/>
            </a:pPr>
            <a:r>
              <a:rPr lang="en-US" sz="1000">
                <a:solidFill>
                  <a:schemeClr val="tx1"/>
                </a:solidFill>
                <a:sym typeface="Trebuchet MS" panose="020B0603020202020204" pitchFamily="34" charset="0"/>
              </a:rPr>
              <a:t>Data from campaigns and organic client activity in channels (including human channels–</a:t>
            </a:r>
            <a:r>
              <a:rPr lang="en-US" sz="1000" err="1">
                <a:solidFill>
                  <a:schemeClr val="tx1"/>
                </a:solidFill>
                <a:sym typeface="Trebuchet MS" panose="020B0603020202020204" pitchFamily="34" charset="0"/>
              </a:rPr>
              <a:t>KPIs</a:t>
            </a:r>
            <a:r>
              <a:rPr lang="en-US" sz="1000">
                <a:solidFill>
                  <a:schemeClr val="tx1"/>
                </a:solidFill>
                <a:sym typeface="Trebuchet MS" panose="020B0603020202020204" pitchFamily="34" charset="0"/>
              </a:rPr>
              <a:t> and trainings on updating data)</a:t>
            </a:r>
          </a:p>
          <a:p>
            <a:pPr marL="324000" lvl="1" indent="-216000">
              <a:buClr>
                <a:schemeClr val="tx2"/>
              </a:buClr>
              <a:buFont typeface="Trebuchet MS" panose="020B0603020202020204" pitchFamily="34" charset="0"/>
              <a:buChar char="•"/>
            </a:pPr>
            <a:r>
              <a:rPr lang="en-US" sz="1000">
                <a:solidFill>
                  <a:schemeClr val="tx1"/>
                </a:solidFill>
                <a:sym typeface="Trebuchet MS" panose="020B0603020202020204" pitchFamily="34" charset="0"/>
              </a:rPr>
              <a:t>Client provided docs</a:t>
            </a:r>
          </a:p>
          <a:p>
            <a:pPr marL="324000" lvl="1" indent="-216000">
              <a:buClr>
                <a:schemeClr val="tx2"/>
              </a:buClr>
              <a:buFont typeface="Trebuchet MS" panose="020B0603020202020204" pitchFamily="34" charset="0"/>
              <a:buChar char="•"/>
            </a:pPr>
            <a:r>
              <a:rPr lang="en-US" sz="1000">
                <a:solidFill>
                  <a:schemeClr val="tx1"/>
                </a:solidFill>
                <a:sym typeface="Trebuchet MS" panose="020B0603020202020204" pitchFamily="34" charset="0"/>
              </a:rPr>
              <a:t>PQ offers base</a:t>
            </a:r>
          </a:p>
          <a:p>
            <a:pPr marL="324000" lvl="1" indent="-216000">
              <a:buClr>
                <a:schemeClr val="tx2"/>
              </a:buClr>
              <a:buFont typeface="Trebuchet MS" panose="020B0603020202020204" pitchFamily="34" charset="0"/>
              <a:buChar char="•"/>
            </a:pPr>
            <a:r>
              <a:rPr lang="en-US" sz="1000">
                <a:solidFill>
                  <a:schemeClr val="tx1"/>
                </a:solidFill>
                <a:sym typeface="Trebuchet MS" panose="020B0603020202020204" pitchFamily="34" charset="0"/>
              </a:rPr>
              <a:t>Communication policy</a:t>
            </a:r>
          </a:p>
        </p:txBody>
      </p:sp>
      <p:sp>
        <p:nvSpPr>
          <p:cNvPr id="22" name="Rectangle: Rounded Corners 21">
            <a:extLst>
              <a:ext uri="{FF2B5EF4-FFF2-40B4-BE49-F238E27FC236}">
                <a16:creationId xmlns:a16="http://schemas.microsoft.com/office/drawing/2014/main" id="{685A8390-58BD-4B45-9C7E-72580CB808D3}"/>
              </a:ext>
            </a:extLst>
          </p:cNvPr>
          <p:cNvSpPr/>
          <p:nvPr>
            <p:custDataLst>
              <p:tags r:id="rId13"/>
            </p:custDataLst>
          </p:nvPr>
        </p:nvSpPr>
        <p:spPr>
          <a:xfrm>
            <a:off x="2972230" y="3665465"/>
            <a:ext cx="952226" cy="936137"/>
          </a:xfrm>
          <a:prstGeom prst="roundRect">
            <a:avLst>
              <a:gd name="adj" fmla="val 7691"/>
            </a:avLst>
          </a:prstGeom>
          <a:solidFill>
            <a:srgbClr val="FFFFFF"/>
          </a:solidFill>
          <a:ln w="9525" cap="rnd" cmpd="sng" algn="ctr">
            <a:solidFill>
              <a:srgbClr val="C8C8C8">
                <a:lumMod val="100000"/>
              </a:srgb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45720" numCol="1" spcCol="0" rtlCol="0" fromWordArt="0" anchor="b" anchorCtr="0" forceAA="0" compatLnSpc="1">
            <a:prstTxWarp prst="textNoShape">
              <a:avLst/>
            </a:prstTxWarp>
            <a:noAutofit/>
          </a:bodyPr>
          <a:lstStyle/>
          <a:p>
            <a:pPr algn="ctr">
              <a:spcBef>
                <a:spcPts val="140"/>
              </a:spcBef>
              <a:spcAft>
                <a:spcPts val="140"/>
              </a:spcAft>
            </a:pPr>
            <a:r>
              <a:rPr lang="en-US" sz="1000" b="1">
                <a:solidFill>
                  <a:srgbClr val="575757"/>
                </a:solidFill>
                <a:sym typeface="Trebuchet MS" panose="020B0603020202020204" pitchFamily="34" charset="0"/>
              </a:rPr>
              <a:t>Single</a:t>
            </a:r>
            <a:br>
              <a:rPr lang="en-US" sz="1000" b="1">
                <a:solidFill>
                  <a:srgbClr val="575757"/>
                </a:solidFill>
                <a:sym typeface="Trebuchet MS" panose="020B0603020202020204" pitchFamily="34" charset="0"/>
              </a:rPr>
            </a:br>
            <a:r>
              <a:rPr lang="en-US" sz="1000" b="1">
                <a:solidFill>
                  <a:srgbClr val="575757"/>
                </a:solidFill>
                <a:sym typeface="Trebuchet MS" panose="020B0603020202020204" pitchFamily="34" charset="0"/>
              </a:rPr>
              <a:t>Data hub</a:t>
            </a:r>
            <a:endParaRPr lang="en-US" sz="1000">
              <a:solidFill>
                <a:srgbClr val="575757"/>
              </a:solidFill>
            </a:endParaRPr>
          </a:p>
        </p:txBody>
      </p:sp>
      <p:cxnSp>
        <p:nvCxnSpPr>
          <p:cNvPr id="24" name="AutoShape 2">
            <a:extLst>
              <a:ext uri="{FF2B5EF4-FFF2-40B4-BE49-F238E27FC236}">
                <a16:creationId xmlns:a16="http://schemas.microsoft.com/office/drawing/2014/main" id="{618A911F-9DE8-4723-A744-F0D81047B869}"/>
              </a:ext>
            </a:extLst>
          </p:cNvPr>
          <p:cNvCxnSpPr>
            <a:cxnSpLocks noChangeShapeType="1"/>
          </p:cNvCxnSpPr>
          <p:nvPr/>
        </p:nvCxnSpPr>
        <p:spPr bwMode="auto">
          <a:xfrm rot="10800000">
            <a:off x="2801573" y="3161834"/>
            <a:ext cx="182210" cy="971701"/>
          </a:xfrm>
          <a:prstGeom prst="bentConnector3">
            <a:avLst>
              <a:gd name="adj1" fmla="val 50000"/>
            </a:avLst>
          </a:prstGeom>
          <a:noFill/>
          <a:ln w="9525" cap="rnd" cmpd="sng" algn="ctr">
            <a:solidFill>
              <a:srgbClr val="9A9A9A"/>
            </a:solidFill>
            <a:prstDash val="solid"/>
            <a:round/>
            <a:headEnd type="none" w="med" len="med"/>
            <a:tailEnd type="none" w="med" len="med"/>
          </a:ln>
        </p:spPr>
      </p:cxnSp>
      <p:cxnSp>
        <p:nvCxnSpPr>
          <p:cNvPr id="25" name="AutoShape 2">
            <a:extLst>
              <a:ext uri="{FF2B5EF4-FFF2-40B4-BE49-F238E27FC236}">
                <a16:creationId xmlns:a16="http://schemas.microsoft.com/office/drawing/2014/main" id="{A036D587-4251-4338-8B9E-DD746ECA682F}"/>
              </a:ext>
            </a:extLst>
          </p:cNvPr>
          <p:cNvCxnSpPr>
            <a:cxnSpLocks noChangeShapeType="1"/>
            <a:endCxn id="22" idx="1"/>
          </p:cNvCxnSpPr>
          <p:nvPr/>
        </p:nvCxnSpPr>
        <p:spPr bwMode="auto">
          <a:xfrm>
            <a:off x="2872300" y="4133534"/>
            <a:ext cx="99930" cy="0"/>
          </a:xfrm>
          <a:prstGeom prst="straightConnector1">
            <a:avLst/>
          </a:prstGeom>
          <a:noFill/>
          <a:ln w="9525" cap="rnd" cmpd="sng" algn="ctr">
            <a:solidFill>
              <a:srgbClr val="9A9A9A"/>
            </a:solidFill>
            <a:prstDash val="solid"/>
            <a:round/>
            <a:headEnd type="none" w="med" len="med"/>
            <a:tailEnd type="none" w="med" len="med"/>
          </a:ln>
        </p:spPr>
      </p:cxnSp>
      <p:sp>
        <p:nvSpPr>
          <p:cNvPr id="26" name="Rectangle: Rounded Corners 25">
            <a:extLst>
              <a:ext uri="{FF2B5EF4-FFF2-40B4-BE49-F238E27FC236}">
                <a16:creationId xmlns:a16="http://schemas.microsoft.com/office/drawing/2014/main" id="{FC77CBE3-9C32-471B-9CA3-CA90A1629A11}"/>
              </a:ext>
            </a:extLst>
          </p:cNvPr>
          <p:cNvSpPr/>
          <p:nvPr>
            <p:custDataLst>
              <p:tags r:id="rId14"/>
            </p:custDataLst>
          </p:nvPr>
        </p:nvSpPr>
        <p:spPr>
          <a:xfrm>
            <a:off x="4515079" y="2518586"/>
            <a:ext cx="2364766" cy="223643"/>
          </a:xfrm>
          <a:prstGeom prst="roundRect">
            <a:avLst>
              <a:gd name="adj" fmla="val 28621"/>
            </a:avLst>
          </a:prstGeom>
          <a:solidFill>
            <a:srgbClr val="FFFFFF"/>
          </a:solidFill>
          <a:ln w="9525" cap="rnd" cmpd="sng" algn="ctr">
            <a:solidFill>
              <a:schemeClr val="accent1"/>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lvl="0" algn="ctr">
              <a:defRPr/>
            </a:pPr>
            <a:r>
              <a:rPr lang="en-US" sz="1000" b="1" kern="0">
                <a:solidFill>
                  <a:schemeClr val="tx1"/>
                </a:solidFill>
              </a:rPr>
              <a:t>Analytical ML engine (“single brain”)</a:t>
            </a:r>
            <a:endParaRPr lang="ru-RU" sz="1000" b="1" kern="0">
              <a:solidFill>
                <a:schemeClr val="tx1"/>
              </a:solidFill>
            </a:endParaRPr>
          </a:p>
        </p:txBody>
      </p:sp>
      <p:sp>
        <p:nvSpPr>
          <p:cNvPr id="27" name="Rectangle: Rounded Corners 26">
            <a:extLst>
              <a:ext uri="{FF2B5EF4-FFF2-40B4-BE49-F238E27FC236}">
                <a16:creationId xmlns:a16="http://schemas.microsoft.com/office/drawing/2014/main" id="{81639A14-7AD8-46CC-BDDC-35C14F9CAE1E}"/>
              </a:ext>
            </a:extLst>
          </p:cNvPr>
          <p:cNvSpPr/>
          <p:nvPr>
            <p:custDataLst>
              <p:tags r:id="rId15"/>
            </p:custDataLst>
          </p:nvPr>
        </p:nvSpPr>
        <p:spPr>
          <a:xfrm>
            <a:off x="740489" y="4265707"/>
            <a:ext cx="2061085" cy="721538"/>
          </a:xfrm>
          <a:prstGeom prst="roundRect">
            <a:avLst>
              <a:gd name="adj" fmla="val 8555"/>
            </a:avLst>
          </a:prstGeom>
          <a:solidFill>
            <a:srgbClr val="FFFFFF"/>
          </a:solidFill>
          <a:ln w="9525" cap="rnd" cmpd="sng" algn="ctr">
            <a:solidFill>
              <a:srgbClr val="C8C8C8">
                <a:lumMod val="100000"/>
              </a:srgb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spAutoFit/>
          </a:bodyPr>
          <a:lstStyle/>
          <a:p>
            <a:r>
              <a:rPr lang="en-US" sz="1000" b="1">
                <a:solidFill>
                  <a:schemeClr val="tx1"/>
                </a:solidFill>
                <a:sym typeface="Trebuchet MS" panose="020B0603020202020204" pitchFamily="34" charset="0"/>
              </a:rPr>
              <a:t>External sources</a:t>
            </a:r>
          </a:p>
          <a:p>
            <a:pPr marL="324000" lvl="1" indent="-216000">
              <a:buClr>
                <a:schemeClr val="tx2"/>
              </a:buClr>
              <a:buFont typeface="Trebuchet MS" panose="020B0603020202020204" pitchFamily="34" charset="0"/>
              <a:buChar char="•"/>
            </a:pPr>
            <a:r>
              <a:rPr lang="en-US" sz="1000">
                <a:solidFill>
                  <a:schemeClr val="tx1"/>
                </a:solidFill>
                <a:sym typeface="Trebuchet MS" panose="020B0603020202020204" pitchFamily="34" charset="0"/>
              </a:rPr>
              <a:t>Governmental platforms</a:t>
            </a:r>
          </a:p>
          <a:p>
            <a:pPr marL="324000" lvl="1" indent="-216000">
              <a:buClr>
                <a:schemeClr val="tx2"/>
              </a:buClr>
              <a:buFont typeface="Trebuchet MS" panose="020B0603020202020204" pitchFamily="34" charset="0"/>
              <a:buChar char="•"/>
            </a:pPr>
            <a:r>
              <a:rPr lang="en-US" sz="1000">
                <a:solidFill>
                  <a:schemeClr val="tx1"/>
                </a:solidFill>
                <a:sym typeface="Trebuchet MS" panose="020B0603020202020204" pitchFamily="34" charset="0"/>
              </a:rPr>
              <a:t>Credit bureaus</a:t>
            </a:r>
          </a:p>
          <a:p>
            <a:pPr marL="324000" lvl="1" indent="-216000">
              <a:buClr>
                <a:schemeClr val="tx2"/>
              </a:buClr>
              <a:buFont typeface="Trebuchet MS" panose="020B0603020202020204" pitchFamily="34" charset="0"/>
              <a:buChar char="•"/>
            </a:pPr>
            <a:r>
              <a:rPr lang="en-US" sz="1000">
                <a:solidFill>
                  <a:schemeClr val="tx1"/>
                </a:solidFill>
                <a:sym typeface="Trebuchet MS" panose="020B0603020202020204" pitchFamily="34" charset="0"/>
              </a:rPr>
              <a:t>Social media, search engines</a:t>
            </a:r>
          </a:p>
        </p:txBody>
      </p:sp>
      <p:sp>
        <p:nvSpPr>
          <p:cNvPr id="28" name="Rectangle: Rounded Corners 27">
            <a:extLst>
              <a:ext uri="{FF2B5EF4-FFF2-40B4-BE49-F238E27FC236}">
                <a16:creationId xmlns:a16="http://schemas.microsoft.com/office/drawing/2014/main" id="{CAD1AF8E-A43B-4DCC-9A1C-C3754CF2F509}"/>
              </a:ext>
            </a:extLst>
          </p:cNvPr>
          <p:cNvSpPr/>
          <p:nvPr>
            <p:custDataLst>
              <p:tags r:id="rId16"/>
            </p:custDataLst>
          </p:nvPr>
        </p:nvSpPr>
        <p:spPr>
          <a:xfrm>
            <a:off x="740488" y="5081185"/>
            <a:ext cx="2061085" cy="413597"/>
          </a:xfrm>
          <a:prstGeom prst="roundRect">
            <a:avLst>
              <a:gd name="adj" fmla="val 14448"/>
            </a:avLst>
          </a:prstGeom>
          <a:solidFill>
            <a:srgbClr val="FFFFFF"/>
          </a:solidFill>
          <a:ln w="9525" cap="rnd" cmpd="sng" algn="ctr">
            <a:solidFill>
              <a:srgbClr val="C8C8C8">
                <a:lumMod val="100000"/>
              </a:srgb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spAutoFit/>
          </a:bodyPr>
          <a:lstStyle/>
          <a:p>
            <a:r>
              <a:rPr lang="en-US" sz="1000" b="1">
                <a:solidFill>
                  <a:schemeClr val="tx1"/>
                </a:solidFill>
                <a:sym typeface="Trebuchet MS" panose="020B0603020202020204" pitchFamily="34" charset="0"/>
              </a:rPr>
              <a:t>Inputs on product and pricing catalogue</a:t>
            </a:r>
          </a:p>
        </p:txBody>
      </p:sp>
      <p:sp>
        <p:nvSpPr>
          <p:cNvPr id="29" name="Rectangle: Rounded Corners 28">
            <a:extLst>
              <a:ext uri="{FF2B5EF4-FFF2-40B4-BE49-F238E27FC236}">
                <a16:creationId xmlns:a16="http://schemas.microsoft.com/office/drawing/2014/main" id="{9657F151-FF4A-4C18-A70C-6A90A43C23B1}"/>
              </a:ext>
            </a:extLst>
          </p:cNvPr>
          <p:cNvSpPr/>
          <p:nvPr>
            <p:custDataLst>
              <p:tags r:id="rId17"/>
            </p:custDataLst>
          </p:nvPr>
        </p:nvSpPr>
        <p:spPr>
          <a:xfrm>
            <a:off x="740488" y="5620227"/>
            <a:ext cx="2061085" cy="565376"/>
          </a:xfrm>
          <a:prstGeom prst="roundRect">
            <a:avLst>
              <a:gd name="adj" fmla="val 10733"/>
            </a:avLst>
          </a:prstGeom>
          <a:solidFill>
            <a:srgbClr val="FFFFFF"/>
          </a:solidFill>
          <a:ln w="9525" cap="rnd" cmpd="sng" algn="ctr">
            <a:solidFill>
              <a:srgbClr val="C8C8C8">
                <a:lumMod val="100000"/>
              </a:srgb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spAutoFit/>
          </a:bodyPr>
          <a:lstStyle/>
          <a:p>
            <a:r>
              <a:rPr lang="en-US" sz="1000" b="1">
                <a:solidFill>
                  <a:schemeClr val="tx1"/>
                </a:solidFill>
                <a:sym typeface="Trebuchet MS" panose="020B0603020202020204" pitchFamily="34" charset="0"/>
              </a:rPr>
              <a:t>Marketing and communication scenarios (including style, channel, visuals, etc.)</a:t>
            </a:r>
          </a:p>
        </p:txBody>
      </p:sp>
      <p:cxnSp>
        <p:nvCxnSpPr>
          <p:cNvPr id="30" name="AutoShape 2">
            <a:extLst>
              <a:ext uri="{FF2B5EF4-FFF2-40B4-BE49-F238E27FC236}">
                <a16:creationId xmlns:a16="http://schemas.microsoft.com/office/drawing/2014/main" id="{3BDF52F3-9AC5-49C9-9CFD-5725B2E9EA08}"/>
              </a:ext>
            </a:extLst>
          </p:cNvPr>
          <p:cNvCxnSpPr>
            <a:cxnSpLocks noChangeShapeType="1"/>
          </p:cNvCxnSpPr>
          <p:nvPr/>
        </p:nvCxnSpPr>
        <p:spPr bwMode="auto">
          <a:xfrm rot="10800000" flipV="1">
            <a:off x="2801574" y="4133534"/>
            <a:ext cx="182210" cy="492942"/>
          </a:xfrm>
          <a:prstGeom prst="bentConnector3">
            <a:avLst>
              <a:gd name="adj1" fmla="val 50000"/>
            </a:avLst>
          </a:prstGeom>
          <a:noFill/>
          <a:ln w="9525" cap="rnd" cmpd="sng" algn="ctr">
            <a:solidFill>
              <a:srgbClr val="9A9A9A"/>
            </a:solidFill>
            <a:prstDash val="solid"/>
            <a:round/>
            <a:headEnd type="none" w="med" len="med"/>
            <a:tailEnd type="none" w="med" len="med"/>
          </a:ln>
        </p:spPr>
      </p:cxnSp>
      <p:cxnSp>
        <p:nvCxnSpPr>
          <p:cNvPr id="31" name="AutoShape 2">
            <a:extLst>
              <a:ext uri="{FF2B5EF4-FFF2-40B4-BE49-F238E27FC236}">
                <a16:creationId xmlns:a16="http://schemas.microsoft.com/office/drawing/2014/main" id="{9BD975A8-E4F9-4E00-86F8-739572BDC7E1}"/>
              </a:ext>
            </a:extLst>
          </p:cNvPr>
          <p:cNvCxnSpPr>
            <a:cxnSpLocks noChangeShapeType="1"/>
          </p:cNvCxnSpPr>
          <p:nvPr/>
        </p:nvCxnSpPr>
        <p:spPr bwMode="auto">
          <a:xfrm rot="10800000">
            <a:off x="2801573" y="5310392"/>
            <a:ext cx="182210" cy="258316"/>
          </a:xfrm>
          <a:prstGeom prst="bentConnector3">
            <a:avLst>
              <a:gd name="adj1" fmla="val 50000"/>
            </a:avLst>
          </a:prstGeom>
          <a:noFill/>
          <a:ln w="9525" cap="rnd" cmpd="sng" algn="ctr">
            <a:solidFill>
              <a:srgbClr val="9A9A9A"/>
            </a:solidFill>
            <a:prstDash val="solid"/>
            <a:round/>
            <a:headEnd type="none" w="med" len="med"/>
            <a:tailEnd type="none" w="med" len="med"/>
          </a:ln>
        </p:spPr>
      </p:cxnSp>
      <p:cxnSp>
        <p:nvCxnSpPr>
          <p:cNvPr id="32" name="AutoShape 2">
            <a:extLst>
              <a:ext uri="{FF2B5EF4-FFF2-40B4-BE49-F238E27FC236}">
                <a16:creationId xmlns:a16="http://schemas.microsoft.com/office/drawing/2014/main" id="{9265014B-B2BB-4DC5-B5B9-A7B46D79F31B}"/>
              </a:ext>
            </a:extLst>
          </p:cNvPr>
          <p:cNvCxnSpPr>
            <a:cxnSpLocks noChangeShapeType="1"/>
          </p:cNvCxnSpPr>
          <p:nvPr/>
        </p:nvCxnSpPr>
        <p:spPr bwMode="auto">
          <a:xfrm rot="10800000" flipV="1">
            <a:off x="2801573" y="5568707"/>
            <a:ext cx="182210" cy="334207"/>
          </a:xfrm>
          <a:prstGeom prst="bentConnector3">
            <a:avLst>
              <a:gd name="adj1" fmla="val 50000"/>
            </a:avLst>
          </a:prstGeom>
          <a:noFill/>
          <a:ln w="9525" cap="rnd" cmpd="sng" algn="ctr">
            <a:solidFill>
              <a:srgbClr val="9A9A9A"/>
            </a:solidFill>
            <a:prstDash val="solid"/>
            <a:round/>
            <a:headEnd type="none" w="med" len="med"/>
            <a:tailEnd type="none" w="med" len="med"/>
          </a:ln>
        </p:spPr>
      </p:cxnSp>
      <p:sp>
        <p:nvSpPr>
          <p:cNvPr id="33" name="Rectangle 32">
            <a:extLst>
              <a:ext uri="{FF2B5EF4-FFF2-40B4-BE49-F238E27FC236}">
                <a16:creationId xmlns:a16="http://schemas.microsoft.com/office/drawing/2014/main" id="{9C540CEF-D403-4D97-945C-4C7D8FA889BE}"/>
              </a:ext>
            </a:extLst>
          </p:cNvPr>
          <p:cNvSpPr/>
          <p:nvPr/>
        </p:nvSpPr>
        <p:spPr>
          <a:xfrm>
            <a:off x="2972230" y="2518586"/>
            <a:ext cx="1146317" cy="449762"/>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chemeClr val="bg1">
                    <a:lumMod val="85000"/>
                  </a:schemeClr>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lvl="0" algn="r">
              <a:defRPr/>
            </a:pPr>
            <a:r>
              <a:rPr lang="en-US" sz="800" kern="0">
                <a:solidFill>
                  <a:srgbClr val="7F7F7F"/>
                </a:solidFill>
              </a:rPr>
              <a:t>Dashboards</a:t>
            </a:r>
            <a:br>
              <a:rPr lang="en-US" sz="800" kern="0">
                <a:solidFill>
                  <a:srgbClr val="7F7F7F"/>
                </a:solidFill>
              </a:rPr>
            </a:br>
            <a:r>
              <a:rPr lang="en-US" sz="800" kern="0">
                <a:solidFill>
                  <a:srgbClr val="7F7F7F"/>
                </a:solidFill>
              </a:rPr>
              <a:t>and reporting</a:t>
            </a:r>
            <a:endParaRPr lang="ru" sz="800" kern="0">
              <a:solidFill>
                <a:srgbClr val="7F7F7F"/>
              </a:solidFill>
            </a:endParaRPr>
          </a:p>
        </p:txBody>
      </p:sp>
      <p:cxnSp>
        <p:nvCxnSpPr>
          <p:cNvPr id="34" name="AutoShape 2">
            <a:extLst>
              <a:ext uri="{FF2B5EF4-FFF2-40B4-BE49-F238E27FC236}">
                <a16:creationId xmlns:a16="http://schemas.microsoft.com/office/drawing/2014/main" id="{010B702A-B836-4DD1-9AC6-E8F862F92BF5}"/>
              </a:ext>
            </a:extLst>
          </p:cNvPr>
          <p:cNvCxnSpPr>
            <a:cxnSpLocks noChangeShapeType="1"/>
            <a:stCxn id="155" idx="1"/>
            <a:endCxn id="22" idx="3"/>
          </p:cNvCxnSpPr>
          <p:nvPr/>
        </p:nvCxnSpPr>
        <p:spPr bwMode="auto">
          <a:xfrm rot="10800000">
            <a:off x="3924457" y="4133534"/>
            <a:ext cx="590623" cy="1106020"/>
          </a:xfrm>
          <a:prstGeom prst="bentConnector3">
            <a:avLst>
              <a:gd name="adj1" fmla="val 50000"/>
            </a:avLst>
          </a:prstGeom>
          <a:noFill/>
          <a:ln w="9525" cap="rnd" cmpd="sng" algn="ctr">
            <a:solidFill>
              <a:srgbClr val="9A9A9A"/>
            </a:solidFill>
            <a:prstDash val="solid"/>
            <a:round/>
            <a:headEnd type="none" w="med" len="med"/>
            <a:tailEnd type="none" w="med" len="med"/>
          </a:ln>
        </p:spPr>
      </p:cxnSp>
      <p:cxnSp>
        <p:nvCxnSpPr>
          <p:cNvPr id="35" name="AutoShape 2">
            <a:extLst>
              <a:ext uri="{FF2B5EF4-FFF2-40B4-BE49-F238E27FC236}">
                <a16:creationId xmlns:a16="http://schemas.microsoft.com/office/drawing/2014/main" id="{E1E9EEE1-2027-44D3-A400-11B03DB66FEA}"/>
              </a:ext>
            </a:extLst>
          </p:cNvPr>
          <p:cNvCxnSpPr>
            <a:cxnSpLocks noChangeShapeType="1"/>
            <a:stCxn id="19" idx="1"/>
            <a:endCxn id="164" idx="3"/>
          </p:cNvCxnSpPr>
          <p:nvPr/>
        </p:nvCxnSpPr>
        <p:spPr bwMode="auto">
          <a:xfrm rot="10800000" flipV="1">
            <a:off x="3953661" y="3538171"/>
            <a:ext cx="561418" cy="1857100"/>
          </a:xfrm>
          <a:prstGeom prst="bentConnector3">
            <a:avLst>
              <a:gd name="adj1" fmla="val 50000"/>
            </a:avLst>
          </a:prstGeom>
          <a:noFill/>
          <a:ln w="9525" cap="rnd" cmpd="sng" algn="ctr">
            <a:solidFill>
              <a:srgbClr val="9A9A9A"/>
            </a:solidFill>
            <a:prstDash val="solid"/>
            <a:round/>
            <a:headEnd type="none" w="med" len="med"/>
            <a:tailEnd type="none" w="med" len="med"/>
          </a:ln>
        </p:spPr>
      </p:cxnSp>
      <p:cxnSp>
        <p:nvCxnSpPr>
          <p:cNvPr id="36" name="AutoShape 2">
            <a:extLst>
              <a:ext uri="{FF2B5EF4-FFF2-40B4-BE49-F238E27FC236}">
                <a16:creationId xmlns:a16="http://schemas.microsoft.com/office/drawing/2014/main" id="{3A2B35EE-E8DE-4F67-923F-B1C94FAF6106}"/>
              </a:ext>
            </a:extLst>
          </p:cNvPr>
          <p:cNvCxnSpPr>
            <a:cxnSpLocks noChangeShapeType="1"/>
            <a:stCxn id="156" idx="1"/>
            <a:endCxn id="164" idx="3"/>
          </p:cNvCxnSpPr>
          <p:nvPr/>
        </p:nvCxnSpPr>
        <p:spPr bwMode="auto">
          <a:xfrm flipH="1" flipV="1">
            <a:off x="3953661" y="5395271"/>
            <a:ext cx="561418" cy="14043"/>
          </a:xfrm>
          <a:prstGeom prst="straightConnector1">
            <a:avLst/>
          </a:prstGeom>
          <a:noFill/>
          <a:ln w="9525" cap="rnd" cmpd="sng" algn="ctr">
            <a:solidFill>
              <a:srgbClr val="9A9A9A"/>
            </a:solidFill>
            <a:prstDash val="solid"/>
            <a:round/>
            <a:headEnd type="none" w="med" len="med"/>
            <a:tailEnd type="none" w="med" len="med"/>
          </a:ln>
        </p:spPr>
      </p:cxnSp>
      <p:grpSp>
        <p:nvGrpSpPr>
          <p:cNvPr id="37" name="Group 36">
            <a:extLst>
              <a:ext uri="{FF2B5EF4-FFF2-40B4-BE49-F238E27FC236}">
                <a16:creationId xmlns:a16="http://schemas.microsoft.com/office/drawing/2014/main" id="{39676573-9B37-4A9E-A362-4917A84983BD}"/>
              </a:ext>
            </a:extLst>
          </p:cNvPr>
          <p:cNvGrpSpPr>
            <a:grpSpLocks/>
          </p:cNvGrpSpPr>
          <p:nvPr/>
        </p:nvGrpSpPr>
        <p:grpSpPr>
          <a:xfrm>
            <a:off x="3644159" y="2903771"/>
            <a:ext cx="540000" cy="540000"/>
            <a:chOff x="5273675" y="2606675"/>
            <a:chExt cx="1644650" cy="1644650"/>
          </a:xfrm>
        </p:grpSpPr>
        <p:sp>
          <p:nvSpPr>
            <p:cNvPr id="38" name="AutoShape 3">
              <a:extLst>
                <a:ext uri="{FF2B5EF4-FFF2-40B4-BE49-F238E27FC236}">
                  <a16:creationId xmlns:a16="http://schemas.microsoft.com/office/drawing/2014/main" id="{8A30631F-DC44-4586-B7E3-DFA3691E526C}"/>
                </a:ext>
              </a:extLst>
            </p:cNvPr>
            <p:cNvSpPr>
              <a:spLocks noChangeAspect="1" noChangeArrowheads="1" noTextEdit="1"/>
            </p:cNvSpPr>
            <p:nvPr/>
          </p:nvSpPr>
          <p:spPr bwMode="auto">
            <a:xfrm>
              <a:off x="5273675" y="2606675"/>
              <a:ext cx="1644650"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39" name="Group 38">
              <a:extLst>
                <a:ext uri="{FF2B5EF4-FFF2-40B4-BE49-F238E27FC236}">
                  <a16:creationId xmlns:a16="http://schemas.microsoft.com/office/drawing/2014/main" id="{3690BD3B-5712-4331-A7D5-B619A825FF37}"/>
                </a:ext>
              </a:extLst>
            </p:cNvPr>
            <p:cNvGrpSpPr/>
            <p:nvPr/>
          </p:nvGrpSpPr>
          <p:grpSpPr>
            <a:xfrm>
              <a:off x="5445124" y="2962275"/>
              <a:ext cx="1363857" cy="1236663"/>
              <a:chOff x="5445124" y="2962275"/>
              <a:chExt cx="1363857" cy="1236663"/>
            </a:xfrm>
          </p:grpSpPr>
          <p:sp>
            <p:nvSpPr>
              <p:cNvPr id="40" name="Freeform 15">
                <a:extLst>
                  <a:ext uri="{FF2B5EF4-FFF2-40B4-BE49-F238E27FC236}">
                    <a16:creationId xmlns:a16="http://schemas.microsoft.com/office/drawing/2014/main" id="{0D0AA630-CAD4-48D4-8BB5-4A8DA3131AB8}"/>
                  </a:ext>
                </a:extLst>
              </p:cNvPr>
              <p:cNvSpPr>
                <a:spLocks/>
              </p:cNvSpPr>
              <p:nvPr/>
            </p:nvSpPr>
            <p:spPr bwMode="auto">
              <a:xfrm>
                <a:off x="5508625" y="3025775"/>
                <a:ext cx="1176338" cy="806451"/>
              </a:xfrm>
              <a:custGeom>
                <a:avLst/>
                <a:gdLst>
                  <a:gd name="connsiteX0" fmla="*/ 14945 w 1176338"/>
                  <a:gd name="connsiteY0" fmla="*/ 684213 h 806451"/>
                  <a:gd name="connsiteX1" fmla="*/ 252632 w 1176338"/>
                  <a:gd name="connsiteY1" fmla="*/ 684213 h 806451"/>
                  <a:gd name="connsiteX2" fmla="*/ 268288 w 1176338"/>
                  <a:gd name="connsiteY2" fmla="*/ 699940 h 806451"/>
                  <a:gd name="connsiteX3" fmla="*/ 268288 w 1176338"/>
                  <a:gd name="connsiteY3" fmla="*/ 790725 h 806451"/>
                  <a:gd name="connsiteX4" fmla="*/ 252632 w 1176338"/>
                  <a:gd name="connsiteY4" fmla="*/ 806451 h 806451"/>
                  <a:gd name="connsiteX5" fmla="*/ 14945 w 1176338"/>
                  <a:gd name="connsiteY5" fmla="*/ 806451 h 806451"/>
                  <a:gd name="connsiteX6" fmla="*/ 0 w 1176338"/>
                  <a:gd name="connsiteY6" fmla="*/ 790725 h 806451"/>
                  <a:gd name="connsiteX7" fmla="*/ 0 w 1176338"/>
                  <a:gd name="connsiteY7" fmla="*/ 699940 h 806451"/>
                  <a:gd name="connsiteX8" fmla="*/ 14945 w 1176338"/>
                  <a:gd name="connsiteY8" fmla="*/ 684213 h 806451"/>
                  <a:gd name="connsiteX9" fmla="*/ 318056 w 1176338"/>
                  <a:gd name="connsiteY9" fmla="*/ 460375 h 806451"/>
                  <a:gd name="connsiteX10" fmla="*/ 368776 w 1176338"/>
                  <a:gd name="connsiteY10" fmla="*/ 460375 h 806451"/>
                  <a:gd name="connsiteX11" fmla="*/ 450930 w 1176338"/>
                  <a:gd name="connsiteY11" fmla="*/ 785043 h 806451"/>
                  <a:gd name="connsiteX12" fmla="*/ 473075 w 1176338"/>
                  <a:gd name="connsiteY12" fmla="*/ 806450 h 806451"/>
                  <a:gd name="connsiteX13" fmla="*/ 318056 w 1176338"/>
                  <a:gd name="connsiteY13" fmla="*/ 806450 h 806451"/>
                  <a:gd name="connsiteX14" fmla="*/ 301625 w 1176338"/>
                  <a:gd name="connsiteY14" fmla="*/ 790752 h 806451"/>
                  <a:gd name="connsiteX15" fmla="*/ 301625 w 1176338"/>
                  <a:gd name="connsiteY15" fmla="*/ 476073 h 806451"/>
                  <a:gd name="connsiteX16" fmla="*/ 318056 w 1176338"/>
                  <a:gd name="connsiteY16" fmla="*/ 460375 h 806451"/>
                  <a:gd name="connsiteX17" fmla="*/ 544513 w 1176338"/>
                  <a:gd name="connsiteY17" fmla="*/ 368300 h 806451"/>
                  <a:gd name="connsiteX18" fmla="*/ 544513 w 1176338"/>
                  <a:gd name="connsiteY18" fmla="*/ 461721 h 806451"/>
                  <a:gd name="connsiteX19" fmla="*/ 544513 w 1176338"/>
                  <a:gd name="connsiteY19" fmla="*/ 733425 h 806451"/>
                  <a:gd name="connsiteX20" fmla="*/ 524052 w 1176338"/>
                  <a:gd name="connsiteY20" fmla="*/ 714171 h 806451"/>
                  <a:gd name="connsiteX21" fmla="*/ 476780 w 1176338"/>
                  <a:gd name="connsiteY21" fmla="*/ 461721 h 806451"/>
                  <a:gd name="connsiteX22" fmla="*/ 530402 w 1176338"/>
                  <a:gd name="connsiteY22" fmla="*/ 381136 h 806451"/>
                  <a:gd name="connsiteX23" fmla="*/ 544513 w 1176338"/>
                  <a:gd name="connsiteY23" fmla="*/ 368300 h 806451"/>
                  <a:gd name="connsiteX24" fmla="*/ 693338 w 1176338"/>
                  <a:gd name="connsiteY24" fmla="*/ 312738 h 806451"/>
                  <a:gd name="connsiteX25" fmla="*/ 862099 w 1176338"/>
                  <a:gd name="connsiteY25" fmla="*/ 385739 h 806451"/>
                  <a:gd name="connsiteX26" fmla="*/ 872825 w 1176338"/>
                  <a:gd name="connsiteY26" fmla="*/ 398621 h 806451"/>
                  <a:gd name="connsiteX27" fmla="*/ 907150 w 1176338"/>
                  <a:gd name="connsiteY27" fmla="*/ 452299 h 806451"/>
                  <a:gd name="connsiteX28" fmla="*/ 907150 w 1176338"/>
                  <a:gd name="connsiteY28" fmla="*/ 647684 h 806451"/>
                  <a:gd name="connsiteX29" fmla="*/ 875686 w 1176338"/>
                  <a:gd name="connsiteY29" fmla="*/ 698498 h 806451"/>
                  <a:gd name="connsiteX30" fmla="*/ 872825 w 1176338"/>
                  <a:gd name="connsiteY30" fmla="*/ 701361 h 806451"/>
                  <a:gd name="connsiteX31" fmla="*/ 856378 w 1176338"/>
                  <a:gd name="connsiteY31" fmla="*/ 719969 h 806451"/>
                  <a:gd name="connsiteX32" fmla="*/ 837786 w 1176338"/>
                  <a:gd name="connsiteY32" fmla="*/ 736430 h 806451"/>
                  <a:gd name="connsiteX33" fmla="*/ 836356 w 1176338"/>
                  <a:gd name="connsiteY33" fmla="*/ 737146 h 806451"/>
                  <a:gd name="connsiteX34" fmla="*/ 693338 w 1176338"/>
                  <a:gd name="connsiteY34" fmla="*/ 785813 h 806451"/>
                  <a:gd name="connsiteX35" fmla="*/ 617538 w 1176338"/>
                  <a:gd name="connsiteY35" fmla="*/ 773646 h 806451"/>
                  <a:gd name="connsiteX36" fmla="*/ 617538 w 1176338"/>
                  <a:gd name="connsiteY36" fmla="*/ 324905 h 806451"/>
                  <a:gd name="connsiteX37" fmla="*/ 693338 w 1176338"/>
                  <a:gd name="connsiteY37" fmla="*/ 312738 h 806451"/>
                  <a:gd name="connsiteX38" fmla="*/ 922170 w 1176338"/>
                  <a:gd name="connsiteY38" fmla="*/ 0 h 806451"/>
                  <a:gd name="connsiteX39" fmla="*/ 1160631 w 1176338"/>
                  <a:gd name="connsiteY39" fmla="*/ 0 h 806451"/>
                  <a:gd name="connsiteX40" fmla="*/ 1176338 w 1176338"/>
                  <a:gd name="connsiteY40" fmla="*/ 15701 h 806451"/>
                  <a:gd name="connsiteX41" fmla="*/ 1176338 w 1176338"/>
                  <a:gd name="connsiteY41" fmla="*/ 790749 h 806451"/>
                  <a:gd name="connsiteX42" fmla="*/ 1160631 w 1176338"/>
                  <a:gd name="connsiteY42" fmla="*/ 806450 h 806451"/>
                  <a:gd name="connsiteX43" fmla="*/ 1094233 w 1176338"/>
                  <a:gd name="connsiteY43" fmla="*/ 806450 h 806451"/>
                  <a:gd name="connsiteX44" fmla="*/ 1092092 w 1176338"/>
                  <a:gd name="connsiteY44" fmla="*/ 804309 h 806451"/>
                  <a:gd name="connsiteX45" fmla="*/ 1063533 w 1176338"/>
                  <a:gd name="connsiteY45" fmla="*/ 790749 h 806451"/>
                  <a:gd name="connsiteX46" fmla="*/ 1060678 w 1176338"/>
                  <a:gd name="connsiteY46" fmla="*/ 790036 h 806451"/>
                  <a:gd name="connsiteX47" fmla="*/ 1058536 w 1176338"/>
                  <a:gd name="connsiteY47" fmla="*/ 790036 h 806451"/>
                  <a:gd name="connsiteX48" fmla="*/ 1042829 w 1176338"/>
                  <a:gd name="connsiteY48" fmla="*/ 792890 h 806451"/>
                  <a:gd name="connsiteX49" fmla="*/ 1034975 w 1176338"/>
                  <a:gd name="connsiteY49" fmla="*/ 782185 h 806451"/>
                  <a:gd name="connsiteX50" fmla="*/ 980715 w 1176338"/>
                  <a:gd name="connsiteY50" fmla="*/ 725805 h 806451"/>
                  <a:gd name="connsiteX51" fmla="*/ 935021 w 1176338"/>
                  <a:gd name="connsiteY51" fmla="*/ 316870 h 806451"/>
                  <a:gd name="connsiteX52" fmla="*/ 906463 w 1176338"/>
                  <a:gd name="connsiteY52" fmla="*/ 289751 h 806451"/>
                  <a:gd name="connsiteX53" fmla="*/ 906463 w 1176338"/>
                  <a:gd name="connsiteY53" fmla="*/ 15701 h 806451"/>
                  <a:gd name="connsiteX54" fmla="*/ 922170 w 1176338"/>
                  <a:gd name="connsiteY54" fmla="*/ 0 h 806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176338" h="806451">
                    <a:moveTo>
                      <a:pt x="14945" y="684213"/>
                    </a:moveTo>
                    <a:cubicBezTo>
                      <a:pt x="14945" y="684213"/>
                      <a:pt x="14945" y="684213"/>
                      <a:pt x="252632" y="684213"/>
                    </a:cubicBezTo>
                    <a:cubicBezTo>
                      <a:pt x="261172" y="684213"/>
                      <a:pt x="268288" y="691362"/>
                      <a:pt x="268288" y="699940"/>
                    </a:cubicBezTo>
                    <a:cubicBezTo>
                      <a:pt x="268288" y="699940"/>
                      <a:pt x="268288" y="699940"/>
                      <a:pt x="268288" y="790725"/>
                    </a:cubicBezTo>
                    <a:cubicBezTo>
                      <a:pt x="268288" y="800018"/>
                      <a:pt x="261172" y="806451"/>
                      <a:pt x="252632" y="806451"/>
                    </a:cubicBezTo>
                    <a:cubicBezTo>
                      <a:pt x="252632" y="806451"/>
                      <a:pt x="252632" y="806451"/>
                      <a:pt x="14945" y="806451"/>
                    </a:cubicBezTo>
                    <a:cubicBezTo>
                      <a:pt x="7117" y="806451"/>
                      <a:pt x="0" y="800018"/>
                      <a:pt x="0" y="790725"/>
                    </a:cubicBezTo>
                    <a:cubicBezTo>
                      <a:pt x="0" y="790725"/>
                      <a:pt x="0" y="790725"/>
                      <a:pt x="0" y="699940"/>
                    </a:cubicBezTo>
                    <a:cubicBezTo>
                      <a:pt x="0" y="691362"/>
                      <a:pt x="7117" y="684213"/>
                      <a:pt x="14945" y="684213"/>
                    </a:cubicBezTo>
                    <a:close/>
                    <a:moveTo>
                      <a:pt x="318056" y="460375"/>
                    </a:moveTo>
                    <a:cubicBezTo>
                      <a:pt x="318056" y="460375"/>
                      <a:pt x="318056" y="460375"/>
                      <a:pt x="368776" y="460375"/>
                    </a:cubicBezTo>
                    <a:cubicBezTo>
                      <a:pt x="338773" y="571690"/>
                      <a:pt x="365919" y="696562"/>
                      <a:pt x="450930" y="785043"/>
                    </a:cubicBezTo>
                    <a:cubicBezTo>
                      <a:pt x="458073" y="792893"/>
                      <a:pt x="465217" y="800028"/>
                      <a:pt x="473075" y="806450"/>
                    </a:cubicBezTo>
                    <a:cubicBezTo>
                      <a:pt x="473075" y="806450"/>
                      <a:pt x="473075" y="806450"/>
                      <a:pt x="318056" y="806450"/>
                    </a:cubicBezTo>
                    <a:cubicBezTo>
                      <a:pt x="308055" y="806450"/>
                      <a:pt x="301625" y="800028"/>
                      <a:pt x="301625" y="790752"/>
                    </a:cubicBezTo>
                    <a:cubicBezTo>
                      <a:pt x="301625" y="790752"/>
                      <a:pt x="301625" y="790752"/>
                      <a:pt x="301625" y="476073"/>
                    </a:cubicBezTo>
                    <a:cubicBezTo>
                      <a:pt x="301625" y="467510"/>
                      <a:pt x="308055" y="460375"/>
                      <a:pt x="318056" y="460375"/>
                    </a:cubicBezTo>
                    <a:close/>
                    <a:moveTo>
                      <a:pt x="544513" y="368300"/>
                    </a:moveTo>
                    <a:cubicBezTo>
                      <a:pt x="544513" y="368300"/>
                      <a:pt x="544513" y="368300"/>
                      <a:pt x="544513" y="461721"/>
                    </a:cubicBezTo>
                    <a:cubicBezTo>
                      <a:pt x="544513" y="461721"/>
                      <a:pt x="544513" y="461721"/>
                      <a:pt x="544513" y="733425"/>
                    </a:cubicBezTo>
                    <a:cubicBezTo>
                      <a:pt x="537458" y="727007"/>
                      <a:pt x="530402" y="721302"/>
                      <a:pt x="524052" y="714171"/>
                    </a:cubicBezTo>
                    <a:cubicBezTo>
                      <a:pt x="458435" y="644996"/>
                      <a:pt x="442913" y="545157"/>
                      <a:pt x="476780" y="461721"/>
                    </a:cubicBezTo>
                    <a:cubicBezTo>
                      <a:pt x="488069" y="432482"/>
                      <a:pt x="506413" y="404670"/>
                      <a:pt x="530402" y="381136"/>
                    </a:cubicBezTo>
                    <a:cubicBezTo>
                      <a:pt x="534635" y="376857"/>
                      <a:pt x="539574" y="372579"/>
                      <a:pt x="544513" y="368300"/>
                    </a:cubicBezTo>
                    <a:close/>
                    <a:moveTo>
                      <a:pt x="693338" y="312738"/>
                    </a:moveTo>
                    <a:cubicBezTo>
                      <a:pt x="757696" y="312738"/>
                      <a:pt x="818479" y="338503"/>
                      <a:pt x="862099" y="385739"/>
                    </a:cubicBezTo>
                    <a:cubicBezTo>
                      <a:pt x="866390" y="390033"/>
                      <a:pt x="869965" y="394327"/>
                      <a:pt x="872825" y="398621"/>
                    </a:cubicBezTo>
                    <a:cubicBezTo>
                      <a:pt x="887127" y="415082"/>
                      <a:pt x="897854" y="432975"/>
                      <a:pt x="907150" y="452299"/>
                    </a:cubicBezTo>
                    <a:cubicBezTo>
                      <a:pt x="935038" y="513848"/>
                      <a:pt x="935038" y="585418"/>
                      <a:pt x="907150" y="647684"/>
                    </a:cubicBezTo>
                    <a:cubicBezTo>
                      <a:pt x="898569" y="665576"/>
                      <a:pt x="888557" y="682753"/>
                      <a:pt x="875686" y="698498"/>
                    </a:cubicBezTo>
                    <a:cubicBezTo>
                      <a:pt x="874971" y="699214"/>
                      <a:pt x="874256" y="700645"/>
                      <a:pt x="872825" y="701361"/>
                    </a:cubicBezTo>
                    <a:cubicBezTo>
                      <a:pt x="867820" y="707802"/>
                      <a:pt x="862099" y="714244"/>
                      <a:pt x="856378" y="719969"/>
                    </a:cubicBezTo>
                    <a:cubicBezTo>
                      <a:pt x="849227" y="727126"/>
                      <a:pt x="842792" y="732136"/>
                      <a:pt x="837786" y="736430"/>
                    </a:cubicBezTo>
                    <a:cubicBezTo>
                      <a:pt x="837786" y="736430"/>
                      <a:pt x="837786" y="736430"/>
                      <a:pt x="836356" y="737146"/>
                    </a:cubicBezTo>
                    <a:cubicBezTo>
                      <a:pt x="795596" y="768636"/>
                      <a:pt x="744824" y="785813"/>
                      <a:pt x="693338" y="785813"/>
                    </a:cubicBezTo>
                    <a:cubicBezTo>
                      <a:pt x="666879" y="785813"/>
                      <a:pt x="641851" y="781519"/>
                      <a:pt x="617538" y="773646"/>
                    </a:cubicBezTo>
                    <a:cubicBezTo>
                      <a:pt x="617538" y="773646"/>
                      <a:pt x="617538" y="773646"/>
                      <a:pt x="617538" y="324905"/>
                    </a:cubicBezTo>
                    <a:cubicBezTo>
                      <a:pt x="641851" y="317032"/>
                      <a:pt x="666879" y="312738"/>
                      <a:pt x="693338" y="312738"/>
                    </a:cubicBezTo>
                    <a:close/>
                    <a:moveTo>
                      <a:pt x="922170" y="0"/>
                    </a:moveTo>
                    <a:cubicBezTo>
                      <a:pt x="922170" y="0"/>
                      <a:pt x="922170" y="0"/>
                      <a:pt x="1160631" y="0"/>
                    </a:cubicBezTo>
                    <a:cubicBezTo>
                      <a:pt x="1169199" y="0"/>
                      <a:pt x="1176338" y="6423"/>
                      <a:pt x="1176338" y="15701"/>
                    </a:cubicBezTo>
                    <a:cubicBezTo>
                      <a:pt x="1176338" y="15701"/>
                      <a:pt x="1176338" y="15701"/>
                      <a:pt x="1176338" y="790749"/>
                    </a:cubicBezTo>
                    <a:cubicBezTo>
                      <a:pt x="1176338" y="800027"/>
                      <a:pt x="1169199" y="806450"/>
                      <a:pt x="1160631" y="806450"/>
                    </a:cubicBezTo>
                    <a:cubicBezTo>
                      <a:pt x="1160631" y="806450"/>
                      <a:pt x="1160631" y="806450"/>
                      <a:pt x="1094233" y="806450"/>
                    </a:cubicBezTo>
                    <a:cubicBezTo>
                      <a:pt x="1094233" y="806450"/>
                      <a:pt x="1094233" y="806450"/>
                      <a:pt x="1092092" y="804309"/>
                    </a:cubicBezTo>
                    <a:cubicBezTo>
                      <a:pt x="1084238" y="797172"/>
                      <a:pt x="1074243" y="792177"/>
                      <a:pt x="1063533" y="790749"/>
                    </a:cubicBezTo>
                    <a:cubicBezTo>
                      <a:pt x="1063533" y="790749"/>
                      <a:pt x="1063533" y="790749"/>
                      <a:pt x="1060678" y="790036"/>
                    </a:cubicBezTo>
                    <a:cubicBezTo>
                      <a:pt x="1060678" y="790036"/>
                      <a:pt x="1060678" y="790036"/>
                      <a:pt x="1058536" y="790036"/>
                    </a:cubicBezTo>
                    <a:cubicBezTo>
                      <a:pt x="1052824" y="790036"/>
                      <a:pt x="1047826" y="790749"/>
                      <a:pt x="1042829" y="792890"/>
                    </a:cubicBezTo>
                    <a:cubicBezTo>
                      <a:pt x="1040687" y="789322"/>
                      <a:pt x="1037831" y="785754"/>
                      <a:pt x="1034975" y="782185"/>
                    </a:cubicBezTo>
                    <a:cubicBezTo>
                      <a:pt x="1034975" y="782185"/>
                      <a:pt x="1034975" y="782185"/>
                      <a:pt x="980715" y="725805"/>
                    </a:cubicBezTo>
                    <a:cubicBezTo>
                      <a:pt x="1059250" y="595916"/>
                      <a:pt x="1041401" y="427490"/>
                      <a:pt x="935021" y="316870"/>
                    </a:cubicBezTo>
                    <a:cubicBezTo>
                      <a:pt x="925740" y="306879"/>
                      <a:pt x="916459" y="298315"/>
                      <a:pt x="906463" y="289751"/>
                    </a:cubicBezTo>
                    <a:cubicBezTo>
                      <a:pt x="906463" y="289751"/>
                      <a:pt x="906463" y="289751"/>
                      <a:pt x="906463" y="15701"/>
                    </a:cubicBezTo>
                    <a:cubicBezTo>
                      <a:pt x="906463" y="6423"/>
                      <a:pt x="912889" y="0"/>
                      <a:pt x="922170"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p>
            </p:txBody>
          </p:sp>
          <p:sp>
            <p:nvSpPr>
              <p:cNvPr id="41" name="Freeform 16">
                <a:extLst>
                  <a:ext uri="{FF2B5EF4-FFF2-40B4-BE49-F238E27FC236}">
                    <a16:creationId xmlns:a16="http://schemas.microsoft.com/office/drawing/2014/main" id="{5631D682-C558-4462-8FF0-874FFEDB5E0B}"/>
                  </a:ext>
                </a:extLst>
              </p:cNvPr>
              <p:cNvSpPr>
                <a:spLocks/>
              </p:cNvSpPr>
              <p:nvPr/>
            </p:nvSpPr>
            <p:spPr bwMode="auto">
              <a:xfrm>
                <a:off x="5445124" y="2962275"/>
                <a:ext cx="1363857" cy="1236663"/>
              </a:xfrm>
              <a:custGeom>
                <a:avLst/>
                <a:gdLst>
                  <a:gd name="connsiteX0" fmla="*/ 1122942 w 1363857"/>
                  <a:gd name="connsiteY0" fmla="*/ 922338 h 1236663"/>
                  <a:gd name="connsiteX1" fmla="*/ 1112236 w 1363857"/>
                  <a:gd name="connsiteY1" fmla="*/ 931620 h 1236663"/>
                  <a:gd name="connsiteX2" fmla="*/ 1057276 w 1363857"/>
                  <a:gd name="connsiteY2" fmla="*/ 985168 h 1236663"/>
                  <a:gd name="connsiteX3" fmla="*/ 1267122 w 1363857"/>
                  <a:gd name="connsiteY3" fmla="*/ 1204359 h 1236663"/>
                  <a:gd name="connsiteX4" fmla="*/ 1279256 w 1363857"/>
                  <a:gd name="connsiteY4" fmla="*/ 1204359 h 1236663"/>
                  <a:gd name="connsiteX5" fmla="*/ 1309947 w 1363857"/>
                  <a:gd name="connsiteY5" fmla="*/ 1184368 h 1236663"/>
                  <a:gd name="connsiteX6" fmla="*/ 1330646 w 1363857"/>
                  <a:gd name="connsiteY6" fmla="*/ 1154381 h 1236663"/>
                  <a:gd name="connsiteX7" fmla="*/ 1332074 w 1363857"/>
                  <a:gd name="connsiteY7" fmla="*/ 1141529 h 1236663"/>
                  <a:gd name="connsiteX8" fmla="*/ 1131507 w 1363857"/>
                  <a:gd name="connsiteY8" fmla="*/ 931620 h 1236663"/>
                  <a:gd name="connsiteX9" fmla="*/ 1122942 w 1363857"/>
                  <a:gd name="connsiteY9" fmla="*/ 922338 h 1236663"/>
                  <a:gd name="connsiteX10" fmla="*/ 924966 w 1363857"/>
                  <a:gd name="connsiteY10" fmla="*/ 906463 h 1236663"/>
                  <a:gd name="connsiteX11" fmla="*/ 949326 w 1363857"/>
                  <a:gd name="connsiteY11" fmla="*/ 930276 h 1236663"/>
                  <a:gd name="connsiteX12" fmla="*/ 868363 w 1363857"/>
                  <a:gd name="connsiteY12" fmla="*/ 930276 h 1236663"/>
                  <a:gd name="connsiteX13" fmla="*/ 924966 w 1363857"/>
                  <a:gd name="connsiteY13" fmla="*/ 906463 h 1236663"/>
                  <a:gd name="connsiteX14" fmla="*/ 1124399 w 1363857"/>
                  <a:gd name="connsiteY14" fmla="*/ 884238 h 1236663"/>
                  <a:gd name="connsiteX15" fmla="*/ 1134353 w 1363857"/>
                  <a:gd name="connsiteY15" fmla="*/ 889232 h 1236663"/>
                  <a:gd name="connsiteX16" fmla="*/ 1145017 w 1363857"/>
                  <a:gd name="connsiteY16" fmla="*/ 900647 h 1236663"/>
                  <a:gd name="connsiteX17" fmla="*/ 1174878 w 1363857"/>
                  <a:gd name="connsiteY17" fmla="*/ 932037 h 1236663"/>
                  <a:gd name="connsiteX18" fmla="*/ 1354042 w 1363857"/>
                  <a:gd name="connsiteY18" fmla="*/ 1120377 h 1236663"/>
                  <a:gd name="connsiteX19" fmla="*/ 1360441 w 1363857"/>
                  <a:gd name="connsiteY19" fmla="*/ 1164609 h 1236663"/>
                  <a:gd name="connsiteX20" fmla="*/ 1332002 w 1363857"/>
                  <a:gd name="connsiteY20" fmla="*/ 1207413 h 1236663"/>
                  <a:gd name="connsiteX21" fmla="*/ 1287922 w 1363857"/>
                  <a:gd name="connsiteY21" fmla="*/ 1234523 h 1236663"/>
                  <a:gd name="connsiteX22" fmla="*/ 1270859 w 1363857"/>
                  <a:gd name="connsiteY22" fmla="*/ 1236663 h 1236663"/>
                  <a:gd name="connsiteX23" fmla="*/ 1244553 w 1363857"/>
                  <a:gd name="connsiteY23" fmla="*/ 1225962 h 1236663"/>
                  <a:gd name="connsiteX24" fmla="*/ 1024864 w 1363857"/>
                  <a:gd name="connsiteY24" fmla="*/ 996244 h 1236663"/>
                  <a:gd name="connsiteX25" fmla="*/ 1025575 w 1363857"/>
                  <a:gd name="connsiteY25" fmla="*/ 974128 h 1236663"/>
                  <a:gd name="connsiteX26" fmla="*/ 1068233 w 1363857"/>
                  <a:gd name="connsiteY26" fmla="*/ 932037 h 1236663"/>
                  <a:gd name="connsiteX27" fmla="*/ 1076054 w 1363857"/>
                  <a:gd name="connsiteY27" fmla="*/ 924903 h 1236663"/>
                  <a:gd name="connsiteX28" fmla="*/ 1100227 w 1363857"/>
                  <a:gd name="connsiteY28" fmla="*/ 900647 h 1236663"/>
                  <a:gd name="connsiteX29" fmla="*/ 1103781 w 1363857"/>
                  <a:gd name="connsiteY29" fmla="*/ 897793 h 1236663"/>
                  <a:gd name="connsiteX30" fmla="*/ 1113024 w 1363857"/>
                  <a:gd name="connsiteY30" fmla="*/ 889232 h 1236663"/>
                  <a:gd name="connsiteX31" fmla="*/ 1124399 w 1363857"/>
                  <a:gd name="connsiteY31" fmla="*/ 884238 h 1236663"/>
                  <a:gd name="connsiteX32" fmla="*/ 737549 w 1363857"/>
                  <a:gd name="connsiteY32" fmla="*/ 345813 h 1236663"/>
                  <a:gd name="connsiteX33" fmla="*/ 667227 w 1363857"/>
                  <a:gd name="connsiteY33" fmla="*/ 359983 h 1236663"/>
                  <a:gd name="connsiteX34" fmla="*/ 570072 w 1363857"/>
                  <a:gd name="connsiteY34" fmla="*/ 419872 h 1236663"/>
                  <a:gd name="connsiteX35" fmla="*/ 503635 w 1363857"/>
                  <a:gd name="connsiteY35" fmla="*/ 523965 h 1236663"/>
                  <a:gd name="connsiteX36" fmla="*/ 562928 w 1363857"/>
                  <a:gd name="connsiteY36" fmla="*/ 799168 h 1236663"/>
                  <a:gd name="connsiteX37" fmla="*/ 634366 w 1363857"/>
                  <a:gd name="connsiteY37" fmla="*/ 851214 h 1236663"/>
                  <a:gd name="connsiteX38" fmla="*/ 836534 w 1363857"/>
                  <a:gd name="connsiteY38" fmla="*/ 868325 h 1236663"/>
                  <a:gd name="connsiteX39" fmla="*/ 920116 w 1363857"/>
                  <a:gd name="connsiteY39" fmla="*/ 825548 h 1236663"/>
                  <a:gd name="connsiteX40" fmla="*/ 937261 w 1363857"/>
                  <a:gd name="connsiteY40" fmla="*/ 811288 h 1236663"/>
                  <a:gd name="connsiteX41" fmla="*/ 942976 w 1363857"/>
                  <a:gd name="connsiteY41" fmla="*/ 806298 h 1236663"/>
                  <a:gd name="connsiteX42" fmla="*/ 965836 w 1363857"/>
                  <a:gd name="connsiteY42" fmla="*/ 782057 h 1236663"/>
                  <a:gd name="connsiteX43" fmla="*/ 971551 w 1363857"/>
                  <a:gd name="connsiteY43" fmla="*/ 774214 h 1236663"/>
                  <a:gd name="connsiteX44" fmla="*/ 971551 w 1363857"/>
                  <a:gd name="connsiteY44" fmla="*/ 452668 h 1236663"/>
                  <a:gd name="connsiteX45" fmla="*/ 950119 w 1363857"/>
                  <a:gd name="connsiteY45" fmla="*/ 427002 h 1236663"/>
                  <a:gd name="connsiteX46" fmla="*/ 937261 w 1363857"/>
                  <a:gd name="connsiteY46" fmla="*/ 415594 h 1236663"/>
                  <a:gd name="connsiteX47" fmla="*/ 737549 w 1363857"/>
                  <a:gd name="connsiteY47" fmla="*/ 345813 h 1236663"/>
                  <a:gd name="connsiteX48" fmla="*/ 736320 w 1363857"/>
                  <a:gd name="connsiteY48" fmla="*/ 306806 h 1236663"/>
                  <a:gd name="connsiteX49" fmla="*/ 936985 w 1363857"/>
                  <a:gd name="connsiteY49" fmla="*/ 364993 h 1236663"/>
                  <a:gd name="connsiteX50" fmla="*/ 971284 w 1363857"/>
                  <a:gd name="connsiteY50" fmla="*/ 393578 h 1236663"/>
                  <a:gd name="connsiteX51" fmla="*/ 977715 w 1363857"/>
                  <a:gd name="connsiteY51" fmla="*/ 400010 h 1236663"/>
                  <a:gd name="connsiteX52" fmla="*/ 1005582 w 1363857"/>
                  <a:gd name="connsiteY52" fmla="*/ 791631 h 1236663"/>
                  <a:gd name="connsiteX53" fmla="*/ 1078466 w 1363857"/>
                  <a:gd name="connsiteY53" fmla="*/ 866668 h 1236663"/>
                  <a:gd name="connsiteX54" fmla="*/ 1079895 w 1363857"/>
                  <a:gd name="connsiteY54" fmla="*/ 868812 h 1236663"/>
                  <a:gd name="connsiteX55" fmla="*/ 1079895 w 1363857"/>
                  <a:gd name="connsiteY55" fmla="*/ 876673 h 1236663"/>
                  <a:gd name="connsiteX56" fmla="*/ 1054886 w 1363857"/>
                  <a:gd name="connsiteY56" fmla="*/ 900256 h 1236663"/>
                  <a:gd name="connsiteX57" fmla="*/ 1052742 w 1363857"/>
                  <a:gd name="connsiteY57" fmla="*/ 901685 h 1236663"/>
                  <a:gd name="connsiteX58" fmla="*/ 1021302 w 1363857"/>
                  <a:gd name="connsiteY58" fmla="*/ 931700 h 1236663"/>
                  <a:gd name="connsiteX59" fmla="*/ 1012013 w 1363857"/>
                  <a:gd name="connsiteY59" fmla="*/ 940990 h 1236663"/>
                  <a:gd name="connsiteX60" fmla="*/ 1000580 w 1363857"/>
                  <a:gd name="connsiteY60" fmla="*/ 940990 h 1236663"/>
                  <a:gd name="connsiteX61" fmla="*/ 991291 w 1363857"/>
                  <a:gd name="connsiteY61" fmla="*/ 931700 h 1236663"/>
                  <a:gd name="connsiteX62" fmla="*/ 961280 w 1363857"/>
                  <a:gd name="connsiteY62" fmla="*/ 900256 h 1236663"/>
                  <a:gd name="connsiteX63" fmla="*/ 929125 w 1363857"/>
                  <a:gd name="connsiteY63" fmla="*/ 867382 h 1236663"/>
                  <a:gd name="connsiteX64" fmla="*/ 928411 w 1363857"/>
                  <a:gd name="connsiteY64" fmla="*/ 866668 h 1236663"/>
                  <a:gd name="connsiteX65" fmla="*/ 924838 w 1363857"/>
                  <a:gd name="connsiteY65" fmla="*/ 868812 h 1236663"/>
                  <a:gd name="connsiteX66" fmla="*/ 861958 w 1363857"/>
                  <a:gd name="connsiteY66" fmla="*/ 900256 h 1236663"/>
                  <a:gd name="connsiteX67" fmla="*/ 649023 w 1363857"/>
                  <a:gd name="connsiteY67" fmla="*/ 900256 h 1236663"/>
                  <a:gd name="connsiteX68" fmla="*/ 586857 w 1363857"/>
                  <a:gd name="connsiteY68" fmla="*/ 868812 h 1236663"/>
                  <a:gd name="connsiteX69" fmla="*/ 534695 w 1363857"/>
                  <a:gd name="connsiteY69" fmla="*/ 825934 h 1236663"/>
                  <a:gd name="connsiteX70" fmla="*/ 463240 w 1363857"/>
                  <a:gd name="connsiteY70" fmla="*/ 523642 h 1236663"/>
                  <a:gd name="connsiteX71" fmla="*/ 543270 w 1363857"/>
                  <a:gd name="connsiteY71" fmla="*/ 391435 h 1236663"/>
                  <a:gd name="connsiteX72" fmla="*/ 666886 w 1363857"/>
                  <a:gd name="connsiteY72" fmla="*/ 319256 h 1236663"/>
                  <a:gd name="connsiteX73" fmla="*/ 736320 w 1363857"/>
                  <a:gd name="connsiteY73" fmla="*/ 306806 h 1236663"/>
                  <a:gd name="connsiteX74" fmla="*/ 15703 w 1363857"/>
                  <a:gd name="connsiteY74" fmla="*/ 0 h 1236663"/>
                  <a:gd name="connsiteX75" fmla="*/ 1287635 w 1363857"/>
                  <a:gd name="connsiteY75" fmla="*/ 0 h 1236663"/>
                  <a:gd name="connsiteX76" fmla="*/ 1303338 w 1363857"/>
                  <a:gd name="connsiteY76" fmla="*/ 15695 h 1236663"/>
                  <a:gd name="connsiteX77" fmla="*/ 1303338 w 1363857"/>
                  <a:gd name="connsiteY77" fmla="*/ 914580 h 1236663"/>
                  <a:gd name="connsiteX78" fmla="*/ 1287635 w 1363857"/>
                  <a:gd name="connsiteY78" fmla="*/ 930275 h 1236663"/>
                  <a:gd name="connsiteX79" fmla="*/ 1218400 w 1363857"/>
                  <a:gd name="connsiteY79" fmla="*/ 930275 h 1236663"/>
                  <a:gd name="connsiteX80" fmla="*/ 1188422 w 1363857"/>
                  <a:gd name="connsiteY80" fmla="*/ 898885 h 1236663"/>
                  <a:gd name="connsiteX81" fmla="*/ 1271932 w 1363857"/>
                  <a:gd name="connsiteY81" fmla="*/ 898885 h 1236663"/>
                  <a:gd name="connsiteX82" fmla="*/ 1271932 w 1363857"/>
                  <a:gd name="connsiteY82" fmla="*/ 31390 h 1236663"/>
                  <a:gd name="connsiteX83" fmla="*/ 31405 w 1363857"/>
                  <a:gd name="connsiteY83" fmla="*/ 31390 h 1236663"/>
                  <a:gd name="connsiteX84" fmla="*/ 31405 w 1363857"/>
                  <a:gd name="connsiteY84" fmla="*/ 898885 h 1236663"/>
                  <a:gd name="connsiteX85" fmla="*/ 578865 w 1363857"/>
                  <a:gd name="connsiteY85" fmla="*/ 898885 h 1236663"/>
                  <a:gd name="connsiteX86" fmla="*/ 644531 w 1363857"/>
                  <a:gd name="connsiteY86" fmla="*/ 930275 h 1236663"/>
                  <a:gd name="connsiteX87" fmla="*/ 15703 w 1363857"/>
                  <a:gd name="connsiteY87" fmla="*/ 930275 h 1236663"/>
                  <a:gd name="connsiteX88" fmla="*/ 0 w 1363857"/>
                  <a:gd name="connsiteY88" fmla="*/ 914580 h 1236663"/>
                  <a:gd name="connsiteX89" fmla="*/ 0 w 1363857"/>
                  <a:gd name="connsiteY89" fmla="*/ 15695 h 1236663"/>
                  <a:gd name="connsiteX90" fmla="*/ 15703 w 1363857"/>
                  <a:gd name="connsiteY90" fmla="*/ 0 h 1236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363857" h="1236663">
                    <a:moveTo>
                      <a:pt x="1122942" y="922338"/>
                    </a:moveTo>
                    <a:cubicBezTo>
                      <a:pt x="1122942" y="922338"/>
                      <a:pt x="1122942" y="922338"/>
                      <a:pt x="1112236" y="931620"/>
                    </a:cubicBezTo>
                    <a:cubicBezTo>
                      <a:pt x="1112236" y="931620"/>
                      <a:pt x="1112236" y="931620"/>
                      <a:pt x="1057276" y="985168"/>
                    </a:cubicBezTo>
                    <a:cubicBezTo>
                      <a:pt x="1267122" y="1204359"/>
                      <a:pt x="1267122" y="1204359"/>
                      <a:pt x="1267122" y="1204359"/>
                    </a:cubicBezTo>
                    <a:cubicBezTo>
                      <a:pt x="1267835" y="1205073"/>
                      <a:pt x="1271404" y="1206501"/>
                      <a:pt x="1279256" y="1204359"/>
                    </a:cubicBezTo>
                    <a:cubicBezTo>
                      <a:pt x="1289248" y="1201503"/>
                      <a:pt x="1299955" y="1194364"/>
                      <a:pt x="1309947" y="1184368"/>
                    </a:cubicBezTo>
                    <a:cubicBezTo>
                      <a:pt x="1319940" y="1175086"/>
                      <a:pt x="1327791" y="1164376"/>
                      <a:pt x="1330646" y="1154381"/>
                    </a:cubicBezTo>
                    <a:cubicBezTo>
                      <a:pt x="1333501" y="1146527"/>
                      <a:pt x="1332787" y="1142243"/>
                      <a:pt x="1332074" y="1141529"/>
                    </a:cubicBezTo>
                    <a:cubicBezTo>
                      <a:pt x="1196459" y="1000162"/>
                      <a:pt x="1147924" y="949469"/>
                      <a:pt x="1131507" y="931620"/>
                    </a:cubicBezTo>
                    <a:cubicBezTo>
                      <a:pt x="1122942" y="922338"/>
                      <a:pt x="1122942" y="922338"/>
                      <a:pt x="1122942" y="922338"/>
                    </a:cubicBezTo>
                    <a:close/>
                    <a:moveTo>
                      <a:pt x="924966" y="906463"/>
                    </a:moveTo>
                    <a:cubicBezTo>
                      <a:pt x="924966" y="906463"/>
                      <a:pt x="924966" y="906463"/>
                      <a:pt x="949326" y="930276"/>
                    </a:cubicBezTo>
                    <a:cubicBezTo>
                      <a:pt x="949326" y="930276"/>
                      <a:pt x="949326" y="930276"/>
                      <a:pt x="868363" y="930276"/>
                    </a:cubicBezTo>
                    <a:cubicBezTo>
                      <a:pt x="887708" y="923973"/>
                      <a:pt x="907054" y="915568"/>
                      <a:pt x="924966" y="906463"/>
                    </a:cubicBezTo>
                    <a:close/>
                    <a:moveTo>
                      <a:pt x="1124399" y="884238"/>
                    </a:moveTo>
                    <a:cubicBezTo>
                      <a:pt x="1127954" y="884952"/>
                      <a:pt x="1131509" y="886378"/>
                      <a:pt x="1134353" y="889232"/>
                    </a:cubicBezTo>
                    <a:cubicBezTo>
                      <a:pt x="1137908" y="893512"/>
                      <a:pt x="1141463" y="897080"/>
                      <a:pt x="1145017" y="900647"/>
                    </a:cubicBezTo>
                    <a:cubicBezTo>
                      <a:pt x="1155682" y="912061"/>
                      <a:pt x="1165636" y="922762"/>
                      <a:pt x="1174878" y="932037"/>
                    </a:cubicBezTo>
                    <a:cubicBezTo>
                      <a:pt x="1354042" y="1120377"/>
                      <a:pt x="1354042" y="1120377"/>
                      <a:pt x="1354042" y="1120377"/>
                    </a:cubicBezTo>
                    <a:cubicBezTo>
                      <a:pt x="1363995" y="1130365"/>
                      <a:pt x="1366839" y="1146773"/>
                      <a:pt x="1360441" y="1164609"/>
                    </a:cubicBezTo>
                    <a:cubicBezTo>
                      <a:pt x="1355464" y="1179590"/>
                      <a:pt x="1345510" y="1194572"/>
                      <a:pt x="1332002" y="1207413"/>
                    </a:cubicBezTo>
                    <a:cubicBezTo>
                      <a:pt x="1318493" y="1220255"/>
                      <a:pt x="1302852" y="1230242"/>
                      <a:pt x="1287922" y="1234523"/>
                    </a:cubicBezTo>
                    <a:cubicBezTo>
                      <a:pt x="1282234" y="1235950"/>
                      <a:pt x="1276546" y="1236663"/>
                      <a:pt x="1270859" y="1236663"/>
                    </a:cubicBezTo>
                    <a:cubicBezTo>
                      <a:pt x="1260905" y="1236663"/>
                      <a:pt x="1250952" y="1233096"/>
                      <a:pt x="1244553" y="1225962"/>
                    </a:cubicBezTo>
                    <a:cubicBezTo>
                      <a:pt x="1024864" y="996244"/>
                      <a:pt x="1024864" y="996244"/>
                      <a:pt x="1024864" y="996244"/>
                    </a:cubicBezTo>
                    <a:cubicBezTo>
                      <a:pt x="1019176" y="989823"/>
                      <a:pt x="1019176" y="979835"/>
                      <a:pt x="1025575" y="974128"/>
                    </a:cubicBezTo>
                    <a:cubicBezTo>
                      <a:pt x="1042638" y="957006"/>
                      <a:pt x="1056858" y="943451"/>
                      <a:pt x="1068233" y="932037"/>
                    </a:cubicBezTo>
                    <a:cubicBezTo>
                      <a:pt x="1071077" y="929896"/>
                      <a:pt x="1073210" y="927043"/>
                      <a:pt x="1076054" y="924903"/>
                    </a:cubicBezTo>
                    <a:cubicBezTo>
                      <a:pt x="1087429" y="914201"/>
                      <a:pt x="1095250" y="906354"/>
                      <a:pt x="1100227" y="900647"/>
                    </a:cubicBezTo>
                    <a:cubicBezTo>
                      <a:pt x="1101648" y="899933"/>
                      <a:pt x="1103070" y="898506"/>
                      <a:pt x="1103781" y="897793"/>
                    </a:cubicBezTo>
                    <a:cubicBezTo>
                      <a:pt x="1113024" y="889232"/>
                      <a:pt x="1113024" y="889232"/>
                      <a:pt x="1113024" y="889232"/>
                    </a:cubicBezTo>
                    <a:cubicBezTo>
                      <a:pt x="1115868" y="886378"/>
                      <a:pt x="1120134" y="884238"/>
                      <a:pt x="1124399" y="884238"/>
                    </a:cubicBezTo>
                    <a:close/>
                    <a:moveTo>
                      <a:pt x="737549" y="345813"/>
                    </a:moveTo>
                    <a:cubicBezTo>
                      <a:pt x="713751" y="347417"/>
                      <a:pt x="690087" y="352141"/>
                      <a:pt x="667227" y="359983"/>
                    </a:cubicBezTo>
                    <a:cubicBezTo>
                      <a:pt x="632223" y="372817"/>
                      <a:pt x="598647" y="392780"/>
                      <a:pt x="570072" y="419872"/>
                    </a:cubicBezTo>
                    <a:cubicBezTo>
                      <a:pt x="539354" y="449817"/>
                      <a:pt x="517208" y="485465"/>
                      <a:pt x="503635" y="523965"/>
                    </a:cubicBezTo>
                    <a:cubicBezTo>
                      <a:pt x="471488" y="616650"/>
                      <a:pt x="490776" y="723594"/>
                      <a:pt x="562928" y="799168"/>
                    </a:cubicBezTo>
                    <a:cubicBezTo>
                      <a:pt x="584359" y="821270"/>
                      <a:pt x="608648" y="838381"/>
                      <a:pt x="634366" y="851214"/>
                    </a:cubicBezTo>
                    <a:cubicBezTo>
                      <a:pt x="696516" y="883297"/>
                      <a:pt x="770097" y="889001"/>
                      <a:pt x="836534" y="868325"/>
                    </a:cubicBezTo>
                    <a:cubicBezTo>
                      <a:pt x="865823" y="859770"/>
                      <a:pt x="894398" y="844798"/>
                      <a:pt x="920116" y="825548"/>
                    </a:cubicBezTo>
                    <a:cubicBezTo>
                      <a:pt x="926545" y="821270"/>
                      <a:pt x="932260" y="816279"/>
                      <a:pt x="937261" y="811288"/>
                    </a:cubicBezTo>
                    <a:cubicBezTo>
                      <a:pt x="939404" y="809149"/>
                      <a:pt x="940833" y="807723"/>
                      <a:pt x="942976" y="806298"/>
                    </a:cubicBezTo>
                    <a:cubicBezTo>
                      <a:pt x="950834" y="798455"/>
                      <a:pt x="958692" y="790612"/>
                      <a:pt x="965836" y="782057"/>
                    </a:cubicBezTo>
                    <a:cubicBezTo>
                      <a:pt x="967264" y="779205"/>
                      <a:pt x="969408" y="777066"/>
                      <a:pt x="971551" y="774214"/>
                    </a:cubicBezTo>
                    <a:cubicBezTo>
                      <a:pt x="1042274" y="680103"/>
                      <a:pt x="1042988" y="548205"/>
                      <a:pt x="971551" y="452668"/>
                    </a:cubicBezTo>
                    <a:cubicBezTo>
                      <a:pt x="964407" y="443400"/>
                      <a:pt x="957263" y="435557"/>
                      <a:pt x="950119" y="427002"/>
                    </a:cubicBezTo>
                    <a:cubicBezTo>
                      <a:pt x="945833" y="423437"/>
                      <a:pt x="941547" y="419159"/>
                      <a:pt x="937261" y="415594"/>
                    </a:cubicBezTo>
                    <a:cubicBezTo>
                      <a:pt x="881540" y="364261"/>
                      <a:pt x="808941" y="341001"/>
                      <a:pt x="737549" y="345813"/>
                    </a:cubicBezTo>
                    <a:close/>
                    <a:moveTo>
                      <a:pt x="736320" y="306806"/>
                    </a:moveTo>
                    <a:cubicBezTo>
                      <a:pt x="806625" y="302284"/>
                      <a:pt x="878035" y="321579"/>
                      <a:pt x="936985" y="364993"/>
                    </a:cubicBezTo>
                    <a:cubicBezTo>
                      <a:pt x="949133" y="373569"/>
                      <a:pt x="960566" y="383574"/>
                      <a:pt x="971284" y="393578"/>
                    </a:cubicBezTo>
                    <a:cubicBezTo>
                      <a:pt x="973427" y="395722"/>
                      <a:pt x="975571" y="397866"/>
                      <a:pt x="977715" y="400010"/>
                    </a:cubicBezTo>
                    <a:cubicBezTo>
                      <a:pt x="1082039" y="507920"/>
                      <a:pt x="1090613" y="673716"/>
                      <a:pt x="1005582" y="791631"/>
                    </a:cubicBezTo>
                    <a:cubicBezTo>
                      <a:pt x="1078466" y="866668"/>
                      <a:pt x="1078466" y="866668"/>
                      <a:pt x="1078466" y="866668"/>
                    </a:cubicBezTo>
                    <a:cubicBezTo>
                      <a:pt x="1079180" y="867382"/>
                      <a:pt x="1079895" y="868097"/>
                      <a:pt x="1079895" y="868812"/>
                    </a:cubicBezTo>
                    <a:cubicBezTo>
                      <a:pt x="1081324" y="871670"/>
                      <a:pt x="1081324" y="874529"/>
                      <a:pt x="1079895" y="876673"/>
                    </a:cubicBezTo>
                    <a:cubicBezTo>
                      <a:pt x="1079895" y="876673"/>
                      <a:pt x="1079895" y="876673"/>
                      <a:pt x="1054886" y="900256"/>
                    </a:cubicBezTo>
                    <a:cubicBezTo>
                      <a:pt x="1054886" y="900256"/>
                      <a:pt x="1054886" y="900256"/>
                      <a:pt x="1052742" y="901685"/>
                    </a:cubicBezTo>
                    <a:cubicBezTo>
                      <a:pt x="1037022" y="917407"/>
                      <a:pt x="1027018" y="926697"/>
                      <a:pt x="1021302" y="931700"/>
                    </a:cubicBezTo>
                    <a:cubicBezTo>
                      <a:pt x="1012013" y="940990"/>
                      <a:pt x="1012013" y="940990"/>
                      <a:pt x="1012013" y="940990"/>
                    </a:cubicBezTo>
                    <a:cubicBezTo>
                      <a:pt x="1009155" y="944563"/>
                      <a:pt x="1003438" y="944563"/>
                      <a:pt x="1000580" y="940990"/>
                    </a:cubicBezTo>
                    <a:cubicBezTo>
                      <a:pt x="997007" y="938131"/>
                      <a:pt x="994149" y="934558"/>
                      <a:pt x="991291" y="931700"/>
                    </a:cubicBezTo>
                    <a:cubicBezTo>
                      <a:pt x="979144" y="919551"/>
                      <a:pt x="969140" y="908831"/>
                      <a:pt x="961280" y="900256"/>
                    </a:cubicBezTo>
                    <a:cubicBezTo>
                      <a:pt x="937700" y="875958"/>
                      <a:pt x="930555" y="869526"/>
                      <a:pt x="929125" y="867382"/>
                    </a:cubicBezTo>
                    <a:cubicBezTo>
                      <a:pt x="928411" y="866668"/>
                      <a:pt x="928411" y="866668"/>
                      <a:pt x="928411" y="866668"/>
                    </a:cubicBezTo>
                    <a:cubicBezTo>
                      <a:pt x="926982" y="867382"/>
                      <a:pt x="925553" y="868097"/>
                      <a:pt x="924838" y="868812"/>
                    </a:cubicBezTo>
                    <a:cubicBezTo>
                      <a:pt x="904831" y="881675"/>
                      <a:pt x="883394" y="892395"/>
                      <a:pt x="861958" y="900256"/>
                    </a:cubicBezTo>
                    <a:cubicBezTo>
                      <a:pt x="793361" y="925983"/>
                      <a:pt x="717619" y="925983"/>
                      <a:pt x="649023" y="900256"/>
                    </a:cubicBezTo>
                    <a:cubicBezTo>
                      <a:pt x="627586" y="892395"/>
                      <a:pt x="606864" y="882390"/>
                      <a:pt x="586857" y="868812"/>
                    </a:cubicBezTo>
                    <a:cubicBezTo>
                      <a:pt x="568279" y="856663"/>
                      <a:pt x="551130" y="842370"/>
                      <a:pt x="534695" y="825934"/>
                    </a:cubicBezTo>
                    <a:cubicBezTo>
                      <a:pt x="456095" y="743036"/>
                      <a:pt x="431800" y="626550"/>
                      <a:pt x="463240" y="523642"/>
                    </a:cubicBezTo>
                    <a:cubicBezTo>
                      <a:pt x="477531" y="475047"/>
                      <a:pt x="504684" y="429310"/>
                      <a:pt x="543270" y="391435"/>
                    </a:cubicBezTo>
                    <a:cubicBezTo>
                      <a:pt x="579712" y="357132"/>
                      <a:pt x="622584" y="332834"/>
                      <a:pt x="666886" y="319256"/>
                    </a:cubicBezTo>
                    <a:cubicBezTo>
                      <a:pt x="689573" y="312467"/>
                      <a:pt x="712885" y="308313"/>
                      <a:pt x="736320" y="306806"/>
                    </a:cubicBezTo>
                    <a:close/>
                    <a:moveTo>
                      <a:pt x="15703" y="0"/>
                    </a:moveTo>
                    <a:cubicBezTo>
                      <a:pt x="15703" y="0"/>
                      <a:pt x="15703" y="0"/>
                      <a:pt x="1287635" y="0"/>
                    </a:cubicBezTo>
                    <a:cubicBezTo>
                      <a:pt x="1296201" y="0"/>
                      <a:pt x="1303338" y="6420"/>
                      <a:pt x="1303338" y="15695"/>
                    </a:cubicBezTo>
                    <a:cubicBezTo>
                      <a:pt x="1303338" y="15695"/>
                      <a:pt x="1303338" y="15695"/>
                      <a:pt x="1303338" y="914580"/>
                    </a:cubicBezTo>
                    <a:cubicBezTo>
                      <a:pt x="1303338" y="923855"/>
                      <a:pt x="1296201" y="930275"/>
                      <a:pt x="1287635" y="930275"/>
                    </a:cubicBezTo>
                    <a:cubicBezTo>
                      <a:pt x="1287635" y="930275"/>
                      <a:pt x="1287635" y="930275"/>
                      <a:pt x="1218400" y="930275"/>
                    </a:cubicBezTo>
                    <a:cubicBezTo>
                      <a:pt x="1218400" y="930275"/>
                      <a:pt x="1218400" y="930275"/>
                      <a:pt x="1188422" y="898885"/>
                    </a:cubicBezTo>
                    <a:cubicBezTo>
                      <a:pt x="1271932" y="898885"/>
                      <a:pt x="1271932" y="898885"/>
                      <a:pt x="1271932" y="898885"/>
                    </a:cubicBezTo>
                    <a:cubicBezTo>
                      <a:pt x="1271932" y="31390"/>
                      <a:pt x="1271932" y="31390"/>
                      <a:pt x="1271932" y="31390"/>
                    </a:cubicBezTo>
                    <a:cubicBezTo>
                      <a:pt x="31405" y="31390"/>
                      <a:pt x="31405" y="31390"/>
                      <a:pt x="31405" y="31390"/>
                    </a:cubicBezTo>
                    <a:cubicBezTo>
                      <a:pt x="31405" y="898885"/>
                      <a:pt x="31405" y="898885"/>
                      <a:pt x="31405" y="898885"/>
                    </a:cubicBezTo>
                    <a:cubicBezTo>
                      <a:pt x="250532" y="898885"/>
                      <a:pt x="430401" y="898885"/>
                      <a:pt x="578865" y="898885"/>
                    </a:cubicBezTo>
                    <a:cubicBezTo>
                      <a:pt x="599564" y="911727"/>
                      <a:pt x="621691" y="922428"/>
                      <a:pt x="644531" y="930275"/>
                    </a:cubicBezTo>
                    <a:cubicBezTo>
                      <a:pt x="644531" y="930275"/>
                      <a:pt x="644531" y="930275"/>
                      <a:pt x="15703" y="930275"/>
                    </a:cubicBezTo>
                    <a:cubicBezTo>
                      <a:pt x="7137" y="930275"/>
                      <a:pt x="0" y="923855"/>
                      <a:pt x="0" y="914580"/>
                    </a:cubicBezTo>
                    <a:cubicBezTo>
                      <a:pt x="0" y="914580"/>
                      <a:pt x="0" y="914580"/>
                      <a:pt x="0" y="15695"/>
                    </a:cubicBezTo>
                    <a:cubicBezTo>
                      <a:pt x="0" y="6420"/>
                      <a:pt x="7137" y="0"/>
                      <a:pt x="15703"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p>
            </p:txBody>
          </p:sp>
        </p:grpSp>
      </p:grpSp>
      <p:cxnSp>
        <p:nvCxnSpPr>
          <p:cNvPr id="42" name="AutoShape 2">
            <a:extLst>
              <a:ext uri="{FF2B5EF4-FFF2-40B4-BE49-F238E27FC236}">
                <a16:creationId xmlns:a16="http://schemas.microsoft.com/office/drawing/2014/main" id="{6780CA74-F036-47FB-8B7C-D7EBDD9943C7}"/>
              </a:ext>
            </a:extLst>
          </p:cNvPr>
          <p:cNvCxnSpPr>
            <a:cxnSpLocks noChangeShapeType="1"/>
          </p:cNvCxnSpPr>
          <p:nvPr/>
        </p:nvCxnSpPr>
        <p:spPr bwMode="auto">
          <a:xfrm rot="10800000" flipV="1">
            <a:off x="3562913" y="3161834"/>
            <a:ext cx="81246" cy="491692"/>
          </a:xfrm>
          <a:prstGeom prst="bentConnector2">
            <a:avLst/>
          </a:prstGeom>
          <a:noFill/>
          <a:ln w="9525" cap="rnd" cmpd="sng" algn="ctr">
            <a:solidFill>
              <a:srgbClr val="9A9A9A"/>
            </a:solidFill>
            <a:prstDash val="solid"/>
            <a:round/>
            <a:headEnd type="none" w="med" len="med"/>
            <a:tailEnd type="none" w="med" len="med"/>
          </a:ln>
        </p:spPr>
      </p:cxnSp>
      <p:grpSp>
        <p:nvGrpSpPr>
          <p:cNvPr id="43" name="Group 42">
            <a:extLst>
              <a:ext uri="{FF2B5EF4-FFF2-40B4-BE49-F238E27FC236}">
                <a16:creationId xmlns:a16="http://schemas.microsoft.com/office/drawing/2014/main" id="{742BAAFC-10E4-475D-AED1-23DC8BE23844}"/>
              </a:ext>
            </a:extLst>
          </p:cNvPr>
          <p:cNvGrpSpPr>
            <a:grpSpLocks/>
          </p:cNvGrpSpPr>
          <p:nvPr/>
        </p:nvGrpSpPr>
        <p:grpSpPr>
          <a:xfrm>
            <a:off x="3207548" y="3665465"/>
            <a:ext cx="540000" cy="535929"/>
            <a:chOff x="5273675" y="2606675"/>
            <a:chExt cx="1646238" cy="1644650"/>
          </a:xfrm>
        </p:grpSpPr>
        <p:sp>
          <p:nvSpPr>
            <p:cNvPr id="44" name="AutoShape 3">
              <a:extLst>
                <a:ext uri="{FF2B5EF4-FFF2-40B4-BE49-F238E27FC236}">
                  <a16:creationId xmlns:a16="http://schemas.microsoft.com/office/drawing/2014/main" id="{97263BDA-389A-4506-A498-E3DC87909FE9}"/>
                </a:ext>
              </a:extLst>
            </p:cNvPr>
            <p:cNvSpPr>
              <a:spLocks noChangeAspect="1" noChangeArrowheads="1" noTextEdit="1"/>
            </p:cNvSpPr>
            <p:nvPr/>
          </p:nvSpPr>
          <p:spPr bwMode="auto">
            <a:xfrm>
              <a:off x="5273675"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45" name="Group 44">
              <a:extLst>
                <a:ext uri="{FF2B5EF4-FFF2-40B4-BE49-F238E27FC236}">
                  <a16:creationId xmlns:a16="http://schemas.microsoft.com/office/drawing/2014/main" id="{508AF710-9E44-4DAF-9D76-5899B5783D3D}"/>
                </a:ext>
              </a:extLst>
            </p:cNvPr>
            <p:cNvGrpSpPr/>
            <p:nvPr/>
          </p:nvGrpSpPr>
          <p:grpSpPr>
            <a:xfrm>
              <a:off x="5608638" y="2881313"/>
              <a:ext cx="977900" cy="1093788"/>
              <a:chOff x="5608638" y="2881313"/>
              <a:chExt cx="977900" cy="1093788"/>
            </a:xfrm>
          </p:grpSpPr>
          <p:sp>
            <p:nvSpPr>
              <p:cNvPr id="46" name="Freeform 17">
                <a:extLst>
                  <a:ext uri="{FF2B5EF4-FFF2-40B4-BE49-F238E27FC236}">
                    <a16:creationId xmlns:a16="http://schemas.microsoft.com/office/drawing/2014/main" id="{7BB0C6BA-10A8-49E0-A785-C5948578949D}"/>
                  </a:ext>
                </a:extLst>
              </p:cNvPr>
              <p:cNvSpPr>
                <a:spLocks/>
              </p:cNvSpPr>
              <p:nvPr/>
            </p:nvSpPr>
            <p:spPr bwMode="auto">
              <a:xfrm>
                <a:off x="5608638" y="2881313"/>
                <a:ext cx="977900" cy="1093788"/>
              </a:xfrm>
              <a:custGeom>
                <a:avLst/>
                <a:gdLst>
                  <a:gd name="connsiteX0" fmla="*/ 488514 w 977900"/>
                  <a:gd name="connsiteY0" fmla="*/ 61912 h 1093788"/>
                  <a:gd name="connsiteX1" fmla="*/ 917575 w 977900"/>
                  <a:gd name="connsiteY1" fmla="*/ 219512 h 1093788"/>
                  <a:gd name="connsiteX2" fmla="*/ 488514 w 977900"/>
                  <a:gd name="connsiteY2" fmla="*/ 377825 h 1093788"/>
                  <a:gd name="connsiteX3" fmla="*/ 58737 w 977900"/>
                  <a:gd name="connsiteY3" fmla="*/ 224504 h 1093788"/>
                  <a:gd name="connsiteX4" fmla="*/ 58737 w 977900"/>
                  <a:gd name="connsiteY4" fmla="*/ 215233 h 1093788"/>
                  <a:gd name="connsiteX5" fmla="*/ 488514 w 977900"/>
                  <a:gd name="connsiteY5" fmla="*/ 61912 h 1093788"/>
                  <a:gd name="connsiteX6" fmla="*/ 477508 w 977900"/>
                  <a:gd name="connsiteY6" fmla="*/ 28575 h 1093788"/>
                  <a:gd name="connsiteX7" fmla="*/ 173585 w 977900"/>
                  <a:gd name="connsiteY7" fmla="*/ 78482 h 1093788"/>
                  <a:gd name="connsiteX8" fmla="*/ 172155 w 977900"/>
                  <a:gd name="connsiteY8" fmla="*/ 79195 h 1093788"/>
                  <a:gd name="connsiteX9" fmla="*/ 165719 w 977900"/>
                  <a:gd name="connsiteY9" fmla="*/ 81334 h 1093788"/>
                  <a:gd name="connsiteX10" fmla="*/ 164289 w 977900"/>
                  <a:gd name="connsiteY10" fmla="*/ 82047 h 1093788"/>
                  <a:gd name="connsiteX11" fmla="*/ 157138 w 977900"/>
                  <a:gd name="connsiteY11" fmla="*/ 84899 h 1093788"/>
                  <a:gd name="connsiteX12" fmla="*/ 149271 w 977900"/>
                  <a:gd name="connsiteY12" fmla="*/ 88463 h 1093788"/>
                  <a:gd name="connsiteX13" fmla="*/ 144981 w 977900"/>
                  <a:gd name="connsiteY13" fmla="*/ 89889 h 1093788"/>
                  <a:gd name="connsiteX14" fmla="*/ 142835 w 977900"/>
                  <a:gd name="connsiteY14" fmla="*/ 91315 h 1093788"/>
                  <a:gd name="connsiteX15" fmla="*/ 50586 w 977900"/>
                  <a:gd name="connsiteY15" fmla="*/ 153342 h 1093788"/>
                  <a:gd name="connsiteX16" fmla="*/ 49156 w 977900"/>
                  <a:gd name="connsiteY16" fmla="*/ 154768 h 1093788"/>
                  <a:gd name="connsiteX17" fmla="*/ 47726 w 977900"/>
                  <a:gd name="connsiteY17" fmla="*/ 156907 h 1093788"/>
                  <a:gd name="connsiteX18" fmla="*/ 44150 w 977900"/>
                  <a:gd name="connsiteY18" fmla="*/ 161185 h 1093788"/>
                  <a:gd name="connsiteX19" fmla="*/ 43435 w 977900"/>
                  <a:gd name="connsiteY19" fmla="*/ 161898 h 1093788"/>
                  <a:gd name="connsiteX20" fmla="*/ 41289 w 977900"/>
                  <a:gd name="connsiteY20" fmla="*/ 165463 h 1093788"/>
                  <a:gd name="connsiteX21" fmla="*/ 39859 w 977900"/>
                  <a:gd name="connsiteY21" fmla="*/ 167602 h 1093788"/>
                  <a:gd name="connsiteX22" fmla="*/ 38429 w 977900"/>
                  <a:gd name="connsiteY22" fmla="*/ 169740 h 1093788"/>
                  <a:gd name="connsiteX23" fmla="*/ 36999 w 977900"/>
                  <a:gd name="connsiteY23" fmla="*/ 171879 h 1093788"/>
                  <a:gd name="connsiteX24" fmla="*/ 36284 w 977900"/>
                  <a:gd name="connsiteY24" fmla="*/ 174018 h 1093788"/>
                  <a:gd name="connsiteX25" fmla="*/ 34853 w 977900"/>
                  <a:gd name="connsiteY25" fmla="*/ 176870 h 1093788"/>
                  <a:gd name="connsiteX26" fmla="*/ 34138 w 977900"/>
                  <a:gd name="connsiteY26" fmla="*/ 178296 h 1093788"/>
                  <a:gd name="connsiteX27" fmla="*/ 32708 w 977900"/>
                  <a:gd name="connsiteY27" fmla="*/ 181148 h 1093788"/>
                  <a:gd name="connsiteX28" fmla="*/ 31993 w 977900"/>
                  <a:gd name="connsiteY28" fmla="*/ 182574 h 1093788"/>
                  <a:gd name="connsiteX29" fmla="*/ 31278 w 977900"/>
                  <a:gd name="connsiteY29" fmla="*/ 186138 h 1093788"/>
                  <a:gd name="connsiteX30" fmla="*/ 30563 w 977900"/>
                  <a:gd name="connsiteY30" fmla="*/ 187564 h 1093788"/>
                  <a:gd name="connsiteX31" fmla="*/ 29848 w 977900"/>
                  <a:gd name="connsiteY31" fmla="*/ 190416 h 1093788"/>
                  <a:gd name="connsiteX32" fmla="*/ 29133 w 977900"/>
                  <a:gd name="connsiteY32" fmla="*/ 191842 h 1093788"/>
                  <a:gd name="connsiteX33" fmla="*/ 28417 w 977900"/>
                  <a:gd name="connsiteY33" fmla="*/ 195407 h 1093788"/>
                  <a:gd name="connsiteX34" fmla="*/ 28417 w 977900"/>
                  <a:gd name="connsiteY34" fmla="*/ 196833 h 1093788"/>
                  <a:gd name="connsiteX35" fmla="*/ 27702 w 977900"/>
                  <a:gd name="connsiteY35" fmla="*/ 199685 h 1093788"/>
                  <a:gd name="connsiteX36" fmla="*/ 27702 w 977900"/>
                  <a:gd name="connsiteY36" fmla="*/ 201823 h 1093788"/>
                  <a:gd name="connsiteX37" fmla="*/ 26987 w 977900"/>
                  <a:gd name="connsiteY37" fmla="*/ 203962 h 1093788"/>
                  <a:gd name="connsiteX38" fmla="*/ 26987 w 977900"/>
                  <a:gd name="connsiteY38" fmla="*/ 208953 h 1093788"/>
                  <a:gd name="connsiteX39" fmla="*/ 26987 w 977900"/>
                  <a:gd name="connsiteY39" fmla="*/ 210379 h 1093788"/>
                  <a:gd name="connsiteX40" fmla="*/ 26987 w 977900"/>
                  <a:gd name="connsiteY40" fmla="*/ 211092 h 1093788"/>
                  <a:gd name="connsiteX41" fmla="*/ 26987 w 977900"/>
                  <a:gd name="connsiteY41" fmla="*/ 211805 h 1093788"/>
                  <a:gd name="connsiteX42" fmla="*/ 26987 w 977900"/>
                  <a:gd name="connsiteY42" fmla="*/ 215370 h 1093788"/>
                  <a:gd name="connsiteX43" fmla="*/ 27702 w 977900"/>
                  <a:gd name="connsiteY43" fmla="*/ 217508 h 1093788"/>
                  <a:gd name="connsiteX44" fmla="*/ 27702 w 977900"/>
                  <a:gd name="connsiteY44" fmla="*/ 876280 h 1093788"/>
                  <a:gd name="connsiteX45" fmla="*/ 26987 w 977900"/>
                  <a:gd name="connsiteY45" fmla="*/ 878419 h 1093788"/>
                  <a:gd name="connsiteX46" fmla="*/ 26987 w 977900"/>
                  <a:gd name="connsiteY46" fmla="*/ 881983 h 1093788"/>
                  <a:gd name="connsiteX47" fmla="*/ 26987 w 977900"/>
                  <a:gd name="connsiteY47" fmla="*/ 882696 h 1093788"/>
                  <a:gd name="connsiteX48" fmla="*/ 26987 w 977900"/>
                  <a:gd name="connsiteY48" fmla="*/ 883409 h 1093788"/>
                  <a:gd name="connsiteX49" fmla="*/ 26987 w 977900"/>
                  <a:gd name="connsiteY49" fmla="*/ 884835 h 1093788"/>
                  <a:gd name="connsiteX50" fmla="*/ 26987 w 977900"/>
                  <a:gd name="connsiteY50" fmla="*/ 889826 h 1093788"/>
                  <a:gd name="connsiteX51" fmla="*/ 27702 w 977900"/>
                  <a:gd name="connsiteY51" fmla="*/ 891965 h 1093788"/>
                  <a:gd name="connsiteX52" fmla="*/ 27702 w 977900"/>
                  <a:gd name="connsiteY52" fmla="*/ 894104 h 1093788"/>
                  <a:gd name="connsiteX53" fmla="*/ 28417 w 977900"/>
                  <a:gd name="connsiteY53" fmla="*/ 896956 h 1093788"/>
                  <a:gd name="connsiteX54" fmla="*/ 28417 w 977900"/>
                  <a:gd name="connsiteY54" fmla="*/ 898381 h 1093788"/>
                  <a:gd name="connsiteX55" fmla="*/ 29133 w 977900"/>
                  <a:gd name="connsiteY55" fmla="*/ 901946 h 1093788"/>
                  <a:gd name="connsiteX56" fmla="*/ 29848 w 977900"/>
                  <a:gd name="connsiteY56" fmla="*/ 903372 h 1093788"/>
                  <a:gd name="connsiteX57" fmla="*/ 30563 w 977900"/>
                  <a:gd name="connsiteY57" fmla="*/ 906224 h 1093788"/>
                  <a:gd name="connsiteX58" fmla="*/ 31278 w 977900"/>
                  <a:gd name="connsiteY58" fmla="*/ 907650 h 1093788"/>
                  <a:gd name="connsiteX59" fmla="*/ 31993 w 977900"/>
                  <a:gd name="connsiteY59" fmla="*/ 911215 h 1093788"/>
                  <a:gd name="connsiteX60" fmla="*/ 32708 w 977900"/>
                  <a:gd name="connsiteY60" fmla="*/ 912641 h 1093788"/>
                  <a:gd name="connsiteX61" fmla="*/ 34138 w 977900"/>
                  <a:gd name="connsiteY61" fmla="*/ 915492 h 1093788"/>
                  <a:gd name="connsiteX62" fmla="*/ 34853 w 977900"/>
                  <a:gd name="connsiteY62" fmla="*/ 916918 h 1093788"/>
                  <a:gd name="connsiteX63" fmla="*/ 36284 w 977900"/>
                  <a:gd name="connsiteY63" fmla="*/ 919770 h 1093788"/>
                  <a:gd name="connsiteX64" fmla="*/ 36999 w 977900"/>
                  <a:gd name="connsiteY64" fmla="*/ 921909 h 1093788"/>
                  <a:gd name="connsiteX65" fmla="*/ 38429 w 977900"/>
                  <a:gd name="connsiteY65" fmla="*/ 924048 h 1093788"/>
                  <a:gd name="connsiteX66" fmla="*/ 39859 w 977900"/>
                  <a:gd name="connsiteY66" fmla="*/ 926187 h 1093788"/>
                  <a:gd name="connsiteX67" fmla="*/ 41289 w 977900"/>
                  <a:gd name="connsiteY67" fmla="*/ 928326 h 1093788"/>
                  <a:gd name="connsiteX68" fmla="*/ 43435 w 977900"/>
                  <a:gd name="connsiteY68" fmla="*/ 931890 h 1093788"/>
                  <a:gd name="connsiteX69" fmla="*/ 44150 w 977900"/>
                  <a:gd name="connsiteY69" fmla="*/ 931890 h 1093788"/>
                  <a:gd name="connsiteX70" fmla="*/ 47726 w 977900"/>
                  <a:gd name="connsiteY70" fmla="*/ 936881 h 1093788"/>
                  <a:gd name="connsiteX71" fmla="*/ 49156 w 977900"/>
                  <a:gd name="connsiteY71" fmla="*/ 939020 h 1093788"/>
                  <a:gd name="connsiteX72" fmla="*/ 50586 w 977900"/>
                  <a:gd name="connsiteY72" fmla="*/ 940446 h 1093788"/>
                  <a:gd name="connsiteX73" fmla="*/ 142835 w 977900"/>
                  <a:gd name="connsiteY73" fmla="*/ 1002473 h 1093788"/>
                  <a:gd name="connsiteX74" fmla="*/ 144981 w 977900"/>
                  <a:gd name="connsiteY74" fmla="*/ 1003899 h 1093788"/>
                  <a:gd name="connsiteX75" fmla="*/ 149271 w 977900"/>
                  <a:gd name="connsiteY75" fmla="*/ 1005325 h 1093788"/>
                  <a:gd name="connsiteX76" fmla="*/ 157138 w 977900"/>
                  <a:gd name="connsiteY76" fmla="*/ 1008890 h 1093788"/>
                  <a:gd name="connsiteX77" fmla="*/ 162859 w 977900"/>
                  <a:gd name="connsiteY77" fmla="*/ 1011029 h 1093788"/>
                  <a:gd name="connsiteX78" fmla="*/ 164289 w 977900"/>
                  <a:gd name="connsiteY78" fmla="*/ 1011741 h 1093788"/>
                  <a:gd name="connsiteX79" fmla="*/ 172155 w 977900"/>
                  <a:gd name="connsiteY79" fmla="*/ 1014593 h 1093788"/>
                  <a:gd name="connsiteX80" fmla="*/ 172870 w 977900"/>
                  <a:gd name="connsiteY80" fmla="*/ 1015306 h 1093788"/>
                  <a:gd name="connsiteX81" fmla="*/ 477508 w 977900"/>
                  <a:gd name="connsiteY81" fmla="*/ 1065213 h 1093788"/>
                  <a:gd name="connsiteX82" fmla="*/ 486089 w 977900"/>
                  <a:gd name="connsiteY82" fmla="*/ 1065213 h 1093788"/>
                  <a:gd name="connsiteX83" fmla="*/ 488950 w 977900"/>
                  <a:gd name="connsiteY83" fmla="*/ 1065213 h 1093788"/>
                  <a:gd name="connsiteX84" fmla="*/ 491810 w 977900"/>
                  <a:gd name="connsiteY84" fmla="*/ 1065213 h 1093788"/>
                  <a:gd name="connsiteX85" fmla="*/ 500392 w 977900"/>
                  <a:gd name="connsiteY85" fmla="*/ 1065213 h 1093788"/>
                  <a:gd name="connsiteX86" fmla="*/ 805029 w 977900"/>
                  <a:gd name="connsiteY86" fmla="*/ 1015306 h 1093788"/>
                  <a:gd name="connsiteX87" fmla="*/ 805744 w 977900"/>
                  <a:gd name="connsiteY87" fmla="*/ 1014593 h 1093788"/>
                  <a:gd name="connsiteX88" fmla="*/ 813611 w 977900"/>
                  <a:gd name="connsiteY88" fmla="*/ 1011741 h 1093788"/>
                  <a:gd name="connsiteX89" fmla="*/ 814326 w 977900"/>
                  <a:gd name="connsiteY89" fmla="*/ 1011741 h 1093788"/>
                  <a:gd name="connsiteX90" fmla="*/ 820762 w 977900"/>
                  <a:gd name="connsiteY90" fmla="*/ 1008890 h 1093788"/>
                  <a:gd name="connsiteX91" fmla="*/ 828628 w 977900"/>
                  <a:gd name="connsiteY91" fmla="*/ 1005325 h 1093788"/>
                  <a:gd name="connsiteX92" fmla="*/ 832919 w 977900"/>
                  <a:gd name="connsiteY92" fmla="*/ 1003899 h 1093788"/>
                  <a:gd name="connsiteX93" fmla="*/ 835064 w 977900"/>
                  <a:gd name="connsiteY93" fmla="*/ 1002473 h 1093788"/>
                  <a:gd name="connsiteX94" fmla="*/ 927314 w 977900"/>
                  <a:gd name="connsiteY94" fmla="*/ 940446 h 1093788"/>
                  <a:gd name="connsiteX95" fmla="*/ 928744 w 977900"/>
                  <a:gd name="connsiteY95" fmla="*/ 939020 h 1093788"/>
                  <a:gd name="connsiteX96" fmla="*/ 930174 w 977900"/>
                  <a:gd name="connsiteY96" fmla="*/ 936881 h 1093788"/>
                  <a:gd name="connsiteX97" fmla="*/ 933750 w 977900"/>
                  <a:gd name="connsiteY97" fmla="*/ 931890 h 1093788"/>
                  <a:gd name="connsiteX98" fmla="*/ 934465 w 977900"/>
                  <a:gd name="connsiteY98" fmla="*/ 931890 h 1093788"/>
                  <a:gd name="connsiteX99" fmla="*/ 936610 w 977900"/>
                  <a:gd name="connsiteY99" fmla="*/ 928326 h 1093788"/>
                  <a:gd name="connsiteX100" fmla="*/ 938040 w 977900"/>
                  <a:gd name="connsiteY100" fmla="*/ 926187 h 1093788"/>
                  <a:gd name="connsiteX101" fmla="*/ 939470 w 977900"/>
                  <a:gd name="connsiteY101" fmla="*/ 924048 h 1093788"/>
                  <a:gd name="connsiteX102" fmla="*/ 940901 w 977900"/>
                  <a:gd name="connsiteY102" fmla="*/ 921909 h 1093788"/>
                  <a:gd name="connsiteX103" fmla="*/ 941616 w 977900"/>
                  <a:gd name="connsiteY103" fmla="*/ 919770 h 1093788"/>
                  <a:gd name="connsiteX104" fmla="*/ 943046 w 977900"/>
                  <a:gd name="connsiteY104" fmla="*/ 916918 h 1093788"/>
                  <a:gd name="connsiteX105" fmla="*/ 943761 w 977900"/>
                  <a:gd name="connsiteY105" fmla="*/ 915492 h 1093788"/>
                  <a:gd name="connsiteX106" fmla="*/ 945191 w 977900"/>
                  <a:gd name="connsiteY106" fmla="*/ 912641 h 1093788"/>
                  <a:gd name="connsiteX107" fmla="*/ 945906 w 977900"/>
                  <a:gd name="connsiteY107" fmla="*/ 911215 h 1093788"/>
                  <a:gd name="connsiteX108" fmla="*/ 946622 w 977900"/>
                  <a:gd name="connsiteY108" fmla="*/ 907650 h 1093788"/>
                  <a:gd name="connsiteX109" fmla="*/ 947337 w 977900"/>
                  <a:gd name="connsiteY109" fmla="*/ 906224 h 1093788"/>
                  <a:gd name="connsiteX110" fmla="*/ 948052 w 977900"/>
                  <a:gd name="connsiteY110" fmla="*/ 903372 h 1093788"/>
                  <a:gd name="connsiteX111" fmla="*/ 948767 w 977900"/>
                  <a:gd name="connsiteY111" fmla="*/ 901946 h 1093788"/>
                  <a:gd name="connsiteX112" fmla="*/ 949482 w 977900"/>
                  <a:gd name="connsiteY112" fmla="*/ 898381 h 1093788"/>
                  <a:gd name="connsiteX113" fmla="*/ 949482 w 977900"/>
                  <a:gd name="connsiteY113" fmla="*/ 896956 h 1093788"/>
                  <a:gd name="connsiteX114" fmla="*/ 950197 w 977900"/>
                  <a:gd name="connsiteY114" fmla="*/ 894104 h 1093788"/>
                  <a:gd name="connsiteX115" fmla="*/ 950197 w 977900"/>
                  <a:gd name="connsiteY115" fmla="*/ 891965 h 1093788"/>
                  <a:gd name="connsiteX116" fmla="*/ 950912 w 977900"/>
                  <a:gd name="connsiteY116" fmla="*/ 889826 h 1093788"/>
                  <a:gd name="connsiteX117" fmla="*/ 950912 w 977900"/>
                  <a:gd name="connsiteY117" fmla="*/ 884835 h 1093788"/>
                  <a:gd name="connsiteX118" fmla="*/ 950912 w 977900"/>
                  <a:gd name="connsiteY118" fmla="*/ 208240 h 1093788"/>
                  <a:gd name="connsiteX119" fmla="*/ 950912 w 977900"/>
                  <a:gd name="connsiteY119" fmla="*/ 206101 h 1093788"/>
                  <a:gd name="connsiteX120" fmla="*/ 950912 w 977900"/>
                  <a:gd name="connsiteY120" fmla="*/ 203249 h 1093788"/>
                  <a:gd name="connsiteX121" fmla="*/ 950197 w 977900"/>
                  <a:gd name="connsiteY121" fmla="*/ 200398 h 1093788"/>
                  <a:gd name="connsiteX122" fmla="*/ 949482 w 977900"/>
                  <a:gd name="connsiteY122" fmla="*/ 196833 h 1093788"/>
                  <a:gd name="connsiteX123" fmla="*/ 949482 w 977900"/>
                  <a:gd name="connsiteY123" fmla="*/ 195407 h 1093788"/>
                  <a:gd name="connsiteX124" fmla="*/ 948767 w 977900"/>
                  <a:gd name="connsiteY124" fmla="*/ 192555 h 1093788"/>
                  <a:gd name="connsiteX125" fmla="*/ 885122 w 977900"/>
                  <a:gd name="connsiteY125" fmla="*/ 117695 h 1093788"/>
                  <a:gd name="connsiteX126" fmla="*/ 880831 w 977900"/>
                  <a:gd name="connsiteY126" fmla="*/ 114843 h 1093788"/>
                  <a:gd name="connsiteX127" fmla="*/ 879401 w 977900"/>
                  <a:gd name="connsiteY127" fmla="*/ 114130 h 1093788"/>
                  <a:gd name="connsiteX128" fmla="*/ 875110 w 977900"/>
                  <a:gd name="connsiteY128" fmla="*/ 111278 h 1093788"/>
                  <a:gd name="connsiteX129" fmla="*/ 873680 w 977900"/>
                  <a:gd name="connsiteY129" fmla="*/ 110565 h 1093788"/>
                  <a:gd name="connsiteX130" fmla="*/ 870105 w 977900"/>
                  <a:gd name="connsiteY130" fmla="*/ 108426 h 1093788"/>
                  <a:gd name="connsiteX131" fmla="*/ 867959 w 977900"/>
                  <a:gd name="connsiteY131" fmla="*/ 107000 h 1093788"/>
                  <a:gd name="connsiteX132" fmla="*/ 864384 w 977900"/>
                  <a:gd name="connsiteY132" fmla="*/ 104861 h 1093788"/>
                  <a:gd name="connsiteX133" fmla="*/ 861523 w 977900"/>
                  <a:gd name="connsiteY133" fmla="*/ 103436 h 1093788"/>
                  <a:gd name="connsiteX134" fmla="*/ 858663 w 977900"/>
                  <a:gd name="connsiteY134" fmla="*/ 102010 h 1093788"/>
                  <a:gd name="connsiteX135" fmla="*/ 855087 w 977900"/>
                  <a:gd name="connsiteY135" fmla="*/ 99871 h 1093788"/>
                  <a:gd name="connsiteX136" fmla="*/ 852227 w 977900"/>
                  <a:gd name="connsiteY136" fmla="*/ 98445 h 1093788"/>
                  <a:gd name="connsiteX137" fmla="*/ 848651 w 977900"/>
                  <a:gd name="connsiteY137" fmla="*/ 97019 h 1093788"/>
                  <a:gd name="connsiteX138" fmla="*/ 845791 w 977900"/>
                  <a:gd name="connsiteY138" fmla="*/ 95593 h 1093788"/>
                  <a:gd name="connsiteX139" fmla="*/ 841500 w 977900"/>
                  <a:gd name="connsiteY139" fmla="*/ 93454 h 1093788"/>
                  <a:gd name="connsiteX140" fmla="*/ 839355 w 977900"/>
                  <a:gd name="connsiteY140" fmla="*/ 92028 h 1093788"/>
                  <a:gd name="connsiteX141" fmla="*/ 834349 w 977900"/>
                  <a:gd name="connsiteY141" fmla="*/ 90602 h 1093788"/>
                  <a:gd name="connsiteX142" fmla="*/ 830773 w 977900"/>
                  <a:gd name="connsiteY142" fmla="*/ 88463 h 1093788"/>
                  <a:gd name="connsiteX143" fmla="*/ 827198 w 977900"/>
                  <a:gd name="connsiteY143" fmla="*/ 87038 h 1093788"/>
                  <a:gd name="connsiteX144" fmla="*/ 821477 w 977900"/>
                  <a:gd name="connsiteY144" fmla="*/ 84899 h 1093788"/>
                  <a:gd name="connsiteX145" fmla="*/ 820047 w 977900"/>
                  <a:gd name="connsiteY145" fmla="*/ 84186 h 1093788"/>
                  <a:gd name="connsiteX146" fmla="*/ 812180 w 977900"/>
                  <a:gd name="connsiteY146" fmla="*/ 80621 h 1093788"/>
                  <a:gd name="connsiteX147" fmla="*/ 795733 w 977900"/>
                  <a:gd name="connsiteY147" fmla="*/ 74917 h 1093788"/>
                  <a:gd name="connsiteX148" fmla="*/ 795018 w 977900"/>
                  <a:gd name="connsiteY148" fmla="*/ 74917 h 1093788"/>
                  <a:gd name="connsiteX149" fmla="*/ 778570 w 977900"/>
                  <a:gd name="connsiteY149" fmla="*/ 69214 h 1093788"/>
                  <a:gd name="connsiteX150" fmla="*/ 777855 w 977900"/>
                  <a:gd name="connsiteY150" fmla="*/ 68501 h 1093788"/>
                  <a:gd name="connsiteX151" fmla="*/ 760692 w 977900"/>
                  <a:gd name="connsiteY151" fmla="*/ 63510 h 1093788"/>
                  <a:gd name="connsiteX152" fmla="*/ 759977 w 977900"/>
                  <a:gd name="connsiteY152" fmla="*/ 63510 h 1093788"/>
                  <a:gd name="connsiteX153" fmla="*/ 742815 w 977900"/>
                  <a:gd name="connsiteY153" fmla="*/ 58519 h 1093788"/>
                  <a:gd name="connsiteX154" fmla="*/ 741384 w 977900"/>
                  <a:gd name="connsiteY154" fmla="*/ 58519 h 1093788"/>
                  <a:gd name="connsiteX155" fmla="*/ 723507 w 977900"/>
                  <a:gd name="connsiteY155" fmla="*/ 54242 h 1093788"/>
                  <a:gd name="connsiteX156" fmla="*/ 722076 w 977900"/>
                  <a:gd name="connsiteY156" fmla="*/ 53529 h 1093788"/>
                  <a:gd name="connsiteX157" fmla="*/ 704198 w 977900"/>
                  <a:gd name="connsiteY157" fmla="*/ 49251 h 1093788"/>
                  <a:gd name="connsiteX158" fmla="*/ 702768 w 977900"/>
                  <a:gd name="connsiteY158" fmla="*/ 49251 h 1093788"/>
                  <a:gd name="connsiteX159" fmla="*/ 684175 w 977900"/>
                  <a:gd name="connsiteY159" fmla="*/ 45686 h 1093788"/>
                  <a:gd name="connsiteX160" fmla="*/ 682745 w 977900"/>
                  <a:gd name="connsiteY160" fmla="*/ 45686 h 1093788"/>
                  <a:gd name="connsiteX161" fmla="*/ 664152 w 977900"/>
                  <a:gd name="connsiteY161" fmla="*/ 42121 h 1093788"/>
                  <a:gd name="connsiteX162" fmla="*/ 662007 w 977900"/>
                  <a:gd name="connsiteY162" fmla="*/ 42121 h 1093788"/>
                  <a:gd name="connsiteX163" fmla="*/ 643414 w 977900"/>
                  <a:gd name="connsiteY163" fmla="*/ 39269 h 1093788"/>
                  <a:gd name="connsiteX164" fmla="*/ 641984 w 977900"/>
                  <a:gd name="connsiteY164" fmla="*/ 38557 h 1093788"/>
                  <a:gd name="connsiteX165" fmla="*/ 621961 w 977900"/>
                  <a:gd name="connsiteY165" fmla="*/ 36418 h 1093788"/>
                  <a:gd name="connsiteX166" fmla="*/ 620530 w 977900"/>
                  <a:gd name="connsiteY166" fmla="*/ 35705 h 1093788"/>
                  <a:gd name="connsiteX167" fmla="*/ 600507 w 977900"/>
                  <a:gd name="connsiteY167" fmla="*/ 33566 h 1093788"/>
                  <a:gd name="connsiteX168" fmla="*/ 599792 w 977900"/>
                  <a:gd name="connsiteY168" fmla="*/ 33566 h 1093788"/>
                  <a:gd name="connsiteX169" fmla="*/ 578339 w 977900"/>
                  <a:gd name="connsiteY169" fmla="*/ 32140 h 1093788"/>
                  <a:gd name="connsiteX170" fmla="*/ 577624 w 977900"/>
                  <a:gd name="connsiteY170" fmla="*/ 32140 h 1093788"/>
                  <a:gd name="connsiteX171" fmla="*/ 556170 w 977900"/>
                  <a:gd name="connsiteY171" fmla="*/ 30714 h 1093788"/>
                  <a:gd name="connsiteX172" fmla="*/ 534002 w 977900"/>
                  <a:gd name="connsiteY172" fmla="*/ 29288 h 1093788"/>
                  <a:gd name="connsiteX173" fmla="*/ 488950 w 977900"/>
                  <a:gd name="connsiteY173" fmla="*/ 28575 h 1093788"/>
                  <a:gd name="connsiteX174" fmla="*/ 477508 w 977900"/>
                  <a:gd name="connsiteY174" fmla="*/ 28575 h 1093788"/>
                  <a:gd name="connsiteX175" fmla="*/ 488950 w 977900"/>
                  <a:gd name="connsiteY175" fmla="*/ 0 h 1093788"/>
                  <a:gd name="connsiteX176" fmla="*/ 821579 w 977900"/>
                  <a:gd name="connsiteY176" fmla="*/ 54903 h 1093788"/>
                  <a:gd name="connsiteX177" fmla="*/ 976473 w 977900"/>
                  <a:gd name="connsiteY177" fmla="*/ 192518 h 1093788"/>
                  <a:gd name="connsiteX178" fmla="*/ 977900 w 977900"/>
                  <a:gd name="connsiteY178" fmla="*/ 198935 h 1093788"/>
                  <a:gd name="connsiteX179" fmla="*/ 977900 w 977900"/>
                  <a:gd name="connsiteY179" fmla="*/ 884870 h 1093788"/>
                  <a:gd name="connsiteX180" fmla="*/ 488950 w 977900"/>
                  <a:gd name="connsiteY180" fmla="*/ 1093788 h 1093788"/>
                  <a:gd name="connsiteX181" fmla="*/ 0 w 977900"/>
                  <a:gd name="connsiteY181" fmla="*/ 884870 h 1093788"/>
                  <a:gd name="connsiteX182" fmla="*/ 714 w 977900"/>
                  <a:gd name="connsiteY182" fmla="*/ 873462 h 1093788"/>
                  <a:gd name="connsiteX183" fmla="*/ 714 w 977900"/>
                  <a:gd name="connsiteY183" fmla="*/ 220326 h 1093788"/>
                  <a:gd name="connsiteX184" fmla="*/ 0 w 977900"/>
                  <a:gd name="connsiteY184" fmla="*/ 208918 h 1093788"/>
                  <a:gd name="connsiteX185" fmla="*/ 488950 w 977900"/>
                  <a:gd name="connsiteY185" fmla="*/ 0 h 1093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977900" h="1093788">
                    <a:moveTo>
                      <a:pt x="488514" y="61912"/>
                    </a:moveTo>
                    <a:cubicBezTo>
                      <a:pt x="725213" y="61912"/>
                      <a:pt x="917575" y="132511"/>
                      <a:pt x="917575" y="219512"/>
                    </a:cubicBezTo>
                    <a:cubicBezTo>
                      <a:pt x="917575" y="306513"/>
                      <a:pt x="725213" y="377825"/>
                      <a:pt x="488514" y="377825"/>
                    </a:cubicBezTo>
                    <a:cubicBezTo>
                      <a:pt x="255390" y="377825"/>
                      <a:pt x="65173" y="308652"/>
                      <a:pt x="58737" y="224504"/>
                    </a:cubicBezTo>
                    <a:cubicBezTo>
                      <a:pt x="58737" y="224504"/>
                      <a:pt x="58737" y="224504"/>
                      <a:pt x="58737" y="215233"/>
                    </a:cubicBezTo>
                    <a:cubicBezTo>
                      <a:pt x="65173" y="129659"/>
                      <a:pt x="255390" y="61912"/>
                      <a:pt x="488514" y="61912"/>
                    </a:cubicBezTo>
                    <a:close/>
                    <a:moveTo>
                      <a:pt x="477508" y="28575"/>
                    </a:moveTo>
                    <a:cubicBezTo>
                      <a:pt x="361660" y="30001"/>
                      <a:pt x="254393" y="48538"/>
                      <a:pt x="173585" y="78482"/>
                    </a:cubicBezTo>
                    <a:cubicBezTo>
                      <a:pt x="173585" y="78482"/>
                      <a:pt x="172870" y="78482"/>
                      <a:pt x="172155" y="79195"/>
                    </a:cubicBezTo>
                    <a:cubicBezTo>
                      <a:pt x="170010" y="79908"/>
                      <a:pt x="167864" y="80621"/>
                      <a:pt x="165719" y="81334"/>
                    </a:cubicBezTo>
                    <a:cubicBezTo>
                      <a:pt x="165719" y="81334"/>
                      <a:pt x="165004" y="82047"/>
                      <a:pt x="164289" y="82047"/>
                    </a:cubicBezTo>
                    <a:cubicBezTo>
                      <a:pt x="162143" y="82760"/>
                      <a:pt x="159283" y="84186"/>
                      <a:pt x="157138" y="84899"/>
                    </a:cubicBezTo>
                    <a:cubicBezTo>
                      <a:pt x="154277" y="86325"/>
                      <a:pt x="151417" y="87038"/>
                      <a:pt x="149271" y="88463"/>
                    </a:cubicBezTo>
                    <a:cubicBezTo>
                      <a:pt x="147841" y="89176"/>
                      <a:pt x="146411" y="89176"/>
                      <a:pt x="144981" y="89889"/>
                    </a:cubicBezTo>
                    <a:cubicBezTo>
                      <a:pt x="144266" y="90602"/>
                      <a:pt x="143551" y="90602"/>
                      <a:pt x="142835" y="91315"/>
                    </a:cubicBezTo>
                    <a:cubicBezTo>
                      <a:pt x="102074" y="109139"/>
                      <a:pt x="70609" y="130528"/>
                      <a:pt x="50586" y="153342"/>
                    </a:cubicBezTo>
                    <a:cubicBezTo>
                      <a:pt x="49871" y="154055"/>
                      <a:pt x="49871" y="154768"/>
                      <a:pt x="49156" y="154768"/>
                    </a:cubicBezTo>
                    <a:cubicBezTo>
                      <a:pt x="48441" y="155481"/>
                      <a:pt x="47726" y="156194"/>
                      <a:pt x="47726" y="156907"/>
                    </a:cubicBezTo>
                    <a:cubicBezTo>
                      <a:pt x="46295" y="158333"/>
                      <a:pt x="44865" y="159759"/>
                      <a:pt x="44150" y="161185"/>
                    </a:cubicBezTo>
                    <a:cubicBezTo>
                      <a:pt x="44150" y="161898"/>
                      <a:pt x="43435" y="161898"/>
                      <a:pt x="43435" y="161898"/>
                    </a:cubicBezTo>
                    <a:cubicBezTo>
                      <a:pt x="42720" y="163324"/>
                      <a:pt x="42005" y="164750"/>
                      <a:pt x="41289" y="165463"/>
                    </a:cubicBezTo>
                    <a:cubicBezTo>
                      <a:pt x="40574" y="166176"/>
                      <a:pt x="40574" y="166889"/>
                      <a:pt x="39859" y="167602"/>
                    </a:cubicBezTo>
                    <a:cubicBezTo>
                      <a:pt x="39859" y="168315"/>
                      <a:pt x="39144" y="169027"/>
                      <a:pt x="38429" y="169740"/>
                    </a:cubicBezTo>
                    <a:cubicBezTo>
                      <a:pt x="38429" y="170453"/>
                      <a:pt x="37714" y="171166"/>
                      <a:pt x="36999" y="171879"/>
                    </a:cubicBezTo>
                    <a:cubicBezTo>
                      <a:pt x="36999" y="172592"/>
                      <a:pt x="36284" y="173305"/>
                      <a:pt x="36284" y="174018"/>
                    </a:cubicBezTo>
                    <a:cubicBezTo>
                      <a:pt x="35569" y="174731"/>
                      <a:pt x="35569" y="176157"/>
                      <a:pt x="34853" y="176870"/>
                    </a:cubicBezTo>
                    <a:cubicBezTo>
                      <a:pt x="34853" y="177583"/>
                      <a:pt x="34138" y="177583"/>
                      <a:pt x="34138" y="178296"/>
                    </a:cubicBezTo>
                    <a:cubicBezTo>
                      <a:pt x="33423" y="179722"/>
                      <a:pt x="33423" y="180435"/>
                      <a:pt x="32708" y="181148"/>
                    </a:cubicBezTo>
                    <a:cubicBezTo>
                      <a:pt x="32708" y="181861"/>
                      <a:pt x="32708" y="182574"/>
                      <a:pt x="31993" y="182574"/>
                    </a:cubicBezTo>
                    <a:cubicBezTo>
                      <a:pt x="31993" y="184000"/>
                      <a:pt x="31278" y="184712"/>
                      <a:pt x="31278" y="186138"/>
                    </a:cubicBezTo>
                    <a:cubicBezTo>
                      <a:pt x="31278" y="186138"/>
                      <a:pt x="30563" y="186851"/>
                      <a:pt x="30563" y="187564"/>
                    </a:cubicBezTo>
                    <a:cubicBezTo>
                      <a:pt x="30563" y="188277"/>
                      <a:pt x="29848" y="189703"/>
                      <a:pt x="29848" y="190416"/>
                    </a:cubicBezTo>
                    <a:cubicBezTo>
                      <a:pt x="29848" y="191129"/>
                      <a:pt x="29133" y="191129"/>
                      <a:pt x="29133" y="191842"/>
                    </a:cubicBezTo>
                    <a:cubicBezTo>
                      <a:pt x="29133" y="193268"/>
                      <a:pt x="29133" y="193981"/>
                      <a:pt x="28417" y="195407"/>
                    </a:cubicBezTo>
                    <a:cubicBezTo>
                      <a:pt x="28417" y="195407"/>
                      <a:pt x="28417" y="196120"/>
                      <a:pt x="28417" y="196833"/>
                    </a:cubicBezTo>
                    <a:cubicBezTo>
                      <a:pt x="28417" y="197546"/>
                      <a:pt x="27702" y="198972"/>
                      <a:pt x="27702" y="199685"/>
                    </a:cubicBezTo>
                    <a:cubicBezTo>
                      <a:pt x="27702" y="200398"/>
                      <a:pt x="27702" y="201110"/>
                      <a:pt x="27702" y="201823"/>
                    </a:cubicBezTo>
                    <a:cubicBezTo>
                      <a:pt x="27702" y="202536"/>
                      <a:pt x="27702" y="203249"/>
                      <a:pt x="26987" y="203962"/>
                    </a:cubicBezTo>
                    <a:cubicBezTo>
                      <a:pt x="26987" y="206101"/>
                      <a:pt x="26987" y="207527"/>
                      <a:pt x="26987" y="208953"/>
                    </a:cubicBezTo>
                    <a:cubicBezTo>
                      <a:pt x="26987" y="209666"/>
                      <a:pt x="26987" y="209666"/>
                      <a:pt x="26987" y="210379"/>
                    </a:cubicBezTo>
                    <a:cubicBezTo>
                      <a:pt x="26987" y="211092"/>
                      <a:pt x="26987" y="211092"/>
                      <a:pt x="26987" y="211092"/>
                    </a:cubicBezTo>
                    <a:cubicBezTo>
                      <a:pt x="26987" y="211092"/>
                      <a:pt x="26987" y="211805"/>
                      <a:pt x="26987" y="211805"/>
                    </a:cubicBezTo>
                    <a:cubicBezTo>
                      <a:pt x="26987" y="211805"/>
                      <a:pt x="26987" y="211805"/>
                      <a:pt x="26987" y="215370"/>
                    </a:cubicBezTo>
                    <a:cubicBezTo>
                      <a:pt x="26987" y="215370"/>
                      <a:pt x="26987" y="215370"/>
                      <a:pt x="27702" y="217508"/>
                    </a:cubicBezTo>
                    <a:cubicBezTo>
                      <a:pt x="27702" y="217508"/>
                      <a:pt x="27702" y="217508"/>
                      <a:pt x="27702" y="876280"/>
                    </a:cubicBezTo>
                    <a:cubicBezTo>
                      <a:pt x="27702" y="876280"/>
                      <a:pt x="27702" y="876280"/>
                      <a:pt x="26987" y="878419"/>
                    </a:cubicBezTo>
                    <a:cubicBezTo>
                      <a:pt x="26987" y="878419"/>
                      <a:pt x="26987" y="878419"/>
                      <a:pt x="26987" y="881983"/>
                    </a:cubicBezTo>
                    <a:cubicBezTo>
                      <a:pt x="26987" y="881983"/>
                      <a:pt x="26987" y="882696"/>
                      <a:pt x="26987" y="882696"/>
                    </a:cubicBezTo>
                    <a:cubicBezTo>
                      <a:pt x="26987" y="882696"/>
                      <a:pt x="26987" y="882696"/>
                      <a:pt x="26987" y="883409"/>
                    </a:cubicBezTo>
                    <a:cubicBezTo>
                      <a:pt x="26987" y="884122"/>
                      <a:pt x="26987" y="884122"/>
                      <a:pt x="26987" y="884835"/>
                    </a:cubicBezTo>
                    <a:cubicBezTo>
                      <a:pt x="26987" y="886261"/>
                      <a:pt x="26987" y="887687"/>
                      <a:pt x="26987" y="889826"/>
                    </a:cubicBezTo>
                    <a:cubicBezTo>
                      <a:pt x="27702" y="890539"/>
                      <a:pt x="27702" y="891252"/>
                      <a:pt x="27702" y="891965"/>
                    </a:cubicBezTo>
                    <a:cubicBezTo>
                      <a:pt x="27702" y="892678"/>
                      <a:pt x="27702" y="893391"/>
                      <a:pt x="27702" y="894104"/>
                    </a:cubicBezTo>
                    <a:cubicBezTo>
                      <a:pt x="27702" y="894817"/>
                      <a:pt x="28417" y="896243"/>
                      <a:pt x="28417" y="896956"/>
                    </a:cubicBezTo>
                    <a:cubicBezTo>
                      <a:pt x="28417" y="897669"/>
                      <a:pt x="28417" y="898381"/>
                      <a:pt x="28417" y="898381"/>
                    </a:cubicBezTo>
                    <a:cubicBezTo>
                      <a:pt x="29133" y="899807"/>
                      <a:pt x="29133" y="900520"/>
                      <a:pt x="29133" y="901946"/>
                    </a:cubicBezTo>
                    <a:cubicBezTo>
                      <a:pt x="29133" y="902659"/>
                      <a:pt x="29848" y="902659"/>
                      <a:pt x="29848" y="903372"/>
                    </a:cubicBezTo>
                    <a:cubicBezTo>
                      <a:pt x="29848" y="904085"/>
                      <a:pt x="30563" y="905511"/>
                      <a:pt x="30563" y="906224"/>
                    </a:cubicBezTo>
                    <a:cubicBezTo>
                      <a:pt x="30563" y="906937"/>
                      <a:pt x="31278" y="907650"/>
                      <a:pt x="31278" y="907650"/>
                    </a:cubicBezTo>
                    <a:cubicBezTo>
                      <a:pt x="31278" y="909076"/>
                      <a:pt x="31993" y="909789"/>
                      <a:pt x="31993" y="911215"/>
                    </a:cubicBezTo>
                    <a:cubicBezTo>
                      <a:pt x="32708" y="911215"/>
                      <a:pt x="32708" y="911928"/>
                      <a:pt x="32708" y="912641"/>
                    </a:cubicBezTo>
                    <a:cubicBezTo>
                      <a:pt x="33423" y="913354"/>
                      <a:pt x="33423" y="914066"/>
                      <a:pt x="34138" y="915492"/>
                    </a:cubicBezTo>
                    <a:cubicBezTo>
                      <a:pt x="34138" y="916205"/>
                      <a:pt x="34853" y="916205"/>
                      <a:pt x="34853" y="916918"/>
                    </a:cubicBezTo>
                    <a:cubicBezTo>
                      <a:pt x="35569" y="917631"/>
                      <a:pt x="35569" y="919057"/>
                      <a:pt x="36284" y="919770"/>
                    </a:cubicBezTo>
                    <a:cubicBezTo>
                      <a:pt x="36284" y="920483"/>
                      <a:pt x="36999" y="921196"/>
                      <a:pt x="36999" y="921909"/>
                    </a:cubicBezTo>
                    <a:cubicBezTo>
                      <a:pt x="37714" y="922622"/>
                      <a:pt x="38429" y="923335"/>
                      <a:pt x="38429" y="924048"/>
                    </a:cubicBezTo>
                    <a:cubicBezTo>
                      <a:pt x="39144" y="924761"/>
                      <a:pt x="39859" y="925474"/>
                      <a:pt x="39859" y="926187"/>
                    </a:cubicBezTo>
                    <a:cubicBezTo>
                      <a:pt x="40574" y="926900"/>
                      <a:pt x="40574" y="927613"/>
                      <a:pt x="41289" y="928326"/>
                    </a:cubicBezTo>
                    <a:cubicBezTo>
                      <a:pt x="42005" y="929039"/>
                      <a:pt x="42720" y="930464"/>
                      <a:pt x="43435" y="931890"/>
                    </a:cubicBezTo>
                    <a:cubicBezTo>
                      <a:pt x="43435" y="931890"/>
                      <a:pt x="44150" y="931890"/>
                      <a:pt x="44150" y="931890"/>
                    </a:cubicBezTo>
                    <a:cubicBezTo>
                      <a:pt x="44865" y="934029"/>
                      <a:pt x="46295" y="935455"/>
                      <a:pt x="47726" y="936881"/>
                    </a:cubicBezTo>
                    <a:cubicBezTo>
                      <a:pt x="47726" y="937594"/>
                      <a:pt x="48441" y="938307"/>
                      <a:pt x="49156" y="939020"/>
                    </a:cubicBezTo>
                    <a:cubicBezTo>
                      <a:pt x="49871" y="939020"/>
                      <a:pt x="49871" y="939733"/>
                      <a:pt x="50586" y="940446"/>
                    </a:cubicBezTo>
                    <a:cubicBezTo>
                      <a:pt x="70609" y="963260"/>
                      <a:pt x="102074" y="984649"/>
                      <a:pt x="142835" y="1002473"/>
                    </a:cubicBezTo>
                    <a:cubicBezTo>
                      <a:pt x="143551" y="1003186"/>
                      <a:pt x="144266" y="1003186"/>
                      <a:pt x="144981" y="1003899"/>
                    </a:cubicBezTo>
                    <a:cubicBezTo>
                      <a:pt x="146411" y="1004612"/>
                      <a:pt x="147841" y="1005325"/>
                      <a:pt x="149271" y="1005325"/>
                    </a:cubicBezTo>
                    <a:cubicBezTo>
                      <a:pt x="151417" y="1006751"/>
                      <a:pt x="154277" y="1008177"/>
                      <a:pt x="157138" y="1008890"/>
                    </a:cubicBezTo>
                    <a:cubicBezTo>
                      <a:pt x="159283" y="1009603"/>
                      <a:pt x="160713" y="1010316"/>
                      <a:pt x="162859" y="1011029"/>
                    </a:cubicBezTo>
                    <a:cubicBezTo>
                      <a:pt x="163574" y="1011741"/>
                      <a:pt x="163574" y="1011741"/>
                      <a:pt x="164289" y="1011741"/>
                    </a:cubicBezTo>
                    <a:cubicBezTo>
                      <a:pt x="167149" y="1013167"/>
                      <a:pt x="170010" y="1013880"/>
                      <a:pt x="172155" y="1014593"/>
                    </a:cubicBezTo>
                    <a:cubicBezTo>
                      <a:pt x="172870" y="1015306"/>
                      <a:pt x="172870" y="1015306"/>
                      <a:pt x="172870" y="1015306"/>
                    </a:cubicBezTo>
                    <a:cubicBezTo>
                      <a:pt x="253678" y="1045250"/>
                      <a:pt x="360945" y="1063787"/>
                      <a:pt x="477508" y="1065213"/>
                    </a:cubicBezTo>
                    <a:cubicBezTo>
                      <a:pt x="480368" y="1065213"/>
                      <a:pt x="483229" y="1065213"/>
                      <a:pt x="486089" y="1065213"/>
                    </a:cubicBezTo>
                    <a:cubicBezTo>
                      <a:pt x="486804" y="1065213"/>
                      <a:pt x="488235" y="1065213"/>
                      <a:pt x="488950" y="1065213"/>
                    </a:cubicBezTo>
                    <a:cubicBezTo>
                      <a:pt x="489665" y="1065213"/>
                      <a:pt x="491095" y="1065213"/>
                      <a:pt x="491810" y="1065213"/>
                    </a:cubicBezTo>
                    <a:cubicBezTo>
                      <a:pt x="494671" y="1065213"/>
                      <a:pt x="497531" y="1065213"/>
                      <a:pt x="500392" y="1065213"/>
                    </a:cubicBezTo>
                    <a:cubicBezTo>
                      <a:pt x="616955" y="1063787"/>
                      <a:pt x="724222" y="1045250"/>
                      <a:pt x="805029" y="1015306"/>
                    </a:cubicBezTo>
                    <a:cubicBezTo>
                      <a:pt x="805029" y="1015306"/>
                      <a:pt x="805029" y="1015306"/>
                      <a:pt x="805744" y="1014593"/>
                    </a:cubicBezTo>
                    <a:cubicBezTo>
                      <a:pt x="807890" y="1013880"/>
                      <a:pt x="810750" y="1013167"/>
                      <a:pt x="813611" y="1011741"/>
                    </a:cubicBezTo>
                    <a:cubicBezTo>
                      <a:pt x="813611" y="1011741"/>
                      <a:pt x="814326" y="1011741"/>
                      <a:pt x="814326" y="1011741"/>
                    </a:cubicBezTo>
                    <a:cubicBezTo>
                      <a:pt x="816471" y="1010316"/>
                      <a:pt x="818616" y="1009603"/>
                      <a:pt x="820762" y="1008890"/>
                    </a:cubicBezTo>
                    <a:cubicBezTo>
                      <a:pt x="823622" y="1008177"/>
                      <a:pt x="826483" y="1006751"/>
                      <a:pt x="828628" y="1005325"/>
                    </a:cubicBezTo>
                    <a:cubicBezTo>
                      <a:pt x="830058" y="1005325"/>
                      <a:pt x="831488" y="1004612"/>
                      <a:pt x="832919" y="1003899"/>
                    </a:cubicBezTo>
                    <a:cubicBezTo>
                      <a:pt x="833634" y="1003186"/>
                      <a:pt x="834349" y="1003186"/>
                      <a:pt x="835064" y="1002473"/>
                    </a:cubicBezTo>
                    <a:cubicBezTo>
                      <a:pt x="875825" y="984649"/>
                      <a:pt x="907290" y="963260"/>
                      <a:pt x="927314" y="940446"/>
                    </a:cubicBezTo>
                    <a:cubicBezTo>
                      <a:pt x="928029" y="939733"/>
                      <a:pt x="928029" y="939020"/>
                      <a:pt x="928744" y="939020"/>
                    </a:cubicBezTo>
                    <a:cubicBezTo>
                      <a:pt x="929459" y="938307"/>
                      <a:pt x="930174" y="937594"/>
                      <a:pt x="930174" y="936881"/>
                    </a:cubicBezTo>
                    <a:cubicBezTo>
                      <a:pt x="931604" y="935455"/>
                      <a:pt x="933034" y="934029"/>
                      <a:pt x="933750" y="931890"/>
                    </a:cubicBezTo>
                    <a:cubicBezTo>
                      <a:pt x="933750" y="931890"/>
                      <a:pt x="934465" y="931890"/>
                      <a:pt x="934465" y="931890"/>
                    </a:cubicBezTo>
                    <a:cubicBezTo>
                      <a:pt x="935180" y="930464"/>
                      <a:pt x="935895" y="929039"/>
                      <a:pt x="936610" y="928326"/>
                    </a:cubicBezTo>
                    <a:cubicBezTo>
                      <a:pt x="937325" y="927613"/>
                      <a:pt x="937325" y="926900"/>
                      <a:pt x="938040" y="926187"/>
                    </a:cubicBezTo>
                    <a:cubicBezTo>
                      <a:pt x="938040" y="925474"/>
                      <a:pt x="938755" y="924761"/>
                      <a:pt x="939470" y="924048"/>
                    </a:cubicBezTo>
                    <a:cubicBezTo>
                      <a:pt x="939470" y="923335"/>
                      <a:pt x="940186" y="922622"/>
                      <a:pt x="940901" y="921909"/>
                    </a:cubicBezTo>
                    <a:cubicBezTo>
                      <a:pt x="940901" y="921196"/>
                      <a:pt x="941616" y="920483"/>
                      <a:pt x="941616" y="919770"/>
                    </a:cubicBezTo>
                    <a:cubicBezTo>
                      <a:pt x="942331" y="919057"/>
                      <a:pt x="942331" y="917631"/>
                      <a:pt x="943046" y="916918"/>
                    </a:cubicBezTo>
                    <a:cubicBezTo>
                      <a:pt x="943046" y="916205"/>
                      <a:pt x="943761" y="916205"/>
                      <a:pt x="943761" y="915492"/>
                    </a:cubicBezTo>
                    <a:cubicBezTo>
                      <a:pt x="944476" y="914066"/>
                      <a:pt x="944476" y="913354"/>
                      <a:pt x="945191" y="912641"/>
                    </a:cubicBezTo>
                    <a:cubicBezTo>
                      <a:pt x="945191" y="911928"/>
                      <a:pt x="945191" y="911215"/>
                      <a:pt x="945906" y="911215"/>
                    </a:cubicBezTo>
                    <a:cubicBezTo>
                      <a:pt x="945906" y="909789"/>
                      <a:pt x="946622" y="909076"/>
                      <a:pt x="946622" y="907650"/>
                    </a:cubicBezTo>
                    <a:cubicBezTo>
                      <a:pt x="946622" y="907650"/>
                      <a:pt x="947337" y="906937"/>
                      <a:pt x="947337" y="906224"/>
                    </a:cubicBezTo>
                    <a:cubicBezTo>
                      <a:pt x="947337" y="905511"/>
                      <a:pt x="948052" y="904085"/>
                      <a:pt x="948052" y="903372"/>
                    </a:cubicBezTo>
                    <a:cubicBezTo>
                      <a:pt x="948052" y="902659"/>
                      <a:pt x="948767" y="902659"/>
                      <a:pt x="948767" y="901946"/>
                    </a:cubicBezTo>
                    <a:cubicBezTo>
                      <a:pt x="948767" y="900520"/>
                      <a:pt x="948767" y="899807"/>
                      <a:pt x="949482" y="898381"/>
                    </a:cubicBezTo>
                    <a:cubicBezTo>
                      <a:pt x="949482" y="898381"/>
                      <a:pt x="949482" y="897669"/>
                      <a:pt x="949482" y="896956"/>
                    </a:cubicBezTo>
                    <a:cubicBezTo>
                      <a:pt x="949482" y="896243"/>
                      <a:pt x="950197" y="894817"/>
                      <a:pt x="950197" y="894104"/>
                    </a:cubicBezTo>
                    <a:cubicBezTo>
                      <a:pt x="950197" y="893391"/>
                      <a:pt x="950197" y="892678"/>
                      <a:pt x="950197" y="891965"/>
                    </a:cubicBezTo>
                    <a:cubicBezTo>
                      <a:pt x="950197" y="891252"/>
                      <a:pt x="950197" y="890539"/>
                      <a:pt x="950912" y="889826"/>
                    </a:cubicBezTo>
                    <a:cubicBezTo>
                      <a:pt x="950912" y="887687"/>
                      <a:pt x="950912" y="886261"/>
                      <a:pt x="950912" y="884835"/>
                    </a:cubicBezTo>
                    <a:cubicBezTo>
                      <a:pt x="950912" y="884835"/>
                      <a:pt x="950912" y="879132"/>
                      <a:pt x="950912" y="208240"/>
                    </a:cubicBezTo>
                    <a:cubicBezTo>
                      <a:pt x="950912" y="207527"/>
                      <a:pt x="950912" y="206814"/>
                      <a:pt x="950912" y="206101"/>
                    </a:cubicBezTo>
                    <a:cubicBezTo>
                      <a:pt x="950912" y="205388"/>
                      <a:pt x="950912" y="203962"/>
                      <a:pt x="950912" y="203249"/>
                    </a:cubicBezTo>
                    <a:cubicBezTo>
                      <a:pt x="950912" y="201823"/>
                      <a:pt x="950912" y="201110"/>
                      <a:pt x="950197" y="200398"/>
                    </a:cubicBezTo>
                    <a:cubicBezTo>
                      <a:pt x="950197" y="198972"/>
                      <a:pt x="949482" y="197546"/>
                      <a:pt x="949482" y="196833"/>
                    </a:cubicBezTo>
                    <a:cubicBezTo>
                      <a:pt x="949482" y="196120"/>
                      <a:pt x="949482" y="196120"/>
                      <a:pt x="949482" y="195407"/>
                    </a:cubicBezTo>
                    <a:cubicBezTo>
                      <a:pt x="948767" y="194694"/>
                      <a:pt x="948767" y="193268"/>
                      <a:pt x="948767" y="192555"/>
                    </a:cubicBezTo>
                    <a:cubicBezTo>
                      <a:pt x="942331" y="166176"/>
                      <a:pt x="920162" y="140509"/>
                      <a:pt x="885122" y="117695"/>
                    </a:cubicBezTo>
                    <a:cubicBezTo>
                      <a:pt x="883692" y="116982"/>
                      <a:pt x="882261" y="115556"/>
                      <a:pt x="880831" y="114843"/>
                    </a:cubicBezTo>
                    <a:cubicBezTo>
                      <a:pt x="880116" y="114130"/>
                      <a:pt x="880116" y="114130"/>
                      <a:pt x="879401" y="114130"/>
                    </a:cubicBezTo>
                    <a:cubicBezTo>
                      <a:pt x="877971" y="113417"/>
                      <a:pt x="876541" y="111991"/>
                      <a:pt x="875110" y="111278"/>
                    </a:cubicBezTo>
                    <a:cubicBezTo>
                      <a:pt x="875110" y="111278"/>
                      <a:pt x="874395" y="110565"/>
                      <a:pt x="873680" y="110565"/>
                    </a:cubicBezTo>
                    <a:cubicBezTo>
                      <a:pt x="872250" y="109852"/>
                      <a:pt x="871535" y="109139"/>
                      <a:pt x="870105" y="108426"/>
                    </a:cubicBezTo>
                    <a:cubicBezTo>
                      <a:pt x="869389" y="107713"/>
                      <a:pt x="868674" y="107713"/>
                      <a:pt x="867959" y="107000"/>
                    </a:cubicBezTo>
                    <a:cubicBezTo>
                      <a:pt x="866529" y="106287"/>
                      <a:pt x="865814" y="105574"/>
                      <a:pt x="864384" y="104861"/>
                    </a:cubicBezTo>
                    <a:cubicBezTo>
                      <a:pt x="863669" y="104861"/>
                      <a:pt x="862238" y="104148"/>
                      <a:pt x="861523" y="103436"/>
                    </a:cubicBezTo>
                    <a:cubicBezTo>
                      <a:pt x="860808" y="102723"/>
                      <a:pt x="859378" y="102723"/>
                      <a:pt x="858663" y="102010"/>
                    </a:cubicBezTo>
                    <a:cubicBezTo>
                      <a:pt x="857233" y="101297"/>
                      <a:pt x="856517" y="100584"/>
                      <a:pt x="855087" y="99871"/>
                    </a:cubicBezTo>
                    <a:cubicBezTo>
                      <a:pt x="854372" y="99871"/>
                      <a:pt x="852942" y="99158"/>
                      <a:pt x="852227" y="98445"/>
                    </a:cubicBezTo>
                    <a:cubicBezTo>
                      <a:pt x="850797" y="98445"/>
                      <a:pt x="849366" y="97732"/>
                      <a:pt x="848651" y="97019"/>
                    </a:cubicBezTo>
                    <a:cubicBezTo>
                      <a:pt x="847221" y="96306"/>
                      <a:pt x="846506" y="96306"/>
                      <a:pt x="845791" y="95593"/>
                    </a:cubicBezTo>
                    <a:cubicBezTo>
                      <a:pt x="844360" y="94880"/>
                      <a:pt x="842930" y="94167"/>
                      <a:pt x="841500" y="93454"/>
                    </a:cubicBezTo>
                    <a:cubicBezTo>
                      <a:pt x="840785" y="93454"/>
                      <a:pt x="840070" y="92741"/>
                      <a:pt x="839355" y="92028"/>
                    </a:cubicBezTo>
                    <a:cubicBezTo>
                      <a:pt x="837209" y="91315"/>
                      <a:pt x="835779" y="90602"/>
                      <a:pt x="834349" y="90602"/>
                    </a:cubicBezTo>
                    <a:cubicBezTo>
                      <a:pt x="833634" y="89889"/>
                      <a:pt x="832204" y="89176"/>
                      <a:pt x="830773" y="88463"/>
                    </a:cubicBezTo>
                    <a:cubicBezTo>
                      <a:pt x="830058" y="88463"/>
                      <a:pt x="828628" y="87750"/>
                      <a:pt x="827198" y="87038"/>
                    </a:cubicBezTo>
                    <a:cubicBezTo>
                      <a:pt x="825768" y="86325"/>
                      <a:pt x="823622" y="85612"/>
                      <a:pt x="821477" y="84899"/>
                    </a:cubicBezTo>
                    <a:cubicBezTo>
                      <a:pt x="820762" y="84186"/>
                      <a:pt x="820762" y="84186"/>
                      <a:pt x="820047" y="84186"/>
                    </a:cubicBezTo>
                    <a:cubicBezTo>
                      <a:pt x="817186" y="82760"/>
                      <a:pt x="815041" y="82047"/>
                      <a:pt x="812180" y="80621"/>
                    </a:cubicBezTo>
                    <a:cubicBezTo>
                      <a:pt x="806460" y="78482"/>
                      <a:pt x="801454" y="77056"/>
                      <a:pt x="795733" y="74917"/>
                    </a:cubicBezTo>
                    <a:cubicBezTo>
                      <a:pt x="795733" y="74917"/>
                      <a:pt x="795733" y="74917"/>
                      <a:pt x="795018" y="74917"/>
                    </a:cubicBezTo>
                    <a:cubicBezTo>
                      <a:pt x="790012" y="72778"/>
                      <a:pt x="784291" y="70640"/>
                      <a:pt x="778570" y="69214"/>
                    </a:cubicBezTo>
                    <a:cubicBezTo>
                      <a:pt x="778570" y="69214"/>
                      <a:pt x="777855" y="69214"/>
                      <a:pt x="777855" y="68501"/>
                    </a:cubicBezTo>
                    <a:cubicBezTo>
                      <a:pt x="772134" y="67075"/>
                      <a:pt x="766413" y="65649"/>
                      <a:pt x="760692" y="63510"/>
                    </a:cubicBezTo>
                    <a:cubicBezTo>
                      <a:pt x="760692" y="63510"/>
                      <a:pt x="759977" y="63510"/>
                      <a:pt x="759977" y="63510"/>
                    </a:cubicBezTo>
                    <a:cubicBezTo>
                      <a:pt x="754256" y="61371"/>
                      <a:pt x="748535" y="59945"/>
                      <a:pt x="742815" y="58519"/>
                    </a:cubicBezTo>
                    <a:cubicBezTo>
                      <a:pt x="742099" y="58519"/>
                      <a:pt x="741384" y="58519"/>
                      <a:pt x="741384" y="58519"/>
                    </a:cubicBezTo>
                    <a:cubicBezTo>
                      <a:pt x="735663" y="56380"/>
                      <a:pt x="729227" y="54954"/>
                      <a:pt x="723507" y="54242"/>
                    </a:cubicBezTo>
                    <a:cubicBezTo>
                      <a:pt x="722791" y="53529"/>
                      <a:pt x="722791" y="53529"/>
                      <a:pt x="722076" y="53529"/>
                    </a:cubicBezTo>
                    <a:cubicBezTo>
                      <a:pt x="716355" y="52103"/>
                      <a:pt x="709919" y="50677"/>
                      <a:pt x="704198" y="49251"/>
                    </a:cubicBezTo>
                    <a:cubicBezTo>
                      <a:pt x="703483" y="49251"/>
                      <a:pt x="703483" y="49251"/>
                      <a:pt x="702768" y="49251"/>
                    </a:cubicBezTo>
                    <a:cubicBezTo>
                      <a:pt x="696332" y="47825"/>
                      <a:pt x="690611" y="47112"/>
                      <a:pt x="684175" y="45686"/>
                    </a:cubicBezTo>
                    <a:cubicBezTo>
                      <a:pt x="683460" y="45686"/>
                      <a:pt x="683460" y="45686"/>
                      <a:pt x="682745" y="45686"/>
                    </a:cubicBezTo>
                    <a:cubicBezTo>
                      <a:pt x="676309" y="44260"/>
                      <a:pt x="670588" y="42834"/>
                      <a:pt x="664152" y="42121"/>
                    </a:cubicBezTo>
                    <a:cubicBezTo>
                      <a:pt x="663437" y="42121"/>
                      <a:pt x="662722" y="42121"/>
                      <a:pt x="662007" y="42121"/>
                    </a:cubicBezTo>
                    <a:cubicBezTo>
                      <a:pt x="656286" y="40695"/>
                      <a:pt x="649850" y="39982"/>
                      <a:pt x="643414" y="39269"/>
                    </a:cubicBezTo>
                    <a:cubicBezTo>
                      <a:pt x="642699" y="38557"/>
                      <a:pt x="641984" y="38557"/>
                      <a:pt x="641984" y="38557"/>
                    </a:cubicBezTo>
                    <a:cubicBezTo>
                      <a:pt x="635548" y="37844"/>
                      <a:pt x="628397" y="37131"/>
                      <a:pt x="621961" y="36418"/>
                    </a:cubicBezTo>
                    <a:cubicBezTo>
                      <a:pt x="621245" y="36418"/>
                      <a:pt x="621245" y="36418"/>
                      <a:pt x="620530" y="35705"/>
                    </a:cubicBezTo>
                    <a:cubicBezTo>
                      <a:pt x="614094" y="34992"/>
                      <a:pt x="606943" y="34279"/>
                      <a:pt x="600507" y="33566"/>
                    </a:cubicBezTo>
                    <a:cubicBezTo>
                      <a:pt x="599792" y="33566"/>
                      <a:pt x="599792" y="33566"/>
                      <a:pt x="599792" y="33566"/>
                    </a:cubicBezTo>
                    <a:cubicBezTo>
                      <a:pt x="592641" y="32853"/>
                      <a:pt x="585490" y="32140"/>
                      <a:pt x="578339" y="32140"/>
                    </a:cubicBezTo>
                    <a:cubicBezTo>
                      <a:pt x="578339" y="32140"/>
                      <a:pt x="578339" y="32140"/>
                      <a:pt x="577624" y="32140"/>
                    </a:cubicBezTo>
                    <a:cubicBezTo>
                      <a:pt x="570473" y="31427"/>
                      <a:pt x="563321" y="30714"/>
                      <a:pt x="556170" y="30714"/>
                    </a:cubicBezTo>
                    <a:cubicBezTo>
                      <a:pt x="549019" y="30001"/>
                      <a:pt x="541153" y="29288"/>
                      <a:pt x="534002" y="29288"/>
                    </a:cubicBezTo>
                    <a:cubicBezTo>
                      <a:pt x="518984" y="28575"/>
                      <a:pt x="503967" y="28575"/>
                      <a:pt x="488950" y="28575"/>
                    </a:cubicBezTo>
                    <a:cubicBezTo>
                      <a:pt x="485374" y="28575"/>
                      <a:pt x="481083" y="28575"/>
                      <a:pt x="477508" y="28575"/>
                    </a:cubicBezTo>
                    <a:close/>
                    <a:moveTo>
                      <a:pt x="488950" y="0"/>
                    </a:moveTo>
                    <a:cubicBezTo>
                      <a:pt x="613151" y="0"/>
                      <a:pt x="731641" y="19252"/>
                      <a:pt x="821579" y="54903"/>
                    </a:cubicBezTo>
                    <a:cubicBezTo>
                      <a:pt x="912945" y="90555"/>
                      <a:pt x="967193" y="139041"/>
                      <a:pt x="976473" y="192518"/>
                    </a:cubicBezTo>
                    <a:cubicBezTo>
                      <a:pt x="977186" y="193944"/>
                      <a:pt x="977900" y="196083"/>
                      <a:pt x="977900" y="198935"/>
                    </a:cubicBezTo>
                    <a:cubicBezTo>
                      <a:pt x="977900" y="198935"/>
                      <a:pt x="977900" y="198935"/>
                      <a:pt x="977900" y="884870"/>
                    </a:cubicBezTo>
                    <a:cubicBezTo>
                      <a:pt x="977900" y="1001807"/>
                      <a:pt x="763762" y="1093788"/>
                      <a:pt x="488950" y="1093788"/>
                    </a:cubicBezTo>
                    <a:cubicBezTo>
                      <a:pt x="214139" y="1093788"/>
                      <a:pt x="0" y="1001807"/>
                      <a:pt x="0" y="884870"/>
                    </a:cubicBezTo>
                    <a:cubicBezTo>
                      <a:pt x="0" y="881305"/>
                      <a:pt x="0" y="877027"/>
                      <a:pt x="714" y="873462"/>
                    </a:cubicBezTo>
                    <a:cubicBezTo>
                      <a:pt x="714" y="873462"/>
                      <a:pt x="714" y="873462"/>
                      <a:pt x="714" y="220326"/>
                    </a:cubicBezTo>
                    <a:cubicBezTo>
                      <a:pt x="0" y="216761"/>
                      <a:pt x="0" y="212483"/>
                      <a:pt x="0" y="208918"/>
                    </a:cubicBezTo>
                    <a:cubicBezTo>
                      <a:pt x="0" y="91981"/>
                      <a:pt x="214139" y="0"/>
                      <a:pt x="488950"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47" name="Freeform 18">
                <a:extLst>
                  <a:ext uri="{FF2B5EF4-FFF2-40B4-BE49-F238E27FC236}">
                    <a16:creationId xmlns:a16="http://schemas.microsoft.com/office/drawing/2014/main" id="{726D2D1C-B8EC-405C-80A3-E1161430E4B5}"/>
                  </a:ext>
                </a:extLst>
              </p:cNvPr>
              <p:cNvSpPr>
                <a:spLocks/>
              </p:cNvSpPr>
              <p:nvPr/>
            </p:nvSpPr>
            <p:spPr bwMode="auto">
              <a:xfrm>
                <a:off x="5667375" y="3184524"/>
                <a:ext cx="860425" cy="723900"/>
              </a:xfrm>
              <a:custGeom>
                <a:avLst/>
                <a:gdLst>
                  <a:gd name="connsiteX0" fmla="*/ 860425 w 860425"/>
                  <a:gd name="connsiteY0" fmla="*/ 434975 h 723900"/>
                  <a:gd name="connsiteX1" fmla="*/ 860425 w 860425"/>
                  <a:gd name="connsiteY1" fmla="*/ 581935 h 723900"/>
                  <a:gd name="connsiteX2" fmla="*/ 743224 w 860425"/>
                  <a:gd name="connsiteY2" fmla="*/ 679670 h 723900"/>
                  <a:gd name="connsiteX3" fmla="*/ 703919 w 860425"/>
                  <a:gd name="connsiteY3" fmla="*/ 693224 h 723900"/>
                  <a:gd name="connsiteX4" fmla="*/ 430927 w 860425"/>
                  <a:gd name="connsiteY4" fmla="*/ 723900 h 723900"/>
                  <a:gd name="connsiteX5" fmla="*/ 155791 w 860425"/>
                  <a:gd name="connsiteY5" fmla="*/ 693224 h 723900"/>
                  <a:gd name="connsiteX6" fmla="*/ 117201 w 860425"/>
                  <a:gd name="connsiteY6" fmla="*/ 679670 h 723900"/>
                  <a:gd name="connsiteX7" fmla="*/ 0 w 860425"/>
                  <a:gd name="connsiteY7" fmla="*/ 581935 h 723900"/>
                  <a:gd name="connsiteX8" fmla="*/ 0 w 860425"/>
                  <a:gd name="connsiteY8" fmla="*/ 579794 h 723900"/>
                  <a:gd name="connsiteX9" fmla="*/ 715 w 860425"/>
                  <a:gd name="connsiteY9" fmla="*/ 577654 h 723900"/>
                  <a:gd name="connsiteX10" fmla="*/ 715 w 860425"/>
                  <a:gd name="connsiteY10" fmla="*/ 436402 h 723900"/>
                  <a:gd name="connsiteX11" fmla="*/ 430927 w 860425"/>
                  <a:gd name="connsiteY11" fmla="*/ 557679 h 723900"/>
                  <a:gd name="connsiteX12" fmla="*/ 860425 w 860425"/>
                  <a:gd name="connsiteY12" fmla="*/ 434975 h 723900"/>
                  <a:gd name="connsiteX13" fmla="*/ 860425 w 860425"/>
                  <a:gd name="connsiteY13" fmla="*/ 214313 h 723900"/>
                  <a:gd name="connsiteX14" fmla="*/ 860425 w 860425"/>
                  <a:gd name="connsiteY14" fmla="*/ 384562 h 723900"/>
                  <a:gd name="connsiteX15" fmla="*/ 430570 w 860425"/>
                  <a:gd name="connsiteY15" fmla="*/ 511176 h 723900"/>
                  <a:gd name="connsiteX16" fmla="*/ 0 w 860425"/>
                  <a:gd name="connsiteY16" fmla="*/ 385993 h 723900"/>
                  <a:gd name="connsiteX17" fmla="*/ 0 w 860425"/>
                  <a:gd name="connsiteY17" fmla="*/ 215744 h 723900"/>
                  <a:gd name="connsiteX18" fmla="*/ 430570 w 860425"/>
                  <a:gd name="connsiteY18" fmla="*/ 340212 h 723900"/>
                  <a:gd name="connsiteX19" fmla="*/ 860425 w 860425"/>
                  <a:gd name="connsiteY19" fmla="*/ 214313 h 723900"/>
                  <a:gd name="connsiteX20" fmla="*/ 860425 w 860425"/>
                  <a:gd name="connsiteY20" fmla="*/ 0 h 723900"/>
                  <a:gd name="connsiteX21" fmla="*/ 860425 w 860425"/>
                  <a:gd name="connsiteY21" fmla="*/ 165508 h 723900"/>
                  <a:gd name="connsiteX22" fmla="*/ 430570 w 860425"/>
                  <a:gd name="connsiteY22" fmla="*/ 288925 h 723900"/>
                  <a:gd name="connsiteX23" fmla="*/ 0 w 860425"/>
                  <a:gd name="connsiteY23" fmla="*/ 166935 h 723900"/>
                  <a:gd name="connsiteX24" fmla="*/ 0 w 860425"/>
                  <a:gd name="connsiteY24" fmla="*/ 1427 h 723900"/>
                  <a:gd name="connsiteX25" fmla="*/ 430570 w 860425"/>
                  <a:gd name="connsiteY25" fmla="*/ 122704 h 723900"/>
                  <a:gd name="connsiteX26" fmla="*/ 860425 w 860425"/>
                  <a:gd name="connsiteY26"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60425" h="723900">
                    <a:moveTo>
                      <a:pt x="860425" y="434975"/>
                    </a:moveTo>
                    <a:cubicBezTo>
                      <a:pt x="860425" y="434975"/>
                      <a:pt x="860425" y="434975"/>
                      <a:pt x="860425" y="581935"/>
                    </a:cubicBezTo>
                    <a:cubicBezTo>
                      <a:pt x="860425" y="614037"/>
                      <a:pt x="815403" y="651847"/>
                      <a:pt x="743224" y="679670"/>
                    </a:cubicBezTo>
                    <a:cubicBezTo>
                      <a:pt x="731076" y="684663"/>
                      <a:pt x="717497" y="688944"/>
                      <a:pt x="703919" y="693224"/>
                    </a:cubicBezTo>
                    <a:cubicBezTo>
                      <a:pt x="629597" y="713199"/>
                      <a:pt x="533835" y="723900"/>
                      <a:pt x="430927" y="723900"/>
                    </a:cubicBezTo>
                    <a:cubicBezTo>
                      <a:pt x="326590" y="723900"/>
                      <a:pt x="230829" y="713199"/>
                      <a:pt x="155791" y="693224"/>
                    </a:cubicBezTo>
                    <a:cubicBezTo>
                      <a:pt x="142213" y="688944"/>
                      <a:pt x="129350" y="684663"/>
                      <a:pt x="117201" y="679670"/>
                    </a:cubicBezTo>
                    <a:cubicBezTo>
                      <a:pt x="45022" y="651847"/>
                      <a:pt x="0" y="614037"/>
                      <a:pt x="0" y="581935"/>
                    </a:cubicBezTo>
                    <a:cubicBezTo>
                      <a:pt x="0" y="581221"/>
                      <a:pt x="0" y="580508"/>
                      <a:pt x="0" y="579794"/>
                    </a:cubicBezTo>
                    <a:cubicBezTo>
                      <a:pt x="0" y="579794"/>
                      <a:pt x="0" y="579794"/>
                      <a:pt x="715" y="577654"/>
                    </a:cubicBezTo>
                    <a:cubicBezTo>
                      <a:pt x="715" y="577654"/>
                      <a:pt x="715" y="577654"/>
                      <a:pt x="715" y="436402"/>
                    </a:cubicBezTo>
                    <a:cubicBezTo>
                      <a:pt x="33588" y="509168"/>
                      <a:pt x="213677" y="557679"/>
                      <a:pt x="430927" y="557679"/>
                    </a:cubicBezTo>
                    <a:cubicBezTo>
                      <a:pt x="648178" y="557679"/>
                      <a:pt x="828981" y="508455"/>
                      <a:pt x="860425" y="434975"/>
                    </a:cubicBezTo>
                    <a:close/>
                    <a:moveTo>
                      <a:pt x="860425" y="214313"/>
                    </a:moveTo>
                    <a:cubicBezTo>
                      <a:pt x="860425" y="214313"/>
                      <a:pt x="860425" y="214313"/>
                      <a:pt x="860425" y="384562"/>
                    </a:cubicBezTo>
                    <a:cubicBezTo>
                      <a:pt x="828955" y="461103"/>
                      <a:pt x="648001" y="511176"/>
                      <a:pt x="430570" y="511176"/>
                    </a:cubicBezTo>
                    <a:cubicBezTo>
                      <a:pt x="213140" y="511176"/>
                      <a:pt x="32901" y="461818"/>
                      <a:pt x="0" y="385993"/>
                    </a:cubicBezTo>
                    <a:cubicBezTo>
                      <a:pt x="0" y="385993"/>
                      <a:pt x="0" y="385993"/>
                      <a:pt x="0" y="215744"/>
                    </a:cubicBezTo>
                    <a:cubicBezTo>
                      <a:pt x="32901" y="290854"/>
                      <a:pt x="213140" y="340212"/>
                      <a:pt x="430570" y="340212"/>
                    </a:cubicBezTo>
                    <a:cubicBezTo>
                      <a:pt x="648001" y="340212"/>
                      <a:pt x="828955" y="290138"/>
                      <a:pt x="860425" y="214313"/>
                    </a:cubicBezTo>
                    <a:close/>
                    <a:moveTo>
                      <a:pt x="860425" y="0"/>
                    </a:moveTo>
                    <a:cubicBezTo>
                      <a:pt x="860425" y="0"/>
                      <a:pt x="860425" y="0"/>
                      <a:pt x="860425" y="165508"/>
                    </a:cubicBezTo>
                    <a:cubicBezTo>
                      <a:pt x="828955" y="239701"/>
                      <a:pt x="648001" y="288925"/>
                      <a:pt x="430570" y="288925"/>
                    </a:cubicBezTo>
                    <a:cubicBezTo>
                      <a:pt x="213140" y="288925"/>
                      <a:pt x="32901" y="240414"/>
                      <a:pt x="0" y="166935"/>
                    </a:cubicBezTo>
                    <a:cubicBezTo>
                      <a:pt x="0" y="166935"/>
                      <a:pt x="0" y="166935"/>
                      <a:pt x="0" y="1427"/>
                    </a:cubicBezTo>
                    <a:cubicBezTo>
                      <a:pt x="32901" y="74193"/>
                      <a:pt x="213140" y="122704"/>
                      <a:pt x="430570" y="122704"/>
                    </a:cubicBezTo>
                    <a:cubicBezTo>
                      <a:pt x="648001" y="122704"/>
                      <a:pt x="828955" y="73480"/>
                      <a:pt x="860425" y="0"/>
                    </a:cubicBezTo>
                    <a:close/>
                  </a:path>
                </a:pathLst>
              </a:custGeom>
              <a:solidFill>
                <a:schemeClr val="tx2"/>
              </a:solidFill>
              <a:ln>
                <a:noFill/>
              </a:ln>
            </p:spPr>
            <p:txBody>
              <a:bodyPr vert="horz" wrap="square" lIns="91440" tIns="45720" rIns="91440" bIns="45720" numCol="1" anchor="t" anchorCtr="0" compatLnSpc="1">
                <a:prstTxWarp prst="textNoShape">
                  <a:avLst/>
                </a:prstTxWarp>
                <a:noAutofit/>
              </a:bodyPr>
              <a:lstStyle/>
              <a:p>
                <a:endParaRPr lang="en-US"/>
              </a:p>
            </p:txBody>
          </p:sp>
        </p:grpSp>
      </p:grpSp>
      <p:grpSp>
        <p:nvGrpSpPr>
          <p:cNvPr id="135" name="Group 134">
            <a:extLst>
              <a:ext uri="{FF2B5EF4-FFF2-40B4-BE49-F238E27FC236}">
                <a16:creationId xmlns:a16="http://schemas.microsoft.com/office/drawing/2014/main" id="{92163814-26E0-414D-9904-52584BCA914F}"/>
              </a:ext>
            </a:extLst>
          </p:cNvPr>
          <p:cNvGrpSpPr/>
          <p:nvPr/>
        </p:nvGrpSpPr>
        <p:grpSpPr>
          <a:xfrm>
            <a:off x="2972230" y="5081185"/>
            <a:ext cx="952227" cy="975046"/>
            <a:chOff x="3001434" y="5083894"/>
            <a:chExt cx="952227" cy="975046"/>
          </a:xfrm>
        </p:grpSpPr>
        <p:sp>
          <p:nvSpPr>
            <p:cNvPr id="23" name="Rectangle: Rounded Corners 22">
              <a:extLst>
                <a:ext uri="{FF2B5EF4-FFF2-40B4-BE49-F238E27FC236}">
                  <a16:creationId xmlns:a16="http://schemas.microsoft.com/office/drawing/2014/main" id="{5955654B-8DA2-4857-B165-15828F19751E}"/>
                </a:ext>
              </a:extLst>
            </p:cNvPr>
            <p:cNvSpPr/>
            <p:nvPr/>
          </p:nvSpPr>
          <p:spPr>
            <a:xfrm>
              <a:off x="3001434" y="5083894"/>
              <a:ext cx="952227" cy="975046"/>
            </a:xfrm>
            <a:prstGeom prst="roundRect">
              <a:avLst>
                <a:gd name="adj" fmla="val 7561"/>
              </a:avLst>
            </a:prstGeom>
            <a:solidFill>
              <a:srgbClr val="FFFFFF"/>
            </a:solidFill>
            <a:ln w="9525" cap="rnd" cmpd="sng" algn="ctr">
              <a:solidFill>
                <a:srgbClr val="C8C8C8">
                  <a:lumMod val="100000"/>
                </a:srgb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45720" numCol="1" spcCol="0" rtlCol="0" fromWordArt="0" anchor="b" anchorCtr="0" forceAA="0" compatLnSpc="1">
              <a:prstTxWarp prst="textNoShape">
                <a:avLst/>
              </a:prstTxWarp>
              <a:noAutofit/>
            </a:bodyPr>
            <a:lstStyle/>
            <a:p>
              <a:pPr algn="ctr">
                <a:spcBef>
                  <a:spcPts val="140"/>
                </a:spcBef>
                <a:spcAft>
                  <a:spcPts val="140"/>
                </a:spcAft>
              </a:pPr>
              <a:r>
                <a:rPr lang="en-US" sz="1000" b="1">
                  <a:solidFill>
                    <a:srgbClr val="575757"/>
                  </a:solidFill>
                  <a:sym typeface="Trebuchet MS" panose="020B0603020202020204" pitchFamily="34" charset="0"/>
                </a:rPr>
                <a:t>Action</a:t>
              </a:r>
              <a:br>
                <a:rPr lang="en-US" sz="1000" b="1">
                  <a:solidFill>
                    <a:srgbClr val="575757"/>
                  </a:solidFill>
                  <a:sym typeface="Trebuchet MS" panose="020B0603020202020204" pitchFamily="34" charset="0"/>
                </a:rPr>
              </a:br>
              <a:r>
                <a:rPr lang="en-US" sz="1000" b="1">
                  <a:solidFill>
                    <a:srgbClr val="575757"/>
                  </a:solidFill>
                  <a:sym typeface="Trebuchet MS" panose="020B0603020202020204" pitchFamily="34" charset="0"/>
                </a:rPr>
                <a:t>library</a:t>
              </a:r>
            </a:p>
          </p:txBody>
        </p:sp>
        <p:grpSp>
          <p:nvGrpSpPr>
            <p:cNvPr id="48" name="Group 47">
              <a:extLst>
                <a:ext uri="{FF2B5EF4-FFF2-40B4-BE49-F238E27FC236}">
                  <a16:creationId xmlns:a16="http://schemas.microsoft.com/office/drawing/2014/main" id="{32936FD8-7D30-4BCA-AF89-AF158A6C3EDD}"/>
                </a:ext>
              </a:extLst>
            </p:cNvPr>
            <p:cNvGrpSpPr>
              <a:grpSpLocks/>
            </p:cNvGrpSpPr>
            <p:nvPr/>
          </p:nvGrpSpPr>
          <p:grpSpPr>
            <a:xfrm>
              <a:off x="3207547" y="5152123"/>
              <a:ext cx="540000" cy="535929"/>
              <a:chOff x="5273675" y="2606675"/>
              <a:chExt cx="1644650" cy="1644650"/>
            </a:xfrm>
          </p:grpSpPr>
          <p:sp>
            <p:nvSpPr>
              <p:cNvPr id="49" name="AutoShape 9">
                <a:extLst>
                  <a:ext uri="{FF2B5EF4-FFF2-40B4-BE49-F238E27FC236}">
                    <a16:creationId xmlns:a16="http://schemas.microsoft.com/office/drawing/2014/main" id="{57A9D038-EAB7-467D-9C62-4B8F0A5FD843}"/>
                  </a:ext>
                </a:extLst>
              </p:cNvPr>
              <p:cNvSpPr>
                <a:spLocks noChangeAspect="1" noChangeArrowheads="1" noTextEdit="1"/>
              </p:cNvSpPr>
              <p:nvPr/>
            </p:nvSpPr>
            <p:spPr bwMode="auto">
              <a:xfrm>
                <a:off x="5273675" y="2606675"/>
                <a:ext cx="1644650"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50" name="Group 49">
                <a:extLst>
                  <a:ext uri="{FF2B5EF4-FFF2-40B4-BE49-F238E27FC236}">
                    <a16:creationId xmlns:a16="http://schemas.microsoft.com/office/drawing/2014/main" id="{4E363D94-1ABA-4DC3-94B1-DEDC70345E93}"/>
                  </a:ext>
                </a:extLst>
              </p:cNvPr>
              <p:cNvGrpSpPr/>
              <p:nvPr/>
            </p:nvGrpSpPr>
            <p:grpSpPr>
              <a:xfrm>
                <a:off x="5640388" y="2825750"/>
                <a:ext cx="909638" cy="1370328"/>
                <a:chOff x="5640388" y="2825750"/>
                <a:chExt cx="909638" cy="1370328"/>
              </a:xfrm>
            </p:grpSpPr>
            <p:sp>
              <p:nvSpPr>
                <p:cNvPr id="51" name="Freeform 13">
                  <a:extLst>
                    <a:ext uri="{FF2B5EF4-FFF2-40B4-BE49-F238E27FC236}">
                      <a16:creationId xmlns:a16="http://schemas.microsoft.com/office/drawing/2014/main" id="{EA9B22DC-DCDD-4DBB-870D-13230CABC140}"/>
                    </a:ext>
                  </a:extLst>
                </p:cNvPr>
                <p:cNvSpPr>
                  <a:spLocks/>
                </p:cNvSpPr>
                <p:nvPr/>
              </p:nvSpPr>
              <p:spPr bwMode="auto">
                <a:xfrm>
                  <a:off x="5859463" y="2890838"/>
                  <a:ext cx="623888" cy="1073150"/>
                </a:xfrm>
                <a:custGeom>
                  <a:avLst/>
                  <a:gdLst>
                    <a:gd name="T0" fmla="*/ 324 w 393"/>
                    <a:gd name="T1" fmla="*/ 0 h 676"/>
                    <a:gd name="T2" fmla="*/ 0 w 393"/>
                    <a:gd name="T3" fmla="*/ 0 h 676"/>
                    <a:gd name="T4" fmla="*/ 0 w 393"/>
                    <a:gd name="T5" fmla="*/ 676 h 676"/>
                    <a:gd name="T6" fmla="*/ 330 w 393"/>
                    <a:gd name="T7" fmla="*/ 676 h 676"/>
                    <a:gd name="T8" fmla="*/ 393 w 393"/>
                    <a:gd name="T9" fmla="*/ 607 h 676"/>
                    <a:gd name="T10" fmla="*/ 393 w 393"/>
                    <a:gd name="T11" fmla="*/ 63 h 676"/>
                    <a:gd name="T12" fmla="*/ 324 w 393"/>
                    <a:gd name="T13" fmla="*/ 0 h 676"/>
                    <a:gd name="T14" fmla="*/ 324 w 393"/>
                    <a:gd name="T15" fmla="*/ 0 h 676"/>
                    <a:gd name="T16" fmla="*/ 324 w 393"/>
                    <a:gd name="T17" fmla="*/ 0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3" h="676">
                      <a:moveTo>
                        <a:pt x="324" y="0"/>
                      </a:moveTo>
                      <a:lnTo>
                        <a:pt x="0" y="0"/>
                      </a:lnTo>
                      <a:lnTo>
                        <a:pt x="0" y="676"/>
                      </a:lnTo>
                      <a:lnTo>
                        <a:pt x="330" y="676"/>
                      </a:lnTo>
                      <a:lnTo>
                        <a:pt x="393" y="607"/>
                      </a:lnTo>
                      <a:lnTo>
                        <a:pt x="393" y="63"/>
                      </a:lnTo>
                      <a:lnTo>
                        <a:pt x="324" y="0"/>
                      </a:lnTo>
                      <a:lnTo>
                        <a:pt x="324" y="0"/>
                      </a:lnTo>
                      <a:lnTo>
                        <a:pt x="324" y="0"/>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2">
                  <a:extLst>
                    <a:ext uri="{FF2B5EF4-FFF2-40B4-BE49-F238E27FC236}">
                      <a16:creationId xmlns:a16="http://schemas.microsoft.com/office/drawing/2014/main" id="{2879E06A-8B5A-4079-92BA-C65482A7273A}"/>
                    </a:ext>
                  </a:extLst>
                </p:cNvPr>
                <p:cNvSpPr>
                  <a:spLocks/>
                </p:cNvSpPr>
                <p:nvPr/>
              </p:nvSpPr>
              <p:spPr bwMode="auto">
                <a:xfrm>
                  <a:off x="5640388" y="2825750"/>
                  <a:ext cx="909638" cy="1370328"/>
                </a:xfrm>
                <a:custGeom>
                  <a:avLst/>
                  <a:gdLst>
                    <a:gd name="connsiteX0" fmla="*/ 66675 w 909638"/>
                    <a:gd name="connsiteY0" fmla="*/ 65088 h 1370328"/>
                    <a:gd name="connsiteX1" fmla="*/ 187325 w 909638"/>
                    <a:gd name="connsiteY1" fmla="*/ 65088 h 1370328"/>
                    <a:gd name="connsiteX2" fmla="*/ 187325 w 909638"/>
                    <a:gd name="connsiteY2" fmla="*/ 1138238 h 1370328"/>
                    <a:gd name="connsiteX3" fmla="*/ 66675 w 909638"/>
                    <a:gd name="connsiteY3" fmla="*/ 1138238 h 1370328"/>
                    <a:gd name="connsiteX4" fmla="*/ 31750 w 909638"/>
                    <a:gd name="connsiteY4" fmla="*/ 30163 h 1370328"/>
                    <a:gd name="connsiteX5" fmla="*/ 31750 w 909638"/>
                    <a:gd name="connsiteY5" fmla="*/ 1173163 h 1370328"/>
                    <a:gd name="connsiteX6" fmla="*/ 711657 w 909638"/>
                    <a:gd name="connsiteY6" fmla="*/ 1173163 h 1370328"/>
                    <a:gd name="connsiteX7" fmla="*/ 732347 w 909638"/>
                    <a:gd name="connsiteY7" fmla="*/ 1173163 h 1370328"/>
                    <a:gd name="connsiteX8" fmla="*/ 753750 w 909638"/>
                    <a:gd name="connsiteY8" fmla="*/ 1173163 h 1370328"/>
                    <a:gd name="connsiteX9" fmla="*/ 785141 w 909638"/>
                    <a:gd name="connsiteY9" fmla="*/ 1138181 h 1370328"/>
                    <a:gd name="connsiteX10" fmla="*/ 842216 w 909638"/>
                    <a:gd name="connsiteY10" fmla="*/ 1075355 h 1370328"/>
                    <a:gd name="connsiteX11" fmla="*/ 877888 w 909638"/>
                    <a:gd name="connsiteY11" fmla="*/ 1036089 h 1370328"/>
                    <a:gd name="connsiteX12" fmla="*/ 877888 w 909638"/>
                    <a:gd name="connsiteY12" fmla="*/ 1012529 h 1370328"/>
                    <a:gd name="connsiteX13" fmla="*/ 877888 w 909638"/>
                    <a:gd name="connsiteY13" fmla="*/ 988970 h 1370328"/>
                    <a:gd name="connsiteX14" fmla="*/ 877888 w 909638"/>
                    <a:gd name="connsiteY14" fmla="*/ 196509 h 1370328"/>
                    <a:gd name="connsiteX15" fmla="*/ 877888 w 909638"/>
                    <a:gd name="connsiteY15" fmla="*/ 175805 h 1370328"/>
                    <a:gd name="connsiteX16" fmla="*/ 877888 w 909638"/>
                    <a:gd name="connsiteY16" fmla="*/ 154387 h 1370328"/>
                    <a:gd name="connsiteX17" fmla="*/ 842216 w 909638"/>
                    <a:gd name="connsiteY17" fmla="*/ 122260 h 1370328"/>
                    <a:gd name="connsiteX18" fmla="*/ 779434 w 909638"/>
                    <a:gd name="connsiteY18" fmla="*/ 65146 h 1370328"/>
                    <a:gd name="connsiteX19" fmla="*/ 740908 w 909638"/>
                    <a:gd name="connsiteY19" fmla="*/ 30163 h 1370328"/>
                    <a:gd name="connsiteX20" fmla="*/ 717365 w 909638"/>
                    <a:gd name="connsiteY20" fmla="*/ 30163 h 1370328"/>
                    <a:gd name="connsiteX21" fmla="*/ 693821 w 909638"/>
                    <a:gd name="connsiteY21" fmla="*/ 30163 h 1370328"/>
                    <a:gd name="connsiteX22" fmla="*/ 31750 w 909638"/>
                    <a:gd name="connsiteY22" fmla="*/ 30163 h 1370328"/>
                    <a:gd name="connsiteX23" fmla="*/ 15708 w 909638"/>
                    <a:gd name="connsiteY23" fmla="*/ 0 h 1370328"/>
                    <a:gd name="connsiteX24" fmla="*/ 659738 w 909638"/>
                    <a:gd name="connsiteY24" fmla="*/ 0 h 1370328"/>
                    <a:gd name="connsiteX25" fmla="*/ 893930 w 909638"/>
                    <a:gd name="connsiteY25" fmla="*/ 0 h 1370328"/>
                    <a:gd name="connsiteX26" fmla="*/ 909638 w 909638"/>
                    <a:gd name="connsiteY26" fmla="*/ 15700 h 1370328"/>
                    <a:gd name="connsiteX27" fmla="*/ 909638 w 909638"/>
                    <a:gd name="connsiteY27" fmla="*/ 226221 h 1370328"/>
                    <a:gd name="connsiteX28" fmla="*/ 909638 w 909638"/>
                    <a:gd name="connsiteY28" fmla="*/ 955553 h 1370328"/>
                    <a:gd name="connsiteX29" fmla="*/ 909638 w 909638"/>
                    <a:gd name="connsiteY29" fmla="*/ 1189624 h 1370328"/>
                    <a:gd name="connsiteX30" fmla="*/ 893930 w 909638"/>
                    <a:gd name="connsiteY30" fmla="*/ 1205324 h 1370328"/>
                    <a:gd name="connsiteX31" fmla="*/ 683300 w 909638"/>
                    <a:gd name="connsiteY31" fmla="*/ 1205324 h 1370328"/>
                    <a:gd name="connsiteX32" fmla="*/ 182785 w 909638"/>
                    <a:gd name="connsiteY32" fmla="*/ 1205324 h 1370328"/>
                    <a:gd name="connsiteX33" fmla="*/ 182785 w 909638"/>
                    <a:gd name="connsiteY33" fmla="*/ 1366605 h 1370328"/>
                    <a:gd name="connsiteX34" fmla="*/ 177073 w 909638"/>
                    <a:gd name="connsiteY34" fmla="*/ 1369459 h 1370328"/>
                    <a:gd name="connsiteX35" fmla="*/ 129235 w 909638"/>
                    <a:gd name="connsiteY35" fmla="*/ 1330210 h 1370328"/>
                    <a:gd name="connsiteX36" fmla="*/ 124951 w 909638"/>
                    <a:gd name="connsiteY36" fmla="*/ 1330210 h 1370328"/>
                    <a:gd name="connsiteX37" fmla="*/ 77826 w 909638"/>
                    <a:gd name="connsiteY37" fmla="*/ 1369459 h 1370328"/>
                    <a:gd name="connsiteX38" fmla="*/ 72114 w 909638"/>
                    <a:gd name="connsiteY38" fmla="*/ 1366605 h 1370328"/>
                    <a:gd name="connsiteX39" fmla="*/ 72114 w 909638"/>
                    <a:gd name="connsiteY39" fmla="*/ 1205324 h 1370328"/>
                    <a:gd name="connsiteX40" fmla="*/ 15708 w 909638"/>
                    <a:gd name="connsiteY40" fmla="*/ 1205324 h 1370328"/>
                    <a:gd name="connsiteX41" fmla="*/ 0 w 909638"/>
                    <a:gd name="connsiteY41" fmla="*/ 1189624 h 1370328"/>
                    <a:gd name="connsiteX42" fmla="*/ 0 w 909638"/>
                    <a:gd name="connsiteY42" fmla="*/ 15700 h 1370328"/>
                    <a:gd name="connsiteX43" fmla="*/ 15708 w 909638"/>
                    <a:gd name="connsiteY43" fmla="*/ 0 h 1370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909638" h="1370328">
                      <a:moveTo>
                        <a:pt x="66675" y="65088"/>
                      </a:moveTo>
                      <a:lnTo>
                        <a:pt x="187325" y="65088"/>
                      </a:lnTo>
                      <a:lnTo>
                        <a:pt x="187325" y="1138238"/>
                      </a:lnTo>
                      <a:lnTo>
                        <a:pt x="66675" y="1138238"/>
                      </a:lnTo>
                      <a:close/>
                      <a:moveTo>
                        <a:pt x="31750" y="30163"/>
                      </a:moveTo>
                      <a:cubicBezTo>
                        <a:pt x="31750" y="30163"/>
                        <a:pt x="31750" y="30163"/>
                        <a:pt x="31750" y="1173163"/>
                      </a:cubicBezTo>
                      <a:cubicBezTo>
                        <a:pt x="31750" y="1173163"/>
                        <a:pt x="31750" y="1173163"/>
                        <a:pt x="711657" y="1173163"/>
                      </a:cubicBezTo>
                      <a:cubicBezTo>
                        <a:pt x="711657" y="1173163"/>
                        <a:pt x="711657" y="1173163"/>
                        <a:pt x="732347" y="1173163"/>
                      </a:cubicBezTo>
                      <a:cubicBezTo>
                        <a:pt x="732347" y="1173163"/>
                        <a:pt x="732347" y="1173163"/>
                        <a:pt x="753750" y="1173163"/>
                      </a:cubicBezTo>
                      <a:cubicBezTo>
                        <a:pt x="753750" y="1173163"/>
                        <a:pt x="753750" y="1173163"/>
                        <a:pt x="785141" y="1138181"/>
                      </a:cubicBezTo>
                      <a:cubicBezTo>
                        <a:pt x="785141" y="1138181"/>
                        <a:pt x="785141" y="1138181"/>
                        <a:pt x="842216" y="1075355"/>
                      </a:cubicBezTo>
                      <a:cubicBezTo>
                        <a:pt x="842216" y="1075355"/>
                        <a:pt x="842216" y="1075355"/>
                        <a:pt x="877888" y="1036089"/>
                      </a:cubicBezTo>
                      <a:cubicBezTo>
                        <a:pt x="877888" y="1036089"/>
                        <a:pt x="877888" y="1036089"/>
                        <a:pt x="877888" y="1012529"/>
                      </a:cubicBezTo>
                      <a:cubicBezTo>
                        <a:pt x="877888" y="1012529"/>
                        <a:pt x="877888" y="1012529"/>
                        <a:pt x="877888" y="988970"/>
                      </a:cubicBezTo>
                      <a:cubicBezTo>
                        <a:pt x="877888" y="988970"/>
                        <a:pt x="877888" y="988970"/>
                        <a:pt x="877888" y="196509"/>
                      </a:cubicBezTo>
                      <a:cubicBezTo>
                        <a:pt x="877888" y="196509"/>
                        <a:pt x="877888" y="196509"/>
                        <a:pt x="877888" y="175805"/>
                      </a:cubicBezTo>
                      <a:cubicBezTo>
                        <a:pt x="877888" y="175805"/>
                        <a:pt x="877888" y="175805"/>
                        <a:pt x="877888" y="154387"/>
                      </a:cubicBezTo>
                      <a:cubicBezTo>
                        <a:pt x="877888" y="154387"/>
                        <a:pt x="877888" y="154387"/>
                        <a:pt x="842216" y="122260"/>
                      </a:cubicBezTo>
                      <a:cubicBezTo>
                        <a:pt x="842216" y="122260"/>
                        <a:pt x="842216" y="122260"/>
                        <a:pt x="779434" y="65146"/>
                      </a:cubicBezTo>
                      <a:cubicBezTo>
                        <a:pt x="779434" y="65146"/>
                        <a:pt x="779434" y="65146"/>
                        <a:pt x="740908" y="30163"/>
                      </a:cubicBezTo>
                      <a:cubicBezTo>
                        <a:pt x="740908" y="30163"/>
                        <a:pt x="740908" y="30163"/>
                        <a:pt x="717365" y="30163"/>
                      </a:cubicBezTo>
                      <a:cubicBezTo>
                        <a:pt x="717365" y="30163"/>
                        <a:pt x="717365" y="30163"/>
                        <a:pt x="693821" y="30163"/>
                      </a:cubicBezTo>
                      <a:cubicBezTo>
                        <a:pt x="693821" y="30163"/>
                        <a:pt x="693821" y="30163"/>
                        <a:pt x="31750" y="30163"/>
                      </a:cubicBezTo>
                      <a:close/>
                      <a:moveTo>
                        <a:pt x="15708" y="0"/>
                      </a:moveTo>
                      <a:cubicBezTo>
                        <a:pt x="15708" y="0"/>
                        <a:pt x="15708" y="0"/>
                        <a:pt x="659738" y="0"/>
                      </a:cubicBezTo>
                      <a:cubicBezTo>
                        <a:pt x="659738" y="0"/>
                        <a:pt x="659738" y="0"/>
                        <a:pt x="893930" y="0"/>
                      </a:cubicBezTo>
                      <a:cubicBezTo>
                        <a:pt x="902498" y="0"/>
                        <a:pt x="909638" y="7136"/>
                        <a:pt x="909638" y="15700"/>
                      </a:cubicBezTo>
                      <a:cubicBezTo>
                        <a:pt x="909638" y="15700"/>
                        <a:pt x="909638" y="15700"/>
                        <a:pt x="909638" y="226221"/>
                      </a:cubicBezTo>
                      <a:cubicBezTo>
                        <a:pt x="909638" y="226221"/>
                        <a:pt x="909638" y="226221"/>
                        <a:pt x="909638" y="955553"/>
                      </a:cubicBezTo>
                      <a:cubicBezTo>
                        <a:pt x="909638" y="955553"/>
                        <a:pt x="909638" y="955553"/>
                        <a:pt x="909638" y="1189624"/>
                      </a:cubicBezTo>
                      <a:cubicBezTo>
                        <a:pt x="909638" y="1198188"/>
                        <a:pt x="902498" y="1205324"/>
                        <a:pt x="893930" y="1205324"/>
                      </a:cubicBezTo>
                      <a:cubicBezTo>
                        <a:pt x="893930" y="1205324"/>
                        <a:pt x="893930" y="1205324"/>
                        <a:pt x="683300" y="1205324"/>
                      </a:cubicBezTo>
                      <a:cubicBezTo>
                        <a:pt x="683300" y="1205324"/>
                        <a:pt x="683300" y="1205324"/>
                        <a:pt x="182785" y="1205324"/>
                      </a:cubicBezTo>
                      <a:cubicBezTo>
                        <a:pt x="182785" y="1341628"/>
                        <a:pt x="182785" y="1366605"/>
                        <a:pt x="182785" y="1366605"/>
                      </a:cubicBezTo>
                      <a:cubicBezTo>
                        <a:pt x="182785" y="1369459"/>
                        <a:pt x="179215" y="1371600"/>
                        <a:pt x="177073" y="1369459"/>
                      </a:cubicBezTo>
                      <a:cubicBezTo>
                        <a:pt x="129235" y="1330210"/>
                        <a:pt x="129235" y="1330210"/>
                        <a:pt x="129235" y="1330210"/>
                      </a:cubicBezTo>
                      <a:cubicBezTo>
                        <a:pt x="127807" y="1329496"/>
                        <a:pt x="126379" y="1329496"/>
                        <a:pt x="124951" y="1330210"/>
                      </a:cubicBezTo>
                      <a:cubicBezTo>
                        <a:pt x="77826" y="1369459"/>
                        <a:pt x="77826" y="1369459"/>
                        <a:pt x="77826" y="1369459"/>
                      </a:cubicBezTo>
                      <a:cubicBezTo>
                        <a:pt x="74970" y="1371600"/>
                        <a:pt x="72114" y="1369459"/>
                        <a:pt x="72114" y="1366605"/>
                      </a:cubicBezTo>
                      <a:cubicBezTo>
                        <a:pt x="72114" y="1277401"/>
                        <a:pt x="72114" y="1230301"/>
                        <a:pt x="72114" y="1205324"/>
                      </a:cubicBezTo>
                      <a:cubicBezTo>
                        <a:pt x="72114" y="1205324"/>
                        <a:pt x="72114" y="1205324"/>
                        <a:pt x="15708" y="1205324"/>
                      </a:cubicBezTo>
                      <a:cubicBezTo>
                        <a:pt x="7140" y="1205324"/>
                        <a:pt x="0" y="1198188"/>
                        <a:pt x="0" y="1189624"/>
                      </a:cubicBezTo>
                      <a:cubicBezTo>
                        <a:pt x="0" y="1189624"/>
                        <a:pt x="0" y="1189624"/>
                        <a:pt x="0" y="15700"/>
                      </a:cubicBezTo>
                      <a:cubicBezTo>
                        <a:pt x="0" y="7136"/>
                        <a:pt x="7140" y="0"/>
                        <a:pt x="15708"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grpSp>
        </p:grpSp>
      </p:grpSp>
      <p:sp>
        <p:nvSpPr>
          <p:cNvPr id="54" name="Rectangle: Rounded Corners 53">
            <a:extLst>
              <a:ext uri="{FF2B5EF4-FFF2-40B4-BE49-F238E27FC236}">
                <a16:creationId xmlns:a16="http://schemas.microsoft.com/office/drawing/2014/main" id="{77192FD3-0D4E-4FE8-AED7-42C716D74E10}"/>
              </a:ext>
            </a:extLst>
          </p:cNvPr>
          <p:cNvSpPr/>
          <p:nvPr>
            <p:custDataLst>
              <p:tags r:id="rId18"/>
            </p:custDataLst>
          </p:nvPr>
        </p:nvSpPr>
        <p:spPr>
          <a:xfrm>
            <a:off x="9402735" y="2518586"/>
            <a:ext cx="1551179" cy="382003"/>
          </a:xfrm>
          <a:prstGeom prst="roundRect">
            <a:avLst>
              <a:gd name="adj" fmla="val 18848"/>
            </a:avLst>
          </a:prstGeom>
          <a:solidFill>
            <a:srgbClr val="FFFFFF"/>
          </a:solidFill>
          <a:ln w="9525" cap="rnd" cmpd="sng" algn="ctr">
            <a:solidFill>
              <a:srgbClr val="C8C8C8">
                <a:lumMod val="100000"/>
              </a:srgb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68000" tIns="45720" rIns="91440" bIns="45720" numCol="1" spcCol="0" rtlCol="0" fromWordArt="0" anchor="ctr" anchorCtr="0" forceAA="0" compatLnSpc="1">
            <a:prstTxWarp prst="textNoShape">
              <a:avLst/>
            </a:prstTxWarp>
            <a:noAutofit/>
          </a:bodyPr>
          <a:lstStyle/>
          <a:p>
            <a:r>
              <a:rPr lang="en-US" sz="1000">
                <a:solidFill>
                  <a:srgbClr val="575757"/>
                </a:solidFill>
                <a:sym typeface="Trebuchet MS" panose="020B0603020202020204" pitchFamily="34" charset="0"/>
              </a:rPr>
              <a:t>Call Center</a:t>
            </a:r>
            <a:endParaRPr lang="ru" sz="1000">
              <a:solidFill>
                <a:srgbClr val="575757"/>
              </a:solidFill>
              <a:sym typeface="Trebuchet MS" panose="020B0603020202020204" pitchFamily="34" charset="0"/>
            </a:endParaRPr>
          </a:p>
        </p:txBody>
      </p:sp>
      <p:sp>
        <p:nvSpPr>
          <p:cNvPr id="55" name="Rectangle: Rounded Corners 54">
            <a:extLst>
              <a:ext uri="{FF2B5EF4-FFF2-40B4-BE49-F238E27FC236}">
                <a16:creationId xmlns:a16="http://schemas.microsoft.com/office/drawing/2014/main" id="{8DA4A340-0CD1-432C-B2E4-FF73F4133C7E}"/>
              </a:ext>
            </a:extLst>
          </p:cNvPr>
          <p:cNvSpPr/>
          <p:nvPr>
            <p:custDataLst>
              <p:tags r:id="rId19"/>
            </p:custDataLst>
          </p:nvPr>
        </p:nvSpPr>
        <p:spPr>
          <a:xfrm>
            <a:off x="9402735" y="3031126"/>
            <a:ext cx="1551179" cy="382003"/>
          </a:xfrm>
          <a:prstGeom prst="roundRect">
            <a:avLst>
              <a:gd name="adj" fmla="val 18848"/>
            </a:avLst>
          </a:prstGeom>
          <a:solidFill>
            <a:srgbClr val="FFFFFF"/>
          </a:solidFill>
          <a:ln w="9525" cap="rnd" cmpd="sng" algn="ctr">
            <a:solidFill>
              <a:srgbClr val="C8C8C8">
                <a:lumMod val="100000"/>
              </a:srgb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68000" tIns="45720" rIns="91440" bIns="45720" numCol="1" spcCol="0" rtlCol="0" fromWordArt="0" anchor="ctr" anchorCtr="0" forceAA="0" compatLnSpc="1">
            <a:prstTxWarp prst="textNoShape">
              <a:avLst/>
            </a:prstTxWarp>
            <a:noAutofit/>
          </a:bodyPr>
          <a:lstStyle/>
          <a:p>
            <a:r>
              <a:rPr lang="en-US" sz="1000">
                <a:solidFill>
                  <a:srgbClr val="575757"/>
                </a:solidFill>
                <a:sym typeface="Trebuchet MS" panose="020B0603020202020204" pitchFamily="34" charset="0"/>
              </a:rPr>
              <a:t>Relationship Managers</a:t>
            </a:r>
            <a:endParaRPr lang="ru" sz="1000">
              <a:solidFill>
                <a:srgbClr val="575757"/>
              </a:solidFill>
              <a:sym typeface="Trebuchet MS" panose="020B0603020202020204" pitchFamily="34" charset="0"/>
            </a:endParaRPr>
          </a:p>
        </p:txBody>
      </p:sp>
      <p:sp>
        <p:nvSpPr>
          <p:cNvPr id="56" name="Rectangle: Rounded Corners 55">
            <a:extLst>
              <a:ext uri="{FF2B5EF4-FFF2-40B4-BE49-F238E27FC236}">
                <a16:creationId xmlns:a16="http://schemas.microsoft.com/office/drawing/2014/main" id="{0B37CD42-EA11-40CE-ABC9-EE23A5F20FD3}"/>
              </a:ext>
            </a:extLst>
          </p:cNvPr>
          <p:cNvSpPr/>
          <p:nvPr>
            <p:custDataLst>
              <p:tags r:id="rId20"/>
            </p:custDataLst>
          </p:nvPr>
        </p:nvSpPr>
        <p:spPr>
          <a:xfrm>
            <a:off x="9402735" y="3459532"/>
            <a:ext cx="1551179" cy="382003"/>
          </a:xfrm>
          <a:prstGeom prst="roundRect">
            <a:avLst>
              <a:gd name="adj" fmla="val 18848"/>
            </a:avLst>
          </a:prstGeom>
          <a:solidFill>
            <a:srgbClr val="FFFFFF"/>
          </a:solidFill>
          <a:ln w="9525" cap="rnd" cmpd="sng" algn="ctr">
            <a:solidFill>
              <a:srgbClr val="C8C8C8">
                <a:lumMod val="100000"/>
              </a:srgb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68000" tIns="45720" rIns="91440" bIns="45720" numCol="1" spcCol="0" rtlCol="0" fromWordArt="0" anchor="ctr" anchorCtr="0" forceAA="0" compatLnSpc="1">
            <a:prstTxWarp prst="textNoShape">
              <a:avLst/>
            </a:prstTxWarp>
            <a:noAutofit/>
          </a:bodyPr>
          <a:lstStyle/>
          <a:p>
            <a:r>
              <a:rPr lang="en-US" sz="1000">
                <a:solidFill>
                  <a:srgbClr val="575757"/>
                </a:solidFill>
                <a:sym typeface="Trebuchet MS" panose="020B0603020202020204" pitchFamily="34" charset="0"/>
              </a:rPr>
              <a:t>Web banners and landings</a:t>
            </a:r>
            <a:endParaRPr lang="ru" sz="1000">
              <a:solidFill>
                <a:srgbClr val="575757"/>
              </a:solidFill>
              <a:sym typeface="Trebuchet MS" panose="020B0603020202020204" pitchFamily="34" charset="0"/>
            </a:endParaRPr>
          </a:p>
        </p:txBody>
      </p:sp>
      <p:sp>
        <p:nvSpPr>
          <p:cNvPr id="57" name="Rectangle: Rounded Corners 56">
            <a:extLst>
              <a:ext uri="{FF2B5EF4-FFF2-40B4-BE49-F238E27FC236}">
                <a16:creationId xmlns:a16="http://schemas.microsoft.com/office/drawing/2014/main" id="{9DBE0846-7384-4B35-9B51-E97295A9FAD0}"/>
              </a:ext>
            </a:extLst>
          </p:cNvPr>
          <p:cNvSpPr/>
          <p:nvPr>
            <p:custDataLst>
              <p:tags r:id="rId21"/>
            </p:custDataLst>
          </p:nvPr>
        </p:nvSpPr>
        <p:spPr>
          <a:xfrm>
            <a:off x="9402735" y="3887935"/>
            <a:ext cx="1551179" cy="382003"/>
          </a:xfrm>
          <a:prstGeom prst="roundRect">
            <a:avLst>
              <a:gd name="adj" fmla="val 18848"/>
            </a:avLst>
          </a:prstGeom>
          <a:solidFill>
            <a:srgbClr val="FFFFFF"/>
          </a:solidFill>
          <a:ln w="9525" cap="rnd" cmpd="sng" algn="ctr">
            <a:solidFill>
              <a:srgbClr val="C8C8C8">
                <a:lumMod val="100000"/>
              </a:srgb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68000" tIns="45720" rIns="91440" bIns="45720" numCol="1" spcCol="0" rtlCol="0" fromWordArt="0" anchor="ctr" anchorCtr="0" forceAA="0" compatLnSpc="1">
            <a:prstTxWarp prst="textNoShape">
              <a:avLst/>
            </a:prstTxWarp>
            <a:noAutofit/>
          </a:bodyPr>
          <a:lstStyle/>
          <a:p>
            <a:r>
              <a:rPr lang="en-US" sz="1000">
                <a:solidFill>
                  <a:srgbClr val="575757"/>
                </a:solidFill>
                <a:sym typeface="Trebuchet MS" panose="020B0603020202020204" pitchFamily="34" charset="0"/>
              </a:rPr>
              <a:t>In-app and push notifications</a:t>
            </a:r>
            <a:endParaRPr lang="ru" sz="1000">
              <a:solidFill>
                <a:srgbClr val="575757"/>
              </a:solidFill>
              <a:sym typeface="Trebuchet MS" panose="020B0603020202020204" pitchFamily="34" charset="0"/>
            </a:endParaRPr>
          </a:p>
        </p:txBody>
      </p:sp>
      <p:sp>
        <p:nvSpPr>
          <p:cNvPr id="58" name="Rectangle: Rounded Corners 57">
            <a:extLst>
              <a:ext uri="{FF2B5EF4-FFF2-40B4-BE49-F238E27FC236}">
                <a16:creationId xmlns:a16="http://schemas.microsoft.com/office/drawing/2014/main" id="{5A83AF50-58AD-42D1-86F6-22FB349B25D8}"/>
              </a:ext>
            </a:extLst>
          </p:cNvPr>
          <p:cNvSpPr/>
          <p:nvPr>
            <p:custDataLst>
              <p:tags r:id="rId22"/>
            </p:custDataLst>
          </p:nvPr>
        </p:nvSpPr>
        <p:spPr>
          <a:xfrm>
            <a:off x="9402735" y="4316340"/>
            <a:ext cx="1551179" cy="382003"/>
          </a:xfrm>
          <a:prstGeom prst="roundRect">
            <a:avLst>
              <a:gd name="adj" fmla="val 18848"/>
            </a:avLst>
          </a:prstGeom>
          <a:solidFill>
            <a:srgbClr val="FFFFFF"/>
          </a:solidFill>
          <a:ln w="9525" cap="rnd" cmpd="sng" algn="ctr">
            <a:solidFill>
              <a:srgbClr val="C8C8C8">
                <a:lumMod val="100000"/>
              </a:srgb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68000" tIns="45720" rIns="91440" bIns="45720" numCol="1" spcCol="0" rtlCol="0" fromWordArt="0" anchor="ctr" anchorCtr="0" forceAA="0" compatLnSpc="1">
            <a:prstTxWarp prst="textNoShape">
              <a:avLst/>
            </a:prstTxWarp>
            <a:noAutofit/>
          </a:bodyPr>
          <a:lstStyle/>
          <a:p>
            <a:r>
              <a:rPr lang="ru" sz="1000">
                <a:solidFill>
                  <a:srgbClr val="575757"/>
                </a:solidFill>
                <a:sym typeface="Trebuchet MS" panose="020B0603020202020204" pitchFamily="34" charset="0"/>
              </a:rPr>
              <a:t>SMS</a:t>
            </a:r>
          </a:p>
        </p:txBody>
      </p:sp>
      <p:sp>
        <p:nvSpPr>
          <p:cNvPr id="59" name="Rectangle: Rounded Corners 58">
            <a:extLst>
              <a:ext uri="{FF2B5EF4-FFF2-40B4-BE49-F238E27FC236}">
                <a16:creationId xmlns:a16="http://schemas.microsoft.com/office/drawing/2014/main" id="{9B2A6560-83CF-4A02-8EC1-526B6F22346F}"/>
              </a:ext>
            </a:extLst>
          </p:cNvPr>
          <p:cNvSpPr/>
          <p:nvPr>
            <p:custDataLst>
              <p:tags r:id="rId23"/>
            </p:custDataLst>
          </p:nvPr>
        </p:nvSpPr>
        <p:spPr>
          <a:xfrm>
            <a:off x="9402735" y="4744744"/>
            <a:ext cx="1551179" cy="382003"/>
          </a:xfrm>
          <a:prstGeom prst="roundRect">
            <a:avLst>
              <a:gd name="adj" fmla="val 18848"/>
            </a:avLst>
          </a:prstGeom>
          <a:solidFill>
            <a:srgbClr val="FFFFFF"/>
          </a:solidFill>
          <a:ln w="9525" cap="rnd" cmpd="sng" algn="ctr">
            <a:solidFill>
              <a:srgbClr val="C8C8C8">
                <a:lumMod val="100000"/>
              </a:srgb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68000" tIns="45720" rIns="91440" bIns="45720" numCol="1" spcCol="0" rtlCol="0" fromWordArt="0" anchor="ctr" anchorCtr="0" forceAA="0" compatLnSpc="1">
            <a:prstTxWarp prst="textNoShape">
              <a:avLst/>
            </a:prstTxWarp>
            <a:noAutofit/>
          </a:bodyPr>
          <a:lstStyle/>
          <a:p>
            <a:r>
              <a:rPr lang="en-US" sz="1000">
                <a:solidFill>
                  <a:srgbClr val="575757"/>
                </a:solidFill>
                <a:sym typeface="Trebuchet MS" panose="020B0603020202020204" pitchFamily="34" charset="0"/>
              </a:rPr>
              <a:t>Emails</a:t>
            </a:r>
            <a:endParaRPr lang="ru" sz="1000">
              <a:solidFill>
                <a:srgbClr val="575757"/>
              </a:solidFill>
              <a:sym typeface="Trebuchet MS" panose="020B0603020202020204" pitchFamily="34" charset="0"/>
            </a:endParaRPr>
          </a:p>
        </p:txBody>
      </p:sp>
      <p:sp>
        <p:nvSpPr>
          <p:cNvPr id="60" name="Freeform: Shape 59">
            <a:extLst>
              <a:ext uri="{FF2B5EF4-FFF2-40B4-BE49-F238E27FC236}">
                <a16:creationId xmlns:a16="http://schemas.microsoft.com/office/drawing/2014/main" id="{BD80D5A1-8703-494F-83BF-69A13751572B}"/>
              </a:ext>
            </a:extLst>
          </p:cNvPr>
          <p:cNvSpPr/>
          <p:nvPr/>
        </p:nvSpPr>
        <p:spPr>
          <a:xfrm flipH="1">
            <a:off x="9402735" y="2518586"/>
            <a:ext cx="415911" cy="810408"/>
          </a:xfrm>
          <a:custGeom>
            <a:avLst/>
            <a:gdLst>
              <a:gd name="connsiteX0" fmla="*/ 0 w 530224"/>
              <a:gd name="connsiteY0" fmla="*/ 0 h 1441677"/>
              <a:gd name="connsiteX1" fmla="*/ 476219 w 530224"/>
              <a:gd name="connsiteY1" fmla="*/ 0 h 1441677"/>
              <a:gd name="connsiteX2" fmla="*/ 530224 w 530224"/>
              <a:gd name="connsiteY2" fmla="*/ 54005 h 1441677"/>
              <a:gd name="connsiteX3" fmla="*/ 530224 w 530224"/>
              <a:gd name="connsiteY3" fmla="*/ 1387672 h 1441677"/>
              <a:gd name="connsiteX4" fmla="*/ 476219 w 530224"/>
              <a:gd name="connsiteY4" fmla="*/ 1441677 h 1441677"/>
              <a:gd name="connsiteX5" fmla="*/ 0 w 530224"/>
              <a:gd name="connsiteY5" fmla="*/ 1441677 h 1441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0224" h="1441677">
                <a:moveTo>
                  <a:pt x="0" y="0"/>
                </a:moveTo>
                <a:lnTo>
                  <a:pt x="476219" y="0"/>
                </a:lnTo>
                <a:cubicBezTo>
                  <a:pt x="506045" y="0"/>
                  <a:pt x="530224" y="24179"/>
                  <a:pt x="530224" y="54005"/>
                </a:cubicBezTo>
                <a:lnTo>
                  <a:pt x="530224" y="1387672"/>
                </a:lnTo>
                <a:cubicBezTo>
                  <a:pt x="530224" y="1417498"/>
                  <a:pt x="506045" y="1441677"/>
                  <a:pt x="476219" y="1441677"/>
                </a:cubicBezTo>
                <a:lnTo>
                  <a:pt x="0" y="1441677"/>
                </a:lnTo>
                <a:close/>
              </a:path>
            </a:pathLst>
          </a:custGeom>
          <a:solidFill>
            <a:srgbClr val="F2F2F2"/>
          </a:solidFill>
          <a:ln w="9525" cap="rnd" cmpd="sng" algn="ctr">
            <a:solidFill>
              <a:srgbClr val="C8C8C8">
                <a:lumMod val="100000"/>
              </a:srgb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buSzPct val="100000"/>
              <a:buFont typeface="Trebuchet MS" panose="020B0603020202020204" pitchFamily="34" charset="0"/>
              <a:buChar char="​"/>
            </a:pPr>
            <a:r>
              <a:rPr lang="en-US" sz="1000" b="1">
                <a:solidFill>
                  <a:schemeClr val="accent1"/>
                </a:solidFill>
                <a:sym typeface="Trebuchet MS" panose="020B0603020202020204" pitchFamily="34" charset="0"/>
              </a:rPr>
              <a:t>Human channels</a:t>
            </a:r>
            <a:endParaRPr lang="ru" sz="1000" b="1">
              <a:solidFill>
                <a:schemeClr val="accent1"/>
              </a:solidFill>
              <a:sym typeface="Trebuchet MS" panose="020B0603020202020204" pitchFamily="34" charset="0"/>
            </a:endParaRPr>
          </a:p>
        </p:txBody>
      </p:sp>
      <p:sp>
        <p:nvSpPr>
          <p:cNvPr id="61" name="Freeform: Shape 60">
            <a:extLst>
              <a:ext uri="{FF2B5EF4-FFF2-40B4-BE49-F238E27FC236}">
                <a16:creationId xmlns:a16="http://schemas.microsoft.com/office/drawing/2014/main" id="{0BC94049-686E-4AD0-8DB1-EEBEFB152521}"/>
              </a:ext>
            </a:extLst>
          </p:cNvPr>
          <p:cNvSpPr/>
          <p:nvPr/>
        </p:nvSpPr>
        <p:spPr>
          <a:xfrm flipH="1">
            <a:off x="9402735" y="3459532"/>
            <a:ext cx="415910" cy="1667215"/>
          </a:xfrm>
          <a:custGeom>
            <a:avLst/>
            <a:gdLst>
              <a:gd name="connsiteX0" fmla="*/ 0 w 530224"/>
              <a:gd name="connsiteY0" fmla="*/ 0 h 1940236"/>
              <a:gd name="connsiteX1" fmla="*/ 476219 w 530224"/>
              <a:gd name="connsiteY1" fmla="*/ 0 h 1940236"/>
              <a:gd name="connsiteX2" fmla="*/ 530224 w 530224"/>
              <a:gd name="connsiteY2" fmla="*/ 54005 h 1940236"/>
              <a:gd name="connsiteX3" fmla="*/ 530224 w 530224"/>
              <a:gd name="connsiteY3" fmla="*/ 552564 h 1940236"/>
              <a:gd name="connsiteX4" fmla="*/ 530224 w 530224"/>
              <a:gd name="connsiteY4" fmla="*/ 1387672 h 1940236"/>
              <a:gd name="connsiteX5" fmla="*/ 530224 w 530224"/>
              <a:gd name="connsiteY5" fmla="*/ 1886231 h 1940236"/>
              <a:gd name="connsiteX6" fmla="*/ 476219 w 530224"/>
              <a:gd name="connsiteY6" fmla="*/ 1940236 h 1940236"/>
              <a:gd name="connsiteX7" fmla="*/ 0 w 530224"/>
              <a:gd name="connsiteY7" fmla="*/ 1940236 h 1940236"/>
              <a:gd name="connsiteX8" fmla="*/ 0 w 530224"/>
              <a:gd name="connsiteY8" fmla="*/ 1441677 h 1940236"/>
              <a:gd name="connsiteX9" fmla="*/ 0 w 530224"/>
              <a:gd name="connsiteY9" fmla="*/ 498559 h 1940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0224" h="1940236">
                <a:moveTo>
                  <a:pt x="0" y="0"/>
                </a:moveTo>
                <a:lnTo>
                  <a:pt x="476219" y="0"/>
                </a:lnTo>
                <a:cubicBezTo>
                  <a:pt x="506045" y="0"/>
                  <a:pt x="530224" y="24179"/>
                  <a:pt x="530224" y="54005"/>
                </a:cubicBezTo>
                <a:lnTo>
                  <a:pt x="530224" y="552564"/>
                </a:lnTo>
                <a:lnTo>
                  <a:pt x="530224" y="1387672"/>
                </a:lnTo>
                <a:lnTo>
                  <a:pt x="530224" y="1886231"/>
                </a:lnTo>
                <a:cubicBezTo>
                  <a:pt x="530224" y="1916057"/>
                  <a:pt x="506045" y="1940236"/>
                  <a:pt x="476219" y="1940236"/>
                </a:cubicBezTo>
                <a:lnTo>
                  <a:pt x="0" y="1940236"/>
                </a:lnTo>
                <a:lnTo>
                  <a:pt x="0" y="1441677"/>
                </a:lnTo>
                <a:lnTo>
                  <a:pt x="0" y="498559"/>
                </a:lnTo>
                <a:close/>
              </a:path>
            </a:pathLst>
          </a:custGeom>
          <a:solidFill>
            <a:srgbClr val="F2F2F2"/>
          </a:solidFill>
          <a:ln w="9525" cap="rnd" cmpd="sng" algn="ctr">
            <a:solidFill>
              <a:srgbClr val="C8C8C8">
                <a:lumMod val="100000"/>
              </a:srgb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buSzPct val="100000"/>
              <a:buFont typeface="Trebuchet MS" panose="020B0603020202020204" pitchFamily="34" charset="0"/>
              <a:buChar char="​"/>
            </a:pPr>
            <a:r>
              <a:rPr lang="en-US" sz="1000" b="1">
                <a:solidFill>
                  <a:schemeClr val="accent1"/>
                </a:solidFill>
                <a:sym typeface="Trebuchet MS" panose="020B0603020202020204" pitchFamily="34" charset="0"/>
              </a:rPr>
              <a:t>Non-human</a:t>
            </a:r>
            <a:br>
              <a:rPr lang="ru-RU" sz="1000" b="1">
                <a:solidFill>
                  <a:schemeClr val="accent1"/>
                </a:solidFill>
                <a:sym typeface="Trebuchet MS" panose="020B0603020202020204" pitchFamily="34" charset="0"/>
              </a:rPr>
            </a:br>
            <a:r>
              <a:rPr lang="en-US" sz="1000" b="1">
                <a:solidFill>
                  <a:schemeClr val="accent1"/>
                </a:solidFill>
                <a:sym typeface="Trebuchet MS" panose="020B0603020202020204" pitchFamily="34" charset="0"/>
              </a:rPr>
              <a:t>channels</a:t>
            </a:r>
            <a:endParaRPr lang="ru" sz="1000" b="1">
              <a:solidFill>
                <a:schemeClr val="accent1"/>
              </a:solidFill>
              <a:sym typeface="Trebuchet MS" panose="020B0603020202020204" pitchFamily="34" charset="0"/>
            </a:endParaRPr>
          </a:p>
        </p:txBody>
      </p:sp>
      <p:sp>
        <p:nvSpPr>
          <p:cNvPr id="63" name="Freeform 51">
            <a:extLst>
              <a:ext uri="{FF2B5EF4-FFF2-40B4-BE49-F238E27FC236}">
                <a16:creationId xmlns:a16="http://schemas.microsoft.com/office/drawing/2014/main" id="{F55821A0-A743-4E80-8237-BEF307D1C995}"/>
              </a:ext>
            </a:extLst>
          </p:cNvPr>
          <p:cNvSpPr>
            <a:spLocks/>
          </p:cNvSpPr>
          <p:nvPr/>
        </p:nvSpPr>
        <p:spPr bwMode="auto">
          <a:xfrm>
            <a:off x="9188802" y="2903771"/>
            <a:ext cx="74537" cy="140043"/>
          </a:xfrm>
          <a:custGeom>
            <a:avLst/>
            <a:gdLst>
              <a:gd name="T0" fmla="*/ 6 w 61"/>
              <a:gd name="T1" fmla="*/ 0 h 110"/>
              <a:gd name="T2" fmla="*/ 0 w 61"/>
              <a:gd name="T3" fmla="*/ 7 h 110"/>
              <a:gd name="T4" fmla="*/ 48 w 61"/>
              <a:gd name="T5" fmla="*/ 55 h 110"/>
              <a:gd name="T6" fmla="*/ 0 w 61"/>
              <a:gd name="T7" fmla="*/ 104 h 110"/>
              <a:gd name="T8" fmla="*/ 6 w 61"/>
              <a:gd name="T9" fmla="*/ 110 h 110"/>
              <a:gd name="T10" fmla="*/ 54 w 61"/>
              <a:gd name="T11" fmla="*/ 62 h 110"/>
              <a:gd name="T12" fmla="*/ 61 w 61"/>
              <a:gd name="T13" fmla="*/ 55 h 110"/>
              <a:gd name="T14" fmla="*/ 54 w 61"/>
              <a:gd name="T15" fmla="*/ 49 h 110"/>
              <a:gd name="T16" fmla="*/ 6 w 61"/>
              <a:gd name="T1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110">
                <a:moveTo>
                  <a:pt x="6" y="0"/>
                </a:moveTo>
                <a:lnTo>
                  <a:pt x="0" y="7"/>
                </a:lnTo>
                <a:lnTo>
                  <a:pt x="48" y="55"/>
                </a:lnTo>
                <a:lnTo>
                  <a:pt x="0" y="104"/>
                </a:lnTo>
                <a:lnTo>
                  <a:pt x="6" y="110"/>
                </a:lnTo>
                <a:lnTo>
                  <a:pt x="54" y="62"/>
                </a:lnTo>
                <a:lnTo>
                  <a:pt x="61" y="55"/>
                </a:lnTo>
                <a:lnTo>
                  <a:pt x="54" y="49"/>
                </a:lnTo>
                <a:lnTo>
                  <a:pt x="6" y="0"/>
                </a:lnTo>
                <a:close/>
              </a:path>
            </a:pathLst>
          </a:custGeom>
          <a:solidFill>
            <a:srgbClr val="9A9A9A"/>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64" name="Freeform 51">
            <a:extLst>
              <a:ext uri="{FF2B5EF4-FFF2-40B4-BE49-F238E27FC236}">
                <a16:creationId xmlns:a16="http://schemas.microsoft.com/office/drawing/2014/main" id="{359836BA-3389-48E1-8753-E9A9FFB433EE}"/>
              </a:ext>
            </a:extLst>
          </p:cNvPr>
          <p:cNvSpPr>
            <a:spLocks/>
          </p:cNvSpPr>
          <p:nvPr/>
        </p:nvSpPr>
        <p:spPr bwMode="auto">
          <a:xfrm>
            <a:off x="9188802" y="4039568"/>
            <a:ext cx="74537" cy="140043"/>
          </a:xfrm>
          <a:custGeom>
            <a:avLst/>
            <a:gdLst>
              <a:gd name="T0" fmla="*/ 6 w 61"/>
              <a:gd name="T1" fmla="*/ 0 h 110"/>
              <a:gd name="T2" fmla="*/ 0 w 61"/>
              <a:gd name="T3" fmla="*/ 7 h 110"/>
              <a:gd name="T4" fmla="*/ 48 w 61"/>
              <a:gd name="T5" fmla="*/ 55 h 110"/>
              <a:gd name="T6" fmla="*/ 0 w 61"/>
              <a:gd name="T7" fmla="*/ 104 h 110"/>
              <a:gd name="T8" fmla="*/ 6 w 61"/>
              <a:gd name="T9" fmla="*/ 110 h 110"/>
              <a:gd name="T10" fmla="*/ 54 w 61"/>
              <a:gd name="T11" fmla="*/ 62 h 110"/>
              <a:gd name="T12" fmla="*/ 61 w 61"/>
              <a:gd name="T13" fmla="*/ 55 h 110"/>
              <a:gd name="T14" fmla="*/ 54 w 61"/>
              <a:gd name="T15" fmla="*/ 49 h 110"/>
              <a:gd name="T16" fmla="*/ 6 w 61"/>
              <a:gd name="T1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110">
                <a:moveTo>
                  <a:pt x="6" y="0"/>
                </a:moveTo>
                <a:lnTo>
                  <a:pt x="0" y="7"/>
                </a:lnTo>
                <a:lnTo>
                  <a:pt x="48" y="55"/>
                </a:lnTo>
                <a:lnTo>
                  <a:pt x="0" y="104"/>
                </a:lnTo>
                <a:lnTo>
                  <a:pt x="6" y="110"/>
                </a:lnTo>
                <a:lnTo>
                  <a:pt x="54" y="62"/>
                </a:lnTo>
                <a:lnTo>
                  <a:pt x="61" y="55"/>
                </a:lnTo>
                <a:lnTo>
                  <a:pt x="54" y="49"/>
                </a:lnTo>
                <a:lnTo>
                  <a:pt x="6" y="0"/>
                </a:lnTo>
                <a:close/>
              </a:path>
            </a:pathLst>
          </a:custGeom>
          <a:solidFill>
            <a:srgbClr val="9A9A9A"/>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grpSp>
        <p:nvGrpSpPr>
          <p:cNvPr id="65" name="Group 64">
            <a:extLst>
              <a:ext uri="{FF2B5EF4-FFF2-40B4-BE49-F238E27FC236}">
                <a16:creationId xmlns:a16="http://schemas.microsoft.com/office/drawing/2014/main" id="{477C2E19-44E9-4CFC-B254-E57AE98CF0ED}"/>
              </a:ext>
            </a:extLst>
          </p:cNvPr>
          <p:cNvGrpSpPr/>
          <p:nvPr/>
        </p:nvGrpSpPr>
        <p:grpSpPr>
          <a:xfrm>
            <a:off x="11056488" y="2903771"/>
            <a:ext cx="74537" cy="1194778"/>
            <a:chOff x="9101668" y="2789985"/>
            <a:chExt cx="110126" cy="1694266"/>
          </a:xfrm>
        </p:grpSpPr>
        <p:sp>
          <p:nvSpPr>
            <p:cNvPr id="66" name="Freeform 51">
              <a:extLst>
                <a:ext uri="{FF2B5EF4-FFF2-40B4-BE49-F238E27FC236}">
                  <a16:creationId xmlns:a16="http://schemas.microsoft.com/office/drawing/2014/main" id="{8310172C-0C83-44CD-B173-281E106C266E}"/>
                </a:ext>
              </a:extLst>
            </p:cNvPr>
            <p:cNvSpPr>
              <a:spLocks/>
            </p:cNvSpPr>
            <p:nvPr/>
          </p:nvSpPr>
          <p:spPr bwMode="auto">
            <a:xfrm>
              <a:off x="9101668" y="2789985"/>
              <a:ext cx="110126" cy="198589"/>
            </a:xfrm>
            <a:custGeom>
              <a:avLst/>
              <a:gdLst>
                <a:gd name="T0" fmla="*/ 6 w 61"/>
                <a:gd name="T1" fmla="*/ 0 h 110"/>
                <a:gd name="T2" fmla="*/ 0 w 61"/>
                <a:gd name="T3" fmla="*/ 7 h 110"/>
                <a:gd name="T4" fmla="*/ 48 w 61"/>
                <a:gd name="T5" fmla="*/ 55 h 110"/>
                <a:gd name="T6" fmla="*/ 0 w 61"/>
                <a:gd name="T7" fmla="*/ 104 h 110"/>
                <a:gd name="T8" fmla="*/ 6 w 61"/>
                <a:gd name="T9" fmla="*/ 110 h 110"/>
                <a:gd name="T10" fmla="*/ 54 w 61"/>
                <a:gd name="T11" fmla="*/ 62 h 110"/>
                <a:gd name="T12" fmla="*/ 61 w 61"/>
                <a:gd name="T13" fmla="*/ 55 h 110"/>
                <a:gd name="T14" fmla="*/ 54 w 61"/>
                <a:gd name="T15" fmla="*/ 49 h 110"/>
                <a:gd name="T16" fmla="*/ 6 w 61"/>
                <a:gd name="T1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110">
                  <a:moveTo>
                    <a:pt x="6" y="0"/>
                  </a:moveTo>
                  <a:lnTo>
                    <a:pt x="0" y="7"/>
                  </a:lnTo>
                  <a:lnTo>
                    <a:pt x="48" y="55"/>
                  </a:lnTo>
                  <a:lnTo>
                    <a:pt x="0" y="104"/>
                  </a:lnTo>
                  <a:lnTo>
                    <a:pt x="6" y="110"/>
                  </a:lnTo>
                  <a:lnTo>
                    <a:pt x="54" y="62"/>
                  </a:lnTo>
                  <a:lnTo>
                    <a:pt x="61" y="55"/>
                  </a:lnTo>
                  <a:lnTo>
                    <a:pt x="54" y="49"/>
                  </a:lnTo>
                  <a:lnTo>
                    <a:pt x="6" y="0"/>
                  </a:lnTo>
                  <a:close/>
                </a:path>
              </a:pathLst>
            </a:custGeom>
            <a:solidFill>
              <a:srgbClr val="9A9A9A"/>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67" name="Freeform 51">
              <a:extLst>
                <a:ext uri="{FF2B5EF4-FFF2-40B4-BE49-F238E27FC236}">
                  <a16:creationId xmlns:a16="http://schemas.microsoft.com/office/drawing/2014/main" id="{2C8B95D7-C82F-4EC1-B8DE-69E31CD6028B}"/>
                </a:ext>
              </a:extLst>
            </p:cNvPr>
            <p:cNvSpPr>
              <a:spLocks/>
            </p:cNvSpPr>
            <p:nvPr/>
          </p:nvSpPr>
          <p:spPr bwMode="auto">
            <a:xfrm>
              <a:off x="9101668" y="4285662"/>
              <a:ext cx="110126" cy="198589"/>
            </a:xfrm>
            <a:custGeom>
              <a:avLst/>
              <a:gdLst>
                <a:gd name="T0" fmla="*/ 6 w 61"/>
                <a:gd name="T1" fmla="*/ 0 h 110"/>
                <a:gd name="T2" fmla="*/ 0 w 61"/>
                <a:gd name="T3" fmla="*/ 7 h 110"/>
                <a:gd name="T4" fmla="*/ 48 w 61"/>
                <a:gd name="T5" fmla="*/ 55 h 110"/>
                <a:gd name="T6" fmla="*/ 0 w 61"/>
                <a:gd name="T7" fmla="*/ 104 h 110"/>
                <a:gd name="T8" fmla="*/ 6 w 61"/>
                <a:gd name="T9" fmla="*/ 110 h 110"/>
                <a:gd name="T10" fmla="*/ 54 w 61"/>
                <a:gd name="T11" fmla="*/ 62 h 110"/>
                <a:gd name="T12" fmla="*/ 61 w 61"/>
                <a:gd name="T13" fmla="*/ 55 h 110"/>
                <a:gd name="T14" fmla="*/ 54 w 61"/>
                <a:gd name="T15" fmla="*/ 49 h 110"/>
                <a:gd name="T16" fmla="*/ 6 w 61"/>
                <a:gd name="T1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110">
                  <a:moveTo>
                    <a:pt x="6" y="0"/>
                  </a:moveTo>
                  <a:lnTo>
                    <a:pt x="0" y="7"/>
                  </a:lnTo>
                  <a:lnTo>
                    <a:pt x="48" y="55"/>
                  </a:lnTo>
                  <a:lnTo>
                    <a:pt x="0" y="104"/>
                  </a:lnTo>
                  <a:lnTo>
                    <a:pt x="6" y="110"/>
                  </a:lnTo>
                  <a:lnTo>
                    <a:pt x="54" y="62"/>
                  </a:lnTo>
                  <a:lnTo>
                    <a:pt x="61" y="55"/>
                  </a:lnTo>
                  <a:lnTo>
                    <a:pt x="54" y="49"/>
                  </a:lnTo>
                  <a:lnTo>
                    <a:pt x="6" y="0"/>
                  </a:lnTo>
                  <a:close/>
                </a:path>
              </a:pathLst>
            </a:custGeom>
            <a:solidFill>
              <a:srgbClr val="9A9A9A"/>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grpSp>
      <p:sp>
        <p:nvSpPr>
          <p:cNvPr id="73" name="Rectangle: Rounded Corners 72">
            <a:extLst>
              <a:ext uri="{FF2B5EF4-FFF2-40B4-BE49-F238E27FC236}">
                <a16:creationId xmlns:a16="http://schemas.microsoft.com/office/drawing/2014/main" id="{309CB665-9260-468C-B032-2E1D4ED9F691}"/>
              </a:ext>
            </a:extLst>
          </p:cNvPr>
          <p:cNvSpPr/>
          <p:nvPr>
            <p:custDataLst>
              <p:tags r:id="rId24"/>
            </p:custDataLst>
          </p:nvPr>
        </p:nvSpPr>
        <p:spPr>
          <a:xfrm>
            <a:off x="7296472" y="2518586"/>
            <a:ext cx="1727560" cy="1444948"/>
          </a:xfrm>
          <a:prstGeom prst="roundRect">
            <a:avLst>
              <a:gd name="adj" fmla="val 4983"/>
            </a:avLst>
          </a:prstGeom>
          <a:solidFill>
            <a:srgbClr val="FFFFFF"/>
          </a:solidFill>
          <a:ln w="9525" cap="rnd" cmpd="sng" algn="ctr">
            <a:solidFill>
              <a:srgbClr val="C8C8C8">
                <a:lumMod val="100000"/>
              </a:srgb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1000" b="1">
                <a:solidFill>
                  <a:schemeClr val="tx1"/>
                </a:solidFill>
                <a:sym typeface="Trebuchet MS" panose="020B0603020202020204" pitchFamily="34" charset="0"/>
              </a:rPr>
              <a:t>NBA/</a:t>
            </a:r>
            <a:r>
              <a:rPr lang="en-US" sz="1000" b="1" err="1">
                <a:solidFill>
                  <a:schemeClr val="tx1"/>
                </a:solidFill>
                <a:sym typeface="Trebuchet MS" panose="020B0603020202020204" pitchFamily="34" charset="0"/>
              </a:rPr>
              <a:t>NBO</a:t>
            </a:r>
            <a:r>
              <a:rPr lang="en-US" sz="1000" b="1">
                <a:solidFill>
                  <a:schemeClr val="tx1"/>
                </a:solidFill>
                <a:sym typeface="Trebuchet MS" panose="020B0603020202020204" pitchFamily="34" charset="0"/>
              </a:rPr>
              <a:t> based</a:t>
            </a:r>
          </a:p>
          <a:p>
            <a:pPr marL="324000" lvl="1" indent="-216000">
              <a:buClr>
                <a:schemeClr val="tx2"/>
              </a:buClr>
              <a:buFont typeface="Trebuchet MS" panose="020B0603020202020204" pitchFamily="34" charset="0"/>
              <a:buChar char="•"/>
            </a:pPr>
            <a:r>
              <a:rPr lang="en-US" sz="1000">
                <a:solidFill>
                  <a:schemeClr val="tx1"/>
                </a:solidFill>
                <a:sym typeface="Trebuchet MS" panose="020B0603020202020204" pitchFamily="34" charset="0"/>
              </a:rPr>
              <a:t>Orchestration across channels based on predictions of analytical engine with chosen product and marketing scenario</a:t>
            </a:r>
          </a:p>
        </p:txBody>
      </p:sp>
      <p:sp>
        <p:nvSpPr>
          <p:cNvPr id="74" name="Rectangle: Rounded Corners 73">
            <a:extLst>
              <a:ext uri="{FF2B5EF4-FFF2-40B4-BE49-F238E27FC236}">
                <a16:creationId xmlns:a16="http://schemas.microsoft.com/office/drawing/2014/main" id="{40156BBA-1CC4-443B-89B3-E14E2D348CEC}"/>
              </a:ext>
            </a:extLst>
          </p:cNvPr>
          <p:cNvSpPr/>
          <p:nvPr>
            <p:custDataLst>
              <p:tags r:id="rId25"/>
            </p:custDataLst>
          </p:nvPr>
        </p:nvSpPr>
        <p:spPr>
          <a:xfrm>
            <a:off x="7296472" y="4204614"/>
            <a:ext cx="1727560" cy="599264"/>
          </a:xfrm>
          <a:prstGeom prst="roundRect">
            <a:avLst>
              <a:gd name="adj" fmla="val 12015"/>
            </a:avLst>
          </a:prstGeom>
          <a:solidFill>
            <a:srgbClr val="FFFFFF"/>
          </a:solidFill>
          <a:ln w="9525" cap="rnd" cmpd="sng" algn="ctr">
            <a:solidFill>
              <a:srgbClr val="C8C8C8">
                <a:lumMod val="100000"/>
              </a:srgb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1000" b="1">
                <a:solidFill>
                  <a:schemeClr val="tx1"/>
                </a:solidFill>
                <a:sym typeface="Trebuchet MS" panose="020B0603020202020204" pitchFamily="34" charset="0"/>
              </a:rPr>
              <a:t>Testing and</a:t>
            </a:r>
            <a:br>
              <a:rPr lang="en-US" sz="1000" b="1">
                <a:solidFill>
                  <a:schemeClr val="tx1"/>
                </a:solidFill>
                <a:sym typeface="Trebuchet MS" panose="020B0603020202020204" pitchFamily="34" charset="0"/>
              </a:rPr>
            </a:br>
            <a:r>
              <a:rPr lang="en-US" sz="1000" b="1">
                <a:solidFill>
                  <a:schemeClr val="tx1"/>
                </a:solidFill>
                <a:sym typeface="Trebuchet MS" panose="020B0603020202020204" pitchFamily="34" charset="0"/>
              </a:rPr>
              <a:t>experiments</a:t>
            </a:r>
          </a:p>
        </p:txBody>
      </p:sp>
      <p:cxnSp>
        <p:nvCxnSpPr>
          <p:cNvPr id="75" name="AutoShape 2">
            <a:extLst>
              <a:ext uri="{FF2B5EF4-FFF2-40B4-BE49-F238E27FC236}">
                <a16:creationId xmlns:a16="http://schemas.microsoft.com/office/drawing/2014/main" id="{238E0F9D-9461-4F94-85A3-1439FA26DDD8}"/>
              </a:ext>
            </a:extLst>
          </p:cNvPr>
          <p:cNvCxnSpPr>
            <a:cxnSpLocks noChangeShapeType="1"/>
            <a:stCxn id="22" idx="0"/>
            <a:endCxn id="87" idx="2"/>
          </p:cNvCxnSpPr>
          <p:nvPr/>
        </p:nvCxnSpPr>
        <p:spPr bwMode="auto">
          <a:xfrm rot="5400000" flipH="1" flipV="1">
            <a:off x="4740176" y="996000"/>
            <a:ext cx="1377633" cy="3961298"/>
          </a:xfrm>
          <a:prstGeom prst="bentConnector2">
            <a:avLst/>
          </a:prstGeom>
          <a:noFill/>
          <a:ln w="12700" cap="rnd" cmpd="sng" algn="ctr">
            <a:solidFill>
              <a:schemeClr val="tx2"/>
            </a:solidFill>
            <a:prstDash val="solid"/>
            <a:round/>
            <a:headEnd type="triangle" w="med" len="med"/>
            <a:tailEnd type="none" w="med" len="med"/>
          </a:ln>
        </p:spPr>
      </p:cxnSp>
      <p:cxnSp>
        <p:nvCxnSpPr>
          <p:cNvPr id="76" name="AutoShape 2">
            <a:extLst>
              <a:ext uri="{FF2B5EF4-FFF2-40B4-BE49-F238E27FC236}">
                <a16:creationId xmlns:a16="http://schemas.microsoft.com/office/drawing/2014/main" id="{FF1E2414-E181-406A-AB54-84077CCFA316}"/>
              </a:ext>
            </a:extLst>
          </p:cNvPr>
          <p:cNvCxnSpPr>
            <a:cxnSpLocks noChangeShapeType="1"/>
            <a:stCxn id="171" idx="1"/>
            <a:endCxn id="20" idx="3"/>
          </p:cNvCxnSpPr>
          <p:nvPr/>
        </p:nvCxnSpPr>
        <p:spPr bwMode="auto">
          <a:xfrm rot="10800000" flipV="1">
            <a:off x="6987230" y="4654062"/>
            <a:ext cx="309243" cy="670372"/>
          </a:xfrm>
          <a:prstGeom prst="bentConnector3">
            <a:avLst>
              <a:gd name="adj1" fmla="val 50000"/>
            </a:avLst>
          </a:prstGeom>
          <a:noFill/>
          <a:ln w="9525" cap="rnd" cmpd="sng" algn="ctr">
            <a:solidFill>
              <a:srgbClr val="9A9A9A"/>
            </a:solidFill>
            <a:prstDash val="solid"/>
            <a:round/>
            <a:headEnd type="none" w="med" len="med"/>
            <a:tailEnd type="none" w="med" len="med"/>
          </a:ln>
        </p:spPr>
      </p:cxnSp>
      <p:cxnSp>
        <p:nvCxnSpPr>
          <p:cNvPr id="77" name="AutoShape 2">
            <a:extLst>
              <a:ext uri="{FF2B5EF4-FFF2-40B4-BE49-F238E27FC236}">
                <a16:creationId xmlns:a16="http://schemas.microsoft.com/office/drawing/2014/main" id="{1FA11E67-3EE6-4332-86D4-320A625183D3}"/>
              </a:ext>
            </a:extLst>
          </p:cNvPr>
          <p:cNvCxnSpPr>
            <a:cxnSpLocks noChangeShapeType="1"/>
            <a:stCxn id="73" idx="1"/>
            <a:endCxn id="19" idx="3"/>
          </p:cNvCxnSpPr>
          <p:nvPr/>
        </p:nvCxnSpPr>
        <p:spPr bwMode="auto">
          <a:xfrm rot="10800000" flipV="1">
            <a:off x="6879844" y="3241059"/>
            <a:ext cx="416628" cy="297111"/>
          </a:xfrm>
          <a:prstGeom prst="bentConnector3">
            <a:avLst>
              <a:gd name="adj1" fmla="val 50000"/>
            </a:avLst>
          </a:prstGeom>
          <a:noFill/>
          <a:ln w="9525" cap="rnd" cmpd="sng" algn="ctr">
            <a:solidFill>
              <a:srgbClr val="9A9A9A"/>
            </a:solidFill>
            <a:prstDash val="solid"/>
            <a:round/>
            <a:headEnd type="none" w="med" len="med"/>
            <a:tailEnd type="none" w="med" len="med"/>
          </a:ln>
        </p:spPr>
      </p:cxnSp>
      <p:cxnSp>
        <p:nvCxnSpPr>
          <p:cNvPr id="78" name="AutoShape 2">
            <a:extLst>
              <a:ext uri="{FF2B5EF4-FFF2-40B4-BE49-F238E27FC236}">
                <a16:creationId xmlns:a16="http://schemas.microsoft.com/office/drawing/2014/main" id="{DAB11E4C-C0C3-4C72-A1B0-5192B9AC9788}"/>
              </a:ext>
            </a:extLst>
          </p:cNvPr>
          <p:cNvCxnSpPr>
            <a:cxnSpLocks noChangeShapeType="1"/>
            <a:stCxn id="170" idx="1"/>
            <a:endCxn id="19" idx="3"/>
          </p:cNvCxnSpPr>
          <p:nvPr/>
        </p:nvCxnSpPr>
        <p:spPr bwMode="auto">
          <a:xfrm rot="10800000">
            <a:off x="6879844" y="3538172"/>
            <a:ext cx="416628" cy="816259"/>
          </a:xfrm>
          <a:prstGeom prst="bentConnector3">
            <a:avLst>
              <a:gd name="adj1" fmla="val 50000"/>
            </a:avLst>
          </a:prstGeom>
          <a:noFill/>
          <a:ln w="9525" cap="rnd" cmpd="sng" algn="ctr">
            <a:solidFill>
              <a:srgbClr val="9A9A9A"/>
            </a:solidFill>
            <a:prstDash val="solid"/>
            <a:round/>
            <a:headEnd type="none" w="med" len="med"/>
            <a:tailEnd type="none" w="med" len="med"/>
          </a:ln>
        </p:spPr>
      </p:cxnSp>
      <p:sp>
        <p:nvSpPr>
          <p:cNvPr id="79" name="Oval 78">
            <a:extLst>
              <a:ext uri="{FF2B5EF4-FFF2-40B4-BE49-F238E27FC236}">
                <a16:creationId xmlns:a16="http://schemas.microsoft.com/office/drawing/2014/main" id="{08463C45-9BEC-4C5E-AC25-8793A5B388DB}"/>
              </a:ext>
            </a:extLst>
          </p:cNvPr>
          <p:cNvSpPr/>
          <p:nvPr/>
        </p:nvSpPr>
        <p:spPr>
          <a:xfrm>
            <a:off x="8689424" y="2518586"/>
            <a:ext cx="289142" cy="289142"/>
          </a:xfrm>
          <a:prstGeom prst="ellipse">
            <a:avLst/>
          </a:prstGeom>
          <a:gradFill flip="none" rotWithShape="1">
            <a:gsLst>
              <a:gs pos="22000">
                <a:srgbClr val="29BA74">
                  <a:lumMod val="100000"/>
                </a:srgbClr>
              </a:gs>
              <a:gs pos="100000">
                <a:srgbClr val="FFDE4A"/>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r>
              <a:rPr lang="en-US" sz="1400" kern="0">
                <a:solidFill>
                  <a:schemeClr val="bg1"/>
                </a:solidFill>
                <a:latin typeface="+mj-lt"/>
              </a:rPr>
              <a:t>4</a:t>
            </a:r>
            <a:endParaRPr lang="ru-RU" sz="1400" kern="0">
              <a:solidFill>
                <a:schemeClr val="bg1"/>
              </a:solidFill>
              <a:latin typeface="+mj-lt"/>
            </a:endParaRPr>
          </a:p>
        </p:txBody>
      </p:sp>
      <p:sp>
        <p:nvSpPr>
          <p:cNvPr id="80" name="Oval 79">
            <a:extLst>
              <a:ext uri="{FF2B5EF4-FFF2-40B4-BE49-F238E27FC236}">
                <a16:creationId xmlns:a16="http://schemas.microsoft.com/office/drawing/2014/main" id="{CCBC05E2-C3DE-4B98-BBE7-599C5839015A}"/>
              </a:ext>
            </a:extLst>
          </p:cNvPr>
          <p:cNvSpPr/>
          <p:nvPr/>
        </p:nvSpPr>
        <p:spPr>
          <a:xfrm>
            <a:off x="8689424" y="4359675"/>
            <a:ext cx="289142" cy="289142"/>
          </a:xfrm>
          <a:prstGeom prst="ellipse">
            <a:avLst/>
          </a:prstGeom>
          <a:gradFill flip="none" rotWithShape="1">
            <a:gsLst>
              <a:gs pos="22000">
                <a:srgbClr val="29BA74">
                  <a:lumMod val="100000"/>
                </a:srgbClr>
              </a:gs>
              <a:gs pos="100000">
                <a:srgbClr val="FFDE4A"/>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r>
              <a:rPr lang="en-US" sz="1400" kern="0">
                <a:solidFill>
                  <a:schemeClr val="bg1"/>
                </a:solidFill>
                <a:latin typeface="+mj-lt"/>
              </a:rPr>
              <a:t>5</a:t>
            </a:r>
            <a:endParaRPr lang="ru-RU" sz="1400" kern="0">
              <a:solidFill>
                <a:schemeClr val="bg1"/>
              </a:solidFill>
              <a:latin typeface="+mj-lt"/>
            </a:endParaRPr>
          </a:p>
        </p:txBody>
      </p:sp>
      <p:sp>
        <p:nvSpPr>
          <p:cNvPr id="81" name="Oval 80">
            <a:extLst>
              <a:ext uri="{FF2B5EF4-FFF2-40B4-BE49-F238E27FC236}">
                <a16:creationId xmlns:a16="http://schemas.microsoft.com/office/drawing/2014/main" id="{0D3364FF-743B-49FE-83C4-782D9BF8AD06}"/>
              </a:ext>
            </a:extLst>
          </p:cNvPr>
          <p:cNvSpPr/>
          <p:nvPr/>
        </p:nvSpPr>
        <p:spPr>
          <a:xfrm>
            <a:off x="2972230" y="3538466"/>
            <a:ext cx="289142" cy="289142"/>
          </a:xfrm>
          <a:prstGeom prst="ellipse">
            <a:avLst/>
          </a:prstGeom>
          <a:gradFill flip="none" rotWithShape="1">
            <a:gsLst>
              <a:gs pos="22000">
                <a:srgbClr val="29BA74">
                  <a:lumMod val="100000"/>
                </a:srgbClr>
              </a:gs>
              <a:gs pos="100000">
                <a:srgbClr val="FFDE4A"/>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r>
              <a:rPr lang="en-US" sz="1400" kern="0">
                <a:solidFill>
                  <a:schemeClr val="bg1"/>
                </a:solidFill>
                <a:latin typeface="+mj-lt"/>
              </a:rPr>
              <a:t>1</a:t>
            </a:r>
            <a:endParaRPr lang="ru-RU" sz="1400" kern="0">
              <a:solidFill>
                <a:schemeClr val="bg1"/>
              </a:solidFill>
              <a:latin typeface="+mj-lt"/>
            </a:endParaRPr>
          </a:p>
        </p:txBody>
      </p:sp>
      <p:sp>
        <p:nvSpPr>
          <p:cNvPr id="82" name="Oval 81">
            <a:extLst>
              <a:ext uri="{FF2B5EF4-FFF2-40B4-BE49-F238E27FC236}">
                <a16:creationId xmlns:a16="http://schemas.microsoft.com/office/drawing/2014/main" id="{85FC0D54-3B1B-4645-9674-53DA1112B5A9}"/>
              </a:ext>
            </a:extLst>
          </p:cNvPr>
          <p:cNvSpPr/>
          <p:nvPr/>
        </p:nvSpPr>
        <p:spPr>
          <a:xfrm>
            <a:off x="6566462" y="2903771"/>
            <a:ext cx="289142" cy="289142"/>
          </a:xfrm>
          <a:prstGeom prst="ellipse">
            <a:avLst/>
          </a:prstGeom>
          <a:gradFill flip="none" rotWithShape="1">
            <a:gsLst>
              <a:gs pos="22000">
                <a:srgbClr val="29BA74">
                  <a:lumMod val="100000"/>
                </a:srgbClr>
              </a:gs>
              <a:gs pos="100000">
                <a:srgbClr val="FFDE4A"/>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r>
              <a:rPr lang="en-US" sz="1400" kern="0">
                <a:solidFill>
                  <a:schemeClr val="bg1"/>
                </a:solidFill>
                <a:latin typeface="+mj-lt"/>
              </a:rPr>
              <a:t>3</a:t>
            </a:r>
            <a:endParaRPr lang="ru-RU" sz="1400" kern="0">
              <a:solidFill>
                <a:schemeClr val="bg1"/>
              </a:solidFill>
              <a:latin typeface="+mj-lt"/>
            </a:endParaRPr>
          </a:p>
        </p:txBody>
      </p:sp>
      <p:sp>
        <p:nvSpPr>
          <p:cNvPr id="83" name="Oval 82">
            <a:extLst>
              <a:ext uri="{FF2B5EF4-FFF2-40B4-BE49-F238E27FC236}">
                <a16:creationId xmlns:a16="http://schemas.microsoft.com/office/drawing/2014/main" id="{AA8A5C06-BE0D-4AEE-9E7A-55FEFB1DB3CC}"/>
              </a:ext>
            </a:extLst>
          </p:cNvPr>
          <p:cNvSpPr/>
          <p:nvPr/>
        </p:nvSpPr>
        <p:spPr>
          <a:xfrm>
            <a:off x="10732127" y="3077557"/>
            <a:ext cx="289142" cy="289142"/>
          </a:xfrm>
          <a:prstGeom prst="ellipse">
            <a:avLst/>
          </a:prstGeom>
          <a:gradFill flip="none" rotWithShape="1">
            <a:gsLst>
              <a:gs pos="22000">
                <a:srgbClr val="29BA74">
                  <a:lumMod val="100000"/>
                </a:srgbClr>
              </a:gs>
              <a:gs pos="100000">
                <a:srgbClr val="FFDE4A"/>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r>
              <a:rPr lang="en-US" sz="1400" kern="0">
                <a:solidFill>
                  <a:schemeClr val="bg1"/>
                </a:solidFill>
                <a:latin typeface="+mj-lt"/>
              </a:rPr>
              <a:t>7</a:t>
            </a:r>
            <a:endParaRPr lang="ru-RU" sz="1400" kern="0">
              <a:solidFill>
                <a:schemeClr val="bg1"/>
              </a:solidFill>
              <a:latin typeface="+mj-lt"/>
            </a:endParaRPr>
          </a:p>
        </p:txBody>
      </p:sp>
      <p:sp>
        <p:nvSpPr>
          <p:cNvPr id="84" name="Oval 83">
            <a:extLst>
              <a:ext uri="{FF2B5EF4-FFF2-40B4-BE49-F238E27FC236}">
                <a16:creationId xmlns:a16="http://schemas.microsoft.com/office/drawing/2014/main" id="{119FF282-CF79-4AF4-B891-33805BBCAC50}"/>
              </a:ext>
            </a:extLst>
          </p:cNvPr>
          <p:cNvSpPr/>
          <p:nvPr/>
        </p:nvSpPr>
        <p:spPr>
          <a:xfrm>
            <a:off x="4515079" y="5664880"/>
            <a:ext cx="289142" cy="289142"/>
          </a:xfrm>
          <a:prstGeom prst="ellipse">
            <a:avLst/>
          </a:prstGeom>
          <a:gradFill flip="none" rotWithShape="1">
            <a:gsLst>
              <a:gs pos="22000">
                <a:srgbClr val="29BA74">
                  <a:lumMod val="100000"/>
                </a:srgbClr>
              </a:gs>
              <a:gs pos="100000">
                <a:srgbClr val="FFDE4A"/>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r>
              <a:rPr lang="en-US" sz="1400" kern="0">
                <a:solidFill>
                  <a:schemeClr val="bg1"/>
                </a:solidFill>
                <a:latin typeface="+mj-lt"/>
              </a:rPr>
              <a:t>6</a:t>
            </a:r>
            <a:endParaRPr lang="ru-RU" sz="1400" kern="0">
              <a:solidFill>
                <a:schemeClr val="bg1"/>
              </a:solidFill>
              <a:latin typeface="+mj-lt"/>
            </a:endParaRPr>
          </a:p>
        </p:txBody>
      </p:sp>
      <p:cxnSp>
        <p:nvCxnSpPr>
          <p:cNvPr id="85" name="AutoShape 2">
            <a:extLst>
              <a:ext uri="{FF2B5EF4-FFF2-40B4-BE49-F238E27FC236}">
                <a16:creationId xmlns:a16="http://schemas.microsoft.com/office/drawing/2014/main" id="{DE3E2836-8A82-405E-9DCA-69B98EE5CA37}"/>
              </a:ext>
            </a:extLst>
          </p:cNvPr>
          <p:cNvCxnSpPr>
            <a:cxnSpLocks noChangeShapeType="1"/>
          </p:cNvCxnSpPr>
          <p:nvPr/>
        </p:nvCxnSpPr>
        <p:spPr bwMode="auto">
          <a:xfrm rot="16200000" flipH="1">
            <a:off x="9724178" y="955161"/>
            <a:ext cx="162156" cy="3289009"/>
          </a:xfrm>
          <a:prstGeom prst="bentConnector3">
            <a:avLst>
              <a:gd name="adj1" fmla="val -140975"/>
            </a:avLst>
          </a:prstGeom>
          <a:noFill/>
          <a:ln w="12700" cap="rnd" cmpd="sng" algn="ctr">
            <a:solidFill>
              <a:schemeClr val="tx2"/>
            </a:solidFill>
            <a:prstDash val="solid"/>
            <a:round/>
            <a:headEnd type="triangle" w="med" len="med"/>
            <a:tailEnd type="none" w="med" len="med"/>
          </a:ln>
        </p:spPr>
      </p:cxnSp>
      <p:sp>
        <p:nvSpPr>
          <p:cNvPr id="86" name="Rectangle: Rounded Corners 85">
            <a:extLst>
              <a:ext uri="{FF2B5EF4-FFF2-40B4-BE49-F238E27FC236}">
                <a16:creationId xmlns:a16="http://schemas.microsoft.com/office/drawing/2014/main" id="{D83E9C43-DDE1-45FD-9AAA-E35DB218A7AA}"/>
              </a:ext>
            </a:extLst>
          </p:cNvPr>
          <p:cNvSpPr/>
          <p:nvPr>
            <p:custDataLst>
              <p:tags r:id="rId26"/>
            </p:custDataLst>
          </p:nvPr>
        </p:nvSpPr>
        <p:spPr>
          <a:xfrm>
            <a:off x="7556020" y="2143261"/>
            <a:ext cx="1873714" cy="239570"/>
          </a:xfrm>
          <a:prstGeom prst="roundRect">
            <a:avLst>
              <a:gd name="adj" fmla="val 43719"/>
            </a:avLst>
          </a:prstGeom>
          <a:solidFill>
            <a:srgbClr val="9A9A9A"/>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000">
                <a:solidFill>
                  <a:srgbClr val="FFFFFF"/>
                </a:solidFill>
              </a:rPr>
              <a:t>Feedback loop</a:t>
            </a:r>
          </a:p>
        </p:txBody>
      </p:sp>
      <p:sp>
        <p:nvSpPr>
          <p:cNvPr id="87" name="Oval 86">
            <a:extLst>
              <a:ext uri="{FF2B5EF4-FFF2-40B4-BE49-F238E27FC236}">
                <a16:creationId xmlns:a16="http://schemas.microsoft.com/office/drawing/2014/main" id="{CAAA7D16-3D96-4E24-B748-D16EBBB0C52E}"/>
              </a:ext>
            </a:extLst>
          </p:cNvPr>
          <p:cNvSpPr/>
          <p:nvPr/>
        </p:nvSpPr>
        <p:spPr>
          <a:xfrm>
            <a:off x="7409641" y="2143261"/>
            <a:ext cx="289142" cy="289142"/>
          </a:xfrm>
          <a:prstGeom prst="ellipse">
            <a:avLst/>
          </a:prstGeom>
          <a:gradFill flip="none" rotWithShape="1">
            <a:gsLst>
              <a:gs pos="22000">
                <a:srgbClr val="29BA74">
                  <a:lumMod val="100000"/>
                </a:srgbClr>
              </a:gs>
              <a:gs pos="100000">
                <a:srgbClr val="FFDE4A"/>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r>
              <a:rPr lang="en-US" sz="1400" kern="0">
                <a:solidFill>
                  <a:schemeClr val="bg1"/>
                </a:solidFill>
                <a:latin typeface="+mj-lt"/>
              </a:rPr>
              <a:t>2</a:t>
            </a:r>
            <a:endParaRPr lang="ru-RU" sz="1400" kern="0">
              <a:solidFill>
                <a:schemeClr val="bg1"/>
              </a:solidFill>
              <a:latin typeface="+mj-lt"/>
            </a:endParaRPr>
          </a:p>
        </p:txBody>
      </p:sp>
      <p:sp>
        <p:nvSpPr>
          <p:cNvPr id="93" name="Oval 92">
            <a:extLst>
              <a:ext uri="{FF2B5EF4-FFF2-40B4-BE49-F238E27FC236}">
                <a16:creationId xmlns:a16="http://schemas.microsoft.com/office/drawing/2014/main" id="{A29196A3-029A-4EC6-8B5F-60ACE4E647BB}"/>
              </a:ext>
            </a:extLst>
          </p:cNvPr>
          <p:cNvSpPr/>
          <p:nvPr/>
        </p:nvSpPr>
        <p:spPr>
          <a:xfrm>
            <a:off x="10732127" y="4362771"/>
            <a:ext cx="289142" cy="289142"/>
          </a:xfrm>
          <a:prstGeom prst="ellipse">
            <a:avLst/>
          </a:prstGeom>
          <a:gradFill flip="none" rotWithShape="1">
            <a:gsLst>
              <a:gs pos="22000">
                <a:srgbClr val="29BA74">
                  <a:lumMod val="100000"/>
                </a:srgbClr>
              </a:gs>
              <a:gs pos="100000">
                <a:srgbClr val="FFDE4A"/>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r>
              <a:rPr lang="en-US" sz="1400" kern="0">
                <a:solidFill>
                  <a:schemeClr val="bg1"/>
                </a:solidFill>
                <a:latin typeface="+mj-lt"/>
              </a:rPr>
              <a:t>8</a:t>
            </a:r>
            <a:endParaRPr lang="ru-RU" sz="1400" kern="0">
              <a:solidFill>
                <a:schemeClr val="bg1"/>
              </a:solidFill>
              <a:latin typeface="+mj-lt"/>
            </a:endParaRPr>
          </a:p>
        </p:txBody>
      </p:sp>
      <p:sp>
        <p:nvSpPr>
          <p:cNvPr id="151" name="Arc 150">
            <a:extLst>
              <a:ext uri="{FF2B5EF4-FFF2-40B4-BE49-F238E27FC236}">
                <a16:creationId xmlns:a16="http://schemas.microsoft.com/office/drawing/2014/main" id="{934FE44D-F4E3-4280-B1A1-55E54215A5AC}"/>
              </a:ext>
            </a:extLst>
          </p:cNvPr>
          <p:cNvSpPr/>
          <p:nvPr/>
        </p:nvSpPr>
        <p:spPr>
          <a:xfrm>
            <a:off x="4288687" y="5154675"/>
            <a:ext cx="160141" cy="160141"/>
          </a:xfrm>
          <a:prstGeom prst="arc">
            <a:avLst>
              <a:gd name="adj1" fmla="val 10801594"/>
              <a:gd name="adj2" fmla="val 0"/>
            </a:avLst>
          </a:prstGeom>
          <a:solidFill>
            <a:schemeClr val="bg1"/>
          </a:solidFill>
          <a:ln w="9525" cap="flat" cmpd="sng" algn="ctr">
            <a:solidFill>
              <a:srgbClr val="9A9A9A"/>
            </a:solidFill>
            <a:prstDash val="solid"/>
            <a:round/>
            <a:headEnd type="none" w="med" len="med"/>
            <a:tailEnd type="none" w="med" len="med"/>
          </a:ln>
        </p:spPr>
        <p:txBody>
          <a:bodyPr rtlCol="0" anchor="ctr"/>
          <a:lstStyle/>
          <a:p>
            <a:pPr algn="ctr"/>
            <a:endParaRPr lang="en-US"/>
          </a:p>
        </p:txBody>
      </p:sp>
      <p:grpSp>
        <p:nvGrpSpPr>
          <p:cNvPr id="157" name="Group 156">
            <a:extLst>
              <a:ext uri="{FF2B5EF4-FFF2-40B4-BE49-F238E27FC236}">
                <a16:creationId xmlns:a16="http://schemas.microsoft.com/office/drawing/2014/main" id="{AE32C4B8-9DED-47A8-BCA7-3C9AC60A0739}"/>
              </a:ext>
            </a:extLst>
          </p:cNvPr>
          <p:cNvGrpSpPr/>
          <p:nvPr/>
        </p:nvGrpSpPr>
        <p:grpSpPr>
          <a:xfrm>
            <a:off x="4515079" y="5154674"/>
            <a:ext cx="206666" cy="339519"/>
            <a:chOff x="4362106" y="4302886"/>
            <a:chExt cx="206666" cy="413332"/>
          </a:xfrm>
        </p:grpSpPr>
        <p:sp>
          <p:nvSpPr>
            <p:cNvPr id="155" name="Rectangle 154">
              <a:extLst>
                <a:ext uri="{FF2B5EF4-FFF2-40B4-BE49-F238E27FC236}">
                  <a16:creationId xmlns:a16="http://schemas.microsoft.com/office/drawing/2014/main" id="{208006F1-14A2-435E-8B05-E925E00898D7}"/>
                </a:ext>
              </a:extLst>
            </p:cNvPr>
            <p:cNvSpPr/>
            <p:nvPr/>
          </p:nvSpPr>
          <p:spPr>
            <a:xfrm>
              <a:off x="4362106" y="4302886"/>
              <a:ext cx="206666" cy="206666"/>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9B1C23"/>
                  </a:solidFill>
                </a14:hiddenFill>
              </a:ext>
              <a:ext uri="{91240B29-F687-4F45-9708-019B960494DF}">
                <a14:hiddenLine xmlns:a14="http://schemas.microsoft.com/office/drawing/2010/main" w="9525" cap="rnd" cmpd="sng" algn="ctr">
                  <a:solidFill>
                    <a:srgbClr val="9B1C23"/>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156" name="Rectangle 155">
              <a:extLst>
                <a:ext uri="{FF2B5EF4-FFF2-40B4-BE49-F238E27FC236}">
                  <a16:creationId xmlns:a16="http://schemas.microsoft.com/office/drawing/2014/main" id="{635EBB1A-3D2B-4861-90B6-909C54AAF07C}"/>
                </a:ext>
              </a:extLst>
            </p:cNvPr>
            <p:cNvSpPr/>
            <p:nvPr/>
          </p:nvSpPr>
          <p:spPr>
            <a:xfrm>
              <a:off x="4362106" y="4509552"/>
              <a:ext cx="206666" cy="206666"/>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9B1C23"/>
                  </a:solidFill>
                </a14:hiddenFill>
              </a:ext>
              <a:ext uri="{91240B29-F687-4F45-9708-019B960494DF}">
                <a14:hiddenLine xmlns:a14="http://schemas.microsoft.com/office/drawing/2010/main" w="9525" cap="rnd" cmpd="sng" algn="ctr">
                  <a:solidFill>
                    <a:srgbClr val="9B1C23"/>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200">
                <a:solidFill>
                  <a:srgbClr val="FFFFFF"/>
                </a:solidFill>
              </a:endParaRPr>
            </a:p>
          </p:txBody>
        </p:sp>
      </p:grpSp>
      <p:sp>
        <p:nvSpPr>
          <p:cNvPr id="164" name="Rectangle 163">
            <a:extLst>
              <a:ext uri="{FF2B5EF4-FFF2-40B4-BE49-F238E27FC236}">
                <a16:creationId xmlns:a16="http://schemas.microsoft.com/office/drawing/2014/main" id="{7092F7E4-1EB2-4588-9731-4E4662ADEB71}"/>
              </a:ext>
            </a:extLst>
          </p:cNvPr>
          <p:cNvSpPr/>
          <p:nvPr/>
        </p:nvSpPr>
        <p:spPr>
          <a:xfrm>
            <a:off x="3746995" y="5310391"/>
            <a:ext cx="206666" cy="169760"/>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9B1C23"/>
                </a:solidFill>
              </a14:hiddenFill>
            </a:ext>
            <a:ext uri="{91240B29-F687-4F45-9708-019B960494DF}">
              <a14:hiddenLine xmlns:a14="http://schemas.microsoft.com/office/drawing/2010/main" w="9525" cap="rnd" cmpd="sng" algn="ctr">
                <a:solidFill>
                  <a:srgbClr val="9B1C23"/>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200">
              <a:solidFill>
                <a:srgbClr val="FFFFFF"/>
              </a:solidFill>
            </a:endParaRPr>
          </a:p>
        </p:txBody>
      </p:sp>
      <p:grpSp>
        <p:nvGrpSpPr>
          <p:cNvPr id="169" name="Group 168">
            <a:extLst>
              <a:ext uri="{FF2B5EF4-FFF2-40B4-BE49-F238E27FC236}">
                <a16:creationId xmlns:a16="http://schemas.microsoft.com/office/drawing/2014/main" id="{DBDEFECF-147A-442D-A89F-41F05A48C16D}"/>
              </a:ext>
            </a:extLst>
          </p:cNvPr>
          <p:cNvGrpSpPr/>
          <p:nvPr/>
        </p:nvGrpSpPr>
        <p:grpSpPr>
          <a:xfrm>
            <a:off x="7296472" y="4204614"/>
            <a:ext cx="206666" cy="599264"/>
            <a:chOff x="4362106" y="4302886"/>
            <a:chExt cx="206666" cy="413332"/>
          </a:xfrm>
        </p:grpSpPr>
        <p:sp>
          <p:nvSpPr>
            <p:cNvPr id="170" name="Rectangle 169">
              <a:extLst>
                <a:ext uri="{FF2B5EF4-FFF2-40B4-BE49-F238E27FC236}">
                  <a16:creationId xmlns:a16="http://schemas.microsoft.com/office/drawing/2014/main" id="{AAEA9938-C741-4317-B595-0BAD7D33761E}"/>
                </a:ext>
              </a:extLst>
            </p:cNvPr>
            <p:cNvSpPr/>
            <p:nvPr/>
          </p:nvSpPr>
          <p:spPr>
            <a:xfrm>
              <a:off x="4362106" y="4302886"/>
              <a:ext cx="206666" cy="206666"/>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9B1C23"/>
                  </a:solidFill>
                </a14:hiddenFill>
              </a:ext>
              <a:ext uri="{91240B29-F687-4F45-9708-019B960494DF}">
                <a14:hiddenLine xmlns:a14="http://schemas.microsoft.com/office/drawing/2010/main" w="9525" cap="rnd" cmpd="sng" algn="ctr">
                  <a:solidFill>
                    <a:schemeClr val="tx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171" name="Rectangle 170">
              <a:extLst>
                <a:ext uri="{FF2B5EF4-FFF2-40B4-BE49-F238E27FC236}">
                  <a16:creationId xmlns:a16="http://schemas.microsoft.com/office/drawing/2014/main" id="{2886D8A4-A654-4FF9-9AA6-B3B9B1605882}"/>
                </a:ext>
              </a:extLst>
            </p:cNvPr>
            <p:cNvSpPr/>
            <p:nvPr/>
          </p:nvSpPr>
          <p:spPr>
            <a:xfrm>
              <a:off x="4362106" y="4509552"/>
              <a:ext cx="206666" cy="206666"/>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9B1C23"/>
                  </a:solidFill>
                </a14:hiddenFill>
              </a:ext>
              <a:ext uri="{91240B29-F687-4F45-9708-019B960494DF}">
                <a14:hiddenLine xmlns:a14="http://schemas.microsoft.com/office/drawing/2010/main" w="9525" cap="rnd" cmpd="sng" algn="ctr">
                  <a:solidFill>
                    <a:schemeClr val="tx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200">
                <a:solidFill>
                  <a:srgbClr val="FFFFFF"/>
                </a:solidFill>
              </a:endParaRPr>
            </a:p>
          </p:txBody>
        </p:sp>
      </p:grpSp>
      <p:sp>
        <p:nvSpPr>
          <p:cNvPr id="53" name="Rectangle: Rounded Corners 52">
            <a:extLst>
              <a:ext uri="{FF2B5EF4-FFF2-40B4-BE49-F238E27FC236}">
                <a16:creationId xmlns:a16="http://schemas.microsoft.com/office/drawing/2014/main" id="{9FFDDB52-1DE8-4E6E-9950-C94D6D1AD85D}"/>
              </a:ext>
            </a:extLst>
          </p:cNvPr>
          <p:cNvSpPr/>
          <p:nvPr>
            <p:custDataLst>
              <p:tags r:id="rId27"/>
            </p:custDataLst>
          </p:nvPr>
        </p:nvSpPr>
        <p:spPr>
          <a:xfrm>
            <a:off x="11190735" y="2680743"/>
            <a:ext cx="518051" cy="1317520"/>
          </a:xfrm>
          <a:prstGeom prst="roundRect">
            <a:avLst>
              <a:gd name="adj" fmla="val 13898"/>
            </a:avLst>
          </a:prstGeom>
          <a:solidFill>
            <a:srgbClr val="FFFFFF"/>
          </a:solidFill>
          <a:ln w="9525" cap="rnd" cmpd="sng" algn="ctr">
            <a:solidFill>
              <a:srgbClr val="C8C8C8">
                <a:lumMod val="100000"/>
              </a:srgb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noAutofit/>
          </a:bodyPr>
          <a:lstStyle/>
          <a:p>
            <a:pPr algn="ctr">
              <a:spcBef>
                <a:spcPts val="140"/>
              </a:spcBef>
              <a:spcAft>
                <a:spcPts val="140"/>
              </a:spcAft>
            </a:pPr>
            <a:r>
              <a:rPr lang="en-US" sz="1000" b="1">
                <a:solidFill>
                  <a:srgbClr val="575757"/>
                </a:solidFill>
                <a:sym typeface="Trebuchet MS" panose="020B0603020202020204" pitchFamily="34" charset="0"/>
              </a:rPr>
              <a:t>Single</a:t>
            </a:r>
            <a:br>
              <a:rPr lang="en-US" sz="1000" b="1">
                <a:solidFill>
                  <a:srgbClr val="575757"/>
                </a:solidFill>
                <a:sym typeface="Trebuchet MS" panose="020B0603020202020204" pitchFamily="34" charset="0"/>
              </a:rPr>
            </a:br>
            <a:r>
              <a:rPr lang="en-US" sz="1000" b="1">
                <a:solidFill>
                  <a:srgbClr val="575757"/>
                </a:solidFill>
                <a:sym typeface="Trebuchet MS" panose="020B0603020202020204" pitchFamily="34" charset="0"/>
              </a:rPr>
              <a:t>Data hub</a:t>
            </a:r>
            <a:endParaRPr lang="en-US" sz="1000">
              <a:solidFill>
                <a:srgbClr val="575757"/>
              </a:solidFill>
            </a:endParaRPr>
          </a:p>
        </p:txBody>
      </p:sp>
      <p:grpSp>
        <p:nvGrpSpPr>
          <p:cNvPr id="68" name="Group 67">
            <a:extLst>
              <a:ext uri="{FF2B5EF4-FFF2-40B4-BE49-F238E27FC236}">
                <a16:creationId xmlns:a16="http://schemas.microsoft.com/office/drawing/2014/main" id="{340AB067-CDCD-44CB-B707-25AE21D6FFEE}"/>
              </a:ext>
            </a:extLst>
          </p:cNvPr>
          <p:cNvGrpSpPr>
            <a:grpSpLocks/>
          </p:cNvGrpSpPr>
          <p:nvPr/>
        </p:nvGrpSpPr>
        <p:grpSpPr>
          <a:xfrm>
            <a:off x="11190735" y="2903771"/>
            <a:ext cx="453367" cy="457200"/>
            <a:chOff x="5273675" y="2606675"/>
            <a:chExt cx="1646238" cy="1644650"/>
          </a:xfrm>
        </p:grpSpPr>
        <p:sp>
          <p:nvSpPr>
            <p:cNvPr id="69" name="AutoShape 3">
              <a:extLst>
                <a:ext uri="{FF2B5EF4-FFF2-40B4-BE49-F238E27FC236}">
                  <a16:creationId xmlns:a16="http://schemas.microsoft.com/office/drawing/2014/main" id="{3BCF561F-585F-4F45-ABB2-2BA227AC9B4F}"/>
                </a:ext>
              </a:extLst>
            </p:cNvPr>
            <p:cNvSpPr>
              <a:spLocks noChangeAspect="1" noChangeArrowheads="1" noTextEdit="1"/>
            </p:cNvSpPr>
            <p:nvPr/>
          </p:nvSpPr>
          <p:spPr bwMode="auto">
            <a:xfrm>
              <a:off x="5273675"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70" name="Group 69">
              <a:extLst>
                <a:ext uri="{FF2B5EF4-FFF2-40B4-BE49-F238E27FC236}">
                  <a16:creationId xmlns:a16="http://schemas.microsoft.com/office/drawing/2014/main" id="{84A5D9D5-75AC-4D47-AF3C-4FCF9C6D417C}"/>
                </a:ext>
              </a:extLst>
            </p:cNvPr>
            <p:cNvGrpSpPr/>
            <p:nvPr/>
          </p:nvGrpSpPr>
          <p:grpSpPr>
            <a:xfrm>
              <a:off x="5608638" y="2881313"/>
              <a:ext cx="977900" cy="1093788"/>
              <a:chOff x="5608638" y="2881313"/>
              <a:chExt cx="977900" cy="1093788"/>
            </a:xfrm>
          </p:grpSpPr>
          <p:sp>
            <p:nvSpPr>
              <p:cNvPr id="71" name="Freeform 17">
                <a:extLst>
                  <a:ext uri="{FF2B5EF4-FFF2-40B4-BE49-F238E27FC236}">
                    <a16:creationId xmlns:a16="http://schemas.microsoft.com/office/drawing/2014/main" id="{30C481C0-6203-43C0-AC11-A9D919DA18AF}"/>
                  </a:ext>
                </a:extLst>
              </p:cNvPr>
              <p:cNvSpPr>
                <a:spLocks/>
              </p:cNvSpPr>
              <p:nvPr/>
            </p:nvSpPr>
            <p:spPr bwMode="auto">
              <a:xfrm>
                <a:off x="5608638" y="2881313"/>
                <a:ext cx="977900" cy="1093788"/>
              </a:xfrm>
              <a:custGeom>
                <a:avLst/>
                <a:gdLst>
                  <a:gd name="connsiteX0" fmla="*/ 488514 w 977900"/>
                  <a:gd name="connsiteY0" fmla="*/ 61912 h 1093788"/>
                  <a:gd name="connsiteX1" fmla="*/ 917575 w 977900"/>
                  <a:gd name="connsiteY1" fmla="*/ 219512 h 1093788"/>
                  <a:gd name="connsiteX2" fmla="*/ 488514 w 977900"/>
                  <a:gd name="connsiteY2" fmla="*/ 377825 h 1093788"/>
                  <a:gd name="connsiteX3" fmla="*/ 58737 w 977900"/>
                  <a:gd name="connsiteY3" fmla="*/ 224504 h 1093788"/>
                  <a:gd name="connsiteX4" fmla="*/ 58737 w 977900"/>
                  <a:gd name="connsiteY4" fmla="*/ 215233 h 1093788"/>
                  <a:gd name="connsiteX5" fmla="*/ 488514 w 977900"/>
                  <a:gd name="connsiteY5" fmla="*/ 61912 h 1093788"/>
                  <a:gd name="connsiteX6" fmla="*/ 477508 w 977900"/>
                  <a:gd name="connsiteY6" fmla="*/ 28575 h 1093788"/>
                  <a:gd name="connsiteX7" fmla="*/ 173585 w 977900"/>
                  <a:gd name="connsiteY7" fmla="*/ 78482 h 1093788"/>
                  <a:gd name="connsiteX8" fmla="*/ 172155 w 977900"/>
                  <a:gd name="connsiteY8" fmla="*/ 79195 h 1093788"/>
                  <a:gd name="connsiteX9" fmla="*/ 165719 w 977900"/>
                  <a:gd name="connsiteY9" fmla="*/ 81334 h 1093788"/>
                  <a:gd name="connsiteX10" fmla="*/ 164289 w 977900"/>
                  <a:gd name="connsiteY10" fmla="*/ 82047 h 1093788"/>
                  <a:gd name="connsiteX11" fmla="*/ 157138 w 977900"/>
                  <a:gd name="connsiteY11" fmla="*/ 84899 h 1093788"/>
                  <a:gd name="connsiteX12" fmla="*/ 149271 w 977900"/>
                  <a:gd name="connsiteY12" fmla="*/ 88463 h 1093788"/>
                  <a:gd name="connsiteX13" fmla="*/ 144981 w 977900"/>
                  <a:gd name="connsiteY13" fmla="*/ 89889 h 1093788"/>
                  <a:gd name="connsiteX14" fmla="*/ 142835 w 977900"/>
                  <a:gd name="connsiteY14" fmla="*/ 91315 h 1093788"/>
                  <a:gd name="connsiteX15" fmla="*/ 50586 w 977900"/>
                  <a:gd name="connsiteY15" fmla="*/ 153342 h 1093788"/>
                  <a:gd name="connsiteX16" fmla="*/ 49156 w 977900"/>
                  <a:gd name="connsiteY16" fmla="*/ 154768 h 1093788"/>
                  <a:gd name="connsiteX17" fmla="*/ 47726 w 977900"/>
                  <a:gd name="connsiteY17" fmla="*/ 156907 h 1093788"/>
                  <a:gd name="connsiteX18" fmla="*/ 44150 w 977900"/>
                  <a:gd name="connsiteY18" fmla="*/ 161185 h 1093788"/>
                  <a:gd name="connsiteX19" fmla="*/ 43435 w 977900"/>
                  <a:gd name="connsiteY19" fmla="*/ 161898 h 1093788"/>
                  <a:gd name="connsiteX20" fmla="*/ 41289 w 977900"/>
                  <a:gd name="connsiteY20" fmla="*/ 165463 h 1093788"/>
                  <a:gd name="connsiteX21" fmla="*/ 39859 w 977900"/>
                  <a:gd name="connsiteY21" fmla="*/ 167602 h 1093788"/>
                  <a:gd name="connsiteX22" fmla="*/ 38429 w 977900"/>
                  <a:gd name="connsiteY22" fmla="*/ 169740 h 1093788"/>
                  <a:gd name="connsiteX23" fmla="*/ 36999 w 977900"/>
                  <a:gd name="connsiteY23" fmla="*/ 171879 h 1093788"/>
                  <a:gd name="connsiteX24" fmla="*/ 36284 w 977900"/>
                  <a:gd name="connsiteY24" fmla="*/ 174018 h 1093788"/>
                  <a:gd name="connsiteX25" fmla="*/ 34853 w 977900"/>
                  <a:gd name="connsiteY25" fmla="*/ 176870 h 1093788"/>
                  <a:gd name="connsiteX26" fmla="*/ 34138 w 977900"/>
                  <a:gd name="connsiteY26" fmla="*/ 178296 h 1093788"/>
                  <a:gd name="connsiteX27" fmla="*/ 32708 w 977900"/>
                  <a:gd name="connsiteY27" fmla="*/ 181148 h 1093788"/>
                  <a:gd name="connsiteX28" fmla="*/ 31993 w 977900"/>
                  <a:gd name="connsiteY28" fmla="*/ 182574 h 1093788"/>
                  <a:gd name="connsiteX29" fmla="*/ 31278 w 977900"/>
                  <a:gd name="connsiteY29" fmla="*/ 186138 h 1093788"/>
                  <a:gd name="connsiteX30" fmla="*/ 30563 w 977900"/>
                  <a:gd name="connsiteY30" fmla="*/ 187564 h 1093788"/>
                  <a:gd name="connsiteX31" fmla="*/ 29848 w 977900"/>
                  <a:gd name="connsiteY31" fmla="*/ 190416 h 1093788"/>
                  <a:gd name="connsiteX32" fmla="*/ 29133 w 977900"/>
                  <a:gd name="connsiteY32" fmla="*/ 191842 h 1093788"/>
                  <a:gd name="connsiteX33" fmla="*/ 28417 w 977900"/>
                  <a:gd name="connsiteY33" fmla="*/ 195407 h 1093788"/>
                  <a:gd name="connsiteX34" fmla="*/ 28417 w 977900"/>
                  <a:gd name="connsiteY34" fmla="*/ 196833 h 1093788"/>
                  <a:gd name="connsiteX35" fmla="*/ 27702 w 977900"/>
                  <a:gd name="connsiteY35" fmla="*/ 199685 h 1093788"/>
                  <a:gd name="connsiteX36" fmla="*/ 27702 w 977900"/>
                  <a:gd name="connsiteY36" fmla="*/ 201823 h 1093788"/>
                  <a:gd name="connsiteX37" fmla="*/ 26987 w 977900"/>
                  <a:gd name="connsiteY37" fmla="*/ 203962 h 1093788"/>
                  <a:gd name="connsiteX38" fmla="*/ 26987 w 977900"/>
                  <a:gd name="connsiteY38" fmla="*/ 208953 h 1093788"/>
                  <a:gd name="connsiteX39" fmla="*/ 26987 w 977900"/>
                  <a:gd name="connsiteY39" fmla="*/ 210379 h 1093788"/>
                  <a:gd name="connsiteX40" fmla="*/ 26987 w 977900"/>
                  <a:gd name="connsiteY40" fmla="*/ 211092 h 1093788"/>
                  <a:gd name="connsiteX41" fmla="*/ 26987 w 977900"/>
                  <a:gd name="connsiteY41" fmla="*/ 211805 h 1093788"/>
                  <a:gd name="connsiteX42" fmla="*/ 26987 w 977900"/>
                  <a:gd name="connsiteY42" fmla="*/ 215370 h 1093788"/>
                  <a:gd name="connsiteX43" fmla="*/ 27702 w 977900"/>
                  <a:gd name="connsiteY43" fmla="*/ 217508 h 1093788"/>
                  <a:gd name="connsiteX44" fmla="*/ 27702 w 977900"/>
                  <a:gd name="connsiteY44" fmla="*/ 876280 h 1093788"/>
                  <a:gd name="connsiteX45" fmla="*/ 26987 w 977900"/>
                  <a:gd name="connsiteY45" fmla="*/ 878419 h 1093788"/>
                  <a:gd name="connsiteX46" fmla="*/ 26987 w 977900"/>
                  <a:gd name="connsiteY46" fmla="*/ 881983 h 1093788"/>
                  <a:gd name="connsiteX47" fmla="*/ 26987 w 977900"/>
                  <a:gd name="connsiteY47" fmla="*/ 882696 h 1093788"/>
                  <a:gd name="connsiteX48" fmla="*/ 26987 w 977900"/>
                  <a:gd name="connsiteY48" fmla="*/ 883409 h 1093788"/>
                  <a:gd name="connsiteX49" fmla="*/ 26987 w 977900"/>
                  <a:gd name="connsiteY49" fmla="*/ 884835 h 1093788"/>
                  <a:gd name="connsiteX50" fmla="*/ 26987 w 977900"/>
                  <a:gd name="connsiteY50" fmla="*/ 889826 h 1093788"/>
                  <a:gd name="connsiteX51" fmla="*/ 27702 w 977900"/>
                  <a:gd name="connsiteY51" fmla="*/ 891965 h 1093788"/>
                  <a:gd name="connsiteX52" fmla="*/ 27702 w 977900"/>
                  <a:gd name="connsiteY52" fmla="*/ 894104 h 1093788"/>
                  <a:gd name="connsiteX53" fmla="*/ 28417 w 977900"/>
                  <a:gd name="connsiteY53" fmla="*/ 896956 h 1093788"/>
                  <a:gd name="connsiteX54" fmla="*/ 28417 w 977900"/>
                  <a:gd name="connsiteY54" fmla="*/ 898381 h 1093788"/>
                  <a:gd name="connsiteX55" fmla="*/ 29133 w 977900"/>
                  <a:gd name="connsiteY55" fmla="*/ 901946 h 1093788"/>
                  <a:gd name="connsiteX56" fmla="*/ 29848 w 977900"/>
                  <a:gd name="connsiteY56" fmla="*/ 903372 h 1093788"/>
                  <a:gd name="connsiteX57" fmla="*/ 30563 w 977900"/>
                  <a:gd name="connsiteY57" fmla="*/ 906224 h 1093788"/>
                  <a:gd name="connsiteX58" fmla="*/ 31278 w 977900"/>
                  <a:gd name="connsiteY58" fmla="*/ 907650 h 1093788"/>
                  <a:gd name="connsiteX59" fmla="*/ 31993 w 977900"/>
                  <a:gd name="connsiteY59" fmla="*/ 911215 h 1093788"/>
                  <a:gd name="connsiteX60" fmla="*/ 32708 w 977900"/>
                  <a:gd name="connsiteY60" fmla="*/ 912641 h 1093788"/>
                  <a:gd name="connsiteX61" fmla="*/ 34138 w 977900"/>
                  <a:gd name="connsiteY61" fmla="*/ 915492 h 1093788"/>
                  <a:gd name="connsiteX62" fmla="*/ 34853 w 977900"/>
                  <a:gd name="connsiteY62" fmla="*/ 916918 h 1093788"/>
                  <a:gd name="connsiteX63" fmla="*/ 36284 w 977900"/>
                  <a:gd name="connsiteY63" fmla="*/ 919770 h 1093788"/>
                  <a:gd name="connsiteX64" fmla="*/ 36999 w 977900"/>
                  <a:gd name="connsiteY64" fmla="*/ 921909 h 1093788"/>
                  <a:gd name="connsiteX65" fmla="*/ 38429 w 977900"/>
                  <a:gd name="connsiteY65" fmla="*/ 924048 h 1093788"/>
                  <a:gd name="connsiteX66" fmla="*/ 39859 w 977900"/>
                  <a:gd name="connsiteY66" fmla="*/ 926187 h 1093788"/>
                  <a:gd name="connsiteX67" fmla="*/ 41289 w 977900"/>
                  <a:gd name="connsiteY67" fmla="*/ 928326 h 1093788"/>
                  <a:gd name="connsiteX68" fmla="*/ 43435 w 977900"/>
                  <a:gd name="connsiteY68" fmla="*/ 931890 h 1093788"/>
                  <a:gd name="connsiteX69" fmla="*/ 44150 w 977900"/>
                  <a:gd name="connsiteY69" fmla="*/ 931890 h 1093788"/>
                  <a:gd name="connsiteX70" fmla="*/ 47726 w 977900"/>
                  <a:gd name="connsiteY70" fmla="*/ 936881 h 1093788"/>
                  <a:gd name="connsiteX71" fmla="*/ 49156 w 977900"/>
                  <a:gd name="connsiteY71" fmla="*/ 939020 h 1093788"/>
                  <a:gd name="connsiteX72" fmla="*/ 50586 w 977900"/>
                  <a:gd name="connsiteY72" fmla="*/ 940446 h 1093788"/>
                  <a:gd name="connsiteX73" fmla="*/ 142835 w 977900"/>
                  <a:gd name="connsiteY73" fmla="*/ 1002473 h 1093788"/>
                  <a:gd name="connsiteX74" fmla="*/ 144981 w 977900"/>
                  <a:gd name="connsiteY74" fmla="*/ 1003899 h 1093788"/>
                  <a:gd name="connsiteX75" fmla="*/ 149271 w 977900"/>
                  <a:gd name="connsiteY75" fmla="*/ 1005325 h 1093788"/>
                  <a:gd name="connsiteX76" fmla="*/ 157138 w 977900"/>
                  <a:gd name="connsiteY76" fmla="*/ 1008890 h 1093788"/>
                  <a:gd name="connsiteX77" fmla="*/ 162859 w 977900"/>
                  <a:gd name="connsiteY77" fmla="*/ 1011029 h 1093788"/>
                  <a:gd name="connsiteX78" fmla="*/ 164289 w 977900"/>
                  <a:gd name="connsiteY78" fmla="*/ 1011741 h 1093788"/>
                  <a:gd name="connsiteX79" fmla="*/ 172155 w 977900"/>
                  <a:gd name="connsiteY79" fmla="*/ 1014593 h 1093788"/>
                  <a:gd name="connsiteX80" fmla="*/ 172870 w 977900"/>
                  <a:gd name="connsiteY80" fmla="*/ 1015306 h 1093788"/>
                  <a:gd name="connsiteX81" fmla="*/ 477508 w 977900"/>
                  <a:gd name="connsiteY81" fmla="*/ 1065213 h 1093788"/>
                  <a:gd name="connsiteX82" fmla="*/ 486089 w 977900"/>
                  <a:gd name="connsiteY82" fmla="*/ 1065213 h 1093788"/>
                  <a:gd name="connsiteX83" fmla="*/ 488950 w 977900"/>
                  <a:gd name="connsiteY83" fmla="*/ 1065213 h 1093788"/>
                  <a:gd name="connsiteX84" fmla="*/ 491810 w 977900"/>
                  <a:gd name="connsiteY84" fmla="*/ 1065213 h 1093788"/>
                  <a:gd name="connsiteX85" fmla="*/ 500392 w 977900"/>
                  <a:gd name="connsiteY85" fmla="*/ 1065213 h 1093788"/>
                  <a:gd name="connsiteX86" fmla="*/ 805029 w 977900"/>
                  <a:gd name="connsiteY86" fmla="*/ 1015306 h 1093788"/>
                  <a:gd name="connsiteX87" fmla="*/ 805744 w 977900"/>
                  <a:gd name="connsiteY87" fmla="*/ 1014593 h 1093788"/>
                  <a:gd name="connsiteX88" fmla="*/ 813611 w 977900"/>
                  <a:gd name="connsiteY88" fmla="*/ 1011741 h 1093788"/>
                  <a:gd name="connsiteX89" fmla="*/ 814326 w 977900"/>
                  <a:gd name="connsiteY89" fmla="*/ 1011741 h 1093788"/>
                  <a:gd name="connsiteX90" fmla="*/ 820762 w 977900"/>
                  <a:gd name="connsiteY90" fmla="*/ 1008890 h 1093788"/>
                  <a:gd name="connsiteX91" fmla="*/ 828628 w 977900"/>
                  <a:gd name="connsiteY91" fmla="*/ 1005325 h 1093788"/>
                  <a:gd name="connsiteX92" fmla="*/ 832919 w 977900"/>
                  <a:gd name="connsiteY92" fmla="*/ 1003899 h 1093788"/>
                  <a:gd name="connsiteX93" fmla="*/ 835064 w 977900"/>
                  <a:gd name="connsiteY93" fmla="*/ 1002473 h 1093788"/>
                  <a:gd name="connsiteX94" fmla="*/ 927314 w 977900"/>
                  <a:gd name="connsiteY94" fmla="*/ 940446 h 1093788"/>
                  <a:gd name="connsiteX95" fmla="*/ 928744 w 977900"/>
                  <a:gd name="connsiteY95" fmla="*/ 939020 h 1093788"/>
                  <a:gd name="connsiteX96" fmla="*/ 930174 w 977900"/>
                  <a:gd name="connsiteY96" fmla="*/ 936881 h 1093788"/>
                  <a:gd name="connsiteX97" fmla="*/ 933750 w 977900"/>
                  <a:gd name="connsiteY97" fmla="*/ 931890 h 1093788"/>
                  <a:gd name="connsiteX98" fmla="*/ 934465 w 977900"/>
                  <a:gd name="connsiteY98" fmla="*/ 931890 h 1093788"/>
                  <a:gd name="connsiteX99" fmla="*/ 936610 w 977900"/>
                  <a:gd name="connsiteY99" fmla="*/ 928326 h 1093788"/>
                  <a:gd name="connsiteX100" fmla="*/ 938040 w 977900"/>
                  <a:gd name="connsiteY100" fmla="*/ 926187 h 1093788"/>
                  <a:gd name="connsiteX101" fmla="*/ 939470 w 977900"/>
                  <a:gd name="connsiteY101" fmla="*/ 924048 h 1093788"/>
                  <a:gd name="connsiteX102" fmla="*/ 940901 w 977900"/>
                  <a:gd name="connsiteY102" fmla="*/ 921909 h 1093788"/>
                  <a:gd name="connsiteX103" fmla="*/ 941616 w 977900"/>
                  <a:gd name="connsiteY103" fmla="*/ 919770 h 1093788"/>
                  <a:gd name="connsiteX104" fmla="*/ 943046 w 977900"/>
                  <a:gd name="connsiteY104" fmla="*/ 916918 h 1093788"/>
                  <a:gd name="connsiteX105" fmla="*/ 943761 w 977900"/>
                  <a:gd name="connsiteY105" fmla="*/ 915492 h 1093788"/>
                  <a:gd name="connsiteX106" fmla="*/ 945191 w 977900"/>
                  <a:gd name="connsiteY106" fmla="*/ 912641 h 1093788"/>
                  <a:gd name="connsiteX107" fmla="*/ 945906 w 977900"/>
                  <a:gd name="connsiteY107" fmla="*/ 911215 h 1093788"/>
                  <a:gd name="connsiteX108" fmla="*/ 946622 w 977900"/>
                  <a:gd name="connsiteY108" fmla="*/ 907650 h 1093788"/>
                  <a:gd name="connsiteX109" fmla="*/ 947337 w 977900"/>
                  <a:gd name="connsiteY109" fmla="*/ 906224 h 1093788"/>
                  <a:gd name="connsiteX110" fmla="*/ 948052 w 977900"/>
                  <a:gd name="connsiteY110" fmla="*/ 903372 h 1093788"/>
                  <a:gd name="connsiteX111" fmla="*/ 948767 w 977900"/>
                  <a:gd name="connsiteY111" fmla="*/ 901946 h 1093788"/>
                  <a:gd name="connsiteX112" fmla="*/ 949482 w 977900"/>
                  <a:gd name="connsiteY112" fmla="*/ 898381 h 1093788"/>
                  <a:gd name="connsiteX113" fmla="*/ 949482 w 977900"/>
                  <a:gd name="connsiteY113" fmla="*/ 896956 h 1093788"/>
                  <a:gd name="connsiteX114" fmla="*/ 950197 w 977900"/>
                  <a:gd name="connsiteY114" fmla="*/ 894104 h 1093788"/>
                  <a:gd name="connsiteX115" fmla="*/ 950197 w 977900"/>
                  <a:gd name="connsiteY115" fmla="*/ 891965 h 1093788"/>
                  <a:gd name="connsiteX116" fmla="*/ 950912 w 977900"/>
                  <a:gd name="connsiteY116" fmla="*/ 889826 h 1093788"/>
                  <a:gd name="connsiteX117" fmla="*/ 950912 w 977900"/>
                  <a:gd name="connsiteY117" fmla="*/ 884835 h 1093788"/>
                  <a:gd name="connsiteX118" fmla="*/ 950912 w 977900"/>
                  <a:gd name="connsiteY118" fmla="*/ 208240 h 1093788"/>
                  <a:gd name="connsiteX119" fmla="*/ 950912 w 977900"/>
                  <a:gd name="connsiteY119" fmla="*/ 206101 h 1093788"/>
                  <a:gd name="connsiteX120" fmla="*/ 950912 w 977900"/>
                  <a:gd name="connsiteY120" fmla="*/ 203249 h 1093788"/>
                  <a:gd name="connsiteX121" fmla="*/ 950197 w 977900"/>
                  <a:gd name="connsiteY121" fmla="*/ 200398 h 1093788"/>
                  <a:gd name="connsiteX122" fmla="*/ 949482 w 977900"/>
                  <a:gd name="connsiteY122" fmla="*/ 196833 h 1093788"/>
                  <a:gd name="connsiteX123" fmla="*/ 949482 w 977900"/>
                  <a:gd name="connsiteY123" fmla="*/ 195407 h 1093788"/>
                  <a:gd name="connsiteX124" fmla="*/ 948767 w 977900"/>
                  <a:gd name="connsiteY124" fmla="*/ 192555 h 1093788"/>
                  <a:gd name="connsiteX125" fmla="*/ 885122 w 977900"/>
                  <a:gd name="connsiteY125" fmla="*/ 117695 h 1093788"/>
                  <a:gd name="connsiteX126" fmla="*/ 880831 w 977900"/>
                  <a:gd name="connsiteY126" fmla="*/ 114843 h 1093788"/>
                  <a:gd name="connsiteX127" fmla="*/ 879401 w 977900"/>
                  <a:gd name="connsiteY127" fmla="*/ 114130 h 1093788"/>
                  <a:gd name="connsiteX128" fmla="*/ 875110 w 977900"/>
                  <a:gd name="connsiteY128" fmla="*/ 111278 h 1093788"/>
                  <a:gd name="connsiteX129" fmla="*/ 873680 w 977900"/>
                  <a:gd name="connsiteY129" fmla="*/ 110565 h 1093788"/>
                  <a:gd name="connsiteX130" fmla="*/ 870105 w 977900"/>
                  <a:gd name="connsiteY130" fmla="*/ 108426 h 1093788"/>
                  <a:gd name="connsiteX131" fmla="*/ 867959 w 977900"/>
                  <a:gd name="connsiteY131" fmla="*/ 107000 h 1093788"/>
                  <a:gd name="connsiteX132" fmla="*/ 864384 w 977900"/>
                  <a:gd name="connsiteY132" fmla="*/ 104861 h 1093788"/>
                  <a:gd name="connsiteX133" fmla="*/ 861523 w 977900"/>
                  <a:gd name="connsiteY133" fmla="*/ 103436 h 1093788"/>
                  <a:gd name="connsiteX134" fmla="*/ 858663 w 977900"/>
                  <a:gd name="connsiteY134" fmla="*/ 102010 h 1093788"/>
                  <a:gd name="connsiteX135" fmla="*/ 855087 w 977900"/>
                  <a:gd name="connsiteY135" fmla="*/ 99871 h 1093788"/>
                  <a:gd name="connsiteX136" fmla="*/ 852227 w 977900"/>
                  <a:gd name="connsiteY136" fmla="*/ 98445 h 1093788"/>
                  <a:gd name="connsiteX137" fmla="*/ 848651 w 977900"/>
                  <a:gd name="connsiteY137" fmla="*/ 97019 h 1093788"/>
                  <a:gd name="connsiteX138" fmla="*/ 845791 w 977900"/>
                  <a:gd name="connsiteY138" fmla="*/ 95593 h 1093788"/>
                  <a:gd name="connsiteX139" fmla="*/ 841500 w 977900"/>
                  <a:gd name="connsiteY139" fmla="*/ 93454 h 1093788"/>
                  <a:gd name="connsiteX140" fmla="*/ 839355 w 977900"/>
                  <a:gd name="connsiteY140" fmla="*/ 92028 h 1093788"/>
                  <a:gd name="connsiteX141" fmla="*/ 834349 w 977900"/>
                  <a:gd name="connsiteY141" fmla="*/ 90602 h 1093788"/>
                  <a:gd name="connsiteX142" fmla="*/ 830773 w 977900"/>
                  <a:gd name="connsiteY142" fmla="*/ 88463 h 1093788"/>
                  <a:gd name="connsiteX143" fmla="*/ 827198 w 977900"/>
                  <a:gd name="connsiteY143" fmla="*/ 87038 h 1093788"/>
                  <a:gd name="connsiteX144" fmla="*/ 821477 w 977900"/>
                  <a:gd name="connsiteY144" fmla="*/ 84899 h 1093788"/>
                  <a:gd name="connsiteX145" fmla="*/ 820047 w 977900"/>
                  <a:gd name="connsiteY145" fmla="*/ 84186 h 1093788"/>
                  <a:gd name="connsiteX146" fmla="*/ 812180 w 977900"/>
                  <a:gd name="connsiteY146" fmla="*/ 80621 h 1093788"/>
                  <a:gd name="connsiteX147" fmla="*/ 795733 w 977900"/>
                  <a:gd name="connsiteY147" fmla="*/ 74917 h 1093788"/>
                  <a:gd name="connsiteX148" fmla="*/ 795018 w 977900"/>
                  <a:gd name="connsiteY148" fmla="*/ 74917 h 1093788"/>
                  <a:gd name="connsiteX149" fmla="*/ 778570 w 977900"/>
                  <a:gd name="connsiteY149" fmla="*/ 69214 h 1093788"/>
                  <a:gd name="connsiteX150" fmla="*/ 777855 w 977900"/>
                  <a:gd name="connsiteY150" fmla="*/ 68501 h 1093788"/>
                  <a:gd name="connsiteX151" fmla="*/ 760692 w 977900"/>
                  <a:gd name="connsiteY151" fmla="*/ 63510 h 1093788"/>
                  <a:gd name="connsiteX152" fmla="*/ 759977 w 977900"/>
                  <a:gd name="connsiteY152" fmla="*/ 63510 h 1093788"/>
                  <a:gd name="connsiteX153" fmla="*/ 742815 w 977900"/>
                  <a:gd name="connsiteY153" fmla="*/ 58519 h 1093788"/>
                  <a:gd name="connsiteX154" fmla="*/ 741384 w 977900"/>
                  <a:gd name="connsiteY154" fmla="*/ 58519 h 1093788"/>
                  <a:gd name="connsiteX155" fmla="*/ 723507 w 977900"/>
                  <a:gd name="connsiteY155" fmla="*/ 54242 h 1093788"/>
                  <a:gd name="connsiteX156" fmla="*/ 722076 w 977900"/>
                  <a:gd name="connsiteY156" fmla="*/ 53529 h 1093788"/>
                  <a:gd name="connsiteX157" fmla="*/ 704198 w 977900"/>
                  <a:gd name="connsiteY157" fmla="*/ 49251 h 1093788"/>
                  <a:gd name="connsiteX158" fmla="*/ 702768 w 977900"/>
                  <a:gd name="connsiteY158" fmla="*/ 49251 h 1093788"/>
                  <a:gd name="connsiteX159" fmla="*/ 684175 w 977900"/>
                  <a:gd name="connsiteY159" fmla="*/ 45686 h 1093788"/>
                  <a:gd name="connsiteX160" fmla="*/ 682745 w 977900"/>
                  <a:gd name="connsiteY160" fmla="*/ 45686 h 1093788"/>
                  <a:gd name="connsiteX161" fmla="*/ 664152 w 977900"/>
                  <a:gd name="connsiteY161" fmla="*/ 42121 h 1093788"/>
                  <a:gd name="connsiteX162" fmla="*/ 662007 w 977900"/>
                  <a:gd name="connsiteY162" fmla="*/ 42121 h 1093788"/>
                  <a:gd name="connsiteX163" fmla="*/ 643414 w 977900"/>
                  <a:gd name="connsiteY163" fmla="*/ 39269 h 1093788"/>
                  <a:gd name="connsiteX164" fmla="*/ 641984 w 977900"/>
                  <a:gd name="connsiteY164" fmla="*/ 38557 h 1093788"/>
                  <a:gd name="connsiteX165" fmla="*/ 621961 w 977900"/>
                  <a:gd name="connsiteY165" fmla="*/ 36418 h 1093788"/>
                  <a:gd name="connsiteX166" fmla="*/ 620530 w 977900"/>
                  <a:gd name="connsiteY166" fmla="*/ 35705 h 1093788"/>
                  <a:gd name="connsiteX167" fmla="*/ 600507 w 977900"/>
                  <a:gd name="connsiteY167" fmla="*/ 33566 h 1093788"/>
                  <a:gd name="connsiteX168" fmla="*/ 599792 w 977900"/>
                  <a:gd name="connsiteY168" fmla="*/ 33566 h 1093788"/>
                  <a:gd name="connsiteX169" fmla="*/ 578339 w 977900"/>
                  <a:gd name="connsiteY169" fmla="*/ 32140 h 1093788"/>
                  <a:gd name="connsiteX170" fmla="*/ 577624 w 977900"/>
                  <a:gd name="connsiteY170" fmla="*/ 32140 h 1093788"/>
                  <a:gd name="connsiteX171" fmla="*/ 556170 w 977900"/>
                  <a:gd name="connsiteY171" fmla="*/ 30714 h 1093788"/>
                  <a:gd name="connsiteX172" fmla="*/ 534002 w 977900"/>
                  <a:gd name="connsiteY172" fmla="*/ 29288 h 1093788"/>
                  <a:gd name="connsiteX173" fmla="*/ 488950 w 977900"/>
                  <a:gd name="connsiteY173" fmla="*/ 28575 h 1093788"/>
                  <a:gd name="connsiteX174" fmla="*/ 477508 w 977900"/>
                  <a:gd name="connsiteY174" fmla="*/ 28575 h 1093788"/>
                  <a:gd name="connsiteX175" fmla="*/ 488950 w 977900"/>
                  <a:gd name="connsiteY175" fmla="*/ 0 h 1093788"/>
                  <a:gd name="connsiteX176" fmla="*/ 821579 w 977900"/>
                  <a:gd name="connsiteY176" fmla="*/ 54903 h 1093788"/>
                  <a:gd name="connsiteX177" fmla="*/ 976473 w 977900"/>
                  <a:gd name="connsiteY177" fmla="*/ 192518 h 1093788"/>
                  <a:gd name="connsiteX178" fmla="*/ 977900 w 977900"/>
                  <a:gd name="connsiteY178" fmla="*/ 198935 h 1093788"/>
                  <a:gd name="connsiteX179" fmla="*/ 977900 w 977900"/>
                  <a:gd name="connsiteY179" fmla="*/ 884870 h 1093788"/>
                  <a:gd name="connsiteX180" fmla="*/ 488950 w 977900"/>
                  <a:gd name="connsiteY180" fmla="*/ 1093788 h 1093788"/>
                  <a:gd name="connsiteX181" fmla="*/ 0 w 977900"/>
                  <a:gd name="connsiteY181" fmla="*/ 884870 h 1093788"/>
                  <a:gd name="connsiteX182" fmla="*/ 714 w 977900"/>
                  <a:gd name="connsiteY182" fmla="*/ 873462 h 1093788"/>
                  <a:gd name="connsiteX183" fmla="*/ 714 w 977900"/>
                  <a:gd name="connsiteY183" fmla="*/ 220326 h 1093788"/>
                  <a:gd name="connsiteX184" fmla="*/ 0 w 977900"/>
                  <a:gd name="connsiteY184" fmla="*/ 208918 h 1093788"/>
                  <a:gd name="connsiteX185" fmla="*/ 488950 w 977900"/>
                  <a:gd name="connsiteY185" fmla="*/ 0 h 1093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977900" h="1093788">
                    <a:moveTo>
                      <a:pt x="488514" y="61912"/>
                    </a:moveTo>
                    <a:cubicBezTo>
                      <a:pt x="725213" y="61912"/>
                      <a:pt x="917575" y="132511"/>
                      <a:pt x="917575" y="219512"/>
                    </a:cubicBezTo>
                    <a:cubicBezTo>
                      <a:pt x="917575" y="306513"/>
                      <a:pt x="725213" y="377825"/>
                      <a:pt x="488514" y="377825"/>
                    </a:cubicBezTo>
                    <a:cubicBezTo>
                      <a:pt x="255390" y="377825"/>
                      <a:pt x="65173" y="308652"/>
                      <a:pt x="58737" y="224504"/>
                    </a:cubicBezTo>
                    <a:cubicBezTo>
                      <a:pt x="58737" y="224504"/>
                      <a:pt x="58737" y="224504"/>
                      <a:pt x="58737" y="215233"/>
                    </a:cubicBezTo>
                    <a:cubicBezTo>
                      <a:pt x="65173" y="129659"/>
                      <a:pt x="255390" y="61912"/>
                      <a:pt x="488514" y="61912"/>
                    </a:cubicBezTo>
                    <a:close/>
                    <a:moveTo>
                      <a:pt x="477508" y="28575"/>
                    </a:moveTo>
                    <a:cubicBezTo>
                      <a:pt x="361660" y="30001"/>
                      <a:pt x="254393" y="48538"/>
                      <a:pt x="173585" y="78482"/>
                    </a:cubicBezTo>
                    <a:cubicBezTo>
                      <a:pt x="173585" y="78482"/>
                      <a:pt x="172870" y="78482"/>
                      <a:pt x="172155" y="79195"/>
                    </a:cubicBezTo>
                    <a:cubicBezTo>
                      <a:pt x="170010" y="79908"/>
                      <a:pt x="167864" y="80621"/>
                      <a:pt x="165719" y="81334"/>
                    </a:cubicBezTo>
                    <a:cubicBezTo>
                      <a:pt x="165719" y="81334"/>
                      <a:pt x="165004" y="82047"/>
                      <a:pt x="164289" y="82047"/>
                    </a:cubicBezTo>
                    <a:cubicBezTo>
                      <a:pt x="162143" y="82760"/>
                      <a:pt x="159283" y="84186"/>
                      <a:pt x="157138" y="84899"/>
                    </a:cubicBezTo>
                    <a:cubicBezTo>
                      <a:pt x="154277" y="86325"/>
                      <a:pt x="151417" y="87038"/>
                      <a:pt x="149271" y="88463"/>
                    </a:cubicBezTo>
                    <a:cubicBezTo>
                      <a:pt x="147841" y="89176"/>
                      <a:pt x="146411" y="89176"/>
                      <a:pt x="144981" y="89889"/>
                    </a:cubicBezTo>
                    <a:cubicBezTo>
                      <a:pt x="144266" y="90602"/>
                      <a:pt x="143551" y="90602"/>
                      <a:pt x="142835" y="91315"/>
                    </a:cubicBezTo>
                    <a:cubicBezTo>
                      <a:pt x="102074" y="109139"/>
                      <a:pt x="70609" y="130528"/>
                      <a:pt x="50586" y="153342"/>
                    </a:cubicBezTo>
                    <a:cubicBezTo>
                      <a:pt x="49871" y="154055"/>
                      <a:pt x="49871" y="154768"/>
                      <a:pt x="49156" y="154768"/>
                    </a:cubicBezTo>
                    <a:cubicBezTo>
                      <a:pt x="48441" y="155481"/>
                      <a:pt x="47726" y="156194"/>
                      <a:pt x="47726" y="156907"/>
                    </a:cubicBezTo>
                    <a:cubicBezTo>
                      <a:pt x="46295" y="158333"/>
                      <a:pt x="44865" y="159759"/>
                      <a:pt x="44150" y="161185"/>
                    </a:cubicBezTo>
                    <a:cubicBezTo>
                      <a:pt x="44150" y="161898"/>
                      <a:pt x="43435" y="161898"/>
                      <a:pt x="43435" y="161898"/>
                    </a:cubicBezTo>
                    <a:cubicBezTo>
                      <a:pt x="42720" y="163324"/>
                      <a:pt x="42005" y="164750"/>
                      <a:pt x="41289" y="165463"/>
                    </a:cubicBezTo>
                    <a:cubicBezTo>
                      <a:pt x="40574" y="166176"/>
                      <a:pt x="40574" y="166889"/>
                      <a:pt x="39859" y="167602"/>
                    </a:cubicBezTo>
                    <a:cubicBezTo>
                      <a:pt x="39859" y="168315"/>
                      <a:pt x="39144" y="169027"/>
                      <a:pt x="38429" y="169740"/>
                    </a:cubicBezTo>
                    <a:cubicBezTo>
                      <a:pt x="38429" y="170453"/>
                      <a:pt x="37714" y="171166"/>
                      <a:pt x="36999" y="171879"/>
                    </a:cubicBezTo>
                    <a:cubicBezTo>
                      <a:pt x="36999" y="172592"/>
                      <a:pt x="36284" y="173305"/>
                      <a:pt x="36284" y="174018"/>
                    </a:cubicBezTo>
                    <a:cubicBezTo>
                      <a:pt x="35569" y="174731"/>
                      <a:pt x="35569" y="176157"/>
                      <a:pt x="34853" y="176870"/>
                    </a:cubicBezTo>
                    <a:cubicBezTo>
                      <a:pt x="34853" y="177583"/>
                      <a:pt x="34138" y="177583"/>
                      <a:pt x="34138" y="178296"/>
                    </a:cubicBezTo>
                    <a:cubicBezTo>
                      <a:pt x="33423" y="179722"/>
                      <a:pt x="33423" y="180435"/>
                      <a:pt x="32708" y="181148"/>
                    </a:cubicBezTo>
                    <a:cubicBezTo>
                      <a:pt x="32708" y="181861"/>
                      <a:pt x="32708" y="182574"/>
                      <a:pt x="31993" y="182574"/>
                    </a:cubicBezTo>
                    <a:cubicBezTo>
                      <a:pt x="31993" y="184000"/>
                      <a:pt x="31278" y="184712"/>
                      <a:pt x="31278" y="186138"/>
                    </a:cubicBezTo>
                    <a:cubicBezTo>
                      <a:pt x="31278" y="186138"/>
                      <a:pt x="30563" y="186851"/>
                      <a:pt x="30563" y="187564"/>
                    </a:cubicBezTo>
                    <a:cubicBezTo>
                      <a:pt x="30563" y="188277"/>
                      <a:pt x="29848" y="189703"/>
                      <a:pt x="29848" y="190416"/>
                    </a:cubicBezTo>
                    <a:cubicBezTo>
                      <a:pt x="29848" y="191129"/>
                      <a:pt x="29133" y="191129"/>
                      <a:pt x="29133" y="191842"/>
                    </a:cubicBezTo>
                    <a:cubicBezTo>
                      <a:pt x="29133" y="193268"/>
                      <a:pt x="29133" y="193981"/>
                      <a:pt x="28417" y="195407"/>
                    </a:cubicBezTo>
                    <a:cubicBezTo>
                      <a:pt x="28417" y="195407"/>
                      <a:pt x="28417" y="196120"/>
                      <a:pt x="28417" y="196833"/>
                    </a:cubicBezTo>
                    <a:cubicBezTo>
                      <a:pt x="28417" y="197546"/>
                      <a:pt x="27702" y="198972"/>
                      <a:pt x="27702" y="199685"/>
                    </a:cubicBezTo>
                    <a:cubicBezTo>
                      <a:pt x="27702" y="200398"/>
                      <a:pt x="27702" y="201110"/>
                      <a:pt x="27702" y="201823"/>
                    </a:cubicBezTo>
                    <a:cubicBezTo>
                      <a:pt x="27702" y="202536"/>
                      <a:pt x="27702" y="203249"/>
                      <a:pt x="26987" y="203962"/>
                    </a:cubicBezTo>
                    <a:cubicBezTo>
                      <a:pt x="26987" y="206101"/>
                      <a:pt x="26987" y="207527"/>
                      <a:pt x="26987" y="208953"/>
                    </a:cubicBezTo>
                    <a:cubicBezTo>
                      <a:pt x="26987" y="209666"/>
                      <a:pt x="26987" y="209666"/>
                      <a:pt x="26987" y="210379"/>
                    </a:cubicBezTo>
                    <a:cubicBezTo>
                      <a:pt x="26987" y="211092"/>
                      <a:pt x="26987" y="211092"/>
                      <a:pt x="26987" y="211092"/>
                    </a:cubicBezTo>
                    <a:cubicBezTo>
                      <a:pt x="26987" y="211092"/>
                      <a:pt x="26987" y="211805"/>
                      <a:pt x="26987" y="211805"/>
                    </a:cubicBezTo>
                    <a:cubicBezTo>
                      <a:pt x="26987" y="211805"/>
                      <a:pt x="26987" y="211805"/>
                      <a:pt x="26987" y="215370"/>
                    </a:cubicBezTo>
                    <a:cubicBezTo>
                      <a:pt x="26987" y="215370"/>
                      <a:pt x="26987" y="215370"/>
                      <a:pt x="27702" y="217508"/>
                    </a:cubicBezTo>
                    <a:cubicBezTo>
                      <a:pt x="27702" y="217508"/>
                      <a:pt x="27702" y="217508"/>
                      <a:pt x="27702" y="876280"/>
                    </a:cubicBezTo>
                    <a:cubicBezTo>
                      <a:pt x="27702" y="876280"/>
                      <a:pt x="27702" y="876280"/>
                      <a:pt x="26987" y="878419"/>
                    </a:cubicBezTo>
                    <a:cubicBezTo>
                      <a:pt x="26987" y="878419"/>
                      <a:pt x="26987" y="878419"/>
                      <a:pt x="26987" y="881983"/>
                    </a:cubicBezTo>
                    <a:cubicBezTo>
                      <a:pt x="26987" y="881983"/>
                      <a:pt x="26987" y="882696"/>
                      <a:pt x="26987" y="882696"/>
                    </a:cubicBezTo>
                    <a:cubicBezTo>
                      <a:pt x="26987" y="882696"/>
                      <a:pt x="26987" y="882696"/>
                      <a:pt x="26987" y="883409"/>
                    </a:cubicBezTo>
                    <a:cubicBezTo>
                      <a:pt x="26987" y="884122"/>
                      <a:pt x="26987" y="884122"/>
                      <a:pt x="26987" y="884835"/>
                    </a:cubicBezTo>
                    <a:cubicBezTo>
                      <a:pt x="26987" y="886261"/>
                      <a:pt x="26987" y="887687"/>
                      <a:pt x="26987" y="889826"/>
                    </a:cubicBezTo>
                    <a:cubicBezTo>
                      <a:pt x="27702" y="890539"/>
                      <a:pt x="27702" y="891252"/>
                      <a:pt x="27702" y="891965"/>
                    </a:cubicBezTo>
                    <a:cubicBezTo>
                      <a:pt x="27702" y="892678"/>
                      <a:pt x="27702" y="893391"/>
                      <a:pt x="27702" y="894104"/>
                    </a:cubicBezTo>
                    <a:cubicBezTo>
                      <a:pt x="27702" y="894817"/>
                      <a:pt x="28417" y="896243"/>
                      <a:pt x="28417" y="896956"/>
                    </a:cubicBezTo>
                    <a:cubicBezTo>
                      <a:pt x="28417" y="897669"/>
                      <a:pt x="28417" y="898381"/>
                      <a:pt x="28417" y="898381"/>
                    </a:cubicBezTo>
                    <a:cubicBezTo>
                      <a:pt x="29133" y="899807"/>
                      <a:pt x="29133" y="900520"/>
                      <a:pt x="29133" y="901946"/>
                    </a:cubicBezTo>
                    <a:cubicBezTo>
                      <a:pt x="29133" y="902659"/>
                      <a:pt x="29848" y="902659"/>
                      <a:pt x="29848" y="903372"/>
                    </a:cubicBezTo>
                    <a:cubicBezTo>
                      <a:pt x="29848" y="904085"/>
                      <a:pt x="30563" y="905511"/>
                      <a:pt x="30563" y="906224"/>
                    </a:cubicBezTo>
                    <a:cubicBezTo>
                      <a:pt x="30563" y="906937"/>
                      <a:pt x="31278" y="907650"/>
                      <a:pt x="31278" y="907650"/>
                    </a:cubicBezTo>
                    <a:cubicBezTo>
                      <a:pt x="31278" y="909076"/>
                      <a:pt x="31993" y="909789"/>
                      <a:pt x="31993" y="911215"/>
                    </a:cubicBezTo>
                    <a:cubicBezTo>
                      <a:pt x="32708" y="911215"/>
                      <a:pt x="32708" y="911928"/>
                      <a:pt x="32708" y="912641"/>
                    </a:cubicBezTo>
                    <a:cubicBezTo>
                      <a:pt x="33423" y="913354"/>
                      <a:pt x="33423" y="914066"/>
                      <a:pt x="34138" y="915492"/>
                    </a:cubicBezTo>
                    <a:cubicBezTo>
                      <a:pt x="34138" y="916205"/>
                      <a:pt x="34853" y="916205"/>
                      <a:pt x="34853" y="916918"/>
                    </a:cubicBezTo>
                    <a:cubicBezTo>
                      <a:pt x="35569" y="917631"/>
                      <a:pt x="35569" y="919057"/>
                      <a:pt x="36284" y="919770"/>
                    </a:cubicBezTo>
                    <a:cubicBezTo>
                      <a:pt x="36284" y="920483"/>
                      <a:pt x="36999" y="921196"/>
                      <a:pt x="36999" y="921909"/>
                    </a:cubicBezTo>
                    <a:cubicBezTo>
                      <a:pt x="37714" y="922622"/>
                      <a:pt x="38429" y="923335"/>
                      <a:pt x="38429" y="924048"/>
                    </a:cubicBezTo>
                    <a:cubicBezTo>
                      <a:pt x="39144" y="924761"/>
                      <a:pt x="39859" y="925474"/>
                      <a:pt x="39859" y="926187"/>
                    </a:cubicBezTo>
                    <a:cubicBezTo>
                      <a:pt x="40574" y="926900"/>
                      <a:pt x="40574" y="927613"/>
                      <a:pt x="41289" y="928326"/>
                    </a:cubicBezTo>
                    <a:cubicBezTo>
                      <a:pt x="42005" y="929039"/>
                      <a:pt x="42720" y="930464"/>
                      <a:pt x="43435" y="931890"/>
                    </a:cubicBezTo>
                    <a:cubicBezTo>
                      <a:pt x="43435" y="931890"/>
                      <a:pt x="44150" y="931890"/>
                      <a:pt x="44150" y="931890"/>
                    </a:cubicBezTo>
                    <a:cubicBezTo>
                      <a:pt x="44865" y="934029"/>
                      <a:pt x="46295" y="935455"/>
                      <a:pt x="47726" y="936881"/>
                    </a:cubicBezTo>
                    <a:cubicBezTo>
                      <a:pt x="47726" y="937594"/>
                      <a:pt x="48441" y="938307"/>
                      <a:pt x="49156" y="939020"/>
                    </a:cubicBezTo>
                    <a:cubicBezTo>
                      <a:pt x="49871" y="939020"/>
                      <a:pt x="49871" y="939733"/>
                      <a:pt x="50586" y="940446"/>
                    </a:cubicBezTo>
                    <a:cubicBezTo>
                      <a:pt x="70609" y="963260"/>
                      <a:pt x="102074" y="984649"/>
                      <a:pt x="142835" y="1002473"/>
                    </a:cubicBezTo>
                    <a:cubicBezTo>
                      <a:pt x="143551" y="1003186"/>
                      <a:pt x="144266" y="1003186"/>
                      <a:pt x="144981" y="1003899"/>
                    </a:cubicBezTo>
                    <a:cubicBezTo>
                      <a:pt x="146411" y="1004612"/>
                      <a:pt x="147841" y="1005325"/>
                      <a:pt x="149271" y="1005325"/>
                    </a:cubicBezTo>
                    <a:cubicBezTo>
                      <a:pt x="151417" y="1006751"/>
                      <a:pt x="154277" y="1008177"/>
                      <a:pt x="157138" y="1008890"/>
                    </a:cubicBezTo>
                    <a:cubicBezTo>
                      <a:pt x="159283" y="1009603"/>
                      <a:pt x="160713" y="1010316"/>
                      <a:pt x="162859" y="1011029"/>
                    </a:cubicBezTo>
                    <a:cubicBezTo>
                      <a:pt x="163574" y="1011741"/>
                      <a:pt x="163574" y="1011741"/>
                      <a:pt x="164289" y="1011741"/>
                    </a:cubicBezTo>
                    <a:cubicBezTo>
                      <a:pt x="167149" y="1013167"/>
                      <a:pt x="170010" y="1013880"/>
                      <a:pt x="172155" y="1014593"/>
                    </a:cubicBezTo>
                    <a:cubicBezTo>
                      <a:pt x="172870" y="1015306"/>
                      <a:pt x="172870" y="1015306"/>
                      <a:pt x="172870" y="1015306"/>
                    </a:cubicBezTo>
                    <a:cubicBezTo>
                      <a:pt x="253678" y="1045250"/>
                      <a:pt x="360945" y="1063787"/>
                      <a:pt x="477508" y="1065213"/>
                    </a:cubicBezTo>
                    <a:cubicBezTo>
                      <a:pt x="480368" y="1065213"/>
                      <a:pt x="483229" y="1065213"/>
                      <a:pt x="486089" y="1065213"/>
                    </a:cubicBezTo>
                    <a:cubicBezTo>
                      <a:pt x="486804" y="1065213"/>
                      <a:pt x="488235" y="1065213"/>
                      <a:pt x="488950" y="1065213"/>
                    </a:cubicBezTo>
                    <a:cubicBezTo>
                      <a:pt x="489665" y="1065213"/>
                      <a:pt x="491095" y="1065213"/>
                      <a:pt x="491810" y="1065213"/>
                    </a:cubicBezTo>
                    <a:cubicBezTo>
                      <a:pt x="494671" y="1065213"/>
                      <a:pt x="497531" y="1065213"/>
                      <a:pt x="500392" y="1065213"/>
                    </a:cubicBezTo>
                    <a:cubicBezTo>
                      <a:pt x="616955" y="1063787"/>
                      <a:pt x="724222" y="1045250"/>
                      <a:pt x="805029" y="1015306"/>
                    </a:cubicBezTo>
                    <a:cubicBezTo>
                      <a:pt x="805029" y="1015306"/>
                      <a:pt x="805029" y="1015306"/>
                      <a:pt x="805744" y="1014593"/>
                    </a:cubicBezTo>
                    <a:cubicBezTo>
                      <a:pt x="807890" y="1013880"/>
                      <a:pt x="810750" y="1013167"/>
                      <a:pt x="813611" y="1011741"/>
                    </a:cubicBezTo>
                    <a:cubicBezTo>
                      <a:pt x="813611" y="1011741"/>
                      <a:pt x="814326" y="1011741"/>
                      <a:pt x="814326" y="1011741"/>
                    </a:cubicBezTo>
                    <a:cubicBezTo>
                      <a:pt x="816471" y="1010316"/>
                      <a:pt x="818616" y="1009603"/>
                      <a:pt x="820762" y="1008890"/>
                    </a:cubicBezTo>
                    <a:cubicBezTo>
                      <a:pt x="823622" y="1008177"/>
                      <a:pt x="826483" y="1006751"/>
                      <a:pt x="828628" y="1005325"/>
                    </a:cubicBezTo>
                    <a:cubicBezTo>
                      <a:pt x="830058" y="1005325"/>
                      <a:pt x="831488" y="1004612"/>
                      <a:pt x="832919" y="1003899"/>
                    </a:cubicBezTo>
                    <a:cubicBezTo>
                      <a:pt x="833634" y="1003186"/>
                      <a:pt x="834349" y="1003186"/>
                      <a:pt x="835064" y="1002473"/>
                    </a:cubicBezTo>
                    <a:cubicBezTo>
                      <a:pt x="875825" y="984649"/>
                      <a:pt x="907290" y="963260"/>
                      <a:pt x="927314" y="940446"/>
                    </a:cubicBezTo>
                    <a:cubicBezTo>
                      <a:pt x="928029" y="939733"/>
                      <a:pt x="928029" y="939020"/>
                      <a:pt x="928744" y="939020"/>
                    </a:cubicBezTo>
                    <a:cubicBezTo>
                      <a:pt x="929459" y="938307"/>
                      <a:pt x="930174" y="937594"/>
                      <a:pt x="930174" y="936881"/>
                    </a:cubicBezTo>
                    <a:cubicBezTo>
                      <a:pt x="931604" y="935455"/>
                      <a:pt x="933034" y="934029"/>
                      <a:pt x="933750" y="931890"/>
                    </a:cubicBezTo>
                    <a:cubicBezTo>
                      <a:pt x="933750" y="931890"/>
                      <a:pt x="934465" y="931890"/>
                      <a:pt x="934465" y="931890"/>
                    </a:cubicBezTo>
                    <a:cubicBezTo>
                      <a:pt x="935180" y="930464"/>
                      <a:pt x="935895" y="929039"/>
                      <a:pt x="936610" y="928326"/>
                    </a:cubicBezTo>
                    <a:cubicBezTo>
                      <a:pt x="937325" y="927613"/>
                      <a:pt x="937325" y="926900"/>
                      <a:pt x="938040" y="926187"/>
                    </a:cubicBezTo>
                    <a:cubicBezTo>
                      <a:pt x="938040" y="925474"/>
                      <a:pt x="938755" y="924761"/>
                      <a:pt x="939470" y="924048"/>
                    </a:cubicBezTo>
                    <a:cubicBezTo>
                      <a:pt x="939470" y="923335"/>
                      <a:pt x="940186" y="922622"/>
                      <a:pt x="940901" y="921909"/>
                    </a:cubicBezTo>
                    <a:cubicBezTo>
                      <a:pt x="940901" y="921196"/>
                      <a:pt x="941616" y="920483"/>
                      <a:pt x="941616" y="919770"/>
                    </a:cubicBezTo>
                    <a:cubicBezTo>
                      <a:pt x="942331" y="919057"/>
                      <a:pt x="942331" y="917631"/>
                      <a:pt x="943046" y="916918"/>
                    </a:cubicBezTo>
                    <a:cubicBezTo>
                      <a:pt x="943046" y="916205"/>
                      <a:pt x="943761" y="916205"/>
                      <a:pt x="943761" y="915492"/>
                    </a:cubicBezTo>
                    <a:cubicBezTo>
                      <a:pt x="944476" y="914066"/>
                      <a:pt x="944476" y="913354"/>
                      <a:pt x="945191" y="912641"/>
                    </a:cubicBezTo>
                    <a:cubicBezTo>
                      <a:pt x="945191" y="911928"/>
                      <a:pt x="945191" y="911215"/>
                      <a:pt x="945906" y="911215"/>
                    </a:cubicBezTo>
                    <a:cubicBezTo>
                      <a:pt x="945906" y="909789"/>
                      <a:pt x="946622" y="909076"/>
                      <a:pt x="946622" y="907650"/>
                    </a:cubicBezTo>
                    <a:cubicBezTo>
                      <a:pt x="946622" y="907650"/>
                      <a:pt x="947337" y="906937"/>
                      <a:pt x="947337" y="906224"/>
                    </a:cubicBezTo>
                    <a:cubicBezTo>
                      <a:pt x="947337" y="905511"/>
                      <a:pt x="948052" y="904085"/>
                      <a:pt x="948052" y="903372"/>
                    </a:cubicBezTo>
                    <a:cubicBezTo>
                      <a:pt x="948052" y="902659"/>
                      <a:pt x="948767" y="902659"/>
                      <a:pt x="948767" y="901946"/>
                    </a:cubicBezTo>
                    <a:cubicBezTo>
                      <a:pt x="948767" y="900520"/>
                      <a:pt x="948767" y="899807"/>
                      <a:pt x="949482" y="898381"/>
                    </a:cubicBezTo>
                    <a:cubicBezTo>
                      <a:pt x="949482" y="898381"/>
                      <a:pt x="949482" y="897669"/>
                      <a:pt x="949482" y="896956"/>
                    </a:cubicBezTo>
                    <a:cubicBezTo>
                      <a:pt x="949482" y="896243"/>
                      <a:pt x="950197" y="894817"/>
                      <a:pt x="950197" y="894104"/>
                    </a:cubicBezTo>
                    <a:cubicBezTo>
                      <a:pt x="950197" y="893391"/>
                      <a:pt x="950197" y="892678"/>
                      <a:pt x="950197" y="891965"/>
                    </a:cubicBezTo>
                    <a:cubicBezTo>
                      <a:pt x="950197" y="891252"/>
                      <a:pt x="950197" y="890539"/>
                      <a:pt x="950912" y="889826"/>
                    </a:cubicBezTo>
                    <a:cubicBezTo>
                      <a:pt x="950912" y="887687"/>
                      <a:pt x="950912" y="886261"/>
                      <a:pt x="950912" y="884835"/>
                    </a:cubicBezTo>
                    <a:cubicBezTo>
                      <a:pt x="950912" y="884835"/>
                      <a:pt x="950912" y="879132"/>
                      <a:pt x="950912" y="208240"/>
                    </a:cubicBezTo>
                    <a:cubicBezTo>
                      <a:pt x="950912" y="207527"/>
                      <a:pt x="950912" y="206814"/>
                      <a:pt x="950912" y="206101"/>
                    </a:cubicBezTo>
                    <a:cubicBezTo>
                      <a:pt x="950912" y="205388"/>
                      <a:pt x="950912" y="203962"/>
                      <a:pt x="950912" y="203249"/>
                    </a:cubicBezTo>
                    <a:cubicBezTo>
                      <a:pt x="950912" y="201823"/>
                      <a:pt x="950912" y="201110"/>
                      <a:pt x="950197" y="200398"/>
                    </a:cubicBezTo>
                    <a:cubicBezTo>
                      <a:pt x="950197" y="198972"/>
                      <a:pt x="949482" y="197546"/>
                      <a:pt x="949482" y="196833"/>
                    </a:cubicBezTo>
                    <a:cubicBezTo>
                      <a:pt x="949482" y="196120"/>
                      <a:pt x="949482" y="196120"/>
                      <a:pt x="949482" y="195407"/>
                    </a:cubicBezTo>
                    <a:cubicBezTo>
                      <a:pt x="948767" y="194694"/>
                      <a:pt x="948767" y="193268"/>
                      <a:pt x="948767" y="192555"/>
                    </a:cubicBezTo>
                    <a:cubicBezTo>
                      <a:pt x="942331" y="166176"/>
                      <a:pt x="920162" y="140509"/>
                      <a:pt x="885122" y="117695"/>
                    </a:cubicBezTo>
                    <a:cubicBezTo>
                      <a:pt x="883692" y="116982"/>
                      <a:pt x="882261" y="115556"/>
                      <a:pt x="880831" y="114843"/>
                    </a:cubicBezTo>
                    <a:cubicBezTo>
                      <a:pt x="880116" y="114130"/>
                      <a:pt x="880116" y="114130"/>
                      <a:pt x="879401" y="114130"/>
                    </a:cubicBezTo>
                    <a:cubicBezTo>
                      <a:pt x="877971" y="113417"/>
                      <a:pt x="876541" y="111991"/>
                      <a:pt x="875110" y="111278"/>
                    </a:cubicBezTo>
                    <a:cubicBezTo>
                      <a:pt x="875110" y="111278"/>
                      <a:pt x="874395" y="110565"/>
                      <a:pt x="873680" y="110565"/>
                    </a:cubicBezTo>
                    <a:cubicBezTo>
                      <a:pt x="872250" y="109852"/>
                      <a:pt x="871535" y="109139"/>
                      <a:pt x="870105" y="108426"/>
                    </a:cubicBezTo>
                    <a:cubicBezTo>
                      <a:pt x="869389" y="107713"/>
                      <a:pt x="868674" y="107713"/>
                      <a:pt x="867959" y="107000"/>
                    </a:cubicBezTo>
                    <a:cubicBezTo>
                      <a:pt x="866529" y="106287"/>
                      <a:pt x="865814" y="105574"/>
                      <a:pt x="864384" y="104861"/>
                    </a:cubicBezTo>
                    <a:cubicBezTo>
                      <a:pt x="863669" y="104861"/>
                      <a:pt x="862238" y="104148"/>
                      <a:pt x="861523" y="103436"/>
                    </a:cubicBezTo>
                    <a:cubicBezTo>
                      <a:pt x="860808" y="102723"/>
                      <a:pt x="859378" y="102723"/>
                      <a:pt x="858663" y="102010"/>
                    </a:cubicBezTo>
                    <a:cubicBezTo>
                      <a:pt x="857233" y="101297"/>
                      <a:pt x="856517" y="100584"/>
                      <a:pt x="855087" y="99871"/>
                    </a:cubicBezTo>
                    <a:cubicBezTo>
                      <a:pt x="854372" y="99871"/>
                      <a:pt x="852942" y="99158"/>
                      <a:pt x="852227" y="98445"/>
                    </a:cubicBezTo>
                    <a:cubicBezTo>
                      <a:pt x="850797" y="98445"/>
                      <a:pt x="849366" y="97732"/>
                      <a:pt x="848651" y="97019"/>
                    </a:cubicBezTo>
                    <a:cubicBezTo>
                      <a:pt x="847221" y="96306"/>
                      <a:pt x="846506" y="96306"/>
                      <a:pt x="845791" y="95593"/>
                    </a:cubicBezTo>
                    <a:cubicBezTo>
                      <a:pt x="844360" y="94880"/>
                      <a:pt x="842930" y="94167"/>
                      <a:pt x="841500" y="93454"/>
                    </a:cubicBezTo>
                    <a:cubicBezTo>
                      <a:pt x="840785" y="93454"/>
                      <a:pt x="840070" y="92741"/>
                      <a:pt x="839355" y="92028"/>
                    </a:cubicBezTo>
                    <a:cubicBezTo>
                      <a:pt x="837209" y="91315"/>
                      <a:pt x="835779" y="90602"/>
                      <a:pt x="834349" y="90602"/>
                    </a:cubicBezTo>
                    <a:cubicBezTo>
                      <a:pt x="833634" y="89889"/>
                      <a:pt x="832204" y="89176"/>
                      <a:pt x="830773" y="88463"/>
                    </a:cubicBezTo>
                    <a:cubicBezTo>
                      <a:pt x="830058" y="88463"/>
                      <a:pt x="828628" y="87750"/>
                      <a:pt x="827198" y="87038"/>
                    </a:cubicBezTo>
                    <a:cubicBezTo>
                      <a:pt x="825768" y="86325"/>
                      <a:pt x="823622" y="85612"/>
                      <a:pt x="821477" y="84899"/>
                    </a:cubicBezTo>
                    <a:cubicBezTo>
                      <a:pt x="820762" y="84186"/>
                      <a:pt x="820762" y="84186"/>
                      <a:pt x="820047" y="84186"/>
                    </a:cubicBezTo>
                    <a:cubicBezTo>
                      <a:pt x="817186" y="82760"/>
                      <a:pt x="815041" y="82047"/>
                      <a:pt x="812180" y="80621"/>
                    </a:cubicBezTo>
                    <a:cubicBezTo>
                      <a:pt x="806460" y="78482"/>
                      <a:pt x="801454" y="77056"/>
                      <a:pt x="795733" y="74917"/>
                    </a:cubicBezTo>
                    <a:cubicBezTo>
                      <a:pt x="795733" y="74917"/>
                      <a:pt x="795733" y="74917"/>
                      <a:pt x="795018" y="74917"/>
                    </a:cubicBezTo>
                    <a:cubicBezTo>
                      <a:pt x="790012" y="72778"/>
                      <a:pt x="784291" y="70640"/>
                      <a:pt x="778570" y="69214"/>
                    </a:cubicBezTo>
                    <a:cubicBezTo>
                      <a:pt x="778570" y="69214"/>
                      <a:pt x="777855" y="69214"/>
                      <a:pt x="777855" y="68501"/>
                    </a:cubicBezTo>
                    <a:cubicBezTo>
                      <a:pt x="772134" y="67075"/>
                      <a:pt x="766413" y="65649"/>
                      <a:pt x="760692" y="63510"/>
                    </a:cubicBezTo>
                    <a:cubicBezTo>
                      <a:pt x="760692" y="63510"/>
                      <a:pt x="759977" y="63510"/>
                      <a:pt x="759977" y="63510"/>
                    </a:cubicBezTo>
                    <a:cubicBezTo>
                      <a:pt x="754256" y="61371"/>
                      <a:pt x="748535" y="59945"/>
                      <a:pt x="742815" y="58519"/>
                    </a:cubicBezTo>
                    <a:cubicBezTo>
                      <a:pt x="742099" y="58519"/>
                      <a:pt x="741384" y="58519"/>
                      <a:pt x="741384" y="58519"/>
                    </a:cubicBezTo>
                    <a:cubicBezTo>
                      <a:pt x="735663" y="56380"/>
                      <a:pt x="729227" y="54954"/>
                      <a:pt x="723507" y="54242"/>
                    </a:cubicBezTo>
                    <a:cubicBezTo>
                      <a:pt x="722791" y="53529"/>
                      <a:pt x="722791" y="53529"/>
                      <a:pt x="722076" y="53529"/>
                    </a:cubicBezTo>
                    <a:cubicBezTo>
                      <a:pt x="716355" y="52103"/>
                      <a:pt x="709919" y="50677"/>
                      <a:pt x="704198" y="49251"/>
                    </a:cubicBezTo>
                    <a:cubicBezTo>
                      <a:pt x="703483" y="49251"/>
                      <a:pt x="703483" y="49251"/>
                      <a:pt x="702768" y="49251"/>
                    </a:cubicBezTo>
                    <a:cubicBezTo>
                      <a:pt x="696332" y="47825"/>
                      <a:pt x="690611" y="47112"/>
                      <a:pt x="684175" y="45686"/>
                    </a:cubicBezTo>
                    <a:cubicBezTo>
                      <a:pt x="683460" y="45686"/>
                      <a:pt x="683460" y="45686"/>
                      <a:pt x="682745" y="45686"/>
                    </a:cubicBezTo>
                    <a:cubicBezTo>
                      <a:pt x="676309" y="44260"/>
                      <a:pt x="670588" y="42834"/>
                      <a:pt x="664152" y="42121"/>
                    </a:cubicBezTo>
                    <a:cubicBezTo>
                      <a:pt x="663437" y="42121"/>
                      <a:pt x="662722" y="42121"/>
                      <a:pt x="662007" y="42121"/>
                    </a:cubicBezTo>
                    <a:cubicBezTo>
                      <a:pt x="656286" y="40695"/>
                      <a:pt x="649850" y="39982"/>
                      <a:pt x="643414" y="39269"/>
                    </a:cubicBezTo>
                    <a:cubicBezTo>
                      <a:pt x="642699" y="38557"/>
                      <a:pt x="641984" y="38557"/>
                      <a:pt x="641984" y="38557"/>
                    </a:cubicBezTo>
                    <a:cubicBezTo>
                      <a:pt x="635548" y="37844"/>
                      <a:pt x="628397" y="37131"/>
                      <a:pt x="621961" y="36418"/>
                    </a:cubicBezTo>
                    <a:cubicBezTo>
                      <a:pt x="621245" y="36418"/>
                      <a:pt x="621245" y="36418"/>
                      <a:pt x="620530" y="35705"/>
                    </a:cubicBezTo>
                    <a:cubicBezTo>
                      <a:pt x="614094" y="34992"/>
                      <a:pt x="606943" y="34279"/>
                      <a:pt x="600507" y="33566"/>
                    </a:cubicBezTo>
                    <a:cubicBezTo>
                      <a:pt x="599792" y="33566"/>
                      <a:pt x="599792" y="33566"/>
                      <a:pt x="599792" y="33566"/>
                    </a:cubicBezTo>
                    <a:cubicBezTo>
                      <a:pt x="592641" y="32853"/>
                      <a:pt x="585490" y="32140"/>
                      <a:pt x="578339" y="32140"/>
                    </a:cubicBezTo>
                    <a:cubicBezTo>
                      <a:pt x="578339" y="32140"/>
                      <a:pt x="578339" y="32140"/>
                      <a:pt x="577624" y="32140"/>
                    </a:cubicBezTo>
                    <a:cubicBezTo>
                      <a:pt x="570473" y="31427"/>
                      <a:pt x="563321" y="30714"/>
                      <a:pt x="556170" y="30714"/>
                    </a:cubicBezTo>
                    <a:cubicBezTo>
                      <a:pt x="549019" y="30001"/>
                      <a:pt x="541153" y="29288"/>
                      <a:pt x="534002" y="29288"/>
                    </a:cubicBezTo>
                    <a:cubicBezTo>
                      <a:pt x="518984" y="28575"/>
                      <a:pt x="503967" y="28575"/>
                      <a:pt x="488950" y="28575"/>
                    </a:cubicBezTo>
                    <a:cubicBezTo>
                      <a:pt x="485374" y="28575"/>
                      <a:pt x="481083" y="28575"/>
                      <a:pt x="477508" y="28575"/>
                    </a:cubicBezTo>
                    <a:close/>
                    <a:moveTo>
                      <a:pt x="488950" y="0"/>
                    </a:moveTo>
                    <a:cubicBezTo>
                      <a:pt x="613151" y="0"/>
                      <a:pt x="731641" y="19252"/>
                      <a:pt x="821579" y="54903"/>
                    </a:cubicBezTo>
                    <a:cubicBezTo>
                      <a:pt x="912945" y="90555"/>
                      <a:pt x="967193" y="139041"/>
                      <a:pt x="976473" y="192518"/>
                    </a:cubicBezTo>
                    <a:cubicBezTo>
                      <a:pt x="977186" y="193944"/>
                      <a:pt x="977900" y="196083"/>
                      <a:pt x="977900" y="198935"/>
                    </a:cubicBezTo>
                    <a:cubicBezTo>
                      <a:pt x="977900" y="198935"/>
                      <a:pt x="977900" y="198935"/>
                      <a:pt x="977900" y="884870"/>
                    </a:cubicBezTo>
                    <a:cubicBezTo>
                      <a:pt x="977900" y="1001807"/>
                      <a:pt x="763762" y="1093788"/>
                      <a:pt x="488950" y="1093788"/>
                    </a:cubicBezTo>
                    <a:cubicBezTo>
                      <a:pt x="214139" y="1093788"/>
                      <a:pt x="0" y="1001807"/>
                      <a:pt x="0" y="884870"/>
                    </a:cubicBezTo>
                    <a:cubicBezTo>
                      <a:pt x="0" y="881305"/>
                      <a:pt x="0" y="877027"/>
                      <a:pt x="714" y="873462"/>
                    </a:cubicBezTo>
                    <a:cubicBezTo>
                      <a:pt x="714" y="873462"/>
                      <a:pt x="714" y="873462"/>
                      <a:pt x="714" y="220326"/>
                    </a:cubicBezTo>
                    <a:cubicBezTo>
                      <a:pt x="0" y="216761"/>
                      <a:pt x="0" y="212483"/>
                      <a:pt x="0" y="208918"/>
                    </a:cubicBezTo>
                    <a:cubicBezTo>
                      <a:pt x="0" y="91981"/>
                      <a:pt x="214139" y="0"/>
                      <a:pt x="488950"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72" name="Freeform 18">
                <a:extLst>
                  <a:ext uri="{FF2B5EF4-FFF2-40B4-BE49-F238E27FC236}">
                    <a16:creationId xmlns:a16="http://schemas.microsoft.com/office/drawing/2014/main" id="{9E6465D7-8CF3-4051-BB41-F43D180FD5E7}"/>
                  </a:ext>
                </a:extLst>
              </p:cNvPr>
              <p:cNvSpPr>
                <a:spLocks/>
              </p:cNvSpPr>
              <p:nvPr/>
            </p:nvSpPr>
            <p:spPr bwMode="auto">
              <a:xfrm>
                <a:off x="5667375" y="3184524"/>
                <a:ext cx="860425" cy="723900"/>
              </a:xfrm>
              <a:custGeom>
                <a:avLst/>
                <a:gdLst>
                  <a:gd name="connsiteX0" fmla="*/ 860425 w 860425"/>
                  <a:gd name="connsiteY0" fmla="*/ 434975 h 723900"/>
                  <a:gd name="connsiteX1" fmla="*/ 860425 w 860425"/>
                  <a:gd name="connsiteY1" fmla="*/ 581935 h 723900"/>
                  <a:gd name="connsiteX2" fmla="*/ 743224 w 860425"/>
                  <a:gd name="connsiteY2" fmla="*/ 679670 h 723900"/>
                  <a:gd name="connsiteX3" fmla="*/ 703919 w 860425"/>
                  <a:gd name="connsiteY3" fmla="*/ 693224 h 723900"/>
                  <a:gd name="connsiteX4" fmla="*/ 430927 w 860425"/>
                  <a:gd name="connsiteY4" fmla="*/ 723900 h 723900"/>
                  <a:gd name="connsiteX5" fmla="*/ 155791 w 860425"/>
                  <a:gd name="connsiteY5" fmla="*/ 693224 h 723900"/>
                  <a:gd name="connsiteX6" fmla="*/ 117201 w 860425"/>
                  <a:gd name="connsiteY6" fmla="*/ 679670 h 723900"/>
                  <a:gd name="connsiteX7" fmla="*/ 0 w 860425"/>
                  <a:gd name="connsiteY7" fmla="*/ 581935 h 723900"/>
                  <a:gd name="connsiteX8" fmla="*/ 0 w 860425"/>
                  <a:gd name="connsiteY8" fmla="*/ 579794 h 723900"/>
                  <a:gd name="connsiteX9" fmla="*/ 715 w 860425"/>
                  <a:gd name="connsiteY9" fmla="*/ 577654 h 723900"/>
                  <a:gd name="connsiteX10" fmla="*/ 715 w 860425"/>
                  <a:gd name="connsiteY10" fmla="*/ 436402 h 723900"/>
                  <a:gd name="connsiteX11" fmla="*/ 430927 w 860425"/>
                  <a:gd name="connsiteY11" fmla="*/ 557679 h 723900"/>
                  <a:gd name="connsiteX12" fmla="*/ 860425 w 860425"/>
                  <a:gd name="connsiteY12" fmla="*/ 434975 h 723900"/>
                  <a:gd name="connsiteX13" fmla="*/ 860425 w 860425"/>
                  <a:gd name="connsiteY13" fmla="*/ 214313 h 723900"/>
                  <a:gd name="connsiteX14" fmla="*/ 860425 w 860425"/>
                  <a:gd name="connsiteY14" fmla="*/ 384562 h 723900"/>
                  <a:gd name="connsiteX15" fmla="*/ 430570 w 860425"/>
                  <a:gd name="connsiteY15" fmla="*/ 511176 h 723900"/>
                  <a:gd name="connsiteX16" fmla="*/ 0 w 860425"/>
                  <a:gd name="connsiteY16" fmla="*/ 385993 h 723900"/>
                  <a:gd name="connsiteX17" fmla="*/ 0 w 860425"/>
                  <a:gd name="connsiteY17" fmla="*/ 215744 h 723900"/>
                  <a:gd name="connsiteX18" fmla="*/ 430570 w 860425"/>
                  <a:gd name="connsiteY18" fmla="*/ 340212 h 723900"/>
                  <a:gd name="connsiteX19" fmla="*/ 860425 w 860425"/>
                  <a:gd name="connsiteY19" fmla="*/ 214313 h 723900"/>
                  <a:gd name="connsiteX20" fmla="*/ 860425 w 860425"/>
                  <a:gd name="connsiteY20" fmla="*/ 0 h 723900"/>
                  <a:gd name="connsiteX21" fmla="*/ 860425 w 860425"/>
                  <a:gd name="connsiteY21" fmla="*/ 165508 h 723900"/>
                  <a:gd name="connsiteX22" fmla="*/ 430570 w 860425"/>
                  <a:gd name="connsiteY22" fmla="*/ 288925 h 723900"/>
                  <a:gd name="connsiteX23" fmla="*/ 0 w 860425"/>
                  <a:gd name="connsiteY23" fmla="*/ 166935 h 723900"/>
                  <a:gd name="connsiteX24" fmla="*/ 0 w 860425"/>
                  <a:gd name="connsiteY24" fmla="*/ 1427 h 723900"/>
                  <a:gd name="connsiteX25" fmla="*/ 430570 w 860425"/>
                  <a:gd name="connsiteY25" fmla="*/ 122704 h 723900"/>
                  <a:gd name="connsiteX26" fmla="*/ 860425 w 860425"/>
                  <a:gd name="connsiteY26"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60425" h="723900">
                    <a:moveTo>
                      <a:pt x="860425" y="434975"/>
                    </a:moveTo>
                    <a:cubicBezTo>
                      <a:pt x="860425" y="434975"/>
                      <a:pt x="860425" y="434975"/>
                      <a:pt x="860425" y="581935"/>
                    </a:cubicBezTo>
                    <a:cubicBezTo>
                      <a:pt x="860425" y="614037"/>
                      <a:pt x="815403" y="651847"/>
                      <a:pt x="743224" y="679670"/>
                    </a:cubicBezTo>
                    <a:cubicBezTo>
                      <a:pt x="731076" y="684663"/>
                      <a:pt x="717497" y="688944"/>
                      <a:pt x="703919" y="693224"/>
                    </a:cubicBezTo>
                    <a:cubicBezTo>
                      <a:pt x="629597" y="713199"/>
                      <a:pt x="533835" y="723900"/>
                      <a:pt x="430927" y="723900"/>
                    </a:cubicBezTo>
                    <a:cubicBezTo>
                      <a:pt x="326590" y="723900"/>
                      <a:pt x="230829" y="713199"/>
                      <a:pt x="155791" y="693224"/>
                    </a:cubicBezTo>
                    <a:cubicBezTo>
                      <a:pt x="142213" y="688944"/>
                      <a:pt x="129350" y="684663"/>
                      <a:pt x="117201" y="679670"/>
                    </a:cubicBezTo>
                    <a:cubicBezTo>
                      <a:pt x="45022" y="651847"/>
                      <a:pt x="0" y="614037"/>
                      <a:pt x="0" y="581935"/>
                    </a:cubicBezTo>
                    <a:cubicBezTo>
                      <a:pt x="0" y="581221"/>
                      <a:pt x="0" y="580508"/>
                      <a:pt x="0" y="579794"/>
                    </a:cubicBezTo>
                    <a:cubicBezTo>
                      <a:pt x="0" y="579794"/>
                      <a:pt x="0" y="579794"/>
                      <a:pt x="715" y="577654"/>
                    </a:cubicBezTo>
                    <a:cubicBezTo>
                      <a:pt x="715" y="577654"/>
                      <a:pt x="715" y="577654"/>
                      <a:pt x="715" y="436402"/>
                    </a:cubicBezTo>
                    <a:cubicBezTo>
                      <a:pt x="33588" y="509168"/>
                      <a:pt x="213677" y="557679"/>
                      <a:pt x="430927" y="557679"/>
                    </a:cubicBezTo>
                    <a:cubicBezTo>
                      <a:pt x="648178" y="557679"/>
                      <a:pt x="828981" y="508455"/>
                      <a:pt x="860425" y="434975"/>
                    </a:cubicBezTo>
                    <a:close/>
                    <a:moveTo>
                      <a:pt x="860425" y="214313"/>
                    </a:moveTo>
                    <a:cubicBezTo>
                      <a:pt x="860425" y="214313"/>
                      <a:pt x="860425" y="214313"/>
                      <a:pt x="860425" y="384562"/>
                    </a:cubicBezTo>
                    <a:cubicBezTo>
                      <a:pt x="828955" y="461103"/>
                      <a:pt x="648001" y="511176"/>
                      <a:pt x="430570" y="511176"/>
                    </a:cubicBezTo>
                    <a:cubicBezTo>
                      <a:pt x="213140" y="511176"/>
                      <a:pt x="32901" y="461818"/>
                      <a:pt x="0" y="385993"/>
                    </a:cubicBezTo>
                    <a:cubicBezTo>
                      <a:pt x="0" y="385993"/>
                      <a:pt x="0" y="385993"/>
                      <a:pt x="0" y="215744"/>
                    </a:cubicBezTo>
                    <a:cubicBezTo>
                      <a:pt x="32901" y="290854"/>
                      <a:pt x="213140" y="340212"/>
                      <a:pt x="430570" y="340212"/>
                    </a:cubicBezTo>
                    <a:cubicBezTo>
                      <a:pt x="648001" y="340212"/>
                      <a:pt x="828955" y="290138"/>
                      <a:pt x="860425" y="214313"/>
                    </a:cubicBezTo>
                    <a:close/>
                    <a:moveTo>
                      <a:pt x="860425" y="0"/>
                    </a:moveTo>
                    <a:cubicBezTo>
                      <a:pt x="860425" y="0"/>
                      <a:pt x="860425" y="0"/>
                      <a:pt x="860425" y="165508"/>
                    </a:cubicBezTo>
                    <a:cubicBezTo>
                      <a:pt x="828955" y="239701"/>
                      <a:pt x="648001" y="288925"/>
                      <a:pt x="430570" y="288925"/>
                    </a:cubicBezTo>
                    <a:cubicBezTo>
                      <a:pt x="213140" y="288925"/>
                      <a:pt x="32901" y="240414"/>
                      <a:pt x="0" y="166935"/>
                    </a:cubicBezTo>
                    <a:cubicBezTo>
                      <a:pt x="0" y="166935"/>
                      <a:pt x="0" y="166935"/>
                      <a:pt x="0" y="1427"/>
                    </a:cubicBezTo>
                    <a:cubicBezTo>
                      <a:pt x="32901" y="74193"/>
                      <a:pt x="213140" y="122704"/>
                      <a:pt x="430570" y="122704"/>
                    </a:cubicBezTo>
                    <a:cubicBezTo>
                      <a:pt x="648001" y="122704"/>
                      <a:pt x="828955" y="73480"/>
                      <a:pt x="860425" y="0"/>
                    </a:cubicBezTo>
                    <a:close/>
                  </a:path>
                </a:pathLst>
              </a:custGeom>
              <a:solidFill>
                <a:schemeClr val="tx2"/>
              </a:solidFill>
              <a:ln>
                <a:noFill/>
              </a:ln>
            </p:spPr>
            <p:txBody>
              <a:bodyPr vert="horz" wrap="square" lIns="91440" tIns="45720" rIns="91440" bIns="45720" numCol="1" anchor="t" anchorCtr="0" compatLnSpc="1">
                <a:prstTxWarp prst="textNoShape">
                  <a:avLst/>
                </a:prstTxWarp>
                <a:noAutofit/>
              </a:bodyPr>
              <a:lstStyle/>
              <a:p>
                <a:endParaRPr lang="en-US"/>
              </a:p>
            </p:txBody>
          </p:sp>
        </p:grpSp>
      </p:grpSp>
      <p:grpSp>
        <p:nvGrpSpPr>
          <p:cNvPr id="3" name="Group 2">
            <a:extLst>
              <a:ext uri="{FF2B5EF4-FFF2-40B4-BE49-F238E27FC236}">
                <a16:creationId xmlns:a16="http://schemas.microsoft.com/office/drawing/2014/main" id="{2F8F9F61-ADC1-4F8F-8CB1-B21560BE6F5D}"/>
              </a:ext>
            </a:extLst>
          </p:cNvPr>
          <p:cNvGrpSpPr/>
          <p:nvPr/>
        </p:nvGrpSpPr>
        <p:grpSpPr>
          <a:xfrm>
            <a:off x="7296472" y="6188666"/>
            <a:ext cx="3792930" cy="363091"/>
            <a:chOff x="4624358" y="6095416"/>
            <a:chExt cx="3792930" cy="363091"/>
          </a:xfrm>
        </p:grpSpPr>
        <p:pic>
          <p:nvPicPr>
            <p:cNvPr id="91" name="Picture 16">
              <a:extLst>
                <a:ext uri="{FF2B5EF4-FFF2-40B4-BE49-F238E27FC236}">
                  <a16:creationId xmlns:a16="http://schemas.microsoft.com/office/drawing/2014/main" id="{9B921F79-F383-4380-BFEE-5CB184B3E323}"/>
                </a:ext>
              </a:extLst>
            </p:cNvPr>
            <p:cNvPicPr>
              <a:picLocks noChangeAspect="1" noChangeArrowheads="1"/>
            </p:cNvPicPr>
            <p:nvPr/>
          </p:nvPicPr>
          <p:blipFill>
            <a:blip r:embed="rId38" cstate="hqprint">
              <a:extLst>
                <a:ext uri="{28A0092B-C50C-407E-A947-70E740481C1C}">
                  <a14:useLocalDpi xmlns:a14="http://schemas.microsoft.com/office/drawing/2010/main"/>
                </a:ext>
              </a:extLst>
            </a:blip>
            <a:srcRect/>
            <a:stretch>
              <a:fillRect/>
            </a:stretch>
          </p:blipFill>
          <p:spPr bwMode="auto">
            <a:xfrm>
              <a:off x="5842125" y="6126231"/>
              <a:ext cx="457200" cy="311346"/>
            </a:xfrm>
            <a:prstGeom prst="rect">
              <a:avLst/>
            </a:prstGeom>
            <a:noFill/>
            <a:extLst>
              <a:ext uri="{909E8E84-426E-40DD-AFC4-6F175D3DCCD1}">
                <a14:hiddenFill xmlns:a14="http://schemas.microsoft.com/office/drawing/2010/main">
                  <a:solidFill>
                    <a:srgbClr val="FFFFFF"/>
                  </a:solidFill>
                </a14:hiddenFill>
              </a:ext>
            </a:extLst>
          </p:spPr>
        </p:pic>
        <p:pic>
          <p:nvPicPr>
            <p:cNvPr id="92" name="Picture 26">
              <a:extLst>
                <a:ext uri="{FF2B5EF4-FFF2-40B4-BE49-F238E27FC236}">
                  <a16:creationId xmlns:a16="http://schemas.microsoft.com/office/drawing/2014/main" id="{AF562481-C1E4-4D69-8CF9-FC6922C80A82}"/>
                </a:ext>
              </a:extLst>
            </p:cNvPr>
            <p:cNvPicPr>
              <a:picLocks noChangeAspect="1" noChangeArrowheads="1"/>
            </p:cNvPicPr>
            <p:nvPr/>
          </p:nvPicPr>
          <p:blipFill>
            <a:blip r:embed="rId39" cstate="hqprint">
              <a:extLst>
                <a:ext uri="{28A0092B-C50C-407E-A947-70E740481C1C}">
                  <a14:useLocalDpi xmlns:a14="http://schemas.microsoft.com/office/drawing/2010/main"/>
                </a:ext>
              </a:extLst>
            </a:blip>
            <a:srcRect/>
            <a:stretch>
              <a:fillRect/>
            </a:stretch>
          </p:blipFill>
          <p:spPr bwMode="auto">
            <a:xfrm>
              <a:off x="6319729" y="6095416"/>
              <a:ext cx="365760" cy="363091"/>
            </a:xfrm>
            <a:prstGeom prst="rect">
              <a:avLst/>
            </a:prstGeom>
            <a:noFill/>
            <a:extLst>
              <a:ext uri="{909E8E84-426E-40DD-AFC4-6F175D3DCCD1}">
                <a14:hiddenFill xmlns:a14="http://schemas.microsoft.com/office/drawing/2010/main">
                  <a:solidFill>
                    <a:srgbClr val="FFFFFF"/>
                  </a:solidFill>
                </a14:hiddenFill>
              </a:ext>
            </a:extLst>
          </p:spPr>
        </p:pic>
        <p:pic>
          <p:nvPicPr>
            <p:cNvPr id="103" name="Picture 4">
              <a:extLst>
                <a:ext uri="{FF2B5EF4-FFF2-40B4-BE49-F238E27FC236}">
                  <a16:creationId xmlns:a16="http://schemas.microsoft.com/office/drawing/2014/main" id="{5B6C7F91-2768-4CA1-85E3-D83ED94C4FB1}"/>
                </a:ext>
              </a:extLst>
            </p:cNvPr>
            <p:cNvPicPr>
              <a:picLocks noChangeAspect="1"/>
            </p:cNvPicPr>
            <p:nvPr/>
          </p:nvPicPr>
          <p:blipFill>
            <a:blip r:embed="rId40" cstate="screen">
              <a:extLst>
                <a:ext uri="{28A0092B-C50C-407E-A947-70E740481C1C}">
                  <a14:useLocalDpi xmlns:a14="http://schemas.microsoft.com/office/drawing/2010/main"/>
                </a:ext>
              </a:extLst>
            </a:blip>
            <a:srcRect/>
            <a:stretch>
              <a:fillRect/>
            </a:stretch>
          </p:blipFill>
          <p:spPr bwMode="auto">
            <a:xfrm>
              <a:off x="6845472" y="6183231"/>
              <a:ext cx="494429" cy="1901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4" name="Picture 3" descr="Standard Bank Eliminating Remote Access Security Concerns | Case Study |  OneSpan">
              <a:extLst>
                <a:ext uri="{FF2B5EF4-FFF2-40B4-BE49-F238E27FC236}">
                  <a16:creationId xmlns:a16="http://schemas.microsoft.com/office/drawing/2014/main" id="{1CDAE304-752D-4762-9D07-606C8D93AAEF}"/>
                </a:ext>
              </a:extLst>
            </p:cNvPr>
            <p:cNvPicPr>
              <a:picLocks noChangeAspect="1" noChangeArrowheads="1"/>
            </p:cNvPicPr>
            <p:nvPr/>
          </p:nvPicPr>
          <p:blipFill>
            <a:blip r:embed="rId41" cstate="hqprint">
              <a:extLst>
                <a:ext uri="{28A0092B-C50C-407E-A947-70E740481C1C}">
                  <a14:useLocalDpi xmlns:a14="http://schemas.microsoft.com/office/drawing/2010/main"/>
                </a:ext>
              </a:extLst>
            </a:blip>
            <a:srcRect/>
            <a:stretch>
              <a:fillRect/>
            </a:stretch>
          </p:blipFill>
          <p:spPr bwMode="auto">
            <a:xfrm>
              <a:off x="7473499" y="6120280"/>
              <a:ext cx="943789" cy="323248"/>
            </a:xfrm>
            <a:prstGeom prst="rect">
              <a:avLst/>
            </a:prstGeom>
            <a:noFill/>
            <a:extLst>
              <a:ext uri="{909E8E84-426E-40DD-AFC4-6F175D3DCCD1}">
                <a14:hiddenFill xmlns:a14="http://schemas.microsoft.com/office/drawing/2010/main">
                  <a:solidFill>
                    <a:srgbClr val="FFFFFF"/>
                  </a:solidFill>
                </a14:hiddenFill>
              </a:ext>
            </a:extLst>
          </p:spPr>
        </p:pic>
        <p:pic>
          <p:nvPicPr>
            <p:cNvPr id="438274" name="Picture 2" descr="See the source image">
              <a:extLst>
                <a:ext uri="{FF2B5EF4-FFF2-40B4-BE49-F238E27FC236}">
                  <a16:creationId xmlns:a16="http://schemas.microsoft.com/office/drawing/2014/main" id="{13A37AD3-4D72-42CB-A64E-B179EC07D93D}"/>
                </a:ext>
              </a:extLst>
            </p:cNvPr>
            <p:cNvPicPr>
              <a:picLocks noChangeAspect="1" noChangeArrowheads="1"/>
            </p:cNvPicPr>
            <p:nvPr/>
          </p:nvPicPr>
          <p:blipFill>
            <a:blip r:embed="rId42" cstate="hqprint">
              <a:extLst>
                <a:ext uri="{28A0092B-C50C-407E-A947-70E740481C1C}">
                  <a14:useLocalDpi xmlns:a14="http://schemas.microsoft.com/office/drawing/2010/main"/>
                </a:ext>
              </a:extLst>
            </a:blip>
            <a:srcRect/>
            <a:stretch>
              <a:fillRect/>
            </a:stretch>
          </p:blipFill>
          <p:spPr bwMode="auto">
            <a:xfrm>
              <a:off x="4624358" y="6175372"/>
              <a:ext cx="457200" cy="262890"/>
            </a:xfrm>
            <a:prstGeom prst="rect">
              <a:avLst/>
            </a:prstGeom>
            <a:noFill/>
            <a:extLst>
              <a:ext uri="{909E8E84-426E-40DD-AFC4-6F175D3DCCD1}">
                <a14:hiddenFill xmlns:a14="http://schemas.microsoft.com/office/drawing/2010/main">
                  <a:solidFill>
                    <a:srgbClr val="FFFFFF"/>
                  </a:solidFill>
                </a14:hiddenFill>
              </a:ext>
            </a:extLst>
          </p:spPr>
        </p:pic>
        <p:pic>
          <p:nvPicPr>
            <p:cNvPr id="438276" name="Picture 4" descr="See the source image">
              <a:extLst>
                <a:ext uri="{FF2B5EF4-FFF2-40B4-BE49-F238E27FC236}">
                  <a16:creationId xmlns:a16="http://schemas.microsoft.com/office/drawing/2014/main" id="{0B3D2D08-95CA-403C-8379-3EDA701084A9}"/>
                </a:ext>
              </a:extLst>
            </p:cNvPr>
            <p:cNvPicPr>
              <a:picLocks noChangeAspect="1" noChangeArrowheads="1"/>
            </p:cNvPicPr>
            <p:nvPr/>
          </p:nvPicPr>
          <p:blipFill>
            <a:blip r:embed="rId43" cstate="hqprint">
              <a:extLst>
                <a:ext uri="{28A0092B-C50C-407E-A947-70E740481C1C}">
                  <a14:useLocalDpi xmlns:a14="http://schemas.microsoft.com/office/drawing/2010/main"/>
                </a:ext>
              </a:extLst>
            </a:blip>
            <a:srcRect/>
            <a:stretch>
              <a:fillRect/>
            </a:stretch>
          </p:blipFill>
          <p:spPr bwMode="auto">
            <a:xfrm>
              <a:off x="5100329" y="6125272"/>
              <a:ext cx="914400" cy="315311"/>
            </a:xfrm>
            <a:prstGeom prst="rect">
              <a:avLst/>
            </a:prstGeom>
            <a:noFill/>
            <a:extLst>
              <a:ext uri="{909E8E84-426E-40DD-AFC4-6F175D3DCCD1}">
                <a14:hiddenFill xmlns:a14="http://schemas.microsoft.com/office/drawing/2010/main">
                  <a:solidFill>
                    <a:srgbClr val="FFFFFF"/>
                  </a:solidFill>
                </a14:hiddenFill>
              </a:ext>
            </a:extLst>
          </p:spPr>
        </p:pic>
      </p:grpSp>
      <p:sp>
        <p:nvSpPr>
          <p:cNvPr id="108" name="NavigationTriangle">
            <a:extLst>
              <a:ext uri="{FF2B5EF4-FFF2-40B4-BE49-F238E27FC236}">
                <a16:creationId xmlns:a16="http://schemas.microsoft.com/office/drawing/2014/main" id="{9F1EC587-CEDB-4901-9B45-C708B9C0BA0B}"/>
              </a:ext>
            </a:extLst>
          </p:cNvPr>
          <p:cNvSpPr/>
          <p:nvPr/>
        </p:nvSpPr>
        <p:spPr>
          <a:xfrm rot="16200000">
            <a:off x="11116165" y="-21446"/>
            <a:ext cx="1054387" cy="1097280"/>
          </a:xfrm>
          <a:prstGeom prst="triangle">
            <a:avLst>
              <a:gd name="adj" fmla="val 100000"/>
            </a:avLst>
          </a:prstGeom>
          <a:solidFill>
            <a:schemeClr val="tx2"/>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9B1C23"/>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Nova"/>
              <a:ea typeface="+mn-ea"/>
              <a:cs typeface="+mn-cs"/>
            </a:endParaRPr>
          </a:p>
        </p:txBody>
      </p:sp>
      <p:sp>
        <p:nvSpPr>
          <p:cNvPr id="109" name="NavigationIcon">
            <a:extLst>
              <a:ext uri="{FF2B5EF4-FFF2-40B4-BE49-F238E27FC236}">
                <a16:creationId xmlns:a16="http://schemas.microsoft.com/office/drawing/2014/main" id="{FF56D881-BF40-4FD2-A034-00E7F71985A4}"/>
              </a:ext>
            </a:extLst>
          </p:cNvPr>
          <p:cNvSpPr>
            <a:spLocks noChangeAspect="1" noChangeArrowheads="1"/>
          </p:cNvSpPr>
          <p:nvPr>
            <p:custDataLst>
              <p:tags r:id="rId28"/>
            </p:custDataLst>
          </p:nvPr>
        </p:nvSpPr>
        <p:spPr bwMode="auto">
          <a:xfrm>
            <a:off x="11690544" y="132877"/>
            <a:ext cx="365760" cy="365760"/>
          </a:xfrm>
          <a:prstGeom prst="ellipse">
            <a:avLst/>
          </a:prstGeom>
          <a:solidFill>
            <a:schemeClr val="bg1"/>
          </a:solidFill>
          <a:ln>
            <a:noFill/>
          </a:ln>
        </p:spPr>
        <p:txBody>
          <a:bodyPr vert="horz" wrap="square" lIns="0" tIns="0" rIns="0" bIns="0" numCol="1" anchor="ctr" anchorCtr="0" compatLnSpc="1">
            <a:prstTxWarp prst="textNoShape">
              <a:avLst/>
            </a:prstTxWarp>
          </a:bodyPr>
          <a:lstStyle/>
          <a:p>
            <a:pPr algn="ctr">
              <a:buFontTx/>
              <a:buChar char="​"/>
              <a:defRPr/>
            </a:pPr>
            <a:r>
              <a:rPr kumimoji="0" lang="en-US" sz="1600" b="0" i="0" u="none" strike="noStrike" kern="1200" cap="none" spc="0" normalizeH="0" baseline="0" noProof="0">
                <a:ln>
                  <a:noFill/>
                </a:ln>
                <a:solidFill>
                  <a:srgbClr val="29BA74"/>
                </a:solidFill>
                <a:effectLst/>
                <a:uLnTx/>
                <a:uFillTx/>
                <a:latin typeface="Trebuchet MS" panose="020B0603020202020204" pitchFamily="34" charset="0"/>
                <a:ea typeface="+mn-ea"/>
                <a:cs typeface="+mn-cs"/>
              </a:rPr>
              <a:t>3</a:t>
            </a:r>
          </a:p>
        </p:txBody>
      </p:sp>
      <p:sp>
        <p:nvSpPr>
          <p:cNvPr id="106" name="Rectangle 105">
            <a:extLst>
              <a:ext uri="{FF2B5EF4-FFF2-40B4-BE49-F238E27FC236}">
                <a16:creationId xmlns:a16="http://schemas.microsoft.com/office/drawing/2014/main" id="{A644AA06-20B4-4085-9988-BD0F26655DB7}"/>
              </a:ext>
            </a:extLst>
          </p:cNvPr>
          <p:cNvSpPr>
            <a:spLocks/>
          </p:cNvSpPr>
          <p:nvPr/>
        </p:nvSpPr>
        <p:spPr>
          <a:xfrm>
            <a:off x="6638926" y="0"/>
            <a:ext cx="4425468" cy="191701"/>
          </a:xfrm>
          <a:prstGeom prst="rect">
            <a:avLst/>
          </a:prstGeom>
          <a:noFill/>
          <a:ln w="6943" cap="rnd" cmpd="sng" algn="ctr">
            <a:noFill/>
            <a:prstDash val="solid"/>
            <a:round/>
            <a:headEnd type="none" w="med" len="med"/>
            <a:tailEnd type="none" w="med" len="med"/>
          </a:ln>
          <a:effectLst/>
          <a:extLst>
            <a:ext uri="{909E8E84-426E-40DD-AFC4-6F175D3DCCD1}">
              <a14:hiddenFill xmlns:a14="http://schemas.microsoft.com/office/drawing/2010/main">
                <a:solidFill>
                  <a:srgbClr val="9B1C23"/>
                </a:solidFill>
              </a14:hiddenFill>
            </a:ext>
            <a:ext uri="{91240B29-F687-4F45-9708-019B960494DF}">
              <a14:hiddenLine xmlns:a14="http://schemas.microsoft.com/office/drawing/2010/main" w="6943" cap="rnd" cmpd="sng" algn="ctr">
                <a:solidFill>
                  <a:srgbClr val="9B1C23"/>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7F7F7F"/>
                </a:solidFill>
                <a:effectLst/>
                <a:uLnTx/>
                <a:uFillTx/>
                <a:latin typeface="Trebuchet MS" panose="020B0603020202020204" pitchFamily="34" charset="0"/>
                <a:ea typeface="+mn-ea"/>
                <a:cs typeface="+mn-cs"/>
              </a:rPr>
              <a:t>Logical architecture</a:t>
            </a:r>
          </a:p>
        </p:txBody>
      </p:sp>
      <p:sp>
        <p:nvSpPr>
          <p:cNvPr id="17" name="Textfeld 1">
            <a:extLst>
              <a:ext uri="{FF2B5EF4-FFF2-40B4-BE49-F238E27FC236}">
                <a16:creationId xmlns:a16="http://schemas.microsoft.com/office/drawing/2014/main" id="{AF502C9D-7584-427B-5D8C-7AB31AADDEE2}"/>
              </a:ext>
            </a:extLst>
          </p:cNvPr>
          <p:cNvSpPr txBox="1"/>
          <p:nvPr>
            <p:custDataLst>
              <p:tags r:id="rId29"/>
            </p:custDataLst>
          </p:nvPr>
        </p:nvSpPr>
        <p:spPr>
          <a:xfrm>
            <a:off x="125746" y="39238"/>
            <a:ext cx="2745429" cy="483209"/>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en-US" sz="1200" b="1">
                <a:solidFill>
                  <a:srgbClr val="575757"/>
                </a:solidFill>
                <a:sym typeface="Trebuchet MS" panose="020B0603020202020204" pitchFamily="34" charset="0"/>
              </a:rPr>
              <a:t>TM 21.Jun.24:
</a:t>
            </a:r>
            <a:r>
              <a:rPr kumimoji="0" lang="en-US" altLang="zh-TW" sz="1200" b="1" u="none" strike="noStrike" kern="1200" cap="none" spc="0" normalizeH="0" baseline="0" noProof="0">
                <a:ln>
                  <a:noFill/>
                </a:ln>
                <a:solidFill>
                  <a:srgbClr val="575757"/>
                </a:solidFill>
                <a:effectLst/>
                <a:uLnTx/>
                <a:uFillTx/>
                <a:latin typeface="OP Chevin Pro Light"/>
                <a:ea typeface="Microsoft YaHei" panose="020B0503020204020204" pitchFamily="34" charset="-122"/>
              </a:rPr>
              <a:t>TBD- </a:t>
            </a:r>
            <a:r>
              <a:rPr kumimoji="0" lang="zh-TW" altLang="en-US" sz="1200" b="1" u="none" strike="noStrike" kern="1200" cap="none" spc="0" normalizeH="0" baseline="0" noProof="0">
                <a:ln>
                  <a:noFill/>
                </a:ln>
                <a:solidFill>
                  <a:srgbClr val="575757"/>
                </a:solidFill>
                <a:effectLst/>
                <a:uLnTx/>
                <a:uFillTx/>
                <a:latin typeface="OP Chevin Pro Light"/>
                <a:ea typeface="Microsoft YaHei" panose="020B0503020204020204" pitchFamily="34" charset="-122"/>
              </a:rPr>
              <a:t>看是用這版或招商</a:t>
            </a:r>
            <a:endParaRPr lang="en-US" sz="1200" b="1">
              <a:solidFill>
                <a:srgbClr val="575757"/>
              </a:solidFill>
              <a:sym typeface="Trebuchet MS" panose="020B0603020202020204" pitchFamily="34" charset="0"/>
            </a:endParaRPr>
          </a:p>
        </p:txBody>
      </p:sp>
    </p:spTree>
    <p:extLst>
      <p:ext uri="{BB962C8B-B14F-4D97-AF65-F5344CB8AC3E}">
        <p14:creationId xmlns:p14="http://schemas.microsoft.com/office/powerpoint/2010/main" val="325867754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66096C8A-FC2F-4580-8FAC-F41732D8B6C5}"/>
              </a:ext>
            </a:extLst>
          </p:cNvPr>
          <p:cNvGraphicFramePr>
            <a:graphicFrameLocks noChangeAspect="1"/>
          </p:cNvGraphicFramePr>
          <p:nvPr>
            <p:custDataLst>
              <p:tags r:id="rId1"/>
            </p:custDataLst>
            <p:extLst>
              <p:ext uri="{D42A27DB-BD31-4B8C-83A1-F6EECF244321}">
                <p14:modId xmlns:p14="http://schemas.microsoft.com/office/powerpoint/2010/main" val="410683670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5" imgW="425" imgH="426" progId="TCLayout.ActiveDocument.1">
                  <p:embed/>
                </p:oleObj>
              </mc:Choice>
              <mc:Fallback>
                <p:oleObj name="think-cell Slide" r:id="rId55" imgW="425" imgH="426" progId="TCLayout.ActiveDocument.1">
                  <p:embed/>
                  <p:pic>
                    <p:nvPicPr>
                      <p:cNvPr id="4" name="Object 3" hidden="1">
                        <a:extLst>
                          <a:ext uri="{FF2B5EF4-FFF2-40B4-BE49-F238E27FC236}">
                            <a16:creationId xmlns:a16="http://schemas.microsoft.com/office/drawing/2014/main" id="{66096C8A-FC2F-4580-8FAC-F41732D8B6C5}"/>
                          </a:ext>
                        </a:extLst>
                      </p:cNvPr>
                      <p:cNvPicPr/>
                      <p:nvPr/>
                    </p:nvPicPr>
                    <p:blipFill>
                      <a:blip r:embed="rId56"/>
                      <a:stretch>
                        <a:fillRect/>
                      </a:stretch>
                    </p:blipFill>
                    <p:spPr>
                      <a:xfrm>
                        <a:off x="1588" y="1588"/>
                        <a:ext cx="1588" cy="1588"/>
                      </a:xfrm>
                      <a:prstGeom prst="rect">
                        <a:avLst/>
                      </a:prstGeom>
                    </p:spPr>
                  </p:pic>
                </p:oleObj>
              </mc:Fallback>
            </mc:AlternateContent>
          </a:graphicData>
        </a:graphic>
      </p:graphicFrame>
      <p:sp>
        <p:nvSpPr>
          <p:cNvPr id="103" name="Rectangle: Rounded Corners 102">
            <a:extLst>
              <a:ext uri="{FF2B5EF4-FFF2-40B4-BE49-F238E27FC236}">
                <a16:creationId xmlns:a16="http://schemas.microsoft.com/office/drawing/2014/main" id="{C77BB338-6878-4528-821E-45EE9DB6E7EF}"/>
              </a:ext>
            </a:extLst>
          </p:cNvPr>
          <p:cNvSpPr/>
          <p:nvPr>
            <p:custDataLst>
              <p:tags r:id="rId2"/>
            </p:custDataLst>
          </p:nvPr>
        </p:nvSpPr>
        <p:spPr>
          <a:xfrm>
            <a:off x="979289" y="5869668"/>
            <a:ext cx="10572781" cy="223711"/>
          </a:xfrm>
          <a:prstGeom prst="roundRect">
            <a:avLst/>
          </a:prstGeom>
          <a:solidFill>
            <a:srgbClr val="F2F2F2"/>
          </a:solidFill>
          <a:ln w="952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150" b="1">
                <a:solidFill>
                  <a:srgbClr val="575757"/>
                </a:solidFill>
              </a:rPr>
              <a:t>組織及協作</a:t>
            </a:r>
            <a:r>
              <a:rPr lang="en-US" sz="1150" b="1" err="1">
                <a:solidFill>
                  <a:srgbClr val="575757"/>
                </a:solidFill>
              </a:rPr>
              <a:t>模式</a:t>
            </a:r>
            <a:r>
              <a:rPr lang="en-US" sz="1150" b="1">
                <a:solidFill>
                  <a:srgbClr val="575757"/>
                </a:solidFill>
              </a:rPr>
              <a:t>(</a:t>
            </a:r>
            <a:r>
              <a:rPr lang="en-US" sz="1150" b="1" err="1">
                <a:solidFill>
                  <a:srgbClr val="575757"/>
                </a:solidFill>
              </a:rPr>
              <a:t>組織結構</a:t>
            </a:r>
            <a:r>
              <a:rPr lang="en-US" sz="1150" b="1">
                <a:solidFill>
                  <a:srgbClr val="575757"/>
                </a:solidFill>
              </a:rPr>
              <a:t>、</a:t>
            </a:r>
            <a:r>
              <a:rPr lang="zh-TW" altLang="en-US" sz="1150" b="1">
                <a:solidFill>
                  <a:srgbClr val="575757"/>
                </a:solidFill>
              </a:rPr>
              <a:t>協作</a:t>
            </a:r>
            <a:r>
              <a:rPr lang="en-US" sz="1150" b="1" err="1">
                <a:solidFill>
                  <a:srgbClr val="575757"/>
                </a:solidFill>
              </a:rPr>
              <a:t>流程</a:t>
            </a:r>
            <a:r>
              <a:rPr lang="en-US" sz="1150" b="1">
                <a:solidFill>
                  <a:srgbClr val="575757"/>
                </a:solidFill>
              </a:rPr>
              <a:t>、</a:t>
            </a:r>
            <a:r>
              <a:rPr lang="zh-TW" altLang="en-US" sz="1150" b="1">
                <a:solidFill>
                  <a:srgbClr val="575757"/>
                </a:solidFill>
              </a:rPr>
              <a:t>職責</a:t>
            </a:r>
            <a:r>
              <a:rPr lang="en-US" sz="1150" b="1">
                <a:solidFill>
                  <a:srgbClr val="575757"/>
                </a:solidFill>
              </a:rPr>
              <a:t>、</a:t>
            </a:r>
            <a:r>
              <a:rPr lang="en-US" sz="1150" b="1" err="1">
                <a:solidFill>
                  <a:srgbClr val="575757"/>
                </a:solidFill>
              </a:rPr>
              <a:t>KPI</a:t>
            </a:r>
            <a:r>
              <a:rPr lang="en-US" sz="1150" b="1">
                <a:solidFill>
                  <a:srgbClr val="575757"/>
                </a:solidFill>
              </a:rPr>
              <a:t>)</a:t>
            </a:r>
          </a:p>
        </p:txBody>
      </p:sp>
      <p:sp>
        <p:nvSpPr>
          <p:cNvPr id="104" name="Rectangle: Rounded Corners 103">
            <a:extLst>
              <a:ext uri="{FF2B5EF4-FFF2-40B4-BE49-F238E27FC236}">
                <a16:creationId xmlns:a16="http://schemas.microsoft.com/office/drawing/2014/main" id="{F03A2583-923C-4BC8-962F-B8EBA80FE89A}"/>
              </a:ext>
            </a:extLst>
          </p:cNvPr>
          <p:cNvSpPr/>
          <p:nvPr>
            <p:custDataLst>
              <p:tags r:id="rId3"/>
            </p:custDataLst>
          </p:nvPr>
        </p:nvSpPr>
        <p:spPr>
          <a:xfrm>
            <a:off x="979289" y="6139593"/>
            <a:ext cx="10572781" cy="223711"/>
          </a:xfrm>
          <a:prstGeom prst="roundRect">
            <a:avLst/>
          </a:prstGeom>
          <a:solidFill>
            <a:srgbClr val="F2F2F2"/>
          </a:solidFill>
          <a:ln w="952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150" b="1">
                <a:solidFill>
                  <a:srgbClr val="575757"/>
                </a:solidFill>
              </a:rPr>
              <a:t>技術和分析</a:t>
            </a:r>
          </a:p>
        </p:txBody>
      </p:sp>
      <p:sp>
        <p:nvSpPr>
          <p:cNvPr id="109" name="ee4pHeader1">
            <a:extLst>
              <a:ext uri="{FF2B5EF4-FFF2-40B4-BE49-F238E27FC236}">
                <a16:creationId xmlns:a16="http://schemas.microsoft.com/office/drawing/2014/main" id="{88595698-C045-4F97-BE2D-1AC1108EAB8E}"/>
              </a:ext>
            </a:extLst>
          </p:cNvPr>
          <p:cNvSpPr>
            <a:spLocks noChangeArrowheads="1"/>
          </p:cNvSpPr>
          <p:nvPr>
            <p:custDataLst>
              <p:tags r:id="rId4"/>
            </p:custDataLst>
          </p:nvPr>
        </p:nvSpPr>
        <p:spPr bwMode="gray">
          <a:xfrm rot="16200000" flipH="1">
            <a:off x="-1219926" y="3660499"/>
            <a:ext cx="3966668" cy="266814"/>
          </a:xfrm>
          <a:prstGeom prst="homePlate">
            <a:avLst>
              <a:gd name="adj" fmla="val 12004"/>
            </a:avLst>
          </a:prstGeom>
          <a:solidFill>
            <a:schemeClr val="tx2"/>
          </a:solidFill>
          <a:ln w="12700" cap="rnd" cmpd="sng" algn="ctr">
            <a:noFill/>
            <a:prstDash val="solid"/>
            <a:round/>
            <a:headEnd type="none" w="med" len="med"/>
            <a:tailEnd type="none" w="med" len="med"/>
          </a:ln>
          <a:extLst>
            <a:ext uri="{91240B29-F687-4F45-9708-019B960494DF}">
              <a14:hiddenLine xmlns:a14="http://schemas.microsoft.com/office/drawing/2010/main" w="12700" cap="rnd" cmpd="sng" algn="ctr">
                <a:solidFill>
                  <a:schemeClr val="bg1">
                    <a:lumMod val="50000"/>
                  </a:schemeClr>
                </a:solidFill>
                <a:prstDash val="solid"/>
                <a:round/>
                <a:headEnd type="none" w="med" len="med"/>
                <a:tailEnd type="none" w="med" len="med"/>
              </a14:hiddenLine>
            </a:ext>
          </a:extLst>
        </p:spPr>
        <p:txBody>
          <a:bodyPr wrap="square" lIns="0" tIns="0" rIns="0" bIns="0" rtlCol="0" anchor="ctr" anchorCtr="0">
            <a:noAutofit/>
          </a:bodyPr>
          <a:lstStyle/>
          <a:p>
            <a:pPr algn="ctr" rtl="0" eaLnBrk="0" hangingPunct="0"/>
            <a:r>
              <a:rPr lang="zh-TW" altLang="en-US" sz="1000" b="1">
                <a:solidFill>
                  <a:schemeClr val="bg1"/>
                </a:solidFill>
                <a:sym typeface="+mn-lt"/>
              </a:rPr>
              <a:t>實現個性化經營所需的能力</a:t>
            </a:r>
          </a:p>
        </p:txBody>
      </p:sp>
      <p:sp>
        <p:nvSpPr>
          <p:cNvPr id="110" name="Rectangle: Rounded Corners 109">
            <a:extLst>
              <a:ext uri="{FF2B5EF4-FFF2-40B4-BE49-F238E27FC236}">
                <a16:creationId xmlns:a16="http://schemas.microsoft.com/office/drawing/2014/main" id="{58CD4447-3AED-40CA-84AD-CFDBFFB5B433}"/>
              </a:ext>
            </a:extLst>
          </p:cNvPr>
          <p:cNvSpPr/>
          <p:nvPr>
            <p:custDataLst>
              <p:tags r:id="rId5"/>
            </p:custDataLst>
          </p:nvPr>
        </p:nvSpPr>
        <p:spPr>
          <a:xfrm>
            <a:off x="10129879" y="2616633"/>
            <a:ext cx="1427804" cy="409613"/>
          </a:xfrm>
          <a:prstGeom prst="roundRect">
            <a:avLst>
              <a:gd name="adj" fmla="val 15626"/>
            </a:avLst>
          </a:prstGeom>
          <a:solidFill>
            <a:srgbClr val="F2F2F2"/>
          </a:solidFill>
          <a:ln w="317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800">
                <a:solidFill>
                  <a:srgbClr val="29BA74"/>
                </a:solidFill>
              </a:rPr>
              <a:t>針對行銷活動進行</a:t>
            </a:r>
            <a:r>
              <a:rPr lang="en-US" altLang="zh-TW" sz="800">
                <a:solidFill>
                  <a:srgbClr val="29BA74"/>
                </a:solidFill>
              </a:rPr>
              <a:t>A/</a:t>
            </a:r>
            <a:r>
              <a:rPr lang="en-US" altLang="zh-TW" sz="800" err="1">
                <a:solidFill>
                  <a:srgbClr val="29BA74"/>
                </a:solidFill>
              </a:rPr>
              <a:t>B</a:t>
            </a:r>
            <a:r>
              <a:rPr lang="en-US" sz="800" err="1">
                <a:solidFill>
                  <a:srgbClr val="29BA74"/>
                </a:solidFill>
              </a:rPr>
              <a:t>測試</a:t>
            </a:r>
            <a:endParaRPr lang="en-US" sz="800">
              <a:solidFill>
                <a:srgbClr val="29BA74"/>
              </a:solidFill>
            </a:endParaRPr>
          </a:p>
        </p:txBody>
      </p:sp>
      <p:sp>
        <p:nvSpPr>
          <p:cNvPr id="113" name="Rectangle: Rounded Corners 112">
            <a:extLst>
              <a:ext uri="{FF2B5EF4-FFF2-40B4-BE49-F238E27FC236}">
                <a16:creationId xmlns:a16="http://schemas.microsoft.com/office/drawing/2014/main" id="{977E84EC-4149-4C6A-9F76-EB319F7BAC6F}"/>
              </a:ext>
            </a:extLst>
          </p:cNvPr>
          <p:cNvSpPr/>
          <p:nvPr>
            <p:custDataLst>
              <p:tags r:id="rId6"/>
            </p:custDataLst>
          </p:nvPr>
        </p:nvSpPr>
        <p:spPr>
          <a:xfrm>
            <a:off x="979289" y="2616633"/>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err="1">
                <a:solidFill>
                  <a:srgbClr val="575757"/>
                </a:solidFill>
              </a:rPr>
              <a:t>線上</a:t>
            </a:r>
            <a:r>
              <a:rPr lang="en-US" sz="800">
                <a:solidFill>
                  <a:srgbClr val="575757"/>
                </a:solidFill>
              </a:rPr>
              <a:t>/</a:t>
            </a:r>
            <a:r>
              <a:rPr lang="en-US" sz="800" err="1">
                <a:solidFill>
                  <a:srgbClr val="575757"/>
                </a:solidFill>
              </a:rPr>
              <a:t>線下管道的</a:t>
            </a:r>
            <a:r>
              <a:rPr lang="zh-TW" altLang="en-US" sz="800">
                <a:solidFill>
                  <a:srgbClr val="575757"/>
                </a:solidFill>
              </a:rPr>
              <a:t>互動</a:t>
            </a:r>
            <a:r>
              <a:rPr lang="en-US" sz="800" err="1">
                <a:solidFill>
                  <a:srgbClr val="575757"/>
                </a:solidFill>
              </a:rPr>
              <a:t>數據</a:t>
            </a:r>
            <a:endParaRPr lang="en-US" sz="800">
              <a:solidFill>
                <a:srgbClr val="575757"/>
              </a:solidFill>
            </a:endParaRPr>
          </a:p>
        </p:txBody>
      </p:sp>
      <p:sp>
        <p:nvSpPr>
          <p:cNvPr id="114" name="Rectangle: Rounded Corners 113">
            <a:extLst>
              <a:ext uri="{FF2B5EF4-FFF2-40B4-BE49-F238E27FC236}">
                <a16:creationId xmlns:a16="http://schemas.microsoft.com/office/drawing/2014/main" id="{CE0E83E3-9024-496E-9E1F-64FC3C1CF75C}"/>
              </a:ext>
            </a:extLst>
          </p:cNvPr>
          <p:cNvSpPr/>
          <p:nvPr>
            <p:custDataLst>
              <p:tags r:id="rId7"/>
            </p:custDataLst>
          </p:nvPr>
        </p:nvSpPr>
        <p:spPr>
          <a:xfrm>
            <a:off x="2504387" y="2616633"/>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800">
                <a:solidFill>
                  <a:srgbClr val="575757"/>
                </a:solidFill>
              </a:rPr>
              <a:t>多樣化的優先級排序；依需求建立的傾向模型</a:t>
            </a:r>
          </a:p>
        </p:txBody>
      </p:sp>
      <p:sp>
        <p:nvSpPr>
          <p:cNvPr id="115" name="Rectangle: Rounded Corners 114">
            <a:extLst>
              <a:ext uri="{FF2B5EF4-FFF2-40B4-BE49-F238E27FC236}">
                <a16:creationId xmlns:a16="http://schemas.microsoft.com/office/drawing/2014/main" id="{CEDD518E-4242-4C26-B30A-E7C767004A6E}"/>
              </a:ext>
            </a:extLst>
          </p:cNvPr>
          <p:cNvSpPr/>
          <p:nvPr>
            <p:custDataLst>
              <p:tags r:id="rId8"/>
            </p:custDataLst>
          </p:nvPr>
        </p:nvSpPr>
        <p:spPr>
          <a:xfrm>
            <a:off x="8604779" y="2616633"/>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r>
              <a:rPr lang="zh-TW" altLang="en-US" sz="800">
                <a:solidFill>
                  <a:srgbClr val="575757"/>
                </a:solidFill>
              </a:rPr>
              <a:t>由前線人員根據產品特性產生的潛力客戶名單</a:t>
            </a:r>
          </a:p>
        </p:txBody>
      </p:sp>
      <p:sp>
        <p:nvSpPr>
          <p:cNvPr id="116" name="Rectangle: Rounded Corners 115">
            <a:extLst>
              <a:ext uri="{FF2B5EF4-FFF2-40B4-BE49-F238E27FC236}">
                <a16:creationId xmlns:a16="http://schemas.microsoft.com/office/drawing/2014/main" id="{13FCB4A4-908E-496C-BFC0-3648F892D6DA}"/>
              </a:ext>
            </a:extLst>
          </p:cNvPr>
          <p:cNvSpPr/>
          <p:nvPr>
            <p:custDataLst>
              <p:tags r:id="rId9"/>
            </p:custDataLst>
          </p:nvPr>
        </p:nvSpPr>
        <p:spPr>
          <a:xfrm>
            <a:off x="7079681" y="2616633"/>
            <a:ext cx="1427804" cy="409613"/>
          </a:xfrm>
          <a:prstGeom prst="roundRect">
            <a:avLst>
              <a:gd name="adj" fmla="val 15626"/>
            </a:avLst>
          </a:prstGeom>
          <a:solidFill>
            <a:srgbClr val="F2F2F2"/>
          </a:solidFill>
          <a:ln w="317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800">
                <a:solidFill>
                  <a:srgbClr val="29BA74"/>
                </a:solidFill>
              </a:rPr>
              <a:t>利用推送通知提供依客群</a:t>
            </a:r>
            <a:r>
              <a:rPr lang="en-US" altLang="zh-TW" sz="800">
                <a:solidFill>
                  <a:srgbClr val="29BA74"/>
                </a:solidFill>
              </a:rPr>
              <a:t>/</a:t>
            </a:r>
            <a:r>
              <a:rPr lang="zh-TW" altLang="en-US" sz="800">
                <a:solidFill>
                  <a:srgbClr val="29BA74"/>
                </a:solidFill>
              </a:rPr>
              <a:t>個人的針對性優惠</a:t>
            </a:r>
          </a:p>
        </p:txBody>
      </p:sp>
      <p:sp>
        <p:nvSpPr>
          <p:cNvPr id="117" name="Rectangle: Rounded Corners 116">
            <a:extLst>
              <a:ext uri="{FF2B5EF4-FFF2-40B4-BE49-F238E27FC236}">
                <a16:creationId xmlns:a16="http://schemas.microsoft.com/office/drawing/2014/main" id="{A9CAE3AE-752A-446C-89BD-BC6C3B713726}"/>
              </a:ext>
            </a:extLst>
          </p:cNvPr>
          <p:cNvSpPr/>
          <p:nvPr>
            <p:custDataLst>
              <p:tags r:id="rId10"/>
            </p:custDataLst>
          </p:nvPr>
        </p:nvSpPr>
        <p:spPr>
          <a:xfrm>
            <a:off x="5554583" y="2616633"/>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800">
                <a:solidFill>
                  <a:srgbClr val="575757"/>
                </a:solidFill>
              </a:rPr>
              <a:t>基於分群的行銷活動</a:t>
            </a:r>
          </a:p>
        </p:txBody>
      </p:sp>
      <p:sp>
        <p:nvSpPr>
          <p:cNvPr id="118" name="Rectangle: Rounded Corners 117">
            <a:extLst>
              <a:ext uri="{FF2B5EF4-FFF2-40B4-BE49-F238E27FC236}">
                <a16:creationId xmlns:a16="http://schemas.microsoft.com/office/drawing/2014/main" id="{56004A57-16A7-4632-9863-BBE84775C63C}"/>
              </a:ext>
            </a:extLst>
          </p:cNvPr>
          <p:cNvSpPr/>
          <p:nvPr>
            <p:custDataLst>
              <p:tags r:id="rId11"/>
            </p:custDataLst>
          </p:nvPr>
        </p:nvSpPr>
        <p:spPr>
          <a:xfrm>
            <a:off x="4029485" y="3068064"/>
            <a:ext cx="1427804" cy="409613"/>
          </a:xfrm>
          <a:prstGeom prst="roundRect">
            <a:avLst>
              <a:gd name="adj" fmla="val 15626"/>
            </a:avLst>
          </a:prstGeom>
          <a:solidFill>
            <a:srgbClr val="F2F2F2"/>
          </a:solidFill>
          <a:ln w="317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r>
              <a:rPr lang="zh-TW" altLang="en-US" sz="800">
                <a:solidFill>
                  <a:srgbClr val="575757"/>
                </a:solidFill>
              </a:rPr>
              <a:t>用於</a:t>
            </a:r>
            <a:r>
              <a:rPr lang="zh-TW" altLang="en-US" sz="800">
                <a:solidFill>
                  <a:srgbClr val="29BA74"/>
                </a:solidFill>
              </a:rPr>
              <a:t>協調所有行銷活動</a:t>
            </a:r>
            <a:r>
              <a:rPr lang="zh-TW" altLang="en-US" sz="800">
                <a:solidFill>
                  <a:srgbClr val="575757"/>
                </a:solidFill>
              </a:rPr>
              <a:t>（包括數位和人工）的中央協調單位</a:t>
            </a:r>
          </a:p>
        </p:txBody>
      </p:sp>
      <p:grpSp>
        <p:nvGrpSpPr>
          <p:cNvPr id="119" name="Group 118">
            <a:extLst>
              <a:ext uri="{FF2B5EF4-FFF2-40B4-BE49-F238E27FC236}">
                <a16:creationId xmlns:a16="http://schemas.microsoft.com/office/drawing/2014/main" id="{3C93DDF7-1FD9-4F41-A9F6-9ED36F78D8B6}"/>
              </a:ext>
            </a:extLst>
          </p:cNvPr>
          <p:cNvGrpSpPr/>
          <p:nvPr/>
        </p:nvGrpSpPr>
        <p:grpSpPr>
          <a:xfrm>
            <a:off x="979289" y="1421936"/>
            <a:ext cx="10618544" cy="363817"/>
            <a:chOff x="979289" y="1066740"/>
            <a:chExt cx="10618544" cy="363817"/>
          </a:xfrm>
          <a:gradFill>
            <a:gsLst>
              <a:gs pos="0">
                <a:schemeClr val="tx2"/>
              </a:gs>
              <a:gs pos="100000">
                <a:schemeClr val="accent1"/>
              </a:gs>
            </a:gsLst>
            <a:lin ang="0" scaled="1"/>
          </a:gradFill>
        </p:grpSpPr>
        <p:sp>
          <p:nvSpPr>
            <p:cNvPr id="120" name="ee4pHeader1">
              <a:extLst>
                <a:ext uri="{FF2B5EF4-FFF2-40B4-BE49-F238E27FC236}">
                  <a16:creationId xmlns:a16="http://schemas.microsoft.com/office/drawing/2014/main" id="{46AB3A31-24B1-4661-A3C1-02C23CF02FF0}"/>
                </a:ext>
              </a:extLst>
            </p:cNvPr>
            <p:cNvSpPr>
              <a:spLocks noChangeArrowheads="1"/>
            </p:cNvSpPr>
            <p:nvPr>
              <p:custDataLst>
                <p:tags r:id="rId48"/>
              </p:custDataLst>
            </p:nvPr>
          </p:nvSpPr>
          <p:spPr bwMode="gray">
            <a:xfrm>
              <a:off x="979289" y="1066740"/>
              <a:ext cx="1467955" cy="363817"/>
            </a:xfrm>
            <a:prstGeom prst="homePlate">
              <a:avLst>
                <a:gd name="adj" fmla="val 12004"/>
              </a:avLst>
            </a:prstGeom>
            <a:grpFill/>
            <a:ln w="38100" cap="rnd" algn="ctr">
              <a:noFill/>
              <a:round/>
              <a:headEnd/>
              <a:tailEnd/>
            </a:ln>
          </p:spPr>
          <p:txBody>
            <a:bodyPr lIns="0" tIns="0" rIns="0" bIns="0" rtlCol="0" anchor="ctr" anchorCtr="0"/>
            <a:lstStyle/>
            <a:p>
              <a:pPr algn="ctr" rtl="0" eaLnBrk="0" hangingPunct="0"/>
              <a:r>
                <a:rPr lang="en-US" sz="1000" b="1">
                  <a:solidFill>
                    <a:srgbClr val="FFFFFF"/>
                  </a:solidFill>
                  <a:latin typeface="+mj-lt"/>
                  <a:sym typeface="+mn-lt"/>
                </a:rPr>
                <a:t>數據層</a:t>
              </a:r>
              <a:endParaRPr lang="ru" sz="1000" b="1">
                <a:solidFill>
                  <a:srgbClr val="FFFFFF"/>
                </a:solidFill>
                <a:latin typeface="+mj-lt"/>
                <a:sym typeface="+mn-lt"/>
              </a:endParaRPr>
            </a:p>
          </p:txBody>
        </p:sp>
        <p:sp>
          <p:nvSpPr>
            <p:cNvPr id="121" name="ee4pHeader2">
              <a:extLst>
                <a:ext uri="{FF2B5EF4-FFF2-40B4-BE49-F238E27FC236}">
                  <a16:creationId xmlns:a16="http://schemas.microsoft.com/office/drawing/2014/main" id="{1C167E66-49E7-4121-9C2B-E0C4F9500A12}"/>
                </a:ext>
              </a:extLst>
            </p:cNvPr>
            <p:cNvSpPr>
              <a:spLocks noChangeArrowheads="1"/>
            </p:cNvSpPr>
            <p:nvPr>
              <p:custDataLst>
                <p:tags r:id="rId49"/>
              </p:custDataLst>
            </p:nvPr>
          </p:nvSpPr>
          <p:spPr bwMode="gray">
            <a:xfrm>
              <a:off x="2466985" y="1066740"/>
              <a:ext cx="1508105" cy="363817"/>
            </a:xfrm>
            <a:prstGeom prst="chevron">
              <a:avLst>
                <a:gd name="adj" fmla="val 12004"/>
              </a:avLst>
            </a:prstGeom>
            <a:grpFill/>
            <a:ln w="38100" cap="rnd" algn="ctr">
              <a:noFill/>
              <a:round/>
              <a:headEnd/>
              <a:tailEnd/>
            </a:ln>
          </p:spPr>
          <p:txBody>
            <a:bodyPr lIns="0" tIns="0" rIns="0" bIns="0" rtlCol="0" anchor="ctr" anchorCtr="0"/>
            <a:lstStyle/>
            <a:p>
              <a:pPr algn="ctr" rtl="0" eaLnBrk="0" hangingPunct="0"/>
              <a:r>
                <a:rPr lang="en-US" sz="1000" b="1">
                  <a:solidFill>
                    <a:srgbClr val="FFFFFF"/>
                  </a:solidFill>
                  <a:latin typeface="+mj-lt"/>
                  <a:sym typeface="+mn-lt"/>
                </a:rPr>
                <a:t>分析層</a:t>
              </a:r>
              <a:endParaRPr lang="ru" sz="1000" b="1">
                <a:solidFill>
                  <a:srgbClr val="FFFFFF"/>
                </a:solidFill>
                <a:latin typeface="+mj-lt"/>
                <a:sym typeface="+mn-lt"/>
              </a:endParaRPr>
            </a:p>
          </p:txBody>
        </p:sp>
        <p:sp>
          <p:nvSpPr>
            <p:cNvPr id="122" name="ee4pHeader3">
              <a:extLst>
                <a:ext uri="{FF2B5EF4-FFF2-40B4-BE49-F238E27FC236}">
                  <a16:creationId xmlns:a16="http://schemas.microsoft.com/office/drawing/2014/main" id="{C6C586CB-7785-4282-BFEE-5498477EB619}"/>
                </a:ext>
              </a:extLst>
            </p:cNvPr>
            <p:cNvSpPr>
              <a:spLocks noChangeArrowheads="1"/>
            </p:cNvSpPr>
            <p:nvPr>
              <p:custDataLst>
                <p:tags r:id="rId50"/>
              </p:custDataLst>
            </p:nvPr>
          </p:nvSpPr>
          <p:spPr bwMode="gray">
            <a:xfrm>
              <a:off x="5522674" y="1066740"/>
              <a:ext cx="4547315" cy="363817"/>
            </a:xfrm>
            <a:prstGeom prst="chevron">
              <a:avLst>
                <a:gd name="adj" fmla="val 12004"/>
              </a:avLst>
            </a:prstGeom>
            <a:grpFill/>
            <a:ln w="38100" cap="rnd" algn="ctr">
              <a:noFill/>
              <a:round/>
              <a:headEnd/>
              <a:tailEnd/>
            </a:ln>
          </p:spPr>
          <p:txBody>
            <a:bodyPr lIns="0" tIns="0" rIns="0" bIns="0" rtlCol="0" anchor="ctr" anchorCtr="0"/>
            <a:lstStyle/>
            <a:p>
              <a:pPr algn="ctr" rtl="0" eaLnBrk="0" hangingPunct="0"/>
              <a:r>
                <a:rPr lang="en-US" sz="1000" b="1" err="1">
                  <a:solidFill>
                    <a:srgbClr val="FFFFFF"/>
                  </a:solidFill>
                  <a:latin typeface="+mj-lt"/>
                  <a:sym typeface="+mn-lt"/>
                </a:rPr>
                <a:t>互動層</a:t>
              </a:r>
              <a:endParaRPr lang="ru" sz="1000" b="1">
                <a:solidFill>
                  <a:srgbClr val="FFFFFF"/>
                </a:solidFill>
                <a:latin typeface="+mj-lt"/>
                <a:sym typeface="+mn-lt"/>
              </a:endParaRPr>
            </a:p>
          </p:txBody>
        </p:sp>
        <p:sp>
          <p:nvSpPr>
            <p:cNvPr id="123" name="ee4pHeader2">
              <a:extLst>
                <a:ext uri="{FF2B5EF4-FFF2-40B4-BE49-F238E27FC236}">
                  <a16:creationId xmlns:a16="http://schemas.microsoft.com/office/drawing/2014/main" id="{7BBD2467-FC75-4A50-A6D1-1483363FD6EA}"/>
                </a:ext>
              </a:extLst>
            </p:cNvPr>
            <p:cNvSpPr>
              <a:spLocks noChangeArrowheads="1"/>
            </p:cNvSpPr>
            <p:nvPr>
              <p:custDataLst>
                <p:tags r:id="rId51"/>
              </p:custDataLst>
            </p:nvPr>
          </p:nvSpPr>
          <p:spPr bwMode="gray">
            <a:xfrm>
              <a:off x="3994829" y="1066740"/>
              <a:ext cx="1508105" cy="363817"/>
            </a:xfrm>
            <a:prstGeom prst="chevron">
              <a:avLst>
                <a:gd name="adj" fmla="val 12004"/>
              </a:avLst>
            </a:prstGeom>
            <a:grpFill/>
            <a:ln w="38100" cap="rnd" algn="ctr">
              <a:noFill/>
              <a:round/>
              <a:headEnd/>
              <a:tailEnd/>
            </a:ln>
          </p:spPr>
          <p:txBody>
            <a:bodyPr lIns="0" tIns="0" rIns="0" bIns="0" rtlCol="0" anchor="ctr" anchorCtr="0"/>
            <a:lstStyle/>
            <a:p>
              <a:pPr algn="ctr" rtl="0" eaLnBrk="0" hangingPunct="0"/>
              <a:r>
                <a:rPr lang="en-US" sz="1000" b="1">
                  <a:solidFill>
                    <a:srgbClr val="FFFFFF"/>
                  </a:solidFill>
                  <a:latin typeface="+mj-lt"/>
                  <a:sym typeface="+mn-lt"/>
                </a:rPr>
                <a:t>編排層</a:t>
              </a:r>
              <a:endParaRPr lang="ru" sz="1000" b="1">
                <a:solidFill>
                  <a:srgbClr val="FFFFFF"/>
                </a:solidFill>
                <a:latin typeface="+mj-lt"/>
                <a:sym typeface="+mn-lt"/>
              </a:endParaRPr>
            </a:p>
          </p:txBody>
        </p:sp>
        <p:sp>
          <p:nvSpPr>
            <p:cNvPr id="124" name="ee4pHeader3">
              <a:extLst>
                <a:ext uri="{FF2B5EF4-FFF2-40B4-BE49-F238E27FC236}">
                  <a16:creationId xmlns:a16="http://schemas.microsoft.com/office/drawing/2014/main" id="{8AC48841-DDB4-43C0-ADB4-CC03F799FF90}"/>
                </a:ext>
              </a:extLst>
            </p:cNvPr>
            <p:cNvSpPr>
              <a:spLocks noChangeArrowheads="1"/>
            </p:cNvSpPr>
            <p:nvPr>
              <p:custDataLst>
                <p:tags r:id="rId52"/>
              </p:custDataLst>
            </p:nvPr>
          </p:nvSpPr>
          <p:spPr bwMode="gray">
            <a:xfrm>
              <a:off x="10089728" y="1066740"/>
              <a:ext cx="1508105" cy="363817"/>
            </a:xfrm>
            <a:prstGeom prst="chevron">
              <a:avLst>
                <a:gd name="adj" fmla="val 12004"/>
              </a:avLst>
            </a:prstGeom>
            <a:grpFill/>
            <a:ln w="38100" cap="rnd" algn="ctr">
              <a:noFill/>
              <a:round/>
              <a:headEnd/>
              <a:tailEnd/>
            </a:ln>
          </p:spPr>
          <p:txBody>
            <a:bodyPr lIns="0" tIns="0" rIns="0" bIns="0" rtlCol="0" anchor="ctr" anchorCtr="0"/>
            <a:lstStyle/>
            <a:p>
              <a:pPr algn="ctr" rtl="0" eaLnBrk="0" hangingPunct="0"/>
              <a:r>
                <a:rPr lang="zh-TW" altLang="en-US" sz="1000" b="1">
                  <a:solidFill>
                    <a:srgbClr val="FFFFFF"/>
                  </a:solidFill>
                  <a:latin typeface="+mj-lt"/>
                  <a:sym typeface="+mn-lt"/>
                </a:rPr>
                <a:t>效益衡量與</a:t>
              </a:r>
              <a:r>
                <a:rPr lang="en-US" sz="1000" b="1" err="1">
                  <a:solidFill>
                    <a:srgbClr val="FFFFFF"/>
                  </a:solidFill>
                  <a:latin typeface="+mj-lt"/>
                  <a:sym typeface="+mn-lt"/>
                </a:rPr>
                <a:t>反饋</a:t>
              </a:r>
              <a:endParaRPr lang="ru" sz="1000" b="1">
                <a:solidFill>
                  <a:srgbClr val="FFFFFF"/>
                </a:solidFill>
                <a:latin typeface="+mj-lt"/>
                <a:sym typeface="+mn-lt"/>
              </a:endParaRPr>
            </a:p>
          </p:txBody>
        </p:sp>
      </p:grpSp>
      <p:cxnSp>
        <p:nvCxnSpPr>
          <p:cNvPr id="125" name="Connector: Elbow 124">
            <a:extLst>
              <a:ext uri="{FF2B5EF4-FFF2-40B4-BE49-F238E27FC236}">
                <a16:creationId xmlns:a16="http://schemas.microsoft.com/office/drawing/2014/main" id="{E43CCFAF-0727-469D-984D-257F6BBE1ABA}"/>
              </a:ext>
            </a:extLst>
          </p:cNvPr>
          <p:cNvCxnSpPr>
            <a:cxnSpLocks/>
          </p:cNvCxnSpPr>
          <p:nvPr/>
        </p:nvCxnSpPr>
        <p:spPr>
          <a:xfrm rot="16200000" flipV="1">
            <a:off x="6247306" y="-3130621"/>
            <a:ext cx="15312" cy="9130513"/>
          </a:xfrm>
          <a:prstGeom prst="bentConnector3">
            <a:avLst>
              <a:gd name="adj1" fmla="val 1229693"/>
            </a:avLst>
          </a:prstGeom>
          <a:gradFill>
            <a:gsLst>
              <a:gs pos="0">
                <a:schemeClr val="tx2"/>
              </a:gs>
              <a:gs pos="100000">
                <a:schemeClr val="accent1"/>
              </a:gs>
            </a:gsLst>
            <a:lin ang="0" scaled="1"/>
          </a:gradFill>
          <a:ln w="9525" cap="rnd" cmpd="sng" algn="ctr">
            <a:solidFill>
              <a:srgbClr val="7F7F7F"/>
            </a:solidFill>
            <a:prstDash val="solid"/>
            <a:roun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6" name="Rectangle 125">
            <a:extLst>
              <a:ext uri="{FF2B5EF4-FFF2-40B4-BE49-F238E27FC236}">
                <a16:creationId xmlns:a16="http://schemas.microsoft.com/office/drawing/2014/main" id="{6ACEAA5D-4AD8-4B0F-AFA8-0730E5006FA4}"/>
              </a:ext>
            </a:extLst>
          </p:cNvPr>
          <p:cNvSpPr/>
          <p:nvPr/>
        </p:nvSpPr>
        <p:spPr>
          <a:xfrm>
            <a:off x="5457287" y="1785753"/>
            <a:ext cx="1622394" cy="425758"/>
          </a:xfrm>
          <a:prstGeom prst="rect">
            <a:avLst/>
          </a:prstGeom>
          <a:no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000" b="1">
                <a:solidFill>
                  <a:schemeClr val="tx1"/>
                </a:solidFill>
              </a:rPr>
              <a:t>數</a:t>
            </a:r>
            <a:r>
              <a:rPr lang="zh-TW" altLang="en-US" sz="1000" b="1">
                <a:solidFill>
                  <a:schemeClr val="tx1"/>
                </a:solidFill>
              </a:rPr>
              <a:t>位</a:t>
            </a:r>
            <a:r>
              <a:rPr lang="en-US" sz="1000" b="1" err="1">
                <a:solidFill>
                  <a:schemeClr val="tx1"/>
                </a:solidFill>
              </a:rPr>
              <a:t>管道</a:t>
            </a:r>
            <a:endParaRPr lang="en-US" sz="1000" b="1">
              <a:solidFill>
                <a:schemeClr val="tx1"/>
              </a:solidFill>
            </a:endParaRPr>
          </a:p>
          <a:p>
            <a:pPr algn="ctr"/>
            <a:r>
              <a:rPr lang="en-US" altLang="zh-TW" sz="900">
                <a:solidFill>
                  <a:srgbClr val="7F7F7F"/>
                </a:solidFill>
              </a:rPr>
              <a:t>(</a:t>
            </a:r>
            <a:r>
              <a:rPr lang="zh-TW" altLang="en-US" sz="900">
                <a:solidFill>
                  <a:srgbClr val="7F7F7F"/>
                </a:solidFill>
              </a:rPr>
              <a:t>電子郵件</a:t>
            </a:r>
            <a:r>
              <a:rPr lang="en-US" altLang="zh-TW" sz="900">
                <a:solidFill>
                  <a:srgbClr val="7F7F7F"/>
                </a:solidFill>
              </a:rPr>
              <a:t>, </a:t>
            </a:r>
            <a:r>
              <a:rPr lang="zh-TW" altLang="en-US" sz="900">
                <a:solidFill>
                  <a:srgbClr val="7F7F7F"/>
                </a:solidFill>
              </a:rPr>
              <a:t>簡訊</a:t>
            </a:r>
            <a:r>
              <a:rPr lang="en-US" altLang="zh-TW" sz="900">
                <a:solidFill>
                  <a:srgbClr val="7F7F7F"/>
                </a:solidFill>
              </a:rPr>
              <a:t>, </a:t>
            </a:r>
            <a:r>
              <a:rPr lang="zh-TW" altLang="en-US" sz="900">
                <a:solidFill>
                  <a:srgbClr val="7F7F7F"/>
                </a:solidFill>
              </a:rPr>
              <a:t>通訊軟體</a:t>
            </a:r>
            <a:r>
              <a:rPr lang="en-US" altLang="zh-TW" sz="900">
                <a:solidFill>
                  <a:srgbClr val="7F7F7F"/>
                </a:solidFill>
              </a:rPr>
              <a:t>)</a:t>
            </a:r>
            <a:br>
              <a:rPr lang="en-US" sz="1050" b="1">
                <a:solidFill>
                  <a:schemeClr val="tx1"/>
                </a:solidFill>
              </a:rPr>
            </a:br>
            <a:endParaRPr lang="en-US" sz="1050">
              <a:solidFill>
                <a:srgbClr val="7F7F7F"/>
              </a:solidFill>
            </a:endParaRPr>
          </a:p>
        </p:txBody>
      </p:sp>
      <p:sp>
        <p:nvSpPr>
          <p:cNvPr id="127" name="Rectangle 126">
            <a:extLst>
              <a:ext uri="{FF2B5EF4-FFF2-40B4-BE49-F238E27FC236}">
                <a16:creationId xmlns:a16="http://schemas.microsoft.com/office/drawing/2014/main" id="{A791ED90-3FE6-4E69-A3D7-4D26AC0FC49B}"/>
              </a:ext>
            </a:extLst>
          </p:cNvPr>
          <p:cNvSpPr/>
          <p:nvPr/>
        </p:nvSpPr>
        <p:spPr>
          <a:xfrm>
            <a:off x="7057166" y="1859458"/>
            <a:ext cx="1453764" cy="298676"/>
          </a:xfrm>
          <a:prstGeom prst="rect">
            <a:avLst/>
          </a:prstGeom>
          <a:no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000" b="1" err="1">
                <a:solidFill>
                  <a:schemeClr val="tx1"/>
                </a:solidFill>
              </a:rPr>
              <a:t>數位平台</a:t>
            </a:r>
            <a:endParaRPr lang="en-US" sz="1000" b="1">
              <a:solidFill>
                <a:schemeClr val="tx1"/>
              </a:solidFill>
            </a:endParaRPr>
          </a:p>
          <a:p>
            <a:pPr algn="ctr"/>
            <a:r>
              <a:rPr kumimoji="0" lang="en-US" altLang="zh-TW" sz="900" b="0" i="0" u="none" strike="noStrike" kern="1200" cap="none" spc="0" normalizeH="0" baseline="0" noProof="0">
                <a:ln>
                  <a:noFill/>
                </a:ln>
                <a:solidFill>
                  <a:srgbClr val="7F7F7F"/>
                </a:solidFill>
                <a:effectLst/>
                <a:uLnTx/>
                <a:uFillTx/>
                <a:latin typeface="Trebuchet MS"/>
                <a:ea typeface="+mn-ea"/>
                <a:cs typeface="+mn-cs"/>
              </a:rPr>
              <a:t>(App</a:t>
            </a:r>
            <a:r>
              <a:rPr kumimoji="0" lang="zh-TW" altLang="en-US" sz="900" b="0" i="0" u="none" strike="noStrike" kern="1200" cap="none" spc="0" normalizeH="0" baseline="0" noProof="0">
                <a:ln>
                  <a:noFill/>
                </a:ln>
                <a:solidFill>
                  <a:srgbClr val="7F7F7F"/>
                </a:solidFill>
                <a:effectLst/>
                <a:uLnTx/>
                <a:uFillTx/>
                <a:latin typeface="Trebuchet MS"/>
                <a:ea typeface="+mn-ea"/>
                <a:cs typeface="+mn-cs"/>
              </a:rPr>
              <a:t>、網頁</a:t>
            </a:r>
            <a:r>
              <a:rPr kumimoji="0" lang="en-US" altLang="zh-TW" sz="900" b="0" i="0" u="none" strike="noStrike" kern="1200" cap="none" spc="0" normalizeH="0" baseline="0" noProof="0">
                <a:ln>
                  <a:noFill/>
                </a:ln>
                <a:solidFill>
                  <a:srgbClr val="7F7F7F"/>
                </a:solidFill>
                <a:effectLst/>
                <a:uLnTx/>
                <a:uFillTx/>
                <a:latin typeface="Trebuchet MS"/>
                <a:ea typeface="+mn-ea"/>
                <a:cs typeface="+mn-cs"/>
              </a:rPr>
              <a:t>)</a:t>
            </a:r>
            <a:br>
              <a:rPr lang="en-US" sz="1050">
                <a:solidFill>
                  <a:schemeClr val="tx1"/>
                </a:solidFill>
              </a:rPr>
            </a:br>
            <a:endParaRPr lang="en-US" sz="1050">
              <a:solidFill>
                <a:srgbClr val="7F7F7F"/>
              </a:solidFill>
            </a:endParaRPr>
          </a:p>
        </p:txBody>
      </p:sp>
      <p:sp>
        <p:nvSpPr>
          <p:cNvPr id="128" name="Rectangle 127">
            <a:extLst>
              <a:ext uri="{FF2B5EF4-FFF2-40B4-BE49-F238E27FC236}">
                <a16:creationId xmlns:a16="http://schemas.microsoft.com/office/drawing/2014/main" id="{470785F3-B196-4091-A413-6B8AF6C40E70}"/>
              </a:ext>
            </a:extLst>
          </p:cNvPr>
          <p:cNvSpPr/>
          <p:nvPr/>
        </p:nvSpPr>
        <p:spPr>
          <a:xfrm>
            <a:off x="8571432" y="1862460"/>
            <a:ext cx="1453764" cy="298676"/>
          </a:xfrm>
          <a:prstGeom prst="rect">
            <a:avLst/>
          </a:prstGeom>
          <a:no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000" b="1" err="1">
                <a:solidFill>
                  <a:schemeClr val="tx1"/>
                </a:solidFill>
              </a:rPr>
              <a:t>人工管道</a:t>
            </a:r>
            <a:endParaRPr lang="en-US" sz="1000" b="1">
              <a:solidFill>
                <a:schemeClr val="tx1"/>
              </a:solidFill>
            </a:endParaRPr>
          </a:p>
          <a:p>
            <a:pPr algn="ctr"/>
            <a:r>
              <a:rPr kumimoji="0" lang="en-US" altLang="zh-TW" sz="900" b="0" i="0" u="none" strike="noStrike" kern="1200" cap="none" spc="0" normalizeH="0" baseline="0" noProof="0">
                <a:ln>
                  <a:noFill/>
                </a:ln>
                <a:solidFill>
                  <a:srgbClr val="7F7F7F"/>
                </a:solidFill>
                <a:effectLst/>
                <a:uLnTx/>
                <a:uFillTx/>
                <a:latin typeface="Trebuchet MS"/>
                <a:ea typeface="+mn-ea"/>
                <a:cs typeface="+mn-cs"/>
              </a:rPr>
              <a:t>(</a:t>
            </a:r>
            <a:r>
              <a:rPr lang="zh-TW" altLang="en-US" sz="900">
                <a:solidFill>
                  <a:srgbClr val="7F7F7F"/>
                </a:solidFill>
                <a:latin typeface="Trebuchet MS"/>
              </a:rPr>
              <a:t>前線業務</a:t>
            </a:r>
            <a:r>
              <a:rPr kumimoji="0" lang="en-US" altLang="zh-TW" sz="900" b="0" i="0" u="none" strike="noStrike" kern="1200" cap="none" spc="0" normalizeH="0" baseline="0" noProof="0">
                <a:ln>
                  <a:noFill/>
                </a:ln>
                <a:solidFill>
                  <a:srgbClr val="7F7F7F"/>
                </a:solidFill>
                <a:effectLst/>
                <a:uLnTx/>
                <a:uFillTx/>
                <a:latin typeface="Trebuchet MS"/>
                <a:ea typeface="+mn-ea"/>
                <a:cs typeface="+mn-cs"/>
              </a:rPr>
              <a:t>)</a:t>
            </a:r>
            <a:br>
              <a:rPr lang="en-US" sz="1050">
                <a:solidFill>
                  <a:schemeClr val="tx1"/>
                </a:solidFill>
              </a:rPr>
            </a:br>
            <a:endParaRPr lang="en-US" sz="1050">
              <a:solidFill>
                <a:schemeClr val="tx1"/>
              </a:solidFill>
            </a:endParaRPr>
          </a:p>
        </p:txBody>
      </p:sp>
      <p:sp>
        <p:nvSpPr>
          <p:cNvPr id="129" name="Rectangle: Rounded Corners 128">
            <a:extLst>
              <a:ext uri="{FF2B5EF4-FFF2-40B4-BE49-F238E27FC236}">
                <a16:creationId xmlns:a16="http://schemas.microsoft.com/office/drawing/2014/main" id="{901571EF-AF4C-4ED0-8B19-B62310991E08}"/>
              </a:ext>
            </a:extLst>
          </p:cNvPr>
          <p:cNvSpPr/>
          <p:nvPr>
            <p:custDataLst>
              <p:tags r:id="rId12"/>
            </p:custDataLst>
          </p:nvPr>
        </p:nvSpPr>
        <p:spPr>
          <a:xfrm>
            <a:off x="10129879" y="2158134"/>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800">
                <a:solidFill>
                  <a:srgbClr val="575757"/>
                </a:solidFill>
              </a:rPr>
              <a:t>追蹤重複的流入</a:t>
            </a:r>
            <a:r>
              <a:rPr lang="en-US" altLang="zh-TW" sz="800">
                <a:solidFill>
                  <a:srgbClr val="575757"/>
                </a:solidFill>
              </a:rPr>
              <a:t>/</a:t>
            </a:r>
            <a:r>
              <a:rPr lang="zh-TW" altLang="en-US" sz="800">
                <a:solidFill>
                  <a:srgbClr val="575757"/>
                </a:solidFill>
              </a:rPr>
              <a:t>流出（例如，帳單、薪資）</a:t>
            </a:r>
            <a:endParaRPr lang="en-US" altLang="zh-TW" sz="800">
              <a:solidFill>
                <a:srgbClr val="575757"/>
              </a:solidFill>
            </a:endParaRPr>
          </a:p>
        </p:txBody>
      </p:sp>
      <p:sp>
        <p:nvSpPr>
          <p:cNvPr id="130" name="Rectangle: Rounded Corners 129">
            <a:extLst>
              <a:ext uri="{FF2B5EF4-FFF2-40B4-BE49-F238E27FC236}">
                <a16:creationId xmlns:a16="http://schemas.microsoft.com/office/drawing/2014/main" id="{96A95DB6-215A-43E7-9375-367DD3B215D5}"/>
              </a:ext>
            </a:extLst>
          </p:cNvPr>
          <p:cNvSpPr/>
          <p:nvPr>
            <p:custDataLst>
              <p:tags r:id="rId13"/>
            </p:custDataLst>
          </p:nvPr>
        </p:nvSpPr>
        <p:spPr>
          <a:xfrm>
            <a:off x="979289" y="2158134"/>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err="1">
                <a:solidFill>
                  <a:srgbClr val="575757"/>
                </a:solidFill>
              </a:rPr>
              <a:t>交易資料</a:t>
            </a:r>
            <a:r>
              <a:rPr lang="zh-TW" altLang="en-US" sz="800">
                <a:solidFill>
                  <a:srgbClr val="575757"/>
                </a:solidFill>
              </a:rPr>
              <a:t>、</a:t>
            </a:r>
            <a:r>
              <a:rPr lang="en-US" sz="800" err="1">
                <a:solidFill>
                  <a:srgbClr val="575757"/>
                </a:solidFill>
              </a:rPr>
              <a:t>客戶基本資料</a:t>
            </a:r>
            <a:endParaRPr lang="en-US" sz="800">
              <a:solidFill>
                <a:srgbClr val="575757"/>
              </a:solidFill>
            </a:endParaRPr>
          </a:p>
        </p:txBody>
      </p:sp>
      <p:sp>
        <p:nvSpPr>
          <p:cNvPr id="131" name="Rectangle: Rounded Corners 130">
            <a:extLst>
              <a:ext uri="{FF2B5EF4-FFF2-40B4-BE49-F238E27FC236}">
                <a16:creationId xmlns:a16="http://schemas.microsoft.com/office/drawing/2014/main" id="{5A99749D-4321-44B3-B876-58C09208EC6B}"/>
              </a:ext>
            </a:extLst>
          </p:cNvPr>
          <p:cNvSpPr/>
          <p:nvPr>
            <p:custDataLst>
              <p:tags r:id="rId14"/>
            </p:custDataLst>
          </p:nvPr>
        </p:nvSpPr>
        <p:spPr>
          <a:xfrm>
            <a:off x="2504387" y="2158134"/>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800">
                <a:solidFill>
                  <a:srgbClr val="575757"/>
                </a:solidFill>
              </a:rPr>
              <a:t>基於規則的系統和基本分群模型</a:t>
            </a:r>
          </a:p>
        </p:txBody>
      </p:sp>
      <p:sp>
        <p:nvSpPr>
          <p:cNvPr id="132" name="Rectangle: Rounded Corners 131">
            <a:extLst>
              <a:ext uri="{FF2B5EF4-FFF2-40B4-BE49-F238E27FC236}">
                <a16:creationId xmlns:a16="http://schemas.microsoft.com/office/drawing/2014/main" id="{ECAC0A44-73B5-4159-AADA-DC0DD664F44E}"/>
              </a:ext>
            </a:extLst>
          </p:cNvPr>
          <p:cNvSpPr/>
          <p:nvPr>
            <p:custDataLst>
              <p:tags r:id="rId15"/>
            </p:custDataLst>
          </p:nvPr>
        </p:nvSpPr>
        <p:spPr>
          <a:xfrm>
            <a:off x="8604779" y="2158134"/>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800">
                <a:solidFill>
                  <a:srgbClr val="575757"/>
                </a:solidFill>
              </a:rPr>
              <a:t>根據</a:t>
            </a:r>
            <a:r>
              <a:rPr lang="en-US" sz="800" err="1">
                <a:solidFill>
                  <a:srgbClr val="575757"/>
                </a:solidFill>
              </a:rPr>
              <a:t>行銷活動產生的</a:t>
            </a:r>
            <a:r>
              <a:rPr lang="zh-TW" altLang="en-US" sz="800">
                <a:solidFill>
                  <a:srgbClr val="575757"/>
                </a:solidFill>
              </a:rPr>
              <a:t>潛力客戶名單</a:t>
            </a:r>
            <a:endParaRPr lang="en-US" sz="800">
              <a:solidFill>
                <a:srgbClr val="575757"/>
              </a:solidFill>
            </a:endParaRPr>
          </a:p>
        </p:txBody>
      </p:sp>
      <p:sp>
        <p:nvSpPr>
          <p:cNvPr id="133" name="Rectangle: Rounded Corners 132">
            <a:extLst>
              <a:ext uri="{FF2B5EF4-FFF2-40B4-BE49-F238E27FC236}">
                <a16:creationId xmlns:a16="http://schemas.microsoft.com/office/drawing/2014/main" id="{FB26E9EF-E0E6-4BBE-8CEE-895F65B47174}"/>
              </a:ext>
            </a:extLst>
          </p:cNvPr>
          <p:cNvSpPr/>
          <p:nvPr>
            <p:custDataLst>
              <p:tags r:id="rId16"/>
            </p:custDataLst>
          </p:nvPr>
        </p:nvSpPr>
        <p:spPr>
          <a:xfrm>
            <a:off x="7079681" y="2158134"/>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800">
                <a:solidFill>
                  <a:srgbClr val="575757"/>
                </a:solidFill>
              </a:rPr>
              <a:t>利用推送通知進行大規模活動推播</a:t>
            </a:r>
          </a:p>
        </p:txBody>
      </p:sp>
      <p:sp>
        <p:nvSpPr>
          <p:cNvPr id="134" name="Rectangle: Rounded Corners 133">
            <a:extLst>
              <a:ext uri="{FF2B5EF4-FFF2-40B4-BE49-F238E27FC236}">
                <a16:creationId xmlns:a16="http://schemas.microsoft.com/office/drawing/2014/main" id="{892CDB08-508D-4B81-BDAF-72C49B9323A0}"/>
              </a:ext>
            </a:extLst>
          </p:cNvPr>
          <p:cNvSpPr/>
          <p:nvPr>
            <p:custDataLst>
              <p:tags r:id="rId17"/>
            </p:custDataLst>
          </p:nvPr>
        </p:nvSpPr>
        <p:spPr>
          <a:xfrm>
            <a:off x="5554583" y="2158134"/>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800">
                <a:solidFill>
                  <a:srgbClr val="575757"/>
                </a:solidFill>
              </a:rPr>
              <a:t>利用</a:t>
            </a:r>
            <a:r>
              <a:rPr lang="en-US" sz="800" err="1">
                <a:solidFill>
                  <a:srgbClr val="575757"/>
                </a:solidFill>
              </a:rPr>
              <a:t>電子郵件</a:t>
            </a:r>
            <a:r>
              <a:rPr lang="en-US" sz="800">
                <a:solidFill>
                  <a:srgbClr val="575757"/>
                </a:solidFill>
              </a:rPr>
              <a:t>/</a:t>
            </a:r>
            <a:r>
              <a:rPr lang="en-US" sz="800" err="1">
                <a:solidFill>
                  <a:srgbClr val="575757"/>
                </a:solidFill>
              </a:rPr>
              <a:t>簡訊</a:t>
            </a:r>
            <a:r>
              <a:rPr lang="en-US" sz="800">
                <a:solidFill>
                  <a:srgbClr val="575757"/>
                </a:solidFill>
              </a:rPr>
              <a:t>/</a:t>
            </a:r>
            <a:r>
              <a:rPr lang="en-US" sz="800" err="1">
                <a:solidFill>
                  <a:srgbClr val="575757"/>
                </a:solidFill>
              </a:rPr>
              <a:t>通訊軟體</a:t>
            </a:r>
            <a:r>
              <a:rPr lang="zh-TW" altLang="en-US" sz="800">
                <a:solidFill>
                  <a:srgbClr val="575757"/>
                </a:solidFill>
              </a:rPr>
              <a:t>進行大規模</a:t>
            </a:r>
            <a:r>
              <a:rPr lang="en-US" sz="800" err="1">
                <a:solidFill>
                  <a:srgbClr val="575757"/>
                </a:solidFill>
              </a:rPr>
              <a:t>行銷活動</a:t>
            </a:r>
            <a:endParaRPr lang="en-US" sz="800">
              <a:solidFill>
                <a:srgbClr val="575757"/>
              </a:solidFill>
            </a:endParaRPr>
          </a:p>
        </p:txBody>
      </p:sp>
      <p:sp>
        <p:nvSpPr>
          <p:cNvPr id="135" name="Rectangle: Rounded Corners 134">
            <a:extLst>
              <a:ext uri="{FF2B5EF4-FFF2-40B4-BE49-F238E27FC236}">
                <a16:creationId xmlns:a16="http://schemas.microsoft.com/office/drawing/2014/main" id="{61DE610A-2D7E-44D4-85A4-F2C42151F021}"/>
              </a:ext>
            </a:extLst>
          </p:cNvPr>
          <p:cNvSpPr/>
          <p:nvPr>
            <p:custDataLst>
              <p:tags r:id="rId18"/>
            </p:custDataLst>
          </p:nvPr>
        </p:nvSpPr>
        <p:spPr>
          <a:xfrm>
            <a:off x="4029485" y="2158134"/>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800">
                <a:solidFill>
                  <a:srgbClr val="575757"/>
                </a:solidFill>
              </a:rPr>
              <a:t>識別應向客戶發送訊息的頻率</a:t>
            </a:r>
          </a:p>
        </p:txBody>
      </p:sp>
      <p:sp>
        <p:nvSpPr>
          <p:cNvPr id="136" name="Freeform: Shape 135">
            <a:extLst>
              <a:ext uri="{FF2B5EF4-FFF2-40B4-BE49-F238E27FC236}">
                <a16:creationId xmlns:a16="http://schemas.microsoft.com/office/drawing/2014/main" id="{AB0DFAA9-13FE-426C-AD6B-755CD98DA83F}"/>
              </a:ext>
            </a:extLst>
          </p:cNvPr>
          <p:cNvSpPr/>
          <p:nvPr/>
        </p:nvSpPr>
        <p:spPr>
          <a:xfrm rot="16200000">
            <a:off x="437395" y="6041958"/>
            <a:ext cx="652028" cy="266816"/>
          </a:xfrm>
          <a:custGeom>
            <a:avLst/>
            <a:gdLst>
              <a:gd name="connsiteX0" fmla="*/ 665227 w 665227"/>
              <a:gd name="connsiteY0" fmla="*/ 0 h 266816"/>
              <a:gd name="connsiteX1" fmla="*/ 665227 w 665227"/>
              <a:gd name="connsiteY1" fmla="*/ 1 h 266816"/>
              <a:gd name="connsiteX2" fmla="*/ 652028 w 665227"/>
              <a:gd name="connsiteY2" fmla="*/ 1 h 266816"/>
              <a:gd name="connsiteX3" fmla="*/ 620000 w 665227"/>
              <a:gd name="connsiteY3" fmla="*/ 133408 h 266816"/>
              <a:gd name="connsiteX4" fmla="*/ 652028 w 665227"/>
              <a:gd name="connsiteY4" fmla="*/ 266815 h 266816"/>
              <a:gd name="connsiteX5" fmla="*/ 665227 w 665227"/>
              <a:gd name="connsiteY5" fmla="*/ 266815 h 266816"/>
              <a:gd name="connsiteX6" fmla="*/ 665227 w 665227"/>
              <a:gd name="connsiteY6" fmla="*/ 266816 h 266816"/>
              <a:gd name="connsiteX7" fmla="*/ 0 w 665227"/>
              <a:gd name="connsiteY7" fmla="*/ 266816 h 266816"/>
              <a:gd name="connsiteX8" fmla="*/ 0 w 665227"/>
              <a:gd name="connsiteY8" fmla="*/ 0 h 266816"/>
              <a:gd name="connsiteX0" fmla="*/ 665227 w 665227"/>
              <a:gd name="connsiteY0" fmla="*/ 0 h 266816"/>
              <a:gd name="connsiteX1" fmla="*/ 665227 w 665227"/>
              <a:gd name="connsiteY1" fmla="*/ 1 h 266816"/>
              <a:gd name="connsiteX2" fmla="*/ 652028 w 665227"/>
              <a:gd name="connsiteY2" fmla="*/ 1 h 266816"/>
              <a:gd name="connsiteX3" fmla="*/ 620000 w 665227"/>
              <a:gd name="connsiteY3" fmla="*/ 133408 h 266816"/>
              <a:gd name="connsiteX4" fmla="*/ 652028 w 665227"/>
              <a:gd name="connsiteY4" fmla="*/ 266815 h 266816"/>
              <a:gd name="connsiteX5" fmla="*/ 665227 w 665227"/>
              <a:gd name="connsiteY5" fmla="*/ 266815 h 266816"/>
              <a:gd name="connsiteX6" fmla="*/ 0 w 665227"/>
              <a:gd name="connsiteY6" fmla="*/ 266816 h 266816"/>
              <a:gd name="connsiteX7" fmla="*/ 0 w 665227"/>
              <a:gd name="connsiteY7" fmla="*/ 0 h 266816"/>
              <a:gd name="connsiteX8" fmla="*/ 665227 w 665227"/>
              <a:gd name="connsiteY8" fmla="*/ 0 h 266816"/>
              <a:gd name="connsiteX0" fmla="*/ 665227 w 665227"/>
              <a:gd name="connsiteY0" fmla="*/ 0 h 266816"/>
              <a:gd name="connsiteX1" fmla="*/ 665227 w 665227"/>
              <a:gd name="connsiteY1" fmla="*/ 1 h 266816"/>
              <a:gd name="connsiteX2" fmla="*/ 652028 w 665227"/>
              <a:gd name="connsiteY2" fmla="*/ 1 h 266816"/>
              <a:gd name="connsiteX3" fmla="*/ 620000 w 665227"/>
              <a:gd name="connsiteY3" fmla="*/ 133408 h 266816"/>
              <a:gd name="connsiteX4" fmla="*/ 652028 w 665227"/>
              <a:gd name="connsiteY4" fmla="*/ 266815 h 266816"/>
              <a:gd name="connsiteX5" fmla="*/ 0 w 665227"/>
              <a:gd name="connsiteY5" fmla="*/ 266816 h 266816"/>
              <a:gd name="connsiteX6" fmla="*/ 0 w 665227"/>
              <a:gd name="connsiteY6" fmla="*/ 0 h 266816"/>
              <a:gd name="connsiteX7" fmla="*/ 665227 w 665227"/>
              <a:gd name="connsiteY7" fmla="*/ 0 h 266816"/>
              <a:gd name="connsiteX0" fmla="*/ 0 w 665227"/>
              <a:gd name="connsiteY0" fmla="*/ 0 h 266816"/>
              <a:gd name="connsiteX1" fmla="*/ 665227 w 665227"/>
              <a:gd name="connsiteY1" fmla="*/ 1 h 266816"/>
              <a:gd name="connsiteX2" fmla="*/ 652028 w 665227"/>
              <a:gd name="connsiteY2" fmla="*/ 1 h 266816"/>
              <a:gd name="connsiteX3" fmla="*/ 620000 w 665227"/>
              <a:gd name="connsiteY3" fmla="*/ 133408 h 266816"/>
              <a:gd name="connsiteX4" fmla="*/ 652028 w 665227"/>
              <a:gd name="connsiteY4" fmla="*/ 266815 h 266816"/>
              <a:gd name="connsiteX5" fmla="*/ 0 w 665227"/>
              <a:gd name="connsiteY5" fmla="*/ 266816 h 266816"/>
              <a:gd name="connsiteX6" fmla="*/ 0 w 665227"/>
              <a:gd name="connsiteY6" fmla="*/ 0 h 266816"/>
              <a:gd name="connsiteX0" fmla="*/ 0 w 652028"/>
              <a:gd name="connsiteY0" fmla="*/ 0 h 266816"/>
              <a:gd name="connsiteX1" fmla="*/ 652028 w 652028"/>
              <a:gd name="connsiteY1" fmla="*/ 1 h 266816"/>
              <a:gd name="connsiteX2" fmla="*/ 620000 w 652028"/>
              <a:gd name="connsiteY2" fmla="*/ 133408 h 266816"/>
              <a:gd name="connsiteX3" fmla="*/ 652028 w 652028"/>
              <a:gd name="connsiteY3" fmla="*/ 266815 h 266816"/>
              <a:gd name="connsiteX4" fmla="*/ 0 w 652028"/>
              <a:gd name="connsiteY4" fmla="*/ 266816 h 266816"/>
              <a:gd name="connsiteX5" fmla="*/ 0 w 652028"/>
              <a:gd name="connsiteY5" fmla="*/ 0 h 266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2028" h="266816">
                <a:moveTo>
                  <a:pt x="0" y="0"/>
                </a:moveTo>
                <a:lnTo>
                  <a:pt x="652028" y="1"/>
                </a:lnTo>
                <a:lnTo>
                  <a:pt x="620000" y="133408"/>
                </a:lnTo>
                <a:lnTo>
                  <a:pt x="652028" y="266815"/>
                </a:lnTo>
                <a:lnTo>
                  <a:pt x="0" y="266816"/>
                </a:lnTo>
                <a:lnTo>
                  <a:pt x="0" y="0"/>
                </a:lnTo>
                <a:close/>
              </a:path>
            </a:pathLst>
          </a:custGeom>
          <a:solidFill>
            <a:schemeClr val="tx2"/>
          </a:solidFill>
          <a:ln w="12700" cap="rnd" cmpd="sng" algn="ctr">
            <a:noFill/>
            <a:prstDash val="solid"/>
            <a:round/>
            <a:headEnd type="none" w="med" len="med"/>
            <a:tailEnd type="none" w="med" len="med"/>
          </a:ln>
          <a:extLst>
            <a:ext uri="{91240B29-F687-4F45-9708-019B960494DF}">
              <a14:hiddenLine xmlns:a14="http://schemas.microsoft.com/office/drawing/2010/main" w="12700" cap="rnd" cmpd="sng" algn="ctr">
                <a:solidFill>
                  <a:schemeClr val="bg1">
                    <a:lumMod val="50000"/>
                  </a:schemeClr>
                </a:solidFill>
                <a:prstDash val="solid"/>
                <a:round/>
                <a:headEnd type="none" w="med" len="med"/>
                <a:tailEnd type="none" w="med" len="med"/>
              </a14:hiddenLine>
            </a:ext>
          </a:extLst>
        </p:spPr>
        <p:txBody>
          <a:bodyPr wrap="square" lIns="0" tIns="0" rIns="36576" bIns="0" rtlCol="0" anchor="ctr" anchorCtr="0">
            <a:noAutofit/>
          </a:bodyPr>
          <a:lstStyle/>
          <a:p>
            <a:pPr algn="ctr" eaLnBrk="0" hangingPunct="0"/>
            <a:r>
              <a:rPr lang="zh-TW" altLang="en-US" sz="1000" b="1">
                <a:solidFill>
                  <a:schemeClr val="bg1"/>
                </a:solidFill>
              </a:rPr>
              <a:t>支撐能力</a:t>
            </a:r>
            <a:endParaRPr lang="en-US" sz="1000" b="1">
              <a:solidFill>
                <a:schemeClr val="bg1"/>
              </a:solidFill>
            </a:endParaRPr>
          </a:p>
        </p:txBody>
      </p:sp>
      <p:sp>
        <p:nvSpPr>
          <p:cNvPr id="137" name="Rectangle: Rounded Corners 136">
            <a:extLst>
              <a:ext uri="{FF2B5EF4-FFF2-40B4-BE49-F238E27FC236}">
                <a16:creationId xmlns:a16="http://schemas.microsoft.com/office/drawing/2014/main" id="{A74E768F-75A8-4467-95AD-EB23711860A5}"/>
              </a:ext>
            </a:extLst>
          </p:cNvPr>
          <p:cNvSpPr/>
          <p:nvPr>
            <p:custDataLst>
              <p:tags r:id="rId19"/>
            </p:custDataLst>
          </p:nvPr>
        </p:nvSpPr>
        <p:spPr>
          <a:xfrm>
            <a:off x="10129879" y="4450629"/>
            <a:ext cx="1427804" cy="409613"/>
          </a:xfrm>
          <a:prstGeom prst="roundRect">
            <a:avLst>
              <a:gd name="adj" fmla="val 15626"/>
            </a:avLst>
          </a:prstGeom>
          <a:solidFill>
            <a:srgbClr val="F2F2F2"/>
          </a:solidFill>
          <a:ln w="317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800">
                <a:solidFill>
                  <a:srgbClr val="29BA74"/>
                </a:solidFill>
              </a:rPr>
              <a:t>基於即時反饋的優惠和溝通訊息</a:t>
            </a:r>
          </a:p>
        </p:txBody>
      </p:sp>
      <p:sp>
        <p:nvSpPr>
          <p:cNvPr id="138" name="Rectangle: Rounded Corners 137">
            <a:extLst>
              <a:ext uri="{FF2B5EF4-FFF2-40B4-BE49-F238E27FC236}">
                <a16:creationId xmlns:a16="http://schemas.microsoft.com/office/drawing/2014/main" id="{BAEDE096-4A64-485C-BBE4-9A66B4F72C0D}"/>
              </a:ext>
            </a:extLst>
          </p:cNvPr>
          <p:cNvSpPr/>
          <p:nvPr>
            <p:custDataLst>
              <p:tags r:id="rId20"/>
            </p:custDataLst>
          </p:nvPr>
        </p:nvSpPr>
        <p:spPr>
          <a:xfrm>
            <a:off x="2504387" y="4450629"/>
            <a:ext cx="1427804" cy="409613"/>
          </a:xfrm>
          <a:prstGeom prst="roundRect">
            <a:avLst>
              <a:gd name="adj" fmla="val 15626"/>
            </a:avLst>
          </a:prstGeom>
          <a:solidFill>
            <a:srgbClr val="F2F2F2"/>
          </a:solidFill>
          <a:ln w="317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800">
                <a:solidFill>
                  <a:srgbClr val="575757"/>
                </a:solidFill>
              </a:rPr>
              <a:t>實時</a:t>
            </a:r>
            <a:r>
              <a:rPr lang="zh-TW" altLang="en-US" sz="800">
                <a:solidFill>
                  <a:srgbClr val="29BA74"/>
                </a:solidFill>
              </a:rPr>
              <a:t>高潛客戶辨認模型</a:t>
            </a:r>
          </a:p>
        </p:txBody>
      </p:sp>
      <p:sp>
        <p:nvSpPr>
          <p:cNvPr id="140" name="Rectangle: Rounded Corners 139">
            <a:extLst>
              <a:ext uri="{FF2B5EF4-FFF2-40B4-BE49-F238E27FC236}">
                <a16:creationId xmlns:a16="http://schemas.microsoft.com/office/drawing/2014/main" id="{B4CF0A75-8A71-4556-AB9E-74CE98D800B3}"/>
              </a:ext>
            </a:extLst>
          </p:cNvPr>
          <p:cNvSpPr/>
          <p:nvPr>
            <p:custDataLst>
              <p:tags r:id="rId21"/>
            </p:custDataLst>
          </p:nvPr>
        </p:nvSpPr>
        <p:spPr>
          <a:xfrm>
            <a:off x="979289" y="4450629"/>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err="1">
                <a:solidFill>
                  <a:srgbClr val="575757"/>
                </a:solidFill>
              </a:rPr>
              <a:t>動態創建新</a:t>
            </a:r>
            <a:r>
              <a:rPr lang="zh-TW" altLang="en-US" sz="800">
                <a:solidFill>
                  <a:srgbClr val="575757"/>
                </a:solidFill>
              </a:rPr>
              <a:t>數據</a:t>
            </a:r>
            <a:r>
              <a:rPr lang="en-US" altLang="zh-TW" sz="800">
                <a:solidFill>
                  <a:srgbClr val="575757"/>
                </a:solidFill>
              </a:rPr>
              <a:t>/</a:t>
            </a:r>
            <a:r>
              <a:rPr lang="zh-TW" altLang="en-US" sz="800">
                <a:solidFill>
                  <a:srgbClr val="575757"/>
                </a:solidFill>
              </a:rPr>
              <a:t>功能</a:t>
            </a:r>
            <a:endParaRPr lang="en-US" sz="800">
              <a:solidFill>
                <a:srgbClr val="575757"/>
              </a:solidFill>
            </a:endParaRPr>
          </a:p>
        </p:txBody>
      </p:sp>
      <p:sp>
        <p:nvSpPr>
          <p:cNvPr id="141" name="Rectangle: Rounded Corners 140">
            <a:extLst>
              <a:ext uri="{FF2B5EF4-FFF2-40B4-BE49-F238E27FC236}">
                <a16:creationId xmlns:a16="http://schemas.microsoft.com/office/drawing/2014/main" id="{38F13C90-7D71-4E9D-B44F-15C567B432D9}"/>
              </a:ext>
            </a:extLst>
          </p:cNvPr>
          <p:cNvSpPr/>
          <p:nvPr>
            <p:custDataLst>
              <p:tags r:id="rId22"/>
            </p:custDataLst>
          </p:nvPr>
        </p:nvSpPr>
        <p:spPr>
          <a:xfrm>
            <a:off x="10129879" y="3533631"/>
            <a:ext cx="1427804" cy="409613"/>
          </a:xfrm>
          <a:prstGeom prst="roundRect">
            <a:avLst>
              <a:gd name="adj" fmla="val 15626"/>
            </a:avLst>
          </a:prstGeom>
          <a:solidFill>
            <a:srgbClr val="F2F2F2"/>
          </a:solidFill>
          <a:ln w="317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800">
                <a:solidFill>
                  <a:srgbClr val="29BA74"/>
                </a:solidFill>
              </a:rPr>
              <a:t>建立</a:t>
            </a:r>
            <a:r>
              <a:rPr lang="en-US" sz="800" err="1">
                <a:solidFill>
                  <a:srgbClr val="29BA74"/>
                </a:solidFill>
              </a:rPr>
              <a:t>數位和人工管道的反饋</a:t>
            </a:r>
            <a:r>
              <a:rPr lang="zh-TW" altLang="en-US" sz="800">
                <a:solidFill>
                  <a:srgbClr val="29BA74"/>
                </a:solidFill>
              </a:rPr>
              <a:t>機制</a:t>
            </a:r>
            <a:endParaRPr lang="en-US" sz="800">
              <a:solidFill>
                <a:srgbClr val="29BA74"/>
              </a:solidFill>
            </a:endParaRPr>
          </a:p>
        </p:txBody>
      </p:sp>
      <p:sp>
        <p:nvSpPr>
          <p:cNvPr id="142" name="Rectangle: Rounded Corners 141">
            <a:extLst>
              <a:ext uri="{FF2B5EF4-FFF2-40B4-BE49-F238E27FC236}">
                <a16:creationId xmlns:a16="http://schemas.microsoft.com/office/drawing/2014/main" id="{DA1647E8-CC5E-4B7E-9BDF-96933978EF1F}"/>
              </a:ext>
            </a:extLst>
          </p:cNvPr>
          <p:cNvSpPr/>
          <p:nvPr>
            <p:custDataLst>
              <p:tags r:id="rId23"/>
            </p:custDataLst>
          </p:nvPr>
        </p:nvSpPr>
        <p:spPr>
          <a:xfrm>
            <a:off x="2504387" y="3533631"/>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zh-TW" sz="800" err="1">
                <a:solidFill>
                  <a:srgbClr val="575757"/>
                </a:solidFill>
              </a:rPr>
              <a:t>帶有封閉反饋迴路</a:t>
            </a:r>
            <a:r>
              <a:rPr lang="zh-TW" altLang="en-US" sz="800">
                <a:solidFill>
                  <a:srgbClr val="575757"/>
                </a:solidFill>
              </a:rPr>
              <a:t>的</a:t>
            </a:r>
            <a:r>
              <a:rPr lang="en-US" sz="800" err="1">
                <a:solidFill>
                  <a:srgbClr val="575757"/>
                </a:solidFill>
              </a:rPr>
              <a:t>精密機器學習</a:t>
            </a:r>
            <a:r>
              <a:rPr lang="zh-TW" altLang="en-US" sz="800">
                <a:solidFill>
                  <a:srgbClr val="575757"/>
                </a:solidFill>
              </a:rPr>
              <a:t> </a:t>
            </a:r>
            <a:r>
              <a:rPr lang="en-US" altLang="zh-TW" sz="800">
                <a:solidFill>
                  <a:srgbClr val="575757"/>
                </a:solidFill>
              </a:rPr>
              <a:t>(ML)</a:t>
            </a:r>
            <a:r>
              <a:rPr lang="zh-TW" altLang="en-US" sz="800">
                <a:solidFill>
                  <a:srgbClr val="575757"/>
                </a:solidFill>
              </a:rPr>
              <a:t> </a:t>
            </a:r>
            <a:r>
              <a:rPr lang="en-US" sz="800" err="1">
                <a:solidFill>
                  <a:srgbClr val="575757"/>
                </a:solidFill>
              </a:rPr>
              <a:t>模型</a:t>
            </a:r>
            <a:endParaRPr lang="en-US" sz="800">
              <a:solidFill>
                <a:srgbClr val="575757"/>
              </a:solidFill>
            </a:endParaRPr>
          </a:p>
        </p:txBody>
      </p:sp>
      <p:sp>
        <p:nvSpPr>
          <p:cNvPr id="143" name="Rectangle: Rounded Corners 142">
            <a:extLst>
              <a:ext uri="{FF2B5EF4-FFF2-40B4-BE49-F238E27FC236}">
                <a16:creationId xmlns:a16="http://schemas.microsoft.com/office/drawing/2014/main" id="{1B3A4707-E569-4E54-A815-D8A4837DAC23}"/>
              </a:ext>
            </a:extLst>
          </p:cNvPr>
          <p:cNvSpPr/>
          <p:nvPr>
            <p:custDataLst>
              <p:tags r:id="rId24"/>
            </p:custDataLst>
          </p:nvPr>
        </p:nvSpPr>
        <p:spPr>
          <a:xfrm>
            <a:off x="8604779" y="3533631"/>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800">
                <a:solidFill>
                  <a:srgbClr val="575757"/>
                </a:solidFill>
              </a:rPr>
              <a:t>基本的反饋機制 </a:t>
            </a:r>
            <a:r>
              <a:rPr lang="en-US" altLang="zh-TW" sz="800">
                <a:solidFill>
                  <a:srgbClr val="575757"/>
                </a:solidFill>
              </a:rPr>
              <a:t>(</a:t>
            </a:r>
            <a:r>
              <a:rPr lang="zh-TW" altLang="en-US" sz="800">
                <a:solidFill>
                  <a:srgbClr val="575757"/>
                </a:solidFill>
              </a:rPr>
              <a:t>如簡短回饋問卷</a:t>
            </a:r>
            <a:r>
              <a:rPr lang="en-US" altLang="zh-TW" sz="800">
                <a:solidFill>
                  <a:srgbClr val="575757"/>
                </a:solidFill>
              </a:rPr>
              <a:t>)</a:t>
            </a:r>
            <a:endParaRPr lang="en-US" sz="800">
              <a:solidFill>
                <a:srgbClr val="575757"/>
              </a:solidFill>
            </a:endParaRPr>
          </a:p>
        </p:txBody>
      </p:sp>
      <p:sp>
        <p:nvSpPr>
          <p:cNvPr id="144" name="Rectangle: Rounded Corners 143">
            <a:extLst>
              <a:ext uri="{FF2B5EF4-FFF2-40B4-BE49-F238E27FC236}">
                <a16:creationId xmlns:a16="http://schemas.microsoft.com/office/drawing/2014/main" id="{55843962-9880-4426-9F80-4DFC9CCAD1FC}"/>
              </a:ext>
            </a:extLst>
          </p:cNvPr>
          <p:cNvSpPr/>
          <p:nvPr>
            <p:custDataLst>
              <p:tags r:id="rId25"/>
            </p:custDataLst>
          </p:nvPr>
        </p:nvSpPr>
        <p:spPr>
          <a:xfrm>
            <a:off x="7079681" y="3533631"/>
            <a:ext cx="1427804" cy="409613"/>
          </a:xfrm>
          <a:prstGeom prst="roundRect">
            <a:avLst>
              <a:gd name="adj" fmla="val 15626"/>
            </a:avLst>
          </a:prstGeom>
          <a:solidFill>
            <a:srgbClr val="F2F2F2"/>
          </a:solidFill>
          <a:ln w="317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800">
                <a:solidFill>
                  <a:srgbClr val="29BA74"/>
                </a:solidFill>
              </a:rPr>
              <a:t>在</a:t>
            </a:r>
            <a:r>
              <a:rPr lang="en-US" sz="800" err="1">
                <a:solidFill>
                  <a:srgbClr val="29BA74"/>
                </a:solidFill>
              </a:rPr>
              <a:t>應用程式</a:t>
            </a:r>
            <a:r>
              <a:rPr lang="en-US" sz="800">
                <a:solidFill>
                  <a:srgbClr val="29BA74"/>
                </a:solidFill>
              </a:rPr>
              <a:t>/</a:t>
            </a:r>
            <a:r>
              <a:rPr lang="en-US" sz="800" err="1">
                <a:solidFill>
                  <a:srgbClr val="29BA74"/>
                </a:solidFill>
              </a:rPr>
              <a:t>網站中顯示針對每位顧客的</a:t>
            </a:r>
            <a:r>
              <a:rPr lang="zh-TW" altLang="en-US" sz="800">
                <a:solidFill>
                  <a:srgbClr val="29BA74"/>
                </a:solidFill>
              </a:rPr>
              <a:t>客製化</a:t>
            </a:r>
            <a:r>
              <a:rPr lang="en-US" sz="800" err="1">
                <a:solidFill>
                  <a:srgbClr val="29BA74"/>
                </a:solidFill>
              </a:rPr>
              <a:t>廣告</a:t>
            </a:r>
            <a:endParaRPr lang="en-US" sz="800">
              <a:solidFill>
                <a:srgbClr val="29BA74"/>
              </a:solidFill>
            </a:endParaRPr>
          </a:p>
        </p:txBody>
      </p:sp>
      <p:sp>
        <p:nvSpPr>
          <p:cNvPr id="145" name="Rectangle: Rounded Corners 144">
            <a:extLst>
              <a:ext uri="{FF2B5EF4-FFF2-40B4-BE49-F238E27FC236}">
                <a16:creationId xmlns:a16="http://schemas.microsoft.com/office/drawing/2014/main" id="{02730B9F-8F28-4C07-9372-28221CBB88DB}"/>
              </a:ext>
            </a:extLst>
          </p:cNvPr>
          <p:cNvSpPr/>
          <p:nvPr>
            <p:custDataLst>
              <p:tags r:id="rId26"/>
            </p:custDataLst>
          </p:nvPr>
        </p:nvSpPr>
        <p:spPr>
          <a:xfrm>
            <a:off x="4029485" y="2616633"/>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800">
                <a:solidFill>
                  <a:srgbClr val="575757"/>
                </a:solidFill>
              </a:rPr>
              <a:t>識別客戶偏好溝通管道</a:t>
            </a:r>
            <a:endParaRPr lang="en-US" sz="800">
              <a:solidFill>
                <a:srgbClr val="575757"/>
              </a:solidFill>
            </a:endParaRPr>
          </a:p>
        </p:txBody>
      </p:sp>
      <p:sp>
        <p:nvSpPr>
          <p:cNvPr id="146" name="Rectangle: Rounded Corners 145">
            <a:extLst>
              <a:ext uri="{FF2B5EF4-FFF2-40B4-BE49-F238E27FC236}">
                <a16:creationId xmlns:a16="http://schemas.microsoft.com/office/drawing/2014/main" id="{6E61F74D-F711-40E5-A4F3-7DC8DCF2CD36}"/>
              </a:ext>
            </a:extLst>
          </p:cNvPr>
          <p:cNvSpPr/>
          <p:nvPr>
            <p:custDataLst>
              <p:tags r:id="rId27"/>
            </p:custDataLst>
          </p:nvPr>
        </p:nvSpPr>
        <p:spPr>
          <a:xfrm>
            <a:off x="5554583" y="3533631"/>
            <a:ext cx="1427804" cy="409613"/>
          </a:xfrm>
          <a:prstGeom prst="roundRect">
            <a:avLst>
              <a:gd name="adj" fmla="val 15626"/>
            </a:avLst>
          </a:prstGeom>
          <a:solidFill>
            <a:srgbClr val="F2F2F2"/>
          </a:solidFill>
          <a:ln w="317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err="1">
                <a:solidFill>
                  <a:srgbClr val="29BA74"/>
                </a:solidFill>
              </a:rPr>
              <a:t>動態</a:t>
            </a:r>
            <a:r>
              <a:rPr lang="zh-TW" altLang="en-US" sz="800">
                <a:solidFill>
                  <a:srgbClr val="29BA74"/>
                </a:solidFill>
              </a:rPr>
              <a:t>溝通</a:t>
            </a:r>
            <a:r>
              <a:rPr lang="en-US" sz="800" err="1">
                <a:solidFill>
                  <a:srgbClr val="29BA74"/>
                </a:solidFill>
              </a:rPr>
              <a:t>內容創建</a:t>
            </a:r>
            <a:r>
              <a:rPr lang="zh-TW" altLang="en-US" sz="800">
                <a:solidFill>
                  <a:srgbClr val="575757"/>
                </a:solidFill>
              </a:rPr>
              <a:t>；</a:t>
            </a:r>
            <a:r>
              <a:rPr lang="en-US" sz="800" err="1">
                <a:solidFill>
                  <a:srgbClr val="575757"/>
                </a:solidFill>
              </a:rPr>
              <a:t>一對一</a:t>
            </a:r>
            <a:r>
              <a:rPr lang="zh-TW" altLang="en-US" sz="800">
                <a:solidFill>
                  <a:srgbClr val="575757"/>
                </a:solidFill>
              </a:rPr>
              <a:t>訊息</a:t>
            </a:r>
            <a:endParaRPr lang="en-US" sz="800">
              <a:solidFill>
                <a:srgbClr val="575757"/>
              </a:solidFill>
            </a:endParaRPr>
          </a:p>
        </p:txBody>
      </p:sp>
      <p:sp>
        <p:nvSpPr>
          <p:cNvPr id="147" name="Rectangle: Rounded Corners 146">
            <a:extLst>
              <a:ext uri="{FF2B5EF4-FFF2-40B4-BE49-F238E27FC236}">
                <a16:creationId xmlns:a16="http://schemas.microsoft.com/office/drawing/2014/main" id="{3A70A390-3BC7-4741-9FD9-25F7372B2678}"/>
              </a:ext>
            </a:extLst>
          </p:cNvPr>
          <p:cNvSpPr/>
          <p:nvPr>
            <p:custDataLst>
              <p:tags r:id="rId28"/>
            </p:custDataLst>
          </p:nvPr>
        </p:nvSpPr>
        <p:spPr>
          <a:xfrm>
            <a:off x="979289" y="3533631"/>
            <a:ext cx="1427804" cy="409613"/>
          </a:xfrm>
          <a:prstGeom prst="roundRect">
            <a:avLst>
              <a:gd name="adj" fmla="val 15626"/>
            </a:avLst>
          </a:prstGeom>
          <a:solidFill>
            <a:srgbClr val="F2F2F2"/>
          </a:solidFill>
          <a:ln w="317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800">
                <a:solidFill>
                  <a:srgbClr val="29BA74"/>
                </a:solidFill>
              </a:rPr>
              <a:t>外部數據（例如徵信機構數據、數位足跡數據等）</a:t>
            </a:r>
          </a:p>
        </p:txBody>
      </p:sp>
      <p:sp>
        <p:nvSpPr>
          <p:cNvPr id="148" name="Rectangle: Rounded Corners 147">
            <a:extLst>
              <a:ext uri="{FF2B5EF4-FFF2-40B4-BE49-F238E27FC236}">
                <a16:creationId xmlns:a16="http://schemas.microsoft.com/office/drawing/2014/main" id="{3E494F33-A1D2-4021-869D-2C5AD5025ED7}"/>
              </a:ext>
            </a:extLst>
          </p:cNvPr>
          <p:cNvSpPr/>
          <p:nvPr>
            <p:custDataLst>
              <p:tags r:id="rId29"/>
            </p:custDataLst>
          </p:nvPr>
        </p:nvSpPr>
        <p:spPr>
          <a:xfrm>
            <a:off x="8604779" y="4450628"/>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800">
                <a:solidFill>
                  <a:srgbClr val="575757"/>
                </a:solidFill>
              </a:rPr>
              <a:t>基於</a:t>
            </a:r>
            <a:r>
              <a:rPr lang="en-US" sz="800">
                <a:solidFill>
                  <a:srgbClr val="575757"/>
                </a:solidFill>
              </a:rPr>
              <a:t>NLP(</a:t>
            </a:r>
            <a:r>
              <a:rPr lang="zh-TW" altLang="en-US" sz="800">
                <a:solidFill>
                  <a:srgbClr val="575757"/>
                </a:solidFill>
              </a:rPr>
              <a:t>自然語言處理</a:t>
            </a:r>
            <a:r>
              <a:rPr lang="en-US" altLang="zh-TW" sz="800">
                <a:solidFill>
                  <a:srgbClr val="575757"/>
                </a:solidFill>
              </a:rPr>
              <a:t>)</a:t>
            </a:r>
            <a:r>
              <a:rPr lang="zh-TW" altLang="en-US" sz="800">
                <a:solidFill>
                  <a:srgbClr val="575757"/>
                </a:solidFill>
              </a:rPr>
              <a:t>的反饋機制</a:t>
            </a:r>
          </a:p>
        </p:txBody>
      </p:sp>
      <p:sp>
        <p:nvSpPr>
          <p:cNvPr id="149" name="Rectangle: Rounded Corners 148">
            <a:extLst>
              <a:ext uri="{FF2B5EF4-FFF2-40B4-BE49-F238E27FC236}">
                <a16:creationId xmlns:a16="http://schemas.microsoft.com/office/drawing/2014/main" id="{5D2C9A64-7B20-41C6-AEF0-740DA537E44E}"/>
              </a:ext>
            </a:extLst>
          </p:cNvPr>
          <p:cNvSpPr/>
          <p:nvPr>
            <p:custDataLst>
              <p:tags r:id="rId30"/>
            </p:custDataLst>
          </p:nvPr>
        </p:nvSpPr>
        <p:spPr>
          <a:xfrm>
            <a:off x="2504387" y="4909128"/>
            <a:ext cx="1427804" cy="409613"/>
          </a:xfrm>
          <a:prstGeom prst="roundRect">
            <a:avLst>
              <a:gd name="adj" fmla="val 15626"/>
            </a:avLst>
          </a:prstGeom>
          <a:solidFill>
            <a:srgbClr val="F2F2F2"/>
          </a:solidFill>
          <a:ln w="317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err="1">
                <a:solidFill>
                  <a:srgbClr val="29BA74"/>
                </a:solidFill>
              </a:rPr>
              <a:t>個性化</a:t>
            </a:r>
            <a:r>
              <a:rPr lang="en-US" sz="800">
                <a:solidFill>
                  <a:srgbClr val="29BA74"/>
                </a:solidFill>
              </a:rPr>
              <a:t>/</a:t>
            </a:r>
            <a:r>
              <a:rPr lang="en-US" sz="800" err="1">
                <a:solidFill>
                  <a:srgbClr val="29BA74"/>
                </a:solidFill>
              </a:rPr>
              <a:t>價值優化</a:t>
            </a:r>
            <a:r>
              <a:rPr lang="zh-TW" altLang="en-US" sz="800">
                <a:solidFill>
                  <a:srgbClr val="29BA74"/>
                </a:solidFill>
              </a:rPr>
              <a:t>傾向</a:t>
            </a:r>
            <a:r>
              <a:rPr lang="en-US" sz="800" err="1">
                <a:solidFill>
                  <a:srgbClr val="29BA74"/>
                </a:solidFill>
              </a:rPr>
              <a:t>模型</a:t>
            </a:r>
            <a:endParaRPr lang="en-US" sz="800">
              <a:solidFill>
                <a:srgbClr val="29BA74"/>
              </a:solidFill>
            </a:endParaRPr>
          </a:p>
        </p:txBody>
      </p:sp>
      <p:sp>
        <p:nvSpPr>
          <p:cNvPr id="150" name="Rectangle: Rounded Corners 149">
            <a:extLst>
              <a:ext uri="{FF2B5EF4-FFF2-40B4-BE49-F238E27FC236}">
                <a16:creationId xmlns:a16="http://schemas.microsoft.com/office/drawing/2014/main" id="{30F811A9-18EF-46F0-891F-19724CC84200}"/>
              </a:ext>
            </a:extLst>
          </p:cNvPr>
          <p:cNvSpPr/>
          <p:nvPr>
            <p:custDataLst>
              <p:tags r:id="rId31"/>
            </p:custDataLst>
          </p:nvPr>
        </p:nvSpPr>
        <p:spPr>
          <a:xfrm>
            <a:off x="2504387" y="5367627"/>
            <a:ext cx="1427804" cy="409613"/>
          </a:xfrm>
          <a:prstGeom prst="roundRect">
            <a:avLst>
              <a:gd name="adj" fmla="val 15626"/>
            </a:avLst>
          </a:prstGeom>
          <a:solidFill>
            <a:srgbClr val="F2F2F2"/>
          </a:solidFill>
          <a:ln w="317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err="1">
                <a:solidFill>
                  <a:srgbClr val="29BA74"/>
                </a:solidFill>
              </a:rPr>
              <a:t>實時個性化</a:t>
            </a:r>
            <a:r>
              <a:rPr lang="zh-TW" altLang="en-US" sz="800">
                <a:solidFill>
                  <a:srgbClr val="29BA74"/>
                </a:solidFill>
              </a:rPr>
              <a:t>方案生成模型</a:t>
            </a:r>
            <a:endParaRPr lang="en-US" sz="800">
              <a:solidFill>
                <a:srgbClr val="29BA74"/>
              </a:solidFill>
            </a:endParaRPr>
          </a:p>
        </p:txBody>
      </p:sp>
      <p:sp>
        <p:nvSpPr>
          <p:cNvPr id="151" name="Rectangle: Rounded Corners 150">
            <a:extLst>
              <a:ext uri="{FF2B5EF4-FFF2-40B4-BE49-F238E27FC236}">
                <a16:creationId xmlns:a16="http://schemas.microsoft.com/office/drawing/2014/main" id="{05EBF325-FB90-4EEC-9CDA-19616B92A6D8}"/>
              </a:ext>
            </a:extLst>
          </p:cNvPr>
          <p:cNvSpPr/>
          <p:nvPr>
            <p:custDataLst>
              <p:tags r:id="rId32"/>
            </p:custDataLst>
          </p:nvPr>
        </p:nvSpPr>
        <p:spPr>
          <a:xfrm>
            <a:off x="10129879" y="3992130"/>
            <a:ext cx="1427804" cy="409613"/>
          </a:xfrm>
          <a:prstGeom prst="roundRect">
            <a:avLst>
              <a:gd name="adj" fmla="val 15626"/>
            </a:avLst>
          </a:prstGeom>
          <a:solidFill>
            <a:srgbClr val="F2F2F2"/>
          </a:solidFill>
          <a:ln w="317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err="1">
                <a:solidFill>
                  <a:srgbClr val="29BA74"/>
                </a:solidFill>
              </a:rPr>
              <a:t>實時監控活動</a:t>
            </a:r>
            <a:r>
              <a:rPr lang="zh-TW" altLang="en-US" sz="800">
                <a:solidFill>
                  <a:srgbClr val="29BA74"/>
                </a:solidFill>
              </a:rPr>
              <a:t>成效</a:t>
            </a:r>
            <a:endParaRPr lang="en-US" sz="800">
              <a:solidFill>
                <a:srgbClr val="29BA74"/>
              </a:solidFill>
            </a:endParaRPr>
          </a:p>
        </p:txBody>
      </p:sp>
      <p:sp>
        <p:nvSpPr>
          <p:cNvPr id="152" name="Rectangle: Rounded Corners 151">
            <a:extLst>
              <a:ext uri="{FF2B5EF4-FFF2-40B4-BE49-F238E27FC236}">
                <a16:creationId xmlns:a16="http://schemas.microsoft.com/office/drawing/2014/main" id="{18AF4DAB-3FB1-4BF4-A0AC-5B26FC144D21}"/>
              </a:ext>
            </a:extLst>
          </p:cNvPr>
          <p:cNvSpPr/>
          <p:nvPr>
            <p:custDataLst>
              <p:tags r:id="rId33"/>
            </p:custDataLst>
          </p:nvPr>
        </p:nvSpPr>
        <p:spPr>
          <a:xfrm>
            <a:off x="979289" y="3992130"/>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err="1">
                <a:solidFill>
                  <a:srgbClr val="575757"/>
                </a:solidFill>
              </a:rPr>
              <a:t>實時</a:t>
            </a:r>
            <a:r>
              <a:rPr lang="zh-TW" altLang="en-US" sz="800">
                <a:solidFill>
                  <a:srgbClr val="575757"/>
                </a:solidFill>
              </a:rPr>
              <a:t>蒐集</a:t>
            </a:r>
            <a:r>
              <a:rPr lang="en-US" sz="800" err="1">
                <a:solidFill>
                  <a:srgbClr val="575757"/>
                </a:solidFill>
              </a:rPr>
              <a:t>數據</a:t>
            </a:r>
            <a:r>
              <a:rPr lang="zh-TW" altLang="en-US" sz="800">
                <a:solidFill>
                  <a:srgbClr val="575757"/>
                </a:solidFill>
              </a:rPr>
              <a:t>能力</a:t>
            </a:r>
            <a:endParaRPr lang="en-US" sz="800">
              <a:solidFill>
                <a:srgbClr val="575757"/>
              </a:solidFill>
            </a:endParaRPr>
          </a:p>
        </p:txBody>
      </p:sp>
      <p:sp>
        <p:nvSpPr>
          <p:cNvPr id="153" name="Rectangle: Rounded Corners 152">
            <a:extLst>
              <a:ext uri="{FF2B5EF4-FFF2-40B4-BE49-F238E27FC236}">
                <a16:creationId xmlns:a16="http://schemas.microsoft.com/office/drawing/2014/main" id="{CCB4FD2F-85B1-490A-A81C-480D3EBC14A4}"/>
              </a:ext>
            </a:extLst>
          </p:cNvPr>
          <p:cNvSpPr/>
          <p:nvPr>
            <p:custDataLst>
              <p:tags r:id="rId34"/>
            </p:custDataLst>
          </p:nvPr>
        </p:nvSpPr>
        <p:spPr>
          <a:xfrm>
            <a:off x="5554583" y="3992130"/>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800">
                <a:solidFill>
                  <a:srgbClr val="575757"/>
                </a:solidFill>
              </a:rPr>
              <a:t>根據生命周期階段，提供對應服務、關懷、產品</a:t>
            </a:r>
            <a:endParaRPr lang="en-US" sz="800">
              <a:solidFill>
                <a:srgbClr val="575757"/>
              </a:solidFill>
            </a:endParaRPr>
          </a:p>
        </p:txBody>
      </p:sp>
      <p:sp>
        <p:nvSpPr>
          <p:cNvPr id="154" name="Rectangle: Rounded Corners 153">
            <a:extLst>
              <a:ext uri="{FF2B5EF4-FFF2-40B4-BE49-F238E27FC236}">
                <a16:creationId xmlns:a16="http://schemas.microsoft.com/office/drawing/2014/main" id="{762B50BD-6564-4D6A-B319-459BEDD3E2D8}"/>
              </a:ext>
            </a:extLst>
          </p:cNvPr>
          <p:cNvSpPr/>
          <p:nvPr>
            <p:custDataLst>
              <p:tags r:id="rId35"/>
            </p:custDataLst>
          </p:nvPr>
        </p:nvSpPr>
        <p:spPr>
          <a:xfrm>
            <a:off x="4029485" y="3992130"/>
            <a:ext cx="1427804" cy="409613"/>
          </a:xfrm>
          <a:prstGeom prst="roundRect">
            <a:avLst>
              <a:gd name="adj" fmla="val 15626"/>
            </a:avLst>
          </a:prstGeom>
          <a:solidFill>
            <a:srgbClr val="F2F2F2"/>
          </a:solidFill>
          <a:ln w="317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3152" tIns="45720" rIns="73152" bIns="45720" numCol="1" spcCol="0" rtlCol="0" fromWordArt="0" anchor="ctr" anchorCtr="0" forceAA="0" compatLnSpc="1">
            <a:prstTxWarp prst="textNoShape">
              <a:avLst/>
            </a:prstTxWarp>
            <a:noAutofit/>
          </a:bodyPr>
          <a:lstStyle/>
          <a:p>
            <a:pPr algn="ctr"/>
            <a:r>
              <a:rPr lang="zh-TW" altLang="en-US" sz="800">
                <a:solidFill>
                  <a:srgbClr val="29BA74"/>
                </a:solidFill>
              </a:rPr>
              <a:t>確保持續一致的訊息 </a:t>
            </a:r>
            <a:r>
              <a:rPr lang="en-US" altLang="zh-TW" sz="800">
                <a:solidFill>
                  <a:srgbClr val="575757"/>
                </a:solidFill>
              </a:rPr>
              <a:t>(</a:t>
            </a:r>
            <a:r>
              <a:rPr lang="zh-TW" altLang="en-US" sz="800">
                <a:solidFill>
                  <a:srgbClr val="575757"/>
                </a:solidFill>
              </a:rPr>
              <a:t>包含單次觸發及定期溝通</a:t>
            </a:r>
            <a:r>
              <a:rPr lang="en-US" altLang="zh-TW" sz="800">
                <a:solidFill>
                  <a:srgbClr val="575757"/>
                </a:solidFill>
              </a:rPr>
              <a:t>)</a:t>
            </a:r>
            <a:endParaRPr lang="zh-TW" altLang="en-US" sz="800">
              <a:solidFill>
                <a:srgbClr val="575757"/>
              </a:solidFill>
            </a:endParaRPr>
          </a:p>
        </p:txBody>
      </p:sp>
      <p:sp>
        <p:nvSpPr>
          <p:cNvPr id="155" name="Rectangle: Rounded Corners 154">
            <a:extLst>
              <a:ext uri="{FF2B5EF4-FFF2-40B4-BE49-F238E27FC236}">
                <a16:creationId xmlns:a16="http://schemas.microsoft.com/office/drawing/2014/main" id="{7EFCCE34-25E3-4275-B4BE-5BF43E11E680}"/>
              </a:ext>
            </a:extLst>
          </p:cNvPr>
          <p:cNvSpPr/>
          <p:nvPr>
            <p:custDataLst>
              <p:tags r:id="rId36"/>
            </p:custDataLst>
          </p:nvPr>
        </p:nvSpPr>
        <p:spPr>
          <a:xfrm>
            <a:off x="7079681" y="3992130"/>
            <a:ext cx="1427804" cy="409613"/>
          </a:xfrm>
          <a:prstGeom prst="roundRect">
            <a:avLst/>
          </a:prstGeom>
          <a:solidFill>
            <a:srgbClr val="F2F2F2"/>
          </a:solidFill>
          <a:ln w="317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800">
                <a:solidFill>
                  <a:srgbClr val="29BA74"/>
                </a:solidFill>
              </a:rPr>
              <a:t>追蹤點擊</a:t>
            </a:r>
            <a:r>
              <a:rPr lang="en-US" altLang="zh-TW" sz="800">
                <a:solidFill>
                  <a:srgbClr val="29BA74"/>
                </a:solidFill>
              </a:rPr>
              <a:t>/</a:t>
            </a:r>
            <a:r>
              <a:rPr lang="zh-TW" altLang="en-US" sz="800">
                <a:solidFill>
                  <a:srgbClr val="29BA74"/>
                </a:solidFill>
              </a:rPr>
              <a:t>參與度數據作為反饋機制的輸入</a:t>
            </a:r>
            <a:endParaRPr lang="en-US" sz="800">
              <a:solidFill>
                <a:srgbClr val="29BA74"/>
              </a:solidFill>
            </a:endParaRPr>
          </a:p>
        </p:txBody>
      </p:sp>
      <p:sp>
        <p:nvSpPr>
          <p:cNvPr id="156" name="Rectangle: Rounded Corners 155">
            <a:extLst>
              <a:ext uri="{FF2B5EF4-FFF2-40B4-BE49-F238E27FC236}">
                <a16:creationId xmlns:a16="http://schemas.microsoft.com/office/drawing/2014/main" id="{2959C258-E317-448B-9048-EAE3AA748CF3}"/>
              </a:ext>
            </a:extLst>
          </p:cNvPr>
          <p:cNvSpPr/>
          <p:nvPr>
            <p:custDataLst>
              <p:tags r:id="rId37"/>
            </p:custDataLst>
          </p:nvPr>
        </p:nvSpPr>
        <p:spPr>
          <a:xfrm>
            <a:off x="2504387" y="3992130"/>
            <a:ext cx="1427804" cy="409613"/>
          </a:xfrm>
          <a:prstGeom prst="roundRect">
            <a:avLst>
              <a:gd name="adj" fmla="val 15626"/>
            </a:avLst>
          </a:prstGeom>
          <a:solidFill>
            <a:srgbClr val="F2F2F2"/>
          </a:solidFill>
          <a:ln w="317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從</a:t>
            </a:r>
            <a:r>
              <a:rPr lang="zh-TW" altLang="en-US" sz="800">
                <a:solidFill>
                  <a:srgbClr val="29BA74"/>
                </a:solidFill>
              </a:rPr>
              <a:t>自然</a:t>
            </a:r>
            <a:r>
              <a:rPr lang="en-US" sz="800" err="1">
                <a:solidFill>
                  <a:srgbClr val="29BA74"/>
                </a:solidFill>
              </a:rPr>
              <a:t>傾向模型過渡到響應模型</a:t>
            </a:r>
            <a:endParaRPr lang="en-US" sz="800">
              <a:solidFill>
                <a:srgbClr val="29BA74"/>
              </a:solidFill>
            </a:endParaRPr>
          </a:p>
        </p:txBody>
      </p:sp>
      <p:sp>
        <p:nvSpPr>
          <p:cNvPr id="157" name="Rectangle: Rounded Corners 156">
            <a:extLst>
              <a:ext uri="{FF2B5EF4-FFF2-40B4-BE49-F238E27FC236}">
                <a16:creationId xmlns:a16="http://schemas.microsoft.com/office/drawing/2014/main" id="{DC03A24D-BEFC-44D5-9EF3-27417F05AF34}"/>
              </a:ext>
            </a:extLst>
          </p:cNvPr>
          <p:cNvSpPr/>
          <p:nvPr>
            <p:custDataLst>
              <p:tags r:id="rId38"/>
            </p:custDataLst>
          </p:nvPr>
        </p:nvSpPr>
        <p:spPr>
          <a:xfrm>
            <a:off x="8604779" y="3992130"/>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800">
                <a:solidFill>
                  <a:srgbClr val="575757"/>
                </a:solidFill>
              </a:rPr>
              <a:t>簡易於使用的儀表板，提供相關客戶關鍵的信息</a:t>
            </a:r>
          </a:p>
        </p:txBody>
      </p:sp>
      <p:sp>
        <p:nvSpPr>
          <p:cNvPr id="158" name="Rectangle: Rounded Corners 157">
            <a:extLst>
              <a:ext uri="{FF2B5EF4-FFF2-40B4-BE49-F238E27FC236}">
                <a16:creationId xmlns:a16="http://schemas.microsoft.com/office/drawing/2014/main" id="{138DBC40-8E6C-4F09-9F30-8ED8D7BACFF8}"/>
              </a:ext>
            </a:extLst>
          </p:cNvPr>
          <p:cNvSpPr/>
          <p:nvPr>
            <p:custDataLst>
              <p:tags r:id="rId39"/>
            </p:custDataLst>
          </p:nvPr>
        </p:nvSpPr>
        <p:spPr>
          <a:xfrm>
            <a:off x="10129879" y="3075132"/>
            <a:ext cx="1427804" cy="409613"/>
          </a:xfrm>
          <a:prstGeom prst="roundRect">
            <a:avLst>
              <a:gd name="adj" fmla="val 15626"/>
            </a:avLst>
          </a:prstGeom>
          <a:solidFill>
            <a:srgbClr val="F2F2F2"/>
          </a:solidFill>
          <a:ln w="317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err="1">
                <a:solidFill>
                  <a:srgbClr val="29BA74"/>
                </a:solidFill>
              </a:rPr>
              <a:t>使用明確的假</a:t>
            </a:r>
            <a:r>
              <a:rPr lang="zh-TW" altLang="en-US" sz="800">
                <a:solidFill>
                  <a:srgbClr val="29BA74"/>
                </a:solidFill>
              </a:rPr>
              <a:t>說</a:t>
            </a:r>
            <a:r>
              <a:rPr lang="en-US" sz="800" err="1">
                <a:solidFill>
                  <a:srgbClr val="29BA74"/>
                </a:solidFill>
              </a:rPr>
              <a:t>和KPI進行實驗設定</a:t>
            </a:r>
            <a:endParaRPr lang="en-US" sz="800">
              <a:solidFill>
                <a:srgbClr val="29BA74"/>
              </a:solidFill>
            </a:endParaRPr>
          </a:p>
        </p:txBody>
      </p:sp>
      <p:sp>
        <p:nvSpPr>
          <p:cNvPr id="159" name="Rectangle: Rounded Corners 158">
            <a:extLst>
              <a:ext uri="{FF2B5EF4-FFF2-40B4-BE49-F238E27FC236}">
                <a16:creationId xmlns:a16="http://schemas.microsoft.com/office/drawing/2014/main" id="{DF01EA16-20AA-4BE0-A10F-5342A1FE6AE0}"/>
              </a:ext>
            </a:extLst>
          </p:cNvPr>
          <p:cNvSpPr/>
          <p:nvPr>
            <p:custDataLst>
              <p:tags r:id="rId40"/>
            </p:custDataLst>
          </p:nvPr>
        </p:nvSpPr>
        <p:spPr>
          <a:xfrm>
            <a:off x="979289" y="3075132"/>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800">
                <a:solidFill>
                  <a:srgbClr val="575757"/>
                </a:solidFill>
              </a:rPr>
              <a:t>其他內部數據（例如信卡消費資訊</a:t>
            </a:r>
            <a:r>
              <a:rPr lang="en-US" altLang="zh-TW" sz="800">
                <a:solidFill>
                  <a:srgbClr val="575757"/>
                </a:solidFill>
              </a:rPr>
              <a:t>)</a:t>
            </a:r>
            <a:endParaRPr lang="en-US" sz="800">
              <a:solidFill>
                <a:srgbClr val="575757"/>
              </a:solidFill>
            </a:endParaRPr>
          </a:p>
        </p:txBody>
      </p:sp>
      <p:sp>
        <p:nvSpPr>
          <p:cNvPr id="160" name="Rectangle: Rounded Corners 159">
            <a:extLst>
              <a:ext uri="{FF2B5EF4-FFF2-40B4-BE49-F238E27FC236}">
                <a16:creationId xmlns:a16="http://schemas.microsoft.com/office/drawing/2014/main" id="{7CA6F5D1-DD6A-4A63-9341-00B22B194009}"/>
              </a:ext>
            </a:extLst>
          </p:cNvPr>
          <p:cNvSpPr/>
          <p:nvPr>
            <p:custDataLst>
              <p:tags r:id="rId41"/>
            </p:custDataLst>
          </p:nvPr>
        </p:nvSpPr>
        <p:spPr>
          <a:xfrm>
            <a:off x="2504387" y="3075132"/>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800">
                <a:solidFill>
                  <a:srgbClr val="575757"/>
                </a:solidFill>
              </a:rPr>
              <a:t>根據客戶所在情境及過去互動數據形成的</a:t>
            </a:r>
            <a:r>
              <a:rPr lang="en-US" sz="800" err="1">
                <a:solidFill>
                  <a:srgbClr val="575757"/>
                </a:solidFill>
              </a:rPr>
              <a:t>預測模型</a:t>
            </a:r>
            <a:endParaRPr lang="en-US" sz="800">
              <a:solidFill>
                <a:srgbClr val="575757"/>
              </a:solidFill>
            </a:endParaRPr>
          </a:p>
        </p:txBody>
      </p:sp>
      <p:sp>
        <p:nvSpPr>
          <p:cNvPr id="161" name="Rectangle: Rounded Corners 160">
            <a:extLst>
              <a:ext uri="{FF2B5EF4-FFF2-40B4-BE49-F238E27FC236}">
                <a16:creationId xmlns:a16="http://schemas.microsoft.com/office/drawing/2014/main" id="{9EF1C9B4-958B-4BAB-9EA9-6456E35BF356}"/>
              </a:ext>
            </a:extLst>
          </p:cNvPr>
          <p:cNvSpPr/>
          <p:nvPr>
            <p:custDataLst>
              <p:tags r:id="rId42"/>
            </p:custDataLst>
          </p:nvPr>
        </p:nvSpPr>
        <p:spPr>
          <a:xfrm>
            <a:off x="8604779" y="3075132"/>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800">
                <a:solidFill>
                  <a:srgbClr val="575757"/>
                </a:solidFill>
              </a:rPr>
              <a:t>提供與潛在客戶名單相關的背景信息</a:t>
            </a:r>
            <a:r>
              <a:rPr lang="en-US" altLang="zh-TW" sz="800">
                <a:solidFill>
                  <a:srgbClr val="575757"/>
                </a:solidFill>
              </a:rPr>
              <a:t>(</a:t>
            </a:r>
            <a:r>
              <a:rPr lang="zh-TW" altLang="en-US" sz="800">
                <a:solidFill>
                  <a:srgbClr val="575757"/>
                </a:solidFill>
              </a:rPr>
              <a:t>包括高潛力原因及銷售亮點</a:t>
            </a:r>
            <a:r>
              <a:rPr lang="en-US" altLang="zh-TW" sz="800">
                <a:solidFill>
                  <a:srgbClr val="575757"/>
                </a:solidFill>
              </a:rPr>
              <a:t>)</a:t>
            </a:r>
            <a:endParaRPr lang="zh-TW" altLang="en-US" sz="800">
              <a:solidFill>
                <a:srgbClr val="575757"/>
              </a:solidFill>
            </a:endParaRPr>
          </a:p>
        </p:txBody>
      </p:sp>
      <p:sp>
        <p:nvSpPr>
          <p:cNvPr id="162" name="Rectangle: Rounded Corners 161">
            <a:extLst>
              <a:ext uri="{FF2B5EF4-FFF2-40B4-BE49-F238E27FC236}">
                <a16:creationId xmlns:a16="http://schemas.microsoft.com/office/drawing/2014/main" id="{87D731E6-6D12-4008-BC53-CE2D90AD5EB3}"/>
              </a:ext>
            </a:extLst>
          </p:cNvPr>
          <p:cNvSpPr/>
          <p:nvPr>
            <p:custDataLst>
              <p:tags r:id="rId43"/>
            </p:custDataLst>
          </p:nvPr>
        </p:nvSpPr>
        <p:spPr>
          <a:xfrm>
            <a:off x="7079681" y="3075132"/>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800">
                <a:solidFill>
                  <a:srgbClr val="575757"/>
                </a:solidFill>
              </a:rPr>
              <a:t>利用</a:t>
            </a:r>
            <a:r>
              <a:rPr lang="en-US" altLang="zh-TW" sz="800">
                <a:solidFill>
                  <a:srgbClr val="575757"/>
                </a:solidFill>
              </a:rPr>
              <a:t>APP/</a:t>
            </a:r>
            <a:r>
              <a:rPr lang="zh-TW" altLang="en-US" sz="800">
                <a:solidFill>
                  <a:srgbClr val="575757"/>
                </a:solidFill>
              </a:rPr>
              <a:t>網站內的廣告（如橫幅、插入廣告）</a:t>
            </a:r>
          </a:p>
        </p:txBody>
      </p:sp>
      <p:sp>
        <p:nvSpPr>
          <p:cNvPr id="163" name="Rectangle: Rounded Corners 162">
            <a:extLst>
              <a:ext uri="{FF2B5EF4-FFF2-40B4-BE49-F238E27FC236}">
                <a16:creationId xmlns:a16="http://schemas.microsoft.com/office/drawing/2014/main" id="{4E3CFA44-4CE3-48A8-B3A8-FC91C0C58059}"/>
              </a:ext>
            </a:extLst>
          </p:cNvPr>
          <p:cNvSpPr/>
          <p:nvPr>
            <p:custDataLst>
              <p:tags r:id="rId44"/>
            </p:custDataLst>
          </p:nvPr>
        </p:nvSpPr>
        <p:spPr>
          <a:xfrm>
            <a:off x="5554583" y="3075132"/>
            <a:ext cx="1427804" cy="409613"/>
          </a:xfrm>
          <a:prstGeom prst="roundRect">
            <a:avLst>
              <a:gd name="adj" fmla="val 15626"/>
            </a:avLst>
          </a:prstGeom>
          <a:solidFill>
            <a:srgbClr val="F2F2F2"/>
          </a:solidFill>
          <a:ln w="317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800">
                <a:solidFill>
                  <a:srgbClr val="575757"/>
                </a:solidFill>
              </a:rPr>
              <a:t>基於</a:t>
            </a:r>
            <a:r>
              <a:rPr lang="zh-TW" altLang="en-US" sz="800">
                <a:solidFill>
                  <a:srgbClr val="29BA74"/>
                </a:solidFill>
              </a:rPr>
              <a:t>細劃分群、根據情境信息達成個性化行銷</a:t>
            </a:r>
          </a:p>
        </p:txBody>
      </p:sp>
      <p:sp>
        <p:nvSpPr>
          <p:cNvPr id="164" name="Rectangle: Rounded Corners 163">
            <a:extLst>
              <a:ext uri="{FF2B5EF4-FFF2-40B4-BE49-F238E27FC236}">
                <a16:creationId xmlns:a16="http://schemas.microsoft.com/office/drawing/2014/main" id="{886BF48C-21CE-4576-BE84-6617DC9490F8}"/>
              </a:ext>
            </a:extLst>
          </p:cNvPr>
          <p:cNvSpPr/>
          <p:nvPr>
            <p:custDataLst>
              <p:tags r:id="rId45"/>
            </p:custDataLst>
          </p:nvPr>
        </p:nvSpPr>
        <p:spPr>
          <a:xfrm>
            <a:off x="4029485" y="3533631"/>
            <a:ext cx="1427804" cy="409613"/>
          </a:xfrm>
          <a:prstGeom prst="roundRect">
            <a:avLst>
              <a:gd name="adj" fmla="val 15626"/>
            </a:avLst>
          </a:prstGeom>
          <a:solidFill>
            <a:srgbClr val="F2F2F2"/>
          </a:solidFill>
          <a:ln w="317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800">
                <a:solidFill>
                  <a:srgbClr val="575757"/>
                </a:solidFill>
              </a:rPr>
              <a:t>用於</a:t>
            </a:r>
            <a:r>
              <a:rPr lang="zh-TW" altLang="en-US" sz="800">
                <a:solidFill>
                  <a:srgbClr val="29BA74"/>
                </a:solidFill>
              </a:rPr>
              <a:t>協調所有銀行與客戶接觸</a:t>
            </a:r>
            <a:r>
              <a:rPr lang="zh-TW" altLang="en-US" sz="800">
                <a:solidFill>
                  <a:srgbClr val="575757"/>
                </a:solidFill>
              </a:rPr>
              <a:t>的中央協調單位</a:t>
            </a:r>
          </a:p>
        </p:txBody>
      </p:sp>
      <p:sp>
        <p:nvSpPr>
          <p:cNvPr id="82" name="Rectangle: Rounded Corners 81">
            <a:extLst>
              <a:ext uri="{FF2B5EF4-FFF2-40B4-BE49-F238E27FC236}">
                <a16:creationId xmlns:a16="http://schemas.microsoft.com/office/drawing/2014/main" id="{BA7EFB83-47B8-4C14-B9A3-BC5160D57A1B}"/>
              </a:ext>
            </a:extLst>
          </p:cNvPr>
          <p:cNvSpPr/>
          <p:nvPr>
            <p:custDataLst>
              <p:tags r:id="rId46"/>
            </p:custDataLst>
          </p:nvPr>
        </p:nvSpPr>
        <p:spPr>
          <a:xfrm>
            <a:off x="4029485" y="4450629"/>
            <a:ext cx="1427804" cy="588486"/>
          </a:xfrm>
          <a:prstGeom prst="roundRect">
            <a:avLst>
              <a:gd name="adj" fmla="val 15626"/>
            </a:avLst>
          </a:prstGeom>
          <a:solidFill>
            <a:srgbClr val="F2F2F2"/>
          </a:solidFill>
          <a:ln w="317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3152" tIns="45720" rIns="73152" bIns="45720" numCol="1" spcCol="0" rtlCol="0" fromWordArt="0" anchor="ctr" anchorCtr="0" forceAA="0" compatLnSpc="1">
            <a:prstTxWarp prst="textNoShape">
              <a:avLst/>
            </a:prstTxWarp>
            <a:noAutofit/>
          </a:bodyPr>
          <a:lstStyle/>
          <a:p>
            <a:pPr algn="ctr"/>
            <a:r>
              <a:rPr lang="zh-TW" altLang="en-US" sz="800">
                <a:solidFill>
                  <a:srgbClr val="29BA74"/>
                </a:solidFill>
              </a:rPr>
              <a:t>確保各管道溝通一致、無縫承接 </a:t>
            </a:r>
            <a:r>
              <a:rPr lang="en-US" altLang="zh-TW" sz="800">
                <a:solidFill>
                  <a:srgbClr val="575757"/>
                </a:solidFill>
              </a:rPr>
              <a:t>(</a:t>
            </a:r>
            <a:r>
              <a:rPr lang="zh-TW" altLang="en-US" sz="800">
                <a:solidFill>
                  <a:srgbClr val="575757"/>
                </a:solidFill>
              </a:rPr>
              <a:t>包含數位和人工管道</a:t>
            </a:r>
            <a:r>
              <a:rPr lang="en-US" altLang="zh-TW" sz="800">
                <a:solidFill>
                  <a:srgbClr val="575757"/>
                </a:solidFill>
              </a:rPr>
              <a:t>)</a:t>
            </a:r>
            <a:r>
              <a:rPr lang="zh-TW" altLang="en-US" sz="800">
                <a:solidFill>
                  <a:srgbClr val="575757"/>
                </a:solidFill>
              </a:rPr>
              <a:t>；透過實時反饋機制了解各管道溝通進展</a:t>
            </a:r>
          </a:p>
        </p:txBody>
      </p:sp>
      <p:sp>
        <p:nvSpPr>
          <p:cNvPr id="3" name="Textfeld 1">
            <a:extLst>
              <a:ext uri="{FF2B5EF4-FFF2-40B4-BE49-F238E27FC236}">
                <a16:creationId xmlns:a16="http://schemas.microsoft.com/office/drawing/2014/main" id="{679C9A54-E166-2514-B26A-272A735BD877}"/>
              </a:ext>
            </a:extLst>
          </p:cNvPr>
          <p:cNvSpPr txBox="1"/>
          <p:nvPr>
            <p:custDataLst>
              <p:tags r:id="rId47"/>
            </p:custDataLst>
          </p:nvPr>
        </p:nvSpPr>
        <p:spPr>
          <a:xfrm>
            <a:off x="9446571" y="48402"/>
            <a:ext cx="2745429" cy="240066"/>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en-US" altLang="zh-TW" sz="1200" b="1">
                <a:solidFill>
                  <a:srgbClr val="575757"/>
                </a:solidFill>
                <a:sym typeface="Trebuchet MS" panose="020B0603020202020204" pitchFamily="34" charset="0"/>
              </a:rPr>
              <a:t>TBD:</a:t>
            </a:r>
            <a:r>
              <a:rPr lang="zh-TW" altLang="en-US" sz="1200" b="1">
                <a:solidFill>
                  <a:srgbClr val="575757"/>
                </a:solidFill>
                <a:sym typeface="Trebuchet MS" panose="020B0603020202020204" pitchFamily="34" charset="0"/>
              </a:rPr>
              <a:t> 是否標出目前</a:t>
            </a:r>
            <a:r>
              <a:rPr lang="en-US" altLang="zh-TW" sz="1200" b="1" err="1">
                <a:solidFill>
                  <a:srgbClr val="575757"/>
                </a:solidFill>
                <a:sym typeface="Trebuchet MS" panose="020B0603020202020204" pitchFamily="34" charset="0"/>
              </a:rPr>
              <a:t>KGI</a:t>
            </a:r>
            <a:r>
              <a:rPr lang="zh-TW" altLang="en-US" sz="1200" b="1">
                <a:solidFill>
                  <a:srgbClr val="575757"/>
                </a:solidFill>
                <a:sym typeface="Trebuchet MS" panose="020B0603020202020204" pitchFamily="34" charset="0"/>
              </a:rPr>
              <a:t>缺乏的</a:t>
            </a:r>
            <a:endParaRPr lang="en-US" sz="1200" b="1">
              <a:solidFill>
                <a:srgbClr val="575757"/>
              </a:solidFill>
              <a:sym typeface="Trebuchet MS" panose="020B0603020202020204" pitchFamily="34" charset="0"/>
            </a:endParaRPr>
          </a:p>
        </p:txBody>
      </p:sp>
      <p:sp>
        <p:nvSpPr>
          <p:cNvPr id="7" name="Title 1">
            <a:extLst>
              <a:ext uri="{FF2B5EF4-FFF2-40B4-BE49-F238E27FC236}">
                <a16:creationId xmlns:a16="http://schemas.microsoft.com/office/drawing/2014/main" id="{9CE3EE40-4933-5B4B-626F-9B1EB6BA29CB}"/>
              </a:ext>
            </a:extLst>
          </p:cNvPr>
          <p:cNvSpPr>
            <a:spLocks noGrp="1"/>
          </p:cNvSpPr>
          <p:nvPr>
            <p:ph type="title"/>
          </p:nvPr>
        </p:nvSpPr>
        <p:spPr>
          <a:xfrm>
            <a:off x="630000" y="622800"/>
            <a:ext cx="10933350" cy="332399"/>
          </a:xfrm>
        </p:spPr>
        <p:txBody>
          <a:bodyPr vert="horz"/>
          <a:lstStyle/>
          <a:p>
            <a:r>
              <a:rPr lang="zh-TW" altLang="en-US"/>
              <a:t>平台系統應涵蓋資料基礎、分析技術、互動能力及成效衡量與回饋能力</a:t>
            </a:r>
            <a:r>
              <a:rPr lang="en-US"/>
              <a:t> </a:t>
            </a:r>
          </a:p>
        </p:txBody>
      </p:sp>
      <p:sp>
        <p:nvSpPr>
          <p:cNvPr id="9" name="ee4pHeader1">
            <a:extLst>
              <a:ext uri="{FF2B5EF4-FFF2-40B4-BE49-F238E27FC236}">
                <a16:creationId xmlns:a16="http://schemas.microsoft.com/office/drawing/2014/main" id="{404EE3C7-F23C-900A-CCF5-15E55CAE20A4}"/>
              </a:ext>
            </a:extLst>
          </p:cNvPr>
          <p:cNvSpPr txBox="1"/>
          <p:nvPr/>
        </p:nvSpPr>
        <p:spPr>
          <a:xfrm>
            <a:off x="466919" y="69115"/>
            <a:ext cx="1348981" cy="469263"/>
          </a:xfrm>
          <a:prstGeom prst="rect">
            <a:avLst/>
          </a:prstGeom>
          <a:noFill/>
          <a:ln cap="rnd">
            <a:noFill/>
          </a:ln>
        </p:spPr>
        <p:txBody>
          <a:bodyPr vert="horz" wrap="square" lIns="0" tIns="0" rIns="0" bIns="0" rtlCol="0" anchor="ctr" anchorCtr="0">
            <a:noAutofit/>
          </a:bodyPr>
          <a:lstStyle/>
          <a:p>
            <a:pPr>
              <a:buSzPct val="100000"/>
              <a:buFont typeface="Trebuchet MS" panose="020B0603020202020204" pitchFamily="34" charset="0"/>
              <a:buChar char="​"/>
            </a:pPr>
            <a:r>
              <a:rPr lang="zh-TW" altLang="en-US" sz="1400" b="1">
                <a:solidFill>
                  <a:srgbClr val="29BA74"/>
                </a:solidFill>
                <a:ea typeface="Microsoft YaHei" panose="020B0503020204020204" pitchFamily="34" charset="-122"/>
                <a:sym typeface="+mn-lt"/>
              </a:rPr>
              <a:t>平台系統</a:t>
            </a:r>
            <a:endParaRPr lang="en-US" sz="1400" b="1">
              <a:solidFill>
                <a:srgbClr val="29BA74"/>
              </a:solidFill>
              <a:ea typeface="Microsoft YaHei" panose="020B0503020204020204" pitchFamily="34" charset="-122"/>
              <a:sym typeface="+mn-lt"/>
            </a:endParaRPr>
          </a:p>
        </p:txBody>
      </p:sp>
      <p:sp>
        <p:nvSpPr>
          <p:cNvPr id="10" name="Oval 20">
            <a:extLst>
              <a:ext uri="{FF2B5EF4-FFF2-40B4-BE49-F238E27FC236}">
                <a16:creationId xmlns:a16="http://schemas.microsoft.com/office/drawing/2014/main" id="{86F4AF49-593A-C583-9200-9FDD8C15643E}"/>
              </a:ext>
            </a:extLst>
          </p:cNvPr>
          <p:cNvSpPr>
            <a:spLocks noChangeAspect="1" noChangeArrowheads="1"/>
          </p:cNvSpPr>
          <p:nvPr/>
        </p:nvSpPr>
        <p:spPr bwMode="auto">
          <a:xfrm>
            <a:off x="141430" y="195189"/>
            <a:ext cx="238259" cy="238259"/>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altLang="zh-TW" sz="1200">
                <a:solidFill>
                  <a:schemeClr val="bg1"/>
                </a:solidFill>
              </a:rPr>
              <a:t>E</a:t>
            </a:r>
            <a:endParaRPr lang="en-US" sz="1200">
              <a:solidFill>
                <a:schemeClr val="bg1"/>
              </a:solidFill>
            </a:endParaRPr>
          </a:p>
        </p:txBody>
      </p:sp>
    </p:spTree>
    <p:extLst>
      <p:ext uri="{BB962C8B-B14F-4D97-AF65-F5344CB8AC3E}">
        <p14:creationId xmlns:p14="http://schemas.microsoft.com/office/powerpoint/2010/main" val="165554401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83" name="think-cell data - do not delete" hidden="1">
            <a:extLst>
              <a:ext uri="{FF2B5EF4-FFF2-40B4-BE49-F238E27FC236}">
                <a16:creationId xmlns:a16="http://schemas.microsoft.com/office/drawing/2014/main" id="{1A733275-6D13-3EB5-0C0A-0D7E2917B358}"/>
              </a:ext>
            </a:extLst>
          </p:cNvPr>
          <p:cNvGraphicFramePr>
            <a:graphicFrameLocks noChangeAspect="1"/>
          </p:cNvGraphicFramePr>
          <p:nvPr>
            <p:custDataLst>
              <p:tags r:id="rId1"/>
            </p:custDataLst>
            <p:extLst>
              <p:ext uri="{D42A27DB-BD31-4B8C-83A1-F6EECF244321}">
                <p14:modId xmlns:p14="http://schemas.microsoft.com/office/powerpoint/2010/main" val="361909438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1" imgW="404" imgH="405" progId="TCLayout.ActiveDocument.1">
                  <p:embed/>
                </p:oleObj>
              </mc:Choice>
              <mc:Fallback>
                <p:oleObj name="think-cell Slide" r:id="rId11" imgW="404" imgH="405" progId="TCLayout.ActiveDocument.1">
                  <p:embed/>
                  <p:pic>
                    <p:nvPicPr>
                      <p:cNvPr id="83" name="think-cell data - do not delete" hidden="1">
                        <a:extLst>
                          <a:ext uri="{FF2B5EF4-FFF2-40B4-BE49-F238E27FC236}">
                            <a16:creationId xmlns:a16="http://schemas.microsoft.com/office/drawing/2014/main" id="{1A733275-6D13-3EB5-0C0A-0D7E2917B358}"/>
                          </a:ext>
                        </a:extLst>
                      </p:cNvPr>
                      <p:cNvPicPr/>
                      <p:nvPr/>
                    </p:nvPicPr>
                    <p:blipFill>
                      <a:blip r:embed="rId12"/>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1D7648A1-0F17-69D7-236F-523E263023F5}"/>
              </a:ext>
            </a:extLst>
          </p:cNvPr>
          <p:cNvSpPr>
            <a:spLocks noGrp="1"/>
          </p:cNvSpPr>
          <p:nvPr>
            <p:ph type="title"/>
          </p:nvPr>
        </p:nvSpPr>
        <p:spPr/>
        <p:txBody>
          <a:bodyPr vert="horz"/>
          <a:lstStyle/>
          <a:p>
            <a:endParaRPr lang="en-US"/>
          </a:p>
        </p:txBody>
      </p:sp>
      <p:sp>
        <p:nvSpPr>
          <p:cNvPr id="3" name="Textfeld 1">
            <a:extLst>
              <a:ext uri="{FF2B5EF4-FFF2-40B4-BE49-F238E27FC236}">
                <a16:creationId xmlns:a16="http://schemas.microsoft.com/office/drawing/2014/main" id="{46068446-FE2E-FC2B-CAED-93A677D69BCC}"/>
              </a:ext>
            </a:extLst>
          </p:cNvPr>
          <p:cNvSpPr txBox="1"/>
          <p:nvPr>
            <p:custDataLst>
              <p:tags r:id="rId2"/>
            </p:custDataLst>
          </p:nvPr>
        </p:nvSpPr>
        <p:spPr>
          <a:xfrm>
            <a:off x="336058" y="-3475"/>
            <a:ext cx="2743200" cy="1212640"/>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en-US" sz="1200" b="1">
                <a:solidFill>
                  <a:srgbClr val="575757"/>
                </a:solidFill>
                <a:sym typeface="Trebuchet MS" panose="020B0603020202020204" pitchFamily="34" charset="0"/>
              </a:rPr>
              <a:t>CA 24.Jun.24:
2 kinds of org.</a:t>
            </a:r>
          </a:p>
          <a:p>
            <a:pPr>
              <a:lnSpc>
                <a:spcPct val="90000"/>
              </a:lnSpc>
              <a:spcAft>
                <a:spcPts val="600"/>
              </a:spcAft>
            </a:pPr>
            <a:r>
              <a:rPr lang="en-US" sz="1200" b="1">
                <a:solidFill>
                  <a:srgbClr val="575757"/>
                </a:solidFill>
                <a:sym typeface="Trebuchet MS" panose="020B0603020202020204" pitchFamily="34" charset="0"/>
              </a:rPr>
              <a:t>Key responsibilities </a:t>
            </a:r>
          </a:p>
          <a:p>
            <a:pPr>
              <a:lnSpc>
                <a:spcPct val="90000"/>
              </a:lnSpc>
              <a:spcAft>
                <a:spcPts val="600"/>
              </a:spcAft>
            </a:pPr>
            <a:r>
              <a:rPr lang="en-US" sz="1200" b="1" err="1">
                <a:solidFill>
                  <a:srgbClr val="575757"/>
                </a:solidFill>
                <a:sym typeface="Trebuchet MS" panose="020B0603020202020204" pitchFamily="34" charset="0"/>
              </a:rPr>
              <a:t>KPI</a:t>
            </a:r>
            <a:endParaRPr lang="en-US" sz="1200" b="1">
              <a:solidFill>
                <a:srgbClr val="575757"/>
              </a:solidFill>
              <a:sym typeface="Trebuchet MS" panose="020B0603020202020204" pitchFamily="34" charset="0"/>
            </a:endParaRPr>
          </a:p>
          <a:p>
            <a:pPr>
              <a:lnSpc>
                <a:spcPct val="90000"/>
              </a:lnSpc>
              <a:spcAft>
                <a:spcPts val="600"/>
              </a:spcAft>
            </a:pPr>
            <a:r>
              <a:rPr lang="en-US" altLang="zh-TW" sz="1200" b="1">
                <a:solidFill>
                  <a:srgbClr val="575757"/>
                </a:solidFill>
                <a:sym typeface="Trebuchet MS" panose="020B0603020202020204" pitchFamily="34" charset="0"/>
              </a:rPr>
              <a:t>Pros and cons </a:t>
            </a:r>
          </a:p>
        </p:txBody>
      </p:sp>
      <p:sp>
        <p:nvSpPr>
          <p:cNvPr id="4" name="Textfeld 1">
            <a:extLst>
              <a:ext uri="{FF2B5EF4-FFF2-40B4-BE49-F238E27FC236}">
                <a16:creationId xmlns:a16="http://schemas.microsoft.com/office/drawing/2014/main" id="{3C5A286A-619E-1E17-9AB7-FA588280E3A3}"/>
              </a:ext>
            </a:extLst>
          </p:cNvPr>
          <p:cNvSpPr txBox="1"/>
          <p:nvPr>
            <p:custDataLst>
              <p:tags r:id="rId3"/>
            </p:custDataLst>
          </p:nvPr>
        </p:nvSpPr>
        <p:spPr>
          <a:xfrm>
            <a:off x="12003050" y="243716"/>
            <a:ext cx="3506256" cy="3653308"/>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en-US" sz="1200" b="1">
                <a:solidFill>
                  <a:srgbClr val="575757"/>
                </a:solidFill>
                <a:sym typeface="Trebuchet MS" panose="020B0603020202020204" pitchFamily="34" charset="0"/>
              </a:rPr>
              <a:t>CA 24.Jun.24:
</a:t>
            </a:r>
            <a:r>
              <a:rPr lang="en-US" sz="1200" b="1" u="sng">
                <a:solidFill>
                  <a:srgbClr val="575757"/>
                </a:solidFill>
                <a:sym typeface="Trebuchet MS" panose="020B0603020202020204" pitchFamily="34" charset="0"/>
              </a:rPr>
              <a:t>segment function</a:t>
            </a:r>
          </a:p>
          <a:p>
            <a:pPr>
              <a:lnSpc>
                <a:spcPct val="90000"/>
              </a:lnSpc>
              <a:spcAft>
                <a:spcPts val="600"/>
              </a:spcAft>
            </a:pPr>
            <a:r>
              <a:rPr lang="en-US" sz="1200" b="1">
                <a:solidFill>
                  <a:srgbClr val="575757"/>
                </a:solidFill>
                <a:sym typeface="Trebuchet MS" panose="020B0603020202020204" pitchFamily="34" charset="0"/>
              </a:rPr>
              <a:t>Pro: dedicated </a:t>
            </a:r>
          </a:p>
          <a:p>
            <a:pPr>
              <a:lnSpc>
                <a:spcPct val="90000"/>
              </a:lnSpc>
              <a:spcAft>
                <a:spcPts val="600"/>
              </a:spcAft>
            </a:pPr>
            <a:r>
              <a:rPr lang="en-US" sz="1200" b="1">
                <a:solidFill>
                  <a:srgbClr val="575757"/>
                </a:solidFill>
                <a:sym typeface="Trebuchet MS" panose="020B0603020202020204" pitchFamily="34" charset="0"/>
              </a:rPr>
              <a:t>Cons: expensive</a:t>
            </a:r>
          </a:p>
          <a:p>
            <a:pPr>
              <a:lnSpc>
                <a:spcPct val="90000"/>
              </a:lnSpc>
              <a:spcAft>
                <a:spcPts val="600"/>
              </a:spcAft>
            </a:pPr>
            <a:endParaRPr lang="en-US" sz="1200" b="1">
              <a:solidFill>
                <a:srgbClr val="575757"/>
              </a:solidFill>
              <a:sym typeface="Trebuchet MS" panose="020B0603020202020204" pitchFamily="34" charset="0"/>
            </a:endParaRPr>
          </a:p>
          <a:p>
            <a:pPr>
              <a:lnSpc>
                <a:spcPct val="90000"/>
              </a:lnSpc>
              <a:spcAft>
                <a:spcPts val="600"/>
              </a:spcAft>
            </a:pPr>
            <a:r>
              <a:rPr lang="en-US" altLang="zh-TW" sz="1200" b="1">
                <a:solidFill>
                  <a:srgbClr val="575757"/>
                </a:solidFill>
                <a:sym typeface="Trebuchet MS" panose="020B0603020202020204" pitchFamily="34" charset="0"/>
              </a:rPr>
              <a:t>Digital: click rate (functionality) </a:t>
            </a:r>
            <a:endParaRPr lang="en-US" sz="1200" b="1">
              <a:solidFill>
                <a:srgbClr val="575757"/>
              </a:solidFill>
              <a:sym typeface="Trebuchet MS" panose="020B0603020202020204" pitchFamily="34" charset="0"/>
            </a:endParaRPr>
          </a:p>
          <a:p>
            <a:pPr>
              <a:lnSpc>
                <a:spcPct val="90000"/>
              </a:lnSpc>
              <a:spcAft>
                <a:spcPts val="600"/>
              </a:spcAft>
            </a:pPr>
            <a:endParaRPr lang="en-US" sz="1200" b="1">
              <a:solidFill>
                <a:srgbClr val="575757"/>
              </a:solidFill>
              <a:sym typeface="Trebuchet MS" panose="020B0603020202020204" pitchFamily="34" charset="0"/>
            </a:endParaRPr>
          </a:p>
          <a:p>
            <a:pPr>
              <a:lnSpc>
                <a:spcPct val="90000"/>
              </a:lnSpc>
              <a:spcAft>
                <a:spcPts val="600"/>
              </a:spcAft>
            </a:pPr>
            <a:r>
              <a:rPr lang="en-US" sz="1200" b="1" u="sng">
                <a:solidFill>
                  <a:srgbClr val="575757"/>
                </a:solidFill>
                <a:sym typeface="Trebuchet MS" panose="020B0603020202020204" pitchFamily="34" charset="0"/>
              </a:rPr>
              <a:t>No segment function</a:t>
            </a:r>
          </a:p>
          <a:p>
            <a:pPr>
              <a:lnSpc>
                <a:spcPct val="90000"/>
              </a:lnSpc>
              <a:spcAft>
                <a:spcPts val="600"/>
              </a:spcAft>
            </a:pPr>
            <a:r>
              <a:rPr lang="en-US" sz="1200" b="1">
                <a:solidFill>
                  <a:srgbClr val="575757"/>
                </a:solidFill>
                <a:sym typeface="Trebuchet MS" panose="020B0603020202020204" pitchFamily="34" charset="0"/>
              </a:rPr>
              <a:t>Digital-owned</a:t>
            </a:r>
          </a:p>
          <a:p>
            <a:pPr marL="324000" lvl="1" indent="-216000">
              <a:buClr>
                <a:schemeClr val="tx2"/>
              </a:buClr>
              <a:buFont typeface="Trebuchet MS" panose="020B0603020202020204" pitchFamily="34" charset="0"/>
              <a:buChar char="•"/>
            </a:pPr>
            <a:r>
              <a:rPr lang="en-US" sz="1200" b="1">
                <a:sym typeface="Trebuchet MS" panose="020B0603020202020204" pitchFamily="34" charset="0"/>
              </a:rPr>
              <a:t>Product team (product feature)</a:t>
            </a:r>
          </a:p>
          <a:p>
            <a:pPr marL="324000" lvl="1" indent="-216000">
              <a:buClr>
                <a:schemeClr val="tx2"/>
              </a:buClr>
              <a:buFont typeface="Trebuchet MS" panose="020B0603020202020204" pitchFamily="34" charset="0"/>
              <a:buChar char="•"/>
            </a:pPr>
            <a:r>
              <a:rPr lang="en-US" sz="1200" b="1">
                <a:sym typeface="Trebuchet MS" panose="020B0603020202020204" pitchFamily="34" charset="0"/>
              </a:rPr>
              <a:t>Digital team (user experience/customer journey/ tracking ) – conversion rate </a:t>
            </a:r>
          </a:p>
          <a:p>
            <a:pPr marL="108000" lvl="1">
              <a:buClr>
                <a:schemeClr val="tx2"/>
              </a:buClr>
            </a:pPr>
            <a:endParaRPr lang="en-US" sz="1200" b="1">
              <a:sym typeface="Trebuchet MS" panose="020B0603020202020204" pitchFamily="34" charset="0"/>
            </a:endParaRPr>
          </a:p>
          <a:p>
            <a:pPr>
              <a:lnSpc>
                <a:spcPct val="90000"/>
              </a:lnSpc>
              <a:spcAft>
                <a:spcPts val="600"/>
              </a:spcAft>
            </a:pPr>
            <a:r>
              <a:rPr lang="en-US" sz="1200" b="1">
                <a:solidFill>
                  <a:srgbClr val="575757"/>
                </a:solidFill>
                <a:sym typeface="Trebuchet MS" panose="020B0603020202020204" pitchFamily="34" charset="0"/>
              </a:rPr>
              <a:t>Digital team: oversea customer </a:t>
            </a:r>
          </a:p>
          <a:p>
            <a:pPr>
              <a:lnSpc>
                <a:spcPct val="90000"/>
              </a:lnSpc>
              <a:spcAft>
                <a:spcPts val="600"/>
              </a:spcAft>
            </a:pPr>
            <a:r>
              <a:rPr lang="en-US" sz="1200" b="1">
                <a:solidFill>
                  <a:srgbClr val="575757"/>
                </a:solidFill>
                <a:sym typeface="Trebuchet MS" panose="020B0603020202020204" pitchFamily="34" charset="0"/>
              </a:rPr>
              <a:t>Pro: no additional</a:t>
            </a:r>
          </a:p>
          <a:p>
            <a:pPr>
              <a:lnSpc>
                <a:spcPct val="90000"/>
              </a:lnSpc>
              <a:spcAft>
                <a:spcPts val="600"/>
              </a:spcAft>
            </a:pPr>
            <a:r>
              <a:rPr lang="en-US" sz="1200" b="1">
                <a:solidFill>
                  <a:srgbClr val="575757"/>
                </a:solidFill>
                <a:sym typeface="Trebuchet MS" panose="020B0603020202020204" pitchFamily="34" charset="0"/>
              </a:rPr>
              <a:t>Cons: </a:t>
            </a:r>
          </a:p>
        </p:txBody>
      </p:sp>
      <p:sp>
        <p:nvSpPr>
          <p:cNvPr id="5" name="Rectangle 4">
            <a:extLst>
              <a:ext uri="{FF2B5EF4-FFF2-40B4-BE49-F238E27FC236}">
                <a16:creationId xmlns:a16="http://schemas.microsoft.com/office/drawing/2014/main" id="{B27C5EB7-E2BD-B87F-4696-E1646A631FF8}"/>
              </a:ext>
            </a:extLst>
          </p:cNvPr>
          <p:cNvSpPr/>
          <p:nvPr/>
        </p:nvSpPr>
        <p:spPr>
          <a:xfrm>
            <a:off x="678136" y="2165159"/>
            <a:ext cx="420414" cy="307777"/>
          </a:xfrm>
          <a:prstGeom prst="rect">
            <a:avLst/>
          </a:prstGeom>
        </p:spPr>
        <p:txBody>
          <a:bodyPr wrap="square" lIns="0" rIns="0">
            <a:spAutoFit/>
          </a:bodyPr>
          <a:lstStyle/>
          <a:p>
            <a:pPr>
              <a:buSzPct val="100000"/>
              <a:buFont typeface="Trebuchet MS" panose="020B0603020202020204" pitchFamily="34" charset="0"/>
              <a:buChar char="​"/>
            </a:pPr>
            <a:r>
              <a:rPr lang="zh-TW" altLang="en-US" sz="1400" b="1">
                <a:solidFill>
                  <a:srgbClr val="03522D"/>
                </a:solidFill>
                <a:ea typeface="Microsoft YaHei" panose="020B0503020204020204" pitchFamily="34" charset="-122"/>
                <a:sym typeface="+mn-lt"/>
              </a:rPr>
              <a:t>模式</a:t>
            </a:r>
            <a:endParaRPr lang="en-US" sz="1400" b="1">
              <a:solidFill>
                <a:srgbClr val="03522D"/>
              </a:solidFill>
              <a:ea typeface="Microsoft YaHei" panose="020B0503020204020204" pitchFamily="34" charset="-122"/>
              <a:sym typeface="+mn-lt"/>
            </a:endParaRPr>
          </a:p>
        </p:txBody>
      </p:sp>
      <p:cxnSp>
        <p:nvCxnSpPr>
          <p:cNvPr id="6" name="Straight Connector 5">
            <a:extLst>
              <a:ext uri="{FF2B5EF4-FFF2-40B4-BE49-F238E27FC236}">
                <a16:creationId xmlns:a16="http://schemas.microsoft.com/office/drawing/2014/main" id="{FB79A121-5095-1BA1-FD24-3A010B745861}"/>
              </a:ext>
            </a:extLst>
          </p:cNvPr>
          <p:cNvCxnSpPr>
            <a:cxnSpLocks/>
          </p:cNvCxnSpPr>
          <p:nvPr/>
        </p:nvCxnSpPr>
        <p:spPr>
          <a:xfrm>
            <a:off x="1155700" y="1895822"/>
            <a:ext cx="0" cy="846450"/>
          </a:xfrm>
          <a:prstGeom prst="line">
            <a:avLst/>
          </a:prstGeom>
          <a:ln w="9525" cap="rnd">
            <a:solidFill>
              <a:schemeClr val="accent1"/>
            </a:solidFill>
            <a:prstDash val="solid"/>
            <a:round/>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506E9BD7-29E5-FF94-EEC1-F68A7CE62CDE}"/>
              </a:ext>
            </a:extLst>
          </p:cNvPr>
          <p:cNvSpPr/>
          <p:nvPr/>
        </p:nvSpPr>
        <p:spPr>
          <a:xfrm>
            <a:off x="678136" y="3813539"/>
            <a:ext cx="420414" cy="523220"/>
          </a:xfrm>
          <a:prstGeom prst="rect">
            <a:avLst/>
          </a:prstGeom>
        </p:spPr>
        <p:txBody>
          <a:bodyPr wrap="square" lIns="0" rIns="0">
            <a:spAutoFit/>
          </a:bodyPr>
          <a:lstStyle/>
          <a:p>
            <a:pPr>
              <a:buSzPct val="100000"/>
              <a:buFont typeface="Trebuchet MS" panose="020B0603020202020204" pitchFamily="34" charset="0"/>
              <a:buChar char="​"/>
            </a:pPr>
            <a:r>
              <a:rPr lang="zh-TW" altLang="en-US" sz="1400" b="1">
                <a:solidFill>
                  <a:srgbClr val="03522D"/>
                </a:solidFill>
                <a:ea typeface="Microsoft YaHei" panose="020B0503020204020204" pitchFamily="34" charset="-122"/>
                <a:sym typeface="+mn-lt"/>
              </a:rPr>
              <a:t>關鍵職責</a:t>
            </a:r>
            <a:endParaRPr lang="en-US" sz="1400" b="1">
              <a:solidFill>
                <a:srgbClr val="03522D"/>
              </a:solidFill>
              <a:ea typeface="Microsoft YaHei" panose="020B0503020204020204" pitchFamily="34" charset="-122"/>
              <a:sym typeface="+mn-lt"/>
            </a:endParaRPr>
          </a:p>
        </p:txBody>
      </p:sp>
      <p:cxnSp>
        <p:nvCxnSpPr>
          <p:cNvPr id="10" name="Straight Connector 9">
            <a:extLst>
              <a:ext uri="{FF2B5EF4-FFF2-40B4-BE49-F238E27FC236}">
                <a16:creationId xmlns:a16="http://schemas.microsoft.com/office/drawing/2014/main" id="{521417BD-1498-9C98-B382-6F214DE122E8}"/>
              </a:ext>
            </a:extLst>
          </p:cNvPr>
          <p:cNvCxnSpPr>
            <a:cxnSpLocks/>
          </p:cNvCxnSpPr>
          <p:nvPr/>
        </p:nvCxnSpPr>
        <p:spPr>
          <a:xfrm>
            <a:off x="1155700" y="2805772"/>
            <a:ext cx="0" cy="2649879"/>
          </a:xfrm>
          <a:prstGeom prst="line">
            <a:avLst/>
          </a:prstGeom>
          <a:ln w="9525" cap="rnd">
            <a:solidFill>
              <a:schemeClr val="accent1"/>
            </a:solidFill>
            <a:prstDash val="solid"/>
            <a:round/>
          </a:ln>
        </p:spPr>
        <p:style>
          <a:lnRef idx="1">
            <a:schemeClr val="accent1"/>
          </a:lnRef>
          <a:fillRef idx="0">
            <a:schemeClr val="accent1"/>
          </a:fillRef>
          <a:effectRef idx="0">
            <a:schemeClr val="accent1"/>
          </a:effectRef>
          <a:fontRef idx="minor">
            <a:schemeClr val="tx1"/>
          </a:fontRef>
        </p:style>
      </p:cxnSp>
      <p:grpSp>
        <p:nvGrpSpPr>
          <p:cNvPr id="79" name="Group 78">
            <a:extLst>
              <a:ext uri="{FF2B5EF4-FFF2-40B4-BE49-F238E27FC236}">
                <a16:creationId xmlns:a16="http://schemas.microsoft.com/office/drawing/2014/main" id="{B7CD770D-54DB-AE34-5133-DCFCB5B2FCA0}"/>
              </a:ext>
            </a:extLst>
          </p:cNvPr>
          <p:cNvGrpSpPr/>
          <p:nvPr/>
        </p:nvGrpSpPr>
        <p:grpSpPr>
          <a:xfrm>
            <a:off x="678136" y="5499445"/>
            <a:ext cx="477564" cy="355834"/>
            <a:chOff x="678136" y="4819680"/>
            <a:chExt cx="477564" cy="608965"/>
          </a:xfrm>
        </p:grpSpPr>
        <p:sp>
          <p:nvSpPr>
            <p:cNvPr id="13" name="Rectangle 12">
              <a:extLst>
                <a:ext uri="{FF2B5EF4-FFF2-40B4-BE49-F238E27FC236}">
                  <a16:creationId xmlns:a16="http://schemas.microsoft.com/office/drawing/2014/main" id="{616D92E2-EEE6-41A5-92FF-164FF0FED81C}"/>
                </a:ext>
              </a:extLst>
            </p:cNvPr>
            <p:cNvSpPr/>
            <p:nvPr/>
          </p:nvSpPr>
          <p:spPr>
            <a:xfrm>
              <a:off x="678136" y="4860803"/>
              <a:ext cx="359073" cy="526722"/>
            </a:xfrm>
            <a:prstGeom prst="rect">
              <a:avLst/>
            </a:prstGeom>
          </p:spPr>
          <p:txBody>
            <a:bodyPr wrap="none" lIns="0" rIns="0">
              <a:spAutoFit/>
            </a:bodyPr>
            <a:lstStyle/>
            <a:p>
              <a:pPr>
                <a:buSzPct val="100000"/>
                <a:buFont typeface="Trebuchet MS" panose="020B0603020202020204" pitchFamily="34" charset="0"/>
                <a:buChar char="​"/>
              </a:pPr>
              <a:r>
                <a:rPr lang="zh-TW" altLang="en-US" sz="1400" b="1">
                  <a:solidFill>
                    <a:srgbClr val="03522D"/>
                  </a:solidFill>
                  <a:ea typeface="Microsoft YaHei" panose="020B0503020204020204" pitchFamily="34" charset="-122"/>
                  <a:sym typeface="+mn-lt"/>
                </a:rPr>
                <a:t>優勢</a:t>
              </a:r>
              <a:endParaRPr lang="en-US" sz="1400" b="1">
                <a:solidFill>
                  <a:srgbClr val="03522D"/>
                </a:solidFill>
                <a:ea typeface="Microsoft YaHei" panose="020B0503020204020204" pitchFamily="34" charset="-122"/>
                <a:sym typeface="+mn-lt"/>
              </a:endParaRPr>
            </a:p>
          </p:txBody>
        </p:sp>
        <p:cxnSp>
          <p:nvCxnSpPr>
            <p:cNvPr id="14" name="Straight Connector 13">
              <a:extLst>
                <a:ext uri="{FF2B5EF4-FFF2-40B4-BE49-F238E27FC236}">
                  <a16:creationId xmlns:a16="http://schemas.microsoft.com/office/drawing/2014/main" id="{AAE14426-BEE9-9674-C6D2-2B47B7C1469E}"/>
                </a:ext>
              </a:extLst>
            </p:cNvPr>
            <p:cNvCxnSpPr>
              <a:cxnSpLocks/>
            </p:cNvCxnSpPr>
            <p:nvPr/>
          </p:nvCxnSpPr>
          <p:spPr>
            <a:xfrm>
              <a:off x="1155700" y="4819680"/>
              <a:ext cx="0" cy="608965"/>
            </a:xfrm>
            <a:prstGeom prst="line">
              <a:avLst/>
            </a:prstGeom>
            <a:ln w="9525" cap="rnd">
              <a:solidFill>
                <a:schemeClr val="accent1"/>
              </a:solidFill>
              <a:prstDash val="solid"/>
              <a:round/>
            </a:ln>
          </p:spPr>
          <p:style>
            <a:lnRef idx="1">
              <a:schemeClr val="accent1"/>
            </a:lnRef>
            <a:fillRef idx="0">
              <a:schemeClr val="accent1"/>
            </a:fillRef>
            <a:effectRef idx="0">
              <a:schemeClr val="accent1"/>
            </a:effectRef>
            <a:fontRef idx="minor">
              <a:schemeClr val="tx1"/>
            </a:fontRef>
          </p:style>
        </p:cxnSp>
      </p:grpSp>
      <p:grpSp>
        <p:nvGrpSpPr>
          <p:cNvPr id="78" name="Group 77">
            <a:extLst>
              <a:ext uri="{FF2B5EF4-FFF2-40B4-BE49-F238E27FC236}">
                <a16:creationId xmlns:a16="http://schemas.microsoft.com/office/drawing/2014/main" id="{99BFA86A-2A1F-C082-B387-824F6D5B9837}"/>
              </a:ext>
            </a:extLst>
          </p:cNvPr>
          <p:cNvGrpSpPr/>
          <p:nvPr/>
        </p:nvGrpSpPr>
        <p:grpSpPr>
          <a:xfrm>
            <a:off x="678136" y="5899073"/>
            <a:ext cx="477564" cy="336127"/>
            <a:chOff x="678136" y="5486779"/>
            <a:chExt cx="477564" cy="674309"/>
          </a:xfrm>
        </p:grpSpPr>
        <p:sp>
          <p:nvSpPr>
            <p:cNvPr id="16" name="Rectangle 15">
              <a:extLst>
                <a:ext uri="{FF2B5EF4-FFF2-40B4-BE49-F238E27FC236}">
                  <a16:creationId xmlns:a16="http://schemas.microsoft.com/office/drawing/2014/main" id="{D1C4CFBA-C17F-101D-05C7-958C09D5143D}"/>
                </a:ext>
              </a:extLst>
            </p:cNvPr>
            <p:cNvSpPr/>
            <p:nvPr/>
          </p:nvSpPr>
          <p:spPr>
            <a:xfrm>
              <a:off x="678136" y="5486779"/>
              <a:ext cx="359073" cy="617436"/>
            </a:xfrm>
            <a:prstGeom prst="rect">
              <a:avLst/>
            </a:prstGeom>
          </p:spPr>
          <p:txBody>
            <a:bodyPr wrap="none" lIns="0" rIns="0">
              <a:spAutoFit/>
            </a:bodyPr>
            <a:lstStyle/>
            <a:p>
              <a:pPr>
                <a:buSzPct val="100000"/>
                <a:buFont typeface="Trebuchet MS" panose="020B0603020202020204" pitchFamily="34" charset="0"/>
                <a:buChar char="​"/>
              </a:pPr>
              <a:r>
                <a:rPr lang="zh-TW" altLang="en-US" sz="1400" b="1">
                  <a:solidFill>
                    <a:srgbClr val="03522D"/>
                  </a:solidFill>
                  <a:ea typeface="Microsoft YaHei" panose="020B0503020204020204" pitchFamily="34" charset="-122"/>
                  <a:sym typeface="+mn-lt"/>
                </a:rPr>
                <a:t>劣勢</a:t>
              </a:r>
              <a:endParaRPr lang="en-US" sz="1400" b="1">
                <a:solidFill>
                  <a:srgbClr val="03522D"/>
                </a:solidFill>
                <a:ea typeface="Microsoft YaHei" panose="020B0503020204020204" pitchFamily="34" charset="-122"/>
                <a:sym typeface="+mn-lt"/>
              </a:endParaRPr>
            </a:p>
          </p:txBody>
        </p:sp>
        <p:cxnSp>
          <p:nvCxnSpPr>
            <p:cNvPr id="17" name="Straight Connector 16">
              <a:extLst>
                <a:ext uri="{FF2B5EF4-FFF2-40B4-BE49-F238E27FC236}">
                  <a16:creationId xmlns:a16="http://schemas.microsoft.com/office/drawing/2014/main" id="{0CEDF5D4-7FC2-581D-DEE2-65C154B59473}"/>
                </a:ext>
              </a:extLst>
            </p:cNvPr>
            <p:cNvCxnSpPr>
              <a:cxnSpLocks/>
            </p:cNvCxnSpPr>
            <p:nvPr/>
          </p:nvCxnSpPr>
          <p:spPr>
            <a:xfrm>
              <a:off x="1155700" y="5486779"/>
              <a:ext cx="0" cy="674309"/>
            </a:xfrm>
            <a:prstGeom prst="line">
              <a:avLst/>
            </a:prstGeom>
            <a:ln w="9525" cap="rnd">
              <a:solidFill>
                <a:schemeClr val="accent1"/>
              </a:solidFill>
              <a:prstDash val="solid"/>
              <a:round/>
            </a:ln>
          </p:spPr>
          <p:style>
            <a:lnRef idx="1">
              <a:schemeClr val="accent1"/>
            </a:lnRef>
            <a:fillRef idx="0">
              <a:schemeClr val="accent1"/>
            </a:fillRef>
            <a:effectRef idx="0">
              <a:schemeClr val="accent1"/>
            </a:effectRef>
            <a:fontRef idx="minor">
              <a:schemeClr val="tx1"/>
            </a:fontRef>
          </p:style>
        </p:cxnSp>
      </p:grpSp>
      <p:sp>
        <p:nvSpPr>
          <p:cNvPr id="18" name="Rectangle: Top Corners Rounded 17">
            <a:extLst>
              <a:ext uri="{FF2B5EF4-FFF2-40B4-BE49-F238E27FC236}">
                <a16:creationId xmlns:a16="http://schemas.microsoft.com/office/drawing/2014/main" id="{16D26FFD-3DC8-A50F-C697-7BF732417FAC}"/>
              </a:ext>
            </a:extLst>
          </p:cNvPr>
          <p:cNvSpPr/>
          <p:nvPr/>
        </p:nvSpPr>
        <p:spPr>
          <a:xfrm>
            <a:off x="1155700" y="1536592"/>
            <a:ext cx="4946155" cy="322659"/>
          </a:xfrm>
          <a:prstGeom prst="round2SameRect">
            <a:avLst/>
          </a:prstGeom>
          <a:solidFill>
            <a:srgbClr val="29BA74"/>
          </a:solidFill>
        </p:spPr>
        <p:txBody>
          <a:bodyPr wrap="square" lIns="0" rIns="0">
            <a:spAutoFit/>
          </a:bodyPr>
          <a:lstStyle/>
          <a:p>
            <a:pPr algn="ctr">
              <a:buSzPct val="100000"/>
            </a:pPr>
            <a:r>
              <a:rPr lang="zh-TW" altLang="en-US" sz="1400" b="1" i="1">
                <a:solidFill>
                  <a:srgbClr val="FFFFFF"/>
                </a:solidFill>
                <a:ea typeface="Microsoft YaHei" panose="020B0503020204020204" pitchFamily="34" charset="-122"/>
                <a:sym typeface="+mn-lt"/>
              </a:rPr>
              <a:t>模式一 有專責客群經營團隊</a:t>
            </a:r>
            <a:endParaRPr lang="en-US" sz="1400" b="1" i="1">
              <a:solidFill>
                <a:srgbClr val="FFFFFF"/>
              </a:solidFill>
              <a:ea typeface="Microsoft YaHei" panose="020B0503020204020204" pitchFamily="34" charset="-122"/>
              <a:sym typeface="+mn-lt"/>
            </a:endParaRPr>
          </a:p>
        </p:txBody>
      </p:sp>
      <p:grpSp>
        <p:nvGrpSpPr>
          <p:cNvPr id="144" name="Group 143">
            <a:extLst>
              <a:ext uri="{FF2B5EF4-FFF2-40B4-BE49-F238E27FC236}">
                <a16:creationId xmlns:a16="http://schemas.microsoft.com/office/drawing/2014/main" id="{0561C8EC-AE6A-1A3A-9232-091E30DE69CA}"/>
              </a:ext>
            </a:extLst>
          </p:cNvPr>
          <p:cNvGrpSpPr/>
          <p:nvPr/>
        </p:nvGrpSpPr>
        <p:grpSpPr>
          <a:xfrm>
            <a:off x="2585411" y="1961254"/>
            <a:ext cx="2018519" cy="729742"/>
            <a:chOff x="2585411" y="1961254"/>
            <a:chExt cx="2018519" cy="729742"/>
          </a:xfrm>
        </p:grpSpPr>
        <p:sp>
          <p:nvSpPr>
            <p:cNvPr id="19" name="Rectangle 18">
              <a:extLst>
                <a:ext uri="{FF2B5EF4-FFF2-40B4-BE49-F238E27FC236}">
                  <a16:creationId xmlns:a16="http://schemas.microsoft.com/office/drawing/2014/main" id="{79E0DD27-4C04-300C-800D-13CFE8D33D05}"/>
                </a:ext>
              </a:extLst>
            </p:cNvPr>
            <p:cNvSpPr/>
            <p:nvPr/>
          </p:nvSpPr>
          <p:spPr>
            <a:xfrm>
              <a:off x="2895601" y="1961254"/>
              <a:ext cx="1403343" cy="222250"/>
            </a:xfrm>
            <a:prstGeom prst="rect">
              <a:avLst/>
            </a:prstGeom>
            <a:noFill/>
            <a:ln w="9525" cap="rnd" cmpd="sng" algn="ctr">
              <a:solidFill>
                <a:srgbClr val="9A9A9A"/>
              </a:solidFill>
              <a:prstDash val="solid"/>
              <a:round/>
              <a:headEnd type="none" w="med" len="med"/>
              <a:tailEnd type="none" w="med" len="med"/>
            </a:ln>
            <a:extLst>
              <a:ext uri="{909E8E84-426E-40DD-AFC4-6F175D3DCCD1}">
                <a14:hiddenFill xmlns:a14="http://schemas.microsoft.com/office/drawing/2010/main">
                  <a:solidFill>
                    <a:srgbClr val="F2F2F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400" b="1">
                  <a:solidFill>
                    <a:srgbClr val="29BA74"/>
                  </a:solidFill>
                </a:rPr>
                <a:t>客群經營</a:t>
              </a:r>
              <a:endParaRPr lang="en-US" sz="1400" b="1">
                <a:solidFill>
                  <a:srgbClr val="29BA74"/>
                </a:solidFill>
              </a:endParaRPr>
            </a:p>
          </p:txBody>
        </p:sp>
        <p:sp>
          <p:nvSpPr>
            <p:cNvPr id="20" name="Rectangle 19">
              <a:extLst>
                <a:ext uri="{FF2B5EF4-FFF2-40B4-BE49-F238E27FC236}">
                  <a16:creationId xmlns:a16="http://schemas.microsoft.com/office/drawing/2014/main" id="{5878A7D9-D660-93CB-B776-03FD52017F3C}"/>
                </a:ext>
              </a:extLst>
            </p:cNvPr>
            <p:cNvSpPr/>
            <p:nvPr/>
          </p:nvSpPr>
          <p:spPr>
            <a:xfrm>
              <a:off x="2585411" y="2468746"/>
              <a:ext cx="610963" cy="222250"/>
            </a:xfrm>
            <a:prstGeom prst="rect">
              <a:avLst/>
            </a:prstGeom>
            <a:noFill/>
            <a:ln w="9525" cap="rnd" cmpd="sng" algn="ctr">
              <a:solidFill>
                <a:srgbClr val="9A9A9A"/>
              </a:solidFill>
              <a:prstDash val="solid"/>
              <a:round/>
              <a:headEnd type="none" w="med" len="med"/>
              <a:tailEnd type="none" w="med" len="med"/>
            </a:ln>
            <a:extLst>
              <a:ext uri="{909E8E84-426E-40DD-AFC4-6F175D3DCCD1}">
                <a14:hiddenFill xmlns:a14="http://schemas.microsoft.com/office/drawing/2010/main">
                  <a:solidFill>
                    <a:srgbClr val="F2F2F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400">
                  <a:solidFill>
                    <a:srgbClr val="575757"/>
                  </a:solidFill>
                </a:rPr>
                <a:t>數位</a:t>
              </a:r>
              <a:endParaRPr lang="en-US" sz="1400">
                <a:solidFill>
                  <a:srgbClr val="575757"/>
                </a:solidFill>
              </a:endParaRPr>
            </a:p>
          </p:txBody>
        </p:sp>
        <p:sp>
          <p:nvSpPr>
            <p:cNvPr id="21" name="Rectangle 20">
              <a:extLst>
                <a:ext uri="{FF2B5EF4-FFF2-40B4-BE49-F238E27FC236}">
                  <a16:creationId xmlns:a16="http://schemas.microsoft.com/office/drawing/2014/main" id="{C9909FE5-D687-27A8-E7AB-E559EF209BBE}"/>
                </a:ext>
              </a:extLst>
            </p:cNvPr>
            <p:cNvSpPr/>
            <p:nvPr/>
          </p:nvSpPr>
          <p:spPr>
            <a:xfrm>
              <a:off x="3271597" y="2468746"/>
              <a:ext cx="658755" cy="222250"/>
            </a:xfrm>
            <a:prstGeom prst="rect">
              <a:avLst/>
            </a:prstGeom>
            <a:noFill/>
            <a:ln w="9525" cap="rnd" cmpd="sng" algn="ctr">
              <a:solidFill>
                <a:srgbClr val="9A9A9A"/>
              </a:solidFill>
              <a:prstDash val="solid"/>
              <a:round/>
              <a:headEnd type="none" w="med" len="med"/>
              <a:tailEnd type="none" w="med" len="med"/>
            </a:ln>
            <a:extLst>
              <a:ext uri="{909E8E84-426E-40DD-AFC4-6F175D3DCCD1}">
                <a14:hiddenFill xmlns:a14="http://schemas.microsoft.com/office/drawing/2010/main">
                  <a:solidFill>
                    <a:srgbClr val="F2F2F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400">
                  <a:solidFill>
                    <a:srgbClr val="575757"/>
                  </a:solidFill>
                </a:rPr>
                <a:t>產品</a:t>
              </a:r>
              <a:endParaRPr lang="en-US" sz="1400">
                <a:solidFill>
                  <a:srgbClr val="575757"/>
                </a:solidFill>
              </a:endParaRPr>
            </a:p>
          </p:txBody>
        </p:sp>
        <p:sp>
          <p:nvSpPr>
            <p:cNvPr id="22" name="Rectangle 21">
              <a:extLst>
                <a:ext uri="{FF2B5EF4-FFF2-40B4-BE49-F238E27FC236}">
                  <a16:creationId xmlns:a16="http://schemas.microsoft.com/office/drawing/2014/main" id="{1D9A27AE-E87F-AFE6-F3E2-A806FF526557}"/>
                </a:ext>
              </a:extLst>
            </p:cNvPr>
            <p:cNvSpPr/>
            <p:nvPr/>
          </p:nvSpPr>
          <p:spPr>
            <a:xfrm>
              <a:off x="4003347" y="2468746"/>
              <a:ext cx="600583" cy="222250"/>
            </a:xfrm>
            <a:prstGeom prst="rect">
              <a:avLst/>
            </a:prstGeom>
            <a:noFill/>
            <a:ln w="9525" cap="rnd" cmpd="sng" algn="ctr">
              <a:solidFill>
                <a:srgbClr val="9A9A9A"/>
              </a:solidFill>
              <a:prstDash val="solid"/>
              <a:round/>
              <a:headEnd type="none" w="med" len="med"/>
              <a:tailEnd type="none" w="med" len="med"/>
            </a:ln>
            <a:extLst>
              <a:ext uri="{909E8E84-426E-40DD-AFC4-6F175D3DCCD1}">
                <a14:hiddenFill xmlns:a14="http://schemas.microsoft.com/office/drawing/2010/main">
                  <a:solidFill>
                    <a:srgbClr val="F2F2F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400">
                  <a:solidFill>
                    <a:srgbClr val="575757"/>
                  </a:solidFill>
                </a:rPr>
                <a:t>數據</a:t>
              </a:r>
              <a:endParaRPr lang="en-US" sz="1400">
                <a:solidFill>
                  <a:srgbClr val="575757"/>
                </a:solidFill>
              </a:endParaRPr>
            </a:p>
          </p:txBody>
        </p:sp>
        <p:cxnSp>
          <p:nvCxnSpPr>
            <p:cNvPr id="32" name="Connector: Elbow 31">
              <a:extLst>
                <a:ext uri="{FF2B5EF4-FFF2-40B4-BE49-F238E27FC236}">
                  <a16:creationId xmlns:a16="http://schemas.microsoft.com/office/drawing/2014/main" id="{6074F5CF-F5E6-489B-3F55-911DD933AC3C}"/>
                </a:ext>
              </a:extLst>
            </p:cNvPr>
            <p:cNvCxnSpPr>
              <a:stCxn id="19" idx="2"/>
              <a:endCxn id="20" idx="0"/>
            </p:cNvCxnSpPr>
            <p:nvPr/>
          </p:nvCxnSpPr>
          <p:spPr>
            <a:xfrm rot="5400000">
              <a:off x="3101462" y="1972935"/>
              <a:ext cx="285242" cy="706380"/>
            </a:xfrm>
            <a:prstGeom prst="bentConnector3">
              <a:avLst/>
            </a:prstGeom>
            <a:ln w="9525" cap="rnd">
              <a:solidFill>
                <a:schemeClr val="tx1">
                  <a:lumMod val="60000"/>
                  <a:lumOff val="40000"/>
                </a:schemeClr>
              </a:solidFill>
              <a:prstDash val="solid"/>
              <a:round/>
            </a:ln>
          </p:spPr>
          <p:style>
            <a:lnRef idx="1">
              <a:schemeClr val="accent1"/>
            </a:lnRef>
            <a:fillRef idx="0">
              <a:schemeClr val="accent1"/>
            </a:fillRef>
            <a:effectRef idx="0">
              <a:schemeClr val="accent1"/>
            </a:effectRef>
            <a:fontRef idx="minor">
              <a:schemeClr val="tx1"/>
            </a:fontRef>
          </p:style>
        </p:cxnSp>
        <p:cxnSp>
          <p:nvCxnSpPr>
            <p:cNvPr id="33" name="Connector: Elbow 32">
              <a:extLst>
                <a:ext uri="{FF2B5EF4-FFF2-40B4-BE49-F238E27FC236}">
                  <a16:creationId xmlns:a16="http://schemas.microsoft.com/office/drawing/2014/main" id="{5D0B29D4-2B8A-C819-C6D8-64C740894984}"/>
                </a:ext>
              </a:extLst>
            </p:cNvPr>
            <p:cNvCxnSpPr>
              <a:cxnSpLocks/>
              <a:stCxn id="19" idx="2"/>
              <a:endCxn id="22" idx="0"/>
            </p:cNvCxnSpPr>
            <p:nvPr/>
          </p:nvCxnSpPr>
          <p:spPr>
            <a:xfrm rot="16200000" flipH="1">
              <a:off x="3807835" y="1972942"/>
              <a:ext cx="285242" cy="706366"/>
            </a:xfrm>
            <a:prstGeom prst="bentConnector3">
              <a:avLst>
                <a:gd name="adj1" fmla="val 50000"/>
              </a:avLst>
            </a:prstGeom>
            <a:ln w="9525" cap="rnd">
              <a:solidFill>
                <a:schemeClr val="tx1">
                  <a:lumMod val="60000"/>
                  <a:lumOff val="40000"/>
                </a:schemeClr>
              </a:solidFill>
              <a:prstDash val="solid"/>
              <a:roun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30142D52-FE77-D8B2-EE14-610253F42AA6}"/>
                </a:ext>
              </a:extLst>
            </p:cNvPr>
            <p:cNvCxnSpPr>
              <a:stCxn id="19" idx="2"/>
              <a:endCxn id="21" idx="0"/>
            </p:cNvCxnSpPr>
            <p:nvPr/>
          </p:nvCxnSpPr>
          <p:spPr>
            <a:xfrm>
              <a:off x="3597273" y="2183504"/>
              <a:ext cx="3702" cy="285242"/>
            </a:xfrm>
            <a:prstGeom prst="line">
              <a:avLst/>
            </a:prstGeom>
            <a:ln w="9525" cap="rnd">
              <a:solidFill>
                <a:schemeClr val="tx1">
                  <a:lumMod val="60000"/>
                  <a:lumOff val="40000"/>
                </a:schemeClr>
              </a:solidFill>
              <a:prstDash val="solid"/>
              <a:round/>
            </a:ln>
          </p:spPr>
          <p:style>
            <a:lnRef idx="1">
              <a:schemeClr val="accent1"/>
            </a:lnRef>
            <a:fillRef idx="0">
              <a:schemeClr val="accent1"/>
            </a:fillRef>
            <a:effectRef idx="0">
              <a:schemeClr val="accent1"/>
            </a:effectRef>
            <a:fontRef idx="minor">
              <a:schemeClr val="tx1"/>
            </a:fontRef>
          </p:style>
        </p:cxnSp>
      </p:grpSp>
      <p:grpSp>
        <p:nvGrpSpPr>
          <p:cNvPr id="145" name="Group 144">
            <a:extLst>
              <a:ext uri="{FF2B5EF4-FFF2-40B4-BE49-F238E27FC236}">
                <a16:creationId xmlns:a16="http://schemas.microsoft.com/office/drawing/2014/main" id="{3E1264A9-61C0-CDA3-97E1-B5461EAA31ED}"/>
              </a:ext>
            </a:extLst>
          </p:cNvPr>
          <p:cNvGrpSpPr/>
          <p:nvPr/>
        </p:nvGrpSpPr>
        <p:grpSpPr>
          <a:xfrm>
            <a:off x="7889141" y="2025067"/>
            <a:ext cx="1750170" cy="664525"/>
            <a:chOff x="7889141" y="2025067"/>
            <a:chExt cx="1750170" cy="664525"/>
          </a:xfrm>
        </p:grpSpPr>
        <p:sp>
          <p:nvSpPr>
            <p:cNvPr id="42" name="Rectangle 41">
              <a:extLst>
                <a:ext uri="{FF2B5EF4-FFF2-40B4-BE49-F238E27FC236}">
                  <a16:creationId xmlns:a16="http://schemas.microsoft.com/office/drawing/2014/main" id="{A98D363C-6EEE-3F8B-BDD2-A9F4787473C2}"/>
                </a:ext>
              </a:extLst>
            </p:cNvPr>
            <p:cNvSpPr/>
            <p:nvPr/>
          </p:nvSpPr>
          <p:spPr>
            <a:xfrm>
              <a:off x="7889141" y="2467342"/>
              <a:ext cx="716931" cy="222250"/>
            </a:xfrm>
            <a:prstGeom prst="rect">
              <a:avLst/>
            </a:prstGeom>
            <a:noFill/>
            <a:ln w="9525" cap="rnd" cmpd="sng" algn="ctr">
              <a:solidFill>
                <a:srgbClr val="9A9A9A"/>
              </a:solidFill>
              <a:prstDash val="solid"/>
              <a:round/>
              <a:headEnd type="none" w="med" len="med"/>
              <a:tailEnd type="none" w="med" len="med"/>
            </a:ln>
            <a:extLst>
              <a:ext uri="{909E8E84-426E-40DD-AFC4-6F175D3DCCD1}">
                <a14:hiddenFill xmlns:a14="http://schemas.microsoft.com/office/drawing/2010/main">
                  <a:solidFill>
                    <a:srgbClr val="F2F2F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400">
                  <a:solidFill>
                    <a:srgbClr val="575757"/>
                  </a:solidFill>
                </a:rPr>
                <a:t>產品</a:t>
              </a:r>
              <a:endParaRPr lang="en-US" sz="1400">
                <a:solidFill>
                  <a:srgbClr val="575757"/>
                </a:solidFill>
              </a:endParaRPr>
            </a:p>
          </p:txBody>
        </p:sp>
        <p:sp>
          <p:nvSpPr>
            <p:cNvPr id="43" name="Rectangle 42">
              <a:extLst>
                <a:ext uri="{FF2B5EF4-FFF2-40B4-BE49-F238E27FC236}">
                  <a16:creationId xmlns:a16="http://schemas.microsoft.com/office/drawing/2014/main" id="{D710D048-023E-385E-D78A-DBBB34EE38AE}"/>
                </a:ext>
              </a:extLst>
            </p:cNvPr>
            <p:cNvSpPr/>
            <p:nvPr/>
          </p:nvSpPr>
          <p:spPr>
            <a:xfrm>
              <a:off x="8420049" y="2025067"/>
              <a:ext cx="716931" cy="222250"/>
            </a:xfrm>
            <a:prstGeom prst="rect">
              <a:avLst/>
            </a:prstGeom>
            <a:noFill/>
            <a:ln w="9525" cap="rnd" cmpd="sng" algn="ctr">
              <a:solidFill>
                <a:srgbClr val="9A9A9A"/>
              </a:solidFill>
              <a:prstDash val="solid"/>
              <a:round/>
              <a:headEnd type="none" w="med" len="med"/>
              <a:tailEnd type="none" w="med" len="med"/>
            </a:ln>
            <a:extLst>
              <a:ext uri="{909E8E84-426E-40DD-AFC4-6F175D3DCCD1}">
                <a14:hiddenFill xmlns:a14="http://schemas.microsoft.com/office/drawing/2010/main">
                  <a:solidFill>
                    <a:srgbClr val="F2F2F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400" b="1">
                  <a:solidFill>
                    <a:srgbClr val="29BA74"/>
                  </a:solidFill>
                </a:rPr>
                <a:t>數位</a:t>
              </a:r>
              <a:endParaRPr lang="en-US" sz="1400" b="1">
                <a:solidFill>
                  <a:srgbClr val="29BA74"/>
                </a:solidFill>
              </a:endParaRPr>
            </a:p>
          </p:txBody>
        </p:sp>
        <p:sp>
          <p:nvSpPr>
            <p:cNvPr id="44" name="Rectangle 43">
              <a:extLst>
                <a:ext uri="{FF2B5EF4-FFF2-40B4-BE49-F238E27FC236}">
                  <a16:creationId xmlns:a16="http://schemas.microsoft.com/office/drawing/2014/main" id="{DCBDE0D2-CE80-6ABB-3D9B-183C2047A647}"/>
                </a:ext>
              </a:extLst>
            </p:cNvPr>
            <p:cNvSpPr/>
            <p:nvPr/>
          </p:nvSpPr>
          <p:spPr>
            <a:xfrm>
              <a:off x="8922380" y="2467342"/>
              <a:ext cx="716931" cy="222250"/>
            </a:xfrm>
            <a:prstGeom prst="rect">
              <a:avLst/>
            </a:prstGeom>
            <a:noFill/>
            <a:ln w="9525" cap="rnd" cmpd="sng" algn="ctr">
              <a:solidFill>
                <a:srgbClr val="9A9A9A"/>
              </a:solidFill>
              <a:prstDash val="solid"/>
              <a:round/>
              <a:headEnd type="none" w="med" len="med"/>
              <a:tailEnd type="none" w="med" len="med"/>
            </a:ln>
            <a:extLst>
              <a:ext uri="{909E8E84-426E-40DD-AFC4-6F175D3DCCD1}">
                <a14:hiddenFill xmlns:a14="http://schemas.microsoft.com/office/drawing/2010/main">
                  <a:solidFill>
                    <a:srgbClr val="F2F2F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400">
                  <a:solidFill>
                    <a:srgbClr val="575757"/>
                  </a:solidFill>
                </a:rPr>
                <a:t>數據</a:t>
              </a:r>
              <a:endParaRPr lang="en-US" sz="1400">
                <a:solidFill>
                  <a:srgbClr val="575757"/>
                </a:solidFill>
              </a:endParaRPr>
            </a:p>
          </p:txBody>
        </p:sp>
        <p:cxnSp>
          <p:nvCxnSpPr>
            <p:cNvPr id="47" name="Straight Connector 46">
              <a:extLst>
                <a:ext uri="{FF2B5EF4-FFF2-40B4-BE49-F238E27FC236}">
                  <a16:creationId xmlns:a16="http://schemas.microsoft.com/office/drawing/2014/main" id="{1B74660A-92EF-BCA0-54C3-90C32D3558E2}"/>
                </a:ext>
              </a:extLst>
            </p:cNvPr>
            <p:cNvCxnSpPr>
              <a:cxnSpLocks/>
              <a:stCxn id="43" idx="2"/>
              <a:endCxn id="42" idx="0"/>
            </p:cNvCxnSpPr>
            <p:nvPr/>
          </p:nvCxnSpPr>
          <p:spPr>
            <a:xfrm flipH="1">
              <a:off x="8247607" y="2247317"/>
              <a:ext cx="530908" cy="220025"/>
            </a:xfrm>
            <a:prstGeom prst="line">
              <a:avLst/>
            </a:prstGeom>
            <a:ln w="9525" cap="rnd">
              <a:solidFill>
                <a:schemeClr val="tx1">
                  <a:lumMod val="60000"/>
                  <a:lumOff val="40000"/>
                </a:schemeClr>
              </a:solidFill>
              <a:prstDash val="solid"/>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03ED9143-42DA-CABC-8792-058A3907E286}"/>
                </a:ext>
              </a:extLst>
            </p:cNvPr>
            <p:cNvCxnSpPr>
              <a:cxnSpLocks/>
              <a:stCxn id="42" idx="3"/>
              <a:endCxn id="44" idx="1"/>
            </p:cNvCxnSpPr>
            <p:nvPr/>
          </p:nvCxnSpPr>
          <p:spPr>
            <a:xfrm>
              <a:off x="8606072" y="2578467"/>
              <a:ext cx="316308" cy="0"/>
            </a:xfrm>
            <a:prstGeom prst="line">
              <a:avLst/>
            </a:prstGeom>
            <a:ln w="9525" cap="rnd">
              <a:solidFill>
                <a:schemeClr val="tx1">
                  <a:lumMod val="60000"/>
                  <a:lumOff val="40000"/>
                </a:schemeClr>
              </a:solidFill>
              <a:prstDash val="solid"/>
              <a:round/>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01B3A6F7-A2EC-AA2B-AEE3-EDF7BB7B0314}"/>
                </a:ext>
              </a:extLst>
            </p:cNvPr>
            <p:cNvCxnSpPr>
              <a:cxnSpLocks/>
              <a:stCxn id="43" idx="2"/>
              <a:endCxn id="44" idx="0"/>
            </p:cNvCxnSpPr>
            <p:nvPr/>
          </p:nvCxnSpPr>
          <p:spPr>
            <a:xfrm>
              <a:off x="8778515" y="2247317"/>
              <a:ext cx="502331" cy="220025"/>
            </a:xfrm>
            <a:prstGeom prst="line">
              <a:avLst/>
            </a:prstGeom>
            <a:ln w="9525" cap="rnd">
              <a:solidFill>
                <a:schemeClr val="tx1">
                  <a:lumMod val="60000"/>
                  <a:lumOff val="40000"/>
                </a:schemeClr>
              </a:solidFill>
              <a:prstDash val="solid"/>
              <a:round/>
            </a:ln>
          </p:spPr>
          <p:style>
            <a:lnRef idx="1">
              <a:schemeClr val="accent1"/>
            </a:lnRef>
            <a:fillRef idx="0">
              <a:schemeClr val="accent1"/>
            </a:fillRef>
            <a:effectRef idx="0">
              <a:schemeClr val="accent1"/>
            </a:effectRef>
            <a:fontRef idx="minor">
              <a:schemeClr val="tx1"/>
            </a:fontRef>
          </p:style>
        </p:cxnSp>
      </p:grpSp>
      <p:sp>
        <p:nvSpPr>
          <p:cNvPr id="67" name="Rectangle 66">
            <a:extLst>
              <a:ext uri="{FF2B5EF4-FFF2-40B4-BE49-F238E27FC236}">
                <a16:creationId xmlns:a16="http://schemas.microsoft.com/office/drawing/2014/main" id="{8C0218CE-D004-0201-DB21-E83D77354494}"/>
              </a:ext>
            </a:extLst>
          </p:cNvPr>
          <p:cNvSpPr/>
          <p:nvPr/>
        </p:nvSpPr>
        <p:spPr>
          <a:xfrm>
            <a:off x="1196024" y="3090673"/>
            <a:ext cx="512651" cy="413670"/>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349200">
              <a:buClr>
                <a:schemeClr val="tx2"/>
              </a:buClr>
            </a:pPr>
            <a:r>
              <a:rPr lang="zh-TW" altLang="en-US" sz="1200" b="1">
                <a:solidFill>
                  <a:srgbClr val="29BA74"/>
                </a:solidFill>
              </a:rPr>
              <a:t>客群經營</a:t>
            </a:r>
            <a:endParaRPr lang="en-US" sz="1200" b="1">
              <a:solidFill>
                <a:srgbClr val="29BA74"/>
              </a:solidFill>
            </a:endParaRPr>
          </a:p>
        </p:txBody>
      </p:sp>
      <p:sp>
        <p:nvSpPr>
          <p:cNvPr id="86" name="Rectangle 85">
            <a:extLst>
              <a:ext uri="{FF2B5EF4-FFF2-40B4-BE49-F238E27FC236}">
                <a16:creationId xmlns:a16="http://schemas.microsoft.com/office/drawing/2014/main" id="{164797C1-DFA4-C018-A0E9-96D76D63C99F}"/>
              </a:ext>
            </a:extLst>
          </p:cNvPr>
          <p:cNvSpPr/>
          <p:nvPr/>
        </p:nvSpPr>
        <p:spPr>
          <a:xfrm>
            <a:off x="1196025" y="3814567"/>
            <a:ext cx="512651" cy="164916"/>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349200">
              <a:buClr>
                <a:schemeClr val="tx2"/>
              </a:buClr>
            </a:pPr>
            <a:r>
              <a:rPr lang="zh-TW" altLang="en-US" sz="1200" b="1">
                <a:solidFill>
                  <a:srgbClr val="575757"/>
                </a:solidFill>
              </a:rPr>
              <a:t>數位</a:t>
            </a:r>
            <a:endParaRPr lang="en-US" sz="1200" b="1">
              <a:solidFill>
                <a:srgbClr val="575757"/>
              </a:solidFill>
            </a:endParaRPr>
          </a:p>
        </p:txBody>
      </p:sp>
      <p:sp>
        <p:nvSpPr>
          <p:cNvPr id="89" name="Rectangle 88">
            <a:extLst>
              <a:ext uri="{FF2B5EF4-FFF2-40B4-BE49-F238E27FC236}">
                <a16:creationId xmlns:a16="http://schemas.microsoft.com/office/drawing/2014/main" id="{B7DA8425-75DA-C070-331A-94018A241FCE}"/>
              </a:ext>
            </a:extLst>
          </p:cNvPr>
          <p:cNvSpPr/>
          <p:nvPr/>
        </p:nvSpPr>
        <p:spPr>
          <a:xfrm>
            <a:off x="1196025" y="4346738"/>
            <a:ext cx="512651" cy="222250"/>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349200">
              <a:buClr>
                <a:schemeClr val="tx2"/>
              </a:buClr>
            </a:pPr>
            <a:r>
              <a:rPr lang="zh-TW" altLang="en-US" sz="1200" b="1">
                <a:solidFill>
                  <a:schemeClr val="tx1"/>
                </a:solidFill>
              </a:rPr>
              <a:t>產品</a:t>
            </a:r>
            <a:endParaRPr lang="en-US" sz="1200" b="1">
              <a:solidFill>
                <a:schemeClr val="tx1"/>
              </a:solidFill>
            </a:endParaRPr>
          </a:p>
        </p:txBody>
      </p:sp>
      <p:sp>
        <p:nvSpPr>
          <p:cNvPr id="96" name="Rectangle 95">
            <a:extLst>
              <a:ext uri="{FF2B5EF4-FFF2-40B4-BE49-F238E27FC236}">
                <a16:creationId xmlns:a16="http://schemas.microsoft.com/office/drawing/2014/main" id="{1A105375-EC97-D47E-45A8-5231A03B4C9B}"/>
              </a:ext>
            </a:extLst>
          </p:cNvPr>
          <p:cNvSpPr/>
          <p:nvPr/>
        </p:nvSpPr>
        <p:spPr>
          <a:xfrm>
            <a:off x="1196025" y="5019174"/>
            <a:ext cx="512651" cy="164916"/>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349200">
              <a:buClr>
                <a:schemeClr val="tx2"/>
              </a:buClr>
            </a:pPr>
            <a:r>
              <a:rPr lang="zh-TW" altLang="en-US" sz="1200" b="1">
                <a:solidFill>
                  <a:schemeClr val="tx1"/>
                </a:solidFill>
              </a:rPr>
              <a:t>數據</a:t>
            </a:r>
            <a:endParaRPr lang="en-US" sz="1200" b="1">
              <a:solidFill>
                <a:schemeClr val="tx1"/>
              </a:solidFill>
            </a:endParaRPr>
          </a:p>
        </p:txBody>
      </p:sp>
      <p:sp>
        <p:nvSpPr>
          <p:cNvPr id="81" name="Rectangle 80">
            <a:extLst>
              <a:ext uri="{FF2B5EF4-FFF2-40B4-BE49-F238E27FC236}">
                <a16:creationId xmlns:a16="http://schemas.microsoft.com/office/drawing/2014/main" id="{48796F0C-1C85-3B69-49D1-E5F5278FC22F}"/>
              </a:ext>
            </a:extLst>
          </p:cNvPr>
          <p:cNvSpPr/>
          <p:nvPr/>
        </p:nvSpPr>
        <p:spPr>
          <a:xfrm>
            <a:off x="1804285" y="2805772"/>
            <a:ext cx="2042777" cy="165100"/>
          </a:xfrm>
          <a:prstGeom prst="rect">
            <a:avLst/>
          </a:prstGeom>
          <a:solidFill>
            <a:srgbClr val="C9E7CA"/>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200" b="1">
                <a:solidFill>
                  <a:srgbClr val="575757"/>
                </a:solidFill>
              </a:rPr>
              <a:t>職責</a:t>
            </a:r>
            <a:endParaRPr lang="en-US" sz="1200" b="1">
              <a:solidFill>
                <a:srgbClr val="575757"/>
              </a:solidFill>
            </a:endParaRPr>
          </a:p>
        </p:txBody>
      </p:sp>
      <p:sp>
        <p:nvSpPr>
          <p:cNvPr id="82" name="Rectangle 81">
            <a:extLst>
              <a:ext uri="{FF2B5EF4-FFF2-40B4-BE49-F238E27FC236}">
                <a16:creationId xmlns:a16="http://schemas.microsoft.com/office/drawing/2014/main" id="{CB934470-58C6-DA68-94F5-89C201591F49}"/>
              </a:ext>
            </a:extLst>
          </p:cNvPr>
          <p:cNvSpPr/>
          <p:nvPr/>
        </p:nvSpPr>
        <p:spPr>
          <a:xfrm>
            <a:off x="3948489" y="2805772"/>
            <a:ext cx="2042777" cy="165100"/>
          </a:xfrm>
          <a:prstGeom prst="rect">
            <a:avLst/>
          </a:prstGeom>
          <a:solidFill>
            <a:srgbClr val="C9E7CA"/>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zh-TW" sz="1200" b="1" err="1">
                <a:solidFill>
                  <a:srgbClr val="575757"/>
                </a:solidFill>
              </a:rPr>
              <a:t>KPI</a:t>
            </a:r>
            <a:endParaRPr lang="en-US" sz="1200" b="1">
              <a:solidFill>
                <a:srgbClr val="575757"/>
              </a:solidFill>
            </a:endParaRPr>
          </a:p>
        </p:txBody>
      </p:sp>
      <p:sp>
        <p:nvSpPr>
          <p:cNvPr id="84" name="Rectangle 83">
            <a:extLst>
              <a:ext uri="{FF2B5EF4-FFF2-40B4-BE49-F238E27FC236}">
                <a16:creationId xmlns:a16="http://schemas.microsoft.com/office/drawing/2014/main" id="{2FE3D230-7873-E274-5E9C-3AFBCBA1EB13}"/>
              </a:ext>
            </a:extLst>
          </p:cNvPr>
          <p:cNvSpPr/>
          <p:nvPr/>
        </p:nvSpPr>
        <p:spPr>
          <a:xfrm>
            <a:off x="1717450" y="2994963"/>
            <a:ext cx="2236328" cy="605090"/>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349200">
              <a:buClr>
                <a:schemeClr val="tx2"/>
              </a:buClr>
            </a:pPr>
            <a:r>
              <a:rPr lang="zh-TW" altLang="en-US" sz="1200">
                <a:solidFill>
                  <a:srgbClr val="575757"/>
                </a:solidFill>
              </a:rPr>
              <a:t>負責整體客群經營成效，制定客群經營策略方向並領導跨部門團隊協作</a:t>
            </a:r>
            <a:endParaRPr lang="en-US" sz="1200">
              <a:solidFill>
                <a:srgbClr val="575757"/>
              </a:solidFill>
            </a:endParaRPr>
          </a:p>
        </p:txBody>
      </p:sp>
      <p:sp>
        <p:nvSpPr>
          <p:cNvPr id="85" name="Rectangle 84">
            <a:extLst>
              <a:ext uri="{FF2B5EF4-FFF2-40B4-BE49-F238E27FC236}">
                <a16:creationId xmlns:a16="http://schemas.microsoft.com/office/drawing/2014/main" id="{D7FFCFD7-B5FC-C7AA-146B-C966D493CF1B}"/>
              </a:ext>
            </a:extLst>
          </p:cNvPr>
          <p:cNvSpPr/>
          <p:nvPr/>
        </p:nvSpPr>
        <p:spPr>
          <a:xfrm>
            <a:off x="3912899" y="3082440"/>
            <a:ext cx="2183100" cy="279719"/>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349200">
              <a:buClr>
                <a:schemeClr val="tx2"/>
              </a:buClr>
            </a:pPr>
            <a:r>
              <a:rPr lang="zh-TW" altLang="en-US" sz="1200">
                <a:solidFill>
                  <a:srgbClr val="575757"/>
                </a:solidFill>
              </a:rPr>
              <a:t>整體</a:t>
            </a:r>
            <a:r>
              <a:rPr lang="en-US" altLang="zh-TW" sz="1200">
                <a:solidFill>
                  <a:srgbClr val="575757"/>
                </a:solidFill>
              </a:rPr>
              <a:t>AUM</a:t>
            </a:r>
            <a:r>
              <a:rPr lang="zh-TW" altLang="en-US" sz="1200">
                <a:solidFill>
                  <a:srgbClr val="575757"/>
                </a:solidFill>
              </a:rPr>
              <a:t>、手續費收入、客戶留存率、交叉銷售率</a:t>
            </a:r>
            <a:r>
              <a:rPr lang="en-US" altLang="zh-TW" sz="1200">
                <a:solidFill>
                  <a:srgbClr val="575757"/>
                </a:solidFill>
              </a:rPr>
              <a:t> </a:t>
            </a:r>
            <a:r>
              <a:rPr lang="zh-TW" altLang="en-US" sz="1200">
                <a:solidFill>
                  <a:srgbClr val="575757"/>
                </a:solidFill>
              </a:rPr>
              <a:t> </a:t>
            </a:r>
            <a:endParaRPr lang="en-US" sz="1200">
              <a:solidFill>
                <a:srgbClr val="575757"/>
              </a:solidFill>
            </a:endParaRPr>
          </a:p>
        </p:txBody>
      </p:sp>
      <p:sp>
        <p:nvSpPr>
          <p:cNvPr id="87" name="Rectangle 86">
            <a:extLst>
              <a:ext uri="{FF2B5EF4-FFF2-40B4-BE49-F238E27FC236}">
                <a16:creationId xmlns:a16="http://schemas.microsoft.com/office/drawing/2014/main" id="{DAF5C4B8-E5CA-A633-F100-8A2102272B6B}"/>
              </a:ext>
            </a:extLst>
          </p:cNvPr>
          <p:cNvSpPr/>
          <p:nvPr/>
        </p:nvSpPr>
        <p:spPr>
          <a:xfrm>
            <a:off x="1717450" y="3573486"/>
            <a:ext cx="2236328" cy="605091"/>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349200">
              <a:buClr>
                <a:schemeClr val="tx2"/>
              </a:buClr>
            </a:pPr>
            <a:r>
              <a:rPr lang="zh-TW" altLang="en-US" sz="1200">
                <a:solidFill>
                  <a:srgbClr val="575757"/>
                </a:solidFill>
              </a:rPr>
              <a:t>負責客戶數位旅程，確保端到端流程無痛點</a:t>
            </a:r>
            <a:endParaRPr lang="en-US" sz="1200">
              <a:solidFill>
                <a:srgbClr val="575757"/>
              </a:solidFill>
            </a:endParaRPr>
          </a:p>
        </p:txBody>
      </p:sp>
      <p:sp>
        <p:nvSpPr>
          <p:cNvPr id="88" name="Rectangle 87">
            <a:extLst>
              <a:ext uri="{FF2B5EF4-FFF2-40B4-BE49-F238E27FC236}">
                <a16:creationId xmlns:a16="http://schemas.microsoft.com/office/drawing/2014/main" id="{DD17C0D7-1DC0-2397-7BE8-77696D2A394C}"/>
              </a:ext>
            </a:extLst>
          </p:cNvPr>
          <p:cNvSpPr/>
          <p:nvPr/>
        </p:nvSpPr>
        <p:spPr>
          <a:xfrm>
            <a:off x="3912899" y="3651534"/>
            <a:ext cx="2183100" cy="448995"/>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349200">
              <a:buClr>
                <a:schemeClr val="tx2"/>
              </a:buClr>
            </a:pPr>
            <a:r>
              <a:rPr lang="zh-TW" altLang="en-US" sz="1200">
                <a:solidFill>
                  <a:srgbClr val="575757"/>
                </a:solidFill>
              </a:rPr>
              <a:t>數位平台活躍客戶數、數位平台點擊次數、數位平台滿意度</a:t>
            </a:r>
            <a:endParaRPr lang="en-US" sz="1200">
              <a:solidFill>
                <a:srgbClr val="575757"/>
              </a:solidFill>
            </a:endParaRPr>
          </a:p>
        </p:txBody>
      </p:sp>
      <p:sp>
        <p:nvSpPr>
          <p:cNvPr id="93" name="Rectangle 92">
            <a:extLst>
              <a:ext uri="{FF2B5EF4-FFF2-40B4-BE49-F238E27FC236}">
                <a16:creationId xmlns:a16="http://schemas.microsoft.com/office/drawing/2014/main" id="{CEFE6BC7-B2D2-A506-2D0D-2FA9DD2D1038}"/>
              </a:ext>
            </a:extLst>
          </p:cNvPr>
          <p:cNvSpPr/>
          <p:nvPr/>
        </p:nvSpPr>
        <p:spPr>
          <a:xfrm>
            <a:off x="1717450" y="4183172"/>
            <a:ext cx="2236328" cy="605091"/>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349200">
              <a:buClr>
                <a:schemeClr val="tx2"/>
              </a:buClr>
            </a:pPr>
            <a:r>
              <a:rPr lang="zh-TW" altLang="en-US" sz="1200">
                <a:solidFill>
                  <a:schemeClr val="tx1"/>
                </a:solidFill>
              </a:rPr>
              <a:t>負責產品條件及優惠設計，確保產品符合各管道市場需求</a:t>
            </a:r>
            <a:endParaRPr lang="en-US" sz="1200">
              <a:solidFill>
                <a:schemeClr val="tx1"/>
              </a:solidFill>
            </a:endParaRPr>
          </a:p>
        </p:txBody>
      </p:sp>
      <p:sp>
        <p:nvSpPr>
          <p:cNvPr id="94" name="Rectangle 93">
            <a:extLst>
              <a:ext uri="{FF2B5EF4-FFF2-40B4-BE49-F238E27FC236}">
                <a16:creationId xmlns:a16="http://schemas.microsoft.com/office/drawing/2014/main" id="{14DA6E17-D0FC-8334-9FEA-055004CEDFDE}"/>
              </a:ext>
            </a:extLst>
          </p:cNvPr>
          <p:cNvSpPr/>
          <p:nvPr/>
        </p:nvSpPr>
        <p:spPr>
          <a:xfrm>
            <a:off x="3912899" y="4270175"/>
            <a:ext cx="2183100" cy="448995"/>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349200">
              <a:buClr>
                <a:schemeClr val="tx2"/>
              </a:buClr>
            </a:pPr>
            <a:r>
              <a:rPr lang="zh-TW" altLang="en-US" sz="1200">
                <a:solidFill>
                  <a:schemeClr val="tx1"/>
                </a:solidFill>
              </a:rPr>
              <a:t>產品</a:t>
            </a:r>
            <a:r>
              <a:rPr lang="en-US" altLang="zh-TW" sz="1200" err="1">
                <a:solidFill>
                  <a:schemeClr val="tx1"/>
                </a:solidFill>
              </a:rPr>
              <a:t>P&amp;L</a:t>
            </a:r>
            <a:r>
              <a:rPr lang="zh-TW" altLang="en-US" sz="1200">
                <a:solidFill>
                  <a:schemeClr val="tx1"/>
                </a:solidFill>
              </a:rPr>
              <a:t>、產品下單數、產品轉換率 </a:t>
            </a:r>
            <a:r>
              <a:rPr lang="en-US" altLang="zh-TW" sz="1200">
                <a:solidFill>
                  <a:schemeClr val="tx1"/>
                </a:solidFill>
              </a:rPr>
              <a:t>(</a:t>
            </a:r>
            <a:r>
              <a:rPr lang="zh-TW" altLang="en-US" sz="1200">
                <a:solidFill>
                  <a:schemeClr val="tx1"/>
                </a:solidFill>
              </a:rPr>
              <a:t>推播到點擊、點擊到購買</a:t>
            </a:r>
            <a:r>
              <a:rPr lang="en-US" altLang="zh-TW" sz="1200">
                <a:solidFill>
                  <a:schemeClr val="tx1"/>
                </a:solidFill>
              </a:rPr>
              <a:t>)</a:t>
            </a:r>
            <a:endParaRPr lang="en-US" sz="1200">
              <a:solidFill>
                <a:schemeClr val="tx1"/>
              </a:solidFill>
            </a:endParaRPr>
          </a:p>
        </p:txBody>
      </p:sp>
      <p:sp>
        <p:nvSpPr>
          <p:cNvPr id="97" name="Rectangle 96">
            <a:extLst>
              <a:ext uri="{FF2B5EF4-FFF2-40B4-BE49-F238E27FC236}">
                <a16:creationId xmlns:a16="http://schemas.microsoft.com/office/drawing/2014/main" id="{7666BB0D-2D8A-EFC8-5404-D6BCFFBF3BDC}"/>
              </a:ext>
            </a:extLst>
          </p:cNvPr>
          <p:cNvSpPr/>
          <p:nvPr/>
        </p:nvSpPr>
        <p:spPr>
          <a:xfrm>
            <a:off x="1717450" y="4799086"/>
            <a:ext cx="2236328" cy="605091"/>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349200">
              <a:buClr>
                <a:schemeClr val="tx2"/>
              </a:buClr>
            </a:pPr>
            <a:r>
              <a:rPr lang="zh-TW" altLang="en-US" sz="1200">
                <a:solidFill>
                  <a:schemeClr val="tx1"/>
                </a:solidFill>
              </a:rPr>
              <a:t>負責數據分析和數據管理，將行銷活動成效反饋給業務團隊並輸入至模型當中</a:t>
            </a:r>
            <a:endParaRPr lang="en-US" sz="1200">
              <a:solidFill>
                <a:schemeClr val="tx1"/>
              </a:solidFill>
            </a:endParaRPr>
          </a:p>
        </p:txBody>
      </p:sp>
      <p:sp>
        <p:nvSpPr>
          <p:cNvPr id="98" name="Rectangle 97">
            <a:extLst>
              <a:ext uri="{FF2B5EF4-FFF2-40B4-BE49-F238E27FC236}">
                <a16:creationId xmlns:a16="http://schemas.microsoft.com/office/drawing/2014/main" id="{DB0412EB-5C4E-8806-13A7-F1F51F51AF8D}"/>
              </a:ext>
            </a:extLst>
          </p:cNvPr>
          <p:cNvSpPr/>
          <p:nvPr/>
        </p:nvSpPr>
        <p:spPr>
          <a:xfrm>
            <a:off x="3912899" y="4799086"/>
            <a:ext cx="2183100" cy="448995"/>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349200">
              <a:buClr>
                <a:schemeClr val="tx2"/>
              </a:buClr>
            </a:pPr>
            <a:r>
              <a:rPr lang="zh-TW" altLang="en-US" sz="1200">
                <a:solidFill>
                  <a:schemeClr val="tx1"/>
                </a:solidFill>
              </a:rPr>
              <a:t>數據準確性、數據分析速度、個性化推薦準確率</a:t>
            </a:r>
            <a:endParaRPr lang="en-US" sz="1200">
              <a:solidFill>
                <a:schemeClr val="tx1"/>
              </a:solidFill>
            </a:endParaRPr>
          </a:p>
        </p:txBody>
      </p:sp>
      <p:cxnSp>
        <p:nvCxnSpPr>
          <p:cNvPr id="104" name="Straight Connector 103">
            <a:extLst>
              <a:ext uri="{FF2B5EF4-FFF2-40B4-BE49-F238E27FC236}">
                <a16:creationId xmlns:a16="http://schemas.microsoft.com/office/drawing/2014/main" id="{5F88FDAE-54D4-F154-76F1-4EC4E0FB80A2}"/>
              </a:ext>
            </a:extLst>
          </p:cNvPr>
          <p:cNvCxnSpPr/>
          <p:nvPr/>
        </p:nvCxnSpPr>
        <p:spPr>
          <a:xfrm>
            <a:off x="1197039" y="3594479"/>
            <a:ext cx="4727511" cy="0"/>
          </a:xfrm>
          <a:prstGeom prst="line">
            <a:avLst/>
          </a:prstGeom>
          <a:ln w="9525" cap="rnd" cmpd="sng" algn="ctr">
            <a:solidFill>
              <a:srgbClr val="9A9A9A"/>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59274A13-C4DA-4769-2369-62678DD6C991}"/>
              </a:ext>
            </a:extLst>
          </p:cNvPr>
          <p:cNvCxnSpPr/>
          <p:nvPr/>
        </p:nvCxnSpPr>
        <p:spPr>
          <a:xfrm>
            <a:off x="1197039" y="4199570"/>
            <a:ext cx="4727511" cy="0"/>
          </a:xfrm>
          <a:prstGeom prst="line">
            <a:avLst/>
          </a:prstGeom>
          <a:ln w="9525" cap="rnd" cmpd="sng" algn="ctr">
            <a:solidFill>
              <a:srgbClr val="9A9A9A"/>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a16="http://schemas.microsoft.com/office/drawing/2014/main" id="{15C389E5-BBCD-B3E0-1C3A-ADC599C5BB3E}"/>
              </a:ext>
            </a:extLst>
          </p:cNvPr>
          <p:cNvCxnSpPr/>
          <p:nvPr/>
        </p:nvCxnSpPr>
        <p:spPr>
          <a:xfrm>
            <a:off x="1197039" y="4793674"/>
            <a:ext cx="4727511" cy="0"/>
          </a:xfrm>
          <a:prstGeom prst="line">
            <a:avLst/>
          </a:prstGeom>
          <a:ln w="9525" cap="rnd" cmpd="sng" algn="ctr">
            <a:solidFill>
              <a:srgbClr val="9A9A9A"/>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8" name="Rectangle 117">
            <a:extLst>
              <a:ext uri="{FF2B5EF4-FFF2-40B4-BE49-F238E27FC236}">
                <a16:creationId xmlns:a16="http://schemas.microsoft.com/office/drawing/2014/main" id="{A12BA629-FEB1-193F-D66D-0A7CCF7D0CA9}"/>
              </a:ext>
            </a:extLst>
          </p:cNvPr>
          <p:cNvSpPr/>
          <p:nvPr/>
        </p:nvSpPr>
        <p:spPr>
          <a:xfrm>
            <a:off x="1201606" y="5559539"/>
            <a:ext cx="4789659" cy="223469"/>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349200">
              <a:buClr>
                <a:schemeClr val="tx2"/>
              </a:buClr>
            </a:pPr>
            <a:r>
              <a:rPr lang="zh-TW" altLang="en-US" sz="1200">
                <a:solidFill>
                  <a:schemeClr val="tx1"/>
                </a:solidFill>
              </a:rPr>
              <a:t>專職團隊能夠更專注於客戶需求和市場動態，確保策略有效</a:t>
            </a:r>
            <a:endParaRPr lang="en-US" sz="1200">
              <a:solidFill>
                <a:schemeClr val="tx1"/>
              </a:solidFill>
            </a:endParaRPr>
          </a:p>
        </p:txBody>
      </p:sp>
      <p:sp>
        <p:nvSpPr>
          <p:cNvPr id="119" name="Rectangle 118">
            <a:extLst>
              <a:ext uri="{FF2B5EF4-FFF2-40B4-BE49-F238E27FC236}">
                <a16:creationId xmlns:a16="http://schemas.microsoft.com/office/drawing/2014/main" id="{F8EDF6E7-DD6A-F031-ECCD-82C42D85B4BF}"/>
              </a:ext>
            </a:extLst>
          </p:cNvPr>
          <p:cNvSpPr/>
          <p:nvPr/>
        </p:nvSpPr>
        <p:spPr>
          <a:xfrm>
            <a:off x="1201606" y="5941226"/>
            <a:ext cx="4789659" cy="223469"/>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349200">
              <a:buClr>
                <a:schemeClr val="tx2"/>
              </a:buClr>
            </a:pPr>
            <a:r>
              <a:rPr lang="zh-TW" altLang="en-US" sz="1200">
                <a:solidFill>
                  <a:schemeClr val="tx1"/>
                </a:solidFill>
              </a:rPr>
              <a:t>需額外成立新團隊，投注額外人力成本較高</a:t>
            </a:r>
            <a:endParaRPr lang="en-US" sz="1200">
              <a:solidFill>
                <a:schemeClr val="tx1"/>
              </a:solidFill>
            </a:endParaRPr>
          </a:p>
        </p:txBody>
      </p:sp>
      <p:sp>
        <p:nvSpPr>
          <p:cNvPr id="120" name="Rectangle: Top Corners Rounded 119">
            <a:extLst>
              <a:ext uri="{FF2B5EF4-FFF2-40B4-BE49-F238E27FC236}">
                <a16:creationId xmlns:a16="http://schemas.microsoft.com/office/drawing/2014/main" id="{C3105C9D-7692-3BBB-9C6B-A589BE108132}"/>
              </a:ext>
            </a:extLst>
          </p:cNvPr>
          <p:cNvSpPr/>
          <p:nvPr/>
        </p:nvSpPr>
        <p:spPr>
          <a:xfrm>
            <a:off x="6229350" y="1536592"/>
            <a:ext cx="4946155" cy="322659"/>
          </a:xfrm>
          <a:prstGeom prst="round2SameRect">
            <a:avLst/>
          </a:prstGeom>
          <a:solidFill>
            <a:srgbClr val="29BA74"/>
          </a:solidFill>
        </p:spPr>
        <p:txBody>
          <a:bodyPr wrap="square" lIns="0" rIns="0">
            <a:spAutoFit/>
          </a:bodyPr>
          <a:lstStyle/>
          <a:p>
            <a:pPr algn="ctr">
              <a:buSzPct val="100000"/>
            </a:pPr>
            <a:r>
              <a:rPr lang="zh-TW" altLang="en-US" sz="1400" b="1" i="1">
                <a:solidFill>
                  <a:srgbClr val="FFFFFF"/>
                </a:solidFill>
                <a:ea typeface="Microsoft YaHei" panose="020B0503020204020204" pitchFamily="34" charset="-122"/>
                <a:sym typeface="+mn-lt"/>
              </a:rPr>
              <a:t>模式二 由數位團隊主責，與產品及數據團隊共同合作</a:t>
            </a:r>
            <a:endParaRPr lang="en-US" sz="1400" b="1" i="1">
              <a:solidFill>
                <a:srgbClr val="FFFFFF"/>
              </a:solidFill>
              <a:ea typeface="Microsoft YaHei" panose="020B0503020204020204" pitchFamily="34" charset="-122"/>
              <a:sym typeface="+mn-lt"/>
            </a:endParaRPr>
          </a:p>
        </p:txBody>
      </p:sp>
      <p:sp>
        <p:nvSpPr>
          <p:cNvPr id="122" name="Rectangle 121">
            <a:extLst>
              <a:ext uri="{FF2B5EF4-FFF2-40B4-BE49-F238E27FC236}">
                <a16:creationId xmlns:a16="http://schemas.microsoft.com/office/drawing/2014/main" id="{C6ABA408-7E05-DD03-2745-69434543B3D0}"/>
              </a:ext>
            </a:extLst>
          </p:cNvPr>
          <p:cNvSpPr/>
          <p:nvPr/>
        </p:nvSpPr>
        <p:spPr>
          <a:xfrm>
            <a:off x="6252501" y="3285286"/>
            <a:ext cx="512651" cy="164916"/>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349200">
              <a:buClr>
                <a:schemeClr val="tx2"/>
              </a:buClr>
            </a:pPr>
            <a:r>
              <a:rPr lang="zh-TW" altLang="en-US" sz="1200" b="1">
                <a:solidFill>
                  <a:srgbClr val="29BA74"/>
                </a:solidFill>
              </a:rPr>
              <a:t>數位</a:t>
            </a:r>
            <a:endParaRPr lang="en-US" sz="1200" b="1">
              <a:solidFill>
                <a:srgbClr val="29BA74"/>
              </a:solidFill>
            </a:endParaRPr>
          </a:p>
        </p:txBody>
      </p:sp>
      <p:sp>
        <p:nvSpPr>
          <p:cNvPr id="123" name="Rectangle 122">
            <a:extLst>
              <a:ext uri="{FF2B5EF4-FFF2-40B4-BE49-F238E27FC236}">
                <a16:creationId xmlns:a16="http://schemas.microsoft.com/office/drawing/2014/main" id="{0FCF0DB8-13B4-AEF1-06BF-CA464C3FF6B0}"/>
              </a:ext>
            </a:extLst>
          </p:cNvPr>
          <p:cNvSpPr/>
          <p:nvPr/>
        </p:nvSpPr>
        <p:spPr>
          <a:xfrm>
            <a:off x="6252501" y="3981886"/>
            <a:ext cx="512651" cy="222250"/>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349200">
              <a:buClr>
                <a:schemeClr val="tx2"/>
              </a:buClr>
            </a:pPr>
            <a:r>
              <a:rPr lang="zh-TW" altLang="en-US" sz="1200" b="1">
                <a:solidFill>
                  <a:schemeClr val="tx1"/>
                </a:solidFill>
              </a:rPr>
              <a:t>產品</a:t>
            </a:r>
            <a:endParaRPr lang="en-US" sz="1200" b="1">
              <a:solidFill>
                <a:schemeClr val="tx1"/>
              </a:solidFill>
            </a:endParaRPr>
          </a:p>
        </p:txBody>
      </p:sp>
      <p:sp>
        <p:nvSpPr>
          <p:cNvPr id="124" name="Rectangle 123">
            <a:extLst>
              <a:ext uri="{FF2B5EF4-FFF2-40B4-BE49-F238E27FC236}">
                <a16:creationId xmlns:a16="http://schemas.microsoft.com/office/drawing/2014/main" id="{045BE38D-B5FA-4894-C307-06AED0BEC6B8}"/>
              </a:ext>
            </a:extLst>
          </p:cNvPr>
          <p:cNvSpPr/>
          <p:nvPr/>
        </p:nvSpPr>
        <p:spPr>
          <a:xfrm>
            <a:off x="6252501" y="4845254"/>
            <a:ext cx="512651" cy="164916"/>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349200">
              <a:buClr>
                <a:schemeClr val="tx2"/>
              </a:buClr>
            </a:pPr>
            <a:r>
              <a:rPr lang="zh-TW" altLang="en-US" sz="1200" b="1">
                <a:solidFill>
                  <a:schemeClr val="tx1"/>
                </a:solidFill>
              </a:rPr>
              <a:t>數據</a:t>
            </a:r>
            <a:endParaRPr lang="en-US" sz="1200" b="1">
              <a:solidFill>
                <a:schemeClr val="tx1"/>
              </a:solidFill>
            </a:endParaRPr>
          </a:p>
        </p:txBody>
      </p:sp>
      <p:sp>
        <p:nvSpPr>
          <p:cNvPr id="125" name="Rectangle 124">
            <a:extLst>
              <a:ext uri="{FF2B5EF4-FFF2-40B4-BE49-F238E27FC236}">
                <a16:creationId xmlns:a16="http://schemas.microsoft.com/office/drawing/2014/main" id="{A286DD48-2746-5DC8-9D57-EFA8DEEFC5E2}"/>
              </a:ext>
            </a:extLst>
          </p:cNvPr>
          <p:cNvSpPr/>
          <p:nvPr/>
        </p:nvSpPr>
        <p:spPr>
          <a:xfrm>
            <a:off x="6871499" y="2805772"/>
            <a:ext cx="2286943" cy="165100"/>
          </a:xfrm>
          <a:prstGeom prst="rect">
            <a:avLst/>
          </a:prstGeom>
          <a:solidFill>
            <a:srgbClr val="C9E7CA"/>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200" b="1">
                <a:solidFill>
                  <a:srgbClr val="575757"/>
                </a:solidFill>
              </a:rPr>
              <a:t>職責</a:t>
            </a:r>
            <a:endParaRPr lang="en-US" sz="1200" b="1">
              <a:solidFill>
                <a:srgbClr val="575757"/>
              </a:solidFill>
            </a:endParaRPr>
          </a:p>
        </p:txBody>
      </p:sp>
      <p:sp>
        <p:nvSpPr>
          <p:cNvPr id="126" name="Rectangle 125">
            <a:extLst>
              <a:ext uri="{FF2B5EF4-FFF2-40B4-BE49-F238E27FC236}">
                <a16:creationId xmlns:a16="http://schemas.microsoft.com/office/drawing/2014/main" id="{4B8CE1BE-BE7D-4FF8-0DD4-90CC82BE65B0}"/>
              </a:ext>
            </a:extLst>
          </p:cNvPr>
          <p:cNvSpPr/>
          <p:nvPr/>
        </p:nvSpPr>
        <p:spPr>
          <a:xfrm>
            <a:off x="9283172" y="2805772"/>
            <a:ext cx="2042777" cy="165100"/>
          </a:xfrm>
          <a:prstGeom prst="rect">
            <a:avLst/>
          </a:prstGeom>
          <a:solidFill>
            <a:srgbClr val="C9E7CA"/>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zh-TW" sz="1200" b="1" err="1">
                <a:solidFill>
                  <a:srgbClr val="575757"/>
                </a:solidFill>
              </a:rPr>
              <a:t>KPI</a:t>
            </a:r>
            <a:endParaRPr lang="en-US" sz="1200" b="1">
              <a:solidFill>
                <a:srgbClr val="575757"/>
              </a:solidFill>
            </a:endParaRPr>
          </a:p>
        </p:txBody>
      </p:sp>
      <p:sp>
        <p:nvSpPr>
          <p:cNvPr id="129" name="Rectangle 128">
            <a:extLst>
              <a:ext uri="{FF2B5EF4-FFF2-40B4-BE49-F238E27FC236}">
                <a16:creationId xmlns:a16="http://schemas.microsoft.com/office/drawing/2014/main" id="{1CDAAAA6-7D0A-B5B2-EFE2-5469BC8BB5E0}"/>
              </a:ext>
            </a:extLst>
          </p:cNvPr>
          <p:cNvSpPr/>
          <p:nvPr/>
        </p:nvSpPr>
        <p:spPr>
          <a:xfrm>
            <a:off x="6652865" y="3028879"/>
            <a:ext cx="2539828" cy="744313"/>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324000" lvl="1" indent="-216000">
              <a:buClr>
                <a:schemeClr val="tx2"/>
              </a:buClr>
              <a:buFont typeface="Trebuchet MS" panose="020B0603020202020204" pitchFamily="34" charset="0"/>
              <a:buChar char="•"/>
            </a:pPr>
            <a:r>
              <a:rPr lang="zh-TW" altLang="en-US" sz="1200">
                <a:solidFill>
                  <a:schemeClr val="tx1"/>
                </a:solidFill>
              </a:rPr>
              <a:t>主導客群經營工作，與產品團隊共同制定數位經營策略</a:t>
            </a:r>
            <a:endParaRPr lang="en-US" altLang="zh-TW" sz="1200">
              <a:solidFill>
                <a:schemeClr val="tx1"/>
              </a:solidFill>
            </a:endParaRPr>
          </a:p>
          <a:p>
            <a:pPr marL="324000" lvl="1" indent="-216000">
              <a:buClr>
                <a:schemeClr val="tx2"/>
              </a:buClr>
              <a:buFont typeface="Trebuchet MS" panose="020B0603020202020204" pitchFamily="34" charset="0"/>
              <a:buChar char="•"/>
            </a:pPr>
            <a:r>
              <a:rPr lang="zh-TW" altLang="en-US" sz="1200">
                <a:solidFill>
                  <a:schemeClr val="tx1"/>
                </a:solidFill>
              </a:rPr>
              <a:t>確保客戶數位旅程無痛點並能有效轉換</a:t>
            </a:r>
            <a:endParaRPr lang="en-US" sz="1200">
              <a:solidFill>
                <a:schemeClr val="tx1"/>
              </a:solidFill>
            </a:endParaRPr>
          </a:p>
        </p:txBody>
      </p:sp>
      <p:sp>
        <p:nvSpPr>
          <p:cNvPr id="130" name="Rectangle 129">
            <a:extLst>
              <a:ext uri="{FF2B5EF4-FFF2-40B4-BE49-F238E27FC236}">
                <a16:creationId xmlns:a16="http://schemas.microsoft.com/office/drawing/2014/main" id="{7AB81473-B503-94B7-BAD8-69672E0AAAF3}"/>
              </a:ext>
            </a:extLst>
          </p:cNvPr>
          <p:cNvSpPr/>
          <p:nvPr/>
        </p:nvSpPr>
        <p:spPr>
          <a:xfrm>
            <a:off x="9213011" y="3003023"/>
            <a:ext cx="2183100" cy="737642"/>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349200">
              <a:buClr>
                <a:schemeClr val="tx2"/>
              </a:buClr>
            </a:pPr>
            <a:r>
              <a:rPr lang="zh-TW" altLang="en-US" sz="1200">
                <a:solidFill>
                  <a:srgbClr val="575757"/>
                </a:solidFill>
              </a:rPr>
              <a:t>數位管道驅動</a:t>
            </a:r>
            <a:r>
              <a:rPr lang="en-US" altLang="zh-TW" sz="1200">
                <a:solidFill>
                  <a:srgbClr val="575757"/>
                </a:solidFill>
              </a:rPr>
              <a:t>AUM</a:t>
            </a:r>
            <a:r>
              <a:rPr lang="zh-TW" altLang="en-US" sz="1200">
                <a:solidFill>
                  <a:srgbClr val="575757"/>
                </a:solidFill>
              </a:rPr>
              <a:t>、數位管道客戶留存率、數位管道交叉銷售率、數位管道活躍客戶數、數位平台滿意度</a:t>
            </a:r>
            <a:endParaRPr lang="en-US" altLang="zh-TW" sz="1200">
              <a:solidFill>
                <a:srgbClr val="575757"/>
              </a:solidFill>
            </a:endParaRPr>
          </a:p>
        </p:txBody>
      </p:sp>
      <p:sp>
        <p:nvSpPr>
          <p:cNvPr id="131" name="Rectangle 130">
            <a:extLst>
              <a:ext uri="{FF2B5EF4-FFF2-40B4-BE49-F238E27FC236}">
                <a16:creationId xmlns:a16="http://schemas.microsoft.com/office/drawing/2014/main" id="{D33851AB-B1C8-7467-BB99-EF485C6411B1}"/>
              </a:ext>
            </a:extLst>
          </p:cNvPr>
          <p:cNvSpPr/>
          <p:nvPr/>
        </p:nvSpPr>
        <p:spPr>
          <a:xfrm>
            <a:off x="6631500" y="3868534"/>
            <a:ext cx="2539828" cy="605091"/>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324000" lvl="1" indent="-216000">
              <a:buClr>
                <a:schemeClr val="tx2"/>
              </a:buClr>
              <a:buFont typeface="Trebuchet MS" panose="020B0603020202020204" pitchFamily="34" charset="0"/>
              <a:buChar char="•"/>
            </a:pPr>
            <a:r>
              <a:rPr lang="zh-TW" altLang="en-US" sz="1200">
                <a:solidFill>
                  <a:schemeClr val="tx1"/>
                </a:solidFill>
              </a:rPr>
              <a:t>與數位團隊共同討論經營策略</a:t>
            </a:r>
            <a:endParaRPr lang="en-US" altLang="zh-TW" sz="1200">
              <a:solidFill>
                <a:schemeClr val="tx1"/>
              </a:solidFill>
            </a:endParaRPr>
          </a:p>
          <a:p>
            <a:pPr marL="324000" lvl="1" indent="-216000">
              <a:buClr>
                <a:schemeClr val="tx2"/>
              </a:buClr>
              <a:buFont typeface="Trebuchet MS" panose="020B0603020202020204" pitchFamily="34" charset="0"/>
              <a:buChar char="•"/>
            </a:pPr>
            <a:r>
              <a:rPr lang="zh-TW" altLang="en-US" sz="1200">
                <a:solidFill>
                  <a:schemeClr val="tx1"/>
                </a:solidFill>
              </a:rPr>
              <a:t>負責產品條件及優惠設計，確保產品符合各管道市場需求</a:t>
            </a:r>
            <a:endParaRPr lang="en-US" sz="1200">
              <a:solidFill>
                <a:schemeClr val="tx1"/>
              </a:solidFill>
            </a:endParaRPr>
          </a:p>
        </p:txBody>
      </p:sp>
      <p:sp>
        <p:nvSpPr>
          <p:cNvPr id="132" name="Rectangle 131">
            <a:extLst>
              <a:ext uri="{FF2B5EF4-FFF2-40B4-BE49-F238E27FC236}">
                <a16:creationId xmlns:a16="http://schemas.microsoft.com/office/drawing/2014/main" id="{040CAF8C-22E6-DFA2-CE76-2EA587801FE8}"/>
              </a:ext>
            </a:extLst>
          </p:cNvPr>
          <p:cNvSpPr/>
          <p:nvPr/>
        </p:nvSpPr>
        <p:spPr>
          <a:xfrm>
            <a:off x="9213011" y="3913194"/>
            <a:ext cx="2183100" cy="605090"/>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349200">
              <a:buClr>
                <a:schemeClr val="tx2"/>
              </a:buClr>
            </a:pPr>
            <a:r>
              <a:rPr lang="zh-TW" altLang="en-US" sz="1200">
                <a:solidFill>
                  <a:schemeClr val="tx1"/>
                </a:solidFill>
              </a:rPr>
              <a:t>產品</a:t>
            </a:r>
            <a:r>
              <a:rPr lang="en-US" altLang="zh-TW" sz="1200" err="1">
                <a:solidFill>
                  <a:schemeClr val="tx1"/>
                </a:solidFill>
              </a:rPr>
              <a:t>P&amp;L</a:t>
            </a:r>
            <a:r>
              <a:rPr lang="zh-TW" altLang="en-US" sz="1200">
                <a:solidFill>
                  <a:schemeClr val="tx1"/>
                </a:solidFill>
              </a:rPr>
              <a:t>、產品下單數、產品轉換率 </a:t>
            </a:r>
            <a:r>
              <a:rPr lang="en-US" altLang="zh-TW" sz="1200">
                <a:solidFill>
                  <a:schemeClr val="tx1"/>
                </a:solidFill>
              </a:rPr>
              <a:t>(</a:t>
            </a:r>
            <a:r>
              <a:rPr lang="zh-TW" altLang="en-US" sz="1200">
                <a:solidFill>
                  <a:schemeClr val="tx1"/>
                </a:solidFill>
              </a:rPr>
              <a:t>推播到點擊、點擊到購買</a:t>
            </a:r>
            <a:r>
              <a:rPr lang="en-US" altLang="zh-TW" sz="1200">
                <a:solidFill>
                  <a:schemeClr val="tx1"/>
                </a:solidFill>
              </a:rPr>
              <a:t>)</a:t>
            </a:r>
            <a:endParaRPr lang="en-US" sz="1200">
              <a:solidFill>
                <a:schemeClr val="tx1"/>
              </a:solidFill>
            </a:endParaRPr>
          </a:p>
        </p:txBody>
      </p:sp>
      <p:sp>
        <p:nvSpPr>
          <p:cNvPr id="133" name="Rectangle 132">
            <a:extLst>
              <a:ext uri="{FF2B5EF4-FFF2-40B4-BE49-F238E27FC236}">
                <a16:creationId xmlns:a16="http://schemas.microsoft.com/office/drawing/2014/main" id="{E8072D23-F26C-C15F-F69D-1955ECB57648}"/>
              </a:ext>
            </a:extLst>
          </p:cNvPr>
          <p:cNvSpPr/>
          <p:nvPr/>
        </p:nvSpPr>
        <p:spPr>
          <a:xfrm>
            <a:off x="6618614" y="4625166"/>
            <a:ext cx="2539828" cy="605091"/>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324000" lvl="1" indent="-216000">
              <a:buClr>
                <a:schemeClr val="tx2"/>
              </a:buClr>
              <a:buFont typeface="Trebuchet MS" panose="020B0603020202020204" pitchFamily="34" charset="0"/>
              <a:buChar char="•"/>
            </a:pPr>
            <a:r>
              <a:rPr lang="zh-TW" altLang="en-US" sz="1200">
                <a:solidFill>
                  <a:schemeClr val="tx1"/>
                </a:solidFill>
              </a:rPr>
              <a:t>負責數據分析和數據管理，將行銷活動成效反饋給業務團隊並輸入至模型當中</a:t>
            </a:r>
            <a:endParaRPr lang="en-US" sz="1200">
              <a:solidFill>
                <a:schemeClr val="tx1"/>
              </a:solidFill>
            </a:endParaRPr>
          </a:p>
        </p:txBody>
      </p:sp>
      <p:sp>
        <p:nvSpPr>
          <p:cNvPr id="134" name="Rectangle 133">
            <a:extLst>
              <a:ext uri="{FF2B5EF4-FFF2-40B4-BE49-F238E27FC236}">
                <a16:creationId xmlns:a16="http://schemas.microsoft.com/office/drawing/2014/main" id="{EB8C1CF5-89C6-5DC5-1569-D80232D384BA}"/>
              </a:ext>
            </a:extLst>
          </p:cNvPr>
          <p:cNvSpPr/>
          <p:nvPr/>
        </p:nvSpPr>
        <p:spPr>
          <a:xfrm>
            <a:off x="9213011" y="4625166"/>
            <a:ext cx="2183100" cy="448995"/>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349200">
              <a:buClr>
                <a:schemeClr val="tx2"/>
              </a:buClr>
            </a:pPr>
            <a:r>
              <a:rPr lang="zh-TW" altLang="en-US" sz="1200">
                <a:solidFill>
                  <a:schemeClr val="tx1"/>
                </a:solidFill>
              </a:rPr>
              <a:t>數據準確性、數據分析速度、個性化推薦準確率</a:t>
            </a:r>
            <a:endParaRPr lang="en-US" sz="1200">
              <a:solidFill>
                <a:schemeClr val="tx1"/>
              </a:solidFill>
            </a:endParaRPr>
          </a:p>
        </p:txBody>
      </p:sp>
      <p:cxnSp>
        <p:nvCxnSpPr>
          <p:cNvPr id="136" name="Straight Connector 135">
            <a:extLst>
              <a:ext uri="{FF2B5EF4-FFF2-40B4-BE49-F238E27FC236}">
                <a16:creationId xmlns:a16="http://schemas.microsoft.com/office/drawing/2014/main" id="{BDDF2E17-DBF2-B496-EF22-C06CBEA6F95B}"/>
              </a:ext>
            </a:extLst>
          </p:cNvPr>
          <p:cNvCxnSpPr/>
          <p:nvPr/>
        </p:nvCxnSpPr>
        <p:spPr>
          <a:xfrm>
            <a:off x="6253516" y="3797908"/>
            <a:ext cx="5072433" cy="0"/>
          </a:xfrm>
          <a:prstGeom prst="line">
            <a:avLst/>
          </a:prstGeom>
          <a:ln w="9525" cap="rnd" cmpd="sng" algn="ctr">
            <a:solidFill>
              <a:srgbClr val="9A9A9A"/>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0A165CC1-6112-4B50-7D42-CA7FC16E9158}"/>
              </a:ext>
            </a:extLst>
          </p:cNvPr>
          <p:cNvCxnSpPr/>
          <p:nvPr/>
        </p:nvCxnSpPr>
        <p:spPr>
          <a:xfrm>
            <a:off x="6253516" y="4601008"/>
            <a:ext cx="5072433" cy="0"/>
          </a:xfrm>
          <a:prstGeom prst="line">
            <a:avLst/>
          </a:prstGeom>
          <a:ln w="9525" cap="rnd" cmpd="sng" algn="ctr">
            <a:solidFill>
              <a:srgbClr val="9A9A9A"/>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8" name="Rectangle 137">
            <a:extLst>
              <a:ext uri="{FF2B5EF4-FFF2-40B4-BE49-F238E27FC236}">
                <a16:creationId xmlns:a16="http://schemas.microsoft.com/office/drawing/2014/main" id="{D86F9946-E385-8F2C-ECDB-1211B9BEF8A9}"/>
              </a:ext>
            </a:extLst>
          </p:cNvPr>
          <p:cNvSpPr/>
          <p:nvPr/>
        </p:nvSpPr>
        <p:spPr>
          <a:xfrm>
            <a:off x="1197039" y="2805772"/>
            <a:ext cx="510619" cy="165100"/>
          </a:xfrm>
          <a:prstGeom prst="rect">
            <a:avLst/>
          </a:prstGeom>
          <a:solidFill>
            <a:srgbClr val="C9E7CA"/>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200" b="1">
                <a:solidFill>
                  <a:srgbClr val="575757"/>
                </a:solidFill>
              </a:rPr>
              <a:t>單位</a:t>
            </a:r>
            <a:endParaRPr lang="en-US" sz="1200" b="1">
              <a:solidFill>
                <a:srgbClr val="575757"/>
              </a:solidFill>
            </a:endParaRPr>
          </a:p>
        </p:txBody>
      </p:sp>
      <p:sp>
        <p:nvSpPr>
          <p:cNvPr id="139" name="Rectangle 138">
            <a:extLst>
              <a:ext uri="{FF2B5EF4-FFF2-40B4-BE49-F238E27FC236}">
                <a16:creationId xmlns:a16="http://schemas.microsoft.com/office/drawing/2014/main" id="{36C7695D-A7B3-3F84-96C7-EC39FC6468AA}"/>
              </a:ext>
            </a:extLst>
          </p:cNvPr>
          <p:cNvSpPr/>
          <p:nvPr/>
        </p:nvSpPr>
        <p:spPr>
          <a:xfrm>
            <a:off x="6253516" y="2805772"/>
            <a:ext cx="510619" cy="165100"/>
          </a:xfrm>
          <a:prstGeom prst="rect">
            <a:avLst/>
          </a:prstGeom>
          <a:solidFill>
            <a:srgbClr val="C9E7CA"/>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200" b="1">
                <a:solidFill>
                  <a:srgbClr val="575757"/>
                </a:solidFill>
              </a:rPr>
              <a:t>單位</a:t>
            </a:r>
            <a:endParaRPr lang="en-US" sz="1200" b="1">
              <a:solidFill>
                <a:srgbClr val="575757"/>
              </a:solidFill>
            </a:endParaRPr>
          </a:p>
        </p:txBody>
      </p:sp>
      <p:cxnSp>
        <p:nvCxnSpPr>
          <p:cNvPr id="140" name="Straight Connector 139">
            <a:extLst>
              <a:ext uri="{FF2B5EF4-FFF2-40B4-BE49-F238E27FC236}">
                <a16:creationId xmlns:a16="http://schemas.microsoft.com/office/drawing/2014/main" id="{C3D02C1D-DE45-31FD-7E66-4AFA2DFC8465}"/>
              </a:ext>
            </a:extLst>
          </p:cNvPr>
          <p:cNvCxnSpPr/>
          <p:nvPr/>
        </p:nvCxnSpPr>
        <p:spPr>
          <a:xfrm>
            <a:off x="6253516" y="5223932"/>
            <a:ext cx="5072433" cy="0"/>
          </a:xfrm>
          <a:prstGeom prst="line">
            <a:avLst/>
          </a:prstGeom>
          <a:ln w="9525" cap="rnd" cmpd="sng" algn="ctr">
            <a:solidFill>
              <a:srgbClr val="9A9A9A"/>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1" name="Rectangle 140">
            <a:extLst>
              <a:ext uri="{FF2B5EF4-FFF2-40B4-BE49-F238E27FC236}">
                <a16:creationId xmlns:a16="http://schemas.microsoft.com/office/drawing/2014/main" id="{1F3F934A-8162-519C-93DD-BA60D55C2285}"/>
              </a:ext>
            </a:extLst>
          </p:cNvPr>
          <p:cNvSpPr/>
          <p:nvPr/>
        </p:nvSpPr>
        <p:spPr>
          <a:xfrm>
            <a:off x="6246641" y="5559539"/>
            <a:ext cx="4789659" cy="223469"/>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349200">
              <a:buClr>
                <a:schemeClr val="tx2"/>
              </a:buClr>
            </a:pPr>
            <a:r>
              <a:rPr lang="zh-TW" altLang="en-US" sz="1200">
                <a:solidFill>
                  <a:schemeClr val="tx1"/>
                </a:solidFill>
              </a:rPr>
              <a:t>無須額外投入人力資源，就現有團隊配置進行調配</a:t>
            </a:r>
            <a:endParaRPr lang="en-US" sz="1200">
              <a:solidFill>
                <a:schemeClr val="tx1"/>
              </a:solidFill>
            </a:endParaRPr>
          </a:p>
        </p:txBody>
      </p:sp>
      <p:sp>
        <p:nvSpPr>
          <p:cNvPr id="142" name="Rectangle 141">
            <a:extLst>
              <a:ext uri="{FF2B5EF4-FFF2-40B4-BE49-F238E27FC236}">
                <a16:creationId xmlns:a16="http://schemas.microsoft.com/office/drawing/2014/main" id="{183CD1DB-3E0A-2BC0-962E-7F4874054F64}"/>
              </a:ext>
            </a:extLst>
          </p:cNvPr>
          <p:cNvSpPr/>
          <p:nvPr/>
        </p:nvSpPr>
        <p:spPr>
          <a:xfrm>
            <a:off x="6246641" y="5941226"/>
            <a:ext cx="4789659" cy="223469"/>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349200">
              <a:buClr>
                <a:schemeClr val="tx2"/>
              </a:buClr>
            </a:pPr>
            <a:r>
              <a:rPr lang="zh-TW" altLang="en-US" sz="1200">
                <a:solidFill>
                  <a:schemeClr val="tx1"/>
                </a:solidFill>
              </a:rPr>
              <a:t>數位團隊需作為主導團隊，因須同步確保數位旅程順暢，客群制定策略可能不如專責團隊細緻、即時</a:t>
            </a:r>
            <a:endParaRPr lang="en-US" sz="1200">
              <a:solidFill>
                <a:schemeClr val="tx1"/>
              </a:solidFill>
            </a:endParaRPr>
          </a:p>
        </p:txBody>
      </p:sp>
      <p:sp>
        <p:nvSpPr>
          <p:cNvPr id="143" name="Textfeld 1">
            <a:extLst>
              <a:ext uri="{FF2B5EF4-FFF2-40B4-BE49-F238E27FC236}">
                <a16:creationId xmlns:a16="http://schemas.microsoft.com/office/drawing/2014/main" id="{CD2BE443-5647-CD71-227D-559906FC1300}"/>
              </a:ext>
            </a:extLst>
          </p:cNvPr>
          <p:cNvSpPr txBox="1"/>
          <p:nvPr>
            <p:custDataLst>
              <p:tags r:id="rId4"/>
            </p:custDataLst>
          </p:nvPr>
        </p:nvSpPr>
        <p:spPr>
          <a:xfrm>
            <a:off x="4603930" y="1217031"/>
            <a:ext cx="3053389" cy="892552"/>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zh-TW" altLang="en-US" sz="1200" b="1">
                <a:solidFill>
                  <a:srgbClr val="575757"/>
                </a:solidFill>
                <a:sym typeface="Trebuchet MS" panose="020B0603020202020204" pitchFamily="34" charset="0"/>
              </a:rPr>
              <a:t>現在的數位經營 團隊各自腳色</a:t>
            </a:r>
            <a:endParaRPr lang="en-US" altLang="zh-TW" sz="1200" b="1">
              <a:solidFill>
                <a:srgbClr val="575757"/>
              </a:solidFill>
              <a:sym typeface="Trebuchet MS" panose="020B0603020202020204" pitchFamily="34" charset="0"/>
            </a:endParaRPr>
          </a:p>
          <a:p>
            <a:pPr marL="228600" indent="-228600">
              <a:lnSpc>
                <a:spcPct val="90000"/>
              </a:lnSpc>
              <a:spcAft>
                <a:spcPts val="600"/>
              </a:spcAft>
              <a:buAutoNum type="arabicPeriod"/>
            </a:pPr>
            <a:r>
              <a:rPr lang="zh-TW" altLang="en-US" sz="1200" b="1">
                <a:solidFill>
                  <a:srgbClr val="575757"/>
                </a:solidFill>
                <a:sym typeface="Trebuchet MS" panose="020B0603020202020204" pitchFamily="34" charset="0"/>
              </a:rPr>
              <a:t>專職團隊去做 </a:t>
            </a:r>
            <a:r>
              <a:rPr lang="en-US" altLang="zh-TW" sz="1200" b="1">
                <a:solidFill>
                  <a:srgbClr val="575757"/>
                </a:solidFill>
                <a:sym typeface="Trebuchet MS" panose="020B0603020202020204" pitchFamily="34" charset="0"/>
              </a:rPr>
              <a:t>(</a:t>
            </a:r>
            <a:r>
              <a:rPr lang="en-US" altLang="zh-TW" sz="1200" b="1" err="1">
                <a:solidFill>
                  <a:srgbClr val="575757"/>
                </a:solidFill>
                <a:sym typeface="Trebuchet MS" panose="020B0603020202020204" pitchFamily="34" charset="0"/>
              </a:rPr>
              <a:t>richart</a:t>
            </a:r>
            <a:r>
              <a:rPr lang="en-US" altLang="zh-TW" sz="1200" b="1">
                <a:solidFill>
                  <a:srgbClr val="575757"/>
                </a:solidFill>
                <a:sym typeface="Trebuchet MS" panose="020B0603020202020204" pitchFamily="34" charset="0"/>
              </a:rPr>
              <a:t>)</a:t>
            </a:r>
            <a:r>
              <a:rPr lang="zh-TW" altLang="en-US" sz="1200" b="1">
                <a:solidFill>
                  <a:srgbClr val="575757"/>
                </a:solidFill>
                <a:sym typeface="Trebuchet MS" panose="020B0603020202020204" pitchFamily="34" charset="0"/>
              </a:rPr>
              <a:t> </a:t>
            </a:r>
            <a:r>
              <a:rPr lang="en-US" altLang="zh-TW" sz="1200" b="1">
                <a:solidFill>
                  <a:srgbClr val="575757"/>
                </a:solidFill>
                <a:sym typeface="Trebuchet MS" panose="020B0603020202020204" pitchFamily="34" charset="0"/>
              </a:rPr>
              <a:t>– end goal</a:t>
            </a:r>
          </a:p>
          <a:p>
            <a:pPr marL="228600" indent="-228600">
              <a:lnSpc>
                <a:spcPct val="90000"/>
              </a:lnSpc>
              <a:spcAft>
                <a:spcPts val="600"/>
              </a:spcAft>
              <a:buAutoNum type="arabicPeriod"/>
            </a:pPr>
            <a:r>
              <a:rPr lang="zh-TW" altLang="en-US" sz="1200" b="1">
                <a:solidFill>
                  <a:srgbClr val="575757"/>
                </a:solidFill>
                <a:sym typeface="Trebuchet MS" panose="020B0603020202020204" pitchFamily="34" charset="0"/>
              </a:rPr>
              <a:t>擴大職責  </a:t>
            </a:r>
            <a:r>
              <a:rPr lang="en-US" altLang="zh-TW" sz="1200" b="1">
                <a:solidFill>
                  <a:srgbClr val="575757"/>
                </a:solidFill>
                <a:sym typeface="Trebuchet MS" panose="020B0603020202020204" pitchFamily="34" charset="0"/>
              </a:rPr>
              <a:t>(others) </a:t>
            </a:r>
            <a:r>
              <a:rPr lang="zh-TW" altLang="en-US" sz="1200" b="1">
                <a:solidFill>
                  <a:srgbClr val="575757"/>
                </a:solidFill>
                <a:sym typeface="Trebuchet MS" panose="020B0603020202020204" pitchFamily="34" charset="0"/>
              </a:rPr>
              <a:t>既有客群經營 </a:t>
            </a:r>
            <a:r>
              <a:rPr lang="en-US" altLang="zh-TW" sz="1200" b="1">
                <a:solidFill>
                  <a:srgbClr val="575757"/>
                </a:solidFill>
                <a:sym typeface="Trebuchet MS" panose="020B0603020202020204" pitchFamily="34" charset="0"/>
              </a:rPr>
              <a:t>or</a:t>
            </a:r>
            <a:r>
              <a:rPr lang="zh-TW" altLang="en-US" sz="1200" b="1">
                <a:solidFill>
                  <a:srgbClr val="575757"/>
                </a:solidFill>
                <a:sym typeface="Trebuchet MS" panose="020B0603020202020204" pitchFamily="34" charset="0"/>
              </a:rPr>
              <a:t> 數位團隊</a:t>
            </a:r>
            <a:endParaRPr lang="en-US" sz="1200" b="1">
              <a:solidFill>
                <a:srgbClr val="575757"/>
              </a:solidFill>
              <a:sym typeface="Trebuchet MS" panose="020B0603020202020204" pitchFamily="34" charset="0"/>
            </a:endParaRPr>
          </a:p>
        </p:txBody>
      </p:sp>
      <p:sp>
        <p:nvSpPr>
          <p:cNvPr id="28" name="Textfeld 1">
            <a:extLst>
              <a:ext uri="{FF2B5EF4-FFF2-40B4-BE49-F238E27FC236}">
                <a16:creationId xmlns:a16="http://schemas.microsoft.com/office/drawing/2014/main" id="{34F75260-F239-FAD7-E4BF-E9D116AB87E2}"/>
              </a:ext>
            </a:extLst>
          </p:cNvPr>
          <p:cNvSpPr txBox="1"/>
          <p:nvPr>
            <p:custDataLst>
              <p:tags r:id="rId5"/>
            </p:custDataLst>
          </p:nvPr>
        </p:nvSpPr>
        <p:spPr>
          <a:xfrm>
            <a:off x="-4416252" y="993286"/>
            <a:ext cx="3407569" cy="6355586"/>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en-US" sz="1200" b="1">
                <a:solidFill>
                  <a:srgbClr val="575757"/>
                </a:solidFill>
                <a:sym typeface="Trebuchet MS" panose="020B0603020202020204" pitchFamily="34" charset="0"/>
              </a:rPr>
              <a:t>TM 24.Jun.24:
</a:t>
            </a:r>
            <a:r>
              <a:rPr lang="zh-TW" altLang="en-US" sz="1200" b="1">
                <a:solidFill>
                  <a:srgbClr val="575757"/>
                </a:solidFill>
                <a:sym typeface="Trebuchet MS" panose="020B0603020202020204" pitchFamily="34" charset="0"/>
              </a:rPr>
              <a:t>凱基現況挑戰</a:t>
            </a:r>
            <a:r>
              <a:rPr lang="en-US" altLang="zh-TW" sz="1200" b="1">
                <a:solidFill>
                  <a:srgbClr val="575757"/>
                </a:solidFill>
                <a:sym typeface="Trebuchet MS" panose="020B0603020202020204" pitchFamily="34" charset="0"/>
              </a:rPr>
              <a:t>:</a:t>
            </a:r>
            <a:r>
              <a:rPr lang="zh-TW" altLang="en-US" sz="1200" b="1">
                <a:solidFill>
                  <a:srgbClr val="575757"/>
                </a:solidFill>
                <a:sym typeface="Trebuchet MS" panose="020B0603020202020204" pitchFamily="34" charset="0"/>
              </a:rPr>
              <a:t> 缺乏以客戶為中心的數位經營模式</a:t>
            </a:r>
            <a:endParaRPr lang="en-US" altLang="zh-TW" sz="1200" b="1">
              <a:solidFill>
                <a:srgbClr val="575757"/>
              </a:solidFill>
              <a:sym typeface="Trebuchet MS" panose="020B0603020202020204" pitchFamily="34" charset="0"/>
            </a:endParaRPr>
          </a:p>
          <a:p>
            <a:pPr>
              <a:lnSpc>
                <a:spcPct val="90000"/>
              </a:lnSpc>
              <a:spcAft>
                <a:spcPts val="600"/>
              </a:spcAft>
            </a:pPr>
            <a:endParaRPr lang="en-US" altLang="zh-TW" sz="1200" b="1">
              <a:solidFill>
                <a:srgbClr val="575757"/>
              </a:solidFill>
              <a:sym typeface="Trebuchet MS" panose="020B0603020202020204" pitchFamily="34" charset="0"/>
            </a:endParaRPr>
          </a:p>
          <a:p>
            <a:pPr>
              <a:lnSpc>
                <a:spcPct val="90000"/>
              </a:lnSpc>
              <a:spcAft>
                <a:spcPts val="600"/>
              </a:spcAft>
            </a:pPr>
            <a:r>
              <a:rPr lang="en-US" altLang="zh-TW" sz="1200" b="1">
                <a:solidFill>
                  <a:srgbClr val="575757"/>
                </a:solidFill>
                <a:sym typeface="Trebuchet MS" panose="020B0603020202020204" pitchFamily="34" charset="0"/>
              </a:rPr>
              <a:t>1. </a:t>
            </a:r>
            <a:r>
              <a:rPr lang="zh-TW" altLang="en-US" sz="1200" b="1">
                <a:solidFill>
                  <a:srgbClr val="575757"/>
                </a:solidFill>
                <a:sym typeface="Trebuchet MS" panose="020B0603020202020204" pitchFamily="34" charset="0"/>
              </a:rPr>
              <a:t>各部門沒有數位客群的</a:t>
            </a:r>
            <a:r>
              <a:rPr lang="en-US" altLang="zh-TW" sz="1200" b="1">
                <a:solidFill>
                  <a:srgbClr val="575757"/>
                </a:solidFill>
                <a:sym typeface="Trebuchet MS" panose="020B0603020202020204" pitchFamily="34" charset="0"/>
              </a:rPr>
              <a:t>job scope</a:t>
            </a:r>
          </a:p>
          <a:p>
            <a:pPr marL="628650" lvl="1" indent="-171450">
              <a:lnSpc>
                <a:spcPct val="90000"/>
              </a:lnSpc>
              <a:spcAft>
                <a:spcPts val="600"/>
              </a:spcAft>
              <a:buFontTx/>
              <a:buChar char="-"/>
            </a:pPr>
            <a:r>
              <a:rPr lang="en-US" altLang="zh-TW" sz="1200" b="1">
                <a:solidFill>
                  <a:srgbClr val="575757"/>
                </a:solidFill>
                <a:sym typeface="Trebuchet MS" panose="020B0603020202020204" pitchFamily="34" charset="0"/>
              </a:rPr>
              <a:t>PM</a:t>
            </a:r>
            <a:r>
              <a:rPr lang="zh-TW" altLang="en-US" sz="1200" b="1">
                <a:solidFill>
                  <a:srgbClr val="575757"/>
                </a:solidFill>
                <a:sym typeface="Trebuchet MS" panose="020B0603020202020204" pitchFamily="34" charset="0"/>
              </a:rPr>
              <a:t>沒有分線上線下產品去設計</a:t>
            </a:r>
            <a:r>
              <a:rPr lang="en-US" altLang="zh-TW" sz="1200" b="1">
                <a:solidFill>
                  <a:srgbClr val="575757"/>
                </a:solidFill>
                <a:sym typeface="Trebuchet MS" panose="020B0603020202020204" pitchFamily="34" charset="0"/>
              </a:rPr>
              <a:t>, </a:t>
            </a:r>
            <a:r>
              <a:rPr lang="zh-TW" altLang="en-US" sz="1200" b="1">
                <a:solidFill>
                  <a:srgbClr val="575757"/>
                </a:solidFill>
                <a:sym typeface="Trebuchet MS" panose="020B0603020202020204" pitchFamily="34" charset="0"/>
              </a:rPr>
              <a:t>缺乏數位經營思維</a:t>
            </a:r>
            <a:endParaRPr lang="en-US" altLang="zh-TW" sz="1200" b="1">
              <a:solidFill>
                <a:srgbClr val="575757"/>
              </a:solidFill>
              <a:sym typeface="Trebuchet MS" panose="020B0603020202020204" pitchFamily="34" charset="0"/>
            </a:endParaRPr>
          </a:p>
          <a:p>
            <a:pPr marL="628650" lvl="1" indent="-171450">
              <a:lnSpc>
                <a:spcPct val="90000"/>
              </a:lnSpc>
              <a:spcAft>
                <a:spcPts val="600"/>
              </a:spcAft>
              <a:buFontTx/>
              <a:buChar char="-"/>
            </a:pPr>
            <a:r>
              <a:rPr lang="zh-TW" altLang="en-US" sz="1200" b="1">
                <a:solidFill>
                  <a:srgbClr val="575757"/>
                </a:solidFill>
                <a:sym typeface="Trebuchet MS" panose="020B0603020202020204" pitchFamily="34" charset="0"/>
              </a:rPr>
              <a:t>數位團隊</a:t>
            </a:r>
            <a:r>
              <a:rPr lang="en-US" altLang="zh-TW" sz="1200" b="1">
                <a:solidFill>
                  <a:srgbClr val="575757"/>
                </a:solidFill>
                <a:sym typeface="Trebuchet MS" panose="020B0603020202020204" pitchFamily="34" charset="0"/>
              </a:rPr>
              <a:t>only act as business analyst (</a:t>
            </a:r>
            <a:r>
              <a:rPr lang="zh-TW" altLang="en-US" sz="1200" b="1">
                <a:solidFill>
                  <a:srgbClr val="575757"/>
                </a:solidFill>
                <a:sym typeface="Trebuchet MS" panose="020B0603020202020204" pitchFamily="34" charset="0"/>
              </a:rPr>
              <a:t>只收業管單位的需求</a:t>
            </a:r>
            <a:r>
              <a:rPr lang="en-US" altLang="zh-TW" sz="1200" b="1">
                <a:solidFill>
                  <a:srgbClr val="575757"/>
                </a:solidFill>
                <a:sym typeface="Trebuchet MS" panose="020B0603020202020204" pitchFamily="34" charset="0"/>
              </a:rPr>
              <a:t>, </a:t>
            </a:r>
            <a:r>
              <a:rPr lang="zh-TW" altLang="en-US" sz="1200" b="1">
                <a:solidFill>
                  <a:srgbClr val="575757"/>
                </a:solidFill>
                <a:sym typeface="Trebuchet MS" panose="020B0603020202020204" pitchFamily="34" charset="0"/>
              </a:rPr>
              <a:t>只</a:t>
            </a:r>
            <a:r>
              <a:rPr lang="en-US" altLang="zh-TW" sz="1200" b="1">
                <a:solidFill>
                  <a:srgbClr val="575757"/>
                </a:solidFill>
                <a:sym typeface="Trebuchet MS" panose="020B0603020202020204" pitchFamily="34" charset="0"/>
              </a:rPr>
              <a:t>track</a:t>
            </a:r>
            <a:r>
              <a:rPr lang="zh-TW" altLang="en-US" sz="1200" b="1">
                <a:solidFill>
                  <a:srgbClr val="575757"/>
                </a:solidFill>
                <a:sym typeface="Trebuchet MS" panose="020B0603020202020204" pitchFamily="34" charset="0"/>
              </a:rPr>
              <a:t>客戶線上</a:t>
            </a:r>
            <a:r>
              <a:rPr lang="en-US" altLang="zh-TW" sz="1200" b="1">
                <a:solidFill>
                  <a:srgbClr val="575757"/>
                </a:solidFill>
                <a:sym typeface="Trebuchet MS" panose="020B0603020202020204" pitchFamily="34" charset="0"/>
              </a:rPr>
              <a:t>activation)</a:t>
            </a:r>
          </a:p>
          <a:p>
            <a:pPr marL="628650" lvl="1" indent="-171450">
              <a:lnSpc>
                <a:spcPct val="90000"/>
              </a:lnSpc>
              <a:spcAft>
                <a:spcPts val="600"/>
              </a:spcAft>
              <a:buFontTx/>
              <a:buChar char="-"/>
            </a:pPr>
            <a:r>
              <a:rPr lang="zh-TW" altLang="en-US" sz="1200" b="1">
                <a:solidFill>
                  <a:srgbClr val="575757"/>
                </a:solidFill>
                <a:sym typeface="Trebuchet MS" panose="020B0603020202020204" pitchFamily="34" charset="0"/>
              </a:rPr>
              <a:t>數據</a:t>
            </a:r>
            <a:r>
              <a:rPr lang="en-US" altLang="zh-TW" sz="1200" b="1">
                <a:solidFill>
                  <a:srgbClr val="575757"/>
                </a:solidFill>
                <a:sym typeface="Trebuchet MS" panose="020B0603020202020204" pitchFamily="34" charset="0"/>
              </a:rPr>
              <a:t>team </a:t>
            </a:r>
            <a:r>
              <a:rPr lang="zh-TW" altLang="en-US" sz="1200" b="1">
                <a:solidFill>
                  <a:srgbClr val="575757"/>
                </a:solidFill>
                <a:sym typeface="Trebuchet MS" panose="020B0603020202020204" pitchFamily="34" charset="0"/>
              </a:rPr>
              <a:t>大多是</a:t>
            </a:r>
            <a:r>
              <a:rPr lang="en-US" altLang="zh-TW" sz="1200" b="1">
                <a:solidFill>
                  <a:srgbClr val="575757"/>
                </a:solidFill>
                <a:sym typeface="Trebuchet MS" panose="020B0603020202020204" pitchFamily="34" charset="0"/>
              </a:rPr>
              <a:t>reactive;</a:t>
            </a:r>
            <a:r>
              <a:rPr lang="zh-TW" altLang="en-US" sz="1200" b="1">
                <a:solidFill>
                  <a:srgbClr val="575757"/>
                </a:solidFill>
                <a:sym typeface="Trebuchet MS" panose="020B0603020202020204" pitchFamily="34" charset="0"/>
              </a:rPr>
              <a:t> 產品想要跑數位行銷</a:t>
            </a:r>
            <a:r>
              <a:rPr lang="en-US" altLang="zh-TW" sz="1200" b="1">
                <a:solidFill>
                  <a:srgbClr val="575757"/>
                </a:solidFill>
                <a:sym typeface="Trebuchet MS" panose="020B0603020202020204" pitchFamily="34" charset="0"/>
              </a:rPr>
              <a:t>campaign</a:t>
            </a:r>
            <a:r>
              <a:rPr lang="zh-TW" altLang="en-US" sz="1200" b="1">
                <a:solidFill>
                  <a:srgbClr val="575757"/>
                </a:solidFill>
                <a:sym typeface="Trebuchet MS" panose="020B0603020202020204" pitchFamily="34" charset="0"/>
              </a:rPr>
              <a:t>的時候才會去撈</a:t>
            </a:r>
            <a:r>
              <a:rPr lang="en-US" altLang="zh-TW" sz="1200" b="1">
                <a:solidFill>
                  <a:srgbClr val="575757"/>
                </a:solidFill>
                <a:sym typeface="Trebuchet MS" panose="020B0603020202020204" pitchFamily="34" charset="0"/>
              </a:rPr>
              <a:t>rule-based </a:t>
            </a:r>
            <a:r>
              <a:rPr lang="zh-TW" altLang="en-US" sz="1200" b="1">
                <a:solidFill>
                  <a:srgbClr val="575757"/>
                </a:solidFill>
                <a:sym typeface="Trebuchet MS" panose="020B0603020202020204" pitchFamily="34" charset="0"/>
              </a:rPr>
              <a:t>的名單</a:t>
            </a:r>
            <a:endParaRPr lang="en-US" altLang="zh-TW" sz="1200" b="1">
              <a:solidFill>
                <a:srgbClr val="575757"/>
              </a:solidFill>
              <a:sym typeface="Trebuchet MS" panose="020B0603020202020204" pitchFamily="34" charset="0"/>
            </a:endParaRPr>
          </a:p>
          <a:p>
            <a:pPr>
              <a:lnSpc>
                <a:spcPct val="90000"/>
              </a:lnSpc>
              <a:spcAft>
                <a:spcPts val="600"/>
              </a:spcAft>
            </a:pPr>
            <a:endParaRPr lang="en-US" altLang="zh-TW" sz="1200" b="1">
              <a:solidFill>
                <a:srgbClr val="575757"/>
              </a:solidFill>
              <a:sym typeface="Trebuchet MS" panose="020B0603020202020204" pitchFamily="34" charset="0"/>
            </a:endParaRPr>
          </a:p>
          <a:p>
            <a:pPr>
              <a:lnSpc>
                <a:spcPct val="90000"/>
              </a:lnSpc>
              <a:spcAft>
                <a:spcPts val="600"/>
              </a:spcAft>
            </a:pPr>
            <a:r>
              <a:rPr lang="en-US" altLang="zh-TW" sz="1200" b="1">
                <a:solidFill>
                  <a:srgbClr val="575757"/>
                </a:solidFill>
                <a:sym typeface="Trebuchet MS" panose="020B0603020202020204" pitchFamily="34" charset="0"/>
              </a:rPr>
              <a:t>2. </a:t>
            </a:r>
            <a:r>
              <a:rPr lang="zh-TW" altLang="en-US" sz="1200" b="1">
                <a:solidFill>
                  <a:srgbClr val="575757"/>
                </a:solidFill>
                <a:sym typeface="Trebuchet MS" panose="020B0603020202020204" pitchFamily="34" charset="0"/>
              </a:rPr>
              <a:t>缺乏跨部門共通的數位經營</a:t>
            </a:r>
            <a:r>
              <a:rPr lang="en-US" altLang="zh-TW" sz="1200" b="1" err="1">
                <a:solidFill>
                  <a:srgbClr val="575757"/>
                </a:solidFill>
                <a:sym typeface="Trebuchet MS" panose="020B0603020202020204" pitchFamily="34" charset="0"/>
              </a:rPr>
              <a:t>KPI</a:t>
            </a:r>
            <a:r>
              <a:rPr lang="en-US" altLang="zh-TW" sz="1200" b="1">
                <a:solidFill>
                  <a:srgbClr val="575757"/>
                </a:solidFill>
                <a:sym typeface="Trebuchet MS" panose="020B0603020202020204" pitchFamily="34" charset="0"/>
              </a:rPr>
              <a:t>; </a:t>
            </a:r>
            <a:r>
              <a:rPr lang="zh-TW" altLang="en-US" sz="1200" b="1">
                <a:solidFill>
                  <a:srgbClr val="575757"/>
                </a:solidFill>
                <a:sym typeface="Trebuchet MS" panose="020B0603020202020204" pitchFamily="34" charset="0"/>
              </a:rPr>
              <a:t>各自看不同的指標 </a:t>
            </a:r>
            <a:r>
              <a:rPr lang="en-US" altLang="zh-TW" sz="1200" b="1">
                <a:solidFill>
                  <a:srgbClr val="575757"/>
                </a:solidFill>
                <a:sym typeface="Trebuchet MS" panose="020B0603020202020204" pitchFamily="34" charset="0"/>
              </a:rPr>
              <a:t>(</a:t>
            </a:r>
            <a:r>
              <a:rPr lang="zh-TW" altLang="en-US" sz="1200" b="1">
                <a:solidFill>
                  <a:srgbClr val="575757"/>
                </a:solidFill>
                <a:sym typeface="Trebuchet MS" panose="020B0603020202020204" pitchFamily="34" charset="0"/>
              </a:rPr>
              <a:t>如</a:t>
            </a:r>
            <a:r>
              <a:rPr lang="en-US" altLang="zh-TW" sz="1200" b="1">
                <a:solidFill>
                  <a:srgbClr val="575757"/>
                </a:solidFill>
                <a:sym typeface="Trebuchet MS" panose="020B0603020202020204" pitchFamily="34" charset="0"/>
              </a:rPr>
              <a:t>: </a:t>
            </a:r>
            <a:r>
              <a:rPr lang="zh-TW" altLang="en-US" sz="1200" b="1">
                <a:solidFill>
                  <a:srgbClr val="575757"/>
                </a:solidFill>
                <a:sym typeface="Trebuchet MS" panose="020B0603020202020204" pitchFamily="34" charset="0"/>
              </a:rPr>
              <a:t>數位只看線上</a:t>
            </a:r>
            <a:r>
              <a:rPr lang="en-US" altLang="zh-TW" sz="1200" b="1">
                <a:solidFill>
                  <a:srgbClr val="575757"/>
                </a:solidFill>
                <a:sym typeface="Trebuchet MS" panose="020B0603020202020204" pitchFamily="34" charset="0"/>
              </a:rPr>
              <a:t>activation; </a:t>
            </a:r>
            <a:r>
              <a:rPr lang="zh-TW" altLang="en-US" sz="1200" b="1">
                <a:solidFill>
                  <a:srgbClr val="575757"/>
                </a:solidFill>
                <a:sym typeface="Trebuchet MS" panose="020B0603020202020204" pitchFamily="34" charset="0"/>
              </a:rPr>
              <a:t>產品只看自己產品的交易狀況</a:t>
            </a:r>
            <a:r>
              <a:rPr lang="en-US" altLang="zh-TW" sz="1200" b="1">
                <a:solidFill>
                  <a:srgbClr val="575757"/>
                </a:solidFill>
                <a:sym typeface="Trebuchet MS" panose="020B0603020202020204" pitchFamily="34" charset="0"/>
              </a:rPr>
              <a:t>)</a:t>
            </a:r>
          </a:p>
          <a:p>
            <a:pPr>
              <a:lnSpc>
                <a:spcPct val="90000"/>
              </a:lnSpc>
              <a:spcAft>
                <a:spcPts val="600"/>
              </a:spcAft>
            </a:pPr>
            <a:endParaRPr lang="en-US" altLang="zh-TW" sz="1200" b="1">
              <a:solidFill>
                <a:srgbClr val="575757"/>
              </a:solidFill>
              <a:sym typeface="Trebuchet MS" panose="020B0603020202020204" pitchFamily="34" charset="0"/>
            </a:endParaRPr>
          </a:p>
          <a:p>
            <a:pPr>
              <a:lnSpc>
                <a:spcPct val="90000"/>
              </a:lnSpc>
              <a:spcAft>
                <a:spcPts val="600"/>
              </a:spcAft>
            </a:pPr>
            <a:r>
              <a:rPr lang="en-US" altLang="zh-TW" sz="1200" b="1">
                <a:solidFill>
                  <a:srgbClr val="575757"/>
                </a:solidFill>
                <a:sym typeface="Trebuchet MS" panose="020B0603020202020204" pitchFamily="34" charset="0"/>
              </a:rPr>
              <a:t>3. </a:t>
            </a:r>
            <a:r>
              <a:rPr lang="zh-TW" altLang="en-US" sz="1200" b="1">
                <a:solidFill>
                  <a:srgbClr val="575757"/>
                </a:solidFill>
                <a:sym typeface="Trebuchet MS" panose="020B0603020202020204" pitchFamily="34" charset="0"/>
              </a:rPr>
              <a:t>缺乏主</a:t>
            </a:r>
            <a:r>
              <a:rPr lang="en-US" altLang="zh-TW" sz="1200" b="1">
                <a:solidFill>
                  <a:srgbClr val="575757"/>
                </a:solidFill>
                <a:sym typeface="Trebuchet MS" panose="020B0603020202020204" pitchFamily="34" charset="0"/>
              </a:rPr>
              <a:t>owner, </a:t>
            </a:r>
            <a:r>
              <a:rPr lang="zh-TW" altLang="en-US" sz="1200" b="1">
                <a:solidFill>
                  <a:srgbClr val="575757"/>
                </a:solidFill>
                <a:sym typeface="Trebuchet MS" panose="020B0603020202020204" pitchFamily="34" charset="0"/>
              </a:rPr>
              <a:t>沒有端到端去設計客戶線上體驗</a:t>
            </a:r>
            <a:endParaRPr lang="en-US" altLang="zh-TW" sz="1200" b="1">
              <a:solidFill>
                <a:srgbClr val="575757"/>
              </a:solidFill>
              <a:sym typeface="Trebuchet MS" panose="020B0603020202020204" pitchFamily="34" charset="0"/>
            </a:endParaRPr>
          </a:p>
          <a:p>
            <a:pPr marL="628650" lvl="1" indent="-171450">
              <a:lnSpc>
                <a:spcPct val="90000"/>
              </a:lnSpc>
              <a:spcAft>
                <a:spcPts val="600"/>
              </a:spcAft>
              <a:buFontTx/>
              <a:buChar char="-"/>
            </a:pPr>
            <a:r>
              <a:rPr lang="zh-TW" altLang="en-US" sz="1200" b="1">
                <a:solidFill>
                  <a:srgbClr val="575757"/>
                </a:solidFill>
                <a:sym typeface="Trebuchet MS" panose="020B0603020202020204" pitchFamily="34" charset="0"/>
              </a:rPr>
              <a:t>多數數位行銷活動都是單點</a:t>
            </a:r>
            <a:r>
              <a:rPr lang="en-US" altLang="zh-TW" sz="1200" b="1">
                <a:solidFill>
                  <a:srgbClr val="575757"/>
                </a:solidFill>
                <a:sym typeface="Trebuchet MS" panose="020B0603020202020204" pitchFamily="34" charset="0"/>
              </a:rPr>
              <a:t>/ product-push; </a:t>
            </a:r>
            <a:r>
              <a:rPr lang="zh-TW" altLang="en-US" sz="1200" b="1">
                <a:solidFill>
                  <a:srgbClr val="575757"/>
                </a:solidFill>
                <a:sym typeface="Trebuchet MS" panose="020B0603020202020204" pitchFamily="34" charset="0"/>
              </a:rPr>
              <a:t>各自缺乏協調</a:t>
            </a:r>
            <a:endParaRPr lang="en-US" altLang="zh-TW" sz="1200" b="1">
              <a:solidFill>
                <a:srgbClr val="575757"/>
              </a:solidFill>
              <a:sym typeface="Trebuchet MS" panose="020B0603020202020204" pitchFamily="34" charset="0"/>
            </a:endParaRPr>
          </a:p>
          <a:p>
            <a:pPr marL="628650" lvl="1" indent="-171450">
              <a:lnSpc>
                <a:spcPct val="90000"/>
              </a:lnSpc>
              <a:spcAft>
                <a:spcPts val="600"/>
              </a:spcAft>
              <a:buFontTx/>
              <a:buChar char="-"/>
            </a:pPr>
            <a:r>
              <a:rPr lang="zh-TW" altLang="en-US" sz="1200" b="1">
                <a:solidFill>
                  <a:srgbClr val="575757"/>
                </a:solidFill>
                <a:sym typeface="Trebuchet MS" panose="020B0603020202020204" pitchFamily="34" charset="0"/>
              </a:rPr>
              <a:t>無人追蹤與管理客戶端到端線上銷售</a:t>
            </a:r>
            <a:r>
              <a:rPr lang="en-US" altLang="zh-TW" sz="1200" b="1">
                <a:solidFill>
                  <a:srgbClr val="575757"/>
                </a:solidFill>
                <a:sym typeface="Trebuchet MS" panose="020B0603020202020204" pitchFamily="34" charset="0"/>
              </a:rPr>
              <a:t> activity(</a:t>
            </a:r>
            <a:r>
              <a:rPr lang="zh-TW" altLang="en-US" sz="1200" b="1">
                <a:solidFill>
                  <a:srgbClr val="575757"/>
                </a:solidFill>
                <a:sym typeface="Trebuchet MS" panose="020B0603020202020204" pitchFamily="34" charset="0"/>
              </a:rPr>
              <a:t>如</a:t>
            </a:r>
            <a:r>
              <a:rPr lang="en-US" altLang="zh-TW" sz="1200" b="1">
                <a:solidFill>
                  <a:srgbClr val="575757"/>
                </a:solidFill>
                <a:sym typeface="Trebuchet MS" panose="020B0603020202020204" pitchFamily="34" charset="0"/>
              </a:rPr>
              <a:t>:</a:t>
            </a:r>
            <a:r>
              <a:rPr lang="zh-TW" altLang="en-US" sz="1200" b="1">
                <a:solidFill>
                  <a:srgbClr val="575757"/>
                </a:solidFill>
                <a:sym typeface="Trebuchet MS" panose="020B0603020202020204" pitchFamily="34" charset="0"/>
              </a:rPr>
              <a:t> 通過線上的申購的產品數量</a:t>
            </a:r>
            <a:r>
              <a:rPr lang="en-US" altLang="zh-TW" sz="1200" b="1">
                <a:solidFill>
                  <a:srgbClr val="575757"/>
                </a:solidFill>
                <a:sym typeface="Trebuchet MS" panose="020B0603020202020204" pitchFamily="34" charset="0"/>
              </a:rPr>
              <a:t>)</a:t>
            </a:r>
          </a:p>
          <a:p>
            <a:pPr marL="628650" lvl="1" indent="-171450">
              <a:lnSpc>
                <a:spcPct val="90000"/>
              </a:lnSpc>
              <a:spcAft>
                <a:spcPts val="600"/>
              </a:spcAft>
              <a:buFontTx/>
              <a:buChar char="-"/>
            </a:pPr>
            <a:endParaRPr lang="en-US" altLang="zh-TW" sz="1200" b="1">
              <a:solidFill>
                <a:srgbClr val="575757"/>
              </a:solidFill>
              <a:sym typeface="Trebuchet MS" panose="020B0603020202020204" pitchFamily="34" charset="0"/>
            </a:endParaRPr>
          </a:p>
          <a:p>
            <a:pPr marL="628650" lvl="1" indent="-171450">
              <a:lnSpc>
                <a:spcPct val="90000"/>
              </a:lnSpc>
              <a:spcAft>
                <a:spcPts val="600"/>
              </a:spcAft>
              <a:buFontTx/>
              <a:buChar char="-"/>
            </a:pPr>
            <a:endParaRPr lang="en-US" altLang="zh-TW" sz="1200" b="1">
              <a:solidFill>
                <a:srgbClr val="575757"/>
              </a:solidFill>
              <a:sym typeface="Trebuchet MS" panose="020B0603020202020204" pitchFamily="34" charset="0"/>
            </a:endParaRPr>
          </a:p>
          <a:p>
            <a:pPr>
              <a:lnSpc>
                <a:spcPct val="90000"/>
              </a:lnSpc>
              <a:spcAft>
                <a:spcPts val="600"/>
              </a:spcAft>
            </a:pPr>
            <a:r>
              <a:rPr lang="en-US" altLang="zh-TW" sz="1200" b="1">
                <a:solidFill>
                  <a:srgbClr val="575757"/>
                </a:solidFill>
                <a:sym typeface="Trebuchet MS" panose="020B0603020202020204" pitchFamily="34" charset="0"/>
              </a:rPr>
              <a:t>Take-away</a:t>
            </a:r>
          </a:p>
          <a:p>
            <a:pPr marL="228600" indent="-228600">
              <a:lnSpc>
                <a:spcPct val="90000"/>
              </a:lnSpc>
              <a:spcAft>
                <a:spcPts val="600"/>
              </a:spcAft>
              <a:buAutoNum type="arabicPeriod"/>
            </a:pPr>
            <a:r>
              <a:rPr lang="zh-TW" altLang="en-US" sz="1200" b="1">
                <a:solidFill>
                  <a:srgbClr val="575757"/>
                </a:solidFill>
                <a:sym typeface="Trebuchet MS" panose="020B0603020202020204" pitchFamily="34" charset="0"/>
              </a:rPr>
              <a:t>明確各自的職責</a:t>
            </a:r>
            <a:r>
              <a:rPr lang="en-US" altLang="zh-TW" sz="1200" b="1">
                <a:solidFill>
                  <a:srgbClr val="575757"/>
                </a:solidFill>
                <a:sym typeface="Trebuchet MS" panose="020B0603020202020204" pitchFamily="34" charset="0"/>
              </a:rPr>
              <a:t>, </a:t>
            </a:r>
            <a:r>
              <a:rPr lang="zh-TW" altLang="en-US" sz="1200" b="1">
                <a:solidFill>
                  <a:srgbClr val="575757"/>
                </a:solidFill>
                <a:sym typeface="Trebuchet MS" panose="020B0603020202020204" pitchFamily="34" charset="0"/>
              </a:rPr>
              <a:t>加入數位經營</a:t>
            </a:r>
            <a:r>
              <a:rPr lang="en-US" altLang="zh-TW" sz="1200" b="1">
                <a:solidFill>
                  <a:srgbClr val="575757"/>
                </a:solidFill>
                <a:sym typeface="Trebuchet MS" panose="020B0603020202020204" pitchFamily="34" charset="0"/>
              </a:rPr>
              <a:t>scope</a:t>
            </a:r>
          </a:p>
          <a:p>
            <a:pPr marL="228600" indent="-228600">
              <a:lnSpc>
                <a:spcPct val="90000"/>
              </a:lnSpc>
              <a:spcAft>
                <a:spcPts val="600"/>
              </a:spcAft>
              <a:buAutoNum type="arabicPeriod"/>
            </a:pPr>
            <a:r>
              <a:rPr lang="zh-TW" altLang="en-US" sz="1200" b="1">
                <a:solidFill>
                  <a:srgbClr val="575757"/>
                </a:solidFill>
                <a:sym typeface="Trebuchet MS" panose="020B0603020202020204" pitchFamily="34" charset="0"/>
              </a:rPr>
              <a:t>設立共同</a:t>
            </a:r>
            <a:r>
              <a:rPr lang="en-US" altLang="zh-TW" sz="1200" b="1">
                <a:solidFill>
                  <a:srgbClr val="575757"/>
                </a:solidFill>
                <a:sym typeface="Trebuchet MS" panose="020B0603020202020204" pitchFamily="34" charset="0"/>
              </a:rPr>
              <a:t>/role-specific</a:t>
            </a:r>
            <a:r>
              <a:rPr lang="zh-TW" altLang="en-US" sz="1200" b="1">
                <a:solidFill>
                  <a:srgbClr val="575757"/>
                </a:solidFill>
                <a:sym typeface="Trebuchet MS" panose="020B0603020202020204" pitchFamily="34" charset="0"/>
              </a:rPr>
              <a:t> 數位</a:t>
            </a:r>
            <a:r>
              <a:rPr lang="en-US" altLang="zh-TW" sz="1200" b="1" err="1">
                <a:solidFill>
                  <a:srgbClr val="575757"/>
                </a:solidFill>
                <a:sym typeface="Trebuchet MS" panose="020B0603020202020204" pitchFamily="34" charset="0"/>
              </a:rPr>
              <a:t>KPI</a:t>
            </a:r>
            <a:endParaRPr lang="en-US" altLang="zh-TW" sz="1200" b="1">
              <a:solidFill>
                <a:srgbClr val="575757"/>
              </a:solidFill>
              <a:sym typeface="Trebuchet MS" panose="020B0603020202020204" pitchFamily="34" charset="0"/>
            </a:endParaRPr>
          </a:p>
          <a:p>
            <a:pPr marL="228600" indent="-228600">
              <a:lnSpc>
                <a:spcPct val="90000"/>
              </a:lnSpc>
              <a:spcAft>
                <a:spcPts val="600"/>
              </a:spcAft>
              <a:buAutoNum type="arabicPeriod"/>
            </a:pPr>
            <a:r>
              <a:rPr lang="zh-TW" altLang="en-US" sz="1200" b="1">
                <a:solidFill>
                  <a:srgbClr val="575757"/>
                </a:solidFill>
                <a:sym typeface="Trebuchet MS" panose="020B0603020202020204" pitchFamily="34" charset="0"/>
              </a:rPr>
              <a:t>主責單位負責帶領 </a:t>
            </a:r>
            <a:endParaRPr lang="en-US" altLang="zh-TW" sz="1200" b="1">
              <a:solidFill>
                <a:srgbClr val="575757"/>
              </a:solidFill>
              <a:sym typeface="Trebuchet MS" panose="020B0603020202020204" pitchFamily="34" charset="0"/>
            </a:endParaRPr>
          </a:p>
        </p:txBody>
      </p:sp>
      <p:sp>
        <p:nvSpPr>
          <p:cNvPr id="29" name="Textfeld 1">
            <a:extLst>
              <a:ext uri="{FF2B5EF4-FFF2-40B4-BE49-F238E27FC236}">
                <a16:creationId xmlns:a16="http://schemas.microsoft.com/office/drawing/2014/main" id="{5176E0B1-17AF-3036-5F7C-F37CCA419A25}"/>
              </a:ext>
            </a:extLst>
          </p:cNvPr>
          <p:cNvSpPr txBox="1"/>
          <p:nvPr>
            <p:custDataLst>
              <p:tags r:id="rId6"/>
            </p:custDataLst>
          </p:nvPr>
        </p:nvSpPr>
        <p:spPr>
          <a:xfrm>
            <a:off x="4584923" y="3257588"/>
            <a:ext cx="1668593" cy="406265"/>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zh-TW" altLang="en-US" sz="1200" b="1">
                <a:solidFill>
                  <a:srgbClr val="575757"/>
                </a:solidFill>
                <a:sym typeface="Trebuchet MS" panose="020B0603020202020204" pitchFamily="34" charset="0"/>
              </a:rPr>
              <a:t>數位客戶的下單比例</a:t>
            </a:r>
            <a:r>
              <a:rPr lang="en-US" altLang="zh-TW" sz="1200" b="1">
                <a:solidFill>
                  <a:srgbClr val="575757"/>
                </a:solidFill>
                <a:sym typeface="Trebuchet MS" panose="020B0603020202020204" pitchFamily="34" charset="0"/>
              </a:rPr>
              <a:t>/ </a:t>
            </a:r>
            <a:r>
              <a:rPr lang="zh-TW" altLang="en-US" sz="1200" b="1">
                <a:solidFill>
                  <a:srgbClr val="575757"/>
                </a:solidFill>
                <a:sym typeface="Trebuchet MS" panose="020B0603020202020204" pitchFamily="34" charset="0"/>
              </a:rPr>
              <a:t>轉化率</a:t>
            </a:r>
            <a:endParaRPr lang="en-US" altLang="zh-TW" sz="1200" b="1">
              <a:solidFill>
                <a:srgbClr val="575757"/>
              </a:solidFill>
              <a:sym typeface="Trebuchet MS" panose="020B0603020202020204" pitchFamily="34" charset="0"/>
            </a:endParaRPr>
          </a:p>
        </p:txBody>
      </p:sp>
      <p:sp>
        <p:nvSpPr>
          <p:cNvPr id="30" name="Textfeld 1">
            <a:extLst>
              <a:ext uri="{FF2B5EF4-FFF2-40B4-BE49-F238E27FC236}">
                <a16:creationId xmlns:a16="http://schemas.microsoft.com/office/drawing/2014/main" id="{3A9FDA7A-10E3-D609-558C-279932D40EEA}"/>
              </a:ext>
            </a:extLst>
          </p:cNvPr>
          <p:cNvSpPr txBox="1"/>
          <p:nvPr>
            <p:custDataLst>
              <p:tags r:id="rId7"/>
            </p:custDataLst>
          </p:nvPr>
        </p:nvSpPr>
        <p:spPr>
          <a:xfrm>
            <a:off x="4529339" y="4700046"/>
            <a:ext cx="1668593" cy="240066"/>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zh-TW" altLang="en-US" sz="1200" b="1">
                <a:solidFill>
                  <a:srgbClr val="575757"/>
                </a:solidFill>
                <a:sym typeface="Trebuchet MS" panose="020B0603020202020204" pitchFamily="34" charset="0"/>
              </a:rPr>
              <a:t>數位產品</a:t>
            </a:r>
            <a:r>
              <a:rPr lang="en-US" altLang="zh-TW" sz="1200" b="1" err="1">
                <a:solidFill>
                  <a:srgbClr val="575757"/>
                </a:solidFill>
                <a:sym typeface="Trebuchet MS" panose="020B0603020202020204" pitchFamily="34" charset="0"/>
              </a:rPr>
              <a:t>P&amp;L</a:t>
            </a:r>
            <a:endParaRPr lang="en-US" altLang="zh-TW" sz="1200" b="1">
              <a:solidFill>
                <a:srgbClr val="575757"/>
              </a:solidFill>
              <a:sym typeface="Trebuchet MS" panose="020B0603020202020204" pitchFamily="34" charset="0"/>
            </a:endParaRPr>
          </a:p>
        </p:txBody>
      </p:sp>
      <p:sp>
        <p:nvSpPr>
          <p:cNvPr id="146" name="Textfeld 1">
            <a:extLst>
              <a:ext uri="{FF2B5EF4-FFF2-40B4-BE49-F238E27FC236}">
                <a16:creationId xmlns:a16="http://schemas.microsoft.com/office/drawing/2014/main" id="{E827C700-8CBC-A076-6413-FF518BEA832F}"/>
              </a:ext>
            </a:extLst>
          </p:cNvPr>
          <p:cNvSpPr txBox="1"/>
          <p:nvPr>
            <p:custDataLst>
              <p:tags r:id="rId8"/>
            </p:custDataLst>
          </p:nvPr>
        </p:nvSpPr>
        <p:spPr>
          <a:xfrm rot="600000">
            <a:off x="9374400" y="434667"/>
            <a:ext cx="2516400" cy="295466"/>
          </a:xfrm>
          <a:prstGeom prst="rect">
            <a:avLst/>
          </a:prstGeom>
          <a:pattFill>
            <a:fgClr>
              <a:srgbClr val="4D4D4D"/>
            </a:fgClr>
            <a:bgClr>
              <a:srgbClr val="4D4D4D"/>
            </a:bgClr>
          </a:pattFill>
          <a:ln w="9525" cap="rnd">
            <a:solidFill>
              <a:srgbClr val="575757"/>
            </a:solidFill>
            <a:prstDash val="solid"/>
          </a:ln>
        </p:spPr>
        <p:txBody>
          <a:bodyPr vert="horz" wrap="square" lIns="36576" tIns="36576" rIns="36576" bIns="36576" rtlCol="0" anchor="t">
            <a:spAutoFit/>
          </a:bodyPr>
          <a:lstStyle/>
          <a:p>
            <a:pPr algn="ctr">
              <a:lnSpc>
                <a:spcPct val="90000"/>
              </a:lnSpc>
              <a:spcAft>
                <a:spcPts val="600"/>
              </a:spcAft>
            </a:pPr>
            <a:r>
              <a:rPr lang="en-US" sz="1600" b="1">
                <a:solidFill>
                  <a:srgbClr val="FFFFFF"/>
                </a:solidFill>
                <a:sym typeface="Trebuchet MS" panose="020B0603020202020204" pitchFamily="34" charset="0"/>
              </a:rPr>
              <a:t>OUTDATED</a:t>
            </a:r>
          </a:p>
        </p:txBody>
      </p:sp>
      <p:cxnSp>
        <p:nvCxnSpPr>
          <p:cNvPr id="35" name="Straight Connector 34">
            <a:extLst>
              <a:ext uri="{FF2B5EF4-FFF2-40B4-BE49-F238E27FC236}">
                <a16:creationId xmlns:a16="http://schemas.microsoft.com/office/drawing/2014/main" id="{F06FFBA5-5DA0-7C05-7B50-681DADF294CD}"/>
              </a:ext>
            </a:extLst>
          </p:cNvPr>
          <p:cNvCxnSpPr/>
          <p:nvPr/>
        </p:nvCxnSpPr>
        <p:spPr>
          <a:xfrm flipV="1">
            <a:off x="0" y="46567"/>
            <a:ext cx="12149667" cy="6735233"/>
          </a:xfrm>
          <a:prstGeom prst="line">
            <a:avLst/>
          </a:prstGeom>
          <a:ln w="9525" cap="rnd">
            <a:solidFill>
              <a:schemeClr val="tx1">
                <a:lumMod val="60000"/>
                <a:lumOff val="40000"/>
              </a:schemeClr>
            </a:solidFill>
            <a:prstDash val="solid"/>
            <a:roun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0418527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 name="think-cell data - do not delete" hidden="1">
            <a:extLst>
              <a:ext uri="{FF2B5EF4-FFF2-40B4-BE49-F238E27FC236}">
                <a16:creationId xmlns:a16="http://schemas.microsoft.com/office/drawing/2014/main" id="{1A733275-6D13-3EB5-0C0A-0D7E2917B358}"/>
              </a:ext>
            </a:extLst>
          </p:cNvPr>
          <p:cNvGraphicFramePr>
            <a:graphicFrameLocks noChangeAspect="1"/>
          </p:cNvGraphicFramePr>
          <p:nvPr>
            <p:custDataLst>
              <p:tags r:id="rId1"/>
            </p:custDataLst>
            <p:extLst>
              <p:ext uri="{D42A27DB-BD31-4B8C-83A1-F6EECF244321}">
                <p14:modId xmlns:p14="http://schemas.microsoft.com/office/powerpoint/2010/main" val="27393802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404" imgH="405" progId="TCLayout.ActiveDocument.1">
                  <p:embed/>
                </p:oleObj>
              </mc:Choice>
              <mc:Fallback>
                <p:oleObj name="think-cell Slide" r:id="rId5" imgW="404" imgH="405" progId="TCLayout.ActiveDocument.1">
                  <p:embed/>
                  <p:pic>
                    <p:nvPicPr>
                      <p:cNvPr id="83" name="think-cell data - do not delete" hidden="1">
                        <a:extLst>
                          <a:ext uri="{FF2B5EF4-FFF2-40B4-BE49-F238E27FC236}">
                            <a16:creationId xmlns:a16="http://schemas.microsoft.com/office/drawing/2014/main" id="{1A733275-6D13-3EB5-0C0A-0D7E2917B358}"/>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14" name="Rectangle 13">
            <a:extLst>
              <a:ext uri="{FF2B5EF4-FFF2-40B4-BE49-F238E27FC236}">
                <a16:creationId xmlns:a16="http://schemas.microsoft.com/office/drawing/2014/main" id="{DBD24138-5505-BA37-4AA1-F3A7E6F6AA4B}"/>
              </a:ext>
            </a:extLst>
          </p:cNvPr>
          <p:cNvSpPr/>
          <p:nvPr/>
        </p:nvSpPr>
        <p:spPr>
          <a:xfrm>
            <a:off x="628650" y="4972877"/>
            <a:ext cx="4568232" cy="1188212"/>
          </a:xfrm>
          <a:prstGeom prst="rect">
            <a:avLst/>
          </a:prstGeom>
          <a:gradFill flip="none" rotWithShape="1">
            <a:gsLst>
              <a:gs pos="0">
                <a:schemeClr val="tx2">
                  <a:alpha val="0"/>
                  <a:lumMod val="34000"/>
                  <a:lumOff val="66000"/>
                </a:schemeClr>
              </a:gs>
              <a:gs pos="100000">
                <a:schemeClr val="tx2">
                  <a:lumMod val="20000"/>
                  <a:lumOff val="80000"/>
                  <a:alpha val="45000"/>
                </a:schemeClr>
              </a:gs>
            </a:gsLst>
            <a:lin ang="10800000" scaled="1"/>
            <a:tileRect/>
          </a:gradFill>
          <a:ln w="28575" cap="rnd" cmpd="sng" algn="ctr">
            <a:gradFill flip="none" rotWithShape="1">
              <a:gsLst>
                <a:gs pos="11000">
                  <a:schemeClr val="tx2">
                    <a:alpha val="0"/>
                  </a:schemeClr>
                </a:gs>
                <a:gs pos="100000">
                  <a:schemeClr val="tx2"/>
                </a:gs>
              </a:gsLst>
              <a:lin ang="10800000" scaled="1"/>
              <a:tileRect/>
            </a:gra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31520" tIns="45720" rIns="91440" bIns="45720" numCol="1" spcCol="0" rtlCol="0" fromWordArt="0" anchor="ctr" anchorCtr="0" forceAA="0" compatLnSpc="1">
            <a:prstTxWarp prst="textNoShape">
              <a:avLst/>
            </a:prstTxWarp>
            <a:noAutofit/>
          </a:bodyPr>
          <a:lstStyle/>
          <a:p>
            <a:pPr algn="ctr"/>
            <a:endParaRPr lang="en-US" b="1">
              <a:solidFill>
                <a:schemeClr val="accent1"/>
              </a:solidFill>
            </a:endParaRPr>
          </a:p>
        </p:txBody>
      </p:sp>
      <p:sp>
        <p:nvSpPr>
          <p:cNvPr id="13" name="Rectangle 12">
            <a:extLst>
              <a:ext uri="{FF2B5EF4-FFF2-40B4-BE49-F238E27FC236}">
                <a16:creationId xmlns:a16="http://schemas.microsoft.com/office/drawing/2014/main" id="{10225114-E8EF-FD90-C46E-BD5039A3FC76}"/>
              </a:ext>
            </a:extLst>
          </p:cNvPr>
          <p:cNvSpPr/>
          <p:nvPr/>
        </p:nvSpPr>
        <p:spPr>
          <a:xfrm>
            <a:off x="628650" y="3521764"/>
            <a:ext cx="4568232" cy="1356695"/>
          </a:xfrm>
          <a:prstGeom prst="rect">
            <a:avLst/>
          </a:prstGeom>
          <a:gradFill flip="none" rotWithShape="1">
            <a:gsLst>
              <a:gs pos="0">
                <a:schemeClr val="tx2">
                  <a:alpha val="0"/>
                  <a:lumMod val="34000"/>
                  <a:lumOff val="66000"/>
                </a:schemeClr>
              </a:gs>
              <a:gs pos="100000">
                <a:schemeClr val="tx2">
                  <a:lumMod val="20000"/>
                  <a:lumOff val="80000"/>
                  <a:alpha val="45000"/>
                </a:schemeClr>
              </a:gs>
            </a:gsLst>
            <a:lin ang="10800000" scaled="1"/>
            <a:tileRect/>
          </a:gradFill>
          <a:ln w="28575" cap="rnd" cmpd="sng" algn="ctr">
            <a:gradFill flip="none" rotWithShape="1">
              <a:gsLst>
                <a:gs pos="11000">
                  <a:schemeClr val="tx2">
                    <a:alpha val="0"/>
                  </a:schemeClr>
                </a:gs>
                <a:gs pos="100000">
                  <a:schemeClr val="tx2"/>
                </a:gs>
              </a:gsLst>
              <a:lin ang="10800000" scaled="1"/>
              <a:tileRect/>
            </a:gra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31520" tIns="45720" rIns="91440" bIns="45720" numCol="1" spcCol="0" rtlCol="0" fromWordArt="0" anchor="ctr" anchorCtr="0" forceAA="0" compatLnSpc="1">
            <a:prstTxWarp prst="textNoShape">
              <a:avLst/>
            </a:prstTxWarp>
            <a:noAutofit/>
          </a:bodyPr>
          <a:lstStyle/>
          <a:p>
            <a:pPr algn="ctr"/>
            <a:endParaRPr lang="en-US" b="1">
              <a:solidFill>
                <a:schemeClr val="accent1"/>
              </a:solidFill>
            </a:endParaRPr>
          </a:p>
        </p:txBody>
      </p:sp>
      <p:sp>
        <p:nvSpPr>
          <p:cNvPr id="12" name="Rectangle 11">
            <a:extLst>
              <a:ext uri="{FF2B5EF4-FFF2-40B4-BE49-F238E27FC236}">
                <a16:creationId xmlns:a16="http://schemas.microsoft.com/office/drawing/2014/main" id="{D1A3D06C-982A-C269-57A7-0B9F56144989}"/>
              </a:ext>
            </a:extLst>
          </p:cNvPr>
          <p:cNvSpPr/>
          <p:nvPr/>
        </p:nvSpPr>
        <p:spPr>
          <a:xfrm>
            <a:off x="628650" y="2060076"/>
            <a:ext cx="4568232" cy="1368923"/>
          </a:xfrm>
          <a:prstGeom prst="rect">
            <a:avLst/>
          </a:prstGeom>
          <a:gradFill flip="none" rotWithShape="1">
            <a:gsLst>
              <a:gs pos="0">
                <a:schemeClr val="tx2">
                  <a:alpha val="0"/>
                  <a:lumMod val="34000"/>
                  <a:lumOff val="66000"/>
                </a:schemeClr>
              </a:gs>
              <a:gs pos="100000">
                <a:schemeClr val="tx2">
                  <a:lumMod val="20000"/>
                  <a:lumOff val="80000"/>
                  <a:alpha val="45000"/>
                </a:schemeClr>
              </a:gs>
            </a:gsLst>
            <a:lin ang="10800000" scaled="1"/>
            <a:tileRect/>
          </a:gradFill>
          <a:ln w="28575" cap="rnd" cmpd="sng" algn="ctr">
            <a:gradFill flip="none" rotWithShape="1">
              <a:gsLst>
                <a:gs pos="11000">
                  <a:schemeClr val="tx2">
                    <a:alpha val="0"/>
                  </a:schemeClr>
                </a:gs>
                <a:gs pos="100000">
                  <a:schemeClr val="tx2"/>
                </a:gs>
              </a:gsLst>
              <a:lin ang="10800000" scaled="1"/>
              <a:tileRect/>
            </a:gra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31520" tIns="45720" rIns="91440" bIns="45720" numCol="1" spcCol="0" rtlCol="0" fromWordArt="0" anchor="ctr" anchorCtr="0" forceAA="0" compatLnSpc="1">
            <a:prstTxWarp prst="textNoShape">
              <a:avLst/>
            </a:prstTxWarp>
            <a:noAutofit/>
          </a:bodyPr>
          <a:lstStyle/>
          <a:p>
            <a:pPr algn="ctr"/>
            <a:endParaRPr lang="en-US" b="1">
              <a:solidFill>
                <a:schemeClr val="accent1"/>
              </a:solidFill>
            </a:endParaRPr>
          </a:p>
        </p:txBody>
      </p:sp>
      <p:sp>
        <p:nvSpPr>
          <p:cNvPr id="65" name="Rectangle 64">
            <a:extLst>
              <a:ext uri="{FF2B5EF4-FFF2-40B4-BE49-F238E27FC236}">
                <a16:creationId xmlns:a16="http://schemas.microsoft.com/office/drawing/2014/main" id="{B144EF2E-6297-1A87-FC6E-3E604D98DB7E}"/>
              </a:ext>
            </a:extLst>
          </p:cNvPr>
          <p:cNvSpPr/>
          <p:nvPr/>
        </p:nvSpPr>
        <p:spPr>
          <a:xfrm>
            <a:off x="15955565" y="344166"/>
            <a:ext cx="3533908" cy="3922900"/>
          </a:xfrm>
          <a:prstGeom prst="rect">
            <a:avLst/>
          </a:prstGeom>
          <a:solidFill>
            <a:srgbClr val="FFFFFF"/>
          </a:solidFill>
          <a:ln w="9525" cap="rnd" cmpd="sng" algn="ctr">
            <a:noFill/>
            <a:prstDash val="solid"/>
            <a:round/>
            <a:headEnd type="none" w="med" len="med"/>
            <a:tailEnd type="none" w="med" len="med"/>
          </a:ln>
          <a:effectLst>
            <a:outerShdw blurRad="50800" dist="38100" dir="2700000" algn="tl" rotWithShape="0">
              <a:prstClr val="black">
                <a:alpha val="40000"/>
              </a:prstClr>
            </a:outerShdw>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2" name="Title 1">
            <a:extLst>
              <a:ext uri="{FF2B5EF4-FFF2-40B4-BE49-F238E27FC236}">
                <a16:creationId xmlns:a16="http://schemas.microsoft.com/office/drawing/2014/main" id="{1D7648A1-0F17-69D7-236F-523E263023F5}"/>
              </a:ext>
            </a:extLst>
          </p:cNvPr>
          <p:cNvSpPr>
            <a:spLocks noGrp="1"/>
          </p:cNvSpPr>
          <p:nvPr>
            <p:ph type="title"/>
          </p:nvPr>
        </p:nvSpPr>
        <p:spPr>
          <a:xfrm>
            <a:off x="630000" y="622800"/>
            <a:ext cx="10933350" cy="664797"/>
          </a:xfrm>
        </p:spPr>
        <p:txBody>
          <a:bodyPr vert="horz"/>
          <a:lstStyle/>
          <a:p>
            <a:r>
              <a:rPr lang="zh-TW" altLang="en-US">
                <a:ea typeface="Microsoft YaHei" panose="020B0503020204020204" pitchFamily="34" charset="-122"/>
              </a:rPr>
              <a:t>凱基目前缺乏</a:t>
            </a:r>
            <a:r>
              <a:rPr lang="en-US" altLang="zh-TW">
                <a:ea typeface="Microsoft YaHei" panose="020B0503020204020204" pitchFamily="34" charset="-122"/>
              </a:rPr>
              <a:t>M</a:t>
            </a:r>
            <a:r>
              <a:rPr lang="zh-TW" altLang="en-US">
                <a:ea typeface="Microsoft YaHei" panose="020B0503020204020204" pitchFamily="34" charset="-122"/>
              </a:rPr>
              <a:t>客專責經營單位，多為以產品出發的單點活動、尚未端到端設計並管理</a:t>
            </a:r>
            <a:r>
              <a:rPr lang="en-US" altLang="zh-TW">
                <a:ea typeface="Microsoft YaHei" panose="020B0503020204020204" pitchFamily="34" charset="-122"/>
              </a:rPr>
              <a:t>M</a:t>
            </a:r>
            <a:r>
              <a:rPr lang="zh-TW" altLang="en-US">
                <a:ea typeface="Microsoft YaHei" panose="020B0503020204020204" pitchFamily="34" charset="-122"/>
              </a:rPr>
              <a:t>客客戶旅程</a:t>
            </a:r>
            <a:endParaRPr lang="en-US">
              <a:ea typeface="Microsoft YaHei" panose="020B0503020204020204" pitchFamily="34" charset="-122"/>
            </a:endParaRPr>
          </a:p>
        </p:txBody>
      </p:sp>
      <p:cxnSp>
        <p:nvCxnSpPr>
          <p:cNvPr id="140" name="Straight Connector 139">
            <a:extLst>
              <a:ext uri="{FF2B5EF4-FFF2-40B4-BE49-F238E27FC236}">
                <a16:creationId xmlns:a16="http://schemas.microsoft.com/office/drawing/2014/main" id="{C3D02C1D-DE45-31FD-7E66-4AFA2DFC8465}"/>
              </a:ext>
            </a:extLst>
          </p:cNvPr>
          <p:cNvCxnSpPr/>
          <p:nvPr/>
        </p:nvCxnSpPr>
        <p:spPr>
          <a:xfrm>
            <a:off x="19347216" y="4315182"/>
            <a:ext cx="5072433" cy="0"/>
          </a:xfrm>
          <a:prstGeom prst="line">
            <a:avLst/>
          </a:prstGeom>
          <a:ln w="9525" cap="rnd" cmpd="sng" algn="ctr">
            <a:solidFill>
              <a:srgbClr val="9A9A9A"/>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 name="Textfeld 1">
            <a:extLst>
              <a:ext uri="{FF2B5EF4-FFF2-40B4-BE49-F238E27FC236}">
                <a16:creationId xmlns:a16="http://schemas.microsoft.com/office/drawing/2014/main" id="{409B723F-B164-95E5-A7AF-7D5BD2C0CA81}"/>
              </a:ext>
            </a:extLst>
          </p:cNvPr>
          <p:cNvSpPr txBox="1"/>
          <p:nvPr>
            <p:custDataLst>
              <p:tags r:id="rId2"/>
            </p:custDataLst>
          </p:nvPr>
        </p:nvSpPr>
        <p:spPr>
          <a:xfrm>
            <a:off x="-3941577" y="-71958"/>
            <a:ext cx="3407569" cy="6355586"/>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en-US" sz="1200" b="1">
                <a:solidFill>
                  <a:srgbClr val="575757"/>
                </a:solidFill>
                <a:ea typeface="Microsoft YaHei" panose="020B0503020204020204" pitchFamily="34" charset="-122"/>
                <a:sym typeface="Trebuchet MS" panose="020B0603020202020204" pitchFamily="34" charset="0"/>
              </a:rPr>
              <a:t>TM 24.Jun.24:
</a:t>
            </a:r>
            <a:r>
              <a:rPr lang="zh-TW" altLang="en-US" sz="1200" b="1">
                <a:solidFill>
                  <a:srgbClr val="575757"/>
                </a:solidFill>
                <a:ea typeface="Microsoft YaHei" panose="020B0503020204020204" pitchFamily="34" charset="-122"/>
                <a:sym typeface="Trebuchet MS" panose="020B0603020202020204" pitchFamily="34" charset="0"/>
              </a:rPr>
              <a:t>凱基現況挑戰</a:t>
            </a:r>
            <a:r>
              <a:rPr lang="en-US" altLang="zh-TW" sz="1200" b="1">
                <a:solidFill>
                  <a:srgbClr val="575757"/>
                </a:solidFill>
                <a:ea typeface="Microsoft YaHei" panose="020B0503020204020204" pitchFamily="34" charset="-122"/>
                <a:sym typeface="Trebuchet MS" panose="020B0603020202020204" pitchFamily="34" charset="0"/>
              </a:rPr>
              <a:t>:</a:t>
            </a:r>
            <a:r>
              <a:rPr lang="zh-TW" altLang="en-US" sz="1200" b="1">
                <a:solidFill>
                  <a:srgbClr val="575757"/>
                </a:solidFill>
                <a:ea typeface="Microsoft YaHei" panose="020B0503020204020204" pitchFamily="34" charset="-122"/>
                <a:sym typeface="Trebuchet MS" panose="020B0603020202020204" pitchFamily="34" charset="0"/>
              </a:rPr>
              <a:t> 缺乏以客戶為中心的數位經營模式</a:t>
            </a:r>
            <a:endParaRPr lang="en-US" altLang="zh-TW" sz="1200" b="1">
              <a:solidFill>
                <a:srgbClr val="575757"/>
              </a:solidFill>
              <a:ea typeface="Microsoft YaHei" panose="020B0503020204020204" pitchFamily="34" charset="-122"/>
              <a:sym typeface="Trebuchet MS" panose="020B0603020202020204" pitchFamily="34" charset="0"/>
            </a:endParaRPr>
          </a:p>
          <a:p>
            <a:pPr>
              <a:lnSpc>
                <a:spcPct val="90000"/>
              </a:lnSpc>
              <a:spcAft>
                <a:spcPts val="600"/>
              </a:spcAft>
            </a:pPr>
            <a:endParaRPr lang="en-US" altLang="zh-TW" sz="1200" b="1">
              <a:solidFill>
                <a:srgbClr val="575757"/>
              </a:solidFill>
              <a:ea typeface="Microsoft YaHei" panose="020B0503020204020204" pitchFamily="34" charset="-122"/>
              <a:sym typeface="Trebuchet MS" panose="020B0603020202020204" pitchFamily="34" charset="0"/>
            </a:endParaRPr>
          </a:p>
          <a:p>
            <a:pPr>
              <a:lnSpc>
                <a:spcPct val="90000"/>
              </a:lnSpc>
              <a:spcAft>
                <a:spcPts val="600"/>
              </a:spcAft>
            </a:pPr>
            <a:r>
              <a:rPr lang="en-US" altLang="zh-TW" sz="1200" b="1">
                <a:solidFill>
                  <a:srgbClr val="575757"/>
                </a:solidFill>
                <a:ea typeface="Microsoft YaHei" panose="020B0503020204020204" pitchFamily="34" charset="-122"/>
                <a:sym typeface="Trebuchet MS" panose="020B0603020202020204" pitchFamily="34" charset="0"/>
              </a:rPr>
              <a:t>1. </a:t>
            </a:r>
            <a:r>
              <a:rPr lang="zh-TW" altLang="en-US" sz="1200" b="1">
                <a:solidFill>
                  <a:srgbClr val="575757"/>
                </a:solidFill>
                <a:ea typeface="Microsoft YaHei" panose="020B0503020204020204" pitchFamily="34" charset="-122"/>
                <a:sym typeface="Trebuchet MS" panose="020B0603020202020204" pitchFamily="34" charset="0"/>
              </a:rPr>
              <a:t>各部門沒有數位客群的</a:t>
            </a:r>
            <a:r>
              <a:rPr lang="en-US" altLang="zh-TW" sz="1200" b="1">
                <a:solidFill>
                  <a:srgbClr val="575757"/>
                </a:solidFill>
                <a:ea typeface="Microsoft YaHei" panose="020B0503020204020204" pitchFamily="34" charset="-122"/>
                <a:sym typeface="Trebuchet MS" panose="020B0603020202020204" pitchFamily="34" charset="0"/>
              </a:rPr>
              <a:t>job scope</a:t>
            </a:r>
          </a:p>
          <a:p>
            <a:pPr marL="628650" lvl="1" indent="-171450">
              <a:lnSpc>
                <a:spcPct val="90000"/>
              </a:lnSpc>
              <a:spcAft>
                <a:spcPts val="600"/>
              </a:spcAft>
              <a:buFontTx/>
              <a:buChar char="-"/>
            </a:pPr>
            <a:r>
              <a:rPr lang="en-US" altLang="zh-TW" sz="1200" b="1">
                <a:solidFill>
                  <a:srgbClr val="575757"/>
                </a:solidFill>
                <a:ea typeface="Microsoft YaHei" panose="020B0503020204020204" pitchFamily="34" charset="-122"/>
                <a:sym typeface="Trebuchet MS" panose="020B0603020202020204" pitchFamily="34" charset="0"/>
              </a:rPr>
              <a:t>PM</a:t>
            </a:r>
            <a:r>
              <a:rPr lang="zh-TW" altLang="en-US" sz="1200" b="1">
                <a:solidFill>
                  <a:srgbClr val="575757"/>
                </a:solidFill>
                <a:ea typeface="Microsoft YaHei" panose="020B0503020204020204" pitchFamily="34" charset="-122"/>
                <a:sym typeface="Trebuchet MS" panose="020B0603020202020204" pitchFamily="34" charset="0"/>
              </a:rPr>
              <a:t>沒有分線上線下產品去設計</a:t>
            </a:r>
            <a:r>
              <a:rPr lang="en-US" altLang="zh-TW" sz="1200" b="1">
                <a:solidFill>
                  <a:srgbClr val="575757"/>
                </a:solidFill>
                <a:ea typeface="Microsoft YaHei" panose="020B0503020204020204" pitchFamily="34" charset="-122"/>
                <a:sym typeface="Trebuchet MS" panose="020B0603020202020204" pitchFamily="34" charset="0"/>
              </a:rPr>
              <a:t>, </a:t>
            </a:r>
            <a:r>
              <a:rPr lang="zh-TW" altLang="en-US" sz="1200" b="1">
                <a:solidFill>
                  <a:srgbClr val="575757"/>
                </a:solidFill>
                <a:ea typeface="Microsoft YaHei" panose="020B0503020204020204" pitchFamily="34" charset="-122"/>
                <a:sym typeface="Trebuchet MS" panose="020B0603020202020204" pitchFamily="34" charset="0"/>
              </a:rPr>
              <a:t>缺乏數位經營思維</a:t>
            </a:r>
            <a:endParaRPr lang="en-US" altLang="zh-TW" sz="1200" b="1">
              <a:solidFill>
                <a:srgbClr val="575757"/>
              </a:solidFill>
              <a:ea typeface="Microsoft YaHei" panose="020B0503020204020204" pitchFamily="34" charset="-122"/>
              <a:sym typeface="Trebuchet MS" panose="020B0603020202020204" pitchFamily="34" charset="0"/>
            </a:endParaRPr>
          </a:p>
          <a:p>
            <a:pPr marL="628650" lvl="1" indent="-171450">
              <a:lnSpc>
                <a:spcPct val="90000"/>
              </a:lnSpc>
              <a:spcAft>
                <a:spcPts val="600"/>
              </a:spcAft>
              <a:buFontTx/>
              <a:buChar char="-"/>
            </a:pPr>
            <a:r>
              <a:rPr lang="zh-TW" altLang="en-US" sz="1200" b="1">
                <a:solidFill>
                  <a:srgbClr val="575757"/>
                </a:solidFill>
                <a:ea typeface="Microsoft YaHei" panose="020B0503020204020204" pitchFamily="34" charset="-122"/>
                <a:sym typeface="Trebuchet MS" panose="020B0603020202020204" pitchFamily="34" charset="0"/>
              </a:rPr>
              <a:t>數位團隊</a:t>
            </a:r>
            <a:r>
              <a:rPr lang="en-US" altLang="zh-TW" sz="1200" b="1">
                <a:solidFill>
                  <a:srgbClr val="575757"/>
                </a:solidFill>
                <a:ea typeface="Microsoft YaHei" panose="020B0503020204020204" pitchFamily="34" charset="-122"/>
                <a:sym typeface="Trebuchet MS" panose="020B0603020202020204" pitchFamily="34" charset="0"/>
              </a:rPr>
              <a:t>only act as business analyst (</a:t>
            </a:r>
            <a:r>
              <a:rPr lang="zh-TW" altLang="en-US" sz="1200" b="1">
                <a:solidFill>
                  <a:srgbClr val="575757"/>
                </a:solidFill>
                <a:ea typeface="Microsoft YaHei" panose="020B0503020204020204" pitchFamily="34" charset="-122"/>
                <a:sym typeface="Trebuchet MS" panose="020B0603020202020204" pitchFamily="34" charset="0"/>
              </a:rPr>
              <a:t>只收業管單位的需求</a:t>
            </a:r>
            <a:r>
              <a:rPr lang="en-US" altLang="zh-TW" sz="1200" b="1">
                <a:solidFill>
                  <a:srgbClr val="575757"/>
                </a:solidFill>
                <a:ea typeface="Microsoft YaHei" panose="020B0503020204020204" pitchFamily="34" charset="-122"/>
                <a:sym typeface="Trebuchet MS" panose="020B0603020202020204" pitchFamily="34" charset="0"/>
              </a:rPr>
              <a:t>, </a:t>
            </a:r>
            <a:r>
              <a:rPr lang="zh-TW" altLang="en-US" sz="1200" b="1">
                <a:solidFill>
                  <a:srgbClr val="575757"/>
                </a:solidFill>
                <a:ea typeface="Microsoft YaHei" panose="020B0503020204020204" pitchFamily="34" charset="-122"/>
                <a:sym typeface="Trebuchet MS" panose="020B0603020202020204" pitchFamily="34" charset="0"/>
              </a:rPr>
              <a:t>只</a:t>
            </a:r>
            <a:r>
              <a:rPr lang="en-US" altLang="zh-TW" sz="1200" b="1">
                <a:solidFill>
                  <a:srgbClr val="575757"/>
                </a:solidFill>
                <a:ea typeface="Microsoft YaHei" panose="020B0503020204020204" pitchFamily="34" charset="-122"/>
                <a:sym typeface="Trebuchet MS" panose="020B0603020202020204" pitchFamily="34" charset="0"/>
              </a:rPr>
              <a:t>track</a:t>
            </a:r>
            <a:r>
              <a:rPr lang="zh-TW" altLang="en-US" sz="1200" b="1">
                <a:solidFill>
                  <a:srgbClr val="575757"/>
                </a:solidFill>
                <a:ea typeface="Microsoft YaHei" panose="020B0503020204020204" pitchFamily="34" charset="-122"/>
                <a:sym typeface="Trebuchet MS" panose="020B0603020202020204" pitchFamily="34" charset="0"/>
              </a:rPr>
              <a:t>客戶線上</a:t>
            </a:r>
            <a:r>
              <a:rPr lang="en-US" altLang="zh-TW" sz="1200" b="1">
                <a:solidFill>
                  <a:srgbClr val="575757"/>
                </a:solidFill>
                <a:ea typeface="Microsoft YaHei" panose="020B0503020204020204" pitchFamily="34" charset="-122"/>
                <a:sym typeface="Trebuchet MS" panose="020B0603020202020204" pitchFamily="34" charset="0"/>
              </a:rPr>
              <a:t>activation)</a:t>
            </a:r>
          </a:p>
          <a:p>
            <a:pPr marL="628650" lvl="1" indent="-171450">
              <a:lnSpc>
                <a:spcPct val="90000"/>
              </a:lnSpc>
              <a:spcAft>
                <a:spcPts val="600"/>
              </a:spcAft>
              <a:buFontTx/>
              <a:buChar char="-"/>
            </a:pPr>
            <a:r>
              <a:rPr lang="zh-TW" altLang="en-US" sz="1200" b="1">
                <a:solidFill>
                  <a:srgbClr val="575757"/>
                </a:solidFill>
                <a:ea typeface="Microsoft YaHei" panose="020B0503020204020204" pitchFamily="34" charset="-122"/>
                <a:sym typeface="Trebuchet MS" panose="020B0603020202020204" pitchFamily="34" charset="0"/>
              </a:rPr>
              <a:t>數據</a:t>
            </a:r>
            <a:r>
              <a:rPr lang="en-US" altLang="zh-TW" sz="1200" b="1">
                <a:solidFill>
                  <a:srgbClr val="575757"/>
                </a:solidFill>
                <a:ea typeface="Microsoft YaHei" panose="020B0503020204020204" pitchFamily="34" charset="-122"/>
                <a:sym typeface="Trebuchet MS" panose="020B0603020202020204" pitchFamily="34" charset="0"/>
              </a:rPr>
              <a:t>team </a:t>
            </a:r>
            <a:r>
              <a:rPr lang="zh-TW" altLang="en-US" sz="1200" b="1">
                <a:solidFill>
                  <a:srgbClr val="575757"/>
                </a:solidFill>
                <a:ea typeface="Microsoft YaHei" panose="020B0503020204020204" pitchFamily="34" charset="-122"/>
                <a:sym typeface="Trebuchet MS" panose="020B0603020202020204" pitchFamily="34" charset="0"/>
              </a:rPr>
              <a:t>大多是</a:t>
            </a:r>
            <a:r>
              <a:rPr lang="en-US" altLang="zh-TW" sz="1200" b="1">
                <a:solidFill>
                  <a:srgbClr val="575757"/>
                </a:solidFill>
                <a:ea typeface="Microsoft YaHei" panose="020B0503020204020204" pitchFamily="34" charset="-122"/>
                <a:sym typeface="Trebuchet MS" panose="020B0603020202020204" pitchFamily="34" charset="0"/>
              </a:rPr>
              <a:t>reactive;</a:t>
            </a:r>
            <a:r>
              <a:rPr lang="zh-TW" altLang="en-US" sz="1200" b="1">
                <a:solidFill>
                  <a:srgbClr val="575757"/>
                </a:solidFill>
                <a:ea typeface="Microsoft YaHei" panose="020B0503020204020204" pitchFamily="34" charset="-122"/>
                <a:sym typeface="Trebuchet MS" panose="020B0603020202020204" pitchFamily="34" charset="0"/>
              </a:rPr>
              <a:t> 產品想要跑數位行銷</a:t>
            </a:r>
            <a:r>
              <a:rPr lang="en-US" altLang="zh-TW" sz="1200" b="1">
                <a:solidFill>
                  <a:srgbClr val="575757"/>
                </a:solidFill>
                <a:ea typeface="Microsoft YaHei" panose="020B0503020204020204" pitchFamily="34" charset="-122"/>
                <a:sym typeface="Trebuchet MS" panose="020B0603020202020204" pitchFamily="34" charset="0"/>
              </a:rPr>
              <a:t>campaign</a:t>
            </a:r>
            <a:r>
              <a:rPr lang="zh-TW" altLang="en-US" sz="1200" b="1">
                <a:solidFill>
                  <a:srgbClr val="575757"/>
                </a:solidFill>
                <a:ea typeface="Microsoft YaHei" panose="020B0503020204020204" pitchFamily="34" charset="-122"/>
                <a:sym typeface="Trebuchet MS" panose="020B0603020202020204" pitchFamily="34" charset="0"/>
              </a:rPr>
              <a:t>的時候才會去撈</a:t>
            </a:r>
            <a:r>
              <a:rPr lang="en-US" altLang="zh-TW" sz="1200" b="1">
                <a:solidFill>
                  <a:srgbClr val="575757"/>
                </a:solidFill>
                <a:ea typeface="Microsoft YaHei" panose="020B0503020204020204" pitchFamily="34" charset="-122"/>
                <a:sym typeface="Trebuchet MS" panose="020B0603020202020204" pitchFamily="34" charset="0"/>
              </a:rPr>
              <a:t>rule-based </a:t>
            </a:r>
            <a:r>
              <a:rPr lang="zh-TW" altLang="en-US" sz="1200" b="1">
                <a:solidFill>
                  <a:srgbClr val="575757"/>
                </a:solidFill>
                <a:ea typeface="Microsoft YaHei" panose="020B0503020204020204" pitchFamily="34" charset="-122"/>
                <a:sym typeface="Trebuchet MS" panose="020B0603020202020204" pitchFamily="34" charset="0"/>
              </a:rPr>
              <a:t>的名單</a:t>
            </a:r>
            <a:endParaRPr lang="en-US" altLang="zh-TW" sz="1200" b="1">
              <a:solidFill>
                <a:srgbClr val="575757"/>
              </a:solidFill>
              <a:ea typeface="Microsoft YaHei" panose="020B0503020204020204" pitchFamily="34" charset="-122"/>
              <a:sym typeface="Trebuchet MS" panose="020B0603020202020204" pitchFamily="34" charset="0"/>
            </a:endParaRPr>
          </a:p>
          <a:p>
            <a:pPr>
              <a:lnSpc>
                <a:spcPct val="90000"/>
              </a:lnSpc>
              <a:spcAft>
                <a:spcPts val="600"/>
              </a:spcAft>
            </a:pPr>
            <a:endParaRPr lang="en-US" altLang="zh-TW" sz="1200" b="1">
              <a:solidFill>
                <a:srgbClr val="575757"/>
              </a:solidFill>
              <a:ea typeface="Microsoft YaHei" panose="020B0503020204020204" pitchFamily="34" charset="-122"/>
              <a:sym typeface="Trebuchet MS" panose="020B0603020202020204" pitchFamily="34" charset="0"/>
            </a:endParaRPr>
          </a:p>
          <a:p>
            <a:pPr>
              <a:lnSpc>
                <a:spcPct val="90000"/>
              </a:lnSpc>
              <a:spcAft>
                <a:spcPts val="600"/>
              </a:spcAft>
            </a:pPr>
            <a:r>
              <a:rPr lang="en-US" altLang="zh-TW" sz="1200" b="1">
                <a:solidFill>
                  <a:srgbClr val="575757"/>
                </a:solidFill>
                <a:ea typeface="Microsoft YaHei" panose="020B0503020204020204" pitchFamily="34" charset="-122"/>
                <a:sym typeface="Trebuchet MS" panose="020B0603020202020204" pitchFamily="34" charset="0"/>
              </a:rPr>
              <a:t>2. </a:t>
            </a:r>
            <a:r>
              <a:rPr lang="zh-TW" altLang="en-US" sz="1200" b="1">
                <a:solidFill>
                  <a:srgbClr val="575757"/>
                </a:solidFill>
                <a:ea typeface="Microsoft YaHei" panose="020B0503020204020204" pitchFamily="34" charset="-122"/>
                <a:sym typeface="Trebuchet MS" panose="020B0603020202020204" pitchFamily="34" charset="0"/>
              </a:rPr>
              <a:t>缺乏跨部門共通的數位經營</a:t>
            </a:r>
            <a:r>
              <a:rPr lang="en-US" altLang="zh-TW" sz="1200" b="1" err="1">
                <a:solidFill>
                  <a:srgbClr val="575757"/>
                </a:solidFill>
                <a:ea typeface="Microsoft YaHei" panose="020B0503020204020204" pitchFamily="34" charset="-122"/>
                <a:sym typeface="Trebuchet MS" panose="020B0603020202020204" pitchFamily="34" charset="0"/>
              </a:rPr>
              <a:t>KPI</a:t>
            </a:r>
            <a:r>
              <a:rPr lang="en-US" altLang="zh-TW" sz="1200" b="1">
                <a:solidFill>
                  <a:srgbClr val="575757"/>
                </a:solidFill>
                <a:ea typeface="Microsoft YaHei" panose="020B0503020204020204" pitchFamily="34" charset="-122"/>
                <a:sym typeface="Trebuchet MS" panose="020B0603020202020204" pitchFamily="34" charset="0"/>
              </a:rPr>
              <a:t>; </a:t>
            </a:r>
            <a:r>
              <a:rPr lang="zh-TW" altLang="en-US" sz="1200" b="1">
                <a:solidFill>
                  <a:srgbClr val="575757"/>
                </a:solidFill>
                <a:ea typeface="Microsoft YaHei" panose="020B0503020204020204" pitchFamily="34" charset="-122"/>
                <a:sym typeface="Trebuchet MS" panose="020B0603020202020204" pitchFamily="34" charset="0"/>
              </a:rPr>
              <a:t>各自看不同的指標 </a:t>
            </a:r>
            <a:r>
              <a:rPr lang="en-US" altLang="zh-TW" sz="1200" b="1">
                <a:solidFill>
                  <a:srgbClr val="575757"/>
                </a:solidFill>
                <a:ea typeface="Microsoft YaHei" panose="020B0503020204020204" pitchFamily="34" charset="-122"/>
                <a:sym typeface="Trebuchet MS" panose="020B0603020202020204" pitchFamily="34" charset="0"/>
              </a:rPr>
              <a:t>(</a:t>
            </a:r>
            <a:r>
              <a:rPr lang="zh-TW" altLang="en-US" sz="1200" b="1">
                <a:solidFill>
                  <a:srgbClr val="575757"/>
                </a:solidFill>
                <a:ea typeface="Microsoft YaHei" panose="020B0503020204020204" pitchFamily="34" charset="-122"/>
                <a:sym typeface="Trebuchet MS" panose="020B0603020202020204" pitchFamily="34" charset="0"/>
              </a:rPr>
              <a:t>如</a:t>
            </a:r>
            <a:r>
              <a:rPr lang="en-US" altLang="zh-TW" sz="1200" b="1">
                <a:solidFill>
                  <a:srgbClr val="575757"/>
                </a:solidFill>
                <a:ea typeface="Microsoft YaHei" panose="020B0503020204020204" pitchFamily="34" charset="-122"/>
                <a:sym typeface="Trebuchet MS" panose="020B0603020202020204" pitchFamily="34" charset="0"/>
              </a:rPr>
              <a:t>: </a:t>
            </a:r>
            <a:r>
              <a:rPr lang="zh-TW" altLang="en-US" sz="1200" b="1">
                <a:solidFill>
                  <a:srgbClr val="575757"/>
                </a:solidFill>
                <a:ea typeface="Microsoft YaHei" panose="020B0503020204020204" pitchFamily="34" charset="-122"/>
                <a:sym typeface="Trebuchet MS" panose="020B0603020202020204" pitchFamily="34" charset="0"/>
              </a:rPr>
              <a:t>數位只看線上</a:t>
            </a:r>
            <a:r>
              <a:rPr lang="en-US" altLang="zh-TW" sz="1200" b="1">
                <a:solidFill>
                  <a:srgbClr val="575757"/>
                </a:solidFill>
                <a:ea typeface="Microsoft YaHei" panose="020B0503020204020204" pitchFamily="34" charset="-122"/>
                <a:sym typeface="Trebuchet MS" panose="020B0603020202020204" pitchFamily="34" charset="0"/>
              </a:rPr>
              <a:t>activation; </a:t>
            </a:r>
            <a:r>
              <a:rPr lang="zh-TW" altLang="en-US" sz="1200" b="1">
                <a:solidFill>
                  <a:srgbClr val="575757"/>
                </a:solidFill>
                <a:ea typeface="Microsoft YaHei" panose="020B0503020204020204" pitchFamily="34" charset="-122"/>
                <a:sym typeface="Trebuchet MS" panose="020B0603020202020204" pitchFamily="34" charset="0"/>
              </a:rPr>
              <a:t>產品只看自己產品的交易狀況</a:t>
            </a:r>
            <a:r>
              <a:rPr lang="en-US" altLang="zh-TW" sz="1200" b="1">
                <a:solidFill>
                  <a:srgbClr val="575757"/>
                </a:solidFill>
                <a:ea typeface="Microsoft YaHei" panose="020B0503020204020204" pitchFamily="34" charset="-122"/>
                <a:sym typeface="Trebuchet MS" panose="020B0603020202020204" pitchFamily="34" charset="0"/>
              </a:rPr>
              <a:t>)</a:t>
            </a:r>
          </a:p>
          <a:p>
            <a:pPr>
              <a:lnSpc>
                <a:spcPct val="90000"/>
              </a:lnSpc>
              <a:spcAft>
                <a:spcPts val="600"/>
              </a:spcAft>
            </a:pPr>
            <a:endParaRPr lang="en-US" altLang="zh-TW" sz="1200" b="1">
              <a:solidFill>
                <a:srgbClr val="575757"/>
              </a:solidFill>
              <a:ea typeface="Microsoft YaHei" panose="020B0503020204020204" pitchFamily="34" charset="-122"/>
              <a:sym typeface="Trebuchet MS" panose="020B0603020202020204" pitchFamily="34" charset="0"/>
            </a:endParaRPr>
          </a:p>
          <a:p>
            <a:pPr>
              <a:lnSpc>
                <a:spcPct val="90000"/>
              </a:lnSpc>
              <a:spcAft>
                <a:spcPts val="600"/>
              </a:spcAft>
            </a:pPr>
            <a:r>
              <a:rPr lang="en-US" altLang="zh-TW" sz="1200" b="1">
                <a:solidFill>
                  <a:srgbClr val="575757"/>
                </a:solidFill>
                <a:ea typeface="Microsoft YaHei" panose="020B0503020204020204" pitchFamily="34" charset="-122"/>
                <a:sym typeface="Trebuchet MS" panose="020B0603020202020204" pitchFamily="34" charset="0"/>
              </a:rPr>
              <a:t>3. </a:t>
            </a:r>
            <a:r>
              <a:rPr lang="zh-TW" altLang="en-US" sz="1200" b="1">
                <a:solidFill>
                  <a:srgbClr val="575757"/>
                </a:solidFill>
                <a:ea typeface="Microsoft YaHei" panose="020B0503020204020204" pitchFamily="34" charset="-122"/>
                <a:sym typeface="Trebuchet MS" panose="020B0603020202020204" pitchFamily="34" charset="0"/>
              </a:rPr>
              <a:t>缺乏主</a:t>
            </a:r>
            <a:r>
              <a:rPr lang="en-US" altLang="zh-TW" sz="1200" b="1">
                <a:solidFill>
                  <a:srgbClr val="575757"/>
                </a:solidFill>
                <a:ea typeface="Microsoft YaHei" panose="020B0503020204020204" pitchFamily="34" charset="-122"/>
                <a:sym typeface="Trebuchet MS" panose="020B0603020202020204" pitchFamily="34" charset="0"/>
              </a:rPr>
              <a:t>owner, </a:t>
            </a:r>
            <a:r>
              <a:rPr lang="zh-TW" altLang="en-US" sz="1200" b="1">
                <a:solidFill>
                  <a:srgbClr val="575757"/>
                </a:solidFill>
                <a:ea typeface="Microsoft YaHei" panose="020B0503020204020204" pitchFamily="34" charset="-122"/>
                <a:sym typeface="Trebuchet MS" panose="020B0603020202020204" pitchFamily="34" charset="0"/>
              </a:rPr>
              <a:t>沒有端到端去設計客戶線上體驗</a:t>
            </a:r>
            <a:endParaRPr lang="en-US" altLang="zh-TW" sz="1200" b="1">
              <a:solidFill>
                <a:srgbClr val="575757"/>
              </a:solidFill>
              <a:ea typeface="Microsoft YaHei" panose="020B0503020204020204" pitchFamily="34" charset="-122"/>
              <a:sym typeface="Trebuchet MS" panose="020B0603020202020204" pitchFamily="34" charset="0"/>
            </a:endParaRPr>
          </a:p>
          <a:p>
            <a:pPr marL="628650" lvl="1" indent="-171450">
              <a:lnSpc>
                <a:spcPct val="90000"/>
              </a:lnSpc>
              <a:spcAft>
                <a:spcPts val="600"/>
              </a:spcAft>
              <a:buFontTx/>
              <a:buChar char="-"/>
            </a:pPr>
            <a:r>
              <a:rPr lang="zh-TW" altLang="en-US" sz="1200" b="1">
                <a:solidFill>
                  <a:srgbClr val="575757"/>
                </a:solidFill>
                <a:ea typeface="Microsoft YaHei" panose="020B0503020204020204" pitchFamily="34" charset="-122"/>
                <a:sym typeface="Trebuchet MS" panose="020B0603020202020204" pitchFamily="34" charset="0"/>
              </a:rPr>
              <a:t>多數數位行銷活動都是單點</a:t>
            </a:r>
            <a:r>
              <a:rPr lang="en-US" altLang="zh-TW" sz="1200" b="1">
                <a:solidFill>
                  <a:srgbClr val="575757"/>
                </a:solidFill>
                <a:ea typeface="Microsoft YaHei" panose="020B0503020204020204" pitchFamily="34" charset="-122"/>
                <a:sym typeface="Trebuchet MS" panose="020B0603020202020204" pitchFamily="34" charset="0"/>
              </a:rPr>
              <a:t>/ product-push; </a:t>
            </a:r>
            <a:r>
              <a:rPr lang="zh-TW" altLang="en-US" sz="1200" b="1">
                <a:solidFill>
                  <a:srgbClr val="575757"/>
                </a:solidFill>
                <a:ea typeface="Microsoft YaHei" panose="020B0503020204020204" pitchFamily="34" charset="-122"/>
                <a:sym typeface="Trebuchet MS" panose="020B0603020202020204" pitchFamily="34" charset="0"/>
              </a:rPr>
              <a:t>各自缺乏協調</a:t>
            </a:r>
            <a:endParaRPr lang="en-US" altLang="zh-TW" sz="1200" b="1">
              <a:solidFill>
                <a:srgbClr val="575757"/>
              </a:solidFill>
              <a:ea typeface="Microsoft YaHei" panose="020B0503020204020204" pitchFamily="34" charset="-122"/>
              <a:sym typeface="Trebuchet MS" panose="020B0603020202020204" pitchFamily="34" charset="0"/>
            </a:endParaRPr>
          </a:p>
          <a:p>
            <a:pPr marL="628650" lvl="1" indent="-171450">
              <a:lnSpc>
                <a:spcPct val="90000"/>
              </a:lnSpc>
              <a:spcAft>
                <a:spcPts val="600"/>
              </a:spcAft>
              <a:buFontTx/>
              <a:buChar char="-"/>
            </a:pPr>
            <a:r>
              <a:rPr lang="zh-TW" altLang="en-US" sz="1200" b="1">
                <a:solidFill>
                  <a:srgbClr val="575757"/>
                </a:solidFill>
                <a:ea typeface="Microsoft YaHei" panose="020B0503020204020204" pitchFamily="34" charset="-122"/>
                <a:sym typeface="Trebuchet MS" panose="020B0603020202020204" pitchFamily="34" charset="0"/>
              </a:rPr>
              <a:t>無人追蹤與管理客戶端到端線上銷售</a:t>
            </a:r>
            <a:r>
              <a:rPr lang="en-US" altLang="zh-TW" sz="1200" b="1">
                <a:solidFill>
                  <a:srgbClr val="575757"/>
                </a:solidFill>
                <a:ea typeface="Microsoft YaHei" panose="020B0503020204020204" pitchFamily="34" charset="-122"/>
                <a:sym typeface="Trebuchet MS" panose="020B0603020202020204" pitchFamily="34" charset="0"/>
              </a:rPr>
              <a:t> activity(</a:t>
            </a:r>
            <a:r>
              <a:rPr lang="zh-TW" altLang="en-US" sz="1200" b="1">
                <a:solidFill>
                  <a:srgbClr val="575757"/>
                </a:solidFill>
                <a:ea typeface="Microsoft YaHei" panose="020B0503020204020204" pitchFamily="34" charset="-122"/>
                <a:sym typeface="Trebuchet MS" panose="020B0603020202020204" pitchFamily="34" charset="0"/>
              </a:rPr>
              <a:t>如</a:t>
            </a:r>
            <a:r>
              <a:rPr lang="en-US" altLang="zh-TW" sz="1200" b="1">
                <a:solidFill>
                  <a:srgbClr val="575757"/>
                </a:solidFill>
                <a:ea typeface="Microsoft YaHei" panose="020B0503020204020204" pitchFamily="34" charset="-122"/>
                <a:sym typeface="Trebuchet MS" panose="020B0603020202020204" pitchFamily="34" charset="0"/>
              </a:rPr>
              <a:t>:</a:t>
            </a:r>
            <a:r>
              <a:rPr lang="zh-TW" altLang="en-US" sz="1200" b="1">
                <a:solidFill>
                  <a:srgbClr val="575757"/>
                </a:solidFill>
                <a:ea typeface="Microsoft YaHei" panose="020B0503020204020204" pitchFamily="34" charset="-122"/>
                <a:sym typeface="Trebuchet MS" panose="020B0603020202020204" pitchFamily="34" charset="0"/>
              </a:rPr>
              <a:t> 通過線上的申購的產品數量</a:t>
            </a:r>
            <a:r>
              <a:rPr lang="en-US" altLang="zh-TW" sz="1200" b="1">
                <a:solidFill>
                  <a:srgbClr val="575757"/>
                </a:solidFill>
                <a:ea typeface="Microsoft YaHei" panose="020B0503020204020204" pitchFamily="34" charset="-122"/>
                <a:sym typeface="Trebuchet MS" panose="020B0603020202020204" pitchFamily="34" charset="0"/>
              </a:rPr>
              <a:t>)</a:t>
            </a:r>
          </a:p>
          <a:p>
            <a:pPr marL="628650" lvl="1" indent="-171450">
              <a:lnSpc>
                <a:spcPct val="90000"/>
              </a:lnSpc>
              <a:spcAft>
                <a:spcPts val="600"/>
              </a:spcAft>
              <a:buFontTx/>
              <a:buChar char="-"/>
            </a:pPr>
            <a:endParaRPr lang="en-US" altLang="zh-TW" sz="1200" b="1">
              <a:solidFill>
                <a:srgbClr val="575757"/>
              </a:solidFill>
              <a:ea typeface="Microsoft YaHei" panose="020B0503020204020204" pitchFamily="34" charset="-122"/>
              <a:sym typeface="Trebuchet MS" panose="020B0603020202020204" pitchFamily="34" charset="0"/>
            </a:endParaRPr>
          </a:p>
          <a:p>
            <a:pPr marL="628650" lvl="1" indent="-171450">
              <a:lnSpc>
                <a:spcPct val="90000"/>
              </a:lnSpc>
              <a:spcAft>
                <a:spcPts val="600"/>
              </a:spcAft>
              <a:buFontTx/>
              <a:buChar char="-"/>
            </a:pPr>
            <a:endParaRPr lang="en-US" altLang="zh-TW" sz="1200" b="1">
              <a:solidFill>
                <a:srgbClr val="575757"/>
              </a:solidFill>
              <a:ea typeface="Microsoft YaHei" panose="020B0503020204020204" pitchFamily="34" charset="-122"/>
              <a:sym typeface="Trebuchet MS" panose="020B0603020202020204" pitchFamily="34" charset="0"/>
            </a:endParaRPr>
          </a:p>
          <a:p>
            <a:pPr>
              <a:lnSpc>
                <a:spcPct val="90000"/>
              </a:lnSpc>
              <a:spcAft>
                <a:spcPts val="600"/>
              </a:spcAft>
            </a:pPr>
            <a:r>
              <a:rPr lang="en-US" altLang="zh-TW" sz="1200" b="1">
                <a:solidFill>
                  <a:srgbClr val="575757"/>
                </a:solidFill>
                <a:ea typeface="Microsoft YaHei" panose="020B0503020204020204" pitchFamily="34" charset="-122"/>
                <a:sym typeface="Trebuchet MS" panose="020B0603020202020204" pitchFamily="34" charset="0"/>
              </a:rPr>
              <a:t>Take-away</a:t>
            </a:r>
          </a:p>
          <a:p>
            <a:pPr marL="228600" indent="-228600">
              <a:lnSpc>
                <a:spcPct val="90000"/>
              </a:lnSpc>
              <a:spcAft>
                <a:spcPts val="600"/>
              </a:spcAft>
              <a:buAutoNum type="arabicPeriod"/>
            </a:pPr>
            <a:r>
              <a:rPr lang="zh-TW" altLang="en-US" sz="1200" b="1">
                <a:solidFill>
                  <a:srgbClr val="575757"/>
                </a:solidFill>
                <a:ea typeface="Microsoft YaHei" panose="020B0503020204020204" pitchFamily="34" charset="-122"/>
                <a:sym typeface="Trebuchet MS" panose="020B0603020202020204" pitchFamily="34" charset="0"/>
              </a:rPr>
              <a:t>明確各自的職責</a:t>
            </a:r>
            <a:r>
              <a:rPr lang="en-US" altLang="zh-TW" sz="1200" b="1">
                <a:solidFill>
                  <a:srgbClr val="575757"/>
                </a:solidFill>
                <a:ea typeface="Microsoft YaHei" panose="020B0503020204020204" pitchFamily="34" charset="-122"/>
                <a:sym typeface="Trebuchet MS" panose="020B0603020202020204" pitchFamily="34" charset="0"/>
              </a:rPr>
              <a:t>, </a:t>
            </a:r>
            <a:r>
              <a:rPr lang="zh-TW" altLang="en-US" sz="1200" b="1">
                <a:solidFill>
                  <a:srgbClr val="575757"/>
                </a:solidFill>
                <a:ea typeface="Microsoft YaHei" panose="020B0503020204020204" pitchFamily="34" charset="-122"/>
                <a:sym typeface="Trebuchet MS" panose="020B0603020202020204" pitchFamily="34" charset="0"/>
              </a:rPr>
              <a:t>加入數位經營</a:t>
            </a:r>
            <a:r>
              <a:rPr lang="en-US" altLang="zh-TW" sz="1200" b="1">
                <a:solidFill>
                  <a:srgbClr val="575757"/>
                </a:solidFill>
                <a:ea typeface="Microsoft YaHei" panose="020B0503020204020204" pitchFamily="34" charset="-122"/>
                <a:sym typeface="Trebuchet MS" panose="020B0603020202020204" pitchFamily="34" charset="0"/>
              </a:rPr>
              <a:t>scope</a:t>
            </a:r>
          </a:p>
          <a:p>
            <a:pPr marL="228600" indent="-228600">
              <a:lnSpc>
                <a:spcPct val="90000"/>
              </a:lnSpc>
              <a:spcAft>
                <a:spcPts val="600"/>
              </a:spcAft>
              <a:buAutoNum type="arabicPeriod"/>
            </a:pPr>
            <a:r>
              <a:rPr lang="zh-TW" altLang="en-US" sz="1200" b="1">
                <a:solidFill>
                  <a:srgbClr val="575757"/>
                </a:solidFill>
                <a:ea typeface="Microsoft YaHei" panose="020B0503020204020204" pitchFamily="34" charset="-122"/>
                <a:sym typeface="Trebuchet MS" panose="020B0603020202020204" pitchFamily="34" charset="0"/>
              </a:rPr>
              <a:t>設立共同</a:t>
            </a:r>
            <a:r>
              <a:rPr lang="en-US" altLang="zh-TW" sz="1200" b="1">
                <a:solidFill>
                  <a:srgbClr val="575757"/>
                </a:solidFill>
                <a:ea typeface="Microsoft YaHei" panose="020B0503020204020204" pitchFamily="34" charset="-122"/>
                <a:sym typeface="Trebuchet MS" panose="020B0603020202020204" pitchFamily="34" charset="0"/>
              </a:rPr>
              <a:t>/role-specific</a:t>
            </a:r>
            <a:r>
              <a:rPr lang="zh-TW" altLang="en-US" sz="1200" b="1">
                <a:solidFill>
                  <a:srgbClr val="575757"/>
                </a:solidFill>
                <a:ea typeface="Microsoft YaHei" panose="020B0503020204020204" pitchFamily="34" charset="-122"/>
                <a:sym typeface="Trebuchet MS" panose="020B0603020202020204" pitchFamily="34" charset="0"/>
              </a:rPr>
              <a:t> 數位</a:t>
            </a:r>
            <a:r>
              <a:rPr lang="en-US" altLang="zh-TW" sz="1200" b="1" err="1">
                <a:solidFill>
                  <a:srgbClr val="575757"/>
                </a:solidFill>
                <a:ea typeface="Microsoft YaHei" panose="020B0503020204020204" pitchFamily="34" charset="-122"/>
                <a:sym typeface="Trebuchet MS" panose="020B0603020202020204" pitchFamily="34" charset="0"/>
              </a:rPr>
              <a:t>KPI</a:t>
            </a:r>
            <a:endParaRPr lang="en-US" altLang="zh-TW" sz="1200" b="1">
              <a:solidFill>
                <a:srgbClr val="575757"/>
              </a:solidFill>
              <a:ea typeface="Microsoft YaHei" panose="020B0503020204020204" pitchFamily="34" charset="-122"/>
              <a:sym typeface="Trebuchet MS" panose="020B0603020202020204" pitchFamily="34" charset="0"/>
            </a:endParaRPr>
          </a:p>
          <a:p>
            <a:pPr marL="228600" indent="-228600">
              <a:lnSpc>
                <a:spcPct val="90000"/>
              </a:lnSpc>
              <a:spcAft>
                <a:spcPts val="600"/>
              </a:spcAft>
              <a:buAutoNum type="arabicPeriod"/>
            </a:pPr>
            <a:r>
              <a:rPr lang="zh-TW" altLang="en-US" sz="1200" b="1">
                <a:solidFill>
                  <a:srgbClr val="575757"/>
                </a:solidFill>
                <a:ea typeface="Microsoft YaHei" panose="020B0503020204020204" pitchFamily="34" charset="-122"/>
                <a:sym typeface="Trebuchet MS" panose="020B0603020202020204" pitchFamily="34" charset="0"/>
              </a:rPr>
              <a:t>主責單位負責帶領 </a:t>
            </a:r>
            <a:endParaRPr lang="en-US" altLang="zh-TW" sz="1200" b="1">
              <a:solidFill>
                <a:srgbClr val="575757"/>
              </a:solidFill>
              <a:ea typeface="Microsoft YaHei" panose="020B0503020204020204" pitchFamily="34" charset="-122"/>
              <a:sym typeface="Trebuchet MS" panose="020B0603020202020204" pitchFamily="34" charset="0"/>
            </a:endParaRPr>
          </a:p>
        </p:txBody>
      </p:sp>
      <p:sp>
        <p:nvSpPr>
          <p:cNvPr id="8" name="Rectangle 7">
            <a:extLst>
              <a:ext uri="{FF2B5EF4-FFF2-40B4-BE49-F238E27FC236}">
                <a16:creationId xmlns:a16="http://schemas.microsoft.com/office/drawing/2014/main" id="{E0192150-72F9-C867-5BCC-BF3A7FC0A04D}"/>
              </a:ext>
            </a:extLst>
          </p:cNvPr>
          <p:cNvSpPr/>
          <p:nvPr/>
        </p:nvSpPr>
        <p:spPr>
          <a:xfrm>
            <a:off x="628650" y="3822654"/>
            <a:ext cx="2591628" cy="830997"/>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marL="108000" lvl="1">
              <a:buClr>
                <a:schemeClr val="tx2"/>
              </a:buClr>
            </a:pPr>
            <a:r>
              <a:rPr lang="zh-TW" altLang="en-US" sz="1600" b="1">
                <a:solidFill>
                  <a:srgbClr val="03522D"/>
                </a:solidFill>
                <a:latin typeface="Microsoft YaHei" panose="020B0503020204020204" pitchFamily="34" charset="-122"/>
                <a:ea typeface="Microsoft YaHei" panose="020B0503020204020204" pitchFamily="34" charset="-122"/>
              </a:rPr>
              <a:t>缺口</a:t>
            </a:r>
            <a:r>
              <a:rPr lang="en-US" altLang="zh-TW" sz="1600" b="1">
                <a:solidFill>
                  <a:srgbClr val="03522D"/>
                </a:solidFill>
                <a:latin typeface="Microsoft YaHei" panose="020B0503020204020204" pitchFamily="34" charset="-122"/>
                <a:ea typeface="Microsoft YaHei" panose="020B0503020204020204" pitchFamily="34" charset="-122"/>
              </a:rPr>
              <a:t>2:</a:t>
            </a:r>
          </a:p>
          <a:p>
            <a:pPr marL="108000" lvl="1">
              <a:buClr>
                <a:schemeClr val="tx2"/>
              </a:buClr>
            </a:pPr>
            <a:r>
              <a:rPr lang="zh-TW" altLang="en-US" sz="1600" b="1">
                <a:solidFill>
                  <a:srgbClr val="29BA74"/>
                </a:solidFill>
                <a:latin typeface="Microsoft YaHei" panose="020B0503020204020204" pitchFamily="34" charset="-122"/>
                <a:ea typeface="Microsoft YaHei" panose="020B0503020204020204" pitchFamily="34" charset="-122"/>
              </a:rPr>
              <a:t>各部門卻乏數位客群經營職責</a:t>
            </a:r>
            <a:endParaRPr lang="en-US" altLang="zh-TW" sz="1600" b="1">
              <a:solidFill>
                <a:srgbClr val="29BA74"/>
              </a:solidFill>
              <a:latin typeface="Microsoft YaHei" panose="020B0503020204020204" pitchFamily="34" charset="-122"/>
              <a:ea typeface="Microsoft YaHei" panose="020B0503020204020204" pitchFamily="34" charset="-122"/>
            </a:endParaRPr>
          </a:p>
        </p:txBody>
      </p:sp>
      <p:sp>
        <p:nvSpPr>
          <p:cNvPr id="57" name="Rectangle 56">
            <a:extLst>
              <a:ext uri="{FF2B5EF4-FFF2-40B4-BE49-F238E27FC236}">
                <a16:creationId xmlns:a16="http://schemas.microsoft.com/office/drawing/2014/main" id="{BDCDA966-17A2-F5BA-18C9-C423A4795830}"/>
              </a:ext>
            </a:extLst>
          </p:cNvPr>
          <p:cNvSpPr/>
          <p:nvPr/>
        </p:nvSpPr>
        <p:spPr>
          <a:xfrm>
            <a:off x="3193398" y="2464847"/>
            <a:ext cx="8369952" cy="584775"/>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marL="324000" lvl="1" indent="-216000">
              <a:buClr>
                <a:schemeClr val="tx2"/>
              </a:buClr>
              <a:buFont typeface="Trebuchet MS" panose="020B0603020202020204" pitchFamily="34" charset="0"/>
              <a:buChar char="•"/>
            </a:pPr>
            <a:r>
              <a:rPr lang="zh-TW" altLang="en-US" sz="1600">
                <a:solidFill>
                  <a:srgbClr val="29BA74"/>
                </a:solidFill>
                <a:latin typeface="Microsoft YaHei" panose="020B0503020204020204" pitchFamily="34" charset="-122"/>
                <a:ea typeface="Microsoft YaHei" panose="020B0503020204020204" pitchFamily="34" charset="-122"/>
              </a:rPr>
              <a:t>多數數位行銷活動為單點活動</a:t>
            </a:r>
            <a:r>
              <a:rPr lang="zh-TW" altLang="en-US" sz="1600">
                <a:solidFill>
                  <a:schemeClr val="tx1"/>
                </a:solidFill>
                <a:latin typeface="Microsoft YaHei" panose="020B0503020204020204" pitchFamily="34" charset="-122"/>
                <a:ea typeface="Microsoft YaHei" panose="020B0503020204020204" pitchFamily="34" charset="-122"/>
              </a:rPr>
              <a:t>，如產品中心活動、新戶</a:t>
            </a:r>
            <a:r>
              <a:rPr lang="en-US" altLang="zh-TW" sz="1600">
                <a:solidFill>
                  <a:schemeClr val="tx1"/>
                </a:solidFill>
                <a:latin typeface="Microsoft YaHei" panose="020B0503020204020204" pitchFamily="34" charset="-122"/>
                <a:ea typeface="Microsoft YaHei" panose="020B0503020204020204" pitchFamily="34" charset="-122"/>
              </a:rPr>
              <a:t>EDM</a:t>
            </a:r>
            <a:r>
              <a:rPr lang="zh-TW" altLang="en-US" sz="1600">
                <a:solidFill>
                  <a:schemeClr val="tx1"/>
                </a:solidFill>
                <a:latin typeface="Microsoft YaHei" panose="020B0503020204020204" pitchFamily="34" charset="-122"/>
                <a:ea typeface="Microsoft YaHei" panose="020B0503020204020204" pitchFamily="34" charset="-122"/>
              </a:rPr>
              <a:t>等，缺乏主責單位統籌協調</a:t>
            </a:r>
            <a:endParaRPr lang="en-US" altLang="zh-TW" sz="1600">
              <a:solidFill>
                <a:schemeClr val="tx1"/>
              </a:solidFill>
              <a:latin typeface="Microsoft YaHei" panose="020B0503020204020204" pitchFamily="34" charset="-122"/>
              <a:ea typeface="Microsoft YaHei" panose="020B0503020204020204" pitchFamily="34" charset="-122"/>
            </a:endParaRPr>
          </a:p>
          <a:p>
            <a:pPr marL="324000" lvl="1" indent="-216000">
              <a:buClr>
                <a:schemeClr val="tx2"/>
              </a:buClr>
              <a:buFont typeface="Trebuchet MS" panose="020B0603020202020204" pitchFamily="34" charset="0"/>
              <a:buChar char="•"/>
            </a:pPr>
            <a:r>
              <a:rPr lang="zh-TW" altLang="en-US" sz="1600">
                <a:solidFill>
                  <a:srgbClr val="29BA74"/>
                </a:solidFill>
                <a:latin typeface="Microsoft YaHei" panose="020B0503020204020204" pitchFamily="34" charset="-122"/>
                <a:ea typeface="Microsoft YaHei" panose="020B0503020204020204" pitchFamily="34" charset="-122"/>
              </a:rPr>
              <a:t>無追蹤管理客戶端到端線上銷售、體驗狀況 </a:t>
            </a:r>
            <a:r>
              <a:rPr lang="en-US" altLang="zh-TW" sz="1600">
                <a:solidFill>
                  <a:schemeClr val="tx1"/>
                </a:solidFill>
                <a:latin typeface="Microsoft YaHei" panose="020B0503020204020204" pitchFamily="34" charset="-122"/>
                <a:ea typeface="Microsoft YaHei" panose="020B0503020204020204" pitchFamily="34" charset="-122"/>
              </a:rPr>
              <a:t>(</a:t>
            </a:r>
            <a:r>
              <a:rPr lang="zh-TW" altLang="en-US" sz="1600">
                <a:solidFill>
                  <a:schemeClr val="tx1"/>
                </a:solidFill>
                <a:latin typeface="Microsoft YaHei" panose="020B0503020204020204" pitchFamily="34" charset="-122"/>
                <a:ea typeface="Microsoft YaHei" panose="020B0503020204020204" pitchFamily="34" charset="-122"/>
              </a:rPr>
              <a:t>如旅程各節點流失情形、線上申購產品數量</a:t>
            </a:r>
            <a:r>
              <a:rPr lang="en-US" altLang="zh-TW" sz="1600">
                <a:solidFill>
                  <a:schemeClr val="tx1"/>
                </a:solidFill>
                <a:latin typeface="Microsoft YaHei" panose="020B0503020204020204" pitchFamily="34" charset="-122"/>
                <a:ea typeface="Microsoft YaHei" panose="020B0503020204020204" pitchFamily="34" charset="-122"/>
              </a:rPr>
              <a:t>)</a:t>
            </a:r>
          </a:p>
        </p:txBody>
      </p:sp>
      <p:sp>
        <p:nvSpPr>
          <p:cNvPr id="58" name="Rectangle 57">
            <a:extLst>
              <a:ext uri="{FF2B5EF4-FFF2-40B4-BE49-F238E27FC236}">
                <a16:creationId xmlns:a16="http://schemas.microsoft.com/office/drawing/2014/main" id="{6A90D938-8303-9C7C-7F7E-C3D387B81A73}"/>
              </a:ext>
            </a:extLst>
          </p:cNvPr>
          <p:cNvSpPr/>
          <p:nvPr/>
        </p:nvSpPr>
        <p:spPr>
          <a:xfrm>
            <a:off x="15955566" y="411593"/>
            <a:ext cx="3407569" cy="1600438"/>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marL="108000" lvl="1">
              <a:buClr>
                <a:schemeClr val="tx2"/>
              </a:buClr>
            </a:pPr>
            <a:r>
              <a:rPr lang="zh-TW" altLang="en-US" sz="1400" b="1">
                <a:solidFill>
                  <a:srgbClr val="29BA74"/>
                </a:solidFill>
                <a:latin typeface="Microsoft YaHei" panose="020B0503020204020204" pitchFamily="34" charset="-122"/>
                <a:ea typeface="Microsoft YaHei" panose="020B0503020204020204" pitchFamily="34" charset="-122"/>
              </a:rPr>
              <a:t>缺乏跨部門共同數位經營</a:t>
            </a:r>
            <a:r>
              <a:rPr lang="en-US" altLang="zh-TW" sz="1400" b="1" err="1">
                <a:solidFill>
                  <a:srgbClr val="29BA74"/>
                </a:solidFill>
                <a:latin typeface="Microsoft YaHei" panose="020B0503020204020204" pitchFamily="34" charset="-122"/>
                <a:ea typeface="Microsoft YaHei" panose="020B0503020204020204" pitchFamily="34" charset="-122"/>
              </a:rPr>
              <a:t>KPI</a:t>
            </a:r>
            <a:r>
              <a:rPr lang="zh-TW" altLang="en-US" sz="1400" b="1">
                <a:solidFill>
                  <a:srgbClr val="29BA74"/>
                </a:solidFill>
                <a:latin typeface="Microsoft YaHei" panose="020B0503020204020204" pitchFamily="34" charset="-122"/>
                <a:ea typeface="Microsoft YaHei" panose="020B0503020204020204" pitchFamily="34" charset="-122"/>
              </a:rPr>
              <a:t>；各自有不同的獨立指標</a:t>
            </a:r>
            <a:endParaRPr lang="en-US" altLang="zh-TW" sz="1400" b="1">
              <a:solidFill>
                <a:srgbClr val="29BA74"/>
              </a:solidFill>
              <a:latin typeface="Microsoft YaHei" panose="020B0503020204020204" pitchFamily="34" charset="-122"/>
              <a:ea typeface="Microsoft YaHei" panose="020B0503020204020204" pitchFamily="34" charset="-122"/>
            </a:endParaRPr>
          </a:p>
          <a:p>
            <a:pPr marL="108000" lvl="1">
              <a:buClr>
                <a:schemeClr val="tx2"/>
              </a:buClr>
            </a:pPr>
            <a:endParaRPr lang="en-US" altLang="zh-TW" sz="1400" b="1">
              <a:solidFill>
                <a:srgbClr val="29BA74"/>
              </a:solidFill>
              <a:latin typeface="Microsoft YaHei" panose="020B0503020204020204" pitchFamily="34" charset="-122"/>
              <a:ea typeface="Microsoft YaHei" panose="020B0503020204020204" pitchFamily="34" charset="-122"/>
            </a:endParaRPr>
          </a:p>
          <a:p>
            <a:pPr marL="324000" lvl="1" indent="-216000">
              <a:buClr>
                <a:schemeClr val="tx2"/>
              </a:buClr>
              <a:buFont typeface="Trebuchet MS" panose="020B0603020202020204" pitchFamily="34" charset="0"/>
              <a:buChar char="•"/>
            </a:pPr>
            <a:r>
              <a:rPr lang="zh-TW" altLang="en-US" sz="1400">
                <a:solidFill>
                  <a:schemeClr val="tx1"/>
                </a:solidFill>
                <a:latin typeface="Microsoft YaHei" panose="020B0503020204020204" pitchFamily="34" charset="-122"/>
                <a:ea typeface="Microsoft YaHei" panose="020B0503020204020204" pitchFamily="34" charset="-122"/>
              </a:rPr>
              <a:t>數位團隊</a:t>
            </a:r>
            <a:r>
              <a:rPr lang="en-US" altLang="zh-TW" sz="1400">
                <a:solidFill>
                  <a:schemeClr val="tx1"/>
                </a:solidFill>
                <a:latin typeface="Microsoft YaHei" panose="020B0503020204020204" pitchFamily="34" charset="-122"/>
                <a:ea typeface="Microsoft YaHei" panose="020B0503020204020204" pitchFamily="34" charset="-122"/>
              </a:rPr>
              <a:t>:</a:t>
            </a:r>
            <a:r>
              <a:rPr lang="zh-TW" altLang="en-US" sz="1400">
                <a:solidFill>
                  <a:schemeClr val="tx1"/>
                </a:solidFill>
                <a:latin typeface="Microsoft YaHei" panose="020B0503020204020204" pitchFamily="34" charset="-122"/>
                <a:ea typeface="Microsoft YaHei" panose="020B0503020204020204" pitchFamily="34" charset="-122"/>
              </a:rPr>
              <a:t> 線上互動率</a:t>
            </a:r>
            <a:endParaRPr lang="en-US" altLang="zh-TW" sz="1400">
              <a:solidFill>
                <a:schemeClr val="tx1"/>
              </a:solidFill>
              <a:latin typeface="Microsoft YaHei" panose="020B0503020204020204" pitchFamily="34" charset="-122"/>
              <a:ea typeface="Microsoft YaHei" panose="020B0503020204020204" pitchFamily="34" charset="-122"/>
            </a:endParaRPr>
          </a:p>
          <a:p>
            <a:pPr marL="324000" lvl="1" indent="-216000">
              <a:buClr>
                <a:schemeClr val="tx2"/>
              </a:buClr>
              <a:buFont typeface="Trebuchet MS" panose="020B0603020202020204" pitchFamily="34" charset="0"/>
              <a:buChar char="•"/>
            </a:pPr>
            <a:endParaRPr lang="en-US" altLang="zh-TW" sz="1400">
              <a:solidFill>
                <a:schemeClr val="tx1"/>
              </a:solidFill>
              <a:latin typeface="Microsoft YaHei" panose="020B0503020204020204" pitchFamily="34" charset="-122"/>
              <a:ea typeface="Microsoft YaHei" panose="020B0503020204020204" pitchFamily="34" charset="-122"/>
            </a:endParaRPr>
          </a:p>
          <a:p>
            <a:pPr marL="324000" lvl="1" indent="-216000">
              <a:buClr>
                <a:schemeClr val="tx2"/>
              </a:buClr>
              <a:buFont typeface="Trebuchet MS" panose="020B0603020202020204" pitchFamily="34" charset="0"/>
              <a:buChar char="•"/>
            </a:pPr>
            <a:r>
              <a:rPr lang="zh-TW" altLang="en-US" sz="1400">
                <a:solidFill>
                  <a:schemeClr val="tx1"/>
                </a:solidFill>
                <a:latin typeface="Microsoft YaHei" panose="020B0503020204020204" pitchFamily="34" charset="-122"/>
                <a:ea typeface="Microsoft YaHei" panose="020B0503020204020204" pitchFamily="34" charset="-122"/>
              </a:rPr>
              <a:t>產品</a:t>
            </a:r>
            <a:r>
              <a:rPr lang="en-US" altLang="zh-TW" sz="1400">
                <a:solidFill>
                  <a:schemeClr val="tx1"/>
                </a:solidFill>
                <a:latin typeface="Microsoft YaHei" panose="020B0503020204020204" pitchFamily="34" charset="-122"/>
                <a:ea typeface="Microsoft YaHei" panose="020B0503020204020204" pitchFamily="34" charset="-122"/>
              </a:rPr>
              <a:t>:</a:t>
            </a:r>
            <a:r>
              <a:rPr lang="zh-TW" altLang="en-US" sz="1400">
                <a:solidFill>
                  <a:schemeClr val="tx1"/>
                </a:solidFill>
                <a:latin typeface="Microsoft YaHei" panose="020B0503020204020204" pitchFamily="34" charset="-122"/>
                <a:ea typeface="Microsoft YaHei" panose="020B0503020204020204" pitchFamily="34" charset="-122"/>
              </a:rPr>
              <a:t> 單一活動產品成效、產品交易狀況</a:t>
            </a:r>
            <a:endParaRPr lang="en-US" altLang="zh-TW" sz="1400">
              <a:solidFill>
                <a:schemeClr val="tx1"/>
              </a:solidFill>
              <a:latin typeface="Microsoft YaHei" panose="020B0503020204020204" pitchFamily="34" charset="-122"/>
              <a:ea typeface="Microsoft YaHei" panose="020B0503020204020204" pitchFamily="34" charset="-122"/>
            </a:endParaRPr>
          </a:p>
        </p:txBody>
      </p:sp>
      <p:sp>
        <p:nvSpPr>
          <p:cNvPr id="59" name="Rectangle 58">
            <a:extLst>
              <a:ext uri="{FF2B5EF4-FFF2-40B4-BE49-F238E27FC236}">
                <a16:creationId xmlns:a16="http://schemas.microsoft.com/office/drawing/2014/main" id="{4D06B0CB-DCB9-E88C-E8E0-C35AC453C747}"/>
              </a:ext>
            </a:extLst>
          </p:cNvPr>
          <p:cNvSpPr/>
          <p:nvPr/>
        </p:nvSpPr>
        <p:spPr>
          <a:xfrm>
            <a:off x="502312" y="1666975"/>
            <a:ext cx="6552538" cy="261758"/>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108000" lvl="1">
              <a:buClr>
                <a:schemeClr val="tx2"/>
              </a:buClr>
            </a:pPr>
            <a:r>
              <a:rPr lang="zh-TW" altLang="en-US" b="1">
                <a:solidFill>
                  <a:srgbClr val="03522D"/>
                </a:solidFill>
                <a:latin typeface="Microsoft YaHei" panose="020B0503020204020204" pitchFamily="34" charset="-122"/>
                <a:ea typeface="Microsoft YaHei" panose="020B0503020204020204" pitchFamily="34" charset="-122"/>
              </a:rPr>
              <a:t>凱基現況</a:t>
            </a:r>
            <a:r>
              <a:rPr lang="en-US" altLang="zh-TW" b="1">
                <a:solidFill>
                  <a:srgbClr val="03522D"/>
                </a:solidFill>
                <a:latin typeface="Microsoft YaHei" panose="020B0503020204020204" pitchFamily="34" charset="-122"/>
                <a:ea typeface="Microsoft YaHei" panose="020B0503020204020204" pitchFamily="34" charset="-122"/>
              </a:rPr>
              <a:t>:</a:t>
            </a:r>
            <a:r>
              <a:rPr lang="zh-TW" altLang="en-US" b="1">
                <a:solidFill>
                  <a:srgbClr val="03522D"/>
                </a:solidFill>
                <a:latin typeface="Microsoft YaHei" panose="020B0503020204020204" pitchFamily="34" charset="-122"/>
                <a:ea typeface="Microsoft YaHei" panose="020B0503020204020204" pitchFamily="34" charset="-122"/>
              </a:rPr>
              <a:t> </a:t>
            </a:r>
            <a:r>
              <a:rPr lang="zh-TW" altLang="en-US" b="1">
                <a:solidFill>
                  <a:srgbClr val="03522D"/>
                </a:solidFill>
                <a:ea typeface="Microsoft YaHei" panose="020B0503020204020204" pitchFamily="34" charset="-122"/>
                <a:sym typeface="Trebuchet MS" panose="020B0603020202020204" pitchFamily="34" charset="0"/>
              </a:rPr>
              <a:t>缺乏以客戶為中心的數位經營模式</a:t>
            </a:r>
            <a:endParaRPr lang="en-US" altLang="zh-TW" b="1">
              <a:solidFill>
                <a:srgbClr val="03522D"/>
              </a:solidFill>
              <a:latin typeface="Microsoft YaHei" panose="020B0503020204020204" pitchFamily="34" charset="-122"/>
              <a:ea typeface="Microsoft YaHei" panose="020B0503020204020204" pitchFamily="34" charset="-122"/>
            </a:endParaRPr>
          </a:p>
        </p:txBody>
      </p:sp>
      <p:cxnSp>
        <p:nvCxnSpPr>
          <p:cNvPr id="62" name="Straight Connector 61">
            <a:extLst>
              <a:ext uri="{FF2B5EF4-FFF2-40B4-BE49-F238E27FC236}">
                <a16:creationId xmlns:a16="http://schemas.microsoft.com/office/drawing/2014/main" id="{FC820451-9B3E-C282-7C3D-7297DA35DDA0}"/>
              </a:ext>
            </a:extLst>
          </p:cNvPr>
          <p:cNvCxnSpPr/>
          <p:nvPr/>
        </p:nvCxnSpPr>
        <p:spPr>
          <a:xfrm>
            <a:off x="628650" y="2081213"/>
            <a:ext cx="10934700" cy="0"/>
          </a:xfrm>
          <a:prstGeom prst="line">
            <a:avLst/>
          </a:prstGeom>
          <a:ln w="19050" cap="rnd" cmpd="sng" algn="ctr">
            <a:solidFill>
              <a:srgbClr val="29BA74"/>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 name="Rectangle 2">
            <a:extLst>
              <a:ext uri="{FF2B5EF4-FFF2-40B4-BE49-F238E27FC236}">
                <a16:creationId xmlns:a16="http://schemas.microsoft.com/office/drawing/2014/main" id="{09734CFC-07A7-6CEF-1817-34536D1E09EC}"/>
              </a:ext>
            </a:extLst>
          </p:cNvPr>
          <p:cNvSpPr/>
          <p:nvPr/>
        </p:nvSpPr>
        <p:spPr>
          <a:xfrm>
            <a:off x="3193397" y="3699543"/>
            <a:ext cx="8369952" cy="1077218"/>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marL="324000" lvl="1" indent="-216000">
              <a:buClr>
                <a:schemeClr val="tx2"/>
              </a:buClr>
              <a:buFont typeface="Trebuchet MS" panose="020B0603020202020204" pitchFamily="34" charset="0"/>
              <a:buChar char="•"/>
            </a:pPr>
            <a:r>
              <a:rPr lang="zh-TW" altLang="en-US" sz="1600">
                <a:solidFill>
                  <a:srgbClr val="29BA74"/>
                </a:solidFill>
                <a:latin typeface="Microsoft YaHei" panose="020B0503020204020204" pitchFamily="34" charset="-122"/>
                <a:ea typeface="Microsoft YaHei" panose="020B0503020204020204" pitchFamily="34" charset="-122"/>
              </a:rPr>
              <a:t>各部門目前無特定數位經營職責，僅因既有業務有涉及數位管道而接觸</a:t>
            </a:r>
            <a:endParaRPr lang="en-US" altLang="zh-TW" sz="1600">
              <a:solidFill>
                <a:srgbClr val="29BA74"/>
              </a:solidFill>
              <a:latin typeface="Microsoft YaHei" panose="020B0503020204020204" pitchFamily="34" charset="-122"/>
              <a:ea typeface="Microsoft YaHei" panose="020B0503020204020204" pitchFamily="34" charset="-122"/>
            </a:endParaRPr>
          </a:p>
          <a:p>
            <a:pPr marL="648000" lvl="2" indent="-216000">
              <a:buClr>
                <a:schemeClr val="tx2"/>
              </a:buClr>
              <a:buFont typeface="Trebuchet MS" panose="020B0603020202020204" pitchFamily="34" charset="0"/>
              <a:buChar char="–"/>
            </a:pPr>
            <a:r>
              <a:rPr lang="zh-TW" altLang="en-US" sz="1600">
                <a:solidFill>
                  <a:schemeClr val="tx1"/>
                </a:solidFill>
                <a:latin typeface="Trebuchet MS" panose="020B0603020202020204" pitchFamily="34" charset="0"/>
                <a:ea typeface="Microsoft YaHei" panose="020B0503020204020204" pitchFamily="34" charset="-122"/>
              </a:rPr>
              <a:t>產品團隊</a:t>
            </a:r>
            <a:r>
              <a:rPr lang="en-US" altLang="zh-TW" sz="1600">
                <a:solidFill>
                  <a:schemeClr val="tx1"/>
                </a:solidFill>
                <a:latin typeface="Trebuchet MS" panose="020B0603020202020204" pitchFamily="34" charset="0"/>
                <a:ea typeface="Microsoft YaHei" panose="020B0503020204020204" pitchFamily="34" charset="-122"/>
              </a:rPr>
              <a:t>:</a:t>
            </a:r>
            <a:r>
              <a:rPr lang="zh-TW" altLang="en-US" sz="1600">
                <a:solidFill>
                  <a:schemeClr val="tx1"/>
                </a:solidFill>
                <a:latin typeface="Trebuchet MS" panose="020B0603020202020204" pitchFamily="34" charset="0"/>
                <a:ea typeface="Microsoft YaHei" panose="020B0503020204020204" pitchFamily="34" charset="-122"/>
              </a:rPr>
              <a:t> 除數存外，未根據線上線下不同通路有不同產品設計</a:t>
            </a:r>
            <a:endParaRPr lang="en-US" altLang="zh-TW" sz="1600">
              <a:solidFill>
                <a:schemeClr val="tx1"/>
              </a:solidFill>
              <a:latin typeface="Trebuchet MS" panose="020B0603020202020204" pitchFamily="34" charset="0"/>
              <a:ea typeface="Microsoft YaHei" panose="020B0503020204020204" pitchFamily="34" charset="-122"/>
            </a:endParaRPr>
          </a:p>
          <a:p>
            <a:pPr marL="648000" lvl="2" indent="-216000">
              <a:buClr>
                <a:schemeClr val="tx2"/>
              </a:buClr>
              <a:buFont typeface="Trebuchet MS" panose="020B0603020202020204" pitchFamily="34" charset="0"/>
              <a:buChar char="–"/>
            </a:pPr>
            <a:r>
              <a:rPr lang="zh-TW" altLang="en-US" sz="1600">
                <a:solidFill>
                  <a:schemeClr val="tx1"/>
                </a:solidFill>
                <a:latin typeface="Trebuchet MS" panose="020B0603020202020204" pitchFamily="34" charset="0"/>
                <a:ea typeface="Microsoft YaHei" panose="020B0503020204020204" pitchFamily="34" charset="-122"/>
              </a:rPr>
              <a:t>數位團隊</a:t>
            </a:r>
            <a:r>
              <a:rPr lang="en-US" altLang="zh-TW" sz="1600">
                <a:solidFill>
                  <a:schemeClr val="tx1"/>
                </a:solidFill>
                <a:latin typeface="Trebuchet MS" panose="020B0603020202020204" pitchFamily="34" charset="0"/>
                <a:ea typeface="Microsoft YaHei" panose="020B0503020204020204" pitchFamily="34" charset="-122"/>
              </a:rPr>
              <a:t>:</a:t>
            </a:r>
            <a:r>
              <a:rPr lang="zh-TW" altLang="en-US" sz="1600">
                <a:solidFill>
                  <a:schemeClr val="tx1"/>
                </a:solidFill>
                <a:latin typeface="Trebuchet MS" panose="020B0603020202020204" pitchFamily="34" charset="0"/>
                <a:ea typeface="Microsoft YaHei" panose="020B0503020204020204" pitchFamily="34" charset="-122"/>
              </a:rPr>
              <a:t> 根據業管單位需求優化平台，主要追蹤指標為客戶線上互動率</a:t>
            </a:r>
            <a:endParaRPr lang="en-US" altLang="zh-TW" sz="1600">
              <a:solidFill>
                <a:schemeClr val="tx1"/>
              </a:solidFill>
              <a:latin typeface="Trebuchet MS" panose="020B0603020202020204" pitchFamily="34" charset="0"/>
              <a:ea typeface="Microsoft YaHei" panose="020B0503020204020204" pitchFamily="34" charset="-122"/>
            </a:endParaRPr>
          </a:p>
          <a:p>
            <a:pPr marL="648000" lvl="2" indent="-216000">
              <a:buClr>
                <a:schemeClr val="tx2"/>
              </a:buClr>
              <a:buFont typeface="Trebuchet MS" panose="020B0603020202020204" pitchFamily="34" charset="0"/>
              <a:buChar char="–"/>
            </a:pPr>
            <a:r>
              <a:rPr lang="zh-TW" altLang="en-US" sz="1600">
                <a:solidFill>
                  <a:schemeClr val="tx1"/>
                </a:solidFill>
                <a:latin typeface="Trebuchet MS" panose="020B0603020202020204" pitchFamily="34" charset="0"/>
                <a:ea typeface="Microsoft YaHei" panose="020B0503020204020204" pitchFamily="34" charset="-122"/>
              </a:rPr>
              <a:t>數據團隊</a:t>
            </a:r>
            <a:r>
              <a:rPr lang="en-US" altLang="zh-TW" sz="1600">
                <a:solidFill>
                  <a:schemeClr val="tx1"/>
                </a:solidFill>
                <a:latin typeface="Trebuchet MS" panose="020B0603020202020204" pitchFamily="34" charset="0"/>
                <a:ea typeface="Microsoft YaHei" panose="020B0503020204020204" pitchFamily="34" charset="-122"/>
              </a:rPr>
              <a:t>:</a:t>
            </a:r>
            <a:r>
              <a:rPr lang="zh-TW" altLang="en-US" sz="1600">
                <a:solidFill>
                  <a:schemeClr val="tx1"/>
                </a:solidFill>
                <a:latin typeface="Trebuchet MS" panose="020B0603020202020204" pitchFamily="34" charset="0"/>
                <a:ea typeface="Microsoft YaHei" panose="020B0503020204020204" pitchFamily="34" charset="-122"/>
              </a:rPr>
              <a:t> 根據產品團隊需求篩選潛力客戶名單，多被動提供資訊，無成效反饋機制</a:t>
            </a:r>
          </a:p>
        </p:txBody>
      </p:sp>
      <p:sp>
        <p:nvSpPr>
          <p:cNvPr id="4" name="Rectangle 3">
            <a:extLst>
              <a:ext uri="{FF2B5EF4-FFF2-40B4-BE49-F238E27FC236}">
                <a16:creationId xmlns:a16="http://schemas.microsoft.com/office/drawing/2014/main" id="{7F7CC1CD-F037-4303-B279-E0682BC4633A}"/>
              </a:ext>
            </a:extLst>
          </p:cNvPr>
          <p:cNvSpPr/>
          <p:nvPr/>
        </p:nvSpPr>
        <p:spPr>
          <a:xfrm>
            <a:off x="628650" y="2218085"/>
            <a:ext cx="2591628" cy="1077218"/>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marL="108000" lvl="1">
              <a:buClr>
                <a:schemeClr val="tx2"/>
              </a:buClr>
            </a:pPr>
            <a:r>
              <a:rPr lang="zh-TW" altLang="en-US" sz="1600" b="1">
                <a:solidFill>
                  <a:srgbClr val="03522D"/>
                </a:solidFill>
                <a:latin typeface="Microsoft YaHei" panose="020B0503020204020204" pitchFamily="34" charset="-122"/>
                <a:ea typeface="Microsoft YaHei" panose="020B0503020204020204" pitchFamily="34" charset="-122"/>
              </a:rPr>
              <a:t>缺口</a:t>
            </a:r>
            <a:r>
              <a:rPr lang="en-US" altLang="zh-TW" sz="1600" b="1">
                <a:solidFill>
                  <a:srgbClr val="03522D"/>
                </a:solidFill>
                <a:latin typeface="Microsoft YaHei" panose="020B0503020204020204" pitchFamily="34" charset="-122"/>
                <a:ea typeface="Microsoft YaHei" panose="020B0503020204020204" pitchFamily="34" charset="-122"/>
              </a:rPr>
              <a:t>1:</a:t>
            </a:r>
          </a:p>
          <a:p>
            <a:pPr marL="108000" lvl="1">
              <a:buClr>
                <a:schemeClr val="tx2"/>
              </a:buClr>
            </a:pPr>
            <a:r>
              <a:rPr lang="zh-TW" altLang="en-US" sz="1600" b="1">
                <a:solidFill>
                  <a:srgbClr val="29BA74"/>
                </a:solidFill>
                <a:latin typeface="Microsoft YaHei" panose="020B0503020204020204" pitchFamily="34" charset="-122"/>
                <a:ea typeface="Microsoft YaHei" panose="020B0503020204020204" pitchFamily="34" charset="-122"/>
              </a:rPr>
              <a:t>缺乏數位客群經營主責單位，無端到端管理客戶線上旅程</a:t>
            </a:r>
          </a:p>
        </p:txBody>
      </p:sp>
      <p:sp>
        <p:nvSpPr>
          <p:cNvPr id="5" name="Rectangle 4">
            <a:extLst>
              <a:ext uri="{FF2B5EF4-FFF2-40B4-BE49-F238E27FC236}">
                <a16:creationId xmlns:a16="http://schemas.microsoft.com/office/drawing/2014/main" id="{5569C475-24B7-8B25-FC48-333E3432BEF2}"/>
              </a:ext>
            </a:extLst>
          </p:cNvPr>
          <p:cNvSpPr/>
          <p:nvPr/>
        </p:nvSpPr>
        <p:spPr>
          <a:xfrm>
            <a:off x="628650" y="5113566"/>
            <a:ext cx="2591628" cy="830997"/>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marL="108000" lvl="1">
              <a:buClr>
                <a:schemeClr val="tx2"/>
              </a:buClr>
            </a:pPr>
            <a:r>
              <a:rPr lang="zh-TW" altLang="en-US" sz="1600" b="1">
                <a:solidFill>
                  <a:srgbClr val="03522D"/>
                </a:solidFill>
                <a:latin typeface="Microsoft YaHei" panose="020B0503020204020204" pitchFamily="34" charset="-122"/>
                <a:ea typeface="Microsoft YaHei" panose="020B0503020204020204" pitchFamily="34" charset="-122"/>
              </a:rPr>
              <a:t>缺口</a:t>
            </a:r>
            <a:r>
              <a:rPr lang="en-US" altLang="zh-TW" sz="1600" b="1">
                <a:solidFill>
                  <a:srgbClr val="03522D"/>
                </a:solidFill>
                <a:latin typeface="Microsoft YaHei" panose="020B0503020204020204" pitchFamily="34" charset="-122"/>
                <a:ea typeface="Microsoft YaHei" panose="020B0503020204020204" pitchFamily="34" charset="-122"/>
              </a:rPr>
              <a:t>3:</a:t>
            </a:r>
          </a:p>
          <a:p>
            <a:pPr marL="108000" lvl="1">
              <a:buClr>
                <a:schemeClr val="tx2"/>
              </a:buClr>
            </a:pPr>
            <a:r>
              <a:rPr lang="zh-TW" altLang="en-US" sz="1600" b="1">
                <a:solidFill>
                  <a:srgbClr val="29BA74"/>
                </a:solidFill>
                <a:latin typeface="Microsoft YaHei" panose="020B0503020204020204" pitchFamily="34" charset="-122"/>
                <a:ea typeface="Microsoft YaHei" panose="020B0503020204020204" pitchFamily="34" charset="-122"/>
              </a:rPr>
              <a:t>缺乏跨部門共同數位經營</a:t>
            </a:r>
            <a:r>
              <a:rPr lang="en-US" altLang="zh-TW" sz="1600" b="1" err="1">
                <a:solidFill>
                  <a:srgbClr val="29BA74"/>
                </a:solidFill>
                <a:latin typeface="Microsoft YaHei" panose="020B0503020204020204" pitchFamily="34" charset="-122"/>
                <a:ea typeface="Microsoft YaHei" panose="020B0503020204020204" pitchFamily="34" charset="-122"/>
              </a:rPr>
              <a:t>KPI</a:t>
            </a:r>
            <a:endParaRPr lang="en-US" altLang="zh-TW" sz="1600" b="1">
              <a:solidFill>
                <a:srgbClr val="29BA74"/>
              </a:solidFill>
              <a:latin typeface="Microsoft YaHei" panose="020B0503020204020204" pitchFamily="34" charset="-122"/>
              <a:ea typeface="Microsoft YaHei" panose="020B0503020204020204" pitchFamily="34" charset="-122"/>
            </a:endParaRPr>
          </a:p>
        </p:txBody>
      </p:sp>
      <p:sp>
        <p:nvSpPr>
          <p:cNvPr id="6" name="Rectangle 5">
            <a:extLst>
              <a:ext uri="{FF2B5EF4-FFF2-40B4-BE49-F238E27FC236}">
                <a16:creationId xmlns:a16="http://schemas.microsoft.com/office/drawing/2014/main" id="{EDD06BC3-1F15-2C19-3B3F-65EDAF7FEE27}"/>
              </a:ext>
            </a:extLst>
          </p:cNvPr>
          <p:cNvSpPr/>
          <p:nvPr/>
        </p:nvSpPr>
        <p:spPr>
          <a:xfrm>
            <a:off x="3193398" y="5113566"/>
            <a:ext cx="8369952" cy="830997"/>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marL="324000" lvl="1" indent="-216000">
              <a:buClr>
                <a:schemeClr val="tx2"/>
              </a:buClr>
              <a:buFont typeface="Trebuchet MS" panose="020B0603020202020204" pitchFamily="34" charset="0"/>
              <a:buChar char="•"/>
            </a:pPr>
            <a:r>
              <a:rPr lang="zh-TW" altLang="en-US" sz="1600">
                <a:solidFill>
                  <a:srgbClr val="29BA74"/>
                </a:solidFill>
                <a:latin typeface="Microsoft YaHei" panose="020B0503020204020204" pitchFamily="34" charset="-122"/>
                <a:ea typeface="Microsoft YaHei" panose="020B0503020204020204" pitchFamily="34" charset="-122"/>
              </a:rPr>
              <a:t>各部門有獨立</a:t>
            </a:r>
            <a:r>
              <a:rPr lang="en-US" altLang="zh-TW" sz="1600" err="1">
                <a:solidFill>
                  <a:srgbClr val="29BA74"/>
                </a:solidFill>
                <a:latin typeface="Microsoft YaHei" panose="020B0503020204020204" pitchFamily="34" charset="-122"/>
                <a:ea typeface="Microsoft YaHei" panose="020B0503020204020204" pitchFamily="34" charset="-122"/>
              </a:rPr>
              <a:t>KPI</a:t>
            </a:r>
            <a:r>
              <a:rPr lang="zh-TW" altLang="en-US" sz="1600">
                <a:solidFill>
                  <a:srgbClr val="29BA74"/>
                </a:solidFill>
                <a:latin typeface="Microsoft YaHei" panose="020B0503020204020204" pitchFamily="34" charset="-122"/>
                <a:ea typeface="Microsoft YaHei" panose="020B0503020204020204" pitchFamily="34" charset="-122"/>
              </a:rPr>
              <a:t>，無激勵跨部門合作的共同</a:t>
            </a:r>
            <a:r>
              <a:rPr lang="en-US" altLang="zh-TW" sz="1600" err="1">
                <a:solidFill>
                  <a:srgbClr val="29BA74"/>
                </a:solidFill>
                <a:latin typeface="Microsoft YaHei" panose="020B0503020204020204" pitchFamily="34" charset="-122"/>
                <a:ea typeface="Microsoft YaHei" panose="020B0503020204020204" pitchFamily="34" charset="-122"/>
              </a:rPr>
              <a:t>KPI</a:t>
            </a:r>
            <a:endParaRPr lang="en-US" altLang="zh-TW" sz="1600">
              <a:solidFill>
                <a:srgbClr val="29BA74"/>
              </a:solidFill>
              <a:latin typeface="Microsoft YaHei" panose="020B0503020204020204" pitchFamily="34" charset="-122"/>
              <a:ea typeface="Microsoft YaHei" panose="020B0503020204020204" pitchFamily="34" charset="-122"/>
            </a:endParaRPr>
          </a:p>
          <a:p>
            <a:pPr marL="648000" lvl="2" indent="-216000">
              <a:buClr>
                <a:schemeClr val="tx2"/>
              </a:buClr>
              <a:buFont typeface="Trebuchet MS" panose="020B0603020202020204" pitchFamily="34" charset="0"/>
              <a:buChar char="–"/>
            </a:pPr>
            <a:r>
              <a:rPr lang="zh-TW" altLang="en-US" sz="1600">
                <a:solidFill>
                  <a:schemeClr val="tx1"/>
                </a:solidFill>
                <a:latin typeface="Trebuchet MS" panose="020B0603020202020204" pitchFamily="34" charset="0"/>
                <a:ea typeface="Microsoft YaHei" panose="020B0503020204020204" pitchFamily="34" charset="-122"/>
              </a:rPr>
              <a:t>數位團隊</a:t>
            </a:r>
            <a:r>
              <a:rPr lang="en-US" altLang="zh-TW" sz="1600">
                <a:solidFill>
                  <a:schemeClr val="tx1"/>
                </a:solidFill>
                <a:latin typeface="Trebuchet MS" panose="020B0603020202020204" pitchFamily="34" charset="0"/>
                <a:ea typeface="Microsoft YaHei" panose="020B0503020204020204" pitchFamily="34" charset="-122"/>
              </a:rPr>
              <a:t>:</a:t>
            </a:r>
            <a:r>
              <a:rPr lang="zh-TW" altLang="en-US" sz="1600">
                <a:solidFill>
                  <a:schemeClr val="tx1"/>
                </a:solidFill>
                <a:latin typeface="Trebuchet MS" panose="020B0603020202020204" pitchFamily="34" charset="0"/>
                <a:ea typeface="Microsoft YaHei" panose="020B0503020204020204" pitchFamily="34" charset="-122"/>
              </a:rPr>
              <a:t> 線上互動率、活躍客戶數</a:t>
            </a:r>
            <a:endParaRPr lang="en-US" altLang="zh-TW" sz="1600">
              <a:solidFill>
                <a:schemeClr val="tx1"/>
              </a:solidFill>
              <a:latin typeface="Trebuchet MS" panose="020B0603020202020204" pitchFamily="34" charset="0"/>
              <a:ea typeface="Microsoft YaHei" panose="020B0503020204020204" pitchFamily="34" charset="-122"/>
            </a:endParaRPr>
          </a:p>
          <a:p>
            <a:pPr marL="648000" lvl="2" indent="-216000">
              <a:buClr>
                <a:schemeClr val="tx2"/>
              </a:buClr>
              <a:buFont typeface="Trebuchet MS" panose="020B0603020202020204" pitchFamily="34" charset="0"/>
              <a:buChar char="–"/>
            </a:pPr>
            <a:r>
              <a:rPr lang="zh-TW" altLang="en-US" sz="1600">
                <a:solidFill>
                  <a:schemeClr val="tx1"/>
                </a:solidFill>
                <a:latin typeface="Trebuchet MS" panose="020B0603020202020204" pitchFamily="34" charset="0"/>
                <a:ea typeface="Microsoft YaHei" panose="020B0503020204020204" pitchFamily="34" charset="-122"/>
              </a:rPr>
              <a:t>產品團隊</a:t>
            </a:r>
            <a:r>
              <a:rPr lang="en-US" altLang="zh-TW" sz="1600">
                <a:solidFill>
                  <a:schemeClr val="tx1"/>
                </a:solidFill>
                <a:latin typeface="Trebuchet MS" panose="020B0603020202020204" pitchFamily="34" charset="0"/>
                <a:ea typeface="Microsoft YaHei" panose="020B0503020204020204" pitchFamily="34" charset="-122"/>
              </a:rPr>
              <a:t>:</a:t>
            </a:r>
            <a:r>
              <a:rPr lang="zh-TW" altLang="en-US" sz="1600">
                <a:solidFill>
                  <a:schemeClr val="tx1"/>
                </a:solidFill>
                <a:latin typeface="Trebuchet MS" panose="020B0603020202020204" pitchFamily="34" charset="0"/>
                <a:ea typeface="Microsoft YaHei" panose="020B0503020204020204" pitchFamily="34" charset="-122"/>
              </a:rPr>
              <a:t> 單一活動產品成效、產品交易狀況</a:t>
            </a:r>
            <a:endParaRPr lang="en-US" altLang="zh-TW" sz="1600">
              <a:solidFill>
                <a:schemeClr val="tx1"/>
              </a:solidFill>
              <a:latin typeface="Trebuchet MS" panose="020B0603020202020204" pitchFamily="34" charset="0"/>
              <a:ea typeface="Microsoft YaHei" panose="020B0503020204020204" pitchFamily="34" charset="-122"/>
            </a:endParaRPr>
          </a:p>
        </p:txBody>
      </p:sp>
      <p:cxnSp>
        <p:nvCxnSpPr>
          <p:cNvPr id="10" name="Straight Connector 9">
            <a:extLst>
              <a:ext uri="{FF2B5EF4-FFF2-40B4-BE49-F238E27FC236}">
                <a16:creationId xmlns:a16="http://schemas.microsoft.com/office/drawing/2014/main" id="{ABA050CB-65A0-10CC-87FD-9E820E50C869}"/>
              </a:ext>
            </a:extLst>
          </p:cNvPr>
          <p:cNvCxnSpPr/>
          <p:nvPr/>
        </p:nvCxnSpPr>
        <p:spPr>
          <a:xfrm>
            <a:off x="705678" y="3429000"/>
            <a:ext cx="10857672" cy="0"/>
          </a:xfrm>
          <a:prstGeom prst="line">
            <a:avLst/>
          </a:prstGeom>
          <a:ln w="9525" cap="rnd">
            <a:solidFill>
              <a:schemeClr val="tx1">
                <a:lumMod val="60000"/>
                <a:lumOff val="40000"/>
              </a:schemeClr>
            </a:solidFill>
            <a:prstDash val="sysDash"/>
            <a:round/>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05C77686-D2DF-9313-9F96-063F3DFBF887}"/>
              </a:ext>
            </a:extLst>
          </p:cNvPr>
          <p:cNvCxnSpPr/>
          <p:nvPr/>
        </p:nvCxnSpPr>
        <p:spPr>
          <a:xfrm>
            <a:off x="705678" y="4880113"/>
            <a:ext cx="10857672" cy="0"/>
          </a:xfrm>
          <a:prstGeom prst="line">
            <a:avLst/>
          </a:prstGeom>
          <a:ln w="9525" cap="rnd">
            <a:solidFill>
              <a:schemeClr val="tx1">
                <a:lumMod val="60000"/>
                <a:lumOff val="40000"/>
              </a:schemeClr>
            </a:solidFill>
            <a:prstDash val="sysDash"/>
            <a:roun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6490500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 name="think-cell data - do not delete" hidden="1">
            <a:extLst>
              <a:ext uri="{FF2B5EF4-FFF2-40B4-BE49-F238E27FC236}">
                <a16:creationId xmlns:a16="http://schemas.microsoft.com/office/drawing/2014/main" id="{1A733275-6D13-3EB5-0C0A-0D7E2917B358}"/>
              </a:ext>
            </a:extLst>
          </p:cNvPr>
          <p:cNvGraphicFramePr>
            <a:graphicFrameLocks noChangeAspect="1"/>
          </p:cNvGraphicFramePr>
          <p:nvPr>
            <p:custDataLst>
              <p:tags r:id="rId2"/>
            </p:custDataLst>
            <p:extLst>
              <p:ext uri="{D42A27DB-BD31-4B8C-83A1-F6EECF244321}">
                <p14:modId xmlns:p14="http://schemas.microsoft.com/office/powerpoint/2010/main" val="363340069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8" imgW="404" imgH="405" progId="TCLayout.ActiveDocument.1">
                  <p:embed/>
                </p:oleObj>
              </mc:Choice>
              <mc:Fallback>
                <p:oleObj name="think-cell Slide" r:id="rId8" imgW="404" imgH="405" progId="TCLayout.ActiveDocument.1">
                  <p:embed/>
                  <p:pic>
                    <p:nvPicPr>
                      <p:cNvPr id="83" name="think-cell data - do not delete" hidden="1">
                        <a:extLst>
                          <a:ext uri="{FF2B5EF4-FFF2-40B4-BE49-F238E27FC236}">
                            <a16:creationId xmlns:a16="http://schemas.microsoft.com/office/drawing/2014/main" id="{1A733275-6D13-3EB5-0C0A-0D7E2917B358}"/>
                          </a:ext>
                        </a:extLst>
                      </p:cNvPr>
                      <p:cNvPicPr/>
                      <p:nvPr/>
                    </p:nvPicPr>
                    <p:blipFill>
                      <a:blip r:embed="rId9"/>
                      <a:stretch>
                        <a:fillRect/>
                      </a:stretch>
                    </p:blipFill>
                    <p:spPr>
                      <a:xfrm>
                        <a:off x="1588" y="1588"/>
                        <a:ext cx="1588" cy="1588"/>
                      </a:xfrm>
                      <a:prstGeom prst="rect">
                        <a:avLst/>
                      </a:prstGeom>
                    </p:spPr>
                  </p:pic>
                </p:oleObj>
              </mc:Fallback>
            </mc:AlternateContent>
          </a:graphicData>
        </a:graphic>
      </p:graphicFrame>
      <p:sp>
        <p:nvSpPr>
          <p:cNvPr id="103" name="Rectangle 102">
            <a:extLst>
              <a:ext uri="{FF2B5EF4-FFF2-40B4-BE49-F238E27FC236}">
                <a16:creationId xmlns:a16="http://schemas.microsoft.com/office/drawing/2014/main" id="{4B1429D9-58FD-DECF-74AA-917615544E5F}"/>
              </a:ext>
            </a:extLst>
          </p:cNvPr>
          <p:cNvSpPr/>
          <p:nvPr/>
        </p:nvSpPr>
        <p:spPr>
          <a:xfrm>
            <a:off x="895092" y="1993379"/>
            <a:ext cx="3594595" cy="4167709"/>
          </a:xfrm>
          <a:prstGeom prst="rect">
            <a:avLst/>
          </a:prstGeom>
          <a:noFill/>
          <a:ln w="19050" cap="rnd" cmpd="sng" algn="ctr">
            <a:solidFill>
              <a:srgbClr val="E71C57"/>
            </a:solidFill>
            <a:prstDash val="sysDash"/>
            <a:round/>
            <a:headEnd type="none" w="med" len="med"/>
            <a:tailEnd type="none" w="med" len="me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61" name="Rectangle 60" hidden="1">
            <a:extLst>
              <a:ext uri="{FF2B5EF4-FFF2-40B4-BE49-F238E27FC236}">
                <a16:creationId xmlns:a16="http://schemas.microsoft.com/office/drawing/2014/main" id="{AC7ABADE-26B8-601D-5CB4-991848C8DDDE}"/>
              </a:ext>
            </a:extLst>
          </p:cNvPr>
          <p:cNvSpPr/>
          <p:nvPr>
            <p:custDataLst>
              <p:tags r:id="rId3"/>
            </p:custDataLst>
          </p:nvPr>
        </p:nvSpPr>
        <p:spPr>
          <a:xfrm>
            <a:off x="8649060" y="2081213"/>
            <a:ext cx="2899756" cy="4153987"/>
          </a:xfrm>
          <a:prstGeom prst="rect">
            <a:avLst/>
          </a:prstGeom>
          <a:solidFill>
            <a:srgbClr val="FFFFFF"/>
          </a:solidFill>
          <a:ln w="9525" cap="rnd" cmpd="sng" algn="ctr">
            <a:noFill/>
            <a:prstDash val="solid"/>
            <a:round/>
            <a:headEnd type="none" w="med" len="med"/>
            <a:tailEnd type="none" w="med" len="med"/>
          </a:ln>
          <a:effectLst>
            <a:outerShdw blurRad="50800" dist="38100" dir="2700000" algn="tl" rotWithShape="0">
              <a:prstClr val="black">
                <a:alpha val="40000"/>
              </a:prstClr>
            </a:outerShdw>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a typeface="Microsoft YaHei" panose="020B0503020204020204" pitchFamily="34" charset="-122"/>
            </a:endParaRPr>
          </a:p>
        </p:txBody>
      </p:sp>
      <p:sp>
        <p:nvSpPr>
          <p:cNvPr id="60" name="Rectangle 59" hidden="1">
            <a:extLst>
              <a:ext uri="{FF2B5EF4-FFF2-40B4-BE49-F238E27FC236}">
                <a16:creationId xmlns:a16="http://schemas.microsoft.com/office/drawing/2014/main" id="{BB5711CC-E6AA-D0F8-68FE-D30D244D3123}"/>
              </a:ext>
            </a:extLst>
          </p:cNvPr>
          <p:cNvSpPr/>
          <p:nvPr>
            <p:custDataLst>
              <p:tags r:id="rId4"/>
            </p:custDataLst>
          </p:nvPr>
        </p:nvSpPr>
        <p:spPr>
          <a:xfrm>
            <a:off x="628650" y="2081213"/>
            <a:ext cx="7847967" cy="4153987"/>
          </a:xfrm>
          <a:prstGeom prst="rect">
            <a:avLst/>
          </a:prstGeom>
          <a:solidFill>
            <a:srgbClr val="FFFFFF"/>
          </a:solidFill>
          <a:ln w="9525" cap="rnd" cmpd="sng" algn="ctr">
            <a:noFill/>
            <a:prstDash val="solid"/>
            <a:round/>
            <a:headEnd type="none" w="med" len="med"/>
            <a:tailEnd type="none" w="med" len="med"/>
          </a:ln>
          <a:effectLst>
            <a:outerShdw blurRad="50800" dist="38100" dir="2700000" algn="tl" rotWithShape="0">
              <a:prstClr val="black">
                <a:alpha val="40000"/>
              </a:prstClr>
            </a:outerShdw>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a typeface="Microsoft YaHei" panose="020B0503020204020204" pitchFamily="34" charset="-122"/>
            </a:endParaRPr>
          </a:p>
        </p:txBody>
      </p:sp>
      <p:sp>
        <p:nvSpPr>
          <p:cNvPr id="2" name="Title 1">
            <a:extLst>
              <a:ext uri="{FF2B5EF4-FFF2-40B4-BE49-F238E27FC236}">
                <a16:creationId xmlns:a16="http://schemas.microsoft.com/office/drawing/2014/main" id="{1D7648A1-0F17-69D7-236F-523E263023F5}"/>
              </a:ext>
            </a:extLst>
          </p:cNvPr>
          <p:cNvSpPr>
            <a:spLocks noGrp="1"/>
          </p:cNvSpPr>
          <p:nvPr>
            <p:ph type="title"/>
          </p:nvPr>
        </p:nvSpPr>
        <p:spPr>
          <a:xfrm>
            <a:off x="630000" y="622800"/>
            <a:ext cx="10933350" cy="664797"/>
          </a:xfrm>
        </p:spPr>
        <p:txBody>
          <a:bodyPr vert="horz"/>
          <a:lstStyle/>
          <a:p>
            <a:r>
              <a:rPr lang="zh-TW" altLang="en-US">
                <a:ea typeface="Microsoft YaHei" panose="020B0503020204020204" pitchFamily="34" charset="-122"/>
              </a:rPr>
              <a:t>凱基應明確</a:t>
            </a:r>
            <a:r>
              <a:rPr lang="en-US" altLang="zh-TW">
                <a:ea typeface="Microsoft YaHei" panose="020B0503020204020204" pitchFamily="34" charset="-122"/>
              </a:rPr>
              <a:t>M</a:t>
            </a:r>
            <a:r>
              <a:rPr lang="zh-TW" altLang="en-US">
                <a:ea typeface="Microsoft YaHei" panose="020B0503020204020204" pitchFamily="34" charset="-122"/>
              </a:rPr>
              <a:t>客經營主責單位及各單位職責，並透過</a:t>
            </a:r>
            <a:r>
              <a:rPr lang="en-US" altLang="zh-TW" err="1">
                <a:ea typeface="Microsoft YaHei" panose="020B0503020204020204" pitchFamily="34" charset="-122"/>
              </a:rPr>
              <a:t>KPI</a:t>
            </a:r>
            <a:r>
              <a:rPr lang="zh-TW" altLang="en-US">
                <a:ea typeface="Microsoft YaHei" panose="020B0503020204020204" pitchFamily="34" charset="-122"/>
              </a:rPr>
              <a:t>設計確保各單位有共同經營目標、客戶端到端流程受到全面管理</a:t>
            </a:r>
            <a:endParaRPr lang="en-US">
              <a:ea typeface="Microsoft YaHei" panose="020B0503020204020204" pitchFamily="34" charset="-122"/>
            </a:endParaRPr>
          </a:p>
        </p:txBody>
      </p:sp>
      <p:cxnSp>
        <p:nvCxnSpPr>
          <p:cNvPr id="140" name="Straight Connector 139">
            <a:extLst>
              <a:ext uri="{FF2B5EF4-FFF2-40B4-BE49-F238E27FC236}">
                <a16:creationId xmlns:a16="http://schemas.microsoft.com/office/drawing/2014/main" id="{C3D02C1D-DE45-31FD-7E66-4AFA2DFC8465}"/>
              </a:ext>
            </a:extLst>
          </p:cNvPr>
          <p:cNvCxnSpPr/>
          <p:nvPr/>
        </p:nvCxnSpPr>
        <p:spPr>
          <a:xfrm>
            <a:off x="19347216" y="4315182"/>
            <a:ext cx="5072433" cy="0"/>
          </a:xfrm>
          <a:prstGeom prst="line">
            <a:avLst/>
          </a:prstGeom>
          <a:ln w="9525" cap="rnd" cmpd="sng" algn="ctr">
            <a:solidFill>
              <a:srgbClr val="9A9A9A"/>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B09887C1-3591-1A8B-ABB2-658C22E3926C}"/>
              </a:ext>
            </a:extLst>
          </p:cNvPr>
          <p:cNvSpPr/>
          <p:nvPr/>
        </p:nvSpPr>
        <p:spPr>
          <a:xfrm>
            <a:off x="497598" y="1526368"/>
            <a:ext cx="7137563" cy="523220"/>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108000" lvl="1">
              <a:buClr>
                <a:schemeClr val="tx2"/>
              </a:buClr>
            </a:pPr>
            <a:r>
              <a:rPr lang="zh-TW" altLang="en-US" sz="1600" b="1">
                <a:solidFill>
                  <a:srgbClr val="03522D"/>
                </a:solidFill>
                <a:latin typeface="Microsoft YaHei" panose="020B0503020204020204" pitchFamily="34" charset="-122"/>
                <a:ea typeface="Microsoft YaHei" panose="020B0503020204020204" pitchFamily="34" charset="-122"/>
              </a:rPr>
              <a:t>建議</a:t>
            </a:r>
            <a:r>
              <a:rPr lang="en-US" altLang="zh-TW" sz="1600" b="1">
                <a:solidFill>
                  <a:srgbClr val="03522D"/>
                </a:solidFill>
                <a:latin typeface="Microsoft YaHei" panose="020B0503020204020204" pitchFamily="34" charset="-122"/>
                <a:ea typeface="Microsoft YaHei" panose="020B0503020204020204" pitchFamily="34" charset="-122"/>
              </a:rPr>
              <a:t>1: </a:t>
            </a:r>
            <a:r>
              <a:rPr lang="zh-TW" altLang="en-US" sz="1600" b="1">
                <a:solidFill>
                  <a:srgbClr val="03522D"/>
                </a:solidFill>
                <a:latin typeface="Microsoft YaHei" panose="020B0503020204020204" pitchFamily="34" charset="-122"/>
                <a:ea typeface="Microsoft YaHei" panose="020B0503020204020204" pitchFamily="34" charset="-122"/>
              </a:rPr>
              <a:t>明確主責單位及各單位職責，確保有端到端的客戶流程設計及管理</a:t>
            </a:r>
            <a:endParaRPr lang="en-US" altLang="zh-TW" sz="1600" b="1">
              <a:solidFill>
                <a:srgbClr val="03522D"/>
              </a:solidFill>
              <a:latin typeface="Microsoft YaHei" panose="020B0503020204020204" pitchFamily="34" charset="-122"/>
              <a:ea typeface="Microsoft YaHei" panose="020B0503020204020204" pitchFamily="34" charset="-122"/>
            </a:endParaRPr>
          </a:p>
        </p:txBody>
      </p:sp>
      <p:sp>
        <p:nvSpPr>
          <p:cNvPr id="24" name="Rectangle 23">
            <a:extLst>
              <a:ext uri="{FF2B5EF4-FFF2-40B4-BE49-F238E27FC236}">
                <a16:creationId xmlns:a16="http://schemas.microsoft.com/office/drawing/2014/main" id="{F1F178C5-27A1-376A-8E16-80A1788392C4}"/>
              </a:ext>
            </a:extLst>
          </p:cNvPr>
          <p:cNvSpPr/>
          <p:nvPr/>
        </p:nvSpPr>
        <p:spPr>
          <a:xfrm>
            <a:off x="839061" y="1993379"/>
            <a:ext cx="3600229" cy="661440"/>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108000" lvl="1">
              <a:buClr>
                <a:schemeClr val="tx2"/>
              </a:buClr>
            </a:pPr>
            <a:r>
              <a:rPr lang="zh-TW" altLang="en-US" sz="1400" b="1">
                <a:solidFill>
                  <a:srgbClr val="29BA74"/>
                </a:solidFill>
                <a:latin typeface="Microsoft YaHei" panose="020B0503020204020204" pitchFamily="34" charset="-122"/>
                <a:ea typeface="Microsoft YaHei" panose="020B0503020204020204" pitchFamily="34" charset="-122"/>
              </a:rPr>
              <a:t>模式</a:t>
            </a:r>
            <a:r>
              <a:rPr lang="en-US" altLang="zh-TW" sz="1400" b="1">
                <a:solidFill>
                  <a:srgbClr val="29BA74"/>
                </a:solidFill>
                <a:latin typeface="Microsoft YaHei" panose="020B0503020204020204" pitchFamily="34" charset="-122"/>
                <a:ea typeface="Microsoft YaHei" panose="020B0503020204020204" pitchFamily="34" charset="-122"/>
              </a:rPr>
              <a:t>1: </a:t>
            </a:r>
            <a:r>
              <a:rPr lang="zh-TW" altLang="en-US" sz="1400" b="1">
                <a:solidFill>
                  <a:srgbClr val="29BA74"/>
                </a:solidFill>
                <a:latin typeface="Microsoft YaHei" panose="020B0503020204020204" pitchFamily="34" charset="-122"/>
                <a:ea typeface="Microsoft YaHei" panose="020B0503020204020204" pitchFamily="34" charset="-122"/>
              </a:rPr>
              <a:t>獨立客群經營團隊</a:t>
            </a:r>
            <a:endParaRPr lang="en-US" altLang="zh-TW" sz="1400" b="1">
              <a:solidFill>
                <a:srgbClr val="575757"/>
              </a:solidFill>
              <a:latin typeface="Microsoft YaHei" panose="020B0503020204020204" pitchFamily="34" charset="-122"/>
              <a:ea typeface="Microsoft YaHei" panose="020B0503020204020204" pitchFamily="34" charset="-122"/>
            </a:endParaRPr>
          </a:p>
          <a:p>
            <a:pPr marL="108000" lvl="1">
              <a:buClr>
                <a:schemeClr val="tx2"/>
              </a:buClr>
            </a:pPr>
            <a:r>
              <a:rPr lang="zh-TW" altLang="en-US" sz="1400">
                <a:solidFill>
                  <a:srgbClr val="575757"/>
                </a:solidFill>
                <a:latin typeface="Microsoft YaHei" panose="020B0503020204020204" pitchFamily="34" charset="-122"/>
                <a:ea typeface="Microsoft YaHei" panose="020B0503020204020204" pitchFamily="34" charset="-122"/>
              </a:rPr>
              <a:t>擴大客群經營團隊職責，除</a:t>
            </a:r>
            <a:r>
              <a:rPr lang="en-US" altLang="zh-TW" sz="1400">
                <a:solidFill>
                  <a:srgbClr val="575757"/>
                </a:solidFill>
                <a:latin typeface="Microsoft YaHei" panose="020B0503020204020204" pitchFamily="34" charset="-122"/>
                <a:ea typeface="Microsoft YaHei" panose="020B0503020204020204" pitchFamily="34" charset="-122"/>
              </a:rPr>
              <a:t>A</a:t>
            </a:r>
            <a:r>
              <a:rPr lang="zh-TW" altLang="en-US" sz="1400">
                <a:solidFill>
                  <a:srgbClr val="575757"/>
                </a:solidFill>
                <a:latin typeface="Microsoft YaHei" panose="020B0503020204020204" pitchFamily="34" charset="-122"/>
                <a:ea typeface="Microsoft YaHei" panose="020B0503020204020204" pitchFamily="34" charset="-122"/>
              </a:rPr>
              <a:t>客外同時涵蓋</a:t>
            </a:r>
            <a:r>
              <a:rPr lang="en-US" altLang="zh-TW" sz="1400">
                <a:solidFill>
                  <a:srgbClr val="575757"/>
                </a:solidFill>
                <a:latin typeface="Microsoft YaHei" panose="020B0503020204020204" pitchFamily="34" charset="-122"/>
                <a:ea typeface="Microsoft YaHei" panose="020B0503020204020204" pitchFamily="34" charset="-122"/>
              </a:rPr>
              <a:t>M</a:t>
            </a:r>
            <a:r>
              <a:rPr lang="zh-TW" altLang="en-US" sz="1400">
                <a:solidFill>
                  <a:srgbClr val="575757"/>
                </a:solidFill>
                <a:latin typeface="Microsoft YaHei" panose="020B0503020204020204" pitchFamily="34" charset="-122"/>
                <a:ea typeface="Microsoft YaHei" panose="020B0503020204020204" pitchFamily="34" charset="-122"/>
              </a:rPr>
              <a:t>客經營策略</a:t>
            </a:r>
            <a:endParaRPr lang="en-US" altLang="zh-TW" sz="1400">
              <a:solidFill>
                <a:srgbClr val="575757"/>
              </a:solidFill>
              <a:latin typeface="Microsoft YaHei" panose="020B0503020204020204" pitchFamily="34" charset="-122"/>
              <a:ea typeface="Microsoft YaHei" panose="020B0503020204020204" pitchFamily="34" charset="-122"/>
            </a:endParaRPr>
          </a:p>
        </p:txBody>
      </p:sp>
      <p:sp>
        <p:nvSpPr>
          <p:cNvPr id="25" name="Rectangle 24">
            <a:extLst>
              <a:ext uri="{FF2B5EF4-FFF2-40B4-BE49-F238E27FC236}">
                <a16:creationId xmlns:a16="http://schemas.microsoft.com/office/drawing/2014/main" id="{0B6EAA60-67AD-D1D0-344E-B04B1998394F}"/>
              </a:ext>
            </a:extLst>
          </p:cNvPr>
          <p:cNvSpPr/>
          <p:nvPr/>
        </p:nvSpPr>
        <p:spPr>
          <a:xfrm>
            <a:off x="4531487" y="1993379"/>
            <a:ext cx="3864067" cy="661440"/>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108000" lvl="1">
              <a:buClr>
                <a:schemeClr val="tx2"/>
              </a:buClr>
            </a:pPr>
            <a:r>
              <a:rPr lang="zh-TW" altLang="en-US" sz="1400" b="1">
                <a:solidFill>
                  <a:srgbClr val="29BA74"/>
                </a:solidFill>
                <a:latin typeface="Microsoft YaHei" panose="020B0503020204020204" pitchFamily="34" charset="-122"/>
                <a:ea typeface="Microsoft YaHei" panose="020B0503020204020204" pitchFamily="34" charset="-122"/>
              </a:rPr>
              <a:t>模式</a:t>
            </a:r>
            <a:r>
              <a:rPr lang="en-US" altLang="zh-TW" sz="1400" b="1">
                <a:solidFill>
                  <a:srgbClr val="29BA74"/>
                </a:solidFill>
                <a:latin typeface="Microsoft YaHei" panose="020B0503020204020204" pitchFamily="34" charset="-122"/>
                <a:ea typeface="Microsoft YaHei" panose="020B0503020204020204" pitchFamily="34" charset="-122"/>
              </a:rPr>
              <a:t>2: </a:t>
            </a:r>
            <a:r>
              <a:rPr lang="zh-TW" altLang="en-US" sz="1400" b="1">
                <a:solidFill>
                  <a:srgbClr val="29BA74"/>
                </a:solidFill>
                <a:latin typeface="Microsoft YaHei" panose="020B0503020204020204" pitchFamily="34" charset="-122"/>
                <a:ea typeface="Microsoft YaHei" panose="020B0503020204020204" pitchFamily="34" charset="-122"/>
              </a:rPr>
              <a:t>數位團隊主責，協調各部門合作</a:t>
            </a:r>
            <a:endParaRPr lang="en-US" altLang="zh-TW" sz="1400" b="1">
              <a:solidFill>
                <a:srgbClr val="575757"/>
              </a:solidFill>
              <a:latin typeface="Microsoft YaHei" panose="020B0503020204020204" pitchFamily="34" charset="-122"/>
              <a:ea typeface="Microsoft YaHei" panose="020B0503020204020204" pitchFamily="34" charset="-122"/>
            </a:endParaRPr>
          </a:p>
          <a:p>
            <a:pPr marL="108000" lvl="1">
              <a:buClr>
                <a:schemeClr val="tx2"/>
              </a:buClr>
            </a:pPr>
            <a:r>
              <a:rPr lang="zh-TW" altLang="en-US" sz="1400">
                <a:solidFill>
                  <a:srgbClr val="575757"/>
                </a:solidFill>
                <a:latin typeface="Microsoft YaHei" panose="020B0503020204020204" pitchFamily="34" charset="-122"/>
                <a:ea typeface="Microsoft YaHei" panose="020B0503020204020204" pitchFamily="34" charset="-122"/>
              </a:rPr>
              <a:t>擴大數位團隊職責，除優化平台，須制定數位經營策略</a:t>
            </a:r>
            <a:endParaRPr lang="en-US" altLang="zh-TW" sz="1400">
              <a:solidFill>
                <a:srgbClr val="575757"/>
              </a:solidFill>
              <a:latin typeface="Microsoft YaHei" panose="020B0503020204020204" pitchFamily="34" charset="-122"/>
              <a:ea typeface="Microsoft YaHei" panose="020B0503020204020204" pitchFamily="34" charset="-122"/>
            </a:endParaRPr>
          </a:p>
        </p:txBody>
      </p:sp>
      <p:grpSp>
        <p:nvGrpSpPr>
          <p:cNvPr id="66" name="Group 65">
            <a:extLst>
              <a:ext uri="{FF2B5EF4-FFF2-40B4-BE49-F238E27FC236}">
                <a16:creationId xmlns:a16="http://schemas.microsoft.com/office/drawing/2014/main" id="{3156B9AE-C4E1-0062-96EB-2051FC33B8C1}"/>
              </a:ext>
            </a:extLst>
          </p:cNvPr>
          <p:cNvGrpSpPr/>
          <p:nvPr/>
        </p:nvGrpSpPr>
        <p:grpSpPr>
          <a:xfrm>
            <a:off x="1152418" y="2739750"/>
            <a:ext cx="2939789" cy="678056"/>
            <a:chOff x="1959980" y="2734670"/>
            <a:chExt cx="2018519" cy="729742"/>
          </a:xfrm>
        </p:grpSpPr>
        <p:sp>
          <p:nvSpPr>
            <p:cNvPr id="27" name="Rectangle 26">
              <a:extLst>
                <a:ext uri="{FF2B5EF4-FFF2-40B4-BE49-F238E27FC236}">
                  <a16:creationId xmlns:a16="http://schemas.microsoft.com/office/drawing/2014/main" id="{4BFBED57-9013-B9E7-FFD0-1AD10C242336}"/>
                </a:ext>
              </a:extLst>
            </p:cNvPr>
            <p:cNvSpPr/>
            <p:nvPr/>
          </p:nvSpPr>
          <p:spPr>
            <a:xfrm>
              <a:off x="2270170" y="2734670"/>
              <a:ext cx="1403343" cy="222250"/>
            </a:xfrm>
            <a:prstGeom prst="rect">
              <a:avLst/>
            </a:prstGeom>
            <a:noFill/>
            <a:ln w="9525" cap="rnd" cmpd="sng" algn="ctr">
              <a:solidFill>
                <a:srgbClr val="9A9A9A"/>
              </a:solidFill>
              <a:prstDash val="solid"/>
              <a:round/>
              <a:headEnd type="none" w="med" len="med"/>
              <a:tailEnd type="none" w="med" len="med"/>
            </a:ln>
            <a:extLst>
              <a:ext uri="{909E8E84-426E-40DD-AFC4-6F175D3DCCD1}">
                <a14:hiddenFill xmlns:a14="http://schemas.microsoft.com/office/drawing/2010/main">
                  <a:solidFill>
                    <a:srgbClr val="F2F2F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400" b="1">
                  <a:solidFill>
                    <a:srgbClr val="29BA74"/>
                  </a:solidFill>
                  <a:ea typeface="Microsoft YaHei" panose="020B0503020204020204" pitchFamily="34" charset="-122"/>
                </a:rPr>
                <a:t>客群經營</a:t>
              </a:r>
              <a:endParaRPr lang="en-US" sz="1400" b="1">
                <a:solidFill>
                  <a:srgbClr val="29BA74"/>
                </a:solidFill>
                <a:ea typeface="Microsoft YaHei" panose="020B0503020204020204" pitchFamily="34" charset="-122"/>
              </a:endParaRPr>
            </a:p>
          </p:txBody>
        </p:sp>
        <p:sp>
          <p:nvSpPr>
            <p:cNvPr id="30" name="Rectangle 29">
              <a:extLst>
                <a:ext uri="{FF2B5EF4-FFF2-40B4-BE49-F238E27FC236}">
                  <a16:creationId xmlns:a16="http://schemas.microsoft.com/office/drawing/2014/main" id="{062B08B3-561F-D48A-A3FB-BE0856F98206}"/>
                </a:ext>
              </a:extLst>
            </p:cNvPr>
            <p:cNvSpPr/>
            <p:nvPr/>
          </p:nvSpPr>
          <p:spPr>
            <a:xfrm>
              <a:off x="1959980" y="3242162"/>
              <a:ext cx="610963" cy="222250"/>
            </a:xfrm>
            <a:prstGeom prst="rect">
              <a:avLst/>
            </a:prstGeom>
            <a:noFill/>
            <a:ln w="9525" cap="rnd" cmpd="sng" algn="ctr">
              <a:solidFill>
                <a:srgbClr val="9A9A9A"/>
              </a:solidFill>
              <a:prstDash val="solid"/>
              <a:round/>
              <a:headEnd type="none" w="med" len="med"/>
              <a:tailEnd type="none" w="med" len="med"/>
            </a:ln>
            <a:extLst>
              <a:ext uri="{909E8E84-426E-40DD-AFC4-6F175D3DCCD1}">
                <a14:hiddenFill xmlns:a14="http://schemas.microsoft.com/office/drawing/2010/main">
                  <a:solidFill>
                    <a:srgbClr val="F2F2F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400">
                  <a:solidFill>
                    <a:srgbClr val="575757"/>
                  </a:solidFill>
                  <a:ea typeface="Microsoft YaHei" panose="020B0503020204020204" pitchFamily="34" charset="-122"/>
                </a:rPr>
                <a:t>數位</a:t>
              </a:r>
              <a:endParaRPr lang="en-US" sz="1400">
                <a:solidFill>
                  <a:srgbClr val="575757"/>
                </a:solidFill>
                <a:ea typeface="Microsoft YaHei" panose="020B0503020204020204" pitchFamily="34" charset="-122"/>
              </a:endParaRPr>
            </a:p>
          </p:txBody>
        </p:sp>
        <p:sp>
          <p:nvSpPr>
            <p:cNvPr id="31" name="Rectangle 30">
              <a:extLst>
                <a:ext uri="{FF2B5EF4-FFF2-40B4-BE49-F238E27FC236}">
                  <a16:creationId xmlns:a16="http://schemas.microsoft.com/office/drawing/2014/main" id="{6233988B-661F-F07D-5021-6A3FF0E7A78C}"/>
                </a:ext>
              </a:extLst>
            </p:cNvPr>
            <p:cNvSpPr/>
            <p:nvPr/>
          </p:nvSpPr>
          <p:spPr>
            <a:xfrm>
              <a:off x="2646166" y="3242162"/>
              <a:ext cx="658755" cy="222250"/>
            </a:xfrm>
            <a:prstGeom prst="rect">
              <a:avLst/>
            </a:prstGeom>
            <a:noFill/>
            <a:ln w="9525" cap="rnd" cmpd="sng" algn="ctr">
              <a:solidFill>
                <a:srgbClr val="9A9A9A"/>
              </a:solidFill>
              <a:prstDash val="solid"/>
              <a:round/>
              <a:headEnd type="none" w="med" len="med"/>
              <a:tailEnd type="none" w="med" len="med"/>
            </a:ln>
            <a:extLst>
              <a:ext uri="{909E8E84-426E-40DD-AFC4-6F175D3DCCD1}">
                <a14:hiddenFill xmlns:a14="http://schemas.microsoft.com/office/drawing/2010/main">
                  <a:solidFill>
                    <a:srgbClr val="F2F2F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400">
                  <a:solidFill>
                    <a:srgbClr val="575757"/>
                  </a:solidFill>
                  <a:ea typeface="Microsoft YaHei" panose="020B0503020204020204" pitchFamily="34" charset="-122"/>
                </a:rPr>
                <a:t>產品</a:t>
              </a:r>
              <a:endParaRPr lang="en-US" sz="1400">
                <a:solidFill>
                  <a:srgbClr val="575757"/>
                </a:solidFill>
                <a:ea typeface="Microsoft YaHei" panose="020B0503020204020204" pitchFamily="34" charset="-122"/>
              </a:endParaRPr>
            </a:p>
          </p:txBody>
        </p:sp>
        <p:sp>
          <p:nvSpPr>
            <p:cNvPr id="34" name="Rectangle 33">
              <a:extLst>
                <a:ext uri="{FF2B5EF4-FFF2-40B4-BE49-F238E27FC236}">
                  <a16:creationId xmlns:a16="http://schemas.microsoft.com/office/drawing/2014/main" id="{E71CB6BF-7617-33F0-B74C-E854664FDD7A}"/>
                </a:ext>
              </a:extLst>
            </p:cNvPr>
            <p:cNvSpPr/>
            <p:nvPr/>
          </p:nvSpPr>
          <p:spPr>
            <a:xfrm>
              <a:off x="3377916" y="3242162"/>
              <a:ext cx="600583" cy="222250"/>
            </a:xfrm>
            <a:prstGeom prst="rect">
              <a:avLst/>
            </a:prstGeom>
            <a:noFill/>
            <a:ln w="9525" cap="rnd" cmpd="sng" algn="ctr">
              <a:solidFill>
                <a:srgbClr val="9A9A9A"/>
              </a:solidFill>
              <a:prstDash val="solid"/>
              <a:round/>
              <a:headEnd type="none" w="med" len="med"/>
              <a:tailEnd type="none" w="med" len="med"/>
            </a:ln>
            <a:extLst>
              <a:ext uri="{909E8E84-426E-40DD-AFC4-6F175D3DCCD1}">
                <a14:hiddenFill xmlns:a14="http://schemas.microsoft.com/office/drawing/2010/main">
                  <a:solidFill>
                    <a:srgbClr val="F2F2F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400">
                  <a:solidFill>
                    <a:srgbClr val="575757"/>
                  </a:solidFill>
                  <a:ea typeface="Microsoft YaHei" panose="020B0503020204020204" pitchFamily="34" charset="-122"/>
                </a:rPr>
                <a:t>數據</a:t>
              </a:r>
              <a:endParaRPr lang="en-US" sz="1400">
                <a:solidFill>
                  <a:srgbClr val="575757"/>
                </a:solidFill>
                <a:ea typeface="Microsoft YaHei" panose="020B0503020204020204" pitchFamily="34" charset="-122"/>
              </a:endParaRPr>
            </a:p>
          </p:txBody>
        </p:sp>
        <p:cxnSp>
          <p:nvCxnSpPr>
            <p:cNvPr id="35" name="Connector: Elbow 34">
              <a:extLst>
                <a:ext uri="{FF2B5EF4-FFF2-40B4-BE49-F238E27FC236}">
                  <a16:creationId xmlns:a16="http://schemas.microsoft.com/office/drawing/2014/main" id="{58FC7620-0225-C24C-99D8-47292E7CE678}"/>
                </a:ext>
              </a:extLst>
            </p:cNvPr>
            <p:cNvCxnSpPr>
              <a:stCxn id="27" idx="2"/>
              <a:endCxn id="30" idx="0"/>
            </p:cNvCxnSpPr>
            <p:nvPr/>
          </p:nvCxnSpPr>
          <p:spPr>
            <a:xfrm rot="5400000">
              <a:off x="2476031" y="2746351"/>
              <a:ext cx="285242" cy="706380"/>
            </a:xfrm>
            <a:prstGeom prst="bentConnector3">
              <a:avLst/>
            </a:prstGeom>
            <a:ln w="9525" cap="rnd">
              <a:solidFill>
                <a:schemeClr val="tx1">
                  <a:lumMod val="60000"/>
                  <a:lumOff val="40000"/>
                </a:schemeClr>
              </a:solidFill>
              <a:prstDash val="solid"/>
              <a:round/>
            </a:ln>
          </p:spPr>
          <p:style>
            <a:lnRef idx="1">
              <a:schemeClr val="accent1"/>
            </a:lnRef>
            <a:fillRef idx="0">
              <a:schemeClr val="accent1"/>
            </a:fillRef>
            <a:effectRef idx="0">
              <a:schemeClr val="accent1"/>
            </a:effectRef>
            <a:fontRef idx="minor">
              <a:schemeClr val="tx1"/>
            </a:fontRef>
          </p:style>
        </p:cxnSp>
        <p:cxnSp>
          <p:nvCxnSpPr>
            <p:cNvPr id="36" name="Connector: Elbow 35">
              <a:extLst>
                <a:ext uri="{FF2B5EF4-FFF2-40B4-BE49-F238E27FC236}">
                  <a16:creationId xmlns:a16="http://schemas.microsoft.com/office/drawing/2014/main" id="{CE90C20B-2C22-7E24-085D-C8EF0A079D38}"/>
                </a:ext>
              </a:extLst>
            </p:cNvPr>
            <p:cNvCxnSpPr>
              <a:cxnSpLocks/>
              <a:stCxn id="27" idx="2"/>
              <a:endCxn id="34" idx="0"/>
            </p:cNvCxnSpPr>
            <p:nvPr/>
          </p:nvCxnSpPr>
          <p:spPr>
            <a:xfrm rot="16200000" flipH="1">
              <a:off x="3182404" y="2746358"/>
              <a:ext cx="285242" cy="706366"/>
            </a:xfrm>
            <a:prstGeom prst="bentConnector3">
              <a:avLst>
                <a:gd name="adj1" fmla="val 50000"/>
              </a:avLst>
            </a:prstGeom>
            <a:ln w="9525" cap="rnd">
              <a:solidFill>
                <a:schemeClr val="tx1">
                  <a:lumMod val="60000"/>
                  <a:lumOff val="40000"/>
                </a:schemeClr>
              </a:solidFill>
              <a:prstDash val="solid"/>
              <a:round/>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F2640062-16B5-FF24-004F-7FBAD0A758EF}"/>
                </a:ext>
              </a:extLst>
            </p:cNvPr>
            <p:cNvCxnSpPr>
              <a:stCxn id="27" idx="2"/>
              <a:endCxn id="31" idx="0"/>
            </p:cNvCxnSpPr>
            <p:nvPr/>
          </p:nvCxnSpPr>
          <p:spPr>
            <a:xfrm>
              <a:off x="2971842" y="2956920"/>
              <a:ext cx="3702" cy="285242"/>
            </a:xfrm>
            <a:prstGeom prst="line">
              <a:avLst/>
            </a:prstGeom>
            <a:ln w="9525" cap="rnd">
              <a:solidFill>
                <a:schemeClr val="tx1">
                  <a:lumMod val="60000"/>
                  <a:lumOff val="40000"/>
                </a:schemeClr>
              </a:solidFill>
              <a:prstDash val="solid"/>
              <a:round/>
            </a:ln>
          </p:spPr>
          <p:style>
            <a:lnRef idx="1">
              <a:schemeClr val="accent1"/>
            </a:lnRef>
            <a:fillRef idx="0">
              <a:schemeClr val="accent1"/>
            </a:fillRef>
            <a:effectRef idx="0">
              <a:schemeClr val="accent1"/>
            </a:effectRef>
            <a:fontRef idx="minor">
              <a:schemeClr val="tx1"/>
            </a:fontRef>
          </p:style>
        </p:cxnSp>
      </p:grpSp>
      <p:grpSp>
        <p:nvGrpSpPr>
          <p:cNvPr id="38" name="Group 37">
            <a:extLst>
              <a:ext uri="{FF2B5EF4-FFF2-40B4-BE49-F238E27FC236}">
                <a16:creationId xmlns:a16="http://schemas.microsoft.com/office/drawing/2014/main" id="{C646C7F8-B343-1CB2-CCDF-D438BE646D1A}"/>
              </a:ext>
            </a:extLst>
          </p:cNvPr>
          <p:cNvGrpSpPr/>
          <p:nvPr/>
        </p:nvGrpSpPr>
        <p:grpSpPr>
          <a:xfrm>
            <a:off x="5086199" y="2764063"/>
            <a:ext cx="2548963" cy="661440"/>
            <a:chOff x="7889141" y="2025067"/>
            <a:chExt cx="1750170" cy="664525"/>
          </a:xfrm>
        </p:grpSpPr>
        <p:sp>
          <p:nvSpPr>
            <p:cNvPr id="39" name="Rectangle 38">
              <a:extLst>
                <a:ext uri="{FF2B5EF4-FFF2-40B4-BE49-F238E27FC236}">
                  <a16:creationId xmlns:a16="http://schemas.microsoft.com/office/drawing/2014/main" id="{E5B94AC1-589F-196E-9A86-41AA20EC4AF0}"/>
                </a:ext>
              </a:extLst>
            </p:cNvPr>
            <p:cNvSpPr/>
            <p:nvPr/>
          </p:nvSpPr>
          <p:spPr>
            <a:xfrm>
              <a:off x="7889141" y="2467342"/>
              <a:ext cx="716931" cy="222250"/>
            </a:xfrm>
            <a:prstGeom prst="rect">
              <a:avLst/>
            </a:prstGeom>
            <a:noFill/>
            <a:ln w="9525" cap="rnd" cmpd="sng" algn="ctr">
              <a:solidFill>
                <a:srgbClr val="9A9A9A"/>
              </a:solidFill>
              <a:prstDash val="solid"/>
              <a:round/>
              <a:headEnd type="none" w="med" len="med"/>
              <a:tailEnd type="none" w="med" len="med"/>
            </a:ln>
            <a:extLst>
              <a:ext uri="{909E8E84-426E-40DD-AFC4-6F175D3DCCD1}">
                <a14:hiddenFill xmlns:a14="http://schemas.microsoft.com/office/drawing/2010/main">
                  <a:solidFill>
                    <a:srgbClr val="F2F2F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400">
                  <a:solidFill>
                    <a:srgbClr val="575757"/>
                  </a:solidFill>
                  <a:ea typeface="Microsoft YaHei" panose="020B0503020204020204" pitchFamily="34" charset="-122"/>
                </a:rPr>
                <a:t>產品</a:t>
              </a:r>
              <a:endParaRPr lang="en-US" sz="1400">
                <a:solidFill>
                  <a:srgbClr val="575757"/>
                </a:solidFill>
                <a:ea typeface="Microsoft YaHei" panose="020B0503020204020204" pitchFamily="34" charset="-122"/>
              </a:endParaRPr>
            </a:p>
          </p:txBody>
        </p:sp>
        <p:sp>
          <p:nvSpPr>
            <p:cNvPr id="41" name="Rectangle 40">
              <a:extLst>
                <a:ext uri="{FF2B5EF4-FFF2-40B4-BE49-F238E27FC236}">
                  <a16:creationId xmlns:a16="http://schemas.microsoft.com/office/drawing/2014/main" id="{5E178D67-15C1-8DAB-1DA6-71C79004A316}"/>
                </a:ext>
              </a:extLst>
            </p:cNvPr>
            <p:cNvSpPr/>
            <p:nvPr/>
          </p:nvSpPr>
          <p:spPr>
            <a:xfrm>
              <a:off x="8420049" y="2025067"/>
              <a:ext cx="716931" cy="222250"/>
            </a:xfrm>
            <a:prstGeom prst="rect">
              <a:avLst/>
            </a:prstGeom>
            <a:noFill/>
            <a:ln w="9525" cap="rnd" cmpd="sng" algn="ctr">
              <a:solidFill>
                <a:srgbClr val="9A9A9A"/>
              </a:solidFill>
              <a:prstDash val="solid"/>
              <a:round/>
              <a:headEnd type="none" w="med" len="med"/>
              <a:tailEnd type="none" w="med" len="med"/>
            </a:ln>
            <a:extLst>
              <a:ext uri="{909E8E84-426E-40DD-AFC4-6F175D3DCCD1}">
                <a14:hiddenFill xmlns:a14="http://schemas.microsoft.com/office/drawing/2010/main">
                  <a:solidFill>
                    <a:srgbClr val="F2F2F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400" b="1">
                  <a:solidFill>
                    <a:srgbClr val="29BA74"/>
                  </a:solidFill>
                  <a:ea typeface="Microsoft YaHei" panose="020B0503020204020204" pitchFamily="34" charset="-122"/>
                </a:rPr>
                <a:t>數位</a:t>
              </a:r>
              <a:endParaRPr lang="en-US" sz="1400" b="1">
                <a:solidFill>
                  <a:srgbClr val="29BA74"/>
                </a:solidFill>
                <a:ea typeface="Microsoft YaHei" panose="020B0503020204020204" pitchFamily="34" charset="-122"/>
              </a:endParaRPr>
            </a:p>
          </p:txBody>
        </p:sp>
        <p:sp>
          <p:nvSpPr>
            <p:cNvPr id="45" name="Rectangle 44">
              <a:extLst>
                <a:ext uri="{FF2B5EF4-FFF2-40B4-BE49-F238E27FC236}">
                  <a16:creationId xmlns:a16="http://schemas.microsoft.com/office/drawing/2014/main" id="{7D74F2E2-DB61-AE83-2F06-CAB9177A537E}"/>
                </a:ext>
              </a:extLst>
            </p:cNvPr>
            <p:cNvSpPr/>
            <p:nvPr/>
          </p:nvSpPr>
          <p:spPr>
            <a:xfrm>
              <a:off x="8922380" y="2467342"/>
              <a:ext cx="716931" cy="222250"/>
            </a:xfrm>
            <a:prstGeom prst="rect">
              <a:avLst/>
            </a:prstGeom>
            <a:noFill/>
            <a:ln w="9525" cap="rnd" cmpd="sng" algn="ctr">
              <a:solidFill>
                <a:srgbClr val="9A9A9A"/>
              </a:solidFill>
              <a:prstDash val="solid"/>
              <a:round/>
              <a:headEnd type="none" w="med" len="med"/>
              <a:tailEnd type="none" w="med" len="med"/>
            </a:ln>
            <a:extLst>
              <a:ext uri="{909E8E84-426E-40DD-AFC4-6F175D3DCCD1}">
                <a14:hiddenFill xmlns:a14="http://schemas.microsoft.com/office/drawing/2010/main">
                  <a:solidFill>
                    <a:srgbClr val="F2F2F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400">
                  <a:solidFill>
                    <a:srgbClr val="575757"/>
                  </a:solidFill>
                  <a:ea typeface="Microsoft YaHei" panose="020B0503020204020204" pitchFamily="34" charset="-122"/>
                </a:rPr>
                <a:t>數據</a:t>
              </a:r>
              <a:endParaRPr lang="en-US" sz="1400">
                <a:solidFill>
                  <a:srgbClr val="575757"/>
                </a:solidFill>
                <a:ea typeface="Microsoft YaHei" panose="020B0503020204020204" pitchFamily="34" charset="-122"/>
              </a:endParaRPr>
            </a:p>
          </p:txBody>
        </p:sp>
        <p:cxnSp>
          <p:nvCxnSpPr>
            <p:cNvPr id="46" name="Straight Connector 45">
              <a:extLst>
                <a:ext uri="{FF2B5EF4-FFF2-40B4-BE49-F238E27FC236}">
                  <a16:creationId xmlns:a16="http://schemas.microsoft.com/office/drawing/2014/main" id="{23B0F1B5-665B-424A-4A64-767FB7EADC93}"/>
                </a:ext>
              </a:extLst>
            </p:cNvPr>
            <p:cNvCxnSpPr>
              <a:cxnSpLocks/>
              <a:stCxn id="41" idx="2"/>
              <a:endCxn id="39" idx="0"/>
            </p:cNvCxnSpPr>
            <p:nvPr/>
          </p:nvCxnSpPr>
          <p:spPr>
            <a:xfrm flipH="1">
              <a:off x="8247607" y="2247317"/>
              <a:ext cx="530908" cy="220025"/>
            </a:xfrm>
            <a:prstGeom prst="line">
              <a:avLst/>
            </a:prstGeom>
            <a:ln w="9525" cap="rnd">
              <a:solidFill>
                <a:schemeClr val="tx1">
                  <a:lumMod val="60000"/>
                  <a:lumOff val="40000"/>
                </a:schemeClr>
              </a:solidFill>
              <a:prstDash val="solid"/>
              <a:round/>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84BD7897-9EC0-8BC5-9871-CA0DF8856868}"/>
                </a:ext>
              </a:extLst>
            </p:cNvPr>
            <p:cNvCxnSpPr>
              <a:cxnSpLocks/>
              <a:stCxn id="39" idx="3"/>
              <a:endCxn id="45" idx="1"/>
            </p:cNvCxnSpPr>
            <p:nvPr/>
          </p:nvCxnSpPr>
          <p:spPr>
            <a:xfrm>
              <a:off x="8606072" y="2578467"/>
              <a:ext cx="316308" cy="0"/>
            </a:xfrm>
            <a:prstGeom prst="line">
              <a:avLst/>
            </a:prstGeom>
            <a:ln w="9525" cap="rnd">
              <a:solidFill>
                <a:schemeClr val="tx1">
                  <a:lumMod val="60000"/>
                  <a:lumOff val="40000"/>
                </a:schemeClr>
              </a:solidFill>
              <a:prstDash val="solid"/>
              <a:round/>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B9BF838E-4BE1-146A-C5A2-127DFE33E0CD}"/>
                </a:ext>
              </a:extLst>
            </p:cNvPr>
            <p:cNvCxnSpPr>
              <a:cxnSpLocks/>
              <a:stCxn id="41" idx="2"/>
              <a:endCxn id="45" idx="0"/>
            </p:cNvCxnSpPr>
            <p:nvPr/>
          </p:nvCxnSpPr>
          <p:spPr>
            <a:xfrm>
              <a:off x="8778515" y="2247317"/>
              <a:ext cx="502331" cy="220025"/>
            </a:xfrm>
            <a:prstGeom prst="line">
              <a:avLst/>
            </a:prstGeom>
            <a:ln w="9525" cap="rnd">
              <a:solidFill>
                <a:schemeClr val="tx1">
                  <a:lumMod val="60000"/>
                  <a:lumOff val="40000"/>
                </a:schemeClr>
              </a:solidFill>
              <a:prstDash val="solid"/>
              <a:round/>
            </a:ln>
          </p:spPr>
          <p:style>
            <a:lnRef idx="1">
              <a:schemeClr val="accent1"/>
            </a:lnRef>
            <a:fillRef idx="0">
              <a:schemeClr val="accent1"/>
            </a:fillRef>
            <a:effectRef idx="0">
              <a:schemeClr val="accent1"/>
            </a:effectRef>
            <a:fontRef idx="minor">
              <a:schemeClr val="tx1"/>
            </a:fontRef>
          </p:style>
        </p:cxnSp>
      </p:grpSp>
      <p:sp>
        <p:nvSpPr>
          <p:cNvPr id="51" name="Rectangle 50">
            <a:extLst>
              <a:ext uri="{FF2B5EF4-FFF2-40B4-BE49-F238E27FC236}">
                <a16:creationId xmlns:a16="http://schemas.microsoft.com/office/drawing/2014/main" id="{15F89658-44E4-2A43-E22D-62E929399B63}"/>
              </a:ext>
            </a:extLst>
          </p:cNvPr>
          <p:cNvSpPr/>
          <p:nvPr/>
        </p:nvSpPr>
        <p:spPr>
          <a:xfrm>
            <a:off x="789500" y="5300998"/>
            <a:ext cx="3600229" cy="692748"/>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324000" lvl="1" indent="-216000">
              <a:buClr>
                <a:schemeClr val="tx2"/>
              </a:buClr>
              <a:buFont typeface="Trebuchet MS" panose="020B0603020202020204" pitchFamily="34" charset="0"/>
              <a:buChar char="•"/>
            </a:pPr>
            <a:r>
              <a:rPr lang="zh-TW" altLang="en-US" sz="1400">
                <a:solidFill>
                  <a:schemeClr val="tx1"/>
                </a:solidFill>
                <a:latin typeface="Trebuchet MS" panose="020B0603020202020204" pitchFamily="34" charset="0"/>
                <a:ea typeface="Microsoft YaHei" panose="020B0503020204020204" pitchFamily="34" charset="-122"/>
              </a:rPr>
              <a:t>專責團隊全面檢視客戶線上及線下需求，並專注於發展整體策略並追蹤策略成效</a:t>
            </a:r>
            <a:endParaRPr lang="en-US" altLang="zh-TW" sz="1400">
              <a:solidFill>
                <a:schemeClr val="tx1"/>
              </a:solidFill>
              <a:latin typeface="Trebuchet MS" panose="020B0603020202020204" pitchFamily="34" charset="0"/>
              <a:ea typeface="Microsoft YaHei" panose="020B0503020204020204" pitchFamily="34" charset="-122"/>
            </a:endParaRPr>
          </a:p>
          <a:p>
            <a:pPr marL="324000" lvl="1" indent="-216000">
              <a:buClr>
                <a:schemeClr val="tx2"/>
              </a:buClr>
              <a:buFont typeface="Trebuchet MS" panose="020B0603020202020204" pitchFamily="34" charset="0"/>
              <a:buChar char="•"/>
            </a:pPr>
            <a:r>
              <a:rPr lang="zh-TW" altLang="en-US" sz="1400">
                <a:solidFill>
                  <a:schemeClr val="tx1"/>
                </a:solidFill>
                <a:latin typeface="Trebuchet MS" panose="020B0603020202020204" pitchFamily="34" charset="0"/>
                <a:ea typeface="Microsoft YaHei" panose="020B0503020204020204" pitchFamily="34" charset="-122"/>
              </a:rPr>
              <a:t>若現行人力不足，需額外人力成本</a:t>
            </a:r>
          </a:p>
        </p:txBody>
      </p:sp>
      <p:sp>
        <p:nvSpPr>
          <p:cNvPr id="52" name="Rectangle 51">
            <a:extLst>
              <a:ext uri="{FF2B5EF4-FFF2-40B4-BE49-F238E27FC236}">
                <a16:creationId xmlns:a16="http://schemas.microsoft.com/office/drawing/2014/main" id="{6146E9A2-83D2-5D5F-1C45-643CBEA323A5}"/>
              </a:ext>
            </a:extLst>
          </p:cNvPr>
          <p:cNvSpPr/>
          <p:nvPr/>
        </p:nvSpPr>
        <p:spPr>
          <a:xfrm>
            <a:off x="4489688" y="5318052"/>
            <a:ext cx="3864067" cy="917148"/>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324000" lvl="1" indent="-216000">
              <a:buClr>
                <a:schemeClr val="tx2"/>
              </a:buClr>
              <a:buFont typeface="Trebuchet MS" panose="020B0603020202020204" pitchFamily="34" charset="0"/>
              <a:buChar char="•"/>
            </a:pPr>
            <a:r>
              <a:rPr lang="zh-TW" altLang="en-US" sz="1400">
                <a:solidFill>
                  <a:schemeClr val="tx1"/>
                </a:solidFill>
                <a:latin typeface="Trebuchet MS" panose="020B0603020202020204" pitchFamily="34" charset="0"/>
                <a:ea typeface="Microsoft YaHei" panose="020B0503020204020204" pitchFamily="34" charset="-122"/>
              </a:rPr>
              <a:t>因數位團隊過去僅負責優化平台，需協助團隊擴充客群經營職能；僅著重數位管道</a:t>
            </a:r>
            <a:endParaRPr lang="en-US" altLang="zh-TW" sz="1400">
              <a:solidFill>
                <a:schemeClr val="tx1"/>
              </a:solidFill>
              <a:latin typeface="Trebuchet MS" panose="020B0603020202020204" pitchFamily="34" charset="0"/>
              <a:ea typeface="Microsoft YaHei" panose="020B0503020204020204" pitchFamily="34" charset="-122"/>
            </a:endParaRPr>
          </a:p>
          <a:p>
            <a:pPr marL="324000" lvl="1" indent="-216000">
              <a:buClr>
                <a:schemeClr val="tx2"/>
              </a:buClr>
              <a:buFont typeface="Trebuchet MS" panose="020B0603020202020204" pitchFamily="34" charset="0"/>
              <a:buChar char="•"/>
            </a:pPr>
            <a:r>
              <a:rPr lang="zh-TW" altLang="en-US" sz="1400">
                <a:solidFill>
                  <a:schemeClr val="tx1"/>
                </a:solidFill>
                <a:latin typeface="Trebuchet MS" panose="020B0603020202020204" pitchFamily="34" charset="0"/>
                <a:ea typeface="Microsoft YaHei" panose="020B0503020204020204" pitchFamily="34" charset="-122"/>
              </a:rPr>
              <a:t>可能避免人力成本增加；但需考量數位團隊量能，避免數位旅程受影響</a:t>
            </a:r>
            <a:endParaRPr lang="en-US" altLang="zh-TW" sz="1400">
              <a:solidFill>
                <a:schemeClr val="tx1"/>
              </a:solidFill>
              <a:latin typeface="Trebuchet MS" panose="020B0603020202020204" pitchFamily="34" charset="0"/>
              <a:ea typeface="Microsoft YaHei" panose="020B0503020204020204" pitchFamily="34" charset="-122"/>
            </a:endParaRPr>
          </a:p>
        </p:txBody>
      </p:sp>
      <p:sp>
        <p:nvSpPr>
          <p:cNvPr id="53" name="Rectangle 52">
            <a:extLst>
              <a:ext uri="{FF2B5EF4-FFF2-40B4-BE49-F238E27FC236}">
                <a16:creationId xmlns:a16="http://schemas.microsoft.com/office/drawing/2014/main" id="{23FD872A-3722-BDF9-2767-891945A3CD75}"/>
              </a:ext>
            </a:extLst>
          </p:cNvPr>
          <p:cNvSpPr/>
          <p:nvPr/>
        </p:nvSpPr>
        <p:spPr>
          <a:xfrm>
            <a:off x="8415799" y="1526368"/>
            <a:ext cx="3327926" cy="474388"/>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108000" lvl="1">
              <a:buClr>
                <a:schemeClr val="tx2"/>
              </a:buClr>
            </a:pPr>
            <a:r>
              <a:rPr lang="zh-TW" altLang="en-US" sz="1600" b="1">
                <a:solidFill>
                  <a:srgbClr val="03522D"/>
                </a:solidFill>
                <a:latin typeface="Microsoft YaHei" panose="020B0503020204020204" pitchFamily="34" charset="-122"/>
                <a:ea typeface="Microsoft YaHei" panose="020B0503020204020204" pitchFamily="34" charset="-122"/>
              </a:rPr>
              <a:t>建議</a:t>
            </a:r>
            <a:r>
              <a:rPr lang="en-US" altLang="zh-TW" sz="1600" b="1">
                <a:solidFill>
                  <a:srgbClr val="03522D"/>
                </a:solidFill>
                <a:latin typeface="Microsoft YaHei" panose="020B0503020204020204" pitchFamily="34" charset="-122"/>
                <a:ea typeface="Microsoft YaHei" panose="020B0503020204020204" pitchFamily="34" charset="-122"/>
              </a:rPr>
              <a:t>2: </a:t>
            </a:r>
            <a:r>
              <a:rPr lang="zh-TW" altLang="en-US" sz="1600" b="1">
                <a:solidFill>
                  <a:srgbClr val="03522D"/>
                </a:solidFill>
                <a:latin typeface="Microsoft YaHei" panose="020B0503020204020204" pitchFamily="34" charset="-122"/>
                <a:ea typeface="Microsoft YaHei" panose="020B0503020204020204" pitchFamily="34" charset="-122"/>
              </a:rPr>
              <a:t>明確數位經營</a:t>
            </a:r>
            <a:r>
              <a:rPr lang="en-US" altLang="zh-TW" sz="1600" b="1" err="1">
                <a:solidFill>
                  <a:srgbClr val="03522D"/>
                </a:solidFill>
                <a:latin typeface="Microsoft YaHei" panose="020B0503020204020204" pitchFamily="34" charset="-122"/>
                <a:ea typeface="Microsoft YaHei" panose="020B0503020204020204" pitchFamily="34" charset="-122"/>
              </a:rPr>
              <a:t>KPI</a:t>
            </a:r>
            <a:endParaRPr lang="en-US" altLang="zh-TW" sz="1600" b="1">
              <a:solidFill>
                <a:srgbClr val="03522D"/>
              </a:solidFill>
              <a:latin typeface="Microsoft YaHei" panose="020B0503020204020204" pitchFamily="34" charset="-122"/>
              <a:ea typeface="Microsoft YaHei" panose="020B0503020204020204" pitchFamily="34" charset="-122"/>
            </a:endParaRPr>
          </a:p>
        </p:txBody>
      </p:sp>
      <p:sp>
        <p:nvSpPr>
          <p:cNvPr id="54" name="Rectangle 53">
            <a:extLst>
              <a:ext uri="{FF2B5EF4-FFF2-40B4-BE49-F238E27FC236}">
                <a16:creationId xmlns:a16="http://schemas.microsoft.com/office/drawing/2014/main" id="{42DD650F-3684-0D95-309E-35B8BB72AE0F}"/>
              </a:ext>
            </a:extLst>
          </p:cNvPr>
          <p:cNvSpPr/>
          <p:nvPr/>
        </p:nvSpPr>
        <p:spPr>
          <a:xfrm>
            <a:off x="8558753" y="2586272"/>
            <a:ext cx="3042018" cy="2996248"/>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108000" lvl="1">
              <a:buClr>
                <a:schemeClr val="tx2"/>
              </a:buClr>
            </a:pPr>
            <a:r>
              <a:rPr lang="zh-TW" altLang="en-US" sz="1400" b="1">
                <a:solidFill>
                  <a:srgbClr val="29BA74"/>
                </a:solidFill>
                <a:latin typeface="Trebuchet MS" panose="020B0603020202020204" pitchFamily="34" charset="0"/>
                <a:ea typeface="Microsoft YaHei" panose="020B0503020204020204" pitchFamily="34" charset="-122"/>
              </a:rPr>
              <a:t>共同</a:t>
            </a:r>
            <a:r>
              <a:rPr lang="en-US" altLang="zh-TW" sz="1400" b="1" err="1">
                <a:solidFill>
                  <a:srgbClr val="29BA74"/>
                </a:solidFill>
                <a:latin typeface="Trebuchet MS" panose="020B0603020202020204" pitchFamily="34" charset="0"/>
                <a:ea typeface="Microsoft YaHei" panose="020B0503020204020204" pitchFamily="34" charset="-122"/>
              </a:rPr>
              <a:t>KPI</a:t>
            </a:r>
            <a:r>
              <a:rPr lang="en-US" altLang="zh-TW" sz="1400" b="1">
                <a:solidFill>
                  <a:srgbClr val="29BA74"/>
                </a:solidFill>
                <a:latin typeface="Trebuchet MS" panose="020B0603020202020204" pitchFamily="34" charset="0"/>
                <a:ea typeface="Microsoft YaHei" panose="020B0503020204020204" pitchFamily="34" charset="-122"/>
              </a:rPr>
              <a:t>:</a:t>
            </a:r>
            <a:r>
              <a:rPr lang="zh-TW" altLang="en-US" sz="1400" b="1">
                <a:solidFill>
                  <a:srgbClr val="29BA74"/>
                </a:solidFill>
                <a:latin typeface="Trebuchet MS" panose="020B0603020202020204" pitchFamily="34" charset="0"/>
                <a:ea typeface="Microsoft YaHei" panose="020B0503020204020204" pitchFamily="34" charset="-122"/>
              </a:rPr>
              <a:t> 確保各單位共同協作</a:t>
            </a:r>
            <a:endParaRPr lang="en-US" altLang="zh-TW" sz="1400" b="1">
              <a:solidFill>
                <a:srgbClr val="29BA74"/>
              </a:solidFill>
              <a:latin typeface="Trebuchet MS" panose="020B0603020202020204" pitchFamily="34" charset="0"/>
              <a:ea typeface="Microsoft YaHei" panose="020B0503020204020204" pitchFamily="34" charset="-122"/>
            </a:endParaRPr>
          </a:p>
          <a:p>
            <a:pPr marL="108000" lvl="1">
              <a:buClr>
                <a:schemeClr val="tx2"/>
              </a:buClr>
            </a:pPr>
            <a:endParaRPr lang="en-US" altLang="zh-TW" sz="1400">
              <a:solidFill>
                <a:srgbClr val="575757"/>
              </a:solidFill>
              <a:latin typeface="Trebuchet MS" panose="020B0603020202020204" pitchFamily="34" charset="0"/>
              <a:ea typeface="Microsoft YaHei" panose="020B0503020204020204" pitchFamily="34" charset="-122"/>
            </a:endParaRPr>
          </a:p>
          <a:p>
            <a:pPr marL="324000" lvl="1" indent="-216000">
              <a:buClr>
                <a:schemeClr val="tx2"/>
              </a:buClr>
              <a:buFont typeface="Trebuchet MS" panose="020B0603020202020204" pitchFamily="34" charset="0"/>
              <a:buChar char="•"/>
            </a:pPr>
            <a:r>
              <a:rPr lang="zh-TW" altLang="en-US" sz="1400">
                <a:solidFill>
                  <a:schemeClr val="tx1"/>
                </a:solidFill>
                <a:latin typeface="Trebuchet MS" panose="020B0603020202020204" pitchFamily="34" charset="0"/>
                <a:ea typeface="Microsoft YaHei" panose="020B0503020204020204" pitchFamily="34" charset="-122"/>
              </a:rPr>
              <a:t>產品數位平台轉換率</a:t>
            </a:r>
            <a:endParaRPr lang="en-US" altLang="zh-TW" sz="1400">
              <a:solidFill>
                <a:schemeClr val="tx1"/>
              </a:solidFill>
              <a:latin typeface="Trebuchet MS" panose="020B0603020202020204" pitchFamily="34" charset="0"/>
              <a:ea typeface="Microsoft YaHei" panose="020B0503020204020204" pitchFamily="34" charset="-122"/>
            </a:endParaRPr>
          </a:p>
          <a:p>
            <a:pPr marL="324000" lvl="1" indent="-216000">
              <a:buClr>
                <a:schemeClr val="tx2"/>
              </a:buClr>
              <a:buFont typeface="Trebuchet MS" panose="020B0603020202020204" pitchFamily="34" charset="0"/>
              <a:buChar char="•"/>
            </a:pPr>
            <a:r>
              <a:rPr lang="zh-TW" altLang="en-US" sz="1400">
                <a:solidFill>
                  <a:schemeClr val="tx1"/>
                </a:solidFill>
                <a:latin typeface="Trebuchet MS" panose="020B0603020202020204" pitchFamily="34" charset="0"/>
                <a:ea typeface="Microsoft YaHei" panose="020B0503020204020204" pitchFamily="34" charset="-122"/>
              </a:rPr>
              <a:t>數位管道活躍人數</a:t>
            </a:r>
            <a:endParaRPr lang="en-US" altLang="zh-TW" sz="1400">
              <a:solidFill>
                <a:schemeClr val="tx1"/>
              </a:solidFill>
              <a:latin typeface="Trebuchet MS" panose="020B0603020202020204" pitchFamily="34" charset="0"/>
              <a:ea typeface="Microsoft YaHei" panose="020B0503020204020204" pitchFamily="34" charset="-122"/>
            </a:endParaRPr>
          </a:p>
          <a:p>
            <a:pPr marL="324000" lvl="1" indent="-216000">
              <a:buClr>
                <a:schemeClr val="tx2"/>
              </a:buClr>
              <a:buFont typeface="Trebuchet MS" panose="020B0603020202020204" pitchFamily="34" charset="0"/>
              <a:buChar char="•"/>
            </a:pPr>
            <a:r>
              <a:rPr lang="zh-TW" altLang="en-US" sz="1400">
                <a:solidFill>
                  <a:schemeClr val="tx1"/>
                </a:solidFill>
                <a:latin typeface="Trebuchet MS" panose="020B0603020202020204" pitchFamily="34" charset="0"/>
                <a:ea typeface="Microsoft YaHei" panose="020B0503020204020204" pitchFamily="34" charset="-122"/>
              </a:rPr>
              <a:t>數位管道滿意度等</a:t>
            </a:r>
            <a:endParaRPr lang="en-US" altLang="zh-TW" sz="1400">
              <a:solidFill>
                <a:schemeClr val="tx1"/>
              </a:solidFill>
              <a:latin typeface="Trebuchet MS" panose="020B0603020202020204" pitchFamily="34" charset="0"/>
              <a:ea typeface="Microsoft YaHei" panose="020B0503020204020204" pitchFamily="34" charset="-122"/>
            </a:endParaRPr>
          </a:p>
          <a:p>
            <a:pPr marL="324000" lvl="1" indent="-216000">
              <a:buClr>
                <a:schemeClr val="tx2"/>
              </a:buClr>
              <a:buFont typeface="Trebuchet MS" panose="020B0603020202020204" pitchFamily="34" charset="0"/>
              <a:buChar char="•"/>
            </a:pPr>
            <a:endParaRPr lang="en-US" altLang="zh-TW" sz="1400">
              <a:solidFill>
                <a:srgbClr val="575757"/>
              </a:solidFill>
              <a:latin typeface="Trebuchet MS" panose="020B0603020202020204" pitchFamily="34" charset="0"/>
              <a:ea typeface="Microsoft YaHei" panose="020B0503020204020204" pitchFamily="34" charset="-122"/>
            </a:endParaRPr>
          </a:p>
          <a:p>
            <a:pPr marL="324000" lvl="1" indent="-216000">
              <a:buClr>
                <a:schemeClr val="tx2"/>
              </a:buClr>
              <a:buFont typeface="Trebuchet MS" panose="020B0603020202020204" pitchFamily="34" charset="0"/>
              <a:buChar char="•"/>
            </a:pPr>
            <a:endParaRPr lang="en-US" altLang="zh-TW" sz="1400">
              <a:solidFill>
                <a:srgbClr val="575757"/>
              </a:solidFill>
              <a:latin typeface="Trebuchet MS" panose="020B0603020202020204" pitchFamily="34" charset="0"/>
              <a:ea typeface="Microsoft YaHei" panose="020B0503020204020204" pitchFamily="34" charset="-122"/>
            </a:endParaRPr>
          </a:p>
          <a:p>
            <a:pPr marL="108000" lvl="1">
              <a:buClr>
                <a:schemeClr val="tx2"/>
              </a:buClr>
            </a:pPr>
            <a:r>
              <a:rPr lang="zh-TW" altLang="en-US" sz="1400" b="1">
                <a:solidFill>
                  <a:srgbClr val="29BA74"/>
                </a:solidFill>
                <a:latin typeface="Trebuchet MS" panose="020B0603020202020204" pitchFamily="34" charset="0"/>
                <a:ea typeface="Microsoft YaHei" panose="020B0503020204020204" pitchFamily="34" charset="-122"/>
              </a:rPr>
              <a:t>各單位</a:t>
            </a:r>
            <a:r>
              <a:rPr lang="en-US" altLang="zh-TW" sz="1400" b="1" err="1">
                <a:solidFill>
                  <a:srgbClr val="29BA74"/>
                </a:solidFill>
                <a:latin typeface="Trebuchet MS" panose="020B0603020202020204" pitchFamily="34" charset="0"/>
                <a:ea typeface="Microsoft YaHei" panose="020B0503020204020204" pitchFamily="34" charset="-122"/>
              </a:rPr>
              <a:t>KPI</a:t>
            </a:r>
            <a:r>
              <a:rPr lang="en-US" altLang="zh-TW" sz="1400" b="1">
                <a:solidFill>
                  <a:srgbClr val="29BA74"/>
                </a:solidFill>
                <a:latin typeface="Trebuchet MS" panose="020B0603020202020204" pitchFamily="34" charset="0"/>
                <a:ea typeface="Microsoft YaHei" panose="020B0503020204020204" pitchFamily="34" charset="-122"/>
              </a:rPr>
              <a:t>:</a:t>
            </a:r>
            <a:r>
              <a:rPr lang="zh-TW" altLang="en-US" sz="1400" b="1">
                <a:solidFill>
                  <a:srgbClr val="29BA74"/>
                </a:solidFill>
                <a:latin typeface="Trebuchet MS" panose="020B0603020202020204" pitchFamily="34" charset="0"/>
                <a:ea typeface="Microsoft YaHei" panose="020B0503020204020204" pitchFamily="34" charset="-122"/>
              </a:rPr>
              <a:t> 依單位職責有所不同</a:t>
            </a:r>
            <a:endParaRPr lang="en-US" altLang="zh-TW" sz="1400" b="1">
              <a:solidFill>
                <a:srgbClr val="29BA74"/>
              </a:solidFill>
              <a:latin typeface="Trebuchet MS" panose="020B0603020202020204" pitchFamily="34" charset="0"/>
              <a:ea typeface="Microsoft YaHei" panose="020B0503020204020204" pitchFamily="34" charset="-122"/>
            </a:endParaRPr>
          </a:p>
          <a:p>
            <a:pPr marL="108000" lvl="1">
              <a:buClr>
                <a:schemeClr val="tx2"/>
              </a:buClr>
            </a:pPr>
            <a:endParaRPr lang="en-US" altLang="zh-TW" sz="1400">
              <a:solidFill>
                <a:srgbClr val="575757"/>
              </a:solidFill>
              <a:latin typeface="Trebuchet MS" panose="020B0603020202020204" pitchFamily="34" charset="0"/>
              <a:ea typeface="Microsoft YaHei" panose="020B0503020204020204" pitchFamily="34" charset="-122"/>
            </a:endParaRPr>
          </a:p>
          <a:p>
            <a:pPr marL="324000" lvl="1" indent="-216000">
              <a:buClr>
                <a:schemeClr val="tx2"/>
              </a:buClr>
              <a:buFont typeface="Trebuchet MS" panose="020B0603020202020204" pitchFamily="34" charset="0"/>
              <a:buChar char="•"/>
            </a:pPr>
            <a:r>
              <a:rPr lang="zh-TW" altLang="en-US" sz="1400">
                <a:solidFill>
                  <a:schemeClr val="tx1"/>
                </a:solidFill>
                <a:latin typeface="Trebuchet MS" panose="020B0603020202020204" pitchFamily="34" charset="0"/>
                <a:ea typeface="Microsoft YaHei" panose="020B0503020204020204" pitchFamily="34" charset="-122"/>
              </a:rPr>
              <a:t>數位產品</a:t>
            </a:r>
            <a:r>
              <a:rPr lang="en-US" altLang="zh-TW" sz="1400" err="1">
                <a:solidFill>
                  <a:schemeClr val="tx1"/>
                </a:solidFill>
                <a:latin typeface="Trebuchet MS" panose="020B0603020202020204" pitchFamily="34" charset="0"/>
                <a:ea typeface="Microsoft YaHei" panose="020B0503020204020204" pitchFamily="34" charset="-122"/>
              </a:rPr>
              <a:t>P&amp;L</a:t>
            </a:r>
            <a:endParaRPr lang="en-US" altLang="zh-TW" sz="1400">
              <a:solidFill>
                <a:schemeClr val="tx1"/>
              </a:solidFill>
              <a:latin typeface="Trebuchet MS" panose="020B0603020202020204" pitchFamily="34" charset="0"/>
              <a:ea typeface="Microsoft YaHei" panose="020B0503020204020204" pitchFamily="34" charset="-122"/>
            </a:endParaRPr>
          </a:p>
          <a:p>
            <a:pPr marL="324000" lvl="1" indent="-216000">
              <a:buClr>
                <a:schemeClr val="tx2"/>
              </a:buClr>
              <a:buFont typeface="Trebuchet MS" panose="020B0603020202020204" pitchFamily="34" charset="0"/>
              <a:buChar char="•"/>
            </a:pPr>
            <a:r>
              <a:rPr lang="zh-TW" altLang="en-US" sz="1400">
                <a:solidFill>
                  <a:schemeClr val="tx1"/>
                </a:solidFill>
                <a:latin typeface="Trebuchet MS" panose="020B0603020202020204" pitchFamily="34" charset="0"/>
                <a:ea typeface="Microsoft YaHei" panose="020B0503020204020204" pitchFamily="34" charset="-122"/>
              </a:rPr>
              <a:t>數位產品點擊率</a:t>
            </a:r>
            <a:endParaRPr lang="en-US" altLang="zh-TW" sz="1400">
              <a:solidFill>
                <a:schemeClr val="tx1"/>
              </a:solidFill>
              <a:latin typeface="Trebuchet MS" panose="020B0603020202020204" pitchFamily="34" charset="0"/>
              <a:ea typeface="Microsoft YaHei" panose="020B0503020204020204" pitchFamily="34" charset="-122"/>
            </a:endParaRPr>
          </a:p>
          <a:p>
            <a:pPr marL="324000" lvl="1" indent="-216000">
              <a:buClr>
                <a:schemeClr val="tx2"/>
              </a:buClr>
              <a:buFont typeface="Trebuchet MS" panose="020B0603020202020204" pitchFamily="34" charset="0"/>
              <a:buChar char="•"/>
            </a:pPr>
            <a:r>
              <a:rPr lang="zh-TW" altLang="en-US" sz="1400">
                <a:solidFill>
                  <a:schemeClr val="tx1"/>
                </a:solidFill>
                <a:latin typeface="Trebuchet MS" panose="020B0603020202020204" pitchFamily="34" charset="0"/>
                <a:ea typeface="Microsoft YaHei" panose="020B0503020204020204" pitchFamily="34" charset="-122"/>
              </a:rPr>
              <a:t>數位管道交叉銷售成功率</a:t>
            </a:r>
            <a:endParaRPr lang="en-US" altLang="zh-TW" sz="1400">
              <a:solidFill>
                <a:schemeClr val="tx1"/>
              </a:solidFill>
              <a:latin typeface="Trebuchet MS" panose="020B0603020202020204" pitchFamily="34" charset="0"/>
              <a:ea typeface="Microsoft YaHei" panose="020B0503020204020204" pitchFamily="34" charset="-122"/>
            </a:endParaRPr>
          </a:p>
          <a:p>
            <a:pPr marL="324000" lvl="1" indent="-216000">
              <a:buClr>
                <a:schemeClr val="tx2"/>
              </a:buClr>
              <a:buFont typeface="Trebuchet MS" panose="020B0603020202020204" pitchFamily="34" charset="0"/>
              <a:buChar char="•"/>
            </a:pPr>
            <a:r>
              <a:rPr lang="zh-TW" altLang="en-US" sz="1400">
                <a:solidFill>
                  <a:schemeClr val="tx1"/>
                </a:solidFill>
                <a:latin typeface="Trebuchet MS" panose="020B0603020202020204" pitchFamily="34" charset="0"/>
                <a:ea typeface="Microsoft YaHei" panose="020B0503020204020204" pitchFamily="34" charset="-122"/>
              </a:rPr>
              <a:t>數位管道客戶流失率</a:t>
            </a:r>
            <a:endParaRPr lang="en-US" altLang="zh-TW" sz="1400">
              <a:solidFill>
                <a:schemeClr val="tx1"/>
              </a:solidFill>
              <a:latin typeface="Trebuchet MS" panose="020B0603020202020204" pitchFamily="34" charset="0"/>
              <a:ea typeface="Microsoft YaHei" panose="020B0503020204020204" pitchFamily="34" charset="-122"/>
            </a:endParaRPr>
          </a:p>
        </p:txBody>
      </p:sp>
      <p:sp>
        <p:nvSpPr>
          <p:cNvPr id="18" name="Rectangle 17">
            <a:extLst>
              <a:ext uri="{FF2B5EF4-FFF2-40B4-BE49-F238E27FC236}">
                <a16:creationId xmlns:a16="http://schemas.microsoft.com/office/drawing/2014/main" id="{4F942FE1-9CEE-1843-F9B7-A4B303C370C3}"/>
              </a:ext>
            </a:extLst>
          </p:cNvPr>
          <p:cNvSpPr/>
          <p:nvPr/>
        </p:nvSpPr>
        <p:spPr>
          <a:xfrm>
            <a:off x="497599" y="2516861"/>
            <a:ext cx="341462" cy="523220"/>
          </a:xfrm>
          <a:prstGeom prst="rect">
            <a:avLst/>
          </a:prstGeom>
        </p:spPr>
        <p:txBody>
          <a:bodyPr wrap="square" lIns="0" rIns="0">
            <a:spAutoFit/>
          </a:bodyPr>
          <a:lstStyle/>
          <a:p>
            <a:pPr algn="r">
              <a:buSzPct val="100000"/>
            </a:pPr>
            <a:r>
              <a:rPr lang="zh-TW" altLang="en-US" sz="1400" b="1">
                <a:solidFill>
                  <a:srgbClr val="575757"/>
                </a:solidFill>
                <a:ea typeface="Microsoft YaHei" panose="020B0503020204020204" pitchFamily="34" charset="-122"/>
                <a:sym typeface="+mn-lt"/>
              </a:rPr>
              <a:t>主責</a:t>
            </a:r>
            <a:endParaRPr lang="en-US" sz="1400" b="1">
              <a:solidFill>
                <a:srgbClr val="575757"/>
              </a:solidFill>
              <a:ea typeface="Microsoft YaHei" panose="020B0503020204020204" pitchFamily="34" charset="-122"/>
              <a:sym typeface="+mn-lt"/>
            </a:endParaRPr>
          </a:p>
        </p:txBody>
      </p:sp>
      <p:sp>
        <p:nvSpPr>
          <p:cNvPr id="21" name="Rectangle 20">
            <a:extLst>
              <a:ext uri="{FF2B5EF4-FFF2-40B4-BE49-F238E27FC236}">
                <a16:creationId xmlns:a16="http://schemas.microsoft.com/office/drawing/2014/main" id="{E28BA364-A1D1-FF6D-47CB-CD5261E72C3A}"/>
              </a:ext>
            </a:extLst>
          </p:cNvPr>
          <p:cNvSpPr/>
          <p:nvPr/>
        </p:nvSpPr>
        <p:spPr>
          <a:xfrm>
            <a:off x="628650" y="3711005"/>
            <a:ext cx="210411" cy="1169551"/>
          </a:xfrm>
          <a:prstGeom prst="rect">
            <a:avLst/>
          </a:prstGeom>
        </p:spPr>
        <p:txBody>
          <a:bodyPr wrap="square" lIns="0" rIns="0">
            <a:spAutoFit/>
          </a:bodyPr>
          <a:lstStyle/>
          <a:p>
            <a:pPr algn="r">
              <a:buSzPct val="100000"/>
            </a:pPr>
            <a:r>
              <a:rPr lang="zh-TW" altLang="en-US" sz="1400" b="1">
                <a:solidFill>
                  <a:srgbClr val="575757"/>
                </a:solidFill>
                <a:ea typeface="Microsoft YaHei" panose="020B0503020204020204" pitchFamily="34" charset="-122"/>
                <a:sym typeface="+mn-lt"/>
              </a:rPr>
              <a:t>各單位職責</a:t>
            </a:r>
            <a:endParaRPr lang="en-US" sz="1400" b="1">
              <a:solidFill>
                <a:srgbClr val="575757"/>
              </a:solidFill>
              <a:ea typeface="Microsoft YaHei" panose="020B0503020204020204" pitchFamily="34" charset="-122"/>
              <a:sym typeface="+mn-lt"/>
            </a:endParaRPr>
          </a:p>
        </p:txBody>
      </p:sp>
      <p:cxnSp>
        <p:nvCxnSpPr>
          <p:cNvPr id="62" name="Straight Connector 61">
            <a:extLst>
              <a:ext uri="{FF2B5EF4-FFF2-40B4-BE49-F238E27FC236}">
                <a16:creationId xmlns:a16="http://schemas.microsoft.com/office/drawing/2014/main" id="{945DCD18-61F5-92B1-8467-7F04DC0E0F2A}"/>
              </a:ext>
            </a:extLst>
          </p:cNvPr>
          <p:cNvCxnSpPr>
            <a:cxnSpLocks/>
          </p:cNvCxnSpPr>
          <p:nvPr/>
        </p:nvCxnSpPr>
        <p:spPr>
          <a:xfrm>
            <a:off x="628650" y="1925187"/>
            <a:ext cx="7847967" cy="0"/>
          </a:xfrm>
          <a:prstGeom prst="line">
            <a:avLst/>
          </a:prstGeom>
          <a:ln w="19050" cap="rnd" cmpd="sng" algn="ctr">
            <a:solidFill>
              <a:srgbClr val="29BA74"/>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B89035E5-4C57-CF50-22F5-E6BB864E8DB7}"/>
              </a:ext>
            </a:extLst>
          </p:cNvPr>
          <p:cNvCxnSpPr>
            <a:cxnSpLocks/>
          </p:cNvCxnSpPr>
          <p:nvPr/>
        </p:nvCxnSpPr>
        <p:spPr>
          <a:xfrm>
            <a:off x="8618879" y="1925187"/>
            <a:ext cx="2899756" cy="0"/>
          </a:xfrm>
          <a:prstGeom prst="line">
            <a:avLst/>
          </a:prstGeom>
          <a:ln w="19050" cap="rnd" cmpd="sng" algn="ctr">
            <a:solidFill>
              <a:srgbClr val="29BA74"/>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5" name="Textfeld 1">
            <a:extLst>
              <a:ext uri="{FF2B5EF4-FFF2-40B4-BE49-F238E27FC236}">
                <a16:creationId xmlns:a16="http://schemas.microsoft.com/office/drawing/2014/main" id="{C47D5DCC-7457-C80B-6AB6-62AD9AA00B51}"/>
              </a:ext>
            </a:extLst>
          </p:cNvPr>
          <p:cNvSpPr txBox="1"/>
          <p:nvPr>
            <p:custDataLst>
              <p:tags r:id="rId5"/>
            </p:custDataLst>
          </p:nvPr>
        </p:nvSpPr>
        <p:spPr>
          <a:xfrm>
            <a:off x="2971840" y="9132457"/>
            <a:ext cx="3362093" cy="483209"/>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en-US" sz="1200" b="1">
                <a:solidFill>
                  <a:srgbClr val="575757"/>
                </a:solidFill>
                <a:ea typeface="Microsoft YaHei" panose="020B0503020204020204" pitchFamily="34" charset="-122"/>
                <a:sym typeface="Trebuchet MS" panose="020B0603020202020204" pitchFamily="34" charset="0"/>
              </a:rPr>
              <a:t>CA 24.Jun.24:
</a:t>
            </a:r>
            <a:r>
              <a:rPr lang="en-US" altLang="zh-TW" sz="1200" b="1">
                <a:solidFill>
                  <a:srgbClr val="575757"/>
                </a:solidFill>
                <a:ea typeface="Microsoft YaHei" panose="020B0503020204020204" pitchFamily="34" charset="-122"/>
                <a:sym typeface="Trebuchet MS" panose="020B0603020202020204" pitchFamily="34" charset="0"/>
              </a:rPr>
              <a:t>TBD:</a:t>
            </a:r>
            <a:r>
              <a:rPr lang="zh-TW" altLang="en-US" sz="1200" b="1">
                <a:solidFill>
                  <a:srgbClr val="575757"/>
                </a:solidFill>
                <a:ea typeface="Microsoft YaHei" panose="020B0503020204020204" pitchFamily="34" charset="-122"/>
                <a:sym typeface="Trebuchet MS" panose="020B0603020202020204" pitchFamily="34" charset="0"/>
              </a:rPr>
              <a:t> </a:t>
            </a:r>
            <a:r>
              <a:rPr lang="en-US" altLang="zh-TW" sz="1200" b="1">
                <a:solidFill>
                  <a:srgbClr val="575757"/>
                </a:solidFill>
                <a:ea typeface="Microsoft YaHei" panose="020B0503020204020204" pitchFamily="34" charset="-122"/>
                <a:sym typeface="Trebuchet MS" panose="020B0603020202020204" pitchFamily="34" charset="0"/>
              </a:rPr>
              <a:t>specify case study and recommendation</a:t>
            </a:r>
            <a:endParaRPr lang="en-US" sz="1200" b="1">
              <a:solidFill>
                <a:srgbClr val="575757"/>
              </a:solidFill>
              <a:ea typeface="Microsoft YaHei" panose="020B0503020204020204" pitchFamily="34" charset="-122"/>
              <a:sym typeface="Trebuchet MS" panose="020B0603020202020204" pitchFamily="34" charset="0"/>
            </a:endParaRPr>
          </a:p>
        </p:txBody>
      </p:sp>
      <p:grpSp>
        <p:nvGrpSpPr>
          <p:cNvPr id="102" name="Group 101">
            <a:extLst>
              <a:ext uri="{FF2B5EF4-FFF2-40B4-BE49-F238E27FC236}">
                <a16:creationId xmlns:a16="http://schemas.microsoft.com/office/drawing/2014/main" id="{2DD2481E-76E2-5234-A986-D4C4714B189B}"/>
              </a:ext>
            </a:extLst>
          </p:cNvPr>
          <p:cNvGrpSpPr/>
          <p:nvPr/>
        </p:nvGrpSpPr>
        <p:grpSpPr>
          <a:xfrm>
            <a:off x="982040" y="3506192"/>
            <a:ext cx="7413515" cy="1761984"/>
            <a:chOff x="982040" y="3269450"/>
            <a:chExt cx="7413515" cy="1998726"/>
          </a:xfrm>
        </p:grpSpPr>
        <p:sp>
          <p:nvSpPr>
            <p:cNvPr id="3" name="Rectangle 2">
              <a:extLst>
                <a:ext uri="{FF2B5EF4-FFF2-40B4-BE49-F238E27FC236}">
                  <a16:creationId xmlns:a16="http://schemas.microsoft.com/office/drawing/2014/main" id="{4F21A97C-1153-1B2C-309A-1416CE531479}"/>
                </a:ext>
              </a:extLst>
            </p:cNvPr>
            <p:cNvSpPr/>
            <p:nvPr/>
          </p:nvSpPr>
          <p:spPr>
            <a:xfrm>
              <a:off x="983682" y="3807214"/>
              <a:ext cx="527207" cy="526760"/>
            </a:xfrm>
            <a:prstGeom prst="rect">
              <a:avLst/>
            </a:prstGeom>
            <a:solidFill>
              <a:srgbClr val="C9E7CA"/>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noAutofit/>
            </a:bodyPr>
            <a:lstStyle/>
            <a:p>
              <a:pPr indent="-349200" algn="ctr">
                <a:buClr>
                  <a:schemeClr val="tx2"/>
                </a:buClr>
              </a:pPr>
              <a:r>
                <a:rPr lang="zh-TW" altLang="en-US" sz="1400">
                  <a:solidFill>
                    <a:schemeClr val="tx1"/>
                  </a:solidFill>
                  <a:latin typeface="Trebuchet MS" panose="020B0603020202020204" pitchFamily="34" charset="0"/>
                  <a:ea typeface="Microsoft YaHei" panose="020B0503020204020204" pitchFamily="34" charset="-122"/>
                </a:rPr>
                <a:t>數位</a:t>
              </a:r>
            </a:p>
          </p:txBody>
        </p:sp>
        <p:sp>
          <p:nvSpPr>
            <p:cNvPr id="5" name="Rectangle 4">
              <a:extLst>
                <a:ext uri="{FF2B5EF4-FFF2-40B4-BE49-F238E27FC236}">
                  <a16:creationId xmlns:a16="http://schemas.microsoft.com/office/drawing/2014/main" id="{EC094C30-97B9-9977-DA91-181AE7306601}"/>
                </a:ext>
              </a:extLst>
            </p:cNvPr>
            <p:cNvSpPr/>
            <p:nvPr/>
          </p:nvSpPr>
          <p:spPr>
            <a:xfrm>
              <a:off x="982748" y="4407143"/>
              <a:ext cx="527207" cy="282388"/>
            </a:xfrm>
            <a:prstGeom prst="rect">
              <a:avLst/>
            </a:prstGeom>
            <a:solidFill>
              <a:srgbClr val="C9E7CA"/>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91440" tIns="45720" rIns="91440" bIns="45720" numCol="1" spcCol="0" rtlCol="0" fromWordArt="0" anchor="t" anchorCtr="0" forceAA="0" compatLnSpc="1">
              <a:prstTxWarp prst="textNoShape">
                <a:avLst/>
              </a:prstTxWarp>
              <a:noAutofit/>
            </a:bodyPr>
            <a:lstStyle/>
            <a:p>
              <a:pPr indent="-349200" algn="ctr">
                <a:buClr>
                  <a:schemeClr val="tx2"/>
                </a:buClr>
              </a:pPr>
              <a:r>
                <a:rPr lang="zh-TW" altLang="en-US" sz="1400">
                  <a:solidFill>
                    <a:schemeClr val="tx1"/>
                  </a:solidFill>
                  <a:latin typeface="Trebuchet MS" panose="020B0603020202020204" pitchFamily="34" charset="0"/>
                  <a:ea typeface="Microsoft YaHei" panose="020B0503020204020204" pitchFamily="34" charset="-122"/>
                </a:rPr>
                <a:t>產品</a:t>
              </a:r>
            </a:p>
          </p:txBody>
        </p:sp>
        <p:sp>
          <p:nvSpPr>
            <p:cNvPr id="6" name="Rectangle 5">
              <a:extLst>
                <a:ext uri="{FF2B5EF4-FFF2-40B4-BE49-F238E27FC236}">
                  <a16:creationId xmlns:a16="http://schemas.microsoft.com/office/drawing/2014/main" id="{CBCB6EB2-D499-1731-80F1-49C771F55701}"/>
                </a:ext>
              </a:extLst>
            </p:cNvPr>
            <p:cNvSpPr/>
            <p:nvPr/>
          </p:nvSpPr>
          <p:spPr>
            <a:xfrm>
              <a:off x="982040" y="4756444"/>
              <a:ext cx="527207" cy="511731"/>
            </a:xfrm>
            <a:prstGeom prst="rect">
              <a:avLst/>
            </a:prstGeom>
            <a:solidFill>
              <a:srgbClr val="C9E7CA"/>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noAutofit/>
            </a:bodyPr>
            <a:lstStyle/>
            <a:p>
              <a:pPr indent="-349200" algn="ctr">
                <a:buClr>
                  <a:schemeClr val="tx2"/>
                </a:buClr>
              </a:pPr>
              <a:r>
                <a:rPr lang="zh-TW" altLang="en-US" sz="1400">
                  <a:solidFill>
                    <a:schemeClr val="tx1"/>
                  </a:solidFill>
                  <a:latin typeface="Trebuchet MS" panose="020B0603020202020204" pitchFamily="34" charset="0"/>
                  <a:ea typeface="Microsoft YaHei" panose="020B0503020204020204" pitchFamily="34" charset="-122"/>
                </a:rPr>
                <a:t>數據</a:t>
              </a:r>
            </a:p>
          </p:txBody>
        </p:sp>
        <p:sp>
          <p:nvSpPr>
            <p:cNvPr id="9" name="Rectangle 8">
              <a:extLst>
                <a:ext uri="{FF2B5EF4-FFF2-40B4-BE49-F238E27FC236}">
                  <a16:creationId xmlns:a16="http://schemas.microsoft.com/office/drawing/2014/main" id="{88FA9E56-3B76-CFE0-F946-A98C75701454}"/>
                </a:ext>
              </a:extLst>
            </p:cNvPr>
            <p:cNvSpPr/>
            <p:nvPr/>
          </p:nvSpPr>
          <p:spPr>
            <a:xfrm>
              <a:off x="1561043" y="4412271"/>
              <a:ext cx="6834512" cy="284646"/>
            </a:xfrm>
            <a:prstGeom prst="rect">
              <a:avLst/>
            </a:prstGeom>
            <a:solidFill>
              <a:srgbClr val="F2F2F2"/>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indent="-349200">
                <a:buClr>
                  <a:schemeClr val="tx2"/>
                </a:buClr>
              </a:pPr>
              <a:r>
                <a:rPr lang="zh-TW" altLang="en-US" sz="1400">
                  <a:solidFill>
                    <a:schemeClr val="tx1"/>
                  </a:solidFill>
                  <a:latin typeface="Trebuchet MS" panose="020B0603020202020204" pitchFamily="34" charset="0"/>
                  <a:ea typeface="Microsoft YaHei" panose="020B0503020204020204" pitchFamily="34" charset="-122"/>
                </a:rPr>
                <a:t>根據不同通路需求設計產品優惠、機制</a:t>
              </a:r>
            </a:p>
          </p:txBody>
        </p:sp>
        <p:sp>
          <p:nvSpPr>
            <p:cNvPr id="10" name="Rectangle 9">
              <a:extLst>
                <a:ext uri="{FF2B5EF4-FFF2-40B4-BE49-F238E27FC236}">
                  <a16:creationId xmlns:a16="http://schemas.microsoft.com/office/drawing/2014/main" id="{999E6C4C-F755-7F71-3E43-745042404EB1}"/>
                </a:ext>
              </a:extLst>
            </p:cNvPr>
            <p:cNvSpPr/>
            <p:nvPr/>
          </p:nvSpPr>
          <p:spPr>
            <a:xfrm>
              <a:off x="1545843" y="4752467"/>
              <a:ext cx="6849712" cy="515709"/>
            </a:xfrm>
            <a:prstGeom prst="rect">
              <a:avLst/>
            </a:prstGeom>
            <a:solidFill>
              <a:srgbClr val="F2F2F2"/>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indent="-349200">
                <a:buClr>
                  <a:schemeClr val="tx2"/>
                </a:buClr>
              </a:pPr>
              <a:r>
                <a:rPr lang="zh-TW" altLang="en-US" sz="1400">
                  <a:solidFill>
                    <a:schemeClr val="tx1"/>
                  </a:solidFill>
                  <a:latin typeface="Trebuchet MS" panose="020B0603020202020204" pitchFamily="34" charset="0"/>
                  <a:ea typeface="Microsoft YaHei" panose="020B0503020204020204" pitchFamily="34" charset="-122"/>
                </a:rPr>
                <a:t>協助數據分析及管理、模型建立；追蹤端到端客戶狀況，將成效反饋至模型及各團隊作為未來活動輸入</a:t>
              </a:r>
            </a:p>
          </p:txBody>
        </p:sp>
        <p:sp>
          <p:nvSpPr>
            <p:cNvPr id="13" name="Rectangle 12">
              <a:extLst>
                <a:ext uri="{FF2B5EF4-FFF2-40B4-BE49-F238E27FC236}">
                  <a16:creationId xmlns:a16="http://schemas.microsoft.com/office/drawing/2014/main" id="{C0A7699B-31CE-02F2-F2F1-421B6544814C}"/>
                </a:ext>
              </a:extLst>
            </p:cNvPr>
            <p:cNvSpPr/>
            <p:nvPr/>
          </p:nvSpPr>
          <p:spPr>
            <a:xfrm>
              <a:off x="1570362" y="3821768"/>
              <a:ext cx="2868928" cy="526760"/>
            </a:xfrm>
            <a:prstGeom prst="rect">
              <a:avLst/>
            </a:prstGeom>
            <a:solidFill>
              <a:srgbClr val="F2F2F2"/>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349200">
                <a:buClr>
                  <a:schemeClr val="tx2"/>
                </a:buClr>
              </a:pPr>
              <a:r>
                <a:rPr lang="zh-TW" altLang="en-US" sz="1400">
                  <a:solidFill>
                    <a:schemeClr val="tx1"/>
                  </a:solidFill>
                  <a:latin typeface="Trebuchet MS" panose="020B0603020202020204" pitchFamily="34" charset="0"/>
                  <a:ea typeface="Microsoft YaHei" panose="020B0503020204020204" pitchFamily="34" charset="-122"/>
                </a:rPr>
                <a:t>負責客戶端到端數位旅程</a:t>
              </a:r>
            </a:p>
          </p:txBody>
        </p:sp>
        <p:sp>
          <p:nvSpPr>
            <p:cNvPr id="14" name="Rectangle 13">
              <a:extLst>
                <a:ext uri="{FF2B5EF4-FFF2-40B4-BE49-F238E27FC236}">
                  <a16:creationId xmlns:a16="http://schemas.microsoft.com/office/drawing/2014/main" id="{7E0316CC-4E4E-E820-DD8D-912F0A4CE142}"/>
                </a:ext>
              </a:extLst>
            </p:cNvPr>
            <p:cNvSpPr/>
            <p:nvPr/>
          </p:nvSpPr>
          <p:spPr>
            <a:xfrm>
              <a:off x="4652886" y="3807214"/>
              <a:ext cx="3742668" cy="526760"/>
            </a:xfrm>
            <a:prstGeom prst="rect">
              <a:avLst/>
            </a:prstGeom>
            <a:solidFill>
              <a:srgbClr val="F2F2F2"/>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indent="-349200">
                <a:buClr>
                  <a:schemeClr val="tx2"/>
                </a:buClr>
              </a:pPr>
              <a:r>
                <a:rPr lang="zh-TW" altLang="en-US" sz="1400">
                  <a:solidFill>
                    <a:schemeClr val="tx1"/>
                  </a:solidFill>
                  <a:latin typeface="Trebuchet MS" panose="020B0603020202020204" pitchFamily="34" charset="0"/>
                  <a:ea typeface="Microsoft YaHei" panose="020B0503020204020204" pitchFamily="34" charset="-122"/>
                </a:rPr>
                <a:t>除數位旅程外，主導客群經營工作，與產品團隊共同制定數位經營策略</a:t>
              </a:r>
            </a:p>
          </p:txBody>
        </p:sp>
        <p:sp>
          <p:nvSpPr>
            <p:cNvPr id="67" name="Rectangle 66">
              <a:extLst>
                <a:ext uri="{FF2B5EF4-FFF2-40B4-BE49-F238E27FC236}">
                  <a16:creationId xmlns:a16="http://schemas.microsoft.com/office/drawing/2014/main" id="{13370B4E-ED61-91F1-8BF1-86285AD9F335}"/>
                </a:ext>
              </a:extLst>
            </p:cNvPr>
            <p:cNvSpPr/>
            <p:nvPr/>
          </p:nvSpPr>
          <p:spPr>
            <a:xfrm>
              <a:off x="983682" y="3269450"/>
              <a:ext cx="527207" cy="427001"/>
            </a:xfrm>
            <a:prstGeom prst="rect">
              <a:avLst/>
            </a:prstGeom>
            <a:solidFill>
              <a:srgbClr val="C9E7CA"/>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noAutofit/>
            </a:bodyPr>
            <a:lstStyle/>
            <a:p>
              <a:pPr indent="-349200" algn="ctr">
                <a:buClr>
                  <a:schemeClr val="tx2"/>
                </a:buClr>
              </a:pPr>
              <a:r>
                <a:rPr lang="zh-TW" altLang="en-US" sz="1400">
                  <a:solidFill>
                    <a:schemeClr val="tx1"/>
                  </a:solidFill>
                  <a:latin typeface="Trebuchet MS" panose="020B0603020202020204" pitchFamily="34" charset="0"/>
                  <a:ea typeface="Microsoft YaHei" panose="020B0503020204020204" pitchFamily="34" charset="-122"/>
                </a:rPr>
                <a:t>客群</a:t>
              </a:r>
              <a:endParaRPr lang="en-US" altLang="zh-TW" sz="1400">
                <a:solidFill>
                  <a:schemeClr val="tx1"/>
                </a:solidFill>
                <a:latin typeface="Trebuchet MS" panose="020B0603020202020204" pitchFamily="34" charset="0"/>
                <a:ea typeface="Microsoft YaHei" panose="020B0503020204020204" pitchFamily="34" charset="-122"/>
              </a:endParaRPr>
            </a:p>
            <a:p>
              <a:pPr indent="-349200" algn="ctr">
                <a:buClr>
                  <a:schemeClr val="tx2"/>
                </a:buClr>
              </a:pPr>
              <a:r>
                <a:rPr lang="zh-TW" altLang="en-US" sz="1400">
                  <a:solidFill>
                    <a:schemeClr val="tx1"/>
                  </a:solidFill>
                  <a:latin typeface="Trebuchet MS" panose="020B0603020202020204" pitchFamily="34" charset="0"/>
                  <a:ea typeface="Microsoft YaHei" panose="020B0503020204020204" pitchFamily="34" charset="-122"/>
                </a:rPr>
                <a:t>經營</a:t>
              </a:r>
            </a:p>
          </p:txBody>
        </p:sp>
        <p:sp>
          <p:nvSpPr>
            <p:cNvPr id="79" name="Rectangle 78">
              <a:extLst>
                <a:ext uri="{FF2B5EF4-FFF2-40B4-BE49-F238E27FC236}">
                  <a16:creationId xmlns:a16="http://schemas.microsoft.com/office/drawing/2014/main" id="{1210B2B9-D683-D6AA-14D1-FAB3B8644687}"/>
                </a:ext>
              </a:extLst>
            </p:cNvPr>
            <p:cNvSpPr/>
            <p:nvPr/>
          </p:nvSpPr>
          <p:spPr>
            <a:xfrm>
              <a:off x="1570362" y="3284004"/>
              <a:ext cx="2868928" cy="427001"/>
            </a:xfrm>
            <a:prstGeom prst="rect">
              <a:avLst/>
            </a:prstGeom>
            <a:solidFill>
              <a:srgbClr val="F2F2F2"/>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349200">
                <a:buClr>
                  <a:schemeClr val="tx2"/>
                </a:buClr>
              </a:pPr>
              <a:r>
                <a:rPr lang="zh-TW" altLang="en-US" sz="1400">
                  <a:solidFill>
                    <a:schemeClr val="tx1"/>
                  </a:solidFill>
                  <a:latin typeface="Trebuchet MS" panose="020B0603020202020204" pitchFamily="34" charset="0"/>
                  <a:ea typeface="Microsoft YaHei" panose="020B0503020204020204" pitchFamily="34" charset="-122"/>
                </a:rPr>
                <a:t>制定客群經營策略方向並領導跨部門團隊協作</a:t>
              </a:r>
            </a:p>
          </p:txBody>
        </p:sp>
        <p:sp>
          <p:nvSpPr>
            <p:cNvPr id="80" name="Rectangle 79">
              <a:extLst>
                <a:ext uri="{FF2B5EF4-FFF2-40B4-BE49-F238E27FC236}">
                  <a16:creationId xmlns:a16="http://schemas.microsoft.com/office/drawing/2014/main" id="{544EBE55-C1E2-BE72-447D-4559839B3C4C}"/>
                </a:ext>
              </a:extLst>
            </p:cNvPr>
            <p:cNvSpPr/>
            <p:nvPr/>
          </p:nvSpPr>
          <p:spPr>
            <a:xfrm>
              <a:off x="4652886" y="3284004"/>
              <a:ext cx="3742668" cy="427001"/>
            </a:xfrm>
            <a:prstGeom prst="rect">
              <a:avLst/>
            </a:prstGeom>
            <a:solidFill>
              <a:srgbClr val="F2F2F2"/>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349200">
                <a:buClr>
                  <a:schemeClr val="tx2"/>
                </a:buClr>
              </a:pPr>
              <a:r>
                <a:rPr lang="en-US" altLang="zh-TW" sz="1400">
                  <a:solidFill>
                    <a:schemeClr val="tx1"/>
                  </a:solidFill>
                  <a:latin typeface="Trebuchet MS" panose="020B0603020202020204" pitchFamily="34" charset="0"/>
                  <a:ea typeface="Microsoft YaHei" panose="020B0503020204020204" pitchFamily="34" charset="-122"/>
                </a:rPr>
                <a:t>N/A</a:t>
              </a:r>
              <a:endParaRPr lang="zh-TW" altLang="en-US" sz="1400">
                <a:solidFill>
                  <a:schemeClr val="tx1"/>
                </a:solidFill>
                <a:latin typeface="Trebuchet MS" panose="020B0603020202020204" pitchFamily="34" charset="0"/>
                <a:ea typeface="Microsoft YaHei" panose="020B0503020204020204" pitchFamily="34" charset="-122"/>
              </a:endParaRPr>
            </a:p>
          </p:txBody>
        </p:sp>
      </p:grpSp>
      <p:sp>
        <p:nvSpPr>
          <p:cNvPr id="82" name="Rectangle 81">
            <a:extLst>
              <a:ext uri="{FF2B5EF4-FFF2-40B4-BE49-F238E27FC236}">
                <a16:creationId xmlns:a16="http://schemas.microsoft.com/office/drawing/2014/main" id="{AAA85450-69F1-9A99-3C76-3C1BAF82EAFC}"/>
              </a:ext>
            </a:extLst>
          </p:cNvPr>
          <p:cNvSpPr/>
          <p:nvPr/>
        </p:nvSpPr>
        <p:spPr>
          <a:xfrm>
            <a:off x="497599" y="5361037"/>
            <a:ext cx="341462" cy="738664"/>
          </a:xfrm>
          <a:prstGeom prst="rect">
            <a:avLst/>
          </a:prstGeom>
        </p:spPr>
        <p:txBody>
          <a:bodyPr wrap="square" lIns="0" rIns="0">
            <a:spAutoFit/>
          </a:bodyPr>
          <a:lstStyle/>
          <a:p>
            <a:pPr algn="r">
              <a:buSzPct val="100000"/>
            </a:pPr>
            <a:r>
              <a:rPr lang="zh-TW" altLang="en-US" sz="1400" b="1">
                <a:solidFill>
                  <a:srgbClr val="575757"/>
                </a:solidFill>
                <a:ea typeface="Microsoft YaHei" panose="020B0503020204020204" pitchFamily="34" charset="-122"/>
                <a:sym typeface="+mn-lt"/>
              </a:rPr>
              <a:t>優劣勢</a:t>
            </a:r>
            <a:endParaRPr lang="en-US" sz="1400" b="1">
              <a:solidFill>
                <a:srgbClr val="575757"/>
              </a:solidFill>
              <a:ea typeface="Microsoft YaHei" panose="020B0503020204020204" pitchFamily="34" charset="-122"/>
              <a:sym typeface="+mn-lt"/>
            </a:endParaRPr>
          </a:p>
        </p:txBody>
      </p:sp>
      <p:sp>
        <p:nvSpPr>
          <p:cNvPr id="89" name="Rectangle 11">
            <a:extLst>
              <a:ext uri="{FF2B5EF4-FFF2-40B4-BE49-F238E27FC236}">
                <a16:creationId xmlns:a16="http://schemas.microsoft.com/office/drawing/2014/main" id="{411B60E4-8C40-4D09-5147-2135CBBF2736}"/>
              </a:ext>
            </a:extLst>
          </p:cNvPr>
          <p:cNvSpPr>
            <a:spLocks noChangeArrowheads="1"/>
          </p:cNvSpPr>
          <p:nvPr/>
        </p:nvSpPr>
        <p:spPr bwMode="auto">
          <a:xfrm>
            <a:off x="1250391" y="6337952"/>
            <a:ext cx="633038" cy="75687"/>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r>
              <a:rPr lang="en-US">
                <a:solidFill>
                  <a:schemeClr val="bg1"/>
                </a:solidFill>
              </a:rPr>
              <a:t>+</a:t>
            </a:r>
          </a:p>
        </p:txBody>
      </p:sp>
      <p:grpSp>
        <p:nvGrpSpPr>
          <p:cNvPr id="90" name="Group 89">
            <a:extLst>
              <a:ext uri="{FF2B5EF4-FFF2-40B4-BE49-F238E27FC236}">
                <a16:creationId xmlns:a16="http://schemas.microsoft.com/office/drawing/2014/main" id="{1B985E2F-A0C8-1280-8D0B-E87F3D6EE251}"/>
              </a:ext>
            </a:extLst>
          </p:cNvPr>
          <p:cNvGrpSpPr>
            <a:grpSpLocks noChangeAspect="1"/>
          </p:cNvGrpSpPr>
          <p:nvPr/>
        </p:nvGrpSpPr>
        <p:grpSpPr>
          <a:xfrm>
            <a:off x="978912" y="5774436"/>
            <a:ext cx="210411" cy="210411"/>
            <a:chOff x="5961063" y="3294063"/>
            <a:chExt cx="269875" cy="269875"/>
          </a:xfrm>
        </p:grpSpPr>
        <p:sp>
          <p:nvSpPr>
            <p:cNvPr id="91" name="Oval 10">
              <a:extLst>
                <a:ext uri="{FF2B5EF4-FFF2-40B4-BE49-F238E27FC236}">
                  <a16:creationId xmlns:a16="http://schemas.microsoft.com/office/drawing/2014/main" id="{C2387455-E8C5-E063-ADD6-BF8ECF4AF868}"/>
                </a:ext>
              </a:extLst>
            </p:cNvPr>
            <p:cNvSpPr>
              <a:spLocks noChangeArrowheads="1"/>
            </p:cNvSpPr>
            <p:nvPr/>
          </p:nvSpPr>
          <p:spPr bwMode="auto">
            <a:xfrm>
              <a:off x="5961063" y="3294063"/>
              <a:ext cx="269875" cy="269875"/>
            </a:xfrm>
            <a:prstGeom prst="ellipse">
              <a:avLst/>
            </a:prstGeom>
            <a:solidFill>
              <a:srgbClr val="E71C57"/>
            </a:solidFill>
            <a:ln>
              <a:noFill/>
            </a:ln>
          </p:spPr>
          <p:txBody>
            <a:bodyPr vert="horz" wrap="square" lIns="91440" tIns="45720" rIns="91440" bIns="45720" numCol="1" anchor="t" anchorCtr="0" compatLnSpc="1">
              <a:prstTxWarp prst="textNoShape">
                <a:avLst/>
              </a:prstTxWarp>
            </a:bodyPr>
            <a:lstStyle/>
            <a:p>
              <a:endParaRPr lang="en-US"/>
            </a:p>
          </p:txBody>
        </p:sp>
        <p:sp>
          <p:nvSpPr>
            <p:cNvPr id="92" name="Rectangle 11">
              <a:extLst>
                <a:ext uri="{FF2B5EF4-FFF2-40B4-BE49-F238E27FC236}">
                  <a16:creationId xmlns:a16="http://schemas.microsoft.com/office/drawing/2014/main" id="{BAC202E6-E5BD-AB21-587F-65E9945D4F87}"/>
                </a:ext>
              </a:extLst>
            </p:cNvPr>
            <p:cNvSpPr>
              <a:spLocks noChangeArrowheads="1"/>
            </p:cNvSpPr>
            <p:nvPr/>
          </p:nvSpPr>
          <p:spPr bwMode="auto">
            <a:xfrm>
              <a:off x="6022975" y="3421063"/>
              <a:ext cx="146050" cy="1746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3" name="Group 92">
            <a:extLst>
              <a:ext uri="{FF2B5EF4-FFF2-40B4-BE49-F238E27FC236}">
                <a16:creationId xmlns:a16="http://schemas.microsoft.com/office/drawing/2014/main" id="{4364B765-235A-A31C-CB60-81E58835D9B4}"/>
              </a:ext>
            </a:extLst>
          </p:cNvPr>
          <p:cNvGrpSpPr>
            <a:grpSpLocks noChangeAspect="1"/>
          </p:cNvGrpSpPr>
          <p:nvPr/>
        </p:nvGrpSpPr>
        <p:grpSpPr>
          <a:xfrm>
            <a:off x="978914" y="5348746"/>
            <a:ext cx="210411" cy="210411"/>
            <a:chOff x="628650" y="1443038"/>
            <a:chExt cx="269875" cy="269875"/>
          </a:xfrm>
        </p:grpSpPr>
        <p:sp>
          <p:nvSpPr>
            <p:cNvPr id="94" name="Oval 93">
              <a:extLst>
                <a:ext uri="{FF2B5EF4-FFF2-40B4-BE49-F238E27FC236}">
                  <a16:creationId xmlns:a16="http://schemas.microsoft.com/office/drawing/2014/main" id="{48FD5107-07B9-B772-DC3A-1E09630506D6}"/>
                </a:ext>
              </a:extLst>
            </p:cNvPr>
            <p:cNvSpPr>
              <a:spLocks noChangeArrowheads="1"/>
            </p:cNvSpPr>
            <p:nvPr/>
          </p:nvSpPr>
          <p:spPr bwMode="auto">
            <a:xfrm>
              <a:off x="628650" y="1443038"/>
              <a:ext cx="269875" cy="269875"/>
            </a:xfrm>
            <a:prstGeom prst="ellipse">
              <a:avLst/>
            </a:prstGeom>
            <a:solidFill>
              <a:schemeClr val="tx2"/>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95" name="Freeform 7">
              <a:extLst>
                <a:ext uri="{FF2B5EF4-FFF2-40B4-BE49-F238E27FC236}">
                  <a16:creationId xmlns:a16="http://schemas.microsoft.com/office/drawing/2014/main" id="{C1F1193A-16CE-C3F6-EFF8-18100ED32C36}"/>
                </a:ext>
              </a:extLst>
            </p:cNvPr>
            <p:cNvSpPr>
              <a:spLocks/>
            </p:cNvSpPr>
            <p:nvPr/>
          </p:nvSpPr>
          <p:spPr bwMode="auto">
            <a:xfrm>
              <a:off x="690562" y="1504950"/>
              <a:ext cx="146050" cy="146050"/>
            </a:xfrm>
            <a:custGeom>
              <a:avLst/>
              <a:gdLst>
                <a:gd name="T0" fmla="*/ 50 w 92"/>
                <a:gd name="T1" fmla="*/ 0 h 92"/>
                <a:gd name="T2" fmla="*/ 41 w 92"/>
                <a:gd name="T3" fmla="*/ 0 h 92"/>
                <a:gd name="T4" fmla="*/ 41 w 92"/>
                <a:gd name="T5" fmla="*/ 42 h 92"/>
                <a:gd name="T6" fmla="*/ 0 w 92"/>
                <a:gd name="T7" fmla="*/ 42 h 92"/>
                <a:gd name="T8" fmla="*/ 0 w 92"/>
                <a:gd name="T9" fmla="*/ 51 h 92"/>
                <a:gd name="T10" fmla="*/ 41 w 92"/>
                <a:gd name="T11" fmla="*/ 51 h 92"/>
                <a:gd name="T12" fmla="*/ 41 w 92"/>
                <a:gd name="T13" fmla="*/ 92 h 92"/>
                <a:gd name="T14" fmla="*/ 50 w 92"/>
                <a:gd name="T15" fmla="*/ 92 h 92"/>
                <a:gd name="T16" fmla="*/ 50 w 92"/>
                <a:gd name="T17" fmla="*/ 51 h 92"/>
                <a:gd name="T18" fmla="*/ 92 w 92"/>
                <a:gd name="T19" fmla="*/ 51 h 92"/>
                <a:gd name="T20" fmla="*/ 92 w 92"/>
                <a:gd name="T21" fmla="*/ 42 h 92"/>
                <a:gd name="T22" fmla="*/ 50 w 92"/>
                <a:gd name="T23" fmla="*/ 42 h 92"/>
                <a:gd name="T24" fmla="*/ 50 w 92"/>
                <a:gd name="T25"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 h="92">
                  <a:moveTo>
                    <a:pt x="50" y="0"/>
                  </a:moveTo>
                  <a:lnTo>
                    <a:pt x="41" y="0"/>
                  </a:lnTo>
                  <a:lnTo>
                    <a:pt x="41" y="42"/>
                  </a:lnTo>
                  <a:lnTo>
                    <a:pt x="0" y="42"/>
                  </a:lnTo>
                  <a:lnTo>
                    <a:pt x="0" y="51"/>
                  </a:lnTo>
                  <a:lnTo>
                    <a:pt x="41" y="51"/>
                  </a:lnTo>
                  <a:lnTo>
                    <a:pt x="41" y="92"/>
                  </a:lnTo>
                  <a:lnTo>
                    <a:pt x="50" y="92"/>
                  </a:lnTo>
                  <a:lnTo>
                    <a:pt x="50" y="51"/>
                  </a:lnTo>
                  <a:lnTo>
                    <a:pt x="92" y="51"/>
                  </a:lnTo>
                  <a:lnTo>
                    <a:pt x="92" y="42"/>
                  </a:lnTo>
                  <a:lnTo>
                    <a:pt x="50" y="42"/>
                  </a:lnTo>
                  <a:lnTo>
                    <a:pt x="5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grpSp>
      <p:grpSp>
        <p:nvGrpSpPr>
          <p:cNvPr id="96" name="Group 95">
            <a:extLst>
              <a:ext uri="{FF2B5EF4-FFF2-40B4-BE49-F238E27FC236}">
                <a16:creationId xmlns:a16="http://schemas.microsoft.com/office/drawing/2014/main" id="{70AC7E6E-C64A-A2C7-1A27-A4B2D3DAB620}"/>
              </a:ext>
            </a:extLst>
          </p:cNvPr>
          <p:cNvGrpSpPr>
            <a:grpSpLocks noChangeAspect="1"/>
          </p:cNvGrpSpPr>
          <p:nvPr/>
        </p:nvGrpSpPr>
        <p:grpSpPr>
          <a:xfrm>
            <a:off x="4652886" y="5372110"/>
            <a:ext cx="210411" cy="210411"/>
            <a:chOff x="5961063" y="3294063"/>
            <a:chExt cx="269875" cy="269875"/>
          </a:xfrm>
        </p:grpSpPr>
        <p:sp>
          <p:nvSpPr>
            <p:cNvPr id="97" name="Oval 10">
              <a:extLst>
                <a:ext uri="{FF2B5EF4-FFF2-40B4-BE49-F238E27FC236}">
                  <a16:creationId xmlns:a16="http://schemas.microsoft.com/office/drawing/2014/main" id="{184EAB04-0FE9-9803-1932-073BAC5E4171}"/>
                </a:ext>
              </a:extLst>
            </p:cNvPr>
            <p:cNvSpPr>
              <a:spLocks noChangeArrowheads="1"/>
            </p:cNvSpPr>
            <p:nvPr/>
          </p:nvSpPr>
          <p:spPr bwMode="auto">
            <a:xfrm>
              <a:off x="5961063" y="3294063"/>
              <a:ext cx="269875" cy="269875"/>
            </a:xfrm>
            <a:prstGeom prst="ellipse">
              <a:avLst/>
            </a:prstGeom>
            <a:solidFill>
              <a:srgbClr val="E71C57"/>
            </a:solidFill>
            <a:ln>
              <a:noFill/>
            </a:ln>
          </p:spPr>
          <p:txBody>
            <a:bodyPr vert="horz" wrap="square" lIns="91440" tIns="45720" rIns="91440" bIns="45720" numCol="1" anchor="t" anchorCtr="0" compatLnSpc="1">
              <a:prstTxWarp prst="textNoShape">
                <a:avLst/>
              </a:prstTxWarp>
            </a:bodyPr>
            <a:lstStyle/>
            <a:p>
              <a:endParaRPr lang="en-US"/>
            </a:p>
          </p:txBody>
        </p:sp>
        <p:sp>
          <p:nvSpPr>
            <p:cNvPr id="98" name="Rectangle 11">
              <a:extLst>
                <a:ext uri="{FF2B5EF4-FFF2-40B4-BE49-F238E27FC236}">
                  <a16:creationId xmlns:a16="http://schemas.microsoft.com/office/drawing/2014/main" id="{5E56F315-5BD3-5A90-B53C-66620E3A4ED0}"/>
                </a:ext>
              </a:extLst>
            </p:cNvPr>
            <p:cNvSpPr>
              <a:spLocks noChangeArrowheads="1"/>
            </p:cNvSpPr>
            <p:nvPr/>
          </p:nvSpPr>
          <p:spPr bwMode="auto">
            <a:xfrm>
              <a:off x="6022975" y="3421063"/>
              <a:ext cx="146050" cy="1746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9" name="Group 98">
            <a:extLst>
              <a:ext uri="{FF2B5EF4-FFF2-40B4-BE49-F238E27FC236}">
                <a16:creationId xmlns:a16="http://schemas.microsoft.com/office/drawing/2014/main" id="{966FD332-88DA-906E-337D-E882BD8B7050}"/>
              </a:ext>
            </a:extLst>
          </p:cNvPr>
          <p:cNvGrpSpPr>
            <a:grpSpLocks noChangeAspect="1"/>
          </p:cNvGrpSpPr>
          <p:nvPr/>
        </p:nvGrpSpPr>
        <p:grpSpPr>
          <a:xfrm>
            <a:off x="4652886" y="5775054"/>
            <a:ext cx="210411" cy="210411"/>
            <a:chOff x="628650" y="1443038"/>
            <a:chExt cx="269875" cy="269875"/>
          </a:xfrm>
        </p:grpSpPr>
        <p:sp>
          <p:nvSpPr>
            <p:cNvPr id="100" name="Oval 99">
              <a:extLst>
                <a:ext uri="{FF2B5EF4-FFF2-40B4-BE49-F238E27FC236}">
                  <a16:creationId xmlns:a16="http://schemas.microsoft.com/office/drawing/2014/main" id="{A7B36A75-0EE0-235E-A8C2-086FBA5F3738}"/>
                </a:ext>
              </a:extLst>
            </p:cNvPr>
            <p:cNvSpPr>
              <a:spLocks noChangeArrowheads="1"/>
            </p:cNvSpPr>
            <p:nvPr/>
          </p:nvSpPr>
          <p:spPr bwMode="auto">
            <a:xfrm>
              <a:off x="628650" y="1443038"/>
              <a:ext cx="269875" cy="269875"/>
            </a:xfrm>
            <a:prstGeom prst="ellipse">
              <a:avLst/>
            </a:prstGeom>
            <a:solidFill>
              <a:schemeClr val="tx2"/>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101" name="Freeform 7">
              <a:extLst>
                <a:ext uri="{FF2B5EF4-FFF2-40B4-BE49-F238E27FC236}">
                  <a16:creationId xmlns:a16="http://schemas.microsoft.com/office/drawing/2014/main" id="{2D2368AD-6862-3D2C-C2C0-77423B0E3834}"/>
                </a:ext>
              </a:extLst>
            </p:cNvPr>
            <p:cNvSpPr>
              <a:spLocks/>
            </p:cNvSpPr>
            <p:nvPr/>
          </p:nvSpPr>
          <p:spPr bwMode="auto">
            <a:xfrm>
              <a:off x="690562" y="1504950"/>
              <a:ext cx="146050" cy="146050"/>
            </a:xfrm>
            <a:custGeom>
              <a:avLst/>
              <a:gdLst>
                <a:gd name="T0" fmla="*/ 50 w 92"/>
                <a:gd name="T1" fmla="*/ 0 h 92"/>
                <a:gd name="T2" fmla="*/ 41 w 92"/>
                <a:gd name="T3" fmla="*/ 0 h 92"/>
                <a:gd name="T4" fmla="*/ 41 w 92"/>
                <a:gd name="T5" fmla="*/ 42 h 92"/>
                <a:gd name="T6" fmla="*/ 0 w 92"/>
                <a:gd name="T7" fmla="*/ 42 h 92"/>
                <a:gd name="T8" fmla="*/ 0 w 92"/>
                <a:gd name="T9" fmla="*/ 51 h 92"/>
                <a:gd name="T10" fmla="*/ 41 w 92"/>
                <a:gd name="T11" fmla="*/ 51 h 92"/>
                <a:gd name="T12" fmla="*/ 41 w 92"/>
                <a:gd name="T13" fmla="*/ 92 h 92"/>
                <a:gd name="T14" fmla="*/ 50 w 92"/>
                <a:gd name="T15" fmla="*/ 92 h 92"/>
                <a:gd name="T16" fmla="*/ 50 w 92"/>
                <a:gd name="T17" fmla="*/ 51 h 92"/>
                <a:gd name="T18" fmla="*/ 92 w 92"/>
                <a:gd name="T19" fmla="*/ 51 h 92"/>
                <a:gd name="T20" fmla="*/ 92 w 92"/>
                <a:gd name="T21" fmla="*/ 42 h 92"/>
                <a:gd name="T22" fmla="*/ 50 w 92"/>
                <a:gd name="T23" fmla="*/ 42 h 92"/>
                <a:gd name="T24" fmla="*/ 50 w 92"/>
                <a:gd name="T25"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 h="92">
                  <a:moveTo>
                    <a:pt x="50" y="0"/>
                  </a:moveTo>
                  <a:lnTo>
                    <a:pt x="41" y="0"/>
                  </a:lnTo>
                  <a:lnTo>
                    <a:pt x="41" y="42"/>
                  </a:lnTo>
                  <a:lnTo>
                    <a:pt x="0" y="42"/>
                  </a:lnTo>
                  <a:lnTo>
                    <a:pt x="0" y="51"/>
                  </a:lnTo>
                  <a:lnTo>
                    <a:pt x="41" y="51"/>
                  </a:lnTo>
                  <a:lnTo>
                    <a:pt x="41" y="92"/>
                  </a:lnTo>
                  <a:lnTo>
                    <a:pt x="50" y="92"/>
                  </a:lnTo>
                  <a:lnTo>
                    <a:pt x="50" y="51"/>
                  </a:lnTo>
                  <a:lnTo>
                    <a:pt x="92" y="51"/>
                  </a:lnTo>
                  <a:lnTo>
                    <a:pt x="92" y="42"/>
                  </a:lnTo>
                  <a:lnTo>
                    <a:pt x="50" y="42"/>
                  </a:lnTo>
                  <a:lnTo>
                    <a:pt x="5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grpSp>
      <p:sp>
        <p:nvSpPr>
          <p:cNvPr id="104" name="Rectangle 103">
            <a:extLst>
              <a:ext uri="{FF2B5EF4-FFF2-40B4-BE49-F238E27FC236}">
                <a16:creationId xmlns:a16="http://schemas.microsoft.com/office/drawing/2014/main" id="{F5EE1FBE-9FBD-6F34-9763-136E6040AFCA}"/>
              </a:ext>
            </a:extLst>
          </p:cNvPr>
          <p:cNvSpPr/>
          <p:nvPr/>
        </p:nvSpPr>
        <p:spPr>
          <a:xfrm>
            <a:off x="895091" y="6190948"/>
            <a:ext cx="3594596" cy="483209"/>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108000" lvl="1">
              <a:buClr>
                <a:schemeClr val="tx2"/>
              </a:buClr>
            </a:pPr>
            <a:r>
              <a:rPr lang="zh-TW" altLang="en-US" sz="1400" b="1">
                <a:solidFill>
                  <a:srgbClr val="E71C57"/>
                </a:solidFill>
                <a:latin typeface="Trebuchet MS" panose="020B0603020202020204" pitchFamily="34" charset="0"/>
                <a:ea typeface="Microsoft YaHei" panose="020B0503020204020204" pitchFamily="34" charset="-122"/>
              </a:rPr>
              <a:t>建議模式</a:t>
            </a:r>
            <a:r>
              <a:rPr lang="en-US" altLang="zh-TW" sz="1400" b="1">
                <a:solidFill>
                  <a:srgbClr val="E71C57"/>
                </a:solidFill>
                <a:latin typeface="Trebuchet MS" panose="020B0603020202020204" pitchFamily="34" charset="0"/>
                <a:ea typeface="Microsoft YaHei" panose="020B0503020204020204" pitchFamily="34" charset="-122"/>
              </a:rPr>
              <a:t>1:</a:t>
            </a:r>
            <a:r>
              <a:rPr lang="zh-TW" altLang="en-US" sz="1400">
                <a:solidFill>
                  <a:srgbClr val="E71C57"/>
                </a:solidFill>
                <a:latin typeface="Trebuchet MS" panose="020B0603020202020204" pitchFamily="34" charset="0"/>
                <a:ea typeface="Microsoft YaHei" panose="020B0503020204020204" pitchFamily="34" charset="-122"/>
              </a:rPr>
              <a:t> 因既有客群團隊已有客群經營經驗及職能，且同時具備跨部門溝通管道</a:t>
            </a:r>
          </a:p>
        </p:txBody>
      </p:sp>
    </p:spTree>
    <p:custDataLst>
      <p:tags r:id="rId1"/>
    </p:custDataLst>
    <p:extLst>
      <p:ext uri="{BB962C8B-B14F-4D97-AF65-F5344CB8AC3E}">
        <p14:creationId xmlns:p14="http://schemas.microsoft.com/office/powerpoint/2010/main" val="264501059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108" name="Object 107" hidden="1">
            <a:extLst>
              <a:ext uri="{FF2B5EF4-FFF2-40B4-BE49-F238E27FC236}">
                <a16:creationId xmlns:a16="http://schemas.microsoft.com/office/drawing/2014/main" id="{7DEAD11F-74F0-42AC-A607-3ACDA336B0C0}"/>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395" imgH="396" progId="TCLayout.ActiveDocument.1">
                  <p:embed/>
                </p:oleObj>
              </mc:Choice>
              <mc:Fallback>
                <p:oleObj name="think-cell Slide" r:id="rId6" imgW="395" imgH="396" progId="TCLayout.ActiveDocument.1">
                  <p:embed/>
                  <p:pic>
                    <p:nvPicPr>
                      <p:cNvPr id="108" name="Object 107" hidden="1">
                        <a:extLst>
                          <a:ext uri="{FF2B5EF4-FFF2-40B4-BE49-F238E27FC236}">
                            <a16:creationId xmlns:a16="http://schemas.microsoft.com/office/drawing/2014/main" id="{7DEAD11F-74F0-42AC-A607-3ACDA336B0C0}"/>
                          </a:ext>
                        </a:extLst>
                      </p:cNvPr>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Rectangle 1">
            <a:extLst>
              <a:ext uri="{FF2B5EF4-FFF2-40B4-BE49-F238E27FC236}">
                <a16:creationId xmlns:a16="http://schemas.microsoft.com/office/drawing/2014/main" id="{7EC1D60B-179D-4196-8C11-9379454EC3D4}"/>
              </a:ext>
            </a:extLst>
          </p:cNvPr>
          <p:cNvSpPr/>
          <p:nvPr/>
        </p:nvSpPr>
        <p:spPr>
          <a:xfrm>
            <a:off x="7213312" y="1642678"/>
            <a:ext cx="4389590" cy="5060577"/>
          </a:xfrm>
          <a:prstGeom prst="rect">
            <a:avLst/>
          </a:prstGeom>
          <a:solidFill>
            <a:schemeClr val="tx2">
              <a:lumMod val="20000"/>
              <a:lumOff val="80000"/>
            </a:schemeClr>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200">
              <a:solidFill>
                <a:srgbClr val="FFFFFF"/>
              </a:solidFill>
            </a:endParaRPr>
          </a:p>
        </p:txBody>
      </p:sp>
      <p:grpSp>
        <p:nvGrpSpPr>
          <p:cNvPr id="3" name="Group 2">
            <a:extLst>
              <a:ext uri="{FF2B5EF4-FFF2-40B4-BE49-F238E27FC236}">
                <a16:creationId xmlns:a16="http://schemas.microsoft.com/office/drawing/2014/main" id="{D310BA60-F491-4FA9-965F-B891E096044A}"/>
              </a:ext>
            </a:extLst>
          </p:cNvPr>
          <p:cNvGrpSpPr/>
          <p:nvPr/>
        </p:nvGrpSpPr>
        <p:grpSpPr>
          <a:xfrm>
            <a:off x="5087742" y="2346812"/>
            <a:ext cx="1105134" cy="1463594"/>
            <a:chOff x="2202474" y="2204729"/>
            <a:chExt cx="1105134" cy="1463594"/>
          </a:xfrm>
        </p:grpSpPr>
        <p:cxnSp>
          <p:nvCxnSpPr>
            <p:cNvPr id="4" name="Straight Connector 3">
              <a:extLst>
                <a:ext uri="{FF2B5EF4-FFF2-40B4-BE49-F238E27FC236}">
                  <a16:creationId xmlns:a16="http://schemas.microsoft.com/office/drawing/2014/main" id="{0FA0EB20-8BBB-4E3B-862C-C2F0D38CCA4A}"/>
                </a:ext>
              </a:extLst>
            </p:cNvPr>
            <p:cNvCxnSpPr>
              <a:cxnSpLocks/>
            </p:cNvCxnSpPr>
            <p:nvPr/>
          </p:nvCxnSpPr>
          <p:spPr>
            <a:xfrm>
              <a:off x="2202474" y="3551013"/>
              <a:ext cx="1105134" cy="0"/>
            </a:xfrm>
            <a:prstGeom prst="line">
              <a:avLst/>
            </a:prstGeom>
            <a:ln w="12700" cap="rnd">
              <a:solidFill>
                <a:srgbClr val="7F7F7F">
                  <a:lumMod val="100000"/>
                </a:srgbClr>
              </a:solidFill>
              <a:prstDash val="solid"/>
              <a:round/>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A0085E98-8E4C-4E11-942D-F697EE1E2DD3}"/>
                </a:ext>
              </a:extLst>
            </p:cNvPr>
            <p:cNvCxnSpPr>
              <a:cxnSpLocks/>
            </p:cNvCxnSpPr>
            <p:nvPr/>
          </p:nvCxnSpPr>
          <p:spPr>
            <a:xfrm flipV="1">
              <a:off x="2202474" y="2220771"/>
              <a:ext cx="0" cy="1330242"/>
            </a:xfrm>
            <a:prstGeom prst="line">
              <a:avLst/>
            </a:prstGeom>
            <a:ln w="12700" cap="rnd">
              <a:solidFill>
                <a:srgbClr val="7F7F7F">
                  <a:lumMod val="100000"/>
                </a:srgbClr>
              </a:solidFill>
              <a:prstDash val="solid"/>
              <a:round/>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C2322C6A-5CAB-4626-9ADD-18138C1001CF}"/>
                </a:ext>
              </a:extLst>
            </p:cNvPr>
            <p:cNvCxnSpPr>
              <a:cxnSpLocks/>
            </p:cNvCxnSpPr>
            <p:nvPr/>
          </p:nvCxnSpPr>
          <p:spPr>
            <a:xfrm flipV="1">
              <a:off x="3307608" y="2204729"/>
              <a:ext cx="0" cy="1346284"/>
            </a:xfrm>
            <a:prstGeom prst="line">
              <a:avLst/>
            </a:prstGeom>
            <a:ln w="12700" cap="rnd">
              <a:solidFill>
                <a:srgbClr val="7F7F7F">
                  <a:lumMod val="100000"/>
                </a:srgbClr>
              </a:solidFill>
              <a:prstDash val="solid"/>
              <a:round/>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20B210D6-589E-432B-8E63-E052A0DFA0F9}"/>
                </a:ext>
              </a:extLst>
            </p:cNvPr>
            <p:cNvCxnSpPr>
              <a:cxnSpLocks/>
            </p:cNvCxnSpPr>
            <p:nvPr/>
          </p:nvCxnSpPr>
          <p:spPr>
            <a:xfrm flipV="1">
              <a:off x="2755041" y="2211146"/>
              <a:ext cx="0" cy="1457177"/>
            </a:xfrm>
            <a:prstGeom prst="line">
              <a:avLst/>
            </a:prstGeom>
            <a:ln w="12700" cap="rnd">
              <a:solidFill>
                <a:srgbClr val="7F7F7F">
                  <a:lumMod val="100000"/>
                </a:srgbClr>
              </a:solidFill>
              <a:prstDash val="solid"/>
              <a:round/>
            </a:ln>
          </p:spPr>
          <p:style>
            <a:lnRef idx="1">
              <a:schemeClr val="accent1"/>
            </a:lnRef>
            <a:fillRef idx="0">
              <a:schemeClr val="accent1"/>
            </a:fillRef>
            <a:effectRef idx="0">
              <a:schemeClr val="accent1"/>
            </a:effectRef>
            <a:fontRef idx="minor">
              <a:schemeClr val="tx1"/>
            </a:fontRef>
          </p:style>
        </p:cxnSp>
      </p:grpSp>
      <p:cxnSp>
        <p:nvCxnSpPr>
          <p:cNvPr id="8" name="Straight Connector 7">
            <a:extLst>
              <a:ext uri="{FF2B5EF4-FFF2-40B4-BE49-F238E27FC236}">
                <a16:creationId xmlns:a16="http://schemas.microsoft.com/office/drawing/2014/main" id="{A7B08282-DAA0-44D6-A2F0-553F02B6369A}"/>
              </a:ext>
            </a:extLst>
          </p:cNvPr>
          <p:cNvCxnSpPr/>
          <p:nvPr/>
        </p:nvCxnSpPr>
        <p:spPr>
          <a:xfrm>
            <a:off x="630000" y="2792683"/>
            <a:ext cx="10897002" cy="0"/>
          </a:xfrm>
          <a:prstGeom prst="line">
            <a:avLst/>
          </a:prstGeom>
          <a:ln w="3175" cap="rnd">
            <a:solidFill>
              <a:srgbClr val="C8C8C8">
                <a:lumMod val="100000"/>
              </a:srgbClr>
            </a:solidFill>
            <a:prstDash val="solid"/>
            <a:round/>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65545AEC-6C5A-4503-BA91-0798DA2BCAD9}"/>
              </a:ext>
            </a:extLst>
          </p:cNvPr>
          <p:cNvCxnSpPr/>
          <p:nvPr/>
        </p:nvCxnSpPr>
        <p:spPr>
          <a:xfrm>
            <a:off x="630000" y="3278297"/>
            <a:ext cx="10897002" cy="0"/>
          </a:xfrm>
          <a:prstGeom prst="line">
            <a:avLst/>
          </a:prstGeom>
          <a:ln w="3175" cap="rnd">
            <a:solidFill>
              <a:srgbClr val="C8C8C8">
                <a:lumMod val="100000"/>
              </a:srgbClr>
            </a:solidFill>
            <a:prstDash val="solid"/>
            <a:round/>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AF2F2A91-A06E-4282-8C93-1E425ECC9FF6}"/>
              </a:ext>
            </a:extLst>
          </p:cNvPr>
          <p:cNvSpPr txBox="1"/>
          <p:nvPr/>
        </p:nvSpPr>
        <p:spPr>
          <a:xfrm>
            <a:off x="630000" y="2346812"/>
            <a:ext cx="1029029" cy="356616"/>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buFont typeface="Trebuchet MS" panose="020B0603020202020204" pitchFamily="34" charset="0"/>
              <a:buChar char="​"/>
            </a:pPr>
            <a:r>
              <a:rPr lang="en-US" sz="1100" b="1">
                <a:solidFill>
                  <a:schemeClr val="tx1"/>
                </a:solidFill>
                <a:latin typeface="Trebuchet MS" panose="020B0603020202020204" pitchFamily="34" charset="0"/>
                <a:cs typeface="Arial" panose="020B0604020202020204" pitchFamily="34" charset="0"/>
              </a:rPr>
              <a:t>Campaign commissioning</a:t>
            </a:r>
          </a:p>
        </p:txBody>
      </p:sp>
      <p:sp>
        <p:nvSpPr>
          <p:cNvPr id="12" name="TextBox 11">
            <a:extLst>
              <a:ext uri="{FF2B5EF4-FFF2-40B4-BE49-F238E27FC236}">
                <a16:creationId xmlns:a16="http://schemas.microsoft.com/office/drawing/2014/main" id="{C56825E1-0F3B-425B-82C9-1B8E4D2521E9}"/>
              </a:ext>
            </a:extLst>
          </p:cNvPr>
          <p:cNvSpPr txBox="1"/>
          <p:nvPr/>
        </p:nvSpPr>
        <p:spPr>
          <a:xfrm>
            <a:off x="630000" y="2839178"/>
            <a:ext cx="1029029" cy="356616"/>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buFont typeface="Trebuchet MS" panose="020B0603020202020204" pitchFamily="34" charset="0"/>
              <a:buChar char="​"/>
            </a:pPr>
            <a:r>
              <a:rPr lang="en-US" sz="1100" b="1">
                <a:solidFill>
                  <a:schemeClr val="tx1"/>
                </a:solidFill>
                <a:latin typeface="Trebuchet MS" panose="020B0603020202020204" pitchFamily="34" charset="0"/>
                <a:cs typeface="Arial" panose="020B0604020202020204" pitchFamily="34" charset="0"/>
              </a:rPr>
              <a:t>Campaign prioritization</a:t>
            </a:r>
          </a:p>
        </p:txBody>
      </p:sp>
      <p:sp>
        <p:nvSpPr>
          <p:cNvPr id="13" name="TextBox 12">
            <a:extLst>
              <a:ext uri="{FF2B5EF4-FFF2-40B4-BE49-F238E27FC236}">
                <a16:creationId xmlns:a16="http://schemas.microsoft.com/office/drawing/2014/main" id="{7A15BDC7-AE18-4943-B31C-AD94F074E560}"/>
              </a:ext>
            </a:extLst>
          </p:cNvPr>
          <p:cNvSpPr txBox="1"/>
          <p:nvPr/>
        </p:nvSpPr>
        <p:spPr>
          <a:xfrm>
            <a:off x="630000" y="3324792"/>
            <a:ext cx="1029029" cy="392624"/>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buFont typeface="Trebuchet MS" panose="020B0603020202020204" pitchFamily="34" charset="0"/>
              <a:buChar char="​"/>
            </a:pPr>
            <a:r>
              <a:rPr lang="en-US" sz="1100" b="1">
                <a:solidFill>
                  <a:schemeClr val="tx1"/>
                </a:solidFill>
                <a:latin typeface="Trebuchet MS" panose="020B0603020202020204" pitchFamily="34" charset="0"/>
                <a:cs typeface="Arial" panose="020B0604020202020204" pitchFamily="34" charset="0"/>
              </a:rPr>
              <a:t>Campaign strategy design</a:t>
            </a:r>
          </a:p>
        </p:txBody>
      </p:sp>
      <p:sp>
        <p:nvSpPr>
          <p:cNvPr id="14" name="TextBox 13">
            <a:extLst>
              <a:ext uri="{FF2B5EF4-FFF2-40B4-BE49-F238E27FC236}">
                <a16:creationId xmlns:a16="http://schemas.microsoft.com/office/drawing/2014/main" id="{11375444-67DD-4C57-B3B8-1312A17DA2B2}"/>
              </a:ext>
            </a:extLst>
          </p:cNvPr>
          <p:cNvSpPr txBox="1"/>
          <p:nvPr/>
        </p:nvSpPr>
        <p:spPr>
          <a:xfrm>
            <a:off x="630000" y="3810406"/>
            <a:ext cx="929899" cy="392624"/>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buFont typeface="Trebuchet MS" panose="020B0603020202020204" pitchFamily="34" charset="0"/>
              <a:buChar char="​"/>
            </a:pPr>
            <a:r>
              <a:rPr lang="en-US" sz="1100" b="1">
                <a:solidFill>
                  <a:schemeClr val="tx1"/>
                </a:solidFill>
                <a:latin typeface="Trebuchet MS" panose="020B0603020202020204" pitchFamily="34" charset="0"/>
                <a:cs typeface="Arial" panose="020B0604020202020204" pitchFamily="34" charset="0"/>
              </a:rPr>
              <a:t>Creative design</a:t>
            </a:r>
          </a:p>
        </p:txBody>
      </p:sp>
      <p:cxnSp>
        <p:nvCxnSpPr>
          <p:cNvPr id="15" name="Straight Connector 14">
            <a:extLst>
              <a:ext uri="{FF2B5EF4-FFF2-40B4-BE49-F238E27FC236}">
                <a16:creationId xmlns:a16="http://schemas.microsoft.com/office/drawing/2014/main" id="{738EA421-4A9D-44CA-8DF9-B5973B22D2D3}"/>
              </a:ext>
            </a:extLst>
          </p:cNvPr>
          <p:cNvCxnSpPr>
            <a:cxnSpLocks/>
          </p:cNvCxnSpPr>
          <p:nvPr/>
        </p:nvCxnSpPr>
        <p:spPr>
          <a:xfrm flipV="1">
            <a:off x="630000" y="3717416"/>
            <a:ext cx="10897002" cy="46495"/>
          </a:xfrm>
          <a:prstGeom prst="line">
            <a:avLst/>
          </a:prstGeom>
          <a:ln w="3175" cap="rnd">
            <a:solidFill>
              <a:srgbClr val="C8C8C8">
                <a:lumMod val="100000"/>
              </a:srgbClr>
            </a:solidFill>
            <a:prstDash val="solid"/>
            <a:round/>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5A07D7AF-C537-4F76-8510-D873334D05C7}"/>
              </a:ext>
            </a:extLst>
          </p:cNvPr>
          <p:cNvSpPr txBox="1"/>
          <p:nvPr/>
        </p:nvSpPr>
        <p:spPr>
          <a:xfrm>
            <a:off x="630000" y="4296020"/>
            <a:ext cx="929899" cy="356616"/>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buFont typeface="Trebuchet MS" panose="020B0603020202020204" pitchFamily="34" charset="0"/>
              <a:buChar char="​"/>
            </a:pPr>
            <a:r>
              <a:rPr lang="en-US" sz="1100" b="1">
                <a:solidFill>
                  <a:schemeClr val="tx1"/>
                </a:solidFill>
                <a:latin typeface="Trebuchet MS" panose="020B0603020202020204" pitchFamily="34" charset="0"/>
                <a:cs typeface="Arial" panose="020B0604020202020204" pitchFamily="34" charset="0"/>
              </a:rPr>
              <a:t>Campaign orchestration</a:t>
            </a:r>
          </a:p>
        </p:txBody>
      </p:sp>
      <p:sp>
        <p:nvSpPr>
          <p:cNvPr id="17" name="TextBox 16">
            <a:extLst>
              <a:ext uri="{FF2B5EF4-FFF2-40B4-BE49-F238E27FC236}">
                <a16:creationId xmlns:a16="http://schemas.microsoft.com/office/drawing/2014/main" id="{427DF38D-B91B-47DF-B299-3FF2AFA13370}"/>
              </a:ext>
            </a:extLst>
          </p:cNvPr>
          <p:cNvSpPr txBox="1"/>
          <p:nvPr/>
        </p:nvSpPr>
        <p:spPr>
          <a:xfrm>
            <a:off x="630000" y="4781634"/>
            <a:ext cx="929899" cy="356616"/>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buFont typeface="Trebuchet MS" panose="020B0603020202020204" pitchFamily="34" charset="0"/>
              <a:buChar char="​"/>
            </a:pPr>
            <a:r>
              <a:rPr lang="en-US" sz="1100" b="1">
                <a:solidFill>
                  <a:schemeClr val="tx1"/>
                </a:solidFill>
                <a:latin typeface="Trebuchet MS" panose="020B0603020202020204" pitchFamily="34" charset="0"/>
                <a:cs typeface="Arial" panose="020B0604020202020204" pitchFamily="34" charset="0"/>
              </a:rPr>
              <a:t>Tracking and measurement</a:t>
            </a:r>
          </a:p>
        </p:txBody>
      </p:sp>
      <p:cxnSp>
        <p:nvCxnSpPr>
          <p:cNvPr id="18" name="Straight Connector 17">
            <a:extLst>
              <a:ext uri="{FF2B5EF4-FFF2-40B4-BE49-F238E27FC236}">
                <a16:creationId xmlns:a16="http://schemas.microsoft.com/office/drawing/2014/main" id="{E80C3A43-A666-40DF-B476-45E2AAEB763C}"/>
              </a:ext>
            </a:extLst>
          </p:cNvPr>
          <p:cNvCxnSpPr/>
          <p:nvPr/>
        </p:nvCxnSpPr>
        <p:spPr>
          <a:xfrm>
            <a:off x="630000" y="4735139"/>
            <a:ext cx="10897002" cy="0"/>
          </a:xfrm>
          <a:prstGeom prst="line">
            <a:avLst/>
          </a:prstGeom>
          <a:ln w="3175" cap="rnd">
            <a:solidFill>
              <a:srgbClr val="C8C8C8">
                <a:lumMod val="100000"/>
              </a:srgbClr>
            </a:solidFill>
            <a:prstDash val="solid"/>
            <a:round/>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AEE930B8-A7CE-4ABA-B2E4-1FB9E2BE21BC}"/>
              </a:ext>
            </a:extLst>
          </p:cNvPr>
          <p:cNvSpPr txBox="1"/>
          <p:nvPr/>
        </p:nvSpPr>
        <p:spPr>
          <a:xfrm>
            <a:off x="630000" y="5267246"/>
            <a:ext cx="929899" cy="356616"/>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buFont typeface="Trebuchet MS" panose="020B0603020202020204" pitchFamily="34" charset="0"/>
              <a:buChar char="​"/>
            </a:pPr>
            <a:r>
              <a:rPr lang="en-US" sz="1100" b="1">
                <a:solidFill>
                  <a:schemeClr val="tx1"/>
                </a:solidFill>
                <a:latin typeface="Trebuchet MS" panose="020B0603020202020204" pitchFamily="34" charset="0"/>
                <a:cs typeface="Arial" panose="020B0604020202020204" pitchFamily="34" charset="0"/>
              </a:rPr>
              <a:t>System maintenance</a:t>
            </a:r>
          </a:p>
        </p:txBody>
      </p:sp>
      <p:cxnSp>
        <p:nvCxnSpPr>
          <p:cNvPr id="20" name="Straight Connector 19">
            <a:extLst>
              <a:ext uri="{FF2B5EF4-FFF2-40B4-BE49-F238E27FC236}">
                <a16:creationId xmlns:a16="http://schemas.microsoft.com/office/drawing/2014/main" id="{EBDA353D-6148-48F4-98FB-24859F70F829}"/>
              </a:ext>
            </a:extLst>
          </p:cNvPr>
          <p:cNvCxnSpPr/>
          <p:nvPr/>
        </p:nvCxnSpPr>
        <p:spPr>
          <a:xfrm>
            <a:off x="630000" y="5220753"/>
            <a:ext cx="10897002" cy="0"/>
          </a:xfrm>
          <a:prstGeom prst="line">
            <a:avLst/>
          </a:prstGeom>
          <a:ln w="3175" cap="rnd">
            <a:solidFill>
              <a:srgbClr val="C8C8C8">
                <a:lumMod val="100000"/>
              </a:srgbClr>
            </a:solidFill>
            <a:prstDash val="solid"/>
            <a:round/>
          </a:ln>
        </p:spPr>
        <p:style>
          <a:lnRef idx="1">
            <a:schemeClr val="accent1"/>
          </a:lnRef>
          <a:fillRef idx="0">
            <a:schemeClr val="accent1"/>
          </a:fillRef>
          <a:effectRef idx="0">
            <a:schemeClr val="accent1"/>
          </a:effectRef>
          <a:fontRef idx="minor">
            <a:schemeClr val="tx1"/>
          </a:fontRef>
        </p:style>
      </p:cxnSp>
      <p:cxnSp>
        <p:nvCxnSpPr>
          <p:cNvPr id="21" name="Straight Arrow Connector 20">
            <a:extLst>
              <a:ext uri="{FF2B5EF4-FFF2-40B4-BE49-F238E27FC236}">
                <a16:creationId xmlns:a16="http://schemas.microsoft.com/office/drawing/2014/main" id="{8529505F-37DD-4E11-90D4-340E3C1AF4C7}"/>
              </a:ext>
            </a:extLst>
          </p:cNvPr>
          <p:cNvCxnSpPr>
            <a:cxnSpLocks/>
          </p:cNvCxnSpPr>
          <p:nvPr/>
        </p:nvCxnSpPr>
        <p:spPr>
          <a:xfrm>
            <a:off x="2159833" y="1642678"/>
            <a:ext cx="9443069" cy="9740"/>
          </a:xfrm>
          <a:prstGeom prst="straightConnector1">
            <a:avLst/>
          </a:prstGeom>
          <a:ln w="12700" cap="rnd">
            <a:solidFill>
              <a:schemeClr val="tx2"/>
            </a:solidFill>
            <a:prstDash val="solid"/>
            <a:round/>
            <a:headEnd type="triangle"/>
            <a:tailEnd type="triangle"/>
          </a:ln>
        </p:spPr>
        <p:style>
          <a:lnRef idx="1">
            <a:schemeClr val="accent1"/>
          </a:lnRef>
          <a:fillRef idx="0">
            <a:schemeClr val="accent1"/>
          </a:fillRef>
          <a:effectRef idx="0">
            <a:schemeClr val="accent1"/>
          </a:effectRef>
          <a:fontRef idx="minor">
            <a:schemeClr val="tx1"/>
          </a:fontRef>
        </p:style>
      </p:cxnSp>
      <p:pic>
        <p:nvPicPr>
          <p:cNvPr id="22" name="Picture 2" descr="Capital One logo and symbol, meaning, history, PNG">
            <a:extLst>
              <a:ext uri="{FF2B5EF4-FFF2-40B4-BE49-F238E27FC236}">
                <a16:creationId xmlns:a16="http://schemas.microsoft.com/office/drawing/2014/main" id="{3A27CCE2-8907-47A6-85CA-E2551ECADDF2}"/>
              </a:ext>
            </a:extLst>
          </p:cNvPr>
          <p:cNvPicPr>
            <a:picLocks noChangeAspect="1" noChangeArrowheads="1"/>
          </p:cNvPicPr>
          <p:nvPr/>
        </p:nvPicPr>
        <p:blipFill>
          <a:blip r:embed="rId8" cstate="print">
            <a:extLst>
              <a:ext uri="{28A0092B-C50C-407E-A947-70E740481C1C}">
                <a14:useLocalDpi xmlns:a14="http://schemas.microsoft.com/office/drawing/2010/main"/>
              </a:ext>
            </a:extLst>
          </a:blip>
          <a:srcRect/>
          <a:stretch>
            <a:fillRect/>
          </a:stretch>
        </p:blipFill>
        <p:spPr bwMode="auto">
          <a:xfrm>
            <a:off x="2611799" y="1768203"/>
            <a:ext cx="928654" cy="410840"/>
          </a:xfrm>
          <a:prstGeom prst="rect">
            <a:avLst/>
          </a:prstGeom>
          <a:noFill/>
          <a:extLst>
            <a:ext uri="{909E8E84-426E-40DD-AFC4-6F175D3DCCD1}">
              <a14:hiddenFill xmlns:a14="http://schemas.microsoft.com/office/drawing/2010/main">
                <a:solidFill>
                  <a:srgbClr val="FFFFFF"/>
                </a:solidFill>
              </a14:hiddenFill>
            </a:ext>
          </a:extLst>
        </p:spPr>
      </p:pic>
      <p:pic>
        <p:nvPicPr>
          <p:cNvPr id="6146" name="Picture 2" descr="Deutsche Bank Logo PNG Transparent &amp; SVG Vector - Freebie Supply">
            <a:extLst>
              <a:ext uri="{FF2B5EF4-FFF2-40B4-BE49-F238E27FC236}">
                <a16:creationId xmlns:a16="http://schemas.microsoft.com/office/drawing/2014/main" id="{2D87E1E0-143C-4BAC-A072-309EA8764F30}"/>
              </a:ext>
            </a:extLst>
          </p:cNvPr>
          <p:cNvPicPr>
            <a:picLocks noChangeAspect="1" noChangeArrowheads="1"/>
          </p:cNvPicPr>
          <p:nvPr/>
        </p:nvPicPr>
        <p:blipFill rotWithShape="1">
          <a:blip r:embed="rId9" cstate="print">
            <a:extLst>
              <a:ext uri="{28A0092B-C50C-407E-A947-70E740481C1C}">
                <a14:useLocalDpi xmlns:a14="http://schemas.microsoft.com/office/drawing/2010/main"/>
              </a:ext>
            </a:extLst>
          </a:blip>
          <a:srcRect/>
          <a:stretch/>
        </p:blipFill>
        <p:spPr bwMode="auto">
          <a:xfrm>
            <a:off x="4838435" y="1768203"/>
            <a:ext cx="1371600" cy="335828"/>
          </a:xfrm>
          <a:prstGeom prst="rect">
            <a:avLst/>
          </a:prstGeom>
          <a:noFill/>
          <a:extLst>
            <a:ext uri="{909E8E84-426E-40DD-AFC4-6F175D3DCCD1}">
              <a14:hiddenFill xmlns:a14="http://schemas.microsoft.com/office/drawing/2010/main">
                <a:solidFill>
                  <a:srgbClr val="FFFFFF"/>
                </a:solidFill>
              </a14:hiddenFill>
            </a:ext>
          </a:extLst>
        </p:spPr>
      </p:pic>
      <p:grpSp>
        <p:nvGrpSpPr>
          <p:cNvPr id="27" name="Group 26">
            <a:extLst>
              <a:ext uri="{FF2B5EF4-FFF2-40B4-BE49-F238E27FC236}">
                <a16:creationId xmlns:a16="http://schemas.microsoft.com/office/drawing/2014/main" id="{EA7D3892-B592-4B0F-A62B-EE6C6BFA08EE}"/>
              </a:ext>
            </a:extLst>
          </p:cNvPr>
          <p:cNvGrpSpPr/>
          <p:nvPr/>
        </p:nvGrpSpPr>
        <p:grpSpPr>
          <a:xfrm>
            <a:off x="8128118" y="1963988"/>
            <a:ext cx="1878901" cy="274068"/>
            <a:chOff x="7151136" y="1706795"/>
            <a:chExt cx="1878901" cy="274068"/>
          </a:xfrm>
        </p:grpSpPr>
        <p:pic>
          <p:nvPicPr>
            <p:cNvPr id="28" name="Picture 2" descr="See the source image">
              <a:extLst>
                <a:ext uri="{FF2B5EF4-FFF2-40B4-BE49-F238E27FC236}">
                  <a16:creationId xmlns:a16="http://schemas.microsoft.com/office/drawing/2014/main" id="{5DA14EE5-3411-4F2C-977D-500933A2F493}"/>
                </a:ext>
              </a:extLst>
            </p:cNvPr>
            <p:cNvPicPr>
              <a:picLocks noChangeAspect="1" noChangeArrowheads="1"/>
            </p:cNvPicPr>
            <p:nvPr/>
          </p:nvPicPr>
          <p:blipFill rotWithShape="1">
            <a:blip r:embed="rId10" cstate="print">
              <a:extLst>
                <a:ext uri="{28A0092B-C50C-407E-A947-70E740481C1C}">
                  <a14:useLocalDpi xmlns:a14="http://schemas.microsoft.com/office/drawing/2010/main"/>
                </a:ext>
              </a:extLst>
            </a:blip>
            <a:srcRect t="34166" b="34489"/>
            <a:stretch/>
          </p:blipFill>
          <p:spPr bwMode="auto">
            <a:xfrm>
              <a:off x="7151136" y="1752389"/>
              <a:ext cx="1037273" cy="182880"/>
            </a:xfrm>
            <a:prstGeom prst="rect">
              <a:avLst/>
            </a:prstGeom>
            <a:noFill/>
            <a:extLst>
              <a:ext uri="{909E8E84-426E-40DD-AFC4-6F175D3DCCD1}">
                <a14:hiddenFill xmlns:a14="http://schemas.microsoft.com/office/drawing/2010/main">
                  <a:solidFill>
                    <a:srgbClr val="FFFFFF"/>
                  </a:solidFill>
                </a14:hiddenFill>
              </a:ext>
            </a:extLst>
          </p:spPr>
        </p:pic>
        <p:pic>
          <p:nvPicPr>
            <p:cNvPr id="29" name="Picture 4" descr="See the source image">
              <a:extLst>
                <a:ext uri="{FF2B5EF4-FFF2-40B4-BE49-F238E27FC236}">
                  <a16:creationId xmlns:a16="http://schemas.microsoft.com/office/drawing/2014/main" id="{F3395AC6-7693-441B-BA6E-148CC2E2EFD1}"/>
                </a:ext>
              </a:extLst>
            </p:cNvPr>
            <p:cNvPicPr>
              <a:picLocks noChangeAspect="1" noChangeArrowheads="1"/>
            </p:cNvPicPr>
            <p:nvPr/>
          </p:nvPicPr>
          <p:blipFill>
            <a:blip r:embed="rId11" cstate="print">
              <a:extLst>
                <a:ext uri="{28A0092B-C50C-407E-A947-70E740481C1C}">
                  <a14:useLocalDpi xmlns:a14="http://schemas.microsoft.com/office/drawing/2010/main"/>
                </a:ext>
              </a:extLst>
            </a:blip>
            <a:srcRect/>
            <a:stretch>
              <a:fillRect/>
            </a:stretch>
          </p:blipFill>
          <p:spPr bwMode="auto">
            <a:xfrm>
              <a:off x="8271535" y="1706795"/>
              <a:ext cx="758502" cy="274068"/>
            </a:xfrm>
            <a:prstGeom prst="rect">
              <a:avLst/>
            </a:prstGeom>
            <a:noFill/>
            <a:extLst>
              <a:ext uri="{909E8E84-426E-40DD-AFC4-6F175D3DCCD1}">
                <a14:hiddenFill xmlns:a14="http://schemas.microsoft.com/office/drawing/2010/main">
                  <a:solidFill>
                    <a:srgbClr val="FFFFFF"/>
                  </a:solidFill>
                </a14:hiddenFill>
              </a:ext>
            </a:extLst>
          </p:spPr>
        </p:pic>
      </p:grpSp>
      <p:cxnSp>
        <p:nvCxnSpPr>
          <p:cNvPr id="30" name="Straight Connector 29">
            <a:extLst>
              <a:ext uri="{FF2B5EF4-FFF2-40B4-BE49-F238E27FC236}">
                <a16:creationId xmlns:a16="http://schemas.microsoft.com/office/drawing/2014/main" id="{FE62353B-A4E7-40B6-B443-567FD5976CA3}"/>
              </a:ext>
            </a:extLst>
          </p:cNvPr>
          <p:cNvCxnSpPr>
            <a:cxnSpLocks/>
          </p:cNvCxnSpPr>
          <p:nvPr/>
        </p:nvCxnSpPr>
        <p:spPr>
          <a:xfrm>
            <a:off x="4545571" y="1696468"/>
            <a:ext cx="0" cy="3888744"/>
          </a:xfrm>
          <a:prstGeom prst="line">
            <a:avLst/>
          </a:prstGeom>
          <a:ln w="9525" cap="rnd">
            <a:solidFill>
              <a:srgbClr val="C8C8C8">
                <a:lumMod val="100000"/>
              </a:srgbClr>
            </a:solidFill>
            <a:prstDash val="solid"/>
            <a:round/>
          </a:ln>
        </p:spPr>
        <p:style>
          <a:lnRef idx="1">
            <a:schemeClr val="accent1"/>
          </a:lnRef>
          <a:fillRef idx="0">
            <a:schemeClr val="accent1"/>
          </a:fillRef>
          <a:effectRef idx="0">
            <a:schemeClr val="accent1"/>
          </a:effectRef>
          <a:fontRef idx="minor">
            <a:schemeClr val="tx1"/>
          </a:fontRef>
        </p:style>
      </p:cxnSp>
      <p:sp>
        <p:nvSpPr>
          <p:cNvPr id="31" name="AutoShape 15">
            <a:extLst>
              <a:ext uri="{FF2B5EF4-FFF2-40B4-BE49-F238E27FC236}">
                <a16:creationId xmlns:a16="http://schemas.microsoft.com/office/drawing/2014/main" id="{5C3A1FB5-5F62-4D4A-B634-5884A27E6015}"/>
              </a:ext>
            </a:extLst>
          </p:cNvPr>
          <p:cNvSpPr>
            <a:spLocks noChangeAspect="1" noChangeArrowheads="1" noTextEdit="1"/>
          </p:cNvSpPr>
          <p:nvPr/>
        </p:nvSpPr>
        <p:spPr bwMode="auto">
          <a:xfrm>
            <a:off x="2611799" y="2205585"/>
            <a:ext cx="517525" cy="143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lgn="ctr"/>
            <a:endParaRPr lang="en-US" sz="2000"/>
          </a:p>
        </p:txBody>
      </p:sp>
      <p:sp>
        <p:nvSpPr>
          <p:cNvPr id="32" name="AutoShape 19">
            <a:extLst>
              <a:ext uri="{FF2B5EF4-FFF2-40B4-BE49-F238E27FC236}">
                <a16:creationId xmlns:a16="http://schemas.microsoft.com/office/drawing/2014/main" id="{1716A763-7700-4D61-A70F-20A7C2A14431}"/>
              </a:ext>
            </a:extLst>
          </p:cNvPr>
          <p:cNvSpPr>
            <a:spLocks noChangeAspect="1" noChangeArrowheads="1" noTextEdit="1"/>
          </p:cNvSpPr>
          <p:nvPr/>
        </p:nvSpPr>
        <p:spPr bwMode="auto">
          <a:xfrm>
            <a:off x="3209559" y="2205585"/>
            <a:ext cx="517525" cy="143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lgn="ctr"/>
            <a:endParaRPr lang="en-US" sz="2000"/>
          </a:p>
        </p:txBody>
      </p:sp>
      <p:sp>
        <p:nvSpPr>
          <p:cNvPr id="33" name="AutoShape 23">
            <a:extLst>
              <a:ext uri="{FF2B5EF4-FFF2-40B4-BE49-F238E27FC236}">
                <a16:creationId xmlns:a16="http://schemas.microsoft.com/office/drawing/2014/main" id="{175B6071-776B-4D4A-B129-7880147D9B66}"/>
              </a:ext>
            </a:extLst>
          </p:cNvPr>
          <p:cNvSpPr>
            <a:spLocks noChangeAspect="1" noChangeArrowheads="1" noTextEdit="1"/>
          </p:cNvSpPr>
          <p:nvPr/>
        </p:nvSpPr>
        <p:spPr bwMode="auto">
          <a:xfrm>
            <a:off x="3757246" y="2205585"/>
            <a:ext cx="517525" cy="143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lgn="ctr"/>
            <a:endParaRPr lang="en-US" sz="2000"/>
          </a:p>
        </p:txBody>
      </p:sp>
      <p:sp>
        <p:nvSpPr>
          <p:cNvPr id="34" name="TextBox 33">
            <a:extLst>
              <a:ext uri="{FF2B5EF4-FFF2-40B4-BE49-F238E27FC236}">
                <a16:creationId xmlns:a16="http://schemas.microsoft.com/office/drawing/2014/main" id="{686EA513-2EF2-4E87-9759-AA2376ECF38B}"/>
              </a:ext>
            </a:extLst>
          </p:cNvPr>
          <p:cNvSpPr txBox="1"/>
          <p:nvPr/>
        </p:nvSpPr>
        <p:spPr>
          <a:xfrm>
            <a:off x="2406588" y="5699397"/>
            <a:ext cx="4730821" cy="577290"/>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324000" lvl="1" indent="-216000">
              <a:buClr>
                <a:schemeClr val="tx2"/>
              </a:buClr>
              <a:buFont typeface="Trebuchet MS" panose="020B0603020202020204" pitchFamily="34" charset="0"/>
              <a:buChar char="•"/>
            </a:pPr>
            <a:r>
              <a:rPr lang="en-US" sz="1050">
                <a:solidFill>
                  <a:schemeClr val="tx1"/>
                </a:solidFill>
                <a:latin typeface="Trebuchet MS" panose="020B0603020202020204" pitchFamily="34" charset="0"/>
                <a:cs typeface="Arial" panose="020B0604020202020204" pitchFamily="34" charset="0"/>
              </a:rPr>
              <a:t>BUs in charge of campaign strategy to meet objectives</a:t>
            </a:r>
          </a:p>
          <a:p>
            <a:pPr marL="324000" lvl="1" indent="-216000">
              <a:buClr>
                <a:schemeClr val="tx2"/>
              </a:buClr>
              <a:buFont typeface="Trebuchet MS" panose="020B0603020202020204" pitchFamily="34" charset="0"/>
              <a:buChar char="•"/>
            </a:pPr>
            <a:r>
              <a:rPr lang="en-US" sz="1050">
                <a:solidFill>
                  <a:schemeClr val="tx1"/>
                </a:solidFill>
                <a:latin typeface="Trebuchet MS" panose="020B0603020202020204" pitchFamily="34" charset="0"/>
                <a:cs typeface="Arial" panose="020B0604020202020204" pitchFamily="34" charset="0"/>
              </a:rPr>
              <a:t>Requires high degree of maturity dispersed across BUs (e.g., designing propensity models within each BU team)</a:t>
            </a:r>
          </a:p>
          <a:p>
            <a:pPr marL="324000" lvl="1" indent="-216000">
              <a:buClr>
                <a:schemeClr val="tx2"/>
              </a:buClr>
              <a:buFont typeface="Trebuchet MS" panose="020B0603020202020204" pitchFamily="34" charset="0"/>
              <a:buChar char="•"/>
            </a:pPr>
            <a:r>
              <a:rPr lang="en-US" sz="1050">
                <a:solidFill>
                  <a:schemeClr val="tx1"/>
                </a:solidFill>
                <a:latin typeface="Trebuchet MS" panose="020B0603020202020204" pitchFamily="34" charset="0"/>
                <a:cs typeface="Arial" panose="020B0604020202020204" pitchFamily="34" charset="0"/>
              </a:rPr>
              <a:t>Allows specialization in products and services (e.g., credit vs insurance)</a:t>
            </a:r>
          </a:p>
        </p:txBody>
      </p:sp>
      <p:sp>
        <p:nvSpPr>
          <p:cNvPr id="35" name="TextBox 34">
            <a:extLst>
              <a:ext uri="{FF2B5EF4-FFF2-40B4-BE49-F238E27FC236}">
                <a16:creationId xmlns:a16="http://schemas.microsoft.com/office/drawing/2014/main" id="{EE0BFD5B-CC5F-4EEB-AB9F-2701DE204E0E}"/>
              </a:ext>
            </a:extLst>
          </p:cNvPr>
          <p:cNvSpPr txBox="1"/>
          <p:nvPr/>
        </p:nvSpPr>
        <p:spPr>
          <a:xfrm>
            <a:off x="7310883" y="5784764"/>
            <a:ext cx="4194447" cy="836396"/>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324000" lvl="1" indent="-216000">
              <a:buClr>
                <a:schemeClr val="tx2"/>
              </a:buClr>
              <a:buFont typeface="Trebuchet MS" panose="020B0603020202020204" pitchFamily="34" charset="0"/>
              <a:buChar char="•"/>
            </a:pPr>
            <a:r>
              <a:rPr lang="en-US" sz="1050">
                <a:solidFill>
                  <a:schemeClr val="tx1"/>
                </a:solidFill>
                <a:latin typeface="Trebuchet MS" panose="020B0603020202020204" pitchFamily="34" charset="0"/>
                <a:cs typeface="Arial" panose="020B0604020202020204" pitchFamily="34" charset="0"/>
              </a:rPr>
              <a:t>Allows pooling of capabilities and consistency</a:t>
            </a:r>
          </a:p>
          <a:p>
            <a:pPr marL="324000" lvl="1" indent="-216000">
              <a:buClr>
                <a:schemeClr val="tx2"/>
              </a:buClr>
              <a:buFont typeface="Trebuchet MS" panose="020B0603020202020204" pitchFamily="34" charset="0"/>
              <a:buChar char="•"/>
            </a:pPr>
            <a:r>
              <a:rPr lang="en-US" sz="1050">
                <a:solidFill>
                  <a:schemeClr val="tx1"/>
                </a:solidFill>
                <a:latin typeface="Trebuchet MS" panose="020B0603020202020204" pitchFamily="34" charset="0"/>
                <a:cs typeface="Arial" panose="020B0604020202020204" pitchFamily="34" charset="0"/>
              </a:rPr>
              <a:t>Simpler management of campaign portfolio (e.g., interactions between campaign A &amp; B)</a:t>
            </a:r>
          </a:p>
          <a:p>
            <a:pPr marL="324000" lvl="1" indent="-216000">
              <a:buClr>
                <a:schemeClr val="tx2"/>
              </a:buClr>
              <a:buFont typeface="Trebuchet MS" panose="020B0603020202020204" pitchFamily="34" charset="0"/>
              <a:buChar char="•"/>
            </a:pPr>
            <a:r>
              <a:rPr lang="en-US" sz="1050">
                <a:solidFill>
                  <a:schemeClr val="tx1"/>
                </a:solidFill>
                <a:latin typeface="Trebuchet MS" panose="020B0603020202020204" pitchFamily="34" charset="0"/>
                <a:cs typeface="Arial" panose="020B0604020202020204" pitchFamily="34" charset="0"/>
              </a:rPr>
              <a:t>Easier cross-pollination of learnings for similar campaigns</a:t>
            </a:r>
          </a:p>
          <a:p>
            <a:pPr marL="324000" lvl="1" indent="-216000">
              <a:buClr>
                <a:schemeClr val="tx2"/>
              </a:buClr>
              <a:buFont typeface="Trebuchet MS" panose="020B0603020202020204" pitchFamily="34" charset="0"/>
              <a:buChar char="•"/>
            </a:pPr>
            <a:r>
              <a:rPr lang="en-US" sz="1050">
                <a:solidFill>
                  <a:schemeClr val="tx1"/>
                </a:solidFill>
                <a:latin typeface="Trebuchet MS" panose="020B0603020202020204" pitchFamily="34" charset="0"/>
                <a:cs typeface="Arial" panose="020B0604020202020204" pitchFamily="34" charset="0"/>
              </a:rPr>
              <a:t>Allows easier reorientation to shifting priorities</a:t>
            </a:r>
          </a:p>
        </p:txBody>
      </p:sp>
      <p:sp>
        <p:nvSpPr>
          <p:cNvPr id="36" name="TextBox 35">
            <a:extLst>
              <a:ext uri="{FF2B5EF4-FFF2-40B4-BE49-F238E27FC236}">
                <a16:creationId xmlns:a16="http://schemas.microsoft.com/office/drawing/2014/main" id="{A8BEE2FC-BEB0-46B9-B993-2C83A673B692}"/>
              </a:ext>
            </a:extLst>
          </p:cNvPr>
          <p:cNvSpPr txBox="1"/>
          <p:nvPr/>
        </p:nvSpPr>
        <p:spPr>
          <a:xfrm>
            <a:off x="2207373" y="1419152"/>
            <a:ext cx="1676797" cy="213970"/>
          </a:xfrm>
          <a:prstGeom prst="rect">
            <a:avLst/>
          </a:prstGeom>
          <a:noFill/>
          <a:ln w="9525" cap="flat" cmpd="sng" algn="ctr">
            <a:noFill/>
            <a:prstDash val="solid"/>
            <a:round/>
            <a:headEnd type="none" w="med" len="med"/>
            <a:tailEnd type="none" w="med" len="med"/>
          </a:ln>
          <a:extLst>
            <a:ext uri="{909E8E84-426E-40DD-AFC4-6F175D3DCCD1}">
              <a14:hiddenFill xmlns:a14="http://schemas.microsoft.com/office/drawing/2010/main">
                <a:solidFill>
                  <a:schemeClr val="bg1"/>
                </a:solidFill>
              </a14:hiddenFill>
            </a:ext>
          </a:extLst>
        </p:spPr>
        <p:txBody>
          <a:bodyPr wrap="square" lIns="0" tIns="0" rIns="0" bIns="0" rtlCol="0" anchor="ctr">
            <a:noAutofit/>
          </a:bodyPr>
          <a:lstStyle>
            <a:defPPr>
              <a:defRPr lang="en-US"/>
            </a:defPPr>
            <a:lvl1pPr algn="ctr">
              <a:lnSpc>
                <a:spcPct val="90000"/>
              </a:lnSpc>
              <a:spcAft>
                <a:spcPts val="600"/>
              </a:spcAft>
              <a:defRPr sz="1400" b="1">
                <a:solidFill>
                  <a:schemeClr val="tx2"/>
                </a:solidFill>
              </a:defRPr>
            </a:lvl1pPr>
          </a:lstStyle>
          <a:p>
            <a:pPr>
              <a:lnSpc>
                <a:spcPct val="100000"/>
              </a:lnSpc>
              <a:spcAft>
                <a:spcPts val="0"/>
              </a:spcAft>
              <a:buFont typeface="Trebuchet MS" panose="020B0603020202020204" pitchFamily="34" charset="0"/>
              <a:buChar char="​"/>
            </a:pPr>
            <a:r>
              <a:rPr lang="en-US" sz="1000">
                <a:solidFill>
                  <a:srgbClr val="295E7E"/>
                </a:solidFill>
                <a:latin typeface="Trebuchet MS" panose="020B0603020202020204" pitchFamily="34" charset="0"/>
                <a:cs typeface="Arial" panose="020B0604020202020204" pitchFamily="34" charset="0"/>
              </a:rPr>
              <a:t>Highly Decentralized</a:t>
            </a:r>
          </a:p>
        </p:txBody>
      </p:sp>
      <p:sp>
        <p:nvSpPr>
          <p:cNvPr id="37" name="TextBox 36">
            <a:extLst>
              <a:ext uri="{FF2B5EF4-FFF2-40B4-BE49-F238E27FC236}">
                <a16:creationId xmlns:a16="http://schemas.microsoft.com/office/drawing/2014/main" id="{96406F87-1DE3-45D9-ADA8-89FCF5DF442F}"/>
              </a:ext>
            </a:extLst>
          </p:cNvPr>
          <p:cNvSpPr txBox="1"/>
          <p:nvPr/>
        </p:nvSpPr>
        <p:spPr>
          <a:xfrm>
            <a:off x="7310883" y="1419152"/>
            <a:ext cx="1863108" cy="213970"/>
          </a:xfrm>
          <a:prstGeom prst="rect">
            <a:avLst/>
          </a:prstGeom>
          <a:noFill/>
          <a:ln w="9525" cap="flat" cmpd="sng" algn="ctr">
            <a:noFill/>
            <a:prstDash val="solid"/>
            <a:round/>
            <a:headEnd type="none" w="med" len="med"/>
            <a:tailEnd type="none" w="med" len="med"/>
          </a:ln>
          <a:extLst>
            <a:ext uri="{909E8E84-426E-40DD-AFC4-6F175D3DCCD1}">
              <a14:hiddenFill xmlns:a14="http://schemas.microsoft.com/office/drawing/2010/main">
                <a:solidFill>
                  <a:schemeClr val="bg1"/>
                </a:solidFill>
              </a14:hiddenFill>
            </a:ext>
          </a:extLst>
        </p:spPr>
        <p:txBody>
          <a:bodyPr wrap="square" lIns="0" tIns="0" rIns="0" bIns="0" rtlCol="0" anchor="ctr">
            <a:noAutofit/>
          </a:bodyPr>
          <a:lstStyle>
            <a:defPPr>
              <a:defRPr lang="en-US"/>
            </a:defPPr>
            <a:lvl1pPr algn="ctr">
              <a:lnSpc>
                <a:spcPct val="90000"/>
              </a:lnSpc>
              <a:spcAft>
                <a:spcPts val="600"/>
              </a:spcAft>
              <a:defRPr sz="1400" b="1">
                <a:solidFill>
                  <a:schemeClr val="tx2"/>
                </a:solidFill>
              </a:defRPr>
            </a:lvl1pPr>
          </a:lstStyle>
          <a:p>
            <a:pPr>
              <a:lnSpc>
                <a:spcPct val="100000"/>
              </a:lnSpc>
              <a:spcAft>
                <a:spcPts val="0"/>
              </a:spcAft>
              <a:buFont typeface="Trebuchet MS" panose="020B0603020202020204" pitchFamily="34" charset="0"/>
              <a:buChar char="​"/>
            </a:pPr>
            <a:r>
              <a:rPr lang="en-US" sz="1000">
                <a:solidFill>
                  <a:srgbClr val="295E7E"/>
                </a:solidFill>
                <a:latin typeface="Trebuchet MS" panose="020B0603020202020204" pitchFamily="34" charset="0"/>
                <a:cs typeface="Arial" panose="020B0604020202020204" pitchFamily="34" charset="0"/>
              </a:rPr>
              <a:t>Highly Centralized</a:t>
            </a:r>
          </a:p>
        </p:txBody>
      </p:sp>
      <p:sp>
        <p:nvSpPr>
          <p:cNvPr id="38" name="TextBox 37">
            <a:extLst>
              <a:ext uri="{FF2B5EF4-FFF2-40B4-BE49-F238E27FC236}">
                <a16:creationId xmlns:a16="http://schemas.microsoft.com/office/drawing/2014/main" id="{F5B40D1E-D1AE-4876-89DE-EC2AA97F0CD7}"/>
              </a:ext>
            </a:extLst>
          </p:cNvPr>
          <p:cNvSpPr txBox="1"/>
          <p:nvPr/>
        </p:nvSpPr>
        <p:spPr>
          <a:xfrm>
            <a:off x="4154701" y="1504410"/>
            <a:ext cx="2813218" cy="65366"/>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tx1"/>
                </a:solidFill>
                <a:latin typeface="Trebuchet MS" panose="020B0603020202020204" pitchFamily="34" charset="0"/>
                <a:cs typeface="Arial" panose="020B0604020202020204" pitchFamily="34" charset="0"/>
              </a:rPr>
              <a:t>Extent of decentralization based on level of maturity</a:t>
            </a:r>
          </a:p>
        </p:txBody>
      </p:sp>
      <p:sp>
        <p:nvSpPr>
          <p:cNvPr id="39" name="AutoShape 53">
            <a:extLst>
              <a:ext uri="{FF2B5EF4-FFF2-40B4-BE49-F238E27FC236}">
                <a16:creationId xmlns:a16="http://schemas.microsoft.com/office/drawing/2014/main" id="{79176715-4CD6-46B2-A8F4-90E0E1920AE4}"/>
              </a:ext>
            </a:extLst>
          </p:cNvPr>
          <p:cNvSpPr>
            <a:spLocks noChangeAspect="1" noChangeArrowheads="1" noTextEdit="1"/>
          </p:cNvSpPr>
          <p:nvPr/>
        </p:nvSpPr>
        <p:spPr bwMode="auto">
          <a:xfrm>
            <a:off x="4837814" y="2696781"/>
            <a:ext cx="1289050" cy="452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lgn="ctr"/>
            <a:endParaRPr lang="en-US" sz="2000"/>
          </a:p>
        </p:txBody>
      </p:sp>
      <p:grpSp>
        <p:nvGrpSpPr>
          <p:cNvPr id="40" name="Group 39">
            <a:extLst>
              <a:ext uri="{FF2B5EF4-FFF2-40B4-BE49-F238E27FC236}">
                <a16:creationId xmlns:a16="http://schemas.microsoft.com/office/drawing/2014/main" id="{D1C85A95-FF96-487C-800F-47786D4D63FA}"/>
              </a:ext>
            </a:extLst>
          </p:cNvPr>
          <p:cNvGrpSpPr/>
          <p:nvPr/>
        </p:nvGrpSpPr>
        <p:grpSpPr>
          <a:xfrm>
            <a:off x="2866553" y="3471640"/>
            <a:ext cx="1105134" cy="338765"/>
            <a:chOff x="2202474" y="3329557"/>
            <a:chExt cx="1105134" cy="338765"/>
          </a:xfrm>
        </p:grpSpPr>
        <p:cxnSp>
          <p:nvCxnSpPr>
            <p:cNvPr id="41" name="Straight Connector 40">
              <a:extLst>
                <a:ext uri="{FF2B5EF4-FFF2-40B4-BE49-F238E27FC236}">
                  <a16:creationId xmlns:a16="http://schemas.microsoft.com/office/drawing/2014/main" id="{3B86A522-5866-4882-975A-9076172456F6}"/>
                </a:ext>
              </a:extLst>
            </p:cNvPr>
            <p:cNvCxnSpPr>
              <a:cxnSpLocks/>
            </p:cNvCxnSpPr>
            <p:nvPr/>
          </p:nvCxnSpPr>
          <p:spPr>
            <a:xfrm>
              <a:off x="2202474" y="3551013"/>
              <a:ext cx="1105134" cy="0"/>
            </a:xfrm>
            <a:prstGeom prst="line">
              <a:avLst/>
            </a:prstGeom>
            <a:ln w="12700" cap="rnd">
              <a:solidFill>
                <a:srgbClr val="7F7F7F">
                  <a:lumMod val="100000"/>
                </a:srgbClr>
              </a:solidFill>
              <a:prstDash val="solid"/>
              <a:roun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302FC980-0431-44AD-B490-9F2682885F0F}"/>
                </a:ext>
              </a:extLst>
            </p:cNvPr>
            <p:cNvCxnSpPr/>
            <p:nvPr/>
          </p:nvCxnSpPr>
          <p:spPr>
            <a:xfrm flipV="1">
              <a:off x="2202474" y="3329557"/>
              <a:ext cx="0" cy="221456"/>
            </a:xfrm>
            <a:prstGeom prst="line">
              <a:avLst/>
            </a:prstGeom>
            <a:ln w="12700" cap="rnd">
              <a:solidFill>
                <a:srgbClr val="7F7F7F">
                  <a:lumMod val="100000"/>
                </a:srgbClr>
              </a:solidFill>
              <a:prstDash val="solid"/>
              <a:roun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D7445BDE-9F69-4415-B6AB-8040B57DBC4A}"/>
                </a:ext>
              </a:extLst>
            </p:cNvPr>
            <p:cNvCxnSpPr/>
            <p:nvPr/>
          </p:nvCxnSpPr>
          <p:spPr>
            <a:xfrm flipV="1">
              <a:off x="3307608" y="3329557"/>
              <a:ext cx="0" cy="221456"/>
            </a:xfrm>
            <a:prstGeom prst="line">
              <a:avLst/>
            </a:prstGeom>
            <a:ln w="12700" cap="rnd">
              <a:solidFill>
                <a:srgbClr val="7F7F7F">
                  <a:lumMod val="100000"/>
                </a:srgbClr>
              </a:solidFill>
              <a:prstDash val="solid"/>
              <a:round/>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CD1AF085-E7A1-4E6D-A4C2-4C7EDE7CB17E}"/>
                </a:ext>
              </a:extLst>
            </p:cNvPr>
            <p:cNvCxnSpPr>
              <a:cxnSpLocks/>
            </p:cNvCxnSpPr>
            <p:nvPr/>
          </p:nvCxnSpPr>
          <p:spPr>
            <a:xfrm flipV="1">
              <a:off x="2755041" y="3329557"/>
              <a:ext cx="0" cy="338765"/>
            </a:xfrm>
            <a:prstGeom prst="line">
              <a:avLst/>
            </a:prstGeom>
            <a:ln w="12700" cap="rnd">
              <a:solidFill>
                <a:srgbClr val="7F7F7F">
                  <a:lumMod val="100000"/>
                </a:srgbClr>
              </a:solidFill>
              <a:prstDash val="solid"/>
              <a:round/>
            </a:ln>
          </p:spPr>
          <p:style>
            <a:lnRef idx="1">
              <a:schemeClr val="accent1"/>
            </a:lnRef>
            <a:fillRef idx="0">
              <a:schemeClr val="accent1"/>
            </a:fillRef>
            <a:effectRef idx="0">
              <a:schemeClr val="accent1"/>
            </a:effectRef>
            <a:fontRef idx="minor">
              <a:schemeClr val="tx1"/>
            </a:fontRef>
          </p:style>
        </p:cxnSp>
      </p:grpSp>
      <p:cxnSp>
        <p:nvCxnSpPr>
          <p:cNvPr id="45" name="Straight Connector 44">
            <a:extLst>
              <a:ext uri="{FF2B5EF4-FFF2-40B4-BE49-F238E27FC236}">
                <a16:creationId xmlns:a16="http://schemas.microsoft.com/office/drawing/2014/main" id="{0B44E6E6-6C73-4BC9-A690-70EAD095B760}"/>
              </a:ext>
            </a:extLst>
          </p:cNvPr>
          <p:cNvCxnSpPr/>
          <p:nvPr/>
        </p:nvCxnSpPr>
        <p:spPr>
          <a:xfrm>
            <a:off x="630000" y="4249525"/>
            <a:ext cx="10897002" cy="0"/>
          </a:xfrm>
          <a:prstGeom prst="line">
            <a:avLst/>
          </a:prstGeom>
          <a:ln w="3175" cap="rnd">
            <a:solidFill>
              <a:srgbClr val="C8C8C8">
                <a:lumMod val="100000"/>
              </a:srgbClr>
            </a:solidFill>
            <a:prstDash val="solid"/>
            <a:round/>
          </a:ln>
        </p:spPr>
        <p:style>
          <a:lnRef idx="1">
            <a:schemeClr val="accent1"/>
          </a:lnRef>
          <a:fillRef idx="0">
            <a:schemeClr val="accent1"/>
          </a:fillRef>
          <a:effectRef idx="0">
            <a:schemeClr val="accent1"/>
          </a:effectRef>
          <a:fontRef idx="minor">
            <a:schemeClr val="tx1"/>
          </a:fontRef>
        </p:style>
      </p:cxnSp>
      <p:grpSp>
        <p:nvGrpSpPr>
          <p:cNvPr id="46" name="Group 45">
            <a:extLst>
              <a:ext uri="{FF2B5EF4-FFF2-40B4-BE49-F238E27FC236}">
                <a16:creationId xmlns:a16="http://schemas.microsoft.com/office/drawing/2014/main" id="{6D9569F5-8895-4469-A195-958761E194DE}"/>
              </a:ext>
            </a:extLst>
          </p:cNvPr>
          <p:cNvGrpSpPr/>
          <p:nvPr/>
        </p:nvGrpSpPr>
        <p:grpSpPr>
          <a:xfrm>
            <a:off x="2611799" y="2205585"/>
            <a:ext cx="1603748" cy="1385066"/>
            <a:chOff x="1953982" y="2056191"/>
            <a:chExt cx="1603748" cy="1470740"/>
          </a:xfrm>
        </p:grpSpPr>
        <p:sp>
          <p:nvSpPr>
            <p:cNvPr id="47" name="Rectangle: Rounded Corners 46">
              <a:extLst>
                <a:ext uri="{FF2B5EF4-FFF2-40B4-BE49-F238E27FC236}">
                  <a16:creationId xmlns:a16="http://schemas.microsoft.com/office/drawing/2014/main" id="{060B50F1-EA16-4377-AF8D-ED148BA6BF12}"/>
                </a:ext>
              </a:extLst>
            </p:cNvPr>
            <p:cNvSpPr/>
            <p:nvPr/>
          </p:nvSpPr>
          <p:spPr>
            <a:xfrm>
              <a:off x="1953982" y="2056191"/>
              <a:ext cx="508114" cy="1470740"/>
            </a:xfrm>
            <a:prstGeom prst="roundRect">
              <a:avLst/>
            </a:prstGeom>
            <a:solidFill>
              <a:srgbClr val="C8C8C8"/>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tx1"/>
                  </a:solidFill>
                  <a:latin typeface="Trebuchet MS" panose="020B0603020202020204" pitchFamily="34" charset="0"/>
                  <a:cs typeface="Arial" panose="020B0604020202020204" pitchFamily="34" charset="0"/>
                </a:rPr>
                <a:t>BU1</a:t>
              </a:r>
              <a:endParaRPr lang="en-US" sz="1000">
                <a:solidFill>
                  <a:schemeClr val="tx1"/>
                </a:solidFill>
                <a:latin typeface="Trebuchet MS" panose="020B0603020202020204" pitchFamily="34" charset="0"/>
                <a:cs typeface="Arial" panose="020B0604020202020204" pitchFamily="34" charset="0"/>
              </a:endParaRPr>
            </a:p>
          </p:txBody>
        </p:sp>
        <p:sp>
          <p:nvSpPr>
            <p:cNvPr id="48" name="Rectangle: Rounded Corners 47">
              <a:extLst>
                <a:ext uri="{FF2B5EF4-FFF2-40B4-BE49-F238E27FC236}">
                  <a16:creationId xmlns:a16="http://schemas.microsoft.com/office/drawing/2014/main" id="{B662E478-A57B-4B92-93DD-130D46F7E58A}"/>
                </a:ext>
              </a:extLst>
            </p:cNvPr>
            <p:cNvSpPr/>
            <p:nvPr/>
          </p:nvSpPr>
          <p:spPr>
            <a:xfrm>
              <a:off x="2501800" y="2056191"/>
              <a:ext cx="508114" cy="1470740"/>
            </a:xfrm>
            <a:prstGeom prst="roundRect">
              <a:avLst/>
            </a:prstGeom>
            <a:solidFill>
              <a:srgbClr val="C8C8C8"/>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tx1"/>
                  </a:solidFill>
                  <a:latin typeface="Trebuchet MS" panose="020B0603020202020204" pitchFamily="34" charset="0"/>
                  <a:cs typeface="Arial" panose="020B0604020202020204" pitchFamily="34" charset="0"/>
                </a:rPr>
                <a:t>BU2</a:t>
              </a:r>
            </a:p>
          </p:txBody>
        </p:sp>
        <p:sp>
          <p:nvSpPr>
            <p:cNvPr id="49" name="Rectangle: Rounded Corners 48">
              <a:extLst>
                <a:ext uri="{FF2B5EF4-FFF2-40B4-BE49-F238E27FC236}">
                  <a16:creationId xmlns:a16="http://schemas.microsoft.com/office/drawing/2014/main" id="{A090409B-1789-45CC-BC36-BBEE2FE9FF67}"/>
                </a:ext>
              </a:extLst>
            </p:cNvPr>
            <p:cNvSpPr/>
            <p:nvPr/>
          </p:nvSpPr>
          <p:spPr>
            <a:xfrm>
              <a:off x="3049616" y="2056191"/>
              <a:ext cx="508114" cy="1470740"/>
            </a:xfrm>
            <a:prstGeom prst="roundRect">
              <a:avLst/>
            </a:prstGeom>
            <a:solidFill>
              <a:srgbClr val="C8C8C8"/>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tx1"/>
                  </a:solidFill>
                  <a:latin typeface="Trebuchet MS" panose="020B0603020202020204" pitchFamily="34" charset="0"/>
                  <a:cs typeface="Arial" panose="020B0604020202020204" pitchFamily="34" charset="0"/>
                </a:rPr>
                <a:t>BU3</a:t>
              </a:r>
            </a:p>
          </p:txBody>
        </p:sp>
      </p:grpSp>
      <p:grpSp>
        <p:nvGrpSpPr>
          <p:cNvPr id="50" name="Group 49">
            <a:extLst>
              <a:ext uri="{FF2B5EF4-FFF2-40B4-BE49-F238E27FC236}">
                <a16:creationId xmlns:a16="http://schemas.microsoft.com/office/drawing/2014/main" id="{C0727797-AEA8-416F-9057-5B1309065B35}"/>
              </a:ext>
            </a:extLst>
          </p:cNvPr>
          <p:cNvGrpSpPr/>
          <p:nvPr/>
        </p:nvGrpSpPr>
        <p:grpSpPr>
          <a:xfrm>
            <a:off x="4839402" y="2262807"/>
            <a:ext cx="1603748" cy="356616"/>
            <a:chOff x="1953982" y="2056191"/>
            <a:chExt cx="1603748" cy="1470740"/>
          </a:xfrm>
        </p:grpSpPr>
        <p:sp>
          <p:nvSpPr>
            <p:cNvPr id="51" name="Rectangle: Rounded Corners 50">
              <a:extLst>
                <a:ext uri="{FF2B5EF4-FFF2-40B4-BE49-F238E27FC236}">
                  <a16:creationId xmlns:a16="http://schemas.microsoft.com/office/drawing/2014/main" id="{A1D5082B-3921-4353-833A-6CDB466A0684}"/>
                </a:ext>
              </a:extLst>
            </p:cNvPr>
            <p:cNvSpPr/>
            <p:nvPr/>
          </p:nvSpPr>
          <p:spPr>
            <a:xfrm>
              <a:off x="1953982" y="2056191"/>
              <a:ext cx="508114" cy="1470740"/>
            </a:xfrm>
            <a:prstGeom prst="roundRect">
              <a:avLst/>
            </a:prstGeom>
            <a:solidFill>
              <a:srgbClr val="C8C8C8"/>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tx1"/>
                  </a:solidFill>
                  <a:latin typeface="Trebuchet MS" panose="020B0603020202020204" pitchFamily="34" charset="0"/>
                  <a:cs typeface="Arial" panose="020B0604020202020204" pitchFamily="34" charset="0"/>
                </a:rPr>
                <a:t>BU1</a:t>
              </a:r>
            </a:p>
          </p:txBody>
        </p:sp>
        <p:sp>
          <p:nvSpPr>
            <p:cNvPr id="52" name="Rectangle: Rounded Corners 51">
              <a:extLst>
                <a:ext uri="{FF2B5EF4-FFF2-40B4-BE49-F238E27FC236}">
                  <a16:creationId xmlns:a16="http://schemas.microsoft.com/office/drawing/2014/main" id="{50D93E02-62BB-45BD-9BF0-F3E7283C245F}"/>
                </a:ext>
              </a:extLst>
            </p:cNvPr>
            <p:cNvSpPr/>
            <p:nvPr/>
          </p:nvSpPr>
          <p:spPr>
            <a:xfrm>
              <a:off x="2501800" y="2056191"/>
              <a:ext cx="508114" cy="1470740"/>
            </a:xfrm>
            <a:prstGeom prst="roundRect">
              <a:avLst/>
            </a:prstGeom>
            <a:solidFill>
              <a:srgbClr val="C8C8C8"/>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tx1"/>
                  </a:solidFill>
                  <a:latin typeface="Trebuchet MS" panose="020B0603020202020204" pitchFamily="34" charset="0"/>
                  <a:cs typeface="Arial" panose="020B0604020202020204" pitchFamily="34" charset="0"/>
                </a:rPr>
                <a:t>BU2</a:t>
              </a:r>
            </a:p>
          </p:txBody>
        </p:sp>
        <p:sp>
          <p:nvSpPr>
            <p:cNvPr id="53" name="Rectangle: Rounded Corners 52">
              <a:extLst>
                <a:ext uri="{FF2B5EF4-FFF2-40B4-BE49-F238E27FC236}">
                  <a16:creationId xmlns:a16="http://schemas.microsoft.com/office/drawing/2014/main" id="{70CEA237-40DB-4A85-91B8-A2DF6AF9171C}"/>
                </a:ext>
              </a:extLst>
            </p:cNvPr>
            <p:cNvSpPr/>
            <p:nvPr/>
          </p:nvSpPr>
          <p:spPr>
            <a:xfrm>
              <a:off x="3049616" y="2056191"/>
              <a:ext cx="508114" cy="1470740"/>
            </a:xfrm>
            <a:prstGeom prst="roundRect">
              <a:avLst/>
            </a:prstGeom>
            <a:solidFill>
              <a:srgbClr val="C8C8C8"/>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tx1"/>
                  </a:solidFill>
                  <a:latin typeface="Trebuchet MS" panose="020B0603020202020204" pitchFamily="34" charset="0"/>
                  <a:cs typeface="Arial" panose="020B0604020202020204" pitchFamily="34" charset="0"/>
                </a:rPr>
                <a:t>BU3</a:t>
              </a:r>
            </a:p>
          </p:txBody>
        </p:sp>
      </p:grpSp>
      <p:grpSp>
        <p:nvGrpSpPr>
          <p:cNvPr id="54" name="Group 53">
            <a:extLst>
              <a:ext uri="{FF2B5EF4-FFF2-40B4-BE49-F238E27FC236}">
                <a16:creationId xmlns:a16="http://schemas.microsoft.com/office/drawing/2014/main" id="{BE4B7556-568D-44A4-99DA-AF325BA7BB0E}"/>
              </a:ext>
            </a:extLst>
          </p:cNvPr>
          <p:cNvGrpSpPr/>
          <p:nvPr/>
        </p:nvGrpSpPr>
        <p:grpSpPr>
          <a:xfrm>
            <a:off x="4839402" y="3234035"/>
            <a:ext cx="1603748" cy="356616"/>
            <a:chOff x="1953982" y="2056191"/>
            <a:chExt cx="1603748" cy="1470740"/>
          </a:xfrm>
        </p:grpSpPr>
        <p:sp>
          <p:nvSpPr>
            <p:cNvPr id="55" name="Rectangle: Rounded Corners 54">
              <a:extLst>
                <a:ext uri="{FF2B5EF4-FFF2-40B4-BE49-F238E27FC236}">
                  <a16:creationId xmlns:a16="http://schemas.microsoft.com/office/drawing/2014/main" id="{649CCFC8-F6E4-4E67-A82F-482C706F20FD}"/>
                </a:ext>
              </a:extLst>
            </p:cNvPr>
            <p:cNvSpPr/>
            <p:nvPr/>
          </p:nvSpPr>
          <p:spPr>
            <a:xfrm>
              <a:off x="1953982" y="2056191"/>
              <a:ext cx="508114" cy="1470740"/>
            </a:xfrm>
            <a:prstGeom prst="roundRect">
              <a:avLst/>
            </a:prstGeom>
            <a:solidFill>
              <a:srgbClr val="C8C8C8"/>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000">
                  <a:solidFill>
                    <a:schemeClr val="tx1"/>
                  </a:solidFill>
                  <a:latin typeface="Trebuchet MS" panose="020B0603020202020204" pitchFamily="34" charset="0"/>
                  <a:cs typeface="Arial" panose="020B0604020202020204" pitchFamily="34" charset="0"/>
                </a:rPr>
                <a:t>BU1</a:t>
              </a:r>
            </a:p>
          </p:txBody>
        </p:sp>
        <p:sp>
          <p:nvSpPr>
            <p:cNvPr id="56" name="Rectangle: Rounded Corners 55">
              <a:extLst>
                <a:ext uri="{FF2B5EF4-FFF2-40B4-BE49-F238E27FC236}">
                  <a16:creationId xmlns:a16="http://schemas.microsoft.com/office/drawing/2014/main" id="{EB43B34D-7C16-4165-8301-DC14C8101765}"/>
                </a:ext>
              </a:extLst>
            </p:cNvPr>
            <p:cNvSpPr/>
            <p:nvPr/>
          </p:nvSpPr>
          <p:spPr>
            <a:xfrm>
              <a:off x="2501800" y="2056191"/>
              <a:ext cx="508114" cy="1470740"/>
            </a:xfrm>
            <a:prstGeom prst="roundRect">
              <a:avLst/>
            </a:prstGeom>
            <a:solidFill>
              <a:srgbClr val="C8C8C8"/>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000">
                  <a:solidFill>
                    <a:schemeClr val="tx1"/>
                  </a:solidFill>
                  <a:latin typeface="Trebuchet MS" panose="020B0603020202020204" pitchFamily="34" charset="0"/>
                  <a:cs typeface="Arial" panose="020B0604020202020204" pitchFamily="34" charset="0"/>
                </a:rPr>
                <a:t>BU2</a:t>
              </a:r>
            </a:p>
          </p:txBody>
        </p:sp>
        <p:sp>
          <p:nvSpPr>
            <p:cNvPr id="57" name="Rectangle: Rounded Corners 56">
              <a:extLst>
                <a:ext uri="{FF2B5EF4-FFF2-40B4-BE49-F238E27FC236}">
                  <a16:creationId xmlns:a16="http://schemas.microsoft.com/office/drawing/2014/main" id="{E1A4C44A-15CB-4C37-9035-5FFB189AB072}"/>
                </a:ext>
              </a:extLst>
            </p:cNvPr>
            <p:cNvSpPr/>
            <p:nvPr/>
          </p:nvSpPr>
          <p:spPr>
            <a:xfrm>
              <a:off x="3049616" y="2056191"/>
              <a:ext cx="508114" cy="1470740"/>
            </a:xfrm>
            <a:prstGeom prst="roundRect">
              <a:avLst/>
            </a:prstGeom>
            <a:solidFill>
              <a:srgbClr val="C8C8C8"/>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000">
                  <a:solidFill>
                    <a:schemeClr val="tx1"/>
                  </a:solidFill>
                  <a:latin typeface="Trebuchet MS" panose="020B0603020202020204" pitchFamily="34" charset="0"/>
                  <a:cs typeface="Arial" panose="020B0604020202020204" pitchFamily="34" charset="0"/>
                </a:rPr>
                <a:t>BU3</a:t>
              </a:r>
            </a:p>
          </p:txBody>
        </p:sp>
      </p:grpSp>
      <p:sp>
        <p:nvSpPr>
          <p:cNvPr id="58" name="Rectangle: Rounded Corners 57">
            <a:extLst>
              <a:ext uri="{FF2B5EF4-FFF2-40B4-BE49-F238E27FC236}">
                <a16:creationId xmlns:a16="http://schemas.microsoft.com/office/drawing/2014/main" id="{56720CF6-BC63-44A5-9185-40469AC5D1B7}"/>
              </a:ext>
            </a:extLst>
          </p:cNvPr>
          <p:cNvSpPr/>
          <p:nvPr/>
        </p:nvSpPr>
        <p:spPr>
          <a:xfrm>
            <a:off x="2552111" y="3717416"/>
            <a:ext cx="1771304" cy="1403639"/>
          </a:xfrm>
          <a:prstGeom prst="roundRect">
            <a:avLst>
              <a:gd name="adj" fmla="val 6896"/>
            </a:avLst>
          </a:prstGeom>
          <a:solidFill>
            <a:schemeClr val="tx2"/>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algn="ctr"/>
            <a:r>
              <a:rPr lang="en-US" sz="1000" b="1" err="1">
                <a:solidFill>
                  <a:schemeClr val="tx1"/>
                </a:solidFill>
                <a:latin typeface="Trebuchet MS" panose="020B0603020202020204" pitchFamily="34" charset="0"/>
                <a:cs typeface="Arial" panose="020B0604020202020204" pitchFamily="34" charset="0"/>
              </a:rPr>
              <a:t>CLM</a:t>
            </a:r>
            <a:r>
              <a:rPr lang="en-US" sz="1000" b="1">
                <a:solidFill>
                  <a:schemeClr val="tx1"/>
                </a:solidFill>
                <a:latin typeface="Trebuchet MS" panose="020B0603020202020204" pitchFamily="34" charset="0"/>
                <a:cs typeface="Arial" panose="020B0604020202020204" pitchFamily="34" charset="0"/>
              </a:rPr>
              <a:t> Team</a:t>
            </a:r>
          </a:p>
        </p:txBody>
      </p:sp>
      <p:sp>
        <p:nvSpPr>
          <p:cNvPr id="59" name="Rectangle: Rounded Corners 58">
            <a:extLst>
              <a:ext uri="{FF2B5EF4-FFF2-40B4-BE49-F238E27FC236}">
                <a16:creationId xmlns:a16="http://schemas.microsoft.com/office/drawing/2014/main" id="{9693CBF5-2186-4146-9633-095B9CF809C8}"/>
              </a:ext>
            </a:extLst>
          </p:cNvPr>
          <p:cNvSpPr/>
          <p:nvPr/>
        </p:nvSpPr>
        <p:spPr>
          <a:xfrm>
            <a:off x="4767726" y="3717416"/>
            <a:ext cx="1771304" cy="1403639"/>
          </a:xfrm>
          <a:prstGeom prst="roundRect">
            <a:avLst>
              <a:gd name="adj" fmla="val 6896"/>
            </a:avLst>
          </a:prstGeom>
          <a:solidFill>
            <a:schemeClr val="tx2"/>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algn="ctr"/>
            <a:r>
              <a:rPr lang="en-US" sz="1000" b="1">
                <a:solidFill>
                  <a:schemeClr val="tx1"/>
                </a:solidFill>
                <a:latin typeface="Trebuchet MS" panose="020B0603020202020204" pitchFamily="34" charset="0"/>
                <a:cs typeface="Arial" panose="020B0604020202020204" pitchFamily="34" charset="0"/>
              </a:rPr>
              <a:t>Centralized Offer Factory</a:t>
            </a:r>
          </a:p>
        </p:txBody>
      </p:sp>
      <p:sp>
        <p:nvSpPr>
          <p:cNvPr id="60" name="Rectangle: Rounded Corners 59">
            <a:extLst>
              <a:ext uri="{FF2B5EF4-FFF2-40B4-BE49-F238E27FC236}">
                <a16:creationId xmlns:a16="http://schemas.microsoft.com/office/drawing/2014/main" id="{106B1F96-010A-4BBD-8A3F-F431E3B92A2D}"/>
              </a:ext>
            </a:extLst>
          </p:cNvPr>
          <p:cNvSpPr/>
          <p:nvPr/>
        </p:nvSpPr>
        <p:spPr>
          <a:xfrm>
            <a:off x="2611799" y="5176489"/>
            <a:ext cx="1600200" cy="356616"/>
          </a:xfrm>
          <a:prstGeom prst="roundRect">
            <a:avLst>
              <a:gd name="adj" fmla="val 16667"/>
            </a:avLst>
          </a:prstGeom>
          <a:solidFill>
            <a:srgbClr val="EEE89A">
              <a:lumMod val="100000"/>
            </a:srgbClr>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tx1"/>
                </a:solidFill>
                <a:latin typeface="Trebuchet MS" panose="020B0603020202020204" pitchFamily="34" charset="0"/>
                <a:cs typeface="Arial" panose="020B0604020202020204" pitchFamily="34" charset="0"/>
              </a:rPr>
              <a:t>Configuration/</a:t>
            </a:r>
            <a:br>
              <a:rPr lang="en-US" sz="900">
                <a:solidFill>
                  <a:schemeClr val="tx1"/>
                </a:solidFill>
                <a:latin typeface="Trebuchet MS" panose="020B0603020202020204" pitchFamily="34" charset="0"/>
                <a:cs typeface="Arial" panose="020B0604020202020204" pitchFamily="34" charset="0"/>
              </a:rPr>
            </a:br>
            <a:r>
              <a:rPr lang="en-US" sz="900">
                <a:solidFill>
                  <a:schemeClr val="tx1"/>
                </a:solidFill>
                <a:latin typeface="Trebuchet MS" panose="020B0603020202020204" pitchFamily="34" charset="0"/>
                <a:cs typeface="Arial" panose="020B0604020202020204" pitchFamily="34" charset="0"/>
              </a:rPr>
              <a:t>maintenance team</a:t>
            </a:r>
          </a:p>
        </p:txBody>
      </p:sp>
      <p:sp>
        <p:nvSpPr>
          <p:cNvPr id="61" name="Rectangle: Rounded Corners 60">
            <a:extLst>
              <a:ext uri="{FF2B5EF4-FFF2-40B4-BE49-F238E27FC236}">
                <a16:creationId xmlns:a16="http://schemas.microsoft.com/office/drawing/2014/main" id="{D1D327C3-F418-4CF5-B0AC-F3500B75BAE5}"/>
              </a:ext>
            </a:extLst>
          </p:cNvPr>
          <p:cNvSpPr/>
          <p:nvPr/>
        </p:nvSpPr>
        <p:spPr>
          <a:xfrm>
            <a:off x="4838435" y="5176489"/>
            <a:ext cx="1600200" cy="356616"/>
          </a:xfrm>
          <a:prstGeom prst="roundRect">
            <a:avLst>
              <a:gd name="adj" fmla="val 16667"/>
            </a:avLst>
          </a:prstGeom>
          <a:solidFill>
            <a:srgbClr val="EEE89A">
              <a:lumMod val="100000"/>
            </a:srgbClr>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tx1"/>
                </a:solidFill>
                <a:latin typeface="Trebuchet MS" panose="020B0603020202020204" pitchFamily="34" charset="0"/>
                <a:cs typeface="Arial" panose="020B0604020202020204" pitchFamily="34" charset="0"/>
              </a:rPr>
              <a:t>Configuration/</a:t>
            </a:r>
            <a:br>
              <a:rPr lang="en-US" sz="900">
                <a:solidFill>
                  <a:schemeClr val="tx1"/>
                </a:solidFill>
                <a:latin typeface="Trebuchet MS" panose="020B0603020202020204" pitchFamily="34" charset="0"/>
                <a:cs typeface="Arial" panose="020B0604020202020204" pitchFamily="34" charset="0"/>
              </a:rPr>
            </a:br>
            <a:r>
              <a:rPr lang="en-US" sz="900">
                <a:solidFill>
                  <a:schemeClr val="tx1"/>
                </a:solidFill>
                <a:latin typeface="Trebuchet MS" panose="020B0603020202020204" pitchFamily="34" charset="0"/>
                <a:cs typeface="Arial" panose="020B0604020202020204" pitchFamily="34" charset="0"/>
              </a:rPr>
              <a:t>maintenance team</a:t>
            </a:r>
          </a:p>
        </p:txBody>
      </p:sp>
      <p:sp>
        <p:nvSpPr>
          <p:cNvPr id="62" name="Rectangle: Rounded Corners 61">
            <a:extLst>
              <a:ext uri="{FF2B5EF4-FFF2-40B4-BE49-F238E27FC236}">
                <a16:creationId xmlns:a16="http://schemas.microsoft.com/office/drawing/2014/main" id="{6B9D75B9-7704-4724-A730-FACE5CD56C2B}"/>
              </a:ext>
            </a:extLst>
          </p:cNvPr>
          <p:cNvSpPr/>
          <p:nvPr/>
        </p:nvSpPr>
        <p:spPr>
          <a:xfrm>
            <a:off x="8128118" y="5267246"/>
            <a:ext cx="1600200" cy="356616"/>
          </a:xfrm>
          <a:prstGeom prst="roundRect">
            <a:avLst>
              <a:gd name="adj" fmla="val 16667"/>
            </a:avLst>
          </a:prstGeom>
          <a:solidFill>
            <a:srgbClr val="EEE89A">
              <a:lumMod val="100000"/>
            </a:srgbClr>
          </a:solidFill>
          <a:ln w="9525" cap="rnd" cmpd="sng" algn="ctr">
            <a:solidFill>
              <a:srgbClr val="F2F2F2"/>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tx1"/>
                </a:solidFill>
                <a:latin typeface="Trebuchet MS" panose="020B0603020202020204" pitchFamily="34" charset="0"/>
                <a:cs typeface="Arial" panose="020B0604020202020204" pitchFamily="34" charset="0"/>
              </a:rPr>
              <a:t>Technology team</a:t>
            </a:r>
          </a:p>
        </p:txBody>
      </p:sp>
      <p:sp>
        <p:nvSpPr>
          <p:cNvPr id="63" name="Rectangle: Rounded Corners 62">
            <a:extLst>
              <a:ext uri="{FF2B5EF4-FFF2-40B4-BE49-F238E27FC236}">
                <a16:creationId xmlns:a16="http://schemas.microsoft.com/office/drawing/2014/main" id="{856D6F53-9D28-4321-8D35-FD4E2DA90DE1}"/>
              </a:ext>
            </a:extLst>
          </p:cNvPr>
          <p:cNvSpPr/>
          <p:nvPr/>
        </p:nvSpPr>
        <p:spPr>
          <a:xfrm>
            <a:off x="2611799" y="4690877"/>
            <a:ext cx="1600200" cy="356616"/>
          </a:xfrm>
          <a:prstGeom prst="roundRect">
            <a:avLst>
              <a:gd name="adj" fmla="val 16667"/>
            </a:avLst>
          </a:prstGeom>
          <a:solidFill>
            <a:srgbClr val="C9E7CA">
              <a:lumMod val="100000"/>
            </a:srgbClr>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tx1"/>
                </a:solidFill>
                <a:latin typeface="Trebuchet MS" panose="020B0603020202020204" pitchFamily="34" charset="0"/>
                <a:cs typeface="Arial" panose="020B0604020202020204" pitchFamily="34" charset="0"/>
              </a:rPr>
              <a:t>Business analytics</a:t>
            </a:r>
          </a:p>
        </p:txBody>
      </p:sp>
      <p:sp>
        <p:nvSpPr>
          <p:cNvPr id="64" name="Rectangle: Rounded Corners 63">
            <a:extLst>
              <a:ext uri="{FF2B5EF4-FFF2-40B4-BE49-F238E27FC236}">
                <a16:creationId xmlns:a16="http://schemas.microsoft.com/office/drawing/2014/main" id="{B4E3B3A3-3BF2-4EDA-8954-951B735602F3}"/>
              </a:ext>
            </a:extLst>
          </p:cNvPr>
          <p:cNvSpPr/>
          <p:nvPr/>
        </p:nvSpPr>
        <p:spPr>
          <a:xfrm>
            <a:off x="2611799" y="4205263"/>
            <a:ext cx="1600200" cy="356616"/>
          </a:xfrm>
          <a:prstGeom prst="roundRect">
            <a:avLst>
              <a:gd name="adj" fmla="val 16667"/>
            </a:avLst>
          </a:prstGeom>
          <a:solidFill>
            <a:srgbClr val="F2F2F2"/>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tx1"/>
                </a:solidFill>
                <a:latin typeface="Trebuchet MS" panose="020B0603020202020204" pitchFamily="34" charset="0"/>
                <a:cs typeface="Arial" panose="020B0604020202020204" pitchFamily="34" charset="0"/>
              </a:rPr>
              <a:t>Central clearinghouse</a:t>
            </a:r>
          </a:p>
        </p:txBody>
      </p:sp>
      <p:sp>
        <p:nvSpPr>
          <p:cNvPr id="65" name="Rectangle: Rounded Corners 64">
            <a:extLst>
              <a:ext uri="{FF2B5EF4-FFF2-40B4-BE49-F238E27FC236}">
                <a16:creationId xmlns:a16="http://schemas.microsoft.com/office/drawing/2014/main" id="{61BBE254-B7E4-4F28-BB6E-0AE715DB5B31}"/>
              </a:ext>
            </a:extLst>
          </p:cNvPr>
          <p:cNvSpPr/>
          <p:nvPr/>
        </p:nvSpPr>
        <p:spPr>
          <a:xfrm>
            <a:off x="2611799" y="3936077"/>
            <a:ext cx="1600200" cy="140189"/>
          </a:xfrm>
          <a:prstGeom prst="roundRect">
            <a:avLst>
              <a:gd name="adj" fmla="val 16667"/>
            </a:avLst>
          </a:prstGeom>
          <a:solidFill>
            <a:srgbClr val="C9E7CA">
              <a:lumMod val="100000"/>
            </a:srgbClr>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tx1"/>
                </a:solidFill>
                <a:latin typeface="Trebuchet MS" panose="020B0603020202020204" pitchFamily="34" charset="0"/>
                <a:cs typeface="Arial" panose="020B0604020202020204" pitchFamily="34" charset="0"/>
              </a:rPr>
              <a:t>Build teams</a:t>
            </a:r>
          </a:p>
        </p:txBody>
      </p:sp>
      <p:sp>
        <p:nvSpPr>
          <p:cNvPr id="66" name="Rectangle: Rounded Corners 65">
            <a:extLst>
              <a:ext uri="{FF2B5EF4-FFF2-40B4-BE49-F238E27FC236}">
                <a16:creationId xmlns:a16="http://schemas.microsoft.com/office/drawing/2014/main" id="{9D74C425-B35C-4B90-8AB5-508782D3DAF9}"/>
              </a:ext>
            </a:extLst>
          </p:cNvPr>
          <p:cNvSpPr/>
          <p:nvPr/>
        </p:nvSpPr>
        <p:spPr>
          <a:xfrm>
            <a:off x="8038851" y="3324792"/>
            <a:ext cx="1771304" cy="1913633"/>
          </a:xfrm>
          <a:prstGeom prst="roundRect">
            <a:avLst>
              <a:gd name="adj" fmla="val 6896"/>
            </a:avLst>
          </a:prstGeom>
          <a:solidFill>
            <a:schemeClr val="tx2"/>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algn="ctr"/>
            <a:r>
              <a:rPr lang="en-US" sz="1000" b="1">
                <a:solidFill>
                  <a:schemeClr val="tx1"/>
                </a:solidFill>
                <a:latin typeface="Trebuchet MS" panose="020B0603020202020204" pitchFamily="34" charset="0"/>
                <a:cs typeface="Arial" panose="020B0604020202020204" pitchFamily="34" charset="0"/>
              </a:rPr>
              <a:t>CRM Squads</a:t>
            </a:r>
          </a:p>
        </p:txBody>
      </p:sp>
      <p:sp>
        <p:nvSpPr>
          <p:cNvPr id="67" name="Rectangle: Rounded Corners 66">
            <a:extLst>
              <a:ext uri="{FF2B5EF4-FFF2-40B4-BE49-F238E27FC236}">
                <a16:creationId xmlns:a16="http://schemas.microsoft.com/office/drawing/2014/main" id="{5EC772E9-A93E-461E-8AC9-008C659EF343}"/>
              </a:ext>
            </a:extLst>
          </p:cNvPr>
          <p:cNvSpPr/>
          <p:nvPr/>
        </p:nvSpPr>
        <p:spPr>
          <a:xfrm>
            <a:off x="4839402" y="4690877"/>
            <a:ext cx="1600200" cy="356616"/>
          </a:xfrm>
          <a:prstGeom prst="roundRect">
            <a:avLst>
              <a:gd name="adj" fmla="val 16667"/>
            </a:avLst>
          </a:prstGeom>
          <a:solidFill>
            <a:srgbClr val="C9E7CA">
              <a:lumMod val="100000"/>
            </a:srgbClr>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tx1"/>
                </a:solidFill>
                <a:latin typeface="Trebuchet MS" panose="020B0603020202020204" pitchFamily="34" charset="0"/>
                <a:cs typeface="Arial" panose="020B0604020202020204" pitchFamily="34" charset="0"/>
              </a:rPr>
              <a:t>Squads</a:t>
            </a:r>
          </a:p>
        </p:txBody>
      </p:sp>
      <p:sp>
        <p:nvSpPr>
          <p:cNvPr id="68" name="Rectangle: Rounded Corners 67">
            <a:extLst>
              <a:ext uri="{FF2B5EF4-FFF2-40B4-BE49-F238E27FC236}">
                <a16:creationId xmlns:a16="http://schemas.microsoft.com/office/drawing/2014/main" id="{6F03295D-5CAD-41D3-804F-2CB70857B061}"/>
              </a:ext>
            </a:extLst>
          </p:cNvPr>
          <p:cNvSpPr/>
          <p:nvPr/>
        </p:nvSpPr>
        <p:spPr>
          <a:xfrm>
            <a:off x="4839402" y="4205263"/>
            <a:ext cx="1600200" cy="356616"/>
          </a:xfrm>
          <a:prstGeom prst="roundRect">
            <a:avLst>
              <a:gd name="adj" fmla="val 16667"/>
            </a:avLst>
          </a:prstGeom>
          <a:solidFill>
            <a:srgbClr val="F2F2F2"/>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tx1"/>
                </a:solidFill>
                <a:latin typeface="Trebuchet MS" panose="020B0603020202020204" pitchFamily="34" charset="0"/>
                <a:cs typeface="Arial" panose="020B0604020202020204" pitchFamily="34" charset="0"/>
              </a:rPr>
              <a:t>Bionic orch. function</a:t>
            </a:r>
          </a:p>
        </p:txBody>
      </p:sp>
      <p:sp>
        <p:nvSpPr>
          <p:cNvPr id="69" name="Rectangle: Rounded Corners 68">
            <a:extLst>
              <a:ext uri="{FF2B5EF4-FFF2-40B4-BE49-F238E27FC236}">
                <a16:creationId xmlns:a16="http://schemas.microsoft.com/office/drawing/2014/main" id="{2E809C6C-265F-4008-A581-7D43544C2A22}"/>
              </a:ext>
            </a:extLst>
          </p:cNvPr>
          <p:cNvSpPr/>
          <p:nvPr/>
        </p:nvSpPr>
        <p:spPr>
          <a:xfrm>
            <a:off x="4839402" y="3936077"/>
            <a:ext cx="1600200" cy="140189"/>
          </a:xfrm>
          <a:prstGeom prst="roundRect">
            <a:avLst>
              <a:gd name="adj" fmla="val 16667"/>
            </a:avLst>
          </a:prstGeom>
          <a:solidFill>
            <a:srgbClr val="C9E7CA">
              <a:lumMod val="100000"/>
            </a:srgbClr>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tx1"/>
                </a:solidFill>
                <a:latin typeface="Trebuchet MS" panose="020B0603020202020204" pitchFamily="34" charset="0"/>
                <a:cs typeface="Arial" panose="020B0604020202020204" pitchFamily="34" charset="0"/>
              </a:rPr>
              <a:t>Squads</a:t>
            </a:r>
          </a:p>
        </p:txBody>
      </p:sp>
      <p:sp>
        <p:nvSpPr>
          <p:cNvPr id="70" name="Rectangle: Rounded Corners 69">
            <a:extLst>
              <a:ext uri="{FF2B5EF4-FFF2-40B4-BE49-F238E27FC236}">
                <a16:creationId xmlns:a16="http://schemas.microsoft.com/office/drawing/2014/main" id="{B5913C0E-CF65-4383-A1C2-5ADDD643B3C1}"/>
              </a:ext>
            </a:extLst>
          </p:cNvPr>
          <p:cNvSpPr/>
          <p:nvPr/>
        </p:nvSpPr>
        <p:spPr>
          <a:xfrm>
            <a:off x="8128118" y="4781634"/>
            <a:ext cx="1600200" cy="356616"/>
          </a:xfrm>
          <a:prstGeom prst="roundRect">
            <a:avLst>
              <a:gd name="adj" fmla="val 16667"/>
            </a:avLst>
          </a:prstGeom>
          <a:solidFill>
            <a:srgbClr val="C9E7CA">
              <a:lumMod val="100000"/>
            </a:srgbClr>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tx1"/>
                </a:solidFill>
                <a:latin typeface="Trebuchet MS" panose="020B0603020202020204" pitchFamily="34" charset="0"/>
                <a:cs typeface="Arial" panose="020B0604020202020204" pitchFamily="34" charset="0"/>
              </a:rPr>
              <a:t>Squads</a:t>
            </a:r>
          </a:p>
        </p:txBody>
      </p:sp>
      <p:sp>
        <p:nvSpPr>
          <p:cNvPr id="71" name="Rectangle: Rounded Corners 70">
            <a:extLst>
              <a:ext uri="{FF2B5EF4-FFF2-40B4-BE49-F238E27FC236}">
                <a16:creationId xmlns:a16="http://schemas.microsoft.com/office/drawing/2014/main" id="{73A36452-9F28-41C7-A4BB-EF7FB3C3E6C7}"/>
              </a:ext>
            </a:extLst>
          </p:cNvPr>
          <p:cNvSpPr/>
          <p:nvPr/>
        </p:nvSpPr>
        <p:spPr>
          <a:xfrm>
            <a:off x="8128118" y="4296020"/>
            <a:ext cx="1600200" cy="356616"/>
          </a:xfrm>
          <a:prstGeom prst="roundRect">
            <a:avLst>
              <a:gd name="adj" fmla="val 16667"/>
            </a:avLst>
          </a:prstGeom>
          <a:solidFill>
            <a:srgbClr val="F2F2F2"/>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tx1"/>
                </a:solidFill>
                <a:latin typeface="Trebuchet MS" panose="020B0603020202020204" pitchFamily="34" charset="0"/>
                <a:cs typeface="Arial" panose="020B0604020202020204" pitchFamily="34" charset="0"/>
              </a:rPr>
              <a:t>Last mile prioritization</a:t>
            </a:r>
          </a:p>
        </p:txBody>
      </p:sp>
      <p:sp>
        <p:nvSpPr>
          <p:cNvPr id="72" name="Rectangle: Rounded Corners 71">
            <a:extLst>
              <a:ext uri="{FF2B5EF4-FFF2-40B4-BE49-F238E27FC236}">
                <a16:creationId xmlns:a16="http://schemas.microsoft.com/office/drawing/2014/main" id="{FD3B0AFB-77AD-4C5A-BA7F-493AD62D29A3}"/>
              </a:ext>
            </a:extLst>
          </p:cNvPr>
          <p:cNvSpPr/>
          <p:nvPr/>
        </p:nvSpPr>
        <p:spPr>
          <a:xfrm>
            <a:off x="8128118" y="3606618"/>
            <a:ext cx="1600200" cy="597048"/>
          </a:xfrm>
          <a:prstGeom prst="roundRect">
            <a:avLst>
              <a:gd name="adj" fmla="val 16667"/>
            </a:avLst>
          </a:prstGeom>
          <a:solidFill>
            <a:srgbClr val="C9E7CA">
              <a:lumMod val="100000"/>
            </a:srgbClr>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tx1"/>
                </a:solidFill>
                <a:latin typeface="Trebuchet MS" panose="020B0603020202020204" pitchFamily="34" charset="0"/>
                <a:cs typeface="Arial" panose="020B0604020202020204" pitchFamily="34" charset="0"/>
              </a:rPr>
              <a:t>Squads</a:t>
            </a:r>
          </a:p>
        </p:txBody>
      </p:sp>
      <p:sp>
        <p:nvSpPr>
          <p:cNvPr id="73" name="Rectangle: Rounded Corners 72">
            <a:extLst>
              <a:ext uri="{FF2B5EF4-FFF2-40B4-BE49-F238E27FC236}">
                <a16:creationId xmlns:a16="http://schemas.microsoft.com/office/drawing/2014/main" id="{FAAEC01D-87C7-4B0D-8BDD-C5DC60D58E69}"/>
              </a:ext>
            </a:extLst>
          </p:cNvPr>
          <p:cNvSpPr/>
          <p:nvPr/>
        </p:nvSpPr>
        <p:spPr>
          <a:xfrm>
            <a:off x="4838435" y="2748421"/>
            <a:ext cx="1600200" cy="356616"/>
          </a:xfrm>
          <a:prstGeom prst="roundRect">
            <a:avLst>
              <a:gd name="adj" fmla="val 16667"/>
            </a:avLst>
          </a:prstGeom>
          <a:solidFill>
            <a:schemeClr val="accent4">
              <a:lumMod val="75000"/>
            </a:schemeClr>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bg1"/>
                </a:solidFill>
                <a:latin typeface="Trebuchet MS" panose="020B0603020202020204" pitchFamily="34" charset="0"/>
                <a:cs typeface="Arial" panose="020B0604020202020204" pitchFamily="34" charset="0"/>
              </a:rPr>
              <a:t>Governance forum</a:t>
            </a:r>
          </a:p>
        </p:txBody>
      </p:sp>
      <p:sp>
        <p:nvSpPr>
          <p:cNvPr id="84" name="TextBox 83">
            <a:extLst>
              <a:ext uri="{FF2B5EF4-FFF2-40B4-BE49-F238E27FC236}">
                <a16:creationId xmlns:a16="http://schemas.microsoft.com/office/drawing/2014/main" id="{31A5D59E-0274-4991-8FE3-3F14103F9294}"/>
              </a:ext>
            </a:extLst>
          </p:cNvPr>
          <p:cNvSpPr txBox="1"/>
          <p:nvPr/>
        </p:nvSpPr>
        <p:spPr>
          <a:xfrm>
            <a:off x="630000" y="5871635"/>
            <a:ext cx="1137972" cy="392624"/>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r>
              <a:rPr lang="en-US" sz="1100" b="1">
                <a:solidFill>
                  <a:schemeClr val="tx2"/>
                </a:solidFill>
                <a:latin typeface="Trebuchet MS" panose="020B0603020202020204" pitchFamily="34" charset="0"/>
                <a:cs typeface="Arial" panose="020B0604020202020204" pitchFamily="34" charset="0"/>
              </a:rPr>
              <a:t>Key</a:t>
            </a:r>
            <a:br>
              <a:rPr lang="en-US" sz="1100" b="1">
                <a:solidFill>
                  <a:schemeClr val="tx2"/>
                </a:solidFill>
                <a:latin typeface="Trebuchet MS" panose="020B0603020202020204" pitchFamily="34" charset="0"/>
                <a:cs typeface="Arial" panose="020B0604020202020204" pitchFamily="34" charset="0"/>
              </a:rPr>
            </a:br>
            <a:r>
              <a:rPr lang="en-US" sz="1100" b="1">
                <a:solidFill>
                  <a:schemeClr val="tx2"/>
                </a:solidFill>
                <a:latin typeface="Trebuchet MS" panose="020B0603020202020204" pitchFamily="34" charset="0"/>
                <a:cs typeface="Arial" panose="020B0604020202020204" pitchFamily="34" charset="0"/>
              </a:rPr>
              <a:t>considerations</a:t>
            </a:r>
          </a:p>
        </p:txBody>
      </p:sp>
      <p:sp>
        <p:nvSpPr>
          <p:cNvPr id="86" name="TextBox 85">
            <a:extLst>
              <a:ext uri="{FF2B5EF4-FFF2-40B4-BE49-F238E27FC236}">
                <a16:creationId xmlns:a16="http://schemas.microsoft.com/office/drawing/2014/main" id="{C10F4569-0E0A-4F33-BE6C-E53EFFBB205B}"/>
              </a:ext>
            </a:extLst>
          </p:cNvPr>
          <p:cNvSpPr txBox="1"/>
          <p:nvPr/>
        </p:nvSpPr>
        <p:spPr>
          <a:xfrm>
            <a:off x="8038851" y="1696468"/>
            <a:ext cx="2340060" cy="235543"/>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r>
              <a:rPr lang="en-US" sz="1100" b="1">
                <a:solidFill>
                  <a:schemeClr val="tx2"/>
                </a:solidFill>
                <a:latin typeface="Trebuchet MS" panose="020B0603020202020204" pitchFamily="34" charset="0"/>
                <a:cs typeface="Arial" panose="020B0604020202020204" pitchFamily="34" charset="0"/>
              </a:rPr>
              <a:t>Recommended starting model</a:t>
            </a:r>
          </a:p>
        </p:txBody>
      </p:sp>
      <p:sp>
        <p:nvSpPr>
          <p:cNvPr id="87" name="Speech Bubble: Rectangle 86">
            <a:extLst>
              <a:ext uri="{FF2B5EF4-FFF2-40B4-BE49-F238E27FC236}">
                <a16:creationId xmlns:a16="http://schemas.microsoft.com/office/drawing/2014/main" id="{90ADCF22-3212-47B4-B0DE-151FCA7BD659}"/>
              </a:ext>
            </a:extLst>
          </p:cNvPr>
          <p:cNvSpPr/>
          <p:nvPr/>
        </p:nvSpPr>
        <p:spPr>
          <a:xfrm>
            <a:off x="9864509" y="2441173"/>
            <a:ext cx="1013524" cy="332399"/>
          </a:xfrm>
          <a:prstGeom prst="wedgeRectCallout">
            <a:avLst>
              <a:gd name="adj1" fmla="val -61007"/>
              <a:gd name="adj2" fmla="val -29614"/>
            </a:avLst>
          </a:prstGeom>
          <a:solidFill>
            <a:schemeClr val="bg1"/>
          </a:solidFill>
          <a:ln w="3175" cap="rnd" cmpd="sng" algn="ctr">
            <a:solidFill>
              <a:schemeClr val="tx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4008" tIns="27432" rIns="64008" bIns="27432" numCol="1" spcCol="0" rtlCol="0" fromWordArt="0" anchor="ctr" anchorCtr="0" forceAA="0" compatLnSpc="1">
            <a:prstTxWarp prst="textNoShape">
              <a:avLst/>
            </a:prstTxWarp>
            <a:spAutoFit/>
          </a:bodyPr>
          <a:lstStyle/>
          <a:p>
            <a:r>
              <a:rPr kumimoji="1" lang="en-US" sz="900">
                <a:solidFill>
                  <a:schemeClr val="tx1"/>
                </a:solidFill>
                <a:latin typeface="Trebuchet MS" panose="020B0603020202020204" pitchFamily="34" charset="0"/>
                <a:cs typeface="Arial" panose="020B0604020202020204" pitchFamily="34" charset="0"/>
              </a:rPr>
              <a:t>BUs provide campaign needs</a:t>
            </a:r>
          </a:p>
        </p:txBody>
      </p:sp>
      <p:sp>
        <p:nvSpPr>
          <p:cNvPr id="88" name="Speech Bubble: Rectangle 87">
            <a:extLst>
              <a:ext uri="{FF2B5EF4-FFF2-40B4-BE49-F238E27FC236}">
                <a16:creationId xmlns:a16="http://schemas.microsoft.com/office/drawing/2014/main" id="{23F5AA92-AF86-41CF-B54D-AE25CCC3E51B}"/>
              </a:ext>
            </a:extLst>
          </p:cNvPr>
          <p:cNvSpPr/>
          <p:nvPr/>
        </p:nvSpPr>
        <p:spPr>
          <a:xfrm>
            <a:off x="9864509" y="2840965"/>
            <a:ext cx="1013524" cy="609398"/>
          </a:xfrm>
          <a:prstGeom prst="wedgeRectCallout">
            <a:avLst>
              <a:gd name="adj1" fmla="val -61007"/>
              <a:gd name="adj2" fmla="val -29614"/>
            </a:avLst>
          </a:prstGeom>
          <a:solidFill>
            <a:schemeClr val="bg1"/>
          </a:solidFill>
          <a:ln w="3175" cap="rnd" cmpd="sng" algn="ctr">
            <a:solidFill>
              <a:schemeClr val="tx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4008" tIns="27432" rIns="64008" bIns="27432" numCol="1" spcCol="0" rtlCol="0" fromWordArt="0" anchor="ctr" anchorCtr="0" forceAA="0" compatLnSpc="1">
            <a:prstTxWarp prst="textNoShape">
              <a:avLst/>
            </a:prstTxWarp>
            <a:spAutoFit/>
          </a:bodyPr>
          <a:lstStyle/>
          <a:p>
            <a:r>
              <a:rPr kumimoji="1" lang="en-US" sz="900">
                <a:solidFill>
                  <a:schemeClr val="tx1"/>
                </a:solidFill>
                <a:latin typeface="Trebuchet MS" panose="020B0603020202020204" pitchFamily="34" charset="0"/>
                <a:cs typeface="Arial" panose="020B0604020202020204" pitchFamily="34" charset="0"/>
              </a:rPr>
              <a:t>Forums to assign limited resources (incl. business)</a:t>
            </a:r>
          </a:p>
        </p:txBody>
      </p:sp>
      <p:sp>
        <p:nvSpPr>
          <p:cNvPr id="89" name="Speech Bubble: Rectangle 88">
            <a:extLst>
              <a:ext uri="{FF2B5EF4-FFF2-40B4-BE49-F238E27FC236}">
                <a16:creationId xmlns:a16="http://schemas.microsoft.com/office/drawing/2014/main" id="{6899B5C2-9410-46F0-BB9B-6813837AD36A}"/>
              </a:ext>
            </a:extLst>
          </p:cNvPr>
          <p:cNvSpPr/>
          <p:nvPr/>
        </p:nvSpPr>
        <p:spPr>
          <a:xfrm>
            <a:off x="9864509" y="3499109"/>
            <a:ext cx="1013524" cy="747897"/>
          </a:xfrm>
          <a:prstGeom prst="wedgeRectCallout">
            <a:avLst>
              <a:gd name="adj1" fmla="val -61007"/>
              <a:gd name="adj2" fmla="val -4334"/>
            </a:avLst>
          </a:prstGeom>
          <a:solidFill>
            <a:schemeClr val="bg1"/>
          </a:solidFill>
          <a:ln w="3175" cap="rnd" cmpd="sng" algn="ctr">
            <a:solidFill>
              <a:schemeClr val="tx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4008" tIns="27432" rIns="64008" bIns="27432" numCol="1" spcCol="0" rtlCol="0" fromWordArt="0" anchor="ctr" anchorCtr="0" forceAA="0" compatLnSpc="1">
            <a:prstTxWarp prst="textNoShape">
              <a:avLst/>
            </a:prstTxWarp>
            <a:spAutoFit/>
          </a:bodyPr>
          <a:lstStyle/>
          <a:p>
            <a:r>
              <a:rPr kumimoji="1" lang="en-US" sz="900">
                <a:solidFill>
                  <a:schemeClr val="tx1"/>
                </a:solidFill>
                <a:latin typeface="Trebuchet MS" panose="020B0603020202020204" pitchFamily="34" charset="0"/>
                <a:cs typeface="Arial" panose="020B0604020202020204" pitchFamily="34" charset="0"/>
              </a:rPr>
              <a:t>Centralized team designs &amp; builds offers with</a:t>
            </a:r>
            <a:br>
              <a:rPr kumimoji="1" lang="en-US" sz="900">
                <a:solidFill>
                  <a:schemeClr val="tx1"/>
                </a:solidFill>
                <a:latin typeface="Trebuchet MS" panose="020B0603020202020204" pitchFamily="34" charset="0"/>
                <a:cs typeface="Arial" panose="020B0604020202020204" pitchFamily="34" charset="0"/>
              </a:rPr>
            </a:br>
            <a:r>
              <a:rPr kumimoji="1" lang="en-US" sz="900">
                <a:solidFill>
                  <a:schemeClr val="tx1"/>
                </a:solidFill>
                <a:latin typeface="Trebuchet MS" panose="020B0603020202020204" pitchFamily="34" charset="0"/>
                <a:cs typeface="Arial" panose="020B0604020202020204" pitchFamily="34" charset="0"/>
              </a:rPr>
              <a:t>BU input</a:t>
            </a:r>
          </a:p>
        </p:txBody>
      </p:sp>
      <p:sp>
        <p:nvSpPr>
          <p:cNvPr id="90" name="Speech Bubble: Rectangle 89">
            <a:extLst>
              <a:ext uri="{FF2B5EF4-FFF2-40B4-BE49-F238E27FC236}">
                <a16:creationId xmlns:a16="http://schemas.microsoft.com/office/drawing/2014/main" id="{4DB88E5E-7CFE-42C5-953B-B7E082D96C76}"/>
              </a:ext>
            </a:extLst>
          </p:cNvPr>
          <p:cNvSpPr/>
          <p:nvPr/>
        </p:nvSpPr>
        <p:spPr>
          <a:xfrm>
            <a:off x="9864509" y="4311614"/>
            <a:ext cx="1013524" cy="747897"/>
          </a:xfrm>
          <a:prstGeom prst="wedgeRectCallout">
            <a:avLst>
              <a:gd name="adj1" fmla="val -61007"/>
              <a:gd name="adj2" fmla="val -29614"/>
            </a:avLst>
          </a:prstGeom>
          <a:solidFill>
            <a:schemeClr val="bg1"/>
          </a:solidFill>
          <a:ln w="3175" cap="rnd" cmpd="sng" algn="ctr">
            <a:solidFill>
              <a:schemeClr val="tx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4008" tIns="27432" rIns="64008" bIns="27432" numCol="1" spcCol="0" rtlCol="0" fromWordArt="0" anchor="ctr" anchorCtr="0" forceAA="0" compatLnSpc="1">
            <a:prstTxWarp prst="textNoShape">
              <a:avLst/>
            </a:prstTxWarp>
            <a:spAutoFit/>
          </a:bodyPr>
          <a:lstStyle/>
          <a:p>
            <a:r>
              <a:rPr kumimoji="1" lang="en-US" sz="900">
                <a:solidFill>
                  <a:schemeClr val="tx1"/>
                </a:solidFill>
                <a:latin typeface="Trebuchet MS" panose="020B0603020202020204" pitchFamily="34" charset="0"/>
                <a:cs typeface="Arial" panose="020B0604020202020204" pitchFamily="34" charset="0"/>
              </a:rPr>
              <a:t>Orchestration unit to prioritize campaigns sent to each customer</a:t>
            </a:r>
          </a:p>
        </p:txBody>
      </p:sp>
      <p:grpSp>
        <p:nvGrpSpPr>
          <p:cNvPr id="98" name="Group 97">
            <a:extLst>
              <a:ext uri="{FF2B5EF4-FFF2-40B4-BE49-F238E27FC236}">
                <a16:creationId xmlns:a16="http://schemas.microsoft.com/office/drawing/2014/main" id="{549514C1-A4AD-4FE2-8853-B68F32B0D1B2}"/>
              </a:ext>
            </a:extLst>
          </p:cNvPr>
          <p:cNvGrpSpPr/>
          <p:nvPr/>
        </p:nvGrpSpPr>
        <p:grpSpPr>
          <a:xfrm>
            <a:off x="8377425" y="2698749"/>
            <a:ext cx="1105134" cy="657570"/>
            <a:chOff x="2202474" y="3010753"/>
            <a:chExt cx="1105134" cy="657570"/>
          </a:xfrm>
        </p:grpSpPr>
        <p:cxnSp>
          <p:nvCxnSpPr>
            <p:cNvPr id="99" name="Straight Connector 98">
              <a:extLst>
                <a:ext uri="{FF2B5EF4-FFF2-40B4-BE49-F238E27FC236}">
                  <a16:creationId xmlns:a16="http://schemas.microsoft.com/office/drawing/2014/main" id="{90B5BBAD-BB2C-480C-B25E-3C3922CC34E8}"/>
                </a:ext>
              </a:extLst>
            </p:cNvPr>
            <p:cNvCxnSpPr>
              <a:cxnSpLocks/>
            </p:cNvCxnSpPr>
            <p:nvPr/>
          </p:nvCxnSpPr>
          <p:spPr>
            <a:xfrm flipV="1">
              <a:off x="2202474" y="3022927"/>
              <a:ext cx="0" cy="457200"/>
            </a:xfrm>
            <a:prstGeom prst="line">
              <a:avLst/>
            </a:prstGeom>
            <a:ln w="12700" cap="rnd">
              <a:solidFill>
                <a:srgbClr val="7F7F7F">
                  <a:lumMod val="100000"/>
                </a:srgbClr>
              </a:solidFill>
              <a:prstDash val="solid"/>
              <a:round/>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40D769E3-2626-404C-940A-9D18F8D19956}"/>
                </a:ext>
              </a:extLst>
            </p:cNvPr>
            <p:cNvCxnSpPr>
              <a:cxnSpLocks/>
            </p:cNvCxnSpPr>
            <p:nvPr/>
          </p:nvCxnSpPr>
          <p:spPr>
            <a:xfrm flipV="1">
              <a:off x="3307608" y="3014811"/>
              <a:ext cx="0" cy="457200"/>
            </a:xfrm>
            <a:prstGeom prst="line">
              <a:avLst/>
            </a:prstGeom>
            <a:ln w="12700" cap="rnd">
              <a:solidFill>
                <a:srgbClr val="7F7F7F">
                  <a:lumMod val="100000"/>
                </a:srgbClr>
              </a:solidFill>
              <a:prstDash val="solid"/>
              <a:round/>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6BB5F7CC-2D1F-42B2-87EE-0C301E508460}"/>
                </a:ext>
              </a:extLst>
            </p:cNvPr>
            <p:cNvCxnSpPr>
              <a:cxnSpLocks/>
            </p:cNvCxnSpPr>
            <p:nvPr/>
          </p:nvCxnSpPr>
          <p:spPr>
            <a:xfrm flipV="1">
              <a:off x="2755041" y="3010753"/>
              <a:ext cx="0" cy="657570"/>
            </a:xfrm>
            <a:prstGeom prst="line">
              <a:avLst/>
            </a:prstGeom>
            <a:ln w="12700" cap="rnd">
              <a:solidFill>
                <a:srgbClr val="7F7F7F">
                  <a:lumMod val="100000"/>
                </a:srgbClr>
              </a:solidFill>
              <a:prstDash val="solid"/>
              <a:round/>
            </a:ln>
          </p:spPr>
          <p:style>
            <a:lnRef idx="1">
              <a:schemeClr val="accent1"/>
            </a:lnRef>
            <a:fillRef idx="0">
              <a:schemeClr val="accent1"/>
            </a:fillRef>
            <a:effectRef idx="0">
              <a:schemeClr val="accent1"/>
            </a:effectRef>
            <a:fontRef idx="minor">
              <a:schemeClr val="tx1"/>
            </a:fontRef>
          </p:style>
        </p:cxnSp>
      </p:grpSp>
      <p:sp>
        <p:nvSpPr>
          <p:cNvPr id="102" name="Rectangle: Rounded Corners 101">
            <a:extLst>
              <a:ext uri="{FF2B5EF4-FFF2-40B4-BE49-F238E27FC236}">
                <a16:creationId xmlns:a16="http://schemas.microsoft.com/office/drawing/2014/main" id="{FE569D61-B02F-4A91-93FA-872B3B77D867}"/>
              </a:ext>
            </a:extLst>
          </p:cNvPr>
          <p:cNvSpPr/>
          <p:nvPr/>
        </p:nvSpPr>
        <p:spPr>
          <a:xfrm>
            <a:off x="8128118" y="2839178"/>
            <a:ext cx="1600200" cy="356616"/>
          </a:xfrm>
          <a:prstGeom prst="roundRect">
            <a:avLst>
              <a:gd name="adj" fmla="val 16667"/>
            </a:avLst>
          </a:prstGeom>
          <a:solidFill>
            <a:schemeClr val="accent4">
              <a:lumMod val="75000"/>
            </a:schemeClr>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bg1"/>
                </a:solidFill>
                <a:latin typeface="Trebuchet MS" panose="020B0603020202020204" pitchFamily="34" charset="0"/>
                <a:cs typeface="Arial" panose="020B0604020202020204" pitchFamily="34" charset="0"/>
              </a:rPr>
              <a:t>CRM forum</a:t>
            </a:r>
          </a:p>
        </p:txBody>
      </p:sp>
      <p:grpSp>
        <p:nvGrpSpPr>
          <p:cNvPr id="103" name="Group 102">
            <a:extLst>
              <a:ext uri="{FF2B5EF4-FFF2-40B4-BE49-F238E27FC236}">
                <a16:creationId xmlns:a16="http://schemas.microsoft.com/office/drawing/2014/main" id="{7D10C0EC-E328-46E9-A053-9E4606D97D7E}"/>
              </a:ext>
            </a:extLst>
          </p:cNvPr>
          <p:cNvGrpSpPr/>
          <p:nvPr/>
        </p:nvGrpSpPr>
        <p:grpSpPr>
          <a:xfrm>
            <a:off x="8128118" y="2346812"/>
            <a:ext cx="1603748" cy="356616"/>
            <a:chOff x="1953982" y="2056191"/>
            <a:chExt cx="1603748" cy="1470740"/>
          </a:xfrm>
        </p:grpSpPr>
        <p:sp>
          <p:nvSpPr>
            <p:cNvPr id="104" name="Rectangle: Rounded Corners 103">
              <a:extLst>
                <a:ext uri="{FF2B5EF4-FFF2-40B4-BE49-F238E27FC236}">
                  <a16:creationId xmlns:a16="http://schemas.microsoft.com/office/drawing/2014/main" id="{3FE8470D-C19E-4265-88A7-AA5E7CB57177}"/>
                </a:ext>
              </a:extLst>
            </p:cNvPr>
            <p:cNvSpPr/>
            <p:nvPr/>
          </p:nvSpPr>
          <p:spPr>
            <a:xfrm>
              <a:off x="1953982" y="2056191"/>
              <a:ext cx="508114" cy="1470740"/>
            </a:xfrm>
            <a:prstGeom prst="roundRect">
              <a:avLst/>
            </a:prstGeom>
            <a:solidFill>
              <a:srgbClr val="C8C8C8"/>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000">
                  <a:solidFill>
                    <a:schemeClr val="tx1"/>
                  </a:solidFill>
                  <a:latin typeface="Trebuchet MS" panose="020B0603020202020204" pitchFamily="34" charset="0"/>
                  <a:cs typeface="Arial" panose="020B0604020202020204" pitchFamily="34" charset="0"/>
                </a:rPr>
                <a:t>BU1</a:t>
              </a:r>
            </a:p>
          </p:txBody>
        </p:sp>
        <p:sp>
          <p:nvSpPr>
            <p:cNvPr id="105" name="Rectangle: Rounded Corners 104">
              <a:extLst>
                <a:ext uri="{FF2B5EF4-FFF2-40B4-BE49-F238E27FC236}">
                  <a16:creationId xmlns:a16="http://schemas.microsoft.com/office/drawing/2014/main" id="{AC6ECEAD-E5FB-4732-BD03-73145AF1E6DD}"/>
                </a:ext>
              </a:extLst>
            </p:cNvPr>
            <p:cNvSpPr/>
            <p:nvPr/>
          </p:nvSpPr>
          <p:spPr>
            <a:xfrm>
              <a:off x="2501800" y="2056191"/>
              <a:ext cx="508114" cy="1470740"/>
            </a:xfrm>
            <a:prstGeom prst="roundRect">
              <a:avLst/>
            </a:prstGeom>
            <a:solidFill>
              <a:srgbClr val="C8C8C8"/>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000">
                  <a:solidFill>
                    <a:schemeClr val="tx1"/>
                  </a:solidFill>
                  <a:latin typeface="Trebuchet MS" panose="020B0603020202020204" pitchFamily="34" charset="0"/>
                  <a:cs typeface="Arial" panose="020B0604020202020204" pitchFamily="34" charset="0"/>
                </a:rPr>
                <a:t>BU2</a:t>
              </a:r>
            </a:p>
          </p:txBody>
        </p:sp>
        <p:sp>
          <p:nvSpPr>
            <p:cNvPr id="106" name="Rectangle: Rounded Corners 105">
              <a:extLst>
                <a:ext uri="{FF2B5EF4-FFF2-40B4-BE49-F238E27FC236}">
                  <a16:creationId xmlns:a16="http://schemas.microsoft.com/office/drawing/2014/main" id="{131A90B8-C964-4F7C-A5FE-63A37937E329}"/>
                </a:ext>
              </a:extLst>
            </p:cNvPr>
            <p:cNvSpPr/>
            <p:nvPr/>
          </p:nvSpPr>
          <p:spPr>
            <a:xfrm>
              <a:off x="3049616" y="2056191"/>
              <a:ext cx="508114" cy="1470740"/>
            </a:xfrm>
            <a:prstGeom prst="roundRect">
              <a:avLst/>
            </a:prstGeom>
            <a:solidFill>
              <a:srgbClr val="C8C8C8"/>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000">
                  <a:solidFill>
                    <a:schemeClr val="tx1"/>
                  </a:solidFill>
                  <a:latin typeface="Trebuchet MS" panose="020B0603020202020204" pitchFamily="34" charset="0"/>
                  <a:cs typeface="Arial" panose="020B0604020202020204" pitchFamily="34" charset="0"/>
                </a:rPr>
                <a:t>BU3</a:t>
              </a:r>
            </a:p>
          </p:txBody>
        </p:sp>
      </p:grpSp>
      <p:sp>
        <p:nvSpPr>
          <p:cNvPr id="110" name="NavigationTriangle">
            <a:extLst>
              <a:ext uri="{FF2B5EF4-FFF2-40B4-BE49-F238E27FC236}">
                <a16:creationId xmlns:a16="http://schemas.microsoft.com/office/drawing/2014/main" id="{B36A5663-9D72-404D-B5E2-EC8D3584F206}"/>
              </a:ext>
            </a:extLst>
          </p:cNvPr>
          <p:cNvSpPr/>
          <p:nvPr/>
        </p:nvSpPr>
        <p:spPr>
          <a:xfrm rot="16200000">
            <a:off x="11116165" y="-21446"/>
            <a:ext cx="1054387" cy="1097280"/>
          </a:xfrm>
          <a:prstGeom prst="triangle">
            <a:avLst>
              <a:gd name="adj" fmla="val 100000"/>
            </a:avLst>
          </a:prstGeom>
          <a:solidFill>
            <a:srgbClr val="29BA74">
              <a:lumMod val="100000"/>
            </a:srgbClr>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9B1C23"/>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111" name="NavigationIcon">
            <a:extLst>
              <a:ext uri="{FF2B5EF4-FFF2-40B4-BE49-F238E27FC236}">
                <a16:creationId xmlns:a16="http://schemas.microsoft.com/office/drawing/2014/main" id="{64084147-2126-44C1-9C60-8BCBD2C7C8AA}"/>
              </a:ext>
            </a:extLst>
          </p:cNvPr>
          <p:cNvSpPr>
            <a:spLocks noChangeAspect="1" noChangeArrowheads="1"/>
          </p:cNvSpPr>
          <p:nvPr>
            <p:custDataLst>
              <p:tags r:id="rId2"/>
            </p:custDataLst>
          </p:nvPr>
        </p:nvSpPr>
        <p:spPr bwMode="auto">
          <a:xfrm>
            <a:off x="11690544" y="132877"/>
            <a:ext cx="365760" cy="365760"/>
          </a:xfrm>
          <a:prstGeom prst="ellipse">
            <a:avLst/>
          </a:prstGeom>
          <a:solidFill>
            <a:srgbClr val="FFFFFF"/>
          </a:solidFill>
          <a:ln>
            <a:noFill/>
          </a:ln>
        </p:spPr>
        <p:txBody>
          <a:bodyPr vert="horz" wrap="square" lIns="0" tIns="0" rIns="0" bIns="0" numCol="1" anchor="ctr" anchorCtr="0" compatLnSpc="1">
            <a:prstTxWarp prst="textNoShape">
              <a:avLst/>
            </a:prstTxWarp>
          </a:bodyPr>
          <a:lstStyle/>
          <a:p>
            <a:pPr algn="ctr"/>
            <a:r>
              <a:rPr lang="en-US" sz="2000">
                <a:solidFill>
                  <a:srgbClr val="29BA74">
                    <a:lumMod val="100000"/>
                  </a:srgbClr>
                </a:solidFill>
                <a:latin typeface="+mj-lt"/>
              </a:rPr>
              <a:t>4</a:t>
            </a:r>
          </a:p>
        </p:txBody>
      </p:sp>
      <p:sp>
        <p:nvSpPr>
          <p:cNvPr id="24" name="Title 23">
            <a:extLst>
              <a:ext uri="{FF2B5EF4-FFF2-40B4-BE49-F238E27FC236}">
                <a16:creationId xmlns:a16="http://schemas.microsoft.com/office/drawing/2014/main" id="{6A822EC2-8B34-4049-8221-20CDC9BC3244}"/>
              </a:ext>
            </a:extLst>
          </p:cNvPr>
          <p:cNvSpPr>
            <a:spLocks noGrp="1"/>
          </p:cNvSpPr>
          <p:nvPr>
            <p:ph type="title"/>
          </p:nvPr>
        </p:nvSpPr>
        <p:spPr>
          <a:xfrm>
            <a:off x="630000" y="622800"/>
            <a:ext cx="10933350" cy="664797"/>
          </a:xfrm>
        </p:spPr>
        <p:txBody>
          <a:bodyPr vert="horz"/>
          <a:lstStyle/>
          <a:p>
            <a:r>
              <a:rPr lang="en-US">
                <a:cs typeface="Arial" panose="020B0604020202020204" pitchFamily="34" charset="0"/>
              </a:rPr>
              <a:t>Best-in-class players enable personalization through cross-functional</a:t>
            </a:r>
            <a:br>
              <a:rPr lang="en-US">
                <a:cs typeface="Arial" panose="020B0604020202020204" pitchFamily="34" charset="0"/>
              </a:rPr>
            </a:br>
            <a:r>
              <a:rPr lang="en-US">
                <a:cs typeface="Arial" panose="020B0604020202020204" pitchFamily="34" charset="0"/>
              </a:rPr>
              <a:t>agile squads, along with a centralized prioritization &amp; orchestration layer</a:t>
            </a:r>
            <a:endParaRPr lang="en-US"/>
          </a:p>
        </p:txBody>
      </p:sp>
      <p:sp>
        <p:nvSpPr>
          <p:cNvPr id="117" name="ee4pFootnotes">
            <a:extLst>
              <a:ext uri="{FF2B5EF4-FFF2-40B4-BE49-F238E27FC236}">
                <a16:creationId xmlns:a16="http://schemas.microsoft.com/office/drawing/2014/main" id="{C51F6810-AB42-4A5E-916E-AC38DF1C1F70}"/>
              </a:ext>
            </a:extLst>
          </p:cNvPr>
          <p:cNvSpPr>
            <a:spLocks noChangeArrowheads="1"/>
          </p:cNvSpPr>
          <p:nvPr/>
        </p:nvSpPr>
        <p:spPr bwMode="auto">
          <a:xfrm>
            <a:off x="630000" y="6421441"/>
            <a:ext cx="9030914" cy="138499"/>
          </a:xfrm>
          <a:prstGeom prst="rect">
            <a:avLst/>
          </a:prstGeom>
          <a:noFill/>
          <a:ln w="9525" algn="ctr">
            <a:noFill/>
            <a:miter lim="800000"/>
            <a:headEnd type="none" w="lg" len="lg"/>
            <a:tailEnd type="none" w="lg" len="lg"/>
          </a:ln>
        </p:spPr>
        <p:txBody>
          <a:bodyPr vert="horz" wrap="square" lIns="0" tIns="0" rIns="0" bIns="0" anchor="b" anchorCtr="0">
            <a:spAutoFit/>
          </a:bodyPr>
          <a:lstStyle/>
          <a:p>
            <a:pPr>
              <a:lnSpc>
                <a:spcPct val="90000"/>
              </a:lnSpc>
            </a:pPr>
            <a:r>
              <a:rPr lang="en-US" sz="1000" kern="1200">
                <a:solidFill>
                  <a:schemeClr val="bg1">
                    <a:lumMod val="50000"/>
                  </a:schemeClr>
                </a:solidFill>
                <a:effectLst/>
                <a:latin typeface="Trebuchet MS" panose="020B0603020202020204" pitchFamily="34" charset="0"/>
                <a:ea typeface="+mn-ea"/>
                <a:cs typeface="+mn-cs"/>
              </a:rPr>
              <a:t>Source: BCG experience, Client internal interviews</a:t>
            </a:r>
            <a:endParaRPr lang="en-US" sz="1000">
              <a:solidFill>
                <a:schemeClr val="bg1">
                  <a:lumMod val="50000"/>
                </a:schemeClr>
              </a:solidFill>
              <a:effectLst/>
            </a:endParaRPr>
          </a:p>
        </p:txBody>
      </p:sp>
      <p:sp>
        <p:nvSpPr>
          <p:cNvPr id="91" name="Rectangle 90">
            <a:extLst>
              <a:ext uri="{FF2B5EF4-FFF2-40B4-BE49-F238E27FC236}">
                <a16:creationId xmlns:a16="http://schemas.microsoft.com/office/drawing/2014/main" id="{D41FEC1E-6C7A-4434-BCF8-F11650C1D58B}"/>
              </a:ext>
            </a:extLst>
          </p:cNvPr>
          <p:cNvSpPr>
            <a:spLocks/>
          </p:cNvSpPr>
          <p:nvPr/>
        </p:nvSpPr>
        <p:spPr>
          <a:xfrm>
            <a:off x="6638926" y="0"/>
            <a:ext cx="4425468" cy="191701"/>
          </a:xfrm>
          <a:prstGeom prst="rect">
            <a:avLst/>
          </a:prstGeom>
          <a:noFill/>
          <a:ln w="6943" cap="rnd" cmpd="sng" algn="ctr">
            <a:noFill/>
            <a:prstDash val="solid"/>
            <a:round/>
            <a:headEnd type="none" w="med" len="med"/>
            <a:tailEnd type="none" w="med" len="med"/>
          </a:ln>
          <a:effectLst/>
          <a:extLst>
            <a:ext uri="{909E8E84-426E-40DD-AFC4-6F175D3DCCD1}">
              <a14:hiddenFill xmlns:a14="http://schemas.microsoft.com/office/drawing/2010/main">
                <a:solidFill>
                  <a:srgbClr val="9B1C23"/>
                </a:solidFill>
              </a14:hiddenFill>
            </a:ext>
            <a:ext uri="{91240B29-F687-4F45-9708-019B960494DF}">
              <a14:hiddenLine xmlns:a14="http://schemas.microsoft.com/office/drawing/2010/main" w="6943" cap="rnd" cmpd="sng" algn="ctr">
                <a:solidFill>
                  <a:srgbClr val="9B1C23"/>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7F7F7F"/>
                </a:solidFill>
                <a:effectLst/>
                <a:uLnTx/>
                <a:uFillTx/>
                <a:latin typeface="Trebuchet MS" panose="020B0603020202020204" pitchFamily="34" charset="0"/>
                <a:ea typeface="+mn-ea"/>
                <a:cs typeface="+mn-cs"/>
              </a:rPr>
              <a:t>Future operating model</a:t>
            </a:r>
          </a:p>
        </p:txBody>
      </p:sp>
      <p:sp>
        <p:nvSpPr>
          <p:cNvPr id="10" name="Textfeld 1">
            <a:extLst>
              <a:ext uri="{FF2B5EF4-FFF2-40B4-BE49-F238E27FC236}">
                <a16:creationId xmlns:a16="http://schemas.microsoft.com/office/drawing/2014/main" id="{6CDBA8B7-C295-84D1-8BB2-8F1540D662B9}"/>
              </a:ext>
            </a:extLst>
          </p:cNvPr>
          <p:cNvSpPr txBox="1"/>
          <p:nvPr>
            <p:custDataLst>
              <p:tags r:id="rId3"/>
            </p:custDataLst>
          </p:nvPr>
        </p:nvSpPr>
        <p:spPr>
          <a:xfrm>
            <a:off x="150955" y="20641"/>
            <a:ext cx="5859322" cy="969496"/>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en-US" sz="1200" b="1">
                <a:solidFill>
                  <a:srgbClr val="575757"/>
                </a:solidFill>
                <a:sym typeface="Trebuchet MS" panose="020B0603020202020204" pitchFamily="34" charset="0"/>
              </a:rPr>
              <a:t>TM 21.Jun.24:
</a:t>
            </a:r>
            <a:r>
              <a:rPr lang="zh-TW" altLang="en-US" sz="1200" b="1">
                <a:solidFill>
                  <a:srgbClr val="575757"/>
                </a:solidFill>
                <a:sym typeface="Trebuchet MS" panose="020B0603020202020204" pitchFamily="34" charset="0"/>
              </a:rPr>
              <a:t>組織 </a:t>
            </a:r>
            <a:r>
              <a:rPr lang="en-US" altLang="zh-TW" sz="1200" b="1">
                <a:solidFill>
                  <a:srgbClr val="575757"/>
                </a:solidFill>
                <a:sym typeface="Trebuchet MS" panose="020B0603020202020204" pitchFamily="34" charset="0"/>
              </a:rPr>
              <a:t>(check more on </a:t>
            </a:r>
            <a:r>
              <a:rPr lang="en-US" altLang="zh-TW" sz="1200" b="1" err="1">
                <a:solidFill>
                  <a:srgbClr val="575757"/>
                </a:solidFill>
                <a:sym typeface="Trebuchet MS" panose="020B0603020202020204" pitchFamily="34" charset="0"/>
              </a:rPr>
              <a:t>KN</a:t>
            </a:r>
            <a:r>
              <a:rPr lang="en-US" altLang="zh-TW" sz="1200" b="1">
                <a:solidFill>
                  <a:srgbClr val="575757"/>
                </a:solidFill>
                <a:sym typeface="Trebuchet MS" panose="020B0603020202020204" pitchFamily="34" charset="0"/>
              </a:rPr>
              <a:t>)</a:t>
            </a:r>
          </a:p>
          <a:p>
            <a:pPr>
              <a:lnSpc>
                <a:spcPct val="90000"/>
              </a:lnSpc>
              <a:spcAft>
                <a:spcPts val="600"/>
              </a:spcAft>
            </a:pPr>
            <a:r>
              <a:rPr lang="zh-TW" altLang="en-US" sz="1200" b="1">
                <a:solidFill>
                  <a:srgbClr val="575757"/>
                </a:solidFill>
                <a:sym typeface="Trebuchet MS" panose="020B0603020202020204" pitchFamily="34" charset="0"/>
              </a:rPr>
              <a:t>模式</a:t>
            </a:r>
            <a:r>
              <a:rPr lang="en-US" altLang="zh-TW" sz="1200" b="1">
                <a:solidFill>
                  <a:srgbClr val="575757"/>
                </a:solidFill>
                <a:sym typeface="Trebuchet MS" panose="020B0603020202020204" pitchFamily="34" charset="0"/>
              </a:rPr>
              <a:t>1: </a:t>
            </a:r>
            <a:r>
              <a:rPr lang="zh-TW" altLang="en-US" sz="1200" b="1">
                <a:solidFill>
                  <a:srgbClr val="575757"/>
                </a:solidFill>
                <a:sym typeface="Trebuchet MS" panose="020B0603020202020204" pitchFamily="34" charset="0"/>
              </a:rPr>
              <a:t>成立新的數位客群團隊主導</a:t>
            </a:r>
            <a:r>
              <a:rPr lang="en-US" altLang="zh-TW" sz="1200" b="1">
                <a:solidFill>
                  <a:srgbClr val="575757"/>
                </a:solidFill>
                <a:sym typeface="Trebuchet MS" panose="020B0603020202020204" pitchFamily="34" charset="0"/>
              </a:rPr>
              <a:t>, </a:t>
            </a:r>
            <a:r>
              <a:rPr lang="zh-TW" altLang="en-US" sz="1200" b="1">
                <a:solidFill>
                  <a:srgbClr val="575757"/>
                </a:solidFill>
                <a:sym typeface="Trebuchet MS" panose="020B0603020202020204" pitchFamily="34" charset="0"/>
              </a:rPr>
              <a:t>貫穿端到端數位經營</a:t>
            </a:r>
            <a:r>
              <a:rPr lang="en-US" altLang="zh-TW" sz="1200" b="1">
                <a:solidFill>
                  <a:srgbClr val="575757"/>
                </a:solidFill>
                <a:sym typeface="Trebuchet MS" panose="020B0603020202020204" pitchFamily="34" charset="0"/>
              </a:rPr>
              <a:t>, </a:t>
            </a:r>
            <a:r>
              <a:rPr lang="zh-TW" altLang="en-US" sz="1200" b="1">
                <a:solidFill>
                  <a:srgbClr val="575757"/>
                </a:solidFill>
                <a:sym typeface="Trebuchet MS" panose="020B0603020202020204" pitchFamily="34" charset="0"/>
              </a:rPr>
              <a:t>與產品</a:t>
            </a:r>
            <a:r>
              <a:rPr lang="en-US" altLang="zh-TW" sz="1200" b="1">
                <a:solidFill>
                  <a:srgbClr val="575757"/>
                </a:solidFill>
                <a:sym typeface="Trebuchet MS" panose="020B0603020202020204" pitchFamily="34" charset="0"/>
              </a:rPr>
              <a:t>/</a:t>
            </a:r>
            <a:r>
              <a:rPr lang="zh-TW" altLang="en-US" sz="1200" b="1">
                <a:solidFill>
                  <a:srgbClr val="575757"/>
                </a:solidFill>
                <a:sym typeface="Trebuchet MS" panose="020B0603020202020204" pitchFamily="34" charset="0"/>
              </a:rPr>
              <a:t>數位</a:t>
            </a:r>
            <a:r>
              <a:rPr lang="en-US" altLang="zh-TW" sz="1200" b="1">
                <a:solidFill>
                  <a:srgbClr val="575757"/>
                </a:solidFill>
                <a:sym typeface="Trebuchet MS" panose="020B0603020202020204" pitchFamily="34" charset="0"/>
              </a:rPr>
              <a:t>/</a:t>
            </a:r>
            <a:r>
              <a:rPr lang="zh-TW" altLang="en-US" sz="1200" b="1">
                <a:solidFill>
                  <a:srgbClr val="575757"/>
                </a:solidFill>
                <a:sym typeface="Trebuchet MS" panose="020B0603020202020204" pitchFamily="34" charset="0"/>
              </a:rPr>
              <a:t>數據協作</a:t>
            </a:r>
            <a:endParaRPr lang="en-US" altLang="zh-TW" sz="1200" b="1">
              <a:solidFill>
                <a:srgbClr val="575757"/>
              </a:solidFill>
              <a:sym typeface="Trebuchet MS" panose="020B0603020202020204" pitchFamily="34" charset="0"/>
            </a:endParaRPr>
          </a:p>
          <a:p>
            <a:pPr>
              <a:lnSpc>
                <a:spcPct val="90000"/>
              </a:lnSpc>
              <a:spcAft>
                <a:spcPts val="600"/>
              </a:spcAft>
            </a:pPr>
            <a:r>
              <a:rPr lang="zh-TW" altLang="en-US" sz="1200" b="1">
                <a:solidFill>
                  <a:srgbClr val="575757"/>
                </a:solidFill>
                <a:sym typeface="Trebuchet MS" panose="020B0603020202020204" pitchFamily="34" charset="0"/>
              </a:rPr>
              <a:t>模式</a:t>
            </a:r>
            <a:r>
              <a:rPr lang="en-US" altLang="zh-TW" sz="1200" b="1">
                <a:solidFill>
                  <a:srgbClr val="575757"/>
                </a:solidFill>
                <a:sym typeface="Trebuchet MS" panose="020B0603020202020204" pitchFamily="34" charset="0"/>
              </a:rPr>
              <a:t>2: Cross-functional squad; </a:t>
            </a:r>
            <a:r>
              <a:rPr lang="zh-TW" altLang="en-US" sz="1200" b="1">
                <a:solidFill>
                  <a:srgbClr val="575757"/>
                </a:solidFill>
                <a:sym typeface="Trebuchet MS" panose="020B0603020202020204" pitchFamily="34" charset="0"/>
              </a:rPr>
              <a:t>產品</a:t>
            </a:r>
            <a:r>
              <a:rPr lang="en-US" altLang="zh-TW" sz="1200" b="1">
                <a:solidFill>
                  <a:srgbClr val="575757"/>
                </a:solidFill>
                <a:sym typeface="Trebuchet MS" panose="020B0603020202020204" pitchFamily="34" charset="0"/>
              </a:rPr>
              <a:t>/ </a:t>
            </a:r>
            <a:r>
              <a:rPr lang="zh-TW" altLang="en-US" sz="1200" b="1">
                <a:solidFill>
                  <a:srgbClr val="575757"/>
                </a:solidFill>
                <a:sym typeface="Trebuchet MS" panose="020B0603020202020204" pitchFamily="34" charset="0"/>
              </a:rPr>
              <a:t>數位</a:t>
            </a:r>
            <a:r>
              <a:rPr lang="en-US" altLang="zh-TW" sz="1200" b="1">
                <a:solidFill>
                  <a:srgbClr val="575757"/>
                </a:solidFill>
                <a:sym typeface="Trebuchet MS" panose="020B0603020202020204" pitchFamily="34" charset="0"/>
              </a:rPr>
              <a:t>/</a:t>
            </a:r>
            <a:r>
              <a:rPr lang="zh-TW" altLang="en-US" sz="1200" b="1">
                <a:solidFill>
                  <a:srgbClr val="575757"/>
                </a:solidFill>
                <a:sym typeface="Trebuchet MS" panose="020B0603020202020204" pitchFamily="34" charset="0"/>
              </a:rPr>
              <a:t> 數據</a:t>
            </a:r>
            <a:r>
              <a:rPr lang="en-US" altLang="zh-TW" sz="1200" b="1">
                <a:solidFill>
                  <a:srgbClr val="575757"/>
                </a:solidFill>
                <a:sym typeface="Trebuchet MS" panose="020B0603020202020204" pitchFamily="34" charset="0"/>
              </a:rPr>
              <a:t>/</a:t>
            </a:r>
            <a:r>
              <a:rPr lang="zh-TW" altLang="en-US" sz="1200" b="1">
                <a:solidFill>
                  <a:srgbClr val="575757"/>
                </a:solidFill>
                <a:sym typeface="Trebuchet MS" panose="020B0603020202020204" pitchFamily="34" charset="0"/>
              </a:rPr>
              <a:t> </a:t>
            </a:r>
            <a:r>
              <a:rPr lang="en-US" altLang="zh-TW" sz="1200" b="1">
                <a:solidFill>
                  <a:srgbClr val="575757"/>
                </a:solidFill>
                <a:sym typeface="Trebuchet MS" panose="020B0603020202020204" pitchFamily="34" charset="0"/>
              </a:rPr>
              <a:t>marketing </a:t>
            </a:r>
            <a:r>
              <a:rPr lang="zh-TW" altLang="en-US" sz="1200" b="1">
                <a:solidFill>
                  <a:srgbClr val="575757"/>
                </a:solidFill>
                <a:sym typeface="Trebuchet MS" panose="020B0603020202020204" pitchFamily="34" charset="0"/>
              </a:rPr>
              <a:t>組成 </a:t>
            </a:r>
            <a:endParaRPr lang="en-US" sz="1200" b="1">
              <a:solidFill>
                <a:srgbClr val="575757"/>
              </a:solidFill>
              <a:sym typeface="Trebuchet MS" panose="020B0603020202020204" pitchFamily="34" charset="0"/>
            </a:endParaRPr>
          </a:p>
        </p:txBody>
      </p:sp>
    </p:spTree>
    <p:extLst>
      <p:ext uri="{BB962C8B-B14F-4D97-AF65-F5344CB8AC3E}">
        <p14:creationId xmlns:p14="http://schemas.microsoft.com/office/powerpoint/2010/main" val="60482406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56" name="Object 255" hidden="1">
            <a:extLst>
              <a:ext uri="{FF2B5EF4-FFF2-40B4-BE49-F238E27FC236}">
                <a16:creationId xmlns:a16="http://schemas.microsoft.com/office/drawing/2014/main" id="{1BCFB7F4-6D32-46FC-94F9-33CB5046B039}"/>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395" imgH="396" progId="TCLayout.ActiveDocument.1">
                  <p:embed/>
                </p:oleObj>
              </mc:Choice>
              <mc:Fallback>
                <p:oleObj name="think-cell Slide" r:id="rId6" imgW="395" imgH="396" progId="TCLayout.ActiveDocument.1">
                  <p:embed/>
                  <p:pic>
                    <p:nvPicPr>
                      <p:cNvPr id="256" name="Object 255" hidden="1">
                        <a:extLst>
                          <a:ext uri="{FF2B5EF4-FFF2-40B4-BE49-F238E27FC236}">
                            <a16:creationId xmlns:a16="http://schemas.microsoft.com/office/drawing/2014/main" id="{1BCFB7F4-6D32-46FC-94F9-33CB5046B039}"/>
                          </a:ext>
                        </a:extLst>
                      </p:cNvPr>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155" name="object 2">
            <a:extLst>
              <a:ext uri="{FF2B5EF4-FFF2-40B4-BE49-F238E27FC236}">
                <a16:creationId xmlns:a16="http://schemas.microsoft.com/office/drawing/2014/main" id="{A3134A22-EDC9-4C28-9E6C-7813E9E7F2E2}"/>
              </a:ext>
            </a:extLst>
          </p:cNvPr>
          <p:cNvSpPr txBox="1"/>
          <p:nvPr/>
        </p:nvSpPr>
        <p:spPr>
          <a:xfrm>
            <a:off x="873522" y="2284599"/>
            <a:ext cx="1980000" cy="307777"/>
          </a:xfrm>
          <a:prstGeom prst="rect">
            <a:avLst/>
          </a:prstGeom>
        </p:spPr>
        <p:txBody>
          <a:bodyPr vert="horz" wrap="square" lIns="0" tIns="0" rIns="0" bIns="0" rtlCol="0" anchor="t" anchorCtr="0">
            <a:noAutofit/>
          </a:bodyPr>
          <a:lstStyle/>
          <a:p>
            <a:pPr marR="3081" defTabSz="554492">
              <a:buFont typeface="Trebuchet MS" panose="020B0603020202020204" pitchFamily="34" charset="0"/>
              <a:buChar char="​"/>
            </a:pPr>
            <a:r>
              <a:rPr sz="1000" b="1">
                <a:latin typeface="Trebuchet MS" panose="020B0603020202020204" pitchFamily="34" charset="0"/>
                <a:cs typeface="Proxima Nova Semibold"/>
              </a:rPr>
              <a:t>Product/Segment</a:t>
            </a:r>
            <a:br>
              <a:rPr lang="en-US" sz="1000" b="1">
                <a:latin typeface="Trebuchet MS" panose="020B0603020202020204" pitchFamily="34" charset="0"/>
                <a:cs typeface="Proxima Nova Semibold"/>
              </a:rPr>
            </a:br>
            <a:r>
              <a:rPr sz="1000">
                <a:latin typeface="Trebuchet MS" panose="020B0603020202020204" pitchFamily="34" charset="0"/>
                <a:cs typeface="Proxima Nova"/>
              </a:rPr>
              <a:t>commissions new</a:t>
            </a:r>
            <a:r>
              <a:rPr lang="en-US" sz="1000">
                <a:latin typeface="Trebuchet MS" panose="020B0603020202020204" pitchFamily="34" charset="0"/>
                <a:cs typeface="Proxima Nova"/>
              </a:rPr>
              <a:t> </a:t>
            </a:r>
            <a:r>
              <a:rPr sz="1000">
                <a:latin typeface="Trebuchet MS" panose="020B0603020202020204" pitchFamily="34" charset="0"/>
                <a:cs typeface="Proxima Nova"/>
              </a:rPr>
              <a:t>campaigns</a:t>
            </a:r>
          </a:p>
        </p:txBody>
      </p:sp>
      <p:sp>
        <p:nvSpPr>
          <p:cNvPr id="156" name="object 3">
            <a:extLst>
              <a:ext uri="{FF2B5EF4-FFF2-40B4-BE49-F238E27FC236}">
                <a16:creationId xmlns:a16="http://schemas.microsoft.com/office/drawing/2014/main" id="{77AC392B-28E4-489D-8318-429BD41F606C}"/>
              </a:ext>
            </a:extLst>
          </p:cNvPr>
          <p:cNvSpPr txBox="1"/>
          <p:nvPr/>
        </p:nvSpPr>
        <p:spPr>
          <a:xfrm>
            <a:off x="873522" y="3869125"/>
            <a:ext cx="1980000" cy="615553"/>
          </a:xfrm>
          <a:prstGeom prst="rect">
            <a:avLst/>
          </a:prstGeom>
        </p:spPr>
        <p:txBody>
          <a:bodyPr vert="horz" wrap="square" lIns="0" tIns="0" rIns="0" bIns="0" rtlCol="0" anchor="t" anchorCtr="0">
            <a:noAutofit/>
          </a:bodyPr>
          <a:lstStyle/>
          <a:p>
            <a:pPr marR="3081" defTabSz="554492">
              <a:buFont typeface="Trebuchet MS" panose="020B0603020202020204" pitchFamily="34" charset="0"/>
              <a:buChar char="​"/>
            </a:pPr>
            <a:r>
              <a:rPr sz="1000" b="1">
                <a:latin typeface="Trebuchet MS" panose="020B0603020202020204" pitchFamily="34" charset="0"/>
                <a:cs typeface="Proxima Nova Semibold"/>
              </a:rPr>
              <a:t>Prioritization Committee</a:t>
            </a:r>
            <a:r>
              <a:rPr lang="en-US" sz="1000" b="1">
                <a:latin typeface="Trebuchet MS" panose="020B0603020202020204" pitchFamily="34" charset="0"/>
                <a:cs typeface="Proxima Nova Semibold"/>
              </a:rPr>
              <a:t> </a:t>
            </a:r>
            <a:r>
              <a:rPr sz="1000" b="1">
                <a:latin typeface="Trebuchet MS" panose="020B0603020202020204" pitchFamily="34" charset="0"/>
                <a:cs typeface="Proxima Nova Semibold"/>
              </a:rPr>
              <a:t>(Segments (chair), Product</a:t>
            </a:r>
            <a:r>
              <a:rPr lang="en-US" sz="1000" b="1">
                <a:latin typeface="Trebuchet MS" panose="020B0603020202020204" pitchFamily="34" charset="0"/>
                <a:cs typeface="Proxima Nova Semibold"/>
              </a:rPr>
              <a:t>, </a:t>
            </a:r>
            <a:r>
              <a:rPr lang="en-US" sz="1000" b="1" err="1">
                <a:latin typeface="Trebuchet MS" panose="020B0603020202020204" pitchFamily="34" charset="0"/>
                <a:cs typeface="Proxima Nova Semibold"/>
              </a:rPr>
              <a:t>CLM</a:t>
            </a:r>
            <a:r>
              <a:rPr sz="1000" b="1">
                <a:latin typeface="Trebuchet MS" panose="020B0603020202020204" pitchFamily="34" charset="0"/>
                <a:cs typeface="Proxima Nova Semibold"/>
              </a:rPr>
              <a:t>) </a:t>
            </a:r>
            <a:r>
              <a:rPr sz="1000">
                <a:latin typeface="Trebuchet MS" panose="020B0603020202020204" pitchFamily="34" charset="0"/>
                <a:cs typeface="Proxima Nova"/>
              </a:rPr>
              <a:t>to evaluate</a:t>
            </a:r>
            <a:r>
              <a:rPr lang="en-US" sz="1000">
                <a:latin typeface="Trebuchet MS" panose="020B0603020202020204" pitchFamily="34" charset="0"/>
                <a:cs typeface="Proxima Nova"/>
              </a:rPr>
              <a:t> </a:t>
            </a:r>
            <a:r>
              <a:rPr sz="1000">
                <a:latin typeface="Trebuchet MS" panose="020B0603020202020204" pitchFamily="34" charset="0"/>
                <a:cs typeface="Proxima Nova"/>
              </a:rPr>
              <a:t>campaign</a:t>
            </a:r>
            <a:r>
              <a:rPr lang="en-US" sz="1000">
                <a:latin typeface="Trebuchet MS" panose="020B0603020202020204" pitchFamily="34" charset="0"/>
                <a:cs typeface="Proxima Nova"/>
              </a:rPr>
              <a:t> pitches VC-style, </a:t>
            </a:r>
            <a:r>
              <a:rPr sz="1000">
                <a:latin typeface="Trebuchet MS" panose="020B0603020202020204" pitchFamily="34" charset="0"/>
                <a:cs typeface="Proxima Nova"/>
              </a:rPr>
              <a:t>and assign</a:t>
            </a:r>
            <a:r>
              <a:rPr lang="en-US" sz="1000">
                <a:latin typeface="Trebuchet MS" panose="020B0603020202020204" pitchFamily="34" charset="0"/>
                <a:cs typeface="Proxima Nova"/>
              </a:rPr>
              <a:t> </a:t>
            </a:r>
            <a:r>
              <a:rPr sz="1000">
                <a:latin typeface="Trebuchet MS" panose="020B0603020202020204" pitchFamily="34" charset="0"/>
                <a:cs typeface="Proxima Nova"/>
              </a:rPr>
              <a:t>squad resources</a:t>
            </a:r>
          </a:p>
        </p:txBody>
      </p:sp>
      <p:sp>
        <p:nvSpPr>
          <p:cNvPr id="157" name="object 3">
            <a:extLst>
              <a:ext uri="{FF2B5EF4-FFF2-40B4-BE49-F238E27FC236}">
                <a16:creationId xmlns:a16="http://schemas.microsoft.com/office/drawing/2014/main" id="{766C320C-6F8D-4BF2-B6E5-0D1BF0959366}"/>
              </a:ext>
            </a:extLst>
          </p:cNvPr>
          <p:cNvSpPr txBox="1"/>
          <p:nvPr/>
        </p:nvSpPr>
        <p:spPr>
          <a:xfrm>
            <a:off x="873522" y="5725154"/>
            <a:ext cx="1980000" cy="307777"/>
          </a:xfrm>
          <a:prstGeom prst="rect">
            <a:avLst/>
          </a:prstGeom>
        </p:spPr>
        <p:txBody>
          <a:bodyPr vert="horz" wrap="square" lIns="0" tIns="0" rIns="0" bIns="0" rtlCol="0" anchor="t" anchorCtr="0">
            <a:noAutofit/>
          </a:bodyPr>
          <a:lstStyle/>
          <a:p>
            <a:pPr marR="3081" defTabSz="554492">
              <a:buFont typeface="Trebuchet MS" panose="020B0603020202020204" pitchFamily="34" charset="0"/>
              <a:buChar char="​"/>
            </a:pPr>
            <a:r>
              <a:rPr lang="en-US" sz="1000" b="1" err="1">
                <a:latin typeface="Trebuchet MS" panose="020B0603020202020204" pitchFamily="34" charset="0"/>
                <a:cs typeface="Proxima Nova Semibold"/>
              </a:rPr>
              <a:t>CLM</a:t>
            </a:r>
            <a:r>
              <a:rPr lang="en-US" sz="1000">
                <a:latin typeface="Trebuchet MS" panose="020B0603020202020204" pitchFamily="34" charset="0"/>
                <a:cs typeface="Proxima Nova Semibold"/>
              </a:rPr>
              <a:t> to translate business problem to customer needs</a:t>
            </a:r>
            <a:endParaRPr sz="1000">
              <a:latin typeface="Trebuchet MS" panose="020B0603020202020204" pitchFamily="34" charset="0"/>
              <a:cs typeface="Proxima Nova"/>
            </a:endParaRPr>
          </a:p>
        </p:txBody>
      </p:sp>
      <p:cxnSp>
        <p:nvCxnSpPr>
          <p:cNvPr id="158" name="Straight Connector 157">
            <a:extLst>
              <a:ext uri="{FF2B5EF4-FFF2-40B4-BE49-F238E27FC236}">
                <a16:creationId xmlns:a16="http://schemas.microsoft.com/office/drawing/2014/main" id="{9744D2C2-3F0C-47A9-9AA7-4034B4F65BCF}"/>
              </a:ext>
            </a:extLst>
          </p:cNvPr>
          <p:cNvCxnSpPr>
            <a:cxnSpLocks/>
          </p:cNvCxnSpPr>
          <p:nvPr/>
        </p:nvCxnSpPr>
        <p:spPr>
          <a:xfrm>
            <a:off x="683999" y="2284599"/>
            <a:ext cx="0" cy="3534822"/>
          </a:xfrm>
          <a:prstGeom prst="line">
            <a:avLst/>
          </a:prstGeom>
          <a:ln w="25400" cap="rnd">
            <a:solidFill>
              <a:schemeClr val="bg1">
                <a:lumMod val="85000"/>
              </a:schemeClr>
            </a:solidFill>
            <a:prstDash val="solid"/>
            <a:round/>
            <a:tailEnd type="none" w="med" len="sm"/>
          </a:ln>
        </p:spPr>
        <p:style>
          <a:lnRef idx="1">
            <a:schemeClr val="accent1"/>
          </a:lnRef>
          <a:fillRef idx="0">
            <a:schemeClr val="accent1"/>
          </a:fillRef>
          <a:effectRef idx="0">
            <a:schemeClr val="accent1"/>
          </a:effectRef>
          <a:fontRef idx="minor">
            <a:schemeClr val="tx1"/>
          </a:fontRef>
        </p:style>
      </p:cxnSp>
      <p:sp>
        <p:nvSpPr>
          <p:cNvPr id="159" name="Oval 158">
            <a:extLst>
              <a:ext uri="{FF2B5EF4-FFF2-40B4-BE49-F238E27FC236}">
                <a16:creationId xmlns:a16="http://schemas.microsoft.com/office/drawing/2014/main" id="{524D4214-E048-423B-8623-6689C348D630}"/>
              </a:ext>
            </a:extLst>
          </p:cNvPr>
          <p:cNvSpPr>
            <a:spLocks noChangeAspect="1"/>
          </p:cNvSpPr>
          <p:nvPr/>
        </p:nvSpPr>
        <p:spPr>
          <a:xfrm>
            <a:off x="629999" y="2284599"/>
            <a:ext cx="108000" cy="108000"/>
          </a:xfrm>
          <a:prstGeom prst="ellipse">
            <a:avLst/>
          </a:prstGeom>
          <a:solidFill>
            <a:schemeClr val="tx2"/>
          </a:solidFill>
          <a:ln w="38100" cap="rnd" cmpd="sng" algn="ctr">
            <a:solidFill>
              <a:srgbClr val="F7F7F7"/>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200">
              <a:solidFill>
                <a:srgbClr val="FFFFFF"/>
              </a:solidFill>
            </a:endParaRPr>
          </a:p>
        </p:txBody>
      </p:sp>
      <p:grpSp>
        <p:nvGrpSpPr>
          <p:cNvPr id="160" name="Group 159">
            <a:extLst>
              <a:ext uri="{FF2B5EF4-FFF2-40B4-BE49-F238E27FC236}">
                <a16:creationId xmlns:a16="http://schemas.microsoft.com/office/drawing/2014/main" id="{FAA1E743-BD96-4F79-9610-BC870361CB58}"/>
              </a:ext>
            </a:extLst>
          </p:cNvPr>
          <p:cNvGrpSpPr/>
          <p:nvPr/>
        </p:nvGrpSpPr>
        <p:grpSpPr>
          <a:xfrm>
            <a:off x="873522" y="1482530"/>
            <a:ext cx="1081432" cy="642387"/>
            <a:chOff x="873524" y="1482530"/>
            <a:chExt cx="1081432" cy="642387"/>
          </a:xfrm>
        </p:grpSpPr>
        <p:sp>
          <p:nvSpPr>
            <p:cNvPr id="161" name="Freeform: Shape 160">
              <a:extLst>
                <a:ext uri="{FF2B5EF4-FFF2-40B4-BE49-F238E27FC236}">
                  <a16:creationId xmlns:a16="http://schemas.microsoft.com/office/drawing/2014/main" id="{B28B8CCD-E745-491B-889A-6A1106ABB4F8}"/>
                </a:ext>
              </a:extLst>
            </p:cNvPr>
            <p:cNvSpPr/>
            <p:nvPr/>
          </p:nvSpPr>
          <p:spPr>
            <a:xfrm>
              <a:off x="1713251" y="1524031"/>
              <a:ext cx="241704" cy="241744"/>
            </a:xfrm>
            <a:custGeom>
              <a:avLst/>
              <a:gdLst>
                <a:gd name="connsiteX0" fmla="*/ 237361 w 241704"/>
                <a:gd name="connsiteY0" fmla="*/ 241744 h 241744"/>
                <a:gd name="connsiteX1" fmla="*/ 232977 w 241704"/>
                <a:gd name="connsiteY1" fmla="*/ 237361 h 241744"/>
                <a:gd name="connsiteX2" fmla="*/ 232977 w 241704"/>
                <a:gd name="connsiteY2" fmla="*/ 8768 h 241744"/>
                <a:gd name="connsiteX3" fmla="*/ 8768 w 241704"/>
                <a:gd name="connsiteY3" fmla="*/ 8768 h 241744"/>
                <a:gd name="connsiteX4" fmla="*/ 8768 w 241704"/>
                <a:gd name="connsiteY4" fmla="*/ 139164 h 241744"/>
                <a:gd name="connsiteX5" fmla="*/ 4384 w 241704"/>
                <a:gd name="connsiteY5" fmla="*/ 143548 h 241744"/>
                <a:gd name="connsiteX6" fmla="*/ 0 w 241704"/>
                <a:gd name="connsiteY6" fmla="*/ 139164 h 241744"/>
                <a:gd name="connsiteX7" fmla="*/ 0 w 241704"/>
                <a:gd name="connsiteY7" fmla="*/ 4384 h 241744"/>
                <a:gd name="connsiteX8" fmla="*/ 4384 w 241704"/>
                <a:gd name="connsiteY8" fmla="*/ 0 h 241744"/>
                <a:gd name="connsiteX9" fmla="*/ 237321 w 241704"/>
                <a:gd name="connsiteY9" fmla="*/ 0 h 241744"/>
                <a:gd name="connsiteX10" fmla="*/ 241705 w 241704"/>
                <a:gd name="connsiteY10" fmla="*/ 4384 h 241744"/>
                <a:gd name="connsiteX11" fmla="*/ 241705 w 241704"/>
                <a:gd name="connsiteY11" fmla="*/ 237321 h 241744"/>
                <a:gd name="connsiteX12" fmla="*/ 237321 w 241704"/>
                <a:gd name="connsiteY12" fmla="*/ 241705 h 241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704" h="241744">
                  <a:moveTo>
                    <a:pt x="237361" y="241744"/>
                  </a:moveTo>
                  <a:cubicBezTo>
                    <a:pt x="234930" y="241744"/>
                    <a:pt x="232977" y="239792"/>
                    <a:pt x="232977" y="237361"/>
                  </a:cubicBezTo>
                  <a:lnTo>
                    <a:pt x="232977" y="8768"/>
                  </a:lnTo>
                  <a:lnTo>
                    <a:pt x="8768" y="8768"/>
                  </a:lnTo>
                  <a:lnTo>
                    <a:pt x="8768" y="139164"/>
                  </a:lnTo>
                  <a:cubicBezTo>
                    <a:pt x="8768" y="141595"/>
                    <a:pt x="6815" y="143548"/>
                    <a:pt x="4384" y="143548"/>
                  </a:cubicBezTo>
                  <a:cubicBezTo>
                    <a:pt x="1953" y="143548"/>
                    <a:pt x="0" y="141595"/>
                    <a:pt x="0" y="139164"/>
                  </a:cubicBezTo>
                  <a:lnTo>
                    <a:pt x="0" y="4384"/>
                  </a:lnTo>
                  <a:cubicBezTo>
                    <a:pt x="0" y="1953"/>
                    <a:pt x="1953" y="0"/>
                    <a:pt x="4384" y="0"/>
                  </a:cubicBezTo>
                  <a:lnTo>
                    <a:pt x="237321" y="0"/>
                  </a:lnTo>
                  <a:cubicBezTo>
                    <a:pt x="239752" y="0"/>
                    <a:pt x="241705" y="1953"/>
                    <a:pt x="241705" y="4384"/>
                  </a:cubicBezTo>
                  <a:lnTo>
                    <a:pt x="241705" y="237321"/>
                  </a:lnTo>
                  <a:cubicBezTo>
                    <a:pt x="241705" y="239752"/>
                    <a:pt x="239752" y="241705"/>
                    <a:pt x="237321" y="241705"/>
                  </a:cubicBezTo>
                  <a:close/>
                </a:path>
              </a:pathLst>
            </a:custGeom>
            <a:solidFill>
              <a:srgbClr val="70B347"/>
            </a:solidFill>
            <a:ln w="3972" cap="flat" cmpd="sng" algn="ctr">
              <a:noFill/>
              <a:prstDash val="solid"/>
              <a:miter lim="800000"/>
              <a:headEnd type="none" w="med" len="med"/>
              <a:tailEnd type="none" w="med" len="med"/>
            </a:ln>
          </p:spPr>
          <p:txBody>
            <a:bodyPr rtlCol="0" anchor="ctr"/>
            <a:lstStyle/>
            <a:p>
              <a:endParaRPr lang="en-US"/>
            </a:p>
          </p:txBody>
        </p:sp>
        <p:sp>
          <p:nvSpPr>
            <p:cNvPr id="162" name="Freeform: Shape 161">
              <a:extLst>
                <a:ext uri="{FF2B5EF4-FFF2-40B4-BE49-F238E27FC236}">
                  <a16:creationId xmlns:a16="http://schemas.microsoft.com/office/drawing/2014/main" id="{009FC0DC-B466-40AE-856B-0BEC0DCF5FF2}"/>
                </a:ext>
              </a:extLst>
            </p:cNvPr>
            <p:cNvSpPr/>
            <p:nvPr/>
          </p:nvSpPr>
          <p:spPr>
            <a:xfrm>
              <a:off x="1713270" y="1603386"/>
              <a:ext cx="241686" cy="162389"/>
            </a:xfrm>
            <a:custGeom>
              <a:avLst/>
              <a:gdLst>
                <a:gd name="connsiteX0" fmla="*/ 237343 w 241686"/>
                <a:gd name="connsiteY0" fmla="*/ 162390 h 162389"/>
                <a:gd name="connsiteX1" fmla="*/ 232959 w 241686"/>
                <a:gd name="connsiteY1" fmla="*/ 158006 h 162389"/>
                <a:gd name="connsiteX2" fmla="*/ 232959 w 241686"/>
                <a:gd name="connsiteY2" fmla="*/ 65987 h 162389"/>
                <a:gd name="connsiteX3" fmla="*/ 210203 w 241686"/>
                <a:gd name="connsiteY3" fmla="*/ 74356 h 162389"/>
                <a:gd name="connsiteX4" fmla="*/ 178202 w 241686"/>
                <a:gd name="connsiteY4" fmla="*/ 84518 h 162389"/>
                <a:gd name="connsiteX5" fmla="*/ 123763 w 241686"/>
                <a:gd name="connsiteY5" fmla="*/ 54111 h 162389"/>
                <a:gd name="connsiteX6" fmla="*/ 79368 w 241686"/>
                <a:gd name="connsiteY6" fmla="*/ 16331 h 162389"/>
                <a:gd name="connsiteX7" fmla="*/ 30070 w 241686"/>
                <a:gd name="connsiteY7" fmla="*/ 9755 h 162389"/>
                <a:gd name="connsiteX8" fmla="*/ 6318 w 241686"/>
                <a:gd name="connsiteY8" fmla="*/ 17327 h 162389"/>
                <a:gd name="connsiteX9" fmla="*/ 460 w 241686"/>
                <a:gd name="connsiteY9" fmla="*/ 15374 h 162389"/>
                <a:gd name="connsiteX10" fmla="*/ 2413 w 241686"/>
                <a:gd name="connsiteY10" fmla="*/ 9516 h 162389"/>
                <a:gd name="connsiteX11" fmla="*/ 28755 w 241686"/>
                <a:gd name="connsiteY11" fmla="*/ 1107 h 162389"/>
                <a:gd name="connsiteX12" fmla="*/ 82875 w 241686"/>
                <a:gd name="connsiteY12" fmla="*/ 8320 h 162389"/>
                <a:gd name="connsiteX13" fmla="*/ 130379 w 241686"/>
                <a:gd name="connsiteY13" fmla="*/ 48412 h 162389"/>
                <a:gd name="connsiteX14" fmla="*/ 177285 w 241686"/>
                <a:gd name="connsiteY14" fmla="*/ 75830 h 162389"/>
                <a:gd name="connsiteX15" fmla="*/ 206656 w 241686"/>
                <a:gd name="connsiteY15" fmla="*/ 66345 h 162389"/>
                <a:gd name="connsiteX16" fmla="*/ 232560 w 241686"/>
                <a:gd name="connsiteY16" fmla="*/ 57100 h 162389"/>
                <a:gd name="connsiteX17" fmla="*/ 236585 w 241686"/>
                <a:gd name="connsiteY17" fmla="*/ 56342 h 162389"/>
                <a:gd name="connsiteX18" fmla="*/ 240132 w 241686"/>
                <a:gd name="connsiteY18" fmla="*/ 57339 h 162389"/>
                <a:gd name="connsiteX19" fmla="*/ 241686 w 241686"/>
                <a:gd name="connsiteY19" fmla="*/ 60686 h 162389"/>
                <a:gd name="connsiteX20" fmla="*/ 241686 w 241686"/>
                <a:gd name="connsiteY20" fmla="*/ 158006 h 162389"/>
                <a:gd name="connsiteX21" fmla="*/ 237303 w 241686"/>
                <a:gd name="connsiteY21" fmla="*/ 162390 h 16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1686" h="162389">
                  <a:moveTo>
                    <a:pt x="237343" y="162390"/>
                  </a:moveTo>
                  <a:cubicBezTo>
                    <a:pt x="234912" y="162390"/>
                    <a:pt x="232959" y="160437"/>
                    <a:pt x="232959" y="158006"/>
                  </a:cubicBezTo>
                  <a:lnTo>
                    <a:pt x="232959" y="65987"/>
                  </a:lnTo>
                  <a:cubicBezTo>
                    <a:pt x="225267" y="67780"/>
                    <a:pt x="217934" y="70968"/>
                    <a:pt x="210203" y="74356"/>
                  </a:cubicBezTo>
                  <a:cubicBezTo>
                    <a:pt x="200081" y="78779"/>
                    <a:pt x="189600" y="83362"/>
                    <a:pt x="178202" y="84518"/>
                  </a:cubicBezTo>
                  <a:cubicBezTo>
                    <a:pt x="155446" y="86829"/>
                    <a:pt x="138588" y="71287"/>
                    <a:pt x="123763" y="54111"/>
                  </a:cubicBezTo>
                  <a:cubicBezTo>
                    <a:pt x="111250" y="39604"/>
                    <a:pt x="98298" y="24620"/>
                    <a:pt x="79368" y="16331"/>
                  </a:cubicBezTo>
                  <a:cubicBezTo>
                    <a:pt x="63706" y="9516"/>
                    <a:pt x="46689" y="7244"/>
                    <a:pt x="30070" y="9755"/>
                  </a:cubicBezTo>
                  <a:cubicBezTo>
                    <a:pt x="21861" y="10990"/>
                    <a:pt x="13890" y="13541"/>
                    <a:pt x="6318" y="17327"/>
                  </a:cubicBezTo>
                  <a:cubicBezTo>
                    <a:pt x="4166" y="18403"/>
                    <a:pt x="1536" y="17526"/>
                    <a:pt x="460" y="15374"/>
                  </a:cubicBezTo>
                  <a:cubicBezTo>
                    <a:pt x="-616" y="13222"/>
                    <a:pt x="261" y="10592"/>
                    <a:pt x="2413" y="9516"/>
                  </a:cubicBezTo>
                  <a:cubicBezTo>
                    <a:pt x="10822" y="5331"/>
                    <a:pt x="19669" y="2502"/>
                    <a:pt x="28755" y="1107"/>
                  </a:cubicBezTo>
                  <a:cubicBezTo>
                    <a:pt x="47008" y="-1683"/>
                    <a:pt x="65698" y="828"/>
                    <a:pt x="82875" y="8320"/>
                  </a:cubicBezTo>
                  <a:cubicBezTo>
                    <a:pt x="103638" y="17407"/>
                    <a:pt x="117228" y="33148"/>
                    <a:pt x="130379" y="48412"/>
                  </a:cubicBezTo>
                  <a:cubicBezTo>
                    <a:pt x="143650" y="63795"/>
                    <a:pt x="158475" y="77743"/>
                    <a:pt x="177285" y="75830"/>
                  </a:cubicBezTo>
                  <a:cubicBezTo>
                    <a:pt x="187328" y="74794"/>
                    <a:pt x="196733" y="70689"/>
                    <a:pt x="206656" y="66345"/>
                  </a:cubicBezTo>
                  <a:cubicBezTo>
                    <a:pt x="214906" y="62719"/>
                    <a:pt x="223474" y="59013"/>
                    <a:pt x="232560" y="57100"/>
                  </a:cubicBezTo>
                  <a:cubicBezTo>
                    <a:pt x="233915" y="56821"/>
                    <a:pt x="235230" y="56582"/>
                    <a:pt x="236585" y="56342"/>
                  </a:cubicBezTo>
                  <a:cubicBezTo>
                    <a:pt x="237861" y="56143"/>
                    <a:pt x="239136" y="56502"/>
                    <a:pt x="240132" y="57339"/>
                  </a:cubicBezTo>
                  <a:cubicBezTo>
                    <a:pt x="241129" y="58176"/>
                    <a:pt x="241686" y="59371"/>
                    <a:pt x="241686" y="60686"/>
                  </a:cubicBezTo>
                  <a:lnTo>
                    <a:pt x="241686" y="158006"/>
                  </a:lnTo>
                  <a:cubicBezTo>
                    <a:pt x="241686" y="160437"/>
                    <a:pt x="239734" y="162390"/>
                    <a:pt x="237303" y="162390"/>
                  </a:cubicBezTo>
                  <a:close/>
                </a:path>
              </a:pathLst>
            </a:custGeom>
            <a:solidFill>
              <a:srgbClr val="70B347"/>
            </a:solidFill>
            <a:ln w="3972" cap="flat" cmpd="sng" algn="ctr">
              <a:noFill/>
              <a:prstDash val="solid"/>
              <a:miter lim="800000"/>
              <a:headEnd type="none" w="med" len="med"/>
              <a:tailEnd type="none" w="med" len="med"/>
            </a:ln>
          </p:spPr>
          <p:txBody>
            <a:bodyPr rtlCol="0" anchor="ctr"/>
            <a:lstStyle/>
            <a:p>
              <a:endParaRPr lang="en-US"/>
            </a:p>
          </p:txBody>
        </p:sp>
        <p:sp>
          <p:nvSpPr>
            <p:cNvPr id="163" name="Freeform: Shape 162">
              <a:extLst>
                <a:ext uri="{FF2B5EF4-FFF2-40B4-BE49-F238E27FC236}">
                  <a16:creationId xmlns:a16="http://schemas.microsoft.com/office/drawing/2014/main" id="{EAF38E62-ABE6-433F-B9D2-EA902B460159}"/>
                </a:ext>
              </a:extLst>
            </p:cNvPr>
            <p:cNvSpPr/>
            <p:nvPr/>
          </p:nvSpPr>
          <p:spPr>
            <a:xfrm>
              <a:off x="1859709" y="1554956"/>
              <a:ext cx="67908" cy="67908"/>
            </a:xfrm>
            <a:custGeom>
              <a:avLst/>
              <a:gdLst>
                <a:gd name="connsiteX0" fmla="*/ 67908 w 67908"/>
                <a:gd name="connsiteY0" fmla="*/ 33954 h 67908"/>
                <a:gd name="connsiteX1" fmla="*/ 33954 w 67908"/>
                <a:gd name="connsiteY1" fmla="*/ 67908 h 67908"/>
                <a:gd name="connsiteX2" fmla="*/ 0 w 67908"/>
                <a:gd name="connsiteY2" fmla="*/ 33954 h 67908"/>
                <a:gd name="connsiteX3" fmla="*/ 33954 w 67908"/>
                <a:gd name="connsiteY3" fmla="*/ 0 h 67908"/>
                <a:gd name="connsiteX4" fmla="*/ 67908 w 67908"/>
                <a:gd name="connsiteY4" fmla="*/ 33954 h 67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908" h="67908">
                  <a:moveTo>
                    <a:pt x="67908" y="33954"/>
                  </a:moveTo>
                  <a:cubicBezTo>
                    <a:pt x="67908" y="52707"/>
                    <a:pt x="52707" y="67908"/>
                    <a:pt x="33954" y="67908"/>
                  </a:cubicBezTo>
                  <a:cubicBezTo>
                    <a:pt x="15202" y="67908"/>
                    <a:pt x="0" y="52707"/>
                    <a:pt x="0" y="33954"/>
                  </a:cubicBezTo>
                  <a:cubicBezTo>
                    <a:pt x="0" y="15202"/>
                    <a:pt x="15202" y="0"/>
                    <a:pt x="33954" y="0"/>
                  </a:cubicBezTo>
                  <a:cubicBezTo>
                    <a:pt x="52707" y="0"/>
                    <a:pt x="67908" y="15202"/>
                    <a:pt x="67908" y="33954"/>
                  </a:cubicBezTo>
                  <a:close/>
                </a:path>
              </a:pathLst>
            </a:custGeom>
            <a:solidFill>
              <a:srgbClr val="D7B728"/>
            </a:solidFill>
            <a:ln w="3972" cap="flat">
              <a:no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id="{908BD0AE-0C53-49CE-BFB7-FB384496A15C}"/>
                </a:ext>
              </a:extLst>
            </p:cNvPr>
            <p:cNvSpPr/>
            <p:nvPr/>
          </p:nvSpPr>
          <p:spPr>
            <a:xfrm>
              <a:off x="873524" y="1713051"/>
              <a:ext cx="774416" cy="399360"/>
            </a:xfrm>
            <a:custGeom>
              <a:avLst/>
              <a:gdLst>
                <a:gd name="connsiteX0" fmla="*/ 9004 w 774416"/>
                <a:gd name="connsiteY0" fmla="*/ 335397 h 399360"/>
                <a:gd name="connsiteX1" fmla="*/ 118399 w 774416"/>
                <a:gd name="connsiteY1" fmla="*/ 111427 h 399360"/>
                <a:gd name="connsiteX2" fmla="*/ 356636 w 774416"/>
                <a:gd name="connsiteY2" fmla="*/ 0 h 399360"/>
                <a:gd name="connsiteX3" fmla="*/ 487193 w 774416"/>
                <a:gd name="connsiteY3" fmla="*/ 3547 h 399360"/>
                <a:gd name="connsiteX4" fmla="*/ 626716 w 774416"/>
                <a:gd name="connsiteY4" fmla="*/ 123662 h 399360"/>
                <a:gd name="connsiteX5" fmla="*/ 759265 w 774416"/>
                <a:gd name="connsiteY5" fmla="*/ 128086 h 399360"/>
                <a:gd name="connsiteX6" fmla="*/ 771579 w 774416"/>
                <a:gd name="connsiteY6" fmla="*/ 233933 h 399360"/>
                <a:gd name="connsiteX7" fmla="*/ 704906 w 774416"/>
                <a:gd name="connsiteY7" fmla="*/ 392865 h 399360"/>
                <a:gd name="connsiteX8" fmla="*/ 605076 w 774416"/>
                <a:gd name="connsiteY8" fmla="*/ 382543 h 399360"/>
                <a:gd name="connsiteX9" fmla="*/ 603681 w 774416"/>
                <a:gd name="connsiteY9" fmla="*/ 399361 h 399360"/>
                <a:gd name="connsiteX10" fmla="*/ 224924 w 774416"/>
                <a:gd name="connsiteY10" fmla="*/ 399361 h 399360"/>
                <a:gd name="connsiteX11" fmla="*/ 224924 w 774416"/>
                <a:gd name="connsiteY11" fmla="*/ 326152 h 399360"/>
                <a:gd name="connsiteX12" fmla="*/ 8964 w 774416"/>
                <a:gd name="connsiteY12" fmla="*/ 335397 h 399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16" h="399360">
                  <a:moveTo>
                    <a:pt x="9004" y="335397"/>
                  </a:moveTo>
                  <a:cubicBezTo>
                    <a:pt x="-25867" y="274662"/>
                    <a:pt x="46903" y="180491"/>
                    <a:pt x="118399" y="111427"/>
                  </a:cubicBezTo>
                  <a:cubicBezTo>
                    <a:pt x="184036" y="48062"/>
                    <a:pt x="242021" y="7373"/>
                    <a:pt x="356636" y="0"/>
                  </a:cubicBezTo>
                  <a:lnTo>
                    <a:pt x="487193" y="3547"/>
                  </a:lnTo>
                  <a:cubicBezTo>
                    <a:pt x="603641" y="13351"/>
                    <a:pt x="626716" y="123662"/>
                    <a:pt x="626716" y="123662"/>
                  </a:cubicBezTo>
                  <a:lnTo>
                    <a:pt x="759265" y="128086"/>
                  </a:lnTo>
                  <a:cubicBezTo>
                    <a:pt x="759265" y="128086"/>
                    <a:pt x="764765" y="179017"/>
                    <a:pt x="771579" y="233933"/>
                  </a:cubicBezTo>
                  <a:cubicBezTo>
                    <a:pt x="776960" y="277173"/>
                    <a:pt x="782977" y="376645"/>
                    <a:pt x="704906" y="392865"/>
                  </a:cubicBezTo>
                  <a:cubicBezTo>
                    <a:pt x="661348" y="401911"/>
                    <a:pt x="626955" y="392586"/>
                    <a:pt x="605076" y="382543"/>
                  </a:cubicBezTo>
                  <a:lnTo>
                    <a:pt x="603681" y="399361"/>
                  </a:lnTo>
                  <a:lnTo>
                    <a:pt x="224924" y="399361"/>
                  </a:lnTo>
                  <a:lnTo>
                    <a:pt x="224924" y="326152"/>
                  </a:lnTo>
                  <a:cubicBezTo>
                    <a:pt x="175786" y="366961"/>
                    <a:pt x="63004" y="429569"/>
                    <a:pt x="8964" y="335397"/>
                  </a:cubicBezTo>
                  <a:close/>
                </a:path>
              </a:pathLst>
            </a:custGeom>
            <a:solidFill>
              <a:schemeClr val="tx2">
                <a:lumMod val="40000"/>
                <a:lumOff val="60000"/>
              </a:schemeClr>
            </a:solidFill>
            <a:ln w="3972" cap="flat">
              <a:noFill/>
              <a:prstDash val="solid"/>
              <a:miter/>
            </a:ln>
          </p:spPr>
          <p:txBody>
            <a:bodyPr rtlCol="0" anchor="ctr"/>
            <a:lstStyle/>
            <a:p>
              <a:endParaRPr lang="en-US"/>
            </a:p>
          </p:txBody>
        </p:sp>
        <p:sp>
          <p:nvSpPr>
            <p:cNvPr id="165" name="Freeform: Shape 164">
              <a:extLst>
                <a:ext uri="{FF2B5EF4-FFF2-40B4-BE49-F238E27FC236}">
                  <a16:creationId xmlns:a16="http://schemas.microsoft.com/office/drawing/2014/main" id="{C0C005D5-25EB-4853-A780-B5A8834840AF}"/>
                </a:ext>
              </a:extLst>
            </p:cNvPr>
            <p:cNvSpPr/>
            <p:nvPr/>
          </p:nvSpPr>
          <p:spPr>
            <a:xfrm rot="2700000">
              <a:off x="1788150" y="1937440"/>
              <a:ext cx="62687" cy="62687"/>
            </a:xfrm>
            <a:custGeom>
              <a:avLst/>
              <a:gdLst>
                <a:gd name="connsiteX0" fmla="*/ 56471 w 62687"/>
                <a:gd name="connsiteY0" fmla="*/ 0 h 62687"/>
                <a:gd name="connsiteX1" fmla="*/ 62688 w 62687"/>
                <a:gd name="connsiteY1" fmla="*/ 6217 h 62687"/>
                <a:gd name="connsiteX2" fmla="*/ 62688 w 62687"/>
                <a:gd name="connsiteY2" fmla="*/ 56471 h 62687"/>
                <a:gd name="connsiteX3" fmla="*/ 56471 w 62687"/>
                <a:gd name="connsiteY3" fmla="*/ 62688 h 62687"/>
                <a:gd name="connsiteX4" fmla="*/ 6217 w 62687"/>
                <a:gd name="connsiteY4" fmla="*/ 62688 h 62687"/>
                <a:gd name="connsiteX5" fmla="*/ 0 w 62687"/>
                <a:gd name="connsiteY5" fmla="*/ 56471 h 62687"/>
                <a:gd name="connsiteX6" fmla="*/ 0 w 62687"/>
                <a:gd name="connsiteY6" fmla="*/ 6217 h 62687"/>
                <a:gd name="connsiteX7" fmla="*/ 6217 w 62687"/>
                <a:gd name="connsiteY7" fmla="*/ 0 h 62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687" h="62687">
                  <a:moveTo>
                    <a:pt x="56471" y="0"/>
                  </a:moveTo>
                  <a:cubicBezTo>
                    <a:pt x="59904" y="0"/>
                    <a:pt x="62688" y="2783"/>
                    <a:pt x="62688" y="6217"/>
                  </a:cubicBezTo>
                  <a:lnTo>
                    <a:pt x="62688" y="56471"/>
                  </a:lnTo>
                  <a:cubicBezTo>
                    <a:pt x="62688" y="59904"/>
                    <a:pt x="59904" y="62688"/>
                    <a:pt x="56471" y="62688"/>
                  </a:cubicBezTo>
                  <a:lnTo>
                    <a:pt x="6217" y="62688"/>
                  </a:lnTo>
                  <a:cubicBezTo>
                    <a:pt x="2783" y="62688"/>
                    <a:pt x="0" y="59904"/>
                    <a:pt x="0" y="56471"/>
                  </a:cubicBezTo>
                  <a:lnTo>
                    <a:pt x="0" y="6217"/>
                  </a:lnTo>
                  <a:cubicBezTo>
                    <a:pt x="0" y="2783"/>
                    <a:pt x="2783" y="0"/>
                    <a:pt x="6217" y="0"/>
                  </a:cubicBezTo>
                  <a:close/>
                </a:path>
              </a:pathLst>
            </a:custGeom>
            <a:solidFill>
              <a:schemeClr val="tx2">
                <a:lumMod val="40000"/>
                <a:lumOff val="60000"/>
              </a:schemeClr>
            </a:solidFill>
            <a:ln w="3972" cap="flat">
              <a:no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id="{15AD6CB6-9FCD-4CE6-B763-551A44AB1D58}"/>
                </a:ext>
              </a:extLst>
            </p:cNvPr>
            <p:cNvSpPr/>
            <p:nvPr/>
          </p:nvSpPr>
          <p:spPr>
            <a:xfrm rot="18964200">
              <a:off x="1204857" y="1482530"/>
              <a:ext cx="176307" cy="176306"/>
            </a:xfrm>
            <a:custGeom>
              <a:avLst/>
              <a:gdLst>
                <a:gd name="connsiteX0" fmla="*/ 176307 w 176307"/>
                <a:gd name="connsiteY0" fmla="*/ 88153 h 176306"/>
                <a:gd name="connsiteX1" fmla="*/ 88153 w 176307"/>
                <a:gd name="connsiteY1" fmla="*/ 176307 h 176306"/>
                <a:gd name="connsiteX2" fmla="*/ 0 w 176307"/>
                <a:gd name="connsiteY2" fmla="*/ 88153 h 176306"/>
                <a:gd name="connsiteX3" fmla="*/ 88153 w 176307"/>
                <a:gd name="connsiteY3" fmla="*/ 0 h 176306"/>
                <a:gd name="connsiteX4" fmla="*/ 176307 w 176307"/>
                <a:gd name="connsiteY4" fmla="*/ 88153 h 1763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307" h="176306">
                  <a:moveTo>
                    <a:pt x="176307" y="88153"/>
                  </a:moveTo>
                  <a:cubicBezTo>
                    <a:pt x="176307" y="136839"/>
                    <a:pt x="136839" y="176307"/>
                    <a:pt x="88153" y="176307"/>
                  </a:cubicBezTo>
                  <a:cubicBezTo>
                    <a:pt x="39468" y="176307"/>
                    <a:pt x="0" y="136839"/>
                    <a:pt x="0" y="88153"/>
                  </a:cubicBezTo>
                  <a:cubicBezTo>
                    <a:pt x="0" y="39468"/>
                    <a:pt x="39468" y="0"/>
                    <a:pt x="88153" y="0"/>
                  </a:cubicBezTo>
                  <a:cubicBezTo>
                    <a:pt x="136839" y="0"/>
                    <a:pt x="176307" y="39468"/>
                    <a:pt x="176307" y="88153"/>
                  </a:cubicBezTo>
                  <a:close/>
                </a:path>
              </a:pathLst>
            </a:custGeom>
            <a:solidFill>
              <a:srgbClr val="1D2333"/>
            </a:solidFill>
            <a:ln w="3972"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id="{1ABE18E5-AEE1-4D06-8775-611F92476520}"/>
                </a:ext>
              </a:extLst>
            </p:cNvPr>
            <p:cNvSpPr/>
            <p:nvPr/>
          </p:nvSpPr>
          <p:spPr>
            <a:xfrm>
              <a:off x="1244388" y="1534846"/>
              <a:ext cx="142370" cy="193586"/>
            </a:xfrm>
            <a:custGeom>
              <a:avLst/>
              <a:gdLst>
                <a:gd name="connsiteX0" fmla="*/ 138288 w 142370"/>
                <a:gd name="connsiteY0" fmla="*/ 41471 h 193586"/>
                <a:gd name="connsiteX1" fmla="*/ 131433 w 142370"/>
                <a:gd name="connsiteY1" fmla="*/ 4329 h 193586"/>
                <a:gd name="connsiteX2" fmla="*/ 127767 w 142370"/>
                <a:gd name="connsiteY2" fmla="*/ 6441 h 193586"/>
                <a:gd name="connsiteX3" fmla="*/ 125336 w 142370"/>
                <a:gd name="connsiteY3" fmla="*/ 7756 h 193586"/>
                <a:gd name="connsiteX4" fmla="*/ 100069 w 142370"/>
                <a:gd name="connsiteY4" fmla="*/ 7756 h 193586"/>
                <a:gd name="connsiteX5" fmla="*/ 53442 w 142370"/>
                <a:gd name="connsiteY5" fmla="*/ 5046 h 193586"/>
                <a:gd name="connsiteX6" fmla="*/ 50573 w 142370"/>
                <a:gd name="connsiteY6" fmla="*/ 14212 h 193586"/>
                <a:gd name="connsiteX7" fmla="*/ 43001 w 142370"/>
                <a:gd name="connsiteY7" fmla="*/ 66499 h 193586"/>
                <a:gd name="connsiteX8" fmla="*/ 1833 w 142370"/>
                <a:gd name="connsiteY8" fmla="*/ 109260 h 193586"/>
                <a:gd name="connsiteX9" fmla="*/ 0 w 142370"/>
                <a:gd name="connsiteY9" fmla="*/ 165093 h 193586"/>
                <a:gd name="connsiteX10" fmla="*/ 67311 w 142370"/>
                <a:gd name="connsiteY10" fmla="*/ 193349 h 193586"/>
                <a:gd name="connsiteX11" fmla="*/ 100587 w 142370"/>
                <a:gd name="connsiteY11" fmla="*/ 170154 h 193586"/>
                <a:gd name="connsiteX12" fmla="*/ 100269 w 142370"/>
                <a:gd name="connsiteY12" fmla="*/ 144131 h 193586"/>
                <a:gd name="connsiteX13" fmla="*/ 138288 w 142370"/>
                <a:gd name="connsiteY13" fmla="*/ 41471 h 193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2370" h="193586">
                  <a:moveTo>
                    <a:pt x="138288" y="41471"/>
                  </a:moveTo>
                  <a:cubicBezTo>
                    <a:pt x="137013" y="21864"/>
                    <a:pt x="134821" y="10625"/>
                    <a:pt x="131433" y="4329"/>
                  </a:cubicBezTo>
                  <a:cubicBezTo>
                    <a:pt x="130278" y="5166"/>
                    <a:pt x="129042" y="5843"/>
                    <a:pt x="127767" y="6441"/>
                  </a:cubicBezTo>
                  <a:cubicBezTo>
                    <a:pt x="127010" y="6959"/>
                    <a:pt x="126213" y="7397"/>
                    <a:pt x="125336" y="7756"/>
                  </a:cubicBezTo>
                  <a:cubicBezTo>
                    <a:pt x="119478" y="10107"/>
                    <a:pt x="110989" y="11423"/>
                    <a:pt x="100069" y="7756"/>
                  </a:cubicBezTo>
                  <a:cubicBezTo>
                    <a:pt x="80223" y="1180"/>
                    <a:pt x="63764" y="-4439"/>
                    <a:pt x="53442" y="5046"/>
                  </a:cubicBezTo>
                  <a:cubicBezTo>
                    <a:pt x="50931" y="7358"/>
                    <a:pt x="49895" y="10865"/>
                    <a:pt x="50573" y="14212"/>
                  </a:cubicBezTo>
                  <a:cubicBezTo>
                    <a:pt x="52605" y="24574"/>
                    <a:pt x="56032" y="50757"/>
                    <a:pt x="43001" y="66499"/>
                  </a:cubicBezTo>
                  <a:cubicBezTo>
                    <a:pt x="43001" y="66499"/>
                    <a:pt x="27777" y="100373"/>
                    <a:pt x="1833" y="109260"/>
                  </a:cubicBezTo>
                  <a:cubicBezTo>
                    <a:pt x="996" y="135762"/>
                    <a:pt x="0" y="165093"/>
                    <a:pt x="0" y="165093"/>
                  </a:cubicBezTo>
                  <a:cubicBezTo>
                    <a:pt x="0" y="165093"/>
                    <a:pt x="27140" y="196616"/>
                    <a:pt x="67311" y="193349"/>
                  </a:cubicBezTo>
                  <a:cubicBezTo>
                    <a:pt x="107482" y="190081"/>
                    <a:pt x="100587" y="170154"/>
                    <a:pt x="100587" y="170154"/>
                  </a:cubicBezTo>
                  <a:lnTo>
                    <a:pt x="100269" y="144131"/>
                  </a:lnTo>
                  <a:cubicBezTo>
                    <a:pt x="154587" y="137595"/>
                    <a:pt x="142353" y="103920"/>
                    <a:pt x="138288" y="41471"/>
                  </a:cubicBezTo>
                  <a:close/>
                </a:path>
              </a:pathLst>
            </a:custGeom>
            <a:solidFill>
              <a:srgbClr val="FFBEBB"/>
            </a:solidFill>
            <a:ln w="3972" cap="flat">
              <a:no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id="{485DB17D-CEA3-440C-9A7B-0DD4317149B4}"/>
                </a:ext>
              </a:extLst>
            </p:cNvPr>
            <p:cNvSpPr/>
            <p:nvPr/>
          </p:nvSpPr>
          <p:spPr>
            <a:xfrm>
              <a:off x="1297221" y="1673108"/>
              <a:ext cx="48226" cy="47793"/>
            </a:xfrm>
            <a:custGeom>
              <a:avLst/>
              <a:gdLst>
                <a:gd name="connsiteX0" fmla="*/ 609 w 48226"/>
                <a:gd name="connsiteY0" fmla="*/ 3877 h 47793"/>
                <a:gd name="connsiteX1" fmla="*/ 40660 w 48226"/>
                <a:gd name="connsiteY1" fmla="*/ 47794 h 47793"/>
                <a:gd name="connsiteX2" fmla="*/ 47794 w 48226"/>
                <a:gd name="connsiteY2" fmla="*/ 31853 h 47793"/>
                <a:gd name="connsiteX3" fmla="*/ 47475 w 48226"/>
                <a:gd name="connsiteY3" fmla="*/ 5829 h 47793"/>
                <a:gd name="connsiteX4" fmla="*/ 3040 w 48226"/>
                <a:gd name="connsiteY4" fmla="*/ 130 h 47793"/>
                <a:gd name="connsiteX5" fmla="*/ 609 w 48226"/>
                <a:gd name="connsiteY5" fmla="*/ 3837 h 47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226" h="47793">
                  <a:moveTo>
                    <a:pt x="609" y="3877"/>
                  </a:moveTo>
                  <a:lnTo>
                    <a:pt x="40660" y="47794"/>
                  </a:lnTo>
                  <a:cubicBezTo>
                    <a:pt x="50862" y="40899"/>
                    <a:pt x="47794" y="31853"/>
                    <a:pt x="47794" y="31853"/>
                  </a:cubicBezTo>
                  <a:lnTo>
                    <a:pt x="47475" y="5829"/>
                  </a:lnTo>
                  <a:cubicBezTo>
                    <a:pt x="47475" y="5829"/>
                    <a:pt x="21133" y="6148"/>
                    <a:pt x="3040" y="130"/>
                  </a:cubicBezTo>
                  <a:cubicBezTo>
                    <a:pt x="808" y="-627"/>
                    <a:pt x="-986" y="2083"/>
                    <a:pt x="609" y="3837"/>
                  </a:cubicBezTo>
                  <a:close/>
                </a:path>
              </a:pathLst>
            </a:custGeom>
            <a:solidFill>
              <a:srgbClr val="F47C73"/>
            </a:solidFill>
            <a:ln w="3972" cap="flat">
              <a:no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id="{92B0F099-70A2-4AB9-8BE8-03B82EACF0E7}"/>
                </a:ext>
              </a:extLst>
            </p:cNvPr>
            <p:cNvSpPr/>
            <p:nvPr/>
          </p:nvSpPr>
          <p:spPr>
            <a:xfrm>
              <a:off x="1327370" y="1586173"/>
              <a:ext cx="5959" cy="11425"/>
            </a:xfrm>
            <a:custGeom>
              <a:avLst/>
              <a:gdLst>
                <a:gd name="connsiteX0" fmla="*/ 5928 w 5959"/>
                <a:gd name="connsiteY0" fmla="*/ 6802 h 11425"/>
                <a:gd name="connsiteX1" fmla="*/ 5769 w 5959"/>
                <a:gd name="connsiteY1" fmla="*/ 2737 h 11425"/>
                <a:gd name="connsiteX2" fmla="*/ 5171 w 5959"/>
                <a:gd name="connsiteY2" fmla="*/ 1024 h 11425"/>
                <a:gd name="connsiteX3" fmla="*/ 429 w 5959"/>
                <a:gd name="connsiteY3" fmla="*/ 1582 h 11425"/>
                <a:gd name="connsiteX4" fmla="*/ 70 w 5959"/>
                <a:gd name="connsiteY4" fmla="*/ 5128 h 11425"/>
                <a:gd name="connsiteX5" fmla="*/ 947 w 5959"/>
                <a:gd name="connsiteY5" fmla="*/ 10389 h 11425"/>
                <a:gd name="connsiteX6" fmla="*/ 2940 w 5959"/>
                <a:gd name="connsiteY6" fmla="*/ 11425 h 11425"/>
                <a:gd name="connsiteX7" fmla="*/ 5769 w 5959"/>
                <a:gd name="connsiteY7" fmla="*/ 8356 h 11425"/>
                <a:gd name="connsiteX8" fmla="*/ 5928 w 5959"/>
                <a:gd name="connsiteY8" fmla="*/ 6842 h 11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59" h="11425">
                  <a:moveTo>
                    <a:pt x="5928" y="6802"/>
                  </a:moveTo>
                  <a:cubicBezTo>
                    <a:pt x="6008" y="5447"/>
                    <a:pt x="5928" y="4013"/>
                    <a:pt x="5769" y="2737"/>
                  </a:cubicBezTo>
                  <a:cubicBezTo>
                    <a:pt x="5689" y="2139"/>
                    <a:pt x="5570" y="1502"/>
                    <a:pt x="5171" y="1024"/>
                  </a:cubicBezTo>
                  <a:cubicBezTo>
                    <a:pt x="4016" y="-531"/>
                    <a:pt x="947" y="-292"/>
                    <a:pt x="429" y="1582"/>
                  </a:cubicBezTo>
                  <a:cubicBezTo>
                    <a:pt x="110" y="2737"/>
                    <a:pt x="30" y="3933"/>
                    <a:pt x="70" y="5128"/>
                  </a:cubicBezTo>
                  <a:cubicBezTo>
                    <a:pt x="70" y="6962"/>
                    <a:pt x="-368" y="8795"/>
                    <a:pt x="947" y="10389"/>
                  </a:cubicBezTo>
                  <a:cubicBezTo>
                    <a:pt x="1425" y="10947"/>
                    <a:pt x="2142" y="11425"/>
                    <a:pt x="2940" y="11425"/>
                  </a:cubicBezTo>
                  <a:cubicBezTo>
                    <a:pt x="4813" y="11425"/>
                    <a:pt x="5570" y="9711"/>
                    <a:pt x="5769" y="8356"/>
                  </a:cubicBezTo>
                  <a:cubicBezTo>
                    <a:pt x="5849" y="7878"/>
                    <a:pt x="5889" y="7360"/>
                    <a:pt x="5928" y="6842"/>
                  </a:cubicBezTo>
                  <a:close/>
                </a:path>
              </a:pathLst>
            </a:custGeom>
            <a:solidFill>
              <a:srgbClr val="1D2333"/>
            </a:solidFill>
            <a:ln w="3972" cap="flat">
              <a:no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id="{239A9F7B-0660-459B-8735-24EE8CB3AE71}"/>
                </a:ext>
              </a:extLst>
            </p:cNvPr>
            <p:cNvSpPr/>
            <p:nvPr/>
          </p:nvSpPr>
          <p:spPr>
            <a:xfrm>
              <a:off x="1372682" y="1586173"/>
              <a:ext cx="5959" cy="11425"/>
            </a:xfrm>
            <a:custGeom>
              <a:avLst/>
              <a:gdLst>
                <a:gd name="connsiteX0" fmla="*/ 5928 w 5959"/>
                <a:gd name="connsiteY0" fmla="*/ 6802 h 11425"/>
                <a:gd name="connsiteX1" fmla="*/ 5769 w 5959"/>
                <a:gd name="connsiteY1" fmla="*/ 2737 h 11425"/>
                <a:gd name="connsiteX2" fmla="*/ 5171 w 5959"/>
                <a:gd name="connsiteY2" fmla="*/ 1024 h 11425"/>
                <a:gd name="connsiteX3" fmla="*/ 429 w 5959"/>
                <a:gd name="connsiteY3" fmla="*/ 1582 h 11425"/>
                <a:gd name="connsiteX4" fmla="*/ 70 w 5959"/>
                <a:gd name="connsiteY4" fmla="*/ 5128 h 11425"/>
                <a:gd name="connsiteX5" fmla="*/ 947 w 5959"/>
                <a:gd name="connsiteY5" fmla="*/ 10389 h 11425"/>
                <a:gd name="connsiteX6" fmla="*/ 2940 w 5959"/>
                <a:gd name="connsiteY6" fmla="*/ 11425 h 11425"/>
                <a:gd name="connsiteX7" fmla="*/ 5769 w 5959"/>
                <a:gd name="connsiteY7" fmla="*/ 8356 h 11425"/>
                <a:gd name="connsiteX8" fmla="*/ 5928 w 5959"/>
                <a:gd name="connsiteY8" fmla="*/ 6842 h 11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59" h="11425">
                  <a:moveTo>
                    <a:pt x="5928" y="6802"/>
                  </a:moveTo>
                  <a:cubicBezTo>
                    <a:pt x="6008" y="5447"/>
                    <a:pt x="5928" y="4013"/>
                    <a:pt x="5769" y="2737"/>
                  </a:cubicBezTo>
                  <a:cubicBezTo>
                    <a:pt x="5689" y="2139"/>
                    <a:pt x="5570" y="1502"/>
                    <a:pt x="5171" y="1024"/>
                  </a:cubicBezTo>
                  <a:cubicBezTo>
                    <a:pt x="4016" y="-531"/>
                    <a:pt x="947" y="-292"/>
                    <a:pt x="429" y="1582"/>
                  </a:cubicBezTo>
                  <a:cubicBezTo>
                    <a:pt x="110" y="2737"/>
                    <a:pt x="30" y="3933"/>
                    <a:pt x="70" y="5128"/>
                  </a:cubicBezTo>
                  <a:cubicBezTo>
                    <a:pt x="70" y="6962"/>
                    <a:pt x="-368" y="8795"/>
                    <a:pt x="947" y="10389"/>
                  </a:cubicBezTo>
                  <a:cubicBezTo>
                    <a:pt x="1425" y="10947"/>
                    <a:pt x="2142" y="11425"/>
                    <a:pt x="2940" y="11425"/>
                  </a:cubicBezTo>
                  <a:cubicBezTo>
                    <a:pt x="4813" y="11425"/>
                    <a:pt x="5570" y="9711"/>
                    <a:pt x="5769" y="8356"/>
                  </a:cubicBezTo>
                  <a:cubicBezTo>
                    <a:pt x="5849" y="7878"/>
                    <a:pt x="5889" y="7360"/>
                    <a:pt x="5928" y="6842"/>
                  </a:cubicBezTo>
                  <a:close/>
                </a:path>
              </a:pathLst>
            </a:custGeom>
            <a:solidFill>
              <a:srgbClr val="1D2333"/>
            </a:solidFill>
            <a:ln w="3972" cap="flat">
              <a:noFill/>
              <a:prstDash val="solid"/>
              <a:miter/>
            </a:ln>
          </p:spPr>
          <p:txBody>
            <a:bodyPr rtlCol="0" anchor="ctr"/>
            <a:lstStyle/>
            <a:p>
              <a:endParaRPr lang="en-US"/>
            </a:p>
          </p:txBody>
        </p:sp>
        <p:sp>
          <p:nvSpPr>
            <p:cNvPr id="178" name="Freeform: Shape 177">
              <a:extLst>
                <a:ext uri="{FF2B5EF4-FFF2-40B4-BE49-F238E27FC236}">
                  <a16:creationId xmlns:a16="http://schemas.microsoft.com/office/drawing/2014/main" id="{F47CFE44-84EB-418C-9301-34074C28520B}"/>
                </a:ext>
              </a:extLst>
            </p:cNvPr>
            <p:cNvSpPr/>
            <p:nvPr/>
          </p:nvSpPr>
          <p:spPr>
            <a:xfrm>
              <a:off x="1304759" y="1606241"/>
              <a:ext cx="24878" cy="24878"/>
            </a:xfrm>
            <a:custGeom>
              <a:avLst/>
              <a:gdLst>
                <a:gd name="connsiteX0" fmla="*/ 12081 w 24878"/>
                <a:gd name="connsiteY0" fmla="*/ 24873 h 24878"/>
                <a:gd name="connsiteX1" fmla="*/ 24873 w 24878"/>
                <a:gd name="connsiteY1" fmla="*/ 12798 h 24878"/>
                <a:gd name="connsiteX2" fmla="*/ 12798 w 24878"/>
                <a:gd name="connsiteY2" fmla="*/ 5 h 24878"/>
                <a:gd name="connsiteX3" fmla="*/ 5 w 24878"/>
                <a:gd name="connsiteY3" fmla="*/ 12081 h 24878"/>
                <a:gd name="connsiteX4" fmla="*/ 12081 w 24878"/>
                <a:gd name="connsiteY4" fmla="*/ 24873 h 24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78" h="24878">
                  <a:moveTo>
                    <a:pt x="12081" y="24873"/>
                  </a:moveTo>
                  <a:cubicBezTo>
                    <a:pt x="18935" y="25073"/>
                    <a:pt x="24674" y="19692"/>
                    <a:pt x="24873" y="12798"/>
                  </a:cubicBezTo>
                  <a:cubicBezTo>
                    <a:pt x="25073" y="5943"/>
                    <a:pt x="19692" y="205"/>
                    <a:pt x="12798" y="5"/>
                  </a:cubicBezTo>
                  <a:cubicBezTo>
                    <a:pt x="5943" y="-194"/>
                    <a:pt x="205" y="5186"/>
                    <a:pt x="5" y="12081"/>
                  </a:cubicBezTo>
                  <a:cubicBezTo>
                    <a:pt x="-194" y="18935"/>
                    <a:pt x="5186" y="24674"/>
                    <a:pt x="12081" y="24873"/>
                  </a:cubicBezTo>
                  <a:close/>
                </a:path>
              </a:pathLst>
            </a:custGeom>
            <a:solidFill>
              <a:srgbClr val="F47C73"/>
            </a:solidFill>
            <a:ln w="3972" cap="flat">
              <a:noFill/>
              <a:prstDash val="solid"/>
              <a:miter/>
            </a:ln>
          </p:spPr>
          <p:txBody>
            <a:bodyPr rtlCol="0" anchor="ctr"/>
            <a:lstStyle/>
            <a:p>
              <a:endParaRPr lang="en-US"/>
            </a:p>
          </p:txBody>
        </p:sp>
        <p:sp>
          <p:nvSpPr>
            <p:cNvPr id="237" name="Freeform: Shape 236">
              <a:extLst>
                <a:ext uri="{FF2B5EF4-FFF2-40B4-BE49-F238E27FC236}">
                  <a16:creationId xmlns:a16="http://schemas.microsoft.com/office/drawing/2014/main" id="{81A143EB-CB42-4819-9507-929098F0BE40}"/>
                </a:ext>
              </a:extLst>
            </p:cNvPr>
            <p:cNvSpPr/>
            <p:nvPr/>
          </p:nvSpPr>
          <p:spPr>
            <a:xfrm>
              <a:off x="1377090" y="1604453"/>
              <a:ext cx="9571" cy="23712"/>
            </a:xfrm>
            <a:custGeom>
              <a:avLst/>
              <a:gdLst>
                <a:gd name="connsiteX0" fmla="*/ 7898 w 9571"/>
                <a:gd name="connsiteY0" fmla="*/ 40 h 23712"/>
                <a:gd name="connsiteX1" fmla="*/ 7 w 9571"/>
                <a:gd name="connsiteY1" fmla="*/ 11238 h 23712"/>
                <a:gd name="connsiteX2" fmla="*/ 9571 w 9571"/>
                <a:gd name="connsiteY2" fmla="*/ 23712 h 23712"/>
                <a:gd name="connsiteX3" fmla="*/ 7898 w 9571"/>
                <a:gd name="connsiteY3" fmla="*/ 0 h 23712"/>
              </a:gdLst>
              <a:ahLst/>
              <a:cxnLst>
                <a:cxn ang="0">
                  <a:pos x="connsiteX0" y="connsiteY0"/>
                </a:cxn>
                <a:cxn ang="0">
                  <a:pos x="connsiteX1" y="connsiteY1"/>
                </a:cxn>
                <a:cxn ang="0">
                  <a:pos x="connsiteX2" y="connsiteY2"/>
                </a:cxn>
                <a:cxn ang="0">
                  <a:pos x="connsiteX3" y="connsiteY3"/>
                </a:cxn>
              </a:cxnLst>
              <a:rect l="l" t="t" r="r" b="b"/>
              <a:pathLst>
                <a:path w="9571" h="23712">
                  <a:moveTo>
                    <a:pt x="7898" y="40"/>
                  </a:moveTo>
                  <a:cubicBezTo>
                    <a:pt x="3394" y="1793"/>
                    <a:pt x="166" y="6097"/>
                    <a:pt x="7" y="11238"/>
                  </a:cubicBezTo>
                  <a:cubicBezTo>
                    <a:pt x="-192" y="17256"/>
                    <a:pt x="3952" y="22397"/>
                    <a:pt x="9571" y="23712"/>
                  </a:cubicBezTo>
                  <a:cubicBezTo>
                    <a:pt x="9332" y="16579"/>
                    <a:pt x="8655" y="8648"/>
                    <a:pt x="7898" y="0"/>
                  </a:cubicBezTo>
                  <a:close/>
                </a:path>
              </a:pathLst>
            </a:custGeom>
            <a:solidFill>
              <a:srgbClr val="F47C73"/>
            </a:solidFill>
            <a:ln w="3972" cap="flat">
              <a:noFill/>
              <a:prstDash val="solid"/>
              <a:miter/>
            </a:ln>
          </p:spPr>
          <p:txBody>
            <a:bodyPr rtlCol="0" anchor="ctr"/>
            <a:lstStyle/>
            <a:p>
              <a:endParaRPr lang="en-US"/>
            </a:p>
          </p:txBody>
        </p:sp>
        <p:sp>
          <p:nvSpPr>
            <p:cNvPr id="238" name="Freeform: Shape 237">
              <a:extLst>
                <a:ext uri="{FF2B5EF4-FFF2-40B4-BE49-F238E27FC236}">
                  <a16:creationId xmlns:a16="http://schemas.microsoft.com/office/drawing/2014/main" id="{2206ECE6-8083-4153-B407-1A8CB909EAD1}"/>
                </a:ext>
              </a:extLst>
            </p:cNvPr>
            <p:cNvSpPr/>
            <p:nvPr/>
          </p:nvSpPr>
          <p:spPr>
            <a:xfrm>
              <a:off x="1296276" y="1562568"/>
              <a:ext cx="59180" cy="59140"/>
            </a:xfrm>
            <a:custGeom>
              <a:avLst/>
              <a:gdLst>
                <a:gd name="connsiteX0" fmla="*/ 29570 w 59180"/>
                <a:gd name="connsiteY0" fmla="*/ 59141 h 59140"/>
                <a:gd name="connsiteX1" fmla="*/ 0 w 59180"/>
                <a:gd name="connsiteY1" fmla="*/ 29570 h 59140"/>
                <a:gd name="connsiteX2" fmla="*/ 29570 w 59180"/>
                <a:gd name="connsiteY2" fmla="*/ 0 h 59140"/>
                <a:gd name="connsiteX3" fmla="*/ 59181 w 59180"/>
                <a:gd name="connsiteY3" fmla="*/ 29570 h 59140"/>
                <a:gd name="connsiteX4" fmla="*/ 29570 w 59180"/>
                <a:gd name="connsiteY4" fmla="*/ 59141 h 59140"/>
                <a:gd name="connsiteX5" fmla="*/ 29570 w 59180"/>
                <a:gd name="connsiteY5" fmla="*/ 6018 h 59140"/>
                <a:gd name="connsiteX6" fmla="*/ 6058 w 59180"/>
                <a:gd name="connsiteY6" fmla="*/ 29531 h 59140"/>
                <a:gd name="connsiteX7" fmla="*/ 29570 w 59180"/>
                <a:gd name="connsiteY7" fmla="*/ 53043 h 59140"/>
                <a:gd name="connsiteX8" fmla="*/ 53083 w 59180"/>
                <a:gd name="connsiteY8" fmla="*/ 29531 h 59140"/>
                <a:gd name="connsiteX9" fmla="*/ 29570 w 59180"/>
                <a:gd name="connsiteY9" fmla="*/ 6018 h 5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180" h="59140">
                  <a:moveTo>
                    <a:pt x="29570" y="59141"/>
                  </a:moveTo>
                  <a:cubicBezTo>
                    <a:pt x="13271" y="59141"/>
                    <a:pt x="0" y="45870"/>
                    <a:pt x="0" y="29570"/>
                  </a:cubicBezTo>
                  <a:cubicBezTo>
                    <a:pt x="0" y="13271"/>
                    <a:pt x="13271" y="0"/>
                    <a:pt x="29570" y="0"/>
                  </a:cubicBezTo>
                  <a:cubicBezTo>
                    <a:pt x="45870" y="0"/>
                    <a:pt x="59181" y="13271"/>
                    <a:pt x="59181" y="29570"/>
                  </a:cubicBezTo>
                  <a:cubicBezTo>
                    <a:pt x="59181" y="45870"/>
                    <a:pt x="45910" y="59141"/>
                    <a:pt x="29570" y="59141"/>
                  </a:cubicBezTo>
                  <a:close/>
                  <a:moveTo>
                    <a:pt x="29570" y="6018"/>
                  </a:moveTo>
                  <a:cubicBezTo>
                    <a:pt x="16579" y="6018"/>
                    <a:pt x="6058" y="16579"/>
                    <a:pt x="6058" y="29531"/>
                  </a:cubicBezTo>
                  <a:cubicBezTo>
                    <a:pt x="6058" y="42483"/>
                    <a:pt x="16618" y="53043"/>
                    <a:pt x="29570" y="53043"/>
                  </a:cubicBezTo>
                  <a:cubicBezTo>
                    <a:pt x="42523" y="53043"/>
                    <a:pt x="53083" y="42483"/>
                    <a:pt x="53083" y="29531"/>
                  </a:cubicBezTo>
                  <a:cubicBezTo>
                    <a:pt x="53083" y="16579"/>
                    <a:pt x="42523" y="6018"/>
                    <a:pt x="29570" y="6018"/>
                  </a:cubicBezTo>
                  <a:close/>
                </a:path>
              </a:pathLst>
            </a:custGeom>
            <a:solidFill>
              <a:schemeClr val="accent6"/>
            </a:solidFill>
            <a:ln w="3972" cap="flat">
              <a:no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id="{A2372B45-3D4A-4D51-9936-0EDB67FFA2FD}"/>
                </a:ext>
              </a:extLst>
            </p:cNvPr>
            <p:cNvSpPr/>
            <p:nvPr/>
          </p:nvSpPr>
          <p:spPr>
            <a:xfrm>
              <a:off x="1361195" y="1562568"/>
              <a:ext cx="59180" cy="59140"/>
            </a:xfrm>
            <a:custGeom>
              <a:avLst/>
              <a:gdLst>
                <a:gd name="connsiteX0" fmla="*/ 29570 w 59180"/>
                <a:gd name="connsiteY0" fmla="*/ 59141 h 59140"/>
                <a:gd name="connsiteX1" fmla="*/ 0 w 59180"/>
                <a:gd name="connsiteY1" fmla="*/ 29570 h 59140"/>
                <a:gd name="connsiteX2" fmla="*/ 29570 w 59180"/>
                <a:gd name="connsiteY2" fmla="*/ 0 h 59140"/>
                <a:gd name="connsiteX3" fmla="*/ 59181 w 59180"/>
                <a:gd name="connsiteY3" fmla="*/ 29570 h 59140"/>
                <a:gd name="connsiteX4" fmla="*/ 29570 w 59180"/>
                <a:gd name="connsiteY4" fmla="*/ 59141 h 59140"/>
                <a:gd name="connsiteX5" fmla="*/ 29570 w 59180"/>
                <a:gd name="connsiteY5" fmla="*/ 6018 h 59140"/>
                <a:gd name="connsiteX6" fmla="*/ 6058 w 59180"/>
                <a:gd name="connsiteY6" fmla="*/ 29531 h 59140"/>
                <a:gd name="connsiteX7" fmla="*/ 29570 w 59180"/>
                <a:gd name="connsiteY7" fmla="*/ 53043 h 59140"/>
                <a:gd name="connsiteX8" fmla="*/ 53083 w 59180"/>
                <a:gd name="connsiteY8" fmla="*/ 29531 h 59140"/>
                <a:gd name="connsiteX9" fmla="*/ 29570 w 59180"/>
                <a:gd name="connsiteY9" fmla="*/ 6018 h 5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180" h="59140">
                  <a:moveTo>
                    <a:pt x="29570" y="59141"/>
                  </a:moveTo>
                  <a:cubicBezTo>
                    <a:pt x="13271" y="59141"/>
                    <a:pt x="0" y="45870"/>
                    <a:pt x="0" y="29570"/>
                  </a:cubicBezTo>
                  <a:cubicBezTo>
                    <a:pt x="0" y="13271"/>
                    <a:pt x="13271" y="0"/>
                    <a:pt x="29570" y="0"/>
                  </a:cubicBezTo>
                  <a:cubicBezTo>
                    <a:pt x="45870" y="0"/>
                    <a:pt x="59181" y="13271"/>
                    <a:pt x="59181" y="29570"/>
                  </a:cubicBezTo>
                  <a:cubicBezTo>
                    <a:pt x="59181" y="45870"/>
                    <a:pt x="45910" y="59141"/>
                    <a:pt x="29570" y="59141"/>
                  </a:cubicBezTo>
                  <a:close/>
                  <a:moveTo>
                    <a:pt x="29570" y="6018"/>
                  </a:moveTo>
                  <a:cubicBezTo>
                    <a:pt x="16579" y="6018"/>
                    <a:pt x="6058" y="16579"/>
                    <a:pt x="6058" y="29531"/>
                  </a:cubicBezTo>
                  <a:cubicBezTo>
                    <a:pt x="6058" y="42483"/>
                    <a:pt x="16618" y="53043"/>
                    <a:pt x="29570" y="53043"/>
                  </a:cubicBezTo>
                  <a:cubicBezTo>
                    <a:pt x="42522" y="53043"/>
                    <a:pt x="53083" y="42483"/>
                    <a:pt x="53083" y="29531"/>
                  </a:cubicBezTo>
                  <a:cubicBezTo>
                    <a:pt x="53083" y="16579"/>
                    <a:pt x="42522" y="6018"/>
                    <a:pt x="29570" y="6018"/>
                  </a:cubicBezTo>
                  <a:close/>
                </a:path>
              </a:pathLst>
            </a:custGeom>
            <a:solidFill>
              <a:schemeClr val="accent6"/>
            </a:solidFill>
            <a:ln w="3972" cap="flat">
              <a:noFill/>
              <a:prstDash val="solid"/>
              <a:miter/>
            </a:ln>
          </p:spPr>
          <p:txBody>
            <a:bodyPr rtlCol="0" anchor="ctr"/>
            <a:lstStyle/>
            <a:p>
              <a:endParaRPr lang="en-US"/>
            </a:p>
          </p:txBody>
        </p:sp>
        <p:sp>
          <p:nvSpPr>
            <p:cNvPr id="240" name="Freeform: Shape 239">
              <a:extLst>
                <a:ext uri="{FF2B5EF4-FFF2-40B4-BE49-F238E27FC236}">
                  <a16:creationId xmlns:a16="http://schemas.microsoft.com/office/drawing/2014/main" id="{2F3E4B6D-08E9-4E59-9993-066347EC3C89}"/>
                </a:ext>
              </a:extLst>
            </p:cNvPr>
            <p:cNvSpPr/>
            <p:nvPr/>
          </p:nvSpPr>
          <p:spPr>
            <a:xfrm>
              <a:off x="1355775" y="1581857"/>
              <a:ext cx="16026" cy="43598"/>
            </a:xfrm>
            <a:custGeom>
              <a:avLst/>
              <a:gdLst>
                <a:gd name="connsiteX0" fmla="*/ 8409 w 16026"/>
                <a:gd name="connsiteY0" fmla="*/ 43519 h 43598"/>
                <a:gd name="connsiteX1" fmla="*/ 6257 w 16026"/>
                <a:gd name="connsiteY1" fmla="*/ 42602 h 43598"/>
                <a:gd name="connsiteX2" fmla="*/ 6297 w 16026"/>
                <a:gd name="connsiteY2" fmla="*/ 38338 h 43598"/>
                <a:gd name="connsiteX3" fmla="*/ 9963 w 16026"/>
                <a:gd name="connsiteY3" fmla="*/ 30049 h 43598"/>
                <a:gd name="connsiteX4" fmla="*/ 1036 w 16026"/>
                <a:gd name="connsiteY4" fmla="*/ 14227 h 43598"/>
                <a:gd name="connsiteX5" fmla="*/ 0 w 16026"/>
                <a:gd name="connsiteY5" fmla="*/ 11956 h 43598"/>
                <a:gd name="connsiteX6" fmla="*/ 0 w 16026"/>
                <a:gd name="connsiteY6" fmla="*/ 3029 h 43598"/>
                <a:gd name="connsiteX7" fmla="*/ 3029 w 16026"/>
                <a:gd name="connsiteY7" fmla="*/ 0 h 43598"/>
                <a:gd name="connsiteX8" fmla="*/ 6058 w 16026"/>
                <a:gd name="connsiteY8" fmla="*/ 3029 h 43598"/>
                <a:gd name="connsiteX9" fmla="*/ 6058 w 16026"/>
                <a:gd name="connsiteY9" fmla="*/ 10680 h 43598"/>
                <a:gd name="connsiteX10" fmla="*/ 16021 w 16026"/>
                <a:gd name="connsiteY10" fmla="*/ 29929 h 43598"/>
                <a:gd name="connsiteX11" fmla="*/ 10561 w 16026"/>
                <a:gd name="connsiteY11" fmla="*/ 42722 h 43598"/>
                <a:gd name="connsiteX12" fmla="*/ 8449 w 16026"/>
                <a:gd name="connsiteY12" fmla="*/ 43598 h 43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026" h="43598">
                  <a:moveTo>
                    <a:pt x="8409" y="43519"/>
                  </a:moveTo>
                  <a:cubicBezTo>
                    <a:pt x="7612" y="43519"/>
                    <a:pt x="6855" y="43200"/>
                    <a:pt x="6257" y="42602"/>
                  </a:cubicBezTo>
                  <a:cubicBezTo>
                    <a:pt x="5101" y="41407"/>
                    <a:pt x="5101" y="39494"/>
                    <a:pt x="6297" y="38338"/>
                  </a:cubicBezTo>
                  <a:cubicBezTo>
                    <a:pt x="8847" y="35867"/>
                    <a:pt x="10043" y="33157"/>
                    <a:pt x="9963" y="30049"/>
                  </a:cubicBezTo>
                  <a:cubicBezTo>
                    <a:pt x="9804" y="23353"/>
                    <a:pt x="3467" y="16339"/>
                    <a:pt x="1036" y="14227"/>
                  </a:cubicBezTo>
                  <a:cubicBezTo>
                    <a:pt x="399" y="13669"/>
                    <a:pt x="0" y="12832"/>
                    <a:pt x="0" y="11956"/>
                  </a:cubicBezTo>
                  <a:lnTo>
                    <a:pt x="0" y="3029"/>
                  </a:lnTo>
                  <a:cubicBezTo>
                    <a:pt x="0" y="1355"/>
                    <a:pt x="1355" y="0"/>
                    <a:pt x="3029" y="0"/>
                  </a:cubicBezTo>
                  <a:cubicBezTo>
                    <a:pt x="4703" y="0"/>
                    <a:pt x="6058" y="1355"/>
                    <a:pt x="6058" y="3029"/>
                  </a:cubicBezTo>
                  <a:lnTo>
                    <a:pt x="6058" y="10680"/>
                  </a:lnTo>
                  <a:cubicBezTo>
                    <a:pt x="8768" y="13351"/>
                    <a:pt x="15782" y="21122"/>
                    <a:pt x="16021" y="29929"/>
                  </a:cubicBezTo>
                  <a:cubicBezTo>
                    <a:pt x="16140" y="34711"/>
                    <a:pt x="14307" y="39015"/>
                    <a:pt x="10561" y="42722"/>
                  </a:cubicBezTo>
                  <a:cubicBezTo>
                    <a:pt x="9963" y="43320"/>
                    <a:pt x="9206" y="43598"/>
                    <a:pt x="8449" y="43598"/>
                  </a:cubicBezTo>
                  <a:close/>
                </a:path>
              </a:pathLst>
            </a:custGeom>
            <a:solidFill>
              <a:srgbClr val="F47C73"/>
            </a:solidFill>
            <a:ln w="3972" cap="flat">
              <a:noFill/>
              <a:prstDash val="solid"/>
              <a:miter/>
            </a:ln>
          </p:spPr>
          <p:txBody>
            <a:bodyPr rtlCol="0" anchor="ctr"/>
            <a:lstStyle/>
            <a:p>
              <a:endParaRPr lang="en-US"/>
            </a:p>
          </p:txBody>
        </p:sp>
        <p:sp>
          <p:nvSpPr>
            <p:cNvPr id="241" name="Freeform: Shape 240">
              <a:extLst>
                <a:ext uri="{FF2B5EF4-FFF2-40B4-BE49-F238E27FC236}">
                  <a16:creationId xmlns:a16="http://schemas.microsoft.com/office/drawing/2014/main" id="{0C636234-2D3E-4C06-A367-4DD1E55047C9}"/>
                </a:ext>
              </a:extLst>
            </p:cNvPr>
            <p:cNvSpPr/>
            <p:nvPr/>
          </p:nvSpPr>
          <p:spPr>
            <a:xfrm>
              <a:off x="1349359" y="1588034"/>
              <a:ext cx="17574" cy="6057"/>
            </a:xfrm>
            <a:custGeom>
              <a:avLst/>
              <a:gdLst>
                <a:gd name="connsiteX0" fmla="*/ 14546 w 17574"/>
                <a:gd name="connsiteY0" fmla="*/ 6058 h 6057"/>
                <a:gd name="connsiteX1" fmla="*/ 3029 w 17574"/>
                <a:gd name="connsiteY1" fmla="*/ 6058 h 6057"/>
                <a:gd name="connsiteX2" fmla="*/ 0 w 17574"/>
                <a:gd name="connsiteY2" fmla="*/ 3029 h 6057"/>
                <a:gd name="connsiteX3" fmla="*/ 3029 w 17574"/>
                <a:gd name="connsiteY3" fmla="*/ 0 h 6057"/>
                <a:gd name="connsiteX4" fmla="*/ 14546 w 17574"/>
                <a:gd name="connsiteY4" fmla="*/ 0 h 6057"/>
                <a:gd name="connsiteX5" fmla="*/ 17575 w 17574"/>
                <a:gd name="connsiteY5" fmla="*/ 3029 h 6057"/>
                <a:gd name="connsiteX6" fmla="*/ 14546 w 17574"/>
                <a:gd name="connsiteY6" fmla="*/ 6058 h 6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574" h="6057">
                  <a:moveTo>
                    <a:pt x="14546" y="6058"/>
                  </a:moveTo>
                  <a:lnTo>
                    <a:pt x="3029" y="6058"/>
                  </a:lnTo>
                  <a:cubicBezTo>
                    <a:pt x="1355" y="6058"/>
                    <a:pt x="0" y="4703"/>
                    <a:pt x="0" y="3029"/>
                  </a:cubicBezTo>
                  <a:cubicBezTo>
                    <a:pt x="0" y="1355"/>
                    <a:pt x="1355" y="0"/>
                    <a:pt x="3029" y="0"/>
                  </a:cubicBezTo>
                  <a:lnTo>
                    <a:pt x="14546" y="0"/>
                  </a:lnTo>
                  <a:cubicBezTo>
                    <a:pt x="16220" y="0"/>
                    <a:pt x="17575" y="1355"/>
                    <a:pt x="17575" y="3029"/>
                  </a:cubicBezTo>
                  <a:cubicBezTo>
                    <a:pt x="17575" y="4703"/>
                    <a:pt x="16220" y="6058"/>
                    <a:pt x="14546" y="6058"/>
                  </a:cubicBezTo>
                  <a:close/>
                </a:path>
              </a:pathLst>
            </a:custGeom>
            <a:solidFill>
              <a:schemeClr val="accent6"/>
            </a:solidFill>
            <a:ln w="3972" cap="flat">
              <a:noFill/>
              <a:prstDash val="solid"/>
              <a:miter/>
            </a:ln>
          </p:spPr>
          <p:txBody>
            <a:bodyPr rtlCol="0" anchor="ctr"/>
            <a:lstStyle/>
            <a:p>
              <a:endParaRPr lang="en-US"/>
            </a:p>
          </p:txBody>
        </p:sp>
        <p:sp>
          <p:nvSpPr>
            <p:cNvPr id="242" name="Freeform: Shape 241">
              <a:extLst>
                <a:ext uri="{FF2B5EF4-FFF2-40B4-BE49-F238E27FC236}">
                  <a16:creationId xmlns:a16="http://schemas.microsoft.com/office/drawing/2014/main" id="{650D2B5E-72AA-4DCE-9F74-A208EB9A5743}"/>
                </a:ext>
              </a:extLst>
            </p:cNvPr>
            <p:cNvSpPr/>
            <p:nvPr/>
          </p:nvSpPr>
          <p:spPr>
            <a:xfrm>
              <a:off x="1346875" y="1626717"/>
              <a:ext cx="31831" cy="11251"/>
            </a:xfrm>
            <a:custGeom>
              <a:avLst/>
              <a:gdLst>
                <a:gd name="connsiteX0" fmla="*/ 18026 w 31831"/>
                <a:gd name="connsiteY0" fmla="*/ 11211 h 11251"/>
                <a:gd name="connsiteX1" fmla="*/ 1208 w 31831"/>
                <a:gd name="connsiteY1" fmla="*/ 5433 h 11251"/>
                <a:gd name="connsiteX2" fmla="*/ 611 w 31831"/>
                <a:gd name="connsiteY2" fmla="*/ 1208 h 11251"/>
                <a:gd name="connsiteX3" fmla="*/ 4835 w 31831"/>
                <a:gd name="connsiteY3" fmla="*/ 611 h 11251"/>
                <a:gd name="connsiteX4" fmla="*/ 26873 w 31831"/>
                <a:gd name="connsiteY4" fmla="*/ 2085 h 11251"/>
                <a:gd name="connsiteX5" fmla="*/ 31138 w 31831"/>
                <a:gd name="connsiteY5" fmla="*/ 2524 h 11251"/>
                <a:gd name="connsiteX6" fmla="*/ 30699 w 31831"/>
                <a:gd name="connsiteY6" fmla="*/ 6788 h 11251"/>
                <a:gd name="connsiteX7" fmla="*/ 18026 w 31831"/>
                <a:gd name="connsiteY7" fmla="*/ 11251 h 11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831" h="11251">
                  <a:moveTo>
                    <a:pt x="18026" y="11211"/>
                  </a:moveTo>
                  <a:cubicBezTo>
                    <a:pt x="11132" y="11211"/>
                    <a:pt x="4676" y="8023"/>
                    <a:pt x="1208" y="5433"/>
                  </a:cubicBezTo>
                  <a:cubicBezTo>
                    <a:pt x="-147" y="4437"/>
                    <a:pt x="-386" y="2524"/>
                    <a:pt x="611" y="1208"/>
                  </a:cubicBezTo>
                  <a:cubicBezTo>
                    <a:pt x="1607" y="-147"/>
                    <a:pt x="3520" y="-386"/>
                    <a:pt x="4835" y="611"/>
                  </a:cubicBezTo>
                  <a:cubicBezTo>
                    <a:pt x="5353" y="969"/>
                    <a:pt x="17389" y="9817"/>
                    <a:pt x="26873" y="2085"/>
                  </a:cubicBezTo>
                  <a:cubicBezTo>
                    <a:pt x="28149" y="1009"/>
                    <a:pt x="30062" y="1208"/>
                    <a:pt x="31138" y="2524"/>
                  </a:cubicBezTo>
                  <a:cubicBezTo>
                    <a:pt x="32214" y="3799"/>
                    <a:pt x="32014" y="5712"/>
                    <a:pt x="30699" y="6788"/>
                  </a:cubicBezTo>
                  <a:cubicBezTo>
                    <a:pt x="26714" y="10056"/>
                    <a:pt x="22290" y="11251"/>
                    <a:pt x="18026" y="11251"/>
                  </a:cubicBezTo>
                  <a:close/>
                </a:path>
              </a:pathLst>
            </a:custGeom>
            <a:solidFill>
              <a:srgbClr val="F47C73"/>
            </a:solidFill>
            <a:ln w="3972" cap="flat">
              <a:noFill/>
              <a:prstDash val="solid"/>
              <a:miter/>
            </a:ln>
          </p:spPr>
          <p:txBody>
            <a:bodyPr rtlCol="0" anchor="ctr"/>
            <a:lstStyle/>
            <a:p>
              <a:endParaRPr lang="en-US"/>
            </a:p>
          </p:txBody>
        </p:sp>
        <p:sp>
          <p:nvSpPr>
            <p:cNvPr id="243" name="Freeform: Shape 242">
              <a:extLst>
                <a:ext uri="{FF2B5EF4-FFF2-40B4-BE49-F238E27FC236}">
                  <a16:creationId xmlns:a16="http://schemas.microsoft.com/office/drawing/2014/main" id="{BA4A3FC0-916C-4654-9EB7-E1D901673D80}"/>
                </a:ext>
              </a:extLst>
            </p:cNvPr>
            <p:cNvSpPr/>
            <p:nvPr/>
          </p:nvSpPr>
          <p:spPr>
            <a:xfrm>
              <a:off x="1256715" y="1586136"/>
              <a:ext cx="40236" cy="43279"/>
            </a:xfrm>
            <a:custGeom>
              <a:avLst/>
              <a:gdLst>
                <a:gd name="connsiteX0" fmla="*/ 10070 w 40236"/>
                <a:gd name="connsiteY0" fmla="*/ 33381 h 43279"/>
                <a:gd name="connsiteX1" fmla="*/ 2777 w 40236"/>
                <a:gd name="connsiteY1" fmla="*/ 7835 h 43279"/>
                <a:gd name="connsiteX2" fmla="*/ 39441 w 40236"/>
                <a:gd name="connsiteY2" fmla="*/ 26008 h 43279"/>
                <a:gd name="connsiteX3" fmla="*/ 10070 w 40236"/>
                <a:gd name="connsiteY3" fmla="*/ 33381 h 43279"/>
              </a:gdLst>
              <a:ahLst/>
              <a:cxnLst>
                <a:cxn ang="0">
                  <a:pos x="connsiteX0" y="connsiteY0"/>
                </a:cxn>
                <a:cxn ang="0">
                  <a:pos x="connsiteX1" y="connsiteY1"/>
                </a:cxn>
                <a:cxn ang="0">
                  <a:pos x="connsiteX2" y="connsiteY2"/>
                </a:cxn>
                <a:cxn ang="0">
                  <a:pos x="connsiteX3" y="connsiteY3"/>
                </a:cxn>
              </a:cxnLst>
              <a:rect l="l" t="t" r="r" b="b"/>
              <a:pathLst>
                <a:path w="40236" h="43279">
                  <a:moveTo>
                    <a:pt x="10070" y="33381"/>
                  </a:moveTo>
                  <a:cubicBezTo>
                    <a:pt x="10070" y="33381"/>
                    <a:pt x="-6389" y="18037"/>
                    <a:pt x="2777" y="7835"/>
                  </a:cubicBezTo>
                  <a:cubicBezTo>
                    <a:pt x="11943" y="-2367"/>
                    <a:pt x="32906" y="-7986"/>
                    <a:pt x="39441" y="26008"/>
                  </a:cubicBezTo>
                  <a:cubicBezTo>
                    <a:pt x="45977" y="59962"/>
                    <a:pt x="10070" y="33381"/>
                    <a:pt x="10070" y="33381"/>
                  </a:cubicBezTo>
                  <a:close/>
                </a:path>
              </a:pathLst>
            </a:custGeom>
            <a:solidFill>
              <a:srgbClr val="FFBEBB"/>
            </a:solidFill>
            <a:ln w="3972" cap="flat">
              <a:noFill/>
              <a:prstDash val="solid"/>
              <a:miter/>
            </a:ln>
          </p:spPr>
          <p:txBody>
            <a:bodyPr rtlCol="0" anchor="ctr"/>
            <a:lstStyle/>
            <a:p>
              <a:endParaRPr lang="en-US"/>
            </a:p>
          </p:txBody>
        </p:sp>
        <p:sp>
          <p:nvSpPr>
            <p:cNvPr id="245" name="Freeform: Shape 244">
              <a:extLst>
                <a:ext uri="{FF2B5EF4-FFF2-40B4-BE49-F238E27FC236}">
                  <a16:creationId xmlns:a16="http://schemas.microsoft.com/office/drawing/2014/main" id="{BDA48EDC-DBCD-4847-A336-B4FCE1427552}"/>
                </a:ext>
              </a:extLst>
            </p:cNvPr>
            <p:cNvSpPr/>
            <p:nvPr/>
          </p:nvSpPr>
          <p:spPr>
            <a:xfrm>
              <a:off x="1265050" y="1594170"/>
              <a:ext cx="20304" cy="22128"/>
            </a:xfrm>
            <a:custGeom>
              <a:avLst/>
              <a:gdLst>
                <a:gd name="connsiteX0" fmla="*/ 5282 w 20304"/>
                <a:gd name="connsiteY0" fmla="*/ 16779 h 22128"/>
                <a:gd name="connsiteX1" fmla="*/ 1695 w 20304"/>
                <a:gd name="connsiteY1" fmla="*/ 4225 h 22128"/>
                <a:gd name="connsiteX2" fmla="*/ 19310 w 20304"/>
                <a:gd name="connsiteY2" fmla="*/ 11199 h 22128"/>
                <a:gd name="connsiteX3" fmla="*/ 5322 w 20304"/>
                <a:gd name="connsiteY3" fmla="*/ 16739 h 22128"/>
              </a:gdLst>
              <a:ahLst/>
              <a:cxnLst>
                <a:cxn ang="0">
                  <a:pos x="connsiteX0" y="connsiteY0"/>
                </a:cxn>
                <a:cxn ang="0">
                  <a:pos x="connsiteX1" y="connsiteY1"/>
                </a:cxn>
                <a:cxn ang="0">
                  <a:pos x="connsiteX2" y="connsiteY2"/>
                </a:cxn>
                <a:cxn ang="0">
                  <a:pos x="connsiteX3" y="connsiteY3"/>
                </a:cxn>
              </a:cxnLst>
              <a:rect l="l" t="t" r="r" b="b"/>
              <a:pathLst>
                <a:path w="20304" h="22128">
                  <a:moveTo>
                    <a:pt x="5282" y="16779"/>
                  </a:moveTo>
                  <a:cubicBezTo>
                    <a:pt x="2811" y="14627"/>
                    <a:pt x="-2808" y="9247"/>
                    <a:pt x="1695" y="4225"/>
                  </a:cubicBezTo>
                  <a:cubicBezTo>
                    <a:pt x="6198" y="-796"/>
                    <a:pt x="15006" y="-4184"/>
                    <a:pt x="19310" y="11199"/>
                  </a:cubicBezTo>
                  <a:cubicBezTo>
                    <a:pt x="23893" y="27579"/>
                    <a:pt x="11499" y="22119"/>
                    <a:pt x="5322" y="16739"/>
                  </a:cubicBezTo>
                  <a:close/>
                </a:path>
              </a:pathLst>
            </a:custGeom>
            <a:solidFill>
              <a:srgbClr val="F47C73"/>
            </a:solidFill>
            <a:ln w="3972" cap="flat">
              <a:noFill/>
              <a:prstDash val="solid"/>
              <a:miter/>
            </a:ln>
          </p:spPr>
          <p:txBody>
            <a:bodyPr rtlCol="0" anchor="ctr"/>
            <a:lstStyle/>
            <a:p>
              <a:endParaRPr lang="en-US"/>
            </a:p>
          </p:txBody>
        </p:sp>
        <p:sp>
          <p:nvSpPr>
            <p:cNvPr id="246" name="Freeform: Shape 245">
              <a:extLst>
                <a:ext uri="{FF2B5EF4-FFF2-40B4-BE49-F238E27FC236}">
                  <a16:creationId xmlns:a16="http://schemas.microsoft.com/office/drawing/2014/main" id="{9B523DC0-BF35-4DE6-9E05-DADF9FAB25C8}"/>
                </a:ext>
              </a:extLst>
            </p:cNvPr>
            <p:cNvSpPr/>
            <p:nvPr/>
          </p:nvSpPr>
          <p:spPr>
            <a:xfrm>
              <a:off x="1543122" y="1482545"/>
              <a:ext cx="77313" cy="77313"/>
            </a:xfrm>
            <a:custGeom>
              <a:avLst/>
              <a:gdLst>
                <a:gd name="connsiteX0" fmla="*/ 77314 w 77313"/>
                <a:gd name="connsiteY0" fmla="*/ 38657 h 77313"/>
                <a:gd name="connsiteX1" fmla="*/ 38657 w 77313"/>
                <a:gd name="connsiteY1" fmla="*/ 77314 h 77313"/>
                <a:gd name="connsiteX2" fmla="*/ 0 w 77313"/>
                <a:gd name="connsiteY2" fmla="*/ 38657 h 77313"/>
                <a:gd name="connsiteX3" fmla="*/ 38657 w 77313"/>
                <a:gd name="connsiteY3" fmla="*/ 0 h 77313"/>
                <a:gd name="connsiteX4" fmla="*/ 77314 w 77313"/>
                <a:gd name="connsiteY4" fmla="*/ 38657 h 773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313" h="77313">
                  <a:moveTo>
                    <a:pt x="77314" y="38657"/>
                  </a:moveTo>
                  <a:cubicBezTo>
                    <a:pt x="77314" y="60006"/>
                    <a:pt x="60006" y="77314"/>
                    <a:pt x="38657" y="77314"/>
                  </a:cubicBezTo>
                  <a:cubicBezTo>
                    <a:pt x="17307" y="77314"/>
                    <a:pt x="0" y="60006"/>
                    <a:pt x="0" y="38657"/>
                  </a:cubicBezTo>
                  <a:cubicBezTo>
                    <a:pt x="0" y="17307"/>
                    <a:pt x="17307" y="0"/>
                    <a:pt x="38657" y="0"/>
                  </a:cubicBezTo>
                  <a:cubicBezTo>
                    <a:pt x="60006" y="0"/>
                    <a:pt x="77314" y="17307"/>
                    <a:pt x="77314" y="38657"/>
                  </a:cubicBezTo>
                  <a:close/>
                </a:path>
              </a:pathLst>
            </a:custGeom>
            <a:solidFill>
              <a:schemeClr val="accent6"/>
            </a:solidFill>
            <a:ln w="3972" cap="flat">
              <a:noFill/>
              <a:prstDash val="solid"/>
              <a:miter/>
            </a:ln>
          </p:spPr>
          <p:txBody>
            <a:bodyPr rtlCol="0" anchor="ctr"/>
            <a:lstStyle/>
            <a:p>
              <a:endParaRPr lang="en-US"/>
            </a:p>
          </p:txBody>
        </p:sp>
        <p:sp>
          <p:nvSpPr>
            <p:cNvPr id="247" name="Freeform: Shape 246">
              <a:extLst>
                <a:ext uri="{FF2B5EF4-FFF2-40B4-BE49-F238E27FC236}">
                  <a16:creationId xmlns:a16="http://schemas.microsoft.com/office/drawing/2014/main" id="{C967323B-6E92-41FC-8E92-E42A8F793A99}"/>
                </a:ext>
              </a:extLst>
            </p:cNvPr>
            <p:cNvSpPr/>
            <p:nvPr/>
          </p:nvSpPr>
          <p:spPr>
            <a:xfrm>
              <a:off x="1477166" y="1824478"/>
              <a:ext cx="45391" cy="283708"/>
            </a:xfrm>
            <a:custGeom>
              <a:avLst/>
              <a:gdLst>
                <a:gd name="connsiteX0" fmla="*/ 45392 w 45391"/>
                <a:gd name="connsiteY0" fmla="*/ 283709 h 283708"/>
                <a:gd name="connsiteX1" fmla="*/ 0 w 45391"/>
                <a:gd name="connsiteY1" fmla="*/ 0 h 283708"/>
                <a:gd name="connsiteX2" fmla="*/ 1395 w 45391"/>
                <a:gd name="connsiteY2" fmla="*/ 271116 h 283708"/>
                <a:gd name="connsiteX3" fmla="*/ 45392 w 45391"/>
                <a:gd name="connsiteY3" fmla="*/ 283709 h 283708"/>
              </a:gdLst>
              <a:ahLst/>
              <a:cxnLst>
                <a:cxn ang="0">
                  <a:pos x="connsiteX0" y="connsiteY0"/>
                </a:cxn>
                <a:cxn ang="0">
                  <a:pos x="connsiteX1" y="connsiteY1"/>
                </a:cxn>
                <a:cxn ang="0">
                  <a:pos x="connsiteX2" y="connsiteY2"/>
                </a:cxn>
                <a:cxn ang="0">
                  <a:pos x="connsiteX3" y="connsiteY3"/>
                </a:cxn>
              </a:cxnLst>
              <a:rect l="l" t="t" r="r" b="b"/>
              <a:pathLst>
                <a:path w="45391" h="283708">
                  <a:moveTo>
                    <a:pt x="45392" y="283709"/>
                  </a:moveTo>
                  <a:lnTo>
                    <a:pt x="0" y="0"/>
                  </a:lnTo>
                  <a:lnTo>
                    <a:pt x="1395" y="271116"/>
                  </a:lnTo>
                  <a:cubicBezTo>
                    <a:pt x="12832" y="276336"/>
                    <a:pt x="27658" y="281358"/>
                    <a:pt x="45392" y="283709"/>
                  </a:cubicBezTo>
                  <a:close/>
                </a:path>
              </a:pathLst>
            </a:custGeom>
            <a:solidFill>
              <a:schemeClr val="tx2">
                <a:lumMod val="60000"/>
                <a:lumOff val="40000"/>
              </a:schemeClr>
            </a:solidFill>
            <a:ln w="3972" cap="flat">
              <a:noFill/>
              <a:prstDash val="solid"/>
              <a:miter/>
            </a:ln>
          </p:spPr>
          <p:txBody>
            <a:bodyPr rtlCol="0" anchor="ctr"/>
            <a:lstStyle/>
            <a:p>
              <a:endParaRPr lang="en-US"/>
            </a:p>
          </p:txBody>
        </p:sp>
        <p:sp>
          <p:nvSpPr>
            <p:cNvPr id="248" name="Freeform: Shape 247">
              <a:extLst>
                <a:ext uri="{FF2B5EF4-FFF2-40B4-BE49-F238E27FC236}">
                  <a16:creationId xmlns:a16="http://schemas.microsoft.com/office/drawing/2014/main" id="{763D2229-4EA5-4CA5-A0C7-C4506617DC3B}"/>
                </a:ext>
              </a:extLst>
            </p:cNvPr>
            <p:cNvSpPr/>
            <p:nvPr/>
          </p:nvSpPr>
          <p:spPr>
            <a:xfrm>
              <a:off x="1131645" y="1821449"/>
              <a:ext cx="6057" cy="293990"/>
            </a:xfrm>
            <a:custGeom>
              <a:avLst/>
              <a:gdLst>
                <a:gd name="connsiteX0" fmla="*/ 3029 w 6057"/>
                <a:gd name="connsiteY0" fmla="*/ 293991 h 293990"/>
                <a:gd name="connsiteX1" fmla="*/ 0 w 6057"/>
                <a:gd name="connsiteY1" fmla="*/ 290962 h 293990"/>
                <a:gd name="connsiteX2" fmla="*/ 0 w 6057"/>
                <a:gd name="connsiteY2" fmla="*/ 3029 h 293990"/>
                <a:gd name="connsiteX3" fmla="*/ 3029 w 6057"/>
                <a:gd name="connsiteY3" fmla="*/ 0 h 293990"/>
                <a:gd name="connsiteX4" fmla="*/ 6058 w 6057"/>
                <a:gd name="connsiteY4" fmla="*/ 3029 h 293990"/>
                <a:gd name="connsiteX5" fmla="*/ 6058 w 6057"/>
                <a:gd name="connsiteY5" fmla="*/ 290962 h 293990"/>
                <a:gd name="connsiteX6" fmla="*/ 3029 w 6057"/>
                <a:gd name="connsiteY6" fmla="*/ 293991 h 29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57" h="293990">
                  <a:moveTo>
                    <a:pt x="3029" y="293991"/>
                  </a:moveTo>
                  <a:cubicBezTo>
                    <a:pt x="1355" y="293991"/>
                    <a:pt x="0" y="292636"/>
                    <a:pt x="0" y="290962"/>
                  </a:cubicBezTo>
                  <a:lnTo>
                    <a:pt x="0" y="3029"/>
                  </a:lnTo>
                  <a:cubicBezTo>
                    <a:pt x="0" y="1355"/>
                    <a:pt x="1355" y="0"/>
                    <a:pt x="3029" y="0"/>
                  </a:cubicBezTo>
                  <a:cubicBezTo>
                    <a:pt x="4703" y="0"/>
                    <a:pt x="6058" y="1355"/>
                    <a:pt x="6058" y="3029"/>
                  </a:cubicBezTo>
                  <a:lnTo>
                    <a:pt x="6058" y="290962"/>
                  </a:lnTo>
                  <a:cubicBezTo>
                    <a:pt x="6058" y="292636"/>
                    <a:pt x="4703" y="293991"/>
                    <a:pt x="3029" y="293991"/>
                  </a:cubicBezTo>
                  <a:close/>
                </a:path>
              </a:pathLst>
            </a:custGeom>
            <a:solidFill>
              <a:schemeClr val="tx2">
                <a:lumMod val="60000"/>
                <a:lumOff val="40000"/>
              </a:schemeClr>
            </a:solidFill>
            <a:ln w="3972" cap="flat">
              <a:noFill/>
              <a:prstDash val="solid"/>
              <a:miter/>
            </a:ln>
          </p:spPr>
          <p:txBody>
            <a:bodyPr rtlCol="0" anchor="ctr"/>
            <a:lstStyle/>
            <a:p>
              <a:endParaRPr lang="en-US"/>
            </a:p>
          </p:txBody>
        </p:sp>
        <p:sp>
          <p:nvSpPr>
            <p:cNvPr id="249" name="Freeform: Shape 248">
              <a:extLst>
                <a:ext uri="{FF2B5EF4-FFF2-40B4-BE49-F238E27FC236}">
                  <a16:creationId xmlns:a16="http://schemas.microsoft.com/office/drawing/2014/main" id="{A3F5E9E8-4182-4C8C-94E5-90C0D522F4F1}"/>
                </a:ext>
              </a:extLst>
            </p:cNvPr>
            <p:cNvSpPr/>
            <p:nvPr/>
          </p:nvSpPr>
          <p:spPr>
            <a:xfrm>
              <a:off x="1230121" y="1668854"/>
              <a:ext cx="130807" cy="119039"/>
            </a:xfrm>
            <a:custGeom>
              <a:avLst/>
              <a:gdLst>
                <a:gd name="connsiteX0" fmla="*/ 15303 w 130807"/>
                <a:gd name="connsiteY0" fmla="*/ 0 h 119039"/>
                <a:gd name="connsiteX1" fmla="*/ 88153 w 130807"/>
                <a:gd name="connsiteY1" fmla="*/ 41486 h 119039"/>
                <a:gd name="connsiteX2" fmla="*/ 114536 w 130807"/>
                <a:gd name="connsiteY2" fmla="*/ 10123 h 119039"/>
                <a:gd name="connsiteX3" fmla="*/ 130556 w 130807"/>
                <a:gd name="connsiteY3" fmla="*/ 47703 h 119039"/>
                <a:gd name="connsiteX4" fmla="*/ 85444 w 130807"/>
                <a:gd name="connsiteY4" fmla="*/ 119039 h 119039"/>
                <a:gd name="connsiteX5" fmla="*/ 0 w 130807"/>
                <a:gd name="connsiteY5" fmla="*/ 44196 h 119039"/>
                <a:gd name="connsiteX6" fmla="*/ 15303 w 130807"/>
                <a:gd name="connsiteY6" fmla="*/ 0 h 119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807" h="119039">
                  <a:moveTo>
                    <a:pt x="15303" y="0"/>
                  </a:moveTo>
                  <a:cubicBezTo>
                    <a:pt x="15303" y="0"/>
                    <a:pt x="60097" y="42004"/>
                    <a:pt x="88153" y="41486"/>
                  </a:cubicBezTo>
                  <a:cubicBezTo>
                    <a:pt x="116210" y="40968"/>
                    <a:pt x="114536" y="10123"/>
                    <a:pt x="114536" y="10123"/>
                  </a:cubicBezTo>
                  <a:lnTo>
                    <a:pt x="130556" y="47703"/>
                  </a:lnTo>
                  <a:cubicBezTo>
                    <a:pt x="130556" y="47703"/>
                    <a:pt x="136933" y="119039"/>
                    <a:pt x="85444" y="119039"/>
                  </a:cubicBezTo>
                  <a:cubicBezTo>
                    <a:pt x="33954" y="119039"/>
                    <a:pt x="0" y="44196"/>
                    <a:pt x="0" y="44196"/>
                  </a:cubicBezTo>
                  <a:lnTo>
                    <a:pt x="15303" y="0"/>
                  </a:lnTo>
                  <a:close/>
                </a:path>
              </a:pathLst>
            </a:custGeom>
            <a:solidFill>
              <a:srgbClr val="F3F2FF"/>
            </a:solidFill>
            <a:ln w="3972" cap="flat">
              <a:noFill/>
              <a:prstDash val="solid"/>
              <a:miter/>
            </a:ln>
          </p:spPr>
          <p:txBody>
            <a:bodyPr rtlCol="0" anchor="ctr"/>
            <a:lstStyle/>
            <a:p>
              <a:endParaRPr lang="en-US"/>
            </a:p>
          </p:txBody>
        </p:sp>
        <p:sp>
          <p:nvSpPr>
            <p:cNvPr id="250" name="Freeform: Shape 249">
              <a:extLst>
                <a:ext uri="{FF2B5EF4-FFF2-40B4-BE49-F238E27FC236}">
                  <a16:creationId xmlns:a16="http://schemas.microsoft.com/office/drawing/2014/main" id="{9931EA96-266A-4B2A-BFDC-61986212DE00}"/>
                </a:ext>
              </a:extLst>
            </p:cNvPr>
            <p:cNvSpPr/>
            <p:nvPr/>
          </p:nvSpPr>
          <p:spPr>
            <a:xfrm>
              <a:off x="1276247" y="1719982"/>
              <a:ext cx="76714" cy="59063"/>
            </a:xfrm>
            <a:custGeom>
              <a:avLst/>
              <a:gdLst>
                <a:gd name="connsiteX0" fmla="*/ 3012 w 76714"/>
                <a:gd name="connsiteY0" fmla="*/ 59064 h 59063"/>
                <a:gd name="connsiteX1" fmla="*/ 1139 w 76714"/>
                <a:gd name="connsiteY1" fmla="*/ 58386 h 59063"/>
                <a:gd name="connsiteX2" fmla="*/ 661 w 76714"/>
                <a:gd name="connsiteY2" fmla="*/ 54122 h 59063"/>
                <a:gd name="connsiteX3" fmla="*/ 42745 w 76714"/>
                <a:gd name="connsiteY3" fmla="*/ 1158 h 59063"/>
                <a:gd name="connsiteX4" fmla="*/ 45256 w 76714"/>
                <a:gd name="connsiteY4" fmla="*/ 3 h 59063"/>
                <a:gd name="connsiteX5" fmla="*/ 47647 w 76714"/>
                <a:gd name="connsiteY5" fmla="*/ 1357 h 59063"/>
                <a:gd name="connsiteX6" fmla="*/ 76221 w 76714"/>
                <a:gd name="connsiteY6" fmla="*/ 44717 h 59063"/>
                <a:gd name="connsiteX7" fmla="*/ 75344 w 76714"/>
                <a:gd name="connsiteY7" fmla="*/ 48901 h 59063"/>
                <a:gd name="connsiteX8" fmla="*/ 71160 w 76714"/>
                <a:gd name="connsiteY8" fmla="*/ 48025 h 59063"/>
                <a:gd name="connsiteX9" fmla="*/ 44897 w 76714"/>
                <a:gd name="connsiteY9" fmla="*/ 8172 h 59063"/>
                <a:gd name="connsiteX10" fmla="*/ 5403 w 76714"/>
                <a:gd name="connsiteY10" fmla="*/ 57868 h 59063"/>
                <a:gd name="connsiteX11" fmla="*/ 3052 w 76714"/>
                <a:gd name="connsiteY11" fmla="*/ 59024 h 59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714" h="59063">
                  <a:moveTo>
                    <a:pt x="3012" y="59064"/>
                  </a:moveTo>
                  <a:cubicBezTo>
                    <a:pt x="2335" y="59064"/>
                    <a:pt x="1697" y="58864"/>
                    <a:pt x="1139" y="58386"/>
                  </a:cubicBezTo>
                  <a:cubicBezTo>
                    <a:pt x="-176" y="57350"/>
                    <a:pt x="-375" y="55437"/>
                    <a:pt x="661" y="54122"/>
                  </a:cubicBezTo>
                  <a:lnTo>
                    <a:pt x="42745" y="1158"/>
                  </a:lnTo>
                  <a:cubicBezTo>
                    <a:pt x="43343" y="401"/>
                    <a:pt x="44259" y="-37"/>
                    <a:pt x="45256" y="3"/>
                  </a:cubicBezTo>
                  <a:cubicBezTo>
                    <a:pt x="46212" y="42"/>
                    <a:pt x="47129" y="560"/>
                    <a:pt x="47647" y="1357"/>
                  </a:cubicBezTo>
                  <a:lnTo>
                    <a:pt x="76221" y="44717"/>
                  </a:lnTo>
                  <a:cubicBezTo>
                    <a:pt x="77138" y="46112"/>
                    <a:pt x="76739" y="47985"/>
                    <a:pt x="75344" y="48901"/>
                  </a:cubicBezTo>
                  <a:cubicBezTo>
                    <a:pt x="73949" y="49818"/>
                    <a:pt x="72076" y="49419"/>
                    <a:pt x="71160" y="48025"/>
                  </a:cubicBezTo>
                  <a:lnTo>
                    <a:pt x="44897" y="8172"/>
                  </a:lnTo>
                  <a:lnTo>
                    <a:pt x="5403" y="57868"/>
                  </a:lnTo>
                  <a:cubicBezTo>
                    <a:pt x="4806" y="58625"/>
                    <a:pt x="3929" y="59024"/>
                    <a:pt x="3052" y="59024"/>
                  </a:cubicBezTo>
                  <a:close/>
                </a:path>
              </a:pathLst>
            </a:custGeom>
            <a:solidFill>
              <a:srgbClr val="B3D2FF"/>
            </a:solidFill>
            <a:ln w="3972" cap="flat">
              <a:noFill/>
              <a:prstDash val="solid"/>
              <a:miter/>
            </a:ln>
          </p:spPr>
          <p:txBody>
            <a:bodyPr rtlCol="0" anchor="ctr"/>
            <a:lstStyle/>
            <a:p>
              <a:endParaRPr lang="en-US"/>
            </a:p>
          </p:txBody>
        </p:sp>
        <p:grpSp>
          <p:nvGrpSpPr>
            <p:cNvPr id="252" name="Graphic 371">
              <a:extLst>
                <a:ext uri="{FF2B5EF4-FFF2-40B4-BE49-F238E27FC236}">
                  <a16:creationId xmlns:a16="http://schemas.microsoft.com/office/drawing/2014/main" id="{F7897027-B94E-4E19-A3C6-203DC3306FFC}"/>
                </a:ext>
              </a:extLst>
            </p:cNvPr>
            <p:cNvGrpSpPr/>
            <p:nvPr/>
          </p:nvGrpSpPr>
          <p:grpSpPr>
            <a:xfrm>
              <a:off x="1012892" y="1667738"/>
              <a:ext cx="702630" cy="457179"/>
              <a:chOff x="1012892" y="1667738"/>
              <a:chExt cx="702630" cy="457179"/>
            </a:xfrm>
          </p:grpSpPr>
          <p:sp>
            <p:nvSpPr>
              <p:cNvPr id="268" name="Freeform: Shape 267">
                <a:extLst>
                  <a:ext uri="{FF2B5EF4-FFF2-40B4-BE49-F238E27FC236}">
                    <a16:creationId xmlns:a16="http://schemas.microsoft.com/office/drawing/2014/main" id="{47A33106-249A-4902-B309-EB25BF6E0F05}"/>
                  </a:ext>
                </a:extLst>
              </p:cNvPr>
              <p:cNvSpPr/>
              <p:nvPr/>
            </p:nvSpPr>
            <p:spPr>
              <a:xfrm rot="-7258199">
                <a:off x="1258512" y="1612327"/>
                <a:ext cx="177582" cy="552831"/>
              </a:xfrm>
              <a:custGeom>
                <a:avLst/>
                <a:gdLst>
                  <a:gd name="connsiteX0" fmla="*/ 0 w 177582"/>
                  <a:gd name="connsiteY0" fmla="*/ 0 h 552831"/>
                  <a:gd name="connsiteX1" fmla="*/ 177582 w 177582"/>
                  <a:gd name="connsiteY1" fmla="*/ 0 h 552831"/>
                  <a:gd name="connsiteX2" fmla="*/ 177582 w 177582"/>
                  <a:gd name="connsiteY2" fmla="*/ 552832 h 552831"/>
                  <a:gd name="connsiteX3" fmla="*/ 0 w 177582"/>
                  <a:gd name="connsiteY3" fmla="*/ 552832 h 552831"/>
                </a:gdLst>
                <a:ahLst/>
                <a:cxnLst>
                  <a:cxn ang="0">
                    <a:pos x="connsiteX0" y="connsiteY0"/>
                  </a:cxn>
                  <a:cxn ang="0">
                    <a:pos x="connsiteX1" y="connsiteY1"/>
                  </a:cxn>
                  <a:cxn ang="0">
                    <a:pos x="connsiteX2" y="connsiteY2"/>
                  </a:cxn>
                  <a:cxn ang="0">
                    <a:pos x="connsiteX3" y="connsiteY3"/>
                  </a:cxn>
                </a:cxnLst>
                <a:rect l="l" t="t" r="r" b="b"/>
                <a:pathLst>
                  <a:path w="177582" h="552831">
                    <a:moveTo>
                      <a:pt x="0" y="0"/>
                    </a:moveTo>
                    <a:lnTo>
                      <a:pt x="177582" y="0"/>
                    </a:lnTo>
                    <a:lnTo>
                      <a:pt x="177582" y="552832"/>
                    </a:lnTo>
                    <a:lnTo>
                      <a:pt x="0" y="552832"/>
                    </a:lnTo>
                    <a:close/>
                  </a:path>
                </a:pathLst>
              </a:custGeom>
              <a:solidFill>
                <a:srgbClr val="FFDE4A"/>
              </a:solidFill>
              <a:ln w="3972" cap="flat">
                <a:noFill/>
                <a:prstDash val="solid"/>
                <a:miter/>
              </a:ln>
            </p:spPr>
            <p:txBody>
              <a:bodyPr rtlCol="0" anchor="ctr"/>
              <a:lstStyle/>
              <a:p>
                <a:endParaRPr lang="en-US"/>
              </a:p>
            </p:txBody>
          </p:sp>
          <p:sp>
            <p:nvSpPr>
              <p:cNvPr id="269" name="Freeform: Shape 268">
                <a:extLst>
                  <a:ext uri="{FF2B5EF4-FFF2-40B4-BE49-F238E27FC236}">
                    <a16:creationId xmlns:a16="http://schemas.microsoft.com/office/drawing/2014/main" id="{3F114E6A-E1AA-4E45-BEA9-D49DC4A1EAF0}"/>
                  </a:ext>
                </a:extLst>
              </p:cNvPr>
              <p:cNvSpPr/>
              <p:nvPr/>
            </p:nvSpPr>
            <p:spPr>
              <a:xfrm>
                <a:off x="1538618" y="1667738"/>
                <a:ext cx="176904" cy="154906"/>
              </a:xfrm>
              <a:custGeom>
                <a:avLst/>
                <a:gdLst>
                  <a:gd name="connsiteX0" fmla="*/ 91382 w 176904"/>
                  <a:gd name="connsiteY0" fmla="*/ 154906 h 154906"/>
                  <a:gd name="connsiteX1" fmla="*/ 176905 w 176904"/>
                  <a:gd name="connsiteY1" fmla="*/ 0 h 154906"/>
                  <a:gd name="connsiteX2" fmla="*/ 0 w 176904"/>
                  <a:gd name="connsiteY2" fmla="*/ 2630 h 154906"/>
                  <a:gd name="connsiteX3" fmla="*/ 91382 w 176904"/>
                  <a:gd name="connsiteY3" fmla="*/ 154906 h 154906"/>
                </a:gdLst>
                <a:ahLst/>
                <a:cxnLst>
                  <a:cxn ang="0">
                    <a:pos x="connsiteX0" y="connsiteY0"/>
                  </a:cxn>
                  <a:cxn ang="0">
                    <a:pos x="connsiteX1" y="connsiteY1"/>
                  </a:cxn>
                  <a:cxn ang="0">
                    <a:pos x="connsiteX2" y="connsiteY2"/>
                  </a:cxn>
                  <a:cxn ang="0">
                    <a:pos x="connsiteX3" y="connsiteY3"/>
                  </a:cxn>
                </a:cxnLst>
                <a:rect l="l" t="t" r="r" b="b"/>
                <a:pathLst>
                  <a:path w="176904" h="154906">
                    <a:moveTo>
                      <a:pt x="91382" y="154906"/>
                    </a:moveTo>
                    <a:lnTo>
                      <a:pt x="176905" y="0"/>
                    </a:lnTo>
                    <a:lnTo>
                      <a:pt x="0" y="2630"/>
                    </a:lnTo>
                    <a:lnTo>
                      <a:pt x="91382" y="154906"/>
                    </a:lnTo>
                    <a:close/>
                  </a:path>
                </a:pathLst>
              </a:custGeom>
              <a:solidFill>
                <a:srgbClr val="F3F2FF"/>
              </a:solidFill>
              <a:ln w="3972" cap="flat">
                <a:noFill/>
                <a:prstDash val="solid"/>
                <a:miter/>
              </a:ln>
            </p:spPr>
            <p:txBody>
              <a:bodyPr rtlCol="0" anchor="ctr"/>
              <a:lstStyle/>
              <a:p>
                <a:endParaRPr lang="en-US"/>
              </a:p>
            </p:txBody>
          </p:sp>
          <p:sp>
            <p:nvSpPr>
              <p:cNvPr id="270" name="Freeform: Shape 269">
                <a:extLst>
                  <a:ext uri="{FF2B5EF4-FFF2-40B4-BE49-F238E27FC236}">
                    <a16:creationId xmlns:a16="http://schemas.microsoft.com/office/drawing/2014/main" id="{31AF45AB-9621-40C8-ABA0-E3E45C3EE3F5}"/>
                  </a:ext>
                </a:extLst>
              </p:cNvPr>
              <p:cNvSpPr/>
              <p:nvPr/>
            </p:nvSpPr>
            <p:spPr>
              <a:xfrm>
                <a:off x="1624620" y="1667738"/>
                <a:ext cx="90903" cy="79624"/>
              </a:xfrm>
              <a:custGeom>
                <a:avLst/>
                <a:gdLst>
                  <a:gd name="connsiteX0" fmla="*/ 90903 w 90903"/>
                  <a:gd name="connsiteY0" fmla="*/ 0 h 79624"/>
                  <a:gd name="connsiteX1" fmla="*/ 46946 w 90903"/>
                  <a:gd name="connsiteY1" fmla="*/ 79625 h 79624"/>
                  <a:gd name="connsiteX2" fmla="*/ 0 w 90903"/>
                  <a:gd name="connsiteY2" fmla="*/ 1355 h 79624"/>
                  <a:gd name="connsiteX3" fmla="*/ 90903 w 90903"/>
                  <a:gd name="connsiteY3" fmla="*/ 0 h 79624"/>
                  <a:gd name="connsiteX4" fmla="*/ 90903 w 90903"/>
                  <a:gd name="connsiteY4" fmla="*/ 0 h 79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903" h="79624">
                    <a:moveTo>
                      <a:pt x="90903" y="0"/>
                    </a:moveTo>
                    <a:lnTo>
                      <a:pt x="46946" y="79625"/>
                    </a:lnTo>
                    <a:lnTo>
                      <a:pt x="0" y="1355"/>
                    </a:lnTo>
                    <a:lnTo>
                      <a:pt x="90903" y="0"/>
                    </a:lnTo>
                    <a:lnTo>
                      <a:pt x="90903" y="0"/>
                    </a:lnTo>
                    <a:close/>
                  </a:path>
                </a:pathLst>
              </a:custGeom>
              <a:solidFill>
                <a:srgbClr val="1D2333"/>
              </a:solidFill>
              <a:ln w="3972" cap="flat">
                <a:noFill/>
                <a:prstDash val="solid"/>
                <a:miter/>
              </a:ln>
            </p:spPr>
            <p:txBody>
              <a:bodyPr rtlCol="0" anchor="ctr"/>
              <a:lstStyle/>
              <a:p>
                <a:endParaRPr lang="en-US"/>
              </a:p>
            </p:txBody>
          </p:sp>
          <p:sp>
            <p:nvSpPr>
              <p:cNvPr id="271" name="Freeform: Shape 270">
                <a:extLst>
                  <a:ext uri="{FF2B5EF4-FFF2-40B4-BE49-F238E27FC236}">
                    <a16:creationId xmlns:a16="http://schemas.microsoft.com/office/drawing/2014/main" id="{B71FB6C9-60A5-479B-B45D-6B9DF9B4013F}"/>
                  </a:ext>
                </a:extLst>
              </p:cNvPr>
              <p:cNvSpPr/>
              <p:nvPr/>
            </p:nvSpPr>
            <p:spPr>
              <a:xfrm>
                <a:off x="1170101" y="1779301"/>
                <a:ext cx="438698" cy="265679"/>
              </a:xfrm>
              <a:custGeom>
                <a:avLst/>
                <a:gdLst>
                  <a:gd name="connsiteX0" fmla="*/ 3030 w 438698"/>
                  <a:gd name="connsiteY0" fmla="*/ 265680 h 265679"/>
                  <a:gd name="connsiteX1" fmla="*/ 440 w 438698"/>
                  <a:gd name="connsiteY1" fmla="*/ 264205 h 265679"/>
                  <a:gd name="connsiteX2" fmla="*/ 1476 w 438698"/>
                  <a:gd name="connsiteY2" fmla="*/ 260060 h 265679"/>
                  <a:gd name="connsiteX3" fmla="*/ 434114 w 438698"/>
                  <a:gd name="connsiteY3" fmla="*/ 422 h 265679"/>
                  <a:gd name="connsiteX4" fmla="*/ 438259 w 438698"/>
                  <a:gd name="connsiteY4" fmla="*/ 1459 h 265679"/>
                  <a:gd name="connsiteX5" fmla="*/ 437222 w 438698"/>
                  <a:gd name="connsiteY5" fmla="*/ 5603 h 265679"/>
                  <a:gd name="connsiteX6" fmla="*/ 4585 w 438698"/>
                  <a:gd name="connsiteY6" fmla="*/ 265241 h 265679"/>
                  <a:gd name="connsiteX7" fmla="*/ 3030 w 438698"/>
                  <a:gd name="connsiteY7" fmla="*/ 265680 h 26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8698" h="265679">
                    <a:moveTo>
                      <a:pt x="3030" y="265680"/>
                    </a:moveTo>
                    <a:cubicBezTo>
                      <a:pt x="1994" y="265680"/>
                      <a:pt x="998" y="265162"/>
                      <a:pt x="440" y="264205"/>
                    </a:cubicBezTo>
                    <a:cubicBezTo>
                      <a:pt x="-437" y="262770"/>
                      <a:pt x="42" y="260897"/>
                      <a:pt x="1476" y="260060"/>
                    </a:cubicBezTo>
                    <a:lnTo>
                      <a:pt x="434114" y="422"/>
                    </a:lnTo>
                    <a:cubicBezTo>
                      <a:pt x="435549" y="-415"/>
                      <a:pt x="437422" y="24"/>
                      <a:pt x="438259" y="1459"/>
                    </a:cubicBezTo>
                    <a:cubicBezTo>
                      <a:pt x="439135" y="2893"/>
                      <a:pt x="438657" y="4766"/>
                      <a:pt x="437222" y="5603"/>
                    </a:cubicBezTo>
                    <a:lnTo>
                      <a:pt x="4585" y="265241"/>
                    </a:lnTo>
                    <a:cubicBezTo>
                      <a:pt x="4106" y="265520"/>
                      <a:pt x="3549" y="265680"/>
                      <a:pt x="3030" y="265680"/>
                    </a:cubicBezTo>
                    <a:close/>
                  </a:path>
                </a:pathLst>
              </a:custGeom>
              <a:solidFill>
                <a:srgbClr val="D7B728"/>
              </a:solidFill>
              <a:ln w="3972" cap="flat">
                <a:noFill/>
                <a:prstDash val="solid"/>
                <a:miter/>
              </a:ln>
            </p:spPr>
            <p:txBody>
              <a:bodyPr rtlCol="0" anchor="ctr"/>
              <a:lstStyle/>
              <a:p>
                <a:endParaRPr lang="en-US"/>
              </a:p>
            </p:txBody>
          </p:sp>
          <p:sp>
            <p:nvSpPr>
              <p:cNvPr id="272" name="Freeform: Shape 271">
                <a:extLst>
                  <a:ext uri="{FF2B5EF4-FFF2-40B4-BE49-F238E27FC236}">
                    <a16:creationId xmlns:a16="http://schemas.microsoft.com/office/drawing/2014/main" id="{62DFF053-F739-4B69-A63B-8C71D3F3C07C}"/>
                  </a:ext>
                </a:extLst>
              </p:cNvPr>
              <p:cNvSpPr/>
              <p:nvPr/>
            </p:nvSpPr>
            <p:spPr>
              <a:xfrm>
                <a:off x="1127140" y="1707669"/>
                <a:ext cx="438698" cy="265737"/>
              </a:xfrm>
              <a:custGeom>
                <a:avLst/>
                <a:gdLst>
                  <a:gd name="connsiteX0" fmla="*/ 3030 w 438698"/>
                  <a:gd name="connsiteY0" fmla="*/ 265737 h 265737"/>
                  <a:gd name="connsiteX1" fmla="*/ 440 w 438698"/>
                  <a:gd name="connsiteY1" fmla="*/ 264263 h 265737"/>
                  <a:gd name="connsiteX2" fmla="*/ 1476 w 438698"/>
                  <a:gd name="connsiteY2" fmla="*/ 260118 h 265737"/>
                  <a:gd name="connsiteX3" fmla="*/ 434114 w 438698"/>
                  <a:gd name="connsiteY3" fmla="*/ 440 h 265737"/>
                  <a:gd name="connsiteX4" fmla="*/ 438259 w 438698"/>
                  <a:gd name="connsiteY4" fmla="*/ 1476 h 265737"/>
                  <a:gd name="connsiteX5" fmla="*/ 437222 w 438698"/>
                  <a:gd name="connsiteY5" fmla="*/ 5621 h 265737"/>
                  <a:gd name="connsiteX6" fmla="*/ 4585 w 438698"/>
                  <a:gd name="connsiteY6" fmla="*/ 265299 h 265737"/>
                  <a:gd name="connsiteX7" fmla="*/ 3030 w 438698"/>
                  <a:gd name="connsiteY7" fmla="*/ 265737 h 265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8698" h="265737">
                    <a:moveTo>
                      <a:pt x="3030" y="265737"/>
                    </a:moveTo>
                    <a:cubicBezTo>
                      <a:pt x="1994" y="265737"/>
                      <a:pt x="998" y="265219"/>
                      <a:pt x="440" y="264263"/>
                    </a:cubicBezTo>
                    <a:cubicBezTo>
                      <a:pt x="-437" y="262828"/>
                      <a:pt x="42" y="260955"/>
                      <a:pt x="1476" y="260118"/>
                    </a:cubicBezTo>
                    <a:lnTo>
                      <a:pt x="434114" y="440"/>
                    </a:lnTo>
                    <a:cubicBezTo>
                      <a:pt x="435549" y="-437"/>
                      <a:pt x="437422" y="42"/>
                      <a:pt x="438259" y="1476"/>
                    </a:cubicBezTo>
                    <a:cubicBezTo>
                      <a:pt x="439135" y="2911"/>
                      <a:pt x="438657" y="4784"/>
                      <a:pt x="437222" y="5621"/>
                    </a:cubicBezTo>
                    <a:lnTo>
                      <a:pt x="4585" y="265299"/>
                    </a:lnTo>
                    <a:cubicBezTo>
                      <a:pt x="4106" y="265578"/>
                      <a:pt x="3549" y="265737"/>
                      <a:pt x="3030" y="265737"/>
                    </a:cubicBezTo>
                    <a:close/>
                  </a:path>
                </a:pathLst>
              </a:custGeom>
              <a:solidFill>
                <a:srgbClr val="D7B728"/>
              </a:solidFill>
              <a:ln w="3972" cap="flat">
                <a:noFill/>
                <a:prstDash val="solid"/>
                <a:miter/>
              </a:ln>
            </p:spPr>
            <p:txBody>
              <a:bodyPr rtlCol="0" anchor="ctr"/>
              <a:lstStyle/>
              <a:p>
                <a:endParaRPr lang="en-US"/>
              </a:p>
            </p:txBody>
          </p:sp>
          <p:sp>
            <p:nvSpPr>
              <p:cNvPr id="273" name="Freeform: Shape 272">
                <a:extLst>
                  <a:ext uri="{FF2B5EF4-FFF2-40B4-BE49-F238E27FC236}">
                    <a16:creationId xmlns:a16="http://schemas.microsoft.com/office/drawing/2014/main" id="{B9526159-0B92-426E-9505-64E32AA084C5}"/>
                  </a:ext>
                </a:extLst>
              </p:cNvPr>
              <p:cNvSpPr/>
              <p:nvPr/>
            </p:nvSpPr>
            <p:spPr>
              <a:xfrm>
                <a:off x="1012892" y="1930007"/>
                <a:ext cx="184469" cy="194911"/>
              </a:xfrm>
              <a:custGeom>
                <a:avLst/>
                <a:gdLst>
                  <a:gd name="connsiteX0" fmla="*/ 184470 w 184469"/>
                  <a:gd name="connsiteY0" fmla="*/ 152276 h 194911"/>
                  <a:gd name="connsiteX1" fmla="*/ 134495 w 184469"/>
                  <a:gd name="connsiteY1" fmla="*/ 182245 h 194911"/>
                  <a:gd name="connsiteX2" fmla="*/ 12666 w 184469"/>
                  <a:gd name="connsiteY2" fmla="*/ 151798 h 194911"/>
                  <a:gd name="connsiteX3" fmla="*/ 43113 w 184469"/>
                  <a:gd name="connsiteY3" fmla="*/ 29969 h 194911"/>
                  <a:gd name="connsiteX4" fmla="*/ 93088 w 184469"/>
                  <a:gd name="connsiteY4" fmla="*/ 0 h 194911"/>
                  <a:gd name="connsiteX5" fmla="*/ 184470 w 184469"/>
                  <a:gd name="connsiteY5" fmla="*/ 152276 h 194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4469" h="194911">
                    <a:moveTo>
                      <a:pt x="184470" y="152276"/>
                    </a:moveTo>
                    <a:lnTo>
                      <a:pt x="134495" y="182245"/>
                    </a:lnTo>
                    <a:cubicBezTo>
                      <a:pt x="92451" y="207471"/>
                      <a:pt x="37893" y="193842"/>
                      <a:pt x="12666" y="151798"/>
                    </a:cubicBezTo>
                    <a:cubicBezTo>
                      <a:pt x="-12560" y="109753"/>
                      <a:pt x="1069" y="55196"/>
                      <a:pt x="43113" y="29969"/>
                    </a:cubicBezTo>
                    <a:lnTo>
                      <a:pt x="93088" y="0"/>
                    </a:lnTo>
                    <a:lnTo>
                      <a:pt x="184470" y="152276"/>
                    </a:lnTo>
                    <a:close/>
                  </a:path>
                </a:pathLst>
              </a:custGeom>
              <a:solidFill>
                <a:srgbClr val="FFBBCD"/>
              </a:solidFill>
              <a:ln w="3972" cap="flat">
                <a:noFill/>
                <a:prstDash val="solid"/>
                <a:miter/>
              </a:ln>
            </p:spPr>
            <p:txBody>
              <a:bodyPr rtlCol="0" anchor="ctr"/>
              <a:lstStyle/>
              <a:p>
                <a:endParaRPr lang="en-US"/>
              </a:p>
            </p:txBody>
          </p:sp>
          <p:sp>
            <p:nvSpPr>
              <p:cNvPr id="274" name="Freeform: Shape 273">
                <a:extLst>
                  <a:ext uri="{FF2B5EF4-FFF2-40B4-BE49-F238E27FC236}">
                    <a16:creationId xmlns:a16="http://schemas.microsoft.com/office/drawing/2014/main" id="{8DE0183C-F77F-4D0A-AEF9-2ADF09DFB5D9}"/>
                  </a:ext>
                </a:extLst>
              </p:cNvPr>
              <p:cNvSpPr/>
              <p:nvPr/>
            </p:nvSpPr>
            <p:spPr>
              <a:xfrm rot="-1858199">
                <a:off x="1097536" y="1932342"/>
                <a:ext cx="58264" cy="177582"/>
              </a:xfrm>
              <a:custGeom>
                <a:avLst/>
                <a:gdLst>
                  <a:gd name="connsiteX0" fmla="*/ 0 w 58264"/>
                  <a:gd name="connsiteY0" fmla="*/ 0 h 177582"/>
                  <a:gd name="connsiteX1" fmla="*/ 58264 w 58264"/>
                  <a:gd name="connsiteY1" fmla="*/ 0 h 177582"/>
                  <a:gd name="connsiteX2" fmla="*/ 58264 w 58264"/>
                  <a:gd name="connsiteY2" fmla="*/ 177582 h 177582"/>
                  <a:gd name="connsiteX3" fmla="*/ 0 w 58264"/>
                  <a:gd name="connsiteY3" fmla="*/ 177582 h 177582"/>
                </a:gdLst>
                <a:ahLst/>
                <a:cxnLst>
                  <a:cxn ang="0">
                    <a:pos x="connsiteX0" y="connsiteY0"/>
                  </a:cxn>
                  <a:cxn ang="0">
                    <a:pos x="connsiteX1" y="connsiteY1"/>
                  </a:cxn>
                  <a:cxn ang="0">
                    <a:pos x="connsiteX2" y="connsiteY2"/>
                  </a:cxn>
                  <a:cxn ang="0">
                    <a:pos x="connsiteX3" y="connsiteY3"/>
                  </a:cxn>
                </a:cxnLst>
                <a:rect l="l" t="t" r="r" b="b"/>
                <a:pathLst>
                  <a:path w="58264" h="177582">
                    <a:moveTo>
                      <a:pt x="0" y="0"/>
                    </a:moveTo>
                    <a:lnTo>
                      <a:pt x="58264" y="0"/>
                    </a:lnTo>
                    <a:lnTo>
                      <a:pt x="58264" y="177582"/>
                    </a:lnTo>
                    <a:lnTo>
                      <a:pt x="0" y="177582"/>
                    </a:lnTo>
                    <a:close/>
                  </a:path>
                </a:pathLst>
              </a:custGeom>
              <a:solidFill>
                <a:schemeClr val="accent6"/>
              </a:solidFill>
              <a:ln w="3972" cap="flat">
                <a:noFill/>
                <a:prstDash val="solid"/>
                <a:miter/>
              </a:ln>
            </p:spPr>
            <p:txBody>
              <a:bodyPr rtlCol="0" anchor="ctr"/>
              <a:lstStyle/>
              <a:p>
                <a:endParaRPr lang="en-US"/>
              </a:p>
            </p:txBody>
          </p:sp>
        </p:grpSp>
        <p:sp>
          <p:nvSpPr>
            <p:cNvPr id="253" name="Freeform: Shape 252">
              <a:extLst>
                <a:ext uri="{FF2B5EF4-FFF2-40B4-BE49-F238E27FC236}">
                  <a16:creationId xmlns:a16="http://schemas.microsoft.com/office/drawing/2014/main" id="{B49A039D-906D-422A-A8AD-809C93BC7E82}"/>
                </a:ext>
              </a:extLst>
            </p:cNvPr>
            <p:cNvSpPr/>
            <p:nvPr/>
          </p:nvSpPr>
          <p:spPr>
            <a:xfrm>
              <a:off x="1535588" y="1667338"/>
              <a:ext cx="97442" cy="158335"/>
            </a:xfrm>
            <a:custGeom>
              <a:avLst/>
              <a:gdLst>
                <a:gd name="connsiteX0" fmla="*/ 94412 w 97442"/>
                <a:gd name="connsiteY0" fmla="*/ 158335 h 158335"/>
                <a:gd name="connsiteX1" fmla="*/ 91822 w 97442"/>
                <a:gd name="connsiteY1" fmla="*/ 156861 h 158335"/>
                <a:gd name="connsiteX2" fmla="*/ 440 w 97442"/>
                <a:gd name="connsiteY2" fmla="*/ 4585 h 158335"/>
                <a:gd name="connsiteX3" fmla="*/ 1476 w 97442"/>
                <a:gd name="connsiteY3" fmla="*/ 440 h 158335"/>
                <a:gd name="connsiteX4" fmla="*/ 5621 w 97442"/>
                <a:gd name="connsiteY4" fmla="*/ 1476 h 158335"/>
                <a:gd name="connsiteX5" fmla="*/ 97002 w 97442"/>
                <a:gd name="connsiteY5" fmla="*/ 153752 h 158335"/>
                <a:gd name="connsiteX6" fmla="*/ 95966 w 97442"/>
                <a:gd name="connsiteY6" fmla="*/ 157897 h 158335"/>
                <a:gd name="connsiteX7" fmla="*/ 94412 w 97442"/>
                <a:gd name="connsiteY7" fmla="*/ 158335 h 158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7442" h="158335">
                  <a:moveTo>
                    <a:pt x="94412" y="158335"/>
                  </a:moveTo>
                  <a:cubicBezTo>
                    <a:pt x="93376" y="158335"/>
                    <a:pt x="92380" y="157817"/>
                    <a:pt x="91822" y="156861"/>
                  </a:cubicBezTo>
                  <a:lnTo>
                    <a:pt x="440" y="4585"/>
                  </a:lnTo>
                  <a:cubicBezTo>
                    <a:pt x="-437" y="3150"/>
                    <a:pt x="42" y="1277"/>
                    <a:pt x="1476" y="440"/>
                  </a:cubicBezTo>
                  <a:cubicBezTo>
                    <a:pt x="2911" y="-437"/>
                    <a:pt x="4784" y="42"/>
                    <a:pt x="5621" y="1476"/>
                  </a:cubicBezTo>
                  <a:lnTo>
                    <a:pt x="97002" y="153752"/>
                  </a:lnTo>
                  <a:cubicBezTo>
                    <a:pt x="97879" y="155187"/>
                    <a:pt x="97401" y="157060"/>
                    <a:pt x="95966" y="157897"/>
                  </a:cubicBezTo>
                  <a:cubicBezTo>
                    <a:pt x="95488" y="158176"/>
                    <a:pt x="94930" y="158335"/>
                    <a:pt x="94412" y="158335"/>
                  </a:cubicBezTo>
                  <a:close/>
                </a:path>
              </a:pathLst>
            </a:custGeom>
            <a:solidFill>
              <a:srgbClr val="D7B728"/>
            </a:solidFill>
            <a:ln w="3972" cap="flat">
              <a:noFill/>
              <a:prstDash val="solid"/>
              <a:miter/>
            </a:ln>
          </p:spPr>
          <p:txBody>
            <a:bodyPr rtlCol="0" anchor="ctr"/>
            <a:lstStyle/>
            <a:p>
              <a:endParaRPr lang="en-US"/>
            </a:p>
          </p:txBody>
        </p:sp>
        <p:sp>
          <p:nvSpPr>
            <p:cNvPr id="257" name="Freeform: Shape 256">
              <a:extLst>
                <a:ext uri="{FF2B5EF4-FFF2-40B4-BE49-F238E27FC236}">
                  <a16:creationId xmlns:a16="http://schemas.microsoft.com/office/drawing/2014/main" id="{514A60D7-F607-4814-BF3A-35A15EFD8C91}"/>
                </a:ext>
              </a:extLst>
            </p:cNvPr>
            <p:cNvSpPr/>
            <p:nvPr/>
          </p:nvSpPr>
          <p:spPr>
            <a:xfrm>
              <a:off x="1498168" y="1757723"/>
              <a:ext cx="149787" cy="150373"/>
            </a:xfrm>
            <a:custGeom>
              <a:avLst/>
              <a:gdLst>
                <a:gd name="connsiteX0" fmla="*/ 0 w 149787"/>
                <a:gd name="connsiteY0" fmla="*/ 144028 h 150373"/>
                <a:gd name="connsiteX1" fmla="*/ 113380 w 149787"/>
                <a:gd name="connsiteY1" fmla="*/ 120635 h 150373"/>
                <a:gd name="connsiteX2" fmla="*/ 142871 w 149787"/>
                <a:gd name="connsiteY2" fmla="*/ 68309 h 150373"/>
                <a:gd name="connsiteX3" fmla="*/ 149526 w 149787"/>
                <a:gd name="connsiteY3" fmla="*/ 23714 h 150373"/>
                <a:gd name="connsiteX4" fmla="*/ 131035 w 149787"/>
                <a:gd name="connsiteY4" fmla="*/ 3071 h 150373"/>
                <a:gd name="connsiteX5" fmla="*/ 122267 w 149787"/>
                <a:gd name="connsiteY5" fmla="*/ 14070 h 150373"/>
                <a:gd name="connsiteX6" fmla="*/ 120952 w 149787"/>
                <a:gd name="connsiteY6" fmla="*/ 17696 h 150373"/>
                <a:gd name="connsiteX7" fmla="*/ 116329 w 149787"/>
                <a:gd name="connsiteY7" fmla="*/ 4984 h 150373"/>
                <a:gd name="connsiteX8" fmla="*/ 95088 w 149787"/>
                <a:gd name="connsiteY8" fmla="*/ 8650 h 150373"/>
                <a:gd name="connsiteX9" fmla="*/ 85165 w 149787"/>
                <a:gd name="connsiteY9" fmla="*/ 31725 h 150373"/>
                <a:gd name="connsiteX10" fmla="*/ 76955 w 149787"/>
                <a:gd name="connsiteY10" fmla="*/ 15305 h 150373"/>
                <a:gd name="connsiteX11" fmla="*/ 55554 w 149787"/>
                <a:gd name="connsiteY11" fmla="*/ 28377 h 150373"/>
                <a:gd name="connsiteX12" fmla="*/ 47743 w 149787"/>
                <a:gd name="connsiteY12" fmla="*/ 61773 h 150373"/>
                <a:gd name="connsiteX13" fmla="*/ 47504 w 149787"/>
                <a:gd name="connsiteY13" fmla="*/ 60458 h 150373"/>
                <a:gd name="connsiteX14" fmla="*/ 30128 w 149787"/>
                <a:gd name="connsiteY14" fmla="*/ 43441 h 150373"/>
                <a:gd name="connsiteX15" fmla="*/ 21879 w 149787"/>
                <a:gd name="connsiteY15" fmla="*/ 54600 h 150373"/>
                <a:gd name="connsiteX16" fmla="*/ 17655 w 149787"/>
                <a:gd name="connsiteY16" fmla="*/ 71457 h 150373"/>
                <a:gd name="connsiteX17" fmla="*/ 13390 w 149787"/>
                <a:gd name="connsiteY17" fmla="*/ 135978 h 150373"/>
                <a:gd name="connsiteX18" fmla="*/ 40 w 149787"/>
                <a:gd name="connsiteY18" fmla="*/ 143989 h 15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9787" h="150373">
                  <a:moveTo>
                    <a:pt x="0" y="144028"/>
                  </a:moveTo>
                  <a:cubicBezTo>
                    <a:pt x="0" y="144028"/>
                    <a:pt x="32360" y="168737"/>
                    <a:pt x="113380" y="120635"/>
                  </a:cubicBezTo>
                  <a:cubicBezTo>
                    <a:pt x="130915" y="110234"/>
                    <a:pt x="137451" y="91662"/>
                    <a:pt x="142871" y="68309"/>
                  </a:cubicBezTo>
                  <a:cubicBezTo>
                    <a:pt x="146179" y="54042"/>
                    <a:pt x="150961" y="38340"/>
                    <a:pt x="149526" y="23714"/>
                  </a:cubicBezTo>
                  <a:cubicBezTo>
                    <a:pt x="148689" y="15026"/>
                    <a:pt x="143389" y="-2668"/>
                    <a:pt x="131035" y="3071"/>
                  </a:cubicBezTo>
                  <a:cubicBezTo>
                    <a:pt x="126691" y="5103"/>
                    <a:pt x="124021" y="9806"/>
                    <a:pt x="122267" y="14070"/>
                  </a:cubicBezTo>
                  <a:cubicBezTo>
                    <a:pt x="121789" y="15265"/>
                    <a:pt x="121351" y="16461"/>
                    <a:pt x="120952" y="17696"/>
                  </a:cubicBezTo>
                  <a:cubicBezTo>
                    <a:pt x="120235" y="13113"/>
                    <a:pt x="118800" y="8730"/>
                    <a:pt x="116329" y="4984"/>
                  </a:cubicBezTo>
                  <a:cubicBezTo>
                    <a:pt x="110112" y="-4501"/>
                    <a:pt x="99990" y="1158"/>
                    <a:pt x="95088" y="8650"/>
                  </a:cubicBezTo>
                  <a:cubicBezTo>
                    <a:pt x="90624" y="15505"/>
                    <a:pt x="87556" y="23595"/>
                    <a:pt x="85165" y="31725"/>
                  </a:cubicBezTo>
                  <a:cubicBezTo>
                    <a:pt x="84447" y="25069"/>
                    <a:pt x="82335" y="18374"/>
                    <a:pt x="76955" y="15305"/>
                  </a:cubicBezTo>
                  <a:cubicBezTo>
                    <a:pt x="68347" y="10404"/>
                    <a:pt x="58902" y="21722"/>
                    <a:pt x="55554" y="28377"/>
                  </a:cubicBezTo>
                  <a:cubicBezTo>
                    <a:pt x="50453" y="38579"/>
                    <a:pt x="49258" y="50654"/>
                    <a:pt x="47743" y="61773"/>
                  </a:cubicBezTo>
                  <a:cubicBezTo>
                    <a:pt x="47663" y="61375"/>
                    <a:pt x="47584" y="60896"/>
                    <a:pt x="47504" y="60458"/>
                  </a:cubicBezTo>
                  <a:cubicBezTo>
                    <a:pt x="46029" y="53085"/>
                    <a:pt x="40649" y="37543"/>
                    <a:pt x="30128" y="43441"/>
                  </a:cubicBezTo>
                  <a:cubicBezTo>
                    <a:pt x="26143" y="45673"/>
                    <a:pt x="23672" y="50575"/>
                    <a:pt x="21879" y="54600"/>
                  </a:cubicBezTo>
                  <a:cubicBezTo>
                    <a:pt x="19528" y="59900"/>
                    <a:pt x="18213" y="65719"/>
                    <a:pt x="17655" y="71457"/>
                  </a:cubicBezTo>
                  <a:cubicBezTo>
                    <a:pt x="16379" y="83812"/>
                    <a:pt x="13390" y="135978"/>
                    <a:pt x="13390" y="135978"/>
                  </a:cubicBezTo>
                  <a:lnTo>
                    <a:pt x="40" y="143989"/>
                  </a:lnTo>
                  <a:close/>
                </a:path>
              </a:pathLst>
            </a:custGeom>
            <a:solidFill>
              <a:srgbClr val="FFBEBB"/>
            </a:solidFill>
            <a:ln w="3972" cap="flat">
              <a:noFill/>
              <a:prstDash val="solid"/>
              <a:miter/>
            </a:ln>
          </p:spPr>
          <p:txBody>
            <a:bodyPr rtlCol="0" anchor="ctr"/>
            <a:lstStyle/>
            <a:p>
              <a:endParaRPr lang="en-US"/>
            </a:p>
          </p:txBody>
        </p:sp>
        <p:sp>
          <p:nvSpPr>
            <p:cNvPr id="258" name="Freeform: Shape 257">
              <a:extLst>
                <a:ext uri="{FF2B5EF4-FFF2-40B4-BE49-F238E27FC236}">
                  <a16:creationId xmlns:a16="http://schemas.microsoft.com/office/drawing/2014/main" id="{C5C919AF-8949-4BE6-8704-2E41DC5485EB}"/>
                </a:ext>
              </a:extLst>
            </p:cNvPr>
            <p:cNvSpPr/>
            <p:nvPr/>
          </p:nvSpPr>
          <p:spPr>
            <a:xfrm>
              <a:off x="1607182" y="1774090"/>
              <a:ext cx="15426" cy="85776"/>
            </a:xfrm>
            <a:custGeom>
              <a:avLst/>
              <a:gdLst>
                <a:gd name="connsiteX0" fmla="*/ 3050 w 15426"/>
                <a:gd name="connsiteY0" fmla="*/ 85777 h 85776"/>
                <a:gd name="connsiteX1" fmla="*/ 2692 w 15426"/>
                <a:gd name="connsiteY1" fmla="*/ 85777 h 85776"/>
                <a:gd name="connsiteX2" fmla="*/ 22 w 15426"/>
                <a:gd name="connsiteY2" fmla="*/ 82429 h 85776"/>
                <a:gd name="connsiteX3" fmla="*/ 9387 w 15426"/>
                <a:gd name="connsiteY3" fmla="*/ 2685 h 85776"/>
                <a:gd name="connsiteX4" fmla="*/ 12735 w 15426"/>
                <a:gd name="connsiteY4" fmla="*/ 15 h 85776"/>
                <a:gd name="connsiteX5" fmla="*/ 15405 w 15426"/>
                <a:gd name="connsiteY5" fmla="*/ 3362 h 85776"/>
                <a:gd name="connsiteX6" fmla="*/ 6039 w 15426"/>
                <a:gd name="connsiteY6" fmla="*/ 83107 h 85776"/>
                <a:gd name="connsiteX7" fmla="*/ 3050 w 15426"/>
                <a:gd name="connsiteY7" fmla="*/ 85777 h 85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26" h="85776">
                  <a:moveTo>
                    <a:pt x="3050" y="85777"/>
                  </a:moveTo>
                  <a:cubicBezTo>
                    <a:pt x="3050" y="85777"/>
                    <a:pt x="2811" y="85777"/>
                    <a:pt x="2692" y="85777"/>
                  </a:cubicBezTo>
                  <a:cubicBezTo>
                    <a:pt x="1018" y="85578"/>
                    <a:pt x="-178" y="84063"/>
                    <a:pt x="22" y="82429"/>
                  </a:cubicBezTo>
                  <a:lnTo>
                    <a:pt x="9387" y="2685"/>
                  </a:lnTo>
                  <a:cubicBezTo>
                    <a:pt x="9586" y="1011"/>
                    <a:pt x="11140" y="-145"/>
                    <a:pt x="12735" y="15"/>
                  </a:cubicBezTo>
                  <a:cubicBezTo>
                    <a:pt x="14408" y="214"/>
                    <a:pt x="15604" y="1728"/>
                    <a:pt x="15405" y="3362"/>
                  </a:cubicBezTo>
                  <a:lnTo>
                    <a:pt x="6039" y="83107"/>
                  </a:lnTo>
                  <a:cubicBezTo>
                    <a:pt x="5880" y="84661"/>
                    <a:pt x="4565" y="85777"/>
                    <a:pt x="3050" y="85777"/>
                  </a:cubicBezTo>
                  <a:close/>
                </a:path>
              </a:pathLst>
            </a:custGeom>
            <a:solidFill>
              <a:srgbClr val="F47C73"/>
            </a:solidFill>
            <a:ln w="3972" cap="flat">
              <a:noFill/>
              <a:prstDash val="solid"/>
              <a:miter/>
            </a:ln>
          </p:spPr>
          <p:txBody>
            <a:bodyPr rtlCol="0" anchor="ctr"/>
            <a:lstStyle/>
            <a:p>
              <a:endParaRPr lang="en-US"/>
            </a:p>
          </p:txBody>
        </p:sp>
        <p:sp>
          <p:nvSpPr>
            <p:cNvPr id="259" name="Freeform: Shape 258">
              <a:extLst>
                <a:ext uri="{FF2B5EF4-FFF2-40B4-BE49-F238E27FC236}">
                  <a16:creationId xmlns:a16="http://schemas.microsoft.com/office/drawing/2014/main" id="{2604A48C-9E62-4E77-A8E6-07CE0D648315}"/>
                </a:ext>
              </a:extLst>
            </p:cNvPr>
            <p:cNvSpPr/>
            <p:nvPr/>
          </p:nvSpPr>
          <p:spPr>
            <a:xfrm>
              <a:off x="1570837" y="1786437"/>
              <a:ext cx="15545" cy="94471"/>
            </a:xfrm>
            <a:custGeom>
              <a:avLst/>
              <a:gdLst>
                <a:gd name="connsiteX0" fmla="*/ 3011 w 15545"/>
                <a:gd name="connsiteY0" fmla="*/ 94432 h 94471"/>
                <a:gd name="connsiteX1" fmla="*/ 2692 w 15545"/>
                <a:gd name="connsiteY1" fmla="*/ 94432 h 94471"/>
                <a:gd name="connsiteX2" fmla="*/ 22 w 15545"/>
                <a:gd name="connsiteY2" fmla="*/ 91084 h 94471"/>
                <a:gd name="connsiteX3" fmla="*/ 9507 w 15545"/>
                <a:gd name="connsiteY3" fmla="*/ 2692 h 94471"/>
                <a:gd name="connsiteX4" fmla="*/ 12854 w 15545"/>
                <a:gd name="connsiteY4" fmla="*/ 22 h 94471"/>
                <a:gd name="connsiteX5" fmla="*/ 15524 w 15545"/>
                <a:gd name="connsiteY5" fmla="*/ 3369 h 94471"/>
                <a:gd name="connsiteX6" fmla="*/ 6039 w 15545"/>
                <a:gd name="connsiteY6" fmla="*/ 91762 h 94471"/>
                <a:gd name="connsiteX7" fmla="*/ 3051 w 15545"/>
                <a:gd name="connsiteY7" fmla="*/ 94472 h 94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545" h="94471">
                  <a:moveTo>
                    <a:pt x="3011" y="94432"/>
                  </a:moveTo>
                  <a:cubicBezTo>
                    <a:pt x="3011" y="94432"/>
                    <a:pt x="2811" y="94432"/>
                    <a:pt x="2692" y="94432"/>
                  </a:cubicBezTo>
                  <a:cubicBezTo>
                    <a:pt x="1018" y="94233"/>
                    <a:pt x="-178" y="92758"/>
                    <a:pt x="22" y="91084"/>
                  </a:cubicBezTo>
                  <a:lnTo>
                    <a:pt x="9507" y="2692"/>
                  </a:lnTo>
                  <a:cubicBezTo>
                    <a:pt x="9666" y="1018"/>
                    <a:pt x="11180" y="-178"/>
                    <a:pt x="12854" y="22"/>
                  </a:cubicBezTo>
                  <a:cubicBezTo>
                    <a:pt x="14528" y="221"/>
                    <a:pt x="15724" y="1695"/>
                    <a:pt x="15524" y="3369"/>
                  </a:cubicBezTo>
                  <a:lnTo>
                    <a:pt x="6039" y="91762"/>
                  </a:lnTo>
                  <a:cubicBezTo>
                    <a:pt x="5880" y="93316"/>
                    <a:pt x="4565" y="94472"/>
                    <a:pt x="3051" y="94472"/>
                  </a:cubicBezTo>
                  <a:close/>
                </a:path>
              </a:pathLst>
            </a:custGeom>
            <a:solidFill>
              <a:srgbClr val="F47C73"/>
            </a:solidFill>
            <a:ln w="3972" cap="flat">
              <a:noFill/>
              <a:prstDash val="solid"/>
              <a:miter/>
            </a:ln>
          </p:spPr>
          <p:txBody>
            <a:bodyPr rtlCol="0" anchor="ctr"/>
            <a:lstStyle/>
            <a:p>
              <a:endParaRPr lang="en-US"/>
            </a:p>
          </p:txBody>
        </p:sp>
        <p:sp>
          <p:nvSpPr>
            <p:cNvPr id="260" name="Freeform: Shape 259">
              <a:extLst>
                <a:ext uri="{FF2B5EF4-FFF2-40B4-BE49-F238E27FC236}">
                  <a16:creationId xmlns:a16="http://schemas.microsoft.com/office/drawing/2014/main" id="{203F63EB-65B5-42EC-8F18-3469DE4FFA82}"/>
                </a:ext>
              </a:extLst>
            </p:cNvPr>
            <p:cNvSpPr/>
            <p:nvPr/>
          </p:nvSpPr>
          <p:spPr>
            <a:xfrm>
              <a:off x="1534651" y="1816486"/>
              <a:ext cx="14270" cy="76059"/>
            </a:xfrm>
            <a:custGeom>
              <a:avLst/>
              <a:gdLst>
                <a:gd name="connsiteX0" fmla="*/ 3051 w 14270"/>
                <a:gd name="connsiteY0" fmla="*/ 76060 h 76059"/>
                <a:gd name="connsiteX1" fmla="*/ 2692 w 14270"/>
                <a:gd name="connsiteY1" fmla="*/ 76060 h 76059"/>
                <a:gd name="connsiteX2" fmla="*/ 22 w 14270"/>
                <a:gd name="connsiteY2" fmla="*/ 72712 h 76059"/>
                <a:gd name="connsiteX3" fmla="*/ 8231 w 14270"/>
                <a:gd name="connsiteY3" fmla="*/ 2692 h 76059"/>
                <a:gd name="connsiteX4" fmla="*/ 11579 w 14270"/>
                <a:gd name="connsiteY4" fmla="*/ 22 h 76059"/>
                <a:gd name="connsiteX5" fmla="*/ 14249 w 14270"/>
                <a:gd name="connsiteY5" fmla="*/ 3369 h 76059"/>
                <a:gd name="connsiteX6" fmla="*/ 6039 w 14270"/>
                <a:gd name="connsiteY6" fmla="*/ 73390 h 76059"/>
                <a:gd name="connsiteX7" fmla="*/ 3051 w 14270"/>
                <a:gd name="connsiteY7" fmla="*/ 76060 h 7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70" h="76059">
                  <a:moveTo>
                    <a:pt x="3051" y="76060"/>
                  </a:moveTo>
                  <a:cubicBezTo>
                    <a:pt x="3051" y="76060"/>
                    <a:pt x="2811" y="76060"/>
                    <a:pt x="2692" y="76060"/>
                  </a:cubicBezTo>
                  <a:cubicBezTo>
                    <a:pt x="1018" y="75861"/>
                    <a:pt x="-178" y="74346"/>
                    <a:pt x="22" y="72712"/>
                  </a:cubicBezTo>
                  <a:lnTo>
                    <a:pt x="8231" y="2692"/>
                  </a:lnTo>
                  <a:cubicBezTo>
                    <a:pt x="8431" y="1018"/>
                    <a:pt x="9945" y="-178"/>
                    <a:pt x="11579" y="22"/>
                  </a:cubicBezTo>
                  <a:cubicBezTo>
                    <a:pt x="13253" y="221"/>
                    <a:pt x="14448" y="1735"/>
                    <a:pt x="14249" y="3369"/>
                  </a:cubicBezTo>
                  <a:lnTo>
                    <a:pt x="6039" y="73390"/>
                  </a:lnTo>
                  <a:cubicBezTo>
                    <a:pt x="5880" y="74944"/>
                    <a:pt x="4565" y="76060"/>
                    <a:pt x="3051" y="76060"/>
                  </a:cubicBezTo>
                  <a:close/>
                </a:path>
              </a:pathLst>
            </a:custGeom>
            <a:solidFill>
              <a:srgbClr val="F47C73"/>
            </a:solidFill>
            <a:ln w="3972" cap="flat">
              <a:noFill/>
              <a:prstDash val="solid"/>
              <a:miter/>
            </a:ln>
          </p:spPr>
          <p:txBody>
            <a:bodyPr rtlCol="0" anchor="ctr"/>
            <a:lstStyle/>
            <a:p>
              <a:endParaRPr lang="en-US"/>
            </a:p>
          </p:txBody>
        </p:sp>
        <p:sp>
          <p:nvSpPr>
            <p:cNvPr id="261" name="Freeform: Shape 260">
              <a:extLst>
                <a:ext uri="{FF2B5EF4-FFF2-40B4-BE49-F238E27FC236}">
                  <a16:creationId xmlns:a16="http://schemas.microsoft.com/office/drawing/2014/main" id="{F5E36E13-90CD-49BC-AA6D-89B119949F9D}"/>
                </a:ext>
              </a:extLst>
            </p:cNvPr>
            <p:cNvSpPr/>
            <p:nvPr/>
          </p:nvSpPr>
          <p:spPr>
            <a:xfrm>
              <a:off x="1059592" y="1796676"/>
              <a:ext cx="301527" cy="228657"/>
            </a:xfrm>
            <a:custGeom>
              <a:avLst/>
              <a:gdLst>
                <a:gd name="connsiteX0" fmla="*/ 220623 w 301527"/>
                <a:gd name="connsiteY0" fmla="*/ 47648 h 228657"/>
                <a:gd name="connsiteX1" fmla="*/ 168855 w 301527"/>
                <a:gd name="connsiteY1" fmla="*/ 65462 h 228657"/>
                <a:gd name="connsiteX2" fmla="*/ 189140 w 301527"/>
                <a:gd name="connsiteY2" fmla="*/ 3651 h 228657"/>
                <a:gd name="connsiteX3" fmla="*/ 135578 w 301527"/>
                <a:gd name="connsiteY3" fmla="*/ 28001 h 228657"/>
                <a:gd name="connsiteX4" fmla="*/ 85723 w 301527"/>
                <a:gd name="connsiteY4" fmla="*/ 71161 h 228657"/>
                <a:gd name="connsiteX5" fmla="*/ 0 w 301527"/>
                <a:gd name="connsiteY5" fmla="*/ 106032 h 228657"/>
                <a:gd name="connsiteX6" fmla="*/ 57467 w 301527"/>
                <a:gd name="connsiteY6" fmla="*/ 228657 h 228657"/>
                <a:gd name="connsiteX7" fmla="*/ 129999 w 301527"/>
                <a:gd name="connsiteY7" fmla="*/ 195500 h 228657"/>
                <a:gd name="connsiteX8" fmla="*/ 262030 w 301527"/>
                <a:gd name="connsiteY8" fmla="*/ 162502 h 228657"/>
                <a:gd name="connsiteX9" fmla="*/ 257686 w 301527"/>
                <a:gd name="connsiteY9" fmla="*/ 154970 h 228657"/>
                <a:gd name="connsiteX10" fmla="*/ 298255 w 301527"/>
                <a:gd name="connsiteY10" fmla="*/ 126356 h 228657"/>
                <a:gd name="connsiteX11" fmla="*/ 278369 w 301527"/>
                <a:gd name="connsiteY11" fmla="*/ 108861 h 228657"/>
                <a:gd name="connsiteX12" fmla="*/ 300846 w 301527"/>
                <a:gd name="connsiteY12" fmla="*/ 83475 h 228657"/>
                <a:gd name="connsiteX13" fmla="*/ 271993 w 301527"/>
                <a:gd name="connsiteY13" fmla="*/ 71400 h 228657"/>
                <a:gd name="connsiteX14" fmla="*/ 291959 w 301527"/>
                <a:gd name="connsiteY14" fmla="*/ 47210 h 228657"/>
                <a:gd name="connsiteX15" fmla="*/ 220583 w 301527"/>
                <a:gd name="connsiteY15" fmla="*/ 47648 h 22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1527" h="228657">
                  <a:moveTo>
                    <a:pt x="220623" y="47648"/>
                  </a:moveTo>
                  <a:cubicBezTo>
                    <a:pt x="203327" y="53267"/>
                    <a:pt x="168855" y="65462"/>
                    <a:pt x="168855" y="65462"/>
                  </a:cubicBezTo>
                  <a:cubicBezTo>
                    <a:pt x="197588" y="37645"/>
                    <a:pt x="209106" y="16244"/>
                    <a:pt x="189140" y="3651"/>
                  </a:cubicBezTo>
                  <a:cubicBezTo>
                    <a:pt x="169173" y="-8942"/>
                    <a:pt x="150403" y="13973"/>
                    <a:pt x="135578" y="28001"/>
                  </a:cubicBezTo>
                  <a:cubicBezTo>
                    <a:pt x="120753" y="42029"/>
                    <a:pt x="85723" y="71161"/>
                    <a:pt x="85723" y="71161"/>
                  </a:cubicBezTo>
                  <a:lnTo>
                    <a:pt x="0" y="106032"/>
                  </a:lnTo>
                  <a:lnTo>
                    <a:pt x="57467" y="228657"/>
                  </a:lnTo>
                  <a:lnTo>
                    <a:pt x="129999" y="195500"/>
                  </a:lnTo>
                  <a:cubicBezTo>
                    <a:pt x="222058" y="181950"/>
                    <a:pt x="265975" y="181233"/>
                    <a:pt x="262030" y="162502"/>
                  </a:cubicBezTo>
                  <a:cubicBezTo>
                    <a:pt x="261153" y="158358"/>
                    <a:pt x="259320" y="156126"/>
                    <a:pt x="257686" y="154970"/>
                  </a:cubicBezTo>
                  <a:cubicBezTo>
                    <a:pt x="275779" y="147677"/>
                    <a:pt x="297219" y="141261"/>
                    <a:pt x="298255" y="126356"/>
                  </a:cubicBezTo>
                  <a:cubicBezTo>
                    <a:pt x="299252" y="112209"/>
                    <a:pt x="278369" y="108861"/>
                    <a:pt x="278369" y="108861"/>
                  </a:cubicBezTo>
                  <a:cubicBezTo>
                    <a:pt x="293951" y="103043"/>
                    <a:pt x="304353" y="96507"/>
                    <a:pt x="300846" y="83475"/>
                  </a:cubicBezTo>
                  <a:cubicBezTo>
                    <a:pt x="297618" y="71519"/>
                    <a:pt x="285144" y="69726"/>
                    <a:pt x="271993" y="71400"/>
                  </a:cubicBezTo>
                  <a:cubicBezTo>
                    <a:pt x="290245" y="64346"/>
                    <a:pt x="294987" y="56814"/>
                    <a:pt x="291959" y="47210"/>
                  </a:cubicBezTo>
                  <a:cubicBezTo>
                    <a:pt x="286858" y="30990"/>
                    <a:pt x="261751" y="34218"/>
                    <a:pt x="220583" y="47648"/>
                  </a:cubicBezTo>
                  <a:close/>
                </a:path>
              </a:pathLst>
            </a:custGeom>
            <a:solidFill>
              <a:srgbClr val="FFBEBB"/>
            </a:solidFill>
            <a:ln w="3972" cap="flat">
              <a:noFill/>
              <a:prstDash val="solid"/>
              <a:miter/>
            </a:ln>
          </p:spPr>
          <p:txBody>
            <a:bodyPr rtlCol="0" anchor="ctr"/>
            <a:lstStyle/>
            <a:p>
              <a:endParaRPr lang="en-US"/>
            </a:p>
          </p:txBody>
        </p:sp>
        <p:sp>
          <p:nvSpPr>
            <p:cNvPr id="262" name="Freeform: Shape 261">
              <a:extLst>
                <a:ext uri="{FF2B5EF4-FFF2-40B4-BE49-F238E27FC236}">
                  <a16:creationId xmlns:a16="http://schemas.microsoft.com/office/drawing/2014/main" id="{10F6EB47-4D74-4434-910F-8502FBB76552}"/>
                </a:ext>
              </a:extLst>
            </p:cNvPr>
            <p:cNvSpPr/>
            <p:nvPr/>
          </p:nvSpPr>
          <p:spPr>
            <a:xfrm>
              <a:off x="1234617" y="1865040"/>
              <a:ext cx="100044" cy="34320"/>
            </a:xfrm>
            <a:custGeom>
              <a:avLst/>
              <a:gdLst>
                <a:gd name="connsiteX0" fmla="*/ 3036 w 100044"/>
                <a:gd name="connsiteY0" fmla="*/ 34320 h 34320"/>
                <a:gd name="connsiteX1" fmla="*/ 127 w 100044"/>
                <a:gd name="connsiteY1" fmla="*/ 32168 h 34320"/>
                <a:gd name="connsiteX2" fmla="*/ 2159 w 100044"/>
                <a:gd name="connsiteY2" fmla="*/ 28382 h 34320"/>
                <a:gd name="connsiteX3" fmla="*/ 96131 w 100044"/>
                <a:gd name="connsiteY3" fmla="*/ 127 h 34320"/>
                <a:gd name="connsiteX4" fmla="*/ 99917 w 100044"/>
                <a:gd name="connsiteY4" fmla="*/ 2159 h 34320"/>
                <a:gd name="connsiteX5" fmla="*/ 97885 w 100044"/>
                <a:gd name="connsiteY5" fmla="*/ 5945 h 34320"/>
                <a:gd name="connsiteX6" fmla="*/ 3913 w 100044"/>
                <a:gd name="connsiteY6" fmla="*/ 34201 h 34320"/>
                <a:gd name="connsiteX7" fmla="*/ 3036 w 100044"/>
                <a:gd name="connsiteY7" fmla="*/ 34320 h 3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44" h="34320">
                  <a:moveTo>
                    <a:pt x="3036" y="34320"/>
                  </a:moveTo>
                  <a:cubicBezTo>
                    <a:pt x="1721" y="34320"/>
                    <a:pt x="525" y="33483"/>
                    <a:pt x="127" y="32168"/>
                  </a:cubicBezTo>
                  <a:cubicBezTo>
                    <a:pt x="-351" y="30574"/>
                    <a:pt x="565" y="28860"/>
                    <a:pt x="2159" y="28382"/>
                  </a:cubicBezTo>
                  <a:lnTo>
                    <a:pt x="96131" y="127"/>
                  </a:lnTo>
                  <a:cubicBezTo>
                    <a:pt x="97725" y="-351"/>
                    <a:pt x="99439" y="565"/>
                    <a:pt x="99917" y="2159"/>
                  </a:cubicBezTo>
                  <a:cubicBezTo>
                    <a:pt x="100396" y="3753"/>
                    <a:pt x="99479" y="5467"/>
                    <a:pt x="97885" y="5945"/>
                  </a:cubicBezTo>
                  <a:lnTo>
                    <a:pt x="3913" y="34201"/>
                  </a:lnTo>
                  <a:cubicBezTo>
                    <a:pt x="3634" y="34280"/>
                    <a:pt x="3315" y="34320"/>
                    <a:pt x="3036" y="34320"/>
                  </a:cubicBezTo>
                  <a:close/>
                </a:path>
              </a:pathLst>
            </a:custGeom>
            <a:solidFill>
              <a:srgbClr val="F47C73"/>
            </a:solidFill>
            <a:ln w="3972" cap="flat">
              <a:noFill/>
              <a:prstDash val="solid"/>
              <a:miter/>
            </a:ln>
          </p:spPr>
          <p:txBody>
            <a:bodyPr rtlCol="0" anchor="ctr"/>
            <a:lstStyle/>
            <a:p>
              <a:endParaRPr lang="en-US"/>
            </a:p>
          </p:txBody>
        </p:sp>
        <p:sp>
          <p:nvSpPr>
            <p:cNvPr id="263" name="Freeform: Shape 262">
              <a:extLst>
                <a:ext uri="{FF2B5EF4-FFF2-40B4-BE49-F238E27FC236}">
                  <a16:creationId xmlns:a16="http://schemas.microsoft.com/office/drawing/2014/main" id="{F64872E7-E123-4963-958F-A7488A0F0D63}"/>
                </a:ext>
              </a:extLst>
            </p:cNvPr>
            <p:cNvSpPr/>
            <p:nvPr/>
          </p:nvSpPr>
          <p:spPr>
            <a:xfrm>
              <a:off x="1253164" y="1948666"/>
              <a:ext cx="67173" cy="19239"/>
            </a:xfrm>
            <a:custGeom>
              <a:avLst/>
              <a:gdLst>
                <a:gd name="connsiteX0" fmla="*/ 3020 w 67173"/>
                <a:gd name="connsiteY0" fmla="*/ 19240 h 19239"/>
                <a:gd name="connsiteX1" fmla="*/ 71 w 67173"/>
                <a:gd name="connsiteY1" fmla="*/ 16849 h 19239"/>
                <a:gd name="connsiteX2" fmla="*/ 2382 w 67173"/>
                <a:gd name="connsiteY2" fmla="*/ 13262 h 19239"/>
                <a:gd name="connsiteX3" fmla="*/ 63516 w 67173"/>
                <a:gd name="connsiteY3" fmla="*/ 71 h 19239"/>
                <a:gd name="connsiteX4" fmla="*/ 67103 w 67173"/>
                <a:gd name="connsiteY4" fmla="*/ 2382 h 19239"/>
                <a:gd name="connsiteX5" fmla="*/ 64791 w 67173"/>
                <a:gd name="connsiteY5" fmla="*/ 5969 h 19239"/>
                <a:gd name="connsiteX6" fmla="*/ 3658 w 67173"/>
                <a:gd name="connsiteY6" fmla="*/ 19160 h 19239"/>
                <a:gd name="connsiteX7" fmla="*/ 3020 w 67173"/>
                <a:gd name="connsiteY7" fmla="*/ 19240 h 19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173" h="19239">
                  <a:moveTo>
                    <a:pt x="3020" y="19240"/>
                  </a:moveTo>
                  <a:cubicBezTo>
                    <a:pt x="1625" y="19240"/>
                    <a:pt x="350" y="18284"/>
                    <a:pt x="71" y="16849"/>
                  </a:cubicBezTo>
                  <a:cubicBezTo>
                    <a:pt x="-288" y="15215"/>
                    <a:pt x="748" y="13581"/>
                    <a:pt x="2382" y="13262"/>
                  </a:cubicBezTo>
                  <a:lnTo>
                    <a:pt x="63516" y="71"/>
                  </a:lnTo>
                  <a:cubicBezTo>
                    <a:pt x="65150" y="-288"/>
                    <a:pt x="66784" y="748"/>
                    <a:pt x="67103" y="2382"/>
                  </a:cubicBezTo>
                  <a:cubicBezTo>
                    <a:pt x="67461" y="4016"/>
                    <a:pt x="66425" y="5650"/>
                    <a:pt x="64791" y="5969"/>
                  </a:cubicBezTo>
                  <a:lnTo>
                    <a:pt x="3658" y="19160"/>
                  </a:lnTo>
                  <a:cubicBezTo>
                    <a:pt x="3458" y="19200"/>
                    <a:pt x="3219" y="19240"/>
                    <a:pt x="3020" y="19240"/>
                  </a:cubicBezTo>
                  <a:close/>
                </a:path>
              </a:pathLst>
            </a:custGeom>
            <a:solidFill>
              <a:srgbClr val="F47C73"/>
            </a:solidFill>
            <a:ln w="3972" cap="flat">
              <a:noFill/>
              <a:prstDash val="solid"/>
              <a:miter/>
            </a:ln>
          </p:spPr>
          <p:txBody>
            <a:bodyPr rtlCol="0" anchor="ctr"/>
            <a:lstStyle/>
            <a:p>
              <a:endParaRPr lang="en-US"/>
            </a:p>
          </p:txBody>
        </p:sp>
        <p:sp>
          <p:nvSpPr>
            <p:cNvPr id="264" name="Freeform: Shape 263">
              <a:extLst>
                <a:ext uri="{FF2B5EF4-FFF2-40B4-BE49-F238E27FC236}">
                  <a16:creationId xmlns:a16="http://schemas.microsoft.com/office/drawing/2014/main" id="{9AEF33AA-77F6-49D7-9052-89C0DA6C65DA}"/>
                </a:ext>
              </a:extLst>
            </p:cNvPr>
            <p:cNvSpPr/>
            <p:nvPr/>
          </p:nvSpPr>
          <p:spPr>
            <a:xfrm>
              <a:off x="1244043" y="1902562"/>
              <a:ext cx="97014" cy="30433"/>
            </a:xfrm>
            <a:custGeom>
              <a:avLst/>
              <a:gdLst>
                <a:gd name="connsiteX0" fmla="*/ 3016 w 97014"/>
                <a:gd name="connsiteY0" fmla="*/ 30394 h 30433"/>
                <a:gd name="connsiteX1" fmla="*/ 106 w 97014"/>
                <a:gd name="connsiteY1" fmla="*/ 28162 h 30433"/>
                <a:gd name="connsiteX2" fmla="*/ 2258 w 97014"/>
                <a:gd name="connsiteY2" fmla="*/ 24456 h 30433"/>
                <a:gd name="connsiteX3" fmla="*/ 93202 w 97014"/>
                <a:gd name="connsiteY3" fmla="*/ 106 h 30433"/>
                <a:gd name="connsiteX4" fmla="*/ 96908 w 97014"/>
                <a:gd name="connsiteY4" fmla="*/ 2258 h 30433"/>
                <a:gd name="connsiteX5" fmla="*/ 94756 w 97014"/>
                <a:gd name="connsiteY5" fmla="*/ 5965 h 30433"/>
                <a:gd name="connsiteX6" fmla="*/ 3813 w 97014"/>
                <a:gd name="connsiteY6" fmla="*/ 30314 h 30433"/>
                <a:gd name="connsiteX7" fmla="*/ 3016 w 97014"/>
                <a:gd name="connsiteY7" fmla="*/ 30434 h 30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7014" h="30433">
                  <a:moveTo>
                    <a:pt x="3016" y="30394"/>
                  </a:moveTo>
                  <a:cubicBezTo>
                    <a:pt x="1661" y="30394"/>
                    <a:pt x="465" y="29517"/>
                    <a:pt x="106" y="28162"/>
                  </a:cubicBezTo>
                  <a:cubicBezTo>
                    <a:pt x="-332" y="26528"/>
                    <a:pt x="624" y="24894"/>
                    <a:pt x="2258" y="24456"/>
                  </a:cubicBezTo>
                  <a:lnTo>
                    <a:pt x="93202" y="106"/>
                  </a:lnTo>
                  <a:cubicBezTo>
                    <a:pt x="94835" y="-332"/>
                    <a:pt x="96469" y="624"/>
                    <a:pt x="96908" y="2258"/>
                  </a:cubicBezTo>
                  <a:cubicBezTo>
                    <a:pt x="97346" y="3892"/>
                    <a:pt x="96390" y="5526"/>
                    <a:pt x="94756" y="5965"/>
                  </a:cubicBezTo>
                  <a:lnTo>
                    <a:pt x="3813" y="30314"/>
                  </a:lnTo>
                  <a:cubicBezTo>
                    <a:pt x="3534" y="30394"/>
                    <a:pt x="3295" y="30434"/>
                    <a:pt x="3016" y="30434"/>
                  </a:cubicBezTo>
                  <a:close/>
                </a:path>
              </a:pathLst>
            </a:custGeom>
            <a:solidFill>
              <a:srgbClr val="F47C73"/>
            </a:solidFill>
            <a:ln w="3972" cap="flat">
              <a:noFill/>
              <a:prstDash val="solid"/>
              <a:miter/>
            </a:ln>
          </p:spPr>
          <p:txBody>
            <a:bodyPr rtlCol="0" anchor="ctr"/>
            <a:lstStyle/>
            <a:p>
              <a:endParaRPr lang="en-US"/>
            </a:p>
          </p:txBody>
        </p:sp>
        <p:sp>
          <p:nvSpPr>
            <p:cNvPr id="265" name="Freeform: Shape 264">
              <a:extLst>
                <a:ext uri="{FF2B5EF4-FFF2-40B4-BE49-F238E27FC236}">
                  <a16:creationId xmlns:a16="http://schemas.microsoft.com/office/drawing/2014/main" id="{A775A00D-5E12-4735-BAD9-6A6C0F3173D7}"/>
                </a:ext>
              </a:extLst>
            </p:cNvPr>
            <p:cNvSpPr/>
            <p:nvPr/>
          </p:nvSpPr>
          <p:spPr>
            <a:xfrm>
              <a:off x="1202201" y="1859047"/>
              <a:ext cx="29217" cy="16203"/>
            </a:xfrm>
            <a:custGeom>
              <a:avLst/>
              <a:gdLst>
                <a:gd name="connsiteX0" fmla="*/ 3052 w 29217"/>
                <a:gd name="connsiteY0" fmla="*/ 16203 h 16203"/>
                <a:gd name="connsiteX1" fmla="*/ 262 w 29217"/>
                <a:gd name="connsiteY1" fmla="*/ 14370 h 16203"/>
                <a:gd name="connsiteX2" fmla="*/ 1816 w 29217"/>
                <a:gd name="connsiteY2" fmla="*/ 10385 h 16203"/>
                <a:gd name="connsiteX3" fmla="*/ 24971 w 29217"/>
                <a:gd name="connsiteY3" fmla="*/ 262 h 16203"/>
                <a:gd name="connsiteX4" fmla="*/ 28956 w 29217"/>
                <a:gd name="connsiteY4" fmla="*/ 1816 h 16203"/>
                <a:gd name="connsiteX5" fmla="*/ 27402 w 29217"/>
                <a:gd name="connsiteY5" fmla="*/ 5802 h 16203"/>
                <a:gd name="connsiteX6" fmla="*/ 4247 w 29217"/>
                <a:gd name="connsiteY6" fmla="*/ 15924 h 16203"/>
                <a:gd name="connsiteX7" fmla="*/ 3052 w 29217"/>
                <a:gd name="connsiteY7" fmla="*/ 16163 h 1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217" h="16203">
                  <a:moveTo>
                    <a:pt x="3052" y="16203"/>
                  </a:moveTo>
                  <a:cubicBezTo>
                    <a:pt x="1896" y="16203"/>
                    <a:pt x="780" y="15526"/>
                    <a:pt x="262" y="14370"/>
                  </a:cubicBezTo>
                  <a:cubicBezTo>
                    <a:pt x="-415" y="12855"/>
                    <a:pt x="262" y="11062"/>
                    <a:pt x="1816" y="10385"/>
                  </a:cubicBezTo>
                  <a:lnTo>
                    <a:pt x="24971" y="262"/>
                  </a:lnTo>
                  <a:cubicBezTo>
                    <a:pt x="26485" y="-415"/>
                    <a:pt x="28278" y="262"/>
                    <a:pt x="28956" y="1816"/>
                  </a:cubicBezTo>
                  <a:cubicBezTo>
                    <a:pt x="29633" y="3331"/>
                    <a:pt x="28956" y="5124"/>
                    <a:pt x="27402" y="5802"/>
                  </a:cubicBezTo>
                  <a:lnTo>
                    <a:pt x="4247" y="15924"/>
                  </a:lnTo>
                  <a:cubicBezTo>
                    <a:pt x="3849" y="16083"/>
                    <a:pt x="3450" y="16163"/>
                    <a:pt x="3052" y="16163"/>
                  </a:cubicBezTo>
                  <a:close/>
                </a:path>
              </a:pathLst>
            </a:custGeom>
            <a:solidFill>
              <a:srgbClr val="F47C73"/>
            </a:solidFill>
            <a:ln w="3972" cap="flat">
              <a:noFill/>
              <a:prstDash val="solid"/>
              <a:miter/>
            </a:ln>
          </p:spPr>
          <p:txBody>
            <a:bodyPr rtlCol="0" anchor="ctr"/>
            <a:lstStyle/>
            <a:p>
              <a:endParaRPr lang="en-US"/>
            </a:p>
          </p:txBody>
        </p:sp>
        <p:sp>
          <p:nvSpPr>
            <p:cNvPr id="266" name="Freeform: Shape 265">
              <a:extLst>
                <a:ext uri="{FF2B5EF4-FFF2-40B4-BE49-F238E27FC236}">
                  <a16:creationId xmlns:a16="http://schemas.microsoft.com/office/drawing/2014/main" id="{01CB920D-F744-49CC-A9FB-1CB01BB36C73}"/>
                </a:ext>
              </a:extLst>
            </p:cNvPr>
            <p:cNvSpPr/>
            <p:nvPr/>
          </p:nvSpPr>
          <p:spPr>
            <a:xfrm>
              <a:off x="941208" y="1882224"/>
              <a:ext cx="188963" cy="204721"/>
            </a:xfrm>
            <a:custGeom>
              <a:avLst/>
              <a:gdLst>
                <a:gd name="connsiteX0" fmla="*/ 23 w 188963"/>
                <a:gd name="connsiteY0" fmla="*/ 41805 h 204721"/>
                <a:gd name="connsiteX1" fmla="*/ 107664 w 188963"/>
                <a:gd name="connsiteY1" fmla="*/ 0 h 204721"/>
                <a:gd name="connsiteX2" fmla="*/ 188963 w 188963"/>
                <a:gd name="connsiteY2" fmla="*/ 163275 h 204721"/>
                <a:gd name="connsiteX3" fmla="*/ 76221 w 188963"/>
                <a:gd name="connsiteY3" fmla="*/ 204722 h 204721"/>
                <a:gd name="connsiteX4" fmla="*/ 23 w 188963"/>
                <a:gd name="connsiteY4" fmla="*/ 41805 h 2047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963" h="204721">
                  <a:moveTo>
                    <a:pt x="23" y="41805"/>
                  </a:moveTo>
                  <a:cubicBezTo>
                    <a:pt x="1577" y="41287"/>
                    <a:pt x="107664" y="0"/>
                    <a:pt x="107664" y="0"/>
                  </a:cubicBezTo>
                  <a:lnTo>
                    <a:pt x="188963" y="163275"/>
                  </a:lnTo>
                  <a:lnTo>
                    <a:pt x="76221" y="204722"/>
                  </a:lnTo>
                  <a:cubicBezTo>
                    <a:pt x="76221" y="204722"/>
                    <a:pt x="-1531" y="42323"/>
                    <a:pt x="23" y="41805"/>
                  </a:cubicBezTo>
                  <a:close/>
                </a:path>
              </a:pathLst>
            </a:custGeom>
            <a:solidFill>
              <a:schemeClr val="tx2">
                <a:lumMod val="40000"/>
                <a:lumOff val="60000"/>
              </a:schemeClr>
            </a:solidFill>
            <a:ln w="3972" cap="flat">
              <a:noFill/>
              <a:prstDash val="solid"/>
              <a:miter/>
            </a:ln>
          </p:spPr>
          <p:txBody>
            <a:bodyPr rtlCol="0" anchor="ctr"/>
            <a:lstStyle/>
            <a:p>
              <a:endParaRPr lang="en-US"/>
            </a:p>
          </p:txBody>
        </p:sp>
        <p:sp>
          <p:nvSpPr>
            <p:cNvPr id="267" name="Freeform: Shape 266">
              <a:extLst>
                <a:ext uri="{FF2B5EF4-FFF2-40B4-BE49-F238E27FC236}">
                  <a16:creationId xmlns:a16="http://schemas.microsoft.com/office/drawing/2014/main" id="{3E95917C-FC63-4159-8229-DFC79D0B908F}"/>
                </a:ext>
              </a:extLst>
            </p:cNvPr>
            <p:cNvSpPr/>
            <p:nvPr/>
          </p:nvSpPr>
          <p:spPr>
            <a:xfrm>
              <a:off x="924334" y="1861578"/>
              <a:ext cx="208906" cy="186989"/>
            </a:xfrm>
            <a:custGeom>
              <a:avLst/>
              <a:gdLst>
                <a:gd name="connsiteX0" fmla="*/ 205837 w 208906"/>
                <a:gd name="connsiteY0" fmla="*/ 186949 h 186989"/>
                <a:gd name="connsiteX1" fmla="*/ 203127 w 208906"/>
                <a:gd name="connsiteY1" fmla="*/ 185276 h 186989"/>
                <a:gd name="connsiteX2" fmla="*/ 115014 w 208906"/>
                <a:gd name="connsiteY2" fmla="*/ 6817 h 186989"/>
                <a:gd name="connsiteX3" fmla="*/ 4104 w 208906"/>
                <a:gd name="connsiteY3" fmla="*/ 49020 h 186989"/>
                <a:gd name="connsiteX4" fmla="*/ 199 w 208906"/>
                <a:gd name="connsiteY4" fmla="*/ 47267 h 186989"/>
                <a:gd name="connsiteX5" fmla="*/ 1952 w 208906"/>
                <a:gd name="connsiteY5" fmla="*/ 43361 h 186989"/>
                <a:gd name="connsiteX6" fmla="*/ 115452 w 208906"/>
                <a:gd name="connsiteY6" fmla="*/ 201 h 186989"/>
                <a:gd name="connsiteX7" fmla="*/ 119238 w 208906"/>
                <a:gd name="connsiteY7" fmla="*/ 1676 h 186989"/>
                <a:gd name="connsiteX8" fmla="*/ 208587 w 208906"/>
                <a:gd name="connsiteY8" fmla="*/ 182605 h 186989"/>
                <a:gd name="connsiteX9" fmla="*/ 207192 w 208906"/>
                <a:gd name="connsiteY9" fmla="*/ 186670 h 186989"/>
                <a:gd name="connsiteX10" fmla="*/ 205837 w 208906"/>
                <a:gd name="connsiteY10" fmla="*/ 186989 h 186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8906" h="186989">
                  <a:moveTo>
                    <a:pt x="205837" y="186949"/>
                  </a:moveTo>
                  <a:cubicBezTo>
                    <a:pt x="204721" y="186949"/>
                    <a:pt x="203645" y="186312"/>
                    <a:pt x="203127" y="185276"/>
                  </a:cubicBezTo>
                  <a:lnTo>
                    <a:pt x="115014" y="6817"/>
                  </a:lnTo>
                  <a:lnTo>
                    <a:pt x="4104" y="49020"/>
                  </a:lnTo>
                  <a:cubicBezTo>
                    <a:pt x="2550" y="49618"/>
                    <a:pt x="797" y="48821"/>
                    <a:pt x="199" y="47267"/>
                  </a:cubicBezTo>
                  <a:cubicBezTo>
                    <a:pt x="-399" y="45713"/>
                    <a:pt x="398" y="43959"/>
                    <a:pt x="1952" y="43361"/>
                  </a:cubicBezTo>
                  <a:lnTo>
                    <a:pt x="115452" y="201"/>
                  </a:lnTo>
                  <a:cubicBezTo>
                    <a:pt x="116887" y="-357"/>
                    <a:pt x="118561" y="281"/>
                    <a:pt x="119238" y="1676"/>
                  </a:cubicBezTo>
                  <a:lnTo>
                    <a:pt x="208587" y="182605"/>
                  </a:lnTo>
                  <a:cubicBezTo>
                    <a:pt x="209344" y="184120"/>
                    <a:pt x="208707" y="185913"/>
                    <a:pt x="207192" y="186670"/>
                  </a:cubicBezTo>
                  <a:cubicBezTo>
                    <a:pt x="206754" y="186870"/>
                    <a:pt x="206316" y="186989"/>
                    <a:pt x="205837" y="186989"/>
                  </a:cubicBezTo>
                  <a:close/>
                </a:path>
              </a:pathLst>
            </a:custGeom>
            <a:solidFill>
              <a:schemeClr val="tx2">
                <a:lumMod val="60000"/>
                <a:lumOff val="40000"/>
              </a:schemeClr>
            </a:solidFill>
            <a:ln w="3972" cap="flat">
              <a:noFill/>
              <a:prstDash val="solid"/>
              <a:miter/>
            </a:ln>
          </p:spPr>
          <p:txBody>
            <a:bodyPr rtlCol="0" anchor="ctr"/>
            <a:lstStyle/>
            <a:p>
              <a:endParaRPr lang="en-US"/>
            </a:p>
          </p:txBody>
        </p:sp>
      </p:grpSp>
      <p:cxnSp>
        <p:nvCxnSpPr>
          <p:cNvPr id="275" name="Straight Connector 274">
            <a:extLst>
              <a:ext uri="{FF2B5EF4-FFF2-40B4-BE49-F238E27FC236}">
                <a16:creationId xmlns:a16="http://schemas.microsoft.com/office/drawing/2014/main" id="{5941214F-98E5-4CFC-B4BE-2F3A1CDA60C6}"/>
              </a:ext>
            </a:extLst>
          </p:cNvPr>
          <p:cNvCxnSpPr>
            <a:cxnSpLocks/>
          </p:cNvCxnSpPr>
          <p:nvPr/>
        </p:nvCxnSpPr>
        <p:spPr>
          <a:xfrm rot="5400000">
            <a:off x="363187" y="1803357"/>
            <a:ext cx="641623" cy="0"/>
          </a:xfrm>
          <a:prstGeom prst="line">
            <a:avLst/>
          </a:prstGeom>
          <a:ln w="25400" cap="rnd">
            <a:solidFill>
              <a:schemeClr val="bg1">
                <a:lumMod val="85000"/>
              </a:schemeClr>
            </a:solidFill>
            <a:prstDash val="solid"/>
            <a:round/>
            <a:tailEnd type="arrow" w="med" len="sm"/>
          </a:ln>
        </p:spPr>
        <p:style>
          <a:lnRef idx="1">
            <a:schemeClr val="accent1"/>
          </a:lnRef>
          <a:fillRef idx="0">
            <a:schemeClr val="accent1"/>
          </a:fillRef>
          <a:effectRef idx="0">
            <a:schemeClr val="accent1"/>
          </a:effectRef>
          <a:fontRef idx="minor">
            <a:schemeClr val="tx1"/>
          </a:fontRef>
        </p:style>
      </p:cxnSp>
      <p:sp>
        <p:nvSpPr>
          <p:cNvPr id="276" name="Oval 275">
            <a:extLst>
              <a:ext uri="{FF2B5EF4-FFF2-40B4-BE49-F238E27FC236}">
                <a16:creationId xmlns:a16="http://schemas.microsoft.com/office/drawing/2014/main" id="{163AE14F-B2C9-4A4B-A954-45469A49DDC2}"/>
              </a:ext>
            </a:extLst>
          </p:cNvPr>
          <p:cNvSpPr>
            <a:spLocks noChangeAspect="1"/>
          </p:cNvSpPr>
          <p:nvPr/>
        </p:nvSpPr>
        <p:spPr>
          <a:xfrm>
            <a:off x="629999" y="3869125"/>
            <a:ext cx="108000" cy="108000"/>
          </a:xfrm>
          <a:prstGeom prst="ellipse">
            <a:avLst/>
          </a:prstGeom>
          <a:solidFill>
            <a:schemeClr val="tx2"/>
          </a:solidFill>
          <a:ln w="38100" cap="rnd" cmpd="sng" algn="ctr">
            <a:solidFill>
              <a:srgbClr val="F7F7F7"/>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200">
              <a:solidFill>
                <a:srgbClr val="FFFFFF"/>
              </a:solidFill>
            </a:endParaRPr>
          </a:p>
        </p:txBody>
      </p:sp>
      <p:grpSp>
        <p:nvGrpSpPr>
          <p:cNvPr id="277" name="Group 276">
            <a:extLst>
              <a:ext uri="{FF2B5EF4-FFF2-40B4-BE49-F238E27FC236}">
                <a16:creationId xmlns:a16="http://schemas.microsoft.com/office/drawing/2014/main" id="{3D820740-9A5C-4218-B89A-F8AE98E60A62}"/>
              </a:ext>
            </a:extLst>
          </p:cNvPr>
          <p:cNvGrpSpPr/>
          <p:nvPr/>
        </p:nvGrpSpPr>
        <p:grpSpPr>
          <a:xfrm>
            <a:off x="873522" y="4950390"/>
            <a:ext cx="893872" cy="650783"/>
            <a:chOff x="873522" y="4950390"/>
            <a:chExt cx="893872" cy="650783"/>
          </a:xfrm>
        </p:grpSpPr>
        <p:sp>
          <p:nvSpPr>
            <p:cNvPr id="278" name="Freeform: Shape 277">
              <a:extLst>
                <a:ext uri="{FF2B5EF4-FFF2-40B4-BE49-F238E27FC236}">
                  <a16:creationId xmlns:a16="http://schemas.microsoft.com/office/drawing/2014/main" id="{2E48DA5E-C09B-4142-BEC6-FDFBD5D4DB29}"/>
                </a:ext>
              </a:extLst>
            </p:cNvPr>
            <p:cNvSpPr/>
            <p:nvPr/>
          </p:nvSpPr>
          <p:spPr>
            <a:xfrm>
              <a:off x="913704" y="5189911"/>
              <a:ext cx="835212" cy="307506"/>
            </a:xfrm>
            <a:custGeom>
              <a:avLst/>
              <a:gdLst>
                <a:gd name="connsiteX0" fmla="*/ 835212 w 835212"/>
                <a:gd name="connsiteY0" fmla="*/ 307506 h 307506"/>
                <a:gd name="connsiteX1" fmla="*/ 697430 w 835212"/>
                <a:gd name="connsiteY1" fmla="*/ 122360 h 307506"/>
                <a:gd name="connsiteX2" fmla="*/ 416597 w 835212"/>
                <a:gd name="connsiteY2" fmla="*/ 0 h 307506"/>
                <a:gd name="connsiteX3" fmla="*/ 138433 w 835212"/>
                <a:gd name="connsiteY3" fmla="*/ 122360 h 307506"/>
                <a:gd name="connsiteX4" fmla="*/ 0 w 835212"/>
                <a:gd name="connsiteY4" fmla="*/ 307506 h 307506"/>
                <a:gd name="connsiteX5" fmla="*/ 835212 w 835212"/>
                <a:gd name="connsiteY5" fmla="*/ 307506 h 30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5212" h="307506">
                  <a:moveTo>
                    <a:pt x="835212" y="307506"/>
                  </a:moveTo>
                  <a:cubicBezTo>
                    <a:pt x="835212" y="307506"/>
                    <a:pt x="735013" y="167125"/>
                    <a:pt x="697430" y="122360"/>
                  </a:cubicBezTo>
                  <a:cubicBezTo>
                    <a:pt x="648424" y="64018"/>
                    <a:pt x="600239" y="0"/>
                    <a:pt x="416597" y="0"/>
                  </a:cubicBezTo>
                  <a:cubicBezTo>
                    <a:pt x="232955" y="0"/>
                    <a:pt x="188259" y="65591"/>
                    <a:pt x="138433" y="122360"/>
                  </a:cubicBezTo>
                  <a:cubicBezTo>
                    <a:pt x="99823" y="166338"/>
                    <a:pt x="0" y="307506"/>
                    <a:pt x="0" y="307506"/>
                  </a:cubicBezTo>
                  <a:lnTo>
                    <a:pt x="835212" y="307506"/>
                  </a:lnTo>
                  <a:close/>
                </a:path>
              </a:pathLst>
            </a:custGeom>
            <a:solidFill>
              <a:schemeClr val="tx2">
                <a:lumMod val="40000"/>
                <a:lumOff val="60000"/>
              </a:schemeClr>
            </a:solidFill>
            <a:ln w="3394" cap="flat">
              <a:noFill/>
              <a:prstDash val="solid"/>
              <a:miter/>
            </a:ln>
          </p:spPr>
          <p:txBody>
            <a:bodyPr rtlCol="0" anchor="ctr"/>
            <a:lstStyle/>
            <a:p>
              <a:endParaRPr lang="en-US"/>
            </a:p>
          </p:txBody>
        </p:sp>
        <p:sp>
          <p:nvSpPr>
            <p:cNvPr id="279" name="Freeform: Shape 278">
              <a:extLst>
                <a:ext uri="{FF2B5EF4-FFF2-40B4-BE49-F238E27FC236}">
                  <a16:creationId xmlns:a16="http://schemas.microsoft.com/office/drawing/2014/main" id="{2730B8F7-CE7D-460B-9343-7CF2DA42B0F5}"/>
                </a:ext>
              </a:extLst>
            </p:cNvPr>
            <p:cNvSpPr/>
            <p:nvPr/>
          </p:nvSpPr>
          <p:spPr>
            <a:xfrm>
              <a:off x="1279312" y="5132630"/>
              <a:ext cx="99960" cy="100131"/>
            </a:xfrm>
            <a:custGeom>
              <a:avLst/>
              <a:gdLst>
                <a:gd name="connsiteX0" fmla="*/ 0 w 99960"/>
                <a:gd name="connsiteY0" fmla="*/ 0 h 100131"/>
                <a:gd name="connsiteX1" fmla="*/ 99960 w 99960"/>
                <a:gd name="connsiteY1" fmla="*/ 0 h 100131"/>
                <a:gd name="connsiteX2" fmla="*/ 99960 w 99960"/>
                <a:gd name="connsiteY2" fmla="*/ 100131 h 100131"/>
                <a:gd name="connsiteX3" fmla="*/ 0 w 99960"/>
                <a:gd name="connsiteY3" fmla="*/ 100131 h 100131"/>
              </a:gdLst>
              <a:ahLst/>
              <a:cxnLst>
                <a:cxn ang="0">
                  <a:pos x="connsiteX0" y="connsiteY0"/>
                </a:cxn>
                <a:cxn ang="0">
                  <a:pos x="connsiteX1" y="connsiteY1"/>
                </a:cxn>
                <a:cxn ang="0">
                  <a:pos x="connsiteX2" y="connsiteY2"/>
                </a:cxn>
                <a:cxn ang="0">
                  <a:pos x="connsiteX3" y="connsiteY3"/>
                </a:cxn>
              </a:cxnLst>
              <a:rect l="l" t="t" r="r" b="b"/>
              <a:pathLst>
                <a:path w="99960" h="100131">
                  <a:moveTo>
                    <a:pt x="0" y="0"/>
                  </a:moveTo>
                  <a:lnTo>
                    <a:pt x="99960" y="0"/>
                  </a:lnTo>
                  <a:lnTo>
                    <a:pt x="99960" y="100131"/>
                  </a:lnTo>
                  <a:lnTo>
                    <a:pt x="0" y="100131"/>
                  </a:lnTo>
                  <a:close/>
                </a:path>
              </a:pathLst>
            </a:custGeom>
            <a:solidFill>
              <a:srgbClr val="F47C73"/>
            </a:solidFill>
            <a:ln w="3394" cap="flat">
              <a:noFill/>
              <a:prstDash val="solid"/>
              <a:miter/>
            </a:ln>
          </p:spPr>
          <p:txBody>
            <a:bodyPr rtlCol="0" anchor="ctr"/>
            <a:lstStyle/>
            <a:p>
              <a:endParaRPr lang="en-US"/>
            </a:p>
          </p:txBody>
        </p:sp>
        <p:sp>
          <p:nvSpPr>
            <p:cNvPr id="280" name="Freeform: Shape 279">
              <a:extLst>
                <a:ext uri="{FF2B5EF4-FFF2-40B4-BE49-F238E27FC236}">
                  <a16:creationId xmlns:a16="http://schemas.microsoft.com/office/drawing/2014/main" id="{CB1B6108-04BB-444D-8E21-0B14DDB4704D}"/>
                </a:ext>
              </a:extLst>
            </p:cNvPr>
            <p:cNvSpPr/>
            <p:nvPr/>
          </p:nvSpPr>
          <p:spPr>
            <a:xfrm>
              <a:off x="1265360" y="5179720"/>
              <a:ext cx="128344" cy="93638"/>
            </a:xfrm>
            <a:custGeom>
              <a:avLst/>
              <a:gdLst>
                <a:gd name="connsiteX0" fmla="*/ 128344 w 128344"/>
                <a:gd name="connsiteY0" fmla="*/ 13132 h 93638"/>
                <a:gd name="connsiteX1" fmla="*/ 113879 w 128344"/>
                <a:gd name="connsiteY1" fmla="*/ 0 h 93638"/>
                <a:gd name="connsiteX2" fmla="*/ 63950 w 128344"/>
                <a:gd name="connsiteY2" fmla="*/ 23460 h 93638"/>
                <a:gd name="connsiteX3" fmla="*/ 14021 w 128344"/>
                <a:gd name="connsiteY3" fmla="*/ 0 h 93638"/>
                <a:gd name="connsiteX4" fmla="*/ 0 w 128344"/>
                <a:gd name="connsiteY4" fmla="*/ 13577 h 93638"/>
                <a:gd name="connsiteX5" fmla="*/ 4138 w 128344"/>
                <a:gd name="connsiteY5" fmla="*/ 79989 h 93638"/>
                <a:gd name="connsiteX6" fmla="*/ 32180 w 128344"/>
                <a:gd name="connsiteY6" fmla="*/ 87786 h 93638"/>
                <a:gd name="connsiteX7" fmla="*/ 63950 w 128344"/>
                <a:gd name="connsiteY7" fmla="*/ 48903 h 93638"/>
                <a:gd name="connsiteX8" fmla="*/ 95720 w 128344"/>
                <a:gd name="connsiteY8" fmla="*/ 87786 h 93638"/>
                <a:gd name="connsiteX9" fmla="*/ 123762 w 128344"/>
                <a:gd name="connsiteY9" fmla="*/ 79989 h 93638"/>
                <a:gd name="connsiteX10" fmla="*/ 128344 w 128344"/>
                <a:gd name="connsiteY10" fmla="*/ 13132 h 93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344" h="93638">
                  <a:moveTo>
                    <a:pt x="128344" y="13132"/>
                  </a:moveTo>
                  <a:lnTo>
                    <a:pt x="113879" y="0"/>
                  </a:lnTo>
                  <a:cubicBezTo>
                    <a:pt x="113879" y="0"/>
                    <a:pt x="99926" y="23460"/>
                    <a:pt x="63950" y="23460"/>
                  </a:cubicBezTo>
                  <a:cubicBezTo>
                    <a:pt x="30402" y="23460"/>
                    <a:pt x="14021" y="0"/>
                    <a:pt x="14021" y="0"/>
                  </a:cubicBezTo>
                  <a:lnTo>
                    <a:pt x="0" y="13577"/>
                  </a:lnTo>
                  <a:lnTo>
                    <a:pt x="4138" y="79989"/>
                  </a:lnTo>
                  <a:cubicBezTo>
                    <a:pt x="6121" y="93668"/>
                    <a:pt x="23425" y="98490"/>
                    <a:pt x="32180" y="87786"/>
                  </a:cubicBezTo>
                  <a:lnTo>
                    <a:pt x="63950" y="48903"/>
                  </a:lnTo>
                  <a:lnTo>
                    <a:pt x="95720" y="87786"/>
                  </a:lnTo>
                  <a:cubicBezTo>
                    <a:pt x="104474" y="98490"/>
                    <a:pt x="121778" y="93702"/>
                    <a:pt x="123762" y="79989"/>
                  </a:cubicBezTo>
                  <a:lnTo>
                    <a:pt x="128344" y="13132"/>
                  </a:lnTo>
                  <a:close/>
                </a:path>
              </a:pathLst>
            </a:custGeom>
            <a:solidFill>
              <a:schemeClr val="accent3"/>
            </a:solidFill>
            <a:ln w="3394" cap="flat">
              <a:noFill/>
              <a:prstDash val="solid"/>
              <a:miter/>
            </a:ln>
          </p:spPr>
          <p:txBody>
            <a:bodyPr rtlCol="0" anchor="ctr"/>
            <a:lstStyle/>
            <a:p>
              <a:endParaRPr lang="en-US"/>
            </a:p>
          </p:txBody>
        </p:sp>
        <p:sp>
          <p:nvSpPr>
            <p:cNvPr id="281" name="Freeform: Shape 280">
              <a:extLst>
                <a:ext uri="{FF2B5EF4-FFF2-40B4-BE49-F238E27FC236}">
                  <a16:creationId xmlns:a16="http://schemas.microsoft.com/office/drawing/2014/main" id="{F25612ED-36E7-4556-A4E5-B7C817EA9854}"/>
                </a:ext>
              </a:extLst>
            </p:cNvPr>
            <p:cNvSpPr/>
            <p:nvPr/>
          </p:nvSpPr>
          <p:spPr>
            <a:xfrm>
              <a:off x="1326676" y="5209062"/>
              <a:ext cx="5403" cy="26434"/>
            </a:xfrm>
            <a:custGeom>
              <a:avLst/>
              <a:gdLst>
                <a:gd name="connsiteX0" fmla="*/ 2702 w 5403"/>
                <a:gd name="connsiteY0" fmla="*/ 26435 h 26434"/>
                <a:gd name="connsiteX1" fmla="*/ 0 w 5403"/>
                <a:gd name="connsiteY1" fmla="*/ 23733 h 26434"/>
                <a:gd name="connsiteX2" fmla="*/ 0 w 5403"/>
                <a:gd name="connsiteY2" fmla="*/ 2702 h 26434"/>
                <a:gd name="connsiteX3" fmla="*/ 2702 w 5403"/>
                <a:gd name="connsiteY3" fmla="*/ 0 h 26434"/>
                <a:gd name="connsiteX4" fmla="*/ 5403 w 5403"/>
                <a:gd name="connsiteY4" fmla="*/ 2702 h 26434"/>
                <a:gd name="connsiteX5" fmla="*/ 5403 w 5403"/>
                <a:gd name="connsiteY5" fmla="*/ 23733 h 26434"/>
                <a:gd name="connsiteX6" fmla="*/ 2702 w 5403"/>
                <a:gd name="connsiteY6" fmla="*/ 26435 h 26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03" h="26434">
                  <a:moveTo>
                    <a:pt x="2702" y="26435"/>
                  </a:moveTo>
                  <a:cubicBezTo>
                    <a:pt x="1197" y="26435"/>
                    <a:pt x="0" y="25204"/>
                    <a:pt x="0" y="23733"/>
                  </a:cubicBezTo>
                  <a:lnTo>
                    <a:pt x="0" y="2702"/>
                  </a:lnTo>
                  <a:cubicBezTo>
                    <a:pt x="0" y="1197"/>
                    <a:pt x="1231" y="0"/>
                    <a:pt x="2702" y="0"/>
                  </a:cubicBezTo>
                  <a:cubicBezTo>
                    <a:pt x="4172" y="0"/>
                    <a:pt x="5403" y="1231"/>
                    <a:pt x="5403" y="2702"/>
                  </a:cubicBezTo>
                  <a:lnTo>
                    <a:pt x="5403" y="23733"/>
                  </a:lnTo>
                  <a:cubicBezTo>
                    <a:pt x="5403" y="25238"/>
                    <a:pt x="4172" y="26435"/>
                    <a:pt x="2702" y="26435"/>
                  </a:cubicBezTo>
                  <a:close/>
                </a:path>
              </a:pathLst>
            </a:custGeom>
            <a:solidFill>
              <a:srgbClr val="4D8C5D"/>
            </a:solidFill>
            <a:ln w="3394" cap="flat">
              <a:noFill/>
              <a:prstDash val="solid"/>
              <a:miter/>
            </a:ln>
          </p:spPr>
          <p:txBody>
            <a:bodyPr rtlCol="0" anchor="ctr"/>
            <a:lstStyle/>
            <a:p>
              <a:endParaRPr lang="en-US"/>
            </a:p>
          </p:txBody>
        </p:sp>
        <p:sp>
          <p:nvSpPr>
            <p:cNvPr id="282" name="Freeform: Shape 281">
              <a:extLst>
                <a:ext uri="{FF2B5EF4-FFF2-40B4-BE49-F238E27FC236}">
                  <a16:creationId xmlns:a16="http://schemas.microsoft.com/office/drawing/2014/main" id="{ED81A686-541F-4085-A500-8F4BEF79B7C8}"/>
                </a:ext>
              </a:extLst>
            </p:cNvPr>
            <p:cNvSpPr/>
            <p:nvPr/>
          </p:nvSpPr>
          <p:spPr>
            <a:xfrm>
              <a:off x="1029291" y="5389127"/>
              <a:ext cx="105603" cy="91020"/>
            </a:xfrm>
            <a:custGeom>
              <a:avLst/>
              <a:gdLst>
                <a:gd name="connsiteX0" fmla="*/ 102903 w 105603"/>
                <a:gd name="connsiteY0" fmla="*/ 91021 h 91020"/>
                <a:gd name="connsiteX1" fmla="*/ 100406 w 105603"/>
                <a:gd name="connsiteY1" fmla="*/ 89413 h 91020"/>
                <a:gd name="connsiteX2" fmla="*/ 3182 w 105603"/>
                <a:gd name="connsiteY2" fmla="*/ 6142 h 91020"/>
                <a:gd name="connsiteX3" fmla="*/ 36 w 105603"/>
                <a:gd name="connsiteY3" fmla="*/ 3919 h 91020"/>
                <a:gd name="connsiteX4" fmla="*/ 2258 w 105603"/>
                <a:gd name="connsiteY4" fmla="*/ 773 h 91020"/>
                <a:gd name="connsiteX5" fmla="*/ 105365 w 105603"/>
                <a:gd name="connsiteY5" fmla="*/ 87191 h 91020"/>
                <a:gd name="connsiteX6" fmla="*/ 103997 w 105603"/>
                <a:gd name="connsiteY6" fmla="*/ 90781 h 91020"/>
                <a:gd name="connsiteX7" fmla="*/ 102903 w 105603"/>
                <a:gd name="connsiteY7" fmla="*/ 91021 h 9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5603" h="91020">
                  <a:moveTo>
                    <a:pt x="102903" y="91021"/>
                  </a:moveTo>
                  <a:cubicBezTo>
                    <a:pt x="101877" y="91021"/>
                    <a:pt x="100885" y="90405"/>
                    <a:pt x="100406" y="89413"/>
                  </a:cubicBezTo>
                  <a:cubicBezTo>
                    <a:pt x="99996" y="88490"/>
                    <a:pt x="58377" y="-3331"/>
                    <a:pt x="3182" y="6142"/>
                  </a:cubicBezTo>
                  <a:cubicBezTo>
                    <a:pt x="1677" y="6381"/>
                    <a:pt x="309" y="5389"/>
                    <a:pt x="36" y="3919"/>
                  </a:cubicBezTo>
                  <a:cubicBezTo>
                    <a:pt x="-204" y="2448"/>
                    <a:pt x="788" y="1046"/>
                    <a:pt x="2258" y="773"/>
                  </a:cubicBezTo>
                  <a:cubicBezTo>
                    <a:pt x="61626" y="-9350"/>
                    <a:pt x="103621" y="83258"/>
                    <a:pt x="105365" y="87191"/>
                  </a:cubicBezTo>
                  <a:cubicBezTo>
                    <a:pt x="105980" y="88558"/>
                    <a:pt x="105365" y="90166"/>
                    <a:pt x="103997" y="90781"/>
                  </a:cubicBezTo>
                  <a:cubicBezTo>
                    <a:pt x="103655" y="90952"/>
                    <a:pt x="103279" y="91021"/>
                    <a:pt x="102903" y="91021"/>
                  </a:cubicBezTo>
                  <a:close/>
                </a:path>
              </a:pathLst>
            </a:custGeom>
            <a:solidFill>
              <a:srgbClr val="ED3F3B"/>
            </a:solidFill>
            <a:ln w="3394" cap="flat">
              <a:noFill/>
              <a:prstDash val="solid"/>
              <a:miter/>
            </a:ln>
          </p:spPr>
          <p:txBody>
            <a:bodyPr rtlCol="0" anchor="ctr"/>
            <a:lstStyle/>
            <a:p>
              <a:endParaRPr lang="en-US"/>
            </a:p>
          </p:txBody>
        </p:sp>
        <p:sp>
          <p:nvSpPr>
            <p:cNvPr id="283" name="Freeform: Shape 282">
              <a:extLst>
                <a:ext uri="{FF2B5EF4-FFF2-40B4-BE49-F238E27FC236}">
                  <a16:creationId xmlns:a16="http://schemas.microsoft.com/office/drawing/2014/main" id="{3F51F864-7056-4E83-9D12-07710311AB5D}"/>
                </a:ext>
              </a:extLst>
            </p:cNvPr>
            <p:cNvSpPr/>
            <p:nvPr/>
          </p:nvSpPr>
          <p:spPr>
            <a:xfrm>
              <a:off x="1527752" y="5389089"/>
              <a:ext cx="102191" cy="91059"/>
            </a:xfrm>
            <a:custGeom>
              <a:avLst/>
              <a:gdLst>
                <a:gd name="connsiteX0" fmla="*/ 2709 w 102191"/>
                <a:gd name="connsiteY0" fmla="*/ 91059 h 91059"/>
                <a:gd name="connsiteX1" fmla="*/ 1683 w 102191"/>
                <a:gd name="connsiteY1" fmla="*/ 90854 h 91059"/>
                <a:gd name="connsiteX2" fmla="*/ 213 w 102191"/>
                <a:gd name="connsiteY2" fmla="*/ 87297 h 91059"/>
                <a:gd name="connsiteX3" fmla="*/ 99933 w 102191"/>
                <a:gd name="connsiteY3" fmla="*/ 777 h 91059"/>
                <a:gd name="connsiteX4" fmla="*/ 102156 w 102191"/>
                <a:gd name="connsiteY4" fmla="*/ 3923 h 91059"/>
                <a:gd name="connsiteX5" fmla="*/ 99010 w 102191"/>
                <a:gd name="connsiteY5" fmla="*/ 6146 h 91059"/>
                <a:gd name="connsiteX6" fmla="*/ 5240 w 102191"/>
                <a:gd name="connsiteY6" fmla="*/ 89349 h 91059"/>
                <a:gd name="connsiteX7" fmla="*/ 2709 w 102191"/>
                <a:gd name="connsiteY7" fmla="*/ 91025 h 91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191" h="91059">
                  <a:moveTo>
                    <a:pt x="2709" y="91059"/>
                  </a:moveTo>
                  <a:cubicBezTo>
                    <a:pt x="2367" y="91059"/>
                    <a:pt x="2025" y="90991"/>
                    <a:pt x="1683" y="90854"/>
                  </a:cubicBezTo>
                  <a:cubicBezTo>
                    <a:pt x="281" y="90273"/>
                    <a:pt x="-369" y="88699"/>
                    <a:pt x="213" y="87297"/>
                  </a:cubicBezTo>
                  <a:cubicBezTo>
                    <a:pt x="1820" y="83330"/>
                    <a:pt x="40463" y="-9380"/>
                    <a:pt x="99933" y="777"/>
                  </a:cubicBezTo>
                  <a:cubicBezTo>
                    <a:pt x="101404" y="1016"/>
                    <a:pt x="102396" y="2418"/>
                    <a:pt x="102156" y="3923"/>
                  </a:cubicBezTo>
                  <a:cubicBezTo>
                    <a:pt x="101917" y="5394"/>
                    <a:pt x="100515" y="6420"/>
                    <a:pt x="99010" y="6146"/>
                  </a:cubicBezTo>
                  <a:cubicBezTo>
                    <a:pt x="43849" y="-3293"/>
                    <a:pt x="5616" y="88426"/>
                    <a:pt x="5240" y="89349"/>
                  </a:cubicBezTo>
                  <a:cubicBezTo>
                    <a:pt x="4795" y="90409"/>
                    <a:pt x="3803" y="91025"/>
                    <a:pt x="2709" y="91025"/>
                  </a:cubicBezTo>
                  <a:close/>
                </a:path>
              </a:pathLst>
            </a:custGeom>
            <a:solidFill>
              <a:srgbClr val="ED3F3B"/>
            </a:solidFill>
            <a:ln w="3394" cap="flat">
              <a:noFill/>
              <a:prstDash val="solid"/>
              <a:miter/>
            </a:ln>
          </p:spPr>
          <p:txBody>
            <a:bodyPr rtlCol="0" anchor="ctr"/>
            <a:lstStyle/>
            <a:p>
              <a:endParaRPr lang="en-US"/>
            </a:p>
          </p:txBody>
        </p:sp>
        <p:sp>
          <p:nvSpPr>
            <p:cNvPr id="284" name="Freeform: Shape 283">
              <a:extLst>
                <a:ext uri="{FF2B5EF4-FFF2-40B4-BE49-F238E27FC236}">
                  <a16:creationId xmlns:a16="http://schemas.microsoft.com/office/drawing/2014/main" id="{A6171952-B758-4F5B-8DDD-A0CF378FE964}"/>
                </a:ext>
              </a:extLst>
            </p:cNvPr>
            <p:cNvSpPr/>
            <p:nvPr/>
          </p:nvSpPr>
          <p:spPr>
            <a:xfrm>
              <a:off x="1238480" y="4956135"/>
              <a:ext cx="81664" cy="81664"/>
            </a:xfrm>
            <a:custGeom>
              <a:avLst/>
              <a:gdLst>
                <a:gd name="connsiteX0" fmla="*/ 40832 w 81664"/>
                <a:gd name="connsiteY0" fmla="*/ 81664 h 81664"/>
                <a:gd name="connsiteX1" fmla="*/ 0 w 81664"/>
                <a:gd name="connsiteY1" fmla="*/ 40832 h 81664"/>
                <a:gd name="connsiteX2" fmla="*/ 40832 w 81664"/>
                <a:gd name="connsiteY2" fmla="*/ 0 h 81664"/>
                <a:gd name="connsiteX3" fmla="*/ 81664 w 81664"/>
                <a:gd name="connsiteY3" fmla="*/ 40832 h 81664"/>
                <a:gd name="connsiteX4" fmla="*/ 40832 w 81664"/>
                <a:gd name="connsiteY4" fmla="*/ 81664 h 81664"/>
                <a:gd name="connsiteX5" fmla="*/ 40832 w 81664"/>
                <a:gd name="connsiteY5" fmla="*/ 5403 h 81664"/>
                <a:gd name="connsiteX6" fmla="*/ 5403 w 81664"/>
                <a:gd name="connsiteY6" fmla="*/ 40798 h 81664"/>
                <a:gd name="connsiteX7" fmla="*/ 40832 w 81664"/>
                <a:gd name="connsiteY7" fmla="*/ 76227 h 81664"/>
                <a:gd name="connsiteX8" fmla="*/ 76261 w 81664"/>
                <a:gd name="connsiteY8" fmla="*/ 40798 h 81664"/>
                <a:gd name="connsiteX9" fmla="*/ 40832 w 81664"/>
                <a:gd name="connsiteY9" fmla="*/ 5403 h 8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664" h="81664">
                  <a:moveTo>
                    <a:pt x="40832" y="81664"/>
                  </a:moveTo>
                  <a:cubicBezTo>
                    <a:pt x="18296" y="81664"/>
                    <a:pt x="0" y="63334"/>
                    <a:pt x="0" y="40832"/>
                  </a:cubicBezTo>
                  <a:cubicBezTo>
                    <a:pt x="0" y="18330"/>
                    <a:pt x="18330" y="0"/>
                    <a:pt x="40832" y="0"/>
                  </a:cubicBezTo>
                  <a:cubicBezTo>
                    <a:pt x="63334" y="0"/>
                    <a:pt x="81664" y="18330"/>
                    <a:pt x="81664" y="40832"/>
                  </a:cubicBezTo>
                  <a:cubicBezTo>
                    <a:pt x="81664" y="63334"/>
                    <a:pt x="63334" y="81664"/>
                    <a:pt x="40832" y="81664"/>
                  </a:cubicBezTo>
                  <a:close/>
                  <a:moveTo>
                    <a:pt x="40832" y="5403"/>
                  </a:moveTo>
                  <a:cubicBezTo>
                    <a:pt x="21305" y="5403"/>
                    <a:pt x="5403" y="21271"/>
                    <a:pt x="5403" y="40798"/>
                  </a:cubicBezTo>
                  <a:cubicBezTo>
                    <a:pt x="5403" y="60325"/>
                    <a:pt x="21305" y="76227"/>
                    <a:pt x="40832" y="76227"/>
                  </a:cubicBezTo>
                  <a:cubicBezTo>
                    <a:pt x="60359" y="76227"/>
                    <a:pt x="76261" y="60325"/>
                    <a:pt x="76261" y="40798"/>
                  </a:cubicBezTo>
                  <a:cubicBezTo>
                    <a:pt x="76261" y="21271"/>
                    <a:pt x="60359" y="5403"/>
                    <a:pt x="40832" y="5403"/>
                  </a:cubicBezTo>
                  <a:close/>
                </a:path>
              </a:pathLst>
            </a:custGeom>
            <a:solidFill>
              <a:srgbClr val="1D2333"/>
            </a:solidFill>
            <a:ln w="3394" cap="flat">
              <a:noFill/>
              <a:prstDash val="solid"/>
              <a:miter/>
            </a:ln>
          </p:spPr>
          <p:txBody>
            <a:bodyPr rtlCol="0" anchor="ctr"/>
            <a:lstStyle/>
            <a:p>
              <a:endParaRPr lang="en-US"/>
            </a:p>
          </p:txBody>
        </p:sp>
        <p:sp>
          <p:nvSpPr>
            <p:cNvPr id="285" name="Freeform: Shape 284">
              <a:extLst>
                <a:ext uri="{FF2B5EF4-FFF2-40B4-BE49-F238E27FC236}">
                  <a16:creationId xmlns:a16="http://schemas.microsoft.com/office/drawing/2014/main" id="{D7FBD9B1-14CF-4EF8-B5F8-13F0F279AD28}"/>
                </a:ext>
              </a:extLst>
            </p:cNvPr>
            <p:cNvSpPr/>
            <p:nvPr/>
          </p:nvSpPr>
          <p:spPr>
            <a:xfrm>
              <a:off x="1344527" y="4970293"/>
              <a:ext cx="81664" cy="81664"/>
            </a:xfrm>
            <a:custGeom>
              <a:avLst/>
              <a:gdLst>
                <a:gd name="connsiteX0" fmla="*/ 40832 w 81664"/>
                <a:gd name="connsiteY0" fmla="*/ 81664 h 81664"/>
                <a:gd name="connsiteX1" fmla="*/ 0 w 81664"/>
                <a:gd name="connsiteY1" fmla="*/ 40832 h 81664"/>
                <a:gd name="connsiteX2" fmla="*/ 40832 w 81664"/>
                <a:gd name="connsiteY2" fmla="*/ 0 h 81664"/>
                <a:gd name="connsiteX3" fmla="*/ 81664 w 81664"/>
                <a:gd name="connsiteY3" fmla="*/ 40832 h 81664"/>
                <a:gd name="connsiteX4" fmla="*/ 40832 w 81664"/>
                <a:gd name="connsiteY4" fmla="*/ 81664 h 81664"/>
                <a:gd name="connsiteX5" fmla="*/ 40832 w 81664"/>
                <a:gd name="connsiteY5" fmla="*/ 5403 h 81664"/>
                <a:gd name="connsiteX6" fmla="*/ 5403 w 81664"/>
                <a:gd name="connsiteY6" fmla="*/ 40798 h 81664"/>
                <a:gd name="connsiteX7" fmla="*/ 40832 w 81664"/>
                <a:gd name="connsiteY7" fmla="*/ 76193 h 81664"/>
                <a:gd name="connsiteX8" fmla="*/ 76227 w 81664"/>
                <a:gd name="connsiteY8" fmla="*/ 40798 h 81664"/>
                <a:gd name="connsiteX9" fmla="*/ 40832 w 81664"/>
                <a:gd name="connsiteY9" fmla="*/ 5403 h 8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664" h="81664">
                  <a:moveTo>
                    <a:pt x="40832" y="81664"/>
                  </a:moveTo>
                  <a:cubicBezTo>
                    <a:pt x="18296" y="81664"/>
                    <a:pt x="0" y="63334"/>
                    <a:pt x="0" y="40832"/>
                  </a:cubicBezTo>
                  <a:cubicBezTo>
                    <a:pt x="0" y="18330"/>
                    <a:pt x="18330" y="0"/>
                    <a:pt x="40832" y="0"/>
                  </a:cubicBezTo>
                  <a:cubicBezTo>
                    <a:pt x="63334" y="0"/>
                    <a:pt x="81664" y="18330"/>
                    <a:pt x="81664" y="40832"/>
                  </a:cubicBezTo>
                  <a:cubicBezTo>
                    <a:pt x="81664" y="63334"/>
                    <a:pt x="63334" y="81664"/>
                    <a:pt x="40832" y="81664"/>
                  </a:cubicBezTo>
                  <a:close/>
                  <a:moveTo>
                    <a:pt x="40832" y="5403"/>
                  </a:moveTo>
                  <a:cubicBezTo>
                    <a:pt x="21305" y="5403"/>
                    <a:pt x="5403" y="21305"/>
                    <a:pt x="5403" y="40798"/>
                  </a:cubicBezTo>
                  <a:cubicBezTo>
                    <a:pt x="5403" y="60291"/>
                    <a:pt x="21305" y="76193"/>
                    <a:pt x="40832" y="76193"/>
                  </a:cubicBezTo>
                  <a:cubicBezTo>
                    <a:pt x="60359" y="76193"/>
                    <a:pt x="76227" y="60325"/>
                    <a:pt x="76227" y="40798"/>
                  </a:cubicBezTo>
                  <a:cubicBezTo>
                    <a:pt x="76227" y="21271"/>
                    <a:pt x="60359" y="5403"/>
                    <a:pt x="40832" y="5403"/>
                  </a:cubicBezTo>
                  <a:close/>
                </a:path>
              </a:pathLst>
            </a:custGeom>
            <a:solidFill>
              <a:srgbClr val="1D2333"/>
            </a:solidFill>
            <a:ln w="3394" cap="flat">
              <a:noFill/>
              <a:prstDash val="solid"/>
              <a:miter/>
            </a:ln>
          </p:spPr>
          <p:txBody>
            <a:bodyPr rtlCol="0" anchor="ctr"/>
            <a:lstStyle/>
            <a:p>
              <a:endParaRPr lang="en-US"/>
            </a:p>
          </p:txBody>
        </p:sp>
        <p:sp>
          <p:nvSpPr>
            <p:cNvPr id="286" name="Freeform: Shape 285">
              <a:extLst>
                <a:ext uri="{FF2B5EF4-FFF2-40B4-BE49-F238E27FC236}">
                  <a16:creationId xmlns:a16="http://schemas.microsoft.com/office/drawing/2014/main" id="{CE715776-5786-4219-A462-F57BBC5C8943}"/>
                </a:ext>
              </a:extLst>
            </p:cNvPr>
            <p:cNvSpPr/>
            <p:nvPr/>
          </p:nvSpPr>
          <p:spPr>
            <a:xfrm>
              <a:off x="1223160" y="4950390"/>
              <a:ext cx="208367" cy="132037"/>
            </a:xfrm>
            <a:custGeom>
              <a:avLst/>
              <a:gdLst>
                <a:gd name="connsiteX0" fmla="*/ 199236 w 208367"/>
                <a:gd name="connsiteY0" fmla="*/ 78587 h 132037"/>
                <a:gd name="connsiteX1" fmla="*/ 200365 w 208367"/>
                <a:gd name="connsiteY1" fmla="*/ 69422 h 132037"/>
                <a:gd name="connsiteX2" fmla="*/ 162234 w 208367"/>
                <a:gd name="connsiteY2" fmla="*/ 31291 h 132037"/>
                <a:gd name="connsiteX3" fmla="*/ 161619 w 208367"/>
                <a:gd name="connsiteY3" fmla="*/ 31291 h 132037"/>
                <a:gd name="connsiteX4" fmla="*/ 124104 w 208367"/>
                <a:gd name="connsiteY4" fmla="*/ 0 h 132037"/>
                <a:gd name="connsiteX5" fmla="*/ 89769 w 208367"/>
                <a:gd name="connsiteY5" fmla="*/ 21510 h 132037"/>
                <a:gd name="connsiteX6" fmla="*/ 67575 w 208367"/>
                <a:gd name="connsiteY6" fmla="*/ 14397 h 132037"/>
                <a:gd name="connsiteX7" fmla="*/ 29444 w 208367"/>
                <a:gd name="connsiteY7" fmla="*/ 52528 h 132037"/>
                <a:gd name="connsiteX8" fmla="*/ 33411 w 208367"/>
                <a:gd name="connsiteY8" fmla="*/ 69490 h 132037"/>
                <a:gd name="connsiteX9" fmla="*/ 31291 w 208367"/>
                <a:gd name="connsiteY9" fmla="*/ 69422 h 132037"/>
                <a:gd name="connsiteX10" fmla="*/ 0 w 208367"/>
                <a:gd name="connsiteY10" fmla="*/ 100712 h 132037"/>
                <a:gd name="connsiteX11" fmla="*/ 31291 w 208367"/>
                <a:gd name="connsiteY11" fmla="*/ 132003 h 132037"/>
                <a:gd name="connsiteX12" fmla="*/ 62582 w 208367"/>
                <a:gd name="connsiteY12" fmla="*/ 100712 h 132037"/>
                <a:gd name="connsiteX13" fmla="*/ 60701 w 208367"/>
                <a:gd name="connsiteY13" fmla="*/ 90043 h 132037"/>
                <a:gd name="connsiteX14" fmla="*/ 67541 w 208367"/>
                <a:gd name="connsiteY14" fmla="*/ 90658 h 132037"/>
                <a:gd name="connsiteX15" fmla="*/ 101875 w 208367"/>
                <a:gd name="connsiteY15" fmla="*/ 69148 h 132037"/>
                <a:gd name="connsiteX16" fmla="*/ 124070 w 208367"/>
                <a:gd name="connsiteY16" fmla="*/ 76261 h 132037"/>
                <a:gd name="connsiteX17" fmla="*/ 124685 w 208367"/>
                <a:gd name="connsiteY17" fmla="*/ 76261 h 132037"/>
                <a:gd name="connsiteX18" fmla="*/ 145956 w 208367"/>
                <a:gd name="connsiteY18" fmla="*/ 103927 h 132037"/>
                <a:gd name="connsiteX19" fmla="*/ 177076 w 208367"/>
                <a:gd name="connsiteY19" fmla="*/ 132038 h 132037"/>
                <a:gd name="connsiteX20" fmla="*/ 208367 w 208367"/>
                <a:gd name="connsiteY20" fmla="*/ 100747 h 132037"/>
                <a:gd name="connsiteX21" fmla="*/ 199202 w 208367"/>
                <a:gd name="connsiteY21" fmla="*/ 78621 h 132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8367" h="132037">
                  <a:moveTo>
                    <a:pt x="199236" y="78587"/>
                  </a:moveTo>
                  <a:cubicBezTo>
                    <a:pt x="199954" y="75645"/>
                    <a:pt x="200365" y="72568"/>
                    <a:pt x="200365" y="69422"/>
                  </a:cubicBezTo>
                  <a:cubicBezTo>
                    <a:pt x="200365" y="48356"/>
                    <a:pt x="183300" y="31291"/>
                    <a:pt x="162234" y="31291"/>
                  </a:cubicBezTo>
                  <a:cubicBezTo>
                    <a:pt x="162029" y="31291"/>
                    <a:pt x="161824" y="31291"/>
                    <a:pt x="161619" y="31291"/>
                  </a:cubicBezTo>
                  <a:cubicBezTo>
                    <a:pt x="158404" y="13508"/>
                    <a:pt x="142810" y="0"/>
                    <a:pt x="124104" y="0"/>
                  </a:cubicBezTo>
                  <a:cubicBezTo>
                    <a:pt x="108988" y="0"/>
                    <a:pt x="95959" y="8789"/>
                    <a:pt x="89769" y="21510"/>
                  </a:cubicBezTo>
                  <a:cubicBezTo>
                    <a:pt x="83511" y="17030"/>
                    <a:pt x="75851" y="14397"/>
                    <a:pt x="67575" y="14397"/>
                  </a:cubicBezTo>
                  <a:cubicBezTo>
                    <a:pt x="46509" y="14397"/>
                    <a:pt x="29444" y="31462"/>
                    <a:pt x="29444" y="52528"/>
                  </a:cubicBezTo>
                  <a:cubicBezTo>
                    <a:pt x="29444" y="58615"/>
                    <a:pt x="30881" y="64360"/>
                    <a:pt x="33411" y="69490"/>
                  </a:cubicBezTo>
                  <a:cubicBezTo>
                    <a:pt x="32727" y="69456"/>
                    <a:pt x="32009" y="69422"/>
                    <a:pt x="31291" y="69422"/>
                  </a:cubicBezTo>
                  <a:cubicBezTo>
                    <a:pt x="14021" y="69422"/>
                    <a:pt x="0" y="83443"/>
                    <a:pt x="0" y="100712"/>
                  </a:cubicBezTo>
                  <a:cubicBezTo>
                    <a:pt x="0" y="117982"/>
                    <a:pt x="14021" y="132003"/>
                    <a:pt x="31291" y="132003"/>
                  </a:cubicBezTo>
                  <a:cubicBezTo>
                    <a:pt x="48561" y="132003"/>
                    <a:pt x="62582" y="117982"/>
                    <a:pt x="62582" y="100712"/>
                  </a:cubicBezTo>
                  <a:cubicBezTo>
                    <a:pt x="62582" y="96985"/>
                    <a:pt x="61932" y="93394"/>
                    <a:pt x="60701" y="90043"/>
                  </a:cubicBezTo>
                  <a:cubicBezTo>
                    <a:pt x="62924" y="90453"/>
                    <a:pt x="65215" y="90658"/>
                    <a:pt x="67541" y="90658"/>
                  </a:cubicBezTo>
                  <a:cubicBezTo>
                    <a:pt x="82656" y="90658"/>
                    <a:pt x="95685" y="81870"/>
                    <a:pt x="101875" y="69148"/>
                  </a:cubicBezTo>
                  <a:cubicBezTo>
                    <a:pt x="108133" y="73628"/>
                    <a:pt x="115794" y="76261"/>
                    <a:pt x="124070" y="76261"/>
                  </a:cubicBezTo>
                  <a:cubicBezTo>
                    <a:pt x="124275" y="76261"/>
                    <a:pt x="124480" y="76261"/>
                    <a:pt x="124685" y="76261"/>
                  </a:cubicBezTo>
                  <a:cubicBezTo>
                    <a:pt x="126908" y="88538"/>
                    <a:pt x="135013" y="98763"/>
                    <a:pt x="145956" y="103927"/>
                  </a:cubicBezTo>
                  <a:cubicBezTo>
                    <a:pt x="147563" y="119692"/>
                    <a:pt x="160901" y="132038"/>
                    <a:pt x="177076" y="132038"/>
                  </a:cubicBezTo>
                  <a:cubicBezTo>
                    <a:pt x="194346" y="132038"/>
                    <a:pt x="208367" y="118017"/>
                    <a:pt x="208367" y="100747"/>
                  </a:cubicBezTo>
                  <a:cubicBezTo>
                    <a:pt x="208367" y="92095"/>
                    <a:pt x="204879" y="84263"/>
                    <a:pt x="199202" y="78621"/>
                  </a:cubicBezTo>
                  <a:close/>
                </a:path>
              </a:pathLst>
            </a:custGeom>
            <a:solidFill>
              <a:srgbClr val="1D2333"/>
            </a:solidFill>
            <a:ln w="3394" cap="flat">
              <a:noFill/>
              <a:prstDash val="solid"/>
              <a:miter/>
            </a:ln>
          </p:spPr>
          <p:txBody>
            <a:bodyPr rtlCol="0" anchor="ctr"/>
            <a:lstStyle/>
            <a:p>
              <a:endParaRPr lang="en-US"/>
            </a:p>
          </p:txBody>
        </p:sp>
        <p:sp>
          <p:nvSpPr>
            <p:cNvPr id="287" name="Freeform: Shape 286">
              <a:extLst>
                <a:ext uri="{FF2B5EF4-FFF2-40B4-BE49-F238E27FC236}">
                  <a16:creationId xmlns:a16="http://schemas.microsoft.com/office/drawing/2014/main" id="{B7FFB67A-6972-4CDC-8F91-B0A69951C32D}"/>
                </a:ext>
              </a:extLst>
            </p:cNvPr>
            <p:cNvSpPr/>
            <p:nvPr/>
          </p:nvSpPr>
          <p:spPr>
            <a:xfrm>
              <a:off x="1262863" y="5018272"/>
              <a:ext cx="131148" cy="166201"/>
            </a:xfrm>
            <a:custGeom>
              <a:avLst/>
              <a:gdLst>
                <a:gd name="connsiteX0" fmla="*/ 75919 w 131148"/>
                <a:gd name="connsiteY0" fmla="*/ 0 h 166201"/>
                <a:gd name="connsiteX1" fmla="*/ 131148 w 131148"/>
                <a:gd name="connsiteY1" fmla="*/ 55229 h 166201"/>
                <a:gd name="connsiteX2" fmla="*/ 131148 w 131148"/>
                <a:gd name="connsiteY2" fmla="*/ 110972 h 166201"/>
                <a:gd name="connsiteX3" fmla="*/ 75919 w 131148"/>
                <a:gd name="connsiteY3" fmla="*/ 166201 h 166201"/>
                <a:gd name="connsiteX4" fmla="*/ 55229 w 131148"/>
                <a:gd name="connsiteY4" fmla="*/ 166201 h 166201"/>
                <a:gd name="connsiteX5" fmla="*/ 0 w 131148"/>
                <a:gd name="connsiteY5" fmla="*/ 110972 h 166201"/>
                <a:gd name="connsiteX6" fmla="*/ 0 w 131148"/>
                <a:gd name="connsiteY6" fmla="*/ 55229 h 166201"/>
                <a:gd name="connsiteX7" fmla="*/ 55229 w 131148"/>
                <a:gd name="connsiteY7" fmla="*/ 0 h 166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148" h="166201">
                  <a:moveTo>
                    <a:pt x="75919" y="0"/>
                  </a:moveTo>
                  <a:cubicBezTo>
                    <a:pt x="106421" y="0"/>
                    <a:pt x="131148" y="24727"/>
                    <a:pt x="131148" y="55229"/>
                  </a:cubicBezTo>
                  <a:lnTo>
                    <a:pt x="131148" y="110972"/>
                  </a:lnTo>
                  <a:cubicBezTo>
                    <a:pt x="131148" y="141474"/>
                    <a:pt x="106421" y="166201"/>
                    <a:pt x="75919" y="166201"/>
                  </a:cubicBezTo>
                  <a:lnTo>
                    <a:pt x="55229" y="166201"/>
                  </a:lnTo>
                  <a:cubicBezTo>
                    <a:pt x="24727" y="166201"/>
                    <a:pt x="0" y="141474"/>
                    <a:pt x="0" y="110972"/>
                  </a:cubicBezTo>
                  <a:lnTo>
                    <a:pt x="0" y="55229"/>
                  </a:lnTo>
                  <a:cubicBezTo>
                    <a:pt x="0" y="24727"/>
                    <a:pt x="24727" y="0"/>
                    <a:pt x="55229" y="0"/>
                  </a:cubicBezTo>
                  <a:close/>
                </a:path>
              </a:pathLst>
            </a:custGeom>
            <a:solidFill>
              <a:srgbClr val="FFBEBB"/>
            </a:solidFill>
            <a:ln w="3394" cap="flat">
              <a:noFill/>
              <a:prstDash val="solid"/>
              <a:miter/>
            </a:ln>
          </p:spPr>
          <p:txBody>
            <a:bodyPr rtlCol="0" anchor="ctr"/>
            <a:lstStyle/>
            <a:p>
              <a:endParaRPr lang="en-US"/>
            </a:p>
          </p:txBody>
        </p:sp>
        <p:sp>
          <p:nvSpPr>
            <p:cNvPr id="288" name="Freeform: Shape 287">
              <a:extLst>
                <a:ext uri="{FF2B5EF4-FFF2-40B4-BE49-F238E27FC236}">
                  <a16:creationId xmlns:a16="http://schemas.microsoft.com/office/drawing/2014/main" id="{00E4C1A7-715D-49F0-B970-D90A8BE8E72C}"/>
                </a:ext>
              </a:extLst>
            </p:cNvPr>
            <p:cNvSpPr/>
            <p:nvPr/>
          </p:nvSpPr>
          <p:spPr>
            <a:xfrm>
              <a:off x="1344543" y="5062356"/>
              <a:ext cx="31795" cy="11624"/>
            </a:xfrm>
            <a:custGeom>
              <a:avLst/>
              <a:gdLst>
                <a:gd name="connsiteX0" fmla="*/ 2686 w 31795"/>
                <a:gd name="connsiteY0" fmla="*/ 11625 h 11624"/>
                <a:gd name="connsiteX1" fmla="*/ 1113 w 31795"/>
                <a:gd name="connsiteY1" fmla="*/ 11112 h 11624"/>
                <a:gd name="connsiteX2" fmla="*/ 498 w 31795"/>
                <a:gd name="connsiteY2" fmla="*/ 7350 h 11624"/>
                <a:gd name="connsiteX3" fmla="*/ 15989 w 31795"/>
                <a:gd name="connsiteY3" fmla="*/ 32 h 11624"/>
                <a:gd name="connsiteX4" fmla="*/ 31070 w 31795"/>
                <a:gd name="connsiteY4" fmla="*/ 6769 h 11624"/>
                <a:gd name="connsiteX5" fmla="*/ 30899 w 31795"/>
                <a:gd name="connsiteY5" fmla="*/ 10599 h 11624"/>
                <a:gd name="connsiteX6" fmla="*/ 27069 w 31795"/>
                <a:gd name="connsiteY6" fmla="*/ 10462 h 11624"/>
                <a:gd name="connsiteX7" fmla="*/ 15647 w 31795"/>
                <a:gd name="connsiteY7" fmla="*/ 5435 h 11624"/>
                <a:gd name="connsiteX8" fmla="*/ 4909 w 31795"/>
                <a:gd name="connsiteY8" fmla="*/ 10496 h 11624"/>
                <a:gd name="connsiteX9" fmla="*/ 2720 w 31795"/>
                <a:gd name="connsiteY9" fmla="*/ 11625 h 11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795" h="11624">
                  <a:moveTo>
                    <a:pt x="2686" y="11625"/>
                  </a:moveTo>
                  <a:cubicBezTo>
                    <a:pt x="2139" y="11625"/>
                    <a:pt x="1592" y="11454"/>
                    <a:pt x="1113" y="11112"/>
                  </a:cubicBezTo>
                  <a:cubicBezTo>
                    <a:pt x="-84" y="10223"/>
                    <a:pt x="-357" y="8547"/>
                    <a:pt x="498" y="7350"/>
                  </a:cubicBezTo>
                  <a:cubicBezTo>
                    <a:pt x="737" y="7042"/>
                    <a:pt x="6311" y="-550"/>
                    <a:pt x="15989" y="32"/>
                  </a:cubicBezTo>
                  <a:cubicBezTo>
                    <a:pt x="25291" y="613"/>
                    <a:pt x="30831" y="6529"/>
                    <a:pt x="31070" y="6769"/>
                  </a:cubicBezTo>
                  <a:cubicBezTo>
                    <a:pt x="32096" y="7863"/>
                    <a:pt x="32028" y="9573"/>
                    <a:pt x="30899" y="10599"/>
                  </a:cubicBezTo>
                  <a:cubicBezTo>
                    <a:pt x="29805" y="11625"/>
                    <a:pt x="28095" y="11556"/>
                    <a:pt x="27069" y="10462"/>
                  </a:cubicBezTo>
                  <a:cubicBezTo>
                    <a:pt x="27035" y="10428"/>
                    <a:pt x="22692" y="5880"/>
                    <a:pt x="15647" y="5435"/>
                  </a:cubicBezTo>
                  <a:cubicBezTo>
                    <a:pt x="8944" y="5025"/>
                    <a:pt x="5080" y="10291"/>
                    <a:pt x="4909" y="10496"/>
                  </a:cubicBezTo>
                  <a:cubicBezTo>
                    <a:pt x="4362" y="11214"/>
                    <a:pt x="3541" y="11625"/>
                    <a:pt x="2720" y="11625"/>
                  </a:cubicBezTo>
                  <a:close/>
                </a:path>
              </a:pathLst>
            </a:custGeom>
            <a:solidFill>
              <a:srgbClr val="1D2333"/>
            </a:solidFill>
            <a:ln w="3394" cap="flat">
              <a:noFill/>
              <a:prstDash val="solid"/>
              <a:miter/>
            </a:ln>
          </p:spPr>
          <p:txBody>
            <a:bodyPr rtlCol="0" anchor="ctr"/>
            <a:lstStyle/>
            <a:p>
              <a:endParaRPr lang="en-US"/>
            </a:p>
          </p:txBody>
        </p:sp>
        <p:sp>
          <p:nvSpPr>
            <p:cNvPr id="289" name="Freeform: Shape 288">
              <a:extLst>
                <a:ext uri="{FF2B5EF4-FFF2-40B4-BE49-F238E27FC236}">
                  <a16:creationId xmlns:a16="http://schemas.microsoft.com/office/drawing/2014/main" id="{B72A3F26-EA36-43CD-BA24-B0B09003E7BD}"/>
                </a:ext>
              </a:extLst>
            </p:cNvPr>
            <p:cNvSpPr/>
            <p:nvPr/>
          </p:nvSpPr>
          <p:spPr>
            <a:xfrm>
              <a:off x="1282142" y="5062322"/>
              <a:ext cx="31819" cy="11658"/>
            </a:xfrm>
            <a:custGeom>
              <a:avLst/>
              <a:gdLst>
                <a:gd name="connsiteX0" fmla="*/ 2711 w 31819"/>
                <a:gd name="connsiteY0" fmla="*/ 11659 h 11658"/>
                <a:gd name="connsiteX1" fmla="*/ 1138 w 31819"/>
                <a:gd name="connsiteY1" fmla="*/ 11146 h 11658"/>
                <a:gd name="connsiteX2" fmla="*/ 522 w 31819"/>
                <a:gd name="connsiteY2" fmla="*/ 7350 h 11658"/>
                <a:gd name="connsiteX3" fmla="*/ 16014 w 31819"/>
                <a:gd name="connsiteY3" fmla="*/ 32 h 11658"/>
                <a:gd name="connsiteX4" fmla="*/ 31095 w 31819"/>
                <a:gd name="connsiteY4" fmla="*/ 6769 h 11658"/>
                <a:gd name="connsiteX5" fmla="*/ 30924 w 31819"/>
                <a:gd name="connsiteY5" fmla="*/ 10599 h 11658"/>
                <a:gd name="connsiteX6" fmla="*/ 27094 w 31819"/>
                <a:gd name="connsiteY6" fmla="*/ 10462 h 11658"/>
                <a:gd name="connsiteX7" fmla="*/ 15672 w 31819"/>
                <a:gd name="connsiteY7" fmla="*/ 5435 h 11658"/>
                <a:gd name="connsiteX8" fmla="*/ 4934 w 31819"/>
                <a:gd name="connsiteY8" fmla="*/ 10496 h 11658"/>
                <a:gd name="connsiteX9" fmla="*/ 2711 w 31819"/>
                <a:gd name="connsiteY9" fmla="*/ 11625 h 11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819" h="11658">
                  <a:moveTo>
                    <a:pt x="2711" y="11659"/>
                  </a:moveTo>
                  <a:cubicBezTo>
                    <a:pt x="2164" y="11659"/>
                    <a:pt x="1616" y="11488"/>
                    <a:pt x="1138" y="11146"/>
                  </a:cubicBezTo>
                  <a:cubicBezTo>
                    <a:pt x="-94" y="10257"/>
                    <a:pt x="-367" y="8581"/>
                    <a:pt x="522" y="7350"/>
                  </a:cubicBezTo>
                  <a:cubicBezTo>
                    <a:pt x="761" y="7042"/>
                    <a:pt x="6336" y="-550"/>
                    <a:pt x="16014" y="32"/>
                  </a:cubicBezTo>
                  <a:cubicBezTo>
                    <a:pt x="25315" y="613"/>
                    <a:pt x="30855" y="6529"/>
                    <a:pt x="31095" y="6769"/>
                  </a:cubicBezTo>
                  <a:cubicBezTo>
                    <a:pt x="32121" y="7863"/>
                    <a:pt x="32052" y="9573"/>
                    <a:pt x="30924" y="10599"/>
                  </a:cubicBezTo>
                  <a:cubicBezTo>
                    <a:pt x="29830" y="11625"/>
                    <a:pt x="28120" y="11556"/>
                    <a:pt x="27094" y="10462"/>
                  </a:cubicBezTo>
                  <a:cubicBezTo>
                    <a:pt x="26957" y="10325"/>
                    <a:pt x="22648" y="5880"/>
                    <a:pt x="15672" y="5435"/>
                  </a:cubicBezTo>
                  <a:cubicBezTo>
                    <a:pt x="8935" y="5025"/>
                    <a:pt x="4968" y="10428"/>
                    <a:pt x="4934" y="10496"/>
                  </a:cubicBezTo>
                  <a:cubicBezTo>
                    <a:pt x="4421" y="11249"/>
                    <a:pt x="3566" y="11625"/>
                    <a:pt x="2711" y="11625"/>
                  </a:cubicBezTo>
                  <a:close/>
                </a:path>
              </a:pathLst>
            </a:custGeom>
            <a:solidFill>
              <a:srgbClr val="1D2333"/>
            </a:solidFill>
            <a:ln w="3394" cap="flat">
              <a:noFill/>
              <a:prstDash val="solid"/>
              <a:miter/>
            </a:ln>
          </p:spPr>
          <p:txBody>
            <a:bodyPr rtlCol="0" anchor="ctr"/>
            <a:lstStyle/>
            <a:p>
              <a:endParaRPr lang="en-US"/>
            </a:p>
          </p:txBody>
        </p:sp>
        <p:sp>
          <p:nvSpPr>
            <p:cNvPr id="290" name="Freeform: Shape 289">
              <a:extLst>
                <a:ext uri="{FF2B5EF4-FFF2-40B4-BE49-F238E27FC236}">
                  <a16:creationId xmlns:a16="http://schemas.microsoft.com/office/drawing/2014/main" id="{817127BD-8A4E-4B53-9F48-7690909036BD}"/>
                </a:ext>
              </a:extLst>
            </p:cNvPr>
            <p:cNvSpPr/>
            <p:nvPr/>
          </p:nvSpPr>
          <p:spPr>
            <a:xfrm>
              <a:off x="1354718" y="5081299"/>
              <a:ext cx="9028" cy="12550"/>
            </a:xfrm>
            <a:custGeom>
              <a:avLst/>
              <a:gdLst>
                <a:gd name="connsiteX0" fmla="*/ 4514 w 9028"/>
                <a:gd name="connsiteY0" fmla="*/ 12551 h 12550"/>
                <a:gd name="connsiteX1" fmla="*/ 0 w 9028"/>
                <a:gd name="connsiteY1" fmla="*/ 8036 h 12550"/>
                <a:gd name="connsiteX2" fmla="*/ 0 w 9028"/>
                <a:gd name="connsiteY2" fmla="*/ 4514 h 12550"/>
                <a:gd name="connsiteX3" fmla="*/ 4514 w 9028"/>
                <a:gd name="connsiteY3" fmla="*/ 0 h 12550"/>
                <a:gd name="connsiteX4" fmla="*/ 9028 w 9028"/>
                <a:gd name="connsiteY4" fmla="*/ 4514 h 12550"/>
                <a:gd name="connsiteX5" fmla="*/ 9028 w 9028"/>
                <a:gd name="connsiteY5" fmla="*/ 8036 h 12550"/>
                <a:gd name="connsiteX6" fmla="*/ 4514 w 9028"/>
                <a:gd name="connsiteY6" fmla="*/ 12551 h 12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28" h="12550">
                  <a:moveTo>
                    <a:pt x="4514" y="12551"/>
                  </a:moveTo>
                  <a:cubicBezTo>
                    <a:pt x="2018" y="12551"/>
                    <a:pt x="0" y="10499"/>
                    <a:pt x="0" y="8036"/>
                  </a:cubicBezTo>
                  <a:lnTo>
                    <a:pt x="0" y="4514"/>
                  </a:lnTo>
                  <a:cubicBezTo>
                    <a:pt x="0" y="2018"/>
                    <a:pt x="2052" y="0"/>
                    <a:pt x="4514" y="0"/>
                  </a:cubicBezTo>
                  <a:cubicBezTo>
                    <a:pt x="6976" y="0"/>
                    <a:pt x="9028" y="2052"/>
                    <a:pt x="9028" y="4514"/>
                  </a:cubicBezTo>
                  <a:lnTo>
                    <a:pt x="9028" y="8036"/>
                  </a:lnTo>
                  <a:cubicBezTo>
                    <a:pt x="9028" y="10533"/>
                    <a:pt x="6976" y="12551"/>
                    <a:pt x="4514" y="12551"/>
                  </a:cubicBezTo>
                  <a:close/>
                </a:path>
              </a:pathLst>
            </a:custGeom>
            <a:solidFill>
              <a:srgbClr val="1D2333"/>
            </a:solidFill>
            <a:ln w="3394" cap="flat">
              <a:noFill/>
              <a:prstDash val="solid"/>
              <a:miter/>
            </a:ln>
          </p:spPr>
          <p:txBody>
            <a:bodyPr rtlCol="0" anchor="ctr"/>
            <a:lstStyle/>
            <a:p>
              <a:endParaRPr lang="en-US"/>
            </a:p>
          </p:txBody>
        </p:sp>
        <p:sp>
          <p:nvSpPr>
            <p:cNvPr id="291" name="Freeform: Shape 290">
              <a:extLst>
                <a:ext uri="{FF2B5EF4-FFF2-40B4-BE49-F238E27FC236}">
                  <a16:creationId xmlns:a16="http://schemas.microsoft.com/office/drawing/2014/main" id="{633E1B2C-5782-44F9-B07A-2C8681D7ADAA}"/>
                </a:ext>
              </a:extLst>
            </p:cNvPr>
            <p:cNvSpPr/>
            <p:nvPr/>
          </p:nvSpPr>
          <p:spPr>
            <a:xfrm>
              <a:off x="1294530" y="5081299"/>
              <a:ext cx="9028" cy="12550"/>
            </a:xfrm>
            <a:custGeom>
              <a:avLst/>
              <a:gdLst>
                <a:gd name="connsiteX0" fmla="*/ 4514 w 9028"/>
                <a:gd name="connsiteY0" fmla="*/ 12551 h 12550"/>
                <a:gd name="connsiteX1" fmla="*/ 0 w 9028"/>
                <a:gd name="connsiteY1" fmla="*/ 8036 h 12550"/>
                <a:gd name="connsiteX2" fmla="*/ 0 w 9028"/>
                <a:gd name="connsiteY2" fmla="*/ 4514 h 12550"/>
                <a:gd name="connsiteX3" fmla="*/ 4514 w 9028"/>
                <a:gd name="connsiteY3" fmla="*/ 0 h 12550"/>
                <a:gd name="connsiteX4" fmla="*/ 9028 w 9028"/>
                <a:gd name="connsiteY4" fmla="*/ 4514 h 12550"/>
                <a:gd name="connsiteX5" fmla="*/ 9028 w 9028"/>
                <a:gd name="connsiteY5" fmla="*/ 8036 h 12550"/>
                <a:gd name="connsiteX6" fmla="*/ 4514 w 9028"/>
                <a:gd name="connsiteY6" fmla="*/ 12551 h 12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28" h="12550">
                  <a:moveTo>
                    <a:pt x="4514" y="12551"/>
                  </a:moveTo>
                  <a:cubicBezTo>
                    <a:pt x="2018" y="12551"/>
                    <a:pt x="0" y="10499"/>
                    <a:pt x="0" y="8036"/>
                  </a:cubicBezTo>
                  <a:lnTo>
                    <a:pt x="0" y="4514"/>
                  </a:lnTo>
                  <a:cubicBezTo>
                    <a:pt x="0" y="2018"/>
                    <a:pt x="2052" y="0"/>
                    <a:pt x="4514" y="0"/>
                  </a:cubicBezTo>
                  <a:cubicBezTo>
                    <a:pt x="6976" y="0"/>
                    <a:pt x="9028" y="2052"/>
                    <a:pt x="9028" y="4514"/>
                  </a:cubicBezTo>
                  <a:lnTo>
                    <a:pt x="9028" y="8036"/>
                  </a:lnTo>
                  <a:cubicBezTo>
                    <a:pt x="9028" y="10533"/>
                    <a:pt x="6976" y="12551"/>
                    <a:pt x="4514" y="12551"/>
                  </a:cubicBezTo>
                  <a:close/>
                </a:path>
              </a:pathLst>
            </a:custGeom>
            <a:solidFill>
              <a:srgbClr val="1D2333"/>
            </a:solidFill>
            <a:ln w="3394" cap="flat">
              <a:noFill/>
              <a:prstDash val="solid"/>
              <a:miter/>
            </a:ln>
          </p:spPr>
          <p:txBody>
            <a:bodyPr rtlCol="0" anchor="ctr"/>
            <a:lstStyle/>
            <a:p>
              <a:endParaRPr lang="en-US"/>
            </a:p>
          </p:txBody>
        </p:sp>
        <p:sp>
          <p:nvSpPr>
            <p:cNvPr id="292" name="Freeform: Shape 291">
              <a:extLst>
                <a:ext uri="{FF2B5EF4-FFF2-40B4-BE49-F238E27FC236}">
                  <a16:creationId xmlns:a16="http://schemas.microsoft.com/office/drawing/2014/main" id="{862600CC-A586-4290-91BA-0154C737AF0A}"/>
                </a:ext>
              </a:extLst>
            </p:cNvPr>
            <p:cNvSpPr/>
            <p:nvPr/>
          </p:nvSpPr>
          <p:spPr>
            <a:xfrm>
              <a:off x="1320520" y="5076953"/>
              <a:ext cx="10917" cy="42715"/>
            </a:xfrm>
            <a:custGeom>
              <a:avLst/>
              <a:gdLst>
                <a:gd name="connsiteX0" fmla="*/ 5267 w 10917"/>
                <a:gd name="connsiteY0" fmla="*/ 42716 h 42715"/>
                <a:gd name="connsiteX1" fmla="*/ 3010 w 10917"/>
                <a:gd name="connsiteY1" fmla="*/ 41519 h 42715"/>
                <a:gd name="connsiteX2" fmla="*/ 2360 w 10917"/>
                <a:gd name="connsiteY2" fmla="*/ 24557 h 42715"/>
                <a:gd name="connsiteX3" fmla="*/ 3557 w 10917"/>
                <a:gd name="connsiteY3" fmla="*/ 21753 h 42715"/>
                <a:gd name="connsiteX4" fmla="*/ 5472 w 10917"/>
                <a:gd name="connsiteY4" fmla="*/ 2773 h 42715"/>
                <a:gd name="connsiteX5" fmla="*/ 8139 w 10917"/>
                <a:gd name="connsiteY5" fmla="*/ 3 h 42715"/>
                <a:gd name="connsiteX6" fmla="*/ 10909 w 10917"/>
                <a:gd name="connsiteY6" fmla="*/ 2670 h 42715"/>
                <a:gd name="connsiteX7" fmla="*/ 8618 w 10917"/>
                <a:gd name="connsiteY7" fmla="*/ 23736 h 42715"/>
                <a:gd name="connsiteX8" fmla="*/ 7319 w 10917"/>
                <a:gd name="connsiteY8" fmla="*/ 26780 h 42715"/>
                <a:gd name="connsiteX9" fmla="*/ 7490 w 10917"/>
                <a:gd name="connsiteY9" fmla="*/ 38441 h 42715"/>
                <a:gd name="connsiteX10" fmla="*/ 6772 w 10917"/>
                <a:gd name="connsiteY10" fmla="*/ 42203 h 42715"/>
                <a:gd name="connsiteX11" fmla="*/ 5233 w 10917"/>
                <a:gd name="connsiteY11" fmla="*/ 42682 h 4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17" h="42715">
                  <a:moveTo>
                    <a:pt x="5267" y="42716"/>
                  </a:moveTo>
                  <a:cubicBezTo>
                    <a:pt x="4412" y="42716"/>
                    <a:pt x="3557" y="42305"/>
                    <a:pt x="3010" y="41519"/>
                  </a:cubicBezTo>
                  <a:cubicBezTo>
                    <a:pt x="-1949" y="34235"/>
                    <a:pt x="240" y="29310"/>
                    <a:pt x="2360" y="24557"/>
                  </a:cubicBezTo>
                  <a:cubicBezTo>
                    <a:pt x="2770" y="23668"/>
                    <a:pt x="3181" y="22744"/>
                    <a:pt x="3557" y="21753"/>
                  </a:cubicBezTo>
                  <a:cubicBezTo>
                    <a:pt x="5335" y="17170"/>
                    <a:pt x="5540" y="6500"/>
                    <a:pt x="5472" y="2773"/>
                  </a:cubicBezTo>
                  <a:cubicBezTo>
                    <a:pt x="5472" y="1268"/>
                    <a:pt x="6635" y="37"/>
                    <a:pt x="8139" y="3"/>
                  </a:cubicBezTo>
                  <a:cubicBezTo>
                    <a:pt x="9678" y="-66"/>
                    <a:pt x="10875" y="1165"/>
                    <a:pt x="10909" y="2670"/>
                  </a:cubicBezTo>
                  <a:cubicBezTo>
                    <a:pt x="10909" y="3252"/>
                    <a:pt x="11183" y="17204"/>
                    <a:pt x="8618" y="23736"/>
                  </a:cubicBezTo>
                  <a:cubicBezTo>
                    <a:pt x="8208" y="24796"/>
                    <a:pt x="7763" y="25822"/>
                    <a:pt x="7319" y="26780"/>
                  </a:cubicBezTo>
                  <a:cubicBezTo>
                    <a:pt x="5335" y="31225"/>
                    <a:pt x="4241" y="33688"/>
                    <a:pt x="7490" y="38441"/>
                  </a:cubicBezTo>
                  <a:cubicBezTo>
                    <a:pt x="8345" y="39672"/>
                    <a:pt x="8003" y="41382"/>
                    <a:pt x="6772" y="42203"/>
                  </a:cubicBezTo>
                  <a:cubicBezTo>
                    <a:pt x="6293" y="42511"/>
                    <a:pt x="5780" y="42682"/>
                    <a:pt x="5233" y="42682"/>
                  </a:cubicBezTo>
                  <a:close/>
                </a:path>
              </a:pathLst>
            </a:custGeom>
            <a:solidFill>
              <a:srgbClr val="F47C73"/>
            </a:solidFill>
            <a:ln w="3394" cap="flat">
              <a:noFill/>
              <a:prstDash val="solid"/>
              <a:miter/>
            </a:ln>
          </p:spPr>
          <p:txBody>
            <a:bodyPr rtlCol="0" anchor="ctr"/>
            <a:lstStyle/>
            <a:p>
              <a:endParaRPr lang="en-US"/>
            </a:p>
          </p:txBody>
        </p:sp>
        <p:sp>
          <p:nvSpPr>
            <p:cNvPr id="293" name="Freeform: Shape 292">
              <a:extLst>
                <a:ext uri="{FF2B5EF4-FFF2-40B4-BE49-F238E27FC236}">
                  <a16:creationId xmlns:a16="http://schemas.microsoft.com/office/drawing/2014/main" id="{274F261A-E25C-4421-B9C8-34157A0FFF18}"/>
                </a:ext>
              </a:extLst>
            </p:cNvPr>
            <p:cNvSpPr/>
            <p:nvPr/>
          </p:nvSpPr>
          <p:spPr>
            <a:xfrm>
              <a:off x="1418224" y="5463059"/>
              <a:ext cx="330702" cy="123753"/>
            </a:xfrm>
            <a:custGeom>
              <a:avLst/>
              <a:gdLst>
                <a:gd name="connsiteX0" fmla="*/ 323135 w 330702"/>
                <a:gd name="connsiteY0" fmla="*/ 29263 h 123753"/>
                <a:gd name="connsiteX1" fmla="*/ 311884 w 330702"/>
                <a:gd name="connsiteY1" fmla="*/ 14353 h 123753"/>
                <a:gd name="connsiteX2" fmla="*/ 233263 w 330702"/>
                <a:gd name="connsiteY2" fmla="*/ 2076 h 123753"/>
                <a:gd name="connsiteX3" fmla="*/ 142844 w 330702"/>
                <a:gd name="connsiteY3" fmla="*/ 21568 h 123753"/>
                <a:gd name="connsiteX4" fmla="*/ 82759 w 330702"/>
                <a:gd name="connsiteY4" fmla="*/ 29742 h 123753"/>
                <a:gd name="connsiteX5" fmla="*/ 15765 w 330702"/>
                <a:gd name="connsiteY5" fmla="*/ 31451 h 123753"/>
                <a:gd name="connsiteX6" fmla="*/ 0 w 330702"/>
                <a:gd name="connsiteY6" fmla="*/ 101762 h 123753"/>
                <a:gd name="connsiteX7" fmla="*/ 156489 w 330702"/>
                <a:gd name="connsiteY7" fmla="*/ 120708 h 123753"/>
                <a:gd name="connsiteX8" fmla="*/ 176221 w 330702"/>
                <a:gd name="connsiteY8" fmla="*/ 121494 h 123753"/>
                <a:gd name="connsiteX9" fmla="*/ 283602 w 330702"/>
                <a:gd name="connsiteY9" fmla="*/ 118861 h 123753"/>
                <a:gd name="connsiteX10" fmla="*/ 320775 w 330702"/>
                <a:gd name="connsiteY10" fmla="*/ 98137 h 123753"/>
                <a:gd name="connsiteX11" fmla="*/ 330145 w 330702"/>
                <a:gd name="connsiteY11" fmla="*/ 54398 h 123753"/>
                <a:gd name="connsiteX12" fmla="*/ 323135 w 330702"/>
                <a:gd name="connsiteY12" fmla="*/ 29263 h 123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0702" h="123753">
                  <a:moveTo>
                    <a:pt x="323135" y="29263"/>
                  </a:moveTo>
                  <a:cubicBezTo>
                    <a:pt x="320331" y="23586"/>
                    <a:pt x="316603" y="18456"/>
                    <a:pt x="311884" y="14353"/>
                  </a:cubicBezTo>
                  <a:cubicBezTo>
                    <a:pt x="291707" y="-3157"/>
                    <a:pt x="257509" y="-968"/>
                    <a:pt x="233263" y="2076"/>
                  </a:cubicBezTo>
                  <a:cubicBezTo>
                    <a:pt x="202656" y="5906"/>
                    <a:pt x="173075" y="15618"/>
                    <a:pt x="142844" y="21568"/>
                  </a:cubicBezTo>
                  <a:cubicBezTo>
                    <a:pt x="123009" y="25467"/>
                    <a:pt x="102867" y="28032"/>
                    <a:pt x="82759" y="29742"/>
                  </a:cubicBezTo>
                  <a:cubicBezTo>
                    <a:pt x="76911" y="30220"/>
                    <a:pt x="15902" y="30870"/>
                    <a:pt x="15765" y="31451"/>
                  </a:cubicBezTo>
                  <a:lnTo>
                    <a:pt x="0" y="101762"/>
                  </a:lnTo>
                  <a:cubicBezTo>
                    <a:pt x="0" y="101762"/>
                    <a:pt x="11490" y="112945"/>
                    <a:pt x="156489" y="120708"/>
                  </a:cubicBezTo>
                  <a:cubicBezTo>
                    <a:pt x="163055" y="121050"/>
                    <a:pt x="169655" y="121323"/>
                    <a:pt x="176221" y="121494"/>
                  </a:cubicBezTo>
                  <a:cubicBezTo>
                    <a:pt x="212231" y="122418"/>
                    <a:pt x="247900" y="127342"/>
                    <a:pt x="283602" y="118861"/>
                  </a:cubicBezTo>
                  <a:cubicBezTo>
                    <a:pt x="297555" y="115544"/>
                    <a:pt x="311850" y="109901"/>
                    <a:pt x="320775" y="98137"/>
                  </a:cubicBezTo>
                  <a:cubicBezTo>
                    <a:pt x="329872" y="86134"/>
                    <a:pt x="331855" y="69616"/>
                    <a:pt x="330145" y="54398"/>
                  </a:cubicBezTo>
                  <a:cubicBezTo>
                    <a:pt x="329154" y="45712"/>
                    <a:pt x="326965" y="36957"/>
                    <a:pt x="323135" y="29263"/>
                  </a:cubicBezTo>
                  <a:close/>
                </a:path>
              </a:pathLst>
            </a:custGeom>
            <a:solidFill>
              <a:srgbClr val="FFBEBB"/>
            </a:solidFill>
            <a:ln w="3394" cap="flat">
              <a:noFill/>
              <a:prstDash val="solid"/>
              <a:miter/>
            </a:ln>
          </p:spPr>
          <p:txBody>
            <a:bodyPr rtlCol="0" anchor="ctr"/>
            <a:lstStyle/>
            <a:p>
              <a:endParaRPr lang="en-US"/>
            </a:p>
          </p:txBody>
        </p:sp>
        <p:sp>
          <p:nvSpPr>
            <p:cNvPr id="294" name="Freeform: Shape 293">
              <a:extLst>
                <a:ext uri="{FF2B5EF4-FFF2-40B4-BE49-F238E27FC236}">
                  <a16:creationId xmlns:a16="http://schemas.microsoft.com/office/drawing/2014/main" id="{3505F52F-6BA5-409C-986E-735BADBEFACA}"/>
                </a:ext>
              </a:extLst>
            </p:cNvPr>
            <p:cNvSpPr/>
            <p:nvPr/>
          </p:nvSpPr>
          <p:spPr>
            <a:xfrm>
              <a:off x="913694" y="5463059"/>
              <a:ext cx="330702" cy="123753"/>
            </a:xfrm>
            <a:custGeom>
              <a:avLst/>
              <a:gdLst>
                <a:gd name="connsiteX0" fmla="*/ 7567 w 330702"/>
                <a:gd name="connsiteY0" fmla="*/ 29263 h 123753"/>
                <a:gd name="connsiteX1" fmla="*/ 18819 w 330702"/>
                <a:gd name="connsiteY1" fmla="*/ 14353 h 123753"/>
                <a:gd name="connsiteX2" fmla="*/ 97439 w 330702"/>
                <a:gd name="connsiteY2" fmla="*/ 2076 h 123753"/>
                <a:gd name="connsiteX3" fmla="*/ 187858 w 330702"/>
                <a:gd name="connsiteY3" fmla="*/ 21568 h 123753"/>
                <a:gd name="connsiteX4" fmla="*/ 247944 w 330702"/>
                <a:gd name="connsiteY4" fmla="*/ 29742 h 123753"/>
                <a:gd name="connsiteX5" fmla="*/ 314937 w 330702"/>
                <a:gd name="connsiteY5" fmla="*/ 31451 h 123753"/>
                <a:gd name="connsiteX6" fmla="*/ 330702 w 330702"/>
                <a:gd name="connsiteY6" fmla="*/ 101762 h 123753"/>
                <a:gd name="connsiteX7" fmla="*/ 174213 w 330702"/>
                <a:gd name="connsiteY7" fmla="*/ 120708 h 123753"/>
                <a:gd name="connsiteX8" fmla="*/ 154481 w 330702"/>
                <a:gd name="connsiteY8" fmla="*/ 121494 h 123753"/>
                <a:gd name="connsiteX9" fmla="*/ 47100 w 330702"/>
                <a:gd name="connsiteY9" fmla="*/ 118861 h 123753"/>
                <a:gd name="connsiteX10" fmla="*/ 9927 w 330702"/>
                <a:gd name="connsiteY10" fmla="*/ 98137 h 123753"/>
                <a:gd name="connsiteX11" fmla="*/ 557 w 330702"/>
                <a:gd name="connsiteY11" fmla="*/ 54398 h 123753"/>
                <a:gd name="connsiteX12" fmla="*/ 7567 w 330702"/>
                <a:gd name="connsiteY12" fmla="*/ 29263 h 123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0702" h="123753">
                  <a:moveTo>
                    <a:pt x="7567" y="29263"/>
                  </a:moveTo>
                  <a:cubicBezTo>
                    <a:pt x="10372" y="23586"/>
                    <a:pt x="14099" y="18456"/>
                    <a:pt x="18819" y="14353"/>
                  </a:cubicBezTo>
                  <a:cubicBezTo>
                    <a:pt x="38995" y="-3157"/>
                    <a:pt x="73193" y="-968"/>
                    <a:pt x="97439" y="2076"/>
                  </a:cubicBezTo>
                  <a:cubicBezTo>
                    <a:pt x="128046" y="5906"/>
                    <a:pt x="157627" y="15618"/>
                    <a:pt x="187858" y="21568"/>
                  </a:cubicBezTo>
                  <a:cubicBezTo>
                    <a:pt x="207693" y="25467"/>
                    <a:pt x="227835" y="28032"/>
                    <a:pt x="247944" y="29742"/>
                  </a:cubicBezTo>
                  <a:cubicBezTo>
                    <a:pt x="253791" y="30220"/>
                    <a:pt x="314800" y="30870"/>
                    <a:pt x="314937" y="31451"/>
                  </a:cubicBezTo>
                  <a:lnTo>
                    <a:pt x="330702" y="101762"/>
                  </a:lnTo>
                  <a:cubicBezTo>
                    <a:pt x="330702" y="101762"/>
                    <a:pt x="319212" y="112945"/>
                    <a:pt x="174213" y="120708"/>
                  </a:cubicBezTo>
                  <a:cubicBezTo>
                    <a:pt x="167647" y="121050"/>
                    <a:pt x="161047" y="121323"/>
                    <a:pt x="154481" y="121494"/>
                  </a:cubicBezTo>
                  <a:cubicBezTo>
                    <a:pt x="118471" y="122418"/>
                    <a:pt x="82803" y="127342"/>
                    <a:pt x="47100" y="118861"/>
                  </a:cubicBezTo>
                  <a:cubicBezTo>
                    <a:pt x="33147" y="115544"/>
                    <a:pt x="18853" y="109901"/>
                    <a:pt x="9927" y="98137"/>
                  </a:cubicBezTo>
                  <a:cubicBezTo>
                    <a:pt x="831" y="86134"/>
                    <a:pt x="-1153" y="69616"/>
                    <a:pt x="557" y="54398"/>
                  </a:cubicBezTo>
                  <a:cubicBezTo>
                    <a:pt x="1549" y="45712"/>
                    <a:pt x="3737" y="36957"/>
                    <a:pt x="7567" y="29263"/>
                  </a:cubicBezTo>
                  <a:close/>
                </a:path>
              </a:pathLst>
            </a:custGeom>
            <a:solidFill>
              <a:srgbClr val="FFBEBB"/>
            </a:solidFill>
            <a:ln w="3394" cap="flat">
              <a:noFill/>
              <a:prstDash val="solid"/>
              <a:miter/>
            </a:ln>
          </p:spPr>
          <p:txBody>
            <a:bodyPr rtlCol="0" anchor="ctr"/>
            <a:lstStyle/>
            <a:p>
              <a:endParaRPr lang="en-US"/>
            </a:p>
          </p:txBody>
        </p:sp>
        <p:sp>
          <p:nvSpPr>
            <p:cNvPr id="295" name="Freeform: Shape 294">
              <a:extLst>
                <a:ext uri="{FF2B5EF4-FFF2-40B4-BE49-F238E27FC236}">
                  <a16:creationId xmlns:a16="http://schemas.microsoft.com/office/drawing/2014/main" id="{E59F9835-6FC0-4A41-AA9E-9C185640E865}"/>
                </a:ext>
              </a:extLst>
            </p:cNvPr>
            <p:cNvSpPr/>
            <p:nvPr/>
          </p:nvSpPr>
          <p:spPr>
            <a:xfrm rot="13500000">
              <a:off x="1020870" y="4951139"/>
              <a:ext cx="81972" cy="81972"/>
            </a:xfrm>
            <a:custGeom>
              <a:avLst/>
              <a:gdLst>
                <a:gd name="connsiteX0" fmla="*/ 73833 w 81972"/>
                <a:gd name="connsiteY0" fmla="*/ 0 h 81972"/>
                <a:gd name="connsiteX1" fmla="*/ 81972 w 81972"/>
                <a:gd name="connsiteY1" fmla="*/ 8139 h 81972"/>
                <a:gd name="connsiteX2" fmla="*/ 81972 w 81972"/>
                <a:gd name="connsiteY2" fmla="*/ 73833 h 81972"/>
                <a:gd name="connsiteX3" fmla="*/ 73833 w 81972"/>
                <a:gd name="connsiteY3" fmla="*/ 81972 h 81972"/>
                <a:gd name="connsiteX4" fmla="*/ 8139 w 81972"/>
                <a:gd name="connsiteY4" fmla="*/ 81972 h 81972"/>
                <a:gd name="connsiteX5" fmla="*/ 0 w 81972"/>
                <a:gd name="connsiteY5" fmla="*/ 73833 h 81972"/>
                <a:gd name="connsiteX6" fmla="*/ 0 w 81972"/>
                <a:gd name="connsiteY6" fmla="*/ 8139 h 81972"/>
                <a:gd name="connsiteX7" fmla="*/ 8139 w 81972"/>
                <a:gd name="connsiteY7" fmla="*/ 0 h 81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972" h="81972">
                  <a:moveTo>
                    <a:pt x="73833" y="0"/>
                  </a:moveTo>
                  <a:cubicBezTo>
                    <a:pt x="78328" y="0"/>
                    <a:pt x="81972" y="3644"/>
                    <a:pt x="81972" y="8139"/>
                  </a:cubicBezTo>
                  <a:lnTo>
                    <a:pt x="81972" y="73833"/>
                  </a:lnTo>
                  <a:cubicBezTo>
                    <a:pt x="81972" y="78328"/>
                    <a:pt x="78328" y="81972"/>
                    <a:pt x="73833" y="81972"/>
                  </a:cubicBezTo>
                  <a:lnTo>
                    <a:pt x="8139" y="81972"/>
                  </a:lnTo>
                  <a:cubicBezTo>
                    <a:pt x="3644" y="81972"/>
                    <a:pt x="0" y="78328"/>
                    <a:pt x="0" y="73833"/>
                  </a:cubicBezTo>
                  <a:lnTo>
                    <a:pt x="0" y="8139"/>
                  </a:lnTo>
                  <a:cubicBezTo>
                    <a:pt x="0" y="3644"/>
                    <a:pt x="3644" y="0"/>
                    <a:pt x="8139" y="0"/>
                  </a:cubicBezTo>
                  <a:close/>
                </a:path>
              </a:pathLst>
            </a:custGeom>
            <a:solidFill>
              <a:schemeClr val="tx2">
                <a:lumMod val="40000"/>
                <a:lumOff val="60000"/>
              </a:schemeClr>
            </a:solidFill>
            <a:ln w="3394" cap="flat">
              <a:noFill/>
              <a:prstDash val="solid"/>
              <a:miter/>
            </a:ln>
          </p:spPr>
          <p:txBody>
            <a:bodyPr rtlCol="0" anchor="ctr"/>
            <a:lstStyle/>
            <a:p>
              <a:endParaRPr lang="en-US"/>
            </a:p>
          </p:txBody>
        </p:sp>
        <p:sp>
          <p:nvSpPr>
            <p:cNvPr id="296" name="Freeform: Shape 295">
              <a:extLst>
                <a:ext uri="{FF2B5EF4-FFF2-40B4-BE49-F238E27FC236}">
                  <a16:creationId xmlns:a16="http://schemas.microsoft.com/office/drawing/2014/main" id="{12CA3945-EFDE-4024-8DE4-9DD0FBBD0D18}"/>
                </a:ext>
              </a:extLst>
            </p:cNvPr>
            <p:cNvSpPr/>
            <p:nvPr/>
          </p:nvSpPr>
          <p:spPr>
            <a:xfrm>
              <a:off x="1385967" y="5073433"/>
              <a:ext cx="39994" cy="44847"/>
            </a:xfrm>
            <a:custGeom>
              <a:avLst/>
              <a:gdLst>
                <a:gd name="connsiteX0" fmla="*/ 32736 w 39994"/>
                <a:gd name="connsiteY0" fmla="*/ 2189 h 44847"/>
                <a:gd name="connsiteX1" fmla="*/ 35403 w 39994"/>
                <a:gd name="connsiteY1" fmla="*/ 32112 h 44847"/>
                <a:gd name="connsiteX2" fmla="*/ 7258 w 39994"/>
                <a:gd name="connsiteY2" fmla="*/ 42645 h 44847"/>
                <a:gd name="connsiteX3" fmla="*/ 4591 w 39994"/>
                <a:gd name="connsiteY3" fmla="*/ 12722 h 44847"/>
                <a:gd name="connsiteX4" fmla="*/ 32736 w 39994"/>
                <a:gd name="connsiteY4" fmla="*/ 2223 h 448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94" h="44847">
                  <a:moveTo>
                    <a:pt x="32736" y="2189"/>
                  </a:moveTo>
                  <a:cubicBezTo>
                    <a:pt x="41251" y="7558"/>
                    <a:pt x="42448" y="20964"/>
                    <a:pt x="35403" y="32112"/>
                  </a:cubicBezTo>
                  <a:cubicBezTo>
                    <a:pt x="28358" y="43295"/>
                    <a:pt x="15774" y="47980"/>
                    <a:pt x="7258" y="42645"/>
                  </a:cubicBezTo>
                  <a:cubicBezTo>
                    <a:pt x="-1257" y="37310"/>
                    <a:pt x="-2454" y="23871"/>
                    <a:pt x="4591" y="12722"/>
                  </a:cubicBezTo>
                  <a:cubicBezTo>
                    <a:pt x="11636" y="1539"/>
                    <a:pt x="24221" y="-3146"/>
                    <a:pt x="32736" y="2223"/>
                  </a:cubicBezTo>
                  <a:close/>
                </a:path>
              </a:pathLst>
            </a:custGeom>
            <a:solidFill>
              <a:srgbClr val="FFBEBB"/>
            </a:solidFill>
            <a:ln w="3394" cap="flat">
              <a:noFill/>
              <a:prstDash val="solid"/>
              <a:miter/>
            </a:ln>
          </p:spPr>
          <p:txBody>
            <a:bodyPr rtlCol="0" anchor="ctr"/>
            <a:lstStyle/>
            <a:p>
              <a:endParaRPr lang="en-US"/>
            </a:p>
          </p:txBody>
        </p:sp>
        <p:sp>
          <p:nvSpPr>
            <p:cNvPr id="297" name="Freeform: Shape 296">
              <a:extLst>
                <a:ext uri="{FF2B5EF4-FFF2-40B4-BE49-F238E27FC236}">
                  <a16:creationId xmlns:a16="http://schemas.microsoft.com/office/drawing/2014/main" id="{8D071F85-4C73-4F8E-A63D-2CEAFAA1B225}"/>
                </a:ext>
              </a:extLst>
            </p:cNvPr>
            <p:cNvSpPr/>
            <p:nvPr/>
          </p:nvSpPr>
          <p:spPr>
            <a:xfrm>
              <a:off x="1394046" y="5079714"/>
              <a:ext cx="22296" cy="13040"/>
            </a:xfrm>
            <a:custGeom>
              <a:avLst/>
              <a:gdLst>
                <a:gd name="connsiteX0" fmla="*/ 2702 w 22296"/>
                <a:gd name="connsiteY0" fmla="*/ 13041 h 13040"/>
                <a:gd name="connsiteX1" fmla="*/ 1265 w 22296"/>
                <a:gd name="connsiteY1" fmla="*/ 12631 h 13040"/>
                <a:gd name="connsiteX2" fmla="*/ 410 w 22296"/>
                <a:gd name="connsiteY2" fmla="*/ 8869 h 13040"/>
                <a:gd name="connsiteX3" fmla="*/ 21032 w 22296"/>
                <a:gd name="connsiteY3" fmla="*/ 1721 h 13040"/>
                <a:gd name="connsiteX4" fmla="*/ 21887 w 22296"/>
                <a:gd name="connsiteY4" fmla="*/ 5449 h 13040"/>
                <a:gd name="connsiteX5" fmla="*/ 18125 w 22296"/>
                <a:gd name="connsiteY5" fmla="*/ 6304 h 13040"/>
                <a:gd name="connsiteX6" fmla="*/ 4993 w 22296"/>
                <a:gd name="connsiteY6" fmla="*/ 11741 h 13040"/>
                <a:gd name="connsiteX7" fmla="*/ 2702 w 22296"/>
                <a:gd name="connsiteY7" fmla="*/ 13007 h 13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296" h="13040">
                  <a:moveTo>
                    <a:pt x="2702" y="13041"/>
                  </a:moveTo>
                  <a:cubicBezTo>
                    <a:pt x="2223" y="13041"/>
                    <a:pt x="1710" y="12904"/>
                    <a:pt x="1265" y="12631"/>
                  </a:cubicBezTo>
                  <a:cubicBezTo>
                    <a:pt x="0" y="11844"/>
                    <a:pt x="-376" y="10168"/>
                    <a:pt x="410" y="8869"/>
                  </a:cubicBezTo>
                  <a:cubicBezTo>
                    <a:pt x="5437" y="935"/>
                    <a:pt x="14671" y="-2280"/>
                    <a:pt x="21032" y="1721"/>
                  </a:cubicBezTo>
                  <a:cubicBezTo>
                    <a:pt x="22297" y="2508"/>
                    <a:pt x="22673" y="4184"/>
                    <a:pt x="21887" y="5449"/>
                  </a:cubicBezTo>
                  <a:cubicBezTo>
                    <a:pt x="21100" y="6714"/>
                    <a:pt x="19424" y="7090"/>
                    <a:pt x="18125" y="6304"/>
                  </a:cubicBezTo>
                  <a:cubicBezTo>
                    <a:pt x="14363" y="3944"/>
                    <a:pt x="8344" y="6441"/>
                    <a:pt x="4993" y="11741"/>
                  </a:cubicBezTo>
                  <a:cubicBezTo>
                    <a:pt x="4480" y="12562"/>
                    <a:pt x="3591" y="13007"/>
                    <a:pt x="2702" y="13007"/>
                  </a:cubicBezTo>
                  <a:close/>
                </a:path>
              </a:pathLst>
            </a:custGeom>
            <a:solidFill>
              <a:srgbClr val="541E0B"/>
            </a:solidFill>
            <a:ln w="3394" cap="flat">
              <a:noFill/>
              <a:prstDash val="solid"/>
              <a:miter/>
            </a:ln>
          </p:spPr>
          <p:txBody>
            <a:bodyPr rtlCol="0" anchor="ctr"/>
            <a:lstStyle/>
            <a:p>
              <a:endParaRPr lang="en-US"/>
            </a:p>
          </p:txBody>
        </p:sp>
        <p:sp>
          <p:nvSpPr>
            <p:cNvPr id="298" name="Freeform: Shape 297">
              <a:extLst>
                <a:ext uri="{FF2B5EF4-FFF2-40B4-BE49-F238E27FC236}">
                  <a16:creationId xmlns:a16="http://schemas.microsoft.com/office/drawing/2014/main" id="{5BFC0E33-496A-4464-878B-0F827DAD05AA}"/>
                </a:ext>
              </a:extLst>
            </p:cNvPr>
            <p:cNvSpPr/>
            <p:nvPr/>
          </p:nvSpPr>
          <p:spPr>
            <a:xfrm>
              <a:off x="1306509" y="5118027"/>
              <a:ext cx="19611" cy="15184"/>
            </a:xfrm>
            <a:custGeom>
              <a:avLst/>
              <a:gdLst>
                <a:gd name="connsiteX0" fmla="*/ 15961 w 19611"/>
                <a:gd name="connsiteY0" fmla="*/ 15184 h 15184"/>
                <a:gd name="connsiteX1" fmla="*/ 1974 w 19611"/>
                <a:gd name="connsiteY1" fmla="*/ 5917 h 15184"/>
                <a:gd name="connsiteX2" fmla="*/ 1187 w 19611"/>
                <a:gd name="connsiteY2" fmla="*/ 4959 h 15184"/>
                <a:gd name="connsiteX3" fmla="*/ 93 w 19611"/>
                <a:gd name="connsiteY3" fmla="*/ 1984 h 15184"/>
                <a:gd name="connsiteX4" fmla="*/ 3444 w 19611"/>
                <a:gd name="connsiteY4" fmla="*/ 103 h 15184"/>
                <a:gd name="connsiteX5" fmla="*/ 6180 w 19611"/>
                <a:gd name="connsiteY5" fmla="*/ 2463 h 15184"/>
                <a:gd name="connsiteX6" fmla="*/ 16542 w 19611"/>
                <a:gd name="connsiteY6" fmla="*/ 9713 h 15184"/>
                <a:gd name="connsiteX7" fmla="*/ 19586 w 19611"/>
                <a:gd name="connsiteY7" fmla="*/ 12072 h 15184"/>
                <a:gd name="connsiteX8" fmla="*/ 17226 w 19611"/>
                <a:gd name="connsiteY8" fmla="*/ 15116 h 15184"/>
                <a:gd name="connsiteX9" fmla="*/ 15961 w 19611"/>
                <a:gd name="connsiteY9" fmla="*/ 15184 h 15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11" h="15184">
                  <a:moveTo>
                    <a:pt x="15961" y="15184"/>
                  </a:moveTo>
                  <a:cubicBezTo>
                    <a:pt x="9600" y="15184"/>
                    <a:pt x="4505" y="8994"/>
                    <a:pt x="1974" y="5917"/>
                  </a:cubicBezTo>
                  <a:cubicBezTo>
                    <a:pt x="1632" y="5506"/>
                    <a:pt x="1393" y="5198"/>
                    <a:pt x="1187" y="4959"/>
                  </a:cubicBezTo>
                  <a:cubicBezTo>
                    <a:pt x="264" y="4309"/>
                    <a:pt x="-215" y="3147"/>
                    <a:pt x="93" y="1984"/>
                  </a:cubicBezTo>
                  <a:cubicBezTo>
                    <a:pt x="503" y="548"/>
                    <a:pt x="1974" y="-307"/>
                    <a:pt x="3444" y="103"/>
                  </a:cubicBezTo>
                  <a:cubicBezTo>
                    <a:pt x="4470" y="377"/>
                    <a:pt x="4983" y="1026"/>
                    <a:pt x="6180" y="2463"/>
                  </a:cubicBezTo>
                  <a:cubicBezTo>
                    <a:pt x="8095" y="4788"/>
                    <a:pt x="12507" y="10191"/>
                    <a:pt x="16542" y="9713"/>
                  </a:cubicBezTo>
                  <a:cubicBezTo>
                    <a:pt x="18047" y="9507"/>
                    <a:pt x="19381" y="10567"/>
                    <a:pt x="19586" y="12072"/>
                  </a:cubicBezTo>
                  <a:cubicBezTo>
                    <a:pt x="19791" y="13577"/>
                    <a:pt x="18731" y="14911"/>
                    <a:pt x="17226" y="15116"/>
                  </a:cubicBezTo>
                  <a:cubicBezTo>
                    <a:pt x="16816" y="15184"/>
                    <a:pt x="16371" y="15184"/>
                    <a:pt x="15961" y="15184"/>
                  </a:cubicBezTo>
                  <a:close/>
                </a:path>
              </a:pathLst>
            </a:custGeom>
            <a:solidFill>
              <a:srgbClr val="F47C73"/>
            </a:solidFill>
            <a:ln w="3394" cap="flat">
              <a:noFill/>
              <a:prstDash val="solid"/>
              <a:miter/>
            </a:ln>
          </p:spPr>
          <p:txBody>
            <a:bodyPr rtlCol="0" anchor="ctr"/>
            <a:lstStyle/>
            <a:p>
              <a:endParaRPr lang="en-US"/>
            </a:p>
          </p:txBody>
        </p:sp>
        <p:sp>
          <p:nvSpPr>
            <p:cNvPr id="299" name="Freeform: Shape 298">
              <a:extLst>
                <a:ext uri="{FF2B5EF4-FFF2-40B4-BE49-F238E27FC236}">
                  <a16:creationId xmlns:a16="http://schemas.microsoft.com/office/drawing/2014/main" id="{6DF06A06-1135-4D23-8CA2-018774FC2622}"/>
                </a:ext>
              </a:extLst>
            </p:cNvPr>
            <p:cNvSpPr/>
            <p:nvPr/>
          </p:nvSpPr>
          <p:spPr>
            <a:xfrm>
              <a:off x="1358280" y="5093821"/>
              <a:ext cx="32237" cy="32237"/>
            </a:xfrm>
            <a:custGeom>
              <a:avLst/>
              <a:gdLst>
                <a:gd name="connsiteX0" fmla="*/ 32072 w 32237"/>
                <a:gd name="connsiteY0" fmla="*/ 18393 h 32237"/>
                <a:gd name="connsiteX1" fmla="*/ 13845 w 32237"/>
                <a:gd name="connsiteY1" fmla="*/ 32072 h 32237"/>
                <a:gd name="connsiteX2" fmla="*/ 166 w 32237"/>
                <a:gd name="connsiteY2" fmla="*/ 13845 h 32237"/>
                <a:gd name="connsiteX3" fmla="*/ 18393 w 32237"/>
                <a:gd name="connsiteY3" fmla="*/ 166 h 32237"/>
                <a:gd name="connsiteX4" fmla="*/ 32072 w 32237"/>
                <a:gd name="connsiteY4" fmla="*/ 18393 h 32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237" h="32237">
                  <a:moveTo>
                    <a:pt x="32072" y="18393"/>
                  </a:moveTo>
                  <a:cubicBezTo>
                    <a:pt x="30807" y="27216"/>
                    <a:pt x="22668" y="33337"/>
                    <a:pt x="13845" y="32072"/>
                  </a:cubicBezTo>
                  <a:cubicBezTo>
                    <a:pt x="5022" y="30807"/>
                    <a:pt x="-1100" y="22668"/>
                    <a:pt x="166" y="13845"/>
                  </a:cubicBezTo>
                  <a:cubicBezTo>
                    <a:pt x="1431" y="5022"/>
                    <a:pt x="9570" y="-1100"/>
                    <a:pt x="18393" y="166"/>
                  </a:cubicBezTo>
                  <a:cubicBezTo>
                    <a:pt x="27216" y="1431"/>
                    <a:pt x="33337" y="9570"/>
                    <a:pt x="32072" y="18393"/>
                  </a:cubicBezTo>
                  <a:close/>
                </a:path>
              </a:pathLst>
            </a:custGeom>
            <a:solidFill>
              <a:srgbClr val="F47C73"/>
            </a:solidFill>
            <a:ln w="3394" cap="flat">
              <a:noFill/>
              <a:prstDash val="solid"/>
              <a:miter/>
            </a:ln>
          </p:spPr>
          <p:txBody>
            <a:bodyPr rtlCol="0" anchor="ctr"/>
            <a:lstStyle/>
            <a:p>
              <a:endParaRPr lang="en-US"/>
            </a:p>
          </p:txBody>
        </p:sp>
        <p:sp>
          <p:nvSpPr>
            <p:cNvPr id="300" name="Freeform: Shape 299">
              <a:extLst>
                <a:ext uri="{FF2B5EF4-FFF2-40B4-BE49-F238E27FC236}">
                  <a16:creationId xmlns:a16="http://schemas.microsoft.com/office/drawing/2014/main" id="{DAC5328C-CA1D-48A9-A6C2-21E214B7EA40}"/>
                </a:ext>
              </a:extLst>
            </p:cNvPr>
            <p:cNvSpPr/>
            <p:nvPr/>
          </p:nvSpPr>
          <p:spPr>
            <a:xfrm>
              <a:off x="1232590" y="5073433"/>
              <a:ext cx="39994" cy="44847"/>
            </a:xfrm>
            <a:custGeom>
              <a:avLst/>
              <a:gdLst>
                <a:gd name="connsiteX0" fmla="*/ 7258 w 39994"/>
                <a:gd name="connsiteY0" fmla="*/ 2189 h 44847"/>
                <a:gd name="connsiteX1" fmla="*/ 4591 w 39994"/>
                <a:gd name="connsiteY1" fmla="*/ 32112 h 44847"/>
                <a:gd name="connsiteX2" fmla="*/ 32736 w 39994"/>
                <a:gd name="connsiteY2" fmla="*/ 42645 h 44847"/>
                <a:gd name="connsiteX3" fmla="*/ 35403 w 39994"/>
                <a:gd name="connsiteY3" fmla="*/ 12722 h 44847"/>
                <a:gd name="connsiteX4" fmla="*/ 7258 w 39994"/>
                <a:gd name="connsiteY4" fmla="*/ 2223 h 448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94" h="44847">
                  <a:moveTo>
                    <a:pt x="7258" y="2189"/>
                  </a:moveTo>
                  <a:cubicBezTo>
                    <a:pt x="-1257" y="7558"/>
                    <a:pt x="-2454" y="20964"/>
                    <a:pt x="4591" y="32112"/>
                  </a:cubicBezTo>
                  <a:cubicBezTo>
                    <a:pt x="11636" y="43295"/>
                    <a:pt x="24221" y="47980"/>
                    <a:pt x="32736" y="42645"/>
                  </a:cubicBezTo>
                  <a:cubicBezTo>
                    <a:pt x="41251" y="37276"/>
                    <a:pt x="42448" y="23871"/>
                    <a:pt x="35403" y="12722"/>
                  </a:cubicBezTo>
                  <a:cubicBezTo>
                    <a:pt x="28359" y="1539"/>
                    <a:pt x="15774" y="-3146"/>
                    <a:pt x="7258" y="2223"/>
                  </a:cubicBezTo>
                  <a:close/>
                </a:path>
              </a:pathLst>
            </a:custGeom>
            <a:solidFill>
              <a:srgbClr val="FFBEBB"/>
            </a:solidFill>
            <a:ln w="3394" cap="flat">
              <a:noFill/>
              <a:prstDash val="solid"/>
              <a:miter/>
            </a:ln>
          </p:spPr>
          <p:txBody>
            <a:bodyPr rtlCol="0" anchor="ctr"/>
            <a:lstStyle/>
            <a:p>
              <a:endParaRPr lang="en-US"/>
            </a:p>
          </p:txBody>
        </p:sp>
        <p:sp>
          <p:nvSpPr>
            <p:cNvPr id="301" name="Freeform: Shape 300">
              <a:extLst>
                <a:ext uri="{FF2B5EF4-FFF2-40B4-BE49-F238E27FC236}">
                  <a16:creationId xmlns:a16="http://schemas.microsoft.com/office/drawing/2014/main" id="{706C98C4-0543-430B-8A7F-08282EC2B409}"/>
                </a:ext>
              </a:extLst>
            </p:cNvPr>
            <p:cNvSpPr/>
            <p:nvPr/>
          </p:nvSpPr>
          <p:spPr>
            <a:xfrm>
              <a:off x="1242242" y="5079749"/>
              <a:ext cx="22296" cy="13040"/>
            </a:xfrm>
            <a:custGeom>
              <a:avLst/>
              <a:gdLst>
                <a:gd name="connsiteX0" fmla="*/ 19595 w 22296"/>
                <a:gd name="connsiteY0" fmla="*/ 13007 h 13040"/>
                <a:gd name="connsiteX1" fmla="*/ 17304 w 22296"/>
                <a:gd name="connsiteY1" fmla="*/ 11741 h 13040"/>
                <a:gd name="connsiteX2" fmla="*/ 4172 w 22296"/>
                <a:gd name="connsiteY2" fmla="*/ 6304 h 13040"/>
                <a:gd name="connsiteX3" fmla="*/ 410 w 22296"/>
                <a:gd name="connsiteY3" fmla="*/ 5449 h 13040"/>
                <a:gd name="connsiteX4" fmla="*/ 1265 w 22296"/>
                <a:gd name="connsiteY4" fmla="*/ 1721 h 13040"/>
                <a:gd name="connsiteX5" fmla="*/ 21887 w 22296"/>
                <a:gd name="connsiteY5" fmla="*/ 8869 h 13040"/>
                <a:gd name="connsiteX6" fmla="*/ 21032 w 22296"/>
                <a:gd name="connsiteY6" fmla="*/ 12631 h 13040"/>
                <a:gd name="connsiteX7" fmla="*/ 19595 w 22296"/>
                <a:gd name="connsiteY7" fmla="*/ 13041 h 13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296" h="13040">
                  <a:moveTo>
                    <a:pt x="19595" y="13007"/>
                  </a:moveTo>
                  <a:cubicBezTo>
                    <a:pt x="18706" y="13007"/>
                    <a:pt x="17817" y="12562"/>
                    <a:pt x="17304" y="11741"/>
                  </a:cubicBezTo>
                  <a:cubicBezTo>
                    <a:pt x="13953" y="6407"/>
                    <a:pt x="7934" y="3944"/>
                    <a:pt x="4172" y="6304"/>
                  </a:cubicBezTo>
                  <a:cubicBezTo>
                    <a:pt x="2907" y="7090"/>
                    <a:pt x="1231" y="6714"/>
                    <a:pt x="410" y="5449"/>
                  </a:cubicBezTo>
                  <a:cubicBezTo>
                    <a:pt x="-376" y="4184"/>
                    <a:pt x="0" y="2508"/>
                    <a:pt x="1265" y="1721"/>
                  </a:cubicBezTo>
                  <a:cubicBezTo>
                    <a:pt x="7626" y="-2280"/>
                    <a:pt x="16859" y="935"/>
                    <a:pt x="21887" y="8869"/>
                  </a:cubicBezTo>
                  <a:cubicBezTo>
                    <a:pt x="22673" y="10134"/>
                    <a:pt x="22297" y="11810"/>
                    <a:pt x="21032" y="12631"/>
                  </a:cubicBezTo>
                  <a:cubicBezTo>
                    <a:pt x="20587" y="12904"/>
                    <a:pt x="20074" y="13041"/>
                    <a:pt x="19595" y="13041"/>
                  </a:cubicBezTo>
                  <a:close/>
                </a:path>
              </a:pathLst>
            </a:custGeom>
            <a:solidFill>
              <a:srgbClr val="541E0B"/>
            </a:solidFill>
            <a:ln w="3394" cap="flat">
              <a:noFill/>
              <a:prstDash val="solid"/>
              <a:miter/>
            </a:ln>
          </p:spPr>
          <p:txBody>
            <a:bodyPr rtlCol="0" anchor="ctr"/>
            <a:lstStyle/>
            <a:p>
              <a:endParaRPr lang="en-US"/>
            </a:p>
          </p:txBody>
        </p:sp>
        <p:sp>
          <p:nvSpPr>
            <p:cNvPr id="302" name="Freeform: Shape 301">
              <a:extLst>
                <a:ext uri="{FF2B5EF4-FFF2-40B4-BE49-F238E27FC236}">
                  <a16:creationId xmlns:a16="http://schemas.microsoft.com/office/drawing/2014/main" id="{46CBDD0E-7DFA-4531-BFC3-3CE47EC04D84}"/>
                </a:ext>
              </a:extLst>
            </p:cNvPr>
            <p:cNvSpPr/>
            <p:nvPr/>
          </p:nvSpPr>
          <p:spPr>
            <a:xfrm>
              <a:off x="1268032" y="5093821"/>
              <a:ext cx="32237" cy="32237"/>
            </a:xfrm>
            <a:custGeom>
              <a:avLst/>
              <a:gdLst>
                <a:gd name="connsiteX0" fmla="*/ 32072 w 32237"/>
                <a:gd name="connsiteY0" fmla="*/ 18393 h 32237"/>
                <a:gd name="connsiteX1" fmla="*/ 13845 w 32237"/>
                <a:gd name="connsiteY1" fmla="*/ 32072 h 32237"/>
                <a:gd name="connsiteX2" fmla="*/ 166 w 32237"/>
                <a:gd name="connsiteY2" fmla="*/ 13845 h 32237"/>
                <a:gd name="connsiteX3" fmla="*/ 18393 w 32237"/>
                <a:gd name="connsiteY3" fmla="*/ 166 h 32237"/>
                <a:gd name="connsiteX4" fmla="*/ 32072 w 32237"/>
                <a:gd name="connsiteY4" fmla="*/ 18393 h 32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237" h="32237">
                  <a:moveTo>
                    <a:pt x="32072" y="18393"/>
                  </a:moveTo>
                  <a:cubicBezTo>
                    <a:pt x="30807" y="27216"/>
                    <a:pt x="22668" y="33337"/>
                    <a:pt x="13845" y="32072"/>
                  </a:cubicBezTo>
                  <a:cubicBezTo>
                    <a:pt x="5022" y="30807"/>
                    <a:pt x="-1100" y="22668"/>
                    <a:pt x="166" y="13845"/>
                  </a:cubicBezTo>
                  <a:cubicBezTo>
                    <a:pt x="1431" y="5022"/>
                    <a:pt x="9570" y="-1100"/>
                    <a:pt x="18393" y="166"/>
                  </a:cubicBezTo>
                  <a:cubicBezTo>
                    <a:pt x="27216" y="1431"/>
                    <a:pt x="33337" y="9570"/>
                    <a:pt x="32072" y="18393"/>
                  </a:cubicBezTo>
                  <a:close/>
                </a:path>
              </a:pathLst>
            </a:custGeom>
            <a:solidFill>
              <a:srgbClr val="F47C73"/>
            </a:solidFill>
            <a:ln w="3394" cap="flat">
              <a:noFill/>
              <a:prstDash val="solid"/>
              <a:miter/>
            </a:ln>
          </p:spPr>
          <p:txBody>
            <a:bodyPr rtlCol="0" anchor="ctr"/>
            <a:lstStyle/>
            <a:p>
              <a:endParaRPr lang="en-US"/>
            </a:p>
          </p:txBody>
        </p:sp>
        <p:sp>
          <p:nvSpPr>
            <p:cNvPr id="303" name="Freeform: Shape 302">
              <a:extLst>
                <a:ext uri="{FF2B5EF4-FFF2-40B4-BE49-F238E27FC236}">
                  <a16:creationId xmlns:a16="http://schemas.microsoft.com/office/drawing/2014/main" id="{BB2753B6-E2EE-49B3-9ACA-9D6CD9A9509E}"/>
                </a:ext>
              </a:extLst>
            </p:cNvPr>
            <p:cNvSpPr/>
            <p:nvPr/>
          </p:nvSpPr>
          <p:spPr>
            <a:xfrm>
              <a:off x="1382863" y="5019846"/>
              <a:ext cx="22296" cy="79886"/>
            </a:xfrm>
            <a:custGeom>
              <a:avLst/>
              <a:gdLst>
                <a:gd name="connsiteX0" fmla="*/ 11148 w 22296"/>
                <a:gd name="connsiteY0" fmla="*/ 79886 h 79886"/>
                <a:gd name="connsiteX1" fmla="*/ 0 w 22296"/>
                <a:gd name="connsiteY1" fmla="*/ 68738 h 79886"/>
                <a:gd name="connsiteX2" fmla="*/ 0 w 22296"/>
                <a:gd name="connsiteY2" fmla="*/ 11148 h 79886"/>
                <a:gd name="connsiteX3" fmla="*/ 11148 w 22296"/>
                <a:gd name="connsiteY3" fmla="*/ 0 h 79886"/>
                <a:gd name="connsiteX4" fmla="*/ 22297 w 22296"/>
                <a:gd name="connsiteY4" fmla="*/ 11148 h 79886"/>
                <a:gd name="connsiteX5" fmla="*/ 22297 w 22296"/>
                <a:gd name="connsiteY5" fmla="*/ 68738 h 79886"/>
                <a:gd name="connsiteX6" fmla="*/ 11148 w 22296"/>
                <a:gd name="connsiteY6" fmla="*/ 79886 h 79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96" h="79886">
                  <a:moveTo>
                    <a:pt x="11148" y="79886"/>
                  </a:moveTo>
                  <a:cubicBezTo>
                    <a:pt x="5027" y="79886"/>
                    <a:pt x="0" y="74859"/>
                    <a:pt x="0" y="68738"/>
                  </a:cubicBezTo>
                  <a:lnTo>
                    <a:pt x="0" y="11148"/>
                  </a:lnTo>
                  <a:cubicBezTo>
                    <a:pt x="0" y="5027"/>
                    <a:pt x="5027" y="0"/>
                    <a:pt x="11148" y="0"/>
                  </a:cubicBezTo>
                  <a:cubicBezTo>
                    <a:pt x="17270" y="0"/>
                    <a:pt x="22297" y="5027"/>
                    <a:pt x="22297" y="11148"/>
                  </a:cubicBezTo>
                  <a:lnTo>
                    <a:pt x="22297" y="68738"/>
                  </a:lnTo>
                  <a:cubicBezTo>
                    <a:pt x="22297" y="74859"/>
                    <a:pt x="17270" y="79886"/>
                    <a:pt x="11148" y="79886"/>
                  </a:cubicBezTo>
                  <a:close/>
                </a:path>
              </a:pathLst>
            </a:custGeom>
            <a:solidFill>
              <a:srgbClr val="1D2333"/>
            </a:solidFill>
            <a:ln w="3394" cap="flat">
              <a:noFill/>
              <a:prstDash val="solid"/>
              <a:miter/>
            </a:ln>
          </p:spPr>
          <p:txBody>
            <a:bodyPr rtlCol="0" anchor="ctr"/>
            <a:lstStyle/>
            <a:p>
              <a:endParaRPr lang="en-US"/>
            </a:p>
          </p:txBody>
        </p:sp>
        <p:sp>
          <p:nvSpPr>
            <p:cNvPr id="304" name="Freeform: Shape 303">
              <a:extLst>
                <a:ext uri="{FF2B5EF4-FFF2-40B4-BE49-F238E27FC236}">
                  <a16:creationId xmlns:a16="http://schemas.microsoft.com/office/drawing/2014/main" id="{8FFB1726-2203-4DB6-9832-BA5FBCD4A817}"/>
                </a:ext>
              </a:extLst>
            </p:cNvPr>
            <p:cNvSpPr/>
            <p:nvPr/>
          </p:nvSpPr>
          <p:spPr>
            <a:xfrm>
              <a:off x="1250689" y="5019846"/>
              <a:ext cx="22296" cy="79886"/>
            </a:xfrm>
            <a:custGeom>
              <a:avLst/>
              <a:gdLst>
                <a:gd name="connsiteX0" fmla="*/ 11148 w 22296"/>
                <a:gd name="connsiteY0" fmla="*/ 79886 h 79886"/>
                <a:gd name="connsiteX1" fmla="*/ 0 w 22296"/>
                <a:gd name="connsiteY1" fmla="*/ 68738 h 79886"/>
                <a:gd name="connsiteX2" fmla="*/ 0 w 22296"/>
                <a:gd name="connsiteY2" fmla="*/ 11148 h 79886"/>
                <a:gd name="connsiteX3" fmla="*/ 11148 w 22296"/>
                <a:gd name="connsiteY3" fmla="*/ 0 h 79886"/>
                <a:gd name="connsiteX4" fmla="*/ 22297 w 22296"/>
                <a:gd name="connsiteY4" fmla="*/ 11148 h 79886"/>
                <a:gd name="connsiteX5" fmla="*/ 22297 w 22296"/>
                <a:gd name="connsiteY5" fmla="*/ 68738 h 79886"/>
                <a:gd name="connsiteX6" fmla="*/ 11148 w 22296"/>
                <a:gd name="connsiteY6" fmla="*/ 79886 h 79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96" h="79886">
                  <a:moveTo>
                    <a:pt x="11148" y="79886"/>
                  </a:moveTo>
                  <a:cubicBezTo>
                    <a:pt x="5027" y="79886"/>
                    <a:pt x="0" y="74859"/>
                    <a:pt x="0" y="68738"/>
                  </a:cubicBezTo>
                  <a:lnTo>
                    <a:pt x="0" y="11148"/>
                  </a:lnTo>
                  <a:cubicBezTo>
                    <a:pt x="0" y="5027"/>
                    <a:pt x="5027" y="0"/>
                    <a:pt x="11148" y="0"/>
                  </a:cubicBezTo>
                  <a:cubicBezTo>
                    <a:pt x="17270" y="0"/>
                    <a:pt x="22297" y="5027"/>
                    <a:pt x="22297" y="11148"/>
                  </a:cubicBezTo>
                  <a:lnTo>
                    <a:pt x="22297" y="68738"/>
                  </a:lnTo>
                  <a:cubicBezTo>
                    <a:pt x="22297" y="74859"/>
                    <a:pt x="17270" y="79886"/>
                    <a:pt x="11148" y="79886"/>
                  </a:cubicBezTo>
                  <a:close/>
                </a:path>
              </a:pathLst>
            </a:custGeom>
            <a:solidFill>
              <a:srgbClr val="1D2333"/>
            </a:solidFill>
            <a:ln w="3394" cap="flat">
              <a:noFill/>
              <a:prstDash val="solid"/>
              <a:miter/>
            </a:ln>
          </p:spPr>
          <p:txBody>
            <a:bodyPr rtlCol="0" anchor="ctr"/>
            <a:lstStyle/>
            <a:p>
              <a:endParaRPr lang="en-US"/>
            </a:p>
          </p:txBody>
        </p:sp>
        <p:sp>
          <p:nvSpPr>
            <p:cNvPr id="305" name="Freeform: Shape 304">
              <a:extLst>
                <a:ext uri="{FF2B5EF4-FFF2-40B4-BE49-F238E27FC236}">
                  <a16:creationId xmlns:a16="http://schemas.microsoft.com/office/drawing/2014/main" id="{05A5FC52-4278-490C-9ACC-966468E0A686}"/>
                </a:ext>
              </a:extLst>
            </p:cNvPr>
            <p:cNvSpPr/>
            <p:nvPr/>
          </p:nvSpPr>
          <p:spPr>
            <a:xfrm>
              <a:off x="1262829" y="5007705"/>
              <a:ext cx="45825" cy="45825"/>
            </a:xfrm>
            <a:custGeom>
              <a:avLst/>
              <a:gdLst>
                <a:gd name="connsiteX0" fmla="*/ 45825 w 45825"/>
                <a:gd name="connsiteY0" fmla="*/ 22913 h 45825"/>
                <a:gd name="connsiteX1" fmla="*/ 22913 w 45825"/>
                <a:gd name="connsiteY1" fmla="*/ 45825 h 45825"/>
                <a:gd name="connsiteX2" fmla="*/ 0 w 45825"/>
                <a:gd name="connsiteY2" fmla="*/ 22913 h 45825"/>
                <a:gd name="connsiteX3" fmla="*/ 22913 w 45825"/>
                <a:gd name="connsiteY3" fmla="*/ 0 h 45825"/>
                <a:gd name="connsiteX4" fmla="*/ 45825 w 45825"/>
                <a:gd name="connsiteY4" fmla="*/ 22913 h 45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825" h="45825">
                  <a:moveTo>
                    <a:pt x="45825" y="22913"/>
                  </a:moveTo>
                  <a:cubicBezTo>
                    <a:pt x="45825" y="35566"/>
                    <a:pt x="35566" y="45825"/>
                    <a:pt x="22913" y="45825"/>
                  </a:cubicBezTo>
                  <a:cubicBezTo>
                    <a:pt x="10259" y="45825"/>
                    <a:pt x="0" y="35566"/>
                    <a:pt x="0" y="22913"/>
                  </a:cubicBezTo>
                  <a:cubicBezTo>
                    <a:pt x="0" y="10259"/>
                    <a:pt x="10259" y="0"/>
                    <a:pt x="22913" y="0"/>
                  </a:cubicBezTo>
                  <a:cubicBezTo>
                    <a:pt x="35566" y="0"/>
                    <a:pt x="45825" y="10259"/>
                    <a:pt x="45825" y="22913"/>
                  </a:cubicBezTo>
                  <a:close/>
                </a:path>
              </a:pathLst>
            </a:custGeom>
            <a:solidFill>
              <a:srgbClr val="1D2333"/>
            </a:solidFill>
            <a:ln w="3394" cap="flat">
              <a:noFill/>
              <a:prstDash val="solid"/>
              <a:miter/>
            </a:ln>
          </p:spPr>
          <p:txBody>
            <a:bodyPr rtlCol="0" anchor="ctr"/>
            <a:lstStyle/>
            <a:p>
              <a:endParaRPr lang="en-US"/>
            </a:p>
          </p:txBody>
        </p:sp>
        <p:sp>
          <p:nvSpPr>
            <p:cNvPr id="306" name="Freeform: Shape 305">
              <a:extLst>
                <a:ext uri="{FF2B5EF4-FFF2-40B4-BE49-F238E27FC236}">
                  <a16:creationId xmlns:a16="http://schemas.microsoft.com/office/drawing/2014/main" id="{2222C0D3-B48D-4E9B-BFEA-296D92A33AFF}"/>
                </a:ext>
              </a:extLst>
            </p:cNvPr>
            <p:cNvSpPr/>
            <p:nvPr/>
          </p:nvSpPr>
          <p:spPr>
            <a:xfrm>
              <a:off x="1294394" y="4992111"/>
              <a:ext cx="52322" cy="52322"/>
            </a:xfrm>
            <a:custGeom>
              <a:avLst/>
              <a:gdLst>
                <a:gd name="connsiteX0" fmla="*/ 52323 w 52322"/>
                <a:gd name="connsiteY0" fmla="*/ 26161 h 52322"/>
                <a:gd name="connsiteX1" fmla="*/ 26161 w 52322"/>
                <a:gd name="connsiteY1" fmla="*/ 52323 h 52322"/>
                <a:gd name="connsiteX2" fmla="*/ 0 w 52322"/>
                <a:gd name="connsiteY2" fmla="*/ 26161 h 52322"/>
                <a:gd name="connsiteX3" fmla="*/ 26161 w 52322"/>
                <a:gd name="connsiteY3" fmla="*/ 0 h 52322"/>
                <a:gd name="connsiteX4" fmla="*/ 52323 w 52322"/>
                <a:gd name="connsiteY4" fmla="*/ 26161 h 523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22" h="52322">
                  <a:moveTo>
                    <a:pt x="52323" y="26161"/>
                  </a:moveTo>
                  <a:cubicBezTo>
                    <a:pt x="52323" y="40593"/>
                    <a:pt x="40627" y="52323"/>
                    <a:pt x="26161" y="52323"/>
                  </a:cubicBezTo>
                  <a:cubicBezTo>
                    <a:pt x="11696" y="52323"/>
                    <a:pt x="0" y="40627"/>
                    <a:pt x="0" y="26161"/>
                  </a:cubicBezTo>
                  <a:cubicBezTo>
                    <a:pt x="0" y="11696"/>
                    <a:pt x="11696" y="0"/>
                    <a:pt x="26161" y="0"/>
                  </a:cubicBezTo>
                  <a:cubicBezTo>
                    <a:pt x="40627" y="0"/>
                    <a:pt x="52323" y="11696"/>
                    <a:pt x="52323" y="26161"/>
                  </a:cubicBezTo>
                  <a:close/>
                </a:path>
              </a:pathLst>
            </a:custGeom>
            <a:solidFill>
              <a:srgbClr val="1D2333"/>
            </a:solidFill>
            <a:ln w="3394" cap="flat">
              <a:noFill/>
              <a:prstDash val="solid"/>
              <a:miter/>
            </a:ln>
          </p:spPr>
          <p:txBody>
            <a:bodyPr rtlCol="0" anchor="ctr"/>
            <a:lstStyle/>
            <a:p>
              <a:endParaRPr lang="en-US"/>
            </a:p>
          </p:txBody>
        </p:sp>
        <p:sp>
          <p:nvSpPr>
            <p:cNvPr id="307" name="Freeform: Shape 306">
              <a:extLst>
                <a:ext uri="{FF2B5EF4-FFF2-40B4-BE49-F238E27FC236}">
                  <a16:creationId xmlns:a16="http://schemas.microsoft.com/office/drawing/2014/main" id="{3BEE4A9C-20D1-4255-9EFC-0C0385400B78}"/>
                </a:ext>
              </a:extLst>
            </p:cNvPr>
            <p:cNvSpPr/>
            <p:nvPr/>
          </p:nvSpPr>
          <p:spPr>
            <a:xfrm>
              <a:off x="1337585" y="4993650"/>
              <a:ext cx="52322" cy="52322"/>
            </a:xfrm>
            <a:custGeom>
              <a:avLst/>
              <a:gdLst>
                <a:gd name="connsiteX0" fmla="*/ 52323 w 52322"/>
                <a:gd name="connsiteY0" fmla="*/ 26161 h 52322"/>
                <a:gd name="connsiteX1" fmla="*/ 26161 w 52322"/>
                <a:gd name="connsiteY1" fmla="*/ 52323 h 52322"/>
                <a:gd name="connsiteX2" fmla="*/ 0 w 52322"/>
                <a:gd name="connsiteY2" fmla="*/ 26161 h 52322"/>
                <a:gd name="connsiteX3" fmla="*/ 26161 w 52322"/>
                <a:gd name="connsiteY3" fmla="*/ 0 h 52322"/>
                <a:gd name="connsiteX4" fmla="*/ 52323 w 52322"/>
                <a:gd name="connsiteY4" fmla="*/ 26161 h 523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22" h="52322">
                  <a:moveTo>
                    <a:pt x="52323" y="26161"/>
                  </a:moveTo>
                  <a:cubicBezTo>
                    <a:pt x="52323" y="40593"/>
                    <a:pt x="40627" y="52323"/>
                    <a:pt x="26161" y="52323"/>
                  </a:cubicBezTo>
                  <a:cubicBezTo>
                    <a:pt x="11696" y="52323"/>
                    <a:pt x="0" y="40627"/>
                    <a:pt x="0" y="26161"/>
                  </a:cubicBezTo>
                  <a:cubicBezTo>
                    <a:pt x="0" y="11696"/>
                    <a:pt x="11696" y="0"/>
                    <a:pt x="26161" y="0"/>
                  </a:cubicBezTo>
                  <a:cubicBezTo>
                    <a:pt x="40627" y="0"/>
                    <a:pt x="52323" y="11696"/>
                    <a:pt x="52323" y="26161"/>
                  </a:cubicBezTo>
                  <a:close/>
                </a:path>
              </a:pathLst>
            </a:custGeom>
            <a:solidFill>
              <a:srgbClr val="1D2333"/>
            </a:solidFill>
            <a:ln w="3394" cap="flat">
              <a:noFill/>
              <a:prstDash val="solid"/>
              <a:miter/>
            </a:ln>
          </p:spPr>
          <p:txBody>
            <a:bodyPr rtlCol="0" anchor="ctr"/>
            <a:lstStyle/>
            <a:p>
              <a:endParaRPr lang="en-US"/>
            </a:p>
          </p:txBody>
        </p:sp>
        <p:sp>
          <p:nvSpPr>
            <p:cNvPr id="308" name="Freeform: Shape 307">
              <a:extLst>
                <a:ext uri="{FF2B5EF4-FFF2-40B4-BE49-F238E27FC236}">
                  <a16:creationId xmlns:a16="http://schemas.microsoft.com/office/drawing/2014/main" id="{F5B6948B-7901-4CF1-B418-5162C72CA523}"/>
                </a:ext>
              </a:extLst>
            </p:cNvPr>
            <p:cNvSpPr/>
            <p:nvPr/>
          </p:nvSpPr>
          <p:spPr>
            <a:xfrm>
              <a:off x="1062020" y="5245277"/>
              <a:ext cx="536597" cy="320843"/>
            </a:xfrm>
            <a:custGeom>
              <a:avLst/>
              <a:gdLst>
                <a:gd name="connsiteX0" fmla="*/ 498809 w 536597"/>
                <a:gd name="connsiteY0" fmla="*/ 0 h 320843"/>
                <a:gd name="connsiteX1" fmla="*/ 536597 w 536597"/>
                <a:gd name="connsiteY1" fmla="*/ 37789 h 320843"/>
                <a:gd name="connsiteX2" fmla="*/ 536597 w 536597"/>
                <a:gd name="connsiteY2" fmla="*/ 283055 h 320843"/>
                <a:gd name="connsiteX3" fmla="*/ 498809 w 536597"/>
                <a:gd name="connsiteY3" fmla="*/ 320844 h 320843"/>
                <a:gd name="connsiteX4" fmla="*/ 37789 w 536597"/>
                <a:gd name="connsiteY4" fmla="*/ 320844 h 320843"/>
                <a:gd name="connsiteX5" fmla="*/ 0 w 536597"/>
                <a:gd name="connsiteY5" fmla="*/ 283055 h 320843"/>
                <a:gd name="connsiteX6" fmla="*/ 0 w 536597"/>
                <a:gd name="connsiteY6" fmla="*/ 37789 h 320843"/>
                <a:gd name="connsiteX7" fmla="*/ 37789 w 536597"/>
                <a:gd name="connsiteY7" fmla="*/ 0 h 32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6597" h="320843">
                  <a:moveTo>
                    <a:pt x="498809" y="0"/>
                  </a:moveTo>
                  <a:cubicBezTo>
                    <a:pt x="519679" y="0"/>
                    <a:pt x="536597" y="16918"/>
                    <a:pt x="536597" y="37789"/>
                  </a:cubicBezTo>
                  <a:lnTo>
                    <a:pt x="536597" y="283055"/>
                  </a:lnTo>
                  <a:cubicBezTo>
                    <a:pt x="536597" y="303925"/>
                    <a:pt x="519679" y="320844"/>
                    <a:pt x="498809" y="320844"/>
                  </a:cubicBezTo>
                  <a:lnTo>
                    <a:pt x="37789" y="320844"/>
                  </a:lnTo>
                  <a:cubicBezTo>
                    <a:pt x="16919" y="320844"/>
                    <a:pt x="0" y="303925"/>
                    <a:pt x="0" y="283055"/>
                  </a:cubicBezTo>
                  <a:lnTo>
                    <a:pt x="0" y="37789"/>
                  </a:lnTo>
                  <a:cubicBezTo>
                    <a:pt x="0" y="16918"/>
                    <a:pt x="16919" y="0"/>
                    <a:pt x="37789" y="0"/>
                  </a:cubicBezTo>
                  <a:close/>
                </a:path>
              </a:pathLst>
            </a:custGeom>
            <a:solidFill>
              <a:schemeClr val="bg1"/>
            </a:solidFill>
            <a:ln w="3394" cap="flat">
              <a:noFill/>
              <a:prstDash val="solid"/>
              <a:miter/>
            </a:ln>
          </p:spPr>
          <p:txBody>
            <a:bodyPr rtlCol="0" anchor="ctr"/>
            <a:lstStyle/>
            <a:p>
              <a:endParaRPr lang="en-US"/>
            </a:p>
          </p:txBody>
        </p:sp>
        <p:sp>
          <p:nvSpPr>
            <p:cNvPr id="309" name="Freeform: Shape 308">
              <a:extLst>
                <a:ext uri="{FF2B5EF4-FFF2-40B4-BE49-F238E27FC236}">
                  <a16:creationId xmlns:a16="http://schemas.microsoft.com/office/drawing/2014/main" id="{8DEC4AF0-3DF8-4959-896B-383A5C150762}"/>
                </a:ext>
              </a:extLst>
            </p:cNvPr>
            <p:cNvSpPr/>
            <p:nvPr/>
          </p:nvSpPr>
          <p:spPr>
            <a:xfrm>
              <a:off x="1296548" y="5370612"/>
              <a:ext cx="70173" cy="70173"/>
            </a:xfrm>
            <a:custGeom>
              <a:avLst/>
              <a:gdLst>
                <a:gd name="connsiteX0" fmla="*/ 70174 w 70173"/>
                <a:gd name="connsiteY0" fmla="*/ 35087 h 70173"/>
                <a:gd name="connsiteX1" fmla="*/ 35087 w 70173"/>
                <a:gd name="connsiteY1" fmla="*/ 70174 h 70173"/>
                <a:gd name="connsiteX2" fmla="*/ 0 w 70173"/>
                <a:gd name="connsiteY2" fmla="*/ 35087 h 70173"/>
                <a:gd name="connsiteX3" fmla="*/ 35087 w 70173"/>
                <a:gd name="connsiteY3" fmla="*/ 0 h 70173"/>
                <a:gd name="connsiteX4" fmla="*/ 70174 w 70173"/>
                <a:gd name="connsiteY4" fmla="*/ 35087 h 701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73" h="70173">
                  <a:moveTo>
                    <a:pt x="70174" y="35087"/>
                  </a:moveTo>
                  <a:cubicBezTo>
                    <a:pt x="70174" y="54465"/>
                    <a:pt x="54465" y="70174"/>
                    <a:pt x="35087" y="70174"/>
                  </a:cubicBezTo>
                  <a:cubicBezTo>
                    <a:pt x="15709" y="70174"/>
                    <a:pt x="0" y="54465"/>
                    <a:pt x="0" y="35087"/>
                  </a:cubicBezTo>
                  <a:cubicBezTo>
                    <a:pt x="0" y="15709"/>
                    <a:pt x="15709" y="0"/>
                    <a:pt x="35087" y="0"/>
                  </a:cubicBezTo>
                  <a:cubicBezTo>
                    <a:pt x="54465" y="0"/>
                    <a:pt x="70174" y="15709"/>
                    <a:pt x="70174" y="35087"/>
                  </a:cubicBezTo>
                  <a:close/>
                </a:path>
              </a:pathLst>
            </a:custGeom>
            <a:solidFill>
              <a:schemeClr val="accent5"/>
            </a:solidFill>
            <a:ln w="3394" cap="flat">
              <a:noFill/>
              <a:prstDash val="solid"/>
              <a:miter/>
            </a:ln>
          </p:spPr>
          <p:txBody>
            <a:bodyPr rtlCol="0" anchor="ctr"/>
            <a:lstStyle/>
            <a:p>
              <a:endParaRPr lang="en-US"/>
            </a:p>
          </p:txBody>
        </p:sp>
        <p:sp>
          <p:nvSpPr>
            <p:cNvPr id="310" name="Freeform: Shape 309">
              <a:extLst>
                <a:ext uri="{FF2B5EF4-FFF2-40B4-BE49-F238E27FC236}">
                  <a16:creationId xmlns:a16="http://schemas.microsoft.com/office/drawing/2014/main" id="{CA99E495-5378-4088-AAA4-698A8CF798DD}"/>
                </a:ext>
              </a:extLst>
            </p:cNvPr>
            <p:cNvSpPr/>
            <p:nvPr/>
          </p:nvSpPr>
          <p:spPr>
            <a:xfrm>
              <a:off x="1527930" y="5059857"/>
              <a:ext cx="198518" cy="93804"/>
            </a:xfrm>
            <a:custGeom>
              <a:avLst/>
              <a:gdLst>
                <a:gd name="connsiteX0" fmla="*/ 163978 w 198518"/>
                <a:gd name="connsiteY0" fmla="*/ 0 h 93804"/>
                <a:gd name="connsiteX1" fmla="*/ 34540 w 198518"/>
                <a:gd name="connsiteY1" fmla="*/ 0 h 93804"/>
                <a:gd name="connsiteX2" fmla="*/ 0 w 198518"/>
                <a:gd name="connsiteY2" fmla="*/ 34540 h 93804"/>
                <a:gd name="connsiteX3" fmla="*/ 28350 w 198518"/>
                <a:gd name="connsiteY3" fmla="*/ 68498 h 93804"/>
                <a:gd name="connsiteX4" fmla="*/ 28350 w 198518"/>
                <a:gd name="connsiteY4" fmla="*/ 93805 h 93804"/>
                <a:gd name="connsiteX5" fmla="*/ 53075 w 198518"/>
                <a:gd name="connsiteY5" fmla="*/ 69080 h 93804"/>
                <a:gd name="connsiteX6" fmla="*/ 163978 w 198518"/>
                <a:gd name="connsiteY6" fmla="*/ 69080 h 93804"/>
                <a:gd name="connsiteX7" fmla="*/ 198518 w 198518"/>
                <a:gd name="connsiteY7" fmla="*/ 34540 h 93804"/>
                <a:gd name="connsiteX8" fmla="*/ 163978 w 198518"/>
                <a:gd name="connsiteY8" fmla="*/ 0 h 93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518" h="93804">
                  <a:moveTo>
                    <a:pt x="163978" y="0"/>
                  </a:moveTo>
                  <a:lnTo>
                    <a:pt x="34540" y="0"/>
                  </a:lnTo>
                  <a:cubicBezTo>
                    <a:pt x="15560" y="0"/>
                    <a:pt x="0" y="15526"/>
                    <a:pt x="0" y="34540"/>
                  </a:cubicBezTo>
                  <a:cubicBezTo>
                    <a:pt x="0" y="51433"/>
                    <a:pt x="12277" y="65557"/>
                    <a:pt x="28350" y="68498"/>
                  </a:cubicBezTo>
                  <a:lnTo>
                    <a:pt x="28350" y="93805"/>
                  </a:lnTo>
                  <a:lnTo>
                    <a:pt x="53075" y="69080"/>
                  </a:lnTo>
                  <a:lnTo>
                    <a:pt x="163978" y="69080"/>
                  </a:lnTo>
                  <a:cubicBezTo>
                    <a:pt x="182958" y="69080"/>
                    <a:pt x="198518" y="53554"/>
                    <a:pt x="198518" y="34540"/>
                  </a:cubicBezTo>
                  <a:cubicBezTo>
                    <a:pt x="198518" y="15526"/>
                    <a:pt x="182992" y="0"/>
                    <a:pt x="163978" y="0"/>
                  </a:cubicBezTo>
                  <a:close/>
                </a:path>
              </a:pathLst>
            </a:custGeom>
            <a:solidFill>
              <a:schemeClr val="accent6"/>
            </a:solidFill>
            <a:ln w="3394" cap="flat">
              <a:noFill/>
              <a:prstDash val="solid"/>
              <a:miter/>
            </a:ln>
          </p:spPr>
          <p:txBody>
            <a:bodyPr rtlCol="0" anchor="ctr"/>
            <a:lstStyle/>
            <a:p>
              <a:endParaRPr lang="en-US"/>
            </a:p>
          </p:txBody>
        </p:sp>
        <p:grpSp>
          <p:nvGrpSpPr>
            <p:cNvPr id="311" name="Graphic 380">
              <a:extLst>
                <a:ext uri="{FF2B5EF4-FFF2-40B4-BE49-F238E27FC236}">
                  <a16:creationId xmlns:a16="http://schemas.microsoft.com/office/drawing/2014/main" id="{3A32756A-6699-4EE7-8E95-208F07E83458}"/>
                </a:ext>
              </a:extLst>
            </p:cNvPr>
            <p:cNvGrpSpPr/>
            <p:nvPr/>
          </p:nvGrpSpPr>
          <p:grpSpPr>
            <a:xfrm>
              <a:off x="873522" y="5101647"/>
              <a:ext cx="255525" cy="120752"/>
              <a:chOff x="873522" y="5101647"/>
              <a:chExt cx="255525" cy="120752"/>
            </a:xfrm>
          </p:grpSpPr>
          <p:sp>
            <p:nvSpPr>
              <p:cNvPr id="316" name="Freeform: Shape 315">
                <a:extLst>
                  <a:ext uri="{FF2B5EF4-FFF2-40B4-BE49-F238E27FC236}">
                    <a16:creationId xmlns:a16="http://schemas.microsoft.com/office/drawing/2014/main" id="{9F58A49A-0A23-4014-AE81-6F2F3A2A9D71}"/>
                  </a:ext>
                </a:extLst>
              </p:cNvPr>
              <p:cNvSpPr/>
              <p:nvPr/>
            </p:nvSpPr>
            <p:spPr>
              <a:xfrm>
                <a:off x="873522" y="5101647"/>
                <a:ext cx="255525" cy="88914"/>
              </a:xfrm>
              <a:custGeom>
                <a:avLst/>
                <a:gdLst>
                  <a:gd name="connsiteX0" fmla="*/ 44457 w 255525"/>
                  <a:gd name="connsiteY0" fmla="*/ 88914 h 88914"/>
                  <a:gd name="connsiteX1" fmla="*/ 211069 w 255525"/>
                  <a:gd name="connsiteY1" fmla="*/ 88914 h 88914"/>
                  <a:gd name="connsiteX2" fmla="*/ 255526 w 255525"/>
                  <a:gd name="connsiteY2" fmla="*/ 44457 h 88914"/>
                  <a:gd name="connsiteX3" fmla="*/ 211069 w 255525"/>
                  <a:gd name="connsiteY3" fmla="*/ 0 h 88914"/>
                  <a:gd name="connsiteX4" fmla="*/ 44457 w 255525"/>
                  <a:gd name="connsiteY4" fmla="*/ 0 h 88914"/>
                  <a:gd name="connsiteX5" fmla="*/ 0 w 255525"/>
                  <a:gd name="connsiteY5" fmla="*/ 44457 h 88914"/>
                  <a:gd name="connsiteX6" fmla="*/ 44457 w 255525"/>
                  <a:gd name="connsiteY6" fmla="*/ 88914 h 88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5525" h="88914">
                    <a:moveTo>
                      <a:pt x="44457" y="88914"/>
                    </a:moveTo>
                    <a:lnTo>
                      <a:pt x="211069" y="88914"/>
                    </a:lnTo>
                    <a:cubicBezTo>
                      <a:pt x="235520" y="88914"/>
                      <a:pt x="255526" y="68909"/>
                      <a:pt x="255526" y="44457"/>
                    </a:cubicBezTo>
                    <a:cubicBezTo>
                      <a:pt x="255526" y="20006"/>
                      <a:pt x="235520" y="0"/>
                      <a:pt x="211069" y="0"/>
                    </a:cubicBezTo>
                    <a:lnTo>
                      <a:pt x="44457" y="0"/>
                    </a:lnTo>
                    <a:cubicBezTo>
                      <a:pt x="20006" y="0"/>
                      <a:pt x="0" y="20006"/>
                      <a:pt x="0" y="44457"/>
                    </a:cubicBezTo>
                    <a:cubicBezTo>
                      <a:pt x="0" y="68909"/>
                      <a:pt x="20006" y="88914"/>
                      <a:pt x="44457" y="88914"/>
                    </a:cubicBezTo>
                    <a:close/>
                  </a:path>
                </a:pathLst>
              </a:custGeom>
              <a:solidFill>
                <a:schemeClr val="accent3"/>
              </a:solidFill>
              <a:ln w="3394" cap="flat">
                <a:noFill/>
                <a:prstDash val="solid"/>
                <a:miter/>
              </a:ln>
            </p:spPr>
            <p:txBody>
              <a:bodyPr rtlCol="0" anchor="ctr"/>
              <a:lstStyle/>
              <a:p>
                <a:endParaRPr lang="en-US"/>
              </a:p>
            </p:txBody>
          </p:sp>
          <p:sp>
            <p:nvSpPr>
              <p:cNvPr id="317" name="Freeform: Shape 316">
                <a:extLst>
                  <a:ext uri="{FF2B5EF4-FFF2-40B4-BE49-F238E27FC236}">
                    <a16:creationId xmlns:a16="http://schemas.microsoft.com/office/drawing/2014/main" id="{CC41C9F9-2E34-49F0-86C2-6B51B9645001}"/>
                  </a:ext>
                </a:extLst>
              </p:cNvPr>
              <p:cNvSpPr/>
              <p:nvPr/>
            </p:nvSpPr>
            <p:spPr>
              <a:xfrm>
                <a:off x="987400" y="5132185"/>
                <a:ext cx="27768" cy="27768"/>
              </a:xfrm>
              <a:custGeom>
                <a:avLst/>
                <a:gdLst>
                  <a:gd name="connsiteX0" fmla="*/ 0 w 27768"/>
                  <a:gd name="connsiteY0" fmla="*/ 13884 h 27768"/>
                  <a:gd name="connsiteX1" fmla="*/ 13884 w 27768"/>
                  <a:gd name="connsiteY1" fmla="*/ 27769 h 27768"/>
                  <a:gd name="connsiteX2" fmla="*/ 27769 w 27768"/>
                  <a:gd name="connsiteY2" fmla="*/ 13884 h 27768"/>
                  <a:gd name="connsiteX3" fmla="*/ 13884 w 27768"/>
                  <a:gd name="connsiteY3" fmla="*/ 0 h 27768"/>
                  <a:gd name="connsiteX4" fmla="*/ 0 w 27768"/>
                  <a:gd name="connsiteY4" fmla="*/ 13884 h 27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68" h="27768">
                    <a:moveTo>
                      <a:pt x="0" y="13884"/>
                    </a:moveTo>
                    <a:cubicBezTo>
                      <a:pt x="0" y="21545"/>
                      <a:pt x="6224" y="27769"/>
                      <a:pt x="13884" y="27769"/>
                    </a:cubicBezTo>
                    <a:cubicBezTo>
                      <a:pt x="21545" y="27769"/>
                      <a:pt x="27769" y="21545"/>
                      <a:pt x="27769" y="13884"/>
                    </a:cubicBezTo>
                    <a:cubicBezTo>
                      <a:pt x="27769" y="6224"/>
                      <a:pt x="21545" y="0"/>
                      <a:pt x="13884" y="0"/>
                    </a:cubicBezTo>
                    <a:cubicBezTo>
                      <a:pt x="6224" y="0"/>
                      <a:pt x="0" y="6224"/>
                      <a:pt x="0" y="13884"/>
                    </a:cubicBezTo>
                    <a:close/>
                  </a:path>
                </a:pathLst>
              </a:custGeom>
              <a:solidFill>
                <a:srgbClr val="FFFFFF"/>
              </a:solidFill>
              <a:ln w="3394" cap="flat">
                <a:noFill/>
                <a:prstDash val="solid"/>
                <a:miter/>
              </a:ln>
            </p:spPr>
            <p:txBody>
              <a:bodyPr rtlCol="0" anchor="ctr"/>
              <a:lstStyle/>
              <a:p>
                <a:endParaRPr lang="en-US"/>
              </a:p>
            </p:txBody>
          </p:sp>
          <p:sp>
            <p:nvSpPr>
              <p:cNvPr id="318" name="Freeform: Shape 317">
                <a:extLst>
                  <a:ext uri="{FF2B5EF4-FFF2-40B4-BE49-F238E27FC236}">
                    <a16:creationId xmlns:a16="http://schemas.microsoft.com/office/drawing/2014/main" id="{31C54D78-B1C5-4EBE-946B-19A9436D6FBA}"/>
                  </a:ext>
                </a:extLst>
              </p:cNvPr>
              <p:cNvSpPr/>
              <p:nvPr/>
            </p:nvSpPr>
            <p:spPr>
              <a:xfrm>
                <a:off x="1059386" y="5132185"/>
                <a:ext cx="27768" cy="27768"/>
              </a:xfrm>
              <a:custGeom>
                <a:avLst/>
                <a:gdLst>
                  <a:gd name="connsiteX0" fmla="*/ 0 w 27768"/>
                  <a:gd name="connsiteY0" fmla="*/ 13884 h 27768"/>
                  <a:gd name="connsiteX1" fmla="*/ 13884 w 27768"/>
                  <a:gd name="connsiteY1" fmla="*/ 27769 h 27768"/>
                  <a:gd name="connsiteX2" fmla="*/ 27769 w 27768"/>
                  <a:gd name="connsiteY2" fmla="*/ 13884 h 27768"/>
                  <a:gd name="connsiteX3" fmla="*/ 13884 w 27768"/>
                  <a:gd name="connsiteY3" fmla="*/ 0 h 27768"/>
                  <a:gd name="connsiteX4" fmla="*/ 0 w 27768"/>
                  <a:gd name="connsiteY4" fmla="*/ 13884 h 27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68" h="27768">
                    <a:moveTo>
                      <a:pt x="0" y="13884"/>
                    </a:moveTo>
                    <a:cubicBezTo>
                      <a:pt x="0" y="21545"/>
                      <a:pt x="6224" y="27769"/>
                      <a:pt x="13884" y="27769"/>
                    </a:cubicBezTo>
                    <a:cubicBezTo>
                      <a:pt x="21545" y="27769"/>
                      <a:pt x="27769" y="21545"/>
                      <a:pt x="27769" y="13884"/>
                    </a:cubicBezTo>
                    <a:cubicBezTo>
                      <a:pt x="27769" y="6224"/>
                      <a:pt x="21545" y="0"/>
                      <a:pt x="13884" y="0"/>
                    </a:cubicBezTo>
                    <a:cubicBezTo>
                      <a:pt x="6224" y="0"/>
                      <a:pt x="0" y="6224"/>
                      <a:pt x="0" y="13884"/>
                    </a:cubicBezTo>
                    <a:close/>
                  </a:path>
                </a:pathLst>
              </a:custGeom>
              <a:solidFill>
                <a:srgbClr val="FFFFFF"/>
              </a:solidFill>
              <a:ln w="3394" cap="flat">
                <a:noFill/>
                <a:prstDash val="solid"/>
                <a:miter/>
              </a:ln>
            </p:spPr>
            <p:txBody>
              <a:bodyPr rtlCol="0" anchor="ctr"/>
              <a:lstStyle/>
              <a:p>
                <a:endParaRPr lang="en-US"/>
              </a:p>
            </p:txBody>
          </p:sp>
          <p:sp>
            <p:nvSpPr>
              <p:cNvPr id="319" name="Freeform: Shape 318">
                <a:extLst>
                  <a:ext uri="{FF2B5EF4-FFF2-40B4-BE49-F238E27FC236}">
                    <a16:creationId xmlns:a16="http://schemas.microsoft.com/office/drawing/2014/main" id="{B3394B0F-D659-4F46-A37A-DF0B0BE34F10}"/>
                  </a:ext>
                </a:extLst>
              </p:cNvPr>
              <p:cNvSpPr/>
              <p:nvPr/>
            </p:nvSpPr>
            <p:spPr>
              <a:xfrm>
                <a:off x="915414" y="5132185"/>
                <a:ext cx="27768" cy="27768"/>
              </a:xfrm>
              <a:custGeom>
                <a:avLst/>
                <a:gdLst>
                  <a:gd name="connsiteX0" fmla="*/ 0 w 27768"/>
                  <a:gd name="connsiteY0" fmla="*/ 13884 h 27768"/>
                  <a:gd name="connsiteX1" fmla="*/ 13884 w 27768"/>
                  <a:gd name="connsiteY1" fmla="*/ 27769 h 27768"/>
                  <a:gd name="connsiteX2" fmla="*/ 27769 w 27768"/>
                  <a:gd name="connsiteY2" fmla="*/ 13884 h 27768"/>
                  <a:gd name="connsiteX3" fmla="*/ 13884 w 27768"/>
                  <a:gd name="connsiteY3" fmla="*/ 0 h 27768"/>
                  <a:gd name="connsiteX4" fmla="*/ 0 w 27768"/>
                  <a:gd name="connsiteY4" fmla="*/ 13884 h 27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68" h="27768">
                    <a:moveTo>
                      <a:pt x="0" y="13884"/>
                    </a:moveTo>
                    <a:cubicBezTo>
                      <a:pt x="0" y="21545"/>
                      <a:pt x="6224" y="27769"/>
                      <a:pt x="13884" y="27769"/>
                    </a:cubicBezTo>
                    <a:cubicBezTo>
                      <a:pt x="21545" y="27769"/>
                      <a:pt x="27769" y="21545"/>
                      <a:pt x="27769" y="13884"/>
                    </a:cubicBezTo>
                    <a:cubicBezTo>
                      <a:pt x="27769" y="6224"/>
                      <a:pt x="21545" y="0"/>
                      <a:pt x="13884" y="0"/>
                    </a:cubicBezTo>
                    <a:cubicBezTo>
                      <a:pt x="6224" y="0"/>
                      <a:pt x="0" y="6224"/>
                      <a:pt x="0" y="13884"/>
                    </a:cubicBezTo>
                    <a:close/>
                  </a:path>
                </a:pathLst>
              </a:custGeom>
              <a:solidFill>
                <a:srgbClr val="FFFFFF"/>
              </a:solidFill>
              <a:ln w="3394" cap="flat">
                <a:noFill/>
                <a:prstDash val="solid"/>
                <a:miter/>
              </a:ln>
            </p:spPr>
            <p:txBody>
              <a:bodyPr rtlCol="0" anchor="ctr"/>
              <a:lstStyle/>
              <a:p>
                <a:endParaRPr lang="en-US"/>
              </a:p>
            </p:txBody>
          </p:sp>
          <p:sp>
            <p:nvSpPr>
              <p:cNvPr id="320" name="Freeform: Shape 319">
                <a:extLst>
                  <a:ext uri="{FF2B5EF4-FFF2-40B4-BE49-F238E27FC236}">
                    <a16:creationId xmlns:a16="http://schemas.microsoft.com/office/drawing/2014/main" id="{D2308B88-D031-480B-96C6-3AA3E2583ECE}"/>
                  </a:ext>
                </a:extLst>
              </p:cNvPr>
              <p:cNvSpPr/>
              <p:nvPr/>
            </p:nvSpPr>
            <p:spPr>
              <a:xfrm>
                <a:off x="1048819" y="5178626"/>
                <a:ext cx="43773" cy="43773"/>
              </a:xfrm>
              <a:custGeom>
                <a:avLst/>
                <a:gdLst>
                  <a:gd name="connsiteX0" fmla="*/ 43773 w 43773"/>
                  <a:gd name="connsiteY0" fmla="*/ 8549 h 43773"/>
                  <a:gd name="connsiteX1" fmla="*/ 43773 w 43773"/>
                  <a:gd name="connsiteY1" fmla="*/ 43773 h 43773"/>
                  <a:gd name="connsiteX2" fmla="*/ 0 w 43773"/>
                  <a:gd name="connsiteY2" fmla="*/ 0 h 43773"/>
                  <a:gd name="connsiteX3" fmla="*/ 43773 w 43773"/>
                  <a:gd name="connsiteY3" fmla="*/ 8549 h 43773"/>
                </a:gdLst>
                <a:ahLst/>
                <a:cxnLst>
                  <a:cxn ang="0">
                    <a:pos x="connsiteX0" y="connsiteY0"/>
                  </a:cxn>
                  <a:cxn ang="0">
                    <a:pos x="connsiteX1" y="connsiteY1"/>
                  </a:cxn>
                  <a:cxn ang="0">
                    <a:pos x="connsiteX2" y="connsiteY2"/>
                  </a:cxn>
                  <a:cxn ang="0">
                    <a:pos x="connsiteX3" y="connsiteY3"/>
                  </a:cxn>
                </a:cxnLst>
                <a:rect l="l" t="t" r="r" b="b"/>
                <a:pathLst>
                  <a:path w="43773" h="43773">
                    <a:moveTo>
                      <a:pt x="43773" y="8549"/>
                    </a:moveTo>
                    <a:lnTo>
                      <a:pt x="43773" y="43773"/>
                    </a:lnTo>
                    <a:lnTo>
                      <a:pt x="0" y="0"/>
                    </a:lnTo>
                    <a:lnTo>
                      <a:pt x="43773" y="8549"/>
                    </a:lnTo>
                    <a:close/>
                  </a:path>
                </a:pathLst>
              </a:custGeom>
              <a:solidFill>
                <a:schemeClr val="accent3"/>
              </a:solidFill>
              <a:ln w="3394" cap="flat">
                <a:noFill/>
                <a:prstDash val="solid"/>
                <a:miter/>
              </a:ln>
            </p:spPr>
            <p:txBody>
              <a:bodyPr rtlCol="0" anchor="ctr"/>
              <a:lstStyle/>
              <a:p>
                <a:endParaRPr lang="en-US"/>
              </a:p>
            </p:txBody>
          </p:sp>
        </p:grpSp>
        <p:sp>
          <p:nvSpPr>
            <p:cNvPr id="312" name="Freeform: Shape 311">
              <a:extLst>
                <a:ext uri="{FF2B5EF4-FFF2-40B4-BE49-F238E27FC236}">
                  <a16:creationId xmlns:a16="http://schemas.microsoft.com/office/drawing/2014/main" id="{AE081DDA-892F-43E9-BA2B-BED50F17A5F8}"/>
                </a:ext>
              </a:extLst>
            </p:cNvPr>
            <p:cNvSpPr/>
            <p:nvPr/>
          </p:nvSpPr>
          <p:spPr>
            <a:xfrm>
              <a:off x="895192" y="5458356"/>
              <a:ext cx="147061" cy="121990"/>
            </a:xfrm>
            <a:custGeom>
              <a:avLst/>
              <a:gdLst>
                <a:gd name="connsiteX0" fmla="*/ 147061 w 147061"/>
                <a:gd name="connsiteY0" fmla="*/ 12353 h 121990"/>
                <a:gd name="connsiteX1" fmla="*/ 59686 w 147061"/>
                <a:gd name="connsiteY1" fmla="*/ 121991 h 121990"/>
                <a:gd name="connsiteX2" fmla="*/ 26480 w 147061"/>
                <a:gd name="connsiteY2" fmla="*/ 111492 h 121990"/>
                <a:gd name="connsiteX3" fmla="*/ 4833 w 147061"/>
                <a:gd name="connsiteY3" fmla="*/ 54929 h 121990"/>
                <a:gd name="connsiteX4" fmla="*/ 147061 w 147061"/>
                <a:gd name="connsiteY4" fmla="*/ 12319 h 1219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061" h="121990">
                  <a:moveTo>
                    <a:pt x="147061" y="12353"/>
                  </a:moveTo>
                  <a:cubicBezTo>
                    <a:pt x="147061" y="12353"/>
                    <a:pt x="63037" y="18201"/>
                    <a:pt x="59686" y="121991"/>
                  </a:cubicBezTo>
                  <a:lnTo>
                    <a:pt x="26480" y="111492"/>
                  </a:lnTo>
                  <a:cubicBezTo>
                    <a:pt x="3739" y="104311"/>
                    <a:pt x="-6931" y="76679"/>
                    <a:pt x="4833" y="54929"/>
                  </a:cubicBezTo>
                  <a:cubicBezTo>
                    <a:pt x="24326" y="18987"/>
                    <a:pt x="65260" y="-20614"/>
                    <a:pt x="147061" y="12319"/>
                  </a:cubicBezTo>
                  <a:close/>
                </a:path>
              </a:pathLst>
            </a:custGeom>
            <a:solidFill>
              <a:schemeClr val="accent3"/>
            </a:solidFill>
            <a:ln w="3394" cap="flat">
              <a:noFill/>
              <a:prstDash val="solid"/>
              <a:miter/>
            </a:ln>
          </p:spPr>
          <p:txBody>
            <a:bodyPr rtlCol="0" anchor="ctr"/>
            <a:lstStyle/>
            <a:p>
              <a:endParaRPr lang="en-US"/>
            </a:p>
          </p:txBody>
        </p:sp>
        <p:sp>
          <p:nvSpPr>
            <p:cNvPr id="313" name="Freeform: Shape 312">
              <a:extLst>
                <a:ext uri="{FF2B5EF4-FFF2-40B4-BE49-F238E27FC236}">
                  <a16:creationId xmlns:a16="http://schemas.microsoft.com/office/drawing/2014/main" id="{70F585A9-8CFB-4583-B2A1-4B5C5079E422}"/>
                </a:ext>
              </a:extLst>
            </p:cNvPr>
            <p:cNvSpPr/>
            <p:nvPr/>
          </p:nvSpPr>
          <p:spPr>
            <a:xfrm>
              <a:off x="1620333" y="5458356"/>
              <a:ext cx="147061" cy="121990"/>
            </a:xfrm>
            <a:custGeom>
              <a:avLst/>
              <a:gdLst>
                <a:gd name="connsiteX0" fmla="*/ 0 w 147061"/>
                <a:gd name="connsiteY0" fmla="*/ 12353 h 121990"/>
                <a:gd name="connsiteX1" fmla="*/ 87375 w 147061"/>
                <a:gd name="connsiteY1" fmla="*/ 121991 h 121990"/>
                <a:gd name="connsiteX2" fmla="*/ 120581 w 147061"/>
                <a:gd name="connsiteY2" fmla="*/ 111492 h 121990"/>
                <a:gd name="connsiteX3" fmla="*/ 142229 w 147061"/>
                <a:gd name="connsiteY3" fmla="*/ 54929 h 121990"/>
                <a:gd name="connsiteX4" fmla="*/ 0 w 147061"/>
                <a:gd name="connsiteY4" fmla="*/ 12319 h 1219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061" h="121990">
                  <a:moveTo>
                    <a:pt x="0" y="12353"/>
                  </a:moveTo>
                  <a:cubicBezTo>
                    <a:pt x="0" y="12353"/>
                    <a:pt x="84024" y="18201"/>
                    <a:pt x="87375" y="121991"/>
                  </a:cubicBezTo>
                  <a:lnTo>
                    <a:pt x="120581" y="111492"/>
                  </a:lnTo>
                  <a:cubicBezTo>
                    <a:pt x="143323" y="104311"/>
                    <a:pt x="153993" y="76679"/>
                    <a:pt x="142229" y="54929"/>
                  </a:cubicBezTo>
                  <a:cubicBezTo>
                    <a:pt x="122736" y="18987"/>
                    <a:pt x="81801" y="-20614"/>
                    <a:pt x="0" y="12319"/>
                  </a:cubicBezTo>
                  <a:close/>
                </a:path>
              </a:pathLst>
            </a:custGeom>
            <a:solidFill>
              <a:schemeClr val="accent3"/>
            </a:solidFill>
            <a:ln w="3394" cap="flat">
              <a:noFill/>
              <a:prstDash val="solid"/>
              <a:miter/>
            </a:ln>
          </p:spPr>
          <p:txBody>
            <a:bodyPr rtlCol="0" anchor="ctr"/>
            <a:lstStyle/>
            <a:p>
              <a:endParaRPr lang="en-US"/>
            </a:p>
          </p:txBody>
        </p:sp>
        <p:sp>
          <p:nvSpPr>
            <p:cNvPr id="314" name="Freeform: Shape 313">
              <a:extLst>
                <a:ext uri="{FF2B5EF4-FFF2-40B4-BE49-F238E27FC236}">
                  <a16:creationId xmlns:a16="http://schemas.microsoft.com/office/drawing/2014/main" id="{EA1C4E5F-46F7-4334-98BF-3937E5E60271}"/>
                </a:ext>
              </a:extLst>
            </p:cNvPr>
            <p:cNvSpPr/>
            <p:nvPr/>
          </p:nvSpPr>
          <p:spPr>
            <a:xfrm>
              <a:off x="1060241" y="5563693"/>
              <a:ext cx="542752" cy="37480"/>
            </a:xfrm>
            <a:custGeom>
              <a:avLst/>
              <a:gdLst>
                <a:gd name="connsiteX0" fmla="*/ 524013 w 542752"/>
                <a:gd name="connsiteY0" fmla="*/ 0 h 37480"/>
                <a:gd name="connsiteX1" fmla="*/ 18740 w 542752"/>
                <a:gd name="connsiteY1" fmla="*/ 0 h 37480"/>
                <a:gd name="connsiteX2" fmla="*/ 0 w 542752"/>
                <a:gd name="connsiteY2" fmla="*/ 18740 h 37480"/>
                <a:gd name="connsiteX3" fmla="*/ 18740 w 542752"/>
                <a:gd name="connsiteY3" fmla="*/ 37481 h 37480"/>
                <a:gd name="connsiteX4" fmla="*/ 524013 w 542752"/>
                <a:gd name="connsiteY4" fmla="*/ 37481 h 37480"/>
                <a:gd name="connsiteX5" fmla="*/ 542753 w 542752"/>
                <a:gd name="connsiteY5" fmla="*/ 18740 h 37480"/>
                <a:gd name="connsiteX6" fmla="*/ 524013 w 542752"/>
                <a:gd name="connsiteY6" fmla="*/ 0 h 3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2752" h="37480">
                  <a:moveTo>
                    <a:pt x="524013" y="0"/>
                  </a:moveTo>
                  <a:lnTo>
                    <a:pt x="18740" y="0"/>
                  </a:lnTo>
                  <a:cubicBezTo>
                    <a:pt x="8378" y="0"/>
                    <a:pt x="0" y="8378"/>
                    <a:pt x="0" y="18740"/>
                  </a:cubicBezTo>
                  <a:cubicBezTo>
                    <a:pt x="0" y="29102"/>
                    <a:pt x="8378" y="37481"/>
                    <a:pt x="18740" y="37481"/>
                  </a:cubicBezTo>
                  <a:lnTo>
                    <a:pt x="524013" y="37481"/>
                  </a:lnTo>
                  <a:cubicBezTo>
                    <a:pt x="534375" y="37481"/>
                    <a:pt x="542753" y="29102"/>
                    <a:pt x="542753" y="18740"/>
                  </a:cubicBezTo>
                  <a:cubicBezTo>
                    <a:pt x="542753" y="8378"/>
                    <a:pt x="534375" y="0"/>
                    <a:pt x="524013" y="0"/>
                  </a:cubicBezTo>
                  <a:close/>
                </a:path>
              </a:pathLst>
            </a:custGeom>
            <a:solidFill>
              <a:schemeClr val="bg1"/>
            </a:solidFill>
            <a:ln w="3394" cap="flat">
              <a:noFill/>
              <a:prstDash val="solid"/>
              <a:miter/>
            </a:ln>
          </p:spPr>
          <p:txBody>
            <a:bodyPr rtlCol="0" anchor="ctr"/>
            <a:lstStyle/>
            <a:p>
              <a:endParaRPr lang="en-US"/>
            </a:p>
          </p:txBody>
        </p:sp>
        <p:sp>
          <p:nvSpPr>
            <p:cNvPr id="315" name="Freeform: Shape 314">
              <a:extLst>
                <a:ext uri="{FF2B5EF4-FFF2-40B4-BE49-F238E27FC236}">
                  <a16:creationId xmlns:a16="http://schemas.microsoft.com/office/drawing/2014/main" id="{20DCDFCC-E1DE-4FC9-8502-8196787C2158}"/>
                </a:ext>
              </a:extLst>
            </p:cNvPr>
            <p:cNvSpPr/>
            <p:nvPr/>
          </p:nvSpPr>
          <p:spPr>
            <a:xfrm>
              <a:off x="1082607" y="5559760"/>
              <a:ext cx="496620" cy="7865"/>
            </a:xfrm>
            <a:custGeom>
              <a:avLst/>
              <a:gdLst>
                <a:gd name="connsiteX0" fmla="*/ 492687 w 496620"/>
                <a:gd name="connsiteY0" fmla="*/ 7866 h 7865"/>
                <a:gd name="connsiteX1" fmla="*/ 3933 w 496620"/>
                <a:gd name="connsiteY1" fmla="*/ 7866 h 7865"/>
                <a:gd name="connsiteX2" fmla="*/ 0 w 496620"/>
                <a:gd name="connsiteY2" fmla="*/ 3933 h 7865"/>
                <a:gd name="connsiteX3" fmla="*/ 3933 w 496620"/>
                <a:gd name="connsiteY3" fmla="*/ 0 h 7865"/>
                <a:gd name="connsiteX4" fmla="*/ 492687 w 496620"/>
                <a:gd name="connsiteY4" fmla="*/ 0 h 7865"/>
                <a:gd name="connsiteX5" fmla="*/ 496620 w 496620"/>
                <a:gd name="connsiteY5" fmla="*/ 3933 h 7865"/>
                <a:gd name="connsiteX6" fmla="*/ 492687 w 496620"/>
                <a:gd name="connsiteY6" fmla="*/ 7866 h 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6620" h="7865">
                  <a:moveTo>
                    <a:pt x="492687" y="7866"/>
                  </a:moveTo>
                  <a:lnTo>
                    <a:pt x="3933" y="7866"/>
                  </a:lnTo>
                  <a:cubicBezTo>
                    <a:pt x="1778" y="7866"/>
                    <a:pt x="0" y="6121"/>
                    <a:pt x="0" y="3933"/>
                  </a:cubicBezTo>
                  <a:cubicBezTo>
                    <a:pt x="0" y="1744"/>
                    <a:pt x="1744" y="0"/>
                    <a:pt x="3933" y="0"/>
                  </a:cubicBezTo>
                  <a:lnTo>
                    <a:pt x="492687" y="0"/>
                  </a:lnTo>
                  <a:cubicBezTo>
                    <a:pt x="494842" y="0"/>
                    <a:pt x="496620" y="1744"/>
                    <a:pt x="496620" y="3933"/>
                  </a:cubicBezTo>
                  <a:cubicBezTo>
                    <a:pt x="496620" y="6121"/>
                    <a:pt x="494876" y="7866"/>
                    <a:pt x="492687" y="7866"/>
                  </a:cubicBezTo>
                  <a:close/>
                </a:path>
              </a:pathLst>
            </a:custGeom>
            <a:solidFill>
              <a:schemeClr val="accent5"/>
            </a:solidFill>
            <a:ln w="3394" cap="flat">
              <a:noFill/>
              <a:prstDash val="solid"/>
              <a:miter/>
            </a:ln>
          </p:spPr>
          <p:txBody>
            <a:bodyPr rtlCol="0" anchor="ctr"/>
            <a:lstStyle/>
            <a:p>
              <a:endParaRPr lang="en-US"/>
            </a:p>
          </p:txBody>
        </p:sp>
      </p:grpSp>
      <p:sp>
        <p:nvSpPr>
          <p:cNvPr id="321" name="Oval 320">
            <a:extLst>
              <a:ext uri="{FF2B5EF4-FFF2-40B4-BE49-F238E27FC236}">
                <a16:creationId xmlns:a16="http://schemas.microsoft.com/office/drawing/2014/main" id="{B82D6CDC-2B00-4E42-8290-D7EC5CF1FB33}"/>
              </a:ext>
            </a:extLst>
          </p:cNvPr>
          <p:cNvSpPr>
            <a:spLocks noChangeAspect="1"/>
          </p:cNvSpPr>
          <p:nvPr/>
        </p:nvSpPr>
        <p:spPr>
          <a:xfrm>
            <a:off x="629999" y="5725154"/>
            <a:ext cx="108000" cy="108000"/>
          </a:xfrm>
          <a:prstGeom prst="ellipse">
            <a:avLst/>
          </a:prstGeom>
          <a:solidFill>
            <a:schemeClr val="tx2"/>
          </a:solidFill>
          <a:ln w="38100" cap="rnd" cmpd="sng" algn="ctr">
            <a:solidFill>
              <a:srgbClr val="F7F7F7"/>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322" name="Oval 25">
            <a:extLst>
              <a:ext uri="{FF2B5EF4-FFF2-40B4-BE49-F238E27FC236}">
                <a16:creationId xmlns:a16="http://schemas.microsoft.com/office/drawing/2014/main" id="{A410CD11-B069-43CD-B6B7-A16444797FA0}"/>
              </a:ext>
            </a:extLst>
          </p:cNvPr>
          <p:cNvSpPr/>
          <p:nvPr/>
        </p:nvSpPr>
        <p:spPr>
          <a:xfrm rot="16200000">
            <a:off x="683999" y="5851098"/>
            <a:ext cx="360000" cy="360000"/>
          </a:xfrm>
          <a:custGeom>
            <a:avLst/>
            <a:gdLst>
              <a:gd name="connsiteX0" fmla="*/ 0 w 269758"/>
              <a:gd name="connsiteY0" fmla="*/ 134879 h 269758"/>
              <a:gd name="connsiteX1" fmla="*/ 134879 w 269758"/>
              <a:gd name="connsiteY1" fmla="*/ 0 h 269758"/>
              <a:gd name="connsiteX2" fmla="*/ 269758 w 269758"/>
              <a:gd name="connsiteY2" fmla="*/ 134879 h 269758"/>
              <a:gd name="connsiteX3" fmla="*/ 134879 w 269758"/>
              <a:gd name="connsiteY3" fmla="*/ 269758 h 269758"/>
              <a:gd name="connsiteX4" fmla="*/ 0 w 269758"/>
              <a:gd name="connsiteY4" fmla="*/ 134879 h 269758"/>
              <a:gd name="connsiteX0" fmla="*/ 269758 w 361198"/>
              <a:gd name="connsiteY0" fmla="*/ 134879 h 269758"/>
              <a:gd name="connsiteX1" fmla="*/ 134879 w 361198"/>
              <a:gd name="connsiteY1" fmla="*/ 269758 h 269758"/>
              <a:gd name="connsiteX2" fmla="*/ 0 w 361198"/>
              <a:gd name="connsiteY2" fmla="*/ 134879 h 269758"/>
              <a:gd name="connsiteX3" fmla="*/ 134879 w 361198"/>
              <a:gd name="connsiteY3" fmla="*/ 0 h 269758"/>
              <a:gd name="connsiteX4" fmla="*/ 361198 w 361198"/>
              <a:gd name="connsiteY4" fmla="*/ 226319 h 269758"/>
              <a:gd name="connsiteX0" fmla="*/ 269758 w 269758"/>
              <a:gd name="connsiteY0" fmla="*/ 134879 h 269758"/>
              <a:gd name="connsiteX1" fmla="*/ 134879 w 269758"/>
              <a:gd name="connsiteY1" fmla="*/ 269758 h 269758"/>
              <a:gd name="connsiteX2" fmla="*/ 0 w 269758"/>
              <a:gd name="connsiteY2" fmla="*/ 134879 h 269758"/>
              <a:gd name="connsiteX3" fmla="*/ 134879 w 269758"/>
              <a:gd name="connsiteY3" fmla="*/ 0 h 269758"/>
              <a:gd name="connsiteX0" fmla="*/ 134879 w 134879"/>
              <a:gd name="connsiteY0" fmla="*/ 269758 h 269758"/>
              <a:gd name="connsiteX1" fmla="*/ 0 w 134879"/>
              <a:gd name="connsiteY1" fmla="*/ 134879 h 269758"/>
              <a:gd name="connsiteX2" fmla="*/ 134879 w 134879"/>
              <a:gd name="connsiteY2" fmla="*/ 0 h 269758"/>
              <a:gd name="connsiteX0" fmla="*/ 0 w 134879"/>
              <a:gd name="connsiteY0" fmla="*/ 134879 h 134879"/>
              <a:gd name="connsiteX1" fmla="*/ 134879 w 134879"/>
              <a:gd name="connsiteY1" fmla="*/ 0 h 134879"/>
            </a:gdLst>
            <a:ahLst/>
            <a:cxnLst>
              <a:cxn ang="0">
                <a:pos x="connsiteX0" y="connsiteY0"/>
              </a:cxn>
              <a:cxn ang="0">
                <a:pos x="connsiteX1" y="connsiteY1"/>
              </a:cxn>
            </a:cxnLst>
            <a:rect l="l" t="t" r="r" b="b"/>
            <a:pathLst>
              <a:path w="134879" h="134879">
                <a:moveTo>
                  <a:pt x="0" y="134879"/>
                </a:moveTo>
                <a:cubicBezTo>
                  <a:pt x="0" y="60387"/>
                  <a:pt x="60387" y="0"/>
                  <a:pt x="134879" y="0"/>
                </a:cubicBezTo>
              </a:path>
            </a:pathLst>
          </a:custGeom>
          <a:ln w="25400" cap="rnd">
            <a:solidFill>
              <a:schemeClr val="bg1">
                <a:lumMod val="85000"/>
              </a:schemeClr>
            </a:solidFill>
            <a:prstDash val="solid"/>
            <a:round/>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cxnSp>
        <p:nvCxnSpPr>
          <p:cNvPr id="323" name="Straight Connector 322">
            <a:extLst>
              <a:ext uri="{FF2B5EF4-FFF2-40B4-BE49-F238E27FC236}">
                <a16:creationId xmlns:a16="http://schemas.microsoft.com/office/drawing/2014/main" id="{6EF0C6F6-B9A0-4323-980F-F541115358B5}"/>
              </a:ext>
            </a:extLst>
          </p:cNvPr>
          <p:cNvCxnSpPr>
            <a:cxnSpLocks/>
          </p:cNvCxnSpPr>
          <p:nvPr/>
        </p:nvCxnSpPr>
        <p:spPr>
          <a:xfrm>
            <a:off x="1065133" y="6221245"/>
            <a:ext cx="1809523" cy="0"/>
          </a:xfrm>
          <a:prstGeom prst="line">
            <a:avLst/>
          </a:prstGeom>
          <a:ln w="25400" cap="rnd">
            <a:solidFill>
              <a:schemeClr val="bg1">
                <a:lumMod val="85000"/>
              </a:schemeClr>
            </a:solidFill>
            <a:prstDash val="solid"/>
            <a:round/>
            <a:tailEnd type="none" w="med" len="sm"/>
          </a:ln>
        </p:spPr>
        <p:style>
          <a:lnRef idx="1">
            <a:schemeClr val="accent1"/>
          </a:lnRef>
          <a:fillRef idx="0">
            <a:schemeClr val="accent1"/>
          </a:fillRef>
          <a:effectRef idx="0">
            <a:schemeClr val="accent1"/>
          </a:effectRef>
          <a:fontRef idx="minor">
            <a:schemeClr val="tx1"/>
          </a:fontRef>
        </p:style>
      </p:cxnSp>
      <p:grpSp>
        <p:nvGrpSpPr>
          <p:cNvPr id="324" name="Group 323">
            <a:extLst>
              <a:ext uri="{FF2B5EF4-FFF2-40B4-BE49-F238E27FC236}">
                <a16:creationId xmlns:a16="http://schemas.microsoft.com/office/drawing/2014/main" id="{55B2E65D-ADD1-4376-B6D0-E9DCBEFE30FE}"/>
              </a:ext>
            </a:extLst>
          </p:cNvPr>
          <p:cNvGrpSpPr/>
          <p:nvPr/>
        </p:nvGrpSpPr>
        <p:grpSpPr>
          <a:xfrm>
            <a:off x="3325498" y="5275040"/>
            <a:ext cx="2136790" cy="1000466"/>
            <a:chOff x="3529880" y="5826570"/>
            <a:chExt cx="2136790" cy="1000466"/>
          </a:xfrm>
        </p:grpSpPr>
        <p:sp>
          <p:nvSpPr>
            <p:cNvPr id="325" name="object 4">
              <a:extLst>
                <a:ext uri="{FF2B5EF4-FFF2-40B4-BE49-F238E27FC236}">
                  <a16:creationId xmlns:a16="http://schemas.microsoft.com/office/drawing/2014/main" id="{5D8A1812-D6FA-47AE-A8DE-7AAB85560D1A}"/>
                </a:ext>
              </a:extLst>
            </p:cNvPr>
            <p:cNvSpPr txBox="1"/>
            <p:nvPr/>
          </p:nvSpPr>
          <p:spPr>
            <a:xfrm>
              <a:off x="3686669" y="5826570"/>
              <a:ext cx="1980000" cy="461665"/>
            </a:xfrm>
            <a:prstGeom prst="rect">
              <a:avLst/>
            </a:prstGeom>
          </p:spPr>
          <p:txBody>
            <a:bodyPr vert="horz" wrap="square" lIns="0" tIns="0" rIns="0" bIns="0" rtlCol="0" anchor="t" anchorCtr="0">
              <a:noAutofit/>
            </a:bodyPr>
            <a:lstStyle/>
            <a:p>
              <a:pPr marR="3081" algn="r" defTabSz="554492">
                <a:buClr>
                  <a:srgbClr val="9B1C23"/>
                </a:buClr>
                <a:buFont typeface="Trebuchet MS" panose="020B0603020202020204" pitchFamily="34" charset="0"/>
                <a:buChar char="​"/>
              </a:pPr>
              <a:endParaRPr sz="1000">
                <a:solidFill>
                  <a:srgbClr val="000000"/>
                </a:solidFill>
                <a:latin typeface="Arial Nova" panose="020B0504020202020204" pitchFamily="34" charset="0"/>
                <a:cs typeface="Proxima Nova"/>
              </a:endParaRPr>
            </a:p>
          </p:txBody>
        </p:sp>
        <p:sp>
          <p:nvSpPr>
            <p:cNvPr id="326" name="object 28">
              <a:extLst>
                <a:ext uri="{FF2B5EF4-FFF2-40B4-BE49-F238E27FC236}">
                  <a16:creationId xmlns:a16="http://schemas.microsoft.com/office/drawing/2014/main" id="{7FE7CBC8-5855-4F6E-80E2-086452F2B9C2}"/>
                </a:ext>
              </a:extLst>
            </p:cNvPr>
            <p:cNvSpPr txBox="1"/>
            <p:nvPr/>
          </p:nvSpPr>
          <p:spPr>
            <a:xfrm>
              <a:off x="3529880" y="6359461"/>
              <a:ext cx="2136790" cy="467575"/>
            </a:xfrm>
            <a:prstGeom prst="rect">
              <a:avLst/>
            </a:prstGeom>
          </p:spPr>
          <p:txBody>
            <a:bodyPr vert="horz" wrap="square" lIns="0" tIns="5853" rIns="0" bIns="0" rtlCol="0">
              <a:spAutoFit/>
            </a:bodyPr>
            <a:lstStyle/>
            <a:p>
              <a:pPr marR="3081" algn="ctr" defTabSz="554492">
                <a:buFont typeface="Trebuchet MS" panose="020B0603020202020204" pitchFamily="34" charset="0"/>
                <a:buChar char="​"/>
              </a:pPr>
              <a:r>
                <a:rPr sz="1000">
                  <a:latin typeface="Trebuchet MS" panose="020B0603020202020204" pitchFamily="34" charset="0"/>
                  <a:cs typeface="Proxima Nova"/>
                </a:rPr>
                <a:t>Evergreen campaigns to be</a:t>
              </a:r>
              <a:r>
                <a:rPr lang="en-US" sz="1000">
                  <a:latin typeface="Trebuchet MS" panose="020B0603020202020204" pitchFamily="34" charset="0"/>
                  <a:cs typeface="Proxima Nova"/>
                </a:rPr>
                <a:t> </a:t>
              </a:r>
              <a:r>
                <a:rPr sz="1000">
                  <a:latin typeface="Trebuchet MS" panose="020B0603020202020204" pitchFamily="34" charset="0"/>
                  <a:cs typeface="Proxima Nova"/>
                </a:rPr>
                <a:t>automated</a:t>
              </a:r>
              <a:r>
                <a:rPr lang="en-US" sz="1000">
                  <a:latin typeface="Trebuchet MS" panose="020B0603020202020204" pitchFamily="34" charset="0"/>
                  <a:cs typeface="Proxima Nova"/>
                </a:rPr>
                <a:t> </a:t>
              </a:r>
              <a:r>
                <a:rPr sz="1000">
                  <a:latin typeface="Trebuchet MS" panose="020B0603020202020204" pitchFamily="34" charset="0"/>
                  <a:cs typeface="Proxima Nova"/>
                </a:rPr>
                <a:t>in the future by</a:t>
              </a:r>
              <a:r>
                <a:rPr lang="en-US" sz="1000">
                  <a:latin typeface="Trebuchet MS" panose="020B0603020202020204" pitchFamily="34" charset="0"/>
                  <a:cs typeface="Proxima Nova"/>
                </a:rPr>
                <a:t> </a:t>
              </a:r>
              <a:r>
                <a:rPr sz="1000" b="1">
                  <a:latin typeface="Trebuchet MS" panose="020B0603020202020204" pitchFamily="34" charset="0"/>
                  <a:cs typeface="Proxima Nova Semibold"/>
                </a:rPr>
                <a:t>centralized capability teams</a:t>
              </a:r>
            </a:p>
          </p:txBody>
        </p:sp>
      </p:grpSp>
      <p:grpSp>
        <p:nvGrpSpPr>
          <p:cNvPr id="328" name="Group 327">
            <a:extLst>
              <a:ext uri="{FF2B5EF4-FFF2-40B4-BE49-F238E27FC236}">
                <a16:creationId xmlns:a16="http://schemas.microsoft.com/office/drawing/2014/main" id="{CC8692AD-669F-4A5A-8337-384C1F100B08}"/>
              </a:ext>
            </a:extLst>
          </p:cNvPr>
          <p:cNvGrpSpPr/>
          <p:nvPr/>
        </p:nvGrpSpPr>
        <p:grpSpPr>
          <a:xfrm>
            <a:off x="4584974" y="2418465"/>
            <a:ext cx="1386000" cy="1386019"/>
            <a:chOff x="4669200" y="2683043"/>
            <a:chExt cx="1980000" cy="1980028"/>
          </a:xfrm>
        </p:grpSpPr>
        <p:sp>
          <p:nvSpPr>
            <p:cNvPr id="329" name="Freeform: Shape 328">
              <a:extLst>
                <a:ext uri="{FF2B5EF4-FFF2-40B4-BE49-F238E27FC236}">
                  <a16:creationId xmlns:a16="http://schemas.microsoft.com/office/drawing/2014/main" id="{53435929-2AB9-465B-AFE0-4FDEF21029CA}"/>
                </a:ext>
              </a:extLst>
            </p:cNvPr>
            <p:cNvSpPr/>
            <p:nvPr/>
          </p:nvSpPr>
          <p:spPr>
            <a:xfrm>
              <a:off x="4669200" y="3701682"/>
              <a:ext cx="692440" cy="631073"/>
            </a:xfrm>
            <a:custGeom>
              <a:avLst/>
              <a:gdLst>
                <a:gd name="connsiteX0" fmla="*/ 1043946 w 1258227"/>
                <a:gd name="connsiteY0" fmla="*/ 0 h 1146716"/>
                <a:gd name="connsiteX1" fmla="*/ 89757 w 1258227"/>
                <a:gd name="connsiteY1" fmla="*/ 0 h 1146716"/>
                <a:gd name="connsiteX2" fmla="*/ 289 w 1258227"/>
                <a:gd name="connsiteY2" fmla="*/ 94444 h 1146716"/>
                <a:gd name="connsiteX3" fmla="*/ 423481 w 1258227"/>
                <a:gd name="connsiteY3" fmla="*/ 1116160 h 1146716"/>
                <a:gd name="connsiteX4" fmla="*/ 553561 w 1258227"/>
                <a:gd name="connsiteY4" fmla="*/ 1119709 h 1146716"/>
                <a:gd name="connsiteX5" fmla="*/ 1228221 w 1258227"/>
                <a:gd name="connsiteY5" fmla="*/ 444966 h 1146716"/>
                <a:gd name="connsiteX6" fmla="*/ 1239094 w 1258227"/>
                <a:gd name="connsiteY6" fmla="*/ 302029 h 1146716"/>
                <a:gd name="connsiteX7" fmla="*/ 1152700 w 1258227"/>
                <a:gd name="connsiteY7" fmla="*/ 93549 h 1146716"/>
                <a:gd name="connsiteX8" fmla="*/ 1043918 w 1258227"/>
                <a:gd name="connsiteY8" fmla="*/ 0 h 1146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8227" h="1146716">
                  <a:moveTo>
                    <a:pt x="1043946" y="0"/>
                  </a:moveTo>
                  <a:lnTo>
                    <a:pt x="89757" y="0"/>
                  </a:lnTo>
                  <a:cubicBezTo>
                    <a:pt x="37546" y="0"/>
                    <a:pt x="-3876" y="42428"/>
                    <a:pt x="289" y="94444"/>
                  </a:cubicBezTo>
                  <a:cubicBezTo>
                    <a:pt x="31481" y="482754"/>
                    <a:pt x="185458" y="836184"/>
                    <a:pt x="423481" y="1116160"/>
                  </a:cubicBezTo>
                  <a:cubicBezTo>
                    <a:pt x="457385" y="1155961"/>
                    <a:pt x="516583" y="1156604"/>
                    <a:pt x="553561" y="1119709"/>
                  </a:cubicBezTo>
                  <a:lnTo>
                    <a:pt x="1228221" y="444966"/>
                  </a:lnTo>
                  <a:cubicBezTo>
                    <a:pt x="1265199" y="408072"/>
                    <a:pt x="1267016" y="346162"/>
                    <a:pt x="1239094" y="302029"/>
                  </a:cubicBezTo>
                  <a:cubicBezTo>
                    <a:pt x="1199013" y="238945"/>
                    <a:pt x="1169470" y="168595"/>
                    <a:pt x="1152700" y="93549"/>
                  </a:cubicBezTo>
                  <a:cubicBezTo>
                    <a:pt x="1141184" y="42596"/>
                    <a:pt x="1096241" y="0"/>
                    <a:pt x="1043918" y="0"/>
                  </a:cubicBezTo>
                  <a:close/>
                </a:path>
              </a:pathLst>
            </a:custGeom>
            <a:solidFill>
              <a:schemeClr val="bg1">
                <a:lumMod val="85000"/>
              </a:schemeClr>
            </a:solidFill>
            <a:ln w="2790" cap="flat">
              <a:noFill/>
              <a:prstDash val="solid"/>
              <a:miter/>
            </a:ln>
          </p:spPr>
          <p:txBody>
            <a:bodyPr lIns="64008" tIns="32004" rIns="64008" bIns="32004" rtlCol="0" anchor="ctr"/>
            <a:lstStyle/>
            <a:p>
              <a:endParaRPr lang="en-US" sz="1000"/>
            </a:p>
          </p:txBody>
        </p:sp>
        <p:sp>
          <p:nvSpPr>
            <p:cNvPr id="330" name="Freeform: Shape 329">
              <a:extLst>
                <a:ext uri="{FF2B5EF4-FFF2-40B4-BE49-F238E27FC236}">
                  <a16:creationId xmlns:a16="http://schemas.microsoft.com/office/drawing/2014/main" id="{E3B1C42B-19DF-4FA3-AA37-CB78A9F3CA33}"/>
                </a:ext>
              </a:extLst>
            </p:cNvPr>
            <p:cNvSpPr/>
            <p:nvPr/>
          </p:nvSpPr>
          <p:spPr>
            <a:xfrm>
              <a:off x="4999482" y="3970594"/>
              <a:ext cx="631101" cy="692462"/>
            </a:xfrm>
            <a:custGeom>
              <a:avLst/>
              <a:gdLst>
                <a:gd name="connsiteX0" fmla="*/ 701774 w 1146767"/>
                <a:gd name="connsiteY0" fmla="*/ 30035 h 1258266"/>
                <a:gd name="connsiteX1" fmla="*/ 27030 w 1146767"/>
                <a:gd name="connsiteY1" fmla="*/ 704695 h 1258266"/>
                <a:gd name="connsiteX2" fmla="*/ 30664 w 1146767"/>
                <a:gd name="connsiteY2" fmla="*/ 834775 h 1258266"/>
                <a:gd name="connsiteX3" fmla="*/ 1052212 w 1146767"/>
                <a:gd name="connsiteY3" fmla="*/ 1257967 h 1258266"/>
                <a:gd name="connsiteX4" fmla="*/ 1146767 w 1146767"/>
                <a:gd name="connsiteY4" fmla="*/ 1168499 h 1258266"/>
                <a:gd name="connsiteX5" fmla="*/ 1146767 w 1146767"/>
                <a:gd name="connsiteY5" fmla="*/ 214198 h 1258266"/>
                <a:gd name="connsiteX6" fmla="*/ 1053218 w 1146767"/>
                <a:gd name="connsiteY6" fmla="*/ 105612 h 1258266"/>
                <a:gd name="connsiteX7" fmla="*/ 844738 w 1146767"/>
                <a:gd name="connsiteY7" fmla="*/ 19135 h 1258266"/>
                <a:gd name="connsiteX8" fmla="*/ 701802 w 1146767"/>
                <a:gd name="connsiteY8" fmla="*/ 30007 h 125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6767" h="1258266">
                  <a:moveTo>
                    <a:pt x="701774" y="30035"/>
                  </a:moveTo>
                  <a:lnTo>
                    <a:pt x="27030" y="704695"/>
                  </a:lnTo>
                  <a:cubicBezTo>
                    <a:pt x="-9948" y="741589"/>
                    <a:pt x="-9221" y="800871"/>
                    <a:pt x="30664" y="834775"/>
                  </a:cubicBezTo>
                  <a:cubicBezTo>
                    <a:pt x="310584" y="1072798"/>
                    <a:pt x="664069" y="1226803"/>
                    <a:pt x="1052212" y="1257967"/>
                  </a:cubicBezTo>
                  <a:cubicBezTo>
                    <a:pt x="1104339" y="1262216"/>
                    <a:pt x="1146767" y="1220710"/>
                    <a:pt x="1146767" y="1168499"/>
                  </a:cubicBezTo>
                  <a:lnTo>
                    <a:pt x="1146767" y="214198"/>
                  </a:lnTo>
                  <a:cubicBezTo>
                    <a:pt x="1146767" y="161988"/>
                    <a:pt x="1104255" y="117016"/>
                    <a:pt x="1053218" y="105612"/>
                  </a:cubicBezTo>
                  <a:cubicBezTo>
                    <a:pt x="978172" y="88758"/>
                    <a:pt x="907822" y="59215"/>
                    <a:pt x="844738" y="19135"/>
                  </a:cubicBezTo>
                  <a:cubicBezTo>
                    <a:pt x="800605" y="-8788"/>
                    <a:pt x="738780" y="-6971"/>
                    <a:pt x="701802" y="30007"/>
                  </a:cubicBezTo>
                  <a:close/>
                </a:path>
              </a:pathLst>
            </a:custGeom>
            <a:solidFill>
              <a:schemeClr val="bg1">
                <a:lumMod val="85000"/>
              </a:schemeClr>
            </a:solidFill>
            <a:ln w="2790" cap="flat">
              <a:noFill/>
              <a:prstDash val="solid"/>
              <a:miter/>
            </a:ln>
          </p:spPr>
          <p:txBody>
            <a:bodyPr lIns="64008" tIns="32004" rIns="64008" bIns="32004" rtlCol="0" anchor="ctr"/>
            <a:lstStyle/>
            <a:p>
              <a:endParaRPr lang="en-US" sz="1000"/>
            </a:p>
          </p:txBody>
        </p:sp>
        <p:sp>
          <p:nvSpPr>
            <p:cNvPr id="331" name="Freeform: Shape 330">
              <a:extLst>
                <a:ext uri="{FF2B5EF4-FFF2-40B4-BE49-F238E27FC236}">
                  <a16:creationId xmlns:a16="http://schemas.microsoft.com/office/drawing/2014/main" id="{0A037299-1874-4A55-B265-04CBE156E46F}"/>
                </a:ext>
              </a:extLst>
            </p:cNvPr>
            <p:cNvSpPr/>
            <p:nvPr/>
          </p:nvSpPr>
          <p:spPr>
            <a:xfrm>
              <a:off x="5687833" y="3970632"/>
              <a:ext cx="631075" cy="692439"/>
            </a:xfrm>
            <a:custGeom>
              <a:avLst/>
              <a:gdLst>
                <a:gd name="connsiteX0" fmla="*/ 0 w 1146720"/>
                <a:gd name="connsiteY0" fmla="*/ 214157 h 1258224"/>
                <a:gd name="connsiteX1" fmla="*/ 0 w 1146720"/>
                <a:gd name="connsiteY1" fmla="*/ 1168457 h 1258224"/>
                <a:gd name="connsiteX2" fmla="*/ 94555 w 1146720"/>
                <a:gd name="connsiteY2" fmla="*/ 1257925 h 1258224"/>
                <a:gd name="connsiteX3" fmla="*/ 1116104 w 1146720"/>
                <a:gd name="connsiteY3" fmla="*/ 834733 h 1258224"/>
                <a:gd name="connsiteX4" fmla="*/ 1119709 w 1146720"/>
                <a:gd name="connsiteY4" fmla="*/ 704653 h 1258224"/>
                <a:gd name="connsiteX5" fmla="*/ 444966 w 1146720"/>
                <a:gd name="connsiteY5" fmla="*/ 29993 h 1258224"/>
                <a:gd name="connsiteX6" fmla="*/ 302029 w 1146720"/>
                <a:gd name="connsiteY6" fmla="*/ 19205 h 1258224"/>
                <a:gd name="connsiteX7" fmla="*/ 93549 w 1146720"/>
                <a:gd name="connsiteY7" fmla="*/ 105598 h 1258224"/>
                <a:gd name="connsiteX8" fmla="*/ 0 w 1146720"/>
                <a:gd name="connsiteY8" fmla="*/ 214184 h 1258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6720" h="1258224">
                  <a:moveTo>
                    <a:pt x="0" y="214157"/>
                  </a:moveTo>
                  <a:lnTo>
                    <a:pt x="0" y="1168457"/>
                  </a:lnTo>
                  <a:cubicBezTo>
                    <a:pt x="0" y="1220668"/>
                    <a:pt x="42428" y="1262174"/>
                    <a:pt x="94555" y="1257925"/>
                  </a:cubicBezTo>
                  <a:cubicBezTo>
                    <a:pt x="482670" y="1226761"/>
                    <a:pt x="836184" y="1072756"/>
                    <a:pt x="1116104" y="834733"/>
                  </a:cubicBezTo>
                  <a:cubicBezTo>
                    <a:pt x="1155989" y="800829"/>
                    <a:pt x="1156604" y="741547"/>
                    <a:pt x="1119709" y="704653"/>
                  </a:cubicBezTo>
                  <a:lnTo>
                    <a:pt x="444966" y="29993"/>
                  </a:lnTo>
                  <a:cubicBezTo>
                    <a:pt x="408072" y="-6985"/>
                    <a:pt x="346162" y="-8802"/>
                    <a:pt x="302029" y="19205"/>
                  </a:cubicBezTo>
                  <a:cubicBezTo>
                    <a:pt x="238945" y="59173"/>
                    <a:pt x="168595" y="88744"/>
                    <a:pt x="93549" y="105598"/>
                  </a:cubicBezTo>
                  <a:cubicBezTo>
                    <a:pt x="42512" y="117002"/>
                    <a:pt x="0" y="161974"/>
                    <a:pt x="0" y="214184"/>
                  </a:cubicBezTo>
                  <a:close/>
                </a:path>
              </a:pathLst>
            </a:custGeom>
            <a:solidFill>
              <a:schemeClr val="bg1">
                <a:lumMod val="85000"/>
              </a:schemeClr>
            </a:solidFill>
            <a:ln w="2790" cap="flat">
              <a:noFill/>
              <a:prstDash val="solid"/>
              <a:miter/>
            </a:ln>
          </p:spPr>
          <p:txBody>
            <a:bodyPr lIns="64008" tIns="32004" rIns="64008" bIns="32004" rtlCol="0" anchor="ctr"/>
            <a:lstStyle/>
            <a:p>
              <a:endParaRPr lang="en-US" sz="1000"/>
            </a:p>
          </p:txBody>
        </p:sp>
        <p:sp>
          <p:nvSpPr>
            <p:cNvPr id="332" name="Freeform: Shape 331">
              <a:extLst>
                <a:ext uri="{FF2B5EF4-FFF2-40B4-BE49-F238E27FC236}">
                  <a16:creationId xmlns:a16="http://schemas.microsoft.com/office/drawing/2014/main" id="{C7F96E58-7005-49EB-8A10-B647FF8167AB}"/>
                </a:ext>
              </a:extLst>
            </p:cNvPr>
            <p:cNvSpPr/>
            <p:nvPr/>
          </p:nvSpPr>
          <p:spPr>
            <a:xfrm>
              <a:off x="5956752" y="3701682"/>
              <a:ext cx="692433" cy="631073"/>
            </a:xfrm>
            <a:custGeom>
              <a:avLst/>
              <a:gdLst>
                <a:gd name="connsiteX0" fmla="*/ 29993 w 1258214"/>
                <a:gd name="connsiteY0" fmla="*/ 444966 h 1146716"/>
                <a:gd name="connsiteX1" fmla="*/ 704653 w 1258214"/>
                <a:gd name="connsiteY1" fmla="*/ 1119709 h 1146716"/>
                <a:gd name="connsiteX2" fmla="*/ 834733 w 1258214"/>
                <a:gd name="connsiteY2" fmla="*/ 1116160 h 1146716"/>
                <a:gd name="connsiteX3" fmla="*/ 1257925 w 1258214"/>
                <a:gd name="connsiteY3" fmla="*/ 94444 h 1146716"/>
                <a:gd name="connsiteX4" fmla="*/ 1168457 w 1258214"/>
                <a:gd name="connsiteY4" fmla="*/ 0 h 1146716"/>
                <a:gd name="connsiteX5" fmla="*/ 214268 w 1258214"/>
                <a:gd name="connsiteY5" fmla="*/ 0 h 1146716"/>
                <a:gd name="connsiteX6" fmla="*/ 105598 w 1258214"/>
                <a:gd name="connsiteY6" fmla="*/ 93549 h 1146716"/>
                <a:gd name="connsiteX7" fmla="*/ 19205 w 1258214"/>
                <a:gd name="connsiteY7" fmla="*/ 302029 h 1146716"/>
                <a:gd name="connsiteX8" fmla="*/ 29993 w 1258214"/>
                <a:gd name="connsiteY8" fmla="*/ 444966 h 1146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8214" h="1146716">
                  <a:moveTo>
                    <a:pt x="29993" y="444966"/>
                  </a:moveTo>
                  <a:lnTo>
                    <a:pt x="704653" y="1119709"/>
                  </a:lnTo>
                  <a:cubicBezTo>
                    <a:pt x="741547" y="1156604"/>
                    <a:pt x="800829" y="1155961"/>
                    <a:pt x="834733" y="1116160"/>
                  </a:cubicBezTo>
                  <a:cubicBezTo>
                    <a:pt x="1072756" y="836156"/>
                    <a:pt x="1226761" y="482754"/>
                    <a:pt x="1257925" y="94444"/>
                  </a:cubicBezTo>
                  <a:cubicBezTo>
                    <a:pt x="1262090" y="42428"/>
                    <a:pt x="1220668" y="0"/>
                    <a:pt x="1168457" y="0"/>
                  </a:cubicBezTo>
                  <a:lnTo>
                    <a:pt x="214268" y="0"/>
                  </a:lnTo>
                  <a:cubicBezTo>
                    <a:pt x="161974" y="0"/>
                    <a:pt x="117002" y="42596"/>
                    <a:pt x="105598" y="93549"/>
                  </a:cubicBezTo>
                  <a:cubicBezTo>
                    <a:pt x="88744" y="168595"/>
                    <a:pt x="59201" y="238945"/>
                    <a:pt x="19205" y="302029"/>
                  </a:cubicBezTo>
                  <a:cubicBezTo>
                    <a:pt x="-8802" y="346162"/>
                    <a:pt x="-6985" y="408072"/>
                    <a:pt x="29993" y="444966"/>
                  </a:cubicBezTo>
                  <a:close/>
                </a:path>
              </a:pathLst>
            </a:custGeom>
            <a:solidFill>
              <a:schemeClr val="bg1">
                <a:lumMod val="85000"/>
              </a:schemeClr>
            </a:solidFill>
            <a:ln w="2790" cap="flat">
              <a:noFill/>
              <a:prstDash val="solid"/>
              <a:miter/>
            </a:ln>
          </p:spPr>
          <p:txBody>
            <a:bodyPr lIns="64008" tIns="32004" rIns="64008" bIns="32004" rtlCol="0" anchor="ctr"/>
            <a:lstStyle/>
            <a:p>
              <a:endParaRPr lang="en-US" sz="1000"/>
            </a:p>
          </p:txBody>
        </p:sp>
        <p:sp>
          <p:nvSpPr>
            <p:cNvPr id="333" name="Freeform: Shape 332">
              <a:extLst>
                <a:ext uri="{FF2B5EF4-FFF2-40B4-BE49-F238E27FC236}">
                  <a16:creationId xmlns:a16="http://schemas.microsoft.com/office/drawing/2014/main" id="{95120F33-E7C2-435D-AD8C-475C13F936FF}"/>
                </a:ext>
              </a:extLst>
            </p:cNvPr>
            <p:cNvSpPr/>
            <p:nvPr/>
          </p:nvSpPr>
          <p:spPr>
            <a:xfrm>
              <a:off x="5956767" y="3013359"/>
              <a:ext cx="692433" cy="631073"/>
            </a:xfrm>
            <a:custGeom>
              <a:avLst/>
              <a:gdLst>
                <a:gd name="connsiteX0" fmla="*/ 214268 w 1258214"/>
                <a:gd name="connsiteY0" fmla="*/ 1146717 h 1146716"/>
                <a:gd name="connsiteX1" fmla="*/ 1168457 w 1258214"/>
                <a:gd name="connsiteY1" fmla="*/ 1146717 h 1146716"/>
                <a:gd name="connsiteX2" fmla="*/ 1257925 w 1258214"/>
                <a:gd name="connsiteY2" fmla="*/ 1052273 h 1146716"/>
                <a:gd name="connsiteX3" fmla="*/ 834733 w 1258214"/>
                <a:gd name="connsiteY3" fmla="*/ 30557 h 1146716"/>
                <a:gd name="connsiteX4" fmla="*/ 704653 w 1258214"/>
                <a:gd name="connsiteY4" fmla="*/ 27007 h 1146716"/>
                <a:gd name="connsiteX5" fmla="*/ 29993 w 1258214"/>
                <a:gd name="connsiteY5" fmla="*/ 701751 h 1146716"/>
                <a:gd name="connsiteX6" fmla="*/ 19205 w 1258214"/>
                <a:gd name="connsiteY6" fmla="*/ 844688 h 1146716"/>
                <a:gd name="connsiteX7" fmla="*/ 105598 w 1258214"/>
                <a:gd name="connsiteY7" fmla="*/ 1053168 h 1146716"/>
                <a:gd name="connsiteX8" fmla="*/ 214268 w 1258214"/>
                <a:gd name="connsiteY8" fmla="*/ 1146717 h 1146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8214" h="1146716">
                  <a:moveTo>
                    <a:pt x="214268" y="1146717"/>
                  </a:moveTo>
                  <a:lnTo>
                    <a:pt x="1168457" y="1146717"/>
                  </a:lnTo>
                  <a:cubicBezTo>
                    <a:pt x="1220668" y="1146717"/>
                    <a:pt x="1262090" y="1104288"/>
                    <a:pt x="1257925" y="1052273"/>
                  </a:cubicBezTo>
                  <a:cubicBezTo>
                    <a:pt x="1226761" y="663962"/>
                    <a:pt x="1072756" y="310533"/>
                    <a:pt x="834733" y="30557"/>
                  </a:cubicBezTo>
                  <a:cubicBezTo>
                    <a:pt x="800829" y="-9244"/>
                    <a:pt x="741631" y="-9887"/>
                    <a:pt x="704653" y="27007"/>
                  </a:cubicBezTo>
                  <a:lnTo>
                    <a:pt x="29993" y="701751"/>
                  </a:lnTo>
                  <a:cubicBezTo>
                    <a:pt x="-6985" y="738645"/>
                    <a:pt x="-8802" y="800555"/>
                    <a:pt x="19205" y="844688"/>
                  </a:cubicBezTo>
                  <a:cubicBezTo>
                    <a:pt x="59173" y="907771"/>
                    <a:pt x="88744" y="978122"/>
                    <a:pt x="105598" y="1053168"/>
                  </a:cubicBezTo>
                  <a:cubicBezTo>
                    <a:pt x="117002" y="1104121"/>
                    <a:pt x="161974" y="1146717"/>
                    <a:pt x="214268" y="1146717"/>
                  </a:cubicBezTo>
                  <a:close/>
                </a:path>
              </a:pathLst>
            </a:custGeom>
            <a:solidFill>
              <a:schemeClr val="tx2">
                <a:lumMod val="20000"/>
                <a:lumOff val="80000"/>
              </a:schemeClr>
            </a:solidFill>
            <a:ln w="2790" cap="flat">
              <a:noFill/>
              <a:prstDash val="solid"/>
              <a:miter/>
            </a:ln>
          </p:spPr>
          <p:txBody>
            <a:bodyPr lIns="64008" tIns="32004" rIns="64008" bIns="32004" rtlCol="0" anchor="ctr"/>
            <a:lstStyle/>
            <a:p>
              <a:endParaRPr lang="en-US" sz="1000"/>
            </a:p>
          </p:txBody>
        </p:sp>
        <p:sp>
          <p:nvSpPr>
            <p:cNvPr id="334" name="Freeform: Shape 333">
              <a:extLst>
                <a:ext uri="{FF2B5EF4-FFF2-40B4-BE49-F238E27FC236}">
                  <a16:creationId xmlns:a16="http://schemas.microsoft.com/office/drawing/2014/main" id="{6337D39E-560D-4099-BD38-CA6D1E303B5A}"/>
                </a:ext>
              </a:extLst>
            </p:cNvPr>
            <p:cNvSpPr/>
            <p:nvPr/>
          </p:nvSpPr>
          <p:spPr>
            <a:xfrm>
              <a:off x="5687818" y="2683058"/>
              <a:ext cx="631102" cy="692447"/>
            </a:xfrm>
            <a:custGeom>
              <a:avLst/>
              <a:gdLst>
                <a:gd name="connsiteX0" fmla="*/ 444994 w 1146770"/>
                <a:gd name="connsiteY0" fmla="*/ 1228232 h 1258238"/>
                <a:gd name="connsiteX1" fmla="*/ 1119737 w 1146770"/>
                <a:gd name="connsiteY1" fmla="*/ 553572 h 1258238"/>
                <a:gd name="connsiteX2" fmla="*/ 1116132 w 1146770"/>
                <a:gd name="connsiteY2" fmla="*/ 423492 h 1258238"/>
                <a:gd name="connsiteX3" fmla="*/ 94555 w 1146770"/>
                <a:gd name="connsiteY3" fmla="*/ 299 h 1258238"/>
                <a:gd name="connsiteX4" fmla="*/ 0 w 1146770"/>
                <a:gd name="connsiteY4" fmla="*/ 89768 h 1258238"/>
                <a:gd name="connsiteX5" fmla="*/ 0 w 1146770"/>
                <a:gd name="connsiteY5" fmla="*/ 1044040 h 1258238"/>
                <a:gd name="connsiteX6" fmla="*/ 93549 w 1146770"/>
                <a:gd name="connsiteY6" fmla="*/ 1152627 h 1258238"/>
                <a:gd name="connsiteX7" fmla="*/ 302029 w 1146770"/>
                <a:gd name="connsiteY7" fmla="*/ 1239104 h 1258238"/>
                <a:gd name="connsiteX8" fmla="*/ 444966 w 1146770"/>
                <a:gd name="connsiteY8" fmla="*/ 1228232 h 1258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6770" h="1258238">
                  <a:moveTo>
                    <a:pt x="444994" y="1228232"/>
                  </a:moveTo>
                  <a:lnTo>
                    <a:pt x="1119737" y="553572"/>
                  </a:lnTo>
                  <a:cubicBezTo>
                    <a:pt x="1156715" y="516678"/>
                    <a:pt x="1155989" y="457396"/>
                    <a:pt x="1116132" y="423492"/>
                  </a:cubicBezTo>
                  <a:cubicBezTo>
                    <a:pt x="836212" y="185469"/>
                    <a:pt x="482698" y="31464"/>
                    <a:pt x="94555" y="299"/>
                  </a:cubicBezTo>
                  <a:cubicBezTo>
                    <a:pt x="42428" y="-3949"/>
                    <a:pt x="0" y="37557"/>
                    <a:pt x="0" y="89768"/>
                  </a:cubicBezTo>
                  <a:lnTo>
                    <a:pt x="0" y="1044040"/>
                  </a:lnTo>
                  <a:cubicBezTo>
                    <a:pt x="0" y="1096251"/>
                    <a:pt x="42512" y="1141223"/>
                    <a:pt x="93549" y="1152627"/>
                  </a:cubicBezTo>
                  <a:cubicBezTo>
                    <a:pt x="168679" y="1169481"/>
                    <a:pt x="238946" y="1199024"/>
                    <a:pt x="302029" y="1239104"/>
                  </a:cubicBezTo>
                  <a:cubicBezTo>
                    <a:pt x="346162" y="1267026"/>
                    <a:pt x="408072" y="1265210"/>
                    <a:pt x="444966" y="1228232"/>
                  </a:cubicBezTo>
                  <a:close/>
                </a:path>
              </a:pathLst>
            </a:custGeom>
            <a:solidFill>
              <a:schemeClr val="tx2">
                <a:lumMod val="20000"/>
                <a:lumOff val="80000"/>
              </a:schemeClr>
            </a:solidFill>
            <a:ln w="2790" cap="flat">
              <a:noFill/>
              <a:prstDash val="solid"/>
              <a:miter/>
            </a:ln>
          </p:spPr>
          <p:txBody>
            <a:bodyPr lIns="64008" tIns="32004" rIns="64008" bIns="32004" rtlCol="0" anchor="ctr"/>
            <a:lstStyle/>
            <a:p>
              <a:endParaRPr lang="en-US" sz="1000"/>
            </a:p>
          </p:txBody>
        </p:sp>
        <p:sp>
          <p:nvSpPr>
            <p:cNvPr id="335" name="Freeform: Shape 334">
              <a:extLst>
                <a:ext uri="{FF2B5EF4-FFF2-40B4-BE49-F238E27FC236}">
                  <a16:creationId xmlns:a16="http://schemas.microsoft.com/office/drawing/2014/main" id="{D4710A72-AEB2-4662-9548-EA97C257F8B5}"/>
                </a:ext>
              </a:extLst>
            </p:cNvPr>
            <p:cNvSpPr/>
            <p:nvPr/>
          </p:nvSpPr>
          <p:spPr>
            <a:xfrm>
              <a:off x="4999482" y="2683043"/>
              <a:ext cx="631085" cy="692455"/>
            </a:xfrm>
            <a:custGeom>
              <a:avLst/>
              <a:gdLst>
                <a:gd name="connsiteX0" fmla="*/ 1146739 w 1146739"/>
                <a:gd name="connsiteY0" fmla="*/ 1044068 h 1258252"/>
                <a:gd name="connsiteX1" fmla="*/ 1146739 w 1146739"/>
                <a:gd name="connsiteY1" fmla="*/ 89768 h 1258252"/>
                <a:gd name="connsiteX2" fmla="*/ 1052184 w 1146739"/>
                <a:gd name="connsiteY2" fmla="*/ 299 h 1258252"/>
                <a:gd name="connsiteX3" fmla="*/ 30664 w 1146739"/>
                <a:gd name="connsiteY3" fmla="*/ 423520 h 1258252"/>
                <a:gd name="connsiteX4" fmla="*/ 27030 w 1146739"/>
                <a:gd name="connsiteY4" fmla="*/ 553600 h 1258252"/>
                <a:gd name="connsiteX5" fmla="*/ 701774 w 1146739"/>
                <a:gd name="connsiteY5" fmla="*/ 1228260 h 1258252"/>
                <a:gd name="connsiteX6" fmla="*/ 844794 w 1146739"/>
                <a:gd name="connsiteY6" fmla="*/ 1239048 h 1258252"/>
                <a:gd name="connsiteX7" fmla="*/ 1053190 w 1146739"/>
                <a:gd name="connsiteY7" fmla="*/ 1152655 h 1258252"/>
                <a:gd name="connsiteX8" fmla="*/ 1146739 w 1146739"/>
                <a:gd name="connsiteY8" fmla="*/ 1044068 h 125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6739" h="1258252">
                  <a:moveTo>
                    <a:pt x="1146739" y="1044068"/>
                  </a:moveTo>
                  <a:lnTo>
                    <a:pt x="1146739" y="89768"/>
                  </a:lnTo>
                  <a:cubicBezTo>
                    <a:pt x="1146739" y="37557"/>
                    <a:pt x="1104311" y="-3949"/>
                    <a:pt x="1052184" y="299"/>
                  </a:cubicBezTo>
                  <a:cubicBezTo>
                    <a:pt x="664069" y="31492"/>
                    <a:pt x="310556" y="185497"/>
                    <a:pt x="30664" y="423520"/>
                  </a:cubicBezTo>
                  <a:cubicBezTo>
                    <a:pt x="-9221" y="457423"/>
                    <a:pt x="-9948" y="516706"/>
                    <a:pt x="27030" y="553600"/>
                  </a:cubicBezTo>
                  <a:lnTo>
                    <a:pt x="701774" y="1228260"/>
                  </a:lnTo>
                  <a:cubicBezTo>
                    <a:pt x="738752" y="1265238"/>
                    <a:pt x="800577" y="1267054"/>
                    <a:pt x="844794" y="1239048"/>
                  </a:cubicBezTo>
                  <a:cubicBezTo>
                    <a:pt x="907794" y="1199080"/>
                    <a:pt x="978116" y="1169536"/>
                    <a:pt x="1053190" y="1152655"/>
                  </a:cubicBezTo>
                  <a:cubicBezTo>
                    <a:pt x="1104227" y="1141251"/>
                    <a:pt x="1146739" y="1096279"/>
                    <a:pt x="1146739" y="1044068"/>
                  </a:cubicBezTo>
                  <a:close/>
                </a:path>
              </a:pathLst>
            </a:custGeom>
            <a:solidFill>
              <a:schemeClr val="tx2">
                <a:lumMod val="20000"/>
                <a:lumOff val="80000"/>
              </a:schemeClr>
            </a:solidFill>
            <a:ln w="2790" cap="flat">
              <a:noFill/>
              <a:prstDash val="solid"/>
              <a:miter/>
            </a:ln>
          </p:spPr>
          <p:txBody>
            <a:bodyPr lIns="64008" tIns="32004" rIns="64008" bIns="32004" rtlCol="0" anchor="ctr"/>
            <a:lstStyle/>
            <a:p>
              <a:endParaRPr lang="en-US" sz="1000"/>
            </a:p>
          </p:txBody>
        </p:sp>
        <p:sp>
          <p:nvSpPr>
            <p:cNvPr id="336" name="Freeform: Shape 335">
              <a:extLst>
                <a:ext uri="{FF2B5EF4-FFF2-40B4-BE49-F238E27FC236}">
                  <a16:creationId xmlns:a16="http://schemas.microsoft.com/office/drawing/2014/main" id="{AAE29940-356E-4565-9899-DA57C5A4AD84}"/>
                </a:ext>
              </a:extLst>
            </p:cNvPr>
            <p:cNvSpPr/>
            <p:nvPr/>
          </p:nvSpPr>
          <p:spPr>
            <a:xfrm>
              <a:off x="4669200" y="3013343"/>
              <a:ext cx="692460" cy="631073"/>
            </a:xfrm>
            <a:custGeom>
              <a:avLst/>
              <a:gdLst>
                <a:gd name="connsiteX0" fmla="*/ 1228333 w 1258263"/>
                <a:gd name="connsiteY0" fmla="*/ 701751 h 1146716"/>
                <a:gd name="connsiteX1" fmla="*/ 553589 w 1258263"/>
                <a:gd name="connsiteY1" fmla="*/ 27007 h 1146716"/>
                <a:gd name="connsiteX2" fmla="*/ 423509 w 1258263"/>
                <a:gd name="connsiteY2" fmla="*/ 30557 h 1146716"/>
                <a:gd name="connsiteX3" fmla="*/ 289 w 1258263"/>
                <a:gd name="connsiteY3" fmla="*/ 1052273 h 1146716"/>
                <a:gd name="connsiteX4" fmla="*/ 89757 w 1258263"/>
                <a:gd name="connsiteY4" fmla="*/ 1146717 h 1146716"/>
                <a:gd name="connsiteX5" fmla="*/ 1043946 w 1258263"/>
                <a:gd name="connsiteY5" fmla="*/ 1146717 h 1146716"/>
                <a:gd name="connsiteX6" fmla="*/ 1152728 w 1258263"/>
                <a:gd name="connsiteY6" fmla="*/ 1053168 h 1146716"/>
                <a:gd name="connsiteX7" fmla="*/ 1239121 w 1258263"/>
                <a:gd name="connsiteY7" fmla="*/ 844688 h 1146716"/>
                <a:gd name="connsiteX8" fmla="*/ 1228333 w 1258263"/>
                <a:gd name="connsiteY8" fmla="*/ 701751 h 1146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8263" h="1146716">
                  <a:moveTo>
                    <a:pt x="1228333" y="701751"/>
                  </a:moveTo>
                  <a:lnTo>
                    <a:pt x="553589" y="27007"/>
                  </a:lnTo>
                  <a:cubicBezTo>
                    <a:pt x="516611" y="-9887"/>
                    <a:pt x="457413" y="-9244"/>
                    <a:pt x="423509" y="30557"/>
                  </a:cubicBezTo>
                  <a:cubicBezTo>
                    <a:pt x="185486" y="310561"/>
                    <a:pt x="31481" y="663962"/>
                    <a:pt x="289" y="1052273"/>
                  </a:cubicBezTo>
                  <a:cubicBezTo>
                    <a:pt x="-3876" y="1104288"/>
                    <a:pt x="37546" y="1146717"/>
                    <a:pt x="89757" y="1146717"/>
                  </a:cubicBezTo>
                  <a:lnTo>
                    <a:pt x="1043946" y="1146717"/>
                  </a:lnTo>
                  <a:cubicBezTo>
                    <a:pt x="1096241" y="1146717"/>
                    <a:pt x="1141212" y="1104121"/>
                    <a:pt x="1152728" y="1053168"/>
                  </a:cubicBezTo>
                  <a:cubicBezTo>
                    <a:pt x="1169498" y="978122"/>
                    <a:pt x="1199041" y="907771"/>
                    <a:pt x="1239121" y="844688"/>
                  </a:cubicBezTo>
                  <a:cubicBezTo>
                    <a:pt x="1267044" y="800555"/>
                    <a:pt x="1265227" y="738645"/>
                    <a:pt x="1228333" y="701751"/>
                  </a:cubicBezTo>
                  <a:close/>
                </a:path>
              </a:pathLst>
            </a:custGeom>
            <a:solidFill>
              <a:schemeClr val="tx2">
                <a:lumMod val="20000"/>
                <a:lumOff val="80000"/>
              </a:schemeClr>
            </a:solidFill>
            <a:ln w="2790" cap="flat">
              <a:noFill/>
              <a:prstDash val="solid"/>
              <a:miter/>
            </a:ln>
          </p:spPr>
          <p:txBody>
            <a:bodyPr lIns="64008" tIns="32004" rIns="64008" bIns="32004" rtlCol="0" anchor="ctr"/>
            <a:lstStyle/>
            <a:p>
              <a:endParaRPr lang="en-US" sz="1000"/>
            </a:p>
          </p:txBody>
        </p:sp>
      </p:grpSp>
      <p:sp>
        <p:nvSpPr>
          <p:cNvPr id="337" name="TextBox 336">
            <a:extLst>
              <a:ext uri="{FF2B5EF4-FFF2-40B4-BE49-F238E27FC236}">
                <a16:creationId xmlns:a16="http://schemas.microsoft.com/office/drawing/2014/main" id="{F18002B5-7B41-4B9E-95D0-D748D59569B7}"/>
              </a:ext>
            </a:extLst>
          </p:cNvPr>
          <p:cNvSpPr txBox="1"/>
          <p:nvPr/>
        </p:nvSpPr>
        <p:spPr>
          <a:xfrm>
            <a:off x="4247474" y="2033568"/>
            <a:ext cx="936000" cy="307777"/>
          </a:xfrm>
          <a:prstGeom prst="rect">
            <a:avLst/>
          </a:prstGeom>
          <a:noFill/>
        </p:spPr>
        <p:txBody>
          <a:bodyPr vert="horz" wrap="square" lIns="0" tIns="0" rIns="0" bIns="0" rtlCol="0" anchor="b" anchorCtr="0">
            <a:noAutofit/>
          </a:bodyPr>
          <a:lstStyle/>
          <a:p>
            <a:pPr algn="r">
              <a:buClr>
                <a:srgbClr val="29BA74">
                  <a:lumMod val="100000"/>
                </a:srgbClr>
              </a:buClr>
              <a:buSzPct val="100000"/>
              <a:buFont typeface="Trebuchet MS" panose="020B0603020202020204" pitchFamily="34" charset="0"/>
              <a:buChar char="​"/>
            </a:pPr>
            <a:r>
              <a:rPr lang="en-US" sz="1000" b="1">
                <a:solidFill>
                  <a:schemeClr val="tx2"/>
                </a:solidFill>
                <a:latin typeface="Trebuchet MS" panose="020B0603020202020204" pitchFamily="34" charset="0"/>
                <a:sym typeface="+mn-lt"/>
              </a:rPr>
              <a:t>Squad Lead </a:t>
            </a:r>
            <a:r>
              <a:rPr lang="en-US" sz="1000">
                <a:solidFill>
                  <a:schemeClr val="tx2"/>
                </a:solidFill>
                <a:latin typeface="Trebuchet MS" panose="020B0603020202020204" pitchFamily="34" charset="0"/>
                <a:sym typeface="+mn-lt"/>
              </a:rPr>
              <a:t>(</a:t>
            </a:r>
            <a:r>
              <a:rPr lang="en-US" sz="1000" err="1">
                <a:solidFill>
                  <a:schemeClr val="tx2"/>
                </a:solidFill>
                <a:latin typeface="Trebuchet MS" panose="020B0603020202020204" pitchFamily="34" charset="0"/>
                <a:sym typeface="+mn-lt"/>
              </a:rPr>
              <a:t>CLM</a:t>
            </a:r>
            <a:r>
              <a:rPr lang="en-US" sz="1000">
                <a:solidFill>
                  <a:schemeClr val="tx2"/>
                </a:solidFill>
                <a:latin typeface="Trebuchet MS" panose="020B0603020202020204" pitchFamily="34" charset="0"/>
                <a:sym typeface="+mn-lt"/>
              </a:rPr>
              <a:t>)</a:t>
            </a:r>
          </a:p>
        </p:txBody>
      </p:sp>
      <p:sp>
        <p:nvSpPr>
          <p:cNvPr id="338" name="TextBox 337">
            <a:extLst>
              <a:ext uri="{FF2B5EF4-FFF2-40B4-BE49-F238E27FC236}">
                <a16:creationId xmlns:a16="http://schemas.microsoft.com/office/drawing/2014/main" id="{DE2CDCD3-3B96-4DFD-9464-B52BFCD544C8}"/>
              </a:ext>
            </a:extLst>
          </p:cNvPr>
          <p:cNvSpPr txBox="1"/>
          <p:nvPr/>
        </p:nvSpPr>
        <p:spPr>
          <a:xfrm>
            <a:off x="5372474" y="2033568"/>
            <a:ext cx="720000" cy="307777"/>
          </a:xfrm>
          <a:prstGeom prst="rect">
            <a:avLst/>
          </a:prstGeom>
          <a:noFill/>
        </p:spPr>
        <p:txBody>
          <a:bodyPr vert="horz" wrap="square" lIns="0" tIns="0" rIns="0" bIns="0" rtlCol="0" anchor="t" anchorCtr="0">
            <a:noAutofit/>
          </a:bodyPr>
          <a:lstStyle/>
          <a:p>
            <a:pPr>
              <a:buSzPct val="100000"/>
            </a:pPr>
            <a:r>
              <a:rPr lang="en-US" sz="1000" b="1">
                <a:sym typeface="+mn-lt"/>
              </a:rPr>
              <a:t>Data Scientist</a:t>
            </a:r>
          </a:p>
        </p:txBody>
      </p:sp>
      <p:sp>
        <p:nvSpPr>
          <p:cNvPr id="339" name="TextBox 338">
            <a:extLst>
              <a:ext uri="{FF2B5EF4-FFF2-40B4-BE49-F238E27FC236}">
                <a16:creationId xmlns:a16="http://schemas.microsoft.com/office/drawing/2014/main" id="{81114776-27C1-4D49-8F87-6BDF20B4BB91}"/>
              </a:ext>
            </a:extLst>
          </p:cNvPr>
          <p:cNvSpPr txBox="1"/>
          <p:nvPr/>
        </p:nvSpPr>
        <p:spPr>
          <a:xfrm>
            <a:off x="6048093" y="2701316"/>
            <a:ext cx="720000" cy="307777"/>
          </a:xfrm>
          <a:prstGeom prst="rect">
            <a:avLst/>
          </a:prstGeom>
          <a:noFill/>
        </p:spPr>
        <p:txBody>
          <a:bodyPr vert="horz" wrap="square" lIns="0" tIns="0" rIns="0" bIns="0" rtlCol="0" anchor="t" anchorCtr="0">
            <a:noAutofit/>
          </a:bodyPr>
          <a:lstStyle/>
          <a:p>
            <a:pPr>
              <a:buClr>
                <a:srgbClr val="29BA74">
                  <a:lumMod val="100000"/>
                </a:srgbClr>
              </a:buClr>
              <a:buSzPct val="100000"/>
              <a:buFont typeface="Trebuchet MS" panose="020B0603020202020204" pitchFamily="34" charset="0"/>
              <a:buChar char="​"/>
            </a:pPr>
            <a:r>
              <a:rPr lang="en-US" sz="1000" b="1">
                <a:sym typeface="+mn-lt"/>
              </a:rPr>
              <a:t>Business Analyst</a:t>
            </a:r>
          </a:p>
        </p:txBody>
      </p:sp>
      <p:sp>
        <p:nvSpPr>
          <p:cNvPr id="340" name="TextBox 339">
            <a:extLst>
              <a:ext uri="{FF2B5EF4-FFF2-40B4-BE49-F238E27FC236}">
                <a16:creationId xmlns:a16="http://schemas.microsoft.com/office/drawing/2014/main" id="{04E264F2-6838-42BD-AECA-1319CA536F2A}"/>
              </a:ext>
            </a:extLst>
          </p:cNvPr>
          <p:cNvSpPr txBox="1"/>
          <p:nvPr/>
        </p:nvSpPr>
        <p:spPr>
          <a:xfrm>
            <a:off x="3787855" y="3237988"/>
            <a:ext cx="720000" cy="307777"/>
          </a:xfrm>
          <a:prstGeom prst="rect">
            <a:avLst/>
          </a:prstGeom>
          <a:noFill/>
        </p:spPr>
        <p:txBody>
          <a:bodyPr vert="horz" wrap="square" lIns="0" tIns="0" rIns="0" bIns="0" rtlCol="0" anchor="t" anchorCtr="0">
            <a:noAutofit/>
          </a:bodyPr>
          <a:lstStyle/>
          <a:p>
            <a:pPr algn="r">
              <a:buClr>
                <a:srgbClr val="29BA74">
                  <a:lumMod val="100000"/>
                </a:srgbClr>
              </a:buClr>
              <a:buSzPct val="100000"/>
              <a:buFont typeface="Trebuchet MS" panose="020B0603020202020204" pitchFamily="34" charset="0"/>
              <a:buChar char="​"/>
            </a:pPr>
            <a:r>
              <a:rPr lang="en-US" sz="1000" b="1">
                <a:sym typeface="+mn-lt"/>
              </a:rPr>
              <a:t>Data Engineer</a:t>
            </a:r>
          </a:p>
        </p:txBody>
      </p:sp>
      <p:sp>
        <p:nvSpPr>
          <p:cNvPr id="341" name="TextBox 340">
            <a:extLst>
              <a:ext uri="{FF2B5EF4-FFF2-40B4-BE49-F238E27FC236}">
                <a16:creationId xmlns:a16="http://schemas.microsoft.com/office/drawing/2014/main" id="{285BF45E-00DC-4ADF-B7CA-D785FD8F8324}"/>
              </a:ext>
            </a:extLst>
          </p:cNvPr>
          <p:cNvSpPr txBox="1"/>
          <p:nvPr/>
        </p:nvSpPr>
        <p:spPr>
          <a:xfrm>
            <a:off x="3534924" y="2701316"/>
            <a:ext cx="936000" cy="307777"/>
          </a:xfrm>
          <a:prstGeom prst="rect">
            <a:avLst/>
          </a:prstGeom>
          <a:noFill/>
        </p:spPr>
        <p:txBody>
          <a:bodyPr vert="horz" wrap="square" lIns="0" tIns="0" rIns="0" bIns="0" rtlCol="0" anchor="t" anchorCtr="0">
            <a:noAutofit/>
          </a:bodyPr>
          <a:lstStyle/>
          <a:p>
            <a:pPr algn="r">
              <a:buClr>
                <a:srgbClr val="29BA74">
                  <a:lumMod val="100000"/>
                </a:srgbClr>
              </a:buClr>
              <a:buSzPct val="100000"/>
              <a:buFont typeface="Trebuchet MS" panose="020B0603020202020204" pitchFamily="34" charset="0"/>
              <a:buChar char="​"/>
            </a:pPr>
            <a:r>
              <a:rPr lang="en-US" sz="1000" b="1">
                <a:sym typeface="+mn-lt"/>
              </a:rPr>
              <a:t>Product Representative</a:t>
            </a:r>
          </a:p>
        </p:txBody>
      </p:sp>
      <p:sp>
        <p:nvSpPr>
          <p:cNvPr id="342" name="TextBox 341">
            <a:extLst>
              <a:ext uri="{FF2B5EF4-FFF2-40B4-BE49-F238E27FC236}">
                <a16:creationId xmlns:a16="http://schemas.microsoft.com/office/drawing/2014/main" id="{A94ADE51-C208-465C-9BD6-DF7599072140}"/>
              </a:ext>
            </a:extLst>
          </p:cNvPr>
          <p:cNvSpPr txBox="1"/>
          <p:nvPr/>
        </p:nvSpPr>
        <p:spPr>
          <a:xfrm>
            <a:off x="6048093" y="3237988"/>
            <a:ext cx="720000" cy="30777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buClr>
                <a:srgbClr val="29BA74">
                  <a:lumMod val="100000"/>
                </a:srgbClr>
              </a:buClr>
              <a:buSzPct val="100000"/>
              <a:buFont typeface="Trebuchet MS" panose="020B0603020202020204" pitchFamily="34" charset="0"/>
              <a:buChar char="​"/>
            </a:pPr>
            <a:r>
              <a:rPr lang="en-US" sz="1000" b="1">
                <a:solidFill>
                  <a:schemeClr val="tx1"/>
                </a:solidFill>
              </a:rPr>
              <a:t>Segment PIC</a:t>
            </a:r>
          </a:p>
        </p:txBody>
      </p:sp>
      <p:sp>
        <p:nvSpPr>
          <p:cNvPr id="343" name="TextBox 342">
            <a:extLst>
              <a:ext uri="{FF2B5EF4-FFF2-40B4-BE49-F238E27FC236}">
                <a16:creationId xmlns:a16="http://schemas.microsoft.com/office/drawing/2014/main" id="{E380EAAC-7457-4D5A-8402-0F4F99784C41}"/>
              </a:ext>
            </a:extLst>
          </p:cNvPr>
          <p:cNvSpPr txBox="1"/>
          <p:nvPr/>
        </p:nvSpPr>
        <p:spPr>
          <a:xfrm>
            <a:off x="4463474" y="3869125"/>
            <a:ext cx="720000" cy="30777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algn="r">
              <a:buClr>
                <a:srgbClr val="29BA74">
                  <a:lumMod val="100000"/>
                </a:srgbClr>
              </a:buClr>
              <a:buSzPct val="100000"/>
              <a:buFont typeface="Trebuchet MS" panose="020B0603020202020204" pitchFamily="34" charset="0"/>
              <a:buChar char="​"/>
            </a:pPr>
            <a:r>
              <a:rPr lang="en-US" sz="1000" b="1">
                <a:solidFill>
                  <a:schemeClr val="tx1"/>
                </a:solidFill>
              </a:rPr>
              <a:t>Go-to-Market PIC</a:t>
            </a:r>
          </a:p>
        </p:txBody>
      </p:sp>
      <p:sp>
        <p:nvSpPr>
          <p:cNvPr id="344" name="TextBox 343">
            <a:extLst>
              <a:ext uri="{FF2B5EF4-FFF2-40B4-BE49-F238E27FC236}">
                <a16:creationId xmlns:a16="http://schemas.microsoft.com/office/drawing/2014/main" id="{0A82FBBC-0B13-460B-BBF4-55A72AD81ABC}"/>
              </a:ext>
            </a:extLst>
          </p:cNvPr>
          <p:cNvSpPr txBox="1"/>
          <p:nvPr/>
        </p:nvSpPr>
        <p:spPr>
          <a:xfrm>
            <a:off x="5372474" y="3869125"/>
            <a:ext cx="720000" cy="30777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buClr>
                <a:srgbClr val="29BA74">
                  <a:lumMod val="100000"/>
                </a:srgbClr>
              </a:buClr>
              <a:buSzPct val="100000"/>
              <a:buFont typeface="Trebuchet MS" panose="020B0603020202020204" pitchFamily="34" charset="0"/>
              <a:buChar char="​"/>
            </a:pPr>
            <a:r>
              <a:rPr lang="en-US" sz="1000" b="1">
                <a:solidFill>
                  <a:schemeClr val="tx1"/>
                </a:solidFill>
              </a:rPr>
              <a:t>Marketing Comms PIC</a:t>
            </a:r>
          </a:p>
        </p:txBody>
      </p:sp>
      <p:sp>
        <p:nvSpPr>
          <p:cNvPr id="345" name="Oval 25">
            <a:extLst>
              <a:ext uri="{FF2B5EF4-FFF2-40B4-BE49-F238E27FC236}">
                <a16:creationId xmlns:a16="http://schemas.microsoft.com/office/drawing/2014/main" id="{FBDDFAB6-1F03-4289-8117-66062BEA5116}"/>
              </a:ext>
            </a:extLst>
          </p:cNvPr>
          <p:cNvSpPr/>
          <p:nvPr/>
        </p:nvSpPr>
        <p:spPr>
          <a:xfrm rot="5400000" flipH="1">
            <a:off x="2853522" y="5851098"/>
            <a:ext cx="360000" cy="360000"/>
          </a:xfrm>
          <a:custGeom>
            <a:avLst/>
            <a:gdLst>
              <a:gd name="connsiteX0" fmla="*/ 0 w 269758"/>
              <a:gd name="connsiteY0" fmla="*/ 134879 h 269758"/>
              <a:gd name="connsiteX1" fmla="*/ 134879 w 269758"/>
              <a:gd name="connsiteY1" fmla="*/ 0 h 269758"/>
              <a:gd name="connsiteX2" fmla="*/ 269758 w 269758"/>
              <a:gd name="connsiteY2" fmla="*/ 134879 h 269758"/>
              <a:gd name="connsiteX3" fmla="*/ 134879 w 269758"/>
              <a:gd name="connsiteY3" fmla="*/ 269758 h 269758"/>
              <a:gd name="connsiteX4" fmla="*/ 0 w 269758"/>
              <a:gd name="connsiteY4" fmla="*/ 134879 h 269758"/>
              <a:gd name="connsiteX0" fmla="*/ 269758 w 361198"/>
              <a:gd name="connsiteY0" fmla="*/ 134879 h 269758"/>
              <a:gd name="connsiteX1" fmla="*/ 134879 w 361198"/>
              <a:gd name="connsiteY1" fmla="*/ 269758 h 269758"/>
              <a:gd name="connsiteX2" fmla="*/ 0 w 361198"/>
              <a:gd name="connsiteY2" fmla="*/ 134879 h 269758"/>
              <a:gd name="connsiteX3" fmla="*/ 134879 w 361198"/>
              <a:gd name="connsiteY3" fmla="*/ 0 h 269758"/>
              <a:gd name="connsiteX4" fmla="*/ 361198 w 361198"/>
              <a:gd name="connsiteY4" fmla="*/ 226319 h 269758"/>
              <a:gd name="connsiteX0" fmla="*/ 269758 w 269758"/>
              <a:gd name="connsiteY0" fmla="*/ 134879 h 269758"/>
              <a:gd name="connsiteX1" fmla="*/ 134879 w 269758"/>
              <a:gd name="connsiteY1" fmla="*/ 269758 h 269758"/>
              <a:gd name="connsiteX2" fmla="*/ 0 w 269758"/>
              <a:gd name="connsiteY2" fmla="*/ 134879 h 269758"/>
              <a:gd name="connsiteX3" fmla="*/ 134879 w 269758"/>
              <a:gd name="connsiteY3" fmla="*/ 0 h 269758"/>
              <a:gd name="connsiteX0" fmla="*/ 134879 w 134879"/>
              <a:gd name="connsiteY0" fmla="*/ 269758 h 269758"/>
              <a:gd name="connsiteX1" fmla="*/ 0 w 134879"/>
              <a:gd name="connsiteY1" fmla="*/ 134879 h 269758"/>
              <a:gd name="connsiteX2" fmla="*/ 134879 w 134879"/>
              <a:gd name="connsiteY2" fmla="*/ 0 h 269758"/>
              <a:gd name="connsiteX0" fmla="*/ 0 w 134879"/>
              <a:gd name="connsiteY0" fmla="*/ 134879 h 134879"/>
              <a:gd name="connsiteX1" fmla="*/ 134879 w 134879"/>
              <a:gd name="connsiteY1" fmla="*/ 0 h 134879"/>
            </a:gdLst>
            <a:ahLst/>
            <a:cxnLst>
              <a:cxn ang="0">
                <a:pos x="connsiteX0" y="connsiteY0"/>
              </a:cxn>
              <a:cxn ang="0">
                <a:pos x="connsiteX1" y="connsiteY1"/>
              </a:cxn>
            </a:cxnLst>
            <a:rect l="l" t="t" r="r" b="b"/>
            <a:pathLst>
              <a:path w="134879" h="134879">
                <a:moveTo>
                  <a:pt x="0" y="134879"/>
                </a:moveTo>
                <a:cubicBezTo>
                  <a:pt x="0" y="60387"/>
                  <a:pt x="60387" y="0"/>
                  <a:pt x="134879" y="0"/>
                </a:cubicBezTo>
              </a:path>
            </a:pathLst>
          </a:custGeom>
          <a:ln w="25400" cap="rnd">
            <a:solidFill>
              <a:schemeClr val="bg1">
                <a:lumMod val="85000"/>
              </a:schemeClr>
            </a:solidFill>
            <a:prstDash val="solid"/>
            <a:round/>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cxnSp>
        <p:nvCxnSpPr>
          <p:cNvPr id="346" name="Straight Connector 345">
            <a:extLst>
              <a:ext uri="{FF2B5EF4-FFF2-40B4-BE49-F238E27FC236}">
                <a16:creationId xmlns:a16="http://schemas.microsoft.com/office/drawing/2014/main" id="{CC0CD7FC-55D2-4CA1-8904-DFC10A6F3928}"/>
              </a:ext>
            </a:extLst>
          </p:cNvPr>
          <p:cNvCxnSpPr>
            <a:cxnSpLocks/>
            <a:stCxn id="345" idx="1"/>
            <a:endCxn id="352" idx="1"/>
          </p:cNvCxnSpPr>
          <p:nvPr/>
        </p:nvCxnSpPr>
        <p:spPr>
          <a:xfrm flipH="1" flipV="1">
            <a:off x="3213520" y="1842546"/>
            <a:ext cx="2" cy="4008552"/>
          </a:xfrm>
          <a:prstGeom prst="line">
            <a:avLst/>
          </a:prstGeom>
          <a:ln w="25400" cap="rnd">
            <a:solidFill>
              <a:schemeClr val="bg1">
                <a:lumMod val="85000"/>
              </a:schemeClr>
            </a:solidFill>
            <a:prstDash val="solid"/>
            <a:round/>
            <a:tailEnd type="none" w="med" len="sm"/>
          </a:ln>
        </p:spPr>
        <p:style>
          <a:lnRef idx="1">
            <a:schemeClr val="accent1"/>
          </a:lnRef>
          <a:fillRef idx="0">
            <a:schemeClr val="accent1"/>
          </a:fillRef>
          <a:effectRef idx="0">
            <a:schemeClr val="accent1"/>
          </a:effectRef>
          <a:fontRef idx="minor">
            <a:schemeClr val="tx1"/>
          </a:fontRef>
        </p:style>
      </p:cxnSp>
      <p:sp>
        <p:nvSpPr>
          <p:cNvPr id="347" name="Oval 346">
            <a:extLst>
              <a:ext uri="{FF2B5EF4-FFF2-40B4-BE49-F238E27FC236}">
                <a16:creationId xmlns:a16="http://schemas.microsoft.com/office/drawing/2014/main" id="{5569FE52-9C0F-4476-AEEF-FCD2ECFCE83B}"/>
              </a:ext>
            </a:extLst>
          </p:cNvPr>
          <p:cNvSpPr>
            <a:spLocks noChangeAspect="1"/>
          </p:cNvSpPr>
          <p:nvPr/>
        </p:nvSpPr>
        <p:spPr>
          <a:xfrm>
            <a:off x="3159521" y="4190360"/>
            <a:ext cx="108000" cy="108000"/>
          </a:xfrm>
          <a:prstGeom prst="ellipse">
            <a:avLst/>
          </a:prstGeom>
          <a:solidFill>
            <a:schemeClr val="tx2"/>
          </a:solidFill>
          <a:ln w="38100" cap="rnd" cmpd="sng" algn="ctr">
            <a:solidFill>
              <a:srgbClr val="F7F7F7"/>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348" name="TextBox 347">
            <a:extLst>
              <a:ext uri="{FF2B5EF4-FFF2-40B4-BE49-F238E27FC236}">
                <a16:creationId xmlns:a16="http://schemas.microsoft.com/office/drawing/2014/main" id="{BC889B46-2E5A-4D5E-A39C-96A4FBEC1AD8}"/>
              </a:ext>
            </a:extLst>
          </p:cNvPr>
          <p:cNvSpPr txBox="1"/>
          <p:nvPr/>
        </p:nvSpPr>
        <p:spPr>
          <a:xfrm>
            <a:off x="3855480" y="3791234"/>
            <a:ext cx="612000" cy="123111"/>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r>
              <a:rPr lang="en-US" sz="800">
                <a:solidFill>
                  <a:srgbClr val="7F7F7F"/>
                </a:solidFill>
              </a:rPr>
              <a:t>Dedicated</a:t>
            </a:r>
          </a:p>
        </p:txBody>
      </p:sp>
      <p:sp>
        <p:nvSpPr>
          <p:cNvPr id="349" name="TextBox 348">
            <a:extLst>
              <a:ext uri="{FF2B5EF4-FFF2-40B4-BE49-F238E27FC236}">
                <a16:creationId xmlns:a16="http://schemas.microsoft.com/office/drawing/2014/main" id="{44BCCCB6-CE08-4BC1-BDCB-67A153B8AB58}"/>
              </a:ext>
            </a:extLst>
          </p:cNvPr>
          <p:cNvSpPr txBox="1"/>
          <p:nvPr/>
        </p:nvSpPr>
        <p:spPr>
          <a:xfrm>
            <a:off x="3855480" y="4011606"/>
            <a:ext cx="612000" cy="123111"/>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r>
              <a:rPr lang="en-US" sz="800">
                <a:solidFill>
                  <a:srgbClr val="7F7F7F"/>
                </a:solidFill>
              </a:rPr>
              <a:t>Shared</a:t>
            </a:r>
          </a:p>
        </p:txBody>
      </p:sp>
      <p:sp>
        <p:nvSpPr>
          <p:cNvPr id="350" name="Rectangle: Rounded Corners 349">
            <a:extLst>
              <a:ext uri="{FF2B5EF4-FFF2-40B4-BE49-F238E27FC236}">
                <a16:creationId xmlns:a16="http://schemas.microsoft.com/office/drawing/2014/main" id="{342A9CF9-D802-4127-8DB9-F1A20722FEE0}"/>
              </a:ext>
            </a:extLst>
          </p:cNvPr>
          <p:cNvSpPr/>
          <p:nvPr/>
        </p:nvSpPr>
        <p:spPr>
          <a:xfrm>
            <a:off x="3534924" y="3791234"/>
            <a:ext cx="198304" cy="123111"/>
          </a:xfrm>
          <a:prstGeom prst="roundRect">
            <a:avLst/>
          </a:prstGeom>
          <a:solidFill>
            <a:schemeClr val="tx2">
              <a:lumMod val="20000"/>
              <a:lumOff val="8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351" name="Rectangle: Rounded Corners 350">
            <a:extLst>
              <a:ext uri="{FF2B5EF4-FFF2-40B4-BE49-F238E27FC236}">
                <a16:creationId xmlns:a16="http://schemas.microsoft.com/office/drawing/2014/main" id="{2CFE55E0-4A35-4137-AECE-AA5EE5FFA605}"/>
              </a:ext>
            </a:extLst>
          </p:cNvPr>
          <p:cNvSpPr/>
          <p:nvPr/>
        </p:nvSpPr>
        <p:spPr>
          <a:xfrm>
            <a:off x="3534924" y="4011606"/>
            <a:ext cx="198304" cy="123111"/>
          </a:xfrm>
          <a:prstGeom prst="roundRect">
            <a:avLst/>
          </a:prstGeom>
          <a:solidFill>
            <a:schemeClr val="bg1">
              <a:lumMod val="85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364" name="object 92">
            <a:extLst>
              <a:ext uri="{FF2B5EF4-FFF2-40B4-BE49-F238E27FC236}">
                <a16:creationId xmlns:a16="http://schemas.microsoft.com/office/drawing/2014/main" id="{1231A7CB-1942-4797-AFAE-6AC4AE0E6D88}"/>
              </a:ext>
            </a:extLst>
          </p:cNvPr>
          <p:cNvSpPr txBox="1"/>
          <p:nvPr/>
        </p:nvSpPr>
        <p:spPr>
          <a:xfrm>
            <a:off x="7084565" y="1678593"/>
            <a:ext cx="1944000" cy="615553"/>
          </a:xfrm>
          <a:prstGeom prst="rect">
            <a:avLst/>
          </a:prstGeom>
        </p:spPr>
        <p:txBody>
          <a:bodyPr vert="horz" wrap="square" lIns="0" tIns="0" rIns="0" bIns="0" rtlCol="0" anchor="t" anchorCtr="0">
            <a:noAutofit/>
          </a:bodyPr>
          <a:lstStyle/>
          <a:p>
            <a:pPr marR="3081" defTabSz="554492">
              <a:buFont typeface="Trebuchet MS" panose="020B0603020202020204" pitchFamily="34" charset="0"/>
              <a:buChar char="​"/>
            </a:pPr>
            <a:r>
              <a:rPr sz="1000" b="1">
                <a:latin typeface="Trebuchet MS" panose="020B0603020202020204" pitchFamily="34" charset="0"/>
                <a:cs typeface="Proxima Nova Semibold"/>
              </a:rPr>
              <a:t>Orchestration Unit (</a:t>
            </a:r>
            <a:r>
              <a:rPr lang="en-US" sz="1000" b="1">
                <a:latin typeface="Trebuchet MS" panose="020B0603020202020204" pitchFamily="34" charset="0"/>
                <a:cs typeface="Proxima Nova Semibold"/>
              </a:rPr>
              <a:t>rules-based</a:t>
            </a:r>
            <a:r>
              <a:rPr sz="1000" b="1">
                <a:latin typeface="Trebuchet MS" panose="020B0603020202020204" pitchFamily="34" charset="0"/>
                <a:cs typeface="Proxima Nova Semibold"/>
              </a:rPr>
              <a:t>, </a:t>
            </a:r>
            <a:r>
              <a:rPr lang="en-US" sz="1000" b="1">
                <a:latin typeface="Trebuchet MS" panose="020B0603020202020204" pitchFamily="34" charset="0"/>
                <a:cs typeface="Proxima Nova Semibold"/>
              </a:rPr>
              <a:t>later automated</a:t>
            </a:r>
            <a:r>
              <a:rPr sz="1000" b="1">
                <a:latin typeface="Trebuchet MS" panose="020B0603020202020204" pitchFamily="34" charset="0"/>
                <a:cs typeface="Proxima Nova Semibold"/>
              </a:rPr>
              <a:t>) to assign </a:t>
            </a:r>
            <a:r>
              <a:rPr lang="en-US" sz="1000" b="1">
                <a:latin typeface="Trebuchet MS" panose="020B0603020202020204" pitchFamily="34" charset="0"/>
                <a:cs typeface="Proxima Nova Semibold"/>
              </a:rPr>
              <a:t>most relevant </a:t>
            </a:r>
            <a:r>
              <a:rPr sz="1000" b="1">
                <a:latin typeface="Trebuchet MS" panose="020B0603020202020204" pitchFamily="34" charset="0"/>
                <a:cs typeface="Proxima Nova Semibold"/>
              </a:rPr>
              <a:t>campaign </a:t>
            </a:r>
            <a:r>
              <a:rPr sz="1000">
                <a:latin typeface="Trebuchet MS" panose="020B0603020202020204" pitchFamily="34" charset="0"/>
                <a:cs typeface="Proxima Nova"/>
              </a:rPr>
              <a:t>to </a:t>
            </a:r>
            <a:r>
              <a:rPr lang="en-US" sz="1000">
                <a:latin typeface="Trebuchet MS" panose="020B0603020202020204" pitchFamily="34" charset="0"/>
                <a:cs typeface="Proxima Nova"/>
              </a:rPr>
              <a:t>customers</a:t>
            </a:r>
            <a:endParaRPr sz="1000">
              <a:latin typeface="Trebuchet MS" panose="020B0603020202020204" pitchFamily="34" charset="0"/>
              <a:cs typeface="Proxima Nova"/>
            </a:endParaRPr>
          </a:p>
        </p:txBody>
      </p:sp>
      <p:sp>
        <p:nvSpPr>
          <p:cNvPr id="365" name="Oval 25">
            <a:extLst>
              <a:ext uri="{FF2B5EF4-FFF2-40B4-BE49-F238E27FC236}">
                <a16:creationId xmlns:a16="http://schemas.microsoft.com/office/drawing/2014/main" id="{6965FFC7-8E89-434A-B48F-029C1ADC6E54}"/>
              </a:ext>
            </a:extLst>
          </p:cNvPr>
          <p:cNvSpPr/>
          <p:nvPr/>
        </p:nvSpPr>
        <p:spPr>
          <a:xfrm flipH="1">
            <a:off x="6535044" y="1482546"/>
            <a:ext cx="360000" cy="360000"/>
          </a:xfrm>
          <a:custGeom>
            <a:avLst/>
            <a:gdLst>
              <a:gd name="connsiteX0" fmla="*/ 0 w 269758"/>
              <a:gd name="connsiteY0" fmla="*/ 134879 h 269758"/>
              <a:gd name="connsiteX1" fmla="*/ 134879 w 269758"/>
              <a:gd name="connsiteY1" fmla="*/ 0 h 269758"/>
              <a:gd name="connsiteX2" fmla="*/ 269758 w 269758"/>
              <a:gd name="connsiteY2" fmla="*/ 134879 h 269758"/>
              <a:gd name="connsiteX3" fmla="*/ 134879 w 269758"/>
              <a:gd name="connsiteY3" fmla="*/ 269758 h 269758"/>
              <a:gd name="connsiteX4" fmla="*/ 0 w 269758"/>
              <a:gd name="connsiteY4" fmla="*/ 134879 h 269758"/>
              <a:gd name="connsiteX0" fmla="*/ 269758 w 361198"/>
              <a:gd name="connsiteY0" fmla="*/ 134879 h 269758"/>
              <a:gd name="connsiteX1" fmla="*/ 134879 w 361198"/>
              <a:gd name="connsiteY1" fmla="*/ 269758 h 269758"/>
              <a:gd name="connsiteX2" fmla="*/ 0 w 361198"/>
              <a:gd name="connsiteY2" fmla="*/ 134879 h 269758"/>
              <a:gd name="connsiteX3" fmla="*/ 134879 w 361198"/>
              <a:gd name="connsiteY3" fmla="*/ 0 h 269758"/>
              <a:gd name="connsiteX4" fmla="*/ 361198 w 361198"/>
              <a:gd name="connsiteY4" fmla="*/ 226319 h 269758"/>
              <a:gd name="connsiteX0" fmla="*/ 269758 w 269758"/>
              <a:gd name="connsiteY0" fmla="*/ 134879 h 269758"/>
              <a:gd name="connsiteX1" fmla="*/ 134879 w 269758"/>
              <a:gd name="connsiteY1" fmla="*/ 269758 h 269758"/>
              <a:gd name="connsiteX2" fmla="*/ 0 w 269758"/>
              <a:gd name="connsiteY2" fmla="*/ 134879 h 269758"/>
              <a:gd name="connsiteX3" fmla="*/ 134879 w 269758"/>
              <a:gd name="connsiteY3" fmla="*/ 0 h 269758"/>
              <a:gd name="connsiteX0" fmla="*/ 134879 w 134879"/>
              <a:gd name="connsiteY0" fmla="*/ 269758 h 269758"/>
              <a:gd name="connsiteX1" fmla="*/ 0 w 134879"/>
              <a:gd name="connsiteY1" fmla="*/ 134879 h 269758"/>
              <a:gd name="connsiteX2" fmla="*/ 134879 w 134879"/>
              <a:gd name="connsiteY2" fmla="*/ 0 h 269758"/>
              <a:gd name="connsiteX0" fmla="*/ 0 w 134879"/>
              <a:gd name="connsiteY0" fmla="*/ 134879 h 134879"/>
              <a:gd name="connsiteX1" fmla="*/ 134879 w 134879"/>
              <a:gd name="connsiteY1" fmla="*/ 0 h 134879"/>
            </a:gdLst>
            <a:ahLst/>
            <a:cxnLst>
              <a:cxn ang="0">
                <a:pos x="connsiteX0" y="connsiteY0"/>
              </a:cxn>
              <a:cxn ang="0">
                <a:pos x="connsiteX1" y="connsiteY1"/>
              </a:cxn>
            </a:cxnLst>
            <a:rect l="l" t="t" r="r" b="b"/>
            <a:pathLst>
              <a:path w="134879" h="134879">
                <a:moveTo>
                  <a:pt x="0" y="134879"/>
                </a:moveTo>
                <a:cubicBezTo>
                  <a:pt x="0" y="60387"/>
                  <a:pt x="60387" y="0"/>
                  <a:pt x="134879" y="0"/>
                </a:cubicBezTo>
              </a:path>
            </a:pathLst>
          </a:custGeom>
          <a:ln w="25400" cap="rnd">
            <a:solidFill>
              <a:schemeClr val="bg1">
                <a:lumMod val="85000"/>
              </a:schemeClr>
            </a:solidFill>
            <a:prstDash val="solid"/>
            <a:round/>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cxnSp>
        <p:nvCxnSpPr>
          <p:cNvPr id="366" name="Straight Connector 365">
            <a:extLst>
              <a:ext uri="{FF2B5EF4-FFF2-40B4-BE49-F238E27FC236}">
                <a16:creationId xmlns:a16="http://schemas.microsoft.com/office/drawing/2014/main" id="{CC354330-1D46-4373-88A6-DCF2040B860A}"/>
              </a:ext>
            </a:extLst>
          </p:cNvPr>
          <p:cNvCxnSpPr>
            <a:cxnSpLocks/>
          </p:cNvCxnSpPr>
          <p:nvPr/>
        </p:nvCxnSpPr>
        <p:spPr>
          <a:xfrm flipV="1">
            <a:off x="6885628" y="4700008"/>
            <a:ext cx="0" cy="462865"/>
          </a:xfrm>
          <a:prstGeom prst="line">
            <a:avLst/>
          </a:prstGeom>
          <a:ln w="25400" cap="rnd">
            <a:solidFill>
              <a:schemeClr val="bg1">
                <a:lumMod val="85000"/>
              </a:schemeClr>
            </a:solidFill>
            <a:prstDash val="solid"/>
            <a:round/>
            <a:tailEnd type="none" w="med" len="sm"/>
          </a:ln>
        </p:spPr>
        <p:style>
          <a:lnRef idx="1">
            <a:schemeClr val="accent1"/>
          </a:lnRef>
          <a:fillRef idx="0">
            <a:schemeClr val="accent1"/>
          </a:fillRef>
          <a:effectRef idx="0">
            <a:schemeClr val="accent1"/>
          </a:effectRef>
          <a:fontRef idx="minor">
            <a:schemeClr val="tx1"/>
          </a:fontRef>
        </p:style>
      </p:cxnSp>
      <p:sp>
        <p:nvSpPr>
          <p:cNvPr id="367" name="object 60">
            <a:extLst>
              <a:ext uri="{FF2B5EF4-FFF2-40B4-BE49-F238E27FC236}">
                <a16:creationId xmlns:a16="http://schemas.microsoft.com/office/drawing/2014/main" id="{1046955B-B36D-4E54-98CC-08CE78397BFE}"/>
              </a:ext>
            </a:extLst>
          </p:cNvPr>
          <p:cNvSpPr txBox="1"/>
          <p:nvPr/>
        </p:nvSpPr>
        <p:spPr>
          <a:xfrm>
            <a:off x="7084565" y="5275040"/>
            <a:ext cx="1944000" cy="153888"/>
          </a:xfrm>
          <a:prstGeom prst="rect">
            <a:avLst/>
          </a:prstGeom>
        </p:spPr>
        <p:txBody>
          <a:bodyPr vert="horz" wrap="square" lIns="0" tIns="0" rIns="0" bIns="0" rtlCol="0" anchor="t" anchorCtr="0">
            <a:spAutoFit/>
          </a:bodyPr>
          <a:lstStyle/>
          <a:p>
            <a:pPr algn="ctr" defTabSz="554492">
              <a:buFont typeface="Trebuchet MS" panose="020B0603020202020204" pitchFamily="34" charset="0"/>
              <a:buChar char="​"/>
            </a:pPr>
            <a:r>
              <a:rPr sz="1000" b="1">
                <a:latin typeface="Trebuchet MS" panose="020B0603020202020204" pitchFamily="34" charset="0"/>
                <a:cs typeface="Proxima Nova"/>
              </a:rPr>
              <a:t>CHANNEL AND TIMING</a:t>
            </a:r>
          </a:p>
        </p:txBody>
      </p:sp>
      <p:sp>
        <p:nvSpPr>
          <p:cNvPr id="368" name="Oval 367">
            <a:extLst>
              <a:ext uri="{FF2B5EF4-FFF2-40B4-BE49-F238E27FC236}">
                <a16:creationId xmlns:a16="http://schemas.microsoft.com/office/drawing/2014/main" id="{D24A8B09-1FC3-4F2E-87FA-19B164A21230}"/>
              </a:ext>
            </a:extLst>
          </p:cNvPr>
          <p:cNvSpPr>
            <a:spLocks noChangeAspect="1"/>
          </p:cNvSpPr>
          <p:nvPr/>
        </p:nvSpPr>
        <p:spPr>
          <a:xfrm>
            <a:off x="6841042" y="1678593"/>
            <a:ext cx="108000" cy="108000"/>
          </a:xfrm>
          <a:prstGeom prst="ellipse">
            <a:avLst/>
          </a:prstGeom>
          <a:solidFill>
            <a:schemeClr val="tx2"/>
          </a:solidFill>
          <a:ln w="38100" cap="rnd" cmpd="sng" algn="ctr">
            <a:solidFill>
              <a:srgbClr val="F7F7F7"/>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373" name="Oval 25">
            <a:extLst>
              <a:ext uri="{FF2B5EF4-FFF2-40B4-BE49-F238E27FC236}">
                <a16:creationId xmlns:a16="http://schemas.microsoft.com/office/drawing/2014/main" id="{0D45E183-96CD-4ABC-B00A-4CBA986996BB}"/>
              </a:ext>
            </a:extLst>
          </p:cNvPr>
          <p:cNvSpPr/>
          <p:nvPr/>
        </p:nvSpPr>
        <p:spPr>
          <a:xfrm rot="16200000">
            <a:off x="6885629" y="5275040"/>
            <a:ext cx="360000" cy="360000"/>
          </a:xfrm>
          <a:custGeom>
            <a:avLst/>
            <a:gdLst>
              <a:gd name="connsiteX0" fmla="*/ 0 w 269758"/>
              <a:gd name="connsiteY0" fmla="*/ 134879 h 269758"/>
              <a:gd name="connsiteX1" fmla="*/ 134879 w 269758"/>
              <a:gd name="connsiteY1" fmla="*/ 0 h 269758"/>
              <a:gd name="connsiteX2" fmla="*/ 269758 w 269758"/>
              <a:gd name="connsiteY2" fmla="*/ 134879 h 269758"/>
              <a:gd name="connsiteX3" fmla="*/ 134879 w 269758"/>
              <a:gd name="connsiteY3" fmla="*/ 269758 h 269758"/>
              <a:gd name="connsiteX4" fmla="*/ 0 w 269758"/>
              <a:gd name="connsiteY4" fmla="*/ 134879 h 269758"/>
              <a:gd name="connsiteX0" fmla="*/ 269758 w 361198"/>
              <a:gd name="connsiteY0" fmla="*/ 134879 h 269758"/>
              <a:gd name="connsiteX1" fmla="*/ 134879 w 361198"/>
              <a:gd name="connsiteY1" fmla="*/ 269758 h 269758"/>
              <a:gd name="connsiteX2" fmla="*/ 0 w 361198"/>
              <a:gd name="connsiteY2" fmla="*/ 134879 h 269758"/>
              <a:gd name="connsiteX3" fmla="*/ 134879 w 361198"/>
              <a:gd name="connsiteY3" fmla="*/ 0 h 269758"/>
              <a:gd name="connsiteX4" fmla="*/ 361198 w 361198"/>
              <a:gd name="connsiteY4" fmla="*/ 226319 h 269758"/>
              <a:gd name="connsiteX0" fmla="*/ 269758 w 269758"/>
              <a:gd name="connsiteY0" fmla="*/ 134879 h 269758"/>
              <a:gd name="connsiteX1" fmla="*/ 134879 w 269758"/>
              <a:gd name="connsiteY1" fmla="*/ 269758 h 269758"/>
              <a:gd name="connsiteX2" fmla="*/ 0 w 269758"/>
              <a:gd name="connsiteY2" fmla="*/ 134879 h 269758"/>
              <a:gd name="connsiteX3" fmla="*/ 134879 w 269758"/>
              <a:gd name="connsiteY3" fmla="*/ 0 h 269758"/>
              <a:gd name="connsiteX0" fmla="*/ 134879 w 134879"/>
              <a:gd name="connsiteY0" fmla="*/ 269758 h 269758"/>
              <a:gd name="connsiteX1" fmla="*/ 0 w 134879"/>
              <a:gd name="connsiteY1" fmla="*/ 134879 h 269758"/>
              <a:gd name="connsiteX2" fmla="*/ 134879 w 134879"/>
              <a:gd name="connsiteY2" fmla="*/ 0 h 269758"/>
              <a:gd name="connsiteX0" fmla="*/ 0 w 134879"/>
              <a:gd name="connsiteY0" fmla="*/ 134879 h 134879"/>
              <a:gd name="connsiteX1" fmla="*/ 134879 w 134879"/>
              <a:gd name="connsiteY1" fmla="*/ 0 h 134879"/>
            </a:gdLst>
            <a:ahLst/>
            <a:cxnLst>
              <a:cxn ang="0">
                <a:pos x="connsiteX0" y="connsiteY0"/>
              </a:cxn>
              <a:cxn ang="0">
                <a:pos x="connsiteX1" y="connsiteY1"/>
              </a:cxn>
            </a:cxnLst>
            <a:rect l="l" t="t" r="r" b="b"/>
            <a:pathLst>
              <a:path w="134879" h="134879">
                <a:moveTo>
                  <a:pt x="0" y="134879"/>
                </a:moveTo>
                <a:cubicBezTo>
                  <a:pt x="0" y="60387"/>
                  <a:pt x="60387" y="0"/>
                  <a:pt x="134879" y="0"/>
                </a:cubicBezTo>
              </a:path>
            </a:pathLst>
          </a:custGeom>
          <a:ln w="25400" cap="rnd">
            <a:solidFill>
              <a:schemeClr val="bg1">
                <a:lumMod val="85000"/>
              </a:schemeClr>
            </a:solidFill>
            <a:prstDash val="solid"/>
            <a:round/>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cxnSp>
        <p:nvCxnSpPr>
          <p:cNvPr id="374" name="Straight Connector 373">
            <a:extLst>
              <a:ext uri="{FF2B5EF4-FFF2-40B4-BE49-F238E27FC236}">
                <a16:creationId xmlns:a16="http://schemas.microsoft.com/office/drawing/2014/main" id="{5E07C8DE-0ACA-4719-9739-60F9D8EA87A3}"/>
              </a:ext>
            </a:extLst>
          </p:cNvPr>
          <p:cNvCxnSpPr>
            <a:cxnSpLocks/>
            <a:stCxn id="373" idx="0"/>
            <a:endCxn id="375" idx="0"/>
          </p:cNvCxnSpPr>
          <p:nvPr/>
        </p:nvCxnSpPr>
        <p:spPr>
          <a:xfrm>
            <a:off x="7245629" y="5635040"/>
            <a:ext cx="1612460" cy="0"/>
          </a:xfrm>
          <a:prstGeom prst="line">
            <a:avLst/>
          </a:prstGeom>
          <a:ln w="25400" cap="rnd">
            <a:solidFill>
              <a:schemeClr val="bg1">
                <a:lumMod val="85000"/>
              </a:schemeClr>
            </a:solidFill>
            <a:prstDash val="solid"/>
            <a:round/>
            <a:tailEnd type="none" w="med" len="sm"/>
          </a:ln>
        </p:spPr>
        <p:style>
          <a:lnRef idx="1">
            <a:schemeClr val="accent1"/>
          </a:lnRef>
          <a:fillRef idx="0">
            <a:schemeClr val="accent1"/>
          </a:fillRef>
          <a:effectRef idx="0">
            <a:schemeClr val="accent1"/>
          </a:effectRef>
          <a:fontRef idx="minor">
            <a:schemeClr val="tx1"/>
          </a:fontRef>
        </p:style>
      </p:cxnSp>
      <p:sp>
        <p:nvSpPr>
          <p:cNvPr id="375" name="Oval 25">
            <a:extLst>
              <a:ext uri="{FF2B5EF4-FFF2-40B4-BE49-F238E27FC236}">
                <a16:creationId xmlns:a16="http://schemas.microsoft.com/office/drawing/2014/main" id="{0E6AF500-22E9-49F8-961B-59C7BFFA5ABF}"/>
              </a:ext>
            </a:extLst>
          </p:cNvPr>
          <p:cNvSpPr/>
          <p:nvPr/>
        </p:nvSpPr>
        <p:spPr>
          <a:xfrm rot="5400000" flipH="1">
            <a:off x="8858089" y="5275040"/>
            <a:ext cx="360000" cy="360000"/>
          </a:xfrm>
          <a:custGeom>
            <a:avLst/>
            <a:gdLst>
              <a:gd name="connsiteX0" fmla="*/ 0 w 269758"/>
              <a:gd name="connsiteY0" fmla="*/ 134879 h 269758"/>
              <a:gd name="connsiteX1" fmla="*/ 134879 w 269758"/>
              <a:gd name="connsiteY1" fmla="*/ 0 h 269758"/>
              <a:gd name="connsiteX2" fmla="*/ 269758 w 269758"/>
              <a:gd name="connsiteY2" fmla="*/ 134879 h 269758"/>
              <a:gd name="connsiteX3" fmla="*/ 134879 w 269758"/>
              <a:gd name="connsiteY3" fmla="*/ 269758 h 269758"/>
              <a:gd name="connsiteX4" fmla="*/ 0 w 269758"/>
              <a:gd name="connsiteY4" fmla="*/ 134879 h 269758"/>
              <a:gd name="connsiteX0" fmla="*/ 269758 w 361198"/>
              <a:gd name="connsiteY0" fmla="*/ 134879 h 269758"/>
              <a:gd name="connsiteX1" fmla="*/ 134879 w 361198"/>
              <a:gd name="connsiteY1" fmla="*/ 269758 h 269758"/>
              <a:gd name="connsiteX2" fmla="*/ 0 w 361198"/>
              <a:gd name="connsiteY2" fmla="*/ 134879 h 269758"/>
              <a:gd name="connsiteX3" fmla="*/ 134879 w 361198"/>
              <a:gd name="connsiteY3" fmla="*/ 0 h 269758"/>
              <a:gd name="connsiteX4" fmla="*/ 361198 w 361198"/>
              <a:gd name="connsiteY4" fmla="*/ 226319 h 269758"/>
              <a:gd name="connsiteX0" fmla="*/ 269758 w 269758"/>
              <a:gd name="connsiteY0" fmla="*/ 134879 h 269758"/>
              <a:gd name="connsiteX1" fmla="*/ 134879 w 269758"/>
              <a:gd name="connsiteY1" fmla="*/ 269758 h 269758"/>
              <a:gd name="connsiteX2" fmla="*/ 0 w 269758"/>
              <a:gd name="connsiteY2" fmla="*/ 134879 h 269758"/>
              <a:gd name="connsiteX3" fmla="*/ 134879 w 269758"/>
              <a:gd name="connsiteY3" fmla="*/ 0 h 269758"/>
              <a:gd name="connsiteX0" fmla="*/ 134879 w 134879"/>
              <a:gd name="connsiteY0" fmla="*/ 269758 h 269758"/>
              <a:gd name="connsiteX1" fmla="*/ 0 w 134879"/>
              <a:gd name="connsiteY1" fmla="*/ 134879 h 269758"/>
              <a:gd name="connsiteX2" fmla="*/ 134879 w 134879"/>
              <a:gd name="connsiteY2" fmla="*/ 0 h 269758"/>
              <a:gd name="connsiteX0" fmla="*/ 0 w 134879"/>
              <a:gd name="connsiteY0" fmla="*/ 134879 h 134879"/>
              <a:gd name="connsiteX1" fmla="*/ 134879 w 134879"/>
              <a:gd name="connsiteY1" fmla="*/ 0 h 134879"/>
            </a:gdLst>
            <a:ahLst/>
            <a:cxnLst>
              <a:cxn ang="0">
                <a:pos x="connsiteX0" y="connsiteY0"/>
              </a:cxn>
              <a:cxn ang="0">
                <a:pos x="connsiteX1" y="connsiteY1"/>
              </a:cxn>
            </a:cxnLst>
            <a:rect l="l" t="t" r="r" b="b"/>
            <a:pathLst>
              <a:path w="134879" h="134879">
                <a:moveTo>
                  <a:pt x="0" y="134879"/>
                </a:moveTo>
                <a:cubicBezTo>
                  <a:pt x="0" y="60387"/>
                  <a:pt x="60387" y="0"/>
                  <a:pt x="134879" y="0"/>
                </a:cubicBezTo>
              </a:path>
            </a:pathLst>
          </a:custGeom>
          <a:ln w="25400" cap="rnd">
            <a:solidFill>
              <a:schemeClr val="bg1">
                <a:lumMod val="85000"/>
              </a:schemeClr>
            </a:solidFill>
            <a:prstDash val="solid"/>
            <a:round/>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cxnSp>
        <p:nvCxnSpPr>
          <p:cNvPr id="386" name="Straight Connector 385">
            <a:extLst>
              <a:ext uri="{FF2B5EF4-FFF2-40B4-BE49-F238E27FC236}">
                <a16:creationId xmlns:a16="http://schemas.microsoft.com/office/drawing/2014/main" id="{71F32E6A-4368-4E02-A37B-419D1AEF2BC6}"/>
              </a:ext>
            </a:extLst>
          </p:cNvPr>
          <p:cNvCxnSpPr>
            <a:cxnSpLocks/>
          </p:cNvCxnSpPr>
          <p:nvPr/>
        </p:nvCxnSpPr>
        <p:spPr>
          <a:xfrm flipV="1">
            <a:off x="9218090" y="1842546"/>
            <a:ext cx="0" cy="1341158"/>
          </a:xfrm>
          <a:prstGeom prst="line">
            <a:avLst/>
          </a:prstGeom>
          <a:ln w="25400" cap="rnd">
            <a:solidFill>
              <a:schemeClr val="bg1">
                <a:lumMod val="85000"/>
              </a:schemeClr>
            </a:solidFill>
            <a:prstDash val="solid"/>
            <a:round/>
            <a:tailEnd type="none" w="med" len="sm"/>
          </a:ln>
        </p:spPr>
        <p:style>
          <a:lnRef idx="1">
            <a:schemeClr val="accent1"/>
          </a:lnRef>
          <a:fillRef idx="0">
            <a:schemeClr val="accent1"/>
          </a:fillRef>
          <a:effectRef idx="0">
            <a:schemeClr val="accent1"/>
          </a:effectRef>
          <a:fontRef idx="minor">
            <a:schemeClr val="tx1"/>
          </a:fontRef>
        </p:style>
      </p:cxnSp>
      <p:cxnSp>
        <p:nvCxnSpPr>
          <p:cNvPr id="387" name="Straight Connector 386">
            <a:extLst>
              <a:ext uri="{FF2B5EF4-FFF2-40B4-BE49-F238E27FC236}">
                <a16:creationId xmlns:a16="http://schemas.microsoft.com/office/drawing/2014/main" id="{932FF32C-78DC-4C9C-B8B6-94910B707EDA}"/>
              </a:ext>
            </a:extLst>
          </p:cNvPr>
          <p:cNvCxnSpPr>
            <a:cxnSpLocks/>
            <a:stCxn id="375" idx="1"/>
          </p:cNvCxnSpPr>
          <p:nvPr/>
        </p:nvCxnSpPr>
        <p:spPr>
          <a:xfrm flipV="1">
            <a:off x="9218089" y="3321036"/>
            <a:ext cx="2" cy="1954004"/>
          </a:xfrm>
          <a:prstGeom prst="line">
            <a:avLst/>
          </a:prstGeom>
          <a:ln w="25400" cap="rnd">
            <a:solidFill>
              <a:schemeClr val="bg1">
                <a:lumMod val="85000"/>
              </a:schemeClr>
            </a:solidFill>
            <a:prstDash val="solid"/>
            <a:round/>
            <a:tailEnd type="arrow" w="med" len="sm"/>
          </a:ln>
        </p:spPr>
        <p:style>
          <a:lnRef idx="1">
            <a:schemeClr val="accent1"/>
          </a:lnRef>
          <a:fillRef idx="0">
            <a:schemeClr val="accent1"/>
          </a:fillRef>
          <a:effectRef idx="0">
            <a:schemeClr val="accent1"/>
          </a:effectRef>
          <a:fontRef idx="minor">
            <a:schemeClr val="tx1"/>
          </a:fontRef>
        </p:style>
      </p:cxnSp>
      <p:cxnSp>
        <p:nvCxnSpPr>
          <p:cNvPr id="388" name="Straight Connector 387">
            <a:extLst>
              <a:ext uri="{FF2B5EF4-FFF2-40B4-BE49-F238E27FC236}">
                <a16:creationId xmlns:a16="http://schemas.microsoft.com/office/drawing/2014/main" id="{93DFA856-0B9D-4554-BCC7-02763751E798}"/>
              </a:ext>
            </a:extLst>
          </p:cNvPr>
          <p:cNvCxnSpPr>
            <a:cxnSpLocks/>
          </p:cNvCxnSpPr>
          <p:nvPr/>
        </p:nvCxnSpPr>
        <p:spPr>
          <a:xfrm rot="10800000" flipV="1">
            <a:off x="6885629" y="1842547"/>
            <a:ext cx="2" cy="2712941"/>
          </a:xfrm>
          <a:prstGeom prst="line">
            <a:avLst/>
          </a:prstGeom>
          <a:ln w="25400" cap="rnd">
            <a:solidFill>
              <a:schemeClr val="bg1">
                <a:lumMod val="85000"/>
              </a:schemeClr>
            </a:solidFill>
            <a:prstDash val="solid"/>
            <a:round/>
            <a:tailEnd type="arrow" w="med" len="sm"/>
          </a:ln>
        </p:spPr>
        <p:style>
          <a:lnRef idx="1">
            <a:schemeClr val="accent1"/>
          </a:lnRef>
          <a:fillRef idx="0">
            <a:schemeClr val="accent1"/>
          </a:fillRef>
          <a:effectRef idx="0">
            <a:schemeClr val="accent1"/>
          </a:effectRef>
          <a:fontRef idx="minor">
            <a:schemeClr val="tx1"/>
          </a:fontRef>
        </p:style>
      </p:cxnSp>
      <p:sp>
        <p:nvSpPr>
          <p:cNvPr id="389" name="Oval 25">
            <a:extLst>
              <a:ext uri="{FF2B5EF4-FFF2-40B4-BE49-F238E27FC236}">
                <a16:creationId xmlns:a16="http://schemas.microsoft.com/office/drawing/2014/main" id="{4AD5E5BD-9CE1-4881-B549-5572181D3BE7}"/>
              </a:ext>
            </a:extLst>
          </p:cNvPr>
          <p:cNvSpPr/>
          <p:nvPr/>
        </p:nvSpPr>
        <p:spPr>
          <a:xfrm rot="16200000" flipH="1">
            <a:off x="9218091" y="1482546"/>
            <a:ext cx="360000" cy="360000"/>
          </a:xfrm>
          <a:custGeom>
            <a:avLst/>
            <a:gdLst>
              <a:gd name="connsiteX0" fmla="*/ 0 w 269758"/>
              <a:gd name="connsiteY0" fmla="*/ 134879 h 269758"/>
              <a:gd name="connsiteX1" fmla="*/ 134879 w 269758"/>
              <a:gd name="connsiteY1" fmla="*/ 0 h 269758"/>
              <a:gd name="connsiteX2" fmla="*/ 269758 w 269758"/>
              <a:gd name="connsiteY2" fmla="*/ 134879 h 269758"/>
              <a:gd name="connsiteX3" fmla="*/ 134879 w 269758"/>
              <a:gd name="connsiteY3" fmla="*/ 269758 h 269758"/>
              <a:gd name="connsiteX4" fmla="*/ 0 w 269758"/>
              <a:gd name="connsiteY4" fmla="*/ 134879 h 269758"/>
              <a:gd name="connsiteX0" fmla="*/ 269758 w 361198"/>
              <a:gd name="connsiteY0" fmla="*/ 134879 h 269758"/>
              <a:gd name="connsiteX1" fmla="*/ 134879 w 361198"/>
              <a:gd name="connsiteY1" fmla="*/ 269758 h 269758"/>
              <a:gd name="connsiteX2" fmla="*/ 0 w 361198"/>
              <a:gd name="connsiteY2" fmla="*/ 134879 h 269758"/>
              <a:gd name="connsiteX3" fmla="*/ 134879 w 361198"/>
              <a:gd name="connsiteY3" fmla="*/ 0 h 269758"/>
              <a:gd name="connsiteX4" fmla="*/ 361198 w 361198"/>
              <a:gd name="connsiteY4" fmla="*/ 226319 h 269758"/>
              <a:gd name="connsiteX0" fmla="*/ 269758 w 269758"/>
              <a:gd name="connsiteY0" fmla="*/ 134879 h 269758"/>
              <a:gd name="connsiteX1" fmla="*/ 134879 w 269758"/>
              <a:gd name="connsiteY1" fmla="*/ 269758 h 269758"/>
              <a:gd name="connsiteX2" fmla="*/ 0 w 269758"/>
              <a:gd name="connsiteY2" fmla="*/ 134879 h 269758"/>
              <a:gd name="connsiteX3" fmla="*/ 134879 w 269758"/>
              <a:gd name="connsiteY3" fmla="*/ 0 h 269758"/>
              <a:gd name="connsiteX0" fmla="*/ 134879 w 134879"/>
              <a:gd name="connsiteY0" fmla="*/ 269758 h 269758"/>
              <a:gd name="connsiteX1" fmla="*/ 0 w 134879"/>
              <a:gd name="connsiteY1" fmla="*/ 134879 h 269758"/>
              <a:gd name="connsiteX2" fmla="*/ 134879 w 134879"/>
              <a:gd name="connsiteY2" fmla="*/ 0 h 269758"/>
              <a:gd name="connsiteX0" fmla="*/ 0 w 134879"/>
              <a:gd name="connsiteY0" fmla="*/ 134879 h 134879"/>
              <a:gd name="connsiteX1" fmla="*/ 134879 w 134879"/>
              <a:gd name="connsiteY1" fmla="*/ 0 h 134879"/>
            </a:gdLst>
            <a:ahLst/>
            <a:cxnLst>
              <a:cxn ang="0">
                <a:pos x="connsiteX0" y="connsiteY0"/>
              </a:cxn>
              <a:cxn ang="0">
                <a:pos x="connsiteX1" y="connsiteY1"/>
              </a:cxn>
            </a:cxnLst>
            <a:rect l="l" t="t" r="r" b="b"/>
            <a:pathLst>
              <a:path w="134879" h="134879">
                <a:moveTo>
                  <a:pt x="0" y="134879"/>
                </a:moveTo>
                <a:cubicBezTo>
                  <a:pt x="0" y="60387"/>
                  <a:pt x="60387" y="0"/>
                  <a:pt x="134879" y="0"/>
                </a:cubicBezTo>
              </a:path>
            </a:pathLst>
          </a:custGeom>
          <a:ln w="25400" cap="rnd">
            <a:solidFill>
              <a:schemeClr val="bg1">
                <a:lumMod val="85000"/>
              </a:schemeClr>
            </a:solidFill>
            <a:prstDash val="solid"/>
            <a:round/>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91" name="Oval 25">
            <a:extLst>
              <a:ext uri="{FF2B5EF4-FFF2-40B4-BE49-F238E27FC236}">
                <a16:creationId xmlns:a16="http://schemas.microsoft.com/office/drawing/2014/main" id="{FD3B2893-5AB5-4A5C-B151-C5BAF2F1FDDD}"/>
              </a:ext>
            </a:extLst>
          </p:cNvPr>
          <p:cNvSpPr/>
          <p:nvPr/>
        </p:nvSpPr>
        <p:spPr>
          <a:xfrm flipH="1">
            <a:off x="11203349" y="1482546"/>
            <a:ext cx="360000" cy="360000"/>
          </a:xfrm>
          <a:custGeom>
            <a:avLst/>
            <a:gdLst>
              <a:gd name="connsiteX0" fmla="*/ 0 w 269758"/>
              <a:gd name="connsiteY0" fmla="*/ 134879 h 269758"/>
              <a:gd name="connsiteX1" fmla="*/ 134879 w 269758"/>
              <a:gd name="connsiteY1" fmla="*/ 0 h 269758"/>
              <a:gd name="connsiteX2" fmla="*/ 269758 w 269758"/>
              <a:gd name="connsiteY2" fmla="*/ 134879 h 269758"/>
              <a:gd name="connsiteX3" fmla="*/ 134879 w 269758"/>
              <a:gd name="connsiteY3" fmla="*/ 269758 h 269758"/>
              <a:gd name="connsiteX4" fmla="*/ 0 w 269758"/>
              <a:gd name="connsiteY4" fmla="*/ 134879 h 269758"/>
              <a:gd name="connsiteX0" fmla="*/ 269758 w 361198"/>
              <a:gd name="connsiteY0" fmla="*/ 134879 h 269758"/>
              <a:gd name="connsiteX1" fmla="*/ 134879 w 361198"/>
              <a:gd name="connsiteY1" fmla="*/ 269758 h 269758"/>
              <a:gd name="connsiteX2" fmla="*/ 0 w 361198"/>
              <a:gd name="connsiteY2" fmla="*/ 134879 h 269758"/>
              <a:gd name="connsiteX3" fmla="*/ 134879 w 361198"/>
              <a:gd name="connsiteY3" fmla="*/ 0 h 269758"/>
              <a:gd name="connsiteX4" fmla="*/ 361198 w 361198"/>
              <a:gd name="connsiteY4" fmla="*/ 226319 h 269758"/>
              <a:gd name="connsiteX0" fmla="*/ 269758 w 269758"/>
              <a:gd name="connsiteY0" fmla="*/ 134879 h 269758"/>
              <a:gd name="connsiteX1" fmla="*/ 134879 w 269758"/>
              <a:gd name="connsiteY1" fmla="*/ 269758 h 269758"/>
              <a:gd name="connsiteX2" fmla="*/ 0 w 269758"/>
              <a:gd name="connsiteY2" fmla="*/ 134879 h 269758"/>
              <a:gd name="connsiteX3" fmla="*/ 134879 w 269758"/>
              <a:gd name="connsiteY3" fmla="*/ 0 h 269758"/>
              <a:gd name="connsiteX0" fmla="*/ 134879 w 134879"/>
              <a:gd name="connsiteY0" fmla="*/ 269758 h 269758"/>
              <a:gd name="connsiteX1" fmla="*/ 0 w 134879"/>
              <a:gd name="connsiteY1" fmla="*/ 134879 h 269758"/>
              <a:gd name="connsiteX2" fmla="*/ 134879 w 134879"/>
              <a:gd name="connsiteY2" fmla="*/ 0 h 269758"/>
              <a:gd name="connsiteX0" fmla="*/ 0 w 134879"/>
              <a:gd name="connsiteY0" fmla="*/ 134879 h 134879"/>
              <a:gd name="connsiteX1" fmla="*/ 134879 w 134879"/>
              <a:gd name="connsiteY1" fmla="*/ 0 h 134879"/>
            </a:gdLst>
            <a:ahLst/>
            <a:cxnLst>
              <a:cxn ang="0">
                <a:pos x="connsiteX0" y="connsiteY0"/>
              </a:cxn>
              <a:cxn ang="0">
                <a:pos x="connsiteX1" y="connsiteY1"/>
              </a:cxn>
            </a:cxnLst>
            <a:rect l="l" t="t" r="r" b="b"/>
            <a:pathLst>
              <a:path w="134879" h="134879">
                <a:moveTo>
                  <a:pt x="0" y="134879"/>
                </a:moveTo>
                <a:cubicBezTo>
                  <a:pt x="0" y="60387"/>
                  <a:pt x="60387" y="0"/>
                  <a:pt x="134879" y="0"/>
                </a:cubicBezTo>
              </a:path>
            </a:pathLst>
          </a:custGeom>
          <a:ln w="25400" cap="rnd">
            <a:solidFill>
              <a:schemeClr val="bg1">
                <a:lumMod val="85000"/>
              </a:schemeClr>
            </a:solidFill>
            <a:prstDash val="solid"/>
            <a:round/>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93" name="Oval 25">
            <a:extLst>
              <a:ext uri="{FF2B5EF4-FFF2-40B4-BE49-F238E27FC236}">
                <a16:creationId xmlns:a16="http://schemas.microsoft.com/office/drawing/2014/main" id="{912F5993-4382-4CF5-82BD-387BBC550C60}"/>
              </a:ext>
            </a:extLst>
          </p:cNvPr>
          <p:cNvSpPr/>
          <p:nvPr/>
        </p:nvSpPr>
        <p:spPr>
          <a:xfrm rot="5400000" flipH="1">
            <a:off x="11203352" y="5725155"/>
            <a:ext cx="360000" cy="360000"/>
          </a:xfrm>
          <a:custGeom>
            <a:avLst/>
            <a:gdLst>
              <a:gd name="connsiteX0" fmla="*/ 0 w 269758"/>
              <a:gd name="connsiteY0" fmla="*/ 134879 h 269758"/>
              <a:gd name="connsiteX1" fmla="*/ 134879 w 269758"/>
              <a:gd name="connsiteY1" fmla="*/ 0 h 269758"/>
              <a:gd name="connsiteX2" fmla="*/ 269758 w 269758"/>
              <a:gd name="connsiteY2" fmla="*/ 134879 h 269758"/>
              <a:gd name="connsiteX3" fmla="*/ 134879 w 269758"/>
              <a:gd name="connsiteY3" fmla="*/ 269758 h 269758"/>
              <a:gd name="connsiteX4" fmla="*/ 0 w 269758"/>
              <a:gd name="connsiteY4" fmla="*/ 134879 h 269758"/>
              <a:gd name="connsiteX0" fmla="*/ 269758 w 361198"/>
              <a:gd name="connsiteY0" fmla="*/ 134879 h 269758"/>
              <a:gd name="connsiteX1" fmla="*/ 134879 w 361198"/>
              <a:gd name="connsiteY1" fmla="*/ 269758 h 269758"/>
              <a:gd name="connsiteX2" fmla="*/ 0 w 361198"/>
              <a:gd name="connsiteY2" fmla="*/ 134879 h 269758"/>
              <a:gd name="connsiteX3" fmla="*/ 134879 w 361198"/>
              <a:gd name="connsiteY3" fmla="*/ 0 h 269758"/>
              <a:gd name="connsiteX4" fmla="*/ 361198 w 361198"/>
              <a:gd name="connsiteY4" fmla="*/ 226319 h 269758"/>
              <a:gd name="connsiteX0" fmla="*/ 269758 w 269758"/>
              <a:gd name="connsiteY0" fmla="*/ 134879 h 269758"/>
              <a:gd name="connsiteX1" fmla="*/ 134879 w 269758"/>
              <a:gd name="connsiteY1" fmla="*/ 269758 h 269758"/>
              <a:gd name="connsiteX2" fmla="*/ 0 w 269758"/>
              <a:gd name="connsiteY2" fmla="*/ 134879 h 269758"/>
              <a:gd name="connsiteX3" fmla="*/ 134879 w 269758"/>
              <a:gd name="connsiteY3" fmla="*/ 0 h 269758"/>
              <a:gd name="connsiteX0" fmla="*/ 134879 w 134879"/>
              <a:gd name="connsiteY0" fmla="*/ 269758 h 269758"/>
              <a:gd name="connsiteX1" fmla="*/ 0 w 134879"/>
              <a:gd name="connsiteY1" fmla="*/ 134879 h 269758"/>
              <a:gd name="connsiteX2" fmla="*/ 134879 w 134879"/>
              <a:gd name="connsiteY2" fmla="*/ 0 h 269758"/>
              <a:gd name="connsiteX0" fmla="*/ 0 w 134879"/>
              <a:gd name="connsiteY0" fmla="*/ 134879 h 134879"/>
              <a:gd name="connsiteX1" fmla="*/ 134879 w 134879"/>
              <a:gd name="connsiteY1" fmla="*/ 0 h 134879"/>
            </a:gdLst>
            <a:ahLst/>
            <a:cxnLst>
              <a:cxn ang="0">
                <a:pos x="connsiteX0" y="connsiteY0"/>
              </a:cxn>
              <a:cxn ang="0">
                <a:pos x="connsiteX1" y="connsiteY1"/>
              </a:cxn>
            </a:cxnLst>
            <a:rect l="l" t="t" r="r" b="b"/>
            <a:pathLst>
              <a:path w="134879" h="134879">
                <a:moveTo>
                  <a:pt x="0" y="134879"/>
                </a:moveTo>
                <a:cubicBezTo>
                  <a:pt x="0" y="60387"/>
                  <a:pt x="60387" y="0"/>
                  <a:pt x="134879" y="0"/>
                </a:cubicBezTo>
              </a:path>
            </a:pathLst>
          </a:custGeom>
          <a:ln w="25400" cap="rnd">
            <a:solidFill>
              <a:schemeClr val="bg1">
                <a:lumMod val="85000"/>
              </a:schemeClr>
            </a:solidFill>
            <a:prstDash val="solid"/>
            <a:round/>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cxnSp>
        <p:nvCxnSpPr>
          <p:cNvPr id="394" name="Straight Connector 393">
            <a:extLst>
              <a:ext uri="{FF2B5EF4-FFF2-40B4-BE49-F238E27FC236}">
                <a16:creationId xmlns:a16="http://schemas.microsoft.com/office/drawing/2014/main" id="{9D148462-6CB5-4AA7-A89E-02890BE2CC38}"/>
              </a:ext>
            </a:extLst>
          </p:cNvPr>
          <p:cNvCxnSpPr>
            <a:cxnSpLocks/>
          </p:cNvCxnSpPr>
          <p:nvPr/>
        </p:nvCxnSpPr>
        <p:spPr>
          <a:xfrm flipH="1">
            <a:off x="6770240" y="6085154"/>
            <a:ext cx="4433110" cy="0"/>
          </a:xfrm>
          <a:prstGeom prst="line">
            <a:avLst/>
          </a:prstGeom>
          <a:ln w="25400" cap="rnd">
            <a:solidFill>
              <a:schemeClr val="bg1">
                <a:lumMod val="85000"/>
              </a:schemeClr>
            </a:solidFill>
            <a:prstDash val="solid"/>
            <a:round/>
            <a:tailEnd type="arrow" w="med" len="sm"/>
          </a:ln>
        </p:spPr>
        <p:style>
          <a:lnRef idx="1">
            <a:schemeClr val="accent1"/>
          </a:lnRef>
          <a:fillRef idx="0">
            <a:schemeClr val="accent1"/>
          </a:fillRef>
          <a:effectRef idx="0">
            <a:schemeClr val="accent1"/>
          </a:effectRef>
          <a:fontRef idx="minor">
            <a:schemeClr val="tx1"/>
          </a:fontRef>
        </p:style>
      </p:cxnSp>
      <p:cxnSp>
        <p:nvCxnSpPr>
          <p:cNvPr id="395" name="Straight Connector 394">
            <a:extLst>
              <a:ext uri="{FF2B5EF4-FFF2-40B4-BE49-F238E27FC236}">
                <a16:creationId xmlns:a16="http://schemas.microsoft.com/office/drawing/2014/main" id="{CF27FF15-719C-4488-8731-86099821EC27}"/>
              </a:ext>
            </a:extLst>
          </p:cNvPr>
          <p:cNvCxnSpPr>
            <a:cxnSpLocks/>
          </p:cNvCxnSpPr>
          <p:nvPr/>
        </p:nvCxnSpPr>
        <p:spPr>
          <a:xfrm rot="10800000" flipV="1">
            <a:off x="11563348" y="1842548"/>
            <a:ext cx="2" cy="2952000"/>
          </a:xfrm>
          <a:prstGeom prst="line">
            <a:avLst/>
          </a:prstGeom>
          <a:ln w="25400" cap="rnd">
            <a:solidFill>
              <a:schemeClr val="bg1">
                <a:lumMod val="85000"/>
              </a:schemeClr>
            </a:solidFill>
            <a:prstDash val="solid"/>
            <a:round/>
            <a:tailEnd type="arrow" w="med" len="sm"/>
          </a:ln>
        </p:spPr>
        <p:style>
          <a:lnRef idx="1">
            <a:schemeClr val="accent1"/>
          </a:lnRef>
          <a:fillRef idx="0">
            <a:schemeClr val="accent1"/>
          </a:fillRef>
          <a:effectRef idx="0">
            <a:schemeClr val="accent1"/>
          </a:effectRef>
          <a:fontRef idx="minor">
            <a:schemeClr val="tx1"/>
          </a:fontRef>
        </p:style>
      </p:cxnSp>
      <p:cxnSp>
        <p:nvCxnSpPr>
          <p:cNvPr id="396" name="Straight Connector 395">
            <a:extLst>
              <a:ext uri="{FF2B5EF4-FFF2-40B4-BE49-F238E27FC236}">
                <a16:creationId xmlns:a16="http://schemas.microsoft.com/office/drawing/2014/main" id="{AE22A143-C6FC-457C-AC2F-17FD3162098E}"/>
              </a:ext>
            </a:extLst>
          </p:cNvPr>
          <p:cNvCxnSpPr>
            <a:cxnSpLocks/>
          </p:cNvCxnSpPr>
          <p:nvPr/>
        </p:nvCxnSpPr>
        <p:spPr>
          <a:xfrm flipV="1">
            <a:off x="8056564" y="5851097"/>
            <a:ext cx="0" cy="234057"/>
          </a:xfrm>
          <a:prstGeom prst="line">
            <a:avLst/>
          </a:prstGeom>
          <a:ln w="25400" cap="rnd">
            <a:solidFill>
              <a:schemeClr val="bg1">
                <a:lumMod val="85000"/>
              </a:schemeClr>
            </a:solidFill>
            <a:prstDash val="solid"/>
            <a:round/>
            <a:tailEnd type="arrow" w="med" len="sm"/>
          </a:ln>
        </p:spPr>
        <p:style>
          <a:lnRef idx="1">
            <a:schemeClr val="accent1"/>
          </a:lnRef>
          <a:fillRef idx="0">
            <a:schemeClr val="accent1"/>
          </a:fillRef>
          <a:effectRef idx="0">
            <a:schemeClr val="accent1"/>
          </a:effectRef>
          <a:fontRef idx="minor">
            <a:schemeClr val="tx1"/>
          </a:fontRef>
        </p:style>
      </p:cxnSp>
      <p:sp>
        <p:nvSpPr>
          <p:cNvPr id="560" name="Oval 559">
            <a:extLst>
              <a:ext uri="{FF2B5EF4-FFF2-40B4-BE49-F238E27FC236}">
                <a16:creationId xmlns:a16="http://schemas.microsoft.com/office/drawing/2014/main" id="{44798234-6987-44FA-8065-654E41DA2B7D}"/>
              </a:ext>
            </a:extLst>
          </p:cNvPr>
          <p:cNvSpPr>
            <a:spLocks noChangeAspect="1"/>
          </p:cNvSpPr>
          <p:nvPr/>
        </p:nvSpPr>
        <p:spPr>
          <a:xfrm>
            <a:off x="9164088" y="2284599"/>
            <a:ext cx="108000" cy="108000"/>
          </a:xfrm>
          <a:prstGeom prst="ellipse">
            <a:avLst/>
          </a:prstGeom>
          <a:solidFill>
            <a:schemeClr val="tx2"/>
          </a:solidFill>
          <a:ln w="38100" cap="rnd" cmpd="sng" algn="ctr">
            <a:solidFill>
              <a:srgbClr val="F7F7F7"/>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200">
              <a:solidFill>
                <a:srgbClr val="FFFFFF"/>
              </a:solidFill>
            </a:endParaRPr>
          </a:p>
        </p:txBody>
      </p:sp>
      <p:grpSp>
        <p:nvGrpSpPr>
          <p:cNvPr id="565" name="Group 564">
            <a:extLst>
              <a:ext uri="{FF2B5EF4-FFF2-40B4-BE49-F238E27FC236}">
                <a16:creationId xmlns:a16="http://schemas.microsoft.com/office/drawing/2014/main" id="{FC60D2C3-CFA0-42C8-8534-F360AE8EDA73}"/>
              </a:ext>
            </a:extLst>
          </p:cNvPr>
          <p:cNvGrpSpPr/>
          <p:nvPr/>
        </p:nvGrpSpPr>
        <p:grpSpPr>
          <a:xfrm>
            <a:off x="5740133" y="5546396"/>
            <a:ext cx="906220" cy="919941"/>
            <a:chOff x="5803149" y="7153110"/>
            <a:chExt cx="823836" cy="836310"/>
          </a:xfrm>
        </p:grpSpPr>
        <p:sp>
          <p:nvSpPr>
            <p:cNvPr id="566" name="Freeform: Shape 565">
              <a:extLst>
                <a:ext uri="{FF2B5EF4-FFF2-40B4-BE49-F238E27FC236}">
                  <a16:creationId xmlns:a16="http://schemas.microsoft.com/office/drawing/2014/main" id="{9F31E686-D33D-4004-98C1-9A0D2D7298FE}"/>
                </a:ext>
              </a:extLst>
            </p:cNvPr>
            <p:cNvSpPr/>
            <p:nvPr/>
          </p:nvSpPr>
          <p:spPr>
            <a:xfrm rot="10800000">
              <a:off x="5927288" y="7343407"/>
              <a:ext cx="597822" cy="471460"/>
            </a:xfrm>
            <a:custGeom>
              <a:avLst/>
              <a:gdLst>
                <a:gd name="connsiteX0" fmla="*/ 0 w 597822"/>
                <a:gd name="connsiteY0" fmla="*/ 0 h 471460"/>
                <a:gd name="connsiteX1" fmla="*/ 597822 w 597822"/>
                <a:gd name="connsiteY1" fmla="*/ 0 h 471460"/>
                <a:gd name="connsiteX2" fmla="*/ 597822 w 597822"/>
                <a:gd name="connsiteY2" fmla="*/ 471460 h 471460"/>
                <a:gd name="connsiteX3" fmla="*/ 0 w 597822"/>
                <a:gd name="connsiteY3" fmla="*/ 471460 h 471460"/>
              </a:gdLst>
              <a:ahLst/>
              <a:cxnLst>
                <a:cxn ang="0">
                  <a:pos x="connsiteX0" y="connsiteY0"/>
                </a:cxn>
                <a:cxn ang="0">
                  <a:pos x="connsiteX1" y="connsiteY1"/>
                </a:cxn>
                <a:cxn ang="0">
                  <a:pos x="connsiteX2" y="connsiteY2"/>
                </a:cxn>
                <a:cxn ang="0">
                  <a:pos x="connsiteX3" y="connsiteY3"/>
                </a:cxn>
              </a:cxnLst>
              <a:rect l="l" t="t" r="r" b="b"/>
              <a:pathLst>
                <a:path w="597822" h="471460">
                  <a:moveTo>
                    <a:pt x="0" y="0"/>
                  </a:moveTo>
                  <a:lnTo>
                    <a:pt x="597822" y="0"/>
                  </a:lnTo>
                  <a:lnTo>
                    <a:pt x="597822" y="471460"/>
                  </a:lnTo>
                  <a:lnTo>
                    <a:pt x="0" y="471460"/>
                  </a:lnTo>
                  <a:close/>
                </a:path>
              </a:pathLst>
            </a:custGeom>
            <a:solidFill>
              <a:schemeClr val="bg1"/>
            </a:solidFill>
            <a:ln w="3745" cap="flat">
              <a:noFill/>
              <a:prstDash val="solid"/>
              <a:miter/>
            </a:ln>
            <a:effectLst>
              <a:outerShdw blurRad="127000" algn="ctr" rotWithShape="0">
                <a:schemeClr val="bg1">
                  <a:lumMod val="75000"/>
                  <a:alpha val="40000"/>
                </a:schemeClr>
              </a:outerShdw>
            </a:effectLst>
          </p:spPr>
          <p:txBody>
            <a:bodyPr rtlCol="0" anchor="ctr"/>
            <a:lstStyle/>
            <a:p>
              <a:endParaRPr lang="en-US"/>
            </a:p>
          </p:txBody>
        </p:sp>
        <p:sp>
          <p:nvSpPr>
            <p:cNvPr id="567" name="Freeform: Shape 566">
              <a:extLst>
                <a:ext uri="{FF2B5EF4-FFF2-40B4-BE49-F238E27FC236}">
                  <a16:creationId xmlns:a16="http://schemas.microsoft.com/office/drawing/2014/main" id="{2031A7E2-F52E-46F9-9522-7D5486465369}"/>
                </a:ext>
              </a:extLst>
            </p:cNvPr>
            <p:cNvSpPr/>
            <p:nvPr/>
          </p:nvSpPr>
          <p:spPr>
            <a:xfrm>
              <a:off x="5812693" y="7504733"/>
              <a:ext cx="122464" cy="122464"/>
            </a:xfrm>
            <a:custGeom>
              <a:avLst/>
              <a:gdLst>
                <a:gd name="connsiteX0" fmla="*/ 122465 w 122464"/>
                <a:gd name="connsiteY0" fmla="*/ 61232 h 122464"/>
                <a:gd name="connsiteX1" fmla="*/ 61232 w 122464"/>
                <a:gd name="connsiteY1" fmla="*/ 122465 h 122464"/>
                <a:gd name="connsiteX2" fmla="*/ 0 w 122464"/>
                <a:gd name="connsiteY2" fmla="*/ 61232 h 122464"/>
                <a:gd name="connsiteX3" fmla="*/ 61232 w 122464"/>
                <a:gd name="connsiteY3" fmla="*/ 0 h 122464"/>
                <a:gd name="connsiteX4" fmla="*/ 122465 w 122464"/>
                <a:gd name="connsiteY4" fmla="*/ 61232 h 1224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64" h="122464">
                  <a:moveTo>
                    <a:pt x="122465" y="61232"/>
                  </a:moveTo>
                  <a:cubicBezTo>
                    <a:pt x="122465" y="95050"/>
                    <a:pt x="95050" y="122465"/>
                    <a:pt x="61232" y="122465"/>
                  </a:cubicBezTo>
                  <a:cubicBezTo>
                    <a:pt x="27415" y="122465"/>
                    <a:pt x="0" y="95050"/>
                    <a:pt x="0" y="61232"/>
                  </a:cubicBezTo>
                  <a:cubicBezTo>
                    <a:pt x="0" y="27415"/>
                    <a:pt x="27415" y="0"/>
                    <a:pt x="61232" y="0"/>
                  </a:cubicBezTo>
                  <a:cubicBezTo>
                    <a:pt x="95050" y="0"/>
                    <a:pt x="122465" y="27415"/>
                    <a:pt x="122465" y="61232"/>
                  </a:cubicBezTo>
                  <a:close/>
                </a:path>
              </a:pathLst>
            </a:custGeom>
            <a:solidFill>
              <a:srgbClr val="1D2333"/>
            </a:solidFill>
            <a:ln w="3745" cap="flat">
              <a:noFill/>
              <a:prstDash val="solid"/>
              <a:miter/>
            </a:ln>
          </p:spPr>
          <p:txBody>
            <a:bodyPr rtlCol="0" anchor="ctr"/>
            <a:lstStyle/>
            <a:p>
              <a:endParaRPr lang="en-US"/>
            </a:p>
          </p:txBody>
        </p:sp>
        <p:sp>
          <p:nvSpPr>
            <p:cNvPr id="568" name="Freeform: Shape 567">
              <a:extLst>
                <a:ext uri="{FF2B5EF4-FFF2-40B4-BE49-F238E27FC236}">
                  <a16:creationId xmlns:a16="http://schemas.microsoft.com/office/drawing/2014/main" id="{9C43D732-B436-4C4D-AF64-AAF2AFF0925E}"/>
                </a:ext>
              </a:extLst>
            </p:cNvPr>
            <p:cNvSpPr/>
            <p:nvPr/>
          </p:nvSpPr>
          <p:spPr>
            <a:xfrm>
              <a:off x="6159215" y="7452269"/>
              <a:ext cx="133969" cy="36424"/>
            </a:xfrm>
            <a:custGeom>
              <a:avLst/>
              <a:gdLst>
                <a:gd name="connsiteX0" fmla="*/ 18212 w 133969"/>
                <a:gd name="connsiteY0" fmla="*/ 36425 h 36424"/>
                <a:gd name="connsiteX1" fmla="*/ 115757 w 133969"/>
                <a:gd name="connsiteY1" fmla="*/ 36425 h 36424"/>
                <a:gd name="connsiteX2" fmla="*/ 133969 w 133969"/>
                <a:gd name="connsiteY2" fmla="*/ 18212 h 36424"/>
                <a:gd name="connsiteX3" fmla="*/ 115757 w 133969"/>
                <a:gd name="connsiteY3" fmla="*/ 0 h 36424"/>
                <a:gd name="connsiteX4" fmla="*/ 18212 w 133969"/>
                <a:gd name="connsiteY4" fmla="*/ 0 h 36424"/>
                <a:gd name="connsiteX5" fmla="*/ 0 w 133969"/>
                <a:gd name="connsiteY5" fmla="*/ 18212 h 36424"/>
                <a:gd name="connsiteX6" fmla="*/ 18212 w 133969"/>
                <a:gd name="connsiteY6" fmla="*/ 36425 h 36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969" h="36424">
                  <a:moveTo>
                    <a:pt x="18212" y="36425"/>
                  </a:moveTo>
                  <a:lnTo>
                    <a:pt x="115757" y="36425"/>
                  </a:lnTo>
                  <a:cubicBezTo>
                    <a:pt x="125800" y="36425"/>
                    <a:pt x="133969" y="28255"/>
                    <a:pt x="133969" y="18212"/>
                  </a:cubicBezTo>
                  <a:cubicBezTo>
                    <a:pt x="133969" y="8169"/>
                    <a:pt x="125800" y="0"/>
                    <a:pt x="115757" y="0"/>
                  </a:cubicBezTo>
                  <a:lnTo>
                    <a:pt x="18212" y="0"/>
                  </a:lnTo>
                  <a:cubicBezTo>
                    <a:pt x="8169" y="0"/>
                    <a:pt x="0" y="8169"/>
                    <a:pt x="0" y="18212"/>
                  </a:cubicBezTo>
                  <a:cubicBezTo>
                    <a:pt x="0" y="28255"/>
                    <a:pt x="8169" y="36425"/>
                    <a:pt x="18212" y="36425"/>
                  </a:cubicBezTo>
                  <a:close/>
                </a:path>
              </a:pathLst>
            </a:custGeom>
            <a:solidFill>
              <a:schemeClr val="accent6"/>
            </a:solidFill>
            <a:ln w="3745" cap="flat">
              <a:noFill/>
              <a:prstDash val="solid"/>
              <a:miter/>
            </a:ln>
          </p:spPr>
          <p:txBody>
            <a:bodyPr rtlCol="0" anchor="ctr"/>
            <a:lstStyle/>
            <a:p>
              <a:endParaRPr lang="en-US"/>
            </a:p>
          </p:txBody>
        </p:sp>
        <p:sp>
          <p:nvSpPr>
            <p:cNvPr id="569" name="Freeform: Shape 568">
              <a:extLst>
                <a:ext uri="{FF2B5EF4-FFF2-40B4-BE49-F238E27FC236}">
                  <a16:creationId xmlns:a16="http://schemas.microsoft.com/office/drawing/2014/main" id="{7B9BFDF5-E917-40F0-8308-40ECBDA01C0C}"/>
                </a:ext>
              </a:extLst>
            </p:cNvPr>
            <p:cNvSpPr/>
            <p:nvPr/>
          </p:nvSpPr>
          <p:spPr>
            <a:xfrm>
              <a:off x="6053201" y="7589986"/>
              <a:ext cx="352929" cy="103840"/>
            </a:xfrm>
            <a:custGeom>
              <a:avLst/>
              <a:gdLst>
                <a:gd name="connsiteX0" fmla="*/ 348433 w 352929"/>
                <a:gd name="connsiteY0" fmla="*/ 103803 h 103840"/>
                <a:gd name="connsiteX1" fmla="*/ 343899 w 352929"/>
                <a:gd name="connsiteY1" fmla="*/ 99269 h 103840"/>
                <a:gd name="connsiteX2" fmla="*/ 343899 w 352929"/>
                <a:gd name="connsiteY2" fmla="*/ 9031 h 103840"/>
                <a:gd name="connsiteX3" fmla="*/ 9069 w 352929"/>
                <a:gd name="connsiteY3" fmla="*/ 9031 h 103840"/>
                <a:gd name="connsiteX4" fmla="*/ 9069 w 352929"/>
                <a:gd name="connsiteY4" fmla="*/ 81094 h 103840"/>
                <a:gd name="connsiteX5" fmla="*/ 4534 w 352929"/>
                <a:gd name="connsiteY5" fmla="*/ 85628 h 103840"/>
                <a:gd name="connsiteX6" fmla="*/ 0 w 352929"/>
                <a:gd name="connsiteY6" fmla="*/ 81094 h 103840"/>
                <a:gd name="connsiteX7" fmla="*/ 0 w 352929"/>
                <a:gd name="connsiteY7" fmla="*/ 4534 h 103840"/>
                <a:gd name="connsiteX8" fmla="*/ 4534 w 352929"/>
                <a:gd name="connsiteY8" fmla="*/ 0 h 103840"/>
                <a:gd name="connsiteX9" fmla="*/ 348396 w 352929"/>
                <a:gd name="connsiteY9" fmla="*/ 0 h 103840"/>
                <a:gd name="connsiteX10" fmla="*/ 352930 w 352929"/>
                <a:gd name="connsiteY10" fmla="*/ 4534 h 103840"/>
                <a:gd name="connsiteX11" fmla="*/ 352930 w 352929"/>
                <a:gd name="connsiteY11" fmla="*/ 99306 h 103840"/>
                <a:gd name="connsiteX12" fmla="*/ 348396 w 352929"/>
                <a:gd name="connsiteY12" fmla="*/ 103840 h 10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2929" h="103840">
                  <a:moveTo>
                    <a:pt x="348433" y="103803"/>
                  </a:moveTo>
                  <a:cubicBezTo>
                    <a:pt x="345922" y="103803"/>
                    <a:pt x="343899" y="101779"/>
                    <a:pt x="343899" y="99269"/>
                  </a:cubicBezTo>
                  <a:lnTo>
                    <a:pt x="343899" y="9031"/>
                  </a:lnTo>
                  <a:lnTo>
                    <a:pt x="9069" y="9031"/>
                  </a:lnTo>
                  <a:lnTo>
                    <a:pt x="9069" y="81094"/>
                  </a:lnTo>
                  <a:cubicBezTo>
                    <a:pt x="9069" y="83604"/>
                    <a:pt x="7045" y="85628"/>
                    <a:pt x="4534" y="85628"/>
                  </a:cubicBezTo>
                  <a:cubicBezTo>
                    <a:pt x="2024" y="85628"/>
                    <a:pt x="0" y="83604"/>
                    <a:pt x="0" y="81094"/>
                  </a:cubicBezTo>
                  <a:lnTo>
                    <a:pt x="0" y="4534"/>
                  </a:lnTo>
                  <a:cubicBezTo>
                    <a:pt x="0" y="2024"/>
                    <a:pt x="2024" y="0"/>
                    <a:pt x="4534" y="0"/>
                  </a:cubicBezTo>
                  <a:lnTo>
                    <a:pt x="348396" y="0"/>
                  </a:lnTo>
                  <a:cubicBezTo>
                    <a:pt x="350906" y="0"/>
                    <a:pt x="352930" y="2024"/>
                    <a:pt x="352930" y="4534"/>
                  </a:cubicBezTo>
                  <a:lnTo>
                    <a:pt x="352930" y="99306"/>
                  </a:lnTo>
                  <a:cubicBezTo>
                    <a:pt x="352930" y="101817"/>
                    <a:pt x="350906" y="103840"/>
                    <a:pt x="348396" y="103840"/>
                  </a:cubicBezTo>
                  <a:close/>
                </a:path>
              </a:pathLst>
            </a:custGeom>
            <a:solidFill>
              <a:schemeClr val="accent6"/>
            </a:solidFill>
            <a:ln w="3745" cap="flat">
              <a:noFill/>
              <a:prstDash val="solid"/>
              <a:miter/>
            </a:ln>
          </p:spPr>
          <p:txBody>
            <a:bodyPr rtlCol="0" anchor="ctr"/>
            <a:lstStyle/>
            <a:p>
              <a:endParaRPr lang="en-US"/>
            </a:p>
          </p:txBody>
        </p:sp>
        <p:sp>
          <p:nvSpPr>
            <p:cNvPr id="570" name="Freeform: Shape 569">
              <a:extLst>
                <a:ext uri="{FF2B5EF4-FFF2-40B4-BE49-F238E27FC236}">
                  <a16:creationId xmlns:a16="http://schemas.microsoft.com/office/drawing/2014/main" id="{1513EE11-11CF-4A4E-A241-0D557928DE95}"/>
                </a:ext>
              </a:extLst>
            </p:cNvPr>
            <p:cNvSpPr/>
            <p:nvPr/>
          </p:nvSpPr>
          <p:spPr>
            <a:xfrm>
              <a:off x="6221684" y="7465947"/>
              <a:ext cx="9068" cy="133070"/>
            </a:xfrm>
            <a:custGeom>
              <a:avLst/>
              <a:gdLst>
                <a:gd name="connsiteX0" fmla="*/ 4534 w 9068"/>
                <a:gd name="connsiteY0" fmla="*/ 133070 h 133070"/>
                <a:gd name="connsiteX1" fmla="*/ 0 w 9068"/>
                <a:gd name="connsiteY1" fmla="*/ 128536 h 133070"/>
                <a:gd name="connsiteX2" fmla="*/ 0 w 9068"/>
                <a:gd name="connsiteY2" fmla="*/ 4534 h 133070"/>
                <a:gd name="connsiteX3" fmla="*/ 4534 w 9068"/>
                <a:gd name="connsiteY3" fmla="*/ 0 h 133070"/>
                <a:gd name="connsiteX4" fmla="*/ 9069 w 9068"/>
                <a:gd name="connsiteY4" fmla="*/ 4534 h 133070"/>
                <a:gd name="connsiteX5" fmla="*/ 9069 w 9068"/>
                <a:gd name="connsiteY5" fmla="*/ 128536 h 133070"/>
                <a:gd name="connsiteX6" fmla="*/ 4534 w 9068"/>
                <a:gd name="connsiteY6" fmla="*/ 133070 h 133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68" h="133070">
                  <a:moveTo>
                    <a:pt x="4534" y="133070"/>
                  </a:moveTo>
                  <a:cubicBezTo>
                    <a:pt x="2024" y="133070"/>
                    <a:pt x="0" y="131046"/>
                    <a:pt x="0" y="128536"/>
                  </a:cubicBezTo>
                  <a:lnTo>
                    <a:pt x="0" y="4534"/>
                  </a:lnTo>
                  <a:cubicBezTo>
                    <a:pt x="0" y="2024"/>
                    <a:pt x="2024" y="0"/>
                    <a:pt x="4534" y="0"/>
                  </a:cubicBezTo>
                  <a:cubicBezTo>
                    <a:pt x="7045" y="0"/>
                    <a:pt x="9069" y="2024"/>
                    <a:pt x="9069" y="4534"/>
                  </a:cubicBezTo>
                  <a:lnTo>
                    <a:pt x="9069" y="128536"/>
                  </a:lnTo>
                  <a:cubicBezTo>
                    <a:pt x="9069" y="131046"/>
                    <a:pt x="7045" y="133070"/>
                    <a:pt x="4534" y="133070"/>
                  </a:cubicBezTo>
                  <a:close/>
                </a:path>
              </a:pathLst>
            </a:custGeom>
            <a:solidFill>
              <a:schemeClr val="accent6"/>
            </a:solidFill>
            <a:ln w="3745" cap="flat">
              <a:noFill/>
              <a:prstDash val="solid"/>
              <a:miter/>
            </a:ln>
          </p:spPr>
          <p:txBody>
            <a:bodyPr rtlCol="0" anchor="ctr"/>
            <a:lstStyle/>
            <a:p>
              <a:endParaRPr lang="en-US"/>
            </a:p>
          </p:txBody>
        </p:sp>
        <p:sp>
          <p:nvSpPr>
            <p:cNvPr id="571" name="Freeform: Shape 570">
              <a:extLst>
                <a:ext uri="{FF2B5EF4-FFF2-40B4-BE49-F238E27FC236}">
                  <a16:creationId xmlns:a16="http://schemas.microsoft.com/office/drawing/2014/main" id="{2F69577C-A7F9-49D6-BEB8-3B8E7F19E404}"/>
                </a:ext>
              </a:extLst>
            </p:cNvPr>
            <p:cNvSpPr/>
            <p:nvPr/>
          </p:nvSpPr>
          <p:spPr>
            <a:xfrm>
              <a:off x="6334630" y="7671080"/>
              <a:ext cx="133969" cy="36424"/>
            </a:xfrm>
            <a:custGeom>
              <a:avLst/>
              <a:gdLst>
                <a:gd name="connsiteX0" fmla="*/ 18212 w 133969"/>
                <a:gd name="connsiteY0" fmla="*/ 36425 h 36424"/>
                <a:gd name="connsiteX1" fmla="*/ 115757 w 133969"/>
                <a:gd name="connsiteY1" fmla="*/ 36425 h 36424"/>
                <a:gd name="connsiteX2" fmla="*/ 133969 w 133969"/>
                <a:gd name="connsiteY2" fmla="*/ 18212 h 36424"/>
                <a:gd name="connsiteX3" fmla="*/ 115757 w 133969"/>
                <a:gd name="connsiteY3" fmla="*/ 0 h 36424"/>
                <a:gd name="connsiteX4" fmla="*/ 18212 w 133969"/>
                <a:gd name="connsiteY4" fmla="*/ 0 h 36424"/>
                <a:gd name="connsiteX5" fmla="*/ 0 w 133969"/>
                <a:gd name="connsiteY5" fmla="*/ 18212 h 36424"/>
                <a:gd name="connsiteX6" fmla="*/ 18212 w 133969"/>
                <a:gd name="connsiteY6" fmla="*/ 36425 h 36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969" h="36424">
                  <a:moveTo>
                    <a:pt x="18212" y="36425"/>
                  </a:moveTo>
                  <a:lnTo>
                    <a:pt x="115757" y="36425"/>
                  </a:lnTo>
                  <a:cubicBezTo>
                    <a:pt x="125800" y="36425"/>
                    <a:pt x="133969" y="28255"/>
                    <a:pt x="133969" y="18212"/>
                  </a:cubicBezTo>
                  <a:cubicBezTo>
                    <a:pt x="133969" y="8169"/>
                    <a:pt x="125800" y="0"/>
                    <a:pt x="115757" y="0"/>
                  </a:cubicBezTo>
                  <a:lnTo>
                    <a:pt x="18212" y="0"/>
                  </a:lnTo>
                  <a:cubicBezTo>
                    <a:pt x="8169" y="0"/>
                    <a:pt x="0" y="8169"/>
                    <a:pt x="0" y="18212"/>
                  </a:cubicBezTo>
                  <a:cubicBezTo>
                    <a:pt x="0" y="28255"/>
                    <a:pt x="8169" y="36425"/>
                    <a:pt x="18212" y="36425"/>
                  </a:cubicBezTo>
                  <a:close/>
                </a:path>
              </a:pathLst>
            </a:custGeom>
            <a:solidFill>
              <a:schemeClr val="accent6"/>
            </a:solidFill>
            <a:ln w="3745" cap="flat">
              <a:noFill/>
              <a:prstDash val="solid"/>
              <a:miter/>
            </a:ln>
          </p:spPr>
          <p:txBody>
            <a:bodyPr rtlCol="0" anchor="ctr"/>
            <a:lstStyle/>
            <a:p>
              <a:endParaRPr lang="en-US"/>
            </a:p>
          </p:txBody>
        </p:sp>
        <p:sp>
          <p:nvSpPr>
            <p:cNvPr id="572" name="Freeform: Shape 571">
              <a:extLst>
                <a:ext uri="{FF2B5EF4-FFF2-40B4-BE49-F238E27FC236}">
                  <a16:creationId xmlns:a16="http://schemas.microsoft.com/office/drawing/2014/main" id="{666AE779-57EA-46DE-9025-F11934E71F8F}"/>
                </a:ext>
              </a:extLst>
            </p:cNvPr>
            <p:cNvSpPr/>
            <p:nvPr/>
          </p:nvSpPr>
          <p:spPr>
            <a:xfrm>
              <a:off x="5990769" y="7671080"/>
              <a:ext cx="133969" cy="36424"/>
            </a:xfrm>
            <a:custGeom>
              <a:avLst/>
              <a:gdLst>
                <a:gd name="connsiteX0" fmla="*/ 18212 w 133969"/>
                <a:gd name="connsiteY0" fmla="*/ 36425 h 36424"/>
                <a:gd name="connsiteX1" fmla="*/ 115757 w 133969"/>
                <a:gd name="connsiteY1" fmla="*/ 36425 h 36424"/>
                <a:gd name="connsiteX2" fmla="*/ 133969 w 133969"/>
                <a:gd name="connsiteY2" fmla="*/ 18212 h 36424"/>
                <a:gd name="connsiteX3" fmla="*/ 115757 w 133969"/>
                <a:gd name="connsiteY3" fmla="*/ 0 h 36424"/>
                <a:gd name="connsiteX4" fmla="*/ 18212 w 133969"/>
                <a:gd name="connsiteY4" fmla="*/ 0 h 36424"/>
                <a:gd name="connsiteX5" fmla="*/ 0 w 133969"/>
                <a:gd name="connsiteY5" fmla="*/ 18212 h 36424"/>
                <a:gd name="connsiteX6" fmla="*/ 18212 w 133969"/>
                <a:gd name="connsiteY6" fmla="*/ 36425 h 36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969" h="36424">
                  <a:moveTo>
                    <a:pt x="18212" y="36425"/>
                  </a:moveTo>
                  <a:lnTo>
                    <a:pt x="115757" y="36425"/>
                  </a:lnTo>
                  <a:cubicBezTo>
                    <a:pt x="125800" y="36425"/>
                    <a:pt x="133969" y="28255"/>
                    <a:pt x="133969" y="18212"/>
                  </a:cubicBezTo>
                  <a:cubicBezTo>
                    <a:pt x="133969" y="8169"/>
                    <a:pt x="125800" y="0"/>
                    <a:pt x="115757" y="0"/>
                  </a:cubicBezTo>
                  <a:lnTo>
                    <a:pt x="18212" y="0"/>
                  </a:lnTo>
                  <a:cubicBezTo>
                    <a:pt x="8169" y="0"/>
                    <a:pt x="0" y="8169"/>
                    <a:pt x="0" y="18212"/>
                  </a:cubicBezTo>
                  <a:cubicBezTo>
                    <a:pt x="0" y="28255"/>
                    <a:pt x="8169" y="36425"/>
                    <a:pt x="18212" y="36425"/>
                  </a:cubicBezTo>
                  <a:close/>
                </a:path>
              </a:pathLst>
            </a:custGeom>
            <a:solidFill>
              <a:srgbClr val="62B276"/>
            </a:solidFill>
            <a:ln w="3745" cap="flat">
              <a:noFill/>
              <a:prstDash val="solid"/>
              <a:miter/>
            </a:ln>
          </p:spPr>
          <p:txBody>
            <a:bodyPr rtlCol="0" anchor="ctr"/>
            <a:lstStyle/>
            <a:p>
              <a:endParaRPr lang="en-US"/>
            </a:p>
          </p:txBody>
        </p:sp>
        <p:sp>
          <p:nvSpPr>
            <p:cNvPr id="573" name="Freeform: Shape 572">
              <a:extLst>
                <a:ext uri="{FF2B5EF4-FFF2-40B4-BE49-F238E27FC236}">
                  <a16:creationId xmlns:a16="http://schemas.microsoft.com/office/drawing/2014/main" id="{EDF5B82A-7046-496E-B2DA-2D528F35B99F}"/>
                </a:ext>
              </a:extLst>
            </p:cNvPr>
            <p:cNvSpPr/>
            <p:nvPr/>
          </p:nvSpPr>
          <p:spPr>
            <a:xfrm>
              <a:off x="5977091" y="7400855"/>
              <a:ext cx="498216" cy="9068"/>
            </a:xfrm>
            <a:custGeom>
              <a:avLst/>
              <a:gdLst>
                <a:gd name="connsiteX0" fmla="*/ 493682 w 498216"/>
                <a:gd name="connsiteY0" fmla="*/ 9069 h 9068"/>
                <a:gd name="connsiteX1" fmla="*/ 4534 w 498216"/>
                <a:gd name="connsiteY1" fmla="*/ 9069 h 9068"/>
                <a:gd name="connsiteX2" fmla="*/ 0 w 498216"/>
                <a:gd name="connsiteY2" fmla="*/ 4534 h 9068"/>
                <a:gd name="connsiteX3" fmla="*/ 4534 w 498216"/>
                <a:gd name="connsiteY3" fmla="*/ 0 h 9068"/>
                <a:gd name="connsiteX4" fmla="*/ 493682 w 498216"/>
                <a:gd name="connsiteY4" fmla="*/ 0 h 9068"/>
                <a:gd name="connsiteX5" fmla="*/ 498216 w 498216"/>
                <a:gd name="connsiteY5" fmla="*/ 4534 h 9068"/>
                <a:gd name="connsiteX6" fmla="*/ 493682 w 498216"/>
                <a:gd name="connsiteY6" fmla="*/ 9069 h 9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8216" h="9068">
                  <a:moveTo>
                    <a:pt x="493682" y="9069"/>
                  </a:moveTo>
                  <a:lnTo>
                    <a:pt x="4534" y="9069"/>
                  </a:lnTo>
                  <a:cubicBezTo>
                    <a:pt x="2024" y="9069"/>
                    <a:pt x="0" y="7045"/>
                    <a:pt x="0" y="4534"/>
                  </a:cubicBezTo>
                  <a:cubicBezTo>
                    <a:pt x="0" y="2024"/>
                    <a:pt x="2024" y="0"/>
                    <a:pt x="4534" y="0"/>
                  </a:cubicBezTo>
                  <a:lnTo>
                    <a:pt x="493682" y="0"/>
                  </a:lnTo>
                  <a:cubicBezTo>
                    <a:pt x="496193" y="0"/>
                    <a:pt x="498216" y="2024"/>
                    <a:pt x="498216" y="4534"/>
                  </a:cubicBezTo>
                  <a:cubicBezTo>
                    <a:pt x="498216" y="7045"/>
                    <a:pt x="496193" y="9069"/>
                    <a:pt x="493682" y="9069"/>
                  </a:cubicBezTo>
                  <a:close/>
                </a:path>
              </a:pathLst>
            </a:custGeom>
            <a:solidFill>
              <a:schemeClr val="accent6">
                <a:lumMod val="75000"/>
              </a:schemeClr>
            </a:solidFill>
            <a:ln w="3745" cap="flat">
              <a:noFill/>
              <a:prstDash val="solid"/>
              <a:miter/>
            </a:ln>
          </p:spPr>
          <p:txBody>
            <a:bodyPr rtlCol="0" anchor="ctr"/>
            <a:lstStyle/>
            <a:p>
              <a:endParaRPr lang="en-US"/>
            </a:p>
          </p:txBody>
        </p:sp>
        <p:sp>
          <p:nvSpPr>
            <p:cNvPr id="574" name="Freeform: Shape 573">
              <a:extLst>
                <a:ext uri="{FF2B5EF4-FFF2-40B4-BE49-F238E27FC236}">
                  <a16:creationId xmlns:a16="http://schemas.microsoft.com/office/drawing/2014/main" id="{AD2BBCCF-4301-43F6-B88E-E3FD41D750DF}"/>
                </a:ext>
              </a:extLst>
            </p:cNvPr>
            <p:cNvSpPr/>
            <p:nvPr/>
          </p:nvSpPr>
          <p:spPr>
            <a:xfrm rot="19888199">
              <a:off x="6316326" y="7206027"/>
              <a:ext cx="310659" cy="310659"/>
            </a:xfrm>
            <a:custGeom>
              <a:avLst/>
              <a:gdLst>
                <a:gd name="connsiteX0" fmla="*/ 310659 w 310659"/>
                <a:gd name="connsiteY0" fmla="*/ 155330 h 310659"/>
                <a:gd name="connsiteX1" fmla="*/ 155330 w 310659"/>
                <a:gd name="connsiteY1" fmla="*/ 310659 h 310659"/>
                <a:gd name="connsiteX2" fmla="*/ 0 w 310659"/>
                <a:gd name="connsiteY2" fmla="*/ 155330 h 310659"/>
                <a:gd name="connsiteX3" fmla="*/ 155330 w 310659"/>
                <a:gd name="connsiteY3" fmla="*/ 0 h 310659"/>
                <a:gd name="connsiteX4" fmla="*/ 310659 w 310659"/>
                <a:gd name="connsiteY4" fmla="*/ 155330 h 310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659" h="310659">
                  <a:moveTo>
                    <a:pt x="310659" y="155330"/>
                  </a:moveTo>
                  <a:cubicBezTo>
                    <a:pt x="310659" y="241116"/>
                    <a:pt x="241116" y="310659"/>
                    <a:pt x="155330" y="310659"/>
                  </a:cubicBezTo>
                  <a:cubicBezTo>
                    <a:pt x="69543" y="310659"/>
                    <a:pt x="0" y="241116"/>
                    <a:pt x="0" y="155330"/>
                  </a:cubicBezTo>
                  <a:cubicBezTo>
                    <a:pt x="0" y="69543"/>
                    <a:pt x="69543" y="0"/>
                    <a:pt x="155330" y="0"/>
                  </a:cubicBezTo>
                  <a:cubicBezTo>
                    <a:pt x="241116" y="0"/>
                    <a:pt x="310659" y="69543"/>
                    <a:pt x="310659" y="155330"/>
                  </a:cubicBezTo>
                  <a:close/>
                </a:path>
              </a:pathLst>
            </a:custGeom>
            <a:solidFill>
              <a:schemeClr val="accent3"/>
            </a:solidFill>
            <a:ln w="3745" cap="flat">
              <a:noFill/>
              <a:prstDash val="solid"/>
              <a:miter/>
            </a:ln>
          </p:spPr>
          <p:txBody>
            <a:bodyPr rtlCol="0" anchor="ctr"/>
            <a:lstStyle/>
            <a:p>
              <a:endParaRPr lang="en-US"/>
            </a:p>
          </p:txBody>
        </p:sp>
        <p:grpSp>
          <p:nvGrpSpPr>
            <p:cNvPr id="575" name="Graphic 826">
              <a:extLst>
                <a:ext uri="{FF2B5EF4-FFF2-40B4-BE49-F238E27FC236}">
                  <a16:creationId xmlns:a16="http://schemas.microsoft.com/office/drawing/2014/main" id="{0736DA26-6362-4D56-9928-D1D7D8144CB8}"/>
                </a:ext>
              </a:extLst>
            </p:cNvPr>
            <p:cNvGrpSpPr/>
            <p:nvPr/>
          </p:nvGrpSpPr>
          <p:grpSpPr>
            <a:xfrm>
              <a:off x="6373004" y="7263176"/>
              <a:ext cx="196588" cy="196588"/>
              <a:chOff x="6373004" y="5738033"/>
              <a:chExt cx="196588" cy="196588"/>
            </a:xfrm>
            <a:solidFill>
              <a:srgbClr val="FFFFFF"/>
            </a:solidFill>
          </p:grpSpPr>
          <p:sp>
            <p:nvSpPr>
              <p:cNvPr id="603" name="Freeform: Shape 602">
                <a:extLst>
                  <a:ext uri="{FF2B5EF4-FFF2-40B4-BE49-F238E27FC236}">
                    <a16:creationId xmlns:a16="http://schemas.microsoft.com/office/drawing/2014/main" id="{BE0D2818-4EBD-4BB1-9011-94BF45DFE86F}"/>
                  </a:ext>
                </a:extLst>
              </p:cNvPr>
              <p:cNvSpPr/>
              <p:nvPr/>
            </p:nvSpPr>
            <p:spPr>
              <a:xfrm>
                <a:off x="6373004" y="5738033"/>
                <a:ext cx="196588" cy="196588"/>
              </a:xfrm>
              <a:custGeom>
                <a:avLst/>
                <a:gdLst>
                  <a:gd name="connsiteX0" fmla="*/ 98294 w 196588"/>
                  <a:gd name="connsiteY0" fmla="*/ 196588 h 196588"/>
                  <a:gd name="connsiteX1" fmla="*/ 0 w 196588"/>
                  <a:gd name="connsiteY1" fmla="*/ 98294 h 196588"/>
                  <a:gd name="connsiteX2" fmla="*/ 98294 w 196588"/>
                  <a:gd name="connsiteY2" fmla="*/ 0 h 196588"/>
                  <a:gd name="connsiteX3" fmla="*/ 196588 w 196588"/>
                  <a:gd name="connsiteY3" fmla="*/ 98294 h 196588"/>
                  <a:gd name="connsiteX4" fmla="*/ 98294 w 196588"/>
                  <a:gd name="connsiteY4" fmla="*/ 196588 h 196588"/>
                  <a:gd name="connsiteX5" fmla="*/ 98294 w 196588"/>
                  <a:gd name="connsiteY5" fmla="*/ 6258 h 196588"/>
                  <a:gd name="connsiteX6" fmla="*/ 6258 w 196588"/>
                  <a:gd name="connsiteY6" fmla="*/ 98294 h 196588"/>
                  <a:gd name="connsiteX7" fmla="*/ 98294 w 196588"/>
                  <a:gd name="connsiteY7" fmla="*/ 190330 h 196588"/>
                  <a:gd name="connsiteX8" fmla="*/ 190330 w 196588"/>
                  <a:gd name="connsiteY8" fmla="*/ 98294 h 196588"/>
                  <a:gd name="connsiteX9" fmla="*/ 98294 w 196588"/>
                  <a:gd name="connsiteY9" fmla="*/ 6258 h 196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588" h="196588">
                    <a:moveTo>
                      <a:pt x="98294" y="196588"/>
                    </a:moveTo>
                    <a:cubicBezTo>
                      <a:pt x="44107" y="196588"/>
                      <a:pt x="0" y="152482"/>
                      <a:pt x="0" y="98294"/>
                    </a:cubicBezTo>
                    <a:cubicBezTo>
                      <a:pt x="0" y="44107"/>
                      <a:pt x="44107" y="0"/>
                      <a:pt x="98294" y="0"/>
                    </a:cubicBezTo>
                    <a:cubicBezTo>
                      <a:pt x="152482" y="0"/>
                      <a:pt x="196588" y="44107"/>
                      <a:pt x="196588" y="98294"/>
                    </a:cubicBezTo>
                    <a:cubicBezTo>
                      <a:pt x="196588" y="152482"/>
                      <a:pt x="152482" y="196588"/>
                      <a:pt x="98294" y="196588"/>
                    </a:cubicBezTo>
                    <a:close/>
                    <a:moveTo>
                      <a:pt x="98294" y="6258"/>
                    </a:moveTo>
                    <a:cubicBezTo>
                      <a:pt x="47554" y="6258"/>
                      <a:pt x="6258" y="47554"/>
                      <a:pt x="6258" y="98294"/>
                    </a:cubicBezTo>
                    <a:cubicBezTo>
                      <a:pt x="6258" y="149034"/>
                      <a:pt x="47554" y="190330"/>
                      <a:pt x="98294" y="190330"/>
                    </a:cubicBezTo>
                    <a:cubicBezTo>
                      <a:pt x="149034" y="190330"/>
                      <a:pt x="190330" y="149034"/>
                      <a:pt x="190330" y="98294"/>
                    </a:cubicBezTo>
                    <a:cubicBezTo>
                      <a:pt x="190330" y="47554"/>
                      <a:pt x="149034" y="6258"/>
                      <a:pt x="98294" y="6258"/>
                    </a:cubicBezTo>
                    <a:close/>
                  </a:path>
                </a:pathLst>
              </a:custGeom>
              <a:solidFill>
                <a:srgbClr val="FFFFFF"/>
              </a:solidFill>
              <a:ln w="3745" cap="flat">
                <a:noFill/>
                <a:prstDash val="solid"/>
                <a:miter/>
              </a:ln>
            </p:spPr>
            <p:txBody>
              <a:bodyPr rtlCol="0" anchor="ctr"/>
              <a:lstStyle/>
              <a:p>
                <a:endParaRPr lang="en-US"/>
              </a:p>
            </p:txBody>
          </p:sp>
          <p:sp>
            <p:nvSpPr>
              <p:cNvPr id="604" name="Freeform: Shape 603">
                <a:extLst>
                  <a:ext uri="{FF2B5EF4-FFF2-40B4-BE49-F238E27FC236}">
                    <a16:creationId xmlns:a16="http://schemas.microsoft.com/office/drawing/2014/main" id="{A0FE467A-DA37-41A9-ABD8-139548A68C5B}"/>
                  </a:ext>
                </a:extLst>
              </p:cNvPr>
              <p:cNvSpPr/>
              <p:nvPr/>
            </p:nvSpPr>
            <p:spPr>
              <a:xfrm>
                <a:off x="6405231" y="5738033"/>
                <a:ext cx="132133" cy="196588"/>
              </a:xfrm>
              <a:custGeom>
                <a:avLst/>
                <a:gdLst>
                  <a:gd name="connsiteX0" fmla="*/ 66067 w 132133"/>
                  <a:gd name="connsiteY0" fmla="*/ 196588 h 196588"/>
                  <a:gd name="connsiteX1" fmla="*/ 0 w 132133"/>
                  <a:gd name="connsiteY1" fmla="*/ 98294 h 196588"/>
                  <a:gd name="connsiteX2" fmla="*/ 66067 w 132133"/>
                  <a:gd name="connsiteY2" fmla="*/ 0 h 196588"/>
                  <a:gd name="connsiteX3" fmla="*/ 132133 w 132133"/>
                  <a:gd name="connsiteY3" fmla="*/ 98294 h 196588"/>
                  <a:gd name="connsiteX4" fmla="*/ 66067 w 132133"/>
                  <a:gd name="connsiteY4" fmla="*/ 196588 h 196588"/>
                  <a:gd name="connsiteX5" fmla="*/ 66067 w 132133"/>
                  <a:gd name="connsiteY5" fmla="*/ 6258 h 196588"/>
                  <a:gd name="connsiteX6" fmla="*/ 6258 w 132133"/>
                  <a:gd name="connsiteY6" fmla="*/ 98294 h 196588"/>
                  <a:gd name="connsiteX7" fmla="*/ 66067 w 132133"/>
                  <a:gd name="connsiteY7" fmla="*/ 190330 h 196588"/>
                  <a:gd name="connsiteX8" fmla="*/ 125875 w 132133"/>
                  <a:gd name="connsiteY8" fmla="*/ 98294 h 196588"/>
                  <a:gd name="connsiteX9" fmla="*/ 66067 w 132133"/>
                  <a:gd name="connsiteY9" fmla="*/ 6258 h 196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2133" h="196588">
                    <a:moveTo>
                      <a:pt x="66067" y="196588"/>
                    </a:moveTo>
                    <a:cubicBezTo>
                      <a:pt x="29642" y="196588"/>
                      <a:pt x="0" y="152482"/>
                      <a:pt x="0" y="98294"/>
                    </a:cubicBezTo>
                    <a:cubicBezTo>
                      <a:pt x="0" y="44107"/>
                      <a:pt x="29642" y="0"/>
                      <a:pt x="66067" y="0"/>
                    </a:cubicBezTo>
                    <a:cubicBezTo>
                      <a:pt x="102491" y="0"/>
                      <a:pt x="132133" y="44107"/>
                      <a:pt x="132133" y="98294"/>
                    </a:cubicBezTo>
                    <a:cubicBezTo>
                      <a:pt x="132133" y="152482"/>
                      <a:pt x="102491" y="196588"/>
                      <a:pt x="66067" y="196588"/>
                    </a:cubicBezTo>
                    <a:close/>
                    <a:moveTo>
                      <a:pt x="66067" y="6258"/>
                    </a:moveTo>
                    <a:cubicBezTo>
                      <a:pt x="33089" y="6258"/>
                      <a:pt x="6258" y="47554"/>
                      <a:pt x="6258" y="98294"/>
                    </a:cubicBezTo>
                    <a:cubicBezTo>
                      <a:pt x="6258" y="149034"/>
                      <a:pt x="33089" y="190330"/>
                      <a:pt x="66067" y="190330"/>
                    </a:cubicBezTo>
                    <a:cubicBezTo>
                      <a:pt x="99044" y="190330"/>
                      <a:pt x="125875" y="149034"/>
                      <a:pt x="125875" y="98294"/>
                    </a:cubicBezTo>
                    <a:cubicBezTo>
                      <a:pt x="125875" y="47554"/>
                      <a:pt x="99044" y="6258"/>
                      <a:pt x="66067" y="6258"/>
                    </a:cubicBezTo>
                    <a:close/>
                  </a:path>
                </a:pathLst>
              </a:custGeom>
              <a:solidFill>
                <a:srgbClr val="FFFFFF"/>
              </a:solidFill>
              <a:ln w="3745" cap="flat">
                <a:noFill/>
                <a:prstDash val="solid"/>
                <a:miter/>
              </a:ln>
            </p:spPr>
            <p:txBody>
              <a:bodyPr rtlCol="0" anchor="ctr"/>
              <a:lstStyle/>
              <a:p>
                <a:endParaRPr lang="en-US"/>
              </a:p>
            </p:txBody>
          </p:sp>
          <p:sp>
            <p:nvSpPr>
              <p:cNvPr id="605" name="Freeform: Shape 604">
                <a:extLst>
                  <a:ext uri="{FF2B5EF4-FFF2-40B4-BE49-F238E27FC236}">
                    <a16:creationId xmlns:a16="http://schemas.microsoft.com/office/drawing/2014/main" id="{63718384-6BA7-46A7-A04E-2DBD16518BDA}"/>
                  </a:ext>
                </a:extLst>
              </p:cNvPr>
              <p:cNvSpPr/>
              <p:nvPr/>
            </p:nvSpPr>
            <p:spPr>
              <a:xfrm>
                <a:off x="6373004" y="5833254"/>
                <a:ext cx="196550" cy="6220"/>
              </a:xfrm>
              <a:custGeom>
                <a:avLst/>
                <a:gdLst>
                  <a:gd name="connsiteX0" fmla="*/ 193441 w 196550"/>
                  <a:gd name="connsiteY0" fmla="*/ 6221 h 6220"/>
                  <a:gd name="connsiteX1" fmla="*/ 3110 w 196550"/>
                  <a:gd name="connsiteY1" fmla="*/ 6221 h 6220"/>
                  <a:gd name="connsiteX2" fmla="*/ 0 w 196550"/>
                  <a:gd name="connsiteY2" fmla="*/ 3110 h 6220"/>
                  <a:gd name="connsiteX3" fmla="*/ 3110 w 196550"/>
                  <a:gd name="connsiteY3" fmla="*/ 0 h 6220"/>
                  <a:gd name="connsiteX4" fmla="*/ 193441 w 196550"/>
                  <a:gd name="connsiteY4" fmla="*/ 0 h 6220"/>
                  <a:gd name="connsiteX5" fmla="*/ 196551 w 196550"/>
                  <a:gd name="connsiteY5" fmla="*/ 3110 h 6220"/>
                  <a:gd name="connsiteX6" fmla="*/ 193441 w 196550"/>
                  <a:gd name="connsiteY6" fmla="*/ 6221 h 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550" h="6220">
                    <a:moveTo>
                      <a:pt x="193441" y="6221"/>
                    </a:moveTo>
                    <a:lnTo>
                      <a:pt x="3110" y="6221"/>
                    </a:lnTo>
                    <a:cubicBezTo>
                      <a:pt x="1387" y="6221"/>
                      <a:pt x="0" y="4834"/>
                      <a:pt x="0" y="3110"/>
                    </a:cubicBezTo>
                    <a:cubicBezTo>
                      <a:pt x="0" y="1387"/>
                      <a:pt x="1387" y="0"/>
                      <a:pt x="3110" y="0"/>
                    </a:cubicBezTo>
                    <a:lnTo>
                      <a:pt x="193441" y="0"/>
                    </a:lnTo>
                    <a:cubicBezTo>
                      <a:pt x="195164" y="0"/>
                      <a:pt x="196551" y="1387"/>
                      <a:pt x="196551" y="3110"/>
                    </a:cubicBezTo>
                    <a:cubicBezTo>
                      <a:pt x="196551" y="4834"/>
                      <a:pt x="195164" y="6221"/>
                      <a:pt x="193441" y="6221"/>
                    </a:cubicBezTo>
                    <a:close/>
                  </a:path>
                </a:pathLst>
              </a:custGeom>
              <a:solidFill>
                <a:srgbClr val="FFFFFF"/>
              </a:solidFill>
              <a:ln w="3745" cap="flat">
                <a:noFill/>
                <a:prstDash val="solid"/>
                <a:miter/>
              </a:ln>
            </p:spPr>
            <p:txBody>
              <a:bodyPr rtlCol="0" anchor="ctr"/>
              <a:lstStyle/>
              <a:p>
                <a:endParaRPr lang="en-US"/>
              </a:p>
            </p:txBody>
          </p:sp>
          <p:sp>
            <p:nvSpPr>
              <p:cNvPr id="606" name="Freeform: Shape 605">
                <a:extLst>
                  <a:ext uri="{FF2B5EF4-FFF2-40B4-BE49-F238E27FC236}">
                    <a16:creationId xmlns:a16="http://schemas.microsoft.com/office/drawing/2014/main" id="{47EC7216-7A0B-4DC1-9EA3-5EF7C1EB03B6}"/>
                  </a:ext>
                </a:extLst>
              </p:cNvPr>
              <p:cNvSpPr/>
              <p:nvPr/>
            </p:nvSpPr>
            <p:spPr>
              <a:xfrm>
                <a:off x="6468188" y="5738070"/>
                <a:ext cx="6220" cy="196551"/>
              </a:xfrm>
              <a:custGeom>
                <a:avLst/>
                <a:gdLst>
                  <a:gd name="connsiteX0" fmla="*/ 3110 w 6220"/>
                  <a:gd name="connsiteY0" fmla="*/ 196551 h 196551"/>
                  <a:gd name="connsiteX1" fmla="*/ 0 w 6220"/>
                  <a:gd name="connsiteY1" fmla="*/ 193441 h 196551"/>
                  <a:gd name="connsiteX2" fmla="*/ 0 w 6220"/>
                  <a:gd name="connsiteY2" fmla="*/ 3110 h 196551"/>
                  <a:gd name="connsiteX3" fmla="*/ 3110 w 6220"/>
                  <a:gd name="connsiteY3" fmla="*/ 0 h 196551"/>
                  <a:gd name="connsiteX4" fmla="*/ 6221 w 6220"/>
                  <a:gd name="connsiteY4" fmla="*/ 3110 h 196551"/>
                  <a:gd name="connsiteX5" fmla="*/ 6221 w 6220"/>
                  <a:gd name="connsiteY5" fmla="*/ 193441 h 196551"/>
                  <a:gd name="connsiteX6" fmla="*/ 3110 w 6220"/>
                  <a:gd name="connsiteY6" fmla="*/ 196551 h 196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20" h="196551">
                    <a:moveTo>
                      <a:pt x="3110" y="196551"/>
                    </a:moveTo>
                    <a:cubicBezTo>
                      <a:pt x="1387" y="196551"/>
                      <a:pt x="0" y="195164"/>
                      <a:pt x="0" y="193441"/>
                    </a:cubicBezTo>
                    <a:lnTo>
                      <a:pt x="0" y="3110"/>
                    </a:lnTo>
                    <a:cubicBezTo>
                      <a:pt x="0" y="1387"/>
                      <a:pt x="1387" y="0"/>
                      <a:pt x="3110" y="0"/>
                    </a:cubicBezTo>
                    <a:cubicBezTo>
                      <a:pt x="4834" y="0"/>
                      <a:pt x="6221" y="1387"/>
                      <a:pt x="6221" y="3110"/>
                    </a:cubicBezTo>
                    <a:lnTo>
                      <a:pt x="6221" y="193441"/>
                    </a:lnTo>
                    <a:cubicBezTo>
                      <a:pt x="6221" y="195164"/>
                      <a:pt x="4834" y="196551"/>
                      <a:pt x="3110" y="196551"/>
                    </a:cubicBezTo>
                    <a:close/>
                  </a:path>
                </a:pathLst>
              </a:custGeom>
              <a:solidFill>
                <a:srgbClr val="FFFFFF"/>
              </a:solidFill>
              <a:ln w="3745" cap="flat">
                <a:noFill/>
                <a:prstDash val="solid"/>
                <a:miter/>
              </a:ln>
            </p:spPr>
            <p:txBody>
              <a:bodyPr rtlCol="0" anchor="ctr"/>
              <a:lstStyle/>
              <a:p>
                <a:endParaRPr lang="en-US"/>
              </a:p>
            </p:txBody>
          </p:sp>
        </p:grpSp>
        <p:sp>
          <p:nvSpPr>
            <p:cNvPr id="576" name="Freeform: Shape 575">
              <a:extLst>
                <a:ext uri="{FF2B5EF4-FFF2-40B4-BE49-F238E27FC236}">
                  <a16:creationId xmlns:a16="http://schemas.microsoft.com/office/drawing/2014/main" id="{E3CBC11F-A75C-48DA-90AC-CFC44DE7BAF4}"/>
                </a:ext>
              </a:extLst>
            </p:cNvPr>
            <p:cNvSpPr/>
            <p:nvPr/>
          </p:nvSpPr>
          <p:spPr>
            <a:xfrm>
              <a:off x="5851366" y="7537260"/>
              <a:ext cx="100368" cy="131870"/>
            </a:xfrm>
            <a:custGeom>
              <a:avLst/>
              <a:gdLst>
                <a:gd name="connsiteX0" fmla="*/ 0 w 100368"/>
                <a:gd name="connsiteY0" fmla="*/ 131871 h 131870"/>
                <a:gd name="connsiteX1" fmla="*/ 1387 w 100368"/>
                <a:gd name="connsiteY1" fmla="*/ 86190 h 131870"/>
                <a:gd name="connsiteX2" fmla="*/ 47255 w 100368"/>
                <a:gd name="connsiteY2" fmla="*/ 59733 h 131870"/>
                <a:gd name="connsiteX3" fmla="*/ 44744 w 100368"/>
                <a:gd name="connsiteY3" fmla="*/ 59022 h 131870"/>
                <a:gd name="connsiteX4" fmla="*/ 36087 w 100368"/>
                <a:gd name="connsiteY4" fmla="*/ 34139 h 131870"/>
                <a:gd name="connsiteX5" fmla="*/ 49203 w 100368"/>
                <a:gd name="connsiteY5" fmla="*/ 36575 h 131870"/>
                <a:gd name="connsiteX6" fmla="*/ 52314 w 100368"/>
                <a:gd name="connsiteY6" fmla="*/ 7532 h 131870"/>
                <a:gd name="connsiteX7" fmla="*/ 77983 w 100368"/>
                <a:gd name="connsiteY7" fmla="*/ 0 h 131870"/>
                <a:gd name="connsiteX8" fmla="*/ 87314 w 100368"/>
                <a:gd name="connsiteY8" fmla="*/ 30579 h 131870"/>
                <a:gd name="connsiteX9" fmla="*/ 95259 w 100368"/>
                <a:gd name="connsiteY9" fmla="*/ 32415 h 131870"/>
                <a:gd name="connsiteX10" fmla="*/ 99269 w 100368"/>
                <a:gd name="connsiteY10" fmla="*/ 40772 h 131870"/>
                <a:gd name="connsiteX11" fmla="*/ 93985 w 100368"/>
                <a:gd name="connsiteY11" fmla="*/ 47704 h 131870"/>
                <a:gd name="connsiteX12" fmla="*/ 66104 w 100368"/>
                <a:gd name="connsiteY12" fmla="*/ 91924 h 131870"/>
                <a:gd name="connsiteX13" fmla="*/ 71463 w 100368"/>
                <a:gd name="connsiteY13" fmla="*/ 128236 h 131870"/>
                <a:gd name="connsiteX14" fmla="*/ 0 w 100368"/>
                <a:gd name="connsiteY14" fmla="*/ 131833 h 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368" h="131870">
                  <a:moveTo>
                    <a:pt x="0" y="131871"/>
                  </a:moveTo>
                  <a:lnTo>
                    <a:pt x="1387" y="86190"/>
                  </a:lnTo>
                  <a:cubicBezTo>
                    <a:pt x="1387" y="86190"/>
                    <a:pt x="41783" y="91924"/>
                    <a:pt x="47255" y="59733"/>
                  </a:cubicBezTo>
                  <a:cubicBezTo>
                    <a:pt x="46468" y="59546"/>
                    <a:pt x="45643" y="59321"/>
                    <a:pt x="44744" y="59022"/>
                  </a:cubicBezTo>
                  <a:cubicBezTo>
                    <a:pt x="23571" y="52126"/>
                    <a:pt x="28855" y="39198"/>
                    <a:pt x="36087" y="34139"/>
                  </a:cubicBezTo>
                  <a:cubicBezTo>
                    <a:pt x="39273" y="31928"/>
                    <a:pt x="43919" y="32902"/>
                    <a:pt x="49203" y="36575"/>
                  </a:cubicBezTo>
                  <a:cubicBezTo>
                    <a:pt x="60408" y="32452"/>
                    <a:pt x="52314" y="7532"/>
                    <a:pt x="52314" y="7532"/>
                  </a:cubicBezTo>
                  <a:lnTo>
                    <a:pt x="77983" y="0"/>
                  </a:lnTo>
                  <a:cubicBezTo>
                    <a:pt x="77983" y="0"/>
                    <a:pt x="84879" y="23833"/>
                    <a:pt x="87314" y="30579"/>
                  </a:cubicBezTo>
                  <a:lnTo>
                    <a:pt x="95259" y="32415"/>
                  </a:lnTo>
                  <a:cubicBezTo>
                    <a:pt x="99531" y="32490"/>
                    <a:pt x="101892" y="37399"/>
                    <a:pt x="99269" y="40772"/>
                  </a:cubicBezTo>
                  <a:cubicBezTo>
                    <a:pt x="96908" y="43807"/>
                    <a:pt x="94622" y="46730"/>
                    <a:pt x="93985" y="47704"/>
                  </a:cubicBezTo>
                  <a:cubicBezTo>
                    <a:pt x="97994" y="63743"/>
                    <a:pt x="97732" y="87577"/>
                    <a:pt x="66104" y="91924"/>
                  </a:cubicBezTo>
                  <a:lnTo>
                    <a:pt x="71463" y="128236"/>
                  </a:lnTo>
                  <a:lnTo>
                    <a:pt x="0" y="131833"/>
                  </a:lnTo>
                  <a:close/>
                </a:path>
              </a:pathLst>
            </a:custGeom>
            <a:solidFill>
              <a:srgbClr val="FFBEBB"/>
            </a:solidFill>
            <a:ln w="3745" cap="flat">
              <a:noFill/>
              <a:prstDash val="solid"/>
              <a:miter/>
            </a:ln>
          </p:spPr>
          <p:txBody>
            <a:bodyPr rtlCol="0" anchor="ctr"/>
            <a:lstStyle/>
            <a:p>
              <a:endParaRPr lang="en-US"/>
            </a:p>
          </p:txBody>
        </p:sp>
        <p:sp>
          <p:nvSpPr>
            <p:cNvPr id="577" name="Freeform: Shape 576">
              <a:extLst>
                <a:ext uri="{FF2B5EF4-FFF2-40B4-BE49-F238E27FC236}">
                  <a16:creationId xmlns:a16="http://schemas.microsoft.com/office/drawing/2014/main" id="{CD095923-5A16-468C-AC68-8F98A97B6E35}"/>
                </a:ext>
              </a:extLst>
            </p:cNvPr>
            <p:cNvSpPr/>
            <p:nvPr/>
          </p:nvSpPr>
          <p:spPr>
            <a:xfrm>
              <a:off x="5914357" y="7552478"/>
              <a:ext cx="18648" cy="11426"/>
            </a:xfrm>
            <a:custGeom>
              <a:avLst/>
              <a:gdLst>
                <a:gd name="connsiteX0" fmla="*/ 3113 w 18648"/>
                <a:gd name="connsiteY0" fmla="*/ 11389 h 11426"/>
                <a:gd name="connsiteX1" fmla="*/ 1502 w 18648"/>
                <a:gd name="connsiteY1" fmla="*/ 10939 h 11426"/>
                <a:gd name="connsiteX2" fmla="*/ 453 w 18648"/>
                <a:gd name="connsiteY2" fmla="*/ 6667 h 11426"/>
                <a:gd name="connsiteX3" fmla="*/ 16829 w 18648"/>
                <a:gd name="connsiteY3" fmla="*/ 1234 h 11426"/>
                <a:gd name="connsiteX4" fmla="*/ 18365 w 18648"/>
                <a:gd name="connsiteY4" fmla="*/ 5393 h 11426"/>
                <a:gd name="connsiteX5" fmla="*/ 14206 w 18648"/>
                <a:gd name="connsiteY5" fmla="*/ 6930 h 11426"/>
                <a:gd name="connsiteX6" fmla="*/ 5811 w 18648"/>
                <a:gd name="connsiteY6" fmla="*/ 9965 h 11426"/>
                <a:gd name="connsiteX7" fmla="*/ 3151 w 18648"/>
                <a:gd name="connsiteY7" fmla="*/ 11426 h 11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48" h="11426">
                  <a:moveTo>
                    <a:pt x="3113" y="11389"/>
                  </a:moveTo>
                  <a:cubicBezTo>
                    <a:pt x="2551" y="11389"/>
                    <a:pt x="1989" y="11239"/>
                    <a:pt x="1502" y="10939"/>
                  </a:cubicBezTo>
                  <a:cubicBezTo>
                    <a:pt x="41" y="10040"/>
                    <a:pt x="-447" y="8129"/>
                    <a:pt x="453" y="6667"/>
                  </a:cubicBezTo>
                  <a:cubicBezTo>
                    <a:pt x="2589" y="3145"/>
                    <a:pt x="8772" y="-2514"/>
                    <a:pt x="16829" y="1234"/>
                  </a:cubicBezTo>
                  <a:cubicBezTo>
                    <a:pt x="18403" y="1946"/>
                    <a:pt x="19077" y="3819"/>
                    <a:pt x="18365" y="5393"/>
                  </a:cubicBezTo>
                  <a:cubicBezTo>
                    <a:pt x="17653" y="6967"/>
                    <a:pt x="15780" y="7642"/>
                    <a:pt x="14206" y="6930"/>
                  </a:cubicBezTo>
                  <a:cubicBezTo>
                    <a:pt x="9297" y="4644"/>
                    <a:pt x="6149" y="9403"/>
                    <a:pt x="5811" y="9965"/>
                  </a:cubicBezTo>
                  <a:cubicBezTo>
                    <a:pt x="5212" y="10902"/>
                    <a:pt x="4200" y="11426"/>
                    <a:pt x="3151" y="11426"/>
                  </a:cubicBezTo>
                  <a:close/>
                </a:path>
              </a:pathLst>
            </a:custGeom>
            <a:solidFill>
              <a:srgbClr val="1D2333"/>
            </a:solidFill>
            <a:ln w="3745" cap="flat">
              <a:noFill/>
              <a:prstDash val="solid"/>
              <a:miter/>
            </a:ln>
          </p:spPr>
          <p:txBody>
            <a:bodyPr rtlCol="0" anchor="ctr"/>
            <a:lstStyle/>
            <a:p>
              <a:endParaRPr lang="en-US"/>
            </a:p>
          </p:txBody>
        </p:sp>
        <p:sp>
          <p:nvSpPr>
            <p:cNvPr id="578" name="Freeform: Shape 577">
              <a:extLst>
                <a:ext uri="{FF2B5EF4-FFF2-40B4-BE49-F238E27FC236}">
                  <a16:creationId xmlns:a16="http://schemas.microsoft.com/office/drawing/2014/main" id="{F6FAAF72-3A58-44CF-B1E2-FFEF61D770C0}"/>
                </a:ext>
              </a:extLst>
            </p:cNvPr>
            <p:cNvSpPr/>
            <p:nvPr/>
          </p:nvSpPr>
          <p:spPr>
            <a:xfrm>
              <a:off x="5841023" y="7633003"/>
              <a:ext cx="106875" cy="34816"/>
            </a:xfrm>
            <a:custGeom>
              <a:avLst/>
              <a:gdLst>
                <a:gd name="connsiteX0" fmla="*/ 37 w 106875"/>
                <a:gd name="connsiteY0" fmla="*/ 34779 h 34816"/>
                <a:gd name="connsiteX1" fmla="*/ 7944 w 106875"/>
                <a:gd name="connsiteY1" fmla="*/ 3226 h 34816"/>
                <a:gd name="connsiteX2" fmla="*/ 11617 w 106875"/>
                <a:gd name="connsiteY2" fmla="*/ 3 h 34816"/>
                <a:gd name="connsiteX3" fmla="*/ 88738 w 106875"/>
                <a:gd name="connsiteY3" fmla="*/ 2626 h 34816"/>
                <a:gd name="connsiteX4" fmla="*/ 91774 w 106875"/>
                <a:gd name="connsiteY4" fmla="*/ 4725 h 34816"/>
                <a:gd name="connsiteX5" fmla="*/ 106876 w 106875"/>
                <a:gd name="connsiteY5" fmla="*/ 33168 h 34816"/>
                <a:gd name="connsiteX6" fmla="*/ 0 w 106875"/>
                <a:gd name="connsiteY6" fmla="*/ 34816 h 34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875" h="34816">
                  <a:moveTo>
                    <a:pt x="37" y="34779"/>
                  </a:moveTo>
                  <a:lnTo>
                    <a:pt x="7944" y="3226"/>
                  </a:lnTo>
                  <a:cubicBezTo>
                    <a:pt x="8432" y="1240"/>
                    <a:pt x="9931" y="-72"/>
                    <a:pt x="11617" y="3"/>
                  </a:cubicBezTo>
                  <a:lnTo>
                    <a:pt x="88738" y="2626"/>
                  </a:lnTo>
                  <a:cubicBezTo>
                    <a:pt x="89975" y="2664"/>
                    <a:pt x="91099" y="3451"/>
                    <a:pt x="91774" y="4725"/>
                  </a:cubicBezTo>
                  <a:lnTo>
                    <a:pt x="106876" y="33168"/>
                  </a:lnTo>
                  <a:lnTo>
                    <a:pt x="0" y="34816"/>
                  </a:lnTo>
                  <a:close/>
                </a:path>
              </a:pathLst>
            </a:custGeom>
            <a:solidFill>
              <a:srgbClr val="FFDE4A"/>
            </a:solidFill>
            <a:ln w="3745" cap="flat">
              <a:noFill/>
              <a:prstDash val="solid"/>
              <a:miter/>
            </a:ln>
          </p:spPr>
          <p:txBody>
            <a:bodyPr rtlCol="0" anchor="ctr"/>
            <a:lstStyle/>
            <a:p>
              <a:endParaRPr lang="en-US"/>
            </a:p>
          </p:txBody>
        </p:sp>
        <p:sp>
          <p:nvSpPr>
            <p:cNvPr id="579" name="Freeform: Shape 578">
              <a:extLst>
                <a:ext uri="{FF2B5EF4-FFF2-40B4-BE49-F238E27FC236}">
                  <a16:creationId xmlns:a16="http://schemas.microsoft.com/office/drawing/2014/main" id="{61EBEAFF-38EC-45E2-B704-E9AC112130EA}"/>
                </a:ext>
              </a:extLst>
            </p:cNvPr>
            <p:cNvSpPr/>
            <p:nvPr/>
          </p:nvSpPr>
          <p:spPr>
            <a:xfrm>
              <a:off x="5886334" y="7575636"/>
              <a:ext cx="13695" cy="13752"/>
            </a:xfrm>
            <a:custGeom>
              <a:avLst/>
              <a:gdLst>
                <a:gd name="connsiteX0" fmla="*/ 11088 w 13695"/>
                <a:gd name="connsiteY0" fmla="*/ 4082 h 13752"/>
                <a:gd name="connsiteX1" fmla="*/ 3368 w 13695"/>
                <a:gd name="connsiteY1" fmla="*/ 784 h 13752"/>
                <a:gd name="connsiteX2" fmla="*/ 6441 w 13695"/>
                <a:gd name="connsiteY2" fmla="*/ 12589 h 13752"/>
                <a:gd name="connsiteX3" fmla="*/ 11125 w 13695"/>
                <a:gd name="connsiteY3" fmla="*/ 4082 h 13752"/>
              </a:gdLst>
              <a:ahLst/>
              <a:cxnLst>
                <a:cxn ang="0">
                  <a:pos x="connsiteX0" y="connsiteY0"/>
                </a:cxn>
                <a:cxn ang="0">
                  <a:pos x="connsiteX1" y="connsiteY1"/>
                </a:cxn>
                <a:cxn ang="0">
                  <a:pos x="connsiteX2" y="connsiteY2"/>
                </a:cxn>
                <a:cxn ang="0">
                  <a:pos x="connsiteX3" y="connsiteY3"/>
                </a:cxn>
              </a:cxnLst>
              <a:rect l="l" t="t" r="r" b="b"/>
              <a:pathLst>
                <a:path w="13695" h="13752">
                  <a:moveTo>
                    <a:pt x="11088" y="4082"/>
                  </a:moveTo>
                  <a:cubicBezTo>
                    <a:pt x="9926" y="2321"/>
                    <a:pt x="6928" y="-1689"/>
                    <a:pt x="3368" y="784"/>
                  </a:cubicBezTo>
                  <a:cubicBezTo>
                    <a:pt x="-192" y="3258"/>
                    <a:pt x="-3077" y="8616"/>
                    <a:pt x="6441" y="12589"/>
                  </a:cubicBezTo>
                  <a:cubicBezTo>
                    <a:pt x="16522" y="16823"/>
                    <a:pt x="14048" y="8466"/>
                    <a:pt x="11125" y="4082"/>
                  </a:cubicBezTo>
                  <a:close/>
                </a:path>
              </a:pathLst>
            </a:custGeom>
            <a:solidFill>
              <a:srgbClr val="F47C73"/>
            </a:solidFill>
            <a:ln w="3745" cap="flat">
              <a:noFill/>
              <a:prstDash val="solid"/>
              <a:miter/>
            </a:ln>
          </p:spPr>
          <p:txBody>
            <a:bodyPr rtlCol="0" anchor="ctr"/>
            <a:lstStyle/>
            <a:p>
              <a:endParaRPr lang="en-US"/>
            </a:p>
          </p:txBody>
        </p:sp>
        <p:sp>
          <p:nvSpPr>
            <p:cNvPr id="580" name="Freeform: Shape 579">
              <a:extLst>
                <a:ext uri="{FF2B5EF4-FFF2-40B4-BE49-F238E27FC236}">
                  <a16:creationId xmlns:a16="http://schemas.microsoft.com/office/drawing/2014/main" id="{ADF4E95D-4A29-4F71-80C4-0C77E797A5DA}"/>
                </a:ext>
              </a:extLst>
            </p:cNvPr>
            <p:cNvSpPr/>
            <p:nvPr/>
          </p:nvSpPr>
          <p:spPr>
            <a:xfrm>
              <a:off x="5924744" y="7563547"/>
              <a:ext cx="4599" cy="7358"/>
            </a:xfrm>
            <a:custGeom>
              <a:avLst/>
              <a:gdLst>
                <a:gd name="connsiteX0" fmla="*/ 633 w 4599"/>
                <a:gd name="connsiteY0" fmla="*/ 4929 h 7358"/>
                <a:gd name="connsiteX1" fmla="*/ 34 w 4599"/>
                <a:gd name="connsiteY1" fmla="*/ 2306 h 7358"/>
                <a:gd name="connsiteX2" fmla="*/ 108 w 4599"/>
                <a:gd name="connsiteY2" fmla="*/ 1107 h 7358"/>
                <a:gd name="connsiteX3" fmla="*/ 3219 w 4599"/>
                <a:gd name="connsiteY3" fmla="*/ 657 h 7358"/>
                <a:gd name="connsiteX4" fmla="*/ 4043 w 4599"/>
                <a:gd name="connsiteY4" fmla="*/ 2831 h 7358"/>
                <a:gd name="connsiteX5" fmla="*/ 4343 w 4599"/>
                <a:gd name="connsiteY5" fmla="*/ 6316 h 7358"/>
                <a:gd name="connsiteX6" fmla="*/ 3256 w 4599"/>
                <a:gd name="connsiteY6" fmla="*/ 7290 h 7358"/>
                <a:gd name="connsiteX7" fmla="*/ 970 w 4599"/>
                <a:gd name="connsiteY7" fmla="*/ 5829 h 7358"/>
                <a:gd name="connsiteX8" fmla="*/ 633 w 4599"/>
                <a:gd name="connsiteY8" fmla="*/ 4892 h 7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99" h="7358">
                  <a:moveTo>
                    <a:pt x="633" y="4929"/>
                  </a:moveTo>
                  <a:cubicBezTo>
                    <a:pt x="371" y="4068"/>
                    <a:pt x="146" y="3168"/>
                    <a:pt x="34" y="2306"/>
                  </a:cubicBezTo>
                  <a:cubicBezTo>
                    <a:pt x="-4" y="1932"/>
                    <a:pt x="-41" y="1482"/>
                    <a:pt x="108" y="1107"/>
                  </a:cubicBezTo>
                  <a:cubicBezTo>
                    <a:pt x="596" y="-92"/>
                    <a:pt x="2544" y="-429"/>
                    <a:pt x="3219" y="657"/>
                  </a:cubicBezTo>
                  <a:cubicBezTo>
                    <a:pt x="3631" y="1332"/>
                    <a:pt x="3856" y="2081"/>
                    <a:pt x="4043" y="2831"/>
                  </a:cubicBezTo>
                  <a:cubicBezTo>
                    <a:pt x="4343" y="3993"/>
                    <a:pt x="4943" y="5079"/>
                    <a:pt x="4343" y="6316"/>
                  </a:cubicBezTo>
                  <a:cubicBezTo>
                    <a:pt x="4156" y="6766"/>
                    <a:pt x="3743" y="7178"/>
                    <a:pt x="3256" y="7290"/>
                  </a:cubicBezTo>
                  <a:cubicBezTo>
                    <a:pt x="2057" y="7628"/>
                    <a:pt x="1308" y="6653"/>
                    <a:pt x="970" y="5829"/>
                  </a:cubicBezTo>
                  <a:cubicBezTo>
                    <a:pt x="858" y="5529"/>
                    <a:pt x="708" y="5229"/>
                    <a:pt x="633" y="4892"/>
                  </a:cubicBezTo>
                  <a:close/>
                </a:path>
              </a:pathLst>
            </a:custGeom>
            <a:solidFill>
              <a:srgbClr val="1D2333"/>
            </a:solidFill>
            <a:ln w="3745" cap="flat">
              <a:noFill/>
              <a:prstDash val="solid"/>
              <a:miter/>
            </a:ln>
          </p:spPr>
          <p:txBody>
            <a:bodyPr rtlCol="0" anchor="ctr"/>
            <a:lstStyle/>
            <a:p>
              <a:endParaRPr lang="en-US"/>
            </a:p>
          </p:txBody>
        </p:sp>
        <p:sp>
          <p:nvSpPr>
            <p:cNvPr id="581" name="Freeform: Shape 580">
              <a:extLst>
                <a:ext uri="{FF2B5EF4-FFF2-40B4-BE49-F238E27FC236}">
                  <a16:creationId xmlns:a16="http://schemas.microsoft.com/office/drawing/2014/main" id="{CCB62D1F-9B81-485A-BDCC-90D66A79985E}"/>
                </a:ext>
              </a:extLst>
            </p:cNvPr>
            <p:cNvSpPr/>
            <p:nvPr/>
          </p:nvSpPr>
          <p:spPr>
            <a:xfrm>
              <a:off x="5909923" y="7574944"/>
              <a:ext cx="20077" cy="20077"/>
            </a:xfrm>
            <a:custGeom>
              <a:avLst/>
              <a:gdLst>
                <a:gd name="connsiteX0" fmla="*/ 52 w 20077"/>
                <a:gd name="connsiteY0" fmla="*/ 11032 h 20077"/>
                <a:gd name="connsiteX1" fmla="*/ 11032 w 20077"/>
                <a:gd name="connsiteY1" fmla="*/ 20026 h 20077"/>
                <a:gd name="connsiteX2" fmla="*/ 20026 w 20077"/>
                <a:gd name="connsiteY2" fmla="*/ 9046 h 20077"/>
                <a:gd name="connsiteX3" fmla="*/ 9046 w 20077"/>
                <a:gd name="connsiteY3" fmla="*/ 52 h 20077"/>
                <a:gd name="connsiteX4" fmla="*/ 52 w 20077"/>
                <a:gd name="connsiteY4" fmla="*/ 11032 h 20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77" h="20077">
                  <a:moveTo>
                    <a:pt x="52" y="11032"/>
                  </a:moveTo>
                  <a:cubicBezTo>
                    <a:pt x="614" y="16541"/>
                    <a:pt x="5523" y="20588"/>
                    <a:pt x="11032" y="20026"/>
                  </a:cubicBezTo>
                  <a:cubicBezTo>
                    <a:pt x="16541" y="19464"/>
                    <a:pt x="20588" y="14555"/>
                    <a:pt x="20026" y="9046"/>
                  </a:cubicBezTo>
                  <a:cubicBezTo>
                    <a:pt x="19464" y="3537"/>
                    <a:pt x="14555" y="-510"/>
                    <a:pt x="9046" y="52"/>
                  </a:cubicBezTo>
                  <a:cubicBezTo>
                    <a:pt x="3537" y="614"/>
                    <a:pt x="-510" y="5523"/>
                    <a:pt x="52" y="11032"/>
                  </a:cubicBezTo>
                  <a:close/>
                </a:path>
              </a:pathLst>
            </a:custGeom>
            <a:solidFill>
              <a:srgbClr val="F47C73"/>
            </a:solidFill>
            <a:ln w="3745" cap="flat">
              <a:noFill/>
              <a:prstDash val="solid"/>
              <a:miter/>
            </a:ln>
          </p:spPr>
          <p:txBody>
            <a:bodyPr rtlCol="0" anchor="ctr"/>
            <a:lstStyle/>
            <a:p>
              <a:endParaRPr lang="en-US"/>
            </a:p>
          </p:txBody>
        </p:sp>
        <p:sp>
          <p:nvSpPr>
            <p:cNvPr id="582" name="Freeform: Shape 581">
              <a:extLst>
                <a:ext uri="{FF2B5EF4-FFF2-40B4-BE49-F238E27FC236}">
                  <a16:creationId xmlns:a16="http://schemas.microsoft.com/office/drawing/2014/main" id="{73DF0725-AD34-4FC2-A282-776EC87134C2}"/>
                </a:ext>
              </a:extLst>
            </p:cNvPr>
            <p:cNvSpPr/>
            <p:nvPr/>
          </p:nvSpPr>
          <p:spPr>
            <a:xfrm>
              <a:off x="6100678" y="7647964"/>
              <a:ext cx="72099" cy="119611"/>
            </a:xfrm>
            <a:custGeom>
              <a:avLst/>
              <a:gdLst>
                <a:gd name="connsiteX0" fmla="*/ 3862 w 72099"/>
                <a:gd name="connsiteY0" fmla="*/ 105971 h 119611"/>
                <a:gd name="connsiteX1" fmla="*/ 9895 w 72099"/>
                <a:gd name="connsiteY1" fmla="*/ 84836 h 119611"/>
                <a:gd name="connsiteX2" fmla="*/ 4724 w 72099"/>
                <a:gd name="connsiteY2" fmla="*/ 51409 h 119611"/>
                <a:gd name="connsiteX3" fmla="*/ 6335 w 72099"/>
                <a:gd name="connsiteY3" fmla="*/ 6440 h 119611"/>
                <a:gd name="connsiteX4" fmla="*/ 26496 w 72099"/>
                <a:gd name="connsiteY4" fmla="*/ 30011 h 119611"/>
                <a:gd name="connsiteX5" fmla="*/ 35865 w 72099"/>
                <a:gd name="connsiteY5" fmla="*/ 33234 h 119611"/>
                <a:gd name="connsiteX6" fmla="*/ 44859 w 72099"/>
                <a:gd name="connsiteY6" fmla="*/ 20118 h 119611"/>
                <a:gd name="connsiteX7" fmla="*/ 49318 w 72099"/>
                <a:gd name="connsiteY7" fmla="*/ 1569 h 119611"/>
                <a:gd name="connsiteX8" fmla="*/ 52278 w 72099"/>
                <a:gd name="connsiteY8" fmla="*/ 519 h 119611"/>
                <a:gd name="connsiteX9" fmla="*/ 64158 w 72099"/>
                <a:gd name="connsiteY9" fmla="*/ 26676 h 119611"/>
                <a:gd name="connsiteX10" fmla="*/ 71727 w 72099"/>
                <a:gd name="connsiteY10" fmla="*/ 46762 h 119611"/>
                <a:gd name="connsiteX11" fmla="*/ 62921 w 72099"/>
                <a:gd name="connsiteY11" fmla="*/ 88920 h 119611"/>
                <a:gd name="connsiteX12" fmla="*/ 58986 w 72099"/>
                <a:gd name="connsiteY12" fmla="*/ 119612 h 119611"/>
                <a:gd name="connsiteX13" fmla="*/ 3937 w 72099"/>
                <a:gd name="connsiteY13" fmla="*/ 105971 h 119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2099" h="119611">
                  <a:moveTo>
                    <a:pt x="3862" y="105971"/>
                  </a:moveTo>
                  <a:lnTo>
                    <a:pt x="9895" y="84836"/>
                  </a:lnTo>
                  <a:cubicBezTo>
                    <a:pt x="9895" y="84836"/>
                    <a:pt x="-148" y="69696"/>
                    <a:pt x="4724" y="51409"/>
                  </a:cubicBezTo>
                  <a:cubicBezTo>
                    <a:pt x="7797" y="39942"/>
                    <a:pt x="-8504" y="9888"/>
                    <a:pt x="6335" y="6440"/>
                  </a:cubicBezTo>
                  <a:cubicBezTo>
                    <a:pt x="19001" y="3517"/>
                    <a:pt x="22786" y="15621"/>
                    <a:pt x="26496" y="30011"/>
                  </a:cubicBezTo>
                  <a:cubicBezTo>
                    <a:pt x="27545" y="34133"/>
                    <a:pt x="32530" y="35895"/>
                    <a:pt x="35865" y="33234"/>
                  </a:cubicBezTo>
                  <a:cubicBezTo>
                    <a:pt x="39237" y="30536"/>
                    <a:pt x="42722" y="26264"/>
                    <a:pt x="44859" y="20118"/>
                  </a:cubicBezTo>
                  <a:cubicBezTo>
                    <a:pt x="47856" y="11387"/>
                    <a:pt x="48943" y="5166"/>
                    <a:pt x="49318" y="1569"/>
                  </a:cubicBezTo>
                  <a:cubicBezTo>
                    <a:pt x="49468" y="107"/>
                    <a:pt x="51229" y="-530"/>
                    <a:pt x="52278" y="519"/>
                  </a:cubicBezTo>
                  <a:cubicBezTo>
                    <a:pt x="57112" y="5466"/>
                    <a:pt x="66369" y="16558"/>
                    <a:pt x="64158" y="26676"/>
                  </a:cubicBezTo>
                  <a:cubicBezTo>
                    <a:pt x="64158" y="26676"/>
                    <a:pt x="74126" y="35220"/>
                    <a:pt x="71727" y="46762"/>
                  </a:cubicBezTo>
                  <a:cubicBezTo>
                    <a:pt x="69329" y="58304"/>
                    <a:pt x="62921" y="88920"/>
                    <a:pt x="62921" y="88920"/>
                  </a:cubicBezTo>
                  <a:lnTo>
                    <a:pt x="58986" y="119612"/>
                  </a:lnTo>
                  <a:lnTo>
                    <a:pt x="3937" y="105971"/>
                  </a:lnTo>
                  <a:close/>
                </a:path>
              </a:pathLst>
            </a:custGeom>
            <a:solidFill>
              <a:srgbClr val="FFBEBB"/>
            </a:solidFill>
            <a:ln w="3745" cap="flat">
              <a:noFill/>
              <a:prstDash val="solid"/>
              <a:miter/>
            </a:ln>
          </p:spPr>
          <p:txBody>
            <a:bodyPr rtlCol="0" anchor="ctr"/>
            <a:lstStyle/>
            <a:p>
              <a:endParaRPr lang="en-US"/>
            </a:p>
          </p:txBody>
        </p:sp>
        <p:sp>
          <p:nvSpPr>
            <p:cNvPr id="583" name="Freeform: Shape 582">
              <a:extLst>
                <a:ext uri="{FF2B5EF4-FFF2-40B4-BE49-F238E27FC236}">
                  <a16:creationId xmlns:a16="http://schemas.microsoft.com/office/drawing/2014/main" id="{A2C3334A-B805-45B3-8926-C473376F23DE}"/>
                </a:ext>
              </a:extLst>
            </p:cNvPr>
            <p:cNvSpPr/>
            <p:nvPr/>
          </p:nvSpPr>
          <p:spPr>
            <a:xfrm>
              <a:off x="5866431" y="7494441"/>
              <a:ext cx="74537" cy="50631"/>
            </a:xfrm>
            <a:custGeom>
              <a:avLst/>
              <a:gdLst>
                <a:gd name="connsiteX0" fmla="*/ 58347 w 74537"/>
                <a:gd name="connsiteY0" fmla="*/ 4634 h 50631"/>
                <a:gd name="connsiteX1" fmla="*/ 36612 w 74537"/>
                <a:gd name="connsiteY1" fmla="*/ 7069 h 50631"/>
                <a:gd name="connsiteX2" fmla="*/ 24995 w 74537"/>
                <a:gd name="connsiteY2" fmla="*/ 24 h 50631"/>
                <a:gd name="connsiteX3" fmla="*/ 0 w 74537"/>
                <a:gd name="connsiteY3" fmla="*/ 25544 h 50631"/>
                <a:gd name="connsiteX4" fmla="*/ 10755 w 74537"/>
                <a:gd name="connsiteY4" fmla="*/ 43906 h 50631"/>
                <a:gd name="connsiteX5" fmla="*/ 37287 w 74537"/>
                <a:gd name="connsiteY5" fmla="*/ 50389 h 50631"/>
                <a:gd name="connsiteX6" fmla="*/ 69851 w 74537"/>
                <a:gd name="connsiteY6" fmla="*/ 41508 h 50631"/>
                <a:gd name="connsiteX7" fmla="*/ 58347 w 74537"/>
                <a:gd name="connsiteY7" fmla="*/ 4671 h 50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4537" h="50631">
                  <a:moveTo>
                    <a:pt x="58347" y="4634"/>
                  </a:moveTo>
                  <a:cubicBezTo>
                    <a:pt x="46880" y="-13"/>
                    <a:pt x="36612" y="7069"/>
                    <a:pt x="36612" y="7069"/>
                  </a:cubicBezTo>
                  <a:cubicBezTo>
                    <a:pt x="35638" y="3547"/>
                    <a:pt x="32565" y="399"/>
                    <a:pt x="24995" y="24"/>
                  </a:cubicBezTo>
                  <a:cubicBezTo>
                    <a:pt x="7045" y="-913"/>
                    <a:pt x="0" y="25544"/>
                    <a:pt x="0" y="25544"/>
                  </a:cubicBezTo>
                  <a:lnTo>
                    <a:pt x="10755" y="43906"/>
                  </a:lnTo>
                  <a:lnTo>
                    <a:pt x="37287" y="50389"/>
                  </a:lnTo>
                  <a:cubicBezTo>
                    <a:pt x="37287" y="50389"/>
                    <a:pt x="61720" y="52938"/>
                    <a:pt x="69851" y="41508"/>
                  </a:cubicBezTo>
                  <a:cubicBezTo>
                    <a:pt x="80232" y="26893"/>
                    <a:pt x="72025" y="10180"/>
                    <a:pt x="58347" y="4671"/>
                  </a:cubicBezTo>
                  <a:close/>
                </a:path>
              </a:pathLst>
            </a:custGeom>
            <a:solidFill>
              <a:srgbClr val="1D2333"/>
            </a:solidFill>
            <a:ln w="3745" cap="flat">
              <a:noFill/>
              <a:prstDash val="solid"/>
              <a:miter/>
            </a:ln>
          </p:spPr>
          <p:txBody>
            <a:bodyPr rtlCol="0" anchor="ctr"/>
            <a:lstStyle/>
            <a:p>
              <a:endParaRPr lang="en-US"/>
            </a:p>
          </p:txBody>
        </p:sp>
        <p:sp>
          <p:nvSpPr>
            <p:cNvPr id="584" name="Freeform: Shape 583">
              <a:extLst>
                <a:ext uri="{FF2B5EF4-FFF2-40B4-BE49-F238E27FC236}">
                  <a16:creationId xmlns:a16="http://schemas.microsoft.com/office/drawing/2014/main" id="{FB067154-76EA-4BF6-A450-07E9336661B5}"/>
                </a:ext>
              </a:extLst>
            </p:cNvPr>
            <p:cNvSpPr/>
            <p:nvPr/>
          </p:nvSpPr>
          <p:spPr>
            <a:xfrm>
              <a:off x="5895585" y="7544830"/>
              <a:ext cx="62268" cy="85035"/>
            </a:xfrm>
            <a:custGeom>
              <a:avLst/>
              <a:gdLst>
                <a:gd name="connsiteX0" fmla="*/ 0 w 62268"/>
                <a:gd name="connsiteY0" fmla="*/ 23759 h 85035"/>
                <a:gd name="connsiteX1" fmla="*/ 8619 w 62268"/>
                <a:gd name="connsiteY1" fmla="*/ 78171 h 85035"/>
                <a:gd name="connsiteX2" fmla="*/ 17388 w 62268"/>
                <a:gd name="connsiteY2" fmla="*/ 84991 h 85035"/>
                <a:gd name="connsiteX3" fmla="*/ 33802 w 62268"/>
                <a:gd name="connsiteY3" fmla="*/ 83342 h 85035"/>
                <a:gd name="connsiteX4" fmla="*/ 62169 w 62268"/>
                <a:gd name="connsiteY4" fmla="*/ 64343 h 85035"/>
                <a:gd name="connsiteX5" fmla="*/ 49803 w 62268"/>
                <a:gd name="connsiteY5" fmla="*/ 40210 h 85035"/>
                <a:gd name="connsiteX6" fmla="*/ 31516 w 62268"/>
                <a:gd name="connsiteY6" fmla="*/ 42608 h 85035"/>
                <a:gd name="connsiteX7" fmla="*/ 18662 w 62268"/>
                <a:gd name="connsiteY7" fmla="*/ 44482 h 85035"/>
                <a:gd name="connsiteX8" fmla="*/ 8132 w 62268"/>
                <a:gd name="connsiteY8" fmla="*/ 0 h 85035"/>
                <a:gd name="connsiteX9" fmla="*/ 37 w 62268"/>
                <a:gd name="connsiteY9" fmla="*/ 23759 h 8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68" h="85035">
                  <a:moveTo>
                    <a:pt x="0" y="23759"/>
                  </a:moveTo>
                  <a:cubicBezTo>
                    <a:pt x="0" y="23759"/>
                    <a:pt x="6108" y="60895"/>
                    <a:pt x="8619" y="78171"/>
                  </a:cubicBezTo>
                  <a:cubicBezTo>
                    <a:pt x="9256" y="82443"/>
                    <a:pt x="13116" y="85441"/>
                    <a:pt x="17388" y="84991"/>
                  </a:cubicBezTo>
                  <a:cubicBezTo>
                    <a:pt x="22072" y="84504"/>
                    <a:pt x="28180" y="83867"/>
                    <a:pt x="33802" y="83342"/>
                  </a:cubicBezTo>
                  <a:cubicBezTo>
                    <a:pt x="54974" y="81281"/>
                    <a:pt x="63294" y="75248"/>
                    <a:pt x="62169" y="64343"/>
                  </a:cubicBezTo>
                  <a:cubicBezTo>
                    <a:pt x="61045" y="53400"/>
                    <a:pt x="49803" y="40210"/>
                    <a:pt x="49803" y="40210"/>
                  </a:cubicBezTo>
                  <a:lnTo>
                    <a:pt x="31516" y="42608"/>
                  </a:lnTo>
                  <a:lnTo>
                    <a:pt x="18662" y="44482"/>
                  </a:lnTo>
                  <a:lnTo>
                    <a:pt x="8132" y="0"/>
                  </a:lnTo>
                  <a:lnTo>
                    <a:pt x="37" y="23759"/>
                  </a:lnTo>
                  <a:close/>
                </a:path>
              </a:pathLst>
            </a:custGeom>
            <a:solidFill>
              <a:srgbClr val="1D2333"/>
            </a:solidFill>
            <a:ln w="3745" cap="flat">
              <a:noFill/>
              <a:prstDash val="solid"/>
              <a:miter/>
            </a:ln>
          </p:spPr>
          <p:txBody>
            <a:bodyPr rtlCol="0" anchor="ctr"/>
            <a:lstStyle/>
            <a:p>
              <a:endParaRPr lang="en-US"/>
            </a:p>
          </p:txBody>
        </p:sp>
        <p:sp>
          <p:nvSpPr>
            <p:cNvPr id="585" name="Freeform: Shape 584">
              <a:extLst>
                <a:ext uri="{FF2B5EF4-FFF2-40B4-BE49-F238E27FC236}">
                  <a16:creationId xmlns:a16="http://schemas.microsoft.com/office/drawing/2014/main" id="{A77B1D23-CBAF-4755-851C-7E0593E5136A}"/>
                </a:ext>
              </a:extLst>
            </p:cNvPr>
            <p:cNvSpPr/>
            <p:nvPr/>
          </p:nvSpPr>
          <p:spPr>
            <a:xfrm>
              <a:off x="5927403" y="7588826"/>
              <a:ext cx="15413" cy="8579"/>
            </a:xfrm>
            <a:custGeom>
              <a:avLst/>
              <a:gdLst>
                <a:gd name="connsiteX0" fmla="*/ 8542 w 15413"/>
                <a:gd name="connsiteY0" fmla="*/ 8579 h 8579"/>
                <a:gd name="connsiteX1" fmla="*/ 1010 w 15413"/>
                <a:gd name="connsiteY1" fmla="*/ 5432 h 8579"/>
                <a:gd name="connsiteX2" fmla="*/ 822 w 15413"/>
                <a:gd name="connsiteY2" fmla="*/ 1010 h 8579"/>
                <a:gd name="connsiteX3" fmla="*/ 5244 w 15413"/>
                <a:gd name="connsiteY3" fmla="*/ 822 h 8579"/>
                <a:gd name="connsiteX4" fmla="*/ 10566 w 15413"/>
                <a:gd name="connsiteY4" fmla="*/ 1759 h 8579"/>
                <a:gd name="connsiteX5" fmla="*/ 14875 w 15413"/>
                <a:gd name="connsiteY5" fmla="*/ 2621 h 8579"/>
                <a:gd name="connsiteX6" fmla="*/ 14088 w 15413"/>
                <a:gd name="connsiteY6" fmla="*/ 6893 h 8579"/>
                <a:gd name="connsiteX7" fmla="*/ 8505 w 15413"/>
                <a:gd name="connsiteY7" fmla="*/ 8542 h 8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13" h="8579">
                  <a:moveTo>
                    <a:pt x="8542" y="8579"/>
                  </a:moveTo>
                  <a:cubicBezTo>
                    <a:pt x="6219" y="8579"/>
                    <a:pt x="3558" y="7793"/>
                    <a:pt x="1010" y="5432"/>
                  </a:cubicBezTo>
                  <a:cubicBezTo>
                    <a:pt x="-264" y="4270"/>
                    <a:pt x="-339" y="2284"/>
                    <a:pt x="822" y="1010"/>
                  </a:cubicBezTo>
                  <a:cubicBezTo>
                    <a:pt x="1984" y="-264"/>
                    <a:pt x="3970" y="-339"/>
                    <a:pt x="5244" y="822"/>
                  </a:cubicBezTo>
                  <a:cubicBezTo>
                    <a:pt x="7830" y="3221"/>
                    <a:pt x="9966" y="2134"/>
                    <a:pt x="10566" y="1759"/>
                  </a:cubicBezTo>
                  <a:cubicBezTo>
                    <a:pt x="11990" y="822"/>
                    <a:pt x="13938" y="1235"/>
                    <a:pt x="14875" y="2621"/>
                  </a:cubicBezTo>
                  <a:cubicBezTo>
                    <a:pt x="15812" y="4045"/>
                    <a:pt x="15512" y="5919"/>
                    <a:pt x="14088" y="6893"/>
                  </a:cubicBezTo>
                  <a:cubicBezTo>
                    <a:pt x="12926" y="7680"/>
                    <a:pt x="10903" y="8542"/>
                    <a:pt x="8505" y="8542"/>
                  </a:cubicBezTo>
                  <a:close/>
                </a:path>
              </a:pathLst>
            </a:custGeom>
            <a:solidFill>
              <a:srgbClr val="E55955"/>
            </a:solidFill>
            <a:ln w="3745" cap="flat">
              <a:noFill/>
              <a:prstDash val="solid"/>
              <a:miter/>
            </a:ln>
          </p:spPr>
          <p:txBody>
            <a:bodyPr rtlCol="0" anchor="ctr"/>
            <a:lstStyle/>
            <a:p>
              <a:endParaRPr lang="en-US"/>
            </a:p>
          </p:txBody>
        </p:sp>
        <p:sp>
          <p:nvSpPr>
            <p:cNvPr id="586" name="Freeform: Shape 585">
              <a:extLst>
                <a:ext uri="{FF2B5EF4-FFF2-40B4-BE49-F238E27FC236}">
                  <a16:creationId xmlns:a16="http://schemas.microsoft.com/office/drawing/2014/main" id="{50B73D78-8AF1-4D51-9822-1B9B133D9FC3}"/>
                </a:ext>
              </a:extLst>
            </p:cNvPr>
            <p:cNvSpPr/>
            <p:nvPr/>
          </p:nvSpPr>
          <p:spPr>
            <a:xfrm>
              <a:off x="5870754" y="7486368"/>
              <a:ext cx="37668" cy="25259"/>
            </a:xfrm>
            <a:custGeom>
              <a:avLst/>
              <a:gdLst>
                <a:gd name="connsiteX0" fmla="*/ 32926 w 37668"/>
                <a:gd name="connsiteY0" fmla="*/ 25260 h 25259"/>
                <a:gd name="connsiteX1" fmla="*/ 31839 w 37668"/>
                <a:gd name="connsiteY1" fmla="*/ 25072 h 25259"/>
                <a:gd name="connsiteX2" fmla="*/ 30003 w 37668"/>
                <a:gd name="connsiteY2" fmla="*/ 21063 h 25259"/>
                <a:gd name="connsiteX3" fmla="*/ 30302 w 37668"/>
                <a:gd name="connsiteY3" fmla="*/ 8509 h 25259"/>
                <a:gd name="connsiteX4" fmla="*/ 24794 w 37668"/>
                <a:gd name="connsiteY4" fmla="*/ 6260 h 25259"/>
                <a:gd name="connsiteX5" fmla="*/ 24494 w 37668"/>
                <a:gd name="connsiteY5" fmla="*/ 6260 h 25259"/>
                <a:gd name="connsiteX6" fmla="*/ 6019 w 37668"/>
                <a:gd name="connsiteY6" fmla="*/ 19601 h 25259"/>
                <a:gd name="connsiteX7" fmla="*/ 1897 w 37668"/>
                <a:gd name="connsiteY7" fmla="*/ 21250 h 25259"/>
                <a:gd name="connsiteX8" fmla="*/ 248 w 37668"/>
                <a:gd name="connsiteY8" fmla="*/ 17165 h 25259"/>
                <a:gd name="connsiteX9" fmla="*/ 24869 w 37668"/>
                <a:gd name="connsiteY9" fmla="*/ 2 h 25259"/>
                <a:gd name="connsiteX10" fmla="*/ 35436 w 37668"/>
                <a:gd name="connsiteY10" fmla="*/ 4986 h 25259"/>
                <a:gd name="connsiteX11" fmla="*/ 35849 w 37668"/>
                <a:gd name="connsiteY11" fmla="*/ 23236 h 25259"/>
                <a:gd name="connsiteX12" fmla="*/ 32926 w 37668"/>
                <a:gd name="connsiteY12" fmla="*/ 25260 h 25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668" h="25259">
                  <a:moveTo>
                    <a:pt x="32926" y="25260"/>
                  </a:moveTo>
                  <a:cubicBezTo>
                    <a:pt x="32551" y="25260"/>
                    <a:pt x="32176" y="25185"/>
                    <a:pt x="31839" y="25072"/>
                  </a:cubicBezTo>
                  <a:cubicBezTo>
                    <a:pt x="30227" y="24473"/>
                    <a:pt x="29403" y="22674"/>
                    <a:pt x="30003" y="21063"/>
                  </a:cubicBezTo>
                  <a:cubicBezTo>
                    <a:pt x="30827" y="18889"/>
                    <a:pt x="32588" y="11881"/>
                    <a:pt x="30302" y="8509"/>
                  </a:cubicBezTo>
                  <a:cubicBezTo>
                    <a:pt x="29928" y="7984"/>
                    <a:pt x="28803" y="6335"/>
                    <a:pt x="24794" y="6260"/>
                  </a:cubicBezTo>
                  <a:cubicBezTo>
                    <a:pt x="24681" y="6260"/>
                    <a:pt x="24606" y="6260"/>
                    <a:pt x="24494" y="6260"/>
                  </a:cubicBezTo>
                  <a:cubicBezTo>
                    <a:pt x="11903" y="6260"/>
                    <a:pt x="6282" y="19039"/>
                    <a:pt x="6019" y="19601"/>
                  </a:cubicBezTo>
                  <a:cubicBezTo>
                    <a:pt x="5345" y="21175"/>
                    <a:pt x="3509" y="21925"/>
                    <a:pt x="1897" y="21250"/>
                  </a:cubicBezTo>
                  <a:cubicBezTo>
                    <a:pt x="323" y="20575"/>
                    <a:pt x="-426" y="18739"/>
                    <a:pt x="248" y="17165"/>
                  </a:cubicBezTo>
                  <a:cubicBezTo>
                    <a:pt x="548" y="16453"/>
                    <a:pt x="7706" y="-223"/>
                    <a:pt x="24869" y="2"/>
                  </a:cubicBezTo>
                  <a:cubicBezTo>
                    <a:pt x="30865" y="115"/>
                    <a:pt x="33937" y="2775"/>
                    <a:pt x="35436" y="4986"/>
                  </a:cubicBezTo>
                  <a:cubicBezTo>
                    <a:pt x="39971" y="11657"/>
                    <a:pt x="36261" y="22074"/>
                    <a:pt x="35849" y="23236"/>
                  </a:cubicBezTo>
                  <a:cubicBezTo>
                    <a:pt x="35399" y="24510"/>
                    <a:pt x="34200" y="25260"/>
                    <a:pt x="32926" y="25260"/>
                  </a:cubicBezTo>
                  <a:close/>
                </a:path>
              </a:pathLst>
            </a:custGeom>
            <a:solidFill>
              <a:srgbClr val="1D2333"/>
            </a:solidFill>
            <a:ln w="3745" cap="flat">
              <a:noFill/>
              <a:prstDash val="solid"/>
              <a:miter/>
            </a:ln>
          </p:spPr>
          <p:txBody>
            <a:bodyPr rtlCol="0" anchor="ctr"/>
            <a:lstStyle/>
            <a:p>
              <a:endParaRPr lang="en-US"/>
            </a:p>
          </p:txBody>
        </p:sp>
        <p:sp>
          <p:nvSpPr>
            <p:cNvPr id="587" name="Freeform: Shape 586">
              <a:extLst>
                <a:ext uri="{FF2B5EF4-FFF2-40B4-BE49-F238E27FC236}">
                  <a16:creationId xmlns:a16="http://schemas.microsoft.com/office/drawing/2014/main" id="{512EE972-26DA-4260-AB08-94812F325FDD}"/>
                </a:ext>
              </a:extLst>
            </p:cNvPr>
            <p:cNvSpPr/>
            <p:nvPr/>
          </p:nvSpPr>
          <p:spPr>
            <a:xfrm>
              <a:off x="6154255" y="7671554"/>
              <a:ext cx="13667" cy="31603"/>
            </a:xfrm>
            <a:custGeom>
              <a:avLst/>
              <a:gdLst>
                <a:gd name="connsiteX0" fmla="*/ 3124 w 13667"/>
                <a:gd name="connsiteY0" fmla="*/ 31604 h 31603"/>
                <a:gd name="connsiteX1" fmla="*/ 2262 w 13667"/>
                <a:gd name="connsiteY1" fmla="*/ 31491 h 31603"/>
                <a:gd name="connsiteX2" fmla="*/ 126 w 13667"/>
                <a:gd name="connsiteY2" fmla="*/ 27632 h 31603"/>
                <a:gd name="connsiteX3" fmla="*/ 7546 w 13667"/>
                <a:gd name="connsiteY3" fmla="*/ 2262 h 31603"/>
                <a:gd name="connsiteX4" fmla="*/ 11405 w 13667"/>
                <a:gd name="connsiteY4" fmla="*/ 126 h 31603"/>
                <a:gd name="connsiteX5" fmla="*/ 13541 w 13667"/>
                <a:gd name="connsiteY5" fmla="*/ 3986 h 31603"/>
                <a:gd name="connsiteX6" fmla="*/ 6122 w 13667"/>
                <a:gd name="connsiteY6" fmla="*/ 29355 h 31603"/>
                <a:gd name="connsiteX7" fmla="*/ 3124 w 13667"/>
                <a:gd name="connsiteY7" fmla="*/ 31604 h 31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67" h="31603">
                  <a:moveTo>
                    <a:pt x="3124" y="31604"/>
                  </a:moveTo>
                  <a:cubicBezTo>
                    <a:pt x="2824" y="31604"/>
                    <a:pt x="2524" y="31566"/>
                    <a:pt x="2262" y="31491"/>
                  </a:cubicBezTo>
                  <a:cubicBezTo>
                    <a:pt x="613" y="31004"/>
                    <a:pt x="-361" y="29280"/>
                    <a:pt x="126" y="27632"/>
                  </a:cubicBezTo>
                  <a:lnTo>
                    <a:pt x="7546" y="2262"/>
                  </a:lnTo>
                  <a:cubicBezTo>
                    <a:pt x="8033" y="613"/>
                    <a:pt x="9756" y="-361"/>
                    <a:pt x="11405" y="126"/>
                  </a:cubicBezTo>
                  <a:cubicBezTo>
                    <a:pt x="13054" y="613"/>
                    <a:pt x="14029" y="2337"/>
                    <a:pt x="13541" y="3986"/>
                  </a:cubicBezTo>
                  <a:lnTo>
                    <a:pt x="6122" y="29355"/>
                  </a:lnTo>
                  <a:cubicBezTo>
                    <a:pt x="5709" y="30704"/>
                    <a:pt x="4473" y="31604"/>
                    <a:pt x="3124" y="31604"/>
                  </a:cubicBezTo>
                  <a:close/>
                </a:path>
              </a:pathLst>
            </a:custGeom>
            <a:solidFill>
              <a:srgbClr val="F47C73"/>
            </a:solidFill>
            <a:ln w="3745" cap="flat">
              <a:noFill/>
              <a:prstDash val="solid"/>
              <a:miter/>
            </a:ln>
          </p:spPr>
          <p:txBody>
            <a:bodyPr rtlCol="0" anchor="ctr"/>
            <a:lstStyle/>
            <a:p>
              <a:endParaRPr lang="en-US"/>
            </a:p>
          </p:txBody>
        </p:sp>
        <p:grpSp>
          <p:nvGrpSpPr>
            <p:cNvPr id="588" name="Graphic 826">
              <a:extLst>
                <a:ext uri="{FF2B5EF4-FFF2-40B4-BE49-F238E27FC236}">
                  <a16:creationId xmlns:a16="http://schemas.microsoft.com/office/drawing/2014/main" id="{369CF2BA-1F48-4495-A0EE-1F4AB40F117D}"/>
                </a:ext>
              </a:extLst>
            </p:cNvPr>
            <p:cNvGrpSpPr/>
            <p:nvPr/>
          </p:nvGrpSpPr>
          <p:grpSpPr>
            <a:xfrm>
              <a:off x="5914699" y="7627160"/>
              <a:ext cx="236118" cy="145698"/>
              <a:chOff x="5914699" y="6102017"/>
              <a:chExt cx="236118" cy="145698"/>
            </a:xfrm>
          </p:grpSpPr>
          <p:sp>
            <p:nvSpPr>
              <p:cNvPr id="599" name="Freeform: Shape 598">
                <a:extLst>
                  <a:ext uri="{FF2B5EF4-FFF2-40B4-BE49-F238E27FC236}">
                    <a16:creationId xmlns:a16="http://schemas.microsoft.com/office/drawing/2014/main" id="{0003AFC7-9705-4B44-BBD3-5C4D800001C1}"/>
                  </a:ext>
                </a:extLst>
              </p:cNvPr>
              <p:cNvSpPr/>
              <p:nvPr/>
            </p:nvSpPr>
            <p:spPr>
              <a:xfrm>
                <a:off x="5914699" y="6102017"/>
                <a:ext cx="236118" cy="145698"/>
              </a:xfrm>
              <a:custGeom>
                <a:avLst/>
                <a:gdLst>
                  <a:gd name="connsiteX0" fmla="*/ 187405 w 236118"/>
                  <a:gd name="connsiteY0" fmla="*/ 145699 h 145698"/>
                  <a:gd name="connsiteX1" fmla="*/ 24281 w 236118"/>
                  <a:gd name="connsiteY1" fmla="*/ 145699 h 145698"/>
                  <a:gd name="connsiteX2" fmla="*/ 747 w 236118"/>
                  <a:gd name="connsiteY2" fmla="*/ 115495 h 145698"/>
                  <a:gd name="connsiteX3" fmla="*/ 25180 w 236118"/>
                  <a:gd name="connsiteY3" fmla="*/ 18362 h 145698"/>
                  <a:gd name="connsiteX4" fmla="*/ 48714 w 236118"/>
                  <a:gd name="connsiteY4" fmla="*/ 0 h 145698"/>
                  <a:gd name="connsiteX5" fmla="*/ 211838 w 236118"/>
                  <a:gd name="connsiteY5" fmla="*/ 0 h 145698"/>
                  <a:gd name="connsiteX6" fmla="*/ 235372 w 236118"/>
                  <a:gd name="connsiteY6" fmla="*/ 30204 h 145698"/>
                  <a:gd name="connsiteX7" fmla="*/ 210939 w 236118"/>
                  <a:gd name="connsiteY7" fmla="*/ 127337 h 145698"/>
                  <a:gd name="connsiteX8" fmla="*/ 187405 w 236118"/>
                  <a:gd name="connsiteY8" fmla="*/ 145699 h 14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118" h="145698">
                    <a:moveTo>
                      <a:pt x="187405" y="145699"/>
                    </a:moveTo>
                    <a:lnTo>
                      <a:pt x="24281" y="145699"/>
                    </a:lnTo>
                    <a:cubicBezTo>
                      <a:pt x="8467" y="145699"/>
                      <a:pt x="-3113" y="130822"/>
                      <a:pt x="747" y="115495"/>
                    </a:cubicBezTo>
                    <a:lnTo>
                      <a:pt x="25180" y="18362"/>
                    </a:lnTo>
                    <a:cubicBezTo>
                      <a:pt x="27878" y="7570"/>
                      <a:pt x="37584" y="0"/>
                      <a:pt x="48714" y="0"/>
                    </a:cubicBezTo>
                    <a:lnTo>
                      <a:pt x="211838" y="0"/>
                    </a:lnTo>
                    <a:cubicBezTo>
                      <a:pt x="227652" y="0"/>
                      <a:pt x="239232" y="14877"/>
                      <a:pt x="235372" y="30204"/>
                    </a:cubicBezTo>
                    <a:lnTo>
                      <a:pt x="210939" y="127337"/>
                    </a:lnTo>
                    <a:cubicBezTo>
                      <a:pt x="208241" y="138129"/>
                      <a:pt x="198535" y="145699"/>
                      <a:pt x="187405" y="145699"/>
                    </a:cubicBezTo>
                    <a:close/>
                  </a:path>
                </a:pathLst>
              </a:custGeom>
              <a:solidFill>
                <a:srgbClr val="1D2333"/>
              </a:solidFill>
              <a:ln w="3745" cap="flat">
                <a:noFill/>
                <a:prstDash val="solid"/>
                <a:miter/>
              </a:ln>
            </p:spPr>
            <p:txBody>
              <a:bodyPr rtlCol="0" anchor="ctr"/>
              <a:lstStyle/>
              <a:p>
                <a:endParaRPr lang="en-US"/>
              </a:p>
            </p:txBody>
          </p:sp>
          <p:sp>
            <p:nvSpPr>
              <p:cNvPr id="600" name="Freeform: Shape 599">
                <a:extLst>
                  <a:ext uri="{FF2B5EF4-FFF2-40B4-BE49-F238E27FC236}">
                    <a16:creationId xmlns:a16="http://schemas.microsoft.com/office/drawing/2014/main" id="{BA9CC074-F3BA-4335-B6E9-B03DECFD5449}"/>
                  </a:ext>
                </a:extLst>
              </p:cNvPr>
              <p:cNvSpPr/>
              <p:nvPr/>
            </p:nvSpPr>
            <p:spPr>
              <a:xfrm>
                <a:off x="5929371" y="6116782"/>
                <a:ext cx="206775" cy="116244"/>
              </a:xfrm>
              <a:custGeom>
                <a:avLst/>
                <a:gdLst>
                  <a:gd name="connsiteX0" fmla="*/ 9572 w 206775"/>
                  <a:gd name="connsiteY0" fmla="*/ 116244 h 116244"/>
                  <a:gd name="connsiteX1" fmla="*/ 2040 w 206775"/>
                  <a:gd name="connsiteY1" fmla="*/ 112572 h 116244"/>
                  <a:gd name="connsiteX2" fmla="*/ 316 w 206775"/>
                  <a:gd name="connsiteY2" fmla="*/ 104365 h 116244"/>
                  <a:gd name="connsiteX3" fmla="*/ 24749 w 206775"/>
                  <a:gd name="connsiteY3" fmla="*/ 7232 h 116244"/>
                  <a:gd name="connsiteX4" fmla="*/ 34042 w 206775"/>
                  <a:gd name="connsiteY4" fmla="*/ 0 h 116244"/>
                  <a:gd name="connsiteX5" fmla="*/ 197167 w 206775"/>
                  <a:gd name="connsiteY5" fmla="*/ 0 h 116244"/>
                  <a:gd name="connsiteX6" fmla="*/ 204736 w 206775"/>
                  <a:gd name="connsiteY6" fmla="*/ 3672 h 116244"/>
                  <a:gd name="connsiteX7" fmla="*/ 206460 w 206775"/>
                  <a:gd name="connsiteY7" fmla="*/ 11879 h 116244"/>
                  <a:gd name="connsiteX8" fmla="*/ 182027 w 206775"/>
                  <a:gd name="connsiteY8" fmla="*/ 109012 h 116244"/>
                  <a:gd name="connsiteX9" fmla="*/ 172734 w 206775"/>
                  <a:gd name="connsiteY9" fmla="*/ 116244 h 116244"/>
                  <a:gd name="connsiteX10" fmla="*/ 9609 w 206775"/>
                  <a:gd name="connsiteY10" fmla="*/ 116244 h 116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6775" h="116244">
                    <a:moveTo>
                      <a:pt x="9572" y="116244"/>
                    </a:moveTo>
                    <a:cubicBezTo>
                      <a:pt x="5487" y="116244"/>
                      <a:pt x="3089" y="113921"/>
                      <a:pt x="2040" y="112572"/>
                    </a:cubicBezTo>
                    <a:cubicBezTo>
                      <a:pt x="953" y="111185"/>
                      <a:pt x="-696" y="108300"/>
                      <a:pt x="316" y="104365"/>
                    </a:cubicBezTo>
                    <a:lnTo>
                      <a:pt x="24749" y="7232"/>
                    </a:lnTo>
                    <a:cubicBezTo>
                      <a:pt x="25836" y="2960"/>
                      <a:pt x="29658" y="0"/>
                      <a:pt x="34042" y="0"/>
                    </a:cubicBezTo>
                    <a:lnTo>
                      <a:pt x="197167" y="0"/>
                    </a:lnTo>
                    <a:cubicBezTo>
                      <a:pt x="201251" y="0"/>
                      <a:pt x="203650" y="2323"/>
                      <a:pt x="204736" y="3672"/>
                    </a:cubicBezTo>
                    <a:cubicBezTo>
                      <a:pt x="205823" y="5059"/>
                      <a:pt x="207472" y="7944"/>
                      <a:pt x="206460" y="11879"/>
                    </a:cubicBezTo>
                    <a:lnTo>
                      <a:pt x="182027" y="109012"/>
                    </a:lnTo>
                    <a:cubicBezTo>
                      <a:pt x="180940" y="113284"/>
                      <a:pt x="177118" y="116244"/>
                      <a:pt x="172734" y="116244"/>
                    </a:cubicBezTo>
                    <a:lnTo>
                      <a:pt x="9609" y="116244"/>
                    </a:lnTo>
                    <a:close/>
                  </a:path>
                </a:pathLst>
              </a:custGeom>
              <a:solidFill>
                <a:srgbClr val="FFFFFF"/>
              </a:solidFill>
              <a:ln w="3745" cap="flat">
                <a:noFill/>
                <a:prstDash val="solid"/>
                <a:miter/>
              </a:ln>
            </p:spPr>
            <p:txBody>
              <a:bodyPr rtlCol="0" anchor="ctr"/>
              <a:lstStyle/>
              <a:p>
                <a:endParaRPr lang="en-US"/>
              </a:p>
            </p:txBody>
          </p:sp>
          <p:sp>
            <p:nvSpPr>
              <p:cNvPr id="601" name="Freeform: Shape 600">
                <a:extLst>
                  <a:ext uri="{FF2B5EF4-FFF2-40B4-BE49-F238E27FC236}">
                    <a16:creationId xmlns:a16="http://schemas.microsoft.com/office/drawing/2014/main" id="{AC7135C5-544D-424C-86BE-B950D501292E}"/>
                  </a:ext>
                </a:extLst>
              </p:cNvPr>
              <p:cNvSpPr/>
              <p:nvPr/>
            </p:nvSpPr>
            <p:spPr>
              <a:xfrm>
                <a:off x="5963376" y="6131697"/>
                <a:ext cx="42158" cy="24582"/>
              </a:xfrm>
              <a:custGeom>
                <a:avLst/>
                <a:gdLst>
                  <a:gd name="connsiteX0" fmla="*/ 35975 w 42158"/>
                  <a:gd name="connsiteY0" fmla="*/ 24583 h 24582"/>
                  <a:gd name="connsiteX1" fmla="*/ 0 w 42158"/>
                  <a:gd name="connsiteY1" fmla="*/ 24583 h 24582"/>
                  <a:gd name="connsiteX2" fmla="*/ 6183 w 42158"/>
                  <a:gd name="connsiteY2" fmla="*/ 0 h 24582"/>
                  <a:gd name="connsiteX3" fmla="*/ 42158 w 42158"/>
                  <a:gd name="connsiteY3" fmla="*/ 0 h 24582"/>
                  <a:gd name="connsiteX4" fmla="*/ 35975 w 42158"/>
                  <a:gd name="connsiteY4" fmla="*/ 24583 h 245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158" h="24582">
                    <a:moveTo>
                      <a:pt x="35975" y="24583"/>
                    </a:moveTo>
                    <a:lnTo>
                      <a:pt x="0" y="24583"/>
                    </a:lnTo>
                    <a:lnTo>
                      <a:pt x="6183" y="0"/>
                    </a:lnTo>
                    <a:lnTo>
                      <a:pt x="42158" y="0"/>
                    </a:lnTo>
                    <a:lnTo>
                      <a:pt x="35975" y="24583"/>
                    </a:lnTo>
                    <a:close/>
                  </a:path>
                </a:pathLst>
              </a:custGeom>
              <a:solidFill>
                <a:srgbClr val="36ABD9"/>
              </a:solidFill>
              <a:ln w="3745" cap="flat">
                <a:noFill/>
                <a:prstDash val="solid"/>
                <a:miter/>
              </a:ln>
            </p:spPr>
            <p:txBody>
              <a:bodyPr rtlCol="0" anchor="ctr"/>
              <a:lstStyle/>
              <a:p>
                <a:endParaRPr lang="en-US"/>
              </a:p>
            </p:txBody>
          </p:sp>
          <p:sp>
            <p:nvSpPr>
              <p:cNvPr id="602" name="Freeform: Shape 601">
                <a:extLst>
                  <a:ext uri="{FF2B5EF4-FFF2-40B4-BE49-F238E27FC236}">
                    <a16:creationId xmlns:a16="http://schemas.microsoft.com/office/drawing/2014/main" id="{91077BCF-3276-4F21-8EBC-3D9ADA594345}"/>
                  </a:ext>
                </a:extLst>
              </p:cNvPr>
              <p:cNvSpPr/>
              <p:nvPr/>
            </p:nvSpPr>
            <p:spPr>
              <a:xfrm>
                <a:off x="6010556" y="6131697"/>
                <a:ext cx="42195" cy="24582"/>
              </a:xfrm>
              <a:custGeom>
                <a:avLst/>
                <a:gdLst>
                  <a:gd name="connsiteX0" fmla="*/ 35975 w 42195"/>
                  <a:gd name="connsiteY0" fmla="*/ 24583 h 24582"/>
                  <a:gd name="connsiteX1" fmla="*/ 0 w 42195"/>
                  <a:gd name="connsiteY1" fmla="*/ 24583 h 24582"/>
                  <a:gd name="connsiteX2" fmla="*/ 6183 w 42195"/>
                  <a:gd name="connsiteY2" fmla="*/ 0 h 24582"/>
                  <a:gd name="connsiteX3" fmla="*/ 42196 w 42195"/>
                  <a:gd name="connsiteY3" fmla="*/ 0 h 24582"/>
                  <a:gd name="connsiteX4" fmla="*/ 35975 w 42195"/>
                  <a:gd name="connsiteY4" fmla="*/ 24583 h 245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195" h="24582">
                    <a:moveTo>
                      <a:pt x="35975" y="24583"/>
                    </a:moveTo>
                    <a:lnTo>
                      <a:pt x="0" y="24583"/>
                    </a:lnTo>
                    <a:lnTo>
                      <a:pt x="6183" y="0"/>
                    </a:lnTo>
                    <a:lnTo>
                      <a:pt x="42196" y="0"/>
                    </a:lnTo>
                    <a:lnTo>
                      <a:pt x="35975" y="24583"/>
                    </a:lnTo>
                    <a:close/>
                  </a:path>
                </a:pathLst>
              </a:custGeom>
              <a:solidFill>
                <a:srgbClr val="70B347"/>
              </a:solidFill>
              <a:ln w="3745" cap="flat">
                <a:noFill/>
                <a:prstDash val="solid"/>
                <a:miter/>
              </a:ln>
            </p:spPr>
            <p:txBody>
              <a:bodyPr rtlCol="0" anchor="ctr"/>
              <a:lstStyle/>
              <a:p>
                <a:endParaRPr lang="en-US"/>
              </a:p>
            </p:txBody>
          </p:sp>
        </p:grpSp>
        <p:sp>
          <p:nvSpPr>
            <p:cNvPr id="589" name="Freeform: Shape 588">
              <a:extLst>
                <a:ext uri="{FF2B5EF4-FFF2-40B4-BE49-F238E27FC236}">
                  <a16:creationId xmlns:a16="http://schemas.microsoft.com/office/drawing/2014/main" id="{4DAD2049-2D5E-4695-BB15-B1A7CEE5993F}"/>
                </a:ext>
              </a:extLst>
            </p:cNvPr>
            <p:cNvSpPr/>
            <p:nvPr/>
          </p:nvSpPr>
          <p:spPr>
            <a:xfrm>
              <a:off x="6237910" y="7295601"/>
              <a:ext cx="50515" cy="16477"/>
            </a:xfrm>
            <a:custGeom>
              <a:avLst/>
              <a:gdLst>
                <a:gd name="connsiteX0" fmla="*/ 45981 w 50515"/>
                <a:gd name="connsiteY0" fmla="*/ 16478 h 16477"/>
                <a:gd name="connsiteX1" fmla="*/ 45194 w 50515"/>
                <a:gd name="connsiteY1" fmla="*/ 16403 h 16477"/>
                <a:gd name="connsiteX2" fmla="*/ 3710 w 50515"/>
                <a:gd name="connsiteY2" fmla="*/ 8983 h 16477"/>
                <a:gd name="connsiteX3" fmla="*/ 75 w 50515"/>
                <a:gd name="connsiteY3" fmla="*/ 3737 h 16477"/>
                <a:gd name="connsiteX4" fmla="*/ 5322 w 50515"/>
                <a:gd name="connsiteY4" fmla="*/ 64 h 16477"/>
                <a:gd name="connsiteX5" fmla="*/ 46805 w 50515"/>
                <a:gd name="connsiteY5" fmla="*/ 7484 h 16477"/>
                <a:gd name="connsiteX6" fmla="*/ 50440 w 50515"/>
                <a:gd name="connsiteY6" fmla="*/ 12730 h 16477"/>
                <a:gd name="connsiteX7" fmla="*/ 45981 w 50515"/>
                <a:gd name="connsiteY7" fmla="*/ 16440 h 16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15" h="16477">
                  <a:moveTo>
                    <a:pt x="45981" y="16478"/>
                  </a:moveTo>
                  <a:cubicBezTo>
                    <a:pt x="45718" y="16478"/>
                    <a:pt x="45456" y="16478"/>
                    <a:pt x="45194" y="16403"/>
                  </a:cubicBezTo>
                  <a:lnTo>
                    <a:pt x="3710" y="8983"/>
                  </a:lnTo>
                  <a:cubicBezTo>
                    <a:pt x="1237" y="8533"/>
                    <a:pt x="-374" y="6210"/>
                    <a:pt x="75" y="3737"/>
                  </a:cubicBezTo>
                  <a:cubicBezTo>
                    <a:pt x="525" y="1263"/>
                    <a:pt x="2848" y="-348"/>
                    <a:pt x="5322" y="64"/>
                  </a:cubicBezTo>
                  <a:lnTo>
                    <a:pt x="46805" y="7484"/>
                  </a:lnTo>
                  <a:cubicBezTo>
                    <a:pt x="49279" y="7934"/>
                    <a:pt x="50890" y="10257"/>
                    <a:pt x="50440" y="12730"/>
                  </a:cubicBezTo>
                  <a:cubicBezTo>
                    <a:pt x="50065" y="14904"/>
                    <a:pt x="48154" y="16440"/>
                    <a:pt x="45981" y="16440"/>
                  </a:cubicBezTo>
                  <a:close/>
                </a:path>
              </a:pathLst>
            </a:custGeom>
            <a:solidFill>
              <a:schemeClr val="accent3"/>
            </a:solidFill>
            <a:ln w="3745" cap="flat">
              <a:noFill/>
              <a:prstDash val="solid"/>
              <a:miter/>
            </a:ln>
          </p:spPr>
          <p:txBody>
            <a:bodyPr rtlCol="0" anchor="ctr"/>
            <a:lstStyle/>
            <a:p>
              <a:endParaRPr lang="en-US"/>
            </a:p>
          </p:txBody>
        </p:sp>
        <p:sp>
          <p:nvSpPr>
            <p:cNvPr id="590" name="Freeform: Shape 589">
              <a:extLst>
                <a:ext uri="{FF2B5EF4-FFF2-40B4-BE49-F238E27FC236}">
                  <a16:creationId xmlns:a16="http://schemas.microsoft.com/office/drawing/2014/main" id="{F240D5A2-93B0-4946-BD55-EA044E2F35D6}"/>
                </a:ext>
              </a:extLst>
            </p:cNvPr>
            <p:cNvSpPr/>
            <p:nvPr/>
          </p:nvSpPr>
          <p:spPr>
            <a:xfrm>
              <a:off x="6292688" y="7196388"/>
              <a:ext cx="35693" cy="35722"/>
            </a:xfrm>
            <a:custGeom>
              <a:avLst/>
              <a:gdLst>
                <a:gd name="connsiteX0" fmla="*/ 31188 w 35693"/>
                <a:gd name="connsiteY0" fmla="*/ 35722 h 35722"/>
                <a:gd name="connsiteX1" fmla="*/ 28002 w 35693"/>
                <a:gd name="connsiteY1" fmla="*/ 34410 h 35722"/>
                <a:gd name="connsiteX2" fmla="*/ 1321 w 35693"/>
                <a:gd name="connsiteY2" fmla="*/ 7692 h 35722"/>
                <a:gd name="connsiteX3" fmla="*/ 1321 w 35693"/>
                <a:gd name="connsiteY3" fmla="*/ 1321 h 35722"/>
                <a:gd name="connsiteX4" fmla="*/ 7692 w 35693"/>
                <a:gd name="connsiteY4" fmla="*/ 1321 h 35722"/>
                <a:gd name="connsiteX5" fmla="*/ 34373 w 35693"/>
                <a:gd name="connsiteY5" fmla="*/ 28040 h 35722"/>
                <a:gd name="connsiteX6" fmla="*/ 34373 w 35693"/>
                <a:gd name="connsiteY6" fmla="*/ 34410 h 35722"/>
                <a:gd name="connsiteX7" fmla="*/ 31188 w 35693"/>
                <a:gd name="connsiteY7" fmla="*/ 35722 h 35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93" h="35722">
                  <a:moveTo>
                    <a:pt x="31188" y="35722"/>
                  </a:moveTo>
                  <a:cubicBezTo>
                    <a:pt x="30026" y="35722"/>
                    <a:pt x="28864" y="35272"/>
                    <a:pt x="28002" y="34410"/>
                  </a:cubicBezTo>
                  <a:lnTo>
                    <a:pt x="1321" y="7692"/>
                  </a:lnTo>
                  <a:cubicBezTo>
                    <a:pt x="-440" y="5930"/>
                    <a:pt x="-440" y="3082"/>
                    <a:pt x="1321" y="1321"/>
                  </a:cubicBezTo>
                  <a:cubicBezTo>
                    <a:pt x="3082" y="-440"/>
                    <a:pt x="5930" y="-440"/>
                    <a:pt x="7692" y="1321"/>
                  </a:cubicBezTo>
                  <a:lnTo>
                    <a:pt x="34373" y="28040"/>
                  </a:lnTo>
                  <a:cubicBezTo>
                    <a:pt x="36134" y="29801"/>
                    <a:pt x="36134" y="32649"/>
                    <a:pt x="34373" y="34410"/>
                  </a:cubicBezTo>
                  <a:cubicBezTo>
                    <a:pt x="33511" y="35272"/>
                    <a:pt x="32349" y="35722"/>
                    <a:pt x="31188" y="35722"/>
                  </a:cubicBezTo>
                  <a:close/>
                </a:path>
              </a:pathLst>
            </a:custGeom>
            <a:solidFill>
              <a:schemeClr val="accent3"/>
            </a:solidFill>
            <a:ln w="3745" cap="flat">
              <a:noFill/>
              <a:prstDash val="solid"/>
              <a:miter/>
            </a:ln>
          </p:spPr>
          <p:txBody>
            <a:bodyPr rtlCol="0" anchor="ctr"/>
            <a:lstStyle/>
            <a:p>
              <a:endParaRPr lang="en-US"/>
            </a:p>
          </p:txBody>
        </p:sp>
        <p:sp>
          <p:nvSpPr>
            <p:cNvPr id="591" name="Freeform: Shape 590">
              <a:extLst>
                <a:ext uri="{FF2B5EF4-FFF2-40B4-BE49-F238E27FC236}">
                  <a16:creationId xmlns:a16="http://schemas.microsoft.com/office/drawing/2014/main" id="{F8036AF6-87FF-439F-8ED3-022EF4E4E3B3}"/>
                </a:ext>
              </a:extLst>
            </p:cNvPr>
            <p:cNvSpPr/>
            <p:nvPr/>
          </p:nvSpPr>
          <p:spPr>
            <a:xfrm>
              <a:off x="5981588" y="7356786"/>
              <a:ext cx="28105" cy="28105"/>
            </a:xfrm>
            <a:custGeom>
              <a:avLst/>
              <a:gdLst>
                <a:gd name="connsiteX0" fmla="*/ 28105 w 28105"/>
                <a:gd name="connsiteY0" fmla="*/ 14053 h 28105"/>
                <a:gd name="connsiteX1" fmla="*/ 14053 w 28105"/>
                <a:gd name="connsiteY1" fmla="*/ 28105 h 28105"/>
                <a:gd name="connsiteX2" fmla="*/ 0 w 28105"/>
                <a:gd name="connsiteY2" fmla="*/ 14053 h 28105"/>
                <a:gd name="connsiteX3" fmla="*/ 14053 w 28105"/>
                <a:gd name="connsiteY3" fmla="*/ 0 h 28105"/>
                <a:gd name="connsiteX4" fmla="*/ 28105 w 28105"/>
                <a:gd name="connsiteY4" fmla="*/ 14053 h 28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05" h="28105">
                  <a:moveTo>
                    <a:pt x="28105" y="14053"/>
                  </a:moveTo>
                  <a:cubicBezTo>
                    <a:pt x="28105" y="21810"/>
                    <a:pt x="21810" y="28105"/>
                    <a:pt x="14053" y="28105"/>
                  </a:cubicBezTo>
                  <a:cubicBezTo>
                    <a:pt x="6296" y="28105"/>
                    <a:pt x="0" y="21810"/>
                    <a:pt x="0" y="14053"/>
                  </a:cubicBezTo>
                  <a:cubicBezTo>
                    <a:pt x="0" y="6296"/>
                    <a:pt x="6296" y="0"/>
                    <a:pt x="14053" y="0"/>
                  </a:cubicBezTo>
                  <a:cubicBezTo>
                    <a:pt x="21810" y="0"/>
                    <a:pt x="28105" y="6296"/>
                    <a:pt x="28105" y="14053"/>
                  </a:cubicBezTo>
                  <a:close/>
                </a:path>
              </a:pathLst>
            </a:custGeom>
            <a:solidFill>
              <a:srgbClr val="FFDE4A"/>
            </a:solidFill>
            <a:ln w="3745" cap="flat">
              <a:noFill/>
              <a:prstDash val="solid"/>
              <a:miter/>
            </a:ln>
          </p:spPr>
          <p:txBody>
            <a:bodyPr rtlCol="0" anchor="ctr"/>
            <a:lstStyle/>
            <a:p>
              <a:endParaRPr lang="en-US"/>
            </a:p>
          </p:txBody>
        </p:sp>
        <p:sp>
          <p:nvSpPr>
            <p:cNvPr id="592" name="Freeform: Shape 591">
              <a:extLst>
                <a:ext uri="{FF2B5EF4-FFF2-40B4-BE49-F238E27FC236}">
                  <a16:creationId xmlns:a16="http://schemas.microsoft.com/office/drawing/2014/main" id="{7F44493F-CCD3-4726-B0E9-75AEE0D3D9B6}"/>
                </a:ext>
              </a:extLst>
            </p:cNvPr>
            <p:cNvSpPr/>
            <p:nvPr/>
          </p:nvSpPr>
          <p:spPr>
            <a:xfrm>
              <a:off x="6023615" y="7356804"/>
              <a:ext cx="28067" cy="28067"/>
            </a:xfrm>
            <a:custGeom>
              <a:avLst/>
              <a:gdLst>
                <a:gd name="connsiteX0" fmla="*/ 23965 w 28067"/>
                <a:gd name="connsiteY0" fmla="*/ 4103 h 28067"/>
                <a:gd name="connsiteX1" fmla="*/ 23965 w 28067"/>
                <a:gd name="connsiteY1" fmla="*/ 23965 h 28067"/>
                <a:gd name="connsiteX2" fmla="*/ 4103 w 28067"/>
                <a:gd name="connsiteY2" fmla="*/ 23965 h 28067"/>
                <a:gd name="connsiteX3" fmla="*/ 4103 w 28067"/>
                <a:gd name="connsiteY3" fmla="*/ 4103 h 28067"/>
                <a:gd name="connsiteX4" fmla="*/ 23965 w 28067"/>
                <a:gd name="connsiteY4" fmla="*/ 4103 h 28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67" h="28067">
                  <a:moveTo>
                    <a:pt x="23965" y="4103"/>
                  </a:moveTo>
                  <a:cubicBezTo>
                    <a:pt x="29436" y="9575"/>
                    <a:pt x="29436" y="18493"/>
                    <a:pt x="23965" y="23965"/>
                  </a:cubicBezTo>
                  <a:cubicBezTo>
                    <a:pt x="18493" y="29436"/>
                    <a:pt x="9575" y="29436"/>
                    <a:pt x="4103" y="23965"/>
                  </a:cubicBezTo>
                  <a:cubicBezTo>
                    <a:pt x="-1368" y="18493"/>
                    <a:pt x="-1368" y="9575"/>
                    <a:pt x="4103" y="4103"/>
                  </a:cubicBezTo>
                  <a:cubicBezTo>
                    <a:pt x="9575" y="-1368"/>
                    <a:pt x="18493" y="-1368"/>
                    <a:pt x="23965" y="4103"/>
                  </a:cubicBezTo>
                  <a:close/>
                </a:path>
              </a:pathLst>
            </a:custGeom>
            <a:solidFill>
              <a:srgbClr val="C5202B"/>
            </a:solidFill>
            <a:ln w="3745" cap="flat">
              <a:noFill/>
              <a:prstDash val="solid"/>
              <a:miter/>
            </a:ln>
          </p:spPr>
          <p:txBody>
            <a:bodyPr rtlCol="0" anchor="ctr"/>
            <a:lstStyle/>
            <a:p>
              <a:endParaRPr lang="en-US"/>
            </a:p>
          </p:txBody>
        </p:sp>
        <p:sp>
          <p:nvSpPr>
            <p:cNvPr id="593" name="Freeform: Shape 592">
              <a:extLst>
                <a:ext uri="{FF2B5EF4-FFF2-40B4-BE49-F238E27FC236}">
                  <a16:creationId xmlns:a16="http://schemas.microsoft.com/office/drawing/2014/main" id="{600B0F37-BD79-42B0-BF00-DEC76662DDD1}"/>
                </a:ext>
              </a:extLst>
            </p:cNvPr>
            <p:cNvSpPr/>
            <p:nvPr/>
          </p:nvSpPr>
          <p:spPr>
            <a:xfrm>
              <a:off x="6065567" y="7356786"/>
              <a:ext cx="28105" cy="28105"/>
            </a:xfrm>
            <a:custGeom>
              <a:avLst/>
              <a:gdLst>
                <a:gd name="connsiteX0" fmla="*/ 28105 w 28105"/>
                <a:gd name="connsiteY0" fmla="*/ 14053 h 28105"/>
                <a:gd name="connsiteX1" fmla="*/ 14053 w 28105"/>
                <a:gd name="connsiteY1" fmla="*/ 28105 h 28105"/>
                <a:gd name="connsiteX2" fmla="*/ 0 w 28105"/>
                <a:gd name="connsiteY2" fmla="*/ 14053 h 28105"/>
                <a:gd name="connsiteX3" fmla="*/ 14053 w 28105"/>
                <a:gd name="connsiteY3" fmla="*/ 0 h 28105"/>
                <a:gd name="connsiteX4" fmla="*/ 28105 w 28105"/>
                <a:gd name="connsiteY4" fmla="*/ 14053 h 28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05" h="28105">
                  <a:moveTo>
                    <a:pt x="28105" y="14053"/>
                  </a:moveTo>
                  <a:cubicBezTo>
                    <a:pt x="28105" y="21814"/>
                    <a:pt x="21814" y="28105"/>
                    <a:pt x="14053" y="28105"/>
                  </a:cubicBezTo>
                  <a:cubicBezTo>
                    <a:pt x="6292" y="28105"/>
                    <a:pt x="0" y="21814"/>
                    <a:pt x="0" y="14053"/>
                  </a:cubicBezTo>
                  <a:cubicBezTo>
                    <a:pt x="0" y="6292"/>
                    <a:pt x="6292" y="0"/>
                    <a:pt x="14053" y="0"/>
                  </a:cubicBezTo>
                  <a:cubicBezTo>
                    <a:pt x="21814" y="0"/>
                    <a:pt x="28105" y="6292"/>
                    <a:pt x="28105" y="14053"/>
                  </a:cubicBezTo>
                  <a:close/>
                </a:path>
              </a:pathLst>
            </a:custGeom>
            <a:solidFill>
              <a:srgbClr val="70B347"/>
            </a:solidFill>
            <a:ln w="3745" cap="flat">
              <a:noFill/>
              <a:prstDash val="solid"/>
              <a:miter/>
            </a:ln>
          </p:spPr>
          <p:txBody>
            <a:bodyPr rtlCol="0" anchor="ctr"/>
            <a:lstStyle/>
            <a:p>
              <a:endParaRPr lang="en-US"/>
            </a:p>
          </p:txBody>
        </p:sp>
        <p:sp>
          <p:nvSpPr>
            <p:cNvPr id="594" name="Freeform: Shape 593">
              <a:extLst>
                <a:ext uri="{FF2B5EF4-FFF2-40B4-BE49-F238E27FC236}">
                  <a16:creationId xmlns:a16="http://schemas.microsoft.com/office/drawing/2014/main" id="{C7979957-D744-49B7-9E61-DDA023FC51EE}"/>
                </a:ext>
              </a:extLst>
            </p:cNvPr>
            <p:cNvSpPr/>
            <p:nvPr/>
          </p:nvSpPr>
          <p:spPr>
            <a:xfrm>
              <a:off x="6384316" y="7153110"/>
              <a:ext cx="14024" cy="44598"/>
            </a:xfrm>
            <a:custGeom>
              <a:avLst/>
              <a:gdLst>
                <a:gd name="connsiteX0" fmla="*/ 9523 w 14024"/>
                <a:gd name="connsiteY0" fmla="*/ 44599 h 44598"/>
                <a:gd name="connsiteX1" fmla="*/ 5064 w 14024"/>
                <a:gd name="connsiteY1" fmla="*/ 40701 h 44598"/>
                <a:gd name="connsiteX2" fmla="*/ 42 w 14024"/>
                <a:gd name="connsiteY2" fmla="*/ 5139 h 44598"/>
                <a:gd name="connsiteX3" fmla="*/ 3865 w 14024"/>
                <a:gd name="connsiteY3" fmla="*/ 42 h 44598"/>
                <a:gd name="connsiteX4" fmla="*/ 8961 w 14024"/>
                <a:gd name="connsiteY4" fmla="*/ 3865 h 44598"/>
                <a:gd name="connsiteX5" fmla="*/ 13982 w 14024"/>
                <a:gd name="connsiteY5" fmla="*/ 39427 h 44598"/>
                <a:gd name="connsiteX6" fmla="*/ 10160 w 14024"/>
                <a:gd name="connsiteY6" fmla="*/ 44524 h 44598"/>
                <a:gd name="connsiteX7" fmla="*/ 9523 w 14024"/>
                <a:gd name="connsiteY7" fmla="*/ 44561 h 44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24" h="44598">
                  <a:moveTo>
                    <a:pt x="9523" y="44599"/>
                  </a:moveTo>
                  <a:cubicBezTo>
                    <a:pt x="7312" y="44599"/>
                    <a:pt x="5363" y="42950"/>
                    <a:pt x="5064" y="40701"/>
                  </a:cubicBezTo>
                  <a:lnTo>
                    <a:pt x="42" y="5139"/>
                  </a:lnTo>
                  <a:cubicBezTo>
                    <a:pt x="-295" y="2665"/>
                    <a:pt x="1429" y="379"/>
                    <a:pt x="3865" y="42"/>
                  </a:cubicBezTo>
                  <a:cubicBezTo>
                    <a:pt x="6300" y="-295"/>
                    <a:pt x="8624" y="1429"/>
                    <a:pt x="8961" y="3865"/>
                  </a:cubicBezTo>
                  <a:lnTo>
                    <a:pt x="13982" y="39427"/>
                  </a:lnTo>
                  <a:cubicBezTo>
                    <a:pt x="14320" y="41901"/>
                    <a:pt x="12596" y="44187"/>
                    <a:pt x="10160" y="44524"/>
                  </a:cubicBezTo>
                  <a:cubicBezTo>
                    <a:pt x="9935" y="44524"/>
                    <a:pt x="9748" y="44561"/>
                    <a:pt x="9523" y="44561"/>
                  </a:cubicBezTo>
                  <a:close/>
                </a:path>
              </a:pathLst>
            </a:custGeom>
            <a:solidFill>
              <a:schemeClr val="accent3"/>
            </a:solidFill>
            <a:ln w="3745" cap="flat">
              <a:noFill/>
              <a:prstDash val="solid"/>
              <a:miter/>
            </a:ln>
          </p:spPr>
          <p:txBody>
            <a:bodyPr rtlCol="0" anchor="ctr"/>
            <a:lstStyle/>
            <a:p>
              <a:endParaRPr lang="en-US"/>
            </a:p>
          </p:txBody>
        </p:sp>
        <p:sp>
          <p:nvSpPr>
            <p:cNvPr id="595" name="Freeform: Shape 594">
              <a:extLst>
                <a:ext uri="{FF2B5EF4-FFF2-40B4-BE49-F238E27FC236}">
                  <a16:creationId xmlns:a16="http://schemas.microsoft.com/office/drawing/2014/main" id="{FC54363D-ECA0-460B-A1DA-7C75416646EF}"/>
                </a:ext>
              </a:extLst>
            </p:cNvPr>
            <p:cNvSpPr/>
            <p:nvPr/>
          </p:nvSpPr>
          <p:spPr>
            <a:xfrm>
              <a:off x="5803149" y="7654683"/>
              <a:ext cx="374727" cy="334737"/>
            </a:xfrm>
            <a:custGeom>
              <a:avLst/>
              <a:gdLst>
                <a:gd name="connsiteX0" fmla="*/ 278607 w 374727"/>
                <a:gd name="connsiteY0" fmla="*/ 63014 h 334737"/>
                <a:gd name="connsiteX1" fmla="*/ 263580 w 374727"/>
                <a:gd name="connsiteY1" fmla="*/ 102774 h 334737"/>
                <a:gd name="connsiteX2" fmla="*/ 263580 w 374727"/>
                <a:gd name="connsiteY2" fmla="*/ 102774 h 334737"/>
                <a:gd name="connsiteX3" fmla="*/ 91312 w 374727"/>
                <a:gd name="connsiteY3" fmla="*/ 170 h 334737"/>
                <a:gd name="connsiteX4" fmla="*/ 27682 w 374727"/>
                <a:gd name="connsiteY4" fmla="*/ 11750 h 334737"/>
                <a:gd name="connsiteX5" fmla="*/ 13704 w 374727"/>
                <a:gd name="connsiteY5" fmla="*/ 216395 h 334737"/>
                <a:gd name="connsiteX6" fmla="*/ 6809 w 374727"/>
                <a:gd name="connsiteY6" fmla="*/ 334738 h 334737"/>
                <a:gd name="connsiteX7" fmla="*/ 234463 w 374727"/>
                <a:gd name="connsiteY7" fmla="*/ 334738 h 334737"/>
                <a:gd name="connsiteX8" fmla="*/ 226294 w 374727"/>
                <a:gd name="connsiteY8" fmla="*/ 242215 h 334737"/>
                <a:gd name="connsiteX9" fmla="*/ 374728 w 374727"/>
                <a:gd name="connsiteY9" fmla="*/ 84112 h 334737"/>
                <a:gd name="connsiteX10" fmla="*/ 278570 w 374727"/>
                <a:gd name="connsiteY10" fmla="*/ 62977 h 334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4727" h="334737">
                  <a:moveTo>
                    <a:pt x="278607" y="63014"/>
                  </a:moveTo>
                  <a:lnTo>
                    <a:pt x="263580" y="102774"/>
                  </a:lnTo>
                  <a:cubicBezTo>
                    <a:pt x="262493" y="105659"/>
                    <a:pt x="263580" y="102774"/>
                    <a:pt x="263580" y="102774"/>
                  </a:cubicBezTo>
                  <a:cubicBezTo>
                    <a:pt x="184098" y="13099"/>
                    <a:pt x="134745" y="-1853"/>
                    <a:pt x="91312" y="170"/>
                  </a:cubicBezTo>
                  <a:cubicBezTo>
                    <a:pt x="65155" y="1369"/>
                    <a:pt x="47543" y="20"/>
                    <a:pt x="27682" y="11750"/>
                  </a:cubicBezTo>
                  <a:cubicBezTo>
                    <a:pt x="-761" y="28538"/>
                    <a:pt x="-10430" y="102774"/>
                    <a:pt x="13704" y="216395"/>
                  </a:cubicBezTo>
                  <a:lnTo>
                    <a:pt x="6809" y="334738"/>
                  </a:lnTo>
                  <a:lnTo>
                    <a:pt x="234463" y="334738"/>
                  </a:lnTo>
                  <a:lnTo>
                    <a:pt x="226294" y="242215"/>
                  </a:lnTo>
                  <a:cubicBezTo>
                    <a:pt x="310498" y="284185"/>
                    <a:pt x="344074" y="242215"/>
                    <a:pt x="374728" y="84112"/>
                  </a:cubicBezTo>
                  <a:lnTo>
                    <a:pt x="278570" y="62977"/>
                  </a:lnTo>
                  <a:close/>
                </a:path>
              </a:pathLst>
            </a:custGeom>
            <a:solidFill>
              <a:schemeClr val="tx2">
                <a:lumMod val="60000"/>
                <a:lumOff val="40000"/>
              </a:schemeClr>
            </a:solidFill>
            <a:ln w="3745" cap="flat">
              <a:noFill/>
              <a:prstDash val="solid"/>
              <a:miter/>
            </a:ln>
          </p:spPr>
          <p:txBody>
            <a:bodyPr rtlCol="0" anchor="ctr"/>
            <a:lstStyle/>
            <a:p>
              <a:endParaRPr lang="en-US"/>
            </a:p>
          </p:txBody>
        </p:sp>
        <p:sp>
          <p:nvSpPr>
            <p:cNvPr id="596" name="Freeform: Shape 595">
              <a:extLst>
                <a:ext uri="{FF2B5EF4-FFF2-40B4-BE49-F238E27FC236}">
                  <a16:creationId xmlns:a16="http://schemas.microsoft.com/office/drawing/2014/main" id="{39C25558-28C0-490D-A3A2-974D63B93705}"/>
                </a:ext>
              </a:extLst>
            </p:cNvPr>
            <p:cNvSpPr/>
            <p:nvPr/>
          </p:nvSpPr>
          <p:spPr>
            <a:xfrm>
              <a:off x="5938484" y="7806751"/>
              <a:ext cx="96055" cy="147968"/>
            </a:xfrm>
            <a:custGeom>
              <a:avLst/>
              <a:gdLst>
                <a:gd name="connsiteX0" fmla="*/ 90996 w 96055"/>
                <a:gd name="connsiteY0" fmla="*/ 90184 h 147968"/>
                <a:gd name="connsiteX1" fmla="*/ 7242 w 96055"/>
                <a:gd name="connsiteY1" fmla="*/ 1633 h 147968"/>
                <a:gd name="connsiteX2" fmla="*/ 384 w 96055"/>
                <a:gd name="connsiteY2" fmla="*/ 5680 h 147968"/>
                <a:gd name="connsiteX3" fmla="*/ 96055 w 96055"/>
                <a:gd name="connsiteY3" fmla="*/ 147969 h 147968"/>
                <a:gd name="connsiteX4" fmla="*/ 90959 w 96055"/>
                <a:gd name="connsiteY4" fmla="*/ 90184 h 1479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055" h="147968">
                  <a:moveTo>
                    <a:pt x="90996" y="90184"/>
                  </a:moveTo>
                  <a:cubicBezTo>
                    <a:pt x="62328" y="71372"/>
                    <a:pt x="28302" y="29664"/>
                    <a:pt x="7242" y="1633"/>
                  </a:cubicBezTo>
                  <a:cubicBezTo>
                    <a:pt x="4394" y="-2189"/>
                    <a:pt x="-1565" y="1333"/>
                    <a:pt x="384" y="5680"/>
                  </a:cubicBezTo>
                  <a:cubicBezTo>
                    <a:pt x="17022" y="42480"/>
                    <a:pt x="49288" y="103712"/>
                    <a:pt x="96055" y="147969"/>
                  </a:cubicBezTo>
                  <a:lnTo>
                    <a:pt x="90959" y="90184"/>
                  </a:lnTo>
                  <a:close/>
                </a:path>
              </a:pathLst>
            </a:custGeom>
            <a:solidFill>
              <a:schemeClr val="tx2"/>
            </a:solidFill>
            <a:ln w="3745" cap="flat">
              <a:noFill/>
              <a:prstDash val="solid"/>
              <a:miter/>
            </a:ln>
          </p:spPr>
          <p:txBody>
            <a:bodyPr rtlCol="0" anchor="ctr"/>
            <a:lstStyle/>
            <a:p>
              <a:endParaRPr lang="en-US"/>
            </a:p>
          </p:txBody>
        </p:sp>
        <p:sp>
          <p:nvSpPr>
            <p:cNvPr id="597" name="Freeform: Shape 596">
              <a:extLst>
                <a:ext uri="{FF2B5EF4-FFF2-40B4-BE49-F238E27FC236}">
                  <a16:creationId xmlns:a16="http://schemas.microsoft.com/office/drawing/2014/main" id="{D9BF4954-642A-4985-8D28-E20E26B49F02}"/>
                </a:ext>
              </a:extLst>
            </p:cNvPr>
            <p:cNvSpPr/>
            <p:nvPr/>
          </p:nvSpPr>
          <p:spPr>
            <a:xfrm>
              <a:off x="6045390" y="7754331"/>
              <a:ext cx="24503" cy="66720"/>
            </a:xfrm>
            <a:custGeom>
              <a:avLst/>
              <a:gdLst>
                <a:gd name="connsiteX0" fmla="*/ 3127 w 24503"/>
                <a:gd name="connsiteY0" fmla="*/ 66720 h 66720"/>
                <a:gd name="connsiteX1" fmla="*/ 2227 w 24503"/>
                <a:gd name="connsiteY1" fmla="*/ 66570 h 66720"/>
                <a:gd name="connsiteX2" fmla="*/ 129 w 24503"/>
                <a:gd name="connsiteY2" fmla="*/ 62673 h 66720"/>
                <a:gd name="connsiteX3" fmla="*/ 18379 w 24503"/>
                <a:gd name="connsiteY3" fmla="*/ 2227 h 66720"/>
                <a:gd name="connsiteX4" fmla="*/ 22276 w 24503"/>
                <a:gd name="connsiteY4" fmla="*/ 129 h 66720"/>
                <a:gd name="connsiteX5" fmla="*/ 24374 w 24503"/>
                <a:gd name="connsiteY5" fmla="*/ 4026 h 66720"/>
                <a:gd name="connsiteX6" fmla="*/ 6125 w 24503"/>
                <a:gd name="connsiteY6" fmla="*/ 64472 h 66720"/>
                <a:gd name="connsiteX7" fmla="*/ 3127 w 24503"/>
                <a:gd name="connsiteY7" fmla="*/ 66683 h 66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03" h="66720">
                  <a:moveTo>
                    <a:pt x="3127" y="66720"/>
                  </a:moveTo>
                  <a:cubicBezTo>
                    <a:pt x="2827" y="66720"/>
                    <a:pt x="2527" y="66683"/>
                    <a:pt x="2227" y="66570"/>
                  </a:cubicBezTo>
                  <a:cubicBezTo>
                    <a:pt x="578" y="66083"/>
                    <a:pt x="-358" y="64322"/>
                    <a:pt x="129" y="62673"/>
                  </a:cubicBezTo>
                  <a:lnTo>
                    <a:pt x="18379" y="2227"/>
                  </a:lnTo>
                  <a:cubicBezTo>
                    <a:pt x="18866" y="578"/>
                    <a:pt x="20590" y="-358"/>
                    <a:pt x="22276" y="129"/>
                  </a:cubicBezTo>
                  <a:cubicBezTo>
                    <a:pt x="23925" y="616"/>
                    <a:pt x="24862" y="2377"/>
                    <a:pt x="24374" y="4026"/>
                  </a:cubicBezTo>
                  <a:lnTo>
                    <a:pt x="6125" y="64472"/>
                  </a:lnTo>
                  <a:cubicBezTo>
                    <a:pt x="5712" y="65821"/>
                    <a:pt x="4476" y="66683"/>
                    <a:pt x="3127" y="66683"/>
                  </a:cubicBezTo>
                  <a:close/>
                </a:path>
              </a:pathLst>
            </a:custGeom>
            <a:solidFill>
              <a:schemeClr val="tx2"/>
            </a:solidFill>
            <a:ln w="3745" cap="flat">
              <a:noFill/>
              <a:prstDash val="solid"/>
              <a:miter/>
            </a:ln>
          </p:spPr>
          <p:txBody>
            <a:bodyPr rtlCol="0" anchor="ctr"/>
            <a:lstStyle/>
            <a:p>
              <a:endParaRPr lang="en-US"/>
            </a:p>
          </p:txBody>
        </p:sp>
        <p:sp>
          <p:nvSpPr>
            <p:cNvPr id="598" name="Freeform: Shape 597">
              <a:extLst>
                <a:ext uri="{FF2B5EF4-FFF2-40B4-BE49-F238E27FC236}">
                  <a16:creationId xmlns:a16="http://schemas.microsoft.com/office/drawing/2014/main" id="{CE2EFD6D-EFE2-4CAE-B01E-BBC6C48F6CD8}"/>
                </a:ext>
              </a:extLst>
            </p:cNvPr>
            <p:cNvSpPr/>
            <p:nvPr/>
          </p:nvSpPr>
          <p:spPr>
            <a:xfrm>
              <a:off x="6148947" y="7747264"/>
              <a:ext cx="16863" cy="16863"/>
            </a:xfrm>
            <a:custGeom>
              <a:avLst/>
              <a:gdLst>
                <a:gd name="connsiteX0" fmla="*/ 16863 w 16863"/>
                <a:gd name="connsiteY0" fmla="*/ 8432 h 16863"/>
                <a:gd name="connsiteX1" fmla="*/ 8432 w 16863"/>
                <a:gd name="connsiteY1" fmla="*/ 16863 h 16863"/>
                <a:gd name="connsiteX2" fmla="*/ 0 w 16863"/>
                <a:gd name="connsiteY2" fmla="*/ 8432 h 16863"/>
                <a:gd name="connsiteX3" fmla="*/ 8432 w 16863"/>
                <a:gd name="connsiteY3" fmla="*/ 0 h 16863"/>
                <a:gd name="connsiteX4" fmla="*/ 16863 w 16863"/>
                <a:gd name="connsiteY4" fmla="*/ 8432 h 168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63" h="16863">
                  <a:moveTo>
                    <a:pt x="16863" y="8432"/>
                  </a:moveTo>
                  <a:cubicBezTo>
                    <a:pt x="16863" y="13078"/>
                    <a:pt x="13078" y="16863"/>
                    <a:pt x="8432" y="16863"/>
                  </a:cubicBezTo>
                  <a:cubicBezTo>
                    <a:pt x="3785" y="16863"/>
                    <a:pt x="0" y="13078"/>
                    <a:pt x="0" y="8432"/>
                  </a:cubicBezTo>
                  <a:cubicBezTo>
                    <a:pt x="0" y="3785"/>
                    <a:pt x="3785" y="0"/>
                    <a:pt x="8432" y="0"/>
                  </a:cubicBezTo>
                  <a:cubicBezTo>
                    <a:pt x="13078" y="0"/>
                    <a:pt x="16863" y="3785"/>
                    <a:pt x="16863" y="8432"/>
                  </a:cubicBezTo>
                  <a:close/>
                </a:path>
              </a:pathLst>
            </a:custGeom>
            <a:solidFill>
              <a:srgbClr val="F3F2FF"/>
            </a:solidFill>
            <a:ln w="3745" cap="flat">
              <a:noFill/>
              <a:prstDash val="solid"/>
              <a:miter/>
            </a:ln>
          </p:spPr>
          <p:txBody>
            <a:bodyPr rtlCol="0" anchor="ctr"/>
            <a:lstStyle/>
            <a:p>
              <a:endParaRPr lang="en-US"/>
            </a:p>
          </p:txBody>
        </p:sp>
      </p:grpSp>
      <p:grpSp>
        <p:nvGrpSpPr>
          <p:cNvPr id="607" name="Group 606">
            <a:extLst>
              <a:ext uri="{FF2B5EF4-FFF2-40B4-BE49-F238E27FC236}">
                <a16:creationId xmlns:a16="http://schemas.microsoft.com/office/drawing/2014/main" id="{AE92BF33-3BB9-43F9-A9AF-C3F1EB334DEA}"/>
              </a:ext>
            </a:extLst>
          </p:cNvPr>
          <p:cNvGrpSpPr>
            <a:grpSpLocks noChangeAspect="1"/>
          </p:cNvGrpSpPr>
          <p:nvPr/>
        </p:nvGrpSpPr>
        <p:grpSpPr>
          <a:xfrm>
            <a:off x="9323534" y="1545480"/>
            <a:ext cx="856273" cy="689200"/>
            <a:chOff x="9343040" y="1534019"/>
            <a:chExt cx="864919" cy="696162"/>
          </a:xfrm>
        </p:grpSpPr>
        <p:sp>
          <p:nvSpPr>
            <p:cNvPr id="608" name="Freeform: Shape 607">
              <a:extLst>
                <a:ext uri="{FF2B5EF4-FFF2-40B4-BE49-F238E27FC236}">
                  <a16:creationId xmlns:a16="http://schemas.microsoft.com/office/drawing/2014/main" id="{CC02D75B-267D-429C-999A-A3F244D833CE}"/>
                </a:ext>
              </a:extLst>
            </p:cNvPr>
            <p:cNvSpPr/>
            <p:nvPr/>
          </p:nvSpPr>
          <p:spPr>
            <a:xfrm>
              <a:off x="9940880" y="1762908"/>
              <a:ext cx="121639" cy="186364"/>
            </a:xfrm>
            <a:custGeom>
              <a:avLst/>
              <a:gdLst>
                <a:gd name="connsiteX0" fmla="*/ 117592 w 121639"/>
                <a:gd name="connsiteY0" fmla="*/ 51382 h 186364"/>
                <a:gd name="connsiteX1" fmla="*/ 96871 w 121639"/>
                <a:gd name="connsiteY1" fmla="*/ 62823 h 186364"/>
                <a:gd name="connsiteX2" fmla="*/ 95738 w 121639"/>
                <a:gd name="connsiteY2" fmla="*/ 15573 h 186364"/>
                <a:gd name="connsiteX3" fmla="*/ 83873 w 121639"/>
                <a:gd name="connsiteY3" fmla="*/ 20497 h 186364"/>
                <a:gd name="connsiteX4" fmla="*/ 72893 w 121639"/>
                <a:gd name="connsiteY4" fmla="*/ 414 h 186364"/>
                <a:gd name="connsiteX5" fmla="*/ 54085 w 121639"/>
                <a:gd name="connsiteY5" fmla="*/ 14050 h 186364"/>
                <a:gd name="connsiteX6" fmla="*/ 46576 w 121639"/>
                <a:gd name="connsiteY6" fmla="*/ 414 h 186364"/>
                <a:gd name="connsiteX7" fmla="*/ 19870 w 121639"/>
                <a:gd name="connsiteY7" fmla="*/ 43059 h 186364"/>
                <a:gd name="connsiteX8" fmla="*/ 0 w 121639"/>
                <a:gd name="connsiteY8" fmla="*/ 104298 h 186364"/>
                <a:gd name="connsiteX9" fmla="*/ 11795 w 121639"/>
                <a:gd name="connsiteY9" fmla="*/ 142728 h 186364"/>
                <a:gd name="connsiteX10" fmla="*/ 8394 w 121639"/>
                <a:gd name="connsiteY10" fmla="*/ 171913 h 186364"/>
                <a:gd name="connsiteX11" fmla="*/ 8359 w 121639"/>
                <a:gd name="connsiteY11" fmla="*/ 173436 h 186364"/>
                <a:gd name="connsiteX12" fmla="*/ 97084 w 121639"/>
                <a:gd name="connsiteY12" fmla="*/ 186364 h 186364"/>
                <a:gd name="connsiteX13" fmla="*/ 103459 w 121639"/>
                <a:gd name="connsiteY13" fmla="*/ 102421 h 186364"/>
                <a:gd name="connsiteX14" fmla="*/ 117556 w 121639"/>
                <a:gd name="connsiteY14" fmla="*/ 51382 h 18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639" h="186364">
                  <a:moveTo>
                    <a:pt x="117592" y="51382"/>
                  </a:moveTo>
                  <a:cubicBezTo>
                    <a:pt x="110685" y="48478"/>
                    <a:pt x="102999" y="55137"/>
                    <a:pt x="96871" y="62823"/>
                  </a:cubicBezTo>
                  <a:cubicBezTo>
                    <a:pt x="102184" y="43803"/>
                    <a:pt x="106753" y="18938"/>
                    <a:pt x="95738" y="15573"/>
                  </a:cubicBezTo>
                  <a:cubicBezTo>
                    <a:pt x="91346" y="14228"/>
                    <a:pt x="87379" y="16424"/>
                    <a:pt x="83873" y="20497"/>
                  </a:cubicBezTo>
                  <a:cubicBezTo>
                    <a:pt x="83873" y="10686"/>
                    <a:pt x="81110" y="2610"/>
                    <a:pt x="72893" y="414"/>
                  </a:cubicBezTo>
                  <a:cubicBezTo>
                    <a:pt x="64888" y="-1746"/>
                    <a:pt x="58725" y="4806"/>
                    <a:pt x="54085" y="14050"/>
                  </a:cubicBezTo>
                  <a:cubicBezTo>
                    <a:pt x="53625" y="7179"/>
                    <a:pt x="51535" y="1902"/>
                    <a:pt x="46576" y="414"/>
                  </a:cubicBezTo>
                  <a:cubicBezTo>
                    <a:pt x="30992" y="-4226"/>
                    <a:pt x="23235" y="36258"/>
                    <a:pt x="19870" y="43059"/>
                  </a:cubicBezTo>
                  <a:cubicBezTo>
                    <a:pt x="16505" y="49824"/>
                    <a:pt x="0" y="104298"/>
                    <a:pt x="0" y="104298"/>
                  </a:cubicBezTo>
                  <a:lnTo>
                    <a:pt x="11795" y="142728"/>
                  </a:lnTo>
                  <a:cubicBezTo>
                    <a:pt x="11795" y="142728"/>
                    <a:pt x="8890" y="165680"/>
                    <a:pt x="8394" y="171913"/>
                  </a:cubicBezTo>
                  <a:cubicBezTo>
                    <a:pt x="8324" y="172834"/>
                    <a:pt x="8288" y="173366"/>
                    <a:pt x="8359" y="173436"/>
                  </a:cubicBezTo>
                  <a:lnTo>
                    <a:pt x="97084" y="186364"/>
                  </a:lnTo>
                  <a:lnTo>
                    <a:pt x="103459" y="102421"/>
                  </a:lnTo>
                  <a:cubicBezTo>
                    <a:pt x="103459" y="102421"/>
                    <a:pt x="132007" y="57439"/>
                    <a:pt x="117556" y="51382"/>
                  </a:cubicBezTo>
                  <a:close/>
                </a:path>
              </a:pathLst>
            </a:custGeom>
            <a:solidFill>
              <a:srgbClr val="FFBEBB"/>
            </a:solidFill>
            <a:ln w="3515" cap="flat">
              <a:noFill/>
              <a:prstDash val="solid"/>
              <a:miter/>
            </a:ln>
          </p:spPr>
          <p:txBody>
            <a:bodyPr lIns="82296" tIns="41148" rIns="82296" bIns="41148" rtlCol="0" anchor="ctr"/>
            <a:lstStyle/>
            <a:p>
              <a:endParaRPr lang="en-US"/>
            </a:p>
          </p:txBody>
        </p:sp>
        <p:sp>
          <p:nvSpPr>
            <p:cNvPr id="609" name="Freeform: Shape 608">
              <a:extLst>
                <a:ext uri="{FF2B5EF4-FFF2-40B4-BE49-F238E27FC236}">
                  <a16:creationId xmlns:a16="http://schemas.microsoft.com/office/drawing/2014/main" id="{186F1121-7088-4D75-AFF9-CEB400B68702}"/>
                </a:ext>
              </a:extLst>
            </p:cNvPr>
            <p:cNvSpPr/>
            <p:nvPr/>
          </p:nvSpPr>
          <p:spPr>
            <a:xfrm>
              <a:off x="9459214" y="1861858"/>
              <a:ext cx="586975" cy="365489"/>
            </a:xfrm>
            <a:custGeom>
              <a:avLst/>
              <a:gdLst>
                <a:gd name="connsiteX0" fmla="*/ 586755 w 586975"/>
                <a:gd name="connsiteY0" fmla="*/ 80756 h 365489"/>
                <a:gd name="connsiteX1" fmla="*/ 482268 w 586975"/>
                <a:gd name="connsiteY1" fmla="*/ 59894 h 365489"/>
                <a:gd name="connsiteX2" fmla="*/ 478620 w 586975"/>
                <a:gd name="connsiteY2" fmla="*/ 82491 h 365489"/>
                <a:gd name="connsiteX3" fmla="*/ 466861 w 586975"/>
                <a:gd name="connsiteY3" fmla="*/ 68713 h 365489"/>
                <a:gd name="connsiteX4" fmla="*/ 317888 w 586975"/>
                <a:gd name="connsiteY4" fmla="*/ 1736 h 365489"/>
                <a:gd name="connsiteX5" fmla="*/ 257747 w 586975"/>
                <a:gd name="connsiteY5" fmla="*/ 0 h 365489"/>
                <a:gd name="connsiteX6" fmla="*/ 127404 w 586975"/>
                <a:gd name="connsiteY6" fmla="*/ 49374 h 365489"/>
                <a:gd name="connsiteX7" fmla="*/ 76117 w 586975"/>
                <a:gd name="connsiteY7" fmla="*/ 121842 h 365489"/>
                <a:gd name="connsiteX8" fmla="*/ 2339 w 586975"/>
                <a:gd name="connsiteY8" fmla="*/ 314805 h 365489"/>
                <a:gd name="connsiteX9" fmla="*/ 147168 w 586975"/>
                <a:gd name="connsiteY9" fmla="*/ 322314 h 365489"/>
                <a:gd name="connsiteX10" fmla="*/ 145610 w 586975"/>
                <a:gd name="connsiteY10" fmla="*/ 365490 h 365489"/>
                <a:gd name="connsiteX11" fmla="*/ 457758 w 586975"/>
                <a:gd name="connsiteY11" fmla="*/ 365490 h 365489"/>
                <a:gd name="connsiteX12" fmla="*/ 446318 w 586975"/>
                <a:gd name="connsiteY12" fmla="*/ 309032 h 365489"/>
                <a:gd name="connsiteX13" fmla="*/ 584736 w 586975"/>
                <a:gd name="connsiteY13" fmla="*/ 264793 h 365489"/>
                <a:gd name="connsiteX14" fmla="*/ 586790 w 586975"/>
                <a:gd name="connsiteY14" fmla="*/ 80756 h 36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6975" h="365489">
                  <a:moveTo>
                    <a:pt x="586755" y="80756"/>
                  </a:moveTo>
                  <a:lnTo>
                    <a:pt x="482268" y="59894"/>
                  </a:lnTo>
                  <a:lnTo>
                    <a:pt x="478620" y="82491"/>
                  </a:lnTo>
                  <a:cubicBezTo>
                    <a:pt x="474335" y="77639"/>
                    <a:pt x="470332" y="72999"/>
                    <a:pt x="466861" y="68713"/>
                  </a:cubicBezTo>
                  <a:cubicBezTo>
                    <a:pt x="433921" y="28194"/>
                    <a:pt x="392941" y="6269"/>
                    <a:pt x="317888" y="1736"/>
                  </a:cubicBezTo>
                  <a:lnTo>
                    <a:pt x="257747" y="0"/>
                  </a:lnTo>
                  <a:cubicBezTo>
                    <a:pt x="206035" y="2408"/>
                    <a:pt x="150214" y="20401"/>
                    <a:pt x="127404" y="49374"/>
                  </a:cubicBezTo>
                  <a:cubicBezTo>
                    <a:pt x="113307" y="67296"/>
                    <a:pt x="87664" y="102290"/>
                    <a:pt x="76117" y="121842"/>
                  </a:cubicBezTo>
                  <a:cubicBezTo>
                    <a:pt x="38290" y="185702"/>
                    <a:pt x="-11403" y="248359"/>
                    <a:pt x="2339" y="314805"/>
                  </a:cubicBezTo>
                  <a:cubicBezTo>
                    <a:pt x="7581" y="340094"/>
                    <a:pt x="65279" y="386068"/>
                    <a:pt x="147168" y="322314"/>
                  </a:cubicBezTo>
                  <a:lnTo>
                    <a:pt x="145610" y="365490"/>
                  </a:lnTo>
                  <a:lnTo>
                    <a:pt x="457758" y="365490"/>
                  </a:lnTo>
                  <a:lnTo>
                    <a:pt x="446318" y="309032"/>
                  </a:lnTo>
                  <a:cubicBezTo>
                    <a:pt x="511312" y="351145"/>
                    <a:pt x="580769" y="318914"/>
                    <a:pt x="584736" y="264793"/>
                  </a:cubicBezTo>
                  <a:cubicBezTo>
                    <a:pt x="587888" y="222078"/>
                    <a:pt x="586790" y="80756"/>
                    <a:pt x="586790" y="80756"/>
                  </a:cubicBezTo>
                  <a:close/>
                </a:path>
              </a:pathLst>
            </a:custGeom>
            <a:solidFill>
              <a:schemeClr val="accent6"/>
            </a:solidFill>
            <a:ln w="3515" cap="flat">
              <a:noFill/>
              <a:prstDash val="solid"/>
              <a:miter/>
            </a:ln>
          </p:spPr>
          <p:txBody>
            <a:bodyPr lIns="82296" tIns="41148" rIns="82296" bIns="41148" rtlCol="0" anchor="ctr"/>
            <a:lstStyle/>
            <a:p>
              <a:endParaRPr lang="en-US"/>
            </a:p>
          </p:txBody>
        </p:sp>
        <p:sp>
          <p:nvSpPr>
            <p:cNvPr id="610" name="Freeform: Shape 609">
              <a:extLst>
                <a:ext uri="{FF2B5EF4-FFF2-40B4-BE49-F238E27FC236}">
                  <a16:creationId xmlns:a16="http://schemas.microsoft.com/office/drawing/2014/main" id="{C584F194-5EB8-4698-8A94-E2A5964F54BA}"/>
                </a:ext>
              </a:extLst>
            </p:cNvPr>
            <p:cNvSpPr/>
            <p:nvPr/>
          </p:nvSpPr>
          <p:spPr>
            <a:xfrm rot="20250002">
              <a:off x="9932186" y="1551443"/>
              <a:ext cx="275773" cy="275773"/>
            </a:xfrm>
            <a:custGeom>
              <a:avLst/>
              <a:gdLst>
                <a:gd name="connsiteX0" fmla="*/ 275773 w 275773"/>
                <a:gd name="connsiteY0" fmla="*/ 137887 h 275773"/>
                <a:gd name="connsiteX1" fmla="*/ 137887 w 275773"/>
                <a:gd name="connsiteY1" fmla="*/ 275773 h 275773"/>
                <a:gd name="connsiteX2" fmla="*/ 0 w 275773"/>
                <a:gd name="connsiteY2" fmla="*/ 137887 h 275773"/>
                <a:gd name="connsiteX3" fmla="*/ 137887 w 275773"/>
                <a:gd name="connsiteY3" fmla="*/ 0 h 275773"/>
                <a:gd name="connsiteX4" fmla="*/ 275773 w 275773"/>
                <a:gd name="connsiteY4" fmla="*/ 137887 h 2757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773" h="275773">
                  <a:moveTo>
                    <a:pt x="275773" y="137887"/>
                  </a:moveTo>
                  <a:cubicBezTo>
                    <a:pt x="275773" y="214039"/>
                    <a:pt x="214039" y="275773"/>
                    <a:pt x="137887" y="275773"/>
                  </a:cubicBezTo>
                  <a:cubicBezTo>
                    <a:pt x="61734" y="275773"/>
                    <a:pt x="0" y="214039"/>
                    <a:pt x="0" y="137887"/>
                  </a:cubicBezTo>
                  <a:cubicBezTo>
                    <a:pt x="0" y="61734"/>
                    <a:pt x="61734" y="0"/>
                    <a:pt x="137887" y="0"/>
                  </a:cubicBezTo>
                  <a:cubicBezTo>
                    <a:pt x="214039" y="0"/>
                    <a:pt x="275773" y="61734"/>
                    <a:pt x="275773" y="137887"/>
                  </a:cubicBezTo>
                  <a:close/>
                </a:path>
              </a:pathLst>
            </a:custGeom>
            <a:solidFill>
              <a:srgbClr val="62B276"/>
            </a:solidFill>
            <a:ln w="3515" cap="flat">
              <a:noFill/>
              <a:prstDash val="solid"/>
              <a:miter/>
            </a:ln>
          </p:spPr>
          <p:txBody>
            <a:bodyPr lIns="82296" tIns="41148" rIns="82296" bIns="41148" rtlCol="0" anchor="ctr"/>
            <a:lstStyle/>
            <a:p>
              <a:endParaRPr lang="en-US"/>
            </a:p>
          </p:txBody>
        </p:sp>
        <p:sp>
          <p:nvSpPr>
            <p:cNvPr id="611" name="Freeform: Shape 610">
              <a:extLst>
                <a:ext uri="{FF2B5EF4-FFF2-40B4-BE49-F238E27FC236}">
                  <a16:creationId xmlns:a16="http://schemas.microsoft.com/office/drawing/2014/main" id="{2D55F29B-A2D2-42DF-BB4A-3CD1DD31214E}"/>
                </a:ext>
              </a:extLst>
            </p:cNvPr>
            <p:cNvSpPr/>
            <p:nvPr/>
          </p:nvSpPr>
          <p:spPr>
            <a:xfrm>
              <a:off x="9911907" y="1534019"/>
              <a:ext cx="149752" cy="151133"/>
            </a:xfrm>
            <a:custGeom>
              <a:avLst/>
              <a:gdLst>
                <a:gd name="connsiteX0" fmla="*/ 149752 w 149752"/>
                <a:gd name="connsiteY0" fmla="*/ 0 h 151133"/>
                <a:gd name="connsiteX1" fmla="*/ 149752 w 149752"/>
                <a:gd name="connsiteY1" fmla="*/ 151133 h 151133"/>
                <a:gd name="connsiteX2" fmla="*/ 0 w 149752"/>
                <a:gd name="connsiteY2" fmla="*/ 151133 h 151133"/>
                <a:gd name="connsiteX3" fmla="*/ 0 w 149752"/>
                <a:gd name="connsiteY3" fmla="*/ 149752 h 151133"/>
                <a:gd name="connsiteX4" fmla="*/ 149752 w 149752"/>
                <a:gd name="connsiteY4" fmla="*/ 0 h 15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752" h="151133">
                  <a:moveTo>
                    <a:pt x="149752" y="0"/>
                  </a:moveTo>
                  <a:lnTo>
                    <a:pt x="149752" y="151133"/>
                  </a:lnTo>
                  <a:lnTo>
                    <a:pt x="0" y="151133"/>
                  </a:lnTo>
                  <a:cubicBezTo>
                    <a:pt x="0" y="150673"/>
                    <a:pt x="0" y="150212"/>
                    <a:pt x="0" y="149752"/>
                  </a:cubicBezTo>
                  <a:cubicBezTo>
                    <a:pt x="0" y="67048"/>
                    <a:pt x="67048" y="0"/>
                    <a:pt x="149752" y="0"/>
                  </a:cubicBezTo>
                  <a:close/>
                </a:path>
              </a:pathLst>
            </a:custGeom>
            <a:solidFill>
              <a:srgbClr val="FFB726"/>
            </a:solidFill>
            <a:ln w="3515" cap="flat">
              <a:noFill/>
              <a:prstDash val="solid"/>
              <a:miter/>
            </a:ln>
          </p:spPr>
          <p:txBody>
            <a:bodyPr lIns="82296" tIns="41148" rIns="82296" bIns="41148" rtlCol="0" anchor="ctr"/>
            <a:lstStyle/>
            <a:p>
              <a:endParaRPr lang="en-US"/>
            </a:p>
          </p:txBody>
        </p:sp>
        <p:sp>
          <p:nvSpPr>
            <p:cNvPr id="612" name="Freeform: Shape 611">
              <a:extLst>
                <a:ext uri="{FF2B5EF4-FFF2-40B4-BE49-F238E27FC236}">
                  <a16:creationId xmlns:a16="http://schemas.microsoft.com/office/drawing/2014/main" id="{28D88395-717A-48AD-B327-1259E0F0504C}"/>
                </a:ext>
              </a:extLst>
            </p:cNvPr>
            <p:cNvSpPr/>
            <p:nvPr/>
          </p:nvSpPr>
          <p:spPr>
            <a:xfrm rot="20250002">
              <a:off x="9932186" y="1551443"/>
              <a:ext cx="275773" cy="275773"/>
            </a:xfrm>
            <a:custGeom>
              <a:avLst/>
              <a:gdLst>
                <a:gd name="connsiteX0" fmla="*/ 275773 w 275773"/>
                <a:gd name="connsiteY0" fmla="*/ 137887 h 275773"/>
                <a:gd name="connsiteX1" fmla="*/ 137887 w 275773"/>
                <a:gd name="connsiteY1" fmla="*/ 275773 h 275773"/>
                <a:gd name="connsiteX2" fmla="*/ 0 w 275773"/>
                <a:gd name="connsiteY2" fmla="*/ 137887 h 275773"/>
                <a:gd name="connsiteX3" fmla="*/ 137887 w 275773"/>
                <a:gd name="connsiteY3" fmla="*/ 0 h 275773"/>
                <a:gd name="connsiteX4" fmla="*/ 275773 w 275773"/>
                <a:gd name="connsiteY4" fmla="*/ 137887 h 2757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773" h="275773">
                  <a:moveTo>
                    <a:pt x="275773" y="137887"/>
                  </a:moveTo>
                  <a:cubicBezTo>
                    <a:pt x="275773" y="214039"/>
                    <a:pt x="214039" y="275773"/>
                    <a:pt x="137887" y="275773"/>
                  </a:cubicBezTo>
                  <a:cubicBezTo>
                    <a:pt x="61734" y="275773"/>
                    <a:pt x="0" y="214039"/>
                    <a:pt x="0" y="137887"/>
                  </a:cubicBezTo>
                  <a:cubicBezTo>
                    <a:pt x="0" y="61734"/>
                    <a:pt x="61734" y="0"/>
                    <a:pt x="137887" y="0"/>
                  </a:cubicBezTo>
                  <a:cubicBezTo>
                    <a:pt x="214039" y="0"/>
                    <a:pt x="275773" y="61734"/>
                    <a:pt x="275773" y="137887"/>
                  </a:cubicBezTo>
                  <a:close/>
                </a:path>
              </a:pathLst>
            </a:custGeom>
            <a:solidFill>
              <a:srgbClr val="70B347"/>
            </a:solidFill>
            <a:ln w="3515" cap="flat">
              <a:noFill/>
              <a:prstDash val="solid"/>
              <a:miter/>
            </a:ln>
          </p:spPr>
          <p:txBody>
            <a:bodyPr lIns="82296" tIns="41148" rIns="82296" bIns="41148" rtlCol="0" anchor="ctr"/>
            <a:lstStyle/>
            <a:p>
              <a:endParaRPr lang="en-US"/>
            </a:p>
          </p:txBody>
        </p:sp>
        <p:sp>
          <p:nvSpPr>
            <p:cNvPr id="613" name="Freeform: Shape 612">
              <a:extLst>
                <a:ext uri="{FF2B5EF4-FFF2-40B4-BE49-F238E27FC236}">
                  <a16:creationId xmlns:a16="http://schemas.microsoft.com/office/drawing/2014/main" id="{6A11BF32-EA76-4873-8D13-21ECE698054F}"/>
                </a:ext>
              </a:extLst>
            </p:cNvPr>
            <p:cNvSpPr/>
            <p:nvPr/>
          </p:nvSpPr>
          <p:spPr>
            <a:xfrm>
              <a:off x="9626854" y="1861823"/>
              <a:ext cx="243896" cy="55289"/>
            </a:xfrm>
            <a:custGeom>
              <a:avLst/>
              <a:gdLst>
                <a:gd name="connsiteX0" fmla="*/ 18489 w 243896"/>
                <a:gd name="connsiteY0" fmla="*/ 27662 h 55289"/>
                <a:gd name="connsiteX1" fmla="*/ 144439 w 243896"/>
                <a:gd name="connsiteY1" fmla="*/ 55289 h 55289"/>
                <a:gd name="connsiteX2" fmla="*/ 231889 w 243896"/>
                <a:gd name="connsiteY2" fmla="*/ 30177 h 55289"/>
                <a:gd name="connsiteX3" fmla="*/ 243896 w 243896"/>
                <a:gd name="connsiteY3" fmla="*/ 23377 h 55289"/>
                <a:gd name="connsiteX4" fmla="*/ 150213 w 243896"/>
                <a:gd name="connsiteY4" fmla="*/ 1736 h 55289"/>
                <a:gd name="connsiteX5" fmla="*/ 90071 w 243896"/>
                <a:gd name="connsiteY5" fmla="*/ 0 h 55289"/>
                <a:gd name="connsiteX6" fmla="*/ 0 w 243896"/>
                <a:gd name="connsiteY6" fmla="*/ 20437 h 55289"/>
                <a:gd name="connsiteX7" fmla="*/ 18453 w 243896"/>
                <a:gd name="connsiteY7" fmla="*/ 27627 h 55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896" h="55289">
                  <a:moveTo>
                    <a:pt x="18489" y="27662"/>
                  </a:moveTo>
                  <a:cubicBezTo>
                    <a:pt x="50862" y="40272"/>
                    <a:pt x="98961" y="55289"/>
                    <a:pt x="144439" y="55289"/>
                  </a:cubicBezTo>
                  <a:cubicBezTo>
                    <a:pt x="173093" y="55289"/>
                    <a:pt x="202527" y="46859"/>
                    <a:pt x="231889" y="30177"/>
                  </a:cubicBezTo>
                  <a:lnTo>
                    <a:pt x="243896" y="23377"/>
                  </a:lnTo>
                  <a:cubicBezTo>
                    <a:pt x="219528" y="11263"/>
                    <a:pt x="189563" y="4109"/>
                    <a:pt x="150213" y="1736"/>
                  </a:cubicBezTo>
                  <a:lnTo>
                    <a:pt x="90071" y="0"/>
                  </a:lnTo>
                  <a:cubicBezTo>
                    <a:pt x="58831" y="1452"/>
                    <a:pt x="26068" y="8607"/>
                    <a:pt x="0" y="20437"/>
                  </a:cubicBezTo>
                  <a:lnTo>
                    <a:pt x="18453" y="27627"/>
                  </a:lnTo>
                  <a:close/>
                </a:path>
              </a:pathLst>
            </a:custGeom>
            <a:solidFill>
              <a:srgbClr val="F3F2FF"/>
            </a:solidFill>
            <a:ln w="3515" cap="flat">
              <a:noFill/>
              <a:prstDash val="solid"/>
              <a:miter/>
            </a:ln>
          </p:spPr>
          <p:txBody>
            <a:bodyPr lIns="82296" tIns="41148" rIns="82296" bIns="41148" rtlCol="0" anchor="ctr"/>
            <a:lstStyle/>
            <a:p>
              <a:endParaRPr lang="en-US"/>
            </a:p>
          </p:txBody>
        </p:sp>
        <p:sp>
          <p:nvSpPr>
            <p:cNvPr id="614" name="Freeform: Shape 613">
              <a:extLst>
                <a:ext uri="{FF2B5EF4-FFF2-40B4-BE49-F238E27FC236}">
                  <a16:creationId xmlns:a16="http://schemas.microsoft.com/office/drawing/2014/main" id="{46ADDCAF-95D7-4838-8638-DFE8B69094DE}"/>
                </a:ext>
              </a:extLst>
            </p:cNvPr>
            <p:cNvSpPr/>
            <p:nvPr/>
          </p:nvSpPr>
          <p:spPr>
            <a:xfrm>
              <a:off x="9651789" y="1861858"/>
              <a:ext cx="198276" cy="37544"/>
            </a:xfrm>
            <a:custGeom>
              <a:avLst/>
              <a:gdLst>
                <a:gd name="connsiteX0" fmla="*/ 125313 w 198276"/>
                <a:gd name="connsiteY0" fmla="*/ 1736 h 37544"/>
                <a:gd name="connsiteX1" fmla="*/ 65171 w 198276"/>
                <a:gd name="connsiteY1" fmla="*/ 0 h 37544"/>
                <a:gd name="connsiteX2" fmla="*/ 0 w 198276"/>
                <a:gd name="connsiteY2" fmla="*/ 11122 h 37544"/>
                <a:gd name="connsiteX3" fmla="*/ 119540 w 198276"/>
                <a:gd name="connsiteY3" fmla="*/ 37544 h 37544"/>
                <a:gd name="connsiteX4" fmla="*/ 198276 w 198276"/>
                <a:gd name="connsiteY4" fmla="*/ 14734 h 37544"/>
                <a:gd name="connsiteX5" fmla="*/ 125313 w 198276"/>
                <a:gd name="connsiteY5" fmla="*/ 1736 h 37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276" h="37544">
                  <a:moveTo>
                    <a:pt x="125313" y="1736"/>
                  </a:moveTo>
                  <a:lnTo>
                    <a:pt x="65171" y="0"/>
                  </a:lnTo>
                  <a:cubicBezTo>
                    <a:pt x="43247" y="1027"/>
                    <a:pt x="20579" y="4852"/>
                    <a:pt x="0" y="11122"/>
                  </a:cubicBezTo>
                  <a:cubicBezTo>
                    <a:pt x="31452" y="23377"/>
                    <a:pt x="77037" y="37544"/>
                    <a:pt x="119540" y="37544"/>
                  </a:cubicBezTo>
                  <a:cubicBezTo>
                    <a:pt x="149115" y="37544"/>
                    <a:pt x="176246" y="27237"/>
                    <a:pt x="198276" y="14734"/>
                  </a:cubicBezTo>
                  <a:cubicBezTo>
                    <a:pt x="178017" y="7792"/>
                    <a:pt x="154179" y="3471"/>
                    <a:pt x="125313" y="1736"/>
                  </a:cubicBezTo>
                  <a:close/>
                </a:path>
              </a:pathLst>
            </a:custGeom>
            <a:solidFill>
              <a:srgbClr val="FFBEBB"/>
            </a:solidFill>
            <a:ln w="3515" cap="flat">
              <a:noFill/>
              <a:prstDash val="solid"/>
              <a:miter/>
            </a:ln>
          </p:spPr>
          <p:txBody>
            <a:bodyPr lIns="82296" tIns="41148" rIns="82296" bIns="41148" rtlCol="0" anchor="ctr"/>
            <a:lstStyle/>
            <a:p>
              <a:endParaRPr lang="en-US"/>
            </a:p>
          </p:txBody>
        </p:sp>
        <p:sp>
          <p:nvSpPr>
            <p:cNvPr id="615" name="Freeform: Shape 614">
              <a:extLst>
                <a:ext uri="{FF2B5EF4-FFF2-40B4-BE49-F238E27FC236}">
                  <a16:creationId xmlns:a16="http://schemas.microsoft.com/office/drawing/2014/main" id="{F632A256-BE90-4831-9663-D67EFF280FE2}"/>
                </a:ext>
              </a:extLst>
            </p:cNvPr>
            <p:cNvSpPr/>
            <p:nvPr/>
          </p:nvSpPr>
          <p:spPr>
            <a:xfrm>
              <a:off x="9616441" y="1946443"/>
              <a:ext cx="29468" cy="151908"/>
            </a:xfrm>
            <a:custGeom>
              <a:avLst/>
              <a:gdLst>
                <a:gd name="connsiteX0" fmla="*/ 29433 w 29468"/>
                <a:gd name="connsiteY0" fmla="*/ 151908 h 151908"/>
                <a:gd name="connsiteX1" fmla="*/ 15336 w 29468"/>
                <a:gd name="connsiteY1" fmla="*/ 2192 h 151908"/>
                <a:gd name="connsiteX2" fmla="*/ 10519 w 29468"/>
                <a:gd name="connsiteY2" fmla="*/ 2192 h 151908"/>
                <a:gd name="connsiteX3" fmla="*/ 0 w 29468"/>
                <a:gd name="connsiteY3" fmla="*/ 127823 h 151908"/>
                <a:gd name="connsiteX4" fmla="*/ 29469 w 29468"/>
                <a:gd name="connsiteY4" fmla="*/ 151873 h 151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68" h="151908">
                  <a:moveTo>
                    <a:pt x="29433" y="151908"/>
                  </a:moveTo>
                  <a:lnTo>
                    <a:pt x="15336" y="2192"/>
                  </a:lnTo>
                  <a:cubicBezTo>
                    <a:pt x="15053" y="-748"/>
                    <a:pt x="10767" y="-713"/>
                    <a:pt x="10519" y="2192"/>
                  </a:cubicBezTo>
                  <a:lnTo>
                    <a:pt x="0" y="127823"/>
                  </a:lnTo>
                  <a:lnTo>
                    <a:pt x="29469" y="151873"/>
                  </a:lnTo>
                  <a:close/>
                </a:path>
              </a:pathLst>
            </a:custGeom>
            <a:solidFill>
              <a:schemeClr val="accent6">
                <a:lumMod val="75000"/>
              </a:schemeClr>
            </a:solidFill>
            <a:ln w="3515" cap="flat">
              <a:noFill/>
              <a:prstDash val="solid"/>
              <a:miter/>
            </a:ln>
          </p:spPr>
          <p:txBody>
            <a:bodyPr lIns="82296" tIns="41148" rIns="82296" bIns="41148" rtlCol="0" anchor="ctr"/>
            <a:lstStyle/>
            <a:p>
              <a:endParaRPr lang="en-US"/>
            </a:p>
          </p:txBody>
        </p:sp>
        <p:sp>
          <p:nvSpPr>
            <p:cNvPr id="616" name="Freeform: Shape 615">
              <a:extLst>
                <a:ext uri="{FF2B5EF4-FFF2-40B4-BE49-F238E27FC236}">
                  <a16:creationId xmlns:a16="http://schemas.microsoft.com/office/drawing/2014/main" id="{DC821BD9-5BC5-41F1-9E7C-8653CF89F16F}"/>
                </a:ext>
              </a:extLst>
            </p:cNvPr>
            <p:cNvSpPr/>
            <p:nvPr/>
          </p:nvSpPr>
          <p:spPr>
            <a:xfrm rot="2700000">
              <a:off x="9790861" y="1576476"/>
              <a:ext cx="50755" cy="50755"/>
            </a:xfrm>
            <a:custGeom>
              <a:avLst/>
              <a:gdLst>
                <a:gd name="connsiteX0" fmla="*/ 45726 w 50755"/>
                <a:gd name="connsiteY0" fmla="*/ 0 h 50755"/>
                <a:gd name="connsiteX1" fmla="*/ 50756 w 50755"/>
                <a:gd name="connsiteY1" fmla="*/ 5030 h 50755"/>
                <a:gd name="connsiteX2" fmla="*/ 50756 w 50755"/>
                <a:gd name="connsiteY2" fmla="*/ 45726 h 50755"/>
                <a:gd name="connsiteX3" fmla="*/ 45726 w 50755"/>
                <a:gd name="connsiteY3" fmla="*/ 50756 h 50755"/>
                <a:gd name="connsiteX4" fmla="*/ 5030 w 50755"/>
                <a:gd name="connsiteY4" fmla="*/ 50756 h 50755"/>
                <a:gd name="connsiteX5" fmla="*/ 0 w 50755"/>
                <a:gd name="connsiteY5" fmla="*/ 45726 h 50755"/>
                <a:gd name="connsiteX6" fmla="*/ 0 w 50755"/>
                <a:gd name="connsiteY6" fmla="*/ 5029 h 50755"/>
                <a:gd name="connsiteX7" fmla="*/ 5030 w 50755"/>
                <a:gd name="connsiteY7" fmla="*/ 0 h 50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55" h="50755">
                  <a:moveTo>
                    <a:pt x="45726" y="0"/>
                  </a:moveTo>
                  <a:cubicBezTo>
                    <a:pt x="48504" y="0"/>
                    <a:pt x="50756" y="2252"/>
                    <a:pt x="50756" y="5030"/>
                  </a:cubicBezTo>
                  <a:lnTo>
                    <a:pt x="50756" y="45726"/>
                  </a:lnTo>
                  <a:cubicBezTo>
                    <a:pt x="50756" y="48504"/>
                    <a:pt x="48504" y="50756"/>
                    <a:pt x="45726" y="50756"/>
                  </a:cubicBezTo>
                  <a:lnTo>
                    <a:pt x="5030" y="50756"/>
                  </a:lnTo>
                  <a:cubicBezTo>
                    <a:pt x="2252" y="50756"/>
                    <a:pt x="0" y="48504"/>
                    <a:pt x="0" y="45726"/>
                  </a:cubicBezTo>
                  <a:lnTo>
                    <a:pt x="0" y="5029"/>
                  </a:lnTo>
                  <a:cubicBezTo>
                    <a:pt x="0" y="2252"/>
                    <a:pt x="2252" y="0"/>
                    <a:pt x="5030" y="0"/>
                  </a:cubicBezTo>
                  <a:close/>
                </a:path>
              </a:pathLst>
            </a:custGeom>
            <a:solidFill>
              <a:srgbClr val="235789"/>
            </a:solidFill>
            <a:ln w="3515" cap="flat">
              <a:noFill/>
              <a:prstDash val="solid"/>
              <a:miter/>
            </a:ln>
          </p:spPr>
          <p:txBody>
            <a:bodyPr lIns="82296" tIns="41148" rIns="82296" bIns="41148" rtlCol="0" anchor="ctr"/>
            <a:lstStyle/>
            <a:p>
              <a:endParaRPr lang="en-US"/>
            </a:p>
          </p:txBody>
        </p:sp>
        <p:sp>
          <p:nvSpPr>
            <p:cNvPr id="617" name="Freeform: Shape 616">
              <a:extLst>
                <a:ext uri="{FF2B5EF4-FFF2-40B4-BE49-F238E27FC236}">
                  <a16:creationId xmlns:a16="http://schemas.microsoft.com/office/drawing/2014/main" id="{DFFCC02E-5614-4BC7-9B13-CCEAB3B119FF}"/>
                </a:ext>
              </a:extLst>
            </p:cNvPr>
            <p:cNvSpPr/>
            <p:nvPr/>
          </p:nvSpPr>
          <p:spPr>
            <a:xfrm>
              <a:off x="10114044" y="1890264"/>
              <a:ext cx="62621" cy="62620"/>
            </a:xfrm>
            <a:custGeom>
              <a:avLst/>
              <a:gdLst>
                <a:gd name="connsiteX0" fmla="*/ 0 w 62621"/>
                <a:gd name="connsiteY0" fmla="*/ 31310 h 62620"/>
                <a:gd name="connsiteX1" fmla="*/ 31311 w 62621"/>
                <a:gd name="connsiteY1" fmla="*/ 62621 h 62620"/>
                <a:gd name="connsiteX2" fmla="*/ 62621 w 62621"/>
                <a:gd name="connsiteY2" fmla="*/ 31310 h 62620"/>
                <a:gd name="connsiteX3" fmla="*/ 31311 w 62621"/>
                <a:gd name="connsiteY3" fmla="*/ 0 h 62620"/>
                <a:gd name="connsiteX4" fmla="*/ 0 w 62621"/>
                <a:gd name="connsiteY4" fmla="*/ 31310 h 62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21" h="62620">
                  <a:moveTo>
                    <a:pt x="0" y="31310"/>
                  </a:moveTo>
                  <a:cubicBezTo>
                    <a:pt x="0" y="48595"/>
                    <a:pt x="14026" y="62621"/>
                    <a:pt x="31311" y="62621"/>
                  </a:cubicBezTo>
                  <a:cubicBezTo>
                    <a:pt x="48595" y="62621"/>
                    <a:pt x="62621" y="48595"/>
                    <a:pt x="62621" y="31310"/>
                  </a:cubicBezTo>
                  <a:cubicBezTo>
                    <a:pt x="62621" y="14026"/>
                    <a:pt x="48595" y="0"/>
                    <a:pt x="31311" y="0"/>
                  </a:cubicBezTo>
                  <a:cubicBezTo>
                    <a:pt x="14026" y="0"/>
                    <a:pt x="0" y="14026"/>
                    <a:pt x="0" y="31310"/>
                  </a:cubicBezTo>
                  <a:close/>
                </a:path>
              </a:pathLst>
            </a:custGeom>
            <a:solidFill>
              <a:srgbClr val="FFDE4A"/>
            </a:solidFill>
            <a:ln w="3515" cap="flat">
              <a:noFill/>
              <a:prstDash val="solid"/>
              <a:miter/>
            </a:ln>
          </p:spPr>
          <p:txBody>
            <a:bodyPr lIns="82296" tIns="41148" rIns="82296" bIns="41148" rtlCol="0" anchor="ctr"/>
            <a:lstStyle/>
            <a:p>
              <a:endParaRPr lang="en-US"/>
            </a:p>
          </p:txBody>
        </p:sp>
        <p:sp>
          <p:nvSpPr>
            <p:cNvPr id="618" name="Freeform: Shape 617">
              <a:extLst>
                <a:ext uri="{FF2B5EF4-FFF2-40B4-BE49-F238E27FC236}">
                  <a16:creationId xmlns:a16="http://schemas.microsoft.com/office/drawing/2014/main" id="{963945E5-9D37-4408-ACAA-B1C609E8AA39}"/>
                </a:ext>
              </a:extLst>
            </p:cNvPr>
            <p:cNvSpPr/>
            <p:nvPr/>
          </p:nvSpPr>
          <p:spPr>
            <a:xfrm rot="21046799">
              <a:off x="9640823" y="1668830"/>
              <a:ext cx="171711" cy="171711"/>
            </a:xfrm>
            <a:custGeom>
              <a:avLst/>
              <a:gdLst>
                <a:gd name="connsiteX0" fmla="*/ 171712 w 171711"/>
                <a:gd name="connsiteY0" fmla="*/ 85856 h 171711"/>
                <a:gd name="connsiteX1" fmla="*/ 85856 w 171711"/>
                <a:gd name="connsiteY1" fmla="*/ 171712 h 171711"/>
                <a:gd name="connsiteX2" fmla="*/ 0 w 171711"/>
                <a:gd name="connsiteY2" fmla="*/ 85856 h 171711"/>
                <a:gd name="connsiteX3" fmla="*/ 85856 w 171711"/>
                <a:gd name="connsiteY3" fmla="*/ 0 h 171711"/>
                <a:gd name="connsiteX4" fmla="*/ 171712 w 171711"/>
                <a:gd name="connsiteY4" fmla="*/ 85856 h 171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711" h="171711">
                  <a:moveTo>
                    <a:pt x="171712" y="85856"/>
                  </a:moveTo>
                  <a:cubicBezTo>
                    <a:pt x="171712" y="133273"/>
                    <a:pt x="133273" y="171712"/>
                    <a:pt x="85856" y="171712"/>
                  </a:cubicBezTo>
                  <a:cubicBezTo>
                    <a:pt x="38439" y="171712"/>
                    <a:pt x="0" y="133273"/>
                    <a:pt x="0" y="85856"/>
                  </a:cubicBezTo>
                  <a:cubicBezTo>
                    <a:pt x="0" y="38439"/>
                    <a:pt x="38439" y="0"/>
                    <a:pt x="85856" y="0"/>
                  </a:cubicBezTo>
                  <a:cubicBezTo>
                    <a:pt x="133273" y="0"/>
                    <a:pt x="171712" y="38439"/>
                    <a:pt x="171712" y="85856"/>
                  </a:cubicBezTo>
                  <a:close/>
                </a:path>
              </a:pathLst>
            </a:custGeom>
            <a:solidFill>
              <a:schemeClr val="accent2"/>
            </a:solidFill>
            <a:ln w="3515" cap="flat">
              <a:noFill/>
              <a:prstDash val="solid"/>
              <a:miter/>
            </a:ln>
          </p:spPr>
          <p:txBody>
            <a:bodyPr lIns="82296" tIns="41148" rIns="82296" bIns="41148" rtlCol="0" anchor="ctr"/>
            <a:lstStyle/>
            <a:p>
              <a:endParaRPr lang="en-US"/>
            </a:p>
          </p:txBody>
        </p:sp>
        <p:sp>
          <p:nvSpPr>
            <p:cNvPr id="619" name="Freeform: Shape 618">
              <a:extLst>
                <a:ext uri="{FF2B5EF4-FFF2-40B4-BE49-F238E27FC236}">
                  <a16:creationId xmlns:a16="http://schemas.microsoft.com/office/drawing/2014/main" id="{7B70A5C9-4F28-438C-BA34-4C719C93128D}"/>
                </a:ext>
              </a:extLst>
            </p:cNvPr>
            <p:cNvSpPr/>
            <p:nvPr/>
          </p:nvSpPr>
          <p:spPr>
            <a:xfrm>
              <a:off x="9707503" y="1714199"/>
              <a:ext cx="117431" cy="162819"/>
            </a:xfrm>
            <a:custGeom>
              <a:avLst/>
              <a:gdLst>
                <a:gd name="connsiteX0" fmla="*/ 104168 w 117431"/>
                <a:gd name="connsiteY0" fmla="*/ 26137 h 162819"/>
                <a:gd name="connsiteX1" fmla="*/ 99988 w 117431"/>
                <a:gd name="connsiteY1" fmla="*/ 11190 h 162819"/>
                <a:gd name="connsiteX2" fmla="*/ 98996 w 117431"/>
                <a:gd name="connsiteY2" fmla="*/ 9525 h 162819"/>
                <a:gd name="connsiteX3" fmla="*/ 44203 w 117431"/>
                <a:gd name="connsiteY3" fmla="*/ 5027 h 162819"/>
                <a:gd name="connsiteX4" fmla="*/ 41299 w 117431"/>
                <a:gd name="connsiteY4" fmla="*/ 10411 h 162819"/>
                <a:gd name="connsiteX5" fmla="*/ 30319 w 117431"/>
                <a:gd name="connsiteY5" fmla="*/ 76113 h 162819"/>
                <a:gd name="connsiteX6" fmla="*/ 0 w 117431"/>
                <a:gd name="connsiteY6" fmla="*/ 124248 h 162819"/>
                <a:gd name="connsiteX7" fmla="*/ 0 w 117431"/>
                <a:gd name="connsiteY7" fmla="*/ 159915 h 162819"/>
                <a:gd name="connsiteX8" fmla="*/ 71795 w 117431"/>
                <a:gd name="connsiteY8" fmla="*/ 162819 h 162819"/>
                <a:gd name="connsiteX9" fmla="*/ 68146 w 117431"/>
                <a:gd name="connsiteY9" fmla="*/ 130800 h 162819"/>
                <a:gd name="connsiteX10" fmla="*/ 110720 w 117431"/>
                <a:gd name="connsiteY10" fmla="*/ 116030 h 162819"/>
                <a:gd name="connsiteX11" fmla="*/ 104097 w 117431"/>
                <a:gd name="connsiteY11" fmla="*/ 26137 h 16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7431" h="162819">
                  <a:moveTo>
                    <a:pt x="104168" y="26137"/>
                  </a:moveTo>
                  <a:cubicBezTo>
                    <a:pt x="103176" y="21568"/>
                    <a:pt x="100803" y="13775"/>
                    <a:pt x="99988" y="11190"/>
                  </a:cubicBezTo>
                  <a:cubicBezTo>
                    <a:pt x="99776" y="10552"/>
                    <a:pt x="99457" y="9986"/>
                    <a:pt x="98996" y="9525"/>
                  </a:cubicBezTo>
                  <a:cubicBezTo>
                    <a:pt x="95596" y="6054"/>
                    <a:pt x="79799" y="-7086"/>
                    <a:pt x="44203" y="5027"/>
                  </a:cubicBezTo>
                  <a:cubicBezTo>
                    <a:pt x="41972" y="5771"/>
                    <a:pt x="40697" y="8144"/>
                    <a:pt x="41299" y="10411"/>
                  </a:cubicBezTo>
                  <a:cubicBezTo>
                    <a:pt x="44664" y="23126"/>
                    <a:pt x="53093" y="63043"/>
                    <a:pt x="30319" y="76113"/>
                  </a:cubicBezTo>
                  <a:cubicBezTo>
                    <a:pt x="30319" y="76113"/>
                    <a:pt x="30992" y="117235"/>
                    <a:pt x="0" y="124248"/>
                  </a:cubicBezTo>
                  <a:lnTo>
                    <a:pt x="0" y="159915"/>
                  </a:lnTo>
                  <a:lnTo>
                    <a:pt x="71795" y="162819"/>
                  </a:lnTo>
                  <a:lnTo>
                    <a:pt x="68146" y="130800"/>
                  </a:lnTo>
                  <a:cubicBezTo>
                    <a:pt x="70661" y="130977"/>
                    <a:pt x="99421" y="132890"/>
                    <a:pt x="110720" y="116030"/>
                  </a:cubicBezTo>
                  <a:cubicBezTo>
                    <a:pt x="127721" y="90600"/>
                    <a:pt x="107462" y="41898"/>
                    <a:pt x="104097" y="26137"/>
                  </a:cubicBezTo>
                  <a:close/>
                </a:path>
              </a:pathLst>
            </a:custGeom>
            <a:solidFill>
              <a:srgbClr val="FFBEBB"/>
            </a:solidFill>
            <a:ln w="3515" cap="flat">
              <a:noFill/>
              <a:prstDash val="solid"/>
              <a:miter/>
            </a:ln>
          </p:spPr>
          <p:txBody>
            <a:bodyPr lIns="82296" tIns="41148" rIns="82296" bIns="41148" rtlCol="0" anchor="ctr"/>
            <a:lstStyle/>
            <a:p>
              <a:endParaRPr lang="en-US"/>
            </a:p>
          </p:txBody>
        </p:sp>
        <p:sp>
          <p:nvSpPr>
            <p:cNvPr id="620" name="Freeform: Shape 619">
              <a:extLst>
                <a:ext uri="{FF2B5EF4-FFF2-40B4-BE49-F238E27FC236}">
                  <a16:creationId xmlns:a16="http://schemas.microsoft.com/office/drawing/2014/main" id="{8081B3C4-54F7-4DF2-BFC9-A7E381DA8305}"/>
                </a:ext>
              </a:extLst>
            </p:cNvPr>
            <p:cNvSpPr/>
            <p:nvPr/>
          </p:nvSpPr>
          <p:spPr>
            <a:xfrm>
              <a:off x="9751307" y="1840621"/>
              <a:ext cx="26587" cy="27510"/>
            </a:xfrm>
            <a:custGeom>
              <a:avLst/>
              <a:gdLst>
                <a:gd name="connsiteX0" fmla="*/ 577 w 26587"/>
                <a:gd name="connsiteY0" fmla="*/ 3386 h 27510"/>
                <a:gd name="connsiteX1" fmla="*/ 22856 w 26587"/>
                <a:gd name="connsiteY1" fmla="*/ 26833 h 27510"/>
                <a:gd name="connsiteX2" fmla="*/ 26575 w 26587"/>
                <a:gd name="connsiteY2" fmla="*/ 25098 h 27510"/>
                <a:gd name="connsiteX3" fmla="*/ 24414 w 26587"/>
                <a:gd name="connsiteY3" fmla="*/ 4342 h 27510"/>
                <a:gd name="connsiteX4" fmla="*/ 2667 w 26587"/>
                <a:gd name="connsiteY4" fmla="*/ 127 h 27510"/>
                <a:gd name="connsiteX5" fmla="*/ 542 w 26587"/>
                <a:gd name="connsiteY5" fmla="*/ 3351 h 27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587" h="27510">
                  <a:moveTo>
                    <a:pt x="577" y="3386"/>
                  </a:moveTo>
                  <a:lnTo>
                    <a:pt x="22856" y="26833"/>
                  </a:lnTo>
                  <a:cubicBezTo>
                    <a:pt x="24272" y="28321"/>
                    <a:pt x="26787" y="27188"/>
                    <a:pt x="26575" y="25098"/>
                  </a:cubicBezTo>
                  <a:lnTo>
                    <a:pt x="24414" y="4342"/>
                  </a:lnTo>
                  <a:cubicBezTo>
                    <a:pt x="24414" y="4342"/>
                    <a:pt x="16232" y="5015"/>
                    <a:pt x="2667" y="127"/>
                  </a:cubicBezTo>
                  <a:cubicBezTo>
                    <a:pt x="719" y="-581"/>
                    <a:pt x="-875" y="1827"/>
                    <a:pt x="542" y="3351"/>
                  </a:cubicBezTo>
                  <a:close/>
                </a:path>
              </a:pathLst>
            </a:custGeom>
            <a:solidFill>
              <a:srgbClr val="F47C73"/>
            </a:solidFill>
            <a:ln w="3515" cap="flat">
              <a:noFill/>
              <a:prstDash val="solid"/>
              <a:miter/>
            </a:ln>
          </p:spPr>
          <p:txBody>
            <a:bodyPr lIns="82296" tIns="41148" rIns="82296" bIns="41148" rtlCol="0" anchor="ctr"/>
            <a:lstStyle/>
            <a:p>
              <a:endParaRPr lang="en-US"/>
            </a:p>
          </p:txBody>
        </p:sp>
        <p:sp>
          <p:nvSpPr>
            <p:cNvPr id="621" name="Freeform: Shape 620">
              <a:extLst>
                <a:ext uri="{FF2B5EF4-FFF2-40B4-BE49-F238E27FC236}">
                  <a16:creationId xmlns:a16="http://schemas.microsoft.com/office/drawing/2014/main" id="{451D27FE-0879-4AA3-8355-206AF786BA6C}"/>
                </a:ext>
              </a:extLst>
            </p:cNvPr>
            <p:cNvSpPr/>
            <p:nvPr/>
          </p:nvSpPr>
          <p:spPr>
            <a:xfrm>
              <a:off x="9776543" y="1735284"/>
              <a:ext cx="29716" cy="16031"/>
            </a:xfrm>
            <a:custGeom>
              <a:avLst/>
              <a:gdLst>
                <a:gd name="connsiteX0" fmla="*/ 2825 w 29716"/>
                <a:gd name="connsiteY0" fmla="*/ 16031 h 16031"/>
                <a:gd name="connsiteX1" fmla="*/ 1444 w 29716"/>
                <a:gd name="connsiteY1" fmla="*/ 15677 h 16031"/>
                <a:gd name="connsiteX2" fmla="*/ 346 w 29716"/>
                <a:gd name="connsiteY2" fmla="*/ 11852 h 16031"/>
                <a:gd name="connsiteX3" fmla="*/ 27831 w 29716"/>
                <a:gd name="connsiteY3" fmla="*/ 1403 h 16031"/>
                <a:gd name="connsiteX4" fmla="*/ 29567 w 29716"/>
                <a:gd name="connsiteY4" fmla="*/ 4980 h 16031"/>
                <a:gd name="connsiteX5" fmla="*/ 25989 w 29716"/>
                <a:gd name="connsiteY5" fmla="*/ 6716 h 16031"/>
                <a:gd name="connsiteX6" fmla="*/ 5305 w 29716"/>
                <a:gd name="connsiteY6" fmla="*/ 14579 h 16031"/>
                <a:gd name="connsiteX7" fmla="*/ 2861 w 29716"/>
                <a:gd name="connsiteY7" fmla="*/ 16031 h 16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716" h="16031">
                  <a:moveTo>
                    <a:pt x="2825" y="16031"/>
                  </a:moveTo>
                  <a:cubicBezTo>
                    <a:pt x="2365" y="16031"/>
                    <a:pt x="1905" y="15925"/>
                    <a:pt x="1444" y="15677"/>
                  </a:cubicBezTo>
                  <a:cubicBezTo>
                    <a:pt x="98" y="14933"/>
                    <a:pt x="-398" y="13198"/>
                    <a:pt x="346" y="11852"/>
                  </a:cubicBezTo>
                  <a:cubicBezTo>
                    <a:pt x="3605" y="6043"/>
                    <a:pt x="13487" y="-3626"/>
                    <a:pt x="27831" y="1403"/>
                  </a:cubicBezTo>
                  <a:cubicBezTo>
                    <a:pt x="29283" y="1934"/>
                    <a:pt x="30063" y="3528"/>
                    <a:pt x="29567" y="4980"/>
                  </a:cubicBezTo>
                  <a:cubicBezTo>
                    <a:pt x="29036" y="6433"/>
                    <a:pt x="27442" y="7212"/>
                    <a:pt x="25989" y="6716"/>
                  </a:cubicBezTo>
                  <a:cubicBezTo>
                    <a:pt x="12495" y="1970"/>
                    <a:pt x="5588" y="14083"/>
                    <a:pt x="5305" y="14579"/>
                  </a:cubicBezTo>
                  <a:cubicBezTo>
                    <a:pt x="4773" y="15500"/>
                    <a:pt x="3817" y="16031"/>
                    <a:pt x="2861" y="16031"/>
                  </a:cubicBezTo>
                  <a:close/>
                </a:path>
              </a:pathLst>
            </a:custGeom>
            <a:solidFill>
              <a:srgbClr val="8E1E00"/>
            </a:solidFill>
            <a:ln w="3515" cap="flat">
              <a:noFill/>
              <a:prstDash val="solid"/>
              <a:miter/>
            </a:ln>
          </p:spPr>
          <p:txBody>
            <a:bodyPr lIns="82296" tIns="41148" rIns="82296" bIns="41148" rtlCol="0" anchor="ctr"/>
            <a:lstStyle/>
            <a:p>
              <a:endParaRPr lang="en-US"/>
            </a:p>
          </p:txBody>
        </p:sp>
        <p:sp>
          <p:nvSpPr>
            <p:cNvPr id="622" name="Freeform: Shape 621">
              <a:extLst>
                <a:ext uri="{FF2B5EF4-FFF2-40B4-BE49-F238E27FC236}">
                  <a16:creationId xmlns:a16="http://schemas.microsoft.com/office/drawing/2014/main" id="{75758411-155D-4833-982E-96F9D6447224}"/>
                </a:ext>
              </a:extLst>
            </p:cNvPr>
            <p:cNvSpPr/>
            <p:nvPr/>
          </p:nvSpPr>
          <p:spPr>
            <a:xfrm>
              <a:off x="9816205" y="1759037"/>
              <a:ext cx="17789" cy="31275"/>
            </a:xfrm>
            <a:custGeom>
              <a:avLst/>
              <a:gdLst>
                <a:gd name="connsiteX0" fmla="*/ 0 w 17789"/>
                <a:gd name="connsiteY0" fmla="*/ 0 h 31275"/>
                <a:gd name="connsiteX1" fmla="*/ 17674 w 17789"/>
                <a:gd name="connsiteY1" fmla="*/ 11299 h 31275"/>
                <a:gd name="connsiteX2" fmla="*/ 7544 w 17789"/>
                <a:gd name="connsiteY2" fmla="*/ 31275 h 31275"/>
                <a:gd name="connsiteX3" fmla="*/ 1027 w 17789"/>
                <a:gd name="connsiteY3" fmla="*/ 19693 h 31275"/>
                <a:gd name="connsiteX4" fmla="*/ 0 w 17789"/>
                <a:gd name="connsiteY4" fmla="*/ 0 h 312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89" h="31275">
                  <a:moveTo>
                    <a:pt x="0" y="0"/>
                  </a:moveTo>
                  <a:cubicBezTo>
                    <a:pt x="0" y="0"/>
                    <a:pt x="16293" y="5950"/>
                    <a:pt x="17674" y="11299"/>
                  </a:cubicBezTo>
                  <a:cubicBezTo>
                    <a:pt x="19056" y="16647"/>
                    <a:pt x="7544" y="31275"/>
                    <a:pt x="7544" y="31275"/>
                  </a:cubicBezTo>
                  <a:lnTo>
                    <a:pt x="1027" y="19693"/>
                  </a:lnTo>
                  <a:lnTo>
                    <a:pt x="0" y="0"/>
                  </a:lnTo>
                  <a:close/>
                </a:path>
              </a:pathLst>
            </a:custGeom>
            <a:solidFill>
              <a:srgbClr val="FFBEBB"/>
            </a:solidFill>
            <a:ln w="3515" cap="flat">
              <a:noFill/>
              <a:prstDash val="solid"/>
              <a:miter/>
            </a:ln>
          </p:spPr>
          <p:txBody>
            <a:bodyPr lIns="82296" tIns="41148" rIns="82296" bIns="41148" rtlCol="0" anchor="ctr"/>
            <a:lstStyle/>
            <a:p>
              <a:endParaRPr lang="en-US"/>
            </a:p>
          </p:txBody>
        </p:sp>
        <p:sp>
          <p:nvSpPr>
            <p:cNvPr id="623" name="Freeform: Shape 622">
              <a:extLst>
                <a:ext uri="{FF2B5EF4-FFF2-40B4-BE49-F238E27FC236}">
                  <a16:creationId xmlns:a16="http://schemas.microsoft.com/office/drawing/2014/main" id="{08BE603B-BE59-4AD4-AD7E-5728EF0C1B29}"/>
                </a:ext>
              </a:extLst>
            </p:cNvPr>
            <p:cNvSpPr/>
            <p:nvPr/>
          </p:nvSpPr>
          <p:spPr>
            <a:xfrm>
              <a:off x="9765053" y="1766751"/>
              <a:ext cx="30686" cy="30686"/>
            </a:xfrm>
            <a:custGeom>
              <a:avLst/>
              <a:gdLst>
                <a:gd name="connsiteX0" fmla="*/ 30680 w 30686"/>
                <a:gd name="connsiteY0" fmla="*/ 14918 h 30686"/>
                <a:gd name="connsiteX1" fmla="*/ 15768 w 30686"/>
                <a:gd name="connsiteY1" fmla="*/ 30680 h 30686"/>
                <a:gd name="connsiteX2" fmla="*/ 7 w 30686"/>
                <a:gd name="connsiteY2" fmla="*/ 15768 h 30686"/>
                <a:gd name="connsiteX3" fmla="*/ 14918 w 30686"/>
                <a:gd name="connsiteY3" fmla="*/ 7 h 30686"/>
                <a:gd name="connsiteX4" fmla="*/ 30680 w 30686"/>
                <a:gd name="connsiteY4" fmla="*/ 14918 h 306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86" h="30686">
                  <a:moveTo>
                    <a:pt x="30680" y="14918"/>
                  </a:moveTo>
                  <a:cubicBezTo>
                    <a:pt x="30928" y="23383"/>
                    <a:pt x="24233" y="30432"/>
                    <a:pt x="15768" y="30680"/>
                  </a:cubicBezTo>
                  <a:cubicBezTo>
                    <a:pt x="7303" y="30928"/>
                    <a:pt x="255" y="24233"/>
                    <a:pt x="7" y="15768"/>
                  </a:cubicBezTo>
                  <a:cubicBezTo>
                    <a:pt x="-241" y="7303"/>
                    <a:pt x="6453" y="255"/>
                    <a:pt x="14918" y="7"/>
                  </a:cubicBezTo>
                  <a:cubicBezTo>
                    <a:pt x="23383" y="-241"/>
                    <a:pt x="30432" y="6453"/>
                    <a:pt x="30680" y="14918"/>
                  </a:cubicBezTo>
                  <a:close/>
                </a:path>
              </a:pathLst>
            </a:custGeom>
            <a:solidFill>
              <a:srgbClr val="F47C73"/>
            </a:solidFill>
            <a:ln w="3515" cap="flat">
              <a:noFill/>
              <a:prstDash val="solid"/>
              <a:miter/>
            </a:ln>
          </p:spPr>
          <p:txBody>
            <a:bodyPr lIns="82296" tIns="41148" rIns="82296" bIns="41148" rtlCol="0" anchor="ctr"/>
            <a:lstStyle/>
            <a:p>
              <a:endParaRPr lang="en-US"/>
            </a:p>
          </p:txBody>
        </p:sp>
        <p:sp>
          <p:nvSpPr>
            <p:cNvPr id="624" name="Freeform: Shape 623">
              <a:extLst>
                <a:ext uri="{FF2B5EF4-FFF2-40B4-BE49-F238E27FC236}">
                  <a16:creationId xmlns:a16="http://schemas.microsoft.com/office/drawing/2014/main" id="{5FB03F8A-3FBE-43EA-815A-52B4C3DB5541}"/>
                </a:ext>
              </a:extLst>
            </p:cNvPr>
            <p:cNvSpPr/>
            <p:nvPr/>
          </p:nvSpPr>
          <p:spPr>
            <a:xfrm>
              <a:off x="9715535" y="1765256"/>
              <a:ext cx="41811" cy="38175"/>
            </a:xfrm>
            <a:custGeom>
              <a:avLst/>
              <a:gdLst>
                <a:gd name="connsiteX0" fmla="*/ 2452 w 41811"/>
                <a:gd name="connsiteY0" fmla="*/ 6213 h 38175"/>
                <a:gd name="connsiteX1" fmla="*/ 11095 w 41811"/>
                <a:gd name="connsiteY1" fmla="*/ 33167 h 38175"/>
                <a:gd name="connsiteX2" fmla="*/ 39359 w 41811"/>
                <a:gd name="connsiteY2" fmla="*/ 31963 h 38175"/>
                <a:gd name="connsiteX3" fmla="*/ 30717 w 41811"/>
                <a:gd name="connsiteY3" fmla="*/ 5009 h 38175"/>
                <a:gd name="connsiteX4" fmla="*/ 2452 w 41811"/>
                <a:gd name="connsiteY4" fmla="*/ 6213 h 38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1" h="38175">
                  <a:moveTo>
                    <a:pt x="2452" y="6213"/>
                  </a:moveTo>
                  <a:cubicBezTo>
                    <a:pt x="-2967" y="13970"/>
                    <a:pt x="894" y="26048"/>
                    <a:pt x="11095" y="33167"/>
                  </a:cubicBezTo>
                  <a:cubicBezTo>
                    <a:pt x="21295" y="40286"/>
                    <a:pt x="33940" y="39755"/>
                    <a:pt x="39359" y="31963"/>
                  </a:cubicBezTo>
                  <a:cubicBezTo>
                    <a:pt x="44778" y="24206"/>
                    <a:pt x="40917" y="12128"/>
                    <a:pt x="30717" y="5009"/>
                  </a:cubicBezTo>
                  <a:cubicBezTo>
                    <a:pt x="20516" y="-2111"/>
                    <a:pt x="7871" y="-1579"/>
                    <a:pt x="2452" y="6213"/>
                  </a:cubicBezTo>
                  <a:close/>
                </a:path>
              </a:pathLst>
            </a:custGeom>
            <a:solidFill>
              <a:srgbClr val="FFBEBB"/>
            </a:solidFill>
            <a:ln w="3515" cap="flat">
              <a:noFill/>
              <a:prstDash val="solid"/>
              <a:miter/>
            </a:ln>
          </p:spPr>
          <p:txBody>
            <a:bodyPr lIns="82296" tIns="41148" rIns="82296" bIns="41148" rtlCol="0" anchor="ctr"/>
            <a:lstStyle/>
            <a:p>
              <a:endParaRPr lang="en-US"/>
            </a:p>
          </p:txBody>
        </p:sp>
        <p:sp>
          <p:nvSpPr>
            <p:cNvPr id="625" name="Freeform: Shape 624">
              <a:extLst>
                <a:ext uri="{FF2B5EF4-FFF2-40B4-BE49-F238E27FC236}">
                  <a16:creationId xmlns:a16="http://schemas.microsoft.com/office/drawing/2014/main" id="{83F73B1C-E850-4206-ACA0-0C6F86075958}"/>
                </a:ext>
              </a:extLst>
            </p:cNvPr>
            <p:cNvSpPr/>
            <p:nvPr/>
          </p:nvSpPr>
          <p:spPr>
            <a:xfrm>
              <a:off x="9724717" y="1773668"/>
              <a:ext cx="23376" cy="21316"/>
            </a:xfrm>
            <a:custGeom>
              <a:avLst/>
              <a:gdLst>
                <a:gd name="connsiteX0" fmla="*/ 1381 w 23376"/>
                <a:gd name="connsiteY0" fmla="*/ 3468 h 21316"/>
                <a:gd name="connsiteX1" fmla="*/ 6198 w 23376"/>
                <a:gd name="connsiteY1" fmla="*/ 18521 h 21316"/>
                <a:gd name="connsiteX2" fmla="*/ 21995 w 23376"/>
                <a:gd name="connsiteY2" fmla="*/ 17848 h 21316"/>
                <a:gd name="connsiteX3" fmla="*/ 17178 w 23376"/>
                <a:gd name="connsiteY3" fmla="*/ 2795 h 21316"/>
                <a:gd name="connsiteX4" fmla="*/ 1381 w 23376"/>
                <a:gd name="connsiteY4" fmla="*/ 3468 h 21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76" h="21316">
                  <a:moveTo>
                    <a:pt x="1381" y="3468"/>
                  </a:moveTo>
                  <a:cubicBezTo>
                    <a:pt x="-1665" y="7825"/>
                    <a:pt x="496" y="14554"/>
                    <a:pt x="6198" y="18521"/>
                  </a:cubicBezTo>
                  <a:cubicBezTo>
                    <a:pt x="11901" y="22488"/>
                    <a:pt x="18949" y="22205"/>
                    <a:pt x="21995" y="17848"/>
                  </a:cubicBezTo>
                  <a:cubicBezTo>
                    <a:pt x="25041" y="13492"/>
                    <a:pt x="22881" y="6762"/>
                    <a:pt x="17178" y="2795"/>
                  </a:cubicBezTo>
                  <a:cubicBezTo>
                    <a:pt x="11476" y="-1172"/>
                    <a:pt x="4427" y="-888"/>
                    <a:pt x="1381" y="3468"/>
                  </a:cubicBezTo>
                  <a:close/>
                </a:path>
              </a:pathLst>
            </a:custGeom>
            <a:solidFill>
              <a:srgbClr val="F47C73"/>
            </a:solidFill>
            <a:ln w="3515" cap="flat">
              <a:noFill/>
              <a:prstDash val="solid"/>
              <a:miter/>
            </a:ln>
          </p:spPr>
          <p:txBody>
            <a:bodyPr lIns="82296" tIns="41148" rIns="82296" bIns="41148" rtlCol="0" anchor="ctr"/>
            <a:lstStyle/>
            <a:p>
              <a:endParaRPr lang="en-US"/>
            </a:p>
          </p:txBody>
        </p:sp>
        <p:sp>
          <p:nvSpPr>
            <p:cNvPr id="626" name="Freeform: Shape 625">
              <a:extLst>
                <a:ext uri="{FF2B5EF4-FFF2-40B4-BE49-F238E27FC236}">
                  <a16:creationId xmlns:a16="http://schemas.microsoft.com/office/drawing/2014/main" id="{0E85B2DD-F9F2-48C1-8978-15B932D72C75}"/>
                </a:ext>
              </a:extLst>
            </p:cNvPr>
            <p:cNvSpPr/>
            <p:nvPr/>
          </p:nvSpPr>
          <p:spPr>
            <a:xfrm>
              <a:off x="9729034" y="1797215"/>
              <a:ext cx="18248" cy="18248"/>
            </a:xfrm>
            <a:custGeom>
              <a:avLst/>
              <a:gdLst>
                <a:gd name="connsiteX0" fmla="*/ 18245 w 18248"/>
                <a:gd name="connsiteY0" fmla="*/ 8858 h 18248"/>
                <a:gd name="connsiteX1" fmla="*/ 9390 w 18248"/>
                <a:gd name="connsiteY1" fmla="*/ 18245 h 18248"/>
                <a:gd name="connsiteX2" fmla="*/ 4 w 18248"/>
                <a:gd name="connsiteY2" fmla="*/ 9390 h 18248"/>
                <a:gd name="connsiteX3" fmla="*/ 8858 w 18248"/>
                <a:gd name="connsiteY3" fmla="*/ 4 h 18248"/>
                <a:gd name="connsiteX4" fmla="*/ 18245 w 18248"/>
                <a:gd name="connsiteY4" fmla="*/ 8858 h 182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48" h="18248">
                  <a:moveTo>
                    <a:pt x="18245" y="8858"/>
                  </a:moveTo>
                  <a:cubicBezTo>
                    <a:pt x="18386" y="13888"/>
                    <a:pt x="14419" y="18103"/>
                    <a:pt x="9390" y="18245"/>
                  </a:cubicBezTo>
                  <a:cubicBezTo>
                    <a:pt x="4360" y="18386"/>
                    <a:pt x="145" y="14419"/>
                    <a:pt x="4" y="9390"/>
                  </a:cubicBezTo>
                  <a:cubicBezTo>
                    <a:pt x="-138" y="4360"/>
                    <a:pt x="3829" y="145"/>
                    <a:pt x="8858" y="4"/>
                  </a:cubicBezTo>
                  <a:cubicBezTo>
                    <a:pt x="13888" y="-138"/>
                    <a:pt x="18103" y="3829"/>
                    <a:pt x="18245" y="8858"/>
                  </a:cubicBezTo>
                  <a:close/>
                </a:path>
              </a:pathLst>
            </a:custGeom>
            <a:solidFill>
              <a:srgbClr val="FFFFFF"/>
            </a:solidFill>
            <a:ln w="3515" cap="flat">
              <a:noFill/>
              <a:prstDash val="solid"/>
              <a:miter/>
            </a:ln>
          </p:spPr>
          <p:txBody>
            <a:bodyPr lIns="82296" tIns="41148" rIns="82296" bIns="41148" rtlCol="0" anchor="ctr"/>
            <a:lstStyle/>
            <a:p>
              <a:endParaRPr lang="en-US"/>
            </a:p>
          </p:txBody>
        </p:sp>
        <p:sp>
          <p:nvSpPr>
            <p:cNvPr id="627" name="Freeform: Shape 626">
              <a:extLst>
                <a:ext uri="{FF2B5EF4-FFF2-40B4-BE49-F238E27FC236}">
                  <a16:creationId xmlns:a16="http://schemas.microsoft.com/office/drawing/2014/main" id="{A58A1CF3-5817-423D-BBDA-44585CF32F3E}"/>
                </a:ext>
              </a:extLst>
            </p:cNvPr>
            <p:cNvSpPr/>
            <p:nvPr/>
          </p:nvSpPr>
          <p:spPr>
            <a:xfrm>
              <a:off x="9795263" y="1753531"/>
              <a:ext cx="7047" cy="10984"/>
            </a:xfrm>
            <a:custGeom>
              <a:avLst/>
              <a:gdLst>
                <a:gd name="connsiteX0" fmla="*/ 540 w 7047"/>
                <a:gd name="connsiteY0" fmla="*/ 6993 h 10984"/>
                <a:gd name="connsiteX1" fmla="*/ 44 w 7047"/>
                <a:gd name="connsiteY1" fmla="*/ 2743 h 10984"/>
                <a:gd name="connsiteX2" fmla="*/ 2701 w 7047"/>
                <a:gd name="connsiteY2" fmla="*/ 16 h 10984"/>
                <a:gd name="connsiteX3" fmla="*/ 3409 w 7047"/>
                <a:gd name="connsiteY3" fmla="*/ 16 h 10984"/>
                <a:gd name="connsiteX4" fmla="*/ 5641 w 7047"/>
                <a:gd name="connsiteY4" fmla="*/ 937 h 10984"/>
                <a:gd name="connsiteX5" fmla="*/ 6030 w 7047"/>
                <a:gd name="connsiteY5" fmla="*/ 1751 h 10984"/>
                <a:gd name="connsiteX6" fmla="*/ 6809 w 7047"/>
                <a:gd name="connsiteY6" fmla="*/ 5931 h 10984"/>
                <a:gd name="connsiteX7" fmla="*/ 6101 w 7047"/>
                <a:gd name="connsiteY7" fmla="*/ 10039 h 10984"/>
                <a:gd name="connsiteX8" fmla="*/ 2382 w 7047"/>
                <a:gd name="connsiteY8" fmla="*/ 10677 h 10984"/>
                <a:gd name="connsiteX9" fmla="*/ 505 w 7047"/>
                <a:gd name="connsiteY9" fmla="*/ 6993 h 10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47" h="10984">
                  <a:moveTo>
                    <a:pt x="540" y="6993"/>
                  </a:moveTo>
                  <a:cubicBezTo>
                    <a:pt x="363" y="5577"/>
                    <a:pt x="44" y="4195"/>
                    <a:pt x="44" y="2743"/>
                  </a:cubicBezTo>
                  <a:cubicBezTo>
                    <a:pt x="-274" y="1574"/>
                    <a:pt x="1178" y="264"/>
                    <a:pt x="2701" y="16"/>
                  </a:cubicBezTo>
                  <a:cubicBezTo>
                    <a:pt x="2949" y="-20"/>
                    <a:pt x="3161" y="16"/>
                    <a:pt x="3409" y="16"/>
                  </a:cubicBezTo>
                  <a:cubicBezTo>
                    <a:pt x="4401" y="-55"/>
                    <a:pt x="5357" y="193"/>
                    <a:pt x="5641" y="937"/>
                  </a:cubicBezTo>
                  <a:cubicBezTo>
                    <a:pt x="5818" y="1291"/>
                    <a:pt x="5959" y="1503"/>
                    <a:pt x="6030" y="1751"/>
                  </a:cubicBezTo>
                  <a:cubicBezTo>
                    <a:pt x="6455" y="3097"/>
                    <a:pt x="6561" y="4549"/>
                    <a:pt x="6809" y="5931"/>
                  </a:cubicBezTo>
                  <a:cubicBezTo>
                    <a:pt x="7057" y="7454"/>
                    <a:pt x="7412" y="8623"/>
                    <a:pt x="6101" y="10039"/>
                  </a:cubicBezTo>
                  <a:cubicBezTo>
                    <a:pt x="5286" y="10960"/>
                    <a:pt x="3445" y="11279"/>
                    <a:pt x="2382" y="10677"/>
                  </a:cubicBezTo>
                  <a:cubicBezTo>
                    <a:pt x="717" y="9756"/>
                    <a:pt x="717" y="8516"/>
                    <a:pt x="505" y="6993"/>
                  </a:cubicBezTo>
                  <a:close/>
                </a:path>
              </a:pathLst>
            </a:custGeom>
            <a:solidFill>
              <a:srgbClr val="1D2333"/>
            </a:solidFill>
            <a:ln w="3515" cap="flat">
              <a:noFill/>
              <a:prstDash val="solid"/>
              <a:miter/>
            </a:ln>
          </p:spPr>
          <p:txBody>
            <a:bodyPr lIns="82296" tIns="41148" rIns="82296" bIns="41148" rtlCol="0" anchor="ctr"/>
            <a:lstStyle/>
            <a:p>
              <a:endParaRPr lang="en-US"/>
            </a:p>
          </p:txBody>
        </p:sp>
        <p:sp>
          <p:nvSpPr>
            <p:cNvPr id="628" name="Freeform: Shape 627">
              <a:extLst>
                <a:ext uri="{FF2B5EF4-FFF2-40B4-BE49-F238E27FC236}">
                  <a16:creationId xmlns:a16="http://schemas.microsoft.com/office/drawing/2014/main" id="{9B2D9F52-4E29-4286-AA01-6C67A58F497B}"/>
                </a:ext>
              </a:extLst>
            </p:cNvPr>
            <p:cNvSpPr/>
            <p:nvPr/>
          </p:nvSpPr>
          <p:spPr>
            <a:xfrm>
              <a:off x="9343040" y="1601852"/>
              <a:ext cx="340378" cy="219230"/>
            </a:xfrm>
            <a:custGeom>
              <a:avLst/>
              <a:gdLst>
                <a:gd name="connsiteX0" fmla="*/ 340343 w 340378"/>
                <a:gd name="connsiteY0" fmla="*/ 85744 h 219230"/>
                <a:gd name="connsiteX1" fmla="*/ 282043 w 340378"/>
                <a:gd name="connsiteY1" fmla="*/ 9735 h 219230"/>
                <a:gd name="connsiteX2" fmla="*/ 151134 w 340378"/>
                <a:gd name="connsiteY2" fmla="*/ 44871 h 219230"/>
                <a:gd name="connsiteX3" fmla="*/ 98962 w 340378"/>
                <a:gd name="connsiteY3" fmla="*/ 56205 h 219230"/>
                <a:gd name="connsiteX4" fmla="*/ 5738 w 340378"/>
                <a:gd name="connsiteY4" fmla="*/ 100266 h 219230"/>
                <a:gd name="connsiteX5" fmla="*/ 32622 w 340378"/>
                <a:gd name="connsiteY5" fmla="*/ 198271 h 219230"/>
                <a:gd name="connsiteX6" fmla="*/ 162539 w 340378"/>
                <a:gd name="connsiteY6" fmla="*/ 199865 h 219230"/>
                <a:gd name="connsiteX7" fmla="*/ 202952 w 340378"/>
                <a:gd name="connsiteY7" fmla="*/ 145072 h 219230"/>
                <a:gd name="connsiteX8" fmla="*/ 242692 w 340378"/>
                <a:gd name="connsiteY8" fmla="*/ 96937 h 219230"/>
                <a:gd name="connsiteX9" fmla="*/ 328903 w 340378"/>
                <a:gd name="connsiteY9" fmla="*/ 148507 h 219230"/>
                <a:gd name="connsiteX10" fmla="*/ 340378 w 340378"/>
                <a:gd name="connsiteY10" fmla="*/ 93005 h 219230"/>
                <a:gd name="connsiteX11" fmla="*/ 340378 w 340378"/>
                <a:gd name="connsiteY11" fmla="*/ 85709 h 219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378" h="219230">
                  <a:moveTo>
                    <a:pt x="340343" y="85744"/>
                  </a:moveTo>
                  <a:cubicBezTo>
                    <a:pt x="340343" y="85744"/>
                    <a:pt x="316400" y="23478"/>
                    <a:pt x="282043" y="9735"/>
                  </a:cubicBezTo>
                  <a:cubicBezTo>
                    <a:pt x="247687" y="-4008"/>
                    <a:pt x="194629" y="-11233"/>
                    <a:pt x="151134" y="44871"/>
                  </a:cubicBezTo>
                  <a:cubicBezTo>
                    <a:pt x="135691" y="64812"/>
                    <a:pt x="120142" y="61978"/>
                    <a:pt x="98962" y="56205"/>
                  </a:cubicBezTo>
                  <a:cubicBezTo>
                    <a:pt x="62197" y="46217"/>
                    <a:pt x="20614" y="65095"/>
                    <a:pt x="5738" y="100266"/>
                  </a:cubicBezTo>
                  <a:cubicBezTo>
                    <a:pt x="-8394" y="133667"/>
                    <a:pt x="4711" y="175992"/>
                    <a:pt x="32622" y="198271"/>
                  </a:cubicBezTo>
                  <a:cubicBezTo>
                    <a:pt x="68218" y="226713"/>
                    <a:pt x="125809" y="225190"/>
                    <a:pt x="162539" y="199865"/>
                  </a:cubicBezTo>
                  <a:cubicBezTo>
                    <a:pt x="182586" y="186051"/>
                    <a:pt x="194239" y="167244"/>
                    <a:pt x="202952" y="145072"/>
                  </a:cubicBezTo>
                  <a:cubicBezTo>
                    <a:pt x="210355" y="126299"/>
                    <a:pt x="219847" y="100621"/>
                    <a:pt x="242692" y="96937"/>
                  </a:cubicBezTo>
                  <a:cubicBezTo>
                    <a:pt x="287073" y="89747"/>
                    <a:pt x="328903" y="148507"/>
                    <a:pt x="328903" y="148507"/>
                  </a:cubicBezTo>
                  <a:lnTo>
                    <a:pt x="340378" y="93005"/>
                  </a:lnTo>
                  <a:lnTo>
                    <a:pt x="340378" y="85709"/>
                  </a:lnTo>
                  <a:close/>
                </a:path>
              </a:pathLst>
            </a:custGeom>
            <a:solidFill>
              <a:schemeClr val="accent2"/>
            </a:solidFill>
            <a:ln w="3515" cap="flat">
              <a:noFill/>
              <a:prstDash val="solid"/>
              <a:miter/>
            </a:ln>
          </p:spPr>
          <p:txBody>
            <a:bodyPr lIns="82296" tIns="41148" rIns="82296" bIns="41148" rtlCol="0" anchor="ctr"/>
            <a:lstStyle/>
            <a:p>
              <a:endParaRPr lang="en-US"/>
            </a:p>
          </p:txBody>
        </p:sp>
        <p:sp>
          <p:nvSpPr>
            <p:cNvPr id="629" name="Freeform: Shape 628">
              <a:extLst>
                <a:ext uri="{FF2B5EF4-FFF2-40B4-BE49-F238E27FC236}">
                  <a16:creationId xmlns:a16="http://schemas.microsoft.com/office/drawing/2014/main" id="{016B90A9-DD8E-4D39-97EE-2972B224D119}"/>
                </a:ext>
              </a:extLst>
            </p:cNvPr>
            <p:cNvSpPr/>
            <p:nvPr/>
          </p:nvSpPr>
          <p:spPr>
            <a:xfrm>
              <a:off x="9509601" y="1591787"/>
              <a:ext cx="181070" cy="103459"/>
            </a:xfrm>
            <a:custGeom>
              <a:avLst/>
              <a:gdLst>
                <a:gd name="connsiteX0" fmla="*/ 178210 w 181070"/>
                <a:gd name="connsiteY0" fmla="*/ 103459 h 103459"/>
                <a:gd name="connsiteX1" fmla="*/ 175447 w 181070"/>
                <a:gd name="connsiteY1" fmla="*/ 101051 h 103459"/>
                <a:gd name="connsiteX2" fmla="*/ 110134 w 181070"/>
                <a:gd name="connsiteY2" fmla="*/ 10343 h 103459"/>
                <a:gd name="connsiteX3" fmla="*/ 4868 w 181070"/>
                <a:gd name="connsiteY3" fmla="*/ 44203 h 103459"/>
                <a:gd name="connsiteX4" fmla="*/ 901 w 181070"/>
                <a:gd name="connsiteY4" fmla="*/ 44380 h 103459"/>
                <a:gd name="connsiteX5" fmla="*/ 724 w 181070"/>
                <a:gd name="connsiteY5" fmla="*/ 40413 h 103459"/>
                <a:gd name="connsiteX6" fmla="*/ 112153 w 181070"/>
                <a:gd name="connsiteY6" fmla="*/ 5101 h 103459"/>
                <a:gd name="connsiteX7" fmla="*/ 181043 w 181070"/>
                <a:gd name="connsiteY7" fmla="*/ 100236 h 103459"/>
                <a:gd name="connsiteX8" fmla="*/ 178670 w 181070"/>
                <a:gd name="connsiteY8" fmla="*/ 103424 h 103459"/>
                <a:gd name="connsiteX9" fmla="*/ 178245 w 181070"/>
                <a:gd name="connsiteY9" fmla="*/ 103424 h 10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070" h="103459">
                  <a:moveTo>
                    <a:pt x="178210" y="103459"/>
                  </a:moveTo>
                  <a:cubicBezTo>
                    <a:pt x="176828" y="103459"/>
                    <a:pt x="175624" y="102468"/>
                    <a:pt x="175447" y="101051"/>
                  </a:cubicBezTo>
                  <a:cubicBezTo>
                    <a:pt x="175341" y="100343"/>
                    <a:pt x="164573" y="31169"/>
                    <a:pt x="110134" y="10343"/>
                  </a:cubicBezTo>
                  <a:cubicBezTo>
                    <a:pt x="55907" y="-10378"/>
                    <a:pt x="5364" y="43672"/>
                    <a:pt x="4868" y="44203"/>
                  </a:cubicBezTo>
                  <a:cubicBezTo>
                    <a:pt x="3806" y="45337"/>
                    <a:pt x="2035" y="45407"/>
                    <a:pt x="901" y="44380"/>
                  </a:cubicBezTo>
                  <a:cubicBezTo>
                    <a:pt x="-232" y="43318"/>
                    <a:pt x="-303" y="41547"/>
                    <a:pt x="724" y="40413"/>
                  </a:cubicBezTo>
                  <a:cubicBezTo>
                    <a:pt x="1256" y="39847"/>
                    <a:pt x="54349" y="-17001"/>
                    <a:pt x="112153" y="5101"/>
                  </a:cubicBezTo>
                  <a:cubicBezTo>
                    <a:pt x="169709" y="27096"/>
                    <a:pt x="180901" y="99528"/>
                    <a:pt x="181043" y="100236"/>
                  </a:cubicBezTo>
                  <a:cubicBezTo>
                    <a:pt x="181256" y="101759"/>
                    <a:pt x="180193" y="103211"/>
                    <a:pt x="178670" y="103424"/>
                  </a:cubicBezTo>
                  <a:cubicBezTo>
                    <a:pt x="178528" y="103424"/>
                    <a:pt x="178387" y="103424"/>
                    <a:pt x="178245" y="103424"/>
                  </a:cubicBezTo>
                  <a:close/>
                </a:path>
              </a:pathLst>
            </a:custGeom>
            <a:solidFill>
              <a:schemeClr val="accent2"/>
            </a:solidFill>
            <a:ln w="3515" cap="flat">
              <a:noFill/>
              <a:prstDash val="solid"/>
              <a:miter/>
            </a:ln>
          </p:spPr>
          <p:txBody>
            <a:bodyPr lIns="82296" tIns="41148" rIns="82296" bIns="41148" rtlCol="0" anchor="ctr"/>
            <a:lstStyle/>
            <a:p>
              <a:endParaRPr lang="en-US"/>
            </a:p>
          </p:txBody>
        </p:sp>
        <p:sp>
          <p:nvSpPr>
            <p:cNvPr id="630" name="Freeform: Shape 629">
              <a:extLst>
                <a:ext uri="{FF2B5EF4-FFF2-40B4-BE49-F238E27FC236}">
                  <a16:creationId xmlns:a16="http://schemas.microsoft.com/office/drawing/2014/main" id="{DF0BF2D1-F36F-4B03-9095-06FBF7B23B28}"/>
                </a:ext>
              </a:extLst>
            </p:cNvPr>
            <p:cNvSpPr/>
            <p:nvPr/>
          </p:nvSpPr>
          <p:spPr>
            <a:xfrm>
              <a:off x="9802285" y="1791516"/>
              <a:ext cx="25018" cy="8500"/>
            </a:xfrm>
            <a:custGeom>
              <a:avLst/>
              <a:gdLst>
                <a:gd name="connsiteX0" fmla="*/ 15938 w 25018"/>
                <a:gd name="connsiteY0" fmla="*/ 8500 h 8500"/>
                <a:gd name="connsiteX1" fmla="*/ 1664 w 25018"/>
                <a:gd name="connsiteY1" fmla="*/ 5383 h 8500"/>
                <a:gd name="connsiteX2" fmla="*/ 247 w 25018"/>
                <a:gd name="connsiteY2" fmla="*/ 1664 h 8500"/>
                <a:gd name="connsiteX3" fmla="*/ 3966 w 25018"/>
                <a:gd name="connsiteY3" fmla="*/ 247 h 8500"/>
                <a:gd name="connsiteX4" fmla="*/ 21216 w 25018"/>
                <a:gd name="connsiteY4" fmla="*/ 2018 h 8500"/>
                <a:gd name="connsiteX5" fmla="*/ 24828 w 25018"/>
                <a:gd name="connsiteY5" fmla="*/ 3648 h 8500"/>
                <a:gd name="connsiteX6" fmla="*/ 23199 w 25018"/>
                <a:gd name="connsiteY6" fmla="*/ 7260 h 8500"/>
                <a:gd name="connsiteX7" fmla="*/ 15938 w 25018"/>
                <a:gd name="connsiteY7" fmla="*/ 8500 h 8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18" h="8500">
                  <a:moveTo>
                    <a:pt x="15938" y="8500"/>
                  </a:moveTo>
                  <a:cubicBezTo>
                    <a:pt x="8713" y="8500"/>
                    <a:pt x="2018" y="5525"/>
                    <a:pt x="1664" y="5383"/>
                  </a:cubicBezTo>
                  <a:cubicBezTo>
                    <a:pt x="247" y="4746"/>
                    <a:pt x="-390" y="3081"/>
                    <a:pt x="247" y="1664"/>
                  </a:cubicBezTo>
                  <a:cubicBezTo>
                    <a:pt x="885" y="247"/>
                    <a:pt x="2550" y="-390"/>
                    <a:pt x="3966" y="247"/>
                  </a:cubicBezTo>
                  <a:cubicBezTo>
                    <a:pt x="4073" y="283"/>
                    <a:pt x="14096" y="4710"/>
                    <a:pt x="21216" y="2018"/>
                  </a:cubicBezTo>
                  <a:cubicBezTo>
                    <a:pt x="22632" y="1487"/>
                    <a:pt x="24297" y="2196"/>
                    <a:pt x="24828" y="3648"/>
                  </a:cubicBezTo>
                  <a:cubicBezTo>
                    <a:pt x="25395" y="5100"/>
                    <a:pt x="24651" y="6729"/>
                    <a:pt x="23199" y="7260"/>
                  </a:cubicBezTo>
                  <a:cubicBezTo>
                    <a:pt x="20861" y="8146"/>
                    <a:pt x="18347" y="8500"/>
                    <a:pt x="15938" y="8500"/>
                  </a:cubicBezTo>
                  <a:close/>
                </a:path>
              </a:pathLst>
            </a:custGeom>
            <a:solidFill>
              <a:srgbClr val="E55955"/>
            </a:solidFill>
            <a:ln w="3515" cap="flat">
              <a:noFill/>
              <a:prstDash val="solid"/>
              <a:miter/>
            </a:ln>
          </p:spPr>
          <p:txBody>
            <a:bodyPr lIns="82296" tIns="41148" rIns="82296" bIns="41148" rtlCol="0" anchor="ctr"/>
            <a:lstStyle/>
            <a:p>
              <a:endParaRPr lang="en-US"/>
            </a:p>
          </p:txBody>
        </p:sp>
        <p:sp>
          <p:nvSpPr>
            <p:cNvPr id="631" name="Freeform: Shape 630">
              <a:extLst>
                <a:ext uri="{FF2B5EF4-FFF2-40B4-BE49-F238E27FC236}">
                  <a16:creationId xmlns:a16="http://schemas.microsoft.com/office/drawing/2014/main" id="{F2FD3D8C-CC3D-4D50-A9FF-05087F7607BA}"/>
                </a:ext>
              </a:extLst>
            </p:cNvPr>
            <p:cNvSpPr/>
            <p:nvPr/>
          </p:nvSpPr>
          <p:spPr>
            <a:xfrm>
              <a:off x="9922320" y="1730524"/>
              <a:ext cx="123825" cy="133848"/>
            </a:xfrm>
            <a:custGeom>
              <a:avLst/>
              <a:gdLst>
                <a:gd name="connsiteX0" fmla="*/ 123825 w 123825"/>
                <a:gd name="connsiteY0" fmla="*/ 0 h 133848"/>
                <a:gd name="connsiteX1" fmla="*/ 0 w 123825"/>
                <a:gd name="connsiteY1" fmla="*/ 60708 h 133848"/>
                <a:gd name="connsiteX2" fmla="*/ 90531 w 123825"/>
                <a:gd name="connsiteY2" fmla="*/ 133849 h 133848"/>
                <a:gd name="connsiteX3" fmla="*/ 123825 w 123825"/>
                <a:gd name="connsiteY3" fmla="*/ 0 h 133848"/>
              </a:gdLst>
              <a:ahLst/>
              <a:cxnLst>
                <a:cxn ang="0">
                  <a:pos x="connsiteX0" y="connsiteY0"/>
                </a:cxn>
                <a:cxn ang="0">
                  <a:pos x="connsiteX1" y="connsiteY1"/>
                </a:cxn>
                <a:cxn ang="0">
                  <a:pos x="connsiteX2" y="connsiteY2"/>
                </a:cxn>
                <a:cxn ang="0">
                  <a:pos x="connsiteX3" y="connsiteY3"/>
                </a:cxn>
              </a:cxnLst>
              <a:rect l="l" t="t" r="r" b="b"/>
              <a:pathLst>
                <a:path w="123825" h="133848">
                  <a:moveTo>
                    <a:pt x="123825" y="0"/>
                  </a:moveTo>
                  <a:cubicBezTo>
                    <a:pt x="123825" y="0"/>
                    <a:pt x="35136" y="42255"/>
                    <a:pt x="0" y="60708"/>
                  </a:cubicBezTo>
                  <a:cubicBezTo>
                    <a:pt x="17710" y="96765"/>
                    <a:pt x="50720" y="123967"/>
                    <a:pt x="90531" y="133849"/>
                  </a:cubicBezTo>
                  <a:lnTo>
                    <a:pt x="123825" y="0"/>
                  </a:lnTo>
                  <a:close/>
                </a:path>
              </a:pathLst>
            </a:custGeom>
            <a:solidFill>
              <a:srgbClr val="235789"/>
            </a:solidFill>
            <a:ln w="3515" cap="flat">
              <a:noFill/>
              <a:prstDash val="solid"/>
              <a:miter/>
            </a:ln>
          </p:spPr>
          <p:txBody>
            <a:bodyPr lIns="82296" tIns="41148" rIns="82296" bIns="41148" rtlCol="0" anchor="ctr"/>
            <a:lstStyle/>
            <a:p>
              <a:endParaRPr lang="en-US"/>
            </a:p>
          </p:txBody>
        </p:sp>
        <p:sp>
          <p:nvSpPr>
            <p:cNvPr id="632" name="Freeform: Shape 631">
              <a:extLst>
                <a:ext uri="{FF2B5EF4-FFF2-40B4-BE49-F238E27FC236}">
                  <a16:creationId xmlns:a16="http://schemas.microsoft.com/office/drawing/2014/main" id="{459A9834-A812-4895-A2F4-FA9E6463C89C}"/>
                </a:ext>
              </a:extLst>
            </p:cNvPr>
            <p:cNvSpPr/>
            <p:nvPr/>
          </p:nvSpPr>
          <p:spPr>
            <a:xfrm>
              <a:off x="9872096" y="1938186"/>
              <a:ext cx="47651" cy="291995"/>
            </a:xfrm>
            <a:custGeom>
              <a:avLst/>
              <a:gdLst>
                <a:gd name="connsiteX0" fmla="*/ 44841 w 47651"/>
                <a:gd name="connsiteY0" fmla="*/ 291960 h 291995"/>
                <a:gd name="connsiteX1" fmla="*/ 42078 w 47651"/>
                <a:gd name="connsiteY1" fmla="*/ 289693 h 291995"/>
                <a:gd name="connsiteX2" fmla="*/ 14097 w 47651"/>
                <a:gd name="connsiteY2" fmla="*/ 146493 h 291995"/>
                <a:gd name="connsiteX3" fmla="*/ 14770 w 47651"/>
                <a:gd name="connsiteY3" fmla="*/ 144085 h 291995"/>
                <a:gd name="connsiteX4" fmla="*/ 34250 w 47651"/>
                <a:gd name="connsiteY4" fmla="*/ 93188 h 291995"/>
                <a:gd name="connsiteX5" fmla="*/ 1240 w 47651"/>
                <a:gd name="connsiteY5" fmla="*/ 43388 h 291995"/>
                <a:gd name="connsiteX6" fmla="*/ 0 w 47651"/>
                <a:gd name="connsiteY6" fmla="*/ 41051 h 291995"/>
                <a:gd name="connsiteX7" fmla="*/ 0 w 47651"/>
                <a:gd name="connsiteY7" fmla="*/ 2798 h 291995"/>
                <a:gd name="connsiteX8" fmla="*/ 2798 w 47651"/>
                <a:gd name="connsiteY8" fmla="*/ 0 h 291995"/>
                <a:gd name="connsiteX9" fmla="*/ 5596 w 47651"/>
                <a:gd name="connsiteY9" fmla="*/ 2798 h 291995"/>
                <a:gd name="connsiteX10" fmla="*/ 5596 w 47651"/>
                <a:gd name="connsiteY10" fmla="*/ 39599 h 291995"/>
                <a:gd name="connsiteX11" fmla="*/ 39811 w 47651"/>
                <a:gd name="connsiteY11" fmla="*/ 92479 h 291995"/>
                <a:gd name="connsiteX12" fmla="*/ 19870 w 47651"/>
                <a:gd name="connsiteY12" fmla="*/ 146812 h 291995"/>
                <a:gd name="connsiteX13" fmla="*/ 47603 w 47651"/>
                <a:gd name="connsiteY13" fmla="*/ 288630 h 291995"/>
                <a:gd name="connsiteX14" fmla="*/ 45372 w 47651"/>
                <a:gd name="connsiteY14" fmla="*/ 291924 h 291995"/>
                <a:gd name="connsiteX15" fmla="*/ 44841 w 47651"/>
                <a:gd name="connsiteY15" fmla="*/ 291995 h 291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651" h="291995">
                  <a:moveTo>
                    <a:pt x="44841" y="291960"/>
                  </a:moveTo>
                  <a:cubicBezTo>
                    <a:pt x="43530" y="291960"/>
                    <a:pt x="42361" y="291039"/>
                    <a:pt x="42078" y="289693"/>
                  </a:cubicBezTo>
                  <a:lnTo>
                    <a:pt x="14097" y="146493"/>
                  </a:lnTo>
                  <a:cubicBezTo>
                    <a:pt x="13920" y="145643"/>
                    <a:pt x="14168" y="144723"/>
                    <a:pt x="14770" y="144085"/>
                  </a:cubicBezTo>
                  <a:cubicBezTo>
                    <a:pt x="29787" y="127332"/>
                    <a:pt x="36340" y="110189"/>
                    <a:pt x="34250" y="93188"/>
                  </a:cubicBezTo>
                  <a:cubicBezTo>
                    <a:pt x="30567" y="63471"/>
                    <a:pt x="1523" y="43566"/>
                    <a:pt x="1240" y="43388"/>
                  </a:cubicBezTo>
                  <a:cubicBezTo>
                    <a:pt x="460" y="42857"/>
                    <a:pt x="0" y="41972"/>
                    <a:pt x="0" y="41051"/>
                  </a:cubicBezTo>
                  <a:lnTo>
                    <a:pt x="0" y="2798"/>
                  </a:lnTo>
                  <a:cubicBezTo>
                    <a:pt x="0" y="1240"/>
                    <a:pt x="1275" y="0"/>
                    <a:pt x="2798" y="0"/>
                  </a:cubicBezTo>
                  <a:cubicBezTo>
                    <a:pt x="4321" y="0"/>
                    <a:pt x="5596" y="1275"/>
                    <a:pt x="5596" y="2798"/>
                  </a:cubicBezTo>
                  <a:lnTo>
                    <a:pt x="5596" y="39599"/>
                  </a:lnTo>
                  <a:cubicBezTo>
                    <a:pt x="11547" y="43920"/>
                    <a:pt x="36198" y="63506"/>
                    <a:pt x="39811" y="92479"/>
                  </a:cubicBezTo>
                  <a:cubicBezTo>
                    <a:pt x="42113" y="110826"/>
                    <a:pt x="35384" y="129103"/>
                    <a:pt x="19870" y="146812"/>
                  </a:cubicBezTo>
                  <a:lnTo>
                    <a:pt x="47603" y="288630"/>
                  </a:lnTo>
                  <a:cubicBezTo>
                    <a:pt x="47887" y="290153"/>
                    <a:pt x="46895" y="291641"/>
                    <a:pt x="45372" y="291924"/>
                  </a:cubicBezTo>
                  <a:cubicBezTo>
                    <a:pt x="45195" y="291960"/>
                    <a:pt x="45018" y="291995"/>
                    <a:pt x="44841" y="291995"/>
                  </a:cubicBezTo>
                  <a:close/>
                </a:path>
              </a:pathLst>
            </a:custGeom>
            <a:solidFill>
              <a:schemeClr val="accent6">
                <a:lumMod val="75000"/>
              </a:schemeClr>
            </a:solidFill>
            <a:ln w="3515" cap="flat">
              <a:noFill/>
              <a:prstDash val="solid"/>
              <a:miter/>
            </a:ln>
          </p:spPr>
          <p:txBody>
            <a:bodyPr lIns="82296" tIns="41148" rIns="82296" bIns="41148" rtlCol="0" anchor="ctr"/>
            <a:lstStyle/>
            <a:p>
              <a:endParaRPr lang="en-US"/>
            </a:p>
          </p:txBody>
        </p:sp>
        <p:sp>
          <p:nvSpPr>
            <p:cNvPr id="633" name="Freeform: Shape 632">
              <a:extLst>
                <a:ext uri="{FF2B5EF4-FFF2-40B4-BE49-F238E27FC236}">
                  <a16:creationId xmlns:a16="http://schemas.microsoft.com/office/drawing/2014/main" id="{D4214AA1-D000-4978-9B1B-334ED70B6219}"/>
                </a:ext>
              </a:extLst>
            </p:cNvPr>
            <p:cNvSpPr/>
            <p:nvPr/>
          </p:nvSpPr>
          <p:spPr>
            <a:xfrm>
              <a:off x="9689121" y="1921575"/>
              <a:ext cx="266316" cy="181947"/>
            </a:xfrm>
            <a:custGeom>
              <a:avLst/>
              <a:gdLst>
                <a:gd name="connsiteX0" fmla="*/ 37048 w 266316"/>
                <a:gd name="connsiteY0" fmla="*/ 0 h 181947"/>
                <a:gd name="connsiteX1" fmla="*/ 229268 w 266316"/>
                <a:gd name="connsiteY1" fmla="*/ 0 h 181947"/>
                <a:gd name="connsiteX2" fmla="*/ 266316 w 266316"/>
                <a:gd name="connsiteY2" fmla="*/ 37048 h 181947"/>
                <a:gd name="connsiteX3" fmla="*/ 266316 w 266316"/>
                <a:gd name="connsiteY3" fmla="*/ 144900 h 181947"/>
                <a:gd name="connsiteX4" fmla="*/ 229268 w 266316"/>
                <a:gd name="connsiteY4" fmla="*/ 181948 h 181947"/>
                <a:gd name="connsiteX5" fmla="*/ 37048 w 266316"/>
                <a:gd name="connsiteY5" fmla="*/ 181948 h 181947"/>
                <a:gd name="connsiteX6" fmla="*/ 0 w 266316"/>
                <a:gd name="connsiteY6" fmla="*/ 144900 h 181947"/>
                <a:gd name="connsiteX7" fmla="*/ 0 w 266316"/>
                <a:gd name="connsiteY7" fmla="*/ 37048 h 181947"/>
                <a:gd name="connsiteX8" fmla="*/ 37048 w 266316"/>
                <a:gd name="connsiteY8" fmla="*/ 0 h 18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6316" h="181947">
                  <a:moveTo>
                    <a:pt x="37048" y="0"/>
                  </a:moveTo>
                  <a:lnTo>
                    <a:pt x="229268" y="0"/>
                  </a:lnTo>
                  <a:cubicBezTo>
                    <a:pt x="249705" y="0"/>
                    <a:pt x="266316" y="16612"/>
                    <a:pt x="266316" y="37048"/>
                  </a:cubicBezTo>
                  <a:lnTo>
                    <a:pt x="266316" y="144900"/>
                  </a:lnTo>
                  <a:cubicBezTo>
                    <a:pt x="266316" y="165336"/>
                    <a:pt x="249705" y="181948"/>
                    <a:pt x="229268" y="181948"/>
                  </a:cubicBezTo>
                  <a:lnTo>
                    <a:pt x="37048" y="181948"/>
                  </a:lnTo>
                  <a:cubicBezTo>
                    <a:pt x="16612" y="181948"/>
                    <a:pt x="0" y="165336"/>
                    <a:pt x="0" y="144900"/>
                  </a:cubicBezTo>
                  <a:lnTo>
                    <a:pt x="0" y="37048"/>
                  </a:lnTo>
                  <a:cubicBezTo>
                    <a:pt x="0" y="16612"/>
                    <a:pt x="16612" y="0"/>
                    <a:pt x="37048" y="0"/>
                  </a:cubicBezTo>
                  <a:close/>
                </a:path>
              </a:pathLst>
            </a:custGeom>
            <a:solidFill>
              <a:srgbClr val="1D2333"/>
            </a:solidFill>
            <a:ln w="3515" cap="flat">
              <a:noFill/>
              <a:prstDash val="solid"/>
              <a:miter/>
            </a:ln>
          </p:spPr>
          <p:txBody>
            <a:bodyPr lIns="82296" tIns="41148" rIns="82296" bIns="41148" rtlCol="0" anchor="ctr"/>
            <a:lstStyle/>
            <a:p>
              <a:endParaRPr lang="en-US"/>
            </a:p>
          </p:txBody>
        </p:sp>
        <p:sp>
          <p:nvSpPr>
            <p:cNvPr id="634" name="Freeform: Shape 633">
              <a:extLst>
                <a:ext uri="{FF2B5EF4-FFF2-40B4-BE49-F238E27FC236}">
                  <a16:creationId xmlns:a16="http://schemas.microsoft.com/office/drawing/2014/main" id="{372BECEE-0497-489F-A621-2D9440562EB5}"/>
                </a:ext>
              </a:extLst>
            </p:cNvPr>
            <p:cNvSpPr/>
            <p:nvPr/>
          </p:nvSpPr>
          <p:spPr>
            <a:xfrm>
              <a:off x="9802533" y="1992767"/>
              <a:ext cx="39527" cy="39527"/>
            </a:xfrm>
            <a:custGeom>
              <a:avLst/>
              <a:gdLst>
                <a:gd name="connsiteX0" fmla="*/ 39528 w 39527"/>
                <a:gd name="connsiteY0" fmla="*/ 19764 h 39527"/>
                <a:gd name="connsiteX1" fmla="*/ 19764 w 39527"/>
                <a:gd name="connsiteY1" fmla="*/ 39528 h 39527"/>
                <a:gd name="connsiteX2" fmla="*/ 0 w 39527"/>
                <a:gd name="connsiteY2" fmla="*/ 19764 h 39527"/>
                <a:gd name="connsiteX3" fmla="*/ 19764 w 39527"/>
                <a:gd name="connsiteY3" fmla="*/ 0 h 39527"/>
                <a:gd name="connsiteX4" fmla="*/ 39528 w 39527"/>
                <a:gd name="connsiteY4" fmla="*/ 19764 h 39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27" h="39527">
                  <a:moveTo>
                    <a:pt x="39528" y="19764"/>
                  </a:moveTo>
                  <a:cubicBezTo>
                    <a:pt x="39528" y="30673"/>
                    <a:pt x="30673" y="39528"/>
                    <a:pt x="19764" y="39528"/>
                  </a:cubicBezTo>
                  <a:cubicBezTo>
                    <a:pt x="8855" y="39528"/>
                    <a:pt x="0" y="30673"/>
                    <a:pt x="0" y="19764"/>
                  </a:cubicBezTo>
                  <a:cubicBezTo>
                    <a:pt x="0" y="8855"/>
                    <a:pt x="8855" y="0"/>
                    <a:pt x="19764" y="0"/>
                  </a:cubicBezTo>
                  <a:cubicBezTo>
                    <a:pt x="30673" y="0"/>
                    <a:pt x="39528" y="8855"/>
                    <a:pt x="39528" y="19764"/>
                  </a:cubicBezTo>
                  <a:close/>
                </a:path>
              </a:pathLst>
            </a:custGeom>
            <a:solidFill>
              <a:srgbClr val="F3F2FF"/>
            </a:solidFill>
            <a:ln w="3515" cap="flat">
              <a:noFill/>
              <a:prstDash val="solid"/>
              <a:miter/>
            </a:ln>
          </p:spPr>
          <p:txBody>
            <a:bodyPr lIns="82296" tIns="41148" rIns="82296" bIns="41148" rtlCol="0" anchor="ctr"/>
            <a:lstStyle/>
            <a:p>
              <a:endParaRPr lang="en-US"/>
            </a:p>
          </p:txBody>
        </p:sp>
        <p:sp>
          <p:nvSpPr>
            <p:cNvPr id="635" name="Freeform: Shape 634">
              <a:extLst>
                <a:ext uri="{FF2B5EF4-FFF2-40B4-BE49-F238E27FC236}">
                  <a16:creationId xmlns:a16="http://schemas.microsoft.com/office/drawing/2014/main" id="{28AD053E-45A7-41E8-BD11-56642DB9B602}"/>
                </a:ext>
              </a:extLst>
            </p:cNvPr>
            <p:cNvSpPr/>
            <p:nvPr/>
          </p:nvSpPr>
          <p:spPr>
            <a:xfrm>
              <a:off x="9596252" y="1940941"/>
              <a:ext cx="188395" cy="176112"/>
            </a:xfrm>
            <a:custGeom>
              <a:avLst/>
              <a:gdLst>
                <a:gd name="connsiteX0" fmla="*/ 181842 w 188395"/>
                <a:gd name="connsiteY0" fmla="*/ 78355 h 176112"/>
                <a:gd name="connsiteX1" fmla="*/ 159669 w 188395"/>
                <a:gd name="connsiteY1" fmla="*/ 76159 h 176112"/>
                <a:gd name="connsiteX2" fmla="*/ 187332 w 188395"/>
                <a:gd name="connsiteY2" fmla="*/ 49099 h 176112"/>
                <a:gd name="connsiteX3" fmla="*/ 167532 w 188395"/>
                <a:gd name="connsiteY3" fmla="*/ 45309 h 176112"/>
                <a:gd name="connsiteX4" fmla="*/ 177521 w 188395"/>
                <a:gd name="connsiteY4" fmla="*/ 24731 h 176112"/>
                <a:gd name="connsiteX5" fmla="*/ 134699 w 188395"/>
                <a:gd name="connsiteY5" fmla="*/ 28379 h 176112"/>
                <a:gd name="connsiteX6" fmla="*/ 113731 w 188395"/>
                <a:gd name="connsiteY6" fmla="*/ 36596 h 176112"/>
                <a:gd name="connsiteX7" fmla="*/ 132822 w 188395"/>
                <a:gd name="connsiteY7" fmla="*/ 21083 h 176112"/>
                <a:gd name="connsiteX8" fmla="*/ 114475 w 188395"/>
                <a:gd name="connsiteY8" fmla="*/ 3160 h 176112"/>
                <a:gd name="connsiteX9" fmla="*/ 73849 w 188395"/>
                <a:gd name="connsiteY9" fmla="*/ 31283 h 176112"/>
                <a:gd name="connsiteX10" fmla="*/ 55148 w 188395"/>
                <a:gd name="connsiteY10" fmla="*/ 68934 h 176112"/>
                <a:gd name="connsiteX11" fmla="*/ 0 w 188395"/>
                <a:gd name="connsiteY11" fmla="*/ 95356 h 176112"/>
                <a:gd name="connsiteX12" fmla="*/ 43247 w 188395"/>
                <a:gd name="connsiteY12" fmla="*/ 176112 h 176112"/>
                <a:gd name="connsiteX13" fmla="*/ 91594 w 188395"/>
                <a:gd name="connsiteY13" fmla="*/ 143810 h 176112"/>
                <a:gd name="connsiteX14" fmla="*/ 144510 w 188395"/>
                <a:gd name="connsiteY14" fmla="*/ 110693 h 176112"/>
                <a:gd name="connsiteX15" fmla="*/ 181877 w 188395"/>
                <a:gd name="connsiteY15" fmla="*/ 78355 h 176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8395" h="176112">
                  <a:moveTo>
                    <a:pt x="181842" y="78355"/>
                  </a:moveTo>
                  <a:cubicBezTo>
                    <a:pt x="179752" y="73609"/>
                    <a:pt x="159669" y="76159"/>
                    <a:pt x="159669" y="76159"/>
                  </a:cubicBezTo>
                  <a:cubicBezTo>
                    <a:pt x="180602" y="68013"/>
                    <a:pt x="192078" y="60150"/>
                    <a:pt x="187332" y="49099"/>
                  </a:cubicBezTo>
                  <a:cubicBezTo>
                    <a:pt x="184817" y="43219"/>
                    <a:pt x="177485" y="43467"/>
                    <a:pt x="167532" y="45309"/>
                  </a:cubicBezTo>
                  <a:cubicBezTo>
                    <a:pt x="178477" y="39111"/>
                    <a:pt x="180779" y="30469"/>
                    <a:pt x="177521" y="24731"/>
                  </a:cubicBezTo>
                  <a:cubicBezTo>
                    <a:pt x="172739" y="16266"/>
                    <a:pt x="144687" y="25049"/>
                    <a:pt x="134699" y="28379"/>
                  </a:cubicBezTo>
                  <a:cubicBezTo>
                    <a:pt x="124711" y="31708"/>
                    <a:pt x="113731" y="36596"/>
                    <a:pt x="113731" y="36596"/>
                  </a:cubicBezTo>
                  <a:cubicBezTo>
                    <a:pt x="113731" y="36596"/>
                    <a:pt x="119185" y="30646"/>
                    <a:pt x="132822" y="21083"/>
                  </a:cubicBezTo>
                  <a:cubicBezTo>
                    <a:pt x="146777" y="11307"/>
                    <a:pt x="136789" y="-7465"/>
                    <a:pt x="114475" y="3160"/>
                  </a:cubicBezTo>
                  <a:cubicBezTo>
                    <a:pt x="101334" y="9430"/>
                    <a:pt x="82527" y="23172"/>
                    <a:pt x="73849" y="31283"/>
                  </a:cubicBezTo>
                  <a:cubicBezTo>
                    <a:pt x="68394" y="36384"/>
                    <a:pt x="55148" y="68934"/>
                    <a:pt x="55148" y="68934"/>
                  </a:cubicBezTo>
                  <a:lnTo>
                    <a:pt x="0" y="95356"/>
                  </a:lnTo>
                  <a:lnTo>
                    <a:pt x="43247" y="176112"/>
                  </a:lnTo>
                  <a:lnTo>
                    <a:pt x="91594" y="143810"/>
                  </a:lnTo>
                  <a:cubicBezTo>
                    <a:pt x="125915" y="143810"/>
                    <a:pt x="144510" y="110693"/>
                    <a:pt x="144510" y="110693"/>
                  </a:cubicBezTo>
                  <a:cubicBezTo>
                    <a:pt x="176246" y="96454"/>
                    <a:pt x="187686" y="91673"/>
                    <a:pt x="181877" y="78355"/>
                  </a:cubicBezTo>
                  <a:close/>
                </a:path>
              </a:pathLst>
            </a:custGeom>
            <a:solidFill>
              <a:srgbClr val="FFBEBB"/>
            </a:solidFill>
            <a:ln w="3515" cap="flat">
              <a:noFill/>
              <a:prstDash val="solid"/>
              <a:miter/>
            </a:ln>
          </p:spPr>
          <p:txBody>
            <a:bodyPr lIns="82296" tIns="41148" rIns="82296" bIns="41148" rtlCol="0" anchor="ctr"/>
            <a:lstStyle/>
            <a:p>
              <a:endParaRPr lang="en-US"/>
            </a:p>
          </p:txBody>
        </p:sp>
        <p:sp>
          <p:nvSpPr>
            <p:cNvPr id="636" name="Freeform: Shape 635">
              <a:extLst>
                <a:ext uri="{FF2B5EF4-FFF2-40B4-BE49-F238E27FC236}">
                  <a16:creationId xmlns:a16="http://schemas.microsoft.com/office/drawing/2014/main" id="{0BFFCF57-8CF0-4365-BCE2-B45529C4B828}"/>
                </a:ext>
              </a:extLst>
            </p:cNvPr>
            <p:cNvSpPr/>
            <p:nvPr/>
          </p:nvSpPr>
          <p:spPr>
            <a:xfrm>
              <a:off x="9504120" y="2033479"/>
              <a:ext cx="149210" cy="153491"/>
            </a:xfrm>
            <a:custGeom>
              <a:avLst/>
              <a:gdLst>
                <a:gd name="connsiteX0" fmla="*/ 102226 w 149210"/>
                <a:gd name="connsiteY0" fmla="*/ 153492 h 153491"/>
                <a:gd name="connsiteX1" fmla="*/ 99853 w 149210"/>
                <a:gd name="connsiteY1" fmla="*/ 152216 h 153491"/>
                <a:gd name="connsiteX2" fmla="*/ 100668 w 149210"/>
                <a:gd name="connsiteY2" fmla="*/ 148320 h 153491"/>
                <a:gd name="connsiteX3" fmla="*/ 143064 w 149210"/>
                <a:gd name="connsiteY3" fmla="*/ 104755 h 153491"/>
                <a:gd name="connsiteX4" fmla="*/ 90856 w 149210"/>
                <a:gd name="connsiteY4" fmla="*/ 6502 h 153491"/>
                <a:gd name="connsiteX5" fmla="*/ 4009 w 149210"/>
                <a:gd name="connsiteY5" fmla="*/ 46951 h 153491"/>
                <a:gd name="connsiteX6" fmla="*/ 254 w 149210"/>
                <a:gd name="connsiteY6" fmla="*/ 45605 h 153491"/>
                <a:gd name="connsiteX7" fmla="*/ 1600 w 149210"/>
                <a:gd name="connsiteY7" fmla="*/ 41851 h 153491"/>
                <a:gd name="connsiteX8" fmla="*/ 90856 w 149210"/>
                <a:gd name="connsiteY8" fmla="*/ 268 h 153491"/>
                <a:gd name="connsiteX9" fmla="*/ 94540 w 149210"/>
                <a:gd name="connsiteY9" fmla="*/ 1508 h 153491"/>
                <a:gd name="connsiteX10" fmla="*/ 148873 w 149210"/>
                <a:gd name="connsiteY10" fmla="*/ 103728 h 153491"/>
                <a:gd name="connsiteX11" fmla="*/ 148625 w 149210"/>
                <a:gd name="connsiteY11" fmla="*/ 106774 h 153491"/>
                <a:gd name="connsiteX12" fmla="*/ 103749 w 149210"/>
                <a:gd name="connsiteY12" fmla="*/ 153031 h 153491"/>
                <a:gd name="connsiteX13" fmla="*/ 102226 w 149210"/>
                <a:gd name="connsiteY13" fmla="*/ 153492 h 15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9210" h="153491">
                  <a:moveTo>
                    <a:pt x="102226" y="153492"/>
                  </a:moveTo>
                  <a:cubicBezTo>
                    <a:pt x="101305" y="153492"/>
                    <a:pt x="100420" y="153031"/>
                    <a:pt x="99853" y="152216"/>
                  </a:cubicBezTo>
                  <a:cubicBezTo>
                    <a:pt x="99003" y="150906"/>
                    <a:pt x="99357" y="149170"/>
                    <a:pt x="100668" y="148320"/>
                  </a:cubicBezTo>
                  <a:cubicBezTo>
                    <a:pt x="116110" y="138191"/>
                    <a:pt x="137929" y="111237"/>
                    <a:pt x="143064" y="104755"/>
                  </a:cubicBezTo>
                  <a:lnTo>
                    <a:pt x="90856" y="6502"/>
                  </a:lnTo>
                  <a:lnTo>
                    <a:pt x="4009" y="46951"/>
                  </a:lnTo>
                  <a:cubicBezTo>
                    <a:pt x="2592" y="47624"/>
                    <a:pt x="927" y="46986"/>
                    <a:pt x="254" y="45605"/>
                  </a:cubicBezTo>
                  <a:cubicBezTo>
                    <a:pt x="-383" y="44188"/>
                    <a:pt x="219" y="42524"/>
                    <a:pt x="1600" y="41851"/>
                  </a:cubicBezTo>
                  <a:lnTo>
                    <a:pt x="90856" y="268"/>
                  </a:lnTo>
                  <a:cubicBezTo>
                    <a:pt x="92202" y="-369"/>
                    <a:pt x="93832" y="162"/>
                    <a:pt x="94540" y="1508"/>
                  </a:cubicBezTo>
                  <a:lnTo>
                    <a:pt x="148873" y="103728"/>
                  </a:lnTo>
                  <a:cubicBezTo>
                    <a:pt x="149404" y="104719"/>
                    <a:pt x="149298" y="105888"/>
                    <a:pt x="148625" y="106774"/>
                  </a:cubicBezTo>
                  <a:cubicBezTo>
                    <a:pt x="147563" y="108155"/>
                    <a:pt x="122061" y="141024"/>
                    <a:pt x="103749" y="153031"/>
                  </a:cubicBezTo>
                  <a:cubicBezTo>
                    <a:pt x="103253" y="153350"/>
                    <a:pt x="102722" y="153492"/>
                    <a:pt x="102226" y="153492"/>
                  </a:cubicBezTo>
                  <a:close/>
                </a:path>
              </a:pathLst>
            </a:custGeom>
            <a:solidFill>
              <a:schemeClr val="accent6">
                <a:lumMod val="75000"/>
              </a:schemeClr>
            </a:solidFill>
            <a:ln w="3515" cap="flat">
              <a:noFill/>
              <a:prstDash val="solid"/>
              <a:miter/>
            </a:ln>
          </p:spPr>
          <p:txBody>
            <a:bodyPr lIns="82296" tIns="41148" rIns="82296" bIns="41148" rtlCol="0" anchor="ctr"/>
            <a:lstStyle/>
            <a:p>
              <a:endParaRPr lang="en-US"/>
            </a:p>
          </p:txBody>
        </p:sp>
        <p:sp>
          <p:nvSpPr>
            <p:cNvPr id="637" name="Freeform: Shape 636">
              <a:extLst>
                <a:ext uri="{FF2B5EF4-FFF2-40B4-BE49-F238E27FC236}">
                  <a16:creationId xmlns:a16="http://schemas.microsoft.com/office/drawing/2014/main" id="{FBFEE194-7D16-44A8-A32D-C6F7FEE9E7A7}"/>
                </a:ext>
              </a:extLst>
            </p:cNvPr>
            <p:cNvSpPr/>
            <p:nvPr/>
          </p:nvSpPr>
          <p:spPr>
            <a:xfrm>
              <a:off x="9687620" y="1970688"/>
              <a:ext cx="35977" cy="17085"/>
            </a:xfrm>
            <a:custGeom>
              <a:avLst/>
              <a:gdLst>
                <a:gd name="connsiteX0" fmla="*/ 2811 w 35977"/>
                <a:gd name="connsiteY0" fmla="*/ 17085 h 17085"/>
                <a:gd name="connsiteX1" fmla="*/ 190 w 35977"/>
                <a:gd name="connsiteY1" fmla="*/ 15279 h 17085"/>
                <a:gd name="connsiteX2" fmla="*/ 1820 w 35977"/>
                <a:gd name="connsiteY2" fmla="*/ 11666 h 17085"/>
                <a:gd name="connsiteX3" fmla="*/ 32174 w 35977"/>
                <a:gd name="connsiteY3" fmla="*/ 190 h 17085"/>
                <a:gd name="connsiteX4" fmla="*/ 35787 w 35977"/>
                <a:gd name="connsiteY4" fmla="*/ 1820 h 17085"/>
                <a:gd name="connsiteX5" fmla="*/ 34157 w 35977"/>
                <a:gd name="connsiteY5" fmla="*/ 5432 h 17085"/>
                <a:gd name="connsiteX6" fmla="*/ 3803 w 35977"/>
                <a:gd name="connsiteY6" fmla="*/ 16908 h 17085"/>
                <a:gd name="connsiteX7" fmla="*/ 2811 w 35977"/>
                <a:gd name="connsiteY7" fmla="*/ 17085 h 17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977" h="17085">
                  <a:moveTo>
                    <a:pt x="2811" y="17085"/>
                  </a:moveTo>
                  <a:cubicBezTo>
                    <a:pt x="1678" y="17085"/>
                    <a:pt x="615" y="16412"/>
                    <a:pt x="190" y="15279"/>
                  </a:cubicBezTo>
                  <a:cubicBezTo>
                    <a:pt x="-376" y="13827"/>
                    <a:pt x="367" y="12197"/>
                    <a:pt x="1820" y="11666"/>
                  </a:cubicBezTo>
                  <a:lnTo>
                    <a:pt x="32174" y="190"/>
                  </a:lnTo>
                  <a:cubicBezTo>
                    <a:pt x="33626" y="-376"/>
                    <a:pt x="35255" y="367"/>
                    <a:pt x="35787" y="1820"/>
                  </a:cubicBezTo>
                  <a:cubicBezTo>
                    <a:pt x="36353" y="3272"/>
                    <a:pt x="35610" y="4901"/>
                    <a:pt x="34157" y="5432"/>
                  </a:cubicBezTo>
                  <a:lnTo>
                    <a:pt x="3803" y="16908"/>
                  </a:lnTo>
                  <a:cubicBezTo>
                    <a:pt x="3484" y="17050"/>
                    <a:pt x="3130" y="17085"/>
                    <a:pt x="2811" y="17085"/>
                  </a:cubicBezTo>
                  <a:close/>
                </a:path>
              </a:pathLst>
            </a:custGeom>
            <a:solidFill>
              <a:srgbClr val="F47C73"/>
            </a:solidFill>
            <a:ln w="3515" cap="flat">
              <a:noFill/>
              <a:prstDash val="solid"/>
              <a:miter/>
            </a:ln>
          </p:spPr>
          <p:txBody>
            <a:bodyPr lIns="82296" tIns="41148" rIns="82296" bIns="41148" rtlCol="0" anchor="ctr"/>
            <a:lstStyle/>
            <a:p>
              <a:endParaRPr lang="en-US"/>
            </a:p>
          </p:txBody>
        </p:sp>
        <p:sp>
          <p:nvSpPr>
            <p:cNvPr id="638" name="Freeform: Shape 637">
              <a:extLst>
                <a:ext uri="{FF2B5EF4-FFF2-40B4-BE49-F238E27FC236}">
                  <a16:creationId xmlns:a16="http://schemas.microsoft.com/office/drawing/2014/main" id="{056D409E-9090-42E1-8349-CC7BE1098A6F}"/>
                </a:ext>
              </a:extLst>
            </p:cNvPr>
            <p:cNvSpPr/>
            <p:nvPr/>
          </p:nvSpPr>
          <p:spPr>
            <a:xfrm>
              <a:off x="9700390" y="1983458"/>
              <a:ext cx="66151" cy="27656"/>
            </a:xfrm>
            <a:custGeom>
              <a:avLst/>
              <a:gdLst>
                <a:gd name="connsiteX0" fmla="*/ 2828 w 66151"/>
                <a:gd name="connsiteY0" fmla="*/ 27657 h 27656"/>
                <a:gd name="connsiteX1" fmla="*/ 172 w 66151"/>
                <a:gd name="connsiteY1" fmla="*/ 25815 h 27656"/>
                <a:gd name="connsiteX2" fmla="*/ 1836 w 66151"/>
                <a:gd name="connsiteY2" fmla="*/ 22202 h 27656"/>
                <a:gd name="connsiteX3" fmla="*/ 62368 w 66151"/>
                <a:gd name="connsiteY3" fmla="*/ 172 h 27656"/>
                <a:gd name="connsiteX4" fmla="*/ 65980 w 66151"/>
                <a:gd name="connsiteY4" fmla="*/ 1836 h 27656"/>
                <a:gd name="connsiteX5" fmla="*/ 64316 w 66151"/>
                <a:gd name="connsiteY5" fmla="*/ 5449 h 27656"/>
                <a:gd name="connsiteX6" fmla="*/ 3784 w 66151"/>
                <a:gd name="connsiteY6" fmla="*/ 27480 h 27656"/>
                <a:gd name="connsiteX7" fmla="*/ 2828 w 66151"/>
                <a:gd name="connsiteY7" fmla="*/ 27657 h 27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151" h="27656">
                  <a:moveTo>
                    <a:pt x="2828" y="27657"/>
                  </a:moveTo>
                  <a:cubicBezTo>
                    <a:pt x="1695" y="27657"/>
                    <a:pt x="597" y="26948"/>
                    <a:pt x="172" y="25815"/>
                  </a:cubicBezTo>
                  <a:cubicBezTo>
                    <a:pt x="-360" y="24363"/>
                    <a:pt x="384" y="22734"/>
                    <a:pt x="1836" y="22202"/>
                  </a:cubicBezTo>
                  <a:lnTo>
                    <a:pt x="62368" y="172"/>
                  </a:lnTo>
                  <a:cubicBezTo>
                    <a:pt x="63855" y="-360"/>
                    <a:pt x="65449" y="384"/>
                    <a:pt x="65980" y="1836"/>
                  </a:cubicBezTo>
                  <a:cubicBezTo>
                    <a:pt x="66512" y="3288"/>
                    <a:pt x="65768" y="4918"/>
                    <a:pt x="64316" y="5449"/>
                  </a:cubicBezTo>
                  <a:lnTo>
                    <a:pt x="3784" y="27480"/>
                  </a:lnTo>
                  <a:cubicBezTo>
                    <a:pt x="3466" y="27586"/>
                    <a:pt x="3147" y="27657"/>
                    <a:pt x="2828" y="27657"/>
                  </a:cubicBezTo>
                  <a:close/>
                </a:path>
              </a:pathLst>
            </a:custGeom>
            <a:solidFill>
              <a:srgbClr val="F47C73"/>
            </a:solidFill>
            <a:ln w="3515" cap="flat">
              <a:noFill/>
              <a:prstDash val="solid"/>
              <a:miter/>
            </a:ln>
          </p:spPr>
          <p:txBody>
            <a:bodyPr lIns="82296" tIns="41148" rIns="82296" bIns="41148" rtlCol="0" anchor="ctr"/>
            <a:lstStyle/>
            <a:p>
              <a:endParaRPr lang="en-US"/>
            </a:p>
          </p:txBody>
        </p:sp>
        <p:sp>
          <p:nvSpPr>
            <p:cNvPr id="639" name="Freeform: Shape 638">
              <a:extLst>
                <a:ext uri="{FF2B5EF4-FFF2-40B4-BE49-F238E27FC236}">
                  <a16:creationId xmlns:a16="http://schemas.microsoft.com/office/drawing/2014/main" id="{11A0B23D-11F4-4FAB-96FB-7876E8130235}"/>
                </a:ext>
              </a:extLst>
            </p:cNvPr>
            <p:cNvSpPr/>
            <p:nvPr/>
          </p:nvSpPr>
          <p:spPr>
            <a:xfrm>
              <a:off x="9707544" y="2012820"/>
              <a:ext cx="54853" cy="23548"/>
            </a:xfrm>
            <a:custGeom>
              <a:avLst/>
              <a:gdLst>
                <a:gd name="connsiteX0" fmla="*/ 2828 w 54853"/>
                <a:gd name="connsiteY0" fmla="*/ 23548 h 23548"/>
                <a:gd name="connsiteX1" fmla="*/ 172 w 54853"/>
                <a:gd name="connsiteY1" fmla="*/ 21706 h 23548"/>
                <a:gd name="connsiteX2" fmla="*/ 1836 w 54853"/>
                <a:gd name="connsiteY2" fmla="*/ 18094 h 23548"/>
                <a:gd name="connsiteX3" fmla="*/ 51069 w 54853"/>
                <a:gd name="connsiteY3" fmla="*/ 172 h 23548"/>
                <a:gd name="connsiteX4" fmla="*/ 54682 w 54853"/>
                <a:gd name="connsiteY4" fmla="*/ 1836 h 23548"/>
                <a:gd name="connsiteX5" fmla="*/ 53017 w 54853"/>
                <a:gd name="connsiteY5" fmla="*/ 5449 h 23548"/>
                <a:gd name="connsiteX6" fmla="*/ 3784 w 54853"/>
                <a:gd name="connsiteY6" fmla="*/ 23371 h 23548"/>
                <a:gd name="connsiteX7" fmla="*/ 2828 w 54853"/>
                <a:gd name="connsiteY7" fmla="*/ 23548 h 23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53" h="23548">
                  <a:moveTo>
                    <a:pt x="2828" y="23548"/>
                  </a:moveTo>
                  <a:cubicBezTo>
                    <a:pt x="1695" y="23548"/>
                    <a:pt x="597" y="22840"/>
                    <a:pt x="172" y="21706"/>
                  </a:cubicBezTo>
                  <a:cubicBezTo>
                    <a:pt x="-360" y="20254"/>
                    <a:pt x="384" y="18625"/>
                    <a:pt x="1836" y="18094"/>
                  </a:cubicBezTo>
                  <a:lnTo>
                    <a:pt x="51069" y="172"/>
                  </a:lnTo>
                  <a:cubicBezTo>
                    <a:pt x="52521" y="-360"/>
                    <a:pt x="54150" y="384"/>
                    <a:pt x="54682" y="1836"/>
                  </a:cubicBezTo>
                  <a:cubicBezTo>
                    <a:pt x="55213" y="3288"/>
                    <a:pt x="54469" y="4918"/>
                    <a:pt x="53017" y="5449"/>
                  </a:cubicBezTo>
                  <a:lnTo>
                    <a:pt x="3784" y="23371"/>
                  </a:lnTo>
                  <a:cubicBezTo>
                    <a:pt x="3466" y="23477"/>
                    <a:pt x="3147" y="23548"/>
                    <a:pt x="2828" y="23548"/>
                  </a:cubicBezTo>
                  <a:close/>
                </a:path>
              </a:pathLst>
            </a:custGeom>
            <a:solidFill>
              <a:srgbClr val="F47C73"/>
            </a:solidFill>
            <a:ln w="3515" cap="flat">
              <a:noFill/>
              <a:prstDash val="solid"/>
              <a:miter/>
            </a:ln>
          </p:spPr>
          <p:txBody>
            <a:bodyPr lIns="82296" tIns="41148" rIns="82296" bIns="41148" rtlCol="0" anchor="ctr"/>
            <a:lstStyle/>
            <a:p>
              <a:endParaRPr lang="en-US"/>
            </a:p>
          </p:txBody>
        </p:sp>
        <p:sp>
          <p:nvSpPr>
            <p:cNvPr id="640" name="Freeform: Shape 639">
              <a:extLst>
                <a:ext uri="{FF2B5EF4-FFF2-40B4-BE49-F238E27FC236}">
                  <a16:creationId xmlns:a16="http://schemas.microsoft.com/office/drawing/2014/main" id="{29CD8597-6C21-4C0F-8380-CB7336A57AFE}"/>
                </a:ext>
              </a:extLst>
            </p:cNvPr>
            <p:cNvSpPr/>
            <p:nvPr/>
          </p:nvSpPr>
          <p:spPr>
            <a:xfrm>
              <a:off x="9919151" y="1811616"/>
              <a:ext cx="87468" cy="75155"/>
            </a:xfrm>
            <a:custGeom>
              <a:avLst/>
              <a:gdLst>
                <a:gd name="connsiteX0" fmla="*/ 6251 w 87468"/>
                <a:gd name="connsiteY0" fmla="*/ 23961 h 75155"/>
                <a:gd name="connsiteX1" fmla="*/ 21729 w 87468"/>
                <a:gd name="connsiteY1" fmla="*/ 55555 h 75155"/>
                <a:gd name="connsiteX2" fmla="*/ 48045 w 87468"/>
                <a:gd name="connsiteY2" fmla="*/ 73619 h 75155"/>
                <a:gd name="connsiteX3" fmla="*/ 84173 w 87468"/>
                <a:gd name="connsiteY3" fmla="*/ 74610 h 75155"/>
                <a:gd name="connsiteX4" fmla="*/ 84633 w 87468"/>
                <a:gd name="connsiteY4" fmla="*/ 74539 h 75155"/>
                <a:gd name="connsiteX5" fmla="*/ 87467 w 87468"/>
                <a:gd name="connsiteY5" fmla="*/ 72627 h 75155"/>
                <a:gd name="connsiteX6" fmla="*/ 69757 w 87468"/>
                <a:gd name="connsiteY6" fmla="*/ 38518 h 75155"/>
                <a:gd name="connsiteX7" fmla="*/ 50914 w 87468"/>
                <a:gd name="connsiteY7" fmla="*/ 35791 h 75155"/>
                <a:gd name="connsiteX8" fmla="*/ 43972 w 87468"/>
                <a:gd name="connsiteY8" fmla="*/ 22190 h 75155"/>
                <a:gd name="connsiteX9" fmla="*/ 39155 w 87468"/>
                <a:gd name="connsiteY9" fmla="*/ 14823 h 75155"/>
                <a:gd name="connsiteX10" fmla="*/ 10430 w 87468"/>
                <a:gd name="connsiteY10" fmla="*/ 195 h 75155"/>
                <a:gd name="connsiteX11" fmla="*/ 159 w 87468"/>
                <a:gd name="connsiteY11" fmla="*/ 9085 h 75155"/>
                <a:gd name="connsiteX12" fmla="*/ 6180 w 87468"/>
                <a:gd name="connsiteY12" fmla="*/ 23925 h 7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7468" h="75155">
                  <a:moveTo>
                    <a:pt x="6251" y="23961"/>
                  </a:moveTo>
                  <a:cubicBezTo>
                    <a:pt x="11457" y="30230"/>
                    <a:pt x="19816" y="47656"/>
                    <a:pt x="21729" y="55555"/>
                  </a:cubicBezTo>
                  <a:cubicBezTo>
                    <a:pt x="21729" y="55555"/>
                    <a:pt x="40784" y="72627"/>
                    <a:pt x="48045" y="73619"/>
                  </a:cubicBezTo>
                  <a:cubicBezTo>
                    <a:pt x="60052" y="75283"/>
                    <a:pt x="72130" y="75567"/>
                    <a:pt x="84173" y="74610"/>
                  </a:cubicBezTo>
                  <a:cubicBezTo>
                    <a:pt x="84350" y="74610"/>
                    <a:pt x="84491" y="74575"/>
                    <a:pt x="84633" y="74539"/>
                  </a:cubicBezTo>
                  <a:cubicBezTo>
                    <a:pt x="85908" y="75000"/>
                    <a:pt x="87538" y="74362"/>
                    <a:pt x="87467" y="72627"/>
                  </a:cubicBezTo>
                  <a:cubicBezTo>
                    <a:pt x="86794" y="59097"/>
                    <a:pt x="83358" y="44469"/>
                    <a:pt x="69757" y="38518"/>
                  </a:cubicBezTo>
                  <a:cubicBezTo>
                    <a:pt x="66853" y="37243"/>
                    <a:pt x="50914" y="35791"/>
                    <a:pt x="50914" y="35791"/>
                  </a:cubicBezTo>
                  <a:cubicBezTo>
                    <a:pt x="50914" y="35791"/>
                    <a:pt x="45424" y="24846"/>
                    <a:pt x="43972" y="22190"/>
                  </a:cubicBezTo>
                  <a:cubicBezTo>
                    <a:pt x="42591" y="19604"/>
                    <a:pt x="40961" y="17160"/>
                    <a:pt x="39155" y="14823"/>
                  </a:cubicBezTo>
                  <a:cubicBezTo>
                    <a:pt x="32567" y="6322"/>
                    <a:pt x="21764" y="-1328"/>
                    <a:pt x="10430" y="195"/>
                  </a:cubicBezTo>
                  <a:cubicBezTo>
                    <a:pt x="5436" y="868"/>
                    <a:pt x="1009" y="3843"/>
                    <a:pt x="159" y="9085"/>
                  </a:cubicBezTo>
                  <a:cubicBezTo>
                    <a:pt x="-798" y="14823"/>
                    <a:pt x="2744" y="19781"/>
                    <a:pt x="6180" y="23925"/>
                  </a:cubicBezTo>
                  <a:close/>
                </a:path>
              </a:pathLst>
            </a:custGeom>
            <a:solidFill>
              <a:srgbClr val="FFBEBB"/>
            </a:solidFill>
            <a:ln w="3515" cap="flat">
              <a:noFill/>
              <a:prstDash val="solid"/>
              <a:miter/>
            </a:ln>
          </p:spPr>
          <p:txBody>
            <a:bodyPr lIns="82296" tIns="41148" rIns="82296" bIns="41148" rtlCol="0" anchor="ctr"/>
            <a:lstStyle/>
            <a:p>
              <a:endParaRPr lang="en-US"/>
            </a:p>
          </p:txBody>
        </p:sp>
        <p:sp>
          <p:nvSpPr>
            <p:cNvPr id="641" name="Freeform: Shape 640">
              <a:extLst>
                <a:ext uri="{FF2B5EF4-FFF2-40B4-BE49-F238E27FC236}">
                  <a16:creationId xmlns:a16="http://schemas.microsoft.com/office/drawing/2014/main" id="{052CC9A4-8C4D-46DF-838D-45675C25A4E5}"/>
                </a:ext>
              </a:extLst>
            </p:cNvPr>
            <p:cNvSpPr/>
            <p:nvPr/>
          </p:nvSpPr>
          <p:spPr>
            <a:xfrm>
              <a:off x="9969153" y="1844582"/>
              <a:ext cx="41877" cy="51349"/>
            </a:xfrm>
            <a:custGeom>
              <a:avLst/>
              <a:gdLst>
                <a:gd name="connsiteX0" fmla="*/ 38421 w 41877"/>
                <a:gd name="connsiteY0" fmla="*/ 51349 h 51349"/>
                <a:gd name="connsiteX1" fmla="*/ 37854 w 41877"/>
                <a:gd name="connsiteY1" fmla="*/ 51279 h 51349"/>
                <a:gd name="connsiteX2" fmla="*/ 35658 w 41877"/>
                <a:gd name="connsiteY2" fmla="*/ 47949 h 51349"/>
                <a:gd name="connsiteX3" fmla="*/ 30133 w 41877"/>
                <a:gd name="connsiteY3" fmla="*/ 20074 h 51349"/>
                <a:gd name="connsiteX4" fmla="*/ 2435 w 41877"/>
                <a:gd name="connsiteY4" fmla="*/ 5588 h 51349"/>
                <a:gd name="connsiteX5" fmla="*/ 26 w 41877"/>
                <a:gd name="connsiteY5" fmla="*/ 2436 h 51349"/>
                <a:gd name="connsiteX6" fmla="*/ 3179 w 41877"/>
                <a:gd name="connsiteY6" fmla="*/ 27 h 51349"/>
                <a:gd name="connsiteX7" fmla="*/ 34772 w 41877"/>
                <a:gd name="connsiteY7" fmla="*/ 16887 h 51349"/>
                <a:gd name="connsiteX8" fmla="*/ 41183 w 41877"/>
                <a:gd name="connsiteY8" fmla="*/ 49118 h 51349"/>
                <a:gd name="connsiteX9" fmla="*/ 38421 w 41877"/>
                <a:gd name="connsiteY9" fmla="*/ 51349 h 51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877" h="51349">
                  <a:moveTo>
                    <a:pt x="38421" y="51349"/>
                  </a:moveTo>
                  <a:cubicBezTo>
                    <a:pt x="38244" y="51349"/>
                    <a:pt x="38031" y="51349"/>
                    <a:pt x="37854" y="51279"/>
                  </a:cubicBezTo>
                  <a:cubicBezTo>
                    <a:pt x="36331" y="50960"/>
                    <a:pt x="35375" y="49472"/>
                    <a:pt x="35658" y="47949"/>
                  </a:cubicBezTo>
                  <a:cubicBezTo>
                    <a:pt x="35658" y="47807"/>
                    <a:pt x="38775" y="32223"/>
                    <a:pt x="30133" y="20074"/>
                  </a:cubicBezTo>
                  <a:cubicBezTo>
                    <a:pt x="24536" y="12176"/>
                    <a:pt x="15221" y="7323"/>
                    <a:pt x="2435" y="5588"/>
                  </a:cubicBezTo>
                  <a:cubicBezTo>
                    <a:pt x="912" y="5375"/>
                    <a:pt x="-186" y="3959"/>
                    <a:pt x="26" y="2436"/>
                  </a:cubicBezTo>
                  <a:cubicBezTo>
                    <a:pt x="239" y="877"/>
                    <a:pt x="1656" y="-185"/>
                    <a:pt x="3179" y="27"/>
                  </a:cubicBezTo>
                  <a:cubicBezTo>
                    <a:pt x="17594" y="1975"/>
                    <a:pt x="28255" y="7642"/>
                    <a:pt x="34772" y="16887"/>
                  </a:cubicBezTo>
                  <a:cubicBezTo>
                    <a:pt x="44796" y="31090"/>
                    <a:pt x="41325" y="48410"/>
                    <a:pt x="41183" y="49118"/>
                  </a:cubicBezTo>
                  <a:cubicBezTo>
                    <a:pt x="40900" y="50428"/>
                    <a:pt x="39731" y="51349"/>
                    <a:pt x="38421" y="51349"/>
                  </a:cubicBezTo>
                  <a:close/>
                </a:path>
              </a:pathLst>
            </a:custGeom>
            <a:solidFill>
              <a:srgbClr val="F47C73"/>
            </a:solidFill>
            <a:ln w="3515" cap="flat">
              <a:noFill/>
              <a:prstDash val="solid"/>
              <a:miter/>
            </a:ln>
          </p:spPr>
          <p:txBody>
            <a:bodyPr lIns="82296" tIns="41148" rIns="82296" bIns="41148" rtlCol="0" anchor="ctr"/>
            <a:lstStyle/>
            <a:p>
              <a:endParaRPr lang="en-US"/>
            </a:p>
          </p:txBody>
        </p:sp>
        <p:sp>
          <p:nvSpPr>
            <p:cNvPr id="642" name="Freeform: Shape 641">
              <a:extLst>
                <a:ext uri="{FF2B5EF4-FFF2-40B4-BE49-F238E27FC236}">
                  <a16:creationId xmlns:a16="http://schemas.microsoft.com/office/drawing/2014/main" id="{13465EC5-7F37-43F5-BE51-778EAEE949F8}"/>
                </a:ext>
              </a:extLst>
            </p:cNvPr>
            <p:cNvSpPr/>
            <p:nvPr/>
          </p:nvSpPr>
          <p:spPr>
            <a:xfrm>
              <a:off x="10023105" y="1822915"/>
              <a:ext cx="17462" cy="36003"/>
            </a:xfrm>
            <a:custGeom>
              <a:avLst/>
              <a:gdLst>
                <a:gd name="connsiteX0" fmla="*/ 2816 w 17462"/>
                <a:gd name="connsiteY0" fmla="*/ 35969 h 36003"/>
                <a:gd name="connsiteX1" fmla="*/ 1789 w 17462"/>
                <a:gd name="connsiteY1" fmla="*/ 35791 h 36003"/>
                <a:gd name="connsiteX2" fmla="*/ 195 w 17462"/>
                <a:gd name="connsiteY2" fmla="*/ 32143 h 36003"/>
                <a:gd name="connsiteX3" fmla="*/ 12025 w 17462"/>
                <a:gd name="connsiteY3" fmla="*/ 1789 h 36003"/>
                <a:gd name="connsiteX4" fmla="*/ 15673 w 17462"/>
                <a:gd name="connsiteY4" fmla="*/ 195 h 36003"/>
                <a:gd name="connsiteX5" fmla="*/ 17267 w 17462"/>
                <a:gd name="connsiteY5" fmla="*/ 3843 h 36003"/>
                <a:gd name="connsiteX6" fmla="*/ 5437 w 17462"/>
                <a:gd name="connsiteY6" fmla="*/ 34198 h 36003"/>
                <a:gd name="connsiteX7" fmla="*/ 2816 w 17462"/>
                <a:gd name="connsiteY7" fmla="*/ 36004 h 36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62" h="36003">
                  <a:moveTo>
                    <a:pt x="2816" y="35969"/>
                  </a:moveTo>
                  <a:cubicBezTo>
                    <a:pt x="2462" y="35969"/>
                    <a:pt x="2143" y="35898"/>
                    <a:pt x="1789" y="35791"/>
                  </a:cubicBezTo>
                  <a:cubicBezTo>
                    <a:pt x="337" y="35225"/>
                    <a:pt x="-372" y="33595"/>
                    <a:pt x="195" y="32143"/>
                  </a:cubicBezTo>
                  <a:lnTo>
                    <a:pt x="12025" y="1789"/>
                  </a:lnTo>
                  <a:cubicBezTo>
                    <a:pt x="12592" y="337"/>
                    <a:pt x="14221" y="-372"/>
                    <a:pt x="15673" y="195"/>
                  </a:cubicBezTo>
                  <a:cubicBezTo>
                    <a:pt x="17126" y="762"/>
                    <a:pt x="17834" y="2391"/>
                    <a:pt x="17267" y="3843"/>
                  </a:cubicBezTo>
                  <a:lnTo>
                    <a:pt x="5437" y="34198"/>
                  </a:lnTo>
                  <a:cubicBezTo>
                    <a:pt x="5012" y="35296"/>
                    <a:pt x="3950" y="36004"/>
                    <a:pt x="2816" y="36004"/>
                  </a:cubicBezTo>
                  <a:close/>
                </a:path>
              </a:pathLst>
            </a:custGeom>
            <a:solidFill>
              <a:srgbClr val="F47C73"/>
            </a:solidFill>
            <a:ln w="3515" cap="flat">
              <a:noFill/>
              <a:prstDash val="solid"/>
              <a:miter/>
            </a:ln>
          </p:spPr>
          <p:txBody>
            <a:bodyPr lIns="82296" tIns="41148" rIns="82296" bIns="41148" rtlCol="0" anchor="ctr"/>
            <a:lstStyle/>
            <a:p>
              <a:endParaRPr lang="en-US"/>
            </a:p>
          </p:txBody>
        </p:sp>
        <p:sp>
          <p:nvSpPr>
            <p:cNvPr id="643" name="Freeform: Shape 642">
              <a:extLst>
                <a:ext uri="{FF2B5EF4-FFF2-40B4-BE49-F238E27FC236}">
                  <a16:creationId xmlns:a16="http://schemas.microsoft.com/office/drawing/2014/main" id="{06E0CDC9-0524-4B41-B441-509F4B3BB7FF}"/>
                </a:ext>
              </a:extLst>
            </p:cNvPr>
            <p:cNvSpPr/>
            <p:nvPr/>
          </p:nvSpPr>
          <p:spPr>
            <a:xfrm>
              <a:off x="9911907" y="1534019"/>
              <a:ext cx="149752" cy="151133"/>
            </a:xfrm>
            <a:custGeom>
              <a:avLst/>
              <a:gdLst>
                <a:gd name="connsiteX0" fmla="*/ 149752 w 149752"/>
                <a:gd name="connsiteY0" fmla="*/ 0 h 151133"/>
                <a:gd name="connsiteX1" fmla="*/ 149752 w 149752"/>
                <a:gd name="connsiteY1" fmla="*/ 151133 h 151133"/>
                <a:gd name="connsiteX2" fmla="*/ 0 w 149752"/>
                <a:gd name="connsiteY2" fmla="*/ 151133 h 151133"/>
                <a:gd name="connsiteX3" fmla="*/ 0 w 149752"/>
                <a:gd name="connsiteY3" fmla="*/ 149752 h 151133"/>
                <a:gd name="connsiteX4" fmla="*/ 149752 w 149752"/>
                <a:gd name="connsiteY4" fmla="*/ 0 h 15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752" h="151133">
                  <a:moveTo>
                    <a:pt x="149752" y="0"/>
                  </a:moveTo>
                  <a:lnTo>
                    <a:pt x="149752" y="151133"/>
                  </a:lnTo>
                  <a:lnTo>
                    <a:pt x="0" y="151133"/>
                  </a:lnTo>
                  <a:cubicBezTo>
                    <a:pt x="0" y="150673"/>
                    <a:pt x="0" y="150212"/>
                    <a:pt x="0" y="149752"/>
                  </a:cubicBezTo>
                  <a:cubicBezTo>
                    <a:pt x="0" y="67048"/>
                    <a:pt x="67048" y="0"/>
                    <a:pt x="149752" y="0"/>
                  </a:cubicBezTo>
                  <a:close/>
                </a:path>
              </a:pathLst>
            </a:custGeom>
            <a:solidFill>
              <a:srgbClr val="FFDE4A"/>
            </a:solidFill>
            <a:ln w="3515" cap="flat">
              <a:noFill/>
              <a:prstDash val="solid"/>
              <a:miter/>
            </a:ln>
          </p:spPr>
          <p:txBody>
            <a:bodyPr lIns="82296" tIns="41148" rIns="82296" bIns="41148" rtlCol="0" anchor="ctr"/>
            <a:lstStyle/>
            <a:p>
              <a:endParaRPr lang="en-US"/>
            </a:p>
          </p:txBody>
        </p:sp>
      </p:grpSp>
      <p:grpSp>
        <p:nvGrpSpPr>
          <p:cNvPr id="677" name="Group 676">
            <a:extLst>
              <a:ext uri="{FF2B5EF4-FFF2-40B4-BE49-F238E27FC236}">
                <a16:creationId xmlns:a16="http://schemas.microsoft.com/office/drawing/2014/main" id="{03ECE47A-59D8-4BC3-A5D1-8059FDEEC07A}"/>
              </a:ext>
            </a:extLst>
          </p:cNvPr>
          <p:cNvGrpSpPr/>
          <p:nvPr/>
        </p:nvGrpSpPr>
        <p:grpSpPr>
          <a:xfrm>
            <a:off x="873522" y="2823512"/>
            <a:ext cx="852324" cy="890380"/>
            <a:chOff x="883025" y="2823512"/>
            <a:chExt cx="852324" cy="890380"/>
          </a:xfrm>
        </p:grpSpPr>
        <p:sp>
          <p:nvSpPr>
            <p:cNvPr id="678" name="Freeform: Shape 677">
              <a:extLst>
                <a:ext uri="{FF2B5EF4-FFF2-40B4-BE49-F238E27FC236}">
                  <a16:creationId xmlns:a16="http://schemas.microsoft.com/office/drawing/2014/main" id="{D1111EF4-CE33-4226-8C66-540D13E8AA1E}"/>
                </a:ext>
              </a:extLst>
            </p:cNvPr>
            <p:cNvSpPr/>
            <p:nvPr/>
          </p:nvSpPr>
          <p:spPr>
            <a:xfrm>
              <a:off x="1332857" y="2908578"/>
              <a:ext cx="174966" cy="173792"/>
            </a:xfrm>
            <a:custGeom>
              <a:avLst/>
              <a:gdLst>
                <a:gd name="connsiteX0" fmla="*/ 139024 w 174966"/>
                <a:gd name="connsiteY0" fmla="*/ 91405 h 173792"/>
                <a:gd name="connsiteX1" fmla="*/ 129718 w 174966"/>
                <a:gd name="connsiteY1" fmla="*/ 46967 h 173792"/>
                <a:gd name="connsiteX2" fmla="*/ 107349 w 174966"/>
                <a:gd name="connsiteY2" fmla="*/ 36295 h 173792"/>
                <a:gd name="connsiteX3" fmla="*/ 80883 w 174966"/>
                <a:gd name="connsiteY3" fmla="*/ 21525 h 173792"/>
                <a:gd name="connsiteX4" fmla="*/ 55654 w 174966"/>
                <a:gd name="connsiteY4" fmla="*/ 20159 h 173792"/>
                <a:gd name="connsiteX5" fmla="*/ 4600 w 174966"/>
                <a:gd name="connsiteY5" fmla="*/ 2657 h 173792"/>
                <a:gd name="connsiteX6" fmla="*/ 5197 w 174966"/>
                <a:gd name="connsiteY6" fmla="*/ 22592 h 173792"/>
                <a:gd name="connsiteX7" fmla="*/ 46476 w 174966"/>
                <a:gd name="connsiteY7" fmla="*/ 53712 h 173792"/>
                <a:gd name="connsiteX8" fmla="*/ 47842 w 174966"/>
                <a:gd name="connsiteY8" fmla="*/ 64384 h 173792"/>
                <a:gd name="connsiteX9" fmla="*/ 15016 w 174966"/>
                <a:gd name="connsiteY9" fmla="*/ 52943 h 173792"/>
                <a:gd name="connsiteX10" fmla="*/ 12796 w 174966"/>
                <a:gd name="connsiteY10" fmla="*/ 76678 h 173792"/>
                <a:gd name="connsiteX11" fmla="*/ 39262 w 174966"/>
                <a:gd name="connsiteY11" fmla="*/ 102546 h 173792"/>
                <a:gd name="connsiteX12" fmla="*/ 56892 w 174966"/>
                <a:gd name="connsiteY12" fmla="*/ 126153 h 173792"/>
                <a:gd name="connsiteX13" fmla="*/ 83572 w 174966"/>
                <a:gd name="connsiteY13" fmla="*/ 173792 h 173792"/>
                <a:gd name="connsiteX14" fmla="*/ 174967 w 174966"/>
                <a:gd name="connsiteY14" fmla="*/ 142545 h 173792"/>
                <a:gd name="connsiteX15" fmla="*/ 139066 w 174966"/>
                <a:gd name="connsiteY15" fmla="*/ 91362 h 173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4966" h="173792">
                  <a:moveTo>
                    <a:pt x="139024" y="91405"/>
                  </a:moveTo>
                  <a:cubicBezTo>
                    <a:pt x="139024" y="91405"/>
                    <a:pt x="137487" y="60286"/>
                    <a:pt x="129718" y="46967"/>
                  </a:cubicBezTo>
                  <a:cubicBezTo>
                    <a:pt x="121948" y="33648"/>
                    <a:pt x="107349" y="36295"/>
                    <a:pt x="107349" y="36295"/>
                  </a:cubicBezTo>
                  <a:cubicBezTo>
                    <a:pt x="103849" y="22592"/>
                    <a:pt x="80883" y="21525"/>
                    <a:pt x="80883" y="21525"/>
                  </a:cubicBezTo>
                  <a:cubicBezTo>
                    <a:pt x="70467" y="12390"/>
                    <a:pt x="55654" y="20159"/>
                    <a:pt x="55654" y="20159"/>
                  </a:cubicBezTo>
                  <a:cubicBezTo>
                    <a:pt x="27779" y="181"/>
                    <a:pt x="12540" y="-3362"/>
                    <a:pt x="4600" y="2657"/>
                  </a:cubicBezTo>
                  <a:cubicBezTo>
                    <a:pt x="-1419" y="7225"/>
                    <a:pt x="-1846" y="18110"/>
                    <a:pt x="5197" y="22592"/>
                  </a:cubicBezTo>
                  <a:cubicBezTo>
                    <a:pt x="12241" y="27074"/>
                    <a:pt x="46476" y="53712"/>
                    <a:pt x="46476" y="53712"/>
                  </a:cubicBezTo>
                  <a:lnTo>
                    <a:pt x="47842" y="64384"/>
                  </a:lnTo>
                  <a:cubicBezTo>
                    <a:pt x="47842" y="64384"/>
                    <a:pt x="29572" y="45046"/>
                    <a:pt x="15016" y="52943"/>
                  </a:cubicBezTo>
                  <a:cubicBezTo>
                    <a:pt x="8570" y="56444"/>
                    <a:pt x="4856" y="67073"/>
                    <a:pt x="12796" y="76678"/>
                  </a:cubicBezTo>
                  <a:cubicBezTo>
                    <a:pt x="20736" y="86282"/>
                    <a:pt x="32859" y="92003"/>
                    <a:pt x="39262" y="102546"/>
                  </a:cubicBezTo>
                  <a:cubicBezTo>
                    <a:pt x="45665" y="113090"/>
                    <a:pt x="56892" y="126153"/>
                    <a:pt x="56892" y="126153"/>
                  </a:cubicBezTo>
                  <a:lnTo>
                    <a:pt x="83572" y="173792"/>
                  </a:lnTo>
                  <a:lnTo>
                    <a:pt x="174967" y="142545"/>
                  </a:lnTo>
                  <a:lnTo>
                    <a:pt x="139066" y="91362"/>
                  </a:lnTo>
                  <a:close/>
                </a:path>
              </a:pathLst>
            </a:custGeom>
            <a:solidFill>
              <a:srgbClr val="FFBEBB"/>
            </a:solidFill>
            <a:ln w="4254" cap="flat">
              <a:noFill/>
              <a:prstDash val="solid"/>
              <a:miter/>
            </a:ln>
          </p:spPr>
          <p:txBody>
            <a:bodyPr rtlCol="0" anchor="ctr"/>
            <a:lstStyle/>
            <a:p>
              <a:endParaRPr lang="en-US"/>
            </a:p>
          </p:txBody>
        </p:sp>
        <p:grpSp>
          <p:nvGrpSpPr>
            <p:cNvPr id="679" name="Graphic 373">
              <a:extLst>
                <a:ext uri="{FF2B5EF4-FFF2-40B4-BE49-F238E27FC236}">
                  <a16:creationId xmlns:a16="http://schemas.microsoft.com/office/drawing/2014/main" id="{09C863DF-261C-4008-BA5D-FBA03FF03D73}"/>
                </a:ext>
              </a:extLst>
            </p:cNvPr>
            <p:cNvGrpSpPr/>
            <p:nvPr/>
          </p:nvGrpSpPr>
          <p:grpSpPr>
            <a:xfrm>
              <a:off x="1377109" y="2925350"/>
              <a:ext cx="88894" cy="73736"/>
              <a:chOff x="1377109" y="2925350"/>
              <a:chExt cx="88894" cy="73736"/>
            </a:xfrm>
            <a:solidFill>
              <a:srgbClr val="F47C73"/>
            </a:solidFill>
          </p:grpSpPr>
          <p:sp>
            <p:nvSpPr>
              <p:cNvPr id="726" name="Freeform: Shape 725">
                <a:extLst>
                  <a:ext uri="{FF2B5EF4-FFF2-40B4-BE49-F238E27FC236}">
                    <a16:creationId xmlns:a16="http://schemas.microsoft.com/office/drawing/2014/main" id="{11A57D82-30FE-4E27-BC1A-194B0C2EF9D8}"/>
                  </a:ext>
                </a:extLst>
              </p:cNvPr>
              <p:cNvSpPr/>
              <p:nvPr/>
            </p:nvSpPr>
            <p:spPr>
              <a:xfrm>
                <a:off x="1430821" y="2941474"/>
                <a:ext cx="35182" cy="57612"/>
              </a:xfrm>
              <a:custGeom>
                <a:avLst/>
                <a:gdLst>
                  <a:gd name="connsiteX0" fmla="*/ 15276 w 35182"/>
                  <a:gd name="connsiteY0" fmla="*/ 57613 h 57612"/>
                  <a:gd name="connsiteX1" fmla="*/ 4433 w 35182"/>
                  <a:gd name="connsiteY1" fmla="*/ 53130 h 57612"/>
                  <a:gd name="connsiteX2" fmla="*/ 1061 w 35182"/>
                  <a:gd name="connsiteY2" fmla="*/ 23889 h 57612"/>
                  <a:gd name="connsiteX3" fmla="*/ 6183 w 35182"/>
                  <a:gd name="connsiteY3" fmla="*/ 2375 h 57612"/>
                  <a:gd name="connsiteX4" fmla="*/ 10452 w 35182"/>
                  <a:gd name="connsiteY4" fmla="*/ 155 h 57612"/>
                  <a:gd name="connsiteX5" fmla="*/ 12672 w 35182"/>
                  <a:gd name="connsiteY5" fmla="*/ 4424 h 57612"/>
                  <a:gd name="connsiteX6" fmla="*/ 7763 w 35182"/>
                  <a:gd name="connsiteY6" fmla="*/ 24871 h 57612"/>
                  <a:gd name="connsiteX7" fmla="*/ 9556 w 35182"/>
                  <a:gd name="connsiteY7" fmla="*/ 48691 h 57612"/>
                  <a:gd name="connsiteX8" fmla="*/ 15319 w 35182"/>
                  <a:gd name="connsiteY8" fmla="*/ 50825 h 57612"/>
                  <a:gd name="connsiteX9" fmla="*/ 28424 w 35182"/>
                  <a:gd name="connsiteY9" fmla="*/ 33366 h 57612"/>
                  <a:gd name="connsiteX10" fmla="*/ 32095 w 35182"/>
                  <a:gd name="connsiteY10" fmla="*/ 30292 h 57612"/>
                  <a:gd name="connsiteX11" fmla="*/ 35168 w 35182"/>
                  <a:gd name="connsiteY11" fmla="*/ 33964 h 57612"/>
                  <a:gd name="connsiteX12" fmla="*/ 15447 w 35182"/>
                  <a:gd name="connsiteY12" fmla="*/ 57613 h 57612"/>
                  <a:gd name="connsiteX13" fmla="*/ 15319 w 35182"/>
                  <a:gd name="connsiteY13" fmla="*/ 57613 h 5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182" h="57612">
                    <a:moveTo>
                      <a:pt x="15276" y="57613"/>
                    </a:moveTo>
                    <a:cubicBezTo>
                      <a:pt x="10666" y="57613"/>
                      <a:pt x="6995" y="56119"/>
                      <a:pt x="4433" y="53130"/>
                    </a:cubicBezTo>
                    <a:cubicBezTo>
                      <a:pt x="-6" y="48051"/>
                      <a:pt x="-1073" y="38745"/>
                      <a:pt x="1061" y="23889"/>
                    </a:cubicBezTo>
                    <a:cubicBezTo>
                      <a:pt x="2427" y="14327"/>
                      <a:pt x="6055" y="2844"/>
                      <a:pt x="6183" y="2375"/>
                    </a:cubicBezTo>
                    <a:cubicBezTo>
                      <a:pt x="6738" y="582"/>
                      <a:pt x="8659" y="-400"/>
                      <a:pt x="10452" y="155"/>
                    </a:cubicBezTo>
                    <a:cubicBezTo>
                      <a:pt x="12245" y="710"/>
                      <a:pt x="13227" y="2631"/>
                      <a:pt x="12672" y="4424"/>
                    </a:cubicBezTo>
                    <a:cubicBezTo>
                      <a:pt x="12672" y="4552"/>
                      <a:pt x="9086" y="15864"/>
                      <a:pt x="7763" y="24871"/>
                    </a:cubicBezTo>
                    <a:cubicBezTo>
                      <a:pt x="5970" y="37293"/>
                      <a:pt x="6568" y="45318"/>
                      <a:pt x="9556" y="48691"/>
                    </a:cubicBezTo>
                    <a:cubicBezTo>
                      <a:pt x="10367" y="49630"/>
                      <a:pt x="11818" y="50825"/>
                      <a:pt x="15319" y="50825"/>
                    </a:cubicBezTo>
                    <a:cubicBezTo>
                      <a:pt x="26674" y="50740"/>
                      <a:pt x="28424" y="33537"/>
                      <a:pt x="28424" y="33366"/>
                    </a:cubicBezTo>
                    <a:cubicBezTo>
                      <a:pt x="28595" y="31488"/>
                      <a:pt x="30302" y="30164"/>
                      <a:pt x="32095" y="30292"/>
                    </a:cubicBezTo>
                    <a:cubicBezTo>
                      <a:pt x="33973" y="30463"/>
                      <a:pt x="35339" y="32128"/>
                      <a:pt x="35168" y="33964"/>
                    </a:cubicBezTo>
                    <a:cubicBezTo>
                      <a:pt x="34443" y="42117"/>
                      <a:pt x="29363" y="57527"/>
                      <a:pt x="15447" y="57613"/>
                    </a:cubicBezTo>
                    <a:lnTo>
                      <a:pt x="15319" y="57613"/>
                    </a:lnTo>
                    <a:close/>
                  </a:path>
                </a:pathLst>
              </a:custGeom>
              <a:solidFill>
                <a:srgbClr val="F47C73"/>
              </a:solidFill>
              <a:ln w="4254" cap="flat">
                <a:noFill/>
                <a:prstDash val="solid"/>
                <a:miter/>
              </a:ln>
            </p:spPr>
            <p:txBody>
              <a:bodyPr rtlCol="0" anchor="ctr"/>
              <a:lstStyle/>
              <a:p>
                <a:endParaRPr lang="en-US"/>
              </a:p>
            </p:txBody>
          </p:sp>
          <p:sp>
            <p:nvSpPr>
              <p:cNvPr id="727" name="Freeform: Shape 726">
                <a:extLst>
                  <a:ext uri="{FF2B5EF4-FFF2-40B4-BE49-F238E27FC236}">
                    <a16:creationId xmlns:a16="http://schemas.microsoft.com/office/drawing/2014/main" id="{5697FC53-1E93-464F-8B7F-17F26F70C3AF}"/>
                  </a:ext>
                </a:extLst>
              </p:cNvPr>
              <p:cNvSpPr/>
              <p:nvPr/>
            </p:nvSpPr>
            <p:spPr>
              <a:xfrm>
                <a:off x="1403802" y="2926685"/>
                <a:ext cx="33929" cy="69840"/>
              </a:xfrm>
              <a:custGeom>
                <a:avLst/>
                <a:gdLst>
                  <a:gd name="connsiteX0" fmla="*/ 17835 w 33929"/>
                  <a:gd name="connsiteY0" fmla="*/ 69841 h 69840"/>
                  <a:gd name="connsiteX1" fmla="*/ 14847 w 33929"/>
                  <a:gd name="connsiteY1" fmla="*/ 69670 h 69840"/>
                  <a:gd name="connsiteX2" fmla="*/ 375 w 33929"/>
                  <a:gd name="connsiteY2" fmla="*/ 35349 h 69840"/>
                  <a:gd name="connsiteX3" fmla="*/ 6693 w 33929"/>
                  <a:gd name="connsiteY3" fmla="*/ 2437 h 69840"/>
                  <a:gd name="connsiteX4" fmla="*/ 10919 w 33929"/>
                  <a:gd name="connsiteY4" fmla="*/ 132 h 69840"/>
                  <a:gd name="connsiteX5" fmla="*/ 13225 w 33929"/>
                  <a:gd name="connsiteY5" fmla="*/ 4358 h 69840"/>
                  <a:gd name="connsiteX6" fmla="*/ 7163 w 33929"/>
                  <a:gd name="connsiteY6" fmla="*/ 35819 h 69840"/>
                  <a:gd name="connsiteX7" fmla="*/ 15615 w 33929"/>
                  <a:gd name="connsiteY7" fmla="*/ 62926 h 69840"/>
                  <a:gd name="connsiteX8" fmla="*/ 27226 w 33929"/>
                  <a:gd name="connsiteY8" fmla="*/ 56864 h 69840"/>
                  <a:gd name="connsiteX9" fmla="*/ 31111 w 33929"/>
                  <a:gd name="connsiteY9" fmla="*/ 54089 h 69840"/>
                  <a:gd name="connsiteX10" fmla="*/ 33885 w 33929"/>
                  <a:gd name="connsiteY10" fmla="*/ 57931 h 69840"/>
                  <a:gd name="connsiteX11" fmla="*/ 17835 w 33929"/>
                  <a:gd name="connsiteY11" fmla="*/ 69798 h 69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929" h="69840">
                    <a:moveTo>
                      <a:pt x="17835" y="69841"/>
                    </a:moveTo>
                    <a:cubicBezTo>
                      <a:pt x="16896" y="69841"/>
                      <a:pt x="15914" y="69798"/>
                      <a:pt x="14847" y="69670"/>
                    </a:cubicBezTo>
                    <a:cubicBezTo>
                      <a:pt x="-1844" y="67835"/>
                      <a:pt x="-307" y="45082"/>
                      <a:pt x="375" y="35349"/>
                    </a:cubicBezTo>
                    <a:cubicBezTo>
                      <a:pt x="1357" y="20750"/>
                      <a:pt x="6480" y="3205"/>
                      <a:pt x="6693" y="2437"/>
                    </a:cubicBezTo>
                    <a:cubicBezTo>
                      <a:pt x="7206" y="644"/>
                      <a:pt x="9084" y="-380"/>
                      <a:pt x="10919" y="132"/>
                    </a:cubicBezTo>
                    <a:cubicBezTo>
                      <a:pt x="12712" y="644"/>
                      <a:pt x="13737" y="2522"/>
                      <a:pt x="13225" y="4358"/>
                    </a:cubicBezTo>
                    <a:cubicBezTo>
                      <a:pt x="13182" y="4529"/>
                      <a:pt x="8102" y="21945"/>
                      <a:pt x="7163" y="35819"/>
                    </a:cubicBezTo>
                    <a:cubicBezTo>
                      <a:pt x="5925" y="54046"/>
                      <a:pt x="8443" y="62114"/>
                      <a:pt x="15615" y="62926"/>
                    </a:cubicBezTo>
                    <a:cubicBezTo>
                      <a:pt x="25391" y="64035"/>
                      <a:pt x="27013" y="58059"/>
                      <a:pt x="27226" y="56864"/>
                    </a:cubicBezTo>
                    <a:cubicBezTo>
                      <a:pt x="27568" y="55028"/>
                      <a:pt x="29318" y="53790"/>
                      <a:pt x="31111" y="54089"/>
                    </a:cubicBezTo>
                    <a:cubicBezTo>
                      <a:pt x="32946" y="54388"/>
                      <a:pt x="34184" y="56095"/>
                      <a:pt x="33885" y="57931"/>
                    </a:cubicBezTo>
                    <a:cubicBezTo>
                      <a:pt x="33202" y="62243"/>
                      <a:pt x="28976" y="69798"/>
                      <a:pt x="17835" y="69798"/>
                    </a:cubicBezTo>
                    <a:close/>
                  </a:path>
                </a:pathLst>
              </a:custGeom>
              <a:solidFill>
                <a:srgbClr val="F47C73"/>
              </a:solidFill>
              <a:ln w="4254" cap="flat">
                <a:noFill/>
                <a:prstDash val="solid"/>
                <a:miter/>
              </a:ln>
            </p:spPr>
            <p:txBody>
              <a:bodyPr rtlCol="0" anchor="ctr"/>
              <a:lstStyle/>
              <a:p>
                <a:endParaRPr lang="en-US"/>
              </a:p>
            </p:txBody>
          </p:sp>
          <p:sp>
            <p:nvSpPr>
              <p:cNvPr id="728" name="Freeform: Shape 727">
                <a:extLst>
                  <a:ext uri="{FF2B5EF4-FFF2-40B4-BE49-F238E27FC236}">
                    <a16:creationId xmlns:a16="http://schemas.microsoft.com/office/drawing/2014/main" id="{46034F15-2DD2-4FEC-ADD2-B5B652EACAE7}"/>
                  </a:ext>
                </a:extLst>
              </p:cNvPr>
              <p:cNvSpPr/>
              <p:nvPr/>
            </p:nvSpPr>
            <p:spPr>
              <a:xfrm>
                <a:off x="1377109" y="2925350"/>
                <a:ext cx="34027" cy="67247"/>
              </a:xfrm>
              <a:custGeom>
                <a:avLst/>
                <a:gdLst>
                  <a:gd name="connsiteX0" fmla="*/ 18745 w 34027"/>
                  <a:gd name="connsiteY0" fmla="*/ 67205 h 67247"/>
                  <a:gd name="connsiteX1" fmla="*/ 14946 w 34027"/>
                  <a:gd name="connsiteY1" fmla="*/ 66864 h 67247"/>
                  <a:gd name="connsiteX2" fmla="*/ 218 w 34027"/>
                  <a:gd name="connsiteY2" fmla="*/ 37537 h 67247"/>
                  <a:gd name="connsiteX3" fmla="*/ 8329 w 34027"/>
                  <a:gd name="connsiteY3" fmla="*/ 1936 h 67247"/>
                  <a:gd name="connsiteX4" fmla="*/ 12854 w 34027"/>
                  <a:gd name="connsiteY4" fmla="*/ 314 h 67247"/>
                  <a:gd name="connsiteX5" fmla="*/ 14476 w 34027"/>
                  <a:gd name="connsiteY5" fmla="*/ 4838 h 67247"/>
                  <a:gd name="connsiteX6" fmla="*/ 7006 w 34027"/>
                  <a:gd name="connsiteY6" fmla="*/ 37921 h 67247"/>
                  <a:gd name="connsiteX7" fmla="*/ 16141 w 34027"/>
                  <a:gd name="connsiteY7" fmla="*/ 60204 h 67247"/>
                  <a:gd name="connsiteX8" fmla="*/ 23697 w 34027"/>
                  <a:gd name="connsiteY8" fmla="*/ 59009 h 67247"/>
                  <a:gd name="connsiteX9" fmla="*/ 27282 w 34027"/>
                  <a:gd name="connsiteY9" fmla="*/ 53118 h 67247"/>
                  <a:gd name="connsiteX10" fmla="*/ 31167 w 34027"/>
                  <a:gd name="connsiteY10" fmla="*/ 50301 h 67247"/>
                  <a:gd name="connsiteX11" fmla="*/ 33984 w 34027"/>
                  <a:gd name="connsiteY11" fmla="*/ 54185 h 67247"/>
                  <a:gd name="connsiteX12" fmla="*/ 27624 w 34027"/>
                  <a:gd name="connsiteY12" fmla="*/ 64559 h 67247"/>
                  <a:gd name="connsiteX13" fmla="*/ 18745 w 34027"/>
                  <a:gd name="connsiteY13" fmla="*/ 67248 h 67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027" h="67247">
                    <a:moveTo>
                      <a:pt x="18745" y="67205"/>
                    </a:moveTo>
                    <a:cubicBezTo>
                      <a:pt x="17550" y="67205"/>
                      <a:pt x="16269" y="67077"/>
                      <a:pt x="14946" y="66864"/>
                    </a:cubicBezTo>
                    <a:cubicBezTo>
                      <a:pt x="-1233" y="64004"/>
                      <a:pt x="-294" y="46800"/>
                      <a:pt x="218" y="37537"/>
                    </a:cubicBezTo>
                    <a:cubicBezTo>
                      <a:pt x="1371" y="16748"/>
                      <a:pt x="8030" y="2533"/>
                      <a:pt x="8329" y="1936"/>
                    </a:cubicBezTo>
                    <a:cubicBezTo>
                      <a:pt x="9140" y="228"/>
                      <a:pt x="11146" y="-455"/>
                      <a:pt x="12854" y="314"/>
                    </a:cubicBezTo>
                    <a:cubicBezTo>
                      <a:pt x="14561" y="1125"/>
                      <a:pt x="15244" y="3131"/>
                      <a:pt x="14476" y="4838"/>
                    </a:cubicBezTo>
                    <a:cubicBezTo>
                      <a:pt x="14391" y="4966"/>
                      <a:pt x="8073" y="18541"/>
                      <a:pt x="7006" y="37921"/>
                    </a:cubicBezTo>
                    <a:cubicBezTo>
                      <a:pt x="6152" y="53033"/>
                      <a:pt x="8542" y="58838"/>
                      <a:pt x="16141" y="60204"/>
                    </a:cubicBezTo>
                    <a:cubicBezTo>
                      <a:pt x="19300" y="60759"/>
                      <a:pt x="21818" y="60375"/>
                      <a:pt x="23697" y="59009"/>
                    </a:cubicBezTo>
                    <a:cubicBezTo>
                      <a:pt x="26557" y="56960"/>
                      <a:pt x="27282" y="53161"/>
                      <a:pt x="27282" y="53118"/>
                    </a:cubicBezTo>
                    <a:cubicBezTo>
                      <a:pt x="27581" y="51283"/>
                      <a:pt x="29289" y="50002"/>
                      <a:pt x="31167" y="50301"/>
                    </a:cubicBezTo>
                    <a:cubicBezTo>
                      <a:pt x="33002" y="50600"/>
                      <a:pt x="34283" y="52307"/>
                      <a:pt x="33984" y="54185"/>
                    </a:cubicBezTo>
                    <a:cubicBezTo>
                      <a:pt x="33856" y="54868"/>
                      <a:pt x="32789" y="60845"/>
                      <a:pt x="27624" y="64559"/>
                    </a:cubicBezTo>
                    <a:cubicBezTo>
                      <a:pt x="25105" y="66351"/>
                      <a:pt x="22117" y="67248"/>
                      <a:pt x="18745" y="67248"/>
                    </a:cubicBezTo>
                    <a:close/>
                  </a:path>
                </a:pathLst>
              </a:custGeom>
              <a:solidFill>
                <a:srgbClr val="F47C73"/>
              </a:solidFill>
              <a:ln w="4254" cap="flat">
                <a:noFill/>
                <a:prstDash val="solid"/>
                <a:miter/>
              </a:ln>
            </p:spPr>
            <p:txBody>
              <a:bodyPr rtlCol="0" anchor="ctr"/>
              <a:lstStyle/>
              <a:p>
                <a:endParaRPr lang="en-US"/>
              </a:p>
            </p:txBody>
          </p:sp>
        </p:grpSp>
        <p:sp>
          <p:nvSpPr>
            <p:cNvPr id="680" name="Freeform: Shape 679">
              <a:extLst>
                <a:ext uri="{FF2B5EF4-FFF2-40B4-BE49-F238E27FC236}">
                  <a16:creationId xmlns:a16="http://schemas.microsoft.com/office/drawing/2014/main" id="{2C084FBF-6FD8-49C0-AABF-4B322E63A12C}"/>
                </a:ext>
              </a:extLst>
            </p:cNvPr>
            <p:cNvSpPr/>
            <p:nvPr/>
          </p:nvSpPr>
          <p:spPr>
            <a:xfrm>
              <a:off x="883025" y="3029139"/>
              <a:ext cx="715532" cy="518784"/>
            </a:xfrm>
            <a:custGeom>
              <a:avLst/>
              <a:gdLst>
                <a:gd name="connsiteX0" fmla="*/ 82408 w 715532"/>
                <a:gd name="connsiteY0" fmla="*/ 139333 h 518784"/>
                <a:gd name="connsiteX1" fmla="*/ 301695 w 715532"/>
                <a:gd name="connsiteY1" fmla="*/ 36754 h 518784"/>
                <a:gd name="connsiteX2" fmla="*/ 421861 w 715532"/>
                <a:gd name="connsiteY2" fmla="*/ 39998 h 518784"/>
                <a:gd name="connsiteX3" fmla="*/ 521665 w 715532"/>
                <a:gd name="connsiteY3" fmla="*/ 92462 h 518784"/>
                <a:gd name="connsiteX4" fmla="*/ 501175 w 715532"/>
                <a:gd name="connsiteY4" fmla="*/ 50841 h 518784"/>
                <a:gd name="connsiteX5" fmla="*/ 622109 w 715532"/>
                <a:gd name="connsiteY5" fmla="*/ 0 h 518784"/>
                <a:gd name="connsiteX6" fmla="*/ 700142 w 715532"/>
                <a:gd name="connsiteY6" fmla="*/ 139290 h 518784"/>
                <a:gd name="connsiteX7" fmla="*/ 663900 w 715532"/>
                <a:gd name="connsiteY7" fmla="*/ 308803 h 518784"/>
                <a:gd name="connsiteX8" fmla="*/ 526787 w 715532"/>
                <a:gd name="connsiteY8" fmla="*/ 323274 h 518784"/>
                <a:gd name="connsiteX9" fmla="*/ 529092 w 715532"/>
                <a:gd name="connsiteY9" fmla="*/ 518784 h 518784"/>
                <a:gd name="connsiteX10" fmla="*/ 180461 w 715532"/>
                <a:gd name="connsiteY10" fmla="*/ 518784 h 518784"/>
                <a:gd name="connsiteX11" fmla="*/ 180461 w 715532"/>
                <a:gd name="connsiteY11" fmla="*/ 373475 h 518784"/>
                <a:gd name="connsiteX12" fmla="*/ 14790 w 715532"/>
                <a:gd name="connsiteY12" fmla="*/ 362974 h 518784"/>
                <a:gd name="connsiteX13" fmla="*/ 82365 w 715532"/>
                <a:gd name="connsiteY13" fmla="*/ 139247 h 518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15532" h="518784">
                  <a:moveTo>
                    <a:pt x="82408" y="139333"/>
                  </a:moveTo>
                  <a:cubicBezTo>
                    <a:pt x="142811" y="80979"/>
                    <a:pt x="196213" y="43542"/>
                    <a:pt x="301695" y="36754"/>
                  </a:cubicBezTo>
                  <a:lnTo>
                    <a:pt x="421861" y="39998"/>
                  </a:lnTo>
                  <a:cubicBezTo>
                    <a:pt x="471293" y="44182"/>
                    <a:pt x="502455" y="68002"/>
                    <a:pt x="521665" y="92462"/>
                  </a:cubicBezTo>
                  <a:lnTo>
                    <a:pt x="501175" y="50841"/>
                  </a:lnTo>
                  <a:lnTo>
                    <a:pt x="622109" y="0"/>
                  </a:lnTo>
                  <a:cubicBezTo>
                    <a:pt x="622109" y="0"/>
                    <a:pt x="671669" y="73636"/>
                    <a:pt x="700142" y="139290"/>
                  </a:cubicBezTo>
                  <a:cubicBezTo>
                    <a:pt x="735829" y="221635"/>
                    <a:pt x="703472" y="287075"/>
                    <a:pt x="663900" y="308803"/>
                  </a:cubicBezTo>
                  <a:cubicBezTo>
                    <a:pt x="627360" y="328866"/>
                    <a:pt x="546978" y="332538"/>
                    <a:pt x="526787" y="323274"/>
                  </a:cubicBezTo>
                  <a:lnTo>
                    <a:pt x="529092" y="518784"/>
                  </a:lnTo>
                  <a:lnTo>
                    <a:pt x="180461" y="518784"/>
                  </a:lnTo>
                  <a:lnTo>
                    <a:pt x="180461" y="373475"/>
                  </a:lnTo>
                  <a:cubicBezTo>
                    <a:pt x="145799" y="393794"/>
                    <a:pt x="57307" y="413516"/>
                    <a:pt x="14790" y="362974"/>
                  </a:cubicBezTo>
                  <a:cubicBezTo>
                    <a:pt x="-23202" y="317810"/>
                    <a:pt x="16541" y="202852"/>
                    <a:pt x="82365" y="139247"/>
                  </a:cubicBezTo>
                  <a:close/>
                </a:path>
              </a:pathLst>
            </a:custGeom>
            <a:solidFill>
              <a:schemeClr val="accent6"/>
            </a:solidFill>
            <a:ln w="4254" cap="flat">
              <a:noFill/>
              <a:prstDash val="solid"/>
              <a:miter/>
            </a:ln>
          </p:spPr>
          <p:txBody>
            <a:bodyPr rtlCol="0" anchor="ctr"/>
            <a:lstStyle/>
            <a:p>
              <a:endParaRPr lang="en-US"/>
            </a:p>
          </p:txBody>
        </p:sp>
        <p:sp>
          <p:nvSpPr>
            <p:cNvPr id="681" name="Freeform: Shape 680">
              <a:extLst>
                <a:ext uri="{FF2B5EF4-FFF2-40B4-BE49-F238E27FC236}">
                  <a16:creationId xmlns:a16="http://schemas.microsoft.com/office/drawing/2014/main" id="{DBDA2A47-4363-4114-892D-0E0DF1A789DB}"/>
                </a:ext>
              </a:extLst>
            </p:cNvPr>
            <p:cNvSpPr/>
            <p:nvPr/>
          </p:nvSpPr>
          <p:spPr>
            <a:xfrm>
              <a:off x="1139129" y="3065850"/>
              <a:ext cx="203193" cy="119141"/>
            </a:xfrm>
            <a:custGeom>
              <a:avLst/>
              <a:gdLst>
                <a:gd name="connsiteX0" fmla="*/ 45591 w 203193"/>
                <a:gd name="connsiteY0" fmla="*/ 0 h 119141"/>
                <a:gd name="connsiteX1" fmla="*/ 165757 w 203193"/>
                <a:gd name="connsiteY1" fmla="*/ 3244 h 119141"/>
                <a:gd name="connsiteX2" fmla="*/ 203194 w 203193"/>
                <a:gd name="connsiteY2" fmla="*/ 10971 h 119141"/>
                <a:gd name="connsiteX3" fmla="*/ 127850 w 203193"/>
                <a:gd name="connsiteY3" fmla="*/ 119142 h 119141"/>
                <a:gd name="connsiteX4" fmla="*/ 0 w 203193"/>
                <a:gd name="connsiteY4" fmla="*/ 5336 h 119141"/>
                <a:gd name="connsiteX5" fmla="*/ 45591 w 203193"/>
                <a:gd name="connsiteY5" fmla="*/ 0 h 119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3193" h="119141">
                  <a:moveTo>
                    <a:pt x="45591" y="0"/>
                  </a:moveTo>
                  <a:lnTo>
                    <a:pt x="165757" y="3244"/>
                  </a:lnTo>
                  <a:cubicBezTo>
                    <a:pt x="179630" y="4397"/>
                    <a:pt x="192052" y="7129"/>
                    <a:pt x="203194" y="10971"/>
                  </a:cubicBezTo>
                  <a:cubicBezTo>
                    <a:pt x="203194" y="10971"/>
                    <a:pt x="171989" y="119312"/>
                    <a:pt x="127850" y="119142"/>
                  </a:cubicBezTo>
                  <a:cubicBezTo>
                    <a:pt x="77991" y="118928"/>
                    <a:pt x="0" y="5336"/>
                    <a:pt x="0" y="5336"/>
                  </a:cubicBezTo>
                  <a:cubicBezTo>
                    <a:pt x="14087" y="2860"/>
                    <a:pt x="29198" y="1067"/>
                    <a:pt x="45591" y="0"/>
                  </a:cubicBezTo>
                  <a:close/>
                </a:path>
              </a:pathLst>
            </a:custGeom>
            <a:solidFill>
              <a:schemeClr val="bg1"/>
            </a:solidFill>
            <a:ln w="4254" cap="flat">
              <a:noFill/>
              <a:prstDash val="solid"/>
              <a:miter/>
            </a:ln>
          </p:spPr>
          <p:txBody>
            <a:bodyPr rtlCol="0" anchor="ctr"/>
            <a:lstStyle/>
            <a:p>
              <a:endParaRPr lang="en-US"/>
            </a:p>
          </p:txBody>
        </p:sp>
        <p:grpSp>
          <p:nvGrpSpPr>
            <p:cNvPr id="682" name="Graphic 373">
              <a:extLst>
                <a:ext uri="{FF2B5EF4-FFF2-40B4-BE49-F238E27FC236}">
                  <a16:creationId xmlns:a16="http://schemas.microsoft.com/office/drawing/2014/main" id="{5F935037-B0E5-41F0-B911-E1D8D2EC93CF}"/>
                </a:ext>
              </a:extLst>
            </p:cNvPr>
            <p:cNvGrpSpPr/>
            <p:nvPr/>
          </p:nvGrpSpPr>
          <p:grpSpPr>
            <a:xfrm>
              <a:off x="1576699" y="2864066"/>
              <a:ext cx="149793" cy="152842"/>
              <a:chOff x="1576699" y="2864066"/>
              <a:chExt cx="149793" cy="152842"/>
            </a:xfrm>
            <a:solidFill>
              <a:srgbClr val="FFB726"/>
            </a:solidFill>
          </p:grpSpPr>
          <p:sp>
            <p:nvSpPr>
              <p:cNvPr id="721" name="Freeform: Shape 720">
                <a:extLst>
                  <a:ext uri="{FF2B5EF4-FFF2-40B4-BE49-F238E27FC236}">
                    <a16:creationId xmlns:a16="http://schemas.microsoft.com/office/drawing/2014/main" id="{9FAA407E-DD89-41DF-BC14-94805AB01B99}"/>
                  </a:ext>
                </a:extLst>
              </p:cNvPr>
              <p:cNvSpPr/>
              <p:nvPr/>
            </p:nvSpPr>
            <p:spPr>
              <a:xfrm rot="16753201">
                <a:off x="1609780" y="2933155"/>
                <a:ext cx="83753" cy="83753"/>
              </a:xfrm>
              <a:custGeom>
                <a:avLst/>
                <a:gdLst>
                  <a:gd name="connsiteX0" fmla="*/ 83753 w 83753"/>
                  <a:gd name="connsiteY0" fmla="*/ 41877 h 83753"/>
                  <a:gd name="connsiteX1" fmla="*/ 41877 w 83753"/>
                  <a:gd name="connsiteY1" fmla="*/ 83753 h 83753"/>
                  <a:gd name="connsiteX2" fmla="*/ 0 w 83753"/>
                  <a:gd name="connsiteY2" fmla="*/ 41877 h 83753"/>
                  <a:gd name="connsiteX3" fmla="*/ 41877 w 83753"/>
                  <a:gd name="connsiteY3" fmla="*/ 0 h 83753"/>
                  <a:gd name="connsiteX4" fmla="*/ 83753 w 83753"/>
                  <a:gd name="connsiteY4" fmla="*/ 41877 h 837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753" h="83753">
                    <a:moveTo>
                      <a:pt x="83753" y="41877"/>
                    </a:moveTo>
                    <a:cubicBezTo>
                      <a:pt x="83753" y="65004"/>
                      <a:pt x="65005" y="83753"/>
                      <a:pt x="41877" y="83753"/>
                    </a:cubicBezTo>
                    <a:cubicBezTo>
                      <a:pt x="18749" y="83753"/>
                      <a:pt x="0" y="65004"/>
                      <a:pt x="0" y="41877"/>
                    </a:cubicBezTo>
                    <a:cubicBezTo>
                      <a:pt x="0" y="18749"/>
                      <a:pt x="18749" y="0"/>
                      <a:pt x="41877" y="0"/>
                    </a:cubicBezTo>
                    <a:cubicBezTo>
                      <a:pt x="65005" y="0"/>
                      <a:pt x="83753" y="18749"/>
                      <a:pt x="83753" y="41877"/>
                    </a:cubicBezTo>
                    <a:close/>
                  </a:path>
                </a:pathLst>
              </a:custGeom>
              <a:solidFill>
                <a:srgbClr val="D7B728"/>
              </a:solidFill>
              <a:ln w="4254" cap="flat">
                <a:noFill/>
                <a:prstDash val="solid"/>
                <a:miter/>
              </a:ln>
            </p:spPr>
            <p:txBody>
              <a:bodyPr rtlCol="0" anchor="ctr"/>
              <a:lstStyle/>
              <a:p>
                <a:endParaRPr lang="en-US"/>
              </a:p>
            </p:txBody>
          </p:sp>
          <p:grpSp>
            <p:nvGrpSpPr>
              <p:cNvPr id="722" name="Graphic 373">
                <a:extLst>
                  <a:ext uri="{FF2B5EF4-FFF2-40B4-BE49-F238E27FC236}">
                    <a16:creationId xmlns:a16="http://schemas.microsoft.com/office/drawing/2014/main" id="{7C59D702-6722-4AE8-9F43-5FA8C21B7A0A}"/>
                  </a:ext>
                </a:extLst>
              </p:cNvPr>
              <p:cNvGrpSpPr/>
              <p:nvPr/>
            </p:nvGrpSpPr>
            <p:grpSpPr>
              <a:xfrm>
                <a:off x="1576699" y="2864066"/>
                <a:ext cx="149793" cy="68428"/>
                <a:chOff x="1576699" y="2864066"/>
                <a:chExt cx="149793" cy="68428"/>
              </a:xfrm>
              <a:solidFill>
                <a:srgbClr val="FFB726"/>
              </a:solidFill>
            </p:grpSpPr>
            <p:sp>
              <p:nvSpPr>
                <p:cNvPr id="723" name="Freeform: Shape 722">
                  <a:extLst>
                    <a:ext uri="{FF2B5EF4-FFF2-40B4-BE49-F238E27FC236}">
                      <a16:creationId xmlns:a16="http://schemas.microsoft.com/office/drawing/2014/main" id="{CBF5E71D-F694-4564-960B-4EBC986E4243}"/>
                    </a:ext>
                  </a:extLst>
                </p:cNvPr>
                <p:cNvSpPr/>
                <p:nvPr/>
              </p:nvSpPr>
              <p:spPr>
                <a:xfrm>
                  <a:off x="1688370" y="2902334"/>
                  <a:ext cx="38122" cy="30160"/>
                </a:xfrm>
                <a:custGeom>
                  <a:avLst/>
                  <a:gdLst>
                    <a:gd name="connsiteX0" fmla="*/ 4889 w 38122"/>
                    <a:gd name="connsiteY0" fmla="*/ 30160 h 30160"/>
                    <a:gd name="connsiteX1" fmla="*/ 919 w 38122"/>
                    <a:gd name="connsiteY1" fmla="*/ 28111 h 30160"/>
                    <a:gd name="connsiteX2" fmla="*/ 2029 w 38122"/>
                    <a:gd name="connsiteY2" fmla="*/ 21281 h 30160"/>
                    <a:gd name="connsiteX3" fmla="*/ 30373 w 38122"/>
                    <a:gd name="connsiteY3" fmla="*/ 919 h 30160"/>
                    <a:gd name="connsiteX4" fmla="*/ 37203 w 38122"/>
                    <a:gd name="connsiteY4" fmla="*/ 2029 h 30160"/>
                    <a:gd name="connsiteX5" fmla="*/ 36094 w 38122"/>
                    <a:gd name="connsiteY5" fmla="*/ 8859 h 30160"/>
                    <a:gd name="connsiteX6" fmla="*/ 7749 w 38122"/>
                    <a:gd name="connsiteY6" fmla="*/ 29221 h 30160"/>
                    <a:gd name="connsiteX7" fmla="*/ 4889 w 38122"/>
                    <a:gd name="connsiteY7" fmla="*/ 30160 h 3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22" h="30160">
                      <a:moveTo>
                        <a:pt x="4889" y="30160"/>
                      </a:moveTo>
                      <a:cubicBezTo>
                        <a:pt x="3352" y="30160"/>
                        <a:pt x="1858" y="29434"/>
                        <a:pt x="919" y="28111"/>
                      </a:cubicBezTo>
                      <a:cubicBezTo>
                        <a:pt x="-661" y="25934"/>
                        <a:pt x="-148" y="22860"/>
                        <a:pt x="2029" y="21281"/>
                      </a:cubicBezTo>
                      <a:lnTo>
                        <a:pt x="30373" y="919"/>
                      </a:lnTo>
                      <a:cubicBezTo>
                        <a:pt x="32551" y="-661"/>
                        <a:pt x="35624" y="-148"/>
                        <a:pt x="37203" y="2029"/>
                      </a:cubicBezTo>
                      <a:cubicBezTo>
                        <a:pt x="38783" y="4206"/>
                        <a:pt x="38271" y="7279"/>
                        <a:pt x="36094" y="8859"/>
                      </a:cubicBezTo>
                      <a:lnTo>
                        <a:pt x="7749" y="29221"/>
                      </a:lnTo>
                      <a:cubicBezTo>
                        <a:pt x="6895" y="29861"/>
                        <a:pt x="5871" y="30160"/>
                        <a:pt x="4889" y="30160"/>
                      </a:cubicBezTo>
                      <a:close/>
                    </a:path>
                  </a:pathLst>
                </a:custGeom>
                <a:solidFill>
                  <a:srgbClr val="D7B728"/>
                </a:solidFill>
                <a:ln w="4254" cap="flat">
                  <a:noFill/>
                  <a:prstDash val="solid"/>
                  <a:miter/>
                </a:ln>
              </p:spPr>
              <p:txBody>
                <a:bodyPr rtlCol="0" anchor="ctr"/>
                <a:lstStyle/>
                <a:p>
                  <a:endParaRPr lang="en-US"/>
                </a:p>
              </p:txBody>
            </p:sp>
            <p:sp>
              <p:nvSpPr>
                <p:cNvPr id="724" name="Freeform: Shape 723">
                  <a:extLst>
                    <a:ext uri="{FF2B5EF4-FFF2-40B4-BE49-F238E27FC236}">
                      <a16:creationId xmlns:a16="http://schemas.microsoft.com/office/drawing/2014/main" id="{B77B0E38-7AC5-4889-BBCC-418A8B96F9DA}"/>
                    </a:ext>
                  </a:extLst>
                </p:cNvPr>
                <p:cNvSpPr/>
                <p:nvPr/>
              </p:nvSpPr>
              <p:spPr>
                <a:xfrm>
                  <a:off x="1576699" y="2902334"/>
                  <a:ext cx="38122" cy="30160"/>
                </a:xfrm>
                <a:custGeom>
                  <a:avLst/>
                  <a:gdLst>
                    <a:gd name="connsiteX0" fmla="*/ 33234 w 38122"/>
                    <a:gd name="connsiteY0" fmla="*/ 30160 h 30160"/>
                    <a:gd name="connsiteX1" fmla="*/ 30373 w 38122"/>
                    <a:gd name="connsiteY1" fmla="*/ 29221 h 30160"/>
                    <a:gd name="connsiteX2" fmla="*/ 2029 w 38122"/>
                    <a:gd name="connsiteY2" fmla="*/ 8859 h 30160"/>
                    <a:gd name="connsiteX3" fmla="*/ 919 w 38122"/>
                    <a:gd name="connsiteY3" fmla="*/ 2029 h 30160"/>
                    <a:gd name="connsiteX4" fmla="*/ 7749 w 38122"/>
                    <a:gd name="connsiteY4" fmla="*/ 919 h 30160"/>
                    <a:gd name="connsiteX5" fmla="*/ 36094 w 38122"/>
                    <a:gd name="connsiteY5" fmla="*/ 21281 h 30160"/>
                    <a:gd name="connsiteX6" fmla="*/ 37203 w 38122"/>
                    <a:gd name="connsiteY6" fmla="*/ 28111 h 30160"/>
                    <a:gd name="connsiteX7" fmla="*/ 33234 w 38122"/>
                    <a:gd name="connsiteY7" fmla="*/ 30160 h 3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22" h="30160">
                      <a:moveTo>
                        <a:pt x="33234" y="30160"/>
                      </a:moveTo>
                      <a:cubicBezTo>
                        <a:pt x="32252" y="30160"/>
                        <a:pt x="31227" y="29861"/>
                        <a:pt x="30373" y="29221"/>
                      </a:cubicBezTo>
                      <a:lnTo>
                        <a:pt x="2029" y="8859"/>
                      </a:lnTo>
                      <a:cubicBezTo>
                        <a:pt x="-148" y="7279"/>
                        <a:pt x="-661" y="4206"/>
                        <a:pt x="919" y="2029"/>
                      </a:cubicBezTo>
                      <a:cubicBezTo>
                        <a:pt x="2498" y="-148"/>
                        <a:pt x="5572" y="-661"/>
                        <a:pt x="7749" y="919"/>
                      </a:cubicBezTo>
                      <a:lnTo>
                        <a:pt x="36094" y="21281"/>
                      </a:lnTo>
                      <a:cubicBezTo>
                        <a:pt x="38271" y="22860"/>
                        <a:pt x="38783" y="25934"/>
                        <a:pt x="37203" y="28111"/>
                      </a:cubicBezTo>
                      <a:cubicBezTo>
                        <a:pt x="36264" y="29434"/>
                        <a:pt x="34728" y="30160"/>
                        <a:pt x="33234" y="30160"/>
                      </a:cubicBezTo>
                      <a:close/>
                    </a:path>
                  </a:pathLst>
                </a:custGeom>
                <a:solidFill>
                  <a:srgbClr val="D7B728"/>
                </a:solidFill>
                <a:ln w="4254" cap="flat">
                  <a:noFill/>
                  <a:prstDash val="solid"/>
                  <a:miter/>
                </a:ln>
              </p:spPr>
              <p:txBody>
                <a:bodyPr rtlCol="0" anchor="ctr"/>
                <a:lstStyle/>
                <a:p>
                  <a:endParaRPr lang="en-US"/>
                </a:p>
              </p:txBody>
            </p:sp>
            <p:sp>
              <p:nvSpPr>
                <p:cNvPr id="725" name="Freeform: Shape 724">
                  <a:extLst>
                    <a:ext uri="{FF2B5EF4-FFF2-40B4-BE49-F238E27FC236}">
                      <a16:creationId xmlns:a16="http://schemas.microsoft.com/office/drawing/2014/main" id="{17796FFE-CDCB-40D4-8DAC-8AE77640694D}"/>
                    </a:ext>
                  </a:extLst>
                </p:cNvPr>
                <p:cNvSpPr/>
                <p:nvPr/>
              </p:nvSpPr>
              <p:spPr>
                <a:xfrm>
                  <a:off x="1646687" y="2864066"/>
                  <a:ext cx="9818" cy="45249"/>
                </a:xfrm>
                <a:custGeom>
                  <a:avLst/>
                  <a:gdLst>
                    <a:gd name="connsiteX0" fmla="*/ 4909 w 9818"/>
                    <a:gd name="connsiteY0" fmla="*/ 45206 h 45249"/>
                    <a:gd name="connsiteX1" fmla="*/ 0 w 9818"/>
                    <a:gd name="connsiteY1" fmla="*/ 40297 h 45249"/>
                    <a:gd name="connsiteX2" fmla="*/ 0 w 9818"/>
                    <a:gd name="connsiteY2" fmla="*/ 4909 h 45249"/>
                    <a:gd name="connsiteX3" fmla="*/ 4909 w 9818"/>
                    <a:gd name="connsiteY3" fmla="*/ 0 h 45249"/>
                    <a:gd name="connsiteX4" fmla="*/ 9818 w 9818"/>
                    <a:gd name="connsiteY4" fmla="*/ 4909 h 45249"/>
                    <a:gd name="connsiteX5" fmla="*/ 9818 w 9818"/>
                    <a:gd name="connsiteY5" fmla="*/ 40340 h 45249"/>
                    <a:gd name="connsiteX6" fmla="*/ 4909 w 9818"/>
                    <a:gd name="connsiteY6" fmla="*/ 45249 h 45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18" h="45249">
                      <a:moveTo>
                        <a:pt x="4909" y="45206"/>
                      </a:moveTo>
                      <a:cubicBezTo>
                        <a:pt x="2220" y="45206"/>
                        <a:pt x="0" y="43029"/>
                        <a:pt x="0" y="40297"/>
                      </a:cubicBezTo>
                      <a:lnTo>
                        <a:pt x="0" y="4909"/>
                      </a:lnTo>
                      <a:cubicBezTo>
                        <a:pt x="0" y="2220"/>
                        <a:pt x="2177" y="0"/>
                        <a:pt x="4909" y="0"/>
                      </a:cubicBezTo>
                      <a:cubicBezTo>
                        <a:pt x="7641" y="0"/>
                        <a:pt x="9818" y="2177"/>
                        <a:pt x="9818" y="4909"/>
                      </a:cubicBezTo>
                      <a:lnTo>
                        <a:pt x="9818" y="40340"/>
                      </a:lnTo>
                      <a:cubicBezTo>
                        <a:pt x="9818" y="43029"/>
                        <a:pt x="7641" y="45249"/>
                        <a:pt x="4909" y="45249"/>
                      </a:cubicBezTo>
                      <a:close/>
                    </a:path>
                  </a:pathLst>
                </a:custGeom>
                <a:solidFill>
                  <a:srgbClr val="D7B728"/>
                </a:solidFill>
                <a:ln w="4254" cap="flat">
                  <a:noFill/>
                  <a:prstDash val="solid"/>
                  <a:miter/>
                </a:ln>
              </p:spPr>
              <p:txBody>
                <a:bodyPr rtlCol="0" anchor="ctr"/>
                <a:lstStyle/>
                <a:p>
                  <a:endParaRPr lang="en-US"/>
                </a:p>
              </p:txBody>
            </p:sp>
          </p:grpSp>
        </p:grpSp>
        <p:grpSp>
          <p:nvGrpSpPr>
            <p:cNvPr id="683" name="Graphic 373">
              <a:extLst>
                <a:ext uri="{FF2B5EF4-FFF2-40B4-BE49-F238E27FC236}">
                  <a16:creationId xmlns:a16="http://schemas.microsoft.com/office/drawing/2014/main" id="{48DB5D1D-05E3-406F-8F7A-3F118BC635B5}"/>
                </a:ext>
              </a:extLst>
            </p:cNvPr>
            <p:cNvGrpSpPr/>
            <p:nvPr/>
          </p:nvGrpSpPr>
          <p:grpSpPr>
            <a:xfrm>
              <a:off x="1159838" y="2853716"/>
              <a:ext cx="168362" cy="226272"/>
              <a:chOff x="1159838" y="2853716"/>
              <a:chExt cx="168362" cy="226272"/>
            </a:xfrm>
          </p:grpSpPr>
          <p:sp>
            <p:nvSpPr>
              <p:cNvPr id="718" name="Freeform: Shape 717">
                <a:extLst>
                  <a:ext uri="{FF2B5EF4-FFF2-40B4-BE49-F238E27FC236}">
                    <a16:creationId xmlns:a16="http://schemas.microsoft.com/office/drawing/2014/main" id="{78CD6AE1-FF42-48E8-87F8-0E83EE4259E0}"/>
                  </a:ext>
                </a:extLst>
              </p:cNvPr>
              <p:cNvSpPr/>
              <p:nvPr/>
            </p:nvSpPr>
            <p:spPr>
              <a:xfrm rot="18900000">
                <a:off x="1159838" y="2853716"/>
                <a:ext cx="162298" cy="162298"/>
              </a:xfrm>
              <a:custGeom>
                <a:avLst/>
                <a:gdLst>
                  <a:gd name="connsiteX0" fmla="*/ 162299 w 162298"/>
                  <a:gd name="connsiteY0" fmla="*/ 81149 h 162298"/>
                  <a:gd name="connsiteX1" fmla="*/ 81149 w 162298"/>
                  <a:gd name="connsiteY1" fmla="*/ 162299 h 162298"/>
                  <a:gd name="connsiteX2" fmla="*/ 0 w 162298"/>
                  <a:gd name="connsiteY2" fmla="*/ 81149 h 162298"/>
                  <a:gd name="connsiteX3" fmla="*/ 81149 w 162298"/>
                  <a:gd name="connsiteY3" fmla="*/ 0 h 162298"/>
                  <a:gd name="connsiteX4" fmla="*/ 162299 w 162298"/>
                  <a:gd name="connsiteY4" fmla="*/ 81149 h 1622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298" h="162298">
                    <a:moveTo>
                      <a:pt x="162299" y="81149"/>
                    </a:moveTo>
                    <a:cubicBezTo>
                      <a:pt x="162299" y="125967"/>
                      <a:pt x="125967" y="162299"/>
                      <a:pt x="81149" y="162299"/>
                    </a:cubicBezTo>
                    <a:cubicBezTo>
                      <a:pt x="36332" y="162299"/>
                      <a:pt x="0" y="125967"/>
                      <a:pt x="0" y="81149"/>
                    </a:cubicBezTo>
                    <a:cubicBezTo>
                      <a:pt x="0" y="36332"/>
                      <a:pt x="36332" y="0"/>
                      <a:pt x="81149" y="0"/>
                    </a:cubicBezTo>
                    <a:cubicBezTo>
                      <a:pt x="125967" y="0"/>
                      <a:pt x="162299" y="36332"/>
                      <a:pt x="162299" y="81149"/>
                    </a:cubicBezTo>
                    <a:close/>
                  </a:path>
                </a:pathLst>
              </a:custGeom>
              <a:solidFill>
                <a:schemeClr val="accent2"/>
              </a:solidFill>
              <a:ln w="4254" cap="flat">
                <a:noFill/>
                <a:prstDash val="solid"/>
                <a:miter/>
              </a:ln>
            </p:spPr>
            <p:txBody>
              <a:bodyPr rtlCol="0" anchor="ctr"/>
              <a:lstStyle/>
              <a:p>
                <a:endParaRPr lang="en-US"/>
              </a:p>
            </p:txBody>
          </p:sp>
          <p:sp>
            <p:nvSpPr>
              <p:cNvPr id="719" name="Freeform: Shape 718">
                <a:extLst>
                  <a:ext uri="{FF2B5EF4-FFF2-40B4-BE49-F238E27FC236}">
                    <a16:creationId xmlns:a16="http://schemas.microsoft.com/office/drawing/2014/main" id="{C1B168C7-5D85-42A1-9C7E-EC92AC662316}"/>
                  </a:ext>
                </a:extLst>
              </p:cNvPr>
              <p:cNvSpPr/>
              <p:nvPr/>
            </p:nvSpPr>
            <p:spPr>
              <a:xfrm>
                <a:off x="1196117" y="2901853"/>
                <a:ext cx="132083" cy="178135"/>
              </a:xfrm>
              <a:custGeom>
                <a:avLst/>
                <a:gdLst>
                  <a:gd name="connsiteX0" fmla="*/ 129515 w 132083"/>
                  <a:gd name="connsiteY0" fmla="*/ 41057 h 178135"/>
                  <a:gd name="connsiteX1" fmla="*/ 125972 w 132083"/>
                  <a:gd name="connsiteY1" fmla="*/ 9895 h 178135"/>
                  <a:gd name="connsiteX2" fmla="*/ 117775 w 132083"/>
                  <a:gd name="connsiteY2" fmla="*/ 5882 h 178135"/>
                  <a:gd name="connsiteX3" fmla="*/ 115470 w 132083"/>
                  <a:gd name="connsiteY3" fmla="*/ 7120 h 178135"/>
                  <a:gd name="connsiteX4" fmla="*/ 92206 w 132083"/>
                  <a:gd name="connsiteY4" fmla="*/ 7120 h 178135"/>
                  <a:gd name="connsiteX5" fmla="*/ 64544 w 132083"/>
                  <a:gd name="connsiteY5" fmla="*/ 34 h 178135"/>
                  <a:gd name="connsiteX6" fmla="*/ 46530 w 132083"/>
                  <a:gd name="connsiteY6" fmla="*/ 18006 h 178135"/>
                  <a:gd name="connsiteX7" fmla="*/ 28387 w 132083"/>
                  <a:gd name="connsiteY7" fmla="*/ 64749 h 178135"/>
                  <a:gd name="connsiteX8" fmla="*/ 1665 w 132083"/>
                  <a:gd name="connsiteY8" fmla="*/ 101716 h 178135"/>
                  <a:gd name="connsiteX9" fmla="*/ 0 w 132083"/>
                  <a:gd name="connsiteY9" fmla="*/ 151917 h 178135"/>
                  <a:gd name="connsiteX10" fmla="*/ 61983 w 132083"/>
                  <a:gd name="connsiteY10" fmla="*/ 177914 h 178135"/>
                  <a:gd name="connsiteX11" fmla="*/ 92632 w 132083"/>
                  <a:gd name="connsiteY11" fmla="*/ 156570 h 178135"/>
                  <a:gd name="connsiteX12" fmla="*/ 92334 w 132083"/>
                  <a:gd name="connsiteY12" fmla="*/ 132622 h 178135"/>
                  <a:gd name="connsiteX13" fmla="*/ 129472 w 132083"/>
                  <a:gd name="connsiteY13" fmla="*/ 41057 h 178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2083" h="178135">
                    <a:moveTo>
                      <a:pt x="129515" y="41057"/>
                    </a:moveTo>
                    <a:cubicBezTo>
                      <a:pt x="129130" y="27866"/>
                      <a:pt x="127892" y="18134"/>
                      <a:pt x="125972" y="9895"/>
                    </a:cubicBezTo>
                    <a:cubicBezTo>
                      <a:pt x="125118" y="6266"/>
                      <a:pt x="121148" y="4303"/>
                      <a:pt x="117775" y="5882"/>
                    </a:cubicBezTo>
                    <a:cubicBezTo>
                      <a:pt x="117050" y="6352"/>
                      <a:pt x="116281" y="6779"/>
                      <a:pt x="115470" y="7120"/>
                    </a:cubicBezTo>
                    <a:cubicBezTo>
                      <a:pt x="110092" y="9255"/>
                      <a:pt x="102280" y="10492"/>
                      <a:pt x="92206" y="7120"/>
                    </a:cubicBezTo>
                    <a:cubicBezTo>
                      <a:pt x="81832" y="3662"/>
                      <a:pt x="72484" y="504"/>
                      <a:pt x="64544" y="34"/>
                    </a:cubicBezTo>
                    <a:cubicBezTo>
                      <a:pt x="54427" y="-606"/>
                      <a:pt x="46060" y="7889"/>
                      <a:pt x="46530" y="18006"/>
                    </a:cubicBezTo>
                    <a:cubicBezTo>
                      <a:pt x="47127" y="31281"/>
                      <a:pt x="45633" y="55485"/>
                      <a:pt x="28387" y="64749"/>
                    </a:cubicBezTo>
                    <a:cubicBezTo>
                      <a:pt x="28387" y="64749"/>
                      <a:pt x="35217" y="102442"/>
                      <a:pt x="1665" y="101716"/>
                    </a:cubicBezTo>
                    <a:lnTo>
                      <a:pt x="0" y="151917"/>
                    </a:lnTo>
                    <a:cubicBezTo>
                      <a:pt x="0" y="151917"/>
                      <a:pt x="25015" y="180945"/>
                      <a:pt x="61983" y="177914"/>
                    </a:cubicBezTo>
                    <a:cubicBezTo>
                      <a:pt x="98993" y="174883"/>
                      <a:pt x="92632" y="156570"/>
                      <a:pt x="92632" y="156570"/>
                    </a:cubicBezTo>
                    <a:lnTo>
                      <a:pt x="92334" y="132622"/>
                    </a:lnTo>
                    <a:cubicBezTo>
                      <a:pt x="144199" y="134927"/>
                      <a:pt x="131009" y="93862"/>
                      <a:pt x="129472" y="41057"/>
                    </a:cubicBezTo>
                    <a:close/>
                  </a:path>
                </a:pathLst>
              </a:custGeom>
              <a:solidFill>
                <a:srgbClr val="FFBEBB"/>
              </a:solidFill>
              <a:ln w="4254" cap="flat">
                <a:noFill/>
                <a:prstDash val="solid"/>
                <a:miter/>
              </a:ln>
            </p:spPr>
            <p:txBody>
              <a:bodyPr rtlCol="0" anchor="ctr"/>
              <a:lstStyle/>
              <a:p>
                <a:endParaRPr lang="en-US"/>
              </a:p>
            </p:txBody>
          </p:sp>
          <p:sp>
            <p:nvSpPr>
              <p:cNvPr id="720" name="Freeform: Shape 719">
                <a:extLst>
                  <a:ext uri="{FF2B5EF4-FFF2-40B4-BE49-F238E27FC236}">
                    <a16:creationId xmlns:a16="http://schemas.microsoft.com/office/drawing/2014/main" id="{ED1BAB70-0C5F-49B4-9B0A-9C959028ED1E}"/>
                  </a:ext>
                </a:extLst>
              </p:cNvPr>
              <p:cNvSpPr/>
              <p:nvPr/>
            </p:nvSpPr>
            <p:spPr>
              <a:xfrm>
                <a:off x="1244805" y="3029193"/>
                <a:ext cx="44397" cy="43956"/>
              </a:xfrm>
              <a:custGeom>
                <a:avLst/>
                <a:gdLst>
                  <a:gd name="connsiteX0" fmla="*/ 574 w 44397"/>
                  <a:gd name="connsiteY0" fmla="*/ 3489 h 43956"/>
                  <a:gd name="connsiteX1" fmla="*/ 37456 w 44397"/>
                  <a:gd name="connsiteY1" fmla="*/ 43957 h 43956"/>
                  <a:gd name="connsiteX2" fmla="*/ 43987 w 44397"/>
                  <a:gd name="connsiteY2" fmla="*/ 29315 h 43956"/>
                  <a:gd name="connsiteX3" fmla="*/ 43689 w 44397"/>
                  <a:gd name="connsiteY3" fmla="*/ 5367 h 43956"/>
                  <a:gd name="connsiteX4" fmla="*/ 2794 w 44397"/>
                  <a:gd name="connsiteY4" fmla="*/ 116 h 43956"/>
                  <a:gd name="connsiteX5" fmla="*/ 574 w 44397"/>
                  <a:gd name="connsiteY5" fmla="*/ 3531 h 4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397" h="43956">
                    <a:moveTo>
                      <a:pt x="574" y="3489"/>
                    </a:moveTo>
                    <a:lnTo>
                      <a:pt x="37456" y="43957"/>
                    </a:lnTo>
                    <a:cubicBezTo>
                      <a:pt x="46848" y="37596"/>
                      <a:pt x="43987" y="29315"/>
                      <a:pt x="43987" y="29315"/>
                    </a:cubicBezTo>
                    <a:lnTo>
                      <a:pt x="43689" y="5367"/>
                    </a:lnTo>
                    <a:cubicBezTo>
                      <a:pt x="43689" y="5367"/>
                      <a:pt x="19442" y="5666"/>
                      <a:pt x="2794" y="116"/>
                    </a:cubicBezTo>
                    <a:cubicBezTo>
                      <a:pt x="745" y="-567"/>
                      <a:pt x="-920" y="1909"/>
                      <a:pt x="574" y="3531"/>
                    </a:cubicBezTo>
                    <a:close/>
                  </a:path>
                </a:pathLst>
              </a:custGeom>
              <a:solidFill>
                <a:srgbClr val="F47C73"/>
              </a:solidFill>
              <a:ln w="4254" cap="flat">
                <a:noFill/>
                <a:prstDash val="solid"/>
                <a:miter/>
              </a:ln>
            </p:spPr>
            <p:txBody>
              <a:bodyPr rtlCol="0" anchor="ctr"/>
              <a:lstStyle/>
              <a:p>
                <a:endParaRPr lang="en-US"/>
              </a:p>
            </p:txBody>
          </p:sp>
        </p:grpSp>
        <p:sp>
          <p:nvSpPr>
            <p:cNvPr id="684" name="Freeform: Shape 683">
              <a:extLst>
                <a:ext uri="{FF2B5EF4-FFF2-40B4-BE49-F238E27FC236}">
                  <a16:creationId xmlns:a16="http://schemas.microsoft.com/office/drawing/2014/main" id="{43D60D29-5B77-4F25-BA1F-8940E4CAA8F2}"/>
                </a:ext>
              </a:extLst>
            </p:cNvPr>
            <p:cNvSpPr/>
            <p:nvPr/>
          </p:nvSpPr>
          <p:spPr>
            <a:xfrm>
              <a:off x="1272585" y="2949093"/>
              <a:ext cx="5484" cy="10507"/>
            </a:xfrm>
            <a:custGeom>
              <a:avLst/>
              <a:gdLst>
                <a:gd name="connsiteX0" fmla="*/ 5450 w 5484"/>
                <a:gd name="connsiteY0" fmla="*/ 6282 h 10507"/>
                <a:gd name="connsiteX1" fmla="*/ 5322 w 5484"/>
                <a:gd name="connsiteY1" fmla="*/ 2525 h 10507"/>
                <a:gd name="connsiteX2" fmla="*/ 4767 w 5484"/>
                <a:gd name="connsiteY2" fmla="*/ 946 h 10507"/>
                <a:gd name="connsiteX3" fmla="*/ 413 w 5484"/>
                <a:gd name="connsiteY3" fmla="*/ 1458 h 10507"/>
                <a:gd name="connsiteX4" fmla="*/ 71 w 5484"/>
                <a:gd name="connsiteY4" fmla="*/ 4702 h 10507"/>
                <a:gd name="connsiteX5" fmla="*/ 882 w 5484"/>
                <a:gd name="connsiteY5" fmla="*/ 9569 h 10507"/>
                <a:gd name="connsiteX6" fmla="*/ 2718 w 5484"/>
                <a:gd name="connsiteY6" fmla="*/ 10508 h 10507"/>
                <a:gd name="connsiteX7" fmla="*/ 5322 w 5484"/>
                <a:gd name="connsiteY7" fmla="*/ 7691 h 10507"/>
                <a:gd name="connsiteX8" fmla="*/ 5450 w 5484"/>
                <a:gd name="connsiteY8" fmla="*/ 6282 h 10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84" h="10507">
                  <a:moveTo>
                    <a:pt x="5450" y="6282"/>
                  </a:moveTo>
                  <a:cubicBezTo>
                    <a:pt x="5535" y="5044"/>
                    <a:pt x="5450" y="3721"/>
                    <a:pt x="5322" y="2525"/>
                  </a:cubicBezTo>
                  <a:cubicBezTo>
                    <a:pt x="5236" y="1970"/>
                    <a:pt x="5151" y="1415"/>
                    <a:pt x="4767" y="946"/>
                  </a:cubicBezTo>
                  <a:cubicBezTo>
                    <a:pt x="3700" y="-505"/>
                    <a:pt x="882" y="-249"/>
                    <a:pt x="413" y="1458"/>
                  </a:cubicBezTo>
                  <a:cubicBezTo>
                    <a:pt x="114" y="2525"/>
                    <a:pt x="28" y="3635"/>
                    <a:pt x="71" y="4702"/>
                  </a:cubicBezTo>
                  <a:cubicBezTo>
                    <a:pt x="71" y="6410"/>
                    <a:pt x="-356" y="8075"/>
                    <a:pt x="882" y="9569"/>
                  </a:cubicBezTo>
                  <a:cubicBezTo>
                    <a:pt x="1309" y="10081"/>
                    <a:pt x="1992" y="10508"/>
                    <a:pt x="2718" y="10508"/>
                  </a:cubicBezTo>
                  <a:cubicBezTo>
                    <a:pt x="4425" y="10508"/>
                    <a:pt x="5108" y="8929"/>
                    <a:pt x="5322" y="7691"/>
                  </a:cubicBezTo>
                  <a:cubicBezTo>
                    <a:pt x="5407" y="7221"/>
                    <a:pt x="5450" y="6794"/>
                    <a:pt x="5450" y="6282"/>
                  </a:cubicBezTo>
                  <a:close/>
                </a:path>
              </a:pathLst>
            </a:custGeom>
            <a:solidFill>
              <a:srgbClr val="1D2333"/>
            </a:solidFill>
            <a:ln w="4254" cap="flat">
              <a:noFill/>
              <a:prstDash val="solid"/>
              <a:miter/>
            </a:ln>
          </p:spPr>
          <p:txBody>
            <a:bodyPr rtlCol="0" anchor="ctr"/>
            <a:lstStyle/>
            <a:p>
              <a:endParaRPr lang="en-US"/>
            </a:p>
          </p:txBody>
        </p:sp>
        <p:sp>
          <p:nvSpPr>
            <p:cNvPr id="685" name="Freeform: Shape 684">
              <a:extLst>
                <a:ext uri="{FF2B5EF4-FFF2-40B4-BE49-F238E27FC236}">
                  <a16:creationId xmlns:a16="http://schemas.microsoft.com/office/drawing/2014/main" id="{56893BF0-BCFB-4A8A-A968-9520A04B8D68}"/>
                </a:ext>
              </a:extLst>
            </p:cNvPr>
            <p:cNvSpPr/>
            <p:nvPr/>
          </p:nvSpPr>
          <p:spPr>
            <a:xfrm>
              <a:off x="1314291" y="2949093"/>
              <a:ext cx="5484" cy="10507"/>
            </a:xfrm>
            <a:custGeom>
              <a:avLst/>
              <a:gdLst>
                <a:gd name="connsiteX0" fmla="*/ 5450 w 5484"/>
                <a:gd name="connsiteY0" fmla="*/ 6282 h 10507"/>
                <a:gd name="connsiteX1" fmla="*/ 5322 w 5484"/>
                <a:gd name="connsiteY1" fmla="*/ 2525 h 10507"/>
                <a:gd name="connsiteX2" fmla="*/ 4767 w 5484"/>
                <a:gd name="connsiteY2" fmla="*/ 946 h 10507"/>
                <a:gd name="connsiteX3" fmla="*/ 413 w 5484"/>
                <a:gd name="connsiteY3" fmla="*/ 1458 h 10507"/>
                <a:gd name="connsiteX4" fmla="*/ 71 w 5484"/>
                <a:gd name="connsiteY4" fmla="*/ 4702 h 10507"/>
                <a:gd name="connsiteX5" fmla="*/ 882 w 5484"/>
                <a:gd name="connsiteY5" fmla="*/ 9569 h 10507"/>
                <a:gd name="connsiteX6" fmla="*/ 2718 w 5484"/>
                <a:gd name="connsiteY6" fmla="*/ 10508 h 10507"/>
                <a:gd name="connsiteX7" fmla="*/ 5322 w 5484"/>
                <a:gd name="connsiteY7" fmla="*/ 7691 h 10507"/>
                <a:gd name="connsiteX8" fmla="*/ 5450 w 5484"/>
                <a:gd name="connsiteY8" fmla="*/ 6282 h 10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84" h="10507">
                  <a:moveTo>
                    <a:pt x="5450" y="6282"/>
                  </a:moveTo>
                  <a:cubicBezTo>
                    <a:pt x="5535" y="5044"/>
                    <a:pt x="5450" y="3721"/>
                    <a:pt x="5322" y="2525"/>
                  </a:cubicBezTo>
                  <a:cubicBezTo>
                    <a:pt x="5236" y="1970"/>
                    <a:pt x="5108" y="1415"/>
                    <a:pt x="4767" y="946"/>
                  </a:cubicBezTo>
                  <a:cubicBezTo>
                    <a:pt x="3700" y="-505"/>
                    <a:pt x="882" y="-249"/>
                    <a:pt x="413" y="1458"/>
                  </a:cubicBezTo>
                  <a:cubicBezTo>
                    <a:pt x="114" y="2525"/>
                    <a:pt x="28" y="3635"/>
                    <a:pt x="71" y="4702"/>
                  </a:cubicBezTo>
                  <a:cubicBezTo>
                    <a:pt x="71" y="6410"/>
                    <a:pt x="-356" y="8075"/>
                    <a:pt x="882" y="9569"/>
                  </a:cubicBezTo>
                  <a:cubicBezTo>
                    <a:pt x="1309" y="10081"/>
                    <a:pt x="1992" y="10508"/>
                    <a:pt x="2718" y="10508"/>
                  </a:cubicBezTo>
                  <a:cubicBezTo>
                    <a:pt x="4425" y="10508"/>
                    <a:pt x="5108" y="8929"/>
                    <a:pt x="5322" y="7691"/>
                  </a:cubicBezTo>
                  <a:cubicBezTo>
                    <a:pt x="5407" y="7221"/>
                    <a:pt x="5450" y="6794"/>
                    <a:pt x="5450" y="6282"/>
                  </a:cubicBezTo>
                  <a:close/>
                </a:path>
              </a:pathLst>
            </a:custGeom>
            <a:solidFill>
              <a:srgbClr val="1D2333"/>
            </a:solidFill>
            <a:ln w="4254" cap="flat">
              <a:noFill/>
              <a:prstDash val="solid"/>
              <a:miter/>
            </a:ln>
          </p:spPr>
          <p:txBody>
            <a:bodyPr rtlCol="0" anchor="ctr"/>
            <a:lstStyle/>
            <a:p>
              <a:endParaRPr lang="en-US"/>
            </a:p>
          </p:txBody>
        </p:sp>
        <p:sp>
          <p:nvSpPr>
            <p:cNvPr id="686" name="Freeform: Shape 685">
              <a:extLst>
                <a:ext uri="{FF2B5EF4-FFF2-40B4-BE49-F238E27FC236}">
                  <a16:creationId xmlns:a16="http://schemas.microsoft.com/office/drawing/2014/main" id="{7530A3E0-FAF1-40B6-A555-F58A9C8CD6E0}"/>
                </a:ext>
              </a:extLst>
            </p:cNvPr>
            <p:cNvSpPr/>
            <p:nvPr/>
          </p:nvSpPr>
          <p:spPr>
            <a:xfrm>
              <a:off x="1251778" y="2967536"/>
              <a:ext cx="22889" cy="22889"/>
            </a:xfrm>
            <a:custGeom>
              <a:avLst/>
              <a:gdLst>
                <a:gd name="connsiteX0" fmla="*/ 11103 w 22889"/>
                <a:gd name="connsiteY0" fmla="*/ 22885 h 22889"/>
                <a:gd name="connsiteX1" fmla="*/ 22885 w 22889"/>
                <a:gd name="connsiteY1" fmla="*/ 11786 h 22889"/>
                <a:gd name="connsiteX2" fmla="*/ 11786 w 22889"/>
                <a:gd name="connsiteY2" fmla="*/ 4 h 22889"/>
                <a:gd name="connsiteX3" fmla="*/ 4 w 22889"/>
                <a:gd name="connsiteY3" fmla="*/ 11103 h 22889"/>
                <a:gd name="connsiteX4" fmla="*/ 11103 w 22889"/>
                <a:gd name="connsiteY4" fmla="*/ 22885 h 228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9" h="22889">
                  <a:moveTo>
                    <a:pt x="11103" y="22885"/>
                  </a:moveTo>
                  <a:cubicBezTo>
                    <a:pt x="17421" y="23056"/>
                    <a:pt x="22714" y="18104"/>
                    <a:pt x="22885" y="11786"/>
                  </a:cubicBezTo>
                  <a:cubicBezTo>
                    <a:pt x="23056" y="5468"/>
                    <a:pt x="18104" y="175"/>
                    <a:pt x="11786" y="4"/>
                  </a:cubicBezTo>
                  <a:cubicBezTo>
                    <a:pt x="5468" y="-166"/>
                    <a:pt x="175" y="4785"/>
                    <a:pt x="4" y="11103"/>
                  </a:cubicBezTo>
                  <a:cubicBezTo>
                    <a:pt x="-166" y="17421"/>
                    <a:pt x="4785" y="22714"/>
                    <a:pt x="11103" y="22885"/>
                  </a:cubicBezTo>
                  <a:close/>
                </a:path>
              </a:pathLst>
            </a:custGeom>
            <a:solidFill>
              <a:srgbClr val="F47C73"/>
            </a:solidFill>
            <a:ln w="4254" cap="flat">
              <a:noFill/>
              <a:prstDash val="solid"/>
              <a:miter/>
            </a:ln>
          </p:spPr>
          <p:txBody>
            <a:bodyPr rtlCol="0" anchor="ctr"/>
            <a:lstStyle/>
            <a:p>
              <a:endParaRPr lang="en-US"/>
            </a:p>
          </p:txBody>
        </p:sp>
        <p:sp>
          <p:nvSpPr>
            <p:cNvPr id="687" name="Freeform: Shape 686">
              <a:extLst>
                <a:ext uri="{FF2B5EF4-FFF2-40B4-BE49-F238E27FC236}">
                  <a16:creationId xmlns:a16="http://schemas.microsoft.com/office/drawing/2014/main" id="{82C9120E-53DB-44F2-A04C-7479E4087ACE}"/>
                </a:ext>
              </a:extLst>
            </p:cNvPr>
            <p:cNvSpPr/>
            <p:nvPr/>
          </p:nvSpPr>
          <p:spPr>
            <a:xfrm>
              <a:off x="1319522" y="2968181"/>
              <a:ext cx="8713" cy="21898"/>
            </a:xfrm>
            <a:custGeom>
              <a:avLst/>
              <a:gdLst>
                <a:gd name="connsiteX0" fmla="*/ 7519 w 8713"/>
                <a:gd name="connsiteY0" fmla="*/ 43 h 21898"/>
                <a:gd name="connsiteX1" fmla="*/ 8714 w 8713"/>
                <a:gd name="connsiteY1" fmla="*/ 21899 h 21898"/>
                <a:gd name="connsiteX2" fmla="*/ 6 w 8713"/>
                <a:gd name="connsiteY2" fmla="*/ 10416 h 21898"/>
                <a:gd name="connsiteX3" fmla="*/ 7519 w 8713"/>
                <a:gd name="connsiteY3" fmla="*/ 0 h 21898"/>
              </a:gdLst>
              <a:ahLst/>
              <a:cxnLst>
                <a:cxn ang="0">
                  <a:pos x="connsiteX0" y="connsiteY0"/>
                </a:cxn>
                <a:cxn ang="0">
                  <a:pos x="connsiteX1" y="connsiteY1"/>
                </a:cxn>
                <a:cxn ang="0">
                  <a:pos x="connsiteX2" y="connsiteY2"/>
                </a:cxn>
                <a:cxn ang="0">
                  <a:pos x="connsiteX3" y="connsiteY3"/>
                </a:cxn>
              </a:cxnLst>
              <a:rect l="l" t="t" r="r" b="b"/>
              <a:pathLst>
                <a:path w="8713" h="21898">
                  <a:moveTo>
                    <a:pt x="7519" y="43"/>
                  </a:moveTo>
                  <a:cubicBezTo>
                    <a:pt x="8074" y="7812"/>
                    <a:pt x="8543" y="15154"/>
                    <a:pt x="8714" y="21899"/>
                  </a:cubicBezTo>
                  <a:cubicBezTo>
                    <a:pt x="3591" y="20661"/>
                    <a:pt x="-165" y="15923"/>
                    <a:pt x="6" y="10416"/>
                  </a:cubicBezTo>
                  <a:cubicBezTo>
                    <a:pt x="134" y="5592"/>
                    <a:pt x="3250" y="1579"/>
                    <a:pt x="7519" y="0"/>
                  </a:cubicBezTo>
                  <a:close/>
                </a:path>
              </a:pathLst>
            </a:custGeom>
            <a:solidFill>
              <a:srgbClr val="F47C73"/>
            </a:solidFill>
            <a:ln w="4254" cap="flat">
              <a:noFill/>
              <a:prstDash val="solid"/>
              <a:miter/>
            </a:ln>
          </p:spPr>
          <p:txBody>
            <a:bodyPr rtlCol="0" anchor="ctr"/>
            <a:lstStyle/>
            <a:p>
              <a:endParaRPr lang="en-US"/>
            </a:p>
          </p:txBody>
        </p:sp>
        <p:grpSp>
          <p:nvGrpSpPr>
            <p:cNvPr id="688" name="Graphic 373">
              <a:extLst>
                <a:ext uri="{FF2B5EF4-FFF2-40B4-BE49-F238E27FC236}">
                  <a16:creationId xmlns:a16="http://schemas.microsoft.com/office/drawing/2014/main" id="{FB5AD282-096A-4349-AFB5-A2A748B71E2A}"/>
                </a:ext>
              </a:extLst>
            </p:cNvPr>
            <p:cNvGrpSpPr/>
            <p:nvPr/>
          </p:nvGrpSpPr>
          <p:grpSpPr>
            <a:xfrm>
              <a:off x="1243330" y="2926731"/>
              <a:ext cx="115427" cy="59037"/>
              <a:chOff x="1243330" y="2926731"/>
              <a:chExt cx="115427" cy="59037"/>
            </a:xfrm>
          </p:grpSpPr>
          <p:sp>
            <p:nvSpPr>
              <p:cNvPr id="714" name="Freeform: Shape 713">
                <a:extLst>
                  <a:ext uri="{FF2B5EF4-FFF2-40B4-BE49-F238E27FC236}">
                    <a16:creationId xmlns:a16="http://schemas.microsoft.com/office/drawing/2014/main" id="{DB93C14F-7A1B-4757-AD76-ABAB3F226F83}"/>
                  </a:ext>
                </a:extLst>
              </p:cNvPr>
              <p:cNvSpPr/>
              <p:nvPr/>
            </p:nvSpPr>
            <p:spPr>
              <a:xfrm>
                <a:off x="1243330" y="2926731"/>
                <a:ext cx="55664" cy="55664"/>
              </a:xfrm>
              <a:custGeom>
                <a:avLst/>
                <a:gdLst>
                  <a:gd name="connsiteX0" fmla="*/ 27832 w 55664"/>
                  <a:gd name="connsiteY0" fmla="*/ 55665 h 55664"/>
                  <a:gd name="connsiteX1" fmla="*/ 0 w 55664"/>
                  <a:gd name="connsiteY1" fmla="*/ 27832 h 55664"/>
                  <a:gd name="connsiteX2" fmla="*/ 27832 w 55664"/>
                  <a:gd name="connsiteY2" fmla="*/ 0 h 55664"/>
                  <a:gd name="connsiteX3" fmla="*/ 55665 w 55664"/>
                  <a:gd name="connsiteY3" fmla="*/ 27832 h 55664"/>
                  <a:gd name="connsiteX4" fmla="*/ 27832 w 55664"/>
                  <a:gd name="connsiteY4" fmla="*/ 55665 h 55664"/>
                  <a:gd name="connsiteX5" fmla="*/ 27832 w 55664"/>
                  <a:gd name="connsiteY5" fmla="*/ 6787 h 55664"/>
                  <a:gd name="connsiteX6" fmla="*/ 6787 w 55664"/>
                  <a:gd name="connsiteY6" fmla="*/ 27832 h 55664"/>
                  <a:gd name="connsiteX7" fmla="*/ 27832 w 55664"/>
                  <a:gd name="connsiteY7" fmla="*/ 48877 h 55664"/>
                  <a:gd name="connsiteX8" fmla="*/ 48877 w 55664"/>
                  <a:gd name="connsiteY8" fmla="*/ 27832 h 55664"/>
                  <a:gd name="connsiteX9" fmla="*/ 27832 w 55664"/>
                  <a:gd name="connsiteY9" fmla="*/ 6787 h 5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664" h="55664">
                    <a:moveTo>
                      <a:pt x="27832" y="55665"/>
                    </a:moveTo>
                    <a:cubicBezTo>
                      <a:pt x="12465" y="55665"/>
                      <a:pt x="0" y="43157"/>
                      <a:pt x="0" y="27832"/>
                    </a:cubicBezTo>
                    <a:cubicBezTo>
                      <a:pt x="0" y="12508"/>
                      <a:pt x="12508" y="0"/>
                      <a:pt x="27832" y="0"/>
                    </a:cubicBezTo>
                    <a:cubicBezTo>
                      <a:pt x="43157" y="0"/>
                      <a:pt x="55665" y="12508"/>
                      <a:pt x="55665" y="27832"/>
                    </a:cubicBezTo>
                    <a:cubicBezTo>
                      <a:pt x="55665" y="43157"/>
                      <a:pt x="43157" y="55665"/>
                      <a:pt x="27832" y="55665"/>
                    </a:cubicBezTo>
                    <a:close/>
                    <a:moveTo>
                      <a:pt x="27832" y="6787"/>
                    </a:moveTo>
                    <a:cubicBezTo>
                      <a:pt x="16221" y="6787"/>
                      <a:pt x="6787" y="16221"/>
                      <a:pt x="6787" y="27832"/>
                    </a:cubicBezTo>
                    <a:cubicBezTo>
                      <a:pt x="6787" y="39443"/>
                      <a:pt x="16221" y="48877"/>
                      <a:pt x="27832" y="48877"/>
                    </a:cubicBezTo>
                    <a:cubicBezTo>
                      <a:pt x="39443" y="48877"/>
                      <a:pt x="48877" y="39443"/>
                      <a:pt x="48877" y="27832"/>
                    </a:cubicBezTo>
                    <a:cubicBezTo>
                      <a:pt x="48877" y="16221"/>
                      <a:pt x="39443" y="6787"/>
                      <a:pt x="27832" y="6787"/>
                    </a:cubicBezTo>
                    <a:close/>
                  </a:path>
                </a:pathLst>
              </a:custGeom>
              <a:solidFill>
                <a:srgbClr val="1D2333"/>
              </a:solidFill>
              <a:ln w="4254" cap="flat">
                <a:noFill/>
                <a:prstDash val="solid"/>
                <a:miter/>
              </a:ln>
            </p:spPr>
            <p:txBody>
              <a:bodyPr rtlCol="0" anchor="ctr"/>
              <a:lstStyle/>
              <a:p>
                <a:endParaRPr lang="en-US"/>
              </a:p>
            </p:txBody>
          </p:sp>
          <p:sp>
            <p:nvSpPr>
              <p:cNvPr id="715" name="Freeform: Shape 714">
                <a:extLst>
                  <a:ext uri="{FF2B5EF4-FFF2-40B4-BE49-F238E27FC236}">
                    <a16:creationId xmlns:a16="http://schemas.microsoft.com/office/drawing/2014/main" id="{94047908-C818-42E0-8E2F-5DA1E7E26ECA}"/>
                  </a:ext>
                </a:extLst>
              </p:cNvPr>
              <p:cNvSpPr/>
              <p:nvPr/>
            </p:nvSpPr>
            <p:spPr>
              <a:xfrm>
                <a:off x="1303093" y="2926817"/>
                <a:ext cx="55664" cy="55664"/>
              </a:xfrm>
              <a:custGeom>
                <a:avLst/>
                <a:gdLst>
                  <a:gd name="connsiteX0" fmla="*/ 27832 w 55664"/>
                  <a:gd name="connsiteY0" fmla="*/ 55579 h 55664"/>
                  <a:gd name="connsiteX1" fmla="*/ 8153 w 55664"/>
                  <a:gd name="connsiteY1" fmla="*/ 47426 h 55664"/>
                  <a:gd name="connsiteX2" fmla="*/ 8153 w 55664"/>
                  <a:gd name="connsiteY2" fmla="*/ 42645 h 55664"/>
                  <a:gd name="connsiteX3" fmla="*/ 12934 w 55664"/>
                  <a:gd name="connsiteY3" fmla="*/ 42645 h 55664"/>
                  <a:gd name="connsiteX4" fmla="*/ 27832 w 55664"/>
                  <a:gd name="connsiteY4" fmla="*/ 48835 h 55664"/>
                  <a:gd name="connsiteX5" fmla="*/ 48877 w 55664"/>
                  <a:gd name="connsiteY5" fmla="*/ 27790 h 55664"/>
                  <a:gd name="connsiteX6" fmla="*/ 27832 w 55664"/>
                  <a:gd name="connsiteY6" fmla="*/ 6745 h 55664"/>
                  <a:gd name="connsiteX7" fmla="*/ 6787 w 55664"/>
                  <a:gd name="connsiteY7" fmla="*/ 27790 h 55664"/>
                  <a:gd name="connsiteX8" fmla="*/ 8239 w 55664"/>
                  <a:gd name="connsiteY8" fmla="*/ 35474 h 55664"/>
                  <a:gd name="connsiteX9" fmla="*/ 6318 w 55664"/>
                  <a:gd name="connsiteY9" fmla="*/ 39870 h 55664"/>
                  <a:gd name="connsiteX10" fmla="*/ 1921 w 55664"/>
                  <a:gd name="connsiteY10" fmla="*/ 37949 h 55664"/>
                  <a:gd name="connsiteX11" fmla="*/ 0 w 55664"/>
                  <a:gd name="connsiteY11" fmla="*/ 27832 h 55664"/>
                  <a:gd name="connsiteX12" fmla="*/ 27832 w 55664"/>
                  <a:gd name="connsiteY12" fmla="*/ 0 h 55664"/>
                  <a:gd name="connsiteX13" fmla="*/ 55665 w 55664"/>
                  <a:gd name="connsiteY13" fmla="*/ 27832 h 55664"/>
                  <a:gd name="connsiteX14" fmla="*/ 27832 w 55664"/>
                  <a:gd name="connsiteY14" fmla="*/ 55665 h 5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664" h="55664">
                    <a:moveTo>
                      <a:pt x="27832" y="55579"/>
                    </a:moveTo>
                    <a:cubicBezTo>
                      <a:pt x="20405" y="55579"/>
                      <a:pt x="13404" y="52677"/>
                      <a:pt x="8153" y="47426"/>
                    </a:cubicBezTo>
                    <a:cubicBezTo>
                      <a:pt x="6830" y="46103"/>
                      <a:pt x="6830" y="43968"/>
                      <a:pt x="8153" y="42645"/>
                    </a:cubicBezTo>
                    <a:cubicBezTo>
                      <a:pt x="9477" y="41322"/>
                      <a:pt x="11611" y="41322"/>
                      <a:pt x="12934" y="42645"/>
                    </a:cubicBezTo>
                    <a:cubicBezTo>
                      <a:pt x="16904" y="46615"/>
                      <a:pt x="22198" y="48835"/>
                      <a:pt x="27832" y="48835"/>
                    </a:cubicBezTo>
                    <a:cubicBezTo>
                      <a:pt x="39444" y="48835"/>
                      <a:pt x="48877" y="39401"/>
                      <a:pt x="48877" y="27790"/>
                    </a:cubicBezTo>
                    <a:cubicBezTo>
                      <a:pt x="48877" y="16179"/>
                      <a:pt x="39444" y="6745"/>
                      <a:pt x="27832" y="6745"/>
                    </a:cubicBezTo>
                    <a:cubicBezTo>
                      <a:pt x="16221" y="6745"/>
                      <a:pt x="6787" y="16179"/>
                      <a:pt x="6787" y="27790"/>
                    </a:cubicBezTo>
                    <a:cubicBezTo>
                      <a:pt x="6787" y="30436"/>
                      <a:pt x="7257" y="32998"/>
                      <a:pt x="8239" y="35474"/>
                    </a:cubicBezTo>
                    <a:cubicBezTo>
                      <a:pt x="8922" y="37224"/>
                      <a:pt x="8068" y="39187"/>
                      <a:pt x="6318" y="39870"/>
                    </a:cubicBezTo>
                    <a:cubicBezTo>
                      <a:pt x="4568" y="40553"/>
                      <a:pt x="2604" y="39700"/>
                      <a:pt x="1921" y="37949"/>
                    </a:cubicBezTo>
                    <a:cubicBezTo>
                      <a:pt x="640" y="34705"/>
                      <a:pt x="0" y="31290"/>
                      <a:pt x="0" y="27832"/>
                    </a:cubicBezTo>
                    <a:cubicBezTo>
                      <a:pt x="0" y="12465"/>
                      <a:pt x="12465" y="0"/>
                      <a:pt x="27832" y="0"/>
                    </a:cubicBezTo>
                    <a:cubicBezTo>
                      <a:pt x="43200" y="0"/>
                      <a:pt x="55665" y="12508"/>
                      <a:pt x="55665" y="27832"/>
                    </a:cubicBezTo>
                    <a:cubicBezTo>
                      <a:pt x="55665" y="43157"/>
                      <a:pt x="43157" y="55665"/>
                      <a:pt x="27832" y="55665"/>
                    </a:cubicBezTo>
                    <a:close/>
                  </a:path>
                </a:pathLst>
              </a:custGeom>
              <a:solidFill>
                <a:srgbClr val="1D2333"/>
              </a:solidFill>
              <a:ln w="4254" cap="flat">
                <a:noFill/>
                <a:prstDash val="solid"/>
                <a:miter/>
              </a:ln>
            </p:spPr>
            <p:txBody>
              <a:bodyPr rtlCol="0" anchor="ctr"/>
              <a:lstStyle/>
              <a:p>
                <a:endParaRPr lang="en-US"/>
              </a:p>
            </p:txBody>
          </p:sp>
          <p:sp>
            <p:nvSpPr>
              <p:cNvPr id="716" name="Freeform: Shape 715">
                <a:extLst>
                  <a:ext uri="{FF2B5EF4-FFF2-40B4-BE49-F238E27FC236}">
                    <a16:creationId xmlns:a16="http://schemas.microsoft.com/office/drawing/2014/main" id="{F564BA94-C580-464B-9AD3-39258109E491}"/>
                  </a:ext>
                </a:extLst>
              </p:cNvPr>
              <p:cNvSpPr/>
              <p:nvPr/>
            </p:nvSpPr>
            <p:spPr>
              <a:xfrm>
                <a:off x="1298108" y="2944447"/>
                <a:ext cx="18937" cy="41321"/>
              </a:xfrm>
              <a:custGeom>
                <a:avLst/>
                <a:gdLst>
                  <a:gd name="connsiteX0" fmla="*/ 8357 w 18937"/>
                  <a:gd name="connsiteY0" fmla="*/ 41321 h 41321"/>
                  <a:gd name="connsiteX1" fmla="*/ 5838 w 18937"/>
                  <a:gd name="connsiteY1" fmla="*/ 40169 h 41321"/>
                  <a:gd name="connsiteX2" fmla="*/ 6137 w 18937"/>
                  <a:gd name="connsiteY2" fmla="*/ 35388 h 41321"/>
                  <a:gd name="connsiteX3" fmla="*/ 12071 w 18937"/>
                  <a:gd name="connsiteY3" fmla="*/ 25698 h 41321"/>
                  <a:gd name="connsiteX4" fmla="*/ 4600 w 18937"/>
                  <a:gd name="connsiteY4" fmla="*/ 20404 h 41321"/>
                  <a:gd name="connsiteX5" fmla="*/ 2039 w 18937"/>
                  <a:gd name="connsiteY5" fmla="*/ 17587 h 41321"/>
                  <a:gd name="connsiteX6" fmla="*/ 33 w 18937"/>
                  <a:gd name="connsiteY6" fmla="*/ 3884 h 41321"/>
                  <a:gd name="connsiteX7" fmla="*/ 2893 w 18937"/>
                  <a:gd name="connsiteY7" fmla="*/ 42 h 41321"/>
                  <a:gd name="connsiteX8" fmla="*/ 6735 w 18937"/>
                  <a:gd name="connsiteY8" fmla="*/ 2902 h 41321"/>
                  <a:gd name="connsiteX9" fmla="*/ 8442 w 18937"/>
                  <a:gd name="connsiteY9" fmla="*/ 14513 h 41321"/>
                  <a:gd name="connsiteX10" fmla="*/ 18644 w 18937"/>
                  <a:gd name="connsiteY10" fmla="*/ 24033 h 41321"/>
                  <a:gd name="connsiteX11" fmla="*/ 10619 w 18937"/>
                  <a:gd name="connsiteY11" fmla="*/ 40425 h 41321"/>
                  <a:gd name="connsiteX12" fmla="*/ 8357 w 18937"/>
                  <a:gd name="connsiteY12" fmla="*/ 41279 h 41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937" h="41321">
                    <a:moveTo>
                      <a:pt x="8357" y="41321"/>
                    </a:moveTo>
                    <a:cubicBezTo>
                      <a:pt x="7418" y="41321"/>
                      <a:pt x="6478" y="40937"/>
                      <a:pt x="5838" y="40169"/>
                    </a:cubicBezTo>
                    <a:cubicBezTo>
                      <a:pt x="4600" y="38760"/>
                      <a:pt x="4728" y="36626"/>
                      <a:pt x="6137" y="35388"/>
                    </a:cubicBezTo>
                    <a:cubicBezTo>
                      <a:pt x="10534" y="31460"/>
                      <a:pt x="12668" y="28045"/>
                      <a:pt x="12071" y="25698"/>
                    </a:cubicBezTo>
                    <a:cubicBezTo>
                      <a:pt x="11345" y="22709"/>
                      <a:pt x="6308" y="20831"/>
                      <a:pt x="4600" y="20404"/>
                    </a:cubicBezTo>
                    <a:cubicBezTo>
                      <a:pt x="3277" y="20063"/>
                      <a:pt x="2252" y="18953"/>
                      <a:pt x="2039" y="17587"/>
                    </a:cubicBezTo>
                    <a:lnTo>
                      <a:pt x="33" y="3884"/>
                    </a:lnTo>
                    <a:cubicBezTo>
                      <a:pt x="-224" y="2049"/>
                      <a:pt x="1057" y="298"/>
                      <a:pt x="2893" y="42"/>
                    </a:cubicBezTo>
                    <a:cubicBezTo>
                      <a:pt x="4771" y="-257"/>
                      <a:pt x="6478" y="1067"/>
                      <a:pt x="6735" y="2902"/>
                    </a:cubicBezTo>
                    <a:lnTo>
                      <a:pt x="8442" y="14513"/>
                    </a:lnTo>
                    <a:cubicBezTo>
                      <a:pt x="11686" y="15709"/>
                      <a:pt x="17278" y="18526"/>
                      <a:pt x="18644" y="24033"/>
                    </a:cubicBezTo>
                    <a:cubicBezTo>
                      <a:pt x="19882" y="29070"/>
                      <a:pt x="17193" y="34577"/>
                      <a:pt x="10619" y="40425"/>
                    </a:cubicBezTo>
                    <a:cubicBezTo>
                      <a:pt x="9979" y="40980"/>
                      <a:pt x="9168" y="41279"/>
                      <a:pt x="8357" y="41279"/>
                    </a:cubicBezTo>
                    <a:close/>
                  </a:path>
                </a:pathLst>
              </a:custGeom>
              <a:solidFill>
                <a:srgbClr val="F47C73"/>
              </a:solidFill>
              <a:ln w="4254" cap="flat">
                <a:noFill/>
                <a:prstDash val="solid"/>
                <a:miter/>
              </a:ln>
            </p:spPr>
            <p:txBody>
              <a:bodyPr rtlCol="0" anchor="ctr"/>
              <a:lstStyle/>
              <a:p>
                <a:endParaRPr lang="en-US"/>
              </a:p>
            </p:txBody>
          </p:sp>
          <p:sp>
            <p:nvSpPr>
              <p:cNvPr id="717" name="Freeform: Shape 716">
                <a:extLst>
                  <a:ext uri="{FF2B5EF4-FFF2-40B4-BE49-F238E27FC236}">
                    <a16:creationId xmlns:a16="http://schemas.microsoft.com/office/drawing/2014/main" id="{8F800382-C39C-48FA-A293-A517668CE97D}"/>
                  </a:ext>
                </a:extLst>
              </p:cNvPr>
              <p:cNvSpPr/>
              <p:nvPr/>
            </p:nvSpPr>
            <p:spPr>
              <a:xfrm>
                <a:off x="1292207" y="2950252"/>
                <a:ext cx="17373" cy="6744"/>
              </a:xfrm>
              <a:custGeom>
                <a:avLst/>
                <a:gdLst>
                  <a:gd name="connsiteX0" fmla="*/ 14002 w 17373"/>
                  <a:gd name="connsiteY0" fmla="*/ 6745 h 6744"/>
                  <a:gd name="connsiteX1" fmla="*/ 3372 w 17373"/>
                  <a:gd name="connsiteY1" fmla="*/ 6745 h 6744"/>
                  <a:gd name="connsiteX2" fmla="*/ 0 w 17373"/>
                  <a:gd name="connsiteY2" fmla="*/ 3372 h 6744"/>
                  <a:gd name="connsiteX3" fmla="*/ 3372 w 17373"/>
                  <a:gd name="connsiteY3" fmla="*/ 0 h 6744"/>
                  <a:gd name="connsiteX4" fmla="*/ 14002 w 17373"/>
                  <a:gd name="connsiteY4" fmla="*/ 0 h 6744"/>
                  <a:gd name="connsiteX5" fmla="*/ 17374 w 17373"/>
                  <a:gd name="connsiteY5" fmla="*/ 3372 h 6744"/>
                  <a:gd name="connsiteX6" fmla="*/ 14002 w 17373"/>
                  <a:gd name="connsiteY6" fmla="*/ 6745 h 6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373" h="6744">
                    <a:moveTo>
                      <a:pt x="14002" y="6745"/>
                    </a:moveTo>
                    <a:lnTo>
                      <a:pt x="3372" y="6745"/>
                    </a:lnTo>
                    <a:cubicBezTo>
                      <a:pt x="1494" y="6745"/>
                      <a:pt x="0" y="5208"/>
                      <a:pt x="0" y="3372"/>
                    </a:cubicBezTo>
                    <a:cubicBezTo>
                      <a:pt x="0" y="1537"/>
                      <a:pt x="1537" y="0"/>
                      <a:pt x="3372" y="0"/>
                    </a:cubicBezTo>
                    <a:lnTo>
                      <a:pt x="14002" y="0"/>
                    </a:lnTo>
                    <a:cubicBezTo>
                      <a:pt x="15880" y="0"/>
                      <a:pt x="17374" y="1537"/>
                      <a:pt x="17374" y="3372"/>
                    </a:cubicBezTo>
                    <a:cubicBezTo>
                      <a:pt x="17374" y="5208"/>
                      <a:pt x="15837" y="6745"/>
                      <a:pt x="14002" y="6745"/>
                    </a:cubicBezTo>
                    <a:close/>
                  </a:path>
                </a:pathLst>
              </a:custGeom>
              <a:solidFill>
                <a:srgbClr val="1D2333"/>
              </a:solidFill>
              <a:ln w="4254" cap="flat">
                <a:noFill/>
                <a:prstDash val="solid"/>
                <a:miter/>
              </a:ln>
            </p:spPr>
            <p:txBody>
              <a:bodyPr rtlCol="0" anchor="ctr"/>
              <a:lstStyle/>
              <a:p>
                <a:endParaRPr lang="en-US"/>
              </a:p>
            </p:txBody>
          </p:sp>
        </p:grpSp>
        <p:grpSp>
          <p:nvGrpSpPr>
            <p:cNvPr id="689" name="Graphic 373">
              <a:extLst>
                <a:ext uri="{FF2B5EF4-FFF2-40B4-BE49-F238E27FC236}">
                  <a16:creationId xmlns:a16="http://schemas.microsoft.com/office/drawing/2014/main" id="{2B8C7F9A-66DB-426A-92C1-0C8C3230C65E}"/>
                </a:ext>
              </a:extLst>
            </p:cNvPr>
            <p:cNvGrpSpPr/>
            <p:nvPr/>
          </p:nvGrpSpPr>
          <p:grpSpPr>
            <a:xfrm>
              <a:off x="1207535" y="2949079"/>
              <a:ext cx="37040" cy="39839"/>
              <a:chOff x="1207535" y="2949079"/>
              <a:chExt cx="37040" cy="39839"/>
            </a:xfrm>
          </p:grpSpPr>
          <p:sp>
            <p:nvSpPr>
              <p:cNvPr id="712" name="Freeform: Shape 711">
                <a:extLst>
                  <a:ext uri="{FF2B5EF4-FFF2-40B4-BE49-F238E27FC236}">
                    <a16:creationId xmlns:a16="http://schemas.microsoft.com/office/drawing/2014/main" id="{0C2EEED8-4537-4F20-8431-B163D2232D16}"/>
                  </a:ext>
                </a:extLst>
              </p:cNvPr>
              <p:cNvSpPr/>
              <p:nvPr/>
            </p:nvSpPr>
            <p:spPr>
              <a:xfrm>
                <a:off x="1207535" y="2949079"/>
                <a:ext cx="37040" cy="39839"/>
              </a:xfrm>
              <a:custGeom>
                <a:avLst/>
                <a:gdLst>
                  <a:gd name="connsiteX0" fmla="*/ 9286 w 37040"/>
                  <a:gd name="connsiteY0" fmla="*/ 30713 h 39839"/>
                  <a:gd name="connsiteX1" fmla="*/ 2541 w 37040"/>
                  <a:gd name="connsiteY1" fmla="*/ 7192 h 39839"/>
                  <a:gd name="connsiteX2" fmla="*/ 36307 w 37040"/>
                  <a:gd name="connsiteY2" fmla="*/ 23925 h 39839"/>
                  <a:gd name="connsiteX3" fmla="*/ 9286 w 37040"/>
                  <a:gd name="connsiteY3" fmla="*/ 30713 h 39839"/>
                </a:gdLst>
                <a:ahLst/>
                <a:cxnLst>
                  <a:cxn ang="0">
                    <a:pos x="connsiteX0" y="connsiteY0"/>
                  </a:cxn>
                  <a:cxn ang="0">
                    <a:pos x="connsiteX1" y="connsiteY1"/>
                  </a:cxn>
                  <a:cxn ang="0">
                    <a:pos x="connsiteX2" y="connsiteY2"/>
                  </a:cxn>
                  <a:cxn ang="0">
                    <a:pos x="connsiteX3" y="connsiteY3"/>
                  </a:cxn>
                </a:cxnLst>
                <a:rect l="l" t="t" r="r" b="b"/>
                <a:pathLst>
                  <a:path w="37040" h="39839">
                    <a:moveTo>
                      <a:pt x="9286" y="30713"/>
                    </a:moveTo>
                    <a:cubicBezTo>
                      <a:pt x="9286" y="30713"/>
                      <a:pt x="-5868" y="16583"/>
                      <a:pt x="2541" y="7192"/>
                    </a:cubicBezTo>
                    <a:cubicBezTo>
                      <a:pt x="10994" y="-2157"/>
                      <a:pt x="30288" y="-7365"/>
                      <a:pt x="36307" y="23925"/>
                    </a:cubicBezTo>
                    <a:cubicBezTo>
                      <a:pt x="42326" y="55216"/>
                      <a:pt x="9286" y="30713"/>
                      <a:pt x="9286" y="30713"/>
                    </a:cubicBezTo>
                    <a:close/>
                  </a:path>
                </a:pathLst>
              </a:custGeom>
              <a:solidFill>
                <a:srgbClr val="FFBEBB"/>
              </a:solidFill>
              <a:ln w="4254" cap="flat">
                <a:noFill/>
                <a:prstDash val="solid"/>
                <a:miter/>
              </a:ln>
            </p:spPr>
            <p:txBody>
              <a:bodyPr rtlCol="0" anchor="ctr"/>
              <a:lstStyle/>
              <a:p>
                <a:endParaRPr lang="en-US"/>
              </a:p>
            </p:txBody>
          </p:sp>
          <p:sp>
            <p:nvSpPr>
              <p:cNvPr id="713" name="Freeform: Shape 712">
                <a:extLst>
                  <a:ext uri="{FF2B5EF4-FFF2-40B4-BE49-F238E27FC236}">
                    <a16:creationId xmlns:a16="http://schemas.microsoft.com/office/drawing/2014/main" id="{57B91965-65B3-4551-AAB1-FD3FA67F66E0}"/>
                  </a:ext>
                </a:extLst>
              </p:cNvPr>
              <p:cNvSpPr/>
              <p:nvPr/>
            </p:nvSpPr>
            <p:spPr>
              <a:xfrm>
                <a:off x="1215201" y="2956392"/>
                <a:ext cx="18715" cy="20390"/>
              </a:xfrm>
              <a:custGeom>
                <a:avLst/>
                <a:gdLst>
                  <a:gd name="connsiteX0" fmla="*/ 4864 w 18715"/>
                  <a:gd name="connsiteY0" fmla="*/ 15460 h 20390"/>
                  <a:gd name="connsiteX1" fmla="*/ 1578 w 18715"/>
                  <a:gd name="connsiteY1" fmla="*/ 3892 h 20390"/>
                  <a:gd name="connsiteX2" fmla="*/ 17799 w 18715"/>
                  <a:gd name="connsiteY2" fmla="*/ 10338 h 20390"/>
                  <a:gd name="connsiteX3" fmla="*/ 4907 w 18715"/>
                  <a:gd name="connsiteY3" fmla="*/ 15460 h 20390"/>
                </a:gdLst>
                <a:ahLst/>
                <a:cxnLst>
                  <a:cxn ang="0">
                    <a:pos x="connsiteX0" y="connsiteY0"/>
                  </a:cxn>
                  <a:cxn ang="0">
                    <a:pos x="connsiteX1" y="connsiteY1"/>
                  </a:cxn>
                  <a:cxn ang="0">
                    <a:pos x="connsiteX2" y="connsiteY2"/>
                  </a:cxn>
                  <a:cxn ang="0">
                    <a:pos x="connsiteX3" y="connsiteY3"/>
                  </a:cxn>
                </a:cxnLst>
                <a:rect l="l" t="t" r="r" b="b"/>
                <a:pathLst>
                  <a:path w="18715" h="20390">
                    <a:moveTo>
                      <a:pt x="4864" y="15460"/>
                    </a:moveTo>
                    <a:cubicBezTo>
                      <a:pt x="2602" y="13497"/>
                      <a:pt x="-2606" y="8502"/>
                      <a:pt x="1578" y="3892"/>
                    </a:cubicBezTo>
                    <a:cubicBezTo>
                      <a:pt x="5718" y="-719"/>
                      <a:pt x="13829" y="-3877"/>
                      <a:pt x="17799" y="10338"/>
                    </a:cubicBezTo>
                    <a:cubicBezTo>
                      <a:pt x="22025" y="25406"/>
                      <a:pt x="10585" y="20369"/>
                      <a:pt x="4907" y="15460"/>
                    </a:cubicBezTo>
                    <a:close/>
                  </a:path>
                </a:pathLst>
              </a:custGeom>
              <a:solidFill>
                <a:srgbClr val="F47C73"/>
              </a:solidFill>
              <a:ln w="4254" cap="flat">
                <a:noFill/>
                <a:prstDash val="solid"/>
                <a:miter/>
              </a:ln>
            </p:spPr>
            <p:txBody>
              <a:bodyPr rtlCol="0" anchor="ctr"/>
              <a:lstStyle/>
              <a:p>
                <a:endParaRPr lang="en-US"/>
              </a:p>
            </p:txBody>
          </p:sp>
        </p:grpSp>
        <p:sp>
          <p:nvSpPr>
            <p:cNvPr id="690" name="Freeform: Shape 689">
              <a:extLst>
                <a:ext uri="{FF2B5EF4-FFF2-40B4-BE49-F238E27FC236}">
                  <a16:creationId xmlns:a16="http://schemas.microsoft.com/office/drawing/2014/main" id="{D95390E6-EA8F-4F6D-A66E-800B9C44A75F}"/>
                </a:ext>
              </a:extLst>
            </p:cNvPr>
            <p:cNvSpPr/>
            <p:nvPr/>
          </p:nvSpPr>
          <p:spPr>
            <a:xfrm>
              <a:off x="1091831" y="3165057"/>
              <a:ext cx="6744" cy="271835"/>
            </a:xfrm>
            <a:custGeom>
              <a:avLst/>
              <a:gdLst>
                <a:gd name="connsiteX0" fmla="*/ 3372 w 6744"/>
                <a:gd name="connsiteY0" fmla="*/ 271836 h 271835"/>
                <a:gd name="connsiteX1" fmla="*/ 0 w 6744"/>
                <a:gd name="connsiteY1" fmla="*/ 268463 h 271835"/>
                <a:gd name="connsiteX2" fmla="*/ 0 w 6744"/>
                <a:gd name="connsiteY2" fmla="*/ 3372 h 271835"/>
                <a:gd name="connsiteX3" fmla="*/ 3372 w 6744"/>
                <a:gd name="connsiteY3" fmla="*/ 0 h 271835"/>
                <a:gd name="connsiteX4" fmla="*/ 6745 w 6744"/>
                <a:gd name="connsiteY4" fmla="*/ 3372 h 271835"/>
                <a:gd name="connsiteX5" fmla="*/ 6745 w 6744"/>
                <a:gd name="connsiteY5" fmla="*/ 268463 h 271835"/>
                <a:gd name="connsiteX6" fmla="*/ 3372 w 6744"/>
                <a:gd name="connsiteY6" fmla="*/ 271836 h 27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44" h="271835">
                  <a:moveTo>
                    <a:pt x="3372" y="271836"/>
                  </a:moveTo>
                  <a:cubicBezTo>
                    <a:pt x="1494" y="271836"/>
                    <a:pt x="0" y="270299"/>
                    <a:pt x="0" y="268463"/>
                  </a:cubicBezTo>
                  <a:lnTo>
                    <a:pt x="0" y="3372"/>
                  </a:lnTo>
                  <a:cubicBezTo>
                    <a:pt x="0" y="1494"/>
                    <a:pt x="1537" y="0"/>
                    <a:pt x="3372" y="0"/>
                  </a:cubicBezTo>
                  <a:cubicBezTo>
                    <a:pt x="5208" y="0"/>
                    <a:pt x="6745" y="1537"/>
                    <a:pt x="6745" y="3372"/>
                  </a:cubicBezTo>
                  <a:lnTo>
                    <a:pt x="6745" y="268463"/>
                  </a:lnTo>
                  <a:cubicBezTo>
                    <a:pt x="6745" y="270342"/>
                    <a:pt x="5208" y="271836"/>
                    <a:pt x="3372" y="271836"/>
                  </a:cubicBezTo>
                  <a:close/>
                </a:path>
              </a:pathLst>
            </a:custGeom>
            <a:solidFill>
              <a:schemeClr val="accent6">
                <a:lumMod val="75000"/>
              </a:schemeClr>
            </a:solidFill>
            <a:ln w="4254" cap="flat">
              <a:noFill/>
              <a:prstDash val="solid"/>
              <a:miter/>
            </a:ln>
          </p:spPr>
          <p:txBody>
            <a:bodyPr rtlCol="0" anchor="ctr"/>
            <a:lstStyle/>
            <a:p>
              <a:endParaRPr lang="en-US"/>
            </a:p>
          </p:txBody>
        </p:sp>
        <p:sp>
          <p:nvSpPr>
            <p:cNvPr id="691" name="Freeform: Shape 690">
              <a:extLst>
                <a:ext uri="{FF2B5EF4-FFF2-40B4-BE49-F238E27FC236}">
                  <a16:creationId xmlns:a16="http://schemas.microsoft.com/office/drawing/2014/main" id="{F3D10595-15D5-4CC5-8B41-98A812806AFA}"/>
                </a:ext>
              </a:extLst>
            </p:cNvPr>
            <p:cNvSpPr/>
            <p:nvPr/>
          </p:nvSpPr>
          <p:spPr>
            <a:xfrm>
              <a:off x="1183098" y="3025169"/>
              <a:ext cx="120395" cy="109579"/>
            </a:xfrm>
            <a:custGeom>
              <a:avLst/>
              <a:gdLst>
                <a:gd name="connsiteX0" fmla="*/ 14044 w 120395"/>
                <a:gd name="connsiteY0" fmla="*/ 0 h 109579"/>
                <a:gd name="connsiteX1" fmla="*/ 81107 w 120395"/>
                <a:gd name="connsiteY1" fmla="*/ 38206 h 109579"/>
                <a:gd name="connsiteX2" fmla="*/ 105396 w 120395"/>
                <a:gd name="connsiteY2" fmla="*/ 9349 h 109579"/>
                <a:gd name="connsiteX3" fmla="*/ 114915 w 120395"/>
                <a:gd name="connsiteY3" fmla="*/ 9263 h 109579"/>
                <a:gd name="connsiteX4" fmla="*/ 120166 w 120395"/>
                <a:gd name="connsiteY4" fmla="*/ 43926 h 109579"/>
                <a:gd name="connsiteX5" fmla="*/ 78631 w 120395"/>
                <a:gd name="connsiteY5" fmla="*/ 109579 h 109579"/>
                <a:gd name="connsiteX6" fmla="*/ 0 w 120395"/>
                <a:gd name="connsiteY6" fmla="*/ 40681 h 109579"/>
                <a:gd name="connsiteX7" fmla="*/ 14087 w 120395"/>
                <a:gd name="connsiteY7" fmla="*/ 0 h 109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395" h="109579">
                  <a:moveTo>
                    <a:pt x="14044" y="0"/>
                  </a:moveTo>
                  <a:cubicBezTo>
                    <a:pt x="14044" y="0"/>
                    <a:pt x="55281" y="38675"/>
                    <a:pt x="81107" y="38206"/>
                  </a:cubicBezTo>
                  <a:cubicBezTo>
                    <a:pt x="106933" y="37736"/>
                    <a:pt x="105396" y="9349"/>
                    <a:pt x="105396" y="9349"/>
                  </a:cubicBezTo>
                  <a:lnTo>
                    <a:pt x="114915" y="9263"/>
                  </a:lnTo>
                  <a:lnTo>
                    <a:pt x="120166" y="43926"/>
                  </a:lnTo>
                  <a:cubicBezTo>
                    <a:pt x="120166" y="43926"/>
                    <a:pt x="126014" y="109579"/>
                    <a:pt x="78631" y="109579"/>
                  </a:cubicBezTo>
                  <a:cubicBezTo>
                    <a:pt x="31247" y="109579"/>
                    <a:pt x="0" y="40681"/>
                    <a:pt x="0" y="40681"/>
                  </a:cubicBezTo>
                  <a:lnTo>
                    <a:pt x="14087" y="0"/>
                  </a:lnTo>
                  <a:close/>
                </a:path>
              </a:pathLst>
            </a:custGeom>
            <a:solidFill>
              <a:schemeClr val="bg1"/>
            </a:solidFill>
            <a:ln w="4254" cap="flat">
              <a:noFill/>
              <a:prstDash val="solid"/>
              <a:miter/>
            </a:ln>
          </p:spPr>
          <p:txBody>
            <a:bodyPr rtlCol="0" anchor="ctr"/>
            <a:lstStyle/>
            <a:p>
              <a:endParaRPr lang="en-US"/>
            </a:p>
          </p:txBody>
        </p:sp>
        <p:sp>
          <p:nvSpPr>
            <p:cNvPr id="692" name="Freeform: Shape 691">
              <a:extLst>
                <a:ext uri="{FF2B5EF4-FFF2-40B4-BE49-F238E27FC236}">
                  <a16:creationId xmlns:a16="http://schemas.microsoft.com/office/drawing/2014/main" id="{BF6BB63F-6892-4F20-A7F4-6140E84AF781}"/>
                </a:ext>
              </a:extLst>
            </p:cNvPr>
            <p:cNvSpPr/>
            <p:nvPr/>
          </p:nvSpPr>
          <p:spPr>
            <a:xfrm>
              <a:off x="1286772" y="2988876"/>
              <a:ext cx="31167" cy="14001"/>
            </a:xfrm>
            <a:custGeom>
              <a:avLst/>
              <a:gdLst>
                <a:gd name="connsiteX0" fmla="*/ 15510 w 31167"/>
                <a:gd name="connsiteY0" fmla="*/ 777 h 14001"/>
                <a:gd name="connsiteX1" fmla="*/ 29256 w 31167"/>
                <a:gd name="connsiteY1" fmla="*/ 8 h 14001"/>
                <a:gd name="connsiteX2" fmla="*/ 31048 w 31167"/>
                <a:gd name="connsiteY2" fmla="*/ 2527 h 14001"/>
                <a:gd name="connsiteX3" fmla="*/ 16577 w 31167"/>
                <a:gd name="connsiteY3" fmla="*/ 13967 h 14001"/>
                <a:gd name="connsiteX4" fmla="*/ 228 w 31167"/>
                <a:gd name="connsiteY4" fmla="*/ 3039 h 14001"/>
                <a:gd name="connsiteX5" fmla="*/ 1893 w 31167"/>
                <a:gd name="connsiteY5" fmla="*/ 350 h 14001"/>
                <a:gd name="connsiteX6" fmla="*/ 15510 w 31167"/>
                <a:gd name="connsiteY6" fmla="*/ 734 h 14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167" h="14001">
                  <a:moveTo>
                    <a:pt x="15510" y="777"/>
                  </a:moveTo>
                  <a:cubicBezTo>
                    <a:pt x="20803" y="648"/>
                    <a:pt x="26182" y="264"/>
                    <a:pt x="29256" y="8"/>
                  </a:cubicBezTo>
                  <a:cubicBezTo>
                    <a:pt x="30536" y="-120"/>
                    <a:pt x="31518" y="1289"/>
                    <a:pt x="31048" y="2527"/>
                  </a:cubicBezTo>
                  <a:cubicBezTo>
                    <a:pt x="29512" y="6497"/>
                    <a:pt x="25584" y="13369"/>
                    <a:pt x="16577" y="13967"/>
                  </a:cubicBezTo>
                  <a:cubicBezTo>
                    <a:pt x="7656" y="14565"/>
                    <a:pt x="2490" y="7350"/>
                    <a:pt x="228" y="3039"/>
                  </a:cubicBezTo>
                  <a:cubicBezTo>
                    <a:pt x="-455" y="1758"/>
                    <a:pt x="484" y="222"/>
                    <a:pt x="1893" y="350"/>
                  </a:cubicBezTo>
                  <a:cubicBezTo>
                    <a:pt x="5137" y="648"/>
                    <a:pt x="10388" y="819"/>
                    <a:pt x="15510" y="734"/>
                  </a:cubicBezTo>
                  <a:close/>
                </a:path>
              </a:pathLst>
            </a:custGeom>
            <a:solidFill>
              <a:srgbClr val="E55955"/>
            </a:solidFill>
            <a:ln w="4254" cap="flat">
              <a:noFill/>
              <a:prstDash val="solid"/>
              <a:miter/>
            </a:ln>
          </p:spPr>
          <p:txBody>
            <a:bodyPr rtlCol="0" anchor="ctr"/>
            <a:lstStyle/>
            <a:p>
              <a:endParaRPr lang="en-US"/>
            </a:p>
          </p:txBody>
        </p:sp>
        <p:sp>
          <p:nvSpPr>
            <p:cNvPr id="693" name="Freeform: Shape 692">
              <a:extLst>
                <a:ext uri="{FF2B5EF4-FFF2-40B4-BE49-F238E27FC236}">
                  <a16:creationId xmlns:a16="http://schemas.microsoft.com/office/drawing/2014/main" id="{CA9799C4-C8BB-4E7A-8BB3-26F7A1087F0F}"/>
                </a:ext>
              </a:extLst>
            </p:cNvPr>
            <p:cNvSpPr/>
            <p:nvPr/>
          </p:nvSpPr>
          <p:spPr>
            <a:xfrm>
              <a:off x="1283322" y="2860815"/>
              <a:ext cx="61994" cy="61994"/>
            </a:xfrm>
            <a:custGeom>
              <a:avLst/>
              <a:gdLst>
                <a:gd name="connsiteX0" fmla="*/ 134 w 61994"/>
                <a:gd name="connsiteY0" fmla="*/ 28137 h 61994"/>
                <a:gd name="connsiteX1" fmla="*/ 28137 w 61994"/>
                <a:gd name="connsiteY1" fmla="*/ 61861 h 61994"/>
                <a:gd name="connsiteX2" fmla="*/ 61861 w 61994"/>
                <a:gd name="connsiteY2" fmla="*/ 33857 h 61994"/>
                <a:gd name="connsiteX3" fmla="*/ 33857 w 61994"/>
                <a:gd name="connsiteY3" fmla="*/ 134 h 61994"/>
                <a:gd name="connsiteX4" fmla="*/ 134 w 61994"/>
                <a:gd name="connsiteY4" fmla="*/ 28137 h 61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94" h="61994">
                  <a:moveTo>
                    <a:pt x="134" y="28137"/>
                  </a:moveTo>
                  <a:cubicBezTo>
                    <a:pt x="-1445" y="45170"/>
                    <a:pt x="11105" y="60281"/>
                    <a:pt x="28137" y="61861"/>
                  </a:cubicBezTo>
                  <a:cubicBezTo>
                    <a:pt x="45170" y="63440"/>
                    <a:pt x="60281" y="50890"/>
                    <a:pt x="61861" y="33857"/>
                  </a:cubicBezTo>
                  <a:cubicBezTo>
                    <a:pt x="63440" y="16825"/>
                    <a:pt x="50890" y="1714"/>
                    <a:pt x="33857" y="134"/>
                  </a:cubicBezTo>
                  <a:cubicBezTo>
                    <a:pt x="16825" y="-1445"/>
                    <a:pt x="1714" y="11105"/>
                    <a:pt x="134" y="28137"/>
                  </a:cubicBezTo>
                  <a:close/>
                </a:path>
              </a:pathLst>
            </a:custGeom>
            <a:solidFill>
              <a:schemeClr val="accent2"/>
            </a:solidFill>
            <a:ln w="4254" cap="flat">
              <a:noFill/>
              <a:prstDash val="solid"/>
              <a:miter/>
            </a:ln>
          </p:spPr>
          <p:txBody>
            <a:bodyPr rtlCol="0" anchor="ctr"/>
            <a:lstStyle/>
            <a:p>
              <a:endParaRPr lang="en-US"/>
            </a:p>
          </p:txBody>
        </p:sp>
        <p:sp>
          <p:nvSpPr>
            <p:cNvPr id="694" name="Freeform: Shape 693">
              <a:extLst>
                <a:ext uri="{FF2B5EF4-FFF2-40B4-BE49-F238E27FC236}">
                  <a16:creationId xmlns:a16="http://schemas.microsoft.com/office/drawing/2014/main" id="{DD758318-BC85-4622-BEE2-8580950FB686}"/>
                </a:ext>
              </a:extLst>
            </p:cNvPr>
            <p:cNvSpPr/>
            <p:nvPr/>
          </p:nvSpPr>
          <p:spPr>
            <a:xfrm>
              <a:off x="1249819" y="2832135"/>
              <a:ext cx="54554" cy="54554"/>
            </a:xfrm>
            <a:custGeom>
              <a:avLst/>
              <a:gdLst>
                <a:gd name="connsiteX0" fmla="*/ 0 w 54554"/>
                <a:gd name="connsiteY0" fmla="*/ 27277 h 54554"/>
                <a:gd name="connsiteX1" fmla="*/ 27277 w 54554"/>
                <a:gd name="connsiteY1" fmla="*/ 54555 h 54554"/>
                <a:gd name="connsiteX2" fmla="*/ 54555 w 54554"/>
                <a:gd name="connsiteY2" fmla="*/ 27277 h 54554"/>
                <a:gd name="connsiteX3" fmla="*/ 27277 w 54554"/>
                <a:gd name="connsiteY3" fmla="*/ 0 h 54554"/>
                <a:gd name="connsiteX4" fmla="*/ 0 w 54554"/>
                <a:gd name="connsiteY4" fmla="*/ 27277 h 5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54" h="54554">
                  <a:moveTo>
                    <a:pt x="0" y="27277"/>
                  </a:moveTo>
                  <a:cubicBezTo>
                    <a:pt x="0" y="42346"/>
                    <a:pt x="12209" y="54555"/>
                    <a:pt x="27277" y="54555"/>
                  </a:cubicBezTo>
                  <a:cubicBezTo>
                    <a:pt x="42346" y="54555"/>
                    <a:pt x="54555" y="42346"/>
                    <a:pt x="54555" y="27277"/>
                  </a:cubicBezTo>
                  <a:cubicBezTo>
                    <a:pt x="54555" y="12209"/>
                    <a:pt x="42346" y="0"/>
                    <a:pt x="27277" y="0"/>
                  </a:cubicBezTo>
                  <a:cubicBezTo>
                    <a:pt x="12209" y="0"/>
                    <a:pt x="0" y="12209"/>
                    <a:pt x="0" y="27277"/>
                  </a:cubicBezTo>
                  <a:close/>
                </a:path>
              </a:pathLst>
            </a:custGeom>
            <a:solidFill>
              <a:schemeClr val="accent2"/>
            </a:solidFill>
            <a:ln w="4254" cap="flat">
              <a:noFill/>
              <a:prstDash val="solid"/>
              <a:miter/>
            </a:ln>
          </p:spPr>
          <p:txBody>
            <a:bodyPr rtlCol="0" anchor="ctr"/>
            <a:lstStyle/>
            <a:p>
              <a:endParaRPr lang="en-US"/>
            </a:p>
          </p:txBody>
        </p:sp>
        <p:sp>
          <p:nvSpPr>
            <p:cNvPr id="695" name="Freeform: Shape 694">
              <a:extLst>
                <a:ext uri="{FF2B5EF4-FFF2-40B4-BE49-F238E27FC236}">
                  <a16:creationId xmlns:a16="http://schemas.microsoft.com/office/drawing/2014/main" id="{F3F89B33-97B8-4863-B34C-4AFEBADA9EFF}"/>
                </a:ext>
              </a:extLst>
            </p:cNvPr>
            <p:cNvSpPr/>
            <p:nvPr/>
          </p:nvSpPr>
          <p:spPr>
            <a:xfrm>
              <a:off x="1250715" y="2823512"/>
              <a:ext cx="61299" cy="61299"/>
            </a:xfrm>
            <a:custGeom>
              <a:avLst/>
              <a:gdLst>
                <a:gd name="connsiteX0" fmla="*/ 30650 w 61299"/>
                <a:gd name="connsiteY0" fmla="*/ 61300 h 61299"/>
                <a:gd name="connsiteX1" fmla="*/ 0 w 61299"/>
                <a:gd name="connsiteY1" fmla="*/ 30650 h 61299"/>
                <a:gd name="connsiteX2" fmla="*/ 30650 w 61299"/>
                <a:gd name="connsiteY2" fmla="*/ 0 h 61299"/>
                <a:gd name="connsiteX3" fmla="*/ 61300 w 61299"/>
                <a:gd name="connsiteY3" fmla="*/ 30650 h 61299"/>
                <a:gd name="connsiteX4" fmla="*/ 30650 w 61299"/>
                <a:gd name="connsiteY4" fmla="*/ 61300 h 61299"/>
                <a:gd name="connsiteX5" fmla="*/ 30650 w 61299"/>
                <a:gd name="connsiteY5" fmla="*/ 6745 h 61299"/>
                <a:gd name="connsiteX6" fmla="*/ 6787 w 61299"/>
                <a:gd name="connsiteY6" fmla="*/ 30607 h 61299"/>
                <a:gd name="connsiteX7" fmla="*/ 30650 w 61299"/>
                <a:gd name="connsiteY7" fmla="*/ 54512 h 61299"/>
                <a:gd name="connsiteX8" fmla="*/ 54555 w 61299"/>
                <a:gd name="connsiteY8" fmla="*/ 30607 h 61299"/>
                <a:gd name="connsiteX9" fmla="*/ 30650 w 61299"/>
                <a:gd name="connsiteY9" fmla="*/ 6745 h 61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299" h="61299">
                  <a:moveTo>
                    <a:pt x="30650" y="61300"/>
                  </a:moveTo>
                  <a:cubicBezTo>
                    <a:pt x="13745" y="61300"/>
                    <a:pt x="0" y="47554"/>
                    <a:pt x="0" y="30650"/>
                  </a:cubicBezTo>
                  <a:cubicBezTo>
                    <a:pt x="0" y="13745"/>
                    <a:pt x="13745" y="0"/>
                    <a:pt x="30650" y="0"/>
                  </a:cubicBezTo>
                  <a:cubicBezTo>
                    <a:pt x="47554" y="0"/>
                    <a:pt x="61300" y="13745"/>
                    <a:pt x="61300" y="30650"/>
                  </a:cubicBezTo>
                  <a:cubicBezTo>
                    <a:pt x="61300" y="47554"/>
                    <a:pt x="47554" y="61300"/>
                    <a:pt x="30650" y="61300"/>
                  </a:cubicBezTo>
                  <a:close/>
                  <a:moveTo>
                    <a:pt x="30650" y="6745"/>
                  </a:moveTo>
                  <a:cubicBezTo>
                    <a:pt x="17502" y="6745"/>
                    <a:pt x="6787" y="17459"/>
                    <a:pt x="6787" y="30607"/>
                  </a:cubicBezTo>
                  <a:cubicBezTo>
                    <a:pt x="6787" y="43755"/>
                    <a:pt x="17502" y="54512"/>
                    <a:pt x="30650" y="54512"/>
                  </a:cubicBezTo>
                  <a:cubicBezTo>
                    <a:pt x="43798" y="54512"/>
                    <a:pt x="54555" y="43798"/>
                    <a:pt x="54555" y="30607"/>
                  </a:cubicBezTo>
                  <a:cubicBezTo>
                    <a:pt x="54555" y="17417"/>
                    <a:pt x="43840" y="6745"/>
                    <a:pt x="30650" y="6745"/>
                  </a:cubicBezTo>
                  <a:close/>
                </a:path>
              </a:pathLst>
            </a:custGeom>
            <a:solidFill>
              <a:schemeClr val="accent2"/>
            </a:solidFill>
            <a:ln w="4254" cap="flat">
              <a:noFill/>
              <a:prstDash val="solid"/>
              <a:miter/>
            </a:ln>
          </p:spPr>
          <p:txBody>
            <a:bodyPr rtlCol="0" anchor="ctr"/>
            <a:lstStyle/>
            <a:p>
              <a:endParaRPr lang="en-US"/>
            </a:p>
          </p:txBody>
        </p:sp>
        <p:sp>
          <p:nvSpPr>
            <p:cNvPr id="696" name="Freeform: Shape 695">
              <a:extLst>
                <a:ext uri="{FF2B5EF4-FFF2-40B4-BE49-F238E27FC236}">
                  <a16:creationId xmlns:a16="http://schemas.microsoft.com/office/drawing/2014/main" id="{C334C451-4A0D-4245-AAF8-EA6E833EBFB0}"/>
                </a:ext>
              </a:extLst>
            </p:cNvPr>
            <p:cNvSpPr/>
            <p:nvPr/>
          </p:nvSpPr>
          <p:spPr>
            <a:xfrm>
              <a:off x="1245336" y="2864535"/>
              <a:ext cx="54554" cy="54554"/>
            </a:xfrm>
            <a:custGeom>
              <a:avLst/>
              <a:gdLst>
                <a:gd name="connsiteX0" fmla="*/ 0 w 54554"/>
                <a:gd name="connsiteY0" fmla="*/ 27277 h 54554"/>
                <a:gd name="connsiteX1" fmla="*/ 27277 w 54554"/>
                <a:gd name="connsiteY1" fmla="*/ 54555 h 54554"/>
                <a:gd name="connsiteX2" fmla="*/ 54555 w 54554"/>
                <a:gd name="connsiteY2" fmla="*/ 27277 h 54554"/>
                <a:gd name="connsiteX3" fmla="*/ 27277 w 54554"/>
                <a:gd name="connsiteY3" fmla="*/ 0 h 54554"/>
                <a:gd name="connsiteX4" fmla="*/ 0 w 54554"/>
                <a:gd name="connsiteY4" fmla="*/ 27277 h 5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54" h="54554">
                  <a:moveTo>
                    <a:pt x="0" y="27277"/>
                  </a:moveTo>
                  <a:cubicBezTo>
                    <a:pt x="0" y="42346"/>
                    <a:pt x="12209" y="54555"/>
                    <a:pt x="27277" y="54555"/>
                  </a:cubicBezTo>
                  <a:cubicBezTo>
                    <a:pt x="42346" y="54555"/>
                    <a:pt x="54555" y="42346"/>
                    <a:pt x="54555" y="27277"/>
                  </a:cubicBezTo>
                  <a:cubicBezTo>
                    <a:pt x="54555" y="12209"/>
                    <a:pt x="42346" y="0"/>
                    <a:pt x="27277" y="0"/>
                  </a:cubicBezTo>
                  <a:cubicBezTo>
                    <a:pt x="12209" y="0"/>
                    <a:pt x="0" y="12209"/>
                    <a:pt x="0" y="27277"/>
                  </a:cubicBezTo>
                  <a:close/>
                </a:path>
              </a:pathLst>
            </a:custGeom>
            <a:solidFill>
              <a:schemeClr val="accent2"/>
            </a:solidFill>
            <a:ln w="4254" cap="flat">
              <a:noFill/>
              <a:prstDash val="solid"/>
              <a:miter/>
            </a:ln>
          </p:spPr>
          <p:txBody>
            <a:bodyPr rtlCol="0" anchor="ctr"/>
            <a:lstStyle/>
            <a:p>
              <a:endParaRPr lang="en-US"/>
            </a:p>
          </p:txBody>
        </p:sp>
        <p:sp>
          <p:nvSpPr>
            <p:cNvPr id="697" name="Freeform: Shape 696">
              <a:extLst>
                <a:ext uri="{FF2B5EF4-FFF2-40B4-BE49-F238E27FC236}">
                  <a16:creationId xmlns:a16="http://schemas.microsoft.com/office/drawing/2014/main" id="{4E688998-6AD0-4AE5-B126-18B7BD68C32E}"/>
                </a:ext>
              </a:extLst>
            </p:cNvPr>
            <p:cNvSpPr/>
            <p:nvPr/>
          </p:nvSpPr>
          <p:spPr>
            <a:xfrm>
              <a:off x="1263649" y="3181662"/>
              <a:ext cx="6744" cy="67489"/>
            </a:xfrm>
            <a:custGeom>
              <a:avLst/>
              <a:gdLst>
                <a:gd name="connsiteX0" fmla="*/ 3372 w 6744"/>
                <a:gd name="connsiteY0" fmla="*/ 67489 h 67489"/>
                <a:gd name="connsiteX1" fmla="*/ 0 w 6744"/>
                <a:gd name="connsiteY1" fmla="*/ 64117 h 67489"/>
                <a:gd name="connsiteX2" fmla="*/ 0 w 6744"/>
                <a:gd name="connsiteY2" fmla="*/ 3372 h 67489"/>
                <a:gd name="connsiteX3" fmla="*/ 3372 w 6744"/>
                <a:gd name="connsiteY3" fmla="*/ 0 h 67489"/>
                <a:gd name="connsiteX4" fmla="*/ 6745 w 6744"/>
                <a:gd name="connsiteY4" fmla="*/ 3372 h 67489"/>
                <a:gd name="connsiteX5" fmla="*/ 6745 w 6744"/>
                <a:gd name="connsiteY5" fmla="*/ 64117 h 67489"/>
                <a:gd name="connsiteX6" fmla="*/ 3372 w 6744"/>
                <a:gd name="connsiteY6" fmla="*/ 67489 h 67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44" h="67489">
                  <a:moveTo>
                    <a:pt x="3372" y="67489"/>
                  </a:moveTo>
                  <a:cubicBezTo>
                    <a:pt x="1494" y="67489"/>
                    <a:pt x="0" y="65953"/>
                    <a:pt x="0" y="64117"/>
                  </a:cubicBezTo>
                  <a:lnTo>
                    <a:pt x="0" y="3372"/>
                  </a:lnTo>
                  <a:cubicBezTo>
                    <a:pt x="0" y="1494"/>
                    <a:pt x="1537" y="0"/>
                    <a:pt x="3372" y="0"/>
                  </a:cubicBezTo>
                  <a:cubicBezTo>
                    <a:pt x="5208" y="0"/>
                    <a:pt x="6745" y="1537"/>
                    <a:pt x="6745" y="3372"/>
                  </a:cubicBezTo>
                  <a:lnTo>
                    <a:pt x="6745" y="64117"/>
                  </a:lnTo>
                  <a:cubicBezTo>
                    <a:pt x="6745" y="65995"/>
                    <a:pt x="5208" y="67489"/>
                    <a:pt x="3372" y="67489"/>
                  </a:cubicBezTo>
                  <a:close/>
                </a:path>
              </a:pathLst>
            </a:custGeom>
            <a:solidFill>
              <a:schemeClr val="accent6">
                <a:lumMod val="75000"/>
              </a:schemeClr>
            </a:solidFill>
            <a:ln w="4254" cap="flat">
              <a:noFill/>
              <a:prstDash val="solid"/>
              <a:miter/>
            </a:ln>
          </p:spPr>
          <p:txBody>
            <a:bodyPr rtlCol="0" anchor="ctr"/>
            <a:lstStyle/>
            <a:p>
              <a:endParaRPr lang="en-US"/>
            </a:p>
          </p:txBody>
        </p:sp>
        <p:sp>
          <p:nvSpPr>
            <p:cNvPr id="698" name="Freeform: Shape 697">
              <a:extLst>
                <a:ext uri="{FF2B5EF4-FFF2-40B4-BE49-F238E27FC236}">
                  <a16:creationId xmlns:a16="http://schemas.microsoft.com/office/drawing/2014/main" id="{7F6E07B3-183D-4516-88F9-2532611A1272}"/>
                </a:ext>
              </a:extLst>
            </p:cNvPr>
            <p:cNvSpPr/>
            <p:nvPr/>
          </p:nvSpPr>
          <p:spPr>
            <a:xfrm>
              <a:off x="1355983" y="3082413"/>
              <a:ext cx="104144" cy="179506"/>
            </a:xfrm>
            <a:custGeom>
              <a:avLst/>
              <a:gdLst>
                <a:gd name="connsiteX0" fmla="*/ 48749 w 104144"/>
                <a:gd name="connsiteY0" fmla="*/ 39187 h 179506"/>
                <a:gd name="connsiteX1" fmla="*/ 104030 w 104144"/>
                <a:gd name="connsiteY1" fmla="*/ 177666 h 179506"/>
                <a:gd name="connsiteX2" fmla="*/ 101640 w 104144"/>
                <a:gd name="connsiteY2" fmla="*/ 178819 h 179506"/>
                <a:gd name="connsiteX3" fmla="*/ 0 w 104144"/>
                <a:gd name="connsiteY3" fmla="*/ 0 h 179506"/>
                <a:gd name="connsiteX4" fmla="*/ 48749 w 104144"/>
                <a:gd name="connsiteY4" fmla="*/ 39187 h 179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144" h="179506">
                  <a:moveTo>
                    <a:pt x="48749" y="39187"/>
                  </a:moveTo>
                  <a:cubicBezTo>
                    <a:pt x="48749" y="39187"/>
                    <a:pt x="87168" y="135491"/>
                    <a:pt x="104030" y="177666"/>
                  </a:cubicBezTo>
                  <a:cubicBezTo>
                    <a:pt x="104670" y="179203"/>
                    <a:pt x="102451" y="180270"/>
                    <a:pt x="101640" y="178819"/>
                  </a:cubicBezTo>
                  <a:cubicBezTo>
                    <a:pt x="76838" y="134936"/>
                    <a:pt x="14386" y="25228"/>
                    <a:pt x="0" y="0"/>
                  </a:cubicBezTo>
                  <a:cubicBezTo>
                    <a:pt x="21429" y="10117"/>
                    <a:pt x="37224" y="24545"/>
                    <a:pt x="48749" y="39187"/>
                  </a:cubicBezTo>
                  <a:close/>
                </a:path>
              </a:pathLst>
            </a:custGeom>
            <a:solidFill>
              <a:schemeClr val="accent6">
                <a:lumMod val="75000"/>
              </a:schemeClr>
            </a:solidFill>
            <a:ln w="4254" cap="flat">
              <a:noFill/>
              <a:prstDash val="solid"/>
              <a:miter/>
            </a:ln>
          </p:spPr>
          <p:txBody>
            <a:bodyPr rtlCol="0" anchor="ctr"/>
            <a:lstStyle/>
            <a:p>
              <a:endParaRPr lang="en-US"/>
            </a:p>
          </p:txBody>
        </p:sp>
        <p:sp>
          <p:nvSpPr>
            <p:cNvPr id="699" name="Freeform: Shape 698">
              <a:extLst>
                <a:ext uri="{FF2B5EF4-FFF2-40B4-BE49-F238E27FC236}">
                  <a16:creationId xmlns:a16="http://schemas.microsoft.com/office/drawing/2014/main" id="{B59509F5-45C7-4296-B6EB-A02A0AA2C14A}"/>
                </a:ext>
              </a:extLst>
            </p:cNvPr>
            <p:cNvSpPr/>
            <p:nvPr/>
          </p:nvSpPr>
          <p:spPr>
            <a:xfrm rot="10800000">
              <a:off x="949425" y="3237370"/>
              <a:ext cx="785924" cy="435457"/>
            </a:xfrm>
            <a:custGeom>
              <a:avLst/>
              <a:gdLst>
                <a:gd name="connsiteX0" fmla="*/ 0 w 785924"/>
                <a:gd name="connsiteY0" fmla="*/ 0 h 435457"/>
                <a:gd name="connsiteX1" fmla="*/ 785924 w 785924"/>
                <a:gd name="connsiteY1" fmla="*/ 0 h 435457"/>
                <a:gd name="connsiteX2" fmla="*/ 785924 w 785924"/>
                <a:gd name="connsiteY2" fmla="*/ 435458 h 435457"/>
                <a:gd name="connsiteX3" fmla="*/ 0 w 785924"/>
                <a:gd name="connsiteY3" fmla="*/ 435458 h 435457"/>
              </a:gdLst>
              <a:ahLst/>
              <a:cxnLst>
                <a:cxn ang="0">
                  <a:pos x="connsiteX0" y="connsiteY0"/>
                </a:cxn>
                <a:cxn ang="0">
                  <a:pos x="connsiteX1" y="connsiteY1"/>
                </a:cxn>
                <a:cxn ang="0">
                  <a:pos x="connsiteX2" y="connsiteY2"/>
                </a:cxn>
                <a:cxn ang="0">
                  <a:pos x="connsiteX3" y="connsiteY3"/>
                </a:cxn>
              </a:cxnLst>
              <a:rect l="l" t="t" r="r" b="b"/>
              <a:pathLst>
                <a:path w="785924" h="435457">
                  <a:moveTo>
                    <a:pt x="0" y="0"/>
                  </a:moveTo>
                  <a:lnTo>
                    <a:pt x="785924" y="0"/>
                  </a:lnTo>
                  <a:lnTo>
                    <a:pt x="785924" y="435458"/>
                  </a:lnTo>
                  <a:lnTo>
                    <a:pt x="0" y="435458"/>
                  </a:lnTo>
                  <a:close/>
                </a:path>
              </a:pathLst>
            </a:custGeom>
            <a:solidFill>
              <a:schemeClr val="bg1"/>
            </a:solidFill>
            <a:ln w="4254" cap="flat">
              <a:noFill/>
              <a:prstDash val="solid"/>
              <a:miter/>
            </a:ln>
            <a:effectLst>
              <a:outerShdw blurRad="63500" algn="ctr" rotWithShape="0">
                <a:schemeClr val="bg1">
                  <a:lumMod val="65000"/>
                  <a:alpha val="40000"/>
                </a:schemeClr>
              </a:outerShdw>
            </a:effectLst>
          </p:spPr>
          <p:txBody>
            <a:bodyPr rtlCol="0" anchor="ctr"/>
            <a:lstStyle/>
            <a:p>
              <a:endParaRPr lang="en-US"/>
            </a:p>
          </p:txBody>
        </p:sp>
        <p:sp>
          <p:nvSpPr>
            <p:cNvPr id="700" name="Freeform: Shape 699">
              <a:extLst>
                <a:ext uri="{FF2B5EF4-FFF2-40B4-BE49-F238E27FC236}">
                  <a16:creationId xmlns:a16="http://schemas.microsoft.com/office/drawing/2014/main" id="{F90E957E-6C6B-407D-8086-4B4AC3E99D27}"/>
                </a:ext>
              </a:extLst>
            </p:cNvPr>
            <p:cNvSpPr/>
            <p:nvPr/>
          </p:nvSpPr>
          <p:spPr>
            <a:xfrm>
              <a:off x="981868" y="3290217"/>
              <a:ext cx="710324" cy="9818"/>
            </a:xfrm>
            <a:custGeom>
              <a:avLst/>
              <a:gdLst>
                <a:gd name="connsiteX0" fmla="*/ 705415 w 710324"/>
                <a:gd name="connsiteY0" fmla="*/ 9818 h 9818"/>
                <a:gd name="connsiteX1" fmla="*/ 4909 w 710324"/>
                <a:gd name="connsiteY1" fmla="*/ 9818 h 9818"/>
                <a:gd name="connsiteX2" fmla="*/ 0 w 710324"/>
                <a:gd name="connsiteY2" fmla="*/ 4909 h 9818"/>
                <a:gd name="connsiteX3" fmla="*/ 4909 w 710324"/>
                <a:gd name="connsiteY3" fmla="*/ 0 h 9818"/>
                <a:gd name="connsiteX4" fmla="*/ 705415 w 710324"/>
                <a:gd name="connsiteY4" fmla="*/ 0 h 9818"/>
                <a:gd name="connsiteX5" fmla="*/ 710324 w 710324"/>
                <a:gd name="connsiteY5" fmla="*/ 4909 h 9818"/>
                <a:gd name="connsiteX6" fmla="*/ 705415 w 710324"/>
                <a:gd name="connsiteY6" fmla="*/ 9818 h 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324" h="9818">
                  <a:moveTo>
                    <a:pt x="705415" y="9818"/>
                  </a:moveTo>
                  <a:lnTo>
                    <a:pt x="4909" y="9818"/>
                  </a:lnTo>
                  <a:cubicBezTo>
                    <a:pt x="2220" y="9818"/>
                    <a:pt x="0" y="7641"/>
                    <a:pt x="0" y="4909"/>
                  </a:cubicBezTo>
                  <a:cubicBezTo>
                    <a:pt x="0" y="2177"/>
                    <a:pt x="2177" y="0"/>
                    <a:pt x="4909" y="0"/>
                  </a:cubicBezTo>
                  <a:lnTo>
                    <a:pt x="705415" y="0"/>
                  </a:lnTo>
                  <a:cubicBezTo>
                    <a:pt x="708104" y="0"/>
                    <a:pt x="710324" y="2177"/>
                    <a:pt x="710324" y="4909"/>
                  </a:cubicBezTo>
                  <a:cubicBezTo>
                    <a:pt x="710324" y="7641"/>
                    <a:pt x="708147" y="9818"/>
                    <a:pt x="705415" y="9818"/>
                  </a:cubicBezTo>
                  <a:close/>
                </a:path>
              </a:pathLst>
            </a:custGeom>
            <a:solidFill>
              <a:schemeClr val="accent5"/>
            </a:solidFill>
            <a:ln w="4254" cap="flat">
              <a:noFill/>
              <a:prstDash val="solid"/>
              <a:miter/>
            </a:ln>
          </p:spPr>
          <p:txBody>
            <a:bodyPr rtlCol="0" anchor="ctr"/>
            <a:lstStyle/>
            <a:p>
              <a:endParaRPr lang="en-US"/>
            </a:p>
          </p:txBody>
        </p:sp>
        <p:sp>
          <p:nvSpPr>
            <p:cNvPr id="701" name="Freeform: Shape 700">
              <a:extLst>
                <a:ext uri="{FF2B5EF4-FFF2-40B4-BE49-F238E27FC236}">
                  <a16:creationId xmlns:a16="http://schemas.microsoft.com/office/drawing/2014/main" id="{2703EFEA-51B0-4044-9F70-BA454BCE21BE}"/>
                </a:ext>
              </a:extLst>
            </p:cNvPr>
            <p:cNvSpPr/>
            <p:nvPr/>
          </p:nvSpPr>
          <p:spPr>
            <a:xfrm>
              <a:off x="1262283" y="3190371"/>
              <a:ext cx="410271" cy="410186"/>
            </a:xfrm>
            <a:custGeom>
              <a:avLst/>
              <a:gdLst>
                <a:gd name="connsiteX0" fmla="*/ 0 w 410271"/>
                <a:gd name="connsiteY0" fmla="*/ 189448 h 410186"/>
                <a:gd name="connsiteX1" fmla="*/ 0 w 410271"/>
                <a:gd name="connsiteY1" fmla="*/ 220610 h 410186"/>
                <a:gd name="connsiteX2" fmla="*/ 21557 w 410271"/>
                <a:gd name="connsiteY2" fmla="*/ 242168 h 410186"/>
                <a:gd name="connsiteX3" fmla="*/ 42090 w 410271"/>
                <a:gd name="connsiteY3" fmla="*/ 242168 h 410186"/>
                <a:gd name="connsiteX4" fmla="*/ 62580 w 410271"/>
                <a:gd name="connsiteY4" fmla="*/ 256255 h 410186"/>
                <a:gd name="connsiteX5" fmla="*/ 68172 w 410271"/>
                <a:gd name="connsiteY5" fmla="*/ 269573 h 410186"/>
                <a:gd name="connsiteX6" fmla="*/ 63818 w 410271"/>
                <a:gd name="connsiteY6" fmla="*/ 293820 h 410186"/>
                <a:gd name="connsiteX7" fmla="*/ 49091 w 410271"/>
                <a:gd name="connsiteY7" fmla="*/ 308547 h 410186"/>
                <a:gd name="connsiteX8" fmla="*/ 49091 w 410271"/>
                <a:gd name="connsiteY8" fmla="*/ 339069 h 410186"/>
                <a:gd name="connsiteX9" fmla="*/ 71118 w 410271"/>
                <a:gd name="connsiteY9" fmla="*/ 361096 h 410186"/>
                <a:gd name="connsiteX10" fmla="*/ 101640 w 410271"/>
                <a:gd name="connsiteY10" fmla="*/ 361096 h 410186"/>
                <a:gd name="connsiteX11" fmla="*/ 116068 w 410271"/>
                <a:gd name="connsiteY11" fmla="*/ 346667 h 410186"/>
                <a:gd name="connsiteX12" fmla="*/ 140400 w 410271"/>
                <a:gd name="connsiteY12" fmla="*/ 342356 h 410186"/>
                <a:gd name="connsiteX13" fmla="*/ 153804 w 410271"/>
                <a:gd name="connsiteY13" fmla="*/ 348076 h 410186"/>
                <a:gd name="connsiteX14" fmla="*/ 167976 w 410271"/>
                <a:gd name="connsiteY14" fmla="*/ 368096 h 410186"/>
                <a:gd name="connsiteX15" fmla="*/ 167976 w 410271"/>
                <a:gd name="connsiteY15" fmla="*/ 388629 h 410186"/>
                <a:gd name="connsiteX16" fmla="*/ 189534 w 410271"/>
                <a:gd name="connsiteY16" fmla="*/ 410186 h 410186"/>
                <a:gd name="connsiteX17" fmla="*/ 220696 w 410271"/>
                <a:gd name="connsiteY17" fmla="*/ 410186 h 410186"/>
                <a:gd name="connsiteX18" fmla="*/ 242253 w 410271"/>
                <a:gd name="connsiteY18" fmla="*/ 388629 h 410186"/>
                <a:gd name="connsiteX19" fmla="*/ 242253 w 410271"/>
                <a:gd name="connsiteY19" fmla="*/ 369633 h 410186"/>
                <a:gd name="connsiteX20" fmla="*/ 256980 w 410271"/>
                <a:gd name="connsiteY20" fmla="*/ 349442 h 410186"/>
                <a:gd name="connsiteX21" fmla="*/ 271067 w 410271"/>
                <a:gd name="connsiteY21" fmla="*/ 343850 h 410186"/>
                <a:gd name="connsiteX22" fmla="*/ 295570 w 410271"/>
                <a:gd name="connsiteY22" fmla="*/ 348076 h 410186"/>
                <a:gd name="connsiteX23" fmla="*/ 308632 w 410271"/>
                <a:gd name="connsiteY23" fmla="*/ 361138 h 410186"/>
                <a:gd name="connsiteX24" fmla="*/ 339154 w 410271"/>
                <a:gd name="connsiteY24" fmla="*/ 361138 h 410186"/>
                <a:gd name="connsiteX25" fmla="*/ 361181 w 410271"/>
                <a:gd name="connsiteY25" fmla="*/ 339111 h 410186"/>
                <a:gd name="connsiteX26" fmla="*/ 361181 w 410271"/>
                <a:gd name="connsiteY26" fmla="*/ 308590 h 410186"/>
                <a:gd name="connsiteX27" fmla="*/ 349442 w 410271"/>
                <a:gd name="connsiteY27" fmla="*/ 296851 h 410186"/>
                <a:gd name="connsiteX28" fmla="*/ 345344 w 410271"/>
                <a:gd name="connsiteY28" fmla="*/ 272134 h 410186"/>
                <a:gd name="connsiteX29" fmla="*/ 352217 w 410271"/>
                <a:gd name="connsiteY29" fmla="*/ 256169 h 410186"/>
                <a:gd name="connsiteX30" fmla="*/ 372365 w 410271"/>
                <a:gd name="connsiteY30" fmla="*/ 242253 h 410186"/>
                <a:gd name="connsiteX31" fmla="*/ 388715 w 410271"/>
                <a:gd name="connsiteY31" fmla="*/ 242253 h 410186"/>
                <a:gd name="connsiteX32" fmla="*/ 410272 w 410271"/>
                <a:gd name="connsiteY32" fmla="*/ 220696 h 410186"/>
                <a:gd name="connsiteX33" fmla="*/ 410272 w 410271"/>
                <a:gd name="connsiteY33" fmla="*/ 189534 h 410186"/>
                <a:gd name="connsiteX34" fmla="*/ 388715 w 410271"/>
                <a:gd name="connsiteY34" fmla="*/ 167976 h 410186"/>
                <a:gd name="connsiteX35" fmla="*/ 373390 w 410271"/>
                <a:gd name="connsiteY35" fmla="*/ 167976 h 410186"/>
                <a:gd name="connsiteX36" fmla="*/ 353070 w 410271"/>
                <a:gd name="connsiteY36" fmla="*/ 153633 h 410186"/>
                <a:gd name="connsiteX37" fmla="*/ 346155 w 410271"/>
                <a:gd name="connsiteY37" fmla="*/ 136772 h 410186"/>
                <a:gd name="connsiteX38" fmla="*/ 350424 w 410271"/>
                <a:gd name="connsiteY38" fmla="*/ 112397 h 410186"/>
                <a:gd name="connsiteX39" fmla="*/ 361224 w 410271"/>
                <a:gd name="connsiteY39" fmla="*/ 101597 h 410186"/>
                <a:gd name="connsiteX40" fmla="*/ 361224 w 410271"/>
                <a:gd name="connsiteY40" fmla="*/ 71075 h 410186"/>
                <a:gd name="connsiteX41" fmla="*/ 339197 w 410271"/>
                <a:gd name="connsiteY41" fmla="*/ 49048 h 410186"/>
                <a:gd name="connsiteX42" fmla="*/ 308675 w 410271"/>
                <a:gd name="connsiteY42" fmla="*/ 49048 h 410186"/>
                <a:gd name="connsiteX43" fmla="*/ 297619 w 410271"/>
                <a:gd name="connsiteY43" fmla="*/ 60104 h 410186"/>
                <a:gd name="connsiteX44" fmla="*/ 273372 w 410271"/>
                <a:gd name="connsiteY44" fmla="*/ 64459 h 410186"/>
                <a:gd name="connsiteX45" fmla="*/ 256767 w 410271"/>
                <a:gd name="connsiteY45" fmla="*/ 57757 h 410186"/>
                <a:gd name="connsiteX46" fmla="*/ 242338 w 410271"/>
                <a:gd name="connsiteY46" fmla="*/ 37394 h 410186"/>
                <a:gd name="connsiteX47" fmla="*/ 242338 w 410271"/>
                <a:gd name="connsiteY47" fmla="*/ 21557 h 410186"/>
                <a:gd name="connsiteX48" fmla="*/ 220781 w 410271"/>
                <a:gd name="connsiteY48" fmla="*/ 0 h 410186"/>
                <a:gd name="connsiteX49" fmla="*/ 189619 w 410271"/>
                <a:gd name="connsiteY49" fmla="*/ 0 h 410186"/>
                <a:gd name="connsiteX50" fmla="*/ 168062 w 410271"/>
                <a:gd name="connsiteY50" fmla="*/ 21557 h 410186"/>
                <a:gd name="connsiteX51" fmla="*/ 168062 w 410271"/>
                <a:gd name="connsiteY51" fmla="*/ 38974 h 410186"/>
                <a:gd name="connsiteX52" fmla="*/ 154188 w 410271"/>
                <a:gd name="connsiteY52" fmla="*/ 59123 h 410186"/>
                <a:gd name="connsiteX53" fmla="*/ 138991 w 410271"/>
                <a:gd name="connsiteY53" fmla="*/ 65696 h 410186"/>
                <a:gd name="connsiteX54" fmla="*/ 114232 w 410271"/>
                <a:gd name="connsiteY54" fmla="*/ 61598 h 410186"/>
                <a:gd name="connsiteX55" fmla="*/ 101725 w 410271"/>
                <a:gd name="connsiteY55" fmla="*/ 49091 h 410186"/>
                <a:gd name="connsiteX56" fmla="*/ 71203 w 410271"/>
                <a:gd name="connsiteY56" fmla="*/ 49091 h 410186"/>
                <a:gd name="connsiteX57" fmla="*/ 49176 w 410271"/>
                <a:gd name="connsiteY57" fmla="*/ 71118 h 410186"/>
                <a:gd name="connsiteX58" fmla="*/ 49176 w 410271"/>
                <a:gd name="connsiteY58" fmla="*/ 101640 h 410186"/>
                <a:gd name="connsiteX59" fmla="*/ 63221 w 410271"/>
                <a:gd name="connsiteY59" fmla="*/ 115684 h 410186"/>
                <a:gd name="connsiteX60" fmla="*/ 67361 w 410271"/>
                <a:gd name="connsiteY60" fmla="*/ 139717 h 410186"/>
                <a:gd name="connsiteX61" fmla="*/ 61855 w 410271"/>
                <a:gd name="connsiteY61" fmla="*/ 153548 h 410186"/>
                <a:gd name="connsiteX62" fmla="*/ 41236 w 410271"/>
                <a:gd name="connsiteY62" fmla="*/ 167976 h 410186"/>
                <a:gd name="connsiteX63" fmla="*/ 21728 w 410271"/>
                <a:gd name="connsiteY63" fmla="*/ 167976 h 410186"/>
                <a:gd name="connsiteX64" fmla="*/ 171 w 410271"/>
                <a:gd name="connsiteY64" fmla="*/ 189534 h 410186"/>
                <a:gd name="connsiteX65" fmla="*/ 127210 w 410271"/>
                <a:gd name="connsiteY65" fmla="*/ 205029 h 410186"/>
                <a:gd name="connsiteX66" fmla="*/ 205115 w 410271"/>
                <a:gd name="connsiteY66" fmla="*/ 127124 h 410186"/>
                <a:gd name="connsiteX67" fmla="*/ 283020 w 410271"/>
                <a:gd name="connsiteY67" fmla="*/ 205029 h 410186"/>
                <a:gd name="connsiteX68" fmla="*/ 205115 w 410271"/>
                <a:gd name="connsiteY68" fmla="*/ 282934 h 410186"/>
                <a:gd name="connsiteX69" fmla="*/ 127210 w 410271"/>
                <a:gd name="connsiteY69" fmla="*/ 205029 h 410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410271" h="410186">
                  <a:moveTo>
                    <a:pt x="0" y="189448"/>
                  </a:moveTo>
                  <a:lnTo>
                    <a:pt x="0" y="220610"/>
                  </a:lnTo>
                  <a:cubicBezTo>
                    <a:pt x="0" y="232520"/>
                    <a:pt x="9647" y="242168"/>
                    <a:pt x="21557" y="242168"/>
                  </a:cubicBezTo>
                  <a:lnTo>
                    <a:pt x="42090" y="242168"/>
                  </a:lnTo>
                  <a:cubicBezTo>
                    <a:pt x="51183" y="242168"/>
                    <a:pt x="59464" y="247717"/>
                    <a:pt x="62580" y="256255"/>
                  </a:cubicBezTo>
                  <a:cubicBezTo>
                    <a:pt x="64245" y="260779"/>
                    <a:pt x="66081" y="265219"/>
                    <a:pt x="68172" y="269573"/>
                  </a:cubicBezTo>
                  <a:cubicBezTo>
                    <a:pt x="72057" y="277726"/>
                    <a:pt x="70179" y="287417"/>
                    <a:pt x="63818" y="293820"/>
                  </a:cubicBezTo>
                  <a:lnTo>
                    <a:pt x="49091" y="308547"/>
                  </a:lnTo>
                  <a:cubicBezTo>
                    <a:pt x="40681" y="316956"/>
                    <a:pt x="40681" y="330617"/>
                    <a:pt x="49091" y="339069"/>
                  </a:cubicBezTo>
                  <a:lnTo>
                    <a:pt x="71118" y="361096"/>
                  </a:lnTo>
                  <a:cubicBezTo>
                    <a:pt x="79527" y="369505"/>
                    <a:pt x="93187" y="369505"/>
                    <a:pt x="101640" y="361096"/>
                  </a:cubicBezTo>
                  <a:lnTo>
                    <a:pt x="116068" y="346667"/>
                  </a:lnTo>
                  <a:cubicBezTo>
                    <a:pt x="122471" y="340264"/>
                    <a:pt x="132247" y="338428"/>
                    <a:pt x="140400" y="342356"/>
                  </a:cubicBezTo>
                  <a:cubicBezTo>
                    <a:pt x="144754" y="344447"/>
                    <a:pt x="149236" y="346368"/>
                    <a:pt x="153804" y="348076"/>
                  </a:cubicBezTo>
                  <a:cubicBezTo>
                    <a:pt x="162256" y="351192"/>
                    <a:pt x="167976" y="359089"/>
                    <a:pt x="167976" y="368096"/>
                  </a:cubicBezTo>
                  <a:lnTo>
                    <a:pt x="167976" y="388629"/>
                  </a:lnTo>
                  <a:cubicBezTo>
                    <a:pt x="167976" y="400539"/>
                    <a:pt x="177624" y="410186"/>
                    <a:pt x="189534" y="410186"/>
                  </a:cubicBezTo>
                  <a:lnTo>
                    <a:pt x="220696" y="410186"/>
                  </a:lnTo>
                  <a:cubicBezTo>
                    <a:pt x="232605" y="410186"/>
                    <a:pt x="242253" y="400539"/>
                    <a:pt x="242253" y="388629"/>
                  </a:cubicBezTo>
                  <a:lnTo>
                    <a:pt x="242253" y="369633"/>
                  </a:lnTo>
                  <a:cubicBezTo>
                    <a:pt x="242253" y="360413"/>
                    <a:pt x="248272" y="352387"/>
                    <a:pt x="256980" y="349442"/>
                  </a:cubicBezTo>
                  <a:cubicBezTo>
                    <a:pt x="261804" y="347820"/>
                    <a:pt x="266500" y="345942"/>
                    <a:pt x="271067" y="343850"/>
                  </a:cubicBezTo>
                  <a:cubicBezTo>
                    <a:pt x="279349" y="340093"/>
                    <a:pt x="289124" y="341630"/>
                    <a:pt x="295570" y="348076"/>
                  </a:cubicBezTo>
                  <a:lnTo>
                    <a:pt x="308632" y="361138"/>
                  </a:lnTo>
                  <a:cubicBezTo>
                    <a:pt x="317042" y="369548"/>
                    <a:pt x="330702" y="369548"/>
                    <a:pt x="339154" y="361138"/>
                  </a:cubicBezTo>
                  <a:lnTo>
                    <a:pt x="361181" y="339111"/>
                  </a:lnTo>
                  <a:cubicBezTo>
                    <a:pt x="369591" y="330702"/>
                    <a:pt x="369591" y="317042"/>
                    <a:pt x="361181" y="308590"/>
                  </a:cubicBezTo>
                  <a:lnTo>
                    <a:pt x="349442" y="296851"/>
                  </a:lnTo>
                  <a:cubicBezTo>
                    <a:pt x="342911" y="290319"/>
                    <a:pt x="341203" y="280373"/>
                    <a:pt x="345344" y="272134"/>
                  </a:cubicBezTo>
                  <a:cubicBezTo>
                    <a:pt x="347905" y="266969"/>
                    <a:pt x="350210" y="261633"/>
                    <a:pt x="352217" y="256169"/>
                  </a:cubicBezTo>
                  <a:cubicBezTo>
                    <a:pt x="355290" y="247760"/>
                    <a:pt x="363401" y="242253"/>
                    <a:pt x="372365" y="242253"/>
                  </a:cubicBezTo>
                  <a:lnTo>
                    <a:pt x="388715" y="242253"/>
                  </a:lnTo>
                  <a:cubicBezTo>
                    <a:pt x="400624" y="242253"/>
                    <a:pt x="410272" y="232606"/>
                    <a:pt x="410272" y="220696"/>
                  </a:cubicBezTo>
                  <a:lnTo>
                    <a:pt x="410272" y="189534"/>
                  </a:lnTo>
                  <a:cubicBezTo>
                    <a:pt x="410272" y="177624"/>
                    <a:pt x="400624" y="167976"/>
                    <a:pt x="388715" y="167976"/>
                  </a:cubicBezTo>
                  <a:lnTo>
                    <a:pt x="373390" y="167976"/>
                  </a:lnTo>
                  <a:cubicBezTo>
                    <a:pt x="364255" y="167976"/>
                    <a:pt x="356016" y="162299"/>
                    <a:pt x="353070" y="153633"/>
                  </a:cubicBezTo>
                  <a:cubicBezTo>
                    <a:pt x="351107" y="147828"/>
                    <a:pt x="348759" y="142193"/>
                    <a:pt x="346155" y="136772"/>
                  </a:cubicBezTo>
                  <a:cubicBezTo>
                    <a:pt x="342228" y="128618"/>
                    <a:pt x="344021" y="118800"/>
                    <a:pt x="350424" y="112397"/>
                  </a:cubicBezTo>
                  <a:lnTo>
                    <a:pt x="361224" y="101597"/>
                  </a:lnTo>
                  <a:cubicBezTo>
                    <a:pt x="369633" y="93187"/>
                    <a:pt x="369633" y="79527"/>
                    <a:pt x="361224" y="71075"/>
                  </a:cubicBezTo>
                  <a:lnTo>
                    <a:pt x="339197" y="49048"/>
                  </a:lnTo>
                  <a:cubicBezTo>
                    <a:pt x="330787" y="40639"/>
                    <a:pt x="317127" y="40639"/>
                    <a:pt x="308675" y="49048"/>
                  </a:cubicBezTo>
                  <a:lnTo>
                    <a:pt x="297619" y="60104"/>
                  </a:lnTo>
                  <a:cubicBezTo>
                    <a:pt x="291216" y="66508"/>
                    <a:pt x="281526" y="68300"/>
                    <a:pt x="273372" y="64459"/>
                  </a:cubicBezTo>
                  <a:cubicBezTo>
                    <a:pt x="267994" y="61897"/>
                    <a:pt x="262444" y="59677"/>
                    <a:pt x="256767" y="57757"/>
                  </a:cubicBezTo>
                  <a:cubicBezTo>
                    <a:pt x="248101" y="54811"/>
                    <a:pt x="242338" y="46572"/>
                    <a:pt x="242338" y="37394"/>
                  </a:cubicBezTo>
                  <a:lnTo>
                    <a:pt x="242338" y="21557"/>
                  </a:lnTo>
                  <a:cubicBezTo>
                    <a:pt x="242338" y="9647"/>
                    <a:pt x="232691" y="0"/>
                    <a:pt x="220781" y="0"/>
                  </a:cubicBezTo>
                  <a:lnTo>
                    <a:pt x="189619" y="0"/>
                  </a:lnTo>
                  <a:cubicBezTo>
                    <a:pt x="177709" y="0"/>
                    <a:pt x="168062" y="9647"/>
                    <a:pt x="168062" y="21557"/>
                  </a:cubicBezTo>
                  <a:lnTo>
                    <a:pt x="168062" y="38974"/>
                  </a:lnTo>
                  <a:cubicBezTo>
                    <a:pt x="168062" y="47896"/>
                    <a:pt x="162598" y="56006"/>
                    <a:pt x="154188" y="59123"/>
                  </a:cubicBezTo>
                  <a:cubicBezTo>
                    <a:pt x="148980" y="61043"/>
                    <a:pt x="143900" y="63263"/>
                    <a:pt x="138991" y="65696"/>
                  </a:cubicBezTo>
                  <a:cubicBezTo>
                    <a:pt x="130753" y="69794"/>
                    <a:pt x="120764" y="68130"/>
                    <a:pt x="114232" y="61598"/>
                  </a:cubicBezTo>
                  <a:lnTo>
                    <a:pt x="101725" y="49091"/>
                  </a:lnTo>
                  <a:cubicBezTo>
                    <a:pt x="93315" y="40681"/>
                    <a:pt x="79655" y="40681"/>
                    <a:pt x="71203" y="49091"/>
                  </a:cubicBezTo>
                  <a:lnTo>
                    <a:pt x="49176" y="71118"/>
                  </a:lnTo>
                  <a:cubicBezTo>
                    <a:pt x="40767" y="79527"/>
                    <a:pt x="40767" y="93187"/>
                    <a:pt x="49176" y="101640"/>
                  </a:cubicBezTo>
                  <a:lnTo>
                    <a:pt x="63221" y="115684"/>
                  </a:lnTo>
                  <a:cubicBezTo>
                    <a:pt x="69538" y="122002"/>
                    <a:pt x="71075" y="131606"/>
                    <a:pt x="67361" y="139717"/>
                  </a:cubicBezTo>
                  <a:cubicBezTo>
                    <a:pt x="65312" y="144199"/>
                    <a:pt x="63477" y="148809"/>
                    <a:pt x="61855" y="153548"/>
                  </a:cubicBezTo>
                  <a:cubicBezTo>
                    <a:pt x="58866" y="162256"/>
                    <a:pt x="50457" y="167976"/>
                    <a:pt x="41236" y="167976"/>
                  </a:cubicBezTo>
                  <a:lnTo>
                    <a:pt x="21728" y="167976"/>
                  </a:lnTo>
                  <a:cubicBezTo>
                    <a:pt x="9818" y="167976"/>
                    <a:pt x="171" y="177624"/>
                    <a:pt x="171" y="189534"/>
                  </a:cubicBezTo>
                  <a:close/>
                  <a:moveTo>
                    <a:pt x="127210" y="205029"/>
                  </a:moveTo>
                  <a:cubicBezTo>
                    <a:pt x="127210" y="162000"/>
                    <a:pt x="162085" y="127124"/>
                    <a:pt x="205115" y="127124"/>
                  </a:cubicBezTo>
                  <a:cubicBezTo>
                    <a:pt x="248144" y="127124"/>
                    <a:pt x="283020" y="162000"/>
                    <a:pt x="283020" y="205029"/>
                  </a:cubicBezTo>
                  <a:cubicBezTo>
                    <a:pt x="283020" y="248058"/>
                    <a:pt x="248144" y="282934"/>
                    <a:pt x="205115" y="282934"/>
                  </a:cubicBezTo>
                  <a:cubicBezTo>
                    <a:pt x="162085" y="282934"/>
                    <a:pt x="127210" y="248058"/>
                    <a:pt x="127210" y="205029"/>
                  </a:cubicBezTo>
                  <a:close/>
                </a:path>
              </a:pathLst>
            </a:custGeom>
            <a:solidFill>
              <a:srgbClr val="AF222B"/>
            </a:solidFill>
            <a:ln w="4254" cap="flat">
              <a:noFill/>
              <a:prstDash val="solid"/>
              <a:miter/>
            </a:ln>
          </p:spPr>
          <p:txBody>
            <a:bodyPr rtlCol="0" anchor="ctr"/>
            <a:lstStyle/>
            <a:p>
              <a:endParaRPr lang="en-US"/>
            </a:p>
          </p:txBody>
        </p:sp>
        <p:sp>
          <p:nvSpPr>
            <p:cNvPr id="702" name="Freeform: Shape 701">
              <a:extLst>
                <a:ext uri="{FF2B5EF4-FFF2-40B4-BE49-F238E27FC236}">
                  <a16:creationId xmlns:a16="http://schemas.microsoft.com/office/drawing/2014/main" id="{90CA503B-9CC0-4201-BF41-586B0EE6202C}"/>
                </a:ext>
              </a:extLst>
            </p:cNvPr>
            <p:cNvSpPr/>
            <p:nvPr/>
          </p:nvSpPr>
          <p:spPr>
            <a:xfrm>
              <a:off x="1013371" y="3428696"/>
              <a:ext cx="285282" cy="285196"/>
            </a:xfrm>
            <a:custGeom>
              <a:avLst/>
              <a:gdLst>
                <a:gd name="connsiteX0" fmla="*/ 0 w 285282"/>
                <a:gd name="connsiteY0" fmla="*/ 131734 h 285196"/>
                <a:gd name="connsiteX1" fmla="*/ 0 w 285282"/>
                <a:gd name="connsiteY1" fmla="*/ 153420 h 285196"/>
                <a:gd name="connsiteX2" fmla="*/ 14983 w 285282"/>
                <a:gd name="connsiteY2" fmla="*/ 168403 h 285196"/>
                <a:gd name="connsiteX3" fmla="*/ 29241 w 285282"/>
                <a:gd name="connsiteY3" fmla="*/ 168403 h 285196"/>
                <a:gd name="connsiteX4" fmla="*/ 43499 w 285282"/>
                <a:gd name="connsiteY4" fmla="*/ 178179 h 285196"/>
                <a:gd name="connsiteX5" fmla="*/ 47383 w 285282"/>
                <a:gd name="connsiteY5" fmla="*/ 187442 h 285196"/>
                <a:gd name="connsiteX6" fmla="*/ 44353 w 285282"/>
                <a:gd name="connsiteY6" fmla="*/ 204304 h 285196"/>
                <a:gd name="connsiteX7" fmla="*/ 34108 w 285282"/>
                <a:gd name="connsiteY7" fmla="*/ 214549 h 285196"/>
                <a:gd name="connsiteX8" fmla="*/ 34108 w 285282"/>
                <a:gd name="connsiteY8" fmla="*/ 235764 h 285196"/>
                <a:gd name="connsiteX9" fmla="*/ 49432 w 285282"/>
                <a:gd name="connsiteY9" fmla="*/ 251089 h 285196"/>
                <a:gd name="connsiteX10" fmla="*/ 70648 w 285282"/>
                <a:gd name="connsiteY10" fmla="*/ 251089 h 285196"/>
                <a:gd name="connsiteX11" fmla="*/ 80680 w 285282"/>
                <a:gd name="connsiteY11" fmla="*/ 241058 h 285196"/>
                <a:gd name="connsiteX12" fmla="*/ 97627 w 285282"/>
                <a:gd name="connsiteY12" fmla="*/ 238070 h 285196"/>
                <a:gd name="connsiteX13" fmla="*/ 106933 w 285282"/>
                <a:gd name="connsiteY13" fmla="*/ 242039 h 285196"/>
                <a:gd name="connsiteX14" fmla="*/ 116794 w 285282"/>
                <a:gd name="connsiteY14" fmla="*/ 255956 h 285196"/>
                <a:gd name="connsiteX15" fmla="*/ 116794 w 285282"/>
                <a:gd name="connsiteY15" fmla="*/ 270213 h 285196"/>
                <a:gd name="connsiteX16" fmla="*/ 131777 w 285282"/>
                <a:gd name="connsiteY16" fmla="*/ 285197 h 285196"/>
                <a:gd name="connsiteX17" fmla="*/ 153462 w 285282"/>
                <a:gd name="connsiteY17" fmla="*/ 285197 h 285196"/>
                <a:gd name="connsiteX18" fmla="*/ 168446 w 285282"/>
                <a:gd name="connsiteY18" fmla="*/ 270213 h 285196"/>
                <a:gd name="connsiteX19" fmla="*/ 168446 w 285282"/>
                <a:gd name="connsiteY19" fmla="*/ 257023 h 285196"/>
                <a:gd name="connsiteX20" fmla="*/ 178691 w 285282"/>
                <a:gd name="connsiteY20" fmla="*/ 242979 h 285196"/>
                <a:gd name="connsiteX21" fmla="*/ 188466 w 285282"/>
                <a:gd name="connsiteY21" fmla="*/ 239094 h 285196"/>
                <a:gd name="connsiteX22" fmla="*/ 205499 w 285282"/>
                <a:gd name="connsiteY22" fmla="*/ 242039 h 285196"/>
                <a:gd name="connsiteX23" fmla="*/ 214591 w 285282"/>
                <a:gd name="connsiteY23" fmla="*/ 251132 h 285196"/>
                <a:gd name="connsiteX24" fmla="*/ 235807 w 285282"/>
                <a:gd name="connsiteY24" fmla="*/ 251132 h 285196"/>
                <a:gd name="connsiteX25" fmla="*/ 251132 w 285282"/>
                <a:gd name="connsiteY25" fmla="*/ 235807 h 285196"/>
                <a:gd name="connsiteX26" fmla="*/ 251132 w 285282"/>
                <a:gd name="connsiteY26" fmla="*/ 214591 h 285196"/>
                <a:gd name="connsiteX27" fmla="*/ 242979 w 285282"/>
                <a:gd name="connsiteY27" fmla="*/ 206438 h 285196"/>
                <a:gd name="connsiteX28" fmla="*/ 240119 w 285282"/>
                <a:gd name="connsiteY28" fmla="*/ 189235 h 285196"/>
                <a:gd name="connsiteX29" fmla="*/ 244900 w 285282"/>
                <a:gd name="connsiteY29" fmla="*/ 178136 h 285196"/>
                <a:gd name="connsiteX30" fmla="*/ 258944 w 285282"/>
                <a:gd name="connsiteY30" fmla="*/ 168446 h 285196"/>
                <a:gd name="connsiteX31" fmla="*/ 270299 w 285282"/>
                <a:gd name="connsiteY31" fmla="*/ 168446 h 285196"/>
                <a:gd name="connsiteX32" fmla="*/ 285282 w 285282"/>
                <a:gd name="connsiteY32" fmla="*/ 153462 h 285196"/>
                <a:gd name="connsiteX33" fmla="*/ 285282 w 285282"/>
                <a:gd name="connsiteY33" fmla="*/ 131777 h 285196"/>
                <a:gd name="connsiteX34" fmla="*/ 270299 w 285282"/>
                <a:gd name="connsiteY34" fmla="*/ 116794 h 285196"/>
                <a:gd name="connsiteX35" fmla="*/ 259627 w 285282"/>
                <a:gd name="connsiteY35" fmla="*/ 116794 h 285196"/>
                <a:gd name="connsiteX36" fmla="*/ 245497 w 285282"/>
                <a:gd name="connsiteY36" fmla="*/ 106847 h 285196"/>
                <a:gd name="connsiteX37" fmla="*/ 240674 w 285282"/>
                <a:gd name="connsiteY37" fmla="*/ 95108 h 285196"/>
                <a:gd name="connsiteX38" fmla="*/ 243662 w 285282"/>
                <a:gd name="connsiteY38" fmla="*/ 78161 h 285196"/>
                <a:gd name="connsiteX39" fmla="*/ 251175 w 285282"/>
                <a:gd name="connsiteY39" fmla="*/ 70648 h 285196"/>
                <a:gd name="connsiteX40" fmla="*/ 251175 w 285282"/>
                <a:gd name="connsiteY40" fmla="*/ 49432 h 285196"/>
                <a:gd name="connsiteX41" fmla="*/ 235850 w 285282"/>
                <a:gd name="connsiteY41" fmla="*/ 34108 h 285196"/>
                <a:gd name="connsiteX42" fmla="*/ 214634 w 285282"/>
                <a:gd name="connsiteY42" fmla="*/ 34108 h 285196"/>
                <a:gd name="connsiteX43" fmla="*/ 206950 w 285282"/>
                <a:gd name="connsiteY43" fmla="*/ 41791 h 285196"/>
                <a:gd name="connsiteX44" fmla="*/ 190089 w 285282"/>
                <a:gd name="connsiteY44" fmla="*/ 44822 h 285196"/>
                <a:gd name="connsiteX45" fmla="*/ 178563 w 285282"/>
                <a:gd name="connsiteY45" fmla="*/ 40169 h 285196"/>
                <a:gd name="connsiteX46" fmla="*/ 168531 w 285282"/>
                <a:gd name="connsiteY46" fmla="*/ 25997 h 285196"/>
                <a:gd name="connsiteX47" fmla="*/ 168531 w 285282"/>
                <a:gd name="connsiteY47" fmla="*/ 14983 h 285196"/>
                <a:gd name="connsiteX48" fmla="*/ 153548 w 285282"/>
                <a:gd name="connsiteY48" fmla="*/ 0 h 285196"/>
                <a:gd name="connsiteX49" fmla="*/ 131862 w 285282"/>
                <a:gd name="connsiteY49" fmla="*/ 0 h 285196"/>
                <a:gd name="connsiteX50" fmla="*/ 116879 w 285282"/>
                <a:gd name="connsiteY50" fmla="*/ 14983 h 285196"/>
                <a:gd name="connsiteX51" fmla="*/ 116879 w 285282"/>
                <a:gd name="connsiteY51" fmla="*/ 27064 h 285196"/>
                <a:gd name="connsiteX52" fmla="*/ 107232 w 285282"/>
                <a:gd name="connsiteY52" fmla="*/ 41066 h 285196"/>
                <a:gd name="connsiteX53" fmla="*/ 96645 w 285282"/>
                <a:gd name="connsiteY53" fmla="*/ 45633 h 285196"/>
                <a:gd name="connsiteX54" fmla="*/ 79442 w 285282"/>
                <a:gd name="connsiteY54" fmla="*/ 42773 h 285196"/>
                <a:gd name="connsiteX55" fmla="*/ 70734 w 285282"/>
                <a:gd name="connsiteY55" fmla="*/ 34065 h 285196"/>
                <a:gd name="connsiteX56" fmla="*/ 49518 w 285282"/>
                <a:gd name="connsiteY56" fmla="*/ 34065 h 285196"/>
                <a:gd name="connsiteX57" fmla="*/ 34193 w 285282"/>
                <a:gd name="connsiteY57" fmla="*/ 49390 h 285196"/>
                <a:gd name="connsiteX58" fmla="*/ 34193 w 285282"/>
                <a:gd name="connsiteY58" fmla="*/ 70606 h 285196"/>
                <a:gd name="connsiteX59" fmla="*/ 43968 w 285282"/>
                <a:gd name="connsiteY59" fmla="*/ 80381 h 285196"/>
                <a:gd name="connsiteX60" fmla="*/ 46828 w 285282"/>
                <a:gd name="connsiteY60" fmla="*/ 97115 h 285196"/>
                <a:gd name="connsiteX61" fmla="*/ 42987 w 285282"/>
                <a:gd name="connsiteY61" fmla="*/ 106719 h 285196"/>
                <a:gd name="connsiteX62" fmla="*/ 28643 w 285282"/>
                <a:gd name="connsiteY62" fmla="*/ 116751 h 285196"/>
                <a:gd name="connsiteX63" fmla="*/ 15069 w 285282"/>
                <a:gd name="connsiteY63" fmla="*/ 116751 h 285196"/>
                <a:gd name="connsiteX64" fmla="*/ 85 w 285282"/>
                <a:gd name="connsiteY64" fmla="*/ 131734 h 285196"/>
                <a:gd name="connsiteX65" fmla="*/ 88449 w 285282"/>
                <a:gd name="connsiteY65" fmla="*/ 142577 h 285196"/>
                <a:gd name="connsiteX66" fmla="*/ 142620 w 285282"/>
                <a:gd name="connsiteY66" fmla="*/ 88406 h 285196"/>
                <a:gd name="connsiteX67" fmla="*/ 196791 w 285282"/>
                <a:gd name="connsiteY67" fmla="*/ 142577 h 285196"/>
                <a:gd name="connsiteX68" fmla="*/ 142620 w 285282"/>
                <a:gd name="connsiteY68" fmla="*/ 196748 h 285196"/>
                <a:gd name="connsiteX69" fmla="*/ 88449 w 285282"/>
                <a:gd name="connsiteY69" fmla="*/ 142577 h 285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85282" h="285196">
                  <a:moveTo>
                    <a:pt x="0" y="131734"/>
                  </a:moveTo>
                  <a:lnTo>
                    <a:pt x="0" y="153420"/>
                  </a:lnTo>
                  <a:cubicBezTo>
                    <a:pt x="0" y="161701"/>
                    <a:pt x="6702" y="168403"/>
                    <a:pt x="14983" y="168403"/>
                  </a:cubicBezTo>
                  <a:lnTo>
                    <a:pt x="29241" y="168403"/>
                  </a:lnTo>
                  <a:cubicBezTo>
                    <a:pt x="35559" y="168403"/>
                    <a:pt x="41322" y="172245"/>
                    <a:pt x="43499" y="178179"/>
                  </a:cubicBezTo>
                  <a:cubicBezTo>
                    <a:pt x="44651" y="181338"/>
                    <a:pt x="45932" y="184411"/>
                    <a:pt x="47383" y="187442"/>
                  </a:cubicBezTo>
                  <a:cubicBezTo>
                    <a:pt x="50073" y="193119"/>
                    <a:pt x="48792" y="199864"/>
                    <a:pt x="44353" y="204304"/>
                  </a:cubicBezTo>
                  <a:lnTo>
                    <a:pt x="34108" y="214549"/>
                  </a:lnTo>
                  <a:cubicBezTo>
                    <a:pt x="28259" y="220397"/>
                    <a:pt x="28259" y="229916"/>
                    <a:pt x="34108" y="235764"/>
                  </a:cubicBezTo>
                  <a:lnTo>
                    <a:pt x="49432" y="251089"/>
                  </a:lnTo>
                  <a:cubicBezTo>
                    <a:pt x="55281" y="256938"/>
                    <a:pt x="64800" y="256938"/>
                    <a:pt x="70648" y="251089"/>
                  </a:cubicBezTo>
                  <a:lnTo>
                    <a:pt x="80680" y="241058"/>
                  </a:lnTo>
                  <a:cubicBezTo>
                    <a:pt x="85119" y="236618"/>
                    <a:pt x="91949" y="235338"/>
                    <a:pt x="97627" y="238070"/>
                  </a:cubicBezTo>
                  <a:cubicBezTo>
                    <a:pt x="100658" y="239521"/>
                    <a:pt x="103774" y="240844"/>
                    <a:pt x="106933" y="242039"/>
                  </a:cubicBezTo>
                  <a:cubicBezTo>
                    <a:pt x="112781" y="244217"/>
                    <a:pt x="116794" y="249681"/>
                    <a:pt x="116794" y="255956"/>
                  </a:cubicBezTo>
                  <a:lnTo>
                    <a:pt x="116794" y="270213"/>
                  </a:lnTo>
                  <a:cubicBezTo>
                    <a:pt x="116794" y="278495"/>
                    <a:pt x="123496" y="285197"/>
                    <a:pt x="131777" y="285197"/>
                  </a:cubicBezTo>
                  <a:lnTo>
                    <a:pt x="153462" y="285197"/>
                  </a:lnTo>
                  <a:cubicBezTo>
                    <a:pt x="161744" y="285197"/>
                    <a:pt x="168446" y="278495"/>
                    <a:pt x="168446" y="270213"/>
                  </a:cubicBezTo>
                  <a:lnTo>
                    <a:pt x="168446" y="257023"/>
                  </a:lnTo>
                  <a:cubicBezTo>
                    <a:pt x="168446" y="250620"/>
                    <a:pt x="172629" y="245028"/>
                    <a:pt x="178691" y="242979"/>
                  </a:cubicBezTo>
                  <a:cubicBezTo>
                    <a:pt x="182021" y="241826"/>
                    <a:pt x="185308" y="240545"/>
                    <a:pt x="188466" y="239094"/>
                  </a:cubicBezTo>
                  <a:cubicBezTo>
                    <a:pt x="194229" y="236447"/>
                    <a:pt x="201017" y="237557"/>
                    <a:pt x="205499" y="242039"/>
                  </a:cubicBezTo>
                  <a:lnTo>
                    <a:pt x="214591" y="251132"/>
                  </a:lnTo>
                  <a:cubicBezTo>
                    <a:pt x="220440" y="256980"/>
                    <a:pt x="229959" y="256980"/>
                    <a:pt x="235807" y="251132"/>
                  </a:cubicBezTo>
                  <a:lnTo>
                    <a:pt x="251132" y="235807"/>
                  </a:lnTo>
                  <a:cubicBezTo>
                    <a:pt x="256980" y="229959"/>
                    <a:pt x="256980" y="220439"/>
                    <a:pt x="251132" y="214591"/>
                  </a:cubicBezTo>
                  <a:lnTo>
                    <a:pt x="242979" y="206438"/>
                  </a:lnTo>
                  <a:cubicBezTo>
                    <a:pt x="238454" y="201913"/>
                    <a:pt x="237259" y="194998"/>
                    <a:pt x="240119" y="189235"/>
                  </a:cubicBezTo>
                  <a:cubicBezTo>
                    <a:pt x="241911" y="185649"/>
                    <a:pt x="243491" y="181935"/>
                    <a:pt x="244900" y="178136"/>
                  </a:cubicBezTo>
                  <a:cubicBezTo>
                    <a:pt x="247034" y="172288"/>
                    <a:pt x="252711" y="168446"/>
                    <a:pt x="258944" y="168446"/>
                  </a:cubicBezTo>
                  <a:lnTo>
                    <a:pt x="270299" y="168446"/>
                  </a:lnTo>
                  <a:cubicBezTo>
                    <a:pt x="278580" y="168446"/>
                    <a:pt x="285282" y="161744"/>
                    <a:pt x="285282" y="153462"/>
                  </a:cubicBezTo>
                  <a:lnTo>
                    <a:pt x="285282" y="131777"/>
                  </a:lnTo>
                  <a:cubicBezTo>
                    <a:pt x="285282" y="123496"/>
                    <a:pt x="278580" y="116794"/>
                    <a:pt x="270299" y="116794"/>
                  </a:cubicBezTo>
                  <a:lnTo>
                    <a:pt x="259627" y="116794"/>
                  </a:lnTo>
                  <a:cubicBezTo>
                    <a:pt x="253266" y="116794"/>
                    <a:pt x="247546" y="112824"/>
                    <a:pt x="245497" y="106847"/>
                  </a:cubicBezTo>
                  <a:cubicBezTo>
                    <a:pt x="244131" y="102835"/>
                    <a:pt x="242509" y="98907"/>
                    <a:pt x="240674" y="95108"/>
                  </a:cubicBezTo>
                  <a:cubicBezTo>
                    <a:pt x="237942" y="89431"/>
                    <a:pt x="239179" y="82601"/>
                    <a:pt x="243662" y="78161"/>
                  </a:cubicBezTo>
                  <a:lnTo>
                    <a:pt x="251175" y="70648"/>
                  </a:lnTo>
                  <a:cubicBezTo>
                    <a:pt x="257023" y="64800"/>
                    <a:pt x="257023" y="55281"/>
                    <a:pt x="251175" y="49432"/>
                  </a:cubicBezTo>
                  <a:lnTo>
                    <a:pt x="235850" y="34108"/>
                  </a:lnTo>
                  <a:cubicBezTo>
                    <a:pt x="230002" y="28259"/>
                    <a:pt x="220482" y="28259"/>
                    <a:pt x="214634" y="34108"/>
                  </a:cubicBezTo>
                  <a:lnTo>
                    <a:pt x="206950" y="41791"/>
                  </a:lnTo>
                  <a:cubicBezTo>
                    <a:pt x="202511" y="46231"/>
                    <a:pt x="195766" y="47511"/>
                    <a:pt x="190089" y="44822"/>
                  </a:cubicBezTo>
                  <a:cubicBezTo>
                    <a:pt x="186375" y="43072"/>
                    <a:pt x="182490" y="41492"/>
                    <a:pt x="178563" y="40169"/>
                  </a:cubicBezTo>
                  <a:cubicBezTo>
                    <a:pt x="172544" y="38120"/>
                    <a:pt x="168531" y="32400"/>
                    <a:pt x="168531" y="25997"/>
                  </a:cubicBezTo>
                  <a:lnTo>
                    <a:pt x="168531" y="14983"/>
                  </a:lnTo>
                  <a:cubicBezTo>
                    <a:pt x="168531" y="6702"/>
                    <a:pt x="161829" y="0"/>
                    <a:pt x="153548" y="0"/>
                  </a:cubicBezTo>
                  <a:lnTo>
                    <a:pt x="131862" y="0"/>
                  </a:lnTo>
                  <a:cubicBezTo>
                    <a:pt x="123581" y="0"/>
                    <a:pt x="116879" y="6702"/>
                    <a:pt x="116879" y="14983"/>
                  </a:cubicBezTo>
                  <a:lnTo>
                    <a:pt x="116879" y="27064"/>
                  </a:lnTo>
                  <a:cubicBezTo>
                    <a:pt x="116879" y="33296"/>
                    <a:pt x="113080" y="38931"/>
                    <a:pt x="107232" y="41066"/>
                  </a:cubicBezTo>
                  <a:cubicBezTo>
                    <a:pt x="103603" y="42389"/>
                    <a:pt x="100060" y="43926"/>
                    <a:pt x="96645" y="45633"/>
                  </a:cubicBezTo>
                  <a:cubicBezTo>
                    <a:pt x="90882" y="48493"/>
                    <a:pt x="83967" y="47298"/>
                    <a:pt x="79442" y="42773"/>
                  </a:cubicBezTo>
                  <a:lnTo>
                    <a:pt x="70734" y="34065"/>
                  </a:lnTo>
                  <a:cubicBezTo>
                    <a:pt x="64885" y="28217"/>
                    <a:pt x="55366" y="28217"/>
                    <a:pt x="49518" y="34065"/>
                  </a:cubicBezTo>
                  <a:lnTo>
                    <a:pt x="34193" y="49390"/>
                  </a:lnTo>
                  <a:cubicBezTo>
                    <a:pt x="28345" y="55238"/>
                    <a:pt x="28345" y="64757"/>
                    <a:pt x="34193" y="70606"/>
                  </a:cubicBezTo>
                  <a:lnTo>
                    <a:pt x="43968" y="80381"/>
                  </a:lnTo>
                  <a:cubicBezTo>
                    <a:pt x="48365" y="84778"/>
                    <a:pt x="49432" y="91437"/>
                    <a:pt x="46828" y="97115"/>
                  </a:cubicBezTo>
                  <a:cubicBezTo>
                    <a:pt x="45420" y="100231"/>
                    <a:pt x="44096" y="103432"/>
                    <a:pt x="42987" y="106719"/>
                  </a:cubicBezTo>
                  <a:cubicBezTo>
                    <a:pt x="40895" y="112781"/>
                    <a:pt x="35089" y="116751"/>
                    <a:pt x="28643" y="116751"/>
                  </a:cubicBezTo>
                  <a:lnTo>
                    <a:pt x="15069" y="116751"/>
                  </a:lnTo>
                  <a:cubicBezTo>
                    <a:pt x="6787" y="116751"/>
                    <a:pt x="85" y="123453"/>
                    <a:pt x="85" y="131734"/>
                  </a:cubicBezTo>
                  <a:close/>
                  <a:moveTo>
                    <a:pt x="88449" y="142577"/>
                  </a:moveTo>
                  <a:cubicBezTo>
                    <a:pt x="88449" y="112653"/>
                    <a:pt x="112696" y="88406"/>
                    <a:pt x="142620" y="88406"/>
                  </a:cubicBezTo>
                  <a:cubicBezTo>
                    <a:pt x="172544" y="88406"/>
                    <a:pt x="196791" y="112653"/>
                    <a:pt x="196791" y="142577"/>
                  </a:cubicBezTo>
                  <a:cubicBezTo>
                    <a:pt x="196791" y="172501"/>
                    <a:pt x="172544" y="196748"/>
                    <a:pt x="142620" y="196748"/>
                  </a:cubicBezTo>
                  <a:cubicBezTo>
                    <a:pt x="112696" y="196748"/>
                    <a:pt x="88449" y="172501"/>
                    <a:pt x="88449" y="142577"/>
                  </a:cubicBezTo>
                  <a:close/>
                </a:path>
              </a:pathLst>
            </a:custGeom>
            <a:solidFill>
              <a:schemeClr val="tx2">
                <a:lumMod val="40000"/>
                <a:lumOff val="60000"/>
              </a:schemeClr>
            </a:solidFill>
            <a:ln w="4254" cap="flat">
              <a:noFill/>
              <a:prstDash val="solid"/>
              <a:miter/>
            </a:ln>
          </p:spPr>
          <p:txBody>
            <a:bodyPr rtlCol="0" anchor="ctr"/>
            <a:lstStyle/>
            <a:p>
              <a:endParaRPr lang="en-US"/>
            </a:p>
          </p:txBody>
        </p:sp>
        <p:grpSp>
          <p:nvGrpSpPr>
            <p:cNvPr id="703" name="Graphic 373">
              <a:extLst>
                <a:ext uri="{FF2B5EF4-FFF2-40B4-BE49-F238E27FC236}">
                  <a16:creationId xmlns:a16="http://schemas.microsoft.com/office/drawing/2014/main" id="{54E3A49E-ED27-4D09-8811-6453F34EB006}"/>
                </a:ext>
              </a:extLst>
            </p:cNvPr>
            <p:cNvGrpSpPr/>
            <p:nvPr/>
          </p:nvGrpSpPr>
          <p:grpSpPr>
            <a:xfrm>
              <a:off x="1066219" y="3185020"/>
              <a:ext cx="177051" cy="87755"/>
              <a:chOff x="1066219" y="3185020"/>
              <a:chExt cx="177051" cy="87755"/>
            </a:xfrm>
          </p:grpSpPr>
          <p:sp>
            <p:nvSpPr>
              <p:cNvPr id="706" name="Freeform: Shape 705">
                <a:extLst>
                  <a:ext uri="{FF2B5EF4-FFF2-40B4-BE49-F238E27FC236}">
                    <a16:creationId xmlns:a16="http://schemas.microsoft.com/office/drawing/2014/main" id="{C851BC67-59B4-41CA-B888-2CC6B447AC54}"/>
                  </a:ext>
                </a:extLst>
              </p:cNvPr>
              <p:cNvSpPr/>
              <p:nvPr/>
            </p:nvSpPr>
            <p:spPr>
              <a:xfrm>
                <a:off x="1066219" y="3185020"/>
                <a:ext cx="177051" cy="87755"/>
              </a:xfrm>
              <a:custGeom>
                <a:avLst/>
                <a:gdLst>
                  <a:gd name="connsiteX0" fmla="*/ 62708 w 177051"/>
                  <a:gd name="connsiteY0" fmla="*/ 8210 h 87755"/>
                  <a:gd name="connsiteX1" fmla="*/ 93059 w 177051"/>
                  <a:gd name="connsiteY1" fmla="*/ 5862 h 87755"/>
                  <a:gd name="connsiteX2" fmla="*/ 123453 w 177051"/>
                  <a:gd name="connsiteY2" fmla="*/ 5862 h 87755"/>
                  <a:gd name="connsiteX3" fmla="*/ 154914 w 177051"/>
                  <a:gd name="connsiteY3" fmla="*/ 10558 h 87755"/>
                  <a:gd name="connsiteX4" fmla="*/ 173568 w 177051"/>
                  <a:gd name="connsiteY4" fmla="*/ 43983 h 87755"/>
                  <a:gd name="connsiteX5" fmla="*/ 153804 w 177051"/>
                  <a:gd name="connsiteY5" fmla="*/ 65326 h 87755"/>
                  <a:gd name="connsiteX6" fmla="*/ 142022 w 177051"/>
                  <a:gd name="connsiteY6" fmla="*/ 81847 h 87755"/>
                  <a:gd name="connsiteX7" fmla="*/ 122386 w 177051"/>
                  <a:gd name="connsiteY7" fmla="*/ 71303 h 87755"/>
                  <a:gd name="connsiteX8" fmla="*/ 113293 w 177051"/>
                  <a:gd name="connsiteY8" fmla="*/ 87609 h 87755"/>
                  <a:gd name="connsiteX9" fmla="*/ 83540 w 177051"/>
                  <a:gd name="connsiteY9" fmla="*/ 54825 h 87755"/>
                  <a:gd name="connsiteX10" fmla="*/ 76496 w 177051"/>
                  <a:gd name="connsiteY10" fmla="*/ 78517 h 87755"/>
                  <a:gd name="connsiteX11" fmla="*/ 46786 w 177051"/>
                  <a:gd name="connsiteY11" fmla="*/ 51752 h 87755"/>
                  <a:gd name="connsiteX12" fmla="*/ 0 w 177051"/>
                  <a:gd name="connsiteY12" fmla="*/ 51752 h 87755"/>
                  <a:gd name="connsiteX13" fmla="*/ 62666 w 177051"/>
                  <a:gd name="connsiteY13" fmla="*/ 8168 h 87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051" h="87755">
                    <a:moveTo>
                      <a:pt x="62708" y="8210"/>
                    </a:moveTo>
                    <a:cubicBezTo>
                      <a:pt x="62708" y="8210"/>
                      <a:pt x="70093" y="-3998"/>
                      <a:pt x="93059" y="5862"/>
                    </a:cubicBezTo>
                    <a:cubicBezTo>
                      <a:pt x="93059" y="5862"/>
                      <a:pt x="104073" y="-7328"/>
                      <a:pt x="123453" y="5862"/>
                    </a:cubicBezTo>
                    <a:cubicBezTo>
                      <a:pt x="123453" y="5862"/>
                      <a:pt x="143943" y="-4724"/>
                      <a:pt x="154914" y="10558"/>
                    </a:cubicBezTo>
                    <a:cubicBezTo>
                      <a:pt x="166354" y="26566"/>
                      <a:pt x="169428" y="33097"/>
                      <a:pt x="173568" y="43983"/>
                    </a:cubicBezTo>
                    <a:cubicBezTo>
                      <a:pt x="183557" y="70278"/>
                      <a:pt x="170538" y="80011"/>
                      <a:pt x="153804" y="65326"/>
                    </a:cubicBezTo>
                    <a:cubicBezTo>
                      <a:pt x="153804" y="65326"/>
                      <a:pt x="153164" y="79712"/>
                      <a:pt x="142022" y="81847"/>
                    </a:cubicBezTo>
                    <a:cubicBezTo>
                      <a:pt x="142022" y="81847"/>
                      <a:pt x="129216" y="85774"/>
                      <a:pt x="122386" y="71303"/>
                    </a:cubicBezTo>
                    <a:cubicBezTo>
                      <a:pt x="122386" y="71303"/>
                      <a:pt x="126526" y="84920"/>
                      <a:pt x="113293" y="87609"/>
                    </a:cubicBezTo>
                    <a:cubicBezTo>
                      <a:pt x="100060" y="90299"/>
                      <a:pt x="83540" y="54825"/>
                      <a:pt x="83540" y="54825"/>
                    </a:cubicBezTo>
                    <a:cubicBezTo>
                      <a:pt x="83540" y="54825"/>
                      <a:pt x="91992" y="75273"/>
                      <a:pt x="76496" y="78517"/>
                    </a:cubicBezTo>
                    <a:cubicBezTo>
                      <a:pt x="61001" y="81761"/>
                      <a:pt x="46786" y="51752"/>
                      <a:pt x="46786" y="51752"/>
                    </a:cubicBezTo>
                    <a:lnTo>
                      <a:pt x="0" y="51752"/>
                    </a:lnTo>
                    <a:cubicBezTo>
                      <a:pt x="0" y="51752"/>
                      <a:pt x="14300" y="-1821"/>
                      <a:pt x="62666" y="8168"/>
                    </a:cubicBezTo>
                    <a:close/>
                  </a:path>
                </a:pathLst>
              </a:custGeom>
              <a:solidFill>
                <a:srgbClr val="FFBEBB"/>
              </a:solidFill>
              <a:ln w="4254" cap="flat">
                <a:noFill/>
                <a:prstDash val="solid"/>
                <a:miter/>
              </a:ln>
            </p:spPr>
            <p:txBody>
              <a:bodyPr rtlCol="0" anchor="ctr"/>
              <a:lstStyle/>
              <a:p>
                <a:endParaRPr lang="en-US"/>
              </a:p>
            </p:txBody>
          </p:sp>
          <p:grpSp>
            <p:nvGrpSpPr>
              <p:cNvPr id="707" name="Graphic 373">
                <a:extLst>
                  <a:ext uri="{FF2B5EF4-FFF2-40B4-BE49-F238E27FC236}">
                    <a16:creationId xmlns:a16="http://schemas.microsoft.com/office/drawing/2014/main" id="{60C1D08E-9D5F-4089-BF51-917151B51AB0}"/>
                  </a:ext>
                </a:extLst>
              </p:cNvPr>
              <p:cNvGrpSpPr/>
              <p:nvPr/>
            </p:nvGrpSpPr>
            <p:grpSpPr>
              <a:xfrm>
                <a:off x="1101275" y="3187483"/>
                <a:ext cx="122190" cy="73748"/>
                <a:chOff x="1101275" y="3187483"/>
                <a:chExt cx="122190" cy="73748"/>
              </a:xfrm>
              <a:solidFill>
                <a:srgbClr val="F47C73"/>
              </a:solidFill>
            </p:grpSpPr>
            <p:sp>
              <p:nvSpPr>
                <p:cNvPr id="708" name="Freeform: Shape 707">
                  <a:extLst>
                    <a:ext uri="{FF2B5EF4-FFF2-40B4-BE49-F238E27FC236}">
                      <a16:creationId xmlns:a16="http://schemas.microsoft.com/office/drawing/2014/main" id="{4A166CCC-084F-44B3-B420-D810B60811B4}"/>
                    </a:ext>
                  </a:extLst>
                </p:cNvPr>
                <p:cNvSpPr/>
                <p:nvPr/>
              </p:nvSpPr>
              <p:spPr>
                <a:xfrm>
                  <a:off x="1125512" y="3189816"/>
                  <a:ext cx="28428" cy="55578"/>
                </a:xfrm>
                <a:custGeom>
                  <a:avLst/>
                  <a:gdLst>
                    <a:gd name="connsiteX0" fmla="*/ 25057 w 28428"/>
                    <a:gd name="connsiteY0" fmla="*/ 55579 h 55578"/>
                    <a:gd name="connsiteX1" fmla="*/ 21941 w 28428"/>
                    <a:gd name="connsiteY1" fmla="*/ 53573 h 55578"/>
                    <a:gd name="connsiteX2" fmla="*/ 298 w 28428"/>
                    <a:gd name="connsiteY2" fmla="*/ 4780 h 55578"/>
                    <a:gd name="connsiteX3" fmla="*/ 2006 w 28428"/>
                    <a:gd name="connsiteY3" fmla="*/ 298 h 55578"/>
                    <a:gd name="connsiteX4" fmla="*/ 6488 w 28428"/>
                    <a:gd name="connsiteY4" fmla="*/ 2006 h 55578"/>
                    <a:gd name="connsiteX5" fmla="*/ 28131 w 28428"/>
                    <a:gd name="connsiteY5" fmla="*/ 50798 h 55578"/>
                    <a:gd name="connsiteX6" fmla="*/ 26423 w 28428"/>
                    <a:gd name="connsiteY6" fmla="*/ 55280 h 55578"/>
                    <a:gd name="connsiteX7" fmla="*/ 25057 w 28428"/>
                    <a:gd name="connsiteY7" fmla="*/ 55579 h 55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428" h="55578">
                      <a:moveTo>
                        <a:pt x="25057" y="55579"/>
                      </a:moveTo>
                      <a:cubicBezTo>
                        <a:pt x="23776" y="55579"/>
                        <a:pt x="22539" y="54811"/>
                        <a:pt x="21941" y="53573"/>
                      </a:cubicBezTo>
                      <a:lnTo>
                        <a:pt x="298" y="4780"/>
                      </a:lnTo>
                      <a:cubicBezTo>
                        <a:pt x="-470" y="3073"/>
                        <a:pt x="298" y="1067"/>
                        <a:pt x="2006" y="298"/>
                      </a:cubicBezTo>
                      <a:cubicBezTo>
                        <a:pt x="3713" y="-470"/>
                        <a:pt x="5720" y="298"/>
                        <a:pt x="6488" y="2006"/>
                      </a:cubicBezTo>
                      <a:lnTo>
                        <a:pt x="28131" y="50798"/>
                      </a:lnTo>
                      <a:cubicBezTo>
                        <a:pt x="28899" y="52505"/>
                        <a:pt x="28131" y="54512"/>
                        <a:pt x="26423" y="55280"/>
                      </a:cubicBezTo>
                      <a:cubicBezTo>
                        <a:pt x="25996" y="55493"/>
                        <a:pt x="25527" y="55579"/>
                        <a:pt x="25057" y="55579"/>
                      </a:cubicBezTo>
                      <a:close/>
                    </a:path>
                  </a:pathLst>
                </a:custGeom>
                <a:solidFill>
                  <a:srgbClr val="F47C73"/>
                </a:solidFill>
                <a:ln w="4254" cap="flat">
                  <a:noFill/>
                  <a:prstDash val="solid"/>
                  <a:miter/>
                </a:ln>
              </p:spPr>
              <p:txBody>
                <a:bodyPr rtlCol="0" anchor="ctr"/>
                <a:lstStyle/>
                <a:p>
                  <a:endParaRPr lang="en-US"/>
                </a:p>
              </p:txBody>
            </p:sp>
            <p:sp>
              <p:nvSpPr>
                <p:cNvPr id="709" name="Freeform: Shape 708">
                  <a:extLst>
                    <a:ext uri="{FF2B5EF4-FFF2-40B4-BE49-F238E27FC236}">
                      <a16:creationId xmlns:a16="http://schemas.microsoft.com/office/drawing/2014/main" id="{ED024DA9-0078-43FB-8FC4-62EE9FCE776F}"/>
                    </a:ext>
                  </a:extLst>
                </p:cNvPr>
                <p:cNvSpPr/>
                <p:nvPr/>
              </p:nvSpPr>
              <p:spPr>
                <a:xfrm>
                  <a:off x="1155906" y="3187510"/>
                  <a:ext cx="37179" cy="73721"/>
                </a:xfrm>
                <a:custGeom>
                  <a:avLst/>
                  <a:gdLst>
                    <a:gd name="connsiteX0" fmla="*/ 33765 w 37179"/>
                    <a:gd name="connsiteY0" fmla="*/ 73722 h 73721"/>
                    <a:gd name="connsiteX1" fmla="*/ 30692 w 37179"/>
                    <a:gd name="connsiteY1" fmla="*/ 71716 h 73721"/>
                    <a:gd name="connsiteX2" fmla="*/ 298 w 37179"/>
                    <a:gd name="connsiteY2" fmla="*/ 4781 h 73721"/>
                    <a:gd name="connsiteX3" fmla="*/ 2006 w 37179"/>
                    <a:gd name="connsiteY3" fmla="*/ 299 h 73721"/>
                    <a:gd name="connsiteX4" fmla="*/ 6488 w 37179"/>
                    <a:gd name="connsiteY4" fmla="*/ 1964 h 73721"/>
                    <a:gd name="connsiteX5" fmla="*/ 36882 w 37179"/>
                    <a:gd name="connsiteY5" fmla="*/ 68898 h 73721"/>
                    <a:gd name="connsiteX6" fmla="*/ 35174 w 37179"/>
                    <a:gd name="connsiteY6" fmla="*/ 73380 h 73721"/>
                    <a:gd name="connsiteX7" fmla="*/ 33765 w 37179"/>
                    <a:gd name="connsiteY7" fmla="*/ 73679 h 73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179" h="73721">
                      <a:moveTo>
                        <a:pt x="33765" y="73722"/>
                      </a:moveTo>
                      <a:cubicBezTo>
                        <a:pt x="32485" y="73722"/>
                        <a:pt x="31247" y="72996"/>
                        <a:pt x="30692" y="71716"/>
                      </a:cubicBezTo>
                      <a:lnTo>
                        <a:pt x="298" y="4781"/>
                      </a:lnTo>
                      <a:cubicBezTo>
                        <a:pt x="-470" y="3074"/>
                        <a:pt x="298" y="1067"/>
                        <a:pt x="2006" y="299"/>
                      </a:cubicBezTo>
                      <a:cubicBezTo>
                        <a:pt x="3671" y="-469"/>
                        <a:pt x="5720" y="299"/>
                        <a:pt x="6488" y="1964"/>
                      </a:cubicBezTo>
                      <a:lnTo>
                        <a:pt x="36882" y="68898"/>
                      </a:lnTo>
                      <a:cubicBezTo>
                        <a:pt x="37650" y="70606"/>
                        <a:pt x="36882" y="72612"/>
                        <a:pt x="35174" y="73380"/>
                      </a:cubicBezTo>
                      <a:cubicBezTo>
                        <a:pt x="34705" y="73594"/>
                        <a:pt x="34235" y="73679"/>
                        <a:pt x="33765" y="73679"/>
                      </a:cubicBezTo>
                      <a:close/>
                    </a:path>
                  </a:pathLst>
                </a:custGeom>
                <a:solidFill>
                  <a:srgbClr val="F47C73"/>
                </a:solidFill>
                <a:ln w="4254" cap="flat">
                  <a:noFill/>
                  <a:prstDash val="solid"/>
                  <a:miter/>
                </a:ln>
              </p:spPr>
              <p:txBody>
                <a:bodyPr rtlCol="0" anchor="ctr"/>
                <a:lstStyle/>
                <a:p>
                  <a:endParaRPr lang="en-US"/>
                </a:p>
              </p:txBody>
            </p:sp>
            <p:sp>
              <p:nvSpPr>
                <p:cNvPr id="710" name="Freeform: Shape 709">
                  <a:extLst>
                    <a:ext uri="{FF2B5EF4-FFF2-40B4-BE49-F238E27FC236}">
                      <a16:creationId xmlns:a16="http://schemas.microsoft.com/office/drawing/2014/main" id="{0F53047E-4980-45EB-94F1-EF1513385B0F}"/>
                    </a:ext>
                  </a:extLst>
                </p:cNvPr>
                <p:cNvSpPr/>
                <p:nvPr/>
              </p:nvSpPr>
              <p:spPr>
                <a:xfrm>
                  <a:off x="1186315" y="3187483"/>
                  <a:ext cx="37149" cy="66278"/>
                </a:xfrm>
                <a:custGeom>
                  <a:avLst/>
                  <a:gdLst>
                    <a:gd name="connsiteX0" fmla="*/ 33750 w 37149"/>
                    <a:gd name="connsiteY0" fmla="*/ 66236 h 66278"/>
                    <a:gd name="connsiteX1" fmla="*/ 30720 w 37149"/>
                    <a:gd name="connsiteY1" fmla="*/ 64400 h 66278"/>
                    <a:gd name="connsiteX2" fmla="*/ 369 w 37149"/>
                    <a:gd name="connsiteY2" fmla="*/ 4936 h 66278"/>
                    <a:gd name="connsiteX3" fmla="*/ 1863 w 37149"/>
                    <a:gd name="connsiteY3" fmla="*/ 369 h 66278"/>
                    <a:gd name="connsiteX4" fmla="*/ 6430 w 37149"/>
                    <a:gd name="connsiteY4" fmla="*/ 1863 h 66278"/>
                    <a:gd name="connsiteX5" fmla="*/ 36781 w 37149"/>
                    <a:gd name="connsiteY5" fmla="*/ 61327 h 66278"/>
                    <a:gd name="connsiteX6" fmla="*/ 35287 w 37149"/>
                    <a:gd name="connsiteY6" fmla="*/ 65894 h 66278"/>
                    <a:gd name="connsiteX7" fmla="*/ 33750 w 37149"/>
                    <a:gd name="connsiteY7" fmla="*/ 66279 h 66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149" h="66278">
                      <a:moveTo>
                        <a:pt x="33750" y="66236"/>
                      </a:moveTo>
                      <a:cubicBezTo>
                        <a:pt x="32513" y="66236"/>
                        <a:pt x="31317" y="65553"/>
                        <a:pt x="30720" y="64400"/>
                      </a:cubicBezTo>
                      <a:lnTo>
                        <a:pt x="369" y="4936"/>
                      </a:lnTo>
                      <a:cubicBezTo>
                        <a:pt x="-485" y="3271"/>
                        <a:pt x="198" y="1222"/>
                        <a:pt x="1863" y="369"/>
                      </a:cubicBezTo>
                      <a:cubicBezTo>
                        <a:pt x="3528" y="-485"/>
                        <a:pt x="5577" y="198"/>
                        <a:pt x="6430" y="1863"/>
                      </a:cubicBezTo>
                      <a:lnTo>
                        <a:pt x="36781" y="61327"/>
                      </a:lnTo>
                      <a:cubicBezTo>
                        <a:pt x="37635" y="62992"/>
                        <a:pt x="36952" y="65041"/>
                        <a:pt x="35287" y="65894"/>
                      </a:cubicBezTo>
                      <a:cubicBezTo>
                        <a:pt x="34775" y="66150"/>
                        <a:pt x="34263" y="66279"/>
                        <a:pt x="33750" y="66279"/>
                      </a:cubicBezTo>
                      <a:close/>
                    </a:path>
                  </a:pathLst>
                </a:custGeom>
                <a:solidFill>
                  <a:srgbClr val="F47C73"/>
                </a:solidFill>
                <a:ln w="4254" cap="flat">
                  <a:noFill/>
                  <a:prstDash val="solid"/>
                  <a:miter/>
                </a:ln>
              </p:spPr>
              <p:txBody>
                <a:bodyPr rtlCol="0" anchor="ctr"/>
                <a:lstStyle/>
                <a:p>
                  <a:endParaRPr lang="en-US"/>
                </a:p>
              </p:txBody>
            </p:sp>
            <p:sp>
              <p:nvSpPr>
                <p:cNvPr id="711" name="Freeform: Shape 710">
                  <a:extLst>
                    <a:ext uri="{FF2B5EF4-FFF2-40B4-BE49-F238E27FC236}">
                      <a16:creationId xmlns:a16="http://schemas.microsoft.com/office/drawing/2014/main" id="{5FFA13F0-0B0F-4A2F-AA89-CF3D8408CAAE}"/>
                    </a:ext>
                  </a:extLst>
                </p:cNvPr>
                <p:cNvSpPr/>
                <p:nvPr/>
              </p:nvSpPr>
              <p:spPr>
                <a:xfrm>
                  <a:off x="1101275" y="3218860"/>
                  <a:ext cx="12744" cy="19491"/>
                </a:xfrm>
                <a:custGeom>
                  <a:avLst/>
                  <a:gdLst>
                    <a:gd name="connsiteX0" fmla="*/ 9339 w 12744"/>
                    <a:gd name="connsiteY0" fmla="*/ 19492 h 19491"/>
                    <a:gd name="connsiteX1" fmla="*/ 6266 w 12744"/>
                    <a:gd name="connsiteY1" fmla="*/ 17528 h 19491"/>
                    <a:gd name="connsiteX2" fmla="*/ 332 w 12744"/>
                    <a:gd name="connsiteY2" fmla="*/ 4850 h 19491"/>
                    <a:gd name="connsiteX3" fmla="*/ 1954 w 12744"/>
                    <a:gd name="connsiteY3" fmla="*/ 325 h 19491"/>
                    <a:gd name="connsiteX4" fmla="*/ 6479 w 12744"/>
                    <a:gd name="connsiteY4" fmla="*/ 1947 h 19491"/>
                    <a:gd name="connsiteX5" fmla="*/ 12413 w 12744"/>
                    <a:gd name="connsiteY5" fmla="*/ 14625 h 19491"/>
                    <a:gd name="connsiteX6" fmla="*/ 10791 w 12744"/>
                    <a:gd name="connsiteY6" fmla="*/ 19150 h 19491"/>
                    <a:gd name="connsiteX7" fmla="*/ 9339 w 12744"/>
                    <a:gd name="connsiteY7" fmla="*/ 19492 h 1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44" h="19491">
                      <a:moveTo>
                        <a:pt x="9339" y="19492"/>
                      </a:moveTo>
                      <a:cubicBezTo>
                        <a:pt x="8059" y="19492"/>
                        <a:pt x="6863" y="18766"/>
                        <a:pt x="6266" y="17528"/>
                      </a:cubicBezTo>
                      <a:lnTo>
                        <a:pt x="332" y="4850"/>
                      </a:lnTo>
                      <a:cubicBezTo>
                        <a:pt x="-479" y="3142"/>
                        <a:pt x="247" y="1136"/>
                        <a:pt x="1954" y="325"/>
                      </a:cubicBezTo>
                      <a:cubicBezTo>
                        <a:pt x="3662" y="-486"/>
                        <a:pt x="5668" y="282"/>
                        <a:pt x="6479" y="1947"/>
                      </a:cubicBezTo>
                      <a:lnTo>
                        <a:pt x="12413" y="14625"/>
                      </a:lnTo>
                      <a:cubicBezTo>
                        <a:pt x="13224" y="16333"/>
                        <a:pt x="12498" y="18339"/>
                        <a:pt x="10791" y="19150"/>
                      </a:cubicBezTo>
                      <a:cubicBezTo>
                        <a:pt x="10321" y="19364"/>
                        <a:pt x="9851" y="19492"/>
                        <a:pt x="9339" y="19492"/>
                      </a:cubicBezTo>
                      <a:close/>
                    </a:path>
                  </a:pathLst>
                </a:custGeom>
                <a:solidFill>
                  <a:srgbClr val="F47C73"/>
                </a:solidFill>
                <a:ln w="4254" cap="flat">
                  <a:noFill/>
                  <a:prstDash val="solid"/>
                  <a:miter/>
                </a:ln>
              </p:spPr>
              <p:txBody>
                <a:bodyPr rtlCol="0" anchor="ctr"/>
                <a:lstStyle/>
                <a:p>
                  <a:endParaRPr lang="en-US"/>
                </a:p>
              </p:txBody>
            </p:sp>
          </p:grpSp>
        </p:grpSp>
        <p:sp>
          <p:nvSpPr>
            <p:cNvPr id="704" name="Freeform: Shape 703">
              <a:extLst>
                <a:ext uri="{FF2B5EF4-FFF2-40B4-BE49-F238E27FC236}">
                  <a16:creationId xmlns:a16="http://schemas.microsoft.com/office/drawing/2014/main" id="{807C58CC-6F60-456C-A20D-FAEC221BB9BE}"/>
                </a:ext>
              </a:extLst>
            </p:cNvPr>
            <p:cNvSpPr/>
            <p:nvPr/>
          </p:nvSpPr>
          <p:spPr>
            <a:xfrm>
              <a:off x="1489724" y="3053300"/>
              <a:ext cx="19807" cy="19807"/>
            </a:xfrm>
            <a:custGeom>
              <a:avLst/>
              <a:gdLst>
                <a:gd name="connsiteX0" fmla="*/ 19807 w 19807"/>
                <a:gd name="connsiteY0" fmla="*/ 9904 h 19807"/>
                <a:gd name="connsiteX1" fmla="*/ 9904 w 19807"/>
                <a:gd name="connsiteY1" fmla="*/ 19807 h 19807"/>
                <a:gd name="connsiteX2" fmla="*/ 0 w 19807"/>
                <a:gd name="connsiteY2" fmla="*/ 9904 h 19807"/>
                <a:gd name="connsiteX3" fmla="*/ 9904 w 19807"/>
                <a:gd name="connsiteY3" fmla="*/ 0 h 19807"/>
                <a:gd name="connsiteX4" fmla="*/ 19807 w 19807"/>
                <a:gd name="connsiteY4" fmla="*/ 9904 h 198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7" h="19807">
                  <a:moveTo>
                    <a:pt x="19807" y="9904"/>
                  </a:moveTo>
                  <a:cubicBezTo>
                    <a:pt x="19807" y="15373"/>
                    <a:pt x="15373" y="19807"/>
                    <a:pt x="9904" y="19807"/>
                  </a:cubicBezTo>
                  <a:cubicBezTo>
                    <a:pt x="4434" y="19807"/>
                    <a:pt x="0" y="15373"/>
                    <a:pt x="0" y="9904"/>
                  </a:cubicBezTo>
                  <a:cubicBezTo>
                    <a:pt x="0" y="4434"/>
                    <a:pt x="4434" y="0"/>
                    <a:pt x="9904" y="0"/>
                  </a:cubicBezTo>
                  <a:cubicBezTo>
                    <a:pt x="15373" y="0"/>
                    <a:pt x="19807" y="4434"/>
                    <a:pt x="19807" y="9904"/>
                  </a:cubicBezTo>
                  <a:close/>
                </a:path>
              </a:pathLst>
            </a:custGeom>
            <a:solidFill>
              <a:schemeClr val="bg1"/>
            </a:solidFill>
            <a:ln w="4254" cap="flat">
              <a:noFill/>
              <a:prstDash val="solid"/>
              <a:miter/>
            </a:ln>
          </p:spPr>
          <p:txBody>
            <a:bodyPr rtlCol="0" anchor="ctr"/>
            <a:lstStyle/>
            <a:p>
              <a:endParaRPr lang="en-US"/>
            </a:p>
          </p:txBody>
        </p:sp>
        <p:sp>
          <p:nvSpPr>
            <p:cNvPr id="705" name="Freeform: Shape 704">
              <a:extLst>
                <a:ext uri="{FF2B5EF4-FFF2-40B4-BE49-F238E27FC236}">
                  <a16:creationId xmlns:a16="http://schemas.microsoft.com/office/drawing/2014/main" id="{087F88E2-2349-481C-A3AA-F396403011D1}"/>
                </a:ext>
              </a:extLst>
            </p:cNvPr>
            <p:cNvSpPr/>
            <p:nvPr/>
          </p:nvSpPr>
          <p:spPr>
            <a:xfrm>
              <a:off x="1179699" y="3062494"/>
              <a:ext cx="127002" cy="75797"/>
            </a:xfrm>
            <a:custGeom>
              <a:avLst/>
              <a:gdLst>
                <a:gd name="connsiteX0" fmla="*/ 54197 w 127002"/>
                <a:gd name="connsiteY0" fmla="*/ 75669 h 75797"/>
                <a:gd name="connsiteX1" fmla="*/ 51465 w 127002"/>
                <a:gd name="connsiteY1" fmla="*/ 74303 h 75797"/>
                <a:gd name="connsiteX2" fmla="*/ 667 w 127002"/>
                <a:gd name="connsiteY2" fmla="*/ 5405 h 75797"/>
                <a:gd name="connsiteX3" fmla="*/ 1392 w 127002"/>
                <a:gd name="connsiteY3" fmla="*/ 667 h 75797"/>
                <a:gd name="connsiteX4" fmla="*/ 6131 w 127002"/>
                <a:gd name="connsiteY4" fmla="*/ 1392 h 75797"/>
                <a:gd name="connsiteX5" fmla="*/ 53984 w 127002"/>
                <a:gd name="connsiteY5" fmla="*/ 66320 h 75797"/>
                <a:gd name="connsiteX6" fmla="*/ 83054 w 127002"/>
                <a:gd name="connsiteY6" fmla="*/ 20346 h 75797"/>
                <a:gd name="connsiteX7" fmla="*/ 85914 w 127002"/>
                <a:gd name="connsiteY7" fmla="*/ 18766 h 75797"/>
                <a:gd name="connsiteX8" fmla="*/ 88774 w 127002"/>
                <a:gd name="connsiteY8" fmla="*/ 20303 h 75797"/>
                <a:gd name="connsiteX9" fmla="*/ 113704 w 127002"/>
                <a:gd name="connsiteY9" fmla="*/ 58509 h 75797"/>
                <a:gd name="connsiteX10" fmla="*/ 120235 w 127002"/>
                <a:gd name="connsiteY10" fmla="*/ 6259 h 75797"/>
                <a:gd name="connsiteX11" fmla="*/ 124034 w 127002"/>
                <a:gd name="connsiteY11" fmla="*/ 3313 h 75797"/>
                <a:gd name="connsiteX12" fmla="*/ 126980 w 127002"/>
                <a:gd name="connsiteY12" fmla="*/ 7113 h 75797"/>
                <a:gd name="connsiteX13" fmla="*/ 119339 w 127002"/>
                <a:gd name="connsiteY13" fmla="*/ 68583 h 75797"/>
                <a:gd name="connsiteX14" fmla="*/ 116735 w 127002"/>
                <a:gd name="connsiteY14" fmla="*/ 71486 h 75797"/>
                <a:gd name="connsiteX15" fmla="*/ 113149 w 127002"/>
                <a:gd name="connsiteY15" fmla="*/ 70034 h 75797"/>
                <a:gd name="connsiteX16" fmla="*/ 86042 w 127002"/>
                <a:gd name="connsiteY16" fmla="*/ 28499 h 75797"/>
                <a:gd name="connsiteX17" fmla="*/ 57143 w 127002"/>
                <a:gd name="connsiteY17" fmla="*/ 74218 h 75797"/>
                <a:gd name="connsiteX18" fmla="*/ 54411 w 127002"/>
                <a:gd name="connsiteY18" fmla="*/ 75797 h 75797"/>
                <a:gd name="connsiteX19" fmla="*/ 54282 w 127002"/>
                <a:gd name="connsiteY19" fmla="*/ 75797 h 75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7002" h="75797">
                  <a:moveTo>
                    <a:pt x="54197" y="75669"/>
                  </a:moveTo>
                  <a:cubicBezTo>
                    <a:pt x="53130" y="75669"/>
                    <a:pt x="52105" y="75157"/>
                    <a:pt x="51465" y="74303"/>
                  </a:cubicBezTo>
                  <a:lnTo>
                    <a:pt x="667" y="5405"/>
                  </a:lnTo>
                  <a:cubicBezTo>
                    <a:pt x="-443" y="3911"/>
                    <a:pt x="-144" y="1777"/>
                    <a:pt x="1392" y="667"/>
                  </a:cubicBezTo>
                  <a:cubicBezTo>
                    <a:pt x="2886" y="-443"/>
                    <a:pt x="5021" y="-144"/>
                    <a:pt x="6131" y="1392"/>
                  </a:cubicBezTo>
                  <a:lnTo>
                    <a:pt x="53984" y="66320"/>
                  </a:lnTo>
                  <a:lnTo>
                    <a:pt x="83054" y="20346"/>
                  </a:lnTo>
                  <a:cubicBezTo>
                    <a:pt x="83652" y="19364"/>
                    <a:pt x="84762" y="18766"/>
                    <a:pt x="85914" y="18766"/>
                  </a:cubicBezTo>
                  <a:cubicBezTo>
                    <a:pt x="87152" y="18766"/>
                    <a:pt x="88134" y="19321"/>
                    <a:pt x="88774" y="20303"/>
                  </a:cubicBezTo>
                  <a:lnTo>
                    <a:pt x="113704" y="58509"/>
                  </a:lnTo>
                  <a:lnTo>
                    <a:pt x="120235" y="6259"/>
                  </a:lnTo>
                  <a:cubicBezTo>
                    <a:pt x="120448" y="4381"/>
                    <a:pt x="122113" y="3100"/>
                    <a:pt x="124034" y="3313"/>
                  </a:cubicBezTo>
                  <a:cubicBezTo>
                    <a:pt x="125870" y="3527"/>
                    <a:pt x="127193" y="5234"/>
                    <a:pt x="126980" y="7113"/>
                  </a:cubicBezTo>
                  <a:lnTo>
                    <a:pt x="119339" y="68583"/>
                  </a:lnTo>
                  <a:cubicBezTo>
                    <a:pt x="119168" y="69992"/>
                    <a:pt x="118143" y="71144"/>
                    <a:pt x="116735" y="71486"/>
                  </a:cubicBezTo>
                  <a:cubicBezTo>
                    <a:pt x="115326" y="71784"/>
                    <a:pt x="113917" y="71230"/>
                    <a:pt x="113149" y="70034"/>
                  </a:cubicBezTo>
                  <a:lnTo>
                    <a:pt x="86042" y="28499"/>
                  </a:lnTo>
                  <a:lnTo>
                    <a:pt x="57143" y="74218"/>
                  </a:lnTo>
                  <a:cubicBezTo>
                    <a:pt x="56545" y="75157"/>
                    <a:pt x="55520" y="75754"/>
                    <a:pt x="54411" y="75797"/>
                  </a:cubicBezTo>
                  <a:lnTo>
                    <a:pt x="54282" y="75797"/>
                  </a:lnTo>
                  <a:close/>
                </a:path>
              </a:pathLst>
            </a:custGeom>
            <a:solidFill>
              <a:schemeClr val="accent5"/>
            </a:solidFill>
            <a:ln w="4254" cap="flat">
              <a:noFill/>
              <a:prstDash val="solid"/>
              <a:miter/>
            </a:ln>
          </p:spPr>
          <p:txBody>
            <a:bodyPr rtlCol="0" anchor="ctr"/>
            <a:lstStyle/>
            <a:p>
              <a:endParaRPr lang="en-US"/>
            </a:p>
          </p:txBody>
        </p:sp>
      </p:grpSp>
      <p:sp>
        <p:nvSpPr>
          <p:cNvPr id="729" name="object 54">
            <a:extLst>
              <a:ext uri="{FF2B5EF4-FFF2-40B4-BE49-F238E27FC236}">
                <a16:creationId xmlns:a16="http://schemas.microsoft.com/office/drawing/2014/main" id="{25411AB5-7B7C-467B-975B-1F848F50CE22}"/>
              </a:ext>
            </a:extLst>
          </p:cNvPr>
          <p:cNvSpPr txBox="1"/>
          <p:nvPr/>
        </p:nvSpPr>
        <p:spPr>
          <a:xfrm>
            <a:off x="8996259" y="5931266"/>
            <a:ext cx="1620000" cy="307777"/>
          </a:xfrm>
          <a:prstGeom prst="rect">
            <a:avLst/>
          </a:prstGeom>
          <a:solidFill>
            <a:srgbClr val="F2F2F2"/>
          </a:solidFill>
        </p:spPr>
        <p:txBody>
          <a:bodyPr vert="horz" wrap="square" lIns="0" tIns="0" rIns="0" bIns="0" rtlCol="0" anchor="t" anchorCtr="0">
            <a:spAutoFit/>
          </a:bodyPr>
          <a:lstStyle/>
          <a:p>
            <a:pPr marR="3081" algn="ctr" defTabSz="554492">
              <a:buFont typeface="Trebuchet MS" panose="020B0603020202020204" pitchFamily="34" charset="0"/>
              <a:buChar char="​"/>
            </a:pPr>
            <a:r>
              <a:rPr sz="1000">
                <a:latin typeface="Trebuchet MS" panose="020B0603020202020204" pitchFamily="34" charset="0"/>
                <a:cs typeface="Proxima Nova"/>
              </a:rPr>
              <a:t>Feedback loop</a:t>
            </a:r>
            <a:r>
              <a:rPr lang="en-US" sz="1000">
                <a:latin typeface="Trebuchet MS" panose="020B0603020202020204" pitchFamily="34" charset="0"/>
                <a:cs typeface="Proxima Nova"/>
              </a:rPr>
              <a:t> </a:t>
            </a:r>
            <a:r>
              <a:rPr sz="1000">
                <a:latin typeface="Trebuchet MS" panose="020B0603020202020204" pitchFamily="34" charset="0"/>
                <a:cs typeface="Proxima Nova"/>
              </a:rPr>
              <a:t>to </a:t>
            </a:r>
            <a:r>
              <a:rPr sz="1000" b="1">
                <a:latin typeface="Trebuchet MS" panose="020B0603020202020204" pitchFamily="34" charset="0"/>
                <a:cs typeface="Proxima Nova Semibold"/>
              </a:rPr>
              <a:t>squad and</a:t>
            </a:r>
            <a:r>
              <a:rPr lang="en-US" sz="1000" b="1">
                <a:latin typeface="Trebuchet MS" panose="020B0603020202020204" pitchFamily="34" charset="0"/>
                <a:cs typeface="Proxima Nova Semibold"/>
              </a:rPr>
              <a:t> </a:t>
            </a:r>
            <a:r>
              <a:rPr sz="1000" b="1">
                <a:latin typeface="Trebuchet MS" panose="020B0603020202020204" pitchFamily="34" charset="0"/>
                <a:cs typeface="Proxima Nova Semibold"/>
              </a:rPr>
              <a:t>orchestration</a:t>
            </a:r>
          </a:p>
        </p:txBody>
      </p:sp>
      <p:sp>
        <p:nvSpPr>
          <p:cNvPr id="352" name="Oval 25">
            <a:extLst>
              <a:ext uri="{FF2B5EF4-FFF2-40B4-BE49-F238E27FC236}">
                <a16:creationId xmlns:a16="http://schemas.microsoft.com/office/drawing/2014/main" id="{EC97CAE1-FCC4-4FB2-A557-091376C3E633}"/>
              </a:ext>
            </a:extLst>
          </p:cNvPr>
          <p:cNvSpPr/>
          <p:nvPr/>
        </p:nvSpPr>
        <p:spPr>
          <a:xfrm rot="16200000" flipH="1">
            <a:off x="3213520" y="1482546"/>
            <a:ext cx="360000" cy="360000"/>
          </a:xfrm>
          <a:custGeom>
            <a:avLst/>
            <a:gdLst>
              <a:gd name="connsiteX0" fmla="*/ 0 w 269758"/>
              <a:gd name="connsiteY0" fmla="*/ 134879 h 269758"/>
              <a:gd name="connsiteX1" fmla="*/ 134879 w 269758"/>
              <a:gd name="connsiteY1" fmla="*/ 0 h 269758"/>
              <a:gd name="connsiteX2" fmla="*/ 269758 w 269758"/>
              <a:gd name="connsiteY2" fmla="*/ 134879 h 269758"/>
              <a:gd name="connsiteX3" fmla="*/ 134879 w 269758"/>
              <a:gd name="connsiteY3" fmla="*/ 269758 h 269758"/>
              <a:gd name="connsiteX4" fmla="*/ 0 w 269758"/>
              <a:gd name="connsiteY4" fmla="*/ 134879 h 269758"/>
              <a:gd name="connsiteX0" fmla="*/ 269758 w 361198"/>
              <a:gd name="connsiteY0" fmla="*/ 134879 h 269758"/>
              <a:gd name="connsiteX1" fmla="*/ 134879 w 361198"/>
              <a:gd name="connsiteY1" fmla="*/ 269758 h 269758"/>
              <a:gd name="connsiteX2" fmla="*/ 0 w 361198"/>
              <a:gd name="connsiteY2" fmla="*/ 134879 h 269758"/>
              <a:gd name="connsiteX3" fmla="*/ 134879 w 361198"/>
              <a:gd name="connsiteY3" fmla="*/ 0 h 269758"/>
              <a:gd name="connsiteX4" fmla="*/ 361198 w 361198"/>
              <a:gd name="connsiteY4" fmla="*/ 226319 h 269758"/>
              <a:gd name="connsiteX0" fmla="*/ 269758 w 269758"/>
              <a:gd name="connsiteY0" fmla="*/ 134879 h 269758"/>
              <a:gd name="connsiteX1" fmla="*/ 134879 w 269758"/>
              <a:gd name="connsiteY1" fmla="*/ 269758 h 269758"/>
              <a:gd name="connsiteX2" fmla="*/ 0 w 269758"/>
              <a:gd name="connsiteY2" fmla="*/ 134879 h 269758"/>
              <a:gd name="connsiteX3" fmla="*/ 134879 w 269758"/>
              <a:gd name="connsiteY3" fmla="*/ 0 h 269758"/>
              <a:gd name="connsiteX0" fmla="*/ 134879 w 134879"/>
              <a:gd name="connsiteY0" fmla="*/ 269758 h 269758"/>
              <a:gd name="connsiteX1" fmla="*/ 0 w 134879"/>
              <a:gd name="connsiteY1" fmla="*/ 134879 h 269758"/>
              <a:gd name="connsiteX2" fmla="*/ 134879 w 134879"/>
              <a:gd name="connsiteY2" fmla="*/ 0 h 269758"/>
              <a:gd name="connsiteX0" fmla="*/ 0 w 134879"/>
              <a:gd name="connsiteY0" fmla="*/ 134879 h 134879"/>
              <a:gd name="connsiteX1" fmla="*/ 134879 w 134879"/>
              <a:gd name="connsiteY1" fmla="*/ 0 h 134879"/>
            </a:gdLst>
            <a:ahLst/>
            <a:cxnLst>
              <a:cxn ang="0">
                <a:pos x="connsiteX0" y="connsiteY0"/>
              </a:cxn>
              <a:cxn ang="0">
                <a:pos x="connsiteX1" y="connsiteY1"/>
              </a:cxn>
            </a:cxnLst>
            <a:rect l="l" t="t" r="r" b="b"/>
            <a:pathLst>
              <a:path w="134879" h="134879">
                <a:moveTo>
                  <a:pt x="0" y="134879"/>
                </a:moveTo>
                <a:cubicBezTo>
                  <a:pt x="0" y="60387"/>
                  <a:pt x="60387" y="0"/>
                  <a:pt x="134879" y="0"/>
                </a:cubicBezTo>
              </a:path>
            </a:pathLst>
          </a:custGeom>
          <a:ln w="25400" cap="rnd">
            <a:solidFill>
              <a:schemeClr val="bg1">
                <a:lumMod val="85000"/>
              </a:schemeClr>
            </a:solidFill>
            <a:prstDash val="solid"/>
            <a:round/>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cxnSp>
        <p:nvCxnSpPr>
          <p:cNvPr id="353" name="Straight Connector 352">
            <a:extLst>
              <a:ext uri="{FF2B5EF4-FFF2-40B4-BE49-F238E27FC236}">
                <a16:creationId xmlns:a16="http://schemas.microsoft.com/office/drawing/2014/main" id="{FDB29E2E-884A-4FDB-9DA4-2C70C0BE9E39}"/>
              </a:ext>
            </a:extLst>
          </p:cNvPr>
          <p:cNvCxnSpPr>
            <a:cxnSpLocks/>
          </p:cNvCxnSpPr>
          <p:nvPr/>
        </p:nvCxnSpPr>
        <p:spPr>
          <a:xfrm>
            <a:off x="3534924" y="1482546"/>
            <a:ext cx="2961524" cy="0"/>
          </a:xfrm>
          <a:prstGeom prst="line">
            <a:avLst/>
          </a:prstGeom>
          <a:ln w="25400" cap="rnd">
            <a:solidFill>
              <a:schemeClr val="bg1">
                <a:lumMod val="85000"/>
              </a:schemeClr>
            </a:solidFill>
            <a:prstDash val="solid"/>
            <a:round/>
            <a:tailEnd type="none" w="med" len="sm"/>
          </a:ln>
        </p:spPr>
        <p:style>
          <a:lnRef idx="1">
            <a:schemeClr val="accent1"/>
          </a:lnRef>
          <a:fillRef idx="0">
            <a:schemeClr val="accent1"/>
          </a:fillRef>
          <a:effectRef idx="0">
            <a:schemeClr val="accent1"/>
          </a:effectRef>
          <a:fontRef idx="minor">
            <a:schemeClr val="tx1"/>
          </a:fontRef>
        </p:style>
      </p:cxnSp>
      <p:sp>
        <p:nvSpPr>
          <p:cNvPr id="327" name="object 4">
            <a:extLst>
              <a:ext uri="{FF2B5EF4-FFF2-40B4-BE49-F238E27FC236}">
                <a16:creationId xmlns:a16="http://schemas.microsoft.com/office/drawing/2014/main" id="{37EFF2F8-C950-4492-BE07-482C988338C2}"/>
              </a:ext>
            </a:extLst>
          </p:cNvPr>
          <p:cNvSpPr txBox="1"/>
          <p:nvPr/>
        </p:nvSpPr>
        <p:spPr>
          <a:xfrm>
            <a:off x="3534924" y="4450036"/>
            <a:ext cx="3132000" cy="461665"/>
          </a:xfrm>
          <a:prstGeom prst="rect">
            <a:avLst/>
          </a:prstGeom>
        </p:spPr>
        <p:txBody>
          <a:bodyPr vert="horz" wrap="square" lIns="0" tIns="0" rIns="0" bIns="0" rtlCol="0" anchor="t" anchorCtr="0">
            <a:noAutofit/>
          </a:bodyPr>
          <a:lstStyle/>
          <a:p>
            <a:pPr marR="3081" defTabSz="554492">
              <a:buFont typeface="Trebuchet MS" panose="020B0603020202020204" pitchFamily="34" charset="0"/>
              <a:buChar char="​"/>
            </a:pPr>
            <a:r>
              <a:rPr lang="en-US" sz="1000" b="1">
                <a:latin typeface="Trebuchet MS" panose="020B0603020202020204" pitchFamily="34" charset="0"/>
                <a:cs typeface="Proxima Nova Semibold"/>
              </a:rPr>
              <a:t>Different campaign variants </a:t>
            </a:r>
            <a:r>
              <a:rPr lang="en-US" sz="1000">
                <a:latin typeface="Trebuchet MS" panose="020B0603020202020204" pitchFamily="34" charset="0"/>
                <a:cs typeface="Proxima Nova Semibold"/>
              </a:rPr>
              <a:t>created across product, offer, comms, channels, etc. to be tested; target customers identified based on need-state by DS</a:t>
            </a:r>
            <a:endParaRPr sz="1000">
              <a:latin typeface="Trebuchet MS" panose="020B0603020202020204" pitchFamily="34" charset="0"/>
              <a:cs typeface="Proxima Nova"/>
            </a:endParaRPr>
          </a:p>
        </p:txBody>
      </p:sp>
      <p:sp>
        <p:nvSpPr>
          <p:cNvPr id="735" name="TextBox 734">
            <a:extLst>
              <a:ext uri="{FF2B5EF4-FFF2-40B4-BE49-F238E27FC236}">
                <a16:creationId xmlns:a16="http://schemas.microsoft.com/office/drawing/2014/main" id="{F7CD52D8-D61D-4231-8D8F-874106BC4C7D}"/>
              </a:ext>
            </a:extLst>
          </p:cNvPr>
          <p:cNvSpPr txBox="1"/>
          <p:nvPr/>
        </p:nvSpPr>
        <p:spPr>
          <a:xfrm>
            <a:off x="3534924" y="1545480"/>
            <a:ext cx="3061814" cy="553998"/>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a:spAutoFit/>
          </a:bodyPr>
          <a:lstStyle/>
          <a:p>
            <a:pPr marR="3081" defTabSz="554492">
              <a:buFont typeface="Trebuchet MS" panose="020B0603020202020204" pitchFamily="34" charset="0"/>
              <a:buChar char="​"/>
            </a:pPr>
            <a:r>
              <a:rPr lang="en-US" sz="1000" b="1">
                <a:solidFill>
                  <a:schemeClr val="tx1"/>
                </a:solidFill>
                <a:latin typeface="Trebuchet MS" panose="020B0603020202020204" pitchFamily="34" charset="0"/>
              </a:rPr>
              <a:t>Cross-functional squad </a:t>
            </a:r>
            <a:r>
              <a:rPr lang="en-US" sz="1000">
                <a:solidFill>
                  <a:schemeClr val="tx1"/>
                </a:solidFill>
                <a:latin typeface="Trebuchet MS" panose="020B0603020202020204" pitchFamily="34" charset="0"/>
              </a:rPr>
              <a:t>to develop campaign strategy, design, variants/experiments for use case</a:t>
            </a:r>
          </a:p>
        </p:txBody>
      </p:sp>
      <p:sp>
        <p:nvSpPr>
          <p:cNvPr id="736" name="Oval 735">
            <a:extLst>
              <a:ext uri="{FF2B5EF4-FFF2-40B4-BE49-F238E27FC236}">
                <a16:creationId xmlns:a16="http://schemas.microsoft.com/office/drawing/2014/main" id="{34F704A0-A6C9-4D7F-9013-37D1F90A772C}"/>
              </a:ext>
            </a:extLst>
          </p:cNvPr>
          <p:cNvSpPr>
            <a:spLocks noChangeAspect="1"/>
          </p:cNvSpPr>
          <p:nvPr/>
        </p:nvSpPr>
        <p:spPr>
          <a:xfrm>
            <a:off x="3159521" y="1678593"/>
            <a:ext cx="108000" cy="108000"/>
          </a:xfrm>
          <a:prstGeom prst="ellipse">
            <a:avLst/>
          </a:prstGeom>
          <a:solidFill>
            <a:schemeClr val="tx2"/>
          </a:solidFill>
          <a:ln w="38100" cap="rnd" cmpd="sng" algn="ctr">
            <a:solidFill>
              <a:srgbClr val="F7F7F7"/>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435" name="Oval 434">
            <a:extLst>
              <a:ext uri="{FF2B5EF4-FFF2-40B4-BE49-F238E27FC236}">
                <a16:creationId xmlns:a16="http://schemas.microsoft.com/office/drawing/2014/main" id="{F0A13132-9DC1-4AC0-A64F-AB375CE45094}"/>
              </a:ext>
            </a:extLst>
          </p:cNvPr>
          <p:cNvSpPr>
            <a:spLocks noChangeAspect="1"/>
          </p:cNvSpPr>
          <p:nvPr/>
        </p:nvSpPr>
        <p:spPr>
          <a:xfrm>
            <a:off x="6837805" y="5184648"/>
            <a:ext cx="108000" cy="108000"/>
          </a:xfrm>
          <a:prstGeom prst="ellipse">
            <a:avLst/>
          </a:prstGeom>
          <a:solidFill>
            <a:schemeClr val="tx2"/>
          </a:solidFill>
          <a:ln w="38100" cap="rnd" cmpd="sng" algn="ctr">
            <a:solidFill>
              <a:srgbClr val="F7F7F7"/>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9" name="Title 8">
            <a:extLst>
              <a:ext uri="{FF2B5EF4-FFF2-40B4-BE49-F238E27FC236}">
                <a16:creationId xmlns:a16="http://schemas.microsoft.com/office/drawing/2014/main" id="{3E1DCC94-D65E-4992-8A98-F17931E00ACF}"/>
              </a:ext>
            </a:extLst>
          </p:cNvPr>
          <p:cNvSpPr>
            <a:spLocks noGrp="1"/>
          </p:cNvSpPr>
          <p:nvPr>
            <p:ph type="title"/>
          </p:nvPr>
        </p:nvSpPr>
        <p:spPr>
          <a:xfrm>
            <a:off x="630000" y="622800"/>
            <a:ext cx="10933350" cy="664797"/>
          </a:xfrm>
        </p:spPr>
        <p:txBody>
          <a:bodyPr vert="horz"/>
          <a:lstStyle/>
          <a:p>
            <a:r>
              <a:rPr lang="en-US"/>
              <a:t>Enabled by cross-functional squads to run experiments / </a:t>
            </a:r>
            <a:br>
              <a:rPr lang="en-US"/>
            </a:br>
            <a:r>
              <a:rPr lang="en-US"/>
              <a:t>design campaigns and variants, orchestrated and executed centrally</a:t>
            </a:r>
          </a:p>
        </p:txBody>
      </p:sp>
      <p:sp>
        <p:nvSpPr>
          <p:cNvPr id="357" name="NavigationTriangle">
            <a:extLst>
              <a:ext uri="{FF2B5EF4-FFF2-40B4-BE49-F238E27FC236}">
                <a16:creationId xmlns:a16="http://schemas.microsoft.com/office/drawing/2014/main" id="{6843DB20-2E5F-4D51-B73F-AEDADD141A7A}"/>
              </a:ext>
            </a:extLst>
          </p:cNvPr>
          <p:cNvSpPr/>
          <p:nvPr/>
        </p:nvSpPr>
        <p:spPr>
          <a:xfrm rot="16200000">
            <a:off x="11116165" y="-21446"/>
            <a:ext cx="1054387" cy="1097280"/>
          </a:xfrm>
          <a:prstGeom prst="triangle">
            <a:avLst>
              <a:gd name="adj" fmla="val 100000"/>
            </a:avLst>
          </a:prstGeom>
          <a:solidFill>
            <a:srgbClr val="29BA74">
              <a:lumMod val="100000"/>
            </a:srgbClr>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9B1C23"/>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358" name="NavigationIcon">
            <a:extLst>
              <a:ext uri="{FF2B5EF4-FFF2-40B4-BE49-F238E27FC236}">
                <a16:creationId xmlns:a16="http://schemas.microsoft.com/office/drawing/2014/main" id="{0372CF00-8201-4236-847D-8614D2A69150}"/>
              </a:ext>
            </a:extLst>
          </p:cNvPr>
          <p:cNvSpPr>
            <a:spLocks noChangeAspect="1" noChangeArrowheads="1"/>
          </p:cNvSpPr>
          <p:nvPr>
            <p:custDataLst>
              <p:tags r:id="rId2"/>
            </p:custDataLst>
          </p:nvPr>
        </p:nvSpPr>
        <p:spPr bwMode="auto">
          <a:xfrm>
            <a:off x="11690544" y="132877"/>
            <a:ext cx="365760" cy="365760"/>
          </a:xfrm>
          <a:prstGeom prst="ellipse">
            <a:avLst/>
          </a:prstGeom>
          <a:solidFill>
            <a:srgbClr val="FFFFFF"/>
          </a:solidFill>
          <a:ln>
            <a:noFill/>
          </a:ln>
        </p:spPr>
        <p:txBody>
          <a:bodyPr vert="horz" wrap="square" lIns="0" tIns="0" rIns="0" bIns="0" numCol="1" anchor="ctr" anchorCtr="0" compatLnSpc="1">
            <a:prstTxWarp prst="textNoShape">
              <a:avLst/>
            </a:prstTxWarp>
          </a:bodyPr>
          <a:lstStyle/>
          <a:p>
            <a:pPr algn="ctr"/>
            <a:r>
              <a:rPr lang="en-US" sz="2000">
                <a:solidFill>
                  <a:srgbClr val="29BA74">
                    <a:lumMod val="100000"/>
                  </a:srgbClr>
                </a:solidFill>
                <a:latin typeface="+mj-lt"/>
              </a:rPr>
              <a:t>4</a:t>
            </a:r>
          </a:p>
        </p:txBody>
      </p:sp>
      <p:sp>
        <p:nvSpPr>
          <p:cNvPr id="354" name="Rectangle 353">
            <a:extLst>
              <a:ext uri="{FF2B5EF4-FFF2-40B4-BE49-F238E27FC236}">
                <a16:creationId xmlns:a16="http://schemas.microsoft.com/office/drawing/2014/main" id="{489352E4-3C05-49D0-8E51-3CF7D394EF9B}"/>
              </a:ext>
            </a:extLst>
          </p:cNvPr>
          <p:cNvSpPr>
            <a:spLocks/>
          </p:cNvSpPr>
          <p:nvPr/>
        </p:nvSpPr>
        <p:spPr>
          <a:xfrm>
            <a:off x="6638926" y="0"/>
            <a:ext cx="4425468" cy="191701"/>
          </a:xfrm>
          <a:prstGeom prst="rect">
            <a:avLst/>
          </a:prstGeom>
          <a:noFill/>
          <a:ln w="6943" cap="rnd" cmpd="sng" algn="ctr">
            <a:noFill/>
            <a:prstDash val="solid"/>
            <a:round/>
            <a:headEnd type="none" w="med" len="med"/>
            <a:tailEnd type="none" w="med" len="med"/>
          </a:ln>
          <a:effectLst/>
          <a:extLst>
            <a:ext uri="{909E8E84-426E-40DD-AFC4-6F175D3DCCD1}">
              <a14:hiddenFill xmlns:a14="http://schemas.microsoft.com/office/drawing/2010/main">
                <a:solidFill>
                  <a:srgbClr val="9B1C23"/>
                </a:solidFill>
              </a14:hiddenFill>
            </a:ext>
            <a:ext uri="{91240B29-F687-4F45-9708-019B960494DF}">
              <a14:hiddenLine xmlns:a14="http://schemas.microsoft.com/office/drawing/2010/main" w="6943" cap="rnd" cmpd="sng" algn="ctr">
                <a:solidFill>
                  <a:srgbClr val="9B1C23"/>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7F7F7F"/>
                </a:solidFill>
                <a:effectLst/>
                <a:uLnTx/>
                <a:uFillTx/>
                <a:latin typeface="Trebuchet MS" panose="020B0603020202020204" pitchFamily="34" charset="0"/>
                <a:ea typeface="+mn-ea"/>
                <a:cs typeface="+mn-cs"/>
              </a:rPr>
              <a:t>Future operating model</a:t>
            </a:r>
          </a:p>
        </p:txBody>
      </p:sp>
      <p:sp>
        <p:nvSpPr>
          <p:cNvPr id="355" name="Rectangle: Rounded Corners 354">
            <a:extLst>
              <a:ext uri="{FF2B5EF4-FFF2-40B4-BE49-F238E27FC236}">
                <a16:creationId xmlns:a16="http://schemas.microsoft.com/office/drawing/2014/main" id="{9796A1EE-1371-46B5-9A7D-2835B22490AA}"/>
              </a:ext>
            </a:extLst>
          </p:cNvPr>
          <p:cNvSpPr/>
          <p:nvPr/>
        </p:nvSpPr>
        <p:spPr>
          <a:xfrm>
            <a:off x="7649435" y="2678304"/>
            <a:ext cx="1379129" cy="540000"/>
          </a:xfrm>
          <a:prstGeom prst="roundRect">
            <a:avLst>
              <a:gd name="adj" fmla="val 10000"/>
            </a:avLst>
          </a:prstGeom>
          <a:solidFill>
            <a:schemeClr val="bg1"/>
          </a:solidFill>
          <a:ln w="9525" cap="rnd" cmpd="sng" algn="ctr">
            <a:noFill/>
            <a:prstDash val="solid"/>
            <a:round/>
            <a:headEnd type="none" w="med" len="med"/>
            <a:tailEnd type="none" w="med" len="med"/>
          </a:ln>
          <a:effectLst>
            <a:outerShdw blurRad="190500" algn="ctr" rotWithShape="0">
              <a:schemeClr val="bg1">
                <a:lumMod val="65000"/>
                <a:alpha val="3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Nova"/>
              <a:ea typeface="+mn-ea"/>
              <a:cs typeface="+mn-cs"/>
            </a:endParaRPr>
          </a:p>
        </p:txBody>
      </p:sp>
      <p:sp>
        <p:nvSpPr>
          <p:cNvPr id="356" name="Rectangle: Rounded Corners 355">
            <a:extLst>
              <a:ext uri="{FF2B5EF4-FFF2-40B4-BE49-F238E27FC236}">
                <a16:creationId xmlns:a16="http://schemas.microsoft.com/office/drawing/2014/main" id="{2303F5D7-2814-4FF9-A0A5-5006882D6B08}"/>
              </a:ext>
            </a:extLst>
          </p:cNvPr>
          <p:cNvSpPr/>
          <p:nvPr/>
        </p:nvSpPr>
        <p:spPr>
          <a:xfrm>
            <a:off x="7649435" y="3324627"/>
            <a:ext cx="1379129" cy="540000"/>
          </a:xfrm>
          <a:prstGeom prst="roundRect">
            <a:avLst>
              <a:gd name="adj" fmla="val 10000"/>
            </a:avLst>
          </a:prstGeom>
          <a:solidFill>
            <a:schemeClr val="bg1"/>
          </a:solidFill>
          <a:ln w="9525" cap="rnd" cmpd="sng" algn="ctr">
            <a:noFill/>
            <a:prstDash val="solid"/>
            <a:round/>
            <a:headEnd type="none" w="med" len="med"/>
            <a:tailEnd type="none" w="med" len="med"/>
          </a:ln>
          <a:effectLst>
            <a:outerShdw blurRad="190500" algn="ctr" rotWithShape="0">
              <a:schemeClr val="bg1">
                <a:lumMod val="65000"/>
                <a:alpha val="3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Nova"/>
              <a:ea typeface="+mn-ea"/>
              <a:cs typeface="+mn-cs"/>
            </a:endParaRPr>
          </a:p>
        </p:txBody>
      </p:sp>
      <p:sp>
        <p:nvSpPr>
          <p:cNvPr id="359" name="Rectangle: Rounded Corners 358">
            <a:extLst>
              <a:ext uri="{FF2B5EF4-FFF2-40B4-BE49-F238E27FC236}">
                <a16:creationId xmlns:a16="http://schemas.microsoft.com/office/drawing/2014/main" id="{192D25B2-B4F0-46DD-83EE-9AC775A4E54A}"/>
              </a:ext>
            </a:extLst>
          </p:cNvPr>
          <p:cNvSpPr/>
          <p:nvPr/>
        </p:nvSpPr>
        <p:spPr>
          <a:xfrm>
            <a:off x="7649435" y="3970950"/>
            <a:ext cx="1379129" cy="540000"/>
          </a:xfrm>
          <a:prstGeom prst="roundRect">
            <a:avLst>
              <a:gd name="adj" fmla="val 10000"/>
            </a:avLst>
          </a:prstGeom>
          <a:solidFill>
            <a:schemeClr val="bg1"/>
          </a:solidFill>
          <a:ln w="9525" cap="rnd" cmpd="sng" algn="ctr">
            <a:noFill/>
            <a:prstDash val="solid"/>
            <a:round/>
            <a:headEnd type="none" w="med" len="med"/>
            <a:tailEnd type="none" w="med" len="med"/>
          </a:ln>
          <a:effectLst>
            <a:outerShdw blurRad="190500" algn="ctr" rotWithShape="0">
              <a:schemeClr val="bg1">
                <a:lumMod val="65000"/>
                <a:alpha val="3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Nova"/>
              <a:ea typeface="+mn-ea"/>
              <a:cs typeface="+mn-cs"/>
            </a:endParaRPr>
          </a:p>
        </p:txBody>
      </p:sp>
      <p:sp>
        <p:nvSpPr>
          <p:cNvPr id="360" name="Rectangle: Rounded Corners 359">
            <a:extLst>
              <a:ext uri="{FF2B5EF4-FFF2-40B4-BE49-F238E27FC236}">
                <a16:creationId xmlns:a16="http://schemas.microsoft.com/office/drawing/2014/main" id="{46C50ACC-CF99-40E6-A59C-5F54A4751D8C}"/>
              </a:ext>
            </a:extLst>
          </p:cNvPr>
          <p:cNvSpPr/>
          <p:nvPr/>
        </p:nvSpPr>
        <p:spPr>
          <a:xfrm>
            <a:off x="7649435" y="4617273"/>
            <a:ext cx="1379129" cy="540000"/>
          </a:xfrm>
          <a:prstGeom prst="roundRect">
            <a:avLst>
              <a:gd name="adj" fmla="val 10000"/>
            </a:avLst>
          </a:prstGeom>
          <a:solidFill>
            <a:schemeClr val="bg1"/>
          </a:solidFill>
          <a:ln w="9525" cap="rnd" cmpd="sng" algn="ctr">
            <a:noFill/>
            <a:prstDash val="solid"/>
            <a:round/>
            <a:headEnd type="none" w="med" len="med"/>
            <a:tailEnd type="none" w="med" len="med"/>
          </a:ln>
          <a:effectLst>
            <a:outerShdw blurRad="190500" algn="ctr" rotWithShape="0">
              <a:schemeClr val="bg1">
                <a:lumMod val="65000"/>
                <a:alpha val="3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Nova"/>
              <a:ea typeface="+mn-ea"/>
              <a:cs typeface="+mn-cs"/>
            </a:endParaRPr>
          </a:p>
        </p:txBody>
      </p:sp>
      <p:cxnSp>
        <p:nvCxnSpPr>
          <p:cNvPr id="363" name="Straight Connector 362">
            <a:extLst>
              <a:ext uri="{FF2B5EF4-FFF2-40B4-BE49-F238E27FC236}">
                <a16:creationId xmlns:a16="http://schemas.microsoft.com/office/drawing/2014/main" id="{FF9D77B3-27AF-4CEC-AE5C-DD841D247C44}"/>
              </a:ext>
            </a:extLst>
          </p:cNvPr>
          <p:cNvCxnSpPr>
            <a:cxnSpLocks/>
          </p:cNvCxnSpPr>
          <p:nvPr/>
        </p:nvCxnSpPr>
        <p:spPr>
          <a:xfrm flipV="1">
            <a:off x="9218089" y="3360420"/>
            <a:ext cx="2" cy="1954004"/>
          </a:xfrm>
          <a:prstGeom prst="line">
            <a:avLst/>
          </a:prstGeom>
          <a:ln w="25400" cap="rnd">
            <a:solidFill>
              <a:schemeClr val="bg1">
                <a:lumMod val="85000"/>
              </a:schemeClr>
            </a:solidFill>
            <a:prstDash val="solid"/>
            <a:round/>
            <a:tailEnd type="arrow" w="med" len="sm"/>
          </a:ln>
        </p:spPr>
        <p:style>
          <a:lnRef idx="1">
            <a:schemeClr val="accent1"/>
          </a:lnRef>
          <a:fillRef idx="0">
            <a:schemeClr val="accent1"/>
          </a:fillRef>
          <a:effectRef idx="0">
            <a:schemeClr val="accent1"/>
          </a:effectRef>
          <a:fontRef idx="minor">
            <a:schemeClr val="tx1"/>
          </a:fontRef>
        </p:style>
      </p:cxnSp>
      <p:cxnSp>
        <p:nvCxnSpPr>
          <p:cNvPr id="369" name="Straight Connector 368">
            <a:extLst>
              <a:ext uri="{FF2B5EF4-FFF2-40B4-BE49-F238E27FC236}">
                <a16:creationId xmlns:a16="http://schemas.microsoft.com/office/drawing/2014/main" id="{9ADEB9F7-23C8-499B-949A-504D6DEA4C04}"/>
              </a:ext>
            </a:extLst>
          </p:cNvPr>
          <p:cNvCxnSpPr>
            <a:cxnSpLocks/>
          </p:cNvCxnSpPr>
          <p:nvPr/>
        </p:nvCxnSpPr>
        <p:spPr>
          <a:xfrm flipV="1">
            <a:off x="8056564" y="5851097"/>
            <a:ext cx="0" cy="234057"/>
          </a:xfrm>
          <a:prstGeom prst="line">
            <a:avLst/>
          </a:prstGeom>
          <a:ln w="25400" cap="rnd">
            <a:solidFill>
              <a:schemeClr val="bg1">
                <a:lumMod val="85000"/>
              </a:schemeClr>
            </a:solidFill>
            <a:prstDash val="solid"/>
            <a:round/>
            <a:tailEnd type="arrow" w="med" len="sm"/>
          </a:ln>
        </p:spPr>
        <p:style>
          <a:lnRef idx="1">
            <a:schemeClr val="accent1"/>
          </a:lnRef>
          <a:fillRef idx="0">
            <a:schemeClr val="accent1"/>
          </a:fillRef>
          <a:effectRef idx="0">
            <a:schemeClr val="accent1"/>
          </a:effectRef>
          <a:fontRef idx="minor">
            <a:schemeClr val="tx1"/>
          </a:fontRef>
        </p:style>
      </p:cxnSp>
      <p:grpSp>
        <p:nvGrpSpPr>
          <p:cNvPr id="370" name="Group 369">
            <a:extLst>
              <a:ext uri="{FF2B5EF4-FFF2-40B4-BE49-F238E27FC236}">
                <a16:creationId xmlns:a16="http://schemas.microsoft.com/office/drawing/2014/main" id="{8F918FC4-E7DB-4329-B981-0AE456A0B3B7}"/>
              </a:ext>
            </a:extLst>
          </p:cNvPr>
          <p:cNvGrpSpPr>
            <a:grpSpLocks noChangeAspect="1"/>
          </p:cNvGrpSpPr>
          <p:nvPr/>
        </p:nvGrpSpPr>
        <p:grpSpPr>
          <a:xfrm>
            <a:off x="8933282" y="3499343"/>
            <a:ext cx="190567" cy="190567"/>
            <a:chOff x="5961063" y="3294063"/>
            <a:chExt cx="269875" cy="269875"/>
          </a:xfrm>
        </p:grpSpPr>
        <p:sp>
          <p:nvSpPr>
            <p:cNvPr id="371" name="Oval 16">
              <a:extLst>
                <a:ext uri="{FF2B5EF4-FFF2-40B4-BE49-F238E27FC236}">
                  <a16:creationId xmlns:a16="http://schemas.microsoft.com/office/drawing/2014/main" id="{3DC8B8ED-9FE5-49E4-81CF-F470449638DA}"/>
                </a:ext>
              </a:extLst>
            </p:cNvPr>
            <p:cNvSpPr>
              <a:spLocks noChangeArrowheads="1"/>
            </p:cNvSpPr>
            <p:nvPr/>
          </p:nvSpPr>
          <p:spPr bwMode="auto">
            <a:xfrm>
              <a:off x="5961063" y="3294063"/>
              <a:ext cx="269875" cy="269875"/>
            </a:xfrm>
            <a:prstGeom prst="ellipse">
              <a:avLst/>
            </a:prstGeom>
            <a:solidFill>
              <a:srgbClr val="70B347"/>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372" name="Freeform 17">
              <a:extLst>
                <a:ext uri="{FF2B5EF4-FFF2-40B4-BE49-F238E27FC236}">
                  <a16:creationId xmlns:a16="http://schemas.microsoft.com/office/drawing/2014/main" id="{839023FB-C71B-4D52-98CE-B48AE0EAE419}"/>
                </a:ext>
              </a:extLst>
            </p:cNvPr>
            <p:cNvSpPr>
              <a:spLocks/>
            </p:cNvSpPr>
            <p:nvPr/>
          </p:nvSpPr>
          <p:spPr bwMode="auto">
            <a:xfrm>
              <a:off x="6029326" y="3363913"/>
              <a:ext cx="133350" cy="128587"/>
            </a:xfrm>
            <a:custGeom>
              <a:avLst/>
              <a:gdLst>
                <a:gd name="T0" fmla="*/ 36 w 84"/>
                <a:gd name="T1" fmla="*/ 67 h 81"/>
                <a:gd name="T2" fmla="*/ 7 w 84"/>
                <a:gd name="T3" fmla="*/ 39 h 81"/>
                <a:gd name="T4" fmla="*/ 0 w 84"/>
                <a:gd name="T5" fmla="*/ 45 h 81"/>
                <a:gd name="T6" fmla="*/ 38 w 84"/>
                <a:gd name="T7" fmla="*/ 81 h 81"/>
                <a:gd name="T8" fmla="*/ 84 w 84"/>
                <a:gd name="T9" fmla="*/ 4 h 81"/>
                <a:gd name="T10" fmla="*/ 76 w 84"/>
                <a:gd name="T11" fmla="*/ 0 h 81"/>
                <a:gd name="T12" fmla="*/ 36 w 84"/>
                <a:gd name="T13" fmla="*/ 67 h 81"/>
              </a:gdLst>
              <a:ahLst/>
              <a:cxnLst>
                <a:cxn ang="0">
                  <a:pos x="T0" y="T1"/>
                </a:cxn>
                <a:cxn ang="0">
                  <a:pos x="T2" y="T3"/>
                </a:cxn>
                <a:cxn ang="0">
                  <a:pos x="T4" y="T5"/>
                </a:cxn>
                <a:cxn ang="0">
                  <a:pos x="T6" y="T7"/>
                </a:cxn>
                <a:cxn ang="0">
                  <a:pos x="T8" y="T9"/>
                </a:cxn>
                <a:cxn ang="0">
                  <a:pos x="T10" y="T11"/>
                </a:cxn>
                <a:cxn ang="0">
                  <a:pos x="T12" y="T13"/>
                </a:cxn>
              </a:cxnLst>
              <a:rect l="0" t="0" r="r" b="b"/>
              <a:pathLst>
                <a:path w="84" h="81">
                  <a:moveTo>
                    <a:pt x="36" y="67"/>
                  </a:moveTo>
                  <a:lnTo>
                    <a:pt x="7" y="39"/>
                  </a:lnTo>
                  <a:lnTo>
                    <a:pt x="0" y="45"/>
                  </a:lnTo>
                  <a:lnTo>
                    <a:pt x="38" y="81"/>
                  </a:lnTo>
                  <a:lnTo>
                    <a:pt x="84" y="4"/>
                  </a:lnTo>
                  <a:lnTo>
                    <a:pt x="76" y="0"/>
                  </a:lnTo>
                  <a:lnTo>
                    <a:pt x="36" y="67"/>
                  </a:lnTo>
                  <a:close/>
                </a:path>
              </a:pathLst>
            </a:custGeom>
            <a:solidFill>
              <a:srgbClr val="FFFFFF">
                <a:lumMod val="100000"/>
              </a:srgb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grpSp>
      <p:grpSp>
        <p:nvGrpSpPr>
          <p:cNvPr id="376" name="Group 375">
            <a:extLst>
              <a:ext uri="{FF2B5EF4-FFF2-40B4-BE49-F238E27FC236}">
                <a16:creationId xmlns:a16="http://schemas.microsoft.com/office/drawing/2014/main" id="{5E1768E2-5820-4699-B2EA-DC80D4BD5427}"/>
              </a:ext>
            </a:extLst>
          </p:cNvPr>
          <p:cNvGrpSpPr>
            <a:grpSpLocks noChangeAspect="1"/>
          </p:cNvGrpSpPr>
          <p:nvPr/>
        </p:nvGrpSpPr>
        <p:grpSpPr>
          <a:xfrm>
            <a:off x="8933282" y="4791990"/>
            <a:ext cx="190567" cy="190567"/>
            <a:chOff x="5961063" y="3294063"/>
            <a:chExt cx="269875" cy="269875"/>
          </a:xfrm>
        </p:grpSpPr>
        <p:sp>
          <p:nvSpPr>
            <p:cNvPr id="377" name="Oval 16">
              <a:extLst>
                <a:ext uri="{FF2B5EF4-FFF2-40B4-BE49-F238E27FC236}">
                  <a16:creationId xmlns:a16="http://schemas.microsoft.com/office/drawing/2014/main" id="{95B311DB-FC23-4E9A-BACD-740EE4346501}"/>
                </a:ext>
              </a:extLst>
            </p:cNvPr>
            <p:cNvSpPr>
              <a:spLocks noChangeArrowheads="1"/>
            </p:cNvSpPr>
            <p:nvPr/>
          </p:nvSpPr>
          <p:spPr bwMode="auto">
            <a:xfrm>
              <a:off x="5961063" y="3294063"/>
              <a:ext cx="269875" cy="269875"/>
            </a:xfrm>
            <a:prstGeom prst="ellipse">
              <a:avLst/>
            </a:prstGeom>
            <a:solidFill>
              <a:srgbClr val="70B347"/>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378" name="Freeform 17">
              <a:extLst>
                <a:ext uri="{FF2B5EF4-FFF2-40B4-BE49-F238E27FC236}">
                  <a16:creationId xmlns:a16="http://schemas.microsoft.com/office/drawing/2014/main" id="{0ED3C46A-FACC-4D39-9CE5-3CCE7435D964}"/>
                </a:ext>
              </a:extLst>
            </p:cNvPr>
            <p:cNvSpPr>
              <a:spLocks/>
            </p:cNvSpPr>
            <p:nvPr/>
          </p:nvSpPr>
          <p:spPr bwMode="auto">
            <a:xfrm>
              <a:off x="6029326" y="3363913"/>
              <a:ext cx="133350" cy="128587"/>
            </a:xfrm>
            <a:custGeom>
              <a:avLst/>
              <a:gdLst>
                <a:gd name="T0" fmla="*/ 36 w 84"/>
                <a:gd name="T1" fmla="*/ 67 h 81"/>
                <a:gd name="T2" fmla="*/ 7 w 84"/>
                <a:gd name="T3" fmla="*/ 39 h 81"/>
                <a:gd name="T4" fmla="*/ 0 w 84"/>
                <a:gd name="T5" fmla="*/ 45 h 81"/>
                <a:gd name="T6" fmla="*/ 38 w 84"/>
                <a:gd name="T7" fmla="*/ 81 h 81"/>
                <a:gd name="T8" fmla="*/ 84 w 84"/>
                <a:gd name="T9" fmla="*/ 4 h 81"/>
                <a:gd name="T10" fmla="*/ 76 w 84"/>
                <a:gd name="T11" fmla="*/ 0 h 81"/>
                <a:gd name="T12" fmla="*/ 36 w 84"/>
                <a:gd name="T13" fmla="*/ 67 h 81"/>
              </a:gdLst>
              <a:ahLst/>
              <a:cxnLst>
                <a:cxn ang="0">
                  <a:pos x="T0" y="T1"/>
                </a:cxn>
                <a:cxn ang="0">
                  <a:pos x="T2" y="T3"/>
                </a:cxn>
                <a:cxn ang="0">
                  <a:pos x="T4" y="T5"/>
                </a:cxn>
                <a:cxn ang="0">
                  <a:pos x="T6" y="T7"/>
                </a:cxn>
                <a:cxn ang="0">
                  <a:pos x="T8" y="T9"/>
                </a:cxn>
                <a:cxn ang="0">
                  <a:pos x="T10" y="T11"/>
                </a:cxn>
                <a:cxn ang="0">
                  <a:pos x="T12" y="T13"/>
                </a:cxn>
              </a:cxnLst>
              <a:rect l="0" t="0" r="r" b="b"/>
              <a:pathLst>
                <a:path w="84" h="81">
                  <a:moveTo>
                    <a:pt x="36" y="67"/>
                  </a:moveTo>
                  <a:lnTo>
                    <a:pt x="7" y="39"/>
                  </a:lnTo>
                  <a:lnTo>
                    <a:pt x="0" y="45"/>
                  </a:lnTo>
                  <a:lnTo>
                    <a:pt x="38" y="81"/>
                  </a:lnTo>
                  <a:lnTo>
                    <a:pt x="84" y="4"/>
                  </a:lnTo>
                  <a:lnTo>
                    <a:pt x="76" y="0"/>
                  </a:lnTo>
                  <a:lnTo>
                    <a:pt x="36" y="67"/>
                  </a:lnTo>
                  <a:close/>
                </a:path>
              </a:pathLst>
            </a:custGeom>
            <a:solidFill>
              <a:srgbClr val="FFFFFF">
                <a:lumMod val="100000"/>
              </a:srgb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grpSp>
      <p:grpSp>
        <p:nvGrpSpPr>
          <p:cNvPr id="379" name="Group 378">
            <a:extLst>
              <a:ext uri="{FF2B5EF4-FFF2-40B4-BE49-F238E27FC236}">
                <a16:creationId xmlns:a16="http://schemas.microsoft.com/office/drawing/2014/main" id="{A841F657-4C28-4E61-868E-52399F50D68F}"/>
              </a:ext>
            </a:extLst>
          </p:cNvPr>
          <p:cNvGrpSpPr>
            <a:grpSpLocks noChangeAspect="1"/>
          </p:cNvGrpSpPr>
          <p:nvPr/>
        </p:nvGrpSpPr>
        <p:grpSpPr>
          <a:xfrm>
            <a:off x="8933282" y="4145666"/>
            <a:ext cx="190567" cy="190567"/>
            <a:chOff x="628650" y="2655888"/>
            <a:chExt cx="269875" cy="269875"/>
          </a:xfrm>
        </p:grpSpPr>
        <p:sp>
          <p:nvSpPr>
            <p:cNvPr id="380" name="Oval 18">
              <a:extLst>
                <a:ext uri="{FF2B5EF4-FFF2-40B4-BE49-F238E27FC236}">
                  <a16:creationId xmlns:a16="http://schemas.microsoft.com/office/drawing/2014/main" id="{61247E82-F780-47CB-A7B3-6664C6698989}"/>
                </a:ext>
              </a:extLst>
            </p:cNvPr>
            <p:cNvSpPr>
              <a:spLocks noChangeArrowheads="1"/>
            </p:cNvSpPr>
            <p:nvPr/>
          </p:nvSpPr>
          <p:spPr bwMode="auto">
            <a:xfrm>
              <a:off x="628650" y="2655888"/>
              <a:ext cx="269875" cy="269875"/>
            </a:xfrm>
            <a:prstGeom prst="ellipse">
              <a:avLst/>
            </a:prstGeom>
            <a:solidFill>
              <a:srgbClr val="C5202B"/>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Nova"/>
                <a:ea typeface="+mn-ea"/>
                <a:cs typeface="+mn-cs"/>
              </a:endParaRPr>
            </a:p>
          </p:txBody>
        </p:sp>
        <p:sp>
          <p:nvSpPr>
            <p:cNvPr id="381" name="Freeform 19">
              <a:extLst>
                <a:ext uri="{FF2B5EF4-FFF2-40B4-BE49-F238E27FC236}">
                  <a16:creationId xmlns:a16="http://schemas.microsoft.com/office/drawing/2014/main" id="{A11018F4-C3B0-4365-B949-6D59D58776C3}"/>
                </a:ext>
              </a:extLst>
            </p:cNvPr>
            <p:cNvSpPr>
              <a:spLocks/>
            </p:cNvSpPr>
            <p:nvPr/>
          </p:nvSpPr>
          <p:spPr bwMode="auto">
            <a:xfrm>
              <a:off x="708025" y="2735263"/>
              <a:ext cx="111125" cy="111125"/>
            </a:xfrm>
            <a:custGeom>
              <a:avLst/>
              <a:gdLst>
                <a:gd name="T0" fmla="*/ 63 w 70"/>
                <a:gd name="T1" fmla="*/ 0 h 70"/>
                <a:gd name="T2" fmla="*/ 35 w 70"/>
                <a:gd name="T3" fmla="*/ 29 h 70"/>
                <a:gd name="T4" fmla="*/ 6 w 70"/>
                <a:gd name="T5" fmla="*/ 0 h 70"/>
                <a:gd name="T6" fmla="*/ 0 w 70"/>
                <a:gd name="T7" fmla="*/ 6 h 70"/>
                <a:gd name="T8" fmla="*/ 28 w 70"/>
                <a:gd name="T9" fmla="*/ 35 h 70"/>
                <a:gd name="T10" fmla="*/ 0 w 70"/>
                <a:gd name="T11" fmla="*/ 63 h 70"/>
                <a:gd name="T12" fmla="*/ 6 w 70"/>
                <a:gd name="T13" fmla="*/ 70 h 70"/>
                <a:gd name="T14" fmla="*/ 35 w 70"/>
                <a:gd name="T15" fmla="*/ 41 h 70"/>
                <a:gd name="T16" fmla="*/ 63 w 70"/>
                <a:gd name="T17" fmla="*/ 70 h 70"/>
                <a:gd name="T18" fmla="*/ 70 w 70"/>
                <a:gd name="T19" fmla="*/ 63 h 70"/>
                <a:gd name="T20" fmla="*/ 41 w 70"/>
                <a:gd name="T21" fmla="*/ 35 h 70"/>
                <a:gd name="T22" fmla="*/ 70 w 70"/>
                <a:gd name="T23" fmla="*/ 6 h 70"/>
                <a:gd name="T24" fmla="*/ 63 w 70"/>
                <a:gd name="T25"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63" y="0"/>
                  </a:moveTo>
                  <a:lnTo>
                    <a:pt x="35" y="29"/>
                  </a:lnTo>
                  <a:lnTo>
                    <a:pt x="6" y="0"/>
                  </a:lnTo>
                  <a:lnTo>
                    <a:pt x="0" y="6"/>
                  </a:lnTo>
                  <a:lnTo>
                    <a:pt x="28" y="35"/>
                  </a:lnTo>
                  <a:lnTo>
                    <a:pt x="0" y="63"/>
                  </a:lnTo>
                  <a:lnTo>
                    <a:pt x="6" y="70"/>
                  </a:lnTo>
                  <a:lnTo>
                    <a:pt x="35" y="41"/>
                  </a:lnTo>
                  <a:lnTo>
                    <a:pt x="63" y="70"/>
                  </a:lnTo>
                  <a:lnTo>
                    <a:pt x="70" y="63"/>
                  </a:lnTo>
                  <a:lnTo>
                    <a:pt x="41" y="35"/>
                  </a:lnTo>
                  <a:lnTo>
                    <a:pt x="70" y="6"/>
                  </a:lnTo>
                  <a:lnTo>
                    <a:pt x="63" y="0"/>
                  </a:lnTo>
                  <a:close/>
                </a:path>
              </a:pathLst>
            </a:custGeom>
            <a:solidFill>
              <a:srgbClr val="FFFFFF">
                <a:lumMod val="100000"/>
              </a:srgb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Nova"/>
                <a:ea typeface="+mn-ea"/>
                <a:cs typeface="+mn-cs"/>
              </a:endParaRPr>
            </a:p>
          </p:txBody>
        </p:sp>
      </p:grpSp>
      <p:sp>
        <p:nvSpPr>
          <p:cNvPr id="382" name="Rectangle: Top Corners Rounded 381">
            <a:extLst>
              <a:ext uri="{FF2B5EF4-FFF2-40B4-BE49-F238E27FC236}">
                <a16:creationId xmlns:a16="http://schemas.microsoft.com/office/drawing/2014/main" id="{DD4A3F92-89A1-4B40-ABC4-8A469E73A21C}"/>
              </a:ext>
            </a:extLst>
          </p:cNvPr>
          <p:cNvSpPr/>
          <p:nvPr/>
        </p:nvSpPr>
        <p:spPr>
          <a:xfrm rot="16200000">
            <a:off x="7364107" y="2915299"/>
            <a:ext cx="540000" cy="66012"/>
          </a:xfrm>
          <a:prstGeom prst="round2SameRect">
            <a:avLst>
              <a:gd name="adj1" fmla="val 545355"/>
              <a:gd name="adj2" fmla="val 0"/>
            </a:avLst>
          </a:prstGeom>
          <a:solidFill>
            <a:schemeClr val="tx2">
              <a:lumMod val="40000"/>
              <a:lumOff val="6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Nova"/>
              <a:ea typeface="+mn-ea"/>
              <a:cs typeface="+mn-cs"/>
            </a:endParaRPr>
          </a:p>
        </p:txBody>
      </p:sp>
      <p:sp>
        <p:nvSpPr>
          <p:cNvPr id="383" name="Rectangle: Top Corners Rounded 382">
            <a:extLst>
              <a:ext uri="{FF2B5EF4-FFF2-40B4-BE49-F238E27FC236}">
                <a16:creationId xmlns:a16="http://schemas.microsoft.com/office/drawing/2014/main" id="{81970565-2DAF-4695-B6E2-678D77F5047E}"/>
              </a:ext>
            </a:extLst>
          </p:cNvPr>
          <p:cNvSpPr/>
          <p:nvPr/>
        </p:nvSpPr>
        <p:spPr>
          <a:xfrm rot="16200000">
            <a:off x="7364107" y="3561621"/>
            <a:ext cx="540000" cy="66012"/>
          </a:xfrm>
          <a:prstGeom prst="round2SameRect">
            <a:avLst>
              <a:gd name="adj1" fmla="val 545355"/>
              <a:gd name="adj2" fmla="val 0"/>
            </a:avLst>
          </a:prstGeom>
          <a:solidFill>
            <a:schemeClr val="bg1">
              <a:lumMod val="85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Nova"/>
              <a:ea typeface="+mn-ea"/>
              <a:cs typeface="+mn-cs"/>
            </a:endParaRPr>
          </a:p>
        </p:txBody>
      </p:sp>
      <p:sp>
        <p:nvSpPr>
          <p:cNvPr id="384" name="Rectangle: Top Corners Rounded 383">
            <a:extLst>
              <a:ext uri="{FF2B5EF4-FFF2-40B4-BE49-F238E27FC236}">
                <a16:creationId xmlns:a16="http://schemas.microsoft.com/office/drawing/2014/main" id="{CFEE57C5-5BEE-4472-8B57-26BDD55C9F57}"/>
              </a:ext>
            </a:extLst>
          </p:cNvPr>
          <p:cNvSpPr/>
          <p:nvPr/>
        </p:nvSpPr>
        <p:spPr>
          <a:xfrm rot="16200000">
            <a:off x="7364107" y="4207945"/>
            <a:ext cx="540000" cy="66012"/>
          </a:xfrm>
          <a:prstGeom prst="round2SameRect">
            <a:avLst>
              <a:gd name="adj1" fmla="val 545355"/>
              <a:gd name="adj2" fmla="val 0"/>
            </a:avLst>
          </a:prstGeom>
          <a:solidFill>
            <a:schemeClr val="tx2">
              <a:lumMod val="20000"/>
              <a:lumOff val="8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Nova"/>
              <a:ea typeface="+mn-ea"/>
              <a:cs typeface="+mn-cs"/>
            </a:endParaRPr>
          </a:p>
        </p:txBody>
      </p:sp>
      <p:sp>
        <p:nvSpPr>
          <p:cNvPr id="385" name="Rectangle: Top Corners Rounded 384">
            <a:extLst>
              <a:ext uri="{FF2B5EF4-FFF2-40B4-BE49-F238E27FC236}">
                <a16:creationId xmlns:a16="http://schemas.microsoft.com/office/drawing/2014/main" id="{8147A589-ADD9-47E5-8C05-B432A3C430E5}"/>
              </a:ext>
            </a:extLst>
          </p:cNvPr>
          <p:cNvSpPr/>
          <p:nvPr/>
        </p:nvSpPr>
        <p:spPr>
          <a:xfrm rot="16200000">
            <a:off x="7364107" y="4854268"/>
            <a:ext cx="540000" cy="66012"/>
          </a:xfrm>
          <a:prstGeom prst="round2SameRect">
            <a:avLst>
              <a:gd name="adj1" fmla="val 545355"/>
              <a:gd name="adj2" fmla="val 0"/>
            </a:avLst>
          </a:prstGeom>
          <a:solidFill>
            <a:schemeClr val="tx2">
              <a:lumMod val="20000"/>
              <a:lumOff val="8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Nova"/>
              <a:ea typeface="+mn-ea"/>
              <a:cs typeface="+mn-cs"/>
            </a:endParaRPr>
          </a:p>
        </p:txBody>
      </p:sp>
      <p:grpSp>
        <p:nvGrpSpPr>
          <p:cNvPr id="390" name="Group 389">
            <a:extLst>
              <a:ext uri="{FF2B5EF4-FFF2-40B4-BE49-F238E27FC236}">
                <a16:creationId xmlns:a16="http://schemas.microsoft.com/office/drawing/2014/main" id="{1FE372A9-6B65-40D5-B1C0-FD1AAD26D5D5}"/>
              </a:ext>
            </a:extLst>
          </p:cNvPr>
          <p:cNvGrpSpPr>
            <a:grpSpLocks noChangeAspect="1"/>
          </p:cNvGrpSpPr>
          <p:nvPr/>
        </p:nvGrpSpPr>
        <p:grpSpPr>
          <a:xfrm>
            <a:off x="8933282" y="2853020"/>
            <a:ext cx="190567" cy="190567"/>
            <a:chOff x="5961063" y="3294063"/>
            <a:chExt cx="269875" cy="269875"/>
          </a:xfrm>
        </p:grpSpPr>
        <p:sp>
          <p:nvSpPr>
            <p:cNvPr id="392" name="Oval 16">
              <a:extLst>
                <a:ext uri="{FF2B5EF4-FFF2-40B4-BE49-F238E27FC236}">
                  <a16:creationId xmlns:a16="http://schemas.microsoft.com/office/drawing/2014/main" id="{BDCFE53E-6B84-4148-88B6-5C5A8D591950}"/>
                </a:ext>
              </a:extLst>
            </p:cNvPr>
            <p:cNvSpPr>
              <a:spLocks noChangeArrowheads="1"/>
            </p:cNvSpPr>
            <p:nvPr/>
          </p:nvSpPr>
          <p:spPr bwMode="auto">
            <a:xfrm>
              <a:off x="5961063" y="3294063"/>
              <a:ext cx="269875" cy="269875"/>
            </a:xfrm>
            <a:prstGeom prst="ellipse">
              <a:avLst/>
            </a:prstGeom>
            <a:solidFill>
              <a:srgbClr val="70B347"/>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397" name="Freeform 17">
              <a:extLst>
                <a:ext uri="{FF2B5EF4-FFF2-40B4-BE49-F238E27FC236}">
                  <a16:creationId xmlns:a16="http://schemas.microsoft.com/office/drawing/2014/main" id="{4DD4B585-03DF-4543-AD87-5630294E3650}"/>
                </a:ext>
              </a:extLst>
            </p:cNvPr>
            <p:cNvSpPr>
              <a:spLocks/>
            </p:cNvSpPr>
            <p:nvPr/>
          </p:nvSpPr>
          <p:spPr bwMode="auto">
            <a:xfrm>
              <a:off x="6029326" y="3363913"/>
              <a:ext cx="133350" cy="128587"/>
            </a:xfrm>
            <a:custGeom>
              <a:avLst/>
              <a:gdLst>
                <a:gd name="T0" fmla="*/ 36 w 84"/>
                <a:gd name="T1" fmla="*/ 67 h 81"/>
                <a:gd name="T2" fmla="*/ 7 w 84"/>
                <a:gd name="T3" fmla="*/ 39 h 81"/>
                <a:gd name="T4" fmla="*/ 0 w 84"/>
                <a:gd name="T5" fmla="*/ 45 h 81"/>
                <a:gd name="T6" fmla="*/ 38 w 84"/>
                <a:gd name="T7" fmla="*/ 81 h 81"/>
                <a:gd name="T8" fmla="*/ 84 w 84"/>
                <a:gd name="T9" fmla="*/ 4 h 81"/>
                <a:gd name="T10" fmla="*/ 76 w 84"/>
                <a:gd name="T11" fmla="*/ 0 h 81"/>
                <a:gd name="T12" fmla="*/ 36 w 84"/>
                <a:gd name="T13" fmla="*/ 67 h 81"/>
              </a:gdLst>
              <a:ahLst/>
              <a:cxnLst>
                <a:cxn ang="0">
                  <a:pos x="T0" y="T1"/>
                </a:cxn>
                <a:cxn ang="0">
                  <a:pos x="T2" y="T3"/>
                </a:cxn>
                <a:cxn ang="0">
                  <a:pos x="T4" y="T5"/>
                </a:cxn>
                <a:cxn ang="0">
                  <a:pos x="T6" y="T7"/>
                </a:cxn>
                <a:cxn ang="0">
                  <a:pos x="T8" y="T9"/>
                </a:cxn>
                <a:cxn ang="0">
                  <a:pos x="T10" y="T11"/>
                </a:cxn>
                <a:cxn ang="0">
                  <a:pos x="T12" y="T13"/>
                </a:cxn>
              </a:cxnLst>
              <a:rect l="0" t="0" r="r" b="b"/>
              <a:pathLst>
                <a:path w="84" h="81">
                  <a:moveTo>
                    <a:pt x="36" y="67"/>
                  </a:moveTo>
                  <a:lnTo>
                    <a:pt x="7" y="39"/>
                  </a:lnTo>
                  <a:lnTo>
                    <a:pt x="0" y="45"/>
                  </a:lnTo>
                  <a:lnTo>
                    <a:pt x="38" y="81"/>
                  </a:lnTo>
                  <a:lnTo>
                    <a:pt x="84" y="4"/>
                  </a:lnTo>
                  <a:lnTo>
                    <a:pt x="76" y="0"/>
                  </a:lnTo>
                  <a:lnTo>
                    <a:pt x="36" y="67"/>
                  </a:lnTo>
                  <a:close/>
                </a:path>
              </a:pathLst>
            </a:custGeom>
            <a:solidFill>
              <a:srgbClr val="FFFFFF">
                <a:lumMod val="100000"/>
              </a:srgb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grpSp>
      <p:grpSp>
        <p:nvGrpSpPr>
          <p:cNvPr id="398" name="Group 397">
            <a:extLst>
              <a:ext uri="{FF2B5EF4-FFF2-40B4-BE49-F238E27FC236}">
                <a16:creationId xmlns:a16="http://schemas.microsoft.com/office/drawing/2014/main" id="{F55CCB91-9783-42E8-B829-36B9DF3D0AD1}"/>
              </a:ext>
            </a:extLst>
          </p:cNvPr>
          <p:cNvGrpSpPr/>
          <p:nvPr/>
        </p:nvGrpSpPr>
        <p:grpSpPr>
          <a:xfrm>
            <a:off x="7675277" y="2832930"/>
            <a:ext cx="1277534" cy="230747"/>
            <a:chOff x="7675277" y="2905395"/>
            <a:chExt cx="1277534" cy="230747"/>
          </a:xfrm>
        </p:grpSpPr>
        <p:sp>
          <p:nvSpPr>
            <p:cNvPr id="399" name="object 66">
              <a:extLst>
                <a:ext uri="{FF2B5EF4-FFF2-40B4-BE49-F238E27FC236}">
                  <a16:creationId xmlns:a16="http://schemas.microsoft.com/office/drawing/2014/main" id="{C672388D-F690-4687-AF23-79FF167EA445}"/>
                </a:ext>
              </a:extLst>
            </p:cNvPr>
            <p:cNvSpPr txBox="1"/>
            <p:nvPr/>
          </p:nvSpPr>
          <p:spPr>
            <a:xfrm>
              <a:off x="8484811" y="2917526"/>
              <a:ext cx="468000" cy="191198"/>
            </a:xfrm>
            <a:prstGeom prst="rect">
              <a:avLst/>
            </a:prstGeom>
          </p:spPr>
          <p:txBody>
            <a:bodyPr vert="horz" wrap="square" lIns="0" tIns="6469" rIns="0" bIns="0" rtlCol="0">
              <a:noAutofit/>
            </a:bodyPr>
            <a:lstStyle/>
            <a:p>
              <a:pPr marL="0" marR="0" lvl="0" indent="0" algn="l" defTabSz="554492" rtl="0" eaLnBrk="1" fontAlgn="auto" latinLnBrk="0" hangingPunct="1">
                <a:lnSpc>
                  <a:spcPct val="100000"/>
                </a:lnSpc>
                <a:spcBef>
                  <a:spcPts val="0"/>
                </a:spcBef>
                <a:spcAft>
                  <a:spcPts val="0"/>
                </a:spcAft>
                <a:buClr>
                  <a:srgbClr val="9B1C23"/>
                </a:buClr>
                <a:buSzTx/>
                <a:buFont typeface="Trebuchet MS" panose="020B0603020202020204" pitchFamily="34" charset="0"/>
                <a:buChar char="​"/>
                <a:tabLst/>
                <a:defRPr/>
              </a:pPr>
              <a:r>
                <a:rPr kumimoji="0" lang="en-US" sz="600" b="1" i="0" u="none" strike="noStrike" kern="1200" cap="none" spc="-6" normalizeH="0" baseline="0" noProof="0">
                  <a:ln>
                    <a:noFill/>
                  </a:ln>
                  <a:solidFill>
                    <a:srgbClr val="000000"/>
                  </a:solidFill>
                  <a:effectLst/>
                  <a:uLnTx/>
                  <a:uFillTx/>
                  <a:latin typeface="Arial Nova" panose="020B0504020202020204" pitchFamily="34" charset="0"/>
                  <a:ea typeface="+mn-ea"/>
                  <a:cs typeface="Proxima Nova Semibold"/>
                </a:rPr>
                <a:t>$$ XX</a:t>
              </a:r>
              <a:r>
                <a:rPr kumimoji="0" sz="600" b="1" i="0" u="none" strike="noStrike" kern="1200" cap="none" spc="-6" normalizeH="0" baseline="0" noProof="0">
                  <a:ln>
                    <a:noFill/>
                  </a:ln>
                  <a:solidFill>
                    <a:srgbClr val="000000"/>
                  </a:solidFill>
                  <a:effectLst/>
                  <a:uLnTx/>
                  <a:uFillTx/>
                  <a:latin typeface="Arial Nova" panose="020B0504020202020204" pitchFamily="34" charset="0"/>
                  <a:ea typeface="+mn-ea"/>
                  <a:cs typeface="Proxima Nova Semibold"/>
                </a:rPr>
                <a:t>,</a:t>
              </a:r>
              <a:r>
                <a:rPr kumimoji="0" sz="600" b="1" i="0" u="none" strike="noStrike" kern="1200" cap="none" spc="-15" normalizeH="0" baseline="0" noProof="0">
                  <a:ln>
                    <a:noFill/>
                  </a:ln>
                  <a:solidFill>
                    <a:srgbClr val="000000"/>
                  </a:solidFill>
                  <a:effectLst/>
                  <a:uLnTx/>
                  <a:uFillTx/>
                  <a:latin typeface="Arial Nova" panose="020B0504020202020204" pitchFamily="34" charset="0"/>
                  <a:ea typeface="+mn-ea"/>
                  <a:cs typeface="Proxima Nova Semibold"/>
                </a:rPr>
                <a:t> </a:t>
              </a:r>
              <a:br>
                <a:rPr kumimoji="0" lang="en-US" sz="600" b="1" i="0" u="none" strike="noStrike" kern="1200" cap="none" spc="-15" normalizeH="0" baseline="0" noProof="0">
                  <a:ln>
                    <a:noFill/>
                  </a:ln>
                  <a:solidFill>
                    <a:srgbClr val="000000"/>
                  </a:solidFill>
                  <a:effectLst/>
                  <a:uLnTx/>
                  <a:uFillTx/>
                  <a:latin typeface="Arial Nova" panose="020B0504020202020204" pitchFamily="34" charset="0"/>
                  <a:ea typeface="+mn-ea"/>
                  <a:cs typeface="Proxima Nova Semibold"/>
                </a:rPr>
              </a:br>
              <a:r>
                <a:rPr kumimoji="0" lang="en-US" sz="600" b="1" i="0" u="none" strike="noStrike" kern="1200" cap="none" spc="-15" normalizeH="0" baseline="0" noProof="0">
                  <a:ln>
                    <a:noFill/>
                  </a:ln>
                  <a:solidFill>
                    <a:srgbClr val="000000"/>
                  </a:solidFill>
                  <a:effectLst/>
                  <a:uLnTx/>
                  <a:uFillTx/>
                  <a:latin typeface="Arial Nova" panose="020B0504020202020204" pitchFamily="34" charset="0"/>
                  <a:ea typeface="+mn-ea"/>
                  <a:cs typeface="Proxima Nova Semibold"/>
                </a:rPr>
                <a:t>----</a:t>
              </a:r>
              <a:r>
                <a:rPr kumimoji="0" lang="en-US"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a:t>
              </a:r>
              <a:endParaRPr kumimoji="0"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endParaRPr>
            </a:p>
          </p:txBody>
        </p:sp>
        <p:sp>
          <p:nvSpPr>
            <p:cNvPr id="400" name="object 67">
              <a:extLst>
                <a:ext uri="{FF2B5EF4-FFF2-40B4-BE49-F238E27FC236}">
                  <a16:creationId xmlns:a16="http://schemas.microsoft.com/office/drawing/2014/main" id="{51922196-037E-42CE-A11E-CA981D7CA78F}"/>
                </a:ext>
              </a:extLst>
            </p:cNvPr>
            <p:cNvSpPr txBox="1"/>
            <p:nvPr/>
          </p:nvSpPr>
          <p:spPr>
            <a:xfrm>
              <a:off x="7675277" y="2905395"/>
              <a:ext cx="288000" cy="104464"/>
            </a:xfrm>
            <a:prstGeom prst="rect">
              <a:avLst/>
            </a:prstGeom>
          </p:spPr>
          <p:txBody>
            <a:bodyPr vert="horz" wrap="square" lIns="0" tIns="12014" rIns="0" bIns="0" rtlCol="0">
              <a:spAutoFit/>
            </a:bodyPr>
            <a:lstStyle/>
            <a:p>
              <a:pPr marL="0" marR="0" lvl="0" indent="0" algn="l" defTabSz="554492" rtl="0" eaLnBrk="1" fontAlgn="auto" latinLnBrk="0" hangingPunct="1">
                <a:lnSpc>
                  <a:spcPct val="100000"/>
                </a:lnSpc>
                <a:spcBef>
                  <a:spcPts val="0"/>
                </a:spcBef>
                <a:spcAft>
                  <a:spcPts val="0"/>
                </a:spcAft>
                <a:buClr>
                  <a:srgbClr val="9B1C23"/>
                </a:buClr>
                <a:buSzTx/>
                <a:buFont typeface="Trebuchet MS" panose="020B0603020202020204" pitchFamily="34" charset="0"/>
                <a:buChar char="​"/>
                <a:tabLst>
                  <a:tab pos="417024" algn="l"/>
                </a:tabLst>
                <a:defRPr/>
              </a:pPr>
              <a:r>
                <a:rPr kumimoji="0"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CLV	</a:t>
              </a:r>
              <a:endParaRPr kumimoji="0"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endParaRPr>
            </a:p>
          </p:txBody>
        </p:sp>
        <p:sp>
          <p:nvSpPr>
            <p:cNvPr id="401" name="object 67">
              <a:extLst>
                <a:ext uri="{FF2B5EF4-FFF2-40B4-BE49-F238E27FC236}">
                  <a16:creationId xmlns:a16="http://schemas.microsoft.com/office/drawing/2014/main" id="{29791C99-6A9D-475D-A664-40D430F86390}"/>
                </a:ext>
              </a:extLst>
            </p:cNvPr>
            <p:cNvSpPr txBox="1"/>
            <p:nvPr/>
          </p:nvSpPr>
          <p:spPr>
            <a:xfrm>
              <a:off x="7998840" y="2917526"/>
              <a:ext cx="360000" cy="92333"/>
            </a:xfrm>
            <a:prstGeom prst="rect">
              <a:avLst/>
            </a:prstGeom>
          </p:spPr>
          <p:txBody>
            <a:bodyPr vert="horz" wrap="square" lIns="0" tIns="0" rIns="0" bIns="0" rtlCol="0">
              <a:spAutoFit/>
            </a:bodyPr>
            <a:lstStyle/>
            <a:p>
              <a:pPr marL="0" marR="0" lvl="0" indent="0" algn="l" defTabSz="554492" rtl="0" eaLnBrk="1" fontAlgn="auto" latinLnBrk="0" hangingPunct="1">
                <a:lnSpc>
                  <a:spcPct val="100000"/>
                </a:lnSpc>
                <a:spcBef>
                  <a:spcPts val="0"/>
                </a:spcBef>
                <a:spcAft>
                  <a:spcPts val="0"/>
                </a:spcAft>
                <a:buClr>
                  <a:srgbClr val="9B1C23"/>
                </a:buClr>
                <a:buSzTx/>
                <a:buFont typeface="Trebuchet MS" panose="020B0603020202020204" pitchFamily="34" charset="0"/>
                <a:buChar char="​"/>
                <a:tabLst>
                  <a:tab pos="417024" algn="l"/>
                </a:tabLst>
                <a:defRPr/>
              </a:pPr>
              <a:r>
                <a:rPr lang="en-US" sz="600">
                  <a:solidFill>
                    <a:srgbClr val="000000"/>
                  </a:solidFill>
                  <a:latin typeface="Arial Nova" panose="020B0504020202020204" pitchFamily="34" charset="0"/>
                  <a:cs typeface="Proxima Nova"/>
                </a:rPr>
                <a:t>$$ XXX</a:t>
              </a:r>
              <a:endParaRPr kumimoji="0" sz="6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endParaRPr>
            </a:p>
          </p:txBody>
        </p:sp>
        <p:sp>
          <p:nvSpPr>
            <p:cNvPr id="402" name="object 67">
              <a:extLst>
                <a:ext uri="{FF2B5EF4-FFF2-40B4-BE49-F238E27FC236}">
                  <a16:creationId xmlns:a16="http://schemas.microsoft.com/office/drawing/2014/main" id="{9E379C48-5846-4C9D-9FBE-E675D281058A}"/>
                </a:ext>
              </a:extLst>
            </p:cNvPr>
            <p:cNvSpPr txBox="1"/>
            <p:nvPr/>
          </p:nvSpPr>
          <p:spPr>
            <a:xfrm>
              <a:off x="7675277" y="3031678"/>
              <a:ext cx="343806" cy="104464"/>
            </a:xfrm>
            <a:prstGeom prst="rect">
              <a:avLst/>
            </a:prstGeom>
          </p:spPr>
          <p:txBody>
            <a:bodyPr vert="horz" wrap="square" lIns="0" tIns="12014" rIns="0" bIns="0" rtlCol="0">
              <a:spAutoFit/>
            </a:bodyPr>
            <a:lstStyle/>
            <a:p>
              <a:pPr marL="0" marR="0" lvl="0" indent="0" algn="l" defTabSz="554492" rtl="0" eaLnBrk="1" fontAlgn="auto" latinLnBrk="0" hangingPunct="1">
                <a:lnSpc>
                  <a:spcPct val="100000"/>
                </a:lnSpc>
                <a:spcBef>
                  <a:spcPts val="0"/>
                </a:spcBef>
                <a:spcAft>
                  <a:spcPts val="0"/>
                </a:spcAft>
                <a:buClr>
                  <a:srgbClr val="9B1C23"/>
                </a:buClr>
                <a:buSzTx/>
                <a:buFont typeface="Trebuchet MS" panose="020B0603020202020204" pitchFamily="34" charset="0"/>
                <a:buChar char="​"/>
                <a:tabLst>
                  <a:tab pos="427036" algn="l"/>
                </a:tabLst>
                <a:defRPr/>
              </a:pPr>
              <a:r>
                <a:rPr kumimoji="0" lang="en-US"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Segment</a:t>
              </a:r>
              <a:endParaRPr kumimoji="0"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endParaRPr>
            </a:p>
          </p:txBody>
        </p:sp>
        <p:sp>
          <p:nvSpPr>
            <p:cNvPr id="403" name="object 67">
              <a:extLst>
                <a:ext uri="{FF2B5EF4-FFF2-40B4-BE49-F238E27FC236}">
                  <a16:creationId xmlns:a16="http://schemas.microsoft.com/office/drawing/2014/main" id="{187E4048-639E-429C-A24B-8628BAB6DC9C}"/>
                </a:ext>
              </a:extLst>
            </p:cNvPr>
            <p:cNvSpPr txBox="1"/>
            <p:nvPr/>
          </p:nvSpPr>
          <p:spPr>
            <a:xfrm>
              <a:off x="7998840" y="3043809"/>
              <a:ext cx="360000" cy="92333"/>
            </a:xfrm>
            <a:prstGeom prst="rect">
              <a:avLst/>
            </a:prstGeom>
          </p:spPr>
          <p:txBody>
            <a:bodyPr vert="horz" wrap="square" lIns="0" tIns="0" rIns="0" bIns="0" rtlCol="0">
              <a:spAutoFit/>
            </a:bodyPr>
            <a:lstStyle/>
            <a:p>
              <a:pPr marL="0" marR="0" lvl="0" indent="0" algn="l" defTabSz="554492" rtl="0" eaLnBrk="1" fontAlgn="auto" latinLnBrk="0" hangingPunct="1">
                <a:lnSpc>
                  <a:spcPct val="100000"/>
                </a:lnSpc>
                <a:spcBef>
                  <a:spcPts val="0"/>
                </a:spcBef>
                <a:spcAft>
                  <a:spcPts val="0"/>
                </a:spcAft>
                <a:buClr>
                  <a:srgbClr val="9B1C23"/>
                </a:buClr>
                <a:buSzTx/>
                <a:buFont typeface="Trebuchet MS" panose="020B0603020202020204" pitchFamily="34" charset="0"/>
                <a:buChar char="​"/>
                <a:tabLst>
                  <a:tab pos="417024" algn="l"/>
                </a:tabLst>
                <a:defRPr/>
              </a:pPr>
              <a:r>
                <a:rPr kumimoji="0" lang="en-US" sz="6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rPr>
                <a:t>1</a:t>
              </a:r>
              <a:endParaRPr kumimoji="0" sz="6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endParaRPr>
            </a:p>
          </p:txBody>
        </p:sp>
        <p:cxnSp>
          <p:nvCxnSpPr>
            <p:cNvPr id="404" name="Straight Connector 403">
              <a:extLst>
                <a:ext uri="{FF2B5EF4-FFF2-40B4-BE49-F238E27FC236}">
                  <a16:creationId xmlns:a16="http://schemas.microsoft.com/office/drawing/2014/main" id="{14B0E701-6290-44CC-BACB-1B56B8303B47}"/>
                </a:ext>
              </a:extLst>
            </p:cNvPr>
            <p:cNvCxnSpPr/>
            <p:nvPr/>
          </p:nvCxnSpPr>
          <p:spPr>
            <a:xfrm>
              <a:off x="8410435" y="2905395"/>
              <a:ext cx="0" cy="230747"/>
            </a:xfrm>
            <a:prstGeom prst="line">
              <a:avLst/>
            </a:prstGeom>
            <a:ln w="9525" cap="rnd">
              <a:solidFill>
                <a:schemeClr val="bg1">
                  <a:lumMod val="85000"/>
                </a:schemeClr>
              </a:solidFill>
              <a:prstDash val="solid"/>
              <a:round/>
            </a:ln>
          </p:spPr>
          <p:style>
            <a:lnRef idx="1">
              <a:schemeClr val="accent1"/>
            </a:lnRef>
            <a:fillRef idx="0">
              <a:schemeClr val="accent1"/>
            </a:fillRef>
            <a:effectRef idx="0">
              <a:schemeClr val="accent1"/>
            </a:effectRef>
            <a:fontRef idx="minor">
              <a:schemeClr val="tx1"/>
            </a:fontRef>
          </p:style>
        </p:cxnSp>
      </p:grpSp>
      <p:grpSp>
        <p:nvGrpSpPr>
          <p:cNvPr id="405" name="Group 404">
            <a:extLst>
              <a:ext uri="{FF2B5EF4-FFF2-40B4-BE49-F238E27FC236}">
                <a16:creationId xmlns:a16="http://schemas.microsoft.com/office/drawing/2014/main" id="{E0B7A23F-C1A0-4102-A2B9-FE28A9390936}"/>
              </a:ext>
            </a:extLst>
          </p:cNvPr>
          <p:cNvGrpSpPr/>
          <p:nvPr/>
        </p:nvGrpSpPr>
        <p:grpSpPr>
          <a:xfrm>
            <a:off x="7109802" y="3722519"/>
            <a:ext cx="428511" cy="545483"/>
            <a:chOff x="7109410" y="3457203"/>
            <a:chExt cx="428511" cy="545483"/>
          </a:xfrm>
        </p:grpSpPr>
        <p:grpSp>
          <p:nvGrpSpPr>
            <p:cNvPr id="406" name="Group 405">
              <a:extLst>
                <a:ext uri="{FF2B5EF4-FFF2-40B4-BE49-F238E27FC236}">
                  <a16:creationId xmlns:a16="http://schemas.microsoft.com/office/drawing/2014/main" id="{198EEFB1-C01D-4727-8A5E-067805C22807}"/>
                </a:ext>
              </a:extLst>
            </p:cNvPr>
            <p:cNvGrpSpPr/>
            <p:nvPr/>
          </p:nvGrpSpPr>
          <p:grpSpPr>
            <a:xfrm>
              <a:off x="7109410" y="3457203"/>
              <a:ext cx="360000" cy="377438"/>
              <a:chOff x="7199291" y="2883155"/>
              <a:chExt cx="360000" cy="377438"/>
            </a:xfrm>
          </p:grpSpPr>
          <p:sp>
            <p:nvSpPr>
              <p:cNvPr id="408" name="Freeform: Shape 407">
                <a:extLst>
                  <a:ext uri="{FF2B5EF4-FFF2-40B4-BE49-F238E27FC236}">
                    <a16:creationId xmlns:a16="http://schemas.microsoft.com/office/drawing/2014/main" id="{D194B63C-8165-47E9-BC97-6F587F7F40ED}"/>
                  </a:ext>
                </a:extLst>
              </p:cNvPr>
              <p:cNvSpPr/>
              <p:nvPr/>
            </p:nvSpPr>
            <p:spPr>
              <a:xfrm flipH="1">
                <a:off x="7199291" y="3015682"/>
                <a:ext cx="360000" cy="243412"/>
              </a:xfrm>
              <a:custGeom>
                <a:avLst/>
                <a:gdLst>
                  <a:gd name="connsiteX0" fmla="*/ 1684185 w 1693011"/>
                  <a:gd name="connsiteY0" fmla="*/ 888788 h 1144724"/>
                  <a:gd name="connsiteX1" fmla="*/ 1526070 w 1693011"/>
                  <a:gd name="connsiteY1" fmla="*/ 300048 h 1144724"/>
                  <a:gd name="connsiteX2" fmla="*/ 1056488 w 1693011"/>
                  <a:gd name="connsiteY2" fmla="*/ 10 h 1144724"/>
                  <a:gd name="connsiteX3" fmla="*/ 755117 w 1693011"/>
                  <a:gd name="connsiteY3" fmla="*/ 7821 h 1144724"/>
                  <a:gd name="connsiteX4" fmla="*/ 313156 w 1693011"/>
                  <a:gd name="connsiteY4" fmla="*/ 267472 h 1144724"/>
                  <a:gd name="connsiteX5" fmla="*/ 104178 w 1693011"/>
                  <a:gd name="connsiteY5" fmla="*/ 683810 h 1144724"/>
                  <a:gd name="connsiteX6" fmla="*/ 222955 w 1693011"/>
                  <a:gd name="connsiteY6" fmla="*/ 1144725 h 1144724"/>
                  <a:gd name="connsiteX7" fmla="*/ 443839 w 1693011"/>
                  <a:gd name="connsiteY7" fmla="*/ 1144534 h 1144724"/>
                  <a:gd name="connsiteX8" fmla="*/ 1439488 w 1693011"/>
                  <a:gd name="connsiteY8" fmla="*/ 1144725 h 1144724"/>
                  <a:gd name="connsiteX9" fmla="*/ 1684185 w 1693011"/>
                  <a:gd name="connsiteY9" fmla="*/ 888788 h 1144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93011" h="1144724">
                    <a:moveTo>
                      <a:pt x="1684185" y="888788"/>
                    </a:moveTo>
                    <a:cubicBezTo>
                      <a:pt x="1627702" y="650091"/>
                      <a:pt x="1558074" y="366342"/>
                      <a:pt x="1526070" y="300048"/>
                    </a:cubicBezTo>
                    <a:cubicBezTo>
                      <a:pt x="1412722" y="65066"/>
                      <a:pt x="1266418" y="-942"/>
                      <a:pt x="1056488" y="10"/>
                    </a:cubicBezTo>
                    <a:lnTo>
                      <a:pt x="755117" y="7821"/>
                    </a:lnTo>
                    <a:cubicBezTo>
                      <a:pt x="430885" y="20679"/>
                      <a:pt x="383737" y="140028"/>
                      <a:pt x="313156" y="267472"/>
                    </a:cubicBezTo>
                    <a:cubicBezTo>
                      <a:pt x="256768" y="369390"/>
                      <a:pt x="110083" y="677142"/>
                      <a:pt x="104178" y="683810"/>
                    </a:cubicBezTo>
                    <a:cubicBezTo>
                      <a:pt x="-29267" y="832495"/>
                      <a:pt x="-76797" y="1140343"/>
                      <a:pt x="222955" y="1144725"/>
                    </a:cubicBezTo>
                    <a:cubicBezTo>
                      <a:pt x="227431" y="1144725"/>
                      <a:pt x="439744" y="1144725"/>
                      <a:pt x="443839" y="1144534"/>
                    </a:cubicBezTo>
                    <a:cubicBezTo>
                      <a:pt x="443839" y="1144725"/>
                      <a:pt x="1439488" y="1144725"/>
                      <a:pt x="1439488" y="1144725"/>
                    </a:cubicBezTo>
                    <a:cubicBezTo>
                      <a:pt x="1596079" y="1144725"/>
                      <a:pt x="1729048" y="1078145"/>
                      <a:pt x="1684185" y="888788"/>
                    </a:cubicBezTo>
                    <a:close/>
                  </a:path>
                </a:pathLst>
              </a:custGeom>
              <a:solidFill>
                <a:schemeClr val="tx2">
                  <a:lumMod val="20000"/>
                  <a:lumOff val="80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09" name="Freeform: Shape 408">
                <a:extLst>
                  <a:ext uri="{FF2B5EF4-FFF2-40B4-BE49-F238E27FC236}">
                    <a16:creationId xmlns:a16="http://schemas.microsoft.com/office/drawing/2014/main" id="{E787848E-C2F1-4878-88B9-44198BD618AA}"/>
                  </a:ext>
                </a:extLst>
              </p:cNvPr>
              <p:cNvSpPr/>
              <p:nvPr/>
            </p:nvSpPr>
            <p:spPr>
              <a:xfrm flipH="1">
                <a:off x="7458259" y="3146394"/>
                <a:ext cx="80391" cy="29862"/>
              </a:xfrm>
              <a:custGeom>
                <a:avLst/>
                <a:gdLst>
                  <a:gd name="connsiteX0" fmla="*/ 7014 w 378065"/>
                  <a:gd name="connsiteY0" fmla="*/ 140339 h 140434"/>
                  <a:gd name="connsiteX1" fmla="*/ 918 w 378065"/>
                  <a:gd name="connsiteY1" fmla="*/ 136815 h 140434"/>
                  <a:gd name="connsiteX2" fmla="*/ 3585 w 378065"/>
                  <a:gd name="connsiteY2" fmla="*/ 127290 h 140434"/>
                  <a:gd name="connsiteX3" fmla="*/ 370297 w 378065"/>
                  <a:gd name="connsiteY3" fmla="*/ 36 h 140434"/>
                  <a:gd name="connsiteX4" fmla="*/ 378012 w 378065"/>
                  <a:gd name="connsiteY4" fmla="*/ 6227 h 140434"/>
                  <a:gd name="connsiteX5" fmla="*/ 371821 w 378065"/>
                  <a:gd name="connsiteY5" fmla="*/ 13943 h 140434"/>
                  <a:gd name="connsiteX6" fmla="*/ 10347 w 378065"/>
                  <a:gd name="connsiteY6" fmla="*/ 139482 h 140434"/>
                  <a:gd name="connsiteX7" fmla="*/ 6918 w 378065"/>
                  <a:gd name="connsiteY7" fmla="*/ 140435 h 140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8065" h="140434">
                    <a:moveTo>
                      <a:pt x="7014" y="140339"/>
                    </a:moveTo>
                    <a:cubicBezTo>
                      <a:pt x="4537" y="140339"/>
                      <a:pt x="2251" y="139101"/>
                      <a:pt x="918" y="136815"/>
                    </a:cubicBezTo>
                    <a:cubicBezTo>
                      <a:pt x="-987" y="133481"/>
                      <a:pt x="156" y="129195"/>
                      <a:pt x="3585" y="127290"/>
                    </a:cubicBezTo>
                    <a:cubicBezTo>
                      <a:pt x="5490" y="126242"/>
                      <a:pt x="193989" y="20229"/>
                      <a:pt x="370297" y="36"/>
                    </a:cubicBezTo>
                    <a:cubicBezTo>
                      <a:pt x="374107" y="-345"/>
                      <a:pt x="377631" y="2322"/>
                      <a:pt x="378012" y="6227"/>
                    </a:cubicBezTo>
                    <a:cubicBezTo>
                      <a:pt x="378489" y="10037"/>
                      <a:pt x="375726" y="13562"/>
                      <a:pt x="371821" y="13943"/>
                    </a:cubicBezTo>
                    <a:cubicBezTo>
                      <a:pt x="198276" y="33850"/>
                      <a:pt x="12252" y="138434"/>
                      <a:pt x="10347" y="139482"/>
                    </a:cubicBezTo>
                    <a:cubicBezTo>
                      <a:pt x="9300" y="140054"/>
                      <a:pt x="8061" y="140435"/>
                      <a:pt x="6918" y="140435"/>
                    </a:cubicBezTo>
                    <a:close/>
                  </a:path>
                </a:pathLst>
              </a:custGeom>
              <a:solidFill>
                <a:schemeClr val="tx2"/>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10" name="Freeform: Shape 409">
                <a:extLst>
                  <a:ext uri="{FF2B5EF4-FFF2-40B4-BE49-F238E27FC236}">
                    <a16:creationId xmlns:a16="http://schemas.microsoft.com/office/drawing/2014/main" id="{31FDA20C-8800-4117-A3EE-C7F8832AE204}"/>
                  </a:ext>
                </a:extLst>
              </p:cNvPr>
              <p:cNvSpPr/>
              <p:nvPr/>
            </p:nvSpPr>
            <p:spPr>
              <a:xfrm flipH="1">
                <a:off x="7375947" y="3215516"/>
                <a:ext cx="116342" cy="45077"/>
              </a:xfrm>
              <a:custGeom>
                <a:avLst/>
                <a:gdLst>
                  <a:gd name="connsiteX0" fmla="*/ 7010 w 547134"/>
                  <a:gd name="connsiteY0" fmla="*/ 211988 h 211988"/>
                  <a:gd name="connsiteX1" fmla="*/ 438 w 547134"/>
                  <a:gd name="connsiteY1" fmla="*/ 207416 h 211988"/>
                  <a:gd name="connsiteX2" fmla="*/ 4534 w 547134"/>
                  <a:gd name="connsiteY2" fmla="*/ 198463 h 211988"/>
                  <a:gd name="connsiteX3" fmla="*/ 537743 w 547134"/>
                  <a:gd name="connsiteY3" fmla="*/ 438 h 211988"/>
                  <a:gd name="connsiteX4" fmla="*/ 546697 w 547134"/>
                  <a:gd name="connsiteY4" fmla="*/ 4534 h 211988"/>
                  <a:gd name="connsiteX5" fmla="*/ 542601 w 547134"/>
                  <a:gd name="connsiteY5" fmla="*/ 13487 h 211988"/>
                  <a:gd name="connsiteX6" fmla="*/ 9391 w 547134"/>
                  <a:gd name="connsiteY6" fmla="*/ 211512 h 211988"/>
                  <a:gd name="connsiteX7" fmla="*/ 6915 w 547134"/>
                  <a:gd name="connsiteY7" fmla="*/ 211988 h 211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7134" h="211988">
                    <a:moveTo>
                      <a:pt x="7010" y="211988"/>
                    </a:moveTo>
                    <a:cubicBezTo>
                      <a:pt x="4153" y="211988"/>
                      <a:pt x="1486" y="210274"/>
                      <a:pt x="438" y="207416"/>
                    </a:cubicBezTo>
                    <a:cubicBezTo>
                      <a:pt x="-896" y="203797"/>
                      <a:pt x="914" y="199796"/>
                      <a:pt x="4534" y="198463"/>
                    </a:cubicBezTo>
                    <a:lnTo>
                      <a:pt x="537743" y="438"/>
                    </a:lnTo>
                    <a:cubicBezTo>
                      <a:pt x="541363" y="-896"/>
                      <a:pt x="545363" y="914"/>
                      <a:pt x="546697" y="4534"/>
                    </a:cubicBezTo>
                    <a:cubicBezTo>
                      <a:pt x="548030" y="8153"/>
                      <a:pt x="546221" y="12154"/>
                      <a:pt x="542601" y="13487"/>
                    </a:cubicBezTo>
                    <a:lnTo>
                      <a:pt x="9391" y="211512"/>
                    </a:lnTo>
                    <a:cubicBezTo>
                      <a:pt x="8629" y="211798"/>
                      <a:pt x="7772" y="211988"/>
                      <a:pt x="6915" y="211988"/>
                    </a:cubicBezTo>
                    <a:close/>
                  </a:path>
                </a:pathLst>
              </a:custGeom>
              <a:solidFill>
                <a:schemeClr val="tx2"/>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11" name="Freeform: Shape 410">
                <a:extLst>
                  <a:ext uri="{FF2B5EF4-FFF2-40B4-BE49-F238E27FC236}">
                    <a16:creationId xmlns:a16="http://schemas.microsoft.com/office/drawing/2014/main" id="{7AA2D033-CD16-4476-A9CF-CFD0E53C4514}"/>
                  </a:ext>
                </a:extLst>
              </p:cNvPr>
              <p:cNvSpPr/>
              <p:nvPr/>
            </p:nvSpPr>
            <p:spPr>
              <a:xfrm flipH="1">
                <a:off x="7281807" y="3079499"/>
                <a:ext cx="73716" cy="60442"/>
              </a:xfrm>
              <a:custGeom>
                <a:avLst/>
                <a:gdLst>
                  <a:gd name="connsiteX0" fmla="*/ 332518 w 346671"/>
                  <a:gd name="connsiteY0" fmla="*/ 121561 h 284247"/>
                  <a:gd name="connsiteX1" fmla="*/ 308134 w 346671"/>
                  <a:gd name="connsiteY1" fmla="*/ 123942 h 284247"/>
                  <a:gd name="connsiteX2" fmla="*/ 288608 w 346671"/>
                  <a:gd name="connsiteY2" fmla="*/ 32312 h 284247"/>
                  <a:gd name="connsiteX3" fmla="*/ 245174 w 346671"/>
                  <a:gd name="connsiteY3" fmla="*/ 54124 h 284247"/>
                  <a:gd name="connsiteX4" fmla="*/ 216313 w 346671"/>
                  <a:gd name="connsiteY4" fmla="*/ 308 h 284247"/>
                  <a:gd name="connsiteX5" fmla="*/ 168878 w 346671"/>
                  <a:gd name="connsiteY5" fmla="*/ 27740 h 284247"/>
                  <a:gd name="connsiteX6" fmla="*/ 145447 w 346671"/>
                  <a:gd name="connsiteY6" fmla="*/ 1165 h 284247"/>
                  <a:gd name="connsiteX7" fmla="*/ 46196 w 346671"/>
                  <a:gd name="connsiteY7" fmla="*/ 108893 h 284247"/>
                  <a:gd name="connsiteX8" fmla="*/ 0 w 346671"/>
                  <a:gd name="connsiteY8" fmla="*/ 219287 h 284247"/>
                  <a:gd name="connsiteX9" fmla="*/ 328136 w 346671"/>
                  <a:gd name="connsiteY9" fmla="*/ 284248 h 284247"/>
                  <a:gd name="connsiteX10" fmla="*/ 332613 w 346671"/>
                  <a:gd name="connsiteY10" fmla="*/ 121656 h 284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6671" h="284247">
                    <a:moveTo>
                      <a:pt x="332518" y="121561"/>
                    </a:moveTo>
                    <a:cubicBezTo>
                      <a:pt x="323088" y="118894"/>
                      <a:pt x="308134" y="123942"/>
                      <a:pt x="308134" y="123942"/>
                    </a:cubicBezTo>
                    <a:cubicBezTo>
                      <a:pt x="314801" y="85937"/>
                      <a:pt x="316230" y="40979"/>
                      <a:pt x="288608" y="32312"/>
                    </a:cubicBezTo>
                    <a:cubicBezTo>
                      <a:pt x="271081" y="26787"/>
                      <a:pt x="245174" y="54124"/>
                      <a:pt x="245174" y="54124"/>
                    </a:cubicBezTo>
                    <a:cubicBezTo>
                      <a:pt x="244983" y="27740"/>
                      <a:pt x="238316" y="4594"/>
                      <a:pt x="216313" y="308"/>
                    </a:cubicBezTo>
                    <a:cubicBezTo>
                      <a:pt x="197072" y="-3407"/>
                      <a:pt x="168878" y="27740"/>
                      <a:pt x="168878" y="27740"/>
                    </a:cubicBezTo>
                    <a:cubicBezTo>
                      <a:pt x="165545" y="14405"/>
                      <a:pt x="158591" y="4213"/>
                      <a:pt x="145447" y="1165"/>
                    </a:cubicBezTo>
                    <a:cubicBezTo>
                      <a:pt x="108585" y="-7312"/>
                      <a:pt x="67437" y="52219"/>
                      <a:pt x="46196" y="108893"/>
                    </a:cubicBezTo>
                    <a:cubicBezTo>
                      <a:pt x="34671" y="139563"/>
                      <a:pt x="15335" y="184426"/>
                      <a:pt x="0" y="219287"/>
                    </a:cubicBezTo>
                    <a:lnTo>
                      <a:pt x="328136" y="284248"/>
                    </a:lnTo>
                    <a:cubicBezTo>
                      <a:pt x="342805" y="214906"/>
                      <a:pt x="358997" y="129181"/>
                      <a:pt x="332613" y="121656"/>
                    </a:cubicBezTo>
                    <a:close/>
                  </a:path>
                </a:pathLst>
              </a:custGeom>
              <a:solidFill>
                <a:srgbClr val="FFBEB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12" name="Freeform: Shape 411">
                <a:extLst>
                  <a:ext uri="{FF2B5EF4-FFF2-40B4-BE49-F238E27FC236}">
                    <a16:creationId xmlns:a16="http://schemas.microsoft.com/office/drawing/2014/main" id="{9806DF88-C132-4A70-8316-E17D78A7A5BE}"/>
                  </a:ext>
                </a:extLst>
              </p:cNvPr>
              <p:cNvSpPr/>
              <p:nvPr/>
            </p:nvSpPr>
            <p:spPr>
              <a:xfrm flipH="1">
                <a:off x="7318124" y="3083889"/>
                <a:ext cx="18835" cy="46978"/>
              </a:xfrm>
              <a:custGeom>
                <a:avLst/>
                <a:gdLst>
                  <a:gd name="connsiteX0" fmla="*/ 6998 w 88577"/>
                  <a:gd name="connsiteY0" fmla="*/ 220835 h 220929"/>
                  <a:gd name="connsiteX1" fmla="*/ 4617 w 88577"/>
                  <a:gd name="connsiteY1" fmla="*/ 220454 h 220929"/>
                  <a:gd name="connsiteX2" fmla="*/ 426 w 88577"/>
                  <a:gd name="connsiteY2" fmla="*/ 211500 h 220929"/>
                  <a:gd name="connsiteX3" fmla="*/ 75007 w 88577"/>
                  <a:gd name="connsiteY3" fmla="*/ 4617 h 220929"/>
                  <a:gd name="connsiteX4" fmla="*/ 83960 w 88577"/>
                  <a:gd name="connsiteY4" fmla="*/ 426 h 220929"/>
                  <a:gd name="connsiteX5" fmla="*/ 88152 w 88577"/>
                  <a:gd name="connsiteY5" fmla="*/ 9380 h 220929"/>
                  <a:gd name="connsiteX6" fmla="*/ 13571 w 88577"/>
                  <a:gd name="connsiteY6" fmla="*/ 216263 h 220929"/>
                  <a:gd name="connsiteX7" fmla="*/ 6998 w 88577"/>
                  <a:gd name="connsiteY7" fmla="*/ 220930 h 220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577" h="220929">
                    <a:moveTo>
                      <a:pt x="6998" y="220835"/>
                    </a:moveTo>
                    <a:cubicBezTo>
                      <a:pt x="6236" y="220835"/>
                      <a:pt x="5379" y="220739"/>
                      <a:pt x="4617" y="220454"/>
                    </a:cubicBezTo>
                    <a:cubicBezTo>
                      <a:pt x="998" y="219120"/>
                      <a:pt x="-907" y="215120"/>
                      <a:pt x="426" y="211500"/>
                    </a:cubicBezTo>
                    <a:lnTo>
                      <a:pt x="75007" y="4617"/>
                    </a:lnTo>
                    <a:cubicBezTo>
                      <a:pt x="76340" y="998"/>
                      <a:pt x="80341" y="-907"/>
                      <a:pt x="83960" y="426"/>
                    </a:cubicBezTo>
                    <a:cubicBezTo>
                      <a:pt x="87580" y="1760"/>
                      <a:pt x="89485" y="5760"/>
                      <a:pt x="88152" y="9380"/>
                    </a:cubicBezTo>
                    <a:lnTo>
                      <a:pt x="13571" y="216263"/>
                    </a:lnTo>
                    <a:cubicBezTo>
                      <a:pt x="12523" y="219120"/>
                      <a:pt x="9856" y="220930"/>
                      <a:pt x="6998" y="220930"/>
                    </a:cubicBezTo>
                    <a:close/>
                  </a:path>
                </a:pathLst>
              </a:custGeom>
              <a:solidFill>
                <a:srgbClr val="F47C73"/>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13" name="Freeform: Shape 412">
                <a:extLst>
                  <a:ext uri="{FF2B5EF4-FFF2-40B4-BE49-F238E27FC236}">
                    <a16:creationId xmlns:a16="http://schemas.microsoft.com/office/drawing/2014/main" id="{6B2C6C68-9AD7-45C7-AF90-851F4D88C407}"/>
                  </a:ext>
                </a:extLst>
              </p:cNvPr>
              <p:cNvSpPr/>
              <p:nvPr/>
            </p:nvSpPr>
            <p:spPr>
              <a:xfrm flipH="1">
                <a:off x="7301917" y="3089495"/>
                <a:ext cx="14144" cy="45220"/>
              </a:xfrm>
              <a:custGeom>
                <a:avLst/>
                <a:gdLst>
                  <a:gd name="connsiteX0" fmla="*/ 7018 w 66518"/>
                  <a:gd name="connsiteY0" fmla="*/ 212567 h 212662"/>
                  <a:gd name="connsiteX1" fmla="*/ 5208 w 66518"/>
                  <a:gd name="connsiteY1" fmla="*/ 212377 h 212662"/>
                  <a:gd name="connsiteX2" fmla="*/ 255 w 66518"/>
                  <a:gd name="connsiteY2" fmla="*/ 203804 h 212662"/>
                  <a:gd name="connsiteX3" fmla="*/ 52738 w 66518"/>
                  <a:gd name="connsiteY3" fmla="*/ 5208 h 212662"/>
                  <a:gd name="connsiteX4" fmla="*/ 61310 w 66518"/>
                  <a:gd name="connsiteY4" fmla="*/ 255 h 212662"/>
                  <a:gd name="connsiteX5" fmla="*/ 66263 w 66518"/>
                  <a:gd name="connsiteY5" fmla="*/ 8827 h 212662"/>
                  <a:gd name="connsiteX6" fmla="*/ 13780 w 66518"/>
                  <a:gd name="connsiteY6" fmla="*/ 207424 h 212662"/>
                  <a:gd name="connsiteX7" fmla="*/ 7018 w 66518"/>
                  <a:gd name="connsiteY7" fmla="*/ 212662 h 212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518" h="212662">
                    <a:moveTo>
                      <a:pt x="7018" y="212567"/>
                    </a:moveTo>
                    <a:cubicBezTo>
                      <a:pt x="6446" y="212567"/>
                      <a:pt x="5875" y="212567"/>
                      <a:pt x="5208" y="212377"/>
                    </a:cubicBezTo>
                    <a:cubicBezTo>
                      <a:pt x="1493" y="211424"/>
                      <a:pt x="-793" y="207519"/>
                      <a:pt x="255" y="203804"/>
                    </a:cubicBezTo>
                    <a:lnTo>
                      <a:pt x="52738" y="5208"/>
                    </a:lnTo>
                    <a:cubicBezTo>
                      <a:pt x="53690" y="1493"/>
                      <a:pt x="57500" y="-793"/>
                      <a:pt x="61310" y="255"/>
                    </a:cubicBezTo>
                    <a:cubicBezTo>
                      <a:pt x="65025" y="1207"/>
                      <a:pt x="67311" y="5113"/>
                      <a:pt x="66263" y="8827"/>
                    </a:cubicBezTo>
                    <a:lnTo>
                      <a:pt x="13780" y="207424"/>
                    </a:lnTo>
                    <a:cubicBezTo>
                      <a:pt x="12923" y="210567"/>
                      <a:pt x="10161" y="212662"/>
                      <a:pt x="7018" y="212662"/>
                    </a:cubicBezTo>
                    <a:close/>
                  </a:path>
                </a:pathLst>
              </a:custGeom>
              <a:solidFill>
                <a:srgbClr val="F47C73"/>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14" name="Freeform: Shape 413">
                <a:extLst>
                  <a:ext uri="{FF2B5EF4-FFF2-40B4-BE49-F238E27FC236}">
                    <a16:creationId xmlns:a16="http://schemas.microsoft.com/office/drawing/2014/main" id="{7892E16C-D7C3-47DC-8D0A-2AC1CECD0E43}"/>
                  </a:ext>
                </a:extLst>
              </p:cNvPr>
              <p:cNvSpPr/>
              <p:nvPr/>
            </p:nvSpPr>
            <p:spPr>
              <a:xfrm flipH="1">
                <a:off x="7288499" y="3104379"/>
                <a:ext cx="12059" cy="34408"/>
              </a:xfrm>
              <a:custGeom>
                <a:avLst/>
                <a:gdLst>
                  <a:gd name="connsiteX0" fmla="*/ 6971 w 56709"/>
                  <a:gd name="connsiteY0" fmla="*/ 161813 h 161813"/>
                  <a:gd name="connsiteX1" fmla="*/ 5066 w 56709"/>
                  <a:gd name="connsiteY1" fmla="*/ 161528 h 161813"/>
                  <a:gd name="connsiteX2" fmla="*/ 304 w 56709"/>
                  <a:gd name="connsiteY2" fmla="*/ 152860 h 161813"/>
                  <a:gd name="connsiteX3" fmla="*/ 42976 w 56709"/>
                  <a:gd name="connsiteY3" fmla="*/ 5032 h 161813"/>
                  <a:gd name="connsiteX4" fmla="*/ 51643 w 56709"/>
                  <a:gd name="connsiteY4" fmla="*/ 269 h 161813"/>
                  <a:gd name="connsiteX5" fmla="*/ 56406 w 56709"/>
                  <a:gd name="connsiteY5" fmla="*/ 8937 h 161813"/>
                  <a:gd name="connsiteX6" fmla="*/ 13734 w 56709"/>
                  <a:gd name="connsiteY6" fmla="*/ 156765 h 161813"/>
                  <a:gd name="connsiteX7" fmla="*/ 6971 w 56709"/>
                  <a:gd name="connsiteY7" fmla="*/ 161813 h 161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709" h="161813">
                    <a:moveTo>
                      <a:pt x="6971" y="161813"/>
                    </a:moveTo>
                    <a:cubicBezTo>
                      <a:pt x="6305" y="161813"/>
                      <a:pt x="5638" y="161813"/>
                      <a:pt x="5066" y="161528"/>
                    </a:cubicBezTo>
                    <a:cubicBezTo>
                      <a:pt x="1351" y="160480"/>
                      <a:pt x="-839" y="156575"/>
                      <a:pt x="304" y="152860"/>
                    </a:cubicBezTo>
                    <a:lnTo>
                      <a:pt x="42976" y="5032"/>
                    </a:lnTo>
                    <a:cubicBezTo>
                      <a:pt x="44023" y="1317"/>
                      <a:pt x="47929" y="-778"/>
                      <a:pt x="51643" y="269"/>
                    </a:cubicBezTo>
                    <a:cubicBezTo>
                      <a:pt x="55358" y="1317"/>
                      <a:pt x="57549" y="5223"/>
                      <a:pt x="56406" y="8937"/>
                    </a:cubicBezTo>
                    <a:lnTo>
                      <a:pt x="13734" y="156765"/>
                    </a:lnTo>
                    <a:cubicBezTo>
                      <a:pt x="12877" y="159813"/>
                      <a:pt x="10019" y="161813"/>
                      <a:pt x="6971" y="161813"/>
                    </a:cubicBezTo>
                    <a:close/>
                  </a:path>
                </a:pathLst>
              </a:custGeom>
              <a:solidFill>
                <a:srgbClr val="F47C73"/>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15" name="Freeform: Shape 414">
                <a:extLst>
                  <a:ext uri="{FF2B5EF4-FFF2-40B4-BE49-F238E27FC236}">
                    <a16:creationId xmlns:a16="http://schemas.microsoft.com/office/drawing/2014/main" id="{EE231FBC-A978-42B9-9781-898A6CCB41AF}"/>
                  </a:ext>
                </a:extLst>
              </p:cNvPr>
              <p:cNvSpPr/>
              <p:nvPr/>
            </p:nvSpPr>
            <p:spPr>
              <a:xfrm flipH="1">
                <a:off x="7467668" y="3090820"/>
                <a:ext cx="17641" cy="57060"/>
              </a:xfrm>
              <a:custGeom>
                <a:avLst/>
                <a:gdLst>
                  <a:gd name="connsiteX0" fmla="*/ 0 w 82962"/>
                  <a:gd name="connsiteY0" fmla="*/ 268344 h 268343"/>
                  <a:gd name="connsiteX1" fmla="*/ 59150 w 82962"/>
                  <a:gd name="connsiteY1" fmla="*/ 9359 h 268343"/>
                  <a:gd name="connsiteX2" fmla="*/ 82963 w 82962"/>
                  <a:gd name="connsiteY2" fmla="*/ 12026 h 268343"/>
                  <a:gd name="connsiteX3" fmla="*/ 82963 w 82962"/>
                  <a:gd name="connsiteY3" fmla="*/ 262915 h 268343"/>
                  <a:gd name="connsiteX4" fmla="*/ 0 w 82962"/>
                  <a:gd name="connsiteY4" fmla="*/ 268344 h 2683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962" h="268343">
                    <a:moveTo>
                      <a:pt x="0" y="268344"/>
                    </a:moveTo>
                    <a:lnTo>
                      <a:pt x="59150" y="9359"/>
                    </a:lnTo>
                    <a:cubicBezTo>
                      <a:pt x="62389" y="-4643"/>
                      <a:pt x="82963" y="-2261"/>
                      <a:pt x="82963" y="12026"/>
                    </a:cubicBezTo>
                    <a:lnTo>
                      <a:pt x="82963" y="262915"/>
                    </a:lnTo>
                    <a:lnTo>
                      <a:pt x="0" y="268344"/>
                    </a:lnTo>
                    <a:close/>
                  </a:path>
                </a:pathLst>
              </a:custGeom>
              <a:solidFill>
                <a:schemeClr val="tx2"/>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16" name="Freeform: Shape 415">
                <a:extLst>
                  <a:ext uri="{FF2B5EF4-FFF2-40B4-BE49-F238E27FC236}">
                    <a16:creationId xmlns:a16="http://schemas.microsoft.com/office/drawing/2014/main" id="{3133B973-2B60-4BDF-AB23-A6D795D478F0}"/>
                  </a:ext>
                </a:extLst>
              </p:cNvPr>
              <p:cNvSpPr/>
              <p:nvPr/>
            </p:nvSpPr>
            <p:spPr>
              <a:xfrm flipH="1">
                <a:off x="7385498" y="3117353"/>
                <a:ext cx="105300" cy="59329"/>
              </a:xfrm>
              <a:custGeom>
                <a:avLst/>
                <a:gdLst>
                  <a:gd name="connsiteX0" fmla="*/ 495205 w 495204"/>
                  <a:gd name="connsiteY0" fmla="*/ 45841 h 279012"/>
                  <a:gd name="connsiteX1" fmla="*/ 364522 w 495204"/>
                  <a:gd name="connsiteY1" fmla="*/ 279013 h 279012"/>
                  <a:gd name="connsiteX2" fmla="*/ 0 w 495204"/>
                  <a:gd name="connsiteY2" fmla="*/ 163951 h 279012"/>
                  <a:gd name="connsiteX3" fmla="*/ 116776 w 495204"/>
                  <a:gd name="connsiteY3" fmla="*/ 13075 h 279012"/>
                  <a:gd name="connsiteX4" fmla="*/ 495205 w 495204"/>
                  <a:gd name="connsiteY4" fmla="*/ 45841 h 2790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204" h="279012">
                    <a:moveTo>
                      <a:pt x="495205" y="45841"/>
                    </a:moveTo>
                    <a:cubicBezTo>
                      <a:pt x="495205" y="45841"/>
                      <a:pt x="389382" y="244342"/>
                      <a:pt x="364522" y="279013"/>
                    </a:cubicBezTo>
                    <a:lnTo>
                      <a:pt x="0" y="163951"/>
                    </a:lnTo>
                    <a:cubicBezTo>
                      <a:pt x="0" y="163951"/>
                      <a:pt x="12668" y="80798"/>
                      <a:pt x="116776" y="13075"/>
                    </a:cubicBezTo>
                    <a:cubicBezTo>
                      <a:pt x="182404" y="-29597"/>
                      <a:pt x="495205" y="45841"/>
                      <a:pt x="495205" y="45841"/>
                    </a:cubicBezTo>
                    <a:close/>
                  </a:path>
                </a:pathLst>
              </a:custGeom>
              <a:solidFill>
                <a:srgbClr val="FFBEB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17" name="Freeform: Shape 416">
                <a:extLst>
                  <a:ext uri="{FF2B5EF4-FFF2-40B4-BE49-F238E27FC236}">
                    <a16:creationId xmlns:a16="http://schemas.microsoft.com/office/drawing/2014/main" id="{0DDB2AD5-30C1-472D-A385-3A0B8E748B53}"/>
                  </a:ext>
                </a:extLst>
              </p:cNvPr>
              <p:cNvSpPr/>
              <p:nvPr/>
            </p:nvSpPr>
            <p:spPr>
              <a:xfrm flipH="1">
                <a:off x="7220512" y="3121483"/>
                <a:ext cx="164180" cy="51107"/>
              </a:xfrm>
              <a:custGeom>
                <a:avLst/>
                <a:gdLst>
                  <a:gd name="connsiteX0" fmla="*/ 765163 w 772109"/>
                  <a:gd name="connsiteY0" fmla="*/ 240349 h 240348"/>
                  <a:gd name="connsiteX1" fmla="*/ 759734 w 772109"/>
                  <a:gd name="connsiteY1" fmla="*/ 237682 h 240348"/>
                  <a:gd name="connsiteX2" fmla="*/ 6401 w 772109"/>
                  <a:gd name="connsiteY2" fmla="*/ 14035 h 240348"/>
                  <a:gd name="connsiteX3" fmla="*/ 20 w 772109"/>
                  <a:gd name="connsiteY3" fmla="*/ 6415 h 240348"/>
                  <a:gd name="connsiteX4" fmla="*/ 7640 w 772109"/>
                  <a:gd name="connsiteY4" fmla="*/ 33 h 240348"/>
                  <a:gd name="connsiteX5" fmla="*/ 770592 w 772109"/>
                  <a:gd name="connsiteY5" fmla="*/ 228824 h 240348"/>
                  <a:gd name="connsiteX6" fmla="*/ 769545 w 772109"/>
                  <a:gd name="connsiteY6" fmla="*/ 238634 h 240348"/>
                  <a:gd name="connsiteX7" fmla="*/ 765163 w 772109"/>
                  <a:gd name="connsiteY7" fmla="*/ 240158 h 24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2109" h="240348">
                    <a:moveTo>
                      <a:pt x="765163" y="240349"/>
                    </a:moveTo>
                    <a:cubicBezTo>
                      <a:pt x="763163" y="240349"/>
                      <a:pt x="761067" y="239492"/>
                      <a:pt x="759734" y="237682"/>
                    </a:cubicBezTo>
                    <a:cubicBezTo>
                      <a:pt x="626288" y="71280"/>
                      <a:pt x="12593" y="14606"/>
                      <a:pt x="6401" y="14035"/>
                    </a:cubicBezTo>
                    <a:cubicBezTo>
                      <a:pt x="2591" y="13654"/>
                      <a:pt x="-266" y="10320"/>
                      <a:pt x="20" y="6415"/>
                    </a:cubicBezTo>
                    <a:cubicBezTo>
                      <a:pt x="305" y="2605"/>
                      <a:pt x="3734" y="-348"/>
                      <a:pt x="7640" y="33"/>
                    </a:cubicBezTo>
                    <a:cubicBezTo>
                      <a:pt x="33167" y="2319"/>
                      <a:pt x="633432" y="57755"/>
                      <a:pt x="770592" y="228824"/>
                    </a:cubicBezTo>
                    <a:cubicBezTo>
                      <a:pt x="772973" y="231872"/>
                      <a:pt x="772497" y="236253"/>
                      <a:pt x="769545" y="238634"/>
                    </a:cubicBezTo>
                    <a:cubicBezTo>
                      <a:pt x="768211" y="239682"/>
                      <a:pt x="766687" y="240158"/>
                      <a:pt x="765163" y="240158"/>
                    </a:cubicBezTo>
                    <a:close/>
                  </a:path>
                </a:pathLst>
              </a:custGeom>
              <a:solidFill>
                <a:schemeClr val="tx2"/>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18" name="Freeform: Shape 417">
                <a:extLst>
                  <a:ext uri="{FF2B5EF4-FFF2-40B4-BE49-F238E27FC236}">
                    <a16:creationId xmlns:a16="http://schemas.microsoft.com/office/drawing/2014/main" id="{2437AFDE-FF82-47F2-8C85-26DC9111D50E}"/>
                  </a:ext>
                </a:extLst>
              </p:cNvPr>
              <p:cNvSpPr/>
              <p:nvPr/>
            </p:nvSpPr>
            <p:spPr>
              <a:xfrm flipH="1">
                <a:off x="7264003" y="3121481"/>
                <a:ext cx="163186" cy="139112"/>
              </a:xfrm>
              <a:custGeom>
                <a:avLst/>
                <a:gdLst>
                  <a:gd name="connsiteX0" fmla="*/ 760327 w 767432"/>
                  <a:gd name="connsiteY0" fmla="*/ 654217 h 654217"/>
                  <a:gd name="connsiteX1" fmla="*/ 757851 w 767432"/>
                  <a:gd name="connsiteY1" fmla="*/ 653741 h 654217"/>
                  <a:gd name="connsiteX2" fmla="*/ 4519 w 767432"/>
                  <a:gd name="connsiteY2" fmla="*/ 370182 h 654217"/>
                  <a:gd name="connsiteX3" fmla="*/ 423 w 767432"/>
                  <a:gd name="connsiteY3" fmla="*/ 365991 h 654217"/>
                  <a:gd name="connsiteX4" fmla="*/ 899 w 767432"/>
                  <a:gd name="connsiteY4" fmla="*/ 360181 h 654217"/>
                  <a:gd name="connsiteX5" fmla="*/ 200829 w 767432"/>
                  <a:gd name="connsiteY5" fmla="*/ 3565 h 654217"/>
                  <a:gd name="connsiteX6" fmla="*/ 210354 w 767432"/>
                  <a:gd name="connsiteY6" fmla="*/ 898 h 654217"/>
                  <a:gd name="connsiteX7" fmla="*/ 213021 w 767432"/>
                  <a:gd name="connsiteY7" fmla="*/ 10423 h 654217"/>
                  <a:gd name="connsiteX8" fmla="*/ 17091 w 767432"/>
                  <a:gd name="connsiteY8" fmla="*/ 359895 h 654217"/>
                  <a:gd name="connsiteX9" fmla="*/ 762899 w 767432"/>
                  <a:gd name="connsiteY9" fmla="*/ 640597 h 654217"/>
                  <a:gd name="connsiteX10" fmla="*/ 766995 w 767432"/>
                  <a:gd name="connsiteY10" fmla="*/ 649645 h 654217"/>
                  <a:gd name="connsiteX11" fmla="*/ 760423 w 767432"/>
                  <a:gd name="connsiteY11" fmla="*/ 654217 h 654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7432" h="654217">
                    <a:moveTo>
                      <a:pt x="760327" y="654217"/>
                    </a:moveTo>
                    <a:cubicBezTo>
                      <a:pt x="759470" y="654217"/>
                      <a:pt x="758708" y="654027"/>
                      <a:pt x="757851" y="653741"/>
                    </a:cubicBezTo>
                    <a:lnTo>
                      <a:pt x="4519" y="370182"/>
                    </a:lnTo>
                    <a:cubicBezTo>
                      <a:pt x="2613" y="369420"/>
                      <a:pt x="1090" y="367991"/>
                      <a:pt x="423" y="365991"/>
                    </a:cubicBezTo>
                    <a:cubicBezTo>
                      <a:pt x="-244" y="364086"/>
                      <a:pt x="-149" y="361990"/>
                      <a:pt x="899" y="360181"/>
                    </a:cubicBezTo>
                    <a:lnTo>
                      <a:pt x="200829" y="3565"/>
                    </a:lnTo>
                    <a:cubicBezTo>
                      <a:pt x="202734" y="231"/>
                      <a:pt x="206925" y="-1007"/>
                      <a:pt x="210354" y="898"/>
                    </a:cubicBezTo>
                    <a:cubicBezTo>
                      <a:pt x="213687" y="2802"/>
                      <a:pt x="214926" y="7089"/>
                      <a:pt x="213021" y="10423"/>
                    </a:cubicBezTo>
                    <a:lnTo>
                      <a:pt x="17091" y="359895"/>
                    </a:lnTo>
                    <a:lnTo>
                      <a:pt x="762899" y="640597"/>
                    </a:lnTo>
                    <a:cubicBezTo>
                      <a:pt x="766518" y="641930"/>
                      <a:pt x="768328" y="646026"/>
                      <a:pt x="766995" y="649645"/>
                    </a:cubicBezTo>
                    <a:cubicBezTo>
                      <a:pt x="765947" y="652407"/>
                      <a:pt x="763280" y="654217"/>
                      <a:pt x="760423" y="654217"/>
                    </a:cubicBezTo>
                    <a:close/>
                  </a:path>
                </a:pathLst>
              </a:custGeom>
              <a:solidFill>
                <a:schemeClr val="tx2"/>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19" name="Freeform: Shape 418">
                <a:extLst>
                  <a:ext uri="{FF2B5EF4-FFF2-40B4-BE49-F238E27FC236}">
                    <a16:creationId xmlns:a16="http://schemas.microsoft.com/office/drawing/2014/main" id="{588468B8-C952-432D-82F7-F4977762C2B4}"/>
                  </a:ext>
                </a:extLst>
              </p:cNvPr>
              <p:cNvSpPr/>
              <p:nvPr/>
            </p:nvSpPr>
            <p:spPr>
              <a:xfrm flipH="1">
                <a:off x="7325385" y="3015680"/>
                <a:ext cx="92276" cy="31869"/>
              </a:xfrm>
              <a:custGeom>
                <a:avLst/>
                <a:gdLst>
                  <a:gd name="connsiteX0" fmla="*/ 433864 w 433958"/>
                  <a:gd name="connsiteY0" fmla="*/ 875 h 149874"/>
                  <a:gd name="connsiteX1" fmla="*/ 390430 w 433958"/>
                  <a:gd name="connsiteY1" fmla="*/ 18 h 149874"/>
                  <a:gd name="connsiteX2" fmla="*/ 89059 w 433958"/>
                  <a:gd name="connsiteY2" fmla="*/ 7828 h 149874"/>
                  <a:gd name="connsiteX3" fmla="*/ 0 w 433958"/>
                  <a:gd name="connsiteY3" fmla="*/ 14782 h 149874"/>
                  <a:gd name="connsiteX4" fmla="*/ 157543 w 433958"/>
                  <a:gd name="connsiteY4" fmla="*/ 149370 h 149874"/>
                  <a:gd name="connsiteX5" fmla="*/ 433959 w 433958"/>
                  <a:gd name="connsiteY5" fmla="*/ 875 h 149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3958" h="149874">
                    <a:moveTo>
                      <a:pt x="433864" y="875"/>
                    </a:moveTo>
                    <a:cubicBezTo>
                      <a:pt x="419671" y="208"/>
                      <a:pt x="405193" y="-77"/>
                      <a:pt x="390430" y="18"/>
                    </a:cubicBezTo>
                    <a:lnTo>
                      <a:pt x="89059" y="7828"/>
                    </a:lnTo>
                    <a:cubicBezTo>
                      <a:pt x="56674" y="9067"/>
                      <a:pt x="27146" y="11448"/>
                      <a:pt x="0" y="14782"/>
                    </a:cubicBezTo>
                    <a:cubicBezTo>
                      <a:pt x="10478" y="62407"/>
                      <a:pt x="30956" y="139845"/>
                      <a:pt x="157543" y="149370"/>
                    </a:cubicBezTo>
                    <a:cubicBezTo>
                      <a:pt x="261747" y="157180"/>
                      <a:pt x="378714" y="72884"/>
                      <a:pt x="433959" y="875"/>
                    </a:cubicBezTo>
                    <a:close/>
                  </a:path>
                </a:pathLst>
              </a:custGeom>
              <a:solidFill>
                <a:srgbClr val="FFBEB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20" name="Freeform: Shape 419">
                <a:extLst>
                  <a:ext uri="{FF2B5EF4-FFF2-40B4-BE49-F238E27FC236}">
                    <a16:creationId xmlns:a16="http://schemas.microsoft.com/office/drawing/2014/main" id="{4956D7C8-A7B4-4F2D-A9A7-F8E7454D2DBC}"/>
                  </a:ext>
                </a:extLst>
              </p:cNvPr>
              <p:cNvSpPr/>
              <p:nvPr/>
            </p:nvSpPr>
            <p:spPr>
              <a:xfrm flipH="1">
                <a:off x="7343269" y="2890090"/>
                <a:ext cx="79059" cy="74513"/>
              </a:xfrm>
              <a:custGeom>
                <a:avLst/>
                <a:gdLst>
                  <a:gd name="connsiteX0" fmla="*/ 285789 w 371799"/>
                  <a:gd name="connsiteY0" fmla="*/ 4666 h 350423"/>
                  <a:gd name="connsiteX1" fmla="*/ 212827 w 371799"/>
                  <a:gd name="connsiteY1" fmla="*/ 38956 h 350423"/>
                  <a:gd name="connsiteX2" fmla="*/ 22042 w 371799"/>
                  <a:gd name="connsiteY2" fmla="*/ 44576 h 350423"/>
                  <a:gd name="connsiteX3" fmla="*/ 19756 w 371799"/>
                  <a:gd name="connsiteY3" fmla="*/ 179450 h 350423"/>
                  <a:gd name="connsiteX4" fmla="*/ 1468 w 371799"/>
                  <a:gd name="connsiteY4" fmla="*/ 253840 h 350423"/>
                  <a:gd name="connsiteX5" fmla="*/ 81192 w 371799"/>
                  <a:gd name="connsiteY5" fmla="*/ 350423 h 350423"/>
                  <a:gd name="connsiteX6" fmla="*/ 371800 w 371799"/>
                  <a:gd name="connsiteY6" fmla="*/ 99344 h 350423"/>
                  <a:gd name="connsiteX7" fmla="*/ 285789 w 371799"/>
                  <a:gd name="connsiteY7" fmla="*/ 4571 h 350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1799" h="350423">
                    <a:moveTo>
                      <a:pt x="285789" y="4666"/>
                    </a:moveTo>
                    <a:cubicBezTo>
                      <a:pt x="215590" y="-2192"/>
                      <a:pt x="212827" y="38956"/>
                      <a:pt x="212827" y="38956"/>
                    </a:cubicBezTo>
                    <a:cubicBezTo>
                      <a:pt x="164822" y="-12860"/>
                      <a:pt x="73096" y="-14956"/>
                      <a:pt x="22042" y="44576"/>
                    </a:cubicBezTo>
                    <a:cubicBezTo>
                      <a:pt x="-11296" y="83533"/>
                      <a:pt x="4135" y="147160"/>
                      <a:pt x="19756" y="179450"/>
                    </a:cubicBezTo>
                    <a:cubicBezTo>
                      <a:pt x="7754" y="197071"/>
                      <a:pt x="-4247" y="223455"/>
                      <a:pt x="1468" y="253840"/>
                    </a:cubicBezTo>
                    <a:cubicBezTo>
                      <a:pt x="11945" y="309275"/>
                      <a:pt x="81192" y="350423"/>
                      <a:pt x="81192" y="350423"/>
                    </a:cubicBezTo>
                    <a:lnTo>
                      <a:pt x="371800" y="99344"/>
                    </a:lnTo>
                    <a:cubicBezTo>
                      <a:pt x="371800" y="99344"/>
                      <a:pt x="361989" y="12000"/>
                      <a:pt x="285789" y="4571"/>
                    </a:cubicBezTo>
                    <a:close/>
                  </a:path>
                </a:pathLst>
              </a:custGeom>
              <a:solidFill>
                <a:schemeClr val="tx1">
                  <a:lumMod val="50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21" name="Freeform: Shape 420">
                <a:extLst>
                  <a:ext uri="{FF2B5EF4-FFF2-40B4-BE49-F238E27FC236}">
                    <a16:creationId xmlns:a16="http://schemas.microsoft.com/office/drawing/2014/main" id="{B399C671-C89D-42DC-AB3B-FABDD26DF5C6}"/>
                  </a:ext>
                </a:extLst>
              </p:cNvPr>
              <p:cNvSpPr/>
              <p:nvPr/>
            </p:nvSpPr>
            <p:spPr>
              <a:xfrm flipH="1">
                <a:off x="7321095" y="2904967"/>
                <a:ext cx="92862" cy="95002"/>
              </a:xfrm>
              <a:custGeom>
                <a:avLst/>
                <a:gdLst>
                  <a:gd name="connsiteX0" fmla="*/ 1914 w 436711"/>
                  <a:gd name="connsiteY0" fmla="*/ 134632 h 446777"/>
                  <a:gd name="connsiteX1" fmla="*/ 34204 w 436711"/>
                  <a:gd name="connsiteY1" fmla="*/ 39859 h 446777"/>
                  <a:gd name="connsiteX2" fmla="*/ 234324 w 436711"/>
                  <a:gd name="connsiteY2" fmla="*/ 4711 h 446777"/>
                  <a:gd name="connsiteX3" fmla="*/ 434444 w 436711"/>
                  <a:gd name="connsiteY3" fmla="*/ 235407 h 446777"/>
                  <a:gd name="connsiteX4" fmla="*/ 334813 w 436711"/>
                  <a:gd name="connsiteY4" fmla="*/ 436575 h 446777"/>
                  <a:gd name="connsiteX5" fmla="*/ 241468 w 436711"/>
                  <a:gd name="connsiteY5" fmla="*/ 436289 h 446777"/>
                  <a:gd name="connsiteX6" fmla="*/ 190414 w 436711"/>
                  <a:gd name="connsiteY6" fmla="*/ 437432 h 446777"/>
                  <a:gd name="connsiteX7" fmla="*/ 1819 w 436711"/>
                  <a:gd name="connsiteY7" fmla="*/ 134728 h 446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6711" h="446777">
                    <a:moveTo>
                      <a:pt x="1914" y="134632"/>
                    </a:moveTo>
                    <a:cubicBezTo>
                      <a:pt x="1914" y="134632"/>
                      <a:pt x="-11802" y="86626"/>
                      <a:pt x="34204" y="39859"/>
                    </a:cubicBezTo>
                    <a:cubicBezTo>
                      <a:pt x="79638" y="-6338"/>
                      <a:pt x="165553" y="-3290"/>
                      <a:pt x="234324" y="4711"/>
                    </a:cubicBezTo>
                    <a:cubicBezTo>
                      <a:pt x="360149" y="19285"/>
                      <a:pt x="452542" y="79578"/>
                      <a:pt x="434444" y="235407"/>
                    </a:cubicBezTo>
                    <a:cubicBezTo>
                      <a:pt x="422824" y="335038"/>
                      <a:pt x="334813" y="436575"/>
                      <a:pt x="334813" y="436575"/>
                    </a:cubicBezTo>
                    <a:cubicBezTo>
                      <a:pt x="334813" y="436575"/>
                      <a:pt x="297284" y="459721"/>
                      <a:pt x="241468" y="436289"/>
                    </a:cubicBezTo>
                    <a:cubicBezTo>
                      <a:pt x="224894" y="438385"/>
                      <a:pt x="207844" y="438861"/>
                      <a:pt x="190414" y="437432"/>
                    </a:cubicBezTo>
                    <a:cubicBezTo>
                      <a:pt x="61159" y="427336"/>
                      <a:pt x="-8659" y="256362"/>
                      <a:pt x="1819" y="134728"/>
                    </a:cubicBezTo>
                    <a:close/>
                  </a:path>
                </a:pathLst>
              </a:custGeom>
              <a:solidFill>
                <a:schemeClr val="tx1">
                  <a:lumMod val="50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22" name="Freeform: Shape 421">
                <a:extLst>
                  <a:ext uri="{FF2B5EF4-FFF2-40B4-BE49-F238E27FC236}">
                    <a16:creationId xmlns:a16="http://schemas.microsoft.com/office/drawing/2014/main" id="{63C94E1B-240E-44C5-B70C-61E9C0A3D401}"/>
                  </a:ext>
                </a:extLst>
              </p:cNvPr>
              <p:cNvSpPr/>
              <p:nvPr/>
            </p:nvSpPr>
            <p:spPr>
              <a:xfrm flipH="1">
                <a:off x="7341568" y="2927688"/>
                <a:ext cx="78532" cy="96989"/>
              </a:xfrm>
              <a:custGeom>
                <a:avLst/>
                <a:gdLst>
                  <a:gd name="connsiteX0" fmla="*/ 7656 w 369319"/>
                  <a:gd name="connsiteY0" fmla="*/ 160274 h 456120"/>
                  <a:gd name="connsiteX1" fmla="*/ 29182 w 369319"/>
                  <a:gd name="connsiteY1" fmla="*/ 35211 h 456120"/>
                  <a:gd name="connsiteX2" fmla="*/ 37278 w 369319"/>
                  <a:gd name="connsiteY2" fmla="*/ 21971 h 456120"/>
                  <a:gd name="connsiteX3" fmla="*/ 240828 w 369319"/>
                  <a:gd name="connsiteY3" fmla="*/ 40830 h 456120"/>
                  <a:gd name="connsiteX4" fmla="*/ 284833 w 369319"/>
                  <a:gd name="connsiteY4" fmla="*/ 182372 h 456120"/>
                  <a:gd name="connsiteX5" fmla="*/ 363700 w 369319"/>
                  <a:gd name="connsiteY5" fmla="*/ 329628 h 456120"/>
                  <a:gd name="connsiteX6" fmla="*/ 369320 w 369319"/>
                  <a:gd name="connsiteY6" fmla="*/ 435546 h 456120"/>
                  <a:gd name="connsiteX7" fmla="*/ 105382 w 369319"/>
                  <a:gd name="connsiteY7" fmla="*/ 456120 h 456120"/>
                  <a:gd name="connsiteX8" fmla="*/ 103192 w 369319"/>
                  <a:gd name="connsiteY8" fmla="*/ 374967 h 456120"/>
                  <a:gd name="connsiteX9" fmla="*/ 7561 w 369319"/>
                  <a:gd name="connsiteY9" fmla="*/ 160369 h 456120"/>
                  <a:gd name="connsiteX10" fmla="*/ 7561 w 369319"/>
                  <a:gd name="connsiteY10" fmla="*/ 160369 h 456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9319" h="456120">
                    <a:moveTo>
                      <a:pt x="7656" y="160274"/>
                    </a:moveTo>
                    <a:cubicBezTo>
                      <a:pt x="15847" y="99409"/>
                      <a:pt x="25468" y="52641"/>
                      <a:pt x="29182" y="35211"/>
                    </a:cubicBezTo>
                    <a:cubicBezTo>
                      <a:pt x="30325" y="29972"/>
                      <a:pt x="33183" y="25305"/>
                      <a:pt x="37278" y="21971"/>
                    </a:cubicBezTo>
                    <a:cubicBezTo>
                      <a:pt x="107097" y="-34798"/>
                      <a:pt x="242066" y="35782"/>
                      <a:pt x="240828" y="40830"/>
                    </a:cubicBezTo>
                    <a:cubicBezTo>
                      <a:pt x="215015" y="150558"/>
                      <a:pt x="284833" y="182372"/>
                      <a:pt x="284833" y="182372"/>
                    </a:cubicBezTo>
                    <a:cubicBezTo>
                      <a:pt x="263974" y="292481"/>
                      <a:pt x="363700" y="329628"/>
                      <a:pt x="363700" y="329628"/>
                    </a:cubicBezTo>
                    <a:cubicBezTo>
                      <a:pt x="366748" y="387350"/>
                      <a:pt x="369320" y="435546"/>
                      <a:pt x="369320" y="435546"/>
                    </a:cubicBezTo>
                    <a:lnTo>
                      <a:pt x="105382" y="456120"/>
                    </a:lnTo>
                    <a:lnTo>
                      <a:pt x="103192" y="374967"/>
                    </a:lnTo>
                    <a:cubicBezTo>
                      <a:pt x="-10537" y="371729"/>
                      <a:pt x="-7584" y="272193"/>
                      <a:pt x="7561" y="160369"/>
                    </a:cubicBezTo>
                    <a:lnTo>
                      <a:pt x="7561" y="160369"/>
                    </a:lnTo>
                    <a:close/>
                  </a:path>
                </a:pathLst>
              </a:custGeom>
              <a:solidFill>
                <a:srgbClr val="FFBEB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23" name="Freeform: Shape 422">
                <a:extLst>
                  <a:ext uri="{FF2B5EF4-FFF2-40B4-BE49-F238E27FC236}">
                    <a16:creationId xmlns:a16="http://schemas.microsoft.com/office/drawing/2014/main" id="{1C309EC6-B693-49E8-A14D-3B8A4F449C59}"/>
                  </a:ext>
                </a:extLst>
              </p:cNvPr>
              <p:cNvSpPr/>
              <p:nvPr/>
            </p:nvSpPr>
            <p:spPr>
              <a:xfrm flipH="1">
                <a:off x="7377432" y="3006710"/>
                <a:ext cx="20725" cy="18086"/>
              </a:xfrm>
              <a:custGeom>
                <a:avLst/>
                <a:gdLst>
                  <a:gd name="connsiteX0" fmla="*/ 1429 w 97466"/>
                  <a:gd name="connsiteY0" fmla="*/ 70014 h 85056"/>
                  <a:gd name="connsiteX1" fmla="*/ 0 w 97466"/>
                  <a:gd name="connsiteY1" fmla="*/ 3243 h 85056"/>
                  <a:gd name="connsiteX2" fmla="*/ 92773 w 97466"/>
                  <a:gd name="connsiteY2" fmla="*/ 5 h 85056"/>
                  <a:gd name="connsiteX3" fmla="*/ 95821 w 97466"/>
                  <a:gd name="connsiteY3" fmla="*/ 8006 h 85056"/>
                  <a:gd name="connsiteX4" fmla="*/ 27908 w 97466"/>
                  <a:gd name="connsiteY4" fmla="*/ 80205 h 85056"/>
                  <a:gd name="connsiteX5" fmla="*/ 1429 w 97466"/>
                  <a:gd name="connsiteY5" fmla="*/ 70014 h 85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466" h="85056">
                    <a:moveTo>
                      <a:pt x="1429" y="70014"/>
                    </a:moveTo>
                    <a:lnTo>
                      <a:pt x="0" y="3243"/>
                    </a:lnTo>
                    <a:lnTo>
                      <a:pt x="92773" y="5"/>
                    </a:lnTo>
                    <a:cubicBezTo>
                      <a:pt x="97060" y="-186"/>
                      <a:pt x="99155" y="5244"/>
                      <a:pt x="95821" y="8006"/>
                    </a:cubicBezTo>
                    <a:lnTo>
                      <a:pt x="27908" y="80205"/>
                    </a:lnTo>
                    <a:cubicBezTo>
                      <a:pt x="18478" y="90207"/>
                      <a:pt x="1714" y="83730"/>
                      <a:pt x="1429" y="70014"/>
                    </a:cubicBezTo>
                    <a:close/>
                  </a:path>
                </a:pathLst>
              </a:custGeom>
              <a:solidFill>
                <a:srgbClr val="F47C73"/>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24" name="Freeform: Shape 423">
                <a:extLst>
                  <a:ext uri="{FF2B5EF4-FFF2-40B4-BE49-F238E27FC236}">
                    <a16:creationId xmlns:a16="http://schemas.microsoft.com/office/drawing/2014/main" id="{1B0A4F2B-8704-4FDA-AB17-3545E4C97C6E}"/>
                  </a:ext>
                </a:extLst>
              </p:cNvPr>
              <p:cNvSpPr/>
              <p:nvPr/>
            </p:nvSpPr>
            <p:spPr>
              <a:xfrm flipH="1">
                <a:off x="7378009" y="2943907"/>
                <a:ext cx="17283" cy="6803"/>
              </a:xfrm>
              <a:custGeom>
                <a:avLst/>
                <a:gdLst>
                  <a:gd name="connsiteX0" fmla="*/ 74350 w 81278"/>
                  <a:gd name="connsiteY0" fmla="*/ 31898 h 31993"/>
                  <a:gd name="connsiteX1" fmla="*/ 68920 w 81278"/>
                  <a:gd name="connsiteY1" fmla="*/ 29326 h 31993"/>
                  <a:gd name="connsiteX2" fmla="*/ 43012 w 81278"/>
                  <a:gd name="connsiteY2" fmla="*/ 13991 h 31993"/>
                  <a:gd name="connsiteX3" fmla="*/ 11485 w 81278"/>
                  <a:gd name="connsiteY3" fmla="*/ 24754 h 31993"/>
                  <a:gd name="connsiteX4" fmla="*/ 1674 w 81278"/>
                  <a:gd name="connsiteY4" fmla="*/ 23992 h 31993"/>
                  <a:gd name="connsiteX5" fmla="*/ 2436 w 81278"/>
                  <a:gd name="connsiteY5" fmla="*/ 14182 h 31993"/>
                  <a:gd name="connsiteX6" fmla="*/ 44155 w 81278"/>
                  <a:gd name="connsiteY6" fmla="*/ 180 h 31993"/>
                  <a:gd name="connsiteX7" fmla="*/ 79684 w 81278"/>
                  <a:gd name="connsiteY7" fmla="*/ 20563 h 31993"/>
                  <a:gd name="connsiteX8" fmla="*/ 78731 w 81278"/>
                  <a:gd name="connsiteY8" fmla="*/ 30374 h 31993"/>
                  <a:gd name="connsiteX9" fmla="*/ 74254 w 81278"/>
                  <a:gd name="connsiteY9" fmla="*/ 31993 h 3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278" h="31993">
                    <a:moveTo>
                      <a:pt x="74350" y="31898"/>
                    </a:moveTo>
                    <a:cubicBezTo>
                      <a:pt x="72349" y="31898"/>
                      <a:pt x="70349" y="31041"/>
                      <a:pt x="68920" y="29326"/>
                    </a:cubicBezTo>
                    <a:cubicBezTo>
                      <a:pt x="61300" y="19992"/>
                      <a:pt x="52537" y="14848"/>
                      <a:pt x="43012" y="13991"/>
                    </a:cubicBezTo>
                    <a:cubicBezTo>
                      <a:pt x="26153" y="12372"/>
                      <a:pt x="11675" y="24564"/>
                      <a:pt x="11485" y="24754"/>
                    </a:cubicBezTo>
                    <a:cubicBezTo>
                      <a:pt x="8532" y="27231"/>
                      <a:pt x="4150" y="26850"/>
                      <a:pt x="1674" y="23992"/>
                    </a:cubicBezTo>
                    <a:cubicBezTo>
                      <a:pt x="-803" y="21040"/>
                      <a:pt x="-517" y="16658"/>
                      <a:pt x="2436" y="14182"/>
                    </a:cubicBezTo>
                    <a:cubicBezTo>
                      <a:pt x="3198" y="13515"/>
                      <a:pt x="21200" y="-1820"/>
                      <a:pt x="44155" y="180"/>
                    </a:cubicBezTo>
                    <a:cubicBezTo>
                      <a:pt x="57586" y="1323"/>
                      <a:pt x="69587" y="8181"/>
                      <a:pt x="79684" y="20563"/>
                    </a:cubicBezTo>
                    <a:cubicBezTo>
                      <a:pt x="82160" y="23516"/>
                      <a:pt x="81684" y="27993"/>
                      <a:pt x="78731" y="30374"/>
                    </a:cubicBezTo>
                    <a:cubicBezTo>
                      <a:pt x="77398" y="31422"/>
                      <a:pt x="75874" y="31993"/>
                      <a:pt x="74254" y="31993"/>
                    </a:cubicBezTo>
                    <a:close/>
                  </a:path>
                </a:pathLst>
              </a:custGeom>
              <a:solidFill>
                <a:srgbClr val="8E1E0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25" name="Freeform: Shape 424">
                <a:extLst>
                  <a:ext uri="{FF2B5EF4-FFF2-40B4-BE49-F238E27FC236}">
                    <a16:creationId xmlns:a16="http://schemas.microsoft.com/office/drawing/2014/main" id="{E87E1592-CFBE-4392-B8D3-1A21140F3C9A}"/>
                  </a:ext>
                </a:extLst>
              </p:cNvPr>
              <p:cNvSpPr/>
              <p:nvPr/>
            </p:nvSpPr>
            <p:spPr>
              <a:xfrm flipH="1">
                <a:off x="7405491" y="2942713"/>
                <a:ext cx="11874" cy="6316"/>
              </a:xfrm>
              <a:custGeom>
                <a:avLst/>
                <a:gdLst>
                  <a:gd name="connsiteX0" fmla="*/ 48993 w 55840"/>
                  <a:gd name="connsiteY0" fmla="*/ 29606 h 29701"/>
                  <a:gd name="connsiteX1" fmla="*/ 43278 w 55840"/>
                  <a:gd name="connsiteY1" fmla="*/ 26654 h 29701"/>
                  <a:gd name="connsiteX2" fmla="*/ 10893 w 55840"/>
                  <a:gd name="connsiteY2" fmla="*/ 17319 h 29701"/>
                  <a:gd name="connsiteX3" fmla="*/ 1177 w 55840"/>
                  <a:gd name="connsiteY3" fmla="*/ 15414 h 29701"/>
                  <a:gd name="connsiteX4" fmla="*/ 2987 w 55840"/>
                  <a:gd name="connsiteY4" fmla="*/ 5794 h 29701"/>
                  <a:gd name="connsiteX5" fmla="*/ 54517 w 55840"/>
                  <a:gd name="connsiteY5" fmla="*/ 18557 h 29701"/>
                  <a:gd name="connsiteX6" fmla="*/ 52898 w 55840"/>
                  <a:gd name="connsiteY6" fmla="*/ 28368 h 29701"/>
                  <a:gd name="connsiteX7" fmla="*/ 48802 w 55840"/>
                  <a:gd name="connsiteY7" fmla="*/ 29702 h 29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840" h="29701">
                    <a:moveTo>
                      <a:pt x="48993" y="29606"/>
                    </a:moveTo>
                    <a:cubicBezTo>
                      <a:pt x="46802" y="29606"/>
                      <a:pt x="44706" y="28559"/>
                      <a:pt x="43278" y="26654"/>
                    </a:cubicBezTo>
                    <a:cubicBezTo>
                      <a:pt x="28800" y="6461"/>
                      <a:pt x="12702" y="16176"/>
                      <a:pt x="10893" y="17319"/>
                    </a:cubicBezTo>
                    <a:cubicBezTo>
                      <a:pt x="7749" y="19415"/>
                      <a:pt x="3368" y="18557"/>
                      <a:pt x="1177" y="15414"/>
                    </a:cubicBezTo>
                    <a:cubicBezTo>
                      <a:pt x="-918" y="12176"/>
                      <a:pt x="-156" y="7889"/>
                      <a:pt x="2987" y="5794"/>
                    </a:cubicBezTo>
                    <a:cubicBezTo>
                      <a:pt x="12798" y="-874"/>
                      <a:pt x="36229" y="-6874"/>
                      <a:pt x="54517" y="18557"/>
                    </a:cubicBezTo>
                    <a:cubicBezTo>
                      <a:pt x="56803" y="21701"/>
                      <a:pt x="56041" y="26082"/>
                      <a:pt x="52898" y="28368"/>
                    </a:cubicBezTo>
                    <a:cubicBezTo>
                      <a:pt x="51660" y="29225"/>
                      <a:pt x="50231" y="29702"/>
                      <a:pt x="48802" y="29702"/>
                    </a:cubicBezTo>
                    <a:close/>
                  </a:path>
                </a:pathLst>
              </a:custGeom>
              <a:solidFill>
                <a:srgbClr val="8E1E0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26" name="Freeform: Shape 425">
                <a:extLst>
                  <a:ext uri="{FF2B5EF4-FFF2-40B4-BE49-F238E27FC236}">
                    <a16:creationId xmlns:a16="http://schemas.microsoft.com/office/drawing/2014/main" id="{01B7DE5B-CC6E-413B-97A6-E45BA7013423}"/>
                  </a:ext>
                </a:extLst>
              </p:cNvPr>
              <p:cNvSpPr/>
              <p:nvPr/>
            </p:nvSpPr>
            <p:spPr>
              <a:xfrm flipH="1">
                <a:off x="7339845" y="2883155"/>
                <a:ext cx="38957" cy="32212"/>
              </a:xfrm>
              <a:custGeom>
                <a:avLst/>
                <a:gdLst>
                  <a:gd name="connsiteX0" fmla="*/ 175205 w 183209"/>
                  <a:gd name="connsiteY0" fmla="*/ 151487 h 151486"/>
                  <a:gd name="connsiteX1" fmla="*/ 174443 w 183209"/>
                  <a:gd name="connsiteY1" fmla="*/ 151487 h 151486"/>
                  <a:gd name="connsiteX2" fmla="*/ 168252 w 183209"/>
                  <a:gd name="connsiteY2" fmla="*/ 143771 h 151486"/>
                  <a:gd name="connsiteX3" fmla="*/ 134629 w 183209"/>
                  <a:gd name="connsiteY3" fmla="*/ 38806 h 151486"/>
                  <a:gd name="connsiteX4" fmla="*/ 59667 w 183209"/>
                  <a:gd name="connsiteY4" fmla="*/ 15279 h 151486"/>
                  <a:gd name="connsiteX5" fmla="*/ 20519 w 183209"/>
                  <a:gd name="connsiteY5" fmla="*/ 36615 h 151486"/>
                  <a:gd name="connsiteX6" fmla="*/ 14995 w 183209"/>
                  <a:gd name="connsiteY6" fmla="*/ 69762 h 151486"/>
                  <a:gd name="connsiteX7" fmla="*/ 9946 w 183209"/>
                  <a:gd name="connsiteY7" fmla="*/ 78239 h 151486"/>
                  <a:gd name="connsiteX8" fmla="*/ 1469 w 183209"/>
                  <a:gd name="connsiteY8" fmla="*/ 73191 h 151486"/>
                  <a:gd name="connsiteX9" fmla="*/ 8708 w 183209"/>
                  <a:gd name="connsiteY9" fmla="*/ 28995 h 151486"/>
                  <a:gd name="connsiteX10" fmla="*/ 57381 w 183209"/>
                  <a:gd name="connsiteY10" fmla="*/ 1373 h 151486"/>
                  <a:gd name="connsiteX11" fmla="*/ 144249 w 183209"/>
                  <a:gd name="connsiteY11" fmla="*/ 28519 h 151486"/>
                  <a:gd name="connsiteX12" fmla="*/ 182254 w 183209"/>
                  <a:gd name="connsiteY12" fmla="*/ 145200 h 151486"/>
                  <a:gd name="connsiteX13" fmla="*/ 175301 w 183209"/>
                  <a:gd name="connsiteY13" fmla="*/ 151487 h 151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209" h="151486">
                    <a:moveTo>
                      <a:pt x="175205" y="151487"/>
                    </a:moveTo>
                    <a:cubicBezTo>
                      <a:pt x="175205" y="151487"/>
                      <a:pt x="174729" y="151487"/>
                      <a:pt x="174443" y="151487"/>
                    </a:cubicBezTo>
                    <a:cubicBezTo>
                      <a:pt x="170633" y="151106"/>
                      <a:pt x="167776" y="147677"/>
                      <a:pt x="168252" y="143771"/>
                    </a:cubicBezTo>
                    <a:cubicBezTo>
                      <a:pt x="172729" y="101385"/>
                      <a:pt x="160442" y="63095"/>
                      <a:pt x="134629" y="38806"/>
                    </a:cubicBezTo>
                    <a:cubicBezTo>
                      <a:pt x="113959" y="19375"/>
                      <a:pt x="86718" y="10802"/>
                      <a:pt x="59667" y="15279"/>
                    </a:cubicBezTo>
                    <a:cubicBezTo>
                      <a:pt x="40903" y="18422"/>
                      <a:pt x="27758" y="25566"/>
                      <a:pt x="20519" y="36615"/>
                    </a:cubicBezTo>
                    <a:cubicBezTo>
                      <a:pt x="10613" y="51760"/>
                      <a:pt x="14900" y="69667"/>
                      <a:pt x="14995" y="69762"/>
                    </a:cubicBezTo>
                    <a:cubicBezTo>
                      <a:pt x="15947" y="73477"/>
                      <a:pt x="13661" y="77287"/>
                      <a:pt x="9946" y="78239"/>
                    </a:cubicBezTo>
                    <a:cubicBezTo>
                      <a:pt x="6232" y="79192"/>
                      <a:pt x="2422" y="77001"/>
                      <a:pt x="1469" y="73191"/>
                    </a:cubicBezTo>
                    <a:cubicBezTo>
                      <a:pt x="1184" y="72239"/>
                      <a:pt x="-4532" y="49379"/>
                      <a:pt x="8708" y="28995"/>
                    </a:cubicBezTo>
                    <a:cubicBezTo>
                      <a:pt x="18138" y="14422"/>
                      <a:pt x="34521" y="5183"/>
                      <a:pt x="57381" y="1373"/>
                    </a:cubicBezTo>
                    <a:cubicBezTo>
                      <a:pt x="88813" y="-3866"/>
                      <a:pt x="120437" y="6040"/>
                      <a:pt x="144249" y="28519"/>
                    </a:cubicBezTo>
                    <a:cubicBezTo>
                      <a:pt x="173300" y="55856"/>
                      <a:pt x="187112" y="98432"/>
                      <a:pt x="182254" y="145200"/>
                    </a:cubicBezTo>
                    <a:cubicBezTo>
                      <a:pt x="181873" y="148820"/>
                      <a:pt x="178825" y="151487"/>
                      <a:pt x="175301" y="151487"/>
                    </a:cubicBezTo>
                    <a:close/>
                  </a:path>
                </a:pathLst>
              </a:custGeom>
              <a:solidFill>
                <a:schemeClr val="tx1">
                  <a:lumMod val="50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27" name="Freeform: Shape 426">
                <a:extLst>
                  <a:ext uri="{FF2B5EF4-FFF2-40B4-BE49-F238E27FC236}">
                    <a16:creationId xmlns:a16="http://schemas.microsoft.com/office/drawing/2014/main" id="{1857F59C-0972-41F3-BBCE-D054FFDF3E04}"/>
                  </a:ext>
                </a:extLst>
              </p:cNvPr>
              <p:cNvSpPr/>
              <p:nvPr/>
            </p:nvSpPr>
            <p:spPr>
              <a:xfrm flipH="1">
                <a:off x="7395753" y="2976262"/>
                <a:ext cx="18978" cy="8176"/>
              </a:xfrm>
              <a:custGeom>
                <a:avLst/>
                <a:gdLst>
                  <a:gd name="connsiteX0" fmla="*/ 44514 w 89251"/>
                  <a:gd name="connsiteY0" fmla="*/ 2324 h 38450"/>
                  <a:gd name="connsiteX1" fmla="*/ 84043 w 89251"/>
                  <a:gd name="connsiteY1" fmla="*/ 1467 h 38450"/>
                  <a:gd name="connsiteX2" fmla="*/ 88805 w 89251"/>
                  <a:gd name="connsiteY2" fmla="*/ 8515 h 38450"/>
                  <a:gd name="connsiteX3" fmla="*/ 45847 w 89251"/>
                  <a:gd name="connsiteY3" fmla="*/ 38424 h 38450"/>
                  <a:gd name="connsiteX4" fmla="*/ 508 w 89251"/>
                  <a:gd name="connsiteY4" fmla="*/ 7182 h 38450"/>
                  <a:gd name="connsiteX5" fmla="*/ 5557 w 89251"/>
                  <a:gd name="connsiteY5" fmla="*/ 38 h 38450"/>
                  <a:gd name="connsiteX6" fmla="*/ 44514 w 89251"/>
                  <a:gd name="connsiteY6" fmla="*/ 2324 h 38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251" h="38450">
                    <a:moveTo>
                      <a:pt x="44514" y="2324"/>
                    </a:moveTo>
                    <a:cubicBezTo>
                      <a:pt x="59659" y="2514"/>
                      <a:pt x="75184" y="1943"/>
                      <a:pt x="84043" y="1467"/>
                    </a:cubicBezTo>
                    <a:cubicBezTo>
                      <a:pt x="87757" y="1276"/>
                      <a:pt x="90329" y="5181"/>
                      <a:pt x="88805" y="8515"/>
                    </a:cubicBezTo>
                    <a:cubicBezTo>
                      <a:pt x="83947" y="19183"/>
                      <a:pt x="71755" y="37566"/>
                      <a:pt x="45847" y="38424"/>
                    </a:cubicBezTo>
                    <a:cubicBezTo>
                      <a:pt x="20130" y="39281"/>
                      <a:pt x="6414" y="19183"/>
                      <a:pt x="508" y="7182"/>
                    </a:cubicBezTo>
                    <a:cubicBezTo>
                      <a:pt x="-1206" y="3657"/>
                      <a:pt x="1651" y="-438"/>
                      <a:pt x="5557" y="38"/>
                    </a:cubicBezTo>
                    <a:cubicBezTo>
                      <a:pt x="14891" y="1181"/>
                      <a:pt x="29845" y="2133"/>
                      <a:pt x="44514" y="2324"/>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28" name="Freeform: Shape 427">
                <a:extLst>
                  <a:ext uri="{FF2B5EF4-FFF2-40B4-BE49-F238E27FC236}">
                    <a16:creationId xmlns:a16="http://schemas.microsoft.com/office/drawing/2014/main" id="{1691CA8B-EE53-4921-8446-B21BEC895425}"/>
                  </a:ext>
                </a:extLst>
              </p:cNvPr>
              <p:cNvSpPr/>
              <p:nvPr/>
            </p:nvSpPr>
            <p:spPr>
              <a:xfrm flipH="1">
                <a:off x="7403754" y="2952249"/>
                <a:ext cx="11332" cy="22745"/>
              </a:xfrm>
              <a:custGeom>
                <a:avLst/>
                <a:gdLst>
                  <a:gd name="connsiteX0" fmla="*/ 25797 w 53293"/>
                  <a:gd name="connsiteY0" fmla="*/ 106966 h 106965"/>
                  <a:gd name="connsiteX1" fmla="*/ 20844 w 53293"/>
                  <a:gd name="connsiteY1" fmla="*/ 104966 h 106965"/>
                  <a:gd name="connsiteX2" fmla="*/ 1604 w 53293"/>
                  <a:gd name="connsiteY2" fmla="*/ 59912 h 106965"/>
                  <a:gd name="connsiteX3" fmla="*/ 30369 w 53293"/>
                  <a:gd name="connsiteY3" fmla="*/ 37433 h 106965"/>
                  <a:gd name="connsiteX4" fmla="*/ 36941 w 53293"/>
                  <a:gd name="connsiteY4" fmla="*/ 34195 h 106965"/>
                  <a:gd name="connsiteX5" fmla="*/ 39227 w 53293"/>
                  <a:gd name="connsiteY5" fmla="*/ 7144 h 106965"/>
                  <a:gd name="connsiteX6" fmla="*/ 46085 w 53293"/>
                  <a:gd name="connsiteY6" fmla="*/ 0 h 106965"/>
                  <a:gd name="connsiteX7" fmla="*/ 53229 w 53293"/>
                  <a:gd name="connsiteY7" fmla="*/ 6858 h 106965"/>
                  <a:gd name="connsiteX8" fmla="*/ 44942 w 53293"/>
                  <a:gd name="connsiteY8" fmla="*/ 45720 h 106965"/>
                  <a:gd name="connsiteX9" fmla="*/ 36084 w 53293"/>
                  <a:gd name="connsiteY9" fmla="*/ 50197 h 106965"/>
                  <a:gd name="connsiteX10" fmla="*/ 14272 w 53293"/>
                  <a:gd name="connsiteY10" fmla="*/ 65723 h 106965"/>
                  <a:gd name="connsiteX11" fmla="*/ 30655 w 53293"/>
                  <a:gd name="connsiteY11" fmla="*/ 95060 h 106965"/>
                  <a:gd name="connsiteX12" fmla="*/ 30655 w 53293"/>
                  <a:gd name="connsiteY12" fmla="*/ 104966 h 106965"/>
                  <a:gd name="connsiteX13" fmla="*/ 25702 w 53293"/>
                  <a:gd name="connsiteY13" fmla="*/ 106966 h 106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3293" h="106965">
                    <a:moveTo>
                      <a:pt x="25797" y="106966"/>
                    </a:moveTo>
                    <a:cubicBezTo>
                      <a:pt x="23987" y="106966"/>
                      <a:pt x="22178" y="106299"/>
                      <a:pt x="20844" y="104966"/>
                    </a:cubicBezTo>
                    <a:cubicBezTo>
                      <a:pt x="16272" y="100394"/>
                      <a:pt x="-6112" y="76772"/>
                      <a:pt x="1604" y="59912"/>
                    </a:cubicBezTo>
                    <a:cubicBezTo>
                      <a:pt x="7128" y="47911"/>
                      <a:pt x="21130" y="41624"/>
                      <a:pt x="30369" y="37433"/>
                    </a:cubicBezTo>
                    <a:cubicBezTo>
                      <a:pt x="33036" y="36195"/>
                      <a:pt x="35798" y="34957"/>
                      <a:pt x="36941" y="34195"/>
                    </a:cubicBezTo>
                    <a:cubicBezTo>
                      <a:pt x="38180" y="32099"/>
                      <a:pt x="39608" y="19241"/>
                      <a:pt x="39227" y="7144"/>
                    </a:cubicBezTo>
                    <a:cubicBezTo>
                      <a:pt x="39132" y="3239"/>
                      <a:pt x="42180" y="95"/>
                      <a:pt x="46085" y="0"/>
                    </a:cubicBezTo>
                    <a:cubicBezTo>
                      <a:pt x="49895" y="0"/>
                      <a:pt x="53134" y="2953"/>
                      <a:pt x="53229" y="6858"/>
                    </a:cubicBezTo>
                    <a:cubicBezTo>
                      <a:pt x="53610" y="21717"/>
                      <a:pt x="52467" y="40481"/>
                      <a:pt x="44942" y="45720"/>
                    </a:cubicBezTo>
                    <a:cubicBezTo>
                      <a:pt x="42752" y="47244"/>
                      <a:pt x="39799" y="48578"/>
                      <a:pt x="36084" y="50197"/>
                    </a:cubicBezTo>
                    <a:cubicBezTo>
                      <a:pt x="28274" y="53721"/>
                      <a:pt x="17606" y="58484"/>
                      <a:pt x="14272" y="65723"/>
                    </a:cubicBezTo>
                    <a:cubicBezTo>
                      <a:pt x="11605" y="71438"/>
                      <a:pt x="22273" y="86678"/>
                      <a:pt x="30655" y="95060"/>
                    </a:cubicBezTo>
                    <a:cubicBezTo>
                      <a:pt x="33417" y="97822"/>
                      <a:pt x="33417" y="102203"/>
                      <a:pt x="30655" y="104966"/>
                    </a:cubicBezTo>
                    <a:cubicBezTo>
                      <a:pt x="29321" y="106299"/>
                      <a:pt x="27512" y="106966"/>
                      <a:pt x="25702" y="106966"/>
                    </a:cubicBezTo>
                    <a:close/>
                  </a:path>
                </a:pathLst>
              </a:custGeom>
              <a:solidFill>
                <a:srgbClr val="F47C73"/>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29" name="Freeform: Shape 428">
                <a:extLst>
                  <a:ext uri="{FF2B5EF4-FFF2-40B4-BE49-F238E27FC236}">
                    <a16:creationId xmlns:a16="http://schemas.microsoft.com/office/drawing/2014/main" id="{4122F4AB-DC71-43C7-B07A-5971C7B9D2FF}"/>
                  </a:ext>
                </a:extLst>
              </p:cNvPr>
              <p:cNvSpPr/>
              <p:nvPr/>
            </p:nvSpPr>
            <p:spPr>
              <a:xfrm flipH="1">
                <a:off x="7378331" y="2964161"/>
                <a:ext cx="15489" cy="15489"/>
              </a:xfrm>
              <a:custGeom>
                <a:avLst/>
                <a:gdLst>
                  <a:gd name="connsiteX0" fmla="*/ 82 w 72840"/>
                  <a:gd name="connsiteY0" fmla="*/ 38944 h 72840"/>
                  <a:gd name="connsiteX1" fmla="*/ 38944 w 72840"/>
                  <a:gd name="connsiteY1" fmla="*/ 72758 h 72840"/>
                  <a:gd name="connsiteX2" fmla="*/ 72758 w 72840"/>
                  <a:gd name="connsiteY2" fmla="*/ 33896 h 72840"/>
                  <a:gd name="connsiteX3" fmla="*/ 33896 w 72840"/>
                  <a:gd name="connsiteY3" fmla="*/ 82 h 72840"/>
                  <a:gd name="connsiteX4" fmla="*/ 82 w 72840"/>
                  <a:gd name="connsiteY4" fmla="*/ 38944 h 72840"/>
                  <a:gd name="connsiteX5" fmla="*/ 82 w 72840"/>
                  <a:gd name="connsiteY5" fmla="*/ 38944 h 7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840" h="72840">
                    <a:moveTo>
                      <a:pt x="82" y="38944"/>
                    </a:moveTo>
                    <a:cubicBezTo>
                      <a:pt x="1511" y="59042"/>
                      <a:pt x="18846" y="74091"/>
                      <a:pt x="38944" y="72758"/>
                    </a:cubicBezTo>
                    <a:cubicBezTo>
                      <a:pt x="59042" y="71329"/>
                      <a:pt x="74091" y="53994"/>
                      <a:pt x="72758" y="33896"/>
                    </a:cubicBezTo>
                    <a:cubicBezTo>
                      <a:pt x="71329" y="13798"/>
                      <a:pt x="53994" y="-1251"/>
                      <a:pt x="33896" y="82"/>
                    </a:cubicBezTo>
                    <a:cubicBezTo>
                      <a:pt x="13798" y="1511"/>
                      <a:pt x="-1251" y="18846"/>
                      <a:pt x="82" y="38944"/>
                    </a:cubicBezTo>
                    <a:lnTo>
                      <a:pt x="82" y="38944"/>
                    </a:lnTo>
                    <a:close/>
                  </a:path>
                </a:pathLst>
              </a:custGeom>
              <a:solidFill>
                <a:srgbClr val="F47C73"/>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30" name="Freeform: Shape 429">
                <a:extLst>
                  <a:ext uri="{FF2B5EF4-FFF2-40B4-BE49-F238E27FC236}">
                    <a16:creationId xmlns:a16="http://schemas.microsoft.com/office/drawing/2014/main" id="{39596DF2-6451-46CF-A0E3-90C01CB7903B}"/>
                  </a:ext>
                </a:extLst>
              </p:cNvPr>
              <p:cNvSpPr/>
              <p:nvPr/>
            </p:nvSpPr>
            <p:spPr>
              <a:xfrm flipH="1">
                <a:off x="7416468" y="2966143"/>
                <a:ext cx="3583" cy="12274"/>
              </a:xfrm>
              <a:custGeom>
                <a:avLst/>
                <a:gdLst>
                  <a:gd name="connsiteX0" fmla="*/ 16764 w 16852"/>
                  <a:gd name="connsiteY0" fmla="*/ 24575 h 57721"/>
                  <a:gd name="connsiteX1" fmla="*/ 4763 w 16852"/>
                  <a:gd name="connsiteY1" fmla="*/ 0 h 57721"/>
                  <a:gd name="connsiteX2" fmla="*/ 0 w 16852"/>
                  <a:gd name="connsiteY2" fmla="*/ 57722 h 57721"/>
                  <a:gd name="connsiteX3" fmla="*/ 16764 w 16852"/>
                  <a:gd name="connsiteY3" fmla="*/ 24479 h 57721"/>
                </a:gdLst>
                <a:ahLst/>
                <a:cxnLst>
                  <a:cxn ang="0">
                    <a:pos x="connsiteX0" y="connsiteY0"/>
                  </a:cxn>
                  <a:cxn ang="0">
                    <a:pos x="connsiteX1" y="connsiteY1"/>
                  </a:cxn>
                  <a:cxn ang="0">
                    <a:pos x="connsiteX2" y="connsiteY2"/>
                  </a:cxn>
                  <a:cxn ang="0">
                    <a:pos x="connsiteX3" y="connsiteY3"/>
                  </a:cxn>
                </a:cxnLst>
                <a:rect l="l" t="t" r="r" b="b"/>
                <a:pathLst>
                  <a:path w="16852" h="57721">
                    <a:moveTo>
                      <a:pt x="16764" y="24575"/>
                    </a:moveTo>
                    <a:cubicBezTo>
                      <a:pt x="16097" y="14764"/>
                      <a:pt x="11525" y="6096"/>
                      <a:pt x="4763" y="0"/>
                    </a:cubicBezTo>
                    <a:cubicBezTo>
                      <a:pt x="2381" y="20003"/>
                      <a:pt x="572" y="39433"/>
                      <a:pt x="0" y="57722"/>
                    </a:cubicBezTo>
                    <a:cubicBezTo>
                      <a:pt x="10858" y="50768"/>
                      <a:pt x="17717" y="38291"/>
                      <a:pt x="16764" y="24479"/>
                    </a:cubicBezTo>
                    <a:close/>
                  </a:path>
                </a:pathLst>
              </a:custGeom>
              <a:solidFill>
                <a:srgbClr val="F47C73"/>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31" name="Freeform: Shape 430">
                <a:extLst>
                  <a:ext uri="{FF2B5EF4-FFF2-40B4-BE49-F238E27FC236}">
                    <a16:creationId xmlns:a16="http://schemas.microsoft.com/office/drawing/2014/main" id="{99B00645-C530-4A67-92F4-D5DDDEFFFA10}"/>
                  </a:ext>
                </a:extLst>
              </p:cNvPr>
              <p:cNvSpPr/>
              <p:nvPr/>
            </p:nvSpPr>
            <p:spPr>
              <a:xfrm flipH="1">
                <a:off x="7387222" y="2955035"/>
                <a:ext cx="3392" cy="5804"/>
              </a:xfrm>
              <a:custGeom>
                <a:avLst/>
                <a:gdLst>
                  <a:gd name="connsiteX0" fmla="*/ 57 w 15953"/>
                  <a:gd name="connsiteY0" fmla="*/ 16046 h 27296"/>
                  <a:gd name="connsiteX1" fmla="*/ 247 w 15953"/>
                  <a:gd name="connsiteY1" fmla="*/ 12712 h 27296"/>
                  <a:gd name="connsiteX2" fmla="*/ 7486 w 15953"/>
                  <a:gd name="connsiteY2" fmla="*/ 44 h 27296"/>
                  <a:gd name="connsiteX3" fmla="*/ 15773 w 15953"/>
                  <a:gd name="connsiteY3" fmla="*/ 6711 h 27296"/>
                  <a:gd name="connsiteX4" fmla="*/ 15773 w 15953"/>
                  <a:gd name="connsiteY4" fmla="*/ 17856 h 27296"/>
                  <a:gd name="connsiteX5" fmla="*/ 12439 w 15953"/>
                  <a:gd name="connsiteY5" fmla="*/ 25761 h 27296"/>
                  <a:gd name="connsiteX6" fmla="*/ 247 w 15953"/>
                  <a:gd name="connsiteY6" fmla="*/ 20808 h 27296"/>
                  <a:gd name="connsiteX7" fmla="*/ 57 w 15953"/>
                  <a:gd name="connsiteY7" fmla="*/ 15951 h 2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53" h="27296">
                    <a:moveTo>
                      <a:pt x="57" y="16046"/>
                    </a:moveTo>
                    <a:cubicBezTo>
                      <a:pt x="57" y="14903"/>
                      <a:pt x="247" y="13855"/>
                      <a:pt x="247" y="12712"/>
                    </a:cubicBezTo>
                    <a:cubicBezTo>
                      <a:pt x="533" y="6902"/>
                      <a:pt x="57" y="615"/>
                      <a:pt x="7486" y="44"/>
                    </a:cubicBezTo>
                    <a:cubicBezTo>
                      <a:pt x="12249" y="-337"/>
                      <a:pt x="15392" y="1758"/>
                      <a:pt x="15773" y="6711"/>
                    </a:cubicBezTo>
                    <a:cubicBezTo>
                      <a:pt x="16059" y="10426"/>
                      <a:pt x="15964" y="14141"/>
                      <a:pt x="15773" y="17856"/>
                    </a:cubicBezTo>
                    <a:cubicBezTo>
                      <a:pt x="15583" y="21189"/>
                      <a:pt x="15202" y="23666"/>
                      <a:pt x="12439" y="25761"/>
                    </a:cubicBezTo>
                    <a:cubicBezTo>
                      <a:pt x="7867" y="29381"/>
                      <a:pt x="1390" y="26142"/>
                      <a:pt x="247" y="20808"/>
                    </a:cubicBezTo>
                    <a:cubicBezTo>
                      <a:pt x="-38" y="19189"/>
                      <a:pt x="-38" y="17570"/>
                      <a:pt x="57" y="15951"/>
                    </a:cubicBezTo>
                    <a:close/>
                  </a:path>
                </a:pathLst>
              </a:custGeom>
              <a:solidFill>
                <a:srgbClr val="1D2333"/>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32" name="Freeform: Shape 431">
                <a:extLst>
                  <a:ext uri="{FF2B5EF4-FFF2-40B4-BE49-F238E27FC236}">
                    <a16:creationId xmlns:a16="http://schemas.microsoft.com/office/drawing/2014/main" id="{5C375E52-D66B-47B0-81FE-D8F0B75A106D}"/>
                  </a:ext>
                </a:extLst>
              </p:cNvPr>
              <p:cNvSpPr/>
              <p:nvPr/>
            </p:nvSpPr>
            <p:spPr>
              <a:xfrm flipH="1">
                <a:off x="7412580" y="2954407"/>
                <a:ext cx="3392" cy="5804"/>
              </a:xfrm>
              <a:custGeom>
                <a:avLst/>
                <a:gdLst>
                  <a:gd name="connsiteX0" fmla="*/ 57 w 15953"/>
                  <a:gd name="connsiteY0" fmla="*/ 16046 h 27296"/>
                  <a:gd name="connsiteX1" fmla="*/ 247 w 15953"/>
                  <a:gd name="connsiteY1" fmla="*/ 12712 h 27296"/>
                  <a:gd name="connsiteX2" fmla="*/ 7486 w 15953"/>
                  <a:gd name="connsiteY2" fmla="*/ 44 h 27296"/>
                  <a:gd name="connsiteX3" fmla="*/ 15773 w 15953"/>
                  <a:gd name="connsiteY3" fmla="*/ 6711 h 27296"/>
                  <a:gd name="connsiteX4" fmla="*/ 15773 w 15953"/>
                  <a:gd name="connsiteY4" fmla="*/ 17856 h 27296"/>
                  <a:gd name="connsiteX5" fmla="*/ 12439 w 15953"/>
                  <a:gd name="connsiteY5" fmla="*/ 25761 h 27296"/>
                  <a:gd name="connsiteX6" fmla="*/ 247 w 15953"/>
                  <a:gd name="connsiteY6" fmla="*/ 20808 h 27296"/>
                  <a:gd name="connsiteX7" fmla="*/ 57 w 15953"/>
                  <a:gd name="connsiteY7" fmla="*/ 15951 h 2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53" h="27296">
                    <a:moveTo>
                      <a:pt x="57" y="16046"/>
                    </a:moveTo>
                    <a:cubicBezTo>
                      <a:pt x="57" y="14903"/>
                      <a:pt x="247" y="13855"/>
                      <a:pt x="247" y="12712"/>
                    </a:cubicBezTo>
                    <a:cubicBezTo>
                      <a:pt x="533" y="6902"/>
                      <a:pt x="57" y="615"/>
                      <a:pt x="7486" y="44"/>
                    </a:cubicBezTo>
                    <a:cubicBezTo>
                      <a:pt x="12249" y="-337"/>
                      <a:pt x="15392" y="1758"/>
                      <a:pt x="15773" y="6711"/>
                    </a:cubicBezTo>
                    <a:cubicBezTo>
                      <a:pt x="16059" y="10426"/>
                      <a:pt x="15964" y="14141"/>
                      <a:pt x="15773" y="17856"/>
                    </a:cubicBezTo>
                    <a:cubicBezTo>
                      <a:pt x="15583" y="21189"/>
                      <a:pt x="15202" y="23666"/>
                      <a:pt x="12439" y="25761"/>
                    </a:cubicBezTo>
                    <a:cubicBezTo>
                      <a:pt x="7867" y="29381"/>
                      <a:pt x="1390" y="26142"/>
                      <a:pt x="247" y="20808"/>
                    </a:cubicBezTo>
                    <a:cubicBezTo>
                      <a:pt x="-38" y="19189"/>
                      <a:pt x="-38" y="17570"/>
                      <a:pt x="57" y="15951"/>
                    </a:cubicBezTo>
                    <a:close/>
                  </a:path>
                </a:pathLst>
              </a:custGeom>
              <a:solidFill>
                <a:srgbClr val="1D2333"/>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grpSp>
            <p:nvGrpSpPr>
              <p:cNvPr id="433" name="Graphic 597">
                <a:extLst>
                  <a:ext uri="{FF2B5EF4-FFF2-40B4-BE49-F238E27FC236}">
                    <a16:creationId xmlns:a16="http://schemas.microsoft.com/office/drawing/2014/main" id="{B136864C-99AF-4154-A140-C740633536BF}"/>
                  </a:ext>
                </a:extLst>
              </p:cNvPr>
              <p:cNvGrpSpPr/>
              <p:nvPr/>
            </p:nvGrpSpPr>
            <p:grpSpPr>
              <a:xfrm flipH="1">
                <a:off x="7346101" y="2955200"/>
                <a:ext cx="25873" cy="24135"/>
                <a:chOff x="6641564" y="2781842"/>
                <a:chExt cx="121675" cy="113502"/>
              </a:xfrm>
            </p:grpSpPr>
            <p:sp>
              <p:nvSpPr>
                <p:cNvPr id="434" name="Freeform: Shape 433">
                  <a:extLst>
                    <a:ext uri="{FF2B5EF4-FFF2-40B4-BE49-F238E27FC236}">
                      <a16:creationId xmlns:a16="http://schemas.microsoft.com/office/drawing/2014/main" id="{54D11C6F-812F-4106-A2D9-B0F8D11D3514}"/>
                    </a:ext>
                  </a:extLst>
                </p:cNvPr>
                <p:cNvSpPr/>
                <p:nvPr/>
              </p:nvSpPr>
              <p:spPr>
                <a:xfrm>
                  <a:off x="6641564" y="2781842"/>
                  <a:ext cx="121675" cy="113502"/>
                </a:xfrm>
                <a:custGeom>
                  <a:avLst/>
                  <a:gdLst>
                    <a:gd name="connsiteX0" fmla="*/ 27650 w 121675"/>
                    <a:gd name="connsiteY0" fmla="*/ 28604 h 113502"/>
                    <a:gd name="connsiteX1" fmla="*/ 99468 w 121675"/>
                    <a:gd name="connsiteY1" fmla="*/ 7744 h 113502"/>
                    <a:gd name="connsiteX2" fmla="*/ 48700 w 121675"/>
                    <a:gd name="connsiteY2" fmla="*/ 111185 h 113502"/>
                    <a:gd name="connsiteX3" fmla="*/ 27650 w 121675"/>
                    <a:gd name="connsiteY3" fmla="*/ 28604 h 113502"/>
                  </a:gdLst>
                  <a:ahLst/>
                  <a:cxnLst>
                    <a:cxn ang="0">
                      <a:pos x="connsiteX0" y="connsiteY0"/>
                    </a:cxn>
                    <a:cxn ang="0">
                      <a:pos x="connsiteX1" y="connsiteY1"/>
                    </a:cxn>
                    <a:cxn ang="0">
                      <a:pos x="connsiteX2" y="connsiteY2"/>
                    </a:cxn>
                    <a:cxn ang="0">
                      <a:pos x="connsiteX3" y="connsiteY3"/>
                    </a:cxn>
                  </a:cxnLst>
                  <a:rect l="l" t="t" r="r" b="b"/>
                  <a:pathLst>
                    <a:path w="121675" h="113502">
                      <a:moveTo>
                        <a:pt x="27650" y="28604"/>
                      </a:moveTo>
                      <a:cubicBezTo>
                        <a:pt x="27650" y="28604"/>
                        <a:pt x="70703" y="-17974"/>
                        <a:pt x="99468" y="7744"/>
                      </a:cubicBezTo>
                      <a:cubicBezTo>
                        <a:pt x="128234" y="33461"/>
                        <a:pt x="144331" y="92421"/>
                        <a:pt x="48700" y="111185"/>
                      </a:cubicBezTo>
                      <a:cubicBezTo>
                        <a:pt x="-46836" y="129950"/>
                        <a:pt x="27650" y="28604"/>
                        <a:pt x="27650" y="28604"/>
                      </a:cubicBezTo>
                      <a:close/>
                    </a:path>
                  </a:pathLst>
                </a:custGeom>
                <a:solidFill>
                  <a:srgbClr val="FFBEB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36" name="Freeform: Shape 435">
                  <a:extLst>
                    <a:ext uri="{FF2B5EF4-FFF2-40B4-BE49-F238E27FC236}">
                      <a16:creationId xmlns:a16="http://schemas.microsoft.com/office/drawing/2014/main" id="{EAE8FAB3-B824-415C-969F-1AF0EF2F81B5}"/>
                    </a:ext>
                  </a:extLst>
                </p:cNvPr>
                <p:cNvSpPr/>
                <p:nvPr/>
              </p:nvSpPr>
              <p:spPr>
                <a:xfrm>
                  <a:off x="6678417" y="2805372"/>
                  <a:ext cx="62296" cy="57171"/>
                </a:xfrm>
                <a:custGeom>
                  <a:avLst/>
                  <a:gdLst>
                    <a:gd name="connsiteX0" fmla="*/ 14990 w 62296"/>
                    <a:gd name="connsiteY0" fmla="*/ 14980 h 57171"/>
                    <a:gd name="connsiteX1" fmla="*/ 50328 w 62296"/>
                    <a:gd name="connsiteY1" fmla="*/ 4693 h 57171"/>
                    <a:gd name="connsiteX2" fmla="*/ 30802 w 62296"/>
                    <a:gd name="connsiteY2" fmla="*/ 54318 h 57171"/>
                    <a:gd name="connsiteX3" fmla="*/ 14990 w 62296"/>
                    <a:gd name="connsiteY3" fmla="*/ 14980 h 57171"/>
                  </a:gdLst>
                  <a:ahLst/>
                  <a:cxnLst>
                    <a:cxn ang="0">
                      <a:pos x="connsiteX0" y="connsiteY0"/>
                    </a:cxn>
                    <a:cxn ang="0">
                      <a:pos x="connsiteX1" y="connsiteY1"/>
                    </a:cxn>
                    <a:cxn ang="0">
                      <a:pos x="connsiteX2" y="connsiteY2"/>
                    </a:cxn>
                    <a:cxn ang="0">
                      <a:pos x="connsiteX3" y="connsiteY3"/>
                    </a:cxn>
                  </a:cxnLst>
                  <a:rect l="l" t="t" r="r" b="b"/>
                  <a:pathLst>
                    <a:path w="62296" h="57171">
                      <a:moveTo>
                        <a:pt x="14990" y="14980"/>
                      </a:moveTo>
                      <a:cubicBezTo>
                        <a:pt x="20991" y="8026"/>
                        <a:pt x="36136" y="-7880"/>
                        <a:pt x="50328" y="4693"/>
                      </a:cubicBezTo>
                      <a:cubicBezTo>
                        <a:pt x="64425" y="17361"/>
                        <a:pt x="74236" y="42031"/>
                        <a:pt x="30802" y="54318"/>
                      </a:cubicBezTo>
                      <a:cubicBezTo>
                        <a:pt x="-15299" y="67367"/>
                        <a:pt x="36" y="32410"/>
                        <a:pt x="14990" y="14980"/>
                      </a:cubicBezTo>
                      <a:close/>
                    </a:path>
                  </a:pathLst>
                </a:custGeom>
                <a:solidFill>
                  <a:srgbClr val="F47C73"/>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grpSp>
        </p:grpSp>
        <p:sp>
          <p:nvSpPr>
            <p:cNvPr id="407" name="TextBox 406">
              <a:extLst>
                <a:ext uri="{FF2B5EF4-FFF2-40B4-BE49-F238E27FC236}">
                  <a16:creationId xmlns:a16="http://schemas.microsoft.com/office/drawing/2014/main" id="{B728C074-DE01-4E4D-ABE7-0A0D8B3D393A}"/>
                </a:ext>
              </a:extLst>
            </p:cNvPr>
            <p:cNvSpPr txBox="1"/>
            <p:nvPr/>
          </p:nvSpPr>
          <p:spPr>
            <a:xfrm>
              <a:off x="7141921" y="3879575"/>
              <a:ext cx="396000" cy="123111"/>
            </a:xfrm>
            <a:prstGeom prst="rect">
              <a:avLst/>
            </a:prstGeom>
            <a:noFill/>
          </p:spPr>
          <p:txBody>
            <a:bodyPr vert="horz" wrap="square" lIns="0" tIns="0" rIns="0" bIns="0" anchor="b" anchorCtr="0">
              <a:spAutoFit/>
            </a:bodyPr>
            <a:lstStyle/>
            <a:p>
              <a:pPr marL="0" marR="0" lvl="0" indent="0" algn="l" defTabSz="554492" rtl="0" eaLnBrk="1" fontAlgn="auto" latinLnBrk="0" hangingPunct="1">
                <a:lnSpc>
                  <a:spcPct val="100000"/>
                </a:lnSpc>
                <a:spcBef>
                  <a:spcPts val="0"/>
                </a:spcBef>
                <a:spcAft>
                  <a:spcPts val="0"/>
                </a:spcAft>
                <a:buClr>
                  <a:srgbClr val="9B1C23"/>
                </a:buClr>
                <a:buSzTx/>
                <a:buFont typeface="Trebuchet MS" panose="020B0603020202020204" pitchFamily="34" charset="0"/>
                <a:buChar char="​"/>
                <a:tabLst/>
                <a:defRPr/>
              </a:pPr>
              <a:r>
                <a:rPr kumimoji="0" lang="en-US" sz="800" b="1" i="0" u="none" strike="noStrike" kern="1200" cap="none" spc="0" normalizeH="0" baseline="0" noProof="0">
                  <a:ln>
                    <a:noFill/>
                  </a:ln>
                  <a:solidFill>
                    <a:schemeClr val="tx2"/>
                  </a:solidFill>
                  <a:effectLst/>
                  <a:uLnTx/>
                  <a:uFillTx/>
                  <a:latin typeface="Arial Nova" panose="020B0504020202020204" pitchFamily="34" charset="0"/>
                  <a:ea typeface="+mn-ea"/>
                  <a:cs typeface="Proxima Nova Semibold"/>
                </a:rPr>
                <a:t>Jeremy</a:t>
              </a:r>
              <a:endParaRPr kumimoji="0" lang="en-US" sz="800" b="1" i="0" u="none" strike="noStrike" kern="1200" cap="none" spc="0" normalizeH="0" baseline="0" noProof="0">
                <a:ln>
                  <a:noFill/>
                </a:ln>
                <a:solidFill>
                  <a:schemeClr val="tx2"/>
                </a:solidFill>
                <a:effectLst/>
                <a:uLnTx/>
                <a:uFillTx/>
                <a:latin typeface="Arial Nova" panose="020B0504020202020204" pitchFamily="34" charset="0"/>
                <a:ea typeface="+mn-ea"/>
                <a:cs typeface="+mn-cs"/>
              </a:endParaRPr>
            </a:p>
          </p:txBody>
        </p:sp>
      </p:grpSp>
      <p:grpSp>
        <p:nvGrpSpPr>
          <p:cNvPr id="437" name="Group 436">
            <a:extLst>
              <a:ext uri="{FF2B5EF4-FFF2-40B4-BE49-F238E27FC236}">
                <a16:creationId xmlns:a16="http://schemas.microsoft.com/office/drawing/2014/main" id="{8AA6E8B1-91B8-4842-93CF-20B9CA147EAB}"/>
              </a:ext>
            </a:extLst>
          </p:cNvPr>
          <p:cNvGrpSpPr/>
          <p:nvPr/>
        </p:nvGrpSpPr>
        <p:grpSpPr>
          <a:xfrm>
            <a:off x="7675277" y="3452861"/>
            <a:ext cx="1277534" cy="283531"/>
            <a:chOff x="7675277" y="3525326"/>
            <a:chExt cx="1277534" cy="283531"/>
          </a:xfrm>
        </p:grpSpPr>
        <p:sp>
          <p:nvSpPr>
            <p:cNvPr id="438" name="object 66">
              <a:extLst>
                <a:ext uri="{FF2B5EF4-FFF2-40B4-BE49-F238E27FC236}">
                  <a16:creationId xmlns:a16="http://schemas.microsoft.com/office/drawing/2014/main" id="{316BA268-4AA4-477E-A9DD-C19BE0B9D1E7}"/>
                </a:ext>
              </a:extLst>
            </p:cNvPr>
            <p:cNvSpPr txBox="1"/>
            <p:nvPr/>
          </p:nvSpPr>
          <p:spPr>
            <a:xfrm>
              <a:off x="8484811" y="3525326"/>
              <a:ext cx="468000" cy="283531"/>
            </a:xfrm>
            <a:prstGeom prst="rect">
              <a:avLst/>
            </a:prstGeom>
          </p:spPr>
          <p:txBody>
            <a:bodyPr vert="horz" wrap="square" lIns="0" tIns="6469" rIns="0" bIns="0" rtlCol="0">
              <a:spAutoFit/>
            </a:bodyPr>
            <a:lstStyle/>
            <a:p>
              <a:pPr marL="0" marR="0" lvl="0" indent="0" algn="l" defTabSz="914400" rtl="0" eaLnBrk="1" fontAlgn="auto" latinLnBrk="0" hangingPunct="1">
                <a:lnSpc>
                  <a:spcPct val="100000"/>
                </a:lnSpc>
                <a:spcBef>
                  <a:spcPts val="0"/>
                </a:spcBef>
                <a:spcAft>
                  <a:spcPts val="0"/>
                </a:spcAft>
                <a:buClr>
                  <a:srgbClr val="9B1C23"/>
                </a:buClr>
                <a:buSzPct val="100000"/>
                <a:buFont typeface="Trebuchet MS" panose="020B0603020202020204" pitchFamily="34" charset="0"/>
                <a:buChar char="​"/>
                <a:tabLst/>
                <a:defRPr/>
              </a:pPr>
              <a:r>
                <a:rPr kumimoji="0" lang="en-US" sz="600" b="1" i="0" u="none" strike="noStrike" kern="1200" cap="none" spc="0" normalizeH="0" baseline="0" noProof="0">
                  <a:ln>
                    <a:noFill/>
                  </a:ln>
                  <a:solidFill>
                    <a:srgbClr val="000000"/>
                  </a:solidFill>
                  <a:effectLst/>
                  <a:uLnTx/>
                  <a:uFillTx/>
                  <a:latin typeface="Arial Nova"/>
                  <a:ea typeface="+mn-ea"/>
                  <a:cs typeface="+mn-cs"/>
                  <a:sym typeface="+mn-lt"/>
                </a:rPr>
                <a:t>$$ XX, </a:t>
              </a:r>
              <a:br>
                <a:rPr kumimoji="0" lang="en-US" sz="600" b="1" i="0" u="none" strike="noStrike" kern="1200" cap="none" spc="0" normalizeH="0" baseline="0" noProof="0">
                  <a:ln>
                    <a:noFill/>
                  </a:ln>
                  <a:solidFill>
                    <a:srgbClr val="000000"/>
                  </a:solidFill>
                  <a:effectLst/>
                  <a:uLnTx/>
                  <a:uFillTx/>
                  <a:latin typeface="Arial Nova"/>
                  <a:ea typeface="+mn-ea"/>
                  <a:cs typeface="+mn-cs"/>
                  <a:sym typeface="+mn-lt"/>
                </a:rPr>
              </a:br>
              <a:r>
                <a:rPr kumimoji="0" lang="en-US" sz="600" b="1" i="0" u="none" strike="noStrike" kern="1200" cap="none" spc="0" normalizeH="0" baseline="0" noProof="0">
                  <a:ln>
                    <a:noFill/>
                  </a:ln>
                  <a:solidFill>
                    <a:srgbClr val="000000"/>
                  </a:solidFill>
                  <a:effectLst/>
                  <a:uLnTx/>
                  <a:uFillTx/>
                  <a:latin typeface="Arial Nova"/>
                  <a:ea typeface="+mn-ea"/>
                  <a:cs typeface="+mn-cs"/>
                  <a:sym typeface="+mn-lt"/>
                </a:rPr>
                <a:t>Visa Signature</a:t>
              </a:r>
            </a:p>
          </p:txBody>
        </p:sp>
        <p:sp>
          <p:nvSpPr>
            <p:cNvPr id="439" name="object 67">
              <a:extLst>
                <a:ext uri="{FF2B5EF4-FFF2-40B4-BE49-F238E27FC236}">
                  <a16:creationId xmlns:a16="http://schemas.microsoft.com/office/drawing/2014/main" id="{1EEDCC06-FB1C-4500-99DB-06FA39A4E8A6}"/>
                </a:ext>
              </a:extLst>
            </p:cNvPr>
            <p:cNvSpPr txBox="1"/>
            <p:nvPr/>
          </p:nvSpPr>
          <p:spPr>
            <a:xfrm>
              <a:off x="7675277" y="3551718"/>
              <a:ext cx="288000" cy="104464"/>
            </a:xfrm>
            <a:prstGeom prst="rect">
              <a:avLst/>
            </a:prstGeom>
          </p:spPr>
          <p:txBody>
            <a:bodyPr vert="horz" wrap="square" lIns="0" tIns="12014" rIns="0" bIns="0" rtlCol="0">
              <a:spAutoFit/>
            </a:bodyPr>
            <a:lstStyle/>
            <a:p>
              <a:pPr marL="0" marR="0" lvl="0" indent="0" algn="l" defTabSz="554492" rtl="0" eaLnBrk="1" fontAlgn="auto" latinLnBrk="0" hangingPunct="1">
                <a:lnSpc>
                  <a:spcPct val="100000"/>
                </a:lnSpc>
                <a:spcBef>
                  <a:spcPts val="0"/>
                </a:spcBef>
                <a:spcAft>
                  <a:spcPts val="0"/>
                </a:spcAft>
                <a:buClr>
                  <a:srgbClr val="9B1C23"/>
                </a:buClr>
                <a:buSzTx/>
                <a:buFont typeface="Trebuchet MS" panose="020B0603020202020204" pitchFamily="34" charset="0"/>
                <a:buChar char="​"/>
                <a:tabLst>
                  <a:tab pos="417024" algn="l"/>
                </a:tabLst>
                <a:defRPr/>
              </a:pPr>
              <a:r>
                <a:rPr kumimoji="0"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CLV	</a:t>
              </a:r>
              <a:endParaRPr kumimoji="0"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endParaRPr>
            </a:p>
          </p:txBody>
        </p:sp>
        <p:sp>
          <p:nvSpPr>
            <p:cNvPr id="440" name="object 67">
              <a:extLst>
                <a:ext uri="{FF2B5EF4-FFF2-40B4-BE49-F238E27FC236}">
                  <a16:creationId xmlns:a16="http://schemas.microsoft.com/office/drawing/2014/main" id="{628BCA0B-16D7-4313-B4F7-FDA1FACD4B72}"/>
                </a:ext>
              </a:extLst>
            </p:cNvPr>
            <p:cNvSpPr txBox="1"/>
            <p:nvPr/>
          </p:nvSpPr>
          <p:spPr>
            <a:xfrm>
              <a:off x="7998840" y="3563849"/>
              <a:ext cx="360000" cy="92333"/>
            </a:xfrm>
            <a:prstGeom prst="rect">
              <a:avLst/>
            </a:prstGeom>
          </p:spPr>
          <p:txBody>
            <a:bodyPr vert="horz" wrap="square" lIns="0" tIns="0" rIns="0" bIns="0" rtlCol="0">
              <a:spAutoFit/>
            </a:bodyPr>
            <a:lstStyle/>
            <a:p>
              <a:pPr marL="0" marR="0" lvl="0" indent="0" algn="l" defTabSz="554492" rtl="0" eaLnBrk="1" fontAlgn="auto" latinLnBrk="0" hangingPunct="1">
                <a:lnSpc>
                  <a:spcPct val="100000"/>
                </a:lnSpc>
                <a:spcBef>
                  <a:spcPts val="0"/>
                </a:spcBef>
                <a:spcAft>
                  <a:spcPts val="0"/>
                </a:spcAft>
                <a:buClr>
                  <a:srgbClr val="9B1C23"/>
                </a:buClr>
                <a:buSzTx/>
                <a:tabLst>
                  <a:tab pos="417024" algn="l"/>
                </a:tabLst>
                <a:defRPr/>
              </a:pPr>
              <a:r>
                <a:rPr lang="en-US" sz="600">
                  <a:solidFill>
                    <a:srgbClr val="000000"/>
                  </a:solidFill>
                  <a:latin typeface="Arial Nova" panose="020B0504020202020204" pitchFamily="34" charset="0"/>
                  <a:cs typeface="Proxima Nova"/>
                </a:rPr>
                <a:t>$$</a:t>
              </a:r>
              <a:r>
                <a:rPr kumimoji="0" sz="6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rPr>
                <a:t> </a:t>
              </a:r>
              <a:r>
                <a:rPr kumimoji="0" lang="en-US" sz="6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rPr>
                <a:t>XXX</a:t>
              </a:r>
              <a:endParaRPr kumimoji="0" sz="6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endParaRPr>
            </a:p>
          </p:txBody>
        </p:sp>
        <p:sp>
          <p:nvSpPr>
            <p:cNvPr id="441" name="object 67">
              <a:extLst>
                <a:ext uri="{FF2B5EF4-FFF2-40B4-BE49-F238E27FC236}">
                  <a16:creationId xmlns:a16="http://schemas.microsoft.com/office/drawing/2014/main" id="{22C5D219-E375-405F-BDE8-F25FA1985D67}"/>
                </a:ext>
              </a:extLst>
            </p:cNvPr>
            <p:cNvSpPr txBox="1"/>
            <p:nvPr/>
          </p:nvSpPr>
          <p:spPr>
            <a:xfrm>
              <a:off x="7675277" y="3678001"/>
              <a:ext cx="343806" cy="104464"/>
            </a:xfrm>
            <a:prstGeom prst="rect">
              <a:avLst/>
            </a:prstGeom>
          </p:spPr>
          <p:txBody>
            <a:bodyPr vert="horz" wrap="square" lIns="0" tIns="12014" rIns="0" bIns="0" rtlCol="0">
              <a:spAutoFit/>
            </a:bodyPr>
            <a:lstStyle/>
            <a:p>
              <a:pPr marL="0" marR="0" lvl="0" indent="0" algn="l" defTabSz="554492" rtl="0" eaLnBrk="1" fontAlgn="auto" latinLnBrk="0" hangingPunct="1">
                <a:lnSpc>
                  <a:spcPct val="100000"/>
                </a:lnSpc>
                <a:spcBef>
                  <a:spcPts val="0"/>
                </a:spcBef>
                <a:spcAft>
                  <a:spcPts val="0"/>
                </a:spcAft>
                <a:buClr>
                  <a:srgbClr val="9B1C23"/>
                </a:buClr>
                <a:buSzTx/>
                <a:buFont typeface="Trebuchet MS" panose="020B0603020202020204" pitchFamily="34" charset="0"/>
                <a:buChar char="​"/>
                <a:tabLst>
                  <a:tab pos="427036" algn="l"/>
                </a:tabLst>
                <a:defRPr/>
              </a:pPr>
              <a:r>
                <a:rPr kumimoji="0" lang="en-US"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Segment</a:t>
              </a:r>
              <a:endParaRPr kumimoji="0"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endParaRPr>
            </a:p>
          </p:txBody>
        </p:sp>
        <p:sp>
          <p:nvSpPr>
            <p:cNvPr id="442" name="object 67">
              <a:extLst>
                <a:ext uri="{FF2B5EF4-FFF2-40B4-BE49-F238E27FC236}">
                  <a16:creationId xmlns:a16="http://schemas.microsoft.com/office/drawing/2014/main" id="{98BECDEE-E74D-41A7-AA39-A74BECDA2B70}"/>
                </a:ext>
              </a:extLst>
            </p:cNvPr>
            <p:cNvSpPr txBox="1"/>
            <p:nvPr/>
          </p:nvSpPr>
          <p:spPr>
            <a:xfrm>
              <a:off x="7998840" y="3690132"/>
              <a:ext cx="360000" cy="92333"/>
            </a:xfrm>
            <a:prstGeom prst="rect">
              <a:avLst/>
            </a:prstGeom>
          </p:spPr>
          <p:txBody>
            <a:bodyPr vert="horz" wrap="square" lIns="0" tIns="0" rIns="0" bIns="0" rtlCol="0">
              <a:spAutoFit/>
            </a:bodyPr>
            <a:lstStyle/>
            <a:p>
              <a:pPr marL="0" marR="0" lvl="0" indent="0" algn="l" defTabSz="554492" rtl="0" eaLnBrk="1" fontAlgn="auto" latinLnBrk="0" hangingPunct="1">
                <a:lnSpc>
                  <a:spcPct val="100000"/>
                </a:lnSpc>
                <a:spcBef>
                  <a:spcPts val="0"/>
                </a:spcBef>
                <a:spcAft>
                  <a:spcPts val="0"/>
                </a:spcAft>
                <a:buClr>
                  <a:srgbClr val="9B1C23"/>
                </a:buClr>
                <a:buSzTx/>
                <a:buFont typeface="Trebuchet MS" panose="020B0603020202020204" pitchFamily="34" charset="0"/>
                <a:buChar char="​"/>
                <a:tabLst>
                  <a:tab pos="417024" algn="l"/>
                </a:tabLst>
                <a:defRPr/>
              </a:pPr>
              <a:r>
                <a:rPr kumimoji="0" lang="en-US" sz="6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rPr>
                <a:t>3</a:t>
              </a:r>
              <a:endParaRPr kumimoji="0" sz="6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endParaRPr>
            </a:p>
          </p:txBody>
        </p:sp>
        <p:cxnSp>
          <p:nvCxnSpPr>
            <p:cNvPr id="443" name="Straight Connector 442">
              <a:extLst>
                <a:ext uri="{FF2B5EF4-FFF2-40B4-BE49-F238E27FC236}">
                  <a16:creationId xmlns:a16="http://schemas.microsoft.com/office/drawing/2014/main" id="{92C579C9-A20C-4C70-A682-FFEFB029BD63}"/>
                </a:ext>
              </a:extLst>
            </p:cNvPr>
            <p:cNvCxnSpPr/>
            <p:nvPr/>
          </p:nvCxnSpPr>
          <p:spPr>
            <a:xfrm>
              <a:off x="8410435" y="3551718"/>
              <a:ext cx="0" cy="230747"/>
            </a:xfrm>
            <a:prstGeom prst="line">
              <a:avLst/>
            </a:prstGeom>
            <a:ln w="9525" cap="rnd">
              <a:solidFill>
                <a:schemeClr val="bg1">
                  <a:lumMod val="85000"/>
                </a:schemeClr>
              </a:solidFill>
              <a:prstDash val="solid"/>
              <a:round/>
            </a:ln>
          </p:spPr>
          <p:style>
            <a:lnRef idx="1">
              <a:schemeClr val="accent1"/>
            </a:lnRef>
            <a:fillRef idx="0">
              <a:schemeClr val="accent1"/>
            </a:fillRef>
            <a:effectRef idx="0">
              <a:schemeClr val="accent1"/>
            </a:effectRef>
            <a:fontRef idx="minor">
              <a:schemeClr val="tx1"/>
            </a:fontRef>
          </p:style>
        </p:cxnSp>
      </p:grpSp>
      <p:grpSp>
        <p:nvGrpSpPr>
          <p:cNvPr id="444" name="Group 443">
            <a:extLst>
              <a:ext uri="{FF2B5EF4-FFF2-40B4-BE49-F238E27FC236}">
                <a16:creationId xmlns:a16="http://schemas.microsoft.com/office/drawing/2014/main" id="{709982B0-37E4-4EBE-894F-71449AEED714}"/>
              </a:ext>
            </a:extLst>
          </p:cNvPr>
          <p:cNvGrpSpPr/>
          <p:nvPr/>
        </p:nvGrpSpPr>
        <p:grpSpPr>
          <a:xfrm>
            <a:off x="7675277" y="4125576"/>
            <a:ext cx="1277534" cy="230747"/>
            <a:chOff x="7675277" y="4198041"/>
            <a:chExt cx="1277534" cy="230747"/>
          </a:xfrm>
        </p:grpSpPr>
        <p:sp>
          <p:nvSpPr>
            <p:cNvPr id="445" name="object 66">
              <a:extLst>
                <a:ext uri="{FF2B5EF4-FFF2-40B4-BE49-F238E27FC236}">
                  <a16:creationId xmlns:a16="http://schemas.microsoft.com/office/drawing/2014/main" id="{A35A90FB-6E41-4602-8A57-C923B61B9E18}"/>
                </a:ext>
              </a:extLst>
            </p:cNvPr>
            <p:cNvSpPr txBox="1"/>
            <p:nvPr/>
          </p:nvSpPr>
          <p:spPr>
            <a:xfrm>
              <a:off x="8484811" y="4210172"/>
              <a:ext cx="468000" cy="191198"/>
            </a:xfrm>
            <a:prstGeom prst="rect">
              <a:avLst/>
            </a:prstGeom>
          </p:spPr>
          <p:txBody>
            <a:bodyPr vert="horz" wrap="square" lIns="0" tIns="6469" rIns="0" bIns="0" rtlCol="0">
              <a:noAutofit/>
            </a:bodyPr>
            <a:lstStyle/>
            <a:p>
              <a:pPr marL="0" marR="0" lvl="0" indent="0" algn="l" defTabSz="554492" rtl="0" eaLnBrk="1" fontAlgn="auto" latinLnBrk="0" hangingPunct="1">
                <a:lnSpc>
                  <a:spcPct val="100000"/>
                </a:lnSpc>
                <a:spcBef>
                  <a:spcPts val="0"/>
                </a:spcBef>
                <a:spcAft>
                  <a:spcPts val="0"/>
                </a:spcAft>
                <a:buClr>
                  <a:srgbClr val="9B1C23"/>
                </a:buClr>
                <a:buSzTx/>
                <a:buFont typeface="Trebuchet MS" panose="020B0603020202020204" pitchFamily="34" charset="0"/>
                <a:buChar char="​"/>
                <a:tabLst/>
                <a:defRPr/>
              </a:pPr>
              <a:r>
                <a:rPr kumimoji="0" lang="en-US"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 XX</a:t>
              </a:r>
              <a:r>
                <a:rPr kumimoji="0" sz="600" b="1" i="0" u="none" strike="noStrike" kern="1200" cap="none" spc="-6" normalizeH="0" baseline="0" noProof="0">
                  <a:ln>
                    <a:noFill/>
                  </a:ln>
                  <a:solidFill>
                    <a:srgbClr val="000000"/>
                  </a:solidFill>
                  <a:effectLst/>
                  <a:uLnTx/>
                  <a:uFillTx/>
                  <a:latin typeface="Arial Nova" panose="020B0504020202020204" pitchFamily="34" charset="0"/>
                  <a:ea typeface="+mn-ea"/>
                  <a:cs typeface="Proxima Nova Semibold"/>
                </a:rPr>
                <a:t>,</a:t>
              </a:r>
              <a:r>
                <a:rPr kumimoji="0" sz="600" b="1" i="0" u="none" strike="noStrike" kern="1200" cap="none" spc="-15" normalizeH="0" baseline="0" noProof="0">
                  <a:ln>
                    <a:noFill/>
                  </a:ln>
                  <a:solidFill>
                    <a:srgbClr val="000000"/>
                  </a:solidFill>
                  <a:effectLst/>
                  <a:uLnTx/>
                  <a:uFillTx/>
                  <a:latin typeface="Arial Nova" panose="020B0504020202020204" pitchFamily="34" charset="0"/>
                  <a:ea typeface="+mn-ea"/>
                  <a:cs typeface="Proxima Nova Semibold"/>
                </a:rPr>
                <a:t> </a:t>
              </a:r>
              <a:br>
                <a:rPr kumimoji="0" lang="en-US" sz="600" b="1" i="0" u="none" strike="noStrike" kern="1200" cap="none" spc="-15" normalizeH="0" baseline="0" noProof="0">
                  <a:ln>
                    <a:noFill/>
                  </a:ln>
                  <a:solidFill>
                    <a:srgbClr val="000000"/>
                  </a:solidFill>
                  <a:effectLst/>
                  <a:uLnTx/>
                  <a:uFillTx/>
                  <a:latin typeface="Arial Nova" panose="020B0504020202020204" pitchFamily="34" charset="0"/>
                  <a:ea typeface="+mn-ea"/>
                  <a:cs typeface="Proxima Nova Semibold"/>
                </a:rPr>
              </a:br>
              <a:r>
                <a:rPr kumimoji="0" lang="en-US" sz="600" b="1" i="0" u="none" strike="noStrike" kern="1200" cap="none" spc="-15" normalizeH="0" baseline="0" noProof="0">
                  <a:ln>
                    <a:noFill/>
                  </a:ln>
                  <a:solidFill>
                    <a:srgbClr val="000000"/>
                  </a:solidFill>
                  <a:effectLst/>
                  <a:uLnTx/>
                  <a:uFillTx/>
                  <a:latin typeface="Arial Nova" panose="020B0504020202020204" pitchFamily="34" charset="0"/>
                  <a:ea typeface="+mn-ea"/>
                  <a:cs typeface="Proxima Nova Semibold"/>
                </a:rPr>
                <a:t>-----</a:t>
              </a:r>
              <a:endParaRPr kumimoji="0"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endParaRPr>
            </a:p>
          </p:txBody>
        </p:sp>
        <p:sp>
          <p:nvSpPr>
            <p:cNvPr id="446" name="object 67">
              <a:extLst>
                <a:ext uri="{FF2B5EF4-FFF2-40B4-BE49-F238E27FC236}">
                  <a16:creationId xmlns:a16="http://schemas.microsoft.com/office/drawing/2014/main" id="{A746D2A0-E270-4567-994A-DEEB74F0E839}"/>
                </a:ext>
              </a:extLst>
            </p:cNvPr>
            <p:cNvSpPr txBox="1"/>
            <p:nvPr/>
          </p:nvSpPr>
          <p:spPr>
            <a:xfrm>
              <a:off x="7675277" y="4198041"/>
              <a:ext cx="288000" cy="104464"/>
            </a:xfrm>
            <a:prstGeom prst="rect">
              <a:avLst/>
            </a:prstGeom>
          </p:spPr>
          <p:txBody>
            <a:bodyPr vert="horz" wrap="square" lIns="0" tIns="12014" rIns="0" bIns="0" rtlCol="0">
              <a:spAutoFit/>
            </a:bodyPr>
            <a:lstStyle/>
            <a:p>
              <a:pPr marL="0" marR="0" lvl="0" indent="0" algn="l" defTabSz="554492" rtl="0" eaLnBrk="1" fontAlgn="auto" latinLnBrk="0" hangingPunct="1">
                <a:lnSpc>
                  <a:spcPct val="100000"/>
                </a:lnSpc>
                <a:spcBef>
                  <a:spcPts val="0"/>
                </a:spcBef>
                <a:spcAft>
                  <a:spcPts val="0"/>
                </a:spcAft>
                <a:buClr>
                  <a:srgbClr val="9B1C23"/>
                </a:buClr>
                <a:buSzTx/>
                <a:buFont typeface="Trebuchet MS" panose="020B0603020202020204" pitchFamily="34" charset="0"/>
                <a:buChar char="​"/>
                <a:tabLst>
                  <a:tab pos="417024" algn="l"/>
                </a:tabLst>
                <a:defRPr/>
              </a:pPr>
              <a:r>
                <a:rPr kumimoji="0"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CLV	</a:t>
              </a:r>
              <a:endParaRPr kumimoji="0"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endParaRPr>
            </a:p>
          </p:txBody>
        </p:sp>
        <p:sp>
          <p:nvSpPr>
            <p:cNvPr id="447" name="object 67">
              <a:extLst>
                <a:ext uri="{FF2B5EF4-FFF2-40B4-BE49-F238E27FC236}">
                  <a16:creationId xmlns:a16="http://schemas.microsoft.com/office/drawing/2014/main" id="{C7BD71A4-F5BF-46C5-A1FB-D9322C7DE6D3}"/>
                </a:ext>
              </a:extLst>
            </p:cNvPr>
            <p:cNvSpPr txBox="1"/>
            <p:nvPr/>
          </p:nvSpPr>
          <p:spPr>
            <a:xfrm>
              <a:off x="7998840" y="4210172"/>
              <a:ext cx="360000" cy="92333"/>
            </a:xfrm>
            <a:prstGeom prst="rect">
              <a:avLst/>
            </a:prstGeom>
          </p:spPr>
          <p:txBody>
            <a:bodyPr vert="horz" wrap="square" lIns="0" tIns="0" rIns="0" bIns="0" rtlCol="0">
              <a:spAutoFit/>
            </a:bodyPr>
            <a:lstStyle/>
            <a:p>
              <a:pPr marL="0" marR="0" lvl="0" indent="0" algn="l" defTabSz="554492" rtl="0" eaLnBrk="1" fontAlgn="auto" latinLnBrk="0" hangingPunct="1">
                <a:lnSpc>
                  <a:spcPct val="100000"/>
                </a:lnSpc>
                <a:spcBef>
                  <a:spcPts val="0"/>
                </a:spcBef>
                <a:spcAft>
                  <a:spcPts val="0"/>
                </a:spcAft>
                <a:buClr>
                  <a:srgbClr val="9B1C23"/>
                </a:buClr>
                <a:buSzTx/>
                <a:buFont typeface="Trebuchet MS" panose="020B0603020202020204" pitchFamily="34" charset="0"/>
                <a:buChar char="​"/>
                <a:tabLst>
                  <a:tab pos="417024" algn="l"/>
                </a:tabLst>
                <a:defRPr/>
              </a:pPr>
              <a:r>
                <a:rPr kumimoji="0" lang="en-US" sz="6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rPr>
                <a:t>$$ XX</a:t>
              </a:r>
              <a:endParaRPr kumimoji="0" sz="6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endParaRPr>
            </a:p>
          </p:txBody>
        </p:sp>
        <p:sp>
          <p:nvSpPr>
            <p:cNvPr id="448" name="object 67">
              <a:extLst>
                <a:ext uri="{FF2B5EF4-FFF2-40B4-BE49-F238E27FC236}">
                  <a16:creationId xmlns:a16="http://schemas.microsoft.com/office/drawing/2014/main" id="{34606567-7CD3-43E9-A4D3-DA8AA2F4596C}"/>
                </a:ext>
              </a:extLst>
            </p:cNvPr>
            <p:cNvSpPr txBox="1"/>
            <p:nvPr/>
          </p:nvSpPr>
          <p:spPr>
            <a:xfrm>
              <a:off x="7675277" y="4324324"/>
              <a:ext cx="343806" cy="104464"/>
            </a:xfrm>
            <a:prstGeom prst="rect">
              <a:avLst/>
            </a:prstGeom>
          </p:spPr>
          <p:txBody>
            <a:bodyPr vert="horz" wrap="square" lIns="0" tIns="12014" rIns="0" bIns="0" rtlCol="0">
              <a:spAutoFit/>
            </a:bodyPr>
            <a:lstStyle/>
            <a:p>
              <a:pPr marL="0" marR="0" lvl="0" indent="0" algn="l" defTabSz="554492" rtl="0" eaLnBrk="1" fontAlgn="auto" latinLnBrk="0" hangingPunct="1">
                <a:lnSpc>
                  <a:spcPct val="100000"/>
                </a:lnSpc>
                <a:spcBef>
                  <a:spcPts val="0"/>
                </a:spcBef>
                <a:spcAft>
                  <a:spcPts val="0"/>
                </a:spcAft>
                <a:buClr>
                  <a:srgbClr val="9B1C23"/>
                </a:buClr>
                <a:buSzTx/>
                <a:buFont typeface="Trebuchet MS" panose="020B0603020202020204" pitchFamily="34" charset="0"/>
                <a:buChar char="​"/>
                <a:tabLst>
                  <a:tab pos="427036" algn="l"/>
                </a:tabLst>
                <a:defRPr/>
              </a:pPr>
              <a:r>
                <a:rPr kumimoji="0" lang="en-US"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Segment</a:t>
              </a:r>
              <a:endParaRPr kumimoji="0"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endParaRPr>
            </a:p>
          </p:txBody>
        </p:sp>
        <p:sp>
          <p:nvSpPr>
            <p:cNvPr id="449" name="object 67">
              <a:extLst>
                <a:ext uri="{FF2B5EF4-FFF2-40B4-BE49-F238E27FC236}">
                  <a16:creationId xmlns:a16="http://schemas.microsoft.com/office/drawing/2014/main" id="{C98EC119-5DD4-481E-99C9-9F281E1950BB}"/>
                </a:ext>
              </a:extLst>
            </p:cNvPr>
            <p:cNvSpPr txBox="1"/>
            <p:nvPr/>
          </p:nvSpPr>
          <p:spPr>
            <a:xfrm>
              <a:off x="7998840" y="4336455"/>
              <a:ext cx="360000" cy="92333"/>
            </a:xfrm>
            <a:prstGeom prst="rect">
              <a:avLst/>
            </a:prstGeom>
          </p:spPr>
          <p:txBody>
            <a:bodyPr vert="horz" wrap="square" lIns="0" tIns="0" rIns="0" bIns="0" rtlCol="0">
              <a:spAutoFit/>
            </a:bodyPr>
            <a:lstStyle/>
            <a:p>
              <a:pPr marL="0" marR="0" lvl="0" indent="0" algn="l" defTabSz="554492" rtl="0" eaLnBrk="1" fontAlgn="auto" latinLnBrk="0" hangingPunct="1">
                <a:lnSpc>
                  <a:spcPct val="100000"/>
                </a:lnSpc>
                <a:spcBef>
                  <a:spcPts val="0"/>
                </a:spcBef>
                <a:spcAft>
                  <a:spcPts val="0"/>
                </a:spcAft>
                <a:buClr>
                  <a:srgbClr val="9B1C23"/>
                </a:buClr>
                <a:buSzTx/>
                <a:buFont typeface="Trebuchet MS" panose="020B0603020202020204" pitchFamily="34" charset="0"/>
                <a:buChar char="​"/>
                <a:tabLst>
                  <a:tab pos="417024" algn="l"/>
                </a:tabLst>
                <a:defRPr/>
              </a:pPr>
              <a:r>
                <a:rPr kumimoji="0" lang="en-US" sz="6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rPr>
                <a:t>3</a:t>
              </a:r>
              <a:endParaRPr kumimoji="0" sz="6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endParaRPr>
            </a:p>
          </p:txBody>
        </p:sp>
        <p:cxnSp>
          <p:nvCxnSpPr>
            <p:cNvPr id="450" name="Straight Connector 449">
              <a:extLst>
                <a:ext uri="{FF2B5EF4-FFF2-40B4-BE49-F238E27FC236}">
                  <a16:creationId xmlns:a16="http://schemas.microsoft.com/office/drawing/2014/main" id="{79AEFE32-F528-42EA-BE08-C9AC42183786}"/>
                </a:ext>
              </a:extLst>
            </p:cNvPr>
            <p:cNvCxnSpPr/>
            <p:nvPr/>
          </p:nvCxnSpPr>
          <p:spPr>
            <a:xfrm>
              <a:off x="8410435" y="4198041"/>
              <a:ext cx="0" cy="230747"/>
            </a:xfrm>
            <a:prstGeom prst="line">
              <a:avLst/>
            </a:prstGeom>
            <a:ln w="9525" cap="rnd">
              <a:solidFill>
                <a:schemeClr val="bg1">
                  <a:lumMod val="85000"/>
                </a:schemeClr>
              </a:solidFill>
              <a:prstDash val="solid"/>
              <a:round/>
            </a:ln>
          </p:spPr>
          <p:style>
            <a:lnRef idx="1">
              <a:schemeClr val="accent1"/>
            </a:lnRef>
            <a:fillRef idx="0">
              <a:schemeClr val="accent1"/>
            </a:fillRef>
            <a:effectRef idx="0">
              <a:schemeClr val="accent1"/>
            </a:effectRef>
            <a:fontRef idx="minor">
              <a:schemeClr val="tx1"/>
            </a:fontRef>
          </p:style>
        </p:cxnSp>
      </p:grpSp>
      <p:grpSp>
        <p:nvGrpSpPr>
          <p:cNvPr id="451" name="Group 450">
            <a:extLst>
              <a:ext uri="{FF2B5EF4-FFF2-40B4-BE49-F238E27FC236}">
                <a16:creationId xmlns:a16="http://schemas.microsoft.com/office/drawing/2014/main" id="{ABF999E4-3494-4C3D-98B9-3C3640EC953E}"/>
              </a:ext>
            </a:extLst>
          </p:cNvPr>
          <p:cNvGrpSpPr/>
          <p:nvPr/>
        </p:nvGrpSpPr>
        <p:grpSpPr>
          <a:xfrm>
            <a:off x="7675277" y="4771900"/>
            <a:ext cx="1277534" cy="230747"/>
            <a:chOff x="7675277" y="4844365"/>
            <a:chExt cx="1277534" cy="230747"/>
          </a:xfrm>
        </p:grpSpPr>
        <p:sp>
          <p:nvSpPr>
            <p:cNvPr id="452" name="object 66">
              <a:extLst>
                <a:ext uri="{FF2B5EF4-FFF2-40B4-BE49-F238E27FC236}">
                  <a16:creationId xmlns:a16="http://schemas.microsoft.com/office/drawing/2014/main" id="{5F2EFDE2-58AA-421E-97DC-63B8310C05F2}"/>
                </a:ext>
              </a:extLst>
            </p:cNvPr>
            <p:cNvSpPr txBox="1"/>
            <p:nvPr/>
          </p:nvSpPr>
          <p:spPr>
            <a:xfrm>
              <a:off x="8484811" y="4856496"/>
              <a:ext cx="468000" cy="191198"/>
            </a:xfrm>
            <a:prstGeom prst="rect">
              <a:avLst/>
            </a:prstGeom>
          </p:spPr>
          <p:txBody>
            <a:bodyPr vert="horz" wrap="square" lIns="0" tIns="6469" rIns="0" bIns="0" rtlCol="0">
              <a:noAutofit/>
            </a:bodyPr>
            <a:lstStyle/>
            <a:p>
              <a:pPr marL="0" marR="0" lvl="0" indent="0" algn="l" defTabSz="554492" rtl="0" eaLnBrk="1" fontAlgn="auto" latinLnBrk="0" hangingPunct="1">
                <a:lnSpc>
                  <a:spcPct val="100000"/>
                </a:lnSpc>
                <a:spcBef>
                  <a:spcPts val="0"/>
                </a:spcBef>
                <a:spcAft>
                  <a:spcPts val="0"/>
                </a:spcAft>
                <a:buClr>
                  <a:srgbClr val="9B1C23"/>
                </a:buClr>
                <a:buSzTx/>
                <a:buFont typeface="Trebuchet MS" panose="020B0603020202020204" pitchFamily="34" charset="0"/>
                <a:buChar char="​"/>
                <a:tabLst/>
                <a:defRPr/>
              </a:pPr>
              <a:r>
                <a:rPr kumimoji="0" lang="en-US"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 XX</a:t>
              </a:r>
              <a:r>
                <a:rPr kumimoji="0" lang="en-US" sz="600" b="1" i="0" u="none" strike="noStrike" kern="1200" cap="none" spc="-6" normalizeH="0" baseline="0" noProof="0">
                  <a:ln>
                    <a:noFill/>
                  </a:ln>
                  <a:solidFill>
                    <a:srgbClr val="000000"/>
                  </a:solidFill>
                  <a:effectLst/>
                  <a:uLnTx/>
                  <a:uFillTx/>
                  <a:latin typeface="Arial Nova" panose="020B0504020202020204" pitchFamily="34" charset="0"/>
                  <a:ea typeface="+mn-ea"/>
                  <a:cs typeface="Proxima Nova Semibold"/>
                </a:rPr>
                <a:t>,</a:t>
              </a:r>
              <a:r>
                <a:rPr kumimoji="0" lang="en-US" sz="600" b="1" i="0" u="none" strike="noStrike" kern="1200" cap="none" spc="-15" normalizeH="0" baseline="0" noProof="0">
                  <a:ln>
                    <a:noFill/>
                  </a:ln>
                  <a:solidFill>
                    <a:srgbClr val="000000"/>
                  </a:solidFill>
                  <a:effectLst/>
                  <a:uLnTx/>
                  <a:uFillTx/>
                  <a:latin typeface="Arial Nova" panose="020B0504020202020204" pitchFamily="34" charset="0"/>
                  <a:ea typeface="+mn-ea"/>
                  <a:cs typeface="Proxima Nova Semibold"/>
                </a:rPr>
                <a:t> </a:t>
              </a:r>
              <a:br>
                <a:rPr kumimoji="0" lang="en-US" sz="600" b="1" i="0" u="none" strike="noStrike" kern="1200" cap="none" spc="-15" normalizeH="0" baseline="0" noProof="0">
                  <a:ln>
                    <a:noFill/>
                  </a:ln>
                  <a:solidFill>
                    <a:srgbClr val="000000"/>
                  </a:solidFill>
                  <a:effectLst/>
                  <a:uLnTx/>
                  <a:uFillTx/>
                  <a:latin typeface="Arial Nova" panose="020B0504020202020204" pitchFamily="34" charset="0"/>
                  <a:ea typeface="+mn-ea"/>
                  <a:cs typeface="Proxima Nova Semibold"/>
                </a:rPr>
              </a:br>
              <a:r>
                <a:rPr kumimoji="0" lang="en-US"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Visa Signature</a:t>
              </a:r>
            </a:p>
          </p:txBody>
        </p:sp>
        <p:sp>
          <p:nvSpPr>
            <p:cNvPr id="453" name="object 67">
              <a:extLst>
                <a:ext uri="{FF2B5EF4-FFF2-40B4-BE49-F238E27FC236}">
                  <a16:creationId xmlns:a16="http://schemas.microsoft.com/office/drawing/2014/main" id="{0D972BBF-58BF-4A92-A318-9F5EB19C3D35}"/>
                </a:ext>
              </a:extLst>
            </p:cNvPr>
            <p:cNvSpPr txBox="1"/>
            <p:nvPr/>
          </p:nvSpPr>
          <p:spPr>
            <a:xfrm>
              <a:off x="7675277" y="4844365"/>
              <a:ext cx="288000" cy="104464"/>
            </a:xfrm>
            <a:prstGeom prst="rect">
              <a:avLst/>
            </a:prstGeom>
          </p:spPr>
          <p:txBody>
            <a:bodyPr vert="horz" wrap="square" lIns="0" tIns="12014" rIns="0" bIns="0" rtlCol="0">
              <a:spAutoFit/>
            </a:bodyPr>
            <a:lstStyle/>
            <a:p>
              <a:pPr marL="0" marR="0" lvl="0" indent="0" algn="l" defTabSz="554492" rtl="0" eaLnBrk="1" fontAlgn="auto" latinLnBrk="0" hangingPunct="1">
                <a:lnSpc>
                  <a:spcPct val="100000"/>
                </a:lnSpc>
                <a:spcBef>
                  <a:spcPts val="0"/>
                </a:spcBef>
                <a:spcAft>
                  <a:spcPts val="0"/>
                </a:spcAft>
                <a:buClr>
                  <a:srgbClr val="9B1C23"/>
                </a:buClr>
                <a:buSzTx/>
                <a:buFont typeface="Trebuchet MS" panose="020B0603020202020204" pitchFamily="34" charset="0"/>
                <a:buChar char="​"/>
                <a:tabLst>
                  <a:tab pos="417024" algn="l"/>
                </a:tabLst>
                <a:defRPr/>
              </a:pPr>
              <a:r>
                <a:rPr kumimoji="0"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CLV	</a:t>
              </a:r>
              <a:endParaRPr kumimoji="0"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endParaRPr>
            </a:p>
          </p:txBody>
        </p:sp>
        <p:sp>
          <p:nvSpPr>
            <p:cNvPr id="454" name="object 67">
              <a:extLst>
                <a:ext uri="{FF2B5EF4-FFF2-40B4-BE49-F238E27FC236}">
                  <a16:creationId xmlns:a16="http://schemas.microsoft.com/office/drawing/2014/main" id="{ED3AD22F-0513-436D-930A-20D7DCF36D9B}"/>
                </a:ext>
              </a:extLst>
            </p:cNvPr>
            <p:cNvSpPr txBox="1"/>
            <p:nvPr/>
          </p:nvSpPr>
          <p:spPr>
            <a:xfrm>
              <a:off x="7998840" y="4856496"/>
              <a:ext cx="360000" cy="92333"/>
            </a:xfrm>
            <a:prstGeom prst="rect">
              <a:avLst/>
            </a:prstGeom>
          </p:spPr>
          <p:txBody>
            <a:bodyPr vert="horz" wrap="square" lIns="0" tIns="0" rIns="0" bIns="0" rtlCol="0">
              <a:spAutoFit/>
            </a:bodyPr>
            <a:lstStyle/>
            <a:p>
              <a:pPr marL="0" marR="0" lvl="0" indent="0" algn="l" defTabSz="554492" rtl="0" eaLnBrk="1" fontAlgn="auto" latinLnBrk="0" hangingPunct="1">
                <a:lnSpc>
                  <a:spcPct val="100000"/>
                </a:lnSpc>
                <a:spcBef>
                  <a:spcPts val="0"/>
                </a:spcBef>
                <a:spcAft>
                  <a:spcPts val="0"/>
                </a:spcAft>
                <a:buClr>
                  <a:srgbClr val="9B1C23"/>
                </a:buClr>
                <a:buSzTx/>
                <a:buFont typeface="Trebuchet MS" panose="020B0603020202020204" pitchFamily="34" charset="0"/>
                <a:buChar char="​"/>
                <a:tabLst>
                  <a:tab pos="417024" algn="l"/>
                </a:tabLst>
                <a:defRPr/>
              </a:pPr>
              <a:r>
                <a:rPr kumimoji="0" lang="en-US" sz="6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rPr>
                <a:t>$$ XX</a:t>
              </a:r>
              <a:endParaRPr kumimoji="0" sz="6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endParaRPr>
            </a:p>
          </p:txBody>
        </p:sp>
        <p:sp>
          <p:nvSpPr>
            <p:cNvPr id="455" name="object 67">
              <a:extLst>
                <a:ext uri="{FF2B5EF4-FFF2-40B4-BE49-F238E27FC236}">
                  <a16:creationId xmlns:a16="http://schemas.microsoft.com/office/drawing/2014/main" id="{923B4D77-9E3E-42A0-AD81-C9C680D217A9}"/>
                </a:ext>
              </a:extLst>
            </p:cNvPr>
            <p:cNvSpPr txBox="1"/>
            <p:nvPr/>
          </p:nvSpPr>
          <p:spPr>
            <a:xfrm>
              <a:off x="7675277" y="4970648"/>
              <a:ext cx="343806" cy="104464"/>
            </a:xfrm>
            <a:prstGeom prst="rect">
              <a:avLst/>
            </a:prstGeom>
          </p:spPr>
          <p:txBody>
            <a:bodyPr vert="horz" wrap="square" lIns="0" tIns="12014" rIns="0" bIns="0" rtlCol="0">
              <a:spAutoFit/>
            </a:bodyPr>
            <a:lstStyle/>
            <a:p>
              <a:pPr marL="0" marR="0" lvl="0" indent="0" algn="l" defTabSz="554492" rtl="0" eaLnBrk="1" fontAlgn="auto" latinLnBrk="0" hangingPunct="1">
                <a:lnSpc>
                  <a:spcPct val="100000"/>
                </a:lnSpc>
                <a:spcBef>
                  <a:spcPts val="0"/>
                </a:spcBef>
                <a:spcAft>
                  <a:spcPts val="0"/>
                </a:spcAft>
                <a:buClr>
                  <a:srgbClr val="9B1C23"/>
                </a:buClr>
                <a:buSzTx/>
                <a:buFont typeface="Trebuchet MS" panose="020B0603020202020204" pitchFamily="34" charset="0"/>
                <a:buChar char="​"/>
                <a:tabLst>
                  <a:tab pos="427036" algn="l"/>
                </a:tabLst>
                <a:defRPr/>
              </a:pPr>
              <a:r>
                <a:rPr kumimoji="0" lang="en-US"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Segment</a:t>
              </a:r>
              <a:endParaRPr kumimoji="0"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endParaRPr>
            </a:p>
          </p:txBody>
        </p:sp>
        <p:sp>
          <p:nvSpPr>
            <p:cNvPr id="456" name="object 67">
              <a:extLst>
                <a:ext uri="{FF2B5EF4-FFF2-40B4-BE49-F238E27FC236}">
                  <a16:creationId xmlns:a16="http://schemas.microsoft.com/office/drawing/2014/main" id="{E73AE194-6909-46B7-B682-5D450493BB2C}"/>
                </a:ext>
              </a:extLst>
            </p:cNvPr>
            <p:cNvSpPr txBox="1"/>
            <p:nvPr/>
          </p:nvSpPr>
          <p:spPr>
            <a:xfrm>
              <a:off x="7998840" y="4982779"/>
              <a:ext cx="360000" cy="92333"/>
            </a:xfrm>
            <a:prstGeom prst="rect">
              <a:avLst/>
            </a:prstGeom>
          </p:spPr>
          <p:txBody>
            <a:bodyPr vert="horz" wrap="square" lIns="0" tIns="0" rIns="0" bIns="0" rtlCol="0">
              <a:spAutoFit/>
            </a:bodyPr>
            <a:lstStyle/>
            <a:p>
              <a:pPr marL="0" marR="0" lvl="0" indent="0" algn="l" defTabSz="554492" rtl="0" eaLnBrk="1" fontAlgn="auto" latinLnBrk="0" hangingPunct="1">
                <a:lnSpc>
                  <a:spcPct val="100000"/>
                </a:lnSpc>
                <a:spcBef>
                  <a:spcPts val="0"/>
                </a:spcBef>
                <a:spcAft>
                  <a:spcPts val="0"/>
                </a:spcAft>
                <a:buClr>
                  <a:srgbClr val="9B1C23"/>
                </a:buClr>
                <a:buSzTx/>
                <a:buFont typeface="Trebuchet MS" panose="020B0603020202020204" pitchFamily="34" charset="0"/>
                <a:buChar char="​"/>
                <a:tabLst>
                  <a:tab pos="417024" algn="l"/>
                </a:tabLst>
                <a:defRPr/>
              </a:pPr>
              <a:r>
                <a:rPr kumimoji="0" lang="en-US" sz="6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rPr>
                <a:t>1</a:t>
              </a:r>
              <a:endParaRPr kumimoji="0" sz="6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endParaRPr>
            </a:p>
          </p:txBody>
        </p:sp>
        <p:cxnSp>
          <p:nvCxnSpPr>
            <p:cNvPr id="457" name="Straight Connector 456">
              <a:extLst>
                <a:ext uri="{FF2B5EF4-FFF2-40B4-BE49-F238E27FC236}">
                  <a16:creationId xmlns:a16="http://schemas.microsoft.com/office/drawing/2014/main" id="{FD412C67-B41D-4276-9BC1-910E9035C773}"/>
                </a:ext>
              </a:extLst>
            </p:cNvPr>
            <p:cNvCxnSpPr/>
            <p:nvPr/>
          </p:nvCxnSpPr>
          <p:spPr>
            <a:xfrm>
              <a:off x="8410435" y="4844365"/>
              <a:ext cx="0" cy="230747"/>
            </a:xfrm>
            <a:prstGeom prst="line">
              <a:avLst/>
            </a:prstGeom>
            <a:ln w="9525" cap="rnd">
              <a:solidFill>
                <a:schemeClr val="bg1">
                  <a:lumMod val="85000"/>
                </a:schemeClr>
              </a:solidFill>
              <a:prstDash val="solid"/>
              <a:round/>
            </a:ln>
          </p:spPr>
          <p:style>
            <a:lnRef idx="1">
              <a:schemeClr val="accent1"/>
            </a:lnRef>
            <a:fillRef idx="0">
              <a:schemeClr val="accent1"/>
            </a:fillRef>
            <a:effectRef idx="0">
              <a:schemeClr val="accent1"/>
            </a:effectRef>
            <a:fontRef idx="minor">
              <a:schemeClr val="tx1"/>
            </a:fontRef>
          </p:style>
        </p:cxnSp>
      </p:grpSp>
      <p:sp>
        <p:nvSpPr>
          <p:cNvPr id="459" name="object 86">
            <a:extLst>
              <a:ext uri="{FF2B5EF4-FFF2-40B4-BE49-F238E27FC236}">
                <a16:creationId xmlns:a16="http://schemas.microsoft.com/office/drawing/2014/main" id="{816F4357-ABDE-47E1-A7C5-AD37B446FD87}"/>
              </a:ext>
            </a:extLst>
          </p:cNvPr>
          <p:cNvSpPr txBox="1"/>
          <p:nvPr/>
        </p:nvSpPr>
        <p:spPr>
          <a:xfrm>
            <a:off x="10348701" y="2631498"/>
            <a:ext cx="503994" cy="254620"/>
          </a:xfrm>
          <a:prstGeom prst="rect">
            <a:avLst/>
          </a:prstGeom>
        </p:spPr>
        <p:txBody>
          <a:bodyPr vert="horz" wrap="square" lIns="0" tIns="8318" rIns="0" bIns="0" rtlCol="0">
            <a:spAutoFit/>
          </a:bodyPr>
          <a:lstStyle/>
          <a:p>
            <a:pPr marL="6161" marR="0" lvl="0" indent="0" algn="l" defTabSz="554492"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chemeClr val="tx2"/>
                </a:solidFill>
                <a:effectLst/>
                <a:uLnTx/>
                <a:uFillTx/>
                <a:latin typeface="Arial Nova" panose="020B0504020202020204" pitchFamily="34" charset="0"/>
                <a:ea typeface="+mn-ea"/>
                <a:cs typeface="Proxima Nova Semibold"/>
              </a:rPr>
              <a:t>Segment 1</a:t>
            </a:r>
            <a:endParaRPr kumimoji="0" sz="800" b="0" i="0" u="none" strike="noStrike" kern="1200" cap="none" spc="0" normalizeH="0" baseline="0" noProof="0">
              <a:ln>
                <a:noFill/>
              </a:ln>
              <a:solidFill>
                <a:schemeClr val="tx2"/>
              </a:solidFill>
              <a:effectLst/>
              <a:uLnTx/>
              <a:uFillTx/>
              <a:latin typeface="Arial Nova" panose="020B0504020202020204" pitchFamily="34" charset="0"/>
              <a:ea typeface="+mn-ea"/>
              <a:cs typeface="Proxima Nova Semibold"/>
            </a:endParaRPr>
          </a:p>
        </p:txBody>
      </p:sp>
      <p:sp>
        <p:nvSpPr>
          <p:cNvPr id="460" name="object 89">
            <a:extLst>
              <a:ext uri="{FF2B5EF4-FFF2-40B4-BE49-F238E27FC236}">
                <a16:creationId xmlns:a16="http://schemas.microsoft.com/office/drawing/2014/main" id="{1A707A6D-C69F-44E5-8615-FFB325D597E0}"/>
              </a:ext>
            </a:extLst>
          </p:cNvPr>
          <p:cNvSpPr txBox="1"/>
          <p:nvPr/>
        </p:nvSpPr>
        <p:spPr>
          <a:xfrm>
            <a:off x="10966880" y="2631498"/>
            <a:ext cx="503994" cy="254620"/>
          </a:xfrm>
          <a:prstGeom prst="rect">
            <a:avLst/>
          </a:prstGeom>
        </p:spPr>
        <p:txBody>
          <a:bodyPr vert="horz" wrap="square" lIns="0" tIns="8318" rIns="0" bIns="0" rtlCol="0">
            <a:spAutoFit/>
          </a:bodyPr>
          <a:lstStyle/>
          <a:p>
            <a:pPr marL="6161" marR="0" lvl="0" indent="0" algn="l" defTabSz="554492"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chemeClr val="tx2"/>
                </a:solidFill>
                <a:effectLst/>
                <a:uLnTx/>
                <a:uFillTx/>
                <a:latin typeface="Arial Nova" panose="020B0504020202020204" pitchFamily="34" charset="0"/>
                <a:ea typeface="+mn-ea"/>
                <a:cs typeface="Proxima Nova Semibold"/>
              </a:rPr>
              <a:t>Segment 2</a:t>
            </a:r>
            <a:endParaRPr kumimoji="0" sz="800" b="0" i="0" u="none" strike="noStrike" kern="1200" cap="none" spc="0" normalizeH="0" baseline="0" noProof="0">
              <a:ln>
                <a:noFill/>
              </a:ln>
              <a:solidFill>
                <a:schemeClr val="tx2"/>
              </a:solidFill>
              <a:effectLst/>
              <a:uLnTx/>
              <a:uFillTx/>
              <a:latin typeface="Arial Nova" panose="020B0504020202020204" pitchFamily="34" charset="0"/>
              <a:ea typeface="+mn-ea"/>
              <a:cs typeface="Proxima Nova Semibold"/>
            </a:endParaRPr>
          </a:p>
        </p:txBody>
      </p:sp>
      <p:sp>
        <p:nvSpPr>
          <p:cNvPr id="461" name="object 90">
            <a:extLst>
              <a:ext uri="{FF2B5EF4-FFF2-40B4-BE49-F238E27FC236}">
                <a16:creationId xmlns:a16="http://schemas.microsoft.com/office/drawing/2014/main" id="{2E76C4B4-9EFC-4CF2-8C6D-790BA0424DA3}"/>
              </a:ext>
            </a:extLst>
          </p:cNvPr>
          <p:cNvSpPr txBox="1"/>
          <p:nvPr/>
        </p:nvSpPr>
        <p:spPr>
          <a:xfrm>
            <a:off x="9442523" y="2886118"/>
            <a:ext cx="792000" cy="595923"/>
          </a:xfrm>
          <a:prstGeom prst="rect">
            <a:avLst/>
          </a:prstGeom>
        </p:spPr>
        <p:txBody>
          <a:bodyPr vert="horz" wrap="square" lIns="0" tIns="72000" rIns="0" bIns="0" rtlCol="0">
            <a:spAutoFit/>
          </a:bodyPr>
          <a:lstStyle/>
          <a:p>
            <a:pPr marL="6161" marR="0" lvl="0" indent="0" algn="l" defTabSz="554492" rtl="0" eaLnBrk="1" fontAlgn="auto" latinLnBrk="0" hangingPunct="1">
              <a:lnSpc>
                <a:spcPct val="100000"/>
              </a:lnSpc>
              <a:spcBef>
                <a:spcPts val="0"/>
              </a:spcBef>
              <a:spcAft>
                <a:spcPts val="600"/>
              </a:spcAft>
              <a:buClrTx/>
              <a:buSzTx/>
              <a:buFontTx/>
              <a:buNone/>
              <a:tabLst/>
              <a:defRPr/>
            </a:pPr>
            <a:r>
              <a:rPr kumimoji="0"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Conversion</a:t>
            </a:r>
          </a:p>
          <a:p>
            <a:pPr marL="6161" marR="3081" lvl="0" indent="0" algn="l" defTabSz="554492" rtl="0" eaLnBrk="1" fontAlgn="auto" latinLnBrk="0" hangingPunct="1">
              <a:lnSpc>
                <a:spcPct val="100000"/>
              </a:lnSpc>
              <a:spcBef>
                <a:spcPts val="0"/>
              </a:spcBef>
              <a:spcAft>
                <a:spcPts val="600"/>
              </a:spcAft>
              <a:buClrTx/>
              <a:buSzTx/>
              <a:buFontTx/>
              <a:buNone/>
              <a:tabLst/>
              <a:defRPr/>
            </a:pPr>
            <a:r>
              <a:rPr kumimoji="0"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Conversion Rate</a:t>
            </a:r>
            <a:endParaRPr kumimoji="0" lang="en-US"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endParaRPr>
          </a:p>
          <a:p>
            <a:pPr marL="6161" marR="3081" lvl="0" indent="0" algn="l" defTabSz="554492" rtl="0" eaLnBrk="1" fontAlgn="auto" latinLnBrk="0" hangingPunct="1">
              <a:lnSpc>
                <a:spcPct val="100000"/>
              </a:lnSpc>
              <a:spcBef>
                <a:spcPts val="0"/>
              </a:spcBef>
              <a:spcAft>
                <a:spcPts val="600"/>
              </a:spcAft>
              <a:buClrTx/>
              <a:buSzTx/>
              <a:buFontTx/>
              <a:buNone/>
              <a:tabLst/>
              <a:defRPr/>
            </a:pPr>
            <a:r>
              <a:rPr kumimoji="0"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Overall Lift</a:t>
            </a:r>
          </a:p>
        </p:txBody>
      </p:sp>
      <p:sp>
        <p:nvSpPr>
          <p:cNvPr id="462" name="object 79">
            <a:extLst>
              <a:ext uri="{FF2B5EF4-FFF2-40B4-BE49-F238E27FC236}">
                <a16:creationId xmlns:a16="http://schemas.microsoft.com/office/drawing/2014/main" id="{1FF73B3F-B725-4118-9531-3839A3861F96}"/>
              </a:ext>
            </a:extLst>
          </p:cNvPr>
          <p:cNvSpPr txBox="1"/>
          <p:nvPr/>
        </p:nvSpPr>
        <p:spPr>
          <a:xfrm>
            <a:off x="9442523" y="2631498"/>
            <a:ext cx="792000" cy="254620"/>
          </a:xfrm>
          <a:prstGeom prst="rect">
            <a:avLst/>
          </a:prstGeom>
        </p:spPr>
        <p:txBody>
          <a:bodyPr vert="horz" wrap="square" lIns="0" tIns="8318" rIns="0" bIns="0" rtlCol="0">
            <a:noAutofit/>
          </a:bodyPr>
          <a:lstStyle/>
          <a:p>
            <a:pPr marL="6161" marR="0" lvl="0" indent="0" algn="l" defTabSz="554492"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chemeClr val="tx2"/>
                </a:solidFill>
                <a:effectLst/>
                <a:uLnTx/>
                <a:uFillTx/>
                <a:latin typeface="Arial Nova" panose="020B0504020202020204" pitchFamily="34" charset="0"/>
                <a:ea typeface="+mn-ea"/>
                <a:cs typeface="Proxima Nova Semibold"/>
              </a:rPr>
              <a:t>Standard Metrics</a:t>
            </a:r>
          </a:p>
        </p:txBody>
      </p:sp>
      <p:sp>
        <p:nvSpPr>
          <p:cNvPr id="463" name="object 90">
            <a:extLst>
              <a:ext uri="{FF2B5EF4-FFF2-40B4-BE49-F238E27FC236}">
                <a16:creationId xmlns:a16="http://schemas.microsoft.com/office/drawing/2014/main" id="{A4273DE4-33EA-409F-9BBF-FEFDB5507822}"/>
              </a:ext>
            </a:extLst>
          </p:cNvPr>
          <p:cNvSpPr txBox="1"/>
          <p:nvPr/>
        </p:nvSpPr>
        <p:spPr>
          <a:xfrm>
            <a:off x="10348701" y="2886118"/>
            <a:ext cx="432000" cy="595923"/>
          </a:xfrm>
          <a:prstGeom prst="rect">
            <a:avLst/>
          </a:prstGeom>
        </p:spPr>
        <p:txBody>
          <a:bodyPr vert="horz" wrap="square" lIns="0" tIns="72000" rIns="0" bIns="0" rtlCol="0">
            <a:spAutoFit/>
          </a:bodyPr>
          <a:lstStyle/>
          <a:p>
            <a:pPr marL="6161" marR="0" lvl="0" indent="0" algn="l" defTabSz="554492"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XX</a:t>
            </a:r>
          </a:p>
          <a:p>
            <a:pPr marL="6161" marR="0" lvl="0" indent="0" algn="l" defTabSz="554492"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ZZ</a:t>
            </a:r>
          </a:p>
          <a:p>
            <a:pPr marL="6161" marR="0" lvl="0" indent="0" algn="l" defTabSz="554492"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BB</a:t>
            </a:r>
          </a:p>
        </p:txBody>
      </p:sp>
      <p:sp>
        <p:nvSpPr>
          <p:cNvPr id="464" name="object 90">
            <a:extLst>
              <a:ext uri="{FF2B5EF4-FFF2-40B4-BE49-F238E27FC236}">
                <a16:creationId xmlns:a16="http://schemas.microsoft.com/office/drawing/2014/main" id="{CBF53D81-1B28-40D1-BF19-3F60DC0A2F4A}"/>
              </a:ext>
            </a:extLst>
          </p:cNvPr>
          <p:cNvSpPr txBox="1"/>
          <p:nvPr/>
        </p:nvSpPr>
        <p:spPr>
          <a:xfrm>
            <a:off x="10966880" y="2886118"/>
            <a:ext cx="432000" cy="595923"/>
          </a:xfrm>
          <a:prstGeom prst="rect">
            <a:avLst/>
          </a:prstGeom>
        </p:spPr>
        <p:txBody>
          <a:bodyPr vert="horz" wrap="square" lIns="0" tIns="72000" rIns="0" bIns="0" rtlCol="0">
            <a:spAutoFit/>
          </a:bodyPr>
          <a:lstStyle/>
          <a:p>
            <a:pPr marL="6161" marR="0" lvl="0" indent="0" algn="l" defTabSz="554492"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err="1">
                <a:ln>
                  <a:noFill/>
                </a:ln>
                <a:solidFill>
                  <a:srgbClr val="000000"/>
                </a:solidFill>
                <a:effectLst/>
                <a:uLnTx/>
                <a:uFillTx/>
                <a:latin typeface="Arial Nova" panose="020B0504020202020204" pitchFamily="34" charset="0"/>
                <a:ea typeface="+mn-ea"/>
                <a:cs typeface="Proxima Nova Semibold"/>
              </a:rPr>
              <a:t>YY</a:t>
            </a:r>
            <a:endParaRPr kumimoji="0" lang="en-US"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endParaRPr>
          </a:p>
          <a:p>
            <a:pPr marL="6161" marR="0" lvl="0" indent="0" algn="l" defTabSz="554492"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AA</a:t>
            </a:r>
          </a:p>
          <a:p>
            <a:pPr marL="6161" marR="0" lvl="0" indent="0" algn="l" defTabSz="554492"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CC</a:t>
            </a:r>
            <a:endParaRPr kumimoji="0"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endParaRPr>
          </a:p>
        </p:txBody>
      </p:sp>
      <p:sp>
        <p:nvSpPr>
          <p:cNvPr id="465" name="object 79">
            <a:extLst>
              <a:ext uri="{FF2B5EF4-FFF2-40B4-BE49-F238E27FC236}">
                <a16:creationId xmlns:a16="http://schemas.microsoft.com/office/drawing/2014/main" id="{9933B2D0-E4F2-4ED2-A9DA-7B1CCA376C59}"/>
              </a:ext>
            </a:extLst>
          </p:cNvPr>
          <p:cNvSpPr txBox="1"/>
          <p:nvPr/>
        </p:nvSpPr>
        <p:spPr>
          <a:xfrm>
            <a:off x="10313976" y="4699566"/>
            <a:ext cx="504000" cy="254620"/>
          </a:xfrm>
          <a:prstGeom prst="rect">
            <a:avLst/>
          </a:prstGeom>
        </p:spPr>
        <p:txBody>
          <a:bodyPr vert="horz" wrap="square" lIns="0" tIns="8318" rIns="0" bIns="0" rtlCol="0">
            <a:spAutoFit/>
          </a:bodyPr>
          <a:lstStyle/>
          <a:p>
            <a:pPr marL="6161" marR="0" lvl="0" indent="0" algn="l" defTabSz="554492"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err="1">
                <a:ln>
                  <a:noFill/>
                </a:ln>
                <a:solidFill>
                  <a:schemeClr val="tx2"/>
                </a:solidFill>
                <a:effectLst/>
                <a:uLnTx/>
                <a:uFillTx/>
                <a:latin typeface="Arial Nova" panose="020B0504020202020204" pitchFamily="34" charset="0"/>
                <a:ea typeface="+mn-ea"/>
                <a:cs typeface="Proxima Nova Semibold"/>
              </a:rPr>
              <a:t>Conver-sion</a:t>
            </a:r>
            <a:endParaRPr kumimoji="0" sz="800" b="0" i="0" u="none" strike="noStrike" kern="1200" cap="none" spc="0" normalizeH="0" baseline="0" noProof="0">
              <a:ln>
                <a:noFill/>
              </a:ln>
              <a:solidFill>
                <a:schemeClr val="tx2"/>
              </a:solidFill>
              <a:effectLst/>
              <a:uLnTx/>
              <a:uFillTx/>
              <a:latin typeface="Arial Nova" panose="020B0504020202020204" pitchFamily="34" charset="0"/>
              <a:ea typeface="+mn-ea"/>
              <a:cs typeface="Proxima Nova Semibold"/>
            </a:endParaRPr>
          </a:p>
        </p:txBody>
      </p:sp>
      <p:sp>
        <p:nvSpPr>
          <p:cNvPr id="466" name="object 81">
            <a:extLst>
              <a:ext uri="{FF2B5EF4-FFF2-40B4-BE49-F238E27FC236}">
                <a16:creationId xmlns:a16="http://schemas.microsoft.com/office/drawing/2014/main" id="{C932DAF8-BB63-4A73-8BA7-DFABB40A7329}"/>
              </a:ext>
            </a:extLst>
          </p:cNvPr>
          <p:cNvSpPr txBox="1"/>
          <p:nvPr/>
        </p:nvSpPr>
        <p:spPr>
          <a:xfrm>
            <a:off x="9407798" y="4954186"/>
            <a:ext cx="792000" cy="595923"/>
          </a:xfrm>
          <a:prstGeom prst="rect">
            <a:avLst/>
          </a:prstGeom>
        </p:spPr>
        <p:txBody>
          <a:bodyPr vert="horz" wrap="square" lIns="0" tIns="72000" rIns="0" bIns="0" rtlCol="0" anchor="t" anchorCtr="0">
            <a:spAutoFit/>
          </a:bodyPr>
          <a:lstStyle/>
          <a:p>
            <a:pPr marL="6161" marR="3081" lvl="0" indent="0" algn="l" defTabSz="554492"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18-24</a:t>
            </a:r>
            <a:r>
              <a:rPr kumimoji="0"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  </a:t>
            </a:r>
            <a:endParaRPr kumimoji="0" lang="en-US"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endParaRPr>
          </a:p>
          <a:p>
            <a:pPr marL="6161" marR="3081" lvl="0" indent="0" algn="l" defTabSz="554492"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25-34</a:t>
            </a:r>
          </a:p>
          <a:p>
            <a:pPr marL="6161" marR="3081" lvl="0" indent="0" algn="l" defTabSz="554492"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35-44</a:t>
            </a:r>
            <a:endParaRPr kumimoji="0"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endParaRPr>
          </a:p>
        </p:txBody>
      </p:sp>
      <p:sp>
        <p:nvSpPr>
          <p:cNvPr id="467" name="object 82">
            <a:extLst>
              <a:ext uri="{FF2B5EF4-FFF2-40B4-BE49-F238E27FC236}">
                <a16:creationId xmlns:a16="http://schemas.microsoft.com/office/drawing/2014/main" id="{E4B90D8A-AEB0-4C27-9AB0-713609650742}"/>
              </a:ext>
            </a:extLst>
          </p:cNvPr>
          <p:cNvSpPr txBox="1"/>
          <p:nvPr/>
        </p:nvSpPr>
        <p:spPr>
          <a:xfrm>
            <a:off x="9407798" y="4482851"/>
            <a:ext cx="1305986" cy="153888"/>
          </a:xfrm>
          <a:prstGeom prst="rect">
            <a:avLst/>
          </a:prstGeom>
        </p:spPr>
        <p:txBody>
          <a:bodyPr vert="horz" wrap="square" lIns="0" tIns="0" rIns="0" bIns="0" rtlCol="0" anchor="t" anchorCtr="0">
            <a:noAutofit/>
          </a:bodyPr>
          <a:lstStyle/>
          <a:p>
            <a:pPr marL="10166" marR="3081" lvl="0" indent="0" algn="l" defTabSz="554492" rtl="0" eaLnBrk="1" fontAlgn="auto" latinLnBrk="0" hangingPunct="1">
              <a:lnSpc>
                <a:spcPct val="100000"/>
              </a:lnSpc>
              <a:spcBef>
                <a:spcPts val="0"/>
              </a:spcBef>
              <a:spcAft>
                <a:spcPts val="0"/>
              </a:spcAft>
              <a:buClrTx/>
              <a:buSzTx/>
              <a:buFontTx/>
              <a:buNone/>
              <a:tabLst/>
              <a:defRPr/>
            </a:pPr>
            <a:r>
              <a:rPr kumimoji="0" sz="10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rPr>
              <a:t>Business Analyst</a:t>
            </a:r>
            <a:endParaRPr kumimoji="0" sz="10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endParaRPr>
          </a:p>
        </p:txBody>
      </p:sp>
      <p:sp>
        <p:nvSpPr>
          <p:cNvPr id="468" name="object 83">
            <a:extLst>
              <a:ext uri="{FF2B5EF4-FFF2-40B4-BE49-F238E27FC236}">
                <a16:creationId xmlns:a16="http://schemas.microsoft.com/office/drawing/2014/main" id="{73757AA7-304C-4FD7-9AE8-C54386DD0582}"/>
              </a:ext>
            </a:extLst>
          </p:cNvPr>
          <p:cNvSpPr txBox="1"/>
          <p:nvPr/>
        </p:nvSpPr>
        <p:spPr>
          <a:xfrm>
            <a:off x="10932155" y="4699568"/>
            <a:ext cx="504000" cy="252131"/>
          </a:xfrm>
          <a:prstGeom prst="rect">
            <a:avLst/>
          </a:prstGeom>
        </p:spPr>
        <p:txBody>
          <a:bodyPr vert="horz" wrap="square" lIns="0" tIns="5853" rIns="0" bIns="0" rtlCol="0">
            <a:spAutoFit/>
          </a:bodyPr>
          <a:lstStyle/>
          <a:p>
            <a:pPr marL="6777" marR="3081" lvl="0" indent="0" algn="l" defTabSz="554492"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err="1">
                <a:ln>
                  <a:noFill/>
                </a:ln>
                <a:solidFill>
                  <a:schemeClr val="tx2"/>
                </a:solidFill>
                <a:effectLst/>
                <a:uLnTx/>
                <a:uFillTx/>
                <a:latin typeface="Arial Nova" panose="020B0504020202020204" pitchFamily="34" charset="0"/>
                <a:ea typeface="+mn-ea"/>
                <a:cs typeface="Proxima Nova Semibold"/>
              </a:rPr>
              <a:t>Conver-sion</a:t>
            </a:r>
            <a:r>
              <a:rPr kumimoji="0" sz="800" b="1" i="0" u="none" strike="noStrike" kern="1200" cap="none" spc="0" normalizeH="0" baseline="0" noProof="0">
                <a:ln>
                  <a:noFill/>
                </a:ln>
                <a:solidFill>
                  <a:schemeClr val="tx2"/>
                </a:solidFill>
                <a:effectLst/>
                <a:uLnTx/>
                <a:uFillTx/>
                <a:latin typeface="Arial Nova" panose="020B0504020202020204" pitchFamily="34" charset="0"/>
                <a:ea typeface="+mn-ea"/>
                <a:cs typeface="Proxima Nova Semibold"/>
              </a:rPr>
              <a:t>  Rate</a:t>
            </a:r>
            <a:endParaRPr kumimoji="0" sz="800" b="1" i="0" u="none" strike="noStrike" kern="1200" cap="none" spc="0" normalizeH="0" baseline="0" noProof="0">
              <a:ln>
                <a:noFill/>
              </a:ln>
              <a:solidFill>
                <a:schemeClr val="tx2"/>
              </a:solidFill>
              <a:effectLst/>
              <a:uLnTx/>
              <a:uFillTx/>
              <a:latin typeface="Arial Nova" panose="020B0504020202020204" pitchFamily="34" charset="0"/>
              <a:ea typeface="+mn-ea"/>
              <a:cs typeface="Proxima Nova"/>
            </a:endParaRPr>
          </a:p>
        </p:txBody>
      </p:sp>
      <p:sp>
        <p:nvSpPr>
          <p:cNvPr id="469" name="object 79">
            <a:extLst>
              <a:ext uri="{FF2B5EF4-FFF2-40B4-BE49-F238E27FC236}">
                <a16:creationId xmlns:a16="http://schemas.microsoft.com/office/drawing/2014/main" id="{BE5D6248-64A2-4982-BF0C-CD5C8CE0DD13}"/>
              </a:ext>
            </a:extLst>
          </p:cNvPr>
          <p:cNvSpPr txBox="1"/>
          <p:nvPr/>
        </p:nvSpPr>
        <p:spPr>
          <a:xfrm>
            <a:off x="9407797" y="4699566"/>
            <a:ext cx="923989" cy="254620"/>
          </a:xfrm>
          <a:prstGeom prst="rect">
            <a:avLst/>
          </a:prstGeom>
        </p:spPr>
        <p:txBody>
          <a:bodyPr vert="horz" wrap="square" lIns="0" tIns="8318" rIns="0" bIns="0" rtlCol="0">
            <a:spAutoFit/>
          </a:bodyPr>
          <a:lstStyle/>
          <a:p>
            <a:pPr marL="6161" marR="0" lvl="0" indent="0" algn="l" defTabSz="554492"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chemeClr val="tx2"/>
                </a:solidFill>
                <a:effectLst/>
                <a:uLnTx/>
                <a:uFillTx/>
                <a:latin typeface="Arial Nova" panose="020B0504020202020204" pitchFamily="34" charset="0"/>
                <a:ea typeface="+mn-ea"/>
                <a:cs typeface="Proxima Nova Semibold"/>
              </a:rPr>
              <a:t>Deep dive on segment 1 (Age)</a:t>
            </a:r>
          </a:p>
        </p:txBody>
      </p:sp>
      <p:cxnSp>
        <p:nvCxnSpPr>
          <p:cNvPr id="470" name="Straight Connector 469">
            <a:extLst>
              <a:ext uri="{FF2B5EF4-FFF2-40B4-BE49-F238E27FC236}">
                <a16:creationId xmlns:a16="http://schemas.microsoft.com/office/drawing/2014/main" id="{1500005C-76D7-48EC-B784-B84152036E71}"/>
              </a:ext>
            </a:extLst>
          </p:cNvPr>
          <p:cNvCxnSpPr>
            <a:cxnSpLocks/>
          </p:cNvCxnSpPr>
          <p:nvPr/>
        </p:nvCxnSpPr>
        <p:spPr>
          <a:xfrm flipH="1" flipV="1">
            <a:off x="11563349" y="5005155"/>
            <a:ext cx="1" cy="720000"/>
          </a:xfrm>
          <a:prstGeom prst="line">
            <a:avLst/>
          </a:prstGeom>
          <a:ln w="25400" cap="rnd">
            <a:solidFill>
              <a:schemeClr val="bg1">
                <a:lumMod val="85000"/>
              </a:schemeClr>
            </a:solidFill>
            <a:prstDash val="solid"/>
            <a:round/>
            <a:tailEnd type="none" w="med" len="sm"/>
          </a:ln>
        </p:spPr>
        <p:style>
          <a:lnRef idx="1">
            <a:schemeClr val="accent1"/>
          </a:lnRef>
          <a:fillRef idx="0">
            <a:schemeClr val="accent1"/>
          </a:fillRef>
          <a:effectRef idx="0">
            <a:schemeClr val="accent1"/>
          </a:effectRef>
          <a:fontRef idx="minor">
            <a:schemeClr val="tx1"/>
          </a:fontRef>
        </p:style>
      </p:cxnSp>
      <p:sp>
        <p:nvSpPr>
          <p:cNvPr id="471" name="object 81">
            <a:extLst>
              <a:ext uri="{FF2B5EF4-FFF2-40B4-BE49-F238E27FC236}">
                <a16:creationId xmlns:a16="http://schemas.microsoft.com/office/drawing/2014/main" id="{2AC98B57-9FE5-4B25-88B3-247540E3B19C}"/>
              </a:ext>
            </a:extLst>
          </p:cNvPr>
          <p:cNvSpPr txBox="1"/>
          <p:nvPr/>
        </p:nvSpPr>
        <p:spPr>
          <a:xfrm>
            <a:off x="10313976" y="4954186"/>
            <a:ext cx="504000" cy="595923"/>
          </a:xfrm>
          <a:prstGeom prst="rect">
            <a:avLst/>
          </a:prstGeom>
        </p:spPr>
        <p:txBody>
          <a:bodyPr vert="horz" wrap="square" lIns="0" tIns="72000" rIns="0" bIns="0" rtlCol="0" anchor="t" anchorCtr="0">
            <a:spAutoFit/>
          </a:bodyPr>
          <a:lstStyle/>
          <a:p>
            <a:pPr marL="6161" marR="0" lvl="0" indent="0" algn="l" defTabSz="554492"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XX</a:t>
            </a:r>
          </a:p>
          <a:p>
            <a:pPr marL="6161" marR="0" lvl="0" indent="0" algn="l" defTabSz="554492"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ZZ</a:t>
            </a:r>
          </a:p>
          <a:p>
            <a:pPr marL="6161" marR="0" lvl="0" indent="0" algn="l" defTabSz="554492"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ZZ</a:t>
            </a:r>
          </a:p>
        </p:txBody>
      </p:sp>
      <p:sp>
        <p:nvSpPr>
          <p:cNvPr id="472" name="object 81">
            <a:extLst>
              <a:ext uri="{FF2B5EF4-FFF2-40B4-BE49-F238E27FC236}">
                <a16:creationId xmlns:a16="http://schemas.microsoft.com/office/drawing/2014/main" id="{FD72D904-EA05-47C3-B123-1C87EFE668A3}"/>
              </a:ext>
            </a:extLst>
          </p:cNvPr>
          <p:cNvSpPr txBox="1"/>
          <p:nvPr/>
        </p:nvSpPr>
        <p:spPr>
          <a:xfrm>
            <a:off x="10932155" y="4954186"/>
            <a:ext cx="504000" cy="595923"/>
          </a:xfrm>
          <a:prstGeom prst="rect">
            <a:avLst/>
          </a:prstGeom>
        </p:spPr>
        <p:txBody>
          <a:bodyPr vert="horz" wrap="square" lIns="0" tIns="72000" rIns="0" bIns="0" rtlCol="0" anchor="t" anchorCtr="0">
            <a:spAutoFit/>
          </a:bodyPr>
          <a:lstStyle/>
          <a:p>
            <a:pPr marL="6161" marR="0" lvl="0" indent="0" algn="l" defTabSz="554492"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Y</a:t>
            </a:r>
          </a:p>
          <a:p>
            <a:pPr marL="6161" marR="0" lvl="0" indent="0" algn="l" defTabSz="554492"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Y</a:t>
            </a:r>
          </a:p>
          <a:p>
            <a:pPr marL="6161" marR="0" lvl="0" indent="0" algn="l" defTabSz="554492"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A</a:t>
            </a:r>
          </a:p>
        </p:txBody>
      </p:sp>
      <p:grpSp>
        <p:nvGrpSpPr>
          <p:cNvPr id="473" name="Group 472">
            <a:extLst>
              <a:ext uri="{FF2B5EF4-FFF2-40B4-BE49-F238E27FC236}">
                <a16:creationId xmlns:a16="http://schemas.microsoft.com/office/drawing/2014/main" id="{D132E463-906A-40B9-B463-F7A5015709D0}"/>
              </a:ext>
            </a:extLst>
          </p:cNvPr>
          <p:cNvGrpSpPr>
            <a:grpSpLocks noChangeAspect="1"/>
          </p:cNvGrpSpPr>
          <p:nvPr/>
        </p:nvGrpSpPr>
        <p:grpSpPr>
          <a:xfrm>
            <a:off x="9408415" y="3684539"/>
            <a:ext cx="860335" cy="658355"/>
            <a:chOff x="9407798" y="3717790"/>
            <a:chExt cx="869025" cy="665005"/>
          </a:xfrm>
        </p:grpSpPr>
        <p:sp>
          <p:nvSpPr>
            <p:cNvPr id="474" name="Freeform: Shape 473">
              <a:extLst>
                <a:ext uri="{FF2B5EF4-FFF2-40B4-BE49-F238E27FC236}">
                  <a16:creationId xmlns:a16="http://schemas.microsoft.com/office/drawing/2014/main" id="{A8A0A0D5-A8D2-4F6A-BA42-F20D896509CD}"/>
                </a:ext>
              </a:extLst>
            </p:cNvPr>
            <p:cNvSpPr/>
            <p:nvPr/>
          </p:nvSpPr>
          <p:spPr>
            <a:xfrm>
              <a:off x="9826274" y="3981381"/>
              <a:ext cx="237119" cy="224675"/>
            </a:xfrm>
            <a:custGeom>
              <a:avLst/>
              <a:gdLst>
                <a:gd name="connsiteX0" fmla="*/ 224775 w 237119"/>
                <a:gd name="connsiteY0" fmla="*/ 224676 h 224675"/>
                <a:gd name="connsiteX1" fmla="*/ 74396 w 237119"/>
                <a:gd name="connsiteY1" fmla="*/ 224676 h 224675"/>
                <a:gd name="connsiteX2" fmla="*/ 62614 w 237119"/>
                <a:gd name="connsiteY2" fmla="*/ 216000 h 224675"/>
                <a:gd name="connsiteX3" fmla="*/ 563 w 237119"/>
                <a:gd name="connsiteY3" fmla="*/ 15995 h 224675"/>
                <a:gd name="connsiteX4" fmla="*/ 12345 w 237119"/>
                <a:gd name="connsiteY4" fmla="*/ 0 h 224675"/>
                <a:gd name="connsiteX5" fmla="*/ 162724 w 237119"/>
                <a:gd name="connsiteY5" fmla="*/ 0 h 224675"/>
                <a:gd name="connsiteX6" fmla="*/ 174506 w 237119"/>
                <a:gd name="connsiteY6" fmla="*/ 8676 h 224675"/>
                <a:gd name="connsiteX7" fmla="*/ 236557 w 237119"/>
                <a:gd name="connsiteY7" fmla="*/ 208681 h 224675"/>
                <a:gd name="connsiteX8" fmla="*/ 224775 w 237119"/>
                <a:gd name="connsiteY8" fmla="*/ 224676 h 224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119" h="224675">
                  <a:moveTo>
                    <a:pt x="224775" y="224676"/>
                  </a:moveTo>
                  <a:lnTo>
                    <a:pt x="74396" y="224676"/>
                  </a:lnTo>
                  <a:cubicBezTo>
                    <a:pt x="68969" y="224676"/>
                    <a:pt x="64185" y="221141"/>
                    <a:pt x="62614" y="216000"/>
                  </a:cubicBezTo>
                  <a:lnTo>
                    <a:pt x="563" y="15995"/>
                  </a:lnTo>
                  <a:cubicBezTo>
                    <a:pt x="-1900" y="8033"/>
                    <a:pt x="4026" y="0"/>
                    <a:pt x="12345" y="0"/>
                  </a:cubicBezTo>
                  <a:lnTo>
                    <a:pt x="162724" y="0"/>
                  </a:lnTo>
                  <a:cubicBezTo>
                    <a:pt x="168151" y="0"/>
                    <a:pt x="172935" y="3535"/>
                    <a:pt x="174506" y="8676"/>
                  </a:cubicBezTo>
                  <a:lnTo>
                    <a:pt x="236557" y="208681"/>
                  </a:lnTo>
                  <a:cubicBezTo>
                    <a:pt x="239020" y="216643"/>
                    <a:pt x="233093" y="224676"/>
                    <a:pt x="224775" y="224676"/>
                  </a:cubicBezTo>
                  <a:close/>
                </a:path>
              </a:pathLst>
            </a:custGeom>
            <a:solidFill>
              <a:schemeClr val="tx2">
                <a:lumMod val="20000"/>
                <a:lumOff val="80000"/>
              </a:schemeClr>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75" name="Freeform: Shape 474">
              <a:extLst>
                <a:ext uri="{FF2B5EF4-FFF2-40B4-BE49-F238E27FC236}">
                  <a16:creationId xmlns:a16="http://schemas.microsoft.com/office/drawing/2014/main" id="{7B807B85-98C4-4000-848D-856E21EE1017}"/>
                </a:ext>
              </a:extLst>
            </p:cNvPr>
            <p:cNvSpPr/>
            <p:nvPr/>
          </p:nvSpPr>
          <p:spPr>
            <a:xfrm>
              <a:off x="9863669" y="3974205"/>
              <a:ext cx="107990" cy="16351"/>
            </a:xfrm>
            <a:custGeom>
              <a:avLst/>
              <a:gdLst>
                <a:gd name="connsiteX0" fmla="*/ 99801 w 107990"/>
                <a:gd name="connsiteY0" fmla="*/ 16352 h 16351"/>
                <a:gd name="connsiteX1" fmla="*/ 8189 w 107990"/>
                <a:gd name="connsiteY1" fmla="*/ 16352 h 16351"/>
                <a:gd name="connsiteX2" fmla="*/ 406 w 107990"/>
                <a:gd name="connsiteY2" fmla="*/ 10711 h 16351"/>
                <a:gd name="connsiteX3" fmla="*/ 8189 w 107990"/>
                <a:gd name="connsiteY3" fmla="*/ 0 h 16351"/>
                <a:gd name="connsiteX4" fmla="*/ 99801 w 107990"/>
                <a:gd name="connsiteY4" fmla="*/ 0 h 16351"/>
                <a:gd name="connsiteX5" fmla="*/ 107585 w 107990"/>
                <a:gd name="connsiteY5" fmla="*/ 5641 h 16351"/>
                <a:gd name="connsiteX6" fmla="*/ 99801 w 107990"/>
                <a:gd name="connsiteY6" fmla="*/ 16352 h 16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90" h="16351">
                  <a:moveTo>
                    <a:pt x="99801" y="16352"/>
                  </a:moveTo>
                  <a:lnTo>
                    <a:pt x="8189" y="16352"/>
                  </a:lnTo>
                  <a:cubicBezTo>
                    <a:pt x="4654" y="16352"/>
                    <a:pt x="1513" y="14067"/>
                    <a:pt x="406" y="10711"/>
                  </a:cubicBezTo>
                  <a:cubicBezTo>
                    <a:pt x="-1308" y="5427"/>
                    <a:pt x="2619" y="0"/>
                    <a:pt x="8189" y="0"/>
                  </a:cubicBezTo>
                  <a:lnTo>
                    <a:pt x="99801" y="0"/>
                  </a:lnTo>
                  <a:cubicBezTo>
                    <a:pt x="103336" y="0"/>
                    <a:pt x="106478" y="2285"/>
                    <a:pt x="107585" y="5641"/>
                  </a:cubicBezTo>
                  <a:cubicBezTo>
                    <a:pt x="109298" y="10925"/>
                    <a:pt x="105371" y="16352"/>
                    <a:pt x="99801" y="16352"/>
                  </a:cubicBezTo>
                  <a:close/>
                </a:path>
              </a:pathLst>
            </a:custGeom>
            <a:solidFill>
              <a:schemeClr val="tx2"/>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76" name="Freeform: Shape 475">
              <a:extLst>
                <a:ext uri="{FF2B5EF4-FFF2-40B4-BE49-F238E27FC236}">
                  <a16:creationId xmlns:a16="http://schemas.microsoft.com/office/drawing/2014/main" id="{904CCF9A-5C59-42D5-9777-C36AB3B65D93}"/>
                </a:ext>
              </a:extLst>
            </p:cNvPr>
            <p:cNvSpPr/>
            <p:nvPr/>
          </p:nvSpPr>
          <p:spPr>
            <a:xfrm>
              <a:off x="9881462" y="4019011"/>
              <a:ext cx="93004" cy="5640"/>
            </a:xfrm>
            <a:custGeom>
              <a:avLst/>
              <a:gdLst>
                <a:gd name="connsiteX0" fmla="*/ 90184 w 93004"/>
                <a:gd name="connsiteY0" fmla="*/ 5641 h 5640"/>
                <a:gd name="connsiteX1" fmla="*/ 2821 w 93004"/>
                <a:gd name="connsiteY1" fmla="*/ 5641 h 5640"/>
                <a:gd name="connsiteX2" fmla="*/ 0 w 93004"/>
                <a:gd name="connsiteY2" fmla="*/ 2820 h 5640"/>
                <a:gd name="connsiteX3" fmla="*/ 2821 w 93004"/>
                <a:gd name="connsiteY3" fmla="*/ 0 h 5640"/>
                <a:gd name="connsiteX4" fmla="*/ 90184 w 93004"/>
                <a:gd name="connsiteY4" fmla="*/ 0 h 5640"/>
                <a:gd name="connsiteX5" fmla="*/ 93005 w 93004"/>
                <a:gd name="connsiteY5" fmla="*/ 2820 h 5640"/>
                <a:gd name="connsiteX6" fmla="*/ 90184 w 93004"/>
                <a:gd name="connsiteY6" fmla="*/ 5641 h 5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004" h="5640">
                  <a:moveTo>
                    <a:pt x="90184" y="5641"/>
                  </a:moveTo>
                  <a:lnTo>
                    <a:pt x="2821" y="5641"/>
                  </a:lnTo>
                  <a:cubicBezTo>
                    <a:pt x="1250" y="5641"/>
                    <a:pt x="0" y="4356"/>
                    <a:pt x="0" y="2820"/>
                  </a:cubicBezTo>
                  <a:cubicBezTo>
                    <a:pt x="0" y="1285"/>
                    <a:pt x="1285" y="0"/>
                    <a:pt x="2821" y="0"/>
                  </a:cubicBezTo>
                  <a:lnTo>
                    <a:pt x="90184" y="0"/>
                  </a:lnTo>
                  <a:cubicBezTo>
                    <a:pt x="91755" y="0"/>
                    <a:pt x="93005" y="1285"/>
                    <a:pt x="93005" y="2820"/>
                  </a:cubicBezTo>
                  <a:cubicBezTo>
                    <a:pt x="93005" y="4356"/>
                    <a:pt x="91720" y="5641"/>
                    <a:pt x="90184" y="5641"/>
                  </a:cubicBezTo>
                  <a:close/>
                </a:path>
              </a:pathLst>
            </a:custGeom>
            <a:solidFill>
              <a:schemeClr val="tx2"/>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77" name="Freeform: Shape 476">
              <a:extLst>
                <a:ext uri="{FF2B5EF4-FFF2-40B4-BE49-F238E27FC236}">
                  <a16:creationId xmlns:a16="http://schemas.microsoft.com/office/drawing/2014/main" id="{A1465BA2-0852-416B-9144-5D9AE28B6AEC}"/>
                </a:ext>
              </a:extLst>
            </p:cNvPr>
            <p:cNvSpPr/>
            <p:nvPr/>
          </p:nvSpPr>
          <p:spPr>
            <a:xfrm>
              <a:off x="9891638" y="4047716"/>
              <a:ext cx="93004" cy="5640"/>
            </a:xfrm>
            <a:custGeom>
              <a:avLst/>
              <a:gdLst>
                <a:gd name="connsiteX0" fmla="*/ 90184 w 93004"/>
                <a:gd name="connsiteY0" fmla="*/ 5641 h 5640"/>
                <a:gd name="connsiteX1" fmla="*/ 2820 w 93004"/>
                <a:gd name="connsiteY1" fmla="*/ 5641 h 5640"/>
                <a:gd name="connsiteX2" fmla="*/ 0 w 93004"/>
                <a:gd name="connsiteY2" fmla="*/ 2820 h 5640"/>
                <a:gd name="connsiteX3" fmla="*/ 2820 w 93004"/>
                <a:gd name="connsiteY3" fmla="*/ 0 h 5640"/>
                <a:gd name="connsiteX4" fmla="*/ 90184 w 93004"/>
                <a:gd name="connsiteY4" fmla="*/ 0 h 5640"/>
                <a:gd name="connsiteX5" fmla="*/ 93005 w 93004"/>
                <a:gd name="connsiteY5" fmla="*/ 2820 h 5640"/>
                <a:gd name="connsiteX6" fmla="*/ 90184 w 93004"/>
                <a:gd name="connsiteY6" fmla="*/ 5641 h 5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004" h="5640">
                  <a:moveTo>
                    <a:pt x="90184" y="5641"/>
                  </a:moveTo>
                  <a:lnTo>
                    <a:pt x="2820" y="5641"/>
                  </a:lnTo>
                  <a:cubicBezTo>
                    <a:pt x="1250" y="5641"/>
                    <a:pt x="0" y="4356"/>
                    <a:pt x="0" y="2820"/>
                  </a:cubicBezTo>
                  <a:cubicBezTo>
                    <a:pt x="0" y="1285"/>
                    <a:pt x="1285" y="0"/>
                    <a:pt x="2820" y="0"/>
                  </a:cubicBezTo>
                  <a:lnTo>
                    <a:pt x="90184" y="0"/>
                  </a:lnTo>
                  <a:cubicBezTo>
                    <a:pt x="91755" y="0"/>
                    <a:pt x="93005" y="1285"/>
                    <a:pt x="93005" y="2820"/>
                  </a:cubicBezTo>
                  <a:cubicBezTo>
                    <a:pt x="93005" y="4356"/>
                    <a:pt x="91720" y="5641"/>
                    <a:pt x="90184" y="5641"/>
                  </a:cubicBezTo>
                  <a:close/>
                </a:path>
              </a:pathLst>
            </a:custGeom>
            <a:solidFill>
              <a:schemeClr val="tx2"/>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78" name="Freeform: Shape 477">
              <a:extLst>
                <a:ext uri="{FF2B5EF4-FFF2-40B4-BE49-F238E27FC236}">
                  <a16:creationId xmlns:a16="http://schemas.microsoft.com/office/drawing/2014/main" id="{19D6357F-D6FA-4BC3-9BD1-8146CFA8FB6E}"/>
                </a:ext>
              </a:extLst>
            </p:cNvPr>
            <p:cNvSpPr/>
            <p:nvPr/>
          </p:nvSpPr>
          <p:spPr>
            <a:xfrm>
              <a:off x="9821289" y="4025009"/>
              <a:ext cx="89234" cy="169729"/>
            </a:xfrm>
            <a:custGeom>
              <a:avLst/>
              <a:gdLst>
                <a:gd name="connsiteX0" fmla="*/ 89235 w 89234"/>
                <a:gd name="connsiteY0" fmla="*/ 149772 h 169729"/>
                <a:gd name="connsiteX1" fmla="*/ 80595 w 89234"/>
                <a:gd name="connsiteY1" fmla="*/ 107929 h 169729"/>
                <a:gd name="connsiteX2" fmla="*/ 78381 w 89234"/>
                <a:gd name="connsiteY2" fmla="*/ 70084 h 169729"/>
                <a:gd name="connsiteX3" fmla="*/ 59459 w 89234"/>
                <a:gd name="connsiteY3" fmla="*/ 44128 h 169729"/>
                <a:gd name="connsiteX4" fmla="*/ 39501 w 89234"/>
                <a:gd name="connsiteY4" fmla="*/ 5748 h 169729"/>
                <a:gd name="connsiteX5" fmla="*/ 26970 w 89234"/>
                <a:gd name="connsiteY5" fmla="*/ 41415 h 169729"/>
                <a:gd name="connsiteX6" fmla="*/ 14117 w 89234"/>
                <a:gd name="connsiteY6" fmla="*/ 0 h 169729"/>
                <a:gd name="connsiteX7" fmla="*/ 586 w 89234"/>
                <a:gd name="connsiteY7" fmla="*/ 55803 h 169729"/>
                <a:gd name="connsiteX8" fmla="*/ 23435 w 89234"/>
                <a:gd name="connsiteY8" fmla="*/ 121603 h 169729"/>
                <a:gd name="connsiteX9" fmla="*/ 16402 w 89234"/>
                <a:gd name="connsiteY9" fmla="*/ 169730 h 169729"/>
                <a:gd name="connsiteX10" fmla="*/ 89199 w 89234"/>
                <a:gd name="connsiteY10" fmla="*/ 149772 h 169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234" h="169729">
                  <a:moveTo>
                    <a:pt x="89235" y="149772"/>
                  </a:moveTo>
                  <a:lnTo>
                    <a:pt x="80595" y="107929"/>
                  </a:lnTo>
                  <a:cubicBezTo>
                    <a:pt x="80595" y="107929"/>
                    <a:pt x="88842" y="81366"/>
                    <a:pt x="78381" y="70084"/>
                  </a:cubicBezTo>
                  <a:cubicBezTo>
                    <a:pt x="67921" y="58802"/>
                    <a:pt x="63386" y="59730"/>
                    <a:pt x="59459" y="44128"/>
                  </a:cubicBezTo>
                  <a:cubicBezTo>
                    <a:pt x="55532" y="28526"/>
                    <a:pt x="57888" y="6069"/>
                    <a:pt x="39501" y="5748"/>
                  </a:cubicBezTo>
                  <a:cubicBezTo>
                    <a:pt x="21115" y="5427"/>
                    <a:pt x="26970" y="41415"/>
                    <a:pt x="26970" y="41415"/>
                  </a:cubicBezTo>
                  <a:lnTo>
                    <a:pt x="14117" y="0"/>
                  </a:lnTo>
                  <a:cubicBezTo>
                    <a:pt x="14117" y="0"/>
                    <a:pt x="5513" y="43200"/>
                    <a:pt x="586" y="55803"/>
                  </a:cubicBezTo>
                  <a:cubicBezTo>
                    <a:pt x="-4341" y="68406"/>
                    <a:pt x="23435" y="121603"/>
                    <a:pt x="23435" y="121603"/>
                  </a:cubicBezTo>
                  <a:lnTo>
                    <a:pt x="16402" y="169730"/>
                  </a:lnTo>
                  <a:lnTo>
                    <a:pt x="89199" y="149772"/>
                  </a:lnTo>
                  <a:close/>
                </a:path>
              </a:pathLst>
            </a:custGeom>
            <a:solidFill>
              <a:srgbClr val="FFBEBB"/>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79" name="Freeform: Shape 478">
              <a:extLst>
                <a:ext uri="{FF2B5EF4-FFF2-40B4-BE49-F238E27FC236}">
                  <a16:creationId xmlns:a16="http://schemas.microsoft.com/office/drawing/2014/main" id="{8C37129B-D4F4-4C7B-B181-A33A0AEDCFCD}"/>
                </a:ext>
              </a:extLst>
            </p:cNvPr>
            <p:cNvSpPr/>
            <p:nvPr/>
          </p:nvSpPr>
          <p:spPr>
            <a:xfrm>
              <a:off x="9845420" y="4063585"/>
              <a:ext cx="9213" cy="36185"/>
            </a:xfrm>
            <a:custGeom>
              <a:avLst/>
              <a:gdLst>
                <a:gd name="connsiteX0" fmla="*/ 6374 w 9213"/>
                <a:gd name="connsiteY0" fmla="*/ 36185 h 36185"/>
                <a:gd name="connsiteX1" fmla="*/ 3553 w 9213"/>
                <a:gd name="connsiteY1" fmla="*/ 33686 h 36185"/>
                <a:gd name="connsiteX2" fmla="*/ 19 w 9213"/>
                <a:gd name="connsiteY2" fmla="*/ 3161 h 36185"/>
                <a:gd name="connsiteX3" fmla="*/ 2518 w 9213"/>
                <a:gd name="connsiteY3" fmla="*/ 19 h 36185"/>
                <a:gd name="connsiteX4" fmla="*/ 5660 w 9213"/>
                <a:gd name="connsiteY4" fmla="*/ 2518 h 36185"/>
                <a:gd name="connsiteX5" fmla="*/ 9194 w 9213"/>
                <a:gd name="connsiteY5" fmla="*/ 33044 h 36185"/>
                <a:gd name="connsiteX6" fmla="*/ 6695 w 9213"/>
                <a:gd name="connsiteY6" fmla="*/ 36185 h 36185"/>
                <a:gd name="connsiteX7" fmla="*/ 6374 w 9213"/>
                <a:gd name="connsiteY7" fmla="*/ 36185 h 36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13" h="36185">
                  <a:moveTo>
                    <a:pt x="6374" y="36185"/>
                  </a:moveTo>
                  <a:cubicBezTo>
                    <a:pt x="4946" y="36185"/>
                    <a:pt x="3732" y="35114"/>
                    <a:pt x="3553" y="33686"/>
                  </a:cubicBezTo>
                  <a:lnTo>
                    <a:pt x="19" y="3161"/>
                  </a:lnTo>
                  <a:cubicBezTo>
                    <a:pt x="-160" y="1590"/>
                    <a:pt x="947" y="197"/>
                    <a:pt x="2518" y="19"/>
                  </a:cubicBezTo>
                  <a:cubicBezTo>
                    <a:pt x="4089" y="-160"/>
                    <a:pt x="5481" y="947"/>
                    <a:pt x="5660" y="2518"/>
                  </a:cubicBezTo>
                  <a:lnTo>
                    <a:pt x="9194" y="33044"/>
                  </a:lnTo>
                  <a:cubicBezTo>
                    <a:pt x="9373" y="34615"/>
                    <a:pt x="8266" y="36007"/>
                    <a:pt x="6695" y="36185"/>
                  </a:cubicBezTo>
                  <a:cubicBezTo>
                    <a:pt x="6588" y="36185"/>
                    <a:pt x="6481" y="36185"/>
                    <a:pt x="6374" y="36185"/>
                  </a:cubicBezTo>
                  <a:close/>
                </a:path>
              </a:pathLst>
            </a:custGeom>
            <a:solidFill>
              <a:srgbClr val="F47C73"/>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80" name="Freeform: Shape 479">
              <a:extLst>
                <a:ext uri="{FF2B5EF4-FFF2-40B4-BE49-F238E27FC236}">
                  <a16:creationId xmlns:a16="http://schemas.microsoft.com/office/drawing/2014/main" id="{713C81E1-5E23-4464-BF1D-511050AD92EB}"/>
                </a:ext>
              </a:extLst>
            </p:cNvPr>
            <p:cNvSpPr/>
            <p:nvPr/>
          </p:nvSpPr>
          <p:spPr>
            <a:xfrm>
              <a:off x="9830388" y="4121922"/>
              <a:ext cx="85741" cy="32830"/>
            </a:xfrm>
            <a:custGeom>
              <a:avLst/>
              <a:gdLst>
                <a:gd name="connsiteX0" fmla="*/ 76994 w 85741"/>
                <a:gd name="connsiteY0" fmla="*/ 127 h 32830"/>
                <a:gd name="connsiteX1" fmla="*/ 5018 w 85741"/>
                <a:gd name="connsiteY1" fmla="*/ 12587 h 32830"/>
                <a:gd name="connsiteX2" fmla="*/ 20 w 85741"/>
                <a:gd name="connsiteY2" fmla="*/ 19049 h 32830"/>
                <a:gd name="connsiteX3" fmla="*/ 1234 w 85741"/>
                <a:gd name="connsiteY3" fmla="*/ 32830 h 32830"/>
                <a:gd name="connsiteX4" fmla="*/ 85741 w 85741"/>
                <a:gd name="connsiteY4" fmla="*/ 14658 h 32830"/>
                <a:gd name="connsiteX5" fmla="*/ 83956 w 85741"/>
                <a:gd name="connsiteY5" fmla="*/ 4947 h 32830"/>
                <a:gd name="connsiteX6" fmla="*/ 76994 w 85741"/>
                <a:gd name="connsiteY6" fmla="*/ 91 h 32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41" h="32830">
                  <a:moveTo>
                    <a:pt x="76994" y="127"/>
                  </a:moveTo>
                  <a:lnTo>
                    <a:pt x="5018" y="12587"/>
                  </a:lnTo>
                  <a:cubicBezTo>
                    <a:pt x="1912" y="13122"/>
                    <a:pt x="-230" y="15943"/>
                    <a:pt x="20" y="19049"/>
                  </a:cubicBezTo>
                  <a:lnTo>
                    <a:pt x="1234" y="32830"/>
                  </a:lnTo>
                  <a:lnTo>
                    <a:pt x="85741" y="14658"/>
                  </a:lnTo>
                  <a:lnTo>
                    <a:pt x="83956" y="4947"/>
                  </a:lnTo>
                  <a:cubicBezTo>
                    <a:pt x="83349" y="1698"/>
                    <a:pt x="80243" y="-480"/>
                    <a:pt x="76994" y="91"/>
                  </a:cubicBezTo>
                  <a:close/>
                </a:path>
              </a:pathLst>
            </a:custGeom>
            <a:solidFill>
              <a:srgbClr val="F3F2FF"/>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81" name="Freeform: Shape 480">
              <a:extLst>
                <a:ext uri="{FF2B5EF4-FFF2-40B4-BE49-F238E27FC236}">
                  <a16:creationId xmlns:a16="http://schemas.microsoft.com/office/drawing/2014/main" id="{3F6BCC2A-CD8F-4898-80D2-DA99752FDA37}"/>
                </a:ext>
              </a:extLst>
            </p:cNvPr>
            <p:cNvSpPr/>
            <p:nvPr/>
          </p:nvSpPr>
          <p:spPr>
            <a:xfrm>
              <a:off x="10021099" y="3889911"/>
              <a:ext cx="147595" cy="166736"/>
            </a:xfrm>
            <a:custGeom>
              <a:avLst/>
              <a:gdLst>
                <a:gd name="connsiteX0" fmla="*/ 94250 w 147595"/>
                <a:gd name="connsiteY0" fmla="*/ 26598 h 166736"/>
                <a:gd name="connsiteX1" fmla="*/ 66795 w 147595"/>
                <a:gd name="connsiteY1" fmla="*/ 0 h 166736"/>
                <a:gd name="connsiteX2" fmla="*/ 44124 w 147595"/>
                <a:gd name="connsiteY2" fmla="*/ 15959 h 166736"/>
                <a:gd name="connsiteX3" fmla="*/ 3031 w 147595"/>
                <a:gd name="connsiteY3" fmla="*/ 32025 h 166736"/>
                <a:gd name="connsiteX4" fmla="*/ 11206 w 147595"/>
                <a:gd name="connsiteY4" fmla="*/ 65336 h 166736"/>
                <a:gd name="connsiteX5" fmla="*/ 58548 w 147595"/>
                <a:gd name="connsiteY5" fmla="*/ 164446 h 166736"/>
                <a:gd name="connsiteX6" fmla="*/ 145305 w 147595"/>
                <a:gd name="connsiteY6" fmla="*/ 113391 h 166736"/>
                <a:gd name="connsiteX7" fmla="*/ 94250 w 147595"/>
                <a:gd name="connsiteY7" fmla="*/ 26634 h 166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595" h="166736">
                  <a:moveTo>
                    <a:pt x="94250" y="26598"/>
                  </a:moveTo>
                  <a:cubicBezTo>
                    <a:pt x="92751" y="26206"/>
                    <a:pt x="96428" y="36"/>
                    <a:pt x="66795" y="0"/>
                  </a:cubicBezTo>
                  <a:cubicBezTo>
                    <a:pt x="49408" y="0"/>
                    <a:pt x="44731" y="9211"/>
                    <a:pt x="44124" y="15959"/>
                  </a:cubicBezTo>
                  <a:cubicBezTo>
                    <a:pt x="26309" y="10497"/>
                    <a:pt x="11028" y="16744"/>
                    <a:pt x="3031" y="32025"/>
                  </a:cubicBezTo>
                  <a:cubicBezTo>
                    <a:pt x="-7038" y="51233"/>
                    <a:pt x="11206" y="65336"/>
                    <a:pt x="11206" y="65336"/>
                  </a:cubicBezTo>
                  <a:cubicBezTo>
                    <a:pt x="11206" y="65336"/>
                    <a:pt x="24952" y="155734"/>
                    <a:pt x="58548" y="164446"/>
                  </a:cubicBezTo>
                  <a:cubicBezTo>
                    <a:pt x="96607" y="174299"/>
                    <a:pt x="135451" y="151450"/>
                    <a:pt x="145305" y="113391"/>
                  </a:cubicBezTo>
                  <a:cubicBezTo>
                    <a:pt x="155159" y="75332"/>
                    <a:pt x="132309" y="36488"/>
                    <a:pt x="94250" y="26634"/>
                  </a:cubicBezTo>
                  <a:close/>
                </a:path>
              </a:pathLst>
            </a:custGeom>
            <a:solidFill>
              <a:schemeClr val="accent2"/>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82" name="Freeform: Shape 481">
              <a:extLst>
                <a:ext uri="{FF2B5EF4-FFF2-40B4-BE49-F238E27FC236}">
                  <a16:creationId xmlns:a16="http://schemas.microsoft.com/office/drawing/2014/main" id="{9646AF4D-DB15-4DCB-97AE-12C807982DB1}"/>
                </a:ext>
              </a:extLst>
            </p:cNvPr>
            <p:cNvSpPr/>
            <p:nvPr/>
          </p:nvSpPr>
          <p:spPr>
            <a:xfrm>
              <a:off x="10008880" y="3939573"/>
              <a:ext cx="118465" cy="152092"/>
            </a:xfrm>
            <a:custGeom>
              <a:avLst/>
              <a:gdLst>
                <a:gd name="connsiteX0" fmla="*/ 118466 w 118465"/>
                <a:gd name="connsiteY0" fmla="*/ 152057 h 152092"/>
                <a:gd name="connsiteX1" fmla="*/ 111718 w 118465"/>
                <a:gd name="connsiteY1" fmla="*/ 113213 h 152092"/>
                <a:gd name="connsiteX2" fmla="*/ 63234 w 118465"/>
                <a:gd name="connsiteY2" fmla="*/ 67728 h 152092"/>
                <a:gd name="connsiteX3" fmla="*/ 66161 w 118465"/>
                <a:gd name="connsiteY3" fmla="*/ 66906 h 152092"/>
                <a:gd name="connsiteX4" fmla="*/ 76265 w 118465"/>
                <a:gd name="connsiteY4" fmla="*/ 37845 h 152092"/>
                <a:gd name="connsiteX5" fmla="*/ 60913 w 118465"/>
                <a:gd name="connsiteY5" fmla="*/ 40701 h 152092"/>
                <a:gd name="connsiteX6" fmla="*/ 59128 w 118465"/>
                <a:gd name="connsiteY6" fmla="*/ 9925 h 152092"/>
                <a:gd name="connsiteX7" fmla="*/ 57271 w 118465"/>
                <a:gd name="connsiteY7" fmla="*/ 6712 h 152092"/>
                <a:gd name="connsiteX8" fmla="*/ 33672 w 118465"/>
                <a:gd name="connsiteY8" fmla="*/ 750 h 152092"/>
                <a:gd name="connsiteX9" fmla="*/ 28460 w 118465"/>
                <a:gd name="connsiteY9" fmla="*/ 0 h 152092"/>
                <a:gd name="connsiteX10" fmla="*/ 24818 w 118465"/>
                <a:gd name="connsiteY10" fmla="*/ 9533 h 152092"/>
                <a:gd name="connsiteX11" fmla="*/ 16321 w 118465"/>
                <a:gd name="connsiteY11" fmla="*/ 33703 h 152092"/>
                <a:gd name="connsiteX12" fmla="*/ 219 w 118465"/>
                <a:gd name="connsiteY12" fmla="*/ 39808 h 152092"/>
                <a:gd name="connsiteX13" fmla="*/ 8788 w 118465"/>
                <a:gd name="connsiteY13" fmla="*/ 56124 h 152092"/>
                <a:gd name="connsiteX14" fmla="*/ 41170 w 118465"/>
                <a:gd name="connsiteY14" fmla="*/ 105429 h 152092"/>
                <a:gd name="connsiteX15" fmla="*/ 34886 w 118465"/>
                <a:gd name="connsiteY15" fmla="*/ 147880 h 152092"/>
                <a:gd name="connsiteX16" fmla="*/ 118466 w 118465"/>
                <a:gd name="connsiteY16" fmla="*/ 152093 h 15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8465" h="152092">
                  <a:moveTo>
                    <a:pt x="118466" y="152057"/>
                  </a:moveTo>
                  <a:lnTo>
                    <a:pt x="111718" y="113213"/>
                  </a:lnTo>
                  <a:cubicBezTo>
                    <a:pt x="111718" y="113213"/>
                    <a:pt x="80407" y="106143"/>
                    <a:pt x="63234" y="67728"/>
                  </a:cubicBezTo>
                  <a:cubicBezTo>
                    <a:pt x="64126" y="67513"/>
                    <a:pt x="65090" y="67263"/>
                    <a:pt x="66161" y="66906"/>
                  </a:cubicBezTo>
                  <a:cubicBezTo>
                    <a:pt x="90903" y="58838"/>
                    <a:pt x="84727" y="43700"/>
                    <a:pt x="76265" y="37845"/>
                  </a:cubicBezTo>
                  <a:cubicBezTo>
                    <a:pt x="72516" y="35238"/>
                    <a:pt x="67125" y="36381"/>
                    <a:pt x="60913" y="40701"/>
                  </a:cubicBezTo>
                  <a:cubicBezTo>
                    <a:pt x="47810" y="35881"/>
                    <a:pt x="57557" y="16495"/>
                    <a:pt x="59128" y="9925"/>
                  </a:cubicBezTo>
                  <a:cubicBezTo>
                    <a:pt x="59449" y="8533"/>
                    <a:pt x="58628" y="7141"/>
                    <a:pt x="57271" y="6712"/>
                  </a:cubicBezTo>
                  <a:cubicBezTo>
                    <a:pt x="51880" y="5105"/>
                    <a:pt x="38920" y="1571"/>
                    <a:pt x="33672" y="750"/>
                  </a:cubicBezTo>
                  <a:cubicBezTo>
                    <a:pt x="30566" y="250"/>
                    <a:pt x="28460" y="0"/>
                    <a:pt x="28460" y="0"/>
                  </a:cubicBezTo>
                  <a:lnTo>
                    <a:pt x="24818" y="9533"/>
                  </a:lnTo>
                  <a:cubicBezTo>
                    <a:pt x="22283" y="16959"/>
                    <a:pt x="19177" y="25813"/>
                    <a:pt x="16321" y="33703"/>
                  </a:cubicBezTo>
                  <a:cubicBezTo>
                    <a:pt x="16321" y="33703"/>
                    <a:pt x="1790" y="35810"/>
                    <a:pt x="219" y="39808"/>
                  </a:cubicBezTo>
                  <a:cubicBezTo>
                    <a:pt x="-1459" y="44093"/>
                    <a:pt x="7002" y="53518"/>
                    <a:pt x="8788" y="56124"/>
                  </a:cubicBezTo>
                  <a:cubicBezTo>
                    <a:pt x="1647" y="89185"/>
                    <a:pt x="4218" y="100360"/>
                    <a:pt x="41170" y="105429"/>
                  </a:cubicBezTo>
                  <a:lnTo>
                    <a:pt x="34886" y="147880"/>
                  </a:lnTo>
                  <a:lnTo>
                    <a:pt x="118466" y="152093"/>
                  </a:lnTo>
                  <a:close/>
                </a:path>
              </a:pathLst>
            </a:custGeom>
            <a:solidFill>
              <a:srgbClr val="FFBEBB"/>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83" name="Freeform: Shape 482">
              <a:extLst>
                <a:ext uri="{FF2B5EF4-FFF2-40B4-BE49-F238E27FC236}">
                  <a16:creationId xmlns:a16="http://schemas.microsoft.com/office/drawing/2014/main" id="{FBC6AD13-EFF2-410E-B905-E5772E6DCA8F}"/>
                </a:ext>
              </a:extLst>
            </p:cNvPr>
            <p:cNvSpPr/>
            <p:nvPr/>
          </p:nvSpPr>
          <p:spPr>
            <a:xfrm>
              <a:off x="10034477" y="3952995"/>
              <a:ext cx="20166" cy="11712"/>
            </a:xfrm>
            <a:custGeom>
              <a:avLst/>
              <a:gdLst>
                <a:gd name="connsiteX0" fmla="*/ 17286 w 20166"/>
                <a:gd name="connsiteY0" fmla="*/ 11713 h 11712"/>
                <a:gd name="connsiteX1" fmla="*/ 14858 w 20166"/>
                <a:gd name="connsiteY1" fmla="*/ 10356 h 11712"/>
                <a:gd name="connsiteX2" fmla="*/ 4004 w 20166"/>
                <a:gd name="connsiteY2" fmla="*/ 6500 h 11712"/>
                <a:gd name="connsiteX3" fmla="*/ 256 w 20166"/>
                <a:gd name="connsiteY3" fmla="*/ 5108 h 11712"/>
                <a:gd name="connsiteX4" fmla="*/ 1648 w 20166"/>
                <a:gd name="connsiteY4" fmla="*/ 1359 h 11712"/>
                <a:gd name="connsiteX5" fmla="*/ 19749 w 20166"/>
                <a:gd name="connsiteY5" fmla="*/ 7393 h 11712"/>
                <a:gd name="connsiteX6" fmla="*/ 18785 w 20166"/>
                <a:gd name="connsiteY6" fmla="*/ 11284 h 11712"/>
                <a:gd name="connsiteX7" fmla="*/ 17321 w 20166"/>
                <a:gd name="connsiteY7" fmla="*/ 11677 h 11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166" h="11712">
                  <a:moveTo>
                    <a:pt x="17286" y="11713"/>
                  </a:moveTo>
                  <a:cubicBezTo>
                    <a:pt x="16322" y="11713"/>
                    <a:pt x="15394" y="11213"/>
                    <a:pt x="14858" y="10356"/>
                  </a:cubicBezTo>
                  <a:cubicBezTo>
                    <a:pt x="14430" y="9642"/>
                    <a:pt x="10395" y="3537"/>
                    <a:pt x="4004" y="6500"/>
                  </a:cubicBezTo>
                  <a:cubicBezTo>
                    <a:pt x="2576" y="7143"/>
                    <a:pt x="898" y="6536"/>
                    <a:pt x="256" y="5108"/>
                  </a:cubicBezTo>
                  <a:cubicBezTo>
                    <a:pt x="-387" y="3680"/>
                    <a:pt x="220" y="2002"/>
                    <a:pt x="1648" y="1359"/>
                  </a:cubicBezTo>
                  <a:cubicBezTo>
                    <a:pt x="10574" y="-2782"/>
                    <a:pt x="17393" y="3501"/>
                    <a:pt x="19749" y="7393"/>
                  </a:cubicBezTo>
                  <a:cubicBezTo>
                    <a:pt x="20570" y="8750"/>
                    <a:pt x="20142" y="10463"/>
                    <a:pt x="18785" y="11284"/>
                  </a:cubicBezTo>
                  <a:cubicBezTo>
                    <a:pt x="18321" y="11570"/>
                    <a:pt x="17821" y="11677"/>
                    <a:pt x="17321" y="11677"/>
                  </a:cubicBezTo>
                  <a:close/>
                </a:path>
              </a:pathLst>
            </a:custGeom>
            <a:solidFill>
              <a:schemeClr val="accent2"/>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84" name="Freeform: Shape 483">
              <a:extLst>
                <a:ext uri="{FF2B5EF4-FFF2-40B4-BE49-F238E27FC236}">
                  <a16:creationId xmlns:a16="http://schemas.microsoft.com/office/drawing/2014/main" id="{BEB74DC8-233E-4718-96FC-6C44C6FCE313}"/>
                </a:ext>
              </a:extLst>
            </p:cNvPr>
            <p:cNvSpPr/>
            <p:nvPr/>
          </p:nvSpPr>
          <p:spPr>
            <a:xfrm>
              <a:off x="10047158" y="4044931"/>
              <a:ext cx="28838" cy="19564"/>
            </a:xfrm>
            <a:custGeom>
              <a:avLst/>
              <a:gdLst>
                <a:gd name="connsiteX0" fmla="*/ 2892 w 28838"/>
                <a:gd name="connsiteY0" fmla="*/ 0 h 19564"/>
                <a:gd name="connsiteX1" fmla="*/ 27884 w 28838"/>
                <a:gd name="connsiteY1" fmla="*/ 2428 h 19564"/>
                <a:gd name="connsiteX2" fmla="*/ 28276 w 28838"/>
                <a:gd name="connsiteY2" fmla="*/ 4391 h 19564"/>
                <a:gd name="connsiteX3" fmla="*/ 0 w 28838"/>
                <a:gd name="connsiteY3" fmla="*/ 19565 h 19564"/>
                <a:gd name="connsiteX4" fmla="*/ 2892 w 28838"/>
                <a:gd name="connsiteY4" fmla="*/ 0 h 19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38" h="19564">
                  <a:moveTo>
                    <a:pt x="2892" y="0"/>
                  </a:moveTo>
                  <a:lnTo>
                    <a:pt x="27884" y="2428"/>
                  </a:lnTo>
                  <a:cubicBezTo>
                    <a:pt x="28919" y="2535"/>
                    <a:pt x="29205" y="3892"/>
                    <a:pt x="28276" y="4391"/>
                  </a:cubicBezTo>
                  <a:lnTo>
                    <a:pt x="0" y="19565"/>
                  </a:lnTo>
                  <a:lnTo>
                    <a:pt x="2892" y="0"/>
                  </a:lnTo>
                  <a:close/>
                </a:path>
              </a:pathLst>
            </a:custGeom>
            <a:solidFill>
              <a:srgbClr val="F47C73"/>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85" name="Freeform: Shape 484">
              <a:extLst>
                <a:ext uri="{FF2B5EF4-FFF2-40B4-BE49-F238E27FC236}">
                  <a16:creationId xmlns:a16="http://schemas.microsoft.com/office/drawing/2014/main" id="{E74252C5-3BA0-4745-80BB-F7A7AB925F71}"/>
                </a:ext>
              </a:extLst>
            </p:cNvPr>
            <p:cNvSpPr/>
            <p:nvPr/>
          </p:nvSpPr>
          <p:spPr>
            <a:xfrm>
              <a:off x="10070480" y="3982323"/>
              <a:ext cx="15990" cy="16060"/>
            </a:xfrm>
            <a:custGeom>
              <a:avLst/>
              <a:gdLst>
                <a:gd name="connsiteX0" fmla="*/ 3026 w 15990"/>
                <a:gd name="connsiteY0" fmla="*/ 4770 h 16060"/>
                <a:gd name="connsiteX1" fmla="*/ 12059 w 15990"/>
                <a:gd name="connsiteY1" fmla="*/ 914 h 16060"/>
                <a:gd name="connsiteX2" fmla="*/ 8489 w 15990"/>
                <a:gd name="connsiteY2" fmla="*/ 14695 h 16060"/>
                <a:gd name="connsiteX3" fmla="*/ 3026 w 15990"/>
                <a:gd name="connsiteY3" fmla="*/ 4770 h 16060"/>
              </a:gdLst>
              <a:ahLst/>
              <a:cxnLst>
                <a:cxn ang="0">
                  <a:pos x="connsiteX0" y="connsiteY0"/>
                </a:cxn>
                <a:cxn ang="0">
                  <a:pos x="connsiteX1" y="connsiteY1"/>
                </a:cxn>
                <a:cxn ang="0">
                  <a:pos x="connsiteX2" y="connsiteY2"/>
                </a:cxn>
                <a:cxn ang="0">
                  <a:pos x="connsiteX3" y="connsiteY3"/>
                </a:cxn>
              </a:cxnLst>
              <a:rect l="l" t="t" r="r" b="b"/>
              <a:pathLst>
                <a:path w="15990" h="16060">
                  <a:moveTo>
                    <a:pt x="3026" y="4770"/>
                  </a:moveTo>
                  <a:cubicBezTo>
                    <a:pt x="4383" y="2735"/>
                    <a:pt x="7917" y="-1978"/>
                    <a:pt x="12059" y="914"/>
                  </a:cubicBezTo>
                  <a:cubicBezTo>
                    <a:pt x="16200" y="3806"/>
                    <a:pt x="19592" y="10054"/>
                    <a:pt x="8489" y="14695"/>
                  </a:cubicBezTo>
                  <a:cubicBezTo>
                    <a:pt x="-3329" y="19658"/>
                    <a:pt x="-401" y="9876"/>
                    <a:pt x="3026" y="4770"/>
                  </a:cubicBezTo>
                  <a:close/>
                </a:path>
              </a:pathLst>
            </a:custGeom>
            <a:solidFill>
              <a:srgbClr val="F47C73"/>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86" name="Freeform: Shape 485">
              <a:extLst>
                <a:ext uri="{FF2B5EF4-FFF2-40B4-BE49-F238E27FC236}">
                  <a16:creationId xmlns:a16="http://schemas.microsoft.com/office/drawing/2014/main" id="{54C3230B-31F8-498F-8B99-F8BECE325D1B}"/>
                </a:ext>
              </a:extLst>
            </p:cNvPr>
            <p:cNvSpPr/>
            <p:nvPr/>
          </p:nvSpPr>
          <p:spPr>
            <a:xfrm>
              <a:off x="10036164" y="3966775"/>
              <a:ext cx="5361" cy="8579"/>
            </a:xfrm>
            <a:custGeom>
              <a:avLst/>
              <a:gdLst>
                <a:gd name="connsiteX0" fmla="*/ 4638 w 5361"/>
                <a:gd name="connsiteY0" fmla="*/ 5751 h 8579"/>
                <a:gd name="connsiteX1" fmla="*/ 5317 w 5361"/>
                <a:gd name="connsiteY1" fmla="*/ 2681 h 8579"/>
                <a:gd name="connsiteX2" fmla="*/ 5210 w 5361"/>
                <a:gd name="connsiteY2" fmla="*/ 1289 h 8579"/>
                <a:gd name="connsiteX3" fmla="*/ 1604 w 5361"/>
                <a:gd name="connsiteY3" fmla="*/ 753 h 8579"/>
                <a:gd name="connsiteX4" fmla="*/ 640 w 5361"/>
                <a:gd name="connsiteY4" fmla="*/ 3288 h 8579"/>
                <a:gd name="connsiteX5" fmla="*/ 283 w 5361"/>
                <a:gd name="connsiteY5" fmla="*/ 7358 h 8579"/>
                <a:gd name="connsiteX6" fmla="*/ 1568 w 5361"/>
                <a:gd name="connsiteY6" fmla="*/ 8501 h 8579"/>
                <a:gd name="connsiteX7" fmla="*/ 4246 w 5361"/>
                <a:gd name="connsiteY7" fmla="*/ 6787 h 8579"/>
                <a:gd name="connsiteX8" fmla="*/ 4638 w 5361"/>
                <a:gd name="connsiteY8" fmla="*/ 5680 h 8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1" h="8579">
                  <a:moveTo>
                    <a:pt x="4638" y="5751"/>
                  </a:moveTo>
                  <a:cubicBezTo>
                    <a:pt x="4960" y="4752"/>
                    <a:pt x="5174" y="3681"/>
                    <a:pt x="5317" y="2681"/>
                  </a:cubicBezTo>
                  <a:cubicBezTo>
                    <a:pt x="5388" y="2217"/>
                    <a:pt x="5388" y="1753"/>
                    <a:pt x="5210" y="1289"/>
                  </a:cubicBezTo>
                  <a:cubicBezTo>
                    <a:pt x="4638" y="-104"/>
                    <a:pt x="2354" y="-496"/>
                    <a:pt x="1604" y="753"/>
                  </a:cubicBezTo>
                  <a:cubicBezTo>
                    <a:pt x="1140" y="1539"/>
                    <a:pt x="854" y="2431"/>
                    <a:pt x="640" y="3288"/>
                  </a:cubicBezTo>
                  <a:cubicBezTo>
                    <a:pt x="318" y="4645"/>
                    <a:pt x="-396" y="5930"/>
                    <a:pt x="283" y="7358"/>
                  </a:cubicBezTo>
                  <a:cubicBezTo>
                    <a:pt x="533" y="7858"/>
                    <a:pt x="961" y="8358"/>
                    <a:pt x="1568" y="8501"/>
                  </a:cubicBezTo>
                  <a:cubicBezTo>
                    <a:pt x="2960" y="8893"/>
                    <a:pt x="3853" y="7751"/>
                    <a:pt x="4246" y="6787"/>
                  </a:cubicBezTo>
                  <a:cubicBezTo>
                    <a:pt x="4389" y="6430"/>
                    <a:pt x="4531" y="6073"/>
                    <a:pt x="4638" y="5680"/>
                  </a:cubicBezTo>
                  <a:close/>
                </a:path>
              </a:pathLst>
            </a:custGeom>
            <a:solidFill>
              <a:srgbClr val="1D2333"/>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87" name="Freeform: Shape 486">
              <a:extLst>
                <a:ext uri="{FF2B5EF4-FFF2-40B4-BE49-F238E27FC236}">
                  <a16:creationId xmlns:a16="http://schemas.microsoft.com/office/drawing/2014/main" id="{7285C1F0-F65C-4A78-B63B-318C4B31EFE9}"/>
                </a:ext>
              </a:extLst>
            </p:cNvPr>
            <p:cNvSpPr/>
            <p:nvPr/>
          </p:nvSpPr>
          <p:spPr>
            <a:xfrm>
              <a:off x="10036138" y="3982322"/>
              <a:ext cx="23466" cy="23466"/>
            </a:xfrm>
            <a:custGeom>
              <a:avLst/>
              <a:gdLst>
                <a:gd name="connsiteX0" fmla="*/ 23408 w 23466"/>
                <a:gd name="connsiteY0" fmla="*/ 12876 h 23466"/>
                <a:gd name="connsiteX1" fmla="*/ 10591 w 23466"/>
                <a:gd name="connsiteY1" fmla="*/ 23408 h 23466"/>
                <a:gd name="connsiteX2" fmla="*/ 59 w 23466"/>
                <a:gd name="connsiteY2" fmla="*/ 10591 h 23466"/>
                <a:gd name="connsiteX3" fmla="*/ 12876 w 23466"/>
                <a:gd name="connsiteY3" fmla="*/ 59 h 23466"/>
                <a:gd name="connsiteX4" fmla="*/ 23408 w 23466"/>
                <a:gd name="connsiteY4" fmla="*/ 12876 h 23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66" h="23466">
                  <a:moveTo>
                    <a:pt x="23408" y="12876"/>
                  </a:moveTo>
                  <a:cubicBezTo>
                    <a:pt x="22765" y="19338"/>
                    <a:pt x="17017" y="24051"/>
                    <a:pt x="10591" y="23408"/>
                  </a:cubicBezTo>
                  <a:cubicBezTo>
                    <a:pt x="4129" y="22765"/>
                    <a:pt x="-584" y="17017"/>
                    <a:pt x="59" y="10591"/>
                  </a:cubicBezTo>
                  <a:cubicBezTo>
                    <a:pt x="701" y="4129"/>
                    <a:pt x="6449" y="-584"/>
                    <a:pt x="12876" y="59"/>
                  </a:cubicBezTo>
                  <a:cubicBezTo>
                    <a:pt x="19338" y="701"/>
                    <a:pt x="24051" y="6449"/>
                    <a:pt x="23408" y="12876"/>
                  </a:cubicBezTo>
                  <a:close/>
                </a:path>
              </a:pathLst>
            </a:custGeom>
            <a:solidFill>
              <a:srgbClr val="F47C73"/>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88" name="Freeform: Shape 487">
              <a:extLst>
                <a:ext uri="{FF2B5EF4-FFF2-40B4-BE49-F238E27FC236}">
                  <a16:creationId xmlns:a16="http://schemas.microsoft.com/office/drawing/2014/main" id="{5A40434F-BE94-4E97-96B6-EC4B854CE65D}"/>
                </a:ext>
              </a:extLst>
            </p:cNvPr>
            <p:cNvSpPr/>
            <p:nvPr/>
          </p:nvSpPr>
          <p:spPr>
            <a:xfrm>
              <a:off x="10061925" y="3878878"/>
              <a:ext cx="56471" cy="40487"/>
            </a:xfrm>
            <a:custGeom>
              <a:avLst/>
              <a:gdLst>
                <a:gd name="connsiteX0" fmla="*/ 53424 w 56471"/>
                <a:gd name="connsiteY0" fmla="*/ 40488 h 40487"/>
                <a:gd name="connsiteX1" fmla="*/ 53174 w 56471"/>
                <a:gd name="connsiteY1" fmla="*/ 40488 h 40487"/>
                <a:gd name="connsiteX2" fmla="*/ 50604 w 56471"/>
                <a:gd name="connsiteY2" fmla="*/ 37417 h 40487"/>
                <a:gd name="connsiteX3" fmla="*/ 42392 w 56471"/>
                <a:gd name="connsiteY3" fmla="*/ 11319 h 40487"/>
                <a:gd name="connsiteX4" fmla="*/ 17258 w 56471"/>
                <a:gd name="connsiteY4" fmla="*/ 6785 h 40487"/>
                <a:gd name="connsiteX5" fmla="*/ 6047 w 56471"/>
                <a:gd name="connsiteY5" fmla="*/ 26421 h 40487"/>
                <a:gd name="connsiteX6" fmla="*/ 3834 w 56471"/>
                <a:gd name="connsiteY6" fmla="*/ 29777 h 40487"/>
                <a:gd name="connsiteX7" fmla="*/ 478 w 56471"/>
                <a:gd name="connsiteY7" fmla="*/ 27564 h 40487"/>
                <a:gd name="connsiteX8" fmla="*/ 15830 w 56471"/>
                <a:gd name="connsiteY8" fmla="*/ 1287 h 40487"/>
                <a:gd name="connsiteX9" fmla="*/ 46034 w 56471"/>
                <a:gd name="connsiteY9" fmla="*/ 6963 h 40487"/>
                <a:gd name="connsiteX10" fmla="*/ 56245 w 56471"/>
                <a:gd name="connsiteY10" fmla="*/ 37882 h 40487"/>
                <a:gd name="connsiteX11" fmla="*/ 53424 w 56471"/>
                <a:gd name="connsiteY11" fmla="*/ 40488 h 4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471" h="40487">
                  <a:moveTo>
                    <a:pt x="53424" y="40488"/>
                  </a:moveTo>
                  <a:cubicBezTo>
                    <a:pt x="53424" y="40488"/>
                    <a:pt x="53246" y="40488"/>
                    <a:pt x="53174" y="40488"/>
                  </a:cubicBezTo>
                  <a:cubicBezTo>
                    <a:pt x="51604" y="40345"/>
                    <a:pt x="50461" y="38988"/>
                    <a:pt x="50604" y="37417"/>
                  </a:cubicBezTo>
                  <a:cubicBezTo>
                    <a:pt x="51639" y="25743"/>
                    <a:pt x="48783" y="16710"/>
                    <a:pt x="42392" y="11319"/>
                  </a:cubicBezTo>
                  <a:cubicBezTo>
                    <a:pt x="36216" y="6106"/>
                    <a:pt x="26612" y="4393"/>
                    <a:pt x="17258" y="6785"/>
                  </a:cubicBezTo>
                  <a:cubicBezTo>
                    <a:pt x="3012" y="10462"/>
                    <a:pt x="5904" y="25778"/>
                    <a:pt x="6047" y="26421"/>
                  </a:cubicBezTo>
                  <a:cubicBezTo>
                    <a:pt x="6369" y="27956"/>
                    <a:pt x="5369" y="29456"/>
                    <a:pt x="3834" y="29777"/>
                  </a:cubicBezTo>
                  <a:cubicBezTo>
                    <a:pt x="2298" y="30098"/>
                    <a:pt x="799" y="29099"/>
                    <a:pt x="478" y="27564"/>
                  </a:cubicBezTo>
                  <a:cubicBezTo>
                    <a:pt x="-1022" y="20245"/>
                    <a:pt x="228" y="5321"/>
                    <a:pt x="15830" y="1287"/>
                  </a:cubicBezTo>
                  <a:cubicBezTo>
                    <a:pt x="27076" y="-1641"/>
                    <a:pt x="38394" y="501"/>
                    <a:pt x="46034" y="6963"/>
                  </a:cubicBezTo>
                  <a:cubicBezTo>
                    <a:pt x="51532" y="11605"/>
                    <a:pt x="57744" y="20744"/>
                    <a:pt x="56245" y="37882"/>
                  </a:cubicBezTo>
                  <a:cubicBezTo>
                    <a:pt x="56102" y="39345"/>
                    <a:pt x="54888" y="40488"/>
                    <a:pt x="53424" y="40488"/>
                  </a:cubicBezTo>
                  <a:close/>
                </a:path>
              </a:pathLst>
            </a:custGeom>
            <a:solidFill>
              <a:schemeClr val="accent2"/>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89" name="Freeform: Shape 488">
              <a:extLst>
                <a:ext uri="{FF2B5EF4-FFF2-40B4-BE49-F238E27FC236}">
                  <a16:creationId xmlns:a16="http://schemas.microsoft.com/office/drawing/2014/main" id="{3F599492-3384-413A-9F33-4947C0CE3835}"/>
                </a:ext>
              </a:extLst>
            </p:cNvPr>
            <p:cNvSpPr/>
            <p:nvPr/>
          </p:nvSpPr>
          <p:spPr>
            <a:xfrm>
              <a:off x="10013328" y="4000264"/>
              <a:ext cx="16021" cy="6750"/>
            </a:xfrm>
            <a:custGeom>
              <a:avLst/>
              <a:gdLst>
                <a:gd name="connsiteX0" fmla="*/ 9766 w 16021"/>
                <a:gd name="connsiteY0" fmla="*/ 6751 h 6750"/>
                <a:gd name="connsiteX1" fmla="*/ 2018 w 16021"/>
                <a:gd name="connsiteY1" fmla="*/ 5573 h 6750"/>
                <a:gd name="connsiteX2" fmla="*/ 126 w 16021"/>
                <a:gd name="connsiteY2" fmla="*/ 2038 h 6750"/>
                <a:gd name="connsiteX3" fmla="*/ 3661 w 16021"/>
                <a:gd name="connsiteY3" fmla="*/ 110 h 6750"/>
                <a:gd name="connsiteX4" fmla="*/ 12265 w 16021"/>
                <a:gd name="connsiteY4" fmla="*/ 717 h 6750"/>
                <a:gd name="connsiteX5" fmla="*/ 15871 w 16021"/>
                <a:gd name="connsiteY5" fmla="*/ 2502 h 6750"/>
                <a:gd name="connsiteX6" fmla="*/ 14086 w 16021"/>
                <a:gd name="connsiteY6" fmla="*/ 6108 h 6750"/>
                <a:gd name="connsiteX7" fmla="*/ 9802 w 16021"/>
                <a:gd name="connsiteY7" fmla="*/ 6715 h 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21" h="6750">
                  <a:moveTo>
                    <a:pt x="9766" y="6751"/>
                  </a:moveTo>
                  <a:cubicBezTo>
                    <a:pt x="6089" y="6751"/>
                    <a:pt x="2554" y="5751"/>
                    <a:pt x="2018" y="5573"/>
                  </a:cubicBezTo>
                  <a:cubicBezTo>
                    <a:pt x="519" y="5144"/>
                    <a:pt x="-338" y="3538"/>
                    <a:pt x="126" y="2038"/>
                  </a:cubicBezTo>
                  <a:cubicBezTo>
                    <a:pt x="555" y="539"/>
                    <a:pt x="2161" y="-318"/>
                    <a:pt x="3661" y="110"/>
                  </a:cubicBezTo>
                  <a:cubicBezTo>
                    <a:pt x="5803" y="753"/>
                    <a:pt x="10052" y="1467"/>
                    <a:pt x="12265" y="717"/>
                  </a:cubicBezTo>
                  <a:cubicBezTo>
                    <a:pt x="13765" y="217"/>
                    <a:pt x="15371" y="1003"/>
                    <a:pt x="15871" y="2502"/>
                  </a:cubicBezTo>
                  <a:cubicBezTo>
                    <a:pt x="16371" y="4002"/>
                    <a:pt x="15585" y="5608"/>
                    <a:pt x="14086" y="6108"/>
                  </a:cubicBezTo>
                  <a:cubicBezTo>
                    <a:pt x="12765" y="6572"/>
                    <a:pt x="11265" y="6715"/>
                    <a:pt x="9802" y="6715"/>
                  </a:cubicBezTo>
                  <a:close/>
                </a:path>
              </a:pathLst>
            </a:custGeom>
            <a:solidFill>
              <a:srgbClr val="E55955"/>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90" name="Freeform: Shape 489">
              <a:extLst>
                <a:ext uri="{FF2B5EF4-FFF2-40B4-BE49-F238E27FC236}">
                  <a16:creationId xmlns:a16="http://schemas.microsoft.com/office/drawing/2014/main" id="{DF35ED6A-9D61-4B83-9EAE-5F6F43E07E1A}"/>
                </a:ext>
              </a:extLst>
            </p:cNvPr>
            <p:cNvSpPr/>
            <p:nvPr/>
          </p:nvSpPr>
          <p:spPr>
            <a:xfrm>
              <a:off x="10017881" y="4054714"/>
              <a:ext cx="115140" cy="25098"/>
            </a:xfrm>
            <a:custGeom>
              <a:avLst/>
              <a:gdLst>
                <a:gd name="connsiteX0" fmla="*/ 36 w 115140"/>
                <a:gd name="connsiteY0" fmla="*/ 21957 h 25098"/>
                <a:gd name="connsiteX1" fmla="*/ 16816 w 115140"/>
                <a:gd name="connsiteY1" fmla="*/ 2928 h 25098"/>
                <a:gd name="connsiteX2" fmla="*/ 23278 w 115140"/>
                <a:gd name="connsiteY2" fmla="*/ 0 h 25098"/>
                <a:gd name="connsiteX3" fmla="*/ 106501 w 115140"/>
                <a:gd name="connsiteY3" fmla="*/ 0 h 25098"/>
                <a:gd name="connsiteX4" fmla="*/ 115141 w 115140"/>
                <a:gd name="connsiteY4" fmla="*/ 8640 h 25098"/>
                <a:gd name="connsiteX5" fmla="*/ 115141 w 115140"/>
                <a:gd name="connsiteY5" fmla="*/ 25099 h 25098"/>
                <a:gd name="connsiteX6" fmla="*/ 0 w 115140"/>
                <a:gd name="connsiteY6" fmla="*/ 21957 h 25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140" h="25098">
                  <a:moveTo>
                    <a:pt x="36" y="21957"/>
                  </a:moveTo>
                  <a:lnTo>
                    <a:pt x="16816" y="2928"/>
                  </a:lnTo>
                  <a:cubicBezTo>
                    <a:pt x="18458" y="1071"/>
                    <a:pt x="20815" y="0"/>
                    <a:pt x="23278" y="0"/>
                  </a:cubicBezTo>
                  <a:lnTo>
                    <a:pt x="106501" y="0"/>
                  </a:lnTo>
                  <a:cubicBezTo>
                    <a:pt x="111285" y="0"/>
                    <a:pt x="115141" y="3856"/>
                    <a:pt x="115141" y="8640"/>
                  </a:cubicBezTo>
                  <a:lnTo>
                    <a:pt x="115141" y="25099"/>
                  </a:lnTo>
                  <a:lnTo>
                    <a:pt x="0" y="21957"/>
                  </a:lnTo>
                  <a:close/>
                </a:path>
              </a:pathLst>
            </a:custGeom>
            <a:solidFill>
              <a:srgbClr val="F3F2FF"/>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grpSp>
          <p:nvGrpSpPr>
            <p:cNvPr id="491" name="Graphic 822">
              <a:extLst>
                <a:ext uri="{FF2B5EF4-FFF2-40B4-BE49-F238E27FC236}">
                  <a16:creationId xmlns:a16="http://schemas.microsoft.com/office/drawing/2014/main" id="{D73D5B61-644C-4E6A-9DF4-6E036701FF31}"/>
                </a:ext>
              </a:extLst>
            </p:cNvPr>
            <p:cNvGrpSpPr/>
            <p:nvPr/>
          </p:nvGrpSpPr>
          <p:grpSpPr>
            <a:xfrm>
              <a:off x="9407798" y="3717790"/>
              <a:ext cx="396725" cy="501485"/>
              <a:chOff x="9407798" y="3717790"/>
              <a:chExt cx="396725" cy="501485"/>
            </a:xfrm>
          </p:grpSpPr>
          <p:grpSp>
            <p:nvGrpSpPr>
              <p:cNvPr id="498" name="Graphic 822">
                <a:extLst>
                  <a:ext uri="{FF2B5EF4-FFF2-40B4-BE49-F238E27FC236}">
                    <a16:creationId xmlns:a16="http://schemas.microsoft.com/office/drawing/2014/main" id="{69D45CE8-8768-4E2A-B8E2-FB87AB024DBE}"/>
                  </a:ext>
                </a:extLst>
              </p:cNvPr>
              <p:cNvGrpSpPr/>
              <p:nvPr/>
            </p:nvGrpSpPr>
            <p:grpSpPr>
              <a:xfrm>
                <a:off x="9407798" y="3717790"/>
                <a:ext cx="396725" cy="396725"/>
                <a:chOff x="9407798" y="3717790"/>
                <a:chExt cx="396725" cy="396725"/>
              </a:xfrm>
            </p:grpSpPr>
            <p:sp>
              <p:nvSpPr>
                <p:cNvPr id="503" name="Freeform: Shape 502">
                  <a:extLst>
                    <a:ext uri="{FF2B5EF4-FFF2-40B4-BE49-F238E27FC236}">
                      <a16:creationId xmlns:a16="http://schemas.microsoft.com/office/drawing/2014/main" id="{7EA19BDA-C810-4750-BEFD-5697910DBF43}"/>
                    </a:ext>
                  </a:extLst>
                </p:cNvPr>
                <p:cNvSpPr/>
                <p:nvPr/>
              </p:nvSpPr>
              <p:spPr>
                <a:xfrm>
                  <a:off x="9407798" y="3717790"/>
                  <a:ext cx="396725" cy="396725"/>
                </a:xfrm>
                <a:custGeom>
                  <a:avLst/>
                  <a:gdLst>
                    <a:gd name="connsiteX0" fmla="*/ 396726 w 396725"/>
                    <a:gd name="connsiteY0" fmla="*/ 198363 h 396725"/>
                    <a:gd name="connsiteX1" fmla="*/ 198363 w 396725"/>
                    <a:gd name="connsiteY1" fmla="*/ 396726 h 396725"/>
                    <a:gd name="connsiteX2" fmla="*/ 0 w 396725"/>
                    <a:gd name="connsiteY2" fmla="*/ 198363 h 396725"/>
                    <a:gd name="connsiteX3" fmla="*/ 198363 w 396725"/>
                    <a:gd name="connsiteY3" fmla="*/ 0 h 396725"/>
                    <a:gd name="connsiteX4" fmla="*/ 396726 w 396725"/>
                    <a:gd name="connsiteY4" fmla="*/ 198363 h 39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725" h="396725">
                      <a:moveTo>
                        <a:pt x="396726" y="198363"/>
                      </a:moveTo>
                      <a:cubicBezTo>
                        <a:pt x="396726" y="307916"/>
                        <a:pt x="307916" y="396726"/>
                        <a:pt x="198363" y="396726"/>
                      </a:cubicBezTo>
                      <a:cubicBezTo>
                        <a:pt x="88810" y="396726"/>
                        <a:pt x="0" y="307916"/>
                        <a:pt x="0" y="198363"/>
                      </a:cubicBezTo>
                      <a:cubicBezTo>
                        <a:pt x="0" y="88810"/>
                        <a:pt x="88810" y="0"/>
                        <a:pt x="198363" y="0"/>
                      </a:cubicBezTo>
                      <a:cubicBezTo>
                        <a:pt x="307916" y="0"/>
                        <a:pt x="396726" y="88810"/>
                        <a:pt x="396726" y="198363"/>
                      </a:cubicBezTo>
                      <a:close/>
                    </a:path>
                  </a:pathLst>
                </a:custGeom>
                <a:solidFill>
                  <a:schemeClr val="tx2"/>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504" name="Freeform: Shape 503">
                  <a:extLst>
                    <a:ext uri="{FF2B5EF4-FFF2-40B4-BE49-F238E27FC236}">
                      <a16:creationId xmlns:a16="http://schemas.microsoft.com/office/drawing/2014/main" id="{89910C5A-AF3A-43F6-98E9-8A23D9F8C4DC}"/>
                    </a:ext>
                  </a:extLst>
                </p:cNvPr>
                <p:cNvSpPr/>
                <p:nvPr/>
              </p:nvSpPr>
              <p:spPr>
                <a:xfrm>
                  <a:off x="9539254" y="3791408"/>
                  <a:ext cx="133812" cy="133812"/>
                </a:xfrm>
                <a:custGeom>
                  <a:avLst/>
                  <a:gdLst>
                    <a:gd name="connsiteX0" fmla="*/ 133813 w 133812"/>
                    <a:gd name="connsiteY0" fmla="*/ 66906 h 133812"/>
                    <a:gd name="connsiteX1" fmla="*/ 66906 w 133812"/>
                    <a:gd name="connsiteY1" fmla="*/ 133813 h 133812"/>
                    <a:gd name="connsiteX2" fmla="*/ 0 w 133812"/>
                    <a:gd name="connsiteY2" fmla="*/ 66906 h 133812"/>
                    <a:gd name="connsiteX3" fmla="*/ 66906 w 133812"/>
                    <a:gd name="connsiteY3" fmla="*/ 0 h 133812"/>
                    <a:gd name="connsiteX4" fmla="*/ 133813 w 133812"/>
                    <a:gd name="connsiteY4" fmla="*/ 66906 h 133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812" h="133812">
                      <a:moveTo>
                        <a:pt x="133813" y="66906"/>
                      </a:moveTo>
                      <a:cubicBezTo>
                        <a:pt x="133813" y="103858"/>
                        <a:pt x="103858" y="133813"/>
                        <a:pt x="66906" y="133813"/>
                      </a:cubicBezTo>
                      <a:cubicBezTo>
                        <a:pt x="29955" y="133813"/>
                        <a:pt x="0" y="103858"/>
                        <a:pt x="0" y="66906"/>
                      </a:cubicBezTo>
                      <a:cubicBezTo>
                        <a:pt x="0" y="29955"/>
                        <a:pt x="29955" y="0"/>
                        <a:pt x="66906" y="0"/>
                      </a:cubicBezTo>
                      <a:cubicBezTo>
                        <a:pt x="103858" y="0"/>
                        <a:pt x="133813" y="29955"/>
                        <a:pt x="133813" y="66906"/>
                      </a:cubicBezTo>
                      <a:close/>
                    </a:path>
                  </a:pathLst>
                </a:custGeom>
                <a:solidFill>
                  <a:srgbClr val="FFFFFF"/>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505" name="Freeform: Shape 504">
                  <a:extLst>
                    <a:ext uri="{FF2B5EF4-FFF2-40B4-BE49-F238E27FC236}">
                      <a16:creationId xmlns:a16="http://schemas.microsoft.com/office/drawing/2014/main" id="{E87B2ABF-4908-47FE-A6CE-BFB98A134413}"/>
                    </a:ext>
                  </a:extLst>
                </p:cNvPr>
                <p:cNvSpPr/>
                <p:nvPr/>
              </p:nvSpPr>
              <p:spPr>
                <a:xfrm>
                  <a:off x="9469027" y="3968778"/>
                  <a:ext cx="274266" cy="128029"/>
                </a:xfrm>
                <a:custGeom>
                  <a:avLst/>
                  <a:gdLst>
                    <a:gd name="connsiteX0" fmla="*/ 274266 w 274266"/>
                    <a:gd name="connsiteY0" fmla="*/ 64978 h 128029"/>
                    <a:gd name="connsiteX1" fmla="*/ 137133 w 274266"/>
                    <a:gd name="connsiteY1" fmla="*/ 0 h 128029"/>
                    <a:gd name="connsiteX2" fmla="*/ 0 w 274266"/>
                    <a:gd name="connsiteY2" fmla="*/ 64978 h 128029"/>
                    <a:gd name="connsiteX3" fmla="*/ 9390 w 274266"/>
                    <a:gd name="connsiteY3" fmla="*/ 75118 h 128029"/>
                    <a:gd name="connsiteX4" fmla="*/ 137098 w 274266"/>
                    <a:gd name="connsiteY4" fmla="*/ 128029 h 128029"/>
                    <a:gd name="connsiteX5" fmla="*/ 264805 w 274266"/>
                    <a:gd name="connsiteY5" fmla="*/ 75118 h 128029"/>
                    <a:gd name="connsiteX6" fmla="*/ 274195 w 274266"/>
                    <a:gd name="connsiteY6" fmla="*/ 64978 h 128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4266" h="128029">
                      <a:moveTo>
                        <a:pt x="274266" y="64978"/>
                      </a:moveTo>
                      <a:cubicBezTo>
                        <a:pt x="241777" y="25313"/>
                        <a:pt x="192436" y="0"/>
                        <a:pt x="137133" y="0"/>
                      </a:cubicBezTo>
                      <a:cubicBezTo>
                        <a:pt x="81830" y="0"/>
                        <a:pt x="32525" y="25313"/>
                        <a:pt x="0" y="64978"/>
                      </a:cubicBezTo>
                      <a:cubicBezTo>
                        <a:pt x="2999" y="68442"/>
                        <a:pt x="6105" y="71833"/>
                        <a:pt x="9390" y="75118"/>
                      </a:cubicBezTo>
                      <a:cubicBezTo>
                        <a:pt x="43521" y="109250"/>
                        <a:pt x="88863" y="128029"/>
                        <a:pt x="137098" y="128029"/>
                      </a:cubicBezTo>
                      <a:cubicBezTo>
                        <a:pt x="185332" y="128029"/>
                        <a:pt x="230709" y="109250"/>
                        <a:pt x="264805" y="75118"/>
                      </a:cubicBezTo>
                      <a:cubicBezTo>
                        <a:pt x="268090" y="71833"/>
                        <a:pt x="271196" y="68477"/>
                        <a:pt x="274195" y="64978"/>
                      </a:cubicBezTo>
                      <a:close/>
                    </a:path>
                  </a:pathLst>
                </a:custGeom>
                <a:solidFill>
                  <a:srgbClr val="FFFFFF"/>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grpSp>
          <p:grpSp>
            <p:nvGrpSpPr>
              <p:cNvPr id="499" name="Graphic 822">
                <a:extLst>
                  <a:ext uri="{FF2B5EF4-FFF2-40B4-BE49-F238E27FC236}">
                    <a16:creationId xmlns:a16="http://schemas.microsoft.com/office/drawing/2014/main" id="{00FC4B75-0FCC-45DC-98BF-676711D5385F}"/>
                  </a:ext>
                </a:extLst>
              </p:cNvPr>
              <p:cNvGrpSpPr/>
              <p:nvPr/>
            </p:nvGrpSpPr>
            <p:grpSpPr>
              <a:xfrm>
                <a:off x="9436439" y="4115979"/>
                <a:ext cx="334380" cy="103296"/>
                <a:chOff x="9436439" y="4115979"/>
                <a:chExt cx="334380" cy="103296"/>
              </a:xfrm>
            </p:grpSpPr>
            <p:sp>
              <p:nvSpPr>
                <p:cNvPr id="500" name="Freeform: Shape 499">
                  <a:extLst>
                    <a:ext uri="{FF2B5EF4-FFF2-40B4-BE49-F238E27FC236}">
                      <a16:creationId xmlns:a16="http://schemas.microsoft.com/office/drawing/2014/main" id="{A70A25A5-FEC8-4908-AAA3-4A8CD1D6EDBF}"/>
                    </a:ext>
                  </a:extLst>
                </p:cNvPr>
                <p:cNvSpPr/>
                <p:nvPr/>
              </p:nvSpPr>
              <p:spPr>
                <a:xfrm>
                  <a:off x="9436439" y="4115979"/>
                  <a:ext cx="108102" cy="103296"/>
                </a:xfrm>
                <a:custGeom>
                  <a:avLst/>
                  <a:gdLst>
                    <a:gd name="connsiteX0" fmla="*/ 84285 w 108102"/>
                    <a:gd name="connsiteY0" fmla="*/ 103287 h 103296"/>
                    <a:gd name="connsiteX1" fmla="*/ 81929 w 108102"/>
                    <a:gd name="connsiteY1" fmla="*/ 102716 h 103296"/>
                    <a:gd name="connsiteX2" fmla="*/ 54045 w 108102"/>
                    <a:gd name="connsiteY2" fmla="*/ 88042 h 103296"/>
                    <a:gd name="connsiteX3" fmla="*/ 26161 w 108102"/>
                    <a:gd name="connsiteY3" fmla="*/ 102716 h 103296"/>
                    <a:gd name="connsiteX4" fmla="*/ 20806 w 108102"/>
                    <a:gd name="connsiteY4" fmla="*/ 102323 h 103296"/>
                    <a:gd name="connsiteX5" fmla="*/ 18771 w 108102"/>
                    <a:gd name="connsiteY5" fmla="*/ 97361 h 103296"/>
                    <a:gd name="connsiteX6" fmla="*/ 24091 w 108102"/>
                    <a:gd name="connsiteY6" fmla="*/ 66300 h 103296"/>
                    <a:gd name="connsiteX7" fmla="*/ 1527 w 108102"/>
                    <a:gd name="connsiteY7" fmla="*/ 44307 h 103296"/>
                    <a:gd name="connsiteX8" fmla="*/ 1420 w 108102"/>
                    <a:gd name="connsiteY8" fmla="*/ 37131 h 103296"/>
                    <a:gd name="connsiteX9" fmla="*/ 8596 w 108102"/>
                    <a:gd name="connsiteY9" fmla="*/ 37023 h 103296"/>
                    <a:gd name="connsiteX10" fmla="*/ 33088 w 108102"/>
                    <a:gd name="connsiteY10" fmla="*/ 60873 h 103296"/>
                    <a:gd name="connsiteX11" fmla="*/ 34552 w 108102"/>
                    <a:gd name="connsiteY11" fmla="*/ 65371 h 103296"/>
                    <a:gd name="connsiteX12" fmla="*/ 30517 w 108102"/>
                    <a:gd name="connsiteY12" fmla="*/ 88899 h 103296"/>
                    <a:gd name="connsiteX13" fmla="*/ 51653 w 108102"/>
                    <a:gd name="connsiteY13" fmla="*/ 77796 h 103296"/>
                    <a:gd name="connsiteX14" fmla="*/ 56401 w 108102"/>
                    <a:gd name="connsiteY14" fmla="*/ 77796 h 103296"/>
                    <a:gd name="connsiteX15" fmla="*/ 77537 w 108102"/>
                    <a:gd name="connsiteY15" fmla="*/ 88899 h 103296"/>
                    <a:gd name="connsiteX16" fmla="*/ 73503 w 108102"/>
                    <a:gd name="connsiteY16" fmla="*/ 65371 h 103296"/>
                    <a:gd name="connsiteX17" fmla="*/ 74967 w 108102"/>
                    <a:gd name="connsiteY17" fmla="*/ 60873 h 103296"/>
                    <a:gd name="connsiteX18" fmla="*/ 92068 w 108102"/>
                    <a:gd name="connsiteY18" fmla="*/ 44200 h 103296"/>
                    <a:gd name="connsiteX19" fmla="*/ 68433 w 108102"/>
                    <a:gd name="connsiteY19" fmla="*/ 40772 h 103296"/>
                    <a:gd name="connsiteX20" fmla="*/ 64613 w 108102"/>
                    <a:gd name="connsiteY20" fmla="*/ 37987 h 103296"/>
                    <a:gd name="connsiteX21" fmla="*/ 54045 w 108102"/>
                    <a:gd name="connsiteY21" fmla="*/ 16566 h 103296"/>
                    <a:gd name="connsiteX22" fmla="*/ 43477 w 108102"/>
                    <a:gd name="connsiteY22" fmla="*/ 37987 h 103296"/>
                    <a:gd name="connsiteX23" fmla="*/ 36658 w 108102"/>
                    <a:gd name="connsiteY23" fmla="*/ 40308 h 103296"/>
                    <a:gd name="connsiteX24" fmla="*/ 34337 w 108102"/>
                    <a:gd name="connsiteY24" fmla="*/ 33489 h 103296"/>
                    <a:gd name="connsiteX25" fmla="*/ 49475 w 108102"/>
                    <a:gd name="connsiteY25" fmla="*/ 2820 h 103296"/>
                    <a:gd name="connsiteX26" fmla="*/ 54045 w 108102"/>
                    <a:gd name="connsiteY26" fmla="*/ 0 h 103296"/>
                    <a:gd name="connsiteX27" fmla="*/ 58615 w 108102"/>
                    <a:gd name="connsiteY27" fmla="*/ 2820 h 103296"/>
                    <a:gd name="connsiteX28" fmla="*/ 72539 w 108102"/>
                    <a:gd name="connsiteY28" fmla="*/ 31061 h 103296"/>
                    <a:gd name="connsiteX29" fmla="*/ 103743 w 108102"/>
                    <a:gd name="connsiteY29" fmla="*/ 35595 h 103296"/>
                    <a:gd name="connsiteX30" fmla="*/ 107849 w 108102"/>
                    <a:gd name="connsiteY30" fmla="*/ 39059 h 103296"/>
                    <a:gd name="connsiteX31" fmla="*/ 106563 w 108102"/>
                    <a:gd name="connsiteY31" fmla="*/ 44271 h 103296"/>
                    <a:gd name="connsiteX32" fmla="*/ 83999 w 108102"/>
                    <a:gd name="connsiteY32" fmla="*/ 66264 h 103296"/>
                    <a:gd name="connsiteX33" fmla="*/ 89319 w 108102"/>
                    <a:gd name="connsiteY33" fmla="*/ 97325 h 103296"/>
                    <a:gd name="connsiteX34" fmla="*/ 87284 w 108102"/>
                    <a:gd name="connsiteY34" fmla="*/ 102288 h 103296"/>
                    <a:gd name="connsiteX35" fmla="*/ 84285 w 108102"/>
                    <a:gd name="connsiteY35" fmla="*/ 103252 h 103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08102" h="103296">
                      <a:moveTo>
                        <a:pt x="84285" y="103287"/>
                      </a:moveTo>
                      <a:cubicBezTo>
                        <a:pt x="83464" y="103287"/>
                        <a:pt x="82679" y="103109"/>
                        <a:pt x="81929" y="102716"/>
                      </a:cubicBezTo>
                      <a:lnTo>
                        <a:pt x="54045" y="88042"/>
                      </a:lnTo>
                      <a:lnTo>
                        <a:pt x="26161" y="102716"/>
                      </a:lnTo>
                      <a:cubicBezTo>
                        <a:pt x="24448" y="103609"/>
                        <a:pt x="22377" y="103466"/>
                        <a:pt x="20806" y="102323"/>
                      </a:cubicBezTo>
                      <a:cubicBezTo>
                        <a:pt x="19235" y="101181"/>
                        <a:pt x="18450" y="99253"/>
                        <a:pt x="18771" y="97361"/>
                      </a:cubicBezTo>
                      <a:lnTo>
                        <a:pt x="24091" y="66300"/>
                      </a:lnTo>
                      <a:lnTo>
                        <a:pt x="1527" y="44307"/>
                      </a:lnTo>
                      <a:cubicBezTo>
                        <a:pt x="-473" y="42343"/>
                        <a:pt x="-508" y="39130"/>
                        <a:pt x="1420" y="37131"/>
                      </a:cubicBezTo>
                      <a:cubicBezTo>
                        <a:pt x="3383" y="35131"/>
                        <a:pt x="6597" y="35096"/>
                        <a:pt x="8596" y="37023"/>
                      </a:cubicBezTo>
                      <a:lnTo>
                        <a:pt x="33088" y="60873"/>
                      </a:lnTo>
                      <a:cubicBezTo>
                        <a:pt x="34302" y="62051"/>
                        <a:pt x="34837" y="63729"/>
                        <a:pt x="34552" y="65371"/>
                      </a:cubicBezTo>
                      <a:lnTo>
                        <a:pt x="30517" y="88899"/>
                      </a:lnTo>
                      <a:lnTo>
                        <a:pt x="51653" y="77796"/>
                      </a:lnTo>
                      <a:cubicBezTo>
                        <a:pt x="53153" y="77010"/>
                        <a:pt x="54902" y="77010"/>
                        <a:pt x="56401" y="77796"/>
                      </a:cubicBezTo>
                      <a:lnTo>
                        <a:pt x="77537" y="88899"/>
                      </a:lnTo>
                      <a:lnTo>
                        <a:pt x="73503" y="65371"/>
                      </a:lnTo>
                      <a:cubicBezTo>
                        <a:pt x="73217" y="63729"/>
                        <a:pt x="73753" y="62051"/>
                        <a:pt x="74967" y="60873"/>
                      </a:cubicBezTo>
                      <a:lnTo>
                        <a:pt x="92068" y="44200"/>
                      </a:lnTo>
                      <a:lnTo>
                        <a:pt x="68433" y="40772"/>
                      </a:lnTo>
                      <a:cubicBezTo>
                        <a:pt x="66791" y="40522"/>
                        <a:pt x="65363" y="39487"/>
                        <a:pt x="64613" y="37987"/>
                      </a:cubicBezTo>
                      <a:lnTo>
                        <a:pt x="54045" y="16566"/>
                      </a:lnTo>
                      <a:lnTo>
                        <a:pt x="43477" y="37987"/>
                      </a:lnTo>
                      <a:cubicBezTo>
                        <a:pt x="42228" y="40487"/>
                        <a:pt x="39193" y="41558"/>
                        <a:pt x="36658" y="40308"/>
                      </a:cubicBezTo>
                      <a:cubicBezTo>
                        <a:pt x="34159" y="39059"/>
                        <a:pt x="33123" y="36024"/>
                        <a:pt x="34337" y="33489"/>
                      </a:cubicBezTo>
                      <a:lnTo>
                        <a:pt x="49475" y="2820"/>
                      </a:lnTo>
                      <a:cubicBezTo>
                        <a:pt x="50332" y="1071"/>
                        <a:pt x="52117" y="0"/>
                        <a:pt x="54045" y="0"/>
                      </a:cubicBezTo>
                      <a:cubicBezTo>
                        <a:pt x="55973" y="0"/>
                        <a:pt x="57758" y="1107"/>
                        <a:pt x="58615" y="2820"/>
                      </a:cubicBezTo>
                      <a:lnTo>
                        <a:pt x="72539" y="31061"/>
                      </a:lnTo>
                      <a:lnTo>
                        <a:pt x="103743" y="35595"/>
                      </a:lnTo>
                      <a:cubicBezTo>
                        <a:pt x="105671" y="35881"/>
                        <a:pt x="107242" y="37202"/>
                        <a:pt x="107849" y="39059"/>
                      </a:cubicBezTo>
                      <a:cubicBezTo>
                        <a:pt x="108456" y="40915"/>
                        <a:pt x="107956" y="42914"/>
                        <a:pt x="106563" y="44271"/>
                      </a:cubicBezTo>
                      <a:lnTo>
                        <a:pt x="83999" y="66264"/>
                      </a:lnTo>
                      <a:lnTo>
                        <a:pt x="89319" y="97325"/>
                      </a:lnTo>
                      <a:cubicBezTo>
                        <a:pt x="89640" y="99217"/>
                        <a:pt x="88855" y="101145"/>
                        <a:pt x="87284" y="102288"/>
                      </a:cubicBezTo>
                      <a:cubicBezTo>
                        <a:pt x="86392" y="102930"/>
                        <a:pt x="85356" y="103252"/>
                        <a:pt x="84285" y="103252"/>
                      </a:cubicBezTo>
                      <a:close/>
                    </a:path>
                  </a:pathLst>
                </a:custGeom>
                <a:solidFill>
                  <a:srgbClr val="FFB726"/>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501" name="Freeform: Shape 500">
                  <a:extLst>
                    <a:ext uri="{FF2B5EF4-FFF2-40B4-BE49-F238E27FC236}">
                      <a16:creationId xmlns:a16="http://schemas.microsoft.com/office/drawing/2014/main" id="{60006AFD-4393-413B-94C1-9E620FD7F3C5}"/>
                    </a:ext>
                  </a:extLst>
                </p:cNvPr>
                <p:cNvSpPr/>
                <p:nvPr/>
              </p:nvSpPr>
              <p:spPr>
                <a:xfrm>
                  <a:off x="9557212" y="4121049"/>
                  <a:ext cx="97896" cy="93112"/>
                </a:xfrm>
                <a:custGeom>
                  <a:avLst/>
                  <a:gdLst>
                    <a:gd name="connsiteX0" fmla="*/ 48948 w 97896"/>
                    <a:gd name="connsiteY0" fmla="*/ 77224 h 93112"/>
                    <a:gd name="connsiteX1" fmla="*/ 79224 w 97896"/>
                    <a:gd name="connsiteY1" fmla="*/ 93112 h 93112"/>
                    <a:gd name="connsiteX2" fmla="*/ 73440 w 97896"/>
                    <a:gd name="connsiteY2" fmla="*/ 59409 h 93112"/>
                    <a:gd name="connsiteX3" fmla="*/ 97896 w 97896"/>
                    <a:gd name="connsiteY3" fmla="*/ 35560 h 93112"/>
                    <a:gd name="connsiteX4" fmla="*/ 64086 w 97896"/>
                    <a:gd name="connsiteY4" fmla="*/ 30633 h 93112"/>
                    <a:gd name="connsiteX5" fmla="*/ 48948 w 97896"/>
                    <a:gd name="connsiteY5" fmla="*/ 0 h 93112"/>
                    <a:gd name="connsiteX6" fmla="*/ 33810 w 97896"/>
                    <a:gd name="connsiteY6" fmla="*/ 30633 h 93112"/>
                    <a:gd name="connsiteX7" fmla="*/ 0 w 97896"/>
                    <a:gd name="connsiteY7" fmla="*/ 35560 h 93112"/>
                    <a:gd name="connsiteX8" fmla="*/ 24492 w 97896"/>
                    <a:gd name="connsiteY8" fmla="*/ 59409 h 93112"/>
                    <a:gd name="connsiteX9" fmla="*/ 18708 w 97896"/>
                    <a:gd name="connsiteY9" fmla="*/ 93112 h 93112"/>
                    <a:gd name="connsiteX10" fmla="*/ 48948 w 97896"/>
                    <a:gd name="connsiteY10" fmla="*/ 77224 h 93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896" h="93112">
                      <a:moveTo>
                        <a:pt x="48948" y="77224"/>
                      </a:moveTo>
                      <a:lnTo>
                        <a:pt x="79224" y="93112"/>
                      </a:lnTo>
                      <a:lnTo>
                        <a:pt x="73440" y="59409"/>
                      </a:lnTo>
                      <a:lnTo>
                        <a:pt x="97896" y="35560"/>
                      </a:lnTo>
                      <a:lnTo>
                        <a:pt x="64086" y="30633"/>
                      </a:lnTo>
                      <a:lnTo>
                        <a:pt x="48948" y="0"/>
                      </a:lnTo>
                      <a:lnTo>
                        <a:pt x="33810" y="30633"/>
                      </a:lnTo>
                      <a:lnTo>
                        <a:pt x="0" y="35560"/>
                      </a:lnTo>
                      <a:lnTo>
                        <a:pt x="24492" y="59409"/>
                      </a:lnTo>
                      <a:lnTo>
                        <a:pt x="18708" y="93112"/>
                      </a:lnTo>
                      <a:lnTo>
                        <a:pt x="48948" y="77224"/>
                      </a:lnTo>
                      <a:close/>
                    </a:path>
                  </a:pathLst>
                </a:custGeom>
                <a:solidFill>
                  <a:schemeClr val="tx2">
                    <a:lumMod val="60000"/>
                    <a:lumOff val="40000"/>
                  </a:schemeClr>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502" name="Freeform: Shape 501">
                  <a:extLst>
                    <a:ext uri="{FF2B5EF4-FFF2-40B4-BE49-F238E27FC236}">
                      <a16:creationId xmlns:a16="http://schemas.microsoft.com/office/drawing/2014/main" id="{E186C624-0B4D-4BF9-A1B2-379E09836435}"/>
                    </a:ext>
                  </a:extLst>
                </p:cNvPr>
                <p:cNvSpPr/>
                <p:nvPr/>
              </p:nvSpPr>
              <p:spPr>
                <a:xfrm>
                  <a:off x="9672888" y="4121049"/>
                  <a:ext cx="97931" cy="93112"/>
                </a:xfrm>
                <a:custGeom>
                  <a:avLst/>
                  <a:gdLst>
                    <a:gd name="connsiteX0" fmla="*/ 48984 w 97931"/>
                    <a:gd name="connsiteY0" fmla="*/ 77224 h 93112"/>
                    <a:gd name="connsiteX1" fmla="*/ 79224 w 97931"/>
                    <a:gd name="connsiteY1" fmla="*/ 93112 h 93112"/>
                    <a:gd name="connsiteX2" fmla="*/ 73440 w 97931"/>
                    <a:gd name="connsiteY2" fmla="*/ 59409 h 93112"/>
                    <a:gd name="connsiteX3" fmla="*/ 97932 w 97931"/>
                    <a:gd name="connsiteY3" fmla="*/ 35560 h 93112"/>
                    <a:gd name="connsiteX4" fmla="*/ 64086 w 97931"/>
                    <a:gd name="connsiteY4" fmla="*/ 30633 h 93112"/>
                    <a:gd name="connsiteX5" fmla="*/ 48984 w 97931"/>
                    <a:gd name="connsiteY5" fmla="*/ 0 h 93112"/>
                    <a:gd name="connsiteX6" fmla="*/ 33846 w 97931"/>
                    <a:gd name="connsiteY6" fmla="*/ 30633 h 93112"/>
                    <a:gd name="connsiteX7" fmla="*/ 0 w 97931"/>
                    <a:gd name="connsiteY7" fmla="*/ 35560 h 93112"/>
                    <a:gd name="connsiteX8" fmla="*/ 24492 w 97931"/>
                    <a:gd name="connsiteY8" fmla="*/ 59409 h 93112"/>
                    <a:gd name="connsiteX9" fmla="*/ 18708 w 97931"/>
                    <a:gd name="connsiteY9" fmla="*/ 93112 h 93112"/>
                    <a:gd name="connsiteX10" fmla="*/ 48984 w 97931"/>
                    <a:gd name="connsiteY10" fmla="*/ 77224 h 93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931" h="93112">
                      <a:moveTo>
                        <a:pt x="48984" y="77224"/>
                      </a:moveTo>
                      <a:lnTo>
                        <a:pt x="79224" y="93112"/>
                      </a:lnTo>
                      <a:lnTo>
                        <a:pt x="73440" y="59409"/>
                      </a:lnTo>
                      <a:lnTo>
                        <a:pt x="97932" y="35560"/>
                      </a:lnTo>
                      <a:lnTo>
                        <a:pt x="64086" y="30633"/>
                      </a:lnTo>
                      <a:lnTo>
                        <a:pt x="48984" y="0"/>
                      </a:lnTo>
                      <a:lnTo>
                        <a:pt x="33846" y="30633"/>
                      </a:lnTo>
                      <a:lnTo>
                        <a:pt x="0" y="35560"/>
                      </a:lnTo>
                      <a:lnTo>
                        <a:pt x="24492" y="59409"/>
                      </a:lnTo>
                      <a:lnTo>
                        <a:pt x="18708" y="93112"/>
                      </a:lnTo>
                      <a:lnTo>
                        <a:pt x="48984" y="77224"/>
                      </a:lnTo>
                      <a:close/>
                    </a:path>
                  </a:pathLst>
                </a:custGeom>
                <a:solidFill>
                  <a:schemeClr val="tx2">
                    <a:lumMod val="75000"/>
                  </a:schemeClr>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grpSp>
        </p:grpSp>
        <p:sp>
          <p:nvSpPr>
            <p:cNvPr id="492" name="Freeform: Shape 491">
              <a:extLst>
                <a:ext uri="{FF2B5EF4-FFF2-40B4-BE49-F238E27FC236}">
                  <a16:creationId xmlns:a16="http://schemas.microsoft.com/office/drawing/2014/main" id="{A77D2E1E-CDD5-4E6F-9655-64C39205D5CA}"/>
                </a:ext>
              </a:extLst>
            </p:cNvPr>
            <p:cNvSpPr/>
            <p:nvPr/>
          </p:nvSpPr>
          <p:spPr>
            <a:xfrm>
              <a:off x="9970397" y="4228584"/>
              <a:ext cx="52659" cy="72476"/>
            </a:xfrm>
            <a:custGeom>
              <a:avLst/>
              <a:gdLst>
                <a:gd name="connsiteX0" fmla="*/ 5213 w 52659"/>
                <a:gd name="connsiteY0" fmla="*/ 24243 h 72476"/>
                <a:gd name="connsiteX1" fmla="*/ 48948 w 52659"/>
                <a:gd name="connsiteY1" fmla="*/ 322 h 72476"/>
                <a:gd name="connsiteX2" fmla="*/ 52233 w 52659"/>
                <a:gd name="connsiteY2" fmla="*/ 3892 h 72476"/>
                <a:gd name="connsiteX3" fmla="*/ 0 w 52659"/>
                <a:gd name="connsiteY3" fmla="*/ 72477 h 72476"/>
                <a:gd name="connsiteX4" fmla="*/ 5248 w 52659"/>
                <a:gd name="connsiteY4" fmla="*/ 24243 h 724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59" h="72476">
                  <a:moveTo>
                    <a:pt x="5213" y="24243"/>
                  </a:moveTo>
                  <a:lnTo>
                    <a:pt x="48948" y="322"/>
                  </a:lnTo>
                  <a:cubicBezTo>
                    <a:pt x="51233" y="-928"/>
                    <a:pt x="53661" y="1714"/>
                    <a:pt x="52233" y="3892"/>
                  </a:cubicBezTo>
                  <a:lnTo>
                    <a:pt x="0" y="72477"/>
                  </a:lnTo>
                  <a:lnTo>
                    <a:pt x="5248" y="24243"/>
                  </a:lnTo>
                  <a:close/>
                </a:path>
              </a:pathLst>
            </a:custGeom>
            <a:solidFill>
              <a:srgbClr val="4D8C5D"/>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93" name="Freeform: Shape 492">
              <a:extLst>
                <a:ext uri="{FF2B5EF4-FFF2-40B4-BE49-F238E27FC236}">
                  <a16:creationId xmlns:a16="http://schemas.microsoft.com/office/drawing/2014/main" id="{7173C857-4945-4E4B-B096-20D1A442D94E}"/>
                </a:ext>
              </a:extLst>
            </p:cNvPr>
            <p:cNvSpPr/>
            <p:nvPr/>
          </p:nvSpPr>
          <p:spPr>
            <a:xfrm>
              <a:off x="9826373" y="4074921"/>
              <a:ext cx="450450" cy="307874"/>
            </a:xfrm>
            <a:custGeom>
              <a:avLst/>
              <a:gdLst>
                <a:gd name="connsiteX0" fmla="*/ 2963 w 450450"/>
                <a:gd name="connsiteY0" fmla="*/ 223640 h 307874"/>
                <a:gd name="connsiteX1" fmla="*/ 137383 w 450450"/>
                <a:gd name="connsiteY1" fmla="*/ 279122 h 307874"/>
                <a:gd name="connsiteX2" fmla="*/ 367236 w 450450"/>
                <a:gd name="connsiteY2" fmla="*/ 279122 h 307874"/>
                <a:gd name="connsiteX3" fmla="*/ 442211 w 450450"/>
                <a:gd name="connsiteY3" fmla="*/ 273981 h 307874"/>
                <a:gd name="connsiteX4" fmla="*/ 434928 w 450450"/>
                <a:gd name="connsiteY4" fmla="*/ 180298 h 307874"/>
                <a:gd name="connsiteX5" fmla="*/ 409365 w 450450"/>
                <a:gd name="connsiteY5" fmla="*/ 99467 h 307874"/>
                <a:gd name="connsiteX6" fmla="*/ 371663 w 450450"/>
                <a:gd name="connsiteY6" fmla="*/ 27598 h 307874"/>
                <a:gd name="connsiteX7" fmla="*/ 298044 w 450450"/>
                <a:gd name="connsiteY7" fmla="*/ 0 h 307874"/>
                <a:gd name="connsiteX8" fmla="*/ 219213 w 450450"/>
                <a:gd name="connsiteY8" fmla="*/ 0 h 307874"/>
                <a:gd name="connsiteX9" fmla="*/ 114462 w 450450"/>
                <a:gd name="connsiteY9" fmla="*/ 46842 h 307874"/>
                <a:gd name="connsiteX10" fmla="*/ 95504 w 450450"/>
                <a:gd name="connsiteY10" fmla="*/ 81544 h 307874"/>
                <a:gd name="connsiteX11" fmla="*/ 89756 w 450450"/>
                <a:gd name="connsiteY11" fmla="*/ 61730 h 307874"/>
                <a:gd name="connsiteX12" fmla="*/ 0 w 450450"/>
                <a:gd name="connsiteY12" fmla="*/ 81045 h 307874"/>
                <a:gd name="connsiteX13" fmla="*/ 2963 w 450450"/>
                <a:gd name="connsiteY13" fmla="*/ 223676 h 307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0450" h="307874">
                  <a:moveTo>
                    <a:pt x="2963" y="223640"/>
                  </a:moveTo>
                  <a:cubicBezTo>
                    <a:pt x="6534" y="308148"/>
                    <a:pt x="98932" y="333640"/>
                    <a:pt x="137383" y="279122"/>
                  </a:cubicBezTo>
                  <a:lnTo>
                    <a:pt x="367236" y="279122"/>
                  </a:lnTo>
                  <a:cubicBezTo>
                    <a:pt x="381053" y="297330"/>
                    <a:pt x="419790" y="300615"/>
                    <a:pt x="442211" y="273981"/>
                  </a:cubicBezTo>
                  <a:cubicBezTo>
                    <a:pt x="462668" y="249667"/>
                    <a:pt x="439105" y="198220"/>
                    <a:pt x="434928" y="180298"/>
                  </a:cubicBezTo>
                  <a:cubicBezTo>
                    <a:pt x="428501" y="152700"/>
                    <a:pt x="419504" y="125851"/>
                    <a:pt x="409365" y="99467"/>
                  </a:cubicBezTo>
                  <a:cubicBezTo>
                    <a:pt x="399796" y="74547"/>
                    <a:pt x="392906" y="45592"/>
                    <a:pt x="371663" y="27598"/>
                  </a:cubicBezTo>
                  <a:cubicBezTo>
                    <a:pt x="351455" y="10532"/>
                    <a:pt x="324214" y="1464"/>
                    <a:pt x="298044" y="0"/>
                  </a:cubicBezTo>
                  <a:lnTo>
                    <a:pt x="219213" y="0"/>
                  </a:lnTo>
                  <a:cubicBezTo>
                    <a:pt x="149236" y="0"/>
                    <a:pt x="128922" y="28990"/>
                    <a:pt x="114462" y="46842"/>
                  </a:cubicBezTo>
                  <a:cubicBezTo>
                    <a:pt x="109821" y="52554"/>
                    <a:pt x="95504" y="81544"/>
                    <a:pt x="95504" y="81544"/>
                  </a:cubicBezTo>
                  <a:lnTo>
                    <a:pt x="89756" y="61730"/>
                  </a:lnTo>
                  <a:lnTo>
                    <a:pt x="0" y="81045"/>
                  </a:lnTo>
                  <a:cubicBezTo>
                    <a:pt x="0" y="81045"/>
                    <a:pt x="0" y="153699"/>
                    <a:pt x="2963" y="223676"/>
                  </a:cubicBezTo>
                  <a:close/>
                </a:path>
              </a:pathLst>
            </a:custGeom>
            <a:solidFill>
              <a:schemeClr val="accent6"/>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94" name="Freeform: Shape 493">
              <a:extLst>
                <a:ext uri="{FF2B5EF4-FFF2-40B4-BE49-F238E27FC236}">
                  <a16:creationId xmlns:a16="http://schemas.microsoft.com/office/drawing/2014/main" id="{59EBC8A0-05CA-4ECE-88D4-FF69E47A45A8}"/>
                </a:ext>
              </a:extLst>
            </p:cNvPr>
            <p:cNvSpPr/>
            <p:nvPr/>
          </p:nvSpPr>
          <p:spPr>
            <a:xfrm>
              <a:off x="9963757" y="4221693"/>
              <a:ext cx="71471" cy="132350"/>
            </a:xfrm>
            <a:custGeom>
              <a:avLst/>
              <a:gdLst>
                <a:gd name="connsiteX0" fmla="*/ 0 w 71471"/>
                <a:gd name="connsiteY0" fmla="*/ 132351 h 132350"/>
                <a:gd name="connsiteX1" fmla="*/ 63550 w 71471"/>
                <a:gd name="connsiteY1" fmla="*/ 2358 h 132350"/>
                <a:gd name="connsiteX2" fmla="*/ 71262 w 71471"/>
                <a:gd name="connsiteY2" fmla="*/ 5392 h 132350"/>
                <a:gd name="connsiteX3" fmla="*/ 32953 w 71471"/>
                <a:gd name="connsiteY3" fmla="*/ 132351 h 132350"/>
                <a:gd name="connsiteX4" fmla="*/ 0 w 71471"/>
                <a:gd name="connsiteY4" fmla="*/ 132351 h 132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471" h="132350">
                  <a:moveTo>
                    <a:pt x="0" y="132351"/>
                  </a:moveTo>
                  <a:lnTo>
                    <a:pt x="63550" y="2358"/>
                  </a:lnTo>
                  <a:cubicBezTo>
                    <a:pt x="65800" y="-2248"/>
                    <a:pt x="72762" y="501"/>
                    <a:pt x="71262" y="5392"/>
                  </a:cubicBezTo>
                  <a:lnTo>
                    <a:pt x="32953" y="132351"/>
                  </a:lnTo>
                  <a:lnTo>
                    <a:pt x="0" y="132351"/>
                  </a:lnTo>
                  <a:close/>
                </a:path>
              </a:pathLst>
            </a:custGeom>
            <a:solidFill>
              <a:schemeClr val="accent6">
                <a:lumMod val="75000"/>
              </a:schemeClr>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95" name="Freeform: Shape 494">
              <a:extLst>
                <a:ext uri="{FF2B5EF4-FFF2-40B4-BE49-F238E27FC236}">
                  <a16:creationId xmlns:a16="http://schemas.microsoft.com/office/drawing/2014/main" id="{BDDDEFC8-9C90-4813-AC16-04A759BDB7C9}"/>
                </a:ext>
              </a:extLst>
            </p:cNvPr>
            <p:cNvSpPr/>
            <p:nvPr/>
          </p:nvSpPr>
          <p:spPr>
            <a:xfrm>
              <a:off x="10190825" y="4161322"/>
              <a:ext cx="32702" cy="195577"/>
            </a:xfrm>
            <a:custGeom>
              <a:avLst/>
              <a:gdLst>
                <a:gd name="connsiteX0" fmla="*/ 2820 w 32702"/>
                <a:gd name="connsiteY0" fmla="*/ 195542 h 195577"/>
                <a:gd name="connsiteX1" fmla="*/ 2427 w 32702"/>
                <a:gd name="connsiteY1" fmla="*/ 195542 h 195577"/>
                <a:gd name="connsiteX2" fmla="*/ 35 w 32702"/>
                <a:gd name="connsiteY2" fmla="*/ 192329 h 195577"/>
                <a:gd name="connsiteX3" fmla="*/ 27062 w 32702"/>
                <a:gd name="connsiteY3" fmla="*/ 2427 h 195577"/>
                <a:gd name="connsiteX4" fmla="*/ 30275 w 32702"/>
                <a:gd name="connsiteY4" fmla="*/ 35 h 195577"/>
                <a:gd name="connsiteX5" fmla="*/ 32667 w 32702"/>
                <a:gd name="connsiteY5" fmla="*/ 3249 h 195577"/>
                <a:gd name="connsiteX6" fmla="*/ 5641 w 32702"/>
                <a:gd name="connsiteY6" fmla="*/ 193150 h 195577"/>
                <a:gd name="connsiteX7" fmla="*/ 2820 w 32702"/>
                <a:gd name="connsiteY7" fmla="*/ 195578 h 195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702" h="195577">
                  <a:moveTo>
                    <a:pt x="2820" y="195542"/>
                  </a:moveTo>
                  <a:cubicBezTo>
                    <a:pt x="2820" y="195542"/>
                    <a:pt x="2534" y="195542"/>
                    <a:pt x="2427" y="195542"/>
                  </a:cubicBezTo>
                  <a:cubicBezTo>
                    <a:pt x="892" y="195328"/>
                    <a:pt x="-215" y="193900"/>
                    <a:pt x="35" y="192329"/>
                  </a:cubicBezTo>
                  <a:lnTo>
                    <a:pt x="27062" y="2427"/>
                  </a:lnTo>
                  <a:cubicBezTo>
                    <a:pt x="27276" y="892"/>
                    <a:pt x="28740" y="-215"/>
                    <a:pt x="30275" y="35"/>
                  </a:cubicBezTo>
                  <a:cubicBezTo>
                    <a:pt x="31810" y="250"/>
                    <a:pt x="32917" y="1678"/>
                    <a:pt x="32667" y="3249"/>
                  </a:cubicBezTo>
                  <a:lnTo>
                    <a:pt x="5641" y="193150"/>
                  </a:lnTo>
                  <a:cubicBezTo>
                    <a:pt x="5426" y="194578"/>
                    <a:pt x="4212" y="195578"/>
                    <a:pt x="2820" y="195578"/>
                  </a:cubicBezTo>
                  <a:close/>
                </a:path>
              </a:pathLst>
            </a:custGeom>
            <a:solidFill>
              <a:schemeClr val="accent6">
                <a:lumMod val="75000"/>
              </a:schemeClr>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96" name="Freeform: Shape 495">
              <a:extLst>
                <a:ext uri="{FF2B5EF4-FFF2-40B4-BE49-F238E27FC236}">
                  <a16:creationId xmlns:a16="http://schemas.microsoft.com/office/drawing/2014/main" id="{4B990647-66A0-45B6-AA19-F9BB76391E89}"/>
                </a:ext>
              </a:extLst>
            </p:cNvPr>
            <p:cNvSpPr/>
            <p:nvPr/>
          </p:nvSpPr>
          <p:spPr>
            <a:xfrm>
              <a:off x="9865789" y="4153610"/>
              <a:ext cx="58979" cy="125136"/>
            </a:xfrm>
            <a:custGeom>
              <a:avLst/>
              <a:gdLst>
                <a:gd name="connsiteX0" fmla="*/ 2820 w 58979"/>
                <a:gd name="connsiteY0" fmla="*/ 125137 h 125136"/>
                <a:gd name="connsiteX1" fmla="*/ 1678 w 58979"/>
                <a:gd name="connsiteY1" fmla="*/ 124887 h 125136"/>
                <a:gd name="connsiteX2" fmla="*/ 249 w 58979"/>
                <a:gd name="connsiteY2" fmla="*/ 121138 h 125136"/>
                <a:gd name="connsiteX3" fmla="*/ 53553 w 58979"/>
                <a:gd name="connsiteY3" fmla="*/ 1678 h 125136"/>
                <a:gd name="connsiteX4" fmla="*/ 57302 w 58979"/>
                <a:gd name="connsiteY4" fmla="*/ 249 h 125136"/>
                <a:gd name="connsiteX5" fmla="*/ 58730 w 58979"/>
                <a:gd name="connsiteY5" fmla="*/ 3998 h 125136"/>
                <a:gd name="connsiteX6" fmla="*/ 5426 w 58979"/>
                <a:gd name="connsiteY6" fmla="*/ 123459 h 125136"/>
                <a:gd name="connsiteX7" fmla="*/ 2820 w 58979"/>
                <a:gd name="connsiteY7" fmla="*/ 125137 h 125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979" h="125136">
                  <a:moveTo>
                    <a:pt x="2820" y="125137"/>
                  </a:moveTo>
                  <a:cubicBezTo>
                    <a:pt x="2427" y="125137"/>
                    <a:pt x="2035" y="125065"/>
                    <a:pt x="1678" y="124887"/>
                  </a:cubicBezTo>
                  <a:cubicBezTo>
                    <a:pt x="249" y="124244"/>
                    <a:pt x="-393" y="122566"/>
                    <a:pt x="249" y="121138"/>
                  </a:cubicBezTo>
                  <a:lnTo>
                    <a:pt x="53553" y="1678"/>
                  </a:lnTo>
                  <a:cubicBezTo>
                    <a:pt x="54196" y="249"/>
                    <a:pt x="55874" y="-393"/>
                    <a:pt x="57302" y="249"/>
                  </a:cubicBezTo>
                  <a:cubicBezTo>
                    <a:pt x="58730" y="892"/>
                    <a:pt x="59373" y="2570"/>
                    <a:pt x="58730" y="3998"/>
                  </a:cubicBezTo>
                  <a:lnTo>
                    <a:pt x="5426" y="123459"/>
                  </a:lnTo>
                  <a:cubicBezTo>
                    <a:pt x="4962" y="124530"/>
                    <a:pt x="3927" y="125137"/>
                    <a:pt x="2820" y="125137"/>
                  </a:cubicBezTo>
                  <a:close/>
                </a:path>
              </a:pathLst>
            </a:custGeom>
            <a:solidFill>
              <a:schemeClr val="accent6">
                <a:lumMod val="75000"/>
              </a:schemeClr>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97" name="Freeform: Shape 496">
              <a:extLst>
                <a:ext uri="{FF2B5EF4-FFF2-40B4-BE49-F238E27FC236}">
                  <a16:creationId xmlns:a16="http://schemas.microsoft.com/office/drawing/2014/main" id="{FBDE35DE-2642-4932-9AAB-17DA98F73381}"/>
                </a:ext>
              </a:extLst>
            </p:cNvPr>
            <p:cNvSpPr/>
            <p:nvPr/>
          </p:nvSpPr>
          <p:spPr>
            <a:xfrm>
              <a:off x="9835692" y="4164142"/>
              <a:ext cx="18779" cy="18779"/>
            </a:xfrm>
            <a:custGeom>
              <a:avLst/>
              <a:gdLst>
                <a:gd name="connsiteX0" fmla="*/ 18780 w 18779"/>
                <a:gd name="connsiteY0" fmla="*/ 9390 h 18779"/>
                <a:gd name="connsiteX1" fmla="*/ 9390 w 18779"/>
                <a:gd name="connsiteY1" fmla="*/ 18780 h 18779"/>
                <a:gd name="connsiteX2" fmla="*/ 0 w 18779"/>
                <a:gd name="connsiteY2" fmla="*/ 9390 h 18779"/>
                <a:gd name="connsiteX3" fmla="*/ 9390 w 18779"/>
                <a:gd name="connsiteY3" fmla="*/ 0 h 18779"/>
                <a:gd name="connsiteX4" fmla="*/ 18780 w 18779"/>
                <a:gd name="connsiteY4" fmla="*/ 9390 h 187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79" h="18779">
                  <a:moveTo>
                    <a:pt x="18780" y="9390"/>
                  </a:moveTo>
                  <a:cubicBezTo>
                    <a:pt x="18780" y="14567"/>
                    <a:pt x="14567" y="18780"/>
                    <a:pt x="9390" y="18780"/>
                  </a:cubicBezTo>
                  <a:cubicBezTo>
                    <a:pt x="4213" y="18780"/>
                    <a:pt x="0" y="14567"/>
                    <a:pt x="0" y="9390"/>
                  </a:cubicBezTo>
                  <a:cubicBezTo>
                    <a:pt x="0" y="4213"/>
                    <a:pt x="4213" y="0"/>
                    <a:pt x="9390" y="0"/>
                  </a:cubicBezTo>
                  <a:cubicBezTo>
                    <a:pt x="14567" y="0"/>
                    <a:pt x="18780" y="4213"/>
                    <a:pt x="18780" y="9390"/>
                  </a:cubicBezTo>
                  <a:close/>
                </a:path>
              </a:pathLst>
            </a:custGeom>
            <a:solidFill>
              <a:srgbClr val="FFFFFF"/>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grpSp>
      <p:sp>
        <p:nvSpPr>
          <p:cNvPr id="2" name="Textfeld 1">
            <a:extLst>
              <a:ext uri="{FF2B5EF4-FFF2-40B4-BE49-F238E27FC236}">
                <a16:creationId xmlns:a16="http://schemas.microsoft.com/office/drawing/2014/main" id="{D0440DA8-3D52-E003-ECEE-917C9FFB0176}"/>
              </a:ext>
            </a:extLst>
          </p:cNvPr>
          <p:cNvSpPr txBox="1"/>
          <p:nvPr>
            <p:custDataLst>
              <p:tags r:id="rId3"/>
            </p:custDataLst>
          </p:nvPr>
        </p:nvSpPr>
        <p:spPr>
          <a:xfrm>
            <a:off x="150955" y="20641"/>
            <a:ext cx="2743200" cy="483209"/>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en-US" sz="1200" b="1">
                <a:solidFill>
                  <a:srgbClr val="575757"/>
                </a:solidFill>
                <a:sym typeface="Trebuchet MS" panose="020B0603020202020204" pitchFamily="34" charset="0"/>
              </a:rPr>
              <a:t>TM 21.Jun.24:
</a:t>
            </a:r>
          </a:p>
        </p:txBody>
      </p:sp>
    </p:spTree>
    <p:extLst>
      <p:ext uri="{BB962C8B-B14F-4D97-AF65-F5344CB8AC3E}">
        <p14:creationId xmlns:p14="http://schemas.microsoft.com/office/powerpoint/2010/main" val="13595093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 name="think-cell data - do not delete" hidden="1">
            <a:extLst>
              <a:ext uri="{FF2B5EF4-FFF2-40B4-BE49-F238E27FC236}">
                <a16:creationId xmlns:a16="http://schemas.microsoft.com/office/drawing/2014/main" id="{CFCFB83C-5F6C-9E2E-DD8D-A524C0203A76}"/>
              </a:ext>
            </a:extLst>
          </p:cNvPr>
          <p:cNvGraphicFramePr>
            <a:graphicFrameLocks noChangeAspect="1"/>
          </p:cNvGraphicFramePr>
          <p:nvPr>
            <p:custDataLst>
              <p:tags r:id="rId1"/>
            </p:custDataLst>
            <p:extLst>
              <p:ext uri="{D42A27DB-BD31-4B8C-83A1-F6EECF244321}">
                <p14:modId xmlns:p14="http://schemas.microsoft.com/office/powerpoint/2010/main" val="106973470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404" imgH="405" progId="TCLayout.ActiveDocument.1">
                  <p:embed/>
                </p:oleObj>
              </mc:Choice>
              <mc:Fallback>
                <p:oleObj name="think-cell Slide" r:id="rId6" imgW="404" imgH="405" progId="TCLayout.ActiveDocument.1">
                  <p:embed/>
                  <p:pic>
                    <p:nvPicPr>
                      <p:cNvPr id="20" name="think-cell data - do not delete" hidden="1">
                        <a:extLst>
                          <a:ext uri="{FF2B5EF4-FFF2-40B4-BE49-F238E27FC236}">
                            <a16:creationId xmlns:a16="http://schemas.microsoft.com/office/drawing/2014/main" id="{CFCFB83C-5F6C-9E2E-DD8D-A524C0203A76}"/>
                          </a:ext>
                        </a:extLst>
                      </p:cNvPr>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34" name="Rectangle 33">
            <a:extLst>
              <a:ext uri="{FF2B5EF4-FFF2-40B4-BE49-F238E27FC236}">
                <a16:creationId xmlns:a16="http://schemas.microsoft.com/office/drawing/2014/main" id="{0D50382F-04F0-E143-CD91-72A552A5238C}"/>
              </a:ext>
            </a:extLst>
          </p:cNvPr>
          <p:cNvSpPr/>
          <p:nvPr/>
        </p:nvSpPr>
        <p:spPr>
          <a:xfrm>
            <a:off x="6189854" y="2099891"/>
            <a:ext cx="5346823" cy="4079875"/>
          </a:xfrm>
          <a:prstGeom prst="rect">
            <a:avLst/>
          </a:prstGeom>
          <a:solidFill>
            <a:srgbClr val="FFFFFF"/>
          </a:solidFill>
          <a:ln w="9525" cap="rnd" cmpd="sng" algn="ctr">
            <a:solidFill>
              <a:schemeClr val="tx1">
                <a:lumMod val="20000"/>
                <a:lumOff val="80000"/>
              </a:schemeClr>
            </a:solidFill>
            <a:prstDash val="solid"/>
            <a:round/>
            <a:headEnd type="none" w="med" len="med"/>
            <a:tailEnd type="none" w="med" len="med"/>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a typeface="Microsoft YaHei" panose="020B0503020204020204" pitchFamily="34" charset="-122"/>
            </a:endParaRPr>
          </a:p>
        </p:txBody>
      </p:sp>
      <p:sp>
        <p:nvSpPr>
          <p:cNvPr id="33" name="Rectangle 32">
            <a:extLst>
              <a:ext uri="{FF2B5EF4-FFF2-40B4-BE49-F238E27FC236}">
                <a16:creationId xmlns:a16="http://schemas.microsoft.com/office/drawing/2014/main" id="{3AE3EEAF-65CC-6FB1-9C2E-D2E0F9D4FD01}"/>
              </a:ext>
            </a:extLst>
          </p:cNvPr>
          <p:cNvSpPr/>
          <p:nvPr/>
        </p:nvSpPr>
        <p:spPr>
          <a:xfrm>
            <a:off x="628650" y="2081213"/>
            <a:ext cx="5346823" cy="4079875"/>
          </a:xfrm>
          <a:prstGeom prst="rect">
            <a:avLst/>
          </a:prstGeom>
          <a:solidFill>
            <a:srgbClr val="FFFFFF"/>
          </a:solidFill>
          <a:ln w="9525" cap="rnd" cmpd="sng" algn="ctr">
            <a:solidFill>
              <a:schemeClr val="tx1">
                <a:lumMod val="20000"/>
                <a:lumOff val="80000"/>
              </a:schemeClr>
            </a:solidFill>
            <a:prstDash val="solid"/>
            <a:round/>
            <a:headEnd type="none" w="med" len="med"/>
            <a:tailEnd type="none" w="med" len="med"/>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a typeface="Microsoft YaHei" panose="020B0503020204020204" pitchFamily="34" charset="-122"/>
            </a:endParaRPr>
          </a:p>
        </p:txBody>
      </p:sp>
      <p:sp>
        <p:nvSpPr>
          <p:cNvPr id="2" name="Title 1">
            <a:extLst>
              <a:ext uri="{FF2B5EF4-FFF2-40B4-BE49-F238E27FC236}">
                <a16:creationId xmlns:a16="http://schemas.microsoft.com/office/drawing/2014/main" id="{CCE5FE30-9613-D98D-75A1-224201C6125C}"/>
              </a:ext>
            </a:extLst>
          </p:cNvPr>
          <p:cNvSpPr>
            <a:spLocks noGrp="1"/>
          </p:cNvSpPr>
          <p:nvPr>
            <p:ph type="title"/>
          </p:nvPr>
        </p:nvSpPr>
        <p:spPr>
          <a:xfrm>
            <a:off x="630000" y="622800"/>
            <a:ext cx="10933350" cy="664797"/>
          </a:xfrm>
        </p:spPr>
        <p:txBody>
          <a:bodyPr vert="horz"/>
          <a:lstStyle/>
          <a:p>
            <a:r>
              <a:rPr lang="zh-TW" altLang="en-US">
                <a:solidFill>
                  <a:srgbClr val="A8B21C"/>
                </a:solidFill>
                <a:latin typeface="Microsoft YaHei" panose="020B0503020204020204" pitchFamily="34" charset="-122"/>
                <a:ea typeface="Microsoft YaHei" panose="020B0503020204020204" pitchFamily="34" charset="-122"/>
              </a:rPr>
              <a:t>下一步</a:t>
            </a:r>
            <a:r>
              <a:rPr lang="en-US" altLang="zh-TW">
                <a:solidFill>
                  <a:srgbClr val="A8B21C"/>
                </a:solidFill>
                <a:latin typeface="Microsoft YaHei" panose="020B0503020204020204" pitchFamily="34" charset="-122"/>
                <a:ea typeface="Microsoft YaHei" panose="020B0503020204020204" pitchFamily="34" charset="-122"/>
              </a:rPr>
              <a:t>| </a:t>
            </a:r>
            <a:r>
              <a:rPr lang="zh-TW" altLang="en-US">
                <a:latin typeface="Microsoft YaHei" panose="020B0503020204020204" pitchFamily="34" charset="-122"/>
                <a:ea typeface="Microsoft YaHei" panose="020B0503020204020204" pitchFamily="34" charset="-122"/>
              </a:rPr>
              <a:t>短期拓展預測模型應用範圍並建立活動反饋機制；長期透過進階模型提供全面建議、打造完善行銷平台、強化數位經營組織及流程</a:t>
            </a:r>
            <a:endParaRPr lang="en-US">
              <a:latin typeface="Microsoft YaHei" panose="020B0503020204020204" pitchFamily="34" charset="-122"/>
              <a:ea typeface="Microsoft YaHei" panose="020B0503020204020204" pitchFamily="34" charset="-122"/>
            </a:endParaRPr>
          </a:p>
        </p:txBody>
      </p:sp>
      <p:sp>
        <p:nvSpPr>
          <p:cNvPr id="4" name="Arrow: Pentagon 8">
            <a:extLst>
              <a:ext uri="{FF2B5EF4-FFF2-40B4-BE49-F238E27FC236}">
                <a16:creationId xmlns:a16="http://schemas.microsoft.com/office/drawing/2014/main" id="{129F09F8-EC74-A6B8-9EA4-E6A85436C8D7}"/>
              </a:ext>
            </a:extLst>
          </p:cNvPr>
          <p:cNvSpPr/>
          <p:nvPr/>
        </p:nvSpPr>
        <p:spPr>
          <a:xfrm>
            <a:off x="630000" y="1689100"/>
            <a:ext cx="5400167" cy="392113"/>
          </a:xfrm>
          <a:prstGeom prst="homePlate">
            <a:avLst>
              <a:gd name="adj" fmla="val 12004"/>
            </a:avLst>
          </a:prstGeom>
          <a:gradFill>
            <a:gsLst>
              <a:gs pos="0">
                <a:schemeClr val="tx2"/>
              </a:gs>
              <a:gs pos="100000">
                <a:schemeClr val="accent1">
                  <a:lumMod val="90000"/>
                  <a:lumOff val="10000"/>
                </a:schemeClr>
              </a:gs>
            </a:gsLst>
            <a:lin ang="2700000" scaled="0"/>
          </a:gradFill>
          <a:ln w="9525" cap="rnd" cmpd="sng" algn="ctr">
            <a:noFill/>
            <a:prstDash val="solid"/>
            <a:round/>
            <a:headEnd type="none" w="med" len="med"/>
            <a:tailEnd type="none" w="med" len="med"/>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14427"/>
            <a:r>
              <a:rPr lang="zh-TW" altLang="en-US" sz="1600" b="1">
                <a:solidFill>
                  <a:schemeClr val="bg1"/>
                </a:solidFill>
                <a:ea typeface="Microsoft YaHei" panose="020B0503020204020204" pitchFamily="34" charset="-122"/>
                <a:sym typeface="Century Gothic" panose="020B0502020202020204" pitchFamily="34" charset="0"/>
              </a:rPr>
              <a:t>短期</a:t>
            </a:r>
            <a:r>
              <a:rPr lang="en-US" altLang="zh-TW" sz="1600" b="1">
                <a:solidFill>
                  <a:schemeClr val="bg1"/>
                </a:solidFill>
                <a:ea typeface="Microsoft YaHei" panose="020B0503020204020204" pitchFamily="34" charset="-122"/>
                <a:sym typeface="Century Gothic" panose="020B0502020202020204" pitchFamily="34" charset="0"/>
              </a:rPr>
              <a:t> (1-2</a:t>
            </a:r>
            <a:r>
              <a:rPr lang="zh-TW" altLang="en-US" sz="1600" b="1">
                <a:solidFill>
                  <a:schemeClr val="bg1"/>
                </a:solidFill>
                <a:ea typeface="Microsoft YaHei" panose="020B0503020204020204" pitchFamily="34" charset="-122"/>
                <a:sym typeface="Century Gothic" panose="020B0502020202020204" pitchFamily="34" charset="0"/>
              </a:rPr>
              <a:t>年</a:t>
            </a:r>
            <a:r>
              <a:rPr lang="en-US" altLang="zh-TW" sz="1600" b="1">
                <a:solidFill>
                  <a:schemeClr val="bg1"/>
                </a:solidFill>
                <a:ea typeface="Microsoft YaHei" panose="020B0503020204020204" pitchFamily="34" charset="-122"/>
                <a:sym typeface="Century Gothic" panose="020B0502020202020204" pitchFamily="34" charset="0"/>
              </a:rPr>
              <a:t>)</a:t>
            </a:r>
            <a:endParaRPr lang="en-US" sz="1600" b="1">
              <a:solidFill>
                <a:schemeClr val="bg1"/>
              </a:solidFill>
              <a:ea typeface="Microsoft YaHei" panose="020B0503020204020204" pitchFamily="34" charset="-122"/>
              <a:sym typeface="Century Gothic" panose="020B0502020202020204" pitchFamily="34" charset="0"/>
            </a:endParaRPr>
          </a:p>
        </p:txBody>
      </p:sp>
      <p:sp>
        <p:nvSpPr>
          <p:cNvPr id="5" name="Arrow: Chevron 9">
            <a:extLst>
              <a:ext uri="{FF2B5EF4-FFF2-40B4-BE49-F238E27FC236}">
                <a16:creationId xmlns:a16="http://schemas.microsoft.com/office/drawing/2014/main" id="{8FDFE10A-0F3A-BC8B-4F6B-2979B7ED1C53}"/>
              </a:ext>
            </a:extLst>
          </p:cNvPr>
          <p:cNvSpPr/>
          <p:nvPr/>
        </p:nvSpPr>
        <p:spPr>
          <a:xfrm>
            <a:off x="6163183" y="1689100"/>
            <a:ext cx="5400167" cy="392113"/>
          </a:xfrm>
          <a:prstGeom prst="chevron">
            <a:avLst>
              <a:gd name="adj" fmla="val 12004"/>
            </a:avLst>
          </a:prstGeom>
          <a:gradFill>
            <a:gsLst>
              <a:gs pos="0">
                <a:schemeClr val="tx2"/>
              </a:gs>
              <a:gs pos="100000">
                <a:schemeClr val="accent1">
                  <a:lumMod val="90000"/>
                  <a:lumOff val="10000"/>
                </a:schemeClr>
              </a:gs>
            </a:gsLst>
            <a:lin ang="2700000" scaled="0"/>
          </a:gradFill>
          <a:ln w="9525" cap="rnd" cmpd="sng" algn="ctr">
            <a:noFill/>
            <a:prstDash val="solid"/>
            <a:round/>
            <a:headEnd type="none" w="med" len="med"/>
            <a:tailEnd type="none" w="med" len="med"/>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14427"/>
            <a:r>
              <a:rPr lang="zh-TW" altLang="en-US" sz="1600" b="1">
                <a:solidFill>
                  <a:schemeClr val="bg1"/>
                </a:solidFill>
                <a:ea typeface="Microsoft YaHei" panose="020B0503020204020204" pitchFamily="34" charset="-122"/>
                <a:sym typeface="Century Gothic" panose="020B0502020202020204" pitchFamily="34" charset="0"/>
              </a:rPr>
              <a:t>中長期 </a:t>
            </a:r>
            <a:r>
              <a:rPr lang="en-US" altLang="zh-TW" sz="1600" b="1">
                <a:solidFill>
                  <a:schemeClr val="bg1"/>
                </a:solidFill>
                <a:ea typeface="Microsoft YaHei" panose="020B0503020204020204" pitchFamily="34" charset="-122"/>
                <a:sym typeface="Century Gothic" panose="020B0502020202020204" pitchFamily="34" charset="0"/>
              </a:rPr>
              <a:t>(3-5</a:t>
            </a:r>
            <a:r>
              <a:rPr lang="zh-TW" altLang="en-US" sz="1600" b="1">
                <a:solidFill>
                  <a:schemeClr val="bg1"/>
                </a:solidFill>
                <a:ea typeface="Microsoft YaHei" panose="020B0503020204020204" pitchFamily="34" charset="-122"/>
                <a:sym typeface="Century Gothic" panose="020B0502020202020204" pitchFamily="34" charset="0"/>
              </a:rPr>
              <a:t>年</a:t>
            </a:r>
            <a:r>
              <a:rPr lang="en-US" altLang="zh-TW" sz="1600" b="1">
                <a:solidFill>
                  <a:schemeClr val="bg1"/>
                </a:solidFill>
                <a:ea typeface="Microsoft YaHei" panose="020B0503020204020204" pitchFamily="34" charset="-122"/>
                <a:sym typeface="Century Gothic" panose="020B0502020202020204" pitchFamily="34" charset="0"/>
              </a:rPr>
              <a:t>)</a:t>
            </a:r>
            <a:endParaRPr lang="en-US" sz="1600" b="1">
              <a:solidFill>
                <a:schemeClr val="bg1"/>
              </a:solidFill>
              <a:ea typeface="Microsoft YaHei" panose="020B0503020204020204" pitchFamily="34" charset="-122"/>
              <a:sym typeface="Century Gothic" panose="020B0502020202020204" pitchFamily="34" charset="0"/>
            </a:endParaRPr>
          </a:p>
        </p:txBody>
      </p:sp>
      <p:sp>
        <p:nvSpPr>
          <p:cNvPr id="7" name="object 20">
            <a:extLst>
              <a:ext uri="{FF2B5EF4-FFF2-40B4-BE49-F238E27FC236}">
                <a16:creationId xmlns:a16="http://schemas.microsoft.com/office/drawing/2014/main" id="{C9170A8B-8C01-D07A-2789-933717C0A38E}"/>
              </a:ext>
            </a:extLst>
          </p:cNvPr>
          <p:cNvSpPr txBox="1"/>
          <p:nvPr/>
        </p:nvSpPr>
        <p:spPr>
          <a:xfrm>
            <a:off x="1054076" y="2310769"/>
            <a:ext cx="4552014" cy="873957"/>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0" tIns="12065" rIns="0" bIns="0" rtlCol="0">
            <a:spAutoFit/>
          </a:bodyPr>
          <a:lstStyle/>
          <a:p>
            <a:pPr marL="108000" lvl="1">
              <a:buClr>
                <a:schemeClr val="tx2"/>
              </a:buClr>
              <a:tabLst>
                <a:tab pos="227965" algn="l"/>
              </a:tabLst>
            </a:pPr>
            <a:r>
              <a:rPr lang="zh-TW" altLang="en-US" sz="1400" b="1">
                <a:solidFill>
                  <a:srgbClr val="03522D"/>
                </a:solidFill>
                <a:latin typeface="Microsoft YaHei" panose="020B0503020204020204" pitchFamily="34" charset="-122"/>
                <a:ea typeface="Microsoft YaHei" panose="020B0503020204020204" pitchFamily="34" charset="-122"/>
                <a:cs typeface="Microsoft GothicNeo" panose="020B0500000101010101" pitchFamily="34" charset="-127"/>
                <a:sym typeface="Microsoft YaHei" panose="020B0503020204020204" pitchFamily="34" charset="-122"/>
              </a:rPr>
              <a:t>拓展既有預測模型應用範圍，進一步納入多方參數</a:t>
            </a:r>
            <a:endParaRPr lang="en-US" altLang="zh-TW" sz="1400" b="1">
              <a:solidFill>
                <a:srgbClr val="03522D"/>
              </a:solidFill>
              <a:latin typeface="Microsoft YaHei" panose="020B0503020204020204" pitchFamily="34" charset="-122"/>
              <a:ea typeface="Microsoft YaHei" panose="020B0503020204020204" pitchFamily="34" charset="-122"/>
              <a:cs typeface="Microsoft GothicNeo" panose="020B0500000101010101" pitchFamily="34" charset="-127"/>
              <a:sym typeface="Microsoft YaHei" panose="020B0503020204020204" pitchFamily="34" charset="-122"/>
            </a:endParaRPr>
          </a:p>
          <a:p>
            <a:pPr marL="324000" lvl="1" indent="-216000">
              <a:buClr>
                <a:schemeClr val="tx2"/>
              </a:buClr>
              <a:buFont typeface="Trebuchet MS" panose="020B0603020202020204" pitchFamily="34" charset="0"/>
              <a:buChar char="•"/>
              <a:tabLst>
                <a:tab pos="227965" algn="l"/>
              </a:tabLst>
            </a:pPr>
            <a:r>
              <a:rPr lang="zh-TW" altLang="en-US" sz="1400">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rPr>
              <a:t>擴大涵蓋範圍至所有</a:t>
            </a:r>
            <a:r>
              <a:rPr lang="en-US" altLang="zh-TW" sz="1400">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rPr>
              <a:t>M</a:t>
            </a:r>
            <a:r>
              <a:rPr lang="zh-TW" altLang="en-US" sz="1400">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rPr>
              <a:t>客</a:t>
            </a:r>
            <a:endParaRPr lang="en-US" altLang="zh-TW" sz="1400">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endParaRPr>
          </a:p>
          <a:p>
            <a:pPr marL="324000" lvl="1" indent="-216000">
              <a:buClr>
                <a:schemeClr val="tx2"/>
              </a:buClr>
              <a:buFont typeface="Trebuchet MS" panose="020B0603020202020204" pitchFamily="34" charset="0"/>
              <a:buChar char="•"/>
              <a:tabLst>
                <a:tab pos="227965" algn="l"/>
              </a:tabLst>
            </a:pPr>
            <a:r>
              <a:rPr lang="zh-TW" altLang="en-US" sz="1400">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rPr>
              <a:t>納入行內外參數</a:t>
            </a:r>
            <a:r>
              <a:rPr lang="en-US" altLang="zh-TW" sz="1400">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rPr>
              <a:t>(</a:t>
            </a:r>
            <a:r>
              <a:rPr lang="zh-TW" altLang="en-US" sz="1400">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rPr>
              <a:t>如</a:t>
            </a:r>
            <a:r>
              <a:rPr lang="en-US" altLang="zh-TW" sz="1400">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rPr>
              <a:t>:</a:t>
            </a:r>
            <a:r>
              <a:rPr lang="zh-TW" altLang="en-US" sz="1400">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rPr>
              <a:t> 產品交易路徑</a:t>
            </a:r>
            <a:r>
              <a:rPr lang="en-US" altLang="zh-TW" sz="1400">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rPr>
              <a:t>)</a:t>
            </a:r>
            <a:r>
              <a:rPr lang="zh-TW" altLang="en-US" sz="1400">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rPr>
              <a:t>，就不同行為的客戶產生</a:t>
            </a:r>
            <a:r>
              <a:rPr lang="en-US" altLang="zh-TW" sz="1400">
                <a:solidFill>
                  <a:srgbClr val="29BA74"/>
                </a:solidFill>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rPr>
              <a:t>"</a:t>
            </a:r>
            <a:r>
              <a:rPr lang="zh-TW" altLang="en-US" sz="1400">
                <a:solidFill>
                  <a:srgbClr val="29BA74"/>
                </a:solidFill>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rPr>
              <a:t>下一最佳產品</a:t>
            </a:r>
            <a:r>
              <a:rPr lang="en-US" altLang="zh-TW" sz="1400">
                <a:solidFill>
                  <a:srgbClr val="29BA74"/>
                </a:solidFill>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rPr>
              <a:t>"</a:t>
            </a:r>
            <a:r>
              <a:rPr lang="zh-TW" altLang="en-US" sz="1400">
                <a:solidFill>
                  <a:srgbClr val="29BA74"/>
                </a:solidFill>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rPr>
              <a:t>建議</a:t>
            </a:r>
            <a:endParaRPr lang="en-US" altLang="zh-TW" sz="1400">
              <a:solidFill>
                <a:srgbClr val="29BA74"/>
              </a:solidFill>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endParaRPr>
          </a:p>
        </p:txBody>
      </p:sp>
      <p:sp>
        <p:nvSpPr>
          <p:cNvPr id="8" name="object 20">
            <a:extLst>
              <a:ext uri="{FF2B5EF4-FFF2-40B4-BE49-F238E27FC236}">
                <a16:creationId xmlns:a16="http://schemas.microsoft.com/office/drawing/2014/main" id="{9D2B5413-A0B7-D57B-B162-FFEBA084590C}"/>
              </a:ext>
            </a:extLst>
          </p:cNvPr>
          <p:cNvSpPr txBox="1"/>
          <p:nvPr/>
        </p:nvSpPr>
        <p:spPr>
          <a:xfrm>
            <a:off x="1054076" y="5050370"/>
            <a:ext cx="4552014" cy="873957"/>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0" tIns="12065" rIns="0" bIns="0" rtlCol="0">
            <a:spAutoFit/>
          </a:bodyPr>
          <a:lstStyle/>
          <a:p>
            <a:pPr marL="108000" lvl="1">
              <a:buClr>
                <a:schemeClr val="tx2"/>
              </a:buClr>
              <a:tabLst>
                <a:tab pos="227965" algn="l"/>
              </a:tabLst>
            </a:pPr>
            <a:r>
              <a:rPr lang="zh-TW" altLang="en-US" sz="1400" b="1">
                <a:solidFill>
                  <a:srgbClr val="03522D"/>
                </a:solidFill>
                <a:latin typeface="Microsoft YaHei" panose="020B0503020204020204" pitchFamily="34" charset="-122"/>
                <a:ea typeface="Microsoft YaHei" panose="020B0503020204020204" pitchFamily="34" charset="-122"/>
                <a:cs typeface="Microsoft GothicNeo" panose="020B0500000101010101" pitchFamily="34" charset="-127"/>
                <a:sym typeface="Microsoft YaHei" panose="020B0503020204020204" pitchFamily="34" charset="-122"/>
              </a:rPr>
              <a:t>打造活動反饋及追踪機制，確保行銷成效與客戶行為被</a:t>
            </a:r>
            <a:r>
              <a:rPr lang="zh-TW" altLang="en-US" sz="1400" b="1">
                <a:solidFill>
                  <a:srgbClr val="03522D"/>
                </a:solidFill>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rPr>
              <a:t>落實追蹤與反映於模型</a:t>
            </a:r>
            <a:endParaRPr lang="en-US" altLang="zh-TW" sz="1400" b="1">
              <a:solidFill>
                <a:srgbClr val="03522D"/>
              </a:solidFill>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endParaRPr>
          </a:p>
          <a:p>
            <a:pPr marL="324000" lvl="1" indent="-216000">
              <a:buClr>
                <a:schemeClr val="tx2"/>
              </a:buClr>
              <a:buFont typeface="Trebuchet MS" panose="020B0603020202020204" pitchFamily="34" charset="0"/>
              <a:buChar char="•"/>
              <a:tabLst>
                <a:tab pos="227965" algn="l"/>
              </a:tabLst>
            </a:pPr>
            <a:r>
              <a:rPr lang="zh-TW" altLang="en-US" sz="1400">
                <a:solidFill>
                  <a:srgbClr val="29BA74"/>
                </a:solidFill>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rPr>
              <a:t>模型納入反饋參數</a:t>
            </a:r>
            <a:r>
              <a:rPr lang="zh-TW" altLang="en-US" sz="1400">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rPr>
              <a:t>，將前線、客服、客戶行為或直接反饋作爲模型優化的輸入及後續分析指標</a:t>
            </a:r>
            <a:endParaRPr lang="en-US" altLang="zh-TW" sz="1400">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endParaRPr>
          </a:p>
        </p:txBody>
      </p:sp>
      <p:sp>
        <p:nvSpPr>
          <p:cNvPr id="12" name="object 20">
            <a:extLst>
              <a:ext uri="{FF2B5EF4-FFF2-40B4-BE49-F238E27FC236}">
                <a16:creationId xmlns:a16="http://schemas.microsoft.com/office/drawing/2014/main" id="{7B795B6D-8415-E001-AA19-8D293B54634A}"/>
              </a:ext>
            </a:extLst>
          </p:cNvPr>
          <p:cNvSpPr txBox="1"/>
          <p:nvPr/>
        </p:nvSpPr>
        <p:spPr>
          <a:xfrm>
            <a:off x="6398121" y="4225270"/>
            <a:ext cx="4930292" cy="1304844"/>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0" tIns="12065" rIns="0" bIns="0" rtlCol="0">
            <a:spAutoFit/>
          </a:bodyPr>
          <a:lstStyle/>
          <a:p>
            <a:pPr marL="108000" lvl="1">
              <a:buClr>
                <a:schemeClr val="tx2"/>
              </a:buClr>
              <a:tabLst>
                <a:tab pos="227965" algn="l"/>
              </a:tabLst>
            </a:pPr>
            <a:r>
              <a:rPr lang="zh-TW" altLang="en-US" sz="1400" b="1">
                <a:solidFill>
                  <a:srgbClr val="03522D"/>
                </a:solidFill>
                <a:latin typeface="Microsoft YaHei" panose="020B0503020204020204" pitchFamily="34" charset="-122"/>
                <a:ea typeface="Microsoft YaHei" panose="020B0503020204020204" pitchFamily="34" charset="-122"/>
                <a:cs typeface="Microsoft GothicNeo" panose="020B0500000101010101" pitchFamily="34" charset="-127"/>
              </a:rPr>
              <a:t>打造强健的數位行銷平台，閉環落實端到端自動化行銷</a:t>
            </a:r>
            <a:endParaRPr lang="en-US" altLang="zh-TW" sz="1400">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endParaRPr>
          </a:p>
          <a:p>
            <a:pPr marL="324000" lvl="1" indent="-216000">
              <a:buClr>
                <a:schemeClr val="tx2"/>
              </a:buClr>
              <a:buFont typeface="Trebuchet MS" panose="020B0603020202020204" pitchFamily="34" charset="0"/>
              <a:buChar char="•"/>
              <a:tabLst>
                <a:tab pos="227965" algn="l"/>
              </a:tabLst>
            </a:pPr>
            <a:r>
              <a:rPr lang="zh-TW" altLang="en-US" sz="1400">
                <a:solidFill>
                  <a:srgbClr val="29BA74"/>
                </a:solidFill>
              </a:rPr>
              <a:t>串聯各功能模塊</a:t>
            </a:r>
            <a:r>
              <a:rPr lang="zh-TW" altLang="en-US" sz="1400"/>
              <a:t>，包括中央數據庫與模型</a:t>
            </a:r>
            <a:r>
              <a:rPr lang="zh-CN" altLang="en-US" sz="1400"/>
              <a:t>、</a:t>
            </a:r>
            <a:r>
              <a:rPr lang="zh-TW" altLang="en-US" sz="1400"/>
              <a:t>事件行銷互動管理平台</a:t>
            </a:r>
            <a:r>
              <a:rPr lang="zh-CN" altLang="en-US" sz="1400"/>
              <a:t>、 </a:t>
            </a:r>
            <a:r>
              <a:rPr lang="zh-TW" altLang="en-US" sz="1400"/>
              <a:t>行銷信息自動生成與發送</a:t>
            </a:r>
            <a:r>
              <a:rPr lang="zh-CN" altLang="en-US" sz="1400"/>
              <a:t>、 </a:t>
            </a:r>
            <a:r>
              <a:rPr lang="zh-TW" altLang="en-US" sz="1400"/>
              <a:t>客戶反饋紀錄等</a:t>
            </a:r>
            <a:endParaRPr lang="en-US" altLang="zh-TW" sz="1400"/>
          </a:p>
          <a:p>
            <a:pPr marL="324000" lvl="1" indent="-216000">
              <a:buClr>
                <a:schemeClr val="tx2"/>
              </a:buClr>
              <a:buFont typeface="Trebuchet MS" panose="020B0603020202020204" pitchFamily="34" charset="0"/>
              <a:buChar char="•"/>
              <a:tabLst>
                <a:tab pos="227965" algn="l"/>
              </a:tabLst>
            </a:pPr>
            <a:r>
              <a:rPr lang="zh-CN" altLang="en-US" sz="1400"/>
              <a:t>利用人工智能和機器學習算法，自動化管理營銷活動，</a:t>
            </a:r>
            <a:r>
              <a:rPr lang="zh-CN" altLang="en-US" sz="1400">
                <a:solidFill>
                  <a:srgbClr val="29BA74"/>
                </a:solidFill>
              </a:rPr>
              <a:t>優化客戶互動路徑</a:t>
            </a:r>
            <a:endParaRPr lang="en-US" altLang="zh-TW" sz="1400">
              <a:solidFill>
                <a:srgbClr val="29BA74"/>
              </a:solidFill>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endParaRPr>
          </a:p>
          <a:p>
            <a:pPr marL="108000" lvl="1">
              <a:buClr>
                <a:schemeClr val="tx2"/>
              </a:buClr>
              <a:tabLst>
                <a:tab pos="227965" algn="l"/>
              </a:tabLst>
            </a:pPr>
            <a:endParaRPr lang="en-US" altLang="zh-TW" sz="1400" b="1">
              <a:solidFill>
                <a:srgbClr val="03522D"/>
              </a:solidFill>
              <a:latin typeface="Microsoft YaHei" panose="020B0503020204020204" pitchFamily="34" charset="-122"/>
              <a:ea typeface="Microsoft YaHei" panose="020B0503020204020204" pitchFamily="34" charset="-122"/>
              <a:cs typeface="Microsoft GothicNeo" panose="020B0500000101010101" pitchFamily="34" charset="-127"/>
              <a:sym typeface="Microsoft YaHei" panose="020B0503020204020204" pitchFamily="34" charset="-122"/>
            </a:endParaRPr>
          </a:p>
        </p:txBody>
      </p:sp>
      <p:sp>
        <p:nvSpPr>
          <p:cNvPr id="11" name="object 20">
            <a:extLst>
              <a:ext uri="{FF2B5EF4-FFF2-40B4-BE49-F238E27FC236}">
                <a16:creationId xmlns:a16="http://schemas.microsoft.com/office/drawing/2014/main" id="{8AFA0CC9-49EE-06D4-D470-5EB1571319E6}"/>
              </a:ext>
            </a:extLst>
          </p:cNvPr>
          <p:cNvSpPr txBox="1"/>
          <p:nvPr/>
        </p:nvSpPr>
        <p:spPr>
          <a:xfrm>
            <a:off x="1045180" y="3357404"/>
            <a:ext cx="4930292" cy="1520288"/>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0" tIns="12065" rIns="0" bIns="0" rtlCol="0">
            <a:spAutoFit/>
          </a:bodyPr>
          <a:lstStyle/>
          <a:p>
            <a:pPr marL="108000" lvl="1">
              <a:buClr>
                <a:schemeClr val="tx2"/>
              </a:buClr>
              <a:tabLst>
                <a:tab pos="227965" algn="l"/>
              </a:tabLst>
            </a:pPr>
            <a:r>
              <a:rPr lang="zh-TW" altLang="en-US" sz="1400" b="1">
                <a:solidFill>
                  <a:srgbClr val="03522D"/>
                </a:solidFill>
                <a:latin typeface="Microsoft YaHei" panose="020B0503020204020204" pitchFamily="34" charset="-122"/>
                <a:ea typeface="Microsoft YaHei" panose="020B0503020204020204" pitchFamily="34" charset="-122"/>
                <a:cs typeface="Microsoft GothicNeo" panose="020B0500000101010101" pitchFamily="34" charset="-127"/>
                <a:sym typeface="Microsoft YaHei" panose="020B0503020204020204" pitchFamily="34" charset="-122"/>
              </a:rPr>
              <a:t>以客戶為中心經營模式，</a:t>
            </a:r>
            <a:r>
              <a:rPr lang="zh-TW" altLang="en-US" sz="1400" b="1">
                <a:solidFill>
                  <a:srgbClr val="03522D"/>
                </a:solidFill>
                <a:latin typeface="Microsoft YaHei" panose="020B0503020204020204" pitchFamily="34" charset="-122"/>
                <a:ea typeface="Microsoft YaHei" panose="020B0503020204020204" pitchFamily="34" charset="-122"/>
                <a:cs typeface="Microsoft GothicNeo" panose="020B0500000101010101" pitchFamily="34" charset="-127"/>
              </a:rPr>
              <a:t>明確跨部門職責與流程</a:t>
            </a:r>
            <a:endParaRPr lang="en-US" altLang="zh-TW" sz="1400" b="1">
              <a:solidFill>
                <a:srgbClr val="03522D"/>
              </a:solidFill>
              <a:latin typeface="Microsoft YaHei" panose="020B0503020204020204" pitchFamily="34" charset="-122"/>
              <a:ea typeface="Microsoft YaHei" panose="020B0503020204020204" pitchFamily="34" charset="-122"/>
              <a:cs typeface="Microsoft GothicNeo" panose="020B0500000101010101" pitchFamily="34" charset="-127"/>
            </a:endParaRPr>
          </a:p>
          <a:p>
            <a:pPr marL="324000" lvl="1" indent="-216000">
              <a:buClr>
                <a:schemeClr val="tx2"/>
              </a:buClr>
              <a:buFont typeface="Trebuchet MS" panose="020B0603020202020204" pitchFamily="34" charset="0"/>
              <a:buChar char="•"/>
              <a:tabLst>
                <a:tab pos="227965" algn="l"/>
              </a:tabLst>
            </a:pPr>
            <a:r>
              <a:rPr lang="zh-TW" altLang="en-US" sz="1400">
                <a:solidFill>
                  <a:srgbClr val="29BA74"/>
                </a:solidFill>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rPr>
              <a:t>明確</a:t>
            </a:r>
            <a:r>
              <a:rPr lang="en-US" altLang="zh-TW" sz="1400">
                <a:solidFill>
                  <a:srgbClr val="29BA74"/>
                </a:solidFill>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rPr>
              <a:t>M</a:t>
            </a:r>
            <a:r>
              <a:rPr lang="zh-TW" altLang="en-US" sz="1400">
                <a:solidFill>
                  <a:srgbClr val="29BA74"/>
                </a:solidFill>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rPr>
              <a:t>客經營追蹤指標</a:t>
            </a:r>
            <a:r>
              <a:rPr lang="zh-TW" altLang="en-US" sz="1400">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rPr>
              <a:t>，若無專職客群團隊，確保產品、數位與數據部門各施其職，共背相關數位經營的指標</a:t>
            </a:r>
            <a:endParaRPr lang="en-US" altLang="zh-TW" sz="1400">
              <a:solidFill>
                <a:srgbClr val="29BA74"/>
              </a:solidFill>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endParaRPr>
          </a:p>
          <a:p>
            <a:pPr marL="324000" lvl="1" indent="-216000">
              <a:buClr>
                <a:schemeClr val="tx2"/>
              </a:buClr>
              <a:buFont typeface="Trebuchet MS" panose="020B0603020202020204" pitchFamily="34" charset="0"/>
              <a:buChar char="•"/>
              <a:tabLst>
                <a:tab pos="227965" algn="l"/>
              </a:tabLst>
            </a:pPr>
            <a:r>
              <a:rPr lang="zh-TW" altLang="en-US" sz="1400">
                <a:solidFill>
                  <a:srgbClr val="29BA74"/>
                </a:solidFill>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rPr>
              <a:t>打造完整產品組合庫</a:t>
            </a:r>
            <a:r>
              <a:rPr lang="zh-TW" altLang="en-US" sz="1400">
                <a:solidFill>
                  <a:schemeClr val="tx1">
                    <a:lumMod val="100000"/>
                  </a:schemeClr>
                </a:solidFill>
                <a:latin typeface="Trebuchet MS" panose="020B0603020202020204" pitchFamily="34" charset="0"/>
                <a:sym typeface="Microsoft YaHei" panose="020B0503020204020204" pitchFamily="34" charset="-122"/>
              </a:rPr>
              <a:t>，依不同客群設計多元</a:t>
            </a:r>
            <a:r>
              <a:rPr lang="zh-CN" altLang="en-US" sz="1400">
                <a:solidFill>
                  <a:schemeClr val="tx1">
                    <a:lumMod val="100000"/>
                  </a:schemeClr>
                </a:solidFill>
                <a:latin typeface="Trebuchet MS" panose="020B0603020202020204" pitchFamily="34" charset="0"/>
              </a:rPr>
              <a:t>個性化産品組合</a:t>
            </a:r>
            <a:r>
              <a:rPr lang="zh-TW" altLang="en-US" sz="1400">
                <a:solidFill>
                  <a:schemeClr val="tx1">
                    <a:lumMod val="100000"/>
                  </a:schemeClr>
                </a:solidFill>
                <a:latin typeface="Trebuchet MS" panose="020B0603020202020204" pitchFamily="34" charset="0"/>
                <a:sym typeface="Microsoft YaHei" panose="020B0503020204020204" pitchFamily="34" charset="-122"/>
              </a:rPr>
              <a:t> </a:t>
            </a:r>
            <a:r>
              <a:rPr lang="en-US" altLang="zh-TW" sz="1400">
                <a:solidFill>
                  <a:schemeClr val="tx1">
                    <a:lumMod val="100000"/>
                  </a:schemeClr>
                </a:solidFill>
                <a:latin typeface="Trebuchet MS" panose="020B0603020202020204" pitchFamily="34" charset="0"/>
                <a:sym typeface="Microsoft YaHei" panose="020B0503020204020204" pitchFamily="34" charset="-122"/>
              </a:rPr>
              <a:t>(</a:t>
            </a:r>
            <a:r>
              <a:rPr lang="zh-TW" altLang="en-US" sz="1400">
                <a:solidFill>
                  <a:schemeClr val="tx1">
                    <a:lumMod val="100000"/>
                  </a:schemeClr>
                </a:solidFill>
                <a:latin typeface="Trebuchet MS" panose="020B0603020202020204" pitchFamily="34" charset="0"/>
                <a:sym typeface="Microsoft YaHei" panose="020B0503020204020204" pitchFamily="34" charset="-122"/>
              </a:rPr>
              <a:t>包括</a:t>
            </a:r>
            <a:r>
              <a:rPr lang="zh-TW" altLang="en-US" sz="1400">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rPr>
              <a:t>推薦産品、管道及行銷訊息等</a:t>
            </a:r>
            <a:r>
              <a:rPr lang="en-US" altLang="zh-TW" sz="1400">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rPr>
              <a:t>)</a:t>
            </a:r>
          </a:p>
          <a:p>
            <a:pPr marL="324000" lvl="1" indent="-216000">
              <a:buClr>
                <a:schemeClr val="tx2"/>
              </a:buClr>
              <a:buFont typeface="Trebuchet MS" panose="020B0603020202020204" pitchFamily="34" charset="0"/>
              <a:buChar char="•"/>
              <a:tabLst>
                <a:tab pos="227965" algn="l"/>
              </a:tabLst>
            </a:pPr>
            <a:r>
              <a:rPr lang="zh-TW" altLang="en-US" sz="1400">
                <a:solidFill>
                  <a:srgbClr val="29BA74"/>
                </a:solidFill>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rPr>
              <a:t>建立完善行銷流程</a:t>
            </a:r>
            <a:r>
              <a:rPr lang="zh-TW" altLang="en-US" sz="1400">
                <a:solidFill>
                  <a:srgbClr val="575757"/>
                </a:solidFill>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rPr>
              <a:t>，確保從模型産出名單、通知客戶到後續下單，均有明確專責單位承接</a:t>
            </a:r>
            <a:endParaRPr lang="en-US" altLang="zh-TW" sz="1400">
              <a:solidFill>
                <a:srgbClr val="575757"/>
              </a:solidFill>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endParaRPr>
          </a:p>
        </p:txBody>
      </p:sp>
      <p:sp>
        <p:nvSpPr>
          <p:cNvPr id="47" name="object 20">
            <a:extLst>
              <a:ext uri="{FF2B5EF4-FFF2-40B4-BE49-F238E27FC236}">
                <a16:creationId xmlns:a16="http://schemas.microsoft.com/office/drawing/2014/main" id="{8700B53E-71AD-ED01-587D-BB5E6F993809}"/>
              </a:ext>
            </a:extLst>
          </p:cNvPr>
          <p:cNvSpPr txBox="1"/>
          <p:nvPr/>
        </p:nvSpPr>
        <p:spPr>
          <a:xfrm>
            <a:off x="6398121" y="2510159"/>
            <a:ext cx="4930292" cy="1304844"/>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0" tIns="12065" rIns="0" bIns="0" rtlCol="0">
            <a:spAutoFit/>
          </a:bodyPr>
          <a:lstStyle/>
          <a:p>
            <a:pPr marL="108000" lvl="1">
              <a:buClr>
                <a:schemeClr val="tx2"/>
              </a:buClr>
              <a:tabLst>
                <a:tab pos="227965" algn="l"/>
              </a:tabLst>
            </a:pPr>
            <a:r>
              <a:rPr lang="zh-TW" altLang="en-US" sz="1400" b="1">
                <a:solidFill>
                  <a:srgbClr val="03522D"/>
                </a:solidFill>
                <a:latin typeface="Microsoft YaHei" panose="020B0503020204020204" pitchFamily="34" charset="-122"/>
                <a:ea typeface="Microsoft YaHei" panose="020B0503020204020204" pitchFamily="34" charset="-122"/>
                <a:cs typeface="Microsoft GothicNeo" panose="020B0500000101010101" pitchFamily="34" charset="-127"/>
                <a:sym typeface="Microsoft YaHei" panose="020B0503020204020204" pitchFamily="34" charset="-122"/>
              </a:rPr>
              <a:t>整合多渠道數據來源，確保數據一致性 </a:t>
            </a:r>
            <a:r>
              <a:rPr lang="en-US" altLang="zh-TW" sz="1400" b="1">
                <a:solidFill>
                  <a:srgbClr val="03522D"/>
                </a:solidFill>
                <a:latin typeface="Microsoft YaHei" panose="020B0503020204020204" pitchFamily="34" charset="-122"/>
                <a:ea typeface="Microsoft YaHei" panose="020B0503020204020204" pitchFamily="34" charset="-122"/>
                <a:cs typeface="Microsoft GothicNeo" panose="020B0500000101010101" pitchFamily="34" charset="-127"/>
                <a:sym typeface="Microsoft YaHei" panose="020B0503020204020204" pitchFamily="34" charset="-122"/>
              </a:rPr>
              <a:t>(Single source of truth)</a:t>
            </a:r>
          </a:p>
          <a:p>
            <a:pPr marL="324000" lvl="1" indent="-216000">
              <a:buClr>
                <a:schemeClr val="tx2"/>
              </a:buClr>
              <a:buFont typeface="Trebuchet MS" panose="020B0603020202020204" pitchFamily="34" charset="0"/>
              <a:buChar char="•"/>
              <a:tabLst>
                <a:tab pos="227965" algn="l"/>
              </a:tabLst>
            </a:pPr>
            <a:r>
              <a:rPr lang="zh-CN" altLang="en-US" sz="1400"/>
              <a:t>收集和整合來自不同渠道的</a:t>
            </a:r>
            <a:r>
              <a:rPr lang="zh-TW" altLang="en-US" sz="1400"/>
              <a:t>客戶</a:t>
            </a:r>
            <a:r>
              <a:rPr lang="zh-CN" altLang="en-US" sz="1400"/>
              <a:t>數據，建立</a:t>
            </a:r>
            <a:r>
              <a:rPr lang="zh-CN" altLang="en-US" sz="1400">
                <a:solidFill>
                  <a:srgbClr val="29BA74"/>
                </a:solidFill>
              </a:rPr>
              <a:t>統一數據管理</a:t>
            </a:r>
            <a:r>
              <a:rPr lang="zh-CN" altLang="en-US" sz="1400"/>
              <a:t>系統</a:t>
            </a:r>
            <a:endParaRPr lang="en-US" altLang="zh-CN" sz="1400"/>
          </a:p>
          <a:p>
            <a:pPr marL="324000" lvl="1" indent="-216000">
              <a:buClr>
                <a:schemeClr val="tx2"/>
              </a:buClr>
              <a:buFont typeface="Trebuchet MS" panose="020B0603020202020204" pitchFamily="34" charset="0"/>
              <a:buChar char="•"/>
              <a:tabLst>
                <a:tab pos="227965" algn="l"/>
              </a:tabLst>
            </a:pPr>
            <a:r>
              <a:rPr lang="zh-CN" altLang="en-US" sz="1400"/>
              <a:t>確保數據的</a:t>
            </a:r>
            <a:r>
              <a:rPr lang="zh-CN" altLang="en-US" sz="1400">
                <a:solidFill>
                  <a:srgbClr val="29BA74"/>
                </a:solidFill>
              </a:rPr>
              <a:t>完整性和一致性</a:t>
            </a:r>
            <a:r>
              <a:rPr lang="zh-CN" altLang="en-US" sz="1400"/>
              <a:t>，以便進行全面</a:t>
            </a:r>
            <a:r>
              <a:rPr lang="zh-TW" altLang="en-US" sz="1400"/>
              <a:t>客戶</a:t>
            </a:r>
            <a:r>
              <a:rPr lang="zh-CN" altLang="en-US" sz="1400"/>
              <a:t>畫像分析和</a:t>
            </a:r>
            <a:r>
              <a:rPr lang="zh-TW" altLang="en-US" sz="1400"/>
              <a:t>精準</a:t>
            </a:r>
            <a:r>
              <a:rPr lang="zh-CN" altLang="en-US" sz="1400"/>
              <a:t>目標定位</a:t>
            </a:r>
            <a:endParaRPr lang="en-US" altLang="zh-TW" sz="1400" b="1">
              <a:solidFill>
                <a:srgbClr val="03522D"/>
              </a:solidFill>
              <a:latin typeface="Microsoft YaHei" panose="020B0503020204020204" pitchFamily="34" charset="-122"/>
              <a:ea typeface="Microsoft YaHei" panose="020B0503020204020204" pitchFamily="34" charset="-122"/>
              <a:cs typeface="Microsoft GothicNeo" panose="020B0500000101010101" pitchFamily="34" charset="-127"/>
              <a:sym typeface="Microsoft YaHei" panose="020B0503020204020204" pitchFamily="34" charset="-122"/>
            </a:endParaRPr>
          </a:p>
        </p:txBody>
      </p:sp>
      <p:sp>
        <p:nvSpPr>
          <p:cNvPr id="49" name="Oval 20">
            <a:extLst>
              <a:ext uri="{FF2B5EF4-FFF2-40B4-BE49-F238E27FC236}">
                <a16:creationId xmlns:a16="http://schemas.microsoft.com/office/drawing/2014/main" id="{2B2A950B-8C18-7C59-F79A-423E6A9E0657}"/>
              </a:ext>
            </a:extLst>
          </p:cNvPr>
          <p:cNvSpPr>
            <a:spLocks noChangeAspect="1" noChangeArrowheads="1"/>
          </p:cNvSpPr>
          <p:nvPr/>
        </p:nvSpPr>
        <p:spPr bwMode="auto">
          <a:xfrm>
            <a:off x="186544" y="98006"/>
            <a:ext cx="299290" cy="299290"/>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sz="1200">
                <a:solidFill>
                  <a:schemeClr val="bg1"/>
                </a:solidFill>
                <a:ea typeface="Microsoft YaHei" panose="020B0503020204020204" pitchFamily="34" charset="-122"/>
              </a:rPr>
              <a:t>1</a:t>
            </a:r>
          </a:p>
        </p:txBody>
      </p:sp>
      <p:sp>
        <p:nvSpPr>
          <p:cNvPr id="50" name="TextBox 49">
            <a:extLst>
              <a:ext uri="{FF2B5EF4-FFF2-40B4-BE49-F238E27FC236}">
                <a16:creationId xmlns:a16="http://schemas.microsoft.com/office/drawing/2014/main" id="{85B4CFC5-E3A8-790E-B29C-42A3CFC34F58}"/>
              </a:ext>
            </a:extLst>
          </p:cNvPr>
          <p:cNvSpPr txBox="1"/>
          <p:nvPr/>
        </p:nvSpPr>
        <p:spPr>
          <a:xfrm>
            <a:off x="490697" y="128208"/>
            <a:ext cx="2217333" cy="276999"/>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a:spAutoFit/>
          </a:bodyPr>
          <a:lstStyle/>
          <a:p>
            <a:r>
              <a:rPr lang="zh-TW" altLang="en-US" sz="1200">
                <a:solidFill>
                  <a:srgbClr val="575757"/>
                </a:solidFill>
                <a:latin typeface="Trebuchet MS" panose="020B0603020202020204" pitchFamily="34" charset="0"/>
                <a:ea typeface="Microsoft YaHei" panose="020B0503020204020204" pitchFamily="34" charset="-122"/>
              </a:rPr>
              <a:t>優化預測模型，個性化經營</a:t>
            </a:r>
            <a:endParaRPr lang="en-US" sz="1200">
              <a:solidFill>
                <a:srgbClr val="575757"/>
              </a:solidFill>
              <a:ea typeface="Microsoft YaHei" panose="020B0503020204020204" pitchFamily="34" charset="-122"/>
            </a:endParaRPr>
          </a:p>
        </p:txBody>
      </p:sp>
      <p:sp>
        <p:nvSpPr>
          <p:cNvPr id="53" name="Textfeld 1">
            <a:extLst>
              <a:ext uri="{FF2B5EF4-FFF2-40B4-BE49-F238E27FC236}">
                <a16:creationId xmlns:a16="http://schemas.microsoft.com/office/drawing/2014/main" id="{B4E31386-50A4-7590-34D9-75AF5AE1A350}"/>
              </a:ext>
            </a:extLst>
          </p:cNvPr>
          <p:cNvSpPr txBox="1"/>
          <p:nvPr>
            <p:custDataLst>
              <p:tags r:id="rId2"/>
            </p:custDataLst>
          </p:nvPr>
        </p:nvSpPr>
        <p:spPr>
          <a:xfrm>
            <a:off x="4917923" y="3029461"/>
            <a:ext cx="1112244" cy="483209"/>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en-US" sz="1200" b="1">
                <a:solidFill>
                  <a:srgbClr val="575757"/>
                </a:solidFill>
                <a:sym typeface="Trebuchet MS" panose="020B0603020202020204" pitchFamily="34" charset="0"/>
              </a:rPr>
              <a:t>TM 21.Jun.24:
</a:t>
            </a:r>
          </a:p>
        </p:txBody>
      </p:sp>
      <p:sp>
        <p:nvSpPr>
          <p:cNvPr id="3" name="Textfeld 1">
            <a:extLst>
              <a:ext uri="{FF2B5EF4-FFF2-40B4-BE49-F238E27FC236}">
                <a16:creationId xmlns:a16="http://schemas.microsoft.com/office/drawing/2014/main" id="{A6B45742-C210-B53B-0F32-85FC6B681A63}"/>
              </a:ext>
            </a:extLst>
          </p:cNvPr>
          <p:cNvSpPr txBox="1"/>
          <p:nvPr>
            <p:custDataLst>
              <p:tags r:id="rId3"/>
            </p:custDataLst>
          </p:nvPr>
        </p:nvSpPr>
        <p:spPr>
          <a:xfrm>
            <a:off x="227763" y="809083"/>
            <a:ext cx="2743200" cy="483209"/>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en-US" sz="1200" b="1">
                <a:solidFill>
                  <a:srgbClr val="575757"/>
                </a:solidFill>
                <a:sym typeface="Trebuchet MS" panose="020B0603020202020204" pitchFamily="34" charset="0"/>
              </a:rPr>
              <a:t>TM 24.Jun.24:
</a:t>
            </a:r>
            <a:r>
              <a:rPr lang="zh-TW" altLang="en-US" sz="1200" b="1">
                <a:solidFill>
                  <a:srgbClr val="575757"/>
                </a:solidFill>
                <a:sym typeface="Trebuchet MS" panose="020B0603020202020204" pitchFamily="34" charset="0"/>
              </a:rPr>
              <a:t>分</a:t>
            </a:r>
            <a:r>
              <a:rPr lang="en-US" altLang="zh-TW" sz="1200" b="1" err="1">
                <a:solidFill>
                  <a:srgbClr val="575757"/>
                </a:solidFill>
                <a:sym typeface="Trebuchet MS" panose="020B0603020202020204" pitchFamily="34" charset="0"/>
              </a:rPr>
              <a:t>A~E</a:t>
            </a:r>
            <a:r>
              <a:rPr lang="en-US" altLang="zh-TW" sz="1200" b="1">
                <a:solidFill>
                  <a:srgbClr val="575757"/>
                </a:solidFill>
                <a:sym typeface="Trebuchet MS" panose="020B0603020202020204" pitchFamily="34" charset="0"/>
              </a:rPr>
              <a:t>;</a:t>
            </a:r>
            <a:r>
              <a:rPr lang="zh-TW" altLang="en-US" sz="1200" b="1">
                <a:solidFill>
                  <a:srgbClr val="575757"/>
                </a:solidFill>
                <a:sym typeface="Trebuchet MS" panose="020B0603020202020204" pitchFamily="34" charset="0"/>
              </a:rPr>
              <a:t>短期 </a:t>
            </a:r>
            <a:r>
              <a:rPr lang="en-US" altLang="zh-TW" sz="1200" b="1">
                <a:solidFill>
                  <a:srgbClr val="575757"/>
                </a:solidFill>
                <a:sym typeface="Trebuchet MS" panose="020B0603020202020204" pitchFamily="34" charset="0"/>
              </a:rPr>
              <a:t>&amp; </a:t>
            </a:r>
            <a:r>
              <a:rPr lang="zh-TW" altLang="en-US" sz="1200" b="1">
                <a:solidFill>
                  <a:srgbClr val="575757"/>
                </a:solidFill>
                <a:sym typeface="Trebuchet MS" panose="020B0603020202020204" pitchFamily="34" charset="0"/>
              </a:rPr>
              <a:t>中長期</a:t>
            </a:r>
            <a:endParaRPr lang="en-US" altLang="zh-TW" sz="1200" b="1">
              <a:solidFill>
                <a:srgbClr val="575757"/>
              </a:solidFill>
              <a:sym typeface="Trebuchet MS" panose="020B0603020202020204" pitchFamily="34" charset="0"/>
            </a:endParaRPr>
          </a:p>
        </p:txBody>
      </p:sp>
    </p:spTree>
    <p:extLst>
      <p:ext uri="{BB962C8B-B14F-4D97-AF65-F5344CB8AC3E}">
        <p14:creationId xmlns:p14="http://schemas.microsoft.com/office/powerpoint/2010/main" val="11289222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8" name="think-cell data - do not delete" hidden="1">
            <a:extLst>
              <a:ext uri="{FF2B5EF4-FFF2-40B4-BE49-F238E27FC236}">
                <a16:creationId xmlns:a16="http://schemas.microsoft.com/office/drawing/2014/main" id="{80BDD032-C868-33F7-213E-8D7E3504C9CF}"/>
              </a:ext>
            </a:extLst>
          </p:cNvPr>
          <p:cNvGraphicFramePr>
            <a:graphicFrameLocks noChangeAspect="1"/>
          </p:cNvGraphicFramePr>
          <p:nvPr>
            <p:custDataLst>
              <p:tags r:id="rId1"/>
            </p:custDataLst>
            <p:extLst>
              <p:ext uri="{D42A27DB-BD31-4B8C-83A1-F6EECF244321}">
                <p14:modId xmlns:p14="http://schemas.microsoft.com/office/powerpoint/2010/main" val="361222961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9" imgW="404" imgH="405" progId="TCLayout.ActiveDocument.1">
                  <p:embed/>
                </p:oleObj>
              </mc:Choice>
              <mc:Fallback>
                <p:oleObj name="think-cell Slide" r:id="rId19" imgW="404" imgH="405" progId="TCLayout.ActiveDocument.1">
                  <p:embed/>
                  <p:pic>
                    <p:nvPicPr>
                      <p:cNvPr id="18" name="think-cell data - do not delete" hidden="1">
                        <a:extLst>
                          <a:ext uri="{FF2B5EF4-FFF2-40B4-BE49-F238E27FC236}">
                            <a16:creationId xmlns:a16="http://schemas.microsoft.com/office/drawing/2014/main" id="{80BDD032-C868-33F7-213E-8D7E3504C9CF}"/>
                          </a:ext>
                        </a:extLst>
                      </p:cNvPr>
                      <p:cNvPicPr/>
                      <p:nvPr/>
                    </p:nvPicPr>
                    <p:blipFill>
                      <a:blip r:embed="rId20"/>
                      <a:stretch>
                        <a:fillRect/>
                      </a:stretch>
                    </p:blipFill>
                    <p:spPr>
                      <a:xfrm>
                        <a:off x="1588" y="1588"/>
                        <a:ext cx="1588" cy="1588"/>
                      </a:xfrm>
                      <a:prstGeom prst="rect">
                        <a:avLst/>
                      </a:prstGeom>
                    </p:spPr>
                  </p:pic>
                </p:oleObj>
              </mc:Fallback>
            </mc:AlternateContent>
          </a:graphicData>
        </a:graphic>
      </p:graphicFrame>
      <p:sp>
        <p:nvSpPr>
          <p:cNvPr id="124" name="Title 123">
            <a:extLst>
              <a:ext uri="{FF2B5EF4-FFF2-40B4-BE49-F238E27FC236}">
                <a16:creationId xmlns:a16="http://schemas.microsoft.com/office/drawing/2014/main" id="{0686857D-1C58-BFAE-6265-B3B3D42B95DC}"/>
              </a:ext>
            </a:extLst>
          </p:cNvPr>
          <p:cNvSpPr>
            <a:spLocks noGrp="1"/>
          </p:cNvSpPr>
          <p:nvPr>
            <p:ph type="title"/>
          </p:nvPr>
        </p:nvSpPr>
        <p:spPr>
          <a:xfrm>
            <a:off x="630000" y="622800"/>
            <a:ext cx="8101584" cy="664797"/>
          </a:xfrm>
        </p:spPr>
        <p:txBody>
          <a:bodyPr vert="horz"/>
          <a:lstStyle/>
          <a:p>
            <a:r>
              <a:rPr lang="zh-TW" altLang="en-US">
                <a:ea typeface="Microsoft YaHei" panose="020B0503020204020204" pitchFamily="34" charset="-122"/>
              </a:rPr>
              <a:t>零元戶中</a:t>
            </a:r>
            <a:r>
              <a:rPr lang="en-US" altLang="zh-TW">
                <a:ea typeface="Microsoft YaHei" panose="020B0503020204020204" pitchFamily="34" charset="-122"/>
              </a:rPr>
              <a:t>85%</a:t>
            </a:r>
            <a:r>
              <a:rPr lang="zh-TW" altLang="en-US">
                <a:ea typeface="Microsoft YaHei" panose="020B0503020204020204" pitchFamily="34" charset="-122"/>
              </a:rPr>
              <a:t>過去三年在凱銀內無資產</a:t>
            </a:r>
            <a:r>
              <a:rPr lang="en-US" altLang="zh-TW">
                <a:ea typeface="Microsoft YaHei" panose="020B0503020204020204" pitchFamily="34" charset="-122"/>
              </a:rPr>
              <a:t>(AUM=0)</a:t>
            </a:r>
            <a:r>
              <a:rPr lang="zh-TW" altLang="en-US">
                <a:ea typeface="Microsoft YaHei" panose="020B0503020204020204" pitchFamily="34" charset="-122"/>
              </a:rPr>
              <a:t>，未來應著重防堵新客零元戶持續快速成長</a:t>
            </a:r>
            <a:endParaRPr lang="en-US">
              <a:ea typeface="Microsoft YaHei" panose="020B0503020204020204" pitchFamily="34" charset="-122"/>
            </a:endParaRPr>
          </a:p>
        </p:txBody>
      </p:sp>
      <p:graphicFrame>
        <p:nvGraphicFramePr>
          <p:cNvPr id="6" name="Chart 5">
            <a:extLst>
              <a:ext uri="{FF2B5EF4-FFF2-40B4-BE49-F238E27FC236}">
                <a16:creationId xmlns:a16="http://schemas.microsoft.com/office/drawing/2014/main" id="{0774BC31-5F0F-E108-E101-9A4627BAD871}"/>
              </a:ext>
            </a:extLst>
          </p:cNvPr>
          <p:cNvGraphicFramePr/>
          <p:nvPr>
            <p:custDataLst>
              <p:tags r:id="rId2"/>
            </p:custDataLst>
            <p:extLst>
              <p:ext uri="{D42A27DB-BD31-4B8C-83A1-F6EECF244321}">
                <p14:modId xmlns:p14="http://schemas.microsoft.com/office/powerpoint/2010/main" val="2866146653"/>
              </p:ext>
            </p:extLst>
          </p:nvPr>
        </p:nvGraphicFramePr>
        <p:xfrm>
          <a:off x="787400" y="2957513"/>
          <a:ext cx="1744663" cy="3298825"/>
        </p:xfrm>
        <a:graphic>
          <a:graphicData uri="http://schemas.openxmlformats.org/drawingml/2006/chart">
            <c:chart xmlns:c="http://schemas.openxmlformats.org/drawingml/2006/chart" xmlns:r="http://schemas.openxmlformats.org/officeDocument/2006/relationships" r:id="rId21"/>
          </a:graphicData>
        </a:graphic>
      </p:graphicFrame>
      <p:sp useBgFill="1">
        <p:nvSpPr>
          <p:cNvPr id="4" name="Freeform: Shape 3">
            <a:extLst>
              <a:ext uri="{FF2B5EF4-FFF2-40B4-BE49-F238E27FC236}">
                <a16:creationId xmlns:a16="http://schemas.microsoft.com/office/drawing/2014/main" id="{2C6A7BB6-025E-DB67-A8E3-F921D4DE8000}"/>
              </a:ext>
            </a:extLst>
          </p:cNvPr>
          <p:cNvSpPr/>
          <p:nvPr>
            <p:custDataLst>
              <p:tags r:id="rId3"/>
            </p:custDataLst>
          </p:nvPr>
        </p:nvSpPr>
        <p:spPr bwMode="gray">
          <a:xfrm>
            <a:off x="1111250" y="5795963"/>
            <a:ext cx="1095376" cy="352426"/>
          </a:xfrm>
          <a:custGeom>
            <a:avLst/>
            <a:gdLst/>
            <a:ahLst/>
            <a:cxnLst/>
            <a:rect l="0" t="0" r="0" b="0"/>
            <a:pathLst>
              <a:path w="1095376" h="352426">
                <a:moveTo>
                  <a:pt x="0" y="295275"/>
                </a:moveTo>
                <a:lnTo>
                  <a:pt x="1095375" y="0"/>
                </a:lnTo>
                <a:lnTo>
                  <a:pt x="1095375" y="57150"/>
                </a:lnTo>
                <a:lnTo>
                  <a:pt x="0" y="352425"/>
                </a:lnTo>
                <a:close/>
              </a:path>
            </a:pathLst>
          </a:custGeom>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2" name="Freeform: Shape 1">
            <a:extLst>
              <a:ext uri="{FF2B5EF4-FFF2-40B4-BE49-F238E27FC236}">
                <a16:creationId xmlns:a16="http://schemas.microsoft.com/office/drawing/2014/main" id="{16760EF1-E7D2-DB9F-0E24-F280B7B41648}"/>
              </a:ext>
            </a:extLst>
          </p:cNvPr>
          <p:cNvSpPr/>
          <p:nvPr>
            <p:custDataLst>
              <p:tags r:id="rId4"/>
            </p:custDataLst>
          </p:nvPr>
        </p:nvSpPr>
        <p:spPr bwMode="gray">
          <a:xfrm>
            <a:off x="1111250" y="5795963"/>
            <a:ext cx="1095376" cy="295276"/>
          </a:xfrm>
          <a:custGeom>
            <a:avLst/>
            <a:gdLst/>
            <a:ahLst/>
            <a:cxnLst/>
            <a:rect l="0" t="0" r="0" b="0"/>
            <a:pathLst>
              <a:path w="1095376" h="295276">
                <a:moveTo>
                  <a:pt x="0" y="295275"/>
                </a:moveTo>
                <a:lnTo>
                  <a:pt x="1095375" y="0"/>
                </a:lnTo>
              </a:path>
            </a:pathLst>
          </a:custGeom>
          <a:ln w="9525" cap="rnd" cmpd="sng" algn="ctr">
            <a:solidFill>
              <a:schemeClr val="tx1"/>
            </a:solidFill>
            <a:prstDash val="solid"/>
            <a:round/>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 name="Freeform: Shape 2">
            <a:extLst>
              <a:ext uri="{FF2B5EF4-FFF2-40B4-BE49-F238E27FC236}">
                <a16:creationId xmlns:a16="http://schemas.microsoft.com/office/drawing/2014/main" id="{98D9B0E2-0E67-753F-FF2A-45ED4164BF73}"/>
              </a:ext>
            </a:extLst>
          </p:cNvPr>
          <p:cNvSpPr/>
          <p:nvPr>
            <p:custDataLst>
              <p:tags r:id="rId5"/>
            </p:custDataLst>
          </p:nvPr>
        </p:nvSpPr>
        <p:spPr bwMode="gray">
          <a:xfrm>
            <a:off x="1111250" y="5853113"/>
            <a:ext cx="1095376" cy="295276"/>
          </a:xfrm>
          <a:custGeom>
            <a:avLst/>
            <a:gdLst/>
            <a:ahLst/>
            <a:cxnLst/>
            <a:rect l="0" t="0" r="0" b="0"/>
            <a:pathLst>
              <a:path w="1095376" h="295276">
                <a:moveTo>
                  <a:pt x="0" y="295275"/>
                </a:moveTo>
                <a:lnTo>
                  <a:pt x="1095375" y="0"/>
                </a:lnTo>
              </a:path>
            </a:pathLst>
          </a:custGeom>
          <a:ln w="9525" cap="rnd" cmpd="sng" algn="ctr">
            <a:solidFill>
              <a:schemeClr val="tx1"/>
            </a:solidFill>
            <a:prstDash val="solid"/>
            <a:round/>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cxnSp>
        <p:nvCxnSpPr>
          <p:cNvPr id="32" name="Straight Connector 31">
            <a:extLst>
              <a:ext uri="{FF2B5EF4-FFF2-40B4-BE49-F238E27FC236}">
                <a16:creationId xmlns:a16="http://schemas.microsoft.com/office/drawing/2014/main" id="{FF4E1A9E-0EA0-61D1-D57C-E7FFB1B9AE5A}"/>
              </a:ext>
            </a:extLst>
          </p:cNvPr>
          <p:cNvCxnSpPr/>
          <p:nvPr>
            <p:custDataLst>
              <p:tags r:id="rId6"/>
            </p:custDataLst>
          </p:nvPr>
        </p:nvCxnSpPr>
        <p:spPr bwMode="gray">
          <a:xfrm flipH="1" flipV="1">
            <a:off x="2076450" y="3051175"/>
            <a:ext cx="98425" cy="223838"/>
          </a:xfrm>
          <a:prstGeom prst="line">
            <a:avLst/>
          </a:prstGeom>
          <a:ln w="9525"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0" name="Straight Connector 29">
            <a:extLst>
              <a:ext uri="{FF2B5EF4-FFF2-40B4-BE49-F238E27FC236}">
                <a16:creationId xmlns:a16="http://schemas.microsoft.com/office/drawing/2014/main" id="{DD9448DB-E50D-DA3E-0B00-A0C45275DF0F}"/>
              </a:ext>
            </a:extLst>
          </p:cNvPr>
          <p:cNvCxnSpPr/>
          <p:nvPr>
            <p:custDataLst>
              <p:tags r:id="rId7"/>
            </p:custDataLst>
          </p:nvPr>
        </p:nvCxnSpPr>
        <p:spPr bwMode="gray">
          <a:xfrm flipH="1" flipV="1">
            <a:off x="2076450" y="3041650"/>
            <a:ext cx="98425" cy="115888"/>
          </a:xfrm>
          <a:prstGeom prst="line">
            <a:avLst/>
          </a:prstGeom>
          <a:ln w="9525"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81" name="Text Placeholder 3">
            <a:extLst>
              <a:ext uri="{FF2B5EF4-FFF2-40B4-BE49-F238E27FC236}">
                <a16:creationId xmlns:a16="http://schemas.microsoft.com/office/drawing/2014/main" id="{32DECC53-2D23-1D43-0584-7160E43B1842}"/>
              </a:ext>
            </a:extLst>
          </p:cNvPr>
          <p:cNvSpPr>
            <a:spLocks noGrp="1"/>
          </p:cNvSpPr>
          <p:nvPr>
            <p:custDataLst>
              <p:tags r:id="rId8"/>
            </p:custDataLst>
          </p:nvPr>
        </p:nvSpPr>
        <p:spPr bwMode="gray">
          <a:xfrm>
            <a:off x="1411288" y="3749675"/>
            <a:ext cx="496888" cy="2349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ctr">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lvl="0" algn="ctr">
              <a:spcBef>
                <a:spcPct val="0"/>
              </a:spcBef>
              <a:spcAft>
                <a:spcPct val="0"/>
              </a:spcAft>
            </a:pPr>
            <a:fld id="{37D03797-88D9-493E-83A2-7412B3D732E7}" type="datetime'''''1''''''''''''0''''.''''''5''''''''''''''''''''''%'''''''''">
              <a:rPr lang="en-US" altLang="en-US" sz="1400" smtClean="0">
                <a:solidFill>
                  <a:schemeClr val="bg1"/>
                </a:solidFill>
                <a:ea typeface="Microsoft YaHei" panose="020B0503020204020204" pitchFamily="34" charset="-122"/>
              </a:rPr>
              <a:pPr lvl="0" algn="ctr">
                <a:spcBef>
                  <a:spcPct val="0"/>
                </a:spcBef>
                <a:spcAft>
                  <a:spcPct val="0"/>
                </a:spcAft>
              </a:pPr>
              <a:t>10.5%</a:t>
            </a:fld>
            <a:endParaRPr lang="en-US" sz="1400">
              <a:solidFill>
                <a:schemeClr val="bg1"/>
              </a:solidFill>
              <a:ea typeface="Microsoft YaHei" panose="020B0503020204020204" pitchFamily="34" charset="-122"/>
            </a:endParaRPr>
          </a:p>
        </p:txBody>
      </p:sp>
      <p:sp>
        <p:nvSpPr>
          <p:cNvPr id="82" name="Text Placeholder 3">
            <a:extLst>
              <a:ext uri="{FF2B5EF4-FFF2-40B4-BE49-F238E27FC236}">
                <a16:creationId xmlns:a16="http://schemas.microsoft.com/office/drawing/2014/main" id="{A8476E31-B503-981E-A95A-7053797CB145}"/>
              </a:ext>
            </a:extLst>
          </p:cNvPr>
          <p:cNvSpPr>
            <a:spLocks noGrp="1"/>
          </p:cNvSpPr>
          <p:nvPr>
            <p:custDataLst>
              <p:tags r:id="rId9"/>
            </p:custDataLst>
          </p:nvPr>
        </p:nvSpPr>
        <p:spPr bwMode="gray">
          <a:xfrm>
            <a:off x="2174875" y="3275013"/>
            <a:ext cx="403225" cy="2349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ctr">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lvl="0">
              <a:spcBef>
                <a:spcPct val="0"/>
              </a:spcBef>
              <a:spcAft>
                <a:spcPct val="0"/>
              </a:spcAft>
            </a:pPr>
            <a:fld id="{7A6E2C85-6DF3-4E57-AD22-DAD930CAAA2D}" type="datetime'''''''''''0''.''''''2''''''''''''%'">
              <a:rPr lang="en-US" altLang="en-US" sz="1400" smtClean="0">
                <a:ea typeface="Microsoft YaHei" panose="020B0503020204020204" pitchFamily="34" charset="-122"/>
              </a:rPr>
              <a:pPr lvl="0">
                <a:spcBef>
                  <a:spcPct val="0"/>
                </a:spcBef>
                <a:spcAft>
                  <a:spcPct val="0"/>
                </a:spcAft>
              </a:pPr>
              <a:t>0.2%</a:t>
            </a:fld>
            <a:endParaRPr lang="en-US" sz="1400">
              <a:ea typeface="Microsoft YaHei" panose="020B0503020204020204" pitchFamily="34" charset="-122"/>
            </a:endParaRPr>
          </a:p>
        </p:txBody>
      </p:sp>
      <p:sp>
        <p:nvSpPr>
          <p:cNvPr id="11" name="Text Placeholder 3">
            <a:extLst>
              <a:ext uri="{FF2B5EF4-FFF2-40B4-BE49-F238E27FC236}">
                <a16:creationId xmlns:a16="http://schemas.microsoft.com/office/drawing/2014/main" id="{6FE0C05D-7E3C-349F-E832-3B88EAD049F9}"/>
              </a:ext>
            </a:extLst>
          </p:cNvPr>
          <p:cNvSpPr>
            <a:spLocks noGrp="1"/>
          </p:cNvSpPr>
          <p:nvPr>
            <p:custDataLst>
              <p:tags r:id="rId10"/>
            </p:custDataLst>
          </p:nvPr>
        </p:nvSpPr>
        <p:spPr bwMode="gray">
          <a:xfrm>
            <a:off x="1704975" y="3005138"/>
            <a:ext cx="403225" cy="234950"/>
          </a:xfrm>
          <a:prstGeom prst="rect">
            <a:avLst/>
          </a:prstGeom>
          <a:solidFill>
            <a:srgbClr val="63A64E"/>
          </a:solidFill>
          <a:ln>
            <a:noFill/>
          </a:ln>
          <a:effectLst/>
        </p:spPr>
        <p:txBody>
          <a:bodyPr vert="horz" wrap="none" lIns="22225" tIns="0" rIns="22225" bIns="0" rtlCol="0" anchor="ctr">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lvl="0" algn="ctr">
              <a:spcBef>
                <a:spcPct val="0"/>
              </a:spcBef>
              <a:spcAft>
                <a:spcPct val="0"/>
              </a:spcAft>
            </a:pPr>
            <a:fld id="{FFC1A317-2F55-4852-830C-7DADF008F78A}" type="datetime'''''''''''''1''''''''''''''.''''''1%'''''''''''''''''''''''''">
              <a:rPr lang="en-US" altLang="en-US" sz="1400" smtClean="0">
                <a:solidFill>
                  <a:schemeClr val="bg1"/>
                </a:solidFill>
                <a:effectLst/>
                <a:ea typeface="Microsoft YaHei" panose="020B0503020204020204" pitchFamily="34" charset="-122"/>
              </a:rPr>
              <a:pPr lvl="0" algn="ctr">
                <a:spcBef>
                  <a:spcPct val="0"/>
                </a:spcBef>
                <a:spcAft>
                  <a:spcPct val="0"/>
                </a:spcAft>
              </a:pPr>
              <a:t>1.1%</a:t>
            </a:fld>
            <a:endParaRPr lang="en-US" sz="1400">
              <a:solidFill>
                <a:schemeClr val="bg1"/>
              </a:solidFill>
              <a:ea typeface="Microsoft YaHei" panose="020B0503020204020204" pitchFamily="34" charset="-122"/>
            </a:endParaRPr>
          </a:p>
        </p:txBody>
      </p:sp>
      <p:sp>
        <p:nvSpPr>
          <p:cNvPr id="68" name="Text Placeholder 3">
            <a:extLst>
              <a:ext uri="{FF2B5EF4-FFF2-40B4-BE49-F238E27FC236}">
                <a16:creationId xmlns:a16="http://schemas.microsoft.com/office/drawing/2014/main" id="{CFD01365-F58C-BA58-96C5-A7617B287D9B}"/>
              </a:ext>
            </a:extLst>
          </p:cNvPr>
          <p:cNvSpPr>
            <a:spLocks noGrp="1"/>
          </p:cNvSpPr>
          <p:nvPr>
            <p:custDataLst>
              <p:tags r:id="rId11"/>
            </p:custDataLst>
          </p:nvPr>
        </p:nvSpPr>
        <p:spPr bwMode="gray">
          <a:xfrm>
            <a:off x="1211263" y="2951163"/>
            <a:ext cx="403225" cy="234950"/>
          </a:xfrm>
          <a:prstGeom prst="rect">
            <a:avLst/>
          </a:prstGeom>
          <a:solidFill>
            <a:srgbClr val="60DB65"/>
          </a:solidFill>
          <a:ln>
            <a:noFill/>
          </a:ln>
          <a:effectLst/>
        </p:spPr>
        <p:txBody>
          <a:bodyPr vert="horz" wrap="none" lIns="22225" tIns="0" rIns="22225" bIns="0" rtlCol="0" anchor="ctr">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lvl="0" algn="ctr">
              <a:spcBef>
                <a:spcPct val="0"/>
              </a:spcBef>
              <a:spcAft>
                <a:spcPct val="0"/>
              </a:spcAft>
            </a:pPr>
            <a:fld id="{295BC528-DB02-40F1-8757-13189FB37D88}" type="datetime'''''''''''''0.''2''''''''''''%'''''''''''''''''''''''''">
              <a:rPr lang="en-US" altLang="en-US" sz="1400" smtClean="0">
                <a:solidFill>
                  <a:schemeClr val="bg1"/>
                </a:solidFill>
                <a:effectLst/>
                <a:ea typeface="Microsoft YaHei" panose="020B0503020204020204" pitchFamily="34" charset="-122"/>
              </a:rPr>
              <a:pPr lvl="0" algn="ctr">
                <a:spcBef>
                  <a:spcPct val="0"/>
                </a:spcBef>
                <a:spcAft>
                  <a:spcPct val="0"/>
                </a:spcAft>
              </a:pPr>
              <a:t>0.2%</a:t>
            </a:fld>
            <a:endParaRPr lang="en-US" sz="1400">
              <a:solidFill>
                <a:schemeClr val="bg1"/>
              </a:solidFill>
              <a:ea typeface="Microsoft YaHei" panose="020B0503020204020204" pitchFamily="34" charset="-122"/>
            </a:endParaRPr>
          </a:p>
        </p:txBody>
      </p:sp>
      <p:sp>
        <p:nvSpPr>
          <p:cNvPr id="83" name="Text Placeholder 3">
            <a:extLst>
              <a:ext uri="{FF2B5EF4-FFF2-40B4-BE49-F238E27FC236}">
                <a16:creationId xmlns:a16="http://schemas.microsoft.com/office/drawing/2014/main" id="{9FA71571-8AE5-0EBE-1D96-2FB3E43154D3}"/>
              </a:ext>
            </a:extLst>
          </p:cNvPr>
          <p:cNvSpPr>
            <a:spLocks noGrp="1"/>
          </p:cNvSpPr>
          <p:nvPr>
            <p:custDataLst>
              <p:tags r:id="rId12"/>
            </p:custDataLst>
          </p:nvPr>
        </p:nvSpPr>
        <p:spPr bwMode="gray">
          <a:xfrm>
            <a:off x="1211263" y="3187700"/>
            <a:ext cx="403225" cy="2349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ctr">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lvl="0" algn="ctr">
              <a:spcBef>
                <a:spcPct val="0"/>
              </a:spcBef>
              <a:spcAft>
                <a:spcPct val="0"/>
              </a:spcAft>
            </a:pPr>
            <a:fld id="{4325B5EB-A8A4-4F53-BD90-A4FF20D97E11}" type="datetime'''3''''''.5''%'''''''''''''''">
              <a:rPr lang="en-US" altLang="en-US" sz="1400" smtClean="0">
                <a:solidFill>
                  <a:schemeClr val="bg1"/>
                </a:solidFill>
                <a:ea typeface="Microsoft YaHei" panose="020B0503020204020204" pitchFamily="34" charset="-122"/>
              </a:rPr>
              <a:pPr lvl="0" algn="ctr">
                <a:spcBef>
                  <a:spcPct val="0"/>
                </a:spcBef>
                <a:spcAft>
                  <a:spcPct val="0"/>
                </a:spcAft>
              </a:pPr>
              <a:t>3.5%</a:t>
            </a:fld>
            <a:endParaRPr lang="en-US" sz="1400">
              <a:solidFill>
                <a:schemeClr val="bg1"/>
              </a:solidFill>
              <a:ea typeface="Microsoft YaHei" panose="020B0503020204020204" pitchFamily="34" charset="-122"/>
            </a:endParaRPr>
          </a:p>
        </p:txBody>
      </p:sp>
      <p:sp>
        <p:nvSpPr>
          <p:cNvPr id="84" name="Text Placeholder 3">
            <a:extLst>
              <a:ext uri="{FF2B5EF4-FFF2-40B4-BE49-F238E27FC236}">
                <a16:creationId xmlns:a16="http://schemas.microsoft.com/office/drawing/2014/main" id="{11480E72-BBA6-7FF7-5FCF-0F22C475E4AC}"/>
              </a:ext>
            </a:extLst>
          </p:cNvPr>
          <p:cNvSpPr>
            <a:spLocks noGrp="1"/>
          </p:cNvSpPr>
          <p:nvPr>
            <p:custDataLst>
              <p:tags r:id="rId13"/>
            </p:custDataLst>
          </p:nvPr>
        </p:nvSpPr>
        <p:spPr bwMode="gray">
          <a:xfrm>
            <a:off x="2174875" y="3040063"/>
            <a:ext cx="403225" cy="2349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ctr">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lvl="0">
              <a:spcBef>
                <a:spcPct val="0"/>
              </a:spcBef>
              <a:spcAft>
                <a:spcPct val="0"/>
              </a:spcAft>
            </a:pPr>
            <a:fld id="{078F03AD-E252-4873-BD2B-8409555980F0}" type="datetime'0''''''''.''''''''''''0''''''''''''%'''''''''''''''''">
              <a:rPr lang="en-US" altLang="en-US" sz="1400" smtClean="0">
                <a:ea typeface="Microsoft YaHei" panose="020B0503020204020204" pitchFamily="34" charset="-122"/>
              </a:rPr>
              <a:pPr lvl="0">
                <a:spcBef>
                  <a:spcPct val="0"/>
                </a:spcBef>
                <a:spcAft>
                  <a:spcPct val="0"/>
                </a:spcAft>
              </a:pPr>
              <a:t>0.0%</a:t>
            </a:fld>
            <a:endParaRPr lang="en-US" sz="1400">
              <a:ea typeface="Microsoft YaHei" panose="020B0503020204020204" pitchFamily="34" charset="-122"/>
            </a:endParaRPr>
          </a:p>
        </p:txBody>
      </p:sp>
      <p:sp>
        <p:nvSpPr>
          <p:cNvPr id="85" name="Text Placeholder 3">
            <a:extLst>
              <a:ext uri="{FF2B5EF4-FFF2-40B4-BE49-F238E27FC236}">
                <a16:creationId xmlns:a16="http://schemas.microsoft.com/office/drawing/2014/main" id="{38FAA0D2-152C-167D-78E2-5A9B7ED263A1}"/>
              </a:ext>
            </a:extLst>
          </p:cNvPr>
          <p:cNvSpPr>
            <a:spLocks noGrp="1"/>
          </p:cNvSpPr>
          <p:nvPr>
            <p:custDataLst>
              <p:tags r:id="rId14"/>
            </p:custDataLst>
          </p:nvPr>
        </p:nvSpPr>
        <p:spPr bwMode="gray">
          <a:xfrm>
            <a:off x="1411288" y="4911725"/>
            <a:ext cx="496888" cy="2349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ctr">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lvl="0" algn="ctr">
              <a:spcBef>
                <a:spcPct val="0"/>
              </a:spcBef>
              <a:spcAft>
                <a:spcPct val="0"/>
              </a:spcAft>
            </a:pPr>
            <a:fld id="{04CCC801-4669-41FE-95FE-85BD9E28CD9D}" type="datetime'''''''''18''''''''''''''''''.''''5''%'">
              <a:rPr lang="en-US" altLang="en-US" sz="1400" smtClean="0">
                <a:ea typeface="Microsoft YaHei" panose="020B0503020204020204" pitchFamily="34" charset="-122"/>
              </a:rPr>
              <a:pPr lvl="0" algn="ctr">
                <a:spcBef>
                  <a:spcPct val="0"/>
                </a:spcBef>
                <a:spcAft>
                  <a:spcPct val="0"/>
                </a:spcAft>
              </a:pPr>
              <a:t>18.5%</a:t>
            </a:fld>
            <a:endParaRPr lang="en-US" sz="1400">
              <a:ea typeface="Microsoft YaHei" panose="020B0503020204020204" pitchFamily="34" charset="-122"/>
            </a:endParaRPr>
          </a:p>
        </p:txBody>
      </p:sp>
      <p:sp>
        <p:nvSpPr>
          <p:cNvPr id="70" name="Text Placeholder 3">
            <a:extLst>
              <a:ext uri="{FF2B5EF4-FFF2-40B4-BE49-F238E27FC236}">
                <a16:creationId xmlns:a16="http://schemas.microsoft.com/office/drawing/2014/main" id="{B94A0E01-C019-AC59-85D0-37CF64289983}"/>
              </a:ext>
            </a:extLst>
          </p:cNvPr>
          <p:cNvSpPr>
            <a:spLocks noGrp="1"/>
          </p:cNvSpPr>
          <p:nvPr>
            <p:custDataLst>
              <p:tags r:id="rId15"/>
            </p:custDataLst>
          </p:nvPr>
        </p:nvSpPr>
        <p:spPr bwMode="gray">
          <a:xfrm>
            <a:off x="1411288" y="5854700"/>
            <a:ext cx="496888" cy="234950"/>
          </a:xfrm>
          <a:prstGeom prst="rect">
            <a:avLst/>
          </a:prstGeom>
          <a:solidFill>
            <a:srgbClr val="565656"/>
          </a:solidFill>
          <a:ln>
            <a:noFill/>
          </a:ln>
          <a:effectLst/>
        </p:spPr>
        <p:txBody>
          <a:bodyPr vert="horz" wrap="none" lIns="22225" tIns="0" rIns="22225" bIns="0" rtlCol="0" anchor="ctr">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lvl="0" algn="ctr">
              <a:spcBef>
                <a:spcPct val="0"/>
              </a:spcBef>
              <a:spcAft>
                <a:spcPct val="0"/>
              </a:spcAft>
            </a:pPr>
            <a:fld id="{A4EBD179-B189-43CD-8FC0-C754CA3EF7AB}" type="datetime'''''6''''''''''''''''5''''''''''.''''''''''''''''''''''''9%'">
              <a:rPr lang="en-US" altLang="en-US" sz="1400" smtClean="0">
                <a:solidFill>
                  <a:schemeClr val="bg1"/>
                </a:solidFill>
                <a:effectLst/>
                <a:ea typeface="Microsoft YaHei" panose="020B0503020204020204" pitchFamily="34" charset="-122"/>
              </a:rPr>
              <a:pPr lvl="0" algn="ctr">
                <a:spcBef>
                  <a:spcPct val="0"/>
                </a:spcBef>
                <a:spcAft>
                  <a:spcPct val="0"/>
                </a:spcAft>
              </a:pPr>
              <a:t>65.9%</a:t>
            </a:fld>
            <a:endParaRPr lang="en-US" sz="1400">
              <a:solidFill>
                <a:schemeClr val="bg1"/>
              </a:solidFill>
              <a:ea typeface="Microsoft YaHei" panose="020B0503020204020204" pitchFamily="34" charset="-122"/>
            </a:endParaRPr>
          </a:p>
        </p:txBody>
      </p:sp>
      <p:sp>
        <p:nvSpPr>
          <p:cNvPr id="15" name="Text Placeholder 3">
            <a:extLst>
              <a:ext uri="{FF2B5EF4-FFF2-40B4-BE49-F238E27FC236}">
                <a16:creationId xmlns:a16="http://schemas.microsoft.com/office/drawing/2014/main" id="{C03207AE-4DF4-2ABA-57C4-CF1EDEFB9B19}"/>
              </a:ext>
            </a:extLst>
          </p:cNvPr>
          <p:cNvSpPr>
            <a:spLocks noGrp="1"/>
          </p:cNvSpPr>
          <p:nvPr>
            <p:custDataLst>
              <p:tags r:id="rId16"/>
            </p:custDataLst>
          </p:nvPr>
        </p:nvSpPr>
        <p:spPr bwMode="gray">
          <a:xfrm>
            <a:off x="1463675" y="2716213"/>
            <a:ext cx="390525" cy="2349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lvl="0" algn="ctr">
              <a:spcBef>
                <a:spcPct val="0"/>
              </a:spcBef>
              <a:spcAft>
                <a:spcPct val="0"/>
              </a:spcAft>
            </a:pPr>
            <a:fld id="{836AFC52-1D2D-4492-8B40-093171E3AAE5}" type="datetime'11''''''''''''''''''''''.''''''''3'''''''''''">
              <a:rPr lang="en-US" altLang="en-US" sz="1400" smtClean="0">
                <a:ea typeface="Microsoft YaHei" panose="020B0503020204020204" pitchFamily="34" charset="-122"/>
              </a:rPr>
              <a:pPr lvl="0" algn="ctr">
                <a:spcBef>
                  <a:spcPct val="0"/>
                </a:spcBef>
                <a:spcAft>
                  <a:spcPct val="0"/>
                </a:spcAft>
              </a:pPr>
              <a:t>11.3</a:t>
            </a:fld>
            <a:endParaRPr lang="en-US" sz="1400">
              <a:ea typeface="Microsoft YaHei" panose="020B0503020204020204" pitchFamily="34" charset="-122"/>
            </a:endParaRPr>
          </a:p>
        </p:txBody>
      </p:sp>
      <p:sp>
        <p:nvSpPr>
          <p:cNvPr id="97" name="Rectangle 96">
            <a:extLst>
              <a:ext uri="{FF2B5EF4-FFF2-40B4-BE49-F238E27FC236}">
                <a16:creationId xmlns:a16="http://schemas.microsoft.com/office/drawing/2014/main" id="{CC46A88D-23C8-500E-203C-A1953A411A70}"/>
              </a:ext>
            </a:extLst>
          </p:cNvPr>
          <p:cNvSpPr/>
          <p:nvPr/>
        </p:nvSpPr>
        <p:spPr>
          <a:xfrm>
            <a:off x="551657" y="2078154"/>
            <a:ext cx="3251200" cy="537027"/>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90000"/>
              </a:lnSpc>
            </a:pPr>
            <a:r>
              <a:rPr lang="zh-TW" altLang="en-US" sz="1600" b="1">
                <a:solidFill>
                  <a:srgbClr val="575757"/>
                </a:solidFill>
                <a:latin typeface="Microsoft YaHei" panose="020B0503020204020204" pitchFamily="34" charset="-122"/>
                <a:ea typeface="Microsoft YaHei" panose="020B0503020204020204" pitchFamily="34" charset="-122"/>
              </a:rPr>
              <a:t>凱基零售銀行客戶零元戶</a:t>
            </a:r>
            <a:endParaRPr lang="en-US" altLang="zh-TW" sz="1600" b="1">
              <a:solidFill>
                <a:srgbClr val="575757"/>
              </a:solidFill>
              <a:latin typeface="Microsoft YaHei" panose="020B0503020204020204" pitchFamily="34" charset="-122"/>
              <a:ea typeface="Microsoft YaHei" panose="020B0503020204020204" pitchFamily="34" charset="-122"/>
            </a:endParaRPr>
          </a:p>
          <a:p>
            <a:pPr>
              <a:lnSpc>
                <a:spcPct val="90000"/>
              </a:lnSpc>
            </a:pPr>
            <a:r>
              <a:rPr lang="en-US" altLang="zh-TW" sz="1400">
                <a:solidFill>
                  <a:srgbClr val="575757"/>
                </a:solidFill>
                <a:latin typeface="Microsoft YaHei" panose="020B0503020204020204" pitchFamily="34" charset="-122"/>
                <a:ea typeface="Microsoft YaHei" panose="020B0503020204020204" pitchFamily="34" charset="-122"/>
              </a:rPr>
              <a:t>(</a:t>
            </a:r>
            <a:r>
              <a:rPr lang="zh-TW" altLang="en-US" sz="1400">
                <a:solidFill>
                  <a:srgbClr val="575757"/>
                </a:solidFill>
                <a:latin typeface="Microsoft YaHei" panose="020B0503020204020204" pitchFamily="34" charset="-122"/>
                <a:ea typeface="Microsoft YaHei" panose="020B0503020204020204" pitchFamily="34" charset="-122"/>
              </a:rPr>
              <a:t>萬人數，以</a:t>
            </a:r>
            <a:r>
              <a:rPr lang="en-US" altLang="zh-TW" sz="1400">
                <a:solidFill>
                  <a:srgbClr val="575757"/>
                </a:solidFill>
                <a:latin typeface="Microsoft YaHei" panose="020B0503020204020204" pitchFamily="34" charset="-122"/>
                <a:ea typeface="Microsoft YaHei" panose="020B0503020204020204" pitchFamily="34" charset="-122"/>
              </a:rPr>
              <a:t>'23</a:t>
            </a:r>
            <a:r>
              <a:rPr lang="zh-TW" altLang="en-US" sz="1400">
                <a:solidFill>
                  <a:srgbClr val="575757"/>
                </a:solidFill>
                <a:latin typeface="Microsoft YaHei" panose="020B0503020204020204" pitchFamily="34" charset="-122"/>
                <a:ea typeface="Microsoft YaHei" panose="020B0503020204020204" pitchFamily="34" charset="-122"/>
              </a:rPr>
              <a:t>年底資料為準</a:t>
            </a:r>
            <a:r>
              <a:rPr lang="en-US" altLang="zh-TW" sz="1400">
                <a:solidFill>
                  <a:srgbClr val="575757"/>
                </a:solidFill>
                <a:latin typeface="Microsoft YaHei" panose="020B0503020204020204" pitchFamily="34" charset="-122"/>
                <a:ea typeface="Microsoft YaHei" panose="020B0503020204020204" pitchFamily="34" charset="-122"/>
              </a:rPr>
              <a:t>)</a:t>
            </a:r>
            <a:endParaRPr lang="en-US" sz="1400">
              <a:solidFill>
                <a:srgbClr val="575757"/>
              </a:solidFill>
              <a:latin typeface="Microsoft YaHei" panose="020B0503020204020204" pitchFamily="34" charset="-122"/>
              <a:ea typeface="Microsoft YaHei" panose="020B0503020204020204" pitchFamily="34" charset="-122"/>
            </a:endParaRPr>
          </a:p>
        </p:txBody>
      </p:sp>
      <p:sp>
        <p:nvSpPr>
          <p:cNvPr id="98" name="object 5">
            <a:extLst>
              <a:ext uri="{FF2B5EF4-FFF2-40B4-BE49-F238E27FC236}">
                <a16:creationId xmlns:a16="http://schemas.microsoft.com/office/drawing/2014/main" id="{C17AA4D4-41DA-260C-C515-A04A5D7C94D4}"/>
              </a:ext>
            </a:extLst>
          </p:cNvPr>
          <p:cNvSpPr txBox="1"/>
          <p:nvPr/>
        </p:nvSpPr>
        <p:spPr>
          <a:xfrm>
            <a:off x="630000" y="1573529"/>
            <a:ext cx="3817010" cy="504625"/>
          </a:xfrm>
          <a:prstGeom prst="rect">
            <a:avLst/>
          </a:prstGeom>
        </p:spPr>
        <p:txBody>
          <a:bodyPr vert="horz" wrap="square" lIns="0" tIns="12065" rIns="0" bIns="0" rtlCol="0">
            <a:spAutoFit/>
          </a:bodyPr>
          <a:lstStyle/>
          <a:p>
            <a:pPr marL="12700" marR="5080" lvl="0" indent="0" defTabSz="914400" eaLnBrk="1" fontAlgn="auto" latinLnBrk="0" hangingPunct="1">
              <a:lnSpc>
                <a:spcPct val="100000"/>
              </a:lnSpc>
              <a:spcBef>
                <a:spcPts val="95"/>
              </a:spcBef>
              <a:spcAft>
                <a:spcPts val="0"/>
              </a:spcAft>
              <a:buClrTx/>
              <a:buSzTx/>
              <a:buFontTx/>
              <a:buNone/>
              <a:tabLst/>
              <a:defRPr/>
            </a:pPr>
            <a:r>
              <a:rPr kumimoji="0" lang="zh-TW" altLang="en-US" sz="1600" b="0" i="0" u="none" strike="noStrike" kern="0" cap="none" spc="0" normalizeH="0" baseline="0" noProof="0">
                <a:ln>
                  <a:noFill/>
                </a:ln>
                <a:solidFill>
                  <a:srgbClr val="29BA74"/>
                </a:solidFill>
                <a:effectLst/>
                <a:uLnTx/>
                <a:uFillTx/>
                <a:latin typeface="Trebuchet MS"/>
                <a:ea typeface="Microsoft YaHei" panose="020B0503020204020204" pitchFamily="34" charset="-122"/>
                <a:cs typeface="Trebuchet MS"/>
              </a:rPr>
              <a:t>共</a:t>
            </a:r>
            <a:r>
              <a:rPr kumimoji="0" lang="en-US" altLang="zh-TW" sz="1600" b="0" i="0" u="none" strike="noStrike" kern="0" cap="none" spc="0" normalizeH="0" baseline="0" noProof="0">
                <a:ln>
                  <a:noFill/>
                </a:ln>
                <a:solidFill>
                  <a:srgbClr val="29BA74"/>
                </a:solidFill>
                <a:effectLst/>
                <a:uLnTx/>
                <a:uFillTx/>
                <a:latin typeface="Trebuchet MS"/>
                <a:ea typeface="Microsoft YaHei" panose="020B0503020204020204" pitchFamily="34" charset="-122"/>
                <a:cs typeface="Trebuchet MS"/>
              </a:rPr>
              <a:t>11.3</a:t>
            </a:r>
            <a:r>
              <a:rPr kumimoji="0" lang="zh-TW" altLang="en-US" sz="1600" b="0" i="0" u="none" strike="noStrike" kern="0" cap="none" spc="0" normalizeH="0" baseline="0" noProof="0">
                <a:ln>
                  <a:noFill/>
                </a:ln>
                <a:solidFill>
                  <a:srgbClr val="29BA74"/>
                </a:solidFill>
                <a:effectLst/>
                <a:uLnTx/>
                <a:uFillTx/>
                <a:latin typeface="Trebuchet MS"/>
                <a:ea typeface="Microsoft YaHei" panose="020B0503020204020204" pitchFamily="34" charset="-122"/>
                <a:cs typeface="Trebuchet MS"/>
              </a:rPr>
              <a:t>萬零元戶，其中分行</a:t>
            </a:r>
            <a:r>
              <a:rPr kumimoji="0" lang="en-US" altLang="zh-TW" sz="1600" b="0" i="0" u="none" strike="noStrike" kern="0" cap="none" spc="0" normalizeH="0" baseline="0" noProof="0">
                <a:ln>
                  <a:noFill/>
                </a:ln>
                <a:solidFill>
                  <a:srgbClr val="29BA74"/>
                </a:solidFill>
                <a:effectLst/>
                <a:uLnTx/>
                <a:uFillTx/>
                <a:latin typeface="Trebuchet MS"/>
                <a:ea typeface="Microsoft YaHei" panose="020B0503020204020204" pitchFamily="34" charset="-122"/>
                <a:cs typeface="Trebuchet MS"/>
              </a:rPr>
              <a:t>(</a:t>
            </a:r>
            <a:r>
              <a:rPr kumimoji="0" lang="zh-TW" altLang="en-US" sz="1600" b="0" i="0" u="none" strike="noStrike" kern="0" cap="none" spc="0" normalizeH="0" baseline="0" noProof="0">
                <a:ln>
                  <a:noFill/>
                </a:ln>
                <a:solidFill>
                  <a:srgbClr val="29BA74"/>
                </a:solidFill>
                <a:effectLst/>
                <a:uLnTx/>
                <a:uFillTx/>
                <a:latin typeface="Trebuchet MS"/>
                <a:ea typeface="Microsoft YaHei" panose="020B0503020204020204" pitchFamily="34" charset="-122"/>
                <a:cs typeface="Trebuchet MS"/>
              </a:rPr>
              <a:t>包括數存</a:t>
            </a:r>
            <a:r>
              <a:rPr kumimoji="0" lang="en-US" altLang="zh-TW" sz="1600" b="0" i="0" u="none" strike="noStrike" kern="0" cap="none" spc="0" normalizeH="0" baseline="0" noProof="0">
                <a:ln>
                  <a:noFill/>
                </a:ln>
                <a:solidFill>
                  <a:srgbClr val="29BA74"/>
                </a:solidFill>
                <a:effectLst/>
                <a:uLnTx/>
                <a:uFillTx/>
                <a:latin typeface="Trebuchet MS"/>
                <a:ea typeface="Microsoft YaHei" panose="020B0503020204020204" pitchFamily="34" charset="-122"/>
                <a:cs typeface="Trebuchet MS"/>
              </a:rPr>
              <a:t>)</a:t>
            </a:r>
            <a:r>
              <a:rPr kumimoji="0" lang="zh-TW" altLang="en-US" sz="1600" b="0" i="0" u="none" strike="noStrike" kern="0" cap="none" spc="0" normalizeH="0" baseline="0" noProof="0">
                <a:ln>
                  <a:noFill/>
                </a:ln>
                <a:solidFill>
                  <a:srgbClr val="29BA74"/>
                </a:solidFill>
                <a:effectLst/>
                <a:uLnTx/>
                <a:uFillTx/>
                <a:latin typeface="Trebuchet MS"/>
                <a:ea typeface="Microsoft YaHei" panose="020B0503020204020204" pitchFamily="34" charset="-122"/>
                <a:cs typeface="Trebuchet MS"/>
              </a:rPr>
              <a:t>、凱證轉介、薪轉為主要</a:t>
            </a:r>
            <a:r>
              <a:rPr lang="zh-TW" altLang="en-US" sz="1600" kern="0">
                <a:solidFill>
                  <a:srgbClr val="29BA74"/>
                </a:solidFill>
                <a:latin typeface="Trebuchet MS"/>
                <a:ea typeface="Microsoft YaHei" panose="020B0503020204020204" pitchFamily="34" charset="-122"/>
                <a:cs typeface="Trebuchet MS"/>
              </a:rPr>
              <a:t>零元戶管道</a:t>
            </a:r>
            <a:endParaRPr kumimoji="0" sz="1600" b="0" i="0" u="none" strike="noStrike" kern="0" cap="none" spc="0" normalizeH="0" baseline="0" noProof="0">
              <a:ln>
                <a:noFill/>
              </a:ln>
              <a:solidFill>
                <a:srgbClr val="29BA74"/>
              </a:solidFill>
              <a:effectLst/>
              <a:uLnTx/>
              <a:uFillTx/>
              <a:latin typeface="Trebuchet MS"/>
              <a:ea typeface="Microsoft YaHei" panose="020B0503020204020204" pitchFamily="34" charset="-122"/>
              <a:cs typeface="Trebuchet MS"/>
            </a:endParaRPr>
          </a:p>
        </p:txBody>
      </p:sp>
      <p:sp>
        <p:nvSpPr>
          <p:cNvPr id="118" name="object 5">
            <a:extLst>
              <a:ext uri="{FF2B5EF4-FFF2-40B4-BE49-F238E27FC236}">
                <a16:creationId xmlns:a16="http://schemas.microsoft.com/office/drawing/2014/main" id="{36409981-551A-03C5-82CC-4F53181DB595}"/>
              </a:ext>
            </a:extLst>
          </p:cNvPr>
          <p:cNvSpPr txBox="1"/>
          <p:nvPr/>
        </p:nvSpPr>
        <p:spPr>
          <a:xfrm>
            <a:off x="5466665" y="1573529"/>
            <a:ext cx="3542888" cy="504625"/>
          </a:xfrm>
          <a:prstGeom prst="rect">
            <a:avLst/>
          </a:prstGeom>
        </p:spPr>
        <p:txBody>
          <a:bodyPr vert="horz" wrap="square" lIns="0" tIns="12065" rIns="0" bIns="0" rtlCol="0">
            <a:spAutoFit/>
          </a:bodyPr>
          <a:lstStyle/>
          <a:p>
            <a:pPr marL="12700" marR="5080" lvl="0" indent="0" defTabSz="914400" eaLnBrk="1" fontAlgn="auto" latinLnBrk="0" hangingPunct="1">
              <a:lnSpc>
                <a:spcPct val="100000"/>
              </a:lnSpc>
              <a:spcBef>
                <a:spcPts val="95"/>
              </a:spcBef>
              <a:spcAft>
                <a:spcPts val="0"/>
              </a:spcAft>
              <a:buClrTx/>
              <a:buSzTx/>
              <a:buFontTx/>
              <a:buNone/>
              <a:tabLst/>
              <a:defRPr/>
            </a:pPr>
            <a:r>
              <a:rPr lang="zh-TW" altLang="en-US" sz="1600" kern="0">
                <a:solidFill>
                  <a:srgbClr val="29BA74"/>
                </a:solidFill>
                <a:latin typeface="Trebuchet MS"/>
                <a:ea typeface="Microsoft YaHei" panose="020B0503020204020204" pitchFamily="34" charset="-122"/>
                <a:cs typeface="Trebuchet MS"/>
              </a:rPr>
              <a:t>超過</a:t>
            </a:r>
            <a:r>
              <a:rPr lang="en-US" altLang="zh-TW" sz="1600" kern="0">
                <a:solidFill>
                  <a:srgbClr val="29BA74"/>
                </a:solidFill>
                <a:latin typeface="Trebuchet MS"/>
                <a:ea typeface="Microsoft YaHei" panose="020B0503020204020204" pitchFamily="34" charset="-122"/>
                <a:cs typeface="Trebuchet MS"/>
              </a:rPr>
              <a:t>8</a:t>
            </a:r>
            <a:r>
              <a:rPr lang="zh-TW" altLang="en-US" sz="1600" kern="0">
                <a:solidFill>
                  <a:srgbClr val="29BA74"/>
                </a:solidFill>
                <a:latin typeface="Trebuchet MS"/>
                <a:ea typeface="Microsoft YaHei" panose="020B0503020204020204" pitchFamily="34" charset="-122"/>
                <a:cs typeface="Trebuchet MS"/>
              </a:rPr>
              <a:t>成客戶客戶重未被啟動或與凱銀有互動</a:t>
            </a:r>
            <a:endParaRPr kumimoji="0" sz="1600" b="0" i="0" u="none" strike="noStrike" kern="0" cap="none" spc="0" normalizeH="0" baseline="0" noProof="0">
              <a:ln>
                <a:noFill/>
              </a:ln>
              <a:solidFill>
                <a:srgbClr val="29BA74"/>
              </a:solidFill>
              <a:effectLst/>
              <a:uLnTx/>
              <a:uFillTx/>
              <a:latin typeface="Trebuchet MS"/>
              <a:ea typeface="Microsoft YaHei" panose="020B0503020204020204" pitchFamily="34" charset="-122"/>
              <a:cs typeface="Trebuchet MS"/>
            </a:endParaRPr>
          </a:p>
        </p:txBody>
      </p:sp>
      <p:sp>
        <p:nvSpPr>
          <p:cNvPr id="125" name="object 5">
            <a:extLst>
              <a:ext uri="{FF2B5EF4-FFF2-40B4-BE49-F238E27FC236}">
                <a16:creationId xmlns:a16="http://schemas.microsoft.com/office/drawing/2014/main" id="{BA70D13E-0732-80D1-5DB5-520DCA153C39}"/>
              </a:ext>
            </a:extLst>
          </p:cNvPr>
          <p:cNvSpPr txBox="1"/>
          <p:nvPr/>
        </p:nvSpPr>
        <p:spPr>
          <a:xfrm>
            <a:off x="9369473" y="1974621"/>
            <a:ext cx="2400249" cy="640560"/>
          </a:xfrm>
          <a:prstGeom prst="rect">
            <a:avLst/>
          </a:prstGeom>
        </p:spPr>
        <p:txBody>
          <a:bodyPr vert="horz" wrap="square" lIns="0" tIns="12065" rIns="0" bIns="0" rtlCol="0">
            <a:spAutoFit/>
          </a:bodyPr>
          <a:lstStyle/>
          <a:p>
            <a:pPr marL="12700" marR="5080">
              <a:spcBef>
                <a:spcPts val="95"/>
              </a:spcBef>
            </a:pPr>
            <a:r>
              <a:rPr kumimoji="0" lang="zh-TW" altLang="en-US" sz="2000" b="1" strike="noStrike" kern="0" cap="none" spc="0" normalizeH="0" baseline="0" noProof="0">
                <a:ln>
                  <a:noFill/>
                </a:ln>
                <a:solidFill>
                  <a:srgbClr val="D4DF33"/>
                </a:solidFill>
                <a:effectLst/>
                <a:uLnTx/>
                <a:uFillTx/>
                <a:latin typeface="Trebuchet MS"/>
                <a:ea typeface="Microsoft YaHei" panose="020B0503020204020204" pitchFamily="34" charset="-122"/>
                <a:cs typeface="Trebuchet MS"/>
              </a:rPr>
              <a:t>未來應著重</a:t>
            </a:r>
            <a:endParaRPr kumimoji="0" lang="en-US" altLang="zh-TW" sz="2000" b="1" strike="noStrike" kern="0" cap="none" spc="0" normalizeH="0" baseline="0" noProof="0">
              <a:ln>
                <a:noFill/>
              </a:ln>
              <a:solidFill>
                <a:srgbClr val="D4DF33"/>
              </a:solidFill>
              <a:effectLst/>
              <a:uLnTx/>
              <a:uFillTx/>
              <a:latin typeface="Trebuchet MS"/>
              <a:ea typeface="Microsoft YaHei" panose="020B0503020204020204" pitchFamily="34" charset="-122"/>
              <a:cs typeface="Trebuchet MS"/>
            </a:endParaRPr>
          </a:p>
          <a:p>
            <a:pPr marL="12700" marR="5080">
              <a:spcBef>
                <a:spcPts val="95"/>
              </a:spcBef>
            </a:pPr>
            <a:r>
              <a:rPr lang="zh-TW" altLang="en-US" sz="2000" b="1" kern="0">
                <a:solidFill>
                  <a:srgbClr val="D4DF33"/>
                </a:solidFill>
                <a:latin typeface="Trebuchet MS"/>
                <a:ea typeface="Microsoft YaHei" panose="020B0503020204020204" pitchFamily="34" charset="-122"/>
                <a:cs typeface="Trebuchet MS"/>
              </a:rPr>
              <a:t>阻止持續新增</a:t>
            </a:r>
            <a:r>
              <a:rPr lang="zh-TW" altLang="en-US" sz="2000" b="1" kern="0">
                <a:solidFill>
                  <a:srgbClr val="D4DF33"/>
                </a:solidFill>
                <a:ea typeface="Microsoft YaHei" panose="020B0503020204020204" pitchFamily="34" charset="-122"/>
                <a:cs typeface="Trebuchet MS"/>
              </a:rPr>
              <a:t>零元戶</a:t>
            </a:r>
            <a:endParaRPr kumimoji="0" lang="zh-TW" altLang="en-US" sz="2000" b="1" strike="noStrike" kern="0" cap="none" spc="0" normalizeH="0" baseline="0" noProof="0">
              <a:ln>
                <a:noFill/>
              </a:ln>
              <a:solidFill>
                <a:srgbClr val="D4DF33"/>
              </a:solidFill>
              <a:effectLst/>
              <a:uLnTx/>
              <a:uFillTx/>
              <a:latin typeface="Trebuchet MS"/>
              <a:ea typeface="Microsoft YaHei" panose="020B0503020204020204" pitchFamily="34" charset="-122"/>
              <a:cs typeface="Trebuchet MS"/>
            </a:endParaRPr>
          </a:p>
        </p:txBody>
      </p:sp>
      <p:sp>
        <p:nvSpPr>
          <p:cNvPr id="127" name="object 5">
            <a:extLst>
              <a:ext uri="{FF2B5EF4-FFF2-40B4-BE49-F238E27FC236}">
                <a16:creationId xmlns:a16="http://schemas.microsoft.com/office/drawing/2014/main" id="{D060B950-578F-BEC9-F73B-93CC97EBD804}"/>
              </a:ext>
            </a:extLst>
          </p:cNvPr>
          <p:cNvSpPr txBox="1"/>
          <p:nvPr/>
        </p:nvSpPr>
        <p:spPr>
          <a:xfrm>
            <a:off x="9788424" y="2890838"/>
            <a:ext cx="1981299" cy="750847"/>
          </a:xfrm>
          <a:prstGeom prst="rect">
            <a:avLst/>
          </a:prstGeom>
        </p:spPr>
        <p:txBody>
          <a:bodyPr vert="horz" wrap="square" lIns="0" tIns="12065" rIns="0" bIns="0" rtlCol="0">
            <a:spAutoFit/>
          </a:bodyPr>
          <a:lstStyle/>
          <a:p>
            <a:pPr marL="12700" marR="5080" lvl="0" indent="0" defTabSz="914400" eaLnBrk="1" fontAlgn="auto" latinLnBrk="0" hangingPunct="1">
              <a:lnSpc>
                <a:spcPct val="100000"/>
              </a:lnSpc>
              <a:spcBef>
                <a:spcPts val="95"/>
              </a:spcBef>
              <a:spcAft>
                <a:spcPts val="0"/>
              </a:spcAft>
              <a:buClrTx/>
              <a:buSzTx/>
              <a:buFontTx/>
              <a:buNone/>
              <a:tabLst/>
              <a:defRPr/>
            </a:pPr>
            <a:r>
              <a:rPr kumimoji="0" lang="zh-TW" altLang="en-US" sz="1600" b="1" i="0" u="none" strike="noStrike" kern="0" cap="none" spc="0" normalizeH="0" baseline="0" noProof="0">
                <a:ln>
                  <a:noFill/>
                </a:ln>
                <a:solidFill>
                  <a:srgbClr val="FFFFFF"/>
                </a:solidFill>
                <a:effectLst/>
                <a:uLnTx/>
                <a:uFillTx/>
                <a:latin typeface="Trebuchet MS"/>
                <a:ea typeface="Microsoft YaHei" panose="020B0503020204020204" pitchFamily="34" charset="-122"/>
                <a:cs typeface="Trebuchet MS"/>
              </a:rPr>
              <a:t>源頭控管</a:t>
            </a:r>
            <a:r>
              <a:rPr kumimoji="0" lang="en-US" altLang="zh-TW" sz="1600" b="1" i="0" u="none" strike="noStrike" kern="0" cap="none" spc="0" normalizeH="0" baseline="0" noProof="0">
                <a:ln>
                  <a:noFill/>
                </a:ln>
                <a:solidFill>
                  <a:srgbClr val="FFFFFF"/>
                </a:solidFill>
                <a:effectLst/>
                <a:uLnTx/>
                <a:uFillTx/>
                <a:latin typeface="Trebuchet MS"/>
                <a:ea typeface="Microsoft YaHei" panose="020B0503020204020204" pitchFamily="34" charset="-122"/>
                <a:cs typeface="Trebuchet MS"/>
              </a:rPr>
              <a:t>:</a:t>
            </a:r>
            <a:r>
              <a:rPr kumimoji="0" lang="zh-TW" altLang="en-US" sz="1600" b="1" i="0" u="none" strike="noStrike" kern="0" cap="none" spc="0" normalizeH="0" baseline="0" noProof="0">
                <a:ln>
                  <a:noFill/>
                </a:ln>
                <a:solidFill>
                  <a:srgbClr val="FFFFFF"/>
                </a:solidFill>
                <a:effectLst/>
                <a:uLnTx/>
                <a:uFillTx/>
                <a:latin typeface="Trebuchet MS"/>
                <a:ea typeface="Microsoft YaHei" panose="020B0503020204020204" pitchFamily="34" charset="-122"/>
                <a:cs typeface="Trebuchet MS"/>
              </a:rPr>
              <a:t> 把控轉介</a:t>
            </a:r>
            <a:r>
              <a:rPr kumimoji="0" lang="en-US" altLang="zh-TW" sz="1600" b="1" i="0" u="none" strike="noStrike" kern="0" cap="none" spc="0" normalizeH="0" baseline="0" noProof="0" err="1">
                <a:ln>
                  <a:noFill/>
                </a:ln>
                <a:solidFill>
                  <a:srgbClr val="FFFFFF"/>
                </a:solidFill>
                <a:effectLst/>
                <a:uLnTx/>
                <a:uFillTx/>
                <a:latin typeface="Trebuchet MS"/>
                <a:ea typeface="Microsoft YaHei" panose="020B0503020204020204" pitchFamily="34" charset="-122"/>
                <a:cs typeface="Trebuchet MS"/>
              </a:rPr>
              <a:t>KPI</a:t>
            </a:r>
            <a:r>
              <a:rPr kumimoji="0" lang="zh-TW" altLang="en-US" sz="1600" b="1" i="0" u="none" strike="noStrike" kern="0" cap="none" spc="0" normalizeH="0" baseline="0" noProof="0">
                <a:ln>
                  <a:noFill/>
                </a:ln>
                <a:solidFill>
                  <a:srgbClr val="FFFFFF"/>
                </a:solidFill>
                <a:effectLst/>
                <a:uLnTx/>
                <a:uFillTx/>
                <a:latin typeface="Trebuchet MS"/>
                <a:ea typeface="Microsoft YaHei" panose="020B0503020204020204" pitchFamily="34" charset="-122"/>
                <a:cs typeface="Trebuchet MS"/>
              </a:rPr>
              <a:t>設計，確保</a:t>
            </a:r>
            <a:r>
              <a:rPr lang="zh-TW" altLang="en-US" sz="1600" b="1" kern="0">
                <a:solidFill>
                  <a:srgbClr val="FFFFFF"/>
                </a:solidFill>
                <a:latin typeface="Trebuchet MS"/>
                <a:ea typeface="Microsoft YaHei" panose="020B0503020204020204" pitchFamily="34" charset="-122"/>
                <a:cs typeface="Trebuchet MS"/>
              </a:rPr>
              <a:t>新增</a:t>
            </a:r>
            <a:r>
              <a:rPr kumimoji="0" lang="zh-TW" altLang="en-US" sz="1600" b="1" i="0" u="none" strike="noStrike" kern="0" cap="none" spc="0" normalizeH="0" baseline="0" noProof="0">
                <a:ln>
                  <a:noFill/>
                </a:ln>
                <a:solidFill>
                  <a:srgbClr val="FFFFFF"/>
                </a:solidFill>
                <a:effectLst/>
                <a:uLnTx/>
                <a:uFillTx/>
                <a:latin typeface="Trebuchet MS"/>
                <a:ea typeface="Microsoft YaHei" panose="020B0503020204020204" pitchFamily="34" charset="-122"/>
                <a:cs typeface="Trebuchet MS"/>
              </a:rPr>
              <a:t>有效戶數</a:t>
            </a:r>
            <a:endParaRPr kumimoji="0" sz="1600" b="1" i="0" u="none" strike="noStrike" kern="0" cap="none" spc="0" normalizeH="0" baseline="0" noProof="0">
              <a:ln>
                <a:noFill/>
              </a:ln>
              <a:solidFill>
                <a:srgbClr val="FFFFFF"/>
              </a:solidFill>
              <a:effectLst/>
              <a:uLnTx/>
              <a:uFillTx/>
              <a:latin typeface="Trebuchet MS"/>
              <a:ea typeface="Microsoft YaHei" panose="020B0503020204020204" pitchFamily="34" charset="-122"/>
              <a:cs typeface="Trebuchet MS"/>
            </a:endParaRPr>
          </a:p>
        </p:txBody>
      </p:sp>
      <p:sp>
        <p:nvSpPr>
          <p:cNvPr id="128" name="object 5">
            <a:extLst>
              <a:ext uri="{FF2B5EF4-FFF2-40B4-BE49-F238E27FC236}">
                <a16:creationId xmlns:a16="http://schemas.microsoft.com/office/drawing/2014/main" id="{6BA00597-6B56-A7A5-9A6D-FD0ACA7052C1}"/>
              </a:ext>
            </a:extLst>
          </p:cNvPr>
          <p:cNvSpPr txBox="1"/>
          <p:nvPr/>
        </p:nvSpPr>
        <p:spPr>
          <a:xfrm>
            <a:off x="9788423" y="4173638"/>
            <a:ext cx="1981301" cy="750847"/>
          </a:xfrm>
          <a:prstGeom prst="rect">
            <a:avLst/>
          </a:prstGeom>
        </p:spPr>
        <p:txBody>
          <a:bodyPr vert="horz" wrap="square" lIns="0" tIns="12065" rIns="0" bIns="0" rtlCol="0">
            <a:spAutoFit/>
          </a:bodyPr>
          <a:lstStyle/>
          <a:p>
            <a:pPr marL="12700" marR="5080" lvl="0" indent="0" defTabSz="914400" eaLnBrk="1" fontAlgn="auto" latinLnBrk="0" hangingPunct="1">
              <a:lnSpc>
                <a:spcPct val="100000"/>
              </a:lnSpc>
              <a:spcBef>
                <a:spcPts val="95"/>
              </a:spcBef>
              <a:spcAft>
                <a:spcPts val="0"/>
              </a:spcAft>
              <a:buClrTx/>
              <a:buSzTx/>
              <a:buFontTx/>
              <a:buNone/>
              <a:tabLst/>
              <a:defRPr/>
            </a:pPr>
            <a:r>
              <a:rPr lang="zh-TW" altLang="en-US" sz="1600" b="1" kern="0">
                <a:solidFill>
                  <a:srgbClr val="FFFFFF"/>
                </a:solidFill>
                <a:latin typeface="Trebuchet MS"/>
                <a:ea typeface="Microsoft YaHei" panose="020B0503020204020204" pitchFamily="34" charset="-122"/>
                <a:cs typeface="Trebuchet MS"/>
              </a:rPr>
              <a:t>有效啓動</a:t>
            </a:r>
            <a:r>
              <a:rPr lang="en-US" altLang="zh-TW" sz="1600" b="1" kern="0">
                <a:solidFill>
                  <a:srgbClr val="FFFFFF"/>
                </a:solidFill>
                <a:latin typeface="Trebuchet MS"/>
                <a:ea typeface="Microsoft YaHei" panose="020B0503020204020204" pitchFamily="34" charset="-122"/>
                <a:cs typeface="Trebuchet MS"/>
              </a:rPr>
              <a:t>:</a:t>
            </a:r>
            <a:r>
              <a:rPr lang="zh-TW" altLang="en-US" sz="1600" b="1" kern="0">
                <a:solidFill>
                  <a:srgbClr val="FFFFFF"/>
                </a:solidFill>
                <a:latin typeface="Trebuchet MS"/>
                <a:ea typeface="Microsoft YaHei" panose="020B0503020204020204" pitchFamily="34" charset="-122"/>
                <a:cs typeface="Trebuchet MS"/>
              </a:rPr>
              <a:t> 參考行業實踐，優化既有新戶啓動計畫</a:t>
            </a:r>
            <a:endParaRPr kumimoji="0" sz="1600" b="1" i="0" u="none" strike="noStrike" kern="0" cap="none" spc="0" normalizeH="0" baseline="0" noProof="0">
              <a:ln>
                <a:noFill/>
              </a:ln>
              <a:solidFill>
                <a:srgbClr val="FFFFFF"/>
              </a:solidFill>
              <a:effectLst/>
              <a:uLnTx/>
              <a:uFillTx/>
              <a:latin typeface="Trebuchet MS"/>
              <a:ea typeface="Microsoft YaHei" panose="020B0503020204020204" pitchFamily="34" charset="-122"/>
              <a:cs typeface="Trebuchet MS"/>
            </a:endParaRPr>
          </a:p>
        </p:txBody>
      </p:sp>
      <p:sp>
        <p:nvSpPr>
          <p:cNvPr id="129" name="Oval 20">
            <a:extLst>
              <a:ext uri="{FF2B5EF4-FFF2-40B4-BE49-F238E27FC236}">
                <a16:creationId xmlns:a16="http://schemas.microsoft.com/office/drawing/2014/main" id="{468B6605-8647-EFA2-214F-487507991261}"/>
              </a:ext>
            </a:extLst>
          </p:cNvPr>
          <p:cNvSpPr>
            <a:spLocks noChangeAspect="1" noChangeArrowheads="1"/>
          </p:cNvSpPr>
          <p:nvPr/>
        </p:nvSpPr>
        <p:spPr bwMode="auto">
          <a:xfrm>
            <a:off x="9341728" y="4173637"/>
            <a:ext cx="306910" cy="306910"/>
          </a:xfrm>
          <a:prstGeom prst="ellipse">
            <a:avLst/>
          </a:prstGeom>
          <a:solidFill>
            <a:schemeClr val="tx2"/>
          </a:solidFill>
          <a:ln w="9525" cap="flat" cmpd="sng" algn="ctr">
            <a:solidFill>
              <a:srgbClr val="FFFFFF"/>
            </a:solidFill>
            <a:prstDash val="solid"/>
            <a:round/>
            <a:headEnd type="none" w="med" len="med"/>
            <a:tailEnd type="none" w="med" len="med"/>
          </a:ln>
          <a:effectLst>
            <a:outerShdw blurRad="50800" dist="38100" dir="2700000" algn="tl" rotWithShape="0">
              <a:prstClr val="black">
                <a:alpha val="40000"/>
              </a:prstClr>
            </a:outerShdw>
          </a:effectLst>
        </p:spPr>
        <p:txBody>
          <a:bodyPr vert="horz" wrap="square" lIns="0" tIns="0" rIns="0" bIns="0" numCol="1" anchor="ctr" anchorCtr="0" compatLnSpc="1">
            <a:prstTxWarp prst="textNoShape">
              <a:avLst/>
            </a:prstTxWarp>
          </a:bodyPr>
          <a:lstStyle/>
          <a:p>
            <a:pPr algn="ctr"/>
            <a:r>
              <a:rPr lang="en-US" sz="1200">
                <a:solidFill>
                  <a:schemeClr val="bg1"/>
                </a:solidFill>
                <a:ea typeface="Microsoft YaHei" panose="020B0503020204020204" pitchFamily="34" charset="-122"/>
              </a:rPr>
              <a:t>2</a:t>
            </a:r>
          </a:p>
        </p:txBody>
      </p:sp>
      <p:sp>
        <p:nvSpPr>
          <p:cNvPr id="130" name="Oval 20">
            <a:extLst>
              <a:ext uri="{FF2B5EF4-FFF2-40B4-BE49-F238E27FC236}">
                <a16:creationId xmlns:a16="http://schemas.microsoft.com/office/drawing/2014/main" id="{EC59F3D0-B7F2-5450-F2CA-93CCC73AAC87}"/>
              </a:ext>
            </a:extLst>
          </p:cNvPr>
          <p:cNvSpPr>
            <a:spLocks noChangeAspect="1" noChangeArrowheads="1"/>
          </p:cNvSpPr>
          <p:nvPr/>
        </p:nvSpPr>
        <p:spPr bwMode="auto">
          <a:xfrm>
            <a:off x="9355030" y="2890838"/>
            <a:ext cx="306910" cy="306910"/>
          </a:xfrm>
          <a:prstGeom prst="ellipse">
            <a:avLst/>
          </a:prstGeom>
          <a:solidFill>
            <a:schemeClr val="tx2"/>
          </a:solidFill>
          <a:ln w="9525" cap="flat" cmpd="sng" algn="ctr">
            <a:solidFill>
              <a:srgbClr val="FFFFFF"/>
            </a:solidFill>
            <a:prstDash val="solid"/>
            <a:round/>
            <a:headEnd type="none" w="med" len="med"/>
            <a:tailEnd type="none" w="med" len="med"/>
          </a:ln>
          <a:effectLst>
            <a:outerShdw blurRad="50800" dist="38100" dir="2700000" algn="tl" rotWithShape="0">
              <a:prstClr val="black">
                <a:alpha val="40000"/>
              </a:prstClr>
            </a:outerShdw>
          </a:effectLst>
        </p:spPr>
        <p:txBody>
          <a:bodyPr vert="horz" wrap="square" lIns="0" tIns="0" rIns="0" bIns="0" numCol="1" anchor="ctr" anchorCtr="0" compatLnSpc="1">
            <a:prstTxWarp prst="textNoShape">
              <a:avLst/>
            </a:prstTxWarp>
          </a:bodyPr>
          <a:lstStyle/>
          <a:p>
            <a:pPr algn="ctr"/>
            <a:r>
              <a:rPr lang="en-US" sz="1200">
                <a:solidFill>
                  <a:schemeClr val="bg1"/>
                </a:solidFill>
                <a:ea typeface="Microsoft YaHei" panose="020B0503020204020204" pitchFamily="34" charset="-122"/>
              </a:rPr>
              <a:t>1</a:t>
            </a:r>
          </a:p>
        </p:txBody>
      </p:sp>
      <p:sp>
        <p:nvSpPr>
          <p:cNvPr id="132" name="Rectangle 131">
            <a:extLst>
              <a:ext uri="{FF2B5EF4-FFF2-40B4-BE49-F238E27FC236}">
                <a16:creationId xmlns:a16="http://schemas.microsoft.com/office/drawing/2014/main" id="{A765071D-AD5F-B033-71C0-C3185D27267F}"/>
              </a:ext>
            </a:extLst>
          </p:cNvPr>
          <p:cNvSpPr/>
          <p:nvPr/>
        </p:nvSpPr>
        <p:spPr>
          <a:xfrm>
            <a:off x="5365994" y="2568290"/>
            <a:ext cx="1460012" cy="306910"/>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zh-TW" altLang="en-US" sz="1400" b="1" u="sng">
                <a:solidFill>
                  <a:srgbClr val="575757"/>
                </a:solidFill>
                <a:latin typeface="Microsoft YaHei" panose="020B0503020204020204" pitchFamily="34" charset="-122"/>
                <a:ea typeface="Microsoft YaHei" panose="020B0503020204020204" pitchFamily="34" charset="-122"/>
              </a:rPr>
              <a:t>過去三年</a:t>
            </a:r>
            <a:endParaRPr lang="en-US" altLang="zh-TW" sz="1400" b="1" u="sng">
              <a:solidFill>
                <a:srgbClr val="575757"/>
              </a:solidFill>
              <a:latin typeface="Microsoft YaHei" panose="020B0503020204020204" pitchFamily="34" charset="-122"/>
              <a:ea typeface="Microsoft YaHei" panose="020B0503020204020204" pitchFamily="34" charset="-122"/>
            </a:endParaRPr>
          </a:p>
          <a:p>
            <a:pPr algn="ctr">
              <a:lnSpc>
                <a:spcPct val="90000"/>
              </a:lnSpc>
            </a:pPr>
            <a:r>
              <a:rPr lang="zh-TW" altLang="en-US" sz="1400" b="1" u="sng">
                <a:solidFill>
                  <a:srgbClr val="575757"/>
                </a:solidFill>
                <a:latin typeface="Microsoft YaHei" panose="020B0503020204020204" pitchFamily="34" charset="-122"/>
                <a:ea typeface="Microsoft YaHei" panose="020B0503020204020204" pitchFamily="34" charset="-122"/>
              </a:rPr>
              <a:t>最高</a:t>
            </a:r>
            <a:r>
              <a:rPr lang="en-US" altLang="zh-TW" sz="1400" b="1" u="sng">
                <a:solidFill>
                  <a:srgbClr val="575757"/>
                </a:solidFill>
                <a:latin typeface="Microsoft YaHei" panose="020B0503020204020204" pitchFamily="34" charset="-122"/>
                <a:ea typeface="Microsoft YaHei" panose="020B0503020204020204" pitchFamily="34" charset="-122"/>
              </a:rPr>
              <a:t>AUM</a:t>
            </a:r>
            <a:r>
              <a:rPr lang="zh-TW" altLang="en-US" sz="1400" b="1" u="sng">
                <a:solidFill>
                  <a:srgbClr val="575757"/>
                </a:solidFill>
                <a:latin typeface="Microsoft YaHei" panose="020B0503020204020204" pitchFamily="34" charset="-122"/>
                <a:ea typeface="Microsoft YaHei" panose="020B0503020204020204" pitchFamily="34" charset="-122"/>
              </a:rPr>
              <a:t>為</a:t>
            </a:r>
            <a:r>
              <a:rPr lang="en-US" altLang="zh-TW" sz="1400" b="1" u="sng">
                <a:solidFill>
                  <a:srgbClr val="575757"/>
                </a:solidFill>
                <a:latin typeface="Microsoft YaHei" panose="020B0503020204020204" pitchFamily="34" charset="-122"/>
                <a:ea typeface="Microsoft YaHei" panose="020B0503020204020204" pitchFamily="34" charset="-122"/>
              </a:rPr>
              <a:t>0</a:t>
            </a:r>
          </a:p>
        </p:txBody>
      </p:sp>
      <p:sp>
        <p:nvSpPr>
          <p:cNvPr id="143" name="Rectangle 142">
            <a:extLst>
              <a:ext uri="{FF2B5EF4-FFF2-40B4-BE49-F238E27FC236}">
                <a16:creationId xmlns:a16="http://schemas.microsoft.com/office/drawing/2014/main" id="{7CCFB6F7-6FFD-EB0B-AEF4-4D3B81443D65}"/>
              </a:ext>
            </a:extLst>
          </p:cNvPr>
          <p:cNvSpPr/>
          <p:nvPr/>
        </p:nvSpPr>
        <p:spPr>
          <a:xfrm>
            <a:off x="4540364" y="2568290"/>
            <a:ext cx="1011238" cy="306910"/>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90000"/>
              </a:lnSpc>
            </a:pPr>
            <a:r>
              <a:rPr lang="zh-TW" altLang="en-US" sz="1400" b="1" u="sng">
                <a:solidFill>
                  <a:srgbClr val="575757"/>
                </a:solidFill>
                <a:latin typeface="Microsoft YaHei" panose="020B0503020204020204" pitchFamily="34" charset="-122"/>
                <a:ea typeface="Microsoft YaHei" panose="020B0503020204020204" pitchFamily="34" charset="-122"/>
              </a:rPr>
              <a:t>累積戶數</a:t>
            </a:r>
            <a:endParaRPr lang="en-US" altLang="zh-TW" sz="1400" b="1" u="sng">
              <a:solidFill>
                <a:srgbClr val="575757"/>
              </a:solidFill>
              <a:latin typeface="Microsoft YaHei" panose="020B0503020204020204" pitchFamily="34" charset="-122"/>
              <a:ea typeface="Microsoft YaHei" panose="020B0503020204020204" pitchFamily="34" charset="-122"/>
            </a:endParaRPr>
          </a:p>
        </p:txBody>
      </p:sp>
      <p:sp>
        <p:nvSpPr>
          <p:cNvPr id="144" name="Rectangle 143">
            <a:extLst>
              <a:ext uri="{FF2B5EF4-FFF2-40B4-BE49-F238E27FC236}">
                <a16:creationId xmlns:a16="http://schemas.microsoft.com/office/drawing/2014/main" id="{6A388810-6FE9-B5ED-98FE-F042FD962903}"/>
              </a:ext>
            </a:extLst>
          </p:cNvPr>
          <p:cNvSpPr/>
          <p:nvPr/>
        </p:nvSpPr>
        <p:spPr>
          <a:xfrm>
            <a:off x="7856203" y="2568290"/>
            <a:ext cx="1081088" cy="306910"/>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zh-TW" altLang="en-US" sz="1400" b="1" u="sng">
                <a:solidFill>
                  <a:srgbClr val="575757"/>
                </a:solidFill>
                <a:latin typeface="Microsoft YaHei" panose="020B0503020204020204" pitchFamily="34" charset="-122"/>
                <a:ea typeface="Microsoft YaHei" panose="020B0503020204020204" pitchFamily="34" charset="-122"/>
              </a:rPr>
              <a:t>曾參與</a:t>
            </a:r>
            <a:endParaRPr lang="en-US" altLang="zh-TW" sz="1400" b="1" u="sng">
              <a:solidFill>
                <a:srgbClr val="575757"/>
              </a:solidFill>
              <a:latin typeface="Microsoft YaHei" panose="020B0503020204020204" pitchFamily="34" charset="-122"/>
              <a:ea typeface="Microsoft YaHei" panose="020B0503020204020204" pitchFamily="34" charset="-122"/>
            </a:endParaRPr>
          </a:p>
          <a:p>
            <a:pPr algn="ctr">
              <a:lnSpc>
                <a:spcPct val="90000"/>
              </a:lnSpc>
            </a:pPr>
            <a:r>
              <a:rPr lang="zh-TW" altLang="en-US" sz="1400" b="1" u="sng">
                <a:solidFill>
                  <a:srgbClr val="575757"/>
                </a:solidFill>
                <a:latin typeface="Microsoft YaHei" panose="020B0503020204020204" pitchFamily="34" charset="-122"/>
                <a:ea typeface="Microsoft YaHei" panose="020B0503020204020204" pitchFamily="34" charset="-122"/>
              </a:rPr>
              <a:t>高利定存</a:t>
            </a:r>
            <a:endParaRPr lang="en-US" altLang="zh-TW" sz="1400" b="1" u="sng">
              <a:solidFill>
                <a:srgbClr val="575757"/>
              </a:solidFill>
              <a:latin typeface="Microsoft YaHei" panose="020B0503020204020204" pitchFamily="34" charset="-122"/>
              <a:ea typeface="Microsoft YaHei" panose="020B0503020204020204" pitchFamily="34" charset="-122"/>
            </a:endParaRPr>
          </a:p>
        </p:txBody>
      </p:sp>
      <p:sp>
        <p:nvSpPr>
          <p:cNvPr id="163" name="Rectangle 162">
            <a:extLst>
              <a:ext uri="{FF2B5EF4-FFF2-40B4-BE49-F238E27FC236}">
                <a16:creationId xmlns:a16="http://schemas.microsoft.com/office/drawing/2014/main" id="{6ABEEC8A-A850-6DBF-391C-9B57E024F4DF}"/>
              </a:ext>
            </a:extLst>
          </p:cNvPr>
          <p:cNvSpPr/>
          <p:nvPr/>
        </p:nvSpPr>
        <p:spPr>
          <a:xfrm>
            <a:off x="2849563" y="3020912"/>
            <a:ext cx="317500" cy="187325"/>
          </a:xfrm>
          <a:prstGeom prst="rect">
            <a:avLst/>
          </a:prstGeom>
          <a:solidFill>
            <a:srgbClr val="B1D352"/>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a typeface="Microsoft YaHei" panose="020B0503020204020204" pitchFamily="34" charset="-122"/>
            </a:endParaRPr>
          </a:p>
        </p:txBody>
      </p:sp>
      <p:sp>
        <p:nvSpPr>
          <p:cNvPr id="164" name="Rectangle 163">
            <a:extLst>
              <a:ext uri="{FF2B5EF4-FFF2-40B4-BE49-F238E27FC236}">
                <a16:creationId xmlns:a16="http://schemas.microsoft.com/office/drawing/2014/main" id="{65D06998-02D4-1A17-6EEA-179FF3C39E51}"/>
              </a:ext>
            </a:extLst>
          </p:cNvPr>
          <p:cNvSpPr/>
          <p:nvPr/>
        </p:nvSpPr>
        <p:spPr>
          <a:xfrm>
            <a:off x="2849563" y="3376753"/>
            <a:ext cx="317500" cy="187325"/>
          </a:xfrm>
          <a:prstGeom prst="rect">
            <a:avLst/>
          </a:prstGeom>
          <a:solidFill>
            <a:srgbClr val="A8B21C"/>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a typeface="Microsoft YaHei" panose="020B0503020204020204" pitchFamily="34" charset="-122"/>
            </a:endParaRPr>
          </a:p>
        </p:txBody>
      </p:sp>
      <p:sp>
        <p:nvSpPr>
          <p:cNvPr id="165" name="Rectangle 164">
            <a:extLst>
              <a:ext uri="{FF2B5EF4-FFF2-40B4-BE49-F238E27FC236}">
                <a16:creationId xmlns:a16="http://schemas.microsoft.com/office/drawing/2014/main" id="{CC2939CD-74E0-9ADA-5FF7-CC55D4ACBCB4}"/>
              </a:ext>
            </a:extLst>
          </p:cNvPr>
          <p:cNvSpPr/>
          <p:nvPr/>
        </p:nvSpPr>
        <p:spPr>
          <a:xfrm>
            <a:off x="2849563" y="3732594"/>
            <a:ext cx="317500" cy="187325"/>
          </a:xfrm>
          <a:prstGeom prst="rect">
            <a:avLst/>
          </a:prstGeom>
          <a:solidFill>
            <a:srgbClr val="60DB65"/>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a typeface="Microsoft YaHei" panose="020B0503020204020204" pitchFamily="34" charset="-122"/>
            </a:endParaRPr>
          </a:p>
        </p:txBody>
      </p:sp>
      <p:sp>
        <p:nvSpPr>
          <p:cNvPr id="166" name="Rectangle 165">
            <a:extLst>
              <a:ext uri="{FF2B5EF4-FFF2-40B4-BE49-F238E27FC236}">
                <a16:creationId xmlns:a16="http://schemas.microsoft.com/office/drawing/2014/main" id="{D225D48E-615E-3AB5-E93A-7EC3D9EFC0C2}"/>
              </a:ext>
            </a:extLst>
          </p:cNvPr>
          <p:cNvSpPr/>
          <p:nvPr/>
        </p:nvSpPr>
        <p:spPr>
          <a:xfrm>
            <a:off x="2849563" y="4088435"/>
            <a:ext cx="317500" cy="187325"/>
          </a:xfrm>
          <a:prstGeom prst="rect">
            <a:avLst/>
          </a:prstGeom>
          <a:solidFill>
            <a:srgbClr val="63A64E"/>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a typeface="Microsoft YaHei" panose="020B0503020204020204" pitchFamily="34" charset="-122"/>
            </a:endParaRPr>
          </a:p>
        </p:txBody>
      </p:sp>
      <p:sp>
        <p:nvSpPr>
          <p:cNvPr id="167" name="Rectangle 166">
            <a:extLst>
              <a:ext uri="{FF2B5EF4-FFF2-40B4-BE49-F238E27FC236}">
                <a16:creationId xmlns:a16="http://schemas.microsoft.com/office/drawing/2014/main" id="{8A7CE691-4613-9C33-6725-652CC49283B6}"/>
              </a:ext>
            </a:extLst>
          </p:cNvPr>
          <p:cNvSpPr/>
          <p:nvPr/>
        </p:nvSpPr>
        <p:spPr>
          <a:xfrm>
            <a:off x="2849563" y="4444276"/>
            <a:ext cx="317500" cy="187325"/>
          </a:xfrm>
          <a:prstGeom prst="rect">
            <a:avLst/>
          </a:prstGeom>
          <a:solidFill>
            <a:srgbClr val="318C46"/>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a typeface="Microsoft YaHei" panose="020B0503020204020204" pitchFamily="34" charset="-122"/>
            </a:endParaRPr>
          </a:p>
        </p:txBody>
      </p:sp>
      <p:sp>
        <p:nvSpPr>
          <p:cNvPr id="168" name="Rectangle 167">
            <a:extLst>
              <a:ext uri="{FF2B5EF4-FFF2-40B4-BE49-F238E27FC236}">
                <a16:creationId xmlns:a16="http://schemas.microsoft.com/office/drawing/2014/main" id="{A8BE936D-A80A-6ABE-461C-275364A8A65C}"/>
              </a:ext>
            </a:extLst>
          </p:cNvPr>
          <p:cNvSpPr/>
          <p:nvPr/>
        </p:nvSpPr>
        <p:spPr>
          <a:xfrm>
            <a:off x="2849563" y="4800117"/>
            <a:ext cx="317500" cy="187325"/>
          </a:xfrm>
          <a:prstGeom prst="rect">
            <a:avLst/>
          </a:prstGeom>
          <a:solidFill>
            <a:srgbClr val="2A6B2A"/>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a typeface="Microsoft YaHei" panose="020B0503020204020204" pitchFamily="34" charset="-122"/>
            </a:endParaRPr>
          </a:p>
        </p:txBody>
      </p:sp>
      <p:sp>
        <p:nvSpPr>
          <p:cNvPr id="169" name="Rectangle 168">
            <a:extLst>
              <a:ext uri="{FF2B5EF4-FFF2-40B4-BE49-F238E27FC236}">
                <a16:creationId xmlns:a16="http://schemas.microsoft.com/office/drawing/2014/main" id="{7B167BF8-F50C-4CEC-4F6E-3565ED12FC49}"/>
              </a:ext>
            </a:extLst>
          </p:cNvPr>
          <p:cNvSpPr/>
          <p:nvPr/>
        </p:nvSpPr>
        <p:spPr>
          <a:xfrm>
            <a:off x="2849563" y="5155958"/>
            <a:ext cx="317500" cy="187325"/>
          </a:xfrm>
          <a:prstGeom prst="rect">
            <a:avLst/>
          </a:prstGeom>
          <a:solidFill>
            <a:srgbClr val="D9D9D9"/>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a typeface="Microsoft YaHei" panose="020B0503020204020204" pitchFamily="34" charset="-122"/>
            </a:endParaRPr>
          </a:p>
        </p:txBody>
      </p:sp>
      <p:sp>
        <p:nvSpPr>
          <p:cNvPr id="170" name="Rectangle 169">
            <a:extLst>
              <a:ext uri="{FF2B5EF4-FFF2-40B4-BE49-F238E27FC236}">
                <a16:creationId xmlns:a16="http://schemas.microsoft.com/office/drawing/2014/main" id="{9D49552A-9518-A1C6-4673-DE29C19EC00A}"/>
              </a:ext>
            </a:extLst>
          </p:cNvPr>
          <p:cNvSpPr/>
          <p:nvPr/>
        </p:nvSpPr>
        <p:spPr>
          <a:xfrm>
            <a:off x="2849563" y="5511800"/>
            <a:ext cx="317500" cy="187325"/>
          </a:xfrm>
          <a:prstGeom prst="rect">
            <a:avLst/>
          </a:prstGeom>
          <a:solidFill>
            <a:srgbClr val="565656"/>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a typeface="Microsoft YaHei" panose="020B0503020204020204" pitchFamily="34" charset="-122"/>
            </a:endParaRPr>
          </a:p>
        </p:txBody>
      </p:sp>
      <p:sp>
        <p:nvSpPr>
          <p:cNvPr id="171" name="Rectangle 170">
            <a:extLst>
              <a:ext uri="{FF2B5EF4-FFF2-40B4-BE49-F238E27FC236}">
                <a16:creationId xmlns:a16="http://schemas.microsoft.com/office/drawing/2014/main" id="{689F3C56-4994-241E-2C78-3C82DCC2554C}"/>
              </a:ext>
            </a:extLst>
          </p:cNvPr>
          <p:cNvSpPr/>
          <p:nvPr/>
        </p:nvSpPr>
        <p:spPr>
          <a:xfrm>
            <a:off x="3175000" y="2961119"/>
            <a:ext cx="1081088" cy="306910"/>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90000"/>
              </a:lnSpc>
            </a:pPr>
            <a:r>
              <a:rPr lang="zh-TW" altLang="en-US" sz="1400">
                <a:solidFill>
                  <a:srgbClr val="575757"/>
                </a:solidFill>
                <a:latin typeface="Microsoft YaHei" panose="020B0503020204020204" pitchFamily="34" charset="-122"/>
                <a:ea typeface="Microsoft YaHei" panose="020B0503020204020204" pitchFamily="34" charset="-122"/>
              </a:rPr>
              <a:t>房信貸</a:t>
            </a:r>
            <a:endParaRPr lang="en-US" altLang="zh-TW" sz="1400">
              <a:solidFill>
                <a:srgbClr val="575757"/>
              </a:solidFill>
              <a:latin typeface="Microsoft YaHei" panose="020B0503020204020204" pitchFamily="34" charset="-122"/>
              <a:ea typeface="Microsoft YaHei" panose="020B0503020204020204" pitchFamily="34" charset="-122"/>
            </a:endParaRPr>
          </a:p>
        </p:txBody>
      </p:sp>
      <p:sp>
        <p:nvSpPr>
          <p:cNvPr id="172" name="Rectangle 171">
            <a:extLst>
              <a:ext uri="{FF2B5EF4-FFF2-40B4-BE49-F238E27FC236}">
                <a16:creationId xmlns:a16="http://schemas.microsoft.com/office/drawing/2014/main" id="{CE4D5E3A-3DE8-FB18-ADED-964A957D7DF3}"/>
              </a:ext>
            </a:extLst>
          </p:cNvPr>
          <p:cNvSpPr/>
          <p:nvPr/>
        </p:nvSpPr>
        <p:spPr>
          <a:xfrm>
            <a:off x="3175000" y="3316960"/>
            <a:ext cx="1081088" cy="306910"/>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90000"/>
              </a:lnSpc>
            </a:pPr>
            <a:r>
              <a:rPr lang="zh-TW" altLang="en-US" sz="1400">
                <a:solidFill>
                  <a:srgbClr val="575757"/>
                </a:solidFill>
                <a:latin typeface="Microsoft YaHei" panose="020B0503020204020204" pitchFamily="34" charset="-122"/>
                <a:ea typeface="Microsoft YaHei" panose="020B0503020204020204" pitchFamily="34" charset="-122"/>
              </a:rPr>
              <a:t>財管</a:t>
            </a:r>
            <a:r>
              <a:rPr lang="en-US" altLang="zh-TW" sz="1400">
                <a:solidFill>
                  <a:srgbClr val="575757"/>
                </a:solidFill>
                <a:latin typeface="Microsoft YaHei" panose="020B0503020204020204" pitchFamily="34" charset="-122"/>
                <a:ea typeface="Microsoft YaHei" panose="020B0503020204020204" pitchFamily="34" charset="-122"/>
              </a:rPr>
              <a:t>MGM</a:t>
            </a:r>
          </a:p>
        </p:txBody>
      </p:sp>
      <p:sp>
        <p:nvSpPr>
          <p:cNvPr id="173" name="Rectangle 172">
            <a:extLst>
              <a:ext uri="{FF2B5EF4-FFF2-40B4-BE49-F238E27FC236}">
                <a16:creationId xmlns:a16="http://schemas.microsoft.com/office/drawing/2014/main" id="{D46859C6-80B4-2AC8-AF33-252085751F55}"/>
              </a:ext>
            </a:extLst>
          </p:cNvPr>
          <p:cNvSpPr/>
          <p:nvPr/>
        </p:nvSpPr>
        <p:spPr>
          <a:xfrm>
            <a:off x="3175000" y="3672801"/>
            <a:ext cx="1081088" cy="306910"/>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90000"/>
              </a:lnSpc>
            </a:pPr>
            <a:r>
              <a:rPr lang="zh-TW" altLang="en-US" sz="1400">
                <a:solidFill>
                  <a:srgbClr val="575757"/>
                </a:solidFill>
                <a:latin typeface="Microsoft YaHei" panose="020B0503020204020204" pitchFamily="34" charset="-122"/>
                <a:ea typeface="Microsoft YaHei" panose="020B0503020204020204" pitchFamily="34" charset="-122"/>
              </a:rPr>
              <a:t>集團員工</a:t>
            </a:r>
            <a:endParaRPr lang="en-US" altLang="zh-TW" sz="1400">
              <a:solidFill>
                <a:srgbClr val="575757"/>
              </a:solidFill>
              <a:latin typeface="Microsoft YaHei" panose="020B0503020204020204" pitchFamily="34" charset="-122"/>
              <a:ea typeface="Microsoft YaHei" panose="020B0503020204020204" pitchFamily="34" charset="-122"/>
            </a:endParaRPr>
          </a:p>
        </p:txBody>
      </p:sp>
      <p:sp>
        <p:nvSpPr>
          <p:cNvPr id="174" name="Rectangle 173">
            <a:extLst>
              <a:ext uri="{FF2B5EF4-FFF2-40B4-BE49-F238E27FC236}">
                <a16:creationId xmlns:a16="http://schemas.microsoft.com/office/drawing/2014/main" id="{1F15E41C-76A1-3E28-1109-3BDA1A909778}"/>
              </a:ext>
            </a:extLst>
          </p:cNvPr>
          <p:cNvSpPr/>
          <p:nvPr/>
        </p:nvSpPr>
        <p:spPr>
          <a:xfrm>
            <a:off x="3175000" y="4028642"/>
            <a:ext cx="1081088" cy="306910"/>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90000"/>
              </a:lnSpc>
            </a:pPr>
            <a:r>
              <a:rPr lang="zh-TW" altLang="en-US" sz="1400">
                <a:solidFill>
                  <a:srgbClr val="575757"/>
                </a:solidFill>
                <a:latin typeface="Microsoft YaHei" panose="020B0503020204020204" pitchFamily="34" charset="-122"/>
                <a:ea typeface="Microsoft YaHei" panose="020B0503020204020204" pitchFamily="34" charset="-122"/>
              </a:rPr>
              <a:t>凱壽</a:t>
            </a:r>
            <a:r>
              <a:rPr lang="en-US" altLang="zh-TW" sz="1400">
                <a:solidFill>
                  <a:srgbClr val="575757"/>
                </a:solidFill>
                <a:latin typeface="Microsoft YaHei" panose="020B0503020204020204" pitchFamily="34" charset="-122"/>
                <a:ea typeface="Microsoft YaHei" panose="020B0503020204020204" pitchFamily="34" charset="-122"/>
              </a:rPr>
              <a:t>MGM</a:t>
            </a:r>
          </a:p>
        </p:txBody>
      </p:sp>
      <p:sp>
        <p:nvSpPr>
          <p:cNvPr id="175" name="Rectangle 174">
            <a:extLst>
              <a:ext uri="{FF2B5EF4-FFF2-40B4-BE49-F238E27FC236}">
                <a16:creationId xmlns:a16="http://schemas.microsoft.com/office/drawing/2014/main" id="{0FECE7CF-1A31-1EE2-26A3-D84A32D55C7D}"/>
              </a:ext>
            </a:extLst>
          </p:cNvPr>
          <p:cNvSpPr/>
          <p:nvPr/>
        </p:nvSpPr>
        <p:spPr>
          <a:xfrm>
            <a:off x="3175000" y="4384483"/>
            <a:ext cx="1081088" cy="306910"/>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90000"/>
              </a:lnSpc>
            </a:pPr>
            <a:r>
              <a:rPr lang="zh-TW" altLang="en-US" sz="1400">
                <a:solidFill>
                  <a:srgbClr val="575757"/>
                </a:solidFill>
                <a:latin typeface="Microsoft YaHei" panose="020B0503020204020204" pitchFamily="34" charset="-122"/>
                <a:ea typeface="Microsoft YaHei" panose="020B0503020204020204" pitchFamily="34" charset="-122"/>
              </a:rPr>
              <a:t>一般薪轉</a:t>
            </a:r>
            <a:endParaRPr lang="en-US" altLang="zh-TW" sz="1400">
              <a:solidFill>
                <a:srgbClr val="575757"/>
              </a:solidFill>
              <a:latin typeface="Microsoft YaHei" panose="020B0503020204020204" pitchFamily="34" charset="-122"/>
              <a:ea typeface="Microsoft YaHei" panose="020B0503020204020204" pitchFamily="34" charset="-122"/>
            </a:endParaRPr>
          </a:p>
        </p:txBody>
      </p:sp>
      <p:sp>
        <p:nvSpPr>
          <p:cNvPr id="176" name="Rectangle 175">
            <a:extLst>
              <a:ext uri="{FF2B5EF4-FFF2-40B4-BE49-F238E27FC236}">
                <a16:creationId xmlns:a16="http://schemas.microsoft.com/office/drawing/2014/main" id="{07E28C4D-A1E9-C667-97D4-571AA23E2AB5}"/>
              </a:ext>
            </a:extLst>
          </p:cNvPr>
          <p:cNvSpPr/>
          <p:nvPr/>
        </p:nvSpPr>
        <p:spPr>
          <a:xfrm>
            <a:off x="3175000" y="4740324"/>
            <a:ext cx="1081088" cy="306910"/>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90000"/>
              </a:lnSpc>
            </a:pPr>
            <a:r>
              <a:rPr lang="zh-TW" altLang="en-US" sz="1400">
                <a:solidFill>
                  <a:srgbClr val="575757"/>
                </a:solidFill>
                <a:latin typeface="Microsoft YaHei" panose="020B0503020204020204" pitchFamily="34" charset="-122"/>
                <a:ea typeface="Microsoft YaHei" panose="020B0503020204020204" pitchFamily="34" charset="-122"/>
              </a:rPr>
              <a:t>凱基證轉介</a:t>
            </a:r>
            <a:endParaRPr lang="en-US" altLang="zh-TW" sz="1400">
              <a:solidFill>
                <a:srgbClr val="575757"/>
              </a:solidFill>
              <a:latin typeface="Microsoft YaHei" panose="020B0503020204020204" pitchFamily="34" charset="-122"/>
              <a:ea typeface="Microsoft YaHei" panose="020B0503020204020204" pitchFamily="34" charset="-122"/>
            </a:endParaRPr>
          </a:p>
        </p:txBody>
      </p:sp>
      <p:sp>
        <p:nvSpPr>
          <p:cNvPr id="177" name="Rectangle 176">
            <a:extLst>
              <a:ext uri="{FF2B5EF4-FFF2-40B4-BE49-F238E27FC236}">
                <a16:creationId xmlns:a16="http://schemas.microsoft.com/office/drawing/2014/main" id="{28D70B4C-5A4D-55F6-78B9-D6354C4F7CCC}"/>
              </a:ext>
            </a:extLst>
          </p:cNvPr>
          <p:cNvSpPr/>
          <p:nvPr/>
        </p:nvSpPr>
        <p:spPr>
          <a:xfrm>
            <a:off x="3175000" y="5096165"/>
            <a:ext cx="1081088" cy="306910"/>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90000"/>
              </a:lnSpc>
            </a:pPr>
            <a:r>
              <a:rPr lang="zh-TW" altLang="en-US" sz="1400">
                <a:solidFill>
                  <a:srgbClr val="575757"/>
                </a:solidFill>
                <a:latin typeface="Microsoft YaHei" panose="020B0503020204020204" pitchFamily="34" charset="-122"/>
                <a:ea typeface="Microsoft YaHei" panose="020B0503020204020204" pitchFamily="34" charset="-122"/>
              </a:rPr>
              <a:t>分行</a:t>
            </a:r>
            <a:endParaRPr lang="en-US" altLang="zh-TW" sz="1400">
              <a:solidFill>
                <a:srgbClr val="575757"/>
              </a:solidFill>
              <a:latin typeface="Microsoft YaHei" panose="020B0503020204020204" pitchFamily="34" charset="-122"/>
              <a:ea typeface="Microsoft YaHei" panose="020B0503020204020204" pitchFamily="34" charset="-122"/>
            </a:endParaRPr>
          </a:p>
        </p:txBody>
      </p:sp>
      <p:sp>
        <p:nvSpPr>
          <p:cNvPr id="178" name="Rectangle 177">
            <a:extLst>
              <a:ext uri="{FF2B5EF4-FFF2-40B4-BE49-F238E27FC236}">
                <a16:creationId xmlns:a16="http://schemas.microsoft.com/office/drawing/2014/main" id="{30E55B64-05C5-1C1D-4FB9-23CE8B2B14F6}"/>
              </a:ext>
            </a:extLst>
          </p:cNvPr>
          <p:cNvSpPr/>
          <p:nvPr/>
        </p:nvSpPr>
        <p:spPr>
          <a:xfrm>
            <a:off x="3175000" y="5452008"/>
            <a:ext cx="1081088" cy="306910"/>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90000"/>
              </a:lnSpc>
            </a:pPr>
            <a:r>
              <a:rPr lang="en-US" altLang="zh-TW" sz="1400">
                <a:solidFill>
                  <a:srgbClr val="575757"/>
                </a:solidFill>
                <a:latin typeface="Microsoft YaHei" panose="020B0503020204020204" pitchFamily="34" charset="-122"/>
                <a:ea typeface="Microsoft YaHei" panose="020B0503020204020204" pitchFamily="34" charset="-122"/>
              </a:rPr>
              <a:t>N/A</a:t>
            </a:r>
            <a:r>
              <a:rPr lang="en-US" altLang="zh-TW" sz="1400" baseline="30000">
                <a:solidFill>
                  <a:srgbClr val="575757"/>
                </a:solidFill>
                <a:latin typeface="Microsoft YaHei" panose="020B0503020204020204" pitchFamily="34" charset="-122"/>
                <a:ea typeface="Microsoft YaHei" panose="020B0503020204020204" pitchFamily="34" charset="-122"/>
              </a:rPr>
              <a:t>1</a:t>
            </a:r>
          </a:p>
        </p:txBody>
      </p:sp>
      <p:sp>
        <p:nvSpPr>
          <p:cNvPr id="179" name="Rectangle 178">
            <a:extLst>
              <a:ext uri="{FF2B5EF4-FFF2-40B4-BE49-F238E27FC236}">
                <a16:creationId xmlns:a16="http://schemas.microsoft.com/office/drawing/2014/main" id="{EB79280E-D136-B0C0-5CAA-A8EC3F394830}"/>
              </a:ext>
            </a:extLst>
          </p:cNvPr>
          <p:cNvSpPr/>
          <p:nvPr/>
        </p:nvSpPr>
        <p:spPr>
          <a:xfrm>
            <a:off x="4184650" y="2961119"/>
            <a:ext cx="1081088" cy="306910"/>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lnSpc>
                <a:spcPct val="90000"/>
              </a:lnSpc>
            </a:pPr>
            <a:r>
              <a:rPr lang="zh-TW" altLang="en-US" sz="1400">
                <a:solidFill>
                  <a:srgbClr val="575757"/>
                </a:solidFill>
                <a:latin typeface="Microsoft YaHei" panose="020B0503020204020204" pitchFamily="34" charset="-122"/>
                <a:ea typeface="Microsoft YaHei" panose="020B0503020204020204" pitchFamily="34" charset="-122"/>
              </a:rPr>
              <a:t> </a:t>
            </a:r>
            <a:r>
              <a:rPr lang="en-US" altLang="zh-TW" sz="1400">
                <a:solidFill>
                  <a:srgbClr val="575757"/>
                </a:solidFill>
                <a:latin typeface="Microsoft YaHei" panose="020B0503020204020204" pitchFamily="34" charset="-122"/>
                <a:ea typeface="Microsoft YaHei" panose="020B0503020204020204" pitchFamily="34" charset="-122"/>
              </a:rPr>
              <a:t>36 </a:t>
            </a:r>
          </a:p>
        </p:txBody>
      </p:sp>
      <p:sp>
        <p:nvSpPr>
          <p:cNvPr id="180" name="Rectangle 179">
            <a:extLst>
              <a:ext uri="{FF2B5EF4-FFF2-40B4-BE49-F238E27FC236}">
                <a16:creationId xmlns:a16="http://schemas.microsoft.com/office/drawing/2014/main" id="{5ED5C7C5-2674-C91B-ACFF-23B9E5511049}"/>
              </a:ext>
            </a:extLst>
          </p:cNvPr>
          <p:cNvSpPr/>
          <p:nvPr/>
        </p:nvSpPr>
        <p:spPr>
          <a:xfrm>
            <a:off x="4184650" y="3316960"/>
            <a:ext cx="1081088" cy="306910"/>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lnSpc>
                <a:spcPct val="90000"/>
              </a:lnSpc>
            </a:pPr>
            <a:r>
              <a:rPr lang="zh-TW" altLang="en-US" sz="1400">
                <a:solidFill>
                  <a:srgbClr val="575757"/>
                </a:solidFill>
                <a:latin typeface="Microsoft YaHei" panose="020B0503020204020204" pitchFamily="34" charset="-122"/>
                <a:ea typeface="Microsoft YaHei" panose="020B0503020204020204" pitchFamily="34" charset="-122"/>
              </a:rPr>
              <a:t> </a:t>
            </a:r>
            <a:r>
              <a:rPr lang="en-US" altLang="zh-TW" sz="1400">
                <a:solidFill>
                  <a:srgbClr val="575757"/>
                </a:solidFill>
                <a:latin typeface="Microsoft YaHei" panose="020B0503020204020204" pitchFamily="34" charset="-122"/>
                <a:ea typeface="Microsoft YaHei" panose="020B0503020204020204" pitchFamily="34" charset="-122"/>
              </a:rPr>
              <a:t>223 </a:t>
            </a:r>
          </a:p>
        </p:txBody>
      </p:sp>
      <p:sp>
        <p:nvSpPr>
          <p:cNvPr id="181" name="Rectangle 180">
            <a:extLst>
              <a:ext uri="{FF2B5EF4-FFF2-40B4-BE49-F238E27FC236}">
                <a16:creationId xmlns:a16="http://schemas.microsoft.com/office/drawing/2014/main" id="{A5CEB5DB-9137-F14B-1B0F-F665380BA0C4}"/>
              </a:ext>
            </a:extLst>
          </p:cNvPr>
          <p:cNvSpPr/>
          <p:nvPr/>
        </p:nvSpPr>
        <p:spPr>
          <a:xfrm>
            <a:off x="4184650" y="3672801"/>
            <a:ext cx="1081088" cy="306910"/>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lnSpc>
                <a:spcPct val="90000"/>
              </a:lnSpc>
            </a:pPr>
            <a:r>
              <a:rPr lang="zh-TW" altLang="en-US" sz="1400">
                <a:solidFill>
                  <a:srgbClr val="575757"/>
                </a:solidFill>
                <a:latin typeface="Microsoft YaHei" panose="020B0503020204020204" pitchFamily="34" charset="-122"/>
                <a:ea typeface="Microsoft YaHei" panose="020B0503020204020204" pitchFamily="34" charset="-122"/>
              </a:rPr>
              <a:t> </a:t>
            </a:r>
            <a:r>
              <a:rPr lang="en-US" altLang="zh-TW" sz="1400">
                <a:solidFill>
                  <a:srgbClr val="575757"/>
                </a:solidFill>
                <a:latin typeface="Microsoft YaHei" panose="020B0503020204020204" pitchFamily="34" charset="-122"/>
                <a:ea typeface="Microsoft YaHei" panose="020B0503020204020204" pitchFamily="34" charset="-122"/>
              </a:rPr>
              <a:t>273 </a:t>
            </a:r>
          </a:p>
        </p:txBody>
      </p:sp>
      <p:sp>
        <p:nvSpPr>
          <p:cNvPr id="182" name="Rectangle 181">
            <a:extLst>
              <a:ext uri="{FF2B5EF4-FFF2-40B4-BE49-F238E27FC236}">
                <a16:creationId xmlns:a16="http://schemas.microsoft.com/office/drawing/2014/main" id="{FF5275FD-7D3A-01F4-8E23-0D7DD2F15699}"/>
              </a:ext>
            </a:extLst>
          </p:cNvPr>
          <p:cNvSpPr/>
          <p:nvPr/>
        </p:nvSpPr>
        <p:spPr>
          <a:xfrm>
            <a:off x="4184650" y="4028642"/>
            <a:ext cx="1081088" cy="306910"/>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lnSpc>
                <a:spcPct val="90000"/>
              </a:lnSpc>
            </a:pPr>
            <a:r>
              <a:rPr lang="zh-TW" altLang="en-US" sz="1400">
                <a:solidFill>
                  <a:srgbClr val="575757"/>
                </a:solidFill>
                <a:latin typeface="Microsoft YaHei" panose="020B0503020204020204" pitchFamily="34" charset="-122"/>
                <a:ea typeface="Microsoft YaHei" panose="020B0503020204020204" pitchFamily="34" charset="-122"/>
              </a:rPr>
              <a:t> </a:t>
            </a:r>
            <a:r>
              <a:rPr lang="en-US" altLang="zh-TW" sz="1400">
                <a:solidFill>
                  <a:srgbClr val="575757"/>
                </a:solidFill>
                <a:latin typeface="Microsoft YaHei" panose="020B0503020204020204" pitchFamily="34" charset="-122"/>
                <a:ea typeface="Microsoft YaHei" panose="020B0503020204020204" pitchFamily="34" charset="-122"/>
              </a:rPr>
              <a:t>1,250 </a:t>
            </a:r>
          </a:p>
        </p:txBody>
      </p:sp>
      <p:sp>
        <p:nvSpPr>
          <p:cNvPr id="183" name="Rectangle 182">
            <a:extLst>
              <a:ext uri="{FF2B5EF4-FFF2-40B4-BE49-F238E27FC236}">
                <a16:creationId xmlns:a16="http://schemas.microsoft.com/office/drawing/2014/main" id="{F90D292D-23AD-67E3-35C2-8E799203EDAF}"/>
              </a:ext>
            </a:extLst>
          </p:cNvPr>
          <p:cNvSpPr/>
          <p:nvPr/>
        </p:nvSpPr>
        <p:spPr>
          <a:xfrm>
            <a:off x="4184650" y="4384483"/>
            <a:ext cx="1081088" cy="306910"/>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lnSpc>
                <a:spcPct val="90000"/>
              </a:lnSpc>
            </a:pPr>
            <a:r>
              <a:rPr lang="zh-TW" altLang="en-US" sz="1400">
                <a:solidFill>
                  <a:srgbClr val="575757"/>
                </a:solidFill>
                <a:latin typeface="Microsoft YaHei" panose="020B0503020204020204" pitchFamily="34" charset="-122"/>
                <a:ea typeface="Microsoft YaHei" panose="020B0503020204020204" pitchFamily="34" charset="-122"/>
              </a:rPr>
              <a:t> </a:t>
            </a:r>
            <a:r>
              <a:rPr lang="en-US" altLang="zh-TW" sz="1400">
                <a:solidFill>
                  <a:srgbClr val="575757"/>
                </a:solidFill>
                <a:latin typeface="Microsoft YaHei" panose="020B0503020204020204" pitchFamily="34" charset="-122"/>
                <a:ea typeface="Microsoft YaHei" panose="020B0503020204020204" pitchFamily="34" charset="-122"/>
              </a:rPr>
              <a:t>3,919 </a:t>
            </a:r>
          </a:p>
        </p:txBody>
      </p:sp>
      <p:sp>
        <p:nvSpPr>
          <p:cNvPr id="184" name="Rectangle 183">
            <a:extLst>
              <a:ext uri="{FF2B5EF4-FFF2-40B4-BE49-F238E27FC236}">
                <a16:creationId xmlns:a16="http://schemas.microsoft.com/office/drawing/2014/main" id="{C2003AAE-7E91-0F8D-5852-910ADC5AD2B8}"/>
              </a:ext>
            </a:extLst>
          </p:cNvPr>
          <p:cNvSpPr/>
          <p:nvPr/>
        </p:nvSpPr>
        <p:spPr>
          <a:xfrm>
            <a:off x="4184650" y="4740324"/>
            <a:ext cx="1081088" cy="306910"/>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lnSpc>
                <a:spcPct val="90000"/>
              </a:lnSpc>
            </a:pPr>
            <a:r>
              <a:rPr lang="zh-TW" altLang="en-US" sz="1400">
                <a:solidFill>
                  <a:srgbClr val="575757"/>
                </a:solidFill>
                <a:latin typeface="Microsoft YaHei" panose="020B0503020204020204" pitchFamily="34" charset="-122"/>
                <a:ea typeface="Microsoft YaHei" panose="020B0503020204020204" pitchFamily="34" charset="-122"/>
              </a:rPr>
              <a:t> </a:t>
            </a:r>
            <a:r>
              <a:rPr lang="en-US" altLang="zh-TW" sz="1400">
                <a:solidFill>
                  <a:srgbClr val="575757"/>
                </a:solidFill>
                <a:latin typeface="Microsoft YaHei" panose="020B0503020204020204" pitchFamily="34" charset="-122"/>
                <a:ea typeface="Microsoft YaHei" panose="020B0503020204020204" pitchFamily="34" charset="-122"/>
              </a:rPr>
              <a:t>11,882 </a:t>
            </a:r>
          </a:p>
        </p:txBody>
      </p:sp>
      <p:sp>
        <p:nvSpPr>
          <p:cNvPr id="185" name="Rectangle 184">
            <a:extLst>
              <a:ext uri="{FF2B5EF4-FFF2-40B4-BE49-F238E27FC236}">
                <a16:creationId xmlns:a16="http://schemas.microsoft.com/office/drawing/2014/main" id="{54AC1013-0D0E-3975-047D-190D69FFF3DE}"/>
              </a:ext>
            </a:extLst>
          </p:cNvPr>
          <p:cNvSpPr/>
          <p:nvPr/>
        </p:nvSpPr>
        <p:spPr>
          <a:xfrm>
            <a:off x="4184650" y="5096165"/>
            <a:ext cx="1081088" cy="306910"/>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lnSpc>
                <a:spcPct val="90000"/>
              </a:lnSpc>
            </a:pPr>
            <a:r>
              <a:rPr lang="zh-TW" altLang="en-US" sz="1400">
                <a:solidFill>
                  <a:srgbClr val="575757"/>
                </a:solidFill>
                <a:latin typeface="Microsoft YaHei" panose="020B0503020204020204" pitchFamily="34" charset="-122"/>
                <a:ea typeface="Microsoft YaHei" panose="020B0503020204020204" pitchFamily="34" charset="-122"/>
              </a:rPr>
              <a:t> </a:t>
            </a:r>
            <a:r>
              <a:rPr lang="en-US" altLang="zh-TW" sz="1400">
                <a:solidFill>
                  <a:srgbClr val="575757"/>
                </a:solidFill>
                <a:latin typeface="Microsoft YaHei" panose="020B0503020204020204" pitchFamily="34" charset="-122"/>
                <a:ea typeface="Microsoft YaHei" panose="020B0503020204020204" pitchFamily="34" charset="-122"/>
              </a:rPr>
              <a:t>20,826 </a:t>
            </a:r>
          </a:p>
        </p:txBody>
      </p:sp>
      <p:sp>
        <p:nvSpPr>
          <p:cNvPr id="186" name="Rectangle 185">
            <a:extLst>
              <a:ext uri="{FF2B5EF4-FFF2-40B4-BE49-F238E27FC236}">
                <a16:creationId xmlns:a16="http://schemas.microsoft.com/office/drawing/2014/main" id="{FFF1344F-6789-9B19-8571-508F046DAA27}"/>
              </a:ext>
            </a:extLst>
          </p:cNvPr>
          <p:cNvSpPr/>
          <p:nvPr/>
        </p:nvSpPr>
        <p:spPr>
          <a:xfrm>
            <a:off x="4184650" y="5452008"/>
            <a:ext cx="1081088" cy="306910"/>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lnSpc>
                <a:spcPct val="90000"/>
              </a:lnSpc>
            </a:pPr>
            <a:r>
              <a:rPr lang="en-US" altLang="zh-TW" sz="1400">
                <a:solidFill>
                  <a:srgbClr val="575757"/>
                </a:solidFill>
                <a:latin typeface="Microsoft YaHei" panose="020B0503020204020204" pitchFamily="34" charset="-122"/>
                <a:ea typeface="Microsoft YaHei" panose="020B0503020204020204" pitchFamily="34" charset="-122"/>
              </a:rPr>
              <a:t> 74,273 </a:t>
            </a:r>
          </a:p>
        </p:txBody>
      </p:sp>
      <p:sp>
        <p:nvSpPr>
          <p:cNvPr id="206" name="Rectangle 205">
            <a:extLst>
              <a:ext uri="{FF2B5EF4-FFF2-40B4-BE49-F238E27FC236}">
                <a16:creationId xmlns:a16="http://schemas.microsoft.com/office/drawing/2014/main" id="{70C4F299-B7E9-EC7A-D74C-51B1267756B8}"/>
              </a:ext>
            </a:extLst>
          </p:cNvPr>
          <p:cNvSpPr/>
          <p:nvPr/>
        </p:nvSpPr>
        <p:spPr>
          <a:xfrm>
            <a:off x="2786063" y="5865290"/>
            <a:ext cx="1081088" cy="306910"/>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90000"/>
              </a:lnSpc>
            </a:pPr>
            <a:r>
              <a:rPr lang="zh-TW" altLang="en-US" sz="1400" b="1">
                <a:solidFill>
                  <a:srgbClr val="575757"/>
                </a:solidFill>
                <a:latin typeface="Microsoft YaHei" panose="020B0503020204020204" pitchFamily="34" charset="-122"/>
                <a:ea typeface="Microsoft YaHei" panose="020B0503020204020204" pitchFamily="34" charset="-122"/>
              </a:rPr>
              <a:t>總計</a:t>
            </a:r>
            <a:endParaRPr lang="en-US" altLang="zh-TW" sz="1400" b="1">
              <a:solidFill>
                <a:srgbClr val="575757"/>
              </a:solidFill>
              <a:latin typeface="Microsoft YaHei" panose="020B0503020204020204" pitchFamily="34" charset="-122"/>
              <a:ea typeface="Microsoft YaHei" panose="020B0503020204020204" pitchFamily="34" charset="-122"/>
            </a:endParaRPr>
          </a:p>
        </p:txBody>
      </p:sp>
      <p:sp>
        <p:nvSpPr>
          <p:cNvPr id="207" name="Rectangle 206">
            <a:extLst>
              <a:ext uri="{FF2B5EF4-FFF2-40B4-BE49-F238E27FC236}">
                <a16:creationId xmlns:a16="http://schemas.microsoft.com/office/drawing/2014/main" id="{FF5751E1-D71A-3A94-676B-696CD0024497}"/>
              </a:ext>
            </a:extLst>
          </p:cNvPr>
          <p:cNvSpPr/>
          <p:nvPr/>
        </p:nvSpPr>
        <p:spPr>
          <a:xfrm>
            <a:off x="4184650" y="5853113"/>
            <a:ext cx="1081088" cy="306910"/>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lnSpc>
                <a:spcPct val="90000"/>
              </a:lnSpc>
            </a:pPr>
            <a:r>
              <a:rPr lang="en-US" altLang="zh-TW" sz="1400">
                <a:solidFill>
                  <a:srgbClr val="575757"/>
                </a:solidFill>
                <a:latin typeface="Microsoft YaHei" panose="020B0503020204020204" pitchFamily="34" charset="-122"/>
                <a:ea typeface="Microsoft YaHei" panose="020B0503020204020204" pitchFamily="34" charset="-122"/>
              </a:rPr>
              <a:t> 112,682 </a:t>
            </a:r>
          </a:p>
        </p:txBody>
      </p:sp>
      <p:sp>
        <p:nvSpPr>
          <p:cNvPr id="208" name="Oval 207">
            <a:extLst>
              <a:ext uri="{FF2B5EF4-FFF2-40B4-BE49-F238E27FC236}">
                <a16:creationId xmlns:a16="http://schemas.microsoft.com/office/drawing/2014/main" id="{64B4DF06-DCF9-E419-7543-556EE0DFD3C4}"/>
              </a:ext>
            </a:extLst>
          </p:cNvPr>
          <p:cNvSpPr/>
          <p:nvPr/>
        </p:nvSpPr>
        <p:spPr>
          <a:xfrm>
            <a:off x="5749821" y="2961119"/>
            <a:ext cx="649288" cy="306910"/>
          </a:xfrm>
          <a:prstGeom prst="ellipse">
            <a:avLst/>
          </a:prstGeom>
          <a:solidFill>
            <a:srgbClr val="C9E7CA"/>
          </a:solidFill>
          <a:ln w="9525" cap="rnd" cmpd="sng" algn="ctr">
            <a:noFill/>
            <a:prstDash val="sysDot"/>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90000"/>
              </a:lnSpc>
            </a:pPr>
            <a:r>
              <a:rPr lang="en-US" altLang="zh-TW" sz="1400">
                <a:solidFill>
                  <a:srgbClr val="575757"/>
                </a:solidFill>
                <a:latin typeface="Microsoft YaHei" panose="020B0503020204020204" pitchFamily="34" charset="-122"/>
                <a:ea typeface="Microsoft YaHei" panose="020B0503020204020204" pitchFamily="34" charset="-122"/>
              </a:rPr>
              <a:t>19%</a:t>
            </a:r>
          </a:p>
        </p:txBody>
      </p:sp>
      <p:sp>
        <p:nvSpPr>
          <p:cNvPr id="209" name="Oval 208">
            <a:extLst>
              <a:ext uri="{FF2B5EF4-FFF2-40B4-BE49-F238E27FC236}">
                <a16:creationId xmlns:a16="http://schemas.microsoft.com/office/drawing/2014/main" id="{82E5C361-B86C-38AE-DF2F-F68C75324A78}"/>
              </a:ext>
            </a:extLst>
          </p:cNvPr>
          <p:cNvSpPr/>
          <p:nvPr/>
        </p:nvSpPr>
        <p:spPr>
          <a:xfrm>
            <a:off x="5749821" y="3316960"/>
            <a:ext cx="649288" cy="306910"/>
          </a:xfrm>
          <a:prstGeom prst="ellipse">
            <a:avLst/>
          </a:prstGeom>
          <a:solidFill>
            <a:srgbClr val="EBC5D0"/>
          </a:solidFill>
          <a:ln w="9525" cap="rnd" cmpd="sng" algn="ctr">
            <a:noFill/>
            <a:prstDash val="sysDot"/>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90000"/>
              </a:lnSpc>
            </a:pPr>
            <a:r>
              <a:rPr lang="en-US" altLang="zh-TW" sz="1400">
                <a:solidFill>
                  <a:srgbClr val="575757"/>
                </a:solidFill>
                <a:latin typeface="Microsoft YaHei" panose="020B0503020204020204" pitchFamily="34" charset="-122"/>
                <a:ea typeface="Microsoft YaHei" panose="020B0503020204020204" pitchFamily="34" charset="-122"/>
              </a:rPr>
              <a:t>93%</a:t>
            </a:r>
          </a:p>
        </p:txBody>
      </p:sp>
      <p:sp>
        <p:nvSpPr>
          <p:cNvPr id="210" name="Oval 209">
            <a:extLst>
              <a:ext uri="{FF2B5EF4-FFF2-40B4-BE49-F238E27FC236}">
                <a16:creationId xmlns:a16="http://schemas.microsoft.com/office/drawing/2014/main" id="{6A80534D-FCB5-E6C4-20DE-A97468E7C81F}"/>
              </a:ext>
            </a:extLst>
          </p:cNvPr>
          <p:cNvSpPr/>
          <p:nvPr/>
        </p:nvSpPr>
        <p:spPr>
          <a:xfrm>
            <a:off x="5749821" y="3672801"/>
            <a:ext cx="649288" cy="306910"/>
          </a:xfrm>
          <a:prstGeom prst="ellipse">
            <a:avLst/>
          </a:prstGeom>
          <a:solidFill>
            <a:srgbClr val="C9E7CA"/>
          </a:solidFill>
          <a:ln w="9525" cap="rnd" cmpd="sng" algn="ctr">
            <a:noFill/>
            <a:prstDash val="sysDot"/>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90000"/>
              </a:lnSpc>
            </a:pPr>
            <a:r>
              <a:rPr lang="en-US" altLang="zh-TW" sz="1400">
                <a:solidFill>
                  <a:srgbClr val="575757"/>
                </a:solidFill>
                <a:latin typeface="Microsoft YaHei" panose="020B0503020204020204" pitchFamily="34" charset="-122"/>
                <a:ea typeface="Microsoft YaHei" panose="020B0503020204020204" pitchFamily="34" charset="-122"/>
              </a:rPr>
              <a:t>14%</a:t>
            </a:r>
          </a:p>
        </p:txBody>
      </p:sp>
      <p:sp>
        <p:nvSpPr>
          <p:cNvPr id="211" name="Oval 210">
            <a:extLst>
              <a:ext uri="{FF2B5EF4-FFF2-40B4-BE49-F238E27FC236}">
                <a16:creationId xmlns:a16="http://schemas.microsoft.com/office/drawing/2014/main" id="{527023D3-EBDE-44EC-A494-4A9BEE57C407}"/>
              </a:ext>
            </a:extLst>
          </p:cNvPr>
          <p:cNvSpPr/>
          <p:nvPr/>
        </p:nvSpPr>
        <p:spPr>
          <a:xfrm>
            <a:off x="5749821" y="4028642"/>
            <a:ext cx="649288" cy="306910"/>
          </a:xfrm>
          <a:prstGeom prst="ellipse">
            <a:avLst/>
          </a:prstGeom>
          <a:solidFill>
            <a:srgbClr val="EBC5D0"/>
          </a:solidFill>
          <a:ln w="9525" cap="rnd" cmpd="sng" algn="ctr">
            <a:noFill/>
            <a:prstDash val="sysDot"/>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90000"/>
              </a:lnSpc>
            </a:pPr>
            <a:r>
              <a:rPr lang="en-US" altLang="zh-TW" sz="1400">
                <a:solidFill>
                  <a:srgbClr val="575757"/>
                </a:solidFill>
                <a:latin typeface="Microsoft YaHei" panose="020B0503020204020204" pitchFamily="34" charset="-122"/>
                <a:ea typeface="Microsoft YaHei" panose="020B0503020204020204" pitchFamily="34" charset="-122"/>
              </a:rPr>
              <a:t>95%</a:t>
            </a:r>
          </a:p>
        </p:txBody>
      </p:sp>
      <p:sp>
        <p:nvSpPr>
          <p:cNvPr id="212" name="Oval 211">
            <a:extLst>
              <a:ext uri="{FF2B5EF4-FFF2-40B4-BE49-F238E27FC236}">
                <a16:creationId xmlns:a16="http://schemas.microsoft.com/office/drawing/2014/main" id="{E07A4BA7-3C6B-4A62-03BF-3404DA2B11E4}"/>
              </a:ext>
            </a:extLst>
          </p:cNvPr>
          <p:cNvSpPr/>
          <p:nvPr/>
        </p:nvSpPr>
        <p:spPr>
          <a:xfrm>
            <a:off x="5749821" y="4384483"/>
            <a:ext cx="649288" cy="306910"/>
          </a:xfrm>
          <a:prstGeom prst="ellipse">
            <a:avLst/>
          </a:prstGeom>
          <a:solidFill>
            <a:srgbClr val="C9E7CA"/>
          </a:solidFill>
          <a:ln w="9525" cap="rnd" cmpd="sng" algn="ctr">
            <a:noFill/>
            <a:prstDash val="sysDot"/>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90000"/>
              </a:lnSpc>
            </a:pPr>
            <a:r>
              <a:rPr lang="en-US" altLang="zh-TW" sz="1400">
                <a:solidFill>
                  <a:srgbClr val="575757"/>
                </a:solidFill>
                <a:latin typeface="Microsoft YaHei" panose="020B0503020204020204" pitchFamily="34" charset="-122"/>
                <a:ea typeface="Microsoft YaHei" panose="020B0503020204020204" pitchFamily="34" charset="-122"/>
              </a:rPr>
              <a:t>21%</a:t>
            </a:r>
          </a:p>
        </p:txBody>
      </p:sp>
      <p:sp>
        <p:nvSpPr>
          <p:cNvPr id="213" name="Oval 212">
            <a:extLst>
              <a:ext uri="{FF2B5EF4-FFF2-40B4-BE49-F238E27FC236}">
                <a16:creationId xmlns:a16="http://schemas.microsoft.com/office/drawing/2014/main" id="{57210E63-E885-F027-E7F4-F30A9232BA7B}"/>
              </a:ext>
            </a:extLst>
          </p:cNvPr>
          <p:cNvSpPr/>
          <p:nvPr/>
        </p:nvSpPr>
        <p:spPr>
          <a:xfrm>
            <a:off x="5749821" y="4740324"/>
            <a:ext cx="649288" cy="306910"/>
          </a:xfrm>
          <a:prstGeom prst="ellipse">
            <a:avLst/>
          </a:prstGeom>
          <a:solidFill>
            <a:srgbClr val="EBC5D0"/>
          </a:solidFill>
          <a:ln w="9525" cap="rnd" cmpd="sng" algn="ctr">
            <a:noFill/>
            <a:prstDash val="sysDot"/>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90000"/>
              </a:lnSpc>
            </a:pPr>
            <a:r>
              <a:rPr lang="en-US" altLang="zh-TW" sz="1400">
                <a:solidFill>
                  <a:srgbClr val="575757"/>
                </a:solidFill>
                <a:latin typeface="Microsoft YaHei" panose="020B0503020204020204" pitchFamily="34" charset="-122"/>
                <a:ea typeface="Microsoft YaHei" panose="020B0503020204020204" pitchFamily="34" charset="-122"/>
              </a:rPr>
              <a:t>91%</a:t>
            </a:r>
          </a:p>
        </p:txBody>
      </p:sp>
      <p:sp>
        <p:nvSpPr>
          <p:cNvPr id="214" name="Oval 213">
            <a:extLst>
              <a:ext uri="{FF2B5EF4-FFF2-40B4-BE49-F238E27FC236}">
                <a16:creationId xmlns:a16="http://schemas.microsoft.com/office/drawing/2014/main" id="{92E7E2EA-2710-2FAD-9647-AE1B624BA0E1}"/>
              </a:ext>
            </a:extLst>
          </p:cNvPr>
          <p:cNvSpPr/>
          <p:nvPr/>
        </p:nvSpPr>
        <p:spPr>
          <a:xfrm>
            <a:off x="5749821" y="5096165"/>
            <a:ext cx="649288" cy="306910"/>
          </a:xfrm>
          <a:prstGeom prst="ellipse">
            <a:avLst/>
          </a:prstGeom>
          <a:solidFill>
            <a:srgbClr val="EBC5D0"/>
          </a:solidFill>
          <a:ln w="9525" cap="rnd" cmpd="sng" algn="ctr">
            <a:noFill/>
            <a:prstDash val="sysDot"/>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90000"/>
              </a:lnSpc>
            </a:pPr>
            <a:r>
              <a:rPr lang="en-US" altLang="zh-TW" sz="1400">
                <a:solidFill>
                  <a:srgbClr val="575757"/>
                </a:solidFill>
                <a:latin typeface="Microsoft YaHei" panose="020B0503020204020204" pitchFamily="34" charset="-122"/>
                <a:ea typeface="Microsoft YaHei" panose="020B0503020204020204" pitchFamily="34" charset="-122"/>
              </a:rPr>
              <a:t>88%</a:t>
            </a:r>
          </a:p>
        </p:txBody>
      </p:sp>
      <p:sp>
        <p:nvSpPr>
          <p:cNvPr id="215" name="Oval 214">
            <a:extLst>
              <a:ext uri="{FF2B5EF4-FFF2-40B4-BE49-F238E27FC236}">
                <a16:creationId xmlns:a16="http://schemas.microsoft.com/office/drawing/2014/main" id="{7A16E35E-A9EA-2F90-EBBF-2A9394A96EDF}"/>
              </a:ext>
            </a:extLst>
          </p:cNvPr>
          <p:cNvSpPr/>
          <p:nvPr/>
        </p:nvSpPr>
        <p:spPr>
          <a:xfrm>
            <a:off x="5749821" y="5452008"/>
            <a:ext cx="649288" cy="306910"/>
          </a:xfrm>
          <a:prstGeom prst="ellipse">
            <a:avLst/>
          </a:prstGeom>
          <a:solidFill>
            <a:srgbClr val="EBC5D0"/>
          </a:solidFill>
          <a:ln w="9525" cap="rnd" cmpd="sng" algn="ctr">
            <a:noFill/>
            <a:prstDash val="sysDot"/>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90000"/>
              </a:lnSpc>
            </a:pPr>
            <a:r>
              <a:rPr lang="en-US" altLang="zh-TW" sz="1400">
                <a:solidFill>
                  <a:srgbClr val="575757"/>
                </a:solidFill>
                <a:latin typeface="Microsoft YaHei" panose="020B0503020204020204" pitchFamily="34" charset="-122"/>
                <a:ea typeface="Microsoft YaHei" panose="020B0503020204020204" pitchFamily="34" charset="-122"/>
              </a:rPr>
              <a:t>87%</a:t>
            </a:r>
          </a:p>
        </p:txBody>
      </p:sp>
      <p:sp>
        <p:nvSpPr>
          <p:cNvPr id="216" name="Oval 215">
            <a:extLst>
              <a:ext uri="{FF2B5EF4-FFF2-40B4-BE49-F238E27FC236}">
                <a16:creationId xmlns:a16="http://schemas.microsoft.com/office/drawing/2014/main" id="{35BA1BA6-6651-9802-1A22-116585871F71}"/>
              </a:ext>
            </a:extLst>
          </p:cNvPr>
          <p:cNvSpPr/>
          <p:nvPr/>
        </p:nvSpPr>
        <p:spPr>
          <a:xfrm>
            <a:off x="5749821" y="5853113"/>
            <a:ext cx="649288" cy="306910"/>
          </a:xfrm>
          <a:prstGeom prst="ellipse">
            <a:avLst/>
          </a:prstGeom>
          <a:solidFill>
            <a:srgbClr val="EBC5D0"/>
          </a:solidFill>
          <a:ln w="9525" cap="rnd" cmpd="sng" algn="ctr">
            <a:noFill/>
            <a:prstDash val="sysDot"/>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90000"/>
              </a:lnSpc>
            </a:pPr>
            <a:r>
              <a:rPr lang="en-US" altLang="zh-TW" sz="1400">
                <a:solidFill>
                  <a:srgbClr val="575757"/>
                </a:solidFill>
                <a:latin typeface="Microsoft YaHei" panose="020B0503020204020204" pitchFamily="34" charset="-122"/>
                <a:ea typeface="Microsoft YaHei" panose="020B0503020204020204" pitchFamily="34" charset="-122"/>
              </a:rPr>
              <a:t>85%</a:t>
            </a:r>
          </a:p>
        </p:txBody>
      </p:sp>
      <p:sp>
        <p:nvSpPr>
          <p:cNvPr id="217" name="Oval 216">
            <a:extLst>
              <a:ext uri="{FF2B5EF4-FFF2-40B4-BE49-F238E27FC236}">
                <a16:creationId xmlns:a16="http://schemas.microsoft.com/office/drawing/2014/main" id="{769703DE-F7CB-4BDF-621E-3F298685B83D}"/>
              </a:ext>
            </a:extLst>
          </p:cNvPr>
          <p:cNvSpPr/>
          <p:nvPr/>
        </p:nvSpPr>
        <p:spPr>
          <a:xfrm>
            <a:off x="8010189" y="2961119"/>
            <a:ext cx="773113" cy="306910"/>
          </a:xfrm>
          <a:prstGeom prst="ellipse">
            <a:avLst/>
          </a:prstGeom>
          <a:solidFill>
            <a:srgbClr val="F2F2F2"/>
          </a:solidFill>
          <a:ln w="9525" cap="rnd" cmpd="sng" algn="ctr">
            <a:noFill/>
            <a:prstDash val="sysDot"/>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90000"/>
              </a:lnSpc>
            </a:pPr>
            <a:r>
              <a:rPr lang="en-US" altLang="zh-TW" sz="1400">
                <a:solidFill>
                  <a:srgbClr val="575757"/>
                </a:solidFill>
                <a:latin typeface="Microsoft YaHei" panose="020B0503020204020204" pitchFamily="34" charset="-122"/>
                <a:ea typeface="Microsoft YaHei" panose="020B0503020204020204" pitchFamily="34" charset="-122"/>
              </a:rPr>
              <a:t>&lt;1%</a:t>
            </a:r>
          </a:p>
        </p:txBody>
      </p:sp>
      <p:sp>
        <p:nvSpPr>
          <p:cNvPr id="218" name="Oval 217">
            <a:extLst>
              <a:ext uri="{FF2B5EF4-FFF2-40B4-BE49-F238E27FC236}">
                <a16:creationId xmlns:a16="http://schemas.microsoft.com/office/drawing/2014/main" id="{15E6FE80-52DF-DC3F-5F28-97440FCC61FB}"/>
              </a:ext>
            </a:extLst>
          </p:cNvPr>
          <p:cNvSpPr/>
          <p:nvPr/>
        </p:nvSpPr>
        <p:spPr>
          <a:xfrm>
            <a:off x="8010189" y="3316960"/>
            <a:ext cx="773113" cy="306910"/>
          </a:xfrm>
          <a:prstGeom prst="ellipse">
            <a:avLst/>
          </a:prstGeom>
          <a:solidFill>
            <a:srgbClr val="F2F2F2"/>
          </a:solidFill>
          <a:ln w="9525" cap="rnd" cmpd="sng" algn="ctr">
            <a:noFill/>
            <a:prstDash val="sysDot"/>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90000"/>
              </a:lnSpc>
            </a:pPr>
            <a:r>
              <a:rPr lang="en-US" altLang="zh-TW" sz="1400">
                <a:solidFill>
                  <a:srgbClr val="575757"/>
                </a:solidFill>
                <a:latin typeface="Microsoft YaHei" panose="020B0503020204020204" pitchFamily="34" charset="-122"/>
                <a:ea typeface="Microsoft YaHei" panose="020B0503020204020204" pitchFamily="34" charset="-122"/>
              </a:rPr>
              <a:t>1%</a:t>
            </a:r>
          </a:p>
        </p:txBody>
      </p:sp>
      <p:sp>
        <p:nvSpPr>
          <p:cNvPr id="219" name="Oval 218">
            <a:extLst>
              <a:ext uri="{FF2B5EF4-FFF2-40B4-BE49-F238E27FC236}">
                <a16:creationId xmlns:a16="http://schemas.microsoft.com/office/drawing/2014/main" id="{D8A12136-0EBE-12D5-3DDE-566BE892CB2D}"/>
              </a:ext>
            </a:extLst>
          </p:cNvPr>
          <p:cNvSpPr/>
          <p:nvPr/>
        </p:nvSpPr>
        <p:spPr>
          <a:xfrm>
            <a:off x="8010189" y="3672801"/>
            <a:ext cx="773113" cy="306910"/>
          </a:xfrm>
          <a:prstGeom prst="ellipse">
            <a:avLst/>
          </a:prstGeom>
          <a:solidFill>
            <a:srgbClr val="F2F2F2"/>
          </a:solidFill>
          <a:ln w="9525" cap="rnd" cmpd="sng" algn="ctr">
            <a:noFill/>
            <a:prstDash val="sysDot"/>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90000"/>
              </a:lnSpc>
            </a:pPr>
            <a:r>
              <a:rPr lang="en-US" altLang="zh-TW" sz="1400">
                <a:solidFill>
                  <a:srgbClr val="575757"/>
                </a:solidFill>
                <a:latin typeface="Microsoft YaHei" panose="020B0503020204020204" pitchFamily="34" charset="-122"/>
                <a:ea typeface="Microsoft YaHei" panose="020B0503020204020204" pitchFamily="34" charset="-122"/>
              </a:rPr>
              <a:t>&lt;1%</a:t>
            </a:r>
          </a:p>
        </p:txBody>
      </p:sp>
      <p:sp>
        <p:nvSpPr>
          <p:cNvPr id="220" name="Oval 219">
            <a:extLst>
              <a:ext uri="{FF2B5EF4-FFF2-40B4-BE49-F238E27FC236}">
                <a16:creationId xmlns:a16="http://schemas.microsoft.com/office/drawing/2014/main" id="{C0EAEDAD-758B-0814-1509-4398572AF155}"/>
              </a:ext>
            </a:extLst>
          </p:cNvPr>
          <p:cNvSpPr/>
          <p:nvPr/>
        </p:nvSpPr>
        <p:spPr>
          <a:xfrm>
            <a:off x="8010189" y="4028642"/>
            <a:ext cx="773113" cy="306910"/>
          </a:xfrm>
          <a:prstGeom prst="ellipse">
            <a:avLst/>
          </a:prstGeom>
          <a:solidFill>
            <a:srgbClr val="F2F2F2"/>
          </a:solidFill>
          <a:ln w="9525" cap="rnd" cmpd="sng" algn="ctr">
            <a:noFill/>
            <a:prstDash val="sysDot"/>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90000"/>
              </a:lnSpc>
            </a:pPr>
            <a:r>
              <a:rPr lang="en-US" altLang="zh-TW" sz="1400">
                <a:solidFill>
                  <a:srgbClr val="575757"/>
                </a:solidFill>
                <a:latin typeface="Microsoft YaHei" panose="020B0503020204020204" pitchFamily="34" charset="-122"/>
                <a:ea typeface="Microsoft YaHei" panose="020B0503020204020204" pitchFamily="34" charset="-122"/>
              </a:rPr>
              <a:t>&lt;1%</a:t>
            </a:r>
          </a:p>
        </p:txBody>
      </p:sp>
      <p:sp>
        <p:nvSpPr>
          <p:cNvPr id="221" name="Oval 220">
            <a:extLst>
              <a:ext uri="{FF2B5EF4-FFF2-40B4-BE49-F238E27FC236}">
                <a16:creationId xmlns:a16="http://schemas.microsoft.com/office/drawing/2014/main" id="{CE86184D-6FD7-76F1-F439-266B53C40D88}"/>
              </a:ext>
            </a:extLst>
          </p:cNvPr>
          <p:cNvSpPr/>
          <p:nvPr/>
        </p:nvSpPr>
        <p:spPr>
          <a:xfrm>
            <a:off x="8010189" y="4384483"/>
            <a:ext cx="773113" cy="306910"/>
          </a:xfrm>
          <a:prstGeom prst="ellipse">
            <a:avLst/>
          </a:prstGeom>
          <a:solidFill>
            <a:srgbClr val="F2F2F2"/>
          </a:solidFill>
          <a:ln w="9525" cap="rnd" cmpd="sng" algn="ctr">
            <a:noFill/>
            <a:prstDash val="sysDot"/>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90000"/>
              </a:lnSpc>
            </a:pPr>
            <a:r>
              <a:rPr lang="en-US" altLang="zh-TW" sz="1400">
                <a:solidFill>
                  <a:srgbClr val="575757"/>
                </a:solidFill>
                <a:latin typeface="Microsoft YaHei" panose="020B0503020204020204" pitchFamily="34" charset="-122"/>
                <a:ea typeface="Microsoft YaHei" panose="020B0503020204020204" pitchFamily="34" charset="-122"/>
              </a:rPr>
              <a:t>&lt;1%</a:t>
            </a:r>
          </a:p>
        </p:txBody>
      </p:sp>
      <p:sp>
        <p:nvSpPr>
          <p:cNvPr id="222" name="Oval 221">
            <a:extLst>
              <a:ext uri="{FF2B5EF4-FFF2-40B4-BE49-F238E27FC236}">
                <a16:creationId xmlns:a16="http://schemas.microsoft.com/office/drawing/2014/main" id="{4D088D77-C3DD-15A5-C0F3-DE73486CC893}"/>
              </a:ext>
            </a:extLst>
          </p:cNvPr>
          <p:cNvSpPr/>
          <p:nvPr/>
        </p:nvSpPr>
        <p:spPr>
          <a:xfrm>
            <a:off x="8010189" y="4740324"/>
            <a:ext cx="773113" cy="306910"/>
          </a:xfrm>
          <a:prstGeom prst="ellipse">
            <a:avLst/>
          </a:prstGeom>
          <a:solidFill>
            <a:srgbClr val="F2F2F2"/>
          </a:solidFill>
          <a:ln w="9525" cap="rnd" cmpd="sng" algn="ctr">
            <a:noFill/>
            <a:prstDash val="sysDot"/>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90000"/>
              </a:lnSpc>
            </a:pPr>
            <a:r>
              <a:rPr lang="en-US" altLang="zh-TW" sz="1400">
                <a:solidFill>
                  <a:srgbClr val="575757"/>
                </a:solidFill>
                <a:latin typeface="Microsoft YaHei" panose="020B0503020204020204" pitchFamily="34" charset="-122"/>
                <a:ea typeface="Microsoft YaHei" panose="020B0503020204020204" pitchFamily="34" charset="-122"/>
              </a:rPr>
              <a:t>&lt;1%</a:t>
            </a:r>
          </a:p>
        </p:txBody>
      </p:sp>
      <p:sp>
        <p:nvSpPr>
          <p:cNvPr id="223" name="Oval 222">
            <a:extLst>
              <a:ext uri="{FF2B5EF4-FFF2-40B4-BE49-F238E27FC236}">
                <a16:creationId xmlns:a16="http://schemas.microsoft.com/office/drawing/2014/main" id="{C339B6A0-CAFA-62FF-2AFC-11349B90AA3E}"/>
              </a:ext>
            </a:extLst>
          </p:cNvPr>
          <p:cNvSpPr/>
          <p:nvPr/>
        </p:nvSpPr>
        <p:spPr>
          <a:xfrm>
            <a:off x="8010189" y="5096165"/>
            <a:ext cx="773113" cy="306910"/>
          </a:xfrm>
          <a:prstGeom prst="ellipse">
            <a:avLst/>
          </a:prstGeom>
          <a:solidFill>
            <a:srgbClr val="F2F2F2"/>
          </a:solidFill>
          <a:ln w="9525" cap="rnd" cmpd="sng" algn="ctr">
            <a:noFill/>
            <a:prstDash val="sysDot"/>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90000"/>
              </a:lnSpc>
            </a:pPr>
            <a:r>
              <a:rPr lang="en-US" altLang="zh-TW" sz="1400">
                <a:solidFill>
                  <a:srgbClr val="575757"/>
                </a:solidFill>
                <a:latin typeface="Microsoft YaHei" panose="020B0503020204020204" pitchFamily="34" charset="-122"/>
                <a:ea typeface="Microsoft YaHei" panose="020B0503020204020204" pitchFamily="34" charset="-122"/>
              </a:rPr>
              <a:t>&lt;1%</a:t>
            </a:r>
          </a:p>
        </p:txBody>
      </p:sp>
      <p:sp>
        <p:nvSpPr>
          <p:cNvPr id="224" name="Oval 223">
            <a:extLst>
              <a:ext uri="{FF2B5EF4-FFF2-40B4-BE49-F238E27FC236}">
                <a16:creationId xmlns:a16="http://schemas.microsoft.com/office/drawing/2014/main" id="{174962F0-77FF-1479-2992-91D3FB10CD07}"/>
              </a:ext>
            </a:extLst>
          </p:cNvPr>
          <p:cNvSpPr/>
          <p:nvPr/>
        </p:nvSpPr>
        <p:spPr>
          <a:xfrm>
            <a:off x="8010189" y="5452008"/>
            <a:ext cx="773113" cy="306910"/>
          </a:xfrm>
          <a:prstGeom prst="ellipse">
            <a:avLst/>
          </a:prstGeom>
          <a:solidFill>
            <a:srgbClr val="F2F2F2"/>
          </a:solidFill>
          <a:ln w="9525" cap="rnd" cmpd="sng" algn="ctr">
            <a:noFill/>
            <a:prstDash val="sysDot"/>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90000"/>
              </a:lnSpc>
            </a:pPr>
            <a:r>
              <a:rPr lang="en-US" altLang="zh-TW" sz="1400">
                <a:solidFill>
                  <a:srgbClr val="575757"/>
                </a:solidFill>
                <a:latin typeface="Microsoft YaHei" panose="020B0503020204020204" pitchFamily="34" charset="-122"/>
                <a:ea typeface="Microsoft YaHei" panose="020B0503020204020204" pitchFamily="34" charset="-122"/>
              </a:rPr>
              <a:t>&lt;1%</a:t>
            </a:r>
          </a:p>
        </p:txBody>
      </p:sp>
      <p:sp>
        <p:nvSpPr>
          <p:cNvPr id="225" name="Oval 224">
            <a:extLst>
              <a:ext uri="{FF2B5EF4-FFF2-40B4-BE49-F238E27FC236}">
                <a16:creationId xmlns:a16="http://schemas.microsoft.com/office/drawing/2014/main" id="{A658CE22-C6C1-5BEA-4E28-4DB9A26D39C3}"/>
              </a:ext>
            </a:extLst>
          </p:cNvPr>
          <p:cNvSpPr/>
          <p:nvPr/>
        </p:nvSpPr>
        <p:spPr>
          <a:xfrm>
            <a:off x="8010189" y="5853113"/>
            <a:ext cx="773113" cy="306910"/>
          </a:xfrm>
          <a:prstGeom prst="ellipse">
            <a:avLst/>
          </a:prstGeom>
          <a:solidFill>
            <a:srgbClr val="EBC5D0"/>
          </a:solidFill>
          <a:ln w="9525" cap="rnd" cmpd="sng" algn="ctr">
            <a:noFill/>
            <a:prstDash val="sysDot"/>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90000"/>
              </a:lnSpc>
            </a:pPr>
            <a:r>
              <a:rPr lang="en-US" altLang="zh-TW" sz="1400">
                <a:solidFill>
                  <a:srgbClr val="575757"/>
                </a:solidFill>
                <a:latin typeface="Microsoft YaHei" panose="020B0503020204020204" pitchFamily="34" charset="-122"/>
                <a:ea typeface="Microsoft YaHei" panose="020B0503020204020204" pitchFamily="34" charset="-122"/>
              </a:rPr>
              <a:t>&lt;1%</a:t>
            </a:r>
          </a:p>
        </p:txBody>
      </p:sp>
      <p:cxnSp>
        <p:nvCxnSpPr>
          <p:cNvPr id="227" name="Straight Connector 226">
            <a:extLst>
              <a:ext uri="{FF2B5EF4-FFF2-40B4-BE49-F238E27FC236}">
                <a16:creationId xmlns:a16="http://schemas.microsoft.com/office/drawing/2014/main" id="{DE79B63B-2718-B18B-FC77-AD2B743FE371}"/>
              </a:ext>
            </a:extLst>
          </p:cNvPr>
          <p:cNvCxnSpPr/>
          <p:nvPr/>
        </p:nvCxnSpPr>
        <p:spPr>
          <a:xfrm>
            <a:off x="2849563" y="3275013"/>
            <a:ext cx="5942296" cy="0"/>
          </a:xfrm>
          <a:prstGeom prst="line">
            <a:avLst/>
          </a:prstGeom>
          <a:ln w="9525" cap="rnd">
            <a:solidFill>
              <a:schemeClr val="tx1">
                <a:lumMod val="20000"/>
                <a:lumOff val="80000"/>
              </a:schemeClr>
            </a:solidFill>
            <a:prstDash val="sysDot"/>
            <a:round/>
          </a:ln>
        </p:spPr>
        <p:style>
          <a:lnRef idx="1">
            <a:schemeClr val="accent1"/>
          </a:lnRef>
          <a:fillRef idx="0">
            <a:schemeClr val="accent1"/>
          </a:fillRef>
          <a:effectRef idx="0">
            <a:schemeClr val="accent1"/>
          </a:effectRef>
          <a:fontRef idx="minor">
            <a:schemeClr val="tx1"/>
          </a:fontRef>
        </p:style>
      </p:cxnSp>
      <p:cxnSp>
        <p:nvCxnSpPr>
          <p:cNvPr id="228" name="Straight Connector 227">
            <a:extLst>
              <a:ext uri="{FF2B5EF4-FFF2-40B4-BE49-F238E27FC236}">
                <a16:creationId xmlns:a16="http://schemas.microsoft.com/office/drawing/2014/main" id="{90546CB1-D766-90F3-4BF8-B7D0BEB002C5}"/>
              </a:ext>
            </a:extLst>
          </p:cNvPr>
          <p:cNvCxnSpPr/>
          <p:nvPr/>
        </p:nvCxnSpPr>
        <p:spPr>
          <a:xfrm>
            <a:off x="2849563" y="3664864"/>
            <a:ext cx="5942296" cy="0"/>
          </a:xfrm>
          <a:prstGeom prst="line">
            <a:avLst/>
          </a:prstGeom>
          <a:ln w="9525" cap="rnd">
            <a:solidFill>
              <a:schemeClr val="tx1">
                <a:lumMod val="20000"/>
                <a:lumOff val="80000"/>
              </a:schemeClr>
            </a:solidFill>
            <a:prstDash val="sysDot"/>
            <a:round/>
          </a:ln>
        </p:spPr>
        <p:style>
          <a:lnRef idx="1">
            <a:schemeClr val="accent1"/>
          </a:lnRef>
          <a:fillRef idx="0">
            <a:schemeClr val="accent1"/>
          </a:fillRef>
          <a:effectRef idx="0">
            <a:schemeClr val="accent1"/>
          </a:effectRef>
          <a:fontRef idx="minor">
            <a:schemeClr val="tx1"/>
          </a:fontRef>
        </p:style>
      </p:cxnSp>
      <p:cxnSp>
        <p:nvCxnSpPr>
          <p:cNvPr id="229" name="Straight Connector 228">
            <a:extLst>
              <a:ext uri="{FF2B5EF4-FFF2-40B4-BE49-F238E27FC236}">
                <a16:creationId xmlns:a16="http://schemas.microsoft.com/office/drawing/2014/main" id="{2961AE69-0F72-5DF6-1235-3348E27500F9}"/>
              </a:ext>
            </a:extLst>
          </p:cNvPr>
          <p:cNvCxnSpPr/>
          <p:nvPr/>
        </p:nvCxnSpPr>
        <p:spPr>
          <a:xfrm>
            <a:off x="2849563" y="3980625"/>
            <a:ext cx="5942296" cy="0"/>
          </a:xfrm>
          <a:prstGeom prst="line">
            <a:avLst/>
          </a:prstGeom>
          <a:ln w="9525" cap="rnd">
            <a:solidFill>
              <a:schemeClr val="tx1">
                <a:lumMod val="20000"/>
                <a:lumOff val="80000"/>
              </a:schemeClr>
            </a:solidFill>
            <a:prstDash val="sysDot"/>
            <a:round/>
          </a:ln>
        </p:spPr>
        <p:style>
          <a:lnRef idx="1">
            <a:schemeClr val="accent1"/>
          </a:lnRef>
          <a:fillRef idx="0">
            <a:schemeClr val="accent1"/>
          </a:fillRef>
          <a:effectRef idx="0">
            <a:schemeClr val="accent1"/>
          </a:effectRef>
          <a:fontRef idx="minor">
            <a:schemeClr val="tx1"/>
          </a:fontRef>
        </p:style>
      </p:cxnSp>
      <p:cxnSp>
        <p:nvCxnSpPr>
          <p:cNvPr id="230" name="Straight Connector 229">
            <a:extLst>
              <a:ext uri="{FF2B5EF4-FFF2-40B4-BE49-F238E27FC236}">
                <a16:creationId xmlns:a16="http://schemas.microsoft.com/office/drawing/2014/main" id="{EB049744-85E9-632E-E1A8-898E58E0CC74}"/>
              </a:ext>
            </a:extLst>
          </p:cNvPr>
          <p:cNvCxnSpPr/>
          <p:nvPr/>
        </p:nvCxnSpPr>
        <p:spPr>
          <a:xfrm>
            <a:off x="2849563" y="4335552"/>
            <a:ext cx="5942296" cy="0"/>
          </a:xfrm>
          <a:prstGeom prst="line">
            <a:avLst/>
          </a:prstGeom>
          <a:ln w="9525" cap="rnd">
            <a:solidFill>
              <a:schemeClr val="tx1">
                <a:lumMod val="20000"/>
                <a:lumOff val="80000"/>
              </a:schemeClr>
            </a:solidFill>
            <a:prstDash val="sysDot"/>
            <a:round/>
          </a:ln>
        </p:spPr>
        <p:style>
          <a:lnRef idx="1">
            <a:schemeClr val="accent1"/>
          </a:lnRef>
          <a:fillRef idx="0">
            <a:schemeClr val="accent1"/>
          </a:fillRef>
          <a:effectRef idx="0">
            <a:schemeClr val="accent1"/>
          </a:effectRef>
          <a:fontRef idx="minor">
            <a:schemeClr val="tx1"/>
          </a:fontRef>
        </p:style>
      </p:cxnSp>
      <p:cxnSp>
        <p:nvCxnSpPr>
          <p:cNvPr id="231" name="Straight Connector 230">
            <a:extLst>
              <a:ext uri="{FF2B5EF4-FFF2-40B4-BE49-F238E27FC236}">
                <a16:creationId xmlns:a16="http://schemas.microsoft.com/office/drawing/2014/main" id="{8E0425A9-DCB6-ACEA-869F-D28FEF8C158B}"/>
              </a:ext>
            </a:extLst>
          </p:cNvPr>
          <p:cNvCxnSpPr/>
          <p:nvPr/>
        </p:nvCxnSpPr>
        <p:spPr>
          <a:xfrm>
            <a:off x="2849563" y="4713426"/>
            <a:ext cx="5942296" cy="0"/>
          </a:xfrm>
          <a:prstGeom prst="line">
            <a:avLst/>
          </a:prstGeom>
          <a:ln w="9525" cap="rnd">
            <a:solidFill>
              <a:schemeClr val="tx1">
                <a:lumMod val="20000"/>
                <a:lumOff val="80000"/>
              </a:schemeClr>
            </a:solidFill>
            <a:prstDash val="sysDot"/>
            <a:round/>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22F1CA69-35C6-48E4-08F0-36590000C47A}"/>
              </a:ext>
            </a:extLst>
          </p:cNvPr>
          <p:cNvCxnSpPr/>
          <p:nvPr/>
        </p:nvCxnSpPr>
        <p:spPr>
          <a:xfrm>
            <a:off x="2849563" y="5072491"/>
            <a:ext cx="5942296" cy="0"/>
          </a:xfrm>
          <a:prstGeom prst="line">
            <a:avLst/>
          </a:prstGeom>
          <a:ln w="9525" cap="rnd">
            <a:solidFill>
              <a:schemeClr val="tx1">
                <a:lumMod val="20000"/>
                <a:lumOff val="80000"/>
              </a:schemeClr>
            </a:solidFill>
            <a:prstDash val="sysDot"/>
            <a:round/>
          </a:ln>
        </p:spPr>
        <p:style>
          <a:lnRef idx="1">
            <a:schemeClr val="accent1"/>
          </a:lnRef>
          <a:fillRef idx="0">
            <a:schemeClr val="accent1"/>
          </a:fillRef>
          <a:effectRef idx="0">
            <a:schemeClr val="accent1"/>
          </a:effectRef>
          <a:fontRef idx="minor">
            <a:schemeClr val="tx1"/>
          </a:fontRef>
        </p:style>
      </p:cxnSp>
      <p:cxnSp>
        <p:nvCxnSpPr>
          <p:cNvPr id="233" name="Straight Connector 232">
            <a:extLst>
              <a:ext uri="{FF2B5EF4-FFF2-40B4-BE49-F238E27FC236}">
                <a16:creationId xmlns:a16="http://schemas.microsoft.com/office/drawing/2014/main" id="{E2305177-8E3A-C65C-66A5-F35A3EF0D6F2}"/>
              </a:ext>
            </a:extLst>
          </p:cNvPr>
          <p:cNvCxnSpPr/>
          <p:nvPr/>
        </p:nvCxnSpPr>
        <p:spPr>
          <a:xfrm>
            <a:off x="2849563" y="5438149"/>
            <a:ext cx="5942296" cy="0"/>
          </a:xfrm>
          <a:prstGeom prst="line">
            <a:avLst/>
          </a:prstGeom>
          <a:ln w="9525" cap="rnd">
            <a:solidFill>
              <a:schemeClr val="tx1">
                <a:lumMod val="20000"/>
                <a:lumOff val="80000"/>
              </a:schemeClr>
            </a:solidFill>
            <a:prstDash val="sysDot"/>
            <a:round/>
          </a:ln>
        </p:spPr>
        <p:style>
          <a:lnRef idx="1">
            <a:schemeClr val="accent1"/>
          </a:lnRef>
          <a:fillRef idx="0">
            <a:schemeClr val="accent1"/>
          </a:fillRef>
          <a:effectRef idx="0">
            <a:schemeClr val="accent1"/>
          </a:effectRef>
          <a:fontRef idx="minor">
            <a:schemeClr val="tx1"/>
          </a:fontRef>
        </p:style>
      </p:cxnSp>
      <p:cxnSp>
        <p:nvCxnSpPr>
          <p:cNvPr id="234" name="Straight Connector 233">
            <a:extLst>
              <a:ext uri="{FF2B5EF4-FFF2-40B4-BE49-F238E27FC236}">
                <a16:creationId xmlns:a16="http://schemas.microsoft.com/office/drawing/2014/main" id="{73AE69A5-7774-CD41-94E1-88268D3B0028}"/>
              </a:ext>
            </a:extLst>
          </p:cNvPr>
          <p:cNvCxnSpPr/>
          <p:nvPr/>
        </p:nvCxnSpPr>
        <p:spPr>
          <a:xfrm>
            <a:off x="2849563" y="5795963"/>
            <a:ext cx="5942296" cy="0"/>
          </a:xfrm>
          <a:prstGeom prst="line">
            <a:avLst/>
          </a:prstGeom>
          <a:ln w="19050" cap="rnd" cmpd="sng" algn="ctr">
            <a:solidFill>
              <a:srgbClr val="9A9A9A"/>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42" name="ee4pFootnotes">
            <a:extLst>
              <a:ext uri="{FF2B5EF4-FFF2-40B4-BE49-F238E27FC236}">
                <a16:creationId xmlns:a16="http://schemas.microsoft.com/office/drawing/2014/main" id="{5DA6EFC1-CFD0-52B0-8DD7-94C0C5F276D6}"/>
              </a:ext>
            </a:extLst>
          </p:cNvPr>
          <p:cNvSpPr>
            <a:spLocks noChangeArrowheads="1"/>
          </p:cNvSpPr>
          <p:nvPr/>
        </p:nvSpPr>
        <p:spPr bwMode="auto">
          <a:xfrm>
            <a:off x="630000" y="6350426"/>
            <a:ext cx="4902448" cy="415498"/>
          </a:xfrm>
          <a:prstGeom prst="rect">
            <a:avLst/>
          </a:prstGeom>
          <a:noFill/>
          <a:ln w="9525" algn="ctr">
            <a:noFill/>
            <a:miter lim="800000"/>
            <a:headEnd type="none" w="lg" len="lg"/>
            <a:tailEnd type="none" w="lg" len="lg"/>
          </a:ln>
        </p:spPr>
        <p:txBody>
          <a:bodyPr vert="horz" wrap="square" lIns="0" tIns="0" rIns="0" bIns="0" anchor="b" anchorCtr="0">
            <a:spAutoFit/>
          </a:bodyPr>
          <a:lstStyle/>
          <a:p>
            <a:pPr marL="228600" indent="-228600">
              <a:lnSpc>
                <a:spcPct val="90000"/>
              </a:lnSpc>
              <a:buAutoNum type="arabicPeriod"/>
            </a:pPr>
            <a:r>
              <a:rPr lang="en-US" altLang="zh-TW" sz="1000">
                <a:solidFill>
                  <a:schemeClr val="bg1">
                    <a:lumMod val="50000"/>
                  </a:schemeClr>
                </a:solidFill>
                <a:latin typeface="Trebuchet MS" panose="020B0603020202020204" pitchFamily="34" charset="0"/>
                <a:ea typeface="Microsoft YaHei" panose="020B0503020204020204" pitchFamily="34" charset="-122"/>
              </a:rPr>
              <a:t>N/A </a:t>
            </a:r>
            <a:r>
              <a:rPr lang="zh-TW" altLang="en-US" sz="1000">
                <a:solidFill>
                  <a:schemeClr val="bg1">
                    <a:lumMod val="50000"/>
                  </a:schemeClr>
                </a:solidFill>
                <a:latin typeface="Trebuchet MS" panose="020B0603020202020204" pitchFamily="34" charset="0"/>
                <a:ea typeface="Microsoft YaHei" panose="020B0503020204020204" pitchFamily="34" charset="-122"/>
              </a:rPr>
              <a:t>包括所有開戶超過</a:t>
            </a:r>
            <a:r>
              <a:rPr lang="en-US" altLang="zh-TW" sz="1000">
                <a:solidFill>
                  <a:schemeClr val="bg1">
                    <a:lumMod val="50000"/>
                  </a:schemeClr>
                </a:solidFill>
                <a:latin typeface="Trebuchet MS" panose="020B0603020202020204" pitchFamily="34" charset="0"/>
                <a:ea typeface="Microsoft YaHei" panose="020B0503020204020204" pitchFamily="34" charset="-122"/>
              </a:rPr>
              <a:t>3</a:t>
            </a:r>
            <a:r>
              <a:rPr lang="zh-TW" altLang="en-US" sz="1000">
                <a:solidFill>
                  <a:schemeClr val="bg1">
                    <a:lumMod val="50000"/>
                  </a:schemeClr>
                </a:solidFill>
                <a:latin typeface="Trebuchet MS" panose="020B0603020202020204" pitchFamily="34" charset="0"/>
                <a:ea typeface="Microsoft YaHei" panose="020B0503020204020204" pitchFamily="34" charset="-122"/>
              </a:rPr>
              <a:t>年的零元戶；由于數據資料限制，系統無保留開戶超過</a:t>
            </a:r>
            <a:r>
              <a:rPr lang="en-US" altLang="zh-TW" sz="1000">
                <a:solidFill>
                  <a:schemeClr val="bg1">
                    <a:lumMod val="50000"/>
                  </a:schemeClr>
                </a:solidFill>
                <a:latin typeface="Trebuchet MS" panose="020B0603020202020204" pitchFamily="34" charset="0"/>
                <a:ea typeface="Microsoft YaHei" panose="020B0503020204020204" pitchFamily="34" charset="-122"/>
              </a:rPr>
              <a:t>3</a:t>
            </a:r>
            <a:r>
              <a:rPr lang="zh-TW" altLang="en-US" sz="1000">
                <a:solidFill>
                  <a:schemeClr val="bg1">
                    <a:lumMod val="50000"/>
                  </a:schemeClr>
                </a:solidFill>
                <a:latin typeface="Trebuchet MS" panose="020B0603020202020204" pitchFamily="34" charset="0"/>
                <a:ea typeface="Microsoft YaHei" panose="020B0503020204020204" pitchFamily="34" charset="-122"/>
              </a:rPr>
              <a:t>年客戶的開戶來源進行分析</a:t>
            </a:r>
            <a:endParaRPr lang="en-US" altLang="zh-TW" sz="1000">
              <a:solidFill>
                <a:schemeClr val="bg1">
                  <a:lumMod val="50000"/>
                </a:schemeClr>
              </a:solidFill>
              <a:latin typeface="Trebuchet MS" panose="020B0603020202020204" pitchFamily="34" charset="0"/>
              <a:ea typeface="Microsoft YaHei" panose="020B0503020204020204" pitchFamily="34" charset="-122"/>
            </a:endParaRPr>
          </a:p>
          <a:p>
            <a:pPr>
              <a:lnSpc>
                <a:spcPct val="90000"/>
              </a:lnSpc>
            </a:pPr>
            <a:r>
              <a:rPr lang="zh-TW" altLang="en-US" sz="1000">
                <a:solidFill>
                  <a:schemeClr val="bg1">
                    <a:lumMod val="50000"/>
                  </a:schemeClr>
                </a:solidFill>
                <a:latin typeface="Trebuchet MS" panose="020B0603020202020204" pitchFamily="34" charset="0"/>
                <a:ea typeface="Microsoft YaHei" panose="020B0503020204020204" pitchFamily="34" charset="-122"/>
                <a:cs typeface="Arial" pitchFamily="34" charset="0"/>
              </a:rPr>
              <a:t>資料來源</a:t>
            </a:r>
            <a:r>
              <a:rPr lang="en-US" altLang="zh-TW" sz="1000">
                <a:solidFill>
                  <a:schemeClr val="bg1">
                    <a:lumMod val="50000"/>
                  </a:schemeClr>
                </a:solidFill>
                <a:latin typeface="Trebuchet MS" panose="020B0603020202020204" pitchFamily="34" charset="0"/>
                <a:ea typeface="Microsoft YaHei" panose="020B0503020204020204" pitchFamily="34" charset="-122"/>
                <a:cs typeface="Arial" pitchFamily="34" charset="0"/>
              </a:rPr>
              <a:t>:</a:t>
            </a:r>
            <a:r>
              <a:rPr lang="zh-TW" altLang="en-US" sz="1000">
                <a:solidFill>
                  <a:schemeClr val="bg1">
                    <a:lumMod val="50000"/>
                  </a:schemeClr>
                </a:solidFill>
                <a:latin typeface="Trebuchet MS" panose="020B0603020202020204" pitchFamily="34" charset="0"/>
                <a:ea typeface="Microsoft YaHei" panose="020B0503020204020204" pitchFamily="34" charset="-122"/>
                <a:cs typeface="Arial" pitchFamily="34" charset="0"/>
              </a:rPr>
              <a:t> 凱基銀行；</a:t>
            </a:r>
            <a:r>
              <a:rPr lang="en-US" altLang="zh-TW" sz="1000">
                <a:solidFill>
                  <a:schemeClr val="bg1">
                    <a:lumMod val="50000"/>
                  </a:schemeClr>
                </a:solidFill>
                <a:latin typeface="Trebuchet MS" panose="020B0603020202020204" pitchFamily="34" charset="0"/>
                <a:ea typeface="Microsoft YaHei" panose="020B0503020204020204" pitchFamily="34" charset="-122"/>
                <a:cs typeface="Arial" pitchFamily="34" charset="0"/>
              </a:rPr>
              <a:t>BCG</a:t>
            </a:r>
            <a:r>
              <a:rPr lang="zh-TW" altLang="en-US" sz="1000">
                <a:solidFill>
                  <a:schemeClr val="bg1">
                    <a:lumMod val="50000"/>
                  </a:schemeClr>
                </a:solidFill>
                <a:latin typeface="Trebuchet MS" panose="020B0603020202020204" pitchFamily="34" charset="0"/>
                <a:ea typeface="Microsoft YaHei" panose="020B0503020204020204" pitchFamily="34" charset="-122"/>
                <a:cs typeface="Arial" pitchFamily="34" charset="0"/>
              </a:rPr>
              <a:t>分析</a:t>
            </a:r>
            <a:endParaRPr lang="en-US" sz="1000">
              <a:solidFill>
                <a:schemeClr val="bg1">
                  <a:lumMod val="50000"/>
                </a:schemeClr>
              </a:solidFill>
              <a:latin typeface="Trebuchet MS" panose="020B0603020202020204" pitchFamily="34" charset="0"/>
              <a:ea typeface="Microsoft YaHei" panose="020B0503020204020204" pitchFamily="34" charset="-122"/>
              <a:cs typeface="Arial" pitchFamily="34" charset="0"/>
            </a:endParaRPr>
          </a:p>
        </p:txBody>
      </p:sp>
      <p:sp>
        <p:nvSpPr>
          <p:cNvPr id="257" name="Rectangle 256">
            <a:extLst>
              <a:ext uri="{FF2B5EF4-FFF2-40B4-BE49-F238E27FC236}">
                <a16:creationId xmlns:a16="http://schemas.microsoft.com/office/drawing/2014/main" id="{71780AA6-4824-A59F-D043-B1FFA4F92C4E}"/>
              </a:ext>
            </a:extLst>
          </p:cNvPr>
          <p:cNvSpPr/>
          <p:nvPr/>
        </p:nvSpPr>
        <p:spPr>
          <a:xfrm>
            <a:off x="5690393" y="6234715"/>
            <a:ext cx="2993966" cy="323460"/>
          </a:xfrm>
          <a:prstGeom prst="rect">
            <a:avLst/>
          </a:prstGeom>
          <a:noFill/>
          <a:ln w="12700" cap="rnd" cmpd="sng" algn="ctr">
            <a:solidFill>
              <a:srgbClr val="E71C57"/>
            </a:solid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zh-TW" altLang="en-US" sz="1400" i="1">
                <a:solidFill>
                  <a:srgbClr val="E71C57"/>
                </a:solidFill>
                <a:latin typeface="Microsoft YaHei" panose="020B0503020204020204" pitchFamily="34" charset="-122"/>
                <a:ea typeface="Microsoft YaHei" panose="020B0503020204020204" pitchFamily="34" charset="-122"/>
              </a:rPr>
              <a:t>多數零元戶未曾與凱基往來</a:t>
            </a:r>
            <a:endParaRPr lang="en-US" altLang="zh-TW" sz="1400" i="1">
              <a:solidFill>
                <a:srgbClr val="E71C57"/>
              </a:solidFill>
              <a:latin typeface="Microsoft YaHei" panose="020B0503020204020204" pitchFamily="34" charset="-122"/>
              <a:ea typeface="Microsoft YaHei" panose="020B0503020204020204" pitchFamily="34" charset="-122"/>
            </a:endParaRPr>
          </a:p>
        </p:txBody>
      </p:sp>
      <p:sp>
        <p:nvSpPr>
          <p:cNvPr id="7" name="Oval 20">
            <a:extLst>
              <a:ext uri="{FF2B5EF4-FFF2-40B4-BE49-F238E27FC236}">
                <a16:creationId xmlns:a16="http://schemas.microsoft.com/office/drawing/2014/main" id="{1703F481-A260-2396-7341-A0C36DC4327B}"/>
              </a:ext>
            </a:extLst>
          </p:cNvPr>
          <p:cNvSpPr>
            <a:spLocks noChangeAspect="1" noChangeArrowheads="1"/>
          </p:cNvSpPr>
          <p:nvPr/>
        </p:nvSpPr>
        <p:spPr bwMode="auto">
          <a:xfrm>
            <a:off x="186544" y="98006"/>
            <a:ext cx="299290" cy="299290"/>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zh-TW" altLang="en-US" sz="1200">
                <a:solidFill>
                  <a:schemeClr val="bg1"/>
                </a:solidFill>
                <a:ea typeface="Microsoft YaHei" panose="020B0503020204020204" pitchFamily="34" charset="-122"/>
              </a:rPr>
              <a:t>２</a:t>
            </a:r>
            <a:endParaRPr lang="en-US" sz="1200">
              <a:solidFill>
                <a:schemeClr val="bg1"/>
              </a:solidFill>
              <a:ea typeface="Microsoft YaHei" panose="020B0503020204020204" pitchFamily="34" charset="-122"/>
            </a:endParaRPr>
          </a:p>
        </p:txBody>
      </p:sp>
      <p:sp>
        <p:nvSpPr>
          <p:cNvPr id="8" name="TextBox 7">
            <a:extLst>
              <a:ext uri="{FF2B5EF4-FFF2-40B4-BE49-F238E27FC236}">
                <a16:creationId xmlns:a16="http://schemas.microsoft.com/office/drawing/2014/main" id="{D32AF20E-23F3-C63B-C504-D134E4CC51E7}"/>
              </a:ext>
            </a:extLst>
          </p:cNvPr>
          <p:cNvSpPr txBox="1"/>
          <p:nvPr/>
        </p:nvSpPr>
        <p:spPr>
          <a:xfrm>
            <a:off x="490697" y="128208"/>
            <a:ext cx="2217333" cy="276999"/>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a:spAutoFit/>
          </a:bodyPr>
          <a:lstStyle/>
          <a:p>
            <a:r>
              <a:rPr lang="zh-TW" altLang="en-US" sz="1200">
                <a:solidFill>
                  <a:srgbClr val="575757"/>
                </a:solidFill>
                <a:latin typeface="Trebuchet MS" panose="020B0603020202020204" pitchFamily="34" charset="0"/>
                <a:ea typeface="Microsoft YaHei" panose="020B0503020204020204" pitchFamily="34" charset="-122"/>
              </a:rPr>
              <a:t>優化新戶啟動計畫</a:t>
            </a:r>
            <a:endParaRPr lang="en-US" sz="1200">
              <a:solidFill>
                <a:srgbClr val="575757"/>
              </a:solidFill>
              <a:ea typeface="Microsoft YaHei" panose="020B0503020204020204" pitchFamily="34" charset="-122"/>
            </a:endParaRPr>
          </a:p>
        </p:txBody>
      </p:sp>
      <p:sp>
        <p:nvSpPr>
          <p:cNvPr id="9" name="Rectangle 8">
            <a:extLst>
              <a:ext uri="{FF2B5EF4-FFF2-40B4-BE49-F238E27FC236}">
                <a16:creationId xmlns:a16="http://schemas.microsoft.com/office/drawing/2014/main" id="{4FC8346D-7209-55F3-B4BC-E0EA31DA9B08}"/>
              </a:ext>
            </a:extLst>
          </p:cNvPr>
          <p:cNvSpPr/>
          <p:nvPr/>
        </p:nvSpPr>
        <p:spPr>
          <a:xfrm>
            <a:off x="6815027" y="2541264"/>
            <a:ext cx="918540" cy="343899"/>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zh-TW" altLang="en-US" sz="1400" b="1" u="sng">
                <a:solidFill>
                  <a:srgbClr val="575757"/>
                </a:solidFill>
                <a:latin typeface="Microsoft YaHei" panose="020B0503020204020204" pitchFamily="34" charset="-122"/>
                <a:ea typeface="Microsoft YaHei" panose="020B0503020204020204" pitchFamily="34" charset="-122"/>
              </a:rPr>
              <a:t>持有</a:t>
            </a:r>
            <a:endParaRPr lang="en-US" altLang="zh-TW" sz="1400" b="1" u="sng">
              <a:solidFill>
                <a:srgbClr val="575757"/>
              </a:solidFill>
              <a:latin typeface="Microsoft YaHei" panose="020B0503020204020204" pitchFamily="34" charset="-122"/>
              <a:ea typeface="Microsoft YaHei" panose="020B0503020204020204" pitchFamily="34" charset="-122"/>
            </a:endParaRPr>
          </a:p>
          <a:p>
            <a:pPr algn="ctr">
              <a:lnSpc>
                <a:spcPct val="90000"/>
              </a:lnSpc>
            </a:pPr>
            <a:r>
              <a:rPr lang="zh-TW" altLang="en-US" sz="1400" b="1" u="sng">
                <a:solidFill>
                  <a:srgbClr val="575757"/>
                </a:solidFill>
                <a:latin typeface="Microsoft YaHei" panose="020B0503020204020204" pitchFamily="34" charset="-122"/>
                <a:ea typeface="Microsoft YaHei" panose="020B0503020204020204" pitchFamily="34" charset="-122"/>
              </a:rPr>
              <a:t>信用卡</a:t>
            </a:r>
            <a:endParaRPr lang="en-US" altLang="zh-TW" sz="1400" b="1" u="sng">
              <a:solidFill>
                <a:srgbClr val="575757"/>
              </a:solidFill>
              <a:latin typeface="Microsoft YaHei" panose="020B0503020204020204" pitchFamily="34" charset="-122"/>
              <a:ea typeface="Microsoft YaHei" panose="020B0503020204020204" pitchFamily="34" charset="-122"/>
            </a:endParaRPr>
          </a:p>
        </p:txBody>
      </p:sp>
      <p:sp>
        <p:nvSpPr>
          <p:cNvPr id="10" name="Oval 9">
            <a:extLst>
              <a:ext uri="{FF2B5EF4-FFF2-40B4-BE49-F238E27FC236}">
                <a16:creationId xmlns:a16="http://schemas.microsoft.com/office/drawing/2014/main" id="{0E1AE9CC-11D7-D70A-5B20-888202776E95}"/>
              </a:ext>
            </a:extLst>
          </p:cNvPr>
          <p:cNvSpPr/>
          <p:nvPr/>
        </p:nvSpPr>
        <p:spPr>
          <a:xfrm>
            <a:off x="6949651" y="2961119"/>
            <a:ext cx="649288" cy="306910"/>
          </a:xfrm>
          <a:prstGeom prst="ellipse">
            <a:avLst/>
          </a:prstGeom>
          <a:solidFill>
            <a:srgbClr val="C9E7CA"/>
          </a:solidFill>
          <a:ln w="9525" cap="rnd" cmpd="sng" algn="ctr">
            <a:noFill/>
            <a:prstDash val="sysDot"/>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90000"/>
              </a:lnSpc>
            </a:pPr>
            <a:r>
              <a:rPr lang="en-US" altLang="zh-TW" sz="1400">
                <a:solidFill>
                  <a:srgbClr val="575757"/>
                </a:solidFill>
                <a:latin typeface="Microsoft YaHei" panose="020B0503020204020204" pitchFamily="34" charset="-122"/>
                <a:ea typeface="Microsoft YaHei" panose="020B0503020204020204" pitchFamily="34" charset="-122"/>
              </a:rPr>
              <a:t>36%</a:t>
            </a:r>
          </a:p>
        </p:txBody>
      </p:sp>
      <p:sp>
        <p:nvSpPr>
          <p:cNvPr id="12" name="Oval 11">
            <a:extLst>
              <a:ext uri="{FF2B5EF4-FFF2-40B4-BE49-F238E27FC236}">
                <a16:creationId xmlns:a16="http://schemas.microsoft.com/office/drawing/2014/main" id="{11FC3E91-8F93-4EB4-9BDC-AAAB654C4243}"/>
              </a:ext>
            </a:extLst>
          </p:cNvPr>
          <p:cNvSpPr/>
          <p:nvPr/>
        </p:nvSpPr>
        <p:spPr>
          <a:xfrm>
            <a:off x="6949651" y="3316960"/>
            <a:ext cx="649288" cy="306910"/>
          </a:xfrm>
          <a:prstGeom prst="ellipse">
            <a:avLst/>
          </a:prstGeom>
          <a:solidFill>
            <a:srgbClr val="EBC5D0"/>
          </a:solidFill>
          <a:ln w="9525" cap="rnd" cmpd="sng" algn="ctr">
            <a:noFill/>
            <a:prstDash val="sysDot"/>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90000"/>
              </a:lnSpc>
            </a:pPr>
            <a:r>
              <a:rPr lang="en-US" altLang="zh-TW" sz="1400">
                <a:solidFill>
                  <a:srgbClr val="575757"/>
                </a:solidFill>
                <a:latin typeface="Microsoft YaHei" panose="020B0503020204020204" pitchFamily="34" charset="-122"/>
                <a:ea typeface="Microsoft YaHei" panose="020B0503020204020204" pitchFamily="34" charset="-122"/>
              </a:rPr>
              <a:t>5%</a:t>
            </a:r>
          </a:p>
        </p:txBody>
      </p:sp>
      <p:sp>
        <p:nvSpPr>
          <p:cNvPr id="13" name="Oval 12">
            <a:extLst>
              <a:ext uri="{FF2B5EF4-FFF2-40B4-BE49-F238E27FC236}">
                <a16:creationId xmlns:a16="http://schemas.microsoft.com/office/drawing/2014/main" id="{B99BC7CE-A1CC-DEC2-8CA0-3B259062990D}"/>
              </a:ext>
            </a:extLst>
          </p:cNvPr>
          <p:cNvSpPr/>
          <p:nvPr/>
        </p:nvSpPr>
        <p:spPr>
          <a:xfrm>
            <a:off x="6949651" y="3672801"/>
            <a:ext cx="649288" cy="306910"/>
          </a:xfrm>
          <a:prstGeom prst="ellipse">
            <a:avLst/>
          </a:prstGeom>
          <a:solidFill>
            <a:srgbClr val="C9E7CA"/>
          </a:solidFill>
          <a:ln w="9525" cap="rnd" cmpd="sng" algn="ctr">
            <a:noFill/>
            <a:prstDash val="sysDot"/>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90000"/>
              </a:lnSpc>
            </a:pPr>
            <a:r>
              <a:rPr lang="en-US" altLang="zh-TW" sz="1400">
                <a:solidFill>
                  <a:srgbClr val="575757"/>
                </a:solidFill>
                <a:latin typeface="Microsoft YaHei" panose="020B0503020204020204" pitchFamily="34" charset="-122"/>
                <a:ea typeface="Microsoft YaHei" panose="020B0503020204020204" pitchFamily="34" charset="-122"/>
              </a:rPr>
              <a:t>22%</a:t>
            </a:r>
          </a:p>
        </p:txBody>
      </p:sp>
      <p:sp>
        <p:nvSpPr>
          <p:cNvPr id="14" name="Oval 13">
            <a:extLst>
              <a:ext uri="{FF2B5EF4-FFF2-40B4-BE49-F238E27FC236}">
                <a16:creationId xmlns:a16="http://schemas.microsoft.com/office/drawing/2014/main" id="{1DE7821D-1A61-67DA-93AF-D73BCC84ABE2}"/>
              </a:ext>
            </a:extLst>
          </p:cNvPr>
          <p:cNvSpPr/>
          <p:nvPr/>
        </p:nvSpPr>
        <p:spPr>
          <a:xfrm>
            <a:off x="6949651" y="4028642"/>
            <a:ext cx="649288" cy="306910"/>
          </a:xfrm>
          <a:prstGeom prst="ellipse">
            <a:avLst/>
          </a:prstGeom>
          <a:solidFill>
            <a:srgbClr val="EBC5D0"/>
          </a:solidFill>
          <a:ln w="9525" cap="rnd" cmpd="sng" algn="ctr">
            <a:noFill/>
            <a:prstDash val="sysDot"/>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90000"/>
              </a:lnSpc>
            </a:pPr>
            <a:r>
              <a:rPr lang="en-US" altLang="zh-TW" sz="1400">
                <a:solidFill>
                  <a:srgbClr val="575757"/>
                </a:solidFill>
                <a:latin typeface="Microsoft YaHei" panose="020B0503020204020204" pitchFamily="34" charset="-122"/>
                <a:ea typeface="Microsoft YaHei" panose="020B0503020204020204" pitchFamily="34" charset="-122"/>
              </a:rPr>
              <a:t>8%</a:t>
            </a:r>
          </a:p>
        </p:txBody>
      </p:sp>
      <p:sp>
        <p:nvSpPr>
          <p:cNvPr id="16" name="Oval 15">
            <a:extLst>
              <a:ext uri="{FF2B5EF4-FFF2-40B4-BE49-F238E27FC236}">
                <a16:creationId xmlns:a16="http://schemas.microsoft.com/office/drawing/2014/main" id="{020AB344-6B4D-FB53-99D8-BDB9C72638FC}"/>
              </a:ext>
            </a:extLst>
          </p:cNvPr>
          <p:cNvSpPr/>
          <p:nvPr/>
        </p:nvSpPr>
        <p:spPr>
          <a:xfrm>
            <a:off x="6949651" y="4384483"/>
            <a:ext cx="649288" cy="306910"/>
          </a:xfrm>
          <a:prstGeom prst="ellipse">
            <a:avLst/>
          </a:prstGeom>
          <a:solidFill>
            <a:srgbClr val="C9E7CA"/>
          </a:solidFill>
          <a:ln w="9525" cap="rnd" cmpd="sng" algn="ctr">
            <a:noFill/>
            <a:prstDash val="sysDot"/>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90000"/>
              </a:lnSpc>
            </a:pPr>
            <a:r>
              <a:rPr lang="en-US" altLang="zh-TW" sz="1400">
                <a:solidFill>
                  <a:srgbClr val="575757"/>
                </a:solidFill>
                <a:latin typeface="Microsoft YaHei" panose="020B0503020204020204" pitchFamily="34" charset="-122"/>
                <a:ea typeface="Microsoft YaHei" panose="020B0503020204020204" pitchFamily="34" charset="-122"/>
              </a:rPr>
              <a:t>10%</a:t>
            </a:r>
          </a:p>
        </p:txBody>
      </p:sp>
      <p:sp>
        <p:nvSpPr>
          <p:cNvPr id="17" name="Oval 16">
            <a:extLst>
              <a:ext uri="{FF2B5EF4-FFF2-40B4-BE49-F238E27FC236}">
                <a16:creationId xmlns:a16="http://schemas.microsoft.com/office/drawing/2014/main" id="{3F2C8DB9-E83B-80F9-1A57-149E9DE18F58}"/>
              </a:ext>
            </a:extLst>
          </p:cNvPr>
          <p:cNvSpPr/>
          <p:nvPr/>
        </p:nvSpPr>
        <p:spPr>
          <a:xfrm>
            <a:off x="6949651" y="4740324"/>
            <a:ext cx="649288" cy="306910"/>
          </a:xfrm>
          <a:prstGeom prst="ellipse">
            <a:avLst/>
          </a:prstGeom>
          <a:solidFill>
            <a:srgbClr val="EBC5D0"/>
          </a:solidFill>
          <a:ln w="9525" cap="rnd" cmpd="sng" algn="ctr">
            <a:noFill/>
            <a:prstDash val="sysDot"/>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90000"/>
              </a:lnSpc>
            </a:pPr>
            <a:r>
              <a:rPr lang="en-US" altLang="zh-TW" sz="1400">
                <a:solidFill>
                  <a:srgbClr val="575757"/>
                </a:solidFill>
                <a:latin typeface="Microsoft YaHei" panose="020B0503020204020204" pitchFamily="34" charset="-122"/>
                <a:ea typeface="Microsoft YaHei" panose="020B0503020204020204" pitchFamily="34" charset="-122"/>
              </a:rPr>
              <a:t>3%</a:t>
            </a:r>
          </a:p>
        </p:txBody>
      </p:sp>
      <p:sp>
        <p:nvSpPr>
          <p:cNvPr id="19" name="Oval 18">
            <a:extLst>
              <a:ext uri="{FF2B5EF4-FFF2-40B4-BE49-F238E27FC236}">
                <a16:creationId xmlns:a16="http://schemas.microsoft.com/office/drawing/2014/main" id="{F8774ADF-3A48-3D72-BE6F-39799D01CE50}"/>
              </a:ext>
            </a:extLst>
          </p:cNvPr>
          <p:cNvSpPr/>
          <p:nvPr/>
        </p:nvSpPr>
        <p:spPr>
          <a:xfrm>
            <a:off x="6949651" y="5096165"/>
            <a:ext cx="649288" cy="306910"/>
          </a:xfrm>
          <a:prstGeom prst="ellipse">
            <a:avLst/>
          </a:prstGeom>
          <a:solidFill>
            <a:srgbClr val="EBC5D0"/>
          </a:solidFill>
          <a:ln w="9525" cap="rnd" cmpd="sng" algn="ctr">
            <a:noFill/>
            <a:prstDash val="sysDot"/>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90000"/>
              </a:lnSpc>
            </a:pPr>
            <a:r>
              <a:rPr lang="en-US" altLang="zh-TW" sz="1400">
                <a:solidFill>
                  <a:srgbClr val="575757"/>
                </a:solidFill>
                <a:latin typeface="Microsoft YaHei" panose="020B0503020204020204" pitchFamily="34" charset="-122"/>
                <a:ea typeface="Microsoft YaHei" panose="020B0503020204020204" pitchFamily="34" charset="-122"/>
              </a:rPr>
              <a:t>6%</a:t>
            </a:r>
          </a:p>
        </p:txBody>
      </p:sp>
      <p:sp>
        <p:nvSpPr>
          <p:cNvPr id="20" name="Oval 19">
            <a:extLst>
              <a:ext uri="{FF2B5EF4-FFF2-40B4-BE49-F238E27FC236}">
                <a16:creationId xmlns:a16="http://schemas.microsoft.com/office/drawing/2014/main" id="{3055D3E3-5F69-28E3-B891-09CF6855D3F8}"/>
              </a:ext>
            </a:extLst>
          </p:cNvPr>
          <p:cNvSpPr/>
          <p:nvPr/>
        </p:nvSpPr>
        <p:spPr>
          <a:xfrm>
            <a:off x="6949651" y="5452008"/>
            <a:ext cx="649288" cy="306910"/>
          </a:xfrm>
          <a:prstGeom prst="ellipse">
            <a:avLst/>
          </a:prstGeom>
          <a:solidFill>
            <a:srgbClr val="EBC5D0"/>
          </a:solidFill>
          <a:ln w="9525" cap="rnd" cmpd="sng" algn="ctr">
            <a:noFill/>
            <a:prstDash val="sysDot"/>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90000"/>
              </a:lnSpc>
            </a:pPr>
            <a:r>
              <a:rPr lang="en-US" altLang="zh-TW" sz="1400">
                <a:solidFill>
                  <a:srgbClr val="575757"/>
                </a:solidFill>
                <a:latin typeface="Microsoft YaHei" panose="020B0503020204020204" pitchFamily="34" charset="-122"/>
                <a:ea typeface="Microsoft YaHei" panose="020B0503020204020204" pitchFamily="34" charset="-122"/>
              </a:rPr>
              <a:t>9%</a:t>
            </a:r>
          </a:p>
        </p:txBody>
      </p:sp>
      <p:sp>
        <p:nvSpPr>
          <p:cNvPr id="21" name="Oval 20">
            <a:extLst>
              <a:ext uri="{FF2B5EF4-FFF2-40B4-BE49-F238E27FC236}">
                <a16:creationId xmlns:a16="http://schemas.microsoft.com/office/drawing/2014/main" id="{3387F408-2EAD-FD69-E18E-CE1645CE5255}"/>
              </a:ext>
            </a:extLst>
          </p:cNvPr>
          <p:cNvSpPr/>
          <p:nvPr/>
        </p:nvSpPr>
        <p:spPr>
          <a:xfrm>
            <a:off x="6949651" y="5853113"/>
            <a:ext cx="649288" cy="306910"/>
          </a:xfrm>
          <a:prstGeom prst="ellipse">
            <a:avLst/>
          </a:prstGeom>
          <a:solidFill>
            <a:srgbClr val="EBC5D0"/>
          </a:solidFill>
          <a:ln w="9525" cap="rnd" cmpd="sng" algn="ctr">
            <a:noFill/>
            <a:prstDash val="sysDot"/>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90000"/>
              </a:lnSpc>
            </a:pPr>
            <a:r>
              <a:rPr lang="en-US" altLang="zh-TW" sz="1400">
                <a:solidFill>
                  <a:srgbClr val="575757"/>
                </a:solidFill>
                <a:latin typeface="Microsoft YaHei" panose="020B0503020204020204" pitchFamily="34" charset="-122"/>
                <a:ea typeface="Microsoft YaHei" panose="020B0503020204020204" pitchFamily="34" charset="-122"/>
              </a:rPr>
              <a:t>8%</a:t>
            </a:r>
          </a:p>
        </p:txBody>
      </p:sp>
    </p:spTree>
    <p:extLst>
      <p:ext uri="{BB962C8B-B14F-4D97-AF65-F5344CB8AC3E}">
        <p14:creationId xmlns:p14="http://schemas.microsoft.com/office/powerpoint/2010/main" val="30087948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56" name="think-cell data - do not delete" hidden="1">
            <a:extLst>
              <a:ext uri="{FF2B5EF4-FFF2-40B4-BE49-F238E27FC236}">
                <a16:creationId xmlns:a16="http://schemas.microsoft.com/office/drawing/2014/main" id="{40EBCEAF-217E-C9C7-9CB0-143A779BCDEA}"/>
              </a:ext>
            </a:extLst>
          </p:cNvPr>
          <p:cNvGraphicFramePr>
            <a:graphicFrameLocks noChangeAspect="1"/>
          </p:cNvGraphicFramePr>
          <p:nvPr>
            <p:custDataLst>
              <p:tags r:id="rId1"/>
            </p:custDataLst>
            <p:extLst>
              <p:ext uri="{D42A27DB-BD31-4B8C-83A1-F6EECF244321}">
                <p14:modId xmlns:p14="http://schemas.microsoft.com/office/powerpoint/2010/main" val="424355781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4" imgW="404" imgH="405" progId="TCLayout.ActiveDocument.1">
                  <p:embed/>
                </p:oleObj>
              </mc:Choice>
              <mc:Fallback>
                <p:oleObj name="think-cell Slide" r:id="rId14" imgW="404" imgH="405" progId="TCLayout.ActiveDocument.1">
                  <p:embed/>
                  <p:pic>
                    <p:nvPicPr>
                      <p:cNvPr id="1056" name="think-cell data - do not delete" hidden="1">
                        <a:extLst>
                          <a:ext uri="{FF2B5EF4-FFF2-40B4-BE49-F238E27FC236}">
                            <a16:creationId xmlns:a16="http://schemas.microsoft.com/office/drawing/2014/main" id="{40EBCEAF-217E-C9C7-9CB0-143A779BCDEA}"/>
                          </a:ext>
                        </a:extLst>
                      </p:cNvPr>
                      <p:cNvPicPr/>
                      <p:nvPr/>
                    </p:nvPicPr>
                    <p:blipFill>
                      <a:blip r:embed="rId15"/>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990698E8-30ED-EE96-F80F-3CC36E007927}"/>
              </a:ext>
            </a:extLst>
          </p:cNvPr>
          <p:cNvSpPr>
            <a:spLocks noGrp="1"/>
          </p:cNvSpPr>
          <p:nvPr>
            <p:ph type="title"/>
          </p:nvPr>
        </p:nvSpPr>
        <p:spPr>
          <a:xfrm>
            <a:off x="630000" y="622800"/>
            <a:ext cx="10933350" cy="664797"/>
          </a:xfrm>
        </p:spPr>
        <p:txBody>
          <a:bodyPr vert="horz"/>
          <a:lstStyle/>
          <a:p>
            <a:r>
              <a:rPr lang="zh-TW" altLang="en-US">
                <a:solidFill>
                  <a:srgbClr val="A8B21C"/>
                </a:solidFill>
                <a:latin typeface="Microsoft YaHei" panose="020B0503020204020204" pitchFamily="34" charset="-122"/>
                <a:ea typeface="Microsoft YaHei" panose="020B0503020204020204" pitchFamily="34" charset="-122"/>
              </a:rPr>
              <a:t>行業案例</a:t>
            </a:r>
            <a:r>
              <a:rPr lang="en-US" altLang="zh-TW">
                <a:solidFill>
                  <a:srgbClr val="A8B21C"/>
                </a:solidFill>
                <a:latin typeface="Microsoft YaHei" panose="020B0503020204020204" pitchFamily="34" charset="-122"/>
                <a:ea typeface="Microsoft YaHei" panose="020B0503020204020204" pitchFamily="34" charset="-122"/>
              </a:rPr>
              <a:t>|</a:t>
            </a:r>
            <a:r>
              <a:rPr lang="zh-TW" altLang="en-US">
                <a:solidFill>
                  <a:srgbClr val="A8B21C"/>
                </a:solidFill>
                <a:latin typeface="Microsoft YaHei" panose="020B0503020204020204" pitchFamily="34" charset="-122"/>
                <a:ea typeface="Microsoft YaHei" panose="020B0503020204020204" pitchFamily="34" charset="-122"/>
              </a:rPr>
              <a:t> </a:t>
            </a:r>
            <a:r>
              <a:rPr lang="zh-TW" altLang="en-US">
                <a:latin typeface="Microsoft YaHei" panose="020B0503020204020204" pitchFamily="34" charset="-122"/>
                <a:ea typeface="Microsoft YaHei" panose="020B0503020204020204" pitchFamily="34" charset="-122"/>
              </a:rPr>
              <a:t>台新帳戶在線上線下管道與新戶維持良好的互動與熱度；新戶申請後鼓勵客戶下載並啟用</a:t>
            </a:r>
            <a:r>
              <a:rPr lang="en-US" altLang="zh-TW">
                <a:latin typeface="Microsoft YaHei" panose="020B0503020204020204" pitchFamily="34" charset="-122"/>
                <a:ea typeface="Microsoft YaHei" panose="020B0503020204020204" pitchFamily="34" charset="-122"/>
              </a:rPr>
              <a:t>APP</a:t>
            </a:r>
            <a:r>
              <a:rPr lang="zh-TW" altLang="en-US">
                <a:latin typeface="Microsoft YaHei" panose="020B0503020204020204" pitchFamily="34" charset="-122"/>
                <a:ea typeface="Microsoft YaHei" panose="020B0503020204020204" pitchFamily="34" charset="-122"/>
              </a:rPr>
              <a:t>，等待金融卡寄發期間也積極提醒各項優惠及服務</a:t>
            </a:r>
            <a:endParaRPr lang="en-US">
              <a:latin typeface="Microsoft YaHei" panose="020B0503020204020204" pitchFamily="34" charset="-122"/>
              <a:ea typeface="Microsoft YaHei" panose="020B0503020204020204" pitchFamily="34" charset="-122"/>
            </a:endParaRPr>
          </a:p>
        </p:txBody>
      </p:sp>
      <p:pic>
        <p:nvPicPr>
          <p:cNvPr id="1026" name="Picture 2" descr="Richart 好利HIGH 外匯解鎖不卡關">
            <a:extLst>
              <a:ext uri="{FF2B5EF4-FFF2-40B4-BE49-F238E27FC236}">
                <a16:creationId xmlns:a16="http://schemas.microsoft.com/office/drawing/2014/main" id="{B333031F-E58F-F572-3536-23C16316736A}"/>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0635515" y="121730"/>
            <a:ext cx="1332819" cy="342090"/>
          </a:xfrm>
          <a:prstGeom prst="rect">
            <a:avLst/>
          </a:prstGeom>
          <a:noFill/>
          <a:extLst>
            <a:ext uri="{909E8E84-426E-40DD-AFC4-6F175D3DCCD1}">
              <a14:hiddenFill xmlns:a14="http://schemas.microsoft.com/office/drawing/2010/main">
                <a:solidFill>
                  <a:srgbClr val="FFFFFF"/>
                </a:solidFill>
              </a14:hiddenFill>
            </a:ext>
          </a:extLst>
        </p:spPr>
      </p:pic>
      <p:cxnSp>
        <p:nvCxnSpPr>
          <p:cNvPr id="6" name="Straight Arrow Connector 5">
            <a:extLst>
              <a:ext uri="{FF2B5EF4-FFF2-40B4-BE49-F238E27FC236}">
                <a16:creationId xmlns:a16="http://schemas.microsoft.com/office/drawing/2014/main" id="{71D6171E-CA66-516F-6DC5-63C9C4E9D8C4}"/>
              </a:ext>
            </a:extLst>
          </p:cNvPr>
          <p:cNvCxnSpPr>
            <a:cxnSpLocks/>
          </p:cNvCxnSpPr>
          <p:nvPr/>
        </p:nvCxnSpPr>
        <p:spPr>
          <a:xfrm>
            <a:off x="1219200" y="2147479"/>
            <a:ext cx="10307280" cy="0"/>
          </a:xfrm>
          <a:prstGeom prst="straightConnector1">
            <a:avLst/>
          </a:prstGeom>
          <a:ln w="19050" cap="rnd">
            <a:solidFill>
              <a:schemeClr val="tx1">
                <a:lumMod val="60000"/>
                <a:lumOff val="40000"/>
              </a:schemeClr>
            </a:solidFill>
            <a:prstDash val="sysDash"/>
            <a:round/>
            <a:tailEnd type="triangle"/>
          </a:ln>
        </p:spPr>
        <p:style>
          <a:lnRef idx="1">
            <a:schemeClr val="accent1"/>
          </a:lnRef>
          <a:fillRef idx="0">
            <a:schemeClr val="accent1"/>
          </a:fillRef>
          <a:effectRef idx="0">
            <a:schemeClr val="accent1"/>
          </a:effectRef>
          <a:fontRef idx="minor">
            <a:schemeClr val="tx1"/>
          </a:fontRef>
        </p:style>
      </p:cxnSp>
      <p:sp>
        <p:nvSpPr>
          <p:cNvPr id="7" name="Isosceles Triangle 6">
            <a:extLst>
              <a:ext uri="{FF2B5EF4-FFF2-40B4-BE49-F238E27FC236}">
                <a16:creationId xmlns:a16="http://schemas.microsoft.com/office/drawing/2014/main" id="{C2C5251C-F0E0-7A68-81F9-65DA13B8C875}"/>
              </a:ext>
            </a:extLst>
          </p:cNvPr>
          <p:cNvSpPr/>
          <p:nvPr/>
        </p:nvSpPr>
        <p:spPr>
          <a:xfrm>
            <a:off x="1375625" y="2062706"/>
            <a:ext cx="190499" cy="164223"/>
          </a:xfrm>
          <a:prstGeom prst="triangle">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a typeface="Microsoft YaHei" panose="020B0503020204020204" pitchFamily="34" charset="-122"/>
            </a:endParaRPr>
          </a:p>
        </p:txBody>
      </p:sp>
      <p:sp>
        <p:nvSpPr>
          <p:cNvPr id="8" name="TextBox 7">
            <a:extLst>
              <a:ext uri="{FF2B5EF4-FFF2-40B4-BE49-F238E27FC236}">
                <a16:creationId xmlns:a16="http://schemas.microsoft.com/office/drawing/2014/main" id="{1E82D8A4-ECF0-8D38-BCFA-2D41B5A2D0D2}"/>
              </a:ext>
            </a:extLst>
          </p:cNvPr>
          <p:cNvSpPr txBox="1"/>
          <p:nvPr/>
        </p:nvSpPr>
        <p:spPr>
          <a:xfrm>
            <a:off x="1097495" y="2347549"/>
            <a:ext cx="746760" cy="266694"/>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a:solidFill>
                  <a:srgbClr val="29BA74"/>
                </a:solidFill>
                <a:ea typeface="Microsoft YaHei" panose="020B0503020204020204" pitchFamily="34" charset="-122"/>
              </a:rPr>
              <a:t>Day 0</a:t>
            </a:r>
          </a:p>
        </p:txBody>
      </p:sp>
      <p:sp>
        <p:nvSpPr>
          <p:cNvPr id="9" name="TextBox 8">
            <a:extLst>
              <a:ext uri="{FF2B5EF4-FFF2-40B4-BE49-F238E27FC236}">
                <a16:creationId xmlns:a16="http://schemas.microsoft.com/office/drawing/2014/main" id="{EEF0A16F-3283-4D0F-6AF3-FBC85411C4E1}"/>
              </a:ext>
            </a:extLst>
          </p:cNvPr>
          <p:cNvSpPr txBox="1"/>
          <p:nvPr/>
        </p:nvSpPr>
        <p:spPr>
          <a:xfrm>
            <a:off x="528270" y="1621706"/>
            <a:ext cx="2816910" cy="266694"/>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600" b="1">
                <a:solidFill>
                  <a:srgbClr val="575757"/>
                </a:solidFill>
                <a:latin typeface="Microsoft YaHei" panose="020B0503020204020204" pitchFamily="34" charset="-122"/>
                <a:ea typeface="Microsoft YaHei" panose="020B0503020204020204" pitchFamily="34" charset="-122"/>
              </a:rPr>
              <a:t>台新</a:t>
            </a:r>
            <a:r>
              <a:rPr lang="en-US" altLang="zh-TW" sz="1600" b="1" err="1">
                <a:solidFill>
                  <a:srgbClr val="575757"/>
                </a:solidFill>
                <a:latin typeface="Microsoft YaHei" panose="020B0503020204020204" pitchFamily="34" charset="-122"/>
                <a:ea typeface="Microsoft YaHei" panose="020B0503020204020204" pitchFamily="34" charset="-122"/>
              </a:rPr>
              <a:t>Richart</a:t>
            </a:r>
            <a:r>
              <a:rPr lang="en-US" altLang="zh-TW" sz="1600" b="1">
                <a:solidFill>
                  <a:srgbClr val="575757"/>
                </a:solidFill>
                <a:latin typeface="Microsoft YaHei" panose="020B0503020204020204" pitchFamily="34" charset="-122"/>
                <a:ea typeface="Microsoft YaHei" panose="020B0503020204020204" pitchFamily="34" charset="-122"/>
              </a:rPr>
              <a:t> </a:t>
            </a:r>
            <a:r>
              <a:rPr lang="zh-TW" altLang="en-US" sz="1600" b="1">
                <a:solidFill>
                  <a:srgbClr val="575757"/>
                </a:solidFill>
                <a:latin typeface="Microsoft YaHei" panose="020B0503020204020204" pitchFamily="34" charset="-122"/>
                <a:ea typeface="Microsoft YaHei" panose="020B0503020204020204" pitchFamily="34" charset="-122"/>
              </a:rPr>
              <a:t>新戶啟動計畫</a:t>
            </a:r>
            <a:endParaRPr lang="en-US" sz="1600" b="1">
              <a:solidFill>
                <a:srgbClr val="575757"/>
              </a:solidFill>
              <a:latin typeface="Microsoft YaHei" panose="020B0503020204020204" pitchFamily="34" charset="-122"/>
              <a:ea typeface="Microsoft YaHei" panose="020B0503020204020204" pitchFamily="34" charset="-122"/>
            </a:endParaRPr>
          </a:p>
        </p:txBody>
      </p:sp>
      <p:grpSp>
        <p:nvGrpSpPr>
          <p:cNvPr id="1095" name="Group 1094">
            <a:extLst>
              <a:ext uri="{FF2B5EF4-FFF2-40B4-BE49-F238E27FC236}">
                <a16:creationId xmlns:a16="http://schemas.microsoft.com/office/drawing/2014/main" id="{86073B74-67F7-44D2-0A6F-1DA74C118C53}"/>
              </a:ext>
            </a:extLst>
          </p:cNvPr>
          <p:cNvGrpSpPr/>
          <p:nvPr/>
        </p:nvGrpSpPr>
        <p:grpSpPr>
          <a:xfrm>
            <a:off x="45641" y="2926397"/>
            <a:ext cx="610189" cy="1291039"/>
            <a:chOff x="45641" y="2926394"/>
            <a:chExt cx="610189" cy="1196191"/>
          </a:xfrm>
        </p:grpSpPr>
        <p:sp>
          <p:nvSpPr>
            <p:cNvPr id="10" name="TextBox 9">
              <a:extLst>
                <a:ext uri="{FF2B5EF4-FFF2-40B4-BE49-F238E27FC236}">
                  <a16:creationId xmlns:a16="http://schemas.microsoft.com/office/drawing/2014/main" id="{D107008A-40D3-73C2-4199-45AC2E249241}"/>
                </a:ext>
              </a:extLst>
            </p:cNvPr>
            <p:cNvSpPr txBox="1"/>
            <p:nvPr/>
          </p:nvSpPr>
          <p:spPr>
            <a:xfrm>
              <a:off x="45641" y="3218647"/>
              <a:ext cx="610189" cy="55323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400" b="1">
                  <a:solidFill>
                    <a:srgbClr val="03522D"/>
                  </a:solidFill>
                  <a:latin typeface="Microsoft YaHei" panose="020B0503020204020204" pitchFamily="34" charset="-122"/>
                  <a:ea typeface="Microsoft YaHei" panose="020B0503020204020204" pitchFamily="34" charset="-122"/>
                </a:rPr>
                <a:t>訊息</a:t>
              </a:r>
              <a:endParaRPr lang="en-US" sz="1400" b="1">
                <a:solidFill>
                  <a:srgbClr val="03522D"/>
                </a:solidFill>
                <a:latin typeface="Microsoft YaHei" panose="020B0503020204020204" pitchFamily="34" charset="-122"/>
                <a:ea typeface="Microsoft YaHei" panose="020B0503020204020204" pitchFamily="34" charset="-122"/>
              </a:endParaRPr>
            </a:p>
          </p:txBody>
        </p:sp>
        <p:cxnSp>
          <p:nvCxnSpPr>
            <p:cNvPr id="16" name="Straight Connector 15">
              <a:extLst>
                <a:ext uri="{FF2B5EF4-FFF2-40B4-BE49-F238E27FC236}">
                  <a16:creationId xmlns:a16="http://schemas.microsoft.com/office/drawing/2014/main" id="{56D7E327-EF28-37A6-7D9B-BAC670BB2962}"/>
                </a:ext>
              </a:extLst>
            </p:cNvPr>
            <p:cNvCxnSpPr>
              <a:cxnSpLocks/>
            </p:cNvCxnSpPr>
            <p:nvPr/>
          </p:nvCxnSpPr>
          <p:spPr>
            <a:xfrm>
              <a:off x="636455" y="2926394"/>
              <a:ext cx="0" cy="1196191"/>
            </a:xfrm>
            <a:prstGeom prst="line">
              <a:avLst/>
            </a:prstGeom>
            <a:ln w="9525" cap="rnd">
              <a:solidFill>
                <a:schemeClr val="accent1"/>
              </a:solidFill>
              <a:prstDash val="solid"/>
              <a:round/>
            </a:ln>
          </p:spPr>
          <p:style>
            <a:lnRef idx="1">
              <a:schemeClr val="accent1"/>
            </a:lnRef>
            <a:fillRef idx="0">
              <a:schemeClr val="accent1"/>
            </a:fillRef>
            <a:effectRef idx="0">
              <a:schemeClr val="accent1"/>
            </a:effectRef>
            <a:fontRef idx="minor">
              <a:schemeClr val="tx1"/>
            </a:fontRef>
          </p:style>
        </p:cxnSp>
      </p:grpSp>
      <p:grpSp>
        <p:nvGrpSpPr>
          <p:cNvPr id="1079" name="Group 1078">
            <a:extLst>
              <a:ext uri="{FF2B5EF4-FFF2-40B4-BE49-F238E27FC236}">
                <a16:creationId xmlns:a16="http://schemas.microsoft.com/office/drawing/2014/main" id="{198CB75B-D0BE-5A9F-5729-E67778897414}"/>
              </a:ext>
            </a:extLst>
          </p:cNvPr>
          <p:cNvGrpSpPr/>
          <p:nvPr/>
        </p:nvGrpSpPr>
        <p:grpSpPr>
          <a:xfrm>
            <a:off x="45641" y="4344142"/>
            <a:ext cx="610189" cy="985169"/>
            <a:chOff x="464526" y="4210503"/>
            <a:chExt cx="610189" cy="1242060"/>
          </a:xfrm>
        </p:grpSpPr>
        <p:sp>
          <p:nvSpPr>
            <p:cNvPr id="12" name="TextBox 11">
              <a:extLst>
                <a:ext uri="{FF2B5EF4-FFF2-40B4-BE49-F238E27FC236}">
                  <a16:creationId xmlns:a16="http://schemas.microsoft.com/office/drawing/2014/main" id="{E7C29747-10B8-4D3D-DE38-B2729804C4A1}"/>
                </a:ext>
              </a:extLst>
            </p:cNvPr>
            <p:cNvSpPr txBox="1"/>
            <p:nvPr/>
          </p:nvSpPr>
          <p:spPr>
            <a:xfrm>
              <a:off x="464526" y="4596113"/>
              <a:ext cx="610189" cy="55323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400" b="1">
                  <a:solidFill>
                    <a:srgbClr val="03522D"/>
                  </a:solidFill>
                  <a:latin typeface="Microsoft YaHei" panose="020B0503020204020204" pitchFamily="34" charset="-122"/>
                  <a:ea typeface="Microsoft YaHei" panose="020B0503020204020204" pitchFamily="34" charset="-122"/>
                </a:rPr>
                <a:t>目的</a:t>
              </a:r>
              <a:endParaRPr lang="en-US" altLang="zh-TW" sz="1400" b="1">
                <a:solidFill>
                  <a:srgbClr val="03522D"/>
                </a:solidFill>
                <a:latin typeface="Microsoft YaHei" panose="020B0503020204020204" pitchFamily="34" charset="-122"/>
                <a:ea typeface="Microsoft YaHei" panose="020B0503020204020204" pitchFamily="34" charset="-122"/>
              </a:endParaRPr>
            </a:p>
          </p:txBody>
        </p:sp>
        <p:cxnSp>
          <p:nvCxnSpPr>
            <p:cNvPr id="17" name="Straight Connector 16">
              <a:extLst>
                <a:ext uri="{FF2B5EF4-FFF2-40B4-BE49-F238E27FC236}">
                  <a16:creationId xmlns:a16="http://schemas.microsoft.com/office/drawing/2014/main" id="{EF874E80-2475-3B45-0A99-02933FED3F2B}"/>
                </a:ext>
              </a:extLst>
            </p:cNvPr>
            <p:cNvCxnSpPr>
              <a:cxnSpLocks/>
            </p:cNvCxnSpPr>
            <p:nvPr/>
          </p:nvCxnSpPr>
          <p:spPr>
            <a:xfrm>
              <a:off x="1055340" y="4210503"/>
              <a:ext cx="0" cy="1242060"/>
            </a:xfrm>
            <a:prstGeom prst="line">
              <a:avLst/>
            </a:prstGeom>
            <a:ln w="9525" cap="rnd">
              <a:solidFill>
                <a:schemeClr val="accent1"/>
              </a:solidFill>
              <a:prstDash val="solid"/>
              <a:round/>
            </a:ln>
          </p:spPr>
          <p:style>
            <a:lnRef idx="1">
              <a:schemeClr val="accent1"/>
            </a:lnRef>
            <a:fillRef idx="0">
              <a:schemeClr val="accent1"/>
            </a:fillRef>
            <a:effectRef idx="0">
              <a:schemeClr val="accent1"/>
            </a:effectRef>
            <a:fontRef idx="minor">
              <a:schemeClr val="tx1"/>
            </a:fontRef>
          </p:style>
        </p:cxnSp>
      </p:grpSp>
      <p:sp>
        <p:nvSpPr>
          <p:cNvPr id="20" name="TextBox 19">
            <a:extLst>
              <a:ext uri="{FF2B5EF4-FFF2-40B4-BE49-F238E27FC236}">
                <a16:creationId xmlns:a16="http://schemas.microsoft.com/office/drawing/2014/main" id="{F28EB3DA-5BCE-398B-6CDC-B7D2F19F9286}"/>
              </a:ext>
            </a:extLst>
          </p:cNvPr>
          <p:cNvSpPr txBox="1"/>
          <p:nvPr/>
        </p:nvSpPr>
        <p:spPr>
          <a:xfrm>
            <a:off x="710697" y="3036406"/>
            <a:ext cx="1590758" cy="1086179"/>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altLang="zh-TW" sz="1400">
                <a:solidFill>
                  <a:srgbClr val="575757"/>
                </a:solidFill>
                <a:latin typeface="Microsoft YaHei" panose="020B0503020204020204" pitchFamily="34" charset="-122"/>
                <a:ea typeface="Microsoft YaHei" panose="020B0503020204020204" pitchFamily="34" charset="-122"/>
              </a:rPr>
              <a:t>"</a:t>
            </a:r>
            <a:r>
              <a:rPr lang="zh-TW" altLang="en-US" sz="1400">
                <a:solidFill>
                  <a:srgbClr val="A8B21C"/>
                </a:solidFill>
                <a:latin typeface="Microsoft YaHei" panose="020B0503020204020204" pitchFamily="34" charset="-122"/>
                <a:ea typeface="Microsoft YaHei" panose="020B0503020204020204" pitchFamily="34" charset="-122"/>
              </a:rPr>
              <a:t>立即下載</a:t>
            </a:r>
            <a:r>
              <a:rPr lang="en-US" altLang="zh-TW" sz="1400">
                <a:solidFill>
                  <a:srgbClr val="A8B21C"/>
                </a:solidFill>
                <a:latin typeface="Microsoft YaHei" panose="020B0503020204020204" pitchFamily="34" charset="-122"/>
                <a:ea typeface="Microsoft YaHei" panose="020B0503020204020204" pitchFamily="34" charset="-122"/>
              </a:rPr>
              <a:t>APP</a:t>
            </a:r>
            <a:r>
              <a:rPr lang="zh-TW" altLang="en-US" sz="1400">
                <a:solidFill>
                  <a:srgbClr val="A8B21C"/>
                </a:solidFill>
                <a:latin typeface="Microsoft YaHei" panose="020B0503020204020204" pitchFamily="34" charset="-122"/>
                <a:ea typeface="Microsoft YaHei" panose="020B0503020204020204" pitchFamily="34" charset="-122"/>
              </a:rPr>
              <a:t>追蹤開戶進度</a:t>
            </a:r>
            <a:r>
              <a:rPr lang="en-US" altLang="zh-TW" sz="1400">
                <a:solidFill>
                  <a:srgbClr val="575757"/>
                </a:solidFill>
                <a:latin typeface="Microsoft YaHei" panose="020B0503020204020204" pitchFamily="34" charset="-122"/>
                <a:ea typeface="Microsoft YaHei" panose="020B0503020204020204" pitchFamily="34" charset="-122"/>
              </a:rPr>
              <a:t>"</a:t>
            </a:r>
            <a:r>
              <a:rPr lang="zh-TW" altLang="en-US" sz="1400">
                <a:solidFill>
                  <a:srgbClr val="575757"/>
                </a:solidFill>
                <a:latin typeface="Microsoft YaHei" panose="020B0503020204020204" pitchFamily="34" charset="-122"/>
                <a:ea typeface="Microsoft YaHei" panose="020B0503020204020204" pitchFamily="34" charset="-122"/>
              </a:rPr>
              <a:t>，並提供下載</a:t>
            </a:r>
            <a:r>
              <a:rPr lang="en-US" altLang="zh-TW" sz="1400" err="1">
                <a:solidFill>
                  <a:srgbClr val="575757"/>
                </a:solidFill>
                <a:latin typeface="Microsoft YaHei" panose="020B0503020204020204" pitchFamily="34" charset="-122"/>
                <a:ea typeface="Microsoft YaHei" panose="020B0503020204020204" pitchFamily="34" charset="-122"/>
              </a:rPr>
              <a:t>QRcode</a:t>
            </a:r>
            <a:endParaRPr lang="en-US" sz="1400">
              <a:solidFill>
                <a:srgbClr val="575757"/>
              </a:solidFill>
              <a:latin typeface="Microsoft YaHei" panose="020B0503020204020204" pitchFamily="34" charset="-122"/>
              <a:ea typeface="Microsoft YaHei" panose="020B0503020204020204" pitchFamily="34" charset="-122"/>
            </a:endParaRPr>
          </a:p>
        </p:txBody>
      </p:sp>
      <p:sp>
        <p:nvSpPr>
          <p:cNvPr id="21" name="TextBox 20">
            <a:extLst>
              <a:ext uri="{FF2B5EF4-FFF2-40B4-BE49-F238E27FC236}">
                <a16:creationId xmlns:a16="http://schemas.microsoft.com/office/drawing/2014/main" id="{DE64E2FA-8AB6-ED51-6D3F-7ED19C1165DC}"/>
              </a:ext>
            </a:extLst>
          </p:cNvPr>
          <p:cNvSpPr txBox="1"/>
          <p:nvPr/>
        </p:nvSpPr>
        <p:spPr>
          <a:xfrm>
            <a:off x="710697" y="4344141"/>
            <a:ext cx="1590758" cy="1086179"/>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altLang="zh-TW" sz="1400" b="1">
                <a:solidFill>
                  <a:srgbClr val="29BA74"/>
                </a:solidFill>
                <a:latin typeface="Microsoft YaHei" panose="020B0503020204020204" pitchFamily="34" charset="-122"/>
                <a:ea typeface="Microsoft YaHei" panose="020B0503020204020204" pitchFamily="34" charset="-122"/>
              </a:rPr>
              <a:t>[</a:t>
            </a:r>
            <a:r>
              <a:rPr lang="zh-TW" altLang="en-US" sz="1400" b="1">
                <a:solidFill>
                  <a:srgbClr val="29BA74"/>
                </a:solidFill>
                <a:latin typeface="Microsoft YaHei" panose="020B0503020204020204" pitchFamily="34" charset="-122"/>
                <a:ea typeface="Microsoft YaHei" panose="020B0503020204020204" pitchFamily="34" charset="-122"/>
              </a:rPr>
              <a:t>下載</a:t>
            </a:r>
            <a:r>
              <a:rPr lang="en-US" altLang="zh-TW" sz="1400" b="1">
                <a:solidFill>
                  <a:srgbClr val="29BA74"/>
                </a:solidFill>
                <a:latin typeface="Microsoft YaHei" panose="020B0503020204020204" pitchFamily="34" charset="-122"/>
                <a:ea typeface="Microsoft YaHei" panose="020B0503020204020204" pitchFamily="34" charset="-122"/>
              </a:rPr>
              <a:t>APP]</a:t>
            </a:r>
          </a:p>
          <a:p>
            <a:r>
              <a:rPr lang="zh-TW" altLang="en-US" sz="1400">
                <a:solidFill>
                  <a:srgbClr val="575757"/>
                </a:solidFill>
                <a:latin typeface="Microsoft YaHei" panose="020B0503020204020204" pitchFamily="34" charset="-122"/>
                <a:ea typeface="Microsoft YaHei" panose="020B0503020204020204" pitchFamily="34" charset="-122"/>
              </a:rPr>
              <a:t>在客戶未成功開戶前就當下鼓勵下載並開啟</a:t>
            </a:r>
            <a:r>
              <a:rPr lang="en-US" altLang="zh-TW" sz="1400">
                <a:solidFill>
                  <a:srgbClr val="575757"/>
                </a:solidFill>
                <a:latin typeface="Microsoft YaHei" panose="020B0503020204020204" pitchFamily="34" charset="-122"/>
                <a:ea typeface="Microsoft YaHei" panose="020B0503020204020204" pitchFamily="34" charset="-122"/>
              </a:rPr>
              <a:t>APP</a:t>
            </a:r>
            <a:r>
              <a:rPr lang="zh-TW" altLang="en-US" sz="1400">
                <a:solidFill>
                  <a:srgbClr val="575757"/>
                </a:solidFill>
                <a:latin typeface="Microsoft YaHei" panose="020B0503020204020204" pitchFamily="34" charset="-122"/>
                <a:ea typeface="Microsoft YaHei" panose="020B0503020204020204" pitchFamily="34" charset="-122"/>
              </a:rPr>
              <a:t>追蹤開戶進度</a:t>
            </a:r>
            <a:endParaRPr lang="en-US" sz="1400">
              <a:solidFill>
                <a:srgbClr val="575757"/>
              </a:solidFill>
              <a:latin typeface="Microsoft YaHei" panose="020B0503020204020204" pitchFamily="34" charset="-122"/>
              <a:ea typeface="Microsoft YaHei" panose="020B0503020204020204" pitchFamily="34" charset="-122"/>
            </a:endParaRPr>
          </a:p>
        </p:txBody>
      </p:sp>
      <p:sp>
        <p:nvSpPr>
          <p:cNvPr id="22" name="Isosceles Triangle 21">
            <a:extLst>
              <a:ext uri="{FF2B5EF4-FFF2-40B4-BE49-F238E27FC236}">
                <a16:creationId xmlns:a16="http://schemas.microsoft.com/office/drawing/2014/main" id="{9796AAAB-AA07-FE31-3B3D-20525BC144E4}"/>
              </a:ext>
            </a:extLst>
          </p:cNvPr>
          <p:cNvSpPr/>
          <p:nvPr/>
        </p:nvSpPr>
        <p:spPr>
          <a:xfrm>
            <a:off x="2831045" y="2062706"/>
            <a:ext cx="190499" cy="164223"/>
          </a:xfrm>
          <a:prstGeom prst="triangle">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a typeface="Microsoft YaHei" panose="020B0503020204020204" pitchFamily="34" charset="-122"/>
            </a:endParaRPr>
          </a:p>
        </p:txBody>
      </p:sp>
      <p:sp>
        <p:nvSpPr>
          <p:cNvPr id="23" name="TextBox 22">
            <a:extLst>
              <a:ext uri="{FF2B5EF4-FFF2-40B4-BE49-F238E27FC236}">
                <a16:creationId xmlns:a16="http://schemas.microsoft.com/office/drawing/2014/main" id="{2053556A-78C2-6370-7FDB-938A3C464E12}"/>
              </a:ext>
            </a:extLst>
          </p:cNvPr>
          <p:cNvSpPr txBox="1"/>
          <p:nvPr/>
        </p:nvSpPr>
        <p:spPr>
          <a:xfrm>
            <a:off x="2737078" y="2374917"/>
            <a:ext cx="746760" cy="266694"/>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a:solidFill>
                  <a:srgbClr val="29BA74"/>
                </a:solidFill>
                <a:ea typeface="Microsoft YaHei" panose="020B0503020204020204" pitchFamily="34" charset="-122"/>
              </a:rPr>
              <a:t>Day 1</a:t>
            </a:r>
          </a:p>
        </p:txBody>
      </p:sp>
      <p:sp>
        <p:nvSpPr>
          <p:cNvPr id="24" name="TextBox 23">
            <a:extLst>
              <a:ext uri="{FF2B5EF4-FFF2-40B4-BE49-F238E27FC236}">
                <a16:creationId xmlns:a16="http://schemas.microsoft.com/office/drawing/2014/main" id="{984C8728-3855-FD2C-48AB-24982364E2F1}"/>
              </a:ext>
            </a:extLst>
          </p:cNvPr>
          <p:cNvSpPr txBox="1"/>
          <p:nvPr/>
        </p:nvSpPr>
        <p:spPr>
          <a:xfrm>
            <a:off x="1736595" y="2108187"/>
            <a:ext cx="923979" cy="266694"/>
          </a:xfrm>
          <a:prstGeom prst="rect">
            <a:avLst/>
          </a:prstGeom>
          <a:solidFill>
            <a:srgbClr val="FFFFFF"/>
          </a:solid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a:solidFill>
                  <a:srgbClr val="575757"/>
                </a:solidFill>
                <a:ea typeface="Microsoft YaHei" panose="020B0503020204020204" pitchFamily="34" charset="-122"/>
              </a:rPr>
              <a:t>6</a:t>
            </a:r>
            <a:r>
              <a:rPr lang="zh-TW" altLang="en-US" sz="1400">
                <a:solidFill>
                  <a:srgbClr val="575757"/>
                </a:solidFill>
                <a:ea typeface="Microsoft YaHei" panose="020B0503020204020204" pitchFamily="34" charset="-122"/>
              </a:rPr>
              <a:t>小時審核完成</a:t>
            </a:r>
            <a:endParaRPr lang="en-US" sz="1400">
              <a:solidFill>
                <a:srgbClr val="575757"/>
              </a:solidFill>
              <a:ea typeface="Microsoft YaHei" panose="020B0503020204020204" pitchFamily="34" charset="-122"/>
            </a:endParaRPr>
          </a:p>
        </p:txBody>
      </p:sp>
      <p:sp>
        <p:nvSpPr>
          <p:cNvPr id="25" name="TextBox 24">
            <a:extLst>
              <a:ext uri="{FF2B5EF4-FFF2-40B4-BE49-F238E27FC236}">
                <a16:creationId xmlns:a16="http://schemas.microsoft.com/office/drawing/2014/main" id="{573AB25D-3506-37FE-7A09-42459526165D}"/>
              </a:ext>
            </a:extLst>
          </p:cNvPr>
          <p:cNvSpPr txBox="1"/>
          <p:nvPr/>
        </p:nvSpPr>
        <p:spPr>
          <a:xfrm>
            <a:off x="2375696" y="3036406"/>
            <a:ext cx="1694205" cy="100423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altLang="zh-TW" sz="1400">
                <a:solidFill>
                  <a:srgbClr val="575757"/>
                </a:solidFill>
                <a:latin typeface="Microsoft YaHei" panose="020B0503020204020204" pitchFamily="34" charset="-122"/>
                <a:ea typeface="Microsoft YaHei" panose="020B0503020204020204" pitchFamily="34" charset="-122"/>
              </a:rPr>
              <a:t>"</a:t>
            </a:r>
            <a:r>
              <a:rPr lang="zh-TW" altLang="en-US" sz="1400">
                <a:solidFill>
                  <a:srgbClr val="575757"/>
                </a:solidFill>
                <a:latin typeface="Microsoft YaHei" panose="020B0503020204020204" pitchFamily="34" charset="-122"/>
                <a:ea typeface="Microsoft YaHei" panose="020B0503020204020204" pitchFamily="34" charset="-122"/>
              </a:rPr>
              <a:t>數位帳戶啟用，可以進</a:t>
            </a:r>
            <a:r>
              <a:rPr lang="en-US" altLang="zh-TW" sz="1400">
                <a:solidFill>
                  <a:srgbClr val="575757"/>
                </a:solidFill>
                <a:latin typeface="Microsoft YaHei" panose="020B0503020204020204" pitchFamily="34" charset="-122"/>
                <a:ea typeface="Microsoft YaHei" panose="020B0503020204020204" pitchFamily="34" charset="-122"/>
              </a:rPr>
              <a:t>APP</a:t>
            </a:r>
            <a:r>
              <a:rPr lang="zh-TW" altLang="en-US" sz="1400">
                <a:solidFill>
                  <a:srgbClr val="575757"/>
                </a:solidFill>
                <a:latin typeface="Microsoft YaHei" panose="020B0503020204020204" pitchFamily="34" charset="-122"/>
                <a:ea typeface="Microsoft YaHei" panose="020B0503020204020204" pitchFamily="34" charset="-122"/>
              </a:rPr>
              <a:t>使用各種功能，</a:t>
            </a:r>
            <a:r>
              <a:rPr lang="zh-TW" altLang="en-US" sz="1400">
                <a:solidFill>
                  <a:srgbClr val="A8B21C"/>
                </a:solidFill>
                <a:latin typeface="Microsoft YaHei" panose="020B0503020204020204" pitchFamily="34" charset="-122"/>
                <a:ea typeface="Microsoft YaHei" panose="020B0503020204020204" pitchFamily="34" charset="-122"/>
              </a:rPr>
              <a:t>完成任務享優惠活儲利率</a:t>
            </a:r>
            <a:r>
              <a:rPr lang="en-US" altLang="zh-TW" sz="1400">
                <a:solidFill>
                  <a:srgbClr val="575757"/>
                </a:solidFill>
                <a:latin typeface="Microsoft YaHei" panose="020B0503020204020204" pitchFamily="34" charset="-122"/>
                <a:ea typeface="Microsoft YaHei" panose="020B0503020204020204" pitchFamily="34" charset="-122"/>
              </a:rPr>
              <a:t>"</a:t>
            </a:r>
            <a:endParaRPr lang="en-US" sz="1400">
              <a:solidFill>
                <a:srgbClr val="575757"/>
              </a:solidFill>
              <a:latin typeface="Microsoft YaHei" panose="020B0503020204020204" pitchFamily="34" charset="-122"/>
              <a:ea typeface="Microsoft YaHei" panose="020B0503020204020204" pitchFamily="34" charset="-122"/>
            </a:endParaRPr>
          </a:p>
        </p:txBody>
      </p:sp>
      <p:grpSp>
        <p:nvGrpSpPr>
          <p:cNvPr id="40" name="Group 39">
            <a:extLst>
              <a:ext uri="{FF2B5EF4-FFF2-40B4-BE49-F238E27FC236}">
                <a16:creationId xmlns:a16="http://schemas.microsoft.com/office/drawing/2014/main" id="{E0C28FE5-8CFF-311F-8899-CA811B755561}"/>
              </a:ext>
            </a:extLst>
          </p:cNvPr>
          <p:cNvGrpSpPr/>
          <p:nvPr/>
        </p:nvGrpSpPr>
        <p:grpSpPr>
          <a:xfrm>
            <a:off x="5902020" y="1900660"/>
            <a:ext cx="442744" cy="443154"/>
            <a:chOff x="5183421" y="2515576"/>
            <a:chExt cx="617160" cy="617732"/>
          </a:xfrm>
        </p:grpSpPr>
        <p:sp>
          <p:nvSpPr>
            <p:cNvPr id="39" name="Oval 38">
              <a:extLst>
                <a:ext uri="{FF2B5EF4-FFF2-40B4-BE49-F238E27FC236}">
                  <a16:creationId xmlns:a16="http://schemas.microsoft.com/office/drawing/2014/main" id="{31B6F798-783E-F2EB-0C51-7B8E1FC87BC4}"/>
                </a:ext>
              </a:extLst>
            </p:cNvPr>
            <p:cNvSpPr/>
            <p:nvPr>
              <p:custDataLst>
                <p:tags r:id="rId11"/>
              </p:custDataLst>
            </p:nvPr>
          </p:nvSpPr>
          <p:spPr>
            <a:xfrm>
              <a:off x="5183421" y="2515576"/>
              <a:ext cx="617160" cy="617732"/>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a:solidFill>
                  <a:schemeClr val="bg1">
                    <a:lumMod val="50000"/>
                  </a:schemeClr>
                </a:solidFill>
                <a:ea typeface="Microsoft YaHei" panose="020B0503020204020204" pitchFamily="34" charset="-122"/>
              </a:endParaRPr>
            </a:p>
          </p:txBody>
        </p:sp>
        <p:grpSp>
          <p:nvGrpSpPr>
            <p:cNvPr id="26" name="bcgIcons_Speaking ">
              <a:extLst>
                <a:ext uri="{FF2B5EF4-FFF2-40B4-BE49-F238E27FC236}">
                  <a16:creationId xmlns:a16="http://schemas.microsoft.com/office/drawing/2014/main" id="{6C07D1A3-7408-E432-D714-58BB6B64421E}"/>
                </a:ext>
              </a:extLst>
            </p:cNvPr>
            <p:cNvGrpSpPr>
              <a:grpSpLocks noChangeAspect="1"/>
            </p:cNvGrpSpPr>
            <p:nvPr/>
          </p:nvGrpSpPr>
          <p:grpSpPr>
            <a:xfrm>
              <a:off x="5273802" y="2606041"/>
              <a:ext cx="436398" cy="436802"/>
              <a:chOff x="5273801" y="2606040"/>
              <a:chExt cx="1644396" cy="1645920"/>
            </a:xfrm>
          </p:grpSpPr>
          <p:sp>
            <p:nvSpPr>
              <p:cNvPr id="27" name="AutoShape 18">
                <a:extLst>
                  <a:ext uri="{FF2B5EF4-FFF2-40B4-BE49-F238E27FC236}">
                    <a16:creationId xmlns:a16="http://schemas.microsoft.com/office/drawing/2014/main" id="{117E3DB7-9A11-CAFD-8B61-F93DF57C5693}"/>
                  </a:ext>
                </a:extLst>
              </p:cNvPr>
              <p:cNvSpPr>
                <a:spLocks noChangeAspect="1" noChangeArrowheads="1" noTextEdit="1"/>
              </p:cNvSpPr>
              <p:nvPr/>
            </p:nvSpPr>
            <p:spPr bwMode="auto">
              <a:xfrm>
                <a:off x="5273801" y="2606040"/>
                <a:ext cx="1644396" cy="1645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28" name="Group 27">
                <a:extLst>
                  <a:ext uri="{FF2B5EF4-FFF2-40B4-BE49-F238E27FC236}">
                    <a16:creationId xmlns:a16="http://schemas.microsoft.com/office/drawing/2014/main" id="{DD3A6CA6-23D7-1865-C935-323A9D9DB6F7}"/>
                  </a:ext>
                </a:extLst>
              </p:cNvPr>
              <p:cNvGrpSpPr/>
              <p:nvPr/>
            </p:nvGrpSpPr>
            <p:grpSpPr>
              <a:xfrm>
                <a:off x="5388863" y="2953131"/>
                <a:ext cx="1409319" cy="967359"/>
                <a:chOff x="5388863" y="2953131"/>
                <a:chExt cx="1409319" cy="967359"/>
              </a:xfrm>
            </p:grpSpPr>
            <p:sp>
              <p:nvSpPr>
                <p:cNvPr id="29" name="Freeform 20">
                  <a:extLst>
                    <a:ext uri="{FF2B5EF4-FFF2-40B4-BE49-F238E27FC236}">
                      <a16:creationId xmlns:a16="http://schemas.microsoft.com/office/drawing/2014/main" id="{9B049B4B-800F-986D-3709-DBCAD5451541}"/>
                    </a:ext>
                  </a:extLst>
                </p:cNvPr>
                <p:cNvSpPr>
                  <a:spLocks noEditPoints="1"/>
                </p:cNvSpPr>
                <p:nvPr/>
              </p:nvSpPr>
              <p:spPr bwMode="auto">
                <a:xfrm>
                  <a:off x="5388863" y="3167634"/>
                  <a:ext cx="737235" cy="752856"/>
                </a:xfrm>
                <a:custGeom>
                  <a:avLst/>
                  <a:gdLst>
                    <a:gd name="T0" fmla="*/ 989 w 1033"/>
                    <a:gd name="T1" fmla="*/ 0 h 1054"/>
                    <a:gd name="T2" fmla="*/ 44 w 1033"/>
                    <a:gd name="T3" fmla="*/ 0 h 1054"/>
                    <a:gd name="T4" fmla="*/ 0 w 1033"/>
                    <a:gd name="T5" fmla="*/ 44 h 1054"/>
                    <a:gd name="T6" fmla="*/ 0 w 1033"/>
                    <a:gd name="T7" fmla="*/ 725 h 1054"/>
                    <a:gd name="T8" fmla="*/ 44 w 1033"/>
                    <a:gd name="T9" fmla="*/ 769 h 1054"/>
                    <a:gd name="T10" fmla="*/ 299 w 1033"/>
                    <a:gd name="T11" fmla="*/ 769 h 1054"/>
                    <a:gd name="T12" fmla="*/ 299 w 1033"/>
                    <a:gd name="T13" fmla="*/ 1010 h 1054"/>
                    <a:gd name="T14" fmla="*/ 300 w 1033"/>
                    <a:gd name="T15" fmla="*/ 1017 h 1054"/>
                    <a:gd name="T16" fmla="*/ 337 w 1033"/>
                    <a:gd name="T17" fmla="*/ 1053 h 1054"/>
                    <a:gd name="T18" fmla="*/ 347 w 1033"/>
                    <a:gd name="T19" fmla="*/ 1054 h 1054"/>
                    <a:gd name="T20" fmla="*/ 401 w 1033"/>
                    <a:gd name="T21" fmla="*/ 1026 h 1054"/>
                    <a:gd name="T22" fmla="*/ 469 w 1033"/>
                    <a:gd name="T23" fmla="*/ 951 h 1054"/>
                    <a:gd name="T24" fmla="*/ 637 w 1033"/>
                    <a:gd name="T25" fmla="*/ 769 h 1054"/>
                    <a:gd name="T26" fmla="*/ 989 w 1033"/>
                    <a:gd name="T27" fmla="*/ 769 h 1054"/>
                    <a:gd name="T28" fmla="*/ 1033 w 1033"/>
                    <a:gd name="T29" fmla="*/ 725 h 1054"/>
                    <a:gd name="T30" fmla="*/ 1033 w 1033"/>
                    <a:gd name="T31" fmla="*/ 44 h 1054"/>
                    <a:gd name="T32" fmla="*/ 989 w 1033"/>
                    <a:gd name="T33" fmla="*/ 0 h 1054"/>
                    <a:gd name="T34" fmla="*/ 832 w 1033"/>
                    <a:gd name="T35" fmla="*/ 552 h 1054"/>
                    <a:gd name="T36" fmla="*/ 201 w 1033"/>
                    <a:gd name="T37" fmla="*/ 552 h 1054"/>
                    <a:gd name="T38" fmla="*/ 179 w 1033"/>
                    <a:gd name="T39" fmla="*/ 530 h 1054"/>
                    <a:gd name="T40" fmla="*/ 201 w 1033"/>
                    <a:gd name="T41" fmla="*/ 508 h 1054"/>
                    <a:gd name="T42" fmla="*/ 832 w 1033"/>
                    <a:gd name="T43" fmla="*/ 508 h 1054"/>
                    <a:gd name="T44" fmla="*/ 854 w 1033"/>
                    <a:gd name="T45" fmla="*/ 530 h 1054"/>
                    <a:gd name="T46" fmla="*/ 832 w 1033"/>
                    <a:gd name="T47" fmla="*/ 552 h 1054"/>
                    <a:gd name="T48" fmla="*/ 832 w 1033"/>
                    <a:gd name="T49" fmla="*/ 415 h 1054"/>
                    <a:gd name="T50" fmla="*/ 201 w 1033"/>
                    <a:gd name="T51" fmla="*/ 415 h 1054"/>
                    <a:gd name="T52" fmla="*/ 179 w 1033"/>
                    <a:gd name="T53" fmla="*/ 393 h 1054"/>
                    <a:gd name="T54" fmla="*/ 201 w 1033"/>
                    <a:gd name="T55" fmla="*/ 371 h 1054"/>
                    <a:gd name="T56" fmla="*/ 832 w 1033"/>
                    <a:gd name="T57" fmla="*/ 371 h 1054"/>
                    <a:gd name="T58" fmla="*/ 854 w 1033"/>
                    <a:gd name="T59" fmla="*/ 393 h 1054"/>
                    <a:gd name="T60" fmla="*/ 832 w 1033"/>
                    <a:gd name="T61" fmla="*/ 415 h 1054"/>
                    <a:gd name="T62" fmla="*/ 832 w 1033"/>
                    <a:gd name="T63" fmla="*/ 279 h 1054"/>
                    <a:gd name="T64" fmla="*/ 201 w 1033"/>
                    <a:gd name="T65" fmla="*/ 279 h 1054"/>
                    <a:gd name="T66" fmla="*/ 179 w 1033"/>
                    <a:gd name="T67" fmla="*/ 257 h 1054"/>
                    <a:gd name="T68" fmla="*/ 201 w 1033"/>
                    <a:gd name="T69" fmla="*/ 235 h 1054"/>
                    <a:gd name="T70" fmla="*/ 832 w 1033"/>
                    <a:gd name="T71" fmla="*/ 235 h 1054"/>
                    <a:gd name="T72" fmla="*/ 854 w 1033"/>
                    <a:gd name="T73" fmla="*/ 257 h 1054"/>
                    <a:gd name="T74" fmla="*/ 832 w 1033"/>
                    <a:gd name="T75" fmla="*/ 279 h 1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33" h="1054">
                      <a:moveTo>
                        <a:pt x="989" y="0"/>
                      </a:moveTo>
                      <a:cubicBezTo>
                        <a:pt x="44" y="0"/>
                        <a:pt x="44" y="0"/>
                        <a:pt x="44" y="0"/>
                      </a:cubicBezTo>
                      <a:cubicBezTo>
                        <a:pt x="20" y="0"/>
                        <a:pt x="0" y="20"/>
                        <a:pt x="0" y="44"/>
                      </a:cubicBezTo>
                      <a:cubicBezTo>
                        <a:pt x="0" y="725"/>
                        <a:pt x="0" y="725"/>
                        <a:pt x="0" y="725"/>
                      </a:cubicBezTo>
                      <a:cubicBezTo>
                        <a:pt x="0" y="750"/>
                        <a:pt x="20" y="769"/>
                        <a:pt x="44" y="769"/>
                      </a:cubicBezTo>
                      <a:cubicBezTo>
                        <a:pt x="299" y="769"/>
                        <a:pt x="299" y="769"/>
                        <a:pt x="299" y="769"/>
                      </a:cubicBezTo>
                      <a:cubicBezTo>
                        <a:pt x="299" y="1010"/>
                        <a:pt x="299" y="1010"/>
                        <a:pt x="299" y="1010"/>
                      </a:cubicBezTo>
                      <a:cubicBezTo>
                        <a:pt x="299" y="1012"/>
                        <a:pt x="299" y="1015"/>
                        <a:pt x="300" y="1017"/>
                      </a:cubicBezTo>
                      <a:cubicBezTo>
                        <a:pt x="301" y="1020"/>
                        <a:pt x="311" y="1047"/>
                        <a:pt x="337" y="1053"/>
                      </a:cubicBezTo>
                      <a:cubicBezTo>
                        <a:pt x="341" y="1054"/>
                        <a:pt x="344" y="1054"/>
                        <a:pt x="347" y="1054"/>
                      </a:cubicBezTo>
                      <a:cubicBezTo>
                        <a:pt x="365" y="1054"/>
                        <a:pt x="383" y="1045"/>
                        <a:pt x="401" y="1026"/>
                      </a:cubicBezTo>
                      <a:cubicBezTo>
                        <a:pt x="414" y="1013"/>
                        <a:pt x="438" y="986"/>
                        <a:pt x="469" y="951"/>
                      </a:cubicBezTo>
                      <a:cubicBezTo>
                        <a:pt x="516" y="899"/>
                        <a:pt x="579" y="829"/>
                        <a:pt x="637" y="769"/>
                      </a:cubicBezTo>
                      <a:cubicBezTo>
                        <a:pt x="989" y="769"/>
                        <a:pt x="989" y="769"/>
                        <a:pt x="989" y="769"/>
                      </a:cubicBezTo>
                      <a:cubicBezTo>
                        <a:pt x="1013" y="769"/>
                        <a:pt x="1033" y="750"/>
                        <a:pt x="1033" y="725"/>
                      </a:cubicBezTo>
                      <a:cubicBezTo>
                        <a:pt x="1033" y="44"/>
                        <a:pt x="1033" y="44"/>
                        <a:pt x="1033" y="44"/>
                      </a:cubicBezTo>
                      <a:cubicBezTo>
                        <a:pt x="1033" y="20"/>
                        <a:pt x="1013" y="0"/>
                        <a:pt x="989" y="0"/>
                      </a:cubicBezTo>
                      <a:close/>
                      <a:moveTo>
                        <a:pt x="832" y="552"/>
                      </a:moveTo>
                      <a:cubicBezTo>
                        <a:pt x="201" y="552"/>
                        <a:pt x="201" y="552"/>
                        <a:pt x="201" y="552"/>
                      </a:cubicBezTo>
                      <a:cubicBezTo>
                        <a:pt x="189" y="552"/>
                        <a:pt x="179" y="543"/>
                        <a:pt x="179" y="530"/>
                      </a:cubicBezTo>
                      <a:cubicBezTo>
                        <a:pt x="179" y="518"/>
                        <a:pt x="189" y="508"/>
                        <a:pt x="201" y="508"/>
                      </a:cubicBezTo>
                      <a:cubicBezTo>
                        <a:pt x="832" y="508"/>
                        <a:pt x="832" y="508"/>
                        <a:pt x="832" y="508"/>
                      </a:cubicBezTo>
                      <a:cubicBezTo>
                        <a:pt x="844" y="508"/>
                        <a:pt x="854" y="518"/>
                        <a:pt x="854" y="530"/>
                      </a:cubicBezTo>
                      <a:cubicBezTo>
                        <a:pt x="854" y="543"/>
                        <a:pt x="844" y="552"/>
                        <a:pt x="832" y="552"/>
                      </a:cubicBezTo>
                      <a:close/>
                      <a:moveTo>
                        <a:pt x="832" y="415"/>
                      </a:moveTo>
                      <a:cubicBezTo>
                        <a:pt x="201" y="415"/>
                        <a:pt x="201" y="415"/>
                        <a:pt x="201" y="415"/>
                      </a:cubicBezTo>
                      <a:cubicBezTo>
                        <a:pt x="189" y="415"/>
                        <a:pt x="179" y="405"/>
                        <a:pt x="179" y="393"/>
                      </a:cubicBezTo>
                      <a:cubicBezTo>
                        <a:pt x="179" y="380"/>
                        <a:pt x="189" y="371"/>
                        <a:pt x="201" y="371"/>
                      </a:cubicBezTo>
                      <a:cubicBezTo>
                        <a:pt x="832" y="371"/>
                        <a:pt x="832" y="371"/>
                        <a:pt x="832" y="371"/>
                      </a:cubicBezTo>
                      <a:cubicBezTo>
                        <a:pt x="844" y="371"/>
                        <a:pt x="854" y="380"/>
                        <a:pt x="854" y="393"/>
                      </a:cubicBezTo>
                      <a:cubicBezTo>
                        <a:pt x="854" y="405"/>
                        <a:pt x="844" y="415"/>
                        <a:pt x="832" y="415"/>
                      </a:cubicBezTo>
                      <a:close/>
                      <a:moveTo>
                        <a:pt x="832" y="279"/>
                      </a:moveTo>
                      <a:cubicBezTo>
                        <a:pt x="201" y="279"/>
                        <a:pt x="201" y="279"/>
                        <a:pt x="201" y="279"/>
                      </a:cubicBezTo>
                      <a:cubicBezTo>
                        <a:pt x="189" y="279"/>
                        <a:pt x="179" y="269"/>
                        <a:pt x="179" y="257"/>
                      </a:cubicBezTo>
                      <a:cubicBezTo>
                        <a:pt x="179" y="245"/>
                        <a:pt x="189" y="235"/>
                        <a:pt x="201" y="235"/>
                      </a:cubicBezTo>
                      <a:cubicBezTo>
                        <a:pt x="832" y="235"/>
                        <a:pt x="832" y="235"/>
                        <a:pt x="832" y="235"/>
                      </a:cubicBezTo>
                      <a:cubicBezTo>
                        <a:pt x="844" y="235"/>
                        <a:pt x="854" y="245"/>
                        <a:pt x="854" y="257"/>
                      </a:cubicBezTo>
                      <a:cubicBezTo>
                        <a:pt x="854" y="269"/>
                        <a:pt x="844" y="279"/>
                        <a:pt x="832" y="279"/>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sp>
              <p:nvSpPr>
                <p:cNvPr id="30" name="Freeform 21">
                  <a:extLst>
                    <a:ext uri="{FF2B5EF4-FFF2-40B4-BE49-F238E27FC236}">
                      <a16:creationId xmlns:a16="http://schemas.microsoft.com/office/drawing/2014/main" id="{4F277763-C4B5-2A6F-BC2C-9389BA6ACD48}"/>
                    </a:ext>
                  </a:extLst>
                </p:cNvPr>
                <p:cNvSpPr>
                  <a:spLocks noEditPoints="1"/>
                </p:cNvSpPr>
                <p:nvPr/>
              </p:nvSpPr>
              <p:spPr bwMode="auto">
                <a:xfrm>
                  <a:off x="6060947" y="2953131"/>
                  <a:ext cx="737235" cy="752856"/>
                </a:xfrm>
                <a:custGeom>
                  <a:avLst/>
                  <a:gdLst>
                    <a:gd name="T0" fmla="*/ 1033 w 1033"/>
                    <a:gd name="T1" fmla="*/ 44 h 1054"/>
                    <a:gd name="T2" fmla="*/ 1033 w 1033"/>
                    <a:gd name="T3" fmla="*/ 725 h 1054"/>
                    <a:gd name="T4" fmla="*/ 989 w 1033"/>
                    <a:gd name="T5" fmla="*/ 769 h 1054"/>
                    <a:gd name="T6" fmla="*/ 734 w 1033"/>
                    <a:gd name="T7" fmla="*/ 769 h 1054"/>
                    <a:gd name="T8" fmla="*/ 734 w 1033"/>
                    <a:gd name="T9" fmla="*/ 1010 h 1054"/>
                    <a:gd name="T10" fmla="*/ 733 w 1033"/>
                    <a:gd name="T11" fmla="*/ 1017 h 1054"/>
                    <a:gd name="T12" fmla="*/ 696 w 1033"/>
                    <a:gd name="T13" fmla="*/ 1053 h 1054"/>
                    <a:gd name="T14" fmla="*/ 686 w 1033"/>
                    <a:gd name="T15" fmla="*/ 1054 h 1054"/>
                    <a:gd name="T16" fmla="*/ 632 w 1033"/>
                    <a:gd name="T17" fmla="*/ 1025 h 1054"/>
                    <a:gd name="T18" fmla="*/ 564 w 1033"/>
                    <a:gd name="T19" fmla="*/ 951 h 1054"/>
                    <a:gd name="T20" fmla="*/ 396 w 1033"/>
                    <a:gd name="T21" fmla="*/ 769 h 1054"/>
                    <a:gd name="T22" fmla="*/ 135 w 1033"/>
                    <a:gd name="T23" fmla="*/ 769 h 1054"/>
                    <a:gd name="T24" fmla="*/ 135 w 1033"/>
                    <a:gd name="T25" fmla="*/ 725 h 1054"/>
                    <a:gd name="T26" fmla="*/ 405 w 1033"/>
                    <a:gd name="T27" fmla="*/ 725 h 1054"/>
                    <a:gd name="T28" fmla="*/ 421 w 1033"/>
                    <a:gd name="T29" fmla="*/ 732 h 1054"/>
                    <a:gd name="T30" fmla="*/ 597 w 1033"/>
                    <a:gd name="T31" fmla="*/ 922 h 1054"/>
                    <a:gd name="T32" fmla="*/ 663 w 1033"/>
                    <a:gd name="T33" fmla="*/ 994 h 1054"/>
                    <a:gd name="T34" fmla="*/ 686 w 1033"/>
                    <a:gd name="T35" fmla="*/ 1010 h 1054"/>
                    <a:gd name="T36" fmla="*/ 690 w 1033"/>
                    <a:gd name="T37" fmla="*/ 1005 h 1054"/>
                    <a:gd name="T38" fmla="*/ 690 w 1033"/>
                    <a:gd name="T39" fmla="*/ 747 h 1054"/>
                    <a:gd name="T40" fmla="*/ 712 w 1033"/>
                    <a:gd name="T41" fmla="*/ 725 h 1054"/>
                    <a:gd name="T42" fmla="*/ 989 w 1033"/>
                    <a:gd name="T43" fmla="*/ 725 h 1054"/>
                    <a:gd name="T44" fmla="*/ 989 w 1033"/>
                    <a:gd name="T45" fmla="*/ 44 h 1054"/>
                    <a:gd name="T46" fmla="*/ 44 w 1033"/>
                    <a:gd name="T47" fmla="*/ 44 h 1054"/>
                    <a:gd name="T48" fmla="*/ 44 w 1033"/>
                    <a:gd name="T49" fmla="*/ 256 h 1054"/>
                    <a:gd name="T50" fmla="*/ 0 w 1033"/>
                    <a:gd name="T51" fmla="*/ 256 h 1054"/>
                    <a:gd name="T52" fmla="*/ 0 w 1033"/>
                    <a:gd name="T53" fmla="*/ 44 h 1054"/>
                    <a:gd name="T54" fmla="*/ 44 w 1033"/>
                    <a:gd name="T55" fmla="*/ 0 h 1054"/>
                    <a:gd name="T56" fmla="*/ 989 w 1033"/>
                    <a:gd name="T57" fmla="*/ 0 h 1054"/>
                    <a:gd name="T58" fmla="*/ 1033 w 1033"/>
                    <a:gd name="T59" fmla="*/ 44 h 1054"/>
                    <a:gd name="T60" fmla="*/ 835 w 1033"/>
                    <a:gd name="T61" fmla="*/ 247 h 1054"/>
                    <a:gd name="T62" fmla="*/ 813 w 1033"/>
                    <a:gd name="T63" fmla="*/ 225 h 1054"/>
                    <a:gd name="T64" fmla="*/ 220 w 1033"/>
                    <a:gd name="T65" fmla="*/ 225 h 1054"/>
                    <a:gd name="T66" fmla="*/ 198 w 1033"/>
                    <a:gd name="T67" fmla="*/ 247 h 1054"/>
                    <a:gd name="T68" fmla="*/ 220 w 1033"/>
                    <a:gd name="T69" fmla="*/ 269 h 1054"/>
                    <a:gd name="T70" fmla="*/ 813 w 1033"/>
                    <a:gd name="T71" fmla="*/ 269 h 1054"/>
                    <a:gd name="T72" fmla="*/ 835 w 1033"/>
                    <a:gd name="T73" fmla="*/ 247 h 1054"/>
                    <a:gd name="T74" fmla="*/ 835 w 1033"/>
                    <a:gd name="T75" fmla="*/ 383 h 1054"/>
                    <a:gd name="T76" fmla="*/ 813 w 1033"/>
                    <a:gd name="T77" fmla="*/ 361 h 1054"/>
                    <a:gd name="T78" fmla="*/ 220 w 1033"/>
                    <a:gd name="T79" fmla="*/ 361 h 1054"/>
                    <a:gd name="T80" fmla="*/ 198 w 1033"/>
                    <a:gd name="T81" fmla="*/ 383 h 1054"/>
                    <a:gd name="T82" fmla="*/ 220 w 1033"/>
                    <a:gd name="T83" fmla="*/ 405 h 1054"/>
                    <a:gd name="T84" fmla="*/ 813 w 1033"/>
                    <a:gd name="T85" fmla="*/ 405 h 1054"/>
                    <a:gd name="T86" fmla="*/ 835 w 1033"/>
                    <a:gd name="T87" fmla="*/ 383 h 1054"/>
                    <a:gd name="T88" fmla="*/ 835 w 1033"/>
                    <a:gd name="T89" fmla="*/ 521 h 1054"/>
                    <a:gd name="T90" fmla="*/ 813 w 1033"/>
                    <a:gd name="T91" fmla="*/ 499 h 1054"/>
                    <a:gd name="T92" fmla="*/ 220 w 1033"/>
                    <a:gd name="T93" fmla="*/ 499 h 1054"/>
                    <a:gd name="T94" fmla="*/ 198 w 1033"/>
                    <a:gd name="T95" fmla="*/ 521 h 1054"/>
                    <a:gd name="T96" fmla="*/ 220 w 1033"/>
                    <a:gd name="T97" fmla="*/ 543 h 1054"/>
                    <a:gd name="T98" fmla="*/ 813 w 1033"/>
                    <a:gd name="T99" fmla="*/ 543 h 1054"/>
                    <a:gd name="T100" fmla="*/ 835 w 1033"/>
                    <a:gd name="T101" fmla="*/ 521 h 1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33" h="1054">
                      <a:moveTo>
                        <a:pt x="1033" y="44"/>
                      </a:moveTo>
                      <a:cubicBezTo>
                        <a:pt x="1033" y="725"/>
                        <a:pt x="1033" y="725"/>
                        <a:pt x="1033" y="725"/>
                      </a:cubicBezTo>
                      <a:cubicBezTo>
                        <a:pt x="1033" y="750"/>
                        <a:pt x="1013" y="769"/>
                        <a:pt x="989" y="769"/>
                      </a:cubicBezTo>
                      <a:cubicBezTo>
                        <a:pt x="734" y="769"/>
                        <a:pt x="734" y="769"/>
                        <a:pt x="734" y="769"/>
                      </a:cubicBezTo>
                      <a:cubicBezTo>
                        <a:pt x="734" y="1010"/>
                        <a:pt x="734" y="1010"/>
                        <a:pt x="734" y="1010"/>
                      </a:cubicBezTo>
                      <a:cubicBezTo>
                        <a:pt x="734" y="1012"/>
                        <a:pt x="734" y="1015"/>
                        <a:pt x="733" y="1017"/>
                      </a:cubicBezTo>
                      <a:cubicBezTo>
                        <a:pt x="732" y="1020"/>
                        <a:pt x="722" y="1047"/>
                        <a:pt x="696" y="1053"/>
                      </a:cubicBezTo>
                      <a:cubicBezTo>
                        <a:pt x="693" y="1054"/>
                        <a:pt x="689" y="1054"/>
                        <a:pt x="686" y="1054"/>
                      </a:cubicBezTo>
                      <a:cubicBezTo>
                        <a:pt x="668" y="1054"/>
                        <a:pt x="650" y="1044"/>
                        <a:pt x="632" y="1025"/>
                      </a:cubicBezTo>
                      <a:cubicBezTo>
                        <a:pt x="619" y="1013"/>
                        <a:pt x="595" y="985"/>
                        <a:pt x="564" y="951"/>
                      </a:cubicBezTo>
                      <a:cubicBezTo>
                        <a:pt x="517" y="899"/>
                        <a:pt x="454" y="829"/>
                        <a:pt x="396" y="769"/>
                      </a:cubicBezTo>
                      <a:cubicBezTo>
                        <a:pt x="135" y="769"/>
                        <a:pt x="135" y="769"/>
                        <a:pt x="135" y="769"/>
                      </a:cubicBezTo>
                      <a:cubicBezTo>
                        <a:pt x="135" y="725"/>
                        <a:pt x="135" y="725"/>
                        <a:pt x="135" y="725"/>
                      </a:cubicBezTo>
                      <a:cubicBezTo>
                        <a:pt x="405" y="725"/>
                        <a:pt x="405" y="725"/>
                        <a:pt x="405" y="725"/>
                      </a:cubicBezTo>
                      <a:cubicBezTo>
                        <a:pt x="411" y="725"/>
                        <a:pt x="417" y="728"/>
                        <a:pt x="421" y="732"/>
                      </a:cubicBezTo>
                      <a:cubicBezTo>
                        <a:pt x="481" y="793"/>
                        <a:pt x="548" y="867"/>
                        <a:pt x="597" y="922"/>
                      </a:cubicBezTo>
                      <a:cubicBezTo>
                        <a:pt x="627" y="956"/>
                        <a:pt x="651" y="982"/>
                        <a:pt x="663" y="994"/>
                      </a:cubicBezTo>
                      <a:cubicBezTo>
                        <a:pt x="677" y="1008"/>
                        <a:pt x="684" y="1010"/>
                        <a:pt x="686" y="1010"/>
                      </a:cubicBezTo>
                      <a:cubicBezTo>
                        <a:pt x="687" y="1010"/>
                        <a:pt x="689" y="1008"/>
                        <a:pt x="690" y="1005"/>
                      </a:cubicBezTo>
                      <a:cubicBezTo>
                        <a:pt x="690" y="747"/>
                        <a:pt x="690" y="747"/>
                        <a:pt x="690" y="747"/>
                      </a:cubicBezTo>
                      <a:cubicBezTo>
                        <a:pt x="690" y="735"/>
                        <a:pt x="700" y="725"/>
                        <a:pt x="712" y="725"/>
                      </a:cubicBezTo>
                      <a:cubicBezTo>
                        <a:pt x="989" y="725"/>
                        <a:pt x="989" y="725"/>
                        <a:pt x="989" y="725"/>
                      </a:cubicBezTo>
                      <a:cubicBezTo>
                        <a:pt x="989" y="44"/>
                        <a:pt x="989" y="44"/>
                        <a:pt x="989" y="44"/>
                      </a:cubicBezTo>
                      <a:cubicBezTo>
                        <a:pt x="44" y="44"/>
                        <a:pt x="44" y="44"/>
                        <a:pt x="44" y="44"/>
                      </a:cubicBezTo>
                      <a:cubicBezTo>
                        <a:pt x="44" y="256"/>
                        <a:pt x="44" y="256"/>
                        <a:pt x="44" y="256"/>
                      </a:cubicBezTo>
                      <a:cubicBezTo>
                        <a:pt x="0" y="256"/>
                        <a:pt x="0" y="256"/>
                        <a:pt x="0" y="256"/>
                      </a:cubicBezTo>
                      <a:cubicBezTo>
                        <a:pt x="0" y="44"/>
                        <a:pt x="0" y="44"/>
                        <a:pt x="0" y="44"/>
                      </a:cubicBezTo>
                      <a:cubicBezTo>
                        <a:pt x="0" y="20"/>
                        <a:pt x="20" y="0"/>
                        <a:pt x="44" y="0"/>
                      </a:cubicBezTo>
                      <a:cubicBezTo>
                        <a:pt x="989" y="0"/>
                        <a:pt x="989" y="0"/>
                        <a:pt x="989" y="0"/>
                      </a:cubicBezTo>
                      <a:cubicBezTo>
                        <a:pt x="1013" y="0"/>
                        <a:pt x="1033" y="20"/>
                        <a:pt x="1033" y="44"/>
                      </a:cubicBezTo>
                      <a:close/>
                      <a:moveTo>
                        <a:pt x="835" y="247"/>
                      </a:moveTo>
                      <a:cubicBezTo>
                        <a:pt x="835" y="235"/>
                        <a:pt x="826" y="225"/>
                        <a:pt x="813" y="225"/>
                      </a:cubicBezTo>
                      <a:cubicBezTo>
                        <a:pt x="220" y="225"/>
                        <a:pt x="220" y="225"/>
                        <a:pt x="220" y="225"/>
                      </a:cubicBezTo>
                      <a:cubicBezTo>
                        <a:pt x="208" y="225"/>
                        <a:pt x="198" y="235"/>
                        <a:pt x="198" y="247"/>
                      </a:cubicBezTo>
                      <a:cubicBezTo>
                        <a:pt x="198" y="259"/>
                        <a:pt x="208" y="269"/>
                        <a:pt x="220" y="269"/>
                      </a:cubicBezTo>
                      <a:cubicBezTo>
                        <a:pt x="813" y="269"/>
                        <a:pt x="813" y="269"/>
                        <a:pt x="813" y="269"/>
                      </a:cubicBezTo>
                      <a:cubicBezTo>
                        <a:pt x="826" y="269"/>
                        <a:pt x="835" y="259"/>
                        <a:pt x="835" y="247"/>
                      </a:cubicBezTo>
                      <a:close/>
                      <a:moveTo>
                        <a:pt x="835" y="383"/>
                      </a:moveTo>
                      <a:cubicBezTo>
                        <a:pt x="835" y="371"/>
                        <a:pt x="826" y="361"/>
                        <a:pt x="813" y="361"/>
                      </a:cubicBezTo>
                      <a:cubicBezTo>
                        <a:pt x="220" y="361"/>
                        <a:pt x="220" y="361"/>
                        <a:pt x="220" y="361"/>
                      </a:cubicBezTo>
                      <a:cubicBezTo>
                        <a:pt x="208" y="361"/>
                        <a:pt x="198" y="371"/>
                        <a:pt x="198" y="383"/>
                      </a:cubicBezTo>
                      <a:cubicBezTo>
                        <a:pt x="198" y="395"/>
                        <a:pt x="208" y="405"/>
                        <a:pt x="220" y="405"/>
                      </a:cubicBezTo>
                      <a:cubicBezTo>
                        <a:pt x="813" y="405"/>
                        <a:pt x="813" y="405"/>
                        <a:pt x="813" y="405"/>
                      </a:cubicBezTo>
                      <a:cubicBezTo>
                        <a:pt x="826" y="405"/>
                        <a:pt x="835" y="395"/>
                        <a:pt x="835" y="383"/>
                      </a:cubicBezTo>
                      <a:close/>
                      <a:moveTo>
                        <a:pt x="835" y="521"/>
                      </a:moveTo>
                      <a:cubicBezTo>
                        <a:pt x="835" y="508"/>
                        <a:pt x="826" y="499"/>
                        <a:pt x="813" y="499"/>
                      </a:cubicBezTo>
                      <a:cubicBezTo>
                        <a:pt x="220" y="499"/>
                        <a:pt x="220" y="499"/>
                        <a:pt x="220" y="499"/>
                      </a:cubicBezTo>
                      <a:cubicBezTo>
                        <a:pt x="208" y="499"/>
                        <a:pt x="198" y="508"/>
                        <a:pt x="198" y="521"/>
                      </a:cubicBezTo>
                      <a:cubicBezTo>
                        <a:pt x="198" y="533"/>
                        <a:pt x="208" y="543"/>
                        <a:pt x="220" y="543"/>
                      </a:cubicBezTo>
                      <a:cubicBezTo>
                        <a:pt x="813" y="543"/>
                        <a:pt x="813" y="543"/>
                        <a:pt x="813" y="543"/>
                      </a:cubicBezTo>
                      <a:cubicBezTo>
                        <a:pt x="826" y="543"/>
                        <a:pt x="835" y="533"/>
                        <a:pt x="835" y="52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grpSp>
        </p:grpSp>
      </p:grpSp>
      <p:grpSp>
        <p:nvGrpSpPr>
          <p:cNvPr id="42" name="Group 41">
            <a:extLst>
              <a:ext uri="{FF2B5EF4-FFF2-40B4-BE49-F238E27FC236}">
                <a16:creationId xmlns:a16="http://schemas.microsoft.com/office/drawing/2014/main" id="{137A221F-3A0C-9D8F-A7CC-6902B17FD2EA}"/>
              </a:ext>
            </a:extLst>
          </p:cNvPr>
          <p:cNvGrpSpPr/>
          <p:nvPr/>
        </p:nvGrpSpPr>
        <p:grpSpPr>
          <a:xfrm>
            <a:off x="2995097" y="1908515"/>
            <a:ext cx="442744" cy="443154"/>
            <a:chOff x="5183422" y="2515576"/>
            <a:chExt cx="617160" cy="617732"/>
          </a:xfrm>
        </p:grpSpPr>
        <p:sp>
          <p:nvSpPr>
            <p:cNvPr id="41" name="Oval 40">
              <a:extLst>
                <a:ext uri="{FF2B5EF4-FFF2-40B4-BE49-F238E27FC236}">
                  <a16:creationId xmlns:a16="http://schemas.microsoft.com/office/drawing/2014/main" id="{3BCFD4F5-2889-B14E-3BCC-28895FB6D2CC}"/>
                </a:ext>
              </a:extLst>
            </p:cNvPr>
            <p:cNvSpPr/>
            <p:nvPr>
              <p:custDataLst>
                <p:tags r:id="rId10"/>
              </p:custDataLst>
            </p:nvPr>
          </p:nvSpPr>
          <p:spPr>
            <a:xfrm>
              <a:off x="5183422" y="2515576"/>
              <a:ext cx="617160" cy="617732"/>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a:solidFill>
                  <a:schemeClr val="bg1">
                    <a:lumMod val="50000"/>
                  </a:schemeClr>
                </a:solidFill>
                <a:ea typeface="Microsoft YaHei" panose="020B0503020204020204" pitchFamily="34" charset="-122"/>
              </a:endParaRPr>
            </a:p>
          </p:txBody>
        </p:sp>
        <p:grpSp>
          <p:nvGrpSpPr>
            <p:cNvPr id="31" name="bcgIcons_Smart Phone 1 ">
              <a:extLst>
                <a:ext uri="{FF2B5EF4-FFF2-40B4-BE49-F238E27FC236}">
                  <a16:creationId xmlns:a16="http://schemas.microsoft.com/office/drawing/2014/main" id="{1342AC2B-CA90-327E-3A4B-BC13BB5FA78F}"/>
                </a:ext>
              </a:extLst>
            </p:cNvPr>
            <p:cNvGrpSpPr>
              <a:grpSpLocks noChangeAspect="1"/>
            </p:cNvGrpSpPr>
            <p:nvPr/>
          </p:nvGrpSpPr>
          <p:grpSpPr bwMode="auto">
            <a:xfrm>
              <a:off x="5273803" y="2606041"/>
              <a:ext cx="436398" cy="436802"/>
              <a:chOff x="1682" y="0"/>
              <a:chExt cx="4316" cy="4320"/>
            </a:xfrm>
          </p:grpSpPr>
          <p:sp>
            <p:nvSpPr>
              <p:cNvPr id="32" name="AutoShape 13">
                <a:extLst>
                  <a:ext uri="{FF2B5EF4-FFF2-40B4-BE49-F238E27FC236}">
                    <a16:creationId xmlns:a16="http://schemas.microsoft.com/office/drawing/2014/main" id="{5A04808C-39FC-B5D4-BA62-A61EC2CE4228}"/>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15">
                <a:extLst>
                  <a:ext uri="{FF2B5EF4-FFF2-40B4-BE49-F238E27FC236}">
                    <a16:creationId xmlns:a16="http://schemas.microsoft.com/office/drawing/2014/main" id="{A58D326C-C35A-C846-B8B7-C2F5BE9DE285}"/>
                  </a:ext>
                </a:extLst>
              </p:cNvPr>
              <p:cNvSpPr>
                <a:spLocks noEditPoints="1"/>
              </p:cNvSpPr>
              <p:nvPr/>
            </p:nvSpPr>
            <p:spPr bwMode="auto">
              <a:xfrm>
                <a:off x="3087" y="726"/>
                <a:ext cx="1510" cy="2865"/>
              </a:xfrm>
              <a:custGeom>
                <a:avLst/>
                <a:gdLst>
                  <a:gd name="T0" fmla="*/ 784 w 806"/>
                  <a:gd name="T1" fmla="*/ 0 h 1528"/>
                  <a:gd name="T2" fmla="*/ 22 w 806"/>
                  <a:gd name="T3" fmla="*/ 0 h 1528"/>
                  <a:gd name="T4" fmla="*/ 0 w 806"/>
                  <a:gd name="T5" fmla="*/ 22 h 1528"/>
                  <a:gd name="T6" fmla="*/ 0 w 806"/>
                  <a:gd name="T7" fmla="*/ 1252 h 1528"/>
                  <a:gd name="T8" fmla="*/ 0 w 806"/>
                  <a:gd name="T9" fmla="*/ 1296 h 1528"/>
                  <a:gd name="T10" fmla="*/ 0 w 806"/>
                  <a:gd name="T11" fmla="*/ 1506 h 1528"/>
                  <a:gd name="T12" fmla="*/ 22 w 806"/>
                  <a:gd name="T13" fmla="*/ 1528 h 1528"/>
                  <a:gd name="T14" fmla="*/ 784 w 806"/>
                  <a:gd name="T15" fmla="*/ 1528 h 1528"/>
                  <a:gd name="T16" fmla="*/ 806 w 806"/>
                  <a:gd name="T17" fmla="*/ 1506 h 1528"/>
                  <a:gd name="T18" fmla="*/ 806 w 806"/>
                  <a:gd name="T19" fmla="*/ 1296 h 1528"/>
                  <a:gd name="T20" fmla="*/ 806 w 806"/>
                  <a:gd name="T21" fmla="*/ 1252 h 1528"/>
                  <a:gd name="T22" fmla="*/ 806 w 806"/>
                  <a:gd name="T23" fmla="*/ 22 h 1528"/>
                  <a:gd name="T24" fmla="*/ 784 w 806"/>
                  <a:gd name="T25" fmla="*/ 0 h 1528"/>
                  <a:gd name="T26" fmla="*/ 762 w 806"/>
                  <a:gd name="T27" fmla="*/ 1484 h 1528"/>
                  <a:gd name="T28" fmla="*/ 44 w 806"/>
                  <a:gd name="T29" fmla="*/ 1484 h 1528"/>
                  <a:gd name="T30" fmla="*/ 44 w 806"/>
                  <a:gd name="T31" fmla="*/ 1296 h 1528"/>
                  <a:gd name="T32" fmla="*/ 762 w 806"/>
                  <a:gd name="T33" fmla="*/ 1296 h 1528"/>
                  <a:gd name="T34" fmla="*/ 762 w 806"/>
                  <a:gd name="T35" fmla="*/ 1484 h 1528"/>
                  <a:gd name="T36" fmla="*/ 44 w 806"/>
                  <a:gd name="T37" fmla="*/ 1252 h 1528"/>
                  <a:gd name="T38" fmla="*/ 44 w 806"/>
                  <a:gd name="T39" fmla="*/ 44 h 1528"/>
                  <a:gd name="T40" fmla="*/ 762 w 806"/>
                  <a:gd name="T41" fmla="*/ 44 h 1528"/>
                  <a:gd name="T42" fmla="*/ 762 w 806"/>
                  <a:gd name="T43" fmla="*/ 1252 h 1528"/>
                  <a:gd name="T44" fmla="*/ 44 w 806"/>
                  <a:gd name="T45" fmla="*/ 1252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06" h="1528">
                    <a:moveTo>
                      <a:pt x="784" y="0"/>
                    </a:moveTo>
                    <a:cubicBezTo>
                      <a:pt x="22" y="0"/>
                      <a:pt x="22" y="0"/>
                      <a:pt x="22" y="0"/>
                    </a:cubicBezTo>
                    <a:cubicBezTo>
                      <a:pt x="10" y="0"/>
                      <a:pt x="0" y="10"/>
                      <a:pt x="0" y="22"/>
                    </a:cubicBezTo>
                    <a:cubicBezTo>
                      <a:pt x="0" y="1252"/>
                      <a:pt x="0" y="1252"/>
                      <a:pt x="0" y="1252"/>
                    </a:cubicBezTo>
                    <a:cubicBezTo>
                      <a:pt x="0" y="1296"/>
                      <a:pt x="0" y="1296"/>
                      <a:pt x="0" y="1296"/>
                    </a:cubicBezTo>
                    <a:cubicBezTo>
                      <a:pt x="0" y="1506"/>
                      <a:pt x="0" y="1506"/>
                      <a:pt x="0" y="1506"/>
                    </a:cubicBezTo>
                    <a:cubicBezTo>
                      <a:pt x="0" y="1518"/>
                      <a:pt x="10" y="1528"/>
                      <a:pt x="22" y="1528"/>
                    </a:cubicBezTo>
                    <a:cubicBezTo>
                      <a:pt x="784" y="1528"/>
                      <a:pt x="784" y="1528"/>
                      <a:pt x="784" y="1528"/>
                    </a:cubicBezTo>
                    <a:cubicBezTo>
                      <a:pt x="796" y="1528"/>
                      <a:pt x="806" y="1518"/>
                      <a:pt x="806" y="1506"/>
                    </a:cubicBezTo>
                    <a:cubicBezTo>
                      <a:pt x="806" y="1296"/>
                      <a:pt x="806" y="1296"/>
                      <a:pt x="806" y="1296"/>
                    </a:cubicBezTo>
                    <a:cubicBezTo>
                      <a:pt x="806" y="1252"/>
                      <a:pt x="806" y="1252"/>
                      <a:pt x="806" y="1252"/>
                    </a:cubicBezTo>
                    <a:cubicBezTo>
                      <a:pt x="806" y="22"/>
                      <a:pt x="806" y="22"/>
                      <a:pt x="806" y="22"/>
                    </a:cubicBezTo>
                    <a:cubicBezTo>
                      <a:pt x="806" y="10"/>
                      <a:pt x="796" y="0"/>
                      <a:pt x="784" y="0"/>
                    </a:cubicBezTo>
                    <a:close/>
                    <a:moveTo>
                      <a:pt x="762" y="1484"/>
                    </a:moveTo>
                    <a:cubicBezTo>
                      <a:pt x="44" y="1484"/>
                      <a:pt x="44" y="1484"/>
                      <a:pt x="44" y="1484"/>
                    </a:cubicBezTo>
                    <a:cubicBezTo>
                      <a:pt x="44" y="1296"/>
                      <a:pt x="44" y="1296"/>
                      <a:pt x="44" y="1296"/>
                    </a:cubicBezTo>
                    <a:cubicBezTo>
                      <a:pt x="762" y="1296"/>
                      <a:pt x="762" y="1296"/>
                      <a:pt x="762" y="1296"/>
                    </a:cubicBezTo>
                    <a:lnTo>
                      <a:pt x="762" y="1484"/>
                    </a:lnTo>
                    <a:close/>
                    <a:moveTo>
                      <a:pt x="44" y="1252"/>
                    </a:moveTo>
                    <a:cubicBezTo>
                      <a:pt x="44" y="44"/>
                      <a:pt x="44" y="44"/>
                      <a:pt x="44" y="44"/>
                    </a:cubicBezTo>
                    <a:cubicBezTo>
                      <a:pt x="762" y="44"/>
                      <a:pt x="762" y="44"/>
                      <a:pt x="762" y="44"/>
                    </a:cubicBezTo>
                    <a:cubicBezTo>
                      <a:pt x="762" y="1252"/>
                      <a:pt x="762" y="1252"/>
                      <a:pt x="762" y="1252"/>
                    </a:cubicBezTo>
                    <a:lnTo>
                      <a:pt x="44" y="125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sp>
            <p:nvSpPr>
              <p:cNvPr id="34" name="Freeform 16">
                <a:extLst>
                  <a:ext uri="{FF2B5EF4-FFF2-40B4-BE49-F238E27FC236}">
                    <a16:creationId xmlns:a16="http://schemas.microsoft.com/office/drawing/2014/main" id="{CFA27A37-A918-8822-5701-72D15A1F3D8A}"/>
                  </a:ext>
                </a:extLst>
              </p:cNvPr>
              <p:cNvSpPr>
                <a:spLocks noEditPoints="1"/>
              </p:cNvSpPr>
              <p:nvPr/>
            </p:nvSpPr>
            <p:spPr bwMode="auto">
              <a:xfrm>
                <a:off x="3241" y="917"/>
                <a:ext cx="1195" cy="2512"/>
              </a:xfrm>
              <a:custGeom>
                <a:avLst/>
                <a:gdLst>
                  <a:gd name="T0" fmla="*/ 321 w 638"/>
                  <a:gd name="T1" fmla="*/ 1340 h 1340"/>
                  <a:gd name="T2" fmla="*/ 263 w 638"/>
                  <a:gd name="T3" fmla="*/ 1282 h 1340"/>
                  <a:gd name="T4" fmla="*/ 321 w 638"/>
                  <a:gd name="T5" fmla="*/ 1224 h 1340"/>
                  <a:gd name="T6" fmla="*/ 379 w 638"/>
                  <a:gd name="T7" fmla="*/ 1282 h 1340"/>
                  <a:gd name="T8" fmla="*/ 321 w 638"/>
                  <a:gd name="T9" fmla="*/ 1340 h 1340"/>
                  <a:gd name="T10" fmla="*/ 638 w 638"/>
                  <a:gd name="T11" fmla="*/ 1092 h 1340"/>
                  <a:gd name="T12" fmla="*/ 638 w 638"/>
                  <a:gd name="T13" fmla="*/ 115 h 1340"/>
                  <a:gd name="T14" fmla="*/ 628 w 638"/>
                  <a:gd name="T15" fmla="*/ 105 h 1340"/>
                  <a:gd name="T16" fmla="*/ 10 w 638"/>
                  <a:gd name="T17" fmla="*/ 105 h 1340"/>
                  <a:gd name="T18" fmla="*/ 0 w 638"/>
                  <a:gd name="T19" fmla="*/ 115 h 1340"/>
                  <a:gd name="T20" fmla="*/ 0 w 638"/>
                  <a:gd name="T21" fmla="*/ 1092 h 1340"/>
                  <a:gd name="T22" fmla="*/ 10 w 638"/>
                  <a:gd name="T23" fmla="*/ 1102 h 1340"/>
                  <a:gd name="T24" fmla="*/ 628 w 638"/>
                  <a:gd name="T25" fmla="*/ 1102 h 1340"/>
                  <a:gd name="T26" fmla="*/ 638 w 638"/>
                  <a:gd name="T27" fmla="*/ 1092 h 1340"/>
                  <a:gd name="T28" fmla="*/ 469 w 638"/>
                  <a:gd name="T29" fmla="*/ 22 h 1340"/>
                  <a:gd name="T30" fmla="*/ 447 w 638"/>
                  <a:gd name="T31" fmla="*/ 0 h 1340"/>
                  <a:gd name="T32" fmla="*/ 195 w 638"/>
                  <a:gd name="T33" fmla="*/ 0 h 1340"/>
                  <a:gd name="T34" fmla="*/ 173 w 638"/>
                  <a:gd name="T35" fmla="*/ 22 h 1340"/>
                  <a:gd name="T36" fmla="*/ 195 w 638"/>
                  <a:gd name="T37" fmla="*/ 44 h 1340"/>
                  <a:gd name="T38" fmla="*/ 447 w 638"/>
                  <a:gd name="T39" fmla="*/ 44 h 1340"/>
                  <a:gd name="T40" fmla="*/ 469 w 638"/>
                  <a:gd name="T41" fmla="*/ 22 h 1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38" h="1340">
                    <a:moveTo>
                      <a:pt x="321" y="1340"/>
                    </a:moveTo>
                    <a:cubicBezTo>
                      <a:pt x="289" y="1340"/>
                      <a:pt x="263" y="1314"/>
                      <a:pt x="263" y="1282"/>
                    </a:cubicBezTo>
                    <a:cubicBezTo>
                      <a:pt x="263" y="1250"/>
                      <a:pt x="289" y="1224"/>
                      <a:pt x="321" y="1224"/>
                    </a:cubicBezTo>
                    <a:cubicBezTo>
                      <a:pt x="353" y="1224"/>
                      <a:pt x="379" y="1250"/>
                      <a:pt x="379" y="1282"/>
                    </a:cubicBezTo>
                    <a:cubicBezTo>
                      <a:pt x="379" y="1314"/>
                      <a:pt x="353" y="1340"/>
                      <a:pt x="321" y="1340"/>
                    </a:cubicBezTo>
                    <a:close/>
                    <a:moveTo>
                      <a:pt x="638" y="1092"/>
                    </a:moveTo>
                    <a:cubicBezTo>
                      <a:pt x="638" y="115"/>
                      <a:pt x="638" y="115"/>
                      <a:pt x="638" y="115"/>
                    </a:cubicBezTo>
                    <a:cubicBezTo>
                      <a:pt x="638" y="110"/>
                      <a:pt x="634" y="105"/>
                      <a:pt x="628" y="105"/>
                    </a:cubicBezTo>
                    <a:cubicBezTo>
                      <a:pt x="10" y="105"/>
                      <a:pt x="10" y="105"/>
                      <a:pt x="10" y="105"/>
                    </a:cubicBezTo>
                    <a:cubicBezTo>
                      <a:pt x="4" y="105"/>
                      <a:pt x="0" y="110"/>
                      <a:pt x="0" y="115"/>
                    </a:cubicBezTo>
                    <a:cubicBezTo>
                      <a:pt x="0" y="1092"/>
                      <a:pt x="0" y="1092"/>
                      <a:pt x="0" y="1092"/>
                    </a:cubicBezTo>
                    <a:cubicBezTo>
                      <a:pt x="0" y="1098"/>
                      <a:pt x="4" y="1102"/>
                      <a:pt x="10" y="1102"/>
                    </a:cubicBezTo>
                    <a:cubicBezTo>
                      <a:pt x="628" y="1102"/>
                      <a:pt x="628" y="1102"/>
                      <a:pt x="628" y="1102"/>
                    </a:cubicBezTo>
                    <a:cubicBezTo>
                      <a:pt x="634" y="1102"/>
                      <a:pt x="638" y="1098"/>
                      <a:pt x="638" y="1092"/>
                    </a:cubicBezTo>
                    <a:close/>
                    <a:moveTo>
                      <a:pt x="469" y="22"/>
                    </a:moveTo>
                    <a:cubicBezTo>
                      <a:pt x="469" y="10"/>
                      <a:pt x="459" y="0"/>
                      <a:pt x="447" y="0"/>
                    </a:cubicBezTo>
                    <a:cubicBezTo>
                      <a:pt x="195" y="0"/>
                      <a:pt x="195" y="0"/>
                      <a:pt x="195" y="0"/>
                    </a:cubicBezTo>
                    <a:cubicBezTo>
                      <a:pt x="183" y="0"/>
                      <a:pt x="173" y="10"/>
                      <a:pt x="173" y="22"/>
                    </a:cubicBezTo>
                    <a:cubicBezTo>
                      <a:pt x="173" y="34"/>
                      <a:pt x="183" y="44"/>
                      <a:pt x="195" y="44"/>
                    </a:cubicBezTo>
                    <a:cubicBezTo>
                      <a:pt x="447" y="44"/>
                      <a:pt x="447" y="44"/>
                      <a:pt x="447" y="44"/>
                    </a:cubicBezTo>
                    <a:cubicBezTo>
                      <a:pt x="459" y="44"/>
                      <a:pt x="469" y="34"/>
                      <a:pt x="469" y="22"/>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grpSp>
      </p:grpSp>
      <p:grpSp>
        <p:nvGrpSpPr>
          <p:cNvPr id="44" name="Group 43">
            <a:extLst>
              <a:ext uri="{FF2B5EF4-FFF2-40B4-BE49-F238E27FC236}">
                <a16:creationId xmlns:a16="http://schemas.microsoft.com/office/drawing/2014/main" id="{584009E8-1E41-E21D-2C39-D1E05F8CB72F}"/>
              </a:ext>
            </a:extLst>
          </p:cNvPr>
          <p:cNvGrpSpPr/>
          <p:nvPr/>
        </p:nvGrpSpPr>
        <p:grpSpPr>
          <a:xfrm>
            <a:off x="3401159" y="1915210"/>
            <a:ext cx="442744" cy="443154"/>
            <a:chOff x="5183422" y="2515576"/>
            <a:chExt cx="617160" cy="617732"/>
          </a:xfrm>
        </p:grpSpPr>
        <p:sp>
          <p:nvSpPr>
            <p:cNvPr id="43" name="Oval 42">
              <a:extLst>
                <a:ext uri="{FF2B5EF4-FFF2-40B4-BE49-F238E27FC236}">
                  <a16:creationId xmlns:a16="http://schemas.microsoft.com/office/drawing/2014/main" id="{A6A36C7D-D457-BD09-F0EF-B26B62ADCF6F}"/>
                </a:ext>
              </a:extLst>
            </p:cNvPr>
            <p:cNvSpPr/>
            <p:nvPr>
              <p:custDataLst>
                <p:tags r:id="rId9"/>
              </p:custDataLst>
            </p:nvPr>
          </p:nvSpPr>
          <p:spPr>
            <a:xfrm>
              <a:off x="5183422" y="2515576"/>
              <a:ext cx="617160" cy="617732"/>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a:solidFill>
                  <a:schemeClr val="bg1">
                    <a:lumMod val="50000"/>
                  </a:schemeClr>
                </a:solidFill>
                <a:ea typeface="Microsoft YaHei" panose="020B0503020204020204" pitchFamily="34" charset="-122"/>
              </a:endParaRPr>
            </a:p>
          </p:txBody>
        </p:sp>
        <p:grpSp>
          <p:nvGrpSpPr>
            <p:cNvPr id="35" name="bcgIcons_Email ">
              <a:extLst>
                <a:ext uri="{FF2B5EF4-FFF2-40B4-BE49-F238E27FC236}">
                  <a16:creationId xmlns:a16="http://schemas.microsoft.com/office/drawing/2014/main" id="{3AA1D40B-496D-C695-CFFB-A3B22FB251F6}"/>
                </a:ext>
              </a:extLst>
            </p:cNvPr>
            <p:cNvGrpSpPr>
              <a:grpSpLocks noChangeAspect="1"/>
            </p:cNvGrpSpPr>
            <p:nvPr/>
          </p:nvGrpSpPr>
          <p:grpSpPr bwMode="auto">
            <a:xfrm>
              <a:off x="5273803" y="2606041"/>
              <a:ext cx="436398" cy="436802"/>
              <a:chOff x="1682" y="0"/>
              <a:chExt cx="4316" cy="4320"/>
            </a:xfrm>
          </p:grpSpPr>
          <p:sp>
            <p:nvSpPr>
              <p:cNvPr id="36" name="AutoShape 13">
                <a:extLst>
                  <a:ext uri="{FF2B5EF4-FFF2-40B4-BE49-F238E27FC236}">
                    <a16:creationId xmlns:a16="http://schemas.microsoft.com/office/drawing/2014/main" id="{612E13C5-D268-61A4-CA2F-1F13E435EDBF}"/>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15">
                <a:extLst>
                  <a:ext uri="{FF2B5EF4-FFF2-40B4-BE49-F238E27FC236}">
                    <a16:creationId xmlns:a16="http://schemas.microsoft.com/office/drawing/2014/main" id="{E6881B95-02E1-EB9E-5BD4-F172F44E04D8}"/>
                  </a:ext>
                </a:extLst>
              </p:cNvPr>
              <p:cNvSpPr>
                <a:spLocks noEditPoints="1"/>
              </p:cNvSpPr>
              <p:nvPr/>
            </p:nvSpPr>
            <p:spPr bwMode="auto">
              <a:xfrm>
                <a:off x="2446" y="1155"/>
                <a:ext cx="2788" cy="2010"/>
              </a:xfrm>
              <a:custGeom>
                <a:avLst/>
                <a:gdLst>
                  <a:gd name="T0" fmla="*/ 1488 w 1488"/>
                  <a:gd name="T1" fmla="*/ 65 h 1072"/>
                  <a:gd name="T2" fmla="*/ 1488 w 1488"/>
                  <a:gd name="T3" fmla="*/ 1050 h 1072"/>
                  <a:gd name="T4" fmla="*/ 1477 w 1488"/>
                  <a:gd name="T5" fmla="*/ 1055 h 1072"/>
                  <a:gd name="T6" fmla="*/ 978 w 1488"/>
                  <a:gd name="T7" fmla="*/ 494 h 1072"/>
                  <a:gd name="T8" fmla="*/ 978 w 1488"/>
                  <a:gd name="T9" fmla="*/ 484 h 1072"/>
                  <a:gd name="T10" fmla="*/ 1488 w 1488"/>
                  <a:gd name="T11" fmla="*/ 65 h 1072"/>
                  <a:gd name="T12" fmla="*/ 1488 w 1488"/>
                  <a:gd name="T13" fmla="*/ 65 h 1072"/>
                  <a:gd name="T14" fmla="*/ 0 w 1488"/>
                  <a:gd name="T15" fmla="*/ 65 h 1072"/>
                  <a:gd name="T16" fmla="*/ 0 w 1488"/>
                  <a:gd name="T17" fmla="*/ 1050 h 1072"/>
                  <a:gd name="T18" fmla="*/ 11 w 1488"/>
                  <a:gd name="T19" fmla="*/ 1055 h 1072"/>
                  <a:gd name="T20" fmla="*/ 510 w 1488"/>
                  <a:gd name="T21" fmla="*/ 494 h 1072"/>
                  <a:gd name="T22" fmla="*/ 510 w 1488"/>
                  <a:gd name="T23" fmla="*/ 484 h 1072"/>
                  <a:gd name="T24" fmla="*/ 0 w 1488"/>
                  <a:gd name="T25" fmla="*/ 65 h 1072"/>
                  <a:gd name="T26" fmla="*/ 0 w 1488"/>
                  <a:gd name="T27" fmla="*/ 65 h 1072"/>
                  <a:gd name="T28" fmla="*/ 1399 w 1488"/>
                  <a:gd name="T29" fmla="*/ 1072 h 1072"/>
                  <a:gd name="T30" fmla="*/ 1399 w 1488"/>
                  <a:gd name="T31" fmla="*/ 1072 h 1072"/>
                  <a:gd name="T32" fmla="*/ 934 w 1488"/>
                  <a:gd name="T33" fmla="*/ 546 h 1072"/>
                  <a:gd name="T34" fmla="*/ 925 w 1488"/>
                  <a:gd name="T35" fmla="*/ 545 h 1072"/>
                  <a:gd name="T36" fmla="*/ 750 w 1488"/>
                  <a:gd name="T37" fmla="*/ 701 h 1072"/>
                  <a:gd name="T38" fmla="*/ 742 w 1488"/>
                  <a:gd name="T39" fmla="*/ 701 h 1072"/>
                  <a:gd name="T40" fmla="*/ 566 w 1488"/>
                  <a:gd name="T41" fmla="*/ 545 h 1072"/>
                  <a:gd name="T42" fmla="*/ 558 w 1488"/>
                  <a:gd name="T43" fmla="*/ 546 h 1072"/>
                  <a:gd name="T44" fmla="*/ 90 w 1488"/>
                  <a:gd name="T45" fmla="*/ 1061 h 1072"/>
                  <a:gd name="T46" fmla="*/ 95 w 1488"/>
                  <a:gd name="T47" fmla="*/ 1072 h 1072"/>
                  <a:gd name="T48" fmla="*/ 1399 w 1488"/>
                  <a:gd name="T49" fmla="*/ 1072 h 1072"/>
                  <a:gd name="T50" fmla="*/ 1399 w 1488"/>
                  <a:gd name="T51" fmla="*/ 1072 h 1072"/>
                  <a:gd name="T52" fmla="*/ 1461 w 1488"/>
                  <a:gd name="T53" fmla="*/ 0 h 1072"/>
                  <a:gd name="T54" fmla="*/ 27 w 1488"/>
                  <a:gd name="T55" fmla="*/ 0 h 1072"/>
                  <a:gd name="T56" fmla="*/ 23 w 1488"/>
                  <a:gd name="T57" fmla="*/ 11 h 1072"/>
                  <a:gd name="T58" fmla="*/ 738 w 1488"/>
                  <a:gd name="T59" fmla="*/ 605 h 1072"/>
                  <a:gd name="T60" fmla="*/ 746 w 1488"/>
                  <a:gd name="T61" fmla="*/ 605 h 1072"/>
                  <a:gd name="T62" fmla="*/ 1465 w 1488"/>
                  <a:gd name="T63" fmla="*/ 11 h 1072"/>
                  <a:gd name="T64" fmla="*/ 1461 w 1488"/>
                  <a:gd name="T65" fmla="*/ 0 h 1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88" h="1072">
                    <a:moveTo>
                      <a:pt x="1488" y="65"/>
                    </a:moveTo>
                    <a:cubicBezTo>
                      <a:pt x="1488" y="1050"/>
                      <a:pt x="1488" y="1050"/>
                      <a:pt x="1488" y="1050"/>
                    </a:cubicBezTo>
                    <a:cubicBezTo>
                      <a:pt x="1488" y="1056"/>
                      <a:pt x="1481" y="1059"/>
                      <a:pt x="1477" y="1055"/>
                    </a:cubicBezTo>
                    <a:cubicBezTo>
                      <a:pt x="978" y="494"/>
                      <a:pt x="978" y="494"/>
                      <a:pt x="978" y="494"/>
                    </a:cubicBezTo>
                    <a:cubicBezTo>
                      <a:pt x="975" y="491"/>
                      <a:pt x="976" y="487"/>
                      <a:pt x="978" y="484"/>
                    </a:cubicBezTo>
                    <a:cubicBezTo>
                      <a:pt x="1488" y="65"/>
                      <a:pt x="1488" y="65"/>
                      <a:pt x="1488" y="65"/>
                    </a:cubicBezTo>
                    <a:cubicBezTo>
                      <a:pt x="1488" y="65"/>
                      <a:pt x="1488" y="65"/>
                      <a:pt x="1488" y="65"/>
                    </a:cubicBezTo>
                    <a:close/>
                    <a:moveTo>
                      <a:pt x="0" y="65"/>
                    </a:moveTo>
                    <a:cubicBezTo>
                      <a:pt x="0" y="1050"/>
                      <a:pt x="0" y="1050"/>
                      <a:pt x="0" y="1050"/>
                    </a:cubicBezTo>
                    <a:cubicBezTo>
                      <a:pt x="0" y="1056"/>
                      <a:pt x="7" y="1059"/>
                      <a:pt x="11" y="1055"/>
                    </a:cubicBezTo>
                    <a:cubicBezTo>
                      <a:pt x="510" y="494"/>
                      <a:pt x="510" y="494"/>
                      <a:pt x="510" y="494"/>
                    </a:cubicBezTo>
                    <a:cubicBezTo>
                      <a:pt x="513" y="491"/>
                      <a:pt x="512" y="487"/>
                      <a:pt x="510" y="484"/>
                    </a:cubicBezTo>
                    <a:cubicBezTo>
                      <a:pt x="0" y="65"/>
                      <a:pt x="0" y="65"/>
                      <a:pt x="0" y="65"/>
                    </a:cubicBezTo>
                    <a:cubicBezTo>
                      <a:pt x="0" y="65"/>
                      <a:pt x="0" y="65"/>
                      <a:pt x="0" y="65"/>
                    </a:cubicBezTo>
                    <a:close/>
                    <a:moveTo>
                      <a:pt x="1399" y="1072"/>
                    </a:moveTo>
                    <a:cubicBezTo>
                      <a:pt x="1399" y="1072"/>
                      <a:pt x="1399" y="1072"/>
                      <a:pt x="1399" y="1072"/>
                    </a:cubicBezTo>
                    <a:cubicBezTo>
                      <a:pt x="934" y="546"/>
                      <a:pt x="934" y="546"/>
                      <a:pt x="934" y="546"/>
                    </a:cubicBezTo>
                    <a:cubicBezTo>
                      <a:pt x="931" y="543"/>
                      <a:pt x="928" y="542"/>
                      <a:pt x="925" y="545"/>
                    </a:cubicBezTo>
                    <a:cubicBezTo>
                      <a:pt x="750" y="701"/>
                      <a:pt x="750" y="701"/>
                      <a:pt x="750" y="701"/>
                    </a:cubicBezTo>
                    <a:cubicBezTo>
                      <a:pt x="748" y="703"/>
                      <a:pt x="744" y="703"/>
                      <a:pt x="742" y="701"/>
                    </a:cubicBezTo>
                    <a:cubicBezTo>
                      <a:pt x="566" y="545"/>
                      <a:pt x="566" y="545"/>
                      <a:pt x="566" y="545"/>
                    </a:cubicBezTo>
                    <a:cubicBezTo>
                      <a:pt x="564" y="542"/>
                      <a:pt x="560" y="542"/>
                      <a:pt x="558" y="546"/>
                    </a:cubicBezTo>
                    <a:cubicBezTo>
                      <a:pt x="90" y="1061"/>
                      <a:pt x="90" y="1061"/>
                      <a:pt x="90" y="1061"/>
                    </a:cubicBezTo>
                    <a:cubicBezTo>
                      <a:pt x="86" y="1065"/>
                      <a:pt x="89" y="1072"/>
                      <a:pt x="95" y="1072"/>
                    </a:cubicBezTo>
                    <a:cubicBezTo>
                      <a:pt x="1399" y="1072"/>
                      <a:pt x="1399" y="1072"/>
                      <a:pt x="1399" y="1072"/>
                    </a:cubicBezTo>
                    <a:cubicBezTo>
                      <a:pt x="1399" y="1072"/>
                      <a:pt x="1399" y="1072"/>
                      <a:pt x="1399" y="1072"/>
                    </a:cubicBezTo>
                    <a:close/>
                    <a:moveTo>
                      <a:pt x="1461" y="0"/>
                    </a:moveTo>
                    <a:cubicBezTo>
                      <a:pt x="27" y="0"/>
                      <a:pt x="27" y="0"/>
                      <a:pt x="27" y="0"/>
                    </a:cubicBezTo>
                    <a:cubicBezTo>
                      <a:pt x="21" y="0"/>
                      <a:pt x="19" y="8"/>
                      <a:pt x="23" y="11"/>
                    </a:cubicBezTo>
                    <a:cubicBezTo>
                      <a:pt x="738" y="605"/>
                      <a:pt x="738" y="605"/>
                      <a:pt x="738" y="605"/>
                    </a:cubicBezTo>
                    <a:cubicBezTo>
                      <a:pt x="740" y="607"/>
                      <a:pt x="743" y="607"/>
                      <a:pt x="746" y="605"/>
                    </a:cubicBezTo>
                    <a:cubicBezTo>
                      <a:pt x="1465" y="11"/>
                      <a:pt x="1465" y="11"/>
                      <a:pt x="1465" y="11"/>
                    </a:cubicBezTo>
                    <a:cubicBezTo>
                      <a:pt x="1469" y="8"/>
                      <a:pt x="1466" y="0"/>
                      <a:pt x="1461"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sp>
            <p:nvSpPr>
              <p:cNvPr id="38" name="Freeform 16">
                <a:extLst>
                  <a:ext uri="{FF2B5EF4-FFF2-40B4-BE49-F238E27FC236}">
                    <a16:creationId xmlns:a16="http://schemas.microsoft.com/office/drawing/2014/main" id="{5621FC8B-C49D-7409-2807-DB576DA935C2}"/>
                  </a:ext>
                </a:extLst>
              </p:cNvPr>
              <p:cNvSpPr>
                <a:spLocks noEditPoints="1"/>
              </p:cNvSpPr>
              <p:nvPr/>
            </p:nvSpPr>
            <p:spPr bwMode="auto">
              <a:xfrm>
                <a:off x="2257" y="988"/>
                <a:ext cx="3166" cy="2344"/>
              </a:xfrm>
              <a:custGeom>
                <a:avLst/>
                <a:gdLst>
                  <a:gd name="T0" fmla="*/ 1668 w 1690"/>
                  <a:gd name="T1" fmla="*/ 1250 h 1250"/>
                  <a:gd name="T2" fmla="*/ 22 w 1690"/>
                  <a:gd name="T3" fmla="*/ 1250 h 1250"/>
                  <a:gd name="T4" fmla="*/ 0 w 1690"/>
                  <a:gd name="T5" fmla="*/ 1228 h 1250"/>
                  <a:gd name="T6" fmla="*/ 0 w 1690"/>
                  <a:gd name="T7" fmla="*/ 22 h 1250"/>
                  <a:gd name="T8" fmla="*/ 22 w 1690"/>
                  <a:gd name="T9" fmla="*/ 0 h 1250"/>
                  <a:gd name="T10" fmla="*/ 1668 w 1690"/>
                  <a:gd name="T11" fmla="*/ 0 h 1250"/>
                  <a:gd name="T12" fmla="*/ 1690 w 1690"/>
                  <a:gd name="T13" fmla="*/ 22 h 1250"/>
                  <a:gd name="T14" fmla="*/ 1690 w 1690"/>
                  <a:gd name="T15" fmla="*/ 1228 h 1250"/>
                  <a:gd name="T16" fmla="*/ 1668 w 1690"/>
                  <a:gd name="T17" fmla="*/ 1250 h 1250"/>
                  <a:gd name="T18" fmla="*/ 44 w 1690"/>
                  <a:gd name="T19" fmla="*/ 1206 h 1250"/>
                  <a:gd name="T20" fmla="*/ 1646 w 1690"/>
                  <a:gd name="T21" fmla="*/ 1206 h 1250"/>
                  <a:gd name="T22" fmla="*/ 1646 w 1690"/>
                  <a:gd name="T23" fmla="*/ 44 h 1250"/>
                  <a:gd name="T24" fmla="*/ 44 w 1690"/>
                  <a:gd name="T25" fmla="*/ 44 h 1250"/>
                  <a:gd name="T26" fmla="*/ 44 w 1690"/>
                  <a:gd name="T27" fmla="*/ 1206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90" h="1250">
                    <a:moveTo>
                      <a:pt x="1668" y="1250"/>
                    </a:moveTo>
                    <a:cubicBezTo>
                      <a:pt x="22" y="1250"/>
                      <a:pt x="22" y="1250"/>
                      <a:pt x="22" y="1250"/>
                    </a:cubicBezTo>
                    <a:cubicBezTo>
                      <a:pt x="10" y="1250"/>
                      <a:pt x="0" y="1240"/>
                      <a:pt x="0" y="1228"/>
                    </a:cubicBezTo>
                    <a:cubicBezTo>
                      <a:pt x="0" y="22"/>
                      <a:pt x="0" y="22"/>
                      <a:pt x="0" y="22"/>
                    </a:cubicBezTo>
                    <a:cubicBezTo>
                      <a:pt x="0" y="10"/>
                      <a:pt x="10" y="0"/>
                      <a:pt x="22" y="0"/>
                    </a:cubicBezTo>
                    <a:cubicBezTo>
                      <a:pt x="1668" y="0"/>
                      <a:pt x="1668" y="0"/>
                      <a:pt x="1668" y="0"/>
                    </a:cubicBezTo>
                    <a:cubicBezTo>
                      <a:pt x="1680" y="0"/>
                      <a:pt x="1690" y="10"/>
                      <a:pt x="1690" y="22"/>
                    </a:cubicBezTo>
                    <a:cubicBezTo>
                      <a:pt x="1690" y="1228"/>
                      <a:pt x="1690" y="1228"/>
                      <a:pt x="1690" y="1228"/>
                    </a:cubicBezTo>
                    <a:cubicBezTo>
                      <a:pt x="1690" y="1240"/>
                      <a:pt x="1680" y="1250"/>
                      <a:pt x="1668" y="1250"/>
                    </a:cubicBezTo>
                    <a:close/>
                    <a:moveTo>
                      <a:pt x="44" y="1206"/>
                    </a:moveTo>
                    <a:cubicBezTo>
                      <a:pt x="1646" y="1206"/>
                      <a:pt x="1646" y="1206"/>
                      <a:pt x="1646" y="1206"/>
                    </a:cubicBezTo>
                    <a:cubicBezTo>
                      <a:pt x="1646" y="44"/>
                      <a:pt x="1646" y="44"/>
                      <a:pt x="1646" y="44"/>
                    </a:cubicBezTo>
                    <a:cubicBezTo>
                      <a:pt x="44" y="44"/>
                      <a:pt x="44" y="44"/>
                      <a:pt x="44" y="44"/>
                    </a:cubicBezTo>
                    <a:lnTo>
                      <a:pt x="44" y="120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grpSp>
      </p:grpSp>
      <p:sp>
        <p:nvSpPr>
          <p:cNvPr id="46" name="Rectangle 45" hidden="1">
            <a:extLst>
              <a:ext uri="{FF2B5EF4-FFF2-40B4-BE49-F238E27FC236}">
                <a16:creationId xmlns:a16="http://schemas.microsoft.com/office/drawing/2014/main" id="{4395C119-CEDB-52A6-4480-6B0A92915E1C}"/>
              </a:ext>
            </a:extLst>
          </p:cNvPr>
          <p:cNvSpPr/>
          <p:nvPr>
            <p:custDataLst>
              <p:tags r:id="rId2"/>
            </p:custDataLst>
          </p:nvPr>
        </p:nvSpPr>
        <p:spPr bwMode="gray">
          <a:xfrm>
            <a:off x="0" y="0"/>
            <a:ext cx="158750" cy="158750"/>
          </a:xfrm>
          <a:prstGeom prst="rect">
            <a:avLst/>
          </a:prstGeom>
          <a:solidFill>
            <a:schemeClr val="tx2"/>
          </a:solidFill>
          <a:ln w="9525"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spcBef>
                <a:spcPct val="0"/>
              </a:spcBef>
              <a:spcAft>
                <a:spcPct val="0"/>
              </a:spcAft>
            </a:pPr>
            <a:endParaRPr lang="en-US" sz="1600">
              <a:solidFill>
                <a:srgbClr val="FFFFFF"/>
              </a:solidFill>
              <a:latin typeface="Trebuchet MS" panose="020B0603020202020204" pitchFamily="34" charset="0"/>
              <a:ea typeface="Microsoft YaHei" panose="020B0503020204020204" pitchFamily="34" charset="-122"/>
              <a:sym typeface="Trebuchet MS" panose="020B0603020202020204" pitchFamily="34" charset="0"/>
            </a:endParaRPr>
          </a:p>
        </p:txBody>
      </p:sp>
      <p:grpSp>
        <p:nvGrpSpPr>
          <p:cNvPr id="53" name="Group 52">
            <a:extLst>
              <a:ext uri="{FF2B5EF4-FFF2-40B4-BE49-F238E27FC236}">
                <a16:creationId xmlns:a16="http://schemas.microsoft.com/office/drawing/2014/main" id="{7CD9FC3C-3519-184E-DA3C-22DC300CF515}"/>
              </a:ext>
            </a:extLst>
          </p:cNvPr>
          <p:cNvGrpSpPr/>
          <p:nvPr/>
        </p:nvGrpSpPr>
        <p:grpSpPr>
          <a:xfrm>
            <a:off x="1249502" y="1923240"/>
            <a:ext cx="442744" cy="443154"/>
            <a:chOff x="5198013" y="2531880"/>
            <a:chExt cx="511227" cy="510733"/>
          </a:xfrm>
        </p:grpSpPr>
        <p:sp>
          <p:nvSpPr>
            <p:cNvPr id="52" name="Oval 51">
              <a:extLst>
                <a:ext uri="{FF2B5EF4-FFF2-40B4-BE49-F238E27FC236}">
                  <a16:creationId xmlns:a16="http://schemas.microsoft.com/office/drawing/2014/main" id="{65F60E42-C20A-697F-8E8D-8DB0E32EE5AB}"/>
                </a:ext>
              </a:extLst>
            </p:cNvPr>
            <p:cNvSpPr/>
            <p:nvPr>
              <p:custDataLst>
                <p:tags r:id="rId8"/>
              </p:custDataLst>
            </p:nvPr>
          </p:nvSpPr>
          <p:spPr>
            <a:xfrm>
              <a:off x="5198013" y="2531880"/>
              <a:ext cx="511227" cy="510733"/>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a:solidFill>
                  <a:schemeClr val="bg1">
                    <a:lumMod val="50000"/>
                  </a:schemeClr>
                </a:solidFill>
                <a:ea typeface="Microsoft YaHei" panose="020B0503020204020204" pitchFamily="34" charset="-122"/>
              </a:endParaRPr>
            </a:p>
          </p:txBody>
        </p:sp>
        <p:grpSp>
          <p:nvGrpSpPr>
            <p:cNvPr id="47" name="bcgIcons_Internet/Web ">
              <a:extLst>
                <a:ext uri="{FF2B5EF4-FFF2-40B4-BE49-F238E27FC236}">
                  <a16:creationId xmlns:a16="http://schemas.microsoft.com/office/drawing/2014/main" id="{9F324B76-2C5A-794A-9F74-AA703D6F767D}"/>
                </a:ext>
              </a:extLst>
            </p:cNvPr>
            <p:cNvGrpSpPr>
              <a:grpSpLocks noChangeAspect="1"/>
            </p:cNvGrpSpPr>
            <p:nvPr/>
          </p:nvGrpSpPr>
          <p:grpSpPr>
            <a:xfrm>
              <a:off x="5272881" y="2606675"/>
              <a:ext cx="361492" cy="361143"/>
              <a:chOff x="6464300" y="2606675"/>
              <a:chExt cx="1646238" cy="1644650"/>
            </a:xfrm>
          </p:grpSpPr>
          <p:sp>
            <p:nvSpPr>
              <p:cNvPr id="48" name="AutoShape 3">
                <a:extLst>
                  <a:ext uri="{FF2B5EF4-FFF2-40B4-BE49-F238E27FC236}">
                    <a16:creationId xmlns:a16="http://schemas.microsoft.com/office/drawing/2014/main" id="{39146B8A-3BC9-B638-5961-8CACC4AF8564}"/>
                  </a:ext>
                </a:extLst>
              </p:cNvPr>
              <p:cNvSpPr>
                <a:spLocks noChangeAspect="1" noChangeArrowheads="1" noTextEdit="1"/>
              </p:cNvSpPr>
              <p:nvPr/>
            </p:nvSpPr>
            <p:spPr bwMode="auto">
              <a:xfrm>
                <a:off x="6464300"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49" name="Group 48">
                <a:extLst>
                  <a:ext uri="{FF2B5EF4-FFF2-40B4-BE49-F238E27FC236}">
                    <a16:creationId xmlns:a16="http://schemas.microsoft.com/office/drawing/2014/main" id="{4DFE90EE-D44E-29FE-E5BE-2B798E639C5B}"/>
                  </a:ext>
                </a:extLst>
              </p:cNvPr>
              <p:cNvGrpSpPr/>
              <p:nvPr/>
            </p:nvGrpSpPr>
            <p:grpSpPr>
              <a:xfrm>
                <a:off x="6634163" y="2776538"/>
                <a:ext cx="1306513" cy="1304925"/>
                <a:chOff x="6634163" y="2776538"/>
                <a:chExt cx="1306513" cy="1304925"/>
              </a:xfrm>
            </p:grpSpPr>
            <p:sp>
              <p:nvSpPr>
                <p:cNvPr id="50" name="Freeform 12">
                  <a:extLst>
                    <a:ext uri="{FF2B5EF4-FFF2-40B4-BE49-F238E27FC236}">
                      <a16:creationId xmlns:a16="http://schemas.microsoft.com/office/drawing/2014/main" id="{658A2466-6463-2DAC-2104-1346661183FE}"/>
                    </a:ext>
                  </a:extLst>
                </p:cNvPr>
                <p:cNvSpPr>
                  <a:spLocks/>
                </p:cNvSpPr>
                <p:nvPr/>
              </p:nvSpPr>
              <p:spPr bwMode="auto">
                <a:xfrm>
                  <a:off x="6697663" y="2838450"/>
                  <a:ext cx="1179513" cy="1179513"/>
                </a:xfrm>
                <a:custGeom>
                  <a:avLst/>
                  <a:gdLst>
                    <a:gd name="connsiteX0" fmla="*/ 879944 w 1179513"/>
                    <a:gd name="connsiteY0" fmla="*/ 1017588 h 1179513"/>
                    <a:gd name="connsiteX1" fmla="*/ 869939 w 1179513"/>
                    <a:gd name="connsiteY1" fmla="*/ 1047033 h 1179513"/>
                    <a:gd name="connsiteX2" fmla="*/ 883517 w 1179513"/>
                    <a:gd name="connsiteY2" fmla="*/ 1080786 h 1179513"/>
                    <a:gd name="connsiteX3" fmla="*/ 898525 w 1179513"/>
                    <a:gd name="connsiteY3" fmla="*/ 1090840 h 1179513"/>
                    <a:gd name="connsiteX4" fmla="*/ 704850 w 1179513"/>
                    <a:gd name="connsiteY4" fmla="*/ 1168401 h 1179513"/>
                    <a:gd name="connsiteX5" fmla="*/ 769885 w 1179513"/>
                    <a:gd name="connsiteY5" fmla="*/ 1114539 h 1179513"/>
                    <a:gd name="connsiteX6" fmla="*/ 842781 w 1179513"/>
                    <a:gd name="connsiteY6" fmla="*/ 1022615 h 1179513"/>
                    <a:gd name="connsiteX7" fmla="*/ 855645 w 1179513"/>
                    <a:gd name="connsiteY7" fmla="*/ 1024770 h 1179513"/>
                    <a:gd name="connsiteX8" fmla="*/ 879944 w 1179513"/>
                    <a:gd name="connsiteY8" fmla="*/ 1017588 h 1179513"/>
                    <a:gd name="connsiteX9" fmla="*/ 262876 w 1179513"/>
                    <a:gd name="connsiteY9" fmla="*/ 950913 h 1179513"/>
                    <a:gd name="connsiteX10" fmla="*/ 264307 w 1179513"/>
                    <a:gd name="connsiteY10" fmla="*/ 954490 h 1179513"/>
                    <a:gd name="connsiteX11" fmla="*/ 309383 w 1179513"/>
                    <a:gd name="connsiteY11" fmla="*/ 974522 h 1179513"/>
                    <a:gd name="connsiteX12" fmla="*/ 311530 w 1179513"/>
                    <a:gd name="connsiteY12" fmla="*/ 974522 h 1179513"/>
                    <a:gd name="connsiteX13" fmla="*/ 312961 w 1179513"/>
                    <a:gd name="connsiteY13" fmla="*/ 975953 h 1179513"/>
                    <a:gd name="connsiteX14" fmla="*/ 411699 w 1179513"/>
                    <a:gd name="connsiteY14" fmla="*/ 1118322 h 1179513"/>
                    <a:gd name="connsiteX15" fmla="*/ 474662 w 1179513"/>
                    <a:gd name="connsiteY15" fmla="*/ 1168401 h 1179513"/>
                    <a:gd name="connsiteX16" fmla="*/ 169862 w 1179513"/>
                    <a:gd name="connsiteY16" fmla="*/ 1003139 h 1179513"/>
                    <a:gd name="connsiteX17" fmla="*/ 259299 w 1179513"/>
                    <a:gd name="connsiteY17" fmla="*/ 953059 h 1179513"/>
                    <a:gd name="connsiteX18" fmla="*/ 262876 w 1179513"/>
                    <a:gd name="connsiteY18" fmla="*/ 950913 h 1179513"/>
                    <a:gd name="connsiteX19" fmla="*/ 626998 w 1179513"/>
                    <a:gd name="connsiteY19" fmla="*/ 903288 h 1179513"/>
                    <a:gd name="connsiteX20" fmla="*/ 630581 w 1179513"/>
                    <a:gd name="connsiteY20" fmla="*/ 903288 h 1179513"/>
                    <a:gd name="connsiteX21" fmla="*/ 745956 w 1179513"/>
                    <a:gd name="connsiteY21" fmla="*/ 910426 h 1179513"/>
                    <a:gd name="connsiteX22" fmla="*/ 759572 w 1179513"/>
                    <a:gd name="connsiteY22" fmla="*/ 941831 h 1179513"/>
                    <a:gd name="connsiteX23" fmla="*/ 793253 w 1179513"/>
                    <a:gd name="connsiteY23" fmla="*/ 956106 h 1179513"/>
                    <a:gd name="connsiteX24" fmla="*/ 821917 w 1179513"/>
                    <a:gd name="connsiteY24" fmla="*/ 946114 h 1179513"/>
                    <a:gd name="connsiteX25" fmla="*/ 822634 w 1179513"/>
                    <a:gd name="connsiteY25" fmla="*/ 1010352 h 1179513"/>
                    <a:gd name="connsiteX26" fmla="*/ 825500 w 1179513"/>
                    <a:gd name="connsiteY26" fmla="*/ 1013207 h 1179513"/>
                    <a:gd name="connsiteX27" fmla="*/ 758855 w 1179513"/>
                    <a:gd name="connsiteY27" fmla="*/ 1098145 h 1179513"/>
                    <a:gd name="connsiteX28" fmla="*/ 644197 w 1179513"/>
                    <a:gd name="connsiteY28" fmla="*/ 1175944 h 1179513"/>
                    <a:gd name="connsiteX29" fmla="*/ 596900 w 1179513"/>
                    <a:gd name="connsiteY29" fmla="*/ 1179513 h 1179513"/>
                    <a:gd name="connsiteX30" fmla="*/ 596900 w 1179513"/>
                    <a:gd name="connsiteY30" fmla="*/ 936121 h 1179513"/>
                    <a:gd name="connsiteX31" fmla="*/ 599050 w 1179513"/>
                    <a:gd name="connsiteY31" fmla="*/ 936121 h 1179513"/>
                    <a:gd name="connsiteX32" fmla="*/ 626998 w 1179513"/>
                    <a:gd name="connsiteY32" fmla="*/ 904716 h 1179513"/>
                    <a:gd name="connsiteX33" fmla="*/ 626998 w 1179513"/>
                    <a:gd name="connsiteY33" fmla="*/ 903288 h 1179513"/>
                    <a:gd name="connsiteX34" fmla="*/ 543242 w 1179513"/>
                    <a:gd name="connsiteY34" fmla="*/ 903288 h 1179513"/>
                    <a:gd name="connsiteX35" fmla="*/ 546114 w 1179513"/>
                    <a:gd name="connsiteY35" fmla="*/ 903288 h 1179513"/>
                    <a:gd name="connsiteX36" fmla="*/ 546114 w 1179513"/>
                    <a:gd name="connsiteY36" fmla="*/ 904716 h 1179513"/>
                    <a:gd name="connsiteX37" fmla="*/ 574827 w 1179513"/>
                    <a:gd name="connsiteY37" fmla="*/ 936121 h 1179513"/>
                    <a:gd name="connsiteX38" fmla="*/ 576262 w 1179513"/>
                    <a:gd name="connsiteY38" fmla="*/ 936121 h 1179513"/>
                    <a:gd name="connsiteX39" fmla="*/ 576262 w 1179513"/>
                    <a:gd name="connsiteY39" fmla="*/ 1179513 h 1179513"/>
                    <a:gd name="connsiteX40" fmla="*/ 536064 w 1179513"/>
                    <a:gd name="connsiteY40" fmla="*/ 1175944 h 1179513"/>
                    <a:gd name="connsiteX41" fmla="*/ 424083 w 1179513"/>
                    <a:gd name="connsiteY41" fmla="*/ 1099572 h 1179513"/>
                    <a:gd name="connsiteX42" fmla="*/ 330766 w 1179513"/>
                    <a:gd name="connsiteY42" fmla="*/ 964671 h 1179513"/>
                    <a:gd name="connsiteX43" fmla="*/ 328612 w 1179513"/>
                    <a:gd name="connsiteY43" fmla="*/ 963244 h 1179513"/>
                    <a:gd name="connsiteX44" fmla="*/ 330766 w 1179513"/>
                    <a:gd name="connsiteY44" fmla="*/ 961103 h 1179513"/>
                    <a:gd name="connsiteX45" fmla="*/ 340815 w 1179513"/>
                    <a:gd name="connsiteY45" fmla="*/ 931125 h 1179513"/>
                    <a:gd name="connsiteX46" fmla="*/ 340815 w 1179513"/>
                    <a:gd name="connsiteY46" fmla="*/ 928270 h 1179513"/>
                    <a:gd name="connsiteX47" fmla="*/ 343687 w 1179513"/>
                    <a:gd name="connsiteY47" fmla="*/ 926128 h 1179513"/>
                    <a:gd name="connsiteX48" fmla="*/ 543242 w 1179513"/>
                    <a:gd name="connsiteY48" fmla="*/ 903288 h 1179513"/>
                    <a:gd name="connsiteX49" fmla="*/ 988495 w 1179513"/>
                    <a:gd name="connsiteY49" fmla="*/ 879475 h 1179513"/>
                    <a:gd name="connsiteX50" fmla="*/ 1046163 w 1179513"/>
                    <a:gd name="connsiteY50" fmla="*/ 887035 h 1179513"/>
                    <a:gd name="connsiteX51" fmla="*/ 988495 w 1179513"/>
                    <a:gd name="connsiteY51" fmla="*/ 880231 h 1179513"/>
                    <a:gd name="connsiteX52" fmla="*/ 920734 w 1179513"/>
                    <a:gd name="connsiteY52" fmla="*/ 890058 h 1179513"/>
                    <a:gd name="connsiteX53" fmla="*/ 904875 w 1179513"/>
                    <a:gd name="connsiteY53" fmla="*/ 895350 h 1179513"/>
                    <a:gd name="connsiteX54" fmla="*/ 922176 w 1179513"/>
                    <a:gd name="connsiteY54" fmla="*/ 889303 h 1179513"/>
                    <a:gd name="connsiteX55" fmla="*/ 988495 w 1179513"/>
                    <a:gd name="connsiteY55" fmla="*/ 879475 h 1179513"/>
                    <a:gd name="connsiteX56" fmla="*/ 975138 w 1179513"/>
                    <a:gd name="connsiteY56" fmla="*/ 588963 h 1179513"/>
                    <a:gd name="connsiteX57" fmla="*/ 1179513 w 1179513"/>
                    <a:gd name="connsiteY57" fmla="*/ 588963 h 1179513"/>
                    <a:gd name="connsiteX58" fmla="*/ 1179513 w 1179513"/>
                    <a:gd name="connsiteY58" fmla="*/ 590384 h 1179513"/>
                    <a:gd name="connsiteX59" fmla="*/ 1133226 w 1179513"/>
                    <a:gd name="connsiteY59" fmla="*/ 819151 h 1179513"/>
                    <a:gd name="connsiteX60" fmla="*/ 987956 w 1179513"/>
                    <a:gd name="connsiteY60" fmla="*/ 785049 h 1179513"/>
                    <a:gd name="connsiteX61" fmla="*/ 930275 w 1179513"/>
                    <a:gd name="connsiteY61" fmla="*/ 790733 h 1179513"/>
                    <a:gd name="connsiteX62" fmla="*/ 948790 w 1179513"/>
                    <a:gd name="connsiteY62" fmla="*/ 620223 h 1179513"/>
                    <a:gd name="connsiteX63" fmla="*/ 948790 w 1179513"/>
                    <a:gd name="connsiteY63" fmla="*/ 616671 h 1179513"/>
                    <a:gd name="connsiteX64" fmla="*/ 950214 w 1179513"/>
                    <a:gd name="connsiteY64" fmla="*/ 616671 h 1179513"/>
                    <a:gd name="connsiteX65" fmla="*/ 973714 w 1179513"/>
                    <a:gd name="connsiteY65" fmla="*/ 591805 h 1179513"/>
                    <a:gd name="connsiteX66" fmla="*/ 975138 w 1179513"/>
                    <a:gd name="connsiteY66" fmla="*/ 588963 h 1179513"/>
                    <a:gd name="connsiteX67" fmla="*/ 626918 w 1179513"/>
                    <a:gd name="connsiteY67" fmla="*/ 588963 h 1179513"/>
                    <a:gd name="connsiteX68" fmla="*/ 895653 w 1179513"/>
                    <a:gd name="connsiteY68" fmla="*/ 588963 h 1179513"/>
                    <a:gd name="connsiteX69" fmla="*/ 895653 w 1179513"/>
                    <a:gd name="connsiteY69" fmla="*/ 591814 h 1179513"/>
                    <a:gd name="connsiteX70" fmla="*/ 925671 w 1179513"/>
                    <a:gd name="connsiteY70" fmla="*/ 618896 h 1179513"/>
                    <a:gd name="connsiteX71" fmla="*/ 927100 w 1179513"/>
                    <a:gd name="connsiteY71" fmla="*/ 618896 h 1179513"/>
                    <a:gd name="connsiteX72" fmla="*/ 927100 w 1179513"/>
                    <a:gd name="connsiteY72" fmla="*/ 621746 h 1179513"/>
                    <a:gd name="connsiteX73" fmla="*/ 907803 w 1179513"/>
                    <a:gd name="connsiteY73" fmla="*/ 795640 h 1179513"/>
                    <a:gd name="connsiteX74" fmla="*/ 894223 w 1179513"/>
                    <a:gd name="connsiteY74" fmla="*/ 799916 h 1179513"/>
                    <a:gd name="connsiteX75" fmla="*/ 759856 w 1179513"/>
                    <a:gd name="connsiteY75" fmla="*/ 875460 h 1179513"/>
                    <a:gd name="connsiteX76" fmla="*/ 749850 w 1179513"/>
                    <a:gd name="connsiteY76" fmla="*/ 889001 h 1179513"/>
                    <a:gd name="connsiteX77" fmla="*/ 629063 w 1179513"/>
                    <a:gd name="connsiteY77" fmla="*/ 881162 h 1179513"/>
                    <a:gd name="connsiteX78" fmla="*/ 626918 w 1179513"/>
                    <a:gd name="connsiteY78" fmla="*/ 881162 h 1179513"/>
                    <a:gd name="connsiteX79" fmla="*/ 625489 w 1179513"/>
                    <a:gd name="connsiteY79" fmla="*/ 878311 h 1179513"/>
                    <a:gd name="connsiteX80" fmla="*/ 599044 w 1179513"/>
                    <a:gd name="connsiteY80" fmla="*/ 853367 h 1179513"/>
                    <a:gd name="connsiteX81" fmla="*/ 596900 w 1179513"/>
                    <a:gd name="connsiteY81" fmla="*/ 851229 h 1179513"/>
                    <a:gd name="connsiteX82" fmla="*/ 596900 w 1179513"/>
                    <a:gd name="connsiteY82" fmla="*/ 618896 h 1179513"/>
                    <a:gd name="connsiteX83" fmla="*/ 599044 w 1179513"/>
                    <a:gd name="connsiteY83" fmla="*/ 616758 h 1179513"/>
                    <a:gd name="connsiteX84" fmla="*/ 625489 w 1179513"/>
                    <a:gd name="connsiteY84" fmla="*/ 591814 h 1179513"/>
                    <a:gd name="connsiteX85" fmla="*/ 626918 w 1179513"/>
                    <a:gd name="connsiteY85" fmla="*/ 588963 h 1179513"/>
                    <a:gd name="connsiteX86" fmla="*/ 282272 w 1179513"/>
                    <a:gd name="connsiteY86" fmla="*/ 588963 h 1179513"/>
                    <a:gd name="connsiteX87" fmla="*/ 548298 w 1179513"/>
                    <a:gd name="connsiteY87" fmla="*/ 588963 h 1179513"/>
                    <a:gd name="connsiteX88" fmla="*/ 548298 w 1179513"/>
                    <a:gd name="connsiteY88" fmla="*/ 591817 h 1179513"/>
                    <a:gd name="connsiteX89" fmla="*/ 574829 w 1179513"/>
                    <a:gd name="connsiteY89" fmla="*/ 616789 h 1179513"/>
                    <a:gd name="connsiteX90" fmla="*/ 576263 w 1179513"/>
                    <a:gd name="connsiteY90" fmla="*/ 618929 h 1179513"/>
                    <a:gd name="connsiteX91" fmla="*/ 576263 w 1179513"/>
                    <a:gd name="connsiteY91" fmla="*/ 851525 h 1179513"/>
                    <a:gd name="connsiteX92" fmla="*/ 574829 w 1179513"/>
                    <a:gd name="connsiteY92" fmla="*/ 853665 h 1179513"/>
                    <a:gd name="connsiteX93" fmla="*/ 548298 w 1179513"/>
                    <a:gd name="connsiteY93" fmla="*/ 878637 h 1179513"/>
                    <a:gd name="connsiteX94" fmla="*/ 548298 w 1179513"/>
                    <a:gd name="connsiteY94" fmla="*/ 881491 h 1179513"/>
                    <a:gd name="connsiteX95" fmla="*/ 544713 w 1179513"/>
                    <a:gd name="connsiteY95" fmla="*/ 881491 h 1179513"/>
                    <a:gd name="connsiteX96" fmla="*/ 336051 w 1179513"/>
                    <a:gd name="connsiteY96" fmla="*/ 906463 h 1179513"/>
                    <a:gd name="connsiteX97" fmla="*/ 333900 w 1179513"/>
                    <a:gd name="connsiteY97" fmla="*/ 906463 h 1179513"/>
                    <a:gd name="connsiteX98" fmla="*/ 332466 w 1179513"/>
                    <a:gd name="connsiteY98" fmla="*/ 905036 h 1179513"/>
                    <a:gd name="connsiteX99" fmla="*/ 302350 w 1179513"/>
                    <a:gd name="connsiteY99" fmla="*/ 888626 h 1179513"/>
                    <a:gd name="connsiteX100" fmla="*/ 300915 w 1179513"/>
                    <a:gd name="connsiteY100" fmla="*/ 888626 h 1179513"/>
                    <a:gd name="connsiteX101" fmla="*/ 298764 w 1179513"/>
                    <a:gd name="connsiteY101" fmla="*/ 886486 h 1179513"/>
                    <a:gd name="connsiteX102" fmla="*/ 257175 w 1179513"/>
                    <a:gd name="connsiteY102" fmla="*/ 618929 h 1179513"/>
                    <a:gd name="connsiteX103" fmla="*/ 257175 w 1179513"/>
                    <a:gd name="connsiteY103" fmla="*/ 616789 h 1179513"/>
                    <a:gd name="connsiteX104" fmla="*/ 258609 w 1179513"/>
                    <a:gd name="connsiteY104" fmla="*/ 615362 h 1179513"/>
                    <a:gd name="connsiteX105" fmla="*/ 282272 w 1179513"/>
                    <a:gd name="connsiteY105" fmla="*/ 591817 h 1179513"/>
                    <a:gd name="connsiteX106" fmla="*/ 282272 w 1179513"/>
                    <a:gd name="connsiteY106" fmla="*/ 588963 h 1179513"/>
                    <a:gd name="connsiteX107" fmla="*/ 0 w 1179513"/>
                    <a:gd name="connsiteY107" fmla="*/ 588963 h 1179513"/>
                    <a:gd name="connsiteX108" fmla="*/ 202940 w 1179513"/>
                    <a:gd name="connsiteY108" fmla="*/ 588963 h 1179513"/>
                    <a:gd name="connsiteX109" fmla="*/ 205084 w 1179513"/>
                    <a:gd name="connsiteY109" fmla="*/ 591813 h 1179513"/>
                    <a:gd name="connsiteX110" fmla="*/ 235096 w 1179513"/>
                    <a:gd name="connsiteY110" fmla="*/ 618889 h 1179513"/>
                    <a:gd name="connsiteX111" fmla="*/ 237954 w 1179513"/>
                    <a:gd name="connsiteY111" fmla="*/ 620314 h 1179513"/>
                    <a:gd name="connsiteX112" fmla="*/ 237954 w 1179513"/>
                    <a:gd name="connsiteY112" fmla="*/ 621739 h 1179513"/>
                    <a:gd name="connsiteX113" fmla="*/ 279400 w 1179513"/>
                    <a:gd name="connsiteY113" fmla="*/ 891073 h 1179513"/>
                    <a:gd name="connsiteX114" fmla="*/ 279400 w 1179513"/>
                    <a:gd name="connsiteY114" fmla="*/ 893210 h 1179513"/>
                    <a:gd name="connsiteX115" fmla="*/ 277971 w 1179513"/>
                    <a:gd name="connsiteY115" fmla="*/ 894635 h 1179513"/>
                    <a:gd name="connsiteX116" fmla="*/ 257963 w 1179513"/>
                    <a:gd name="connsiteY116" fmla="*/ 928124 h 1179513"/>
                    <a:gd name="connsiteX117" fmla="*/ 257963 w 1179513"/>
                    <a:gd name="connsiteY117" fmla="*/ 929549 h 1179513"/>
                    <a:gd name="connsiteX118" fmla="*/ 256533 w 1179513"/>
                    <a:gd name="connsiteY118" fmla="*/ 930974 h 1179513"/>
                    <a:gd name="connsiteX119" fmla="*/ 155063 w 1179513"/>
                    <a:gd name="connsiteY119" fmla="*/ 985838 h 1179513"/>
                    <a:gd name="connsiteX120" fmla="*/ 0 w 1179513"/>
                    <a:gd name="connsiteY120" fmla="*/ 590388 h 1179513"/>
                    <a:gd name="connsiteX121" fmla="*/ 0 w 1179513"/>
                    <a:gd name="connsiteY121" fmla="*/ 588963 h 1179513"/>
                    <a:gd name="connsiteX122" fmla="*/ 832043 w 1179513"/>
                    <a:gd name="connsiteY122" fmla="*/ 258763 h 1179513"/>
                    <a:gd name="connsiteX123" fmla="*/ 833472 w 1179513"/>
                    <a:gd name="connsiteY123" fmla="*/ 258763 h 1179513"/>
                    <a:gd name="connsiteX124" fmla="*/ 835616 w 1179513"/>
                    <a:gd name="connsiteY124" fmla="*/ 260192 h 1179513"/>
                    <a:gd name="connsiteX125" fmla="*/ 882073 w 1179513"/>
                    <a:gd name="connsiteY125" fmla="*/ 281629 h 1179513"/>
                    <a:gd name="connsiteX126" fmla="*/ 885647 w 1179513"/>
                    <a:gd name="connsiteY126" fmla="*/ 280200 h 1179513"/>
                    <a:gd name="connsiteX127" fmla="*/ 885647 w 1179513"/>
                    <a:gd name="connsiteY127" fmla="*/ 283773 h 1179513"/>
                    <a:gd name="connsiteX128" fmla="*/ 927100 w 1179513"/>
                    <a:gd name="connsiteY128" fmla="*/ 530296 h 1179513"/>
                    <a:gd name="connsiteX129" fmla="*/ 927100 w 1179513"/>
                    <a:gd name="connsiteY129" fmla="*/ 533868 h 1179513"/>
                    <a:gd name="connsiteX130" fmla="*/ 925671 w 1179513"/>
                    <a:gd name="connsiteY130" fmla="*/ 533868 h 1179513"/>
                    <a:gd name="connsiteX131" fmla="*/ 893508 w 1179513"/>
                    <a:gd name="connsiteY131" fmla="*/ 565309 h 1179513"/>
                    <a:gd name="connsiteX132" fmla="*/ 893508 w 1179513"/>
                    <a:gd name="connsiteY132" fmla="*/ 566738 h 1179513"/>
                    <a:gd name="connsiteX133" fmla="*/ 626918 w 1179513"/>
                    <a:gd name="connsiteY133" fmla="*/ 566738 h 1179513"/>
                    <a:gd name="connsiteX134" fmla="*/ 626918 w 1179513"/>
                    <a:gd name="connsiteY134" fmla="*/ 565309 h 1179513"/>
                    <a:gd name="connsiteX135" fmla="*/ 599044 w 1179513"/>
                    <a:gd name="connsiteY135" fmla="*/ 533868 h 1179513"/>
                    <a:gd name="connsiteX136" fmla="*/ 596900 w 1179513"/>
                    <a:gd name="connsiteY136" fmla="*/ 533868 h 1179513"/>
                    <a:gd name="connsiteX137" fmla="*/ 596900 w 1179513"/>
                    <a:gd name="connsiteY137" fmla="*/ 313784 h 1179513"/>
                    <a:gd name="connsiteX138" fmla="*/ 599044 w 1179513"/>
                    <a:gd name="connsiteY138" fmla="*/ 311641 h 1179513"/>
                    <a:gd name="connsiteX139" fmla="*/ 626918 w 1179513"/>
                    <a:gd name="connsiteY139" fmla="*/ 283773 h 1179513"/>
                    <a:gd name="connsiteX140" fmla="*/ 626918 w 1179513"/>
                    <a:gd name="connsiteY140" fmla="*/ 280200 h 1179513"/>
                    <a:gd name="connsiteX141" fmla="*/ 630492 w 1179513"/>
                    <a:gd name="connsiteY141" fmla="*/ 280200 h 1179513"/>
                    <a:gd name="connsiteX142" fmla="*/ 832043 w 1179513"/>
                    <a:gd name="connsiteY142" fmla="*/ 258763 h 1179513"/>
                    <a:gd name="connsiteX143" fmla="*/ 336051 w 1179513"/>
                    <a:gd name="connsiteY143" fmla="*/ 255588 h 1179513"/>
                    <a:gd name="connsiteX144" fmla="*/ 337485 w 1179513"/>
                    <a:gd name="connsiteY144" fmla="*/ 255588 h 1179513"/>
                    <a:gd name="connsiteX145" fmla="*/ 544713 w 1179513"/>
                    <a:gd name="connsiteY145" fmla="*/ 280566 h 1179513"/>
                    <a:gd name="connsiteX146" fmla="*/ 546147 w 1179513"/>
                    <a:gd name="connsiteY146" fmla="*/ 280566 h 1179513"/>
                    <a:gd name="connsiteX147" fmla="*/ 548298 w 1179513"/>
                    <a:gd name="connsiteY147" fmla="*/ 281993 h 1179513"/>
                    <a:gd name="connsiteX148" fmla="*/ 574829 w 1179513"/>
                    <a:gd name="connsiteY148" fmla="*/ 311966 h 1179513"/>
                    <a:gd name="connsiteX149" fmla="*/ 576263 w 1179513"/>
                    <a:gd name="connsiteY149" fmla="*/ 314107 h 1179513"/>
                    <a:gd name="connsiteX150" fmla="*/ 576263 w 1179513"/>
                    <a:gd name="connsiteY150" fmla="*/ 533910 h 1179513"/>
                    <a:gd name="connsiteX151" fmla="*/ 574829 w 1179513"/>
                    <a:gd name="connsiteY151" fmla="*/ 533910 h 1179513"/>
                    <a:gd name="connsiteX152" fmla="*/ 546147 w 1179513"/>
                    <a:gd name="connsiteY152" fmla="*/ 565311 h 1179513"/>
                    <a:gd name="connsiteX153" fmla="*/ 546147 w 1179513"/>
                    <a:gd name="connsiteY153" fmla="*/ 566738 h 1179513"/>
                    <a:gd name="connsiteX154" fmla="*/ 283706 w 1179513"/>
                    <a:gd name="connsiteY154" fmla="*/ 566738 h 1179513"/>
                    <a:gd name="connsiteX155" fmla="*/ 283706 w 1179513"/>
                    <a:gd name="connsiteY155" fmla="*/ 565311 h 1179513"/>
                    <a:gd name="connsiteX156" fmla="*/ 260761 w 1179513"/>
                    <a:gd name="connsiteY156" fmla="*/ 536765 h 1179513"/>
                    <a:gd name="connsiteX157" fmla="*/ 257175 w 1179513"/>
                    <a:gd name="connsiteY157" fmla="*/ 535338 h 1179513"/>
                    <a:gd name="connsiteX158" fmla="*/ 257175 w 1179513"/>
                    <a:gd name="connsiteY158" fmla="*/ 533910 h 1179513"/>
                    <a:gd name="connsiteX159" fmla="*/ 298764 w 1179513"/>
                    <a:gd name="connsiteY159" fmla="*/ 279138 h 1179513"/>
                    <a:gd name="connsiteX160" fmla="*/ 298764 w 1179513"/>
                    <a:gd name="connsiteY160" fmla="*/ 276998 h 1179513"/>
                    <a:gd name="connsiteX161" fmla="*/ 302350 w 1179513"/>
                    <a:gd name="connsiteY161" fmla="*/ 276998 h 1179513"/>
                    <a:gd name="connsiteX162" fmla="*/ 333900 w 1179513"/>
                    <a:gd name="connsiteY162" fmla="*/ 257015 h 1179513"/>
                    <a:gd name="connsiteX163" fmla="*/ 336051 w 1179513"/>
                    <a:gd name="connsiteY163" fmla="*/ 255588 h 1179513"/>
                    <a:gd name="connsiteX164" fmla="*/ 1019471 w 1179513"/>
                    <a:gd name="connsiteY164" fmla="*/ 187325 h 1179513"/>
                    <a:gd name="connsiteX165" fmla="*/ 1177925 w 1179513"/>
                    <a:gd name="connsiteY165" fmla="*/ 566738 h 1179513"/>
                    <a:gd name="connsiteX166" fmla="*/ 974504 w 1179513"/>
                    <a:gd name="connsiteY166" fmla="*/ 566738 h 1179513"/>
                    <a:gd name="connsiteX167" fmla="*/ 974504 w 1179513"/>
                    <a:gd name="connsiteY167" fmla="*/ 565312 h 1179513"/>
                    <a:gd name="connsiteX168" fmla="*/ 949522 w 1179513"/>
                    <a:gd name="connsiteY168" fmla="*/ 535358 h 1179513"/>
                    <a:gd name="connsiteX169" fmla="*/ 948095 w 1179513"/>
                    <a:gd name="connsiteY169" fmla="*/ 533932 h 1179513"/>
                    <a:gd name="connsiteX170" fmla="*/ 948095 w 1179513"/>
                    <a:gd name="connsiteY170" fmla="*/ 531792 h 1179513"/>
                    <a:gd name="connsiteX171" fmla="*/ 903128 w 1179513"/>
                    <a:gd name="connsiteY171" fmla="*/ 270767 h 1179513"/>
                    <a:gd name="connsiteX172" fmla="*/ 901700 w 1179513"/>
                    <a:gd name="connsiteY172" fmla="*/ 269341 h 1179513"/>
                    <a:gd name="connsiteX173" fmla="*/ 903128 w 1179513"/>
                    <a:gd name="connsiteY173" fmla="*/ 267202 h 1179513"/>
                    <a:gd name="connsiteX174" fmla="*/ 913120 w 1179513"/>
                    <a:gd name="connsiteY174" fmla="*/ 239387 h 1179513"/>
                    <a:gd name="connsiteX175" fmla="*/ 913120 w 1179513"/>
                    <a:gd name="connsiteY175" fmla="*/ 237248 h 1179513"/>
                    <a:gd name="connsiteX176" fmla="*/ 916689 w 1179513"/>
                    <a:gd name="connsiteY176" fmla="*/ 235821 h 1179513"/>
                    <a:gd name="connsiteX177" fmla="*/ 1019471 w 1179513"/>
                    <a:gd name="connsiteY177" fmla="*/ 187325 h 1179513"/>
                    <a:gd name="connsiteX178" fmla="*/ 165132 w 1179513"/>
                    <a:gd name="connsiteY178" fmla="*/ 180975 h 1179513"/>
                    <a:gd name="connsiteX179" fmla="*/ 256546 w 1179513"/>
                    <a:gd name="connsiteY179" fmla="*/ 229643 h 1179513"/>
                    <a:gd name="connsiteX180" fmla="*/ 257975 w 1179513"/>
                    <a:gd name="connsiteY180" fmla="*/ 229643 h 1179513"/>
                    <a:gd name="connsiteX181" fmla="*/ 257975 w 1179513"/>
                    <a:gd name="connsiteY181" fmla="*/ 233221 h 1179513"/>
                    <a:gd name="connsiteX182" fmla="*/ 277972 w 1179513"/>
                    <a:gd name="connsiteY182" fmla="*/ 269722 h 1179513"/>
                    <a:gd name="connsiteX183" fmla="*/ 279400 w 1179513"/>
                    <a:gd name="connsiteY183" fmla="*/ 269722 h 1179513"/>
                    <a:gd name="connsiteX184" fmla="*/ 279400 w 1179513"/>
                    <a:gd name="connsiteY184" fmla="*/ 273301 h 1179513"/>
                    <a:gd name="connsiteX185" fmla="*/ 237978 w 1179513"/>
                    <a:gd name="connsiteY185" fmla="*/ 530237 h 1179513"/>
                    <a:gd name="connsiteX186" fmla="*/ 237978 w 1179513"/>
                    <a:gd name="connsiteY186" fmla="*/ 531669 h 1179513"/>
                    <a:gd name="connsiteX187" fmla="*/ 235121 w 1179513"/>
                    <a:gd name="connsiteY187" fmla="*/ 533816 h 1179513"/>
                    <a:gd name="connsiteX188" fmla="*/ 202983 w 1179513"/>
                    <a:gd name="connsiteY188" fmla="*/ 565307 h 1179513"/>
                    <a:gd name="connsiteX189" fmla="*/ 201555 w 1179513"/>
                    <a:gd name="connsiteY189" fmla="*/ 566738 h 1179513"/>
                    <a:gd name="connsiteX190" fmla="*/ 1587 w 1179513"/>
                    <a:gd name="connsiteY190" fmla="*/ 566738 h 1179513"/>
                    <a:gd name="connsiteX191" fmla="*/ 165132 w 1179513"/>
                    <a:gd name="connsiteY191" fmla="*/ 180975 h 1179513"/>
                    <a:gd name="connsiteX192" fmla="*/ 458787 w 1179513"/>
                    <a:gd name="connsiteY192" fmla="*/ 14288 h 1179513"/>
                    <a:gd name="connsiteX193" fmla="*/ 410911 w 1179513"/>
                    <a:gd name="connsiteY193" fmla="*/ 51920 h 1179513"/>
                    <a:gd name="connsiteX194" fmla="*/ 312299 w 1179513"/>
                    <a:gd name="connsiteY194" fmla="*/ 188249 h 1179513"/>
                    <a:gd name="connsiteX195" fmla="*/ 310870 w 1179513"/>
                    <a:gd name="connsiteY195" fmla="*/ 189670 h 1179513"/>
                    <a:gd name="connsiteX196" fmla="*/ 308726 w 1179513"/>
                    <a:gd name="connsiteY196" fmla="*/ 189670 h 1179513"/>
                    <a:gd name="connsiteX197" fmla="*/ 265851 w 1179513"/>
                    <a:gd name="connsiteY197" fmla="*/ 206001 h 1179513"/>
                    <a:gd name="connsiteX198" fmla="*/ 263707 w 1179513"/>
                    <a:gd name="connsiteY198" fmla="*/ 209551 h 1179513"/>
                    <a:gd name="connsiteX199" fmla="*/ 260849 w 1179513"/>
                    <a:gd name="connsiteY199" fmla="*/ 208131 h 1179513"/>
                    <a:gd name="connsiteX200" fmla="*/ 179387 w 1179513"/>
                    <a:gd name="connsiteY200" fmla="*/ 164818 h 1179513"/>
                    <a:gd name="connsiteX201" fmla="*/ 458787 w 1179513"/>
                    <a:gd name="connsiteY201" fmla="*/ 14288 h 1179513"/>
                    <a:gd name="connsiteX202" fmla="*/ 711200 w 1179513"/>
                    <a:gd name="connsiteY202" fmla="*/ 11113 h 1179513"/>
                    <a:gd name="connsiteX203" fmla="*/ 1004888 w 1179513"/>
                    <a:gd name="connsiteY203" fmla="*/ 170632 h 1179513"/>
                    <a:gd name="connsiteX204" fmla="*/ 910794 w 1179513"/>
                    <a:gd name="connsiteY204" fmla="*/ 215901 h 1179513"/>
                    <a:gd name="connsiteX205" fmla="*/ 907230 w 1179513"/>
                    <a:gd name="connsiteY205" fmla="*/ 215901 h 1179513"/>
                    <a:gd name="connsiteX206" fmla="*/ 907230 w 1179513"/>
                    <a:gd name="connsiteY206" fmla="*/ 214464 h 1179513"/>
                    <a:gd name="connsiteX207" fmla="*/ 873727 w 1179513"/>
                    <a:gd name="connsiteY207" fmla="*/ 195781 h 1179513"/>
                    <a:gd name="connsiteX208" fmla="*/ 872301 w 1179513"/>
                    <a:gd name="connsiteY208" fmla="*/ 195781 h 1179513"/>
                    <a:gd name="connsiteX209" fmla="*/ 870875 w 1179513"/>
                    <a:gd name="connsiteY209" fmla="*/ 194344 h 1179513"/>
                    <a:gd name="connsiteX210" fmla="*/ 768940 w 1179513"/>
                    <a:gd name="connsiteY210" fmla="*/ 56382 h 1179513"/>
                    <a:gd name="connsiteX211" fmla="*/ 711200 w 1179513"/>
                    <a:gd name="connsiteY211" fmla="*/ 11113 h 1179513"/>
                    <a:gd name="connsiteX212" fmla="*/ 596900 w 1179513"/>
                    <a:gd name="connsiteY212" fmla="*/ 0 h 1179513"/>
                    <a:gd name="connsiteX213" fmla="*/ 644152 w 1179513"/>
                    <a:gd name="connsiteY213" fmla="*/ 1430 h 1179513"/>
                    <a:gd name="connsiteX214" fmla="*/ 755837 w 1179513"/>
                    <a:gd name="connsiteY214" fmla="*/ 73626 h 1179513"/>
                    <a:gd name="connsiteX215" fmla="*/ 851056 w 1179513"/>
                    <a:gd name="connsiteY215" fmla="*/ 198718 h 1179513"/>
                    <a:gd name="connsiteX216" fmla="*/ 852488 w 1179513"/>
                    <a:gd name="connsiteY216" fmla="*/ 200148 h 1179513"/>
                    <a:gd name="connsiteX217" fmla="*/ 848909 w 1179513"/>
                    <a:gd name="connsiteY217" fmla="*/ 203722 h 1179513"/>
                    <a:gd name="connsiteX218" fmla="*/ 831010 w 1179513"/>
                    <a:gd name="connsiteY218" fmla="*/ 233744 h 1179513"/>
                    <a:gd name="connsiteX219" fmla="*/ 831010 w 1179513"/>
                    <a:gd name="connsiteY219" fmla="*/ 236604 h 1179513"/>
                    <a:gd name="connsiteX220" fmla="*/ 827431 w 1179513"/>
                    <a:gd name="connsiteY220" fmla="*/ 236604 h 1179513"/>
                    <a:gd name="connsiteX221" fmla="*/ 629117 w 1179513"/>
                    <a:gd name="connsiteY221" fmla="*/ 258763 h 1179513"/>
                    <a:gd name="connsiteX222" fmla="*/ 626969 w 1179513"/>
                    <a:gd name="connsiteY222" fmla="*/ 258763 h 1179513"/>
                    <a:gd name="connsiteX223" fmla="*/ 626969 w 1179513"/>
                    <a:gd name="connsiteY223" fmla="*/ 256619 h 1179513"/>
                    <a:gd name="connsiteX224" fmla="*/ 599048 w 1179513"/>
                    <a:gd name="connsiteY224" fmla="*/ 228741 h 1179513"/>
                    <a:gd name="connsiteX225" fmla="*/ 596900 w 1179513"/>
                    <a:gd name="connsiteY225" fmla="*/ 228741 h 1179513"/>
                    <a:gd name="connsiteX226" fmla="*/ 596900 w 1179513"/>
                    <a:gd name="connsiteY226" fmla="*/ 0 h 1179513"/>
                    <a:gd name="connsiteX227" fmla="*/ 576262 w 1179513"/>
                    <a:gd name="connsiteY227" fmla="*/ 0 h 1179513"/>
                    <a:gd name="connsiteX228" fmla="*/ 576262 w 1179513"/>
                    <a:gd name="connsiteY228" fmla="*/ 228741 h 1179513"/>
                    <a:gd name="connsiteX229" fmla="*/ 574827 w 1179513"/>
                    <a:gd name="connsiteY229" fmla="*/ 228741 h 1179513"/>
                    <a:gd name="connsiteX230" fmla="*/ 548267 w 1179513"/>
                    <a:gd name="connsiteY230" fmla="*/ 256619 h 1179513"/>
                    <a:gd name="connsiteX231" fmla="*/ 546114 w 1179513"/>
                    <a:gd name="connsiteY231" fmla="*/ 258763 h 1179513"/>
                    <a:gd name="connsiteX232" fmla="*/ 544678 w 1179513"/>
                    <a:gd name="connsiteY232" fmla="*/ 258763 h 1179513"/>
                    <a:gd name="connsiteX233" fmla="*/ 343687 w 1179513"/>
                    <a:gd name="connsiteY233" fmla="*/ 233744 h 1179513"/>
                    <a:gd name="connsiteX234" fmla="*/ 342251 w 1179513"/>
                    <a:gd name="connsiteY234" fmla="*/ 233744 h 1179513"/>
                    <a:gd name="connsiteX235" fmla="*/ 340815 w 1179513"/>
                    <a:gd name="connsiteY235" fmla="*/ 230170 h 1179513"/>
                    <a:gd name="connsiteX236" fmla="*/ 330766 w 1179513"/>
                    <a:gd name="connsiteY236" fmla="*/ 203722 h 1179513"/>
                    <a:gd name="connsiteX237" fmla="*/ 328612 w 1179513"/>
                    <a:gd name="connsiteY237" fmla="*/ 201578 h 1179513"/>
                    <a:gd name="connsiteX238" fmla="*/ 330766 w 1179513"/>
                    <a:gd name="connsiteY238" fmla="*/ 198718 h 1179513"/>
                    <a:gd name="connsiteX239" fmla="*/ 422647 w 1179513"/>
                    <a:gd name="connsiteY239" fmla="*/ 70052 h 1179513"/>
                    <a:gd name="connsiteX240" fmla="*/ 526014 w 1179513"/>
                    <a:gd name="connsiteY240" fmla="*/ 3574 h 1179513"/>
                    <a:gd name="connsiteX241" fmla="*/ 576262 w 1179513"/>
                    <a:gd name="connsiteY241" fmla="*/ 0 h 1179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179513" h="1179513">
                      <a:moveTo>
                        <a:pt x="879944" y="1017588"/>
                      </a:moveTo>
                      <a:cubicBezTo>
                        <a:pt x="873512" y="1026206"/>
                        <a:pt x="869939" y="1036260"/>
                        <a:pt x="869939" y="1047033"/>
                      </a:cubicBezTo>
                      <a:cubicBezTo>
                        <a:pt x="869939" y="1059241"/>
                        <a:pt x="874227" y="1071450"/>
                        <a:pt x="883517" y="1080786"/>
                      </a:cubicBezTo>
                      <a:cubicBezTo>
                        <a:pt x="887805" y="1085095"/>
                        <a:pt x="892808" y="1088686"/>
                        <a:pt x="898525" y="1090840"/>
                      </a:cubicBezTo>
                      <a:cubicBezTo>
                        <a:pt x="839922" y="1127466"/>
                        <a:pt x="774173" y="1153320"/>
                        <a:pt x="704850" y="1168401"/>
                      </a:cubicBezTo>
                      <a:cubicBezTo>
                        <a:pt x="724861" y="1154756"/>
                        <a:pt x="748445" y="1136084"/>
                        <a:pt x="769885" y="1114539"/>
                      </a:cubicBezTo>
                      <a:cubicBezTo>
                        <a:pt x="797042" y="1088686"/>
                        <a:pt x="821341" y="1057805"/>
                        <a:pt x="842781" y="1022615"/>
                      </a:cubicBezTo>
                      <a:cubicBezTo>
                        <a:pt x="847069" y="1024052"/>
                        <a:pt x="851357" y="1024770"/>
                        <a:pt x="855645" y="1024770"/>
                      </a:cubicBezTo>
                      <a:cubicBezTo>
                        <a:pt x="864221" y="1024770"/>
                        <a:pt x="872797" y="1021897"/>
                        <a:pt x="879944" y="1017588"/>
                      </a:cubicBezTo>
                      <a:close/>
                      <a:moveTo>
                        <a:pt x="262876" y="950913"/>
                      </a:moveTo>
                      <a:cubicBezTo>
                        <a:pt x="262876" y="950913"/>
                        <a:pt x="262876" y="950913"/>
                        <a:pt x="264307" y="954490"/>
                      </a:cubicBezTo>
                      <a:cubicBezTo>
                        <a:pt x="272893" y="970945"/>
                        <a:pt x="291496" y="979530"/>
                        <a:pt x="309383" y="974522"/>
                      </a:cubicBezTo>
                      <a:cubicBezTo>
                        <a:pt x="309383" y="974522"/>
                        <a:pt x="309383" y="974522"/>
                        <a:pt x="311530" y="974522"/>
                      </a:cubicBezTo>
                      <a:cubicBezTo>
                        <a:pt x="311530" y="974522"/>
                        <a:pt x="311530" y="974522"/>
                        <a:pt x="312961" y="975953"/>
                      </a:cubicBezTo>
                      <a:cubicBezTo>
                        <a:pt x="339434" y="1031040"/>
                        <a:pt x="373062" y="1079689"/>
                        <a:pt x="411699" y="1118322"/>
                      </a:cubicBezTo>
                      <a:cubicBezTo>
                        <a:pt x="433164" y="1138353"/>
                        <a:pt x="454628" y="1154808"/>
                        <a:pt x="474662" y="1168401"/>
                      </a:cubicBezTo>
                      <a:cubicBezTo>
                        <a:pt x="356606" y="1144792"/>
                        <a:pt x="251428" y="1084697"/>
                        <a:pt x="169862" y="1003139"/>
                      </a:cubicBezTo>
                      <a:cubicBezTo>
                        <a:pt x="186318" y="989546"/>
                        <a:pt x="214938" y="970945"/>
                        <a:pt x="259299" y="953059"/>
                      </a:cubicBezTo>
                      <a:cubicBezTo>
                        <a:pt x="259299" y="953059"/>
                        <a:pt x="259299" y="953059"/>
                        <a:pt x="262876" y="950913"/>
                      </a:cubicBezTo>
                      <a:close/>
                      <a:moveTo>
                        <a:pt x="626998" y="903288"/>
                      </a:moveTo>
                      <a:cubicBezTo>
                        <a:pt x="626998" y="903288"/>
                        <a:pt x="626998" y="903288"/>
                        <a:pt x="630581" y="903288"/>
                      </a:cubicBezTo>
                      <a:cubicBezTo>
                        <a:pt x="671428" y="904002"/>
                        <a:pt x="710125" y="906143"/>
                        <a:pt x="745956" y="910426"/>
                      </a:cubicBezTo>
                      <a:cubicBezTo>
                        <a:pt x="746673" y="921846"/>
                        <a:pt x="750972" y="933266"/>
                        <a:pt x="759572" y="941831"/>
                      </a:cubicBezTo>
                      <a:cubicBezTo>
                        <a:pt x="768171" y="951110"/>
                        <a:pt x="780354" y="956106"/>
                        <a:pt x="793253" y="956106"/>
                      </a:cubicBezTo>
                      <a:cubicBezTo>
                        <a:pt x="804002" y="956106"/>
                        <a:pt x="814034" y="952538"/>
                        <a:pt x="821917" y="946114"/>
                      </a:cubicBezTo>
                      <a:cubicBezTo>
                        <a:pt x="805435" y="964671"/>
                        <a:pt x="805435" y="992508"/>
                        <a:pt x="822634" y="1010352"/>
                      </a:cubicBezTo>
                      <a:cubicBezTo>
                        <a:pt x="824067" y="1011780"/>
                        <a:pt x="824784" y="1012493"/>
                        <a:pt x="825500" y="1013207"/>
                      </a:cubicBezTo>
                      <a:cubicBezTo>
                        <a:pt x="805435" y="1045326"/>
                        <a:pt x="783220" y="1073877"/>
                        <a:pt x="758855" y="1098145"/>
                      </a:cubicBezTo>
                      <a:cubicBezTo>
                        <a:pt x="717291" y="1139543"/>
                        <a:pt x="674295" y="1163097"/>
                        <a:pt x="644197" y="1175944"/>
                      </a:cubicBezTo>
                      <a:cubicBezTo>
                        <a:pt x="626998" y="1178086"/>
                        <a:pt x="611949" y="1179513"/>
                        <a:pt x="596900" y="1179513"/>
                      </a:cubicBezTo>
                      <a:cubicBezTo>
                        <a:pt x="596900" y="1179513"/>
                        <a:pt x="596900" y="1179513"/>
                        <a:pt x="596900" y="936121"/>
                      </a:cubicBezTo>
                      <a:cubicBezTo>
                        <a:pt x="596900" y="936121"/>
                        <a:pt x="596900" y="936121"/>
                        <a:pt x="599050" y="936121"/>
                      </a:cubicBezTo>
                      <a:cubicBezTo>
                        <a:pt x="614099" y="931125"/>
                        <a:pt x="624132" y="919705"/>
                        <a:pt x="626998" y="904716"/>
                      </a:cubicBezTo>
                      <a:cubicBezTo>
                        <a:pt x="626998" y="904716"/>
                        <a:pt x="626998" y="904716"/>
                        <a:pt x="626998" y="903288"/>
                      </a:cubicBezTo>
                      <a:close/>
                      <a:moveTo>
                        <a:pt x="543242" y="903288"/>
                      </a:moveTo>
                      <a:cubicBezTo>
                        <a:pt x="543242" y="903288"/>
                        <a:pt x="543242" y="903288"/>
                        <a:pt x="546114" y="903288"/>
                      </a:cubicBezTo>
                      <a:cubicBezTo>
                        <a:pt x="546114" y="903288"/>
                        <a:pt x="546114" y="903288"/>
                        <a:pt x="546114" y="904716"/>
                      </a:cubicBezTo>
                      <a:cubicBezTo>
                        <a:pt x="551138" y="919705"/>
                        <a:pt x="561188" y="931125"/>
                        <a:pt x="574827" y="936121"/>
                      </a:cubicBezTo>
                      <a:cubicBezTo>
                        <a:pt x="574827" y="936121"/>
                        <a:pt x="574827" y="936121"/>
                        <a:pt x="576262" y="936121"/>
                      </a:cubicBezTo>
                      <a:cubicBezTo>
                        <a:pt x="576262" y="936121"/>
                        <a:pt x="576262" y="936121"/>
                        <a:pt x="576262" y="1179513"/>
                      </a:cubicBezTo>
                      <a:cubicBezTo>
                        <a:pt x="563341" y="1178086"/>
                        <a:pt x="549703" y="1178086"/>
                        <a:pt x="536064" y="1175944"/>
                      </a:cubicBezTo>
                      <a:cubicBezTo>
                        <a:pt x="504480" y="1163097"/>
                        <a:pt x="464281" y="1139543"/>
                        <a:pt x="424083" y="1099572"/>
                      </a:cubicBezTo>
                      <a:cubicBezTo>
                        <a:pt x="387474" y="1063170"/>
                        <a:pt x="355890" y="1018203"/>
                        <a:pt x="330766" y="964671"/>
                      </a:cubicBezTo>
                      <a:cubicBezTo>
                        <a:pt x="330766" y="964671"/>
                        <a:pt x="330766" y="964671"/>
                        <a:pt x="328612" y="963244"/>
                      </a:cubicBezTo>
                      <a:cubicBezTo>
                        <a:pt x="328612" y="963244"/>
                        <a:pt x="328612" y="963244"/>
                        <a:pt x="330766" y="961103"/>
                      </a:cubicBezTo>
                      <a:cubicBezTo>
                        <a:pt x="337226" y="953251"/>
                        <a:pt x="340815" y="943259"/>
                        <a:pt x="340815" y="931125"/>
                      </a:cubicBezTo>
                      <a:cubicBezTo>
                        <a:pt x="340815" y="931125"/>
                        <a:pt x="340815" y="931125"/>
                        <a:pt x="340815" y="928270"/>
                      </a:cubicBezTo>
                      <a:cubicBezTo>
                        <a:pt x="340815" y="928270"/>
                        <a:pt x="340815" y="928270"/>
                        <a:pt x="343687" y="926128"/>
                      </a:cubicBezTo>
                      <a:cubicBezTo>
                        <a:pt x="402548" y="913281"/>
                        <a:pt x="469306" y="904716"/>
                        <a:pt x="543242" y="903288"/>
                      </a:cubicBezTo>
                      <a:close/>
                      <a:moveTo>
                        <a:pt x="988495" y="879475"/>
                      </a:moveTo>
                      <a:cubicBezTo>
                        <a:pt x="1007237" y="879475"/>
                        <a:pt x="1026700" y="881743"/>
                        <a:pt x="1046163" y="887035"/>
                      </a:cubicBezTo>
                      <a:cubicBezTo>
                        <a:pt x="1026700" y="882499"/>
                        <a:pt x="1007958" y="880231"/>
                        <a:pt x="988495" y="880231"/>
                      </a:cubicBezTo>
                      <a:cubicBezTo>
                        <a:pt x="965427" y="880231"/>
                        <a:pt x="943081" y="883255"/>
                        <a:pt x="920734" y="890058"/>
                      </a:cubicBezTo>
                      <a:cubicBezTo>
                        <a:pt x="914967" y="891570"/>
                        <a:pt x="909921" y="893838"/>
                        <a:pt x="904875" y="895350"/>
                      </a:cubicBezTo>
                      <a:cubicBezTo>
                        <a:pt x="910642" y="893838"/>
                        <a:pt x="916409" y="891570"/>
                        <a:pt x="922176" y="889303"/>
                      </a:cubicBezTo>
                      <a:cubicBezTo>
                        <a:pt x="944522" y="882499"/>
                        <a:pt x="966148" y="879475"/>
                        <a:pt x="988495" y="879475"/>
                      </a:cubicBezTo>
                      <a:close/>
                      <a:moveTo>
                        <a:pt x="975138" y="588963"/>
                      </a:moveTo>
                      <a:lnTo>
                        <a:pt x="1179513" y="588963"/>
                      </a:lnTo>
                      <a:cubicBezTo>
                        <a:pt x="1179513" y="588963"/>
                        <a:pt x="1179513" y="588963"/>
                        <a:pt x="1179513" y="590384"/>
                      </a:cubicBezTo>
                      <a:cubicBezTo>
                        <a:pt x="1179513" y="671376"/>
                        <a:pt x="1163135" y="748816"/>
                        <a:pt x="1133226" y="819151"/>
                      </a:cubicBezTo>
                      <a:cubicBezTo>
                        <a:pt x="1085515" y="796417"/>
                        <a:pt x="1037092" y="785049"/>
                        <a:pt x="987956" y="785049"/>
                      </a:cubicBezTo>
                      <a:cubicBezTo>
                        <a:pt x="968729" y="785049"/>
                        <a:pt x="949502" y="787181"/>
                        <a:pt x="930275" y="790733"/>
                      </a:cubicBezTo>
                      <a:cubicBezTo>
                        <a:pt x="940957" y="737449"/>
                        <a:pt x="946654" y="680612"/>
                        <a:pt x="948790" y="620223"/>
                      </a:cubicBezTo>
                      <a:cubicBezTo>
                        <a:pt x="948790" y="620223"/>
                        <a:pt x="948790" y="620223"/>
                        <a:pt x="948790" y="616671"/>
                      </a:cubicBezTo>
                      <a:cubicBezTo>
                        <a:pt x="948790" y="616671"/>
                        <a:pt x="948790" y="616671"/>
                        <a:pt x="950214" y="616671"/>
                      </a:cubicBezTo>
                      <a:cubicBezTo>
                        <a:pt x="962320" y="611698"/>
                        <a:pt x="970153" y="603883"/>
                        <a:pt x="973714" y="591805"/>
                      </a:cubicBezTo>
                      <a:cubicBezTo>
                        <a:pt x="973714" y="591805"/>
                        <a:pt x="973714" y="591805"/>
                        <a:pt x="975138" y="588963"/>
                      </a:cubicBezTo>
                      <a:close/>
                      <a:moveTo>
                        <a:pt x="626918" y="588963"/>
                      </a:moveTo>
                      <a:cubicBezTo>
                        <a:pt x="626918" y="588963"/>
                        <a:pt x="626918" y="588963"/>
                        <a:pt x="895653" y="588963"/>
                      </a:cubicBezTo>
                      <a:cubicBezTo>
                        <a:pt x="895653" y="588963"/>
                        <a:pt x="895653" y="588963"/>
                        <a:pt x="895653" y="591814"/>
                      </a:cubicBezTo>
                      <a:cubicBezTo>
                        <a:pt x="900656" y="605355"/>
                        <a:pt x="912091" y="615332"/>
                        <a:pt x="925671" y="618896"/>
                      </a:cubicBezTo>
                      <a:cubicBezTo>
                        <a:pt x="925671" y="618896"/>
                        <a:pt x="925671" y="618896"/>
                        <a:pt x="927100" y="618896"/>
                      </a:cubicBezTo>
                      <a:cubicBezTo>
                        <a:pt x="927100" y="618896"/>
                        <a:pt x="927100" y="618896"/>
                        <a:pt x="927100" y="621746"/>
                      </a:cubicBezTo>
                      <a:cubicBezTo>
                        <a:pt x="924956" y="684462"/>
                        <a:pt x="918524" y="742189"/>
                        <a:pt x="907803" y="795640"/>
                      </a:cubicBezTo>
                      <a:cubicBezTo>
                        <a:pt x="903515" y="797065"/>
                        <a:pt x="898511" y="798491"/>
                        <a:pt x="894223" y="799916"/>
                      </a:cubicBezTo>
                      <a:cubicBezTo>
                        <a:pt x="814175" y="823435"/>
                        <a:pt x="764859" y="870471"/>
                        <a:pt x="759856" y="875460"/>
                      </a:cubicBezTo>
                      <a:cubicBezTo>
                        <a:pt x="755568" y="879736"/>
                        <a:pt x="751994" y="884012"/>
                        <a:pt x="749850" y="889001"/>
                      </a:cubicBezTo>
                      <a:cubicBezTo>
                        <a:pt x="711970" y="884725"/>
                        <a:pt x="671231" y="882587"/>
                        <a:pt x="629063" y="881162"/>
                      </a:cubicBezTo>
                      <a:cubicBezTo>
                        <a:pt x="629063" y="881162"/>
                        <a:pt x="629063" y="881162"/>
                        <a:pt x="626918" y="881162"/>
                      </a:cubicBezTo>
                      <a:cubicBezTo>
                        <a:pt x="626918" y="881162"/>
                        <a:pt x="626918" y="881162"/>
                        <a:pt x="625489" y="878311"/>
                      </a:cubicBezTo>
                      <a:cubicBezTo>
                        <a:pt x="620486" y="866195"/>
                        <a:pt x="611909" y="856218"/>
                        <a:pt x="599044" y="853367"/>
                      </a:cubicBezTo>
                      <a:cubicBezTo>
                        <a:pt x="599044" y="853367"/>
                        <a:pt x="599044" y="853367"/>
                        <a:pt x="596900" y="851229"/>
                      </a:cubicBezTo>
                      <a:cubicBezTo>
                        <a:pt x="596900" y="851229"/>
                        <a:pt x="596900" y="851229"/>
                        <a:pt x="596900" y="618896"/>
                      </a:cubicBezTo>
                      <a:cubicBezTo>
                        <a:pt x="596900" y="618896"/>
                        <a:pt x="596900" y="618896"/>
                        <a:pt x="599044" y="616758"/>
                      </a:cubicBezTo>
                      <a:cubicBezTo>
                        <a:pt x="611909" y="613907"/>
                        <a:pt x="621915" y="603929"/>
                        <a:pt x="625489" y="591814"/>
                      </a:cubicBezTo>
                      <a:cubicBezTo>
                        <a:pt x="625489" y="591814"/>
                        <a:pt x="625489" y="591814"/>
                        <a:pt x="626918" y="588963"/>
                      </a:cubicBezTo>
                      <a:close/>
                      <a:moveTo>
                        <a:pt x="282272" y="588963"/>
                      </a:moveTo>
                      <a:cubicBezTo>
                        <a:pt x="282272" y="588963"/>
                        <a:pt x="282272" y="588963"/>
                        <a:pt x="548298" y="588963"/>
                      </a:cubicBezTo>
                      <a:cubicBezTo>
                        <a:pt x="548298" y="588963"/>
                        <a:pt x="548298" y="588963"/>
                        <a:pt x="548298" y="591817"/>
                      </a:cubicBezTo>
                      <a:cubicBezTo>
                        <a:pt x="553318" y="603946"/>
                        <a:pt x="563356" y="613935"/>
                        <a:pt x="574829" y="616789"/>
                      </a:cubicBezTo>
                      <a:cubicBezTo>
                        <a:pt x="574829" y="616789"/>
                        <a:pt x="574829" y="616789"/>
                        <a:pt x="576263" y="618929"/>
                      </a:cubicBezTo>
                      <a:cubicBezTo>
                        <a:pt x="576263" y="618929"/>
                        <a:pt x="576263" y="618929"/>
                        <a:pt x="576263" y="851525"/>
                      </a:cubicBezTo>
                      <a:cubicBezTo>
                        <a:pt x="576263" y="851525"/>
                        <a:pt x="576263" y="851525"/>
                        <a:pt x="574829" y="853665"/>
                      </a:cubicBezTo>
                      <a:cubicBezTo>
                        <a:pt x="563356" y="856519"/>
                        <a:pt x="553318" y="866508"/>
                        <a:pt x="548298" y="878637"/>
                      </a:cubicBezTo>
                      <a:cubicBezTo>
                        <a:pt x="548298" y="878637"/>
                        <a:pt x="548298" y="878637"/>
                        <a:pt x="548298" y="881491"/>
                      </a:cubicBezTo>
                      <a:cubicBezTo>
                        <a:pt x="548298" y="881491"/>
                        <a:pt x="548298" y="881491"/>
                        <a:pt x="544713" y="881491"/>
                      </a:cubicBezTo>
                      <a:cubicBezTo>
                        <a:pt x="467988" y="883632"/>
                        <a:pt x="397717" y="891480"/>
                        <a:pt x="336051" y="906463"/>
                      </a:cubicBezTo>
                      <a:cubicBezTo>
                        <a:pt x="336051" y="906463"/>
                        <a:pt x="336051" y="906463"/>
                        <a:pt x="333900" y="906463"/>
                      </a:cubicBezTo>
                      <a:cubicBezTo>
                        <a:pt x="333900" y="906463"/>
                        <a:pt x="333900" y="906463"/>
                        <a:pt x="332466" y="905036"/>
                      </a:cubicBezTo>
                      <a:cubicBezTo>
                        <a:pt x="326012" y="895047"/>
                        <a:pt x="313822" y="890053"/>
                        <a:pt x="302350" y="888626"/>
                      </a:cubicBezTo>
                      <a:cubicBezTo>
                        <a:pt x="302350" y="888626"/>
                        <a:pt x="302350" y="888626"/>
                        <a:pt x="300915" y="888626"/>
                      </a:cubicBezTo>
                      <a:cubicBezTo>
                        <a:pt x="300915" y="888626"/>
                        <a:pt x="300915" y="888626"/>
                        <a:pt x="298764" y="886486"/>
                      </a:cubicBezTo>
                      <a:cubicBezTo>
                        <a:pt x="273667" y="808716"/>
                        <a:pt x="260761" y="718817"/>
                        <a:pt x="257175" y="618929"/>
                      </a:cubicBezTo>
                      <a:cubicBezTo>
                        <a:pt x="257175" y="618929"/>
                        <a:pt x="257175" y="618929"/>
                        <a:pt x="257175" y="616789"/>
                      </a:cubicBezTo>
                      <a:cubicBezTo>
                        <a:pt x="257175" y="616789"/>
                        <a:pt x="257175" y="616789"/>
                        <a:pt x="258609" y="615362"/>
                      </a:cubicBezTo>
                      <a:cubicBezTo>
                        <a:pt x="270799" y="611795"/>
                        <a:pt x="277253" y="601806"/>
                        <a:pt x="282272" y="591817"/>
                      </a:cubicBezTo>
                      <a:cubicBezTo>
                        <a:pt x="282272" y="591817"/>
                        <a:pt x="282272" y="591817"/>
                        <a:pt x="282272" y="588963"/>
                      </a:cubicBezTo>
                      <a:close/>
                      <a:moveTo>
                        <a:pt x="0" y="588963"/>
                      </a:moveTo>
                      <a:cubicBezTo>
                        <a:pt x="0" y="588963"/>
                        <a:pt x="0" y="588963"/>
                        <a:pt x="202940" y="588963"/>
                      </a:cubicBezTo>
                      <a:cubicBezTo>
                        <a:pt x="202940" y="588963"/>
                        <a:pt x="202940" y="588963"/>
                        <a:pt x="205084" y="591813"/>
                      </a:cubicBezTo>
                      <a:cubicBezTo>
                        <a:pt x="210086" y="605351"/>
                        <a:pt x="221519" y="615326"/>
                        <a:pt x="235096" y="618889"/>
                      </a:cubicBezTo>
                      <a:cubicBezTo>
                        <a:pt x="235096" y="618889"/>
                        <a:pt x="235096" y="618889"/>
                        <a:pt x="237954" y="620314"/>
                      </a:cubicBezTo>
                      <a:cubicBezTo>
                        <a:pt x="237954" y="620314"/>
                        <a:pt x="237954" y="620314"/>
                        <a:pt x="237954" y="621739"/>
                      </a:cubicBezTo>
                      <a:cubicBezTo>
                        <a:pt x="241527" y="721492"/>
                        <a:pt x="254390" y="813408"/>
                        <a:pt x="279400" y="891073"/>
                      </a:cubicBezTo>
                      <a:cubicBezTo>
                        <a:pt x="279400" y="891073"/>
                        <a:pt x="279400" y="891073"/>
                        <a:pt x="279400" y="893210"/>
                      </a:cubicBezTo>
                      <a:cubicBezTo>
                        <a:pt x="279400" y="893210"/>
                        <a:pt x="279400" y="893210"/>
                        <a:pt x="277971" y="894635"/>
                      </a:cubicBezTo>
                      <a:cubicBezTo>
                        <a:pt x="266538" y="901048"/>
                        <a:pt x="259392" y="914586"/>
                        <a:pt x="257963" y="928124"/>
                      </a:cubicBezTo>
                      <a:cubicBezTo>
                        <a:pt x="257963" y="928124"/>
                        <a:pt x="257963" y="928124"/>
                        <a:pt x="257963" y="929549"/>
                      </a:cubicBezTo>
                      <a:cubicBezTo>
                        <a:pt x="257963" y="929549"/>
                        <a:pt x="257963" y="929549"/>
                        <a:pt x="256533" y="930974"/>
                      </a:cubicBezTo>
                      <a:cubicBezTo>
                        <a:pt x="206513" y="949499"/>
                        <a:pt x="172928" y="970875"/>
                        <a:pt x="155063" y="985838"/>
                      </a:cubicBezTo>
                      <a:cubicBezTo>
                        <a:pt x="58595" y="881097"/>
                        <a:pt x="0" y="743581"/>
                        <a:pt x="0" y="590388"/>
                      </a:cubicBezTo>
                      <a:cubicBezTo>
                        <a:pt x="0" y="588963"/>
                        <a:pt x="0" y="588963"/>
                        <a:pt x="0" y="588963"/>
                      </a:cubicBezTo>
                      <a:close/>
                      <a:moveTo>
                        <a:pt x="832043" y="258763"/>
                      </a:moveTo>
                      <a:cubicBezTo>
                        <a:pt x="832043" y="258763"/>
                        <a:pt x="832043" y="258763"/>
                        <a:pt x="833472" y="258763"/>
                      </a:cubicBezTo>
                      <a:cubicBezTo>
                        <a:pt x="833472" y="258763"/>
                        <a:pt x="833472" y="258763"/>
                        <a:pt x="835616" y="260192"/>
                      </a:cubicBezTo>
                      <a:cubicBezTo>
                        <a:pt x="845622" y="276627"/>
                        <a:pt x="862061" y="286631"/>
                        <a:pt x="882073" y="281629"/>
                      </a:cubicBezTo>
                      <a:cubicBezTo>
                        <a:pt x="882073" y="281629"/>
                        <a:pt x="882073" y="281629"/>
                        <a:pt x="885647" y="280200"/>
                      </a:cubicBezTo>
                      <a:cubicBezTo>
                        <a:pt x="885647" y="280200"/>
                        <a:pt x="885647" y="280200"/>
                        <a:pt x="885647" y="283773"/>
                      </a:cubicBezTo>
                      <a:cubicBezTo>
                        <a:pt x="910662" y="355229"/>
                        <a:pt x="923527" y="438832"/>
                        <a:pt x="927100" y="530296"/>
                      </a:cubicBezTo>
                      <a:cubicBezTo>
                        <a:pt x="927100" y="530296"/>
                        <a:pt x="927100" y="530296"/>
                        <a:pt x="927100" y="533868"/>
                      </a:cubicBezTo>
                      <a:cubicBezTo>
                        <a:pt x="927100" y="533868"/>
                        <a:pt x="927100" y="533868"/>
                        <a:pt x="925671" y="533868"/>
                      </a:cubicBezTo>
                      <a:cubicBezTo>
                        <a:pt x="910662" y="536727"/>
                        <a:pt x="898511" y="550303"/>
                        <a:pt x="893508" y="565309"/>
                      </a:cubicBezTo>
                      <a:cubicBezTo>
                        <a:pt x="893508" y="565309"/>
                        <a:pt x="893508" y="565309"/>
                        <a:pt x="893508" y="566738"/>
                      </a:cubicBezTo>
                      <a:cubicBezTo>
                        <a:pt x="893508" y="566738"/>
                        <a:pt x="893508" y="566738"/>
                        <a:pt x="626918" y="566738"/>
                      </a:cubicBezTo>
                      <a:cubicBezTo>
                        <a:pt x="626918" y="566738"/>
                        <a:pt x="626918" y="566738"/>
                        <a:pt x="626918" y="565309"/>
                      </a:cubicBezTo>
                      <a:cubicBezTo>
                        <a:pt x="624060" y="550303"/>
                        <a:pt x="611909" y="538870"/>
                        <a:pt x="599044" y="533868"/>
                      </a:cubicBezTo>
                      <a:cubicBezTo>
                        <a:pt x="599044" y="533868"/>
                        <a:pt x="599044" y="533868"/>
                        <a:pt x="596900" y="533868"/>
                      </a:cubicBezTo>
                      <a:cubicBezTo>
                        <a:pt x="596900" y="533868"/>
                        <a:pt x="596900" y="533868"/>
                        <a:pt x="596900" y="313784"/>
                      </a:cubicBezTo>
                      <a:cubicBezTo>
                        <a:pt x="596900" y="313784"/>
                        <a:pt x="596900" y="313784"/>
                        <a:pt x="599044" y="311641"/>
                      </a:cubicBezTo>
                      <a:cubicBezTo>
                        <a:pt x="611909" y="308782"/>
                        <a:pt x="624060" y="296635"/>
                        <a:pt x="626918" y="283773"/>
                      </a:cubicBezTo>
                      <a:cubicBezTo>
                        <a:pt x="626918" y="283773"/>
                        <a:pt x="626918" y="283773"/>
                        <a:pt x="626918" y="280200"/>
                      </a:cubicBezTo>
                      <a:cubicBezTo>
                        <a:pt x="626918" y="280200"/>
                        <a:pt x="626918" y="280200"/>
                        <a:pt x="630492" y="280200"/>
                      </a:cubicBezTo>
                      <a:cubicBezTo>
                        <a:pt x="704108" y="278771"/>
                        <a:pt x="772006" y="271625"/>
                        <a:pt x="832043" y="258763"/>
                      </a:cubicBezTo>
                      <a:close/>
                      <a:moveTo>
                        <a:pt x="336051" y="255588"/>
                      </a:moveTo>
                      <a:cubicBezTo>
                        <a:pt x="337485" y="255588"/>
                        <a:pt x="337485" y="255588"/>
                        <a:pt x="337485" y="255588"/>
                      </a:cubicBezTo>
                      <a:cubicBezTo>
                        <a:pt x="399151" y="269147"/>
                        <a:pt x="467988" y="279138"/>
                        <a:pt x="544713" y="280566"/>
                      </a:cubicBezTo>
                      <a:cubicBezTo>
                        <a:pt x="546147" y="280566"/>
                        <a:pt x="546147" y="280566"/>
                        <a:pt x="546147" y="280566"/>
                      </a:cubicBezTo>
                      <a:cubicBezTo>
                        <a:pt x="548298" y="281993"/>
                        <a:pt x="548298" y="281993"/>
                        <a:pt x="548298" y="281993"/>
                      </a:cubicBezTo>
                      <a:cubicBezTo>
                        <a:pt x="551166" y="296980"/>
                        <a:pt x="561205" y="309112"/>
                        <a:pt x="574829" y="311966"/>
                      </a:cubicBezTo>
                      <a:cubicBezTo>
                        <a:pt x="576263" y="314107"/>
                        <a:pt x="576263" y="314107"/>
                        <a:pt x="576263" y="314107"/>
                      </a:cubicBezTo>
                      <a:cubicBezTo>
                        <a:pt x="576263" y="533910"/>
                        <a:pt x="576263" y="533910"/>
                        <a:pt x="576263" y="533910"/>
                      </a:cubicBezTo>
                      <a:cubicBezTo>
                        <a:pt x="574829" y="533910"/>
                        <a:pt x="574829" y="533910"/>
                        <a:pt x="574829" y="533910"/>
                      </a:cubicBezTo>
                      <a:cubicBezTo>
                        <a:pt x="561205" y="538906"/>
                        <a:pt x="551166" y="550324"/>
                        <a:pt x="546147" y="565311"/>
                      </a:cubicBezTo>
                      <a:cubicBezTo>
                        <a:pt x="546147" y="566738"/>
                        <a:pt x="546147" y="566738"/>
                        <a:pt x="546147" y="566738"/>
                      </a:cubicBezTo>
                      <a:cubicBezTo>
                        <a:pt x="283706" y="566738"/>
                        <a:pt x="283706" y="566738"/>
                        <a:pt x="283706" y="566738"/>
                      </a:cubicBezTo>
                      <a:cubicBezTo>
                        <a:pt x="283706" y="565311"/>
                        <a:pt x="283706" y="565311"/>
                        <a:pt x="283706" y="565311"/>
                      </a:cubicBezTo>
                      <a:cubicBezTo>
                        <a:pt x="280838" y="551752"/>
                        <a:pt x="272233" y="541761"/>
                        <a:pt x="260761" y="536765"/>
                      </a:cubicBezTo>
                      <a:cubicBezTo>
                        <a:pt x="257175" y="535338"/>
                        <a:pt x="257175" y="535338"/>
                        <a:pt x="257175" y="535338"/>
                      </a:cubicBezTo>
                      <a:cubicBezTo>
                        <a:pt x="257175" y="533910"/>
                        <a:pt x="257175" y="533910"/>
                        <a:pt x="257175" y="533910"/>
                      </a:cubicBezTo>
                      <a:cubicBezTo>
                        <a:pt x="262195" y="436854"/>
                        <a:pt x="275819" y="351930"/>
                        <a:pt x="298764" y="279138"/>
                      </a:cubicBezTo>
                      <a:cubicBezTo>
                        <a:pt x="298764" y="276998"/>
                        <a:pt x="298764" y="276998"/>
                        <a:pt x="298764" y="276998"/>
                      </a:cubicBezTo>
                      <a:cubicBezTo>
                        <a:pt x="302350" y="276998"/>
                        <a:pt x="302350" y="276998"/>
                        <a:pt x="302350" y="276998"/>
                      </a:cubicBezTo>
                      <a:cubicBezTo>
                        <a:pt x="315973" y="275570"/>
                        <a:pt x="327446" y="269147"/>
                        <a:pt x="333900" y="257015"/>
                      </a:cubicBezTo>
                      <a:cubicBezTo>
                        <a:pt x="336051" y="255588"/>
                        <a:pt x="336051" y="255588"/>
                        <a:pt x="336051" y="255588"/>
                      </a:cubicBezTo>
                      <a:close/>
                      <a:moveTo>
                        <a:pt x="1019471" y="187325"/>
                      </a:moveTo>
                      <a:cubicBezTo>
                        <a:pt x="1112973" y="287171"/>
                        <a:pt x="1172929" y="420536"/>
                        <a:pt x="1177925" y="566738"/>
                      </a:cubicBezTo>
                      <a:cubicBezTo>
                        <a:pt x="1177925" y="566738"/>
                        <a:pt x="1177925" y="566738"/>
                        <a:pt x="974504" y="566738"/>
                      </a:cubicBezTo>
                      <a:cubicBezTo>
                        <a:pt x="974504" y="566738"/>
                        <a:pt x="974504" y="566738"/>
                        <a:pt x="974504" y="565312"/>
                      </a:cubicBezTo>
                      <a:cubicBezTo>
                        <a:pt x="971649" y="551761"/>
                        <a:pt x="961656" y="540350"/>
                        <a:pt x="949522" y="535358"/>
                      </a:cubicBezTo>
                      <a:cubicBezTo>
                        <a:pt x="949522" y="535358"/>
                        <a:pt x="949522" y="535358"/>
                        <a:pt x="948095" y="533932"/>
                      </a:cubicBezTo>
                      <a:cubicBezTo>
                        <a:pt x="948095" y="533932"/>
                        <a:pt x="948095" y="533932"/>
                        <a:pt x="948095" y="531792"/>
                      </a:cubicBezTo>
                      <a:cubicBezTo>
                        <a:pt x="943098" y="435513"/>
                        <a:pt x="928109" y="347078"/>
                        <a:pt x="903128" y="270767"/>
                      </a:cubicBezTo>
                      <a:cubicBezTo>
                        <a:pt x="903128" y="270767"/>
                        <a:pt x="903128" y="270767"/>
                        <a:pt x="901700" y="269341"/>
                      </a:cubicBezTo>
                      <a:cubicBezTo>
                        <a:pt x="901700" y="269341"/>
                        <a:pt x="901700" y="269341"/>
                        <a:pt x="903128" y="267202"/>
                      </a:cubicBezTo>
                      <a:cubicBezTo>
                        <a:pt x="910265" y="260783"/>
                        <a:pt x="913120" y="250798"/>
                        <a:pt x="913120" y="239387"/>
                      </a:cubicBezTo>
                      <a:cubicBezTo>
                        <a:pt x="913120" y="239387"/>
                        <a:pt x="913120" y="239387"/>
                        <a:pt x="913120" y="237248"/>
                      </a:cubicBezTo>
                      <a:cubicBezTo>
                        <a:pt x="913120" y="237248"/>
                        <a:pt x="913120" y="237248"/>
                        <a:pt x="916689" y="235821"/>
                      </a:cubicBezTo>
                      <a:cubicBezTo>
                        <a:pt x="964511" y="219418"/>
                        <a:pt x="998058" y="200875"/>
                        <a:pt x="1019471" y="187325"/>
                      </a:cubicBezTo>
                      <a:close/>
                      <a:moveTo>
                        <a:pt x="165132" y="180975"/>
                      </a:moveTo>
                      <a:cubicBezTo>
                        <a:pt x="182987" y="194573"/>
                        <a:pt x="212982" y="213181"/>
                        <a:pt x="256546" y="229643"/>
                      </a:cubicBezTo>
                      <a:cubicBezTo>
                        <a:pt x="256546" y="229643"/>
                        <a:pt x="256546" y="229643"/>
                        <a:pt x="257975" y="229643"/>
                      </a:cubicBezTo>
                      <a:cubicBezTo>
                        <a:pt x="257975" y="229643"/>
                        <a:pt x="257975" y="229643"/>
                        <a:pt x="257975" y="233221"/>
                      </a:cubicBezTo>
                      <a:cubicBezTo>
                        <a:pt x="257975" y="248251"/>
                        <a:pt x="266545" y="261134"/>
                        <a:pt x="277972" y="269722"/>
                      </a:cubicBezTo>
                      <a:cubicBezTo>
                        <a:pt x="277972" y="269722"/>
                        <a:pt x="277972" y="269722"/>
                        <a:pt x="279400" y="269722"/>
                      </a:cubicBezTo>
                      <a:cubicBezTo>
                        <a:pt x="279400" y="269722"/>
                        <a:pt x="279400" y="269722"/>
                        <a:pt x="279400" y="273301"/>
                      </a:cubicBezTo>
                      <a:cubicBezTo>
                        <a:pt x="256546" y="348449"/>
                        <a:pt x="241549" y="433618"/>
                        <a:pt x="237978" y="530237"/>
                      </a:cubicBezTo>
                      <a:cubicBezTo>
                        <a:pt x="237978" y="530237"/>
                        <a:pt x="237978" y="530237"/>
                        <a:pt x="237978" y="531669"/>
                      </a:cubicBezTo>
                      <a:cubicBezTo>
                        <a:pt x="237978" y="531669"/>
                        <a:pt x="237978" y="531669"/>
                        <a:pt x="235121" y="533816"/>
                      </a:cubicBezTo>
                      <a:cubicBezTo>
                        <a:pt x="220123" y="536679"/>
                        <a:pt x="206554" y="548846"/>
                        <a:pt x="202983" y="565307"/>
                      </a:cubicBezTo>
                      <a:cubicBezTo>
                        <a:pt x="202983" y="565307"/>
                        <a:pt x="202983" y="565307"/>
                        <a:pt x="201555" y="566738"/>
                      </a:cubicBezTo>
                      <a:cubicBezTo>
                        <a:pt x="201555" y="566738"/>
                        <a:pt x="201555" y="566738"/>
                        <a:pt x="1587" y="566738"/>
                      </a:cubicBezTo>
                      <a:cubicBezTo>
                        <a:pt x="6586" y="418588"/>
                        <a:pt x="68719" y="281173"/>
                        <a:pt x="165132" y="180975"/>
                      </a:cubicBezTo>
                      <a:close/>
                      <a:moveTo>
                        <a:pt x="458787" y="14288"/>
                      </a:moveTo>
                      <a:cubicBezTo>
                        <a:pt x="442352" y="25649"/>
                        <a:pt x="425202" y="37009"/>
                        <a:pt x="410911" y="51920"/>
                      </a:cubicBezTo>
                      <a:cubicBezTo>
                        <a:pt x="372323" y="88843"/>
                        <a:pt x="338738" y="133576"/>
                        <a:pt x="312299" y="188249"/>
                      </a:cubicBezTo>
                      <a:cubicBezTo>
                        <a:pt x="312299" y="188249"/>
                        <a:pt x="312299" y="188249"/>
                        <a:pt x="310870" y="189670"/>
                      </a:cubicBezTo>
                      <a:cubicBezTo>
                        <a:pt x="310870" y="189670"/>
                        <a:pt x="310870" y="189670"/>
                        <a:pt x="308726" y="189670"/>
                      </a:cubicBezTo>
                      <a:cubicBezTo>
                        <a:pt x="292291" y="184699"/>
                        <a:pt x="273712" y="193220"/>
                        <a:pt x="265851" y="206001"/>
                      </a:cubicBezTo>
                      <a:cubicBezTo>
                        <a:pt x="265851" y="206001"/>
                        <a:pt x="265851" y="206001"/>
                        <a:pt x="263707" y="209551"/>
                      </a:cubicBezTo>
                      <a:cubicBezTo>
                        <a:pt x="263707" y="209551"/>
                        <a:pt x="263707" y="209551"/>
                        <a:pt x="260849" y="208131"/>
                      </a:cubicBezTo>
                      <a:cubicBezTo>
                        <a:pt x="224405" y="193220"/>
                        <a:pt x="197251" y="178309"/>
                        <a:pt x="179387" y="164818"/>
                      </a:cubicBezTo>
                      <a:cubicBezTo>
                        <a:pt x="255847" y="91683"/>
                        <a:pt x="352315" y="39140"/>
                        <a:pt x="458787" y="14288"/>
                      </a:cubicBezTo>
                      <a:close/>
                      <a:moveTo>
                        <a:pt x="711200" y="11113"/>
                      </a:moveTo>
                      <a:cubicBezTo>
                        <a:pt x="823828" y="34825"/>
                        <a:pt x="925764" y="91591"/>
                        <a:pt x="1004888" y="170632"/>
                      </a:cubicBezTo>
                      <a:cubicBezTo>
                        <a:pt x="984929" y="184284"/>
                        <a:pt x="954990" y="200811"/>
                        <a:pt x="910794" y="215901"/>
                      </a:cubicBezTo>
                      <a:cubicBezTo>
                        <a:pt x="910794" y="215901"/>
                        <a:pt x="910794" y="215901"/>
                        <a:pt x="907230" y="215901"/>
                      </a:cubicBezTo>
                      <a:cubicBezTo>
                        <a:pt x="907230" y="215901"/>
                        <a:pt x="907230" y="215901"/>
                        <a:pt x="907230" y="214464"/>
                      </a:cubicBezTo>
                      <a:cubicBezTo>
                        <a:pt x="898676" y="202248"/>
                        <a:pt x="887270" y="195781"/>
                        <a:pt x="873727" y="195781"/>
                      </a:cubicBezTo>
                      <a:cubicBezTo>
                        <a:pt x="873727" y="195781"/>
                        <a:pt x="873727" y="195781"/>
                        <a:pt x="872301" y="195781"/>
                      </a:cubicBezTo>
                      <a:cubicBezTo>
                        <a:pt x="872301" y="195781"/>
                        <a:pt x="872301" y="195781"/>
                        <a:pt x="870875" y="194344"/>
                      </a:cubicBezTo>
                      <a:cubicBezTo>
                        <a:pt x="843788" y="139016"/>
                        <a:pt x="808859" y="93747"/>
                        <a:pt x="768940" y="56382"/>
                      </a:cubicBezTo>
                      <a:cubicBezTo>
                        <a:pt x="749693" y="38418"/>
                        <a:pt x="729734" y="23328"/>
                        <a:pt x="711200" y="11113"/>
                      </a:cubicBezTo>
                      <a:close/>
                      <a:moveTo>
                        <a:pt x="596900" y="0"/>
                      </a:moveTo>
                      <a:cubicBezTo>
                        <a:pt x="611935" y="0"/>
                        <a:pt x="626969" y="0"/>
                        <a:pt x="644152" y="1430"/>
                      </a:cubicBezTo>
                      <a:cubicBezTo>
                        <a:pt x="675653" y="13581"/>
                        <a:pt x="715745" y="35026"/>
                        <a:pt x="755837" y="73626"/>
                      </a:cubicBezTo>
                      <a:cubicBezTo>
                        <a:pt x="792350" y="106507"/>
                        <a:pt x="823851" y="148681"/>
                        <a:pt x="851056" y="198718"/>
                      </a:cubicBezTo>
                      <a:cubicBezTo>
                        <a:pt x="851056" y="198718"/>
                        <a:pt x="851056" y="198718"/>
                        <a:pt x="852488" y="200148"/>
                      </a:cubicBezTo>
                      <a:cubicBezTo>
                        <a:pt x="852488" y="200148"/>
                        <a:pt x="852488" y="200148"/>
                        <a:pt x="848909" y="203722"/>
                      </a:cubicBezTo>
                      <a:cubicBezTo>
                        <a:pt x="838886" y="210155"/>
                        <a:pt x="832442" y="221592"/>
                        <a:pt x="831010" y="233744"/>
                      </a:cubicBezTo>
                      <a:cubicBezTo>
                        <a:pt x="831010" y="233744"/>
                        <a:pt x="831010" y="233744"/>
                        <a:pt x="831010" y="236604"/>
                      </a:cubicBezTo>
                      <a:cubicBezTo>
                        <a:pt x="831010" y="236604"/>
                        <a:pt x="831010" y="236604"/>
                        <a:pt x="827431" y="236604"/>
                      </a:cubicBezTo>
                      <a:cubicBezTo>
                        <a:pt x="768724" y="250185"/>
                        <a:pt x="702142" y="256619"/>
                        <a:pt x="629117" y="258763"/>
                      </a:cubicBezTo>
                      <a:cubicBezTo>
                        <a:pt x="629117" y="258763"/>
                        <a:pt x="629117" y="258763"/>
                        <a:pt x="626969" y="258763"/>
                      </a:cubicBezTo>
                      <a:cubicBezTo>
                        <a:pt x="626969" y="258763"/>
                        <a:pt x="626969" y="258763"/>
                        <a:pt x="626969" y="256619"/>
                      </a:cubicBezTo>
                      <a:cubicBezTo>
                        <a:pt x="621958" y="243752"/>
                        <a:pt x="611935" y="233744"/>
                        <a:pt x="599048" y="228741"/>
                      </a:cubicBezTo>
                      <a:cubicBezTo>
                        <a:pt x="599048" y="228741"/>
                        <a:pt x="599048" y="228741"/>
                        <a:pt x="596900" y="228741"/>
                      </a:cubicBezTo>
                      <a:cubicBezTo>
                        <a:pt x="596900" y="228741"/>
                        <a:pt x="596900" y="228741"/>
                        <a:pt x="596900" y="0"/>
                      </a:cubicBezTo>
                      <a:close/>
                      <a:moveTo>
                        <a:pt x="576262" y="0"/>
                      </a:moveTo>
                      <a:cubicBezTo>
                        <a:pt x="576262" y="0"/>
                        <a:pt x="576262" y="0"/>
                        <a:pt x="576262" y="228741"/>
                      </a:cubicBezTo>
                      <a:cubicBezTo>
                        <a:pt x="576262" y="228741"/>
                        <a:pt x="576262" y="228741"/>
                        <a:pt x="574827" y="228741"/>
                      </a:cubicBezTo>
                      <a:cubicBezTo>
                        <a:pt x="563341" y="233744"/>
                        <a:pt x="553292" y="243752"/>
                        <a:pt x="548267" y="256619"/>
                      </a:cubicBezTo>
                      <a:cubicBezTo>
                        <a:pt x="548267" y="256619"/>
                        <a:pt x="548267" y="256619"/>
                        <a:pt x="546114" y="258763"/>
                      </a:cubicBezTo>
                      <a:cubicBezTo>
                        <a:pt x="546114" y="258763"/>
                        <a:pt x="546114" y="258763"/>
                        <a:pt x="544678" y="258763"/>
                      </a:cubicBezTo>
                      <a:cubicBezTo>
                        <a:pt x="470742" y="256619"/>
                        <a:pt x="402548" y="248755"/>
                        <a:pt x="343687" y="233744"/>
                      </a:cubicBezTo>
                      <a:cubicBezTo>
                        <a:pt x="343687" y="233744"/>
                        <a:pt x="343687" y="233744"/>
                        <a:pt x="342251" y="233744"/>
                      </a:cubicBezTo>
                      <a:cubicBezTo>
                        <a:pt x="342251" y="233744"/>
                        <a:pt x="342251" y="233744"/>
                        <a:pt x="340815" y="230170"/>
                      </a:cubicBezTo>
                      <a:cubicBezTo>
                        <a:pt x="340815" y="220163"/>
                        <a:pt x="337226" y="210155"/>
                        <a:pt x="330766" y="203722"/>
                      </a:cubicBezTo>
                      <a:cubicBezTo>
                        <a:pt x="330766" y="203722"/>
                        <a:pt x="330766" y="203722"/>
                        <a:pt x="328612" y="201578"/>
                      </a:cubicBezTo>
                      <a:cubicBezTo>
                        <a:pt x="328612" y="201578"/>
                        <a:pt x="328612" y="201578"/>
                        <a:pt x="330766" y="198718"/>
                      </a:cubicBezTo>
                      <a:cubicBezTo>
                        <a:pt x="355890" y="148681"/>
                        <a:pt x="386038" y="103648"/>
                        <a:pt x="422647" y="70052"/>
                      </a:cubicBezTo>
                      <a:cubicBezTo>
                        <a:pt x="459257" y="35026"/>
                        <a:pt x="495866" y="15011"/>
                        <a:pt x="526014" y="3574"/>
                      </a:cubicBezTo>
                      <a:cubicBezTo>
                        <a:pt x="543242" y="0"/>
                        <a:pt x="559752" y="0"/>
                        <a:pt x="576262" y="0"/>
                      </a:cubicBezTo>
                      <a:close/>
                    </a:path>
                  </a:pathLst>
                </a:custGeom>
                <a:solidFill>
                  <a:schemeClr val="tx2"/>
                </a:solidFill>
                <a:ln>
                  <a:noFill/>
                </a:ln>
              </p:spPr>
              <p:txBody>
                <a:bodyPr vert="horz" wrap="square" lIns="91440" tIns="45720" rIns="91440" bIns="45720" numCol="1" anchor="t" anchorCtr="0" compatLnSpc="1">
                  <a:prstTxWarp prst="textNoShape">
                    <a:avLst/>
                  </a:prstTxWarp>
                  <a:noAutofit/>
                </a:bodyPr>
                <a:lstStyle/>
                <a:p>
                  <a:endParaRPr lang="en-US">
                    <a:ea typeface="Microsoft YaHei" panose="020B0503020204020204" pitchFamily="34" charset="-122"/>
                  </a:endParaRPr>
                </a:p>
              </p:txBody>
            </p:sp>
            <p:sp>
              <p:nvSpPr>
                <p:cNvPr id="51" name="Freeform 13">
                  <a:extLst>
                    <a:ext uri="{FF2B5EF4-FFF2-40B4-BE49-F238E27FC236}">
                      <a16:creationId xmlns:a16="http://schemas.microsoft.com/office/drawing/2014/main" id="{47FEB351-DC73-98B9-32C9-4DCD147271D0}"/>
                    </a:ext>
                  </a:extLst>
                </p:cNvPr>
                <p:cNvSpPr>
                  <a:spLocks/>
                </p:cNvSpPr>
                <p:nvPr/>
              </p:nvSpPr>
              <p:spPr bwMode="auto">
                <a:xfrm>
                  <a:off x="6634163" y="2776538"/>
                  <a:ext cx="1306513" cy="1304925"/>
                </a:xfrm>
                <a:custGeom>
                  <a:avLst/>
                  <a:gdLst>
                    <a:gd name="connsiteX0" fmla="*/ 1054100 w 1306513"/>
                    <a:gd name="connsiteY0" fmla="*/ 1155700 h 1304925"/>
                    <a:gd name="connsiteX1" fmla="*/ 1066367 w 1306513"/>
                    <a:gd name="connsiteY1" fmla="*/ 1157127 h 1304925"/>
                    <a:gd name="connsiteX2" fmla="*/ 1093787 w 1306513"/>
                    <a:gd name="connsiteY2" fmla="*/ 1194237 h 1304925"/>
                    <a:gd name="connsiteX3" fmla="*/ 1054100 w 1306513"/>
                    <a:gd name="connsiteY3" fmla="*/ 1233488 h 1304925"/>
                    <a:gd name="connsiteX4" fmla="*/ 1014412 w 1306513"/>
                    <a:gd name="connsiteY4" fmla="*/ 1194951 h 1304925"/>
                    <a:gd name="connsiteX5" fmla="*/ 1014412 w 1306513"/>
                    <a:gd name="connsiteY5" fmla="*/ 1194237 h 1304925"/>
                    <a:gd name="connsiteX6" fmla="*/ 1054100 w 1306513"/>
                    <a:gd name="connsiteY6" fmla="*/ 1155700 h 1304925"/>
                    <a:gd name="connsiteX7" fmla="*/ 1052675 w 1306513"/>
                    <a:gd name="connsiteY7" fmla="*/ 1065212 h 1304925"/>
                    <a:gd name="connsiteX8" fmla="*/ 1071200 w 1306513"/>
                    <a:gd name="connsiteY8" fmla="*/ 1066666 h 1304925"/>
                    <a:gd name="connsiteX9" fmla="*/ 1105400 w 1306513"/>
                    <a:gd name="connsiteY9" fmla="*/ 1077568 h 1304925"/>
                    <a:gd name="connsiteX10" fmla="*/ 1133187 w 1306513"/>
                    <a:gd name="connsiteY10" fmla="*/ 1094284 h 1304925"/>
                    <a:gd name="connsiteX11" fmla="*/ 1136750 w 1306513"/>
                    <a:gd name="connsiteY11" fmla="*/ 1097192 h 1304925"/>
                    <a:gd name="connsiteX12" fmla="*/ 1139600 w 1306513"/>
                    <a:gd name="connsiteY12" fmla="*/ 1119723 h 1304925"/>
                    <a:gd name="connsiteX13" fmla="*/ 1126775 w 1306513"/>
                    <a:gd name="connsiteY13" fmla="*/ 1125537 h 1304925"/>
                    <a:gd name="connsiteX14" fmla="*/ 1117512 w 1306513"/>
                    <a:gd name="connsiteY14" fmla="*/ 1122630 h 1304925"/>
                    <a:gd name="connsiteX15" fmla="*/ 1111100 w 1306513"/>
                    <a:gd name="connsiteY15" fmla="*/ 1117542 h 1304925"/>
                    <a:gd name="connsiteX16" fmla="*/ 1081175 w 1306513"/>
                    <a:gd name="connsiteY16" fmla="*/ 1101552 h 1304925"/>
                    <a:gd name="connsiteX17" fmla="*/ 1052675 w 1306513"/>
                    <a:gd name="connsiteY17" fmla="*/ 1096465 h 1304925"/>
                    <a:gd name="connsiteX18" fmla="*/ 1038425 w 1306513"/>
                    <a:gd name="connsiteY18" fmla="*/ 1097918 h 1304925"/>
                    <a:gd name="connsiteX19" fmla="*/ 992112 w 1306513"/>
                    <a:gd name="connsiteY19" fmla="*/ 1121176 h 1304925"/>
                    <a:gd name="connsiteX20" fmla="*/ 981425 w 1306513"/>
                    <a:gd name="connsiteY20" fmla="*/ 1125537 h 1304925"/>
                    <a:gd name="connsiteX21" fmla="*/ 970025 w 1306513"/>
                    <a:gd name="connsiteY21" fmla="*/ 1121176 h 1304925"/>
                    <a:gd name="connsiteX22" fmla="*/ 970025 w 1306513"/>
                    <a:gd name="connsiteY22" fmla="*/ 1098645 h 1304925"/>
                    <a:gd name="connsiteX23" fmla="*/ 1052675 w 1306513"/>
                    <a:gd name="connsiteY23" fmla="*/ 1065212 h 1304925"/>
                    <a:gd name="connsiteX24" fmla="*/ 1052397 w 1306513"/>
                    <a:gd name="connsiteY24" fmla="*/ 973137 h 1304925"/>
                    <a:gd name="connsiteX25" fmla="*/ 1135869 w 1306513"/>
                    <a:gd name="connsiteY25" fmla="*/ 990365 h 1304925"/>
                    <a:gd name="connsiteX26" fmla="*/ 1164407 w 1306513"/>
                    <a:gd name="connsiteY26" fmla="*/ 1004721 h 1304925"/>
                    <a:gd name="connsiteX27" fmla="*/ 1191518 w 1306513"/>
                    <a:gd name="connsiteY27" fmla="*/ 1021949 h 1304925"/>
                    <a:gd name="connsiteX28" fmla="*/ 1197939 w 1306513"/>
                    <a:gd name="connsiteY28" fmla="*/ 1026974 h 1304925"/>
                    <a:gd name="connsiteX29" fmla="*/ 1200793 w 1306513"/>
                    <a:gd name="connsiteY29" fmla="*/ 1049227 h 1304925"/>
                    <a:gd name="connsiteX30" fmla="*/ 1188664 w 1306513"/>
                    <a:gd name="connsiteY30" fmla="*/ 1055687 h 1304925"/>
                    <a:gd name="connsiteX31" fmla="*/ 1178676 w 1306513"/>
                    <a:gd name="connsiteY31" fmla="*/ 1052098 h 1304925"/>
                    <a:gd name="connsiteX32" fmla="*/ 1172968 w 1306513"/>
                    <a:gd name="connsiteY32" fmla="*/ 1047791 h 1304925"/>
                    <a:gd name="connsiteX33" fmla="*/ 1145858 w 1306513"/>
                    <a:gd name="connsiteY33" fmla="*/ 1030563 h 1304925"/>
                    <a:gd name="connsiteX34" fmla="*/ 1116607 w 1306513"/>
                    <a:gd name="connsiteY34" fmla="*/ 1016207 h 1304925"/>
                    <a:gd name="connsiteX35" fmla="*/ 1052397 w 1306513"/>
                    <a:gd name="connsiteY35" fmla="*/ 1004004 h 1304925"/>
                    <a:gd name="connsiteX36" fmla="*/ 1029567 w 1306513"/>
                    <a:gd name="connsiteY36" fmla="*/ 1005439 h 1304925"/>
                    <a:gd name="connsiteX37" fmla="*/ 993894 w 1306513"/>
                    <a:gd name="connsiteY37" fmla="*/ 1014771 h 1304925"/>
                    <a:gd name="connsiteX38" fmla="*/ 931112 w 1306513"/>
                    <a:gd name="connsiteY38" fmla="*/ 1051380 h 1304925"/>
                    <a:gd name="connsiteX39" fmla="*/ 925404 w 1306513"/>
                    <a:gd name="connsiteY39" fmla="*/ 1054969 h 1304925"/>
                    <a:gd name="connsiteX40" fmla="*/ 920410 w 1306513"/>
                    <a:gd name="connsiteY40" fmla="*/ 1055687 h 1304925"/>
                    <a:gd name="connsiteX41" fmla="*/ 908995 w 1306513"/>
                    <a:gd name="connsiteY41" fmla="*/ 1050662 h 1304925"/>
                    <a:gd name="connsiteX42" fmla="*/ 905428 w 1306513"/>
                    <a:gd name="connsiteY42" fmla="*/ 1044920 h 1304925"/>
                    <a:gd name="connsiteX43" fmla="*/ 909708 w 1306513"/>
                    <a:gd name="connsiteY43" fmla="*/ 1028410 h 1304925"/>
                    <a:gd name="connsiteX44" fmla="*/ 913989 w 1306513"/>
                    <a:gd name="connsiteY44" fmla="*/ 1024103 h 1304925"/>
                    <a:gd name="connsiteX45" fmla="*/ 980339 w 1306513"/>
                    <a:gd name="connsiteY45" fmla="*/ 986058 h 1304925"/>
                    <a:gd name="connsiteX46" fmla="*/ 993894 w 1306513"/>
                    <a:gd name="connsiteY46" fmla="*/ 981751 h 1304925"/>
                    <a:gd name="connsiteX47" fmla="*/ 1052397 w 1306513"/>
                    <a:gd name="connsiteY47" fmla="*/ 973137 h 1304925"/>
                    <a:gd name="connsiteX48" fmla="*/ 1051683 w 1306513"/>
                    <a:gd name="connsiteY48" fmla="*/ 879475 h 1304925"/>
                    <a:gd name="connsiteX49" fmla="*/ 1183672 w 1306513"/>
                    <a:gd name="connsiteY49" fmla="*/ 910468 h 1304925"/>
                    <a:gd name="connsiteX50" fmla="*/ 1211497 w 1306513"/>
                    <a:gd name="connsiteY50" fmla="*/ 924556 h 1304925"/>
                    <a:gd name="connsiteX51" fmla="*/ 1238608 w 1306513"/>
                    <a:gd name="connsiteY51" fmla="*/ 941462 h 1304925"/>
                    <a:gd name="connsiteX52" fmla="*/ 1261439 w 1306513"/>
                    <a:gd name="connsiteY52" fmla="*/ 958367 h 1304925"/>
                    <a:gd name="connsiteX53" fmla="*/ 1264293 w 1306513"/>
                    <a:gd name="connsiteY53" fmla="*/ 980203 h 1304925"/>
                    <a:gd name="connsiteX54" fmla="*/ 1252164 w 1306513"/>
                    <a:gd name="connsiteY54" fmla="*/ 985838 h 1304925"/>
                    <a:gd name="connsiteX55" fmla="*/ 1242176 w 1306513"/>
                    <a:gd name="connsiteY55" fmla="*/ 982316 h 1304925"/>
                    <a:gd name="connsiteX56" fmla="*/ 1224339 w 1306513"/>
                    <a:gd name="connsiteY56" fmla="*/ 968933 h 1304925"/>
                    <a:gd name="connsiteX57" fmla="*/ 1197228 w 1306513"/>
                    <a:gd name="connsiteY57" fmla="*/ 952027 h 1304925"/>
                    <a:gd name="connsiteX58" fmla="*/ 1169403 w 1306513"/>
                    <a:gd name="connsiteY58" fmla="*/ 937235 h 1304925"/>
                    <a:gd name="connsiteX59" fmla="*/ 1052397 w 1306513"/>
                    <a:gd name="connsiteY59" fmla="*/ 910468 h 1304925"/>
                    <a:gd name="connsiteX60" fmla="*/ 978197 w 1306513"/>
                    <a:gd name="connsiteY60" fmla="*/ 921034 h 1304925"/>
                    <a:gd name="connsiteX61" fmla="*/ 977484 w 1306513"/>
                    <a:gd name="connsiteY61" fmla="*/ 921034 h 1304925"/>
                    <a:gd name="connsiteX62" fmla="*/ 953940 w 1306513"/>
                    <a:gd name="connsiteY62" fmla="*/ 929487 h 1304925"/>
                    <a:gd name="connsiteX63" fmla="*/ 891156 w 1306513"/>
                    <a:gd name="connsiteY63" fmla="*/ 963298 h 1304925"/>
                    <a:gd name="connsiteX64" fmla="*/ 869039 w 1306513"/>
                    <a:gd name="connsiteY64" fmla="*/ 980203 h 1304925"/>
                    <a:gd name="connsiteX65" fmla="*/ 867612 w 1306513"/>
                    <a:gd name="connsiteY65" fmla="*/ 981612 h 1304925"/>
                    <a:gd name="connsiteX66" fmla="*/ 856910 w 1306513"/>
                    <a:gd name="connsiteY66" fmla="*/ 985838 h 1304925"/>
                    <a:gd name="connsiteX67" fmla="*/ 845495 w 1306513"/>
                    <a:gd name="connsiteY67" fmla="*/ 981612 h 1304925"/>
                    <a:gd name="connsiteX68" fmla="*/ 841928 w 1306513"/>
                    <a:gd name="connsiteY68" fmla="*/ 975977 h 1304925"/>
                    <a:gd name="connsiteX69" fmla="*/ 846208 w 1306513"/>
                    <a:gd name="connsiteY69" fmla="*/ 959071 h 1304925"/>
                    <a:gd name="connsiteX70" fmla="*/ 849776 w 1306513"/>
                    <a:gd name="connsiteY70" fmla="*/ 955549 h 1304925"/>
                    <a:gd name="connsiteX71" fmla="*/ 963928 w 1306513"/>
                    <a:gd name="connsiteY71" fmla="*/ 892859 h 1304925"/>
                    <a:gd name="connsiteX72" fmla="*/ 967496 w 1306513"/>
                    <a:gd name="connsiteY72" fmla="*/ 892154 h 1304925"/>
                    <a:gd name="connsiteX73" fmla="*/ 986759 w 1306513"/>
                    <a:gd name="connsiteY73" fmla="*/ 886519 h 1304925"/>
                    <a:gd name="connsiteX74" fmla="*/ 1051683 w 1306513"/>
                    <a:gd name="connsiteY74" fmla="*/ 879475 h 1304925"/>
                    <a:gd name="connsiteX75" fmla="*/ 653257 w 1306513"/>
                    <a:gd name="connsiteY75" fmla="*/ 0 h 1304925"/>
                    <a:gd name="connsiteX76" fmla="*/ 1114968 w 1306513"/>
                    <a:gd name="connsiteY76" fmla="*/ 191313 h 1304925"/>
                    <a:gd name="connsiteX77" fmla="*/ 1306513 w 1306513"/>
                    <a:gd name="connsiteY77" fmla="*/ 652463 h 1304925"/>
                    <a:gd name="connsiteX78" fmla="*/ 1252194 w 1306513"/>
                    <a:gd name="connsiteY78" fmla="*/ 913733 h 1304925"/>
                    <a:gd name="connsiteX79" fmla="*/ 1225035 w 1306513"/>
                    <a:gd name="connsiteY79" fmla="*/ 896601 h 1304925"/>
                    <a:gd name="connsiteX80" fmla="*/ 1275065 w 1306513"/>
                    <a:gd name="connsiteY80" fmla="*/ 652463 h 1304925"/>
                    <a:gd name="connsiteX81" fmla="*/ 653257 w 1306513"/>
                    <a:gd name="connsiteY81" fmla="*/ 31410 h 1304925"/>
                    <a:gd name="connsiteX82" fmla="*/ 31448 w 1306513"/>
                    <a:gd name="connsiteY82" fmla="*/ 652463 h 1304925"/>
                    <a:gd name="connsiteX83" fmla="*/ 653257 w 1306513"/>
                    <a:gd name="connsiteY83" fmla="*/ 1273516 h 1304925"/>
                    <a:gd name="connsiteX84" fmla="*/ 986317 w 1306513"/>
                    <a:gd name="connsiteY84" fmla="*/ 1177145 h 1304925"/>
                    <a:gd name="connsiteX85" fmla="*/ 983459 w 1306513"/>
                    <a:gd name="connsiteY85" fmla="*/ 1194992 h 1304925"/>
                    <a:gd name="connsiteX86" fmla="*/ 986317 w 1306513"/>
                    <a:gd name="connsiteY86" fmla="*/ 1214266 h 1304925"/>
                    <a:gd name="connsiteX87" fmla="*/ 653257 w 1306513"/>
                    <a:gd name="connsiteY87" fmla="*/ 1304925 h 1304925"/>
                    <a:gd name="connsiteX88" fmla="*/ 191546 w 1306513"/>
                    <a:gd name="connsiteY88" fmla="*/ 1113612 h 1304925"/>
                    <a:gd name="connsiteX89" fmla="*/ 0 w 1306513"/>
                    <a:gd name="connsiteY89" fmla="*/ 652463 h 1304925"/>
                    <a:gd name="connsiteX90" fmla="*/ 191546 w 1306513"/>
                    <a:gd name="connsiteY90" fmla="*/ 191313 h 1304925"/>
                    <a:gd name="connsiteX91" fmla="*/ 653257 w 1306513"/>
                    <a:gd name="connsiteY91" fmla="*/ 0 h 130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306513" h="1304925">
                      <a:moveTo>
                        <a:pt x="1054100" y="1155700"/>
                      </a:moveTo>
                      <a:cubicBezTo>
                        <a:pt x="1058429" y="1155700"/>
                        <a:pt x="1062037" y="1156414"/>
                        <a:pt x="1066367" y="1157127"/>
                      </a:cubicBezTo>
                      <a:cubicBezTo>
                        <a:pt x="1082242" y="1162123"/>
                        <a:pt x="1093787" y="1177110"/>
                        <a:pt x="1093787" y="1194237"/>
                      </a:cubicBezTo>
                      <a:cubicBezTo>
                        <a:pt x="1093787" y="1216360"/>
                        <a:pt x="1075747" y="1233488"/>
                        <a:pt x="1054100" y="1233488"/>
                      </a:cubicBezTo>
                      <a:cubicBezTo>
                        <a:pt x="1032452" y="1233488"/>
                        <a:pt x="1015134" y="1216360"/>
                        <a:pt x="1014412" y="1194951"/>
                      </a:cubicBezTo>
                      <a:cubicBezTo>
                        <a:pt x="1014412" y="1194951"/>
                        <a:pt x="1014412" y="1194951"/>
                        <a:pt x="1014412" y="1194237"/>
                      </a:cubicBezTo>
                      <a:cubicBezTo>
                        <a:pt x="1014412" y="1172828"/>
                        <a:pt x="1032452" y="1155700"/>
                        <a:pt x="1054100" y="1155700"/>
                      </a:cubicBezTo>
                      <a:close/>
                      <a:moveTo>
                        <a:pt x="1052675" y="1065212"/>
                      </a:moveTo>
                      <a:cubicBezTo>
                        <a:pt x="1059087" y="1065212"/>
                        <a:pt x="1064787" y="1065212"/>
                        <a:pt x="1071200" y="1066666"/>
                      </a:cubicBezTo>
                      <a:cubicBezTo>
                        <a:pt x="1082600" y="1068119"/>
                        <a:pt x="1093287" y="1071753"/>
                        <a:pt x="1105400" y="1077568"/>
                      </a:cubicBezTo>
                      <a:cubicBezTo>
                        <a:pt x="1113950" y="1081202"/>
                        <a:pt x="1123212" y="1087016"/>
                        <a:pt x="1133187" y="1094284"/>
                      </a:cubicBezTo>
                      <a:cubicBezTo>
                        <a:pt x="1133900" y="1095011"/>
                        <a:pt x="1135325" y="1096465"/>
                        <a:pt x="1136750" y="1097192"/>
                      </a:cubicBezTo>
                      <a:cubicBezTo>
                        <a:pt x="1143162" y="1102279"/>
                        <a:pt x="1144587" y="1112455"/>
                        <a:pt x="1139600" y="1119723"/>
                      </a:cubicBezTo>
                      <a:cubicBezTo>
                        <a:pt x="1136037" y="1123357"/>
                        <a:pt x="1131762" y="1125537"/>
                        <a:pt x="1126775" y="1125537"/>
                      </a:cubicBezTo>
                      <a:cubicBezTo>
                        <a:pt x="1123212" y="1125537"/>
                        <a:pt x="1120362" y="1124810"/>
                        <a:pt x="1117512" y="1122630"/>
                      </a:cubicBezTo>
                      <a:cubicBezTo>
                        <a:pt x="1115375" y="1120449"/>
                        <a:pt x="1113237" y="1118996"/>
                        <a:pt x="1111100" y="1117542"/>
                      </a:cubicBezTo>
                      <a:cubicBezTo>
                        <a:pt x="1100412" y="1110274"/>
                        <a:pt x="1090437" y="1105187"/>
                        <a:pt x="1081175" y="1101552"/>
                      </a:cubicBezTo>
                      <a:cubicBezTo>
                        <a:pt x="1071200" y="1097918"/>
                        <a:pt x="1061225" y="1096465"/>
                        <a:pt x="1052675" y="1096465"/>
                      </a:cubicBezTo>
                      <a:cubicBezTo>
                        <a:pt x="1047687" y="1096465"/>
                        <a:pt x="1042700" y="1097192"/>
                        <a:pt x="1038425" y="1097918"/>
                      </a:cubicBezTo>
                      <a:cubicBezTo>
                        <a:pt x="1010637" y="1103006"/>
                        <a:pt x="993537" y="1119723"/>
                        <a:pt x="992112" y="1121176"/>
                      </a:cubicBezTo>
                      <a:cubicBezTo>
                        <a:pt x="989262" y="1124084"/>
                        <a:pt x="984987" y="1125537"/>
                        <a:pt x="981425" y="1125537"/>
                      </a:cubicBezTo>
                      <a:cubicBezTo>
                        <a:pt x="977150" y="1125537"/>
                        <a:pt x="972875" y="1124084"/>
                        <a:pt x="970025" y="1121176"/>
                      </a:cubicBezTo>
                      <a:cubicBezTo>
                        <a:pt x="963612" y="1114635"/>
                        <a:pt x="964325" y="1104460"/>
                        <a:pt x="970025" y="1098645"/>
                      </a:cubicBezTo>
                      <a:cubicBezTo>
                        <a:pt x="985700" y="1082655"/>
                        <a:pt x="1015625" y="1065212"/>
                        <a:pt x="1052675" y="1065212"/>
                      </a:cubicBezTo>
                      <a:close/>
                      <a:moveTo>
                        <a:pt x="1052397" y="973137"/>
                      </a:moveTo>
                      <a:cubicBezTo>
                        <a:pt x="1077367" y="973137"/>
                        <a:pt x="1105905" y="977444"/>
                        <a:pt x="1135869" y="990365"/>
                      </a:cubicBezTo>
                      <a:cubicBezTo>
                        <a:pt x="1145144" y="993954"/>
                        <a:pt x="1155132" y="998979"/>
                        <a:pt x="1164407" y="1004721"/>
                      </a:cubicBezTo>
                      <a:cubicBezTo>
                        <a:pt x="1172968" y="1009746"/>
                        <a:pt x="1182243" y="1015489"/>
                        <a:pt x="1191518" y="1021949"/>
                      </a:cubicBezTo>
                      <a:cubicBezTo>
                        <a:pt x="1193658" y="1023385"/>
                        <a:pt x="1195799" y="1025538"/>
                        <a:pt x="1197939" y="1026974"/>
                      </a:cubicBezTo>
                      <a:cubicBezTo>
                        <a:pt x="1205073" y="1032717"/>
                        <a:pt x="1206500" y="1042048"/>
                        <a:pt x="1200793" y="1049227"/>
                      </a:cubicBezTo>
                      <a:cubicBezTo>
                        <a:pt x="1197939" y="1053534"/>
                        <a:pt x="1192945" y="1055687"/>
                        <a:pt x="1188664" y="1055687"/>
                      </a:cubicBezTo>
                      <a:cubicBezTo>
                        <a:pt x="1185097" y="1055687"/>
                        <a:pt x="1181530" y="1054251"/>
                        <a:pt x="1178676" y="1052098"/>
                      </a:cubicBezTo>
                      <a:cubicBezTo>
                        <a:pt x="1176536" y="1050662"/>
                        <a:pt x="1175109" y="1049227"/>
                        <a:pt x="1172968" y="1047791"/>
                      </a:cubicBezTo>
                      <a:cubicBezTo>
                        <a:pt x="1163694" y="1040613"/>
                        <a:pt x="1154419" y="1034870"/>
                        <a:pt x="1145858" y="1030563"/>
                      </a:cubicBezTo>
                      <a:cubicBezTo>
                        <a:pt x="1135869" y="1024821"/>
                        <a:pt x="1125881" y="1019796"/>
                        <a:pt x="1116607" y="1016207"/>
                      </a:cubicBezTo>
                      <a:cubicBezTo>
                        <a:pt x="1093776" y="1007593"/>
                        <a:pt x="1071660" y="1004004"/>
                        <a:pt x="1052397" y="1004004"/>
                      </a:cubicBezTo>
                      <a:cubicBezTo>
                        <a:pt x="1044549" y="1004004"/>
                        <a:pt x="1036701" y="1004721"/>
                        <a:pt x="1029567" y="1005439"/>
                      </a:cubicBezTo>
                      <a:cubicBezTo>
                        <a:pt x="1016725" y="1007593"/>
                        <a:pt x="1004596" y="1010464"/>
                        <a:pt x="993894" y="1014771"/>
                      </a:cubicBezTo>
                      <a:cubicBezTo>
                        <a:pt x="956082" y="1027692"/>
                        <a:pt x="933252" y="1049227"/>
                        <a:pt x="931112" y="1051380"/>
                      </a:cubicBezTo>
                      <a:cubicBezTo>
                        <a:pt x="929685" y="1052816"/>
                        <a:pt x="927544" y="1054251"/>
                        <a:pt x="925404" y="1054969"/>
                      </a:cubicBezTo>
                      <a:cubicBezTo>
                        <a:pt x="923977" y="1054969"/>
                        <a:pt x="921837" y="1055687"/>
                        <a:pt x="920410" y="1055687"/>
                      </a:cubicBezTo>
                      <a:cubicBezTo>
                        <a:pt x="916129" y="1055687"/>
                        <a:pt x="911849" y="1053534"/>
                        <a:pt x="908995" y="1050662"/>
                      </a:cubicBezTo>
                      <a:cubicBezTo>
                        <a:pt x="907568" y="1049227"/>
                        <a:pt x="906141" y="1047073"/>
                        <a:pt x="905428" y="1044920"/>
                      </a:cubicBezTo>
                      <a:cubicBezTo>
                        <a:pt x="903287" y="1039177"/>
                        <a:pt x="904714" y="1032717"/>
                        <a:pt x="909708" y="1028410"/>
                      </a:cubicBezTo>
                      <a:cubicBezTo>
                        <a:pt x="909708" y="1028410"/>
                        <a:pt x="911135" y="1026256"/>
                        <a:pt x="913989" y="1024103"/>
                      </a:cubicBezTo>
                      <a:cubicBezTo>
                        <a:pt x="923264" y="1016207"/>
                        <a:pt x="946807" y="998261"/>
                        <a:pt x="980339" y="986058"/>
                      </a:cubicBezTo>
                      <a:cubicBezTo>
                        <a:pt x="984620" y="984622"/>
                        <a:pt x="989614" y="983187"/>
                        <a:pt x="993894" y="981751"/>
                      </a:cubicBezTo>
                      <a:cubicBezTo>
                        <a:pt x="1010304" y="976726"/>
                        <a:pt x="1030280" y="973137"/>
                        <a:pt x="1052397" y="973137"/>
                      </a:cubicBezTo>
                      <a:close/>
                      <a:moveTo>
                        <a:pt x="1051683" y="879475"/>
                      </a:moveTo>
                      <a:cubicBezTo>
                        <a:pt x="1090923" y="879475"/>
                        <a:pt x="1135871" y="887928"/>
                        <a:pt x="1183672" y="910468"/>
                      </a:cubicBezTo>
                      <a:cubicBezTo>
                        <a:pt x="1192947" y="914695"/>
                        <a:pt x="1202222" y="919625"/>
                        <a:pt x="1211497" y="924556"/>
                      </a:cubicBezTo>
                      <a:cubicBezTo>
                        <a:pt x="1220772" y="929487"/>
                        <a:pt x="1230047" y="935122"/>
                        <a:pt x="1238608" y="941462"/>
                      </a:cubicBezTo>
                      <a:cubicBezTo>
                        <a:pt x="1246456" y="947097"/>
                        <a:pt x="1254304" y="952027"/>
                        <a:pt x="1261439" y="958367"/>
                      </a:cubicBezTo>
                      <a:cubicBezTo>
                        <a:pt x="1268573" y="963298"/>
                        <a:pt x="1270000" y="973159"/>
                        <a:pt x="1264293" y="980203"/>
                      </a:cubicBezTo>
                      <a:cubicBezTo>
                        <a:pt x="1261439" y="983725"/>
                        <a:pt x="1256445" y="985838"/>
                        <a:pt x="1252164" y="985838"/>
                      </a:cubicBezTo>
                      <a:cubicBezTo>
                        <a:pt x="1248597" y="985838"/>
                        <a:pt x="1245029" y="985134"/>
                        <a:pt x="1242176" y="982316"/>
                      </a:cubicBezTo>
                      <a:cubicBezTo>
                        <a:pt x="1236468" y="978090"/>
                        <a:pt x="1230047" y="973159"/>
                        <a:pt x="1224339" y="968933"/>
                      </a:cubicBezTo>
                      <a:cubicBezTo>
                        <a:pt x="1215064" y="963298"/>
                        <a:pt x="1206503" y="957662"/>
                        <a:pt x="1197228" y="952027"/>
                      </a:cubicBezTo>
                      <a:cubicBezTo>
                        <a:pt x="1187953" y="947097"/>
                        <a:pt x="1178678" y="942166"/>
                        <a:pt x="1169403" y="937235"/>
                      </a:cubicBezTo>
                      <a:cubicBezTo>
                        <a:pt x="1130877" y="919625"/>
                        <a:pt x="1091637" y="910468"/>
                        <a:pt x="1052397" y="910468"/>
                      </a:cubicBezTo>
                      <a:cubicBezTo>
                        <a:pt x="1027426" y="910468"/>
                        <a:pt x="1002455" y="913990"/>
                        <a:pt x="978197" y="921034"/>
                      </a:cubicBezTo>
                      <a:cubicBezTo>
                        <a:pt x="978197" y="921034"/>
                        <a:pt x="978197" y="921034"/>
                        <a:pt x="977484" y="921034"/>
                      </a:cubicBezTo>
                      <a:cubicBezTo>
                        <a:pt x="969636" y="923852"/>
                        <a:pt x="961074" y="926669"/>
                        <a:pt x="953940" y="929487"/>
                      </a:cubicBezTo>
                      <a:cubicBezTo>
                        <a:pt x="927542" y="940053"/>
                        <a:pt x="906139" y="952732"/>
                        <a:pt x="891156" y="963298"/>
                      </a:cubicBezTo>
                      <a:cubicBezTo>
                        <a:pt x="879741" y="971046"/>
                        <a:pt x="872606" y="977385"/>
                        <a:pt x="869039" y="980203"/>
                      </a:cubicBezTo>
                      <a:cubicBezTo>
                        <a:pt x="868325" y="980907"/>
                        <a:pt x="867612" y="981612"/>
                        <a:pt x="867612" y="981612"/>
                      </a:cubicBezTo>
                      <a:cubicBezTo>
                        <a:pt x="864758" y="984429"/>
                        <a:pt x="861191" y="985838"/>
                        <a:pt x="856910" y="985838"/>
                      </a:cubicBezTo>
                      <a:cubicBezTo>
                        <a:pt x="852629" y="985838"/>
                        <a:pt x="849062" y="984429"/>
                        <a:pt x="845495" y="981612"/>
                      </a:cubicBezTo>
                      <a:cubicBezTo>
                        <a:pt x="844068" y="979499"/>
                        <a:pt x="843355" y="978090"/>
                        <a:pt x="841928" y="975977"/>
                      </a:cubicBezTo>
                      <a:cubicBezTo>
                        <a:pt x="839787" y="970342"/>
                        <a:pt x="841214" y="964002"/>
                        <a:pt x="846208" y="959071"/>
                      </a:cubicBezTo>
                      <a:cubicBezTo>
                        <a:pt x="846208" y="959071"/>
                        <a:pt x="847635" y="957662"/>
                        <a:pt x="849776" y="955549"/>
                      </a:cubicBezTo>
                      <a:cubicBezTo>
                        <a:pt x="862618" y="944279"/>
                        <a:pt x="903285" y="911877"/>
                        <a:pt x="963928" y="892859"/>
                      </a:cubicBezTo>
                      <a:cubicBezTo>
                        <a:pt x="965355" y="892859"/>
                        <a:pt x="966069" y="892154"/>
                        <a:pt x="967496" y="892154"/>
                      </a:cubicBezTo>
                      <a:cubicBezTo>
                        <a:pt x="973917" y="890041"/>
                        <a:pt x="980338" y="888632"/>
                        <a:pt x="986759" y="886519"/>
                      </a:cubicBezTo>
                      <a:cubicBezTo>
                        <a:pt x="1006022" y="882293"/>
                        <a:pt x="1028139" y="879475"/>
                        <a:pt x="1051683" y="879475"/>
                      </a:cubicBezTo>
                      <a:close/>
                      <a:moveTo>
                        <a:pt x="653257" y="0"/>
                      </a:moveTo>
                      <a:cubicBezTo>
                        <a:pt x="827649" y="0"/>
                        <a:pt x="992035" y="67816"/>
                        <a:pt x="1114968" y="191313"/>
                      </a:cubicBezTo>
                      <a:cubicBezTo>
                        <a:pt x="1238615" y="314096"/>
                        <a:pt x="1306513" y="478282"/>
                        <a:pt x="1306513" y="652463"/>
                      </a:cubicBezTo>
                      <a:cubicBezTo>
                        <a:pt x="1306513" y="743836"/>
                        <a:pt x="1287930" y="832354"/>
                        <a:pt x="1252194" y="913733"/>
                      </a:cubicBezTo>
                      <a:cubicBezTo>
                        <a:pt x="1242903" y="907309"/>
                        <a:pt x="1234326" y="901598"/>
                        <a:pt x="1225035" y="896601"/>
                      </a:cubicBezTo>
                      <a:cubicBezTo>
                        <a:pt x="1257197" y="821646"/>
                        <a:pt x="1275065" y="738839"/>
                        <a:pt x="1275065" y="652463"/>
                      </a:cubicBezTo>
                      <a:cubicBezTo>
                        <a:pt x="1275065" y="309813"/>
                        <a:pt x="996324" y="31410"/>
                        <a:pt x="653257" y="31410"/>
                      </a:cubicBezTo>
                      <a:cubicBezTo>
                        <a:pt x="310190" y="31410"/>
                        <a:pt x="31448" y="309813"/>
                        <a:pt x="31448" y="652463"/>
                      </a:cubicBezTo>
                      <a:cubicBezTo>
                        <a:pt x="31448" y="995113"/>
                        <a:pt x="310190" y="1273516"/>
                        <a:pt x="653257" y="1273516"/>
                      </a:cubicBezTo>
                      <a:cubicBezTo>
                        <a:pt x="775474" y="1273516"/>
                        <a:pt x="889830" y="1237823"/>
                        <a:pt x="986317" y="1177145"/>
                      </a:cubicBezTo>
                      <a:cubicBezTo>
                        <a:pt x="984173" y="1182856"/>
                        <a:pt x="983459" y="1189281"/>
                        <a:pt x="983459" y="1194992"/>
                      </a:cubicBezTo>
                      <a:cubicBezTo>
                        <a:pt x="983459" y="1202130"/>
                        <a:pt x="984173" y="1207841"/>
                        <a:pt x="986317" y="1214266"/>
                      </a:cubicBezTo>
                      <a:cubicBezTo>
                        <a:pt x="886256" y="1273516"/>
                        <a:pt x="772615" y="1304925"/>
                        <a:pt x="653257" y="1304925"/>
                      </a:cubicBezTo>
                      <a:cubicBezTo>
                        <a:pt x="478864" y="1304925"/>
                        <a:pt x="314478" y="1237109"/>
                        <a:pt x="191546" y="1113612"/>
                      </a:cubicBezTo>
                      <a:cubicBezTo>
                        <a:pt x="67899" y="990829"/>
                        <a:pt x="0" y="826643"/>
                        <a:pt x="0" y="652463"/>
                      </a:cubicBezTo>
                      <a:cubicBezTo>
                        <a:pt x="0" y="478282"/>
                        <a:pt x="67899" y="314096"/>
                        <a:pt x="191546" y="191313"/>
                      </a:cubicBezTo>
                      <a:cubicBezTo>
                        <a:pt x="314478" y="67816"/>
                        <a:pt x="478864" y="0"/>
                        <a:pt x="653257"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ea typeface="Microsoft YaHei" panose="020B0503020204020204" pitchFamily="34" charset="-122"/>
                  </a:endParaRPr>
                </a:p>
              </p:txBody>
            </p:sp>
          </p:grpSp>
        </p:grpSp>
      </p:grpSp>
      <p:sp>
        <p:nvSpPr>
          <p:cNvPr id="54" name="TextBox 53">
            <a:extLst>
              <a:ext uri="{FF2B5EF4-FFF2-40B4-BE49-F238E27FC236}">
                <a16:creationId xmlns:a16="http://schemas.microsoft.com/office/drawing/2014/main" id="{07D2FC40-F129-BA43-5B1E-39AC95E0B866}"/>
              </a:ext>
            </a:extLst>
          </p:cNvPr>
          <p:cNvSpPr txBox="1"/>
          <p:nvPr/>
        </p:nvSpPr>
        <p:spPr>
          <a:xfrm>
            <a:off x="762038" y="2619805"/>
            <a:ext cx="1488075" cy="266694"/>
          </a:xfrm>
          <a:prstGeom prst="rect">
            <a:avLst/>
          </a:prstGeom>
          <a:solidFill>
            <a:srgbClr val="FFFFFF"/>
          </a:solid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400">
                <a:solidFill>
                  <a:srgbClr val="29BA74"/>
                </a:solidFill>
                <a:ea typeface="Microsoft YaHei" panose="020B0503020204020204" pitchFamily="34" charset="-122"/>
              </a:rPr>
              <a:t>帳戶申請完成後</a:t>
            </a:r>
            <a:endParaRPr lang="en-US" sz="1400">
              <a:solidFill>
                <a:srgbClr val="29BA74"/>
              </a:solidFill>
              <a:ea typeface="Microsoft YaHei" panose="020B0503020204020204" pitchFamily="34" charset="-122"/>
            </a:endParaRPr>
          </a:p>
        </p:txBody>
      </p:sp>
      <p:sp>
        <p:nvSpPr>
          <p:cNvPr id="56" name="TextBox 55">
            <a:extLst>
              <a:ext uri="{FF2B5EF4-FFF2-40B4-BE49-F238E27FC236}">
                <a16:creationId xmlns:a16="http://schemas.microsoft.com/office/drawing/2014/main" id="{34A21AE1-054B-B69D-2579-23E744F952DE}"/>
              </a:ext>
            </a:extLst>
          </p:cNvPr>
          <p:cNvSpPr txBox="1"/>
          <p:nvPr/>
        </p:nvSpPr>
        <p:spPr>
          <a:xfrm>
            <a:off x="2375696" y="2619805"/>
            <a:ext cx="1488075" cy="266694"/>
          </a:xfrm>
          <a:prstGeom prst="rect">
            <a:avLst/>
          </a:prstGeom>
          <a:solidFill>
            <a:srgbClr val="FFFFFF"/>
          </a:solid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400">
                <a:solidFill>
                  <a:srgbClr val="29BA74"/>
                </a:solidFill>
                <a:ea typeface="Microsoft YaHei" panose="020B0503020204020204" pitchFamily="34" charset="-122"/>
              </a:rPr>
              <a:t>帳戶成功開通後</a:t>
            </a:r>
            <a:endParaRPr lang="en-US" sz="1400">
              <a:solidFill>
                <a:srgbClr val="29BA74"/>
              </a:solidFill>
              <a:ea typeface="Microsoft YaHei" panose="020B0503020204020204" pitchFamily="34" charset="-122"/>
            </a:endParaRPr>
          </a:p>
        </p:txBody>
      </p:sp>
      <p:sp>
        <p:nvSpPr>
          <p:cNvPr id="57" name="TextBox 56">
            <a:extLst>
              <a:ext uri="{FF2B5EF4-FFF2-40B4-BE49-F238E27FC236}">
                <a16:creationId xmlns:a16="http://schemas.microsoft.com/office/drawing/2014/main" id="{372F614D-ED99-7A60-4F4A-25D621F8D509}"/>
              </a:ext>
            </a:extLst>
          </p:cNvPr>
          <p:cNvSpPr txBox="1"/>
          <p:nvPr/>
        </p:nvSpPr>
        <p:spPr>
          <a:xfrm>
            <a:off x="2375696" y="4344142"/>
            <a:ext cx="1694205" cy="1004237"/>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altLang="zh-TW" sz="1400" b="1">
                <a:solidFill>
                  <a:srgbClr val="29BA74"/>
                </a:solidFill>
                <a:latin typeface="Microsoft YaHei" panose="020B0503020204020204" pitchFamily="34" charset="-122"/>
                <a:ea typeface="Microsoft YaHei" panose="020B0503020204020204" pitchFamily="34" charset="-122"/>
              </a:rPr>
              <a:t>[APP</a:t>
            </a:r>
            <a:r>
              <a:rPr lang="zh-TW" altLang="en-US" sz="1400" b="1">
                <a:solidFill>
                  <a:srgbClr val="29BA74"/>
                </a:solidFill>
                <a:latin typeface="Microsoft YaHei" panose="020B0503020204020204" pitchFamily="34" charset="-122"/>
                <a:ea typeface="Microsoft YaHei" panose="020B0503020204020204" pitchFamily="34" charset="-122"/>
              </a:rPr>
              <a:t>內完成任務</a:t>
            </a:r>
            <a:r>
              <a:rPr lang="en-US" altLang="zh-TW" sz="1400" b="1">
                <a:solidFill>
                  <a:srgbClr val="29BA74"/>
                </a:solidFill>
                <a:latin typeface="Microsoft YaHei" panose="020B0503020204020204" pitchFamily="34" charset="-122"/>
                <a:ea typeface="Microsoft YaHei" panose="020B0503020204020204" pitchFamily="34" charset="-122"/>
              </a:rPr>
              <a:t>]</a:t>
            </a:r>
          </a:p>
          <a:p>
            <a:r>
              <a:rPr lang="zh-TW" altLang="en-US" sz="1400">
                <a:solidFill>
                  <a:srgbClr val="575757"/>
                </a:solidFill>
                <a:latin typeface="Microsoft YaHei" panose="020B0503020204020204" pitchFamily="34" charset="-122"/>
                <a:ea typeface="Microsoft YaHei" panose="020B0503020204020204" pitchFamily="34" charset="-122"/>
              </a:rPr>
              <a:t>觸發客戶開啟</a:t>
            </a:r>
            <a:r>
              <a:rPr lang="en-US" altLang="zh-TW" sz="1400">
                <a:solidFill>
                  <a:srgbClr val="575757"/>
                </a:solidFill>
                <a:latin typeface="Microsoft YaHei" panose="020B0503020204020204" pitchFamily="34" charset="-122"/>
                <a:ea typeface="Microsoft YaHei" panose="020B0503020204020204" pitchFamily="34" charset="-122"/>
              </a:rPr>
              <a:t>APP</a:t>
            </a:r>
            <a:r>
              <a:rPr lang="zh-TW" altLang="en-US" sz="1400">
                <a:solidFill>
                  <a:srgbClr val="575757"/>
                </a:solidFill>
                <a:latin typeface="Microsoft YaHei" panose="020B0503020204020204" pitchFamily="34" charset="-122"/>
                <a:ea typeface="Microsoft YaHei" panose="020B0503020204020204" pitchFamily="34" charset="-122"/>
              </a:rPr>
              <a:t>，並在</a:t>
            </a:r>
            <a:r>
              <a:rPr lang="en-US" altLang="zh-TW" sz="1400">
                <a:solidFill>
                  <a:srgbClr val="575757"/>
                </a:solidFill>
                <a:latin typeface="Microsoft YaHei" panose="020B0503020204020204" pitchFamily="34" charset="-122"/>
                <a:ea typeface="Microsoft YaHei" panose="020B0503020204020204" pitchFamily="34" charset="-122"/>
              </a:rPr>
              <a:t>APP</a:t>
            </a:r>
            <a:r>
              <a:rPr lang="zh-TW" altLang="en-US" sz="1400">
                <a:solidFill>
                  <a:srgbClr val="575757"/>
                </a:solidFill>
                <a:latin typeface="Microsoft YaHei" panose="020B0503020204020204" pitchFamily="34" charset="-122"/>
                <a:ea typeface="Microsoft YaHei" panose="020B0503020204020204" pitchFamily="34" charset="-122"/>
              </a:rPr>
              <a:t>完成指定任務</a:t>
            </a:r>
            <a:endParaRPr lang="en-US" sz="1400">
              <a:solidFill>
                <a:srgbClr val="575757"/>
              </a:solidFill>
              <a:latin typeface="Microsoft YaHei" panose="020B0503020204020204" pitchFamily="34" charset="-122"/>
              <a:ea typeface="Microsoft YaHei" panose="020B0503020204020204" pitchFamily="34" charset="-122"/>
            </a:endParaRPr>
          </a:p>
        </p:txBody>
      </p:sp>
      <p:grpSp>
        <p:nvGrpSpPr>
          <p:cNvPr id="58" name="Group 57">
            <a:extLst>
              <a:ext uri="{FF2B5EF4-FFF2-40B4-BE49-F238E27FC236}">
                <a16:creationId xmlns:a16="http://schemas.microsoft.com/office/drawing/2014/main" id="{2243A718-4292-B312-D6DE-4F30A52633C5}"/>
              </a:ext>
            </a:extLst>
          </p:cNvPr>
          <p:cNvGrpSpPr/>
          <p:nvPr/>
        </p:nvGrpSpPr>
        <p:grpSpPr>
          <a:xfrm>
            <a:off x="4537993" y="1908515"/>
            <a:ext cx="442744" cy="443154"/>
            <a:chOff x="5183422" y="2515576"/>
            <a:chExt cx="617160" cy="617732"/>
          </a:xfrm>
        </p:grpSpPr>
        <p:sp>
          <p:nvSpPr>
            <p:cNvPr id="59" name="Oval 58">
              <a:extLst>
                <a:ext uri="{FF2B5EF4-FFF2-40B4-BE49-F238E27FC236}">
                  <a16:creationId xmlns:a16="http://schemas.microsoft.com/office/drawing/2014/main" id="{F1D444D3-C30C-32ED-074A-506F69A5DDD9}"/>
                </a:ext>
              </a:extLst>
            </p:cNvPr>
            <p:cNvSpPr/>
            <p:nvPr>
              <p:custDataLst>
                <p:tags r:id="rId7"/>
              </p:custDataLst>
            </p:nvPr>
          </p:nvSpPr>
          <p:spPr>
            <a:xfrm>
              <a:off x="5183422" y="2515576"/>
              <a:ext cx="617160" cy="617732"/>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a:solidFill>
                  <a:schemeClr val="bg1">
                    <a:lumMod val="50000"/>
                  </a:schemeClr>
                </a:solidFill>
                <a:ea typeface="Microsoft YaHei" panose="020B0503020204020204" pitchFamily="34" charset="-122"/>
              </a:endParaRPr>
            </a:p>
          </p:txBody>
        </p:sp>
        <p:grpSp>
          <p:nvGrpSpPr>
            <p:cNvPr id="60" name="bcgIcons_Smart Phone 1 ">
              <a:extLst>
                <a:ext uri="{FF2B5EF4-FFF2-40B4-BE49-F238E27FC236}">
                  <a16:creationId xmlns:a16="http://schemas.microsoft.com/office/drawing/2014/main" id="{8ABD9DC4-8A81-696F-B190-CEC678E4E70A}"/>
                </a:ext>
              </a:extLst>
            </p:cNvPr>
            <p:cNvGrpSpPr>
              <a:grpSpLocks noChangeAspect="1"/>
            </p:cNvGrpSpPr>
            <p:nvPr/>
          </p:nvGrpSpPr>
          <p:grpSpPr bwMode="auto">
            <a:xfrm>
              <a:off x="5273803" y="2606041"/>
              <a:ext cx="436398" cy="436802"/>
              <a:chOff x="1682" y="0"/>
              <a:chExt cx="4316" cy="4320"/>
            </a:xfrm>
          </p:grpSpPr>
          <p:sp>
            <p:nvSpPr>
              <p:cNvPr id="61" name="AutoShape 13">
                <a:extLst>
                  <a:ext uri="{FF2B5EF4-FFF2-40B4-BE49-F238E27FC236}">
                    <a16:creationId xmlns:a16="http://schemas.microsoft.com/office/drawing/2014/main" id="{8C230407-776C-AD4F-7AF9-4C35C4331068}"/>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Freeform 15">
                <a:extLst>
                  <a:ext uri="{FF2B5EF4-FFF2-40B4-BE49-F238E27FC236}">
                    <a16:creationId xmlns:a16="http://schemas.microsoft.com/office/drawing/2014/main" id="{D24BC31C-B2CC-1010-D0DF-B17E95EF6228}"/>
                  </a:ext>
                </a:extLst>
              </p:cNvPr>
              <p:cNvSpPr>
                <a:spLocks noEditPoints="1"/>
              </p:cNvSpPr>
              <p:nvPr/>
            </p:nvSpPr>
            <p:spPr bwMode="auto">
              <a:xfrm>
                <a:off x="3087" y="726"/>
                <a:ext cx="1510" cy="2865"/>
              </a:xfrm>
              <a:custGeom>
                <a:avLst/>
                <a:gdLst>
                  <a:gd name="T0" fmla="*/ 784 w 806"/>
                  <a:gd name="T1" fmla="*/ 0 h 1528"/>
                  <a:gd name="T2" fmla="*/ 22 w 806"/>
                  <a:gd name="T3" fmla="*/ 0 h 1528"/>
                  <a:gd name="T4" fmla="*/ 0 w 806"/>
                  <a:gd name="T5" fmla="*/ 22 h 1528"/>
                  <a:gd name="T6" fmla="*/ 0 w 806"/>
                  <a:gd name="T7" fmla="*/ 1252 h 1528"/>
                  <a:gd name="T8" fmla="*/ 0 w 806"/>
                  <a:gd name="T9" fmla="*/ 1296 h 1528"/>
                  <a:gd name="T10" fmla="*/ 0 w 806"/>
                  <a:gd name="T11" fmla="*/ 1506 h 1528"/>
                  <a:gd name="T12" fmla="*/ 22 w 806"/>
                  <a:gd name="T13" fmla="*/ 1528 h 1528"/>
                  <a:gd name="T14" fmla="*/ 784 w 806"/>
                  <a:gd name="T15" fmla="*/ 1528 h 1528"/>
                  <a:gd name="T16" fmla="*/ 806 w 806"/>
                  <a:gd name="T17" fmla="*/ 1506 h 1528"/>
                  <a:gd name="T18" fmla="*/ 806 w 806"/>
                  <a:gd name="T19" fmla="*/ 1296 h 1528"/>
                  <a:gd name="T20" fmla="*/ 806 w 806"/>
                  <a:gd name="T21" fmla="*/ 1252 h 1528"/>
                  <a:gd name="T22" fmla="*/ 806 w 806"/>
                  <a:gd name="T23" fmla="*/ 22 h 1528"/>
                  <a:gd name="T24" fmla="*/ 784 w 806"/>
                  <a:gd name="T25" fmla="*/ 0 h 1528"/>
                  <a:gd name="T26" fmla="*/ 762 w 806"/>
                  <a:gd name="T27" fmla="*/ 1484 h 1528"/>
                  <a:gd name="T28" fmla="*/ 44 w 806"/>
                  <a:gd name="T29" fmla="*/ 1484 h 1528"/>
                  <a:gd name="T30" fmla="*/ 44 w 806"/>
                  <a:gd name="T31" fmla="*/ 1296 h 1528"/>
                  <a:gd name="T32" fmla="*/ 762 w 806"/>
                  <a:gd name="T33" fmla="*/ 1296 h 1528"/>
                  <a:gd name="T34" fmla="*/ 762 w 806"/>
                  <a:gd name="T35" fmla="*/ 1484 h 1528"/>
                  <a:gd name="T36" fmla="*/ 44 w 806"/>
                  <a:gd name="T37" fmla="*/ 1252 h 1528"/>
                  <a:gd name="T38" fmla="*/ 44 w 806"/>
                  <a:gd name="T39" fmla="*/ 44 h 1528"/>
                  <a:gd name="T40" fmla="*/ 762 w 806"/>
                  <a:gd name="T41" fmla="*/ 44 h 1528"/>
                  <a:gd name="T42" fmla="*/ 762 w 806"/>
                  <a:gd name="T43" fmla="*/ 1252 h 1528"/>
                  <a:gd name="T44" fmla="*/ 44 w 806"/>
                  <a:gd name="T45" fmla="*/ 1252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06" h="1528">
                    <a:moveTo>
                      <a:pt x="784" y="0"/>
                    </a:moveTo>
                    <a:cubicBezTo>
                      <a:pt x="22" y="0"/>
                      <a:pt x="22" y="0"/>
                      <a:pt x="22" y="0"/>
                    </a:cubicBezTo>
                    <a:cubicBezTo>
                      <a:pt x="10" y="0"/>
                      <a:pt x="0" y="10"/>
                      <a:pt x="0" y="22"/>
                    </a:cubicBezTo>
                    <a:cubicBezTo>
                      <a:pt x="0" y="1252"/>
                      <a:pt x="0" y="1252"/>
                      <a:pt x="0" y="1252"/>
                    </a:cubicBezTo>
                    <a:cubicBezTo>
                      <a:pt x="0" y="1296"/>
                      <a:pt x="0" y="1296"/>
                      <a:pt x="0" y="1296"/>
                    </a:cubicBezTo>
                    <a:cubicBezTo>
                      <a:pt x="0" y="1506"/>
                      <a:pt x="0" y="1506"/>
                      <a:pt x="0" y="1506"/>
                    </a:cubicBezTo>
                    <a:cubicBezTo>
                      <a:pt x="0" y="1518"/>
                      <a:pt x="10" y="1528"/>
                      <a:pt x="22" y="1528"/>
                    </a:cubicBezTo>
                    <a:cubicBezTo>
                      <a:pt x="784" y="1528"/>
                      <a:pt x="784" y="1528"/>
                      <a:pt x="784" y="1528"/>
                    </a:cubicBezTo>
                    <a:cubicBezTo>
                      <a:pt x="796" y="1528"/>
                      <a:pt x="806" y="1518"/>
                      <a:pt x="806" y="1506"/>
                    </a:cubicBezTo>
                    <a:cubicBezTo>
                      <a:pt x="806" y="1296"/>
                      <a:pt x="806" y="1296"/>
                      <a:pt x="806" y="1296"/>
                    </a:cubicBezTo>
                    <a:cubicBezTo>
                      <a:pt x="806" y="1252"/>
                      <a:pt x="806" y="1252"/>
                      <a:pt x="806" y="1252"/>
                    </a:cubicBezTo>
                    <a:cubicBezTo>
                      <a:pt x="806" y="22"/>
                      <a:pt x="806" y="22"/>
                      <a:pt x="806" y="22"/>
                    </a:cubicBezTo>
                    <a:cubicBezTo>
                      <a:pt x="806" y="10"/>
                      <a:pt x="796" y="0"/>
                      <a:pt x="784" y="0"/>
                    </a:cubicBezTo>
                    <a:close/>
                    <a:moveTo>
                      <a:pt x="762" y="1484"/>
                    </a:moveTo>
                    <a:cubicBezTo>
                      <a:pt x="44" y="1484"/>
                      <a:pt x="44" y="1484"/>
                      <a:pt x="44" y="1484"/>
                    </a:cubicBezTo>
                    <a:cubicBezTo>
                      <a:pt x="44" y="1296"/>
                      <a:pt x="44" y="1296"/>
                      <a:pt x="44" y="1296"/>
                    </a:cubicBezTo>
                    <a:cubicBezTo>
                      <a:pt x="762" y="1296"/>
                      <a:pt x="762" y="1296"/>
                      <a:pt x="762" y="1296"/>
                    </a:cubicBezTo>
                    <a:lnTo>
                      <a:pt x="762" y="1484"/>
                    </a:lnTo>
                    <a:close/>
                    <a:moveTo>
                      <a:pt x="44" y="1252"/>
                    </a:moveTo>
                    <a:cubicBezTo>
                      <a:pt x="44" y="44"/>
                      <a:pt x="44" y="44"/>
                      <a:pt x="44" y="44"/>
                    </a:cubicBezTo>
                    <a:cubicBezTo>
                      <a:pt x="762" y="44"/>
                      <a:pt x="762" y="44"/>
                      <a:pt x="762" y="44"/>
                    </a:cubicBezTo>
                    <a:cubicBezTo>
                      <a:pt x="762" y="1252"/>
                      <a:pt x="762" y="1252"/>
                      <a:pt x="762" y="1252"/>
                    </a:cubicBezTo>
                    <a:lnTo>
                      <a:pt x="44" y="125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sp>
            <p:nvSpPr>
              <p:cNvPr id="63" name="Freeform 16">
                <a:extLst>
                  <a:ext uri="{FF2B5EF4-FFF2-40B4-BE49-F238E27FC236}">
                    <a16:creationId xmlns:a16="http://schemas.microsoft.com/office/drawing/2014/main" id="{750514B4-B43A-5692-D06D-509FC3DC87D8}"/>
                  </a:ext>
                </a:extLst>
              </p:cNvPr>
              <p:cNvSpPr>
                <a:spLocks noEditPoints="1"/>
              </p:cNvSpPr>
              <p:nvPr/>
            </p:nvSpPr>
            <p:spPr bwMode="auto">
              <a:xfrm>
                <a:off x="3241" y="917"/>
                <a:ext cx="1195" cy="2512"/>
              </a:xfrm>
              <a:custGeom>
                <a:avLst/>
                <a:gdLst>
                  <a:gd name="T0" fmla="*/ 321 w 638"/>
                  <a:gd name="T1" fmla="*/ 1340 h 1340"/>
                  <a:gd name="T2" fmla="*/ 263 w 638"/>
                  <a:gd name="T3" fmla="*/ 1282 h 1340"/>
                  <a:gd name="T4" fmla="*/ 321 w 638"/>
                  <a:gd name="T5" fmla="*/ 1224 h 1340"/>
                  <a:gd name="T6" fmla="*/ 379 w 638"/>
                  <a:gd name="T7" fmla="*/ 1282 h 1340"/>
                  <a:gd name="T8" fmla="*/ 321 w 638"/>
                  <a:gd name="T9" fmla="*/ 1340 h 1340"/>
                  <a:gd name="T10" fmla="*/ 638 w 638"/>
                  <a:gd name="T11" fmla="*/ 1092 h 1340"/>
                  <a:gd name="T12" fmla="*/ 638 w 638"/>
                  <a:gd name="T13" fmla="*/ 115 h 1340"/>
                  <a:gd name="T14" fmla="*/ 628 w 638"/>
                  <a:gd name="T15" fmla="*/ 105 h 1340"/>
                  <a:gd name="T16" fmla="*/ 10 w 638"/>
                  <a:gd name="T17" fmla="*/ 105 h 1340"/>
                  <a:gd name="T18" fmla="*/ 0 w 638"/>
                  <a:gd name="T19" fmla="*/ 115 h 1340"/>
                  <a:gd name="T20" fmla="*/ 0 w 638"/>
                  <a:gd name="T21" fmla="*/ 1092 h 1340"/>
                  <a:gd name="T22" fmla="*/ 10 w 638"/>
                  <a:gd name="T23" fmla="*/ 1102 h 1340"/>
                  <a:gd name="T24" fmla="*/ 628 w 638"/>
                  <a:gd name="T25" fmla="*/ 1102 h 1340"/>
                  <a:gd name="T26" fmla="*/ 638 w 638"/>
                  <a:gd name="T27" fmla="*/ 1092 h 1340"/>
                  <a:gd name="T28" fmla="*/ 469 w 638"/>
                  <a:gd name="T29" fmla="*/ 22 h 1340"/>
                  <a:gd name="T30" fmla="*/ 447 w 638"/>
                  <a:gd name="T31" fmla="*/ 0 h 1340"/>
                  <a:gd name="T32" fmla="*/ 195 w 638"/>
                  <a:gd name="T33" fmla="*/ 0 h 1340"/>
                  <a:gd name="T34" fmla="*/ 173 w 638"/>
                  <a:gd name="T35" fmla="*/ 22 h 1340"/>
                  <a:gd name="T36" fmla="*/ 195 w 638"/>
                  <a:gd name="T37" fmla="*/ 44 h 1340"/>
                  <a:gd name="T38" fmla="*/ 447 w 638"/>
                  <a:gd name="T39" fmla="*/ 44 h 1340"/>
                  <a:gd name="T40" fmla="*/ 469 w 638"/>
                  <a:gd name="T41" fmla="*/ 22 h 1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38" h="1340">
                    <a:moveTo>
                      <a:pt x="321" y="1340"/>
                    </a:moveTo>
                    <a:cubicBezTo>
                      <a:pt x="289" y="1340"/>
                      <a:pt x="263" y="1314"/>
                      <a:pt x="263" y="1282"/>
                    </a:cubicBezTo>
                    <a:cubicBezTo>
                      <a:pt x="263" y="1250"/>
                      <a:pt x="289" y="1224"/>
                      <a:pt x="321" y="1224"/>
                    </a:cubicBezTo>
                    <a:cubicBezTo>
                      <a:pt x="353" y="1224"/>
                      <a:pt x="379" y="1250"/>
                      <a:pt x="379" y="1282"/>
                    </a:cubicBezTo>
                    <a:cubicBezTo>
                      <a:pt x="379" y="1314"/>
                      <a:pt x="353" y="1340"/>
                      <a:pt x="321" y="1340"/>
                    </a:cubicBezTo>
                    <a:close/>
                    <a:moveTo>
                      <a:pt x="638" y="1092"/>
                    </a:moveTo>
                    <a:cubicBezTo>
                      <a:pt x="638" y="115"/>
                      <a:pt x="638" y="115"/>
                      <a:pt x="638" y="115"/>
                    </a:cubicBezTo>
                    <a:cubicBezTo>
                      <a:pt x="638" y="110"/>
                      <a:pt x="634" y="105"/>
                      <a:pt x="628" y="105"/>
                    </a:cubicBezTo>
                    <a:cubicBezTo>
                      <a:pt x="10" y="105"/>
                      <a:pt x="10" y="105"/>
                      <a:pt x="10" y="105"/>
                    </a:cubicBezTo>
                    <a:cubicBezTo>
                      <a:pt x="4" y="105"/>
                      <a:pt x="0" y="110"/>
                      <a:pt x="0" y="115"/>
                    </a:cubicBezTo>
                    <a:cubicBezTo>
                      <a:pt x="0" y="1092"/>
                      <a:pt x="0" y="1092"/>
                      <a:pt x="0" y="1092"/>
                    </a:cubicBezTo>
                    <a:cubicBezTo>
                      <a:pt x="0" y="1098"/>
                      <a:pt x="4" y="1102"/>
                      <a:pt x="10" y="1102"/>
                    </a:cubicBezTo>
                    <a:cubicBezTo>
                      <a:pt x="628" y="1102"/>
                      <a:pt x="628" y="1102"/>
                      <a:pt x="628" y="1102"/>
                    </a:cubicBezTo>
                    <a:cubicBezTo>
                      <a:pt x="634" y="1102"/>
                      <a:pt x="638" y="1098"/>
                      <a:pt x="638" y="1092"/>
                    </a:cubicBezTo>
                    <a:close/>
                    <a:moveTo>
                      <a:pt x="469" y="22"/>
                    </a:moveTo>
                    <a:cubicBezTo>
                      <a:pt x="469" y="10"/>
                      <a:pt x="459" y="0"/>
                      <a:pt x="447" y="0"/>
                    </a:cubicBezTo>
                    <a:cubicBezTo>
                      <a:pt x="195" y="0"/>
                      <a:pt x="195" y="0"/>
                      <a:pt x="195" y="0"/>
                    </a:cubicBezTo>
                    <a:cubicBezTo>
                      <a:pt x="183" y="0"/>
                      <a:pt x="173" y="10"/>
                      <a:pt x="173" y="22"/>
                    </a:cubicBezTo>
                    <a:cubicBezTo>
                      <a:pt x="173" y="34"/>
                      <a:pt x="183" y="44"/>
                      <a:pt x="195" y="44"/>
                    </a:cubicBezTo>
                    <a:cubicBezTo>
                      <a:pt x="447" y="44"/>
                      <a:pt x="447" y="44"/>
                      <a:pt x="447" y="44"/>
                    </a:cubicBezTo>
                    <a:cubicBezTo>
                      <a:pt x="459" y="44"/>
                      <a:pt x="469" y="34"/>
                      <a:pt x="469" y="22"/>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grpSp>
      </p:grpSp>
      <p:sp>
        <p:nvSpPr>
          <p:cNvPr id="1024" name="TextBox 1023">
            <a:extLst>
              <a:ext uri="{FF2B5EF4-FFF2-40B4-BE49-F238E27FC236}">
                <a16:creationId xmlns:a16="http://schemas.microsoft.com/office/drawing/2014/main" id="{C93135CA-17EB-84DF-C933-502DF6B7D198}"/>
              </a:ext>
            </a:extLst>
          </p:cNvPr>
          <p:cNvSpPr txBox="1"/>
          <p:nvPr/>
        </p:nvSpPr>
        <p:spPr>
          <a:xfrm>
            <a:off x="4385985" y="2374917"/>
            <a:ext cx="746760" cy="266694"/>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a:solidFill>
                  <a:srgbClr val="29BA74"/>
                </a:solidFill>
                <a:ea typeface="Microsoft YaHei" panose="020B0503020204020204" pitchFamily="34" charset="-122"/>
              </a:rPr>
              <a:t>Day 1</a:t>
            </a:r>
          </a:p>
        </p:txBody>
      </p:sp>
      <p:sp>
        <p:nvSpPr>
          <p:cNvPr id="1025" name="TextBox 1024">
            <a:extLst>
              <a:ext uri="{FF2B5EF4-FFF2-40B4-BE49-F238E27FC236}">
                <a16:creationId xmlns:a16="http://schemas.microsoft.com/office/drawing/2014/main" id="{5B287AF3-EFD8-9F98-9F29-7A1983D8B2A6}"/>
              </a:ext>
            </a:extLst>
          </p:cNvPr>
          <p:cNvSpPr txBox="1"/>
          <p:nvPr/>
        </p:nvSpPr>
        <p:spPr>
          <a:xfrm>
            <a:off x="4007318" y="3036406"/>
            <a:ext cx="1604607" cy="820491"/>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altLang="zh-TW" sz="1400">
                <a:solidFill>
                  <a:srgbClr val="575757"/>
                </a:solidFill>
                <a:latin typeface="Microsoft YaHei" panose="020B0503020204020204" pitchFamily="34" charset="-122"/>
                <a:ea typeface="Microsoft YaHei" panose="020B0503020204020204" pitchFamily="34" charset="-122"/>
              </a:rPr>
              <a:t>"</a:t>
            </a:r>
            <a:r>
              <a:rPr lang="zh-TW" altLang="en-US" sz="1400">
                <a:solidFill>
                  <a:srgbClr val="575757"/>
                </a:solidFill>
                <a:latin typeface="Microsoft YaHei" panose="020B0503020204020204" pitchFamily="34" charset="-122"/>
                <a:ea typeface="Microsoft YaHei" panose="020B0503020204020204" pitchFamily="34" charset="-122"/>
              </a:rPr>
              <a:t>登入前快速瀏覽帳戶餘額，</a:t>
            </a:r>
            <a:r>
              <a:rPr lang="zh-TW" altLang="en-US" sz="1400">
                <a:solidFill>
                  <a:srgbClr val="A8B21C"/>
                </a:solidFill>
                <a:latin typeface="Microsoft YaHei" panose="020B0503020204020204" pitchFamily="34" charset="-122"/>
                <a:ea typeface="Microsoft YaHei" panose="020B0503020204020204" pitchFamily="34" charset="-122"/>
              </a:rPr>
              <a:t>來進行設定</a:t>
            </a:r>
            <a:r>
              <a:rPr lang="en-US" altLang="zh-TW" sz="1400">
                <a:solidFill>
                  <a:srgbClr val="575757"/>
                </a:solidFill>
                <a:latin typeface="Microsoft YaHei" panose="020B0503020204020204" pitchFamily="34" charset="-122"/>
                <a:ea typeface="Microsoft YaHei" panose="020B0503020204020204" pitchFamily="34" charset="-122"/>
              </a:rPr>
              <a:t>"</a:t>
            </a:r>
            <a:endParaRPr lang="en-US" sz="1400">
              <a:solidFill>
                <a:srgbClr val="575757"/>
              </a:solidFill>
              <a:latin typeface="Microsoft YaHei" panose="020B0503020204020204" pitchFamily="34" charset="-122"/>
              <a:ea typeface="Microsoft YaHei" panose="020B0503020204020204" pitchFamily="34" charset="-122"/>
            </a:endParaRPr>
          </a:p>
        </p:txBody>
      </p:sp>
      <p:sp>
        <p:nvSpPr>
          <p:cNvPr id="1027" name="TextBox 1026">
            <a:extLst>
              <a:ext uri="{FF2B5EF4-FFF2-40B4-BE49-F238E27FC236}">
                <a16:creationId xmlns:a16="http://schemas.microsoft.com/office/drawing/2014/main" id="{392890D3-728E-DDF4-DFD6-D397E7E5A220}"/>
              </a:ext>
            </a:extLst>
          </p:cNvPr>
          <p:cNvSpPr txBox="1"/>
          <p:nvPr/>
        </p:nvSpPr>
        <p:spPr>
          <a:xfrm>
            <a:off x="3998148" y="4344142"/>
            <a:ext cx="1604607" cy="100423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altLang="zh-TW" sz="1400" b="1">
                <a:solidFill>
                  <a:srgbClr val="29BA74"/>
                </a:solidFill>
                <a:latin typeface="Microsoft YaHei" panose="020B0503020204020204" pitchFamily="34" charset="-122"/>
                <a:ea typeface="Microsoft YaHei" panose="020B0503020204020204" pitchFamily="34" charset="-122"/>
              </a:rPr>
              <a:t>[</a:t>
            </a:r>
            <a:r>
              <a:rPr lang="zh-TW" altLang="en-US" sz="1400" b="1">
                <a:solidFill>
                  <a:srgbClr val="29BA74"/>
                </a:solidFill>
                <a:latin typeface="Microsoft YaHei" panose="020B0503020204020204" pitchFamily="34" charset="-122"/>
                <a:ea typeface="Microsoft YaHei" panose="020B0503020204020204" pitchFamily="34" charset="-122"/>
              </a:rPr>
              <a:t>設定快速查餘額</a:t>
            </a:r>
            <a:r>
              <a:rPr lang="en-US" altLang="zh-TW" sz="1400" b="1">
                <a:solidFill>
                  <a:srgbClr val="29BA74"/>
                </a:solidFill>
                <a:latin typeface="Microsoft YaHei" panose="020B0503020204020204" pitchFamily="34" charset="-122"/>
                <a:ea typeface="Microsoft YaHei" panose="020B0503020204020204" pitchFamily="34" charset="-122"/>
              </a:rPr>
              <a:t>]</a:t>
            </a:r>
          </a:p>
          <a:p>
            <a:r>
              <a:rPr lang="zh-TW" altLang="en-US" sz="1400">
                <a:solidFill>
                  <a:srgbClr val="575757"/>
                </a:solidFill>
                <a:latin typeface="Microsoft YaHei" panose="020B0503020204020204" pitchFamily="34" charset="-122"/>
                <a:ea typeface="Microsoft YaHei" panose="020B0503020204020204" pitchFamily="34" charset="-122"/>
              </a:rPr>
              <a:t>觸發客戶開啟</a:t>
            </a:r>
            <a:r>
              <a:rPr lang="en-US" altLang="zh-TW" sz="1400">
                <a:solidFill>
                  <a:srgbClr val="575757"/>
                </a:solidFill>
                <a:latin typeface="Microsoft YaHei" panose="020B0503020204020204" pitchFamily="34" charset="-122"/>
                <a:ea typeface="Microsoft YaHei" panose="020B0503020204020204" pitchFamily="34" charset="-122"/>
              </a:rPr>
              <a:t>APP</a:t>
            </a:r>
            <a:r>
              <a:rPr lang="zh-TW" altLang="en-US" sz="1400">
                <a:solidFill>
                  <a:srgbClr val="575757"/>
                </a:solidFill>
                <a:latin typeface="Microsoft YaHei" panose="020B0503020204020204" pitchFamily="34" charset="-122"/>
                <a:ea typeface="Microsoft YaHei" panose="020B0503020204020204" pitchFamily="34" charset="-122"/>
              </a:rPr>
              <a:t>，同時提供客製化功能提升使用率</a:t>
            </a:r>
            <a:endParaRPr lang="en-US" sz="1400">
              <a:solidFill>
                <a:srgbClr val="575757"/>
              </a:solidFill>
              <a:latin typeface="Microsoft YaHei" panose="020B0503020204020204" pitchFamily="34" charset="-122"/>
              <a:ea typeface="Microsoft YaHei" panose="020B0503020204020204" pitchFamily="34" charset="-122"/>
            </a:endParaRPr>
          </a:p>
        </p:txBody>
      </p:sp>
      <p:grpSp>
        <p:nvGrpSpPr>
          <p:cNvPr id="1028" name="Group 1027">
            <a:extLst>
              <a:ext uri="{FF2B5EF4-FFF2-40B4-BE49-F238E27FC236}">
                <a16:creationId xmlns:a16="http://schemas.microsoft.com/office/drawing/2014/main" id="{F41D08F5-ADA6-3573-D69A-8A357825045F}"/>
              </a:ext>
            </a:extLst>
          </p:cNvPr>
          <p:cNvGrpSpPr/>
          <p:nvPr/>
        </p:nvGrpSpPr>
        <p:grpSpPr>
          <a:xfrm>
            <a:off x="7203978" y="1908515"/>
            <a:ext cx="442744" cy="443154"/>
            <a:chOff x="5183422" y="2515576"/>
            <a:chExt cx="617160" cy="617732"/>
          </a:xfrm>
        </p:grpSpPr>
        <p:sp>
          <p:nvSpPr>
            <p:cNvPr id="1029" name="Oval 1028">
              <a:extLst>
                <a:ext uri="{FF2B5EF4-FFF2-40B4-BE49-F238E27FC236}">
                  <a16:creationId xmlns:a16="http://schemas.microsoft.com/office/drawing/2014/main" id="{362B63EC-B628-1B53-B73A-116CB5A3723A}"/>
                </a:ext>
              </a:extLst>
            </p:cNvPr>
            <p:cNvSpPr/>
            <p:nvPr>
              <p:custDataLst>
                <p:tags r:id="rId6"/>
              </p:custDataLst>
            </p:nvPr>
          </p:nvSpPr>
          <p:spPr>
            <a:xfrm>
              <a:off x="5183422" y="2515576"/>
              <a:ext cx="617160" cy="617732"/>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a:solidFill>
                  <a:schemeClr val="bg1">
                    <a:lumMod val="50000"/>
                  </a:schemeClr>
                </a:solidFill>
                <a:ea typeface="Microsoft YaHei" panose="020B0503020204020204" pitchFamily="34" charset="-122"/>
              </a:endParaRPr>
            </a:p>
          </p:txBody>
        </p:sp>
        <p:grpSp>
          <p:nvGrpSpPr>
            <p:cNvPr id="1030" name="bcgIcons_Smart Phone 1 ">
              <a:extLst>
                <a:ext uri="{FF2B5EF4-FFF2-40B4-BE49-F238E27FC236}">
                  <a16:creationId xmlns:a16="http://schemas.microsoft.com/office/drawing/2014/main" id="{FAE40AFE-3862-D8C2-A034-B7ABBDDCA860}"/>
                </a:ext>
              </a:extLst>
            </p:cNvPr>
            <p:cNvGrpSpPr>
              <a:grpSpLocks noChangeAspect="1"/>
            </p:cNvGrpSpPr>
            <p:nvPr/>
          </p:nvGrpSpPr>
          <p:grpSpPr bwMode="auto">
            <a:xfrm>
              <a:off x="5273803" y="2606041"/>
              <a:ext cx="436398" cy="436802"/>
              <a:chOff x="1682" y="0"/>
              <a:chExt cx="4316" cy="4320"/>
            </a:xfrm>
          </p:grpSpPr>
          <p:sp>
            <p:nvSpPr>
              <p:cNvPr id="1031" name="AutoShape 13">
                <a:extLst>
                  <a:ext uri="{FF2B5EF4-FFF2-40B4-BE49-F238E27FC236}">
                    <a16:creationId xmlns:a16="http://schemas.microsoft.com/office/drawing/2014/main" id="{47019200-DA2A-130B-EEB4-B68DB154B99E}"/>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2" name="Freeform 15">
                <a:extLst>
                  <a:ext uri="{FF2B5EF4-FFF2-40B4-BE49-F238E27FC236}">
                    <a16:creationId xmlns:a16="http://schemas.microsoft.com/office/drawing/2014/main" id="{264C5BA1-C82A-C88B-21D5-EA15C5A3F65D}"/>
                  </a:ext>
                </a:extLst>
              </p:cNvPr>
              <p:cNvSpPr>
                <a:spLocks noEditPoints="1"/>
              </p:cNvSpPr>
              <p:nvPr/>
            </p:nvSpPr>
            <p:spPr bwMode="auto">
              <a:xfrm>
                <a:off x="3087" y="726"/>
                <a:ext cx="1510" cy="2865"/>
              </a:xfrm>
              <a:custGeom>
                <a:avLst/>
                <a:gdLst>
                  <a:gd name="T0" fmla="*/ 784 w 806"/>
                  <a:gd name="T1" fmla="*/ 0 h 1528"/>
                  <a:gd name="T2" fmla="*/ 22 w 806"/>
                  <a:gd name="T3" fmla="*/ 0 h 1528"/>
                  <a:gd name="T4" fmla="*/ 0 w 806"/>
                  <a:gd name="T5" fmla="*/ 22 h 1528"/>
                  <a:gd name="T6" fmla="*/ 0 w 806"/>
                  <a:gd name="T7" fmla="*/ 1252 h 1528"/>
                  <a:gd name="T8" fmla="*/ 0 w 806"/>
                  <a:gd name="T9" fmla="*/ 1296 h 1528"/>
                  <a:gd name="T10" fmla="*/ 0 w 806"/>
                  <a:gd name="T11" fmla="*/ 1506 h 1528"/>
                  <a:gd name="T12" fmla="*/ 22 w 806"/>
                  <a:gd name="T13" fmla="*/ 1528 h 1528"/>
                  <a:gd name="T14" fmla="*/ 784 w 806"/>
                  <a:gd name="T15" fmla="*/ 1528 h 1528"/>
                  <a:gd name="T16" fmla="*/ 806 w 806"/>
                  <a:gd name="T17" fmla="*/ 1506 h 1528"/>
                  <a:gd name="T18" fmla="*/ 806 w 806"/>
                  <a:gd name="T19" fmla="*/ 1296 h 1528"/>
                  <a:gd name="T20" fmla="*/ 806 w 806"/>
                  <a:gd name="T21" fmla="*/ 1252 h 1528"/>
                  <a:gd name="T22" fmla="*/ 806 w 806"/>
                  <a:gd name="T23" fmla="*/ 22 h 1528"/>
                  <a:gd name="T24" fmla="*/ 784 w 806"/>
                  <a:gd name="T25" fmla="*/ 0 h 1528"/>
                  <a:gd name="T26" fmla="*/ 762 w 806"/>
                  <a:gd name="T27" fmla="*/ 1484 h 1528"/>
                  <a:gd name="T28" fmla="*/ 44 w 806"/>
                  <a:gd name="T29" fmla="*/ 1484 h 1528"/>
                  <a:gd name="T30" fmla="*/ 44 w 806"/>
                  <a:gd name="T31" fmla="*/ 1296 h 1528"/>
                  <a:gd name="T32" fmla="*/ 762 w 806"/>
                  <a:gd name="T33" fmla="*/ 1296 h 1528"/>
                  <a:gd name="T34" fmla="*/ 762 w 806"/>
                  <a:gd name="T35" fmla="*/ 1484 h 1528"/>
                  <a:gd name="T36" fmla="*/ 44 w 806"/>
                  <a:gd name="T37" fmla="*/ 1252 h 1528"/>
                  <a:gd name="T38" fmla="*/ 44 w 806"/>
                  <a:gd name="T39" fmla="*/ 44 h 1528"/>
                  <a:gd name="T40" fmla="*/ 762 w 806"/>
                  <a:gd name="T41" fmla="*/ 44 h 1528"/>
                  <a:gd name="T42" fmla="*/ 762 w 806"/>
                  <a:gd name="T43" fmla="*/ 1252 h 1528"/>
                  <a:gd name="T44" fmla="*/ 44 w 806"/>
                  <a:gd name="T45" fmla="*/ 1252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06" h="1528">
                    <a:moveTo>
                      <a:pt x="784" y="0"/>
                    </a:moveTo>
                    <a:cubicBezTo>
                      <a:pt x="22" y="0"/>
                      <a:pt x="22" y="0"/>
                      <a:pt x="22" y="0"/>
                    </a:cubicBezTo>
                    <a:cubicBezTo>
                      <a:pt x="10" y="0"/>
                      <a:pt x="0" y="10"/>
                      <a:pt x="0" y="22"/>
                    </a:cubicBezTo>
                    <a:cubicBezTo>
                      <a:pt x="0" y="1252"/>
                      <a:pt x="0" y="1252"/>
                      <a:pt x="0" y="1252"/>
                    </a:cubicBezTo>
                    <a:cubicBezTo>
                      <a:pt x="0" y="1296"/>
                      <a:pt x="0" y="1296"/>
                      <a:pt x="0" y="1296"/>
                    </a:cubicBezTo>
                    <a:cubicBezTo>
                      <a:pt x="0" y="1506"/>
                      <a:pt x="0" y="1506"/>
                      <a:pt x="0" y="1506"/>
                    </a:cubicBezTo>
                    <a:cubicBezTo>
                      <a:pt x="0" y="1518"/>
                      <a:pt x="10" y="1528"/>
                      <a:pt x="22" y="1528"/>
                    </a:cubicBezTo>
                    <a:cubicBezTo>
                      <a:pt x="784" y="1528"/>
                      <a:pt x="784" y="1528"/>
                      <a:pt x="784" y="1528"/>
                    </a:cubicBezTo>
                    <a:cubicBezTo>
                      <a:pt x="796" y="1528"/>
                      <a:pt x="806" y="1518"/>
                      <a:pt x="806" y="1506"/>
                    </a:cubicBezTo>
                    <a:cubicBezTo>
                      <a:pt x="806" y="1296"/>
                      <a:pt x="806" y="1296"/>
                      <a:pt x="806" y="1296"/>
                    </a:cubicBezTo>
                    <a:cubicBezTo>
                      <a:pt x="806" y="1252"/>
                      <a:pt x="806" y="1252"/>
                      <a:pt x="806" y="1252"/>
                    </a:cubicBezTo>
                    <a:cubicBezTo>
                      <a:pt x="806" y="22"/>
                      <a:pt x="806" y="22"/>
                      <a:pt x="806" y="22"/>
                    </a:cubicBezTo>
                    <a:cubicBezTo>
                      <a:pt x="806" y="10"/>
                      <a:pt x="796" y="0"/>
                      <a:pt x="784" y="0"/>
                    </a:cubicBezTo>
                    <a:close/>
                    <a:moveTo>
                      <a:pt x="762" y="1484"/>
                    </a:moveTo>
                    <a:cubicBezTo>
                      <a:pt x="44" y="1484"/>
                      <a:pt x="44" y="1484"/>
                      <a:pt x="44" y="1484"/>
                    </a:cubicBezTo>
                    <a:cubicBezTo>
                      <a:pt x="44" y="1296"/>
                      <a:pt x="44" y="1296"/>
                      <a:pt x="44" y="1296"/>
                    </a:cubicBezTo>
                    <a:cubicBezTo>
                      <a:pt x="762" y="1296"/>
                      <a:pt x="762" y="1296"/>
                      <a:pt x="762" y="1296"/>
                    </a:cubicBezTo>
                    <a:lnTo>
                      <a:pt x="762" y="1484"/>
                    </a:lnTo>
                    <a:close/>
                    <a:moveTo>
                      <a:pt x="44" y="1252"/>
                    </a:moveTo>
                    <a:cubicBezTo>
                      <a:pt x="44" y="44"/>
                      <a:pt x="44" y="44"/>
                      <a:pt x="44" y="44"/>
                    </a:cubicBezTo>
                    <a:cubicBezTo>
                      <a:pt x="762" y="44"/>
                      <a:pt x="762" y="44"/>
                      <a:pt x="762" y="44"/>
                    </a:cubicBezTo>
                    <a:cubicBezTo>
                      <a:pt x="762" y="1252"/>
                      <a:pt x="762" y="1252"/>
                      <a:pt x="762" y="1252"/>
                    </a:cubicBezTo>
                    <a:lnTo>
                      <a:pt x="44" y="125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sp>
            <p:nvSpPr>
              <p:cNvPr id="1033" name="Freeform 16">
                <a:extLst>
                  <a:ext uri="{FF2B5EF4-FFF2-40B4-BE49-F238E27FC236}">
                    <a16:creationId xmlns:a16="http://schemas.microsoft.com/office/drawing/2014/main" id="{448D9DD1-B719-472B-48A3-BCA3ABA1302D}"/>
                  </a:ext>
                </a:extLst>
              </p:cNvPr>
              <p:cNvSpPr>
                <a:spLocks noEditPoints="1"/>
              </p:cNvSpPr>
              <p:nvPr/>
            </p:nvSpPr>
            <p:spPr bwMode="auto">
              <a:xfrm>
                <a:off x="3241" y="917"/>
                <a:ext cx="1195" cy="2512"/>
              </a:xfrm>
              <a:custGeom>
                <a:avLst/>
                <a:gdLst>
                  <a:gd name="T0" fmla="*/ 321 w 638"/>
                  <a:gd name="T1" fmla="*/ 1340 h 1340"/>
                  <a:gd name="T2" fmla="*/ 263 w 638"/>
                  <a:gd name="T3" fmla="*/ 1282 h 1340"/>
                  <a:gd name="T4" fmla="*/ 321 w 638"/>
                  <a:gd name="T5" fmla="*/ 1224 h 1340"/>
                  <a:gd name="T6" fmla="*/ 379 w 638"/>
                  <a:gd name="T7" fmla="*/ 1282 h 1340"/>
                  <a:gd name="T8" fmla="*/ 321 w 638"/>
                  <a:gd name="T9" fmla="*/ 1340 h 1340"/>
                  <a:gd name="T10" fmla="*/ 638 w 638"/>
                  <a:gd name="T11" fmla="*/ 1092 h 1340"/>
                  <a:gd name="T12" fmla="*/ 638 w 638"/>
                  <a:gd name="T13" fmla="*/ 115 h 1340"/>
                  <a:gd name="T14" fmla="*/ 628 w 638"/>
                  <a:gd name="T15" fmla="*/ 105 h 1340"/>
                  <a:gd name="T16" fmla="*/ 10 w 638"/>
                  <a:gd name="T17" fmla="*/ 105 h 1340"/>
                  <a:gd name="T18" fmla="*/ 0 w 638"/>
                  <a:gd name="T19" fmla="*/ 115 h 1340"/>
                  <a:gd name="T20" fmla="*/ 0 w 638"/>
                  <a:gd name="T21" fmla="*/ 1092 h 1340"/>
                  <a:gd name="T22" fmla="*/ 10 w 638"/>
                  <a:gd name="T23" fmla="*/ 1102 h 1340"/>
                  <a:gd name="T24" fmla="*/ 628 w 638"/>
                  <a:gd name="T25" fmla="*/ 1102 h 1340"/>
                  <a:gd name="T26" fmla="*/ 638 w 638"/>
                  <a:gd name="T27" fmla="*/ 1092 h 1340"/>
                  <a:gd name="T28" fmla="*/ 469 w 638"/>
                  <a:gd name="T29" fmla="*/ 22 h 1340"/>
                  <a:gd name="T30" fmla="*/ 447 w 638"/>
                  <a:gd name="T31" fmla="*/ 0 h 1340"/>
                  <a:gd name="T32" fmla="*/ 195 w 638"/>
                  <a:gd name="T33" fmla="*/ 0 h 1340"/>
                  <a:gd name="T34" fmla="*/ 173 w 638"/>
                  <a:gd name="T35" fmla="*/ 22 h 1340"/>
                  <a:gd name="T36" fmla="*/ 195 w 638"/>
                  <a:gd name="T37" fmla="*/ 44 h 1340"/>
                  <a:gd name="T38" fmla="*/ 447 w 638"/>
                  <a:gd name="T39" fmla="*/ 44 h 1340"/>
                  <a:gd name="T40" fmla="*/ 469 w 638"/>
                  <a:gd name="T41" fmla="*/ 22 h 1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38" h="1340">
                    <a:moveTo>
                      <a:pt x="321" y="1340"/>
                    </a:moveTo>
                    <a:cubicBezTo>
                      <a:pt x="289" y="1340"/>
                      <a:pt x="263" y="1314"/>
                      <a:pt x="263" y="1282"/>
                    </a:cubicBezTo>
                    <a:cubicBezTo>
                      <a:pt x="263" y="1250"/>
                      <a:pt x="289" y="1224"/>
                      <a:pt x="321" y="1224"/>
                    </a:cubicBezTo>
                    <a:cubicBezTo>
                      <a:pt x="353" y="1224"/>
                      <a:pt x="379" y="1250"/>
                      <a:pt x="379" y="1282"/>
                    </a:cubicBezTo>
                    <a:cubicBezTo>
                      <a:pt x="379" y="1314"/>
                      <a:pt x="353" y="1340"/>
                      <a:pt x="321" y="1340"/>
                    </a:cubicBezTo>
                    <a:close/>
                    <a:moveTo>
                      <a:pt x="638" y="1092"/>
                    </a:moveTo>
                    <a:cubicBezTo>
                      <a:pt x="638" y="115"/>
                      <a:pt x="638" y="115"/>
                      <a:pt x="638" y="115"/>
                    </a:cubicBezTo>
                    <a:cubicBezTo>
                      <a:pt x="638" y="110"/>
                      <a:pt x="634" y="105"/>
                      <a:pt x="628" y="105"/>
                    </a:cubicBezTo>
                    <a:cubicBezTo>
                      <a:pt x="10" y="105"/>
                      <a:pt x="10" y="105"/>
                      <a:pt x="10" y="105"/>
                    </a:cubicBezTo>
                    <a:cubicBezTo>
                      <a:pt x="4" y="105"/>
                      <a:pt x="0" y="110"/>
                      <a:pt x="0" y="115"/>
                    </a:cubicBezTo>
                    <a:cubicBezTo>
                      <a:pt x="0" y="1092"/>
                      <a:pt x="0" y="1092"/>
                      <a:pt x="0" y="1092"/>
                    </a:cubicBezTo>
                    <a:cubicBezTo>
                      <a:pt x="0" y="1098"/>
                      <a:pt x="4" y="1102"/>
                      <a:pt x="10" y="1102"/>
                    </a:cubicBezTo>
                    <a:cubicBezTo>
                      <a:pt x="628" y="1102"/>
                      <a:pt x="628" y="1102"/>
                      <a:pt x="628" y="1102"/>
                    </a:cubicBezTo>
                    <a:cubicBezTo>
                      <a:pt x="634" y="1102"/>
                      <a:pt x="638" y="1098"/>
                      <a:pt x="638" y="1092"/>
                    </a:cubicBezTo>
                    <a:close/>
                    <a:moveTo>
                      <a:pt x="469" y="22"/>
                    </a:moveTo>
                    <a:cubicBezTo>
                      <a:pt x="469" y="10"/>
                      <a:pt x="459" y="0"/>
                      <a:pt x="447" y="0"/>
                    </a:cubicBezTo>
                    <a:cubicBezTo>
                      <a:pt x="195" y="0"/>
                      <a:pt x="195" y="0"/>
                      <a:pt x="195" y="0"/>
                    </a:cubicBezTo>
                    <a:cubicBezTo>
                      <a:pt x="183" y="0"/>
                      <a:pt x="173" y="10"/>
                      <a:pt x="173" y="22"/>
                    </a:cubicBezTo>
                    <a:cubicBezTo>
                      <a:pt x="173" y="34"/>
                      <a:pt x="183" y="44"/>
                      <a:pt x="195" y="44"/>
                    </a:cubicBezTo>
                    <a:cubicBezTo>
                      <a:pt x="447" y="44"/>
                      <a:pt x="447" y="44"/>
                      <a:pt x="447" y="44"/>
                    </a:cubicBezTo>
                    <a:cubicBezTo>
                      <a:pt x="459" y="44"/>
                      <a:pt x="469" y="34"/>
                      <a:pt x="469" y="22"/>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grpSp>
      </p:grpSp>
      <p:sp>
        <p:nvSpPr>
          <p:cNvPr id="1034" name="TextBox 1033">
            <a:extLst>
              <a:ext uri="{FF2B5EF4-FFF2-40B4-BE49-F238E27FC236}">
                <a16:creationId xmlns:a16="http://schemas.microsoft.com/office/drawing/2014/main" id="{335768C7-2520-902F-9293-4CBC523A412E}"/>
              </a:ext>
            </a:extLst>
          </p:cNvPr>
          <p:cNvSpPr txBox="1"/>
          <p:nvPr/>
        </p:nvSpPr>
        <p:spPr>
          <a:xfrm>
            <a:off x="7051970" y="2374917"/>
            <a:ext cx="746760" cy="266694"/>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a:solidFill>
                  <a:srgbClr val="29BA74"/>
                </a:solidFill>
                <a:ea typeface="Microsoft YaHei" panose="020B0503020204020204" pitchFamily="34" charset="-122"/>
              </a:rPr>
              <a:t>Day 6</a:t>
            </a:r>
          </a:p>
        </p:txBody>
      </p:sp>
      <p:sp>
        <p:nvSpPr>
          <p:cNvPr id="1035" name="TextBox 1034">
            <a:extLst>
              <a:ext uri="{FF2B5EF4-FFF2-40B4-BE49-F238E27FC236}">
                <a16:creationId xmlns:a16="http://schemas.microsoft.com/office/drawing/2014/main" id="{7750176B-7579-A2DA-6EFB-0ECA6FC7E4CB}"/>
              </a:ext>
            </a:extLst>
          </p:cNvPr>
          <p:cNvSpPr txBox="1"/>
          <p:nvPr/>
        </p:nvSpPr>
        <p:spPr>
          <a:xfrm>
            <a:off x="6589497" y="3036406"/>
            <a:ext cx="1671704" cy="1042123"/>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altLang="zh-TW" sz="1400">
                <a:solidFill>
                  <a:srgbClr val="575757"/>
                </a:solidFill>
                <a:latin typeface="Microsoft YaHei" panose="020B0503020204020204" pitchFamily="34" charset="-122"/>
                <a:ea typeface="Microsoft YaHei" panose="020B0503020204020204" pitchFamily="34" charset="-122"/>
              </a:rPr>
              <a:t>"</a:t>
            </a:r>
            <a:r>
              <a:rPr lang="zh-TW" altLang="en-US" sz="1400">
                <a:solidFill>
                  <a:srgbClr val="575757"/>
                </a:solidFill>
                <a:latin typeface="Microsoft YaHei" panose="020B0503020204020204" pitchFamily="34" charset="-122"/>
                <a:ea typeface="Microsoft YaHei" panose="020B0503020204020204" pitchFamily="34" charset="-122"/>
              </a:rPr>
              <a:t>設定台新</a:t>
            </a:r>
            <a:r>
              <a:rPr lang="en-US" altLang="zh-TW" sz="1400">
                <a:solidFill>
                  <a:srgbClr val="575757"/>
                </a:solidFill>
                <a:latin typeface="Microsoft YaHei" panose="020B0503020204020204" pitchFamily="34" charset="-122"/>
                <a:ea typeface="Microsoft YaHei" panose="020B0503020204020204" pitchFamily="34" charset="-122"/>
              </a:rPr>
              <a:t>Pay</a:t>
            </a:r>
            <a:r>
              <a:rPr lang="zh-TW" altLang="en-US" sz="1400">
                <a:solidFill>
                  <a:srgbClr val="575757"/>
                </a:solidFill>
                <a:latin typeface="Microsoft YaHei" panose="020B0503020204020204" pitchFamily="34" charset="-122"/>
                <a:ea typeface="Microsoft YaHei" panose="020B0503020204020204" pitchFamily="34" charset="-122"/>
              </a:rPr>
              <a:t>綁定台新信卡</a:t>
            </a:r>
            <a:r>
              <a:rPr lang="en-US" altLang="zh-TW" sz="1400">
                <a:solidFill>
                  <a:srgbClr val="575757"/>
                </a:solidFill>
                <a:latin typeface="Microsoft YaHei" panose="020B0503020204020204" pitchFamily="34" charset="-122"/>
                <a:ea typeface="Microsoft YaHei" panose="020B0503020204020204" pitchFamily="34" charset="-122"/>
              </a:rPr>
              <a:t>/</a:t>
            </a:r>
            <a:r>
              <a:rPr lang="zh-TW" altLang="en-US" sz="1400">
                <a:solidFill>
                  <a:srgbClr val="575757"/>
                </a:solidFill>
                <a:latin typeface="Microsoft YaHei" panose="020B0503020204020204" pitchFamily="34" charset="-122"/>
                <a:ea typeface="Microsoft YaHei" panose="020B0503020204020204" pitchFamily="34" charset="-122"/>
              </a:rPr>
              <a:t>金融卡，在四大超商、新光、</a:t>
            </a:r>
            <a:r>
              <a:rPr lang="en-US" altLang="zh-TW" sz="1400">
                <a:solidFill>
                  <a:srgbClr val="575757"/>
                </a:solidFill>
                <a:latin typeface="Microsoft YaHei" panose="020B0503020204020204" pitchFamily="34" charset="-122"/>
                <a:ea typeface="Microsoft YaHei" panose="020B0503020204020204" pitchFamily="34" charset="-122"/>
              </a:rPr>
              <a:t>IKEA</a:t>
            </a:r>
            <a:r>
              <a:rPr lang="zh-TW" altLang="en-US" sz="1400">
                <a:solidFill>
                  <a:srgbClr val="575757"/>
                </a:solidFill>
                <a:latin typeface="Microsoft YaHei" panose="020B0503020204020204" pitchFamily="34" charset="-122"/>
                <a:ea typeface="Microsoft YaHei" panose="020B0503020204020204" pitchFamily="34" charset="-122"/>
              </a:rPr>
              <a:t>、康是美</a:t>
            </a:r>
            <a:r>
              <a:rPr lang="zh-TW" altLang="en-US" sz="1400">
                <a:solidFill>
                  <a:srgbClr val="A8B21C"/>
                </a:solidFill>
                <a:latin typeface="Microsoft YaHei" panose="020B0503020204020204" pitchFamily="34" charset="-122"/>
                <a:ea typeface="Microsoft YaHei" panose="020B0503020204020204" pitchFamily="34" charset="-122"/>
              </a:rPr>
              <a:t>皆能快速掃碼付款</a:t>
            </a:r>
            <a:r>
              <a:rPr lang="en-US" altLang="zh-TW" sz="1400">
                <a:solidFill>
                  <a:srgbClr val="575757"/>
                </a:solidFill>
                <a:latin typeface="Microsoft YaHei" panose="020B0503020204020204" pitchFamily="34" charset="-122"/>
                <a:ea typeface="Microsoft YaHei" panose="020B0503020204020204" pitchFamily="34" charset="-122"/>
              </a:rPr>
              <a:t>"</a:t>
            </a:r>
            <a:endParaRPr lang="en-US" sz="1400">
              <a:solidFill>
                <a:srgbClr val="575757"/>
              </a:solidFill>
              <a:latin typeface="Microsoft YaHei" panose="020B0503020204020204" pitchFamily="34" charset="-122"/>
              <a:ea typeface="Microsoft YaHei" panose="020B0503020204020204" pitchFamily="34" charset="-122"/>
            </a:endParaRPr>
          </a:p>
        </p:txBody>
      </p:sp>
      <p:sp>
        <p:nvSpPr>
          <p:cNvPr id="1036" name="TextBox 1035">
            <a:extLst>
              <a:ext uri="{FF2B5EF4-FFF2-40B4-BE49-F238E27FC236}">
                <a16:creationId xmlns:a16="http://schemas.microsoft.com/office/drawing/2014/main" id="{C09F97ED-7B10-7AC7-7D81-5C99655806E6}"/>
              </a:ext>
            </a:extLst>
          </p:cNvPr>
          <p:cNvSpPr txBox="1"/>
          <p:nvPr/>
        </p:nvSpPr>
        <p:spPr>
          <a:xfrm>
            <a:off x="6589497" y="4344142"/>
            <a:ext cx="1671705" cy="100423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altLang="zh-TW" sz="1400" b="1">
                <a:solidFill>
                  <a:srgbClr val="29BA74"/>
                </a:solidFill>
                <a:latin typeface="Microsoft YaHei" panose="020B0503020204020204" pitchFamily="34" charset="-122"/>
                <a:ea typeface="Microsoft YaHei" panose="020B0503020204020204" pitchFamily="34" charset="-122"/>
              </a:rPr>
              <a:t>[</a:t>
            </a:r>
            <a:r>
              <a:rPr lang="zh-TW" altLang="en-US" sz="1400" b="1">
                <a:solidFill>
                  <a:srgbClr val="29BA74"/>
                </a:solidFill>
                <a:latin typeface="Microsoft YaHei" panose="020B0503020204020204" pitchFamily="34" charset="-122"/>
                <a:ea typeface="Microsoft YaHei" panose="020B0503020204020204" pitchFamily="34" charset="-122"/>
              </a:rPr>
              <a:t>綁定行動支付</a:t>
            </a:r>
            <a:r>
              <a:rPr lang="en-US" altLang="zh-TW" sz="1400" b="1">
                <a:solidFill>
                  <a:srgbClr val="29BA74"/>
                </a:solidFill>
                <a:latin typeface="Microsoft YaHei" panose="020B0503020204020204" pitchFamily="34" charset="-122"/>
                <a:ea typeface="Microsoft YaHei" panose="020B0503020204020204" pitchFamily="34" charset="-122"/>
              </a:rPr>
              <a:t>]</a:t>
            </a:r>
          </a:p>
          <a:p>
            <a:r>
              <a:rPr lang="zh-TW" altLang="en-US" sz="1400">
                <a:solidFill>
                  <a:srgbClr val="575757"/>
                </a:solidFill>
                <a:latin typeface="Microsoft YaHei" panose="020B0503020204020204" pitchFamily="34" charset="-122"/>
                <a:ea typeface="Microsoft YaHei" panose="020B0503020204020204" pitchFamily="34" charset="-122"/>
              </a:rPr>
              <a:t>觸發客戶綁定行動銀行，提升接觸頻率、日常交易</a:t>
            </a:r>
            <a:endParaRPr lang="en-US" sz="1400">
              <a:solidFill>
                <a:srgbClr val="575757"/>
              </a:solidFill>
              <a:latin typeface="Microsoft YaHei" panose="020B0503020204020204" pitchFamily="34" charset="-122"/>
              <a:ea typeface="Microsoft YaHei" panose="020B0503020204020204" pitchFamily="34" charset="-122"/>
            </a:endParaRPr>
          </a:p>
        </p:txBody>
      </p:sp>
      <p:grpSp>
        <p:nvGrpSpPr>
          <p:cNvPr id="1037" name="Group 1036">
            <a:extLst>
              <a:ext uri="{FF2B5EF4-FFF2-40B4-BE49-F238E27FC236}">
                <a16:creationId xmlns:a16="http://schemas.microsoft.com/office/drawing/2014/main" id="{0741758B-2826-C284-462F-4C1E5806137D}"/>
              </a:ext>
            </a:extLst>
          </p:cNvPr>
          <p:cNvGrpSpPr/>
          <p:nvPr/>
        </p:nvGrpSpPr>
        <p:grpSpPr>
          <a:xfrm>
            <a:off x="10859181" y="1908515"/>
            <a:ext cx="442744" cy="443154"/>
            <a:chOff x="5183422" y="2515576"/>
            <a:chExt cx="617160" cy="617732"/>
          </a:xfrm>
        </p:grpSpPr>
        <p:sp>
          <p:nvSpPr>
            <p:cNvPr id="1038" name="Oval 1037">
              <a:extLst>
                <a:ext uri="{FF2B5EF4-FFF2-40B4-BE49-F238E27FC236}">
                  <a16:creationId xmlns:a16="http://schemas.microsoft.com/office/drawing/2014/main" id="{93F66347-7405-82B5-9F66-DCF04742C4F8}"/>
                </a:ext>
              </a:extLst>
            </p:cNvPr>
            <p:cNvSpPr/>
            <p:nvPr>
              <p:custDataLst>
                <p:tags r:id="rId5"/>
              </p:custDataLst>
            </p:nvPr>
          </p:nvSpPr>
          <p:spPr>
            <a:xfrm>
              <a:off x="5183422" y="2515576"/>
              <a:ext cx="617160" cy="617732"/>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a:solidFill>
                  <a:schemeClr val="bg1">
                    <a:lumMod val="50000"/>
                  </a:schemeClr>
                </a:solidFill>
                <a:ea typeface="Microsoft YaHei" panose="020B0503020204020204" pitchFamily="34" charset="-122"/>
              </a:endParaRPr>
            </a:p>
          </p:txBody>
        </p:sp>
        <p:grpSp>
          <p:nvGrpSpPr>
            <p:cNvPr id="1039" name="bcgIcons_Smart Phone 1 ">
              <a:extLst>
                <a:ext uri="{FF2B5EF4-FFF2-40B4-BE49-F238E27FC236}">
                  <a16:creationId xmlns:a16="http://schemas.microsoft.com/office/drawing/2014/main" id="{ABC004E0-8550-40C3-D0E8-9835061AB2B3}"/>
                </a:ext>
              </a:extLst>
            </p:cNvPr>
            <p:cNvGrpSpPr>
              <a:grpSpLocks noChangeAspect="1"/>
            </p:cNvGrpSpPr>
            <p:nvPr/>
          </p:nvGrpSpPr>
          <p:grpSpPr bwMode="auto">
            <a:xfrm>
              <a:off x="5273803" y="2606041"/>
              <a:ext cx="436398" cy="436802"/>
              <a:chOff x="1682" y="0"/>
              <a:chExt cx="4316" cy="4320"/>
            </a:xfrm>
          </p:grpSpPr>
          <p:sp>
            <p:nvSpPr>
              <p:cNvPr id="1040" name="AutoShape 13">
                <a:extLst>
                  <a:ext uri="{FF2B5EF4-FFF2-40B4-BE49-F238E27FC236}">
                    <a16:creationId xmlns:a16="http://schemas.microsoft.com/office/drawing/2014/main" id="{4CD9569E-0005-C69C-77E8-457A6CDC9B75}"/>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1" name="Freeform 15">
                <a:extLst>
                  <a:ext uri="{FF2B5EF4-FFF2-40B4-BE49-F238E27FC236}">
                    <a16:creationId xmlns:a16="http://schemas.microsoft.com/office/drawing/2014/main" id="{E42B8CC8-D58D-9814-30E5-FBCEB185CAF4}"/>
                  </a:ext>
                </a:extLst>
              </p:cNvPr>
              <p:cNvSpPr>
                <a:spLocks noEditPoints="1"/>
              </p:cNvSpPr>
              <p:nvPr/>
            </p:nvSpPr>
            <p:spPr bwMode="auto">
              <a:xfrm>
                <a:off x="3087" y="726"/>
                <a:ext cx="1510" cy="2865"/>
              </a:xfrm>
              <a:custGeom>
                <a:avLst/>
                <a:gdLst>
                  <a:gd name="T0" fmla="*/ 784 w 806"/>
                  <a:gd name="T1" fmla="*/ 0 h 1528"/>
                  <a:gd name="T2" fmla="*/ 22 w 806"/>
                  <a:gd name="T3" fmla="*/ 0 h 1528"/>
                  <a:gd name="T4" fmla="*/ 0 w 806"/>
                  <a:gd name="T5" fmla="*/ 22 h 1528"/>
                  <a:gd name="T6" fmla="*/ 0 w 806"/>
                  <a:gd name="T7" fmla="*/ 1252 h 1528"/>
                  <a:gd name="T8" fmla="*/ 0 w 806"/>
                  <a:gd name="T9" fmla="*/ 1296 h 1528"/>
                  <a:gd name="T10" fmla="*/ 0 w 806"/>
                  <a:gd name="T11" fmla="*/ 1506 h 1528"/>
                  <a:gd name="T12" fmla="*/ 22 w 806"/>
                  <a:gd name="T13" fmla="*/ 1528 h 1528"/>
                  <a:gd name="T14" fmla="*/ 784 w 806"/>
                  <a:gd name="T15" fmla="*/ 1528 h 1528"/>
                  <a:gd name="T16" fmla="*/ 806 w 806"/>
                  <a:gd name="T17" fmla="*/ 1506 h 1528"/>
                  <a:gd name="T18" fmla="*/ 806 w 806"/>
                  <a:gd name="T19" fmla="*/ 1296 h 1528"/>
                  <a:gd name="T20" fmla="*/ 806 w 806"/>
                  <a:gd name="T21" fmla="*/ 1252 h 1528"/>
                  <a:gd name="T22" fmla="*/ 806 w 806"/>
                  <a:gd name="T23" fmla="*/ 22 h 1528"/>
                  <a:gd name="T24" fmla="*/ 784 w 806"/>
                  <a:gd name="T25" fmla="*/ 0 h 1528"/>
                  <a:gd name="T26" fmla="*/ 762 w 806"/>
                  <a:gd name="T27" fmla="*/ 1484 h 1528"/>
                  <a:gd name="T28" fmla="*/ 44 w 806"/>
                  <a:gd name="T29" fmla="*/ 1484 h 1528"/>
                  <a:gd name="T30" fmla="*/ 44 w 806"/>
                  <a:gd name="T31" fmla="*/ 1296 h 1528"/>
                  <a:gd name="T32" fmla="*/ 762 w 806"/>
                  <a:gd name="T33" fmla="*/ 1296 h 1528"/>
                  <a:gd name="T34" fmla="*/ 762 w 806"/>
                  <a:gd name="T35" fmla="*/ 1484 h 1528"/>
                  <a:gd name="T36" fmla="*/ 44 w 806"/>
                  <a:gd name="T37" fmla="*/ 1252 h 1528"/>
                  <a:gd name="T38" fmla="*/ 44 w 806"/>
                  <a:gd name="T39" fmla="*/ 44 h 1528"/>
                  <a:gd name="T40" fmla="*/ 762 w 806"/>
                  <a:gd name="T41" fmla="*/ 44 h 1528"/>
                  <a:gd name="T42" fmla="*/ 762 w 806"/>
                  <a:gd name="T43" fmla="*/ 1252 h 1528"/>
                  <a:gd name="T44" fmla="*/ 44 w 806"/>
                  <a:gd name="T45" fmla="*/ 1252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06" h="1528">
                    <a:moveTo>
                      <a:pt x="784" y="0"/>
                    </a:moveTo>
                    <a:cubicBezTo>
                      <a:pt x="22" y="0"/>
                      <a:pt x="22" y="0"/>
                      <a:pt x="22" y="0"/>
                    </a:cubicBezTo>
                    <a:cubicBezTo>
                      <a:pt x="10" y="0"/>
                      <a:pt x="0" y="10"/>
                      <a:pt x="0" y="22"/>
                    </a:cubicBezTo>
                    <a:cubicBezTo>
                      <a:pt x="0" y="1252"/>
                      <a:pt x="0" y="1252"/>
                      <a:pt x="0" y="1252"/>
                    </a:cubicBezTo>
                    <a:cubicBezTo>
                      <a:pt x="0" y="1296"/>
                      <a:pt x="0" y="1296"/>
                      <a:pt x="0" y="1296"/>
                    </a:cubicBezTo>
                    <a:cubicBezTo>
                      <a:pt x="0" y="1506"/>
                      <a:pt x="0" y="1506"/>
                      <a:pt x="0" y="1506"/>
                    </a:cubicBezTo>
                    <a:cubicBezTo>
                      <a:pt x="0" y="1518"/>
                      <a:pt x="10" y="1528"/>
                      <a:pt x="22" y="1528"/>
                    </a:cubicBezTo>
                    <a:cubicBezTo>
                      <a:pt x="784" y="1528"/>
                      <a:pt x="784" y="1528"/>
                      <a:pt x="784" y="1528"/>
                    </a:cubicBezTo>
                    <a:cubicBezTo>
                      <a:pt x="796" y="1528"/>
                      <a:pt x="806" y="1518"/>
                      <a:pt x="806" y="1506"/>
                    </a:cubicBezTo>
                    <a:cubicBezTo>
                      <a:pt x="806" y="1296"/>
                      <a:pt x="806" y="1296"/>
                      <a:pt x="806" y="1296"/>
                    </a:cubicBezTo>
                    <a:cubicBezTo>
                      <a:pt x="806" y="1252"/>
                      <a:pt x="806" y="1252"/>
                      <a:pt x="806" y="1252"/>
                    </a:cubicBezTo>
                    <a:cubicBezTo>
                      <a:pt x="806" y="22"/>
                      <a:pt x="806" y="22"/>
                      <a:pt x="806" y="22"/>
                    </a:cubicBezTo>
                    <a:cubicBezTo>
                      <a:pt x="806" y="10"/>
                      <a:pt x="796" y="0"/>
                      <a:pt x="784" y="0"/>
                    </a:cubicBezTo>
                    <a:close/>
                    <a:moveTo>
                      <a:pt x="762" y="1484"/>
                    </a:moveTo>
                    <a:cubicBezTo>
                      <a:pt x="44" y="1484"/>
                      <a:pt x="44" y="1484"/>
                      <a:pt x="44" y="1484"/>
                    </a:cubicBezTo>
                    <a:cubicBezTo>
                      <a:pt x="44" y="1296"/>
                      <a:pt x="44" y="1296"/>
                      <a:pt x="44" y="1296"/>
                    </a:cubicBezTo>
                    <a:cubicBezTo>
                      <a:pt x="762" y="1296"/>
                      <a:pt x="762" y="1296"/>
                      <a:pt x="762" y="1296"/>
                    </a:cubicBezTo>
                    <a:lnTo>
                      <a:pt x="762" y="1484"/>
                    </a:lnTo>
                    <a:close/>
                    <a:moveTo>
                      <a:pt x="44" y="1252"/>
                    </a:moveTo>
                    <a:cubicBezTo>
                      <a:pt x="44" y="44"/>
                      <a:pt x="44" y="44"/>
                      <a:pt x="44" y="44"/>
                    </a:cubicBezTo>
                    <a:cubicBezTo>
                      <a:pt x="762" y="44"/>
                      <a:pt x="762" y="44"/>
                      <a:pt x="762" y="44"/>
                    </a:cubicBezTo>
                    <a:cubicBezTo>
                      <a:pt x="762" y="1252"/>
                      <a:pt x="762" y="1252"/>
                      <a:pt x="762" y="1252"/>
                    </a:cubicBezTo>
                    <a:lnTo>
                      <a:pt x="44" y="125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sp>
            <p:nvSpPr>
              <p:cNvPr id="1042" name="Freeform 16">
                <a:extLst>
                  <a:ext uri="{FF2B5EF4-FFF2-40B4-BE49-F238E27FC236}">
                    <a16:creationId xmlns:a16="http://schemas.microsoft.com/office/drawing/2014/main" id="{D8822EE5-8D4B-CFFA-3C80-AC2BDD329610}"/>
                  </a:ext>
                </a:extLst>
              </p:cNvPr>
              <p:cNvSpPr>
                <a:spLocks noEditPoints="1"/>
              </p:cNvSpPr>
              <p:nvPr/>
            </p:nvSpPr>
            <p:spPr bwMode="auto">
              <a:xfrm>
                <a:off x="3241" y="917"/>
                <a:ext cx="1195" cy="2512"/>
              </a:xfrm>
              <a:custGeom>
                <a:avLst/>
                <a:gdLst>
                  <a:gd name="T0" fmla="*/ 321 w 638"/>
                  <a:gd name="T1" fmla="*/ 1340 h 1340"/>
                  <a:gd name="T2" fmla="*/ 263 w 638"/>
                  <a:gd name="T3" fmla="*/ 1282 h 1340"/>
                  <a:gd name="T4" fmla="*/ 321 w 638"/>
                  <a:gd name="T5" fmla="*/ 1224 h 1340"/>
                  <a:gd name="T6" fmla="*/ 379 w 638"/>
                  <a:gd name="T7" fmla="*/ 1282 h 1340"/>
                  <a:gd name="T8" fmla="*/ 321 w 638"/>
                  <a:gd name="T9" fmla="*/ 1340 h 1340"/>
                  <a:gd name="T10" fmla="*/ 638 w 638"/>
                  <a:gd name="T11" fmla="*/ 1092 h 1340"/>
                  <a:gd name="T12" fmla="*/ 638 w 638"/>
                  <a:gd name="T13" fmla="*/ 115 h 1340"/>
                  <a:gd name="T14" fmla="*/ 628 w 638"/>
                  <a:gd name="T15" fmla="*/ 105 h 1340"/>
                  <a:gd name="T16" fmla="*/ 10 w 638"/>
                  <a:gd name="T17" fmla="*/ 105 h 1340"/>
                  <a:gd name="T18" fmla="*/ 0 w 638"/>
                  <a:gd name="T19" fmla="*/ 115 h 1340"/>
                  <a:gd name="T20" fmla="*/ 0 w 638"/>
                  <a:gd name="T21" fmla="*/ 1092 h 1340"/>
                  <a:gd name="T22" fmla="*/ 10 w 638"/>
                  <a:gd name="T23" fmla="*/ 1102 h 1340"/>
                  <a:gd name="T24" fmla="*/ 628 w 638"/>
                  <a:gd name="T25" fmla="*/ 1102 h 1340"/>
                  <a:gd name="T26" fmla="*/ 638 w 638"/>
                  <a:gd name="T27" fmla="*/ 1092 h 1340"/>
                  <a:gd name="T28" fmla="*/ 469 w 638"/>
                  <a:gd name="T29" fmla="*/ 22 h 1340"/>
                  <a:gd name="T30" fmla="*/ 447 w 638"/>
                  <a:gd name="T31" fmla="*/ 0 h 1340"/>
                  <a:gd name="T32" fmla="*/ 195 w 638"/>
                  <a:gd name="T33" fmla="*/ 0 h 1340"/>
                  <a:gd name="T34" fmla="*/ 173 w 638"/>
                  <a:gd name="T35" fmla="*/ 22 h 1340"/>
                  <a:gd name="T36" fmla="*/ 195 w 638"/>
                  <a:gd name="T37" fmla="*/ 44 h 1340"/>
                  <a:gd name="T38" fmla="*/ 447 w 638"/>
                  <a:gd name="T39" fmla="*/ 44 h 1340"/>
                  <a:gd name="T40" fmla="*/ 469 w 638"/>
                  <a:gd name="T41" fmla="*/ 22 h 1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38" h="1340">
                    <a:moveTo>
                      <a:pt x="321" y="1340"/>
                    </a:moveTo>
                    <a:cubicBezTo>
                      <a:pt x="289" y="1340"/>
                      <a:pt x="263" y="1314"/>
                      <a:pt x="263" y="1282"/>
                    </a:cubicBezTo>
                    <a:cubicBezTo>
                      <a:pt x="263" y="1250"/>
                      <a:pt x="289" y="1224"/>
                      <a:pt x="321" y="1224"/>
                    </a:cubicBezTo>
                    <a:cubicBezTo>
                      <a:pt x="353" y="1224"/>
                      <a:pt x="379" y="1250"/>
                      <a:pt x="379" y="1282"/>
                    </a:cubicBezTo>
                    <a:cubicBezTo>
                      <a:pt x="379" y="1314"/>
                      <a:pt x="353" y="1340"/>
                      <a:pt x="321" y="1340"/>
                    </a:cubicBezTo>
                    <a:close/>
                    <a:moveTo>
                      <a:pt x="638" y="1092"/>
                    </a:moveTo>
                    <a:cubicBezTo>
                      <a:pt x="638" y="115"/>
                      <a:pt x="638" y="115"/>
                      <a:pt x="638" y="115"/>
                    </a:cubicBezTo>
                    <a:cubicBezTo>
                      <a:pt x="638" y="110"/>
                      <a:pt x="634" y="105"/>
                      <a:pt x="628" y="105"/>
                    </a:cubicBezTo>
                    <a:cubicBezTo>
                      <a:pt x="10" y="105"/>
                      <a:pt x="10" y="105"/>
                      <a:pt x="10" y="105"/>
                    </a:cubicBezTo>
                    <a:cubicBezTo>
                      <a:pt x="4" y="105"/>
                      <a:pt x="0" y="110"/>
                      <a:pt x="0" y="115"/>
                    </a:cubicBezTo>
                    <a:cubicBezTo>
                      <a:pt x="0" y="1092"/>
                      <a:pt x="0" y="1092"/>
                      <a:pt x="0" y="1092"/>
                    </a:cubicBezTo>
                    <a:cubicBezTo>
                      <a:pt x="0" y="1098"/>
                      <a:pt x="4" y="1102"/>
                      <a:pt x="10" y="1102"/>
                    </a:cubicBezTo>
                    <a:cubicBezTo>
                      <a:pt x="628" y="1102"/>
                      <a:pt x="628" y="1102"/>
                      <a:pt x="628" y="1102"/>
                    </a:cubicBezTo>
                    <a:cubicBezTo>
                      <a:pt x="634" y="1102"/>
                      <a:pt x="638" y="1098"/>
                      <a:pt x="638" y="1092"/>
                    </a:cubicBezTo>
                    <a:close/>
                    <a:moveTo>
                      <a:pt x="469" y="22"/>
                    </a:moveTo>
                    <a:cubicBezTo>
                      <a:pt x="469" y="10"/>
                      <a:pt x="459" y="0"/>
                      <a:pt x="447" y="0"/>
                    </a:cubicBezTo>
                    <a:cubicBezTo>
                      <a:pt x="195" y="0"/>
                      <a:pt x="195" y="0"/>
                      <a:pt x="195" y="0"/>
                    </a:cubicBezTo>
                    <a:cubicBezTo>
                      <a:pt x="183" y="0"/>
                      <a:pt x="173" y="10"/>
                      <a:pt x="173" y="22"/>
                    </a:cubicBezTo>
                    <a:cubicBezTo>
                      <a:pt x="173" y="34"/>
                      <a:pt x="183" y="44"/>
                      <a:pt x="195" y="44"/>
                    </a:cubicBezTo>
                    <a:cubicBezTo>
                      <a:pt x="447" y="44"/>
                      <a:pt x="447" y="44"/>
                      <a:pt x="447" y="44"/>
                    </a:cubicBezTo>
                    <a:cubicBezTo>
                      <a:pt x="459" y="44"/>
                      <a:pt x="469" y="34"/>
                      <a:pt x="469" y="22"/>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grpSp>
      </p:grpSp>
      <p:sp>
        <p:nvSpPr>
          <p:cNvPr id="1043" name="TextBox 1042">
            <a:extLst>
              <a:ext uri="{FF2B5EF4-FFF2-40B4-BE49-F238E27FC236}">
                <a16:creationId xmlns:a16="http://schemas.microsoft.com/office/drawing/2014/main" id="{92BCADF2-24F1-EA5E-F27E-5836F03C125F}"/>
              </a:ext>
            </a:extLst>
          </p:cNvPr>
          <p:cNvSpPr txBox="1"/>
          <p:nvPr/>
        </p:nvSpPr>
        <p:spPr>
          <a:xfrm>
            <a:off x="10707173" y="2374917"/>
            <a:ext cx="746760" cy="266694"/>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a:solidFill>
                  <a:srgbClr val="29BA74"/>
                </a:solidFill>
                <a:ea typeface="Microsoft YaHei" panose="020B0503020204020204" pitchFamily="34" charset="-122"/>
              </a:rPr>
              <a:t>Day 8</a:t>
            </a:r>
          </a:p>
        </p:txBody>
      </p:sp>
      <p:sp>
        <p:nvSpPr>
          <p:cNvPr id="1044" name="TextBox 1043">
            <a:extLst>
              <a:ext uri="{FF2B5EF4-FFF2-40B4-BE49-F238E27FC236}">
                <a16:creationId xmlns:a16="http://schemas.microsoft.com/office/drawing/2014/main" id="{0F4A5FD3-C6DC-CEE0-42BA-5D013366631A}"/>
              </a:ext>
            </a:extLst>
          </p:cNvPr>
          <p:cNvSpPr txBox="1"/>
          <p:nvPr/>
        </p:nvSpPr>
        <p:spPr>
          <a:xfrm>
            <a:off x="10399764" y="3036406"/>
            <a:ext cx="1396566" cy="1042123"/>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altLang="zh-TW" sz="1400">
                <a:solidFill>
                  <a:srgbClr val="575757"/>
                </a:solidFill>
                <a:latin typeface="Microsoft YaHei" panose="020B0503020204020204" pitchFamily="34" charset="-122"/>
                <a:ea typeface="Microsoft YaHei" panose="020B0503020204020204" pitchFamily="34" charset="-122"/>
              </a:rPr>
              <a:t>"</a:t>
            </a:r>
            <a:r>
              <a:rPr lang="zh-TW" altLang="en-US" sz="1400">
                <a:solidFill>
                  <a:srgbClr val="A8B21C"/>
                </a:solidFill>
                <a:latin typeface="Microsoft YaHei" panose="020B0503020204020204" pitchFamily="34" charset="-122"/>
                <a:ea typeface="Microsoft YaHei" panose="020B0503020204020204" pitchFamily="34" charset="-122"/>
              </a:rPr>
              <a:t>揪朋友拿</a:t>
            </a:r>
            <a:r>
              <a:rPr lang="en-US" altLang="zh-TW" sz="1400">
                <a:solidFill>
                  <a:srgbClr val="A8B21C"/>
                </a:solidFill>
                <a:latin typeface="Microsoft YaHei" panose="020B0503020204020204" pitchFamily="34" charset="-122"/>
                <a:ea typeface="Microsoft YaHei" panose="020B0503020204020204" pitchFamily="34" charset="-122"/>
              </a:rPr>
              <a:t>200</a:t>
            </a:r>
            <a:r>
              <a:rPr lang="zh-TW" altLang="en-US" sz="1400">
                <a:solidFill>
                  <a:srgbClr val="575757"/>
                </a:solidFill>
                <a:latin typeface="Microsoft YaHei" panose="020B0503020204020204" pitchFamily="34" charset="-122"/>
                <a:ea typeface="Microsoft YaHei" panose="020B0503020204020204" pitchFamily="34" charset="-122"/>
              </a:rPr>
              <a:t>，推薦朋友完成開戶及</a:t>
            </a:r>
            <a:r>
              <a:rPr lang="en-US" altLang="zh-TW" sz="1400">
                <a:solidFill>
                  <a:srgbClr val="575757"/>
                </a:solidFill>
                <a:latin typeface="Microsoft YaHei" panose="020B0503020204020204" pitchFamily="34" charset="-122"/>
                <a:ea typeface="Microsoft YaHei" panose="020B0503020204020204" pitchFamily="34" charset="-122"/>
              </a:rPr>
              <a:t>APP</a:t>
            </a:r>
            <a:r>
              <a:rPr lang="zh-TW" altLang="en-US" sz="1400">
                <a:solidFill>
                  <a:srgbClr val="575757"/>
                </a:solidFill>
                <a:latin typeface="Microsoft YaHei" panose="020B0503020204020204" pitchFamily="34" charset="-122"/>
                <a:ea typeface="Microsoft YaHei" panose="020B0503020204020204" pitchFamily="34" charset="-122"/>
              </a:rPr>
              <a:t>首登，享推薦禮</a:t>
            </a:r>
            <a:r>
              <a:rPr lang="en-US" altLang="zh-TW" sz="1400">
                <a:solidFill>
                  <a:srgbClr val="575757"/>
                </a:solidFill>
                <a:latin typeface="Microsoft YaHei" panose="020B0503020204020204" pitchFamily="34" charset="-122"/>
                <a:ea typeface="Microsoft YaHei" panose="020B0503020204020204" pitchFamily="34" charset="-122"/>
              </a:rPr>
              <a:t>200"</a:t>
            </a:r>
            <a:endParaRPr lang="en-US" sz="1400">
              <a:solidFill>
                <a:srgbClr val="575757"/>
              </a:solidFill>
              <a:latin typeface="Microsoft YaHei" panose="020B0503020204020204" pitchFamily="34" charset="-122"/>
              <a:ea typeface="Microsoft YaHei" panose="020B0503020204020204" pitchFamily="34" charset="-122"/>
            </a:endParaRPr>
          </a:p>
        </p:txBody>
      </p:sp>
      <p:sp>
        <p:nvSpPr>
          <p:cNvPr id="1045" name="TextBox 1044">
            <a:extLst>
              <a:ext uri="{FF2B5EF4-FFF2-40B4-BE49-F238E27FC236}">
                <a16:creationId xmlns:a16="http://schemas.microsoft.com/office/drawing/2014/main" id="{0AEBFB87-FA4E-428E-4B20-8F08E1B6F1D1}"/>
              </a:ext>
            </a:extLst>
          </p:cNvPr>
          <p:cNvSpPr txBox="1"/>
          <p:nvPr/>
        </p:nvSpPr>
        <p:spPr>
          <a:xfrm>
            <a:off x="10399765" y="4344142"/>
            <a:ext cx="1396566" cy="100423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altLang="zh-TW" sz="1400" b="1">
                <a:solidFill>
                  <a:srgbClr val="29BA74"/>
                </a:solidFill>
                <a:latin typeface="Microsoft YaHei" panose="020B0503020204020204" pitchFamily="34" charset="-122"/>
                <a:ea typeface="Microsoft YaHei" panose="020B0503020204020204" pitchFamily="34" charset="-122"/>
              </a:rPr>
              <a:t>[</a:t>
            </a:r>
            <a:r>
              <a:rPr lang="zh-TW" altLang="en-US" sz="1400" b="1">
                <a:solidFill>
                  <a:srgbClr val="29BA74"/>
                </a:solidFill>
                <a:latin typeface="Microsoft YaHei" panose="020B0503020204020204" pitchFamily="34" charset="-122"/>
                <a:ea typeface="Microsoft YaHei" panose="020B0503020204020204" pitchFamily="34" charset="-122"/>
              </a:rPr>
              <a:t>激勵</a:t>
            </a:r>
            <a:r>
              <a:rPr lang="en-US" altLang="zh-TW" sz="1400" b="1">
                <a:solidFill>
                  <a:srgbClr val="29BA74"/>
                </a:solidFill>
                <a:latin typeface="Microsoft YaHei" panose="020B0503020204020204" pitchFamily="34" charset="-122"/>
                <a:ea typeface="Microsoft YaHei" panose="020B0503020204020204" pitchFamily="34" charset="-122"/>
              </a:rPr>
              <a:t>MGM]</a:t>
            </a:r>
          </a:p>
          <a:p>
            <a:r>
              <a:rPr lang="zh-TW" altLang="en-US" sz="1400">
                <a:solidFill>
                  <a:srgbClr val="575757"/>
                </a:solidFill>
                <a:latin typeface="Microsoft YaHei" panose="020B0503020204020204" pitchFamily="34" charset="-122"/>
                <a:ea typeface="Microsoft YaHei" panose="020B0503020204020204" pitchFamily="34" charset="-122"/>
              </a:rPr>
              <a:t>觸發客戶推薦朋友，並透過確保有完成</a:t>
            </a:r>
            <a:r>
              <a:rPr lang="en-US" altLang="zh-TW" sz="1400">
                <a:solidFill>
                  <a:srgbClr val="575757"/>
                </a:solidFill>
                <a:latin typeface="Microsoft YaHei" panose="020B0503020204020204" pitchFamily="34" charset="-122"/>
                <a:ea typeface="Microsoft YaHei" panose="020B0503020204020204" pitchFamily="34" charset="-122"/>
              </a:rPr>
              <a:t>APP</a:t>
            </a:r>
            <a:r>
              <a:rPr lang="zh-TW" altLang="en-US" sz="1400">
                <a:solidFill>
                  <a:srgbClr val="575757"/>
                </a:solidFill>
                <a:latin typeface="Microsoft YaHei" panose="020B0503020204020204" pitchFamily="34" charset="-122"/>
                <a:ea typeface="Microsoft YaHei" panose="020B0503020204020204" pitchFamily="34" charset="-122"/>
              </a:rPr>
              <a:t>登入</a:t>
            </a:r>
            <a:endParaRPr lang="en-US" sz="1400">
              <a:solidFill>
                <a:srgbClr val="575757"/>
              </a:solidFill>
              <a:latin typeface="Microsoft YaHei" panose="020B0503020204020204" pitchFamily="34" charset="-122"/>
              <a:ea typeface="Microsoft YaHei" panose="020B0503020204020204" pitchFamily="34" charset="-122"/>
            </a:endParaRPr>
          </a:p>
        </p:txBody>
      </p:sp>
      <p:sp>
        <p:nvSpPr>
          <p:cNvPr id="1046" name="TextBox 1045">
            <a:extLst>
              <a:ext uri="{FF2B5EF4-FFF2-40B4-BE49-F238E27FC236}">
                <a16:creationId xmlns:a16="http://schemas.microsoft.com/office/drawing/2014/main" id="{AB56DFC2-91D9-F839-DEC0-0B475CD962A6}"/>
              </a:ext>
            </a:extLst>
          </p:cNvPr>
          <p:cNvSpPr txBox="1"/>
          <p:nvPr/>
        </p:nvSpPr>
        <p:spPr>
          <a:xfrm>
            <a:off x="5539775" y="3036406"/>
            <a:ext cx="1210127" cy="961765"/>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altLang="zh-TW" sz="1400">
                <a:solidFill>
                  <a:srgbClr val="575757"/>
                </a:solidFill>
                <a:latin typeface="Microsoft YaHei" panose="020B0503020204020204" pitchFamily="34" charset="-122"/>
                <a:ea typeface="Microsoft YaHei" panose="020B0503020204020204" pitchFamily="34" charset="-122"/>
              </a:rPr>
              <a:t>"</a:t>
            </a:r>
            <a:r>
              <a:rPr lang="zh-TW" altLang="en-US" sz="1400">
                <a:solidFill>
                  <a:srgbClr val="575757"/>
                </a:solidFill>
                <a:latin typeface="Microsoft YaHei" panose="020B0503020204020204" pitchFamily="34" charset="-122"/>
                <a:ea typeface="Microsoft YaHei" panose="020B0503020204020204" pitchFamily="34" charset="-122"/>
              </a:rPr>
              <a:t>簽帳金融卡已寄出，收到</a:t>
            </a:r>
            <a:r>
              <a:rPr lang="zh-TW" altLang="en-US" sz="1400">
                <a:solidFill>
                  <a:srgbClr val="A8B21C"/>
                </a:solidFill>
                <a:latin typeface="Microsoft YaHei" panose="020B0503020204020204" pitchFamily="34" charset="-122"/>
                <a:ea typeface="Microsoft YaHei" panose="020B0503020204020204" pitchFamily="34" charset="-122"/>
              </a:rPr>
              <a:t>記得完成啓用</a:t>
            </a:r>
            <a:r>
              <a:rPr lang="en-US" altLang="zh-TW" sz="1400">
                <a:solidFill>
                  <a:srgbClr val="575757"/>
                </a:solidFill>
                <a:latin typeface="Microsoft YaHei" panose="020B0503020204020204" pitchFamily="34" charset="-122"/>
                <a:ea typeface="Microsoft YaHei" panose="020B0503020204020204" pitchFamily="34" charset="-122"/>
              </a:rPr>
              <a:t>"</a:t>
            </a:r>
            <a:endParaRPr lang="en-US" sz="1400">
              <a:solidFill>
                <a:srgbClr val="575757"/>
              </a:solidFill>
              <a:latin typeface="Microsoft YaHei" panose="020B0503020204020204" pitchFamily="34" charset="-122"/>
              <a:ea typeface="Microsoft YaHei" panose="020B0503020204020204" pitchFamily="34" charset="-122"/>
            </a:endParaRPr>
          </a:p>
        </p:txBody>
      </p:sp>
      <p:sp>
        <p:nvSpPr>
          <p:cNvPr id="1047" name="TextBox 1046">
            <a:extLst>
              <a:ext uri="{FF2B5EF4-FFF2-40B4-BE49-F238E27FC236}">
                <a16:creationId xmlns:a16="http://schemas.microsoft.com/office/drawing/2014/main" id="{1CF059C8-A66C-178F-ED81-5355320B3880}"/>
              </a:ext>
            </a:extLst>
          </p:cNvPr>
          <p:cNvSpPr txBox="1"/>
          <p:nvPr/>
        </p:nvSpPr>
        <p:spPr>
          <a:xfrm>
            <a:off x="5750012" y="2374917"/>
            <a:ext cx="746760" cy="266694"/>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a:solidFill>
                  <a:srgbClr val="29BA74"/>
                </a:solidFill>
                <a:ea typeface="Microsoft YaHei" panose="020B0503020204020204" pitchFamily="34" charset="-122"/>
              </a:rPr>
              <a:t>Day 5</a:t>
            </a:r>
          </a:p>
        </p:txBody>
      </p:sp>
      <p:grpSp>
        <p:nvGrpSpPr>
          <p:cNvPr id="1048" name="Group 1047">
            <a:extLst>
              <a:ext uri="{FF2B5EF4-FFF2-40B4-BE49-F238E27FC236}">
                <a16:creationId xmlns:a16="http://schemas.microsoft.com/office/drawing/2014/main" id="{ABEE0E6A-FBF4-ED02-4576-AEF44C15541C}"/>
              </a:ext>
            </a:extLst>
          </p:cNvPr>
          <p:cNvGrpSpPr/>
          <p:nvPr/>
        </p:nvGrpSpPr>
        <p:grpSpPr>
          <a:xfrm>
            <a:off x="2606464" y="1900660"/>
            <a:ext cx="442744" cy="443154"/>
            <a:chOff x="5183421" y="2515576"/>
            <a:chExt cx="617160" cy="617732"/>
          </a:xfrm>
        </p:grpSpPr>
        <p:sp>
          <p:nvSpPr>
            <p:cNvPr id="1049" name="Oval 1048">
              <a:extLst>
                <a:ext uri="{FF2B5EF4-FFF2-40B4-BE49-F238E27FC236}">
                  <a16:creationId xmlns:a16="http://schemas.microsoft.com/office/drawing/2014/main" id="{20F7F067-24F1-38FE-80D0-ABBDD569A8D8}"/>
                </a:ext>
              </a:extLst>
            </p:cNvPr>
            <p:cNvSpPr/>
            <p:nvPr>
              <p:custDataLst>
                <p:tags r:id="rId4"/>
              </p:custDataLst>
            </p:nvPr>
          </p:nvSpPr>
          <p:spPr>
            <a:xfrm>
              <a:off x="5183421" y="2515576"/>
              <a:ext cx="617160" cy="617732"/>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a:solidFill>
                  <a:schemeClr val="bg1">
                    <a:lumMod val="50000"/>
                  </a:schemeClr>
                </a:solidFill>
                <a:ea typeface="Microsoft YaHei" panose="020B0503020204020204" pitchFamily="34" charset="-122"/>
              </a:endParaRPr>
            </a:p>
          </p:txBody>
        </p:sp>
        <p:grpSp>
          <p:nvGrpSpPr>
            <p:cNvPr id="1050" name="bcgIcons_Speaking ">
              <a:extLst>
                <a:ext uri="{FF2B5EF4-FFF2-40B4-BE49-F238E27FC236}">
                  <a16:creationId xmlns:a16="http://schemas.microsoft.com/office/drawing/2014/main" id="{462491B0-24E2-DF90-F080-B7F560501A5D}"/>
                </a:ext>
              </a:extLst>
            </p:cNvPr>
            <p:cNvGrpSpPr>
              <a:grpSpLocks noChangeAspect="1"/>
            </p:cNvGrpSpPr>
            <p:nvPr/>
          </p:nvGrpSpPr>
          <p:grpSpPr>
            <a:xfrm>
              <a:off x="5273802" y="2606041"/>
              <a:ext cx="436398" cy="436802"/>
              <a:chOff x="5273801" y="2606040"/>
              <a:chExt cx="1644396" cy="1645920"/>
            </a:xfrm>
          </p:grpSpPr>
          <p:sp>
            <p:nvSpPr>
              <p:cNvPr id="1051" name="AutoShape 18">
                <a:extLst>
                  <a:ext uri="{FF2B5EF4-FFF2-40B4-BE49-F238E27FC236}">
                    <a16:creationId xmlns:a16="http://schemas.microsoft.com/office/drawing/2014/main" id="{6C6CA050-79F2-94AE-E6BB-CCD0D7C6D7F4}"/>
                  </a:ext>
                </a:extLst>
              </p:cNvPr>
              <p:cNvSpPr>
                <a:spLocks noChangeAspect="1" noChangeArrowheads="1" noTextEdit="1"/>
              </p:cNvSpPr>
              <p:nvPr/>
            </p:nvSpPr>
            <p:spPr bwMode="auto">
              <a:xfrm>
                <a:off x="5273801" y="2606040"/>
                <a:ext cx="1644396" cy="1645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1052" name="Group 1051">
                <a:extLst>
                  <a:ext uri="{FF2B5EF4-FFF2-40B4-BE49-F238E27FC236}">
                    <a16:creationId xmlns:a16="http://schemas.microsoft.com/office/drawing/2014/main" id="{516B8713-C65E-27A1-B138-856A4330F17A}"/>
                  </a:ext>
                </a:extLst>
              </p:cNvPr>
              <p:cNvGrpSpPr/>
              <p:nvPr/>
            </p:nvGrpSpPr>
            <p:grpSpPr>
              <a:xfrm>
                <a:off x="5388863" y="2953131"/>
                <a:ext cx="1409319" cy="967359"/>
                <a:chOff x="5388863" y="2953131"/>
                <a:chExt cx="1409319" cy="967359"/>
              </a:xfrm>
            </p:grpSpPr>
            <p:sp>
              <p:nvSpPr>
                <p:cNvPr id="1053" name="Freeform 20">
                  <a:extLst>
                    <a:ext uri="{FF2B5EF4-FFF2-40B4-BE49-F238E27FC236}">
                      <a16:creationId xmlns:a16="http://schemas.microsoft.com/office/drawing/2014/main" id="{7FD022CD-10F5-B2F9-94A4-52FEDAFFD01B}"/>
                    </a:ext>
                  </a:extLst>
                </p:cNvPr>
                <p:cNvSpPr>
                  <a:spLocks noEditPoints="1"/>
                </p:cNvSpPr>
                <p:nvPr/>
              </p:nvSpPr>
              <p:spPr bwMode="auto">
                <a:xfrm>
                  <a:off x="5388863" y="3167634"/>
                  <a:ext cx="737235" cy="752856"/>
                </a:xfrm>
                <a:custGeom>
                  <a:avLst/>
                  <a:gdLst>
                    <a:gd name="T0" fmla="*/ 989 w 1033"/>
                    <a:gd name="T1" fmla="*/ 0 h 1054"/>
                    <a:gd name="T2" fmla="*/ 44 w 1033"/>
                    <a:gd name="T3" fmla="*/ 0 h 1054"/>
                    <a:gd name="T4" fmla="*/ 0 w 1033"/>
                    <a:gd name="T5" fmla="*/ 44 h 1054"/>
                    <a:gd name="T6" fmla="*/ 0 w 1033"/>
                    <a:gd name="T7" fmla="*/ 725 h 1054"/>
                    <a:gd name="T8" fmla="*/ 44 w 1033"/>
                    <a:gd name="T9" fmla="*/ 769 h 1054"/>
                    <a:gd name="T10" fmla="*/ 299 w 1033"/>
                    <a:gd name="T11" fmla="*/ 769 h 1054"/>
                    <a:gd name="T12" fmla="*/ 299 w 1033"/>
                    <a:gd name="T13" fmla="*/ 1010 h 1054"/>
                    <a:gd name="T14" fmla="*/ 300 w 1033"/>
                    <a:gd name="T15" fmla="*/ 1017 h 1054"/>
                    <a:gd name="T16" fmla="*/ 337 w 1033"/>
                    <a:gd name="T17" fmla="*/ 1053 h 1054"/>
                    <a:gd name="T18" fmla="*/ 347 w 1033"/>
                    <a:gd name="T19" fmla="*/ 1054 h 1054"/>
                    <a:gd name="T20" fmla="*/ 401 w 1033"/>
                    <a:gd name="T21" fmla="*/ 1026 h 1054"/>
                    <a:gd name="T22" fmla="*/ 469 w 1033"/>
                    <a:gd name="T23" fmla="*/ 951 h 1054"/>
                    <a:gd name="T24" fmla="*/ 637 w 1033"/>
                    <a:gd name="T25" fmla="*/ 769 h 1054"/>
                    <a:gd name="T26" fmla="*/ 989 w 1033"/>
                    <a:gd name="T27" fmla="*/ 769 h 1054"/>
                    <a:gd name="T28" fmla="*/ 1033 w 1033"/>
                    <a:gd name="T29" fmla="*/ 725 h 1054"/>
                    <a:gd name="T30" fmla="*/ 1033 w 1033"/>
                    <a:gd name="T31" fmla="*/ 44 h 1054"/>
                    <a:gd name="T32" fmla="*/ 989 w 1033"/>
                    <a:gd name="T33" fmla="*/ 0 h 1054"/>
                    <a:gd name="T34" fmla="*/ 832 w 1033"/>
                    <a:gd name="T35" fmla="*/ 552 h 1054"/>
                    <a:gd name="T36" fmla="*/ 201 w 1033"/>
                    <a:gd name="T37" fmla="*/ 552 h 1054"/>
                    <a:gd name="T38" fmla="*/ 179 w 1033"/>
                    <a:gd name="T39" fmla="*/ 530 h 1054"/>
                    <a:gd name="T40" fmla="*/ 201 w 1033"/>
                    <a:gd name="T41" fmla="*/ 508 h 1054"/>
                    <a:gd name="T42" fmla="*/ 832 w 1033"/>
                    <a:gd name="T43" fmla="*/ 508 h 1054"/>
                    <a:gd name="T44" fmla="*/ 854 w 1033"/>
                    <a:gd name="T45" fmla="*/ 530 h 1054"/>
                    <a:gd name="T46" fmla="*/ 832 w 1033"/>
                    <a:gd name="T47" fmla="*/ 552 h 1054"/>
                    <a:gd name="T48" fmla="*/ 832 w 1033"/>
                    <a:gd name="T49" fmla="*/ 415 h 1054"/>
                    <a:gd name="T50" fmla="*/ 201 w 1033"/>
                    <a:gd name="T51" fmla="*/ 415 h 1054"/>
                    <a:gd name="T52" fmla="*/ 179 w 1033"/>
                    <a:gd name="T53" fmla="*/ 393 h 1054"/>
                    <a:gd name="T54" fmla="*/ 201 w 1033"/>
                    <a:gd name="T55" fmla="*/ 371 h 1054"/>
                    <a:gd name="T56" fmla="*/ 832 w 1033"/>
                    <a:gd name="T57" fmla="*/ 371 h 1054"/>
                    <a:gd name="T58" fmla="*/ 854 w 1033"/>
                    <a:gd name="T59" fmla="*/ 393 h 1054"/>
                    <a:gd name="T60" fmla="*/ 832 w 1033"/>
                    <a:gd name="T61" fmla="*/ 415 h 1054"/>
                    <a:gd name="T62" fmla="*/ 832 w 1033"/>
                    <a:gd name="T63" fmla="*/ 279 h 1054"/>
                    <a:gd name="T64" fmla="*/ 201 w 1033"/>
                    <a:gd name="T65" fmla="*/ 279 h 1054"/>
                    <a:gd name="T66" fmla="*/ 179 w 1033"/>
                    <a:gd name="T67" fmla="*/ 257 h 1054"/>
                    <a:gd name="T68" fmla="*/ 201 w 1033"/>
                    <a:gd name="T69" fmla="*/ 235 h 1054"/>
                    <a:gd name="T70" fmla="*/ 832 w 1033"/>
                    <a:gd name="T71" fmla="*/ 235 h 1054"/>
                    <a:gd name="T72" fmla="*/ 854 w 1033"/>
                    <a:gd name="T73" fmla="*/ 257 h 1054"/>
                    <a:gd name="T74" fmla="*/ 832 w 1033"/>
                    <a:gd name="T75" fmla="*/ 279 h 1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33" h="1054">
                      <a:moveTo>
                        <a:pt x="989" y="0"/>
                      </a:moveTo>
                      <a:cubicBezTo>
                        <a:pt x="44" y="0"/>
                        <a:pt x="44" y="0"/>
                        <a:pt x="44" y="0"/>
                      </a:cubicBezTo>
                      <a:cubicBezTo>
                        <a:pt x="20" y="0"/>
                        <a:pt x="0" y="20"/>
                        <a:pt x="0" y="44"/>
                      </a:cubicBezTo>
                      <a:cubicBezTo>
                        <a:pt x="0" y="725"/>
                        <a:pt x="0" y="725"/>
                        <a:pt x="0" y="725"/>
                      </a:cubicBezTo>
                      <a:cubicBezTo>
                        <a:pt x="0" y="750"/>
                        <a:pt x="20" y="769"/>
                        <a:pt x="44" y="769"/>
                      </a:cubicBezTo>
                      <a:cubicBezTo>
                        <a:pt x="299" y="769"/>
                        <a:pt x="299" y="769"/>
                        <a:pt x="299" y="769"/>
                      </a:cubicBezTo>
                      <a:cubicBezTo>
                        <a:pt x="299" y="1010"/>
                        <a:pt x="299" y="1010"/>
                        <a:pt x="299" y="1010"/>
                      </a:cubicBezTo>
                      <a:cubicBezTo>
                        <a:pt x="299" y="1012"/>
                        <a:pt x="299" y="1015"/>
                        <a:pt x="300" y="1017"/>
                      </a:cubicBezTo>
                      <a:cubicBezTo>
                        <a:pt x="301" y="1020"/>
                        <a:pt x="311" y="1047"/>
                        <a:pt x="337" y="1053"/>
                      </a:cubicBezTo>
                      <a:cubicBezTo>
                        <a:pt x="341" y="1054"/>
                        <a:pt x="344" y="1054"/>
                        <a:pt x="347" y="1054"/>
                      </a:cubicBezTo>
                      <a:cubicBezTo>
                        <a:pt x="365" y="1054"/>
                        <a:pt x="383" y="1045"/>
                        <a:pt x="401" y="1026"/>
                      </a:cubicBezTo>
                      <a:cubicBezTo>
                        <a:pt x="414" y="1013"/>
                        <a:pt x="438" y="986"/>
                        <a:pt x="469" y="951"/>
                      </a:cubicBezTo>
                      <a:cubicBezTo>
                        <a:pt x="516" y="899"/>
                        <a:pt x="579" y="829"/>
                        <a:pt x="637" y="769"/>
                      </a:cubicBezTo>
                      <a:cubicBezTo>
                        <a:pt x="989" y="769"/>
                        <a:pt x="989" y="769"/>
                        <a:pt x="989" y="769"/>
                      </a:cubicBezTo>
                      <a:cubicBezTo>
                        <a:pt x="1013" y="769"/>
                        <a:pt x="1033" y="750"/>
                        <a:pt x="1033" y="725"/>
                      </a:cubicBezTo>
                      <a:cubicBezTo>
                        <a:pt x="1033" y="44"/>
                        <a:pt x="1033" y="44"/>
                        <a:pt x="1033" y="44"/>
                      </a:cubicBezTo>
                      <a:cubicBezTo>
                        <a:pt x="1033" y="20"/>
                        <a:pt x="1013" y="0"/>
                        <a:pt x="989" y="0"/>
                      </a:cubicBezTo>
                      <a:close/>
                      <a:moveTo>
                        <a:pt x="832" y="552"/>
                      </a:moveTo>
                      <a:cubicBezTo>
                        <a:pt x="201" y="552"/>
                        <a:pt x="201" y="552"/>
                        <a:pt x="201" y="552"/>
                      </a:cubicBezTo>
                      <a:cubicBezTo>
                        <a:pt x="189" y="552"/>
                        <a:pt x="179" y="543"/>
                        <a:pt x="179" y="530"/>
                      </a:cubicBezTo>
                      <a:cubicBezTo>
                        <a:pt x="179" y="518"/>
                        <a:pt x="189" y="508"/>
                        <a:pt x="201" y="508"/>
                      </a:cubicBezTo>
                      <a:cubicBezTo>
                        <a:pt x="832" y="508"/>
                        <a:pt x="832" y="508"/>
                        <a:pt x="832" y="508"/>
                      </a:cubicBezTo>
                      <a:cubicBezTo>
                        <a:pt x="844" y="508"/>
                        <a:pt x="854" y="518"/>
                        <a:pt x="854" y="530"/>
                      </a:cubicBezTo>
                      <a:cubicBezTo>
                        <a:pt x="854" y="543"/>
                        <a:pt x="844" y="552"/>
                        <a:pt x="832" y="552"/>
                      </a:cubicBezTo>
                      <a:close/>
                      <a:moveTo>
                        <a:pt x="832" y="415"/>
                      </a:moveTo>
                      <a:cubicBezTo>
                        <a:pt x="201" y="415"/>
                        <a:pt x="201" y="415"/>
                        <a:pt x="201" y="415"/>
                      </a:cubicBezTo>
                      <a:cubicBezTo>
                        <a:pt x="189" y="415"/>
                        <a:pt x="179" y="405"/>
                        <a:pt x="179" y="393"/>
                      </a:cubicBezTo>
                      <a:cubicBezTo>
                        <a:pt x="179" y="380"/>
                        <a:pt x="189" y="371"/>
                        <a:pt x="201" y="371"/>
                      </a:cubicBezTo>
                      <a:cubicBezTo>
                        <a:pt x="832" y="371"/>
                        <a:pt x="832" y="371"/>
                        <a:pt x="832" y="371"/>
                      </a:cubicBezTo>
                      <a:cubicBezTo>
                        <a:pt x="844" y="371"/>
                        <a:pt x="854" y="380"/>
                        <a:pt x="854" y="393"/>
                      </a:cubicBezTo>
                      <a:cubicBezTo>
                        <a:pt x="854" y="405"/>
                        <a:pt x="844" y="415"/>
                        <a:pt x="832" y="415"/>
                      </a:cubicBezTo>
                      <a:close/>
                      <a:moveTo>
                        <a:pt x="832" y="279"/>
                      </a:moveTo>
                      <a:cubicBezTo>
                        <a:pt x="201" y="279"/>
                        <a:pt x="201" y="279"/>
                        <a:pt x="201" y="279"/>
                      </a:cubicBezTo>
                      <a:cubicBezTo>
                        <a:pt x="189" y="279"/>
                        <a:pt x="179" y="269"/>
                        <a:pt x="179" y="257"/>
                      </a:cubicBezTo>
                      <a:cubicBezTo>
                        <a:pt x="179" y="245"/>
                        <a:pt x="189" y="235"/>
                        <a:pt x="201" y="235"/>
                      </a:cubicBezTo>
                      <a:cubicBezTo>
                        <a:pt x="832" y="235"/>
                        <a:pt x="832" y="235"/>
                        <a:pt x="832" y="235"/>
                      </a:cubicBezTo>
                      <a:cubicBezTo>
                        <a:pt x="844" y="235"/>
                        <a:pt x="854" y="245"/>
                        <a:pt x="854" y="257"/>
                      </a:cubicBezTo>
                      <a:cubicBezTo>
                        <a:pt x="854" y="269"/>
                        <a:pt x="844" y="279"/>
                        <a:pt x="832" y="279"/>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sp>
              <p:nvSpPr>
                <p:cNvPr id="1054" name="Freeform 21">
                  <a:extLst>
                    <a:ext uri="{FF2B5EF4-FFF2-40B4-BE49-F238E27FC236}">
                      <a16:creationId xmlns:a16="http://schemas.microsoft.com/office/drawing/2014/main" id="{AB629BAE-6762-B0F4-CE24-1AB27D964C33}"/>
                    </a:ext>
                  </a:extLst>
                </p:cNvPr>
                <p:cNvSpPr>
                  <a:spLocks noEditPoints="1"/>
                </p:cNvSpPr>
                <p:nvPr/>
              </p:nvSpPr>
              <p:spPr bwMode="auto">
                <a:xfrm>
                  <a:off x="6060947" y="2953131"/>
                  <a:ext cx="737235" cy="752856"/>
                </a:xfrm>
                <a:custGeom>
                  <a:avLst/>
                  <a:gdLst>
                    <a:gd name="T0" fmla="*/ 1033 w 1033"/>
                    <a:gd name="T1" fmla="*/ 44 h 1054"/>
                    <a:gd name="T2" fmla="*/ 1033 w 1033"/>
                    <a:gd name="T3" fmla="*/ 725 h 1054"/>
                    <a:gd name="T4" fmla="*/ 989 w 1033"/>
                    <a:gd name="T5" fmla="*/ 769 h 1054"/>
                    <a:gd name="T6" fmla="*/ 734 w 1033"/>
                    <a:gd name="T7" fmla="*/ 769 h 1054"/>
                    <a:gd name="T8" fmla="*/ 734 w 1033"/>
                    <a:gd name="T9" fmla="*/ 1010 h 1054"/>
                    <a:gd name="T10" fmla="*/ 733 w 1033"/>
                    <a:gd name="T11" fmla="*/ 1017 h 1054"/>
                    <a:gd name="T12" fmla="*/ 696 w 1033"/>
                    <a:gd name="T13" fmla="*/ 1053 h 1054"/>
                    <a:gd name="T14" fmla="*/ 686 w 1033"/>
                    <a:gd name="T15" fmla="*/ 1054 h 1054"/>
                    <a:gd name="T16" fmla="*/ 632 w 1033"/>
                    <a:gd name="T17" fmla="*/ 1025 h 1054"/>
                    <a:gd name="T18" fmla="*/ 564 w 1033"/>
                    <a:gd name="T19" fmla="*/ 951 h 1054"/>
                    <a:gd name="T20" fmla="*/ 396 w 1033"/>
                    <a:gd name="T21" fmla="*/ 769 h 1054"/>
                    <a:gd name="T22" fmla="*/ 135 w 1033"/>
                    <a:gd name="T23" fmla="*/ 769 h 1054"/>
                    <a:gd name="T24" fmla="*/ 135 w 1033"/>
                    <a:gd name="T25" fmla="*/ 725 h 1054"/>
                    <a:gd name="T26" fmla="*/ 405 w 1033"/>
                    <a:gd name="T27" fmla="*/ 725 h 1054"/>
                    <a:gd name="T28" fmla="*/ 421 w 1033"/>
                    <a:gd name="T29" fmla="*/ 732 h 1054"/>
                    <a:gd name="T30" fmla="*/ 597 w 1033"/>
                    <a:gd name="T31" fmla="*/ 922 h 1054"/>
                    <a:gd name="T32" fmla="*/ 663 w 1033"/>
                    <a:gd name="T33" fmla="*/ 994 h 1054"/>
                    <a:gd name="T34" fmla="*/ 686 w 1033"/>
                    <a:gd name="T35" fmla="*/ 1010 h 1054"/>
                    <a:gd name="T36" fmla="*/ 690 w 1033"/>
                    <a:gd name="T37" fmla="*/ 1005 h 1054"/>
                    <a:gd name="T38" fmla="*/ 690 w 1033"/>
                    <a:gd name="T39" fmla="*/ 747 h 1054"/>
                    <a:gd name="T40" fmla="*/ 712 w 1033"/>
                    <a:gd name="T41" fmla="*/ 725 h 1054"/>
                    <a:gd name="T42" fmla="*/ 989 w 1033"/>
                    <a:gd name="T43" fmla="*/ 725 h 1054"/>
                    <a:gd name="T44" fmla="*/ 989 w 1033"/>
                    <a:gd name="T45" fmla="*/ 44 h 1054"/>
                    <a:gd name="T46" fmla="*/ 44 w 1033"/>
                    <a:gd name="T47" fmla="*/ 44 h 1054"/>
                    <a:gd name="T48" fmla="*/ 44 w 1033"/>
                    <a:gd name="T49" fmla="*/ 256 h 1054"/>
                    <a:gd name="T50" fmla="*/ 0 w 1033"/>
                    <a:gd name="T51" fmla="*/ 256 h 1054"/>
                    <a:gd name="T52" fmla="*/ 0 w 1033"/>
                    <a:gd name="T53" fmla="*/ 44 h 1054"/>
                    <a:gd name="T54" fmla="*/ 44 w 1033"/>
                    <a:gd name="T55" fmla="*/ 0 h 1054"/>
                    <a:gd name="T56" fmla="*/ 989 w 1033"/>
                    <a:gd name="T57" fmla="*/ 0 h 1054"/>
                    <a:gd name="T58" fmla="*/ 1033 w 1033"/>
                    <a:gd name="T59" fmla="*/ 44 h 1054"/>
                    <a:gd name="T60" fmla="*/ 835 w 1033"/>
                    <a:gd name="T61" fmla="*/ 247 h 1054"/>
                    <a:gd name="T62" fmla="*/ 813 w 1033"/>
                    <a:gd name="T63" fmla="*/ 225 h 1054"/>
                    <a:gd name="T64" fmla="*/ 220 w 1033"/>
                    <a:gd name="T65" fmla="*/ 225 h 1054"/>
                    <a:gd name="T66" fmla="*/ 198 w 1033"/>
                    <a:gd name="T67" fmla="*/ 247 h 1054"/>
                    <a:gd name="T68" fmla="*/ 220 w 1033"/>
                    <a:gd name="T69" fmla="*/ 269 h 1054"/>
                    <a:gd name="T70" fmla="*/ 813 w 1033"/>
                    <a:gd name="T71" fmla="*/ 269 h 1054"/>
                    <a:gd name="T72" fmla="*/ 835 w 1033"/>
                    <a:gd name="T73" fmla="*/ 247 h 1054"/>
                    <a:gd name="T74" fmla="*/ 835 w 1033"/>
                    <a:gd name="T75" fmla="*/ 383 h 1054"/>
                    <a:gd name="T76" fmla="*/ 813 w 1033"/>
                    <a:gd name="T77" fmla="*/ 361 h 1054"/>
                    <a:gd name="T78" fmla="*/ 220 w 1033"/>
                    <a:gd name="T79" fmla="*/ 361 h 1054"/>
                    <a:gd name="T80" fmla="*/ 198 w 1033"/>
                    <a:gd name="T81" fmla="*/ 383 h 1054"/>
                    <a:gd name="T82" fmla="*/ 220 w 1033"/>
                    <a:gd name="T83" fmla="*/ 405 h 1054"/>
                    <a:gd name="T84" fmla="*/ 813 w 1033"/>
                    <a:gd name="T85" fmla="*/ 405 h 1054"/>
                    <a:gd name="T86" fmla="*/ 835 w 1033"/>
                    <a:gd name="T87" fmla="*/ 383 h 1054"/>
                    <a:gd name="T88" fmla="*/ 835 w 1033"/>
                    <a:gd name="T89" fmla="*/ 521 h 1054"/>
                    <a:gd name="T90" fmla="*/ 813 w 1033"/>
                    <a:gd name="T91" fmla="*/ 499 h 1054"/>
                    <a:gd name="T92" fmla="*/ 220 w 1033"/>
                    <a:gd name="T93" fmla="*/ 499 h 1054"/>
                    <a:gd name="T94" fmla="*/ 198 w 1033"/>
                    <a:gd name="T95" fmla="*/ 521 h 1054"/>
                    <a:gd name="T96" fmla="*/ 220 w 1033"/>
                    <a:gd name="T97" fmla="*/ 543 h 1054"/>
                    <a:gd name="T98" fmla="*/ 813 w 1033"/>
                    <a:gd name="T99" fmla="*/ 543 h 1054"/>
                    <a:gd name="T100" fmla="*/ 835 w 1033"/>
                    <a:gd name="T101" fmla="*/ 521 h 1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33" h="1054">
                      <a:moveTo>
                        <a:pt x="1033" y="44"/>
                      </a:moveTo>
                      <a:cubicBezTo>
                        <a:pt x="1033" y="725"/>
                        <a:pt x="1033" y="725"/>
                        <a:pt x="1033" y="725"/>
                      </a:cubicBezTo>
                      <a:cubicBezTo>
                        <a:pt x="1033" y="750"/>
                        <a:pt x="1013" y="769"/>
                        <a:pt x="989" y="769"/>
                      </a:cubicBezTo>
                      <a:cubicBezTo>
                        <a:pt x="734" y="769"/>
                        <a:pt x="734" y="769"/>
                        <a:pt x="734" y="769"/>
                      </a:cubicBezTo>
                      <a:cubicBezTo>
                        <a:pt x="734" y="1010"/>
                        <a:pt x="734" y="1010"/>
                        <a:pt x="734" y="1010"/>
                      </a:cubicBezTo>
                      <a:cubicBezTo>
                        <a:pt x="734" y="1012"/>
                        <a:pt x="734" y="1015"/>
                        <a:pt x="733" y="1017"/>
                      </a:cubicBezTo>
                      <a:cubicBezTo>
                        <a:pt x="732" y="1020"/>
                        <a:pt x="722" y="1047"/>
                        <a:pt x="696" y="1053"/>
                      </a:cubicBezTo>
                      <a:cubicBezTo>
                        <a:pt x="693" y="1054"/>
                        <a:pt x="689" y="1054"/>
                        <a:pt x="686" y="1054"/>
                      </a:cubicBezTo>
                      <a:cubicBezTo>
                        <a:pt x="668" y="1054"/>
                        <a:pt x="650" y="1044"/>
                        <a:pt x="632" y="1025"/>
                      </a:cubicBezTo>
                      <a:cubicBezTo>
                        <a:pt x="619" y="1013"/>
                        <a:pt x="595" y="985"/>
                        <a:pt x="564" y="951"/>
                      </a:cubicBezTo>
                      <a:cubicBezTo>
                        <a:pt x="517" y="899"/>
                        <a:pt x="454" y="829"/>
                        <a:pt x="396" y="769"/>
                      </a:cubicBezTo>
                      <a:cubicBezTo>
                        <a:pt x="135" y="769"/>
                        <a:pt x="135" y="769"/>
                        <a:pt x="135" y="769"/>
                      </a:cubicBezTo>
                      <a:cubicBezTo>
                        <a:pt x="135" y="725"/>
                        <a:pt x="135" y="725"/>
                        <a:pt x="135" y="725"/>
                      </a:cubicBezTo>
                      <a:cubicBezTo>
                        <a:pt x="405" y="725"/>
                        <a:pt x="405" y="725"/>
                        <a:pt x="405" y="725"/>
                      </a:cubicBezTo>
                      <a:cubicBezTo>
                        <a:pt x="411" y="725"/>
                        <a:pt x="417" y="728"/>
                        <a:pt x="421" y="732"/>
                      </a:cubicBezTo>
                      <a:cubicBezTo>
                        <a:pt x="481" y="793"/>
                        <a:pt x="548" y="867"/>
                        <a:pt x="597" y="922"/>
                      </a:cubicBezTo>
                      <a:cubicBezTo>
                        <a:pt x="627" y="956"/>
                        <a:pt x="651" y="982"/>
                        <a:pt x="663" y="994"/>
                      </a:cubicBezTo>
                      <a:cubicBezTo>
                        <a:pt x="677" y="1008"/>
                        <a:pt x="684" y="1010"/>
                        <a:pt x="686" y="1010"/>
                      </a:cubicBezTo>
                      <a:cubicBezTo>
                        <a:pt x="687" y="1010"/>
                        <a:pt x="689" y="1008"/>
                        <a:pt x="690" y="1005"/>
                      </a:cubicBezTo>
                      <a:cubicBezTo>
                        <a:pt x="690" y="747"/>
                        <a:pt x="690" y="747"/>
                        <a:pt x="690" y="747"/>
                      </a:cubicBezTo>
                      <a:cubicBezTo>
                        <a:pt x="690" y="735"/>
                        <a:pt x="700" y="725"/>
                        <a:pt x="712" y="725"/>
                      </a:cubicBezTo>
                      <a:cubicBezTo>
                        <a:pt x="989" y="725"/>
                        <a:pt x="989" y="725"/>
                        <a:pt x="989" y="725"/>
                      </a:cubicBezTo>
                      <a:cubicBezTo>
                        <a:pt x="989" y="44"/>
                        <a:pt x="989" y="44"/>
                        <a:pt x="989" y="44"/>
                      </a:cubicBezTo>
                      <a:cubicBezTo>
                        <a:pt x="44" y="44"/>
                        <a:pt x="44" y="44"/>
                        <a:pt x="44" y="44"/>
                      </a:cubicBezTo>
                      <a:cubicBezTo>
                        <a:pt x="44" y="256"/>
                        <a:pt x="44" y="256"/>
                        <a:pt x="44" y="256"/>
                      </a:cubicBezTo>
                      <a:cubicBezTo>
                        <a:pt x="0" y="256"/>
                        <a:pt x="0" y="256"/>
                        <a:pt x="0" y="256"/>
                      </a:cubicBezTo>
                      <a:cubicBezTo>
                        <a:pt x="0" y="44"/>
                        <a:pt x="0" y="44"/>
                        <a:pt x="0" y="44"/>
                      </a:cubicBezTo>
                      <a:cubicBezTo>
                        <a:pt x="0" y="20"/>
                        <a:pt x="20" y="0"/>
                        <a:pt x="44" y="0"/>
                      </a:cubicBezTo>
                      <a:cubicBezTo>
                        <a:pt x="989" y="0"/>
                        <a:pt x="989" y="0"/>
                        <a:pt x="989" y="0"/>
                      </a:cubicBezTo>
                      <a:cubicBezTo>
                        <a:pt x="1013" y="0"/>
                        <a:pt x="1033" y="20"/>
                        <a:pt x="1033" y="44"/>
                      </a:cubicBezTo>
                      <a:close/>
                      <a:moveTo>
                        <a:pt x="835" y="247"/>
                      </a:moveTo>
                      <a:cubicBezTo>
                        <a:pt x="835" y="235"/>
                        <a:pt x="826" y="225"/>
                        <a:pt x="813" y="225"/>
                      </a:cubicBezTo>
                      <a:cubicBezTo>
                        <a:pt x="220" y="225"/>
                        <a:pt x="220" y="225"/>
                        <a:pt x="220" y="225"/>
                      </a:cubicBezTo>
                      <a:cubicBezTo>
                        <a:pt x="208" y="225"/>
                        <a:pt x="198" y="235"/>
                        <a:pt x="198" y="247"/>
                      </a:cubicBezTo>
                      <a:cubicBezTo>
                        <a:pt x="198" y="259"/>
                        <a:pt x="208" y="269"/>
                        <a:pt x="220" y="269"/>
                      </a:cubicBezTo>
                      <a:cubicBezTo>
                        <a:pt x="813" y="269"/>
                        <a:pt x="813" y="269"/>
                        <a:pt x="813" y="269"/>
                      </a:cubicBezTo>
                      <a:cubicBezTo>
                        <a:pt x="826" y="269"/>
                        <a:pt x="835" y="259"/>
                        <a:pt x="835" y="247"/>
                      </a:cubicBezTo>
                      <a:close/>
                      <a:moveTo>
                        <a:pt x="835" y="383"/>
                      </a:moveTo>
                      <a:cubicBezTo>
                        <a:pt x="835" y="371"/>
                        <a:pt x="826" y="361"/>
                        <a:pt x="813" y="361"/>
                      </a:cubicBezTo>
                      <a:cubicBezTo>
                        <a:pt x="220" y="361"/>
                        <a:pt x="220" y="361"/>
                        <a:pt x="220" y="361"/>
                      </a:cubicBezTo>
                      <a:cubicBezTo>
                        <a:pt x="208" y="361"/>
                        <a:pt x="198" y="371"/>
                        <a:pt x="198" y="383"/>
                      </a:cubicBezTo>
                      <a:cubicBezTo>
                        <a:pt x="198" y="395"/>
                        <a:pt x="208" y="405"/>
                        <a:pt x="220" y="405"/>
                      </a:cubicBezTo>
                      <a:cubicBezTo>
                        <a:pt x="813" y="405"/>
                        <a:pt x="813" y="405"/>
                        <a:pt x="813" y="405"/>
                      </a:cubicBezTo>
                      <a:cubicBezTo>
                        <a:pt x="826" y="405"/>
                        <a:pt x="835" y="395"/>
                        <a:pt x="835" y="383"/>
                      </a:cubicBezTo>
                      <a:close/>
                      <a:moveTo>
                        <a:pt x="835" y="521"/>
                      </a:moveTo>
                      <a:cubicBezTo>
                        <a:pt x="835" y="508"/>
                        <a:pt x="826" y="499"/>
                        <a:pt x="813" y="499"/>
                      </a:cubicBezTo>
                      <a:cubicBezTo>
                        <a:pt x="220" y="499"/>
                        <a:pt x="220" y="499"/>
                        <a:pt x="220" y="499"/>
                      </a:cubicBezTo>
                      <a:cubicBezTo>
                        <a:pt x="208" y="499"/>
                        <a:pt x="198" y="508"/>
                        <a:pt x="198" y="521"/>
                      </a:cubicBezTo>
                      <a:cubicBezTo>
                        <a:pt x="198" y="533"/>
                        <a:pt x="208" y="543"/>
                        <a:pt x="220" y="543"/>
                      </a:cubicBezTo>
                      <a:cubicBezTo>
                        <a:pt x="813" y="543"/>
                        <a:pt x="813" y="543"/>
                        <a:pt x="813" y="543"/>
                      </a:cubicBezTo>
                      <a:cubicBezTo>
                        <a:pt x="826" y="543"/>
                        <a:pt x="835" y="533"/>
                        <a:pt x="835" y="52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grpSp>
        </p:grpSp>
      </p:grpSp>
      <p:sp>
        <p:nvSpPr>
          <p:cNvPr id="1055" name="TextBox 1054">
            <a:extLst>
              <a:ext uri="{FF2B5EF4-FFF2-40B4-BE49-F238E27FC236}">
                <a16:creationId xmlns:a16="http://schemas.microsoft.com/office/drawing/2014/main" id="{A7EDF8E5-7585-6D73-4473-33CCE71487FB}"/>
              </a:ext>
            </a:extLst>
          </p:cNvPr>
          <p:cNvSpPr txBox="1"/>
          <p:nvPr/>
        </p:nvSpPr>
        <p:spPr>
          <a:xfrm>
            <a:off x="5539776" y="4344142"/>
            <a:ext cx="1210127" cy="100423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altLang="zh-TW" sz="1400" b="1">
                <a:solidFill>
                  <a:srgbClr val="29BA74"/>
                </a:solidFill>
                <a:latin typeface="Microsoft YaHei" panose="020B0503020204020204" pitchFamily="34" charset="-122"/>
                <a:ea typeface="Microsoft YaHei" panose="020B0503020204020204" pitchFamily="34" charset="-122"/>
              </a:rPr>
              <a:t>[</a:t>
            </a:r>
            <a:r>
              <a:rPr lang="zh-TW" altLang="en-US" sz="1400" b="1">
                <a:solidFill>
                  <a:srgbClr val="29BA74"/>
                </a:solidFill>
                <a:latin typeface="Microsoft YaHei" panose="020B0503020204020204" pitchFamily="34" charset="-122"/>
                <a:ea typeface="Microsoft YaHei" panose="020B0503020204020204" pitchFamily="34" charset="-122"/>
              </a:rPr>
              <a:t>提醒開卡</a:t>
            </a:r>
            <a:r>
              <a:rPr lang="en-US" altLang="zh-TW" sz="1400" b="1">
                <a:solidFill>
                  <a:srgbClr val="29BA74"/>
                </a:solidFill>
                <a:latin typeface="Microsoft YaHei" panose="020B0503020204020204" pitchFamily="34" charset="-122"/>
                <a:ea typeface="Microsoft YaHei" panose="020B0503020204020204" pitchFamily="34" charset="-122"/>
              </a:rPr>
              <a:t>]</a:t>
            </a:r>
          </a:p>
          <a:p>
            <a:r>
              <a:rPr lang="zh-TW" altLang="en-US" sz="1400">
                <a:solidFill>
                  <a:srgbClr val="575757"/>
                </a:solidFill>
                <a:latin typeface="Microsoft YaHei" panose="020B0503020204020204" pitchFamily="34" charset="-122"/>
                <a:ea typeface="Microsoft YaHei" panose="020B0503020204020204" pitchFamily="34" charset="-122"/>
              </a:rPr>
              <a:t>保持與客戶接觸頻率及熱度</a:t>
            </a:r>
            <a:endParaRPr lang="en-US" sz="1400">
              <a:solidFill>
                <a:srgbClr val="575757"/>
              </a:solidFill>
              <a:latin typeface="Microsoft YaHei" panose="020B0503020204020204" pitchFamily="34" charset="-122"/>
              <a:ea typeface="Microsoft YaHei" panose="020B0503020204020204" pitchFamily="34" charset="-122"/>
            </a:endParaRPr>
          </a:p>
        </p:txBody>
      </p:sp>
      <p:sp>
        <p:nvSpPr>
          <p:cNvPr id="1078" name="TextBox 1077">
            <a:extLst>
              <a:ext uri="{FF2B5EF4-FFF2-40B4-BE49-F238E27FC236}">
                <a16:creationId xmlns:a16="http://schemas.microsoft.com/office/drawing/2014/main" id="{30D69F1D-8601-22D7-200C-E77BC96937E4}"/>
              </a:ext>
            </a:extLst>
          </p:cNvPr>
          <p:cNvSpPr txBox="1"/>
          <p:nvPr/>
        </p:nvSpPr>
        <p:spPr>
          <a:xfrm>
            <a:off x="45641" y="5624262"/>
            <a:ext cx="610189" cy="55323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400" b="1">
                <a:solidFill>
                  <a:srgbClr val="A8B21C"/>
                </a:solidFill>
                <a:latin typeface="Microsoft YaHei" panose="020B0503020204020204" pitchFamily="34" charset="-122"/>
                <a:ea typeface="Microsoft YaHei" panose="020B0503020204020204" pitchFamily="34" charset="-122"/>
              </a:rPr>
              <a:t>設計關鍵</a:t>
            </a:r>
            <a:endParaRPr lang="en-US" altLang="zh-TW" sz="1400" b="1">
              <a:solidFill>
                <a:srgbClr val="A8B21C"/>
              </a:solidFill>
              <a:latin typeface="Microsoft YaHei" panose="020B0503020204020204" pitchFamily="34" charset="-122"/>
              <a:ea typeface="Microsoft YaHei" panose="020B0503020204020204" pitchFamily="34" charset="-122"/>
            </a:endParaRPr>
          </a:p>
        </p:txBody>
      </p:sp>
      <p:sp>
        <p:nvSpPr>
          <p:cNvPr id="1084" name="TextBox 1083">
            <a:extLst>
              <a:ext uri="{FF2B5EF4-FFF2-40B4-BE49-F238E27FC236}">
                <a16:creationId xmlns:a16="http://schemas.microsoft.com/office/drawing/2014/main" id="{6F84680D-9498-7C5B-C02A-468302B7CD49}"/>
              </a:ext>
            </a:extLst>
          </p:cNvPr>
          <p:cNvSpPr txBox="1"/>
          <p:nvPr/>
        </p:nvSpPr>
        <p:spPr>
          <a:xfrm>
            <a:off x="8632843" y="2366394"/>
            <a:ext cx="746760" cy="266694"/>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a:solidFill>
                  <a:srgbClr val="29BA74"/>
                </a:solidFill>
                <a:ea typeface="Microsoft YaHei" panose="020B0503020204020204" pitchFamily="34" charset="-122"/>
              </a:rPr>
              <a:t>Day 7</a:t>
            </a:r>
          </a:p>
        </p:txBody>
      </p:sp>
      <p:grpSp>
        <p:nvGrpSpPr>
          <p:cNvPr id="1085" name="Group 1084">
            <a:extLst>
              <a:ext uri="{FF2B5EF4-FFF2-40B4-BE49-F238E27FC236}">
                <a16:creationId xmlns:a16="http://schemas.microsoft.com/office/drawing/2014/main" id="{1D759D83-592C-B589-0FF9-8BBC751EE8E8}"/>
              </a:ext>
            </a:extLst>
          </p:cNvPr>
          <p:cNvGrpSpPr/>
          <p:nvPr/>
        </p:nvGrpSpPr>
        <p:grpSpPr>
          <a:xfrm>
            <a:off x="8782564" y="1906687"/>
            <a:ext cx="442744" cy="443154"/>
            <a:chOff x="5203275" y="2534688"/>
            <a:chExt cx="480721" cy="480721"/>
          </a:xfrm>
        </p:grpSpPr>
        <p:sp>
          <p:nvSpPr>
            <p:cNvPr id="1086" name="Oval 1085">
              <a:extLst>
                <a:ext uri="{FF2B5EF4-FFF2-40B4-BE49-F238E27FC236}">
                  <a16:creationId xmlns:a16="http://schemas.microsoft.com/office/drawing/2014/main" id="{498DE85A-6023-472D-B325-FD87E5787B44}"/>
                </a:ext>
              </a:extLst>
            </p:cNvPr>
            <p:cNvSpPr/>
            <p:nvPr>
              <p:custDataLst>
                <p:tags r:id="rId3"/>
              </p:custDataLst>
            </p:nvPr>
          </p:nvSpPr>
          <p:spPr>
            <a:xfrm>
              <a:off x="5203275" y="2534688"/>
              <a:ext cx="480721" cy="480721"/>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a:solidFill>
                  <a:schemeClr val="bg1">
                    <a:lumMod val="50000"/>
                  </a:schemeClr>
                </a:solidFill>
                <a:ea typeface="Microsoft YaHei" panose="020B0503020204020204" pitchFamily="34" charset="-122"/>
              </a:endParaRPr>
            </a:p>
          </p:txBody>
        </p:sp>
        <p:grpSp>
          <p:nvGrpSpPr>
            <p:cNvPr id="1087" name="bcgIcons_Subscription">
              <a:extLst>
                <a:ext uri="{FF2B5EF4-FFF2-40B4-BE49-F238E27FC236}">
                  <a16:creationId xmlns:a16="http://schemas.microsoft.com/office/drawing/2014/main" id="{19E96837-F499-8B84-0F05-08C794193D13}"/>
                </a:ext>
              </a:extLst>
            </p:cNvPr>
            <p:cNvGrpSpPr>
              <a:grpSpLocks noChangeAspect="1"/>
            </p:cNvGrpSpPr>
            <p:nvPr/>
          </p:nvGrpSpPr>
          <p:grpSpPr>
            <a:xfrm>
              <a:off x="5273675" y="2605088"/>
              <a:ext cx="339921" cy="339921"/>
              <a:chOff x="5273675" y="2605088"/>
              <a:chExt cx="1646238" cy="1646237"/>
            </a:xfrm>
          </p:grpSpPr>
          <p:sp>
            <p:nvSpPr>
              <p:cNvPr id="1088" name="AutoShape 14">
                <a:extLst>
                  <a:ext uri="{FF2B5EF4-FFF2-40B4-BE49-F238E27FC236}">
                    <a16:creationId xmlns:a16="http://schemas.microsoft.com/office/drawing/2014/main" id="{C85AB5CA-20A5-45CB-34F8-A84BB9461454}"/>
                  </a:ext>
                </a:extLst>
              </p:cNvPr>
              <p:cNvSpPr>
                <a:spLocks noChangeAspect="1" noChangeArrowheads="1" noTextEdit="1"/>
              </p:cNvSpPr>
              <p:nvPr/>
            </p:nvSpPr>
            <p:spPr bwMode="auto">
              <a:xfrm>
                <a:off x="5273675" y="2605088"/>
                <a:ext cx="1646238" cy="1646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1089" name="Group 1088">
                <a:extLst>
                  <a:ext uri="{FF2B5EF4-FFF2-40B4-BE49-F238E27FC236}">
                    <a16:creationId xmlns:a16="http://schemas.microsoft.com/office/drawing/2014/main" id="{94A8CF5D-D8B2-ED84-DB5E-965F377BFB9F}"/>
                  </a:ext>
                </a:extLst>
              </p:cNvPr>
              <p:cNvGrpSpPr/>
              <p:nvPr/>
            </p:nvGrpSpPr>
            <p:grpSpPr>
              <a:xfrm>
                <a:off x="5483225" y="2776538"/>
                <a:ext cx="1228725" cy="1303337"/>
                <a:chOff x="5483225" y="2776538"/>
                <a:chExt cx="1228725" cy="1303337"/>
              </a:xfrm>
            </p:grpSpPr>
            <p:sp>
              <p:nvSpPr>
                <p:cNvPr id="1090" name="Freeform 5">
                  <a:extLst>
                    <a:ext uri="{FF2B5EF4-FFF2-40B4-BE49-F238E27FC236}">
                      <a16:creationId xmlns:a16="http://schemas.microsoft.com/office/drawing/2014/main" id="{EF67A0D7-AC59-65AB-EF09-8A20147234E7}"/>
                    </a:ext>
                  </a:extLst>
                </p:cNvPr>
                <p:cNvSpPr>
                  <a:spLocks/>
                </p:cNvSpPr>
                <p:nvPr/>
              </p:nvSpPr>
              <p:spPr bwMode="auto">
                <a:xfrm>
                  <a:off x="5483225" y="2776538"/>
                  <a:ext cx="1228725" cy="1303337"/>
                </a:xfrm>
                <a:custGeom>
                  <a:avLst/>
                  <a:gdLst>
                    <a:gd name="connsiteX0" fmla="*/ 355419 w 1228725"/>
                    <a:gd name="connsiteY0" fmla="*/ 544512 h 1303337"/>
                    <a:gd name="connsiteX1" fmla="*/ 873307 w 1228725"/>
                    <a:gd name="connsiteY1" fmla="*/ 544512 h 1303337"/>
                    <a:gd name="connsiteX2" fmla="*/ 889000 w 1228725"/>
                    <a:gd name="connsiteY2" fmla="*/ 558800 h 1303337"/>
                    <a:gd name="connsiteX3" fmla="*/ 873307 w 1228725"/>
                    <a:gd name="connsiteY3" fmla="*/ 573087 h 1303337"/>
                    <a:gd name="connsiteX4" fmla="*/ 355419 w 1228725"/>
                    <a:gd name="connsiteY4" fmla="*/ 573087 h 1303337"/>
                    <a:gd name="connsiteX5" fmla="*/ 339725 w 1228725"/>
                    <a:gd name="connsiteY5" fmla="*/ 558800 h 1303337"/>
                    <a:gd name="connsiteX6" fmla="*/ 355419 w 1228725"/>
                    <a:gd name="connsiteY6" fmla="*/ 544512 h 1303337"/>
                    <a:gd name="connsiteX7" fmla="*/ 355419 w 1228725"/>
                    <a:gd name="connsiteY7" fmla="*/ 433387 h 1303337"/>
                    <a:gd name="connsiteX8" fmla="*/ 873307 w 1228725"/>
                    <a:gd name="connsiteY8" fmla="*/ 433387 h 1303337"/>
                    <a:gd name="connsiteX9" fmla="*/ 889000 w 1228725"/>
                    <a:gd name="connsiteY9" fmla="*/ 449631 h 1303337"/>
                    <a:gd name="connsiteX10" fmla="*/ 873307 w 1228725"/>
                    <a:gd name="connsiteY10" fmla="*/ 465137 h 1303337"/>
                    <a:gd name="connsiteX11" fmla="*/ 355419 w 1228725"/>
                    <a:gd name="connsiteY11" fmla="*/ 465137 h 1303337"/>
                    <a:gd name="connsiteX12" fmla="*/ 339725 w 1228725"/>
                    <a:gd name="connsiteY12" fmla="*/ 449631 h 1303337"/>
                    <a:gd name="connsiteX13" fmla="*/ 355419 w 1228725"/>
                    <a:gd name="connsiteY13" fmla="*/ 433387 h 1303337"/>
                    <a:gd name="connsiteX14" fmla="*/ 355419 w 1228725"/>
                    <a:gd name="connsiteY14" fmla="*/ 322262 h 1303337"/>
                    <a:gd name="connsiteX15" fmla="*/ 873307 w 1228725"/>
                    <a:gd name="connsiteY15" fmla="*/ 322262 h 1303337"/>
                    <a:gd name="connsiteX16" fmla="*/ 889000 w 1228725"/>
                    <a:gd name="connsiteY16" fmla="*/ 338137 h 1303337"/>
                    <a:gd name="connsiteX17" fmla="*/ 873307 w 1228725"/>
                    <a:gd name="connsiteY17" fmla="*/ 354012 h 1303337"/>
                    <a:gd name="connsiteX18" fmla="*/ 355419 w 1228725"/>
                    <a:gd name="connsiteY18" fmla="*/ 354012 h 1303337"/>
                    <a:gd name="connsiteX19" fmla="*/ 339725 w 1228725"/>
                    <a:gd name="connsiteY19" fmla="*/ 338137 h 1303337"/>
                    <a:gd name="connsiteX20" fmla="*/ 355419 w 1228725"/>
                    <a:gd name="connsiteY20" fmla="*/ 322262 h 1303337"/>
                    <a:gd name="connsiteX21" fmla="*/ 496037 w 1228725"/>
                    <a:gd name="connsiteY21" fmla="*/ 173037 h 1303337"/>
                    <a:gd name="connsiteX22" fmla="*/ 733562 w 1228725"/>
                    <a:gd name="connsiteY22" fmla="*/ 173037 h 1303337"/>
                    <a:gd name="connsiteX23" fmla="*/ 749301 w 1228725"/>
                    <a:gd name="connsiteY23" fmla="*/ 188118 h 1303337"/>
                    <a:gd name="connsiteX24" fmla="*/ 733562 w 1228725"/>
                    <a:gd name="connsiteY24" fmla="*/ 203199 h 1303337"/>
                    <a:gd name="connsiteX25" fmla="*/ 496037 w 1228725"/>
                    <a:gd name="connsiteY25" fmla="*/ 203199 h 1303337"/>
                    <a:gd name="connsiteX26" fmla="*/ 481013 w 1228725"/>
                    <a:gd name="connsiteY26" fmla="*/ 188118 h 1303337"/>
                    <a:gd name="connsiteX27" fmla="*/ 496037 w 1228725"/>
                    <a:gd name="connsiteY27" fmla="*/ 173037 h 1303337"/>
                    <a:gd name="connsiteX28" fmla="*/ 205249 w 1228725"/>
                    <a:gd name="connsiteY28" fmla="*/ 31750 h 1303337"/>
                    <a:gd name="connsiteX29" fmla="*/ 205249 w 1228725"/>
                    <a:gd name="connsiteY29" fmla="*/ 583106 h 1303337"/>
                    <a:gd name="connsiteX30" fmla="*/ 203107 w 1228725"/>
                    <a:gd name="connsiteY30" fmla="*/ 580964 h 1303337"/>
                    <a:gd name="connsiteX31" fmla="*/ 173833 w 1228725"/>
                    <a:gd name="connsiteY31" fmla="*/ 558110 h 1303337"/>
                    <a:gd name="connsiteX32" fmla="*/ 173833 w 1228725"/>
                    <a:gd name="connsiteY32" fmla="*/ 375991 h 1303337"/>
                    <a:gd name="connsiteX33" fmla="*/ 61738 w 1228725"/>
                    <a:gd name="connsiteY33" fmla="*/ 436697 h 1303337"/>
                    <a:gd name="connsiteX34" fmla="*/ 48172 w 1228725"/>
                    <a:gd name="connsiteY34" fmla="*/ 444553 h 1303337"/>
                    <a:gd name="connsiteX35" fmla="*/ 31750 w 1228725"/>
                    <a:gd name="connsiteY35" fmla="*/ 453123 h 1303337"/>
                    <a:gd name="connsiteX36" fmla="*/ 31750 w 1228725"/>
                    <a:gd name="connsiteY36" fmla="*/ 1271587 h 1303337"/>
                    <a:gd name="connsiteX37" fmla="*/ 63166 w 1228725"/>
                    <a:gd name="connsiteY37" fmla="*/ 1271587 h 1303337"/>
                    <a:gd name="connsiteX38" fmla="*/ 1165560 w 1228725"/>
                    <a:gd name="connsiteY38" fmla="*/ 1271587 h 1303337"/>
                    <a:gd name="connsiteX39" fmla="*/ 1196975 w 1228725"/>
                    <a:gd name="connsiteY39" fmla="*/ 1271587 h 1303337"/>
                    <a:gd name="connsiteX40" fmla="*/ 1196975 w 1228725"/>
                    <a:gd name="connsiteY40" fmla="*/ 453123 h 1303337"/>
                    <a:gd name="connsiteX41" fmla="*/ 1192691 w 1228725"/>
                    <a:gd name="connsiteY41" fmla="*/ 450981 h 1303337"/>
                    <a:gd name="connsiteX42" fmla="*/ 1054892 w 1228725"/>
                    <a:gd name="connsiteY42" fmla="*/ 373848 h 1303337"/>
                    <a:gd name="connsiteX43" fmla="*/ 1054892 w 1228725"/>
                    <a:gd name="connsiteY43" fmla="*/ 383133 h 1303337"/>
                    <a:gd name="connsiteX44" fmla="*/ 1054178 w 1228725"/>
                    <a:gd name="connsiteY44" fmla="*/ 428127 h 1303337"/>
                    <a:gd name="connsiteX45" fmla="*/ 1052750 w 1228725"/>
                    <a:gd name="connsiteY45" fmla="*/ 557395 h 1303337"/>
                    <a:gd name="connsiteX46" fmla="*/ 1023477 w 1228725"/>
                    <a:gd name="connsiteY46" fmla="*/ 580249 h 1303337"/>
                    <a:gd name="connsiteX47" fmla="*/ 1023477 w 1228725"/>
                    <a:gd name="connsiteY47" fmla="*/ 347423 h 1303337"/>
                    <a:gd name="connsiteX48" fmla="*/ 1023477 w 1228725"/>
                    <a:gd name="connsiteY48" fmla="*/ 31750 h 1303337"/>
                    <a:gd name="connsiteX49" fmla="*/ 205249 w 1228725"/>
                    <a:gd name="connsiteY49" fmla="*/ 31750 h 1303337"/>
                    <a:gd name="connsiteX50" fmla="*/ 189310 w 1228725"/>
                    <a:gd name="connsiteY50" fmla="*/ 0 h 1303337"/>
                    <a:gd name="connsiteX51" fmla="*/ 1039416 w 1228725"/>
                    <a:gd name="connsiteY51" fmla="*/ 0 h 1303337"/>
                    <a:gd name="connsiteX52" fmla="*/ 1055132 w 1228725"/>
                    <a:gd name="connsiteY52" fmla="*/ 15720 h 1303337"/>
                    <a:gd name="connsiteX53" fmla="*/ 1055132 w 1228725"/>
                    <a:gd name="connsiteY53" fmla="*/ 337982 h 1303337"/>
                    <a:gd name="connsiteX54" fmla="*/ 1220867 w 1228725"/>
                    <a:gd name="connsiteY54" fmla="*/ 430159 h 1303337"/>
                    <a:gd name="connsiteX55" fmla="*/ 1228725 w 1228725"/>
                    <a:gd name="connsiteY55" fmla="*/ 443735 h 1303337"/>
                    <a:gd name="connsiteX56" fmla="*/ 1228725 w 1228725"/>
                    <a:gd name="connsiteY56" fmla="*/ 1287617 h 1303337"/>
                    <a:gd name="connsiteX57" fmla="*/ 1213009 w 1228725"/>
                    <a:gd name="connsiteY57" fmla="*/ 1303337 h 1303337"/>
                    <a:gd name="connsiteX58" fmla="*/ 15716 w 1228725"/>
                    <a:gd name="connsiteY58" fmla="*/ 1303337 h 1303337"/>
                    <a:gd name="connsiteX59" fmla="*/ 0 w 1228725"/>
                    <a:gd name="connsiteY59" fmla="*/ 1287617 h 1303337"/>
                    <a:gd name="connsiteX60" fmla="*/ 0 w 1228725"/>
                    <a:gd name="connsiteY60" fmla="*/ 443735 h 1303337"/>
                    <a:gd name="connsiteX61" fmla="*/ 7858 w 1228725"/>
                    <a:gd name="connsiteY61" fmla="*/ 430159 h 1303337"/>
                    <a:gd name="connsiteX62" fmla="*/ 173593 w 1228725"/>
                    <a:gd name="connsiteY62" fmla="*/ 340125 h 1303337"/>
                    <a:gd name="connsiteX63" fmla="*/ 173593 w 1228725"/>
                    <a:gd name="connsiteY63" fmla="*/ 15720 h 1303337"/>
                    <a:gd name="connsiteX64" fmla="*/ 189310 w 1228725"/>
                    <a:gd name="connsiteY64" fmla="*/ 0 h 1303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228725" h="1303337">
                      <a:moveTo>
                        <a:pt x="355419" y="544512"/>
                      </a:moveTo>
                      <a:cubicBezTo>
                        <a:pt x="355419" y="544512"/>
                        <a:pt x="355419" y="544512"/>
                        <a:pt x="873307" y="544512"/>
                      </a:cubicBezTo>
                      <a:cubicBezTo>
                        <a:pt x="882580" y="544512"/>
                        <a:pt x="889000" y="550635"/>
                        <a:pt x="889000" y="558800"/>
                      </a:cubicBezTo>
                      <a:cubicBezTo>
                        <a:pt x="889000" y="566964"/>
                        <a:pt x="882580" y="573087"/>
                        <a:pt x="873307" y="573087"/>
                      </a:cubicBezTo>
                      <a:cubicBezTo>
                        <a:pt x="873307" y="573087"/>
                        <a:pt x="873307" y="573087"/>
                        <a:pt x="355419" y="573087"/>
                      </a:cubicBezTo>
                      <a:cubicBezTo>
                        <a:pt x="346145" y="573087"/>
                        <a:pt x="339725" y="566964"/>
                        <a:pt x="339725" y="558800"/>
                      </a:cubicBezTo>
                      <a:cubicBezTo>
                        <a:pt x="339725" y="550635"/>
                        <a:pt x="346145" y="544512"/>
                        <a:pt x="355419" y="544512"/>
                      </a:cubicBezTo>
                      <a:close/>
                      <a:moveTo>
                        <a:pt x="355419" y="433387"/>
                      </a:moveTo>
                      <a:cubicBezTo>
                        <a:pt x="355419" y="433387"/>
                        <a:pt x="355419" y="433387"/>
                        <a:pt x="873307" y="433387"/>
                      </a:cubicBezTo>
                      <a:cubicBezTo>
                        <a:pt x="882580" y="433387"/>
                        <a:pt x="889000" y="440771"/>
                        <a:pt x="889000" y="449631"/>
                      </a:cubicBezTo>
                      <a:cubicBezTo>
                        <a:pt x="889000" y="457753"/>
                        <a:pt x="882580" y="465137"/>
                        <a:pt x="873307" y="465137"/>
                      </a:cubicBezTo>
                      <a:cubicBezTo>
                        <a:pt x="873307" y="465137"/>
                        <a:pt x="873307" y="465137"/>
                        <a:pt x="355419" y="465137"/>
                      </a:cubicBezTo>
                      <a:cubicBezTo>
                        <a:pt x="346145" y="465137"/>
                        <a:pt x="339725" y="457753"/>
                        <a:pt x="339725" y="449631"/>
                      </a:cubicBezTo>
                      <a:cubicBezTo>
                        <a:pt x="339725" y="440771"/>
                        <a:pt x="346145" y="433387"/>
                        <a:pt x="355419" y="433387"/>
                      </a:cubicBezTo>
                      <a:close/>
                      <a:moveTo>
                        <a:pt x="355419" y="322262"/>
                      </a:moveTo>
                      <a:cubicBezTo>
                        <a:pt x="355419" y="322262"/>
                        <a:pt x="355419" y="322262"/>
                        <a:pt x="873307" y="322262"/>
                      </a:cubicBezTo>
                      <a:cubicBezTo>
                        <a:pt x="882580" y="322262"/>
                        <a:pt x="889000" y="329478"/>
                        <a:pt x="889000" y="338137"/>
                      </a:cubicBezTo>
                      <a:cubicBezTo>
                        <a:pt x="889000" y="346796"/>
                        <a:pt x="882580" y="354012"/>
                        <a:pt x="873307" y="354012"/>
                      </a:cubicBezTo>
                      <a:cubicBezTo>
                        <a:pt x="873307" y="354012"/>
                        <a:pt x="873307" y="354012"/>
                        <a:pt x="355419" y="354012"/>
                      </a:cubicBezTo>
                      <a:cubicBezTo>
                        <a:pt x="346145" y="354012"/>
                        <a:pt x="339725" y="346796"/>
                        <a:pt x="339725" y="338137"/>
                      </a:cubicBezTo>
                      <a:cubicBezTo>
                        <a:pt x="339725" y="329478"/>
                        <a:pt x="346145" y="322262"/>
                        <a:pt x="355419" y="322262"/>
                      </a:cubicBezTo>
                      <a:close/>
                      <a:moveTo>
                        <a:pt x="496037" y="173037"/>
                      </a:moveTo>
                      <a:cubicBezTo>
                        <a:pt x="496037" y="173037"/>
                        <a:pt x="496037" y="173037"/>
                        <a:pt x="733562" y="173037"/>
                      </a:cubicBezTo>
                      <a:cubicBezTo>
                        <a:pt x="742147" y="173037"/>
                        <a:pt x="749301" y="179892"/>
                        <a:pt x="749301" y="188118"/>
                      </a:cubicBezTo>
                      <a:cubicBezTo>
                        <a:pt x="749301" y="196344"/>
                        <a:pt x="742147" y="203199"/>
                        <a:pt x="733562" y="203199"/>
                      </a:cubicBezTo>
                      <a:cubicBezTo>
                        <a:pt x="733562" y="203199"/>
                        <a:pt x="733562" y="203199"/>
                        <a:pt x="496037" y="203199"/>
                      </a:cubicBezTo>
                      <a:cubicBezTo>
                        <a:pt x="487452" y="203199"/>
                        <a:pt x="481013" y="196344"/>
                        <a:pt x="481013" y="188118"/>
                      </a:cubicBezTo>
                      <a:cubicBezTo>
                        <a:pt x="481013" y="179892"/>
                        <a:pt x="487452" y="173037"/>
                        <a:pt x="496037" y="173037"/>
                      </a:cubicBezTo>
                      <a:close/>
                      <a:moveTo>
                        <a:pt x="205249" y="31750"/>
                      </a:moveTo>
                      <a:cubicBezTo>
                        <a:pt x="205249" y="31750"/>
                        <a:pt x="205249" y="31750"/>
                        <a:pt x="205249" y="583106"/>
                      </a:cubicBezTo>
                      <a:cubicBezTo>
                        <a:pt x="205249" y="583106"/>
                        <a:pt x="205249" y="583106"/>
                        <a:pt x="203107" y="580964"/>
                      </a:cubicBezTo>
                      <a:cubicBezTo>
                        <a:pt x="203107" y="580964"/>
                        <a:pt x="203107" y="580964"/>
                        <a:pt x="173833" y="558110"/>
                      </a:cubicBezTo>
                      <a:cubicBezTo>
                        <a:pt x="173833" y="558110"/>
                        <a:pt x="173833" y="558110"/>
                        <a:pt x="173833" y="375991"/>
                      </a:cubicBezTo>
                      <a:cubicBezTo>
                        <a:pt x="173833" y="375991"/>
                        <a:pt x="173833" y="375991"/>
                        <a:pt x="61738" y="436697"/>
                      </a:cubicBezTo>
                      <a:cubicBezTo>
                        <a:pt x="61738" y="436697"/>
                        <a:pt x="61738" y="436697"/>
                        <a:pt x="48172" y="444553"/>
                      </a:cubicBezTo>
                      <a:cubicBezTo>
                        <a:pt x="48172" y="444553"/>
                        <a:pt x="48172" y="444553"/>
                        <a:pt x="31750" y="453123"/>
                      </a:cubicBezTo>
                      <a:cubicBezTo>
                        <a:pt x="31750" y="453123"/>
                        <a:pt x="31750" y="453123"/>
                        <a:pt x="31750" y="1271587"/>
                      </a:cubicBezTo>
                      <a:cubicBezTo>
                        <a:pt x="31750" y="1271587"/>
                        <a:pt x="31750" y="1271587"/>
                        <a:pt x="63166" y="1271587"/>
                      </a:cubicBezTo>
                      <a:cubicBezTo>
                        <a:pt x="63166" y="1271587"/>
                        <a:pt x="63166" y="1271587"/>
                        <a:pt x="1165560" y="1271587"/>
                      </a:cubicBezTo>
                      <a:cubicBezTo>
                        <a:pt x="1165560" y="1271587"/>
                        <a:pt x="1165560" y="1271587"/>
                        <a:pt x="1196975" y="1271587"/>
                      </a:cubicBezTo>
                      <a:cubicBezTo>
                        <a:pt x="1196975" y="1271587"/>
                        <a:pt x="1196975" y="1271587"/>
                        <a:pt x="1196975" y="453123"/>
                      </a:cubicBezTo>
                      <a:cubicBezTo>
                        <a:pt x="1196975" y="453123"/>
                        <a:pt x="1196975" y="453123"/>
                        <a:pt x="1192691" y="450981"/>
                      </a:cubicBezTo>
                      <a:cubicBezTo>
                        <a:pt x="1192691" y="450981"/>
                        <a:pt x="1192691" y="450981"/>
                        <a:pt x="1054892" y="373848"/>
                      </a:cubicBezTo>
                      <a:cubicBezTo>
                        <a:pt x="1054892" y="373848"/>
                        <a:pt x="1054892" y="373848"/>
                        <a:pt x="1054892" y="383133"/>
                      </a:cubicBezTo>
                      <a:cubicBezTo>
                        <a:pt x="1054892" y="383133"/>
                        <a:pt x="1054892" y="383133"/>
                        <a:pt x="1054178" y="428127"/>
                      </a:cubicBezTo>
                      <a:cubicBezTo>
                        <a:pt x="1054178" y="428127"/>
                        <a:pt x="1054178" y="428127"/>
                        <a:pt x="1052750" y="557395"/>
                      </a:cubicBezTo>
                      <a:cubicBezTo>
                        <a:pt x="1052750" y="557395"/>
                        <a:pt x="1052750" y="557395"/>
                        <a:pt x="1023477" y="580249"/>
                      </a:cubicBezTo>
                      <a:cubicBezTo>
                        <a:pt x="1023477" y="580249"/>
                        <a:pt x="1023477" y="580249"/>
                        <a:pt x="1023477" y="347423"/>
                      </a:cubicBezTo>
                      <a:cubicBezTo>
                        <a:pt x="1023477" y="347423"/>
                        <a:pt x="1023477" y="347423"/>
                        <a:pt x="1023477" y="31750"/>
                      </a:cubicBezTo>
                      <a:cubicBezTo>
                        <a:pt x="1023477" y="31750"/>
                        <a:pt x="1023477" y="31750"/>
                        <a:pt x="205249" y="31750"/>
                      </a:cubicBezTo>
                      <a:close/>
                      <a:moveTo>
                        <a:pt x="189310" y="0"/>
                      </a:moveTo>
                      <a:cubicBezTo>
                        <a:pt x="189310" y="0"/>
                        <a:pt x="189310" y="0"/>
                        <a:pt x="1039416" y="0"/>
                      </a:cubicBezTo>
                      <a:cubicBezTo>
                        <a:pt x="1047988" y="0"/>
                        <a:pt x="1055132" y="7146"/>
                        <a:pt x="1055132" y="15720"/>
                      </a:cubicBezTo>
                      <a:cubicBezTo>
                        <a:pt x="1055132" y="15720"/>
                        <a:pt x="1055132" y="15720"/>
                        <a:pt x="1055132" y="337982"/>
                      </a:cubicBezTo>
                      <a:cubicBezTo>
                        <a:pt x="1055132" y="337982"/>
                        <a:pt x="1055132" y="337982"/>
                        <a:pt x="1220867" y="430159"/>
                      </a:cubicBezTo>
                      <a:cubicBezTo>
                        <a:pt x="1225868" y="433017"/>
                        <a:pt x="1228725" y="438019"/>
                        <a:pt x="1228725" y="443735"/>
                      </a:cubicBezTo>
                      <a:cubicBezTo>
                        <a:pt x="1228725" y="443735"/>
                        <a:pt x="1228725" y="443735"/>
                        <a:pt x="1228725" y="1287617"/>
                      </a:cubicBezTo>
                      <a:cubicBezTo>
                        <a:pt x="1228725" y="1296192"/>
                        <a:pt x="1222296" y="1303337"/>
                        <a:pt x="1213009" y="1303337"/>
                      </a:cubicBezTo>
                      <a:cubicBezTo>
                        <a:pt x="1213009" y="1303337"/>
                        <a:pt x="1213009" y="1303337"/>
                        <a:pt x="15716" y="1303337"/>
                      </a:cubicBezTo>
                      <a:cubicBezTo>
                        <a:pt x="6430" y="1303337"/>
                        <a:pt x="0" y="1296192"/>
                        <a:pt x="0" y="1287617"/>
                      </a:cubicBezTo>
                      <a:cubicBezTo>
                        <a:pt x="0" y="1287617"/>
                        <a:pt x="0" y="1287617"/>
                        <a:pt x="0" y="443735"/>
                      </a:cubicBezTo>
                      <a:cubicBezTo>
                        <a:pt x="0" y="438019"/>
                        <a:pt x="2858" y="433017"/>
                        <a:pt x="7858" y="430159"/>
                      </a:cubicBezTo>
                      <a:cubicBezTo>
                        <a:pt x="7858" y="430159"/>
                        <a:pt x="7858" y="430159"/>
                        <a:pt x="173593" y="340125"/>
                      </a:cubicBezTo>
                      <a:cubicBezTo>
                        <a:pt x="173593" y="340125"/>
                        <a:pt x="173593" y="340125"/>
                        <a:pt x="173593" y="15720"/>
                      </a:cubicBezTo>
                      <a:cubicBezTo>
                        <a:pt x="173593" y="7146"/>
                        <a:pt x="180737" y="0"/>
                        <a:pt x="189310"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ea typeface="Microsoft YaHei" panose="020B0503020204020204" pitchFamily="34" charset="-122"/>
                  </a:endParaRPr>
                </a:p>
              </p:txBody>
            </p:sp>
            <p:sp>
              <p:nvSpPr>
                <p:cNvPr id="1091" name="Freeform 6">
                  <a:extLst>
                    <a:ext uri="{FF2B5EF4-FFF2-40B4-BE49-F238E27FC236}">
                      <a16:creationId xmlns:a16="http://schemas.microsoft.com/office/drawing/2014/main" id="{391B7C7E-E7D0-9A0B-7452-B0E229EA77EA}"/>
                    </a:ext>
                  </a:extLst>
                </p:cNvPr>
                <p:cNvSpPr>
                  <a:spLocks/>
                </p:cNvSpPr>
                <p:nvPr/>
              </p:nvSpPr>
              <p:spPr bwMode="auto">
                <a:xfrm>
                  <a:off x="5545137" y="3205163"/>
                  <a:ext cx="1106488" cy="814387"/>
                </a:xfrm>
                <a:custGeom>
                  <a:avLst/>
                  <a:gdLst>
                    <a:gd name="connsiteX0" fmla="*/ 681076 w 1106488"/>
                    <a:gd name="connsiteY0" fmla="*/ 411162 h 814387"/>
                    <a:gd name="connsiteX1" fmla="*/ 1082675 w 1106488"/>
                    <a:gd name="connsiteY1" fmla="*/ 814387 h 814387"/>
                    <a:gd name="connsiteX2" fmla="*/ 22225 w 1106488"/>
                    <a:gd name="connsiteY2" fmla="*/ 814387 h 814387"/>
                    <a:gd name="connsiteX3" fmla="*/ 423110 w 1106488"/>
                    <a:gd name="connsiteY3" fmla="*/ 411878 h 814387"/>
                    <a:gd name="connsiteX4" fmla="*/ 534586 w 1106488"/>
                    <a:gd name="connsiteY4" fmla="*/ 500688 h 814387"/>
                    <a:gd name="connsiteX5" fmla="*/ 551021 w 1106488"/>
                    <a:gd name="connsiteY5" fmla="*/ 506418 h 814387"/>
                    <a:gd name="connsiteX6" fmla="*/ 566742 w 1106488"/>
                    <a:gd name="connsiteY6" fmla="*/ 500688 h 814387"/>
                    <a:gd name="connsiteX7" fmla="*/ 681076 w 1106488"/>
                    <a:gd name="connsiteY7" fmla="*/ 411162 h 814387"/>
                    <a:gd name="connsiteX8" fmla="*/ 79375 w 1106488"/>
                    <a:gd name="connsiteY8" fmla="*/ 1587 h 814387"/>
                    <a:gd name="connsiteX9" fmla="*/ 77788 w 1106488"/>
                    <a:gd name="connsiteY9" fmla="*/ 142875 h 814387"/>
                    <a:gd name="connsiteX10" fmla="*/ 77788 w 1106488"/>
                    <a:gd name="connsiteY10" fmla="*/ 144462 h 814387"/>
                    <a:gd name="connsiteX11" fmla="*/ 80963 w 1106488"/>
                    <a:gd name="connsiteY11" fmla="*/ 144462 h 814387"/>
                    <a:gd name="connsiteX12" fmla="*/ 111125 w 1106488"/>
                    <a:gd name="connsiteY12" fmla="*/ 168275 h 814387"/>
                    <a:gd name="connsiteX13" fmla="*/ 122238 w 1106488"/>
                    <a:gd name="connsiteY13" fmla="*/ 176212 h 814387"/>
                    <a:gd name="connsiteX14" fmla="*/ 142875 w 1106488"/>
                    <a:gd name="connsiteY14" fmla="*/ 195262 h 814387"/>
                    <a:gd name="connsiteX15" fmla="*/ 398463 w 1106488"/>
                    <a:gd name="connsiteY15" fmla="*/ 393699 h 814387"/>
                    <a:gd name="connsiteX16" fmla="*/ 0 w 1106488"/>
                    <a:gd name="connsiteY16" fmla="*/ 790574 h 814387"/>
                    <a:gd name="connsiteX17" fmla="*/ 0 w 1106488"/>
                    <a:gd name="connsiteY17" fmla="*/ 44450 h 814387"/>
                    <a:gd name="connsiteX18" fmla="*/ 1025526 w 1106488"/>
                    <a:gd name="connsiteY18" fmla="*/ 0 h 814387"/>
                    <a:gd name="connsiteX19" fmla="*/ 1106488 w 1106488"/>
                    <a:gd name="connsiteY19" fmla="*/ 44450 h 814387"/>
                    <a:gd name="connsiteX20" fmla="*/ 1106488 w 1106488"/>
                    <a:gd name="connsiteY20" fmla="*/ 790575 h 814387"/>
                    <a:gd name="connsiteX21" fmla="*/ 704850 w 1106488"/>
                    <a:gd name="connsiteY21" fmla="*/ 390525 h 814387"/>
                    <a:gd name="connsiteX22" fmla="*/ 963613 w 1106488"/>
                    <a:gd name="connsiteY22" fmla="*/ 192088 h 814387"/>
                    <a:gd name="connsiteX23" fmla="*/ 979488 w 1106488"/>
                    <a:gd name="connsiteY23" fmla="*/ 179388 h 814387"/>
                    <a:gd name="connsiteX24" fmla="*/ 995363 w 1106488"/>
                    <a:gd name="connsiteY24" fmla="*/ 166688 h 814387"/>
                    <a:gd name="connsiteX25" fmla="*/ 1023938 w 1106488"/>
                    <a:gd name="connsiteY25" fmla="*/ 144463 h 814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06488" h="814387">
                      <a:moveTo>
                        <a:pt x="681076" y="411162"/>
                      </a:moveTo>
                      <a:cubicBezTo>
                        <a:pt x="681076" y="411162"/>
                        <a:pt x="681076" y="411162"/>
                        <a:pt x="1082675" y="814387"/>
                      </a:cubicBezTo>
                      <a:cubicBezTo>
                        <a:pt x="1082675" y="814387"/>
                        <a:pt x="1082675" y="814387"/>
                        <a:pt x="22225" y="814387"/>
                      </a:cubicBezTo>
                      <a:cubicBezTo>
                        <a:pt x="22225" y="814387"/>
                        <a:pt x="22225" y="814387"/>
                        <a:pt x="423110" y="411878"/>
                      </a:cubicBezTo>
                      <a:cubicBezTo>
                        <a:pt x="423110" y="411878"/>
                        <a:pt x="423110" y="411878"/>
                        <a:pt x="534586" y="500688"/>
                      </a:cubicBezTo>
                      <a:cubicBezTo>
                        <a:pt x="539588" y="504269"/>
                        <a:pt x="544590" y="506418"/>
                        <a:pt x="551021" y="506418"/>
                      </a:cubicBezTo>
                      <a:cubicBezTo>
                        <a:pt x="556738" y="506418"/>
                        <a:pt x="562454" y="504269"/>
                        <a:pt x="566742" y="500688"/>
                      </a:cubicBezTo>
                      <a:cubicBezTo>
                        <a:pt x="566742" y="500688"/>
                        <a:pt x="566742" y="500688"/>
                        <a:pt x="681076" y="411162"/>
                      </a:cubicBezTo>
                      <a:close/>
                      <a:moveTo>
                        <a:pt x="79375" y="1587"/>
                      </a:moveTo>
                      <a:lnTo>
                        <a:pt x="77788" y="142875"/>
                      </a:lnTo>
                      <a:lnTo>
                        <a:pt x="77788" y="144462"/>
                      </a:lnTo>
                      <a:lnTo>
                        <a:pt x="80963" y="144462"/>
                      </a:lnTo>
                      <a:lnTo>
                        <a:pt x="111125" y="168275"/>
                      </a:lnTo>
                      <a:lnTo>
                        <a:pt x="122238" y="176212"/>
                      </a:lnTo>
                      <a:lnTo>
                        <a:pt x="142875" y="195262"/>
                      </a:lnTo>
                      <a:lnTo>
                        <a:pt x="398463" y="393699"/>
                      </a:lnTo>
                      <a:lnTo>
                        <a:pt x="0" y="790574"/>
                      </a:lnTo>
                      <a:lnTo>
                        <a:pt x="0" y="44450"/>
                      </a:lnTo>
                      <a:close/>
                      <a:moveTo>
                        <a:pt x="1025526" y="0"/>
                      </a:moveTo>
                      <a:lnTo>
                        <a:pt x="1106488" y="44450"/>
                      </a:lnTo>
                      <a:lnTo>
                        <a:pt x="1106488" y="790575"/>
                      </a:lnTo>
                      <a:lnTo>
                        <a:pt x="704850" y="390525"/>
                      </a:lnTo>
                      <a:lnTo>
                        <a:pt x="963613" y="192088"/>
                      </a:lnTo>
                      <a:lnTo>
                        <a:pt x="979488" y="179388"/>
                      </a:lnTo>
                      <a:lnTo>
                        <a:pt x="995363" y="166688"/>
                      </a:lnTo>
                      <a:lnTo>
                        <a:pt x="1023938" y="14446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ea typeface="Microsoft YaHei" panose="020B0503020204020204" pitchFamily="34" charset="-122"/>
                  </a:endParaRPr>
                </a:p>
              </p:txBody>
            </p:sp>
          </p:grpSp>
        </p:grpSp>
      </p:grpSp>
      <p:sp>
        <p:nvSpPr>
          <p:cNvPr id="1092" name="TextBox 1091">
            <a:extLst>
              <a:ext uri="{FF2B5EF4-FFF2-40B4-BE49-F238E27FC236}">
                <a16:creationId xmlns:a16="http://schemas.microsoft.com/office/drawing/2014/main" id="{93AD92D1-F8CA-9656-59C4-7DBB427E34CF}"/>
              </a:ext>
            </a:extLst>
          </p:cNvPr>
          <p:cNvSpPr txBox="1"/>
          <p:nvPr/>
        </p:nvSpPr>
        <p:spPr>
          <a:xfrm>
            <a:off x="8313868" y="2619805"/>
            <a:ext cx="1488075" cy="266694"/>
          </a:xfrm>
          <a:prstGeom prst="rect">
            <a:avLst/>
          </a:prstGeom>
          <a:solidFill>
            <a:srgbClr val="FFFFFF"/>
          </a:solid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400">
                <a:solidFill>
                  <a:srgbClr val="29BA74"/>
                </a:solidFill>
                <a:ea typeface="Microsoft YaHei" panose="020B0503020204020204" pitchFamily="34" charset="-122"/>
              </a:rPr>
              <a:t>收到簽帳金融卡</a:t>
            </a:r>
            <a:endParaRPr lang="en-US" sz="1400">
              <a:solidFill>
                <a:srgbClr val="29BA74"/>
              </a:solidFill>
              <a:ea typeface="Microsoft YaHei" panose="020B0503020204020204" pitchFamily="34" charset="-122"/>
            </a:endParaRPr>
          </a:p>
        </p:txBody>
      </p:sp>
      <p:sp>
        <p:nvSpPr>
          <p:cNvPr id="1093" name="TextBox 1092">
            <a:extLst>
              <a:ext uri="{FF2B5EF4-FFF2-40B4-BE49-F238E27FC236}">
                <a16:creationId xmlns:a16="http://schemas.microsoft.com/office/drawing/2014/main" id="{2BF622BE-E757-CD15-4A85-D6806D6694CA}"/>
              </a:ext>
            </a:extLst>
          </p:cNvPr>
          <p:cNvSpPr txBox="1"/>
          <p:nvPr/>
        </p:nvSpPr>
        <p:spPr>
          <a:xfrm>
            <a:off x="8228262" y="3036406"/>
            <a:ext cx="2171501" cy="1371355"/>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altLang="zh-TW" sz="1400">
                <a:solidFill>
                  <a:srgbClr val="575757"/>
                </a:solidFill>
                <a:latin typeface="Microsoft YaHei" panose="020B0503020204020204" pitchFamily="34" charset="-122"/>
                <a:ea typeface="Microsoft YaHei" panose="020B0503020204020204" pitchFamily="34" charset="-122"/>
              </a:rPr>
              <a:t>"</a:t>
            </a:r>
            <a:r>
              <a:rPr lang="zh-TW" altLang="en-US" sz="1400">
                <a:solidFill>
                  <a:srgbClr val="A8B21C"/>
                </a:solidFill>
                <a:latin typeface="Microsoft YaHei" panose="020B0503020204020204" pitchFamily="34" charset="-122"/>
                <a:ea typeface="Microsoft YaHei" panose="020B0503020204020204" pitchFamily="34" charset="-122"/>
              </a:rPr>
              <a:t>最高享</a:t>
            </a:r>
            <a:r>
              <a:rPr lang="en-US" altLang="zh-TW" sz="1400">
                <a:solidFill>
                  <a:srgbClr val="A8B21C"/>
                </a:solidFill>
                <a:latin typeface="Microsoft YaHei" panose="020B0503020204020204" pitchFamily="34" charset="-122"/>
                <a:ea typeface="Microsoft YaHei" panose="020B0503020204020204" pitchFamily="34" charset="-122"/>
              </a:rPr>
              <a:t>3.2%</a:t>
            </a:r>
            <a:r>
              <a:rPr lang="zh-TW" altLang="en-US" sz="1400">
                <a:solidFill>
                  <a:srgbClr val="A8B21C"/>
                </a:solidFill>
                <a:latin typeface="Microsoft YaHei" panose="020B0503020204020204" pitchFamily="34" charset="-122"/>
                <a:ea typeface="Microsoft YaHei" panose="020B0503020204020204" pitchFamily="34" charset="-122"/>
              </a:rPr>
              <a:t>活儲利率、每月</a:t>
            </a:r>
            <a:r>
              <a:rPr lang="en-US" altLang="zh-TW" sz="1400">
                <a:solidFill>
                  <a:srgbClr val="A8B21C"/>
                </a:solidFill>
                <a:latin typeface="Microsoft YaHei" panose="020B0503020204020204" pitchFamily="34" charset="-122"/>
                <a:ea typeface="Microsoft YaHei" panose="020B0503020204020204" pitchFamily="34" charset="-122"/>
              </a:rPr>
              <a:t>5</a:t>
            </a:r>
            <a:r>
              <a:rPr lang="zh-TW" altLang="en-US" sz="1400">
                <a:solidFill>
                  <a:srgbClr val="A8B21C"/>
                </a:solidFill>
                <a:latin typeface="Microsoft YaHei" panose="020B0503020204020204" pitchFamily="34" charset="-122"/>
                <a:ea typeface="Microsoft YaHei" panose="020B0503020204020204" pitchFamily="34" charset="-122"/>
              </a:rPr>
              <a:t>次跨堤跨轉免手續</a:t>
            </a:r>
            <a:r>
              <a:rPr lang="en-US" altLang="zh-TW" sz="1400">
                <a:solidFill>
                  <a:srgbClr val="575757"/>
                </a:solidFill>
                <a:latin typeface="Microsoft YaHei" panose="020B0503020204020204" pitchFamily="34" charset="-122"/>
                <a:ea typeface="Microsoft YaHei" panose="020B0503020204020204" pitchFamily="34" charset="-122"/>
              </a:rPr>
              <a:t>"</a:t>
            </a:r>
          </a:p>
          <a:p>
            <a:r>
              <a:rPr lang="en-US" altLang="zh-TW" sz="1400">
                <a:solidFill>
                  <a:srgbClr val="575757"/>
                </a:solidFill>
                <a:latin typeface="Microsoft YaHei" panose="020B0503020204020204" pitchFamily="34" charset="-122"/>
                <a:ea typeface="Microsoft YaHei" panose="020B0503020204020204" pitchFamily="34" charset="-122"/>
              </a:rPr>
              <a:t>"</a:t>
            </a:r>
            <a:r>
              <a:rPr lang="zh-TW" altLang="en-US" sz="1400">
                <a:solidFill>
                  <a:srgbClr val="575757"/>
                </a:solidFill>
                <a:latin typeface="Microsoft YaHei" panose="020B0503020204020204" pitchFamily="34" charset="-122"/>
                <a:ea typeface="Microsoft YaHei" panose="020B0503020204020204" pitchFamily="34" charset="-122"/>
              </a:rPr>
              <a:t>各種商品優惠 </a:t>
            </a:r>
            <a:r>
              <a:rPr lang="en-US" altLang="zh-TW" sz="1400">
                <a:solidFill>
                  <a:srgbClr val="575757"/>
                </a:solidFill>
                <a:latin typeface="Microsoft YaHei" panose="020B0503020204020204" pitchFamily="34" charset="-122"/>
                <a:ea typeface="Microsoft YaHei" panose="020B0503020204020204" pitchFamily="34" charset="-122"/>
              </a:rPr>
              <a:t>(</a:t>
            </a:r>
            <a:r>
              <a:rPr lang="zh-TW" altLang="en-US" sz="1400">
                <a:solidFill>
                  <a:srgbClr val="575757"/>
                </a:solidFill>
                <a:latin typeface="Microsoft YaHei" panose="020B0503020204020204" pitchFamily="34" charset="-122"/>
                <a:ea typeface="Microsoft YaHei" panose="020B0503020204020204" pitchFamily="34" charset="-122"/>
              </a:rPr>
              <a:t>信卡、保險、理財</a:t>
            </a:r>
            <a:r>
              <a:rPr lang="en-US" altLang="zh-TW" sz="1400">
                <a:solidFill>
                  <a:srgbClr val="575757"/>
                </a:solidFill>
                <a:latin typeface="Microsoft YaHei" panose="020B0503020204020204" pitchFamily="34" charset="-122"/>
                <a:ea typeface="Microsoft YaHei" panose="020B0503020204020204" pitchFamily="34" charset="-122"/>
              </a:rPr>
              <a:t>)</a:t>
            </a:r>
            <a:r>
              <a:rPr lang="zh-TW" altLang="en-US" sz="1400">
                <a:solidFill>
                  <a:srgbClr val="575757"/>
                </a:solidFill>
                <a:latin typeface="Microsoft YaHei" panose="020B0503020204020204" pitchFamily="34" charset="-122"/>
                <a:ea typeface="Microsoft YaHei" panose="020B0503020204020204" pitchFamily="34" charset="-122"/>
              </a:rPr>
              <a:t>、</a:t>
            </a:r>
            <a:r>
              <a:rPr lang="en-US" altLang="zh-TW" sz="1400">
                <a:solidFill>
                  <a:srgbClr val="575757"/>
                </a:solidFill>
                <a:latin typeface="Microsoft YaHei" panose="020B0503020204020204" pitchFamily="34" charset="-122"/>
                <a:ea typeface="Microsoft YaHei" panose="020B0503020204020204" pitchFamily="34" charset="-122"/>
              </a:rPr>
              <a:t>Line</a:t>
            </a:r>
            <a:r>
              <a:rPr lang="zh-TW" altLang="en-US" sz="1400">
                <a:solidFill>
                  <a:srgbClr val="575757"/>
                </a:solidFill>
                <a:latin typeface="Microsoft YaHei" panose="020B0503020204020204" pitchFamily="34" charset="-122"/>
                <a:ea typeface="Microsoft YaHei" panose="020B0503020204020204" pitchFamily="34" charset="-122"/>
              </a:rPr>
              <a:t>功能</a:t>
            </a:r>
            <a:r>
              <a:rPr lang="en-US" altLang="zh-TW" sz="1400">
                <a:solidFill>
                  <a:srgbClr val="575757"/>
                </a:solidFill>
                <a:latin typeface="Microsoft YaHei" panose="020B0503020204020204" pitchFamily="34" charset="-122"/>
                <a:ea typeface="Microsoft YaHei" panose="020B0503020204020204" pitchFamily="34" charset="-122"/>
              </a:rPr>
              <a:t>"</a:t>
            </a:r>
          </a:p>
          <a:p>
            <a:r>
              <a:rPr lang="en-US" altLang="zh-TW" sz="1400">
                <a:solidFill>
                  <a:srgbClr val="575757"/>
                </a:solidFill>
                <a:latin typeface="Microsoft YaHei" panose="020B0503020204020204" pitchFamily="34" charset="-122"/>
                <a:ea typeface="Microsoft YaHei" panose="020B0503020204020204" pitchFamily="34" charset="-122"/>
              </a:rPr>
              <a:t>"</a:t>
            </a:r>
            <a:r>
              <a:rPr lang="zh-TW" altLang="en-US" sz="1400">
                <a:solidFill>
                  <a:srgbClr val="575757"/>
                </a:solidFill>
                <a:latin typeface="Microsoft YaHei" panose="020B0503020204020204" pitchFamily="34" charset="-122"/>
                <a:ea typeface="Microsoft YaHei" panose="020B0503020204020204" pitchFamily="34" charset="-122"/>
              </a:rPr>
              <a:t>開卡教學</a:t>
            </a:r>
            <a:r>
              <a:rPr lang="en-US" altLang="zh-TW" sz="1400">
                <a:solidFill>
                  <a:srgbClr val="575757"/>
                </a:solidFill>
                <a:latin typeface="Microsoft YaHei" panose="020B0503020204020204" pitchFamily="34" charset="-122"/>
                <a:ea typeface="Microsoft YaHei" panose="020B0503020204020204" pitchFamily="34" charset="-122"/>
              </a:rPr>
              <a:t>"</a:t>
            </a:r>
          </a:p>
          <a:p>
            <a:endParaRPr lang="en-US" sz="1400">
              <a:solidFill>
                <a:srgbClr val="575757"/>
              </a:solidFill>
              <a:latin typeface="Microsoft YaHei" panose="020B0503020204020204" pitchFamily="34" charset="-122"/>
              <a:ea typeface="Microsoft YaHei" panose="020B0503020204020204" pitchFamily="34" charset="-122"/>
            </a:endParaRPr>
          </a:p>
        </p:txBody>
      </p:sp>
      <p:sp>
        <p:nvSpPr>
          <p:cNvPr id="1094" name="TextBox 1093">
            <a:extLst>
              <a:ext uri="{FF2B5EF4-FFF2-40B4-BE49-F238E27FC236}">
                <a16:creationId xmlns:a16="http://schemas.microsoft.com/office/drawing/2014/main" id="{47D95504-AD0D-069B-BE7D-53830B856B5E}"/>
              </a:ext>
            </a:extLst>
          </p:cNvPr>
          <p:cNvSpPr txBox="1"/>
          <p:nvPr/>
        </p:nvSpPr>
        <p:spPr>
          <a:xfrm>
            <a:off x="8228262" y="4344142"/>
            <a:ext cx="2171501" cy="100423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altLang="zh-TW" sz="1400" b="1">
                <a:solidFill>
                  <a:srgbClr val="29BA74"/>
                </a:solidFill>
                <a:latin typeface="Microsoft YaHei" panose="020B0503020204020204" pitchFamily="34" charset="-122"/>
                <a:ea typeface="Microsoft YaHei" panose="020B0503020204020204" pitchFamily="34" charset="-122"/>
              </a:rPr>
              <a:t>[</a:t>
            </a:r>
            <a:r>
              <a:rPr lang="zh-TW" altLang="en-US" sz="1400" b="1">
                <a:solidFill>
                  <a:srgbClr val="29BA74"/>
                </a:solidFill>
                <a:latin typeface="Microsoft YaHei" panose="020B0503020204020204" pitchFamily="34" charset="-122"/>
                <a:ea typeface="Microsoft YaHei" panose="020B0503020204020204" pitchFamily="34" charset="-122"/>
              </a:rPr>
              <a:t>說明新戶優惠、推銷各種銀行商品</a:t>
            </a:r>
            <a:r>
              <a:rPr lang="en-US" altLang="zh-TW" sz="1400" b="1">
                <a:solidFill>
                  <a:srgbClr val="29BA74"/>
                </a:solidFill>
                <a:latin typeface="Microsoft YaHei" panose="020B0503020204020204" pitchFamily="34" charset="-122"/>
                <a:ea typeface="Microsoft YaHei" panose="020B0503020204020204" pitchFamily="34" charset="-122"/>
              </a:rPr>
              <a:t>]</a:t>
            </a:r>
          </a:p>
          <a:p>
            <a:r>
              <a:rPr lang="zh-TW" altLang="en-US" sz="1400">
                <a:solidFill>
                  <a:srgbClr val="575757"/>
                </a:solidFill>
                <a:latin typeface="Microsoft YaHei" panose="020B0503020204020204" pitchFamily="34" charset="-122"/>
                <a:ea typeface="Microsoft YaHei" panose="020B0503020204020204" pitchFamily="34" charset="-122"/>
              </a:rPr>
              <a:t>提醒用戶帳戶優惠外，提供銀行各類商品優惠資訊並同步推銷</a:t>
            </a:r>
            <a:r>
              <a:rPr lang="en-US" altLang="zh-TW" sz="1400">
                <a:solidFill>
                  <a:srgbClr val="575757"/>
                </a:solidFill>
                <a:latin typeface="Microsoft YaHei" panose="020B0503020204020204" pitchFamily="34" charset="-122"/>
                <a:ea typeface="Microsoft YaHei" panose="020B0503020204020204" pitchFamily="34" charset="-122"/>
              </a:rPr>
              <a:t>Line</a:t>
            </a:r>
            <a:r>
              <a:rPr lang="zh-TW" altLang="en-US" sz="1400">
                <a:solidFill>
                  <a:srgbClr val="575757"/>
                </a:solidFill>
                <a:latin typeface="Microsoft YaHei" panose="020B0503020204020204" pitchFamily="34" charset="-122"/>
                <a:ea typeface="Microsoft YaHei" panose="020B0503020204020204" pitchFamily="34" charset="-122"/>
              </a:rPr>
              <a:t>官方帳號</a:t>
            </a:r>
            <a:endParaRPr lang="en-US" sz="1400">
              <a:solidFill>
                <a:srgbClr val="575757"/>
              </a:solidFill>
              <a:latin typeface="Microsoft YaHei" panose="020B0503020204020204" pitchFamily="34" charset="-122"/>
              <a:ea typeface="Microsoft YaHei" panose="020B0503020204020204" pitchFamily="34" charset="-122"/>
            </a:endParaRPr>
          </a:p>
        </p:txBody>
      </p:sp>
      <p:sp>
        <p:nvSpPr>
          <p:cNvPr id="1097" name="Rectangle 1096">
            <a:extLst>
              <a:ext uri="{FF2B5EF4-FFF2-40B4-BE49-F238E27FC236}">
                <a16:creationId xmlns:a16="http://schemas.microsoft.com/office/drawing/2014/main" id="{9A9BDBFA-3D35-947B-3245-0ACDFE833A97}"/>
              </a:ext>
            </a:extLst>
          </p:cNvPr>
          <p:cNvSpPr/>
          <p:nvPr/>
        </p:nvSpPr>
        <p:spPr>
          <a:xfrm>
            <a:off x="692923" y="5678123"/>
            <a:ext cx="7568278" cy="462683"/>
          </a:xfrm>
          <a:prstGeom prst="rect">
            <a:avLst/>
          </a:prstGeom>
          <a:solidFill>
            <a:srgbClr val="EEE89A"/>
          </a:solidFill>
          <a:ln w="19050" cap="rnd" cmpd="sng" algn="ctr">
            <a:solidFill>
              <a:schemeClr val="accent3">
                <a:lumMod val="50000"/>
              </a:schemeClr>
            </a:solidFill>
            <a:prstDash val="sysDash"/>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108000" lvl="1">
              <a:buClr>
                <a:schemeClr val="tx2"/>
              </a:buClr>
            </a:pPr>
            <a:r>
              <a:rPr lang="zh-TW" altLang="en-US" sz="1400" b="1">
                <a:solidFill>
                  <a:schemeClr val="tx1"/>
                </a:solidFill>
                <a:latin typeface="Trebuchet MS" panose="020B0603020202020204" pitchFamily="34" charset="0"/>
                <a:ea typeface="Microsoft YaHei" panose="020B0503020204020204" pitchFamily="34" charset="-122"/>
              </a:rPr>
              <a:t>帳戶申請完成後，立即觸發客戶各項任務</a:t>
            </a:r>
            <a:r>
              <a:rPr lang="en-US" altLang="zh-TW" sz="1400" b="1">
                <a:solidFill>
                  <a:schemeClr val="tx1"/>
                </a:solidFill>
                <a:latin typeface="Trebuchet MS" panose="020B0603020202020204" pitchFamily="34" charset="0"/>
                <a:ea typeface="Microsoft YaHei" panose="020B0503020204020204" pitchFamily="34" charset="-122"/>
              </a:rPr>
              <a:t>(</a:t>
            </a:r>
            <a:r>
              <a:rPr lang="zh-TW" altLang="en-US" sz="1400" b="0">
                <a:solidFill>
                  <a:schemeClr val="tx1"/>
                </a:solidFill>
                <a:latin typeface="Trebuchet MS" panose="020B0603020202020204" pitchFamily="34" charset="0"/>
                <a:ea typeface="Microsoft YaHei" panose="020B0503020204020204" pitchFamily="34" charset="-122"/>
              </a:rPr>
              <a:t>包含</a:t>
            </a:r>
            <a:r>
              <a:rPr lang="en-US" altLang="zh-TW" sz="1400">
                <a:solidFill>
                  <a:schemeClr val="tx1"/>
                </a:solidFill>
                <a:latin typeface="Trebuchet MS" panose="020B0603020202020204" pitchFamily="34" charset="0"/>
                <a:ea typeface="Microsoft YaHei" panose="020B0503020204020204" pitchFamily="34" charset="-122"/>
              </a:rPr>
              <a:t>App</a:t>
            </a:r>
            <a:r>
              <a:rPr lang="zh-TW" altLang="en-US" sz="1400">
                <a:solidFill>
                  <a:schemeClr val="tx1"/>
                </a:solidFill>
                <a:latin typeface="Trebuchet MS" panose="020B0603020202020204" pitchFamily="34" charset="0"/>
                <a:ea typeface="Microsoft YaHei" panose="020B0503020204020204" pitchFamily="34" charset="-122"/>
              </a:rPr>
              <a:t>下載、開卡、支付綁定</a:t>
            </a:r>
            <a:r>
              <a:rPr lang="zh-TW" altLang="en-US" sz="1400" b="0">
                <a:solidFill>
                  <a:schemeClr val="tx1"/>
                </a:solidFill>
                <a:latin typeface="Trebuchet MS" panose="020B0603020202020204" pitchFamily="34" charset="0"/>
                <a:ea typeface="Microsoft YaHei" panose="020B0503020204020204" pitchFamily="34" charset="-122"/>
              </a:rPr>
              <a:t>等</a:t>
            </a:r>
            <a:r>
              <a:rPr lang="en-US" altLang="zh-TW" sz="1400" b="0">
                <a:solidFill>
                  <a:schemeClr val="tx1"/>
                </a:solidFill>
                <a:latin typeface="Trebuchet MS" panose="020B0603020202020204" pitchFamily="34" charset="0"/>
                <a:ea typeface="Microsoft YaHei" panose="020B0503020204020204" pitchFamily="34" charset="-122"/>
              </a:rPr>
              <a:t>)</a:t>
            </a:r>
            <a:r>
              <a:rPr lang="zh-TW" altLang="en-US" sz="1400" b="0">
                <a:solidFill>
                  <a:schemeClr val="tx1"/>
                </a:solidFill>
                <a:latin typeface="Trebuchet MS" panose="020B0603020202020204" pitchFamily="34" charset="0"/>
                <a:ea typeface="Microsoft YaHei" panose="020B0503020204020204" pitchFamily="34" charset="-122"/>
              </a:rPr>
              <a:t>，在客戶與台新往來熱度高的時候</a:t>
            </a:r>
            <a:r>
              <a:rPr lang="zh-TW" altLang="en-US" sz="1400">
                <a:solidFill>
                  <a:schemeClr val="tx1"/>
                </a:solidFill>
                <a:latin typeface="Trebuchet MS" panose="020B0603020202020204" pitchFamily="34" charset="0"/>
                <a:ea typeface="Microsoft YaHei" panose="020B0503020204020204" pitchFamily="34" charset="-122"/>
              </a:rPr>
              <a:t>，</a:t>
            </a:r>
            <a:r>
              <a:rPr lang="zh-TW" altLang="en-US" sz="1400" b="0">
                <a:solidFill>
                  <a:schemeClr val="tx1"/>
                </a:solidFill>
                <a:latin typeface="Trebuchet MS" panose="020B0603020202020204" pitchFamily="34" charset="0"/>
                <a:ea typeface="Microsoft YaHei" panose="020B0503020204020204" pitchFamily="34" charset="-122"/>
              </a:rPr>
              <a:t>請客戶盡早使用帳戶與綁定使用場景</a:t>
            </a:r>
            <a:endParaRPr lang="en-US" altLang="zh-TW" sz="1400" b="0">
              <a:solidFill>
                <a:schemeClr val="tx1"/>
              </a:solidFill>
              <a:latin typeface="Trebuchet MS" panose="020B0603020202020204" pitchFamily="34" charset="0"/>
              <a:ea typeface="Microsoft YaHei" panose="020B0503020204020204" pitchFamily="34" charset="-122"/>
            </a:endParaRPr>
          </a:p>
        </p:txBody>
      </p:sp>
      <p:sp>
        <p:nvSpPr>
          <p:cNvPr id="3" name="Rectangle 2">
            <a:extLst>
              <a:ext uri="{FF2B5EF4-FFF2-40B4-BE49-F238E27FC236}">
                <a16:creationId xmlns:a16="http://schemas.microsoft.com/office/drawing/2014/main" id="{8318599A-8125-15E3-3C62-E277F698BD82}"/>
              </a:ext>
            </a:extLst>
          </p:cNvPr>
          <p:cNvSpPr/>
          <p:nvPr/>
        </p:nvSpPr>
        <p:spPr>
          <a:xfrm>
            <a:off x="8313867" y="5678124"/>
            <a:ext cx="3249483" cy="462683"/>
          </a:xfrm>
          <a:prstGeom prst="rect">
            <a:avLst/>
          </a:prstGeom>
          <a:solidFill>
            <a:srgbClr val="EEE89A"/>
          </a:solidFill>
          <a:ln w="19050" cap="rnd" cmpd="sng" algn="ctr">
            <a:solidFill>
              <a:schemeClr val="accent3">
                <a:lumMod val="50000"/>
              </a:schemeClr>
            </a:solidFill>
            <a:prstDash val="sysDash"/>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108000" lvl="1">
              <a:buClr>
                <a:schemeClr val="tx2"/>
              </a:buClr>
            </a:pPr>
            <a:r>
              <a:rPr lang="zh-TW" altLang="en-US" sz="1400" b="0">
                <a:solidFill>
                  <a:schemeClr val="tx1"/>
                </a:solidFill>
                <a:latin typeface="Trebuchet MS" panose="020B0603020202020204" pitchFamily="34" charset="0"/>
                <a:ea typeface="Microsoft YaHei" panose="020B0503020204020204" pitchFamily="34" charset="-122"/>
              </a:rPr>
              <a:t>利用寄發金融卡文宣，</a:t>
            </a:r>
            <a:r>
              <a:rPr lang="zh-TW" altLang="en-US" sz="1400" b="1">
                <a:solidFill>
                  <a:schemeClr val="tx1"/>
                </a:solidFill>
                <a:latin typeface="Trebuchet MS" panose="020B0603020202020204" pitchFamily="34" charset="0"/>
                <a:ea typeface="Microsoft YaHei" panose="020B0503020204020204" pitchFamily="34" charset="-122"/>
              </a:rPr>
              <a:t>提醒關鍵數存優惠</a:t>
            </a:r>
            <a:r>
              <a:rPr lang="zh-TW" altLang="en-US" sz="1400" b="0">
                <a:solidFill>
                  <a:schemeClr val="tx1"/>
                </a:solidFill>
                <a:latin typeface="Trebuchet MS" panose="020B0603020202020204" pitchFamily="34" charset="0"/>
                <a:ea typeface="Microsoft YaHei" panose="020B0503020204020204" pitchFamily="34" charset="-122"/>
              </a:rPr>
              <a:t>並同步提供其他產品訊息</a:t>
            </a:r>
            <a:endParaRPr lang="en-US" altLang="zh-CN" sz="1400" b="0">
              <a:solidFill>
                <a:schemeClr val="tx1"/>
              </a:solidFill>
              <a:latin typeface="Trebuchet MS" panose="020B0603020202020204" pitchFamily="34" charset="0"/>
              <a:ea typeface="Microsoft YaHei" panose="020B0503020204020204" pitchFamily="34" charset="-122"/>
            </a:endParaRPr>
          </a:p>
        </p:txBody>
      </p:sp>
      <p:sp>
        <p:nvSpPr>
          <p:cNvPr id="4" name="Oval 20">
            <a:extLst>
              <a:ext uri="{FF2B5EF4-FFF2-40B4-BE49-F238E27FC236}">
                <a16:creationId xmlns:a16="http://schemas.microsoft.com/office/drawing/2014/main" id="{0D9F7FB2-3251-B825-6233-65AB36F52F77}"/>
              </a:ext>
            </a:extLst>
          </p:cNvPr>
          <p:cNvSpPr>
            <a:spLocks noChangeAspect="1" noChangeArrowheads="1"/>
          </p:cNvSpPr>
          <p:nvPr/>
        </p:nvSpPr>
        <p:spPr bwMode="auto">
          <a:xfrm>
            <a:off x="186544" y="98006"/>
            <a:ext cx="299290" cy="299290"/>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zh-TW" altLang="en-US" sz="1200">
                <a:solidFill>
                  <a:schemeClr val="bg1"/>
                </a:solidFill>
                <a:ea typeface="Microsoft YaHei" panose="020B0503020204020204" pitchFamily="34" charset="-122"/>
              </a:rPr>
              <a:t>２</a:t>
            </a:r>
            <a:endParaRPr lang="en-US" sz="1200">
              <a:solidFill>
                <a:schemeClr val="bg1"/>
              </a:solidFill>
              <a:ea typeface="Microsoft YaHei" panose="020B0503020204020204" pitchFamily="34" charset="-122"/>
            </a:endParaRPr>
          </a:p>
        </p:txBody>
      </p:sp>
      <p:sp>
        <p:nvSpPr>
          <p:cNvPr id="5" name="TextBox 4">
            <a:extLst>
              <a:ext uri="{FF2B5EF4-FFF2-40B4-BE49-F238E27FC236}">
                <a16:creationId xmlns:a16="http://schemas.microsoft.com/office/drawing/2014/main" id="{5EC74F60-C639-55DA-9886-89B62EB0D151}"/>
              </a:ext>
            </a:extLst>
          </p:cNvPr>
          <p:cNvSpPr txBox="1"/>
          <p:nvPr/>
        </p:nvSpPr>
        <p:spPr>
          <a:xfrm>
            <a:off x="490697" y="128208"/>
            <a:ext cx="2217333" cy="276999"/>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a:spAutoFit/>
          </a:bodyPr>
          <a:lstStyle/>
          <a:p>
            <a:r>
              <a:rPr lang="zh-TW" altLang="en-US" sz="1200">
                <a:solidFill>
                  <a:srgbClr val="575757"/>
                </a:solidFill>
                <a:latin typeface="Trebuchet MS" panose="020B0603020202020204" pitchFamily="34" charset="0"/>
                <a:ea typeface="Microsoft YaHei" panose="020B0503020204020204" pitchFamily="34" charset="-122"/>
              </a:rPr>
              <a:t>優化新戶啟動計畫</a:t>
            </a:r>
            <a:endParaRPr lang="en-US" sz="1200">
              <a:solidFill>
                <a:srgbClr val="575757"/>
              </a:solidFill>
              <a:ea typeface="Microsoft YaHei" panose="020B0503020204020204" pitchFamily="34" charset="-122"/>
            </a:endParaRPr>
          </a:p>
        </p:txBody>
      </p:sp>
    </p:spTree>
    <p:extLst>
      <p:ext uri="{BB962C8B-B14F-4D97-AF65-F5344CB8AC3E}">
        <p14:creationId xmlns:p14="http://schemas.microsoft.com/office/powerpoint/2010/main" val="216530428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7F0DD2D7-D875-D237-FB4F-1D5223A0613B}"/>
              </a:ext>
            </a:extLst>
          </p:cNvPr>
          <p:cNvGraphicFramePr>
            <a:graphicFrameLocks noChangeAspect="1"/>
          </p:cNvGraphicFramePr>
          <p:nvPr>
            <p:custDataLst>
              <p:tags r:id="rId1"/>
            </p:custDataLst>
            <p:extLst>
              <p:ext uri="{D42A27DB-BD31-4B8C-83A1-F6EECF244321}">
                <p14:modId xmlns:p14="http://schemas.microsoft.com/office/powerpoint/2010/main" val="288904210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04" imgH="405" progId="TCLayout.ActiveDocument.1">
                  <p:embed/>
                </p:oleObj>
              </mc:Choice>
              <mc:Fallback>
                <p:oleObj name="think-cell Slide" r:id="rId9" imgW="404" imgH="405" progId="TCLayout.ActiveDocument.1">
                  <p:embed/>
                  <p:pic>
                    <p:nvPicPr>
                      <p:cNvPr id="3" name="think-cell data - do not delete" hidden="1">
                        <a:extLst>
                          <a:ext uri="{FF2B5EF4-FFF2-40B4-BE49-F238E27FC236}">
                            <a16:creationId xmlns:a16="http://schemas.microsoft.com/office/drawing/2014/main" id="{7F0DD2D7-D875-D237-FB4F-1D5223A0613B}"/>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A05B7022-DA49-E323-1C5E-61481EE9C1BA}"/>
              </a:ext>
            </a:extLst>
          </p:cNvPr>
          <p:cNvSpPr>
            <a:spLocks noGrp="1"/>
          </p:cNvSpPr>
          <p:nvPr>
            <p:ph type="title"/>
          </p:nvPr>
        </p:nvSpPr>
        <p:spPr>
          <a:xfrm>
            <a:off x="630000" y="622800"/>
            <a:ext cx="10933350" cy="664797"/>
          </a:xfrm>
        </p:spPr>
        <p:txBody>
          <a:bodyPr vert="horz"/>
          <a:lstStyle/>
          <a:p>
            <a:r>
              <a:rPr lang="zh-TW" altLang="en-US">
                <a:ea typeface="Microsoft YaHei" panose="020B0503020204020204" pitchFamily="34" charset="-122"/>
              </a:rPr>
              <a:t>凱基新戶啟動主要在新戶收到金融卡後發送單頁</a:t>
            </a:r>
            <a:r>
              <a:rPr lang="en-US" altLang="zh-TW">
                <a:ea typeface="Microsoft YaHei" panose="020B0503020204020204" pitchFamily="34" charset="-122"/>
              </a:rPr>
              <a:t>EDM</a:t>
            </a:r>
            <a:r>
              <a:rPr lang="zh-TW" altLang="en-US">
                <a:ea typeface="Microsoft YaHei" panose="020B0503020204020204" pitchFamily="34" charset="-122"/>
              </a:rPr>
              <a:t>，未事先積極引導客戶使用</a:t>
            </a:r>
            <a:r>
              <a:rPr lang="en-US" altLang="zh-TW">
                <a:ea typeface="Microsoft YaHei" panose="020B0503020204020204" pitchFamily="34" charset="-122"/>
              </a:rPr>
              <a:t>APP</a:t>
            </a:r>
            <a:r>
              <a:rPr lang="zh-TW" altLang="en-US">
                <a:ea typeface="Microsoft YaHei" panose="020B0503020204020204" pitchFamily="34" charset="-122"/>
              </a:rPr>
              <a:t>，亦無提供關鍵鉤子產品優惠資訊啟動客戶</a:t>
            </a:r>
            <a:endParaRPr lang="en-US">
              <a:ea typeface="Microsoft YaHei" panose="020B0503020204020204" pitchFamily="34" charset="-122"/>
            </a:endParaRPr>
          </a:p>
        </p:txBody>
      </p:sp>
      <p:cxnSp>
        <p:nvCxnSpPr>
          <p:cNvPr id="5" name="Straight Arrow Connector 4">
            <a:extLst>
              <a:ext uri="{FF2B5EF4-FFF2-40B4-BE49-F238E27FC236}">
                <a16:creationId xmlns:a16="http://schemas.microsoft.com/office/drawing/2014/main" id="{B6FED9DD-13DD-D1C6-827D-6C1256AA86FA}"/>
              </a:ext>
            </a:extLst>
          </p:cNvPr>
          <p:cNvCxnSpPr>
            <a:cxnSpLocks/>
          </p:cNvCxnSpPr>
          <p:nvPr/>
        </p:nvCxnSpPr>
        <p:spPr>
          <a:xfrm>
            <a:off x="1085713" y="2030290"/>
            <a:ext cx="7258187" cy="0"/>
          </a:xfrm>
          <a:prstGeom prst="straightConnector1">
            <a:avLst/>
          </a:prstGeom>
          <a:ln w="19050" cap="rnd">
            <a:solidFill>
              <a:schemeClr val="tx1">
                <a:lumMod val="60000"/>
                <a:lumOff val="40000"/>
              </a:schemeClr>
            </a:solidFill>
            <a:prstDash val="sysDash"/>
            <a:round/>
            <a:tailEnd type="triangle"/>
          </a:ln>
        </p:spPr>
        <p:style>
          <a:lnRef idx="1">
            <a:schemeClr val="accent1"/>
          </a:lnRef>
          <a:fillRef idx="0">
            <a:schemeClr val="accent1"/>
          </a:fillRef>
          <a:effectRef idx="0">
            <a:schemeClr val="accent1"/>
          </a:effectRef>
          <a:fontRef idx="minor">
            <a:schemeClr val="tx1"/>
          </a:fontRef>
        </p:style>
      </p:cxnSp>
      <p:sp>
        <p:nvSpPr>
          <p:cNvPr id="6" name="Isosceles Triangle 5">
            <a:extLst>
              <a:ext uri="{FF2B5EF4-FFF2-40B4-BE49-F238E27FC236}">
                <a16:creationId xmlns:a16="http://schemas.microsoft.com/office/drawing/2014/main" id="{9F592A47-63D8-A9A2-69B6-F7164E9CE439}"/>
              </a:ext>
            </a:extLst>
          </p:cNvPr>
          <p:cNvSpPr/>
          <p:nvPr/>
        </p:nvSpPr>
        <p:spPr>
          <a:xfrm>
            <a:off x="1794510" y="1945517"/>
            <a:ext cx="190499" cy="164223"/>
          </a:xfrm>
          <a:prstGeom prst="triangle">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a typeface="Microsoft YaHei" panose="020B0503020204020204" pitchFamily="34" charset="-122"/>
            </a:endParaRPr>
          </a:p>
        </p:txBody>
      </p:sp>
      <p:sp>
        <p:nvSpPr>
          <p:cNvPr id="7" name="TextBox 6">
            <a:extLst>
              <a:ext uri="{FF2B5EF4-FFF2-40B4-BE49-F238E27FC236}">
                <a16:creationId xmlns:a16="http://schemas.microsoft.com/office/drawing/2014/main" id="{38D92861-27B9-748D-F600-DEAEF4CAC2C4}"/>
              </a:ext>
            </a:extLst>
          </p:cNvPr>
          <p:cNvSpPr txBox="1"/>
          <p:nvPr/>
        </p:nvSpPr>
        <p:spPr>
          <a:xfrm>
            <a:off x="1516380" y="2230360"/>
            <a:ext cx="746760" cy="266694"/>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a:solidFill>
                  <a:srgbClr val="29BA74"/>
                </a:solidFill>
                <a:ea typeface="Microsoft YaHei" panose="020B0503020204020204" pitchFamily="34" charset="-122"/>
              </a:rPr>
              <a:t>Day 0</a:t>
            </a:r>
          </a:p>
        </p:txBody>
      </p:sp>
      <p:sp>
        <p:nvSpPr>
          <p:cNvPr id="8" name="TextBox 7">
            <a:extLst>
              <a:ext uri="{FF2B5EF4-FFF2-40B4-BE49-F238E27FC236}">
                <a16:creationId xmlns:a16="http://schemas.microsoft.com/office/drawing/2014/main" id="{50C51234-799E-6E2C-4E7F-8D279DFDDBA0}"/>
              </a:ext>
            </a:extLst>
          </p:cNvPr>
          <p:cNvSpPr txBox="1"/>
          <p:nvPr/>
        </p:nvSpPr>
        <p:spPr>
          <a:xfrm>
            <a:off x="528270" y="1479502"/>
            <a:ext cx="2816910" cy="266694"/>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zh-TW" altLang="en-US" sz="1600" b="1">
                <a:solidFill>
                  <a:srgbClr val="575757"/>
                </a:solidFill>
                <a:latin typeface="Microsoft YaHei" panose="020B0503020204020204" pitchFamily="34" charset="-122"/>
                <a:ea typeface="Microsoft YaHei" panose="020B0503020204020204" pitchFamily="34" charset="-122"/>
              </a:rPr>
              <a:t>凱基數存新戶啟動計畫</a:t>
            </a:r>
            <a:endParaRPr lang="en-US" sz="1600" b="1">
              <a:solidFill>
                <a:srgbClr val="575757"/>
              </a:solidFill>
              <a:latin typeface="Microsoft YaHei" panose="020B0503020204020204" pitchFamily="34" charset="-122"/>
              <a:ea typeface="Microsoft YaHei" panose="020B0503020204020204" pitchFamily="34" charset="-122"/>
            </a:endParaRPr>
          </a:p>
        </p:txBody>
      </p:sp>
      <p:sp>
        <p:nvSpPr>
          <p:cNvPr id="9" name="TextBox 8">
            <a:extLst>
              <a:ext uri="{FF2B5EF4-FFF2-40B4-BE49-F238E27FC236}">
                <a16:creationId xmlns:a16="http://schemas.microsoft.com/office/drawing/2014/main" id="{53813A50-58E2-0CEB-19E7-CA1C605471A7}"/>
              </a:ext>
            </a:extLst>
          </p:cNvPr>
          <p:cNvSpPr txBox="1"/>
          <p:nvPr/>
        </p:nvSpPr>
        <p:spPr>
          <a:xfrm>
            <a:off x="464526" y="2835190"/>
            <a:ext cx="610189" cy="735478"/>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400" b="1">
                <a:solidFill>
                  <a:srgbClr val="03522D"/>
                </a:solidFill>
                <a:latin typeface="Microsoft YaHei" panose="020B0503020204020204" pitchFamily="34" charset="-122"/>
                <a:ea typeface="Microsoft YaHei" panose="020B0503020204020204" pitchFamily="34" charset="-122"/>
              </a:rPr>
              <a:t>訊息</a:t>
            </a:r>
            <a:endParaRPr lang="en-US" sz="1400" b="1">
              <a:solidFill>
                <a:srgbClr val="03522D"/>
              </a:solidFill>
              <a:latin typeface="Microsoft YaHei" panose="020B0503020204020204" pitchFamily="34" charset="-122"/>
              <a:ea typeface="Microsoft YaHei" panose="020B0503020204020204" pitchFamily="34" charset="-122"/>
            </a:endParaRPr>
          </a:p>
        </p:txBody>
      </p:sp>
      <p:sp>
        <p:nvSpPr>
          <p:cNvPr id="10" name="TextBox 9">
            <a:extLst>
              <a:ext uri="{FF2B5EF4-FFF2-40B4-BE49-F238E27FC236}">
                <a16:creationId xmlns:a16="http://schemas.microsoft.com/office/drawing/2014/main" id="{42B51FDB-5B74-9F0E-BE04-6FA7AAC47D95}"/>
              </a:ext>
            </a:extLst>
          </p:cNvPr>
          <p:cNvSpPr txBox="1"/>
          <p:nvPr/>
        </p:nvSpPr>
        <p:spPr>
          <a:xfrm>
            <a:off x="464526" y="3955852"/>
            <a:ext cx="610189" cy="55323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400" b="1">
                <a:solidFill>
                  <a:srgbClr val="03522D"/>
                </a:solidFill>
                <a:latin typeface="Microsoft YaHei" panose="020B0503020204020204" pitchFamily="34" charset="-122"/>
                <a:ea typeface="Microsoft YaHei" panose="020B0503020204020204" pitchFamily="34" charset="-122"/>
              </a:rPr>
              <a:t>目的</a:t>
            </a:r>
            <a:endParaRPr lang="en-US" altLang="zh-TW" sz="1400" b="1">
              <a:solidFill>
                <a:srgbClr val="03522D"/>
              </a:solidFill>
              <a:latin typeface="Microsoft YaHei" panose="020B0503020204020204" pitchFamily="34" charset="-122"/>
              <a:ea typeface="Microsoft YaHei" panose="020B0503020204020204" pitchFamily="34" charset="-122"/>
            </a:endParaRPr>
          </a:p>
        </p:txBody>
      </p:sp>
      <p:cxnSp>
        <p:nvCxnSpPr>
          <p:cNvPr id="11" name="Straight Connector 10">
            <a:extLst>
              <a:ext uri="{FF2B5EF4-FFF2-40B4-BE49-F238E27FC236}">
                <a16:creationId xmlns:a16="http://schemas.microsoft.com/office/drawing/2014/main" id="{C882034C-0A60-1A53-69D2-B5F9DDDEBDFB}"/>
              </a:ext>
            </a:extLst>
          </p:cNvPr>
          <p:cNvCxnSpPr>
            <a:cxnSpLocks/>
          </p:cNvCxnSpPr>
          <p:nvPr/>
        </p:nvCxnSpPr>
        <p:spPr>
          <a:xfrm>
            <a:off x="1055340" y="2835190"/>
            <a:ext cx="0" cy="735478"/>
          </a:xfrm>
          <a:prstGeom prst="line">
            <a:avLst/>
          </a:prstGeom>
          <a:ln w="9525" cap="rnd">
            <a:solidFill>
              <a:schemeClr val="accent1"/>
            </a:solidFill>
            <a:prstDash val="solid"/>
            <a:round/>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F4489B14-9DEA-C761-771D-C71851ABB953}"/>
              </a:ext>
            </a:extLst>
          </p:cNvPr>
          <p:cNvCxnSpPr>
            <a:cxnSpLocks/>
          </p:cNvCxnSpPr>
          <p:nvPr/>
        </p:nvCxnSpPr>
        <p:spPr>
          <a:xfrm>
            <a:off x="1055340" y="3570242"/>
            <a:ext cx="0" cy="1242060"/>
          </a:xfrm>
          <a:prstGeom prst="line">
            <a:avLst/>
          </a:prstGeom>
          <a:ln w="9525" cap="rnd">
            <a:solidFill>
              <a:schemeClr val="accent1"/>
            </a:solidFill>
            <a:prstDash val="solid"/>
            <a:round/>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013BFBA1-BA13-AA2B-9F2F-A081B7D338ED}"/>
              </a:ext>
            </a:extLst>
          </p:cNvPr>
          <p:cNvSpPr txBox="1"/>
          <p:nvPr/>
        </p:nvSpPr>
        <p:spPr>
          <a:xfrm>
            <a:off x="1129582" y="2835190"/>
            <a:ext cx="1590758" cy="735478"/>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altLang="zh-TW" sz="1400">
                <a:solidFill>
                  <a:srgbClr val="575757"/>
                </a:solidFill>
                <a:latin typeface="Microsoft YaHei" panose="020B0503020204020204" pitchFamily="34" charset="-122"/>
                <a:ea typeface="Microsoft YaHei" panose="020B0503020204020204" pitchFamily="34" charset="-122"/>
              </a:rPr>
              <a:t>"</a:t>
            </a:r>
            <a:r>
              <a:rPr lang="zh-TW" altLang="en-US" sz="1400">
                <a:solidFill>
                  <a:srgbClr val="575757"/>
                </a:solidFill>
                <a:latin typeface="Microsoft YaHei" panose="020B0503020204020204" pitchFamily="34" charset="-122"/>
                <a:ea typeface="Microsoft YaHei" panose="020B0503020204020204" pitchFamily="34" charset="-122"/>
              </a:rPr>
              <a:t>帳戶申請完成，已進入作業流程</a:t>
            </a:r>
            <a:r>
              <a:rPr lang="en-US" altLang="zh-TW" sz="1400">
                <a:solidFill>
                  <a:srgbClr val="575757"/>
                </a:solidFill>
                <a:latin typeface="Microsoft YaHei" panose="020B0503020204020204" pitchFamily="34" charset="-122"/>
                <a:ea typeface="Microsoft YaHei" panose="020B0503020204020204" pitchFamily="34" charset="-122"/>
              </a:rPr>
              <a:t>"</a:t>
            </a:r>
          </a:p>
          <a:p>
            <a:endParaRPr lang="en-US" sz="1400">
              <a:solidFill>
                <a:srgbClr val="575757"/>
              </a:solidFill>
              <a:latin typeface="Microsoft YaHei" panose="020B0503020204020204" pitchFamily="34" charset="-122"/>
              <a:ea typeface="Microsoft YaHei" panose="020B0503020204020204" pitchFamily="34" charset="-122"/>
            </a:endParaRPr>
          </a:p>
        </p:txBody>
      </p:sp>
      <p:sp>
        <p:nvSpPr>
          <p:cNvPr id="14" name="TextBox 13">
            <a:extLst>
              <a:ext uri="{FF2B5EF4-FFF2-40B4-BE49-F238E27FC236}">
                <a16:creationId xmlns:a16="http://schemas.microsoft.com/office/drawing/2014/main" id="{55BD894B-BCD3-813E-D3CC-736BDBD9CE9D}"/>
              </a:ext>
            </a:extLst>
          </p:cNvPr>
          <p:cNvSpPr txBox="1"/>
          <p:nvPr/>
        </p:nvSpPr>
        <p:spPr>
          <a:xfrm>
            <a:off x="1129582" y="3662110"/>
            <a:ext cx="1590758" cy="1086179"/>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altLang="zh-TW" sz="1400" b="1">
                <a:solidFill>
                  <a:srgbClr val="29BA74"/>
                </a:solidFill>
                <a:latin typeface="Microsoft YaHei" panose="020B0503020204020204" pitchFamily="34" charset="-122"/>
                <a:ea typeface="Microsoft YaHei" panose="020B0503020204020204" pitchFamily="34" charset="-122"/>
              </a:rPr>
              <a:t>[</a:t>
            </a:r>
            <a:r>
              <a:rPr lang="zh-TW" altLang="en-US" sz="1400" b="1">
                <a:solidFill>
                  <a:srgbClr val="29BA74"/>
                </a:solidFill>
                <a:latin typeface="Microsoft YaHei" panose="020B0503020204020204" pitchFamily="34" charset="-122"/>
                <a:ea typeface="Microsoft YaHei" panose="020B0503020204020204" pitchFamily="34" charset="-122"/>
              </a:rPr>
              <a:t>提醒申請完成</a:t>
            </a:r>
            <a:r>
              <a:rPr lang="en-US" altLang="zh-TW" sz="1400" b="1">
                <a:solidFill>
                  <a:srgbClr val="29BA74"/>
                </a:solidFill>
                <a:latin typeface="Microsoft YaHei" panose="020B0503020204020204" pitchFamily="34" charset="-122"/>
                <a:ea typeface="Microsoft YaHei" panose="020B0503020204020204" pitchFamily="34" charset="-122"/>
              </a:rPr>
              <a:t>]</a:t>
            </a:r>
          </a:p>
          <a:p>
            <a:r>
              <a:rPr lang="zh-TW" altLang="en-US" sz="1400">
                <a:solidFill>
                  <a:srgbClr val="575757"/>
                </a:solidFill>
                <a:latin typeface="Microsoft YaHei" panose="020B0503020204020204" pitchFamily="34" charset="-122"/>
                <a:ea typeface="Microsoft YaHei" panose="020B0503020204020204" pitchFamily="34" charset="-122"/>
              </a:rPr>
              <a:t>提醒客戶已申請完畢</a:t>
            </a:r>
            <a:endParaRPr lang="en-US" altLang="zh-TW" sz="1400">
              <a:solidFill>
                <a:srgbClr val="575757"/>
              </a:solidFill>
              <a:latin typeface="Microsoft YaHei" panose="020B0503020204020204" pitchFamily="34" charset="-122"/>
              <a:ea typeface="Microsoft YaHei" panose="020B0503020204020204" pitchFamily="34" charset="-122"/>
            </a:endParaRPr>
          </a:p>
        </p:txBody>
      </p:sp>
      <p:sp>
        <p:nvSpPr>
          <p:cNvPr id="16" name="TextBox 15">
            <a:extLst>
              <a:ext uri="{FF2B5EF4-FFF2-40B4-BE49-F238E27FC236}">
                <a16:creationId xmlns:a16="http://schemas.microsoft.com/office/drawing/2014/main" id="{F2B3180D-5DE2-B401-D817-797D1950067F}"/>
              </a:ext>
            </a:extLst>
          </p:cNvPr>
          <p:cNvSpPr txBox="1"/>
          <p:nvPr/>
        </p:nvSpPr>
        <p:spPr>
          <a:xfrm>
            <a:off x="3373624" y="2257728"/>
            <a:ext cx="746760" cy="266694"/>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a:solidFill>
                  <a:srgbClr val="29BA74"/>
                </a:solidFill>
                <a:ea typeface="Microsoft YaHei" panose="020B0503020204020204" pitchFamily="34" charset="-122"/>
              </a:rPr>
              <a:t>Day 1</a:t>
            </a:r>
          </a:p>
        </p:txBody>
      </p:sp>
      <p:sp>
        <p:nvSpPr>
          <p:cNvPr id="17" name="TextBox 16">
            <a:extLst>
              <a:ext uri="{FF2B5EF4-FFF2-40B4-BE49-F238E27FC236}">
                <a16:creationId xmlns:a16="http://schemas.microsoft.com/office/drawing/2014/main" id="{94B5364C-5F6B-2DF0-1476-121D1DBC53CC}"/>
              </a:ext>
            </a:extLst>
          </p:cNvPr>
          <p:cNvSpPr txBox="1"/>
          <p:nvPr/>
        </p:nvSpPr>
        <p:spPr>
          <a:xfrm>
            <a:off x="2260991" y="1990998"/>
            <a:ext cx="923979" cy="266694"/>
          </a:xfrm>
          <a:prstGeom prst="rect">
            <a:avLst/>
          </a:prstGeom>
          <a:solidFill>
            <a:srgbClr val="FFFFFF"/>
          </a:solid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zh-TW" sz="1400">
                <a:solidFill>
                  <a:srgbClr val="575757"/>
                </a:solidFill>
                <a:ea typeface="Microsoft YaHei" panose="020B0503020204020204" pitchFamily="34" charset="-122"/>
              </a:rPr>
              <a:t>4</a:t>
            </a:r>
            <a:r>
              <a:rPr lang="zh-TW" altLang="en-US" sz="1400">
                <a:solidFill>
                  <a:srgbClr val="575757"/>
                </a:solidFill>
                <a:ea typeface="Microsoft YaHei" panose="020B0503020204020204" pitchFamily="34" charset="-122"/>
              </a:rPr>
              <a:t>小時審核完成</a:t>
            </a:r>
            <a:endParaRPr lang="en-US" sz="1400">
              <a:solidFill>
                <a:srgbClr val="575757"/>
              </a:solidFill>
              <a:ea typeface="Microsoft YaHei" panose="020B0503020204020204" pitchFamily="34" charset="-122"/>
            </a:endParaRPr>
          </a:p>
        </p:txBody>
      </p:sp>
      <p:sp>
        <p:nvSpPr>
          <p:cNvPr id="18" name="TextBox 17">
            <a:extLst>
              <a:ext uri="{FF2B5EF4-FFF2-40B4-BE49-F238E27FC236}">
                <a16:creationId xmlns:a16="http://schemas.microsoft.com/office/drawing/2014/main" id="{531502A7-0923-5ABF-B7AF-E3408FC56924}"/>
              </a:ext>
            </a:extLst>
          </p:cNvPr>
          <p:cNvSpPr txBox="1"/>
          <p:nvPr/>
        </p:nvSpPr>
        <p:spPr>
          <a:xfrm>
            <a:off x="3012242" y="2835190"/>
            <a:ext cx="1694205" cy="735478"/>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altLang="zh-TW" sz="1400">
                <a:solidFill>
                  <a:srgbClr val="575757"/>
                </a:solidFill>
                <a:latin typeface="Microsoft YaHei" panose="020B0503020204020204" pitchFamily="34" charset="-122"/>
                <a:ea typeface="Microsoft YaHei" panose="020B0503020204020204" pitchFamily="34" charset="-122"/>
              </a:rPr>
              <a:t>"</a:t>
            </a:r>
            <a:r>
              <a:rPr lang="zh-TW" altLang="en-US" sz="1400">
                <a:solidFill>
                  <a:srgbClr val="575757"/>
                </a:solidFill>
                <a:latin typeface="Microsoft YaHei" panose="020B0503020204020204" pitchFamily="34" charset="-122"/>
                <a:ea typeface="Microsoft YaHei" panose="020B0503020204020204" pitchFamily="34" charset="-122"/>
              </a:rPr>
              <a:t>感謝您申辦，提醒您收到金融卡盡快啟用開卡步驟</a:t>
            </a:r>
            <a:r>
              <a:rPr lang="en-US" altLang="zh-TW" sz="1400">
                <a:solidFill>
                  <a:srgbClr val="575757"/>
                </a:solidFill>
                <a:latin typeface="Microsoft YaHei" panose="020B0503020204020204" pitchFamily="34" charset="-122"/>
                <a:ea typeface="Microsoft YaHei" panose="020B0503020204020204" pitchFamily="34" charset="-122"/>
              </a:rPr>
              <a:t>"</a:t>
            </a:r>
          </a:p>
          <a:p>
            <a:endParaRPr lang="en-US" sz="1400">
              <a:solidFill>
                <a:srgbClr val="575757"/>
              </a:solidFill>
              <a:latin typeface="Microsoft YaHei" panose="020B0503020204020204" pitchFamily="34" charset="-122"/>
              <a:ea typeface="Microsoft YaHei" panose="020B0503020204020204" pitchFamily="34" charset="-122"/>
            </a:endParaRPr>
          </a:p>
        </p:txBody>
      </p:sp>
      <p:grpSp>
        <p:nvGrpSpPr>
          <p:cNvPr id="19" name="Group 18">
            <a:extLst>
              <a:ext uri="{FF2B5EF4-FFF2-40B4-BE49-F238E27FC236}">
                <a16:creationId xmlns:a16="http://schemas.microsoft.com/office/drawing/2014/main" id="{A9E789C9-9E89-E7D5-CD52-BB56295346C4}"/>
              </a:ext>
            </a:extLst>
          </p:cNvPr>
          <p:cNvGrpSpPr/>
          <p:nvPr/>
        </p:nvGrpSpPr>
        <p:grpSpPr>
          <a:xfrm>
            <a:off x="7306368" y="1783471"/>
            <a:ext cx="442744" cy="443154"/>
            <a:chOff x="5183421" y="2515576"/>
            <a:chExt cx="617160" cy="617732"/>
          </a:xfrm>
        </p:grpSpPr>
        <p:sp>
          <p:nvSpPr>
            <p:cNvPr id="20" name="Oval 19">
              <a:extLst>
                <a:ext uri="{FF2B5EF4-FFF2-40B4-BE49-F238E27FC236}">
                  <a16:creationId xmlns:a16="http://schemas.microsoft.com/office/drawing/2014/main" id="{303099AF-340A-82E9-81CF-A6F254678FA0}"/>
                </a:ext>
              </a:extLst>
            </p:cNvPr>
            <p:cNvSpPr/>
            <p:nvPr>
              <p:custDataLst>
                <p:tags r:id="rId6"/>
              </p:custDataLst>
            </p:nvPr>
          </p:nvSpPr>
          <p:spPr>
            <a:xfrm>
              <a:off x="5183421" y="2515576"/>
              <a:ext cx="617160" cy="617732"/>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a:solidFill>
                  <a:schemeClr val="bg1">
                    <a:lumMod val="50000"/>
                  </a:schemeClr>
                </a:solidFill>
                <a:ea typeface="Microsoft YaHei" panose="020B0503020204020204" pitchFamily="34" charset="-122"/>
              </a:endParaRPr>
            </a:p>
          </p:txBody>
        </p:sp>
        <p:grpSp>
          <p:nvGrpSpPr>
            <p:cNvPr id="21" name="bcgIcons_Speaking ">
              <a:extLst>
                <a:ext uri="{FF2B5EF4-FFF2-40B4-BE49-F238E27FC236}">
                  <a16:creationId xmlns:a16="http://schemas.microsoft.com/office/drawing/2014/main" id="{FC0D4E5B-58ED-ABB9-77DB-01DBBD569CC1}"/>
                </a:ext>
              </a:extLst>
            </p:cNvPr>
            <p:cNvGrpSpPr>
              <a:grpSpLocks noChangeAspect="1"/>
            </p:cNvGrpSpPr>
            <p:nvPr/>
          </p:nvGrpSpPr>
          <p:grpSpPr>
            <a:xfrm>
              <a:off x="5273802" y="2606041"/>
              <a:ext cx="436398" cy="436802"/>
              <a:chOff x="5273801" y="2606040"/>
              <a:chExt cx="1644396" cy="1645920"/>
            </a:xfrm>
          </p:grpSpPr>
          <p:sp>
            <p:nvSpPr>
              <p:cNvPr id="22" name="AutoShape 18">
                <a:extLst>
                  <a:ext uri="{FF2B5EF4-FFF2-40B4-BE49-F238E27FC236}">
                    <a16:creationId xmlns:a16="http://schemas.microsoft.com/office/drawing/2014/main" id="{17DD3C1B-0F0B-28E7-1857-3307CE57F317}"/>
                  </a:ext>
                </a:extLst>
              </p:cNvPr>
              <p:cNvSpPr>
                <a:spLocks noChangeAspect="1" noChangeArrowheads="1" noTextEdit="1"/>
              </p:cNvSpPr>
              <p:nvPr/>
            </p:nvSpPr>
            <p:spPr bwMode="auto">
              <a:xfrm>
                <a:off x="5273801" y="2606040"/>
                <a:ext cx="1644396" cy="1645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23" name="Group 22">
                <a:extLst>
                  <a:ext uri="{FF2B5EF4-FFF2-40B4-BE49-F238E27FC236}">
                    <a16:creationId xmlns:a16="http://schemas.microsoft.com/office/drawing/2014/main" id="{96FC9337-A2CD-6411-C9F1-A106A2FD0FD4}"/>
                  </a:ext>
                </a:extLst>
              </p:cNvPr>
              <p:cNvGrpSpPr/>
              <p:nvPr/>
            </p:nvGrpSpPr>
            <p:grpSpPr>
              <a:xfrm>
                <a:off x="5388863" y="2953131"/>
                <a:ext cx="1409319" cy="967359"/>
                <a:chOff x="5388863" y="2953131"/>
                <a:chExt cx="1409319" cy="967359"/>
              </a:xfrm>
            </p:grpSpPr>
            <p:sp>
              <p:nvSpPr>
                <p:cNvPr id="24" name="Freeform 20">
                  <a:extLst>
                    <a:ext uri="{FF2B5EF4-FFF2-40B4-BE49-F238E27FC236}">
                      <a16:creationId xmlns:a16="http://schemas.microsoft.com/office/drawing/2014/main" id="{9E2CF583-C0AA-2A7A-BF5E-327D0CCA4F9E}"/>
                    </a:ext>
                  </a:extLst>
                </p:cNvPr>
                <p:cNvSpPr>
                  <a:spLocks noEditPoints="1"/>
                </p:cNvSpPr>
                <p:nvPr/>
              </p:nvSpPr>
              <p:spPr bwMode="auto">
                <a:xfrm>
                  <a:off x="5388863" y="3167634"/>
                  <a:ext cx="737235" cy="752856"/>
                </a:xfrm>
                <a:custGeom>
                  <a:avLst/>
                  <a:gdLst>
                    <a:gd name="T0" fmla="*/ 989 w 1033"/>
                    <a:gd name="T1" fmla="*/ 0 h 1054"/>
                    <a:gd name="T2" fmla="*/ 44 w 1033"/>
                    <a:gd name="T3" fmla="*/ 0 h 1054"/>
                    <a:gd name="T4" fmla="*/ 0 w 1033"/>
                    <a:gd name="T5" fmla="*/ 44 h 1054"/>
                    <a:gd name="T6" fmla="*/ 0 w 1033"/>
                    <a:gd name="T7" fmla="*/ 725 h 1054"/>
                    <a:gd name="T8" fmla="*/ 44 w 1033"/>
                    <a:gd name="T9" fmla="*/ 769 h 1054"/>
                    <a:gd name="T10" fmla="*/ 299 w 1033"/>
                    <a:gd name="T11" fmla="*/ 769 h 1054"/>
                    <a:gd name="T12" fmla="*/ 299 w 1033"/>
                    <a:gd name="T13" fmla="*/ 1010 h 1054"/>
                    <a:gd name="T14" fmla="*/ 300 w 1033"/>
                    <a:gd name="T15" fmla="*/ 1017 h 1054"/>
                    <a:gd name="T16" fmla="*/ 337 w 1033"/>
                    <a:gd name="T17" fmla="*/ 1053 h 1054"/>
                    <a:gd name="T18" fmla="*/ 347 w 1033"/>
                    <a:gd name="T19" fmla="*/ 1054 h 1054"/>
                    <a:gd name="T20" fmla="*/ 401 w 1033"/>
                    <a:gd name="T21" fmla="*/ 1026 h 1054"/>
                    <a:gd name="T22" fmla="*/ 469 w 1033"/>
                    <a:gd name="T23" fmla="*/ 951 h 1054"/>
                    <a:gd name="T24" fmla="*/ 637 w 1033"/>
                    <a:gd name="T25" fmla="*/ 769 h 1054"/>
                    <a:gd name="T26" fmla="*/ 989 w 1033"/>
                    <a:gd name="T27" fmla="*/ 769 h 1054"/>
                    <a:gd name="T28" fmla="*/ 1033 w 1033"/>
                    <a:gd name="T29" fmla="*/ 725 h 1054"/>
                    <a:gd name="T30" fmla="*/ 1033 w 1033"/>
                    <a:gd name="T31" fmla="*/ 44 h 1054"/>
                    <a:gd name="T32" fmla="*/ 989 w 1033"/>
                    <a:gd name="T33" fmla="*/ 0 h 1054"/>
                    <a:gd name="T34" fmla="*/ 832 w 1033"/>
                    <a:gd name="T35" fmla="*/ 552 h 1054"/>
                    <a:gd name="T36" fmla="*/ 201 w 1033"/>
                    <a:gd name="T37" fmla="*/ 552 h 1054"/>
                    <a:gd name="T38" fmla="*/ 179 w 1033"/>
                    <a:gd name="T39" fmla="*/ 530 h 1054"/>
                    <a:gd name="T40" fmla="*/ 201 w 1033"/>
                    <a:gd name="T41" fmla="*/ 508 h 1054"/>
                    <a:gd name="T42" fmla="*/ 832 w 1033"/>
                    <a:gd name="T43" fmla="*/ 508 h 1054"/>
                    <a:gd name="T44" fmla="*/ 854 w 1033"/>
                    <a:gd name="T45" fmla="*/ 530 h 1054"/>
                    <a:gd name="T46" fmla="*/ 832 w 1033"/>
                    <a:gd name="T47" fmla="*/ 552 h 1054"/>
                    <a:gd name="T48" fmla="*/ 832 w 1033"/>
                    <a:gd name="T49" fmla="*/ 415 h 1054"/>
                    <a:gd name="T50" fmla="*/ 201 w 1033"/>
                    <a:gd name="T51" fmla="*/ 415 h 1054"/>
                    <a:gd name="T52" fmla="*/ 179 w 1033"/>
                    <a:gd name="T53" fmla="*/ 393 h 1054"/>
                    <a:gd name="T54" fmla="*/ 201 w 1033"/>
                    <a:gd name="T55" fmla="*/ 371 h 1054"/>
                    <a:gd name="T56" fmla="*/ 832 w 1033"/>
                    <a:gd name="T57" fmla="*/ 371 h 1054"/>
                    <a:gd name="T58" fmla="*/ 854 w 1033"/>
                    <a:gd name="T59" fmla="*/ 393 h 1054"/>
                    <a:gd name="T60" fmla="*/ 832 w 1033"/>
                    <a:gd name="T61" fmla="*/ 415 h 1054"/>
                    <a:gd name="T62" fmla="*/ 832 w 1033"/>
                    <a:gd name="T63" fmla="*/ 279 h 1054"/>
                    <a:gd name="T64" fmla="*/ 201 w 1033"/>
                    <a:gd name="T65" fmla="*/ 279 h 1054"/>
                    <a:gd name="T66" fmla="*/ 179 w 1033"/>
                    <a:gd name="T67" fmla="*/ 257 h 1054"/>
                    <a:gd name="T68" fmla="*/ 201 w 1033"/>
                    <a:gd name="T69" fmla="*/ 235 h 1054"/>
                    <a:gd name="T70" fmla="*/ 832 w 1033"/>
                    <a:gd name="T71" fmla="*/ 235 h 1054"/>
                    <a:gd name="T72" fmla="*/ 854 w 1033"/>
                    <a:gd name="T73" fmla="*/ 257 h 1054"/>
                    <a:gd name="T74" fmla="*/ 832 w 1033"/>
                    <a:gd name="T75" fmla="*/ 279 h 1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33" h="1054">
                      <a:moveTo>
                        <a:pt x="989" y="0"/>
                      </a:moveTo>
                      <a:cubicBezTo>
                        <a:pt x="44" y="0"/>
                        <a:pt x="44" y="0"/>
                        <a:pt x="44" y="0"/>
                      </a:cubicBezTo>
                      <a:cubicBezTo>
                        <a:pt x="20" y="0"/>
                        <a:pt x="0" y="20"/>
                        <a:pt x="0" y="44"/>
                      </a:cubicBezTo>
                      <a:cubicBezTo>
                        <a:pt x="0" y="725"/>
                        <a:pt x="0" y="725"/>
                        <a:pt x="0" y="725"/>
                      </a:cubicBezTo>
                      <a:cubicBezTo>
                        <a:pt x="0" y="750"/>
                        <a:pt x="20" y="769"/>
                        <a:pt x="44" y="769"/>
                      </a:cubicBezTo>
                      <a:cubicBezTo>
                        <a:pt x="299" y="769"/>
                        <a:pt x="299" y="769"/>
                        <a:pt x="299" y="769"/>
                      </a:cubicBezTo>
                      <a:cubicBezTo>
                        <a:pt x="299" y="1010"/>
                        <a:pt x="299" y="1010"/>
                        <a:pt x="299" y="1010"/>
                      </a:cubicBezTo>
                      <a:cubicBezTo>
                        <a:pt x="299" y="1012"/>
                        <a:pt x="299" y="1015"/>
                        <a:pt x="300" y="1017"/>
                      </a:cubicBezTo>
                      <a:cubicBezTo>
                        <a:pt x="301" y="1020"/>
                        <a:pt x="311" y="1047"/>
                        <a:pt x="337" y="1053"/>
                      </a:cubicBezTo>
                      <a:cubicBezTo>
                        <a:pt x="341" y="1054"/>
                        <a:pt x="344" y="1054"/>
                        <a:pt x="347" y="1054"/>
                      </a:cubicBezTo>
                      <a:cubicBezTo>
                        <a:pt x="365" y="1054"/>
                        <a:pt x="383" y="1045"/>
                        <a:pt x="401" y="1026"/>
                      </a:cubicBezTo>
                      <a:cubicBezTo>
                        <a:pt x="414" y="1013"/>
                        <a:pt x="438" y="986"/>
                        <a:pt x="469" y="951"/>
                      </a:cubicBezTo>
                      <a:cubicBezTo>
                        <a:pt x="516" y="899"/>
                        <a:pt x="579" y="829"/>
                        <a:pt x="637" y="769"/>
                      </a:cubicBezTo>
                      <a:cubicBezTo>
                        <a:pt x="989" y="769"/>
                        <a:pt x="989" y="769"/>
                        <a:pt x="989" y="769"/>
                      </a:cubicBezTo>
                      <a:cubicBezTo>
                        <a:pt x="1013" y="769"/>
                        <a:pt x="1033" y="750"/>
                        <a:pt x="1033" y="725"/>
                      </a:cubicBezTo>
                      <a:cubicBezTo>
                        <a:pt x="1033" y="44"/>
                        <a:pt x="1033" y="44"/>
                        <a:pt x="1033" y="44"/>
                      </a:cubicBezTo>
                      <a:cubicBezTo>
                        <a:pt x="1033" y="20"/>
                        <a:pt x="1013" y="0"/>
                        <a:pt x="989" y="0"/>
                      </a:cubicBezTo>
                      <a:close/>
                      <a:moveTo>
                        <a:pt x="832" y="552"/>
                      </a:moveTo>
                      <a:cubicBezTo>
                        <a:pt x="201" y="552"/>
                        <a:pt x="201" y="552"/>
                        <a:pt x="201" y="552"/>
                      </a:cubicBezTo>
                      <a:cubicBezTo>
                        <a:pt x="189" y="552"/>
                        <a:pt x="179" y="543"/>
                        <a:pt x="179" y="530"/>
                      </a:cubicBezTo>
                      <a:cubicBezTo>
                        <a:pt x="179" y="518"/>
                        <a:pt x="189" y="508"/>
                        <a:pt x="201" y="508"/>
                      </a:cubicBezTo>
                      <a:cubicBezTo>
                        <a:pt x="832" y="508"/>
                        <a:pt x="832" y="508"/>
                        <a:pt x="832" y="508"/>
                      </a:cubicBezTo>
                      <a:cubicBezTo>
                        <a:pt x="844" y="508"/>
                        <a:pt x="854" y="518"/>
                        <a:pt x="854" y="530"/>
                      </a:cubicBezTo>
                      <a:cubicBezTo>
                        <a:pt x="854" y="543"/>
                        <a:pt x="844" y="552"/>
                        <a:pt x="832" y="552"/>
                      </a:cubicBezTo>
                      <a:close/>
                      <a:moveTo>
                        <a:pt x="832" y="415"/>
                      </a:moveTo>
                      <a:cubicBezTo>
                        <a:pt x="201" y="415"/>
                        <a:pt x="201" y="415"/>
                        <a:pt x="201" y="415"/>
                      </a:cubicBezTo>
                      <a:cubicBezTo>
                        <a:pt x="189" y="415"/>
                        <a:pt x="179" y="405"/>
                        <a:pt x="179" y="393"/>
                      </a:cubicBezTo>
                      <a:cubicBezTo>
                        <a:pt x="179" y="380"/>
                        <a:pt x="189" y="371"/>
                        <a:pt x="201" y="371"/>
                      </a:cubicBezTo>
                      <a:cubicBezTo>
                        <a:pt x="832" y="371"/>
                        <a:pt x="832" y="371"/>
                        <a:pt x="832" y="371"/>
                      </a:cubicBezTo>
                      <a:cubicBezTo>
                        <a:pt x="844" y="371"/>
                        <a:pt x="854" y="380"/>
                        <a:pt x="854" y="393"/>
                      </a:cubicBezTo>
                      <a:cubicBezTo>
                        <a:pt x="854" y="405"/>
                        <a:pt x="844" y="415"/>
                        <a:pt x="832" y="415"/>
                      </a:cubicBezTo>
                      <a:close/>
                      <a:moveTo>
                        <a:pt x="832" y="279"/>
                      </a:moveTo>
                      <a:cubicBezTo>
                        <a:pt x="201" y="279"/>
                        <a:pt x="201" y="279"/>
                        <a:pt x="201" y="279"/>
                      </a:cubicBezTo>
                      <a:cubicBezTo>
                        <a:pt x="189" y="279"/>
                        <a:pt x="179" y="269"/>
                        <a:pt x="179" y="257"/>
                      </a:cubicBezTo>
                      <a:cubicBezTo>
                        <a:pt x="179" y="245"/>
                        <a:pt x="189" y="235"/>
                        <a:pt x="201" y="235"/>
                      </a:cubicBezTo>
                      <a:cubicBezTo>
                        <a:pt x="832" y="235"/>
                        <a:pt x="832" y="235"/>
                        <a:pt x="832" y="235"/>
                      </a:cubicBezTo>
                      <a:cubicBezTo>
                        <a:pt x="844" y="235"/>
                        <a:pt x="854" y="245"/>
                        <a:pt x="854" y="257"/>
                      </a:cubicBezTo>
                      <a:cubicBezTo>
                        <a:pt x="854" y="269"/>
                        <a:pt x="844" y="279"/>
                        <a:pt x="832" y="279"/>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sp>
              <p:nvSpPr>
                <p:cNvPr id="25" name="Freeform 21">
                  <a:extLst>
                    <a:ext uri="{FF2B5EF4-FFF2-40B4-BE49-F238E27FC236}">
                      <a16:creationId xmlns:a16="http://schemas.microsoft.com/office/drawing/2014/main" id="{6BB0DE64-CB8F-4414-036B-3F75C1BBB4D1}"/>
                    </a:ext>
                  </a:extLst>
                </p:cNvPr>
                <p:cNvSpPr>
                  <a:spLocks noEditPoints="1"/>
                </p:cNvSpPr>
                <p:nvPr/>
              </p:nvSpPr>
              <p:spPr bwMode="auto">
                <a:xfrm>
                  <a:off x="6060947" y="2953131"/>
                  <a:ext cx="737235" cy="752856"/>
                </a:xfrm>
                <a:custGeom>
                  <a:avLst/>
                  <a:gdLst>
                    <a:gd name="T0" fmla="*/ 1033 w 1033"/>
                    <a:gd name="T1" fmla="*/ 44 h 1054"/>
                    <a:gd name="T2" fmla="*/ 1033 w 1033"/>
                    <a:gd name="T3" fmla="*/ 725 h 1054"/>
                    <a:gd name="T4" fmla="*/ 989 w 1033"/>
                    <a:gd name="T5" fmla="*/ 769 h 1054"/>
                    <a:gd name="T6" fmla="*/ 734 w 1033"/>
                    <a:gd name="T7" fmla="*/ 769 h 1054"/>
                    <a:gd name="T8" fmla="*/ 734 w 1033"/>
                    <a:gd name="T9" fmla="*/ 1010 h 1054"/>
                    <a:gd name="T10" fmla="*/ 733 w 1033"/>
                    <a:gd name="T11" fmla="*/ 1017 h 1054"/>
                    <a:gd name="T12" fmla="*/ 696 w 1033"/>
                    <a:gd name="T13" fmla="*/ 1053 h 1054"/>
                    <a:gd name="T14" fmla="*/ 686 w 1033"/>
                    <a:gd name="T15" fmla="*/ 1054 h 1054"/>
                    <a:gd name="T16" fmla="*/ 632 w 1033"/>
                    <a:gd name="T17" fmla="*/ 1025 h 1054"/>
                    <a:gd name="T18" fmla="*/ 564 w 1033"/>
                    <a:gd name="T19" fmla="*/ 951 h 1054"/>
                    <a:gd name="T20" fmla="*/ 396 w 1033"/>
                    <a:gd name="T21" fmla="*/ 769 h 1054"/>
                    <a:gd name="T22" fmla="*/ 135 w 1033"/>
                    <a:gd name="T23" fmla="*/ 769 h 1054"/>
                    <a:gd name="T24" fmla="*/ 135 w 1033"/>
                    <a:gd name="T25" fmla="*/ 725 h 1054"/>
                    <a:gd name="T26" fmla="*/ 405 w 1033"/>
                    <a:gd name="T27" fmla="*/ 725 h 1054"/>
                    <a:gd name="T28" fmla="*/ 421 w 1033"/>
                    <a:gd name="T29" fmla="*/ 732 h 1054"/>
                    <a:gd name="T30" fmla="*/ 597 w 1033"/>
                    <a:gd name="T31" fmla="*/ 922 h 1054"/>
                    <a:gd name="T32" fmla="*/ 663 w 1033"/>
                    <a:gd name="T33" fmla="*/ 994 h 1054"/>
                    <a:gd name="T34" fmla="*/ 686 w 1033"/>
                    <a:gd name="T35" fmla="*/ 1010 h 1054"/>
                    <a:gd name="T36" fmla="*/ 690 w 1033"/>
                    <a:gd name="T37" fmla="*/ 1005 h 1054"/>
                    <a:gd name="T38" fmla="*/ 690 w 1033"/>
                    <a:gd name="T39" fmla="*/ 747 h 1054"/>
                    <a:gd name="T40" fmla="*/ 712 w 1033"/>
                    <a:gd name="T41" fmla="*/ 725 h 1054"/>
                    <a:gd name="T42" fmla="*/ 989 w 1033"/>
                    <a:gd name="T43" fmla="*/ 725 h 1054"/>
                    <a:gd name="T44" fmla="*/ 989 w 1033"/>
                    <a:gd name="T45" fmla="*/ 44 h 1054"/>
                    <a:gd name="T46" fmla="*/ 44 w 1033"/>
                    <a:gd name="T47" fmla="*/ 44 h 1054"/>
                    <a:gd name="T48" fmla="*/ 44 w 1033"/>
                    <a:gd name="T49" fmla="*/ 256 h 1054"/>
                    <a:gd name="T50" fmla="*/ 0 w 1033"/>
                    <a:gd name="T51" fmla="*/ 256 h 1054"/>
                    <a:gd name="T52" fmla="*/ 0 w 1033"/>
                    <a:gd name="T53" fmla="*/ 44 h 1054"/>
                    <a:gd name="T54" fmla="*/ 44 w 1033"/>
                    <a:gd name="T55" fmla="*/ 0 h 1054"/>
                    <a:gd name="T56" fmla="*/ 989 w 1033"/>
                    <a:gd name="T57" fmla="*/ 0 h 1054"/>
                    <a:gd name="T58" fmla="*/ 1033 w 1033"/>
                    <a:gd name="T59" fmla="*/ 44 h 1054"/>
                    <a:gd name="T60" fmla="*/ 835 w 1033"/>
                    <a:gd name="T61" fmla="*/ 247 h 1054"/>
                    <a:gd name="T62" fmla="*/ 813 w 1033"/>
                    <a:gd name="T63" fmla="*/ 225 h 1054"/>
                    <a:gd name="T64" fmla="*/ 220 w 1033"/>
                    <a:gd name="T65" fmla="*/ 225 h 1054"/>
                    <a:gd name="T66" fmla="*/ 198 w 1033"/>
                    <a:gd name="T67" fmla="*/ 247 h 1054"/>
                    <a:gd name="T68" fmla="*/ 220 w 1033"/>
                    <a:gd name="T69" fmla="*/ 269 h 1054"/>
                    <a:gd name="T70" fmla="*/ 813 w 1033"/>
                    <a:gd name="T71" fmla="*/ 269 h 1054"/>
                    <a:gd name="T72" fmla="*/ 835 w 1033"/>
                    <a:gd name="T73" fmla="*/ 247 h 1054"/>
                    <a:gd name="T74" fmla="*/ 835 w 1033"/>
                    <a:gd name="T75" fmla="*/ 383 h 1054"/>
                    <a:gd name="T76" fmla="*/ 813 w 1033"/>
                    <a:gd name="T77" fmla="*/ 361 h 1054"/>
                    <a:gd name="T78" fmla="*/ 220 w 1033"/>
                    <a:gd name="T79" fmla="*/ 361 h 1054"/>
                    <a:gd name="T80" fmla="*/ 198 w 1033"/>
                    <a:gd name="T81" fmla="*/ 383 h 1054"/>
                    <a:gd name="T82" fmla="*/ 220 w 1033"/>
                    <a:gd name="T83" fmla="*/ 405 h 1054"/>
                    <a:gd name="T84" fmla="*/ 813 w 1033"/>
                    <a:gd name="T85" fmla="*/ 405 h 1054"/>
                    <a:gd name="T86" fmla="*/ 835 w 1033"/>
                    <a:gd name="T87" fmla="*/ 383 h 1054"/>
                    <a:gd name="T88" fmla="*/ 835 w 1033"/>
                    <a:gd name="T89" fmla="*/ 521 h 1054"/>
                    <a:gd name="T90" fmla="*/ 813 w 1033"/>
                    <a:gd name="T91" fmla="*/ 499 h 1054"/>
                    <a:gd name="T92" fmla="*/ 220 w 1033"/>
                    <a:gd name="T93" fmla="*/ 499 h 1054"/>
                    <a:gd name="T94" fmla="*/ 198 w 1033"/>
                    <a:gd name="T95" fmla="*/ 521 h 1054"/>
                    <a:gd name="T96" fmla="*/ 220 w 1033"/>
                    <a:gd name="T97" fmla="*/ 543 h 1054"/>
                    <a:gd name="T98" fmla="*/ 813 w 1033"/>
                    <a:gd name="T99" fmla="*/ 543 h 1054"/>
                    <a:gd name="T100" fmla="*/ 835 w 1033"/>
                    <a:gd name="T101" fmla="*/ 521 h 1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33" h="1054">
                      <a:moveTo>
                        <a:pt x="1033" y="44"/>
                      </a:moveTo>
                      <a:cubicBezTo>
                        <a:pt x="1033" y="725"/>
                        <a:pt x="1033" y="725"/>
                        <a:pt x="1033" y="725"/>
                      </a:cubicBezTo>
                      <a:cubicBezTo>
                        <a:pt x="1033" y="750"/>
                        <a:pt x="1013" y="769"/>
                        <a:pt x="989" y="769"/>
                      </a:cubicBezTo>
                      <a:cubicBezTo>
                        <a:pt x="734" y="769"/>
                        <a:pt x="734" y="769"/>
                        <a:pt x="734" y="769"/>
                      </a:cubicBezTo>
                      <a:cubicBezTo>
                        <a:pt x="734" y="1010"/>
                        <a:pt x="734" y="1010"/>
                        <a:pt x="734" y="1010"/>
                      </a:cubicBezTo>
                      <a:cubicBezTo>
                        <a:pt x="734" y="1012"/>
                        <a:pt x="734" y="1015"/>
                        <a:pt x="733" y="1017"/>
                      </a:cubicBezTo>
                      <a:cubicBezTo>
                        <a:pt x="732" y="1020"/>
                        <a:pt x="722" y="1047"/>
                        <a:pt x="696" y="1053"/>
                      </a:cubicBezTo>
                      <a:cubicBezTo>
                        <a:pt x="693" y="1054"/>
                        <a:pt x="689" y="1054"/>
                        <a:pt x="686" y="1054"/>
                      </a:cubicBezTo>
                      <a:cubicBezTo>
                        <a:pt x="668" y="1054"/>
                        <a:pt x="650" y="1044"/>
                        <a:pt x="632" y="1025"/>
                      </a:cubicBezTo>
                      <a:cubicBezTo>
                        <a:pt x="619" y="1013"/>
                        <a:pt x="595" y="985"/>
                        <a:pt x="564" y="951"/>
                      </a:cubicBezTo>
                      <a:cubicBezTo>
                        <a:pt x="517" y="899"/>
                        <a:pt x="454" y="829"/>
                        <a:pt x="396" y="769"/>
                      </a:cubicBezTo>
                      <a:cubicBezTo>
                        <a:pt x="135" y="769"/>
                        <a:pt x="135" y="769"/>
                        <a:pt x="135" y="769"/>
                      </a:cubicBezTo>
                      <a:cubicBezTo>
                        <a:pt x="135" y="725"/>
                        <a:pt x="135" y="725"/>
                        <a:pt x="135" y="725"/>
                      </a:cubicBezTo>
                      <a:cubicBezTo>
                        <a:pt x="405" y="725"/>
                        <a:pt x="405" y="725"/>
                        <a:pt x="405" y="725"/>
                      </a:cubicBezTo>
                      <a:cubicBezTo>
                        <a:pt x="411" y="725"/>
                        <a:pt x="417" y="728"/>
                        <a:pt x="421" y="732"/>
                      </a:cubicBezTo>
                      <a:cubicBezTo>
                        <a:pt x="481" y="793"/>
                        <a:pt x="548" y="867"/>
                        <a:pt x="597" y="922"/>
                      </a:cubicBezTo>
                      <a:cubicBezTo>
                        <a:pt x="627" y="956"/>
                        <a:pt x="651" y="982"/>
                        <a:pt x="663" y="994"/>
                      </a:cubicBezTo>
                      <a:cubicBezTo>
                        <a:pt x="677" y="1008"/>
                        <a:pt x="684" y="1010"/>
                        <a:pt x="686" y="1010"/>
                      </a:cubicBezTo>
                      <a:cubicBezTo>
                        <a:pt x="687" y="1010"/>
                        <a:pt x="689" y="1008"/>
                        <a:pt x="690" y="1005"/>
                      </a:cubicBezTo>
                      <a:cubicBezTo>
                        <a:pt x="690" y="747"/>
                        <a:pt x="690" y="747"/>
                        <a:pt x="690" y="747"/>
                      </a:cubicBezTo>
                      <a:cubicBezTo>
                        <a:pt x="690" y="735"/>
                        <a:pt x="700" y="725"/>
                        <a:pt x="712" y="725"/>
                      </a:cubicBezTo>
                      <a:cubicBezTo>
                        <a:pt x="989" y="725"/>
                        <a:pt x="989" y="725"/>
                        <a:pt x="989" y="725"/>
                      </a:cubicBezTo>
                      <a:cubicBezTo>
                        <a:pt x="989" y="44"/>
                        <a:pt x="989" y="44"/>
                        <a:pt x="989" y="44"/>
                      </a:cubicBezTo>
                      <a:cubicBezTo>
                        <a:pt x="44" y="44"/>
                        <a:pt x="44" y="44"/>
                        <a:pt x="44" y="44"/>
                      </a:cubicBezTo>
                      <a:cubicBezTo>
                        <a:pt x="44" y="256"/>
                        <a:pt x="44" y="256"/>
                        <a:pt x="44" y="256"/>
                      </a:cubicBezTo>
                      <a:cubicBezTo>
                        <a:pt x="0" y="256"/>
                        <a:pt x="0" y="256"/>
                        <a:pt x="0" y="256"/>
                      </a:cubicBezTo>
                      <a:cubicBezTo>
                        <a:pt x="0" y="44"/>
                        <a:pt x="0" y="44"/>
                        <a:pt x="0" y="44"/>
                      </a:cubicBezTo>
                      <a:cubicBezTo>
                        <a:pt x="0" y="20"/>
                        <a:pt x="20" y="0"/>
                        <a:pt x="44" y="0"/>
                      </a:cubicBezTo>
                      <a:cubicBezTo>
                        <a:pt x="989" y="0"/>
                        <a:pt x="989" y="0"/>
                        <a:pt x="989" y="0"/>
                      </a:cubicBezTo>
                      <a:cubicBezTo>
                        <a:pt x="1013" y="0"/>
                        <a:pt x="1033" y="20"/>
                        <a:pt x="1033" y="44"/>
                      </a:cubicBezTo>
                      <a:close/>
                      <a:moveTo>
                        <a:pt x="835" y="247"/>
                      </a:moveTo>
                      <a:cubicBezTo>
                        <a:pt x="835" y="235"/>
                        <a:pt x="826" y="225"/>
                        <a:pt x="813" y="225"/>
                      </a:cubicBezTo>
                      <a:cubicBezTo>
                        <a:pt x="220" y="225"/>
                        <a:pt x="220" y="225"/>
                        <a:pt x="220" y="225"/>
                      </a:cubicBezTo>
                      <a:cubicBezTo>
                        <a:pt x="208" y="225"/>
                        <a:pt x="198" y="235"/>
                        <a:pt x="198" y="247"/>
                      </a:cubicBezTo>
                      <a:cubicBezTo>
                        <a:pt x="198" y="259"/>
                        <a:pt x="208" y="269"/>
                        <a:pt x="220" y="269"/>
                      </a:cubicBezTo>
                      <a:cubicBezTo>
                        <a:pt x="813" y="269"/>
                        <a:pt x="813" y="269"/>
                        <a:pt x="813" y="269"/>
                      </a:cubicBezTo>
                      <a:cubicBezTo>
                        <a:pt x="826" y="269"/>
                        <a:pt x="835" y="259"/>
                        <a:pt x="835" y="247"/>
                      </a:cubicBezTo>
                      <a:close/>
                      <a:moveTo>
                        <a:pt x="835" y="383"/>
                      </a:moveTo>
                      <a:cubicBezTo>
                        <a:pt x="835" y="371"/>
                        <a:pt x="826" y="361"/>
                        <a:pt x="813" y="361"/>
                      </a:cubicBezTo>
                      <a:cubicBezTo>
                        <a:pt x="220" y="361"/>
                        <a:pt x="220" y="361"/>
                        <a:pt x="220" y="361"/>
                      </a:cubicBezTo>
                      <a:cubicBezTo>
                        <a:pt x="208" y="361"/>
                        <a:pt x="198" y="371"/>
                        <a:pt x="198" y="383"/>
                      </a:cubicBezTo>
                      <a:cubicBezTo>
                        <a:pt x="198" y="395"/>
                        <a:pt x="208" y="405"/>
                        <a:pt x="220" y="405"/>
                      </a:cubicBezTo>
                      <a:cubicBezTo>
                        <a:pt x="813" y="405"/>
                        <a:pt x="813" y="405"/>
                        <a:pt x="813" y="405"/>
                      </a:cubicBezTo>
                      <a:cubicBezTo>
                        <a:pt x="826" y="405"/>
                        <a:pt x="835" y="395"/>
                        <a:pt x="835" y="383"/>
                      </a:cubicBezTo>
                      <a:close/>
                      <a:moveTo>
                        <a:pt x="835" y="521"/>
                      </a:moveTo>
                      <a:cubicBezTo>
                        <a:pt x="835" y="508"/>
                        <a:pt x="826" y="499"/>
                        <a:pt x="813" y="499"/>
                      </a:cubicBezTo>
                      <a:cubicBezTo>
                        <a:pt x="220" y="499"/>
                        <a:pt x="220" y="499"/>
                        <a:pt x="220" y="499"/>
                      </a:cubicBezTo>
                      <a:cubicBezTo>
                        <a:pt x="208" y="499"/>
                        <a:pt x="198" y="508"/>
                        <a:pt x="198" y="521"/>
                      </a:cubicBezTo>
                      <a:cubicBezTo>
                        <a:pt x="198" y="533"/>
                        <a:pt x="208" y="543"/>
                        <a:pt x="220" y="543"/>
                      </a:cubicBezTo>
                      <a:cubicBezTo>
                        <a:pt x="813" y="543"/>
                        <a:pt x="813" y="543"/>
                        <a:pt x="813" y="543"/>
                      </a:cubicBezTo>
                      <a:cubicBezTo>
                        <a:pt x="826" y="543"/>
                        <a:pt x="835" y="533"/>
                        <a:pt x="835" y="52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grpSp>
        </p:grpSp>
      </p:grpSp>
      <p:grpSp>
        <p:nvGrpSpPr>
          <p:cNvPr id="32" name="Group 31">
            <a:extLst>
              <a:ext uri="{FF2B5EF4-FFF2-40B4-BE49-F238E27FC236}">
                <a16:creationId xmlns:a16="http://schemas.microsoft.com/office/drawing/2014/main" id="{27BE3510-112F-FC23-C530-5A30F607C85D}"/>
              </a:ext>
            </a:extLst>
          </p:cNvPr>
          <p:cNvGrpSpPr/>
          <p:nvPr/>
        </p:nvGrpSpPr>
        <p:grpSpPr>
          <a:xfrm>
            <a:off x="3526401" y="1798021"/>
            <a:ext cx="442744" cy="443154"/>
            <a:chOff x="5183422" y="2515576"/>
            <a:chExt cx="617160" cy="617732"/>
          </a:xfrm>
        </p:grpSpPr>
        <p:sp>
          <p:nvSpPr>
            <p:cNvPr id="33" name="Oval 32">
              <a:extLst>
                <a:ext uri="{FF2B5EF4-FFF2-40B4-BE49-F238E27FC236}">
                  <a16:creationId xmlns:a16="http://schemas.microsoft.com/office/drawing/2014/main" id="{90075FF9-5C7C-3620-6ADE-031799CD5477}"/>
                </a:ext>
              </a:extLst>
            </p:cNvPr>
            <p:cNvSpPr/>
            <p:nvPr>
              <p:custDataLst>
                <p:tags r:id="rId5"/>
              </p:custDataLst>
            </p:nvPr>
          </p:nvSpPr>
          <p:spPr>
            <a:xfrm>
              <a:off x="5183422" y="2515576"/>
              <a:ext cx="617160" cy="617732"/>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a:solidFill>
                  <a:schemeClr val="bg1">
                    <a:lumMod val="50000"/>
                  </a:schemeClr>
                </a:solidFill>
                <a:ea typeface="Microsoft YaHei" panose="020B0503020204020204" pitchFamily="34" charset="-122"/>
              </a:endParaRPr>
            </a:p>
          </p:txBody>
        </p:sp>
        <p:grpSp>
          <p:nvGrpSpPr>
            <p:cNvPr id="34" name="bcgIcons_Email ">
              <a:extLst>
                <a:ext uri="{FF2B5EF4-FFF2-40B4-BE49-F238E27FC236}">
                  <a16:creationId xmlns:a16="http://schemas.microsoft.com/office/drawing/2014/main" id="{A69C05E7-D25A-5E05-60B6-F262A4CCAF79}"/>
                </a:ext>
              </a:extLst>
            </p:cNvPr>
            <p:cNvGrpSpPr>
              <a:grpSpLocks noChangeAspect="1"/>
            </p:cNvGrpSpPr>
            <p:nvPr/>
          </p:nvGrpSpPr>
          <p:grpSpPr bwMode="auto">
            <a:xfrm>
              <a:off x="5273803" y="2606041"/>
              <a:ext cx="436398" cy="436802"/>
              <a:chOff x="1682" y="0"/>
              <a:chExt cx="4316" cy="4320"/>
            </a:xfrm>
          </p:grpSpPr>
          <p:sp>
            <p:nvSpPr>
              <p:cNvPr id="35" name="AutoShape 13">
                <a:extLst>
                  <a:ext uri="{FF2B5EF4-FFF2-40B4-BE49-F238E27FC236}">
                    <a16:creationId xmlns:a16="http://schemas.microsoft.com/office/drawing/2014/main" id="{8C7CB6E9-6B8C-954C-2B32-657950F7CE6C}"/>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15">
                <a:extLst>
                  <a:ext uri="{FF2B5EF4-FFF2-40B4-BE49-F238E27FC236}">
                    <a16:creationId xmlns:a16="http://schemas.microsoft.com/office/drawing/2014/main" id="{099E8EAF-97BB-963B-171E-EFCB8C4C6751}"/>
                  </a:ext>
                </a:extLst>
              </p:cNvPr>
              <p:cNvSpPr>
                <a:spLocks noEditPoints="1"/>
              </p:cNvSpPr>
              <p:nvPr/>
            </p:nvSpPr>
            <p:spPr bwMode="auto">
              <a:xfrm>
                <a:off x="2446" y="1155"/>
                <a:ext cx="2788" cy="2010"/>
              </a:xfrm>
              <a:custGeom>
                <a:avLst/>
                <a:gdLst>
                  <a:gd name="T0" fmla="*/ 1488 w 1488"/>
                  <a:gd name="T1" fmla="*/ 65 h 1072"/>
                  <a:gd name="T2" fmla="*/ 1488 w 1488"/>
                  <a:gd name="T3" fmla="*/ 1050 h 1072"/>
                  <a:gd name="T4" fmla="*/ 1477 w 1488"/>
                  <a:gd name="T5" fmla="*/ 1055 h 1072"/>
                  <a:gd name="T6" fmla="*/ 978 w 1488"/>
                  <a:gd name="T7" fmla="*/ 494 h 1072"/>
                  <a:gd name="T8" fmla="*/ 978 w 1488"/>
                  <a:gd name="T9" fmla="*/ 484 h 1072"/>
                  <a:gd name="T10" fmla="*/ 1488 w 1488"/>
                  <a:gd name="T11" fmla="*/ 65 h 1072"/>
                  <a:gd name="T12" fmla="*/ 1488 w 1488"/>
                  <a:gd name="T13" fmla="*/ 65 h 1072"/>
                  <a:gd name="T14" fmla="*/ 0 w 1488"/>
                  <a:gd name="T15" fmla="*/ 65 h 1072"/>
                  <a:gd name="T16" fmla="*/ 0 w 1488"/>
                  <a:gd name="T17" fmla="*/ 1050 h 1072"/>
                  <a:gd name="T18" fmla="*/ 11 w 1488"/>
                  <a:gd name="T19" fmla="*/ 1055 h 1072"/>
                  <a:gd name="T20" fmla="*/ 510 w 1488"/>
                  <a:gd name="T21" fmla="*/ 494 h 1072"/>
                  <a:gd name="T22" fmla="*/ 510 w 1488"/>
                  <a:gd name="T23" fmla="*/ 484 h 1072"/>
                  <a:gd name="T24" fmla="*/ 0 w 1488"/>
                  <a:gd name="T25" fmla="*/ 65 h 1072"/>
                  <a:gd name="T26" fmla="*/ 0 w 1488"/>
                  <a:gd name="T27" fmla="*/ 65 h 1072"/>
                  <a:gd name="T28" fmla="*/ 1399 w 1488"/>
                  <a:gd name="T29" fmla="*/ 1072 h 1072"/>
                  <a:gd name="T30" fmla="*/ 1399 w 1488"/>
                  <a:gd name="T31" fmla="*/ 1072 h 1072"/>
                  <a:gd name="T32" fmla="*/ 934 w 1488"/>
                  <a:gd name="T33" fmla="*/ 546 h 1072"/>
                  <a:gd name="T34" fmla="*/ 925 w 1488"/>
                  <a:gd name="T35" fmla="*/ 545 h 1072"/>
                  <a:gd name="T36" fmla="*/ 750 w 1488"/>
                  <a:gd name="T37" fmla="*/ 701 h 1072"/>
                  <a:gd name="T38" fmla="*/ 742 w 1488"/>
                  <a:gd name="T39" fmla="*/ 701 h 1072"/>
                  <a:gd name="T40" fmla="*/ 566 w 1488"/>
                  <a:gd name="T41" fmla="*/ 545 h 1072"/>
                  <a:gd name="T42" fmla="*/ 558 w 1488"/>
                  <a:gd name="T43" fmla="*/ 546 h 1072"/>
                  <a:gd name="T44" fmla="*/ 90 w 1488"/>
                  <a:gd name="T45" fmla="*/ 1061 h 1072"/>
                  <a:gd name="T46" fmla="*/ 95 w 1488"/>
                  <a:gd name="T47" fmla="*/ 1072 h 1072"/>
                  <a:gd name="T48" fmla="*/ 1399 w 1488"/>
                  <a:gd name="T49" fmla="*/ 1072 h 1072"/>
                  <a:gd name="T50" fmla="*/ 1399 w 1488"/>
                  <a:gd name="T51" fmla="*/ 1072 h 1072"/>
                  <a:gd name="T52" fmla="*/ 1461 w 1488"/>
                  <a:gd name="T53" fmla="*/ 0 h 1072"/>
                  <a:gd name="T54" fmla="*/ 27 w 1488"/>
                  <a:gd name="T55" fmla="*/ 0 h 1072"/>
                  <a:gd name="T56" fmla="*/ 23 w 1488"/>
                  <a:gd name="T57" fmla="*/ 11 h 1072"/>
                  <a:gd name="T58" fmla="*/ 738 w 1488"/>
                  <a:gd name="T59" fmla="*/ 605 h 1072"/>
                  <a:gd name="T60" fmla="*/ 746 w 1488"/>
                  <a:gd name="T61" fmla="*/ 605 h 1072"/>
                  <a:gd name="T62" fmla="*/ 1465 w 1488"/>
                  <a:gd name="T63" fmla="*/ 11 h 1072"/>
                  <a:gd name="T64" fmla="*/ 1461 w 1488"/>
                  <a:gd name="T65" fmla="*/ 0 h 1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88" h="1072">
                    <a:moveTo>
                      <a:pt x="1488" y="65"/>
                    </a:moveTo>
                    <a:cubicBezTo>
                      <a:pt x="1488" y="1050"/>
                      <a:pt x="1488" y="1050"/>
                      <a:pt x="1488" y="1050"/>
                    </a:cubicBezTo>
                    <a:cubicBezTo>
                      <a:pt x="1488" y="1056"/>
                      <a:pt x="1481" y="1059"/>
                      <a:pt x="1477" y="1055"/>
                    </a:cubicBezTo>
                    <a:cubicBezTo>
                      <a:pt x="978" y="494"/>
                      <a:pt x="978" y="494"/>
                      <a:pt x="978" y="494"/>
                    </a:cubicBezTo>
                    <a:cubicBezTo>
                      <a:pt x="975" y="491"/>
                      <a:pt x="976" y="487"/>
                      <a:pt x="978" y="484"/>
                    </a:cubicBezTo>
                    <a:cubicBezTo>
                      <a:pt x="1488" y="65"/>
                      <a:pt x="1488" y="65"/>
                      <a:pt x="1488" y="65"/>
                    </a:cubicBezTo>
                    <a:cubicBezTo>
                      <a:pt x="1488" y="65"/>
                      <a:pt x="1488" y="65"/>
                      <a:pt x="1488" y="65"/>
                    </a:cubicBezTo>
                    <a:close/>
                    <a:moveTo>
                      <a:pt x="0" y="65"/>
                    </a:moveTo>
                    <a:cubicBezTo>
                      <a:pt x="0" y="1050"/>
                      <a:pt x="0" y="1050"/>
                      <a:pt x="0" y="1050"/>
                    </a:cubicBezTo>
                    <a:cubicBezTo>
                      <a:pt x="0" y="1056"/>
                      <a:pt x="7" y="1059"/>
                      <a:pt x="11" y="1055"/>
                    </a:cubicBezTo>
                    <a:cubicBezTo>
                      <a:pt x="510" y="494"/>
                      <a:pt x="510" y="494"/>
                      <a:pt x="510" y="494"/>
                    </a:cubicBezTo>
                    <a:cubicBezTo>
                      <a:pt x="513" y="491"/>
                      <a:pt x="512" y="487"/>
                      <a:pt x="510" y="484"/>
                    </a:cubicBezTo>
                    <a:cubicBezTo>
                      <a:pt x="0" y="65"/>
                      <a:pt x="0" y="65"/>
                      <a:pt x="0" y="65"/>
                    </a:cubicBezTo>
                    <a:cubicBezTo>
                      <a:pt x="0" y="65"/>
                      <a:pt x="0" y="65"/>
                      <a:pt x="0" y="65"/>
                    </a:cubicBezTo>
                    <a:close/>
                    <a:moveTo>
                      <a:pt x="1399" y="1072"/>
                    </a:moveTo>
                    <a:cubicBezTo>
                      <a:pt x="1399" y="1072"/>
                      <a:pt x="1399" y="1072"/>
                      <a:pt x="1399" y="1072"/>
                    </a:cubicBezTo>
                    <a:cubicBezTo>
                      <a:pt x="934" y="546"/>
                      <a:pt x="934" y="546"/>
                      <a:pt x="934" y="546"/>
                    </a:cubicBezTo>
                    <a:cubicBezTo>
                      <a:pt x="931" y="543"/>
                      <a:pt x="928" y="542"/>
                      <a:pt x="925" y="545"/>
                    </a:cubicBezTo>
                    <a:cubicBezTo>
                      <a:pt x="750" y="701"/>
                      <a:pt x="750" y="701"/>
                      <a:pt x="750" y="701"/>
                    </a:cubicBezTo>
                    <a:cubicBezTo>
                      <a:pt x="748" y="703"/>
                      <a:pt x="744" y="703"/>
                      <a:pt x="742" y="701"/>
                    </a:cubicBezTo>
                    <a:cubicBezTo>
                      <a:pt x="566" y="545"/>
                      <a:pt x="566" y="545"/>
                      <a:pt x="566" y="545"/>
                    </a:cubicBezTo>
                    <a:cubicBezTo>
                      <a:pt x="564" y="542"/>
                      <a:pt x="560" y="542"/>
                      <a:pt x="558" y="546"/>
                    </a:cubicBezTo>
                    <a:cubicBezTo>
                      <a:pt x="90" y="1061"/>
                      <a:pt x="90" y="1061"/>
                      <a:pt x="90" y="1061"/>
                    </a:cubicBezTo>
                    <a:cubicBezTo>
                      <a:pt x="86" y="1065"/>
                      <a:pt x="89" y="1072"/>
                      <a:pt x="95" y="1072"/>
                    </a:cubicBezTo>
                    <a:cubicBezTo>
                      <a:pt x="1399" y="1072"/>
                      <a:pt x="1399" y="1072"/>
                      <a:pt x="1399" y="1072"/>
                    </a:cubicBezTo>
                    <a:cubicBezTo>
                      <a:pt x="1399" y="1072"/>
                      <a:pt x="1399" y="1072"/>
                      <a:pt x="1399" y="1072"/>
                    </a:cubicBezTo>
                    <a:close/>
                    <a:moveTo>
                      <a:pt x="1461" y="0"/>
                    </a:moveTo>
                    <a:cubicBezTo>
                      <a:pt x="27" y="0"/>
                      <a:pt x="27" y="0"/>
                      <a:pt x="27" y="0"/>
                    </a:cubicBezTo>
                    <a:cubicBezTo>
                      <a:pt x="21" y="0"/>
                      <a:pt x="19" y="8"/>
                      <a:pt x="23" y="11"/>
                    </a:cubicBezTo>
                    <a:cubicBezTo>
                      <a:pt x="738" y="605"/>
                      <a:pt x="738" y="605"/>
                      <a:pt x="738" y="605"/>
                    </a:cubicBezTo>
                    <a:cubicBezTo>
                      <a:pt x="740" y="607"/>
                      <a:pt x="743" y="607"/>
                      <a:pt x="746" y="605"/>
                    </a:cubicBezTo>
                    <a:cubicBezTo>
                      <a:pt x="1465" y="11"/>
                      <a:pt x="1465" y="11"/>
                      <a:pt x="1465" y="11"/>
                    </a:cubicBezTo>
                    <a:cubicBezTo>
                      <a:pt x="1469" y="8"/>
                      <a:pt x="1466" y="0"/>
                      <a:pt x="1461"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sp>
            <p:nvSpPr>
              <p:cNvPr id="37" name="Freeform 16">
                <a:extLst>
                  <a:ext uri="{FF2B5EF4-FFF2-40B4-BE49-F238E27FC236}">
                    <a16:creationId xmlns:a16="http://schemas.microsoft.com/office/drawing/2014/main" id="{D90A5E0F-E41C-A9D2-C652-1BA85BE75341}"/>
                  </a:ext>
                </a:extLst>
              </p:cNvPr>
              <p:cNvSpPr>
                <a:spLocks noEditPoints="1"/>
              </p:cNvSpPr>
              <p:nvPr/>
            </p:nvSpPr>
            <p:spPr bwMode="auto">
              <a:xfrm>
                <a:off x="2257" y="988"/>
                <a:ext cx="3166" cy="2344"/>
              </a:xfrm>
              <a:custGeom>
                <a:avLst/>
                <a:gdLst>
                  <a:gd name="T0" fmla="*/ 1668 w 1690"/>
                  <a:gd name="T1" fmla="*/ 1250 h 1250"/>
                  <a:gd name="T2" fmla="*/ 22 w 1690"/>
                  <a:gd name="T3" fmla="*/ 1250 h 1250"/>
                  <a:gd name="T4" fmla="*/ 0 w 1690"/>
                  <a:gd name="T5" fmla="*/ 1228 h 1250"/>
                  <a:gd name="T6" fmla="*/ 0 w 1690"/>
                  <a:gd name="T7" fmla="*/ 22 h 1250"/>
                  <a:gd name="T8" fmla="*/ 22 w 1690"/>
                  <a:gd name="T9" fmla="*/ 0 h 1250"/>
                  <a:gd name="T10" fmla="*/ 1668 w 1690"/>
                  <a:gd name="T11" fmla="*/ 0 h 1250"/>
                  <a:gd name="T12" fmla="*/ 1690 w 1690"/>
                  <a:gd name="T13" fmla="*/ 22 h 1250"/>
                  <a:gd name="T14" fmla="*/ 1690 w 1690"/>
                  <a:gd name="T15" fmla="*/ 1228 h 1250"/>
                  <a:gd name="T16" fmla="*/ 1668 w 1690"/>
                  <a:gd name="T17" fmla="*/ 1250 h 1250"/>
                  <a:gd name="T18" fmla="*/ 44 w 1690"/>
                  <a:gd name="T19" fmla="*/ 1206 h 1250"/>
                  <a:gd name="T20" fmla="*/ 1646 w 1690"/>
                  <a:gd name="T21" fmla="*/ 1206 h 1250"/>
                  <a:gd name="T22" fmla="*/ 1646 w 1690"/>
                  <a:gd name="T23" fmla="*/ 44 h 1250"/>
                  <a:gd name="T24" fmla="*/ 44 w 1690"/>
                  <a:gd name="T25" fmla="*/ 44 h 1250"/>
                  <a:gd name="T26" fmla="*/ 44 w 1690"/>
                  <a:gd name="T27" fmla="*/ 1206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90" h="1250">
                    <a:moveTo>
                      <a:pt x="1668" y="1250"/>
                    </a:moveTo>
                    <a:cubicBezTo>
                      <a:pt x="22" y="1250"/>
                      <a:pt x="22" y="1250"/>
                      <a:pt x="22" y="1250"/>
                    </a:cubicBezTo>
                    <a:cubicBezTo>
                      <a:pt x="10" y="1250"/>
                      <a:pt x="0" y="1240"/>
                      <a:pt x="0" y="1228"/>
                    </a:cubicBezTo>
                    <a:cubicBezTo>
                      <a:pt x="0" y="22"/>
                      <a:pt x="0" y="22"/>
                      <a:pt x="0" y="22"/>
                    </a:cubicBezTo>
                    <a:cubicBezTo>
                      <a:pt x="0" y="10"/>
                      <a:pt x="10" y="0"/>
                      <a:pt x="22" y="0"/>
                    </a:cubicBezTo>
                    <a:cubicBezTo>
                      <a:pt x="1668" y="0"/>
                      <a:pt x="1668" y="0"/>
                      <a:pt x="1668" y="0"/>
                    </a:cubicBezTo>
                    <a:cubicBezTo>
                      <a:pt x="1680" y="0"/>
                      <a:pt x="1690" y="10"/>
                      <a:pt x="1690" y="22"/>
                    </a:cubicBezTo>
                    <a:cubicBezTo>
                      <a:pt x="1690" y="1228"/>
                      <a:pt x="1690" y="1228"/>
                      <a:pt x="1690" y="1228"/>
                    </a:cubicBezTo>
                    <a:cubicBezTo>
                      <a:pt x="1690" y="1240"/>
                      <a:pt x="1680" y="1250"/>
                      <a:pt x="1668" y="1250"/>
                    </a:cubicBezTo>
                    <a:close/>
                    <a:moveTo>
                      <a:pt x="44" y="1206"/>
                    </a:moveTo>
                    <a:cubicBezTo>
                      <a:pt x="1646" y="1206"/>
                      <a:pt x="1646" y="1206"/>
                      <a:pt x="1646" y="1206"/>
                    </a:cubicBezTo>
                    <a:cubicBezTo>
                      <a:pt x="1646" y="44"/>
                      <a:pt x="1646" y="44"/>
                      <a:pt x="1646" y="44"/>
                    </a:cubicBezTo>
                    <a:cubicBezTo>
                      <a:pt x="44" y="44"/>
                      <a:pt x="44" y="44"/>
                      <a:pt x="44" y="44"/>
                    </a:cubicBezTo>
                    <a:lnTo>
                      <a:pt x="44" y="120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grpSp>
      </p:grpSp>
      <p:sp>
        <p:nvSpPr>
          <p:cNvPr id="45" name="TextBox 44">
            <a:extLst>
              <a:ext uri="{FF2B5EF4-FFF2-40B4-BE49-F238E27FC236}">
                <a16:creationId xmlns:a16="http://schemas.microsoft.com/office/drawing/2014/main" id="{77BF4756-5D1E-0B1A-4576-340C26D55442}"/>
              </a:ext>
            </a:extLst>
          </p:cNvPr>
          <p:cNvSpPr txBox="1"/>
          <p:nvPr/>
        </p:nvSpPr>
        <p:spPr>
          <a:xfrm>
            <a:off x="1180923" y="2502616"/>
            <a:ext cx="1488075" cy="266694"/>
          </a:xfrm>
          <a:prstGeom prst="rect">
            <a:avLst/>
          </a:prstGeom>
          <a:solidFill>
            <a:srgbClr val="FFFFFF"/>
          </a:solid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400">
                <a:solidFill>
                  <a:srgbClr val="29BA74"/>
                </a:solidFill>
                <a:ea typeface="Microsoft YaHei" panose="020B0503020204020204" pitchFamily="34" charset="-122"/>
              </a:rPr>
              <a:t>帳戶申請完成</a:t>
            </a:r>
            <a:endParaRPr lang="en-US" sz="1400">
              <a:solidFill>
                <a:srgbClr val="29BA74"/>
              </a:solidFill>
              <a:ea typeface="Microsoft YaHei" panose="020B0503020204020204" pitchFamily="34" charset="-122"/>
            </a:endParaRPr>
          </a:p>
        </p:txBody>
      </p:sp>
      <p:sp>
        <p:nvSpPr>
          <p:cNvPr id="46" name="TextBox 45">
            <a:extLst>
              <a:ext uri="{FF2B5EF4-FFF2-40B4-BE49-F238E27FC236}">
                <a16:creationId xmlns:a16="http://schemas.microsoft.com/office/drawing/2014/main" id="{FF19FAFC-03B6-CF47-6827-F7BCAD93EB2A}"/>
              </a:ext>
            </a:extLst>
          </p:cNvPr>
          <p:cNvSpPr txBox="1"/>
          <p:nvPr/>
        </p:nvSpPr>
        <p:spPr>
          <a:xfrm>
            <a:off x="3012242" y="2502616"/>
            <a:ext cx="1488075" cy="266694"/>
          </a:xfrm>
          <a:prstGeom prst="rect">
            <a:avLst/>
          </a:prstGeom>
          <a:solidFill>
            <a:srgbClr val="FFFFFF"/>
          </a:solid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400">
                <a:solidFill>
                  <a:srgbClr val="29BA74"/>
                </a:solidFill>
                <a:ea typeface="Microsoft YaHei" panose="020B0503020204020204" pitchFamily="34" charset="-122"/>
              </a:rPr>
              <a:t>帳戶成功開通後</a:t>
            </a:r>
            <a:endParaRPr lang="en-US" sz="1400">
              <a:solidFill>
                <a:srgbClr val="29BA74"/>
              </a:solidFill>
              <a:ea typeface="Microsoft YaHei" panose="020B0503020204020204" pitchFamily="34" charset="-122"/>
            </a:endParaRPr>
          </a:p>
        </p:txBody>
      </p:sp>
      <p:sp>
        <p:nvSpPr>
          <p:cNvPr id="47" name="TextBox 46">
            <a:extLst>
              <a:ext uri="{FF2B5EF4-FFF2-40B4-BE49-F238E27FC236}">
                <a16:creationId xmlns:a16="http://schemas.microsoft.com/office/drawing/2014/main" id="{6203D5D9-B679-0A0D-D66F-9440C3D9B64A}"/>
              </a:ext>
            </a:extLst>
          </p:cNvPr>
          <p:cNvSpPr txBox="1"/>
          <p:nvPr/>
        </p:nvSpPr>
        <p:spPr>
          <a:xfrm>
            <a:off x="3012242" y="3662110"/>
            <a:ext cx="1694205" cy="1004237"/>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altLang="zh-TW" sz="1400" b="1">
                <a:solidFill>
                  <a:srgbClr val="29BA74"/>
                </a:solidFill>
                <a:latin typeface="Microsoft YaHei" panose="020B0503020204020204" pitchFamily="34" charset="-122"/>
                <a:ea typeface="Microsoft YaHei" panose="020B0503020204020204" pitchFamily="34" charset="-122"/>
              </a:rPr>
              <a:t>[</a:t>
            </a:r>
            <a:r>
              <a:rPr lang="zh-TW" altLang="en-US" sz="1400" b="1">
                <a:solidFill>
                  <a:srgbClr val="29BA74"/>
                </a:solidFill>
                <a:latin typeface="Microsoft YaHei" panose="020B0503020204020204" pitchFamily="34" charset="-122"/>
                <a:ea typeface="Microsoft YaHei" panose="020B0503020204020204" pitchFamily="34" charset="-122"/>
              </a:rPr>
              <a:t>提醒開戶完成</a:t>
            </a:r>
            <a:r>
              <a:rPr lang="en-US" altLang="zh-TW" sz="1400" b="1">
                <a:solidFill>
                  <a:srgbClr val="29BA74"/>
                </a:solidFill>
                <a:latin typeface="Microsoft YaHei" panose="020B0503020204020204" pitchFamily="34" charset="-122"/>
                <a:ea typeface="Microsoft YaHei" panose="020B0503020204020204" pitchFamily="34" charset="-122"/>
              </a:rPr>
              <a:t>]</a:t>
            </a:r>
          </a:p>
          <a:p>
            <a:r>
              <a:rPr lang="zh-TW" altLang="en-US" sz="1400">
                <a:solidFill>
                  <a:srgbClr val="575757"/>
                </a:solidFill>
                <a:latin typeface="Microsoft YaHei" panose="020B0503020204020204" pitchFamily="34" charset="-122"/>
                <a:ea typeface="Microsoft YaHei" panose="020B0503020204020204" pitchFamily="34" charset="-122"/>
              </a:rPr>
              <a:t>提醒客戶在收到金融卡後開卡</a:t>
            </a:r>
            <a:endParaRPr lang="en-US" sz="1400">
              <a:solidFill>
                <a:srgbClr val="575757"/>
              </a:solidFill>
              <a:latin typeface="Microsoft YaHei" panose="020B0503020204020204" pitchFamily="34" charset="-122"/>
              <a:ea typeface="Microsoft YaHei" panose="020B0503020204020204" pitchFamily="34" charset="-122"/>
            </a:endParaRPr>
          </a:p>
        </p:txBody>
      </p:sp>
      <p:sp>
        <p:nvSpPr>
          <p:cNvPr id="54" name="TextBox 53">
            <a:extLst>
              <a:ext uri="{FF2B5EF4-FFF2-40B4-BE49-F238E27FC236}">
                <a16:creationId xmlns:a16="http://schemas.microsoft.com/office/drawing/2014/main" id="{6AE31340-CFF9-9D78-190C-48406242E265}"/>
              </a:ext>
            </a:extLst>
          </p:cNvPr>
          <p:cNvSpPr txBox="1"/>
          <p:nvPr/>
        </p:nvSpPr>
        <p:spPr>
          <a:xfrm>
            <a:off x="5287805" y="2257728"/>
            <a:ext cx="746760" cy="266694"/>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a:solidFill>
                  <a:srgbClr val="29BA74"/>
                </a:solidFill>
                <a:ea typeface="Microsoft YaHei" panose="020B0503020204020204" pitchFamily="34" charset="-122"/>
              </a:rPr>
              <a:t>Day 5</a:t>
            </a:r>
          </a:p>
        </p:txBody>
      </p:sp>
      <p:sp>
        <p:nvSpPr>
          <p:cNvPr id="55" name="TextBox 54">
            <a:extLst>
              <a:ext uri="{FF2B5EF4-FFF2-40B4-BE49-F238E27FC236}">
                <a16:creationId xmlns:a16="http://schemas.microsoft.com/office/drawing/2014/main" id="{60B67734-15C1-2C17-BFBC-BEF4F7AA4253}"/>
              </a:ext>
            </a:extLst>
          </p:cNvPr>
          <p:cNvSpPr txBox="1"/>
          <p:nvPr/>
        </p:nvSpPr>
        <p:spPr>
          <a:xfrm>
            <a:off x="4918920" y="2835190"/>
            <a:ext cx="1694205" cy="735478"/>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altLang="zh-TW" sz="1400">
                <a:solidFill>
                  <a:srgbClr val="575757"/>
                </a:solidFill>
                <a:latin typeface="Microsoft YaHei" panose="020B0503020204020204" pitchFamily="34" charset="-122"/>
                <a:ea typeface="Microsoft YaHei" panose="020B0503020204020204" pitchFamily="34" charset="-122"/>
              </a:rPr>
              <a:t>"</a:t>
            </a:r>
            <a:r>
              <a:rPr lang="zh-TW" altLang="en-US" sz="1400">
                <a:solidFill>
                  <a:srgbClr val="575757"/>
                </a:solidFill>
                <a:latin typeface="Microsoft YaHei" panose="020B0503020204020204" pitchFamily="34" charset="-122"/>
                <a:ea typeface="Microsoft YaHei" panose="020B0503020204020204" pitchFamily="34" charset="-122"/>
              </a:rPr>
              <a:t>啟用開卡步驟</a:t>
            </a:r>
            <a:r>
              <a:rPr lang="en-US" altLang="zh-TW" sz="1400">
                <a:solidFill>
                  <a:srgbClr val="575757"/>
                </a:solidFill>
                <a:latin typeface="Microsoft YaHei" panose="020B0503020204020204" pitchFamily="34" charset="-122"/>
                <a:ea typeface="Microsoft YaHei" panose="020B0503020204020204" pitchFamily="34" charset="-122"/>
              </a:rPr>
              <a:t>"</a:t>
            </a:r>
          </a:p>
          <a:p>
            <a:r>
              <a:rPr lang="en-US" altLang="zh-TW" sz="1400">
                <a:solidFill>
                  <a:srgbClr val="575757"/>
                </a:solidFill>
                <a:latin typeface="Microsoft YaHei" panose="020B0503020204020204" pitchFamily="34" charset="-122"/>
                <a:ea typeface="Microsoft YaHei" panose="020B0503020204020204" pitchFamily="34" charset="-122"/>
              </a:rPr>
              <a:t>"</a:t>
            </a:r>
            <a:r>
              <a:rPr lang="zh-TW" altLang="en-US" sz="1400">
                <a:solidFill>
                  <a:srgbClr val="575757"/>
                </a:solidFill>
                <a:latin typeface="Microsoft YaHei" panose="020B0503020204020204" pitchFamily="34" charset="-122"/>
                <a:ea typeface="Microsoft YaHei" panose="020B0503020204020204" pitchFamily="34" charset="-122"/>
              </a:rPr>
              <a:t>開通網路</a:t>
            </a:r>
            <a:r>
              <a:rPr lang="en-US" altLang="zh-TW" sz="1400">
                <a:solidFill>
                  <a:srgbClr val="575757"/>
                </a:solidFill>
                <a:latin typeface="Microsoft YaHei" panose="020B0503020204020204" pitchFamily="34" charset="-122"/>
                <a:ea typeface="Microsoft YaHei" panose="020B0503020204020204" pitchFamily="34" charset="-122"/>
              </a:rPr>
              <a:t>/</a:t>
            </a:r>
            <a:r>
              <a:rPr lang="zh-TW" altLang="en-US" sz="1400">
                <a:solidFill>
                  <a:srgbClr val="575757"/>
                </a:solidFill>
                <a:latin typeface="Microsoft YaHei" panose="020B0503020204020204" pitchFamily="34" charset="-122"/>
                <a:ea typeface="Microsoft YaHei" panose="020B0503020204020204" pitchFamily="34" charset="-122"/>
              </a:rPr>
              <a:t>行動銀行方法</a:t>
            </a:r>
            <a:r>
              <a:rPr lang="en-US" altLang="zh-TW" sz="1400">
                <a:solidFill>
                  <a:srgbClr val="575757"/>
                </a:solidFill>
                <a:latin typeface="Microsoft YaHei" panose="020B0503020204020204" pitchFamily="34" charset="-122"/>
                <a:ea typeface="Microsoft YaHei" panose="020B0503020204020204" pitchFamily="34" charset="-122"/>
              </a:rPr>
              <a:t>"</a:t>
            </a:r>
            <a:endParaRPr lang="en-US" sz="1400">
              <a:solidFill>
                <a:srgbClr val="575757"/>
              </a:solidFill>
              <a:latin typeface="Microsoft YaHei" panose="020B0503020204020204" pitchFamily="34" charset="-122"/>
              <a:ea typeface="Microsoft YaHei" panose="020B0503020204020204" pitchFamily="34" charset="-122"/>
            </a:endParaRPr>
          </a:p>
        </p:txBody>
      </p:sp>
      <p:sp>
        <p:nvSpPr>
          <p:cNvPr id="56" name="TextBox 55">
            <a:extLst>
              <a:ext uri="{FF2B5EF4-FFF2-40B4-BE49-F238E27FC236}">
                <a16:creationId xmlns:a16="http://schemas.microsoft.com/office/drawing/2014/main" id="{D9F30B99-BF73-B42C-4242-37D1ED7663DB}"/>
              </a:ext>
            </a:extLst>
          </p:cNvPr>
          <p:cNvSpPr txBox="1"/>
          <p:nvPr/>
        </p:nvSpPr>
        <p:spPr>
          <a:xfrm>
            <a:off x="4909750" y="3651183"/>
            <a:ext cx="1694205" cy="494130"/>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altLang="zh-TW" sz="1400" b="1">
                <a:solidFill>
                  <a:srgbClr val="29BA74"/>
                </a:solidFill>
                <a:latin typeface="Microsoft YaHei" panose="020B0503020204020204" pitchFamily="34" charset="-122"/>
                <a:ea typeface="Microsoft YaHei" panose="020B0503020204020204" pitchFamily="34" charset="-122"/>
              </a:rPr>
              <a:t>[</a:t>
            </a:r>
            <a:r>
              <a:rPr lang="zh-TW" altLang="en-US" sz="1400" b="1">
                <a:solidFill>
                  <a:srgbClr val="29BA74"/>
                </a:solidFill>
                <a:latin typeface="Microsoft YaHei" panose="020B0503020204020204" pitchFamily="34" charset="-122"/>
                <a:ea typeface="Microsoft YaHei" panose="020B0503020204020204" pitchFamily="34" charset="-122"/>
              </a:rPr>
              <a:t>開卡教學</a:t>
            </a:r>
            <a:r>
              <a:rPr lang="en-US" altLang="zh-TW" sz="1400" b="1">
                <a:solidFill>
                  <a:srgbClr val="29BA74"/>
                </a:solidFill>
                <a:latin typeface="Microsoft YaHei" panose="020B0503020204020204" pitchFamily="34" charset="-122"/>
                <a:ea typeface="Microsoft YaHei" panose="020B0503020204020204" pitchFamily="34" charset="-122"/>
              </a:rPr>
              <a:t>]</a:t>
            </a:r>
          </a:p>
          <a:p>
            <a:r>
              <a:rPr lang="zh-TW" altLang="en-US" sz="1400">
                <a:solidFill>
                  <a:srgbClr val="575757"/>
                </a:solidFill>
                <a:latin typeface="Microsoft YaHei" panose="020B0503020204020204" pitchFamily="34" charset="-122"/>
                <a:ea typeface="Microsoft YaHei" panose="020B0503020204020204" pitchFamily="34" charset="-122"/>
              </a:rPr>
              <a:t>教導用戶開卡</a:t>
            </a:r>
            <a:endParaRPr lang="en-US" sz="1400">
              <a:solidFill>
                <a:srgbClr val="575757"/>
              </a:solidFill>
              <a:latin typeface="Microsoft YaHei" panose="020B0503020204020204" pitchFamily="34" charset="-122"/>
              <a:ea typeface="Microsoft YaHei" panose="020B0503020204020204" pitchFamily="34" charset="-122"/>
            </a:endParaRPr>
          </a:p>
        </p:txBody>
      </p:sp>
      <p:sp>
        <p:nvSpPr>
          <p:cNvPr id="75" name="TextBox 74">
            <a:extLst>
              <a:ext uri="{FF2B5EF4-FFF2-40B4-BE49-F238E27FC236}">
                <a16:creationId xmlns:a16="http://schemas.microsoft.com/office/drawing/2014/main" id="{990D59DF-8D0C-9253-F765-BC44FAA5D2F0}"/>
              </a:ext>
            </a:extLst>
          </p:cNvPr>
          <p:cNvSpPr txBox="1"/>
          <p:nvPr/>
        </p:nvSpPr>
        <p:spPr>
          <a:xfrm>
            <a:off x="6750014" y="2835190"/>
            <a:ext cx="1555454" cy="735478"/>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altLang="zh-TW" sz="1400">
                <a:solidFill>
                  <a:srgbClr val="575757"/>
                </a:solidFill>
                <a:latin typeface="Microsoft YaHei" panose="020B0503020204020204" pitchFamily="34" charset="-122"/>
                <a:ea typeface="Microsoft YaHei" panose="020B0503020204020204" pitchFamily="34" charset="-122"/>
              </a:rPr>
              <a:t>"</a:t>
            </a:r>
            <a:r>
              <a:rPr lang="zh-TW" altLang="en-US" sz="1400">
                <a:solidFill>
                  <a:srgbClr val="575757"/>
                </a:solidFill>
                <a:latin typeface="Microsoft YaHei" panose="020B0503020204020204" pitchFamily="34" charset="-122"/>
                <a:ea typeface="Microsoft YaHei" panose="020B0503020204020204" pitchFamily="34" charset="-122"/>
              </a:rPr>
              <a:t>新賓樂</a:t>
            </a:r>
            <a:r>
              <a:rPr lang="en-US" altLang="zh-TW" sz="1400">
                <a:solidFill>
                  <a:srgbClr val="575757"/>
                </a:solidFill>
                <a:latin typeface="Microsoft YaHei" panose="020B0503020204020204" pitchFamily="34" charset="-122"/>
                <a:ea typeface="Microsoft YaHei" panose="020B0503020204020204" pitchFamily="34" charset="-122"/>
              </a:rPr>
              <a:t>6</a:t>
            </a:r>
            <a:r>
              <a:rPr lang="zh-TW" altLang="en-US" sz="1400">
                <a:solidFill>
                  <a:srgbClr val="575757"/>
                </a:solidFill>
                <a:latin typeface="Microsoft YaHei" panose="020B0503020204020204" pitchFamily="34" charset="-122"/>
                <a:ea typeface="Microsoft YaHei" panose="020B0503020204020204" pitchFamily="34" charset="-122"/>
              </a:rPr>
              <a:t>大禮遇</a:t>
            </a:r>
            <a:r>
              <a:rPr lang="en-US" altLang="zh-TW" sz="1400">
                <a:solidFill>
                  <a:srgbClr val="575757"/>
                </a:solidFill>
                <a:latin typeface="Microsoft YaHei" panose="020B0503020204020204" pitchFamily="34" charset="-122"/>
                <a:ea typeface="Microsoft YaHei" panose="020B0503020204020204" pitchFamily="34" charset="-122"/>
              </a:rPr>
              <a:t>"</a:t>
            </a:r>
            <a:endParaRPr lang="en-US" sz="1400">
              <a:solidFill>
                <a:srgbClr val="575757"/>
              </a:solidFill>
              <a:latin typeface="Microsoft YaHei" panose="020B0503020204020204" pitchFamily="34" charset="-122"/>
              <a:ea typeface="Microsoft YaHei" panose="020B0503020204020204" pitchFamily="34" charset="-122"/>
            </a:endParaRPr>
          </a:p>
        </p:txBody>
      </p:sp>
      <p:sp>
        <p:nvSpPr>
          <p:cNvPr id="76" name="TextBox 75">
            <a:extLst>
              <a:ext uri="{FF2B5EF4-FFF2-40B4-BE49-F238E27FC236}">
                <a16:creationId xmlns:a16="http://schemas.microsoft.com/office/drawing/2014/main" id="{1FC6EA5C-9D42-57B2-35DF-E0D90BD42224}"/>
              </a:ext>
            </a:extLst>
          </p:cNvPr>
          <p:cNvSpPr txBox="1"/>
          <p:nvPr/>
        </p:nvSpPr>
        <p:spPr>
          <a:xfrm>
            <a:off x="7154359" y="2257728"/>
            <a:ext cx="746760" cy="266694"/>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a:solidFill>
                  <a:srgbClr val="29BA74"/>
                </a:solidFill>
                <a:ea typeface="Microsoft YaHei" panose="020B0503020204020204" pitchFamily="34" charset="-122"/>
              </a:rPr>
              <a:t>Day 6</a:t>
            </a:r>
          </a:p>
        </p:txBody>
      </p:sp>
      <p:sp>
        <p:nvSpPr>
          <p:cNvPr id="84" name="TextBox 83">
            <a:extLst>
              <a:ext uri="{FF2B5EF4-FFF2-40B4-BE49-F238E27FC236}">
                <a16:creationId xmlns:a16="http://schemas.microsoft.com/office/drawing/2014/main" id="{01342F77-94F6-7876-F62D-B08E5D535B3A}"/>
              </a:ext>
            </a:extLst>
          </p:cNvPr>
          <p:cNvSpPr txBox="1"/>
          <p:nvPr/>
        </p:nvSpPr>
        <p:spPr>
          <a:xfrm>
            <a:off x="6655297" y="3651183"/>
            <a:ext cx="1744887" cy="100423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altLang="zh-TW" sz="1400" b="1">
                <a:solidFill>
                  <a:srgbClr val="29BA74"/>
                </a:solidFill>
                <a:latin typeface="Microsoft YaHei" panose="020B0503020204020204" pitchFamily="34" charset="-122"/>
                <a:ea typeface="Microsoft YaHei" panose="020B0503020204020204" pitchFamily="34" charset="-122"/>
              </a:rPr>
              <a:t>[</a:t>
            </a:r>
            <a:r>
              <a:rPr lang="zh-TW" altLang="en-US" sz="1400" b="1">
                <a:solidFill>
                  <a:srgbClr val="29BA74"/>
                </a:solidFill>
                <a:latin typeface="Microsoft YaHei" panose="020B0503020204020204" pitchFamily="34" charset="-122"/>
                <a:ea typeface="Microsoft YaHei" panose="020B0503020204020204" pitchFamily="34" charset="-122"/>
              </a:rPr>
              <a:t>提醒客戶新戶優惠</a:t>
            </a:r>
            <a:r>
              <a:rPr lang="en-US" altLang="zh-TW" sz="1400" b="1">
                <a:solidFill>
                  <a:srgbClr val="29BA74"/>
                </a:solidFill>
                <a:latin typeface="Microsoft YaHei" panose="020B0503020204020204" pitchFamily="34" charset="-122"/>
                <a:ea typeface="Microsoft YaHei" panose="020B0503020204020204" pitchFamily="34" charset="-122"/>
              </a:rPr>
              <a:t>]</a:t>
            </a:r>
          </a:p>
          <a:p>
            <a:r>
              <a:rPr lang="zh-TW" altLang="en-US" sz="1400">
                <a:solidFill>
                  <a:srgbClr val="575757"/>
                </a:solidFill>
                <a:latin typeface="Microsoft YaHei" panose="020B0503020204020204" pitchFamily="34" charset="-122"/>
                <a:ea typeface="Microsoft YaHei" panose="020B0503020204020204" pitchFamily="34" charset="-122"/>
              </a:rPr>
              <a:t>觸發客戶購買基金、換匯、申辦房信貸、信用卡</a:t>
            </a:r>
            <a:endParaRPr lang="en-US" sz="1400">
              <a:solidFill>
                <a:srgbClr val="575757"/>
              </a:solidFill>
              <a:latin typeface="Microsoft YaHei" panose="020B0503020204020204" pitchFamily="34" charset="-122"/>
              <a:ea typeface="Microsoft YaHei" panose="020B0503020204020204" pitchFamily="34" charset="-122"/>
            </a:endParaRPr>
          </a:p>
        </p:txBody>
      </p:sp>
      <p:grpSp>
        <p:nvGrpSpPr>
          <p:cNvPr id="85" name="Group 84">
            <a:extLst>
              <a:ext uri="{FF2B5EF4-FFF2-40B4-BE49-F238E27FC236}">
                <a16:creationId xmlns:a16="http://schemas.microsoft.com/office/drawing/2014/main" id="{0530CC30-A669-A49B-DD00-726E65C6FA3C}"/>
              </a:ext>
            </a:extLst>
          </p:cNvPr>
          <p:cNvGrpSpPr/>
          <p:nvPr/>
        </p:nvGrpSpPr>
        <p:grpSpPr>
          <a:xfrm>
            <a:off x="1668387" y="1798021"/>
            <a:ext cx="442744" cy="443154"/>
            <a:chOff x="5183422" y="2515576"/>
            <a:chExt cx="617160" cy="617732"/>
          </a:xfrm>
        </p:grpSpPr>
        <p:sp>
          <p:nvSpPr>
            <p:cNvPr id="86" name="Oval 85">
              <a:extLst>
                <a:ext uri="{FF2B5EF4-FFF2-40B4-BE49-F238E27FC236}">
                  <a16:creationId xmlns:a16="http://schemas.microsoft.com/office/drawing/2014/main" id="{2B8FEDE5-A80F-1DA4-3E71-1191446AEFE9}"/>
                </a:ext>
              </a:extLst>
            </p:cNvPr>
            <p:cNvSpPr/>
            <p:nvPr>
              <p:custDataLst>
                <p:tags r:id="rId4"/>
              </p:custDataLst>
            </p:nvPr>
          </p:nvSpPr>
          <p:spPr>
            <a:xfrm>
              <a:off x="5183422" y="2515576"/>
              <a:ext cx="617160" cy="617732"/>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a:solidFill>
                  <a:schemeClr val="bg1">
                    <a:lumMod val="50000"/>
                  </a:schemeClr>
                </a:solidFill>
                <a:ea typeface="Microsoft YaHei" panose="020B0503020204020204" pitchFamily="34" charset="-122"/>
              </a:endParaRPr>
            </a:p>
          </p:txBody>
        </p:sp>
        <p:grpSp>
          <p:nvGrpSpPr>
            <p:cNvPr id="87" name="bcgIcons_Email ">
              <a:extLst>
                <a:ext uri="{FF2B5EF4-FFF2-40B4-BE49-F238E27FC236}">
                  <a16:creationId xmlns:a16="http://schemas.microsoft.com/office/drawing/2014/main" id="{29784EE1-30AC-FBED-3371-927BAC913DAF}"/>
                </a:ext>
              </a:extLst>
            </p:cNvPr>
            <p:cNvGrpSpPr>
              <a:grpSpLocks noChangeAspect="1"/>
            </p:cNvGrpSpPr>
            <p:nvPr/>
          </p:nvGrpSpPr>
          <p:grpSpPr bwMode="auto">
            <a:xfrm>
              <a:off x="5273803" y="2606041"/>
              <a:ext cx="436398" cy="436802"/>
              <a:chOff x="1682" y="0"/>
              <a:chExt cx="4316" cy="4320"/>
            </a:xfrm>
          </p:grpSpPr>
          <p:sp>
            <p:nvSpPr>
              <p:cNvPr id="88" name="AutoShape 13">
                <a:extLst>
                  <a:ext uri="{FF2B5EF4-FFF2-40B4-BE49-F238E27FC236}">
                    <a16:creationId xmlns:a16="http://schemas.microsoft.com/office/drawing/2014/main" id="{03C7E051-606B-0BBF-D168-0268BC452C36}"/>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15">
                <a:extLst>
                  <a:ext uri="{FF2B5EF4-FFF2-40B4-BE49-F238E27FC236}">
                    <a16:creationId xmlns:a16="http://schemas.microsoft.com/office/drawing/2014/main" id="{AECDC8C4-FC61-E84C-AC92-BF18168BD29B}"/>
                  </a:ext>
                </a:extLst>
              </p:cNvPr>
              <p:cNvSpPr>
                <a:spLocks noEditPoints="1"/>
              </p:cNvSpPr>
              <p:nvPr/>
            </p:nvSpPr>
            <p:spPr bwMode="auto">
              <a:xfrm>
                <a:off x="2446" y="1155"/>
                <a:ext cx="2788" cy="2010"/>
              </a:xfrm>
              <a:custGeom>
                <a:avLst/>
                <a:gdLst>
                  <a:gd name="T0" fmla="*/ 1488 w 1488"/>
                  <a:gd name="T1" fmla="*/ 65 h 1072"/>
                  <a:gd name="T2" fmla="*/ 1488 w 1488"/>
                  <a:gd name="T3" fmla="*/ 1050 h 1072"/>
                  <a:gd name="T4" fmla="*/ 1477 w 1488"/>
                  <a:gd name="T5" fmla="*/ 1055 h 1072"/>
                  <a:gd name="T6" fmla="*/ 978 w 1488"/>
                  <a:gd name="T7" fmla="*/ 494 h 1072"/>
                  <a:gd name="T8" fmla="*/ 978 w 1488"/>
                  <a:gd name="T9" fmla="*/ 484 h 1072"/>
                  <a:gd name="T10" fmla="*/ 1488 w 1488"/>
                  <a:gd name="T11" fmla="*/ 65 h 1072"/>
                  <a:gd name="T12" fmla="*/ 1488 w 1488"/>
                  <a:gd name="T13" fmla="*/ 65 h 1072"/>
                  <a:gd name="T14" fmla="*/ 0 w 1488"/>
                  <a:gd name="T15" fmla="*/ 65 h 1072"/>
                  <a:gd name="T16" fmla="*/ 0 w 1488"/>
                  <a:gd name="T17" fmla="*/ 1050 h 1072"/>
                  <a:gd name="T18" fmla="*/ 11 w 1488"/>
                  <a:gd name="T19" fmla="*/ 1055 h 1072"/>
                  <a:gd name="T20" fmla="*/ 510 w 1488"/>
                  <a:gd name="T21" fmla="*/ 494 h 1072"/>
                  <a:gd name="T22" fmla="*/ 510 w 1488"/>
                  <a:gd name="T23" fmla="*/ 484 h 1072"/>
                  <a:gd name="T24" fmla="*/ 0 w 1488"/>
                  <a:gd name="T25" fmla="*/ 65 h 1072"/>
                  <a:gd name="T26" fmla="*/ 0 w 1488"/>
                  <a:gd name="T27" fmla="*/ 65 h 1072"/>
                  <a:gd name="T28" fmla="*/ 1399 w 1488"/>
                  <a:gd name="T29" fmla="*/ 1072 h 1072"/>
                  <a:gd name="T30" fmla="*/ 1399 w 1488"/>
                  <a:gd name="T31" fmla="*/ 1072 h 1072"/>
                  <a:gd name="T32" fmla="*/ 934 w 1488"/>
                  <a:gd name="T33" fmla="*/ 546 h 1072"/>
                  <a:gd name="T34" fmla="*/ 925 w 1488"/>
                  <a:gd name="T35" fmla="*/ 545 h 1072"/>
                  <a:gd name="T36" fmla="*/ 750 w 1488"/>
                  <a:gd name="T37" fmla="*/ 701 h 1072"/>
                  <a:gd name="T38" fmla="*/ 742 w 1488"/>
                  <a:gd name="T39" fmla="*/ 701 h 1072"/>
                  <a:gd name="T40" fmla="*/ 566 w 1488"/>
                  <a:gd name="T41" fmla="*/ 545 h 1072"/>
                  <a:gd name="T42" fmla="*/ 558 w 1488"/>
                  <a:gd name="T43" fmla="*/ 546 h 1072"/>
                  <a:gd name="T44" fmla="*/ 90 w 1488"/>
                  <a:gd name="T45" fmla="*/ 1061 h 1072"/>
                  <a:gd name="T46" fmla="*/ 95 w 1488"/>
                  <a:gd name="T47" fmla="*/ 1072 h 1072"/>
                  <a:gd name="T48" fmla="*/ 1399 w 1488"/>
                  <a:gd name="T49" fmla="*/ 1072 h 1072"/>
                  <a:gd name="T50" fmla="*/ 1399 w 1488"/>
                  <a:gd name="T51" fmla="*/ 1072 h 1072"/>
                  <a:gd name="T52" fmla="*/ 1461 w 1488"/>
                  <a:gd name="T53" fmla="*/ 0 h 1072"/>
                  <a:gd name="T54" fmla="*/ 27 w 1488"/>
                  <a:gd name="T55" fmla="*/ 0 h 1072"/>
                  <a:gd name="T56" fmla="*/ 23 w 1488"/>
                  <a:gd name="T57" fmla="*/ 11 h 1072"/>
                  <a:gd name="T58" fmla="*/ 738 w 1488"/>
                  <a:gd name="T59" fmla="*/ 605 h 1072"/>
                  <a:gd name="T60" fmla="*/ 746 w 1488"/>
                  <a:gd name="T61" fmla="*/ 605 h 1072"/>
                  <a:gd name="T62" fmla="*/ 1465 w 1488"/>
                  <a:gd name="T63" fmla="*/ 11 h 1072"/>
                  <a:gd name="T64" fmla="*/ 1461 w 1488"/>
                  <a:gd name="T65" fmla="*/ 0 h 1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88" h="1072">
                    <a:moveTo>
                      <a:pt x="1488" y="65"/>
                    </a:moveTo>
                    <a:cubicBezTo>
                      <a:pt x="1488" y="1050"/>
                      <a:pt x="1488" y="1050"/>
                      <a:pt x="1488" y="1050"/>
                    </a:cubicBezTo>
                    <a:cubicBezTo>
                      <a:pt x="1488" y="1056"/>
                      <a:pt x="1481" y="1059"/>
                      <a:pt x="1477" y="1055"/>
                    </a:cubicBezTo>
                    <a:cubicBezTo>
                      <a:pt x="978" y="494"/>
                      <a:pt x="978" y="494"/>
                      <a:pt x="978" y="494"/>
                    </a:cubicBezTo>
                    <a:cubicBezTo>
                      <a:pt x="975" y="491"/>
                      <a:pt x="976" y="487"/>
                      <a:pt x="978" y="484"/>
                    </a:cubicBezTo>
                    <a:cubicBezTo>
                      <a:pt x="1488" y="65"/>
                      <a:pt x="1488" y="65"/>
                      <a:pt x="1488" y="65"/>
                    </a:cubicBezTo>
                    <a:cubicBezTo>
                      <a:pt x="1488" y="65"/>
                      <a:pt x="1488" y="65"/>
                      <a:pt x="1488" y="65"/>
                    </a:cubicBezTo>
                    <a:close/>
                    <a:moveTo>
                      <a:pt x="0" y="65"/>
                    </a:moveTo>
                    <a:cubicBezTo>
                      <a:pt x="0" y="1050"/>
                      <a:pt x="0" y="1050"/>
                      <a:pt x="0" y="1050"/>
                    </a:cubicBezTo>
                    <a:cubicBezTo>
                      <a:pt x="0" y="1056"/>
                      <a:pt x="7" y="1059"/>
                      <a:pt x="11" y="1055"/>
                    </a:cubicBezTo>
                    <a:cubicBezTo>
                      <a:pt x="510" y="494"/>
                      <a:pt x="510" y="494"/>
                      <a:pt x="510" y="494"/>
                    </a:cubicBezTo>
                    <a:cubicBezTo>
                      <a:pt x="513" y="491"/>
                      <a:pt x="512" y="487"/>
                      <a:pt x="510" y="484"/>
                    </a:cubicBezTo>
                    <a:cubicBezTo>
                      <a:pt x="0" y="65"/>
                      <a:pt x="0" y="65"/>
                      <a:pt x="0" y="65"/>
                    </a:cubicBezTo>
                    <a:cubicBezTo>
                      <a:pt x="0" y="65"/>
                      <a:pt x="0" y="65"/>
                      <a:pt x="0" y="65"/>
                    </a:cubicBezTo>
                    <a:close/>
                    <a:moveTo>
                      <a:pt x="1399" y="1072"/>
                    </a:moveTo>
                    <a:cubicBezTo>
                      <a:pt x="1399" y="1072"/>
                      <a:pt x="1399" y="1072"/>
                      <a:pt x="1399" y="1072"/>
                    </a:cubicBezTo>
                    <a:cubicBezTo>
                      <a:pt x="934" y="546"/>
                      <a:pt x="934" y="546"/>
                      <a:pt x="934" y="546"/>
                    </a:cubicBezTo>
                    <a:cubicBezTo>
                      <a:pt x="931" y="543"/>
                      <a:pt x="928" y="542"/>
                      <a:pt x="925" y="545"/>
                    </a:cubicBezTo>
                    <a:cubicBezTo>
                      <a:pt x="750" y="701"/>
                      <a:pt x="750" y="701"/>
                      <a:pt x="750" y="701"/>
                    </a:cubicBezTo>
                    <a:cubicBezTo>
                      <a:pt x="748" y="703"/>
                      <a:pt x="744" y="703"/>
                      <a:pt x="742" y="701"/>
                    </a:cubicBezTo>
                    <a:cubicBezTo>
                      <a:pt x="566" y="545"/>
                      <a:pt x="566" y="545"/>
                      <a:pt x="566" y="545"/>
                    </a:cubicBezTo>
                    <a:cubicBezTo>
                      <a:pt x="564" y="542"/>
                      <a:pt x="560" y="542"/>
                      <a:pt x="558" y="546"/>
                    </a:cubicBezTo>
                    <a:cubicBezTo>
                      <a:pt x="90" y="1061"/>
                      <a:pt x="90" y="1061"/>
                      <a:pt x="90" y="1061"/>
                    </a:cubicBezTo>
                    <a:cubicBezTo>
                      <a:pt x="86" y="1065"/>
                      <a:pt x="89" y="1072"/>
                      <a:pt x="95" y="1072"/>
                    </a:cubicBezTo>
                    <a:cubicBezTo>
                      <a:pt x="1399" y="1072"/>
                      <a:pt x="1399" y="1072"/>
                      <a:pt x="1399" y="1072"/>
                    </a:cubicBezTo>
                    <a:cubicBezTo>
                      <a:pt x="1399" y="1072"/>
                      <a:pt x="1399" y="1072"/>
                      <a:pt x="1399" y="1072"/>
                    </a:cubicBezTo>
                    <a:close/>
                    <a:moveTo>
                      <a:pt x="1461" y="0"/>
                    </a:moveTo>
                    <a:cubicBezTo>
                      <a:pt x="27" y="0"/>
                      <a:pt x="27" y="0"/>
                      <a:pt x="27" y="0"/>
                    </a:cubicBezTo>
                    <a:cubicBezTo>
                      <a:pt x="21" y="0"/>
                      <a:pt x="19" y="8"/>
                      <a:pt x="23" y="11"/>
                    </a:cubicBezTo>
                    <a:cubicBezTo>
                      <a:pt x="738" y="605"/>
                      <a:pt x="738" y="605"/>
                      <a:pt x="738" y="605"/>
                    </a:cubicBezTo>
                    <a:cubicBezTo>
                      <a:pt x="740" y="607"/>
                      <a:pt x="743" y="607"/>
                      <a:pt x="746" y="605"/>
                    </a:cubicBezTo>
                    <a:cubicBezTo>
                      <a:pt x="1465" y="11"/>
                      <a:pt x="1465" y="11"/>
                      <a:pt x="1465" y="11"/>
                    </a:cubicBezTo>
                    <a:cubicBezTo>
                      <a:pt x="1469" y="8"/>
                      <a:pt x="1466" y="0"/>
                      <a:pt x="1461"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sp>
            <p:nvSpPr>
              <p:cNvPr id="90" name="Freeform 16">
                <a:extLst>
                  <a:ext uri="{FF2B5EF4-FFF2-40B4-BE49-F238E27FC236}">
                    <a16:creationId xmlns:a16="http://schemas.microsoft.com/office/drawing/2014/main" id="{AC58140F-38CC-A76F-59FA-11EFB0612100}"/>
                  </a:ext>
                </a:extLst>
              </p:cNvPr>
              <p:cNvSpPr>
                <a:spLocks noEditPoints="1"/>
              </p:cNvSpPr>
              <p:nvPr/>
            </p:nvSpPr>
            <p:spPr bwMode="auto">
              <a:xfrm>
                <a:off x="2257" y="988"/>
                <a:ext cx="3166" cy="2344"/>
              </a:xfrm>
              <a:custGeom>
                <a:avLst/>
                <a:gdLst>
                  <a:gd name="T0" fmla="*/ 1668 w 1690"/>
                  <a:gd name="T1" fmla="*/ 1250 h 1250"/>
                  <a:gd name="T2" fmla="*/ 22 w 1690"/>
                  <a:gd name="T3" fmla="*/ 1250 h 1250"/>
                  <a:gd name="T4" fmla="*/ 0 w 1690"/>
                  <a:gd name="T5" fmla="*/ 1228 h 1250"/>
                  <a:gd name="T6" fmla="*/ 0 w 1690"/>
                  <a:gd name="T7" fmla="*/ 22 h 1250"/>
                  <a:gd name="T8" fmla="*/ 22 w 1690"/>
                  <a:gd name="T9" fmla="*/ 0 h 1250"/>
                  <a:gd name="T10" fmla="*/ 1668 w 1690"/>
                  <a:gd name="T11" fmla="*/ 0 h 1250"/>
                  <a:gd name="T12" fmla="*/ 1690 w 1690"/>
                  <a:gd name="T13" fmla="*/ 22 h 1250"/>
                  <a:gd name="T14" fmla="*/ 1690 w 1690"/>
                  <a:gd name="T15" fmla="*/ 1228 h 1250"/>
                  <a:gd name="T16" fmla="*/ 1668 w 1690"/>
                  <a:gd name="T17" fmla="*/ 1250 h 1250"/>
                  <a:gd name="T18" fmla="*/ 44 w 1690"/>
                  <a:gd name="T19" fmla="*/ 1206 h 1250"/>
                  <a:gd name="T20" fmla="*/ 1646 w 1690"/>
                  <a:gd name="T21" fmla="*/ 1206 h 1250"/>
                  <a:gd name="T22" fmla="*/ 1646 w 1690"/>
                  <a:gd name="T23" fmla="*/ 44 h 1250"/>
                  <a:gd name="T24" fmla="*/ 44 w 1690"/>
                  <a:gd name="T25" fmla="*/ 44 h 1250"/>
                  <a:gd name="T26" fmla="*/ 44 w 1690"/>
                  <a:gd name="T27" fmla="*/ 1206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90" h="1250">
                    <a:moveTo>
                      <a:pt x="1668" y="1250"/>
                    </a:moveTo>
                    <a:cubicBezTo>
                      <a:pt x="22" y="1250"/>
                      <a:pt x="22" y="1250"/>
                      <a:pt x="22" y="1250"/>
                    </a:cubicBezTo>
                    <a:cubicBezTo>
                      <a:pt x="10" y="1250"/>
                      <a:pt x="0" y="1240"/>
                      <a:pt x="0" y="1228"/>
                    </a:cubicBezTo>
                    <a:cubicBezTo>
                      <a:pt x="0" y="22"/>
                      <a:pt x="0" y="22"/>
                      <a:pt x="0" y="22"/>
                    </a:cubicBezTo>
                    <a:cubicBezTo>
                      <a:pt x="0" y="10"/>
                      <a:pt x="10" y="0"/>
                      <a:pt x="22" y="0"/>
                    </a:cubicBezTo>
                    <a:cubicBezTo>
                      <a:pt x="1668" y="0"/>
                      <a:pt x="1668" y="0"/>
                      <a:pt x="1668" y="0"/>
                    </a:cubicBezTo>
                    <a:cubicBezTo>
                      <a:pt x="1680" y="0"/>
                      <a:pt x="1690" y="10"/>
                      <a:pt x="1690" y="22"/>
                    </a:cubicBezTo>
                    <a:cubicBezTo>
                      <a:pt x="1690" y="1228"/>
                      <a:pt x="1690" y="1228"/>
                      <a:pt x="1690" y="1228"/>
                    </a:cubicBezTo>
                    <a:cubicBezTo>
                      <a:pt x="1690" y="1240"/>
                      <a:pt x="1680" y="1250"/>
                      <a:pt x="1668" y="1250"/>
                    </a:cubicBezTo>
                    <a:close/>
                    <a:moveTo>
                      <a:pt x="44" y="1206"/>
                    </a:moveTo>
                    <a:cubicBezTo>
                      <a:pt x="1646" y="1206"/>
                      <a:pt x="1646" y="1206"/>
                      <a:pt x="1646" y="1206"/>
                    </a:cubicBezTo>
                    <a:cubicBezTo>
                      <a:pt x="1646" y="44"/>
                      <a:pt x="1646" y="44"/>
                      <a:pt x="1646" y="44"/>
                    </a:cubicBezTo>
                    <a:cubicBezTo>
                      <a:pt x="44" y="44"/>
                      <a:pt x="44" y="44"/>
                      <a:pt x="44" y="44"/>
                    </a:cubicBezTo>
                    <a:lnTo>
                      <a:pt x="44" y="120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grpSp>
      </p:grpSp>
      <p:grpSp>
        <p:nvGrpSpPr>
          <p:cNvPr id="103" name="Group 102">
            <a:extLst>
              <a:ext uri="{FF2B5EF4-FFF2-40B4-BE49-F238E27FC236}">
                <a16:creationId xmlns:a16="http://schemas.microsoft.com/office/drawing/2014/main" id="{B8DDC032-BA39-875B-BD2B-BC2A457B8D79}"/>
              </a:ext>
            </a:extLst>
          </p:cNvPr>
          <p:cNvGrpSpPr/>
          <p:nvPr/>
        </p:nvGrpSpPr>
        <p:grpSpPr>
          <a:xfrm>
            <a:off x="5437526" y="1798021"/>
            <a:ext cx="442744" cy="443154"/>
            <a:chOff x="5203275" y="2534688"/>
            <a:chExt cx="480721" cy="480721"/>
          </a:xfrm>
        </p:grpSpPr>
        <p:sp>
          <p:nvSpPr>
            <p:cNvPr id="102" name="Oval 101">
              <a:extLst>
                <a:ext uri="{FF2B5EF4-FFF2-40B4-BE49-F238E27FC236}">
                  <a16:creationId xmlns:a16="http://schemas.microsoft.com/office/drawing/2014/main" id="{8650B335-41B6-5BE0-98BD-DBBDE7B33F51}"/>
                </a:ext>
              </a:extLst>
            </p:cNvPr>
            <p:cNvSpPr/>
            <p:nvPr>
              <p:custDataLst>
                <p:tags r:id="rId3"/>
              </p:custDataLst>
            </p:nvPr>
          </p:nvSpPr>
          <p:spPr>
            <a:xfrm>
              <a:off x="5203275" y="2534688"/>
              <a:ext cx="480721" cy="480721"/>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a:solidFill>
                  <a:schemeClr val="bg1">
                    <a:lumMod val="50000"/>
                  </a:schemeClr>
                </a:solidFill>
                <a:ea typeface="Microsoft YaHei" panose="020B0503020204020204" pitchFamily="34" charset="-122"/>
              </a:endParaRPr>
            </a:p>
          </p:txBody>
        </p:sp>
        <p:grpSp>
          <p:nvGrpSpPr>
            <p:cNvPr id="97" name="bcgIcons_Subscription">
              <a:extLst>
                <a:ext uri="{FF2B5EF4-FFF2-40B4-BE49-F238E27FC236}">
                  <a16:creationId xmlns:a16="http://schemas.microsoft.com/office/drawing/2014/main" id="{77E525A2-0F2C-E685-54EE-2BB1C27278E2}"/>
                </a:ext>
              </a:extLst>
            </p:cNvPr>
            <p:cNvGrpSpPr>
              <a:grpSpLocks noChangeAspect="1"/>
            </p:cNvGrpSpPr>
            <p:nvPr/>
          </p:nvGrpSpPr>
          <p:grpSpPr>
            <a:xfrm>
              <a:off x="5273675" y="2605088"/>
              <a:ext cx="339921" cy="339921"/>
              <a:chOff x="5273675" y="2605088"/>
              <a:chExt cx="1646238" cy="1646237"/>
            </a:xfrm>
          </p:grpSpPr>
          <p:sp>
            <p:nvSpPr>
              <p:cNvPr id="98" name="AutoShape 14">
                <a:extLst>
                  <a:ext uri="{FF2B5EF4-FFF2-40B4-BE49-F238E27FC236}">
                    <a16:creationId xmlns:a16="http://schemas.microsoft.com/office/drawing/2014/main" id="{F98118A7-AE7F-CACF-EE97-451895248F67}"/>
                  </a:ext>
                </a:extLst>
              </p:cNvPr>
              <p:cNvSpPr>
                <a:spLocks noChangeAspect="1" noChangeArrowheads="1" noTextEdit="1"/>
              </p:cNvSpPr>
              <p:nvPr/>
            </p:nvSpPr>
            <p:spPr bwMode="auto">
              <a:xfrm>
                <a:off x="5273675" y="2605088"/>
                <a:ext cx="1646238" cy="1646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99" name="Group 98">
                <a:extLst>
                  <a:ext uri="{FF2B5EF4-FFF2-40B4-BE49-F238E27FC236}">
                    <a16:creationId xmlns:a16="http://schemas.microsoft.com/office/drawing/2014/main" id="{8F5017EC-67A8-4034-C2BE-3685EADD773C}"/>
                  </a:ext>
                </a:extLst>
              </p:cNvPr>
              <p:cNvGrpSpPr/>
              <p:nvPr/>
            </p:nvGrpSpPr>
            <p:grpSpPr>
              <a:xfrm>
                <a:off x="5483225" y="2776538"/>
                <a:ext cx="1228725" cy="1303337"/>
                <a:chOff x="5483225" y="2776538"/>
                <a:chExt cx="1228725" cy="1303337"/>
              </a:xfrm>
            </p:grpSpPr>
            <p:sp>
              <p:nvSpPr>
                <p:cNvPr id="100" name="Freeform 5">
                  <a:extLst>
                    <a:ext uri="{FF2B5EF4-FFF2-40B4-BE49-F238E27FC236}">
                      <a16:creationId xmlns:a16="http://schemas.microsoft.com/office/drawing/2014/main" id="{406522C0-776E-972F-F5A9-2D889DA028EA}"/>
                    </a:ext>
                  </a:extLst>
                </p:cNvPr>
                <p:cNvSpPr>
                  <a:spLocks/>
                </p:cNvSpPr>
                <p:nvPr/>
              </p:nvSpPr>
              <p:spPr bwMode="auto">
                <a:xfrm>
                  <a:off x="5483225" y="2776538"/>
                  <a:ext cx="1228725" cy="1303337"/>
                </a:xfrm>
                <a:custGeom>
                  <a:avLst/>
                  <a:gdLst>
                    <a:gd name="connsiteX0" fmla="*/ 355419 w 1228725"/>
                    <a:gd name="connsiteY0" fmla="*/ 544512 h 1303337"/>
                    <a:gd name="connsiteX1" fmla="*/ 873307 w 1228725"/>
                    <a:gd name="connsiteY1" fmla="*/ 544512 h 1303337"/>
                    <a:gd name="connsiteX2" fmla="*/ 889000 w 1228725"/>
                    <a:gd name="connsiteY2" fmla="*/ 558800 h 1303337"/>
                    <a:gd name="connsiteX3" fmla="*/ 873307 w 1228725"/>
                    <a:gd name="connsiteY3" fmla="*/ 573087 h 1303337"/>
                    <a:gd name="connsiteX4" fmla="*/ 355419 w 1228725"/>
                    <a:gd name="connsiteY4" fmla="*/ 573087 h 1303337"/>
                    <a:gd name="connsiteX5" fmla="*/ 339725 w 1228725"/>
                    <a:gd name="connsiteY5" fmla="*/ 558800 h 1303337"/>
                    <a:gd name="connsiteX6" fmla="*/ 355419 w 1228725"/>
                    <a:gd name="connsiteY6" fmla="*/ 544512 h 1303337"/>
                    <a:gd name="connsiteX7" fmla="*/ 355419 w 1228725"/>
                    <a:gd name="connsiteY7" fmla="*/ 433387 h 1303337"/>
                    <a:gd name="connsiteX8" fmla="*/ 873307 w 1228725"/>
                    <a:gd name="connsiteY8" fmla="*/ 433387 h 1303337"/>
                    <a:gd name="connsiteX9" fmla="*/ 889000 w 1228725"/>
                    <a:gd name="connsiteY9" fmla="*/ 449631 h 1303337"/>
                    <a:gd name="connsiteX10" fmla="*/ 873307 w 1228725"/>
                    <a:gd name="connsiteY10" fmla="*/ 465137 h 1303337"/>
                    <a:gd name="connsiteX11" fmla="*/ 355419 w 1228725"/>
                    <a:gd name="connsiteY11" fmla="*/ 465137 h 1303337"/>
                    <a:gd name="connsiteX12" fmla="*/ 339725 w 1228725"/>
                    <a:gd name="connsiteY12" fmla="*/ 449631 h 1303337"/>
                    <a:gd name="connsiteX13" fmla="*/ 355419 w 1228725"/>
                    <a:gd name="connsiteY13" fmla="*/ 433387 h 1303337"/>
                    <a:gd name="connsiteX14" fmla="*/ 355419 w 1228725"/>
                    <a:gd name="connsiteY14" fmla="*/ 322262 h 1303337"/>
                    <a:gd name="connsiteX15" fmla="*/ 873307 w 1228725"/>
                    <a:gd name="connsiteY15" fmla="*/ 322262 h 1303337"/>
                    <a:gd name="connsiteX16" fmla="*/ 889000 w 1228725"/>
                    <a:gd name="connsiteY16" fmla="*/ 338137 h 1303337"/>
                    <a:gd name="connsiteX17" fmla="*/ 873307 w 1228725"/>
                    <a:gd name="connsiteY17" fmla="*/ 354012 h 1303337"/>
                    <a:gd name="connsiteX18" fmla="*/ 355419 w 1228725"/>
                    <a:gd name="connsiteY18" fmla="*/ 354012 h 1303337"/>
                    <a:gd name="connsiteX19" fmla="*/ 339725 w 1228725"/>
                    <a:gd name="connsiteY19" fmla="*/ 338137 h 1303337"/>
                    <a:gd name="connsiteX20" fmla="*/ 355419 w 1228725"/>
                    <a:gd name="connsiteY20" fmla="*/ 322262 h 1303337"/>
                    <a:gd name="connsiteX21" fmla="*/ 496037 w 1228725"/>
                    <a:gd name="connsiteY21" fmla="*/ 173037 h 1303337"/>
                    <a:gd name="connsiteX22" fmla="*/ 733562 w 1228725"/>
                    <a:gd name="connsiteY22" fmla="*/ 173037 h 1303337"/>
                    <a:gd name="connsiteX23" fmla="*/ 749301 w 1228725"/>
                    <a:gd name="connsiteY23" fmla="*/ 188118 h 1303337"/>
                    <a:gd name="connsiteX24" fmla="*/ 733562 w 1228725"/>
                    <a:gd name="connsiteY24" fmla="*/ 203199 h 1303337"/>
                    <a:gd name="connsiteX25" fmla="*/ 496037 w 1228725"/>
                    <a:gd name="connsiteY25" fmla="*/ 203199 h 1303337"/>
                    <a:gd name="connsiteX26" fmla="*/ 481013 w 1228725"/>
                    <a:gd name="connsiteY26" fmla="*/ 188118 h 1303337"/>
                    <a:gd name="connsiteX27" fmla="*/ 496037 w 1228725"/>
                    <a:gd name="connsiteY27" fmla="*/ 173037 h 1303337"/>
                    <a:gd name="connsiteX28" fmla="*/ 205249 w 1228725"/>
                    <a:gd name="connsiteY28" fmla="*/ 31750 h 1303337"/>
                    <a:gd name="connsiteX29" fmla="*/ 205249 w 1228725"/>
                    <a:gd name="connsiteY29" fmla="*/ 583106 h 1303337"/>
                    <a:gd name="connsiteX30" fmla="*/ 203107 w 1228725"/>
                    <a:gd name="connsiteY30" fmla="*/ 580964 h 1303337"/>
                    <a:gd name="connsiteX31" fmla="*/ 173833 w 1228725"/>
                    <a:gd name="connsiteY31" fmla="*/ 558110 h 1303337"/>
                    <a:gd name="connsiteX32" fmla="*/ 173833 w 1228725"/>
                    <a:gd name="connsiteY32" fmla="*/ 375991 h 1303337"/>
                    <a:gd name="connsiteX33" fmla="*/ 61738 w 1228725"/>
                    <a:gd name="connsiteY33" fmla="*/ 436697 h 1303337"/>
                    <a:gd name="connsiteX34" fmla="*/ 48172 w 1228725"/>
                    <a:gd name="connsiteY34" fmla="*/ 444553 h 1303337"/>
                    <a:gd name="connsiteX35" fmla="*/ 31750 w 1228725"/>
                    <a:gd name="connsiteY35" fmla="*/ 453123 h 1303337"/>
                    <a:gd name="connsiteX36" fmla="*/ 31750 w 1228725"/>
                    <a:gd name="connsiteY36" fmla="*/ 1271587 h 1303337"/>
                    <a:gd name="connsiteX37" fmla="*/ 63166 w 1228725"/>
                    <a:gd name="connsiteY37" fmla="*/ 1271587 h 1303337"/>
                    <a:gd name="connsiteX38" fmla="*/ 1165560 w 1228725"/>
                    <a:gd name="connsiteY38" fmla="*/ 1271587 h 1303337"/>
                    <a:gd name="connsiteX39" fmla="*/ 1196975 w 1228725"/>
                    <a:gd name="connsiteY39" fmla="*/ 1271587 h 1303337"/>
                    <a:gd name="connsiteX40" fmla="*/ 1196975 w 1228725"/>
                    <a:gd name="connsiteY40" fmla="*/ 453123 h 1303337"/>
                    <a:gd name="connsiteX41" fmla="*/ 1192691 w 1228725"/>
                    <a:gd name="connsiteY41" fmla="*/ 450981 h 1303337"/>
                    <a:gd name="connsiteX42" fmla="*/ 1054892 w 1228725"/>
                    <a:gd name="connsiteY42" fmla="*/ 373848 h 1303337"/>
                    <a:gd name="connsiteX43" fmla="*/ 1054892 w 1228725"/>
                    <a:gd name="connsiteY43" fmla="*/ 383133 h 1303337"/>
                    <a:gd name="connsiteX44" fmla="*/ 1054178 w 1228725"/>
                    <a:gd name="connsiteY44" fmla="*/ 428127 h 1303337"/>
                    <a:gd name="connsiteX45" fmla="*/ 1052750 w 1228725"/>
                    <a:gd name="connsiteY45" fmla="*/ 557395 h 1303337"/>
                    <a:gd name="connsiteX46" fmla="*/ 1023477 w 1228725"/>
                    <a:gd name="connsiteY46" fmla="*/ 580249 h 1303337"/>
                    <a:gd name="connsiteX47" fmla="*/ 1023477 w 1228725"/>
                    <a:gd name="connsiteY47" fmla="*/ 347423 h 1303337"/>
                    <a:gd name="connsiteX48" fmla="*/ 1023477 w 1228725"/>
                    <a:gd name="connsiteY48" fmla="*/ 31750 h 1303337"/>
                    <a:gd name="connsiteX49" fmla="*/ 205249 w 1228725"/>
                    <a:gd name="connsiteY49" fmla="*/ 31750 h 1303337"/>
                    <a:gd name="connsiteX50" fmla="*/ 189310 w 1228725"/>
                    <a:gd name="connsiteY50" fmla="*/ 0 h 1303337"/>
                    <a:gd name="connsiteX51" fmla="*/ 1039416 w 1228725"/>
                    <a:gd name="connsiteY51" fmla="*/ 0 h 1303337"/>
                    <a:gd name="connsiteX52" fmla="*/ 1055132 w 1228725"/>
                    <a:gd name="connsiteY52" fmla="*/ 15720 h 1303337"/>
                    <a:gd name="connsiteX53" fmla="*/ 1055132 w 1228725"/>
                    <a:gd name="connsiteY53" fmla="*/ 337982 h 1303337"/>
                    <a:gd name="connsiteX54" fmla="*/ 1220867 w 1228725"/>
                    <a:gd name="connsiteY54" fmla="*/ 430159 h 1303337"/>
                    <a:gd name="connsiteX55" fmla="*/ 1228725 w 1228725"/>
                    <a:gd name="connsiteY55" fmla="*/ 443735 h 1303337"/>
                    <a:gd name="connsiteX56" fmla="*/ 1228725 w 1228725"/>
                    <a:gd name="connsiteY56" fmla="*/ 1287617 h 1303337"/>
                    <a:gd name="connsiteX57" fmla="*/ 1213009 w 1228725"/>
                    <a:gd name="connsiteY57" fmla="*/ 1303337 h 1303337"/>
                    <a:gd name="connsiteX58" fmla="*/ 15716 w 1228725"/>
                    <a:gd name="connsiteY58" fmla="*/ 1303337 h 1303337"/>
                    <a:gd name="connsiteX59" fmla="*/ 0 w 1228725"/>
                    <a:gd name="connsiteY59" fmla="*/ 1287617 h 1303337"/>
                    <a:gd name="connsiteX60" fmla="*/ 0 w 1228725"/>
                    <a:gd name="connsiteY60" fmla="*/ 443735 h 1303337"/>
                    <a:gd name="connsiteX61" fmla="*/ 7858 w 1228725"/>
                    <a:gd name="connsiteY61" fmla="*/ 430159 h 1303337"/>
                    <a:gd name="connsiteX62" fmla="*/ 173593 w 1228725"/>
                    <a:gd name="connsiteY62" fmla="*/ 340125 h 1303337"/>
                    <a:gd name="connsiteX63" fmla="*/ 173593 w 1228725"/>
                    <a:gd name="connsiteY63" fmla="*/ 15720 h 1303337"/>
                    <a:gd name="connsiteX64" fmla="*/ 189310 w 1228725"/>
                    <a:gd name="connsiteY64" fmla="*/ 0 h 1303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228725" h="1303337">
                      <a:moveTo>
                        <a:pt x="355419" y="544512"/>
                      </a:moveTo>
                      <a:cubicBezTo>
                        <a:pt x="355419" y="544512"/>
                        <a:pt x="355419" y="544512"/>
                        <a:pt x="873307" y="544512"/>
                      </a:cubicBezTo>
                      <a:cubicBezTo>
                        <a:pt x="882580" y="544512"/>
                        <a:pt x="889000" y="550635"/>
                        <a:pt x="889000" y="558800"/>
                      </a:cubicBezTo>
                      <a:cubicBezTo>
                        <a:pt x="889000" y="566964"/>
                        <a:pt x="882580" y="573087"/>
                        <a:pt x="873307" y="573087"/>
                      </a:cubicBezTo>
                      <a:cubicBezTo>
                        <a:pt x="873307" y="573087"/>
                        <a:pt x="873307" y="573087"/>
                        <a:pt x="355419" y="573087"/>
                      </a:cubicBezTo>
                      <a:cubicBezTo>
                        <a:pt x="346145" y="573087"/>
                        <a:pt x="339725" y="566964"/>
                        <a:pt x="339725" y="558800"/>
                      </a:cubicBezTo>
                      <a:cubicBezTo>
                        <a:pt x="339725" y="550635"/>
                        <a:pt x="346145" y="544512"/>
                        <a:pt x="355419" y="544512"/>
                      </a:cubicBezTo>
                      <a:close/>
                      <a:moveTo>
                        <a:pt x="355419" y="433387"/>
                      </a:moveTo>
                      <a:cubicBezTo>
                        <a:pt x="355419" y="433387"/>
                        <a:pt x="355419" y="433387"/>
                        <a:pt x="873307" y="433387"/>
                      </a:cubicBezTo>
                      <a:cubicBezTo>
                        <a:pt x="882580" y="433387"/>
                        <a:pt x="889000" y="440771"/>
                        <a:pt x="889000" y="449631"/>
                      </a:cubicBezTo>
                      <a:cubicBezTo>
                        <a:pt x="889000" y="457753"/>
                        <a:pt x="882580" y="465137"/>
                        <a:pt x="873307" y="465137"/>
                      </a:cubicBezTo>
                      <a:cubicBezTo>
                        <a:pt x="873307" y="465137"/>
                        <a:pt x="873307" y="465137"/>
                        <a:pt x="355419" y="465137"/>
                      </a:cubicBezTo>
                      <a:cubicBezTo>
                        <a:pt x="346145" y="465137"/>
                        <a:pt x="339725" y="457753"/>
                        <a:pt x="339725" y="449631"/>
                      </a:cubicBezTo>
                      <a:cubicBezTo>
                        <a:pt x="339725" y="440771"/>
                        <a:pt x="346145" y="433387"/>
                        <a:pt x="355419" y="433387"/>
                      </a:cubicBezTo>
                      <a:close/>
                      <a:moveTo>
                        <a:pt x="355419" y="322262"/>
                      </a:moveTo>
                      <a:cubicBezTo>
                        <a:pt x="355419" y="322262"/>
                        <a:pt x="355419" y="322262"/>
                        <a:pt x="873307" y="322262"/>
                      </a:cubicBezTo>
                      <a:cubicBezTo>
                        <a:pt x="882580" y="322262"/>
                        <a:pt x="889000" y="329478"/>
                        <a:pt x="889000" y="338137"/>
                      </a:cubicBezTo>
                      <a:cubicBezTo>
                        <a:pt x="889000" y="346796"/>
                        <a:pt x="882580" y="354012"/>
                        <a:pt x="873307" y="354012"/>
                      </a:cubicBezTo>
                      <a:cubicBezTo>
                        <a:pt x="873307" y="354012"/>
                        <a:pt x="873307" y="354012"/>
                        <a:pt x="355419" y="354012"/>
                      </a:cubicBezTo>
                      <a:cubicBezTo>
                        <a:pt x="346145" y="354012"/>
                        <a:pt x="339725" y="346796"/>
                        <a:pt x="339725" y="338137"/>
                      </a:cubicBezTo>
                      <a:cubicBezTo>
                        <a:pt x="339725" y="329478"/>
                        <a:pt x="346145" y="322262"/>
                        <a:pt x="355419" y="322262"/>
                      </a:cubicBezTo>
                      <a:close/>
                      <a:moveTo>
                        <a:pt x="496037" y="173037"/>
                      </a:moveTo>
                      <a:cubicBezTo>
                        <a:pt x="496037" y="173037"/>
                        <a:pt x="496037" y="173037"/>
                        <a:pt x="733562" y="173037"/>
                      </a:cubicBezTo>
                      <a:cubicBezTo>
                        <a:pt x="742147" y="173037"/>
                        <a:pt x="749301" y="179892"/>
                        <a:pt x="749301" y="188118"/>
                      </a:cubicBezTo>
                      <a:cubicBezTo>
                        <a:pt x="749301" y="196344"/>
                        <a:pt x="742147" y="203199"/>
                        <a:pt x="733562" y="203199"/>
                      </a:cubicBezTo>
                      <a:cubicBezTo>
                        <a:pt x="733562" y="203199"/>
                        <a:pt x="733562" y="203199"/>
                        <a:pt x="496037" y="203199"/>
                      </a:cubicBezTo>
                      <a:cubicBezTo>
                        <a:pt x="487452" y="203199"/>
                        <a:pt x="481013" y="196344"/>
                        <a:pt x="481013" y="188118"/>
                      </a:cubicBezTo>
                      <a:cubicBezTo>
                        <a:pt x="481013" y="179892"/>
                        <a:pt x="487452" y="173037"/>
                        <a:pt x="496037" y="173037"/>
                      </a:cubicBezTo>
                      <a:close/>
                      <a:moveTo>
                        <a:pt x="205249" y="31750"/>
                      </a:moveTo>
                      <a:cubicBezTo>
                        <a:pt x="205249" y="31750"/>
                        <a:pt x="205249" y="31750"/>
                        <a:pt x="205249" y="583106"/>
                      </a:cubicBezTo>
                      <a:cubicBezTo>
                        <a:pt x="205249" y="583106"/>
                        <a:pt x="205249" y="583106"/>
                        <a:pt x="203107" y="580964"/>
                      </a:cubicBezTo>
                      <a:cubicBezTo>
                        <a:pt x="203107" y="580964"/>
                        <a:pt x="203107" y="580964"/>
                        <a:pt x="173833" y="558110"/>
                      </a:cubicBezTo>
                      <a:cubicBezTo>
                        <a:pt x="173833" y="558110"/>
                        <a:pt x="173833" y="558110"/>
                        <a:pt x="173833" y="375991"/>
                      </a:cubicBezTo>
                      <a:cubicBezTo>
                        <a:pt x="173833" y="375991"/>
                        <a:pt x="173833" y="375991"/>
                        <a:pt x="61738" y="436697"/>
                      </a:cubicBezTo>
                      <a:cubicBezTo>
                        <a:pt x="61738" y="436697"/>
                        <a:pt x="61738" y="436697"/>
                        <a:pt x="48172" y="444553"/>
                      </a:cubicBezTo>
                      <a:cubicBezTo>
                        <a:pt x="48172" y="444553"/>
                        <a:pt x="48172" y="444553"/>
                        <a:pt x="31750" y="453123"/>
                      </a:cubicBezTo>
                      <a:cubicBezTo>
                        <a:pt x="31750" y="453123"/>
                        <a:pt x="31750" y="453123"/>
                        <a:pt x="31750" y="1271587"/>
                      </a:cubicBezTo>
                      <a:cubicBezTo>
                        <a:pt x="31750" y="1271587"/>
                        <a:pt x="31750" y="1271587"/>
                        <a:pt x="63166" y="1271587"/>
                      </a:cubicBezTo>
                      <a:cubicBezTo>
                        <a:pt x="63166" y="1271587"/>
                        <a:pt x="63166" y="1271587"/>
                        <a:pt x="1165560" y="1271587"/>
                      </a:cubicBezTo>
                      <a:cubicBezTo>
                        <a:pt x="1165560" y="1271587"/>
                        <a:pt x="1165560" y="1271587"/>
                        <a:pt x="1196975" y="1271587"/>
                      </a:cubicBezTo>
                      <a:cubicBezTo>
                        <a:pt x="1196975" y="1271587"/>
                        <a:pt x="1196975" y="1271587"/>
                        <a:pt x="1196975" y="453123"/>
                      </a:cubicBezTo>
                      <a:cubicBezTo>
                        <a:pt x="1196975" y="453123"/>
                        <a:pt x="1196975" y="453123"/>
                        <a:pt x="1192691" y="450981"/>
                      </a:cubicBezTo>
                      <a:cubicBezTo>
                        <a:pt x="1192691" y="450981"/>
                        <a:pt x="1192691" y="450981"/>
                        <a:pt x="1054892" y="373848"/>
                      </a:cubicBezTo>
                      <a:cubicBezTo>
                        <a:pt x="1054892" y="373848"/>
                        <a:pt x="1054892" y="373848"/>
                        <a:pt x="1054892" y="383133"/>
                      </a:cubicBezTo>
                      <a:cubicBezTo>
                        <a:pt x="1054892" y="383133"/>
                        <a:pt x="1054892" y="383133"/>
                        <a:pt x="1054178" y="428127"/>
                      </a:cubicBezTo>
                      <a:cubicBezTo>
                        <a:pt x="1054178" y="428127"/>
                        <a:pt x="1054178" y="428127"/>
                        <a:pt x="1052750" y="557395"/>
                      </a:cubicBezTo>
                      <a:cubicBezTo>
                        <a:pt x="1052750" y="557395"/>
                        <a:pt x="1052750" y="557395"/>
                        <a:pt x="1023477" y="580249"/>
                      </a:cubicBezTo>
                      <a:cubicBezTo>
                        <a:pt x="1023477" y="580249"/>
                        <a:pt x="1023477" y="580249"/>
                        <a:pt x="1023477" y="347423"/>
                      </a:cubicBezTo>
                      <a:cubicBezTo>
                        <a:pt x="1023477" y="347423"/>
                        <a:pt x="1023477" y="347423"/>
                        <a:pt x="1023477" y="31750"/>
                      </a:cubicBezTo>
                      <a:cubicBezTo>
                        <a:pt x="1023477" y="31750"/>
                        <a:pt x="1023477" y="31750"/>
                        <a:pt x="205249" y="31750"/>
                      </a:cubicBezTo>
                      <a:close/>
                      <a:moveTo>
                        <a:pt x="189310" y="0"/>
                      </a:moveTo>
                      <a:cubicBezTo>
                        <a:pt x="189310" y="0"/>
                        <a:pt x="189310" y="0"/>
                        <a:pt x="1039416" y="0"/>
                      </a:cubicBezTo>
                      <a:cubicBezTo>
                        <a:pt x="1047988" y="0"/>
                        <a:pt x="1055132" y="7146"/>
                        <a:pt x="1055132" y="15720"/>
                      </a:cubicBezTo>
                      <a:cubicBezTo>
                        <a:pt x="1055132" y="15720"/>
                        <a:pt x="1055132" y="15720"/>
                        <a:pt x="1055132" y="337982"/>
                      </a:cubicBezTo>
                      <a:cubicBezTo>
                        <a:pt x="1055132" y="337982"/>
                        <a:pt x="1055132" y="337982"/>
                        <a:pt x="1220867" y="430159"/>
                      </a:cubicBezTo>
                      <a:cubicBezTo>
                        <a:pt x="1225868" y="433017"/>
                        <a:pt x="1228725" y="438019"/>
                        <a:pt x="1228725" y="443735"/>
                      </a:cubicBezTo>
                      <a:cubicBezTo>
                        <a:pt x="1228725" y="443735"/>
                        <a:pt x="1228725" y="443735"/>
                        <a:pt x="1228725" y="1287617"/>
                      </a:cubicBezTo>
                      <a:cubicBezTo>
                        <a:pt x="1228725" y="1296192"/>
                        <a:pt x="1222296" y="1303337"/>
                        <a:pt x="1213009" y="1303337"/>
                      </a:cubicBezTo>
                      <a:cubicBezTo>
                        <a:pt x="1213009" y="1303337"/>
                        <a:pt x="1213009" y="1303337"/>
                        <a:pt x="15716" y="1303337"/>
                      </a:cubicBezTo>
                      <a:cubicBezTo>
                        <a:pt x="6430" y="1303337"/>
                        <a:pt x="0" y="1296192"/>
                        <a:pt x="0" y="1287617"/>
                      </a:cubicBezTo>
                      <a:cubicBezTo>
                        <a:pt x="0" y="1287617"/>
                        <a:pt x="0" y="1287617"/>
                        <a:pt x="0" y="443735"/>
                      </a:cubicBezTo>
                      <a:cubicBezTo>
                        <a:pt x="0" y="438019"/>
                        <a:pt x="2858" y="433017"/>
                        <a:pt x="7858" y="430159"/>
                      </a:cubicBezTo>
                      <a:cubicBezTo>
                        <a:pt x="7858" y="430159"/>
                        <a:pt x="7858" y="430159"/>
                        <a:pt x="173593" y="340125"/>
                      </a:cubicBezTo>
                      <a:cubicBezTo>
                        <a:pt x="173593" y="340125"/>
                        <a:pt x="173593" y="340125"/>
                        <a:pt x="173593" y="15720"/>
                      </a:cubicBezTo>
                      <a:cubicBezTo>
                        <a:pt x="173593" y="7146"/>
                        <a:pt x="180737" y="0"/>
                        <a:pt x="189310"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ea typeface="Microsoft YaHei" panose="020B0503020204020204" pitchFamily="34" charset="-122"/>
                  </a:endParaRPr>
                </a:p>
              </p:txBody>
            </p:sp>
            <p:sp>
              <p:nvSpPr>
                <p:cNvPr id="101" name="Freeform 6">
                  <a:extLst>
                    <a:ext uri="{FF2B5EF4-FFF2-40B4-BE49-F238E27FC236}">
                      <a16:creationId xmlns:a16="http://schemas.microsoft.com/office/drawing/2014/main" id="{0676F226-15F6-AA2F-9671-FA5E247D3E76}"/>
                    </a:ext>
                  </a:extLst>
                </p:cNvPr>
                <p:cNvSpPr>
                  <a:spLocks/>
                </p:cNvSpPr>
                <p:nvPr/>
              </p:nvSpPr>
              <p:spPr bwMode="auto">
                <a:xfrm>
                  <a:off x="5545137" y="3205163"/>
                  <a:ext cx="1106488" cy="814387"/>
                </a:xfrm>
                <a:custGeom>
                  <a:avLst/>
                  <a:gdLst>
                    <a:gd name="connsiteX0" fmla="*/ 681076 w 1106488"/>
                    <a:gd name="connsiteY0" fmla="*/ 411162 h 814387"/>
                    <a:gd name="connsiteX1" fmla="*/ 1082675 w 1106488"/>
                    <a:gd name="connsiteY1" fmla="*/ 814387 h 814387"/>
                    <a:gd name="connsiteX2" fmla="*/ 22225 w 1106488"/>
                    <a:gd name="connsiteY2" fmla="*/ 814387 h 814387"/>
                    <a:gd name="connsiteX3" fmla="*/ 423110 w 1106488"/>
                    <a:gd name="connsiteY3" fmla="*/ 411878 h 814387"/>
                    <a:gd name="connsiteX4" fmla="*/ 534586 w 1106488"/>
                    <a:gd name="connsiteY4" fmla="*/ 500688 h 814387"/>
                    <a:gd name="connsiteX5" fmla="*/ 551021 w 1106488"/>
                    <a:gd name="connsiteY5" fmla="*/ 506418 h 814387"/>
                    <a:gd name="connsiteX6" fmla="*/ 566742 w 1106488"/>
                    <a:gd name="connsiteY6" fmla="*/ 500688 h 814387"/>
                    <a:gd name="connsiteX7" fmla="*/ 681076 w 1106488"/>
                    <a:gd name="connsiteY7" fmla="*/ 411162 h 814387"/>
                    <a:gd name="connsiteX8" fmla="*/ 79375 w 1106488"/>
                    <a:gd name="connsiteY8" fmla="*/ 1587 h 814387"/>
                    <a:gd name="connsiteX9" fmla="*/ 77788 w 1106488"/>
                    <a:gd name="connsiteY9" fmla="*/ 142875 h 814387"/>
                    <a:gd name="connsiteX10" fmla="*/ 77788 w 1106488"/>
                    <a:gd name="connsiteY10" fmla="*/ 144462 h 814387"/>
                    <a:gd name="connsiteX11" fmla="*/ 80963 w 1106488"/>
                    <a:gd name="connsiteY11" fmla="*/ 144462 h 814387"/>
                    <a:gd name="connsiteX12" fmla="*/ 111125 w 1106488"/>
                    <a:gd name="connsiteY12" fmla="*/ 168275 h 814387"/>
                    <a:gd name="connsiteX13" fmla="*/ 122238 w 1106488"/>
                    <a:gd name="connsiteY13" fmla="*/ 176212 h 814387"/>
                    <a:gd name="connsiteX14" fmla="*/ 142875 w 1106488"/>
                    <a:gd name="connsiteY14" fmla="*/ 195262 h 814387"/>
                    <a:gd name="connsiteX15" fmla="*/ 398463 w 1106488"/>
                    <a:gd name="connsiteY15" fmla="*/ 393699 h 814387"/>
                    <a:gd name="connsiteX16" fmla="*/ 0 w 1106488"/>
                    <a:gd name="connsiteY16" fmla="*/ 790574 h 814387"/>
                    <a:gd name="connsiteX17" fmla="*/ 0 w 1106488"/>
                    <a:gd name="connsiteY17" fmla="*/ 44450 h 814387"/>
                    <a:gd name="connsiteX18" fmla="*/ 1025526 w 1106488"/>
                    <a:gd name="connsiteY18" fmla="*/ 0 h 814387"/>
                    <a:gd name="connsiteX19" fmla="*/ 1106488 w 1106488"/>
                    <a:gd name="connsiteY19" fmla="*/ 44450 h 814387"/>
                    <a:gd name="connsiteX20" fmla="*/ 1106488 w 1106488"/>
                    <a:gd name="connsiteY20" fmla="*/ 790575 h 814387"/>
                    <a:gd name="connsiteX21" fmla="*/ 704850 w 1106488"/>
                    <a:gd name="connsiteY21" fmla="*/ 390525 h 814387"/>
                    <a:gd name="connsiteX22" fmla="*/ 963613 w 1106488"/>
                    <a:gd name="connsiteY22" fmla="*/ 192088 h 814387"/>
                    <a:gd name="connsiteX23" fmla="*/ 979488 w 1106488"/>
                    <a:gd name="connsiteY23" fmla="*/ 179388 h 814387"/>
                    <a:gd name="connsiteX24" fmla="*/ 995363 w 1106488"/>
                    <a:gd name="connsiteY24" fmla="*/ 166688 h 814387"/>
                    <a:gd name="connsiteX25" fmla="*/ 1023938 w 1106488"/>
                    <a:gd name="connsiteY25" fmla="*/ 144463 h 814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06488" h="814387">
                      <a:moveTo>
                        <a:pt x="681076" y="411162"/>
                      </a:moveTo>
                      <a:cubicBezTo>
                        <a:pt x="681076" y="411162"/>
                        <a:pt x="681076" y="411162"/>
                        <a:pt x="1082675" y="814387"/>
                      </a:cubicBezTo>
                      <a:cubicBezTo>
                        <a:pt x="1082675" y="814387"/>
                        <a:pt x="1082675" y="814387"/>
                        <a:pt x="22225" y="814387"/>
                      </a:cubicBezTo>
                      <a:cubicBezTo>
                        <a:pt x="22225" y="814387"/>
                        <a:pt x="22225" y="814387"/>
                        <a:pt x="423110" y="411878"/>
                      </a:cubicBezTo>
                      <a:cubicBezTo>
                        <a:pt x="423110" y="411878"/>
                        <a:pt x="423110" y="411878"/>
                        <a:pt x="534586" y="500688"/>
                      </a:cubicBezTo>
                      <a:cubicBezTo>
                        <a:pt x="539588" y="504269"/>
                        <a:pt x="544590" y="506418"/>
                        <a:pt x="551021" y="506418"/>
                      </a:cubicBezTo>
                      <a:cubicBezTo>
                        <a:pt x="556738" y="506418"/>
                        <a:pt x="562454" y="504269"/>
                        <a:pt x="566742" y="500688"/>
                      </a:cubicBezTo>
                      <a:cubicBezTo>
                        <a:pt x="566742" y="500688"/>
                        <a:pt x="566742" y="500688"/>
                        <a:pt x="681076" y="411162"/>
                      </a:cubicBezTo>
                      <a:close/>
                      <a:moveTo>
                        <a:pt x="79375" y="1587"/>
                      </a:moveTo>
                      <a:lnTo>
                        <a:pt x="77788" y="142875"/>
                      </a:lnTo>
                      <a:lnTo>
                        <a:pt x="77788" y="144462"/>
                      </a:lnTo>
                      <a:lnTo>
                        <a:pt x="80963" y="144462"/>
                      </a:lnTo>
                      <a:lnTo>
                        <a:pt x="111125" y="168275"/>
                      </a:lnTo>
                      <a:lnTo>
                        <a:pt x="122238" y="176212"/>
                      </a:lnTo>
                      <a:lnTo>
                        <a:pt x="142875" y="195262"/>
                      </a:lnTo>
                      <a:lnTo>
                        <a:pt x="398463" y="393699"/>
                      </a:lnTo>
                      <a:lnTo>
                        <a:pt x="0" y="790574"/>
                      </a:lnTo>
                      <a:lnTo>
                        <a:pt x="0" y="44450"/>
                      </a:lnTo>
                      <a:close/>
                      <a:moveTo>
                        <a:pt x="1025526" y="0"/>
                      </a:moveTo>
                      <a:lnTo>
                        <a:pt x="1106488" y="44450"/>
                      </a:lnTo>
                      <a:lnTo>
                        <a:pt x="1106488" y="790575"/>
                      </a:lnTo>
                      <a:lnTo>
                        <a:pt x="704850" y="390525"/>
                      </a:lnTo>
                      <a:lnTo>
                        <a:pt x="963613" y="192088"/>
                      </a:lnTo>
                      <a:lnTo>
                        <a:pt x="979488" y="179388"/>
                      </a:lnTo>
                      <a:lnTo>
                        <a:pt x="995363" y="166688"/>
                      </a:lnTo>
                      <a:lnTo>
                        <a:pt x="1023938" y="14446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ea typeface="Microsoft YaHei" panose="020B0503020204020204" pitchFamily="34" charset="-122"/>
                  </a:endParaRPr>
                </a:p>
              </p:txBody>
            </p:sp>
          </p:grpSp>
        </p:grpSp>
      </p:grpSp>
      <p:sp>
        <p:nvSpPr>
          <p:cNvPr id="104" name="TextBox 103">
            <a:extLst>
              <a:ext uri="{FF2B5EF4-FFF2-40B4-BE49-F238E27FC236}">
                <a16:creationId xmlns:a16="http://schemas.microsoft.com/office/drawing/2014/main" id="{376B8C92-9DE9-ADB9-07F0-1BD59F9FC381}"/>
              </a:ext>
            </a:extLst>
          </p:cNvPr>
          <p:cNvSpPr txBox="1"/>
          <p:nvPr/>
        </p:nvSpPr>
        <p:spPr>
          <a:xfrm>
            <a:off x="4909750" y="4132255"/>
            <a:ext cx="1694205" cy="730525"/>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altLang="zh-TW" sz="1400" b="1">
                <a:solidFill>
                  <a:srgbClr val="29BA74"/>
                </a:solidFill>
                <a:latin typeface="Microsoft YaHei" panose="020B0503020204020204" pitchFamily="34" charset="-122"/>
                <a:ea typeface="Microsoft YaHei" panose="020B0503020204020204" pitchFamily="34" charset="-122"/>
              </a:rPr>
              <a:t>[</a:t>
            </a:r>
            <a:r>
              <a:rPr lang="zh-TW" altLang="en-US" sz="1400" b="1">
                <a:solidFill>
                  <a:srgbClr val="29BA74"/>
                </a:solidFill>
                <a:latin typeface="Microsoft YaHei" panose="020B0503020204020204" pitchFamily="34" charset="-122"/>
                <a:ea typeface="Microsoft YaHei" panose="020B0503020204020204" pitchFamily="34" charset="-122"/>
              </a:rPr>
              <a:t>行網銀下載連結</a:t>
            </a:r>
            <a:r>
              <a:rPr lang="en-US" altLang="zh-TW" sz="1400" b="1">
                <a:solidFill>
                  <a:srgbClr val="29BA74"/>
                </a:solidFill>
                <a:latin typeface="Microsoft YaHei" panose="020B0503020204020204" pitchFamily="34" charset="-122"/>
                <a:ea typeface="Microsoft YaHei" panose="020B0503020204020204" pitchFamily="34" charset="-122"/>
              </a:rPr>
              <a:t>]</a:t>
            </a:r>
          </a:p>
          <a:p>
            <a:r>
              <a:rPr lang="zh-TW" altLang="en-US" sz="1400">
                <a:solidFill>
                  <a:srgbClr val="575757"/>
                </a:solidFill>
                <a:latin typeface="Microsoft YaHei" panose="020B0503020204020204" pitchFamily="34" charset="-122"/>
                <a:ea typeface="Microsoft YaHei" panose="020B0503020204020204" pitchFamily="34" charset="-122"/>
              </a:rPr>
              <a:t>提供</a:t>
            </a:r>
            <a:r>
              <a:rPr lang="en-US" altLang="zh-TW" sz="1400" err="1">
                <a:solidFill>
                  <a:srgbClr val="575757"/>
                </a:solidFill>
                <a:latin typeface="Microsoft YaHei" panose="020B0503020204020204" pitchFamily="34" charset="-122"/>
                <a:ea typeface="Microsoft YaHei" panose="020B0503020204020204" pitchFamily="34" charset="-122"/>
              </a:rPr>
              <a:t>Qrcode</a:t>
            </a:r>
            <a:r>
              <a:rPr lang="zh-TW" altLang="en-US" sz="1400">
                <a:solidFill>
                  <a:srgbClr val="575757"/>
                </a:solidFill>
                <a:latin typeface="Microsoft YaHei" panose="020B0503020204020204" pitchFamily="34" charset="-122"/>
                <a:ea typeface="Microsoft YaHei" panose="020B0503020204020204" pitchFamily="34" charset="-122"/>
              </a:rPr>
              <a:t>供用戶下載</a:t>
            </a:r>
            <a:endParaRPr lang="en-US" sz="1400">
              <a:solidFill>
                <a:srgbClr val="575757"/>
              </a:solidFill>
              <a:latin typeface="Microsoft YaHei" panose="020B0503020204020204" pitchFamily="34" charset="-122"/>
              <a:ea typeface="Microsoft YaHei" panose="020B0503020204020204" pitchFamily="34" charset="-122"/>
            </a:endParaRPr>
          </a:p>
        </p:txBody>
      </p:sp>
      <p:grpSp>
        <p:nvGrpSpPr>
          <p:cNvPr id="111" name="Group 110">
            <a:extLst>
              <a:ext uri="{FF2B5EF4-FFF2-40B4-BE49-F238E27FC236}">
                <a16:creationId xmlns:a16="http://schemas.microsoft.com/office/drawing/2014/main" id="{093EBFE6-EE29-6D34-F3F4-0509EA197767}"/>
              </a:ext>
            </a:extLst>
          </p:cNvPr>
          <p:cNvGrpSpPr/>
          <p:nvPr/>
        </p:nvGrpSpPr>
        <p:grpSpPr>
          <a:xfrm>
            <a:off x="8635802" y="1104005"/>
            <a:ext cx="2816910" cy="5057083"/>
            <a:chOff x="8359215" y="899858"/>
            <a:chExt cx="2937433" cy="5273453"/>
          </a:xfrm>
        </p:grpSpPr>
        <p:pic>
          <p:nvPicPr>
            <p:cNvPr id="105" name="圖片 9">
              <a:extLst>
                <a:ext uri="{FF2B5EF4-FFF2-40B4-BE49-F238E27FC236}">
                  <a16:creationId xmlns:a16="http://schemas.microsoft.com/office/drawing/2014/main" id="{97EF8675-1114-3DD1-18C1-EFDCC4C87277}"/>
                </a:ext>
              </a:extLst>
            </p:cNvPr>
            <p:cNvPicPr>
              <a:picLocks noChangeAspect="1"/>
            </p:cNvPicPr>
            <p:nvPr/>
          </p:nvPicPr>
          <p:blipFill rotWithShape="1">
            <a:blip r:embed="rId11"/>
            <a:srcRect t="30681"/>
            <a:stretch/>
          </p:blipFill>
          <p:spPr>
            <a:xfrm>
              <a:off x="8359215" y="1208884"/>
              <a:ext cx="2937433" cy="4964427"/>
            </a:xfrm>
            <a:prstGeom prst="rect">
              <a:avLst/>
            </a:prstGeom>
            <a:ln w="9525" cap="flat" cmpd="sng" algn="ctr">
              <a:solidFill>
                <a:srgbClr val="9A9A9A"/>
              </a:solidFill>
              <a:prstDash val="solid"/>
              <a:round/>
              <a:headEnd type="none" w="med" len="med"/>
              <a:tailEnd type="none" w="med" len="med"/>
            </a:ln>
          </p:spPr>
        </p:pic>
        <p:sp>
          <p:nvSpPr>
            <p:cNvPr id="106" name="TextBox 105">
              <a:extLst>
                <a:ext uri="{FF2B5EF4-FFF2-40B4-BE49-F238E27FC236}">
                  <a16:creationId xmlns:a16="http://schemas.microsoft.com/office/drawing/2014/main" id="{4794E0A2-6CCA-FFD5-DC5F-58DE44D5D357}"/>
                </a:ext>
              </a:extLst>
            </p:cNvPr>
            <p:cNvSpPr txBox="1"/>
            <p:nvPr/>
          </p:nvSpPr>
          <p:spPr>
            <a:xfrm>
              <a:off x="8785401" y="899858"/>
              <a:ext cx="2249181" cy="350532"/>
            </a:xfrm>
            <a:prstGeom prst="rect">
              <a:avLst/>
            </a:prstGeom>
            <a:solidFill>
              <a:srgbClr val="295E7E"/>
            </a:solid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zh-TW" altLang="en-US" sz="1400" i="1">
                  <a:solidFill>
                    <a:srgbClr val="FFFFFF"/>
                  </a:solidFill>
                  <a:latin typeface="Microsoft YaHei" panose="020B0503020204020204" pitchFamily="34" charset="-122"/>
                  <a:ea typeface="Microsoft YaHei" panose="020B0503020204020204" pitchFamily="34" charset="-122"/>
                </a:rPr>
                <a:t>凱基新戶六大禮遇 </a:t>
              </a:r>
              <a:r>
                <a:rPr lang="en-US" altLang="zh-TW" sz="1400" i="1">
                  <a:solidFill>
                    <a:srgbClr val="FFFFFF"/>
                  </a:solidFill>
                  <a:latin typeface="Microsoft YaHei" panose="020B0503020204020204" pitchFamily="34" charset="-122"/>
                  <a:ea typeface="Microsoft YaHei" panose="020B0503020204020204" pitchFamily="34" charset="-122"/>
                </a:rPr>
                <a:t>EDM</a:t>
              </a:r>
              <a:endParaRPr lang="en-US" sz="1400" i="1">
                <a:solidFill>
                  <a:srgbClr val="FFFFFF"/>
                </a:solidFill>
                <a:latin typeface="Microsoft YaHei" panose="020B0503020204020204" pitchFamily="34" charset="-122"/>
                <a:ea typeface="Microsoft YaHei" panose="020B0503020204020204" pitchFamily="34" charset="-122"/>
              </a:endParaRPr>
            </a:p>
          </p:txBody>
        </p:sp>
      </p:grpSp>
      <p:sp>
        <p:nvSpPr>
          <p:cNvPr id="109" name="Rectangle 108">
            <a:extLst>
              <a:ext uri="{FF2B5EF4-FFF2-40B4-BE49-F238E27FC236}">
                <a16:creationId xmlns:a16="http://schemas.microsoft.com/office/drawing/2014/main" id="{597809F2-D234-318E-44B5-3AC234177A5D}"/>
              </a:ext>
            </a:extLst>
          </p:cNvPr>
          <p:cNvSpPr/>
          <p:nvPr/>
        </p:nvSpPr>
        <p:spPr>
          <a:xfrm>
            <a:off x="1085713" y="4901196"/>
            <a:ext cx="1847988" cy="902842"/>
          </a:xfrm>
          <a:prstGeom prst="rect">
            <a:avLst/>
          </a:prstGeom>
          <a:noFill/>
          <a:ln w="9525" cap="rnd" cmpd="sng" algn="ctr">
            <a:solidFill>
              <a:srgbClr val="E71C57"/>
            </a:solidFill>
            <a:prstDash val="sysDot"/>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 tIns="9144" rIns="9144" bIns="9144" numCol="1" spcCol="0" rtlCol="0" fromWordArt="0" anchor="ctr" anchorCtr="0" forceAA="0" compatLnSpc="1">
            <a:prstTxWarp prst="textNoShape">
              <a:avLst/>
            </a:prstTxWarp>
            <a:noAutofit/>
          </a:bodyPr>
          <a:lstStyle/>
          <a:p>
            <a:pPr algn="ctr"/>
            <a:r>
              <a:rPr lang="zh-TW" altLang="en-US" sz="1400">
                <a:solidFill>
                  <a:srgbClr val="E71C57"/>
                </a:solidFill>
                <a:ea typeface="Microsoft YaHei" panose="020B0503020204020204" pitchFamily="34" charset="-122"/>
              </a:rPr>
              <a:t>僅在</a:t>
            </a:r>
            <a:r>
              <a:rPr lang="en-US" altLang="zh-TW" sz="1400">
                <a:solidFill>
                  <a:srgbClr val="E71C57"/>
                </a:solidFill>
                <a:ea typeface="Microsoft YaHei" panose="020B0503020204020204" pitchFamily="34" charset="-122"/>
              </a:rPr>
              <a:t>Email</a:t>
            </a:r>
            <a:r>
              <a:rPr lang="zh-TW" altLang="en-US" sz="1400">
                <a:solidFill>
                  <a:srgbClr val="E71C57"/>
                </a:solidFill>
                <a:ea typeface="Microsoft YaHei" panose="020B0503020204020204" pitchFamily="34" charset="-122"/>
              </a:rPr>
              <a:t>底部提供下載</a:t>
            </a:r>
            <a:r>
              <a:rPr lang="en-US" altLang="zh-TW" sz="1400">
                <a:solidFill>
                  <a:srgbClr val="E71C57"/>
                </a:solidFill>
                <a:ea typeface="Microsoft YaHei" panose="020B0503020204020204" pitchFamily="34" charset="-122"/>
              </a:rPr>
              <a:t>APP</a:t>
            </a:r>
            <a:r>
              <a:rPr lang="zh-TW" altLang="en-US" sz="1400">
                <a:solidFill>
                  <a:srgbClr val="E71C57"/>
                </a:solidFill>
                <a:ea typeface="Microsoft YaHei" panose="020B0503020204020204" pitchFamily="34" charset="-122"/>
              </a:rPr>
              <a:t>連結，未積極觸發客戶下載</a:t>
            </a:r>
            <a:r>
              <a:rPr lang="en-US" altLang="zh-TW" sz="1400">
                <a:solidFill>
                  <a:srgbClr val="E71C57"/>
                </a:solidFill>
                <a:ea typeface="Microsoft YaHei" panose="020B0503020204020204" pitchFamily="34" charset="-122"/>
              </a:rPr>
              <a:t>APP</a:t>
            </a:r>
            <a:endParaRPr lang="en-US" sz="1400">
              <a:solidFill>
                <a:srgbClr val="E71C57"/>
              </a:solidFill>
              <a:ea typeface="Microsoft YaHei" panose="020B0503020204020204" pitchFamily="34" charset="-122"/>
            </a:endParaRPr>
          </a:p>
        </p:txBody>
      </p:sp>
      <p:sp>
        <p:nvSpPr>
          <p:cNvPr id="113" name="Rectangle 112">
            <a:extLst>
              <a:ext uri="{FF2B5EF4-FFF2-40B4-BE49-F238E27FC236}">
                <a16:creationId xmlns:a16="http://schemas.microsoft.com/office/drawing/2014/main" id="{E51AE220-CBC7-EE26-AC93-3A1466E1B70A}"/>
              </a:ext>
            </a:extLst>
          </p:cNvPr>
          <p:cNvSpPr/>
          <p:nvPr/>
        </p:nvSpPr>
        <p:spPr>
          <a:xfrm>
            <a:off x="4852840" y="4917396"/>
            <a:ext cx="1802457" cy="886642"/>
          </a:xfrm>
          <a:prstGeom prst="rect">
            <a:avLst/>
          </a:prstGeom>
          <a:noFill/>
          <a:ln w="9525" cap="rnd" cmpd="sng" algn="ctr">
            <a:solidFill>
              <a:srgbClr val="E71C57"/>
            </a:solidFill>
            <a:prstDash val="sysDot"/>
            <a:round/>
            <a:headEnd type="none" w="med" len="med"/>
            <a:tailEnd type="none" w="med" len="me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 tIns="9144" rIns="9144" bIns="9144" numCol="1" spcCol="0" rtlCol="0" fromWordArt="0" anchor="ctr" anchorCtr="0" forceAA="0" compatLnSpc="1">
            <a:prstTxWarp prst="textNoShape">
              <a:avLst/>
            </a:prstTxWarp>
            <a:noAutofit/>
          </a:bodyPr>
          <a:lstStyle/>
          <a:p>
            <a:pPr algn="ctr"/>
            <a:r>
              <a:rPr lang="zh-TW" altLang="en-US" sz="1400">
                <a:solidFill>
                  <a:srgbClr val="E71C57"/>
                </a:solidFill>
                <a:ea typeface="Microsoft YaHei" panose="020B0503020204020204" pitchFamily="34" charset="-122"/>
              </a:rPr>
              <a:t>僅有流程介紹，未利用寄發金融卡機會同步說明行銷活動</a:t>
            </a:r>
            <a:endParaRPr lang="en-US" sz="1400">
              <a:solidFill>
                <a:srgbClr val="E71C57"/>
              </a:solidFill>
              <a:ea typeface="Microsoft YaHei" panose="020B0503020204020204" pitchFamily="34" charset="-122"/>
            </a:endParaRPr>
          </a:p>
        </p:txBody>
      </p:sp>
      <p:sp>
        <p:nvSpPr>
          <p:cNvPr id="114" name="Rectangle 113">
            <a:extLst>
              <a:ext uri="{FF2B5EF4-FFF2-40B4-BE49-F238E27FC236}">
                <a16:creationId xmlns:a16="http://schemas.microsoft.com/office/drawing/2014/main" id="{C5B93DD4-0A7E-864F-9F2C-76A585B4E196}"/>
              </a:ext>
            </a:extLst>
          </p:cNvPr>
          <p:cNvSpPr/>
          <p:nvPr/>
        </p:nvSpPr>
        <p:spPr>
          <a:xfrm>
            <a:off x="3062166" y="4916611"/>
            <a:ext cx="1694205" cy="902842"/>
          </a:xfrm>
          <a:prstGeom prst="rect">
            <a:avLst/>
          </a:prstGeom>
          <a:noFill/>
          <a:ln w="9525" cap="rnd" cmpd="sng" algn="ctr">
            <a:solidFill>
              <a:srgbClr val="E71C57"/>
            </a:solidFill>
            <a:prstDash val="sysDot"/>
            <a:round/>
            <a:headEnd type="none" w="med" len="med"/>
            <a:tailEnd type="none" w="med" len="me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 tIns="9144" rIns="9144" bIns="9144" numCol="1" spcCol="0" rtlCol="0" fromWordArt="0" anchor="ctr" anchorCtr="0" forceAA="0" compatLnSpc="1">
            <a:prstTxWarp prst="textNoShape">
              <a:avLst/>
            </a:prstTxWarp>
            <a:noAutofit/>
          </a:bodyPr>
          <a:lstStyle/>
          <a:p>
            <a:pPr algn="ctr"/>
            <a:r>
              <a:rPr lang="zh-TW" altLang="en-US" sz="1400">
                <a:solidFill>
                  <a:srgbClr val="E71C57"/>
                </a:solidFill>
                <a:ea typeface="Microsoft YaHei" panose="020B0503020204020204" pitchFamily="34" charset="-122"/>
              </a:rPr>
              <a:t>未在開卡前推送</a:t>
            </a:r>
            <a:r>
              <a:rPr lang="en-US" altLang="zh-TW" sz="1400">
                <a:solidFill>
                  <a:srgbClr val="E71C57"/>
                </a:solidFill>
                <a:ea typeface="Microsoft YaHei" panose="020B0503020204020204" pitchFamily="34" charset="-122"/>
              </a:rPr>
              <a:t>APP</a:t>
            </a:r>
            <a:r>
              <a:rPr lang="zh-TW" altLang="en-US" sz="1400">
                <a:solidFill>
                  <a:srgbClr val="E71C57"/>
                </a:solidFill>
                <a:ea typeface="Microsoft YaHei" panose="020B0503020204020204" pitchFamily="34" charset="-122"/>
              </a:rPr>
              <a:t>服務、優惠通知激勵客戶啟用</a:t>
            </a:r>
            <a:r>
              <a:rPr lang="en-US" altLang="zh-TW" sz="1400">
                <a:solidFill>
                  <a:srgbClr val="E71C57"/>
                </a:solidFill>
                <a:ea typeface="Microsoft YaHei" panose="020B0503020204020204" pitchFamily="34" charset="-122"/>
              </a:rPr>
              <a:t>APP</a:t>
            </a:r>
            <a:endParaRPr lang="en-US" sz="1400">
              <a:solidFill>
                <a:srgbClr val="E71C57"/>
              </a:solidFill>
              <a:ea typeface="Microsoft YaHei" panose="020B0503020204020204" pitchFamily="34" charset="-122"/>
            </a:endParaRPr>
          </a:p>
        </p:txBody>
      </p:sp>
      <p:sp>
        <p:nvSpPr>
          <p:cNvPr id="115" name="Rectangle 114">
            <a:extLst>
              <a:ext uri="{FF2B5EF4-FFF2-40B4-BE49-F238E27FC236}">
                <a16:creationId xmlns:a16="http://schemas.microsoft.com/office/drawing/2014/main" id="{03AF22F8-824B-1020-04FD-CE77B516C7B2}"/>
              </a:ext>
            </a:extLst>
          </p:cNvPr>
          <p:cNvSpPr/>
          <p:nvPr/>
        </p:nvSpPr>
        <p:spPr>
          <a:xfrm>
            <a:off x="6783045" y="4917396"/>
            <a:ext cx="1617140" cy="886642"/>
          </a:xfrm>
          <a:prstGeom prst="rect">
            <a:avLst/>
          </a:prstGeom>
          <a:noFill/>
          <a:ln w="9525" cap="rnd" cmpd="sng" algn="ctr">
            <a:solidFill>
              <a:srgbClr val="E71C57"/>
            </a:solidFill>
            <a:prstDash val="sysDot"/>
            <a:round/>
            <a:headEnd type="none" w="med" len="med"/>
            <a:tailEnd type="none" w="med" len="me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 tIns="9144" rIns="9144" bIns="9144" numCol="1" spcCol="0" rtlCol="0" fromWordArt="0" anchor="ctr" anchorCtr="0" forceAA="0" compatLnSpc="1">
            <a:prstTxWarp prst="textNoShape">
              <a:avLst/>
            </a:prstTxWarp>
            <a:noAutofit/>
          </a:bodyPr>
          <a:lstStyle/>
          <a:p>
            <a:pPr algn="ctr"/>
            <a:r>
              <a:rPr lang="zh-TW" altLang="en-US" sz="1400">
                <a:solidFill>
                  <a:srgbClr val="E71C57"/>
                </a:solidFill>
                <a:ea typeface="Microsoft YaHei" panose="020B0503020204020204" pitchFamily="34" charset="-122"/>
              </a:rPr>
              <a:t>未推送既有數存優惠訊息</a:t>
            </a:r>
            <a:r>
              <a:rPr lang="en-US" altLang="zh-TW" sz="1400">
                <a:solidFill>
                  <a:srgbClr val="E71C57"/>
                </a:solidFill>
                <a:ea typeface="Microsoft YaHei" panose="020B0503020204020204" pitchFamily="34" charset="-122"/>
              </a:rPr>
              <a:t>(</a:t>
            </a:r>
            <a:r>
              <a:rPr lang="zh-TW" altLang="en-US" sz="1400">
                <a:solidFill>
                  <a:srgbClr val="E71C57"/>
                </a:solidFill>
                <a:ea typeface="Microsoft YaHei" panose="020B0503020204020204" pitchFamily="34" charset="-122"/>
              </a:rPr>
              <a:t>如存款利率等</a:t>
            </a:r>
            <a:r>
              <a:rPr lang="en-US" altLang="zh-TW" sz="1400">
                <a:solidFill>
                  <a:srgbClr val="E71C57"/>
                </a:solidFill>
                <a:ea typeface="Microsoft YaHei" panose="020B0503020204020204" pitchFamily="34" charset="-122"/>
              </a:rPr>
              <a:t>)</a:t>
            </a:r>
            <a:r>
              <a:rPr lang="zh-TW" altLang="en-US" sz="1400">
                <a:solidFill>
                  <a:srgbClr val="E71C57"/>
                </a:solidFill>
                <a:ea typeface="Microsoft YaHei" panose="020B0503020204020204" pitchFamily="34" charset="-122"/>
              </a:rPr>
              <a:t>，新戶無法得知</a:t>
            </a:r>
            <a:endParaRPr lang="en-US" sz="1400">
              <a:solidFill>
                <a:srgbClr val="E71C57"/>
              </a:solidFill>
              <a:ea typeface="Microsoft YaHei" panose="020B0503020204020204" pitchFamily="34" charset="-122"/>
            </a:endParaRPr>
          </a:p>
        </p:txBody>
      </p:sp>
      <p:sp>
        <p:nvSpPr>
          <p:cNvPr id="116" name="TextBox 115">
            <a:extLst>
              <a:ext uri="{FF2B5EF4-FFF2-40B4-BE49-F238E27FC236}">
                <a16:creationId xmlns:a16="http://schemas.microsoft.com/office/drawing/2014/main" id="{4486E39E-D9EC-1586-07E6-BA8062327C1D}"/>
              </a:ext>
            </a:extLst>
          </p:cNvPr>
          <p:cNvSpPr txBox="1"/>
          <p:nvPr/>
        </p:nvSpPr>
        <p:spPr>
          <a:xfrm>
            <a:off x="464526" y="5075998"/>
            <a:ext cx="610189" cy="55323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400" b="1">
                <a:solidFill>
                  <a:srgbClr val="E71C57"/>
                </a:solidFill>
                <a:latin typeface="Microsoft YaHei" panose="020B0503020204020204" pitchFamily="34" charset="-122"/>
                <a:ea typeface="Microsoft YaHei" panose="020B0503020204020204" pitchFamily="34" charset="-122"/>
              </a:rPr>
              <a:t>初步識別缺口</a:t>
            </a:r>
            <a:endParaRPr lang="en-US" altLang="zh-TW" sz="1400" b="1">
              <a:solidFill>
                <a:srgbClr val="E71C57"/>
              </a:solidFill>
              <a:latin typeface="Microsoft YaHei" panose="020B0503020204020204" pitchFamily="34" charset="-122"/>
              <a:ea typeface="Microsoft YaHei" panose="020B0503020204020204" pitchFamily="34" charset="-122"/>
            </a:endParaRPr>
          </a:p>
        </p:txBody>
      </p:sp>
      <p:pic>
        <p:nvPicPr>
          <p:cNvPr id="12292" name="Picture 4" descr="國立臺北商業大學線上就業博覽會">
            <a:extLst>
              <a:ext uri="{FF2B5EF4-FFF2-40B4-BE49-F238E27FC236}">
                <a16:creationId xmlns:a16="http://schemas.microsoft.com/office/drawing/2014/main" id="{8C31945E-17EB-DEF5-2BF0-506EE26739E2}"/>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0735977" y="79732"/>
            <a:ext cx="1292470" cy="430313"/>
          </a:xfrm>
          <a:prstGeom prst="rect">
            <a:avLst/>
          </a:prstGeom>
          <a:noFill/>
          <a:extLst>
            <a:ext uri="{909E8E84-426E-40DD-AFC4-6F175D3DCCD1}">
              <a14:hiddenFill xmlns:a14="http://schemas.microsoft.com/office/drawing/2010/main">
                <a:solidFill>
                  <a:srgbClr val="FFFFFF"/>
                </a:solidFill>
              </a14:hiddenFill>
            </a:ext>
          </a:extLst>
        </p:spPr>
      </p:pic>
      <p:sp>
        <p:nvSpPr>
          <p:cNvPr id="12303" name="Right Bracket 12302">
            <a:extLst>
              <a:ext uri="{FF2B5EF4-FFF2-40B4-BE49-F238E27FC236}">
                <a16:creationId xmlns:a16="http://schemas.microsoft.com/office/drawing/2014/main" id="{02E6AD07-B161-9228-520D-0EC246507B07}"/>
              </a:ext>
            </a:extLst>
          </p:cNvPr>
          <p:cNvSpPr/>
          <p:nvPr/>
        </p:nvSpPr>
        <p:spPr>
          <a:xfrm rot="5400000">
            <a:off x="2871482" y="4111986"/>
            <a:ext cx="142988" cy="3626790"/>
          </a:xfrm>
          <a:prstGeom prst="rightBracket">
            <a:avLst/>
          </a:prstGeom>
          <a:ln w="9525" cap="rnd" cmpd="sng" algn="ctr">
            <a:solidFill>
              <a:srgbClr val="E71C57"/>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ea typeface="Microsoft YaHei" panose="020B0503020204020204" pitchFamily="34" charset="-122"/>
            </a:endParaRPr>
          </a:p>
        </p:txBody>
      </p:sp>
      <p:sp>
        <p:nvSpPr>
          <p:cNvPr id="12304" name="TextBox 12303">
            <a:extLst>
              <a:ext uri="{FF2B5EF4-FFF2-40B4-BE49-F238E27FC236}">
                <a16:creationId xmlns:a16="http://schemas.microsoft.com/office/drawing/2014/main" id="{FC8AC426-2995-7C4C-5D89-315B328888A1}"/>
              </a:ext>
            </a:extLst>
          </p:cNvPr>
          <p:cNvSpPr txBox="1"/>
          <p:nvPr/>
        </p:nvSpPr>
        <p:spPr>
          <a:xfrm>
            <a:off x="1578963" y="5863528"/>
            <a:ext cx="2679764" cy="266694"/>
          </a:xfrm>
          <a:prstGeom prst="rect">
            <a:avLst/>
          </a:prstGeom>
          <a:solidFill>
            <a:srgbClr val="FFFFFF"/>
          </a:solid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400" b="1" i="1">
                <a:solidFill>
                  <a:srgbClr val="E71C57"/>
                </a:solidFill>
                <a:ea typeface="Microsoft YaHei" panose="020B0503020204020204" pitchFamily="34" charset="-122"/>
              </a:rPr>
              <a:t>未在開卡前積極引導使用</a:t>
            </a:r>
            <a:r>
              <a:rPr lang="en-US" altLang="zh-TW" sz="1400" b="1" i="1">
                <a:solidFill>
                  <a:srgbClr val="E71C57"/>
                </a:solidFill>
                <a:ea typeface="Microsoft YaHei" panose="020B0503020204020204" pitchFamily="34" charset="-122"/>
              </a:rPr>
              <a:t>APP</a:t>
            </a:r>
            <a:endParaRPr lang="en-US" sz="1400" b="1" i="1">
              <a:solidFill>
                <a:srgbClr val="E71C57"/>
              </a:solidFill>
              <a:ea typeface="Microsoft YaHei" panose="020B0503020204020204" pitchFamily="34" charset="-122"/>
            </a:endParaRPr>
          </a:p>
        </p:txBody>
      </p:sp>
      <p:sp>
        <p:nvSpPr>
          <p:cNvPr id="12307" name="TextBox 12306">
            <a:extLst>
              <a:ext uri="{FF2B5EF4-FFF2-40B4-BE49-F238E27FC236}">
                <a16:creationId xmlns:a16="http://schemas.microsoft.com/office/drawing/2014/main" id="{3B2EF62E-6344-3F1B-D471-4F84A3AA85DA}"/>
              </a:ext>
            </a:extLst>
          </p:cNvPr>
          <p:cNvSpPr txBox="1"/>
          <p:nvPr/>
        </p:nvSpPr>
        <p:spPr>
          <a:xfrm>
            <a:off x="4918921" y="2502616"/>
            <a:ext cx="1488075" cy="266694"/>
          </a:xfrm>
          <a:prstGeom prst="rect">
            <a:avLst/>
          </a:prstGeom>
          <a:solidFill>
            <a:srgbClr val="FFFFFF"/>
          </a:solid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400">
                <a:solidFill>
                  <a:srgbClr val="29BA74"/>
                </a:solidFill>
                <a:ea typeface="Microsoft YaHei" panose="020B0503020204020204" pitchFamily="34" charset="-122"/>
              </a:rPr>
              <a:t>收到金融卡</a:t>
            </a:r>
            <a:endParaRPr lang="en-US" sz="1400">
              <a:solidFill>
                <a:srgbClr val="29BA74"/>
              </a:solidFill>
              <a:ea typeface="Microsoft YaHei" panose="020B0503020204020204" pitchFamily="34" charset="-122"/>
            </a:endParaRPr>
          </a:p>
        </p:txBody>
      </p:sp>
      <p:sp>
        <p:nvSpPr>
          <p:cNvPr id="4" name="Oval 20">
            <a:extLst>
              <a:ext uri="{FF2B5EF4-FFF2-40B4-BE49-F238E27FC236}">
                <a16:creationId xmlns:a16="http://schemas.microsoft.com/office/drawing/2014/main" id="{C7F10093-2EBC-0436-CEA2-D09D8A274081}"/>
              </a:ext>
            </a:extLst>
          </p:cNvPr>
          <p:cNvSpPr>
            <a:spLocks noChangeAspect="1" noChangeArrowheads="1"/>
          </p:cNvSpPr>
          <p:nvPr/>
        </p:nvSpPr>
        <p:spPr bwMode="auto">
          <a:xfrm>
            <a:off x="186544" y="98006"/>
            <a:ext cx="299290" cy="299290"/>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zh-TW" altLang="en-US" sz="1200">
                <a:solidFill>
                  <a:schemeClr val="bg1"/>
                </a:solidFill>
                <a:ea typeface="Microsoft YaHei" panose="020B0503020204020204" pitchFamily="34" charset="-122"/>
              </a:rPr>
              <a:t>２</a:t>
            </a:r>
            <a:endParaRPr lang="en-US" sz="1200">
              <a:solidFill>
                <a:schemeClr val="bg1"/>
              </a:solidFill>
              <a:ea typeface="Microsoft YaHei" panose="020B0503020204020204" pitchFamily="34" charset="-122"/>
            </a:endParaRPr>
          </a:p>
        </p:txBody>
      </p:sp>
      <p:sp>
        <p:nvSpPr>
          <p:cNvPr id="15" name="TextBox 14">
            <a:extLst>
              <a:ext uri="{FF2B5EF4-FFF2-40B4-BE49-F238E27FC236}">
                <a16:creationId xmlns:a16="http://schemas.microsoft.com/office/drawing/2014/main" id="{120DF351-F462-4E16-CFD2-12335B9FB2E1}"/>
              </a:ext>
            </a:extLst>
          </p:cNvPr>
          <p:cNvSpPr txBox="1"/>
          <p:nvPr/>
        </p:nvSpPr>
        <p:spPr>
          <a:xfrm>
            <a:off x="490697" y="128208"/>
            <a:ext cx="2217333" cy="276999"/>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a:spAutoFit/>
          </a:bodyPr>
          <a:lstStyle/>
          <a:p>
            <a:r>
              <a:rPr lang="zh-TW" altLang="en-US" sz="1200">
                <a:solidFill>
                  <a:srgbClr val="575757"/>
                </a:solidFill>
                <a:latin typeface="Trebuchet MS" panose="020B0603020202020204" pitchFamily="34" charset="0"/>
                <a:ea typeface="Microsoft YaHei" panose="020B0503020204020204" pitchFamily="34" charset="-122"/>
              </a:rPr>
              <a:t>優化新戶啟動計畫</a:t>
            </a:r>
            <a:endParaRPr lang="en-US" sz="1200">
              <a:solidFill>
                <a:srgbClr val="575757"/>
              </a:solidFill>
              <a:ea typeface="Microsoft YaHei" panose="020B0503020204020204" pitchFamily="34" charset="-122"/>
            </a:endParaRPr>
          </a:p>
        </p:txBody>
      </p:sp>
      <p:sp>
        <p:nvSpPr>
          <p:cNvPr id="26" name="Textfeld 1">
            <a:extLst>
              <a:ext uri="{FF2B5EF4-FFF2-40B4-BE49-F238E27FC236}">
                <a16:creationId xmlns:a16="http://schemas.microsoft.com/office/drawing/2014/main" id="{0E37F079-398D-0B09-9A82-D04E34BA6D54}"/>
              </a:ext>
            </a:extLst>
          </p:cNvPr>
          <p:cNvSpPr txBox="1"/>
          <p:nvPr>
            <p:custDataLst>
              <p:tags r:id="rId2"/>
            </p:custDataLst>
          </p:nvPr>
        </p:nvSpPr>
        <p:spPr>
          <a:xfrm>
            <a:off x="-3481292" y="965817"/>
            <a:ext cx="2743200" cy="726353"/>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en-US" sz="1200" b="1">
                <a:solidFill>
                  <a:srgbClr val="575757"/>
                </a:solidFill>
                <a:sym typeface="Trebuchet MS" panose="020B0603020202020204" pitchFamily="34" charset="0"/>
              </a:rPr>
              <a:t>TM 21.Jun.24:
</a:t>
            </a:r>
            <a:r>
              <a:rPr lang="zh-TW" altLang="en-US" sz="1200" b="1">
                <a:solidFill>
                  <a:srgbClr val="575757"/>
                </a:solidFill>
                <a:sym typeface="Trebuchet MS" panose="020B0603020202020204" pitchFamily="34" charset="0"/>
              </a:rPr>
              <a:t>沒有引導到數位</a:t>
            </a:r>
            <a:endParaRPr lang="en-US" altLang="zh-TW" sz="1200" b="1">
              <a:solidFill>
                <a:srgbClr val="575757"/>
              </a:solidFill>
              <a:sym typeface="Trebuchet MS" panose="020B0603020202020204" pitchFamily="34" charset="0"/>
            </a:endParaRPr>
          </a:p>
          <a:p>
            <a:pPr>
              <a:lnSpc>
                <a:spcPct val="90000"/>
              </a:lnSpc>
              <a:spcAft>
                <a:spcPts val="600"/>
              </a:spcAft>
            </a:pPr>
            <a:r>
              <a:rPr lang="zh-TW" altLang="en-US" sz="1200" b="1">
                <a:solidFill>
                  <a:srgbClr val="575757"/>
                </a:solidFill>
                <a:sym typeface="Trebuchet MS" panose="020B0603020202020204" pitchFamily="34" charset="0"/>
              </a:rPr>
              <a:t>沒有給鉤子產品的信息</a:t>
            </a:r>
            <a:endParaRPr lang="en-US" sz="1200" b="1">
              <a:solidFill>
                <a:srgbClr val="575757"/>
              </a:solidFill>
              <a:sym typeface="Trebuchet MS" panose="020B0603020202020204" pitchFamily="34" charset="0"/>
            </a:endParaRPr>
          </a:p>
        </p:txBody>
      </p:sp>
      <p:sp>
        <p:nvSpPr>
          <p:cNvPr id="27" name="Right Bracket 26">
            <a:extLst>
              <a:ext uri="{FF2B5EF4-FFF2-40B4-BE49-F238E27FC236}">
                <a16:creationId xmlns:a16="http://schemas.microsoft.com/office/drawing/2014/main" id="{603B6EDB-3A5C-FCA2-9B80-407711F3658A}"/>
              </a:ext>
            </a:extLst>
          </p:cNvPr>
          <p:cNvSpPr/>
          <p:nvPr/>
        </p:nvSpPr>
        <p:spPr>
          <a:xfrm rot="5400000">
            <a:off x="6580343" y="4177034"/>
            <a:ext cx="142988" cy="3496694"/>
          </a:xfrm>
          <a:prstGeom prst="rightBracket">
            <a:avLst/>
          </a:prstGeom>
          <a:ln w="9525" cap="rnd" cmpd="sng" algn="ctr">
            <a:solidFill>
              <a:srgbClr val="E71C57"/>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ea typeface="Microsoft YaHei" panose="020B0503020204020204" pitchFamily="34" charset="-122"/>
            </a:endParaRPr>
          </a:p>
        </p:txBody>
      </p:sp>
      <p:sp>
        <p:nvSpPr>
          <p:cNvPr id="28" name="TextBox 27">
            <a:extLst>
              <a:ext uri="{FF2B5EF4-FFF2-40B4-BE49-F238E27FC236}">
                <a16:creationId xmlns:a16="http://schemas.microsoft.com/office/drawing/2014/main" id="{0D85A318-C682-2C10-CF77-4449A2887EAF}"/>
              </a:ext>
            </a:extLst>
          </p:cNvPr>
          <p:cNvSpPr txBox="1"/>
          <p:nvPr/>
        </p:nvSpPr>
        <p:spPr>
          <a:xfrm>
            <a:off x="5311954" y="5863528"/>
            <a:ext cx="2679764" cy="266694"/>
          </a:xfrm>
          <a:prstGeom prst="rect">
            <a:avLst/>
          </a:prstGeom>
          <a:solidFill>
            <a:srgbClr val="FFFFFF"/>
          </a:solid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400" b="1" i="1">
                <a:solidFill>
                  <a:srgbClr val="E71C57"/>
                </a:solidFill>
                <a:ea typeface="Microsoft YaHei" panose="020B0503020204020204" pitchFamily="34" charset="-122"/>
              </a:rPr>
              <a:t>未提供關鍵鉤子產品優惠訊息</a:t>
            </a:r>
            <a:endParaRPr lang="en-US" sz="1400" b="1" i="1">
              <a:solidFill>
                <a:srgbClr val="E71C57"/>
              </a:solidFill>
              <a:ea typeface="Microsoft YaHei" panose="020B0503020204020204" pitchFamily="34" charset="-122"/>
            </a:endParaRPr>
          </a:p>
        </p:txBody>
      </p:sp>
    </p:spTree>
    <p:extLst>
      <p:ext uri="{BB962C8B-B14F-4D97-AF65-F5344CB8AC3E}">
        <p14:creationId xmlns:p14="http://schemas.microsoft.com/office/powerpoint/2010/main" val="189639885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 name="Object 44" hidden="1">
            <a:extLst>
              <a:ext uri="{FF2B5EF4-FFF2-40B4-BE49-F238E27FC236}">
                <a16:creationId xmlns:a16="http://schemas.microsoft.com/office/drawing/2014/main" id="{5AC7BD2F-2AEC-16E9-E69B-E22D9836EEA6}"/>
              </a:ext>
            </a:extLst>
          </p:cNvPr>
          <p:cNvGraphicFramePr>
            <a:graphicFrameLocks noChangeAspect="1"/>
          </p:cNvGraphicFramePr>
          <p:nvPr>
            <p:custDataLst>
              <p:tags r:id="rId1"/>
            </p:custDataLst>
            <p:extLst>
              <p:ext uri="{D42A27DB-BD31-4B8C-83A1-F6EECF244321}">
                <p14:modId xmlns:p14="http://schemas.microsoft.com/office/powerpoint/2010/main" val="2940387786"/>
              </p:ext>
            </p:ext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8" imgW="270" imgH="270" progId="TCLayout.ActiveDocument.1">
                  <p:embed/>
                </p:oleObj>
              </mc:Choice>
              <mc:Fallback>
                <p:oleObj name="think-cell Slide" r:id="rId8" imgW="270" imgH="270" progId="TCLayout.ActiveDocument.1">
                  <p:embed/>
                  <p:pic>
                    <p:nvPicPr>
                      <p:cNvPr id="45" name="Object 44" hidden="1">
                        <a:extLst>
                          <a:ext uri="{FF2B5EF4-FFF2-40B4-BE49-F238E27FC236}">
                            <a16:creationId xmlns:a16="http://schemas.microsoft.com/office/drawing/2014/main" id="{5AC7BD2F-2AEC-16E9-E69B-E22D9836EEA6}"/>
                          </a:ext>
                        </a:extLst>
                      </p:cNvPr>
                      <p:cNvPicPr/>
                      <p:nvPr/>
                    </p:nvPicPr>
                    <p:blipFill>
                      <a:blip r:embed="rId9"/>
                      <a:stretch>
                        <a:fillRect/>
                      </a:stretch>
                    </p:blipFill>
                    <p:spPr>
                      <a:xfrm>
                        <a:off x="1588" y="1588"/>
                        <a:ext cx="1587" cy="1587"/>
                      </a:xfrm>
                      <a:prstGeom prst="rect">
                        <a:avLst/>
                      </a:prstGeom>
                    </p:spPr>
                  </p:pic>
                </p:oleObj>
              </mc:Fallback>
            </mc:AlternateContent>
          </a:graphicData>
        </a:graphic>
      </p:graphicFrame>
      <p:sp>
        <p:nvSpPr>
          <p:cNvPr id="17" name="Rectangle 16">
            <a:extLst>
              <a:ext uri="{FF2B5EF4-FFF2-40B4-BE49-F238E27FC236}">
                <a16:creationId xmlns:a16="http://schemas.microsoft.com/office/drawing/2014/main" id="{AD826757-35E5-1488-735C-8857CE77C857}"/>
              </a:ext>
            </a:extLst>
          </p:cNvPr>
          <p:cNvSpPr/>
          <p:nvPr/>
        </p:nvSpPr>
        <p:spPr>
          <a:xfrm>
            <a:off x="1740022" y="5035985"/>
            <a:ext cx="9783739" cy="1029315"/>
          </a:xfrm>
          <a:prstGeom prst="rect">
            <a:avLst/>
          </a:prstGeom>
          <a:solidFill>
            <a:srgbClr val="F2F2F2"/>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a typeface="Microsoft YaHei" panose="020B0503020204020204" pitchFamily="34" charset="-122"/>
            </a:endParaRPr>
          </a:p>
        </p:txBody>
      </p:sp>
      <p:sp>
        <p:nvSpPr>
          <p:cNvPr id="2" name="Title 1">
            <a:extLst>
              <a:ext uri="{FF2B5EF4-FFF2-40B4-BE49-F238E27FC236}">
                <a16:creationId xmlns:a16="http://schemas.microsoft.com/office/drawing/2014/main" id="{990698E8-30ED-EE96-F80F-3CC36E007927}"/>
              </a:ext>
            </a:extLst>
          </p:cNvPr>
          <p:cNvSpPr>
            <a:spLocks noGrp="1"/>
          </p:cNvSpPr>
          <p:nvPr>
            <p:ph type="title"/>
          </p:nvPr>
        </p:nvSpPr>
        <p:spPr>
          <a:xfrm>
            <a:off x="630000" y="622800"/>
            <a:ext cx="10933350" cy="664797"/>
          </a:xfrm>
        </p:spPr>
        <p:txBody>
          <a:bodyPr vert="horz"/>
          <a:lstStyle/>
          <a:p>
            <a:r>
              <a:rPr lang="zh-TW" altLang="en-US">
                <a:solidFill>
                  <a:srgbClr val="A8B21C"/>
                </a:solidFill>
                <a:ea typeface="Microsoft YaHei" panose="020B0503020204020204" pitchFamily="34" charset="-122"/>
              </a:rPr>
              <a:t>對標總結</a:t>
            </a:r>
            <a:r>
              <a:rPr lang="en-US" altLang="zh-TW">
                <a:solidFill>
                  <a:srgbClr val="A8B21C"/>
                </a:solidFill>
                <a:latin typeface="Microsoft YaHei" panose="020B0503020204020204" pitchFamily="34" charset="-122"/>
                <a:ea typeface="Microsoft YaHei" panose="020B0503020204020204" pitchFamily="34" charset="-122"/>
              </a:rPr>
              <a:t>|</a:t>
            </a:r>
            <a:r>
              <a:rPr lang="zh-TW" altLang="en-US">
                <a:solidFill>
                  <a:srgbClr val="A8B21C"/>
                </a:solidFill>
                <a:ea typeface="Microsoft YaHei" panose="020B0503020204020204" pitchFamily="34" charset="-122"/>
              </a:rPr>
              <a:t> </a:t>
            </a:r>
            <a:r>
              <a:rPr lang="zh-TW" altLang="en-US">
                <a:ea typeface="Microsoft YaHei" panose="020B0503020204020204" pitchFamily="34" charset="-122"/>
              </a:rPr>
              <a:t>凱基應更早、更頻繁觸發客戶使用</a:t>
            </a:r>
            <a:r>
              <a:rPr lang="en-US" altLang="zh-TW">
                <a:ea typeface="Microsoft YaHei" panose="020B0503020204020204" pitchFamily="34" charset="-122"/>
              </a:rPr>
              <a:t>APP</a:t>
            </a:r>
            <a:r>
              <a:rPr lang="zh-TW" altLang="en-US">
                <a:ea typeface="Microsoft YaHei" panose="020B0503020204020204" pitchFamily="34" charset="-122"/>
              </a:rPr>
              <a:t>，並清楚傳遞鉤子產品相關優惠訊息</a:t>
            </a:r>
            <a:endParaRPr lang="en-US">
              <a:ea typeface="Microsoft YaHei" panose="020B0503020204020204" pitchFamily="34" charset="-122"/>
            </a:endParaRPr>
          </a:p>
        </p:txBody>
      </p:sp>
      <p:sp>
        <p:nvSpPr>
          <p:cNvPr id="46" name="Rectangle 45" hidden="1">
            <a:extLst>
              <a:ext uri="{FF2B5EF4-FFF2-40B4-BE49-F238E27FC236}">
                <a16:creationId xmlns:a16="http://schemas.microsoft.com/office/drawing/2014/main" id="{4395C119-CEDB-52A6-4480-6B0A92915E1C}"/>
              </a:ext>
            </a:extLst>
          </p:cNvPr>
          <p:cNvSpPr/>
          <p:nvPr>
            <p:custDataLst>
              <p:tags r:id="rId2"/>
            </p:custDataLst>
          </p:nvPr>
        </p:nvSpPr>
        <p:spPr bwMode="gray">
          <a:xfrm>
            <a:off x="0" y="0"/>
            <a:ext cx="158750" cy="158750"/>
          </a:xfrm>
          <a:prstGeom prst="rect">
            <a:avLst/>
          </a:prstGeom>
          <a:solidFill>
            <a:schemeClr val="tx2"/>
          </a:solidFill>
          <a:ln w="9525"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spcBef>
                <a:spcPct val="0"/>
              </a:spcBef>
              <a:spcAft>
                <a:spcPct val="0"/>
              </a:spcAft>
            </a:pPr>
            <a:endParaRPr lang="en-US" sz="1600">
              <a:solidFill>
                <a:srgbClr val="FFFFFF"/>
              </a:solidFill>
              <a:latin typeface="Trebuchet MS" panose="020B0603020202020204" pitchFamily="34" charset="0"/>
              <a:ea typeface="Microsoft YaHei" panose="020B0503020204020204" pitchFamily="34" charset="-122"/>
              <a:sym typeface="Trebuchet MS" panose="020B0603020202020204" pitchFamily="34" charset="0"/>
            </a:endParaRPr>
          </a:p>
        </p:txBody>
      </p:sp>
      <p:sp>
        <p:nvSpPr>
          <p:cNvPr id="55" name="TextBox 54">
            <a:extLst>
              <a:ext uri="{FF2B5EF4-FFF2-40B4-BE49-F238E27FC236}">
                <a16:creationId xmlns:a16="http://schemas.microsoft.com/office/drawing/2014/main" id="{57254811-6B22-686D-4E37-7EE1154D4AD2}"/>
              </a:ext>
            </a:extLst>
          </p:cNvPr>
          <p:cNvSpPr txBox="1"/>
          <p:nvPr/>
        </p:nvSpPr>
        <p:spPr>
          <a:xfrm>
            <a:off x="1839452" y="1567245"/>
            <a:ext cx="3145012" cy="365067"/>
          </a:xfrm>
          <a:prstGeom prst="rect">
            <a:avLst/>
          </a:prstGeom>
          <a:solidFill>
            <a:srgbClr val="29BA74"/>
          </a:solid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600" b="1" i="1">
                <a:solidFill>
                  <a:srgbClr val="FFFFFF"/>
                </a:solidFill>
                <a:latin typeface="Microsoft YaHei" panose="020B0503020204020204" pitchFamily="34" charset="-122"/>
                <a:ea typeface="Microsoft YaHei" panose="020B0503020204020204" pitchFamily="34" charset="-122"/>
              </a:rPr>
              <a:t>觸發管道</a:t>
            </a:r>
            <a:endParaRPr lang="en-US" sz="1600" b="1" i="1">
              <a:solidFill>
                <a:srgbClr val="FFFFFF"/>
              </a:solidFill>
              <a:latin typeface="Microsoft YaHei" panose="020B0503020204020204" pitchFamily="34" charset="-122"/>
              <a:ea typeface="Microsoft YaHei" panose="020B0503020204020204" pitchFamily="34" charset="-122"/>
            </a:endParaRPr>
          </a:p>
        </p:txBody>
      </p:sp>
      <p:sp>
        <p:nvSpPr>
          <p:cNvPr id="1056" name="TextBox 1055">
            <a:extLst>
              <a:ext uri="{FF2B5EF4-FFF2-40B4-BE49-F238E27FC236}">
                <a16:creationId xmlns:a16="http://schemas.microsoft.com/office/drawing/2014/main" id="{E1ADA049-3715-0AD8-AAAB-9A5DACC61266}"/>
              </a:ext>
            </a:extLst>
          </p:cNvPr>
          <p:cNvSpPr txBox="1"/>
          <p:nvPr/>
        </p:nvSpPr>
        <p:spPr>
          <a:xfrm>
            <a:off x="8377351" y="1567245"/>
            <a:ext cx="3146410" cy="365067"/>
          </a:xfrm>
          <a:prstGeom prst="rect">
            <a:avLst/>
          </a:prstGeom>
          <a:solidFill>
            <a:srgbClr val="29BA74"/>
          </a:solid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600" b="1" i="1">
                <a:solidFill>
                  <a:srgbClr val="FFFFFF"/>
                </a:solidFill>
                <a:latin typeface="Microsoft YaHei" panose="020B0503020204020204" pitchFamily="34" charset="-122"/>
                <a:ea typeface="Microsoft YaHei" panose="020B0503020204020204" pitchFamily="34" charset="-122"/>
              </a:rPr>
              <a:t>觸發內容</a:t>
            </a:r>
            <a:endParaRPr lang="en-US" sz="1600" b="1" i="1">
              <a:solidFill>
                <a:srgbClr val="FFFFFF"/>
              </a:solidFill>
              <a:latin typeface="Microsoft YaHei" panose="020B0503020204020204" pitchFamily="34" charset="-122"/>
              <a:ea typeface="Microsoft YaHei" panose="020B0503020204020204" pitchFamily="34" charset="-122"/>
            </a:endParaRPr>
          </a:p>
        </p:txBody>
      </p:sp>
      <p:sp>
        <p:nvSpPr>
          <p:cNvPr id="1059" name="TextBox 1058">
            <a:extLst>
              <a:ext uri="{FF2B5EF4-FFF2-40B4-BE49-F238E27FC236}">
                <a16:creationId xmlns:a16="http://schemas.microsoft.com/office/drawing/2014/main" id="{65C124C2-8458-0117-3E92-05C42333B55E}"/>
              </a:ext>
            </a:extLst>
          </p:cNvPr>
          <p:cNvSpPr txBox="1"/>
          <p:nvPr/>
        </p:nvSpPr>
        <p:spPr>
          <a:xfrm>
            <a:off x="630000" y="2081213"/>
            <a:ext cx="1110022" cy="1101196"/>
          </a:xfrm>
          <a:prstGeom prst="rect">
            <a:avLst/>
          </a:prstGeom>
          <a:solidFill>
            <a:srgbClr val="C8C8C8"/>
          </a:solid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600" b="1">
                <a:solidFill>
                  <a:srgbClr val="575757"/>
                </a:solidFill>
                <a:latin typeface="Microsoft YaHei" panose="020B0503020204020204" pitchFamily="34" charset="-122"/>
                <a:ea typeface="Microsoft YaHei" panose="020B0503020204020204" pitchFamily="34" charset="-122"/>
              </a:rPr>
              <a:t>行業案例</a:t>
            </a:r>
            <a:endParaRPr lang="en-US" sz="1600" b="1">
              <a:solidFill>
                <a:srgbClr val="575757"/>
              </a:solidFill>
              <a:latin typeface="Microsoft YaHei" panose="020B0503020204020204" pitchFamily="34" charset="-122"/>
              <a:ea typeface="Microsoft YaHei" panose="020B0503020204020204" pitchFamily="34" charset="-122"/>
            </a:endParaRPr>
          </a:p>
        </p:txBody>
      </p:sp>
      <p:sp>
        <p:nvSpPr>
          <p:cNvPr id="1060" name="TextBox 1059">
            <a:extLst>
              <a:ext uri="{FF2B5EF4-FFF2-40B4-BE49-F238E27FC236}">
                <a16:creationId xmlns:a16="http://schemas.microsoft.com/office/drawing/2014/main" id="{A4B3D7C4-06E0-EAAC-9DA8-8EB8A2DDB8B6}"/>
              </a:ext>
            </a:extLst>
          </p:cNvPr>
          <p:cNvSpPr txBox="1"/>
          <p:nvPr/>
        </p:nvSpPr>
        <p:spPr>
          <a:xfrm>
            <a:off x="630000" y="3223487"/>
            <a:ext cx="1110022" cy="914074"/>
          </a:xfrm>
          <a:prstGeom prst="rect">
            <a:avLst/>
          </a:prstGeom>
          <a:solidFill>
            <a:srgbClr val="C9E7CA"/>
          </a:solid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600" b="1">
                <a:solidFill>
                  <a:srgbClr val="575757"/>
                </a:solidFill>
                <a:latin typeface="Microsoft YaHei" panose="020B0503020204020204" pitchFamily="34" charset="-122"/>
                <a:ea typeface="Microsoft YaHei" panose="020B0503020204020204" pitchFamily="34" charset="-122"/>
              </a:rPr>
              <a:t>凱基現狀</a:t>
            </a:r>
            <a:endParaRPr lang="en-US" sz="1600" b="1">
              <a:solidFill>
                <a:srgbClr val="575757"/>
              </a:solidFill>
              <a:latin typeface="Microsoft YaHei" panose="020B0503020204020204" pitchFamily="34" charset="-122"/>
              <a:ea typeface="Microsoft YaHei" panose="020B0503020204020204" pitchFamily="34" charset="-122"/>
            </a:endParaRPr>
          </a:p>
        </p:txBody>
      </p:sp>
      <p:sp>
        <p:nvSpPr>
          <p:cNvPr id="1063" name="TextBox 1062">
            <a:extLst>
              <a:ext uri="{FF2B5EF4-FFF2-40B4-BE49-F238E27FC236}">
                <a16:creationId xmlns:a16="http://schemas.microsoft.com/office/drawing/2014/main" id="{F72F0D4D-5C89-8739-0B2C-8F8F9E9D088D}"/>
              </a:ext>
            </a:extLst>
          </p:cNvPr>
          <p:cNvSpPr txBox="1"/>
          <p:nvPr/>
        </p:nvSpPr>
        <p:spPr>
          <a:xfrm>
            <a:off x="630000" y="4180474"/>
            <a:ext cx="1110022" cy="812598"/>
          </a:xfrm>
          <a:prstGeom prst="rect">
            <a:avLst/>
          </a:prstGeom>
          <a:solidFill>
            <a:srgbClr val="EBC5D0"/>
          </a:solid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600" b="1">
                <a:solidFill>
                  <a:srgbClr val="575757"/>
                </a:solidFill>
                <a:latin typeface="Microsoft YaHei" panose="020B0503020204020204" pitchFamily="34" charset="-122"/>
                <a:ea typeface="Microsoft YaHei" panose="020B0503020204020204" pitchFamily="34" charset="-122"/>
              </a:rPr>
              <a:t>識別缺口</a:t>
            </a:r>
            <a:endParaRPr lang="en-US" sz="1600" b="1">
              <a:solidFill>
                <a:srgbClr val="575757"/>
              </a:solidFill>
              <a:latin typeface="Microsoft YaHei" panose="020B0503020204020204" pitchFamily="34" charset="-122"/>
              <a:ea typeface="Microsoft YaHei" panose="020B0503020204020204" pitchFamily="34" charset="-122"/>
            </a:endParaRPr>
          </a:p>
        </p:txBody>
      </p:sp>
      <p:sp>
        <p:nvSpPr>
          <p:cNvPr id="1068" name="TextBox 1067">
            <a:extLst>
              <a:ext uri="{FF2B5EF4-FFF2-40B4-BE49-F238E27FC236}">
                <a16:creationId xmlns:a16="http://schemas.microsoft.com/office/drawing/2014/main" id="{C13BF524-48DB-5DE4-AD3A-ECDEC2FF0393}"/>
              </a:ext>
            </a:extLst>
          </p:cNvPr>
          <p:cNvSpPr txBox="1"/>
          <p:nvPr/>
        </p:nvSpPr>
        <p:spPr>
          <a:xfrm>
            <a:off x="5110112" y="1567245"/>
            <a:ext cx="3145012" cy="365067"/>
          </a:xfrm>
          <a:prstGeom prst="rect">
            <a:avLst/>
          </a:prstGeom>
          <a:solidFill>
            <a:srgbClr val="29BA74"/>
          </a:solid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600" b="1" i="1">
                <a:solidFill>
                  <a:srgbClr val="FFFFFF"/>
                </a:solidFill>
                <a:latin typeface="Microsoft YaHei" panose="020B0503020204020204" pitchFamily="34" charset="-122"/>
                <a:ea typeface="Microsoft YaHei" panose="020B0503020204020204" pitchFamily="34" charset="-122"/>
              </a:rPr>
              <a:t>觸發時機</a:t>
            </a:r>
            <a:endParaRPr lang="en-US" sz="1600" b="1" i="1">
              <a:solidFill>
                <a:srgbClr val="FFFFFF"/>
              </a:solidFill>
              <a:latin typeface="Microsoft YaHei" panose="020B0503020204020204" pitchFamily="34" charset="-122"/>
              <a:ea typeface="Microsoft YaHei" panose="020B0503020204020204" pitchFamily="34" charset="-122"/>
            </a:endParaRPr>
          </a:p>
        </p:txBody>
      </p:sp>
      <p:sp>
        <p:nvSpPr>
          <p:cNvPr id="3" name="TextBox 2">
            <a:extLst>
              <a:ext uri="{FF2B5EF4-FFF2-40B4-BE49-F238E27FC236}">
                <a16:creationId xmlns:a16="http://schemas.microsoft.com/office/drawing/2014/main" id="{AFF3D66A-11D5-BE26-34F9-B7A25C34F064}"/>
              </a:ext>
            </a:extLst>
          </p:cNvPr>
          <p:cNvSpPr txBox="1"/>
          <p:nvPr/>
        </p:nvSpPr>
        <p:spPr>
          <a:xfrm>
            <a:off x="1745390" y="2081213"/>
            <a:ext cx="3145012" cy="1101196"/>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324000" lvl="1" indent="-216000">
              <a:buClr>
                <a:schemeClr val="tx2"/>
              </a:buClr>
              <a:buFont typeface="Trebuchet MS" panose="020B0603020202020204" pitchFamily="34" charset="0"/>
              <a:buChar char="•"/>
            </a:pPr>
            <a:r>
              <a:rPr lang="zh-TW" altLang="en-US" sz="1400">
                <a:solidFill>
                  <a:srgbClr val="29BA74"/>
                </a:solidFill>
                <a:latin typeface="Trebuchet MS" panose="020B0603020202020204" pitchFamily="34" charset="0"/>
                <a:ea typeface="Microsoft YaHei" panose="020B0503020204020204" pitchFamily="34" charset="-122"/>
              </a:rPr>
              <a:t>電子郵件、簡訊</a:t>
            </a:r>
            <a:r>
              <a:rPr lang="en-US" altLang="zh-TW" sz="1400">
                <a:solidFill>
                  <a:srgbClr val="29BA74"/>
                </a:solidFill>
                <a:latin typeface="Trebuchet MS" panose="020B0603020202020204" pitchFamily="34" charset="0"/>
                <a:ea typeface="Microsoft YaHei" panose="020B0503020204020204" pitchFamily="34" charset="-122"/>
              </a:rPr>
              <a:t>:</a:t>
            </a:r>
            <a:r>
              <a:rPr lang="zh-TW" altLang="en-US" sz="1400">
                <a:solidFill>
                  <a:srgbClr val="29BA74"/>
                </a:solidFill>
                <a:latin typeface="Trebuchet MS" panose="020B0603020202020204" pitchFamily="34" charset="0"/>
                <a:ea typeface="Microsoft YaHei" panose="020B0503020204020204" pitchFamily="34" charset="-122"/>
              </a:rPr>
              <a:t> </a:t>
            </a:r>
            <a:r>
              <a:rPr lang="zh-TW" altLang="en-US" sz="1400">
                <a:solidFill>
                  <a:schemeClr val="tx1"/>
                </a:solidFill>
                <a:latin typeface="Trebuchet MS" panose="020B0603020202020204" pitchFamily="34" charset="0"/>
                <a:ea typeface="Microsoft YaHei" panose="020B0503020204020204" pitchFamily="34" charset="-122"/>
              </a:rPr>
              <a:t>關鍵通知 </a:t>
            </a:r>
            <a:r>
              <a:rPr lang="en-US" altLang="zh-TW" sz="1400">
                <a:solidFill>
                  <a:schemeClr val="tx1"/>
                </a:solidFill>
                <a:latin typeface="Trebuchet MS" panose="020B0603020202020204" pitchFamily="34" charset="0"/>
                <a:ea typeface="Microsoft YaHei" panose="020B0503020204020204" pitchFamily="34" charset="-122"/>
              </a:rPr>
              <a:t>(</a:t>
            </a:r>
            <a:r>
              <a:rPr lang="zh-TW" altLang="en-US" sz="1400">
                <a:solidFill>
                  <a:schemeClr val="tx1"/>
                </a:solidFill>
                <a:latin typeface="Trebuchet MS" panose="020B0603020202020204" pitchFamily="34" charset="0"/>
                <a:ea typeface="Microsoft YaHei" panose="020B0503020204020204" pitchFamily="34" charset="-122"/>
              </a:rPr>
              <a:t>包含開戶成功、金融卡寄發等</a:t>
            </a:r>
            <a:r>
              <a:rPr lang="en-US" altLang="zh-TW" sz="1400">
                <a:solidFill>
                  <a:schemeClr val="tx1"/>
                </a:solidFill>
                <a:latin typeface="Trebuchet MS" panose="020B0603020202020204" pitchFamily="34" charset="0"/>
                <a:ea typeface="Microsoft YaHei" panose="020B0503020204020204" pitchFamily="34" charset="-122"/>
              </a:rPr>
              <a:t>)</a:t>
            </a:r>
            <a:endParaRPr lang="en-US" sz="1400">
              <a:solidFill>
                <a:schemeClr val="tx1"/>
              </a:solidFill>
              <a:latin typeface="Trebuchet MS" panose="020B0603020202020204" pitchFamily="34" charset="0"/>
              <a:ea typeface="Microsoft YaHei" panose="020B0503020204020204" pitchFamily="34" charset="-122"/>
            </a:endParaRPr>
          </a:p>
          <a:p>
            <a:pPr marL="324000" lvl="1" indent="-216000">
              <a:buClr>
                <a:schemeClr val="tx2"/>
              </a:buClr>
              <a:buFont typeface="Trebuchet MS" panose="020B0603020202020204" pitchFamily="34" charset="0"/>
              <a:buChar char="•"/>
            </a:pPr>
            <a:r>
              <a:rPr lang="zh-TW" altLang="en-US" sz="1400">
                <a:solidFill>
                  <a:srgbClr val="29BA74"/>
                </a:solidFill>
                <a:latin typeface="Trebuchet MS" panose="020B0603020202020204" pitchFamily="34" charset="0"/>
                <a:ea typeface="Microsoft YaHei" panose="020B0503020204020204" pitchFamily="34" charset="-122"/>
              </a:rPr>
              <a:t>金融卡郵件、</a:t>
            </a:r>
            <a:r>
              <a:rPr lang="en-US" altLang="zh-TW" sz="1400">
                <a:solidFill>
                  <a:srgbClr val="29BA74"/>
                </a:solidFill>
                <a:latin typeface="Trebuchet MS" panose="020B0603020202020204" pitchFamily="34" charset="0"/>
                <a:ea typeface="Microsoft YaHei" panose="020B0503020204020204" pitchFamily="34" charset="-122"/>
              </a:rPr>
              <a:t>APP</a:t>
            </a:r>
            <a:r>
              <a:rPr lang="zh-TW" altLang="en-US" sz="1400">
                <a:solidFill>
                  <a:srgbClr val="29BA74"/>
                </a:solidFill>
                <a:latin typeface="Trebuchet MS" panose="020B0603020202020204" pitchFamily="34" charset="0"/>
                <a:ea typeface="Microsoft YaHei" panose="020B0503020204020204" pitchFamily="34" charset="-122"/>
              </a:rPr>
              <a:t>通知</a:t>
            </a:r>
            <a:r>
              <a:rPr lang="en-US" altLang="zh-TW" sz="1400">
                <a:solidFill>
                  <a:srgbClr val="29BA74"/>
                </a:solidFill>
                <a:latin typeface="Trebuchet MS" panose="020B0603020202020204" pitchFamily="34" charset="0"/>
                <a:ea typeface="Microsoft YaHei" panose="020B0503020204020204" pitchFamily="34" charset="-122"/>
              </a:rPr>
              <a:t>:</a:t>
            </a:r>
            <a:r>
              <a:rPr lang="zh-TW" altLang="en-US" sz="1400">
                <a:solidFill>
                  <a:schemeClr val="tx1"/>
                </a:solidFill>
                <a:latin typeface="Trebuchet MS" panose="020B0603020202020204" pitchFamily="34" charset="0"/>
                <a:ea typeface="Microsoft YaHei" panose="020B0503020204020204" pitchFamily="34" charset="-122"/>
              </a:rPr>
              <a:t> 各式優惠訊息</a:t>
            </a:r>
            <a:endParaRPr lang="en-US" sz="1400">
              <a:solidFill>
                <a:schemeClr val="tx1"/>
              </a:solidFill>
              <a:latin typeface="Trebuchet MS" panose="020B0603020202020204" pitchFamily="34" charset="0"/>
              <a:ea typeface="Microsoft YaHei" panose="020B0503020204020204" pitchFamily="34" charset="-122"/>
            </a:endParaRPr>
          </a:p>
        </p:txBody>
      </p:sp>
      <p:sp>
        <p:nvSpPr>
          <p:cNvPr id="4" name="TextBox 3">
            <a:extLst>
              <a:ext uri="{FF2B5EF4-FFF2-40B4-BE49-F238E27FC236}">
                <a16:creationId xmlns:a16="http://schemas.microsoft.com/office/drawing/2014/main" id="{9D71A86A-473B-A6AB-129E-688C586ED4AE}"/>
              </a:ext>
            </a:extLst>
          </p:cNvPr>
          <p:cNvSpPr txBox="1"/>
          <p:nvPr/>
        </p:nvSpPr>
        <p:spPr>
          <a:xfrm>
            <a:off x="1745390" y="3223487"/>
            <a:ext cx="3145012" cy="914074"/>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324000" lvl="1" indent="-216000">
              <a:buClr>
                <a:schemeClr val="tx2"/>
              </a:buClr>
              <a:buFont typeface="Trebuchet MS" panose="020B0603020202020204" pitchFamily="34" charset="0"/>
              <a:buChar char="•"/>
            </a:pPr>
            <a:r>
              <a:rPr lang="zh-TW" altLang="en-US" sz="1400">
                <a:solidFill>
                  <a:schemeClr val="tx1"/>
                </a:solidFill>
                <a:latin typeface="Trebuchet MS" panose="020B0603020202020204" pitchFamily="34" charset="0"/>
                <a:ea typeface="Microsoft YaHei" panose="020B0503020204020204" pitchFamily="34" charset="-122"/>
              </a:rPr>
              <a:t>電子郵件</a:t>
            </a:r>
            <a:r>
              <a:rPr lang="en-US" altLang="zh-TW" sz="1400">
                <a:solidFill>
                  <a:schemeClr val="tx1"/>
                </a:solidFill>
                <a:latin typeface="Trebuchet MS" panose="020B0603020202020204" pitchFamily="34" charset="0"/>
                <a:ea typeface="Microsoft YaHei" panose="020B0503020204020204" pitchFamily="34" charset="-122"/>
              </a:rPr>
              <a:t>:</a:t>
            </a:r>
            <a:r>
              <a:rPr lang="zh-TW" altLang="en-US" sz="1400">
                <a:solidFill>
                  <a:schemeClr val="tx1"/>
                </a:solidFill>
                <a:latin typeface="Trebuchet MS" panose="020B0603020202020204" pitchFamily="34" charset="0"/>
                <a:ea typeface="Microsoft YaHei" panose="020B0503020204020204" pitchFamily="34" charset="-122"/>
              </a:rPr>
              <a:t> 所有訊息 </a:t>
            </a:r>
            <a:r>
              <a:rPr lang="en-US" altLang="zh-TW" sz="1400">
                <a:solidFill>
                  <a:schemeClr val="tx1"/>
                </a:solidFill>
                <a:latin typeface="Trebuchet MS" panose="020B0603020202020204" pitchFamily="34" charset="0"/>
                <a:ea typeface="Microsoft YaHei" panose="020B0503020204020204" pitchFamily="34" charset="-122"/>
              </a:rPr>
              <a:t>(</a:t>
            </a:r>
            <a:r>
              <a:rPr lang="zh-TW" altLang="en-US" sz="1400">
                <a:solidFill>
                  <a:schemeClr val="tx1"/>
                </a:solidFill>
                <a:latin typeface="Trebuchet MS" panose="020B0603020202020204" pitchFamily="34" charset="0"/>
                <a:ea typeface="Microsoft YaHei" panose="020B0503020204020204" pitchFamily="34" charset="-122"/>
              </a:rPr>
              <a:t>包含關鍵通知及優惠訊息</a:t>
            </a:r>
            <a:r>
              <a:rPr lang="en-US" altLang="zh-TW" sz="1400">
                <a:solidFill>
                  <a:schemeClr val="tx1"/>
                </a:solidFill>
                <a:latin typeface="Trebuchet MS" panose="020B0603020202020204" pitchFamily="34" charset="0"/>
                <a:ea typeface="Microsoft YaHei" panose="020B0503020204020204" pitchFamily="34" charset="-122"/>
              </a:rPr>
              <a:t>)</a:t>
            </a:r>
          </a:p>
          <a:p>
            <a:pPr marL="324000" lvl="1" indent="-216000">
              <a:buClr>
                <a:schemeClr val="tx2"/>
              </a:buClr>
              <a:buFont typeface="Trebuchet MS" panose="020B0603020202020204" pitchFamily="34" charset="0"/>
              <a:buChar char="•"/>
            </a:pPr>
            <a:r>
              <a:rPr lang="zh-TW" altLang="en-US" sz="1400">
                <a:solidFill>
                  <a:schemeClr val="tx1"/>
                </a:solidFill>
                <a:latin typeface="Trebuchet MS" panose="020B0603020202020204" pitchFamily="34" charset="0"/>
                <a:ea typeface="Microsoft YaHei" panose="020B0503020204020204" pitchFamily="34" charset="-122"/>
              </a:rPr>
              <a:t>金融卡郵件</a:t>
            </a:r>
            <a:r>
              <a:rPr lang="en-US" altLang="zh-TW" sz="1400">
                <a:solidFill>
                  <a:schemeClr val="tx1"/>
                </a:solidFill>
                <a:latin typeface="Trebuchet MS" panose="020B0603020202020204" pitchFamily="34" charset="0"/>
                <a:ea typeface="Microsoft YaHei" panose="020B0503020204020204" pitchFamily="34" charset="-122"/>
              </a:rPr>
              <a:t>:</a:t>
            </a:r>
            <a:r>
              <a:rPr lang="zh-TW" altLang="en-US" sz="1400">
                <a:solidFill>
                  <a:schemeClr val="tx1"/>
                </a:solidFill>
                <a:latin typeface="Trebuchet MS" panose="020B0603020202020204" pitchFamily="34" charset="0"/>
                <a:ea typeface="Microsoft YaHei" panose="020B0503020204020204" pitchFamily="34" charset="-122"/>
              </a:rPr>
              <a:t> 僅包含開卡教學、行網銀下載連結</a:t>
            </a:r>
            <a:endParaRPr lang="en-US" sz="1400">
              <a:solidFill>
                <a:schemeClr val="tx1"/>
              </a:solidFill>
              <a:latin typeface="Trebuchet MS" panose="020B0603020202020204" pitchFamily="34" charset="0"/>
              <a:ea typeface="Microsoft YaHei" panose="020B0503020204020204" pitchFamily="34" charset="-122"/>
            </a:endParaRPr>
          </a:p>
        </p:txBody>
      </p:sp>
      <p:sp>
        <p:nvSpPr>
          <p:cNvPr id="5" name="TextBox 4">
            <a:extLst>
              <a:ext uri="{FF2B5EF4-FFF2-40B4-BE49-F238E27FC236}">
                <a16:creationId xmlns:a16="http://schemas.microsoft.com/office/drawing/2014/main" id="{8E0A4339-BF34-1067-BDBF-487E087BA775}"/>
              </a:ext>
            </a:extLst>
          </p:cNvPr>
          <p:cNvSpPr txBox="1"/>
          <p:nvPr/>
        </p:nvSpPr>
        <p:spPr>
          <a:xfrm>
            <a:off x="1745390" y="4180474"/>
            <a:ext cx="3145012" cy="77622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324000" lvl="1" indent="-216000">
              <a:buClr>
                <a:schemeClr val="tx2"/>
              </a:buClr>
              <a:buFont typeface="Trebuchet MS" panose="020B0603020202020204" pitchFamily="34" charset="0"/>
              <a:buChar char="•"/>
            </a:pPr>
            <a:r>
              <a:rPr lang="zh-TW" altLang="en-US" sz="1400">
                <a:solidFill>
                  <a:srgbClr val="E71C57"/>
                </a:solidFill>
                <a:latin typeface="Trebuchet MS" panose="020B0603020202020204" pitchFamily="34" charset="0"/>
                <a:ea typeface="Microsoft YaHei" panose="020B0503020204020204" pitchFamily="34" charset="-122"/>
              </a:rPr>
              <a:t>僅透過電子郵件發送訊息，且</a:t>
            </a:r>
            <a:r>
              <a:rPr lang="en-US" altLang="zh-TW" sz="1400">
                <a:solidFill>
                  <a:srgbClr val="E71C57"/>
                </a:solidFill>
                <a:latin typeface="Trebuchet MS" panose="020B0603020202020204" pitchFamily="34" charset="0"/>
                <a:ea typeface="Microsoft YaHei" panose="020B0503020204020204" pitchFamily="34" charset="-122"/>
              </a:rPr>
              <a:t>EDM</a:t>
            </a:r>
            <a:r>
              <a:rPr lang="zh-TW" altLang="en-US" sz="1400">
                <a:solidFill>
                  <a:srgbClr val="E71C57"/>
                </a:solidFill>
                <a:latin typeface="Trebuchet MS" panose="020B0603020202020204" pitchFamily="34" charset="0"/>
                <a:ea typeface="Microsoft YaHei" panose="020B0503020204020204" pitchFamily="34" charset="-122"/>
              </a:rPr>
              <a:t>內容無法直接連結</a:t>
            </a:r>
            <a:r>
              <a:rPr lang="en-US" altLang="zh-TW" sz="1400">
                <a:solidFill>
                  <a:srgbClr val="E71C57"/>
                </a:solidFill>
                <a:latin typeface="Trebuchet MS" panose="020B0603020202020204" pitchFamily="34" charset="0"/>
                <a:ea typeface="Microsoft YaHei" panose="020B0503020204020204" pitchFamily="34" charset="-122"/>
              </a:rPr>
              <a:t>APP</a:t>
            </a:r>
            <a:r>
              <a:rPr lang="zh-TW" altLang="en-US" sz="1400">
                <a:solidFill>
                  <a:srgbClr val="E71C57"/>
                </a:solidFill>
                <a:latin typeface="Trebuchet MS" panose="020B0603020202020204" pitchFamily="34" charset="0"/>
                <a:ea typeface="Microsoft YaHei" panose="020B0503020204020204" pitchFamily="34" charset="-122"/>
              </a:rPr>
              <a:t>或申請頁面，客戶路徑長</a:t>
            </a:r>
            <a:endParaRPr lang="en-US" altLang="zh-TW" sz="1400">
              <a:solidFill>
                <a:srgbClr val="E71C57"/>
              </a:solidFill>
              <a:latin typeface="Trebuchet MS" panose="020B0603020202020204" pitchFamily="34" charset="0"/>
              <a:ea typeface="Microsoft YaHei" panose="020B0503020204020204" pitchFamily="34" charset="-122"/>
            </a:endParaRPr>
          </a:p>
        </p:txBody>
      </p:sp>
      <p:sp>
        <p:nvSpPr>
          <p:cNvPr id="6" name="TextBox 5">
            <a:extLst>
              <a:ext uri="{FF2B5EF4-FFF2-40B4-BE49-F238E27FC236}">
                <a16:creationId xmlns:a16="http://schemas.microsoft.com/office/drawing/2014/main" id="{4C6FB5D2-37C2-83B1-9FF7-493C9DFAFC24}"/>
              </a:ext>
            </a:extLst>
          </p:cNvPr>
          <p:cNvSpPr txBox="1"/>
          <p:nvPr/>
        </p:nvSpPr>
        <p:spPr>
          <a:xfrm>
            <a:off x="5003963" y="2081213"/>
            <a:ext cx="3251162" cy="1101196"/>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324000" lvl="1" indent="-216000">
              <a:buClr>
                <a:schemeClr val="tx2"/>
              </a:buClr>
              <a:buFont typeface="Trebuchet MS" panose="020B0603020202020204" pitchFamily="34" charset="0"/>
              <a:buChar char="•"/>
            </a:pPr>
            <a:r>
              <a:rPr lang="zh-TW" altLang="en-US" sz="1400">
                <a:solidFill>
                  <a:srgbClr val="29BA74"/>
                </a:solidFill>
                <a:latin typeface="Trebuchet MS" panose="020B0603020202020204" pitchFamily="34" charset="0"/>
                <a:ea typeface="Microsoft YaHei" panose="020B0503020204020204" pitchFamily="34" charset="-122"/>
              </a:rPr>
              <a:t>完成申請或開戶後，立即與反覆觸發客戶 </a:t>
            </a:r>
            <a:r>
              <a:rPr lang="en-US" altLang="zh-TW" sz="1400">
                <a:solidFill>
                  <a:srgbClr val="575757"/>
                </a:solidFill>
                <a:latin typeface="Trebuchet MS" panose="020B0603020202020204" pitchFamily="34" charset="0"/>
                <a:ea typeface="Microsoft YaHei" panose="020B0503020204020204" pitchFamily="34" charset="-122"/>
              </a:rPr>
              <a:t>(</a:t>
            </a:r>
            <a:r>
              <a:rPr lang="zh-TW" altLang="en-US" sz="1400">
                <a:solidFill>
                  <a:srgbClr val="575757"/>
                </a:solidFill>
                <a:latin typeface="Trebuchet MS" panose="020B0603020202020204" pitchFamily="34" charset="0"/>
                <a:ea typeface="Microsoft YaHei" panose="020B0503020204020204" pitchFamily="34" charset="-122"/>
              </a:rPr>
              <a:t>如</a:t>
            </a:r>
            <a:r>
              <a:rPr lang="zh-TW" altLang="en-US" sz="1400">
                <a:solidFill>
                  <a:schemeClr val="tx1"/>
                </a:solidFill>
                <a:latin typeface="Trebuchet MS" panose="020B0603020202020204" pitchFamily="34" charset="0"/>
                <a:ea typeface="Microsoft YaHei" panose="020B0503020204020204" pitchFamily="34" charset="-122"/>
              </a:rPr>
              <a:t>鼓勵</a:t>
            </a:r>
            <a:r>
              <a:rPr lang="en-US" altLang="zh-TW" sz="1400">
                <a:solidFill>
                  <a:schemeClr val="tx1"/>
                </a:solidFill>
                <a:latin typeface="Trebuchet MS" panose="020B0603020202020204" pitchFamily="34" charset="0"/>
                <a:ea typeface="Microsoft YaHei" panose="020B0503020204020204" pitchFamily="34" charset="-122"/>
              </a:rPr>
              <a:t>APP</a:t>
            </a:r>
            <a:r>
              <a:rPr lang="zh-TW" altLang="en-US" sz="1400">
                <a:solidFill>
                  <a:schemeClr val="tx1"/>
                </a:solidFill>
                <a:latin typeface="Trebuchet MS" panose="020B0603020202020204" pitchFamily="34" charset="0"/>
                <a:ea typeface="Microsoft YaHei" panose="020B0503020204020204" pitchFamily="34" charset="-122"/>
              </a:rPr>
              <a:t>下載、新戶優惠、</a:t>
            </a:r>
            <a:r>
              <a:rPr lang="en-US" altLang="zh-TW" sz="1400">
                <a:solidFill>
                  <a:schemeClr val="tx1"/>
                </a:solidFill>
                <a:latin typeface="Trebuchet MS" panose="020B0603020202020204" pitchFamily="34" charset="0"/>
                <a:ea typeface="Microsoft YaHei" panose="020B0503020204020204" pitchFamily="34" charset="-122"/>
              </a:rPr>
              <a:t>APP</a:t>
            </a:r>
            <a:r>
              <a:rPr lang="zh-TW" altLang="en-US" sz="1400">
                <a:solidFill>
                  <a:schemeClr val="tx1"/>
                </a:solidFill>
                <a:latin typeface="Trebuchet MS" panose="020B0603020202020204" pitchFamily="34" charset="0"/>
                <a:ea typeface="Microsoft YaHei" panose="020B0503020204020204" pitchFamily="34" charset="-122"/>
              </a:rPr>
              <a:t>服務訊息</a:t>
            </a:r>
            <a:r>
              <a:rPr lang="en-US" altLang="zh-TW" sz="1400">
                <a:solidFill>
                  <a:schemeClr val="tx1"/>
                </a:solidFill>
                <a:latin typeface="Trebuchet MS" panose="020B0603020202020204" pitchFamily="34" charset="0"/>
                <a:ea typeface="Microsoft YaHei" panose="020B0503020204020204" pitchFamily="34" charset="-122"/>
              </a:rPr>
              <a:t>)</a:t>
            </a:r>
          </a:p>
          <a:p>
            <a:pPr marL="324000" lvl="1" indent="-216000">
              <a:buClr>
                <a:schemeClr val="tx2"/>
              </a:buClr>
              <a:buFont typeface="Trebuchet MS" panose="020B0603020202020204" pitchFamily="34" charset="0"/>
              <a:buChar char="•"/>
            </a:pPr>
            <a:r>
              <a:rPr lang="zh-TW" altLang="en-US" sz="1400">
                <a:solidFill>
                  <a:srgbClr val="29BA74"/>
                </a:solidFill>
                <a:latin typeface="Trebuchet MS" panose="020B0603020202020204" pitchFamily="34" charset="0"/>
                <a:ea typeface="Microsoft YaHei" panose="020B0503020204020204" pitchFamily="34" charset="-122"/>
              </a:rPr>
              <a:t>寄發金融卡郵件時，同時說明數存及各式商品優惠 </a:t>
            </a:r>
            <a:endParaRPr lang="en-US" sz="1400">
              <a:solidFill>
                <a:srgbClr val="29BA74"/>
              </a:solidFill>
              <a:latin typeface="Trebuchet MS" panose="020B0603020202020204" pitchFamily="34" charset="0"/>
              <a:ea typeface="Microsoft YaHei" panose="020B0503020204020204" pitchFamily="34" charset="-122"/>
            </a:endParaRPr>
          </a:p>
        </p:txBody>
      </p:sp>
      <p:sp>
        <p:nvSpPr>
          <p:cNvPr id="7" name="TextBox 6">
            <a:extLst>
              <a:ext uri="{FF2B5EF4-FFF2-40B4-BE49-F238E27FC236}">
                <a16:creationId xmlns:a16="http://schemas.microsoft.com/office/drawing/2014/main" id="{DA108180-B53C-55F8-6B22-F9234667EE05}"/>
              </a:ext>
            </a:extLst>
          </p:cNvPr>
          <p:cNvSpPr txBox="1"/>
          <p:nvPr/>
        </p:nvSpPr>
        <p:spPr>
          <a:xfrm>
            <a:off x="5003963" y="3223487"/>
            <a:ext cx="3251162" cy="914074"/>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324000" lvl="1" indent="-216000">
              <a:buClr>
                <a:schemeClr val="tx2"/>
              </a:buClr>
              <a:buFont typeface="Trebuchet MS" panose="020B0603020202020204" pitchFamily="34" charset="0"/>
              <a:buChar char="•"/>
            </a:pPr>
            <a:r>
              <a:rPr lang="zh-TW" altLang="en-US" sz="1400">
                <a:solidFill>
                  <a:schemeClr val="tx1"/>
                </a:solidFill>
                <a:latin typeface="Trebuchet MS" panose="020B0603020202020204" pitchFamily="34" charset="0"/>
                <a:ea typeface="Microsoft YaHei" panose="020B0503020204020204" pitchFamily="34" charset="-122"/>
              </a:rPr>
              <a:t>收到金融卡時提供</a:t>
            </a:r>
            <a:r>
              <a:rPr lang="en-US" altLang="zh-TW" sz="1400">
                <a:solidFill>
                  <a:schemeClr val="tx1"/>
                </a:solidFill>
                <a:latin typeface="Trebuchet MS" panose="020B0603020202020204" pitchFamily="34" charset="0"/>
                <a:ea typeface="Microsoft YaHei" panose="020B0503020204020204" pitchFamily="34" charset="-122"/>
              </a:rPr>
              <a:t>APP</a:t>
            </a:r>
            <a:r>
              <a:rPr lang="zh-TW" altLang="en-US" sz="1400">
                <a:solidFill>
                  <a:schemeClr val="tx1"/>
                </a:solidFill>
                <a:latin typeface="Trebuchet MS" panose="020B0603020202020204" pitchFamily="34" charset="0"/>
                <a:ea typeface="Microsoft YaHei" panose="020B0503020204020204" pitchFamily="34" charset="-122"/>
              </a:rPr>
              <a:t>下載連結</a:t>
            </a:r>
            <a:endParaRPr lang="en-US" altLang="zh-TW" sz="1400">
              <a:solidFill>
                <a:schemeClr val="tx1"/>
              </a:solidFill>
              <a:latin typeface="Trebuchet MS" panose="020B0603020202020204" pitchFamily="34" charset="0"/>
              <a:ea typeface="Microsoft YaHei" panose="020B0503020204020204" pitchFamily="34" charset="-122"/>
            </a:endParaRPr>
          </a:p>
          <a:p>
            <a:pPr marL="324000" lvl="1" indent="-216000">
              <a:buClr>
                <a:schemeClr val="tx2"/>
              </a:buClr>
              <a:buFont typeface="Trebuchet MS" panose="020B0603020202020204" pitchFamily="34" charset="0"/>
              <a:buChar char="•"/>
            </a:pPr>
            <a:r>
              <a:rPr lang="zh-TW" altLang="en-US" sz="1400">
                <a:solidFill>
                  <a:schemeClr val="tx1"/>
                </a:solidFill>
                <a:latin typeface="Trebuchet MS" panose="020B0603020202020204" pitchFamily="34" charset="0"/>
                <a:ea typeface="Microsoft YaHei" panose="020B0503020204020204" pitchFamily="34" charset="-122"/>
              </a:rPr>
              <a:t>寄發金融卡後，提供單張活動</a:t>
            </a:r>
            <a:r>
              <a:rPr lang="en-US" altLang="zh-TW" sz="1400">
                <a:solidFill>
                  <a:schemeClr val="tx1"/>
                </a:solidFill>
                <a:latin typeface="Trebuchet MS" panose="020B0603020202020204" pitchFamily="34" charset="0"/>
                <a:ea typeface="Microsoft YaHei" panose="020B0503020204020204" pitchFamily="34" charset="-122"/>
              </a:rPr>
              <a:t>EDM</a:t>
            </a:r>
          </a:p>
          <a:p>
            <a:pPr marL="324000" lvl="1" indent="-216000">
              <a:buClr>
                <a:schemeClr val="tx2"/>
              </a:buClr>
              <a:buFont typeface="Trebuchet MS" panose="020B0603020202020204" pitchFamily="34" charset="0"/>
              <a:buChar char="•"/>
            </a:pPr>
            <a:endParaRPr lang="en-US" sz="1400">
              <a:solidFill>
                <a:schemeClr val="tx1"/>
              </a:solidFill>
              <a:latin typeface="Trebuchet MS" panose="020B0603020202020204" pitchFamily="34" charset="0"/>
              <a:ea typeface="Microsoft YaHei" panose="020B0503020204020204" pitchFamily="34" charset="-122"/>
            </a:endParaRPr>
          </a:p>
        </p:txBody>
      </p:sp>
      <p:sp>
        <p:nvSpPr>
          <p:cNvPr id="8" name="TextBox 7">
            <a:extLst>
              <a:ext uri="{FF2B5EF4-FFF2-40B4-BE49-F238E27FC236}">
                <a16:creationId xmlns:a16="http://schemas.microsoft.com/office/drawing/2014/main" id="{6908BC6E-932A-C575-E8BD-0B7666F1C288}"/>
              </a:ext>
            </a:extLst>
          </p:cNvPr>
          <p:cNvSpPr txBox="1"/>
          <p:nvPr/>
        </p:nvSpPr>
        <p:spPr>
          <a:xfrm>
            <a:off x="5003963" y="4180474"/>
            <a:ext cx="3251162" cy="77622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324000" lvl="1" indent="-216000">
              <a:buClr>
                <a:schemeClr val="tx2"/>
              </a:buClr>
              <a:buFont typeface="Trebuchet MS" panose="020B0603020202020204" pitchFamily="34" charset="0"/>
              <a:buChar char="•"/>
            </a:pPr>
            <a:r>
              <a:rPr lang="zh-TW" altLang="en-US" sz="1400">
                <a:solidFill>
                  <a:srgbClr val="E71C57"/>
                </a:solidFill>
                <a:latin typeface="Trebuchet MS" panose="020B0603020202020204" pitchFamily="34" charset="0"/>
                <a:ea typeface="Microsoft YaHei" panose="020B0503020204020204" pitchFamily="34" charset="-122"/>
              </a:rPr>
              <a:t>未在開卡前積極觸發，同時在開卡文件內亦無有效提供優惠資訊</a:t>
            </a:r>
            <a:endParaRPr lang="en-US" altLang="zh-TW" sz="1400">
              <a:solidFill>
                <a:srgbClr val="E71C57"/>
              </a:solidFill>
              <a:latin typeface="Trebuchet MS" panose="020B0603020202020204" pitchFamily="34" charset="0"/>
              <a:ea typeface="Microsoft YaHei" panose="020B0503020204020204" pitchFamily="34" charset="-122"/>
            </a:endParaRPr>
          </a:p>
        </p:txBody>
      </p:sp>
      <p:sp>
        <p:nvSpPr>
          <p:cNvPr id="9" name="TextBox 8">
            <a:extLst>
              <a:ext uri="{FF2B5EF4-FFF2-40B4-BE49-F238E27FC236}">
                <a16:creationId xmlns:a16="http://schemas.microsoft.com/office/drawing/2014/main" id="{78B8EF1E-0EEC-EBC2-EE31-D22699C348DE}"/>
              </a:ext>
            </a:extLst>
          </p:cNvPr>
          <p:cNvSpPr txBox="1"/>
          <p:nvPr/>
        </p:nvSpPr>
        <p:spPr>
          <a:xfrm>
            <a:off x="8312188" y="2081213"/>
            <a:ext cx="3251162" cy="1101196"/>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324000" lvl="1" indent="-216000">
              <a:buClr>
                <a:schemeClr val="tx2"/>
              </a:buClr>
              <a:buFont typeface="Trebuchet MS" panose="020B0603020202020204" pitchFamily="34" charset="0"/>
              <a:buChar char="•"/>
            </a:pPr>
            <a:r>
              <a:rPr lang="zh-TW" altLang="en-US" sz="1400">
                <a:solidFill>
                  <a:srgbClr val="29BA74"/>
                </a:solidFill>
                <a:latin typeface="Trebuchet MS" panose="020B0603020202020204" pitchFamily="34" charset="0"/>
                <a:ea typeface="Microsoft YaHei" panose="020B0503020204020204" pitchFamily="34" charset="-122"/>
              </a:rPr>
              <a:t>以最貼近客戶使用的數存服務及優惠為主打 </a:t>
            </a:r>
            <a:r>
              <a:rPr lang="en-US" altLang="zh-TW" sz="1400">
                <a:solidFill>
                  <a:srgbClr val="575757"/>
                </a:solidFill>
                <a:latin typeface="Trebuchet MS" panose="020B0603020202020204" pitchFamily="34" charset="0"/>
                <a:ea typeface="Microsoft YaHei" panose="020B0503020204020204" pitchFamily="34" charset="-122"/>
              </a:rPr>
              <a:t>(</a:t>
            </a:r>
            <a:r>
              <a:rPr lang="zh-TW" altLang="en-US" sz="1400">
                <a:solidFill>
                  <a:srgbClr val="575757"/>
                </a:solidFill>
                <a:latin typeface="Trebuchet MS" panose="020B0603020202020204" pitchFamily="34" charset="0"/>
                <a:ea typeface="Microsoft YaHei" panose="020B0503020204020204" pitchFamily="34" charset="-122"/>
              </a:rPr>
              <a:t>如活儲利率、免手續費次數、綁定行動支付、快速查看餘額等</a:t>
            </a:r>
            <a:r>
              <a:rPr lang="en-US" altLang="zh-TW" sz="1400">
                <a:solidFill>
                  <a:srgbClr val="575757"/>
                </a:solidFill>
                <a:latin typeface="Trebuchet MS" panose="020B0603020202020204" pitchFamily="34" charset="0"/>
                <a:ea typeface="Microsoft YaHei" panose="020B0503020204020204" pitchFamily="34" charset="-122"/>
              </a:rPr>
              <a:t>)</a:t>
            </a:r>
            <a:r>
              <a:rPr lang="zh-TW" altLang="en-US" sz="1400">
                <a:solidFill>
                  <a:srgbClr val="575757"/>
                </a:solidFill>
                <a:latin typeface="Trebuchet MS" panose="020B0603020202020204" pitchFamily="34" charset="0"/>
                <a:ea typeface="Microsoft YaHei" panose="020B0503020204020204" pitchFamily="34" charset="-122"/>
              </a:rPr>
              <a:t>，</a:t>
            </a:r>
            <a:r>
              <a:rPr lang="zh-TW" altLang="en-US" sz="1400">
                <a:solidFill>
                  <a:srgbClr val="29BA74"/>
                </a:solidFill>
                <a:latin typeface="Trebuchet MS" panose="020B0603020202020204" pitchFamily="34" charset="0"/>
                <a:ea typeface="Microsoft YaHei" panose="020B0503020204020204" pitchFamily="34" charset="-122"/>
              </a:rPr>
              <a:t>其他商品為輔</a:t>
            </a:r>
            <a:endParaRPr lang="en-US" sz="1400">
              <a:solidFill>
                <a:srgbClr val="29BA74"/>
              </a:solidFill>
              <a:latin typeface="Trebuchet MS" panose="020B0603020202020204" pitchFamily="34" charset="0"/>
              <a:ea typeface="Microsoft YaHei" panose="020B0503020204020204" pitchFamily="34" charset="-122"/>
            </a:endParaRPr>
          </a:p>
        </p:txBody>
      </p:sp>
      <p:sp>
        <p:nvSpPr>
          <p:cNvPr id="10" name="TextBox 9">
            <a:extLst>
              <a:ext uri="{FF2B5EF4-FFF2-40B4-BE49-F238E27FC236}">
                <a16:creationId xmlns:a16="http://schemas.microsoft.com/office/drawing/2014/main" id="{41B9EE31-2477-D3A8-C5E7-7EF77FC7F2A4}"/>
              </a:ext>
            </a:extLst>
          </p:cNvPr>
          <p:cNvSpPr txBox="1"/>
          <p:nvPr/>
        </p:nvSpPr>
        <p:spPr>
          <a:xfrm>
            <a:off x="8312188" y="3223487"/>
            <a:ext cx="3251162" cy="914074"/>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324000" lvl="1" indent="-216000">
              <a:buClr>
                <a:schemeClr val="tx2"/>
              </a:buClr>
              <a:buFont typeface="Trebuchet MS" panose="020B0603020202020204" pitchFamily="34" charset="0"/>
              <a:buChar char="•"/>
            </a:pPr>
            <a:r>
              <a:rPr lang="zh-TW" altLang="en-US" sz="1400">
                <a:solidFill>
                  <a:schemeClr val="tx1"/>
                </a:solidFill>
                <a:latin typeface="Trebuchet MS" panose="020B0603020202020204" pitchFamily="34" charset="0"/>
                <a:ea typeface="Microsoft YaHei" panose="020B0503020204020204" pitchFamily="34" charset="-122"/>
              </a:rPr>
              <a:t>以其他商品為主 </a:t>
            </a:r>
            <a:r>
              <a:rPr lang="en-US" altLang="zh-TW" sz="1400">
                <a:solidFill>
                  <a:schemeClr val="tx1"/>
                </a:solidFill>
                <a:latin typeface="Trebuchet MS" panose="020B0603020202020204" pitchFamily="34" charset="0"/>
                <a:ea typeface="Microsoft YaHei" panose="020B0503020204020204" pitchFamily="34" charset="-122"/>
              </a:rPr>
              <a:t>(</a:t>
            </a:r>
            <a:r>
              <a:rPr lang="zh-TW" altLang="en-US" sz="1400">
                <a:solidFill>
                  <a:schemeClr val="tx1"/>
                </a:solidFill>
                <a:latin typeface="Trebuchet MS" panose="020B0603020202020204" pitchFamily="34" charset="0"/>
                <a:ea typeface="Microsoft YaHei" panose="020B0503020204020204" pitchFamily="34" charset="-122"/>
              </a:rPr>
              <a:t>如換匯、基金申購、信貸、信卡優惠等</a:t>
            </a:r>
            <a:r>
              <a:rPr lang="en-US" altLang="zh-TW" sz="1400">
                <a:solidFill>
                  <a:schemeClr val="tx1"/>
                </a:solidFill>
                <a:latin typeface="Trebuchet MS" panose="020B0603020202020204" pitchFamily="34" charset="0"/>
                <a:ea typeface="Microsoft YaHei" panose="020B0503020204020204" pitchFamily="34" charset="-122"/>
              </a:rPr>
              <a:t>)</a:t>
            </a:r>
          </a:p>
          <a:p>
            <a:pPr marL="324000" lvl="1" indent="-216000">
              <a:buClr>
                <a:schemeClr val="tx2"/>
              </a:buClr>
              <a:buFont typeface="Trebuchet MS" panose="020B0603020202020204" pitchFamily="34" charset="0"/>
              <a:buChar char="•"/>
            </a:pPr>
            <a:endParaRPr lang="en-US" sz="1400">
              <a:solidFill>
                <a:schemeClr val="tx1"/>
              </a:solidFill>
              <a:latin typeface="Trebuchet MS" panose="020B0603020202020204" pitchFamily="34" charset="0"/>
              <a:ea typeface="Microsoft YaHei" panose="020B0503020204020204" pitchFamily="34" charset="-122"/>
            </a:endParaRPr>
          </a:p>
        </p:txBody>
      </p:sp>
      <p:sp>
        <p:nvSpPr>
          <p:cNvPr id="11" name="TextBox 10">
            <a:extLst>
              <a:ext uri="{FF2B5EF4-FFF2-40B4-BE49-F238E27FC236}">
                <a16:creationId xmlns:a16="http://schemas.microsoft.com/office/drawing/2014/main" id="{F99DBD82-6B22-95CA-DA81-63EE73DAE0B3}"/>
              </a:ext>
            </a:extLst>
          </p:cNvPr>
          <p:cNvSpPr txBox="1"/>
          <p:nvPr/>
        </p:nvSpPr>
        <p:spPr>
          <a:xfrm>
            <a:off x="8312188" y="4180474"/>
            <a:ext cx="3251162" cy="77622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324000" lvl="1" indent="-216000">
              <a:buClr>
                <a:schemeClr val="tx2"/>
              </a:buClr>
              <a:buFont typeface="Trebuchet MS" panose="020B0603020202020204" pitchFamily="34" charset="0"/>
              <a:buChar char="•"/>
            </a:pPr>
            <a:r>
              <a:rPr lang="zh-TW" altLang="en-US" sz="1400">
                <a:solidFill>
                  <a:srgbClr val="E71C57"/>
                </a:solidFill>
                <a:latin typeface="Trebuchet MS" panose="020B0603020202020204" pitchFamily="34" charset="0"/>
                <a:ea typeface="Microsoft YaHei" panose="020B0503020204020204" pitchFamily="34" charset="-122"/>
              </a:rPr>
              <a:t>與數存連結最直接相關、門檻最低之優惠未有效傳遞給客戶</a:t>
            </a:r>
            <a:endParaRPr lang="en-US" altLang="zh-TW" sz="1400">
              <a:solidFill>
                <a:srgbClr val="E71C57"/>
              </a:solidFill>
              <a:latin typeface="Trebuchet MS" panose="020B0603020202020204" pitchFamily="34" charset="0"/>
              <a:ea typeface="Microsoft YaHei" panose="020B0503020204020204" pitchFamily="34" charset="-122"/>
            </a:endParaRPr>
          </a:p>
        </p:txBody>
      </p:sp>
      <p:sp>
        <p:nvSpPr>
          <p:cNvPr id="13" name="TextBox 12">
            <a:extLst>
              <a:ext uri="{FF2B5EF4-FFF2-40B4-BE49-F238E27FC236}">
                <a16:creationId xmlns:a16="http://schemas.microsoft.com/office/drawing/2014/main" id="{3185F2B1-EFF1-D277-DE2B-36DB66CC4437}"/>
              </a:ext>
            </a:extLst>
          </p:cNvPr>
          <p:cNvSpPr txBox="1"/>
          <p:nvPr/>
        </p:nvSpPr>
        <p:spPr>
          <a:xfrm>
            <a:off x="630000" y="5035985"/>
            <a:ext cx="1110022" cy="1036634"/>
          </a:xfrm>
          <a:prstGeom prst="rect">
            <a:avLst/>
          </a:prstGeom>
          <a:solidFill>
            <a:srgbClr val="C8C8C8"/>
          </a:solid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600" b="1">
                <a:solidFill>
                  <a:srgbClr val="575757"/>
                </a:solidFill>
                <a:latin typeface="Microsoft YaHei" panose="020B0503020204020204" pitchFamily="34" charset="-122"/>
                <a:ea typeface="Microsoft YaHei" panose="020B0503020204020204" pitchFamily="34" charset="-122"/>
              </a:rPr>
              <a:t>初步建議</a:t>
            </a:r>
            <a:endParaRPr lang="en-US" sz="1600" b="1">
              <a:solidFill>
                <a:srgbClr val="575757"/>
              </a:solidFill>
              <a:latin typeface="Microsoft YaHei" panose="020B0503020204020204" pitchFamily="34" charset="-122"/>
              <a:ea typeface="Microsoft YaHei" panose="020B0503020204020204" pitchFamily="34" charset="-122"/>
            </a:endParaRPr>
          </a:p>
        </p:txBody>
      </p:sp>
      <p:sp>
        <p:nvSpPr>
          <p:cNvPr id="14" name="TextBox 13">
            <a:extLst>
              <a:ext uri="{FF2B5EF4-FFF2-40B4-BE49-F238E27FC236}">
                <a16:creationId xmlns:a16="http://schemas.microsoft.com/office/drawing/2014/main" id="{7AB044FA-24A2-DEBC-EA97-018B08C43563}"/>
              </a:ext>
            </a:extLst>
          </p:cNvPr>
          <p:cNvSpPr txBox="1"/>
          <p:nvPr/>
        </p:nvSpPr>
        <p:spPr>
          <a:xfrm>
            <a:off x="1745390" y="5035985"/>
            <a:ext cx="3145012" cy="914074"/>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324000" lvl="1" indent="-216000">
              <a:buClr>
                <a:schemeClr val="tx2"/>
              </a:buClr>
              <a:buFont typeface="Trebuchet MS" panose="020B0603020202020204" pitchFamily="34" charset="0"/>
              <a:buChar char="•"/>
            </a:pPr>
            <a:r>
              <a:rPr lang="zh-TW" altLang="en-US" sz="1400">
                <a:solidFill>
                  <a:srgbClr val="03522D"/>
                </a:solidFill>
                <a:latin typeface="Trebuchet MS" panose="020B0603020202020204" pitchFamily="34" charset="0"/>
                <a:ea typeface="Microsoft YaHei" panose="020B0503020204020204" pitchFamily="34" charset="-122"/>
              </a:rPr>
              <a:t>即早觸發客戶下載</a:t>
            </a:r>
            <a:r>
              <a:rPr lang="en-US" altLang="zh-TW" sz="1400">
                <a:solidFill>
                  <a:srgbClr val="03522D"/>
                </a:solidFill>
                <a:latin typeface="Trebuchet MS" panose="020B0603020202020204" pitchFamily="34" charset="0"/>
                <a:ea typeface="Microsoft YaHei" panose="020B0503020204020204" pitchFamily="34" charset="-122"/>
              </a:rPr>
              <a:t>APP</a:t>
            </a:r>
            <a:r>
              <a:rPr lang="zh-TW" altLang="en-US" sz="1400">
                <a:solidFill>
                  <a:srgbClr val="03522D"/>
                </a:solidFill>
                <a:latin typeface="Trebuchet MS" panose="020B0603020202020204" pitchFamily="34" charset="0"/>
                <a:ea typeface="Microsoft YaHei" panose="020B0503020204020204" pitchFamily="34" charset="-122"/>
              </a:rPr>
              <a:t>並善用</a:t>
            </a:r>
            <a:r>
              <a:rPr lang="en-US" altLang="zh-TW" sz="1400">
                <a:solidFill>
                  <a:srgbClr val="03522D"/>
                </a:solidFill>
                <a:latin typeface="Trebuchet MS" panose="020B0603020202020204" pitchFamily="34" charset="0"/>
                <a:ea typeface="Microsoft YaHei" panose="020B0503020204020204" pitchFamily="34" charset="-122"/>
              </a:rPr>
              <a:t>APP</a:t>
            </a:r>
            <a:r>
              <a:rPr lang="zh-TW" altLang="en-US" sz="1400">
                <a:solidFill>
                  <a:srgbClr val="03522D"/>
                </a:solidFill>
                <a:latin typeface="Trebuchet MS" panose="020B0603020202020204" pitchFamily="34" charset="0"/>
                <a:ea typeface="Microsoft YaHei" panose="020B0503020204020204" pitchFamily="34" charset="-122"/>
              </a:rPr>
              <a:t>通知</a:t>
            </a:r>
            <a:endParaRPr lang="en-US" altLang="zh-TW" sz="1400">
              <a:solidFill>
                <a:srgbClr val="03522D"/>
              </a:solidFill>
              <a:latin typeface="Trebuchet MS" panose="020B0603020202020204" pitchFamily="34" charset="0"/>
              <a:ea typeface="Microsoft YaHei" panose="020B0503020204020204" pitchFamily="34" charset="-122"/>
            </a:endParaRPr>
          </a:p>
          <a:p>
            <a:pPr marL="324000" lvl="1" indent="-216000">
              <a:buClr>
                <a:schemeClr val="tx2"/>
              </a:buClr>
              <a:buFont typeface="Trebuchet MS" panose="020B0603020202020204" pitchFamily="34" charset="0"/>
              <a:buChar char="•"/>
            </a:pPr>
            <a:r>
              <a:rPr lang="zh-TW" altLang="en-US" sz="1400">
                <a:solidFill>
                  <a:srgbClr val="03522D"/>
                </a:solidFill>
                <a:latin typeface="Trebuchet MS" panose="020B0603020202020204" pitchFamily="34" charset="0"/>
                <a:ea typeface="Microsoft YaHei" panose="020B0503020204020204" pitchFamily="34" charset="-122"/>
              </a:rPr>
              <a:t>善用發卡信函作爲觸發客戶往來的溝通管道，非純教學文件</a:t>
            </a:r>
            <a:endParaRPr lang="en-US" altLang="zh-TW" sz="1400">
              <a:solidFill>
                <a:srgbClr val="03522D"/>
              </a:solidFill>
              <a:latin typeface="Trebuchet MS" panose="020B0603020202020204" pitchFamily="34" charset="0"/>
              <a:ea typeface="Microsoft YaHei" panose="020B0503020204020204" pitchFamily="34" charset="-122"/>
            </a:endParaRPr>
          </a:p>
        </p:txBody>
      </p:sp>
      <p:sp>
        <p:nvSpPr>
          <p:cNvPr id="15" name="TextBox 14">
            <a:extLst>
              <a:ext uri="{FF2B5EF4-FFF2-40B4-BE49-F238E27FC236}">
                <a16:creationId xmlns:a16="http://schemas.microsoft.com/office/drawing/2014/main" id="{DC21CAF4-06FB-F43D-2AEE-087DF6313E8D}"/>
              </a:ext>
            </a:extLst>
          </p:cNvPr>
          <p:cNvSpPr txBox="1"/>
          <p:nvPr/>
        </p:nvSpPr>
        <p:spPr>
          <a:xfrm>
            <a:off x="5003964" y="5035985"/>
            <a:ext cx="3251162" cy="1143304"/>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324000" lvl="1" indent="-216000">
              <a:buClr>
                <a:schemeClr val="tx2"/>
              </a:buClr>
              <a:buFont typeface="Trebuchet MS" panose="020B0603020202020204" pitchFamily="34" charset="0"/>
              <a:buChar char="•"/>
            </a:pPr>
            <a:r>
              <a:rPr lang="zh-TW" altLang="en-US" sz="1400">
                <a:solidFill>
                  <a:srgbClr val="03522D"/>
                </a:solidFill>
                <a:latin typeface="Trebuchet MS" panose="020B0603020202020204" pitchFamily="34" charset="0"/>
                <a:ea typeface="Microsoft YaHei" panose="020B0503020204020204" pitchFamily="34" charset="-122"/>
              </a:rPr>
              <a:t>強化在開戶後、發卡前的客戶互動</a:t>
            </a:r>
            <a:endParaRPr lang="en-US" altLang="zh-TW" sz="1400">
              <a:solidFill>
                <a:srgbClr val="03522D"/>
              </a:solidFill>
              <a:latin typeface="Trebuchet MS" panose="020B0603020202020204" pitchFamily="34" charset="0"/>
              <a:ea typeface="Microsoft YaHei" panose="020B0503020204020204" pitchFamily="34" charset="-122"/>
            </a:endParaRPr>
          </a:p>
          <a:p>
            <a:pPr marL="324000" lvl="1" indent="-216000">
              <a:buClr>
                <a:schemeClr val="tx2"/>
              </a:buClr>
              <a:buFont typeface="Trebuchet MS" panose="020B0603020202020204" pitchFamily="34" charset="0"/>
              <a:buChar char="•"/>
            </a:pPr>
            <a:r>
              <a:rPr lang="zh-TW" altLang="en-US" sz="1400">
                <a:solidFill>
                  <a:srgbClr val="03522D"/>
                </a:solidFill>
                <a:latin typeface="Trebuchet MS" panose="020B0603020202020204" pitchFamily="34" charset="0"/>
                <a:ea typeface="Microsoft YaHei" panose="020B0503020204020204" pitchFamily="34" charset="-122"/>
              </a:rPr>
              <a:t>更頻繁接觸新戶</a:t>
            </a:r>
            <a:r>
              <a:rPr lang="en-US" altLang="zh-TW" sz="1400">
                <a:solidFill>
                  <a:srgbClr val="03522D"/>
                </a:solidFill>
                <a:latin typeface="Trebuchet MS" panose="020B0603020202020204" pitchFamily="34" charset="0"/>
                <a:ea typeface="Microsoft YaHei" panose="020B0503020204020204" pitchFamily="34" charset="-122"/>
              </a:rPr>
              <a:t>:</a:t>
            </a:r>
            <a:r>
              <a:rPr lang="zh-TW" altLang="en-US" sz="1400">
                <a:solidFill>
                  <a:srgbClr val="03522D"/>
                </a:solidFill>
                <a:latin typeface="Trebuchet MS" panose="020B0603020202020204" pitchFamily="34" charset="0"/>
                <a:ea typeface="Microsoft YaHei" panose="020B0503020204020204" pitchFamily="34" charset="-122"/>
              </a:rPr>
              <a:t> 每隔</a:t>
            </a:r>
            <a:r>
              <a:rPr lang="en-US" altLang="zh-TW" sz="1400">
                <a:solidFill>
                  <a:srgbClr val="03522D"/>
                </a:solidFill>
                <a:latin typeface="Trebuchet MS" panose="020B0603020202020204" pitchFamily="34" charset="0"/>
                <a:ea typeface="Microsoft YaHei" panose="020B0503020204020204" pitchFamily="34" charset="-122"/>
              </a:rPr>
              <a:t>2-3</a:t>
            </a:r>
            <a:r>
              <a:rPr lang="zh-TW" altLang="en-US" sz="1400">
                <a:solidFill>
                  <a:srgbClr val="03522D"/>
                </a:solidFill>
                <a:latin typeface="Trebuchet MS" panose="020B0603020202020204" pitchFamily="34" charset="0"/>
                <a:ea typeface="Microsoft YaHei" panose="020B0503020204020204" pitchFamily="34" charset="-122"/>
              </a:rPr>
              <a:t>天發送通知，確保客戶收到新戶帳務相關及優惠訊息</a:t>
            </a:r>
            <a:endParaRPr lang="en-US" altLang="zh-TW" sz="1400">
              <a:solidFill>
                <a:srgbClr val="03522D"/>
              </a:solidFill>
              <a:latin typeface="Trebuchet MS" panose="020B0603020202020204" pitchFamily="34" charset="0"/>
              <a:ea typeface="Microsoft YaHei" panose="020B0503020204020204" pitchFamily="34" charset="-122"/>
            </a:endParaRPr>
          </a:p>
        </p:txBody>
      </p:sp>
      <p:sp>
        <p:nvSpPr>
          <p:cNvPr id="16" name="TextBox 15">
            <a:extLst>
              <a:ext uri="{FF2B5EF4-FFF2-40B4-BE49-F238E27FC236}">
                <a16:creationId xmlns:a16="http://schemas.microsoft.com/office/drawing/2014/main" id="{C7227BF3-646F-906D-0D35-A504063DFC3B}"/>
              </a:ext>
            </a:extLst>
          </p:cNvPr>
          <p:cNvSpPr txBox="1"/>
          <p:nvPr/>
        </p:nvSpPr>
        <p:spPr>
          <a:xfrm>
            <a:off x="8312188" y="5035985"/>
            <a:ext cx="3290751" cy="77622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324000" lvl="1" indent="-216000">
              <a:buClr>
                <a:schemeClr val="tx2"/>
              </a:buClr>
              <a:buFont typeface="Trebuchet MS" panose="020B0603020202020204" pitchFamily="34" charset="0"/>
              <a:buChar char="•"/>
            </a:pPr>
            <a:r>
              <a:rPr lang="zh-TW" altLang="en-US" sz="1400">
                <a:solidFill>
                  <a:srgbClr val="03522D"/>
                </a:solidFill>
                <a:latin typeface="Trebuchet MS" panose="020B0603020202020204" pitchFamily="34" charset="0"/>
                <a:ea typeface="Microsoft YaHei" panose="020B0503020204020204" pitchFamily="34" charset="-122"/>
              </a:rPr>
              <a:t>加強傳遞鉤子產品</a:t>
            </a:r>
            <a:r>
              <a:rPr lang="en-US" altLang="zh-TW" sz="1400">
                <a:solidFill>
                  <a:srgbClr val="03522D"/>
                </a:solidFill>
                <a:latin typeface="Trebuchet MS" panose="020B0603020202020204" pitchFamily="34" charset="0"/>
                <a:ea typeface="Microsoft YaHei" panose="020B0503020204020204" pitchFamily="34" charset="-122"/>
              </a:rPr>
              <a:t>(</a:t>
            </a:r>
            <a:r>
              <a:rPr lang="zh-TW" altLang="en-US" sz="1400">
                <a:solidFill>
                  <a:srgbClr val="03522D"/>
                </a:solidFill>
                <a:latin typeface="Trebuchet MS" panose="020B0603020202020204" pitchFamily="34" charset="0"/>
                <a:ea typeface="Microsoft YaHei" panose="020B0503020204020204" pitchFamily="34" charset="-122"/>
              </a:rPr>
              <a:t>基本數存服務</a:t>
            </a:r>
            <a:r>
              <a:rPr lang="en-US" altLang="zh-TW" sz="1400">
                <a:solidFill>
                  <a:srgbClr val="03522D"/>
                </a:solidFill>
                <a:latin typeface="Trebuchet MS" panose="020B0603020202020204" pitchFamily="34" charset="0"/>
                <a:ea typeface="Microsoft YaHei" panose="020B0503020204020204" pitchFamily="34" charset="-122"/>
              </a:rPr>
              <a:t>)</a:t>
            </a:r>
            <a:r>
              <a:rPr lang="zh-TW" altLang="en-US" sz="1400">
                <a:solidFill>
                  <a:srgbClr val="03522D"/>
                </a:solidFill>
                <a:latin typeface="Trebuchet MS" panose="020B0603020202020204" pitchFamily="34" charset="0"/>
                <a:ea typeface="Microsoft YaHei" panose="020B0503020204020204" pitchFamily="34" charset="-122"/>
              </a:rPr>
              <a:t>相關優惠訊息</a:t>
            </a:r>
            <a:endParaRPr lang="en-US" altLang="zh-TW" sz="1400">
              <a:solidFill>
                <a:srgbClr val="03522D"/>
              </a:solidFill>
              <a:latin typeface="Trebuchet MS" panose="020B0603020202020204" pitchFamily="34" charset="0"/>
              <a:ea typeface="Microsoft YaHei" panose="020B0503020204020204" pitchFamily="34" charset="-122"/>
            </a:endParaRPr>
          </a:p>
        </p:txBody>
      </p:sp>
      <p:cxnSp>
        <p:nvCxnSpPr>
          <p:cNvPr id="21" name="Straight Connector 20">
            <a:extLst>
              <a:ext uri="{FF2B5EF4-FFF2-40B4-BE49-F238E27FC236}">
                <a16:creationId xmlns:a16="http://schemas.microsoft.com/office/drawing/2014/main" id="{71E15B8F-7732-077A-D2A8-47A786ECC8E3}"/>
              </a:ext>
            </a:extLst>
          </p:cNvPr>
          <p:cNvCxnSpPr/>
          <p:nvPr/>
        </p:nvCxnSpPr>
        <p:spPr>
          <a:xfrm>
            <a:off x="1740022" y="3209351"/>
            <a:ext cx="9783739" cy="0"/>
          </a:xfrm>
          <a:prstGeom prst="line">
            <a:avLst/>
          </a:prstGeom>
          <a:ln w="9525" cap="rnd">
            <a:solidFill>
              <a:schemeClr val="tx1">
                <a:lumMod val="60000"/>
                <a:lumOff val="40000"/>
              </a:schemeClr>
            </a:solidFill>
            <a:prstDash val="sysDot"/>
            <a:round/>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5EB75A1C-B7C9-571F-923B-87B234F02A1E}"/>
              </a:ext>
            </a:extLst>
          </p:cNvPr>
          <p:cNvCxnSpPr/>
          <p:nvPr/>
        </p:nvCxnSpPr>
        <p:spPr>
          <a:xfrm>
            <a:off x="1740022" y="4164508"/>
            <a:ext cx="9783739" cy="0"/>
          </a:xfrm>
          <a:prstGeom prst="line">
            <a:avLst/>
          </a:prstGeom>
          <a:ln w="9525" cap="rnd">
            <a:solidFill>
              <a:schemeClr val="tx1">
                <a:lumMod val="60000"/>
                <a:lumOff val="40000"/>
              </a:schemeClr>
            </a:solidFill>
            <a:prstDash val="sysDot"/>
            <a:round/>
          </a:ln>
        </p:spPr>
        <p:style>
          <a:lnRef idx="1">
            <a:schemeClr val="accent1"/>
          </a:lnRef>
          <a:fillRef idx="0">
            <a:schemeClr val="accent1"/>
          </a:fillRef>
          <a:effectRef idx="0">
            <a:schemeClr val="accent1"/>
          </a:effectRef>
          <a:fontRef idx="minor">
            <a:schemeClr val="tx1"/>
          </a:fontRef>
        </p:style>
      </p:cxnSp>
      <p:grpSp>
        <p:nvGrpSpPr>
          <p:cNvPr id="51" name="Group 50">
            <a:extLst>
              <a:ext uri="{FF2B5EF4-FFF2-40B4-BE49-F238E27FC236}">
                <a16:creationId xmlns:a16="http://schemas.microsoft.com/office/drawing/2014/main" id="{BF31CC24-05D2-B447-CD1C-5F57A831044C}"/>
              </a:ext>
            </a:extLst>
          </p:cNvPr>
          <p:cNvGrpSpPr/>
          <p:nvPr/>
        </p:nvGrpSpPr>
        <p:grpSpPr>
          <a:xfrm>
            <a:off x="2416795" y="1513665"/>
            <a:ext cx="472683" cy="472228"/>
            <a:chOff x="-1571745" y="2670952"/>
            <a:chExt cx="732528" cy="731822"/>
          </a:xfrm>
          <a:effectLst>
            <a:outerShdw blurRad="50800" dist="38100" dir="2700000" algn="tl" rotWithShape="0">
              <a:prstClr val="black">
                <a:alpha val="40000"/>
              </a:prstClr>
            </a:outerShdw>
          </a:effectLst>
        </p:grpSpPr>
        <p:sp>
          <p:nvSpPr>
            <p:cNvPr id="50" name="Oval 49">
              <a:extLst>
                <a:ext uri="{FF2B5EF4-FFF2-40B4-BE49-F238E27FC236}">
                  <a16:creationId xmlns:a16="http://schemas.microsoft.com/office/drawing/2014/main" id="{F5F910BA-7FE7-31C8-0583-7E0EA54B2499}"/>
                </a:ext>
              </a:extLst>
            </p:cNvPr>
            <p:cNvSpPr/>
            <p:nvPr>
              <p:custDataLst>
                <p:tags r:id="rId5"/>
              </p:custDataLst>
            </p:nvPr>
          </p:nvSpPr>
          <p:spPr>
            <a:xfrm>
              <a:off x="-1571745" y="2670952"/>
              <a:ext cx="732528" cy="731822"/>
            </a:xfrm>
            <a:prstGeom prst="ellipse">
              <a:avLst/>
            </a:prstGeom>
            <a:solidFill>
              <a:srgbClr val="FFFFFF"/>
            </a:solidFill>
            <a:ln w="19050">
              <a:gradFill flip="none" rotWithShape="1">
                <a:gsLst>
                  <a:gs pos="0">
                    <a:schemeClr val="accent1"/>
                  </a:gs>
                  <a:gs pos="100000">
                    <a:schemeClr val="accent4"/>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a:solidFill>
                  <a:schemeClr val="bg1">
                    <a:lumMod val="50000"/>
                  </a:schemeClr>
                </a:solidFill>
                <a:ea typeface="Microsoft YaHei" panose="020B0503020204020204" pitchFamily="34" charset="-122"/>
              </a:endParaRPr>
            </a:p>
          </p:txBody>
        </p:sp>
        <p:grpSp>
          <p:nvGrpSpPr>
            <p:cNvPr id="34" name="bcgIcons_Integrated ">
              <a:extLst>
                <a:ext uri="{FF2B5EF4-FFF2-40B4-BE49-F238E27FC236}">
                  <a16:creationId xmlns:a16="http://schemas.microsoft.com/office/drawing/2014/main" id="{87A2BD85-74AA-F13E-32EE-E6EADA5DD8D3}"/>
                </a:ext>
              </a:extLst>
            </p:cNvPr>
            <p:cNvGrpSpPr>
              <a:grpSpLocks noChangeAspect="1"/>
            </p:cNvGrpSpPr>
            <p:nvPr/>
          </p:nvGrpSpPr>
          <p:grpSpPr>
            <a:xfrm>
              <a:off x="-1464469" y="2778125"/>
              <a:ext cx="517976" cy="517476"/>
              <a:chOff x="6464300" y="2606675"/>
              <a:chExt cx="1646238" cy="1644650"/>
            </a:xfrm>
          </p:grpSpPr>
          <p:sp>
            <p:nvSpPr>
              <p:cNvPr id="35" name="AutoShape 14">
                <a:extLst>
                  <a:ext uri="{FF2B5EF4-FFF2-40B4-BE49-F238E27FC236}">
                    <a16:creationId xmlns:a16="http://schemas.microsoft.com/office/drawing/2014/main" id="{07F825A0-0350-8218-830C-65A95824F59B}"/>
                  </a:ext>
                </a:extLst>
              </p:cNvPr>
              <p:cNvSpPr>
                <a:spLocks noChangeAspect="1" noChangeArrowheads="1" noTextEdit="1"/>
              </p:cNvSpPr>
              <p:nvPr/>
            </p:nvSpPr>
            <p:spPr bwMode="auto">
              <a:xfrm>
                <a:off x="6464300"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36" name="Group 35">
                <a:extLst>
                  <a:ext uri="{FF2B5EF4-FFF2-40B4-BE49-F238E27FC236}">
                    <a16:creationId xmlns:a16="http://schemas.microsoft.com/office/drawing/2014/main" id="{5345C0C8-9D02-EBEF-5C6C-B3C9F7ADAA19}"/>
                  </a:ext>
                </a:extLst>
              </p:cNvPr>
              <p:cNvGrpSpPr/>
              <p:nvPr/>
            </p:nvGrpSpPr>
            <p:grpSpPr>
              <a:xfrm>
                <a:off x="6705513" y="2849420"/>
                <a:ext cx="1162224" cy="1160746"/>
                <a:chOff x="6705513" y="2849420"/>
                <a:chExt cx="1162224" cy="1160746"/>
              </a:xfrm>
            </p:grpSpPr>
            <p:sp>
              <p:nvSpPr>
                <p:cNvPr id="37" name="Freeform 9">
                  <a:extLst>
                    <a:ext uri="{FF2B5EF4-FFF2-40B4-BE49-F238E27FC236}">
                      <a16:creationId xmlns:a16="http://schemas.microsoft.com/office/drawing/2014/main" id="{E5A993AF-0CD0-8070-3807-C0C2FDAC181F}"/>
                    </a:ext>
                  </a:extLst>
                </p:cNvPr>
                <p:cNvSpPr>
                  <a:spLocks/>
                </p:cNvSpPr>
                <p:nvPr/>
              </p:nvSpPr>
              <p:spPr bwMode="auto">
                <a:xfrm>
                  <a:off x="6705513" y="2852632"/>
                  <a:ext cx="1159037" cy="1157513"/>
                </a:xfrm>
                <a:custGeom>
                  <a:avLst/>
                  <a:gdLst>
                    <a:gd name="connsiteX0" fmla="*/ 210432 w 1159037"/>
                    <a:gd name="connsiteY0" fmla="*/ 1043093 h 1157513"/>
                    <a:gd name="connsiteX1" fmla="*/ 225514 w 1159037"/>
                    <a:gd name="connsiteY1" fmla="*/ 1058175 h 1157513"/>
                    <a:gd name="connsiteX2" fmla="*/ 210432 w 1159037"/>
                    <a:gd name="connsiteY2" fmla="*/ 1073257 h 1157513"/>
                    <a:gd name="connsiteX3" fmla="*/ 195350 w 1159037"/>
                    <a:gd name="connsiteY3" fmla="*/ 1058175 h 1157513"/>
                    <a:gd name="connsiteX4" fmla="*/ 210432 w 1159037"/>
                    <a:gd name="connsiteY4" fmla="*/ 1043093 h 1157513"/>
                    <a:gd name="connsiteX5" fmla="*/ 153607 w 1159037"/>
                    <a:gd name="connsiteY5" fmla="*/ 817668 h 1157513"/>
                    <a:gd name="connsiteX6" fmla="*/ 268843 w 1159037"/>
                    <a:gd name="connsiteY6" fmla="*/ 817668 h 1157513"/>
                    <a:gd name="connsiteX7" fmla="*/ 273137 w 1159037"/>
                    <a:gd name="connsiteY7" fmla="*/ 822659 h 1157513"/>
                    <a:gd name="connsiteX8" fmla="*/ 273137 w 1159037"/>
                    <a:gd name="connsiteY8" fmla="*/ 1016590 h 1157513"/>
                    <a:gd name="connsiteX9" fmla="*/ 268843 w 1159037"/>
                    <a:gd name="connsiteY9" fmla="*/ 1020868 h 1157513"/>
                    <a:gd name="connsiteX10" fmla="*/ 153607 w 1159037"/>
                    <a:gd name="connsiteY10" fmla="*/ 1020868 h 1157513"/>
                    <a:gd name="connsiteX11" fmla="*/ 149312 w 1159037"/>
                    <a:gd name="connsiteY11" fmla="*/ 1016590 h 1157513"/>
                    <a:gd name="connsiteX12" fmla="*/ 149312 w 1159037"/>
                    <a:gd name="connsiteY12" fmla="*/ 822659 h 1157513"/>
                    <a:gd name="connsiteX13" fmla="*/ 153607 w 1159037"/>
                    <a:gd name="connsiteY13" fmla="*/ 817668 h 1157513"/>
                    <a:gd name="connsiteX14" fmla="*/ 139397 w 1159037"/>
                    <a:gd name="connsiteY14" fmla="*/ 797031 h 1157513"/>
                    <a:gd name="connsiteX15" fmla="*/ 128676 w 1159037"/>
                    <a:gd name="connsiteY15" fmla="*/ 807710 h 1157513"/>
                    <a:gd name="connsiteX16" fmla="*/ 128676 w 1159037"/>
                    <a:gd name="connsiteY16" fmla="*/ 1083216 h 1157513"/>
                    <a:gd name="connsiteX17" fmla="*/ 139397 w 1159037"/>
                    <a:gd name="connsiteY17" fmla="*/ 1093894 h 1157513"/>
                    <a:gd name="connsiteX18" fmla="*/ 283055 w 1159037"/>
                    <a:gd name="connsiteY18" fmla="*/ 1093894 h 1157513"/>
                    <a:gd name="connsiteX19" fmla="*/ 293776 w 1159037"/>
                    <a:gd name="connsiteY19" fmla="*/ 1083216 h 1157513"/>
                    <a:gd name="connsiteX20" fmla="*/ 293776 w 1159037"/>
                    <a:gd name="connsiteY20" fmla="*/ 807710 h 1157513"/>
                    <a:gd name="connsiteX21" fmla="*/ 283055 w 1159037"/>
                    <a:gd name="connsiteY21" fmla="*/ 797031 h 1157513"/>
                    <a:gd name="connsiteX22" fmla="*/ 139397 w 1159037"/>
                    <a:gd name="connsiteY22" fmla="*/ 797031 h 1157513"/>
                    <a:gd name="connsiteX23" fmla="*/ 508450 w 1159037"/>
                    <a:gd name="connsiteY23" fmla="*/ 634945 h 1157513"/>
                    <a:gd name="connsiteX24" fmla="*/ 519797 w 1159037"/>
                    <a:gd name="connsiteY24" fmla="*/ 639227 h 1157513"/>
                    <a:gd name="connsiteX25" fmla="*/ 581265 w 1159037"/>
                    <a:gd name="connsiteY25" fmla="*/ 664919 h 1157513"/>
                    <a:gd name="connsiteX26" fmla="*/ 596989 w 1159037"/>
                    <a:gd name="connsiteY26" fmla="*/ 680619 h 1157513"/>
                    <a:gd name="connsiteX27" fmla="*/ 581265 w 1159037"/>
                    <a:gd name="connsiteY27" fmla="*/ 696319 h 1157513"/>
                    <a:gd name="connsiteX28" fmla="*/ 509076 w 1159037"/>
                    <a:gd name="connsiteY28" fmla="*/ 672055 h 1157513"/>
                    <a:gd name="connsiteX29" fmla="*/ 371130 w 1159037"/>
                    <a:gd name="connsiteY29" fmla="*/ 809789 h 1157513"/>
                    <a:gd name="connsiteX30" fmla="*/ 360409 w 1159037"/>
                    <a:gd name="connsiteY30" fmla="*/ 1095962 h 1157513"/>
                    <a:gd name="connsiteX31" fmla="*/ 61647 w 1159037"/>
                    <a:gd name="connsiteY31" fmla="*/ 1095962 h 1157513"/>
                    <a:gd name="connsiteX32" fmla="*/ 61647 w 1159037"/>
                    <a:gd name="connsiteY32" fmla="*/ 797657 h 1157513"/>
                    <a:gd name="connsiteX33" fmla="*/ 348973 w 1159037"/>
                    <a:gd name="connsiteY33" fmla="*/ 787666 h 1157513"/>
                    <a:gd name="connsiteX34" fmla="*/ 497640 w 1159037"/>
                    <a:gd name="connsiteY34" fmla="*/ 639227 h 1157513"/>
                    <a:gd name="connsiteX35" fmla="*/ 508450 w 1159037"/>
                    <a:gd name="connsiteY35" fmla="*/ 634945 h 1157513"/>
                    <a:gd name="connsiteX36" fmla="*/ 581112 w 1159037"/>
                    <a:gd name="connsiteY36" fmla="*/ 530331 h 1157513"/>
                    <a:gd name="connsiteX37" fmla="*/ 628737 w 1159037"/>
                    <a:gd name="connsiteY37" fmla="*/ 577163 h 1157513"/>
                    <a:gd name="connsiteX38" fmla="*/ 581112 w 1159037"/>
                    <a:gd name="connsiteY38" fmla="*/ 623995 h 1157513"/>
                    <a:gd name="connsiteX39" fmla="*/ 533487 w 1159037"/>
                    <a:gd name="connsiteY39" fmla="*/ 577163 h 1157513"/>
                    <a:gd name="connsiteX40" fmla="*/ 581112 w 1159037"/>
                    <a:gd name="connsiteY40" fmla="*/ 530331 h 1157513"/>
                    <a:gd name="connsiteX41" fmla="*/ 947825 w 1159037"/>
                    <a:gd name="connsiteY41" fmla="*/ 189018 h 1157513"/>
                    <a:gd name="connsiteX42" fmla="*/ 927187 w 1159037"/>
                    <a:gd name="connsiteY42" fmla="*/ 209656 h 1157513"/>
                    <a:gd name="connsiteX43" fmla="*/ 947825 w 1159037"/>
                    <a:gd name="connsiteY43" fmla="*/ 230294 h 1157513"/>
                    <a:gd name="connsiteX44" fmla="*/ 968463 w 1159037"/>
                    <a:gd name="connsiteY44" fmla="*/ 209656 h 1157513"/>
                    <a:gd name="connsiteX45" fmla="*/ 947825 w 1159037"/>
                    <a:gd name="connsiteY45" fmla="*/ 189018 h 1157513"/>
                    <a:gd name="connsiteX46" fmla="*/ 992489 w 1159037"/>
                    <a:gd name="connsiteY46" fmla="*/ 157102 h 1157513"/>
                    <a:gd name="connsiteX47" fmla="*/ 981848 w 1159037"/>
                    <a:gd name="connsiteY47" fmla="*/ 161363 h 1157513"/>
                    <a:gd name="connsiteX48" fmla="*/ 981144 w 1159037"/>
                    <a:gd name="connsiteY48" fmla="*/ 183379 h 1157513"/>
                    <a:gd name="connsiteX49" fmla="*/ 980441 w 1159037"/>
                    <a:gd name="connsiteY49" fmla="*/ 238064 h 1157513"/>
                    <a:gd name="connsiteX50" fmla="*/ 982551 w 1159037"/>
                    <a:gd name="connsiteY50" fmla="*/ 260080 h 1157513"/>
                    <a:gd name="connsiteX51" fmla="*/ 992401 w 1159037"/>
                    <a:gd name="connsiteY51" fmla="*/ 263631 h 1157513"/>
                    <a:gd name="connsiteX52" fmla="*/ 1004362 w 1159037"/>
                    <a:gd name="connsiteY52" fmla="*/ 257239 h 1157513"/>
                    <a:gd name="connsiteX53" fmla="*/ 1003658 w 1159037"/>
                    <a:gd name="connsiteY53" fmla="*/ 161363 h 1157513"/>
                    <a:gd name="connsiteX54" fmla="*/ 992489 w 1159037"/>
                    <a:gd name="connsiteY54" fmla="*/ 157102 h 1157513"/>
                    <a:gd name="connsiteX55" fmla="*/ 903337 w 1159037"/>
                    <a:gd name="connsiteY55" fmla="*/ 157102 h 1157513"/>
                    <a:gd name="connsiteX56" fmla="*/ 892696 w 1159037"/>
                    <a:gd name="connsiteY56" fmla="*/ 161363 h 1157513"/>
                    <a:gd name="connsiteX57" fmla="*/ 891289 w 1159037"/>
                    <a:gd name="connsiteY57" fmla="*/ 257239 h 1157513"/>
                    <a:gd name="connsiteX58" fmla="*/ 903249 w 1159037"/>
                    <a:gd name="connsiteY58" fmla="*/ 263631 h 1157513"/>
                    <a:gd name="connsiteX59" fmla="*/ 913099 w 1159037"/>
                    <a:gd name="connsiteY59" fmla="*/ 260080 h 1157513"/>
                    <a:gd name="connsiteX60" fmla="*/ 915913 w 1159037"/>
                    <a:gd name="connsiteY60" fmla="*/ 238064 h 1157513"/>
                    <a:gd name="connsiteX61" fmla="*/ 914506 w 1159037"/>
                    <a:gd name="connsiteY61" fmla="*/ 183379 h 1157513"/>
                    <a:gd name="connsiteX62" fmla="*/ 914506 w 1159037"/>
                    <a:gd name="connsiteY62" fmla="*/ 161363 h 1157513"/>
                    <a:gd name="connsiteX63" fmla="*/ 903337 w 1159037"/>
                    <a:gd name="connsiteY63" fmla="*/ 157102 h 1157513"/>
                    <a:gd name="connsiteX64" fmla="*/ 1028876 w 1159037"/>
                    <a:gd name="connsiteY64" fmla="*/ 125443 h 1157513"/>
                    <a:gd name="connsiteX65" fmla="*/ 1017675 w 1159037"/>
                    <a:gd name="connsiteY65" fmla="*/ 129622 h 1157513"/>
                    <a:gd name="connsiteX66" fmla="*/ 1017675 w 1159037"/>
                    <a:gd name="connsiteY66" fmla="*/ 152388 h 1157513"/>
                    <a:gd name="connsiteX67" fmla="*/ 1016264 w 1159037"/>
                    <a:gd name="connsiteY67" fmla="*/ 270482 h 1157513"/>
                    <a:gd name="connsiteX68" fmla="*/ 1019086 w 1159037"/>
                    <a:gd name="connsiteY68" fmla="*/ 292535 h 1157513"/>
                    <a:gd name="connsiteX69" fmla="*/ 1028964 w 1159037"/>
                    <a:gd name="connsiteY69" fmla="*/ 295381 h 1157513"/>
                    <a:gd name="connsiteX70" fmla="*/ 1040959 w 1159037"/>
                    <a:gd name="connsiteY70" fmla="*/ 289690 h 1157513"/>
                    <a:gd name="connsiteX71" fmla="*/ 1039547 w 1159037"/>
                    <a:gd name="connsiteY71" fmla="*/ 130334 h 1157513"/>
                    <a:gd name="connsiteX72" fmla="*/ 1028876 w 1159037"/>
                    <a:gd name="connsiteY72" fmla="*/ 125443 h 1157513"/>
                    <a:gd name="connsiteX73" fmla="*/ 867306 w 1159037"/>
                    <a:gd name="connsiteY73" fmla="*/ 125443 h 1157513"/>
                    <a:gd name="connsiteX74" fmla="*/ 856429 w 1159037"/>
                    <a:gd name="connsiteY74" fmla="*/ 130334 h 1157513"/>
                    <a:gd name="connsiteX75" fmla="*/ 854991 w 1159037"/>
                    <a:gd name="connsiteY75" fmla="*/ 289690 h 1157513"/>
                    <a:gd name="connsiteX76" fmla="*/ 867935 w 1159037"/>
                    <a:gd name="connsiteY76" fmla="*/ 295381 h 1157513"/>
                    <a:gd name="connsiteX77" fmla="*/ 877284 w 1159037"/>
                    <a:gd name="connsiteY77" fmla="*/ 292535 h 1157513"/>
                    <a:gd name="connsiteX78" fmla="*/ 880160 w 1159037"/>
                    <a:gd name="connsiteY78" fmla="*/ 270482 h 1157513"/>
                    <a:gd name="connsiteX79" fmla="*/ 879441 w 1159037"/>
                    <a:gd name="connsiteY79" fmla="*/ 152388 h 1157513"/>
                    <a:gd name="connsiteX80" fmla="*/ 878722 w 1159037"/>
                    <a:gd name="connsiteY80" fmla="*/ 129622 h 1157513"/>
                    <a:gd name="connsiteX81" fmla="*/ 867306 w 1159037"/>
                    <a:gd name="connsiteY81" fmla="*/ 125443 h 1157513"/>
                    <a:gd name="connsiteX82" fmla="*/ 1064232 w 1159037"/>
                    <a:gd name="connsiteY82" fmla="*/ 92202 h 1157513"/>
                    <a:gd name="connsiteX83" fmla="*/ 1052756 w 1159037"/>
                    <a:gd name="connsiteY83" fmla="*/ 97029 h 1157513"/>
                    <a:gd name="connsiteX84" fmla="*/ 1052756 w 1159037"/>
                    <a:gd name="connsiteY84" fmla="*/ 119197 h 1157513"/>
                    <a:gd name="connsiteX85" fmla="*/ 1082394 w 1159037"/>
                    <a:gd name="connsiteY85" fmla="*/ 172113 h 1157513"/>
                    <a:gd name="connsiteX86" fmla="*/ 1051310 w 1159037"/>
                    <a:gd name="connsiteY86" fmla="*/ 303690 h 1157513"/>
                    <a:gd name="connsiteX87" fmla="*/ 1054202 w 1159037"/>
                    <a:gd name="connsiteY87" fmla="*/ 325858 h 1157513"/>
                    <a:gd name="connsiteX88" fmla="*/ 1064322 w 1159037"/>
                    <a:gd name="connsiteY88" fmla="*/ 328718 h 1157513"/>
                    <a:gd name="connsiteX89" fmla="*/ 1076611 w 1159037"/>
                    <a:gd name="connsiteY89" fmla="*/ 322997 h 1157513"/>
                    <a:gd name="connsiteX90" fmla="*/ 1113478 w 1159037"/>
                    <a:gd name="connsiteY90" fmla="*/ 162817 h 1157513"/>
                    <a:gd name="connsiteX91" fmla="*/ 1075166 w 1159037"/>
                    <a:gd name="connsiteY91" fmla="*/ 97029 h 1157513"/>
                    <a:gd name="connsiteX92" fmla="*/ 1064232 w 1159037"/>
                    <a:gd name="connsiteY92" fmla="*/ 92202 h 1157513"/>
                    <a:gd name="connsiteX93" fmla="*/ 832198 w 1159037"/>
                    <a:gd name="connsiteY93" fmla="*/ 92202 h 1157513"/>
                    <a:gd name="connsiteX94" fmla="*/ 820879 w 1159037"/>
                    <a:gd name="connsiteY94" fmla="*/ 97029 h 1157513"/>
                    <a:gd name="connsiteX95" fmla="*/ 783801 w 1159037"/>
                    <a:gd name="connsiteY95" fmla="*/ 162817 h 1157513"/>
                    <a:gd name="connsiteX96" fmla="*/ 817314 w 1159037"/>
                    <a:gd name="connsiteY96" fmla="*/ 320137 h 1157513"/>
                    <a:gd name="connsiteX97" fmla="*/ 819453 w 1159037"/>
                    <a:gd name="connsiteY97" fmla="*/ 322997 h 1157513"/>
                    <a:gd name="connsiteX98" fmla="*/ 832287 w 1159037"/>
                    <a:gd name="connsiteY98" fmla="*/ 328718 h 1157513"/>
                    <a:gd name="connsiteX99" fmla="*/ 841557 w 1159037"/>
                    <a:gd name="connsiteY99" fmla="*/ 325858 h 1157513"/>
                    <a:gd name="connsiteX100" fmla="*/ 847261 w 1159037"/>
                    <a:gd name="connsiteY100" fmla="*/ 308696 h 1157513"/>
                    <a:gd name="connsiteX101" fmla="*/ 844409 w 1159037"/>
                    <a:gd name="connsiteY101" fmla="*/ 303690 h 1157513"/>
                    <a:gd name="connsiteX102" fmla="*/ 842983 w 1159037"/>
                    <a:gd name="connsiteY102" fmla="*/ 119197 h 1157513"/>
                    <a:gd name="connsiteX103" fmla="*/ 842983 w 1159037"/>
                    <a:gd name="connsiteY103" fmla="*/ 97029 h 1157513"/>
                    <a:gd name="connsiteX104" fmla="*/ 832198 w 1159037"/>
                    <a:gd name="connsiteY104" fmla="*/ 92202 h 1157513"/>
                    <a:gd name="connsiteX105" fmla="*/ 948141 w 1159037"/>
                    <a:gd name="connsiteY105" fmla="*/ 0 h 1157513"/>
                    <a:gd name="connsiteX106" fmla="*/ 1097351 w 1159037"/>
                    <a:gd name="connsiteY106" fmla="*/ 61597 h 1157513"/>
                    <a:gd name="connsiteX107" fmla="*/ 1097351 w 1159037"/>
                    <a:gd name="connsiteY107" fmla="*/ 360119 h 1157513"/>
                    <a:gd name="connsiteX108" fmla="*/ 810553 w 1159037"/>
                    <a:gd name="connsiteY108" fmla="*/ 370831 h 1157513"/>
                    <a:gd name="connsiteX109" fmla="*/ 664651 w 1159037"/>
                    <a:gd name="connsiteY109" fmla="*/ 516521 h 1157513"/>
                    <a:gd name="connsiteX110" fmla="*/ 653923 w 1159037"/>
                    <a:gd name="connsiteY110" fmla="*/ 520806 h 1157513"/>
                    <a:gd name="connsiteX111" fmla="*/ 642480 w 1159037"/>
                    <a:gd name="connsiteY111" fmla="*/ 516521 h 1157513"/>
                    <a:gd name="connsiteX112" fmla="*/ 580972 w 1159037"/>
                    <a:gd name="connsiteY112" fmla="*/ 490811 h 1157513"/>
                    <a:gd name="connsiteX113" fmla="*/ 565237 w 1159037"/>
                    <a:gd name="connsiteY113" fmla="*/ 475100 h 1157513"/>
                    <a:gd name="connsiteX114" fmla="*/ 580972 w 1159037"/>
                    <a:gd name="connsiteY114" fmla="*/ 459388 h 1157513"/>
                    <a:gd name="connsiteX115" fmla="*/ 653208 w 1159037"/>
                    <a:gd name="connsiteY115" fmla="*/ 483669 h 1157513"/>
                    <a:gd name="connsiteX116" fmla="*/ 788382 w 1159037"/>
                    <a:gd name="connsiteY116" fmla="*/ 348692 h 1157513"/>
                    <a:gd name="connsiteX117" fmla="*/ 798395 w 1159037"/>
                    <a:gd name="connsiteY117" fmla="*/ 61597 h 1157513"/>
                    <a:gd name="connsiteX118" fmla="*/ 948141 w 1159037"/>
                    <a:gd name="connsiteY118" fmla="*/ 0 h 1157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1159037" h="1157513">
                      <a:moveTo>
                        <a:pt x="210432" y="1043093"/>
                      </a:moveTo>
                      <a:cubicBezTo>
                        <a:pt x="218762" y="1043093"/>
                        <a:pt x="225514" y="1049845"/>
                        <a:pt x="225514" y="1058175"/>
                      </a:cubicBezTo>
                      <a:cubicBezTo>
                        <a:pt x="225514" y="1066505"/>
                        <a:pt x="218762" y="1073257"/>
                        <a:pt x="210432" y="1073257"/>
                      </a:cubicBezTo>
                      <a:cubicBezTo>
                        <a:pt x="202102" y="1073257"/>
                        <a:pt x="195350" y="1066505"/>
                        <a:pt x="195350" y="1058175"/>
                      </a:cubicBezTo>
                      <a:cubicBezTo>
                        <a:pt x="195350" y="1049845"/>
                        <a:pt x="202102" y="1043093"/>
                        <a:pt x="210432" y="1043093"/>
                      </a:cubicBezTo>
                      <a:close/>
                      <a:moveTo>
                        <a:pt x="153607" y="817668"/>
                      </a:moveTo>
                      <a:cubicBezTo>
                        <a:pt x="153607" y="817668"/>
                        <a:pt x="153607" y="817668"/>
                        <a:pt x="268843" y="817668"/>
                      </a:cubicBezTo>
                      <a:cubicBezTo>
                        <a:pt x="270990" y="817668"/>
                        <a:pt x="273137" y="819807"/>
                        <a:pt x="273137" y="822659"/>
                      </a:cubicBezTo>
                      <a:cubicBezTo>
                        <a:pt x="273137" y="822659"/>
                        <a:pt x="273137" y="822659"/>
                        <a:pt x="273137" y="1016590"/>
                      </a:cubicBezTo>
                      <a:cubicBezTo>
                        <a:pt x="273137" y="1018729"/>
                        <a:pt x="270990" y="1020868"/>
                        <a:pt x="268843" y="1020868"/>
                      </a:cubicBezTo>
                      <a:cubicBezTo>
                        <a:pt x="268843" y="1020868"/>
                        <a:pt x="268843" y="1020868"/>
                        <a:pt x="153607" y="1020868"/>
                      </a:cubicBezTo>
                      <a:cubicBezTo>
                        <a:pt x="151460" y="1020868"/>
                        <a:pt x="149312" y="1018729"/>
                        <a:pt x="149312" y="1016590"/>
                      </a:cubicBezTo>
                      <a:cubicBezTo>
                        <a:pt x="149312" y="1016590"/>
                        <a:pt x="149312" y="1016590"/>
                        <a:pt x="149312" y="822659"/>
                      </a:cubicBezTo>
                      <a:cubicBezTo>
                        <a:pt x="149312" y="819807"/>
                        <a:pt x="151460" y="817668"/>
                        <a:pt x="153607" y="817668"/>
                      </a:cubicBezTo>
                      <a:close/>
                      <a:moveTo>
                        <a:pt x="139397" y="797031"/>
                      </a:moveTo>
                      <a:cubicBezTo>
                        <a:pt x="133679" y="797031"/>
                        <a:pt x="128676" y="802014"/>
                        <a:pt x="128676" y="807710"/>
                      </a:cubicBezTo>
                      <a:cubicBezTo>
                        <a:pt x="128676" y="807710"/>
                        <a:pt x="128676" y="807710"/>
                        <a:pt x="128676" y="1083216"/>
                      </a:cubicBezTo>
                      <a:cubicBezTo>
                        <a:pt x="128676" y="1089623"/>
                        <a:pt x="133679" y="1093894"/>
                        <a:pt x="139397" y="1093894"/>
                      </a:cubicBezTo>
                      <a:cubicBezTo>
                        <a:pt x="139397" y="1093894"/>
                        <a:pt x="139397" y="1093894"/>
                        <a:pt x="283055" y="1093894"/>
                      </a:cubicBezTo>
                      <a:cubicBezTo>
                        <a:pt x="288773" y="1093894"/>
                        <a:pt x="293776" y="1089623"/>
                        <a:pt x="293776" y="1083216"/>
                      </a:cubicBezTo>
                      <a:lnTo>
                        <a:pt x="293776" y="807710"/>
                      </a:lnTo>
                      <a:cubicBezTo>
                        <a:pt x="293776" y="802014"/>
                        <a:pt x="288773" y="797031"/>
                        <a:pt x="283055" y="797031"/>
                      </a:cubicBezTo>
                      <a:cubicBezTo>
                        <a:pt x="283055" y="797031"/>
                        <a:pt x="283055" y="797031"/>
                        <a:pt x="139397" y="797031"/>
                      </a:cubicBezTo>
                      <a:close/>
                      <a:moveTo>
                        <a:pt x="508450" y="634945"/>
                      </a:moveTo>
                      <a:cubicBezTo>
                        <a:pt x="512471" y="634945"/>
                        <a:pt x="516581" y="636373"/>
                        <a:pt x="519797" y="639227"/>
                      </a:cubicBezTo>
                      <a:cubicBezTo>
                        <a:pt x="536236" y="655641"/>
                        <a:pt x="557678" y="664919"/>
                        <a:pt x="581265" y="664919"/>
                      </a:cubicBezTo>
                      <a:cubicBezTo>
                        <a:pt x="589842" y="664919"/>
                        <a:pt x="596989" y="672055"/>
                        <a:pt x="596989" y="680619"/>
                      </a:cubicBezTo>
                      <a:cubicBezTo>
                        <a:pt x="596989" y="689183"/>
                        <a:pt x="589842" y="696319"/>
                        <a:pt x="581265" y="696319"/>
                      </a:cubicBezTo>
                      <a:cubicBezTo>
                        <a:pt x="554819" y="696319"/>
                        <a:pt x="529803" y="687755"/>
                        <a:pt x="509076" y="672055"/>
                      </a:cubicBezTo>
                      <a:cubicBezTo>
                        <a:pt x="509076" y="672055"/>
                        <a:pt x="509076" y="672055"/>
                        <a:pt x="371130" y="809789"/>
                      </a:cubicBezTo>
                      <a:cubicBezTo>
                        <a:pt x="442605" y="892572"/>
                        <a:pt x="439031" y="1017460"/>
                        <a:pt x="360409" y="1095962"/>
                      </a:cubicBezTo>
                      <a:cubicBezTo>
                        <a:pt x="278214" y="1178031"/>
                        <a:pt x="144557" y="1178031"/>
                        <a:pt x="61647" y="1095962"/>
                      </a:cubicBezTo>
                      <a:cubicBezTo>
                        <a:pt x="-20549" y="1013892"/>
                        <a:pt x="-20549" y="880440"/>
                        <a:pt x="61647" y="797657"/>
                      </a:cubicBezTo>
                      <a:cubicBezTo>
                        <a:pt x="140268" y="719156"/>
                        <a:pt x="266063" y="715588"/>
                        <a:pt x="348973" y="787666"/>
                      </a:cubicBezTo>
                      <a:cubicBezTo>
                        <a:pt x="348973" y="787666"/>
                        <a:pt x="348973" y="787666"/>
                        <a:pt x="497640" y="639227"/>
                      </a:cubicBezTo>
                      <a:cubicBezTo>
                        <a:pt x="500499" y="636373"/>
                        <a:pt x="504430" y="634945"/>
                        <a:pt x="508450" y="634945"/>
                      </a:cubicBezTo>
                      <a:close/>
                      <a:moveTo>
                        <a:pt x="581112" y="530331"/>
                      </a:moveTo>
                      <a:cubicBezTo>
                        <a:pt x="607415" y="530331"/>
                        <a:pt x="628737" y="551298"/>
                        <a:pt x="628737" y="577163"/>
                      </a:cubicBezTo>
                      <a:cubicBezTo>
                        <a:pt x="628737" y="603028"/>
                        <a:pt x="607415" y="623995"/>
                        <a:pt x="581112" y="623995"/>
                      </a:cubicBezTo>
                      <a:cubicBezTo>
                        <a:pt x="554809" y="623995"/>
                        <a:pt x="533487" y="603028"/>
                        <a:pt x="533487" y="577163"/>
                      </a:cubicBezTo>
                      <a:cubicBezTo>
                        <a:pt x="533487" y="551298"/>
                        <a:pt x="554809" y="530331"/>
                        <a:pt x="581112" y="530331"/>
                      </a:cubicBezTo>
                      <a:close/>
                      <a:moveTo>
                        <a:pt x="947825" y="189018"/>
                      </a:moveTo>
                      <a:cubicBezTo>
                        <a:pt x="936427" y="189018"/>
                        <a:pt x="927187" y="198258"/>
                        <a:pt x="927187" y="209656"/>
                      </a:cubicBezTo>
                      <a:cubicBezTo>
                        <a:pt x="927187" y="221054"/>
                        <a:pt x="936427" y="230294"/>
                        <a:pt x="947825" y="230294"/>
                      </a:cubicBezTo>
                      <a:cubicBezTo>
                        <a:pt x="959223" y="230294"/>
                        <a:pt x="968463" y="221054"/>
                        <a:pt x="968463" y="209656"/>
                      </a:cubicBezTo>
                      <a:cubicBezTo>
                        <a:pt x="968463" y="198258"/>
                        <a:pt x="959223" y="189018"/>
                        <a:pt x="947825" y="189018"/>
                      </a:cubicBezTo>
                      <a:close/>
                      <a:moveTo>
                        <a:pt x="992489" y="157102"/>
                      </a:moveTo>
                      <a:cubicBezTo>
                        <a:pt x="988532" y="157102"/>
                        <a:pt x="984662" y="158522"/>
                        <a:pt x="981848" y="161363"/>
                      </a:cubicBezTo>
                      <a:cubicBezTo>
                        <a:pt x="975516" y="167754"/>
                        <a:pt x="975516" y="177697"/>
                        <a:pt x="981144" y="183379"/>
                      </a:cubicBezTo>
                      <a:cubicBezTo>
                        <a:pt x="982551" y="184799"/>
                        <a:pt x="1004362" y="207526"/>
                        <a:pt x="980441" y="238064"/>
                      </a:cubicBezTo>
                      <a:cubicBezTo>
                        <a:pt x="974812" y="245166"/>
                        <a:pt x="976219" y="255109"/>
                        <a:pt x="982551" y="260080"/>
                      </a:cubicBezTo>
                      <a:cubicBezTo>
                        <a:pt x="985366" y="262211"/>
                        <a:pt x="988883" y="263631"/>
                        <a:pt x="992401" y="263631"/>
                      </a:cubicBezTo>
                      <a:cubicBezTo>
                        <a:pt x="997326" y="263631"/>
                        <a:pt x="1001547" y="261501"/>
                        <a:pt x="1004362" y="257239"/>
                      </a:cubicBezTo>
                      <a:cubicBezTo>
                        <a:pt x="1036725" y="216048"/>
                        <a:pt x="1017729" y="176277"/>
                        <a:pt x="1003658" y="161363"/>
                      </a:cubicBezTo>
                      <a:cubicBezTo>
                        <a:pt x="1000492" y="158522"/>
                        <a:pt x="996447" y="157102"/>
                        <a:pt x="992489" y="157102"/>
                      </a:cubicBezTo>
                      <a:close/>
                      <a:moveTo>
                        <a:pt x="903337" y="157102"/>
                      </a:moveTo>
                      <a:cubicBezTo>
                        <a:pt x="899380" y="157102"/>
                        <a:pt x="895510" y="158522"/>
                        <a:pt x="892696" y="161363"/>
                      </a:cubicBezTo>
                      <a:cubicBezTo>
                        <a:pt x="877921" y="176277"/>
                        <a:pt x="858925" y="216048"/>
                        <a:pt x="891289" y="257239"/>
                      </a:cubicBezTo>
                      <a:cubicBezTo>
                        <a:pt x="894103" y="261501"/>
                        <a:pt x="899028" y="263631"/>
                        <a:pt x="903249" y="263631"/>
                      </a:cubicBezTo>
                      <a:cubicBezTo>
                        <a:pt x="906767" y="263631"/>
                        <a:pt x="910285" y="262211"/>
                        <a:pt x="913099" y="260080"/>
                      </a:cubicBezTo>
                      <a:cubicBezTo>
                        <a:pt x="920135" y="255109"/>
                        <a:pt x="920838" y="245166"/>
                        <a:pt x="915913" y="238064"/>
                      </a:cubicBezTo>
                      <a:cubicBezTo>
                        <a:pt x="893400" y="208946"/>
                        <a:pt x="910988" y="187640"/>
                        <a:pt x="914506" y="183379"/>
                      </a:cubicBezTo>
                      <a:cubicBezTo>
                        <a:pt x="920838" y="176987"/>
                        <a:pt x="920135" y="167754"/>
                        <a:pt x="914506" y="161363"/>
                      </a:cubicBezTo>
                      <a:cubicBezTo>
                        <a:pt x="911340" y="158522"/>
                        <a:pt x="907295" y="157102"/>
                        <a:pt x="903337" y="157102"/>
                      </a:cubicBezTo>
                      <a:close/>
                      <a:moveTo>
                        <a:pt x="1028876" y="125443"/>
                      </a:moveTo>
                      <a:cubicBezTo>
                        <a:pt x="1024907" y="125354"/>
                        <a:pt x="1020850" y="126777"/>
                        <a:pt x="1017675" y="129622"/>
                      </a:cubicBezTo>
                      <a:cubicBezTo>
                        <a:pt x="1012031" y="136025"/>
                        <a:pt x="1011325" y="145985"/>
                        <a:pt x="1017675" y="152388"/>
                      </a:cubicBezTo>
                      <a:cubicBezTo>
                        <a:pt x="1019086" y="154522"/>
                        <a:pt x="1065653" y="205032"/>
                        <a:pt x="1016264" y="270482"/>
                      </a:cubicBezTo>
                      <a:cubicBezTo>
                        <a:pt x="1011325" y="276884"/>
                        <a:pt x="1012736" y="286844"/>
                        <a:pt x="1019086" y="292535"/>
                      </a:cubicBezTo>
                      <a:cubicBezTo>
                        <a:pt x="1021909" y="294670"/>
                        <a:pt x="1025436" y="295381"/>
                        <a:pt x="1028964" y="295381"/>
                      </a:cubicBezTo>
                      <a:cubicBezTo>
                        <a:pt x="1033197" y="295381"/>
                        <a:pt x="1038136" y="293247"/>
                        <a:pt x="1040959" y="289690"/>
                      </a:cubicBezTo>
                      <a:cubicBezTo>
                        <a:pt x="1093875" y="219972"/>
                        <a:pt x="1063536" y="155233"/>
                        <a:pt x="1039547" y="130334"/>
                      </a:cubicBezTo>
                      <a:cubicBezTo>
                        <a:pt x="1036725" y="127133"/>
                        <a:pt x="1032845" y="125532"/>
                        <a:pt x="1028876" y="125443"/>
                      </a:cubicBezTo>
                      <a:close/>
                      <a:moveTo>
                        <a:pt x="867306" y="125443"/>
                      </a:moveTo>
                      <a:cubicBezTo>
                        <a:pt x="863261" y="125532"/>
                        <a:pt x="859306" y="127133"/>
                        <a:pt x="856429" y="130334"/>
                      </a:cubicBezTo>
                      <a:cubicBezTo>
                        <a:pt x="832698" y="155233"/>
                        <a:pt x="801775" y="219972"/>
                        <a:pt x="854991" y="289690"/>
                      </a:cubicBezTo>
                      <a:cubicBezTo>
                        <a:pt x="858586" y="293247"/>
                        <a:pt x="862901" y="295381"/>
                        <a:pt x="867935" y="295381"/>
                      </a:cubicBezTo>
                      <a:cubicBezTo>
                        <a:pt x="871531" y="295381"/>
                        <a:pt x="874407" y="294670"/>
                        <a:pt x="877284" y="292535"/>
                      </a:cubicBezTo>
                      <a:cubicBezTo>
                        <a:pt x="884475" y="286844"/>
                        <a:pt x="885913" y="276884"/>
                        <a:pt x="880160" y="270482"/>
                      </a:cubicBezTo>
                      <a:cubicBezTo>
                        <a:pt x="829821" y="205032"/>
                        <a:pt x="877284" y="154522"/>
                        <a:pt x="879441" y="152388"/>
                      </a:cubicBezTo>
                      <a:cubicBezTo>
                        <a:pt x="885194" y="145985"/>
                        <a:pt x="885194" y="136025"/>
                        <a:pt x="878722" y="129622"/>
                      </a:cubicBezTo>
                      <a:cubicBezTo>
                        <a:pt x="875486" y="126777"/>
                        <a:pt x="871351" y="125354"/>
                        <a:pt x="867306" y="125443"/>
                      </a:cubicBezTo>
                      <a:close/>
                      <a:moveTo>
                        <a:pt x="1064232" y="92202"/>
                      </a:moveTo>
                      <a:cubicBezTo>
                        <a:pt x="1060166" y="92202"/>
                        <a:pt x="1056009" y="93811"/>
                        <a:pt x="1052756" y="97029"/>
                      </a:cubicBezTo>
                      <a:cubicBezTo>
                        <a:pt x="1046973" y="102750"/>
                        <a:pt x="1046250" y="112761"/>
                        <a:pt x="1052756" y="119197"/>
                      </a:cubicBezTo>
                      <a:cubicBezTo>
                        <a:pt x="1052756" y="119197"/>
                        <a:pt x="1072997" y="139219"/>
                        <a:pt x="1082394" y="172113"/>
                      </a:cubicBezTo>
                      <a:cubicBezTo>
                        <a:pt x="1096129" y="216449"/>
                        <a:pt x="1085286" y="260069"/>
                        <a:pt x="1051310" y="303690"/>
                      </a:cubicBezTo>
                      <a:cubicBezTo>
                        <a:pt x="1046250" y="310126"/>
                        <a:pt x="1046973" y="320137"/>
                        <a:pt x="1054202" y="325858"/>
                      </a:cubicBezTo>
                      <a:cubicBezTo>
                        <a:pt x="1057094" y="328003"/>
                        <a:pt x="1060708" y="328718"/>
                        <a:pt x="1064322" y="328718"/>
                      </a:cubicBezTo>
                      <a:cubicBezTo>
                        <a:pt x="1068660" y="328718"/>
                        <a:pt x="1073720" y="326573"/>
                        <a:pt x="1076611" y="322997"/>
                      </a:cubicBezTo>
                      <a:cubicBezTo>
                        <a:pt x="1127213" y="258639"/>
                        <a:pt x="1124322" y="200717"/>
                        <a:pt x="1113478" y="162817"/>
                      </a:cubicBezTo>
                      <a:cubicBezTo>
                        <a:pt x="1101189" y="122772"/>
                        <a:pt x="1076611" y="97744"/>
                        <a:pt x="1075166" y="97029"/>
                      </a:cubicBezTo>
                      <a:cubicBezTo>
                        <a:pt x="1072274" y="93811"/>
                        <a:pt x="1068298" y="92202"/>
                        <a:pt x="1064232" y="92202"/>
                      </a:cubicBezTo>
                      <a:close/>
                      <a:moveTo>
                        <a:pt x="832198" y="92202"/>
                      </a:moveTo>
                      <a:cubicBezTo>
                        <a:pt x="828188" y="92202"/>
                        <a:pt x="824088" y="93811"/>
                        <a:pt x="820879" y="97029"/>
                      </a:cubicBezTo>
                      <a:cubicBezTo>
                        <a:pt x="820166" y="97744"/>
                        <a:pt x="795923" y="122772"/>
                        <a:pt x="783801" y="162817"/>
                      </a:cubicBezTo>
                      <a:cubicBezTo>
                        <a:pt x="772393" y="200002"/>
                        <a:pt x="769540" y="256494"/>
                        <a:pt x="817314" y="320137"/>
                      </a:cubicBezTo>
                      <a:cubicBezTo>
                        <a:pt x="818027" y="320852"/>
                        <a:pt x="818740" y="321567"/>
                        <a:pt x="819453" y="322997"/>
                      </a:cubicBezTo>
                      <a:cubicBezTo>
                        <a:pt x="823018" y="326573"/>
                        <a:pt x="827296" y="328718"/>
                        <a:pt x="832287" y="328718"/>
                      </a:cubicBezTo>
                      <a:cubicBezTo>
                        <a:pt x="835853" y="328718"/>
                        <a:pt x="838705" y="328003"/>
                        <a:pt x="841557" y="325858"/>
                      </a:cubicBezTo>
                      <a:cubicBezTo>
                        <a:pt x="847261" y="321567"/>
                        <a:pt x="848687" y="315131"/>
                        <a:pt x="847261" y="308696"/>
                      </a:cubicBezTo>
                      <a:cubicBezTo>
                        <a:pt x="846548" y="307265"/>
                        <a:pt x="845835" y="305120"/>
                        <a:pt x="844409" y="303690"/>
                      </a:cubicBezTo>
                      <a:cubicBezTo>
                        <a:pt x="765262" y="202147"/>
                        <a:pt x="840131" y="122057"/>
                        <a:pt x="842983" y="119197"/>
                      </a:cubicBezTo>
                      <a:cubicBezTo>
                        <a:pt x="849400" y="112761"/>
                        <a:pt x="849400" y="102750"/>
                        <a:pt x="842983" y="97029"/>
                      </a:cubicBezTo>
                      <a:cubicBezTo>
                        <a:pt x="840131" y="93811"/>
                        <a:pt x="836209" y="92202"/>
                        <a:pt x="832198" y="92202"/>
                      </a:cubicBezTo>
                      <a:close/>
                      <a:moveTo>
                        <a:pt x="948141" y="0"/>
                      </a:moveTo>
                      <a:cubicBezTo>
                        <a:pt x="1002229" y="0"/>
                        <a:pt x="1056227" y="20533"/>
                        <a:pt x="1097351" y="61597"/>
                      </a:cubicBezTo>
                      <a:cubicBezTo>
                        <a:pt x="1179600" y="143726"/>
                        <a:pt x="1179600" y="277275"/>
                        <a:pt x="1097351" y="360119"/>
                      </a:cubicBezTo>
                      <a:cubicBezTo>
                        <a:pt x="1018679" y="438677"/>
                        <a:pt x="893517" y="442248"/>
                        <a:pt x="810553" y="370831"/>
                      </a:cubicBezTo>
                      <a:cubicBezTo>
                        <a:pt x="810553" y="370831"/>
                        <a:pt x="810553" y="370831"/>
                        <a:pt x="664651" y="516521"/>
                      </a:cubicBezTo>
                      <a:cubicBezTo>
                        <a:pt x="661790" y="519378"/>
                        <a:pt x="657499" y="520806"/>
                        <a:pt x="653923" y="520806"/>
                      </a:cubicBezTo>
                      <a:cubicBezTo>
                        <a:pt x="649632" y="520806"/>
                        <a:pt x="646056" y="519378"/>
                        <a:pt x="642480" y="516521"/>
                      </a:cubicBezTo>
                      <a:cubicBezTo>
                        <a:pt x="626030" y="500095"/>
                        <a:pt x="604574" y="490811"/>
                        <a:pt x="580972" y="490811"/>
                      </a:cubicBezTo>
                      <a:cubicBezTo>
                        <a:pt x="572389" y="490811"/>
                        <a:pt x="565237" y="483669"/>
                        <a:pt x="565237" y="475100"/>
                      </a:cubicBezTo>
                      <a:cubicBezTo>
                        <a:pt x="565237" y="466530"/>
                        <a:pt x="572389" y="459388"/>
                        <a:pt x="580972" y="459388"/>
                      </a:cubicBezTo>
                      <a:cubicBezTo>
                        <a:pt x="607434" y="459388"/>
                        <a:pt x="632467" y="467958"/>
                        <a:pt x="653208" y="483669"/>
                      </a:cubicBezTo>
                      <a:cubicBezTo>
                        <a:pt x="653208" y="483669"/>
                        <a:pt x="653208" y="483669"/>
                        <a:pt x="788382" y="348692"/>
                      </a:cubicBezTo>
                      <a:cubicBezTo>
                        <a:pt x="716146" y="265849"/>
                        <a:pt x="719722" y="140156"/>
                        <a:pt x="798395" y="61597"/>
                      </a:cubicBezTo>
                      <a:cubicBezTo>
                        <a:pt x="839877" y="20533"/>
                        <a:pt x="894054" y="0"/>
                        <a:pt x="948141" y="0"/>
                      </a:cubicBezTo>
                      <a:close/>
                    </a:path>
                  </a:pathLst>
                </a:custGeom>
                <a:solidFill>
                  <a:schemeClr val="tx2"/>
                </a:solidFill>
                <a:ln>
                  <a:noFill/>
                </a:ln>
              </p:spPr>
              <p:txBody>
                <a:bodyPr vert="horz" wrap="square" lIns="91440" tIns="45720" rIns="91440" bIns="45720" numCol="1" anchor="t" anchorCtr="0" compatLnSpc="1">
                  <a:prstTxWarp prst="textNoShape">
                    <a:avLst/>
                  </a:prstTxWarp>
                  <a:noAutofit/>
                </a:bodyPr>
                <a:lstStyle/>
                <a:p>
                  <a:endParaRPr lang="en-US">
                    <a:ea typeface="Microsoft YaHei" panose="020B0503020204020204" pitchFamily="34" charset="-122"/>
                  </a:endParaRPr>
                </a:p>
              </p:txBody>
            </p:sp>
            <p:sp>
              <p:nvSpPr>
                <p:cNvPr id="38" name="Freeform 10">
                  <a:extLst>
                    <a:ext uri="{FF2B5EF4-FFF2-40B4-BE49-F238E27FC236}">
                      <a16:creationId xmlns:a16="http://schemas.microsoft.com/office/drawing/2014/main" id="{8114800C-2351-B10E-6006-3E8A54F9D065}"/>
                    </a:ext>
                  </a:extLst>
                </p:cNvPr>
                <p:cNvSpPr>
                  <a:spLocks/>
                </p:cNvSpPr>
                <p:nvPr/>
              </p:nvSpPr>
              <p:spPr bwMode="auto">
                <a:xfrm>
                  <a:off x="6705514" y="2849420"/>
                  <a:ext cx="1162223" cy="1160746"/>
                </a:xfrm>
                <a:custGeom>
                  <a:avLst/>
                  <a:gdLst>
                    <a:gd name="connsiteX0" fmla="*/ 888325 w 1162223"/>
                    <a:gd name="connsiteY0" fmla="*/ 827229 h 1160746"/>
                    <a:gd name="connsiteX1" fmla="*/ 879747 w 1162223"/>
                    <a:gd name="connsiteY1" fmla="*/ 830791 h 1160746"/>
                    <a:gd name="connsiteX2" fmla="*/ 845435 w 1162223"/>
                    <a:gd name="connsiteY2" fmla="*/ 864980 h 1160746"/>
                    <a:gd name="connsiteX3" fmla="*/ 841146 w 1162223"/>
                    <a:gd name="connsiteY3" fmla="*/ 871391 h 1160746"/>
                    <a:gd name="connsiteX4" fmla="*/ 839001 w 1162223"/>
                    <a:gd name="connsiteY4" fmla="*/ 878513 h 1160746"/>
                    <a:gd name="connsiteX5" fmla="*/ 838286 w 1162223"/>
                    <a:gd name="connsiteY5" fmla="*/ 883499 h 1160746"/>
                    <a:gd name="connsiteX6" fmla="*/ 839716 w 1162223"/>
                    <a:gd name="connsiteY6" fmla="*/ 896320 h 1160746"/>
                    <a:gd name="connsiteX7" fmla="*/ 844720 w 1162223"/>
                    <a:gd name="connsiteY7" fmla="*/ 915552 h 1160746"/>
                    <a:gd name="connsiteX8" fmla="*/ 855442 w 1162223"/>
                    <a:gd name="connsiteY8" fmla="*/ 940482 h 1160746"/>
                    <a:gd name="connsiteX9" fmla="*/ 874028 w 1162223"/>
                    <a:gd name="connsiteY9" fmla="*/ 970398 h 1160746"/>
                    <a:gd name="connsiteX10" fmla="*/ 904051 w 1162223"/>
                    <a:gd name="connsiteY10" fmla="*/ 1004587 h 1160746"/>
                    <a:gd name="connsiteX11" fmla="*/ 946942 w 1162223"/>
                    <a:gd name="connsiteY11" fmla="*/ 1040201 h 1160746"/>
                    <a:gd name="connsiteX12" fmla="*/ 983399 w 1162223"/>
                    <a:gd name="connsiteY12" fmla="*/ 1060145 h 1160746"/>
                    <a:gd name="connsiteX13" fmla="*/ 1009848 w 1162223"/>
                    <a:gd name="connsiteY13" fmla="*/ 1068693 h 1160746"/>
                    <a:gd name="connsiteX14" fmla="*/ 1025574 w 1162223"/>
                    <a:gd name="connsiteY14" fmla="*/ 1070117 h 1160746"/>
                    <a:gd name="connsiteX15" fmla="*/ 1029148 w 1162223"/>
                    <a:gd name="connsiteY15" fmla="*/ 1070117 h 1160746"/>
                    <a:gd name="connsiteX16" fmla="*/ 1030578 w 1162223"/>
                    <a:gd name="connsiteY16" fmla="*/ 1070117 h 1160746"/>
                    <a:gd name="connsiteX17" fmla="*/ 1037726 w 1162223"/>
                    <a:gd name="connsiteY17" fmla="*/ 1067268 h 1160746"/>
                    <a:gd name="connsiteX18" fmla="*/ 1044160 w 1162223"/>
                    <a:gd name="connsiteY18" fmla="*/ 1062994 h 1160746"/>
                    <a:gd name="connsiteX19" fmla="*/ 1078472 w 1162223"/>
                    <a:gd name="connsiteY19" fmla="*/ 1029517 h 1160746"/>
                    <a:gd name="connsiteX20" fmla="*/ 1082046 w 1162223"/>
                    <a:gd name="connsiteY20" fmla="*/ 1018833 h 1160746"/>
                    <a:gd name="connsiteX21" fmla="*/ 1075613 w 1162223"/>
                    <a:gd name="connsiteY21" fmla="*/ 1010285 h 1160746"/>
                    <a:gd name="connsiteX22" fmla="*/ 1025574 w 1162223"/>
                    <a:gd name="connsiteY22" fmla="*/ 981082 h 1160746"/>
                    <a:gd name="connsiteX23" fmla="*/ 1018426 w 1162223"/>
                    <a:gd name="connsiteY23" fmla="*/ 979657 h 1160746"/>
                    <a:gd name="connsiteX24" fmla="*/ 1007703 w 1162223"/>
                    <a:gd name="connsiteY24" fmla="*/ 983931 h 1160746"/>
                    <a:gd name="connsiteX25" fmla="*/ 992692 w 1162223"/>
                    <a:gd name="connsiteY25" fmla="*/ 998889 h 1160746"/>
                    <a:gd name="connsiteX26" fmla="*/ 991262 w 1162223"/>
                    <a:gd name="connsiteY26" fmla="*/ 999601 h 1160746"/>
                    <a:gd name="connsiteX27" fmla="*/ 989832 w 1162223"/>
                    <a:gd name="connsiteY27" fmla="*/ 999601 h 1160746"/>
                    <a:gd name="connsiteX28" fmla="*/ 986258 w 1162223"/>
                    <a:gd name="connsiteY28" fmla="*/ 999601 h 1160746"/>
                    <a:gd name="connsiteX29" fmla="*/ 976965 w 1162223"/>
                    <a:gd name="connsiteY29" fmla="*/ 995328 h 1160746"/>
                    <a:gd name="connsiteX30" fmla="*/ 961953 w 1162223"/>
                    <a:gd name="connsiteY30" fmla="*/ 986068 h 1160746"/>
                    <a:gd name="connsiteX31" fmla="*/ 941223 w 1162223"/>
                    <a:gd name="connsiteY31" fmla="*/ 967549 h 1160746"/>
                    <a:gd name="connsiteX32" fmla="*/ 923352 w 1162223"/>
                    <a:gd name="connsiteY32" fmla="*/ 946892 h 1160746"/>
                    <a:gd name="connsiteX33" fmla="*/ 913344 w 1162223"/>
                    <a:gd name="connsiteY33" fmla="*/ 931935 h 1160746"/>
                    <a:gd name="connsiteX34" fmla="*/ 909055 w 1162223"/>
                    <a:gd name="connsiteY34" fmla="*/ 919826 h 1160746"/>
                    <a:gd name="connsiteX35" fmla="*/ 909055 w 1162223"/>
                    <a:gd name="connsiteY35" fmla="*/ 917689 h 1160746"/>
                    <a:gd name="connsiteX36" fmla="*/ 910485 w 1162223"/>
                    <a:gd name="connsiteY36" fmla="*/ 916264 h 1160746"/>
                    <a:gd name="connsiteX37" fmla="*/ 922637 w 1162223"/>
                    <a:gd name="connsiteY37" fmla="*/ 903443 h 1160746"/>
                    <a:gd name="connsiteX38" fmla="*/ 926926 w 1162223"/>
                    <a:gd name="connsiteY38" fmla="*/ 895608 h 1160746"/>
                    <a:gd name="connsiteX39" fmla="*/ 926211 w 1162223"/>
                    <a:gd name="connsiteY39" fmla="*/ 886348 h 1160746"/>
                    <a:gd name="connsiteX40" fmla="*/ 898333 w 1162223"/>
                    <a:gd name="connsiteY40" fmla="*/ 834352 h 1160746"/>
                    <a:gd name="connsiteX41" fmla="*/ 894044 w 1162223"/>
                    <a:gd name="connsiteY41" fmla="*/ 829366 h 1160746"/>
                    <a:gd name="connsiteX42" fmla="*/ 888325 w 1162223"/>
                    <a:gd name="connsiteY42" fmla="*/ 827229 h 1160746"/>
                    <a:gd name="connsiteX43" fmla="*/ 683850 w 1162223"/>
                    <a:gd name="connsiteY43" fmla="*/ 565292 h 1160746"/>
                    <a:gd name="connsiteX44" fmla="*/ 699576 w 1162223"/>
                    <a:gd name="connsiteY44" fmla="*/ 580976 h 1160746"/>
                    <a:gd name="connsiteX45" fmla="*/ 675273 w 1162223"/>
                    <a:gd name="connsiteY45" fmla="*/ 652979 h 1160746"/>
                    <a:gd name="connsiteX46" fmla="*/ 813228 w 1162223"/>
                    <a:gd name="connsiteY46" fmla="*/ 790570 h 1160746"/>
                    <a:gd name="connsiteX47" fmla="*/ 1100573 w 1162223"/>
                    <a:gd name="connsiteY47" fmla="*/ 801264 h 1160746"/>
                    <a:gd name="connsiteX48" fmla="*/ 1100573 w 1162223"/>
                    <a:gd name="connsiteY48" fmla="*/ 1099258 h 1160746"/>
                    <a:gd name="connsiteX49" fmla="*/ 801791 w 1162223"/>
                    <a:gd name="connsiteY49" fmla="*/ 1099258 h 1160746"/>
                    <a:gd name="connsiteX50" fmla="*/ 791069 w 1162223"/>
                    <a:gd name="connsiteY50" fmla="*/ 812670 h 1160746"/>
                    <a:gd name="connsiteX51" fmla="*/ 642393 w 1162223"/>
                    <a:gd name="connsiteY51" fmla="*/ 664386 h 1160746"/>
                    <a:gd name="connsiteX52" fmla="*/ 642393 w 1162223"/>
                    <a:gd name="connsiteY52" fmla="*/ 642286 h 1160746"/>
                    <a:gd name="connsiteX53" fmla="*/ 668125 w 1162223"/>
                    <a:gd name="connsiteY53" fmla="*/ 580976 h 1160746"/>
                    <a:gd name="connsiteX54" fmla="*/ 683850 w 1162223"/>
                    <a:gd name="connsiteY54" fmla="*/ 565292 h 1160746"/>
                    <a:gd name="connsiteX55" fmla="*/ 95011 w 1162223"/>
                    <a:gd name="connsiteY55" fmla="*/ 135079 h 1160746"/>
                    <a:gd name="connsiteX56" fmla="*/ 326562 w 1162223"/>
                    <a:gd name="connsiteY56" fmla="*/ 135079 h 1160746"/>
                    <a:gd name="connsiteX57" fmla="*/ 328699 w 1162223"/>
                    <a:gd name="connsiteY57" fmla="*/ 137966 h 1160746"/>
                    <a:gd name="connsiteX58" fmla="*/ 328699 w 1162223"/>
                    <a:gd name="connsiteY58" fmla="*/ 251977 h 1160746"/>
                    <a:gd name="connsiteX59" fmla="*/ 326562 w 1162223"/>
                    <a:gd name="connsiteY59" fmla="*/ 254142 h 1160746"/>
                    <a:gd name="connsiteX60" fmla="*/ 225392 w 1162223"/>
                    <a:gd name="connsiteY60" fmla="*/ 254142 h 1160746"/>
                    <a:gd name="connsiteX61" fmla="*/ 195469 w 1162223"/>
                    <a:gd name="connsiteY61" fmla="*/ 254142 h 1160746"/>
                    <a:gd name="connsiteX62" fmla="*/ 95011 w 1162223"/>
                    <a:gd name="connsiteY62" fmla="*/ 254142 h 1160746"/>
                    <a:gd name="connsiteX63" fmla="*/ 92161 w 1162223"/>
                    <a:gd name="connsiteY63" fmla="*/ 251977 h 1160746"/>
                    <a:gd name="connsiteX64" fmla="*/ 92161 w 1162223"/>
                    <a:gd name="connsiteY64" fmla="*/ 137966 h 1160746"/>
                    <a:gd name="connsiteX65" fmla="*/ 95011 w 1162223"/>
                    <a:gd name="connsiteY65" fmla="*/ 135079 h 1160746"/>
                    <a:gd name="connsiteX66" fmla="*/ 74941 w 1162223"/>
                    <a:gd name="connsiteY66" fmla="*/ 114442 h 1160746"/>
                    <a:gd name="connsiteX67" fmla="*/ 69936 w 1162223"/>
                    <a:gd name="connsiteY67" fmla="*/ 119418 h 1160746"/>
                    <a:gd name="connsiteX68" fmla="*/ 69936 w 1162223"/>
                    <a:gd name="connsiteY68" fmla="*/ 269401 h 1160746"/>
                    <a:gd name="connsiteX69" fmla="*/ 74941 w 1162223"/>
                    <a:gd name="connsiteY69" fmla="*/ 275088 h 1160746"/>
                    <a:gd name="connsiteX70" fmla="*/ 186478 w 1162223"/>
                    <a:gd name="connsiteY70" fmla="*/ 275088 h 1160746"/>
                    <a:gd name="connsiteX71" fmla="*/ 186478 w 1162223"/>
                    <a:gd name="connsiteY71" fmla="*/ 278642 h 1160746"/>
                    <a:gd name="connsiteX72" fmla="*/ 167174 w 1162223"/>
                    <a:gd name="connsiteY72" fmla="*/ 295701 h 1160746"/>
                    <a:gd name="connsiteX73" fmla="*/ 165744 w 1162223"/>
                    <a:gd name="connsiteY73" fmla="*/ 301388 h 1160746"/>
                    <a:gd name="connsiteX74" fmla="*/ 170749 w 1162223"/>
                    <a:gd name="connsiteY74" fmla="*/ 304942 h 1160746"/>
                    <a:gd name="connsiteX75" fmla="*/ 250112 w 1162223"/>
                    <a:gd name="connsiteY75" fmla="*/ 304942 h 1160746"/>
                    <a:gd name="connsiteX76" fmla="*/ 255117 w 1162223"/>
                    <a:gd name="connsiteY76" fmla="*/ 301388 h 1160746"/>
                    <a:gd name="connsiteX77" fmla="*/ 253687 w 1162223"/>
                    <a:gd name="connsiteY77" fmla="*/ 295701 h 1160746"/>
                    <a:gd name="connsiteX78" fmla="*/ 233667 w 1162223"/>
                    <a:gd name="connsiteY78" fmla="*/ 278642 h 1160746"/>
                    <a:gd name="connsiteX79" fmla="*/ 233667 w 1162223"/>
                    <a:gd name="connsiteY79" fmla="*/ 275088 h 1160746"/>
                    <a:gd name="connsiteX80" fmla="*/ 345204 w 1162223"/>
                    <a:gd name="connsiteY80" fmla="*/ 275088 h 1160746"/>
                    <a:gd name="connsiteX81" fmla="*/ 350924 w 1162223"/>
                    <a:gd name="connsiteY81" fmla="*/ 269401 h 1160746"/>
                    <a:gd name="connsiteX82" fmla="*/ 350924 w 1162223"/>
                    <a:gd name="connsiteY82" fmla="*/ 119418 h 1160746"/>
                    <a:gd name="connsiteX83" fmla="*/ 345204 w 1162223"/>
                    <a:gd name="connsiteY83" fmla="*/ 114442 h 1160746"/>
                    <a:gd name="connsiteX84" fmla="*/ 74941 w 1162223"/>
                    <a:gd name="connsiteY84" fmla="*/ 114442 h 1160746"/>
                    <a:gd name="connsiteX85" fmla="*/ 211309 w 1162223"/>
                    <a:gd name="connsiteY85" fmla="*/ 0 h 1160746"/>
                    <a:gd name="connsiteX86" fmla="*/ 360433 w 1162223"/>
                    <a:gd name="connsiteY86" fmla="*/ 61488 h 1160746"/>
                    <a:gd name="connsiteX87" fmla="*/ 371154 w 1162223"/>
                    <a:gd name="connsiteY87" fmla="*/ 348076 h 1160746"/>
                    <a:gd name="connsiteX88" fmla="*/ 519831 w 1162223"/>
                    <a:gd name="connsiteY88" fmla="*/ 496360 h 1160746"/>
                    <a:gd name="connsiteX89" fmla="*/ 519831 w 1162223"/>
                    <a:gd name="connsiteY89" fmla="*/ 518460 h 1160746"/>
                    <a:gd name="connsiteX90" fmla="*/ 494098 w 1162223"/>
                    <a:gd name="connsiteY90" fmla="*/ 579770 h 1160746"/>
                    <a:gd name="connsiteX91" fmla="*/ 478373 w 1162223"/>
                    <a:gd name="connsiteY91" fmla="*/ 595454 h 1160746"/>
                    <a:gd name="connsiteX92" fmla="*/ 462648 w 1162223"/>
                    <a:gd name="connsiteY92" fmla="*/ 579770 h 1160746"/>
                    <a:gd name="connsiteX93" fmla="*/ 486951 w 1162223"/>
                    <a:gd name="connsiteY93" fmla="*/ 507767 h 1160746"/>
                    <a:gd name="connsiteX94" fmla="*/ 348996 w 1162223"/>
                    <a:gd name="connsiteY94" fmla="*/ 370176 h 1160746"/>
                    <a:gd name="connsiteX95" fmla="*/ 61650 w 1162223"/>
                    <a:gd name="connsiteY95" fmla="*/ 359483 h 1160746"/>
                    <a:gd name="connsiteX96" fmla="*/ 61650 w 1162223"/>
                    <a:gd name="connsiteY96" fmla="*/ 61488 h 1160746"/>
                    <a:gd name="connsiteX97" fmla="*/ 211309 w 1162223"/>
                    <a:gd name="connsiteY97" fmla="*/ 0 h 1160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162223" h="1160746">
                      <a:moveTo>
                        <a:pt x="888325" y="827229"/>
                      </a:moveTo>
                      <a:cubicBezTo>
                        <a:pt x="884751" y="827229"/>
                        <a:pt x="881891" y="828654"/>
                        <a:pt x="879747" y="830791"/>
                      </a:cubicBezTo>
                      <a:cubicBezTo>
                        <a:pt x="879747" y="830791"/>
                        <a:pt x="879747" y="830791"/>
                        <a:pt x="845435" y="864980"/>
                      </a:cubicBezTo>
                      <a:cubicBezTo>
                        <a:pt x="844005" y="866405"/>
                        <a:pt x="842575" y="868541"/>
                        <a:pt x="841146" y="871391"/>
                      </a:cubicBezTo>
                      <a:cubicBezTo>
                        <a:pt x="839716" y="873527"/>
                        <a:pt x="839001" y="876377"/>
                        <a:pt x="839001" y="878513"/>
                      </a:cubicBezTo>
                      <a:cubicBezTo>
                        <a:pt x="839001" y="879226"/>
                        <a:pt x="839001" y="880650"/>
                        <a:pt x="838286" y="883499"/>
                      </a:cubicBezTo>
                      <a:cubicBezTo>
                        <a:pt x="838286" y="887061"/>
                        <a:pt x="839001" y="891334"/>
                        <a:pt x="839716" y="896320"/>
                      </a:cubicBezTo>
                      <a:cubicBezTo>
                        <a:pt x="840431" y="902019"/>
                        <a:pt x="841860" y="908429"/>
                        <a:pt x="844720" y="915552"/>
                      </a:cubicBezTo>
                      <a:cubicBezTo>
                        <a:pt x="846864" y="923387"/>
                        <a:pt x="850439" y="931222"/>
                        <a:pt x="855442" y="940482"/>
                      </a:cubicBezTo>
                      <a:cubicBezTo>
                        <a:pt x="859731" y="949742"/>
                        <a:pt x="866165" y="959713"/>
                        <a:pt x="874028" y="970398"/>
                      </a:cubicBezTo>
                      <a:cubicBezTo>
                        <a:pt x="882606" y="981082"/>
                        <a:pt x="891899" y="992478"/>
                        <a:pt x="904051" y="1004587"/>
                      </a:cubicBezTo>
                      <a:cubicBezTo>
                        <a:pt x="919063" y="1019545"/>
                        <a:pt x="933360" y="1031654"/>
                        <a:pt x="946942" y="1040201"/>
                      </a:cubicBezTo>
                      <a:cubicBezTo>
                        <a:pt x="960524" y="1049461"/>
                        <a:pt x="972676" y="1055872"/>
                        <a:pt x="983399" y="1060145"/>
                      </a:cubicBezTo>
                      <a:cubicBezTo>
                        <a:pt x="993406" y="1064419"/>
                        <a:pt x="1002699" y="1067268"/>
                        <a:pt x="1009848" y="1068693"/>
                      </a:cubicBezTo>
                      <a:cubicBezTo>
                        <a:pt x="1016996" y="1069405"/>
                        <a:pt x="1022715" y="1070117"/>
                        <a:pt x="1025574" y="1070117"/>
                      </a:cubicBezTo>
                      <a:cubicBezTo>
                        <a:pt x="1027004" y="1070117"/>
                        <a:pt x="1028433" y="1070117"/>
                        <a:pt x="1029148" y="1070117"/>
                      </a:cubicBezTo>
                      <a:cubicBezTo>
                        <a:pt x="1029863" y="1070117"/>
                        <a:pt x="1030578" y="1070117"/>
                        <a:pt x="1030578" y="1070117"/>
                      </a:cubicBezTo>
                      <a:cubicBezTo>
                        <a:pt x="1033437" y="1069405"/>
                        <a:pt x="1035582" y="1068693"/>
                        <a:pt x="1037726" y="1067268"/>
                      </a:cubicBezTo>
                      <a:cubicBezTo>
                        <a:pt x="1040586" y="1066556"/>
                        <a:pt x="1042730" y="1065131"/>
                        <a:pt x="1044160" y="1062994"/>
                      </a:cubicBezTo>
                      <a:cubicBezTo>
                        <a:pt x="1044160" y="1062994"/>
                        <a:pt x="1044160" y="1062994"/>
                        <a:pt x="1078472" y="1029517"/>
                      </a:cubicBezTo>
                      <a:cubicBezTo>
                        <a:pt x="1081332" y="1026668"/>
                        <a:pt x="1082761" y="1023107"/>
                        <a:pt x="1082046" y="1018833"/>
                      </a:cubicBezTo>
                      <a:cubicBezTo>
                        <a:pt x="1081332" y="1015271"/>
                        <a:pt x="1079187" y="1012422"/>
                        <a:pt x="1075613" y="1010285"/>
                      </a:cubicBezTo>
                      <a:cubicBezTo>
                        <a:pt x="1075613" y="1010285"/>
                        <a:pt x="1075613" y="1010285"/>
                        <a:pt x="1025574" y="981082"/>
                      </a:cubicBezTo>
                      <a:cubicBezTo>
                        <a:pt x="1024144" y="980370"/>
                        <a:pt x="1021285" y="979657"/>
                        <a:pt x="1018426" y="979657"/>
                      </a:cubicBezTo>
                      <a:cubicBezTo>
                        <a:pt x="1014137" y="979657"/>
                        <a:pt x="1010562" y="981082"/>
                        <a:pt x="1007703" y="983931"/>
                      </a:cubicBezTo>
                      <a:cubicBezTo>
                        <a:pt x="1007703" y="983931"/>
                        <a:pt x="1007703" y="983931"/>
                        <a:pt x="992692" y="998889"/>
                      </a:cubicBezTo>
                      <a:cubicBezTo>
                        <a:pt x="992692" y="998889"/>
                        <a:pt x="991977" y="999601"/>
                        <a:pt x="991262" y="999601"/>
                      </a:cubicBezTo>
                      <a:cubicBezTo>
                        <a:pt x="990547" y="999601"/>
                        <a:pt x="989832" y="999601"/>
                        <a:pt x="989832" y="999601"/>
                      </a:cubicBezTo>
                      <a:cubicBezTo>
                        <a:pt x="989832" y="999601"/>
                        <a:pt x="989832" y="999601"/>
                        <a:pt x="986258" y="999601"/>
                      </a:cubicBezTo>
                      <a:cubicBezTo>
                        <a:pt x="984113" y="998889"/>
                        <a:pt x="981254" y="997464"/>
                        <a:pt x="976965" y="995328"/>
                      </a:cubicBezTo>
                      <a:cubicBezTo>
                        <a:pt x="973391" y="993191"/>
                        <a:pt x="968387" y="990342"/>
                        <a:pt x="961953" y="986068"/>
                      </a:cubicBezTo>
                      <a:cubicBezTo>
                        <a:pt x="956235" y="981794"/>
                        <a:pt x="949086" y="975384"/>
                        <a:pt x="941223" y="967549"/>
                      </a:cubicBezTo>
                      <a:cubicBezTo>
                        <a:pt x="933360" y="959713"/>
                        <a:pt x="927641" y="953303"/>
                        <a:pt x="923352" y="946892"/>
                      </a:cubicBezTo>
                      <a:cubicBezTo>
                        <a:pt x="919063" y="941194"/>
                        <a:pt x="915489" y="936208"/>
                        <a:pt x="913344" y="931935"/>
                      </a:cubicBezTo>
                      <a:cubicBezTo>
                        <a:pt x="911200" y="927661"/>
                        <a:pt x="909770" y="923387"/>
                        <a:pt x="909055" y="919826"/>
                      </a:cubicBezTo>
                      <a:cubicBezTo>
                        <a:pt x="909055" y="919113"/>
                        <a:pt x="909055" y="918401"/>
                        <a:pt x="909055" y="917689"/>
                      </a:cubicBezTo>
                      <a:cubicBezTo>
                        <a:pt x="909770" y="916977"/>
                        <a:pt x="909770" y="916264"/>
                        <a:pt x="910485" y="916264"/>
                      </a:cubicBezTo>
                      <a:cubicBezTo>
                        <a:pt x="910485" y="916264"/>
                        <a:pt x="910485" y="916264"/>
                        <a:pt x="922637" y="903443"/>
                      </a:cubicBezTo>
                      <a:cubicBezTo>
                        <a:pt x="924782" y="901306"/>
                        <a:pt x="926211" y="898457"/>
                        <a:pt x="926926" y="895608"/>
                      </a:cubicBezTo>
                      <a:cubicBezTo>
                        <a:pt x="927641" y="892047"/>
                        <a:pt x="927641" y="889198"/>
                        <a:pt x="926211" y="886348"/>
                      </a:cubicBezTo>
                      <a:cubicBezTo>
                        <a:pt x="926211" y="886348"/>
                        <a:pt x="926211" y="886348"/>
                        <a:pt x="898333" y="834352"/>
                      </a:cubicBezTo>
                      <a:cubicBezTo>
                        <a:pt x="896903" y="832215"/>
                        <a:pt x="895473" y="830791"/>
                        <a:pt x="894044" y="829366"/>
                      </a:cubicBezTo>
                      <a:cubicBezTo>
                        <a:pt x="891899" y="827941"/>
                        <a:pt x="890470" y="827229"/>
                        <a:pt x="888325" y="827229"/>
                      </a:cubicBezTo>
                      <a:close/>
                      <a:moveTo>
                        <a:pt x="683850" y="565292"/>
                      </a:moveTo>
                      <a:cubicBezTo>
                        <a:pt x="692428" y="565292"/>
                        <a:pt x="699576" y="572421"/>
                        <a:pt x="699576" y="580976"/>
                      </a:cubicBezTo>
                      <a:cubicBezTo>
                        <a:pt x="699576" y="607354"/>
                        <a:pt x="690998" y="632305"/>
                        <a:pt x="675273" y="652979"/>
                      </a:cubicBezTo>
                      <a:cubicBezTo>
                        <a:pt x="675273" y="652979"/>
                        <a:pt x="675273" y="652979"/>
                        <a:pt x="813228" y="790570"/>
                      </a:cubicBezTo>
                      <a:cubicBezTo>
                        <a:pt x="896143" y="719280"/>
                        <a:pt x="1021946" y="722844"/>
                        <a:pt x="1100573" y="801264"/>
                      </a:cubicBezTo>
                      <a:cubicBezTo>
                        <a:pt x="1182774" y="883248"/>
                        <a:pt x="1182774" y="1016561"/>
                        <a:pt x="1100573" y="1099258"/>
                      </a:cubicBezTo>
                      <a:cubicBezTo>
                        <a:pt x="1017658" y="1181242"/>
                        <a:pt x="883992" y="1181242"/>
                        <a:pt x="801791" y="1099258"/>
                      </a:cubicBezTo>
                      <a:cubicBezTo>
                        <a:pt x="723164" y="1020838"/>
                        <a:pt x="719590" y="895367"/>
                        <a:pt x="791069" y="812670"/>
                      </a:cubicBezTo>
                      <a:cubicBezTo>
                        <a:pt x="791069" y="812670"/>
                        <a:pt x="791069" y="812670"/>
                        <a:pt x="642393" y="664386"/>
                      </a:cubicBezTo>
                      <a:cubicBezTo>
                        <a:pt x="636674" y="658683"/>
                        <a:pt x="636674" y="648702"/>
                        <a:pt x="642393" y="642286"/>
                      </a:cubicBezTo>
                      <a:cubicBezTo>
                        <a:pt x="658833" y="625889"/>
                        <a:pt x="668125" y="604502"/>
                        <a:pt x="668125" y="580976"/>
                      </a:cubicBezTo>
                      <a:cubicBezTo>
                        <a:pt x="668125" y="572421"/>
                        <a:pt x="675273" y="565292"/>
                        <a:pt x="683850" y="565292"/>
                      </a:cubicBezTo>
                      <a:close/>
                      <a:moveTo>
                        <a:pt x="95011" y="135079"/>
                      </a:moveTo>
                      <a:cubicBezTo>
                        <a:pt x="95011" y="135079"/>
                        <a:pt x="95011" y="135079"/>
                        <a:pt x="326562" y="135079"/>
                      </a:cubicBezTo>
                      <a:cubicBezTo>
                        <a:pt x="327274" y="135079"/>
                        <a:pt x="328699" y="136522"/>
                        <a:pt x="328699" y="137966"/>
                      </a:cubicBezTo>
                      <a:cubicBezTo>
                        <a:pt x="328699" y="137966"/>
                        <a:pt x="328699" y="137966"/>
                        <a:pt x="328699" y="251977"/>
                      </a:cubicBezTo>
                      <a:cubicBezTo>
                        <a:pt x="328699" y="252699"/>
                        <a:pt x="327274" y="254142"/>
                        <a:pt x="326562" y="254142"/>
                      </a:cubicBezTo>
                      <a:cubicBezTo>
                        <a:pt x="326562" y="254142"/>
                        <a:pt x="326562" y="254142"/>
                        <a:pt x="225392" y="254142"/>
                      </a:cubicBezTo>
                      <a:cubicBezTo>
                        <a:pt x="217555" y="254142"/>
                        <a:pt x="203306" y="254142"/>
                        <a:pt x="195469" y="254142"/>
                      </a:cubicBezTo>
                      <a:cubicBezTo>
                        <a:pt x="195469" y="254142"/>
                        <a:pt x="195469" y="254142"/>
                        <a:pt x="95011" y="254142"/>
                      </a:cubicBezTo>
                      <a:cubicBezTo>
                        <a:pt x="93586" y="254142"/>
                        <a:pt x="92161" y="252699"/>
                        <a:pt x="92161" y="251977"/>
                      </a:cubicBezTo>
                      <a:cubicBezTo>
                        <a:pt x="92161" y="251977"/>
                        <a:pt x="92161" y="251977"/>
                        <a:pt x="92161" y="137966"/>
                      </a:cubicBezTo>
                      <a:cubicBezTo>
                        <a:pt x="92161" y="136522"/>
                        <a:pt x="93586" y="135079"/>
                        <a:pt x="95011" y="135079"/>
                      </a:cubicBezTo>
                      <a:close/>
                      <a:moveTo>
                        <a:pt x="74941" y="114442"/>
                      </a:moveTo>
                      <a:cubicBezTo>
                        <a:pt x="72081" y="114442"/>
                        <a:pt x="69936" y="116575"/>
                        <a:pt x="69936" y="119418"/>
                      </a:cubicBezTo>
                      <a:cubicBezTo>
                        <a:pt x="69936" y="119418"/>
                        <a:pt x="69936" y="119418"/>
                        <a:pt x="69936" y="269401"/>
                      </a:cubicBezTo>
                      <a:cubicBezTo>
                        <a:pt x="69936" y="272244"/>
                        <a:pt x="72081" y="275088"/>
                        <a:pt x="74941" y="275088"/>
                      </a:cubicBezTo>
                      <a:cubicBezTo>
                        <a:pt x="74941" y="275088"/>
                        <a:pt x="74941" y="275088"/>
                        <a:pt x="186478" y="275088"/>
                      </a:cubicBezTo>
                      <a:cubicBezTo>
                        <a:pt x="186478" y="275088"/>
                        <a:pt x="186478" y="275088"/>
                        <a:pt x="186478" y="278642"/>
                      </a:cubicBezTo>
                      <a:cubicBezTo>
                        <a:pt x="186478" y="278642"/>
                        <a:pt x="186478" y="278642"/>
                        <a:pt x="167174" y="295701"/>
                      </a:cubicBezTo>
                      <a:cubicBezTo>
                        <a:pt x="165029" y="297123"/>
                        <a:pt x="165029" y="299256"/>
                        <a:pt x="165744" y="301388"/>
                      </a:cubicBezTo>
                      <a:cubicBezTo>
                        <a:pt x="166459" y="303520"/>
                        <a:pt x="168604" y="304942"/>
                        <a:pt x="170749" y="304942"/>
                      </a:cubicBezTo>
                      <a:cubicBezTo>
                        <a:pt x="170749" y="304942"/>
                        <a:pt x="170749" y="304942"/>
                        <a:pt x="250112" y="304942"/>
                      </a:cubicBezTo>
                      <a:cubicBezTo>
                        <a:pt x="252257" y="304942"/>
                        <a:pt x="254402" y="303520"/>
                        <a:pt x="255117" y="301388"/>
                      </a:cubicBezTo>
                      <a:cubicBezTo>
                        <a:pt x="255832" y="299256"/>
                        <a:pt x="255117" y="297123"/>
                        <a:pt x="253687" y="295701"/>
                      </a:cubicBezTo>
                      <a:cubicBezTo>
                        <a:pt x="253687" y="295701"/>
                        <a:pt x="253687" y="295701"/>
                        <a:pt x="233667" y="278642"/>
                      </a:cubicBezTo>
                      <a:cubicBezTo>
                        <a:pt x="233667" y="278642"/>
                        <a:pt x="233667" y="278642"/>
                        <a:pt x="233667" y="275088"/>
                      </a:cubicBezTo>
                      <a:cubicBezTo>
                        <a:pt x="233667" y="275088"/>
                        <a:pt x="233667" y="275088"/>
                        <a:pt x="345204" y="275088"/>
                      </a:cubicBezTo>
                      <a:cubicBezTo>
                        <a:pt x="348064" y="275088"/>
                        <a:pt x="350924" y="272244"/>
                        <a:pt x="350924" y="269401"/>
                      </a:cubicBezTo>
                      <a:cubicBezTo>
                        <a:pt x="350924" y="269401"/>
                        <a:pt x="350924" y="269401"/>
                        <a:pt x="350924" y="119418"/>
                      </a:cubicBezTo>
                      <a:cubicBezTo>
                        <a:pt x="350924" y="116575"/>
                        <a:pt x="348064" y="114442"/>
                        <a:pt x="345204" y="114442"/>
                      </a:cubicBezTo>
                      <a:cubicBezTo>
                        <a:pt x="345204" y="114442"/>
                        <a:pt x="345204" y="114442"/>
                        <a:pt x="74941" y="114442"/>
                      </a:cubicBezTo>
                      <a:close/>
                      <a:moveTo>
                        <a:pt x="211309" y="0"/>
                      </a:moveTo>
                      <a:cubicBezTo>
                        <a:pt x="265366" y="0"/>
                        <a:pt x="319332" y="20496"/>
                        <a:pt x="360433" y="61488"/>
                      </a:cubicBezTo>
                      <a:cubicBezTo>
                        <a:pt x="439060" y="139908"/>
                        <a:pt x="442634" y="265379"/>
                        <a:pt x="371154" y="348076"/>
                      </a:cubicBezTo>
                      <a:lnTo>
                        <a:pt x="519831" y="496360"/>
                      </a:lnTo>
                      <a:cubicBezTo>
                        <a:pt x="525549" y="502064"/>
                        <a:pt x="525549" y="512044"/>
                        <a:pt x="519831" y="518460"/>
                      </a:cubicBezTo>
                      <a:cubicBezTo>
                        <a:pt x="503391" y="534857"/>
                        <a:pt x="494098" y="556244"/>
                        <a:pt x="494098" y="579770"/>
                      </a:cubicBezTo>
                      <a:cubicBezTo>
                        <a:pt x="494098" y="588325"/>
                        <a:pt x="486951" y="595454"/>
                        <a:pt x="478373" y="595454"/>
                      </a:cubicBezTo>
                      <a:cubicBezTo>
                        <a:pt x="469796" y="595454"/>
                        <a:pt x="462648" y="588325"/>
                        <a:pt x="462648" y="579770"/>
                      </a:cubicBezTo>
                      <a:cubicBezTo>
                        <a:pt x="462648" y="553393"/>
                        <a:pt x="471225" y="528441"/>
                        <a:pt x="486951" y="507767"/>
                      </a:cubicBezTo>
                      <a:cubicBezTo>
                        <a:pt x="486951" y="507767"/>
                        <a:pt x="486951" y="507767"/>
                        <a:pt x="348996" y="370176"/>
                      </a:cubicBezTo>
                      <a:cubicBezTo>
                        <a:pt x="266080" y="441467"/>
                        <a:pt x="140277" y="437902"/>
                        <a:pt x="61650" y="359483"/>
                      </a:cubicBezTo>
                      <a:cubicBezTo>
                        <a:pt x="-20551" y="277498"/>
                        <a:pt x="-20551" y="144185"/>
                        <a:pt x="61650" y="61488"/>
                      </a:cubicBezTo>
                      <a:cubicBezTo>
                        <a:pt x="103108" y="20496"/>
                        <a:pt x="157253" y="0"/>
                        <a:pt x="211309"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ea typeface="Microsoft YaHei" panose="020B0503020204020204" pitchFamily="34" charset="-122"/>
                  </a:endParaRPr>
                </a:p>
              </p:txBody>
            </p:sp>
          </p:grpSp>
        </p:grpSp>
      </p:grpSp>
      <p:grpSp>
        <p:nvGrpSpPr>
          <p:cNvPr id="53" name="Group 52">
            <a:extLst>
              <a:ext uri="{FF2B5EF4-FFF2-40B4-BE49-F238E27FC236}">
                <a16:creationId xmlns:a16="http://schemas.microsoft.com/office/drawing/2014/main" id="{F2095056-70D5-D9F5-027D-AF2222937B7A}"/>
              </a:ext>
            </a:extLst>
          </p:cNvPr>
          <p:cNvGrpSpPr/>
          <p:nvPr/>
        </p:nvGrpSpPr>
        <p:grpSpPr>
          <a:xfrm>
            <a:off x="5623317" y="1513665"/>
            <a:ext cx="472683" cy="472228"/>
            <a:chOff x="-1570951" y="2670952"/>
            <a:chExt cx="732528" cy="731822"/>
          </a:xfrm>
          <a:effectLst>
            <a:outerShdw blurRad="50800" dist="38100" dir="2700000" algn="tl" rotWithShape="0">
              <a:prstClr val="black">
                <a:alpha val="40000"/>
              </a:prstClr>
            </a:outerShdw>
          </a:effectLst>
        </p:grpSpPr>
        <p:sp>
          <p:nvSpPr>
            <p:cNvPr id="52" name="Oval 51">
              <a:extLst>
                <a:ext uri="{FF2B5EF4-FFF2-40B4-BE49-F238E27FC236}">
                  <a16:creationId xmlns:a16="http://schemas.microsoft.com/office/drawing/2014/main" id="{CA4B16B7-B278-C9CD-AE97-5D07FDE4137B}"/>
                </a:ext>
              </a:extLst>
            </p:cNvPr>
            <p:cNvSpPr/>
            <p:nvPr>
              <p:custDataLst>
                <p:tags r:id="rId4"/>
              </p:custDataLst>
            </p:nvPr>
          </p:nvSpPr>
          <p:spPr>
            <a:xfrm>
              <a:off x="-1570951" y="2670952"/>
              <a:ext cx="732528" cy="731822"/>
            </a:xfrm>
            <a:prstGeom prst="ellipse">
              <a:avLst/>
            </a:prstGeom>
            <a:solidFill>
              <a:srgbClr val="FFFFFF"/>
            </a:solidFill>
            <a:ln w="19050">
              <a:gradFill flip="none" rotWithShape="1">
                <a:gsLst>
                  <a:gs pos="0">
                    <a:schemeClr val="accent1"/>
                  </a:gs>
                  <a:gs pos="100000">
                    <a:schemeClr val="accent4"/>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a:solidFill>
                  <a:schemeClr val="bg1">
                    <a:lumMod val="50000"/>
                  </a:schemeClr>
                </a:solidFill>
                <a:ea typeface="Microsoft YaHei" panose="020B0503020204020204" pitchFamily="34" charset="-122"/>
              </a:endParaRPr>
            </a:p>
          </p:txBody>
        </p:sp>
        <p:grpSp>
          <p:nvGrpSpPr>
            <p:cNvPr id="39" name="bcgIcons_Calendar, Year ">
              <a:extLst>
                <a:ext uri="{FF2B5EF4-FFF2-40B4-BE49-F238E27FC236}">
                  <a16:creationId xmlns:a16="http://schemas.microsoft.com/office/drawing/2014/main" id="{F8281B13-A6C6-DFA7-197C-3A8601C51E2B}"/>
                </a:ext>
              </a:extLst>
            </p:cNvPr>
            <p:cNvGrpSpPr>
              <a:grpSpLocks noChangeAspect="1"/>
            </p:cNvGrpSpPr>
            <p:nvPr/>
          </p:nvGrpSpPr>
          <p:grpSpPr>
            <a:xfrm>
              <a:off x="-1463675" y="2778125"/>
              <a:ext cx="517976" cy="517476"/>
              <a:chOff x="5273675" y="2606675"/>
              <a:chExt cx="1646238" cy="1644650"/>
            </a:xfrm>
          </p:grpSpPr>
          <p:sp>
            <p:nvSpPr>
              <p:cNvPr id="40" name="AutoShape 3">
                <a:extLst>
                  <a:ext uri="{FF2B5EF4-FFF2-40B4-BE49-F238E27FC236}">
                    <a16:creationId xmlns:a16="http://schemas.microsoft.com/office/drawing/2014/main" id="{0F678363-75C3-6D59-FFDD-61F2EFAB8800}"/>
                  </a:ext>
                </a:extLst>
              </p:cNvPr>
              <p:cNvSpPr>
                <a:spLocks noChangeAspect="1" noChangeArrowheads="1" noTextEdit="1"/>
              </p:cNvSpPr>
              <p:nvPr/>
            </p:nvSpPr>
            <p:spPr bwMode="auto">
              <a:xfrm>
                <a:off x="5273675"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41" name="Group 40">
                <a:extLst>
                  <a:ext uri="{FF2B5EF4-FFF2-40B4-BE49-F238E27FC236}">
                    <a16:creationId xmlns:a16="http://schemas.microsoft.com/office/drawing/2014/main" id="{A7258B58-BDA7-5A57-F676-B031636A5C58}"/>
                  </a:ext>
                </a:extLst>
              </p:cNvPr>
              <p:cNvGrpSpPr/>
              <p:nvPr/>
            </p:nvGrpSpPr>
            <p:grpSpPr>
              <a:xfrm>
                <a:off x="5519738" y="2911475"/>
                <a:ext cx="1154113" cy="963613"/>
                <a:chOff x="5519738" y="2911475"/>
                <a:chExt cx="1154113" cy="963613"/>
              </a:xfrm>
            </p:grpSpPr>
            <p:sp>
              <p:nvSpPr>
                <p:cNvPr id="42" name="Freeform 25">
                  <a:extLst>
                    <a:ext uri="{FF2B5EF4-FFF2-40B4-BE49-F238E27FC236}">
                      <a16:creationId xmlns:a16="http://schemas.microsoft.com/office/drawing/2014/main" id="{75D1A2D6-0D13-F3B0-BD50-A73B713516F4}"/>
                    </a:ext>
                  </a:extLst>
                </p:cNvPr>
                <p:cNvSpPr>
                  <a:spLocks/>
                </p:cNvSpPr>
                <p:nvPr/>
              </p:nvSpPr>
              <p:spPr bwMode="auto">
                <a:xfrm>
                  <a:off x="5605462" y="3319463"/>
                  <a:ext cx="982662" cy="474662"/>
                </a:xfrm>
                <a:custGeom>
                  <a:avLst/>
                  <a:gdLst>
                    <a:gd name="connsiteX0" fmla="*/ 770723 w 982662"/>
                    <a:gd name="connsiteY0" fmla="*/ 255587 h 474662"/>
                    <a:gd name="connsiteX1" fmla="*/ 975526 w 982662"/>
                    <a:gd name="connsiteY1" fmla="*/ 255587 h 474662"/>
                    <a:gd name="connsiteX2" fmla="*/ 982662 w 982662"/>
                    <a:gd name="connsiteY2" fmla="*/ 262723 h 474662"/>
                    <a:gd name="connsiteX3" fmla="*/ 982662 w 982662"/>
                    <a:gd name="connsiteY3" fmla="*/ 467526 h 474662"/>
                    <a:gd name="connsiteX4" fmla="*/ 975526 w 982662"/>
                    <a:gd name="connsiteY4" fmla="*/ 474662 h 474662"/>
                    <a:gd name="connsiteX5" fmla="*/ 770723 w 982662"/>
                    <a:gd name="connsiteY5" fmla="*/ 474662 h 474662"/>
                    <a:gd name="connsiteX6" fmla="*/ 763587 w 982662"/>
                    <a:gd name="connsiteY6" fmla="*/ 467526 h 474662"/>
                    <a:gd name="connsiteX7" fmla="*/ 763587 w 982662"/>
                    <a:gd name="connsiteY7" fmla="*/ 262723 h 474662"/>
                    <a:gd name="connsiteX8" fmla="*/ 770723 w 982662"/>
                    <a:gd name="connsiteY8" fmla="*/ 255587 h 474662"/>
                    <a:gd name="connsiteX9" fmla="*/ 516723 w 982662"/>
                    <a:gd name="connsiteY9" fmla="*/ 255587 h 474662"/>
                    <a:gd name="connsiteX10" fmla="*/ 721526 w 982662"/>
                    <a:gd name="connsiteY10" fmla="*/ 255587 h 474662"/>
                    <a:gd name="connsiteX11" fmla="*/ 728662 w 982662"/>
                    <a:gd name="connsiteY11" fmla="*/ 262723 h 474662"/>
                    <a:gd name="connsiteX12" fmla="*/ 728662 w 982662"/>
                    <a:gd name="connsiteY12" fmla="*/ 467526 h 474662"/>
                    <a:gd name="connsiteX13" fmla="*/ 721526 w 982662"/>
                    <a:gd name="connsiteY13" fmla="*/ 474662 h 474662"/>
                    <a:gd name="connsiteX14" fmla="*/ 516723 w 982662"/>
                    <a:gd name="connsiteY14" fmla="*/ 474662 h 474662"/>
                    <a:gd name="connsiteX15" fmla="*/ 509587 w 982662"/>
                    <a:gd name="connsiteY15" fmla="*/ 467526 h 474662"/>
                    <a:gd name="connsiteX16" fmla="*/ 509587 w 982662"/>
                    <a:gd name="connsiteY16" fmla="*/ 262723 h 474662"/>
                    <a:gd name="connsiteX17" fmla="*/ 516723 w 982662"/>
                    <a:gd name="connsiteY17" fmla="*/ 255587 h 474662"/>
                    <a:gd name="connsiteX18" fmla="*/ 261136 w 982662"/>
                    <a:gd name="connsiteY18" fmla="*/ 255587 h 474662"/>
                    <a:gd name="connsiteX19" fmla="*/ 465939 w 982662"/>
                    <a:gd name="connsiteY19" fmla="*/ 255587 h 474662"/>
                    <a:gd name="connsiteX20" fmla="*/ 473075 w 982662"/>
                    <a:gd name="connsiteY20" fmla="*/ 262723 h 474662"/>
                    <a:gd name="connsiteX21" fmla="*/ 473075 w 982662"/>
                    <a:gd name="connsiteY21" fmla="*/ 467526 h 474662"/>
                    <a:gd name="connsiteX22" fmla="*/ 465939 w 982662"/>
                    <a:gd name="connsiteY22" fmla="*/ 474662 h 474662"/>
                    <a:gd name="connsiteX23" fmla="*/ 261136 w 982662"/>
                    <a:gd name="connsiteY23" fmla="*/ 474662 h 474662"/>
                    <a:gd name="connsiteX24" fmla="*/ 254000 w 982662"/>
                    <a:gd name="connsiteY24" fmla="*/ 467526 h 474662"/>
                    <a:gd name="connsiteX25" fmla="*/ 254000 w 982662"/>
                    <a:gd name="connsiteY25" fmla="*/ 262723 h 474662"/>
                    <a:gd name="connsiteX26" fmla="*/ 261136 w 982662"/>
                    <a:gd name="connsiteY26" fmla="*/ 255587 h 474662"/>
                    <a:gd name="connsiteX27" fmla="*/ 7136 w 982662"/>
                    <a:gd name="connsiteY27" fmla="*/ 255587 h 474662"/>
                    <a:gd name="connsiteX28" fmla="*/ 211939 w 982662"/>
                    <a:gd name="connsiteY28" fmla="*/ 255587 h 474662"/>
                    <a:gd name="connsiteX29" fmla="*/ 219075 w 982662"/>
                    <a:gd name="connsiteY29" fmla="*/ 262723 h 474662"/>
                    <a:gd name="connsiteX30" fmla="*/ 219075 w 982662"/>
                    <a:gd name="connsiteY30" fmla="*/ 467526 h 474662"/>
                    <a:gd name="connsiteX31" fmla="*/ 211939 w 982662"/>
                    <a:gd name="connsiteY31" fmla="*/ 474662 h 474662"/>
                    <a:gd name="connsiteX32" fmla="*/ 7136 w 982662"/>
                    <a:gd name="connsiteY32" fmla="*/ 474662 h 474662"/>
                    <a:gd name="connsiteX33" fmla="*/ 0 w 982662"/>
                    <a:gd name="connsiteY33" fmla="*/ 467526 h 474662"/>
                    <a:gd name="connsiteX34" fmla="*/ 0 w 982662"/>
                    <a:gd name="connsiteY34" fmla="*/ 262723 h 474662"/>
                    <a:gd name="connsiteX35" fmla="*/ 7136 w 982662"/>
                    <a:gd name="connsiteY35" fmla="*/ 255587 h 474662"/>
                    <a:gd name="connsiteX36" fmla="*/ 770723 w 982662"/>
                    <a:gd name="connsiteY36" fmla="*/ 0 h 474662"/>
                    <a:gd name="connsiteX37" fmla="*/ 975526 w 982662"/>
                    <a:gd name="connsiteY37" fmla="*/ 0 h 474662"/>
                    <a:gd name="connsiteX38" fmla="*/ 982662 w 982662"/>
                    <a:gd name="connsiteY38" fmla="*/ 7108 h 474662"/>
                    <a:gd name="connsiteX39" fmla="*/ 982662 w 982662"/>
                    <a:gd name="connsiteY39" fmla="*/ 210381 h 474662"/>
                    <a:gd name="connsiteX40" fmla="*/ 975526 w 982662"/>
                    <a:gd name="connsiteY40" fmla="*/ 217488 h 474662"/>
                    <a:gd name="connsiteX41" fmla="*/ 770723 w 982662"/>
                    <a:gd name="connsiteY41" fmla="*/ 217488 h 474662"/>
                    <a:gd name="connsiteX42" fmla="*/ 763587 w 982662"/>
                    <a:gd name="connsiteY42" fmla="*/ 210381 h 474662"/>
                    <a:gd name="connsiteX43" fmla="*/ 763587 w 982662"/>
                    <a:gd name="connsiteY43" fmla="*/ 7108 h 474662"/>
                    <a:gd name="connsiteX44" fmla="*/ 770723 w 982662"/>
                    <a:gd name="connsiteY44" fmla="*/ 0 h 474662"/>
                    <a:gd name="connsiteX45" fmla="*/ 516723 w 982662"/>
                    <a:gd name="connsiteY45" fmla="*/ 0 h 474662"/>
                    <a:gd name="connsiteX46" fmla="*/ 721526 w 982662"/>
                    <a:gd name="connsiteY46" fmla="*/ 0 h 474662"/>
                    <a:gd name="connsiteX47" fmla="*/ 728662 w 982662"/>
                    <a:gd name="connsiteY47" fmla="*/ 7108 h 474662"/>
                    <a:gd name="connsiteX48" fmla="*/ 728662 w 982662"/>
                    <a:gd name="connsiteY48" fmla="*/ 210381 h 474662"/>
                    <a:gd name="connsiteX49" fmla="*/ 721526 w 982662"/>
                    <a:gd name="connsiteY49" fmla="*/ 217488 h 474662"/>
                    <a:gd name="connsiteX50" fmla="*/ 516723 w 982662"/>
                    <a:gd name="connsiteY50" fmla="*/ 217488 h 474662"/>
                    <a:gd name="connsiteX51" fmla="*/ 509587 w 982662"/>
                    <a:gd name="connsiteY51" fmla="*/ 210381 h 474662"/>
                    <a:gd name="connsiteX52" fmla="*/ 509587 w 982662"/>
                    <a:gd name="connsiteY52" fmla="*/ 7108 h 474662"/>
                    <a:gd name="connsiteX53" fmla="*/ 516723 w 982662"/>
                    <a:gd name="connsiteY53" fmla="*/ 0 h 474662"/>
                    <a:gd name="connsiteX54" fmla="*/ 261136 w 982662"/>
                    <a:gd name="connsiteY54" fmla="*/ 0 h 474662"/>
                    <a:gd name="connsiteX55" fmla="*/ 465939 w 982662"/>
                    <a:gd name="connsiteY55" fmla="*/ 0 h 474662"/>
                    <a:gd name="connsiteX56" fmla="*/ 473075 w 982662"/>
                    <a:gd name="connsiteY56" fmla="*/ 7108 h 474662"/>
                    <a:gd name="connsiteX57" fmla="*/ 473075 w 982662"/>
                    <a:gd name="connsiteY57" fmla="*/ 210381 h 474662"/>
                    <a:gd name="connsiteX58" fmla="*/ 465939 w 982662"/>
                    <a:gd name="connsiteY58" fmla="*/ 217488 h 474662"/>
                    <a:gd name="connsiteX59" fmla="*/ 261136 w 982662"/>
                    <a:gd name="connsiteY59" fmla="*/ 217488 h 474662"/>
                    <a:gd name="connsiteX60" fmla="*/ 254000 w 982662"/>
                    <a:gd name="connsiteY60" fmla="*/ 210381 h 474662"/>
                    <a:gd name="connsiteX61" fmla="*/ 254000 w 982662"/>
                    <a:gd name="connsiteY61" fmla="*/ 7108 h 474662"/>
                    <a:gd name="connsiteX62" fmla="*/ 261136 w 982662"/>
                    <a:gd name="connsiteY62" fmla="*/ 0 h 474662"/>
                    <a:gd name="connsiteX63" fmla="*/ 7136 w 982662"/>
                    <a:gd name="connsiteY63" fmla="*/ 0 h 474662"/>
                    <a:gd name="connsiteX64" fmla="*/ 211939 w 982662"/>
                    <a:gd name="connsiteY64" fmla="*/ 0 h 474662"/>
                    <a:gd name="connsiteX65" fmla="*/ 219075 w 982662"/>
                    <a:gd name="connsiteY65" fmla="*/ 7108 h 474662"/>
                    <a:gd name="connsiteX66" fmla="*/ 219075 w 982662"/>
                    <a:gd name="connsiteY66" fmla="*/ 210381 h 474662"/>
                    <a:gd name="connsiteX67" fmla="*/ 211939 w 982662"/>
                    <a:gd name="connsiteY67" fmla="*/ 217488 h 474662"/>
                    <a:gd name="connsiteX68" fmla="*/ 7136 w 982662"/>
                    <a:gd name="connsiteY68" fmla="*/ 217488 h 474662"/>
                    <a:gd name="connsiteX69" fmla="*/ 0 w 982662"/>
                    <a:gd name="connsiteY69" fmla="*/ 210381 h 474662"/>
                    <a:gd name="connsiteX70" fmla="*/ 0 w 982662"/>
                    <a:gd name="connsiteY70" fmla="*/ 7108 h 474662"/>
                    <a:gd name="connsiteX71" fmla="*/ 7136 w 982662"/>
                    <a:gd name="connsiteY71" fmla="*/ 0 h 474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982662" h="474662">
                      <a:moveTo>
                        <a:pt x="770723" y="255587"/>
                      </a:moveTo>
                      <a:cubicBezTo>
                        <a:pt x="770723" y="255587"/>
                        <a:pt x="770723" y="255587"/>
                        <a:pt x="975526" y="255587"/>
                      </a:cubicBezTo>
                      <a:cubicBezTo>
                        <a:pt x="979808" y="255587"/>
                        <a:pt x="982662" y="258442"/>
                        <a:pt x="982662" y="262723"/>
                      </a:cubicBezTo>
                      <a:cubicBezTo>
                        <a:pt x="982662" y="262723"/>
                        <a:pt x="982662" y="262723"/>
                        <a:pt x="982662" y="467526"/>
                      </a:cubicBezTo>
                      <a:cubicBezTo>
                        <a:pt x="982662" y="471094"/>
                        <a:pt x="979808" y="474662"/>
                        <a:pt x="975526" y="474662"/>
                      </a:cubicBezTo>
                      <a:cubicBezTo>
                        <a:pt x="975526" y="474662"/>
                        <a:pt x="975526" y="474662"/>
                        <a:pt x="770723" y="474662"/>
                      </a:cubicBezTo>
                      <a:cubicBezTo>
                        <a:pt x="767155" y="474662"/>
                        <a:pt x="763587" y="471094"/>
                        <a:pt x="763587" y="467526"/>
                      </a:cubicBezTo>
                      <a:cubicBezTo>
                        <a:pt x="763587" y="467526"/>
                        <a:pt x="763587" y="467526"/>
                        <a:pt x="763587" y="262723"/>
                      </a:cubicBezTo>
                      <a:cubicBezTo>
                        <a:pt x="763587" y="258442"/>
                        <a:pt x="767155" y="255587"/>
                        <a:pt x="770723" y="255587"/>
                      </a:cubicBezTo>
                      <a:close/>
                      <a:moveTo>
                        <a:pt x="516723" y="255587"/>
                      </a:moveTo>
                      <a:cubicBezTo>
                        <a:pt x="516723" y="255587"/>
                        <a:pt x="516723" y="255587"/>
                        <a:pt x="721526" y="255587"/>
                      </a:cubicBezTo>
                      <a:cubicBezTo>
                        <a:pt x="725094" y="255587"/>
                        <a:pt x="728662" y="258442"/>
                        <a:pt x="728662" y="262723"/>
                      </a:cubicBezTo>
                      <a:cubicBezTo>
                        <a:pt x="728662" y="262723"/>
                        <a:pt x="728662" y="262723"/>
                        <a:pt x="728662" y="467526"/>
                      </a:cubicBezTo>
                      <a:cubicBezTo>
                        <a:pt x="728662" y="471094"/>
                        <a:pt x="725094" y="474662"/>
                        <a:pt x="721526" y="474662"/>
                      </a:cubicBezTo>
                      <a:cubicBezTo>
                        <a:pt x="721526" y="474662"/>
                        <a:pt x="721526" y="474662"/>
                        <a:pt x="516723" y="474662"/>
                      </a:cubicBezTo>
                      <a:cubicBezTo>
                        <a:pt x="512442" y="474662"/>
                        <a:pt x="509587" y="471094"/>
                        <a:pt x="509587" y="467526"/>
                      </a:cubicBezTo>
                      <a:cubicBezTo>
                        <a:pt x="509587" y="467526"/>
                        <a:pt x="509587" y="467526"/>
                        <a:pt x="509587" y="262723"/>
                      </a:cubicBezTo>
                      <a:cubicBezTo>
                        <a:pt x="509587" y="258442"/>
                        <a:pt x="512442" y="255587"/>
                        <a:pt x="516723" y="255587"/>
                      </a:cubicBezTo>
                      <a:close/>
                      <a:moveTo>
                        <a:pt x="261136" y="255587"/>
                      </a:moveTo>
                      <a:cubicBezTo>
                        <a:pt x="261136" y="255587"/>
                        <a:pt x="261136" y="255587"/>
                        <a:pt x="465939" y="255587"/>
                      </a:cubicBezTo>
                      <a:cubicBezTo>
                        <a:pt x="470220" y="255587"/>
                        <a:pt x="473075" y="258442"/>
                        <a:pt x="473075" y="262723"/>
                      </a:cubicBezTo>
                      <a:cubicBezTo>
                        <a:pt x="473075" y="262723"/>
                        <a:pt x="473075" y="262723"/>
                        <a:pt x="473075" y="467526"/>
                      </a:cubicBezTo>
                      <a:cubicBezTo>
                        <a:pt x="473075" y="471094"/>
                        <a:pt x="470220" y="474662"/>
                        <a:pt x="465939" y="474662"/>
                      </a:cubicBezTo>
                      <a:cubicBezTo>
                        <a:pt x="465939" y="474662"/>
                        <a:pt x="465939" y="474662"/>
                        <a:pt x="261136" y="474662"/>
                      </a:cubicBezTo>
                      <a:cubicBezTo>
                        <a:pt x="257568" y="474662"/>
                        <a:pt x="254000" y="471094"/>
                        <a:pt x="254000" y="467526"/>
                      </a:cubicBezTo>
                      <a:cubicBezTo>
                        <a:pt x="254000" y="467526"/>
                        <a:pt x="254000" y="467526"/>
                        <a:pt x="254000" y="262723"/>
                      </a:cubicBezTo>
                      <a:cubicBezTo>
                        <a:pt x="254000" y="258442"/>
                        <a:pt x="257568" y="255587"/>
                        <a:pt x="261136" y="255587"/>
                      </a:cubicBezTo>
                      <a:close/>
                      <a:moveTo>
                        <a:pt x="7136" y="255587"/>
                      </a:moveTo>
                      <a:cubicBezTo>
                        <a:pt x="7136" y="255587"/>
                        <a:pt x="7136" y="255587"/>
                        <a:pt x="211939" y="255587"/>
                      </a:cubicBezTo>
                      <a:cubicBezTo>
                        <a:pt x="215507" y="255587"/>
                        <a:pt x="219075" y="258442"/>
                        <a:pt x="219075" y="262723"/>
                      </a:cubicBezTo>
                      <a:cubicBezTo>
                        <a:pt x="219075" y="262723"/>
                        <a:pt x="219075" y="262723"/>
                        <a:pt x="219075" y="467526"/>
                      </a:cubicBezTo>
                      <a:cubicBezTo>
                        <a:pt x="219075" y="471094"/>
                        <a:pt x="215507" y="474662"/>
                        <a:pt x="211939" y="474662"/>
                      </a:cubicBezTo>
                      <a:cubicBezTo>
                        <a:pt x="211939" y="474662"/>
                        <a:pt x="211939" y="474662"/>
                        <a:pt x="7136" y="474662"/>
                      </a:cubicBezTo>
                      <a:cubicBezTo>
                        <a:pt x="2854" y="474662"/>
                        <a:pt x="0" y="471094"/>
                        <a:pt x="0" y="467526"/>
                      </a:cubicBezTo>
                      <a:cubicBezTo>
                        <a:pt x="0" y="467526"/>
                        <a:pt x="0" y="467526"/>
                        <a:pt x="0" y="262723"/>
                      </a:cubicBezTo>
                      <a:cubicBezTo>
                        <a:pt x="0" y="258442"/>
                        <a:pt x="2854" y="255587"/>
                        <a:pt x="7136" y="255587"/>
                      </a:cubicBezTo>
                      <a:close/>
                      <a:moveTo>
                        <a:pt x="770723" y="0"/>
                      </a:moveTo>
                      <a:cubicBezTo>
                        <a:pt x="770723" y="0"/>
                        <a:pt x="770723" y="0"/>
                        <a:pt x="975526" y="0"/>
                      </a:cubicBezTo>
                      <a:cubicBezTo>
                        <a:pt x="979808" y="0"/>
                        <a:pt x="982662" y="2843"/>
                        <a:pt x="982662" y="7108"/>
                      </a:cubicBezTo>
                      <a:cubicBezTo>
                        <a:pt x="982662" y="7108"/>
                        <a:pt x="982662" y="7108"/>
                        <a:pt x="982662" y="210381"/>
                      </a:cubicBezTo>
                      <a:cubicBezTo>
                        <a:pt x="982662" y="214645"/>
                        <a:pt x="979808" y="217488"/>
                        <a:pt x="975526" y="217488"/>
                      </a:cubicBezTo>
                      <a:cubicBezTo>
                        <a:pt x="975526" y="217488"/>
                        <a:pt x="975526" y="217488"/>
                        <a:pt x="770723" y="217488"/>
                      </a:cubicBezTo>
                      <a:cubicBezTo>
                        <a:pt x="767155" y="217488"/>
                        <a:pt x="763587" y="214645"/>
                        <a:pt x="763587" y="210381"/>
                      </a:cubicBezTo>
                      <a:cubicBezTo>
                        <a:pt x="763587" y="210381"/>
                        <a:pt x="763587" y="210381"/>
                        <a:pt x="763587" y="7108"/>
                      </a:cubicBezTo>
                      <a:cubicBezTo>
                        <a:pt x="763587" y="2843"/>
                        <a:pt x="767155" y="0"/>
                        <a:pt x="770723" y="0"/>
                      </a:cubicBezTo>
                      <a:close/>
                      <a:moveTo>
                        <a:pt x="516723" y="0"/>
                      </a:moveTo>
                      <a:cubicBezTo>
                        <a:pt x="516723" y="0"/>
                        <a:pt x="516723" y="0"/>
                        <a:pt x="721526" y="0"/>
                      </a:cubicBezTo>
                      <a:cubicBezTo>
                        <a:pt x="725094" y="0"/>
                        <a:pt x="728662" y="2843"/>
                        <a:pt x="728662" y="7108"/>
                      </a:cubicBezTo>
                      <a:cubicBezTo>
                        <a:pt x="728662" y="7108"/>
                        <a:pt x="728662" y="7108"/>
                        <a:pt x="728662" y="210381"/>
                      </a:cubicBezTo>
                      <a:cubicBezTo>
                        <a:pt x="728662" y="214645"/>
                        <a:pt x="725094" y="217488"/>
                        <a:pt x="721526" y="217488"/>
                      </a:cubicBezTo>
                      <a:cubicBezTo>
                        <a:pt x="721526" y="217488"/>
                        <a:pt x="721526" y="217488"/>
                        <a:pt x="516723" y="217488"/>
                      </a:cubicBezTo>
                      <a:cubicBezTo>
                        <a:pt x="512442" y="217488"/>
                        <a:pt x="509587" y="214645"/>
                        <a:pt x="509587" y="210381"/>
                      </a:cubicBezTo>
                      <a:cubicBezTo>
                        <a:pt x="509587" y="210381"/>
                        <a:pt x="509587" y="210381"/>
                        <a:pt x="509587" y="7108"/>
                      </a:cubicBezTo>
                      <a:cubicBezTo>
                        <a:pt x="509587" y="2843"/>
                        <a:pt x="512442" y="0"/>
                        <a:pt x="516723" y="0"/>
                      </a:cubicBezTo>
                      <a:close/>
                      <a:moveTo>
                        <a:pt x="261136" y="0"/>
                      </a:moveTo>
                      <a:cubicBezTo>
                        <a:pt x="261136" y="0"/>
                        <a:pt x="261136" y="0"/>
                        <a:pt x="465939" y="0"/>
                      </a:cubicBezTo>
                      <a:cubicBezTo>
                        <a:pt x="470220" y="0"/>
                        <a:pt x="473075" y="2843"/>
                        <a:pt x="473075" y="7108"/>
                      </a:cubicBezTo>
                      <a:cubicBezTo>
                        <a:pt x="473075" y="7108"/>
                        <a:pt x="473075" y="7108"/>
                        <a:pt x="473075" y="210381"/>
                      </a:cubicBezTo>
                      <a:cubicBezTo>
                        <a:pt x="473075" y="214645"/>
                        <a:pt x="470220" y="217488"/>
                        <a:pt x="465939" y="217488"/>
                      </a:cubicBezTo>
                      <a:cubicBezTo>
                        <a:pt x="465939" y="217488"/>
                        <a:pt x="465939" y="217488"/>
                        <a:pt x="261136" y="217488"/>
                      </a:cubicBezTo>
                      <a:cubicBezTo>
                        <a:pt x="257568" y="217488"/>
                        <a:pt x="254000" y="214645"/>
                        <a:pt x="254000" y="210381"/>
                      </a:cubicBezTo>
                      <a:cubicBezTo>
                        <a:pt x="254000" y="210381"/>
                        <a:pt x="254000" y="210381"/>
                        <a:pt x="254000" y="7108"/>
                      </a:cubicBezTo>
                      <a:cubicBezTo>
                        <a:pt x="254000" y="2843"/>
                        <a:pt x="257568" y="0"/>
                        <a:pt x="261136" y="0"/>
                      </a:cubicBezTo>
                      <a:close/>
                      <a:moveTo>
                        <a:pt x="7136" y="0"/>
                      </a:moveTo>
                      <a:cubicBezTo>
                        <a:pt x="7136" y="0"/>
                        <a:pt x="7136" y="0"/>
                        <a:pt x="211939" y="0"/>
                      </a:cubicBezTo>
                      <a:cubicBezTo>
                        <a:pt x="215507" y="0"/>
                        <a:pt x="219075" y="2843"/>
                        <a:pt x="219075" y="7108"/>
                      </a:cubicBezTo>
                      <a:cubicBezTo>
                        <a:pt x="219075" y="7108"/>
                        <a:pt x="219075" y="7108"/>
                        <a:pt x="219075" y="210381"/>
                      </a:cubicBezTo>
                      <a:cubicBezTo>
                        <a:pt x="219075" y="214645"/>
                        <a:pt x="215507" y="217488"/>
                        <a:pt x="211939" y="217488"/>
                      </a:cubicBezTo>
                      <a:cubicBezTo>
                        <a:pt x="211939" y="217488"/>
                        <a:pt x="211939" y="217488"/>
                        <a:pt x="7136" y="217488"/>
                      </a:cubicBezTo>
                      <a:cubicBezTo>
                        <a:pt x="2854" y="217488"/>
                        <a:pt x="0" y="214645"/>
                        <a:pt x="0" y="210381"/>
                      </a:cubicBezTo>
                      <a:cubicBezTo>
                        <a:pt x="0" y="210381"/>
                        <a:pt x="0" y="210381"/>
                        <a:pt x="0" y="7108"/>
                      </a:cubicBezTo>
                      <a:cubicBezTo>
                        <a:pt x="0" y="2843"/>
                        <a:pt x="2854" y="0"/>
                        <a:pt x="7136" y="0"/>
                      </a:cubicBezTo>
                      <a:close/>
                    </a:path>
                  </a:pathLst>
                </a:custGeom>
                <a:solidFill>
                  <a:schemeClr val="tx2"/>
                </a:solidFill>
                <a:ln>
                  <a:noFill/>
                </a:ln>
              </p:spPr>
              <p:txBody>
                <a:bodyPr vert="horz" wrap="square" lIns="91440" tIns="45720" rIns="91440" bIns="45720" numCol="1" anchor="t" anchorCtr="0" compatLnSpc="1">
                  <a:prstTxWarp prst="textNoShape">
                    <a:avLst/>
                  </a:prstTxWarp>
                  <a:noAutofit/>
                </a:bodyPr>
                <a:lstStyle/>
                <a:p>
                  <a:endParaRPr lang="en-US">
                    <a:ea typeface="Microsoft YaHei" panose="020B0503020204020204" pitchFamily="34" charset="-122"/>
                  </a:endParaRPr>
                </a:p>
              </p:txBody>
            </p:sp>
            <p:sp>
              <p:nvSpPr>
                <p:cNvPr id="43" name="Freeform 24">
                  <a:extLst>
                    <a:ext uri="{FF2B5EF4-FFF2-40B4-BE49-F238E27FC236}">
                      <a16:creationId xmlns:a16="http://schemas.microsoft.com/office/drawing/2014/main" id="{3CEAC899-6D65-E7E2-B1EC-1DD7B2C496F6}"/>
                    </a:ext>
                  </a:extLst>
                </p:cNvPr>
                <p:cNvSpPr>
                  <a:spLocks/>
                </p:cNvSpPr>
                <p:nvPr/>
              </p:nvSpPr>
              <p:spPr bwMode="auto">
                <a:xfrm>
                  <a:off x="5519738" y="2911475"/>
                  <a:ext cx="1154113" cy="963613"/>
                </a:xfrm>
                <a:custGeom>
                  <a:avLst/>
                  <a:gdLst>
                    <a:gd name="connsiteX0" fmla="*/ 92866 w 1154113"/>
                    <a:gd name="connsiteY0" fmla="*/ 150813 h 963613"/>
                    <a:gd name="connsiteX1" fmla="*/ 163567 w 1154113"/>
                    <a:gd name="connsiteY1" fmla="*/ 150813 h 963613"/>
                    <a:gd name="connsiteX2" fmla="*/ 163567 w 1154113"/>
                    <a:gd name="connsiteY2" fmla="*/ 211469 h 963613"/>
                    <a:gd name="connsiteX3" fmla="*/ 179278 w 1154113"/>
                    <a:gd name="connsiteY3" fmla="*/ 227168 h 963613"/>
                    <a:gd name="connsiteX4" fmla="*/ 320678 w 1154113"/>
                    <a:gd name="connsiteY4" fmla="*/ 227168 h 963613"/>
                    <a:gd name="connsiteX5" fmla="*/ 336390 w 1154113"/>
                    <a:gd name="connsiteY5" fmla="*/ 211469 h 963613"/>
                    <a:gd name="connsiteX6" fmla="*/ 336390 w 1154113"/>
                    <a:gd name="connsiteY6" fmla="*/ 150813 h 963613"/>
                    <a:gd name="connsiteX7" fmla="*/ 817723 w 1154113"/>
                    <a:gd name="connsiteY7" fmla="*/ 150813 h 963613"/>
                    <a:gd name="connsiteX8" fmla="*/ 817723 w 1154113"/>
                    <a:gd name="connsiteY8" fmla="*/ 211469 h 963613"/>
                    <a:gd name="connsiteX9" fmla="*/ 833434 w 1154113"/>
                    <a:gd name="connsiteY9" fmla="*/ 227168 h 963613"/>
                    <a:gd name="connsiteX10" fmla="*/ 974835 w 1154113"/>
                    <a:gd name="connsiteY10" fmla="*/ 227168 h 963613"/>
                    <a:gd name="connsiteX11" fmla="*/ 990546 w 1154113"/>
                    <a:gd name="connsiteY11" fmla="*/ 211469 h 963613"/>
                    <a:gd name="connsiteX12" fmla="*/ 990546 w 1154113"/>
                    <a:gd name="connsiteY12" fmla="*/ 150813 h 963613"/>
                    <a:gd name="connsiteX13" fmla="*/ 1061247 w 1154113"/>
                    <a:gd name="connsiteY13" fmla="*/ 150813 h 963613"/>
                    <a:gd name="connsiteX14" fmla="*/ 1068388 w 1154113"/>
                    <a:gd name="connsiteY14" fmla="*/ 157949 h 963613"/>
                    <a:gd name="connsiteX15" fmla="*/ 1068388 w 1154113"/>
                    <a:gd name="connsiteY15" fmla="*/ 362752 h 963613"/>
                    <a:gd name="connsiteX16" fmla="*/ 1061247 w 1154113"/>
                    <a:gd name="connsiteY16" fmla="*/ 369888 h 963613"/>
                    <a:gd name="connsiteX17" fmla="*/ 92866 w 1154113"/>
                    <a:gd name="connsiteY17" fmla="*/ 369888 h 963613"/>
                    <a:gd name="connsiteX18" fmla="*/ 85725 w 1154113"/>
                    <a:gd name="connsiteY18" fmla="*/ 362752 h 963613"/>
                    <a:gd name="connsiteX19" fmla="*/ 85725 w 1154113"/>
                    <a:gd name="connsiteY19" fmla="*/ 157949 h 963613"/>
                    <a:gd name="connsiteX20" fmla="*/ 92866 w 1154113"/>
                    <a:gd name="connsiteY20" fmla="*/ 150813 h 963613"/>
                    <a:gd name="connsiteX21" fmla="*/ 336550 w 1154113"/>
                    <a:gd name="connsiteY21" fmla="*/ 71438 h 963613"/>
                    <a:gd name="connsiteX22" fmla="*/ 817563 w 1154113"/>
                    <a:gd name="connsiteY22" fmla="*/ 71438 h 963613"/>
                    <a:gd name="connsiteX23" fmla="*/ 817563 w 1154113"/>
                    <a:gd name="connsiteY23" fmla="*/ 101601 h 963613"/>
                    <a:gd name="connsiteX24" fmla="*/ 336550 w 1154113"/>
                    <a:gd name="connsiteY24" fmla="*/ 101601 h 963613"/>
                    <a:gd name="connsiteX25" fmla="*/ 15712 w 1154113"/>
                    <a:gd name="connsiteY25" fmla="*/ 71438 h 963613"/>
                    <a:gd name="connsiteX26" fmla="*/ 163547 w 1154113"/>
                    <a:gd name="connsiteY26" fmla="*/ 71438 h 963613"/>
                    <a:gd name="connsiteX27" fmla="*/ 163547 w 1154113"/>
                    <a:gd name="connsiteY27" fmla="*/ 102843 h 963613"/>
                    <a:gd name="connsiteX28" fmla="*/ 31424 w 1154113"/>
                    <a:gd name="connsiteY28" fmla="*/ 102843 h 963613"/>
                    <a:gd name="connsiteX29" fmla="*/ 31424 w 1154113"/>
                    <a:gd name="connsiteY29" fmla="*/ 932209 h 963613"/>
                    <a:gd name="connsiteX30" fmla="*/ 1122689 w 1154113"/>
                    <a:gd name="connsiteY30" fmla="*/ 932209 h 963613"/>
                    <a:gd name="connsiteX31" fmla="*/ 1122689 w 1154113"/>
                    <a:gd name="connsiteY31" fmla="*/ 102843 h 963613"/>
                    <a:gd name="connsiteX32" fmla="*/ 990566 w 1154113"/>
                    <a:gd name="connsiteY32" fmla="*/ 102843 h 963613"/>
                    <a:gd name="connsiteX33" fmla="*/ 990566 w 1154113"/>
                    <a:gd name="connsiteY33" fmla="*/ 71438 h 963613"/>
                    <a:gd name="connsiteX34" fmla="*/ 1138401 w 1154113"/>
                    <a:gd name="connsiteY34" fmla="*/ 71438 h 963613"/>
                    <a:gd name="connsiteX35" fmla="*/ 1154113 w 1154113"/>
                    <a:gd name="connsiteY35" fmla="*/ 87140 h 963613"/>
                    <a:gd name="connsiteX36" fmla="*/ 1154113 w 1154113"/>
                    <a:gd name="connsiteY36" fmla="*/ 947911 h 963613"/>
                    <a:gd name="connsiteX37" fmla="*/ 1138401 w 1154113"/>
                    <a:gd name="connsiteY37" fmla="*/ 963613 h 963613"/>
                    <a:gd name="connsiteX38" fmla="*/ 15712 w 1154113"/>
                    <a:gd name="connsiteY38" fmla="*/ 963613 h 963613"/>
                    <a:gd name="connsiteX39" fmla="*/ 0 w 1154113"/>
                    <a:gd name="connsiteY39" fmla="*/ 947911 h 963613"/>
                    <a:gd name="connsiteX40" fmla="*/ 0 w 1154113"/>
                    <a:gd name="connsiteY40" fmla="*/ 87140 h 963613"/>
                    <a:gd name="connsiteX41" fmla="*/ 15712 w 1154113"/>
                    <a:gd name="connsiteY41" fmla="*/ 71438 h 963613"/>
                    <a:gd name="connsiteX42" fmla="*/ 856425 w 1154113"/>
                    <a:gd name="connsiteY42" fmla="*/ 0 h 963613"/>
                    <a:gd name="connsiteX43" fmla="*/ 951737 w 1154113"/>
                    <a:gd name="connsiteY43" fmla="*/ 0 h 963613"/>
                    <a:gd name="connsiteX44" fmla="*/ 958850 w 1154113"/>
                    <a:gd name="connsiteY44" fmla="*/ 7153 h 963613"/>
                    <a:gd name="connsiteX45" fmla="*/ 958850 w 1154113"/>
                    <a:gd name="connsiteY45" fmla="*/ 70095 h 963613"/>
                    <a:gd name="connsiteX46" fmla="*/ 958850 w 1154113"/>
                    <a:gd name="connsiteY46" fmla="*/ 101565 h 963613"/>
                    <a:gd name="connsiteX47" fmla="*/ 958850 w 1154113"/>
                    <a:gd name="connsiteY47" fmla="*/ 150202 h 963613"/>
                    <a:gd name="connsiteX48" fmla="*/ 958850 w 1154113"/>
                    <a:gd name="connsiteY48" fmla="*/ 188111 h 963613"/>
                    <a:gd name="connsiteX49" fmla="*/ 951737 w 1154113"/>
                    <a:gd name="connsiteY49" fmla="*/ 195263 h 963613"/>
                    <a:gd name="connsiteX50" fmla="*/ 856425 w 1154113"/>
                    <a:gd name="connsiteY50" fmla="*/ 195263 h 963613"/>
                    <a:gd name="connsiteX51" fmla="*/ 849312 w 1154113"/>
                    <a:gd name="connsiteY51" fmla="*/ 188111 h 963613"/>
                    <a:gd name="connsiteX52" fmla="*/ 849312 w 1154113"/>
                    <a:gd name="connsiteY52" fmla="*/ 150202 h 963613"/>
                    <a:gd name="connsiteX53" fmla="*/ 849312 w 1154113"/>
                    <a:gd name="connsiteY53" fmla="*/ 101565 h 963613"/>
                    <a:gd name="connsiteX54" fmla="*/ 849312 w 1154113"/>
                    <a:gd name="connsiteY54" fmla="*/ 70095 h 963613"/>
                    <a:gd name="connsiteX55" fmla="*/ 849312 w 1154113"/>
                    <a:gd name="connsiteY55" fmla="*/ 7153 h 963613"/>
                    <a:gd name="connsiteX56" fmla="*/ 856425 w 1154113"/>
                    <a:gd name="connsiteY56" fmla="*/ 0 h 963613"/>
                    <a:gd name="connsiteX57" fmla="*/ 202375 w 1154113"/>
                    <a:gd name="connsiteY57" fmla="*/ 0 h 963613"/>
                    <a:gd name="connsiteX58" fmla="*/ 297687 w 1154113"/>
                    <a:gd name="connsiteY58" fmla="*/ 0 h 963613"/>
                    <a:gd name="connsiteX59" fmla="*/ 304800 w 1154113"/>
                    <a:gd name="connsiteY59" fmla="*/ 7153 h 963613"/>
                    <a:gd name="connsiteX60" fmla="*/ 304800 w 1154113"/>
                    <a:gd name="connsiteY60" fmla="*/ 70095 h 963613"/>
                    <a:gd name="connsiteX61" fmla="*/ 304800 w 1154113"/>
                    <a:gd name="connsiteY61" fmla="*/ 101565 h 963613"/>
                    <a:gd name="connsiteX62" fmla="*/ 304800 w 1154113"/>
                    <a:gd name="connsiteY62" fmla="*/ 150202 h 963613"/>
                    <a:gd name="connsiteX63" fmla="*/ 304800 w 1154113"/>
                    <a:gd name="connsiteY63" fmla="*/ 188111 h 963613"/>
                    <a:gd name="connsiteX64" fmla="*/ 297687 w 1154113"/>
                    <a:gd name="connsiteY64" fmla="*/ 195263 h 963613"/>
                    <a:gd name="connsiteX65" fmla="*/ 202375 w 1154113"/>
                    <a:gd name="connsiteY65" fmla="*/ 195263 h 963613"/>
                    <a:gd name="connsiteX66" fmla="*/ 195262 w 1154113"/>
                    <a:gd name="connsiteY66" fmla="*/ 188111 h 963613"/>
                    <a:gd name="connsiteX67" fmla="*/ 195262 w 1154113"/>
                    <a:gd name="connsiteY67" fmla="*/ 150202 h 963613"/>
                    <a:gd name="connsiteX68" fmla="*/ 195262 w 1154113"/>
                    <a:gd name="connsiteY68" fmla="*/ 101565 h 963613"/>
                    <a:gd name="connsiteX69" fmla="*/ 195262 w 1154113"/>
                    <a:gd name="connsiteY69" fmla="*/ 70095 h 963613"/>
                    <a:gd name="connsiteX70" fmla="*/ 195262 w 1154113"/>
                    <a:gd name="connsiteY70" fmla="*/ 7153 h 963613"/>
                    <a:gd name="connsiteX71" fmla="*/ 202375 w 1154113"/>
                    <a:gd name="connsiteY71" fmla="*/ 0 h 963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154113" h="963613">
                      <a:moveTo>
                        <a:pt x="92866" y="150813"/>
                      </a:moveTo>
                      <a:cubicBezTo>
                        <a:pt x="92866" y="150813"/>
                        <a:pt x="92866" y="150813"/>
                        <a:pt x="163567" y="150813"/>
                      </a:cubicBezTo>
                      <a:lnTo>
                        <a:pt x="163567" y="211469"/>
                      </a:lnTo>
                      <a:cubicBezTo>
                        <a:pt x="163567" y="220032"/>
                        <a:pt x="170708" y="227168"/>
                        <a:pt x="179278" y="227168"/>
                      </a:cubicBezTo>
                      <a:cubicBezTo>
                        <a:pt x="179278" y="227168"/>
                        <a:pt x="179278" y="227168"/>
                        <a:pt x="320678" y="227168"/>
                      </a:cubicBezTo>
                      <a:cubicBezTo>
                        <a:pt x="329248" y="227168"/>
                        <a:pt x="336390" y="220032"/>
                        <a:pt x="336390" y="211469"/>
                      </a:cubicBezTo>
                      <a:cubicBezTo>
                        <a:pt x="336390" y="211469"/>
                        <a:pt x="336390" y="211469"/>
                        <a:pt x="336390" y="150813"/>
                      </a:cubicBezTo>
                      <a:cubicBezTo>
                        <a:pt x="336390" y="150813"/>
                        <a:pt x="336390" y="150813"/>
                        <a:pt x="817723" y="150813"/>
                      </a:cubicBezTo>
                      <a:cubicBezTo>
                        <a:pt x="817723" y="150813"/>
                        <a:pt x="817723" y="150813"/>
                        <a:pt x="817723" y="211469"/>
                      </a:cubicBezTo>
                      <a:cubicBezTo>
                        <a:pt x="817723" y="220032"/>
                        <a:pt x="824864" y="227168"/>
                        <a:pt x="833434" y="227168"/>
                      </a:cubicBezTo>
                      <a:cubicBezTo>
                        <a:pt x="833434" y="227168"/>
                        <a:pt x="833434" y="227168"/>
                        <a:pt x="974835" y="227168"/>
                      </a:cubicBezTo>
                      <a:cubicBezTo>
                        <a:pt x="983405" y="227168"/>
                        <a:pt x="990546" y="220032"/>
                        <a:pt x="990546" y="211469"/>
                      </a:cubicBezTo>
                      <a:cubicBezTo>
                        <a:pt x="990546" y="211469"/>
                        <a:pt x="990546" y="211469"/>
                        <a:pt x="990546" y="150813"/>
                      </a:cubicBezTo>
                      <a:cubicBezTo>
                        <a:pt x="990546" y="150813"/>
                        <a:pt x="990546" y="150813"/>
                        <a:pt x="1061247" y="150813"/>
                      </a:cubicBezTo>
                      <a:cubicBezTo>
                        <a:pt x="1065532" y="150813"/>
                        <a:pt x="1068388" y="154381"/>
                        <a:pt x="1068388" y="157949"/>
                      </a:cubicBezTo>
                      <a:cubicBezTo>
                        <a:pt x="1068388" y="157949"/>
                        <a:pt x="1068388" y="157949"/>
                        <a:pt x="1068388" y="362752"/>
                      </a:cubicBezTo>
                      <a:cubicBezTo>
                        <a:pt x="1068388" y="367034"/>
                        <a:pt x="1065532" y="369888"/>
                        <a:pt x="1061247" y="369888"/>
                      </a:cubicBezTo>
                      <a:cubicBezTo>
                        <a:pt x="1061247" y="369888"/>
                        <a:pt x="1061247" y="369888"/>
                        <a:pt x="92866" y="369888"/>
                      </a:cubicBezTo>
                      <a:cubicBezTo>
                        <a:pt x="88581" y="369888"/>
                        <a:pt x="85725" y="367034"/>
                        <a:pt x="85725" y="362752"/>
                      </a:cubicBezTo>
                      <a:cubicBezTo>
                        <a:pt x="85725" y="362752"/>
                        <a:pt x="85725" y="362752"/>
                        <a:pt x="85725" y="157949"/>
                      </a:cubicBezTo>
                      <a:cubicBezTo>
                        <a:pt x="85725" y="154381"/>
                        <a:pt x="88581" y="150813"/>
                        <a:pt x="92866" y="150813"/>
                      </a:cubicBezTo>
                      <a:close/>
                      <a:moveTo>
                        <a:pt x="336550" y="71438"/>
                      </a:moveTo>
                      <a:lnTo>
                        <a:pt x="817563" y="71438"/>
                      </a:lnTo>
                      <a:lnTo>
                        <a:pt x="817563" y="101601"/>
                      </a:lnTo>
                      <a:lnTo>
                        <a:pt x="336550" y="101601"/>
                      </a:lnTo>
                      <a:close/>
                      <a:moveTo>
                        <a:pt x="15712" y="71438"/>
                      </a:moveTo>
                      <a:cubicBezTo>
                        <a:pt x="15712" y="71438"/>
                        <a:pt x="15712" y="71438"/>
                        <a:pt x="163547" y="71438"/>
                      </a:cubicBezTo>
                      <a:cubicBezTo>
                        <a:pt x="163547" y="71438"/>
                        <a:pt x="163547" y="71438"/>
                        <a:pt x="163547" y="102843"/>
                      </a:cubicBezTo>
                      <a:cubicBezTo>
                        <a:pt x="163547" y="102843"/>
                        <a:pt x="163547" y="102843"/>
                        <a:pt x="31424" y="102843"/>
                      </a:cubicBezTo>
                      <a:cubicBezTo>
                        <a:pt x="31424" y="102843"/>
                        <a:pt x="31424" y="102843"/>
                        <a:pt x="31424" y="932209"/>
                      </a:cubicBezTo>
                      <a:cubicBezTo>
                        <a:pt x="31424" y="932209"/>
                        <a:pt x="31424" y="932209"/>
                        <a:pt x="1122689" y="932209"/>
                      </a:cubicBezTo>
                      <a:cubicBezTo>
                        <a:pt x="1122689" y="932209"/>
                        <a:pt x="1122689" y="932209"/>
                        <a:pt x="1122689" y="102843"/>
                      </a:cubicBezTo>
                      <a:cubicBezTo>
                        <a:pt x="1122689" y="102843"/>
                        <a:pt x="1122689" y="102843"/>
                        <a:pt x="990566" y="102843"/>
                      </a:cubicBezTo>
                      <a:cubicBezTo>
                        <a:pt x="990566" y="102843"/>
                        <a:pt x="990566" y="102843"/>
                        <a:pt x="990566" y="71438"/>
                      </a:cubicBezTo>
                      <a:cubicBezTo>
                        <a:pt x="990566" y="71438"/>
                        <a:pt x="990566" y="71438"/>
                        <a:pt x="1138401" y="71438"/>
                      </a:cubicBezTo>
                      <a:cubicBezTo>
                        <a:pt x="1146971" y="71438"/>
                        <a:pt x="1154113" y="78576"/>
                        <a:pt x="1154113" y="87140"/>
                      </a:cubicBezTo>
                      <a:cubicBezTo>
                        <a:pt x="1154113" y="87140"/>
                        <a:pt x="1154113" y="87140"/>
                        <a:pt x="1154113" y="947911"/>
                      </a:cubicBezTo>
                      <a:cubicBezTo>
                        <a:pt x="1154113" y="956476"/>
                        <a:pt x="1146971" y="963613"/>
                        <a:pt x="1138401" y="963613"/>
                      </a:cubicBezTo>
                      <a:cubicBezTo>
                        <a:pt x="1138401" y="963613"/>
                        <a:pt x="1138401" y="963613"/>
                        <a:pt x="15712" y="963613"/>
                      </a:cubicBezTo>
                      <a:cubicBezTo>
                        <a:pt x="7142" y="963613"/>
                        <a:pt x="0" y="956476"/>
                        <a:pt x="0" y="947911"/>
                      </a:cubicBezTo>
                      <a:cubicBezTo>
                        <a:pt x="0" y="947911"/>
                        <a:pt x="0" y="947911"/>
                        <a:pt x="0" y="87140"/>
                      </a:cubicBezTo>
                      <a:cubicBezTo>
                        <a:pt x="0" y="78576"/>
                        <a:pt x="7142" y="71438"/>
                        <a:pt x="15712" y="71438"/>
                      </a:cubicBezTo>
                      <a:close/>
                      <a:moveTo>
                        <a:pt x="856425" y="0"/>
                      </a:moveTo>
                      <a:cubicBezTo>
                        <a:pt x="856425" y="0"/>
                        <a:pt x="856425" y="0"/>
                        <a:pt x="951737" y="0"/>
                      </a:cubicBezTo>
                      <a:cubicBezTo>
                        <a:pt x="955294" y="0"/>
                        <a:pt x="958850" y="3576"/>
                        <a:pt x="958850" y="7153"/>
                      </a:cubicBezTo>
                      <a:cubicBezTo>
                        <a:pt x="958850" y="7153"/>
                        <a:pt x="958850" y="7153"/>
                        <a:pt x="958850" y="70095"/>
                      </a:cubicBezTo>
                      <a:cubicBezTo>
                        <a:pt x="958850" y="70095"/>
                        <a:pt x="958850" y="70095"/>
                        <a:pt x="958850" y="101565"/>
                      </a:cubicBezTo>
                      <a:cubicBezTo>
                        <a:pt x="958850" y="101565"/>
                        <a:pt x="958850" y="101565"/>
                        <a:pt x="958850" y="150202"/>
                      </a:cubicBezTo>
                      <a:cubicBezTo>
                        <a:pt x="958850" y="150202"/>
                        <a:pt x="958850" y="150202"/>
                        <a:pt x="958850" y="188111"/>
                      </a:cubicBezTo>
                      <a:cubicBezTo>
                        <a:pt x="958850" y="192402"/>
                        <a:pt x="955294" y="195263"/>
                        <a:pt x="951737" y="195263"/>
                      </a:cubicBezTo>
                      <a:cubicBezTo>
                        <a:pt x="951737" y="195263"/>
                        <a:pt x="951737" y="195263"/>
                        <a:pt x="856425" y="195263"/>
                      </a:cubicBezTo>
                      <a:cubicBezTo>
                        <a:pt x="852869" y="195263"/>
                        <a:pt x="849312" y="192402"/>
                        <a:pt x="849312" y="188111"/>
                      </a:cubicBezTo>
                      <a:cubicBezTo>
                        <a:pt x="849312" y="188111"/>
                        <a:pt x="849312" y="188111"/>
                        <a:pt x="849312" y="150202"/>
                      </a:cubicBezTo>
                      <a:cubicBezTo>
                        <a:pt x="849312" y="150202"/>
                        <a:pt x="849312" y="150202"/>
                        <a:pt x="849312" y="101565"/>
                      </a:cubicBezTo>
                      <a:cubicBezTo>
                        <a:pt x="849312" y="101565"/>
                        <a:pt x="849312" y="101565"/>
                        <a:pt x="849312" y="70095"/>
                      </a:cubicBezTo>
                      <a:cubicBezTo>
                        <a:pt x="849312" y="70095"/>
                        <a:pt x="849312" y="70095"/>
                        <a:pt x="849312" y="7153"/>
                      </a:cubicBezTo>
                      <a:cubicBezTo>
                        <a:pt x="849312" y="3576"/>
                        <a:pt x="852869" y="0"/>
                        <a:pt x="856425" y="0"/>
                      </a:cubicBezTo>
                      <a:close/>
                      <a:moveTo>
                        <a:pt x="202375" y="0"/>
                      </a:moveTo>
                      <a:cubicBezTo>
                        <a:pt x="202375" y="0"/>
                        <a:pt x="202375" y="0"/>
                        <a:pt x="297687" y="0"/>
                      </a:cubicBezTo>
                      <a:cubicBezTo>
                        <a:pt x="301243" y="0"/>
                        <a:pt x="304800" y="3576"/>
                        <a:pt x="304800" y="7153"/>
                      </a:cubicBezTo>
                      <a:cubicBezTo>
                        <a:pt x="304800" y="7153"/>
                        <a:pt x="304800" y="7153"/>
                        <a:pt x="304800" y="70095"/>
                      </a:cubicBezTo>
                      <a:cubicBezTo>
                        <a:pt x="304800" y="70095"/>
                        <a:pt x="304800" y="70095"/>
                        <a:pt x="304800" y="101565"/>
                      </a:cubicBezTo>
                      <a:cubicBezTo>
                        <a:pt x="304800" y="101565"/>
                        <a:pt x="304800" y="101565"/>
                        <a:pt x="304800" y="150202"/>
                      </a:cubicBezTo>
                      <a:cubicBezTo>
                        <a:pt x="304800" y="150202"/>
                        <a:pt x="304800" y="150202"/>
                        <a:pt x="304800" y="188111"/>
                      </a:cubicBezTo>
                      <a:cubicBezTo>
                        <a:pt x="304800" y="192402"/>
                        <a:pt x="301243" y="195263"/>
                        <a:pt x="297687" y="195263"/>
                      </a:cubicBezTo>
                      <a:cubicBezTo>
                        <a:pt x="297687" y="195263"/>
                        <a:pt x="297687" y="195263"/>
                        <a:pt x="202375" y="195263"/>
                      </a:cubicBezTo>
                      <a:cubicBezTo>
                        <a:pt x="198818" y="195263"/>
                        <a:pt x="195262" y="192402"/>
                        <a:pt x="195262" y="188111"/>
                      </a:cubicBezTo>
                      <a:cubicBezTo>
                        <a:pt x="195262" y="188111"/>
                        <a:pt x="195262" y="188111"/>
                        <a:pt x="195262" y="150202"/>
                      </a:cubicBezTo>
                      <a:cubicBezTo>
                        <a:pt x="195262" y="150202"/>
                        <a:pt x="195262" y="150202"/>
                        <a:pt x="195262" y="101565"/>
                      </a:cubicBezTo>
                      <a:cubicBezTo>
                        <a:pt x="195262" y="101565"/>
                        <a:pt x="195262" y="101565"/>
                        <a:pt x="195262" y="70095"/>
                      </a:cubicBezTo>
                      <a:cubicBezTo>
                        <a:pt x="195262" y="70095"/>
                        <a:pt x="195262" y="70095"/>
                        <a:pt x="195262" y="7153"/>
                      </a:cubicBezTo>
                      <a:cubicBezTo>
                        <a:pt x="195262" y="3576"/>
                        <a:pt x="198818" y="0"/>
                        <a:pt x="202375"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ea typeface="Microsoft YaHei" panose="020B0503020204020204" pitchFamily="34" charset="-122"/>
                  </a:endParaRPr>
                </a:p>
              </p:txBody>
            </p:sp>
          </p:grpSp>
        </p:grpSp>
      </p:grpSp>
      <p:grpSp>
        <p:nvGrpSpPr>
          <p:cNvPr id="56" name="Group 55">
            <a:extLst>
              <a:ext uri="{FF2B5EF4-FFF2-40B4-BE49-F238E27FC236}">
                <a16:creationId xmlns:a16="http://schemas.microsoft.com/office/drawing/2014/main" id="{21869B4B-64CA-E0B2-C726-A2D450B972E0}"/>
              </a:ext>
            </a:extLst>
          </p:cNvPr>
          <p:cNvGrpSpPr/>
          <p:nvPr/>
        </p:nvGrpSpPr>
        <p:grpSpPr>
          <a:xfrm>
            <a:off x="8951246" y="1513483"/>
            <a:ext cx="472154" cy="472592"/>
            <a:chOff x="-1570704" y="2670234"/>
            <a:chExt cx="731708" cy="732387"/>
          </a:xfrm>
          <a:effectLst>
            <a:outerShdw blurRad="50800" dist="38100" dir="2700000" algn="tl" rotWithShape="0">
              <a:prstClr val="black">
                <a:alpha val="40000"/>
              </a:prstClr>
            </a:outerShdw>
          </a:effectLst>
        </p:grpSpPr>
        <p:sp>
          <p:nvSpPr>
            <p:cNvPr id="54" name="Oval 53">
              <a:extLst>
                <a:ext uri="{FF2B5EF4-FFF2-40B4-BE49-F238E27FC236}">
                  <a16:creationId xmlns:a16="http://schemas.microsoft.com/office/drawing/2014/main" id="{78290377-C0C1-15BB-6B9F-00DA5A8241E4}"/>
                </a:ext>
              </a:extLst>
            </p:cNvPr>
            <p:cNvSpPr/>
            <p:nvPr>
              <p:custDataLst>
                <p:tags r:id="rId3"/>
              </p:custDataLst>
            </p:nvPr>
          </p:nvSpPr>
          <p:spPr>
            <a:xfrm>
              <a:off x="-1570704" y="2670234"/>
              <a:ext cx="731708" cy="732387"/>
            </a:xfrm>
            <a:prstGeom prst="ellipse">
              <a:avLst/>
            </a:prstGeom>
            <a:solidFill>
              <a:srgbClr val="FFFFFF"/>
            </a:solidFill>
            <a:ln w="19050">
              <a:gradFill flip="none" rotWithShape="1">
                <a:gsLst>
                  <a:gs pos="0">
                    <a:schemeClr val="accent1"/>
                  </a:gs>
                  <a:gs pos="100000">
                    <a:schemeClr val="accent4"/>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a:solidFill>
                  <a:schemeClr val="bg1">
                    <a:lumMod val="50000"/>
                  </a:schemeClr>
                </a:solidFill>
                <a:ea typeface="Microsoft YaHei" panose="020B0503020204020204" pitchFamily="34" charset="-122"/>
              </a:endParaRPr>
            </a:p>
          </p:txBody>
        </p:sp>
        <p:grpSp>
          <p:nvGrpSpPr>
            <p:cNvPr id="44" name="bcgIcons_Luxury ">
              <a:extLst>
                <a:ext uri="{FF2B5EF4-FFF2-40B4-BE49-F238E27FC236}">
                  <a16:creationId xmlns:a16="http://schemas.microsoft.com/office/drawing/2014/main" id="{2B551788-B698-C300-6DE3-BE6ACFE62A4C}"/>
                </a:ext>
              </a:extLst>
            </p:cNvPr>
            <p:cNvGrpSpPr>
              <a:grpSpLocks noChangeAspect="1"/>
            </p:cNvGrpSpPr>
            <p:nvPr/>
          </p:nvGrpSpPr>
          <p:grpSpPr bwMode="auto">
            <a:xfrm>
              <a:off x="-1463548" y="2777490"/>
              <a:ext cx="517396" cy="517876"/>
              <a:chOff x="1682" y="0"/>
              <a:chExt cx="4316" cy="4320"/>
            </a:xfrm>
          </p:grpSpPr>
          <p:sp>
            <p:nvSpPr>
              <p:cNvPr id="47" name="AutoShape 3">
                <a:extLst>
                  <a:ext uri="{FF2B5EF4-FFF2-40B4-BE49-F238E27FC236}">
                    <a16:creationId xmlns:a16="http://schemas.microsoft.com/office/drawing/2014/main" id="{60E3ECAB-1AA9-9A77-C7DA-CB56A0A0F9D0}"/>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5">
                <a:extLst>
                  <a:ext uri="{FF2B5EF4-FFF2-40B4-BE49-F238E27FC236}">
                    <a16:creationId xmlns:a16="http://schemas.microsoft.com/office/drawing/2014/main" id="{F3B939E9-1561-23FA-6143-21318D88004B}"/>
                  </a:ext>
                </a:extLst>
              </p:cNvPr>
              <p:cNvSpPr>
                <a:spLocks noEditPoints="1"/>
              </p:cNvSpPr>
              <p:nvPr/>
            </p:nvSpPr>
            <p:spPr bwMode="auto">
              <a:xfrm>
                <a:off x="2141" y="536"/>
                <a:ext cx="3398" cy="2916"/>
              </a:xfrm>
              <a:custGeom>
                <a:avLst/>
                <a:gdLst>
                  <a:gd name="T0" fmla="*/ 182 w 1814"/>
                  <a:gd name="T1" fmla="*/ 929 h 1555"/>
                  <a:gd name="T2" fmla="*/ 22 w 1814"/>
                  <a:gd name="T3" fmla="*/ 929 h 1555"/>
                  <a:gd name="T4" fmla="*/ 0 w 1814"/>
                  <a:gd name="T5" fmla="*/ 907 h 1555"/>
                  <a:gd name="T6" fmla="*/ 22 w 1814"/>
                  <a:gd name="T7" fmla="*/ 885 h 1555"/>
                  <a:gd name="T8" fmla="*/ 182 w 1814"/>
                  <a:gd name="T9" fmla="*/ 885 h 1555"/>
                  <a:gd name="T10" fmla="*/ 204 w 1814"/>
                  <a:gd name="T11" fmla="*/ 907 h 1555"/>
                  <a:gd name="T12" fmla="*/ 182 w 1814"/>
                  <a:gd name="T13" fmla="*/ 929 h 1555"/>
                  <a:gd name="T14" fmla="*/ 1814 w 1814"/>
                  <a:gd name="T15" fmla="*/ 907 h 1555"/>
                  <a:gd name="T16" fmla="*/ 1792 w 1814"/>
                  <a:gd name="T17" fmla="*/ 885 h 1555"/>
                  <a:gd name="T18" fmla="*/ 1632 w 1814"/>
                  <a:gd name="T19" fmla="*/ 885 h 1555"/>
                  <a:gd name="T20" fmla="*/ 1610 w 1814"/>
                  <a:gd name="T21" fmla="*/ 907 h 1555"/>
                  <a:gd name="T22" fmla="*/ 1632 w 1814"/>
                  <a:gd name="T23" fmla="*/ 929 h 1555"/>
                  <a:gd name="T24" fmla="*/ 1792 w 1814"/>
                  <a:gd name="T25" fmla="*/ 929 h 1555"/>
                  <a:gd name="T26" fmla="*/ 1814 w 1814"/>
                  <a:gd name="T27" fmla="*/ 907 h 1555"/>
                  <a:gd name="T28" fmla="*/ 297 w 1814"/>
                  <a:gd name="T29" fmla="*/ 1548 h 1555"/>
                  <a:gd name="T30" fmla="*/ 410 w 1814"/>
                  <a:gd name="T31" fmla="*/ 1435 h 1555"/>
                  <a:gd name="T32" fmla="*/ 410 w 1814"/>
                  <a:gd name="T33" fmla="*/ 1404 h 1555"/>
                  <a:gd name="T34" fmla="*/ 379 w 1814"/>
                  <a:gd name="T35" fmla="*/ 1404 h 1555"/>
                  <a:gd name="T36" fmla="*/ 266 w 1814"/>
                  <a:gd name="T37" fmla="*/ 1517 h 1555"/>
                  <a:gd name="T38" fmla="*/ 266 w 1814"/>
                  <a:gd name="T39" fmla="*/ 1548 h 1555"/>
                  <a:gd name="T40" fmla="*/ 281 w 1814"/>
                  <a:gd name="T41" fmla="*/ 1555 h 1555"/>
                  <a:gd name="T42" fmla="*/ 297 w 1814"/>
                  <a:gd name="T43" fmla="*/ 1548 h 1555"/>
                  <a:gd name="T44" fmla="*/ 1435 w 1814"/>
                  <a:gd name="T45" fmla="*/ 410 h 1555"/>
                  <a:gd name="T46" fmla="*/ 1548 w 1814"/>
                  <a:gd name="T47" fmla="*/ 297 h 1555"/>
                  <a:gd name="T48" fmla="*/ 1548 w 1814"/>
                  <a:gd name="T49" fmla="*/ 266 h 1555"/>
                  <a:gd name="T50" fmla="*/ 1517 w 1814"/>
                  <a:gd name="T51" fmla="*/ 266 h 1555"/>
                  <a:gd name="T52" fmla="*/ 1404 w 1814"/>
                  <a:gd name="T53" fmla="*/ 379 h 1555"/>
                  <a:gd name="T54" fmla="*/ 1404 w 1814"/>
                  <a:gd name="T55" fmla="*/ 410 h 1555"/>
                  <a:gd name="T56" fmla="*/ 1419 w 1814"/>
                  <a:gd name="T57" fmla="*/ 417 h 1555"/>
                  <a:gd name="T58" fmla="*/ 1435 w 1814"/>
                  <a:gd name="T59" fmla="*/ 410 h 1555"/>
                  <a:gd name="T60" fmla="*/ 929 w 1814"/>
                  <a:gd name="T61" fmla="*/ 182 h 1555"/>
                  <a:gd name="T62" fmla="*/ 929 w 1814"/>
                  <a:gd name="T63" fmla="*/ 22 h 1555"/>
                  <a:gd name="T64" fmla="*/ 907 w 1814"/>
                  <a:gd name="T65" fmla="*/ 0 h 1555"/>
                  <a:gd name="T66" fmla="*/ 885 w 1814"/>
                  <a:gd name="T67" fmla="*/ 22 h 1555"/>
                  <a:gd name="T68" fmla="*/ 885 w 1814"/>
                  <a:gd name="T69" fmla="*/ 182 h 1555"/>
                  <a:gd name="T70" fmla="*/ 907 w 1814"/>
                  <a:gd name="T71" fmla="*/ 204 h 1555"/>
                  <a:gd name="T72" fmla="*/ 929 w 1814"/>
                  <a:gd name="T73" fmla="*/ 182 h 1555"/>
                  <a:gd name="T74" fmla="*/ 1548 w 1814"/>
                  <a:gd name="T75" fmla="*/ 1548 h 1555"/>
                  <a:gd name="T76" fmla="*/ 1548 w 1814"/>
                  <a:gd name="T77" fmla="*/ 1517 h 1555"/>
                  <a:gd name="T78" fmla="*/ 1435 w 1814"/>
                  <a:gd name="T79" fmla="*/ 1404 h 1555"/>
                  <a:gd name="T80" fmla="*/ 1404 w 1814"/>
                  <a:gd name="T81" fmla="*/ 1404 h 1555"/>
                  <a:gd name="T82" fmla="*/ 1404 w 1814"/>
                  <a:gd name="T83" fmla="*/ 1435 h 1555"/>
                  <a:gd name="T84" fmla="*/ 1517 w 1814"/>
                  <a:gd name="T85" fmla="*/ 1548 h 1555"/>
                  <a:gd name="T86" fmla="*/ 1533 w 1814"/>
                  <a:gd name="T87" fmla="*/ 1555 h 1555"/>
                  <a:gd name="T88" fmla="*/ 1548 w 1814"/>
                  <a:gd name="T89" fmla="*/ 1548 h 1555"/>
                  <a:gd name="T90" fmla="*/ 410 w 1814"/>
                  <a:gd name="T91" fmla="*/ 410 h 1555"/>
                  <a:gd name="T92" fmla="*/ 410 w 1814"/>
                  <a:gd name="T93" fmla="*/ 379 h 1555"/>
                  <a:gd name="T94" fmla="*/ 297 w 1814"/>
                  <a:gd name="T95" fmla="*/ 266 h 1555"/>
                  <a:gd name="T96" fmla="*/ 266 w 1814"/>
                  <a:gd name="T97" fmla="*/ 266 h 1555"/>
                  <a:gd name="T98" fmla="*/ 266 w 1814"/>
                  <a:gd name="T99" fmla="*/ 297 h 1555"/>
                  <a:gd name="T100" fmla="*/ 379 w 1814"/>
                  <a:gd name="T101" fmla="*/ 410 h 1555"/>
                  <a:gd name="T102" fmla="*/ 395 w 1814"/>
                  <a:gd name="T103" fmla="*/ 417 h 1555"/>
                  <a:gd name="T104" fmla="*/ 410 w 1814"/>
                  <a:gd name="T105" fmla="*/ 410 h 1555"/>
                  <a:gd name="T106" fmla="*/ 1019 w 1814"/>
                  <a:gd name="T107" fmla="*/ 847 h 1555"/>
                  <a:gd name="T108" fmla="*/ 1137 w 1814"/>
                  <a:gd name="T109" fmla="*/ 730 h 1555"/>
                  <a:gd name="T110" fmla="*/ 1019 w 1814"/>
                  <a:gd name="T111" fmla="*/ 612 h 1555"/>
                  <a:gd name="T112" fmla="*/ 901 w 1814"/>
                  <a:gd name="T113" fmla="*/ 730 h 1555"/>
                  <a:gd name="T114" fmla="*/ 1019 w 1814"/>
                  <a:gd name="T115" fmla="*/ 847 h 1555"/>
                  <a:gd name="T116" fmla="*/ 766 w 1814"/>
                  <a:gd name="T117" fmla="*/ 1252 h 1555"/>
                  <a:gd name="T118" fmla="*/ 884 w 1814"/>
                  <a:gd name="T119" fmla="*/ 1135 h 1555"/>
                  <a:gd name="T120" fmla="*/ 766 w 1814"/>
                  <a:gd name="T121" fmla="*/ 1017 h 1555"/>
                  <a:gd name="T122" fmla="*/ 649 w 1814"/>
                  <a:gd name="T123" fmla="*/ 1135 h 1555"/>
                  <a:gd name="T124" fmla="*/ 766 w 1814"/>
                  <a:gd name="T125" fmla="*/ 1252 h 1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14" h="1555">
                    <a:moveTo>
                      <a:pt x="182" y="929"/>
                    </a:moveTo>
                    <a:cubicBezTo>
                      <a:pt x="22" y="929"/>
                      <a:pt x="22" y="929"/>
                      <a:pt x="22" y="929"/>
                    </a:cubicBezTo>
                    <a:cubicBezTo>
                      <a:pt x="10" y="929"/>
                      <a:pt x="0" y="919"/>
                      <a:pt x="0" y="907"/>
                    </a:cubicBezTo>
                    <a:cubicBezTo>
                      <a:pt x="0" y="895"/>
                      <a:pt x="10" y="885"/>
                      <a:pt x="22" y="885"/>
                    </a:cubicBezTo>
                    <a:cubicBezTo>
                      <a:pt x="182" y="885"/>
                      <a:pt x="182" y="885"/>
                      <a:pt x="182" y="885"/>
                    </a:cubicBezTo>
                    <a:cubicBezTo>
                      <a:pt x="194" y="885"/>
                      <a:pt x="204" y="895"/>
                      <a:pt x="204" y="907"/>
                    </a:cubicBezTo>
                    <a:cubicBezTo>
                      <a:pt x="204" y="919"/>
                      <a:pt x="194" y="929"/>
                      <a:pt x="182" y="929"/>
                    </a:cubicBezTo>
                    <a:close/>
                    <a:moveTo>
                      <a:pt x="1814" y="907"/>
                    </a:moveTo>
                    <a:cubicBezTo>
                      <a:pt x="1814" y="895"/>
                      <a:pt x="1804" y="885"/>
                      <a:pt x="1792" y="885"/>
                    </a:cubicBezTo>
                    <a:cubicBezTo>
                      <a:pt x="1632" y="885"/>
                      <a:pt x="1632" y="885"/>
                      <a:pt x="1632" y="885"/>
                    </a:cubicBezTo>
                    <a:cubicBezTo>
                      <a:pt x="1620" y="885"/>
                      <a:pt x="1610" y="895"/>
                      <a:pt x="1610" y="907"/>
                    </a:cubicBezTo>
                    <a:cubicBezTo>
                      <a:pt x="1610" y="919"/>
                      <a:pt x="1620" y="929"/>
                      <a:pt x="1632" y="929"/>
                    </a:cubicBezTo>
                    <a:cubicBezTo>
                      <a:pt x="1792" y="929"/>
                      <a:pt x="1792" y="929"/>
                      <a:pt x="1792" y="929"/>
                    </a:cubicBezTo>
                    <a:cubicBezTo>
                      <a:pt x="1804" y="929"/>
                      <a:pt x="1814" y="919"/>
                      <a:pt x="1814" y="907"/>
                    </a:cubicBezTo>
                    <a:close/>
                    <a:moveTo>
                      <a:pt x="297" y="1548"/>
                    </a:moveTo>
                    <a:cubicBezTo>
                      <a:pt x="410" y="1435"/>
                      <a:pt x="410" y="1435"/>
                      <a:pt x="410" y="1435"/>
                    </a:cubicBezTo>
                    <a:cubicBezTo>
                      <a:pt x="419" y="1426"/>
                      <a:pt x="419" y="1412"/>
                      <a:pt x="410" y="1404"/>
                    </a:cubicBezTo>
                    <a:cubicBezTo>
                      <a:pt x="402" y="1395"/>
                      <a:pt x="388" y="1395"/>
                      <a:pt x="379" y="1404"/>
                    </a:cubicBezTo>
                    <a:cubicBezTo>
                      <a:pt x="266" y="1517"/>
                      <a:pt x="266" y="1517"/>
                      <a:pt x="266" y="1517"/>
                    </a:cubicBezTo>
                    <a:cubicBezTo>
                      <a:pt x="257" y="1526"/>
                      <a:pt x="257" y="1540"/>
                      <a:pt x="266" y="1548"/>
                    </a:cubicBezTo>
                    <a:cubicBezTo>
                      <a:pt x="270" y="1552"/>
                      <a:pt x="276" y="1555"/>
                      <a:pt x="281" y="1555"/>
                    </a:cubicBezTo>
                    <a:cubicBezTo>
                      <a:pt x="287" y="1555"/>
                      <a:pt x="293" y="1552"/>
                      <a:pt x="297" y="1548"/>
                    </a:cubicBezTo>
                    <a:close/>
                    <a:moveTo>
                      <a:pt x="1435" y="410"/>
                    </a:moveTo>
                    <a:cubicBezTo>
                      <a:pt x="1548" y="297"/>
                      <a:pt x="1548" y="297"/>
                      <a:pt x="1548" y="297"/>
                    </a:cubicBezTo>
                    <a:cubicBezTo>
                      <a:pt x="1557" y="288"/>
                      <a:pt x="1557" y="275"/>
                      <a:pt x="1548" y="266"/>
                    </a:cubicBezTo>
                    <a:cubicBezTo>
                      <a:pt x="1540" y="257"/>
                      <a:pt x="1526" y="257"/>
                      <a:pt x="1517" y="266"/>
                    </a:cubicBezTo>
                    <a:cubicBezTo>
                      <a:pt x="1404" y="379"/>
                      <a:pt x="1404" y="379"/>
                      <a:pt x="1404" y="379"/>
                    </a:cubicBezTo>
                    <a:cubicBezTo>
                      <a:pt x="1395" y="388"/>
                      <a:pt x="1395" y="402"/>
                      <a:pt x="1404" y="410"/>
                    </a:cubicBezTo>
                    <a:cubicBezTo>
                      <a:pt x="1408" y="414"/>
                      <a:pt x="1414" y="417"/>
                      <a:pt x="1419" y="417"/>
                    </a:cubicBezTo>
                    <a:cubicBezTo>
                      <a:pt x="1425" y="417"/>
                      <a:pt x="1431" y="414"/>
                      <a:pt x="1435" y="410"/>
                    </a:cubicBezTo>
                    <a:close/>
                    <a:moveTo>
                      <a:pt x="929" y="182"/>
                    </a:moveTo>
                    <a:cubicBezTo>
                      <a:pt x="929" y="22"/>
                      <a:pt x="929" y="22"/>
                      <a:pt x="929" y="22"/>
                    </a:cubicBezTo>
                    <a:cubicBezTo>
                      <a:pt x="929" y="10"/>
                      <a:pt x="919" y="0"/>
                      <a:pt x="907" y="0"/>
                    </a:cubicBezTo>
                    <a:cubicBezTo>
                      <a:pt x="895" y="0"/>
                      <a:pt x="885" y="10"/>
                      <a:pt x="885" y="22"/>
                    </a:cubicBezTo>
                    <a:cubicBezTo>
                      <a:pt x="885" y="182"/>
                      <a:pt x="885" y="182"/>
                      <a:pt x="885" y="182"/>
                    </a:cubicBezTo>
                    <a:cubicBezTo>
                      <a:pt x="885" y="195"/>
                      <a:pt x="895" y="204"/>
                      <a:pt x="907" y="204"/>
                    </a:cubicBezTo>
                    <a:cubicBezTo>
                      <a:pt x="919" y="204"/>
                      <a:pt x="929" y="195"/>
                      <a:pt x="929" y="182"/>
                    </a:cubicBezTo>
                    <a:close/>
                    <a:moveTo>
                      <a:pt x="1548" y="1548"/>
                    </a:moveTo>
                    <a:cubicBezTo>
                      <a:pt x="1557" y="1540"/>
                      <a:pt x="1557" y="1526"/>
                      <a:pt x="1548" y="1517"/>
                    </a:cubicBezTo>
                    <a:cubicBezTo>
                      <a:pt x="1435" y="1404"/>
                      <a:pt x="1435" y="1404"/>
                      <a:pt x="1435" y="1404"/>
                    </a:cubicBezTo>
                    <a:cubicBezTo>
                      <a:pt x="1426" y="1395"/>
                      <a:pt x="1412" y="1395"/>
                      <a:pt x="1404" y="1404"/>
                    </a:cubicBezTo>
                    <a:cubicBezTo>
                      <a:pt x="1395" y="1412"/>
                      <a:pt x="1395" y="1426"/>
                      <a:pt x="1404" y="1435"/>
                    </a:cubicBezTo>
                    <a:cubicBezTo>
                      <a:pt x="1517" y="1548"/>
                      <a:pt x="1517" y="1548"/>
                      <a:pt x="1517" y="1548"/>
                    </a:cubicBezTo>
                    <a:cubicBezTo>
                      <a:pt x="1521" y="1552"/>
                      <a:pt x="1527" y="1555"/>
                      <a:pt x="1533" y="1555"/>
                    </a:cubicBezTo>
                    <a:cubicBezTo>
                      <a:pt x="1538" y="1555"/>
                      <a:pt x="1544" y="1552"/>
                      <a:pt x="1548" y="1548"/>
                    </a:cubicBezTo>
                    <a:close/>
                    <a:moveTo>
                      <a:pt x="410" y="410"/>
                    </a:moveTo>
                    <a:cubicBezTo>
                      <a:pt x="419" y="402"/>
                      <a:pt x="419" y="388"/>
                      <a:pt x="410" y="379"/>
                    </a:cubicBezTo>
                    <a:cubicBezTo>
                      <a:pt x="297" y="266"/>
                      <a:pt x="297" y="266"/>
                      <a:pt x="297" y="266"/>
                    </a:cubicBezTo>
                    <a:cubicBezTo>
                      <a:pt x="288" y="257"/>
                      <a:pt x="274" y="257"/>
                      <a:pt x="266" y="266"/>
                    </a:cubicBezTo>
                    <a:cubicBezTo>
                      <a:pt x="257" y="275"/>
                      <a:pt x="257" y="288"/>
                      <a:pt x="266" y="297"/>
                    </a:cubicBezTo>
                    <a:cubicBezTo>
                      <a:pt x="379" y="410"/>
                      <a:pt x="379" y="410"/>
                      <a:pt x="379" y="410"/>
                    </a:cubicBezTo>
                    <a:cubicBezTo>
                      <a:pt x="383" y="414"/>
                      <a:pt x="389" y="417"/>
                      <a:pt x="395" y="417"/>
                    </a:cubicBezTo>
                    <a:cubicBezTo>
                      <a:pt x="400" y="417"/>
                      <a:pt x="406" y="414"/>
                      <a:pt x="410" y="410"/>
                    </a:cubicBezTo>
                    <a:close/>
                    <a:moveTo>
                      <a:pt x="1019" y="847"/>
                    </a:moveTo>
                    <a:cubicBezTo>
                      <a:pt x="1019" y="782"/>
                      <a:pt x="1072" y="730"/>
                      <a:pt x="1137" y="730"/>
                    </a:cubicBezTo>
                    <a:cubicBezTo>
                      <a:pt x="1072" y="730"/>
                      <a:pt x="1019" y="677"/>
                      <a:pt x="1019" y="612"/>
                    </a:cubicBezTo>
                    <a:cubicBezTo>
                      <a:pt x="1019" y="677"/>
                      <a:pt x="966" y="730"/>
                      <a:pt x="901" y="730"/>
                    </a:cubicBezTo>
                    <a:cubicBezTo>
                      <a:pt x="966" y="730"/>
                      <a:pt x="1019" y="782"/>
                      <a:pt x="1019" y="847"/>
                    </a:cubicBezTo>
                    <a:close/>
                    <a:moveTo>
                      <a:pt x="766" y="1252"/>
                    </a:moveTo>
                    <a:cubicBezTo>
                      <a:pt x="766" y="1187"/>
                      <a:pt x="819" y="1135"/>
                      <a:pt x="884" y="1135"/>
                    </a:cubicBezTo>
                    <a:cubicBezTo>
                      <a:pt x="819" y="1135"/>
                      <a:pt x="766" y="1082"/>
                      <a:pt x="766" y="1017"/>
                    </a:cubicBezTo>
                    <a:cubicBezTo>
                      <a:pt x="766" y="1082"/>
                      <a:pt x="714" y="1135"/>
                      <a:pt x="649" y="1135"/>
                    </a:cubicBezTo>
                    <a:cubicBezTo>
                      <a:pt x="714" y="1135"/>
                      <a:pt x="766" y="1187"/>
                      <a:pt x="766" y="125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sp>
            <p:nvSpPr>
              <p:cNvPr id="49" name="Freeform 6">
                <a:extLst>
                  <a:ext uri="{FF2B5EF4-FFF2-40B4-BE49-F238E27FC236}">
                    <a16:creationId xmlns:a16="http://schemas.microsoft.com/office/drawing/2014/main" id="{CC21C79E-730E-EEC7-3386-D672788B74D1}"/>
                  </a:ext>
                </a:extLst>
              </p:cNvPr>
              <p:cNvSpPr>
                <a:spLocks noEditPoints="1"/>
              </p:cNvSpPr>
              <p:nvPr/>
            </p:nvSpPr>
            <p:spPr bwMode="auto">
              <a:xfrm>
                <a:off x="2710" y="1553"/>
                <a:ext cx="2260" cy="1944"/>
              </a:xfrm>
              <a:custGeom>
                <a:avLst/>
                <a:gdLst>
                  <a:gd name="T0" fmla="*/ 1205 w 1206"/>
                  <a:gd name="T1" fmla="*/ 372 h 1037"/>
                  <a:gd name="T2" fmla="*/ 1206 w 1206"/>
                  <a:gd name="T3" fmla="*/ 367 h 1037"/>
                  <a:gd name="T4" fmla="*/ 1206 w 1206"/>
                  <a:gd name="T5" fmla="*/ 360 h 1037"/>
                  <a:gd name="T6" fmla="*/ 1204 w 1206"/>
                  <a:gd name="T7" fmla="*/ 355 h 1037"/>
                  <a:gd name="T8" fmla="*/ 962 w 1206"/>
                  <a:gd name="T9" fmla="*/ 9 h 1037"/>
                  <a:gd name="T10" fmla="*/ 959 w 1206"/>
                  <a:gd name="T11" fmla="*/ 5 h 1037"/>
                  <a:gd name="T12" fmla="*/ 956 w 1206"/>
                  <a:gd name="T13" fmla="*/ 3 h 1037"/>
                  <a:gd name="T14" fmla="*/ 952 w 1206"/>
                  <a:gd name="T15" fmla="*/ 1 h 1037"/>
                  <a:gd name="T16" fmla="*/ 950 w 1206"/>
                  <a:gd name="T17" fmla="*/ 0 h 1037"/>
                  <a:gd name="T18" fmla="*/ 944 w 1206"/>
                  <a:gd name="T19" fmla="*/ 0 h 1037"/>
                  <a:gd name="T20" fmla="*/ 262 w 1206"/>
                  <a:gd name="T21" fmla="*/ 0 h 1037"/>
                  <a:gd name="T22" fmla="*/ 259 w 1206"/>
                  <a:gd name="T23" fmla="*/ 0 h 1037"/>
                  <a:gd name="T24" fmla="*/ 255 w 1206"/>
                  <a:gd name="T25" fmla="*/ 1 h 1037"/>
                  <a:gd name="T26" fmla="*/ 252 w 1206"/>
                  <a:gd name="T27" fmla="*/ 2 h 1037"/>
                  <a:gd name="T28" fmla="*/ 249 w 1206"/>
                  <a:gd name="T29" fmla="*/ 4 h 1037"/>
                  <a:gd name="T30" fmla="*/ 246 w 1206"/>
                  <a:gd name="T31" fmla="*/ 7 h 1037"/>
                  <a:gd name="T32" fmla="*/ 244 w 1206"/>
                  <a:gd name="T33" fmla="*/ 9 h 1037"/>
                  <a:gd name="T34" fmla="*/ 2 w 1206"/>
                  <a:gd name="T35" fmla="*/ 356 h 1037"/>
                  <a:gd name="T36" fmla="*/ 0 w 1206"/>
                  <a:gd name="T37" fmla="*/ 364 h 1037"/>
                  <a:gd name="T38" fmla="*/ 0 w 1206"/>
                  <a:gd name="T39" fmla="*/ 369 h 1037"/>
                  <a:gd name="T40" fmla="*/ 2 w 1206"/>
                  <a:gd name="T41" fmla="*/ 375 h 1037"/>
                  <a:gd name="T42" fmla="*/ 5 w 1206"/>
                  <a:gd name="T43" fmla="*/ 379 h 1037"/>
                  <a:gd name="T44" fmla="*/ 589 w 1206"/>
                  <a:gd name="T45" fmla="*/ 1030 h 1037"/>
                  <a:gd name="T46" fmla="*/ 592 w 1206"/>
                  <a:gd name="T47" fmla="*/ 1033 h 1037"/>
                  <a:gd name="T48" fmla="*/ 598 w 1206"/>
                  <a:gd name="T49" fmla="*/ 1036 h 1037"/>
                  <a:gd name="T50" fmla="*/ 602 w 1206"/>
                  <a:gd name="T51" fmla="*/ 1037 h 1037"/>
                  <a:gd name="T52" fmla="*/ 608 w 1206"/>
                  <a:gd name="T53" fmla="*/ 1037 h 1037"/>
                  <a:gd name="T54" fmla="*/ 612 w 1206"/>
                  <a:gd name="T55" fmla="*/ 1036 h 1037"/>
                  <a:gd name="T56" fmla="*/ 618 w 1206"/>
                  <a:gd name="T57" fmla="*/ 1033 h 1037"/>
                  <a:gd name="T58" fmla="*/ 621 w 1206"/>
                  <a:gd name="T59" fmla="*/ 1030 h 1037"/>
                  <a:gd name="T60" fmla="*/ 1201 w 1206"/>
                  <a:gd name="T61" fmla="*/ 379 h 1037"/>
                  <a:gd name="T62" fmla="*/ 786 w 1206"/>
                  <a:gd name="T63" fmla="*/ 343 h 1037"/>
                  <a:gd name="T64" fmla="*/ 645 w 1206"/>
                  <a:gd name="T65" fmla="*/ 127 h 1037"/>
                  <a:gd name="T66" fmla="*/ 913 w 1206"/>
                  <a:gd name="T67" fmla="*/ 44 h 1037"/>
                  <a:gd name="T68" fmla="*/ 755 w 1206"/>
                  <a:gd name="T69" fmla="*/ 295 h 1037"/>
                  <a:gd name="T70" fmla="*/ 293 w 1206"/>
                  <a:gd name="T71" fmla="*/ 44 h 1037"/>
                  <a:gd name="T72" fmla="*/ 408 w 1206"/>
                  <a:gd name="T73" fmla="*/ 512 h 1037"/>
                  <a:gd name="T74" fmla="*/ 796 w 1206"/>
                  <a:gd name="T75" fmla="*/ 387 h 1037"/>
                  <a:gd name="T76" fmla="*/ 490 w 1206"/>
                  <a:gd name="T77" fmla="*/ 750 h 1037"/>
                  <a:gd name="T78" fmla="*/ 365 w 1206"/>
                  <a:gd name="T79" fmla="*/ 387 h 1037"/>
                  <a:gd name="T80" fmla="*/ 1135 w 1206"/>
                  <a:gd name="T81" fmla="*/ 387 h 1037"/>
                  <a:gd name="T82" fmla="*/ 858 w 1206"/>
                  <a:gd name="T83" fmla="*/ 343 h 1037"/>
                  <a:gd name="T84" fmla="*/ 858 w 1206"/>
                  <a:gd name="T85" fmla="*/ 343 h 1037"/>
                  <a:gd name="T86" fmla="*/ 64 w 1206"/>
                  <a:gd name="T87" fmla="*/ 343 h 10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06" h="1037">
                    <a:moveTo>
                      <a:pt x="1204" y="376"/>
                    </a:moveTo>
                    <a:cubicBezTo>
                      <a:pt x="1204" y="376"/>
                      <a:pt x="1204" y="375"/>
                      <a:pt x="1204" y="375"/>
                    </a:cubicBezTo>
                    <a:cubicBezTo>
                      <a:pt x="1204" y="374"/>
                      <a:pt x="1205" y="373"/>
                      <a:pt x="1205" y="372"/>
                    </a:cubicBezTo>
                    <a:cubicBezTo>
                      <a:pt x="1205" y="372"/>
                      <a:pt x="1205" y="372"/>
                      <a:pt x="1205" y="372"/>
                    </a:cubicBezTo>
                    <a:cubicBezTo>
                      <a:pt x="1206" y="371"/>
                      <a:pt x="1206" y="370"/>
                      <a:pt x="1206" y="369"/>
                    </a:cubicBezTo>
                    <a:cubicBezTo>
                      <a:pt x="1206" y="368"/>
                      <a:pt x="1206" y="368"/>
                      <a:pt x="1206" y="367"/>
                    </a:cubicBezTo>
                    <a:cubicBezTo>
                      <a:pt x="1206" y="366"/>
                      <a:pt x="1206" y="365"/>
                      <a:pt x="1206" y="364"/>
                    </a:cubicBezTo>
                    <a:cubicBezTo>
                      <a:pt x="1206" y="364"/>
                      <a:pt x="1206" y="364"/>
                      <a:pt x="1206" y="364"/>
                    </a:cubicBezTo>
                    <a:cubicBezTo>
                      <a:pt x="1206" y="362"/>
                      <a:pt x="1206" y="361"/>
                      <a:pt x="1206" y="360"/>
                    </a:cubicBezTo>
                    <a:cubicBezTo>
                      <a:pt x="1206" y="360"/>
                      <a:pt x="1206" y="359"/>
                      <a:pt x="1205" y="359"/>
                    </a:cubicBezTo>
                    <a:cubicBezTo>
                      <a:pt x="1205" y="358"/>
                      <a:pt x="1205" y="357"/>
                      <a:pt x="1204" y="356"/>
                    </a:cubicBezTo>
                    <a:cubicBezTo>
                      <a:pt x="1204" y="356"/>
                      <a:pt x="1204" y="356"/>
                      <a:pt x="1204" y="355"/>
                    </a:cubicBezTo>
                    <a:cubicBezTo>
                      <a:pt x="1204" y="354"/>
                      <a:pt x="1203" y="353"/>
                      <a:pt x="1202" y="352"/>
                    </a:cubicBezTo>
                    <a:cubicBezTo>
                      <a:pt x="962" y="9"/>
                      <a:pt x="962" y="9"/>
                      <a:pt x="962" y="9"/>
                    </a:cubicBezTo>
                    <a:cubicBezTo>
                      <a:pt x="962" y="9"/>
                      <a:pt x="962" y="9"/>
                      <a:pt x="962" y="9"/>
                    </a:cubicBezTo>
                    <a:cubicBezTo>
                      <a:pt x="962" y="8"/>
                      <a:pt x="961" y="8"/>
                      <a:pt x="961" y="7"/>
                    </a:cubicBezTo>
                    <a:cubicBezTo>
                      <a:pt x="961" y="7"/>
                      <a:pt x="961" y="7"/>
                      <a:pt x="960" y="7"/>
                    </a:cubicBezTo>
                    <a:cubicBezTo>
                      <a:pt x="960" y="6"/>
                      <a:pt x="959" y="6"/>
                      <a:pt x="959" y="5"/>
                    </a:cubicBezTo>
                    <a:cubicBezTo>
                      <a:pt x="959" y="5"/>
                      <a:pt x="958" y="5"/>
                      <a:pt x="958" y="5"/>
                    </a:cubicBezTo>
                    <a:cubicBezTo>
                      <a:pt x="958" y="4"/>
                      <a:pt x="957" y="4"/>
                      <a:pt x="957" y="3"/>
                    </a:cubicBezTo>
                    <a:cubicBezTo>
                      <a:pt x="957" y="3"/>
                      <a:pt x="956" y="3"/>
                      <a:pt x="956" y="3"/>
                    </a:cubicBezTo>
                    <a:cubicBezTo>
                      <a:pt x="956" y="3"/>
                      <a:pt x="955" y="2"/>
                      <a:pt x="955" y="2"/>
                    </a:cubicBezTo>
                    <a:cubicBezTo>
                      <a:pt x="954" y="2"/>
                      <a:pt x="954" y="2"/>
                      <a:pt x="954" y="2"/>
                    </a:cubicBezTo>
                    <a:cubicBezTo>
                      <a:pt x="953" y="2"/>
                      <a:pt x="953" y="1"/>
                      <a:pt x="952" y="1"/>
                    </a:cubicBezTo>
                    <a:cubicBezTo>
                      <a:pt x="952" y="1"/>
                      <a:pt x="952" y="1"/>
                      <a:pt x="952" y="1"/>
                    </a:cubicBezTo>
                    <a:cubicBezTo>
                      <a:pt x="951" y="1"/>
                      <a:pt x="951" y="1"/>
                      <a:pt x="951" y="1"/>
                    </a:cubicBezTo>
                    <a:cubicBezTo>
                      <a:pt x="951" y="1"/>
                      <a:pt x="950" y="0"/>
                      <a:pt x="950" y="0"/>
                    </a:cubicBezTo>
                    <a:cubicBezTo>
                      <a:pt x="950" y="0"/>
                      <a:pt x="950" y="0"/>
                      <a:pt x="949" y="0"/>
                    </a:cubicBezTo>
                    <a:cubicBezTo>
                      <a:pt x="948" y="0"/>
                      <a:pt x="946" y="0"/>
                      <a:pt x="944" y="0"/>
                    </a:cubicBezTo>
                    <a:cubicBezTo>
                      <a:pt x="944" y="0"/>
                      <a:pt x="944" y="0"/>
                      <a:pt x="944" y="0"/>
                    </a:cubicBezTo>
                    <a:cubicBezTo>
                      <a:pt x="603" y="0"/>
                      <a:pt x="603" y="0"/>
                      <a:pt x="603" y="0"/>
                    </a:cubicBezTo>
                    <a:cubicBezTo>
                      <a:pt x="603" y="0"/>
                      <a:pt x="603" y="0"/>
                      <a:pt x="603" y="0"/>
                    </a:cubicBezTo>
                    <a:cubicBezTo>
                      <a:pt x="262" y="0"/>
                      <a:pt x="262" y="0"/>
                      <a:pt x="262" y="0"/>
                    </a:cubicBezTo>
                    <a:cubicBezTo>
                      <a:pt x="262" y="0"/>
                      <a:pt x="262" y="0"/>
                      <a:pt x="262" y="0"/>
                    </a:cubicBezTo>
                    <a:cubicBezTo>
                      <a:pt x="261" y="0"/>
                      <a:pt x="260" y="0"/>
                      <a:pt x="259" y="0"/>
                    </a:cubicBezTo>
                    <a:cubicBezTo>
                      <a:pt x="259" y="0"/>
                      <a:pt x="259" y="0"/>
                      <a:pt x="259" y="0"/>
                    </a:cubicBezTo>
                    <a:cubicBezTo>
                      <a:pt x="258" y="0"/>
                      <a:pt x="258" y="0"/>
                      <a:pt x="257" y="0"/>
                    </a:cubicBezTo>
                    <a:cubicBezTo>
                      <a:pt x="256" y="0"/>
                      <a:pt x="256" y="0"/>
                      <a:pt x="256" y="0"/>
                    </a:cubicBezTo>
                    <a:cubicBezTo>
                      <a:pt x="256" y="0"/>
                      <a:pt x="255" y="1"/>
                      <a:pt x="255" y="1"/>
                    </a:cubicBezTo>
                    <a:cubicBezTo>
                      <a:pt x="255" y="1"/>
                      <a:pt x="254" y="1"/>
                      <a:pt x="254" y="1"/>
                    </a:cubicBezTo>
                    <a:cubicBezTo>
                      <a:pt x="254" y="1"/>
                      <a:pt x="254" y="1"/>
                      <a:pt x="254" y="1"/>
                    </a:cubicBezTo>
                    <a:cubicBezTo>
                      <a:pt x="253" y="1"/>
                      <a:pt x="253" y="2"/>
                      <a:pt x="252" y="2"/>
                    </a:cubicBezTo>
                    <a:cubicBezTo>
                      <a:pt x="252" y="2"/>
                      <a:pt x="252" y="2"/>
                      <a:pt x="251" y="2"/>
                    </a:cubicBezTo>
                    <a:cubicBezTo>
                      <a:pt x="251" y="3"/>
                      <a:pt x="250" y="3"/>
                      <a:pt x="250" y="3"/>
                    </a:cubicBezTo>
                    <a:cubicBezTo>
                      <a:pt x="250" y="3"/>
                      <a:pt x="249" y="3"/>
                      <a:pt x="249" y="4"/>
                    </a:cubicBezTo>
                    <a:cubicBezTo>
                      <a:pt x="249" y="4"/>
                      <a:pt x="248" y="4"/>
                      <a:pt x="248" y="5"/>
                    </a:cubicBezTo>
                    <a:cubicBezTo>
                      <a:pt x="248" y="5"/>
                      <a:pt x="247" y="5"/>
                      <a:pt x="247" y="5"/>
                    </a:cubicBezTo>
                    <a:cubicBezTo>
                      <a:pt x="247" y="6"/>
                      <a:pt x="246" y="6"/>
                      <a:pt x="246" y="7"/>
                    </a:cubicBezTo>
                    <a:cubicBezTo>
                      <a:pt x="245" y="7"/>
                      <a:pt x="245" y="7"/>
                      <a:pt x="245" y="7"/>
                    </a:cubicBezTo>
                    <a:cubicBezTo>
                      <a:pt x="245" y="8"/>
                      <a:pt x="244" y="8"/>
                      <a:pt x="244" y="9"/>
                    </a:cubicBezTo>
                    <a:cubicBezTo>
                      <a:pt x="244" y="9"/>
                      <a:pt x="244" y="9"/>
                      <a:pt x="244" y="9"/>
                    </a:cubicBezTo>
                    <a:cubicBezTo>
                      <a:pt x="4" y="352"/>
                      <a:pt x="4" y="352"/>
                      <a:pt x="4" y="352"/>
                    </a:cubicBezTo>
                    <a:cubicBezTo>
                      <a:pt x="3" y="353"/>
                      <a:pt x="2" y="354"/>
                      <a:pt x="2" y="355"/>
                    </a:cubicBezTo>
                    <a:cubicBezTo>
                      <a:pt x="2" y="356"/>
                      <a:pt x="2" y="356"/>
                      <a:pt x="2" y="356"/>
                    </a:cubicBezTo>
                    <a:cubicBezTo>
                      <a:pt x="1" y="357"/>
                      <a:pt x="1" y="358"/>
                      <a:pt x="1" y="359"/>
                    </a:cubicBezTo>
                    <a:cubicBezTo>
                      <a:pt x="0" y="359"/>
                      <a:pt x="0" y="360"/>
                      <a:pt x="0" y="360"/>
                    </a:cubicBezTo>
                    <a:cubicBezTo>
                      <a:pt x="0" y="361"/>
                      <a:pt x="0" y="363"/>
                      <a:pt x="0" y="364"/>
                    </a:cubicBezTo>
                    <a:cubicBezTo>
                      <a:pt x="0" y="364"/>
                      <a:pt x="0" y="364"/>
                      <a:pt x="0" y="364"/>
                    </a:cubicBezTo>
                    <a:cubicBezTo>
                      <a:pt x="0" y="365"/>
                      <a:pt x="0" y="366"/>
                      <a:pt x="0" y="368"/>
                    </a:cubicBezTo>
                    <a:cubicBezTo>
                      <a:pt x="0" y="368"/>
                      <a:pt x="0" y="368"/>
                      <a:pt x="0" y="369"/>
                    </a:cubicBezTo>
                    <a:cubicBezTo>
                      <a:pt x="0" y="370"/>
                      <a:pt x="0" y="371"/>
                      <a:pt x="1" y="372"/>
                    </a:cubicBezTo>
                    <a:cubicBezTo>
                      <a:pt x="1" y="372"/>
                      <a:pt x="1" y="372"/>
                      <a:pt x="1" y="372"/>
                    </a:cubicBezTo>
                    <a:cubicBezTo>
                      <a:pt x="1" y="373"/>
                      <a:pt x="2" y="374"/>
                      <a:pt x="2" y="375"/>
                    </a:cubicBezTo>
                    <a:cubicBezTo>
                      <a:pt x="2" y="375"/>
                      <a:pt x="2" y="376"/>
                      <a:pt x="2" y="376"/>
                    </a:cubicBezTo>
                    <a:cubicBezTo>
                      <a:pt x="3" y="376"/>
                      <a:pt x="3" y="376"/>
                      <a:pt x="3" y="377"/>
                    </a:cubicBezTo>
                    <a:cubicBezTo>
                      <a:pt x="4" y="378"/>
                      <a:pt x="4" y="378"/>
                      <a:pt x="5" y="379"/>
                    </a:cubicBezTo>
                    <a:cubicBezTo>
                      <a:pt x="5" y="379"/>
                      <a:pt x="5" y="380"/>
                      <a:pt x="5" y="380"/>
                    </a:cubicBezTo>
                    <a:cubicBezTo>
                      <a:pt x="589" y="1030"/>
                      <a:pt x="589" y="1030"/>
                      <a:pt x="589" y="1030"/>
                    </a:cubicBezTo>
                    <a:cubicBezTo>
                      <a:pt x="589" y="1030"/>
                      <a:pt x="589" y="1030"/>
                      <a:pt x="589" y="1030"/>
                    </a:cubicBezTo>
                    <a:cubicBezTo>
                      <a:pt x="590" y="1031"/>
                      <a:pt x="590" y="1031"/>
                      <a:pt x="590" y="1031"/>
                    </a:cubicBezTo>
                    <a:cubicBezTo>
                      <a:pt x="591" y="1032"/>
                      <a:pt x="591" y="1032"/>
                      <a:pt x="592" y="1033"/>
                    </a:cubicBezTo>
                    <a:cubicBezTo>
                      <a:pt x="592" y="1033"/>
                      <a:pt x="592" y="1033"/>
                      <a:pt x="592" y="1033"/>
                    </a:cubicBezTo>
                    <a:cubicBezTo>
                      <a:pt x="593" y="1034"/>
                      <a:pt x="594" y="1034"/>
                      <a:pt x="595" y="1034"/>
                    </a:cubicBezTo>
                    <a:cubicBezTo>
                      <a:pt x="595" y="1035"/>
                      <a:pt x="595" y="1035"/>
                      <a:pt x="595" y="1035"/>
                    </a:cubicBezTo>
                    <a:cubicBezTo>
                      <a:pt x="596" y="1035"/>
                      <a:pt x="597" y="1036"/>
                      <a:pt x="598" y="1036"/>
                    </a:cubicBezTo>
                    <a:cubicBezTo>
                      <a:pt x="598" y="1036"/>
                      <a:pt x="598" y="1036"/>
                      <a:pt x="598" y="1036"/>
                    </a:cubicBezTo>
                    <a:cubicBezTo>
                      <a:pt x="599" y="1036"/>
                      <a:pt x="600" y="1036"/>
                      <a:pt x="601" y="1037"/>
                    </a:cubicBezTo>
                    <a:cubicBezTo>
                      <a:pt x="601" y="1037"/>
                      <a:pt x="602" y="1037"/>
                      <a:pt x="602" y="1037"/>
                    </a:cubicBezTo>
                    <a:cubicBezTo>
                      <a:pt x="603" y="1037"/>
                      <a:pt x="604" y="1037"/>
                      <a:pt x="605" y="1037"/>
                    </a:cubicBezTo>
                    <a:cubicBezTo>
                      <a:pt x="605" y="1037"/>
                      <a:pt x="605" y="1037"/>
                      <a:pt x="605" y="1037"/>
                    </a:cubicBezTo>
                    <a:cubicBezTo>
                      <a:pt x="606" y="1037"/>
                      <a:pt x="607" y="1037"/>
                      <a:pt x="608" y="1037"/>
                    </a:cubicBezTo>
                    <a:cubicBezTo>
                      <a:pt x="608" y="1037"/>
                      <a:pt x="609" y="1037"/>
                      <a:pt x="609" y="1037"/>
                    </a:cubicBezTo>
                    <a:cubicBezTo>
                      <a:pt x="610" y="1036"/>
                      <a:pt x="611" y="1036"/>
                      <a:pt x="612" y="1036"/>
                    </a:cubicBezTo>
                    <a:cubicBezTo>
                      <a:pt x="612" y="1036"/>
                      <a:pt x="612" y="1036"/>
                      <a:pt x="612" y="1036"/>
                    </a:cubicBezTo>
                    <a:cubicBezTo>
                      <a:pt x="613" y="1036"/>
                      <a:pt x="614" y="1035"/>
                      <a:pt x="615" y="1035"/>
                    </a:cubicBezTo>
                    <a:cubicBezTo>
                      <a:pt x="615" y="1035"/>
                      <a:pt x="615" y="1035"/>
                      <a:pt x="615" y="1034"/>
                    </a:cubicBezTo>
                    <a:cubicBezTo>
                      <a:pt x="616" y="1034"/>
                      <a:pt x="617" y="1034"/>
                      <a:pt x="618" y="1033"/>
                    </a:cubicBezTo>
                    <a:cubicBezTo>
                      <a:pt x="618" y="1033"/>
                      <a:pt x="618" y="1033"/>
                      <a:pt x="618" y="1033"/>
                    </a:cubicBezTo>
                    <a:cubicBezTo>
                      <a:pt x="619" y="1032"/>
                      <a:pt x="619" y="1032"/>
                      <a:pt x="620" y="1031"/>
                    </a:cubicBezTo>
                    <a:cubicBezTo>
                      <a:pt x="620" y="1031"/>
                      <a:pt x="621" y="1031"/>
                      <a:pt x="621" y="1030"/>
                    </a:cubicBezTo>
                    <a:cubicBezTo>
                      <a:pt x="621" y="1030"/>
                      <a:pt x="621" y="1030"/>
                      <a:pt x="621" y="1030"/>
                    </a:cubicBezTo>
                    <a:cubicBezTo>
                      <a:pt x="1201" y="380"/>
                      <a:pt x="1201" y="380"/>
                      <a:pt x="1201" y="380"/>
                    </a:cubicBezTo>
                    <a:cubicBezTo>
                      <a:pt x="1201" y="380"/>
                      <a:pt x="1201" y="379"/>
                      <a:pt x="1201" y="379"/>
                    </a:cubicBezTo>
                    <a:cubicBezTo>
                      <a:pt x="1202" y="378"/>
                      <a:pt x="1202" y="378"/>
                      <a:pt x="1203" y="377"/>
                    </a:cubicBezTo>
                    <a:cubicBezTo>
                      <a:pt x="1203" y="376"/>
                      <a:pt x="1203" y="376"/>
                      <a:pt x="1204" y="376"/>
                    </a:cubicBezTo>
                    <a:close/>
                    <a:moveTo>
                      <a:pt x="786" y="343"/>
                    </a:moveTo>
                    <a:cubicBezTo>
                      <a:pt x="421" y="343"/>
                      <a:pt x="421" y="343"/>
                      <a:pt x="421" y="343"/>
                    </a:cubicBezTo>
                    <a:cubicBezTo>
                      <a:pt x="603" y="62"/>
                      <a:pt x="603" y="62"/>
                      <a:pt x="603" y="62"/>
                    </a:cubicBezTo>
                    <a:cubicBezTo>
                      <a:pt x="645" y="127"/>
                      <a:pt x="645" y="127"/>
                      <a:pt x="645" y="127"/>
                    </a:cubicBezTo>
                    <a:cubicBezTo>
                      <a:pt x="657" y="116"/>
                      <a:pt x="666" y="103"/>
                      <a:pt x="673" y="89"/>
                    </a:cubicBezTo>
                    <a:cubicBezTo>
                      <a:pt x="644" y="44"/>
                      <a:pt x="644" y="44"/>
                      <a:pt x="644" y="44"/>
                    </a:cubicBezTo>
                    <a:cubicBezTo>
                      <a:pt x="913" y="44"/>
                      <a:pt x="913" y="44"/>
                      <a:pt x="913" y="44"/>
                    </a:cubicBezTo>
                    <a:cubicBezTo>
                      <a:pt x="821" y="315"/>
                      <a:pt x="821" y="315"/>
                      <a:pt x="821" y="315"/>
                    </a:cubicBezTo>
                    <a:cubicBezTo>
                      <a:pt x="783" y="257"/>
                      <a:pt x="783" y="257"/>
                      <a:pt x="783" y="257"/>
                    </a:cubicBezTo>
                    <a:cubicBezTo>
                      <a:pt x="771" y="267"/>
                      <a:pt x="762" y="280"/>
                      <a:pt x="755" y="295"/>
                    </a:cubicBezTo>
                    <a:lnTo>
                      <a:pt x="786" y="343"/>
                    </a:lnTo>
                    <a:close/>
                    <a:moveTo>
                      <a:pt x="387" y="315"/>
                    </a:moveTo>
                    <a:cubicBezTo>
                      <a:pt x="293" y="44"/>
                      <a:pt x="293" y="44"/>
                      <a:pt x="293" y="44"/>
                    </a:cubicBezTo>
                    <a:cubicBezTo>
                      <a:pt x="563" y="44"/>
                      <a:pt x="563" y="44"/>
                      <a:pt x="563" y="44"/>
                    </a:cubicBezTo>
                    <a:lnTo>
                      <a:pt x="387" y="315"/>
                    </a:lnTo>
                    <a:close/>
                    <a:moveTo>
                      <a:pt x="408" y="512"/>
                    </a:moveTo>
                    <a:cubicBezTo>
                      <a:pt x="419" y="493"/>
                      <a:pt x="427" y="471"/>
                      <a:pt x="433" y="450"/>
                    </a:cubicBezTo>
                    <a:cubicBezTo>
                      <a:pt x="411" y="387"/>
                      <a:pt x="411" y="387"/>
                      <a:pt x="411" y="387"/>
                    </a:cubicBezTo>
                    <a:cubicBezTo>
                      <a:pt x="796" y="387"/>
                      <a:pt x="796" y="387"/>
                      <a:pt x="796" y="387"/>
                    </a:cubicBezTo>
                    <a:cubicBezTo>
                      <a:pt x="605" y="947"/>
                      <a:pt x="605" y="947"/>
                      <a:pt x="605" y="947"/>
                    </a:cubicBezTo>
                    <a:cubicBezTo>
                      <a:pt x="513" y="683"/>
                      <a:pt x="513" y="683"/>
                      <a:pt x="513" y="683"/>
                    </a:cubicBezTo>
                    <a:cubicBezTo>
                      <a:pt x="502" y="702"/>
                      <a:pt x="495" y="727"/>
                      <a:pt x="490" y="750"/>
                    </a:cubicBezTo>
                    <a:cubicBezTo>
                      <a:pt x="549" y="919"/>
                      <a:pt x="549" y="919"/>
                      <a:pt x="549" y="919"/>
                    </a:cubicBezTo>
                    <a:cubicBezTo>
                      <a:pt x="71" y="387"/>
                      <a:pt x="71" y="387"/>
                      <a:pt x="71" y="387"/>
                    </a:cubicBezTo>
                    <a:cubicBezTo>
                      <a:pt x="365" y="387"/>
                      <a:pt x="365" y="387"/>
                      <a:pt x="365" y="387"/>
                    </a:cubicBezTo>
                    <a:lnTo>
                      <a:pt x="408" y="512"/>
                    </a:lnTo>
                    <a:close/>
                    <a:moveTo>
                      <a:pt x="843" y="387"/>
                    </a:moveTo>
                    <a:cubicBezTo>
                      <a:pt x="1135" y="387"/>
                      <a:pt x="1135" y="387"/>
                      <a:pt x="1135" y="387"/>
                    </a:cubicBezTo>
                    <a:cubicBezTo>
                      <a:pt x="661" y="919"/>
                      <a:pt x="661" y="919"/>
                      <a:pt x="661" y="919"/>
                    </a:cubicBezTo>
                    <a:lnTo>
                      <a:pt x="843" y="387"/>
                    </a:lnTo>
                    <a:close/>
                    <a:moveTo>
                      <a:pt x="858" y="343"/>
                    </a:moveTo>
                    <a:cubicBezTo>
                      <a:pt x="951" y="70"/>
                      <a:pt x="951" y="70"/>
                      <a:pt x="951" y="70"/>
                    </a:cubicBezTo>
                    <a:cubicBezTo>
                      <a:pt x="1142" y="343"/>
                      <a:pt x="1142" y="343"/>
                      <a:pt x="1142" y="343"/>
                    </a:cubicBezTo>
                    <a:lnTo>
                      <a:pt x="858" y="343"/>
                    </a:lnTo>
                    <a:close/>
                    <a:moveTo>
                      <a:pt x="255" y="69"/>
                    </a:moveTo>
                    <a:cubicBezTo>
                      <a:pt x="350" y="343"/>
                      <a:pt x="350" y="343"/>
                      <a:pt x="350" y="343"/>
                    </a:cubicBezTo>
                    <a:cubicBezTo>
                      <a:pt x="64" y="343"/>
                      <a:pt x="64" y="343"/>
                      <a:pt x="64" y="343"/>
                    </a:cubicBezTo>
                    <a:lnTo>
                      <a:pt x="255" y="69"/>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grpSp>
      </p:grpSp>
      <p:sp>
        <p:nvSpPr>
          <p:cNvPr id="12" name="Oval 20">
            <a:extLst>
              <a:ext uri="{FF2B5EF4-FFF2-40B4-BE49-F238E27FC236}">
                <a16:creationId xmlns:a16="http://schemas.microsoft.com/office/drawing/2014/main" id="{0C295BB4-3555-9171-43BF-BE76D584873C}"/>
              </a:ext>
            </a:extLst>
          </p:cNvPr>
          <p:cNvSpPr>
            <a:spLocks noChangeAspect="1" noChangeArrowheads="1"/>
          </p:cNvSpPr>
          <p:nvPr/>
        </p:nvSpPr>
        <p:spPr bwMode="auto">
          <a:xfrm>
            <a:off x="186544" y="98006"/>
            <a:ext cx="299290" cy="299290"/>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zh-TW" altLang="en-US" sz="1200">
                <a:solidFill>
                  <a:schemeClr val="bg1"/>
                </a:solidFill>
                <a:ea typeface="Microsoft YaHei" panose="020B0503020204020204" pitchFamily="34" charset="-122"/>
              </a:rPr>
              <a:t>２</a:t>
            </a:r>
            <a:endParaRPr lang="en-US" sz="1200">
              <a:solidFill>
                <a:schemeClr val="bg1"/>
              </a:solidFill>
              <a:ea typeface="Microsoft YaHei" panose="020B0503020204020204" pitchFamily="34" charset="-122"/>
            </a:endParaRPr>
          </a:p>
        </p:txBody>
      </p:sp>
      <p:sp>
        <p:nvSpPr>
          <p:cNvPr id="18" name="TextBox 17">
            <a:extLst>
              <a:ext uri="{FF2B5EF4-FFF2-40B4-BE49-F238E27FC236}">
                <a16:creationId xmlns:a16="http://schemas.microsoft.com/office/drawing/2014/main" id="{40E03C7C-2D80-E851-6EFE-9A84CB351618}"/>
              </a:ext>
            </a:extLst>
          </p:cNvPr>
          <p:cNvSpPr txBox="1"/>
          <p:nvPr/>
        </p:nvSpPr>
        <p:spPr>
          <a:xfrm>
            <a:off x="490697" y="128208"/>
            <a:ext cx="2217333" cy="276999"/>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a:spAutoFit/>
          </a:bodyPr>
          <a:lstStyle/>
          <a:p>
            <a:r>
              <a:rPr lang="zh-TW" altLang="en-US" sz="1200">
                <a:solidFill>
                  <a:srgbClr val="575757"/>
                </a:solidFill>
                <a:latin typeface="Trebuchet MS" panose="020B0603020202020204" pitchFamily="34" charset="0"/>
                <a:ea typeface="Microsoft YaHei" panose="020B0503020204020204" pitchFamily="34" charset="-122"/>
              </a:rPr>
              <a:t>優化新戶啟動計畫</a:t>
            </a:r>
            <a:endParaRPr lang="en-US" sz="1200">
              <a:solidFill>
                <a:srgbClr val="575757"/>
              </a:solidFill>
              <a:ea typeface="Microsoft YaHei" panose="020B0503020204020204" pitchFamily="34" charset="-122"/>
            </a:endParaRPr>
          </a:p>
        </p:txBody>
      </p:sp>
    </p:spTree>
    <p:extLst>
      <p:ext uri="{BB962C8B-B14F-4D97-AF65-F5344CB8AC3E}">
        <p14:creationId xmlns:p14="http://schemas.microsoft.com/office/powerpoint/2010/main" val="357418764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6" name="Object 5" hidden="1">
            <a:extLst>
              <a:ext uri="{FF2B5EF4-FFF2-40B4-BE49-F238E27FC236}">
                <a16:creationId xmlns:a16="http://schemas.microsoft.com/office/drawing/2014/main" id="{681A50CD-F4FC-4D49-AD72-F0F6203299D1}"/>
              </a:ext>
            </a:extLst>
          </p:cNvPr>
          <p:cNvGraphicFramePr>
            <a:graphicFrameLocks noChangeAspect="1"/>
          </p:cNvGraphicFramePr>
          <p:nvPr>
            <p:custDataLst>
              <p:tags r:id="rId1"/>
            </p:custDataLst>
            <p:extLst>
              <p:ext uri="{D42A27DB-BD31-4B8C-83A1-F6EECF244321}">
                <p14:modId xmlns:p14="http://schemas.microsoft.com/office/powerpoint/2010/main" val="159875681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395" imgH="394" progId="TCLayout.ActiveDocument.1">
                  <p:embed/>
                </p:oleObj>
              </mc:Choice>
              <mc:Fallback>
                <p:oleObj name="think-cell Slide" r:id="rId6" imgW="395" imgH="394" progId="TCLayout.ActiveDocument.1">
                  <p:embed/>
                  <p:pic>
                    <p:nvPicPr>
                      <p:cNvPr id="6" name="Object 5" hidden="1">
                        <a:extLst>
                          <a:ext uri="{FF2B5EF4-FFF2-40B4-BE49-F238E27FC236}">
                            <a16:creationId xmlns:a16="http://schemas.microsoft.com/office/drawing/2014/main" id="{681A50CD-F4FC-4D49-AD72-F0F6203299D1}"/>
                          </a:ext>
                        </a:extLst>
                      </p:cNvPr>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8" name="Rectangle 7" hidden="1">
            <a:extLst>
              <a:ext uri="{FF2B5EF4-FFF2-40B4-BE49-F238E27FC236}">
                <a16:creationId xmlns:a16="http://schemas.microsoft.com/office/drawing/2014/main" id="{7BA7BC32-E14B-4A59-8BDA-3E8AB20C5488}"/>
              </a:ext>
            </a:extLst>
          </p:cNvPr>
          <p:cNvSpPr/>
          <p:nvPr>
            <p:custDataLst>
              <p:tags r:id="rId2"/>
            </p:custDataLst>
          </p:nvPr>
        </p:nvSpPr>
        <p:spPr>
          <a:xfrm>
            <a:off x="0" y="0"/>
            <a:ext cx="158750" cy="158750"/>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endParaRPr lang="en-US" sz="2400">
              <a:solidFill>
                <a:srgbClr val="FFFFFF"/>
              </a:solidFill>
              <a:latin typeface="Trebuchet MS" panose="020B0603020202020204" pitchFamily="34" charset="0"/>
              <a:ea typeface="Microsoft YaHei" panose="020B0503020204020204" pitchFamily="34" charset="-122"/>
              <a:cs typeface="+mj-cs"/>
              <a:sym typeface="Trebuchet MS" panose="020B0603020202020204" pitchFamily="34" charset="0"/>
            </a:endParaRPr>
          </a:p>
        </p:txBody>
      </p:sp>
      <p:sp>
        <p:nvSpPr>
          <p:cNvPr id="2" name="Rectangle 1">
            <a:extLst>
              <a:ext uri="{FF2B5EF4-FFF2-40B4-BE49-F238E27FC236}">
                <a16:creationId xmlns:a16="http://schemas.microsoft.com/office/drawing/2014/main" id="{1FF4F342-18D1-4DA7-A687-1490ABF14A32}"/>
              </a:ext>
            </a:extLst>
          </p:cNvPr>
          <p:cNvSpPr/>
          <p:nvPr/>
        </p:nvSpPr>
        <p:spPr>
          <a:xfrm>
            <a:off x="11285316" y="6310357"/>
            <a:ext cx="370390" cy="273769"/>
          </a:xfrm>
          <a:prstGeom prst="rect">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a typeface="Microsoft YaHei" panose="020B0503020204020204" pitchFamily="34" charset="-122"/>
            </a:endParaRPr>
          </a:p>
        </p:txBody>
      </p:sp>
      <p:sp>
        <p:nvSpPr>
          <p:cNvPr id="5" name="Title 4">
            <a:extLst>
              <a:ext uri="{FF2B5EF4-FFF2-40B4-BE49-F238E27FC236}">
                <a16:creationId xmlns:a16="http://schemas.microsoft.com/office/drawing/2014/main" id="{C04EC2B4-FE22-4FCF-A304-14E1A1F7379C}"/>
              </a:ext>
            </a:extLst>
          </p:cNvPr>
          <p:cNvSpPr>
            <a:spLocks noGrp="1"/>
          </p:cNvSpPr>
          <p:nvPr>
            <p:ph type="title"/>
          </p:nvPr>
        </p:nvSpPr>
        <p:spPr>
          <a:xfrm>
            <a:off x="630000" y="622800"/>
            <a:ext cx="10933350" cy="332399"/>
          </a:xfrm>
        </p:spPr>
        <p:txBody>
          <a:bodyPr vert="horz"/>
          <a:lstStyle/>
          <a:p>
            <a:r>
              <a:rPr lang="en-US">
                <a:solidFill>
                  <a:srgbClr val="295E7E"/>
                </a:solidFill>
                <a:ea typeface="Microsoft YaHei" panose="020B0503020204020204" pitchFamily="34" charset="-122"/>
              </a:rPr>
              <a:t>Onboarding &amp; activation: </a:t>
            </a:r>
            <a:r>
              <a:rPr lang="en-US">
                <a:ea typeface="Microsoft YaHei" panose="020B0503020204020204" pitchFamily="34" charset="-122"/>
              </a:rPr>
              <a:t>Key lessons learnt from expert interviews </a:t>
            </a:r>
            <a:r>
              <a:rPr lang="pl-PL">
                <a:ea typeface="Microsoft YaHei" panose="020B0503020204020204" pitchFamily="34" charset="-122"/>
              </a:rPr>
              <a:t>(I/II)</a:t>
            </a:r>
            <a:endParaRPr lang="en-US">
              <a:ea typeface="Microsoft YaHei" panose="020B0503020204020204" pitchFamily="34" charset="-122"/>
            </a:endParaRPr>
          </a:p>
        </p:txBody>
      </p:sp>
      <p:graphicFrame>
        <p:nvGraphicFramePr>
          <p:cNvPr id="7" name="Table 7">
            <a:extLst>
              <a:ext uri="{FF2B5EF4-FFF2-40B4-BE49-F238E27FC236}">
                <a16:creationId xmlns:a16="http://schemas.microsoft.com/office/drawing/2014/main" id="{7460F80F-8604-40CA-BE4C-CE84C832D4D4}"/>
              </a:ext>
            </a:extLst>
          </p:cNvPr>
          <p:cNvGraphicFramePr>
            <a:graphicFrameLocks noGrp="1"/>
          </p:cNvGraphicFramePr>
          <p:nvPr>
            <p:extLst>
              <p:ext uri="{D42A27DB-BD31-4B8C-83A1-F6EECF244321}">
                <p14:modId xmlns:p14="http://schemas.microsoft.com/office/powerpoint/2010/main" val="107198365"/>
              </p:ext>
            </p:extLst>
          </p:nvPr>
        </p:nvGraphicFramePr>
        <p:xfrm>
          <a:off x="628650" y="1479742"/>
          <a:ext cx="10934700" cy="5046472"/>
        </p:xfrm>
        <a:graphic>
          <a:graphicData uri="http://schemas.openxmlformats.org/drawingml/2006/table">
            <a:tbl>
              <a:tblPr firstRow="1" bandRow="1">
                <a:tableStyleId>{5C22544A-7EE6-4342-B048-85BDC9FD1C3A}</a:tableStyleId>
              </a:tblPr>
              <a:tblGrid>
                <a:gridCol w="1223596">
                  <a:extLst>
                    <a:ext uri="{9D8B030D-6E8A-4147-A177-3AD203B41FA5}">
                      <a16:colId xmlns:a16="http://schemas.microsoft.com/office/drawing/2014/main" val="1039709564"/>
                    </a:ext>
                  </a:extLst>
                </a:gridCol>
                <a:gridCol w="2650306">
                  <a:extLst>
                    <a:ext uri="{9D8B030D-6E8A-4147-A177-3AD203B41FA5}">
                      <a16:colId xmlns:a16="http://schemas.microsoft.com/office/drawing/2014/main" val="4080779222"/>
                    </a:ext>
                  </a:extLst>
                </a:gridCol>
                <a:gridCol w="3206187">
                  <a:extLst>
                    <a:ext uri="{9D8B030D-6E8A-4147-A177-3AD203B41FA5}">
                      <a16:colId xmlns:a16="http://schemas.microsoft.com/office/drawing/2014/main" val="70669126"/>
                    </a:ext>
                  </a:extLst>
                </a:gridCol>
                <a:gridCol w="3854611">
                  <a:extLst>
                    <a:ext uri="{9D8B030D-6E8A-4147-A177-3AD203B41FA5}">
                      <a16:colId xmlns:a16="http://schemas.microsoft.com/office/drawing/2014/main" val="3773710827"/>
                    </a:ext>
                  </a:extLst>
                </a:gridCol>
              </a:tblGrid>
              <a:tr h="370840">
                <a:tc>
                  <a:txBody>
                    <a:bodyPr/>
                    <a:lstStyle/>
                    <a:p>
                      <a:endParaRPr lang="en-US" sz="1600" b="0">
                        <a:solidFill>
                          <a:srgbClr val="29BA74"/>
                        </a:solidFill>
                        <a:ea typeface="Microsoft YaHei" panose="020B0503020204020204" pitchFamily="34" charset="-122"/>
                      </a:endParaRPr>
                    </a:p>
                  </a:txBody>
                  <a:tcPr>
                    <a:lnB w="12700" cap="flat" cmpd="sng" algn="ctr">
                      <a:solidFill>
                        <a:schemeClr val="tx2"/>
                      </a:solidFill>
                      <a:prstDash val="solid"/>
                      <a:round/>
                      <a:headEnd type="none" w="med" len="med"/>
                      <a:tailEnd type="none" w="med" len="med"/>
                    </a:lnB>
                    <a:noFill/>
                  </a:tcPr>
                </a:tc>
                <a:tc>
                  <a:txBody>
                    <a:bodyPr/>
                    <a:lstStyle/>
                    <a:p>
                      <a:r>
                        <a:rPr lang="pl-PL" sz="1600" b="0">
                          <a:solidFill>
                            <a:srgbClr val="E71C57"/>
                          </a:solidFill>
                          <a:ea typeface="Microsoft YaHei" panose="020B0503020204020204" pitchFamily="34" charset="-122"/>
                        </a:rPr>
                        <a:t>Dont's</a:t>
                      </a:r>
                      <a:endParaRPr lang="en-US" sz="1600" b="0">
                        <a:solidFill>
                          <a:srgbClr val="E71C57"/>
                        </a:solidFill>
                        <a:ea typeface="Microsoft YaHei" panose="020B0503020204020204" pitchFamily="34" charset="-122"/>
                      </a:endParaRPr>
                    </a:p>
                  </a:txBody>
                  <a:tcPr>
                    <a:lnB w="12700" cap="flat" cmpd="sng" algn="ctr">
                      <a:solidFill>
                        <a:schemeClr val="tx2"/>
                      </a:solidFill>
                      <a:prstDash val="solid"/>
                      <a:round/>
                      <a:headEnd type="none" w="med" len="med"/>
                      <a:tailEnd type="none" w="med" len="med"/>
                    </a:lnB>
                    <a:noFill/>
                  </a:tcPr>
                </a:tc>
                <a:tc>
                  <a:txBody>
                    <a:bodyPr/>
                    <a:lstStyle/>
                    <a:p>
                      <a:r>
                        <a:rPr lang="pl-PL" sz="1600" b="0">
                          <a:solidFill>
                            <a:srgbClr val="29BA74"/>
                          </a:solidFill>
                          <a:ea typeface="Microsoft YaHei" panose="020B0503020204020204" pitchFamily="34" charset="-122"/>
                        </a:rPr>
                        <a:t>Do's</a:t>
                      </a:r>
                      <a:endParaRPr lang="en-US" sz="1600" b="0">
                        <a:solidFill>
                          <a:srgbClr val="29BA74"/>
                        </a:solidFill>
                        <a:ea typeface="Microsoft YaHei" panose="020B0503020204020204" pitchFamily="34" charset="-122"/>
                      </a:endParaRPr>
                    </a:p>
                  </a:txBody>
                  <a:tcPr>
                    <a:lnR w="12700" cap="flat" cmpd="sng" algn="ctr">
                      <a:solidFill>
                        <a:schemeClr val="tx2"/>
                      </a:solidFill>
                      <a:prstDash val="solid"/>
                      <a:round/>
                      <a:headEnd type="none" w="med" len="med"/>
                      <a:tailEnd type="none" w="med" len="med"/>
                    </a:lnR>
                    <a:lnB w="12700" cap="flat" cmpd="sng" algn="ctr">
                      <a:solidFill>
                        <a:schemeClr val="tx2"/>
                      </a:solidFill>
                      <a:prstDash val="solid"/>
                      <a:round/>
                      <a:headEnd type="none" w="med" len="med"/>
                      <a:tailEnd type="none" w="med" len="med"/>
                    </a:lnB>
                    <a:noFill/>
                  </a:tcPr>
                </a:tc>
                <a:tc>
                  <a:txBody>
                    <a:bodyPr/>
                    <a:lstStyle/>
                    <a:p>
                      <a:r>
                        <a:rPr lang="pl-PL" sz="1600" b="0">
                          <a:solidFill>
                            <a:srgbClr val="29BA74"/>
                          </a:solidFill>
                          <a:ea typeface="Microsoft YaHei" panose="020B0503020204020204" pitchFamily="34" charset="-122"/>
                        </a:rPr>
                        <a:t>Quotes</a:t>
                      </a:r>
                      <a:endParaRPr lang="en-US" sz="1600" b="0">
                        <a:solidFill>
                          <a:srgbClr val="29BA74"/>
                        </a:solidFill>
                        <a:ea typeface="Microsoft YaHei" panose="020B0503020204020204" pitchFamily="34" charset="-122"/>
                      </a:endParaRPr>
                    </a:p>
                  </a:txBody>
                  <a:tcPr>
                    <a:lnL w="12700" cap="flat" cmpd="sng" algn="ctr">
                      <a:solidFill>
                        <a:schemeClr val="tx2"/>
                      </a:solidFill>
                      <a:prstDash val="solid"/>
                      <a:round/>
                      <a:headEnd type="none" w="med" len="med"/>
                      <a:tailEnd type="none" w="med" len="med"/>
                    </a:lnL>
                    <a:lnB w="12700" cap="flat" cmpd="sng" algn="ctr">
                      <a:solidFill>
                        <a:schemeClr val="tx2"/>
                      </a:solidFill>
                      <a:prstDash val="solid"/>
                      <a:round/>
                      <a:headEnd type="none" w="med" len="med"/>
                      <a:tailEnd type="none" w="med" len="med"/>
                    </a:lnB>
                    <a:noFill/>
                  </a:tcPr>
                </a:tc>
                <a:extLst>
                  <a:ext uri="{0D108BD9-81ED-4DB2-BD59-A6C34878D82A}">
                    <a16:rowId xmlns:a16="http://schemas.microsoft.com/office/drawing/2014/main" val="2520642187"/>
                  </a:ext>
                </a:extLst>
              </a:tr>
              <a:tr h="370840">
                <a:tc>
                  <a:txBody>
                    <a:bodyPr/>
                    <a:lstStyle/>
                    <a:p>
                      <a:r>
                        <a:rPr lang="en-US" sz="1400">
                          <a:solidFill>
                            <a:srgbClr val="29BA74"/>
                          </a:solidFill>
                          <a:ea typeface="Microsoft YaHei" panose="020B0503020204020204" pitchFamily="34" charset="-122"/>
                        </a:rPr>
                        <a:t>Promo</a:t>
                      </a:r>
                    </a:p>
                  </a:txBody>
                  <a:tcPr marL="72000">
                    <a:lnT w="12700" cap="flat" cmpd="sng" algn="ctr">
                      <a:solidFill>
                        <a:schemeClr val="tx2"/>
                      </a:solidFill>
                      <a:prstDash val="solid"/>
                      <a:round/>
                      <a:headEnd type="none" w="med" len="med"/>
                      <a:tailEnd type="none" w="med" len="med"/>
                    </a:lnT>
                    <a:lnB w="9525" cap="flat" cmpd="sng" algn="ctr">
                      <a:solidFill>
                        <a:schemeClr val="bg1">
                          <a:lumMod val="75000"/>
                        </a:schemeClr>
                      </a:solidFill>
                      <a:prstDash val="sysDot"/>
                      <a:round/>
                      <a:headEnd type="none" w="med" len="med"/>
                      <a:tailEnd type="none" w="med" len="med"/>
                    </a:lnB>
                    <a:solidFill>
                      <a:srgbClr val="F2F2F2"/>
                    </a:solidFill>
                  </a:tcPr>
                </a:tc>
                <a:tc>
                  <a:txBody>
                    <a:bodyPr/>
                    <a:lstStyle/>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a:solidFill>
                            <a:srgbClr val="29BA74"/>
                          </a:solidFill>
                          <a:latin typeface="Trebuchet MS" panose="020B0603020202020204" pitchFamily="34" charset="0"/>
                          <a:ea typeface="Microsoft YaHei" panose="020B0503020204020204" pitchFamily="34" charset="-122"/>
                        </a:rPr>
                        <a:t>Plain cash incentives </a:t>
                      </a:r>
                      <a:r>
                        <a:rPr lang="en-US" sz="1200" i="0" u="none" kern="1200" spc="0">
                          <a:solidFill>
                            <a:schemeClr val="tx1"/>
                          </a:solidFill>
                          <a:latin typeface="Trebuchet MS" panose="020B0603020202020204" pitchFamily="34" charset="0"/>
                          <a:ea typeface="Microsoft YaHei" panose="020B0503020204020204" pitchFamily="34" charset="-122"/>
                        </a:rPr>
                        <a:t>– encouraging mostly young customers and promotion seekers willing to change banks very often</a:t>
                      </a:r>
                    </a:p>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a:solidFill>
                            <a:schemeClr val="tx1"/>
                          </a:solidFill>
                          <a:latin typeface="Trebuchet MS" panose="020B0603020202020204" pitchFamily="34" charset="0"/>
                          <a:ea typeface="Microsoft YaHei" panose="020B0503020204020204" pitchFamily="34" charset="-122"/>
                        </a:rPr>
                        <a:t>Very </a:t>
                      </a:r>
                      <a:r>
                        <a:rPr lang="en-US" sz="1200" i="0" u="none" kern="1200" spc="0">
                          <a:solidFill>
                            <a:srgbClr val="29BA74"/>
                          </a:solidFill>
                          <a:latin typeface="Trebuchet MS" panose="020B0603020202020204" pitchFamily="34" charset="0"/>
                          <a:ea typeface="Microsoft YaHei" panose="020B0503020204020204" pitchFamily="34" charset="-122"/>
                        </a:rPr>
                        <a:t>complicated promos </a:t>
                      </a:r>
                      <a:r>
                        <a:rPr lang="en-US" sz="1200" i="0" u="none" kern="1200" spc="0">
                          <a:solidFill>
                            <a:schemeClr val="tx1"/>
                          </a:solidFill>
                          <a:latin typeface="Trebuchet MS" panose="020B0603020202020204" pitchFamily="34" charset="0"/>
                          <a:ea typeface="Microsoft YaHei" panose="020B0503020204020204" pitchFamily="34" charset="-122"/>
                        </a:rPr>
                        <a:t>(e.g. sophisticated gamification)</a:t>
                      </a:r>
                    </a:p>
                  </a:txBody>
                  <a:tcPr marL="0">
                    <a:lnT w="12700" cap="flat" cmpd="sng" algn="ctr">
                      <a:solidFill>
                        <a:schemeClr val="tx2"/>
                      </a:solidFill>
                      <a:prstDash val="solid"/>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tc>
                  <a:txBody>
                    <a:bodyPr/>
                    <a:lstStyle/>
                    <a:p>
                      <a:pPr marL="324000" marR="0" lvl="1" indent="-216000" algn="l" defTabSz="914400" rtl="0" eaLnBrk="1" fontAlgn="auto" latinLnBrk="0" hangingPunct="1">
                        <a:lnSpc>
                          <a:spcPct val="95000"/>
                        </a:lnSpc>
                        <a:spcBef>
                          <a:spcPts val="0"/>
                        </a:spcBef>
                        <a:spcAft>
                          <a:spcPts val="0"/>
                        </a:spcAft>
                        <a:buClr>
                          <a:schemeClr val="tx2"/>
                        </a:buClr>
                        <a:buSzPct val="100000"/>
                        <a:buFont typeface="Trebuchet MS" panose="020B0603020202020204" pitchFamily="34" charset="0"/>
                        <a:buChar char="•"/>
                        <a:tabLst/>
                        <a:defRPr/>
                      </a:pPr>
                      <a:r>
                        <a:rPr lang="en-US" sz="1200" i="0" u="none" kern="1200" spc="0">
                          <a:solidFill>
                            <a:srgbClr val="29BA74"/>
                          </a:solidFill>
                          <a:latin typeface="Trebuchet MS" panose="020B0603020202020204" pitchFamily="34" charset="0"/>
                          <a:ea typeface="Microsoft YaHei" panose="020B0503020204020204" pitchFamily="34" charset="-122"/>
                        </a:rPr>
                        <a:t>Promotions enhancing loyalty </a:t>
                      </a:r>
                      <a:r>
                        <a:rPr lang="en-US" sz="1200" i="0" u="none" kern="1200" spc="0">
                          <a:solidFill>
                            <a:schemeClr val="tx1"/>
                          </a:solidFill>
                          <a:latin typeface="Trebuchet MS" panose="020B0603020202020204" pitchFamily="34" charset="0"/>
                          <a:ea typeface="Microsoft YaHei" panose="020B0503020204020204" pitchFamily="34" charset="-122"/>
                        </a:rPr>
                        <a:t>- giving access to VIP offers or better options for new products (according to principles: the more you use the more you get)</a:t>
                      </a:r>
                    </a:p>
                    <a:p>
                      <a:pPr marL="324000" marR="0" lvl="1" indent="-216000" algn="l" defTabSz="914400" rtl="0" eaLnBrk="1" fontAlgn="auto" latinLnBrk="0" hangingPunct="1">
                        <a:lnSpc>
                          <a:spcPct val="95000"/>
                        </a:lnSpc>
                        <a:spcBef>
                          <a:spcPts val="0"/>
                        </a:spcBef>
                        <a:spcAft>
                          <a:spcPts val="0"/>
                        </a:spcAft>
                        <a:buClr>
                          <a:schemeClr val="tx2"/>
                        </a:buClr>
                        <a:buSzPct val="100000"/>
                        <a:buFont typeface="Trebuchet MS" panose="020B0603020202020204" pitchFamily="34" charset="0"/>
                        <a:buChar char="•"/>
                        <a:tabLst/>
                        <a:defRPr/>
                      </a:pPr>
                      <a:r>
                        <a:rPr lang="en-US" sz="1200" i="0" u="none" kern="1200" spc="0">
                          <a:solidFill>
                            <a:srgbClr val="29BA74"/>
                          </a:solidFill>
                          <a:latin typeface="Trebuchet MS" panose="020B0603020202020204" pitchFamily="34" charset="0"/>
                          <a:ea typeface="Microsoft YaHei" panose="020B0503020204020204" pitchFamily="34" charset="-122"/>
                        </a:rPr>
                        <a:t>Simple promotions targeted to segments </a:t>
                      </a:r>
                      <a:r>
                        <a:rPr lang="en-US" sz="1200" i="0" u="none" kern="1200" spc="0">
                          <a:solidFill>
                            <a:schemeClr val="tx1"/>
                          </a:solidFill>
                          <a:latin typeface="Trebuchet MS" panose="020B0603020202020204" pitchFamily="34" charset="0"/>
                          <a:ea typeface="Microsoft YaHei" panose="020B0503020204020204" pitchFamily="34" charset="-122"/>
                        </a:rPr>
                        <a:t>needs (e.g. cash for students, next level service / offers for mass, etc.)</a:t>
                      </a:r>
                      <a:endParaRPr lang="en-US" sz="1200" i="0" u="none" kern="1200" spc="0">
                        <a:latin typeface="Trebuchet MS" panose="020B0603020202020204" pitchFamily="34" charset="0"/>
                        <a:ea typeface="Microsoft YaHei" panose="020B0503020204020204" pitchFamily="34" charset="-122"/>
                      </a:endParaRPr>
                    </a:p>
                  </a:txBody>
                  <a:tcPr marL="0">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tc>
                  <a:txBody>
                    <a:bodyPr/>
                    <a:lstStyle/>
                    <a:p>
                      <a:pPr marL="0" lvl="0" indent="0" algn="l" defTabSz="914400" rtl="0" eaLnBrk="1" latinLnBrk="0" hangingPunct="1">
                        <a:lnSpc>
                          <a:spcPct val="95000"/>
                        </a:lnSpc>
                        <a:spcBef>
                          <a:spcPts val="0"/>
                        </a:spcBef>
                        <a:spcAft>
                          <a:spcPts val="0"/>
                        </a:spcAft>
                        <a:buClrTx/>
                        <a:buSzPct val="100000"/>
                        <a:buFont typeface="Trebuchet MS" panose="020B0603020202020204" pitchFamily="34" charset="0"/>
                        <a:buChar char="​"/>
                      </a:pPr>
                      <a:r>
                        <a:rPr lang="en-US" sz="1100" i="1" u="none" kern="1200" spc="0">
                          <a:solidFill>
                            <a:srgbClr val="7F7F7F"/>
                          </a:solidFill>
                          <a:latin typeface="Trebuchet MS" panose="020B0603020202020204" pitchFamily="34" charset="0"/>
                          <a:ea typeface="Microsoft YaHei" panose="020B0503020204020204" pitchFamily="34" charset="-122"/>
                        </a:rPr>
                        <a:t>We </a:t>
                      </a:r>
                      <a:r>
                        <a:rPr lang="en-US" sz="1100" b="1" i="1" u="sng" kern="1200" spc="0">
                          <a:solidFill>
                            <a:srgbClr val="7F7F7F"/>
                          </a:solidFill>
                          <a:latin typeface="Trebuchet MS" panose="020B0603020202020204" pitchFamily="34" charset="0"/>
                          <a:ea typeface="Microsoft YaHei" panose="020B0503020204020204" pitchFamily="34" charset="-122"/>
                        </a:rPr>
                        <a:t>do not want to invest into not loyal customers</a:t>
                      </a:r>
                      <a:r>
                        <a:rPr lang="en-US" sz="1100" i="1" u="none" kern="1200" spc="0">
                          <a:solidFill>
                            <a:srgbClr val="7F7F7F"/>
                          </a:solidFill>
                          <a:latin typeface="Trebuchet MS" panose="020B0603020202020204" pitchFamily="34" charset="0"/>
                          <a:ea typeface="Microsoft YaHei" panose="020B0503020204020204" pitchFamily="34" charset="-122"/>
                        </a:rPr>
                        <a:t>. Thus, we do not believe in cash promos because this a great encouragement for promo seekers who are going from bank to bank.</a:t>
                      </a:r>
                    </a:p>
                    <a:p>
                      <a:pPr marL="0" marR="0" lvl="0" indent="0" algn="r" defTabSz="914400" rtl="0" eaLnBrk="1" fontAlgn="auto" latinLnBrk="0" hangingPunct="1">
                        <a:lnSpc>
                          <a:spcPct val="95000"/>
                        </a:lnSpc>
                        <a:spcBef>
                          <a:spcPts val="0"/>
                        </a:spcBef>
                        <a:spcAft>
                          <a:spcPts val="0"/>
                        </a:spcAft>
                        <a:buClrTx/>
                        <a:buSzPct val="100000"/>
                        <a:buFont typeface="Trebuchet MS" panose="020B0603020202020204" pitchFamily="34" charset="0"/>
                        <a:buChar char="​"/>
                        <a:tabLst/>
                        <a:defRPr/>
                      </a:pPr>
                      <a:r>
                        <a:rPr lang="en-US" sz="1100" b="1" i="0" u="none" kern="1200" spc="0">
                          <a:solidFill>
                            <a:schemeClr val="tx1"/>
                          </a:solidFill>
                          <a:latin typeface="Trebuchet MS" panose="020B0603020202020204" pitchFamily="34" charset="0"/>
                          <a:ea typeface="Microsoft YaHei" panose="020B0503020204020204" pitchFamily="34" charset="-122"/>
                        </a:rPr>
                        <a:t>Head of Onboarding</a:t>
                      </a:r>
                      <a:br>
                        <a:rPr lang="en-US" sz="1100" b="1" i="0" u="none" kern="1200" spc="0">
                          <a:solidFill>
                            <a:schemeClr val="tx1"/>
                          </a:solidFill>
                          <a:latin typeface="Trebuchet MS" panose="020B0603020202020204" pitchFamily="34" charset="0"/>
                          <a:ea typeface="Microsoft YaHei" panose="020B0503020204020204" pitchFamily="34" charset="-122"/>
                        </a:rPr>
                      </a:br>
                      <a:r>
                        <a:rPr lang="en-US" sz="1100" b="1" i="0" u="none" kern="1200" spc="0">
                          <a:solidFill>
                            <a:schemeClr val="tx1"/>
                          </a:solidFill>
                          <a:latin typeface="Trebuchet MS" panose="020B0603020202020204" pitchFamily="34" charset="0"/>
                          <a:ea typeface="Microsoft YaHei" panose="020B0503020204020204" pitchFamily="34" charset="-122"/>
                        </a:rPr>
                        <a:t> and Mobile Services at </a:t>
                      </a:r>
                      <a:r>
                        <a:rPr lang="en-US" sz="1100" b="1" i="0" u="none" kern="1200" spc="0" err="1">
                          <a:solidFill>
                            <a:schemeClr val="tx1"/>
                          </a:solidFill>
                          <a:latin typeface="Trebuchet MS" panose="020B0603020202020204" pitchFamily="34" charset="0"/>
                          <a:ea typeface="Microsoft YaHei" panose="020B0503020204020204" pitchFamily="34" charset="-122"/>
                        </a:rPr>
                        <a:t>Aion</a:t>
                      </a:r>
                      <a:r>
                        <a:rPr lang="en-US" sz="1100" b="1" i="0" u="none" kern="1200" spc="0">
                          <a:solidFill>
                            <a:schemeClr val="tx1"/>
                          </a:solidFill>
                          <a:latin typeface="Trebuchet MS" panose="020B0603020202020204" pitchFamily="34" charset="0"/>
                          <a:ea typeface="Microsoft YaHei" panose="020B0503020204020204" pitchFamily="34" charset="-122"/>
                        </a:rPr>
                        <a:t> Bank</a:t>
                      </a:r>
                    </a:p>
                  </a:txBody>
                  <a:tcPr>
                    <a:lnL w="12700" cap="flat" cmpd="sng" algn="ctr">
                      <a:solidFill>
                        <a:schemeClr val="tx2"/>
                      </a:solidFill>
                      <a:prstDash val="solid"/>
                      <a:round/>
                      <a:headEnd type="none" w="med" len="med"/>
                      <a:tailEnd type="none" w="med" len="med"/>
                    </a:lnL>
                    <a:lnT w="12700" cap="flat" cmpd="sng" algn="ctr">
                      <a:solidFill>
                        <a:schemeClr val="tx2"/>
                      </a:solidFill>
                      <a:prstDash val="solid"/>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extLst>
                  <a:ext uri="{0D108BD9-81ED-4DB2-BD59-A6C34878D82A}">
                    <a16:rowId xmlns:a16="http://schemas.microsoft.com/office/drawing/2014/main" val="512330485"/>
                  </a:ext>
                </a:extLst>
              </a:tr>
              <a:tr h="37084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a:solidFill>
                            <a:srgbClr val="29BA74"/>
                          </a:solidFill>
                          <a:ea typeface="Microsoft YaHei" panose="020B0503020204020204" pitchFamily="34" charset="-122"/>
                        </a:rPr>
                        <a:t>Comm</a:t>
                      </a:r>
                      <a:r>
                        <a:rPr lang="pl-PL" sz="1400">
                          <a:solidFill>
                            <a:srgbClr val="29BA74"/>
                          </a:solidFill>
                          <a:ea typeface="Microsoft YaHei" panose="020B0503020204020204" pitchFamily="34" charset="-122"/>
                        </a:rPr>
                        <a:t>.</a:t>
                      </a:r>
                      <a:r>
                        <a:rPr lang="en-US" sz="1400">
                          <a:solidFill>
                            <a:srgbClr val="29BA74"/>
                          </a:solidFill>
                          <a:ea typeface="Microsoft YaHei" panose="020B0503020204020204" pitchFamily="34" charset="-122"/>
                        </a:rPr>
                        <a:t> strategy </a:t>
                      </a:r>
                    </a:p>
                    <a:p>
                      <a:endParaRPr lang="en-US" sz="1400">
                        <a:solidFill>
                          <a:srgbClr val="29BA74"/>
                        </a:solidFill>
                        <a:ea typeface="Microsoft YaHei" panose="020B0503020204020204" pitchFamily="34" charset="-122"/>
                      </a:endParaRPr>
                    </a:p>
                  </a:txBody>
                  <a:tcPr marL="72000">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solidFill>
                      <a:srgbClr val="F2F2F2"/>
                    </a:solidFill>
                  </a:tcPr>
                </a:tc>
                <a:tc>
                  <a:txBody>
                    <a:bodyPr/>
                    <a:lstStyle/>
                    <a:p>
                      <a:pPr marL="324000" marR="0" lvl="1" indent="-216000" algn="l" defTabSz="914400" rtl="0" eaLnBrk="1" fontAlgn="auto" latinLnBrk="0" hangingPunct="1">
                        <a:lnSpc>
                          <a:spcPct val="95000"/>
                        </a:lnSpc>
                        <a:spcBef>
                          <a:spcPts val="0"/>
                        </a:spcBef>
                        <a:spcAft>
                          <a:spcPts val="0"/>
                        </a:spcAft>
                        <a:buClr>
                          <a:schemeClr val="tx2"/>
                        </a:buClr>
                        <a:buSzPct val="100000"/>
                        <a:buFont typeface="Trebuchet MS" panose="020B0603020202020204" pitchFamily="34" charset="0"/>
                        <a:buChar char="•"/>
                        <a:tabLst/>
                        <a:defRPr/>
                      </a:pPr>
                      <a:r>
                        <a:rPr lang="en-US" sz="1200" i="0" u="none" kern="1200" spc="0">
                          <a:solidFill>
                            <a:schemeClr val="tx1"/>
                          </a:solidFill>
                          <a:latin typeface="Trebuchet MS" panose="020B0603020202020204" pitchFamily="34" charset="0"/>
                          <a:ea typeface="Microsoft YaHei" panose="020B0503020204020204" pitchFamily="34" charset="-122"/>
                        </a:rPr>
                        <a:t>Standardized communication</a:t>
                      </a:r>
                    </a:p>
                    <a:p>
                      <a:pPr marL="324000" marR="0" lvl="1" indent="-216000" algn="l" defTabSz="914400" rtl="0" eaLnBrk="1" fontAlgn="auto" latinLnBrk="0" hangingPunct="1">
                        <a:lnSpc>
                          <a:spcPct val="95000"/>
                        </a:lnSpc>
                        <a:spcBef>
                          <a:spcPts val="0"/>
                        </a:spcBef>
                        <a:spcAft>
                          <a:spcPts val="0"/>
                        </a:spcAft>
                        <a:buClr>
                          <a:schemeClr val="tx2"/>
                        </a:buClr>
                        <a:buSzPct val="100000"/>
                        <a:buFont typeface="Trebuchet MS" panose="020B0603020202020204" pitchFamily="34" charset="0"/>
                        <a:buChar char="•"/>
                        <a:tabLst/>
                        <a:defRPr/>
                      </a:pPr>
                      <a:r>
                        <a:rPr lang="en-US" sz="1200" i="0" u="none" kern="1200" spc="0">
                          <a:solidFill>
                            <a:schemeClr val="tx1"/>
                          </a:solidFill>
                          <a:latin typeface="Trebuchet MS" panose="020B0603020202020204" pitchFamily="34" charset="0"/>
                          <a:ea typeface="Microsoft YaHei" panose="020B0503020204020204" pitchFamily="34" charset="-122"/>
                        </a:rPr>
                        <a:t>Communication not based on benefits</a:t>
                      </a:r>
                    </a:p>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endParaRPr lang="en-US" sz="1200" i="0" u="none" kern="1200" spc="0">
                        <a:solidFill>
                          <a:schemeClr val="tx1"/>
                        </a:solidFill>
                        <a:latin typeface="Trebuchet MS" panose="020B0603020202020204" pitchFamily="34" charset="0"/>
                        <a:ea typeface="Microsoft YaHei" panose="020B0503020204020204" pitchFamily="34" charset="-122"/>
                      </a:endParaRPr>
                    </a:p>
                  </a:txBody>
                  <a:tcPr marL="0">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tc>
                  <a:txBody>
                    <a:bodyPr/>
                    <a:lstStyle/>
                    <a:p>
                      <a:pPr marL="324000" marR="0" lvl="1" indent="-216000" algn="l" defTabSz="914400" rtl="0" eaLnBrk="1" fontAlgn="auto" latinLnBrk="0" hangingPunct="1">
                        <a:lnSpc>
                          <a:spcPct val="95000"/>
                        </a:lnSpc>
                        <a:spcBef>
                          <a:spcPts val="0"/>
                        </a:spcBef>
                        <a:spcAft>
                          <a:spcPts val="0"/>
                        </a:spcAft>
                        <a:buClr>
                          <a:schemeClr val="tx2"/>
                        </a:buClr>
                        <a:buSzPct val="100000"/>
                        <a:buFont typeface="Trebuchet MS" panose="020B0603020202020204" pitchFamily="34" charset="0"/>
                        <a:buChar char="•"/>
                        <a:tabLst/>
                        <a:defRPr/>
                      </a:pPr>
                      <a:r>
                        <a:rPr lang="en-US" sz="1200" i="0" u="none" kern="1200" spc="0">
                          <a:solidFill>
                            <a:srgbClr val="29BA74"/>
                          </a:solidFill>
                          <a:latin typeface="Trebuchet MS" panose="020B0603020202020204" pitchFamily="34" charset="0"/>
                          <a:ea typeface="Microsoft YaHei" panose="020B0503020204020204" pitchFamily="34" charset="-122"/>
                        </a:rPr>
                        <a:t>Personalized communication</a:t>
                      </a:r>
                    </a:p>
                    <a:p>
                      <a:pPr marL="324000" marR="0" lvl="1" indent="-216000" algn="l" defTabSz="914400" rtl="0" eaLnBrk="1" fontAlgn="auto" latinLnBrk="0" hangingPunct="1">
                        <a:lnSpc>
                          <a:spcPct val="95000"/>
                        </a:lnSpc>
                        <a:spcBef>
                          <a:spcPts val="0"/>
                        </a:spcBef>
                        <a:spcAft>
                          <a:spcPts val="0"/>
                        </a:spcAft>
                        <a:buClr>
                          <a:schemeClr val="tx2"/>
                        </a:buClr>
                        <a:buSzPct val="100000"/>
                        <a:buFont typeface="Trebuchet MS" panose="020B0603020202020204" pitchFamily="34" charset="0"/>
                        <a:buChar char="•"/>
                        <a:tabLst/>
                        <a:defRPr/>
                      </a:pPr>
                      <a:r>
                        <a:rPr lang="en-US" sz="1200" i="0" u="none" kern="1200" spc="0">
                          <a:solidFill>
                            <a:schemeClr val="tx1"/>
                          </a:solidFill>
                          <a:latin typeface="Trebuchet MS" panose="020B0603020202020204" pitchFamily="34" charset="0"/>
                          <a:ea typeface="Microsoft YaHei" panose="020B0503020204020204" pitchFamily="34" charset="-122"/>
                        </a:rPr>
                        <a:t>Emphasizing principle: </a:t>
                      </a:r>
                      <a:r>
                        <a:rPr lang="en-US" sz="1200" i="0" u="none" kern="1200" spc="0">
                          <a:solidFill>
                            <a:srgbClr val="29BA74"/>
                          </a:solidFill>
                          <a:latin typeface="Trebuchet MS" panose="020B0603020202020204" pitchFamily="34" charset="0"/>
                          <a:ea typeface="Microsoft YaHei" panose="020B0503020204020204" pitchFamily="34" charset="-122"/>
                        </a:rPr>
                        <a:t>the longer you stay with us, the more you get </a:t>
                      </a:r>
                      <a:r>
                        <a:rPr lang="en-US" sz="1200" i="0" u="none" kern="1200" spc="0">
                          <a:solidFill>
                            <a:schemeClr val="tx1"/>
                          </a:solidFill>
                          <a:latin typeface="Trebuchet MS" panose="020B0603020202020204" pitchFamily="34" charset="0"/>
                          <a:ea typeface="Microsoft YaHei" panose="020B0503020204020204" pitchFamily="34" charset="-122"/>
                        </a:rPr>
                        <a:t>(e.g. through hidden promotional offers, better / priority service)</a:t>
                      </a:r>
                    </a:p>
                    <a:p>
                      <a:pPr marL="324000" marR="0" lvl="1" indent="-216000" algn="l" defTabSz="914400" rtl="0" eaLnBrk="1" fontAlgn="auto" latinLnBrk="0" hangingPunct="1">
                        <a:lnSpc>
                          <a:spcPct val="95000"/>
                        </a:lnSpc>
                        <a:spcBef>
                          <a:spcPts val="0"/>
                        </a:spcBef>
                        <a:spcAft>
                          <a:spcPts val="0"/>
                        </a:spcAft>
                        <a:buClr>
                          <a:schemeClr val="tx2"/>
                        </a:buClr>
                        <a:buSzPct val="100000"/>
                        <a:buFont typeface="Trebuchet MS" panose="020B0603020202020204" pitchFamily="34" charset="0"/>
                        <a:buChar char="•"/>
                        <a:tabLst/>
                        <a:defRPr/>
                      </a:pPr>
                      <a:r>
                        <a:rPr lang="en-US" sz="1200" i="0" u="none" kern="1200" spc="0">
                          <a:solidFill>
                            <a:srgbClr val="29BA74"/>
                          </a:solidFill>
                          <a:latin typeface="Trebuchet MS" panose="020B0603020202020204" pitchFamily="34" charset="0"/>
                          <a:ea typeface="Microsoft YaHei" panose="020B0503020204020204" pitchFamily="34" charset="-122"/>
                        </a:rPr>
                        <a:t>Benefits based communication </a:t>
                      </a:r>
                      <a:r>
                        <a:rPr lang="en-US" sz="1200" i="0" u="none" kern="1200" spc="0">
                          <a:solidFill>
                            <a:schemeClr val="tx1"/>
                          </a:solidFill>
                          <a:latin typeface="Trebuchet MS" panose="020B0603020202020204" pitchFamily="34" charset="0"/>
                          <a:ea typeface="Microsoft YaHei" panose="020B0503020204020204" pitchFamily="34" charset="-122"/>
                        </a:rPr>
                        <a:t>(e.g. highlighting best-in-class </a:t>
                      </a:r>
                      <a:r>
                        <a:rPr lang="en-US" sz="1200" i="0" u="none" kern="1200" spc="0" err="1">
                          <a:solidFill>
                            <a:schemeClr val="tx1"/>
                          </a:solidFill>
                          <a:latin typeface="Trebuchet MS" panose="020B0603020202020204" pitchFamily="34" charset="0"/>
                          <a:ea typeface="Microsoft YaHei" panose="020B0503020204020204" pitchFamily="34" charset="-122"/>
                        </a:rPr>
                        <a:t>VASes</a:t>
                      </a:r>
                      <a:r>
                        <a:rPr lang="en-US" sz="1200" i="0" u="none" kern="1200" spc="0">
                          <a:solidFill>
                            <a:schemeClr val="tx1"/>
                          </a:solidFill>
                          <a:latin typeface="Trebuchet MS" panose="020B0603020202020204" pitchFamily="34" charset="0"/>
                          <a:ea typeface="Microsoft YaHei" panose="020B0503020204020204" pitchFamily="34" charset="-122"/>
                        </a:rPr>
                        <a:t>) </a:t>
                      </a:r>
                    </a:p>
                  </a:txBody>
                  <a:tcPr marL="0">
                    <a:lnR w="12700" cap="flat" cmpd="sng" algn="ctr">
                      <a:solidFill>
                        <a:schemeClr val="tx2"/>
                      </a:solidFill>
                      <a:prstDash val="solid"/>
                      <a:round/>
                      <a:headEnd type="none" w="med" len="med"/>
                      <a:tailEnd type="none" w="med" len="med"/>
                    </a:ln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tc>
                  <a:txBody>
                    <a:bodyPr/>
                    <a:lstStyle/>
                    <a:p>
                      <a:pPr marL="0" lvl="0" indent="0" algn="l" defTabSz="914400" rtl="0" eaLnBrk="1" latinLnBrk="0" hangingPunct="1">
                        <a:lnSpc>
                          <a:spcPct val="95000"/>
                        </a:lnSpc>
                        <a:spcBef>
                          <a:spcPts val="0"/>
                        </a:spcBef>
                        <a:spcAft>
                          <a:spcPts val="0"/>
                        </a:spcAft>
                        <a:buClrTx/>
                        <a:buSzPct val="100000"/>
                        <a:buFont typeface="Trebuchet MS" panose="020B0603020202020204" pitchFamily="34" charset="0"/>
                        <a:buChar char="​"/>
                      </a:pPr>
                      <a:r>
                        <a:rPr lang="en-US" sz="1100" i="1" u="none" kern="1200" spc="0">
                          <a:solidFill>
                            <a:srgbClr val="7F7F7F"/>
                          </a:solidFill>
                          <a:latin typeface="Trebuchet MS" panose="020B0603020202020204" pitchFamily="34" charset="0"/>
                          <a:ea typeface="Microsoft YaHei" panose="020B0503020204020204" pitchFamily="34" charset="-122"/>
                        </a:rPr>
                        <a:t>In first days, we do not have much information about our new customers. But we do have something - even age. So, we always tray to </a:t>
                      </a:r>
                      <a:r>
                        <a:rPr lang="en-US" sz="1100" b="1" i="1" u="sng" kern="1200" spc="0">
                          <a:solidFill>
                            <a:srgbClr val="7F7F7F"/>
                          </a:solidFill>
                          <a:latin typeface="Trebuchet MS" panose="020B0603020202020204" pitchFamily="34" charset="0"/>
                          <a:ea typeface="Microsoft YaHei" panose="020B0503020204020204" pitchFamily="34" charset="-122"/>
                        </a:rPr>
                        <a:t>tailor our communication strategy and messaging to customers</a:t>
                      </a:r>
                      <a:r>
                        <a:rPr lang="en-US" sz="1100" i="1" u="none" kern="1200" spc="0">
                          <a:solidFill>
                            <a:srgbClr val="7F7F7F"/>
                          </a:solidFill>
                          <a:latin typeface="Trebuchet MS" panose="020B0603020202020204" pitchFamily="34" charset="0"/>
                          <a:ea typeface="Microsoft YaHei" panose="020B0503020204020204" pitchFamily="34" charset="-122"/>
                        </a:rPr>
                        <a:t>. Even if its only a simple - age segmentation. It is much better than standardized approach </a:t>
                      </a:r>
                    </a:p>
                    <a:p>
                      <a:pPr marL="0" lvl="0" indent="0" algn="r" defTabSz="914400" rtl="0" eaLnBrk="1" latinLnBrk="0" hangingPunct="1">
                        <a:lnSpc>
                          <a:spcPct val="95000"/>
                        </a:lnSpc>
                        <a:spcBef>
                          <a:spcPts val="0"/>
                        </a:spcBef>
                        <a:spcAft>
                          <a:spcPts val="0"/>
                        </a:spcAft>
                        <a:buClrTx/>
                        <a:buSzPct val="100000"/>
                        <a:buFont typeface="Trebuchet MS" panose="020B0603020202020204" pitchFamily="34" charset="0"/>
                        <a:buChar char="​"/>
                      </a:pPr>
                      <a:r>
                        <a:rPr lang="en-US" sz="1100" b="1" i="0" u="none" kern="1200" spc="0">
                          <a:solidFill>
                            <a:schemeClr val="tx1"/>
                          </a:solidFill>
                          <a:latin typeface="Trebuchet MS" panose="020B0603020202020204" pitchFamily="34" charset="0"/>
                          <a:ea typeface="Microsoft YaHei" panose="020B0503020204020204" pitchFamily="34" charset="-122"/>
                        </a:rPr>
                        <a:t>Head of Onboarding </a:t>
                      </a:r>
                      <a:br>
                        <a:rPr lang="en-US" sz="1100" b="1" i="0" u="none" kern="1200" spc="0">
                          <a:solidFill>
                            <a:schemeClr val="tx1"/>
                          </a:solidFill>
                          <a:latin typeface="Trebuchet MS" panose="020B0603020202020204" pitchFamily="34" charset="0"/>
                          <a:ea typeface="Microsoft YaHei" panose="020B0503020204020204" pitchFamily="34" charset="-122"/>
                        </a:rPr>
                      </a:br>
                      <a:r>
                        <a:rPr lang="en-US" sz="1100" b="1" i="0" u="none" kern="1200" spc="0">
                          <a:solidFill>
                            <a:schemeClr val="tx1"/>
                          </a:solidFill>
                          <a:latin typeface="Trebuchet MS" panose="020B0603020202020204" pitchFamily="34" charset="0"/>
                          <a:ea typeface="Microsoft YaHei" panose="020B0503020204020204" pitchFamily="34" charset="-122"/>
                        </a:rPr>
                        <a:t>and Mobile Services at </a:t>
                      </a:r>
                      <a:r>
                        <a:rPr lang="en-US" sz="1100" b="1" i="0" u="none" kern="1200" spc="0" err="1">
                          <a:solidFill>
                            <a:schemeClr val="tx1"/>
                          </a:solidFill>
                          <a:latin typeface="Trebuchet MS" panose="020B0603020202020204" pitchFamily="34" charset="0"/>
                          <a:ea typeface="Microsoft YaHei" panose="020B0503020204020204" pitchFamily="34" charset="-122"/>
                        </a:rPr>
                        <a:t>Aion</a:t>
                      </a:r>
                      <a:r>
                        <a:rPr lang="en-US" sz="1100" b="1" i="0" u="none" kern="1200" spc="0">
                          <a:solidFill>
                            <a:schemeClr val="tx1"/>
                          </a:solidFill>
                          <a:latin typeface="Trebuchet MS" panose="020B0603020202020204" pitchFamily="34" charset="0"/>
                          <a:ea typeface="Microsoft YaHei" panose="020B0503020204020204" pitchFamily="34" charset="-122"/>
                        </a:rPr>
                        <a:t> Bank</a:t>
                      </a:r>
                    </a:p>
                  </a:txBody>
                  <a:tcPr>
                    <a:lnL w="12700" cap="flat" cmpd="sng" algn="ctr">
                      <a:solidFill>
                        <a:schemeClr val="tx2"/>
                      </a:solidFill>
                      <a:prstDash val="solid"/>
                      <a:round/>
                      <a:headEnd type="none" w="med" len="med"/>
                      <a:tailEnd type="none" w="med" len="med"/>
                    </a:lnL>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extLst>
                  <a:ext uri="{0D108BD9-81ED-4DB2-BD59-A6C34878D82A}">
                    <a16:rowId xmlns:a16="http://schemas.microsoft.com/office/drawing/2014/main" val="2335909884"/>
                  </a:ext>
                </a:extLst>
              </a:tr>
              <a:tr h="370840">
                <a:tc>
                  <a:txBody>
                    <a:bodyPr/>
                    <a:lstStyle/>
                    <a:p>
                      <a:r>
                        <a:rPr lang="en-US" sz="1400">
                          <a:solidFill>
                            <a:srgbClr val="29BA74"/>
                          </a:solidFill>
                          <a:ea typeface="Microsoft YaHei" panose="020B0503020204020204" pitchFamily="34" charset="-122"/>
                        </a:rPr>
                        <a:t>Comm</a:t>
                      </a:r>
                      <a:r>
                        <a:rPr lang="pl-PL" sz="1400">
                          <a:solidFill>
                            <a:srgbClr val="29BA74"/>
                          </a:solidFill>
                          <a:ea typeface="Microsoft YaHei" panose="020B0503020204020204" pitchFamily="34" charset="-122"/>
                        </a:rPr>
                        <a:t>.</a:t>
                      </a:r>
                      <a:r>
                        <a:rPr lang="en-US" sz="1400">
                          <a:solidFill>
                            <a:srgbClr val="29BA74"/>
                          </a:solidFill>
                          <a:ea typeface="Microsoft YaHei" panose="020B0503020204020204" pitchFamily="34" charset="-122"/>
                        </a:rPr>
                        <a:t> </a:t>
                      </a:r>
                      <a:endParaRPr lang="pl-PL" sz="1400">
                        <a:solidFill>
                          <a:srgbClr val="29BA74"/>
                        </a:solidFill>
                        <a:ea typeface="Microsoft YaHei" panose="020B0503020204020204" pitchFamily="34" charset="-122"/>
                      </a:endParaRPr>
                    </a:p>
                    <a:p>
                      <a:r>
                        <a:rPr lang="en-US" sz="1400">
                          <a:solidFill>
                            <a:srgbClr val="29BA74"/>
                          </a:solidFill>
                          <a:ea typeface="Microsoft YaHei" panose="020B0503020204020204" pitchFamily="34" charset="-122"/>
                        </a:rPr>
                        <a:t>tools</a:t>
                      </a:r>
                    </a:p>
                  </a:txBody>
                  <a:tcPr marL="72000">
                    <a:lnT w="9525" cap="flat" cmpd="sng" algn="ctr">
                      <a:solidFill>
                        <a:schemeClr val="bg1">
                          <a:lumMod val="75000"/>
                        </a:schemeClr>
                      </a:solidFill>
                      <a:prstDash val="sysDot"/>
                      <a:round/>
                      <a:headEnd type="none" w="med" len="med"/>
                      <a:tailEnd type="none" w="med" len="med"/>
                    </a:lnT>
                    <a:lnB w="12700" cap="flat" cmpd="sng" algn="ctr">
                      <a:noFill/>
                      <a:prstDash val="solid"/>
                      <a:round/>
                      <a:headEnd type="none" w="med" len="med"/>
                      <a:tailEnd type="none" w="med" len="med"/>
                    </a:lnB>
                    <a:solidFill>
                      <a:srgbClr val="F2F2F2"/>
                    </a:solidFill>
                  </a:tcPr>
                </a:tc>
                <a:tc>
                  <a:txBody>
                    <a:bodyPr/>
                    <a:lstStyle/>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a:solidFill>
                            <a:schemeClr val="tx1"/>
                          </a:solidFill>
                          <a:latin typeface="Trebuchet MS" panose="020B0603020202020204" pitchFamily="34" charset="0"/>
                          <a:ea typeface="Microsoft YaHei" panose="020B0503020204020204" pitchFamily="34" charset="-122"/>
                        </a:rPr>
                        <a:t>Push messages used for x-sell</a:t>
                      </a:r>
                    </a:p>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a:solidFill>
                            <a:srgbClr val="29BA74"/>
                          </a:solidFill>
                          <a:latin typeface="Trebuchet MS" panose="020B0603020202020204" pitchFamily="34" charset="0"/>
                          <a:ea typeface="Microsoft YaHei" panose="020B0503020204020204" pitchFamily="34" charset="-122"/>
                        </a:rPr>
                        <a:t>Push messages used standalone </a:t>
                      </a:r>
                      <a:r>
                        <a:rPr lang="en-US" sz="1200" i="0" u="none" kern="1200" spc="0">
                          <a:solidFill>
                            <a:schemeClr val="tx1"/>
                          </a:solidFill>
                          <a:latin typeface="Trebuchet MS" panose="020B0603020202020204" pitchFamily="34" charset="0"/>
                          <a:ea typeface="Microsoft YaHei" panose="020B0503020204020204" pitchFamily="34" charset="-122"/>
                        </a:rPr>
                        <a:t>without boosters (like e-mail or inside app message) for more complex info</a:t>
                      </a:r>
                    </a:p>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a:solidFill>
                            <a:schemeClr val="tx1"/>
                          </a:solidFill>
                          <a:latin typeface="Trebuchet MS" panose="020B0603020202020204" pitchFamily="34" charset="0"/>
                          <a:ea typeface="Microsoft YaHei" panose="020B0503020204020204" pitchFamily="34" charset="-122"/>
                        </a:rPr>
                        <a:t>Long and wordy content </a:t>
                      </a:r>
                    </a:p>
                  </a:txBody>
                  <a:tcPr marL="0">
                    <a:lnT w="9525" cap="flat" cmpd="sng" algn="ctr">
                      <a:solidFill>
                        <a:schemeClr val="bg1">
                          <a:lumMod val="75000"/>
                        </a:schemeClr>
                      </a:solidFill>
                      <a:prstDash val="sysDot"/>
                      <a:round/>
                      <a:headEnd type="none" w="med" len="med"/>
                      <a:tailEnd type="none" w="med" len="med"/>
                    </a:lnT>
                    <a:lnB w="12700" cap="flat" cmpd="sng" algn="ctr">
                      <a:noFill/>
                      <a:prstDash val="solid"/>
                      <a:round/>
                      <a:headEnd type="none" w="med" len="med"/>
                      <a:tailEnd type="none" w="med" len="med"/>
                    </a:lnB>
                    <a:noFill/>
                  </a:tcPr>
                </a:tc>
                <a:tc>
                  <a:txBody>
                    <a:bodyPr/>
                    <a:lstStyle/>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a:solidFill>
                            <a:srgbClr val="29BA74"/>
                          </a:solidFill>
                          <a:latin typeface="Trebuchet MS" panose="020B0603020202020204" pitchFamily="34" charset="0"/>
                          <a:ea typeface="Microsoft YaHei" panose="020B0503020204020204" pitchFamily="34" charset="-122"/>
                        </a:rPr>
                        <a:t>App Push combined with multistep approach: </a:t>
                      </a:r>
                      <a:r>
                        <a:rPr lang="en-US" sz="1200" i="0" u="none" kern="1200" spc="0">
                          <a:solidFill>
                            <a:srgbClr val="575757"/>
                          </a:solidFill>
                          <a:latin typeface="Trebuchet MS" panose="020B0603020202020204" pitchFamily="34" charset="0"/>
                          <a:ea typeface="Microsoft YaHei" panose="020B0503020204020204" pitchFamily="34" charset="-122"/>
                        </a:rPr>
                        <a:t>push </a:t>
                      </a:r>
                      <a:r>
                        <a:rPr lang="en-US" sz="1200" i="0" u="none" kern="1200" spc="0">
                          <a:solidFill>
                            <a:schemeClr val="tx1"/>
                          </a:solidFill>
                          <a:latin typeface="Trebuchet MS" panose="020B0603020202020204" pitchFamily="34" charset="0"/>
                          <a:ea typeface="Microsoft YaHei" panose="020B0503020204020204" pitchFamily="34" charset="-122"/>
                        </a:rPr>
                        <a:t>followed by inside app message (extended info) and e-mail (with full info and documents)</a:t>
                      </a:r>
                    </a:p>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a:solidFill>
                            <a:schemeClr val="tx1"/>
                          </a:solidFill>
                          <a:latin typeface="Trebuchet MS" panose="020B0603020202020204" pitchFamily="34" charset="0"/>
                          <a:ea typeface="Microsoft YaHei" panose="020B0503020204020204" pitchFamily="34" charset="-122"/>
                        </a:rPr>
                        <a:t>App Pushes used to communicate new app features, important information (not x-sell)</a:t>
                      </a:r>
                    </a:p>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a:solidFill>
                            <a:schemeClr val="tx1"/>
                          </a:solidFill>
                          <a:latin typeface="Trebuchet MS" panose="020B0603020202020204" pitchFamily="34" charset="0"/>
                          <a:ea typeface="Microsoft YaHei" panose="020B0503020204020204" pitchFamily="34" charset="-122"/>
                        </a:rPr>
                        <a:t>Communication with </a:t>
                      </a:r>
                      <a:r>
                        <a:rPr lang="en-US" sz="1200" i="0" u="none" kern="1200" spc="0">
                          <a:solidFill>
                            <a:srgbClr val="29BA74"/>
                          </a:solidFill>
                          <a:latin typeface="Trebuchet MS" panose="020B0603020202020204" pitchFamily="34" charset="0"/>
                          <a:ea typeface="Microsoft YaHei" panose="020B0503020204020204" pitchFamily="34" charset="-122"/>
                        </a:rPr>
                        <a:t>usage of video and animations  </a:t>
                      </a:r>
                    </a:p>
                  </a:txBody>
                  <a:tcPr marL="0">
                    <a:lnR w="12700" cap="flat" cmpd="sng" algn="ctr">
                      <a:solidFill>
                        <a:schemeClr val="tx2"/>
                      </a:solidFill>
                      <a:prstDash val="solid"/>
                      <a:round/>
                      <a:headEnd type="none" w="med" len="med"/>
                      <a:tailEnd type="none" w="med" len="med"/>
                    </a:lnR>
                    <a:lnT w="9525" cap="flat" cmpd="sng" algn="ctr">
                      <a:solidFill>
                        <a:schemeClr val="bg1">
                          <a:lumMod val="75000"/>
                        </a:schemeClr>
                      </a:solidFill>
                      <a:prstDash val="sysDot"/>
                      <a:round/>
                      <a:headEnd type="none" w="med" len="med"/>
                      <a:tailEnd type="none" w="med" len="med"/>
                    </a:lnT>
                    <a:lnB w="12700" cap="flat" cmpd="sng" algn="ctr">
                      <a:noFill/>
                      <a:prstDash val="solid"/>
                      <a:round/>
                      <a:headEnd type="none" w="med" len="med"/>
                      <a:tailEnd type="none" w="med" len="med"/>
                    </a:lnB>
                    <a:noFill/>
                  </a:tcPr>
                </a:tc>
                <a:tc>
                  <a:txBody>
                    <a:bodyPr/>
                    <a:lstStyle/>
                    <a:p>
                      <a:pPr marL="0" lvl="0" indent="0" algn="l" defTabSz="914400" rtl="0" eaLnBrk="1" latinLnBrk="0" hangingPunct="1">
                        <a:lnSpc>
                          <a:spcPct val="95000"/>
                        </a:lnSpc>
                        <a:spcBef>
                          <a:spcPts val="0"/>
                        </a:spcBef>
                        <a:spcAft>
                          <a:spcPts val="0"/>
                        </a:spcAft>
                        <a:buClrTx/>
                        <a:buSzPct val="100000"/>
                        <a:buFont typeface="Trebuchet MS" panose="020B0603020202020204" pitchFamily="34" charset="0"/>
                        <a:buChar char="​"/>
                      </a:pPr>
                      <a:r>
                        <a:rPr lang="en-US" sz="1100" b="0" i="1" u="none" kern="1200" spc="0">
                          <a:solidFill>
                            <a:srgbClr val="7F7F7F"/>
                          </a:solidFill>
                          <a:latin typeface="Trebuchet MS" panose="020B0603020202020204" pitchFamily="34" charset="0"/>
                          <a:ea typeface="Microsoft YaHei" panose="020B0503020204020204" pitchFamily="34" charset="-122"/>
                        </a:rPr>
                        <a:t>We never send standalone e-mail. If 40% of customers open an email, it's a success. On the other hand, e-mail is a great tool to strengthen the most effective communication tool - the push in app. In addition, </a:t>
                      </a:r>
                      <a:r>
                        <a:rPr lang="en-US" sz="1100" b="1" i="1" u="sng" kern="1200" spc="0">
                          <a:solidFill>
                            <a:srgbClr val="7F7F7F"/>
                          </a:solidFill>
                          <a:latin typeface="Trebuchet MS" panose="020B0603020202020204" pitchFamily="34" charset="0"/>
                          <a:ea typeface="Microsoft YaHei" panose="020B0503020204020204" pitchFamily="34" charset="-122"/>
                        </a:rPr>
                        <a:t>push +</a:t>
                      </a:r>
                      <a:r>
                        <a:rPr lang="pl-PL" sz="1100" b="1" i="1" u="sng" kern="1200" spc="0">
                          <a:solidFill>
                            <a:srgbClr val="7F7F7F"/>
                          </a:solidFill>
                          <a:latin typeface="Trebuchet MS" panose="020B0603020202020204" pitchFamily="34" charset="0"/>
                          <a:ea typeface="Microsoft YaHei" panose="020B0503020204020204" pitchFamily="34" charset="-122"/>
                        </a:rPr>
                        <a:t> </a:t>
                      </a:r>
                      <a:r>
                        <a:rPr lang="en-US" sz="1100" b="1" i="1" u="sng" kern="1200" spc="0">
                          <a:solidFill>
                            <a:srgbClr val="7F7F7F"/>
                          </a:solidFill>
                          <a:latin typeface="Trebuchet MS" panose="020B0603020202020204" pitchFamily="34" charset="0"/>
                          <a:ea typeface="Microsoft YaHei" panose="020B0503020204020204" pitchFamily="34" charset="-122"/>
                        </a:rPr>
                        <a:t>e-mail allows you to track </a:t>
                      </a:r>
                      <a:r>
                        <a:rPr lang="en-US" sz="1100" b="0" i="1" u="none" kern="1200" spc="0">
                          <a:solidFill>
                            <a:srgbClr val="7F7F7F"/>
                          </a:solidFill>
                          <a:latin typeface="Trebuchet MS" panose="020B0603020202020204" pitchFamily="34" charset="0"/>
                          <a:ea typeface="Microsoft YaHei" panose="020B0503020204020204" pitchFamily="34" charset="-122"/>
                        </a:rPr>
                        <a:t>whether the client opened the message (e.g. whether he opened an attached video). Thanks to this knowledge, we can be more aggressive in further communication, e.g. we can call him knowing that he is interested in our product</a:t>
                      </a:r>
                    </a:p>
                    <a:p>
                      <a:pPr marL="0" lvl="0" indent="0" algn="l" defTabSz="914400" rtl="0" eaLnBrk="1" latinLnBrk="0" hangingPunct="1">
                        <a:lnSpc>
                          <a:spcPct val="95000"/>
                        </a:lnSpc>
                        <a:spcBef>
                          <a:spcPts val="0"/>
                        </a:spcBef>
                        <a:spcAft>
                          <a:spcPts val="0"/>
                        </a:spcAft>
                        <a:buClrTx/>
                        <a:buSzPct val="100000"/>
                        <a:buFont typeface="Trebuchet MS" panose="020B0603020202020204" pitchFamily="34" charset="0"/>
                        <a:buChar char="​"/>
                      </a:pPr>
                      <a:endParaRPr lang="en-US" sz="1100" b="0" i="0" u="none" kern="1200" spc="0">
                        <a:solidFill>
                          <a:schemeClr val="tx1"/>
                        </a:solidFill>
                        <a:latin typeface="Trebuchet MS" panose="020B0603020202020204" pitchFamily="34" charset="0"/>
                        <a:ea typeface="Microsoft YaHei" panose="020B0503020204020204" pitchFamily="34" charset="-122"/>
                      </a:endParaRPr>
                    </a:p>
                    <a:p>
                      <a:pPr marL="0" lvl="0" indent="0" algn="r" defTabSz="914400" rtl="0" eaLnBrk="1" latinLnBrk="0" hangingPunct="1">
                        <a:lnSpc>
                          <a:spcPct val="95000"/>
                        </a:lnSpc>
                        <a:spcBef>
                          <a:spcPts val="0"/>
                        </a:spcBef>
                        <a:spcAft>
                          <a:spcPts val="0"/>
                        </a:spcAft>
                        <a:buClrTx/>
                        <a:buSzPct val="100000"/>
                        <a:buFont typeface="Trebuchet MS" panose="020B0603020202020204" pitchFamily="34" charset="0"/>
                        <a:buChar char="​"/>
                      </a:pPr>
                      <a:r>
                        <a:rPr lang="en-US" sz="1100" b="1" i="0" u="none" kern="1200" spc="0">
                          <a:solidFill>
                            <a:schemeClr val="tx1"/>
                          </a:solidFill>
                          <a:latin typeface="Trebuchet MS" panose="020B0603020202020204" pitchFamily="34" charset="0"/>
                          <a:ea typeface="Microsoft YaHei" panose="020B0503020204020204" pitchFamily="34" charset="-122"/>
                        </a:rPr>
                        <a:t>Roll-out Manager</a:t>
                      </a:r>
                      <a:br>
                        <a:rPr lang="en-US" sz="1100" b="1" i="0" u="none" kern="1200" spc="0">
                          <a:solidFill>
                            <a:schemeClr val="tx1"/>
                          </a:solidFill>
                          <a:latin typeface="Trebuchet MS" panose="020B0603020202020204" pitchFamily="34" charset="0"/>
                          <a:ea typeface="Microsoft YaHei" panose="020B0503020204020204" pitchFamily="34" charset="-122"/>
                        </a:rPr>
                      </a:br>
                      <a:r>
                        <a:rPr lang="en-US" sz="1100" b="1" i="0" u="none" kern="1200" spc="0">
                          <a:solidFill>
                            <a:schemeClr val="tx1"/>
                          </a:solidFill>
                          <a:latin typeface="Trebuchet MS" panose="020B0603020202020204" pitchFamily="34" charset="0"/>
                          <a:ea typeface="Microsoft YaHei" panose="020B0503020204020204" pitchFamily="34" charset="-122"/>
                        </a:rPr>
                        <a:t> to Digital Channels at ING Belgium</a:t>
                      </a:r>
                    </a:p>
                  </a:txBody>
                  <a:tcPr>
                    <a:lnL w="12700" cap="flat" cmpd="sng" algn="ctr">
                      <a:solidFill>
                        <a:schemeClr val="tx2"/>
                      </a:solidFill>
                      <a:prstDash val="solid"/>
                      <a:round/>
                      <a:headEnd type="none" w="med" len="med"/>
                      <a:tailEnd type="none" w="med" len="med"/>
                    </a:lnL>
                    <a:lnT w="9525" cap="flat" cmpd="sng" algn="ctr">
                      <a:solidFill>
                        <a:schemeClr val="bg1">
                          <a:lumMod val="75000"/>
                        </a:schemeClr>
                      </a:solidFill>
                      <a:prstDash val="sysDot"/>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723303899"/>
                  </a:ext>
                </a:extLst>
              </a:tr>
            </a:tbl>
          </a:graphicData>
        </a:graphic>
      </p:graphicFrame>
      <p:grpSp>
        <p:nvGrpSpPr>
          <p:cNvPr id="10" name="bcgBugs_ThumbsDown">
            <a:extLst>
              <a:ext uri="{FF2B5EF4-FFF2-40B4-BE49-F238E27FC236}">
                <a16:creationId xmlns:a16="http://schemas.microsoft.com/office/drawing/2014/main" id="{AC5D295B-0EFC-4C6A-B0C4-662C009DBC69}"/>
              </a:ext>
            </a:extLst>
          </p:cNvPr>
          <p:cNvGrpSpPr>
            <a:grpSpLocks noChangeAspect="1"/>
          </p:cNvGrpSpPr>
          <p:nvPr/>
        </p:nvGrpSpPr>
        <p:grpSpPr bwMode="auto">
          <a:xfrm>
            <a:off x="1963270" y="1180464"/>
            <a:ext cx="311968" cy="312274"/>
            <a:chOff x="2818" y="1137"/>
            <a:chExt cx="2044" cy="2046"/>
          </a:xfrm>
        </p:grpSpPr>
        <p:sp>
          <p:nvSpPr>
            <p:cNvPr id="11" name="AutoShape 7">
              <a:extLst>
                <a:ext uri="{FF2B5EF4-FFF2-40B4-BE49-F238E27FC236}">
                  <a16:creationId xmlns:a16="http://schemas.microsoft.com/office/drawing/2014/main" id="{3F00756D-A675-46AB-AE81-557C6EB648E6}"/>
                </a:ext>
              </a:extLst>
            </p:cNvPr>
            <p:cNvSpPr>
              <a:spLocks noChangeAspect="1" noChangeArrowheads="1" noTextEdit="1"/>
            </p:cNvSpPr>
            <p:nvPr/>
          </p:nvSpPr>
          <p:spPr bwMode="auto">
            <a:xfrm>
              <a:off x="2818" y="1137"/>
              <a:ext cx="2044" cy="2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9">
              <a:extLst>
                <a:ext uri="{FF2B5EF4-FFF2-40B4-BE49-F238E27FC236}">
                  <a16:creationId xmlns:a16="http://schemas.microsoft.com/office/drawing/2014/main" id="{B37E613C-3A3B-4CC4-A7E5-0C07454ECECF}"/>
                </a:ext>
              </a:extLst>
            </p:cNvPr>
            <p:cNvSpPr>
              <a:spLocks noEditPoints="1"/>
            </p:cNvSpPr>
            <p:nvPr/>
          </p:nvSpPr>
          <p:spPr bwMode="auto">
            <a:xfrm>
              <a:off x="2943" y="1289"/>
              <a:ext cx="1798" cy="1785"/>
            </a:xfrm>
            <a:custGeom>
              <a:avLst/>
              <a:gdLst>
                <a:gd name="T0" fmla="*/ 587 w 879"/>
                <a:gd name="T1" fmla="*/ 578 h 872"/>
                <a:gd name="T2" fmla="*/ 499 w 879"/>
                <a:gd name="T3" fmla="*/ 627 h 872"/>
                <a:gd name="T4" fmla="*/ 437 w 879"/>
                <a:gd name="T5" fmla="*/ 753 h 872"/>
                <a:gd name="T6" fmla="*/ 437 w 879"/>
                <a:gd name="T7" fmla="*/ 814 h 872"/>
                <a:gd name="T8" fmla="*/ 386 w 879"/>
                <a:gd name="T9" fmla="*/ 864 h 872"/>
                <a:gd name="T10" fmla="*/ 282 w 879"/>
                <a:gd name="T11" fmla="*/ 733 h 872"/>
                <a:gd name="T12" fmla="*/ 326 w 879"/>
                <a:gd name="T13" fmla="*/ 559 h 872"/>
                <a:gd name="T14" fmla="*/ 70 w 879"/>
                <a:gd name="T15" fmla="*/ 559 h 872"/>
                <a:gd name="T16" fmla="*/ 0 w 879"/>
                <a:gd name="T17" fmla="*/ 489 h 872"/>
                <a:gd name="T18" fmla="*/ 70 w 879"/>
                <a:gd name="T19" fmla="*/ 419 h 872"/>
                <a:gd name="T20" fmla="*/ 93 w 879"/>
                <a:gd name="T21" fmla="*/ 419 h 872"/>
                <a:gd name="T22" fmla="*/ 26 w 879"/>
                <a:gd name="T23" fmla="*/ 349 h 872"/>
                <a:gd name="T24" fmla="*/ 26 w 879"/>
                <a:gd name="T25" fmla="*/ 349 h 872"/>
                <a:gd name="T26" fmla="*/ 96 w 879"/>
                <a:gd name="T27" fmla="*/ 280 h 872"/>
                <a:gd name="T28" fmla="*/ 120 w 879"/>
                <a:gd name="T29" fmla="*/ 280 h 872"/>
                <a:gd name="T30" fmla="*/ 50 w 879"/>
                <a:gd name="T31" fmla="*/ 210 h 872"/>
                <a:gd name="T32" fmla="*/ 50 w 879"/>
                <a:gd name="T33" fmla="*/ 210 h 872"/>
                <a:gd name="T34" fmla="*/ 120 w 879"/>
                <a:gd name="T35" fmla="*/ 140 h 872"/>
                <a:gd name="T36" fmla="*/ 151 w 879"/>
                <a:gd name="T37" fmla="*/ 140 h 872"/>
                <a:gd name="T38" fmla="*/ 81 w 879"/>
                <a:gd name="T39" fmla="*/ 70 h 872"/>
                <a:gd name="T40" fmla="*/ 81 w 879"/>
                <a:gd name="T41" fmla="*/ 70 h 872"/>
                <a:gd name="T42" fmla="*/ 151 w 879"/>
                <a:gd name="T43" fmla="*/ 0 h 872"/>
                <a:gd name="T44" fmla="*/ 283 w 879"/>
                <a:gd name="T45" fmla="*/ 0 h 872"/>
                <a:gd name="T46" fmla="*/ 412 w 879"/>
                <a:gd name="T47" fmla="*/ 0 h 872"/>
                <a:gd name="T48" fmla="*/ 574 w 879"/>
                <a:gd name="T49" fmla="*/ 50 h 872"/>
                <a:gd name="T50" fmla="*/ 574 w 879"/>
                <a:gd name="T51" fmla="*/ 55 h 872"/>
                <a:gd name="T52" fmla="*/ 574 w 879"/>
                <a:gd name="T53" fmla="*/ 538 h 872"/>
                <a:gd name="T54" fmla="*/ 587 w 879"/>
                <a:gd name="T55" fmla="*/ 578 h 872"/>
                <a:gd name="T56" fmla="*/ 879 w 879"/>
                <a:gd name="T57" fmla="*/ 55 h 872"/>
                <a:gd name="T58" fmla="*/ 879 w 879"/>
                <a:gd name="T59" fmla="*/ 538 h 872"/>
                <a:gd name="T60" fmla="*/ 857 w 879"/>
                <a:gd name="T61" fmla="*/ 560 h 872"/>
                <a:gd name="T62" fmla="*/ 641 w 879"/>
                <a:gd name="T63" fmla="*/ 560 h 872"/>
                <a:gd name="T64" fmla="*/ 620 w 879"/>
                <a:gd name="T65" fmla="*/ 538 h 872"/>
                <a:gd name="T66" fmla="*/ 620 w 879"/>
                <a:gd name="T67" fmla="*/ 55 h 872"/>
                <a:gd name="T68" fmla="*/ 641 w 879"/>
                <a:gd name="T69" fmla="*/ 33 h 872"/>
                <a:gd name="T70" fmla="*/ 857 w 879"/>
                <a:gd name="T71" fmla="*/ 33 h 872"/>
                <a:gd name="T72" fmla="*/ 879 w 879"/>
                <a:gd name="T73" fmla="*/ 55 h 872"/>
                <a:gd name="T74" fmla="*/ 835 w 879"/>
                <a:gd name="T75" fmla="*/ 117 h 872"/>
                <a:gd name="T76" fmla="*/ 795 w 879"/>
                <a:gd name="T77" fmla="*/ 77 h 872"/>
                <a:gd name="T78" fmla="*/ 756 w 879"/>
                <a:gd name="T79" fmla="*/ 117 h 872"/>
                <a:gd name="T80" fmla="*/ 795 w 879"/>
                <a:gd name="T81" fmla="*/ 156 h 872"/>
                <a:gd name="T82" fmla="*/ 835 w 879"/>
                <a:gd name="T83" fmla="*/ 117 h 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9" h="872">
                  <a:moveTo>
                    <a:pt x="587" y="578"/>
                  </a:moveTo>
                  <a:cubicBezTo>
                    <a:pt x="556" y="596"/>
                    <a:pt x="524" y="614"/>
                    <a:pt x="499" y="627"/>
                  </a:cubicBezTo>
                  <a:cubicBezTo>
                    <a:pt x="434" y="664"/>
                    <a:pt x="437" y="753"/>
                    <a:pt x="437" y="753"/>
                  </a:cubicBezTo>
                  <a:cubicBezTo>
                    <a:pt x="437" y="814"/>
                    <a:pt x="437" y="814"/>
                    <a:pt x="437" y="814"/>
                  </a:cubicBezTo>
                  <a:cubicBezTo>
                    <a:pt x="437" y="872"/>
                    <a:pt x="386" y="864"/>
                    <a:pt x="386" y="864"/>
                  </a:cubicBezTo>
                  <a:cubicBezTo>
                    <a:pt x="296" y="861"/>
                    <a:pt x="282" y="733"/>
                    <a:pt x="282" y="733"/>
                  </a:cubicBezTo>
                  <a:cubicBezTo>
                    <a:pt x="282" y="638"/>
                    <a:pt x="326" y="559"/>
                    <a:pt x="326" y="559"/>
                  </a:cubicBezTo>
                  <a:cubicBezTo>
                    <a:pt x="70" y="559"/>
                    <a:pt x="70" y="559"/>
                    <a:pt x="70" y="559"/>
                  </a:cubicBezTo>
                  <a:cubicBezTo>
                    <a:pt x="31" y="559"/>
                    <a:pt x="0" y="528"/>
                    <a:pt x="0" y="489"/>
                  </a:cubicBezTo>
                  <a:cubicBezTo>
                    <a:pt x="0" y="451"/>
                    <a:pt x="31" y="419"/>
                    <a:pt x="70" y="419"/>
                  </a:cubicBezTo>
                  <a:cubicBezTo>
                    <a:pt x="93" y="419"/>
                    <a:pt x="93" y="419"/>
                    <a:pt x="93" y="419"/>
                  </a:cubicBezTo>
                  <a:cubicBezTo>
                    <a:pt x="56" y="417"/>
                    <a:pt x="26" y="387"/>
                    <a:pt x="26" y="349"/>
                  </a:cubicBezTo>
                  <a:cubicBezTo>
                    <a:pt x="26" y="349"/>
                    <a:pt x="26" y="349"/>
                    <a:pt x="26" y="349"/>
                  </a:cubicBezTo>
                  <a:cubicBezTo>
                    <a:pt x="26" y="311"/>
                    <a:pt x="58" y="280"/>
                    <a:pt x="96" y="280"/>
                  </a:cubicBezTo>
                  <a:cubicBezTo>
                    <a:pt x="120" y="280"/>
                    <a:pt x="120" y="280"/>
                    <a:pt x="120" y="280"/>
                  </a:cubicBezTo>
                  <a:cubicBezTo>
                    <a:pt x="82" y="280"/>
                    <a:pt x="50" y="248"/>
                    <a:pt x="50" y="210"/>
                  </a:cubicBezTo>
                  <a:cubicBezTo>
                    <a:pt x="50" y="210"/>
                    <a:pt x="50" y="210"/>
                    <a:pt x="50" y="210"/>
                  </a:cubicBezTo>
                  <a:cubicBezTo>
                    <a:pt x="50" y="171"/>
                    <a:pt x="82" y="140"/>
                    <a:pt x="120" y="140"/>
                  </a:cubicBezTo>
                  <a:cubicBezTo>
                    <a:pt x="151" y="140"/>
                    <a:pt x="151" y="140"/>
                    <a:pt x="151" y="140"/>
                  </a:cubicBezTo>
                  <a:cubicBezTo>
                    <a:pt x="113" y="140"/>
                    <a:pt x="81" y="108"/>
                    <a:pt x="81" y="70"/>
                  </a:cubicBezTo>
                  <a:cubicBezTo>
                    <a:pt x="81" y="70"/>
                    <a:pt x="81" y="70"/>
                    <a:pt x="81" y="70"/>
                  </a:cubicBezTo>
                  <a:cubicBezTo>
                    <a:pt x="81" y="31"/>
                    <a:pt x="113" y="0"/>
                    <a:pt x="151" y="0"/>
                  </a:cubicBezTo>
                  <a:cubicBezTo>
                    <a:pt x="283" y="0"/>
                    <a:pt x="283" y="0"/>
                    <a:pt x="283" y="0"/>
                  </a:cubicBezTo>
                  <a:cubicBezTo>
                    <a:pt x="283" y="0"/>
                    <a:pt x="376" y="0"/>
                    <a:pt x="412" y="0"/>
                  </a:cubicBezTo>
                  <a:cubicBezTo>
                    <a:pt x="443" y="0"/>
                    <a:pt x="503" y="3"/>
                    <a:pt x="574" y="50"/>
                  </a:cubicBezTo>
                  <a:cubicBezTo>
                    <a:pt x="574" y="52"/>
                    <a:pt x="574" y="53"/>
                    <a:pt x="574" y="55"/>
                  </a:cubicBezTo>
                  <a:cubicBezTo>
                    <a:pt x="574" y="538"/>
                    <a:pt x="574" y="538"/>
                    <a:pt x="574" y="538"/>
                  </a:cubicBezTo>
                  <a:cubicBezTo>
                    <a:pt x="574" y="553"/>
                    <a:pt x="579" y="567"/>
                    <a:pt x="587" y="578"/>
                  </a:cubicBezTo>
                  <a:close/>
                  <a:moveTo>
                    <a:pt x="879" y="55"/>
                  </a:moveTo>
                  <a:cubicBezTo>
                    <a:pt x="879" y="538"/>
                    <a:pt x="879" y="538"/>
                    <a:pt x="879" y="538"/>
                  </a:cubicBezTo>
                  <a:cubicBezTo>
                    <a:pt x="879" y="550"/>
                    <a:pt x="869" y="560"/>
                    <a:pt x="857" y="560"/>
                  </a:cubicBezTo>
                  <a:cubicBezTo>
                    <a:pt x="641" y="560"/>
                    <a:pt x="641" y="560"/>
                    <a:pt x="641" y="560"/>
                  </a:cubicBezTo>
                  <a:cubicBezTo>
                    <a:pt x="629" y="560"/>
                    <a:pt x="620" y="550"/>
                    <a:pt x="620" y="538"/>
                  </a:cubicBezTo>
                  <a:cubicBezTo>
                    <a:pt x="620" y="55"/>
                    <a:pt x="620" y="55"/>
                    <a:pt x="620" y="55"/>
                  </a:cubicBezTo>
                  <a:cubicBezTo>
                    <a:pt x="620" y="43"/>
                    <a:pt x="629" y="33"/>
                    <a:pt x="641" y="33"/>
                  </a:cubicBezTo>
                  <a:cubicBezTo>
                    <a:pt x="857" y="33"/>
                    <a:pt x="857" y="33"/>
                    <a:pt x="857" y="33"/>
                  </a:cubicBezTo>
                  <a:cubicBezTo>
                    <a:pt x="869" y="33"/>
                    <a:pt x="879" y="43"/>
                    <a:pt x="879" y="55"/>
                  </a:cubicBezTo>
                  <a:close/>
                  <a:moveTo>
                    <a:pt x="835" y="117"/>
                  </a:moveTo>
                  <a:cubicBezTo>
                    <a:pt x="835" y="95"/>
                    <a:pt x="817" y="77"/>
                    <a:pt x="795" y="77"/>
                  </a:cubicBezTo>
                  <a:cubicBezTo>
                    <a:pt x="774" y="77"/>
                    <a:pt x="756" y="95"/>
                    <a:pt x="756" y="117"/>
                  </a:cubicBezTo>
                  <a:cubicBezTo>
                    <a:pt x="756" y="139"/>
                    <a:pt x="774" y="156"/>
                    <a:pt x="795" y="156"/>
                  </a:cubicBezTo>
                  <a:cubicBezTo>
                    <a:pt x="817" y="156"/>
                    <a:pt x="835" y="139"/>
                    <a:pt x="835" y="117"/>
                  </a:cubicBezTo>
                  <a:close/>
                </a:path>
              </a:pathLst>
            </a:custGeom>
            <a:solidFill>
              <a:srgbClr val="E71C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grpSp>
      <p:grpSp>
        <p:nvGrpSpPr>
          <p:cNvPr id="13" name="bcgBugs_ThumbsUp">
            <a:extLst>
              <a:ext uri="{FF2B5EF4-FFF2-40B4-BE49-F238E27FC236}">
                <a16:creationId xmlns:a16="http://schemas.microsoft.com/office/drawing/2014/main" id="{4553F136-9157-4A13-8782-85FDEA2728D0}"/>
              </a:ext>
            </a:extLst>
          </p:cNvPr>
          <p:cNvGrpSpPr>
            <a:grpSpLocks noChangeAspect="1"/>
          </p:cNvGrpSpPr>
          <p:nvPr/>
        </p:nvGrpSpPr>
        <p:grpSpPr bwMode="auto">
          <a:xfrm>
            <a:off x="4604791" y="1180464"/>
            <a:ext cx="312885" cy="312274"/>
            <a:chOff x="2815" y="1137"/>
            <a:chExt cx="2050" cy="2046"/>
          </a:xfrm>
        </p:grpSpPr>
        <p:sp>
          <p:nvSpPr>
            <p:cNvPr id="14" name="AutoShape 3">
              <a:extLst>
                <a:ext uri="{FF2B5EF4-FFF2-40B4-BE49-F238E27FC236}">
                  <a16:creationId xmlns:a16="http://schemas.microsoft.com/office/drawing/2014/main" id="{51294E73-3D53-4618-B84C-9FA826F103FA}"/>
                </a:ext>
              </a:extLst>
            </p:cNvPr>
            <p:cNvSpPr>
              <a:spLocks noChangeAspect="1" noChangeArrowheads="1" noTextEdit="1"/>
            </p:cNvSpPr>
            <p:nvPr/>
          </p:nvSpPr>
          <p:spPr bwMode="auto">
            <a:xfrm>
              <a:off x="2815" y="1137"/>
              <a:ext cx="2050" cy="2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5">
              <a:extLst>
                <a:ext uri="{FF2B5EF4-FFF2-40B4-BE49-F238E27FC236}">
                  <a16:creationId xmlns:a16="http://schemas.microsoft.com/office/drawing/2014/main" id="{54662CA5-8D40-4216-BB85-62B9D9D0B086}"/>
                </a:ext>
              </a:extLst>
            </p:cNvPr>
            <p:cNvSpPr>
              <a:spLocks noEditPoints="1"/>
            </p:cNvSpPr>
            <p:nvPr/>
          </p:nvSpPr>
          <p:spPr bwMode="auto">
            <a:xfrm>
              <a:off x="2938" y="1260"/>
              <a:ext cx="1798" cy="1786"/>
            </a:xfrm>
            <a:custGeom>
              <a:avLst/>
              <a:gdLst>
                <a:gd name="T0" fmla="*/ 809 w 879"/>
                <a:gd name="T1" fmla="*/ 453 h 872"/>
                <a:gd name="T2" fmla="*/ 786 w 879"/>
                <a:gd name="T3" fmla="*/ 453 h 872"/>
                <a:gd name="T4" fmla="*/ 853 w 879"/>
                <a:gd name="T5" fmla="*/ 523 h 872"/>
                <a:gd name="T6" fmla="*/ 783 w 879"/>
                <a:gd name="T7" fmla="*/ 592 h 872"/>
                <a:gd name="T8" fmla="*/ 759 w 879"/>
                <a:gd name="T9" fmla="*/ 592 h 872"/>
                <a:gd name="T10" fmla="*/ 828 w 879"/>
                <a:gd name="T11" fmla="*/ 662 h 872"/>
                <a:gd name="T12" fmla="*/ 759 w 879"/>
                <a:gd name="T13" fmla="*/ 732 h 872"/>
                <a:gd name="T14" fmla="*/ 728 w 879"/>
                <a:gd name="T15" fmla="*/ 732 h 872"/>
                <a:gd name="T16" fmla="*/ 797 w 879"/>
                <a:gd name="T17" fmla="*/ 802 h 872"/>
                <a:gd name="T18" fmla="*/ 797 w 879"/>
                <a:gd name="T19" fmla="*/ 802 h 872"/>
                <a:gd name="T20" fmla="*/ 728 w 879"/>
                <a:gd name="T21" fmla="*/ 872 h 872"/>
                <a:gd name="T22" fmla="*/ 596 w 879"/>
                <a:gd name="T23" fmla="*/ 872 h 872"/>
                <a:gd name="T24" fmla="*/ 466 w 879"/>
                <a:gd name="T25" fmla="*/ 872 h 872"/>
                <a:gd name="T26" fmla="*/ 304 w 879"/>
                <a:gd name="T27" fmla="*/ 822 h 872"/>
                <a:gd name="T28" fmla="*/ 305 w 879"/>
                <a:gd name="T29" fmla="*/ 816 h 872"/>
                <a:gd name="T30" fmla="*/ 305 w 879"/>
                <a:gd name="T31" fmla="*/ 333 h 872"/>
                <a:gd name="T32" fmla="*/ 292 w 879"/>
                <a:gd name="T33" fmla="*/ 294 h 872"/>
                <a:gd name="T34" fmla="*/ 379 w 879"/>
                <a:gd name="T35" fmla="*/ 245 h 872"/>
                <a:gd name="T36" fmla="*/ 442 w 879"/>
                <a:gd name="T37" fmla="*/ 119 h 872"/>
                <a:gd name="T38" fmla="*/ 442 w 879"/>
                <a:gd name="T39" fmla="*/ 58 h 872"/>
                <a:gd name="T40" fmla="*/ 492 w 879"/>
                <a:gd name="T41" fmla="*/ 8 h 872"/>
                <a:gd name="T42" fmla="*/ 596 w 879"/>
                <a:gd name="T43" fmla="*/ 139 h 872"/>
                <a:gd name="T44" fmla="*/ 553 w 879"/>
                <a:gd name="T45" fmla="*/ 313 h 872"/>
                <a:gd name="T46" fmla="*/ 809 w 879"/>
                <a:gd name="T47" fmla="*/ 313 h 872"/>
                <a:gd name="T48" fmla="*/ 879 w 879"/>
                <a:gd name="T49" fmla="*/ 383 h 872"/>
                <a:gd name="T50" fmla="*/ 809 w 879"/>
                <a:gd name="T51" fmla="*/ 453 h 872"/>
                <a:gd name="T52" fmla="*/ 259 w 879"/>
                <a:gd name="T53" fmla="*/ 333 h 872"/>
                <a:gd name="T54" fmla="*/ 259 w 879"/>
                <a:gd name="T55" fmla="*/ 816 h 872"/>
                <a:gd name="T56" fmla="*/ 238 w 879"/>
                <a:gd name="T57" fmla="*/ 838 h 872"/>
                <a:gd name="T58" fmla="*/ 22 w 879"/>
                <a:gd name="T59" fmla="*/ 838 h 872"/>
                <a:gd name="T60" fmla="*/ 0 w 879"/>
                <a:gd name="T61" fmla="*/ 816 h 872"/>
                <a:gd name="T62" fmla="*/ 0 w 879"/>
                <a:gd name="T63" fmla="*/ 333 h 872"/>
                <a:gd name="T64" fmla="*/ 22 w 879"/>
                <a:gd name="T65" fmla="*/ 311 h 872"/>
                <a:gd name="T66" fmla="*/ 238 w 879"/>
                <a:gd name="T67" fmla="*/ 311 h 872"/>
                <a:gd name="T68" fmla="*/ 259 w 879"/>
                <a:gd name="T69" fmla="*/ 333 h 872"/>
                <a:gd name="T70" fmla="*/ 123 w 879"/>
                <a:gd name="T71" fmla="*/ 754 h 872"/>
                <a:gd name="T72" fmla="*/ 84 w 879"/>
                <a:gd name="T73" fmla="*/ 715 h 872"/>
                <a:gd name="T74" fmla="*/ 44 w 879"/>
                <a:gd name="T75" fmla="*/ 754 h 872"/>
                <a:gd name="T76" fmla="*/ 84 w 879"/>
                <a:gd name="T77" fmla="*/ 794 h 872"/>
                <a:gd name="T78" fmla="*/ 123 w 879"/>
                <a:gd name="T79" fmla="*/ 754 h 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79" h="872">
                  <a:moveTo>
                    <a:pt x="809" y="453"/>
                  </a:moveTo>
                  <a:cubicBezTo>
                    <a:pt x="786" y="453"/>
                    <a:pt x="786" y="453"/>
                    <a:pt x="786" y="453"/>
                  </a:cubicBezTo>
                  <a:cubicBezTo>
                    <a:pt x="823" y="455"/>
                    <a:pt x="853" y="485"/>
                    <a:pt x="853" y="523"/>
                  </a:cubicBezTo>
                  <a:cubicBezTo>
                    <a:pt x="853" y="561"/>
                    <a:pt x="821" y="592"/>
                    <a:pt x="783" y="592"/>
                  </a:cubicBezTo>
                  <a:cubicBezTo>
                    <a:pt x="759" y="592"/>
                    <a:pt x="759" y="592"/>
                    <a:pt x="759" y="592"/>
                  </a:cubicBezTo>
                  <a:cubicBezTo>
                    <a:pt x="797" y="592"/>
                    <a:pt x="828" y="624"/>
                    <a:pt x="828" y="662"/>
                  </a:cubicBezTo>
                  <a:cubicBezTo>
                    <a:pt x="828" y="701"/>
                    <a:pt x="797" y="732"/>
                    <a:pt x="759" y="732"/>
                  </a:cubicBezTo>
                  <a:cubicBezTo>
                    <a:pt x="728" y="732"/>
                    <a:pt x="728" y="732"/>
                    <a:pt x="728" y="732"/>
                  </a:cubicBezTo>
                  <a:cubicBezTo>
                    <a:pt x="766" y="732"/>
                    <a:pt x="797" y="764"/>
                    <a:pt x="797" y="802"/>
                  </a:cubicBezTo>
                  <a:cubicBezTo>
                    <a:pt x="797" y="802"/>
                    <a:pt x="797" y="802"/>
                    <a:pt x="797" y="802"/>
                  </a:cubicBezTo>
                  <a:cubicBezTo>
                    <a:pt x="797" y="841"/>
                    <a:pt x="766" y="872"/>
                    <a:pt x="728" y="872"/>
                  </a:cubicBezTo>
                  <a:cubicBezTo>
                    <a:pt x="596" y="872"/>
                    <a:pt x="596" y="872"/>
                    <a:pt x="596" y="872"/>
                  </a:cubicBezTo>
                  <a:cubicBezTo>
                    <a:pt x="596" y="872"/>
                    <a:pt x="503" y="872"/>
                    <a:pt x="466" y="872"/>
                  </a:cubicBezTo>
                  <a:cubicBezTo>
                    <a:pt x="436" y="872"/>
                    <a:pt x="375" y="869"/>
                    <a:pt x="304" y="822"/>
                  </a:cubicBezTo>
                  <a:cubicBezTo>
                    <a:pt x="305" y="820"/>
                    <a:pt x="305" y="818"/>
                    <a:pt x="305" y="816"/>
                  </a:cubicBezTo>
                  <a:cubicBezTo>
                    <a:pt x="305" y="333"/>
                    <a:pt x="305" y="333"/>
                    <a:pt x="305" y="333"/>
                  </a:cubicBezTo>
                  <a:cubicBezTo>
                    <a:pt x="305" y="318"/>
                    <a:pt x="300" y="305"/>
                    <a:pt x="292" y="294"/>
                  </a:cubicBezTo>
                  <a:cubicBezTo>
                    <a:pt x="323" y="276"/>
                    <a:pt x="355" y="258"/>
                    <a:pt x="379" y="245"/>
                  </a:cubicBezTo>
                  <a:cubicBezTo>
                    <a:pt x="445" y="208"/>
                    <a:pt x="442" y="119"/>
                    <a:pt x="442" y="119"/>
                  </a:cubicBezTo>
                  <a:cubicBezTo>
                    <a:pt x="442" y="58"/>
                    <a:pt x="442" y="58"/>
                    <a:pt x="442" y="58"/>
                  </a:cubicBezTo>
                  <a:cubicBezTo>
                    <a:pt x="442" y="0"/>
                    <a:pt x="492" y="8"/>
                    <a:pt x="492" y="8"/>
                  </a:cubicBezTo>
                  <a:cubicBezTo>
                    <a:pt x="583" y="11"/>
                    <a:pt x="596" y="139"/>
                    <a:pt x="596" y="139"/>
                  </a:cubicBezTo>
                  <a:cubicBezTo>
                    <a:pt x="596" y="234"/>
                    <a:pt x="553" y="313"/>
                    <a:pt x="553" y="313"/>
                  </a:cubicBezTo>
                  <a:cubicBezTo>
                    <a:pt x="809" y="313"/>
                    <a:pt x="809" y="313"/>
                    <a:pt x="809" y="313"/>
                  </a:cubicBezTo>
                  <a:cubicBezTo>
                    <a:pt x="848" y="313"/>
                    <a:pt x="879" y="344"/>
                    <a:pt x="879" y="383"/>
                  </a:cubicBezTo>
                  <a:cubicBezTo>
                    <a:pt x="879" y="421"/>
                    <a:pt x="848" y="453"/>
                    <a:pt x="809" y="453"/>
                  </a:cubicBezTo>
                  <a:close/>
                  <a:moveTo>
                    <a:pt x="259" y="333"/>
                  </a:moveTo>
                  <a:cubicBezTo>
                    <a:pt x="259" y="816"/>
                    <a:pt x="259" y="816"/>
                    <a:pt x="259" y="816"/>
                  </a:cubicBezTo>
                  <a:cubicBezTo>
                    <a:pt x="259" y="828"/>
                    <a:pt x="249" y="838"/>
                    <a:pt x="238" y="838"/>
                  </a:cubicBezTo>
                  <a:cubicBezTo>
                    <a:pt x="22" y="838"/>
                    <a:pt x="22" y="838"/>
                    <a:pt x="22" y="838"/>
                  </a:cubicBezTo>
                  <a:cubicBezTo>
                    <a:pt x="10" y="838"/>
                    <a:pt x="0" y="828"/>
                    <a:pt x="0" y="816"/>
                  </a:cubicBezTo>
                  <a:cubicBezTo>
                    <a:pt x="0" y="333"/>
                    <a:pt x="0" y="333"/>
                    <a:pt x="0" y="333"/>
                  </a:cubicBezTo>
                  <a:cubicBezTo>
                    <a:pt x="0" y="321"/>
                    <a:pt x="10" y="311"/>
                    <a:pt x="22" y="311"/>
                  </a:cubicBezTo>
                  <a:cubicBezTo>
                    <a:pt x="238" y="311"/>
                    <a:pt x="238" y="311"/>
                    <a:pt x="238" y="311"/>
                  </a:cubicBezTo>
                  <a:cubicBezTo>
                    <a:pt x="249" y="311"/>
                    <a:pt x="259" y="321"/>
                    <a:pt x="259" y="333"/>
                  </a:cubicBezTo>
                  <a:close/>
                  <a:moveTo>
                    <a:pt x="123" y="754"/>
                  </a:moveTo>
                  <a:cubicBezTo>
                    <a:pt x="123" y="732"/>
                    <a:pt x="105" y="715"/>
                    <a:pt x="84" y="715"/>
                  </a:cubicBezTo>
                  <a:cubicBezTo>
                    <a:pt x="62" y="715"/>
                    <a:pt x="44" y="732"/>
                    <a:pt x="44" y="754"/>
                  </a:cubicBezTo>
                  <a:cubicBezTo>
                    <a:pt x="44" y="776"/>
                    <a:pt x="62" y="794"/>
                    <a:pt x="84" y="794"/>
                  </a:cubicBezTo>
                  <a:cubicBezTo>
                    <a:pt x="105" y="794"/>
                    <a:pt x="123" y="776"/>
                    <a:pt x="123" y="754"/>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grpSp>
      <p:grpSp>
        <p:nvGrpSpPr>
          <p:cNvPr id="16" name="Group 15">
            <a:extLst>
              <a:ext uri="{FF2B5EF4-FFF2-40B4-BE49-F238E27FC236}">
                <a16:creationId xmlns:a16="http://schemas.microsoft.com/office/drawing/2014/main" id="{7B4F5647-DC3F-452D-9E0C-2C706AC32638}"/>
              </a:ext>
            </a:extLst>
          </p:cNvPr>
          <p:cNvGrpSpPr>
            <a:grpSpLocks noChangeAspect="1"/>
          </p:cNvGrpSpPr>
          <p:nvPr/>
        </p:nvGrpSpPr>
        <p:grpSpPr>
          <a:xfrm>
            <a:off x="7812039" y="1183146"/>
            <a:ext cx="306910" cy="306910"/>
            <a:chOff x="628650" y="3463925"/>
            <a:chExt cx="269875" cy="269875"/>
          </a:xfrm>
        </p:grpSpPr>
        <p:sp>
          <p:nvSpPr>
            <p:cNvPr id="17" name="Oval 16">
              <a:extLst>
                <a:ext uri="{FF2B5EF4-FFF2-40B4-BE49-F238E27FC236}">
                  <a16:creationId xmlns:a16="http://schemas.microsoft.com/office/drawing/2014/main" id="{36915DBA-94C8-4EDB-9680-D77B2FE960B3}"/>
                </a:ext>
              </a:extLst>
            </p:cNvPr>
            <p:cNvSpPr>
              <a:spLocks noChangeArrowheads="1"/>
            </p:cNvSpPr>
            <p:nvPr/>
          </p:nvSpPr>
          <p:spPr bwMode="auto">
            <a:xfrm>
              <a:off x="628650" y="3463925"/>
              <a:ext cx="269875" cy="269875"/>
            </a:xfrm>
            <a:prstGeom prst="ellipse">
              <a:avLst/>
            </a:prstGeom>
            <a:solidFill>
              <a:schemeClr val="tx2"/>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a typeface="Microsoft YaHei" panose="020B0503020204020204" pitchFamily="34" charset="-122"/>
              </a:endParaRPr>
            </a:p>
          </p:txBody>
        </p:sp>
        <p:sp>
          <p:nvSpPr>
            <p:cNvPr id="18" name="Freeform 47">
              <a:extLst>
                <a:ext uri="{FF2B5EF4-FFF2-40B4-BE49-F238E27FC236}">
                  <a16:creationId xmlns:a16="http://schemas.microsoft.com/office/drawing/2014/main" id="{4A75DD32-29E6-4A23-91E5-CBB730F7CC92}"/>
                </a:ext>
              </a:extLst>
            </p:cNvPr>
            <p:cNvSpPr>
              <a:spLocks noEditPoints="1"/>
            </p:cNvSpPr>
            <p:nvPr/>
          </p:nvSpPr>
          <p:spPr bwMode="auto">
            <a:xfrm>
              <a:off x="700087" y="3549650"/>
              <a:ext cx="127000" cy="98425"/>
            </a:xfrm>
            <a:custGeom>
              <a:avLst/>
              <a:gdLst>
                <a:gd name="T0" fmla="*/ 154 w 596"/>
                <a:gd name="T1" fmla="*/ 204 h 464"/>
                <a:gd name="T2" fmla="*/ 191 w 596"/>
                <a:gd name="T3" fmla="*/ 276 h 464"/>
                <a:gd name="T4" fmla="*/ 229 w 596"/>
                <a:gd name="T5" fmla="*/ 352 h 464"/>
                <a:gd name="T6" fmla="*/ 118 w 596"/>
                <a:gd name="T7" fmla="*/ 464 h 464"/>
                <a:gd name="T8" fmla="*/ 0 w 596"/>
                <a:gd name="T9" fmla="*/ 329 h 464"/>
                <a:gd name="T10" fmla="*/ 202 w 596"/>
                <a:gd name="T11" fmla="*/ 0 h 464"/>
                <a:gd name="T12" fmla="*/ 253 w 596"/>
                <a:gd name="T13" fmla="*/ 68 h 464"/>
                <a:gd name="T14" fmla="*/ 196 w 596"/>
                <a:gd name="T15" fmla="*/ 116 h 464"/>
                <a:gd name="T16" fmla="*/ 154 w 596"/>
                <a:gd name="T17" fmla="*/ 204 h 464"/>
                <a:gd name="T18" fmla="*/ 538 w 596"/>
                <a:gd name="T19" fmla="*/ 116 h 464"/>
                <a:gd name="T20" fmla="*/ 596 w 596"/>
                <a:gd name="T21" fmla="*/ 68 h 464"/>
                <a:gd name="T22" fmla="*/ 545 w 596"/>
                <a:gd name="T23" fmla="*/ 0 h 464"/>
                <a:gd name="T24" fmla="*/ 343 w 596"/>
                <a:gd name="T25" fmla="*/ 329 h 464"/>
                <a:gd name="T26" fmla="*/ 461 w 596"/>
                <a:gd name="T27" fmla="*/ 464 h 464"/>
                <a:gd name="T28" fmla="*/ 571 w 596"/>
                <a:gd name="T29" fmla="*/ 352 h 464"/>
                <a:gd name="T30" fmla="*/ 534 w 596"/>
                <a:gd name="T31" fmla="*/ 276 h 464"/>
                <a:gd name="T32" fmla="*/ 497 w 596"/>
                <a:gd name="T33" fmla="*/ 204 h 464"/>
                <a:gd name="T34" fmla="*/ 538 w 596"/>
                <a:gd name="T35" fmla="*/ 116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6" h="464">
                  <a:moveTo>
                    <a:pt x="154" y="204"/>
                  </a:moveTo>
                  <a:cubicBezTo>
                    <a:pt x="154" y="225"/>
                    <a:pt x="166" y="249"/>
                    <a:pt x="191" y="276"/>
                  </a:cubicBezTo>
                  <a:cubicBezTo>
                    <a:pt x="216" y="304"/>
                    <a:pt x="229" y="329"/>
                    <a:pt x="229" y="352"/>
                  </a:cubicBezTo>
                  <a:cubicBezTo>
                    <a:pt x="229" y="426"/>
                    <a:pt x="192" y="464"/>
                    <a:pt x="118" y="464"/>
                  </a:cubicBezTo>
                  <a:cubicBezTo>
                    <a:pt x="40" y="464"/>
                    <a:pt x="0" y="419"/>
                    <a:pt x="0" y="329"/>
                  </a:cubicBezTo>
                  <a:cubicBezTo>
                    <a:pt x="0" y="194"/>
                    <a:pt x="67" y="85"/>
                    <a:pt x="202" y="0"/>
                  </a:cubicBezTo>
                  <a:cubicBezTo>
                    <a:pt x="253" y="68"/>
                    <a:pt x="253" y="68"/>
                    <a:pt x="253" y="68"/>
                  </a:cubicBezTo>
                  <a:cubicBezTo>
                    <a:pt x="196" y="116"/>
                    <a:pt x="196" y="116"/>
                    <a:pt x="196" y="116"/>
                  </a:cubicBezTo>
                  <a:cubicBezTo>
                    <a:pt x="168" y="140"/>
                    <a:pt x="154" y="169"/>
                    <a:pt x="154" y="204"/>
                  </a:cubicBezTo>
                  <a:close/>
                  <a:moveTo>
                    <a:pt x="538" y="116"/>
                  </a:moveTo>
                  <a:cubicBezTo>
                    <a:pt x="596" y="68"/>
                    <a:pt x="596" y="68"/>
                    <a:pt x="596" y="68"/>
                  </a:cubicBezTo>
                  <a:cubicBezTo>
                    <a:pt x="545" y="0"/>
                    <a:pt x="545" y="0"/>
                    <a:pt x="545" y="0"/>
                  </a:cubicBezTo>
                  <a:cubicBezTo>
                    <a:pt x="410" y="85"/>
                    <a:pt x="343" y="194"/>
                    <a:pt x="343" y="329"/>
                  </a:cubicBezTo>
                  <a:cubicBezTo>
                    <a:pt x="343" y="419"/>
                    <a:pt x="382" y="464"/>
                    <a:pt x="461" y="464"/>
                  </a:cubicBezTo>
                  <a:cubicBezTo>
                    <a:pt x="534" y="464"/>
                    <a:pt x="571" y="426"/>
                    <a:pt x="571" y="352"/>
                  </a:cubicBezTo>
                  <a:cubicBezTo>
                    <a:pt x="571" y="329"/>
                    <a:pt x="559" y="304"/>
                    <a:pt x="534" y="276"/>
                  </a:cubicBezTo>
                  <a:cubicBezTo>
                    <a:pt x="509" y="249"/>
                    <a:pt x="497" y="225"/>
                    <a:pt x="497" y="204"/>
                  </a:cubicBezTo>
                  <a:cubicBezTo>
                    <a:pt x="497" y="169"/>
                    <a:pt x="511" y="140"/>
                    <a:pt x="538" y="11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a typeface="Microsoft YaHei" panose="020B0503020204020204" pitchFamily="34" charset="-122"/>
              </a:endParaRPr>
            </a:p>
          </p:txBody>
        </p:sp>
      </p:grpSp>
      <p:pic>
        <p:nvPicPr>
          <p:cNvPr id="19" name="Picture 2">
            <a:extLst>
              <a:ext uri="{FF2B5EF4-FFF2-40B4-BE49-F238E27FC236}">
                <a16:creationId xmlns:a16="http://schemas.microsoft.com/office/drawing/2014/main" id="{AFB3A963-1353-4A68-B725-0AC7A557ADE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789836" y="2586071"/>
            <a:ext cx="481950" cy="362679"/>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4">
            <a:extLst>
              <a:ext uri="{FF2B5EF4-FFF2-40B4-BE49-F238E27FC236}">
                <a16:creationId xmlns:a16="http://schemas.microsoft.com/office/drawing/2014/main" id="{AB0E2005-837E-4870-A9CA-0E3BDB9DAF83}"/>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812039" y="6247313"/>
            <a:ext cx="793019" cy="196936"/>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2">
            <a:extLst>
              <a:ext uri="{FF2B5EF4-FFF2-40B4-BE49-F238E27FC236}">
                <a16:creationId xmlns:a16="http://schemas.microsoft.com/office/drawing/2014/main" id="{00026EB2-2013-4D42-962D-49902D924400}"/>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789836" y="4157500"/>
            <a:ext cx="481950" cy="362679"/>
          </a:xfrm>
          <a:prstGeom prst="rect">
            <a:avLst/>
          </a:prstGeom>
          <a:noFill/>
          <a:extLst>
            <a:ext uri="{909E8E84-426E-40DD-AFC4-6F175D3DCCD1}">
              <a14:hiddenFill xmlns:a14="http://schemas.microsoft.com/office/drawing/2010/main">
                <a:solidFill>
                  <a:srgbClr val="FFFFFF"/>
                </a:solidFill>
              </a14:hiddenFill>
            </a:ext>
          </a:extLst>
        </p:spPr>
      </p:pic>
      <p:sp>
        <p:nvSpPr>
          <p:cNvPr id="3" name="Textfeld 1">
            <a:extLst>
              <a:ext uri="{FF2B5EF4-FFF2-40B4-BE49-F238E27FC236}">
                <a16:creationId xmlns:a16="http://schemas.microsoft.com/office/drawing/2014/main" id="{3C0D2440-BF1E-01C0-F83F-0219FCD8B79F}"/>
              </a:ext>
            </a:extLst>
          </p:cNvPr>
          <p:cNvSpPr txBox="1"/>
          <p:nvPr>
            <p:custDataLst>
              <p:tags r:id="rId3"/>
            </p:custDataLst>
          </p:nvPr>
        </p:nvSpPr>
        <p:spPr>
          <a:xfrm>
            <a:off x="25200" y="-10048"/>
            <a:ext cx="2743200" cy="483209"/>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en-US" sz="1200" b="1">
                <a:solidFill>
                  <a:srgbClr val="575757"/>
                </a:solidFill>
                <a:ea typeface="Microsoft YaHei" panose="020B0503020204020204" pitchFamily="34" charset="-122"/>
                <a:sym typeface="Trebuchet MS" panose="020B0603020202020204" pitchFamily="34" charset="0"/>
              </a:rPr>
              <a:t>CA 06.Jun.24:
</a:t>
            </a:r>
            <a:r>
              <a:rPr lang="zh-TW" altLang="en-US" sz="1200" b="1">
                <a:solidFill>
                  <a:srgbClr val="575757"/>
                </a:solidFill>
                <a:ea typeface="Microsoft YaHei" panose="020B0503020204020204" pitchFamily="34" charset="-122"/>
                <a:sym typeface="Trebuchet MS" panose="020B0603020202020204" pitchFamily="34" charset="0"/>
              </a:rPr>
              <a:t>行業案例看到之</a:t>
            </a:r>
            <a:r>
              <a:rPr lang="en-US" altLang="zh-TW" sz="1200" b="1">
                <a:solidFill>
                  <a:srgbClr val="575757"/>
                </a:solidFill>
                <a:ea typeface="Microsoft YaHei" panose="020B0503020204020204" pitchFamily="34" charset="-122"/>
                <a:sym typeface="Trebuchet MS" panose="020B0603020202020204" pitchFamily="34" charset="0"/>
              </a:rPr>
              <a:t>dos and </a:t>
            </a:r>
            <a:r>
              <a:rPr lang="en-US" altLang="zh-TW" sz="1200" b="1" err="1">
                <a:solidFill>
                  <a:srgbClr val="575757"/>
                </a:solidFill>
                <a:ea typeface="Microsoft YaHei" panose="020B0503020204020204" pitchFamily="34" charset="-122"/>
                <a:sym typeface="Trebuchet MS" panose="020B0603020202020204" pitchFamily="34" charset="0"/>
              </a:rPr>
              <a:t>donts</a:t>
            </a:r>
            <a:endParaRPr lang="en-US" sz="1200" b="1">
              <a:solidFill>
                <a:srgbClr val="575757"/>
              </a:solidFill>
              <a:ea typeface="Microsoft YaHei" panose="020B0503020204020204" pitchFamily="34" charset="-122"/>
              <a:sym typeface="Trebuchet MS" panose="020B0603020202020204" pitchFamily="34" charset="0"/>
            </a:endParaRPr>
          </a:p>
        </p:txBody>
      </p:sp>
    </p:spTree>
    <p:extLst>
      <p:ext uri="{BB962C8B-B14F-4D97-AF65-F5344CB8AC3E}">
        <p14:creationId xmlns:p14="http://schemas.microsoft.com/office/powerpoint/2010/main" val="22797962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6" name="Object 5" hidden="1">
            <a:extLst>
              <a:ext uri="{FF2B5EF4-FFF2-40B4-BE49-F238E27FC236}">
                <a16:creationId xmlns:a16="http://schemas.microsoft.com/office/drawing/2014/main" id="{681A50CD-F4FC-4D49-AD72-F0F6203299D1}"/>
              </a:ext>
            </a:extLst>
          </p:cNvPr>
          <p:cNvGraphicFramePr>
            <a:graphicFrameLocks noChangeAspect="1"/>
          </p:cNvGraphicFramePr>
          <p:nvPr>
            <p:custDataLst>
              <p:tags r:id="rId1"/>
            </p:custDataLst>
            <p:extLst>
              <p:ext uri="{D42A27DB-BD31-4B8C-83A1-F6EECF244321}">
                <p14:modId xmlns:p14="http://schemas.microsoft.com/office/powerpoint/2010/main" val="167204437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395" imgH="394" progId="TCLayout.ActiveDocument.1">
                  <p:embed/>
                </p:oleObj>
              </mc:Choice>
              <mc:Fallback>
                <p:oleObj name="think-cell Slide" r:id="rId5" imgW="395" imgH="394" progId="TCLayout.ActiveDocument.1">
                  <p:embed/>
                  <p:pic>
                    <p:nvPicPr>
                      <p:cNvPr id="6" name="Object 5" hidden="1">
                        <a:extLst>
                          <a:ext uri="{FF2B5EF4-FFF2-40B4-BE49-F238E27FC236}">
                            <a16:creationId xmlns:a16="http://schemas.microsoft.com/office/drawing/2014/main" id="{681A50CD-F4FC-4D49-AD72-F0F6203299D1}"/>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8" name="Rectangle 7" hidden="1">
            <a:extLst>
              <a:ext uri="{FF2B5EF4-FFF2-40B4-BE49-F238E27FC236}">
                <a16:creationId xmlns:a16="http://schemas.microsoft.com/office/drawing/2014/main" id="{7BA7BC32-E14B-4A59-8BDA-3E8AB20C5488}"/>
              </a:ext>
            </a:extLst>
          </p:cNvPr>
          <p:cNvSpPr/>
          <p:nvPr>
            <p:custDataLst>
              <p:tags r:id="rId2"/>
            </p:custDataLst>
          </p:nvPr>
        </p:nvSpPr>
        <p:spPr>
          <a:xfrm>
            <a:off x="0" y="0"/>
            <a:ext cx="158750" cy="158750"/>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endParaRPr lang="en-US" sz="2400">
              <a:solidFill>
                <a:srgbClr val="FFFFFF"/>
              </a:solidFill>
              <a:latin typeface="Trebuchet MS" panose="020B0603020202020204" pitchFamily="34" charset="0"/>
              <a:ea typeface="Microsoft YaHei" panose="020B0503020204020204" pitchFamily="34" charset="-122"/>
              <a:cs typeface="+mj-cs"/>
              <a:sym typeface="Trebuchet MS" panose="020B0603020202020204" pitchFamily="34" charset="0"/>
            </a:endParaRPr>
          </a:p>
        </p:txBody>
      </p:sp>
      <p:sp>
        <p:nvSpPr>
          <p:cNvPr id="5" name="Title 4">
            <a:extLst>
              <a:ext uri="{FF2B5EF4-FFF2-40B4-BE49-F238E27FC236}">
                <a16:creationId xmlns:a16="http://schemas.microsoft.com/office/drawing/2014/main" id="{C04EC2B4-FE22-4FCF-A304-14E1A1F7379C}"/>
              </a:ext>
            </a:extLst>
          </p:cNvPr>
          <p:cNvSpPr>
            <a:spLocks noGrp="1"/>
          </p:cNvSpPr>
          <p:nvPr>
            <p:ph type="title"/>
          </p:nvPr>
        </p:nvSpPr>
        <p:spPr/>
        <p:txBody>
          <a:bodyPr vert="horz"/>
          <a:lstStyle/>
          <a:p>
            <a:r>
              <a:rPr lang="en-US">
                <a:solidFill>
                  <a:srgbClr val="295E7E"/>
                </a:solidFill>
                <a:ea typeface="Microsoft YaHei" panose="020B0503020204020204" pitchFamily="34" charset="-122"/>
              </a:rPr>
              <a:t>Onboarding &amp; activation: </a:t>
            </a:r>
            <a:r>
              <a:rPr lang="en-US">
                <a:ea typeface="Microsoft YaHei" panose="020B0503020204020204" pitchFamily="34" charset="-122"/>
              </a:rPr>
              <a:t>Key lessons learnt from expert interviews </a:t>
            </a:r>
            <a:r>
              <a:rPr lang="pl-PL">
                <a:ea typeface="Microsoft YaHei" panose="020B0503020204020204" pitchFamily="34" charset="-122"/>
              </a:rPr>
              <a:t>(II/II)</a:t>
            </a:r>
            <a:endParaRPr lang="en-US">
              <a:ea typeface="Microsoft YaHei" panose="020B0503020204020204" pitchFamily="34" charset="-122"/>
            </a:endParaRPr>
          </a:p>
        </p:txBody>
      </p:sp>
      <p:graphicFrame>
        <p:nvGraphicFramePr>
          <p:cNvPr id="7" name="Table 7">
            <a:extLst>
              <a:ext uri="{FF2B5EF4-FFF2-40B4-BE49-F238E27FC236}">
                <a16:creationId xmlns:a16="http://schemas.microsoft.com/office/drawing/2014/main" id="{7460F80F-8604-40CA-BE4C-CE84C832D4D4}"/>
              </a:ext>
            </a:extLst>
          </p:cNvPr>
          <p:cNvGraphicFramePr>
            <a:graphicFrameLocks noGrp="1"/>
          </p:cNvGraphicFramePr>
          <p:nvPr>
            <p:extLst>
              <p:ext uri="{D42A27DB-BD31-4B8C-83A1-F6EECF244321}">
                <p14:modId xmlns:p14="http://schemas.microsoft.com/office/powerpoint/2010/main" val="2570489417"/>
              </p:ext>
            </p:extLst>
          </p:nvPr>
        </p:nvGraphicFramePr>
        <p:xfrm>
          <a:off x="628650" y="1479742"/>
          <a:ext cx="10934700" cy="4896364"/>
        </p:xfrm>
        <a:graphic>
          <a:graphicData uri="http://schemas.openxmlformats.org/drawingml/2006/table">
            <a:tbl>
              <a:tblPr firstRow="1" bandRow="1">
                <a:tableStyleId>{5C22544A-7EE6-4342-B048-85BDC9FD1C3A}</a:tableStyleId>
              </a:tblPr>
              <a:tblGrid>
                <a:gridCol w="1223596">
                  <a:extLst>
                    <a:ext uri="{9D8B030D-6E8A-4147-A177-3AD203B41FA5}">
                      <a16:colId xmlns:a16="http://schemas.microsoft.com/office/drawing/2014/main" val="1039709564"/>
                    </a:ext>
                  </a:extLst>
                </a:gridCol>
                <a:gridCol w="2650306">
                  <a:extLst>
                    <a:ext uri="{9D8B030D-6E8A-4147-A177-3AD203B41FA5}">
                      <a16:colId xmlns:a16="http://schemas.microsoft.com/office/drawing/2014/main" val="4080779222"/>
                    </a:ext>
                  </a:extLst>
                </a:gridCol>
                <a:gridCol w="3206187">
                  <a:extLst>
                    <a:ext uri="{9D8B030D-6E8A-4147-A177-3AD203B41FA5}">
                      <a16:colId xmlns:a16="http://schemas.microsoft.com/office/drawing/2014/main" val="70669126"/>
                    </a:ext>
                  </a:extLst>
                </a:gridCol>
                <a:gridCol w="3854611">
                  <a:extLst>
                    <a:ext uri="{9D8B030D-6E8A-4147-A177-3AD203B41FA5}">
                      <a16:colId xmlns:a16="http://schemas.microsoft.com/office/drawing/2014/main" val="3773710827"/>
                    </a:ext>
                  </a:extLst>
                </a:gridCol>
              </a:tblGrid>
              <a:tr h="370840">
                <a:tc>
                  <a:txBody>
                    <a:bodyPr/>
                    <a:lstStyle/>
                    <a:p>
                      <a:endParaRPr lang="en-US" sz="1600" b="0">
                        <a:solidFill>
                          <a:srgbClr val="29BA74"/>
                        </a:solidFill>
                        <a:ea typeface="Microsoft YaHei" panose="020B0503020204020204" pitchFamily="34" charset="-122"/>
                      </a:endParaRPr>
                    </a:p>
                  </a:txBody>
                  <a:tcPr>
                    <a:lnB w="12700" cap="flat" cmpd="sng" algn="ctr">
                      <a:solidFill>
                        <a:schemeClr val="tx2"/>
                      </a:solidFill>
                      <a:prstDash val="solid"/>
                      <a:round/>
                      <a:headEnd type="none" w="med" len="med"/>
                      <a:tailEnd type="none" w="med" len="med"/>
                    </a:lnB>
                    <a:noFill/>
                  </a:tcPr>
                </a:tc>
                <a:tc>
                  <a:txBody>
                    <a:bodyPr/>
                    <a:lstStyle/>
                    <a:p>
                      <a:r>
                        <a:rPr lang="pl-PL" sz="1600" b="0">
                          <a:solidFill>
                            <a:srgbClr val="E71C57"/>
                          </a:solidFill>
                          <a:ea typeface="Microsoft YaHei" panose="020B0503020204020204" pitchFamily="34" charset="-122"/>
                        </a:rPr>
                        <a:t>Dont's</a:t>
                      </a:r>
                      <a:endParaRPr lang="en-US" sz="1600" b="0">
                        <a:solidFill>
                          <a:srgbClr val="E71C57"/>
                        </a:solidFill>
                        <a:ea typeface="Microsoft YaHei" panose="020B0503020204020204" pitchFamily="34" charset="-122"/>
                      </a:endParaRPr>
                    </a:p>
                  </a:txBody>
                  <a:tcPr>
                    <a:lnB w="12700" cap="flat" cmpd="sng" algn="ctr">
                      <a:solidFill>
                        <a:schemeClr val="tx2"/>
                      </a:solidFill>
                      <a:prstDash val="solid"/>
                      <a:round/>
                      <a:headEnd type="none" w="med" len="med"/>
                      <a:tailEnd type="none" w="med" len="med"/>
                    </a:lnB>
                    <a:noFill/>
                  </a:tcPr>
                </a:tc>
                <a:tc>
                  <a:txBody>
                    <a:bodyPr/>
                    <a:lstStyle/>
                    <a:p>
                      <a:r>
                        <a:rPr lang="pl-PL" sz="1600" b="0">
                          <a:solidFill>
                            <a:srgbClr val="29BA74"/>
                          </a:solidFill>
                          <a:ea typeface="Microsoft YaHei" panose="020B0503020204020204" pitchFamily="34" charset="-122"/>
                        </a:rPr>
                        <a:t>Do's</a:t>
                      </a:r>
                      <a:endParaRPr lang="en-US" sz="1600" b="0">
                        <a:solidFill>
                          <a:srgbClr val="29BA74"/>
                        </a:solidFill>
                        <a:ea typeface="Microsoft YaHei" panose="020B0503020204020204" pitchFamily="34" charset="-122"/>
                      </a:endParaRPr>
                    </a:p>
                  </a:txBody>
                  <a:tcPr>
                    <a:lnR w="12700" cap="flat" cmpd="sng" algn="ctr">
                      <a:solidFill>
                        <a:schemeClr val="tx2"/>
                      </a:solidFill>
                      <a:prstDash val="solid"/>
                      <a:round/>
                      <a:headEnd type="none" w="med" len="med"/>
                      <a:tailEnd type="none" w="med" len="med"/>
                    </a:lnR>
                    <a:lnB w="12700" cap="flat" cmpd="sng" algn="ctr">
                      <a:solidFill>
                        <a:schemeClr val="tx2"/>
                      </a:solidFill>
                      <a:prstDash val="solid"/>
                      <a:round/>
                      <a:headEnd type="none" w="med" len="med"/>
                      <a:tailEnd type="none" w="med" len="med"/>
                    </a:lnB>
                    <a:noFill/>
                  </a:tcPr>
                </a:tc>
                <a:tc>
                  <a:txBody>
                    <a:bodyPr/>
                    <a:lstStyle/>
                    <a:p>
                      <a:r>
                        <a:rPr lang="pl-PL" sz="1600" b="0">
                          <a:solidFill>
                            <a:srgbClr val="29BA74"/>
                          </a:solidFill>
                          <a:ea typeface="Microsoft YaHei" panose="020B0503020204020204" pitchFamily="34" charset="-122"/>
                        </a:rPr>
                        <a:t>Quotes</a:t>
                      </a:r>
                      <a:endParaRPr lang="en-US" sz="1600" b="0">
                        <a:solidFill>
                          <a:srgbClr val="29BA74"/>
                        </a:solidFill>
                        <a:ea typeface="Microsoft YaHei" panose="020B0503020204020204" pitchFamily="34" charset="-122"/>
                      </a:endParaRPr>
                    </a:p>
                  </a:txBody>
                  <a:tcPr>
                    <a:lnL w="12700" cap="flat" cmpd="sng" algn="ctr">
                      <a:solidFill>
                        <a:schemeClr val="tx2"/>
                      </a:solidFill>
                      <a:prstDash val="solid"/>
                      <a:round/>
                      <a:headEnd type="none" w="med" len="med"/>
                      <a:tailEnd type="none" w="med" len="med"/>
                    </a:lnL>
                    <a:lnB w="12700" cap="flat" cmpd="sng" algn="ctr">
                      <a:solidFill>
                        <a:schemeClr val="tx2"/>
                      </a:solidFill>
                      <a:prstDash val="solid"/>
                      <a:round/>
                      <a:headEnd type="none" w="med" len="med"/>
                      <a:tailEnd type="none" w="med" len="med"/>
                    </a:lnB>
                    <a:noFill/>
                  </a:tcPr>
                </a:tc>
                <a:extLst>
                  <a:ext uri="{0D108BD9-81ED-4DB2-BD59-A6C34878D82A}">
                    <a16:rowId xmlns:a16="http://schemas.microsoft.com/office/drawing/2014/main" val="2520642187"/>
                  </a:ext>
                </a:extLst>
              </a:tr>
              <a:tr h="1476000">
                <a:tc>
                  <a:txBody>
                    <a:bodyPr/>
                    <a:lstStyle/>
                    <a:p>
                      <a:r>
                        <a:rPr lang="en-US" sz="1400">
                          <a:solidFill>
                            <a:srgbClr val="29BA74"/>
                          </a:solidFill>
                          <a:ea typeface="Microsoft YaHei" panose="020B0503020204020204" pitchFamily="34" charset="-122"/>
                        </a:rPr>
                        <a:t>App design</a:t>
                      </a:r>
                    </a:p>
                  </a:txBody>
                  <a:tcPr marL="72000">
                    <a:lnT w="12700" cap="flat" cmpd="sng" algn="ctr">
                      <a:solidFill>
                        <a:schemeClr val="tx2"/>
                      </a:solidFill>
                      <a:prstDash val="solid"/>
                      <a:round/>
                      <a:headEnd type="none" w="med" len="med"/>
                      <a:tailEnd type="none" w="med" len="med"/>
                    </a:lnT>
                    <a:lnB w="9525" cap="flat" cmpd="sng" algn="ctr">
                      <a:solidFill>
                        <a:schemeClr val="bg1">
                          <a:lumMod val="75000"/>
                        </a:schemeClr>
                      </a:solidFill>
                      <a:prstDash val="sysDot"/>
                      <a:round/>
                      <a:headEnd type="none" w="med" len="med"/>
                      <a:tailEnd type="none" w="med" len="med"/>
                    </a:lnB>
                    <a:solidFill>
                      <a:srgbClr val="F2F2F2"/>
                    </a:solidFill>
                  </a:tcPr>
                </a:tc>
                <a:tc>
                  <a:txBody>
                    <a:bodyPr/>
                    <a:lstStyle/>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a:solidFill>
                            <a:schemeClr val="tx1"/>
                          </a:solidFill>
                          <a:latin typeface="Trebuchet MS" panose="020B0603020202020204" pitchFamily="34" charset="0"/>
                          <a:ea typeface="Microsoft YaHei" panose="020B0503020204020204" pitchFamily="34" charset="-122"/>
                        </a:rPr>
                        <a:t>Very complicated apps with not </a:t>
                      </a:r>
                      <a:r>
                        <a:rPr lang="en-US" sz="1200" i="0" u="none" kern="1200" spc="0" err="1">
                          <a:solidFill>
                            <a:schemeClr val="tx1"/>
                          </a:solidFill>
                          <a:latin typeface="Trebuchet MS" panose="020B0603020202020204" pitchFamily="34" charset="0"/>
                          <a:ea typeface="Microsoft YaHei" panose="020B0503020204020204" pitchFamily="34" charset="-122"/>
                        </a:rPr>
                        <a:t>UX</a:t>
                      </a:r>
                      <a:r>
                        <a:rPr lang="en-US" sz="1200" i="0" u="none" kern="1200" spc="0">
                          <a:solidFill>
                            <a:schemeClr val="tx1"/>
                          </a:solidFill>
                          <a:latin typeface="Trebuchet MS" panose="020B0603020202020204" pitchFamily="34" charset="0"/>
                          <a:ea typeface="Microsoft YaHei" panose="020B0503020204020204" pitchFamily="34" charset="-122"/>
                        </a:rPr>
                        <a:t> solutions tasted with customers </a:t>
                      </a:r>
                    </a:p>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a:solidFill>
                            <a:srgbClr val="29BA74"/>
                          </a:solidFill>
                          <a:latin typeface="Trebuchet MS" panose="020B0603020202020204" pitchFamily="34" charset="0"/>
                          <a:ea typeface="Microsoft YaHei" panose="020B0503020204020204" pitchFamily="34" charset="-122"/>
                        </a:rPr>
                        <a:t>Important info hidden </a:t>
                      </a:r>
                      <a:r>
                        <a:rPr lang="en-US" sz="1200" i="0" u="none" kern="1200" spc="0">
                          <a:solidFill>
                            <a:schemeClr val="tx1"/>
                          </a:solidFill>
                          <a:latin typeface="Trebuchet MS" panose="020B0603020202020204" pitchFamily="34" charset="0"/>
                          <a:ea typeface="Microsoft YaHei" panose="020B0503020204020204" pitchFamily="34" charset="-122"/>
                        </a:rPr>
                        <a:t>in the app </a:t>
                      </a:r>
                    </a:p>
                  </a:txBody>
                  <a:tcPr marL="0">
                    <a:lnT w="12700" cap="flat" cmpd="sng" algn="ctr">
                      <a:solidFill>
                        <a:schemeClr val="tx2"/>
                      </a:solidFill>
                      <a:prstDash val="solid"/>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tc>
                  <a:txBody>
                    <a:bodyPr/>
                    <a:lstStyle/>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a:solidFill>
                            <a:srgbClr val="29BA74"/>
                          </a:solidFill>
                          <a:latin typeface="Trebuchet MS" panose="020B0603020202020204" pitchFamily="34" charset="0"/>
                          <a:ea typeface="Microsoft YaHei" panose="020B0503020204020204" pitchFamily="34" charset="-122"/>
                        </a:rPr>
                        <a:t>Best-in-class </a:t>
                      </a:r>
                      <a:r>
                        <a:rPr lang="en-US" sz="1200" i="0" u="none" kern="1200" spc="0" err="1">
                          <a:solidFill>
                            <a:srgbClr val="29BA74"/>
                          </a:solidFill>
                          <a:latin typeface="Trebuchet MS" panose="020B0603020202020204" pitchFamily="34" charset="0"/>
                          <a:ea typeface="Microsoft YaHei" panose="020B0503020204020204" pitchFamily="34" charset="-122"/>
                        </a:rPr>
                        <a:t>UX</a:t>
                      </a:r>
                      <a:r>
                        <a:rPr lang="en-US" sz="1200" i="0" u="none" kern="1200" spc="0">
                          <a:solidFill>
                            <a:srgbClr val="29BA74"/>
                          </a:solidFill>
                          <a:latin typeface="Trebuchet MS" panose="020B0603020202020204" pitchFamily="34" charset="0"/>
                          <a:ea typeface="Microsoft YaHei" panose="020B0503020204020204" pitchFamily="34" charset="-122"/>
                        </a:rPr>
                        <a:t> design </a:t>
                      </a:r>
                      <a:r>
                        <a:rPr lang="en-US" sz="1200" i="0" u="none" kern="1200" spc="0">
                          <a:solidFill>
                            <a:schemeClr val="tx1"/>
                          </a:solidFill>
                          <a:latin typeface="Trebuchet MS" panose="020B0603020202020204" pitchFamily="34" charset="0"/>
                          <a:ea typeface="Microsoft YaHei" panose="020B0503020204020204" pitchFamily="34" charset="-122"/>
                        </a:rPr>
                        <a:t>carefully </a:t>
                      </a:r>
                      <a:r>
                        <a:rPr lang="en-US" sz="1200" i="0" u="sng" kern="1200" spc="0">
                          <a:solidFill>
                            <a:srgbClr val="29BA74"/>
                          </a:solidFill>
                          <a:latin typeface="Trebuchet MS" panose="020B0603020202020204" pitchFamily="34" charset="0"/>
                          <a:ea typeface="Microsoft YaHei" panose="020B0503020204020204" pitchFamily="34" charset="-122"/>
                        </a:rPr>
                        <a:t>tested with customers </a:t>
                      </a:r>
                    </a:p>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a:solidFill>
                            <a:schemeClr val="tx1"/>
                          </a:solidFill>
                          <a:latin typeface="Trebuchet MS" panose="020B0603020202020204" pitchFamily="34" charset="0"/>
                          <a:ea typeface="Microsoft YaHei" panose="020B0503020204020204" pitchFamily="34" charset="-122"/>
                        </a:rPr>
                        <a:t>The most </a:t>
                      </a:r>
                      <a:r>
                        <a:rPr lang="en-US" sz="1200" i="0" u="none" kern="1200" spc="0">
                          <a:solidFill>
                            <a:srgbClr val="29BA74"/>
                          </a:solidFill>
                          <a:latin typeface="Trebuchet MS" panose="020B0603020202020204" pitchFamily="34" charset="0"/>
                          <a:ea typeface="Microsoft YaHei" panose="020B0503020204020204" pitchFamily="34" charset="-122"/>
                        </a:rPr>
                        <a:t>important info visible </a:t>
                      </a:r>
                      <a:r>
                        <a:rPr lang="en-US" sz="1200" i="0" u="none" kern="1200" spc="0">
                          <a:solidFill>
                            <a:schemeClr val="tx1"/>
                          </a:solidFill>
                          <a:latin typeface="Trebuchet MS" panose="020B0603020202020204" pitchFamily="34" charset="0"/>
                          <a:ea typeface="Microsoft YaHei" panose="020B0503020204020204" pitchFamily="34" charset="-122"/>
                        </a:rPr>
                        <a:t>on the online/mobile landing page</a:t>
                      </a:r>
                      <a:endParaRPr lang="en-US" sz="1200" i="0" u="none" kern="1200" spc="0">
                        <a:solidFill>
                          <a:srgbClr val="29BA74"/>
                        </a:solidFill>
                        <a:latin typeface="Trebuchet MS" panose="020B0603020202020204" pitchFamily="34" charset="0"/>
                        <a:ea typeface="Microsoft YaHei" panose="020B0503020204020204" pitchFamily="34" charset="-122"/>
                      </a:endParaRPr>
                    </a:p>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a:solidFill>
                            <a:schemeClr val="tx1"/>
                          </a:solidFill>
                          <a:latin typeface="Trebuchet MS" panose="020B0603020202020204" pitchFamily="34" charset="0"/>
                          <a:ea typeface="Microsoft YaHei" panose="020B0503020204020204" pitchFamily="34" charset="-122"/>
                        </a:rPr>
                        <a:t>Easily to find </a:t>
                      </a:r>
                      <a:r>
                        <a:rPr lang="en-US" sz="1200" i="0" u="none" kern="1200" spc="0">
                          <a:solidFill>
                            <a:srgbClr val="29BA74"/>
                          </a:solidFill>
                          <a:latin typeface="Trebuchet MS" panose="020B0603020202020204" pitchFamily="34" charset="0"/>
                          <a:ea typeface="Microsoft YaHei" panose="020B0503020204020204" pitchFamily="34" charset="-122"/>
                        </a:rPr>
                        <a:t>check list </a:t>
                      </a:r>
                      <a:r>
                        <a:rPr lang="en-US" sz="1200" i="0" u="none" kern="1200" spc="0">
                          <a:solidFill>
                            <a:schemeClr val="tx1"/>
                          </a:solidFill>
                          <a:latin typeface="Trebuchet MS" panose="020B0603020202020204" pitchFamily="34" charset="0"/>
                          <a:ea typeface="Microsoft YaHei" panose="020B0503020204020204" pitchFamily="34" charset="-122"/>
                        </a:rPr>
                        <a:t>of customer actions (but not x-sell info)</a:t>
                      </a:r>
                    </a:p>
                  </a:txBody>
                  <a:tcPr marL="0">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tc>
                  <a:txBody>
                    <a:bodyPr/>
                    <a:lstStyle/>
                    <a:p>
                      <a:pPr marL="0" marR="0" lvl="0" indent="0" algn="l" defTabSz="914400" rtl="0" eaLnBrk="1" fontAlgn="auto" latinLnBrk="0" hangingPunct="1">
                        <a:lnSpc>
                          <a:spcPct val="95000"/>
                        </a:lnSpc>
                        <a:spcBef>
                          <a:spcPts val="0"/>
                        </a:spcBef>
                        <a:spcAft>
                          <a:spcPts val="0"/>
                        </a:spcAft>
                        <a:buClrTx/>
                        <a:buSzPct val="100000"/>
                        <a:buFont typeface="Trebuchet MS" panose="020B0603020202020204" pitchFamily="34" charset="0"/>
                        <a:buChar char="​"/>
                        <a:tabLst/>
                        <a:defRPr/>
                      </a:pPr>
                      <a:r>
                        <a:rPr lang="en-US" sz="1100" i="1" u="none" kern="1200" spc="0">
                          <a:solidFill>
                            <a:srgbClr val="7F7F7F"/>
                          </a:solidFill>
                          <a:latin typeface="Trebuchet MS" panose="020B0603020202020204" pitchFamily="34" charset="0"/>
                          <a:ea typeface="Microsoft YaHei" panose="020B0503020204020204" pitchFamily="34" charset="-122"/>
                          <a:cs typeface="+mn-cs"/>
                        </a:rPr>
                        <a:t>Nowadays, customers are used to use Facebook, Netflix and other tech players solutions. Those guys are masters in </a:t>
                      </a:r>
                      <a:r>
                        <a:rPr lang="en-US" sz="1100" b="1" i="1" u="sng" kern="1200" spc="0" err="1">
                          <a:solidFill>
                            <a:srgbClr val="7F7F7F"/>
                          </a:solidFill>
                          <a:latin typeface="Trebuchet MS" panose="020B0603020202020204" pitchFamily="34" charset="0"/>
                          <a:ea typeface="Microsoft YaHei" panose="020B0503020204020204" pitchFamily="34" charset="-122"/>
                          <a:cs typeface="+mn-cs"/>
                        </a:rPr>
                        <a:t>UX</a:t>
                      </a:r>
                      <a:r>
                        <a:rPr lang="en-US" sz="1100" b="1" i="1" u="sng" kern="1200" spc="0">
                          <a:solidFill>
                            <a:srgbClr val="7F7F7F"/>
                          </a:solidFill>
                          <a:latin typeface="Trebuchet MS" panose="020B0603020202020204" pitchFamily="34" charset="0"/>
                          <a:ea typeface="Microsoft YaHei" panose="020B0503020204020204" pitchFamily="34" charset="-122"/>
                          <a:cs typeface="+mn-cs"/>
                        </a:rPr>
                        <a:t> design</a:t>
                      </a:r>
                      <a:r>
                        <a:rPr lang="en-US" sz="1100" i="1" u="none" kern="1200" spc="0">
                          <a:solidFill>
                            <a:srgbClr val="7F7F7F"/>
                          </a:solidFill>
                          <a:latin typeface="Trebuchet MS" panose="020B0603020202020204" pitchFamily="34" charset="0"/>
                          <a:ea typeface="Microsoft YaHei" panose="020B0503020204020204" pitchFamily="34" charset="-122"/>
                          <a:cs typeface="+mn-cs"/>
                        </a:rPr>
                        <a:t>. For us, it was the </a:t>
                      </a:r>
                      <a:r>
                        <a:rPr lang="en-US" sz="1100" b="1" i="1" u="sng" kern="1200" spc="0">
                          <a:solidFill>
                            <a:srgbClr val="7F7F7F"/>
                          </a:solidFill>
                          <a:latin typeface="Trebuchet MS" panose="020B0603020202020204" pitchFamily="34" charset="0"/>
                          <a:ea typeface="Microsoft YaHei" panose="020B0503020204020204" pitchFamily="34" charset="-122"/>
                          <a:cs typeface="+mn-cs"/>
                        </a:rPr>
                        <a:t>most important goal </a:t>
                      </a:r>
                      <a:r>
                        <a:rPr lang="en-US" sz="1100" i="1" u="none" kern="1200" spc="0">
                          <a:solidFill>
                            <a:srgbClr val="7F7F7F"/>
                          </a:solidFill>
                          <a:latin typeface="Trebuchet MS" panose="020B0603020202020204" pitchFamily="34" charset="0"/>
                          <a:ea typeface="Microsoft YaHei" panose="020B0503020204020204" pitchFamily="34" charset="-122"/>
                          <a:cs typeface="+mn-cs"/>
                        </a:rPr>
                        <a:t>to implement something very similar from </a:t>
                      </a:r>
                      <a:r>
                        <a:rPr lang="en-US" sz="1100" i="1" u="none" kern="1200" spc="0" err="1">
                          <a:solidFill>
                            <a:srgbClr val="7F7F7F"/>
                          </a:solidFill>
                          <a:latin typeface="Trebuchet MS" panose="020B0603020202020204" pitchFamily="34" charset="0"/>
                          <a:ea typeface="Microsoft YaHei" panose="020B0503020204020204" pitchFamily="34" charset="-122"/>
                          <a:cs typeface="+mn-cs"/>
                        </a:rPr>
                        <a:t>UX</a:t>
                      </a:r>
                      <a:r>
                        <a:rPr lang="en-US" sz="1100" i="1" u="none" kern="1200" spc="0">
                          <a:solidFill>
                            <a:srgbClr val="7F7F7F"/>
                          </a:solidFill>
                          <a:latin typeface="Trebuchet MS" panose="020B0603020202020204" pitchFamily="34" charset="0"/>
                          <a:ea typeface="Microsoft YaHei" panose="020B0503020204020204" pitchFamily="34" charset="-122"/>
                          <a:cs typeface="+mn-cs"/>
                        </a:rPr>
                        <a:t> standpoint. Importance of </a:t>
                      </a:r>
                      <a:r>
                        <a:rPr lang="en-US" sz="1100" i="1" u="none" kern="1200" spc="0" err="1">
                          <a:solidFill>
                            <a:srgbClr val="7F7F7F"/>
                          </a:solidFill>
                          <a:latin typeface="Trebuchet MS" panose="020B0603020202020204" pitchFamily="34" charset="0"/>
                          <a:ea typeface="Microsoft YaHei" panose="020B0503020204020204" pitchFamily="34" charset="-122"/>
                          <a:cs typeface="+mn-cs"/>
                        </a:rPr>
                        <a:t>UX</a:t>
                      </a:r>
                      <a:r>
                        <a:rPr lang="en-US" sz="1100" i="1" u="none" kern="1200" spc="0">
                          <a:solidFill>
                            <a:srgbClr val="7F7F7F"/>
                          </a:solidFill>
                          <a:latin typeface="Trebuchet MS" panose="020B0603020202020204" pitchFamily="34" charset="0"/>
                          <a:ea typeface="Microsoft YaHei" panose="020B0503020204020204" pitchFamily="34" charset="-122"/>
                          <a:cs typeface="+mn-cs"/>
                        </a:rPr>
                        <a:t> is often underestimated by other big banks</a:t>
                      </a:r>
                    </a:p>
                    <a:p>
                      <a:pPr marL="0" lvl="0" indent="0" algn="r" defTabSz="914400" rtl="0" eaLnBrk="1" latinLnBrk="0" hangingPunct="1">
                        <a:lnSpc>
                          <a:spcPct val="95000"/>
                        </a:lnSpc>
                        <a:spcBef>
                          <a:spcPts val="0"/>
                        </a:spcBef>
                        <a:spcAft>
                          <a:spcPts val="0"/>
                        </a:spcAft>
                        <a:buClrTx/>
                        <a:buSzPct val="100000"/>
                        <a:buFont typeface="Trebuchet MS" panose="020B0603020202020204" pitchFamily="34" charset="0"/>
                        <a:buChar char="​"/>
                      </a:pPr>
                      <a:r>
                        <a:rPr lang="en-US" sz="1100" b="1" i="0" u="none" kern="1200" spc="0">
                          <a:solidFill>
                            <a:schemeClr val="tx1"/>
                          </a:solidFill>
                          <a:latin typeface="Trebuchet MS" panose="020B0603020202020204" pitchFamily="34" charset="0"/>
                          <a:ea typeface="Microsoft YaHei" panose="020B0503020204020204" pitchFamily="34" charset="-122"/>
                        </a:rPr>
                        <a:t>Head of Onboarding </a:t>
                      </a:r>
                      <a:br>
                        <a:rPr lang="en-US" sz="1100" b="1" i="0" u="none" kern="1200" spc="0">
                          <a:solidFill>
                            <a:schemeClr val="tx1"/>
                          </a:solidFill>
                          <a:latin typeface="Trebuchet MS" panose="020B0603020202020204" pitchFamily="34" charset="0"/>
                          <a:ea typeface="Microsoft YaHei" panose="020B0503020204020204" pitchFamily="34" charset="-122"/>
                        </a:rPr>
                      </a:br>
                      <a:r>
                        <a:rPr lang="en-US" sz="1100" b="1" i="0" u="none" kern="1200" spc="0">
                          <a:solidFill>
                            <a:schemeClr val="tx1"/>
                          </a:solidFill>
                          <a:latin typeface="Trebuchet MS" panose="020B0603020202020204" pitchFamily="34" charset="0"/>
                          <a:ea typeface="Microsoft YaHei" panose="020B0503020204020204" pitchFamily="34" charset="-122"/>
                        </a:rPr>
                        <a:t>and Mobile Services at </a:t>
                      </a:r>
                      <a:r>
                        <a:rPr lang="en-US" sz="1100" b="1" i="0" u="none" kern="1200" spc="0" err="1">
                          <a:solidFill>
                            <a:schemeClr val="tx1"/>
                          </a:solidFill>
                          <a:latin typeface="Trebuchet MS" panose="020B0603020202020204" pitchFamily="34" charset="0"/>
                          <a:ea typeface="Microsoft YaHei" panose="020B0503020204020204" pitchFamily="34" charset="-122"/>
                        </a:rPr>
                        <a:t>Aion</a:t>
                      </a:r>
                      <a:r>
                        <a:rPr lang="en-US" sz="1100" b="1" i="0" u="none" kern="1200" spc="0">
                          <a:solidFill>
                            <a:schemeClr val="tx1"/>
                          </a:solidFill>
                          <a:latin typeface="Trebuchet MS" panose="020B0603020202020204" pitchFamily="34" charset="0"/>
                          <a:ea typeface="Microsoft YaHei" panose="020B0503020204020204" pitchFamily="34" charset="-122"/>
                        </a:rPr>
                        <a:t> Bank</a:t>
                      </a:r>
                      <a:r>
                        <a:rPr lang="en-US" sz="1100" i="0" u="none" kern="1200" spc="0">
                          <a:solidFill>
                            <a:schemeClr val="tx1"/>
                          </a:solidFill>
                          <a:latin typeface="Trebuchet MS" panose="020B0603020202020204" pitchFamily="34" charset="0"/>
                          <a:ea typeface="Microsoft YaHei" panose="020B0503020204020204" pitchFamily="34" charset="-122"/>
                        </a:rPr>
                        <a:t> </a:t>
                      </a:r>
                    </a:p>
                  </a:txBody>
                  <a:tcPr>
                    <a:lnL w="12700" cap="flat" cmpd="sng" algn="ctr">
                      <a:solidFill>
                        <a:schemeClr val="tx2"/>
                      </a:solidFill>
                      <a:prstDash val="solid"/>
                      <a:round/>
                      <a:headEnd type="none" w="med" len="med"/>
                      <a:tailEnd type="none" w="med" len="med"/>
                    </a:lnL>
                    <a:lnT w="12700" cap="flat" cmpd="sng" algn="ctr">
                      <a:solidFill>
                        <a:schemeClr val="tx2"/>
                      </a:solidFill>
                      <a:prstDash val="solid"/>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extLst>
                  <a:ext uri="{0D108BD9-81ED-4DB2-BD59-A6C34878D82A}">
                    <a16:rowId xmlns:a16="http://schemas.microsoft.com/office/drawing/2014/main" val="3436492136"/>
                  </a:ext>
                </a:extLst>
              </a:tr>
              <a:tr h="370840">
                <a:tc>
                  <a:txBody>
                    <a:bodyPr/>
                    <a:lstStyle/>
                    <a:p>
                      <a:r>
                        <a:rPr lang="en-US" sz="1400">
                          <a:solidFill>
                            <a:srgbClr val="29BA74"/>
                          </a:solidFill>
                          <a:ea typeface="Microsoft YaHei" panose="020B0503020204020204" pitchFamily="34" charset="-122"/>
                        </a:rPr>
                        <a:t>Onboarding to online channels</a:t>
                      </a:r>
                    </a:p>
                  </a:txBody>
                  <a:tcPr marL="72000">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solidFill>
                      <a:srgbClr val="F2F2F2"/>
                    </a:solidFill>
                  </a:tcPr>
                </a:tc>
                <a:tc>
                  <a:txBody>
                    <a:bodyPr/>
                    <a:lstStyle/>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err="1">
                          <a:solidFill>
                            <a:schemeClr val="tx1"/>
                          </a:solidFill>
                          <a:latin typeface="Trebuchet MS" panose="020B0603020202020204" pitchFamily="34" charset="0"/>
                          <a:ea typeface="Microsoft YaHei" panose="020B0503020204020204" pitchFamily="34" charset="-122"/>
                        </a:rPr>
                        <a:t>RMs</a:t>
                      </a:r>
                      <a:r>
                        <a:rPr lang="en-US" sz="1200" i="0" u="none" kern="1200" spc="0">
                          <a:solidFill>
                            <a:schemeClr val="tx1"/>
                          </a:solidFill>
                          <a:latin typeface="Trebuchet MS" panose="020B0603020202020204" pitchFamily="34" charset="0"/>
                          <a:ea typeface="Microsoft YaHei" panose="020B0503020204020204" pitchFamily="34" charset="-122"/>
                        </a:rPr>
                        <a:t> and CC advisors not involved in onboarding to online channels (e.g. not properly trained and with limited incentives) </a:t>
                      </a:r>
                    </a:p>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a:solidFill>
                            <a:schemeClr val="tx1"/>
                          </a:solidFill>
                          <a:latin typeface="Trebuchet MS" panose="020B0603020202020204" pitchFamily="34" charset="0"/>
                          <a:ea typeface="Microsoft YaHei" panose="020B0503020204020204" pitchFamily="34" charset="-122"/>
                        </a:rPr>
                        <a:t>Online channels functionalities explained in </a:t>
                      </a:r>
                      <a:r>
                        <a:rPr lang="en-US" sz="1200" i="0" u="none" kern="1200" spc="0">
                          <a:solidFill>
                            <a:srgbClr val="29BA74"/>
                          </a:solidFill>
                          <a:latin typeface="Trebuchet MS" panose="020B0603020202020204" pitchFamily="34" charset="0"/>
                          <a:ea typeface="Microsoft YaHei" panose="020B0503020204020204" pitchFamily="34" charset="-122"/>
                        </a:rPr>
                        <a:t>leaflets and flyers  </a:t>
                      </a:r>
                    </a:p>
                  </a:txBody>
                  <a:tcPr marL="0">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tc>
                  <a:txBody>
                    <a:bodyPr/>
                    <a:lstStyle/>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a:solidFill>
                            <a:srgbClr val="29BA74"/>
                          </a:solidFill>
                          <a:latin typeface="Trebuchet MS" panose="020B0603020202020204" pitchFamily="34" charset="0"/>
                          <a:ea typeface="Microsoft YaHei" panose="020B0503020204020204" pitchFamily="34" charset="-122"/>
                        </a:rPr>
                        <a:t>Branch and CC center assistance </a:t>
                      </a:r>
                      <a:r>
                        <a:rPr lang="en-US" sz="1200" i="0" u="none" kern="1200" spc="0">
                          <a:solidFill>
                            <a:schemeClr val="tx1"/>
                          </a:solidFill>
                          <a:latin typeface="Trebuchet MS" panose="020B0603020202020204" pitchFamily="34" charset="0"/>
                          <a:ea typeface="Microsoft YaHei" panose="020B0503020204020204" pitchFamily="34" charset="-122"/>
                        </a:rPr>
                        <a:t>(all staff carefully trained about the digital channels and its functionalities) </a:t>
                      </a:r>
                    </a:p>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a:solidFill>
                            <a:schemeClr val="tx1"/>
                          </a:solidFill>
                          <a:latin typeface="Trebuchet MS" panose="020B0603020202020204" pitchFamily="34" charset="0"/>
                          <a:ea typeface="Microsoft YaHei" panose="020B0503020204020204" pitchFamily="34" charset="-122"/>
                        </a:rPr>
                        <a:t>Onboarding through </a:t>
                      </a:r>
                      <a:r>
                        <a:rPr lang="en-US" sz="1200" i="0" u="none" kern="1200" spc="0">
                          <a:solidFill>
                            <a:srgbClr val="29BA74"/>
                          </a:solidFill>
                          <a:latin typeface="Trebuchet MS" panose="020B0603020202020204" pitchFamily="34" charset="0"/>
                          <a:ea typeface="Microsoft YaHei" panose="020B0503020204020204" pitchFamily="34" charset="-122"/>
                        </a:rPr>
                        <a:t>learning bites and </a:t>
                      </a:r>
                      <a:r>
                        <a:rPr lang="en-US" sz="1200" i="0" u="none" kern="1200" spc="0" err="1">
                          <a:solidFill>
                            <a:srgbClr val="29BA74"/>
                          </a:solidFill>
                          <a:latin typeface="Trebuchet MS" panose="020B0603020202020204" pitchFamily="34" charset="0"/>
                          <a:ea typeface="Microsoft YaHei" panose="020B0503020204020204" pitchFamily="34" charset="-122"/>
                        </a:rPr>
                        <a:t>UX</a:t>
                      </a:r>
                      <a:r>
                        <a:rPr lang="en-US" sz="1200" i="0" u="none" kern="1200" spc="0">
                          <a:solidFill>
                            <a:srgbClr val="29BA74"/>
                          </a:solidFill>
                          <a:latin typeface="Trebuchet MS" panose="020B0603020202020204" pitchFamily="34" charset="0"/>
                          <a:ea typeface="Microsoft YaHei" panose="020B0503020204020204" pitchFamily="34" charset="-122"/>
                        </a:rPr>
                        <a:t> friendly tools</a:t>
                      </a:r>
                      <a:r>
                        <a:rPr lang="en-US" sz="1200" i="0" u="none" kern="1200" spc="0">
                          <a:solidFill>
                            <a:schemeClr val="tx1"/>
                          </a:solidFill>
                          <a:latin typeface="Trebuchet MS" panose="020B0603020202020204" pitchFamily="34" charset="0"/>
                          <a:ea typeface="Microsoft YaHei" panose="020B0503020204020204" pitchFamily="34" charset="-122"/>
                        </a:rPr>
                        <a:t> (e.g. videos, contextual help)</a:t>
                      </a:r>
                    </a:p>
                  </a:txBody>
                  <a:tcPr marL="0">
                    <a:lnR w="12700" cap="flat" cmpd="sng" algn="ctr">
                      <a:solidFill>
                        <a:schemeClr val="tx2"/>
                      </a:solidFill>
                      <a:prstDash val="solid"/>
                      <a:round/>
                      <a:headEnd type="none" w="med" len="med"/>
                      <a:tailEnd type="none" w="med" len="med"/>
                    </a:ln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tc>
                  <a:txBody>
                    <a:bodyPr/>
                    <a:lstStyle/>
                    <a:p>
                      <a:pPr marL="0" marR="0" lvl="0" indent="0" algn="l" defTabSz="914400" rtl="0" eaLnBrk="1" fontAlgn="auto" latinLnBrk="0" hangingPunct="1">
                        <a:lnSpc>
                          <a:spcPct val="95000"/>
                        </a:lnSpc>
                        <a:spcBef>
                          <a:spcPts val="0"/>
                        </a:spcBef>
                        <a:spcAft>
                          <a:spcPts val="0"/>
                        </a:spcAft>
                        <a:buClrTx/>
                        <a:buSzPct val="100000"/>
                        <a:buFont typeface="Trebuchet MS" panose="020B0603020202020204" pitchFamily="34" charset="0"/>
                        <a:buChar char="​"/>
                        <a:tabLst/>
                        <a:defRPr/>
                      </a:pPr>
                      <a:r>
                        <a:rPr lang="en-US" sz="1100" i="1" u="none" kern="1200" spc="0">
                          <a:solidFill>
                            <a:srgbClr val="7F7F7F"/>
                          </a:solidFill>
                          <a:latin typeface="Trebuchet MS" panose="020B0603020202020204" pitchFamily="34" charset="0"/>
                          <a:ea typeface="Microsoft YaHei" panose="020B0503020204020204" pitchFamily="34" charset="-122"/>
                          <a:cs typeface="+mn-cs"/>
                        </a:rPr>
                        <a:t>In branches we introduced </a:t>
                      </a:r>
                      <a:r>
                        <a:rPr lang="en-US" sz="1100" b="1" i="1" u="sng" kern="1200" spc="0">
                          <a:solidFill>
                            <a:srgbClr val="7F7F7F"/>
                          </a:solidFill>
                          <a:latin typeface="Trebuchet MS" panose="020B0603020202020204" pitchFamily="34" charset="0"/>
                          <a:ea typeface="Microsoft YaHei" panose="020B0503020204020204" pitchFamily="34" charset="-122"/>
                          <a:cs typeface="+mn-cs"/>
                        </a:rPr>
                        <a:t>‘</a:t>
                      </a:r>
                      <a:r>
                        <a:rPr lang="en-US" sz="1100" b="1" i="1" u="sng" kern="1200" spc="0" err="1">
                          <a:solidFill>
                            <a:srgbClr val="7F7F7F"/>
                          </a:solidFill>
                          <a:latin typeface="Trebuchet MS" panose="020B0603020202020204" pitchFamily="34" charset="0"/>
                          <a:ea typeface="Microsoft YaHei" panose="020B0503020204020204" pitchFamily="34" charset="-122"/>
                          <a:cs typeface="+mn-cs"/>
                        </a:rPr>
                        <a:t>digi</a:t>
                      </a:r>
                      <a:r>
                        <a:rPr lang="en-US" sz="1100" b="1" i="1" u="sng" kern="1200" spc="0">
                          <a:solidFill>
                            <a:srgbClr val="7F7F7F"/>
                          </a:solidFill>
                          <a:latin typeface="Trebuchet MS" panose="020B0603020202020204" pitchFamily="34" charset="0"/>
                          <a:ea typeface="Microsoft YaHei" panose="020B0503020204020204" pitchFamily="34" charset="-122"/>
                          <a:cs typeface="+mn-cs"/>
                        </a:rPr>
                        <a:t> coaches’ </a:t>
                      </a:r>
                      <a:r>
                        <a:rPr lang="en-US" sz="1100" i="1" u="none" kern="1200" spc="0">
                          <a:solidFill>
                            <a:srgbClr val="7F7F7F"/>
                          </a:solidFill>
                          <a:latin typeface="Trebuchet MS" panose="020B0603020202020204" pitchFamily="34" charset="0"/>
                          <a:ea typeface="Microsoft YaHei" panose="020B0503020204020204" pitchFamily="34" charset="-122"/>
                          <a:cs typeface="+mn-cs"/>
                        </a:rPr>
                        <a:t>- bank employees that help our customers with the conversion to use mobile.  To do this we had an Apple like ‘genius bar’ with tablets and phones were our </a:t>
                      </a:r>
                      <a:r>
                        <a:rPr lang="en-US" sz="1100" i="1" u="none" kern="1200" spc="0" err="1">
                          <a:solidFill>
                            <a:srgbClr val="7F7F7F"/>
                          </a:solidFill>
                          <a:latin typeface="Trebuchet MS" panose="020B0603020202020204" pitchFamily="34" charset="0"/>
                          <a:ea typeface="Microsoft YaHei" panose="020B0503020204020204" pitchFamily="34" charset="-122"/>
                          <a:cs typeface="+mn-cs"/>
                        </a:rPr>
                        <a:t>digi</a:t>
                      </a:r>
                      <a:r>
                        <a:rPr lang="en-US" sz="1100" i="1" u="none" kern="1200" spc="0">
                          <a:solidFill>
                            <a:srgbClr val="7F7F7F"/>
                          </a:solidFill>
                          <a:latin typeface="Trebuchet MS" panose="020B0603020202020204" pitchFamily="34" charset="0"/>
                          <a:ea typeface="Microsoft YaHei" panose="020B0503020204020204" pitchFamily="34" charset="-122"/>
                          <a:cs typeface="+mn-cs"/>
                        </a:rPr>
                        <a:t>-coaches </a:t>
                      </a:r>
                      <a:r>
                        <a:rPr lang="en-US" sz="1100" b="1" i="1" u="sng" kern="1200" spc="0">
                          <a:solidFill>
                            <a:srgbClr val="7F7F7F"/>
                          </a:solidFill>
                          <a:latin typeface="Trebuchet MS" panose="020B0603020202020204" pitchFamily="34" charset="0"/>
                          <a:ea typeface="Microsoft YaHei" panose="020B0503020204020204" pitchFamily="34" charset="-122"/>
                          <a:cs typeface="+mn-cs"/>
                        </a:rPr>
                        <a:t>explained how it works and helped customers to download and start using</a:t>
                      </a:r>
                      <a:r>
                        <a:rPr lang="en-US" sz="1100" i="1" u="none" kern="1200" spc="0">
                          <a:solidFill>
                            <a:srgbClr val="7F7F7F"/>
                          </a:solidFill>
                          <a:latin typeface="Trebuchet MS" panose="020B0603020202020204" pitchFamily="34" charset="0"/>
                          <a:ea typeface="Microsoft YaHei" panose="020B0503020204020204" pitchFamily="34" charset="-122"/>
                          <a:cs typeface="+mn-cs"/>
                        </a:rPr>
                        <a:t>. Also, our advisors had clear target, e.g. at first downloads completed with an on the spot mobile money transfer</a:t>
                      </a:r>
                    </a:p>
                    <a:p>
                      <a:pPr marL="0" marR="0" lvl="0" indent="0" algn="r" defTabSz="914400" rtl="0" eaLnBrk="1" fontAlgn="auto" latinLnBrk="0" hangingPunct="1">
                        <a:lnSpc>
                          <a:spcPct val="95000"/>
                        </a:lnSpc>
                        <a:spcBef>
                          <a:spcPts val="0"/>
                        </a:spcBef>
                        <a:spcAft>
                          <a:spcPts val="0"/>
                        </a:spcAft>
                        <a:buClrTx/>
                        <a:buSzTx/>
                        <a:buFontTx/>
                        <a:buNone/>
                        <a:tabLst/>
                        <a:defRPr/>
                      </a:pPr>
                      <a:r>
                        <a:rPr lang="en-US" sz="1100" b="1" i="0" u="none" kern="1200" spc="0">
                          <a:solidFill>
                            <a:schemeClr val="tx1"/>
                          </a:solidFill>
                          <a:latin typeface="Trebuchet MS" panose="020B0603020202020204" pitchFamily="34" charset="0"/>
                          <a:ea typeface="Microsoft YaHei" panose="020B0503020204020204" pitchFamily="34" charset="-122"/>
                        </a:rPr>
                        <a:t>CEO at ING Netherlands</a:t>
                      </a:r>
                      <a:endParaRPr lang="en-US" sz="1100" i="0" u="none" kern="1200" spc="0">
                        <a:solidFill>
                          <a:schemeClr val="tx1"/>
                        </a:solidFill>
                        <a:latin typeface="Trebuchet MS" panose="020B0603020202020204" pitchFamily="34" charset="0"/>
                        <a:ea typeface="Microsoft YaHei" panose="020B0503020204020204" pitchFamily="34" charset="-122"/>
                      </a:endParaRPr>
                    </a:p>
                    <a:p>
                      <a:pPr lvl="0" algn="l">
                        <a:lnSpc>
                          <a:spcPct val="95000"/>
                        </a:lnSpc>
                        <a:spcBef>
                          <a:spcPts val="0"/>
                        </a:spcBef>
                        <a:spcAft>
                          <a:spcPts val="0"/>
                        </a:spcAft>
                      </a:pPr>
                      <a:endParaRPr lang="en-US" sz="1100">
                        <a:ea typeface="Microsoft YaHei" panose="020B0503020204020204" pitchFamily="34" charset="-122"/>
                      </a:endParaRPr>
                    </a:p>
                  </a:txBody>
                  <a:tcPr>
                    <a:lnL w="12700" cap="flat" cmpd="sng" algn="ctr">
                      <a:solidFill>
                        <a:schemeClr val="tx2"/>
                      </a:solidFill>
                      <a:prstDash val="solid"/>
                      <a:round/>
                      <a:headEnd type="none" w="med" len="med"/>
                      <a:tailEnd type="none" w="med" len="med"/>
                    </a:lnL>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extLst>
                  <a:ext uri="{0D108BD9-81ED-4DB2-BD59-A6C34878D82A}">
                    <a16:rowId xmlns:a16="http://schemas.microsoft.com/office/drawing/2014/main" val="2534262357"/>
                  </a:ext>
                </a:extLst>
              </a:tr>
              <a:tr h="370840">
                <a:tc>
                  <a:txBody>
                    <a:bodyPr/>
                    <a:lstStyle/>
                    <a:p>
                      <a:r>
                        <a:rPr lang="en-US" sz="1400">
                          <a:solidFill>
                            <a:srgbClr val="29BA74"/>
                          </a:solidFill>
                          <a:ea typeface="Microsoft YaHei" panose="020B0503020204020204" pitchFamily="34" charset="-122"/>
                        </a:rPr>
                        <a:t>Ongoing customer pathways analysis </a:t>
                      </a:r>
                    </a:p>
                  </a:txBody>
                  <a:tcPr marL="72000">
                    <a:lnT w="9525" cap="flat" cmpd="sng" algn="ctr">
                      <a:solidFill>
                        <a:schemeClr val="bg1">
                          <a:lumMod val="75000"/>
                        </a:schemeClr>
                      </a:solidFill>
                      <a:prstDash val="sysDot"/>
                      <a:round/>
                      <a:headEnd type="none" w="med" len="med"/>
                      <a:tailEnd type="none" w="med" len="med"/>
                    </a:lnT>
                    <a:solidFill>
                      <a:srgbClr val="F2F2F2"/>
                    </a:solidFill>
                  </a:tcPr>
                </a:tc>
                <a:tc>
                  <a:txBody>
                    <a:bodyPr/>
                    <a:lstStyle/>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a:solidFill>
                            <a:schemeClr val="tx1"/>
                          </a:solidFill>
                          <a:latin typeface="Trebuchet MS" panose="020B0603020202020204" pitchFamily="34" charset="0"/>
                          <a:ea typeface="Microsoft YaHei" panose="020B0503020204020204" pitchFamily="34" charset="-122"/>
                        </a:rPr>
                        <a:t>Customer processes not tracked</a:t>
                      </a:r>
                    </a:p>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a:solidFill>
                            <a:srgbClr val="29BA74"/>
                          </a:solidFill>
                          <a:latin typeface="Trebuchet MS" panose="020B0603020202020204" pitchFamily="34" charset="0"/>
                          <a:ea typeface="Microsoft YaHei" panose="020B0503020204020204" pitchFamily="34" charset="-122"/>
                        </a:rPr>
                        <a:t>Unclear goals </a:t>
                      </a:r>
                      <a:r>
                        <a:rPr lang="en-US" sz="1200" i="0" u="none" kern="1200" spc="0">
                          <a:solidFill>
                            <a:schemeClr val="tx1"/>
                          </a:solidFill>
                          <a:latin typeface="Trebuchet MS" panose="020B0603020202020204" pitchFamily="34" charset="0"/>
                          <a:ea typeface="Microsoft YaHei" panose="020B0503020204020204" pitchFamily="34" charset="-122"/>
                        </a:rPr>
                        <a:t>not internally communicated </a:t>
                      </a:r>
                    </a:p>
                  </a:txBody>
                  <a:tcPr marL="0">
                    <a:lnT w="9525" cap="flat" cmpd="sng" algn="ctr">
                      <a:solidFill>
                        <a:schemeClr val="bg1">
                          <a:lumMod val="75000"/>
                        </a:schemeClr>
                      </a:solidFill>
                      <a:prstDash val="sysDot"/>
                      <a:round/>
                      <a:headEnd type="none" w="med" len="med"/>
                      <a:tailEnd type="none" w="med" len="med"/>
                    </a:lnT>
                    <a:noFill/>
                  </a:tcPr>
                </a:tc>
                <a:tc>
                  <a:txBody>
                    <a:bodyPr/>
                    <a:lstStyle/>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a:solidFill>
                            <a:srgbClr val="29BA74"/>
                          </a:solidFill>
                          <a:latin typeface="Trebuchet MS" panose="020B0603020202020204" pitchFamily="34" charset="0"/>
                          <a:ea typeface="Microsoft YaHei" panose="020B0503020204020204" pitchFamily="34" charset="-122"/>
                        </a:rPr>
                        <a:t>Customer processes carefully tracked </a:t>
                      </a:r>
                      <a:r>
                        <a:rPr lang="en-US" sz="1200" i="0" u="none" kern="1200" spc="0">
                          <a:solidFill>
                            <a:schemeClr val="tx1"/>
                          </a:solidFill>
                          <a:latin typeface="Trebuchet MS" panose="020B0603020202020204" pitchFamily="34" charset="0"/>
                          <a:ea typeface="Microsoft YaHei" panose="020B0503020204020204" pitchFamily="34" charset="-122"/>
                        </a:rPr>
                        <a:t>and adjusted on the spot (e.g. tracking on each stage customer dropped out from the process or how he reacted to new campaign)</a:t>
                      </a:r>
                    </a:p>
                  </a:txBody>
                  <a:tcPr marL="0">
                    <a:lnR w="12700" cap="flat" cmpd="sng" algn="ctr">
                      <a:solidFill>
                        <a:schemeClr val="tx2"/>
                      </a:solidFill>
                      <a:prstDash val="solid"/>
                      <a:round/>
                      <a:headEnd type="none" w="med" len="med"/>
                      <a:tailEnd type="none" w="med" len="med"/>
                    </a:lnR>
                    <a:lnT w="9525" cap="flat" cmpd="sng" algn="ctr">
                      <a:solidFill>
                        <a:schemeClr val="bg1">
                          <a:lumMod val="75000"/>
                        </a:schemeClr>
                      </a:solidFill>
                      <a:prstDash val="sysDot"/>
                      <a:round/>
                      <a:headEnd type="none" w="med" len="med"/>
                      <a:tailEnd type="none" w="med" len="med"/>
                    </a:lnT>
                    <a:noFill/>
                  </a:tcPr>
                </a:tc>
                <a:tc>
                  <a:txBody>
                    <a:bodyPr/>
                    <a:lstStyle/>
                    <a:p>
                      <a:pPr marL="0" marR="0" lvl="0" indent="0" algn="l" defTabSz="914400" rtl="0" eaLnBrk="1" fontAlgn="auto" latinLnBrk="0" hangingPunct="1">
                        <a:lnSpc>
                          <a:spcPct val="95000"/>
                        </a:lnSpc>
                        <a:spcBef>
                          <a:spcPts val="0"/>
                        </a:spcBef>
                        <a:spcAft>
                          <a:spcPts val="0"/>
                        </a:spcAft>
                        <a:buClrTx/>
                        <a:buSzPct val="100000"/>
                        <a:buFont typeface="Trebuchet MS" panose="020B0603020202020204" pitchFamily="34" charset="0"/>
                        <a:buChar char="​"/>
                        <a:tabLst/>
                        <a:defRPr/>
                      </a:pPr>
                      <a:r>
                        <a:rPr lang="en-US" sz="1100" b="1" i="1" u="sng" kern="1200" spc="0">
                          <a:solidFill>
                            <a:srgbClr val="7F7F7F"/>
                          </a:solidFill>
                          <a:latin typeface="Trebuchet MS" panose="020B0603020202020204" pitchFamily="34" charset="0"/>
                          <a:ea typeface="Microsoft YaHei" panose="020B0503020204020204" pitchFamily="34" charset="-122"/>
                          <a:cs typeface="+mn-cs"/>
                        </a:rPr>
                        <a:t>Measure everything </a:t>
                      </a:r>
                      <a:r>
                        <a:rPr lang="en-US" sz="1100" i="1" u="none" kern="1200" spc="0">
                          <a:solidFill>
                            <a:srgbClr val="7F7F7F"/>
                          </a:solidFill>
                          <a:latin typeface="Trebuchet MS" panose="020B0603020202020204" pitchFamily="34" charset="0"/>
                          <a:ea typeface="Microsoft YaHei" panose="020B0503020204020204" pitchFamily="34" charset="-122"/>
                          <a:cs typeface="+mn-cs"/>
                        </a:rPr>
                        <a:t>and make it available for your squads. Measure in and outflow, measure conversion funnels and drop outs, measure most frequent used processes, analyze search results, measure and target the distinctive elements in the digital formula</a:t>
                      </a:r>
                    </a:p>
                    <a:p>
                      <a:pPr marL="0" marR="0" lvl="0" indent="0" algn="r" defTabSz="914400" rtl="0" eaLnBrk="1" fontAlgn="auto" latinLnBrk="0" hangingPunct="1">
                        <a:lnSpc>
                          <a:spcPct val="95000"/>
                        </a:lnSpc>
                        <a:spcBef>
                          <a:spcPts val="0"/>
                        </a:spcBef>
                        <a:spcAft>
                          <a:spcPts val="0"/>
                        </a:spcAft>
                        <a:buClrTx/>
                        <a:buSzTx/>
                        <a:buFontTx/>
                        <a:buNone/>
                        <a:tabLst/>
                        <a:defRPr/>
                      </a:pPr>
                      <a:endParaRPr lang="pl-PL" sz="1100" b="1" i="0" u="none" kern="1200" spc="0">
                        <a:solidFill>
                          <a:schemeClr val="tx1"/>
                        </a:solidFill>
                        <a:latin typeface="Trebuchet MS" panose="020B0603020202020204" pitchFamily="34" charset="0"/>
                        <a:ea typeface="Microsoft YaHei" panose="020B0503020204020204" pitchFamily="34" charset="-122"/>
                      </a:endParaRPr>
                    </a:p>
                    <a:p>
                      <a:pPr marL="0" marR="0" lvl="0" indent="0" algn="r" defTabSz="914400" rtl="0" eaLnBrk="1" fontAlgn="auto" latinLnBrk="0" hangingPunct="1">
                        <a:lnSpc>
                          <a:spcPct val="95000"/>
                        </a:lnSpc>
                        <a:spcBef>
                          <a:spcPts val="0"/>
                        </a:spcBef>
                        <a:spcAft>
                          <a:spcPts val="0"/>
                        </a:spcAft>
                        <a:buClrTx/>
                        <a:buSzTx/>
                        <a:buFontTx/>
                        <a:buNone/>
                        <a:tabLst/>
                        <a:defRPr/>
                      </a:pPr>
                      <a:r>
                        <a:rPr lang="en-US" sz="1100" b="1" i="0" u="none" kern="1200" spc="0">
                          <a:solidFill>
                            <a:schemeClr val="tx1"/>
                          </a:solidFill>
                          <a:latin typeface="Trebuchet MS" panose="020B0603020202020204" pitchFamily="34" charset="0"/>
                          <a:ea typeface="Microsoft YaHei" panose="020B0503020204020204" pitchFamily="34" charset="-122"/>
                        </a:rPr>
                        <a:t>CEO at ING Netherlands</a:t>
                      </a:r>
                      <a:endParaRPr lang="en-US" sz="1100" i="0" u="none" kern="1200" spc="0">
                        <a:solidFill>
                          <a:schemeClr val="tx1"/>
                        </a:solidFill>
                        <a:latin typeface="Trebuchet MS" panose="020B0603020202020204" pitchFamily="34" charset="0"/>
                        <a:ea typeface="Microsoft YaHei" panose="020B0503020204020204" pitchFamily="34" charset="-122"/>
                      </a:endParaRPr>
                    </a:p>
                    <a:p>
                      <a:pPr lvl="0" algn="l">
                        <a:lnSpc>
                          <a:spcPct val="95000"/>
                        </a:lnSpc>
                        <a:spcBef>
                          <a:spcPts val="0"/>
                        </a:spcBef>
                        <a:spcAft>
                          <a:spcPts val="0"/>
                        </a:spcAft>
                      </a:pPr>
                      <a:endParaRPr lang="en-US" sz="1100">
                        <a:ea typeface="Microsoft YaHei" panose="020B0503020204020204" pitchFamily="34" charset="-122"/>
                      </a:endParaRPr>
                    </a:p>
                  </a:txBody>
                  <a:tcPr>
                    <a:lnL w="12700" cap="flat" cmpd="sng" algn="ctr">
                      <a:solidFill>
                        <a:schemeClr val="tx2"/>
                      </a:solidFill>
                      <a:prstDash val="solid"/>
                      <a:round/>
                      <a:headEnd type="none" w="med" len="med"/>
                      <a:tailEnd type="none" w="med" len="med"/>
                    </a:lnL>
                    <a:lnT w="9525" cap="flat" cmpd="sng" algn="ctr">
                      <a:solidFill>
                        <a:schemeClr val="bg1">
                          <a:lumMod val="75000"/>
                        </a:schemeClr>
                      </a:solidFill>
                      <a:prstDash val="sysDot"/>
                      <a:round/>
                      <a:headEnd type="none" w="med" len="med"/>
                      <a:tailEnd type="none" w="med" len="med"/>
                    </a:lnT>
                    <a:noFill/>
                  </a:tcPr>
                </a:tc>
                <a:extLst>
                  <a:ext uri="{0D108BD9-81ED-4DB2-BD59-A6C34878D82A}">
                    <a16:rowId xmlns:a16="http://schemas.microsoft.com/office/drawing/2014/main" val="1751725012"/>
                  </a:ext>
                </a:extLst>
              </a:tr>
            </a:tbl>
          </a:graphicData>
        </a:graphic>
      </p:graphicFrame>
      <p:pic>
        <p:nvPicPr>
          <p:cNvPr id="1492994" name="Picture 2">
            <a:extLst>
              <a:ext uri="{FF2B5EF4-FFF2-40B4-BE49-F238E27FC236}">
                <a16:creationId xmlns:a16="http://schemas.microsoft.com/office/drawing/2014/main" id="{2282B44D-632C-442A-9791-9E7658AC1BF6}"/>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789836" y="2891481"/>
            <a:ext cx="481950" cy="362679"/>
          </a:xfrm>
          <a:prstGeom prst="rect">
            <a:avLst/>
          </a:prstGeom>
          <a:noFill/>
          <a:extLst>
            <a:ext uri="{909E8E84-426E-40DD-AFC4-6F175D3DCCD1}">
              <a14:hiddenFill xmlns:a14="http://schemas.microsoft.com/office/drawing/2010/main">
                <a:solidFill>
                  <a:srgbClr val="FFFFFF"/>
                </a:solidFill>
              </a14:hiddenFill>
            </a:ext>
          </a:extLst>
        </p:spPr>
      </p:pic>
      <p:pic>
        <p:nvPicPr>
          <p:cNvPr id="1492996" name="Picture 4">
            <a:extLst>
              <a:ext uri="{FF2B5EF4-FFF2-40B4-BE49-F238E27FC236}">
                <a16:creationId xmlns:a16="http://schemas.microsoft.com/office/drawing/2014/main" id="{DC5F54A1-5702-4143-B67E-D181EEB4C504}"/>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812039" y="4710986"/>
            <a:ext cx="793019" cy="196936"/>
          </a:xfrm>
          <a:prstGeom prst="rect">
            <a:avLst/>
          </a:prstGeom>
          <a:noFill/>
          <a:extLst>
            <a:ext uri="{909E8E84-426E-40DD-AFC4-6F175D3DCCD1}">
              <a14:hiddenFill xmlns:a14="http://schemas.microsoft.com/office/drawing/2010/main">
                <a:solidFill>
                  <a:srgbClr val="FFFFFF"/>
                </a:solidFill>
              </a14:hiddenFill>
            </a:ext>
          </a:extLst>
        </p:spPr>
      </p:pic>
      <p:grpSp>
        <p:nvGrpSpPr>
          <p:cNvPr id="10" name="bcgBugs_ThumbsDown">
            <a:extLst>
              <a:ext uri="{FF2B5EF4-FFF2-40B4-BE49-F238E27FC236}">
                <a16:creationId xmlns:a16="http://schemas.microsoft.com/office/drawing/2014/main" id="{AC5D295B-0EFC-4C6A-B0C4-662C009DBC69}"/>
              </a:ext>
            </a:extLst>
          </p:cNvPr>
          <p:cNvGrpSpPr>
            <a:grpSpLocks noChangeAspect="1"/>
          </p:cNvGrpSpPr>
          <p:nvPr/>
        </p:nvGrpSpPr>
        <p:grpSpPr bwMode="auto">
          <a:xfrm>
            <a:off x="1963270" y="1180464"/>
            <a:ext cx="311968" cy="312274"/>
            <a:chOff x="2818" y="1137"/>
            <a:chExt cx="2044" cy="2046"/>
          </a:xfrm>
        </p:grpSpPr>
        <p:sp>
          <p:nvSpPr>
            <p:cNvPr id="11" name="AutoShape 7">
              <a:extLst>
                <a:ext uri="{FF2B5EF4-FFF2-40B4-BE49-F238E27FC236}">
                  <a16:creationId xmlns:a16="http://schemas.microsoft.com/office/drawing/2014/main" id="{3F00756D-A675-46AB-AE81-557C6EB648E6}"/>
                </a:ext>
              </a:extLst>
            </p:cNvPr>
            <p:cNvSpPr>
              <a:spLocks noChangeAspect="1" noChangeArrowheads="1" noTextEdit="1"/>
            </p:cNvSpPr>
            <p:nvPr/>
          </p:nvSpPr>
          <p:spPr bwMode="auto">
            <a:xfrm>
              <a:off x="2818" y="1137"/>
              <a:ext cx="2044" cy="2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9">
              <a:extLst>
                <a:ext uri="{FF2B5EF4-FFF2-40B4-BE49-F238E27FC236}">
                  <a16:creationId xmlns:a16="http://schemas.microsoft.com/office/drawing/2014/main" id="{B37E613C-3A3B-4CC4-A7E5-0C07454ECECF}"/>
                </a:ext>
              </a:extLst>
            </p:cNvPr>
            <p:cNvSpPr>
              <a:spLocks noEditPoints="1"/>
            </p:cNvSpPr>
            <p:nvPr/>
          </p:nvSpPr>
          <p:spPr bwMode="auto">
            <a:xfrm>
              <a:off x="2943" y="1289"/>
              <a:ext cx="1798" cy="1785"/>
            </a:xfrm>
            <a:custGeom>
              <a:avLst/>
              <a:gdLst>
                <a:gd name="T0" fmla="*/ 587 w 879"/>
                <a:gd name="T1" fmla="*/ 578 h 872"/>
                <a:gd name="T2" fmla="*/ 499 w 879"/>
                <a:gd name="T3" fmla="*/ 627 h 872"/>
                <a:gd name="T4" fmla="*/ 437 w 879"/>
                <a:gd name="T5" fmla="*/ 753 h 872"/>
                <a:gd name="T6" fmla="*/ 437 w 879"/>
                <a:gd name="T7" fmla="*/ 814 h 872"/>
                <a:gd name="T8" fmla="*/ 386 w 879"/>
                <a:gd name="T9" fmla="*/ 864 h 872"/>
                <a:gd name="T10" fmla="*/ 282 w 879"/>
                <a:gd name="T11" fmla="*/ 733 h 872"/>
                <a:gd name="T12" fmla="*/ 326 w 879"/>
                <a:gd name="T13" fmla="*/ 559 h 872"/>
                <a:gd name="T14" fmla="*/ 70 w 879"/>
                <a:gd name="T15" fmla="*/ 559 h 872"/>
                <a:gd name="T16" fmla="*/ 0 w 879"/>
                <a:gd name="T17" fmla="*/ 489 h 872"/>
                <a:gd name="T18" fmla="*/ 70 w 879"/>
                <a:gd name="T19" fmla="*/ 419 h 872"/>
                <a:gd name="T20" fmla="*/ 93 w 879"/>
                <a:gd name="T21" fmla="*/ 419 h 872"/>
                <a:gd name="T22" fmla="*/ 26 w 879"/>
                <a:gd name="T23" fmla="*/ 349 h 872"/>
                <a:gd name="T24" fmla="*/ 26 w 879"/>
                <a:gd name="T25" fmla="*/ 349 h 872"/>
                <a:gd name="T26" fmla="*/ 96 w 879"/>
                <a:gd name="T27" fmla="*/ 280 h 872"/>
                <a:gd name="T28" fmla="*/ 120 w 879"/>
                <a:gd name="T29" fmla="*/ 280 h 872"/>
                <a:gd name="T30" fmla="*/ 50 w 879"/>
                <a:gd name="T31" fmla="*/ 210 h 872"/>
                <a:gd name="T32" fmla="*/ 50 w 879"/>
                <a:gd name="T33" fmla="*/ 210 h 872"/>
                <a:gd name="T34" fmla="*/ 120 w 879"/>
                <a:gd name="T35" fmla="*/ 140 h 872"/>
                <a:gd name="T36" fmla="*/ 151 w 879"/>
                <a:gd name="T37" fmla="*/ 140 h 872"/>
                <a:gd name="T38" fmla="*/ 81 w 879"/>
                <a:gd name="T39" fmla="*/ 70 h 872"/>
                <a:gd name="T40" fmla="*/ 81 w 879"/>
                <a:gd name="T41" fmla="*/ 70 h 872"/>
                <a:gd name="T42" fmla="*/ 151 w 879"/>
                <a:gd name="T43" fmla="*/ 0 h 872"/>
                <a:gd name="T44" fmla="*/ 283 w 879"/>
                <a:gd name="T45" fmla="*/ 0 h 872"/>
                <a:gd name="T46" fmla="*/ 412 w 879"/>
                <a:gd name="T47" fmla="*/ 0 h 872"/>
                <a:gd name="T48" fmla="*/ 574 w 879"/>
                <a:gd name="T49" fmla="*/ 50 h 872"/>
                <a:gd name="T50" fmla="*/ 574 w 879"/>
                <a:gd name="T51" fmla="*/ 55 h 872"/>
                <a:gd name="T52" fmla="*/ 574 w 879"/>
                <a:gd name="T53" fmla="*/ 538 h 872"/>
                <a:gd name="T54" fmla="*/ 587 w 879"/>
                <a:gd name="T55" fmla="*/ 578 h 872"/>
                <a:gd name="T56" fmla="*/ 879 w 879"/>
                <a:gd name="T57" fmla="*/ 55 h 872"/>
                <a:gd name="T58" fmla="*/ 879 w 879"/>
                <a:gd name="T59" fmla="*/ 538 h 872"/>
                <a:gd name="T60" fmla="*/ 857 w 879"/>
                <a:gd name="T61" fmla="*/ 560 h 872"/>
                <a:gd name="T62" fmla="*/ 641 w 879"/>
                <a:gd name="T63" fmla="*/ 560 h 872"/>
                <a:gd name="T64" fmla="*/ 620 w 879"/>
                <a:gd name="T65" fmla="*/ 538 h 872"/>
                <a:gd name="T66" fmla="*/ 620 w 879"/>
                <a:gd name="T67" fmla="*/ 55 h 872"/>
                <a:gd name="T68" fmla="*/ 641 w 879"/>
                <a:gd name="T69" fmla="*/ 33 h 872"/>
                <a:gd name="T70" fmla="*/ 857 w 879"/>
                <a:gd name="T71" fmla="*/ 33 h 872"/>
                <a:gd name="T72" fmla="*/ 879 w 879"/>
                <a:gd name="T73" fmla="*/ 55 h 872"/>
                <a:gd name="T74" fmla="*/ 835 w 879"/>
                <a:gd name="T75" fmla="*/ 117 h 872"/>
                <a:gd name="T76" fmla="*/ 795 w 879"/>
                <a:gd name="T77" fmla="*/ 77 h 872"/>
                <a:gd name="T78" fmla="*/ 756 w 879"/>
                <a:gd name="T79" fmla="*/ 117 h 872"/>
                <a:gd name="T80" fmla="*/ 795 w 879"/>
                <a:gd name="T81" fmla="*/ 156 h 872"/>
                <a:gd name="T82" fmla="*/ 835 w 879"/>
                <a:gd name="T83" fmla="*/ 117 h 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9" h="872">
                  <a:moveTo>
                    <a:pt x="587" y="578"/>
                  </a:moveTo>
                  <a:cubicBezTo>
                    <a:pt x="556" y="596"/>
                    <a:pt x="524" y="614"/>
                    <a:pt x="499" y="627"/>
                  </a:cubicBezTo>
                  <a:cubicBezTo>
                    <a:pt x="434" y="664"/>
                    <a:pt x="437" y="753"/>
                    <a:pt x="437" y="753"/>
                  </a:cubicBezTo>
                  <a:cubicBezTo>
                    <a:pt x="437" y="814"/>
                    <a:pt x="437" y="814"/>
                    <a:pt x="437" y="814"/>
                  </a:cubicBezTo>
                  <a:cubicBezTo>
                    <a:pt x="437" y="872"/>
                    <a:pt x="386" y="864"/>
                    <a:pt x="386" y="864"/>
                  </a:cubicBezTo>
                  <a:cubicBezTo>
                    <a:pt x="296" y="861"/>
                    <a:pt x="282" y="733"/>
                    <a:pt x="282" y="733"/>
                  </a:cubicBezTo>
                  <a:cubicBezTo>
                    <a:pt x="282" y="638"/>
                    <a:pt x="326" y="559"/>
                    <a:pt x="326" y="559"/>
                  </a:cubicBezTo>
                  <a:cubicBezTo>
                    <a:pt x="70" y="559"/>
                    <a:pt x="70" y="559"/>
                    <a:pt x="70" y="559"/>
                  </a:cubicBezTo>
                  <a:cubicBezTo>
                    <a:pt x="31" y="559"/>
                    <a:pt x="0" y="528"/>
                    <a:pt x="0" y="489"/>
                  </a:cubicBezTo>
                  <a:cubicBezTo>
                    <a:pt x="0" y="451"/>
                    <a:pt x="31" y="419"/>
                    <a:pt x="70" y="419"/>
                  </a:cubicBezTo>
                  <a:cubicBezTo>
                    <a:pt x="93" y="419"/>
                    <a:pt x="93" y="419"/>
                    <a:pt x="93" y="419"/>
                  </a:cubicBezTo>
                  <a:cubicBezTo>
                    <a:pt x="56" y="417"/>
                    <a:pt x="26" y="387"/>
                    <a:pt x="26" y="349"/>
                  </a:cubicBezTo>
                  <a:cubicBezTo>
                    <a:pt x="26" y="349"/>
                    <a:pt x="26" y="349"/>
                    <a:pt x="26" y="349"/>
                  </a:cubicBezTo>
                  <a:cubicBezTo>
                    <a:pt x="26" y="311"/>
                    <a:pt x="58" y="280"/>
                    <a:pt x="96" y="280"/>
                  </a:cubicBezTo>
                  <a:cubicBezTo>
                    <a:pt x="120" y="280"/>
                    <a:pt x="120" y="280"/>
                    <a:pt x="120" y="280"/>
                  </a:cubicBezTo>
                  <a:cubicBezTo>
                    <a:pt x="82" y="280"/>
                    <a:pt x="50" y="248"/>
                    <a:pt x="50" y="210"/>
                  </a:cubicBezTo>
                  <a:cubicBezTo>
                    <a:pt x="50" y="210"/>
                    <a:pt x="50" y="210"/>
                    <a:pt x="50" y="210"/>
                  </a:cubicBezTo>
                  <a:cubicBezTo>
                    <a:pt x="50" y="171"/>
                    <a:pt x="82" y="140"/>
                    <a:pt x="120" y="140"/>
                  </a:cubicBezTo>
                  <a:cubicBezTo>
                    <a:pt x="151" y="140"/>
                    <a:pt x="151" y="140"/>
                    <a:pt x="151" y="140"/>
                  </a:cubicBezTo>
                  <a:cubicBezTo>
                    <a:pt x="113" y="140"/>
                    <a:pt x="81" y="108"/>
                    <a:pt x="81" y="70"/>
                  </a:cubicBezTo>
                  <a:cubicBezTo>
                    <a:pt x="81" y="70"/>
                    <a:pt x="81" y="70"/>
                    <a:pt x="81" y="70"/>
                  </a:cubicBezTo>
                  <a:cubicBezTo>
                    <a:pt x="81" y="31"/>
                    <a:pt x="113" y="0"/>
                    <a:pt x="151" y="0"/>
                  </a:cubicBezTo>
                  <a:cubicBezTo>
                    <a:pt x="283" y="0"/>
                    <a:pt x="283" y="0"/>
                    <a:pt x="283" y="0"/>
                  </a:cubicBezTo>
                  <a:cubicBezTo>
                    <a:pt x="283" y="0"/>
                    <a:pt x="376" y="0"/>
                    <a:pt x="412" y="0"/>
                  </a:cubicBezTo>
                  <a:cubicBezTo>
                    <a:pt x="443" y="0"/>
                    <a:pt x="503" y="3"/>
                    <a:pt x="574" y="50"/>
                  </a:cubicBezTo>
                  <a:cubicBezTo>
                    <a:pt x="574" y="52"/>
                    <a:pt x="574" y="53"/>
                    <a:pt x="574" y="55"/>
                  </a:cubicBezTo>
                  <a:cubicBezTo>
                    <a:pt x="574" y="538"/>
                    <a:pt x="574" y="538"/>
                    <a:pt x="574" y="538"/>
                  </a:cubicBezTo>
                  <a:cubicBezTo>
                    <a:pt x="574" y="553"/>
                    <a:pt x="579" y="567"/>
                    <a:pt x="587" y="578"/>
                  </a:cubicBezTo>
                  <a:close/>
                  <a:moveTo>
                    <a:pt x="879" y="55"/>
                  </a:moveTo>
                  <a:cubicBezTo>
                    <a:pt x="879" y="538"/>
                    <a:pt x="879" y="538"/>
                    <a:pt x="879" y="538"/>
                  </a:cubicBezTo>
                  <a:cubicBezTo>
                    <a:pt x="879" y="550"/>
                    <a:pt x="869" y="560"/>
                    <a:pt x="857" y="560"/>
                  </a:cubicBezTo>
                  <a:cubicBezTo>
                    <a:pt x="641" y="560"/>
                    <a:pt x="641" y="560"/>
                    <a:pt x="641" y="560"/>
                  </a:cubicBezTo>
                  <a:cubicBezTo>
                    <a:pt x="629" y="560"/>
                    <a:pt x="620" y="550"/>
                    <a:pt x="620" y="538"/>
                  </a:cubicBezTo>
                  <a:cubicBezTo>
                    <a:pt x="620" y="55"/>
                    <a:pt x="620" y="55"/>
                    <a:pt x="620" y="55"/>
                  </a:cubicBezTo>
                  <a:cubicBezTo>
                    <a:pt x="620" y="43"/>
                    <a:pt x="629" y="33"/>
                    <a:pt x="641" y="33"/>
                  </a:cubicBezTo>
                  <a:cubicBezTo>
                    <a:pt x="857" y="33"/>
                    <a:pt x="857" y="33"/>
                    <a:pt x="857" y="33"/>
                  </a:cubicBezTo>
                  <a:cubicBezTo>
                    <a:pt x="869" y="33"/>
                    <a:pt x="879" y="43"/>
                    <a:pt x="879" y="55"/>
                  </a:cubicBezTo>
                  <a:close/>
                  <a:moveTo>
                    <a:pt x="835" y="117"/>
                  </a:moveTo>
                  <a:cubicBezTo>
                    <a:pt x="835" y="95"/>
                    <a:pt x="817" y="77"/>
                    <a:pt x="795" y="77"/>
                  </a:cubicBezTo>
                  <a:cubicBezTo>
                    <a:pt x="774" y="77"/>
                    <a:pt x="756" y="95"/>
                    <a:pt x="756" y="117"/>
                  </a:cubicBezTo>
                  <a:cubicBezTo>
                    <a:pt x="756" y="139"/>
                    <a:pt x="774" y="156"/>
                    <a:pt x="795" y="156"/>
                  </a:cubicBezTo>
                  <a:cubicBezTo>
                    <a:pt x="817" y="156"/>
                    <a:pt x="835" y="139"/>
                    <a:pt x="835" y="117"/>
                  </a:cubicBezTo>
                  <a:close/>
                </a:path>
              </a:pathLst>
            </a:custGeom>
            <a:solidFill>
              <a:srgbClr val="E71C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grpSp>
      <p:grpSp>
        <p:nvGrpSpPr>
          <p:cNvPr id="13" name="bcgBugs_ThumbsUp">
            <a:extLst>
              <a:ext uri="{FF2B5EF4-FFF2-40B4-BE49-F238E27FC236}">
                <a16:creationId xmlns:a16="http://schemas.microsoft.com/office/drawing/2014/main" id="{4553F136-9157-4A13-8782-85FDEA2728D0}"/>
              </a:ext>
            </a:extLst>
          </p:cNvPr>
          <p:cNvGrpSpPr>
            <a:grpSpLocks noChangeAspect="1"/>
          </p:cNvGrpSpPr>
          <p:nvPr/>
        </p:nvGrpSpPr>
        <p:grpSpPr bwMode="auto">
          <a:xfrm>
            <a:off x="4604791" y="1180464"/>
            <a:ext cx="312885" cy="312274"/>
            <a:chOff x="2815" y="1137"/>
            <a:chExt cx="2050" cy="2046"/>
          </a:xfrm>
        </p:grpSpPr>
        <p:sp>
          <p:nvSpPr>
            <p:cNvPr id="14" name="AutoShape 3">
              <a:extLst>
                <a:ext uri="{FF2B5EF4-FFF2-40B4-BE49-F238E27FC236}">
                  <a16:creationId xmlns:a16="http://schemas.microsoft.com/office/drawing/2014/main" id="{51294E73-3D53-4618-B84C-9FA826F103FA}"/>
                </a:ext>
              </a:extLst>
            </p:cNvPr>
            <p:cNvSpPr>
              <a:spLocks noChangeAspect="1" noChangeArrowheads="1" noTextEdit="1"/>
            </p:cNvSpPr>
            <p:nvPr/>
          </p:nvSpPr>
          <p:spPr bwMode="auto">
            <a:xfrm>
              <a:off x="2815" y="1137"/>
              <a:ext cx="2050" cy="2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5">
              <a:extLst>
                <a:ext uri="{FF2B5EF4-FFF2-40B4-BE49-F238E27FC236}">
                  <a16:creationId xmlns:a16="http://schemas.microsoft.com/office/drawing/2014/main" id="{54662CA5-8D40-4216-BB85-62B9D9D0B086}"/>
                </a:ext>
              </a:extLst>
            </p:cNvPr>
            <p:cNvSpPr>
              <a:spLocks noEditPoints="1"/>
            </p:cNvSpPr>
            <p:nvPr/>
          </p:nvSpPr>
          <p:spPr bwMode="auto">
            <a:xfrm>
              <a:off x="2938" y="1260"/>
              <a:ext cx="1798" cy="1786"/>
            </a:xfrm>
            <a:custGeom>
              <a:avLst/>
              <a:gdLst>
                <a:gd name="T0" fmla="*/ 809 w 879"/>
                <a:gd name="T1" fmla="*/ 453 h 872"/>
                <a:gd name="T2" fmla="*/ 786 w 879"/>
                <a:gd name="T3" fmla="*/ 453 h 872"/>
                <a:gd name="T4" fmla="*/ 853 w 879"/>
                <a:gd name="T5" fmla="*/ 523 h 872"/>
                <a:gd name="T6" fmla="*/ 783 w 879"/>
                <a:gd name="T7" fmla="*/ 592 h 872"/>
                <a:gd name="T8" fmla="*/ 759 w 879"/>
                <a:gd name="T9" fmla="*/ 592 h 872"/>
                <a:gd name="T10" fmla="*/ 828 w 879"/>
                <a:gd name="T11" fmla="*/ 662 h 872"/>
                <a:gd name="T12" fmla="*/ 759 w 879"/>
                <a:gd name="T13" fmla="*/ 732 h 872"/>
                <a:gd name="T14" fmla="*/ 728 w 879"/>
                <a:gd name="T15" fmla="*/ 732 h 872"/>
                <a:gd name="T16" fmla="*/ 797 w 879"/>
                <a:gd name="T17" fmla="*/ 802 h 872"/>
                <a:gd name="T18" fmla="*/ 797 w 879"/>
                <a:gd name="T19" fmla="*/ 802 h 872"/>
                <a:gd name="T20" fmla="*/ 728 w 879"/>
                <a:gd name="T21" fmla="*/ 872 h 872"/>
                <a:gd name="T22" fmla="*/ 596 w 879"/>
                <a:gd name="T23" fmla="*/ 872 h 872"/>
                <a:gd name="T24" fmla="*/ 466 w 879"/>
                <a:gd name="T25" fmla="*/ 872 h 872"/>
                <a:gd name="T26" fmla="*/ 304 w 879"/>
                <a:gd name="T27" fmla="*/ 822 h 872"/>
                <a:gd name="T28" fmla="*/ 305 w 879"/>
                <a:gd name="T29" fmla="*/ 816 h 872"/>
                <a:gd name="T30" fmla="*/ 305 w 879"/>
                <a:gd name="T31" fmla="*/ 333 h 872"/>
                <a:gd name="T32" fmla="*/ 292 w 879"/>
                <a:gd name="T33" fmla="*/ 294 h 872"/>
                <a:gd name="T34" fmla="*/ 379 w 879"/>
                <a:gd name="T35" fmla="*/ 245 h 872"/>
                <a:gd name="T36" fmla="*/ 442 w 879"/>
                <a:gd name="T37" fmla="*/ 119 h 872"/>
                <a:gd name="T38" fmla="*/ 442 w 879"/>
                <a:gd name="T39" fmla="*/ 58 h 872"/>
                <a:gd name="T40" fmla="*/ 492 w 879"/>
                <a:gd name="T41" fmla="*/ 8 h 872"/>
                <a:gd name="T42" fmla="*/ 596 w 879"/>
                <a:gd name="T43" fmla="*/ 139 h 872"/>
                <a:gd name="T44" fmla="*/ 553 w 879"/>
                <a:gd name="T45" fmla="*/ 313 h 872"/>
                <a:gd name="T46" fmla="*/ 809 w 879"/>
                <a:gd name="T47" fmla="*/ 313 h 872"/>
                <a:gd name="T48" fmla="*/ 879 w 879"/>
                <a:gd name="T49" fmla="*/ 383 h 872"/>
                <a:gd name="T50" fmla="*/ 809 w 879"/>
                <a:gd name="T51" fmla="*/ 453 h 872"/>
                <a:gd name="T52" fmla="*/ 259 w 879"/>
                <a:gd name="T53" fmla="*/ 333 h 872"/>
                <a:gd name="T54" fmla="*/ 259 w 879"/>
                <a:gd name="T55" fmla="*/ 816 h 872"/>
                <a:gd name="T56" fmla="*/ 238 w 879"/>
                <a:gd name="T57" fmla="*/ 838 h 872"/>
                <a:gd name="T58" fmla="*/ 22 w 879"/>
                <a:gd name="T59" fmla="*/ 838 h 872"/>
                <a:gd name="T60" fmla="*/ 0 w 879"/>
                <a:gd name="T61" fmla="*/ 816 h 872"/>
                <a:gd name="T62" fmla="*/ 0 w 879"/>
                <a:gd name="T63" fmla="*/ 333 h 872"/>
                <a:gd name="T64" fmla="*/ 22 w 879"/>
                <a:gd name="T65" fmla="*/ 311 h 872"/>
                <a:gd name="T66" fmla="*/ 238 w 879"/>
                <a:gd name="T67" fmla="*/ 311 h 872"/>
                <a:gd name="T68" fmla="*/ 259 w 879"/>
                <a:gd name="T69" fmla="*/ 333 h 872"/>
                <a:gd name="T70" fmla="*/ 123 w 879"/>
                <a:gd name="T71" fmla="*/ 754 h 872"/>
                <a:gd name="T72" fmla="*/ 84 w 879"/>
                <a:gd name="T73" fmla="*/ 715 h 872"/>
                <a:gd name="T74" fmla="*/ 44 w 879"/>
                <a:gd name="T75" fmla="*/ 754 h 872"/>
                <a:gd name="T76" fmla="*/ 84 w 879"/>
                <a:gd name="T77" fmla="*/ 794 h 872"/>
                <a:gd name="T78" fmla="*/ 123 w 879"/>
                <a:gd name="T79" fmla="*/ 754 h 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79" h="872">
                  <a:moveTo>
                    <a:pt x="809" y="453"/>
                  </a:moveTo>
                  <a:cubicBezTo>
                    <a:pt x="786" y="453"/>
                    <a:pt x="786" y="453"/>
                    <a:pt x="786" y="453"/>
                  </a:cubicBezTo>
                  <a:cubicBezTo>
                    <a:pt x="823" y="455"/>
                    <a:pt x="853" y="485"/>
                    <a:pt x="853" y="523"/>
                  </a:cubicBezTo>
                  <a:cubicBezTo>
                    <a:pt x="853" y="561"/>
                    <a:pt x="821" y="592"/>
                    <a:pt x="783" y="592"/>
                  </a:cubicBezTo>
                  <a:cubicBezTo>
                    <a:pt x="759" y="592"/>
                    <a:pt x="759" y="592"/>
                    <a:pt x="759" y="592"/>
                  </a:cubicBezTo>
                  <a:cubicBezTo>
                    <a:pt x="797" y="592"/>
                    <a:pt x="828" y="624"/>
                    <a:pt x="828" y="662"/>
                  </a:cubicBezTo>
                  <a:cubicBezTo>
                    <a:pt x="828" y="701"/>
                    <a:pt x="797" y="732"/>
                    <a:pt x="759" y="732"/>
                  </a:cubicBezTo>
                  <a:cubicBezTo>
                    <a:pt x="728" y="732"/>
                    <a:pt x="728" y="732"/>
                    <a:pt x="728" y="732"/>
                  </a:cubicBezTo>
                  <a:cubicBezTo>
                    <a:pt x="766" y="732"/>
                    <a:pt x="797" y="764"/>
                    <a:pt x="797" y="802"/>
                  </a:cubicBezTo>
                  <a:cubicBezTo>
                    <a:pt x="797" y="802"/>
                    <a:pt x="797" y="802"/>
                    <a:pt x="797" y="802"/>
                  </a:cubicBezTo>
                  <a:cubicBezTo>
                    <a:pt x="797" y="841"/>
                    <a:pt x="766" y="872"/>
                    <a:pt x="728" y="872"/>
                  </a:cubicBezTo>
                  <a:cubicBezTo>
                    <a:pt x="596" y="872"/>
                    <a:pt x="596" y="872"/>
                    <a:pt x="596" y="872"/>
                  </a:cubicBezTo>
                  <a:cubicBezTo>
                    <a:pt x="596" y="872"/>
                    <a:pt x="503" y="872"/>
                    <a:pt x="466" y="872"/>
                  </a:cubicBezTo>
                  <a:cubicBezTo>
                    <a:pt x="436" y="872"/>
                    <a:pt x="375" y="869"/>
                    <a:pt x="304" y="822"/>
                  </a:cubicBezTo>
                  <a:cubicBezTo>
                    <a:pt x="305" y="820"/>
                    <a:pt x="305" y="818"/>
                    <a:pt x="305" y="816"/>
                  </a:cubicBezTo>
                  <a:cubicBezTo>
                    <a:pt x="305" y="333"/>
                    <a:pt x="305" y="333"/>
                    <a:pt x="305" y="333"/>
                  </a:cubicBezTo>
                  <a:cubicBezTo>
                    <a:pt x="305" y="318"/>
                    <a:pt x="300" y="305"/>
                    <a:pt x="292" y="294"/>
                  </a:cubicBezTo>
                  <a:cubicBezTo>
                    <a:pt x="323" y="276"/>
                    <a:pt x="355" y="258"/>
                    <a:pt x="379" y="245"/>
                  </a:cubicBezTo>
                  <a:cubicBezTo>
                    <a:pt x="445" y="208"/>
                    <a:pt x="442" y="119"/>
                    <a:pt x="442" y="119"/>
                  </a:cubicBezTo>
                  <a:cubicBezTo>
                    <a:pt x="442" y="58"/>
                    <a:pt x="442" y="58"/>
                    <a:pt x="442" y="58"/>
                  </a:cubicBezTo>
                  <a:cubicBezTo>
                    <a:pt x="442" y="0"/>
                    <a:pt x="492" y="8"/>
                    <a:pt x="492" y="8"/>
                  </a:cubicBezTo>
                  <a:cubicBezTo>
                    <a:pt x="583" y="11"/>
                    <a:pt x="596" y="139"/>
                    <a:pt x="596" y="139"/>
                  </a:cubicBezTo>
                  <a:cubicBezTo>
                    <a:pt x="596" y="234"/>
                    <a:pt x="553" y="313"/>
                    <a:pt x="553" y="313"/>
                  </a:cubicBezTo>
                  <a:cubicBezTo>
                    <a:pt x="809" y="313"/>
                    <a:pt x="809" y="313"/>
                    <a:pt x="809" y="313"/>
                  </a:cubicBezTo>
                  <a:cubicBezTo>
                    <a:pt x="848" y="313"/>
                    <a:pt x="879" y="344"/>
                    <a:pt x="879" y="383"/>
                  </a:cubicBezTo>
                  <a:cubicBezTo>
                    <a:pt x="879" y="421"/>
                    <a:pt x="848" y="453"/>
                    <a:pt x="809" y="453"/>
                  </a:cubicBezTo>
                  <a:close/>
                  <a:moveTo>
                    <a:pt x="259" y="333"/>
                  </a:moveTo>
                  <a:cubicBezTo>
                    <a:pt x="259" y="816"/>
                    <a:pt x="259" y="816"/>
                    <a:pt x="259" y="816"/>
                  </a:cubicBezTo>
                  <a:cubicBezTo>
                    <a:pt x="259" y="828"/>
                    <a:pt x="249" y="838"/>
                    <a:pt x="238" y="838"/>
                  </a:cubicBezTo>
                  <a:cubicBezTo>
                    <a:pt x="22" y="838"/>
                    <a:pt x="22" y="838"/>
                    <a:pt x="22" y="838"/>
                  </a:cubicBezTo>
                  <a:cubicBezTo>
                    <a:pt x="10" y="838"/>
                    <a:pt x="0" y="828"/>
                    <a:pt x="0" y="816"/>
                  </a:cubicBezTo>
                  <a:cubicBezTo>
                    <a:pt x="0" y="333"/>
                    <a:pt x="0" y="333"/>
                    <a:pt x="0" y="333"/>
                  </a:cubicBezTo>
                  <a:cubicBezTo>
                    <a:pt x="0" y="321"/>
                    <a:pt x="10" y="311"/>
                    <a:pt x="22" y="311"/>
                  </a:cubicBezTo>
                  <a:cubicBezTo>
                    <a:pt x="238" y="311"/>
                    <a:pt x="238" y="311"/>
                    <a:pt x="238" y="311"/>
                  </a:cubicBezTo>
                  <a:cubicBezTo>
                    <a:pt x="249" y="311"/>
                    <a:pt x="259" y="321"/>
                    <a:pt x="259" y="333"/>
                  </a:cubicBezTo>
                  <a:close/>
                  <a:moveTo>
                    <a:pt x="123" y="754"/>
                  </a:moveTo>
                  <a:cubicBezTo>
                    <a:pt x="123" y="732"/>
                    <a:pt x="105" y="715"/>
                    <a:pt x="84" y="715"/>
                  </a:cubicBezTo>
                  <a:cubicBezTo>
                    <a:pt x="62" y="715"/>
                    <a:pt x="44" y="732"/>
                    <a:pt x="44" y="754"/>
                  </a:cubicBezTo>
                  <a:cubicBezTo>
                    <a:pt x="44" y="776"/>
                    <a:pt x="62" y="794"/>
                    <a:pt x="84" y="794"/>
                  </a:cubicBezTo>
                  <a:cubicBezTo>
                    <a:pt x="105" y="794"/>
                    <a:pt x="123" y="776"/>
                    <a:pt x="123" y="754"/>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grpSp>
      <p:grpSp>
        <p:nvGrpSpPr>
          <p:cNvPr id="16" name="Group 15">
            <a:extLst>
              <a:ext uri="{FF2B5EF4-FFF2-40B4-BE49-F238E27FC236}">
                <a16:creationId xmlns:a16="http://schemas.microsoft.com/office/drawing/2014/main" id="{7B4F5647-DC3F-452D-9E0C-2C706AC32638}"/>
              </a:ext>
            </a:extLst>
          </p:cNvPr>
          <p:cNvGrpSpPr>
            <a:grpSpLocks noChangeAspect="1"/>
          </p:cNvGrpSpPr>
          <p:nvPr/>
        </p:nvGrpSpPr>
        <p:grpSpPr>
          <a:xfrm>
            <a:off x="7812039" y="1183146"/>
            <a:ext cx="306910" cy="306910"/>
            <a:chOff x="628650" y="3463925"/>
            <a:chExt cx="269875" cy="269875"/>
          </a:xfrm>
        </p:grpSpPr>
        <p:sp>
          <p:nvSpPr>
            <p:cNvPr id="17" name="Oval 16">
              <a:extLst>
                <a:ext uri="{FF2B5EF4-FFF2-40B4-BE49-F238E27FC236}">
                  <a16:creationId xmlns:a16="http://schemas.microsoft.com/office/drawing/2014/main" id="{36915DBA-94C8-4EDB-9680-D77B2FE960B3}"/>
                </a:ext>
              </a:extLst>
            </p:cNvPr>
            <p:cNvSpPr>
              <a:spLocks noChangeArrowheads="1"/>
            </p:cNvSpPr>
            <p:nvPr/>
          </p:nvSpPr>
          <p:spPr bwMode="auto">
            <a:xfrm>
              <a:off x="628650" y="3463925"/>
              <a:ext cx="269875" cy="269875"/>
            </a:xfrm>
            <a:prstGeom prst="ellipse">
              <a:avLst/>
            </a:prstGeom>
            <a:solidFill>
              <a:schemeClr val="tx2"/>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a typeface="Microsoft YaHei" panose="020B0503020204020204" pitchFamily="34" charset="-122"/>
              </a:endParaRPr>
            </a:p>
          </p:txBody>
        </p:sp>
        <p:sp>
          <p:nvSpPr>
            <p:cNvPr id="18" name="Freeform 47">
              <a:extLst>
                <a:ext uri="{FF2B5EF4-FFF2-40B4-BE49-F238E27FC236}">
                  <a16:creationId xmlns:a16="http://schemas.microsoft.com/office/drawing/2014/main" id="{4A75DD32-29E6-4A23-91E5-CBB730F7CC92}"/>
                </a:ext>
              </a:extLst>
            </p:cNvPr>
            <p:cNvSpPr>
              <a:spLocks noEditPoints="1"/>
            </p:cNvSpPr>
            <p:nvPr/>
          </p:nvSpPr>
          <p:spPr bwMode="auto">
            <a:xfrm>
              <a:off x="700087" y="3549650"/>
              <a:ext cx="127000" cy="98425"/>
            </a:xfrm>
            <a:custGeom>
              <a:avLst/>
              <a:gdLst>
                <a:gd name="T0" fmla="*/ 154 w 596"/>
                <a:gd name="T1" fmla="*/ 204 h 464"/>
                <a:gd name="T2" fmla="*/ 191 w 596"/>
                <a:gd name="T3" fmla="*/ 276 h 464"/>
                <a:gd name="T4" fmla="*/ 229 w 596"/>
                <a:gd name="T5" fmla="*/ 352 h 464"/>
                <a:gd name="T6" fmla="*/ 118 w 596"/>
                <a:gd name="T7" fmla="*/ 464 h 464"/>
                <a:gd name="T8" fmla="*/ 0 w 596"/>
                <a:gd name="T9" fmla="*/ 329 h 464"/>
                <a:gd name="T10" fmla="*/ 202 w 596"/>
                <a:gd name="T11" fmla="*/ 0 h 464"/>
                <a:gd name="T12" fmla="*/ 253 w 596"/>
                <a:gd name="T13" fmla="*/ 68 h 464"/>
                <a:gd name="T14" fmla="*/ 196 w 596"/>
                <a:gd name="T15" fmla="*/ 116 h 464"/>
                <a:gd name="T16" fmla="*/ 154 w 596"/>
                <a:gd name="T17" fmla="*/ 204 h 464"/>
                <a:gd name="T18" fmla="*/ 538 w 596"/>
                <a:gd name="T19" fmla="*/ 116 h 464"/>
                <a:gd name="T20" fmla="*/ 596 w 596"/>
                <a:gd name="T21" fmla="*/ 68 h 464"/>
                <a:gd name="T22" fmla="*/ 545 w 596"/>
                <a:gd name="T23" fmla="*/ 0 h 464"/>
                <a:gd name="T24" fmla="*/ 343 w 596"/>
                <a:gd name="T25" fmla="*/ 329 h 464"/>
                <a:gd name="T26" fmla="*/ 461 w 596"/>
                <a:gd name="T27" fmla="*/ 464 h 464"/>
                <a:gd name="T28" fmla="*/ 571 w 596"/>
                <a:gd name="T29" fmla="*/ 352 h 464"/>
                <a:gd name="T30" fmla="*/ 534 w 596"/>
                <a:gd name="T31" fmla="*/ 276 h 464"/>
                <a:gd name="T32" fmla="*/ 497 w 596"/>
                <a:gd name="T33" fmla="*/ 204 h 464"/>
                <a:gd name="T34" fmla="*/ 538 w 596"/>
                <a:gd name="T35" fmla="*/ 116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6" h="464">
                  <a:moveTo>
                    <a:pt x="154" y="204"/>
                  </a:moveTo>
                  <a:cubicBezTo>
                    <a:pt x="154" y="225"/>
                    <a:pt x="166" y="249"/>
                    <a:pt x="191" y="276"/>
                  </a:cubicBezTo>
                  <a:cubicBezTo>
                    <a:pt x="216" y="304"/>
                    <a:pt x="229" y="329"/>
                    <a:pt x="229" y="352"/>
                  </a:cubicBezTo>
                  <a:cubicBezTo>
                    <a:pt x="229" y="426"/>
                    <a:pt x="192" y="464"/>
                    <a:pt x="118" y="464"/>
                  </a:cubicBezTo>
                  <a:cubicBezTo>
                    <a:pt x="40" y="464"/>
                    <a:pt x="0" y="419"/>
                    <a:pt x="0" y="329"/>
                  </a:cubicBezTo>
                  <a:cubicBezTo>
                    <a:pt x="0" y="194"/>
                    <a:pt x="67" y="85"/>
                    <a:pt x="202" y="0"/>
                  </a:cubicBezTo>
                  <a:cubicBezTo>
                    <a:pt x="253" y="68"/>
                    <a:pt x="253" y="68"/>
                    <a:pt x="253" y="68"/>
                  </a:cubicBezTo>
                  <a:cubicBezTo>
                    <a:pt x="196" y="116"/>
                    <a:pt x="196" y="116"/>
                    <a:pt x="196" y="116"/>
                  </a:cubicBezTo>
                  <a:cubicBezTo>
                    <a:pt x="168" y="140"/>
                    <a:pt x="154" y="169"/>
                    <a:pt x="154" y="204"/>
                  </a:cubicBezTo>
                  <a:close/>
                  <a:moveTo>
                    <a:pt x="538" y="116"/>
                  </a:moveTo>
                  <a:cubicBezTo>
                    <a:pt x="596" y="68"/>
                    <a:pt x="596" y="68"/>
                    <a:pt x="596" y="68"/>
                  </a:cubicBezTo>
                  <a:cubicBezTo>
                    <a:pt x="545" y="0"/>
                    <a:pt x="545" y="0"/>
                    <a:pt x="545" y="0"/>
                  </a:cubicBezTo>
                  <a:cubicBezTo>
                    <a:pt x="410" y="85"/>
                    <a:pt x="343" y="194"/>
                    <a:pt x="343" y="329"/>
                  </a:cubicBezTo>
                  <a:cubicBezTo>
                    <a:pt x="343" y="419"/>
                    <a:pt x="382" y="464"/>
                    <a:pt x="461" y="464"/>
                  </a:cubicBezTo>
                  <a:cubicBezTo>
                    <a:pt x="534" y="464"/>
                    <a:pt x="571" y="426"/>
                    <a:pt x="571" y="352"/>
                  </a:cubicBezTo>
                  <a:cubicBezTo>
                    <a:pt x="571" y="329"/>
                    <a:pt x="559" y="304"/>
                    <a:pt x="534" y="276"/>
                  </a:cubicBezTo>
                  <a:cubicBezTo>
                    <a:pt x="509" y="249"/>
                    <a:pt x="497" y="225"/>
                    <a:pt x="497" y="204"/>
                  </a:cubicBezTo>
                  <a:cubicBezTo>
                    <a:pt x="497" y="169"/>
                    <a:pt x="511" y="140"/>
                    <a:pt x="538" y="11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a typeface="Microsoft YaHei" panose="020B0503020204020204" pitchFamily="34" charset="-122"/>
              </a:endParaRPr>
            </a:p>
          </p:txBody>
        </p:sp>
      </p:grpSp>
      <p:pic>
        <p:nvPicPr>
          <p:cNvPr id="19" name="Picture 4">
            <a:extLst>
              <a:ext uri="{FF2B5EF4-FFF2-40B4-BE49-F238E27FC236}">
                <a16:creationId xmlns:a16="http://schemas.microsoft.com/office/drawing/2014/main" id="{ABF1CF71-F0EC-41BB-88D6-CAEE668CE1CA}"/>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812039" y="5950755"/>
            <a:ext cx="793019" cy="19693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2433113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44A1321A-529C-5240-7CCE-A8B653872644}"/>
              </a:ext>
            </a:extLst>
          </p:cNvPr>
          <p:cNvGraphicFramePr>
            <a:graphicFrameLocks noChangeAspect="1"/>
          </p:cNvGraphicFramePr>
          <p:nvPr>
            <p:custDataLst>
              <p:tags r:id="rId1"/>
            </p:custDataLst>
            <p:extLst>
              <p:ext uri="{D42A27DB-BD31-4B8C-83A1-F6EECF244321}">
                <p14:modId xmlns:p14="http://schemas.microsoft.com/office/powerpoint/2010/main" val="407102257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04" imgH="405" progId="TCLayout.ActiveDocument.1">
                  <p:embed/>
                </p:oleObj>
              </mc:Choice>
              <mc:Fallback>
                <p:oleObj name="think-cell Slide" r:id="rId4" imgW="404" imgH="405" progId="TCLayout.ActiveDocument.1">
                  <p:embed/>
                  <p:pic>
                    <p:nvPicPr>
                      <p:cNvPr id="4" name="think-cell data - do not delete" hidden="1">
                        <a:extLst>
                          <a:ext uri="{FF2B5EF4-FFF2-40B4-BE49-F238E27FC236}">
                            <a16:creationId xmlns:a16="http://schemas.microsoft.com/office/drawing/2014/main" id="{44A1321A-529C-5240-7CCE-A8B653872644}"/>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3" name="Title 2">
            <a:extLst>
              <a:ext uri="{FF2B5EF4-FFF2-40B4-BE49-F238E27FC236}">
                <a16:creationId xmlns:a16="http://schemas.microsoft.com/office/drawing/2014/main" id="{F07C9EC9-5EA2-B293-E329-6880400031D6}"/>
              </a:ext>
            </a:extLst>
          </p:cNvPr>
          <p:cNvSpPr>
            <a:spLocks noGrp="1"/>
          </p:cNvSpPr>
          <p:nvPr>
            <p:ph type="title"/>
          </p:nvPr>
        </p:nvSpPr>
        <p:spPr/>
        <p:txBody>
          <a:bodyPr vert="horz"/>
          <a:lstStyle/>
          <a:p>
            <a:r>
              <a:rPr lang="en-US"/>
              <a:t>Reference</a:t>
            </a:r>
          </a:p>
        </p:txBody>
      </p:sp>
    </p:spTree>
    <p:extLst>
      <p:ext uri="{BB962C8B-B14F-4D97-AF65-F5344CB8AC3E}">
        <p14:creationId xmlns:p14="http://schemas.microsoft.com/office/powerpoint/2010/main" val="59493230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34" name="think-cell data - do not delete" hidden="1">
            <a:extLst>
              <a:ext uri="{FF2B5EF4-FFF2-40B4-BE49-F238E27FC236}">
                <a16:creationId xmlns:a16="http://schemas.microsoft.com/office/drawing/2014/main" id="{C1335075-375F-357E-D7E0-03C7C648ADBD}"/>
              </a:ext>
            </a:extLst>
          </p:cNvPr>
          <p:cNvGraphicFramePr>
            <a:graphicFrameLocks noChangeAspect="1"/>
          </p:cNvGraphicFramePr>
          <p:nvPr>
            <p:custDataLst>
              <p:tags r:id="rId1"/>
            </p:custDataLst>
            <p:extLst>
              <p:ext uri="{D42A27DB-BD31-4B8C-83A1-F6EECF244321}">
                <p14:modId xmlns:p14="http://schemas.microsoft.com/office/powerpoint/2010/main" val="318041192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04" imgH="405" progId="TCLayout.ActiveDocument.1">
                  <p:embed/>
                </p:oleObj>
              </mc:Choice>
              <mc:Fallback>
                <p:oleObj name="think-cell Slide" r:id="rId4" imgW="404" imgH="405" progId="TCLayout.ActiveDocument.1">
                  <p:embed/>
                  <p:pic>
                    <p:nvPicPr>
                      <p:cNvPr id="34" name="think-cell data - do not delete" hidden="1">
                        <a:extLst>
                          <a:ext uri="{FF2B5EF4-FFF2-40B4-BE49-F238E27FC236}">
                            <a16:creationId xmlns:a16="http://schemas.microsoft.com/office/drawing/2014/main" id="{C1335075-375F-357E-D7E0-03C7C648ADBD}"/>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163BCFC5-672D-A443-B81C-C46ADC52EAFF}"/>
              </a:ext>
            </a:extLst>
          </p:cNvPr>
          <p:cNvSpPr>
            <a:spLocks noGrp="1"/>
          </p:cNvSpPr>
          <p:nvPr>
            <p:ph type="title"/>
          </p:nvPr>
        </p:nvSpPr>
        <p:spPr>
          <a:xfrm>
            <a:off x="630000" y="622800"/>
            <a:ext cx="10933350" cy="664797"/>
          </a:xfrm>
        </p:spPr>
        <p:txBody>
          <a:bodyPr vert="horz"/>
          <a:lstStyle/>
          <a:p>
            <a:r>
              <a:rPr lang="zh-TW" altLang="en-US">
                <a:ea typeface="Microsoft YaHei" panose="020B0503020204020204" pitchFamily="34" charset="-122"/>
              </a:rPr>
              <a:t>強化識別引擎為首要任務：雖然凱基已建置預測模型篩選潜力Ｍ升Ａ客名單，但仍有精進空間，包括擴大模型範圍、考量動態參數及産出最佳下一步産品建議</a:t>
            </a:r>
            <a:endParaRPr lang="en-US">
              <a:ea typeface="Microsoft YaHei" panose="020B0503020204020204" pitchFamily="34" charset="-122"/>
            </a:endParaRPr>
          </a:p>
        </p:txBody>
      </p:sp>
      <p:sp>
        <p:nvSpPr>
          <p:cNvPr id="4" name="object 4"/>
          <p:cNvSpPr/>
          <p:nvPr/>
        </p:nvSpPr>
        <p:spPr>
          <a:xfrm>
            <a:off x="8191848" y="2263472"/>
            <a:ext cx="3379711" cy="2112763"/>
          </a:xfrm>
          <a:custGeom>
            <a:avLst/>
            <a:gdLst/>
            <a:ahLst/>
            <a:cxnLst/>
            <a:rect l="l" t="t" r="r" b="b"/>
            <a:pathLst>
              <a:path w="3435350" h="4415155">
                <a:moveTo>
                  <a:pt x="3435096" y="0"/>
                </a:moveTo>
                <a:lnTo>
                  <a:pt x="0" y="0"/>
                </a:lnTo>
                <a:lnTo>
                  <a:pt x="0" y="4415028"/>
                </a:lnTo>
                <a:lnTo>
                  <a:pt x="3435096" y="4415028"/>
                </a:lnTo>
                <a:lnTo>
                  <a:pt x="3435096" y="0"/>
                </a:lnTo>
                <a:close/>
              </a:path>
            </a:pathLst>
          </a:custGeom>
          <a:solidFill>
            <a:srgbClr val="D6EFEA">
              <a:alpha val="59999"/>
            </a:srgbClr>
          </a:solidFill>
        </p:spPr>
        <p:txBody>
          <a:bodyPr wrap="square" lIns="0" tIns="0" rIns="0" bIns="0" rtlCol="0"/>
          <a:lstStyle/>
          <a:p>
            <a:endParaRPr>
              <a:ea typeface="Microsoft YaHei" panose="020B0503020204020204" pitchFamily="34" charset="-122"/>
            </a:endParaRPr>
          </a:p>
        </p:txBody>
      </p:sp>
      <p:sp>
        <p:nvSpPr>
          <p:cNvPr id="6" name="object 6"/>
          <p:cNvSpPr/>
          <p:nvPr/>
        </p:nvSpPr>
        <p:spPr>
          <a:xfrm>
            <a:off x="990704" y="2263472"/>
            <a:ext cx="3432175" cy="2112763"/>
          </a:xfrm>
          <a:custGeom>
            <a:avLst/>
            <a:gdLst/>
            <a:ahLst/>
            <a:cxnLst/>
            <a:rect l="l" t="t" r="r" b="b"/>
            <a:pathLst>
              <a:path w="3432175" h="4415155">
                <a:moveTo>
                  <a:pt x="3432048" y="0"/>
                </a:moveTo>
                <a:lnTo>
                  <a:pt x="0" y="0"/>
                </a:lnTo>
                <a:lnTo>
                  <a:pt x="0" y="4415028"/>
                </a:lnTo>
                <a:lnTo>
                  <a:pt x="3432048" y="4415028"/>
                </a:lnTo>
                <a:lnTo>
                  <a:pt x="3432048" y="0"/>
                </a:lnTo>
                <a:close/>
              </a:path>
            </a:pathLst>
          </a:custGeom>
          <a:solidFill>
            <a:srgbClr val="D6EFEA">
              <a:alpha val="59999"/>
            </a:srgbClr>
          </a:solidFill>
        </p:spPr>
        <p:txBody>
          <a:bodyPr wrap="square" lIns="0" tIns="0" rIns="0" bIns="0" rtlCol="0"/>
          <a:lstStyle/>
          <a:p>
            <a:endParaRPr sz="1400">
              <a:ea typeface="Microsoft YaHei" panose="020B0503020204020204" pitchFamily="34" charset="-122"/>
            </a:endParaRPr>
          </a:p>
        </p:txBody>
      </p:sp>
      <p:sp>
        <p:nvSpPr>
          <p:cNvPr id="8" name="object 8"/>
          <p:cNvSpPr/>
          <p:nvPr/>
        </p:nvSpPr>
        <p:spPr>
          <a:xfrm>
            <a:off x="4591011" y="2263472"/>
            <a:ext cx="3435350" cy="2112763"/>
          </a:xfrm>
          <a:custGeom>
            <a:avLst/>
            <a:gdLst/>
            <a:ahLst/>
            <a:cxnLst/>
            <a:rect l="l" t="t" r="r" b="b"/>
            <a:pathLst>
              <a:path w="3435350" h="4415155">
                <a:moveTo>
                  <a:pt x="3435096" y="0"/>
                </a:moveTo>
                <a:lnTo>
                  <a:pt x="0" y="0"/>
                </a:lnTo>
                <a:lnTo>
                  <a:pt x="0" y="4415028"/>
                </a:lnTo>
                <a:lnTo>
                  <a:pt x="3435096" y="4415028"/>
                </a:lnTo>
                <a:lnTo>
                  <a:pt x="3435096" y="0"/>
                </a:lnTo>
                <a:close/>
              </a:path>
            </a:pathLst>
          </a:custGeom>
          <a:solidFill>
            <a:srgbClr val="D6EFEA">
              <a:alpha val="59999"/>
            </a:srgbClr>
          </a:solidFill>
        </p:spPr>
        <p:txBody>
          <a:bodyPr wrap="square" lIns="0" tIns="0" rIns="0" bIns="0" rtlCol="0"/>
          <a:lstStyle/>
          <a:p>
            <a:endParaRPr>
              <a:ea typeface="Microsoft YaHei" panose="020B0503020204020204" pitchFamily="34" charset="-122"/>
            </a:endParaRPr>
          </a:p>
        </p:txBody>
      </p:sp>
      <p:sp>
        <p:nvSpPr>
          <p:cNvPr id="44" name="Oval 20">
            <a:extLst>
              <a:ext uri="{FF2B5EF4-FFF2-40B4-BE49-F238E27FC236}">
                <a16:creationId xmlns:a16="http://schemas.microsoft.com/office/drawing/2014/main" id="{96E82541-20D6-4388-0369-A481FA31B739}"/>
              </a:ext>
            </a:extLst>
          </p:cNvPr>
          <p:cNvSpPr>
            <a:spLocks noChangeAspect="1" noChangeArrowheads="1"/>
          </p:cNvSpPr>
          <p:nvPr/>
        </p:nvSpPr>
        <p:spPr bwMode="auto">
          <a:xfrm>
            <a:off x="186544" y="98006"/>
            <a:ext cx="299290" cy="299290"/>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sz="1200">
                <a:solidFill>
                  <a:schemeClr val="bg1"/>
                </a:solidFill>
                <a:ea typeface="Microsoft YaHei" panose="020B0503020204020204" pitchFamily="34" charset="-122"/>
              </a:rPr>
              <a:t>1</a:t>
            </a:r>
          </a:p>
        </p:txBody>
      </p:sp>
      <p:sp>
        <p:nvSpPr>
          <p:cNvPr id="45" name="TextBox 44">
            <a:extLst>
              <a:ext uri="{FF2B5EF4-FFF2-40B4-BE49-F238E27FC236}">
                <a16:creationId xmlns:a16="http://schemas.microsoft.com/office/drawing/2014/main" id="{BE65230B-3765-0F1F-E1DC-36638552AE8D}"/>
              </a:ext>
            </a:extLst>
          </p:cNvPr>
          <p:cNvSpPr txBox="1"/>
          <p:nvPr/>
        </p:nvSpPr>
        <p:spPr>
          <a:xfrm>
            <a:off x="490697" y="128208"/>
            <a:ext cx="2217333" cy="276999"/>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a:spAutoFit/>
          </a:bodyPr>
          <a:lstStyle/>
          <a:p>
            <a:r>
              <a:rPr lang="zh-TW" altLang="en-US" sz="1200">
                <a:solidFill>
                  <a:srgbClr val="575757"/>
                </a:solidFill>
                <a:latin typeface="Trebuchet MS" panose="020B0603020202020204" pitchFamily="34" charset="0"/>
                <a:ea typeface="Microsoft YaHei" panose="020B0503020204020204" pitchFamily="34" charset="-122"/>
              </a:rPr>
              <a:t>優化預測模型，個性化經營</a:t>
            </a:r>
            <a:endParaRPr lang="en-US" sz="1200">
              <a:solidFill>
                <a:srgbClr val="575757"/>
              </a:solidFill>
              <a:ea typeface="Microsoft YaHei" panose="020B0503020204020204" pitchFamily="34" charset="-122"/>
            </a:endParaRPr>
          </a:p>
        </p:txBody>
      </p:sp>
      <p:sp>
        <p:nvSpPr>
          <p:cNvPr id="13" name="object 10">
            <a:extLst>
              <a:ext uri="{FF2B5EF4-FFF2-40B4-BE49-F238E27FC236}">
                <a16:creationId xmlns:a16="http://schemas.microsoft.com/office/drawing/2014/main" id="{D66F523B-8779-3992-52A4-0933AFC5D8B4}"/>
              </a:ext>
            </a:extLst>
          </p:cNvPr>
          <p:cNvSpPr txBox="1"/>
          <p:nvPr/>
        </p:nvSpPr>
        <p:spPr>
          <a:xfrm>
            <a:off x="976304" y="1795663"/>
            <a:ext cx="3563424" cy="375418"/>
          </a:xfrm>
          <a:prstGeom prst="homePlate">
            <a:avLst/>
          </a:prstGeom>
          <a:solidFill>
            <a:srgbClr val="29B974"/>
          </a:solidFill>
          <a:ln w="7619">
            <a:solidFill>
              <a:srgbClr val="FFFFFF"/>
            </a:solidFill>
          </a:ln>
        </p:spPr>
        <p:txBody>
          <a:bodyPr vert="horz" wrap="square" lIns="0" tIns="76835" rIns="0" bIns="0" rtlCol="0">
            <a:noAutofit/>
          </a:bodyPr>
          <a:lstStyle/>
          <a:p>
            <a:pPr algn="ctr">
              <a:lnSpc>
                <a:spcPct val="100000"/>
              </a:lnSpc>
              <a:spcBef>
                <a:spcPts val="605"/>
              </a:spcBef>
            </a:pPr>
            <a:r>
              <a:rPr lang="zh-TW" altLang="en-US" sz="1600" b="1">
                <a:solidFill>
                  <a:srgbClr val="FFFFFF"/>
                </a:solidFill>
                <a:latin typeface="Trebuchet MS"/>
                <a:ea typeface="Microsoft YaHei" panose="020B0503020204020204" pitchFamily="34" charset="-122"/>
                <a:cs typeface="Trebuchet MS"/>
              </a:rPr>
              <a:t>定義客群</a:t>
            </a:r>
            <a:endParaRPr sz="1600">
              <a:latin typeface="Trebuchet MS"/>
              <a:ea typeface="Microsoft YaHei" panose="020B0503020204020204" pitchFamily="34" charset="-122"/>
              <a:cs typeface="Trebuchet MS"/>
            </a:endParaRPr>
          </a:p>
        </p:txBody>
      </p:sp>
      <p:sp>
        <p:nvSpPr>
          <p:cNvPr id="15" name="object 10">
            <a:extLst>
              <a:ext uri="{FF2B5EF4-FFF2-40B4-BE49-F238E27FC236}">
                <a16:creationId xmlns:a16="http://schemas.microsoft.com/office/drawing/2014/main" id="{044624B9-71C7-9235-3B25-776E8EB49A6B}"/>
              </a:ext>
            </a:extLst>
          </p:cNvPr>
          <p:cNvSpPr txBox="1"/>
          <p:nvPr/>
        </p:nvSpPr>
        <p:spPr>
          <a:xfrm>
            <a:off x="4525396" y="1795663"/>
            <a:ext cx="3563424" cy="375418"/>
          </a:xfrm>
          <a:prstGeom prst="chevron">
            <a:avLst/>
          </a:prstGeom>
          <a:solidFill>
            <a:srgbClr val="29B974"/>
          </a:solidFill>
          <a:ln w="7619">
            <a:solidFill>
              <a:srgbClr val="FFFFFF"/>
            </a:solidFill>
          </a:ln>
        </p:spPr>
        <p:txBody>
          <a:bodyPr vert="horz" wrap="square" lIns="0" tIns="76835" rIns="0" bIns="0" rtlCol="0">
            <a:noAutofit/>
          </a:bodyPr>
          <a:lstStyle/>
          <a:p>
            <a:pPr algn="ctr">
              <a:lnSpc>
                <a:spcPct val="100000"/>
              </a:lnSpc>
              <a:spcBef>
                <a:spcPts val="605"/>
              </a:spcBef>
            </a:pPr>
            <a:r>
              <a:rPr lang="zh-TW" altLang="en-US" sz="1600" b="1">
                <a:solidFill>
                  <a:srgbClr val="FFFFFF"/>
                </a:solidFill>
                <a:latin typeface="Trebuchet MS"/>
                <a:ea typeface="Microsoft YaHei" panose="020B0503020204020204" pitchFamily="34" charset="-122"/>
                <a:cs typeface="Trebuchet MS"/>
              </a:rPr>
              <a:t>打造預測模型</a:t>
            </a:r>
            <a:endParaRPr sz="1600">
              <a:latin typeface="Trebuchet MS"/>
              <a:ea typeface="Microsoft YaHei" panose="020B0503020204020204" pitchFamily="34" charset="-122"/>
              <a:cs typeface="Trebuchet MS"/>
            </a:endParaRPr>
          </a:p>
        </p:txBody>
      </p:sp>
      <p:sp>
        <p:nvSpPr>
          <p:cNvPr id="20" name="object 10">
            <a:extLst>
              <a:ext uri="{FF2B5EF4-FFF2-40B4-BE49-F238E27FC236}">
                <a16:creationId xmlns:a16="http://schemas.microsoft.com/office/drawing/2014/main" id="{1FC21283-5026-E2B4-B8E2-759809B1BB13}"/>
              </a:ext>
            </a:extLst>
          </p:cNvPr>
          <p:cNvSpPr txBox="1"/>
          <p:nvPr/>
        </p:nvSpPr>
        <p:spPr>
          <a:xfrm>
            <a:off x="8074488" y="1795663"/>
            <a:ext cx="3563424" cy="375418"/>
          </a:xfrm>
          <a:prstGeom prst="chevron">
            <a:avLst/>
          </a:prstGeom>
          <a:solidFill>
            <a:srgbClr val="29B974"/>
          </a:solidFill>
          <a:ln w="7619">
            <a:solidFill>
              <a:srgbClr val="FFFFFF"/>
            </a:solidFill>
          </a:ln>
        </p:spPr>
        <p:txBody>
          <a:bodyPr vert="horz" wrap="square" lIns="0" tIns="76835" rIns="0" bIns="0" rtlCol="0">
            <a:noAutofit/>
          </a:bodyPr>
          <a:lstStyle/>
          <a:p>
            <a:pPr algn="ctr">
              <a:lnSpc>
                <a:spcPct val="100000"/>
              </a:lnSpc>
              <a:spcBef>
                <a:spcPts val="605"/>
              </a:spcBef>
            </a:pPr>
            <a:r>
              <a:rPr lang="zh-TW" altLang="en-US" sz="1600" b="1">
                <a:solidFill>
                  <a:srgbClr val="FFFFFF"/>
                </a:solidFill>
                <a:latin typeface="Trebuchet MS"/>
                <a:ea typeface="Microsoft YaHei" panose="020B0503020204020204" pitchFamily="34" charset="-122"/>
                <a:cs typeface="Trebuchet MS"/>
              </a:rPr>
              <a:t>産出客戶名單</a:t>
            </a:r>
            <a:endParaRPr sz="1600">
              <a:latin typeface="Trebuchet MS"/>
              <a:ea typeface="Microsoft YaHei" panose="020B0503020204020204" pitchFamily="34" charset="-122"/>
              <a:cs typeface="Trebuchet MS"/>
            </a:endParaRPr>
          </a:p>
        </p:txBody>
      </p:sp>
      <p:grpSp>
        <p:nvGrpSpPr>
          <p:cNvPr id="32" name="Group 31">
            <a:extLst>
              <a:ext uri="{FF2B5EF4-FFF2-40B4-BE49-F238E27FC236}">
                <a16:creationId xmlns:a16="http://schemas.microsoft.com/office/drawing/2014/main" id="{16FE61BF-ABB4-302D-A99D-FD0164D3632B}"/>
              </a:ext>
            </a:extLst>
          </p:cNvPr>
          <p:cNvGrpSpPr/>
          <p:nvPr/>
        </p:nvGrpSpPr>
        <p:grpSpPr>
          <a:xfrm>
            <a:off x="220909" y="2279405"/>
            <a:ext cx="815340" cy="2085755"/>
            <a:chOff x="-125983" y="2184594"/>
            <a:chExt cx="815340" cy="682118"/>
          </a:xfrm>
        </p:grpSpPr>
        <p:sp>
          <p:nvSpPr>
            <p:cNvPr id="30" name="Rectangle 29">
              <a:extLst>
                <a:ext uri="{FF2B5EF4-FFF2-40B4-BE49-F238E27FC236}">
                  <a16:creationId xmlns:a16="http://schemas.microsoft.com/office/drawing/2014/main" id="{5E14DE47-619B-328B-27BE-9F00BB8B71DE}"/>
                </a:ext>
              </a:extLst>
            </p:cNvPr>
            <p:cNvSpPr/>
            <p:nvPr/>
          </p:nvSpPr>
          <p:spPr>
            <a:xfrm>
              <a:off x="-125983" y="2184594"/>
              <a:ext cx="815340" cy="681756"/>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108000" lvl="1">
                <a:buClr>
                  <a:schemeClr val="tx2"/>
                </a:buClr>
              </a:pPr>
              <a:r>
                <a:rPr lang="zh-TW" altLang="en-US" sz="1600" b="1">
                  <a:solidFill>
                    <a:srgbClr val="03522D"/>
                  </a:solidFill>
                  <a:latin typeface="Trebuchet MS" panose="020B0603020202020204" pitchFamily="34" charset="0"/>
                  <a:ea typeface="Microsoft YaHei" panose="020B0503020204020204" pitchFamily="34" charset="-122"/>
                </a:rPr>
                <a:t>行業實踐要點</a:t>
              </a:r>
              <a:endParaRPr lang="en-US" altLang="zh-TW" sz="1600" b="1">
                <a:solidFill>
                  <a:srgbClr val="03522D"/>
                </a:solidFill>
                <a:latin typeface="Trebuchet MS" panose="020B0603020202020204" pitchFamily="34" charset="0"/>
                <a:ea typeface="Microsoft YaHei" panose="020B0503020204020204" pitchFamily="34" charset="-122"/>
              </a:endParaRPr>
            </a:p>
          </p:txBody>
        </p:sp>
        <p:cxnSp>
          <p:nvCxnSpPr>
            <p:cNvPr id="31" name="Straight Connector 30">
              <a:extLst>
                <a:ext uri="{FF2B5EF4-FFF2-40B4-BE49-F238E27FC236}">
                  <a16:creationId xmlns:a16="http://schemas.microsoft.com/office/drawing/2014/main" id="{DA62F1D4-4B73-AE36-BC66-341E6C15B03F}"/>
                </a:ext>
              </a:extLst>
            </p:cNvPr>
            <p:cNvCxnSpPr>
              <a:cxnSpLocks/>
            </p:cNvCxnSpPr>
            <p:nvPr/>
          </p:nvCxnSpPr>
          <p:spPr>
            <a:xfrm>
              <a:off x="619893" y="2184594"/>
              <a:ext cx="0" cy="682118"/>
            </a:xfrm>
            <a:prstGeom prst="line">
              <a:avLst/>
            </a:prstGeom>
            <a:ln w="9525" cap="rnd">
              <a:solidFill>
                <a:schemeClr val="accent1"/>
              </a:solidFill>
              <a:prstDash val="solid"/>
              <a:round/>
            </a:ln>
          </p:spPr>
          <p:style>
            <a:lnRef idx="1">
              <a:schemeClr val="accent1"/>
            </a:lnRef>
            <a:fillRef idx="0">
              <a:schemeClr val="accent1"/>
            </a:fillRef>
            <a:effectRef idx="0">
              <a:schemeClr val="accent1"/>
            </a:effectRef>
            <a:fontRef idx="minor">
              <a:schemeClr val="tx1"/>
            </a:fontRef>
          </p:style>
        </p:cxnSp>
      </p:grpSp>
      <p:grpSp>
        <p:nvGrpSpPr>
          <p:cNvPr id="33" name="Group 32">
            <a:extLst>
              <a:ext uri="{FF2B5EF4-FFF2-40B4-BE49-F238E27FC236}">
                <a16:creationId xmlns:a16="http://schemas.microsoft.com/office/drawing/2014/main" id="{F7796724-6D9D-1DE3-41E7-CF7820FE8D21}"/>
              </a:ext>
            </a:extLst>
          </p:cNvPr>
          <p:cNvGrpSpPr/>
          <p:nvPr/>
        </p:nvGrpSpPr>
        <p:grpSpPr>
          <a:xfrm>
            <a:off x="220909" y="4502381"/>
            <a:ext cx="815340" cy="701880"/>
            <a:chOff x="-125983" y="2152346"/>
            <a:chExt cx="815340" cy="869358"/>
          </a:xfrm>
        </p:grpSpPr>
        <p:sp>
          <p:nvSpPr>
            <p:cNvPr id="35" name="Rectangle 34">
              <a:extLst>
                <a:ext uri="{FF2B5EF4-FFF2-40B4-BE49-F238E27FC236}">
                  <a16:creationId xmlns:a16="http://schemas.microsoft.com/office/drawing/2014/main" id="{89E27F33-492A-48AE-0E48-FF43937C8885}"/>
                </a:ext>
              </a:extLst>
            </p:cNvPr>
            <p:cNvSpPr/>
            <p:nvPr/>
          </p:nvSpPr>
          <p:spPr>
            <a:xfrm>
              <a:off x="-125983" y="2184594"/>
              <a:ext cx="815340" cy="804863"/>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108000" lvl="1">
                <a:buClr>
                  <a:schemeClr val="tx2"/>
                </a:buClr>
              </a:pPr>
              <a:r>
                <a:rPr lang="zh-TW" altLang="en-US" sz="1600" b="1">
                  <a:solidFill>
                    <a:srgbClr val="03522D"/>
                  </a:solidFill>
                  <a:latin typeface="Trebuchet MS" panose="020B0603020202020204" pitchFamily="34" charset="0"/>
                  <a:ea typeface="Microsoft YaHei" panose="020B0503020204020204" pitchFamily="34" charset="-122"/>
                </a:rPr>
                <a:t>凱基現況</a:t>
              </a:r>
              <a:endParaRPr lang="en-US" altLang="zh-TW" sz="1600" b="1">
                <a:solidFill>
                  <a:srgbClr val="03522D"/>
                </a:solidFill>
                <a:latin typeface="Trebuchet MS" panose="020B0603020202020204" pitchFamily="34" charset="0"/>
                <a:ea typeface="Microsoft YaHei" panose="020B0503020204020204" pitchFamily="34" charset="-122"/>
              </a:endParaRPr>
            </a:p>
          </p:txBody>
        </p:sp>
        <p:cxnSp>
          <p:nvCxnSpPr>
            <p:cNvPr id="36" name="Straight Connector 35">
              <a:extLst>
                <a:ext uri="{FF2B5EF4-FFF2-40B4-BE49-F238E27FC236}">
                  <a16:creationId xmlns:a16="http://schemas.microsoft.com/office/drawing/2014/main" id="{CC95D4F8-E022-63DD-7C63-5374682D6A24}"/>
                </a:ext>
              </a:extLst>
            </p:cNvPr>
            <p:cNvCxnSpPr/>
            <p:nvPr/>
          </p:nvCxnSpPr>
          <p:spPr>
            <a:xfrm>
              <a:off x="619893" y="2152346"/>
              <a:ext cx="0" cy="869358"/>
            </a:xfrm>
            <a:prstGeom prst="line">
              <a:avLst/>
            </a:prstGeom>
            <a:ln w="9525" cap="rnd">
              <a:solidFill>
                <a:schemeClr val="accent1"/>
              </a:solidFill>
              <a:prstDash val="solid"/>
              <a:round/>
            </a:ln>
          </p:spPr>
          <p:style>
            <a:lnRef idx="1">
              <a:schemeClr val="accent1"/>
            </a:lnRef>
            <a:fillRef idx="0">
              <a:schemeClr val="accent1"/>
            </a:fillRef>
            <a:effectRef idx="0">
              <a:schemeClr val="accent1"/>
            </a:effectRef>
            <a:fontRef idx="minor">
              <a:schemeClr val="tx1"/>
            </a:fontRef>
          </p:style>
        </p:cxnSp>
      </p:grpSp>
      <p:grpSp>
        <p:nvGrpSpPr>
          <p:cNvPr id="37" name="Group 36">
            <a:extLst>
              <a:ext uri="{FF2B5EF4-FFF2-40B4-BE49-F238E27FC236}">
                <a16:creationId xmlns:a16="http://schemas.microsoft.com/office/drawing/2014/main" id="{6BD9977E-03B1-3DA1-FC4E-1A7B697DC4E8}"/>
              </a:ext>
            </a:extLst>
          </p:cNvPr>
          <p:cNvGrpSpPr/>
          <p:nvPr/>
        </p:nvGrpSpPr>
        <p:grpSpPr>
          <a:xfrm>
            <a:off x="220909" y="5251599"/>
            <a:ext cx="815340" cy="701880"/>
            <a:chOff x="-125983" y="2152346"/>
            <a:chExt cx="815340" cy="869358"/>
          </a:xfrm>
        </p:grpSpPr>
        <p:sp>
          <p:nvSpPr>
            <p:cNvPr id="53" name="Rectangle 52">
              <a:extLst>
                <a:ext uri="{FF2B5EF4-FFF2-40B4-BE49-F238E27FC236}">
                  <a16:creationId xmlns:a16="http://schemas.microsoft.com/office/drawing/2014/main" id="{1005CDCF-AD0A-7DA2-E71D-7F8F49B08B10}"/>
                </a:ext>
              </a:extLst>
            </p:cNvPr>
            <p:cNvSpPr/>
            <p:nvPr/>
          </p:nvSpPr>
          <p:spPr>
            <a:xfrm>
              <a:off x="-125983" y="2184594"/>
              <a:ext cx="815340" cy="804863"/>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108000" lvl="1">
                <a:buClr>
                  <a:schemeClr val="tx2"/>
                </a:buClr>
              </a:pPr>
              <a:r>
                <a:rPr lang="zh-TW" altLang="en-US" sz="1600" b="1">
                  <a:solidFill>
                    <a:srgbClr val="03522D"/>
                  </a:solidFill>
                  <a:latin typeface="Trebuchet MS" panose="020B0603020202020204" pitchFamily="34" charset="0"/>
                  <a:ea typeface="Microsoft YaHei" panose="020B0503020204020204" pitchFamily="34" charset="-122"/>
                </a:rPr>
                <a:t>初步建議</a:t>
              </a:r>
              <a:endParaRPr lang="en-US" altLang="zh-TW" sz="1600" b="1">
                <a:solidFill>
                  <a:srgbClr val="03522D"/>
                </a:solidFill>
                <a:latin typeface="Trebuchet MS" panose="020B0603020202020204" pitchFamily="34" charset="0"/>
                <a:ea typeface="Microsoft YaHei" panose="020B0503020204020204" pitchFamily="34" charset="-122"/>
              </a:endParaRPr>
            </a:p>
          </p:txBody>
        </p:sp>
        <p:cxnSp>
          <p:nvCxnSpPr>
            <p:cNvPr id="58" name="Straight Connector 57">
              <a:extLst>
                <a:ext uri="{FF2B5EF4-FFF2-40B4-BE49-F238E27FC236}">
                  <a16:creationId xmlns:a16="http://schemas.microsoft.com/office/drawing/2014/main" id="{347AFBFC-2237-8406-59FC-951E94020BF9}"/>
                </a:ext>
              </a:extLst>
            </p:cNvPr>
            <p:cNvCxnSpPr/>
            <p:nvPr/>
          </p:nvCxnSpPr>
          <p:spPr>
            <a:xfrm>
              <a:off x="619893" y="2152346"/>
              <a:ext cx="0" cy="869358"/>
            </a:xfrm>
            <a:prstGeom prst="line">
              <a:avLst/>
            </a:prstGeom>
            <a:ln w="9525" cap="rnd">
              <a:solidFill>
                <a:schemeClr val="accent1"/>
              </a:solidFill>
              <a:prstDash val="solid"/>
              <a:round/>
            </a:ln>
          </p:spPr>
          <p:style>
            <a:lnRef idx="1">
              <a:schemeClr val="accent1"/>
            </a:lnRef>
            <a:fillRef idx="0">
              <a:schemeClr val="accent1"/>
            </a:fillRef>
            <a:effectRef idx="0">
              <a:schemeClr val="accent1"/>
            </a:effectRef>
            <a:fontRef idx="minor">
              <a:schemeClr val="tx1"/>
            </a:fontRef>
          </p:style>
        </p:cxnSp>
      </p:grpSp>
      <p:sp>
        <p:nvSpPr>
          <p:cNvPr id="61" name="object 20">
            <a:extLst>
              <a:ext uri="{FF2B5EF4-FFF2-40B4-BE49-F238E27FC236}">
                <a16:creationId xmlns:a16="http://schemas.microsoft.com/office/drawing/2014/main" id="{2CAE39B6-5CA1-17B2-5768-05EFAB3B7906}"/>
              </a:ext>
            </a:extLst>
          </p:cNvPr>
          <p:cNvSpPr txBox="1"/>
          <p:nvPr/>
        </p:nvSpPr>
        <p:spPr>
          <a:xfrm>
            <a:off x="1085526" y="2343016"/>
            <a:ext cx="3304731" cy="44307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0" tIns="12065" rIns="0" bIns="0" rtlCol="0">
            <a:spAutoFit/>
          </a:bodyPr>
          <a:lstStyle/>
          <a:p>
            <a:pPr marL="108000" lvl="1">
              <a:buClr>
                <a:schemeClr val="tx2"/>
              </a:buClr>
              <a:tabLst>
                <a:tab pos="227965" algn="l"/>
              </a:tabLst>
            </a:pPr>
            <a:r>
              <a:rPr lang="zh-TW" altLang="en-US" sz="1400" b="1" i="1">
                <a:solidFill>
                  <a:srgbClr val="A8B21C"/>
                </a:solidFill>
                <a:latin typeface="Microsoft YaHei" panose="020B0503020204020204" pitchFamily="34" charset="-122"/>
                <a:ea typeface="Microsoft YaHei" panose="020B0503020204020204" pitchFamily="34" charset="-122"/>
                <a:cs typeface="Microsoft GothicNeo" panose="020B0500000101010101" pitchFamily="34" charset="-127"/>
                <a:sym typeface="Microsoft YaHei" panose="020B0503020204020204" pitchFamily="34" charset="-122"/>
              </a:rPr>
              <a:t>定義模型涵蓋範圍，確保模型覆蓋所有目標客群</a:t>
            </a:r>
            <a:endParaRPr lang="en-US" altLang="zh-TW" sz="1400" b="1" i="1">
              <a:solidFill>
                <a:srgbClr val="A8B21C"/>
              </a:solidFill>
              <a:latin typeface="Microsoft YaHei" panose="020B0503020204020204" pitchFamily="34" charset="-122"/>
              <a:ea typeface="Microsoft YaHei" panose="020B0503020204020204" pitchFamily="34" charset="-122"/>
              <a:cs typeface="Microsoft GothicNeo" panose="020B0500000101010101" pitchFamily="34" charset="-127"/>
              <a:sym typeface="Microsoft YaHei" panose="020B0503020204020204" pitchFamily="34" charset="-122"/>
            </a:endParaRPr>
          </a:p>
        </p:txBody>
      </p:sp>
      <p:sp>
        <p:nvSpPr>
          <p:cNvPr id="66" name="object 20">
            <a:extLst>
              <a:ext uri="{FF2B5EF4-FFF2-40B4-BE49-F238E27FC236}">
                <a16:creationId xmlns:a16="http://schemas.microsoft.com/office/drawing/2014/main" id="{3BD3AC59-A98D-5EFF-FB67-8041507C4D35}"/>
              </a:ext>
            </a:extLst>
          </p:cNvPr>
          <p:cNvSpPr txBox="1"/>
          <p:nvPr/>
        </p:nvSpPr>
        <p:spPr>
          <a:xfrm>
            <a:off x="1166010" y="4589372"/>
            <a:ext cx="3162903" cy="399981"/>
          </a:xfrm>
          <a:prstGeom prst="rect">
            <a:avLst/>
          </a:prstGeom>
        </p:spPr>
        <p:txBody>
          <a:bodyPr vert="horz" wrap="square" lIns="0" tIns="12065" rIns="0" bIns="0" rtlCol="0">
            <a:spAutoFit/>
          </a:bodyPr>
          <a:lstStyle/>
          <a:p>
            <a:pPr>
              <a:lnSpc>
                <a:spcPct val="90000"/>
              </a:lnSpc>
              <a:spcAft>
                <a:spcPts val="600"/>
              </a:spcAft>
            </a:pPr>
            <a:r>
              <a:rPr lang="zh-TW" altLang="en-US" sz="1400">
                <a:solidFill>
                  <a:srgbClr val="E71C57"/>
                </a:solidFill>
                <a:latin typeface="Trebuchet MS" panose="020B0603020202020204" pitchFamily="34" charset="0"/>
                <a:ea typeface="Microsoft YaHei" panose="020B0503020204020204" pitchFamily="34" charset="-122"/>
              </a:rPr>
              <a:t>模型覆蓋客戶較局限</a:t>
            </a:r>
            <a:r>
              <a:rPr lang="zh-TW" altLang="en-US" sz="1400">
                <a:solidFill>
                  <a:srgbClr val="575757"/>
                </a:solidFill>
                <a:latin typeface="Trebuchet MS" panose="020B0603020202020204" pitchFamily="34" charset="0"/>
                <a:ea typeface="Microsoft YaHei" panose="020B0503020204020204" pitchFamily="34" charset="-122"/>
              </a:rPr>
              <a:t>，僅</a:t>
            </a:r>
            <a:r>
              <a:rPr lang="en-US" altLang="zh-TW" sz="1400">
                <a:solidFill>
                  <a:srgbClr val="575757"/>
                </a:solidFill>
                <a:latin typeface="Trebuchet MS" panose="020B0603020202020204" pitchFamily="34" charset="0"/>
                <a:ea typeface="Microsoft YaHei" panose="020B0503020204020204" pitchFamily="34" charset="-122"/>
              </a:rPr>
              <a:t>&lt;2%</a:t>
            </a:r>
            <a:r>
              <a:rPr lang="zh-TW" altLang="en-US" sz="1400">
                <a:solidFill>
                  <a:srgbClr val="575757"/>
                </a:solidFill>
                <a:latin typeface="Trebuchet MS" panose="020B0603020202020204" pitchFamily="34" charset="0"/>
                <a:ea typeface="Microsoft YaHei" panose="020B0503020204020204" pitchFamily="34" charset="-122"/>
              </a:rPr>
              <a:t>客戶應用于模型內，仍有規模化滲透空間</a:t>
            </a:r>
            <a:endParaRPr lang="en-US" altLang="zh-TW" sz="1400">
              <a:solidFill>
                <a:srgbClr val="575757"/>
              </a:solidFill>
              <a:latin typeface="Trebuchet MS" panose="020B0603020202020204" pitchFamily="34" charset="0"/>
              <a:ea typeface="Microsoft YaHei" panose="020B0503020204020204" pitchFamily="34" charset="-122"/>
            </a:endParaRPr>
          </a:p>
        </p:txBody>
      </p:sp>
      <p:sp>
        <p:nvSpPr>
          <p:cNvPr id="67" name="object 20">
            <a:extLst>
              <a:ext uri="{FF2B5EF4-FFF2-40B4-BE49-F238E27FC236}">
                <a16:creationId xmlns:a16="http://schemas.microsoft.com/office/drawing/2014/main" id="{EBBAD987-80E5-8910-E806-054A4F52EF84}"/>
              </a:ext>
            </a:extLst>
          </p:cNvPr>
          <p:cNvSpPr txBox="1"/>
          <p:nvPr/>
        </p:nvSpPr>
        <p:spPr>
          <a:xfrm>
            <a:off x="1166010" y="5251886"/>
            <a:ext cx="3162903" cy="443070"/>
          </a:xfrm>
          <a:prstGeom prst="rect">
            <a:avLst/>
          </a:prstGeom>
        </p:spPr>
        <p:txBody>
          <a:bodyPr vert="horz" wrap="square" lIns="0" tIns="12065" rIns="0" bIns="0" rtlCol="0">
            <a:spAutoFit/>
          </a:bodyPr>
          <a:lstStyle/>
          <a:p>
            <a:pPr indent="-349200">
              <a:buClr>
                <a:schemeClr val="tx2"/>
              </a:buClr>
            </a:pPr>
            <a:r>
              <a:rPr lang="zh-TW" altLang="en-US" sz="1400">
                <a:solidFill>
                  <a:srgbClr val="575757"/>
                </a:solidFill>
                <a:latin typeface="Trebuchet MS" panose="020B0603020202020204" pitchFamily="34" charset="0"/>
                <a:ea typeface="Microsoft YaHei" panose="020B0503020204020204" pitchFamily="34" charset="-122"/>
              </a:rPr>
              <a:t>將</a:t>
            </a:r>
            <a:r>
              <a:rPr lang="zh-TW" altLang="en-US" sz="1400">
                <a:solidFill>
                  <a:srgbClr val="29BA74"/>
                </a:solidFill>
                <a:latin typeface="Trebuchet MS" panose="020B0603020202020204" pitchFamily="34" charset="0"/>
                <a:ea typeface="Microsoft YaHei" panose="020B0503020204020204" pitchFamily="34" charset="-122"/>
              </a:rPr>
              <a:t>模型範圍拓展至全體</a:t>
            </a:r>
            <a:r>
              <a:rPr lang="en-US" altLang="zh-TW" sz="1400">
                <a:solidFill>
                  <a:srgbClr val="29BA74"/>
                </a:solidFill>
                <a:latin typeface="Trebuchet MS" panose="020B0603020202020204" pitchFamily="34" charset="0"/>
                <a:ea typeface="Microsoft YaHei" panose="020B0503020204020204" pitchFamily="34" charset="-122"/>
              </a:rPr>
              <a:t>M</a:t>
            </a:r>
            <a:r>
              <a:rPr lang="zh-TW" altLang="en-US" sz="1400">
                <a:solidFill>
                  <a:srgbClr val="29BA74"/>
                </a:solidFill>
                <a:latin typeface="Trebuchet MS" panose="020B0603020202020204" pitchFamily="34" charset="0"/>
                <a:ea typeface="Microsoft YaHei" panose="020B0503020204020204" pitchFamily="34" charset="-122"/>
              </a:rPr>
              <a:t>客</a:t>
            </a:r>
            <a:r>
              <a:rPr lang="zh-TW" altLang="en-US" sz="1400">
                <a:solidFill>
                  <a:srgbClr val="575757"/>
                </a:solidFill>
                <a:latin typeface="Trebuchet MS" panose="020B0603020202020204" pitchFamily="34" charset="0"/>
                <a:ea typeface="Microsoft YaHei" panose="020B0503020204020204" pitchFamily="34" charset="-122"/>
              </a:rPr>
              <a:t>，有效利用模型優勢帶動整體</a:t>
            </a:r>
            <a:r>
              <a:rPr lang="en-US" altLang="zh-TW" sz="1400">
                <a:solidFill>
                  <a:srgbClr val="575757"/>
                </a:solidFill>
                <a:latin typeface="Trebuchet MS" panose="020B0603020202020204" pitchFamily="34" charset="0"/>
                <a:ea typeface="Microsoft YaHei" panose="020B0503020204020204" pitchFamily="34" charset="-122"/>
              </a:rPr>
              <a:t>M</a:t>
            </a:r>
            <a:r>
              <a:rPr lang="zh-TW" altLang="en-US" sz="1400">
                <a:solidFill>
                  <a:srgbClr val="575757"/>
                </a:solidFill>
                <a:latin typeface="Trebuchet MS" panose="020B0603020202020204" pitchFamily="34" charset="0"/>
                <a:ea typeface="Microsoft YaHei" panose="020B0503020204020204" pitchFamily="34" charset="-122"/>
              </a:rPr>
              <a:t>客滲透</a:t>
            </a:r>
            <a:endParaRPr lang="en-US" altLang="zh-TW" sz="1400">
              <a:solidFill>
                <a:srgbClr val="575757"/>
              </a:solidFill>
              <a:latin typeface="Trebuchet MS" panose="020B0603020202020204" pitchFamily="34" charset="0"/>
              <a:ea typeface="Microsoft YaHei" panose="020B0503020204020204" pitchFamily="34" charset="-122"/>
            </a:endParaRPr>
          </a:p>
        </p:txBody>
      </p:sp>
      <p:sp>
        <p:nvSpPr>
          <p:cNvPr id="68" name="object 20">
            <a:extLst>
              <a:ext uri="{FF2B5EF4-FFF2-40B4-BE49-F238E27FC236}">
                <a16:creationId xmlns:a16="http://schemas.microsoft.com/office/drawing/2014/main" id="{002410E1-32CE-413B-494C-77D984036ED8}"/>
              </a:ext>
            </a:extLst>
          </p:cNvPr>
          <p:cNvSpPr txBox="1"/>
          <p:nvPr/>
        </p:nvSpPr>
        <p:spPr>
          <a:xfrm>
            <a:off x="4656448" y="2363093"/>
            <a:ext cx="3304731" cy="44307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0" tIns="12065" rIns="0" bIns="0" rtlCol="0">
            <a:spAutoFit/>
          </a:bodyPr>
          <a:lstStyle/>
          <a:p>
            <a:pPr marL="108000" lvl="1">
              <a:buClr>
                <a:schemeClr val="tx2"/>
              </a:buClr>
              <a:tabLst>
                <a:tab pos="227965" algn="l"/>
              </a:tabLst>
            </a:pPr>
            <a:r>
              <a:rPr lang="zh-TW" altLang="en-US" sz="1400" b="1" i="1">
                <a:solidFill>
                  <a:srgbClr val="A8B21C"/>
                </a:solidFill>
                <a:latin typeface="Microsoft YaHei" panose="020B0503020204020204" pitchFamily="34" charset="-122"/>
                <a:ea typeface="Microsoft YaHei" panose="020B0503020204020204" pitchFamily="34" charset="-122"/>
                <a:cs typeface="Microsoft GothicNeo" panose="020B0500000101010101" pitchFamily="34" charset="-127"/>
                <a:sym typeface="Microsoft YaHei" panose="020B0503020204020204" pitchFamily="34" charset="-122"/>
              </a:rPr>
              <a:t>收集靜態與動態變數，打造預測模型，並即時納入新資訊測試與修正</a:t>
            </a:r>
          </a:p>
        </p:txBody>
      </p:sp>
      <p:sp>
        <p:nvSpPr>
          <p:cNvPr id="69" name="object 20">
            <a:extLst>
              <a:ext uri="{FF2B5EF4-FFF2-40B4-BE49-F238E27FC236}">
                <a16:creationId xmlns:a16="http://schemas.microsoft.com/office/drawing/2014/main" id="{649326C4-7EF7-3725-1BFB-939A9A70DD33}"/>
              </a:ext>
            </a:extLst>
          </p:cNvPr>
          <p:cNvSpPr txBox="1"/>
          <p:nvPr/>
        </p:nvSpPr>
        <p:spPr>
          <a:xfrm>
            <a:off x="4741617" y="4567828"/>
            <a:ext cx="3162903" cy="443070"/>
          </a:xfrm>
          <a:prstGeom prst="rect">
            <a:avLst/>
          </a:prstGeom>
        </p:spPr>
        <p:txBody>
          <a:bodyPr vert="horz" wrap="square" lIns="0" tIns="12065" rIns="0" bIns="0" rtlCol="0">
            <a:spAutoFit/>
          </a:bodyPr>
          <a:lstStyle>
            <a:defPPr>
              <a:defRPr lang="en-US"/>
            </a:defPPr>
            <a:lvl1pPr indent="-349200">
              <a:buClr>
                <a:schemeClr val="tx2"/>
              </a:buClr>
              <a:defRPr sz="1400">
                <a:solidFill>
                  <a:srgbClr val="29BA74"/>
                </a:solidFill>
                <a:latin typeface="Trebuchet MS" panose="020B0603020202020204" pitchFamily="34" charset="0"/>
                <a:ea typeface="Microsoft YaHei" panose="020B0503020204020204" pitchFamily="34" charset="-122"/>
              </a:defRPr>
            </a:lvl1pPr>
          </a:lstStyle>
          <a:p>
            <a:r>
              <a:rPr lang="zh-TW" altLang="en-US">
                <a:solidFill>
                  <a:srgbClr val="E71C57"/>
                </a:solidFill>
              </a:rPr>
              <a:t>未考量動態</a:t>
            </a:r>
            <a:r>
              <a:rPr lang="en-US" altLang="zh-TW">
                <a:solidFill>
                  <a:srgbClr val="E71C57"/>
                </a:solidFill>
              </a:rPr>
              <a:t>(</a:t>
            </a:r>
            <a:r>
              <a:rPr lang="zh-TW" altLang="en-US">
                <a:solidFill>
                  <a:srgbClr val="E71C57"/>
                </a:solidFill>
              </a:rPr>
              <a:t>如：購買路徑</a:t>
            </a:r>
            <a:r>
              <a:rPr lang="en-US" altLang="zh-TW">
                <a:solidFill>
                  <a:srgbClr val="E71C57"/>
                </a:solidFill>
              </a:rPr>
              <a:t>)</a:t>
            </a:r>
            <a:r>
              <a:rPr lang="zh-TW" altLang="en-US">
                <a:solidFill>
                  <a:srgbClr val="E71C57"/>
                </a:solidFill>
              </a:rPr>
              <a:t>或非零售或行外數據</a:t>
            </a:r>
            <a:r>
              <a:rPr lang="zh-TW" altLang="en-US">
                <a:solidFill>
                  <a:srgbClr val="575757"/>
                </a:solidFill>
              </a:rPr>
              <a:t>；缺乏依成效回測並優化機制</a:t>
            </a:r>
            <a:endParaRPr lang="en-US" altLang="zh-TW">
              <a:solidFill>
                <a:srgbClr val="575757"/>
              </a:solidFill>
            </a:endParaRPr>
          </a:p>
        </p:txBody>
      </p:sp>
      <p:sp>
        <p:nvSpPr>
          <p:cNvPr id="70" name="object 20">
            <a:extLst>
              <a:ext uri="{FF2B5EF4-FFF2-40B4-BE49-F238E27FC236}">
                <a16:creationId xmlns:a16="http://schemas.microsoft.com/office/drawing/2014/main" id="{2B397DE5-4091-B988-F829-994FCA28E3BE}"/>
              </a:ext>
            </a:extLst>
          </p:cNvPr>
          <p:cNvSpPr txBox="1"/>
          <p:nvPr/>
        </p:nvSpPr>
        <p:spPr>
          <a:xfrm>
            <a:off x="4741617" y="5251886"/>
            <a:ext cx="3162903" cy="658514"/>
          </a:xfrm>
          <a:prstGeom prst="rect">
            <a:avLst/>
          </a:prstGeom>
        </p:spPr>
        <p:txBody>
          <a:bodyPr vert="horz" wrap="square" lIns="0" tIns="12065" rIns="0" bIns="0" rtlCol="0">
            <a:spAutoFit/>
          </a:bodyPr>
          <a:lstStyle/>
          <a:p>
            <a:pPr marL="324000" lvl="1" indent="-216000">
              <a:buClr>
                <a:schemeClr val="tx2"/>
              </a:buClr>
              <a:buFont typeface="Trebuchet MS" panose="020B0603020202020204" pitchFamily="34" charset="0"/>
              <a:buChar char="•"/>
            </a:pPr>
            <a:r>
              <a:rPr lang="zh-TW" altLang="en-US" sz="1400">
                <a:solidFill>
                  <a:srgbClr val="29BA74"/>
                </a:solidFill>
                <a:latin typeface="Trebuchet MS" panose="020B0603020202020204" pitchFamily="34" charset="0"/>
                <a:ea typeface="Microsoft YaHei" panose="020B0503020204020204" pitchFamily="34" charset="-122"/>
              </a:rPr>
              <a:t>豐富數據輸入</a:t>
            </a:r>
            <a:r>
              <a:rPr lang="zh-TW" altLang="en-US" sz="1400">
                <a:latin typeface="Trebuchet MS" panose="020B0603020202020204" pitchFamily="34" charset="0"/>
                <a:ea typeface="Microsoft YaHei" panose="020B0503020204020204" pitchFamily="34" charset="-122"/>
              </a:rPr>
              <a:t>，提升模型精準度</a:t>
            </a:r>
            <a:endParaRPr lang="en-US" altLang="zh-TW" sz="1400">
              <a:latin typeface="Trebuchet MS" panose="020B0603020202020204" pitchFamily="34" charset="0"/>
              <a:ea typeface="Microsoft YaHei" panose="020B0503020204020204" pitchFamily="34" charset="-122"/>
            </a:endParaRPr>
          </a:p>
          <a:p>
            <a:pPr marL="324000" lvl="1" indent="-216000">
              <a:buClr>
                <a:schemeClr val="tx2"/>
              </a:buClr>
              <a:buFont typeface="Trebuchet MS" panose="020B0603020202020204" pitchFamily="34" charset="0"/>
              <a:buChar char="•"/>
            </a:pPr>
            <a:r>
              <a:rPr lang="zh-TW" altLang="en-US" sz="1400">
                <a:latin typeface="Trebuchet MS" panose="020B0603020202020204" pitchFamily="34" charset="0"/>
                <a:ea typeface="Microsoft YaHei" panose="020B0503020204020204" pitchFamily="34" charset="-122"/>
              </a:rPr>
              <a:t>建立模型更新與調整機制</a:t>
            </a:r>
            <a:r>
              <a:rPr lang="en-US" altLang="zh-TW" sz="1400">
                <a:latin typeface="Trebuchet MS" panose="020B0603020202020204" pitchFamily="34" charset="0"/>
                <a:ea typeface="Microsoft YaHei" panose="020B0503020204020204" pitchFamily="34" charset="-122"/>
              </a:rPr>
              <a:t>, </a:t>
            </a:r>
            <a:r>
              <a:rPr lang="zh-TW" altLang="en-US" sz="1400">
                <a:latin typeface="Trebuchet MS" panose="020B0603020202020204" pitchFamily="34" charset="0"/>
                <a:ea typeface="Microsoft YaHei" panose="020B0503020204020204" pitchFamily="34" charset="-122"/>
              </a:rPr>
              <a:t>並</a:t>
            </a:r>
            <a:r>
              <a:rPr lang="zh-TW" altLang="en-US" sz="1400">
                <a:solidFill>
                  <a:srgbClr val="29BA74"/>
                </a:solidFill>
                <a:latin typeface="Trebuchet MS" panose="020B0603020202020204" pitchFamily="34" charset="0"/>
                <a:ea typeface="Microsoft YaHei" panose="020B0503020204020204" pitchFamily="34" charset="-122"/>
              </a:rPr>
              <a:t>將推送的成果納入模型調整考量</a:t>
            </a:r>
            <a:endParaRPr lang="en-US" altLang="zh-TW" sz="1400">
              <a:solidFill>
                <a:srgbClr val="29BA74"/>
              </a:solidFill>
              <a:latin typeface="Trebuchet MS" panose="020B0603020202020204" pitchFamily="34" charset="0"/>
              <a:ea typeface="Microsoft YaHei" panose="020B0503020204020204" pitchFamily="34" charset="-122"/>
            </a:endParaRPr>
          </a:p>
        </p:txBody>
      </p:sp>
      <p:sp>
        <p:nvSpPr>
          <p:cNvPr id="72" name="object 20">
            <a:extLst>
              <a:ext uri="{FF2B5EF4-FFF2-40B4-BE49-F238E27FC236}">
                <a16:creationId xmlns:a16="http://schemas.microsoft.com/office/drawing/2014/main" id="{498C6990-BBE8-355E-E659-BFA0AAF5AFAA}"/>
              </a:ext>
            </a:extLst>
          </p:cNvPr>
          <p:cNvSpPr txBox="1"/>
          <p:nvPr/>
        </p:nvSpPr>
        <p:spPr>
          <a:xfrm>
            <a:off x="8203834" y="2364046"/>
            <a:ext cx="3304731" cy="270589"/>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0" tIns="12065" rIns="0" bIns="0" rtlCol="0">
            <a:noAutofit/>
          </a:bodyPr>
          <a:lstStyle/>
          <a:p>
            <a:pPr marL="0" lvl="1" algn="ctr">
              <a:buClr>
                <a:schemeClr val="tx2"/>
              </a:buClr>
            </a:pPr>
            <a:r>
              <a:rPr lang="zh-TW" altLang="en-US" sz="1400" b="1" i="1">
                <a:solidFill>
                  <a:srgbClr val="A8B21C"/>
                </a:solidFill>
                <a:latin typeface="Microsoft YaHei" panose="020B0503020204020204" pitchFamily="34" charset="-122"/>
                <a:ea typeface="Microsoft YaHei" panose="020B0503020204020204" pitchFamily="34" charset="-122"/>
                <a:cs typeface="Microsoft GothicNeo" panose="020B0500000101010101" pitchFamily="34" charset="-127"/>
                <a:sym typeface="Trebuchet MS" panose="020B0603020202020204" pitchFamily="34" charset="0"/>
              </a:rPr>
              <a:t>識別潜力客戶名單，並提出對應推薦産品</a:t>
            </a:r>
            <a:endParaRPr lang="en-US" altLang="zh-TW" sz="1400" b="1" i="1">
              <a:solidFill>
                <a:srgbClr val="A8B21C"/>
              </a:solidFill>
              <a:latin typeface="Microsoft YaHei" panose="020B0503020204020204" pitchFamily="34" charset="-122"/>
              <a:ea typeface="Microsoft YaHei" panose="020B0503020204020204" pitchFamily="34" charset="-122"/>
              <a:cs typeface="Microsoft GothicNeo" panose="020B0500000101010101" pitchFamily="34" charset="-127"/>
              <a:sym typeface="Trebuchet MS" panose="020B0603020202020204" pitchFamily="34" charset="0"/>
            </a:endParaRPr>
          </a:p>
          <a:p>
            <a:pPr marL="0" lvl="1" algn="ctr">
              <a:buClr>
                <a:schemeClr val="tx2"/>
              </a:buClr>
            </a:pPr>
            <a:endParaRPr lang="en-US" altLang="zh-TW" sz="1400" b="1" i="1">
              <a:solidFill>
                <a:srgbClr val="A8B21C"/>
              </a:solidFill>
              <a:latin typeface="Microsoft YaHei" panose="020B0503020204020204" pitchFamily="34" charset="-122"/>
              <a:ea typeface="Microsoft YaHei" panose="020B0503020204020204" pitchFamily="34" charset="-122"/>
              <a:cs typeface="Microsoft GothicNeo" panose="020B0500000101010101" pitchFamily="34" charset="-127"/>
              <a:sym typeface="Trebuchet MS" panose="020B0603020202020204" pitchFamily="34" charset="0"/>
            </a:endParaRPr>
          </a:p>
          <a:p>
            <a:pPr marL="0" lvl="1" algn="ctr">
              <a:buClr>
                <a:schemeClr val="tx2"/>
              </a:buClr>
            </a:pPr>
            <a:endParaRPr lang="en-US" altLang="zh-TW" sz="1400" b="1" i="1">
              <a:solidFill>
                <a:srgbClr val="A8B21C"/>
              </a:solidFill>
              <a:latin typeface="Microsoft YaHei" panose="020B0503020204020204" pitchFamily="34" charset="-122"/>
              <a:ea typeface="Microsoft YaHei" panose="020B0503020204020204" pitchFamily="34" charset="-122"/>
              <a:cs typeface="Microsoft GothicNeo" panose="020B0500000101010101" pitchFamily="34" charset="-127"/>
              <a:sym typeface="Trebuchet MS" panose="020B0603020202020204" pitchFamily="34" charset="0"/>
            </a:endParaRPr>
          </a:p>
        </p:txBody>
      </p:sp>
      <p:sp>
        <p:nvSpPr>
          <p:cNvPr id="73" name="object 20">
            <a:extLst>
              <a:ext uri="{FF2B5EF4-FFF2-40B4-BE49-F238E27FC236}">
                <a16:creationId xmlns:a16="http://schemas.microsoft.com/office/drawing/2014/main" id="{4D424702-DA13-D84F-0865-E0A2127137F4}"/>
              </a:ext>
            </a:extLst>
          </p:cNvPr>
          <p:cNvSpPr txBox="1"/>
          <p:nvPr/>
        </p:nvSpPr>
        <p:spPr>
          <a:xfrm>
            <a:off x="8338700" y="4589372"/>
            <a:ext cx="3162903" cy="399981"/>
          </a:xfrm>
          <a:prstGeom prst="rect">
            <a:avLst/>
          </a:prstGeom>
        </p:spPr>
        <p:txBody>
          <a:bodyPr vert="horz" wrap="square" lIns="0" tIns="12065" rIns="0" bIns="0" rtlCol="0">
            <a:spAutoFit/>
          </a:bodyPr>
          <a:lstStyle/>
          <a:p>
            <a:pPr>
              <a:lnSpc>
                <a:spcPct val="90000"/>
              </a:lnSpc>
              <a:spcAft>
                <a:spcPts val="600"/>
              </a:spcAft>
            </a:pPr>
            <a:r>
              <a:rPr lang="zh-TW" altLang="en-US" sz="1400">
                <a:solidFill>
                  <a:srgbClr val="575757"/>
                </a:solidFill>
                <a:latin typeface="Trebuchet MS" panose="020B0603020202020204" pitchFamily="34" charset="0"/>
                <a:ea typeface="Microsoft YaHei" panose="020B0503020204020204" pitchFamily="34" charset="-122"/>
              </a:rPr>
              <a:t>模型主要功能爲識別潜在</a:t>
            </a:r>
            <a:r>
              <a:rPr lang="en-US" altLang="zh-TW" sz="1400">
                <a:solidFill>
                  <a:srgbClr val="575757"/>
                </a:solidFill>
                <a:latin typeface="Trebuchet MS" panose="020B0603020202020204" pitchFamily="34" charset="0"/>
                <a:ea typeface="Microsoft YaHei" panose="020B0503020204020204" pitchFamily="34" charset="-122"/>
              </a:rPr>
              <a:t>M</a:t>
            </a:r>
            <a:r>
              <a:rPr lang="zh-TW" altLang="en-US" sz="1400">
                <a:solidFill>
                  <a:srgbClr val="575757"/>
                </a:solidFill>
                <a:latin typeface="Trebuchet MS" panose="020B0603020202020204" pitchFamily="34" charset="0"/>
                <a:ea typeface="Microsoft YaHei" panose="020B0503020204020204" pitchFamily="34" charset="-122"/>
              </a:rPr>
              <a:t>升</a:t>
            </a:r>
            <a:r>
              <a:rPr lang="en-US" altLang="zh-TW" sz="1400">
                <a:solidFill>
                  <a:srgbClr val="575757"/>
                </a:solidFill>
                <a:latin typeface="Trebuchet MS" panose="020B0603020202020204" pitchFamily="34" charset="0"/>
                <a:ea typeface="Microsoft YaHei" panose="020B0503020204020204" pitchFamily="34" charset="-122"/>
              </a:rPr>
              <a:t>A</a:t>
            </a:r>
            <a:r>
              <a:rPr lang="zh-TW" altLang="en-US" sz="1400">
                <a:solidFill>
                  <a:srgbClr val="575757"/>
                </a:solidFill>
                <a:latin typeface="Trebuchet MS" panose="020B0603020202020204" pitchFamily="34" charset="0"/>
                <a:ea typeface="Microsoft YaHei" panose="020B0503020204020204" pitchFamily="34" charset="-122"/>
              </a:rPr>
              <a:t>客戶名單，</a:t>
            </a:r>
            <a:r>
              <a:rPr lang="zh-TW" altLang="en-US" sz="1400">
                <a:solidFill>
                  <a:srgbClr val="E71C57"/>
                </a:solidFill>
                <a:latin typeface="Trebuchet MS" panose="020B0603020202020204" pitchFamily="34" charset="0"/>
                <a:ea typeface="Microsoft YaHei" panose="020B0503020204020204" pitchFamily="34" charset="-122"/>
              </a:rPr>
              <a:t>尚未提供特定偏好產品建議</a:t>
            </a:r>
            <a:endParaRPr lang="en-US" altLang="zh-TW" sz="1400">
              <a:solidFill>
                <a:srgbClr val="E71C57"/>
              </a:solidFill>
              <a:latin typeface="Trebuchet MS" panose="020B0603020202020204" pitchFamily="34" charset="0"/>
              <a:ea typeface="Microsoft YaHei" panose="020B0503020204020204" pitchFamily="34" charset="-122"/>
            </a:endParaRPr>
          </a:p>
        </p:txBody>
      </p:sp>
      <p:sp>
        <p:nvSpPr>
          <p:cNvPr id="74" name="object 20">
            <a:extLst>
              <a:ext uri="{FF2B5EF4-FFF2-40B4-BE49-F238E27FC236}">
                <a16:creationId xmlns:a16="http://schemas.microsoft.com/office/drawing/2014/main" id="{29E50AF5-CC3B-FA47-B202-2670E134CFA9}"/>
              </a:ext>
            </a:extLst>
          </p:cNvPr>
          <p:cNvSpPr txBox="1"/>
          <p:nvPr/>
        </p:nvSpPr>
        <p:spPr>
          <a:xfrm>
            <a:off x="8338700" y="5251599"/>
            <a:ext cx="3162903" cy="1089401"/>
          </a:xfrm>
          <a:prstGeom prst="rect">
            <a:avLst/>
          </a:prstGeom>
        </p:spPr>
        <p:txBody>
          <a:bodyPr vert="horz" wrap="square" lIns="0" tIns="12065" rIns="0" bIns="0" rtlCol="0">
            <a:spAutoFit/>
          </a:bodyPr>
          <a:lstStyle/>
          <a:p>
            <a:pPr marL="324000" lvl="1" indent="-216000">
              <a:buClr>
                <a:schemeClr val="tx2"/>
              </a:buClr>
              <a:buFont typeface="Trebuchet MS" panose="020B0603020202020204" pitchFamily="34" charset="0"/>
              <a:buChar char="•"/>
            </a:pPr>
            <a:r>
              <a:rPr lang="zh-TW" altLang="en-US" sz="1400">
                <a:solidFill>
                  <a:srgbClr val="575757"/>
                </a:solidFill>
                <a:latin typeface="Trebuchet MS" panose="020B0603020202020204" pitchFamily="34" charset="0"/>
                <a:ea typeface="Microsoft YaHei" panose="020B0503020204020204" pitchFamily="34" charset="-122"/>
              </a:rPr>
              <a:t>分析</a:t>
            </a:r>
            <a:r>
              <a:rPr lang="zh-TW" altLang="en-US" sz="1400">
                <a:solidFill>
                  <a:srgbClr val="29BA74"/>
                </a:solidFill>
                <a:latin typeface="Trebuchet MS" panose="020B0603020202020204" pitchFamily="34" charset="0"/>
                <a:ea typeface="Microsoft YaHei" panose="020B0503020204020204" pitchFamily="34" charset="-122"/>
              </a:rPr>
              <a:t>客戶產品申購路徑</a:t>
            </a:r>
            <a:r>
              <a:rPr lang="zh-TW" altLang="en-US" sz="1400">
                <a:solidFill>
                  <a:srgbClr val="575757"/>
                </a:solidFill>
                <a:latin typeface="Trebuchet MS" panose="020B0603020202020204" pitchFamily="34" charset="0"/>
                <a:ea typeface="Microsoft YaHei" panose="020B0503020204020204" pitchFamily="34" charset="-122"/>
              </a:rPr>
              <a:t>，比對過去類似路徑客群，產生</a:t>
            </a:r>
            <a:r>
              <a:rPr lang="zh-TW" altLang="en-US" sz="1400">
                <a:solidFill>
                  <a:srgbClr val="29BA74"/>
                </a:solidFill>
                <a:latin typeface="Trebuchet MS" panose="020B0603020202020204" pitchFamily="34" charset="0"/>
                <a:ea typeface="Microsoft YaHei" panose="020B0503020204020204" pitchFamily="34" charset="-122"/>
              </a:rPr>
              <a:t>最佳產品建議</a:t>
            </a:r>
            <a:endParaRPr lang="en-US" altLang="zh-TW" sz="1400">
              <a:solidFill>
                <a:srgbClr val="29BA74"/>
              </a:solidFill>
              <a:latin typeface="Trebuchet MS" panose="020B0603020202020204" pitchFamily="34" charset="0"/>
              <a:ea typeface="Microsoft YaHei" panose="020B0503020204020204" pitchFamily="34" charset="-122"/>
            </a:endParaRPr>
          </a:p>
          <a:p>
            <a:pPr marL="324000" lvl="1" indent="-216000">
              <a:buClr>
                <a:schemeClr val="tx2"/>
              </a:buClr>
              <a:buFont typeface="Trebuchet MS" panose="020B0603020202020204" pitchFamily="34" charset="0"/>
              <a:buChar char="•"/>
            </a:pPr>
            <a:r>
              <a:rPr lang="zh-TW" altLang="en-US" sz="1400">
                <a:solidFill>
                  <a:srgbClr val="29BA74"/>
                </a:solidFill>
                <a:latin typeface="Trebuchet MS" panose="020B0603020202020204" pitchFamily="34" charset="0"/>
                <a:ea typeface="Microsoft YaHei" panose="020B0503020204020204" pitchFamily="34" charset="-122"/>
              </a:rPr>
              <a:t>擴大分析結果應用</a:t>
            </a:r>
            <a:r>
              <a:rPr lang="en-US" altLang="zh-TW" sz="1400">
                <a:solidFill>
                  <a:srgbClr val="575757"/>
                </a:solidFill>
                <a:latin typeface="Trebuchet MS" panose="020B0603020202020204" pitchFamily="34" charset="0"/>
                <a:ea typeface="Microsoft YaHei" panose="020B0503020204020204" pitchFamily="34" charset="-122"/>
              </a:rPr>
              <a:t>(</a:t>
            </a:r>
            <a:r>
              <a:rPr lang="zh-TW" altLang="en-US" sz="1400">
                <a:solidFill>
                  <a:srgbClr val="575757"/>
                </a:solidFill>
                <a:latin typeface="Trebuchet MS" panose="020B0603020202020204" pitchFamily="34" charset="0"/>
                <a:ea typeface="Microsoft YaHei" panose="020B0503020204020204" pitchFamily="34" charset="-122"/>
              </a:rPr>
              <a:t>如</a:t>
            </a:r>
            <a:r>
              <a:rPr lang="en-US" altLang="zh-TW" sz="1400">
                <a:solidFill>
                  <a:srgbClr val="575757"/>
                </a:solidFill>
                <a:latin typeface="Trebuchet MS" panose="020B0603020202020204" pitchFamily="34" charset="0"/>
                <a:ea typeface="Microsoft YaHei" panose="020B0503020204020204" pitchFamily="34" charset="-122"/>
              </a:rPr>
              <a:t>:</a:t>
            </a:r>
            <a:r>
              <a:rPr lang="zh-TW" altLang="en-US" sz="1400">
                <a:solidFill>
                  <a:srgbClr val="575757"/>
                </a:solidFill>
                <a:latin typeface="Trebuchet MS" panose="020B0603020202020204" pitchFamily="34" charset="0"/>
                <a:ea typeface="Microsoft YaHei" panose="020B0503020204020204" pitchFamily="34" charset="-122"/>
              </a:rPr>
              <a:t>線上數位經營推播</a:t>
            </a:r>
            <a:r>
              <a:rPr lang="en-US" altLang="zh-TW" sz="1400">
                <a:solidFill>
                  <a:srgbClr val="575757"/>
                </a:solidFill>
                <a:latin typeface="Trebuchet MS" panose="020B0603020202020204" pitchFamily="34" charset="0"/>
                <a:ea typeface="Microsoft YaHei" panose="020B0503020204020204" pitchFamily="34" charset="-122"/>
              </a:rPr>
              <a:t>)</a:t>
            </a:r>
            <a:r>
              <a:rPr lang="zh-TW" altLang="en-US" sz="1400">
                <a:solidFill>
                  <a:srgbClr val="575757"/>
                </a:solidFill>
                <a:latin typeface="Trebuchet MS" panose="020B0603020202020204" pitchFamily="34" charset="0"/>
                <a:ea typeface="Microsoft YaHei" panose="020B0503020204020204" pitchFamily="34" charset="-122"/>
              </a:rPr>
              <a:t>，不局限于理專</a:t>
            </a:r>
            <a:r>
              <a:rPr lang="en-US" altLang="zh-TW" sz="1400">
                <a:solidFill>
                  <a:srgbClr val="575757"/>
                </a:solidFill>
                <a:latin typeface="Trebuchet MS" panose="020B0603020202020204" pitchFamily="34" charset="0"/>
                <a:ea typeface="Microsoft YaHei" panose="020B0503020204020204" pitchFamily="34" charset="-122"/>
              </a:rPr>
              <a:t>/ PBO</a:t>
            </a:r>
            <a:r>
              <a:rPr lang="zh-TW" altLang="en-US" sz="1400">
                <a:solidFill>
                  <a:srgbClr val="575757"/>
                </a:solidFill>
                <a:latin typeface="Trebuchet MS" panose="020B0603020202020204" pitchFamily="34" charset="0"/>
                <a:ea typeface="Microsoft YaHei" panose="020B0503020204020204" pitchFamily="34" charset="-122"/>
              </a:rPr>
              <a:t>使用</a:t>
            </a:r>
            <a:endParaRPr lang="en-US" altLang="zh-TW" sz="1400">
              <a:solidFill>
                <a:srgbClr val="575757"/>
              </a:solidFill>
              <a:latin typeface="Trebuchet MS" panose="020B0603020202020204" pitchFamily="34" charset="0"/>
              <a:ea typeface="Microsoft YaHei" panose="020B0503020204020204" pitchFamily="34" charset="-122"/>
            </a:endParaRPr>
          </a:p>
          <a:p>
            <a:pPr indent="-349200">
              <a:buClr>
                <a:schemeClr val="tx2"/>
              </a:buClr>
            </a:pPr>
            <a:endParaRPr lang="en-US" altLang="zh-TW" sz="1400">
              <a:solidFill>
                <a:srgbClr val="29BA74"/>
              </a:solidFill>
              <a:latin typeface="Trebuchet MS" panose="020B0603020202020204" pitchFamily="34" charset="0"/>
              <a:ea typeface="Microsoft YaHei" panose="020B0503020204020204" pitchFamily="34" charset="-122"/>
            </a:endParaRPr>
          </a:p>
        </p:txBody>
      </p:sp>
      <p:cxnSp>
        <p:nvCxnSpPr>
          <p:cNvPr id="76" name="Straight Connector 75">
            <a:extLst>
              <a:ext uri="{FF2B5EF4-FFF2-40B4-BE49-F238E27FC236}">
                <a16:creationId xmlns:a16="http://schemas.microsoft.com/office/drawing/2014/main" id="{610B98DC-698D-C447-4A99-CDC6A80D3A44}"/>
              </a:ext>
            </a:extLst>
          </p:cNvPr>
          <p:cNvCxnSpPr/>
          <p:nvPr/>
        </p:nvCxnSpPr>
        <p:spPr>
          <a:xfrm>
            <a:off x="976305" y="4434025"/>
            <a:ext cx="10595255" cy="0"/>
          </a:xfrm>
          <a:prstGeom prst="line">
            <a:avLst/>
          </a:prstGeom>
          <a:ln w="9525" cap="rnd">
            <a:solidFill>
              <a:schemeClr val="tx1">
                <a:lumMod val="20000"/>
                <a:lumOff val="80000"/>
              </a:schemeClr>
            </a:solidFill>
            <a:prstDash val="sysDash"/>
            <a:round/>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E378A66A-0338-56A6-6EAC-6A25698DC091}"/>
              </a:ext>
            </a:extLst>
          </p:cNvPr>
          <p:cNvCxnSpPr/>
          <p:nvPr/>
        </p:nvCxnSpPr>
        <p:spPr>
          <a:xfrm>
            <a:off x="976305" y="5190169"/>
            <a:ext cx="10595255" cy="0"/>
          </a:xfrm>
          <a:prstGeom prst="line">
            <a:avLst/>
          </a:prstGeom>
          <a:ln w="9525" cap="rnd">
            <a:solidFill>
              <a:schemeClr val="tx1">
                <a:lumMod val="20000"/>
                <a:lumOff val="80000"/>
              </a:schemeClr>
            </a:solidFill>
            <a:prstDash val="sysDash"/>
            <a:round/>
          </a:ln>
        </p:spPr>
        <p:style>
          <a:lnRef idx="1">
            <a:schemeClr val="accent1"/>
          </a:lnRef>
          <a:fillRef idx="0">
            <a:schemeClr val="accent1"/>
          </a:fillRef>
          <a:effectRef idx="0">
            <a:schemeClr val="accent1"/>
          </a:effectRef>
          <a:fontRef idx="minor">
            <a:schemeClr val="tx1"/>
          </a:fontRef>
        </p:style>
      </p:cxnSp>
      <p:grpSp>
        <p:nvGrpSpPr>
          <p:cNvPr id="84" name="Group 83">
            <a:extLst>
              <a:ext uri="{FF2B5EF4-FFF2-40B4-BE49-F238E27FC236}">
                <a16:creationId xmlns:a16="http://schemas.microsoft.com/office/drawing/2014/main" id="{A0EEDCBF-9CD4-4692-DDF9-874CE16D83AE}"/>
              </a:ext>
            </a:extLst>
          </p:cNvPr>
          <p:cNvGrpSpPr>
            <a:grpSpLocks noChangeAspect="1"/>
          </p:cNvGrpSpPr>
          <p:nvPr/>
        </p:nvGrpSpPr>
        <p:grpSpPr>
          <a:xfrm>
            <a:off x="4581396" y="3753197"/>
            <a:ext cx="434152" cy="434152"/>
            <a:chOff x="5273675" y="2514600"/>
            <a:chExt cx="1646238" cy="1646238"/>
          </a:xfrm>
        </p:grpSpPr>
        <p:sp>
          <p:nvSpPr>
            <p:cNvPr id="85" name="AutoShape 23">
              <a:extLst>
                <a:ext uri="{FF2B5EF4-FFF2-40B4-BE49-F238E27FC236}">
                  <a16:creationId xmlns:a16="http://schemas.microsoft.com/office/drawing/2014/main" id="{BED7AD7E-B72D-F1FE-4C93-37B96FE82D15}"/>
                </a:ext>
              </a:extLst>
            </p:cNvPr>
            <p:cNvSpPr>
              <a:spLocks noChangeAspect="1" noChangeArrowheads="1" noTextEdit="1"/>
            </p:cNvSpPr>
            <p:nvPr/>
          </p:nvSpPr>
          <p:spPr bwMode="auto">
            <a:xfrm>
              <a:off x="5273675" y="2514600"/>
              <a:ext cx="1646238" cy="1646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86" name="Group 85">
              <a:extLst>
                <a:ext uri="{FF2B5EF4-FFF2-40B4-BE49-F238E27FC236}">
                  <a16:creationId xmlns:a16="http://schemas.microsoft.com/office/drawing/2014/main" id="{66C9C950-A41C-2B8F-3D4E-6649A7286DD1}"/>
                </a:ext>
              </a:extLst>
            </p:cNvPr>
            <p:cNvGrpSpPr/>
            <p:nvPr/>
          </p:nvGrpSpPr>
          <p:grpSpPr>
            <a:xfrm>
              <a:off x="5334714" y="2797174"/>
              <a:ext cx="1514633" cy="1085850"/>
              <a:chOff x="5334714" y="2797174"/>
              <a:chExt cx="1514633" cy="1085850"/>
            </a:xfrm>
          </p:grpSpPr>
          <p:sp>
            <p:nvSpPr>
              <p:cNvPr id="87" name="Freeform 5">
                <a:extLst>
                  <a:ext uri="{FF2B5EF4-FFF2-40B4-BE49-F238E27FC236}">
                    <a16:creationId xmlns:a16="http://schemas.microsoft.com/office/drawing/2014/main" id="{91E7F37F-C7EC-467E-ED3D-C0E035CAE2A2}"/>
                  </a:ext>
                </a:extLst>
              </p:cNvPr>
              <p:cNvSpPr>
                <a:spLocks/>
              </p:cNvSpPr>
              <p:nvPr/>
            </p:nvSpPr>
            <p:spPr bwMode="auto">
              <a:xfrm>
                <a:off x="5334714" y="2797174"/>
                <a:ext cx="1514633" cy="1085850"/>
              </a:xfrm>
              <a:custGeom>
                <a:avLst/>
                <a:gdLst>
                  <a:gd name="connsiteX0" fmla="*/ 964541 w 1514633"/>
                  <a:gd name="connsiteY0" fmla="*/ 881063 h 1085850"/>
                  <a:gd name="connsiteX1" fmla="*/ 1498896 w 1514633"/>
                  <a:gd name="connsiteY1" fmla="*/ 881063 h 1085850"/>
                  <a:gd name="connsiteX2" fmla="*/ 1511773 w 1514633"/>
                  <a:gd name="connsiteY2" fmla="*/ 887505 h 1085850"/>
                  <a:gd name="connsiteX3" fmla="*/ 1513919 w 1514633"/>
                  <a:gd name="connsiteY3" fmla="*/ 901820 h 1085850"/>
                  <a:gd name="connsiteX4" fmla="*/ 1485305 w 1514633"/>
                  <a:gd name="connsiteY4" fmla="*/ 993436 h 1085850"/>
                  <a:gd name="connsiteX5" fmla="*/ 1470283 w 1514633"/>
                  <a:gd name="connsiteY5" fmla="*/ 1004888 h 1085850"/>
                  <a:gd name="connsiteX6" fmla="*/ 805736 w 1514633"/>
                  <a:gd name="connsiteY6" fmla="*/ 1004888 h 1085850"/>
                  <a:gd name="connsiteX7" fmla="*/ 805736 w 1514633"/>
                  <a:gd name="connsiteY7" fmla="*/ 972679 h 1085850"/>
                  <a:gd name="connsiteX8" fmla="*/ 1458838 w 1514633"/>
                  <a:gd name="connsiteY8" fmla="*/ 972679 h 1085850"/>
                  <a:gd name="connsiteX9" fmla="*/ 1477436 w 1514633"/>
                  <a:gd name="connsiteY9" fmla="*/ 912556 h 1085850"/>
                  <a:gd name="connsiteX10" fmla="*/ 980278 w 1514633"/>
                  <a:gd name="connsiteY10" fmla="*/ 912556 h 1085850"/>
                  <a:gd name="connsiteX11" fmla="*/ 980278 w 1514633"/>
                  <a:gd name="connsiteY11" fmla="*/ 924008 h 1085850"/>
                  <a:gd name="connsiteX12" fmla="*/ 964541 w 1514633"/>
                  <a:gd name="connsiteY12" fmla="*/ 939755 h 1085850"/>
                  <a:gd name="connsiteX13" fmla="*/ 805736 w 1514633"/>
                  <a:gd name="connsiteY13" fmla="*/ 939755 h 1085850"/>
                  <a:gd name="connsiteX14" fmla="*/ 805736 w 1514633"/>
                  <a:gd name="connsiteY14" fmla="*/ 908262 h 1085850"/>
                  <a:gd name="connsiteX15" fmla="*/ 948803 w 1514633"/>
                  <a:gd name="connsiteY15" fmla="*/ 908262 h 1085850"/>
                  <a:gd name="connsiteX16" fmla="*/ 948803 w 1514633"/>
                  <a:gd name="connsiteY16" fmla="*/ 896810 h 1085850"/>
                  <a:gd name="connsiteX17" fmla="*/ 964541 w 1514633"/>
                  <a:gd name="connsiteY17" fmla="*/ 881063 h 1085850"/>
                  <a:gd name="connsiteX18" fmla="*/ 15726 w 1514633"/>
                  <a:gd name="connsiteY18" fmla="*/ 881063 h 1085850"/>
                  <a:gd name="connsiteX19" fmla="*/ 549662 w 1514633"/>
                  <a:gd name="connsiteY19" fmla="*/ 881063 h 1085850"/>
                  <a:gd name="connsiteX20" fmla="*/ 565387 w 1514633"/>
                  <a:gd name="connsiteY20" fmla="*/ 896810 h 1085850"/>
                  <a:gd name="connsiteX21" fmla="*/ 565387 w 1514633"/>
                  <a:gd name="connsiteY21" fmla="*/ 908262 h 1085850"/>
                  <a:gd name="connsiteX22" fmla="*/ 710486 w 1514633"/>
                  <a:gd name="connsiteY22" fmla="*/ 908262 h 1085850"/>
                  <a:gd name="connsiteX23" fmla="*/ 710486 w 1514633"/>
                  <a:gd name="connsiteY23" fmla="*/ 939755 h 1085850"/>
                  <a:gd name="connsiteX24" fmla="*/ 549662 w 1514633"/>
                  <a:gd name="connsiteY24" fmla="*/ 939755 h 1085850"/>
                  <a:gd name="connsiteX25" fmla="*/ 533937 w 1514633"/>
                  <a:gd name="connsiteY25" fmla="*/ 924008 h 1085850"/>
                  <a:gd name="connsiteX26" fmla="*/ 533937 w 1514633"/>
                  <a:gd name="connsiteY26" fmla="*/ 912556 h 1085850"/>
                  <a:gd name="connsiteX27" fmla="*/ 37169 w 1514633"/>
                  <a:gd name="connsiteY27" fmla="*/ 912556 h 1085850"/>
                  <a:gd name="connsiteX28" fmla="*/ 55753 w 1514633"/>
                  <a:gd name="connsiteY28" fmla="*/ 972679 h 1085850"/>
                  <a:gd name="connsiteX29" fmla="*/ 710486 w 1514633"/>
                  <a:gd name="connsiteY29" fmla="*/ 972679 h 1085850"/>
                  <a:gd name="connsiteX30" fmla="*/ 710486 w 1514633"/>
                  <a:gd name="connsiteY30" fmla="*/ 1004888 h 1085850"/>
                  <a:gd name="connsiteX31" fmla="*/ 44317 w 1514633"/>
                  <a:gd name="connsiteY31" fmla="*/ 1004888 h 1085850"/>
                  <a:gd name="connsiteX32" fmla="*/ 29307 w 1514633"/>
                  <a:gd name="connsiteY32" fmla="*/ 993436 h 1085850"/>
                  <a:gd name="connsiteX33" fmla="*/ 716 w 1514633"/>
                  <a:gd name="connsiteY33" fmla="*/ 901820 h 1085850"/>
                  <a:gd name="connsiteX34" fmla="*/ 2860 w 1514633"/>
                  <a:gd name="connsiteY34" fmla="*/ 887505 h 1085850"/>
                  <a:gd name="connsiteX35" fmla="*/ 15726 w 1514633"/>
                  <a:gd name="connsiteY35" fmla="*/ 881063 h 1085850"/>
                  <a:gd name="connsiteX36" fmla="*/ 808595 w 1514633"/>
                  <a:gd name="connsiteY36" fmla="*/ 80963 h 1085850"/>
                  <a:gd name="connsiteX37" fmla="*/ 1399614 w 1514633"/>
                  <a:gd name="connsiteY37" fmla="*/ 80963 h 1085850"/>
                  <a:gd name="connsiteX38" fmla="*/ 1415336 w 1514633"/>
                  <a:gd name="connsiteY38" fmla="*/ 96658 h 1085850"/>
                  <a:gd name="connsiteX39" fmla="*/ 1412478 w 1514633"/>
                  <a:gd name="connsiteY39" fmla="*/ 833618 h 1085850"/>
                  <a:gd name="connsiteX40" fmla="*/ 1396755 w 1514633"/>
                  <a:gd name="connsiteY40" fmla="*/ 849313 h 1085850"/>
                  <a:gd name="connsiteX41" fmla="*/ 805736 w 1514633"/>
                  <a:gd name="connsiteY41" fmla="*/ 849313 h 1085850"/>
                  <a:gd name="connsiteX42" fmla="*/ 805736 w 1514633"/>
                  <a:gd name="connsiteY42" fmla="*/ 817923 h 1085850"/>
                  <a:gd name="connsiteX43" fmla="*/ 1381033 w 1514633"/>
                  <a:gd name="connsiteY43" fmla="*/ 817923 h 1085850"/>
                  <a:gd name="connsiteX44" fmla="*/ 1383891 w 1514633"/>
                  <a:gd name="connsiteY44" fmla="*/ 112353 h 1085850"/>
                  <a:gd name="connsiteX45" fmla="*/ 808595 w 1514633"/>
                  <a:gd name="connsiteY45" fmla="*/ 112353 h 1085850"/>
                  <a:gd name="connsiteX46" fmla="*/ 808595 w 1514633"/>
                  <a:gd name="connsiteY46" fmla="*/ 80963 h 1085850"/>
                  <a:gd name="connsiteX47" fmla="*/ 121038 w 1514633"/>
                  <a:gd name="connsiteY47" fmla="*/ 80963 h 1085850"/>
                  <a:gd name="connsiteX48" fmla="*/ 609345 w 1514633"/>
                  <a:gd name="connsiteY48" fmla="*/ 80963 h 1085850"/>
                  <a:gd name="connsiteX49" fmla="*/ 712074 w 1514633"/>
                  <a:gd name="connsiteY49" fmla="*/ 80963 h 1085850"/>
                  <a:gd name="connsiteX50" fmla="*/ 713662 w 1514633"/>
                  <a:gd name="connsiteY50" fmla="*/ 80963 h 1085850"/>
                  <a:gd name="connsiteX51" fmla="*/ 713662 w 1514633"/>
                  <a:gd name="connsiteY51" fmla="*/ 94206 h 1085850"/>
                  <a:gd name="connsiteX52" fmla="*/ 713662 w 1514633"/>
                  <a:gd name="connsiteY52" fmla="*/ 111126 h 1085850"/>
                  <a:gd name="connsiteX53" fmla="*/ 713662 w 1514633"/>
                  <a:gd name="connsiteY53" fmla="*/ 112353 h 1085850"/>
                  <a:gd name="connsiteX54" fmla="*/ 136746 w 1514633"/>
                  <a:gd name="connsiteY54" fmla="*/ 112353 h 1085850"/>
                  <a:gd name="connsiteX55" fmla="*/ 133890 w 1514633"/>
                  <a:gd name="connsiteY55" fmla="*/ 817923 h 1085850"/>
                  <a:gd name="connsiteX56" fmla="*/ 710806 w 1514633"/>
                  <a:gd name="connsiteY56" fmla="*/ 817923 h 1085850"/>
                  <a:gd name="connsiteX57" fmla="*/ 710806 w 1514633"/>
                  <a:gd name="connsiteY57" fmla="*/ 849313 h 1085850"/>
                  <a:gd name="connsiteX58" fmla="*/ 118182 w 1514633"/>
                  <a:gd name="connsiteY58" fmla="*/ 849313 h 1085850"/>
                  <a:gd name="connsiteX59" fmla="*/ 102474 w 1514633"/>
                  <a:gd name="connsiteY59" fmla="*/ 833618 h 1085850"/>
                  <a:gd name="connsiteX60" fmla="*/ 105330 w 1514633"/>
                  <a:gd name="connsiteY60" fmla="*/ 96658 h 1085850"/>
                  <a:gd name="connsiteX61" fmla="*/ 121038 w 1514633"/>
                  <a:gd name="connsiteY61" fmla="*/ 80963 h 1085850"/>
                  <a:gd name="connsiteX62" fmla="*/ 759256 w 1514633"/>
                  <a:gd name="connsiteY62" fmla="*/ 0 h 1085850"/>
                  <a:gd name="connsiteX63" fmla="*/ 773987 w 1514633"/>
                  <a:gd name="connsiteY63" fmla="*/ 15706 h 1085850"/>
                  <a:gd name="connsiteX64" fmla="*/ 773987 w 1514633"/>
                  <a:gd name="connsiteY64" fmla="*/ 1070144 h 1085850"/>
                  <a:gd name="connsiteX65" fmla="*/ 759256 w 1514633"/>
                  <a:gd name="connsiteY65" fmla="*/ 1085850 h 1085850"/>
                  <a:gd name="connsiteX66" fmla="*/ 743824 w 1514633"/>
                  <a:gd name="connsiteY66" fmla="*/ 1070144 h 1085850"/>
                  <a:gd name="connsiteX67" fmla="*/ 743824 w 1514633"/>
                  <a:gd name="connsiteY67" fmla="*/ 15706 h 1085850"/>
                  <a:gd name="connsiteX68" fmla="*/ 759256 w 1514633"/>
                  <a:gd name="connsiteY68" fmla="*/ 0 h 1085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514633" h="1085850">
                    <a:moveTo>
                      <a:pt x="964541" y="881063"/>
                    </a:moveTo>
                    <a:cubicBezTo>
                      <a:pt x="964541" y="881063"/>
                      <a:pt x="964541" y="881063"/>
                      <a:pt x="1498896" y="881063"/>
                    </a:cubicBezTo>
                    <a:cubicBezTo>
                      <a:pt x="1503904" y="881063"/>
                      <a:pt x="1508196" y="883926"/>
                      <a:pt x="1511773" y="887505"/>
                    </a:cubicBezTo>
                    <a:cubicBezTo>
                      <a:pt x="1514634" y="891799"/>
                      <a:pt x="1515349" y="896810"/>
                      <a:pt x="1513919" y="901820"/>
                    </a:cubicBezTo>
                    <a:cubicBezTo>
                      <a:pt x="1513919" y="901820"/>
                      <a:pt x="1513919" y="901820"/>
                      <a:pt x="1485305" y="993436"/>
                    </a:cubicBezTo>
                    <a:cubicBezTo>
                      <a:pt x="1483159" y="1000594"/>
                      <a:pt x="1476721" y="1004888"/>
                      <a:pt x="1470283" y="1004888"/>
                    </a:cubicBezTo>
                    <a:cubicBezTo>
                      <a:pt x="1470283" y="1004888"/>
                      <a:pt x="1470283" y="1004888"/>
                      <a:pt x="805736" y="1004888"/>
                    </a:cubicBezTo>
                    <a:cubicBezTo>
                      <a:pt x="805736" y="1004888"/>
                      <a:pt x="805736" y="1004888"/>
                      <a:pt x="805736" y="972679"/>
                    </a:cubicBezTo>
                    <a:cubicBezTo>
                      <a:pt x="805736" y="972679"/>
                      <a:pt x="805736" y="972679"/>
                      <a:pt x="1458838" y="972679"/>
                    </a:cubicBezTo>
                    <a:cubicBezTo>
                      <a:pt x="1458838" y="972679"/>
                      <a:pt x="1458838" y="972679"/>
                      <a:pt x="1477436" y="912556"/>
                    </a:cubicBezTo>
                    <a:cubicBezTo>
                      <a:pt x="1477436" y="912556"/>
                      <a:pt x="1477436" y="912556"/>
                      <a:pt x="980278" y="912556"/>
                    </a:cubicBezTo>
                    <a:cubicBezTo>
                      <a:pt x="980278" y="912556"/>
                      <a:pt x="980278" y="912556"/>
                      <a:pt x="980278" y="924008"/>
                    </a:cubicBezTo>
                    <a:cubicBezTo>
                      <a:pt x="980278" y="932597"/>
                      <a:pt x="973125" y="939755"/>
                      <a:pt x="964541" y="939755"/>
                    </a:cubicBezTo>
                    <a:cubicBezTo>
                      <a:pt x="964541" y="939755"/>
                      <a:pt x="964541" y="939755"/>
                      <a:pt x="805736" y="939755"/>
                    </a:cubicBezTo>
                    <a:cubicBezTo>
                      <a:pt x="805736" y="939755"/>
                      <a:pt x="805736" y="939755"/>
                      <a:pt x="805736" y="908262"/>
                    </a:cubicBezTo>
                    <a:cubicBezTo>
                      <a:pt x="805736" y="908262"/>
                      <a:pt x="805736" y="908262"/>
                      <a:pt x="948803" y="908262"/>
                    </a:cubicBezTo>
                    <a:cubicBezTo>
                      <a:pt x="948803" y="908262"/>
                      <a:pt x="948803" y="908262"/>
                      <a:pt x="948803" y="896810"/>
                    </a:cubicBezTo>
                    <a:cubicBezTo>
                      <a:pt x="948803" y="888221"/>
                      <a:pt x="955957" y="881063"/>
                      <a:pt x="964541" y="881063"/>
                    </a:cubicBezTo>
                    <a:close/>
                    <a:moveTo>
                      <a:pt x="15726" y="881063"/>
                    </a:moveTo>
                    <a:cubicBezTo>
                      <a:pt x="15726" y="881063"/>
                      <a:pt x="15726" y="881063"/>
                      <a:pt x="549662" y="881063"/>
                    </a:cubicBezTo>
                    <a:cubicBezTo>
                      <a:pt x="558239" y="881063"/>
                      <a:pt x="565387" y="888221"/>
                      <a:pt x="565387" y="896810"/>
                    </a:cubicBezTo>
                    <a:cubicBezTo>
                      <a:pt x="565387" y="896810"/>
                      <a:pt x="565387" y="896810"/>
                      <a:pt x="565387" y="908262"/>
                    </a:cubicBezTo>
                    <a:cubicBezTo>
                      <a:pt x="565387" y="908262"/>
                      <a:pt x="565387" y="908262"/>
                      <a:pt x="710486" y="908262"/>
                    </a:cubicBezTo>
                    <a:cubicBezTo>
                      <a:pt x="710486" y="908262"/>
                      <a:pt x="710486" y="908262"/>
                      <a:pt x="710486" y="939755"/>
                    </a:cubicBezTo>
                    <a:cubicBezTo>
                      <a:pt x="710486" y="939755"/>
                      <a:pt x="710486" y="939755"/>
                      <a:pt x="549662" y="939755"/>
                    </a:cubicBezTo>
                    <a:cubicBezTo>
                      <a:pt x="541085" y="939755"/>
                      <a:pt x="533937" y="932597"/>
                      <a:pt x="533937" y="924008"/>
                    </a:cubicBezTo>
                    <a:cubicBezTo>
                      <a:pt x="533937" y="924008"/>
                      <a:pt x="533937" y="924008"/>
                      <a:pt x="533937" y="912556"/>
                    </a:cubicBezTo>
                    <a:cubicBezTo>
                      <a:pt x="533937" y="912556"/>
                      <a:pt x="533937" y="912556"/>
                      <a:pt x="37169" y="912556"/>
                    </a:cubicBezTo>
                    <a:cubicBezTo>
                      <a:pt x="37169" y="912556"/>
                      <a:pt x="37169" y="912556"/>
                      <a:pt x="55753" y="972679"/>
                    </a:cubicBezTo>
                    <a:cubicBezTo>
                      <a:pt x="55753" y="972679"/>
                      <a:pt x="55753" y="972679"/>
                      <a:pt x="710486" y="972679"/>
                    </a:cubicBezTo>
                    <a:cubicBezTo>
                      <a:pt x="710486" y="972679"/>
                      <a:pt x="710486" y="972679"/>
                      <a:pt x="710486" y="1004888"/>
                    </a:cubicBezTo>
                    <a:cubicBezTo>
                      <a:pt x="710486" y="1004888"/>
                      <a:pt x="710486" y="1004888"/>
                      <a:pt x="44317" y="1004888"/>
                    </a:cubicBezTo>
                    <a:cubicBezTo>
                      <a:pt x="37884" y="1004888"/>
                      <a:pt x="31451" y="1000594"/>
                      <a:pt x="29307" y="993436"/>
                    </a:cubicBezTo>
                    <a:cubicBezTo>
                      <a:pt x="29307" y="993436"/>
                      <a:pt x="29307" y="993436"/>
                      <a:pt x="716" y="901820"/>
                    </a:cubicBezTo>
                    <a:cubicBezTo>
                      <a:pt x="-714" y="896810"/>
                      <a:pt x="1" y="891799"/>
                      <a:pt x="2860" y="887505"/>
                    </a:cubicBezTo>
                    <a:cubicBezTo>
                      <a:pt x="6434" y="883926"/>
                      <a:pt x="10723" y="881063"/>
                      <a:pt x="15726" y="881063"/>
                    </a:cubicBezTo>
                    <a:close/>
                    <a:moveTo>
                      <a:pt x="808595" y="80963"/>
                    </a:moveTo>
                    <a:cubicBezTo>
                      <a:pt x="808595" y="80963"/>
                      <a:pt x="808595" y="80963"/>
                      <a:pt x="1399614" y="80963"/>
                    </a:cubicBezTo>
                    <a:cubicBezTo>
                      <a:pt x="1408190" y="80963"/>
                      <a:pt x="1415336" y="88097"/>
                      <a:pt x="1415336" y="96658"/>
                    </a:cubicBezTo>
                    <a:cubicBezTo>
                      <a:pt x="1415336" y="96658"/>
                      <a:pt x="1415336" y="96658"/>
                      <a:pt x="1412478" y="833618"/>
                    </a:cubicBezTo>
                    <a:cubicBezTo>
                      <a:pt x="1412478" y="842179"/>
                      <a:pt x="1405331" y="849313"/>
                      <a:pt x="1396755" y="849313"/>
                    </a:cubicBezTo>
                    <a:cubicBezTo>
                      <a:pt x="1396755" y="849313"/>
                      <a:pt x="1396755" y="849313"/>
                      <a:pt x="805736" y="849313"/>
                    </a:cubicBezTo>
                    <a:cubicBezTo>
                      <a:pt x="805736" y="849313"/>
                      <a:pt x="805736" y="849313"/>
                      <a:pt x="805736" y="817923"/>
                    </a:cubicBezTo>
                    <a:cubicBezTo>
                      <a:pt x="805736" y="817923"/>
                      <a:pt x="805736" y="817923"/>
                      <a:pt x="1381033" y="817923"/>
                    </a:cubicBezTo>
                    <a:cubicBezTo>
                      <a:pt x="1381033" y="817923"/>
                      <a:pt x="1381033" y="817923"/>
                      <a:pt x="1383891" y="112353"/>
                    </a:cubicBezTo>
                    <a:cubicBezTo>
                      <a:pt x="1383891" y="112353"/>
                      <a:pt x="1383891" y="112353"/>
                      <a:pt x="808595" y="112353"/>
                    </a:cubicBezTo>
                    <a:cubicBezTo>
                      <a:pt x="808595" y="112353"/>
                      <a:pt x="808595" y="112353"/>
                      <a:pt x="808595" y="80963"/>
                    </a:cubicBezTo>
                    <a:close/>
                    <a:moveTo>
                      <a:pt x="121038" y="80963"/>
                    </a:moveTo>
                    <a:cubicBezTo>
                      <a:pt x="121038" y="80963"/>
                      <a:pt x="121038" y="80963"/>
                      <a:pt x="609345" y="80963"/>
                    </a:cubicBezTo>
                    <a:lnTo>
                      <a:pt x="712074" y="80963"/>
                    </a:lnTo>
                    <a:lnTo>
                      <a:pt x="713662" y="80963"/>
                    </a:lnTo>
                    <a:cubicBezTo>
                      <a:pt x="713662" y="80963"/>
                      <a:pt x="713662" y="80963"/>
                      <a:pt x="713662" y="94206"/>
                    </a:cubicBezTo>
                    <a:lnTo>
                      <a:pt x="713662" y="111126"/>
                    </a:lnTo>
                    <a:lnTo>
                      <a:pt x="713662" y="112353"/>
                    </a:lnTo>
                    <a:cubicBezTo>
                      <a:pt x="713662" y="112353"/>
                      <a:pt x="713662" y="112353"/>
                      <a:pt x="136746" y="112353"/>
                    </a:cubicBezTo>
                    <a:cubicBezTo>
                      <a:pt x="136746" y="112353"/>
                      <a:pt x="136746" y="112353"/>
                      <a:pt x="133890" y="817923"/>
                    </a:cubicBezTo>
                    <a:cubicBezTo>
                      <a:pt x="133890" y="817923"/>
                      <a:pt x="133890" y="817923"/>
                      <a:pt x="710806" y="817923"/>
                    </a:cubicBezTo>
                    <a:cubicBezTo>
                      <a:pt x="710806" y="817923"/>
                      <a:pt x="710806" y="817923"/>
                      <a:pt x="710806" y="849313"/>
                    </a:cubicBezTo>
                    <a:cubicBezTo>
                      <a:pt x="710806" y="849313"/>
                      <a:pt x="710806" y="849313"/>
                      <a:pt x="118182" y="849313"/>
                    </a:cubicBezTo>
                    <a:cubicBezTo>
                      <a:pt x="109614" y="849313"/>
                      <a:pt x="102474" y="842179"/>
                      <a:pt x="102474" y="833618"/>
                    </a:cubicBezTo>
                    <a:cubicBezTo>
                      <a:pt x="102474" y="833618"/>
                      <a:pt x="102474" y="833618"/>
                      <a:pt x="105330" y="96658"/>
                    </a:cubicBezTo>
                    <a:cubicBezTo>
                      <a:pt x="105330" y="88097"/>
                      <a:pt x="112470" y="80963"/>
                      <a:pt x="121038" y="80963"/>
                    </a:cubicBezTo>
                    <a:close/>
                    <a:moveTo>
                      <a:pt x="759256" y="0"/>
                    </a:moveTo>
                    <a:cubicBezTo>
                      <a:pt x="766973" y="0"/>
                      <a:pt x="773987" y="7139"/>
                      <a:pt x="773987" y="15706"/>
                    </a:cubicBezTo>
                    <a:cubicBezTo>
                      <a:pt x="773987" y="1070144"/>
                      <a:pt x="773987" y="1070144"/>
                      <a:pt x="773987" y="1070144"/>
                    </a:cubicBezTo>
                    <a:cubicBezTo>
                      <a:pt x="773987" y="1078711"/>
                      <a:pt x="766973" y="1085850"/>
                      <a:pt x="759256" y="1085850"/>
                    </a:cubicBezTo>
                    <a:cubicBezTo>
                      <a:pt x="750137" y="1085850"/>
                      <a:pt x="743824" y="1078711"/>
                      <a:pt x="743824" y="1070144"/>
                    </a:cubicBezTo>
                    <a:cubicBezTo>
                      <a:pt x="743824" y="15706"/>
                      <a:pt x="743824" y="15706"/>
                      <a:pt x="743824" y="15706"/>
                    </a:cubicBezTo>
                    <a:cubicBezTo>
                      <a:pt x="743824" y="7139"/>
                      <a:pt x="750137" y="0"/>
                      <a:pt x="759256"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ea typeface="Microsoft YaHei" panose="020B0503020204020204" pitchFamily="34" charset="-122"/>
                </a:endParaRPr>
              </a:p>
            </p:txBody>
          </p:sp>
          <p:sp>
            <p:nvSpPr>
              <p:cNvPr id="88" name="Freeform 6">
                <a:extLst>
                  <a:ext uri="{FF2B5EF4-FFF2-40B4-BE49-F238E27FC236}">
                    <a16:creationId xmlns:a16="http://schemas.microsoft.com/office/drawing/2014/main" id="{6D72DB45-C244-0573-A39A-A2A266EE0B77}"/>
                  </a:ext>
                </a:extLst>
              </p:cNvPr>
              <p:cNvSpPr>
                <a:spLocks/>
              </p:cNvSpPr>
              <p:nvPr/>
            </p:nvSpPr>
            <p:spPr bwMode="auto">
              <a:xfrm>
                <a:off x="5500687" y="2938463"/>
                <a:ext cx="1185862" cy="646113"/>
              </a:xfrm>
              <a:custGeom>
                <a:avLst/>
                <a:gdLst>
                  <a:gd name="connsiteX0" fmla="*/ 898496 w 1185862"/>
                  <a:gd name="connsiteY0" fmla="*/ 312737 h 646113"/>
                  <a:gd name="connsiteX1" fmla="*/ 960016 w 1185862"/>
                  <a:gd name="connsiteY1" fmla="*/ 327739 h 646113"/>
                  <a:gd name="connsiteX2" fmla="*/ 977900 w 1185862"/>
                  <a:gd name="connsiteY2" fmla="*/ 374888 h 646113"/>
                  <a:gd name="connsiteX3" fmla="*/ 959301 w 1185862"/>
                  <a:gd name="connsiteY3" fmla="*/ 425609 h 646113"/>
                  <a:gd name="connsiteX4" fmla="*/ 897780 w 1185862"/>
                  <a:gd name="connsiteY4" fmla="*/ 441325 h 646113"/>
                  <a:gd name="connsiteX5" fmla="*/ 862012 w 1185862"/>
                  <a:gd name="connsiteY5" fmla="*/ 439182 h 646113"/>
                  <a:gd name="connsiteX6" fmla="*/ 862012 w 1185862"/>
                  <a:gd name="connsiteY6" fmla="*/ 314166 h 646113"/>
                  <a:gd name="connsiteX7" fmla="*/ 898496 w 1185862"/>
                  <a:gd name="connsiteY7" fmla="*/ 312737 h 646113"/>
                  <a:gd name="connsiteX8" fmla="*/ 277813 w 1185862"/>
                  <a:gd name="connsiteY8" fmla="*/ 230187 h 646113"/>
                  <a:gd name="connsiteX9" fmla="*/ 323850 w 1185862"/>
                  <a:gd name="connsiteY9" fmla="*/ 374650 h 646113"/>
                  <a:gd name="connsiteX10" fmla="*/ 227012 w 1185862"/>
                  <a:gd name="connsiteY10" fmla="*/ 374650 h 646113"/>
                  <a:gd name="connsiteX11" fmla="*/ 902244 w 1185862"/>
                  <a:gd name="connsiteY11" fmla="*/ 182562 h 646113"/>
                  <a:gd name="connsiteX12" fmla="*/ 960437 w 1185862"/>
                  <a:gd name="connsiteY12" fmla="*/ 228542 h 646113"/>
                  <a:gd name="connsiteX13" fmla="*/ 897215 w 1185862"/>
                  <a:gd name="connsiteY13" fmla="*/ 280987 h 646113"/>
                  <a:gd name="connsiteX14" fmla="*/ 862012 w 1185862"/>
                  <a:gd name="connsiteY14" fmla="*/ 279550 h 646113"/>
                  <a:gd name="connsiteX15" fmla="*/ 862012 w 1185862"/>
                  <a:gd name="connsiteY15" fmla="*/ 183999 h 646113"/>
                  <a:gd name="connsiteX16" fmla="*/ 902244 w 1185862"/>
                  <a:gd name="connsiteY16" fmla="*/ 182562 h 646113"/>
                  <a:gd name="connsiteX17" fmla="*/ 903739 w 1185862"/>
                  <a:gd name="connsiteY17" fmla="*/ 146050 h 646113"/>
                  <a:gd name="connsiteX18" fmla="*/ 817562 w 1185862"/>
                  <a:gd name="connsiteY18" fmla="*/ 148903 h 646113"/>
                  <a:gd name="connsiteX19" fmla="*/ 817562 w 1185862"/>
                  <a:gd name="connsiteY19" fmla="*/ 476250 h 646113"/>
                  <a:gd name="connsiteX20" fmla="*/ 910861 w 1185862"/>
                  <a:gd name="connsiteY20" fmla="*/ 476250 h 646113"/>
                  <a:gd name="connsiteX21" fmla="*/ 993476 w 1185862"/>
                  <a:gd name="connsiteY21" fmla="*/ 450576 h 646113"/>
                  <a:gd name="connsiteX22" fmla="*/ 1025525 w 1185862"/>
                  <a:gd name="connsiteY22" fmla="*/ 381398 h 646113"/>
                  <a:gd name="connsiteX23" fmla="*/ 1007720 w 1185862"/>
                  <a:gd name="connsiteY23" fmla="*/ 322918 h 646113"/>
                  <a:gd name="connsiteX24" fmla="*/ 950744 w 1185862"/>
                  <a:gd name="connsiteY24" fmla="*/ 291538 h 646113"/>
                  <a:gd name="connsiteX25" fmla="*/ 988491 w 1185862"/>
                  <a:gd name="connsiteY25" fmla="*/ 268003 h 646113"/>
                  <a:gd name="connsiteX26" fmla="*/ 1005584 w 1185862"/>
                  <a:gd name="connsiteY26" fmla="*/ 226639 h 646113"/>
                  <a:gd name="connsiteX27" fmla="*/ 978520 w 1185862"/>
                  <a:gd name="connsiteY27" fmla="*/ 166732 h 646113"/>
                  <a:gd name="connsiteX28" fmla="*/ 903739 w 1185862"/>
                  <a:gd name="connsiteY28" fmla="*/ 146050 h 646113"/>
                  <a:gd name="connsiteX29" fmla="*/ 274004 w 1185862"/>
                  <a:gd name="connsiteY29" fmla="*/ 144462 h 646113"/>
                  <a:gd name="connsiteX30" fmla="*/ 141287 w 1185862"/>
                  <a:gd name="connsiteY30" fmla="*/ 476250 h 646113"/>
                  <a:gd name="connsiteX31" fmla="*/ 191234 w 1185862"/>
                  <a:gd name="connsiteY31" fmla="*/ 476250 h 646113"/>
                  <a:gd name="connsiteX32" fmla="*/ 215495 w 1185862"/>
                  <a:gd name="connsiteY32" fmla="*/ 407038 h 646113"/>
                  <a:gd name="connsiteX33" fmla="*/ 336795 w 1185862"/>
                  <a:gd name="connsiteY33" fmla="*/ 407038 h 646113"/>
                  <a:gd name="connsiteX34" fmla="*/ 359628 w 1185862"/>
                  <a:gd name="connsiteY34" fmla="*/ 476250 h 646113"/>
                  <a:gd name="connsiteX35" fmla="*/ 409575 w 1185862"/>
                  <a:gd name="connsiteY35" fmla="*/ 476250 h 646113"/>
                  <a:gd name="connsiteX36" fmla="*/ 286134 w 1185862"/>
                  <a:gd name="connsiteY36" fmla="*/ 144462 h 646113"/>
                  <a:gd name="connsiteX37" fmla="*/ 274004 w 1185862"/>
                  <a:gd name="connsiteY37" fmla="*/ 144462 h 646113"/>
                  <a:gd name="connsiteX38" fmla="*/ 642621 w 1185862"/>
                  <a:gd name="connsiteY38" fmla="*/ 0 h 646113"/>
                  <a:gd name="connsiteX39" fmla="*/ 1178714 w 1185862"/>
                  <a:gd name="connsiteY39" fmla="*/ 0 h 646113"/>
                  <a:gd name="connsiteX40" fmla="*/ 1185862 w 1185862"/>
                  <a:gd name="connsiteY40" fmla="*/ 7139 h 646113"/>
                  <a:gd name="connsiteX41" fmla="*/ 1183003 w 1185862"/>
                  <a:gd name="connsiteY41" fmla="*/ 638974 h 646113"/>
                  <a:gd name="connsiteX42" fmla="*/ 1175855 w 1185862"/>
                  <a:gd name="connsiteY42" fmla="*/ 646113 h 646113"/>
                  <a:gd name="connsiteX43" fmla="*/ 639762 w 1185862"/>
                  <a:gd name="connsiteY43" fmla="*/ 646113 h 646113"/>
                  <a:gd name="connsiteX44" fmla="*/ 642621 w 1185862"/>
                  <a:gd name="connsiteY44" fmla="*/ 0 h 646113"/>
                  <a:gd name="connsiteX45" fmla="*/ 10013 w 1185862"/>
                  <a:gd name="connsiteY45" fmla="*/ 0 h 646113"/>
                  <a:gd name="connsiteX46" fmla="*/ 549275 w 1185862"/>
                  <a:gd name="connsiteY46" fmla="*/ 0 h 646113"/>
                  <a:gd name="connsiteX47" fmla="*/ 546414 w 1185862"/>
                  <a:gd name="connsiteY47" fmla="*/ 646113 h 646113"/>
                  <a:gd name="connsiteX48" fmla="*/ 7152 w 1185862"/>
                  <a:gd name="connsiteY48" fmla="*/ 646113 h 646113"/>
                  <a:gd name="connsiteX49" fmla="*/ 0 w 1185862"/>
                  <a:gd name="connsiteY49" fmla="*/ 638974 h 646113"/>
                  <a:gd name="connsiteX50" fmla="*/ 2861 w 1185862"/>
                  <a:gd name="connsiteY50" fmla="*/ 7139 h 646113"/>
                  <a:gd name="connsiteX51" fmla="*/ 10013 w 1185862"/>
                  <a:gd name="connsiteY51" fmla="*/ 0 h 646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185862" h="646113">
                    <a:moveTo>
                      <a:pt x="898496" y="312737"/>
                    </a:moveTo>
                    <a:cubicBezTo>
                      <a:pt x="927110" y="312737"/>
                      <a:pt x="947855" y="317738"/>
                      <a:pt x="960016" y="327739"/>
                    </a:cubicBezTo>
                    <a:cubicBezTo>
                      <a:pt x="972177" y="338455"/>
                      <a:pt x="977900" y="354171"/>
                      <a:pt x="977900" y="374888"/>
                    </a:cubicBezTo>
                    <a:cubicBezTo>
                      <a:pt x="977900" y="398462"/>
                      <a:pt x="972177" y="414893"/>
                      <a:pt x="959301" y="425609"/>
                    </a:cubicBezTo>
                    <a:cubicBezTo>
                      <a:pt x="946424" y="436324"/>
                      <a:pt x="925679" y="441325"/>
                      <a:pt x="897780" y="441325"/>
                    </a:cubicBezTo>
                    <a:cubicBezTo>
                      <a:pt x="889196" y="441325"/>
                      <a:pt x="877750" y="440611"/>
                      <a:pt x="862012" y="439182"/>
                    </a:cubicBezTo>
                    <a:cubicBezTo>
                      <a:pt x="862012" y="314166"/>
                      <a:pt x="862012" y="314166"/>
                      <a:pt x="862012" y="314166"/>
                    </a:cubicBezTo>
                    <a:cubicBezTo>
                      <a:pt x="898496" y="312737"/>
                      <a:pt x="898496" y="312737"/>
                      <a:pt x="898496" y="312737"/>
                    </a:cubicBezTo>
                    <a:close/>
                    <a:moveTo>
                      <a:pt x="277813" y="230187"/>
                    </a:moveTo>
                    <a:lnTo>
                      <a:pt x="323850" y="374650"/>
                    </a:lnTo>
                    <a:lnTo>
                      <a:pt x="227012" y="374650"/>
                    </a:lnTo>
                    <a:close/>
                    <a:moveTo>
                      <a:pt x="902244" y="182562"/>
                    </a:moveTo>
                    <a:cubicBezTo>
                      <a:pt x="941040" y="182562"/>
                      <a:pt x="960437" y="197649"/>
                      <a:pt x="960437" y="228542"/>
                    </a:cubicBezTo>
                    <a:cubicBezTo>
                      <a:pt x="960437" y="263745"/>
                      <a:pt x="938884" y="280987"/>
                      <a:pt x="897215" y="280987"/>
                    </a:cubicBezTo>
                    <a:cubicBezTo>
                      <a:pt x="883565" y="280987"/>
                      <a:pt x="871352" y="280269"/>
                      <a:pt x="862012" y="279550"/>
                    </a:cubicBezTo>
                    <a:cubicBezTo>
                      <a:pt x="862012" y="183999"/>
                      <a:pt x="862012" y="183999"/>
                      <a:pt x="862012" y="183999"/>
                    </a:cubicBezTo>
                    <a:cubicBezTo>
                      <a:pt x="874226" y="183281"/>
                      <a:pt x="887157" y="182562"/>
                      <a:pt x="902244" y="182562"/>
                    </a:cubicBezTo>
                    <a:close/>
                    <a:moveTo>
                      <a:pt x="903739" y="146050"/>
                    </a:moveTo>
                    <a:cubicBezTo>
                      <a:pt x="885934" y="146050"/>
                      <a:pt x="857446" y="146763"/>
                      <a:pt x="817562" y="148903"/>
                    </a:cubicBezTo>
                    <a:cubicBezTo>
                      <a:pt x="817562" y="148903"/>
                      <a:pt x="817562" y="148903"/>
                      <a:pt x="817562" y="476250"/>
                    </a:cubicBezTo>
                    <a:cubicBezTo>
                      <a:pt x="817562" y="476250"/>
                      <a:pt x="817562" y="476250"/>
                      <a:pt x="910861" y="476250"/>
                    </a:cubicBezTo>
                    <a:cubicBezTo>
                      <a:pt x="945046" y="476250"/>
                      <a:pt x="972822" y="467692"/>
                      <a:pt x="993476" y="450576"/>
                    </a:cubicBezTo>
                    <a:cubicBezTo>
                      <a:pt x="1014842" y="433460"/>
                      <a:pt x="1025525" y="410638"/>
                      <a:pt x="1025525" y="381398"/>
                    </a:cubicBezTo>
                    <a:cubicBezTo>
                      <a:pt x="1025525" y="357150"/>
                      <a:pt x="1019115" y="337181"/>
                      <a:pt x="1007720" y="322918"/>
                    </a:cubicBezTo>
                    <a:cubicBezTo>
                      <a:pt x="995613" y="307941"/>
                      <a:pt x="977096" y="297956"/>
                      <a:pt x="950744" y="291538"/>
                    </a:cubicBezTo>
                    <a:cubicBezTo>
                      <a:pt x="964276" y="288685"/>
                      <a:pt x="977096" y="280840"/>
                      <a:pt x="988491" y="268003"/>
                    </a:cubicBezTo>
                    <a:cubicBezTo>
                      <a:pt x="999886" y="255879"/>
                      <a:pt x="1005584" y="241616"/>
                      <a:pt x="1005584" y="226639"/>
                    </a:cubicBezTo>
                    <a:cubicBezTo>
                      <a:pt x="1005584" y="200965"/>
                      <a:pt x="996325" y="180996"/>
                      <a:pt x="978520" y="166732"/>
                    </a:cubicBezTo>
                    <a:cubicBezTo>
                      <a:pt x="960715" y="153182"/>
                      <a:pt x="935788" y="146050"/>
                      <a:pt x="903739" y="146050"/>
                    </a:cubicBezTo>
                    <a:close/>
                    <a:moveTo>
                      <a:pt x="274004" y="144462"/>
                    </a:moveTo>
                    <a:cubicBezTo>
                      <a:pt x="274004" y="144462"/>
                      <a:pt x="274004" y="144462"/>
                      <a:pt x="141287" y="476250"/>
                    </a:cubicBezTo>
                    <a:cubicBezTo>
                      <a:pt x="141287" y="476250"/>
                      <a:pt x="141287" y="476250"/>
                      <a:pt x="191234" y="476250"/>
                    </a:cubicBezTo>
                    <a:cubicBezTo>
                      <a:pt x="191234" y="476250"/>
                      <a:pt x="191234" y="476250"/>
                      <a:pt x="215495" y="407038"/>
                    </a:cubicBezTo>
                    <a:cubicBezTo>
                      <a:pt x="215495" y="407038"/>
                      <a:pt x="215495" y="407038"/>
                      <a:pt x="336795" y="407038"/>
                    </a:cubicBezTo>
                    <a:cubicBezTo>
                      <a:pt x="336795" y="407038"/>
                      <a:pt x="336795" y="407038"/>
                      <a:pt x="359628" y="476250"/>
                    </a:cubicBezTo>
                    <a:cubicBezTo>
                      <a:pt x="359628" y="476250"/>
                      <a:pt x="359628" y="476250"/>
                      <a:pt x="409575" y="476250"/>
                    </a:cubicBezTo>
                    <a:cubicBezTo>
                      <a:pt x="409575" y="476250"/>
                      <a:pt x="409575" y="476250"/>
                      <a:pt x="286134" y="144462"/>
                    </a:cubicBezTo>
                    <a:cubicBezTo>
                      <a:pt x="286134" y="144462"/>
                      <a:pt x="286134" y="144462"/>
                      <a:pt x="274004" y="144462"/>
                    </a:cubicBezTo>
                    <a:close/>
                    <a:moveTo>
                      <a:pt x="642621" y="0"/>
                    </a:moveTo>
                    <a:cubicBezTo>
                      <a:pt x="642621" y="0"/>
                      <a:pt x="642621" y="0"/>
                      <a:pt x="1178714" y="0"/>
                    </a:cubicBezTo>
                    <a:cubicBezTo>
                      <a:pt x="1183003" y="0"/>
                      <a:pt x="1185862" y="2856"/>
                      <a:pt x="1185862" y="7139"/>
                    </a:cubicBezTo>
                    <a:cubicBezTo>
                      <a:pt x="1185862" y="7139"/>
                      <a:pt x="1185862" y="7139"/>
                      <a:pt x="1183003" y="638974"/>
                    </a:cubicBezTo>
                    <a:cubicBezTo>
                      <a:pt x="1183003" y="643257"/>
                      <a:pt x="1180144" y="646113"/>
                      <a:pt x="1175855" y="646113"/>
                    </a:cubicBezTo>
                    <a:cubicBezTo>
                      <a:pt x="1175855" y="646113"/>
                      <a:pt x="1175855" y="646113"/>
                      <a:pt x="639762" y="646113"/>
                    </a:cubicBezTo>
                    <a:cubicBezTo>
                      <a:pt x="639762" y="646113"/>
                      <a:pt x="639762" y="646113"/>
                      <a:pt x="642621" y="0"/>
                    </a:cubicBezTo>
                    <a:close/>
                    <a:moveTo>
                      <a:pt x="10013" y="0"/>
                    </a:moveTo>
                    <a:cubicBezTo>
                      <a:pt x="10013" y="0"/>
                      <a:pt x="10013" y="0"/>
                      <a:pt x="549275" y="0"/>
                    </a:cubicBezTo>
                    <a:cubicBezTo>
                      <a:pt x="549275" y="0"/>
                      <a:pt x="549275" y="0"/>
                      <a:pt x="546414" y="646113"/>
                    </a:cubicBezTo>
                    <a:cubicBezTo>
                      <a:pt x="546414" y="646113"/>
                      <a:pt x="546414" y="646113"/>
                      <a:pt x="7152" y="646113"/>
                    </a:cubicBezTo>
                    <a:cubicBezTo>
                      <a:pt x="2861" y="646113"/>
                      <a:pt x="0" y="643257"/>
                      <a:pt x="0" y="638974"/>
                    </a:cubicBezTo>
                    <a:cubicBezTo>
                      <a:pt x="0" y="638974"/>
                      <a:pt x="0" y="638974"/>
                      <a:pt x="2861" y="7139"/>
                    </a:cubicBezTo>
                    <a:cubicBezTo>
                      <a:pt x="2861" y="2856"/>
                      <a:pt x="5722" y="0"/>
                      <a:pt x="10013"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ea typeface="Microsoft YaHei" panose="020B0503020204020204" pitchFamily="34" charset="-122"/>
                </a:endParaRPr>
              </a:p>
            </p:txBody>
          </p:sp>
        </p:grpSp>
      </p:grpSp>
      <p:grpSp>
        <p:nvGrpSpPr>
          <p:cNvPr id="91" name="Group 90">
            <a:extLst>
              <a:ext uri="{FF2B5EF4-FFF2-40B4-BE49-F238E27FC236}">
                <a16:creationId xmlns:a16="http://schemas.microsoft.com/office/drawing/2014/main" id="{B1E075A5-E6DF-6D68-FD17-AFA5A80BAB06}"/>
              </a:ext>
            </a:extLst>
          </p:cNvPr>
          <p:cNvGrpSpPr>
            <a:grpSpLocks noChangeAspect="1"/>
          </p:cNvGrpSpPr>
          <p:nvPr/>
        </p:nvGrpSpPr>
        <p:grpSpPr>
          <a:xfrm>
            <a:off x="4591351" y="3063440"/>
            <a:ext cx="442659" cy="443070"/>
            <a:chOff x="5273801" y="2606040"/>
            <a:chExt cx="1644396" cy="1645920"/>
          </a:xfrm>
        </p:grpSpPr>
        <p:sp>
          <p:nvSpPr>
            <p:cNvPr id="92" name="AutoShape 23">
              <a:extLst>
                <a:ext uri="{FF2B5EF4-FFF2-40B4-BE49-F238E27FC236}">
                  <a16:creationId xmlns:a16="http://schemas.microsoft.com/office/drawing/2014/main" id="{63425310-D9C6-9D83-CF8C-2662BAD1256A}"/>
                </a:ext>
              </a:extLst>
            </p:cNvPr>
            <p:cNvSpPr>
              <a:spLocks noChangeAspect="1" noChangeArrowheads="1" noTextEdit="1"/>
            </p:cNvSpPr>
            <p:nvPr/>
          </p:nvSpPr>
          <p:spPr bwMode="auto">
            <a:xfrm>
              <a:off x="5273801" y="2606040"/>
              <a:ext cx="1644396" cy="1645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93" name="Group 92">
              <a:extLst>
                <a:ext uri="{FF2B5EF4-FFF2-40B4-BE49-F238E27FC236}">
                  <a16:creationId xmlns:a16="http://schemas.microsoft.com/office/drawing/2014/main" id="{15CDF507-5027-725B-7E92-CEAE69FE8C12}"/>
                </a:ext>
              </a:extLst>
            </p:cNvPr>
            <p:cNvGrpSpPr/>
            <p:nvPr/>
          </p:nvGrpSpPr>
          <p:grpSpPr>
            <a:xfrm>
              <a:off x="5343905" y="2928366"/>
              <a:ext cx="1505712" cy="995553"/>
              <a:chOff x="5343905" y="2928366"/>
              <a:chExt cx="1505712" cy="995553"/>
            </a:xfrm>
          </p:grpSpPr>
          <p:sp>
            <p:nvSpPr>
              <p:cNvPr id="94" name="Freeform 25">
                <a:extLst>
                  <a:ext uri="{FF2B5EF4-FFF2-40B4-BE49-F238E27FC236}">
                    <a16:creationId xmlns:a16="http://schemas.microsoft.com/office/drawing/2014/main" id="{3D7E2CF4-6AD9-B1FC-5B20-F1BDDDA06AE4}"/>
                  </a:ext>
                </a:extLst>
              </p:cNvPr>
              <p:cNvSpPr>
                <a:spLocks noEditPoints="1"/>
              </p:cNvSpPr>
              <p:nvPr/>
            </p:nvSpPr>
            <p:spPr bwMode="auto">
              <a:xfrm>
                <a:off x="5696330" y="2928366"/>
                <a:ext cx="1153287" cy="654177"/>
              </a:xfrm>
              <a:custGeom>
                <a:avLst/>
                <a:gdLst>
                  <a:gd name="T0" fmla="*/ 1610 w 1616"/>
                  <a:gd name="T1" fmla="*/ 362 h 916"/>
                  <a:gd name="T2" fmla="*/ 1552 w 1616"/>
                  <a:gd name="T3" fmla="*/ 327 h 916"/>
                  <a:gd name="T4" fmla="*/ 1530 w 1616"/>
                  <a:gd name="T5" fmla="*/ 261 h 916"/>
                  <a:gd name="T6" fmla="*/ 1495 w 1616"/>
                  <a:gd name="T7" fmla="*/ 196 h 916"/>
                  <a:gd name="T8" fmla="*/ 1508 w 1616"/>
                  <a:gd name="T9" fmla="*/ 130 h 916"/>
                  <a:gd name="T10" fmla="*/ 1369 w 1616"/>
                  <a:gd name="T11" fmla="*/ 28 h 916"/>
                  <a:gd name="T12" fmla="*/ 1309 w 1616"/>
                  <a:gd name="T13" fmla="*/ 62 h 916"/>
                  <a:gd name="T14" fmla="*/ 1178 w 1616"/>
                  <a:gd name="T15" fmla="*/ 47 h 916"/>
                  <a:gd name="T16" fmla="*/ 1127 w 1616"/>
                  <a:gd name="T17" fmla="*/ 0 h 916"/>
                  <a:gd name="T18" fmla="*/ 1043 w 1616"/>
                  <a:gd name="T19" fmla="*/ 26 h 916"/>
                  <a:gd name="T20" fmla="*/ 967 w 1616"/>
                  <a:gd name="T21" fmla="*/ 69 h 916"/>
                  <a:gd name="T22" fmla="*/ 967 w 1616"/>
                  <a:gd name="T23" fmla="*/ 140 h 916"/>
                  <a:gd name="T24" fmla="*/ 886 w 1616"/>
                  <a:gd name="T25" fmla="*/ 246 h 916"/>
                  <a:gd name="T26" fmla="*/ 821 w 1616"/>
                  <a:gd name="T27" fmla="*/ 267 h 916"/>
                  <a:gd name="T28" fmla="*/ 798 w 1616"/>
                  <a:gd name="T29" fmla="*/ 441 h 916"/>
                  <a:gd name="T30" fmla="*/ 856 w 1616"/>
                  <a:gd name="T31" fmla="*/ 475 h 916"/>
                  <a:gd name="T32" fmla="*/ 879 w 1616"/>
                  <a:gd name="T33" fmla="*/ 546 h 916"/>
                  <a:gd name="T34" fmla="*/ 912 w 1616"/>
                  <a:gd name="T35" fmla="*/ 607 h 916"/>
                  <a:gd name="T36" fmla="*/ 896 w 1616"/>
                  <a:gd name="T37" fmla="*/ 673 h 916"/>
                  <a:gd name="T38" fmla="*/ 1031 w 1616"/>
                  <a:gd name="T39" fmla="*/ 777 h 916"/>
                  <a:gd name="T40" fmla="*/ 1089 w 1616"/>
                  <a:gd name="T41" fmla="*/ 743 h 916"/>
                  <a:gd name="T42" fmla="*/ 1236 w 1616"/>
                  <a:gd name="T43" fmla="*/ 762 h 916"/>
                  <a:gd name="T44" fmla="*/ 1287 w 1616"/>
                  <a:gd name="T45" fmla="*/ 808 h 916"/>
                  <a:gd name="T46" fmla="*/ 1366 w 1616"/>
                  <a:gd name="T47" fmla="*/ 783 h 916"/>
                  <a:gd name="T48" fmla="*/ 1440 w 1616"/>
                  <a:gd name="T49" fmla="*/ 741 h 916"/>
                  <a:gd name="T50" fmla="*/ 1440 w 1616"/>
                  <a:gd name="T51" fmla="*/ 673 h 916"/>
                  <a:gd name="T52" fmla="*/ 1528 w 1616"/>
                  <a:gd name="T53" fmla="*/ 552 h 916"/>
                  <a:gd name="T54" fmla="*/ 1591 w 1616"/>
                  <a:gd name="T55" fmla="*/ 532 h 916"/>
                  <a:gd name="T56" fmla="*/ 1610 w 1616"/>
                  <a:gd name="T57" fmla="*/ 362 h 916"/>
                  <a:gd name="T58" fmla="*/ 1276 w 1616"/>
                  <a:gd name="T59" fmla="*/ 569 h 916"/>
                  <a:gd name="T60" fmla="*/ 1041 w 1616"/>
                  <a:gd name="T61" fmla="*/ 475 h 916"/>
                  <a:gd name="T62" fmla="*/ 1133 w 1616"/>
                  <a:gd name="T63" fmla="*/ 239 h 916"/>
                  <a:gd name="T64" fmla="*/ 1367 w 1616"/>
                  <a:gd name="T65" fmla="*/ 333 h 916"/>
                  <a:gd name="T66" fmla="*/ 1276 w 1616"/>
                  <a:gd name="T67" fmla="*/ 569 h 916"/>
                  <a:gd name="T68" fmla="*/ 187 w 1616"/>
                  <a:gd name="T69" fmla="*/ 916 h 916"/>
                  <a:gd name="T70" fmla="*/ 0 w 1616"/>
                  <a:gd name="T71" fmla="*/ 729 h 916"/>
                  <a:gd name="T72" fmla="*/ 187 w 1616"/>
                  <a:gd name="T73" fmla="*/ 541 h 916"/>
                  <a:gd name="T74" fmla="*/ 375 w 1616"/>
                  <a:gd name="T75" fmla="*/ 729 h 916"/>
                  <a:gd name="T76" fmla="*/ 187 w 1616"/>
                  <a:gd name="T77" fmla="*/ 916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16" h="916">
                    <a:moveTo>
                      <a:pt x="1610" y="362"/>
                    </a:moveTo>
                    <a:cubicBezTo>
                      <a:pt x="1552" y="327"/>
                      <a:pt x="1552" y="327"/>
                      <a:pt x="1552" y="327"/>
                    </a:cubicBezTo>
                    <a:cubicBezTo>
                      <a:pt x="1547" y="305"/>
                      <a:pt x="1539" y="283"/>
                      <a:pt x="1530" y="261"/>
                    </a:cubicBezTo>
                    <a:cubicBezTo>
                      <a:pt x="1521" y="239"/>
                      <a:pt x="1508" y="217"/>
                      <a:pt x="1495" y="196"/>
                    </a:cubicBezTo>
                    <a:cubicBezTo>
                      <a:pt x="1508" y="130"/>
                      <a:pt x="1508" y="130"/>
                      <a:pt x="1508" y="130"/>
                    </a:cubicBezTo>
                    <a:cubicBezTo>
                      <a:pt x="1470" y="87"/>
                      <a:pt x="1421" y="51"/>
                      <a:pt x="1369" y="28"/>
                    </a:cubicBezTo>
                    <a:cubicBezTo>
                      <a:pt x="1309" y="62"/>
                      <a:pt x="1309" y="62"/>
                      <a:pt x="1309" y="62"/>
                    </a:cubicBezTo>
                    <a:cubicBezTo>
                      <a:pt x="1266" y="48"/>
                      <a:pt x="1223" y="43"/>
                      <a:pt x="1178" y="47"/>
                    </a:cubicBezTo>
                    <a:cubicBezTo>
                      <a:pt x="1127" y="0"/>
                      <a:pt x="1127" y="0"/>
                      <a:pt x="1127" y="0"/>
                    </a:cubicBezTo>
                    <a:cubicBezTo>
                      <a:pt x="1099" y="6"/>
                      <a:pt x="1071" y="13"/>
                      <a:pt x="1043" y="26"/>
                    </a:cubicBezTo>
                    <a:cubicBezTo>
                      <a:pt x="1016" y="38"/>
                      <a:pt x="989" y="53"/>
                      <a:pt x="967" y="69"/>
                    </a:cubicBezTo>
                    <a:cubicBezTo>
                      <a:pt x="967" y="140"/>
                      <a:pt x="967" y="140"/>
                      <a:pt x="967" y="140"/>
                    </a:cubicBezTo>
                    <a:cubicBezTo>
                      <a:pt x="933" y="171"/>
                      <a:pt x="905" y="206"/>
                      <a:pt x="886" y="246"/>
                    </a:cubicBezTo>
                    <a:cubicBezTo>
                      <a:pt x="821" y="267"/>
                      <a:pt x="821" y="267"/>
                      <a:pt x="821" y="267"/>
                    </a:cubicBezTo>
                    <a:cubicBezTo>
                      <a:pt x="801" y="321"/>
                      <a:pt x="794" y="380"/>
                      <a:pt x="798" y="441"/>
                    </a:cubicBezTo>
                    <a:cubicBezTo>
                      <a:pt x="856" y="475"/>
                      <a:pt x="856" y="475"/>
                      <a:pt x="856" y="475"/>
                    </a:cubicBezTo>
                    <a:cubicBezTo>
                      <a:pt x="861" y="498"/>
                      <a:pt x="868" y="523"/>
                      <a:pt x="879" y="546"/>
                    </a:cubicBezTo>
                    <a:cubicBezTo>
                      <a:pt x="889" y="567"/>
                      <a:pt x="899" y="588"/>
                      <a:pt x="912" y="607"/>
                    </a:cubicBezTo>
                    <a:cubicBezTo>
                      <a:pt x="896" y="673"/>
                      <a:pt x="896" y="673"/>
                      <a:pt x="896" y="673"/>
                    </a:cubicBezTo>
                    <a:cubicBezTo>
                      <a:pt x="934" y="718"/>
                      <a:pt x="980" y="752"/>
                      <a:pt x="1031" y="777"/>
                    </a:cubicBezTo>
                    <a:cubicBezTo>
                      <a:pt x="1089" y="743"/>
                      <a:pt x="1089" y="743"/>
                      <a:pt x="1089" y="743"/>
                    </a:cubicBezTo>
                    <a:cubicBezTo>
                      <a:pt x="1136" y="760"/>
                      <a:pt x="1185" y="766"/>
                      <a:pt x="1236" y="762"/>
                    </a:cubicBezTo>
                    <a:cubicBezTo>
                      <a:pt x="1287" y="808"/>
                      <a:pt x="1287" y="808"/>
                      <a:pt x="1287" y="808"/>
                    </a:cubicBezTo>
                    <a:cubicBezTo>
                      <a:pt x="1312" y="802"/>
                      <a:pt x="1340" y="794"/>
                      <a:pt x="1366" y="783"/>
                    </a:cubicBezTo>
                    <a:cubicBezTo>
                      <a:pt x="1392" y="771"/>
                      <a:pt x="1416" y="757"/>
                      <a:pt x="1440" y="741"/>
                    </a:cubicBezTo>
                    <a:cubicBezTo>
                      <a:pt x="1440" y="673"/>
                      <a:pt x="1440" y="673"/>
                      <a:pt x="1440" y="673"/>
                    </a:cubicBezTo>
                    <a:cubicBezTo>
                      <a:pt x="1477" y="639"/>
                      <a:pt x="1507" y="597"/>
                      <a:pt x="1528" y="552"/>
                    </a:cubicBezTo>
                    <a:cubicBezTo>
                      <a:pt x="1591" y="532"/>
                      <a:pt x="1591" y="532"/>
                      <a:pt x="1591" y="532"/>
                    </a:cubicBezTo>
                    <a:cubicBezTo>
                      <a:pt x="1610" y="479"/>
                      <a:pt x="1616" y="420"/>
                      <a:pt x="1610" y="362"/>
                    </a:cubicBezTo>
                    <a:close/>
                    <a:moveTo>
                      <a:pt x="1276" y="569"/>
                    </a:moveTo>
                    <a:cubicBezTo>
                      <a:pt x="1185" y="610"/>
                      <a:pt x="1080" y="566"/>
                      <a:pt x="1041" y="475"/>
                    </a:cubicBezTo>
                    <a:cubicBezTo>
                      <a:pt x="1002" y="383"/>
                      <a:pt x="1043" y="278"/>
                      <a:pt x="1133" y="239"/>
                    </a:cubicBezTo>
                    <a:cubicBezTo>
                      <a:pt x="1224" y="199"/>
                      <a:pt x="1330" y="242"/>
                      <a:pt x="1367" y="333"/>
                    </a:cubicBezTo>
                    <a:cubicBezTo>
                      <a:pt x="1407" y="424"/>
                      <a:pt x="1366" y="531"/>
                      <a:pt x="1276" y="569"/>
                    </a:cubicBezTo>
                    <a:close/>
                    <a:moveTo>
                      <a:pt x="187" y="916"/>
                    </a:moveTo>
                    <a:cubicBezTo>
                      <a:pt x="84" y="916"/>
                      <a:pt x="0" y="832"/>
                      <a:pt x="0" y="729"/>
                    </a:cubicBezTo>
                    <a:cubicBezTo>
                      <a:pt x="0" y="625"/>
                      <a:pt x="84" y="541"/>
                      <a:pt x="187" y="541"/>
                    </a:cubicBezTo>
                    <a:cubicBezTo>
                      <a:pt x="291" y="541"/>
                      <a:pt x="375" y="625"/>
                      <a:pt x="375" y="729"/>
                    </a:cubicBezTo>
                    <a:cubicBezTo>
                      <a:pt x="375" y="832"/>
                      <a:pt x="291" y="916"/>
                      <a:pt x="187" y="916"/>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sp>
            <p:nvSpPr>
              <p:cNvPr id="95" name="Freeform 26">
                <a:extLst>
                  <a:ext uri="{FF2B5EF4-FFF2-40B4-BE49-F238E27FC236}">
                    <a16:creationId xmlns:a16="http://schemas.microsoft.com/office/drawing/2014/main" id="{7E9F56BA-5508-617F-006B-31DDA4F89276}"/>
                  </a:ext>
                </a:extLst>
              </p:cNvPr>
              <p:cNvSpPr>
                <a:spLocks noEditPoints="1"/>
              </p:cNvSpPr>
              <p:nvPr/>
            </p:nvSpPr>
            <p:spPr bwMode="auto">
              <a:xfrm>
                <a:off x="5343905" y="2961132"/>
                <a:ext cx="971931" cy="962787"/>
              </a:xfrm>
              <a:custGeom>
                <a:avLst/>
                <a:gdLst>
                  <a:gd name="T0" fmla="*/ 638 w 1362"/>
                  <a:gd name="T1" fmla="*/ 1242 h 1348"/>
                  <a:gd name="T2" fmla="*/ 448 w 1362"/>
                  <a:gd name="T3" fmla="*/ 1319 h 1348"/>
                  <a:gd name="T4" fmla="*/ 352 w 1362"/>
                  <a:gd name="T5" fmla="*/ 1146 h 1348"/>
                  <a:gd name="T6" fmla="*/ 141 w 1362"/>
                  <a:gd name="T7" fmla="*/ 1095 h 1348"/>
                  <a:gd name="T8" fmla="*/ 46 w 1362"/>
                  <a:gd name="T9" fmla="*/ 928 h 1348"/>
                  <a:gd name="T10" fmla="*/ 0 w 1362"/>
                  <a:gd name="T11" fmla="*/ 664 h 1348"/>
                  <a:gd name="T12" fmla="*/ 32 w 1362"/>
                  <a:gd name="T13" fmla="*/ 474 h 1348"/>
                  <a:gd name="T14" fmla="*/ 212 w 1362"/>
                  <a:gd name="T15" fmla="*/ 351 h 1348"/>
                  <a:gd name="T16" fmla="*/ 244 w 1362"/>
                  <a:gd name="T17" fmla="*/ 159 h 1348"/>
                  <a:gd name="T18" fmla="*/ 451 w 1362"/>
                  <a:gd name="T19" fmla="*/ 167 h 1348"/>
                  <a:gd name="T20" fmla="*/ 592 w 1362"/>
                  <a:gd name="T21" fmla="*/ 5 h 1348"/>
                  <a:gd name="T22" fmla="*/ 784 w 1362"/>
                  <a:gd name="T23" fmla="*/ 6 h 1348"/>
                  <a:gd name="T24" fmla="*/ 1036 w 1362"/>
                  <a:gd name="T25" fmla="*/ 98 h 1348"/>
                  <a:gd name="T26" fmla="*/ 1184 w 1362"/>
                  <a:gd name="T27" fmla="*/ 220 h 1348"/>
                  <a:gd name="T28" fmla="*/ 1206 w 1362"/>
                  <a:gd name="T29" fmla="*/ 440 h 1348"/>
                  <a:gd name="T30" fmla="*/ 1351 w 1362"/>
                  <a:gd name="T31" fmla="*/ 562 h 1348"/>
                  <a:gd name="T32" fmla="*/ 1262 w 1362"/>
                  <a:gd name="T33" fmla="*/ 724 h 1348"/>
                  <a:gd name="T34" fmla="*/ 1310 w 1362"/>
                  <a:gd name="T35" fmla="*/ 940 h 1348"/>
                  <a:gd name="T36" fmla="*/ 1213 w 1362"/>
                  <a:gd name="T37" fmla="*/ 1106 h 1348"/>
                  <a:gd name="T38" fmla="*/ 1008 w 1362"/>
                  <a:gd name="T39" fmla="*/ 1278 h 1348"/>
                  <a:gd name="T40" fmla="*/ 828 w 1362"/>
                  <a:gd name="T41" fmla="*/ 1345 h 1348"/>
                  <a:gd name="T42" fmla="*/ 830 w 1362"/>
                  <a:gd name="T43" fmla="*/ 1299 h 1348"/>
                  <a:gd name="T44" fmla="*/ 965 w 1362"/>
                  <a:gd name="T45" fmla="*/ 1122 h 1348"/>
                  <a:gd name="T46" fmla="*/ 1072 w 1362"/>
                  <a:gd name="T47" fmla="*/ 1038 h 1348"/>
                  <a:gd name="T48" fmla="*/ 1264 w 1362"/>
                  <a:gd name="T49" fmla="*/ 935 h 1348"/>
                  <a:gd name="T50" fmla="*/ 1219 w 1362"/>
                  <a:gd name="T51" fmla="*/ 710 h 1348"/>
                  <a:gd name="T52" fmla="*/ 1308 w 1362"/>
                  <a:gd name="T53" fmla="*/ 570 h 1348"/>
                  <a:gd name="T54" fmla="*/ 1171 w 1362"/>
                  <a:gd name="T55" fmla="*/ 469 h 1348"/>
                  <a:gd name="T56" fmla="*/ 1142 w 1362"/>
                  <a:gd name="T57" fmla="*/ 241 h 1348"/>
                  <a:gd name="T58" fmla="*/ 915 w 1362"/>
                  <a:gd name="T59" fmla="*/ 217 h 1348"/>
                  <a:gd name="T60" fmla="*/ 802 w 1362"/>
                  <a:gd name="T61" fmla="*/ 179 h 1348"/>
                  <a:gd name="T62" fmla="*/ 610 w 1362"/>
                  <a:gd name="T63" fmla="*/ 47 h 1348"/>
                  <a:gd name="T64" fmla="*/ 458 w 1362"/>
                  <a:gd name="T65" fmla="*/ 212 h 1348"/>
                  <a:gd name="T66" fmla="*/ 272 w 1362"/>
                  <a:gd name="T67" fmla="*/ 192 h 1348"/>
                  <a:gd name="T68" fmla="*/ 254 w 1362"/>
                  <a:gd name="T69" fmla="*/ 369 h 1348"/>
                  <a:gd name="T70" fmla="*/ 70 w 1362"/>
                  <a:gd name="T71" fmla="*/ 500 h 1348"/>
                  <a:gd name="T72" fmla="*/ 143 w 1362"/>
                  <a:gd name="T73" fmla="*/ 698 h 1348"/>
                  <a:gd name="T74" fmla="*/ 170 w 1362"/>
                  <a:gd name="T75" fmla="*/ 846 h 1348"/>
                  <a:gd name="T76" fmla="*/ 168 w 1362"/>
                  <a:gd name="T77" fmla="*/ 1058 h 1348"/>
                  <a:gd name="T78" fmla="*/ 386 w 1362"/>
                  <a:gd name="T79" fmla="*/ 1115 h 1348"/>
                  <a:gd name="T80" fmla="*/ 463 w 1362"/>
                  <a:gd name="T81" fmla="*/ 1278 h 1348"/>
                  <a:gd name="T82" fmla="*/ 630 w 1362"/>
                  <a:gd name="T83" fmla="*/ 1198 h 1348"/>
                  <a:gd name="T84" fmla="*/ 742 w 1362"/>
                  <a:gd name="T85" fmla="*/ 1197 h 1348"/>
                  <a:gd name="T86" fmla="*/ 681 w 1362"/>
                  <a:gd name="T87" fmla="*/ 257 h 1348"/>
                  <a:gd name="T88" fmla="*/ 681 w 1362"/>
                  <a:gd name="T89" fmla="*/ 301 h 1348"/>
                  <a:gd name="T90" fmla="*/ 1063 w 1362"/>
                  <a:gd name="T91" fmla="*/ 683 h 1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62" h="1348">
                    <a:moveTo>
                      <a:pt x="815" y="1348"/>
                    </a:moveTo>
                    <a:cubicBezTo>
                      <a:pt x="724" y="1242"/>
                      <a:pt x="724" y="1242"/>
                      <a:pt x="724" y="1242"/>
                    </a:cubicBezTo>
                    <a:cubicBezTo>
                      <a:pt x="695" y="1244"/>
                      <a:pt x="666" y="1244"/>
                      <a:pt x="638" y="1242"/>
                    </a:cubicBezTo>
                    <a:cubicBezTo>
                      <a:pt x="547" y="1348"/>
                      <a:pt x="547" y="1348"/>
                      <a:pt x="547" y="1348"/>
                    </a:cubicBezTo>
                    <a:cubicBezTo>
                      <a:pt x="534" y="1345"/>
                      <a:pt x="534" y="1345"/>
                      <a:pt x="534" y="1345"/>
                    </a:cubicBezTo>
                    <a:cubicBezTo>
                      <a:pt x="494" y="1336"/>
                      <a:pt x="450" y="1320"/>
                      <a:pt x="448" y="1319"/>
                    </a:cubicBezTo>
                    <a:cubicBezTo>
                      <a:pt x="446" y="1318"/>
                      <a:pt x="402" y="1302"/>
                      <a:pt x="366" y="1284"/>
                    </a:cubicBezTo>
                    <a:cubicBezTo>
                      <a:pt x="354" y="1278"/>
                      <a:pt x="354" y="1278"/>
                      <a:pt x="354" y="1278"/>
                    </a:cubicBezTo>
                    <a:cubicBezTo>
                      <a:pt x="352" y="1146"/>
                      <a:pt x="352" y="1146"/>
                      <a:pt x="352" y="1146"/>
                    </a:cubicBezTo>
                    <a:cubicBezTo>
                      <a:pt x="325" y="1128"/>
                      <a:pt x="299" y="1107"/>
                      <a:pt x="275" y="1085"/>
                    </a:cubicBezTo>
                    <a:cubicBezTo>
                      <a:pt x="149" y="1105"/>
                      <a:pt x="149" y="1105"/>
                      <a:pt x="149" y="1105"/>
                    </a:cubicBezTo>
                    <a:cubicBezTo>
                      <a:pt x="141" y="1095"/>
                      <a:pt x="141" y="1095"/>
                      <a:pt x="141" y="1095"/>
                    </a:cubicBezTo>
                    <a:cubicBezTo>
                      <a:pt x="116" y="1062"/>
                      <a:pt x="93" y="1022"/>
                      <a:pt x="92" y="1020"/>
                    </a:cubicBezTo>
                    <a:cubicBezTo>
                      <a:pt x="91" y="1018"/>
                      <a:pt x="67" y="977"/>
                      <a:pt x="51" y="940"/>
                    </a:cubicBezTo>
                    <a:cubicBezTo>
                      <a:pt x="46" y="928"/>
                      <a:pt x="46" y="928"/>
                      <a:pt x="46" y="928"/>
                    </a:cubicBezTo>
                    <a:cubicBezTo>
                      <a:pt x="121" y="836"/>
                      <a:pt x="121" y="836"/>
                      <a:pt x="121" y="836"/>
                    </a:cubicBezTo>
                    <a:cubicBezTo>
                      <a:pt x="110" y="799"/>
                      <a:pt x="104" y="762"/>
                      <a:pt x="101" y="724"/>
                    </a:cubicBezTo>
                    <a:cubicBezTo>
                      <a:pt x="0" y="664"/>
                      <a:pt x="0" y="664"/>
                      <a:pt x="0" y="664"/>
                    </a:cubicBezTo>
                    <a:cubicBezTo>
                      <a:pt x="1" y="650"/>
                      <a:pt x="1" y="650"/>
                      <a:pt x="1" y="650"/>
                    </a:cubicBezTo>
                    <a:cubicBezTo>
                      <a:pt x="3" y="610"/>
                      <a:pt x="11" y="564"/>
                      <a:pt x="11" y="562"/>
                    </a:cubicBezTo>
                    <a:cubicBezTo>
                      <a:pt x="12" y="560"/>
                      <a:pt x="20" y="513"/>
                      <a:pt x="32" y="474"/>
                    </a:cubicBezTo>
                    <a:cubicBezTo>
                      <a:pt x="35" y="462"/>
                      <a:pt x="35" y="462"/>
                      <a:pt x="35" y="462"/>
                    </a:cubicBezTo>
                    <a:cubicBezTo>
                      <a:pt x="157" y="439"/>
                      <a:pt x="157" y="439"/>
                      <a:pt x="157" y="439"/>
                    </a:cubicBezTo>
                    <a:cubicBezTo>
                      <a:pt x="173" y="408"/>
                      <a:pt x="191" y="378"/>
                      <a:pt x="212" y="351"/>
                    </a:cubicBezTo>
                    <a:cubicBezTo>
                      <a:pt x="170" y="230"/>
                      <a:pt x="170" y="230"/>
                      <a:pt x="170" y="230"/>
                    </a:cubicBezTo>
                    <a:cubicBezTo>
                      <a:pt x="179" y="220"/>
                      <a:pt x="179" y="220"/>
                      <a:pt x="179" y="220"/>
                    </a:cubicBezTo>
                    <a:cubicBezTo>
                      <a:pt x="206" y="190"/>
                      <a:pt x="243" y="160"/>
                      <a:pt x="244" y="159"/>
                    </a:cubicBezTo>
                    <a:cubicBezTo>
                      <a:pt x="246" y="157"/>
                      <a:pt x="282" y="127"/>
                      <a:pt x="316" y="105"/>
                    </a:cubicBezTo>
                    <a:cubicBezTo>
                      <a:pt x="327" y="98"/>
                      <a:pt x="327" y="98"/>
                      <a:pt x="327" y="98"/>
                    </a:cubicBezTo>
                    <a:cubicBezTo>
                      <a:pt x="451" y="167"/>
                      <a:pt x="451" y="167"/>
                      <a:pt x="451" y="167"/>
                    </a:cubicBezTo>
                    <a:cubicBezTo>
                      <a:pt x="476" y="157"/>
                      <a:pt x="502" y="148"/>
                      <a:pt x="528" y="142"/>
                    </a:cubicBezTo>
                    <a:cubicBezTo>
                      <a:pt x="579" y="6"/>
                      <a:pt x="579" y="6"/>
                      <a:pt x="579" y="6"/>
                    </a:cubicBezTo>
                    <a:cubicBezTo>
                      <a:pt x="592" y="5"/>
                      <a:pt x="592" y="5"/>
                      <a:pt x="592" y="5"/>
                    </a:cubicBezTo>
                    <a:cubicBezTo>
                      <a:pt x="632" y="0"/>
                      <a:pt x="679" y="0"/>
                      <a:pt x="681" y="0"/>
                    </a:cubicBezTo>
                    <a:cubicBezTo>
                      <a:pt x="683" y="0"/>
                      <a:pt x="730" y="0"/>
                      <a:pt x="771" y="5"/>
                    </a:cubicBezTo>
                    <a:cubicBezTo>
                      <a:pt x="784" y="6"/>
                      <a:pt x="784" y="6"/>
                      <a:pt x="784" y="6"/>
                    </a:cubicBezTo>
                    <a:cubicBezTo>
                      <a:pt x="835" y="142"/>
                      <a:pt x="835" y="142"/>
                      <a:pt x="835" y="142"/>
                    </a:cubicBezTo>
                    <a:cubicBezTo>
                      <a:pt x="861" y="149"/>
                      <a:pt x="887" y="157"/>
                      <a:pt x="912" y="168"/>
                    </a:cubicBezTo>
                    <a:cubicBezTo>
                      <a:pt x="1036" y="98"/>
                      <a:pt x="1036" y="98"/>
                      <a:pt x="1036" y="98"/>
                    </a:cubicBezTo>
                    <a:cubicBezTo>
                      <a:pt x="1047" y="105"/>
                      <a:pt x="1047" y="105"/>
                      <a:pt x="1047" y="105"/>
                    </a:cubicBezTo>
                    <a:cubicBezTo>
                      <a:pt x="1081" y="128"/>
                      <a:pt x="1117" y="158"/>
                      <a:pt x="1118" y="159"/>
                    </a:cubicBezTo>
                    <a:cubicBezTo>
                      <a:pt x="1120" y="160"/>
                      <a:pt x="1156" y="191"/>
                      <a:pt x="1184" y="220"/>
                    </a:cubicBezTo>
                    <a:cubicBezTo>
                      <a:pt x="1193" y="230"/>
                      <a:pt x="1193" y="230"/>
                      <a:pt x="1193" y="230"/>
                    </a:cubicBezTo>
                    <a:cubicBezTo>
                      <a:pt x="1151" y="351"/>
                      <a:pt x="1151" y="351"/>
                      <a:pt x="1151" y="351"/>
                    </a:cubicBezTo>
                    <a:cubicBezTo>
                      <a:pt x="1172" y="379"/>
                      <a:pt x="1190" y="408"/>
                      <a:pt x="1206" y="440"/>
                    </a:cubicBezTo>
                    <a:cubicBezTo>
                      <a:pt x="1327" y="462"/>
                      <a:pt x="1327" y="462"/>
                      <a:pt x="1327" y="462"/>
                    </a:cubicBezTo>
                    <a:cubicBezTo>
                      <a:pt x="1331" y="475"/>
                      <a:pt x="1331" y="475"/>
                      <a:pt x="1331" y="475"/>
                    </a:cubicBezTo>
                    <a:cubicBezTo>
                      <a:pt x="1342" y="514"/>
                      <a:pt x="1351" y="560"/>
                      <a:pt x="1351" y="562"/>
                    </a:cubicBezTo>
                    <a:cubicBezTo>
                      <a:pt x="1351" y="564"/>
                      <a:pt x="1359" y="611"/>
                      <a:pt x="1362" y="651"/>
                    </a:cubicBezTo>
                    <a:cubicBezTo>
                      <a:pt x="1362" y="664"/>
                      <a:pt x="1362" y="664"/>
                      <a:pt x="1362" y="664"/>
                    </a:cubicBezTo>
                    <a:cubicBezTo>
                      <a:pt x="1262" y="724"/>
                      <a:pt x="1262" y="724"/>
                      <a:pt x="1262" y="724"/>
                    </a:cubicBezTo>
                    <a:cubicBezTo>
                      <a:pt x="1259" y="762"/>
                      <a:pt x="1252" y="800"/>
                      <a:pt x="1241" y="837"/>
                    </a:cubicBezTo>
                    <a:cubicBezTo>
                      <a:pt x="1316" y="928"/>
                      <a:pt x="1316" y="928"/>
                      <a:pt x="1316" y="928"/>
                    </a:cubicBezTo>
                    <a:cubicBezTo>
                      <a:pt x="1310" y="940"/>
                      <a:pt x="1310" y="940"/>
                      <a:pt x="1310" y="940"/>
                    </a:cubicBezTo>
                    <a:cubicBezTo>
                      <a:pt x="1294" y="978"/>
                      <a:pt x="1271" y="1019"/>
                      <a:pt x="1270" y="1020"/>
                    </a:cubicBezTo>
                    <a:cubicBezTo>
                      <a:pt x="1269" y="1022"/>
                      <a:pt x="1245" y="1063"/>
                      <a:pt x="1221" y="1095"/>
                    </a:cubicBezTo>
                    <a:cubicBezTo>
                      <a:pt x="1213" y="1106"/>
                      <a:pt x="1213" y="1106"/>
                      <a:pt x="1213" y="1106"/>
                    </a:cubicBezTo>
                    <a:cubicBezTo>
                      <a:pt x="1087" y="1085"/>
                      <a:pt x="1087" y="1085"/>
                      <a:pt x="1087" y="1085"/>
                    </a:cubicBezTo>
                    <a:cubicBezTo>
                      <a:pt x="1063" y="1108"/>
                      <a:pt x="1037" y="1128"/>
                      <a:pt x="1009" y="1147"/>
                    </a:cubicBezTo>
                    <a:cubicBezTo>
                      <a:pt x="1008" y="1278"/>
                      <a:pt x="1008" y="1278"/>
                      <a:pt x="1008" y="1278"/>
                    </a:cubicBezTo>
                    <a:cubicBezTo>
                      <a:pt x="996" y="1284"/>
                      <a:pt x="996" y="1284"/>
                      <a:pt x="996" y="1284"/>
                    </a:cubicBezTo>
                    <a:cubicBezTo>
                      <a:pt x="959" y="1302"/>
                      <a:pt x="915" y="1319"/>
                      <a:pt x="913" y="1319"/>
                    </a:cubicBezTo>
                    <a:cubicBezTo>
                      <a:pt x="911" y="1320"/>
                      <a:pt x="867" y="1336"/>
                      <a:pt x="828" y="1345"/>
                    </a:cubicBezTo>
                    <a:lnTo>
                      <a:pt x="815" y="1348"/>
                    </a:lnTo>
                    <a:close/>
                    <a:moveTo>
                      <a:pt x="742" y="1197"/>
                    </a:moveTo>
                    <a:cubicBezTo>
                      <a:pt x="830" y="1299"/>
                      <a:pt x="830" y="1299"/>
                      <a:pt x="830" y="1299"/>
                    </a:cubicBezTo>
                    <a:cubicBezTo>
                      <a:pt x="864" y="1290"/>
                      <a:pt x="898" y="1278"/>
                      <a:pt x="898" y="1278"/>
                    </a:cubicBezTo>
                    <a:cubicBezTo>
                      <a:pt x="899" y="1278"/>
                      <a:pt x="933" y="1265"/>
                      <a:pt x="964" y="1251"/>
                    </a:cubicBezTo>
                    <a:cubicBezTo>
                      <a:pt x="965" y="1122"/>
                      <a:pt x="965" y="1122"/>
                      <a:pt x="965" y="1122"/>
                    </a:cubicBezTo>
                    <a:cubicBezTo>
                      <a:pt x="976" y="1116"/>
                      <a:pt x="976" y="1116"/>
                      <a:pt x="976" y="1116"/>
                    </a:cubicBezTo>
                    <a:cubicBezTo>
                      <a:pt x="1008" y="1096"/>
                      <a:pt x="1037" y="1072"/>
                      <a:pt x="1064" y="1046"/>
                    </a:cubicBezTo>
                    <a:cubicBezTo>
                      <a:pt x="1072" y="1038"/>
                      <a:pt x="1072" y="1038"/>
                      <a:pt x="1072" y="1038"/>
                    </a:cubicBezTo>
                    <a:cubicBezTo>
                      <a:pt x="1193" y="1058"/>
                      <a:pt x="1193" y="1058"/>
                      <a:pt x="1193" y="1058"/>
                    </a:cubicBezTo>
                    <a:cubicBezTo>
                      <a:pt x="1213" y="1030"/>
                      <a:pt x="1232" y="999"/>
                      <a:pt x="1232" y="998"/>
                    </a:cubicBezTo>
                    <a:cubicBezTo>
                      <a:pt x="1232" y="998"/>
                      <a:pt x="1250" y="967"/>
                      <a:pt x="1264" y="935"/>
                    </a:cubicBezTo>
                    <a:cubicBezTo>
                      <a:pt x="1192" y="847"/>
                      <a:pt x="1192" y="847"/>
                      <a:pt x="1192" y="847"/>
                    </a:cubicBezTo>
                    <a:cubicBezTo>
                      <a:pt x="1196" y="835"/>
                      <a:pt x="1196" y="835"/>
                      <a:pt x="1196" y="835"/>
                    </a:cubicBezTo>
                    <a:cubicBezTo>
                      <a:pt x="1209" y="795"/>
                      <a:pt x="1217" y="753"/>
                      <a:pt x="1219" y="710"/>
                    </a:cubicBezTo>
                    <a:cubicBezTo>
                      <a:pt x="1219" y="698"/>
                      <a:pt x="1219" y="698"/>
                      <a:pt x="1219" y="698"/>
                    </a:cubicBezTo>
                    <a:cubicBezTo>
                      <a:pt x="1317" y="640"/>
                      <a:pt x="1317" y="640"/>
                      <a:pt x="1317" y="640"/>
                    </a:cubicBezTo>
                    <a:cubicBezTo>
                      <a:pt x="1314" y="606"/>
                      <a:pt x="1308" y="570"/>
                      <a:pt x="1308" y="570"/>
                    </a:cubicBezTo>
                    <a:cubicBezTo>
                      <a:pt x="1307" y="569"/>
                      <a:pt x="1301" y="534"/>
                      <a:pt x="1292" y="501"/>
                    </a:cubicBezTo>
                    <a:cubicBezTo>
                      <a:pt x="1176" y="479"/>
                      <a:pt x="1176" y="479"/>
                      <a:pt x="1176" y="479"/>
                    </a:cubicBezTo>
                    <a:cubicBezTo>
                      <a:pt x="1171" y="469"/>
                      <a:pt x="1171" y="469"/>
                      <a:pt x="1171" y="469"/>
                    </a:cubicBezTo>
                    <a:cubicBezTo>
                      <a:pt x="1154" y="433"/>
                      <a:pt x="1133" y="400"/>
                      <a:pt x="1109" y="369"/>
                    </a:cubicBezTo>
                    <a:cubicBezTo>
                      <a:pt x="1101" y="359"/>
                      <a:pt x="1101" y="359"/>
                      <a:pt x="1101" y="359"/>
                    </a:cubicBezTo>
                    <a:cubicBezTo>
                      <a:pt x="1142" y="241"/>
                      <a:pt x="1142" y="241"/>
                      <a:pt x="1142" y="241"/>
                    </a:cubicBezTo>
                    <a:cubicBezTo>
                      <a:pt x="1118" y="216"/>
                      <a:pt x="1090" y="193"/>
                      <a:pt x="1090" y="193"/>
                    </a:cubicBezTo>
                    <a:cubicBezTo>
                      <a:pt x="1090" y="193"/>
                      <a:pt x="1062" y="169"/>
                      <a:pt x="1034" y="150"/>
                    </a:cubicBezTo>
                    <a:cubicBezTo>
                      <a:pt x="915" y="217"/>
                      <a:pt x="915" y="217"/>
                      <a:pt x="915" y="217"/>
                    </a:cubicBezTo>
                    <a:cubicBezTo>
                      <a:pt x="905" y="212"/>
                      <a:pt x="905" y="212"/>
                      <a:pt x="905" y="212"/>
                    </a:cubicBezTo>
                    <a:cubicBezTo>
                      <a:pt x="875" y="199"/>
                      <a:pt x="845" y="189"/>
                      <a:pt x="813" y="182"/>
                    </a:cubicBezTo>
                    <a:cubicBezTo>
                      <a:pt x="802" y="179"/>
                      <a:pt x="802" y="179"/>
                      <a:pt x="802" y="179"/>
                    </a:cubicBezTo>
                    <a:cubicBezTo>
                      <a:pt x="752" y="47"/>
                      <a:pt x="752" y="47"/>
                      <a:pt x="752" y="47"/>
                    </a:cubicBezTo>
                    <a:cubicBezTo>
                      <a:pt x="718" y="44"/>
                      <a:pt x="682" y="44"/>
                      <a:pt x="681" y="44"/>
                    </a:cubicBezTo>
                    <a:cubicBezTo>
                      <a:pt x="681" y="44"/>
                      <a:pt x="645" y="44"/>
                      <a:pt x="610" y="47"/>
                    </a:cubicBezTo>
                    <a:cubicBezTo>
                      <a:pt x="561" y="179"/>
                      <a:pt x="561" y="179"/>
                      <a:pt x="561" y="179"/>
                    </a:cubicBezTo>
                    <a:cubicBezTo>
                      <a:pt x="549" y="182"/>
                      <a:pt x="549" y="182"/>
                      <a:pt x="549" y="182"/>
                    </a:cubicBezTo>
                    <a:cubicBezTo>
                      <a:pt x="518" y="189"/>
                      <a:pt x="488" y="199"/>
                      <a:pt x="458" y="212"/>
                    </a:cubicBezTo>
                    <a:cubicBezTo>
                      <a:pt x="448" y="217"/>
                      <a:pt x="448" y="217"/>
                      <a:pt x="448" y="217"/>
                    </a:cubicBezTo>
                    <a:cubicBezTo>
                      <a:pt x="329" y="149"/>
                      <a:pt x="329" y="149"/>
                      <a:pt x="329" y="149"/>
                    </a:cubicBezTo>
                    <a:cubicBezTo>
                      <a:pt x="300" y="169"/>
                      <a:pt x="273" y="192"/>
                      <a:pt x="272" y="192"/>
                    </a:cubicBezTo>
                    <a:cubicBezTo>
                      <a:pt x="272" y="193"/>
                      <a:pt x="244" y="216"/>
                      <a:pt x="220" y="241"/>
                    </a:cubicBezTo>
                    <a:cubicBezTo>
                      <a:pt x="262" y="359"/>
                      <a:pt x="262" y="359"/>
                      <a:pt x="262" y="359"/>
                    </a:cubicBezTo>
                    <a:cubicBezTo>
                      <a:pt x="254" y="369"/>
                      <a:pt x="254" y="369"/>
                      <a:pt x="254" y="369"/>
                    </a:cubicBezTo>
                    <a:cubicBezTo>
                      <a:pt x="229" y="399"/>
                      <a:pt x="209" y="433"/>
                      <a:pt x="192" y="468"/>
                    </a:cubicBezTo>
                    <a:cubicBezTo>
                      <a:pt x="187" y="478"/>
                      <a:pt x="187" y="478"/>
                      <a:pt x="187" y="478"/>
                    </a:cubicBezTo>
                    <a:cubicBezTo>
                      <a:pt x="70" y="500"/>
                      <a:pt x="70" y="500"/>
                      <a:pt x="70" y="500"/>
                    </a:cubicBezTo>
                    <a:cubicBezTo>
                      <a:pt x="61" y="533"/>
                      <a:pt x="55" y="569"/>
                      <a:pt x="55" y="569"/>
                    </a:cubicBezTo>
                    <a:cubicBezTo>
                      <a:pt x="55" y="570"/>
                      <a:pt x="48" y="605"/>
                      <a:pt x="45" y="640"/>
                    </a:cubicBezTo>
                    <a:cubicBezTo>
                      <a:pt x="143" y="698"/>
                      <a:pt x="143" y="698"/>
                      <a:pt x="143" y="698"/>
                    </a:cubicBezTo>
                    <a:cubicBezTo>
                      <a:pt x="144" y="709"/>
                      <a:pt x="144" y="709"/>
                      <a:pt x="144" y="709"/>
                    </a:cubicBezTo>
                    <a:cubicBezTo>
                      <a:pt x="146" y="752"/>
                      <a:pt x="154" y="794"/>
                      <a:pt x="167" y="834"/>
                    </a:cubicBezTo>
                    <a:cubicBezTo>
                      <a:pt x="170" y="846"/>
                      <a:pt x="170" y="846"/>
                      <a:pt x="170" y="846"/>
                    </a:cubicBezTo>
                    <a:cubicBezTo>
                      <a:pt x="97" y="935"/>
                      <a:pt x="97" y="935"/>
                      <a:pt x="97" y="935"/>
                    </a:cubicBezTo>
                    <a:cubicBezTo>
                      <a:pt x="112" y="966"/>
                      <a:pt x="130" y="997"/>
                      <a:pt x="130" y="998"/>
                    </a:cubicBezTo>
                    <a:cubicBezTo>
                      <a:pt x="130" y="998"/>
                      <a:pt x="148" y="1029"/>
                      <a:pt x="168" y="1058"/>
                    </a:cubicBezTo>
                    <a:cubicBezTo>
                      <a:pt x="290" y="1038"/>
                      <a:pt x="290" y="1038"/>
                      <a:pt x="290" y="1038"/>
                    </a:cubicBezTo>
                    <a:cubicBezTo>
                      <a:pt x="298" y="1045"/>
                      <a:pt x="298" y="1045"/>
                      <a:pt x="298" y="1045"/>
                    </a:cubicBezTo>
                    <a:cubicBezTo>
                      <a:pt x="324" y="1072"/>
                      <a:pt x="354" y="1095"/>
                      <a:pt x="386" y="1115"/>
                    </a:cubicBezTo>
                    <a:cubicBezTo>
                      <a:pt x="396" y="1121"/>
                      <a:pt x="396" y="1121"/>
                      <a:pt x="396" y="1121"/>
                    </a:cubicBezTo>
                    <a:cubicBezTo>
                      <a:pt x="397" y="1250"/>
                      <a:pt x="397" y="1250"/>
                      <a:pt x="397" y="1250"/>
                    </a:cubicBezTo>
                    <a:cubicBezTo>
                      <a:pt x="429" y="1265"/>
                      <a:pt x="463" y="1278"/>
                      <a:pt x="463" y="1278"/>
                    </a:cubicBezTo>
                    <a:cubicBezTo>
                      <a:pt x="463" y="1278"/>
                      <a:pt x="498" y="1290"/>
                      <a:pt x="531" y="1299"/>
                    </a:cubicBezTo>
                    <a:cubicBezTo>
                      <a:pt x="619" y="1197"/>
                      <a:pt x="619" y="1197"/>
                      <a:pt x="619" y="1197"/>
                    </a:cubicBezTo>
                    <a:cubicBezTo>
                      <a:pt x="630" y="1198"/>
                      <a:pt x="630" y="1198"/>
                      <a:pt x="630" y="1198"/>
                    </a:cubicBezTo>
                    <a:cubicBezTo>
                      <a:pt x="647" y="1199"/>
                      <a:pt x="665" y="1200"/>
                      <a:pt x="681" y="1200"/>
                    </a:cubicBezTo>
                    <a:cubicBezTo>
                      <a:pt x="698" y="1200"/>
                      <a:pt x="714" y="1199"/>
                      <a:pt x="731" y="1198"/>
                    </a:cubicBezTo>
                    <a:lnTo>
                      <a:pt x="742" y="1197"/>
                    </a:lnTo>
                    <a:close/>
                    <a:moveTo>
                      <a:pt x="681" y="1108"/>
                    </a:moveTo>
                    <a:cubicBezTo>
                      <a:pt x="447" y="1108"/>
                      <a:pt x="256" y="917"/>
                      <a:pt x="256" y="683"/>
                    </a:cubicBezTo>
                    <a:cubicBezTo>
                      <a:pt x="256" y="448"/>
                      <a:pt x="447" y="257"/>
                      <a:pt x="681" y="257"/>
                    </a:cubicBezTo>
                    <a:cubicBezTo>
                      <a:pt x="916" y="257"/>
                      <a:pt x="1107" y="448"/>
                      <a:pt x="1107" y="683"/>
                    </a:cubicBezTo>
                    <a:cubicBezTo>
                      <a:pt x="1107" y="917"/>
                      <a:pt x="916" y="1108"/>
                      <a:pt x="681" y="1108"/>
                    </a:cubicBezTo>
                    <a:close/>
                    <a:moveTo>
                      <a:pt x="681" y="301"/>
                    </a:moveTo>
                    <a:cubicBezTo>
                      <a:pt x="471" y="301"/>
                      <a:pt x="300" y="473"/>
                      <a:pt x="300" y="683"/>
                    </a:cubicBezTo>
                    <a:cubicBezTo>
                      <a:pt x="300" y="893"/>
                      <a:pt x="471" y="1064"/>
                      <a:pt x="681" y="1064"/>
                    </a:cubicBezTo>
                    <a:cubicBezTo>
                      <a:pt x="892" y="1064"/>
                      <a:pt x="1063" y="893"/>
                      <a:pt x="1063" y="683"/>
                    </a:cubicBezTo>
                    <a:cubicBezTo>
                      <a:pt x="1063" y="473"/>
                      <a:pt x="892" y="301"/>
                      <a:pt x="681" y="30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grpSp>
      </p:grpSp>
      <p:sp>
        <p:nvSpPr>
          <p:cNvPr id="96" name="object 20">
            <a:extLst>
              <a:ext uri="{FF2B5EF4-FFF2-40B4-BE49-F238E27FC236}">
                <a16:creationId xmlns:a16="http://schemas.microsoft.com/office/drawing/2014/main" id="{01AF9714-5B63-25E9-23D0-B2260EB490BE}"/>
              </a:ext>
            </a:extLst>
          </p:cNvPr>
          <p:cNvSpPr txBox="1"/>
          <p:nvPr/>
        </p:nvSpPr>
        <p:spPr>
          <a:xfrm>
            <a:off x="1680870" y="2944689"/>
            <a:ext cx="2608869" cy="443070"/>
          </a:xfrm>
          <a:prstGeom prst="rect">
            <a:avLst/>
          </a:prstGeom>
          <a:solidFill>
            <a:srgbClr val="FFFFFF"/>
          </a:solidFill>
        </p:spPr>
        <p:txBody>
          <a:bodyPr vert="horz" wrap="square" lIns="0" tIns="12065" rIns="0" bIns="0" rtlCol="0">
            <a:spAutoFit/>
          </a:bodyPr>
          <a:lstStyle/>
          <a:p>
            <a:pPr marL="324000" lvl="1" indent="-216000">
              <a:buClr>
                <a:schemeClr val="tx2"/>
              </a:buClr>
              <a:buFont typeface="Trebuchet MS" panose="020B0603020202020204" pitchFamily="34" charset="0"/>
              <a:buChar char="•"/>
              <a:tabLst>
                <a:tab pos="227965" algn="l"/>
              </a:tabLst>
            </a:pPr>
            <a:r>
              <a:rPr lang="zh-TW" altLang="en-US" sz="1400">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rPr>
              <a:t>模型包含</a:t>
            </a:r>
            <a:r>
              <a:rPr lang="zh-TW" altLang="en-US" sz="1400">
                <a:solidFill>
                  <a:srgbClr val="29BA74"/>
                </a:solidFill>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rPr>
              <a:t>所有活躍客戶</a:t>
            </a:r>
            <a:r>
              <a:rPr lang="zh-TW" altLang="en-US" sz="1400">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rPr>
              <a:t>，可考慮拆不同客群分別分析</a:t>
            </a:r>
            <a:endParaRPr lang="en-US" altLang="zh-TW" sz="1400">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endParaRPr>
          </a:p>
        </p:txBody>
      </p:sp>
      <p:sp>
        <p:nvSpPr>
          <p:cNvPr id="97" name="object 20">
            <a:extLst>
              <a:ext uri="{FF2B5EF4-FFF2-40B4-BE49-F238E27FC236}">
                <a16:creationId xmlns:a16="http://schemas.microsoft.com/office/drawing/2014/main" id="{97B01C1C-4CCC-68DF-4C62-875CFEF5F8F0}"/>
              </a:ext>
            </a:extLst>
          </p:cNvPr>
          <p:cNvSpPr txBox="1"/>
          <p:nvPr/>
        </p:nvSpPr>
        <p:spPr>
          <a:xfrm>
            <a:off x="5509202" y="2944689"/>
            <a:ext cx="2395318" cy="658514"/>
          </a:xfrm>
          <a:prstGeom prst="rect">
            <a:avLst/>
          </a:prstGeom>
          <a:solidFill>
            <a:srgbClr val="FFFFFF"/>
          </a:solidFill>
        </p:spPr>
        <p:txBody>
          <a:bodyPr vert="horz" wrap="square" lIns="0" tIns="12065" rIns="0" bIns="0" rtlCol="0">
            <a:spAutoFit/>
          </a:bodyPr>
          <a:lstStyle/>
          <a:p>
            <a:pPr marL="324000" lvl="1" indent="-216000">
              <a:buClr>
                <a:schemeClr val="tx2"/>
              </a:buClr>
              <a:buFont typeface="Trebuchet MS" panose="020B0603020202020204" pitchFamily="34" charset="0"/>
              <a:buChar char="•"/>
              <a:tabLst>
                <a:tab pos="227965" algn="l"/>
              </a:tabLst>
            </a:pPr>
            <a:r>
              <a:rPr lang="zh-TW" altLang="en-US" sz="1400">
                <a:latin typeface="Microsoft YaHei" panose="020B0503020204020204" pitchFamily="34" charset="-122"/>
                <a:ea typeface="Microsoft YaHei" panose="020B0503020204020204" pitchFamily="34" charset="-122"/>
                <a:cs typeface="Microsoft GothicNeo" panose="020B0500000101010101" pitchFamily="34" charset="-127"/>
                <a:sym typeface="Microsoft YaHei" panose="020B0503020204020204" pitchFamily="34" charset="-122"/>
              </a:rPr>
              <a:t>依據</a:t>
            </a:r>
            <a:r>
              <a:rPr lang="zh-TW" altLang="en-US" sz="1400">
                <a:solidFill>
                  <a:srgbClr val="29BA74"/>
                </a:solidFill>
                <a:latin typeface="Microsoft YaHei" panose="020B0503020204020204" pitchFamily="34" charset="-122"/>
                <a:ea typeface="Microsoft YaHei" panose="020B0503020204020204" pitchFamily="34" charset="-122"/>
                <a:cs typeface="Microsoft GothicNeo" panose="020B0500000101010101" pitchFamily="34" charset="-127"/>
                <a:sym typeface="Microsoft YaHei" panose="020B0503020204020204" pitchFamily="34" charset="-122"/>
              </a:rPr>
              <a:t>行為特徵</a:t>
            </a:r>
            <a:r>
              <a:rPr lang="zh-TW" altLang="en-US" sz="1400">
                <a:solidFill>
                  <a:srgbClr val="575757"/>
                </a:solidFill>
                <a:latin typeface="Microsoft YaHei" panose="020B0503020204020204" pitchFamily="34" charset="-122"/>
                <a:ea typeface="Microsoft YaHei" panose="020B0503020204020204" pitchFamily="34" charset="-122"/>
                <a:cs typeface="Microsoft GothicNeo" panose="020B0500000101010101" pitchFamily="34" charset="-127"/>
                <a:sym typeface="Microsoft YaHei" panose="020B0503020204020204" pitchFamily="34" charset="-122"/>
              </a:rPr>
              <a:t>進行客群分類，並對於</a:t>
            </a:r>
            <a:r>
              <a:rPr lang="zh-TW" altLang="en-US" sz="1400">
                <a:solidFill>
                  <a:srgbClr val="29BA74"/>
                </a:solidFill>
                <a:latin typeface="Microsoft YaHei" panose="020B0503020204020204" pitchFamily="34" charset="-122"/>
                <a:ea typeface="Microsoft YaHei" panose="020B0503020204020204" pitchFamily="34" charset="-122"/>
                <a:cs typeface="Microsoft GothicNeo" panose="020B0500000101010101" pitchFamily="34" charset="-127"/>
                <a:sym typeface="Microsoft YaHei" panose="020B0503020204020204" pitchFamily="34" charset="-122"/>
              </a:rPr>
              <a:t>具類似行為客戶，預測其偏好</a:t>
            </a:r>
            <a:endParaRPr lang="en-US" altLang="zh-TW" sz="1400">
              <a:solidFill>
                <a:srgbClr val="29BA74"/>
              </a:solidFill>
              <a:latin typeface="Microsoft YaHei" panose="020B0503020204020204" pitchFamily="34" charset="-122"/>
              <a:ea typeface="Microsoft YaHei" panose="020B0503020204020204" pitchFamily="34" charset="-122"/>
              <a:cs typeface="Microsoft GothicNeo" panose="020B0500000101010101" pitchFamily="34" charset="-127"/>
              <a:sym typeface="Microsoft YaHei" panose="020B0503020204020204" pitchFamily="34" charset="-122"/>
            </a:endParaRPr>
          </a:p>
        </p:txBody>
      </p:sp>
      <p:sp>
        <p:nvSpPr>
          <p:cNvPr id="98" name="object 20">
            <a:extLst>
              <a:ext uri="{FF2B5EF4-FFF2-40B4-BE49-F238E27FC236}">
                <a16:creationId xmlns:a16="http://schemas.microsoft.com/office/drawing/2014/main" id="{0CA26A0C-C3A3-6AA5-3766-E3E421072AA8}"/>
              </a:ext>
            </a:extLst>
          </p:cNvPr>
          <p:cNvSpPr txBox="1"/>
          <p:nvPr/>
        </p:nvSpPr>
        <p:spPr>
          <a:xfrm>
            <a:off x="8905406" y="2944689"/>
            <a:ext cx="2518510" cy="1364533"/>
          </a:xfrm>
          <a:prstGeom prst="rect">
            <a:avLst/>
          </a:prstGeom>
          <a:solidFill>
            <a:srgbClr val="FFFFFF"/>
          </a:solidFill>
        </p:spPr>
        <p:txBody>
          <a:bodyPr vert="horz" wrap="square" lIns="0" tIns="12065" rIns="0" bIns="0" rtlCol="0">
            <a:noAutofit/>
          </a:bodyPr>
          <a:lstStyle/>
          <a:p>
            <a:pPr marL="324000" lvl="1" indent="-216000">
              <a:buClr>
                <a:schemeClr val="tx2"/>
              </a:buClr>
              <a:buFont typeface="Trebuchet MS" panose="020B0603020202020204" pitchFamily="34" charset="0"/>
              <a:buChar char="•"/>
            </a:pPr>
            <a:r>
              <a:rPr lang="zh-TW" altLang="en-US" sz="1400">
                <a:latin typeface="Microsoft YaHei" panose="020B0503020204020204" pitchFamily="34" charset="-122"/>
                <a:ea typeface="Microsoft YaHei" panose="020B0503020204020204" pitchFamily="34" charset="-122"/>
                <a:cs typeface="Microsoft GothicNeo" panose="020B0500000101010101" pitchFamily="34" charset="-127"/>
                <a:sym typeface="Trebuchet MS" panose="020B0603020202020204" pitchFamily="34" charset="0"/>
              </a:rPr>
              <a:t>産出傾向購買特定産品的潜在客戶清單</a:t>
            </a:r>
            <a:endParaRPr lang="en-US" altLang="zh-TW" sz="1400">
              <a:latin typeface="Microsoft YaHei" panose="020B0503020204020204" pitchFamily="34" charset="-122"/>
              <a:ea typeface="Microsoft YaHei" panose="020B0503020204020204" pitchFamily="34" charset="-122"/>
              <a:cs typeface="Microsoft GothicNeo" panose="020B0500000101010101" pitchFamily="34" charset="-127"/>
              <a:sym typeface="Trebuchet MS" panose="020B0603020202020204" pitchFamily="34" charset="0"/>
            </a:endParaRPr>
          </a:p>
          <a:p>
            <a:pPr marL="324000" lvl="1" indent="-216000">
              <a:buClr>
                <a:schemeClr val="tx2"/>
              </a:buClr>
              <a:buFont typeface="Trebuchet MS" panose="020B0603020202020204" pitchFamily="34" charset="0"/>
              <a:buChar char="•"/>
            </a:pPr>
            <a:r>
              <a:rPr lang="zh-TW" altLang="en-US" sz="1400">
                <a:solidFill>
                  <a:srgbClr val="29BA74"/>
                </a:solidFill>
                <a:latin typeface="Microsoft YaHei" panose="020B0503020204020204" pitchFamily="34" charset="-122"/>
                <a:ea typeface="Microsoft YaHei" panose="020B0503020204020204" pitchFamily="34" charset="-122"/>
                <a:cs typeface="Microsoft GothicNeo" panose="020B0500000101010101" pitchFamily="34" charset="-127"/>
                <a:sym typeface="Trebuchet MS" panose="020B0603020202020204" pitchFamily="34" charset="0"/>
              </a:rPr>
              <a:t>每個潛在客戶有特定產品的轉化成功率</a:t>
            </a:r>
            <a:endParaRPr lang="en-US" altLang="zh-TW" sz="1400">
              <a:solidFill>
                <a:srgbClr val="29BA74"/>
              </a:solidFill>
              <a:latin typeface="Microsoft YaHei" panose="020B0503020204020204" pitchFamily="34" charset="-122"/>
              <a:ea typeface="Microsoft YaHei" panose="020B0503020204020204" pitchFamily="34" charset="-122"/>
              <a:cs typeface="Microsoft GothicNeo" panose="020B0500000101010101" pitchFamily="34" charset="-127"/>
              <a:sym typeface="Trebuchet MS" panose="020B0603020202020204" pitchFamily="34" charset="0"/>
            </a:endParaRPr>
          </a:p>
          <a:p>
            <a:pPr marL="324000" lvl="1" indent="-216000">
              <a:buClr>
                <a:schemeClr val="tx2"/>
              </a:buClr>
              <a:buFont typeface="Trebuchet MS" panose="020B0603020202020204" pitchFamily="34" charset="0"/>
              <a:buChar char="•"/>
            </a:pPr>
            <a:r>
              <a:rPr lang="zh-TW" altLang="en-US" sz="1400">
                <a:solidFill>
                  <a:srgbClr val="575757"/>
                </a:solidFill>
                <a:latin typeface="Microsoft YaHei" panose="020B0503020204020204" pitchFamily="34" charset="-122"/>
                <a:ea typeface="Microsoft YaHei" panose="020B0503020204020204" pitchFamily="34" charset="-122"/>
                <a:cs typeface="Microsoft GothicNeo" panose="020B0500000101010101" pitchFamily="34" charset="-127"/>
                <a:sym typeface="Trebuchet MS" panose="020B0603020202020204" pitchFamily="34" charset="0"/>
              </a:rPr>
              <a:t>追蹤接觸客戶</a:t>
            </a:r>
            <a:r>
              <a:rPr lang="en-US" altLang="zh-TW" sz="1400">
                <a:solidFill>
                  <a:srgbClr val="575757"/>
                </a:solidFill>
                <a:latin typeface="Microsoft YaHei" panose="020B0503020204020204" pitchFamily="34" charset="-122"/>
                <a:ea typeface="Microsoft YaHei" panose="020B0503020204020204" pitchFamily="34" charset="-122"/>
                <a:cs typeface="Microsoft GothicNeo" panose="020B0500000101010101" pitchFamily="34" charset="-127"/>
                <a:sym typeface="Trebuchet MS" panose="020B0603020202020204" pitchFamily="34" charset="0"/>
              </a:rPr>
              <a:t>(</a:t>
            </a:r>
            <a:r>
              <a:rPr lang="zh-TW" altLang="en-US" sz="1400">
                <a:solidFill>
                  <a:srgbClr val="575757"/>
                </a:solidFill>
                <a:latin typeface="Microsoft YaHei" panose="020B0503020204020204" pitchFamily="34" charset="-122"/>
                <a:ea typeface="Microsoft YaHei" panose="020B0503020204020204" pitchFamily="34" charset="-122"/>
                <a:cs typeface="Microsoft GothicNeo" panose="020B0500000101010101" pitchFamily="34" charset="-127"/>
                <a:sym typeface="Trebuchet MS" panose="020B0603020202020204" pitchFamily="34" charset="0"/>
              </a:rPr>
              <a:t>線上、人工</a:t>
            </a:r>
            <a:r>
              <a:rPr lang="en-US" altLang="zh-TW" sz="1400">
                <a:solidFill>
                  <a:srgbClr val="575757"/>
                </a:solidFill>
                <a:latin typeface="Microsoft YaHei" panose="020B0503020204020204" pitchFamily="34" charset="-122"/>
                <a:ea typeface="Microsoft YaHei" panose="020B0503020204020204" pitchFamily="34" charset="-122"/>
                <a:cs typeface="Microsoft GothicNeo" panose="020B0500000101010101" pitchFamily="34" charset="-127"/>
                <a:sym typeface="Trebuchet MS" panose="020B0603020202020204" pitchFamily="34" charset="0"/>
              </a:rPr>
              <a:t>)</a:t>
            </a:r>
            <a:r>
              <a:rPr lang="zh-TW" altLang="en-US" sz="1400">
                <a:solidFill>
                  <a:srgbClr val="575757"/>
                </a:solidFill>
                <a:latin typeface="Microsoft YaHei" panose="020B0503020204020204" pitchFamily="34" charset="-122"/>
                <a:ea typeface="Microsoft YaHei" panose="020B0503020204020204" pitchFamily="34" charset="-122"/>
                <a:cs typeface="Microsoft GothicNeo" panose="020B0500000101010101" pitchFamily="34" charset="-127"/>
                <a:sym typeface="Trebuchet MS" panose="020B0603020202020204" pitchFamily="34" charset="0"/>
              </a:rPr>
              <a:t> 的結果並做爲模型更新輸入</a:t>
            </a:r>
            <a:endParaRPr lang="en-US" altLang="zh-TW" sz="1400">
              <a:solidFill>
                <a:srgbClr val="575757"/>
              </a:solidFill>
              <a:latin typeface="Microsoft YaHei" panose="020B0503020204020204" pitchFamily="34" charset="-122"/>
              <a:ea typeface="Microsoft YaHei" panose="020B0503020204020204" pitchFamily="34" charset="-122"/>
              <a:cs typeface="Microsoft GothicNeo" panose="020B0500000101010101" pitchFamily="34" charset="-127"/>
              <a:sym typeface="Trebuchet MS" panose="020B0603020202020204" pitchFamily="34" charset="0"/>
            </a:endParaRPr>
          </a:p>
        </p:txBody>
      </p:sp>
      <p:grpSp>
        <p:nvGrpSpPr>
          <p:cNvPr id="104" name="Group 103">
            <a:extLst>
              <a:ext uri="{FF2B5EF4-FFF2-40B4-BE49-F238E27FC236}">
                <a16:creationId xmlns:a16="http://schemas.microsoft.com/office/drawing/2014/main" id="{633C1666-8C1F-AF6B-C108-6AFE8FAC5EA2}"/>
              </a:ext>
            </a:extLst>
          </p:cNvPr>
          <p:cNvGrpSpPr>
            <a:grpSpLocks noChangeAspect="1"/>
          </p:cNvGrpSpPr>
          <p:nvPr/>
        </p:nvGrpSpPr>
        <p:grpSpPr>
          <a:xfrm>
            <a:off x="1060893" y="3528459"/>
            <a:ext cx="561762" cy="562283"/>
            <a:chOff x="5273801" y="2606040"/>
            <a:chExt cx="1644396" cy="1645920"/>
          </a:xfrm>
        </p:grpSpPr>
        <p:sp>
          <p:nvSpPr>
            <p:cNvPr id="105" name="AutoShape 33">
              <a:extLst>
                <a:ext uri="{FF2B5EF4-FFF2-40B4-BE49-F238E27FC236}">
                  <a16:creationId xmlns:a16="http://schemas.microsoft.com/office/drawing/2014/main" id="{CFF483CF-BC7D-EB92-15D9-0A5E416E49B9}"/>
                </a:ext>
              </a:extLst>
            </p:cNvPr>
            <p:cNvSpPr>
              <a:spLocks noChangeAspect="1" noChangeArrowheads="1" noTextEdit="1"/>
            </p:cNvSpPr>
            <p:nvPr/>
          </p:nvSpPr>
          <p:spPr bwMode="auto">
            <a:xfrm>
              <a:off x="5273801" y="2606040"/>
              <a:ext cx="1644396" cy="1645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106" name="Group 105">
              <a:extLst>
                <a:ext uri="{FF2B5EF4-FFF2-40B4-BE49-F238E27FC236}">
                  <a16:creationId xmlns:a16="http://schemas.microsoft.com/office/drawing/2014/main" id="{DEE3FD89-BA32-C46D-EA8F-3AE20A519CF8}"/>
                </a:ext>
              </a:extLst>
            </p:cNvPr>
            <p:cNvGrpSpPr/>
            <p:nvPr/>
          </p:nvGrpSpPr>
          <p:grpSpPr>
            <a:xfrm>
              <a:off x="5445632" y="2775204"/>
              <a:ext cx="1301877" cy="1306068"/>
              <a:chOff x="5445632" y="2775204"/>
              <a:chExt cx="1301877" cy="1306068"/>
            </a:xfrm>
          </p:grpSpPr>
          <p:sp>
            <p:nvSpPr>
              <p:cNvPr id="107" name="Freeform 35">
                <a:extLst>
                  <a:ext uri="{FF2B5EF4-FFF2-40B4-BE49-F238E27FC236}">
                    <a16:creationId xmlns:a16="http://schemas.microsoft.com/office/drawing/2014/main" id="{CF1BBBC2-1162-6C5F-30A2-3EC50C1930A0}"/>
                  </a:ext>
                </a:extLst>
              </p:cNvPr>
              <p:cNvSpPr>
                <a:spLocks noEditPoints="1"/>
              </p:cNvSpPr>
              <p:nvPr/>
            </p:nvSpPr>
            <p:spPr bwMode="auto">
              <a:xfrm>
                <a:off x="5445632" y="2775204"/>
                <a:ext cx="1301877" cy="1306068"/>
              </a:xfrm>
              <a:custGeom>
                <a:avLst/>
                <a:gdLst>
                  <a:gd name="T0" fmla="*/ 236 w 1824"/>
                  <a:gd name="T1" fmla="*/ 118 h 1828"/>
                  <a:gd name="T2" fmla="*/ 118 w 1824"/>
                  <a:gd name="T3" fmla="*/ 191 h 1828"/>
                  <a:gd name="T4" fmla="*/ 414 w 1824"/>
                  <a:gd name="T5" fmla="*/ 22 h 1828"/>
                  <a:gd name="T6" fmla="*/ 458 w 1824"/>
                  <a:gd name="T7" fmla="*/ 22 h 1828"/>
                  <a:gd name="T8" fmla="*/ 753 w 1824"/>
                  <a:gd name="T9" fmla="*/ 0 h 1828"/>
                  <a:gd name="T10" fmla="*/ 680 w 1824"/>
                  <a:gd name="T11" fmla="*/ 118 h 1828"/>
                  <a:gd name="T12" fmla="*/ 1071 w 1824"/>
                  <a:gd name="T13" fmla="*/ 0 h 1828"/>
                  <a:gd name="T14" fmla="*/ 1093 w 1824"/>
                  <a:gd name="T15" fmla="*/ 213 h 1828"/>
                  <a:gd name="T16" fmla="*/ 1366 w 1824"/>
                  <a:gd name="T17" fmla="*/ 22 h 1828"/>
                  <a:gd name="T18" fmla="*/ 1410 w 1824"/>
                  <a:gd name="T19" fmla="*/ 22 h 1828"/>
                  <a:gd name="T20" fmla="*/ 1706 w 1824"/>
                  <a:gd name="T21" fmla="*/ 0 h 1828"/>
                  <a:gd name="T22" fmla="*/ 1632 w 1824"/>
                  <a:gd name="T23" fmla="*/ 118 h 1828"/>
                  <a:gd name="T24" fmla="*/ 118 w 1824"/>
                  <a:gd name="T25" fmla="*/ 319 h 1828"/>
                  <a:gd name="T26" fmla="*/ 140 w 1824"/>
                  <a:gd name="T27" fmla="*/ 532 h 1828"/>
                  <a:gd name="T28" fmla="*/ 953 w 1824"/>
                  <a:gd name="T29" fmla="*/ 436 h 1828"/>
                  <a:gd name="T30" fmla="*/ 1071 w 1824"/>
                  <a:gd name="T31" fmla="*/ 363 h 1828"/>
                  <a:gd name="T32" fmla="*/ 1071 w 1824"/>
                  <a:gd name="T33" fmla="*/ 363 h 1828"/>
                  <a:gd name="T34" fmla="*/ 1388 w 1824"/>
                  <a:gd name="T35" fmla="*/ 554 h 1828"/>
                  <a:gd name="T36" fmla="*/ 1706 w 1824"/>
                  <a:gd name="T37" fmla="*/ 554 h 1828"/>
                  <a:gd name="T38" fmla="*/ 1706 w 1824"/>
                  <a:gd name="T39" fmla="*/ 554 h 1828"/>
                  <a:gd name="T40" fmla="*/ 1780 w 1824"/>
                  <a:gd name="T41" fmla="*/ 436 h 1828"/>
                  <a:gd name="T42" fmla="*/ 118 w 1824"/>
                  <a:gd name="T43" fmla="*/ 637 h 1828"/>
                  <a:gd name="T44" fmla="*/ 44 w 1824"/>
                  <a:gd name="T45" fmla="*/ 755 h 1828"/>
                  <a:gd name="T46" fmla="*/ 1071 w 1824"/>
                  <a:gd name="T47" fmla="*/ 872 h 1828"/>
                  <a:gd name="T48" fmla="*/ 1071 w 1824"/>
                  <a:gd name="T49" fmla="*/ 872 h 1828"/>
                  <a:gd name="T50" fmla="*/ 1144 w 1824"/>
                  <a:gd name="T51" fmla="*/ 755 h 1828"/>
                  <a:gd name="T52" fmla="*/ 1388 w 1824"/>
                  <a:gd name="T53" fmla="*/ 637 h 1828"/>
                  <a:gd name="T54" fmla="*/ 1315 w 1824"/>
                  <a:gd name="T55" fmla="*/ 755 h 1828"/>
                  <a:gd name="T56" fmla="*/ 1706 w 1824"/>
                  <a:gd name="T57" fmla="*/ 637 h 1828"/>
                  <a:gd name="T58" fmla="*/ 1728 w 1824"/>
                  <a:gd name="T59" fmla="*/ 850 h 1828"/>
                  <a:gd name="T60" fmla="*/ 96 w 1824"/>
                  <a:gd name="T61" fmla="*/ 978 h 1828"/>
                  <a:gd name="T62" fmla="*/ 140 w 1824"/>
                  <a:gd name="T63" fmla="*/ 978 h 1828"/>
                  <a:gd name="T64" fmla="*/ 436 w 1824"/>
                  <a:gd name="T65" fmla="*/ 956 h 1828"/>
                  <a:gd name="T66" fmla="*/ 362 w 1824"/>
                  <a:gd name="T67" fmla="*/ 1073 h 1828"/>
                  <a:gd name="T68" fmla="*/ 753 w 1824"/>
                  <a:gd name="T69" fmla="*/ 956 h 1828"/>
                  <a:gd name="T70" fmla="*/ 775 w 1824"/>
                  <a:gd name="T71" fmla="*/ 1169 h 1828"/>
                  <a:gd name="T72" fmla="*/ 1049 w 1824"/>
                  <a:gd name="T73" fmla="*/ 978 h 1828"/>
                  <a:gd name="T74" fmla="*/ 1093 w 1824"/>
                  <a:gd name="T75" fmla="*/ 978 h 1828"/>
                  <a:gd name="T76" fmla="*/ 1388 w 1824"/>
                  <a:gd name="T77" fmla="*/ 956 h 1828"/>
                  <a:gd name="T78" fmla="*/ 1315 w 1824"/>
                  <a:gd name="T79" fmla="*/ 1073 h 1828"/>
                  <a:gd name="T80" fmla="*/ 1706 w 1824"/>
                  <a:gd name="T81" fmla="*/ 956 h 1828"/>
                  <a:gd name="T82" fmla="*/ 1728 w 1824"/>
                  <a:gd name="T83" fmla="*/ 1169 h 1828"/>
                  <a:gd name="T84" fmla="*/ 0 w 1824"/>
                  <a:gd name="T85" fmla="*/ 1392 h 1828"/>
                  <a:gd name="T86" fmla="*/ 118 w 1824"/>
                  <a:gd name="T87" fmla="*/ 1318 h 1828"/>
                  <a:gd name="T88" fmla="*/ 118 w 1824"/>
                  <a:gd name="T89" fmla="*/ 1318 h 1828"/>
                  <a:gd name="T90" fmla="*/ 436 w 1824"/>
                  <a:gd name="T91" fmla="*/ 1509 h 1828"/>
                  <a:gd name="T92" fmla="*/ 753 w 1824"/>
                  <a:gd name="T93" fmla="*/ 1509 h 1828"/>
                  <a:gd name="T94" fmla="*/ 753 w 1824"/>
                  <a:gd name="T95" fmla="*/ 1509 h 1828"/>
                  <a:gd name="T96" fmla="*/ 827 w 1824"/>
                  <a:gd name="T97" fmla="*/ 1392 h 1828"/>
                  <a:gd name="T98" fmla="*/ 1706 w 1824"/>
                  <a:gd name="T99" fmla="*/ 1274 h 1828"/>
                  <a:gd name="T100" fmla="*/ 1632 w 1824"/>
                  <a:gd name="T101" fmla="*/ 1392 h 1828"/>
                  <a:gd name="T102" fmla="*/ 118 w 1824"/>
                  <a:gd name="T103" fmla="*/ 1828 h 1828"/>
                  <a:gd name="T104" fmla="*/ 118 w 1824"/>
                  <a:gd name="T105" fmla="*/ 1828 h 1828"/>
                  <a:gd name="T106" fmla="*/ 192 w 1824"/>
                  <a:gd name="T107" fmla="*/ 1710 h 1828"/>
                  <a:gd name="T108" fmla="*/ 414 w 1824"/>
                  <a:gd name="T109" fmla="*/ 1806 h 1828"/>
                  <a:gd name="T110" fmla="*/ 436 w 1824"/>
                  <a:gd name="T111" fmla="*/ 1593 h 1828"/>
                  <a:gd name="T112" fmla="*/ 871 w 1824"/>
                  <a:gd name="T113" fmla="*/ 1710 h 1828"/>
                  <a:gd name="T114" fmla="*/ 753 w 1824"/>
                  <a:gd name="T115" fmla="*/ 1784 h 1828"/>
                  <a:gd name="T116" fmla="*/ 1588 w 1824"/>
                  <a:gd name="T117" fmla="*/ 1710 h 1828"/>
                  <a:gd name="T118" fmla="*/ 1706 w 1824"/>
                  <a:gd name="T119" fmla="*/ 1637 h 1828"/>
                  <a:gd name="T120" fmla="*/ 1706 w 1824"/>
                  <a:gd name="T121" fmla="*/ 1637 h 1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24" h="1828">
                    <a:moveTo>
                      <a:pt x="118" y="235"/>
                    </a:moveTo>
                    <a:cubicBezTo>
                      <a:pt x="53" y="235"/>
                      <a:pt x="0" y="183"/>
                      <a:pt x="0" y="118"/>
                    </a:cubicBezTo>
                    <a:cubicBezTo>
                      <a:pt x="0" y="53"/>
                      <a:pt x="53" y="0"/>
                      <a:pt x="118" y="0"/>
                    </a:cubicBezTo>
                    <a:cubicBezTo>
                      <a:pt x="183" y="0"/>
                      <a:pt x="236" y="53"/>
                      <a:pt x="236" y="118"/>
                    </a:cubicBezTo>
                    <a:cubicBezTo>
                      <a:pt x="236" y="183"/>
                      <a:pt x="183" y="235"/>
                      <a:pt x="118" y="235"/>
                    </a:cubicBezTo>
                    <a:close/>
                    <a:moveTo>
                      <a:pt x="118" y="44"/>
                    </a:moveTo>
                    <a:cubicBezTo>
                      <a:pt x="77" y="44"/>
                      <a:pt x="44" y="77"/>
                      <a:pt x="44" y="118"/>
                    </a:cubicBezTo>
                    <a:cubicBezTo>
                      <a:pt x="44" y="158"/>
                      <a:pt x="77" y="191"/>
                      <a:pt x="118" y="191"/>
                    </a:cubicBezTo>
                    <a:cubicBezTo>
                      <a:pt x="159" y="191"/>
                      <a:pt x="192" y="158"/>
                      <a:pt x="192" y="118"/>
                    </a:cubicBezTo>
                    <a:cubicBezTo>
                      <a:pt x="192" y="77"/>
                      <a:pt x="159" y="44"/>
                      <a:pt x="118" y="44"/>
                    </a:cubicBezTo>
                    <a:close/>
                    <a:moveTo>
                      <a:pt x="436" y="0"/>
                    </a:moveTo>
                    <a:cubicBezTo>
                      <a:pt x="424" y="0"/>
                      <a:pt x="414" y="10"/>
                      <a:pt x="414" y="22"/>
                    </a:cubicBezTo>
                    <a:cubicBezTo>
                      <a:pt x="414" y="213"/>
                      <a:pt x="414" y="213"/>
                      <a:pt x="414" y="213"/>
                    </a:cubicBezTo>
                    <a:cubicBezTo>
                      <a:pt x="414" y="225"/>
                      <a:pt x="424" y="235"/>
                      <a:pt x="436" y="235"/>
                    </a:cubicBezTo>
                    <a:cubicBezTo>
                      <a:pt x="448" y="235"/>
                      <a:pt x="458" y="225"/>
                      <a:pt x="458" y="213"/>
                    </a:cubicBezTo>
                    <a:cubicBezTo>
                      <a:pt x="458" y="22"/>
                      <a:pt x="458" y="22"/>
                      <a:pt x="458" y="22"/>
                    </a:cubicBezTo>
                    <a:cubicBezTo>
                      <a:pt x="458" y="10"/>
                      <a:pt x="448" y="0"/>
                      <a:pt x="436" y="0"/>
                    </a:cubicBezTo>
                    <a:close/>
                    <a:moveTo>
                      <a:pt x="753" y="235"/>
                    </a:moveTo>
                    <a:cubicBezTo>
                      <a:pt x="688" y="235"/>
                      <a:pt x="636" y="183"/>
                      <a:pt x="636" y="118"/>
                    </a:cubicBezTo>
                    <a:cubicBezTo>
                      <a:pt x="636" y="53"/>
                      <a:pt x="688" y="0"/>
                      <a:pt x="753" y="0"/>
                    </a:cubicBezTo>
                    <a:cubicBezTo>
                      <a:pt x="818" y="0"/>
                      <a:pt x="871" y="53"/>
                      <a:pt x="871" y="118"/>
                    </a:cubicBezTo>
                    <a:cubicBezTo>
                      <a:pt x="871" y="183"/>
                      <a:pt x="818" y="235"/>
                      <a:pt x="753" y="235"/>
                    </a:cubicBezTo>
                    <a:close/>
                    <a:moveTo>
                      <a:pt x="753" y="44"/>
                    </a:moveTo>
                    <a:cubicBezTo>
                      <a:pt x="713" y="44"/>
                      <a:pt x="680" y="77"/>
                      <a:pt x="680" y="118"/>
                    </a:cubicBezTo>
                    <a:cubicBezTo>
                      <a:pt x="680" y="158"/>
                      <a:pt x="713" y="191"/>
                      <a:pt x="753" y="191"/>
                    </a:cubicBezTo>
                    <a:cubicBezTo>
                      <a:pt x="794" y="191"/>
                      <a:pt x="827" y="158"/>
                      <a:pt x="827" y="118"/>
                    </a:cubicBezTo>
                    <a:cubicBezTo>
                      <a:pt x="827" y="77"/>
                      <a:pt x="794" y="44"/>
                      <a:pt x="753" y="44"/>
                    </a:cubicBezTo>
                    <a:close/>
                    <a:moveTo>
                      <a:pt x="1071" y="0"/>
                    </a:moveTo>
                    <a:cubicBezTo>
                      <a:pt x="1059" y="0"/>
                      <a:pt x="1049" y="10"/>
                      <a:pt x="1049" y="22"/>
                    </a:cubicBezTo>
                    <a:cubicBezTo>
                      <a:pt x="1049" y="213"/>
                      <a:pt x="1049" y="213"/>
                      <a:pt x="1049" y="213"/>
                    </a:cubicBezTo>
                    <a:cubicBezTo>
                      <a:pt x="1049" y="225"/>
                      <a:pt x="1059" y="235"/>
                      <a:pt x="1071" y="235"/>
                    </a:cubicBezTo>
                    <a:cubicBezTo>
                      <a:pt x="1083" y="235"/>
                      <a:pt x="1093" y="225"/>
                      <a:pt x="1093" y="213"/>
                    </a:cubicBezTo>
                    <a:cubicBezTo>
                      <a:pt x="1093" y="22"/>
                      <a:pt x="1093" y="22"/>
                      <a:pt x="1093" y="22"/>
                    </a:cubicBezTo>
                    <a:cubicBezTo>
                      <a:pt x="1093" y="10"/>
                      <a:pt x="1083" y="0"/>
                      <a:pt x="1071" y="0"/>
                    </a:cubicBezTo>
                    <a:close/>
                    <a:moveTo>
                      <a:pt x="1388" y="0"/>
                    </a:moveTo>
                    <a:cubicBezTo>
                      <a:pt x="1376" y="0"/>
                      <a:pt x="1366" y="10"/>
                      <a:pt x="1366" y="22"/>
                    </a:cubicBezTo>
                    <a:cubicBezTo>
                      <a:pt x="1366" y="213"/>
                      <a:pt x="1366" y="213"/>
                      <a:pt x="1366" y="213"/>
                    </a:cubicBezTo>
                    <a:cubicBezTo>
                      <a:pt x="1366" y="225"/>
                      <a:pt x="1376" y="235"/>
                      <a:pt x="1388" y="235"/>
                    </a:cubicBezTo>
                    <a:cubicBezTo>
                      <a:pt x="1400" y="235"/>
                      <a:pt x="1410" y="225"/>
                      <a:pt x="1410" y="213"/>
                    </a:cubicBezTo>
                    <a:cubicBezTo>
                      <a:pt x="1410" y="22"/>
                      <a:pt x="1410" y="22"/>
                      <a:pt x="1410" y="22"/>
                    </a:cubicBezTo>
                    <a:cubicBezTo>
                      <a:pt x="1410" y="10"/>
                      <a:pt x="1400" y="0"/>
                      <a:pt x="1388" y="0"/>
                    </a:cubicBezTo>
                    <a:close/>
                    <a:moveTo>
                      <a:pt x="1706" y="235"/>
                    </a:moveTo>
                    <a:cubicBezTo>
                      <a:pt x="1641" y="235"/>
                      <a:pt x="1588" y="183"/>
                      <a:pt x="1588" y="118"/>
                    </a:cubicBezTo>
                    <a:cubicBezTo>
                      <a:pt x="1588" y="53"/>
                      <a:pt x="1641" y="0"/>
                      <a:pt x="1706" y="0"/>
                    </a:cubicBezTo>
                    <a:cubicBezTo>
                      <a:pt x="1771" y="0"/>
                      <a:pt x="1824" y="53"/>
                      <a:pt x="1824" y="118"/>
                    </a:cubicBezTo>
                    <a:cubicBezTo>
                      <a:pt x="1824" y="183"/>
                      <a:pt x="1771" y="235"/>
                      <a:pt x="1706" y="235"/>
                    </a:cubicBezTo>
                    <a:close/>
                    <a:moveTo>
                      <a:pt x="1706" y="44"/>
                    </a:moveTo>
                    <a:cubicBezTo>
                      <a:pt x="1665" y="44"/>
                      <a:pt x="1632" y="77"/>
                      <a:pt x="1632" y="118"/>
                    </a:cubicBezTo>
                    <a:cubicBezTo>
                      <a:pt x="1632" y="158"/>
                      <a:pt x="1665" y="191"/>
                      <a:pt x="1706" y="191"/>
                    </a:cubicBezTo>
                    <a:cubicBezTo>
                      <a:pt x="1747" y="191"/>
                      <a:pt x="1780" y="158"/>
                      <a:pt x="1780" y="118"/>
                    </a:cubicBezTo>
                    <a:cubicBezTo>
                      <a:pt x="1780" y="77"/>
                      <a:pt x="1747" y="44"/>
                      <a:pt x="1706" y="44"/>
                    </a:cubicBezTo>
                    <a:close/>
                    <a:moveTo>
                      <a:pt x="118" y="319"/>
                    </a:moveTo>
                    <a:cubicBezTo>
                      <a:pt x="106" y="319"/>
                      <a:pt x="96" y="328"/>
                      <a:pt x="96" y="341"/>
                    </a:cubicBezTo>
                    <a:cubicBezTo>
                      <a:pt x="96" y="532"/>
                      <a:pt x="96" y="532"/>
                      <a:pt x="96" y="532"/>
                    </a:cubicBezTo>
                    <a:cubicBezTo>
                      <a:pt x="96" y="544"/>
                      <a:pt x="106" y="554"/>
                      <a:pt x="118" y="554"/>
                    </a:cubicBezTo>
                    <a:cubicBezTo>
                      <a:pt x="130" y="554"/>
                      <a:pt x="140" y="544"/>
                      <a:pt x="140" y="532"/>
                    </a:cubicBezTo>
                    <a:cubicBezTo>
                      <a:pt x="140" y="341"/>
                      <a:pt x="140" y="341"/>
                      <a:pt x="140" y="341"/>
                    </a:cubicBezTo>
                    <a:cubicBezTo>
                      <a:pt x="140" y="328"/>
                      <a:pt x="130" y="319"/>
                      <a:pt x="118" y="319"/>
                    </a:cubicBezTo>
                    <a:close/>
                    <a:moveTo>
                      <a:pt x="1071" y="554"/>
                    </a:moveTo>
                    <a:cubicBezTo>
                      <a:pt x="1006" y="554"/>
                      <a:pt x="953" y="501"/>
                      <a:pt x="953" y="436"/>
                    </a:cubicBezTo>
                    <a:cubicBezTo>
                      <a:pt x="953" y="371"/>
                      <a:pt x="1006" y="319"/>
                      <a:pt x="1071" y="319"/>
                    </a:cubicBezTo>
                    <a:cubicBezTo>
                      <a:pt x="1136" y="319"/>
                      <a:pt x="1188" y="371"/>
                      <a:pt x="1188" y="436"/>
                    </a:cubicBezTo>
                    <a:cubicBezTo>
                      <a:pt x="1188" y="501"/>
                      <a:pt x="1136" y="554"/>
                      <a:pt x="1071" y="554"/>
                    </a:cubicBezTo>
                    <a:close/>
                    <a:moveTo>
                      <a:pt x="1071" y="363"/>
                    </a:moveTo>
                    <a:cubicBezTo>
                      <a:pt x="1030" y="363"/>
                      <a:pt x="997" y="396"/>
                      <a:pt x="997" y="436"/>
                    </a:cubicBezTo>
                    <a:cubicBezTo>
                      <a:pt x="997" y="477"/>
                      <a:pt x="1030" y="510"/>
                      <a:pt x="1071" y="510"/>
                    </a:cubicBezTo>
                    <a:cubicBezTo>
                      <a:pt x="1111" y="510"/>
                      <a:pt x="1144" y="477"/>
                      <a:pt x="1144" y="436"/>
                    </a:cubicBezTo>
                    <a:cubicBezTo>
                      <a:pt x="1144" y="396"/>
                      <a:pt x="1111" y="363"/>
                      <a:pt x="1071" y="363"/>
                    </a:cubicBezTo>
                    <a:close/>
                    <a:moveTo>
                      <a:pt x="1388" y="319"/>
                    </a:moveTo>
                    <a:cubicBezTo>
                      <a:pt x="1376" y="319"/>
                      <a:pt x="1366" y="328"/>
                      <a:pt x="1366" y="341"/>
                    </a:cubicBezTo>
                    <a:cubicBezTo>
                      <a:pt x="1366" y="532"/>
                      <a:pt x="1366" y="532"/>
                      <a:pt x="1366" y="532"/>
                    </a:cubicBezTo>
                    <a:cubicBezTo>
                      <a:pt x="1366" y="544"/>
                      <a:pt x="1376" y="554"/>
                      <a:pt x="1388" y="554"/>
                    </a:cubicBezTo>
                    <a:cubicBezTo>
                      <a:pt x="1400" y="554"/>
                      <a:pt x="1410" y="544"/>
                      <a:pt x="1410" y="532"/>
                    </a:cubicBezTo>
                    <a:cubicBezTo>
                      <a:pt x="1410" y="341"/>
                      <a:pt x="1410" y="341"/>
                      <a:pt x="1410" y="341"/>
                    </a:cubicBezTo>
                    <a:cubicBezTo>
                      <a:pt x="1410" y="328"/>
                      <a:pt x="1400" y="319"/>
                      <a:pt x="1388" y="319"/>
                    </a:cubicBezTo>
                    <a:close/>
                    <a:moveTo>
                      <a:pt x="1706" y="554"/>
                    </a:moveTo>
                    <a:cubicBezTo>
                      <a:pt x="1641" y="554"/>
                      <a:pt x="1588" y="501"/>
                      <a:pt x="1588" y="436"/>
                    </a:cubicBezTo>
                    <a:cubicBezTo>
                      <a:pt x="1588" y="371"/>
                      <a:pt x="1641" y="319"/>
                      <a:pt x="1706" y="319"/>
                    </a:cubicBezTo>
                    <a:cubicBezTo>
                      <a:pt x="1771" y="319"/>
                      <a:pt x="1824" y="371"/>
                      <a:pt x="1824" y="436"/>
                    </a:cubicBezTo>
                    <a:cubicBezTo>
                      <a:pt x="1824" y="501"/>
                      <a:pt x="1771" y="554"/>
                      <a:pt x="1706" y="554"/>
                    </a:cubicBezTo>
                    <a:close/>
                    <a:moveTo>
                      <a:pt x="1706" y="363"/>
                    </a:moveTo>
                    <a:cubicBezTo>
                      <a:pt x="1665" y="363"/>
                      <a:pt x="1632" y="396"/>
                      <a:pt x="1632" y="436"/>
                    </a:cubicBezTo>
                    <a:cubicBezTo>
                      <a:pt x="1632" y="477"/>
                      <a:pt x="1665" y="510"/>
                      <a:pt x="1706" y="510"/>
                    </a:cubicBezTo>
                    <a:cubicBezTo>
                      <a:pt x="1747" y="510"/>
                      <a:pt x="1780" y="477"/>
                      <a:pt x="1780" y="436"/>
                    </a:cubicBezTo>
                    <a:cubicBezTo>
                      <a:pt x="1780" y="396"/>
                      <a:pt x="1747" y="363"/>
                      <a:pt x="1706" y="363"/>
                    </a:cubicBezTo>
                    <a:close/>
                    <a:moveTo>
                      <a:pt x="118" y="872"/>
                    </a:moveTo>
                    <a:cubicBezTo>
                      <a:pt x="53" y="872"/>
                      <a:pt x="0" y="820"/>
                      <a:pt x="0" y="755"/>
                    </a:cubicBezTo>
                    <a:cubicBezTo>
                      <a:pt x="0" y="690"/>
                      <a:pt x="53" y="637"/>
                      <a:pt x="118" y="637"/>
                    </a:cubicBezTo>
                    <a:cubicBezTo>
                      <a:pt x="183" y="637"/>
                      <a:pt x="236" y="690"/>
                      <a:pt x="236" y="755"/>
                    </a:cubicBezTo>
                    <a:cubicBezTo>
                      <a:pt x="236" y="820"/>
                      <a:pt x="183" y="872"/>
                      <a:pt x="118" y="872"/>
                    </a:cubicBezTo>
                    <a:close/>
                    <a:moveTo>
                      <a:pt x="118" y="681"/>
                    </a:moveTo>
                    <a:cubicBezTo>
                      <a:pt x="77" y="681"/>
                      <a:pt x="44" y="714"/>
                      <a:pt x="44" y="755"/>
                    </a:cubicBezTo>
                    <a:cubicBezTo>
                      <a:pt x="44" y="795"/>
                      <a:pt x="77" y="828"/>
                      <a:pt x="118" y="828"/>
                    </a:cubicBezTo>
                    <a:cubicBezTo>
                      <a:pt x="159" y="828"/>
                      <a:pt x="192" y="795"/>
                      <a:pt x="192" y="755"/>
                    </a:cubicBezTo>
                    <a:cubicBezTo>
                      <a:pt x="192" y="714"/>
                      <a:pt x="159" y="681"/>
                      <a:pt x="118" y="681"/>
                    </a:cubicBezTo>
                    <a:close/>
                    <a:moveTo>
                      <a:pt x="1071" y="872"/>
                    </a:moveTo>
                    <a:cubicBezTo>
                      <a:pt x="1006" y="872"/>
                      <a:pt x="953" y="820"/>
                      <a:pt x="953" y="755"/>
                    </a:cubicBezTo>
                    <a:cubicBezTo>
                      <a:pt x="953" y="690"/>
                      <a:pt x="1006" y="637"/>
                      <a:pt x="1071" y="637"/>
                    </a:cubicBezTo>
                    <a:cubicBezTo>
                      <a:pt x="1136" y="637"/>
                      <a:pt x="1188" y="690"/>
                      <a:pt x="1188" y="755"/>
                    </a:cubicBezTo>
                    <a:cubicBezTo>
                      <a:pt x="1188" y="820"/>
                      <a:pt x="1136" y="872"/>
                      <a:pt x="1071" y="872"/>
                    </a:cubicBezTo>
                    <a:close/>
                    <a:moveTo>
                      <a:pt x="1071" y="681"/>
                    </a:moveTo>
                    <a:cubicBezTo>
                      <a:pt x="1030" y="681"/>
                      <a:pt x="997" y="714"/>
                      <a:pt x="997" y="755"/>
                    </a:cubicBezTo>
                    <a:cubicBezTo>
                      <a:pt x="997" y="795"/>
                      <a:pt x="1030" y="828"/>
                      <a:pt x="1071" y="828"/>
                    </a:cubicBezTo>
                    <a:cubicBezTo>
                      <a:pt x="1111" y="828"/>
                      <a:pt x="1144" y="795"/>
                      <a:pt x="1144" y="755"/>
                    </a:cubicBezTo>
                    <a:cubicBezTo>
                      <a:pt x="1144" y="714"/>
                      <a:pt x="1111" y="681"/>
                      <a:pt x="1071" y="681"/>
                    </a:cubicBezTo>
                    <a:close/>
                    <a:moveTo>
                      <a:pt x="1388" y="872"/>
                    </a:moveTo>
                    <a:cubicBezTo>
                      <a:pt x="1323" y="872"/>
                      <a:pt x="1271" y="820"/>
                      <a:pt x="1271" y="755"/>
                    </a:cubicBezTo>
                    <a:cubicBezTo>
                      <a:pt x="1271" y="690"/>
                      <a:pt x="1323" y="637"/>
                      <a:pt x="1388" y="637"/>
                    </a:cubicBezTo>
                    <a:cubicBezTo>
                      <a:pt x="1453" y="637"/>
                      <a:pt x="1506" y="690"/>
                      <a:pt x="1506" y="755"/>
                    </a:cubicBezTo>
                    <a:cubicBezTo>
                      <a:pt x="1506" y="820"/>
                      <a:pt x="1453" y="872"/>
                      <a:pt x="1388" y="872"/>
                    </a:cubicBezTo>
                    <a:close/>
                    <a:moveTo>
                      <a:pt x="1388" y="681"/>
                    </a:moveTo>
                    <a:cubicBezTo>
                      <a:pt x="1348" y="681"/>
                      <a:pt x="1315" y="714"/>
                      <a:pt x="1315" y="755"/>
                    </a:cubicBezTo>
                    <a:cubicBezTo>
                      <a:pt x="1315" y="795"/>
                      <a:pt x="1348" y="828"/>
                      <a:pt x="1388" y="828"/>
                    </a:cubicBezTo>
                    <a:cubicBezTo>
                      <a:pt x="1429" y="828"/>
                      <a:pt x="1462" y="795"/>
                      <a:pt x="1462" y="755"/>
                    </a:cubicBezTo>
                    <a:cubicBezTo>
                      <a:pt x="1462" y="714"/>
                      <a:pt x="1429" y="681"/>
                      <a:pt x="1388" y="681"/>
                    </a:cubicBezTo>
                    <a:close/>
                    <a:moveTo>
                      <a:pt x="1706" y="637"/>
                    </a:moveTo>
                    <a:cubicBezTo>
                      <a:pt x="1694" y="637"/>
                      <a:pt x="1684" y="647"/>
                      <a:pt x="1684" y="659"/>
                    </a:cubicBezTo>
                    <a:cubicBezTo>
                      <a:pt x="1684" y="850"/>
                      <a:pt x="1684" y="850"/>
                      <a:pt x="1684" y="850"/>
                    </a:cubicBezTo>
                    <a:cubicBezTo>
                      <a:pt x="1684" y="863"/>
                      <a:pt x="1694" y="872"/>
                      <a:pt x="1706" y="872"/>
                    </a:cubicBezTo>
                    <a:cubicBezTo>
                      <a:pt x="1718" y="872"/>
                      <a:pt x="1728" y="863"/>
                      <a:pt x="1728" y="850"/>
                    </a:cubicBezTo>
                    <a:cubicBezTo>
                      <a:pt x="1728" y="659"/>
                      <a:pt x="1728" y="659"/>
                      <a:pt x="1728" y="659"/>
                    </a:cubicBezTo>
                    <a:cubicBezTo>
                      <a:pt x="1728" y="647"/>
                      <a:pt x="1718" y="637"/>
                      <a:pt x="1706" y="637"/>
                    </a:cubicBezTo>
                    <a:close/>
                    <a:moveTo>
                      <a:pt x="118" y="956"/>
                    </a:moveTo>
                    <a:cubicBezTo>
                      <a:pt x="106" y="956"/>
                      <a:pt x="96" y="965"/>
                      <a:pt x="96" y="978"/>
                    </a:cubicBezTo>
                    <a:cubicBezTo>
                      <a:pt x="96" y="1169"/>
                      <a:pt x="96" y="1169"/>
                      <a:pt x="96" y="1169"/>
                    </a:cubicBezTo>
                    <a:cubicBezTo>
                      <a:pt x="96" y="1181"/>
                      <a:pt x="106" y="1191"/>
                      <a:pt x="118" y="1191"/>
                    </a:cubicBezTo>
                    <a:cubicBezTo>
                      <a:pt x="130" y="1191"/>
                      <a:pt x="140" y="1181"/>
                      <a:pt x="140" y="1169"/>
                    </a:cubicBezTo>
                    <a:cubicBezTo>
                      <a:pt x="140" y="978"/>
                      <a:pt x="140" y="978"/>
                      <a:pt x="140" y="978"/>
                    </a:cubicBezTo>
                    <a:cubicBezTo>
                      <a:pt x="140" y="965"/>
                      <a:pt x="130" y="956"/>
                      <a:pt x="118" y="956"/>
                    </a:cubicBezTo>
                    <a:close/>
                    <a:moveTo>
                      <a:pt x="436" y="1191"/>
                    </a:moveTo>
                    <a:cubicBezTo>
                      <a:pt x="371" y="1191"/>
                      <a:pt x="318" y="1138"/>
                      <a:pt x="318" y="1073"/>
                    </a:cubicBezTo>
                    <a:cubicBezTo>
                      <a:pt x="318" y="1008"/>
                      <a:pt x="371" y="956"/>
                      <a:pt x="436" y="956"/>
                    </a:cubicBezTo>
                    <a:cubicBezTo>
                      <a:pt x="501" y="956"/>
                      <a:pt x="553" y="1008"/>
                      <a:pt x="553" y="1073"/>
                    </a:cubicBezTo>
                    <a:cubicBezTo>
                      <a:pt x="553" y="1138"/>
                      <a:pt x="501" y="1191"/>
                      <a:pt x="436" y="1191"/>
                    </a:cubicBezTo>
                    <a:close/>
                    <a:moveTo>
                      <a:pt x="436" y="1000"/>
                    </a:moveTo>
                    <a:cubicBezTo>
                      <a:pt x="395" y="1000"/>
                      <a:pt x="362" y="1033"/>
                      <a:pt x="362" y="1073"/>
                    </a:cubicBezTo>
                    <a:cubicBezTo>
                      <a:pt x="362" y="1114"/>
                      <a:pt x="395" y="1147"/>
                      <a:pt x="436" y="1147"/>
                    </a:cubicBezTo>
                    <a:cubicBezTo>
                      <a:pt x="476" y="1147"/>
                      <a:pt x="509" y="1114"/>
                      <a:pt x="509" y="1073"/>
                    </a:cubicBezTo>
                    <a:cubicBezTo>
                      <a:pt x="509" y="1033"/>
                      <a:pt x="476" y="1000"/>
                      <a:pt x="436" y="1000"/>
                    </a:cubicBezTo>
                    <a:close/>
                    <a:moveTo>
                      <a:pt x="753" y="956"/>
                    </a:moveTo>
                    <a:cubicBezTo>
                      <a:pt x="741" y="956"/>
                      <a:pt x="731" y="965"/>
                      <a:pt x="731" y="978"/>
                    </a:cubicBezTo>
                    <a:cubicBezTo>
                      <a:pt x="731" y="1169"/>
                      <a:pt x="731" y="1169"/>
                      <a:pt x="731" y="1169"/>
                    </a:cubicBezTo>
                    <a:cubicBezTo>
                      <a:pt x="731" y="1181"/>
                      <a:pt x="741" y="1191"/>
                      <a:pt x="753" y="1191"/>
                    </a:cubicBezTo>
                    <a:cubicBezTo>
                      <a:pt x="765" y="1191"/>
                      <a:pt x="775" y="1181"/>
                      <a:pt x="775" y="1169"/>
                    </a:cubicBezTo>
                    <a:cubicBezTo>
                      <a:pt x="775" y="978"/>
                      <a:pt x="775" y="978"/>
                      <a:pt x="775" y="978"/>
                    </a:cubicBezTo>
                    <a:cubicBezTo>
                      <a:pt x="775" y="965"/>
                      <a:pt x="765" y="956"/>
                      <a:pt x="753" y="956"/>
                    </a:cubicBezTo>
                    <a:close/>
                    <a:moveTo>
                      <a:pt x="1071" y="956"/>
                    </a:moveTo>
                    <a:cubicBezTo>
                      <a:pt x="1059" y="956"/>
                      <a:pt x="1049" y="965"/>
                      <a:pt x="1049" y="978"/>
                    </a:cubicBezTo>
                    <a:cubicBezTo>
                      <a:pt x="1049" y="1169"/>
                      <a:pt x="1049" y="1169"/>
                      <a:pt x="1049" y="1169"/>
                    </a:cubicBezTo>
                    <a:cubicBezTo>
                      <a:pt x="1049" y="1181"/>
                      <a:pt x="1059" y="1191"/>
                      <a:pt x="1071" y="1191"/>
                    </a:cubicBezTo>
                    <a:cubicBezTo>
                      <a:pt x="1083" y="1191"/>
                      <a:pt x="1093" y="1181"/>
                      <a:pt x="1093" y="1169"/>
                    </a:cubicBezTo>
                    <a:cubicBezTo>
                      <a:pt x="1093" y="978"/>
                      <a:pt x="1093" y="978"/>
                      <a:pt x="1093" y="978"/>
                    </a:cubicBezTo>
                    <a:cubicBezTo>
                      <a:pt x="1093" y="965"/>
                      <a:pt x="1083" y="956"/>
                      <a:pt x="1071" y="956"/>
                    </a:cubicBezTo>
                    <a:close/>
                    <a:moveTo>
                      <a:pt x="1388" y="1191"/>
                    </a:moveTo>
                    <a:cubicBezTo>
                      <a:pt x="1323" y="1191"/>
                      <a:pt x="1271" y="1138"/>
                      <a:pt x="1271" y="1073"/>
                    </a:cubicBezTo>
                    <a:cubicBezTo>
                      <a:pt x="1271" y="1008"/>
                      <a:pt x="1323" y="956"/>
                      <a:pt x="1388" y="956"/>
                    </a:cubicBezTo>
                    <a:cubicBezTo>
                      <a:pt x="1453" y="956"/>
                      <a:pt x="1506" y="1008"/>
                      <a:pt x="1506" y="1073"/>
                    </a:cubicBezTo>
                    <a:cubicBezTo>
                      <a:pt x="1506" y="1138"/>
                      <a:pt x="1453" y="1191"/>
                      <a:pt x="1388" y="1191"/>
                    </a:cubicBezTo>
                    <a:close/>
                    <a:moveTo>
                      <a:pt x="1388" y="1000"/>
                    </a:moveTo>
                    <a:cubicBezTo>
                      <a:pt x="1348" y="1000"/>
                      <a:pt x="1315" y="1033"/>
                      <a:pt x="1315" y="1073"/>
                    </a:cubicBezTo>
                    <a:cubicBezTo>
                      <a:pt x="1315" y="1114"/>
                      <a:pt x="1348" y="1147"/>
                      <a:pt x="1388" y="1147"/>
                    </a:cubicBezTo>
                    <a:cubicBezTo>
                      <a:pt x="1429" y="1147"/>
                      <a:pt x="1462" y="1114"/>
                      <a:pt x="1462" y="1073"/>
                    </a:cubicBezTo>
                    <a:cubicBezTo>
                      <a:pt x="1462" y="1033"/>
                      <a:pt x="1429" y="1000"/>
                      <a:pt x="1388" y="1000"/>
                    </a:cubicBezTo>
                    <a:close/>
                    <a:moveTo>
                      <a:pt x="1706" y="956"/>
                    </a:moveTo>
                    <a:cubicBezTo>
                      <a:pt x="1694" y="956"/>
                      <a:pt x="1684" y="965"/>
                      <a:pt x="1684" y="978"/>
                    </a:cubicBezTo>
                    <a:cubicBezTo>
                      <a:pt x="1684" y="1169"/>
                      <a:pt x="1684" y="1169"/>
                      <a:pt x="1684" y="1169"/>
                    </a:cubicBezTo>
                    <a:cubicBezTo>
                      <a:pt x="1684" y="1181"/>
                      <a:pt x="1694" y="1191"/>
                      <a:pt x="1706" y="1191"/>
                    </a:cubicBezTo>
                    <a:cubicBezTo>
                      <a:pt x="1718" y="1191"/>
                      <a:pt x="1728" y="1181"/>
                      <a:pt x="1728" y="1169"/>
                    </a:cubicBezTo>
                    <a:cubicBezTo>
                      <a:pt x="1728" y="978"/>
                      <a:pt x="1728" y="978"/>
                      <a:pt x="1728" y="978"/>
                    </a:cubicBezTo>
                    <a:cubicBezTo>
                      <a:pt x="1728" y="965"/>
                      <a:pt x="1718" y="956"/>
                      <a:pt x="1706" y="956"/>
                    </a:cubicBezTo>
                    <a:close/>
                    <a:moveTo>
                      <a:pt x="118" y="1509"/>
                    </a:moveTo>
                    <a:cubicBezTo>
                      <a:pt x="53" y="1509"/>
                      <a:pt x="0" y="1457"/>
                      <a:pt x="0" y="1392"/>
                    </a:cubicBezTo>
                    <a:cubicBezTo>
                      <a:pt x="0" y="1327"/>
                      <a:pt x="53" y="1274"/>
                      <a:pt x="118" y="1274"/>
                    </a:cubicBezTo>
                    <a:cubicBezTo>
                      <a:pt x="183" y="1274"/>
                      <a:pt x="236" y="1327"/>
                      <a:pt x="236" y="1392"/>
                    </a:cubicBezTo>
                    <a:cubicBezTo>
                      <a:pt x="236" y="1457"/>
                      <a:pt x="183" y="1509"/>
                      <a:pt x="118" y="1509"/>
                    </a:cubicBezTo>
                    <a:close/>
                    <a:moveTo>
                      <a:pt x="118" y="1318"/>
                    </a:moveTo>
                    <a:cubicBezTo>
                      <a:pt x="77" y="1318"/>
                      <a:pt x="44" y="1351"/>
                      <a:pt x="44" y="1392"/>
                    </a:cubicBezTo>
                    <a:cubicBezTo>
                      <a:pt x="44" y="1432"/>
                      <a:pt x="77" y="1465"/>
                      <a:pt x="118" y="1465"/>
                    </a:cubicBezTo>
                    <a:cubicBezTo>
                      <a:pt x="159" y="1465"/>
                      <a:pt x="192" y="1432"/>
                      <a:pt x="192" y="1392"/>
                    </a:cubicBezTo>
                    <a:cubicBezTo>
                      <a:pt x="192" y="1351"/>
                      <a:pt x="159" y="1318"/>
                      <a:pt x="118" y="1318"/>
                    </a:cubicBezTo>
                    <a:close/>
                    <a:moveTo>
                      <a:pt x="436" y="1274"/>
                    </a:moveTo>
                    <a:cubicBezTo>
                      <a:pt x="424" y="1274"/>
                      <a:pt x="414" y="1284"/>
                      <a:pt x="414" y="1296"/>
                    </a:cubicBezTo>
                    <a:cubicBezTo>
                      <a:pt x="414" y="1487"/>
                      <a:pt x="414" y="1487"/>
                      <a:pt x="414" y="1487"/>
                    </a:cubicBezTo>
                    <a:cubicBezTo>
                      <a:pt x="414" y="1500"/>
                      <a:pt x="424" y="1509"/>
                      <a:pt x="436" y="1509"/>
                    </a:cubicBezTo>
                    <a:cubicBezTo>
                      <a:pt x="448" y="1509"/>
                      <a:pt x="458" y="1500"/>
                      <a:pt x="458" y="1487"/>
                    </a:cubicBezTo>
                    <a:cubicBezTo>
                      <a:pt x="458" y="1296"/>
                      <a:pt x="458" y="1296"/>
                      <a:pt x="458" y="1296"/>
                    </a:cubicBezTo>
                    <a:cubicBezTo>
                      <a:pt x="458" y="1284"/>
                      <a:pt x="448" y="1274"/>
                      <a:pt x="436" y="1274"/>
                    </a:cubicBezTo>
                    <a:close/>
                    <a:moveTo>
                      <a:pt x="753" y="1509"/>
                    </a:moveTo>
                    <a:cubicBezTo>
                      <a:pt x="688" y="1509"/>
                      <a:pt x="636" y="1457"/>
                      <a:pt x="636" y="1392"/>
                    </a:cubicBezTo>
                    <a:cubicBezTo>
                      <a:pt x="636" y="1327"/>
                      <a:pt x="688" y="1274"/>
                      <a:pt x="753" y="1274"/>
                    </a:cubicBezTo>
                    <a:cubicBezTo>
                      <a:pt x="818" y="1274"/>
                      <a:pt x="871" y="1327"/>
                      <a:pt x="871" y="1392"/>
                    </a:cubicBezTo>
                    <a:cubicBezTo>
                      <a:pt x="871" y="1457"/>
                      <a:pt x="818" y="1509"/>
                      <a:pt x="753" y="1509"/>
                    </a:cubicBezTo>
                    <a:close/>
                    <a:moveTo>
                      <a:pt x="753" y="1318"/>
                    </a:moveTo>
                    <a:cubicBezTo>
                      <a:pt x="713" y="1318"/>
                      <a:pt x="680" y="1351"/>
                      <a:pt x="680" y="1392"/>
                    </a:cubicBezTo>
                    <a:cubicBezTo>
                      <a:pt x="680" y="1432"/>
                      <a:pt x="713" y="1465"/>
                      <a:pt x="753" y="1465"/>
                    </a:cubicBezTo>
                    <a:cubicBezTo>
                      <a:pt x="794" y="1465"/>
                      <a:pt x="827" y="1432"/>
                      <a:pt x="827" y="1392"/>
                    </a:cubicBezTo>
                    <a:cubicBezTo>
                      <a:pt x="827" y="1351"/>
                      <a:pt x="794" y="1318"/>
                      <a:pt x="753" y="1318"/>
                    </a:cubicBezTo>
                    <a:close/>
                    <a:moveTo>
                      <a:pt x="1706" y="1509"/>
                    </a:moveTo>
                    <a:cubicBezTo>
                      <a:pt x="1641" y="1509"/>
                      <a:pt x="1588" y="1457"/>
                      <a:pt x="1588" y="1392"/>
                    </a:cubicBezTo>
                    <a:cubicBezTo>
                      <a:pt x="1588" y="1327"/>
                      <a:pt x="1641" y="1274"/>
                      <a:pt x="1706" y="1274"/>
                    </a:cubicBezTo>
                    <a:cubicBezTo>
                      <a:pt x="1771" y="1274"/>
                      <a:pt x="1824" y="1327"/>
                      <a:pt x="1824" y="1392"/>
                    </a:cubicBezTo>
                    <a:cubicBezTo>
                      <a:pt x="1824" y="1457"/>
                      <a:pt x="1771" y="1509"/>
                      <a:pt x="1706" y="1509"/>
                    </a:cubicBezTo>
                    <a:close/>
                    <a:moveTo>
                      <a:pt x="1706" y="1318"/>
                    </a:moveTo>
                    <a:cubicBezTo>
                      <a:pt x="1665" y="1318"/>
                      <a:pt x="1632" y="1351"/>
                      <a:pt x="1632" y="1392"/>
                    </a:cubicBezTo>
                    <a:cubicBezTo>
                      <a:pt x="1632" y="1432"/>
                      <a:pt x="1665" y="1465"/>
                      <a:pt x="1706" y="1465"/>
                    </a:cubicBezTo>
                    <a:cubicBezTo>
                      <a:pt x="1747" y="1465"/>
                      <a:pt x="1780" y="1432"/>
                      <a:pt x="1780" y="1392"/>
                    </a:cubicBezTo>
                    <a:cubicBezTo>
                      <a:pt x="1780" y="1351"/>
                      <a:pt x="1747" y="1318"/>
                      <a:pt x="1706" y="1318"/>
                    </a:cubicBezTo>
                    <a:close/>
                    <a:moveTo>
                      <a:pt x="118" y="1828"/>
                    </a:moveTo>
                    <a:cubicBezTo>
                      <a:pt x="53" y="1828"/>
                      <a:pt x="0" y="1775"/>
                      <a:pt x="0" y="1710"/>
                    </a:cubicBezTo>
                    <a:cubicBezTo>
                      <a:pt x="0" y="1645"/>
                      <a:pt x="53" y="1593"/>
                      <a:pt x="118" y="1593"/>
                    </a:cubicBezTo>
                    <a:cubicBezTo>
                      <a:pt x="183" y="1593"/>
                      <a:pt x="236" y="1645"/>
                      <a:pt x="236" y="1710"/>
                    </a:cubicBezTo>
                    <a:cubicBezTo>
                      <a:pt x="236" y="1775"/>
                      <a:pt x="183" y="1828"/>
                      <a:pt x="118" y="1828"/>
                    </a:cubicBezTo>
                    <a:close/>
                    <a:moveTo>
                      <a:pt x="118" y="1637"/>
                    </a:moveTo>
                    <a:cubicBezTo>
                      <a:pt x="77" y="1637"/>
                      <a:pt x="44" y="1670"/>
                      <a:pt x="44" y="1710"/>
                    </a:cubicBezTo>
                    <a:cubicBezTo>
                      <a:pt x="44" y="1751"/>
                      <a:pt x="77" y="1784"/>
                      <a:pt x="118" y="1784"/>
                    </a:cubicBezTo>
                    <a:cubicBezTo>
                      <a:pt x="159" y="1784"/>
                      <a:pt x="192" y="1751"/>
                      <a:pt x="192" y="1710"/>
                    </a:cubicBezTo>
                    <a:cubicBezTo>
                      <a:pt x="192" y="1670"/>
                      <a:pt x="159" y="1637"/>
                      <a:pt x="118" y="1637"/>
                    </a:cubicBezTo>
                    <a:close/>
                    <a:moveTo>
                      <a:pt x="436" y="1593"/>
                    </a:moveTo>
                    <a:cubicBezTo>
                      <a:pt x="424" y="1593"/>
                      <a:pt x="414" y="1603"/>
                      <a:pt x="414" y="1615"/>
                    </a:cubicBezTo>
                    <a:cubicBezTo>
                      <a:pt x="414" y="1806"/>
                      <a:pt x="414" y="1806"/>
                      <a:pt x="414" y="1806"/>
                    </a:cubicBezTo>
                    <a:cubicBezTo>
                      <a:pt x="414" y="1818"/>
                      <a:pt x="424" y="1828"/>
                      <a:pt x="436" y="1828"/>
                    </a:cubicBezTo>
                    <a:cubicBezTo>
                      <a:pt x="448" y="1828"/>
                      <a:pt x="458" y="1818"/>
                      <a:pt x="458" y="1806"/>
                    </a:cubicBezTo>
                    <a:cubicBezTo>
                      <a:pt x="458" y="1615"/>
                      <a:pt x="458" y="1615"/>
                      <a:pt x="458" y="1615"/>
                    </a:cubicBezTo>
                    <a:cubicBezTo>
                      <a:pt x="458" y="1603"/>
                      <a:pt x="448" y="1593"/>
                      <a:pt x="436" y="1593"/>
                    </a:cubicBezTo>
                    <a:close/>
                    <a:moveTo>
                      <a:pt x="753" y="1828"/>
                    </a:moveTo>
                    <a:cubicBezTo>
                      <a:pt x="688" y="1828"/>
                      <a:pt x="636" y="1775"/>
                      <a:pt x="636" y="1710"/>
                    </a:cubicBezTo>
                    <a:cubicBezTo>
                      <a:pt x="636" y="1645"/>
                      <a:pt x="688" y="1593"/>
                      <a:pt x="753" y="1593"/>
                    </a:cubicBezTo>
                    <a:cubicBezTo>
                      <a:pt x="818" y="1593"/>
                      <a:pt x="871" y="1645"/>
                      <a:pt x="871" y="1710"/>
                    </a:cubicBezTo>
                    <a:cubicBezTo>
                      <a:pt x="871" y="1775"/>
                      <a:pt x="818" y="1828"/>
                      <a:pt x="753" y="1828"/>
                    </a:cubicBezTo>
                    <a:close/>
                    <a:moveTo>
                      <a:pt x="753" y="1637"/>
                    </a:moveTo>
                    <a:cubicBezTo>
                      <a:pt x="713" y="1637"/>
                      <a:pt x="680" y="1670"/>
                      <a:pt x="680" y="1710"/>
                    </a:cubicBezTo>
                    <a:cubicBezTo>
                      <a:pt x="680" y="1751"/>
                      <a:pt x="713" y="1784"/>
                      <a:pt x="753" y="1784"/>
                    </a:cubicBezTo>
                    <a:cubicBezTo>
                      <a:pt x="794" y="1784"/>
                      <a:pt x="827" y="1751"/>
                      <a:pt x="827" y="1710"/>
                    </a:cubicBezTo>
                    <a:cubicBezTo>
                      <a:pt x="827" y="1670"/>
                      <a:pt x="794" y="1637"/>
                      <a:pt x="753" y="1637"/>
                    </a:cubicBezTo>
                    <a:close/>
                    <a:moveTo>
                      <a:pt x="1706" y="1828"/>
                    </a:moveTo>
                    <a:cubicBezTo>
                      <a:pt x="1641" y="1828"/>
                      <a:pt x="1588" y="1775"/>
                      <a:pt x="1588" y="1710"/>
                    </a:cubicBezTo>
                    <a:cubicBezTo>
                      <a:pt x="1588" y="1645"/>
                      <a:pt x="1641" y="1593"/>
                      <a:pt x="1706" y="1593"/>
                    </a:cubicBezTo>
                    <a:cubicBezTo>
                      <a:pt x="1771" y="1593"/>
                      <a:pt x="1824" y="1645"/>
                      <a:pt x="1824" y="1710"/>
                    </a:cubicBezTo>
                    <a:cubicBezTo>
                      <a:pt x="1824" y="1775"/>
                      <a:pt x="1771" y="1828"/>
                      <a:pt x="1706" y="1828"/>
                    </a:cubicBezTo>
                    <a:close/>
                    <a:moveTo>
                      <a:pt x="1706" y="1637"/>
                    </a:moveTo>
                    <a:cubicBezTo>
                      <a:pt x="1665" y="1637"/>
                      <a:pt x="1632" y="1670"/>
                      <a:pt x="1632" y="1710"/>
                    </a:cubicBezTo>
                    <a:cubicBezTo>
                      <a:pt x="1632" y="1751"/>
                      <a:pt x="1665" y="1784"/>
                      <a:pt x="1706" y="1784"/>
                    </a:cubicBezTo>
                    <a:cubicBezTo>
                      <a:pt x="1747" y="1784"/>
                      <a:pt x="1780" y="1751"/>
                      <a:pt x="1780" y="1710"/>
                    </a:cubicBezTo>
                    <a:cubicBezTo>
                      <a:pt x="1780" y="1670"/>
                      <a:pt x="1747" y="1637"/>
                      <a:pt x="1706" y="163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sp>
            <p:nvSpPr>
              <p:cNvPr id="108" name="Freeform 36">
                <a:extLst>
                  <a:ext uri="{FF2B5EF4-FFF2-40B4-BE49-F238E27FC236}">
                    <a16:creationId xmlns:a16="http://schemas.microsoft.com/office/drawing/2014/main" id="{8939E5CA-F25F-87AA-CA32-E16F8489B63B}"/>
                  </a:ext>
                </a:extLst>
              </p:cNvPr>
              <p:cNvSpPr>
                <a:spLocks noEditPoints="1"/>
              </p:cNvSpPr>
              <p:nvPr/>
            </p:nvSpPr>
            <p:spPr bwMode="auto">
              <a:xfrm>
                <a:off x="5666231" y="2983230"/>
                <a:ext cx="854583" cy="1092327"/>
              </a:xfrm>
              <a:custGeom>
                <a:avLst/>
                <a:gdLst>
                  <a:gd name="T0" fmla="*/ 511 w 1197"/>
                  <a:gd name="T1" fmla="*/ 220 h 1529"/>
                  <a:gd name="T2" fmla="*/ 473 w 1197"/>
                  <a:gd name="T3" fmla="*/ 132 h 1529"/>
                  <a:gd name="T4" fmla="*/ 388 w 1197"/>
                  <a:gd name="T5" fmla="*/ 18 h 1529"/>
                  <a:gd name="T6" fmla="*/ 259 w 1197"/>
                  <a:gd name="T7" fmla="*/ 31 h 1529"/>
                  <a:gd name="T8" fmla="*/ 168 w 1197"/>
                  <a:gd name="T9" fmla="*/ 17 h 1529"/>
                  <a:gd name="T10" fmla="*/ 117 w 1197"/>
                  <a:gd name="T11" fmla="*/ 94 h 1529"/>
                  <a:gd name="T12" fmla="*/ 19 w 1197"/>
                  <a:gd name="T13" fmla="*/ 179 h 1529"/>
                  <a:gd name="T14" fmla="*/ 42 w 1197"/>
                  <a:gd name="T15" fmla="*/ 320 h 1529"/>
                  <a:gd name="T16" fmla="*/ 80 w 1197"/>
                  <a:gd name="T17" fmla="*/ 409 h 1529"/>
                  <a:gd name="T18" fmla="*/ 160 w 1197"/>
                  <a:gd name="T19" fmla="*/ 524 h 1529"/>
                  <a:gd name="T20" fmla="*/ 298 w 1197"/>
                  <a:gd name="T21" fmla="*/ 513 h 1529"/>
                  <a:gd name="T22" fmla="*/ 386 w 1197"/>
                  <a:gd name="T23" fmla="*/ 528 h 1529"/>
                  <a:gd name="T24" fmla="*/ 436 w 1197"/>
                  <a:gd name="T25" fmla="*/ 453 h 1529"/>
                  <a:gd name="T26" fmla="*/ 538 w 1197"/>
                  <a:gd name="T27" fmla="*/ 359 h 1529"/>
                  <a:gd name="T28" fmla="*/ 325 w 1197"/>
                  <a:gd name="T29" fmla="*/ 384 h 1529"/>
                  <a:gd name="T30" fmla="*/ 229 w 1197"/>
                  <a:gd name="T31" fmla="*/ 161 h 1529"/>
                  <a:gd name="T32" fmla="*/ 325 w 1197"/>
                  <a:gd name="T33" fmla="*/ 384 h 1529"/>
                  <a:gd name="T34" fmla="*/ 1154 w 1197"/>
                  <a:gd name="T35" fmla="*/ 1204 h 1529"/>
                  <a:gd name="T36" fmla="*/ 1116 w 1197"/>
                  <a:gd name="T37" fmla="*/ 1116 h 1529"/>
                  <a:gd name="T38" fmla="*/ 1031 w 1197"/>
                  <a:gd name="T39" fmla="*/ 1003 h 1529"/>
                  <a:gd name="T40" fmla="*/ 902 w 1197"/>
                  <a:gd name="T41" fmla="*/ 1015 h 1529"/>
                  <a:gd name="T42" fmla="*/ 811 w 1197"/>
                  <a:gd name="T43" fmla="*/ 1001 h 1529"/>
                  <a:gd name="T44" fmla="*/ 760 w 1197"/>
                  <a:gd name="T45" fmla="*/ 1078 h 1529"/>
                  <a:gd name="T46" fmla="*/ 662 w 1197"/>
                  <a:gd name="T47" fmla="*/ 1164 h 1529"/>
                  <a:gd name="T48" fmla="*/ 685 w 1197"/>
                  <a:gd name="T49" fmla="*/ 1305 h 1529"/>
                  <a:gd name="T50" fmla="*/ 723 w 1197"/>
                  <a:gd name="T51" fmla="*/ 1393 h 1529"/>
                  <a:gd name="T52" fmla="*/ 803 w 1197"/>
                  <a:gd name="T53" fmla="*/ 1508 h 1529"/>
                  <a:gd name="T54" fmla="*/ 941 w 1197"/>
                  <a:gd name="T55" fmla="*/ 1498 h 1529"/>
                  <a:gd name="T56" fmla="*/ 1029 w 1197"/>
                  <a:gd name="T57" fmla="*/ 1512 h 1529"/>
                  <a:gd name="T58" fmla="*/ 1079 w 1197"/>
                  <a:gd name="T59" fmla="*/ 1438 h 1529"/>
                  <a:gd name="T60" fmla="*/ 1181 w 1197"/>
                  <a:gd name="T61" fmla="*/ 1343 h 1529"/>
                  <a:gd name="T62" fmla="*/ 968 w 1197"/>
                  <a:gd name="T63" fmla="*/ 1368 h 1529"/>
                  <a:gd name="T64" fmla="*/ 872 w 1197"/>
                  <a:gd name="T65" fmla="*/ 1145 h 1529"/>
                  <a:gd name="T66" fmla="*/ 968 w 1197"/>
                  <a:gd name="T67" fmla="*/ 1368 h 1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97" h="1529">
                    <a:moveTo>
                      <a:pt x="550" y="244"/>
                    </a:moveTo>
                    <a:cubicBezTo>
                      <a:pt x="511" y="220"/>
                      <a:pt x="511" y="220"/>
                      <a:pt x="511" y="220"/>
                    </a:cubicBezTo>
                    <a:cubicBezTo>
                      <a:pt x="508" y="205"/>
                      <a:pt x="503" y="191"/>
                      <a:pt x="497" y="176"/>
                    </a:cubicBezTo>
                    <a:cubicBezTo>
                      <a:pt x="491" y="161"/>
                      <a:pt x="482" y="146"/>
                      <a:pt x="473" y="132"/>
                    </a:cubicBezTo>
                    <a:cubicBezTo>
                      <a:pt x="482" y="87"/>
                      <a:pt x="482" y="87"/>
                      <a:pt x="482" y="87"/>
                    </a:cubicBezTo>
                    <a:cubicBezTo>
                      <a:pt x="456" y="58"/>
                      <a:pt x="423" y="34"/>
                      <a:pt x="388" y="18"/>
                    </a:cubicBezTo>
                    <a:cubicBezTo>
                      <a:pt x="348" y="41"/>
                      <a:pt x="348" y="41"/>
                      <a:pt x="348" y="41"/>
                    </a:cubicBezTo>
                    <a:cubicBezTo>
                      <a:pt x="319" y="32"/>
                      <a:pt x="289" y="29"/>
                      <a:pt x="259" y="31"/>
                    </a:cubicBezTo>
                    <a:cubicBezTo>
                      <a:pt x="225" y="0"/>
                      <a:pt x="225" y="0"/>
                      <a:pt x="225" y="0"/>
                    </a:cubicBezTo>
                    <a:cubicBezTo>
                      <a:pt x="206" y="4"/>
                      <a:pt x="187" y="9"/>
                      <a:pt x="168" y="17"/>
                    </a:cubicBezTo>
                    <a:cubicBezTo>
                      <a:pt x="150" y="25"/>
                      <a:pt x="132" y="35"/>
                      <a:pt x="117" y="46"/>
                    </a:cubicBezTo>
                    <a:cubicBezTo>
                      <a:pt x="117" y="94"/>
                      <a:pt x="117" y="94"/>
                      <a:pt x="117" y="94"/>
                    </a:cubicBezTo>
                    <a:cubicBezTo>
                      <a:pt x="94" y="115"/>
                      <a:pt x="75" y="138"/>
                      <a:pt x="62" y="165"/>
                    </a:cubicBezTo>
                    <a:cubicBezTo>
                      <a:pt x="19" y="179"/>
                      <a:pt x="19" y="179"/>
                      <a:pt x="19" y="179"/>
                    </a:cubicBezTo>
                    <a:cubicBezTo>
                      <a:pt x="5" y="216"/>
                      <a:pt x="0" y="256"/>
                      <a:pt x="3" y="297"/>
                    </a:cubicBezTo>
                    <a:cubicBezTo>
                      <a:pt x="42" y="320"/>
                      <a:pt x="42" y="320"/>
                      <a:pt x="42" y="320"/>
                    </a:cubicBezTo>
                    <a:cubicBezTo>
                      <a:pt x="45" y="336"/>
                      <a:pt x="50" y="352"/>
                      <a:pt x="58" y="368"/>
                    </a:cubicBezTo>
                    <a:cubicBezTo>
                      <a:pt x="64" y="382"/>
                      <a:pt x="71" y="396"/>
                      <a:pt x="80" y="409"/>
                    </a:cubicBezTo>
                    <a:cubicBezTo>
                      <a:pt x="69" y="453"/>
                      <a:pt x="69" y="453"/>
                      <a:pt x="69" y="453"/>
                    </a:cubicBezTo>
                    <a:cubicBezTo>
                      <a:pt x="95" y="484"/>
                      <a:pt x="126" y="507"/>
                      <a:pt x="160" y="524"/>
                    </a:cubicBezTo>
                    <a:cubicBezTo>
                      <a:pt x="199" y="501"/>
                      <a:pt x="199" y="501"/>
                      <a:pt x="199" y="501"/>
                    </a:cubicBezTo>
                    <a:cubicBezTo>
                      <a:pt x="231" y="512"/>
                      <a:pt x="264" y="516"/>
                      <a:pt x="298" y="513"/>
                    </a:cubicBezTo>
                    <a:cubicBezTo>
                      <a:pt x="333" y="545"/>
                      <a:pt x="333" y="545"/>
                      <a:pt x="333" y="545"/>
                    </a:cubicBezTo>
                    <a:cubicBezTo>
                      <a:pt x="350" y="540"/>
                      <a:pt x="368" y="535"/>
                      <a:pt x="386" y="528"/>
                    </a:cubicBezTo>
                    <a:cubicBezTo>
                      <a:pt x="403" y="520"/>
                      <a:pt x="420" y="510"/>
                      <a:pt x="436" y="499"/>
                    </a:cubicBezTo>
                    <a:cubicBezTo>
                      <a:pt x="436" y="453"/>
                      <a:pt x="436" y="453"/>
                      <a:pt x="436" y="453"/>
                    </a:cubicBezTo>
                    <a:cubicBezTo>
                      <a:pt x="461" y="430"/>
                      <a:pt x="481" y="402"/>
                      <a:pt x="495" y="372"/>
                    </a:cubicBezTo>
                    <a:cubicBezTo>
                      <a:pt x="538" y="359"/>
                      <a:pt x="538" y="359"/>
                      <a:pt x="538" y="359"/>
                    </a:cubicBezTo>
                    <a:cubicBezTo>
                      <a:pt x="550" y="322"/>
                      <a:pt x="554" y="283"/>
                      <a:pt x="550" y="244"/>
                    </a:cubicBezTo>
                    <a:close/>
                    <a:moveTo>
                      <a:pt x="325" y="384"/>
                    </a:moveTo>
                    <a:cubicBezTo>
                      <a:pt x="264" y="411"/>
                      <a:pt x="193" y="382"/>
                      <a:pt x="167" y="320"/>
                    </a:cubicBezTo>
                    <a:cubicBezTo>
                      <a:pt x="140" y="258"/>
                      <a:pt x="168" y="187"/>
                      <a:pt x="229" y="161"/>
                    </a:cubicBezTo>
                    <a:cubicBezTo>
                      <a:pt x="290" y="134"/>
                      <a:pt x="361" y="163"/>
                      <a:pt x="387" y="224"/>
                    </a:cubicBezTo>
                    <a:cubicBezTo>
                      <a:pt x="414" y="285"/>
                      <a:pt x="386" y="358"/>
                      <a:pt x="325" y="384"/>
                    </a:cubicBezTo>
                    <a:close/>
                    <a:moveTo>
                      <a:pt x="1193" y="1228"/>
                    </a:moveTo>
                    <a:cubicBezTo>
                      <a:pt x="1154" y="1204"/>
                      <a:pt x="1154" y="1204"/>
                      <a:pt x="1154" y="1204"/>
                    </a:cubicBezTo>
                    <a:cubicBezTo>
                      <a:pt x="1151" y="1190"/>
                      <a:pt x="1146" y="1175"/>
                      <a:pt x="1140" y="1160"/>
                    </a:cubicBezTo>
                    <a:cubicBezTo>
                      <a:pt x="1134" y="1145"/>
                      <a:pt x="1125" y="1130"/>
                      <a:pt x="1116" y="1116"/>
                    </a:cubicBezTo>
                    <a:cubicBezTo>
                      <a:pt x="1125" y="1072"/>
                      <a:pt x="1125" y="1072"/>
                      <a:pt x="1125" y="1072"/>
                    </a:cubicBezTo>
                    <a:cubicBezTo>
                      <a:pt x="1099" y="1042"/>
                      <a:pt x="1066" y="1018"/>
                      <a:pt x="1031" y="1003"/>
                    </a:cubicBezTo>
                    <a:cubicBezTo>
                      <a:pt x="991" y="1026"/>
                      <a:pt x="991" y="1026"/>
                      <a:pt x="991" y="1026"/>
                    </a:cubicBezTo>
                    <a:cubicBezTo>
                      <a:pt x="962" y="1016"/>
                      <a:pt x="932" y="1013"/>
                      <a:pt x="902" y="1015"/>
                    </a:cubicBezTo>
                    <a:cubicBezTo>
                      <a:pt x="868" y="984"/>
                      <a:pt x="868" y="984"/>
                      <a:pt x="868" y="984"/>
                    </a:cubicBezTo>
                    <a:cubicBezTo>
                      <a:pt x="849" y="988"/>
                      <a:pt x="830" y="993"/>
                      <a:pt x="811" y="1001"/>
                    </a:cubicBezTo>
                    <a:cubicBezTo>
                      <a:pt x="793" y="1010"/>
                      <a:pt x="775" y="1019"/>
                      <a:pt x="760" y="1031"/>
                    </a:cubicBezTo>
                    <a:cubicBezTo>
                      <a:pt x="760" y="1078"/>
                      <a:pt x="760" y="1078"/>
                      <a:pt x="760" y="1078"/>
                    </a:cubicBezTo>
                    <a:cubicBezTo>
                      <a:pt x="737" y="1099"/>
                      <a:pt x="718" y="1123"/>
                      <a:pt x="705" y="1150"/>
                    </a:cubicBezTo>
                    <a:cubicBezTo>
                      <a:pt x="662" y="1164"/>
                      <a:pt x="662" y="1164"/>
                      <a:pt x="662" y="1164"/>
                    </a:cubicBezTo>
                    <a:cubicBezTo>
                      <a:pt x="648" y="1201"/>
                      <a:pt x="643" y="1240"/>
                      <a:pt x="646" y="1282"/>
                    </a:cubicBezTo>
                    <a:cubicBezTo>
                      <a:pt x="685" y="1305"/>
                      <a:pt x="685" y="1305"/>
                      <a:pt x="685" y="1305"/>
                    </a:cubicBezTo>
                    <a:cubicBezTo>
                      <a:pt x="688" y="1320"/>
                      <a:pt x="693" y="1337"/>
                      <a:pt x="701" y="1352"/>
                    </a:cubicBezTo>
                    <a:cubicBezTo>
                      <a:pt x="707" y="1367"/>
                      <a:pt x="714" y="1381"/>
                      <a:pt x="723" y="1393"/>
                    </a:cubicBezTo>
                    <a:cubicBezTo>
                      <a:pt x="712" y="1438"/>
                      <a:pt x="712" y="1438"/>
                      <a:pt x="712" y="1438"/>
                    </a:cubicBezTo>
                    <a:cubicBezTo>
                      <a:pt x="738" y="1468"/>
                      <a:pt x="769" y="1491"/>
                      <a:pt x="803" y="1508"/>
                    </a:cubicBezTo>
                    <a:cubicBezTo>
                      <a:pt x="842" y="1485"/>
                      <a:pt x="842" y="1485"/>
                      <a:pt x="842" y="1485"/>
                    </a:cubicBezTo>
                    <a:cubicBezTo>
                      <a:pt x="874" y="1496"/>
                      <a:pt x="907" y="1500"/>
                      <a:pt x="941" y="1498"/>
                    </a:cubicBezTo>
                    <a:cubicBezTo>
                      <a:pt x="976" y="1529"/>
                      <a:pt x="976" y="1529"/>
                      <a:pt x="976" y="1529"/>
                    </a:cubicBezTo>
                    <a:cubicBezTo>
                      <a:pt x="993" y="1525"/>
                      <a:pt x="1011" y="1519"/>
                      <a:pt x="1029" y="1512"/>
                    </a:cubicBezTo>
                    <a:cubicBezTo>
                      <a:pt x="1046" y="1504"/>
                      <a:pt x="1063" y="1494"/>
                      <a:pt x="1079" y="1484"/>
                    </a:cubicBezTo>
                    <a:cubicBezTo>
                      <a:pt x="1079" y="1438"/>
                      <a:pt x="1079" y="1438"/>
                      <a:pt x="1079" y="1438"/>
                    </a:cubicBezTo>
                    <a:cubicBezTo>
                      <a:pt x="1104" y="1415"/>
                      <a:pt x="1124" y="1387"/>
                      <a:pt x="1138" y="1356"/>
                    </a:cubicBezTo>
                    <a:cubicBezTo>
                      <a:pt x="1181" y="1343"/>
                      <a:pt x="1181" y="1343"/>
                      <a:pt x="1181" y="1343"/>
                    </a:cubicBezTo>
                    <a:cubicBezTo>
                      <a:pt x="1193" y="1307"/>
                      <a:pt x="1197" y="1267"/>
                      <a:pt x="1193" y="1228"/>
                    </a:cubicBezTo>
                    <a:close/>
                    <a:moveTo>
                      <a:pt x="968" y="1368"/>
                    </a:moveTo>
                    <a:cubicBezTo>
                      <a:pt x="907" y="1395"/>
                      <a:pt x="836" y="1366"/>
                      <a:pt x="810" y="1305"/>
                    </a:cubicBezTo>
                    <a:cubicBezTo>
                      <a:pt x="783" y="1243"/>
                      <a:pt x="811" y="1171"/>
                      <a:pt x="872" y="1145"/>
                    </a:cubicBezTo>
                    <a:cubicBezTo>
                      <a:pt x="933" y="1118"/>
                      <a:pt x="1004" y="1147"/>
                      <a:pt x="1030" y="1208"/>
                    </a:cubicBezTo>
                    <a:cubicBezTo>
                      <a:pt x="1057" y="1270"/>
                      <a:pt x="1029" y="1342"/>
                      <a:pt x="968" y="1368"/>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grpSp>
      </p:grpSp>
      <p:sp>
        <p:nvSpPr>
          <p:cNvPr id="109" name="Rectangle 108">
            <a:extLst>
              <a:ext uri="{FF2B5EF4-FFF2-40B4-BE49-F238E27FC236}">
                <a16:creationId xmlns:a16="http://schemas.microsoft.com/office/drawing/2014/main" id="{F6943449-A36D-038C-F905-35C27ADF14A6}"/>
              </a:ext>
            </a:extLst>
          </p:cNvPr>
          <p:cNvSpPr/>
          <p:nvPr/>
        </p:nvSpPr>
        <p:spPr>
          <a:xfrm>
            <a:off x="1091724" y="3040623"/>
            <a:ext cx="519683" cy="385011"/>
          </a:xfrm>
          <a:prstGeom prst="rect">
            <a:avLst/>
          </a:prstGeom>
          <a:noFill/>
          <a:ln w="7620" cap="rnd" cmpd="sng" algn="ctr">
            <a:solidFill>
              <a:schemeClr val="tx2"/>
            </a:solidFill>
            <a:prstDash val="dash"/>
            <a:round/>
            <a:headEnd type="none" w="med" len="med"/>
            <a:tailEnd type="none" w="med" len="me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1946" tIns="21946" rIns="21946" bIns="21946" numCol="1" spcCol="0" rtlCol="0" fromWordArt="0" anchor="ctr" anchorCtr="0" forceAA="0" compatLnSpc="1">
            <a:prstTxWarp prst="textNoShape">
              <a:avLst/>
            </a:prstTxWarp>
            <a:noAutofit/>
          </a:bodyPr>
          <a:lstStyle/>
          <a:p>
            <a:pPr algn="ctr"/>
            <a:r>
              <a:rPr lang="zh-TW" altLang="en-US" sz="1400" b="1">
                <a:solidFill>
                  <a:schemeClr val="tx2"/>
                </a:solidFill>
                <a:ea typeface="Microsoft YaHei" panose="020B0503020204020204" pitchFamily="34" charset="-122"/>
                <a:sym typeface="Trebuchet MS" panose="020B0603020202020204" pitchFamily="34" charset="0"/>
              </a:rPr>
              <a:t>目標客群</a:t>
            </a:r>
            <a:endParaRPr lang="es-ES" sz="1400">
              <a:solidFill>
                <a:schemeClr val="tx2"/>
              </a:solidFill>
              <a:ea typeface="Microsoft YaHei" panose="020B0503020204020204" pitchFamily="34" charset="-122"/>
              <a:sym typeface="Trebuchet MS" panose="020B0603020202020204" pitchFamily="34" charset="0"/>
            </a:endParaRPr>
          </a:p>
        </p:txBody>
      </p:sp>
      <p:sp>
        <p:nvSpPr>
          <p:cNvPr id="110" name="object 20">
            <a:extLst>
              <a:ext uri="{FF2B5EF4-FFF2-40B4-BE49-F238E27FC236}">
                <a16:creationId xmlns:a16="http://schemas.microsoft.com/office/drawing/2014/main" id="{F44CBEF8-310F-D98A-3A08-3D54304BDB7A}"/>
              </a:ext>
            </a:extLst>
          </p:cNvPr>
          <p:cNvSpPr txBox="1"/>
          <p:nvPr/>
        </p:nvSpPr>
        <p:spPr>
          <a:xfrm>
            <a:off x="5509201" y="3711636"/>
            <a:ext cx="2395318" cy="425938"/>
          </a:xfrm>
          <a:prstGeom prst="rect">
            <a:avLst/>
          </a:prstGeom>
          <a:solidFill>
            <a:srgbClr val="FFFFFF"/>
          </a:solidFill>
        </p:spPr>
        <p:txBody>
          <a:bodyPr vert="horz" wrap="square" lIns="0" tIns="12065" rIns="0" bIns="0" rtlCol="0" anchor="ctr">
            <a:noAutofit/>
          </a:bodyPr>
          <a:lstStyle/>
          <a:p>
            <a:pPr marL="324000" lvl="1" indent="-216000">
              <a:buClr>
                <a:schemeClr val="tx2"/>
              </a:buClr>
              <a:buFont typeface="Trebuchet MS" panose="020B0603020202020204" pitchFamily="34" charset="0"/>
              <a:buChar char="•"/>
              <a:tabLst>
                <a:tab pos="227965" algn="l"/>
              </a:tabLst>
            </a:pPr>
            <a:r>
              <a:rPr lang="zh-TW" altLang="en-US" sz="1400">
                <a:solidFill>
                  <a:srgbClr val="29BA74"/>
                </a:solidFill>
                <a:latin typeface="Trebuchet MS" panose="020B0603020202020204" pitchFamily="34" charset="0"/>
                <a:ea typeface="Microsoft YaHei" panose="020B0503020204020204" pitchFamily="34" charset="-122"/>
                <a:cs typeface="Microsoft GothicNeo" panose="020B0500000101010101" pitchFamily="34" charset="-127"/>
                <a:sym typeface="Trebuchet MS" panose="020B0603020202020204" pitchFamily="34" charset="0"/>
              </a:rPr>
              <a:t>回測</a:t>
            </a:r>
            <a:r>
              <a:rPr lang="zh-TW" altLang="en-US" sz="1400">
                <a:latin typeface="Trebuchet MS" panose="020B0603020202020204" pitchFamily="34" charset="0"/>
                <a:ea typeface="Microsoft YaHei" panose="020B0503020204020204" pitchFamily="34" charset="-122"/>
                <a:cs typeface="Microsoft GothicNeo" panose="020B0500000101010101" pitchFamily="34" charset="-127"/>
                <a:sym typeface="Trebuchet MS" panose="020B0603020202020204" pitchFamily="34" charset="0"/>
              </a:rPr>
              <a:t>並調整數據及模型</a:t>
            </a:r>
            <a:endParaRPr lang="en-US" altLang="zh-TW" sz="1400">
              <a:latin typeface="Trebuchet MS" panose="020B0603020202020204" pitchFamily="34" charset="0"/>
              <a:ea typeface="Microsoft YaHei" panose="020B0503020204020204" pitchFamily="34" charset="-122"/>
              <a:cs typeface="Microsoft GothicNeo" panose="020B0500000101010101" pitchFamily="34" charset="-127"/>
              <a:sym typeface="Microsoft YaHei" panose="020B0503020204020204" pitchFamily="34" charset="-122"/>
            </a:endParaRPr>
          </a:p>
        </p:txBody>
      </p:sp>
      <p:sp>
        <p:nvSpPr>
          <p:cNvPr id="116" name="Rectangle 115">
            <a:extLst>
              <a:ext uri="{FF2B5EF4-FFF2-40B4-BE49-F238E27FC236}">
                <a16:creationId xmlns:a16="http://schemas.microsoft.com/office/drawing/2014/main" id="{56360B2C-C73F-4C25-F1DB-D22BA53932A5}"/>
              </a:ext>
            </a:extLst>
          </p:cNvPr>
          <p:cNvSpPr/>
          <p:nvPr/>
        </p:nvSpPr>
        <p:spPr>
          <a:xfrm>
            <a:off x="4949508" y="3068084"/>
            <a:ext cx="519683" cy="385011"/>
          </a:xfrm>
          <a:prstGeom prst="rect">
            <a:avLst/>
          </a:prstGeom>
          <a:noFill/>
          <a:ln w="7620" cap="rnd" cmpd="sng" algn="ctr">
            <a:solidFill>
              <a:schemeClr val="tx2"/>
            </a:solidFill>
            <a:prstDash val="dash"/>
            <a:round/>
            <a:headEnd type="none" w="med" len="med"/>
            <a:tailEnd type="none" w="med" len="me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1946" tIns="21946" rIns="21946" bIns="21946" numCol="1" spcCol="0" rtlCol="0" fromWordArt="0" anchor="ctr" anchorCtr="0" forceAA="0" compatLnSpc="1">
            <a:prstTxWarp prst="textNoShape">
              <a:avLst/>
            </a:prstTxWarp>
            <a:noAutofit/>
          </a:bodyPr>
          <a:lstStyle/>
          <a:p>
            <a:pPr algn="ctr"/>
            <a:r>
              <a:rPr lang="zh-TW" altLang="en-US" sz="1400" b="1">
                <a:solidFill>
                  <a:schemeClr val="tx2"/>
                </a:solidFill>
                <a:ea typeface="Microsoft YaHei" panose="020B0503020204020204" pitchFamily="34" charset="-122"/>
                <a:sym typeface="Trebuchet MS" panose="020B0603020202020204" pitchFamily="34" charset="0"/>
              </a:rPr>
              <a:t>模型訓練</a:t>
            </a:r>
            <a:endParaRPr lang="es-ES" sz="1400">
              <a:solidFill>
                <a:schemeClr val="tx2"/>
              </a:solidFill>
              <a:ea typeface="Microsoft YaHei" panose="020B0503020204020204" pitchFamily="34" charset="-122"/>
              <a:sym typeface="Trebuchet MS" panose="020B0603020202020204" pitchFamily="34" charset="0"/>
            </a:endParaRPr>
          </a:p>
        </p:txBody>
      </p:sp>
      <p:sp>
        <p:nvSpPr>
          <p:cNvPr id="117" name="Rectangle 116">
            <a:extLst>
              <a:ext uri="{FF2B5EF4-FFF2-40B4-BE49-F238E27FC236}">
                <a16:creationId xmlns:a16="http://schemas.microsoft.com/office/drawing/2014/main" id="{3C333E95-CCF1-6CA3-CDBA-24EFEDF6C10F}"/>
              </a:ext>
            </a:extLst>
          </p:cNvPr>
          <p:cNvSpPr/>
          <p:nvPr/>
        </p:nvSpPr>
        <p:spPr>
          <a:xfrm>
            <a:off x="4949508" y="3755313"/>
            <a:ext cx="519683" cy="385011"/>
          </a:xfrm>
          <a:prstGeom prst="rect">
            <a:avLst/>
          </a:prstGeom>
          <a:noFill/>
          <a:ln w="7620" cap="rnd" cmpd="sng" algn="ctr">
            <a:solidFill>
              <a:schemeClr val="tx2"/>
            </a:solidFill>
            <a:prstDash val="dash"/>
            <a:round/>
            <a:headEnd type="none" w="med" len="med"/>
            <a:tailEnd type="none" w="med" len="me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1946" tIns="21946" rIns="21946" bIns="21946" numCol="1" spcCol="0" rtlCol="0" fromWordArt="0" anchor="ctr" anchorCtr="0" forceAA="0" compatLnSpc="1">
            <a:prstTxWarp prst="textNoShape">
              <a:avLst/>
            </a:prstTxWarp>
            <a:noAutofit/>
          </a:bodyPr>
          <a:lstStyle/>
          <a:p>
            <a:pPr algn="ctr"/>
            <a:r>
              <a:rPr lang="zh-TW" altLang="en-US" sz="1400" b="1">
                <a:solidFill>
                  <a:schemeClr val="tx2"/>
                </a:solidFill>
                <a:ea typeface="Microsoft YaHei" panose="020B0503020204020204" pitchFamily="34" charset="-122"/>
                <a:sym typeface="Trebuchet MS" panose="020B0603020202020204" pitchFamily="34" charset="0"/>
              </a:rPr>
              <a:t>模型測試</a:t>
            </a:r>
            <a:endParaRPr lang="es-ES" sz="1400">
              <a:solidFill>
                <a:schemeClr val="tx2"/>
              </a:solidFill>
              <a:ea typeface="Microsoft YaHei" panose="020B0503020204020204" pitchFamily="34" charset="-122"/>
              <a:sym typeface="Trebuchet MS" panose="020B0603020202020204" pitchFamily="34" charset="0"/>
            </a:endParaRPr>
          </a:p>
        </p:txBody>
      </p:sp>
      <p:grpSp>
        <p:nvGrpSpPr>
          <p:cNvPr id="118" name="bcgIcons_GoToMarket">
            <a:extLst>
              <a:ext uri="{FF2B5EF4-FFF2-40B4-BE49-F238E27FC236}">
                <a16:creationId xmlns:a16="http://schemas.microsoft.com/office/drawing/2014/main" id="{D091693A-F4DD-9BC0-BEC1-A40806AF9DC1}"/>
              </a:ext>
            </a:extLst>
          </p:cNvPr>
          <p:cNvGrpSpPr>
            <a:grpSpLocks noChangeAspect="1"/>
          </p:cNvGrpSpPr>
          <p:nvPr/>
        </p:nvGrpSpPr>
        <p:grpSpPr bwMode="auto">
          <a:xfrm>
            <a:off x="8263168" y="3397620"/>
            <a:ext cx="561762" cy="562283"/>
            <a:chOff x="1682" y="0"/>
            <a:chExt cx="4316" cy="4320"/>
          </a:xfrm>
        </p:grpSpPr>
        <p:sp>
          <p:nvSpPr>
            <p:cNvPr id="119" name="AutoShape 14">
              <a:extLst>
                <a:ext uri="{FF2B5EF4-FFF2-40B4-BE49-F238E27FC236}">
                  <a16:creationId xmlns:a16="http://schemas.microsoft.com/office/drawing/2014/main" id="{941E43E8-6023-47D1-1928-EEF5F32F8ADE}"/>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Freeform 16">
              <a:extLst>
                <a:ext uri="{FF2B5EF4-FFF2-40B4-BE49-F238E27FC236}">
                  <a16:creationId xmlns:a16="http://schemas.microsoft.com/office/drawing/2014/main" id="{36181252-98DB-4CB0-0627-001443A740F0}"/>
                </a:ext>
              </a:extLst>
            </p:cNvPr>
            <p:cNvSpPr>
              <a:spLocks noEditPoints="1"/>
            </p:cNvSpPr>
            <p:nvPr/>
          </p:nvSpPr>
          <p:spPr bwMode="auto">
            <a:xfrm>
              <a:off x="2574" y="296"/>
              <a:ext cx="2605" cy="2697"/>
            </a:xfrm>
            <a:custGeom>
              <a:avLst/>
              <a:gdLst>
                <a:gd name="T0" fmla="*/ 540 w 1391"/>
                <a:gd name="T1" fmla="*/ 461 h 1438"/>
                <a:gd name="T2" fmla="*/ 144 w 1391"/>
                <a:gd name="T3" fmla="*/ 866 h 1438"/>
                <a:gd name="T4" fmla="*/ 204 w 1391"/>
                <a:gd name="T5" fmla="*/ 1230 h 1438"/>
                <a:gd name="T6" fmla="*/ 235 w 1391"/>
                <a:gd name="T7" fmla="*/ 1261 h 1438"/>
                <a:gd name="T8" fmla="*/ 122 w 1391"/>
                <a:gd name="T9" fmla="*/ 1364 h 1438"/>
                <a:gd name="T10" fmla="*/ 121 w 1391"/>
                <a:gd name="T11" fmla="*/ 1364 h 1438"/>
                <a:gd name="T12" fmla="*/ 8 w 1391"/>
                <a:gd name="T13" fmla="*/ 1258 h 1438"/>
                <a:gd name="T14" fmla="*/ 40 w 1391"/>
                <a:gd name="T15" fmla="*/ 1228 h 1438"/>
                <a:gd name="T16" fmla="*/ 100 w 1391"/>
                <a:gd name="T17" fmla="*/ 857 h 1438"/>
                <a:gd name="T18" fmla="*/ 496 w 1391"/>
                <a:gd name="T19" fmla="*/ 452 h 1438"/>
                <a:gd name="T20" fmla="*/ 518 w 1391"/>
                <a:gd name="T21" fmla="*/ 0 h 1438"/>
                <a:gd name="T22" fmla="*/ 758 w 1391"/>
                <a:gd name="T23" fmla="*/ 746 h 1438"/>
                <a:gd name="T24" fmla="*/ 699 w 1391"/>
                <a:gd name="T25" fmla="*/ 22 h 1438"/>
                <a:gd name="T26" fmla="*/ 655 w 1391"/>
                <a:gd name="T27" fmla="*/ 22 h 1438"/>
                <a:gd name="T28" fmla="*/ 594 w 1391"/>
                <a:gd name="T29" fmla="*/ 744 h 1438"/>
                <a:gd name="T30" fmla="*/ 562 w 1391"/>
                <a:gd name="T31" fmla="*/ 775 h 1438"/>
                <a:gd name="T32" fmla="*/ 674 w 1391"/>
                <a:gd name="T33" fmla="*/ 880 h 1438"/>
                <a:gd name="T34" fmla="*/ 690 w 1391"/>
                <a:gd name="T35" fmla="*/ 874 h 1438"/>
                <a:gd name="T36" fmla="*/ 790 w 1391"/>
                <a:gd name="T37" fmla="*/ 747 h 1438"/>
                <a:gd name="T38" fmla="*/ 1111 w 1391"/>
                <a:gd name="T39" fmla="*/ 886 h 1438"/>
                <a:gd name="T40" fmla="*/ 1051 w 1391"/>
                <a:gd name="T41" fmla="*/ 726 h 1438"/>
                <a:gd name="T42" fmla="*/ 858 w 1391"/>
                <a:gd name="T43" fmla="*/ 524 h 1438"/>
                <a:gd name="T44" fmla="*/ 836 w 1391"/>
                <a:gd name="T45" fmla="*/ 0 h 1438"/>
                <a:gd name="T46" fmla="*/ 814 w 1391"/>
                <a:gd name="T47" fmla="*/ 533 h 1438"/>
                <a:gd name="T48" fmla="*/ 1007 w 1391"/>
                <a:gd name="T49" fmla="*/ 735 h 1438"/>
                <a:gd name="T50" fmla="*/ 947 w 1391"/>
                <a:gd name="T51" fmla="*/ 884 h 1438"/>
                <a:gd name="T52" fmla="*/ 915 w 1391"/>
                <a:gd name="T53" fmla="*/ 915 h 1438"/>
                <a:gd name="T54" fmla="*/ 1027 w 1391"/>
                <a:gd name="T55" fmla="*/ 1021 h 1438"/>
                <a:gd name="T56" fmla="*/ 1043 w 1391"/>
                <a:gd name="T57" fmla="*/ 1014 h 1438"/>
                <a:gd name="T58" fmla="*/ 1142 w 1391"/>
                <a:gd name="T59" fmla="*/ 887 h 1438"/>
                <a:gd name="T60" fmla="*/ 1383 w 1391"/>
                <a:gd name="T61" fmla="*/ 1304 h 1438"/>
                <a:gd name="T62" fmla="*/ 1291 w 1391"/>
                <a:gd name="T63" fmla="*/ 1362 h 1438"/>
                <a:gd name="T64" fmla="*/ 1285 w 1391"/>
                <a:gd name="T65" fmla="*/ 618 h 1438"/>
                <a:gd name="T66" fmla="*/ 1016 w 1391"/>
                <a:gd name="T67" fmla="*/ 22 h 1438"/>
                <a:gd name="T68" fmla="*/ 972 w 1391"/>
                <a:gd name="T69" fmla="*/ 22 h 1438"/>
                <a:gd name="T70" fmla="*/ 979 w 1391"/>
                <a:gd name="T71" fmla="*/ 373 h 1438"/>
                <a:gd name="T72" fmla="*/ 1247 w 1391"/>
                <a:gd name="T73" fmla="*/ 1363 h 1438"/>
                <a:gd name="T74" fmla="*/ 1156 w 1391"/>
                <a:gd name="T75" fmla="*/ 1301 h 1438"/>
                <a:gd name="T76" fmla="*/ 1252 w 1391"/>
                <a:gd name="T77" fmla="*/ 1431 h 1438"/>
                <a:gd name="T78" fmla="*/ 1268 w 1391"/>
                <a:gd name="T79" fmla="*/ 1438 h 1438"/>
                <a:gd name="T80" fmla="*/ 1288 w 1391"/>
                <a:gd name="T81" fmla="*/ 1427 h 1438"/>
                <a:gd name="T82" fmla="*/ 1383 w 1391"/>
                <a:gd name="T83" fmla="*/ 1304 h 1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91" h="1438">
                  <a:moveTo>
                    <a:pt x="540" y="22"/>
                  </a:moveTo>
                  <a:cubicBezTo>
                    <a:pt x="540" y="461"/>
                    <a:pt x="540" y="461"/>
                    <a:pt x="540" y="461"/>
                  </a:cubicBezTo>
                  <a:cubicBezTo>
                    <a:pt x="540" y="467"/>
                    <a:pt x="538" y="472"/>
                    <a:pt x="534" y="476"/>
                  </a:cubicBezTo>
                  <a:cubicBezTo>
                    <a:pt x="144" y="866"/>
                    <a:pt x="144" y="866"/>
                    <a:pt x="144" y="866"/>
                  </a:cubicBezTo>
                  <a:cubicBezTo>
                    <a:pt x="144" y="1289"/>
                    <a:pt x="144" y="1289"/>
                    <a:pt x="144" y="1289"/>
                  </a:cubicBezTo>
                  <a:cubicBezTo>
                    <a:pt x="204" y="1230"/>
                    <a:pt x="204" y="1230"/>
                    <a:pt x="204" y="1230"/>
                  </a:cubicBezTo>
                  <a:cubicBezTo>
                    <a:pt x="213" y="1221"/>
                    <a:pt x="227" y="1221"/>
                    <a:pt x="235" y="1230"/>
                  </a:cubicBezTo>
                  <a:cubicBezTo>
                    <a:pt x="244" y="1239"/>
                    <a:pt x="244" y="1253"/>
                    <a:pt x="235" y="1261"/>
                  </a:cubicBezTo>
                  <a:cubicBezTo>
                    <a:pt x="141" y="1353"/>
                    <a:pt x="141" y="1353"/>
                    <a:pt x="141" y="1353"/>
                  </a:cubicBezTo>
                  <a:cubicBezTo>
                    <a:pt x="137" y="1360"/>
                    <a:pt x="130" y="1364"/>
                    <a:pt x="122" y="1364"/>
                  </a:cubicBezTo>
                  <a:cubicBezTo>
                    <a:pt x="122" y="1364"/>
                    <a:pt x="121" y="1364"/>
                    <a:pt x="121" y="1364"/>
                  </a:cubicBezTo>
                  <a:cubicBezTo>
                    <a:pt x="121" y="1364"/>
                    <a:pt x="121" y="1364"/>
                    <a:pt x="121" y="1364"/>
                  </a:cubicBezTo>
                  <a:cubicBezTo>
                    <a:pt x="115" y="1364"/>
                    <a:pt x="109" y="1362"/>
                    <a:pt x="105" y="1357"/>
                  </a:cubicBezTo>
                  <a:cubicBezTo>
                    <a:pt x="8" y="1258"/>
                    <a:pt x="8" y="1258"/>
                    <a:pt x="8" y="1258"/>
                  </a:cubicBezTo>
                  <a:cubicBezTo>
                    <a:pt x="0" y="1250"/>
                    <a:pt x="0" y="1236"/>
                    <a:pt x="9" y="1227"/>
                  </a:cubicBezTo>
                  <a:cubicBezTo>
                    <a:pt x="18" y="1219"/>
                    <a:pt x="31" y="1219"/>
                    <a:pt x="40" y="1228"/>
                  </a:cubicBezTo>
                  <a:cubicBezTo>
                    <a:pt x="100" y="1289"/>
                    <a:pt x="100" y="1289"/>
                    <a:pt x="100" y="1289"/>
                  </a:cubicBezTo>
                  <a:cubicBezTo>
                    <a:pt x="100" y="857"/>
                    <a:pt x="100" y="857"/>
                    <a:pt x="100" y="857"/>
                  </a:cubicBezTo>
                  <a:cubicBezTo>
                    <a:pt x="100" y="851"/>
                    <a:pt x="102" y="846"/>
                    <a:pt x="106" y="842"/>
                  </a:cubicBezTo>
                  <a:cubicBezTo>
                    <a:pt x="496" y="452"/>
                    <a:pt x="496" y="452"/>
                    <a:pt x="496" y="452"/>
                  </a:cubicBezTo>
                  <a:cubicBezTo>
                    <a:pt x="496" y="22"/>
                    <a:pt x="496" y="22"/>
                    <a:pt x="496" y="22"/>
                  </a:cubicBezTo>
                  <a:cubicBezTo>
                    <a:pt x="496" y="10"/>
                    <a:pt x="506" y="0"/>
                    <a:pt x="518" y="0"/>
                  </a:cubicBezTo>
                  <a:cubicBezTo>
                    <a:pt x="531" y="0"/>
                    <a:pt x="540" y="10"/>
                    <a:pt x="540" y="22"/>
                  </a:cubicBezTo>
                  <a:close/>
                  <a:moveTo>
                    <a:pt x="758" y="746"/>
                  </a:moveTo>
                  <a:cubicBezTo>
                    <a:pt x="699" y="804"/>
                    <a:pt x="699" y="804"/>
                    <a:pt x="699" y="804"/>
                  </a:cubicBezTo>
                  <a:cubicBezTo>
                    <a:pt x="699" y="22"/>
                    <a:pt x="699" y="22"/>
                    <a:pt x="699" y="22"/>
                  </a:cubicBezTo>
                  <a:cubicBezTo>
                    <a:pt x="699" y="10"/>
                    <a:pt x="689" y="0"/>
                    <a:pt x="677" y="0"/>
                  </a:cubicBezTo>
                  <a:cubicBezTo>
                    <a:pt x="665" y="0"/>
                    <a:pt x="655" y="10"/>
                    <a:pt x="655" y="22"/>
                  </a:cubicBezTo>
                  <a:cubicBezTo>
                    <a:pt x="655" y="807"/>
                    <a:pt x="655" y="807"/>
                    <a:pt x="655" y="807"/>
                  </a:cubicBezTo>
                  <a:cubicBezTo>
                    <a:pt x="594" y="744"/>
                    <a:pt x="594" y="744"/>
                    <a:pt x="594" y="744"/>
                  </a:cubicBezTo>
                  <a:cubicBezTo>
                    <a:pt x="586" y="735"/>
                    <a:pt x="572" y="735"/>
                    <a:pt x="563" y="744"/>
                  </a:cubicBezTo>
                  <a:cubicBezTo>
                    <a:pt x="554" y="752"/>
                    <a:pt x="554" y="766"/>
                    <a:pt x="562" y="775"/>
                  </a:cubicBezTo>
                  <a:cubicBezTo>
                    <a:pt x="659" y="874"/>
                    <a:pt x="659" y="874"/>
                    <a:pt x="659" y="874"/>
                  </a:cubicBezTo>
                  <a:cubicBezTo>
                    <a:pt x="663" y="878"/>
                    <a:pt x="669" y="880"/>
                    <a:pt x="674" y="880"/>
                  </a:cubicBezTo>
                  <a:cubicBezTo>
                    <a:pt x="675" y="880"/>
                    <a:pt x="675" y="880"/>
                    <a:pt x="675" y="880"/>
                  </a:cubicBezTo>
                  <a:cubicBezTo>
                    <a:pt x="680" y="880"/>
                    <a:pt x="686" y="878"/>
                    <a:pt x="690" y="874"/>
                  </a:cubicBezTo>
                  <a:cubicBezTo>
                    <a:pt x="789" y="778"/>
                    <a:pt x="789" y="778"/>
                    <a:pt x="789" y="778"/>
                  </a:cubicBezTo>
                  <a:cubicBezTo>
                    <a:pt x="798" y="769"/>
                    <a:pt x="798" y="755"/>
                    <a:pt x="790" y="747"/>
                  </a:cubicBezTo>
                  <a:cubicBezTo>
                    <a:pt x="781" y="738"/>
                    <a:pt x="767" y="738"/>
                    <a:pt x="758" y="746"/>
                  </a:cubicBezTo>
                  <a:close/>
                  <a:moveTo>
                    <a:pt x="1111" y="886"/>
                  </a:moveTo>
                  <a:cubicBezTo>
                    <a:pt x="1051" y="945"/>
                    <a:pt x="1051" y="945"/>
                    <a:pt x="1051" y="945"/>
                  </a:cubicBezTo>
                  <a:cubicBezTo>
                    <a:pt x="1051" y="726"/>
                    <a:pt x="1051" y="726"/>
                    <a:pt x="1051" y="726"/>
                  </a:cubicBezTo>
                  <a:cubicBezTo>
                    <a:pt x="1051" y="720"/>
                    <a:pt x="1048" y="715"/>
                    <a:pt x="1044" y="710"/>
                  </a:cubicBezTo>
                  <a:cubicBezTo>
                    <a:pt x="858" y="524"/>
                    <a:pt x="858" y="524"/>
                    <a:pt x="858" y="524"/>
                  </a:cubicBezTo>
                  <a:cubicBezTo>
                    <a:pt x="858" y="22"/>
                    <a:pt x="858" y="22"/>
                    <a:pt x="858" y="22"/>
                  </a:cubicBezTo>
                  <a:cubicBezTo>
                    <a:pt x="858" y="10"/>
                    <a:pt x="848" y="0"/>
                    <a:pt x="836" y="0"/>
                  </a:cubicBezTo>
                  <a:cubicBezTo>
                    <a:pt x="823" y="0"/>
                    <a:pt x="814" y="10"/>
                    <a:pt x="814" y="22"/>
                  </a:cubicBezTo>
                  <a:cubicBezTo>
                    <a:pt x="814" y="533"/>
                    <a:pt x="814" y="533"/>
                    <a:pt x="814" y="533"/>
                  </a:cubicBezTo>
                  <a:cubicBezTo>
                    <a:pt x="814" y="539"/>
                    <a:pt x="816" y="545"/>
                    <a:pt x="820" y="549"/>
                  </a:cubicBezTo>
                  <a:cubicBezTo>
                    <a:pt x="1007" y="735"/>
                    <a:pt x="1007" y="735"/>
                    <a:pt x="1007" y="735"/>
                  </a:cubicBezTo>
                  <a:cubicBezTo>
                    <a:pt x="1007" y="946"/>
                    <a:pt x="1007" y="946"/>
                    <a:pt x="1007" y="946"/>
                  </a:cubicBezTo>
                  <a:cubicBezTo>
                    <a:pt x="947" y="884"/>
                    <a:pt x="947" y="884"/>
                    <a:pt x="947" y="884"/>
                  </a:cubicBezTo>
                  <a:cubicBezTo>
                    <a:pt x="938" y="875"/>
                    <a:pt x="924" y="875"/>
                    <a:pt x="916" y="884"/>
                  </a:cubicBezTo>
                  <a:cubicBezTo>
                    <a:pt x="907" y="892"/>
                    <a:pt x="907" y="906"/>
                    <a:pt x="915" y="915"/>
                  </a:cubicBezTo>
                  <a:cubicBezTo>
                    <a:pt x="1012" y="1014"/>
                    <a:pt x="1012" y="1014"/>
                    <a:pt x="1012" y="1014"/>
                  </a:cubicBezTo>
                  <a:cubicBezTo>
                    <a:pt x="1016" y="1018"/>
                    <a:pt x="1021" y="1020"/>
                    <a:pt x="1027" y="1021"/>
                  </a:cubicBezTo>
                  <a:cubicBezTo>
                    <a:pt x="1027" y="1021"/>
                    <a:pt x="1027" y="1021"/>
                    <a:pt x="1027" y="1021"/>
                  </a:cubicBezTo>
                  <a:cubicBezTo>
                    <a:pt x="1033" y="1021"/>
                    <a:pt x="1039" y="1018"/>
                    <a:pt x="1043" y="1014"/>
                  </a:cubicBezTo>
                  <a:cubicBezTo>
                    <a:pt x="1142" y="918"/>
                    <a:pt x="1142" y="918"/>
                    <a:pt x="1142" y="918"/>
                  </a:cubicBezTo>
                  <a:cubicBezTo>
                    <a:pt x="1151" y="909"/>
                    <a:pt x="1151" y="895"/>
                    <a:pt x="1142" y="887"/>
                  </a:cubicBezTo>
                  <a:cubicBezTo>
                    <a:pt x="1134" y="878"/>
                    <a:pt x="1120" y="878"/>
                    <a:pt x="1111" y="886"/>
                  </a:cubicBezTo>
                  <a:close/>
                  <a:moveTo>
                    <a:pt x="1383" y="1304"/>
                  </a:moveTo>
                  <a:cubicBezTo>
                    <a:pt x="1374" y="1295"/>
                    <a:pt x="1360" y="1295"/>
                    <a:pt x="1351" y="1304"/>
                  </a:cubicBezTo>
                  <a:cubicBezTo>
                    <a:pt x="1291" y="1362"/>
                    <a:pt x="1291" y="1362"/>
                    <a:pt x="1291" y="1362"/>
                  </a:cubicBezTo>
                  <a:cubicBezTo>
                    <a:pt x="1291" y="634"/>
                    <a:pt x="1291" y="634"/>
                    <a:pt x="1291" y="634"/>
                  </a:cubicBezTo>
                  <a:cubicBezTo>
                    <a:pt x="1291" y="628"/>
                    <a:pt x="1289" y="623"/>
                    <a:pt x="1285" y="618"/>
                  </a:cubicBezTo>
                  <a:cubicBezTo>
                    <a:pt x="1016" y="348"/>
                    <a:pt x="1016" y="348"/>
                    <a:pt x="1016" y="348"/>
                  </a:cubicBezTo>
                  <a:cubicBezTo>
                    <a:pt x="1016" y="22"/>
                    <a:pt x="1016" y="22"/>
                    <a:pt x="1016" y="22"/>
                  </a:cubicBezTo>
                  <a:cubicBezTo>
                    <a:pt x="1016" y="10"/>
                    <a:pt x="1006" y="0"/>
                    <a:pt x="994" y="0"/>
                  </a:cubicBezTo>
                  <a:cubicBezTo>
                    <a:pt x="982" y="0"/>
                    <a:pt x="972" y="10"/>
                    <a:pt x="972" y="22"/>
                  </a:cubicBezTo>
                  <a:cubicBezTo>
                    <a:pt x="972" y="357"/>
                    <a:pt x="972" y="357"/>
                    <a:pt x="972" y="357"/>
                  </a:cubicBezTo>
                  <a:cubicBezTo>
                    <a:pt x="972" y="363"/>
                    <a:pt x="975" y="368"/>
                    <a:pt x="979" y="373"/>
                  </a:cubicBezTo>
                  <a:cubicBezTo>
                    <a:pt x="1247" y="643"/>
                    <a:pt x="1247" y="643"/>
                    <a:pt x="1247" y="643"/>
                  </a:cubicBezTo>
                  <a:cubicBezTo>
                    <a:pt x="1247" y="1363"/>
                    <a:pt x="1247" y="1363"/>
                    <a:pt x="1247" y="1363"/>
                  </a:cubicBezTo>
                  <a:cubicBezTo>
                    <a:pt x="1187" y="1301"/>
                    <a:pt x="1187" y="1301"/>
                    <a:pt x="1187" y="1301"/>
                  </a:cubicBezTo>
                  <a:cubicBezTo>
                    <a:pt x="1179" y="1293"/>
                    <a:pt x="1165" y="1293"/>
                    <a:pt x="1156" y="1301"/>
                  </a:cubicBezTo>
                  <a:cubicBezTo>
                    <a:pt x="1147" y="1310"/>
                    <a:pt x="1147" y="1323"/>
                    <a:pt x="1155" y="1332"/>
                  </a:cubicBezTo>
                  <a:cubicBezTo>
                    <a:pt x="1252" y="1431"/>
                    <a:pt x="1252" y="1431"/>
                    <a:pt x="1252" y="1431"/>
                  </a:cubicBezTo>
                  <a:cubicBezTo>
                    <a:pt x="1256" y="1436"/>
                    <a:pt x="1262" y="1438"/>
                    <a:pt x="1268" y="1438"/>
                  </a:cubicBezTo>
                  <a:cubicBezTo>
                    <a:pt x="1268" y="1438"/>
                    <a:pt x="1268" y="1438"/>
                    <a:pt x="1268" y="1438"/>
                  </a:cubicBezTo>
                  <a:cubicBezTo>
                    <a:pt x="1268" y="1438"/>
                    <a:pt x="1269" y="1438"/>
                    <a:pt x="1269" y="1438"/>
                  </a:cubicBezTo>
                  <a:cubicBezTo>
                    <a:pt x="1277" y="1438"/>
                    <a:pt x="1284" y="1433"/>
                    <a:pt x="1288" y="1427"/>
                  </a:cubicBezTo>
                  <a:cubicBezTo>
                    <a:pt x="1382" y="1335"/>
                    <a:pt x="1382" y="1335"/>
                    <a:pt x="1382" y="1335"/>
                  </a:cubicBezTo>
                  <a:cubicBezTo>
                    <a:pt x="1391" y="1327"/>
                    <a:pt x="1391" y="1313"/>
                    <a:pt x="1383" y="130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sp>
          <p:nvSpPr>
            <p:cNvPr id="121" name="Freeform 17">
              <a:extLst>
                <a:ext uri="{FF2B5EF4-FFF2-40B4-BE49-F238E27FC236}">
                  <a16:creationId xmlns:a16="http://schemas.microsoft.com/office/drawing/2014/main" id="{FCB78A5E-EF0F-8A02-ECB2-EE5E95CE9FF9}"/>
                </a:ext>
              </a:extLst>
            </p:cNvPr>
            <p:cNvSpPr>
              <a:spLocks noEditPoints="1"/>
            </p:cNvSpPr>
            <p:nvPr/>
          </p:nvSpPr>
          <p:spPr bwMode="auto">
            <a:xfrm>
              <a:off x="2317" y="2081"/>
              <a:ext cx="3125" cy="1986"/>
            </a:xfrm>
            <a:custGeom>
              <a:avLst/>
              <a:gdLst>
                <a:gd name="T0" fmla="*/ 554 w 1668"/>
                <a:gd name="T1" fmla="*/ 259 h 1059"/>
                <a:gd name="T2" fmla="*/ 1072 w 1668"/>
                <a:gd name="T3" fmla="*/ 259 h 1059"/>
                <a:gd name="T4" fmla="*/ 956 w 1668"/>
                <a:gd name="T5" fmla="*/ 273 h 1059"/>
                <a:gd name="T6" fmla="*/ 927 w 1668"/>
                <a:gd name="T7" fmla="*/ 331 h 1059"/>
                <a:gd name="T8" fmla="*/ 917 w 1668"/>
                <a:gd name="T9" fmla="*/ 367 h 1059"/>
                <a:gd name="T10" fmla="*/ 856 w 1668"/>
                <a:gd name="T11" fmla="*/ 423 h 1059"/>
                <a:gd name="T12" fmla="*/ 848 w 1668"/>
                <a:gd name="T13" fmla="*/ 431 h 1059"/>
                <a:gd name="T14" fmla="*/ 724 w 1668"/>
                <a:gd name="T15" fmla="*/ 403 h 1059"/>
                <a:gd name="T16" fmla="*/ 679 w 1668"/>
                <a:gd name="T17" fmla="*/ 168 h 1059"/>
                <a:gd name="T18" fmla="*/ 940 w 1668"/>
                <a:gd name="T19" fmla="*/ 107 h 1059"/>
                <a:gd name="T20" fmla="*/ 918 w 1668"/>
                <a:gd name="T21" fmla="*/ 152 h 1059"/>
                <a:gd name="T22" fmla="*/ 919 w 1668"/>
                <a:gd name="T23" fmla="*/ 186 h 1059"/>
                <a:gd name="T24" fmla="*/ 927 w 1668"/>
                <a:gd name="T25" fmla="*/ 218 h 1059"/>
                <a:gd name="T26" fmla="*/ 942 w 1668"/>
                <a:gd name="T27" fmla="*/ 246 h 1059"/>
                <a:gd name="T28" fmla="*/ 1409 w 1668"/>
                <a:gd name="T29" fmla="*/ 542 h 1059"/>
                <a:gd name="T30" fmla="*/ 1409 w 1668"/>
                <a:gd name="T31" fmla="*/ 1059 h 1059"/>
                <a:gd name="T32" fmla="*/ 1409 w 1668"/>
                <a:gd name="T33" fmla="*/ 542 h 1059"/>
                <a:gd name="T34" fmla="*/ 1498 w 1668"/>
                <a:gd name="T35" fmla="*/ 944 h 1059"/>
                <a:gd name="T36" fmla="*/ 1374 w 1668"/>
                <a:gd name="T37" fmla="*/ 972 h 1059"/>
                <a:gd name="T38" fmla="*/ 1366 w 1668"/>
                <a:gd name="T39" fmla="*/ 965 h 1059"/>
                <a:gd name="T40" fmla="*/ 1305 w 1668"/>
                <a:gd name="T41" fmla="*/ 909 h 1059"/>
                <a:gd name="T42" fmla="*/ 1295 w 1668"/>
                <a:gd name="T43" fmla="*/ 873 h 1059"/>
                <a:gd name="T44" fmla="*/ 1266 w 1668"/>
                <a:gd name="T45" fmla="*/ 815 h 1059"/>
                <a:gd name="T46" fmla="*/ 1282 w 1668"/>
                <a:gd name="T47" fmla="*/ 785 h 1059"/>
                <a:gd name="T48" fmla="*/ 1298 w 1668"/>
                <a:gd name="T49" fmla="*/ 747 h 1059"/>
                <a:gd name="T50" fmla="*/ 1307 w 1668"/>
                <a:gd name="T51" fmla="*/ 692 h 1059"/>
                <a:gd name="T52" fmla="*/ 1303 w 1668"/>
                <a:gd name="T53" fmla="*/ 692 h 1059"/>
                <a:gd name="T54" fmla="*/ 1417 w 1668"/>
                <a:gd name="T55" fmla="*/ 629 h 1059"/>
                <a:gd name="T56" fmla="*/ 1498 w 1668"/>
                <a:gd name="T57" fmla="*/ 868 h 1059"/>
                <a:gd name="T58" fmla="*/ 0 w 1668"/>
                <a:gd name="T59" fmla="*/ 721 h 1059"/>
                <a:gd name="T60" fmla="*/ 518 w 1668"/>
                <a:gd name="T61" fmla="*/ 721 h 1059"/>
                <a:gd name="T62" fmla="*/ 406 w 1668"/>
                <a:gd name="T63" fmla="*/ 737 h 1059"/>
                <a:gd name="T64" fmla="*/ 376 w 1668"/>
                <a:gd name="T65" fmla="*/ 775 h 1059"/>
                <a:gd name="T66" fmla="*/ 327 w 1668"/>
                <a:gd name="T67" fmla="*/ 826 h 1059"/>
                <a:gd name="T68" fmla="*/ 304 w 1668"/>
                <a:gd name="T69" fmla="*/ 882 h 1059"/>
                <a:gd name="T70" fmla="*/ 289 w 1668"/>
                <a:gd name="T71" fmla="*/ 890 h 1059"/>
                <a:gd name="T72" fmla="*/ 202 w 1668"/>
                <a:gd name="T73" fmla="*/ 863 h 1059"/>
                <a:gd name="T74" fmla="*/ 132 w 1668"/>
                <a:gd name="T75" fmla="*/ 627 h 1059"/>
                <a:gd name="T76" fmla="*/ 371 w 1668"/>
                <a:gd name="T77" fmla="*/ 606 h 1059"/>
                <a:gd name="T78" fmla="*/ 377 w 1668"/>
                <a:gd name="T79" fmla="*/ 654 h 1059"/>
                <a:gd name="T80" fmla="*/ 394 w 1668"/>
                <a:gd name="T81" fmla="*/ 709 h 1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68" h="1059">
                  <a:moveTo>
                    <a:pt x="813" y="0"/>
                  </a:moveTo>
                  <a:cubicBezTo>
                    <a:pt x="670" y="0"/>
                    <a:pt x="554" y="116"/>
                    <a:pt x="554" y="259"/>
                  </a:cubicBezTo>
                  <a:cubicBezTo>
                    <a:pt x="554" y="402"/>
                    <a:pt x="670" y="518"/>
                    <a:pt x="813" y="518"/>
                  </a:cubicBezTo>
                  <a:cubicBezTo>
                    <a:pt x="956" y="518"/>
                    <a:pt x="1072" y="402"/>
                    <a:pt x="1072" y="259"/>
                  </a:cubicBezTo>
                  <a:cubicBezTo>
                    <a:pt x="1072" y="116"/>
                    <a:pt x="956" y="0"/>
                    <a:pt x="813" y="0"/>
                  </a:cubicBezTo>
                  <a:close/>
                  <a:moveTo>
                    <a:pt x="956" y="273"/>
                  </a:moveTo>
                  <a:cubicBezTo>
                    <a:pt x="955" y="277"/>
                    <a:pt x="949" y="290"/>
                    <a:pt x="925" y="290"/>
                  </a:cubicBezTo>
                  <a:cubicBezTo>
                    <a:pt x="927" y="301"/>
                    <a:pt x="928" y="319"/>
                    <a:pt x="927" y="331"/>
                  </a:cubicBezTo>
                  <a:cubicBezTo>
                    <a:pt x="927" y="334"/>
                    <a:pt x="927" y="334"/>
                    <a:pt x="927" y="334"/>
                  </a:cubicBezTo>
                  <a:cubicBezTo>
                    <a:pt x="926" y="353"/>
                    <a:pt x="925" y="363"/>
                    <a:pt x="917" y="367"/>
                  </a:cubicBezTo>
                  <a:cubicBezTo>
                    <a:pt x="910" y="371"/>
                    <a:pt x="887" y="374"/>
                    <a:pt x="856" y="371"/>
                  </a:cubicBezTo>
                  <a:cubicBezTo>
                    <a:pt x="856" y="423"/>
                    <a:pt x="856" y="423"/>
                    <a:pt x="856" y="423"/>
                  </a:cubicBezTo>
                  <a:cubicBezTo>
                    <a:pt x="856" y="427"/>
                    <a:pt x="853" y="431"/>
                    <a:pt x="848" y="431"/>
                  </a:cubicBezTo>
                  <a:cubicBezTo>
                    <a:pt x="848" y="431"/>
                    <a:pt x="848" y="431"/>
                    <a:pt x="848" y="431"/>
                  </a:cubicBezTo>
                  <a:cubicBezTo>
                    <a:pt x="843" y="431"/>
                    <a:pt x="779" y="430"/>
                    <a:pt x="729" y="410"/>
                  </a:cubicBezTo>
                  <a:cubicBezTo>
                    <a:pt x="726" y="409"/>
                    <a:pt x="724" y="406"/>
                    <a:pt x="724" y="403"/>
                  </a:cubicBezTo>
                  <a:cubicBezTo>
                    <a:pt x="724" y="327"/>
                    <a:pt x="724" y="327"/>
                    <a:pt x="724" y="327"/>
                  </a:cubicBezTo>
                  <a:cubicBezTo>
                    <a:pt x="699" y="300"/>
                    <a:pt x="648" y="234"/>
                    <a:pt x="679" y="168"/>
                  </a:cubicBezTo>
                  <a:cubicBezTo>
                    <a:pt x="697" y="131"/>
                    <a:pt x="733" y="87"/>
                    <a:pt x="805" y="87"/>
                  </a:cubicBezTo>
                  <a:cubicBezTo>
                    <a:pt x="887" y="87"/>
                    <a:pt x="863" y="108"/>
                    <a:pt x="940" y="107"/>
                  </a:cubicBezTo>
                  <a:cubicBezTo>
                    <a:pt x="948" y="107"/>
                    <a:pt x="923" y="134"/>
                    <a:pt x="919" y="151"/>
                  </a:cubicBezTo>
                  <a:cubicBezTo>
                    <a:pt x="919" y="151"/>
                    <a:pt x="919" y="152"/>
                    <a:pt x="918" y="152"/>
                  </a:cubicBezTo>
                  <a:cubicBezTo>
                    <a:pt x="918" y="152"/>
                    <a:pt x="916" y="151"/>
                    <a:pt x="914" y="151"/>
                  </a:cubicBezTo>
                  <a:cubicBezTo>
                    <a:pt x="915" y="161"/>
                    <a:pt x="917" y="180"/>
                    <a:pt x="919" y="186"/>
                  </a:cubicBezTo>
                  <a:cubicBezTo>
                    <a:pt x="921" y="192"/>
                    <a:pt x="922" y="199"/>
                    <a:pt x="924" y="205"/>
                  </a:cubicBezTo>
                  <a:cubicBezTo>
                    <a:pt x="925" y="210"/>
                    <a:pt x="926" y="215"/>
                    <a:pt x="927" y="218"/>
                  </a:cubicBezTo>
                  <a:cubicBezTo>
                    <a:pt x="931" y="230"/>
                    <a:pt x="935" y="239"/>
                    <a:pt x="939" y="243"/>
                  </a:cubicBezTo>
                  <a:cubicBezTo>
                    <a:pt x="940" y="244"/>
                    <a:pt x="941" y="245"/>
                    <a:pt x="942" y="246"/>
                  </a:cubicBezTo>
                  <a:cubicBezTo>
                    <a:pt x="951" y="256"/>
                    <a:pt x="959" y="265"/>
                    <a:pt x="956" y="273"/>
                  </a:cubicBezTo>
                  <a:close/>
                  <a:moveTo>
                    <a:pt x="1409" y="542"/>
                  </a:moveTo>
                  <a:cubicBezTo>
                    <a:pt x="1266" y="542"/>
                    <a:pt x="1150" y="658"/>
                    <a:pt x="1150" y="800"/>
                  </a:cubicBezTo>
                  <a:cubicBezTo>
                    <a:pt x="1150" y="943"/>
                    <a:pt x="1266" y="1059"/>
                    <a:pt x="1409" y="1059"/>
                  </a:cubicBezTo>
                  <a:cubicBezTo>
                    <a:pt x="1552" y="1059"/>
                    <a:pt x="1668" y="943"/>
                    <a:pt x="1668" y="800"/>
                  </a:cubicBezTo>
                  <a:cubicBezTo>
                    <a:pt x="1668" y="658"/>
                    <a:pt x="1552" y="542"/>
                    <a:pt x="1409" y="542"/>
                  </a:cubicBezTo>
                  <a:close/>
                  <a:moveTo>
                    <a:pt x="1498" y="868"/>
                  </a:moveTo>
                  <a:cubicBezTo>
                    <a:pt x="1498" y="944"/>
                    <a:pt x="1498" y="944"/>
                    <a:pt x="1498" y="944"/>
                  </a:cubicBezTo>
                  <a:cubicBezTo>
                    <a:pt x="1498" y="947"/>
                    <a:pt x="1496" y="950"/>
                    <a:pt x="1493" y="951"/>
                  </a:cubicBezTo>
                  <a:cubicBezTo>
                    <a:pt x="1443" y="972"/>
                    <a:pt x="1379" y="972"/>
                    <a:pt x="1374" y="972"/>
                  </a:cubicBezTo>
                  <a:cubicBezTo>
                    <a:pt x="1373" y="972"/>
                    <a:pt x="1373" y="972"/>
                    <a:pt x="1373" y="972"/>
                  </a:cubicBezTo>
                  <a:cubicBezTo>
                    <a:pt x="1369" y="972"/>
                    <a:pt x="1366" y="969"/>
                    <a:pt x="1366" y="965"/>
                  </a:cubicBezTo>
                  <a:cubicBezTo>
                    <a:pt x="1366" y="912"/>
                    <a:pt x="1366" y="912"/>
                    <a:pt x="1366" y="912"/>
                  </a:cubicBezTo>
                  <a:cubicBezTo>
                    <a:pt x="1335" y="916"/>
                    <a:pt x="1311" y="912"/>
                    <a:pt x="1305" y="909"/>
                  </a:cubicBezTo>
                  <a:cubicBezTo>
                    <a:pt x="1297" y="905"/>
                    <a:pt x="1296" y="894"/>
                    <a:pt x="1295" y="875"/>
                  </a:cubicBezTo>
                  <a:cubicBezTo>
                    <a:pt x="1295" y="873"/>
                    <a:pt x="1295" y="873"/>
                    <a:pt x="1295" y="873"/>
                  </a:cubicBezTo>
                  <a:cubicBezTo>
                    <a:pt x="1294" y="861"/>
                    <a:pt x="1295" y="842"/>
                    <a:pt x="1296" y="832"/>
                  </a:cubicBezTo>
                  <a:cubicBezTo>
                    <a:pt x="1273" y="831"/>
                    <a:pt x="1267" y="819"/>
                    <a:pt x="1266" y="815"/>
                  </a:cubicBezTo>
                  <a:cubicBezTo>
                    <a:pt x="1263" y="806"/>
                    <a:pt x="1271" y="797"/>
                    <a:pt x="1280" y="788"/>
                  </a:cubicBezTo>
                  <a:cubicBezTo>
                    <a:pt x="1281" y="787"/>
                    <a:pt x="1282" y="786"/>
                    <a:pt x="1282" y="785"/>
                  </a:cubicBezTo>
                  <a:cubicBezTo>
                    <a:pt x="1286" y="780"/>
                    <a:pt x="1291" y="771"/>
                    <a:pt x="1295" y="760"/>
                  </a:cubicBezTo>
                  <a:cubicBezTo>
                    <a:pt x="1296" y="757"/>
                    <a:pt x="1297" y="752"/>
                    <a:pt x="1298" y="747"/>
                  </a:cubicBezTo>
                  <a:cubicBezTo>
                    <a:pt x="1300" y="740"/>
                    <a:pt x="1301" y="733"/>
                    <a:pt x="1303" y="728"/>
                  </a:cubicBezTo>
                  <a:cubicBezTo>
                    <a:pt x="1305" y="721"/>
                    <a:pt x="1307" y="702"/>
                    <a:pt x="1307" y="692"/>
                  </a:cubicBezTo>
                  <a:cubicBezTo>
                    <a:pt x="1306" y="692"/>
                    <a:pt x="1304" y="693"/>
                    <a:pt x="1303" y="693"/>
                  </a:cubicBezTo>
                  <a:cubicBezTo>
                    <a:pt x="1303" y="693"/>
                    <a:pt x="1303" y="693"/>
                    <a:pt x="1303" y="692"/>
                  </a:cubicBezTo>
                  <a:cubicBezTo>
                    <a:pt x="1299" y="675"/>
                    <a:pt x="1274" y="648"/>
                    <a:pt x="1282" y="648"/>
                  </a:cubicBezTo>
                  <a:cubicBezTo>
                    <a:pt x="1358" y="650"/>
                    <a:pt x="1334" y="629"/>
                    <a:pt x="1417" y="629"/>
                  </a:cubicBezTo>
                  <a:cubicBezTo>
                    <a:pt x="1489" y="629"/>
                    <a:pt x="1525" y="672"/>
                    <a:pt x="1543" y="709"/>
                  </a:cubicBezTo>
                  <a:cubicBezTo>
                    <a:pt x="1574" y="776"/>
                    <a:pt x="1523" y="842"/>
                    <a:pt x="1498" y="868"/>
                  </a:cubicBezTo>
                  <a:close/>
                  <a:moveTo>
                    <a:pt x="259" y="462"/>
                  </a:moveTo>
                  <a:cubicBezTo>
                    <a:pt x="116" y="462"/>
                    <a:pt x="0" y="578"/>
                    <a:pt x="0" y="721"/>
                  </a:cubicBezTo>
                  <a:cubicBezTo>
                    <a:pt x="0" y="864"/>
                    <a:pt x="116" y="980"/>
                    <a:pt x="259" y="980"/>
                  </a:cubicBezTo>
                  <a:cubicBezTo>
                    <a:pt x="402" y="980"/>
                    <a:pt x="518" y="864"/>
                    <a:pt x="518" y="721"/>
                  </a:cubicBezTo>
                  <a:cubicBezTo>
                    <a:pt x="518" y="578"/>
                    <a:pt x="402" y="462"/>
                    <a:pt x="259" y="462"/>
                  </a:cubicBezTo>
                  <a:close/>
                  <a:moveTo>
                    <a:pt x="406" y="737"/>
                  </a:moveTo>
                  <a:cubicBezTo>
                    <a:pt x="404" y="743"/>
                    <a:pt x="394" y="752"/>
                    <a:pt x="375" y="752"/>
                  </a:cubicBezTo>
                  <a:cubicBezTo>
                    <a:pt x="376" y="758"/>
                    <a:pt x="376" y="767"/>
                    <a:pt x="376" y="775"/>
                  </a:cubicBezTo>
                  <a:cubicBezTo>
                    <a:pt x="376" y="806"/>
                    <a:pt x="372" y="815"/>
                    <a:pt x="368" y="818"/>
                  </a:cubicBezTo>
                  <a:cubicBezTo>
                    <a:pt x="365" y="822"/>
                    <a:pt x="357" y="827"/>
                    <a:pt x="327" y="826"/>
                  </a:cubicBezTo>
                  <a:cubicBezTo>
                    <a:pt x="322" y="826"/>
                    <a:pt x="312" y="826"/>
                    <a:pt x="304" y="825"/>
                  </a:cubicBezTo>
                  <a:cubicBezTo>
                    <a:pt x="304" y="882"/>
                    <a:pt x="304" y="882"/>
                    <a:pt x="304" y="882"/>
                  </a:cubicBezTo>
                  <a:cubicBezTo>
                    <a:pt x="304" y="886"/>
                    <a:pt x="301" y="889"/>
                    <a:pt x="297" y="889"/>
                  </a:cubicBezTo>
                  <a:cubicBezTo>
                    <a:pt x="297" y="889"/>
                    <a:pt x="294" y="890"/>
                    <a:pt x="289" y="890"/>
                  </a:cubicBezTo>
                  <a:cubicBezTo>
                    <a:pt x="273" y="890"/>
                    <a:pt x="236" y="887"/>
                    <a:pt x="206" y="869"/>
                  </a:cubicBezTo>
                  <a:cubicBezTo>
                    <a:pt x="204" y="868"/>
                    <a:pt x="202" y="866"/>
                    <a:pt x="202" y="863"/>
                  </a:cubicBezTo>
                  <a:cubicBezTo>
                    <a:pt x="200" y="826"/>
                    <a:pt x="200" y="826"/>
                    <a:pt x="200" y="826"/>
                  </a:cubicBezTo>
                  <a:cubicBezTo>
                    <a:pt x="151" y="806"/>
                    <a:pt x="73" y="749"/>
                    <a:pt x="132" y="627"/>
                  </a:cubicBezTo>
                  <a:cubicBezTo>
                    <a:pt x="150" y="591"/>
                    <a:pt x="192" y="553"/>
                    <a:pt x="262" y="553"/>
                  </a:cubicBezTo>
                  <a:cubicBezTo>
                    <a:pt x="342" y="553"/>
                    <a:pt x="375" y="590"/>
                    <a:pt x="371" y="606"/>
                  </a:cubicBezTo>
                  <a:cubicBezTo>
                    <a:pt x="370" y="609"/>
                    <a:pt x="368" y="612"/>
                    <a:pt x="366" y="615"/>
                  </a:cubicBezTo>
                  <a:cubicBezTo>
                    <a:pt x="370" y="620"/>
                    <a:pt x="379" y="633"/>
                    <a:pt x="377" y="654"/>
                  </a:cubicBezTo>
                  <a:cubicBezTo>
                    <a:pt x="377" y="664"/>
                    <a:pt x="378" y="683"/>
                    <a:pt x="379" y="686"/>
                  </a:cubicBezTo>
                  <a:cubicBezTo>
                    <a:pt x="382" y="693"/>
                    <a:pt x="388" y="703"/>
                    <a:pt x="394" y="709"/>
                  </a:cubicBezTo>
                  <a:cubicBezTo>
                    <a:pt x="400" y="715"/>
                    <a:pt x="410" y="729"/>
                    <a:pt x="406" y="737"/>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grpSp>
      <p:sp>
        <p:nvSpPr>
          <p:cNvPr id="122" name="Rectangle 121">
            <a:extLst>
              <a:ext uri="{FF2B5EF4-FFF2-40B4-BE49-F238E27FC236}">
                <a16:creationId xmlns:a16="http://schemas.microsoft.com/office/drawing/2014/main" id="{98BDB917-E0E2-401C-49CD-10F6173CE0EA}"/>
              </a:ext>
            </a:extLst>
          </p:cNvPr>
          <p:cNvSpPr/>
          <p:nvPr/>
        </p:nvSpPr>
        <p:spPr>
          <a:xfrm>
            <a:off x="8276437" y="3040623"/>
            <a:ext cx="519683" cy="385011"/>
          </a:xfrm>
          <a:prstGeom prst="rect">
            <a:avLst/>
          </a:prstGeom>
          <a:noFill/>
          <a:ln w="7620" cap="rnd" cmpd="sng" algn="ctr">
            <a:solidFill>
              <a:schemeClr val="tx2"/>
            </a:solidFill>
            <a:prstDash val="dash"/>
            <a:round/>
            <a:headEnd type="none" w="med" len="med"/>
            <a:tailEnd type="none" w="med" len="me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1946" tIns="21946" rIns="21946" bIns="21946" numCol="1" spcCol="0" rtlCol="0" fromWordArt="0" anchor="ctr" anchorCtr="0" forceAA="0" compatLnSpc="1">
            <a:prstTxWarp prst="textNoShape">
              <a:avLst/>
            </a:prstTxWarp>
            <a:noAutofit/>
          </a:bodyPr>
          <a:lstStyle/>
          <a:p>
            <a:pPr algn="ctr"/>
            <a:r>
              <a:rPr lang="zh-TW" altLang="en-US" sz="1400" b="1">
                <a:solidFill>
                  <a:schemeClr val="tx2"/>
                </a:solidFill>
                <a:ea typeface="Microsoft YaHei" panose="020B0503020204020204" pitchFamily="34" charset="-122"/>
                <a:sym typeface="Trebuchet MS" panose="020B0603020202020204" pitchFamily="34" charset="0"/>
              </a:rPr>
              <a:t>專屬推薦</a:t>
            </a:r>
            <a:endParaRPr lang="es-ES" sz="1400">
              <a:solidFill>
                <a:schemeClr val="tx2"/>
              </a:solidFill>
              <a:ea typeface="Microsoft YaHei" panose="020B0503020204020204" pitchFamily="34" charset="-122"/>
              <a:sym typeface="Trebuchet MS" panose="020B0603020202020204" pitchFamily="34" charset="0"/>
            </a:endParaRPr>
          </a:p>
        </p:txBody>
      </p:sp>
      <p:cxnSp>
        <p:nvCxnSpPr>
          <p:cNvPr id="5" name="Straight Connector 4">
            <a:extLst>
              <a:ext uri="{FF2B5EF4-FFF2-40B4-BE49-F238E27FC236}">
                <a16:creationId xmlns:a16="http://schemas.microsoft.com/office/drawing/2014/main" id="{B74B08F2-E3CB-D7CD-8509-47DBB481B71E}"/>
              </a:ext>
            </a:extLst>
          </p:cNvPr>
          <p:cNvCxnSpPr/>
          <p:nvPr/>
        </p:nvCxnSpPr>
        <p:spPr>
          <a:xfrm flipV="1">
            <a:off x="136849" y="279918"/>
            <a:ext cx="11899641" cy="6438123"/>
          </a:xfrm>
          <a:prstGeom prst="line">
            <a:avLst/>
          </a:prstGeom>
          <a:ln w="9525" cap="rnd">
            <a:solidFill>
              <a:schemeClr val="tx1">
                <a:lumMod val="60000"/>
                <a:lumOff val="40000"/>
              </a:schemeClr>
            </a:solidFill>
            <a:prstDash val="solid"/>
            <a:roun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6640294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7" name="Object 26" hidden="1"/>
          <p:cNvGraphicFramePr>
            <a:graphicFrameLocks noChangeAspect="1"/>
          </p:cNvGraphicFramePr>
          <p:nvPr>
            <p:custDataLst>
              <p:tags r:id="rId1"/>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4" imgW="270" imgH="270" progId="TCLayout.ActiveDocument.1">
                  <p:embed/>
                </p:oleObj>
              </mc:Choice>
              <mc:Fallback>
                <p:oleObj name="think-cell Slide" r:id="rId4" imgW="270" imgH="270" progId="TCLayout.ActiveDocument.1">
                  <p:embed/>
                  <p:pic>
                    <p:nvPicPr>
                      <p:cNvPr id="27" name="Object 26" hidden="1"/>
                      <p:cNvPicPr/>
                      <p:nvPr/>
                    </p:nvPicPr>
                    <p:blipFill>
                      <a:blip r:embed="rId5"/>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630000" y="622800"/>
            <a:ext cx="10933350" cy="332399"/>
          </a:xfrm>
        </p:spPr>
        <p:txBody>
          <a:bodyPr vert="horz"/>
          <a:lstStyle/>
          <a:p>
            <a:r>
              <a:rPr lang="zh-CN" altLang="en-US">
                <a:solidFill>
                  <a:srgbClr val="A8B21C"/>
                </a:solidFill>
                <a:ea typeface="Microsoft YaHei" panose="020B0503020204020204" pitchFamily="34" charset="-122"/>
              </a:rPr>
              <a:t>案例</a:t>
            </a:r>
            <a:r>
              <a:rPr lang="zh-TW" altLang="en-US">
                <a:solidFill>
                  <a:srgbClr val="A8B21C"/>
                </a:solidFill>
                <a:ea typeface="Microsoft YaHei" panose="020B0503020204020204" pitchFamily="34" charset="-122"/>
              </a:rPr>
              <a:t>分享</a:t>
            </a:r>
            <a:r>
              <a:rPr lang="en-US" altLang="zh-TW">
                <a:solidFill>
                  <a:srgbClr val="A8B21C"/>
                </a:solidFill>
                <a:ea typeface="Microsoft YaHei" panose="020B0503020204020204" pitchFamily="34" charset="-122"/>
              </a:rPr>
              <a:t>|</a:t>
            </a:r>
            <a:r>
              <a:rPr lang="zh-TW" altLang="en-US">
                <a:solidFill>
                  <a:srgbClr val="A8B21C"/>
                </a:solidFill>
                <a:ea typeface="Microsoft YaHei" panose="020B0503020204020204" pitchFamily="34" charset="-122"/>
              </a:rPr>
              <a:t> </a:t>
            </a:r>
            <a:r>
              <a:rPr lang="zh-CN" altLang="en-US"/>
              <a:t>大數據驅動下實現“千人千面”</a:t>
            </a:r>
            <a:r>
              <a:rPr lang="en-US" altLang="zh-CN"/>
              <a:t>+</a:t>
            </a:r>
            <a:r>
              <a:rPr lang="zh-CN" altLang="en-US"/>
              <a:t>“事件驅動”下主</a:t>
            </a:r>
            <a:r>
              <a:rPr lang="zh-TW" altLang="en-US"/>
              <a:t>動行銷</a:t>
            </a:r>
            <a:r>
              <a:rPr lang="zh-CN" altLang="en-US"/>
              <a:t>，深度經營客戶</a:t>
            </a:r>
            <a:endParaRPr lang="en-US"/>
          </a:p>
        </p:txBody>
      </p:sp>
      <p:grpSp>
        <p:nvGrpSpPr>
          <p:cNvPr id="28" name="Group 27"/>
          <p:cNvGrpSpPr/>
          <p:nvPr/>
        </p:nvGrpSpPr>
        <p:grpSpPr>
          <a:xfrm>
            <a:off x="2581362" y="1756368"/>
            <a:ext cx="3354754" cy="4606432"/>
            <a:chOff x="1993271" y="1152408"/>
            <a:chExt cx="5202185" cy="4933965"/>
          </a:xfrm>
        </p:grpSpPr>
        <p:sp>
          <p:nvSpPr>
            <p:cNvPr id="7" name="îŝḷïḓè">
              <a:extLst>
                <a:ext uri="{FF2B5EF4-FFF2-40B4-BE49-F238E27FC236}">
                  <a16:creationId xmlns:a16="http://schemas.microsoft.com/office/drawing/2014/main" id="{C115FE7B-943D-41F9-8F42-D5CE83EE3C7D}"/>
                </a:ext>
              </a:extLst>
            </p:cNvPr>
            <p:cNvSpPr/>
            <p:nvPr/>
          </p:nvSpPr>
          <p:spPr>
            <a:xfrm>
              <a:off x="2891465" y="3538746"/>
              <a:ext cx="4303991" cy="166494"/>
            </a:xfrm>
            <a:prstGeom prst="rightArrow">
              <a:avLst>
                <a:gd name="adj1" fmla="val 42611"/>
                <a:gd name="adj2" fmla="val 85179"/>
              </a:avLst>
            </a:prstGeom>
            <a:solidFill>
              <a:schemeClr val="bg1">
                <a:lumMod val="85000"/>
              </a:schemeClr>
            </a:solidFill>
            <a:ln w="12700" cap="flat">
              <a:noFill/>
              <a:miter lim="400000"/>
            </a:ln>
            <a:effectLst/>
          </p:spPr>
          <p:txBody>
            <a:bodyPr anchor="ctr"/>
            <a:lstStyle/>
            <a:p>
              <a:pPr algn="ctr"/>
              <a:endParaRPr/>
            </a:p>
          </p:txBody>
        </p:sp>
        <p:sp>
          <p:nvSpPr>
            <p:cNvPr id="8" name="iṥlïḑe">
              <a:extLst>
                <a:ext uri="{FF2B5EF4-FFF2-40B4-BE49-F238E27FC236}">
                  <a16:creationId xmlns:a16="http://schemas.microsoft.com/office/drawing/2014/main" id="{F4868EE3-1EDF-4282-9EAF-CBFD4AACB617}"/>
                </a:ext>
              </a:extLst>
            </p:cNvPr>
            <p:cNvSpPr/>
            <p:nvPr/>
          </p:nvSpPr>
          <p:spPr>
            <a:xfrm>
              <a:off x="2891464" y="3796621"/>
              <a:ext cx="3845477" cy="166494"/>
            </a:xfrm>
            <a:prstGeom prst="rightArrow">
              <a:avLst>
                <a:gd name="adj1" fmla="val 42611"/>
                <a:gd name="adj2" fmla="val 85179"/>
              </a:avLst>
            </a:prstGeom>
            <a:solidFill>
              <a:schemeClr val="bg1">
                <a:lumMod val="85000"/>
              </a:schemeClr>
            </a:solidFill>
            <a:ln w="12700" cap="flat">
              <a:noFill/>
              <a:miter lim="400000"/>
            </a:ln>
            <a:effectLst/>
          </p:spPr>
          <p:txBody>
            <a:bodyPr anchor="ctr"/>
            <a:lstStyle/>
            <a:p>
              <a:pPr algn="ctr"/>
              <a:endParaRPr/>
            </a:p>
          </p:txBody>
        </p:sp>
        <p:sp>
          <p:nvSpPr>
            <p:cNvPr id="9" name="ïsľíḍé">
              <a:extLst>
                <a:ext uri="{FF2B5EF4-FFF2-40B4-BE49-F238E27FC236}">
                  <a16:creationId xmlns:a16="http://schemas.microsoft.com/office/drawing/2014/main" id="{EAFD650A-8ACB-4BFD-B94F-F57EA4B04154}"/>
                </a:ext>
              </a:extLst>
            </p:cNvPr>
            <p:cNvSpPr/>
            <p:nvPr/>
          </p:nvSpPr>
          <p:spPr>
            <a:xfrm>
              <a:off x="2891465" y="3242952"/>
              <a:ext cx="3845477" cy="166494"/>
            </a:xfrm>
            <a:prstGeom prst="rightArrow">
              <a:avLst>
                <a:gd name="adj1" fmla="val 42611"/>
                <a:gd name="adj2" fmla="val 85179"/>
              </a:avLst>
            </a:prstGeom>
            <a:solidFill>
              <a:schemeClr val="bg1">
                <a:lumMod val="85000"/>
              </a:schemeClr>
            </a:solidFill>
            <a:ln w="12700" cap="flat">
              <a:noFill/>
              <a:miter lim="400000"/>
            </a:ln>
            <a:effectLst/>
          </p:spPr>
          <p:txBody>
            <a:bodyPr anchor="ctr"/>
            <a:lstStyle/>
            <a:p>
              <a:pPr algn="ctr"/>
              <a:endParaRPr/>
            </a:p>
          </p:txBody>
        </p:sp>
        <p:sp>
          <p:nvSpPr>
            <p:cNvPr id="10" name="íŝlîḍé">
              <a:extLst>
                <a:ext uri="{FF2B5EF4-FFF2-40B4-BE49-F238E27FC236}">
                  <a16:creationId xmlns:a16="http://schemas.microsoft.com/office/drawing/2014/main" id="{8F05A9BC-5904-405E-9244-6700067EC567}"/>
                </a:ext>
              </a:extLst>
            </p:cNvPr>
            <p:cNvSpPr/>
            <p:nvPr/>
          </p:nvSpPr>
          <p:spPr>
            <a:xfrm>
              <a:off x="2891466" y="4090456"/>
              <a:ext cx="3339235" cy="166496"/>
            </a:xfrm>
            <a:prstGeom prst="rightArrow">
              <a:avLst>
                <a:gd name="adj1" fmla="val 42611"/>
                <a:gd name="adj2" fmla="val 85179"/>
              </a:avLst>
            </a:prstGeom>
            <a:solidFill>
              <a:schemeClr val="bg1">
                <a:lumMod val="85000"/>
              </a:schemeClr>
            </a:solidFill>
            <a:ln w="12700" cap="flat">
              <a:noFill/>
              <a:miter lim="400000"/>
            </a:ln>
            <a:effectLst/>
          </p:spPr>
          <p:txBody>
            <a:bodyPr anchor="ctr"/>
            <a:lstStyle/>
            <a:p>
              <a:pPr algn="ctr"/>
              <a:endParaRPr/>
            </a:p>
          </p:txBody>
        </p:sp>
        <p:sp>
          <p:nvSpPr>
            <p:cNvPr id="11" name="íṡḻîďè">
              <a:extLst>
                <a:ext uri="{FF2B5EF4-FFF2-40B4-BE49-F238E27FC236}">
                  <a16:creationId xmlns:a16="http://schemas.microsoft.com/office/drawing/2014/main" id="{B74A578C-098A-4DC2-8DBE-E4A541D03018}"/>
                </a:ext>
              </a:extLst>
            </p:cNvPr>
            <p:cNvSpPr/>
            <p:nvPr/>
          </p:nvSpPr>
          <p:spPr>
            <a:xfrm>
              <a:off x="2891467" y="2972096"/>
              <a:ext cx="3339235" cy="166494"/>
            </a:xfrm>
            <a:prstGeom prst="rightArrow">
              <a:avLst>
                <a:gd name="adj1" fmla="val 42611"/>
                <a:gd name="adj2" fmla="val 85179"/>
              </a:avLst>
            </a:prstGeom>
            <a:solidFill>
              <a:schemeClr val="bg1">
                <a:lumMod val="85000"/>
              </a:schemeClr>
            </a:solidFill>
            <a:ln w="12700" cap="flat">
              <a:noFill/>
              <a:miter lim="400000"/>
            </a:ln>
            <a:effectLst/>
          </p:spPr>
          <p:txBody>
            <a:bodyPr anchor="ctr"/>
            <a:lstStyle/>
            <a:p>
              <a:pPr algn="ctr"/>
              <a:endParaRPr/>
            </a:p>
          </p:txBody>
        </p:sp>
        <p:sp>
          <p:nvSpPr>
            <p:cNvPr id="12" name="íṥļíḑe">
              <a:extLst>
                <a:ext uri="{FF2B5EF4-FFF2-40B4-BE49-F238E27FC236}">
                  <a16:creationId xmlns:a16="http://schemas.microsoft.com/office/drawing/2014/main" id="{A05896AE-749E-4F81-A37C-9B45F1F529F9}"/>
                </a:ext>
              </a:extLst>
            </p:cNvPr>
            <p:cNvSpPr/>
            <p:nvPr/>
          </p:nvSpPr>
          <p:spPr>
            <a:xfrm flipH="1">
              <a:off x="1993271" y="4136740"/>
              <a:ext cx="900862" cy="194963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0" y="840"/>
                  </a:lnTo>
                  <a:lnTo>
                    <a:pt x="21600" y="21600"/>
                  </a:lnTo>
                  <a:lnTo>
                    <a:pt x="21591" y="15894"/>
                  </a:lnTo>
                  <a:lnTo>
                    <a:pt x="0" y="0"/>
                  </a:lnTo>
                  <a:close/>
                </a:path>
              </a:pathLst>
            </a:custGeom>
            <a:solidFill>
              <a:schemeClr val="bg1">
                <a:lumMod val="85000"/>
              </a:schemeClr>
            </a:solidFill>
            <a:ln w="12700" cap="flat">
              <a:noFill/>
              <a:miter lim="400000"/>
            </a:ln>
            <a:effectLst/>
          </p:spPr>
          <p:txBody>
            <a:bodyPr anchor="ctr"/>
            <a:lstStyle/>
            <a:p>
              <a:pPr algn="ctr"/>
              <a:endParaRPr/>
            </a:p>
          </p:txBody>
        </p:sp>
        <p:sp>
          <p:nvSpPr>
            <p:cNvPr id="13" name="ïslîḓè">
              <a:extLst>
                <a:ext uri="{FF2B5EF4-FFF2-40B4-BE49-F238E27FC236}">
                  <a16:creationId xmlns:a16="http://schemas.microsoft.com/office/drawing/2014/main" id="{3E2F0421-0373-4EF4-A475-538BA0B4BD56}"/>
                </a:ext>
              </a:extLst>
            </p:cNvPr>
            <p:cNvSpPr/>
            <p:nvPr/>
          </p:nvSpPr>
          <p:spPr>
            <a:xfrm flipH="1">
              <a:off x="1993273" y="3845628"/>
              <a:ext cx="899364" cy="1144397"/>
            </a:xfrm>
            <a:custGeom>
              <a:avLst/>
              <a:gdLst/>
              <a:ahLst/>
              <a:cxnLst>
                <a:cxn ang="0">
                  <a:pos x="wd2" y="hd2"/>
                </a:cxn>
                <a:cxn ang="5400000">
                  <a:pos x="wd2" y="hd2"/>
                </a:cxn>
                <a:cxn ang="10800000">
                  <a:pos x="wd2" y="hd2"/>
                </a:cxn>
                <a:cxn ang="16200000">
                  <a:pos x="wd2" y="hd2"/>
                </a:cxn>
              </a:cxnLst>
              <a:rect l="0" t="0" r="r" b="b"/>
              <a:pathLst>
                <a:path w="21600" h="21600" extrusionOk="0">
                  <a:moveTo>
                    <a:pt x="4" y="0"/>
                  </a:moveTo>
                  <a:lnTo>
                    <a:pt x="0" y="1391"/>
                  </a:lnTo>
                  <a:lnTo>
                    <a:pt x="21600" y="21600"/>
                  </a:lnTo>
                  <a:lnTo>
                    <a:pt x="21600" y="12014"/>
                  </a:lnTo>
                  <a:lnTo>
                    <a:pt x="4" y="0"/>
                  </a:lnTo>
                  <a:close/>
                </a:path>
              </a:pathLst>
            </a:custGeom>
            <a:solidFill>
              <a:schemeClr val="bg1">
                <a:lumMod val="85000"/>
              </a:schemeClr>
            </a:solidFill>
            <a:ln w="12700" cap="flat">
              <a:noFill/>
              <a:miter lim="400000"/>
            </a:ln>
            <a:effectLst/>
          </p:spPr>
          <p:txBody>
            <a:bodyPr anchor="ctr"/>
            <a:lstStyle/>
            <a:p>
              <a:pPr algn="ctr"/>
              <a:endParaRPr/>
            </a:p>
          </p:txBody>
        </p:sp>
        <p:sp>
          <p:nvSpPr>
            <p:cNvPr id="14" name="í$ļîḍe">
              <a:extLst>
                <a:ext uri="{FF2B5EF4-FFF2-40B4-BE49-F238E27FC236}">
                  <a16:creationId xmlns:a16="http://schemas.microsoft.com/office/drawing/2014/main" id="{96DD0552-6005-4EA6-8501-E8435B61C903}"/>
                </a:ext>
              </a:extLst>
            </p:cNvPr>
            <p:cNvSpPr/>
            <p:nvPr/>
          </p:nvSpPr>
          <p:spPr>
            <a:xfrm flipH="1">
              <a:off x="1993273" y="3372057"/>
              <a:ext cx="901823" cy="511442"/>
            </a:xfrm>
            <a:custGeom>
              <a:avLst/>
              <a:gdLst/>
              <a:ahLst/>
              <a:cxnLst>
                <a:cxn ang="0">
                  <a:pos x="wd2" y="hd2"/>
                </a:cxn>
                <a:cxn ang="5400000">
                  <a:pos x="wd2" y="hd2"/>
                </a:cxn>
                <a:cxn ang="10800000">
                  <a:pos x="wd2" y="hd2"/>
                </a:cxn>
                <a:cxn ang="16200000">
                  <a:pos x="wd2" y="hd2"/>
                </a:cxn>
              </a:cxnLst>
              <a:rect l="0" t="0" r="r" b="b"/>
              <a:pathLst>
                <a:path w="21600" h="21600" extrusionOk="0">
                  <a:moveTo>
                    <a:pt x="61" y="8656"/>
                  </a:moveTo>
                  <a:lnTo>
                    <a:pt x="21589" y="0"/>
                  </a:lnTo>
                  <a:lnTo>
                    <a:pt x="21600" y="21600"/>
                  </a:lnTo>
                  <a:lnTo>
                    <a:pt x="0" y="11830"/>
                  </a:lnTo>
                  <a:lnTo>
                    <a:pt x="61" y="8656"/>
                  </a:lnTo>
                  <a:close/>
                </a:path>
              </a:pathLst>
            </a:custGeom>
            <a:solidFill>
              <a:schemeClr val="bg1">
                <a:lumMod val="85000"/>
              </a:schemeClr>
            </a:solidFill>
            <a:ln w="12700" cap="flat">
              <a:noFill/>
              <a:miter lim="400000"/>
            </a:ln>
            <a:effectLst/>
          </p:spPr>
          <p:txBody>
            <a:bodyPr anchor="ctr"/>
            <a:lstStyle/>
            <a:p>
              <a:pPr algn="ctr"/>
              <a:endParaRPr/>
            </a:p>
          </p:txBody>
        </p:sp>
        <p:sp>
          <p:nvSpPr>
            <p:cNvPr id="15" name="ïṣḻîďê">
              <a:extLst>
                <a:ext uri="{FF2B5EF4-FFF2-40B4-BE49-F238E27FC236}">
                  <a16:creationId xmlns:a16="http://schemas.microsoft.com/office/drawing/2014/main" id="{CE60E85C-6056-4F03-86AB-C2A3E8566F0C}"/>
                </a:ext>
              </a:extLst>
            </p:cNvPr>
            <p:cNvSpPr/>
            <p:nvPr/>
          </p:nvSpPr>
          <p:spPr>
            <a:xfrm flipH="1">
              <a:off x="1993272" y="2252347"/>
              <a:ext cx="900920" cy="1120001"/>
            </a:xfrm>
            <a:custGeom>
              <a:avLst/>
              <a:gdLst/>
              <a:ahLst/>
              <a:cxnLst>
                <a:cxn ang="0">
                  <a:pos x="wd2" y="hd2"/>
                </a:cxn>
                <a:cxn ang="5400000">
                  <a:pos x="wd2" y="hd2"/>
                </a:cxn>
                <a:cxn ang="10800000">
                  <a:pos x="wd2" y="hd2"/>
                </a:cxn>
                <a:cxn ang="16200000">
                  <a:pos x="wd2" y="hd2"/>
                </a:cxn>
              </a:cxnLst>
              <a:rect l="0" t="0" r="r" b="b"/>
              <a:pathLst>
                <a:path w="21600" h="21600" extrusionOk="0">
                  <a:moveTo>
                    <a:pt x="27" y="20157"/>
                  </a:moveTo>
                  <a:lnTo>
                    <a:pt x="21588" y="0"/>
                  </a:lnTo>
                  <a:lnTo>
                    <a:pt x="21600" y="9767"/>
                  </a:lnTo>
                  <a:lnTo>
                    <a:pt x="0" y="21600"/>
                  </a:lnTo>
                  <a:lnTo>
                    <a:pt x="27" y="20157"/>
                  </a:lnTo>
                  <a:close/>
                </a:path>
              </a:pathLst>
            </a:custGeom>
            <a:solidFill>
              <a:schemeClr val="bg1">
                <a:lumMod val="85000"/>
              </a:schemeClr>
            </a:solidFill>
            <a:ln w="12700" cap="flat">
              <a:noFill/>
              <a:miter lim="400000"/>
            </a:ln>
            <a:effectLst/>
          </p:spPr>
          <p:txBody>
            <a:bodyPr anchor="ctr"/>
            <a:lstStyle/>
            <a:p>
              <a:pPr algn="ctr"/>
              <a:endParaRPr/>
            </a:p>
          </p:txBody>
        </p:sp>
        <p:sp>
          <p:nvSpPr>
            <p:cNvPr id="16" name="îṥ1îḋê">
              <a:extLst>
                <a:ext uri="{FF2B5EF4-FFF2-40B4-BE49-F238E27FC236}">
                  <a16:creationId xmlns:a16="http://schemas.microsoft.com/office/drawing/2014/main" id="{E37E9ADD-972D-48EF-9590-FC7D772A6DCB}"/>
                </a:ext>
              </a:extLst>
            </p:cNvPr>
            <p:cNvSpPr/>
            <p:nvPr/>
          </p:nvSpPr>
          <p:spPr>
            <a:xfrm flipH="1">
              <a:off x="1993273" y="1152408"/>
              <a:ext cx="902411" cy="1941699"/>
            </a:xfrm>
            <a:custGeom>
              <a:avLst/>
              <a:gdLst/>
              <a:ahLst/>
              <a:cxnLst>
                <a:cxn ang="0">
                  <a:pos x="wd2" y="hd2"/>
                </a:cxn>
                <a:cxn ang="5400000">
                  <a:pos x="wd2" y="hd2"/>
                </a:cxn>
                <a:cxn ang="10800000">
                  <a:pos x="wd2" y="hd2"/>
                </a:cxn>
                <a:cxn ang="16200000">
                  <a:pos x="wd2" y="hd2"/>
                </a:cxn>
              </a:cxnLst>
              <a:rect l="0" t="0" r="r" b="b"/>
              <a:pathLst>
                <a:path w="21600" h="21600" extrusionOk="0">
                  <a:moveTo>
                    <a:pt x="0" y="20728"/>
                  </a:moveTo>
                  <a:lnTo>
                    <a:pt x="21600" y="0"/>
                  </a:lnTo>
                  <a:lnTo>
                    <a:pt x="21591" y="5658"/>
                  </a:lnTo>
                  <a:lnTo>
                    <a:pt x="48" y="21600"/>
                  </a:lnTo>
                  <a:lnTo>
                    <a:pt x="0" y="20728"/>
                  </a:lnTo>
                  <a:close/>
                </a:path>
              </a:pathLst>
            </a:custGeom>
            <a:solidFill>
              <a:schemeClr val="bg1">
                <a:lumMod val="85000"/>
              </a:schemeClr>
            </a:solidFill>
            <a:ln w="12700" cap="flat">
              <a:noFill/>
              <a:miter lim="400000"/>
            </a:ln>
            <a:effectLst/>
          </p:spPr>
          <p:txBody>
            <a:bodyPr anchor="ctr"/>
            <a:lstStyle/>
            <a:p>
              <a:pPr algn="ctr"/>
              <a:endParaRPr/>
            </a:p>
          </p:txBody>
        </p:sp>
      </p:grpSp>
      <p:sp>
        <p:nvSpPr>
          <p:cNvPr id="4" name="Rectangle 3"/>
          <p:cNvSpPr/>
          <p:nvPr/>
        </p:nvSpPr>
        <p:spPr>
          <a:xfrm rot="5400000">
            <a:off x="-6606" y="3779519"/>
            <a:ext cx="4606432" cy="560130"/>
          </a:xfrm>
          <a:prstGeom prst="rect">
            <a:avLst/>
          </a:prstGeom>
          <a:solidFill>
            <a:srgbClr val="C8C8C8">
              <a:alpha val="40000"/>
            </a:srgbClr>
          </a:solidFill>
          <a:ln w="9525" cap="flat" cmpd="sng" algn="ctr">
            <a:noFill/>
            <a:prstDash val="solid"/>
          </a:ln>
          <a:effectLst/>
        </p:spPr>
        <p:txBody>
          <a:bodyPr tIns="90000" bIns="90000" rtlCol="0" anchor="ctr"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500" b="1" i="0" u="none" strike="noStrike" kern="0" cap="none" spc="0" normalizeH="0" noProof="0">
              <a:ln>
                <a:noFill/>
              </a:ln>
              <a:solidFill>
                <a:srgbClr val="FFFFFF"/>
              </a:solidFill>
              <a:effectLst/>
              <a:uLnTx/>
              <a:uFillTx/>
              <a:ea typeface="+mn-ea"/>
              <a:cs typeface="Arial" pitchFamily="34" charset="0"/>
            </a:endParaRPr>
          </a:p>
        </p:txBody>
      </p:sp>
      <p:sp>
        <p:nvSpPr>
          <p:cNvPr id="5" name="Rectangle 4"/>
          <p:cNvSpPr/>
          <p:nvPr/>
        </p:nvSpPr>
        <p:spPr>
          <a:xfrm rot="5400000">
            <a:off x="-752617" y="3779518"/>
            <a:ext cx="4745946" cy="560130"/>
          </a:xfrm>
          <a:prstGeom prst="rect">
            <a:avLst/>
          </a:prstGeom>
          <a:solidFill>
            <a:srgbClr val="C8C8C8">
              <a:alpha val="40000"/>
            </a:srgbClr>
          </a:solidFill>
          <a:ln w="9525" cap="flat" cmpd="sng" algn="ctr">
            <a:noFill/>
            <a:prstDash val="solid"/>
          </a:ln>
          <a:effectLst/>
        </p:spPr>
        <p:txBody>
          <a:bodyPr tIns="90000" bIns="90000" rtlCol="0" anchor="ctr"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500" b="1" i="0" u="none" strike="noStrike" kern="0" cap="none" spc="0" normalizeH="0" noProof="0">
              <a:ln>
                <a:noFill/>
              </a:ln>
              <a:solidFill>
                <a:srgbClr val="FFFFFF"/>
              </a:solidFill>
              <a:effectLst/>
              <a:uLnTx/>
              <a:uFillTx/>
              <a:ea typeface="+mn-ea"/>
              <a:cs typeface="Arial" pitchFamily="34" charset="0"/>
            </a:endParaRPr>
          </a:p>
        </p:txBody>
      </p:sp>
      <p:sp>
        <p:nvSpPr>
          <p:cNvPr id="17" name="Rectangle 16"/>
          <p:cNvSpPr/>
          <p:nvPr/>
        </p:nvSpPr>
        <p:spPr>
          <a:xfrm>
            <a:off x="1318307" y="2152653"/>
            <a:ext cx="1319746" cy="615553"/>
          </a:xfrm>
          <a:prstGeom prst="rect">
            <a:avLst/>
          </a:prstGeom>
          <a:ln w="9525" cap="flat" cmpd="sng" algn="ctr">
            <a:noFill/>
            <a:prstDash val="solid"/>
            <a:round/>
            <a:headEnd type="none" w="med" len="med"/>
            <a:tailEnd type="none" w="med" len="med"/>
          </a:ln>
          <a:extLst>
            <a:ext uri="{91240B29-F687-4F45-9708-019B960494DF}">
              <a14:hiddenLine xmlns:a14="http://schemas.microsoft.com/office/drawing/2010/main" w="9525" cap="flat" cmpd="sng" algn="ctr">
                <a:solidFill>
                  <a:srgbClr val="9A9A9A"/>
                </a:solidFill>
                <a:prstDash val="solid"/>
                <a:round/>
                <a:headEnd type="none" w="med" len="med"/>
                <a:tailEnd type="none" w="med" len="med"/>
              </a14:hiddenLine>
            </a:ext>
          </a:extLst>
        </p:spPr>
        <p:txBody>
          <a:bodyPr wrap="square">
            <a:spAutoFit/>
          </a:bodyPr>
          <a:lstStyle/>
          <a:p>
            <a:r>
              <a:rPr lang="en-US" altLang="zh-CN">
                <a:solidFill>
                  <a:srgbClr val="29BA74"/>
                </a:solidFill>
                <a:latin typeface="Trebuchet MS" panose="020B0603020202020204" pitchFamily="34" charset="0"/>
              </a:rPr>
              <a:t>390</a:t>
            </a:r>
            <a:r>
              <a:rPr lang="zh-CN" altLang="en-US" sz="1600">
                <a:solidFill>
                  <a:schemeClr val="tx1">
                    <a:lumMod val="100000"/>
                  </a:schemeClr>
                </a:solidFill>
                <a:latin typeface="Trebuchet MS" panose="020B0603020202020204" pitchFamily="34" charset="0"/>
              </a:rPr>
              <a:t>個系統的數據源</a:t>
            </a:r>
            <a:endParaRPr lang="en-US" altLang="zh-CN" sz="1600">
              <a:solidFill>
                <a:schemeClr val="tx1">
                  <a:lumMod val="100000"/>
                </a:schemeClr>
              </a:solidFill>
              <a:latin typeface="Trebuchet MS" panose="020B0603020202020204" pitchFamily="34" charset="0"/>
            </a:endParaRPr>
          </a:p>
        </p:txBody>
      </p:sp>
      <p:sp>
        <p:nvSpPr>
          <p:cNvPr id="34" name="Freeform 33"/>
          <p:cNvSpPr/>
          <p:nvPr/>
        </p:nvSpPr>
        <p:spPr>
          <a:xfrm>
            <a:off x="6536934" y="1900031"/>
            <a:ext cx="889088" cy="3922950"/>
          </a:xfrm>
          <a:custGeom>
            <a:avLst/>
            <a:gdLst>
              <a:gd name="connsiteX0" fmla="*/ 13848 w 2365162"/>
              <a:gd name="connsiteY0" fmla="*/ 762000 h 3385457"/>
              <a:gd name="connsiteX1" fmla="*/ 2310734 w 2365162"/>
              <a:gd name="connsiteY1" fmla="*/ 0 h 3385457"/>
              <a:gd name="connsiteX2" fmla="*/ 2365162 w 2365162"/>
              <a:gd name="connsiteY2" fmla="*/ 3385457 h 3385457"/>
              <a:gd name="connsiteX3" fmla="*/ 2962 w 2365162"/>
              <a:gd name="connsiteY3" fmla="*/ 2013857 h 3385457"/>
              <a:gd name="connsiteX4" fmla="*/ 13848 w 2365162"/>
              <a:gd name="connsiteY4" fmla="*/ 762000 h 3385457"/>
              <a:gd name="connsiteX0" fmla="*/ 13848 w 2365162"/>
              <a:gd name="connsiteY0" fmla="*/ 762000 h 3385457"/>
              <a:gd name="connsiteX1" fmla="*/ 2357008 w 2365162"/>
              <a:gd name="connsiteY1" fmla="*/ 0 h 3385457"/>
              <a:gd name="connsiteX2" fmla="*/ 2365162 w 2365162"/>
              <a:gd name="connsiteY2" fmla="*/ 3385457 h 3385457"/>
              <a:gd name="connsiteX3" fmla="*/ 2962 w 2365162"/>
              <a:gd name="connsiteY3" fmla="*/ 2013857 h 3385457"/>
              <a:gd name="connsiteX4" fmla="*/ 13848 w 2365162"/>
              <a:gd name="connsiteY4" fmla="*/ 762000 h 3385457"/>
              <a:gd name="connsiteX0" fmla="*/ 13849 w 2365162"/>
              <a:gd name="connsiteY0" fmla="*/ 536538 h 3385457"/>
              <a:gd name="connsiteX1" fmla="*/ 2357008 w 2365162"/>
              <a:gd name="connsiteY1" fmla="*/ 0 h 3385457"/>
              <a:gd name="connsiteX2" fmla="*/ 2365162 w 2365162"/>
              <a:gd name="connsiteY2" fmla="*/ 3385457 h 3385457"/>
              <a:gd name="connsiteX3" fmla="*/ 2962 w 2365162"/>
              <a:gd name="connsiteY3" fmla="*/ 2013857 h 3385457"/>
              <a:gd name="connsiteX4" fmla="*/ 13849 w 2365162"/>
              <a:gd name="connsiteY4" fmla="*/ 536538 h 3385457"/>
              <a:gd name="connsiteX0" fmla="*/ 40517 w 2391830"/>
              <a:gd name="connsiteY0" fmla="*/ 536538 h 3385457"/>
              <a:gd name="connsiteX1" fmla="*/ 2383676 w 2391830"/>
              <a:gd name="connsiteY1" fmla="*/ 0 h 3385457"/>
              <a:gd name="connsiteX2" fmla="*/ 2391830 w 2391830"/>
              <a:gd name="connsiteY2" fmla="*/ 3385457 h 3385457"/>
              <a:gd name="connsiteX3" fmla="*/ 347 w 2391830"/>
              <a:gd name="connsiteY3" fmla="*/ 1553540 h 3385457"/>
              <a:gd name="connsiteX4" fmla="*/ 40517 w 2391830"/>
              <a:gd name="connsiteY4" fmla="*/ 536538 h 3385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1830" h="3385457">
                <a:moveTo>
                  <a:pt x="40517" y="536538"/>
                </a:moveTo>
                <a:lnTo>
                  <a:pt x="2383676" y="0"/>
                </a:lnTo>
                <a:lnTo>
                  <a:pt x="2391830" y="3385457"/>
                </a:lnTo>
                <a:lnTo>
                  <a:pt x="347" y="1553540"/>
                </a:lnTo>
                <a:cubicBezTo>
                  <a:pt x="-3281" y="1143511"/>
                  <a:pt x="22374" y="968338"/>
                  <a:pt x="40517" y="536538"/>
                </a:cubicBezTo>
                <a:close/>
              </a:path>
            </a:pathLst>
          </a:custGeom>
          <a:gradFill flip="none" rotWithShape="1">
            <a:gsLst>
              <a:gs pos="0">
                <a:schemeClr val="bg1"/>
              </a:gs>
              <a:gs pos="100000">
                <a:schemeClr val="bg1">
                  <a:lumMod val="85000"/>
                </a:schemeClr>
              </a:gs>
            </a:gsLst>
            <a:lin ang="0" scaled="1"/>
            <a:tileRect/>
          </a:gra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spcAft>
                <a:spcPts val="1000"/>
              </a:spcAft>
            </a:pPr>
            <a:endParaRPr lang="en-US" sz="1200" err="1">
              <a:solidFill>
                <a:srgbClr val="FFFFFF"/>
              </a:solidFill>
            </a:endParaRPr>
          </a:p>
        </p:txBody>
      </p:sp>
      <p:sp>
        <p:nvSpPr>
          <p:cNvPr id="23" name="Rectangle 22"/>
          <p:cNvSpPr/>
          <p:nvPr/>
        </p:nvSpPr>
        <p:spPr>
          <a:xfrm>
            <a:off x="7427454" y="1880638"/>
            <a:ext cx="4135896" cy="3942343"/>
          </a:xfrm>
          <a:prstGeom prst="rect">
            <a:avLst/>
          </a:prstGeom>
          <a:solidFill>
            <a:schemeClr val="bg1">
              <a:lumMod val="95000"/>
              <a:alpha val="80000"/>
            </a:schemeClr>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buSzPct val="100000"/>
              <a:buFont typeface="Trebuchet MS" panose="020B0603020202020204" pitchFamily="34" charset="0"/>
              <a:buChar char="​"/>
            </a:pPr>
            <a:r>
              <a:rPr lang="zh-CN" altLang="en-US" sz="1600">
                <a:solidFill>
                  <a:srgbClr val="29BA74"/>
                </a:solidFill>
                <a:latin typeface="Trebuchet MS" panose="020B0603020202020204" pitchFamily="34" charset="0"/>
              </a:rPr>
              <a:t>識別四大類事件産品</a:t>
            </a:r>
            <a:endParaRPr lang="en-US" altLang="zh-CN" sz="1600">
              <a:solidFill>
                <a:srgbClr val="29BA74"/>
              </a:solidFill>
              <a:latin typeface="Trebuchet MS" panose="020B0603020202020204" pitchFamily="34" charset="0"/>
            </a:endParaRPr>
          </a:p>
          <a:p>
            <a:pPr>
              <a:buSzPct val="100000"/>
              <a:buFont typeface="Trebuchet MS" panose="020B0603020202020204" pitchFamily="34" charset="0"/>
              <a:buChar char="​"/>
            </a:pPr>
            <a:endParaRPr lang="en-US" altLang="zh-CN" sz="1600">
              <a:solidFill>
                <a:schemeClr val="tx1">
                  <a:lumMod val="100000"/>
                </a:schemeClr>
              </a:solidFill>
              <a:latin typeface="Trebuchet MS" panose="020B0603020202020204" pitchFamily="34" charset="0"/>
            </a:endParaRPr>
          </a:p>
          <a:p>
            <a:pPr marL="324000" lvl="1" indent="-216000">
              <a:buClr>
                <a:schemeClr val="tx2">
                  <a:lumMod val="100000"/>
                </a:schemeClr>
              </a:buClr>
              <a:buSzPct val="100000"/>
              <a:buFont typeface="Trebuchet MS" panose="020B0603020202020204" pitchFamily="34" charset="0"/>
              <a:buChar char="•"/>
            </a:pPr>
            <a:r>
              <a:rPr lang="zh-CN" altLang="en-US" sz="1400">
                <a:solidFill>
                  <a:srgbClr val="29BA74"/>
                </a:solidFill>
                <a:latin typeface="Trebuchet MS" panose="020B0603020202020204" pitchFamily="34" charset="0"/>
              </a:rPr>
              <a:t>客戶行爲改變：</a:t>
            </a:r>
            <a:r>
              <a:rPr lang="zh-CN" altLang="en-US" sz="1400">
                <a:solidFill>
                  <a:schemeClr val="tx1">
                    <a:lumMod val="100000"/>
                  </a:schemeClr>
                </a:solidFill>
                <a:latin typeface="Trebuchet MS" panose="020B0603020202020204" pitchFamily="34" charset="0"/>
              </a:rPr>
              <a:t>個人事件而造成的行爲改變</a:t>
            </a:r>
            <a:endParaRPr lang="en-US" altLang="zh-CN" sz="1400">
              <a:solidFill>
                <a:schemeClr val="tx1">
                  <a:lumMod val="100000"/>
                </a:schemeClr>
              </a:solidFill>
              <a:latin typeface="Trebuchet MS" panose="020B0603020202020204" pitchFamily="34" charset="0"/>
            </a:endParaRPr>
          </a:p>
          <a:p>
            <a:pPr marL="648000" lvl="2" indent="-216000">
              <a:buClr>
                <a:schemeClr val="tx2">
                  <a:lumMod val="100000"/>
                </a:schemeClr>
              </a:buClr>
              <a:buSzPct val="100000"/>
              <a:buFont typeface="Trebuchet MS" panose="020B0603020202020204" pitchFamily="34" charset="0"/>
              <a:buChar char="–"/>
            </a:pPr>
            <a:r>
              <a:rPr lang="zh-CN" altLang="en-US" sz="1400">
                <a:solidFill>
                  <a:schemeClr val="tx1">
                    <a:lumMod val="100000"/>
                  </a:schemeClr>
                </a:solidFill>
                <a:latin typeface="Trebuchet MS" panose="020B0603020202020204" pitchFamily="34" charset="0"/>
              </a:rPr>
              <a:t>消費行爲（信用卡）</a:t>
            </a:r>
            <a:endParaRPr lang="en-US" altLang="zh-CN" sz="1400">
              <a:solidFill>
                <a:schemeClr val="tx1">
                  <a:lumMod val="100000"/>
                </a:schemeClr>
              </a:solidFill>
              <a:latin typeface="Trebuchet MS" panose="020B0603020202020204" pitchFamily="34" charset="0"/>
            </a:endParaRPr>
          </a:p>
          <a:p>
            <a:pPr marL="648000" lvl="2" indent="-216000">
              <a:buClr>
                <a:schemeClr val="tx2">
                  <a:lumMod val="100000"/>
                </a:schemeClr>
              </a:buClr>
              <a:buSzPct val="100000"/>
              <a:buFont typeface="Trebuchet MS" panose="020B0603020202020204" pitchFamily="34" charset="0"/>
              <a:buChar char="–"/>
            </a:pPr>
            <a:r>
              <a:rPr lang="zh-CN" altLang="en-US" sz="1400">
                <a:solidFill>
                  <a:schemeClr val="tx1">
                    <a:lumMod val="100000"/>
                  </a:schemeClr>
                </a:solidFill>
                <a:latin typeface="Trebuchet MS" panose="020B0603020202020204" pitchFamily="34" charset="0"/>
              </a:rPr>
              <a:t>産品使用行爲（存提款、預借現金、基金贖回、</a:t>
            </a:r>
            <a:r>
              <a:rPr lang="zh-TW" altLang="en-US" sz="1400">
                <a:solidFill>
                  <a:schemeClr val="tx1">
                    <a:lumMod val="100000"/>
                  </a:schemeClr>
                </a:solidFill>
                <a:latin typeface="Trebuchet MS" panose="020B0603020202020204" pitchFamily="34" charset="0"/>
              </a:rPr>
              <a:t>行動</a:t>
            </a:r>
            <a:r>
              <a:rPr lang="zh-CN" altLang="en-US" sz="1400">
                <a:solidFill>
                  <a:schemeClr val="tx1">
                    <a:lumMod val="100000"/>
                  </a:schemeClr>
                </a:solidFill>
                <a:latin typeface="Trebuchet MS" panose="020B0603020202020204" pitchFamily="34" charset="0"/>
              </a:rPr>
              <a:t>銀行</a:t>
            </a:r>
            <a:r>
              <a:rPr lang="zh-TW" altLang="en-US" sz="1400">
                <a:solidFill>
                  <a:schemeClr val="tx1">
                    <a:lumMod val="100000"/>
                  </a:schemeClr>
                </a:solidFill>
                <a:latin typeface="Trebuchet MS" panose="020B0603020202020204" pitchFamily="34" charset="0"/>
              </a:rPr>
              <a:t>下單</a:t>
            </a:r>
            <a:r>
              <a:rPr lang="zh-CN" altLang="en-US" sz="1400">
                <a:solidFill>
                  <a:schemeClr val="tx1">
                    <a:lumMod val="100000"/>
                  </a:schemeClr>
                </a:solidFill>
                <a:latin typeface="Trebuchet MS" panose="020B0603020202020204" pitchFamily="34" charset="0"/>
              </a:rPr>
              <a:t>）</a:t>
            </a:r>
            <a:endParaRPr lang="en-US" altLang="zh-CN" sz="1400">
              <a:solidFill>
                <a:schemeClr val="tx1">
                  <a:lumMod val="100000"/>
                </a:schemeClr>
              </a:solidFill>
              <a:latin typeface="Trebuchet MS" panose="020B0603020202020204" pitchFamily="34" charset="0"/>
            </a:endParaRPr>
          </a:p>
          <a:p>
            <a:pPr marL="324000" lvl="1" indent="-216000">
              <a:buClr>
                <a:schemeClr val="tx2">
                  <a:lumMod val="100000"/>
                </a:schemeClr>
              </a:buClr>
              <a:buSzPct val="100000"/>
              <a:buFont typeface="Trebuchet MS" panose="020B0603020202020204" pitchFamily="34" charset="0"/>
              <a:buChar char="•"/>
            </a:pPr>
            <a:r>
              <a:rPr lang="zh-CN" altLang="en-US" sz="1400">
                <a:solidFill>
                  <a:srgbClr val="29BA74"/>
                </a:solidFill>
                <a:latin typeface="Trebuchet MS" panose="020B0603020202020204" pitchFamily="34" charset="0"/>
              </a:rPr>
              <a:t>人生階段：</a:t>
            </a:r>
            <a:r>
              <a:rPr lang="zh-CN" altLang="en-US" sz="1400">
                <a:solidFill>
                  <a:schemeClr val="tx1">
                    <a:lumMod val="100000"/>
                  </a:schemeClr>
                </a:solidFill>
                <a:latin typeface="Trebuchet MS" panose="020B0603020202020204" pitchFamily="34" charset="0"/>
              </a:rPr>
              <a:t>生活方式大改變</a:t>
            </a:r>
            <a:endParaRPr lang="en-US" altLang="zh-CN" sz="1400">
              <a:solidFill>
                <a:schemeClr val="tx1">
                  <a:lumMod val="100000"/>
                </a:schemeClr>
              </a:solidFill>
              <a:latin typeface="Trebuchet MS" panose="020B0603020202020204" pitchFamily="34" charset="0"/>
            </a:endParaRPr>
          </a:p>
          <a:p>
            <a:pPr marL="648000" lvl="2" indent="-216000">
              <a:buClr>
                <a:schemeClr val="tx2">
                  <a:lumMod val="100000"/>
                </a:schemeClr>
              </a:buClr>
              <a:buSzPct val="100000"/>
              <a:buFont typeface="Trebuchet MS" panose="020B0603020202020204" pitchFamily="34" charset="0"/>
              <a:buChar char="–"/>
            </a:pPr>
            <a:r>
              <a:rPr lang="zh-CN" altLang="en-US" sz="1400">
                <a:solidFill>
                  <a:schemeClr val="tx1">
                    <a:lumMod val="100000"/>
                  </a:schemeClr>
                </a:solidFill>
                <a:latin typeface="Trebuchet MS" panose="020B0603020202020204" pitchFamily="34" charset="0"/>
              </a:rPr>
              <a:t>學生變上班族</a:t>
            </a:r>
            <a:endParaRPr lang="en-US" altLang="zh-CN" sz="1400">
              <a:solidFill>
                <a:schemeClr val="tx1">
                  <a:lumMod val="100000"/>
                </a:schemeClr>
              </a:solidFill>
              <a:latin typeface="Trebuchet MS" panose="020B0603020202020204" pitchFamily="34" charset="0"/>
            </a:endParaRPr>
          </a:p>
          <a:p>
            <a:pPr marL="648000" lvl="2" indent="-216000">
              <a:buClr>
                <a:schemeClr val="tx2">
                  <a:lumMod val="100000"/>
                </a:schemeClr>
              </a:buClr>
              <a:buSzPct val="100000"/>
              <a:buFont typeface="Trebuchet MS" panose="020B0603020202020204" pitchFamily="34" charset="0"/>
              <a:buChar char="–"/>
            </a:pPr>
            <a:r>
              <a:rPr lang="zh-CN" altLang="en-US" sz="1400">
                <a:solidFill>
                  <a:schemeClr val="tx1">
                    <a:lumMod val="100000"/>
                  </a:schemeClr>
                </a:solidFill>
                <a:latin typeface="Trebuchet MS" panose="020B0603020202020204" pitchFamily="34" charset="0"/>
              </a:rPr>
              <a:t>結婚、生小孩</a:t>
            </a:r>
            <a:endParaRPr lang="en-US" altLang="zh-CN" sz="1400">
              <a:solidFill>
                <a:schemeClr val="tx1">
                  <a:lumMod val="100000"/>
                </a:schemeClr>
              </a:solidFill>
              <a:latin typeface="Trebuchet MS" panose="020B0603020202020204" pitchFamily="34" charset="0"/>
            </a:endParaRPr>
          </a:p>
          <a:p>
            <a:pPr marL="648000" lvl="2" indent="-216000">
              <a:buClr>
                <a:schemeClr val="tx2">
                  <a:lumMod val="100000"/>
                </a:schemeClr>
              </a:buClr>
              <a:buSzPct val="100000"/>
              <a:buFont typeface="Trebuchet MS" panose="020B0603020202020204" pitchFamily="34" charset="0"/>
              <a:buChar char="–"/>
            </a:pPr>
            <a:r>
              <a:rPr lang="zh-CN" altLang="en-US" sz="1400">
                <a:solidFill>
                  <a:schemeClr val="tx1">
                    <a:lumMod val="100000"/>
                  </a:schemeClr>
                </a:solidFill>
                <a:latin typeface="Trebuchet MS" panose="020B0603020202020204" pitchFamily="34" charset="0"/>
              </a:rPr>
              <a:t>買房子</a:t>
            </a:r>
            <a:endParaRPr lang="en-US" altLang="zh-CN" sz="1400">
              <a:solidFill>
                <a:schemeClr val="tx1">
                  <a:lumMod val="100000"/>
                </a:schemeClr>
              </a:solidFill>
              <a:latin typeface="Trebuchet MS" panose="020B0603020202020204" pitchFamily="34" charset="0"/>
            </a:endParaRPr>
          </a:p>
          <a:p>
            <a:pPr marL="648000" lvl="2" indent="-216000">
              <a:buClr>
                <a:schemeClr val="tx2">
                  <a:lumMod val="100000"/>
                </a:schemeClr>
              </a:buClr>
              <a:buSzPct val="100000"/>
              <a:buFont typeface="Trebuchet MS" panose="020B0603020202020204" pitchFamily="34" charset="0"/>
              <a:buChar char="–"/>
            </a:pPr>
            <a:r>
              <a:rPr lang="zh-CN" altLang="en-US" sz="1400">
                <a:solidFill>
                  <a:schemeClr val="tx1">
                    <a:lumMod val="100000"/>
                  </a:schemeClr>
                </a:solidFill>
                <a:latin typeface="Trebuchet MS" panose="020B0603020202020204" pitchFamily="34" charset="0"/>
              </a:rPr>
              <a:t>消費貸</a:t>
            </a:r>
            <a:endParaRPr lang="en-US" altLang="zh-CN" sz="1400">
              <a:solidFill>
                <a:schemeClr val="tx1">
                  <a:lumMod val="100000"/>
                </a:schemeClr>
              </a:solidFill>
              <a:latin typeface="Trebuchet MS" panose="020B0603020202020204" pitchFamily="34" charset="0"/>
            </a:endParaRPr>
          </a:p>
          <a:p>
            <a:pPr marL="324000" lvl="1" indent="-216000">
              <a:buClr>
                <a:schemeClr val="tx2">
                  <a:lumMod val="100000"/>
                </a:schemeClr>
              </a:buClr>
              <a:buSzPct val="100000"/>
              <a:buFont typeface="Trebuchet MS" panose="020B0603020202020204" pitchFamily="34" charset="0"/>
              <a:buChar char="•"/>
            </a:pPr>
            <a:r>
              <a:rPr lang="zh-CN" altLang="en-US" sz="1400">
                <a:solidFill>
                  <a:srgbClr val="29BA74"/>
                </a:solidFill>
                <a:latin typeface="Trebuchet MS" panose="020B0603020202020204" pitchFamily="34" charset="0"/>
              </a:rPr>
              <a:t>産品周期：</a:t>
            </a:r>
            <a:r>
              <a:rPr lang="zh-CN" altLang="en-US" sz="1400">
                <a:solidFill>
                  <a:schemeClr val="tx1">
                    <a:lumMod val="100000"/>
                  </a:schemeClr>
                </a:solidFill>
                <a:latin typeface="Trebuchet MS" panose="020B0603020202020204" pitchFamily="34" charset="0"/>
              </a:rPr>
              <a:t>産品到期而考慮新産品</a:t>
            </a:r>
            <a:endParaRPr lang="en-US" sz="1400">
              <a:solidFill>
                <a:schemeClr val="tx1">
                  <a:lumMod val="100000"/>
                </a:schemeClr>
              </a:solidFill>
              <a:latin typeface="Trebuchet MS" panose="020B0603020202020204" pitchFamily="34" charset="0"/>
            </a:endParaRPr>
          </a:p>
          <a:p>
            <a:pPr marL="648000" lvl="2" indent="-216000">
              <a:buClr>
                <a:schemeClr val="tx2">
                  <a:lumMod val="100000"/>
                </a:schemeClr>
              </a:buClr>
              <a:buSzPct val="100000"/>
              <a:buFont typeface="Trebuchet MS" panose="020B0603020202020204" pitchFamily="34" charset="0"/>
              <a:buChar char="–"/>
            </a:pPr>
            <a:r>
              <a:rPr lang="zh-CN" altLang="en-US" sz="1400">
                <a:solidFill>
                  <a:schemeClr val="tx1">
                    <a:lumMod val="100000"/>
                  </a:schemeClr>
                </a:solidFill>
                <a:latin typeface="Trebuchet MS" panose="020B0603020202020204" pitchFamily="34" charset="0"/>
              </a:rPr>
              <a:t>定存到期</a:t>
            </a:r>
            <a:endParaRPr lang="en-US" altLang="zh-CN" sz="1400">
              <a:solidFill>
                <a:schemeClr val="tx1">
                  <a:lumMod val="100000"/>
                </a:schemeClr>
              </a:solidFill>
              <a:latin typeface="Trebuchet MS" panose="020B0603020202020204" pitchFamily="34" charset="0"/>
            </a:endParaRPr>
          </a:p>
          <a:p>
            <a:pPr marL="648000" lvl="2" indent="-216000">
              <a:buClr>
                <a:schemeClr val="tx2">
                  <a:lumMod val="100000"/>
                </a:schemeClr>
              </a:buClr>
              <a:buSzPct val="100000"/>
              <a:buFont typeface="Trebuchet MS" panose="020B0603020202020204" pitchFamily="34" charset="0"/>
              <a:buChar char="–"/>
            </a:pPr>
            <a:r>
              <a:rPr lang="zh-CN" altLang="en-US" sz="1400">
                <a:solidFill>
                  <a:schemeClr val="tx1">
                    <a:lumMod val="100000"/>
                  </a:schemeClr>
                </a:solidFill>
                <a:latin typeface="Trebuchet MS" panose="020B0603020202020204" pitchFamily="34" charset="0"/>
              </a:rPr>
              <a:t>産品預約到期</a:t>
            </a:r>
            <a:endParaRPr lang="en-US" altLang="zh-CN" sz="1400">
              <a:solidFill>
                <a:schemeClr val="tx1">
                  <a:lumMod val="100000"/>
                </a:schemeClr>
              </a:solidFill>
              <a:latin typeface="Trebuchet MS" panose="020B0603020202020204" pitchFamily="34" charset="0"/>
            </a:endParaRPr>
          </a:p>
          <a:p>
            <a:pPr marL="324000" lvl="1" indent="-216000">
              <a:buClr>
                <a:schemeClr val="tx2">
                  <a:lumMod val="100000"/>
                </a:schemeClr>
              </a:buClr>
              <a:buSzPct val="100000"/>
              <a:buFont typeface="Trebuchet MS" panose="020B0603020202020204" pitchFamily="34" charset="0"/>
              <a:buChar char="•"/>
            </a:pPr>
            <a:r>
              <a:rPr lang="zh-CN" altLang="en-US" sz="1400">
                <a:solidFill>
                  <a:srgbClr val="29BA74"/>
                </a:solidFill>
                <a:latin typeface="Trebuchet MS" panose="020B0603020202020204" pitchFamily="34" charset="0"/>
              </a:rPr>
              <a:t>外部事件：</a:t>
            </a:r>
            <a:r>
              <a:rPr lang="zh-CN" altLang="en-US" sz="1400">
                <a:solidFill>
                  <a:schemeClr val="tx1">
                    <a:lumMod val="100000"/>
                  </a:schemeClr>
                </a:solidFill>
                <a:latin typeface="Trebuchet MS" panose="020B0603020202020204" pitchFamily="34" charset="0"/>
              </a:rPr>
              <a:t>大環境改變而帶來需求變化</a:t>
            </a:r>
            <a:endParaRPr lang="en-US" altLang="zh-CN" sz="1400">
              <a:solidFill>
                <a:schemeClr val="tx1">
                  <a:lumMod val="100000"/>
                </a:schemeClr>
              </a:solidFill>
              <a:latin typeface="Trebuchet MS" panose="020B0603020202020204" pitchFamily="34" charset="0"/>
            </a:endParaRPr>
          </a:p>
          <a:p>
            <a:pPr marL="648000" lvl="2" indent="-216000">
              <a:buClr>
                <a:schemeClr val="tx2">
                  <a:lumMod val="100000"/>
                </a:schemeClr>
              </a:buClr>
              <a:buSzPct val="100000"/>
              <a:buFont typeface="Trebuchet MS" panose="020B0603020202020204" pitchFamily="34" charset="0"/>
              <a:buChar char="–"/>
            </a:pPr>
            <a:r>
              <a:rPr lang="zh-CN" altLang="en-US" sz="1400">
                <a:solidFill>
                  <a:schemeClr val="tx1">
                    <a:lumMod val="100000"/>
                  </a:schemeClr>
                </a:solidFill>
                <a:latin typeface="Trebuchet MS" panose="020B0603020202020204" pitchFamily="34" charset="0"/>
              </a:rPr>
              <a:t>貨幣、股市市場的變動</a:t>
            </a:r>
            <a:endParaRPr lang="en-US" altLang="zh-CN" sz="1400">
              <a:solidFill>
                <a:schemeClr val="tx1">
                  <a:lumMod val="100000"/>
                </a:schemeClr>
              </a:solidFill>
              <a:latin typeface="Trebuchet MS" panose="020B0603020202020204" pitchFamily="34" charset="0"/>
            </a:endParaRPr>
          </a:p>
          <a:p>
            <a:pPr marL="648000" lvl="2" indent="-216000">
              <a:buClr>
                <a:schemeClr val="tx2">
                  <a:lumMod val="100000"/>
                </a:schemeClr>
              </a:buClr>
              <a:buSzPct val="100000"/>
              <a:buFont typeface="Trebuchet MS" panose="020B0603020202020204" pitchFamily="34" charset="0"/>
              <a:buChar char="–"/>
            </a:pPr>
            <a:r>
              <a:rPr lang="zh-CN" altLang="en-US" sz="1400">
                <a:solidFill>
                  <a:schemeClr val="tx1">
                    <a:lumMod val="100000"/>
                  </a:schemeClr>
                </a:solidFill>
                <a:latin typeface="Trebuchet MS" panose="020B0603020202020204" pitchFamily="34" charset="0"/>
              </a:rPr>
              <a:t>年終獎金</a:t>
            </a:r>
            <a:endParaRPr lang="en-US" altLang="zh-CN" sz="1400">
              <a:solidFill>
                <a:schemeClr val="tx1">
                  <a:lumMod val="100000"/>
                </a:schemeClr>
              </a:solidFill>
              <a:latin typeface="Trebuchet MS" panose="020B0603020202020204" pitchFamily="34" charset="0"/>
            </a:endParaRPr>
          </a:p>
        </p:txBody>
      </p:sp>
      <p:grpSp>
        <p:nvGrpSpPr>
          <p:cNvPr id="35" name="Group 34"/>
          <p:cNvGrpSpPr/>
          <p:nvPr/>
        </p:nvGrpSpPr>
        <p:grpSpPr>
          <a:xfrm>
            <a:off x="5172796" y="2518621"/>
            <a:ext cx="1663317" cy="3038892"/>
            <a:chOff x="2399767" y="2066834"/>
            <a:chExt cx="1663317" cy="3254968"/>
          </a:xfrm>
        </p:grpSpPr>
        <p:grpSp>
          <p:nvGrpSpPr>
            <p:cNvPr id="20" name="Group 19"/>
            <p:cNvGrpSpPr/>
            <p:nvPr/>
          </p:nvGrpSpPr>
          <p:grpSpPr>
            <a:xfrm>
              <a:off x="3096487" y="3559380"/>
              <a:ext cx="269875" cy="269875"/>
              <a:chOff x="628650" y="1443038"/>
              <a:chExt cx="269875" cy="269875"/>
            </a:xfrm>
          </p:grpSpPr>
          <p:sp>
            <p:nvSpPr>
              <p:cNvPr id="21" name="Oval 20"/>
              <p:cNvSpPr>
                <a:spLocks noChangeArrowheads="1"/>
              </p:cNvSpPr>
              <p:nvPr/>
            </p:nvSpPr>
            <p:spPr bwMode="auto">
              <a:xfrm>
                <a:off x="628650" y="1443038"/>
                <a:ext cx="269875" cy="269875"/>
              </a:xfrm>
              <a:prstGeom prst="ellipse">
                <a:avLst/>
              </a:prstGeom>
              <a:solidFill>
                <a:schemeClr val="tx2"/>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22" name="Freeform 21"/>
              <p:cNvSpPr>
                <a:spLocks/>
              </p:cNvSpPr>
              <p:nvPr/>
            </p:nvSpPr>
            <p:spPr bwMode="auto">
              <a:xfrm>
                <a:off x="690562" y="1504950"/>
                <a:ext cx="146050" cy="146050"/>
              </a:xfrm>
              <a:custGeom>
                <a:avLst/>
                <a:gdLst>
                  <a:gd name="T0" fmla="*/ 50 w 92"/>
                  <a:gd name="T1" fmla="*/ 0 h 92"/>
                  <a:gd name="T2" fmla="*/ 41 w 92"/>
                  <a:gd name="T3" fmla="*/ 0 h 92"/>
                  <a:gd name="T4" fmla="*/ 41 w 92"/>
                  <a:gd name="T5" fmla="*/ 42 h 92"/>
                  <a:gd name="T6" fmla="*/ 0 w 92"/>
                  <a:gd name="T7" fmla="*/ 42 h 92"/>
                  <a:gd name="T8" fmla="*/ 0 w 92"/>
                  <a:gd name="T9" fmla="*/ 51 h 92"/>
                  <a:gd name="T10" fmla="*/ 41 w 92"/>
                  <a:gd name="T11" fmla="*/ 51 h 92"/>
                  <a:gd name="T12" fmla="*/ 41 w 92"/>
                  <a:gd name="T13" fmla="*/ 92 h 92"/>
                  <a:gd name="T14" fmla="*/ 50 w 92"/>
                  <a:gd name="T15" fmla="*/ 92 h 92"/>
                  <a:gd name="T16" fmla="*/ 50 w 92"/>
                  <a:gd name="T17" fmla="*/ 51 h 92"/>
                  <a:gd name="T18" fmla="*/ 92 w 92"/>
                  <a:gd name="T19" fmla="*/ 51 h 92"/>
                  <a:gd name="T20" fmla="*/ 92 w 92"/>
                  <a:gd name="T21" fmla="*/ 42 h 92"/>
                  <a:gd name="T22" fmla="*/ 50 w 92"/>
                  <a:gd name="T23" fmla="*/ 42 h 92"/>
                  <a:gd name="T24" fmla="*/ 50 w 92"/>
                  <a:gd name="T25"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 h="92">
                    <a:moveTo>
                      <a:pt x="50" y="0"/>
                    </a:moveTo>
                    <a:lnTo>
                      <a:pt x="41" y="0"/>
                    </a:lnTo>
                    <a:lnTo>
                      <a:pt x="41" y="42"/>
                    </a:lnTo>
                    <a:lnTo>
                      <a:pt x="0" y="42"/>
                    </a:lnTo>
                    <a:lnTo>
                      <a:pt x="0" y="51"/>
                    </a:lnTo>
                    <a:lnTo>
                      <a:pt x="41" y="51"/>
                    </a:lnTo>
                    <a:lnTo>
                      <a:pt x="41" y="92"/>
                    </a:lnTo>
                    <a:lnTo>
                      <a:pt x="50" y="92"/>
                    </a:lnTo>
                    <a:lnTo>
                      <a:pt x="50" y="51"/>
                    </a:lnTo>
                    <a:lnTo>
                      <a:pt x="92" y="51"/>
                    </a:lnTo>
                    <a:lnTo>
                      <a:pt x="92" y="42"/>
                    </a:lnTo>
                    <a:lnTo>
                      <a:pt x="50" y="42"/>
                    </a:lnTo>
                    <a:lnTo>
                      <a:pt x="5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grpSp>
        <p:sp>
          <p:nvSpPr>
            <p:cNvPr id="19" name="Hexagon 18">
              <a:extLst>
                <a:ext uri="{FF2B5EF4-FFF2-40B4-BE49-F238E27FC236}">
                  <a16:creationId xmlns:a16="http://schemas.microsoft.com/office/drawing/2014/main" id="{FA39894B-33A8-4036-8CF9-121C24E067E3}"/>
                </a:ext>
              </a:extLst>
            </p:cNvPr>
            <p:cNvSpPr/>
            <p:nvPr/>
          </p:nvSpPr>
          <p:spPr>
            <a:xfrm>
              <a:off x="2399767" y="2066834"/>
              <a:ext cx="1663317" cy="1268806"/>
            </a:xfrm>
            <a:prstGeom prst="hexagon">
              <a:avLst/>
            </a:prstGeom>
            <a:solidFill>
              <a:srgbClr val="FFFFFF">
                <a:alpha val="80000"/>
              </a:srgbClr>
            </a:solidFill>
            <a:ln w="38100">
              <a:gradFill flip="none" rotWithShape="1">
                <a:gsLst>
                  <a:gs pos="0">
                    <a:schemeClr val="accent4"/>
                  </a:gs>
                  <a:gs pos="100000">
                    <a:schemeClr val="accent3"/>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zh-CN" altLang="en-US" sz="2000" b="1" kern="0">
                  <a:solidFill>
                    <a:schemeClr val="bg1">
                      <a:lumMod val="50000"/>
                    </a:schemeClr>
                  </a:solidFill>
                </a:rPr>
                <a:t>主動</a:t>
              </a:r>
              <a:r>
                <a:rPr lang="zh-TW" altLang="en-US" sz="2000" b="1" kern="0">
                  <a:solidFill>
                    <a:schemeClr val="bg1">
                      <a:lumMod val="50000"/>
                    </a:schemeClr>
                  </a:solidFill>
                </a:rPr>
                <a:t>行銷</a:t>
              </a:r>
              <a:endParaRPr lang="en-US" altLang="zh-CN" sz="2000" b="1" kern="0">
                <a:solidFill>
                  <a:schemeClr val="bg1">
                    <a:lumMod val="50000"/>
                  </a:schemeClr>
                </a:solidFill>
              </a:endParaRPr>
            </a:p>
            <a:p>
              <a:pPr algn="ctr"/>
              <a:r>
                <a:rPr lang="zh-CN" altLang="en-US" sz="2000" b="1" kern="0">
                  <a:solidFill>
                    <a:schemeClr val="bg1">
                      <a:lumMod val="50000"/>
                    </a:schemeClr>
                  </a:solidFill>
                </a:rPr>
                <a:t>“事件驅動”</a:t>
              </a:r>
              <a:endParaRPr lang="en-US" sz="2000" b="1" kern="0">
                <a:solidFill>
                  <a:schemeClr val="bg1">
                    <a:lumMod val="50000"/>
                  </a:schemeClr>
                </a:solidFill>
              </a:endParaRPr>
            </a:p>
          </p:txBody>
        </p:sp>
        <p:sp>
          <p:nvSpPr>
            <p:cNvPr id="18" name="Hexagon 17">
              <a:extLst>
                <a:ext uri="{FF2B5EF4-FFF2-40B4-BE49-F238E27FC236}">
                  <a16:creationId xmlns:a16="http://schemas.microsoft.com/office/drawing/2014/main" id="{FA39894B-33A8-4036-8CF9-121C24E067E3}"/>
                </a:ext>
              </a:extLst>
            </p:cNvPr>
            <p:cNvSpPr/>
            <p:nvPr/>
          </p:nvSpPr>
          <p:spPr>
            <a:xfrm>
              <a:off x="2399767" y="4052996"/>
              <a:ext cx="1663317" cy="1268806"/>
            </a:xfrm>
            <a:prstGeom prst="hexagon">
              <a:avLst/>
            </a:prstGeom>
            <a:solidFill>
              <a:srgbClr val="FFFFFF">
                <a:alpha val="80000"/>
              </a:srgbClr>
            </a:solidFill>
            <a:ln w="38100">
              <a:gradFill flip="none" rotWithShape="1">
                <a:gsLst>
                  <a:gs pos="0">
                    <a:schemeClr val="accent4"/>
                  </a:gs>
                  <a:gs pos="100000">
                    <a:schemeClr val="accent3"/>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zh-CN" altLang="en-US" sz="2000" b="1" kern="0">
                  <a:solidFill>
                    <a:schemeClr val="bg1">
                      <a:lumMod val="50000"/>
                    </a:schemeClr>
                  </a:solidFill>
                </a:rPr>
                <a:t>被動</a:t>
              </a:r>
              <a:r>
                <a:rPr lang="zh-TW" altLang="en-US" sz="2000" b="1" kern="0">
                  <a:solidFill>
                    <a:schemeClr val="bg1">
                      <a:lumMod val="50000"/>
                    </a:schemeClr>
                  </a:solidFill>
                </a:rPr>
                <a:t>行銷</a:t>
              </a:r>
              <a:r>
                <a:rPr lang="zh-CN" altLang="en-US" sz="2000" b="1" kern="0">
                  <a:solidFill>
                    <a:schemeClr val="bg1">
                      <a:lumMod val="50000"/>
                    </a:schemeClr>
                  </a:solidFill>
                </a:rPr>
                <a:t>“千人千面”</a:t>
              </a:r>
              <a:endParaRPr lang="en-US" sz="2000" b="1" kern="0">
                <a:solidFill>
                  <a:schemeClr val="bg1">
                    <a:lumMod val="50000"/>
                  </a:schemeClr>
                </a:solidFill>
              </a:endParaRPr>
            </a:p>
          </p:txBody>
        </p:sp>
      </p:grpSp>
      <p:sp>
        <p:nvSpPr>
          <p:cNvPr id="30" name="Rectangle 29"/>
          <p:cNvSpPr/>
          <p:nvPr/>
        </p:nvSpPr>
        <p:spPr>
          <a:xfrm>
            <a:off x="3350577" y="1978865"/>
            <a:ext cx="2064822" cy="1184578"/>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buSzPct val="100000"/>
              <a:buFont typeface="Trebuchet MS" panose="020B0603020202020204" pitchFamily="34" charset="0"/>
              <a:buChar char="​"/>
            </a:pPr>
            <a:r>
              <a:rPr lang="zh-CN" altLang="en-US" sz="1400">
                <a:solidFill>
                  <a:schemeClr val="tx1">
                    <a:lumMod val="100000"/>
                  </a:schemeClr>
                </a:solidFill>
                <a:latin typeface="Trebuchet MS" panose="020B0603020202020204" pitchFamily="34" charset="0"/>
              </a:rPr>
              <a:t>轉型爲</a:t>
            </a:r>
            <a:r>
              <a:rPr lang="zh-CN" altLang="en-US" sz="1400">
                <a:solidFill>
                  <a:srgbClr val="29BA74"/>
                </a:solidFill>
                <a:latin typeface="Trebuchet MS" panose="020B0603020202020204" pitchFamily="34" charset="0"/>
              </a:rPr>
              <a:t>“事件驅動型”</a:t>
            </a:r>
            <a:r>
              <a:rPr lang="zh-CN" altLang="en-US" sz="1400">
                <a:solidFill>
                  <a:schemeClr val="tx1">
                    <a:lumMod val="100000"/>
                  </a:schemeClr>
                </a:solidFill>
                <a:latin typeface="Trebuchet MS" panose="020B0603020202020204" pitchFamily="34" charset="0"/>
              </a:rPr>
              <a:t>營銷，全年爲</a:t>
            </a:r>
            <a:r>
              <a:rPr lang="zh-TW" altLang="en-US" sz="1400">
                <a:solidFill>
                  <a:schemeClr val="tx1">
                    <a:lumMod val="100000"/>
                  </a:schemeClr>
                </a:solidFill>
                <a:latin typeface="Trebuchet MS" panose="020B0603020202020204" pitchFamily="34" charset="0"/>
              </a:rPr>
              <a:t>理專</a:t>
            </a:r>
            <a:r>
              <a:rPr lang="zh-CN" altLang="en-US" sz="1400">
                <a:solidFill>
                  <a:schemeClr val="tx1">
                    <a:lumMod val="100000"/>
                  </a:schemeClr>
                </a:solidFill>
                <a:latin typeface="Trebuchet MS" panose="020B0603020202020204" pitchFamily="34" charset="0"/>
              </a:rPr>
              <a:t>推動客戶</a:t>
            </a:r>
            <a:r>
              <a:rPr lang="zh-TW" altLang="en-US" sz="1400">
                <a:solidFill>
                  <a:schemeClr val="tx1">
                    <a:lumMod val="100000"/>
                  </a:schemeClr>
                </a:solidFill>
                <a:latin typeface="Trebuchet MS" panose="020B0603020202020204" pitchFamily="34" charset="0"/>
              </a:rPr>
              <a:t>行銷</a:t>
            </a:r>
            <a:r>
              <a:rPr lang="zh-CN" altLang="en-US" sz="1400">
                <a:solidFill>
                  <a:schemeClr val="tx1">
                    <a:lumMod val="100000"/>
                  </a:schemeClr>
                </a:solidFill>
                <a:latin typeface="Trebuchet MS" panose="020B0603020202020204" pitchFamily="34" charset="0"/>
              </a:rPr>
              <a:t>名單</a:t>
            </a:r>
            <a:r>
              <a:rPr lang="en-US" altLang="zh-CN" sz="1400">
                <a:solidFill>
                  <a:srgbClr val="29BA74"/>
                </a:solidFill>
                <a:latin typeface="Trebuchet MS" panose="020B0603020202020204" pitchFamily="34" charset="0"/>
              </a:rPr>
              <a:t>7,000</a:t>
            </a:r>
            <a:r>
              <a:rPr lang="zh-CN" altLang="en-US" sz="1400">
                <a:solidFill>
                  <a:srgbClr val="29BA74"/>
                </a:solidFill>
                <a:latin typeface="Trebuchet MS" panose="020B0603020202020204" pitchFamily="34" charset="0"/>
              </a:rPr>
              <a:t>批次</a:t>
            </a:r>
            <a:r>
              <a:rPr lang="zh-CN" altLang="en-US" sz="1400">
                <a:solidFill>
                  <a:schemeClr val="tx1">
                    <a:lumMod val="100000"/>
                  </a:schemeClr>
                </a:solidFill>
                <a:latin typeface="Trebuchet MS" panose="020B0603020202020204" pitchFamily="34" charset="0"/>
              </a:rPr>
              <a:t>，客戶經理的</a:t>
            </a:r>
            <a:r>
              <a:rPr lang="zh-TW" altLang="en-US" sz="1400">
                <a:solidFill>
                  <a:schemeClr val="tx1">
                    <a:lumMod val="100000"/>
                  </a:schemeClr>
                </a:solidFill>
                <a:latin typeface="Trebuchet MS" panose="020B0603020202020204" pitchFamily="34" charset="0"/>
              </a:rPr>
              <a:t>行銷</a:t>
            </a:r>
            <a:r>
              <a:rPr lang="zh-CN" altLang="en-US" sz="1400">
                <a:solidFill>
                  <a:schemeClr val="tx1">
                    <a:lumMod val="100000"/>
                  </a:schemeClr>
                </a:solidFill>
                <a:latin typeface="Trebuchet MS" panose="020B0603020202020204" pitchFamily="34" charset="0"/>
              </a:rPr>
              <a:t>活動提升至</a:t>
            </a:r>
            <a:r>
              <a:rPr lang="zh-CN" altLang="en-US" sz="1400">
                <a:solidFill>
                  <a:srgbClr val="29BA74"/>
                </a:solidFill>
                <a:latin typeface="Trebuchet MS" panose="020B0603020202020204" pitchFamily="34" charset="0"/>
              </a:rPr>
              <a:t>每月</a:t>
            </a:r>
            <a:r>
              <a:rPr lang="en-US" altLang="zh-CN" sz="1400">
                <a:solidFill>
                  <a:srgbClr val="29BA74"/>
                </a:solidFill>
                <a:latin typeface="Trebuchet MS" panose="020B0603020202020204" pitchFamily="34" charset="0"/>
              </a:rPr>
              <a:t>1,600</a:t>
            </a:r>
            <a:r>
              <a:rPr lang="zh-CN" altLang="en-US" sz="1400">
                <a:solidFill>
                  <a:srgbClr val="29BA74"/>
                </a:solidFill>
                <a:latin typeface="Trebuchet MS" panose="020B0603020202020204" pitchFamily="34" charset="0"/>
              </a:rPr>
              <a:t>次</a:t>
            </a:r>
            <a:endParaRPr lang="en-US" sz="1400" err="1">
              <a:solidFill>
                <a:srgbClr val="29BA74"/>
              </a:solidFill>
              <a:latin typeface="Trebuchet MS" panose="020B0603020202020204" pitchFamily="34" charset="0"/>
            </a:endParaRPr>
          </a:p>
        </p:txBody>
      </p:sp>
      <p:sp>
        <p:nvSpPr>
          <p:cNvPr id="29" name="Rectangle 28"/>
          <p:cNvSpPr/>
          <p:nvPr/>
        </p:nvSpPr>
        <p:spPr>
          <a:xfrm>
            <a:off x="3350577" y="4951220"/>
            <a:ext cx="2064822" cy="1184578"/>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buSzPct val="100000"/>
              <a:buFont typeface="Trebuchet MS" panose="020B0603020202020204" pitchFamily="34" charset="0"/>
              <a:buChar char="​"/>
            </a:pPr>
            <a:r>
              <a:rPr lang="zh-CN" altLang="en-US" sz="1400">
                <a:solidFill>
                  <a:schemeClr val="tx1">
                    <a:lumMod val="100000"/>
                  </a:schemeClr>
                </a:solidFill>
                <a:latin typeface="Trebuchet MS" panose="020B0603020202020204" pitchFamily="34" charset="0"/>
              </a:rPr>
              <a:t>在招商銀行</a:t>
            </a:r>
            <a:r>
              <a:rPr lang="zh-TW" altLang="en-US" sz="1400">
                <a:solidFill>
                  <a:schemeClr val="tx1">
                    <a:lumMod val="100000"/>
                  </a:schemeClr>
                </a:solidFill>
                <a:latin typeface="Trebuchet MS" panose="020B0603020202020204" pitchFamily="34" charset="0"/>
              </a:rPr>
              <a:t>行動</a:t>
            </a:r>
            <a:r>
              <a:rPr lang="zh-CN" altLang="en-US" sz="1400">
                <a:solidFill>
                  <a:schemeClr val="tx1">
                    <a:lumMod val="100000"/>
                  </a:schemeClr>
                </a:solidFill>
                <a:latin typeface="Trebuchet MS" panose="020B0603020202020204" pitchFamily="34" charset="0"/>
              </a:rPr>
              <a:t>銀行設置</a:t>
            </a:r>
            <a:r>
              <a:rPr lang="en-US" altLang="zh-CN" sz="1400">
                <a:solidFill>
                  <a:srgbClr val="29BA74"/>
                </a:solidFill>
                <a:latin typeface="Trebuchet MS" panose="020B0603020202020204" pitchFamily="34" charset="0"/>
              </a:rPr>
              <a:t>97</a:t>
            </a:r>
            <a:r>
              <a:rPr lang="zh-CN" altLang="en-US" sz="1400">
                <a:solidFill>
                  <a:srgbClr val="29BA74"/>
                </a:solidFill>
                <a:latin typeface="Trebuchet MS" panose="020B0603020202020204" pitchFamily="34" charset="0"/>
              </a:rPr>
              <a:t>個推薦欄位</a:t>
            </a:r>
            <a:r>
              <a:rPr lang="zh-CN" altLang="en-US" sz="1400">
                <a:solidFill>
                  <a:schemeClr val="tx1">
                    <a:lumMod val="100000"/>
                  </a:schemeClr>
                </a:solidFill>
                <a:latin typeface="Trebuchet MS" panose="020B0603020202020204" pitchFamily="34" charset="0"/>
              </a:rPr>
              <a:t>，形成</a:t>
            </a:r>
            <a:r>
              <a:rPr lang="en-US" altLang="zh-CN" sz="1400">
                <a:solidFill>
                  <a:srgbClr val="29BA74"/>
                </a:solidFill>
                <a:latin typeface="Trebuchet MS" panose="020B0603020202020204" pitchFamily="34" charset="0"/>
              </a:rPr>
              <a:t>7,132</a:t>
            </a:r>
            <a:r>
              <a:rPr lang="zh-CN" altLang="en-US" sz="1400">
                <a:solidFill>
                  <a:srgbClr val="29BA74"/>
                </a:solidFill>
                <a:latin typeface="Trebuchet MS" panose="020B0603020202020204" pitchFamily="34" charset="0"/>
              </a:rPr>
              <a:t>種</a:t>
            </a:r>
            <a:r>
              <a:rPr lang="zh-CN" altLang="en-US" sz="1400">
                <a:solidFill>
                  <a:schemeClr val="tx1">
                    <a:lumMod val="100000"/>
                  </a:schemeClr>
                </a:solidFill>
                <a:latin typeface="Trebuchet MS" panose="020B0603020202020204" pitchFamily="34" charset="0"/>
              </a:rPr>
              <a:t>個性化産品組合，日均推薦</a:t>
            </a:r>
            <a:r>
              <a:rPr lang="en-US" altLang="zh-CN" sz="1400">
                <a:solidFill>
                  <a:srgbClr val="29BA74"/>
                </a:solidFill>
                <a:latin typeface="Trebuchet MS" panose="020B0603020202020204" pitchFamily="34" charset="0"/>
              </a:rPr>
              <a:t>1.3</a:t>
            </a:r>
            <a:r>
              <a:rPr lang="zh-CN" altLang="en-US" sz="1400">
                <a:solidFill>
                  <a:srgbClr val="29BA74"/>
                </a:solidFill>
                <a:latin typeface="Trebuchet MS" panose="020B0603020202020204" pitchFamily="34" charset="0"/>
              </a:rPr>
              <a:t>億人次</a:t>
            </a:r>
            <a:endParaRPr lang="en-US" sz="1400" err="1">
              <a:solidFill>
                <a:srgbClr val="29BA74"/>
              </a:solidFill>
              <a:latin typeface="Trebuchet MS" panose="020B0603020202020204" pitchFamily="34" charset="0"/>
            </a:endParaRPr>
          </a:p>
        </p:txBody>
      </p:sp>
      <p:sp>
        <p:nvSpPr>
          <p:cNvPr id="3" name="Rectangle 2"/>
          <p:cNvSpPr/>
          <p:nvPr/>
        </p:nvSpPr>
        <p:spPr>
          <a:xfrm>
            <a:off x="688639" y="2847914"/>
            <a:ext cx="298123" cy="2031325"/>
          </a:xfrm>
          <a:prstGeom prst="rect">
            <a:avLst/>
          </a:prstGeom>
        </p:spPr>
        <p:txBody>
          <a:bodyPr wrap="square">
            <a:spAutoFit/>
          </a:bodyPr>
          <a:lstStyle/>
          <a:p>
            <a:pPr algn="ctr"/>
            <a:r>
              <a:rPr lang="zh-CN" altLang="en-US">
                <a:solidFill>
                  <a:srgbClr val="29BA74"/>
                </a:solidFill>
                <a:latin typeface="Trebuchet MS" panose="020B0603020202020204" pitchFamily="34" charset="0"/>
              </a:rPr>
              <a:t>全面的客戶視圖</a:t>
            </a:r>
            <a:endParaRPr lang="en-US">
              <a:solidFill>
                <a:srgbClr val="29BA74"/>
              </a:solidFill>
              <a:latin typeface="Trebuchet MS" panose="020B0603020202020204" pitchFamily="34" charset="0"/>
            </a:endParaRPr>
          </a:p>
        </p:txBody>
      </p:sp>
      <p:sp>
        <p:nvSpPr>
          <p:cNvPr id="31" name="Rectangle 30"/>
          <p:cNvSpPr/>
          <p:nvPr/>
        </p:nvSpPr>
        <p:spPr>
          <a:xfrm>
            <a:off x="1318307" y="3806592"/>
            <a:ext cx="1319746" cy="615553"/>
          </a:xfrm>
          <a:prstGeom prst="rect">
            <a:avLst/>
          </a:prstGeom>
          <a:ln w="9525" cap="flat" cmpd="sng" algn="ctr">
            <a:noFill/>
            <a:prstDash val="solid"/>
            <a:round/>
            <a:headEnd type="none" w="med" len="med"/>
            <a:tailEnd type="none" w="med" len="med"/>
          </a:ln>
          <a:extLst>
            <a:ext uri="{91240B29-F687-4F45-9708-019B960494DF}">
              <a14:hiddenLine xmlns:a14="http://schemas.microsoft.com/office/drawing/2010/main" w="9525" cap="flat" cmpd="sng" algn="ctr">
                <a:solidFill>
                  <a:srgbClr val="9A9A9A"/>
                </a:solidFill>
                <a:prstDash val="solid"/>
                <a:round/>
                <a:headEnd type="none" w="med" len="med"/>
                <a:tailEnd type="none" w="med" len="med"/>
              </a14:hiddenLine>
            </a:ext>
          </a:extLst>
        </p:spPr>
        <p:txBody>
          <a:bodyPr wrap="square">
            <a:spAutoFit/>
          </a:bodyPr>
          <a:lstStyle/>
          <a:p>
            <a:r>
              <a:rPr lang="en-US" altLang="zh-CN">
                <a:solidFill>
                  <a:srgbClr val="29BA74"/>
                </a:solidFill>
                <a:latin typeface="Trebuchet MS" panose="020B0603020202020204" pitchFamily="34" charset="0"/>
              </a:rPr>
              <a:t>58</a:t>
            </a:r>
            <a:r>
              <a:rPr lang="zh-CN" altLang="en-US" sz="1600">
                <a:solidFill>
                  <a:schemeClr val="tx1">
                    <a:lumMod val="100000"/>
                  </a:schemeClr>
                </a:solidFill>
                <a:latin typeface="Trebuchet MS" panose="020B0603020202020204" pitchFamily="34" charset="0"/>
              </a:rPr>
              <a:t>個外部數據源</a:t>
            </a:r>
            <a:endParaRPr lang="en-US" altLang="zh-CN" sz="1600">
              <a:solidFill>
                <a:schemeClr val="tx1">
                  <a:lumMod val="100000"/>
                </a:schemeClr>
              </a:solidFill>
              <a:latin typeface="Trebuchet MS" panose="020B0603020202020204" pitchFamily="34" charset="0"/>
            </a:endParaRPr>
          </a:p>
        </p:txBody>
      </p:sp>
      <p:sp>
        <p:nvSpPr>
          <p:cNvPr id="32" name="Rectangle 31"/>
          <p:cNvSpPr/>
          <p:nvPr/>
        </p:nvSpPr>
        <p:spPr>
          <a:xfrm>
            <a:off x="1318307" y="5144774"/>
            <a:ext cx="1319746" cy="861774"/>
          </a:xfrm>
          <a:prstGeom prst="rect">
            <a:avLst/>
          </a:prstGeom>
          <a:ln w="9525" cap="flat" cmpd="sng" algn="ctr">
            <a:noFill/>
            <a:prstDash val="solid"/>
            <a:round/>
            <a:headEnd type="none" w="med" len="med"/>
            <a:tailEnd type="none" w="med" len="med"/>
          </a:ln>
          <a:extLst>
            <a:ext uri="{91240B29-F687-4F45-9708-019B960494DF}">
              <a14:hiddenLine xmlns:a14="http://schemas.microsoft.com/office/drawing/2010/main" w="9525" cap="flat" cmpd="sng" algn="ctr">
                <a:solidFill>
                  <a:srgbClr val="9A9A9A"/>
                </a:solidFill>
                <a:prstDash val="solid"/>
                <a:round/>
                <a:headEnd type="none" w="med" len="med"/>
                <a:tailEnd type="none" w="med" len="med"/>
              </a14:hiddenLine>
            </a:ext>
          </a:extLst>
        </p:spPr>
        <p:txBody>
          <a:bodyPr wrap="square">
            <a:spAutoFit/>
          </a:bodyPr>
          <a:lstStyle/>
          <a:p>
            <a:r>
              <a:rPr lang="en-US" altLang="zh-CN">
                <a:solidFill>
                  <a:srgbClr val="29BA74"/>
                </a:solidFill>
                <a:latin typeface="Trebuchet MS" panose="020B0603020202020204" pitchFamily="34" charset="0"/>
              </a:rPr>
              <a:t>3,800+</a:t>
            </a:r>
            <a:r>
              <a:rPr lang="zh-CN" altLang="en-US" sz="1600">
                <a:solidFill>
                  <a:schemeClr val="tx1">
                    <a:lumMod val="100000"/>
                  </a:schemeClr>
                </a:solidFill>
                <a:latin typeface="Trebuchet MS" panose="020B0603020202020204" pitchFamily="34" charset="0"/>
              </a:rPr>
              <a:t>面向零售客戶的用戶標簽</a:t>
            </a:r>
            <a:endParaRPr lang="en-US" sz="1600">
              <a:solidFill>
                <a:schemeClr val="tx1">
                  <a:lumMod val="100000"/>
                </a:schemeClr>
              </a:solidFill>
              <a:latin typeface="Trebuchet MS" panose="020B0603020202020204" pitchFamily="34" charset="0"/>
            </a:endParaRPr>
          </a:p>
        </p:txBody>
      </p:sp>
      <p:sp>
        <p:nvSpPr>
          <p:cNvPr id="6" name="Left Brace 5"/>
          <p:cNvSpPr/>
          <p:nvPr/>
        </p:nvSpPr>
        <p:spPr>
          <a:xfrm>
            <a:off x="1101774" y="1686610"/>
            <a:ext cx="176604" cy="4745946"/>
          </a:xfrm>
          <a:prstGeom prst="leftBrace">
            <a:avLst/>
          </a:prstGeom>
          <a:ln w="19050" cap="rnd" cmpd="sng" algn="ctr">
            <a:solidFill>
              <a:srgbClr val="29BA74"/>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pic>
        <p:nvPicPr>
          <p:cNvPr id="24" name="Picture 2">
            <a:extLst>
              <a:ext uri="{FF2B5EF4-FFF2-40B4-BE49-F238E27FC236}">
                <a16:creationId xmlns:a16="http://schemas.microsoft.com/office/drawing/2014/main" id="{95BA8952-A4DE-521C-2C67-44D0B8893C9E}"/>
              </a:ext>
            </a:extLst>
          </p:cNvPr>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0717092" y="-107062"/>
            <a:ext cx="1580317" cy="886887"/>
          </a:xfrm>
          <a:prstGeom prst="rect">
            <a:avLst/>
          </a:prstGeom>
          <a:noFill/>
          <a:extLst>
            <a:ext uri="{909E8E84-426E-40DD-AFC4-6F175D3DCCD1}">
              <a14:hiddenFill xmlns:a14="http://schemas.microsoft.com/office/drawing/2010/main">
                <a:solidFill>
                  <a:srgbClr val="FFFFFF"/>
                </a:solidFill>
              </a14:hiddenFill>
            </a:ext>
          </a:extLst>
        </p:spPr>
      </p:pic>
      <p:pic>
        <p:nvPicPr>
          <p:cNvPr id="33" name="BackupStamp">
            <a:extLst>
              <a:ext uri="{FF2B5EF4-FFF2-40B4-BE49-F238E27FC236}">
                <a16:creationId xmlns:a16="http://schemas.microsoft.com/office/drawing/2014/main" id="{D25E6582-9591-A161-4E2C-EA077E121695}"/>
              </a:ext>
            </a:extLst>
          </p:cNvPr>
          <p:cNvPicPr>
            <a:picLocks noChangeAspect="1"/>
          </p:cNvPicPr>
          <p:nvPr/>
        </p:nvPicPr>
        <p:blipFill>
          <a:blip r:embed="rId7"/>
          <a:stretch>
            <a:fillRect/>
          </a:stretch>
        </p:blipFill>
        <p:spPr>
          <a:xfrm>
            <a:off x="5229967" y="1582"/>
            <a:ext cx="1732066" cy="334800"/>
          </a:xfrm>
          <a:prstGeom prst="rect">
            <a:avLst/>
          </a:prstGeom>
        </p:spPr>
      </p:pic>
      <p:sp>
        <p:nvSpPr>
          <p:cNvPr id="38" name="Oval 20">
            <a:extLst>
              <a:ext uri="{FF2B5EF4-FFF2-40B4-BE49-F238E27FC236}">
                <a16:creationId xmlns:a16="http://schemas.microsoft.com/office/drawing/2014/main" id="{F00B667E-EE86-768E-C4EA-589E1C0259B5}"/>
              </a:ext>
            </a:extLst>
          </p:cNvPr>
          <p:cNvSpPr>
            <a:spLocks noChangeAspect="1" noChangeArrowheads="1"/>
          </p:cNvSpPr>
          <p:nvPr/>
        </p:nvSpPr>
        <p:spPr bwMode="auto">
          <a:xfrm>
            <a:off x="186544" y="98006"/>
            <a:ext cx="299290" cy="299290"/>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sz="1200">
                <a:solidFill>
                  <a:schemeClr val="bg1"/>
                </a:solidFill>
                <a:ea typeface="Microsoft YaHei" panose="020B0503020204020204" pitchFamily="34" charset="-122"/>
              </a:rPr>
              <a:t>1</a:t>
            </a:r>
          </a:p>
        </p:txBody>
      </p:sp>
      <p:sp>
        <p:nvSpPr>
          <p:cNvPr id="39" name="TextBox 38">
            <a:extLst>
              <a:ext uri="{FF2B5EF4-FFF2-40B4-BE49-F238E27FC236}">
                <a16:creationId xmlns:a16="http://schemas.microsoft.com/office/drawing/2014/main" id="{56CD7265-CA93-BBFC-7454-F8101ECB568B}"/>
              </a:ext>
            </a:extLst>
          </p:cNvPr>
          <p:cNvSpPr txBox="1"/>
          <p:nvPr/>
        </p:nvSpPr>
        <p:spPr>
          <a:xfrm>
            <a:off x="490697" y="128208"/>
            <a:ext cx="2217333" cy="276999"/>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a:spAutoFit/>
          </a:bodyPr>
          <a:lstStyle/>
          <a:p>
            <a:r>
              <a:rPr lang="zh-TW" altLang="en-US" sz="1200">
                <a:solidFill>
                  <a:srgbClr val="575757"/>
                </a:solidFill>
                <a:latin typeface="Trebuchet MS" panose="020B0603020202020204" pitchFamily="34" charset="0"/>
                <a:ea typeface="Microsoft YaHei" panose="020B0503020204020204" pitchFamily="34" charset="-122"/>
              </a:rPr>
              <a:t>優化預測模型，個性化經營</a:t>
            </a:r>
            <a:endParaRPr lang="en-US" sz="1200">
              <a:solidFill>
                <a:srgbClr val="575757"/>
              </a:solidFill>
              <a:ea typeface="Microsoft YaHei" panose="020B0503020204020204" pitchFamily="34" charset="-122"/>
            </a:endParaRPr>
          </a:p>
        </p:txBody>
      </p:sp>
    </p:spTree>
    <p:extLst>
      <p:ext uri="{BB962C8B-B14F-4D97-AF65-F5344CB8AC3E}">
        <p14:creationId xmlns:p14="http://schemas.microsoft.com/office/powerpoint/2010/main" val="410454449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13" name="Object 12" hidden="1"/>
          <p:cNvGraphicFramePr>
            <a:graphicFrameLocks noChangeAspect="1"/>
          </p:cNvGraphicFramePr>
          <p:nvPr>
            <p:custDataLst>
              <p:tags r:id="rId1"/>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4" imgW="470" imgH="469" progId="TCLayout.ActiveDocument.1">
                  <p:embed/>
                </p:oleObj>
              </mc:Choice>
              <mc:Fallback>
                <p:oleObj name="think-cell Slide" r:id="rId4" imgW="470" imgH="469" progId="TCLayout.ActiveDocument.1">
                  <p:embed/>
                  <p:pic>
                    <p:nvPicPr>
                      <p:cNvPr id="13" name="Object 12" hidden="1"/>
                      <p:cNvPicPr/>
                      <p:nvPr/>
                    </p:nvPicPr>
                    <p:blipFill>
                      <a:blip r:embed="rId5"/>
                      <a:stretch>
                        <a:fillRect/>
                      </a:stretch>
                    </p:blipFill>
                    <p:spPr>
                      <a:xfrm>
                        <a:off x="1588" y="1588"/>
                        <a:ext cx="1587" cy="1587"/>
                      </a:xfrm>
                      <a:prstGeom prst="rect">
                        <a:avLst/>
                      </a:prstGeom>
                    </p:spPr>
                  </p:pic>
                </p:oleObj>
              </mc:Fallback>
            </mc:AlternateContent>
          </a:graphicData>
        </a:graphic>
      </p:graphicFrame>
      <p:sp>
        <p:nvSpPr>
          <p:cNvPr id="3" name="Title 2"/>
          <p:cNvSpPr>
            <a:spLocks noGrp="1"/>
          </p:cNvSpPr>
          <p:nvPr>
            <p:ph type="title"/>
          </p:nvPr>
        </p:nvSpPr>
        <p:spPr>
          <a:xfrm>
            <a:off x="630000" y="622800"/>
            <a:ext cx="10933350" cy="664797"/>
          </a:xfrm>
        </p:spPr>
        <p:txBody>
          <a:bodyPr vert="horz"/>
          <a:lstStyle/>
          <a:p>
            <a:r>
              <a:rPr lang="zh-CN" altLang="en-US">
                <a:solidFill>
                  <a:srgbClr val="A8B21C"/>
                </a:solidFill>
                <a:ea typeface="Microsoft YaHei" panose="020B0503020204020204" pitchFamily="34" charset="-122"/>
              </a:rPr>
              <a:t>案例</a:t>
            </a:r>
            <a:r>
              <a:rPr lang="zh-TW" altLang="en-US">
                <a:solidFill>
                  <a:srgbClr val="A8B21C"/>
                </a:solidFill>
                <a:ea typeface="Microsoft YaHei" panose="020B0503020204020204" pitchFamily="34" charset="-122"/>
              </a:rPr>
              <a:t>分享</a:t>
            </a:r>
            <a:r>
              <a:rPr lang="en-US" altLang="zh-TW">
                <a:solidFill>
                  <a:srgbClr val="A8B21C"/>
                </a:solidFill>
                <a:ea typeface="Microsoft YaHei" panose="020B0503020204020204" pitchFamily="34" charset="-122"/>
              </a:rPr>
              <a:t>|</a:t>
            </a:r>
            <a:r>
              <a:rPr lang="zh-TW" altLang="en-US">
                <a:solidFill>
                  <a:srgbClr val="A8B21C"/>
                </a:solidFill>
                <a:ea typeface="Microsoft YaHei" panose="020B0503020204020204" pitchFamily="34" charset="-122"/>
              </a:rPr>
              <a:t> </a:t>
            </a:r>
            <a:r>
              <a:rPr lang="zh-TW" altLang="en-US"/>
              <a:t>同時，行銷平台從過去</a:t>
            </a:r>
            <a:r>
              <a:rPr lang="zh-CN" altLang="en-US"/>
              <a:t>單純</a:t>
            </a:r>
            <a:r>
              <a:rPr lang="zh-TW" altLang="en-US"/>
              <a:t>發送信息</a:t>
            </a:r>
            <a:r>
              <a:rPr lang="zh-CN" altLang="en-US"/>
              <a:t>功能</a:t>
            </a:r>
            <a:r>
              <a:rPr lang="zh-TW" altLang="en-US"/>
              <a:t>，升級至結合數據</a:t>
            </a:r>
            <a:r>
              <a:rPr lang="zh-CN" altLang="en-US"/>
              <a:t>分析</a:t>
            </a:r>
            <a:r>
              <a:rPr lang="zh-TW" altLang="en-US"/>
              <a:t>與追蹤；</a:t>
            </a:r>
            <a:r>
              <a:rPr lang="zh-CN" altLang="en-US"/>
              <a:t>所有</a:t>
            </a:r>
            <a:r>
              <a:rPr lang="zh-TW" altLang="en-US"/>
              <a:t>行銷</a:t>
            </a:r>
            <a:r>
              <a:rPr lang="zh-CN" altLang="en-US"/>
              <a:t>活動的策劃</a:t>
            </a:r>
            <a:r>
              <a:rPr lang="zh-TW" altLang="en-US"/>
              <a:t>、</a:t>
            </a:r>
            <a:r>
              <a:rPr lang="zh-CN" altLang="en-US"/>
              <a:t>實施</a:t>
            </a:r>
            <a:r>
              <a:rPr lang="zh-TW" altLang="en-US"/>
              <a:t>、</a:t>
            </a:r>
            <a:r>
              <a:rPr lang="zh-CN" altLang="en-US"/>
              <a:t>追踪</a:t>
            </a:r>
            <a:r>
              <a:rPr lang="zh-TW" altLang="en-US"/>
              <a:t>皆</a:t>
            </a:r>
            <a:r>
              <a:rPr lang="zh-CN" altLang="en-US"/>
              <a:t>有據可依，</a:t>
            </a:r>
            <a:r>
              <a:rPr lang="zh-TW" altLang="en-US"/>
              <a:t>經過</a:t>
            </a:r>
            <a:r>
              <a:rPr lang="zh-CN" altLang="en-US"/>
              <a:t>不斷</a:t>
            </a:r>
            <a:r>
              <a:rPr lang="zh-TW" altLang="en-US"/>
              <a:t>測試及修訂來提升成效</a:t>
            </a:r>
            <a:endParaRPr lang="en-US"/>
          </a:p>
        </p:txBody>
      </p:sp>
      <p:sp>
        <p:nvSpPr>
          <p:cNvPr id="4" name="Rectangle 3"/>
          <p:cNvSpPr/>
          <p:nvPr/>
        </p:nvSpPr>
        <p:spPr>
          <a:xfrm>
            <a:off x="2182073" y="4509533"/>
            <a:ext cx="3228913" cy="1323439"/>
          </a:xfrm>
          <a:prstGeom prst="rect">
            <a:avLst/>
          </a:prstGeom>
        </p:spPr>
        <p:txBody>
          <a:bodyPr wrap="square">
            <a:spAutoFit/>
          </a:bodyPr>
          <a:lstStyle/>
          <a:p>
            <a:pPr>
              <a:buSzPct val="100000"/>
              <a:buFont typeface="Trebuchet MS" panose="020B0603020202020204" pitchFamily="34" charset="0"/>
              <a:buChar char="​"/>
            </a:pPr>
            <a:r>
              <a:rPr lang="zh-CN" altLang="en-US" sz="1600">
                <a:solidFill>
                  <a:schemeClr val="tx1">
                    <a:lumMod val="100000"/>
                  </a:schemeClr>
                </a:solidFill>
                <a:latin typeface="Trebuchet MS" panose="020B0603020202020204" pitchFamily="34" charset="0"/>
                <a:ea typeface="微软雅黑" panose="020B0503020204020204" pitchFamily="34" charset="-122"/>
              </a:rPr>
              <a:t>用智慧營銷平台</a:t>
            </a:r>
            <a:r>
              <a:rPr lang="zh-TW" altLang="en-US" sz="1600">
                <a:solidFill>
                  <a:schemeClr val="tx1">
                    <a:lumMod val="100000"/>
                  </a:schemeClr>
                </a:solidFill>
                <a:latin typeface="Trebuchet MS" panose="020B0603020202020204" pitchFamily="34" charset="0"/>
                <a:ea typeface="微软雅黑" panose="020B0503020204020204" pitchFamily="34" charset="-122"/>
              </a:rPr>
              <a:t>進行</a:t>
            </a:r>
            <a:r>
              <a:rPr lang="zh-CN" altLang="en-US" sz="1600">
                <a:solidFill>
                  <a:schemeClr val="tx1">
                    <a:lumMod val="100000"/>
                  </a:schemeClr>
                </a:solidFill>
                <a:latin typeface="Trebuchet MS" panose="020B0603020202020204" pitchFamily="34" charset="0"/>
                <a:ea typeface="微软雅黑" panose="020B0503020204020204" pitchFamily="34" charset="-122"/>
              </a:rPr>
              <a:t>存量客戶的</a:t>
            </a:r>
            <a:r>
              <a:rPr lang="zh-TW" altLang="en-US" sz="1600">
                <a:solidFill>
                  <a:schemeClr val="tx1">
                    <a:lumMod val="100000"/>
                  </a:schemeClr>
                </a:solidFill>
                <a:latin typeface="Trebuchet MS" panose="020B0603020202020204" pitchFamily="34" charset="0"/>
                <a:ea typeface="微软雅黑" panose="020B0503020204020204" pitchFamily="34" charset="-122"/>
              </a:rPr>
              <a:t>產品</a:t>
            </a:r>
            <a:r>
              <a:rPr lang="zh-CN" altLang="en-US" sz="1600">
                <a:solidFill>
                  <a:schemeClr val="tx1">
                    <a:lumMod val="100000"/>
                  </a:schemeClr>
                </a:solidFill>
                <a:latin typeface="Trebuchet MS" panose="020B0603020202020204" pitchFamily="34" charset="0"/>
                <a:ea typeface="微软雅黑" panose="020B0503020204020204" pitchFamily="34" charset="-122"/>
              </a:rPr>
              <a:t>覆蓋率、</a:t>
            </a:r>
            <a:r>
              <a:rPr lang="zh-TW" altLang="en-US" sz="1600">
                <a:solidFill>
                  <a:schemeClr val="tx1">
                    <a:lumMod val="100000"/>
                  </a:schemeClr>
                </a:solidFill>
                <a:latin typeface="Trebuchet MS" panose="020B0603020202020204" pitchFamily="34" charset="0"/>
                <a:ea typeface="微软雅黑" panose="020B0503020204020204" pitchFamily="34" charset="-122"/>
              </a:rPr>
              <a:t>過去申購行為</a:t>
            </a:r>
            <a:r>
              <a:rPr lang="zh-CN" altLang="en-US" sz="1600">
                <a:solidFill>
                  <a:schemeClr val="tx1">
                    <a:lumMod val="100000"/>
                  </a:schemeClr>
                </a:solidFill>
                <a:latin typeface="Trebuchet MS" panose="020B0603020202020204" pitchFamily="34" charset="0"/>
                <a:ea typeface="微软雅黑" panose="020B0503020204020204" pitchFamily="34" charset="-122"/>
              </a:rPr>
              <a:t>等數據分析，</a:t>
            </a:r>
            <a:r>
              <a:rPr lang="zh-CN" altLang="en-US" sz="1600" b="1">
                <a:solidFill>
                  <a:schemeClr val="tx1">
                    <a:lumMod val="100000"/>
                  </a:schemeClr>
                </a:solidFill>
                <a:latin typeface="Trebuchet MS" panose="020B0603020202020204" pitchFamily="34" charset="0"/>
                <a:ea typeface="微软雅黑" panose="020B0503020204020204" pitchFamily="34" charset="-122"/>
              </a:rPr>
              <a:t>爲</a:t>
            </a:r>
            <a:r>
              <a:rPr lang="zh-CN" altLang="en-US" sz="1600" b="1">
                <a:solidFill>
                  <a:srgbClr val="29BA74"/>
                </a:solidFill>
                <a:latin typeface="Trebuchet MS" panose="020B0603020202020204" pitchFamily="34" charset="0"/>
                <a:ea typeface="微软雅黑" panose="020B0503020204020204" pitchFamily="34" charset="-122"/>
              </a:rPr>
              <a:t>活動設計</a:t>
            </a:r>
            <a:r>
              <a:rPr lang="zh-CN" altLang="en-US" sz="1600" b="1">
                <a:solidFill>
                  <a:schemeClr val="tx1">
                    <a:lumMod val="100000"/>
                  </a:schemeClr>
                </a:solidFill>
                <a:latin typeface="Trebuchet MS" panose="020B0603020202020204" pitchFamily="34" charset="0"/>
                <a:ea typeface="微软雅黑" panose="020B0503020204020204" pitchFamily="34" charset="-122"/>
              </a:rPr>
              <a:t>、</a:t>
            </a:r>
            <a:r>
              <a:rPr lang="zh-CN" altLang="en-US" sz="1600" b="1">
                <a:solidFill>
                  <a:srgbClr val="29BA74"/>
                </a:solidFill>
                <a:latin typeface="Trebuchet MS" panose="020B0603020202020204" pitchFamily="34" charset="0"/>
                <a:ea typeface="微软雅黑" panose="020B0503020204020204" pitchFamily="34" charset="-122"/>
              </a:rPr>
              <a:t>費用預算</a:t>
            </a:r>
            <a:r>
              <a:rPr lang="zh-CN" altLang="en-US" sz="1600" b="1">
                <a:solidFill>
                  <a:schemeClr val="tx1">
                    <a:lumMod val="100000"/>
                  </a:schemeClr>
                </a:solidFill>
                <a:latin typeface="Trebuchet MS" panose="020B0603020202020204" pitchFamily="34" charset="0"/>
                <a:ea typeface="微软雅黑" panose="020B0503020204020204" pitchFamily="34" charset="-122"/>
              </a:rPr>
              <a:t>、</a:t>
            </a:r>
            <a:r>
              <a:rPr lang="zh-CN" altLang="en-US" sz="1600" b="1">
                <a:solidFill>
                  <a:srgbClr val="29BA74"/>
                </a:solidFill>
                <a:latin typeface="Trebuchet MS" panose="020B0603020202020204" pitchFamily="34" charset="0"/>
                <a:ea typeface="微软雅黑" panose="020B0503020204020204" pitchFamily="34" charset="-122"/>
              </a:rPr>
              <a:t>决策分析</a:t>
            </a:r>
            <a:r>
              <a:rPr lang="zh-CN" altLang="en-US" sz="1600" b="1">
                <a:solidFill>
                  <a:schemeClr val="tx1">
                    <a:lumMod val="100000"/>
                  </a:schemeClr>
                </a:solidFill>
                <a:latin typeface="Trebuchet MS" panose="020B0603020202020204" pitchFamily="34" charset="0"/>
                <a:ea typeface="微软雅黑" panose="020B0503020204020204" pitchFamily="34" charset="-122"/>
              </a:rPr>
              <a:t>提供數據支持，讓每一次營銷都</a:t>
            </a:r>
            <a:r>
              <a:rPr lang="zh-CN" altLang="en-US" sz="1600" b="1">
                <a:solidFill>
                  <a:srgbClr val="29BA74"/>
                </a:solidFill>
                <a:latin typeface="Trebuchet MS" panose="020B0603020202020204" pitchFamily="34" charset="0"/>
                <a:ea typeface="微软雅黑" panose="020B0503020204020204" pitchFamily="34" charset="-122"/>
              </a:rPr>
              <a:t>有據可依</a:t>
            </a:r>
            <a:endParaRPr lang="en-US" sz="1600" b="1">
              <a:solidFill>
                <a:srgbClr val="29BA74"/>
              </a:solidFill>
              <a:latin typeface="Trebuchet MS" panose="020B0603020202020204" pitchFamily="34" charset="0"/>
            </a:endParaRPr>
          </a:p>
        </p:txBody>
      </p:sp>
      <p:sp>
        <p:nvSpPr>
          <p:cNvPr id="5" name="Rectangle 4"/>
          <p:cNvSpPr/>
          <p:nvPr/>
        </p:nvSpPr>
        <p:spPr>
          <a:xfrm>
            <a:off x="2182073" y="2314658"/>
            <a:ext cx="3228913" cy="1077218"/>
          </a:xfrm>
          <a:prstGeom prst="rect">
            <a:avLst/>
          </a:prstGeom>
        </p:spPr>
        <p:txBody>
          <a:bodyPr wrap="square">
            <a:spAutoFit/>
          </a:bodyPr>
          <a:lstStyle/>
          <a:p>
            <a:r>
              <a:rPr lang="zh-CN" altLang="en-US" sz="1600">
                <a:solidFill>
                  <a:srgbClr val="575757"/>
                </a:solidFill>
                <a:latin typeface="微软雅黑" panose="020B0503020204020204" pitchFamily="34" charset="-122"/>
                <a:ea typeface="微软雅黑" panose="020B0503020204020204" pitchFamily="34" charset="-122"/>
              </a:rPr>
              <a:t>客戶購買</a:t>
            </a:r>
            <a:r>
              <a:rPr lang="zh-TW" altLang="en-US" sz="1600">
                <a:solidFill>
                  <a:srgbClr val="575757"/>
                </a:solidFill>
                <a:latin typeface="微软雅黑" panose="020B0503020204020204" pitchFamily="34" charset="-122"/>
                <a:ea typeface="微软雅黑" panose="020B0503020204020204" pitchFamily="34" charset="-122"/>
              </a:rPr>
              <a:t>特定投資產品會</a:t>
            </a:r>
            <a:r>
              <a:rPr lang="zh-CN" altLang="en-US" sz="1600">
                <a:solidFill>
                  <a:srgbClr val="575757"/>
                </a:solidFill>
                <a:latin typeface="微软雅黑" panose="020B0503020204020204" pitchFamily="34" charset="-122"/>
                <a:ea typeface="微软雅黑" panose="020B0503020204020204" pitchFamily="34" charset="-122"/>
              </a:rPr>
              <a:t>集中在哪個</a:t>
            </a:r>
            <a:r>
              <a:rPr lang="zh-TW" altLang="en-US" sz="1600">
                <a:solidFill>
                  <a:srgbClr val="575757"/>
                </a:solidFill>
                <a:latin typeface="微软雅黑" panose="020B0503020204020204" pitchFamily="34" charset="-122"/>
                <a:ea typeface="微软雅黑" panose="020B0503020204020204" pitchFamily="34" charset="-122"/>
              </a:rPr>
              <a:t>金額</a:t>
            </a:r>
            <a:r>
              <a:rPr lang="zh-CN" altLang="en-US" sz="1600">
                <a:solidFill>
                  <a:srgbClr val="575757"/>
                </a:solidFill>
                <a:latin typeface="微软雅黑" panose="020B0503020204020204" pitchFamily="34" charset="-122"/>
                <a:ea typeface="微软雅黑" panose="020B0503020204020204" pitchFamily="34" charset="-122"/>
              </a:rPr>
              <a:t>區間內？若設計與購買此理財相關的活動，設定的</a:t>
            </a:r>
            <a:r>
              <a:rPr lang="zh-TW" altLang="en-US" sz="1600">
                <a:solidFill>
                  <a:srgbClr val="575757"/>
                </a:solidFill>
                <a:latin typeface="微软雅黑" panose="020B0503020204020204" pitchFamily="34" charset="-122"/>
                <a:ea typeface="微软雅黑" panose="020B0503020204020204" pitchFamily="34" charset="-122"/>
              </a:rPr>
              <a:t>最低申購</a:t>
            </a:r>
            <a:r>
              <a:rPr lang="zh-CN" altLang="en-US" sz="1600">
                <a:solidFill>
                  <a:srgbClr val="575757"/>
                </a:solidFill>
                <a:latin typeface="微软雅黑" panose="020B0503020204020204" pitchFamily="34" charset="-122"/>
                <a:ea typeface="微软雅黑" panose="020B0503020204020204" pitchFamily="34" charset="-122"/>
              </a:rPr>
              <a:t>金額應該是多少？</a:t>
            </a:r>
            <a:endParaRPr lang="en-US" sz="1600">
              <a:solidFill>
                <a:srgbClr val="575757"/>
              </a:solidFill>
              <a:latin typeface="微软雅黑" panose="020B0503020204020204" pitchFamily="34" charset="-122"/>
              <a:ea typeface="微软雅黑" panose="020B0503020204020204" pitchFamily="34" charset="-122"/>
            </a:endParaRPr>
          </a:p>
        </p:txBody>
      </p:sp>
      <p:sp>
        <p:nvSpPr>
          <p:cNvPr id="8" name="Rectangle 7"/>
          <p:cNvSpPr/>
          <p:nvPr/>
        </p:nvSpPr>
        <p:spPr>
          <a:xfrm>
            <a:off x="5882442" y="1938708"/>
            <a:ext cx="5625944" cy="301889"/>
          </a:xfrm>
          <a:prstGeom prst="rect">
            <a:avLst/>
          </a:prstGeom>
          <a:solidFill>
            <a:srgbClr val="FFFFFF"/>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spcAft>
                <a:spcPts val="1000"/>
              </a:spcAft>
            </a:pPr>
            <a:r>
              <a:rPr lang="zh-CN" altLang="en-US" sz="1600" b="1">
                <a:solidFill>
                  <a:srgbClr val="29BA74"/>
                </a:solidFill>
              </a:rPr>
              <a:t>全行活動營銷成功率平均可達</a:t>
            </a:r>
            <a:r>
              <a:rPr lang="en-US" altLang="zh-CN" sz="1600" b="1">
                <a:solidFill>
                  <a:srgbClr val="E71C57"/>
                </a:solidFill>
              </a:rPr>
              <a:t>24%</a:t>
            </a:r>
            <a:r>
              <a:rPr lang="zh-CN" altLang="en-US" sz="1600" b="1">
                <a:solidFill>
                  <a:srgbClr val="29BA74"/>
                </a:solidFill>
              </a:rPr>
              <a:t>，近</a:t>
            </a:r>
            <a:r>
              <a:rPr lang="en-US" altLang="zh-CN" sz="1600" b="1">
                <a:solidFill>
                  <a:srgbClr val="E71C57"/>
                </a:solidFill>
              </a:rPr>
              <a:t>5</a:t>
            </a:r>
            <a:r>
              <a:rPr lang="zh-CN" altLang="en-US" sz="1600" b="1">
                <a:solidFill>
                  <a:srgbClr val="E71C57"/>
                </a:solidFill>
              </a:rPr>
              <a:t>成</a:t>
            </a:r>
            <a:r>
              <a:rPr lang="zh-CN" altLang="en-US" sz="1600" b="1">
                <a:solidFill>
                  <a:srgbClr val="29BA74"/>
                </a:solidFill>
              </a:rPr>
              <a:t>爲成功活動</a:t>
            </a:r>
            <a:endParaRPr lang="en-US" sz="1600" b="1" err="1">
              <a:solidFill>
                <a:srgbClr val="29BA74"/>
              </a:solidFill>
            </a:endParaRPr>
          </a:p>
        </p:txBody>
      </p:sp>
      <p:grpSp>
        <p:nvGrpSpPr>
          <p:cNvPr id="69" name="Group 68"/>
          <p:cNvGrpSpPr/>
          <p:nvPr/>
        </p:nvGrpSpPr>
        <p:grpSpPr>
          <a:xfrm>
            <a:off x="5868735" y="2416951"/>
            <a:ext cx="4343999" cy="3994584"/>
            <a:chOff x="6667500" y="2629379"/>
            <a:chExt cx="2884369" cy="3994584"/>
          </a:xfrm>
        </p:grpSpPr>
        <p:grpSp>
          <p:nvGrpSpPr>
            <p:cNvPr id="14" name="Group 13"/>
            <p:cNvGrpSpPr/>
            <p:nvPr/>
          </p:nvGrpSpPr>
          <p:grpSpPr>
            <a:xfrm>
              <a:off x="6667500" y="2629379"/>
              <a:ext cx="2864964" cy="3994584"/>
              <a:chOff x="6667500" y="2602492"/>
              <a:chExt cx="2864964" cy="3722108"/>
            </a:xfrm>
          </p:grpSpPr>
          <p:sp>
            <p:nvSpPr>
              <p:cNvPr id="10" name="Rectangle 9"/>
              <p:cNvSpPr/>
              <p:nvPr/>
            </p:nvSpPr>
            <p:spPr>
              <a:xfrm>
                <a:off x="6667500" y="2602492"/>
                <a:ext cx="2864964" cy="3722108"/>
              </a:xfrm>
              <a:prstGeom prst="rect">
                <a:avLst/>
              </a:prstGeom>
              <a:solidFill>
                <a:srgbClr val="E2E2E2"/>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spcAft>
                    <a:spcPts val="1000"/>
                  </a:spcAft>
                </a:pPr>
                <a:endParaRPr lang="en-US" sz="1200" err="1">
                  <a:solidFill>
                    <a:srgbClr val="29BA74"/>
                  </a:solidFill>
                </a:endParaRPr>
              </a:p>
            </p:txBody>
          </p:sp>
          <p:sp>
            <p:nvSpPr>
              <p:cNvPr id="12" name="Rectangle 11"/>
              <p:cNvSpPr/>
              <p:nvPr/>
            </p:nvSpPr>
            <p:spPr>
              <a:xfrm>
                <a:off x="6667500" y="2604925"/>
                <a:ext cx="2864963" cy="234238"/>
              </a:xfrm>
              <a:prstGeom prst="rect">
                <a:avLst/>
              </a:prstGeom>
              <a:solidFill>
                <a:srgbClr val="9A9A9A"/>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spcAft>
                    <a:spcPts val="1000"/>
                  </a:spcAft>
                </a:pPr>
                <a:endParaRPr lang="en-US" sz="1200" err="1">
                  <a:solidFill>
                    <a:srgbClr val="FFFFFF"/>
                  </a:solidFill>
                </a:endParaRPr>
              </a:p>
            </p:txBody>
          </p:sp>
        </p:grpSp>
        <p:grpSp>
          <p:nvGrpSpPr>
            <p:cNvPr id="68" name="Group 67"/>
            <p:cNvGrpSpPr/>
            <p:nvPr/>
          </p:nvGrpSpPr>
          <p:grpSpPr>
            <a:xfrm>
              <a:off x="6807200" y="3000139"/>
              <a:ext cx="2744669" cy="3316033"/>
              <a:chOff x="6807200" y="3000139"/>
              <a:chExt cx="2744669" cy="3316033"/>
            </a:xfrm>
          </p:grpSpPr>
          <p:cxnSp>
            <p:nvCxnSpPr>
              <p:cNvPr id="37" name="Straight Arrow Connector 36"/>
              <p:cNvCxnSpPr>
                <a:stCxn id="15" idx="2"/>
                <a:endCxn id="16" idx="0"/>
              </p:cNvCxnSpPr>
              <p:nvPr/>
            </p:nvCxnSpPr>
            <p:spPr>
              <a:xfrm>
                <a:off x="7391400" y="3987800"/>
                <a:ext cx="0" cy="187186"/>
              </a:xfrm>
              <a:prstGeom prst="straightConnector1">
                <a:avLst/>
              </a:prstGeom>
              <a:ln w="9525" cap="rnd">
                <a:solidFill>
                  <a:schemeClr val="tx1">
                    <a:lumMod val="60000"/>
                    <a:lumOff val="40000"/>
                  </a:schemeClr>
                </a:solidFill>
                <a:prstDash val="solid"/>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39" name="Straight Arrow Connector 38"/>
              <p:cNvCxnSpPr>
                <a:stCxn id="16" idx="2"/>
                <a:endCxn id="17" idx="0"/>
              </p:cNvCxnSpPr>
              <p:nvPr/>
            </p:nvCxnSpPr>
            <p:spPr>
              <a:xfrm>
                <a:off x="7391400" y="4924286"/>
                <a:ext cx="0" cy="137376"/>
              </a:xfrm>
              <a:prstGeom prst="straightConnector1">
                <a:avLst/>
              </a:prstGeom>
              <a:ln w="9525" cap="rnd">
                <a:solidFill>
                  <a:schemeClr val="tx1">
                    <a:lumMod val="60000"/>
                    <a:lumOff val="40000"/>
                  </a:schemeClr>
                </a:solidFill>
                <a:prstDash val="solid"/>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41" name="Straight Arrow Connector 40"/>
              <p:cNvCxnSpPr/>
              <p:nvPr/>
            </p:nvCxnSpPr>
            <p:spPr>
              <a:xfrm flipV="1">
                <a:off x="7667625" y="3749439"/>
                <a:ext cx="904875" cy="1312223"/>
              </a:xfrm>
              <a:prstGeom prst="straightConnector1">
                <a:avLst/>
              </a:prstGeom>
              <a:ln w="9525" cap="rnd">
                <a:solidFill>
                  <a:schemeClr val="tx1">
                    <a:lumMod val="60000"/>
                    <a:lumOff val="40000"/>
                  </a:schemeClr>
                </a:solidFill>
                <a:prstDash val="solid"/>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43" name="Straight Arrow Connector 42"/>
              <p:cNvCxnSpPr/>
              <p:nvPr/>
            </p:nvCxnSpPr>
            <p:spPr>
              <a:xfrm flipV="1">
                <a:off x="7896225" y="4717555"/>
                <a:ext cx="252063" cy="344107"/>
              </a:xfrm>
              <a:prstGeom prst="straightConnector1">
                <a:avLst/>
              </a:prstGeom>
              <a:ln w="9525" cap="rnd">
                <a:solidFill>
                  <a:schemeClr val="tx1">
                    <a:lumMod val="60000"/>
                    <a:lumOff val="40000"/>
                  </a:schemeClr>
                </a:solidFill>
                <a:prstDash val="solid"/>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46" name="Straight Arrow Connector 45"/>
              <p:cNvCxnSpPr/>
              <p:nvPr/>
            </p:nvCxnSpPr>
            <p:spPr>
              <a:xfrm>
                <a:off x="7975600" y="5343525"/>
                <a:ext cx="139700" cy="0"/>
              </a:xfrm>
              <a:prstGeom prst="straightConnector1">
                <a:avLst/>
              </a:prstGeom>
              <a:ln w="9525" cap="rnd">
                <a:solidFill>
                  <a:schemeClr val="tx1">
                    <a:lumMod val="60000"/>
                    <a:lumOff val="40000"/>
                  </a:schemeClr>
                </a:solidFill>
                <a:prstDash val="solid"/>
                <a:round/>
                <a:tailEnd type="triangle" w="med" len="med"/>
              </a:ln>
            </p:spPr>
            <p:style>
              <a:lnRef idx="1">
                <a:schemeClr val="accent1"/>
              </a:lnRef>
              <a:fillRef idx="0">
                <a:schemeClr val="accent1"/>
              </a:fillRef>
              <a:effectRef idx="0">
                <a:schemeClr val="accent1"/>
              </a:effectRef>
              <a:fontRef idx="minor">
                <a:schemeClr val="tx1"/>
              </a:fontRef>
            </p:style>
          </p:cxnSp>
          <p:cxnSp>
            <p:nvCxnSpPr>
              <p:cNvPr id="48" name="Straight Arrow Connector 47"/>
              <p:cNvCxnSpPr>
                <a:cxnSpLocks/>
                <a:endCxn id="27" idx="1"/>
              </p:cNvCxnSpPr>
              <p:nvPr/>
            </p:nvCxnSpPr>
            <p:spPr>
              <a:xfrm>
                <a:off x="7975600" y="5735637"/>
                <a:ext cx="139699" cy="205885"/>
              </a:xfrm>
              <a:prstGeom prst="straightConnector1">
                <a:avLst/>
              </a:prstGeom>
              <a:ln w="9525" cap="rnd">
                <a:solidFill>
                  <a:schemeClr val="tx1">
                    <a:lumMod val="60000"/>
                    <a:lumOff val="40000"/>
                  </a:schemeClr>
                </a:solidFill>
                <a:prstDash val="solid"/>
                <a:round/>
                <a:tailEnd type="triangle" w="med" len="med"/>
              </a:ln>
            </p:spPr>
            <p:style>
              <a:lnRef idx="1">
                <a:schemeClr val="accent1"/>
              </a:lnRef>
              <a:fillRef idx="0">
                <a:schemeClr val="accent1"/>
              </a:fillRef>
              <a:effectRef idx="0">
                <a:schemeClr val="accent1"/>
              </a:effectRef>
              <a:fontRef idx="minor">
                <a:schemeClr val="tx1"/>
              </a:fontRef>
            </p:style>
          </p:cxnSp>
          <p:grpSp>
            <p:nvGrpSpPr>
              <p:cNvPr id="61" name="Group 60"/>
              <p:cNvGrpSpPr/>
              <p:nvPr/>
            </p:nvGrpSpPr>
            <p:grpSpPr>
              <a:xfrm>
                <a:off x="6807200" y="3238500"/>
                <a:ext cx="1168400" cy="749300"/>
                <a:chOff x="6807200" y="3238500"/>
                <a:chExt cx="1168400" cy="749300"/>
              </a:xfrm>
            </p:grpSpPr>
            <p:sp>
              <p:nvSpPr>
                <p:cNvPr id="15" name="Rounded Rectangle 14"/>
                <p:cNvSpPr/>
                <p:nvPr/>
              </p:nvSpPr>
              <p:spPr>
                <a:xfrm>
                  <a:off x="6807200" y="3238500"/>
                  <a:ext cx="1168400" cy="749300"/>
                </a:xfrm>
                <a:prstGeom prst="roundRect">
                  <a:avLst/>
                </a:prstGeom>
                <a:solidFill>
                  <a:srgbClr val="C8C8C8"/>
                </a:solidFill>
                <a:ln w="9525" cap="rnd" cmpd="sng" algn="ctr">
                  <a:solidFill>
                    <a:srgbClr val="FFFFFF"/>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spcAft>
                      <a:spcPts val="1000"/>
                    </a:spcAft>
                  </a:pPr>
                  <a:endParaRPr lang="en-US" sz="1200" err="1">
                    <a:solidFill>
                      <a:srgbClr val="FFFFFF"/>
                    </a:solidFill>
                  </a:endParaRPr>
                </a:p>
              </p:txBody>
            </p:sp>
            <p:sp>
              <p:nvSpPr>
                <p:cNvPr id="20" name="Rounded Rectangle 19"/>
                <p:cNvSpPr/>
                <p:nvPr/>
              </p:nvSpPr>
              <p:spPr>
                <a:xfrm>
                  <a:off x="6883400" y="3728874"/>
                  <a:ext cx="624237" cy="183438"/>
                </a:xfrm>
                <a:prstGeom prst="roundRect">
                  <a:avLst/>
                </a:prstGeom>
                <a:solidFill>
                  <a:srgbClr val="FFFFFF"/>
                </a:solidFill>
                <a:ln w="9525" cap="rnd" cmpd="sng" algn="ctr">
                  <a:solidFill>
                    <a:srgbClr val="FFFFFF"/>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1000"/>
                    </a:spcAft>
                  </a:pPr>
                  <a:r>
                    <a:rPr lang="en-US" sz="1200">
                      <a:solidFill>
                        <a:srgbClr val="575757"/>
                      </a:solidFill>
                    </a:rPr>
                    <a:t>***</a:t>
                  </a:r>
                </a:p>
              </p:txBody>
            </p:sp>
            <p:sp>
              <p:nvSpPr>
                <p:cNvPr id="30" name="TextBox 29"/>
                <p:cNvSpPr txBox="1"/>
                <p:nvPr/>
              </p:nvSpPr>
              <p:spPr>
                <a:xfrm>
                  <a:off x="7494937" y="3726751"/>
                  <a:ext cx="467963" cy="183438"/>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100">
                      <a:solidFill>
                        <a:srgbClr val="FFFFFF"/>
                      </a:solidFill>
                    </a:rPr>
                    <a:t>客戶</a:t>
                  </a:r>
                  <a:endParaRPr lang="en-US" sz="1100" err="1">
                    <a:solidFill>
                      <a:srgbClr val="FFFFFF"/>
                    </a:solidFill>
                  </a:endParaRPr>
                </a:p>
              </p:txBody>
            </p:sp>
            <p:sp>
              <p:nvSpPr>
                <p:cNvPr id="49" name="TextBox 48"/>
                <p:cNvSpPr txBox="1"/>
                <p:nvPr/>
              </p:nvSpPr>
              <p:spPr>
                <a:xfrm>
                  <a:off x="6894463" y="3284018"/>
                  <a:ext cx="1012825" cy="330676"/>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zh-CN" altLang="en-US" sz="900">
                      <a:solidFill>
                        <a:srgbClr val="575757"/>
                      </a:solidFill>
                    </a:rPr>
                    <a:t>分行名稱</a:t>
                  </a:r>
                  <a:r>
                    <a:rPr lang="en-US" altLang="zh-CN" sz="900">
                      <a:solidFill>
                        <a:srgbClr val="575757"/>
                      </a:solidFill>
                    </a:rPr>
                    <a:t>——</a:t>
                  </a:r>
                </a:p>
                <a:p>
                  <a:r>
                    <a:rPr lang="zh-CN" altLang="en-US" sz="900">
                      <a:solidFill>
                        <a:srgbClr val="575757"/>
                      </a:solidFill>
                    </a:rPr>
                    <a:t>上海分行</a:t>
                  </a:r>
                  <a:endParaRPr lang="en-US" sz="900" err="1">
                    <a:solidFill>
                      <a:srgbClr val="575757"/>
                    </a:solidFill>
                  </a:endParaRPr>
                </a:p>
              </p:txBody>
            </p:sp>
          </p:grpSp>
          <p:grpSp>
            <p:nvGrpSpPr>
              <p:cNvPr id="62" name="Group 61"/>
              <p:cNvGrpSpPr/>
              <p:nvPr/>
            </p:nvGrpSpPr>
            <p:grpSpPr>
              <a:xfrm>
                <a:off x="6807200" y="4174986"/>
                <a:ext cx="1168400" cy="749300"/>
                <a:chOff x="6807200" y="4174986"/>
                <a:chExt cx="1168400" cy="749300"/>
              </a:xfrm>
            </p:grpSpPr>
            <p:sp>
              <p:nvSpPr>
                <p:cNvPr id="16" name="Rounded Rectangle 15"/>
                <p:cNvSpPr/>
                <p:nvPr/>
              </p:nvSpPr>
              <p:spPr>
                <a:xfrm>
                  <a:off x="6807200" y="4174986"/>
                  <a:ext cx="1168400" cy="749300"/>
                </a:xfrm>
                <a:prstGeom prst="roundRect">
                  <a:avLst/>
                </a:prstGeom>
                <a:solidFill>
                  <a:srgbClr val="C8C8C8"/>
                </a:solidFill>
                <a:ln w="9525" cap="rnd" cmpd="sng" algn="ctr">
                  <a:solidFill>
                    <a:srgbClr val="FFFFFF"/>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spcAft>
                      <a:spcPts val="1000"/>
                    </a:spcAft>
                  </a:pPr>
                  <a:endParaRPr lang="en-US" sz="1200" err="1">
                    <a:solidFill>
                      <a:srgbClr val="FFFFFF"/>
                    </a:solidFill>
                  </a:endParaRPr>
                </a:p>
              </p:txBody>
            </p:sp>
            <p:sp>
              <p:nvSpPr>
                <p:cNvPr id="18" name="Rounded Rectangle 17"/>
                <p:cNvSpPr/>
                <p:nvPr/>
              </p:nvSpPr>
              <p:spPr>
                <a:xfrm>
                  <a:off x="6883400" y="4651948"/>
                  <a:ext cx="624237" cy="183438"/>
                </a:xfrm>
                <a:prstGeom prst="roundRect">
                  <a:avLst/>
                </a:prstGeom>
                <a:solidFill>
                  <a:srgbClr val="FFFFFF"/>
                </a:solidFill>
                <a:ln w="9525" cap="rnd" cmpd="sng" algn="ctr">
                  <a:solidFill>
                    <a:srgbClr val="FFFFFF"/>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1000"/>
                    </a:spcAft>
                  </a:pPr>
                  <a:r>
                    <a:rPr lang="en-US" sz="1200">
                      <a:solidFill>
                        <a:srgbClr val="575757"/>
                      </a:solidFill>
                    </a:rPr>
                    <a:t>***</a:t>
                  </a:r>
                </a:p>
              </p:txBody>
            </p:sp>
            <p:sp>
              <p:nvSpPr>
                <p:cNvPr id="31" name="TextBox 30"/>
                <p:cNvSpPr txBox="1"/>
                <p:nvPr/>
              </p:nvSpPr>
              <p:spPr>
                <a:xfrm>
                  <a:off x="7494937" y="4651948"/>
                  <a:ext cx="467963" cy="183438"/>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100">
                      <a:solidFill>
                        <a:srgbClr val="FFFFFF"/>
                      </a:solidFill>
                    </a:rPr>
                    <a:t>客戶</a:t>
                  </a:r>
                  <a:endParaRPr lang="en-US" sz="1100" err="1">
                    <a:solidFill>
                      <a:srgbClr val="FFFFFF"/>
                    </a:solidFill>
                  </a:endParaRPr>
                </a:p>
              </p:txBody>
            </p:sp>
            <p:sp>
              <p:nvSpPr>
                <p:cNvPr id="50" name="TextBox 49"/>
                <p:cNvSpPr txBox="1"/>
                <p:nvPr/>
              </p:nvSpPr>
              <p:spPr>
                <a:xfrm>
                  <a:off x="6894463" y="4260698"/>
                  <a:ext cx="876570" cy="330676"/>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zh-CN" altLang="en-US" sz="900">
                      <a:solidFill>
                        <a:srgbClr val="575757"/>
                      </a:solidFill>
                    </a:rPr>
                    <a:t>持有一卡通標識</a:t>
                  </a:r>
                  <a:endParaRPr lang="en-US" sz="900" err="1">
                    <a:solidFill>
                      <a:srgbClr val="575757"/>
                    </a:solidFill>
                  </a:endParaRPr>
                </a:p>
              </p:txBody>
            </p:sp>
          </p:grpSp>
          <p:grpSp>
            <p:nvGrpSpPr>
              <p:cNvPr id="63" name="Group 62"/>
              <p:cNvGrpSpPr/>
              <p:nvPr/>
            </p:nvGrpSpPr>
            <p:grpSpPr>
              <a:xfrm>
                <a:off x="6807200" y="5061662"/>
                <a:ext cx="1168400" cy="749300"/>
                <a:chOff x="6807200" y="5061662"/>
                <a:chExt cx="1168400" cy="749300"/>
              </a:xfrm>
            </p:grpSpPr>
            <p:sp>
              <p:nvSpPr>
                <p:cNvPr id="17" name="Rounded Rectangle 16"/>
                <p:cNvSpPr/>
                <p:nvPr/>
              </p:nvSpPr>
              <p:spPr>
                <a:xfrm>
                  <a:off x="6807200" y="5061662"/>
                  <a:ext cx="1168400" cy="749300"/>
                </a:xfrm>
                <a:prstGeom prst="roundRect">
                  <a:avLst/>
                </a:prstGeom>
                <a:solidFill>
                  <a:srgbClr val="C8C8C8"/>
                </a:solidFill>
                <a:ln w="9525" cap="rnd" cmpd="sng" algn="ctr">
                  <a:solidFill>
                    <a:srgbClr val="FFFFFF"/>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spcAft>
                      <a:spcPts val="1000"/>
                    </a:spcAft>
                  </a:pPr>
                  <a:endParaRPr lang="en-US" sz="1200" err="1">
                    <a:solidFill>
                      <a:srgbClr val="FFFFFF"/>
                    </a:solidFill>
                  </a:endParaRPr>
                </a:p>
              </p:txBody>
            </p:sp>
            <p:sp>
              <p:nvSpPr>
                <p:cNvPr id="19" name="Rounded Rectangle 18"/>
                <p:cNvSpPr/>
                <p:nvPr/>
              </p:nvSpPr>
              <p:spPr>
                <a:xfrm>
                  <a:off x="6883400" y="5514099"/>
                  <a:ext cx="624237" cy="183438"/>
                </a:xfrm>
                <a:prstGeom prst="roundRect">
                  <a:avLst/>
                </a:prstGeom>
                <a:solidFill>
                  <a:srgbClr val="FFFFFF"/>
                </a:solidFill>
                <a:ln w="9525" cap="rnd" cmpd="sng" algn="ctr">
                  <a:solidFill>
                    <a:srgbClr val="FFFFFF"/>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1000"/>
                    </a:spcAft>
                  </a:pPr>
                  <a:r>
                    <a:rPr lang="en-US" sz="1200">
                      <a:solidFill>
                        <a:srgbClr val="575757"/>
                      </a:solidFill>
                    </a:rPr>
                    <a:t>***</a:t>
                  </a:r>
                </a:p>
              </p:txBody>
            </p:sp>
            <p:sp>
              <p:nvSpPr>
                <p:cNvPr id="32" name="TextBox 31"/>
                <p:cNvSpPr txBox="1"/>
                <p:nvPr/>
              </p:nvSpPr>
              <p:spPr>
                <a:xfrm>
                  <a:off x="7494937" y="5514099"/>
                  <a:ext cx="467963" cy="183438"/>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100">
                      <a:solidFill>
                        <a:srgbClr val="FFFFFF"/>
                      </a:solidFill>
                    </a:rPr>
                    <a:t>客戶</a:t>
                  </a:r>
                  <a:endParaRPr lang="en-US" sz="1100" err="1">
                    <a:solidFill>
                      <a:srgbClr val="FFFFFF"/>
                    </a:solidFill>
                  </a:endParaRPr>
                </a:p>
              </p:txBody>
            </p:sp>
            <p:sp>
              <p:nvSpPr>
                <p:cNvPr id="51" name="TextBox 50"/>
                <p:cNvSpPr txBox="1"/>
                <p:nvPr/>
              </p:nvSpPr>
              <p:spPr>
                <a:xfrm>
                  <a:off x="6894463" y="5169790"/>
                  <a:ext cx="846595" cy="246618"/>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zh-CN" altLang="en-US" sz="900">
                      <a:solidFill>
                        <a:srgbClr val="575757"/>
                      </a:solidFill>
                    </a:rPr>
                    <a:t>拆分</a:t>
                  </a:r>
                  <a:endParaRPr lang="en-US" sz="900" err="1">
                    <a:solidFill>
                      <a:srgbClr val="575757"/>
                    </a:solidFill>
                  </a:endParaRPr>
                </a:p>
              </p:txBody>
            </p:sp>
          </p:grpSp>
          <p:grpSp>
            <p:nvGrpSpPr>
              <p:cNvPr id="67" name="Group 66"/>
              <p:cNvGrpSpPr/>
              <p:nvPr/>
            </p:nvGrpSpPr>
            <p:grpSpPr>
              <a:xfrm>
                <a:off x="8115299" y="3000139"/>
                <a:ext cx="1408064" cy="749300"/>
                <a:chOff x="8115299" y="3000139"/>
                <a:chExt cx="1408064" cy="749300"/>
              </a:xfrm>
            </p:grpSpPr>
            <p:sp>
              <p:nvSpPr>
                <p:cNvPr id="21" name="Rounded Rectangle 20"/>
                <p:cNvSpPr/>
                <p:nvPr/>
              </p:nvSpPr>
              <p:spPr>
                <a:xfrm>
                  <a:off x="8115299" y="3000139"/>
                  <a:ext cx="1344743" cy="749300"/>
                </a:xfrm>
                <a:prstGeom prst="roundRect">
                  <a:avLst/>
                </a:prstGeom>
                <a:solidFill>
                  <a:srgbClr val="C8C8C8"/>
                </a:solidFill>
                <a:ln w="9525" cap="rnd" cmpd="sng" algn="ctr">
                  <a:solidFill>
                    <a:srgbClr val="FFFFFF"/>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spcAft>
                      <a:spcPts val="1000"/>
                    </a:spcAft>
                  </a:pPr>
                  <a:endParaRPr lang="en-US" sz="1200" err="1">
                    <a:solidFill>
                      <a:srgbClr val="FFFFFF"/>
                    </a:solidFill>
                  </a:endParaRPr>
                </a:p>
              </p:txBody>
            </p:sp>
            <p:sp>
              <p:nvSpPr>
                <p:cNvPr id="22" name="Rounded Rectangle 21"/>
                <p:cNvSpPr/>
                <p:nvPr/>
              </p:nvSpPr>
              <p:spPr>
                <a:xfrm>
                  <a:off x="8191500" y="3490513"/>
                  <a:ext cx="624237" cy="183438"/>
                </a:xfrm>
                <a:prstGeom prst="roundRect">
                  <a:avLst/>
                </a:prstGeom>
                <a:solidFill>
                  <a:srgbClr val="FFFFFF"/>
                </a:solidFill>
                <a:ln w="9525" cap="rnd" cmpd="sng" algn="ctr">
                  <a:solidFill>
                    <a:srgbClr val="FFFFFF"/>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1000"/>
                    </a:spcAft>
                  </a:pPr>
                  <a:r>
                    <a:rPr lang="en-US" sz="1200">
                      <a:solidFill>
                        <a:srgbClr val="575757"/>
                      </a:solidFill>
                    </a:rPr>
                    <a:t>***</a:t>
                  </a:r>
                </a:p>
              </p:txBody>
            </p:sp>
            <p:sp>
              <p:nvSpPr>
                <p:cNvPr id="29" name="TextBox 28"/>
                <p:cNvSpPr txBox="1"/>
                <p:nvPr/>
              </p:nvSpPr>
              <p:spPr>
                <a:xfrm>
                  <a:off x="8815737" y="3490513"/>
                  <a:ext cx="467963" cy="183438"/>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100">
                      <a:solidFill>
                        <a:srgbClr val="FFFFFF"/>
                      </a:solidFill>
                    </a:rPr>
                    <a:t>客戶</a:t>
                  </a:r>
                  <a:endParaRPr lang="en-US" sz="1100" err="1">
                    <a:solidFill>
                      <a:srgbClr val="FFFFFF"/>
                    </a:solidFill>
                  </a:endParaRPr>
                </a:p>
              </p:txBody>
            </p:sp>
            <p:sp>
              <p:nvSpPr>
                <p:cNvPr id="52" name="TextBox 51"/>
                <p:cNvSpPr txBox="1"/>
                <p:nvPr/>
              </p:nvSpPr>
              <p:spPr>
                <a:xfrm>
                  <a:off x="8400533" y="3068398"/>
                  <a:ext cx="1122830" cy="330676"/>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altLang="zh-CN" sz="900">
                      <a:solidFill>
                        <a:srgbClr val="575757"/>
                      </a:solidFill>
                    </a:rPr>
                    <a:t>0 &lt;</a:t>
                  </a:r>
                  <a:r>
                    <a:rPr lang="zh-CN" altLang="en-US" sz="900">
                      <a:solidFill>
                        <a:srgbClr val="575757"/>
                      </a:solidFill>
                    </a:rPr>
                    <a:t>當月</a:t>
                  </a:r>
                  <a:r>
                    <a:rPr lang="zh-TW" altLang="en-US" sz="900">
                      <a:solidFill>
                        <a:srgbClr val="575757"/>
                      </a:solidFill>
                    </a:rPr>
                    <a:t>產品</a:t>
                  </a:r>
                  <a:r>
                    <a:rPr lang="en-US" altLang="zh-TW" sz="900">
                      <a:solidFill>
                        <a:srgbClr val="575757"/>
                      </a:solidFill>
                    </a:rPr>
                    <a:t>A</a:t>
                  </a:r>
                  <a:r>
                    <a:rPr lang="zh-TW" altLang="en-US" sz="900">
                      <a:solidFill>
                        <a:srgbClr val="575757"/>
                      </a:solidFill>
                    </a:rPr>
                    <a:t>申購</a:t>
                  </a:r>
                  <a:r>
                    <a:rPr lang="zh-CN" altLang="en-US" sz="900">
                      <a:solidFill>
                        <a:srgbClr val="575757"/>
                      </a:solidFill>
                    </a:rPr>
                    <a:t>金額</a:t>
                  </a:r>
                  <a:r>
                    <a:rPr lang="en-US" altLang="zh-CN" sz="900">
                      <a:solidFill>
                        <a:srgbClr val="575757"/>
                      </a:solidFill>
                    </a:rPr>
                    <a:t>&lt;=</a:t>
                  </a:r>
                  <a:r>
                    <a:rPr lang="zh-TW" altLang="en-US" sz="900">
                      <a:solidFill>
                        <a:srgbClr val="575757"/>
                      </a:solidFill>
                    </a:rPr>
                    <a:t> </a:t>
                  </a:r>
                  <a:r>
                    <a:rPr lang="en-US" altLang="zh-TW" sz="900">
                      <a:solidFill>
                        <a:srgbClr val="575757"/>
                      </a:solidFill>
                    </a:rPr>
                    <a:t>$</a:t>
                  </a:r>
                  <a:r>
                    <a:rPr lang="en-US" altLang="zh-CN" sz="900">
                      <a:solidFill>
                        <a:srgbClr val="575757"/>
                      </a:solidFill>
                    </a:rPr>
                    <a:t>1000</a:t>
                  </a:r>
                  <a:endParaRPr lang="en-US" sz="900">
                    <a:solidFill>
                      <a:srgbClr val="575757"/>
                    </a:solidFill>
                  </a:endParaRPr>
                </a:p>
              </p:txBody>
            </p:sp>
          </p:grpSp>
          <p:grpSp>
            <p:nvGrpSpPr>
              <p:cNvPr id="64" name="Group 63"/>
              <p:cNvGrpSpPr/>
              <p:nvPr/>
            </p:nvGrpSpPr>
            <p:grpSpPr>
              <a:xfrm>
                <a:off x="8115299" y="3987800"/>
                <a:ext cx="1408065" cy="749300"/>
                <a:chOff x="8115299" y="3987800"/>
                <a:chExt cx="1408065" cy="749300"/>
              </a:xfrm>
            </p:grpSpPr>
            <p:sp>
              <p:nvSpPr>
                <p:cNvPr id="23" name="Rounded Rectangle 22"/>
                <p:cNvSpPr/>
                <p:nvPr/>
              </p:nvSpPr>
              <p:spPr>
                <a:xfrm>
                  <a:off x="8115299" y="3987800"/>
                  <a:ext cx="1344743" cy="749300"/>
                </a:xfrm>
                <a:prstGeom prst="roundRect">
                  <a:avLst/>
                </a:prstGeom>
                <a:solidFill>
                  <a:srgbClr val="C8C8C8"/>
                </a:solidFill>
                <a:ln w="9525" cap="rnd" cmpd="sng" algn="ctr">
                  <a:solidFill>
                    <a:srgbClr val="FFFFFF"/>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spcAft>
                      <a:spcPts val="1000"/>
                    </a:spcAft>
                  </a:pPr>
                  <a:endParaRPr lang="en-US" sz="1200" err="1">
                    <a:solidFill>
                      <a:srgbClr val="FFFFFF"/>
                    </a:solidFill>
                  </a:endParaRPr>
                </a:p>
              </p:txBody>
            </p:sp>
            <p:sp>
              <p:nvSpPr>
                <p:cNvPr id="24" name="Rounded Rectangle 23"/>
                <p:cNvSpPr/>
                <p:nvPr/>
              </p:nvSpPr>
              <p:spPr>
                <a:xfrm>
                  <a:off x="8191500" y="4478174"/>
                  <a:ext cx="624237" cy="183438"/>
                </a:xfrm>
                <a:prstGeom prst="roundRect">
                  <a:avLst/>
                </a:prstGeom>
                <a:solidFill>
                  <a:srgbClr val="FFFFFF"/>
                </a:solidFill>
                <a:ln w="9525" cap="rnd" cmpd="sng" algn="ctr">
                  <a:solidFill>
                    <a:srgbClr val="FFFFFF"/>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1000"/>
                    </a:spcAft>
                  </a:pPr>
                  <a:r>
                    <a:rPr lang="en-US" sz="1200">
                      <a:solidFill>
                        <a:srgbClr val="575757"/>
                      </a:solidFill>
                    </a:rPr>
                    <a:t>***</a:t>
                  </a:r>
                </a:p>
              </p:txBody>
            </p:sp>
            <p:sp>
              <p:nvSpPr>
                <p:cNvPr id="33" name="TextBox 32"/>
                <p:cNvSpPr txBox="1"/>
                <p:nvPr/>
              </p:nvSpPr>
              <p:spPr>
                <a:xfrm>
                  <a:off x="8803037" y="4471112"/>
                  <a:ext cx="467963" cy="183438"/>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100">
                      <a:solidFill>
                        <a:srgbClr val="FFFFFF"/>
                      </a:solidFill>
                    </a:rPr>
                    <a:t>客戶</a:t>
                  </a:r>
                  <a:endParaRPr lang="en-US" sz="1100" err="1">
                    <a:solidFill>
                      <a:srgbClr val="FFFFFF"/>
                    </a:solidFill>
                  </a:endParaRPr>
                </a:p>
              </p:txBody>
            </p:sp>
            <p:sp>
              <p:nvSpPr>
                <p:cNvPr id="53" name="TextBox 52"/>
                <p:cNvSpPr txBox="1"/>
                <p:nvPr/>
              </p:nvSpPr>
              <p:spPr>
                <a:xfrm>
                  <a:off x="8400534" y="4102530"/>
                  <a:ext cx="1122830" cy="330676"/>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altLang="zh-TW" sz="900">
                      <a:solidFill>
                        <a:srgbClr val="575757"/>
                      </a:solidFill>
                    </a:rPr>
                    <a:t>$</a:t>
                  </a:r>
                  <a:r>
                    <a:rPr lang="en-US" altLang="zh-CN" sz="900">
                      <a:solidFill>
                        <a:srgbClr val="575757"/>
                      </a:solidFill>
                    </a:rPr>
                    <a:t>1,000 &lt;</a:t>
                  </a:r>
                  <a:r>
                    <a:rPr lang="zh-TW" altLang="en-US" sz="900">
                      <a:solidFill>
                        <a:srgbClr val="575757"/>
                      </a:solidFill>
                    </a:rPr>
                    <a:t> 當月產品</a:t>
                  </a:r>
                  <a:r>
                    <a:rPr lang="en-US" altLang="zh-TW" sz="900">
                      <a:solidFill>
                        <a:srgbClr val="575757"/>
                      </a:solidFill>
                    </a:rPr>
                    <a:t>A</a:t>
                  </a:r>
                  <a:r>
                    <a:rPr lang="zh-TW" altLang="en-US" sz="900">
                      <a:solidFill>
                        <a:srgbClr val="575757"/>
                      </a:solidFill>
                    </a:rPr>
                    <a:t>申購</a:t>
                  </a:r>
                  <a:r>
                    <a:rPr lang="zh-CN" altLang="en-US" sz="900">
                      <a:solidFill>
                        <a:srgbClr val="575757"/>
                      </a:solidFill>
                    </a:rPr>
                    <a:t>金額</a:t>
                  </a:r>
                  <a:endParaRPr lang="en-US" sz="900">
                    <a:solidFill>
                      <a:srgbClr val="575757"/>
                    </a:solidFill>
                  </a:endParaRPr>
                </a:p>
              </p:txBody>
            </p:sp>
          </p:grpSp>
          <p:grpSp>
            <p:nvGrpSpPr>
              <p:cNvPr id="65" name="Group 64"/>
              <p:cNvGrpSpPr/>
              <p:nvPr/>
            </p:nvGrpSpPr>
            <p:grpSpPr>
              <a:xfrm>
                <a:off x="8115300" y="4777336"/>
                <a:ext cx="1436569" cy="749300"/>
                <a:chOff x="8115300" y="4777336"/>
                <a:chExt cx="1436569" cy="749300"/>
              </a:xfrm>
            </p:grpSpPr>
            <p:sp>
              <p:nvSpPr>
                <p:cNvPr id="25" name="Rounded Rectangle 24"/>
                <p:cNvSpPr/>
                <p:nvPr/>
              </p:nvSpPr>
              <p:spPr>
                <a:xfrm>
                  <a:off x="8115300" y="4777336"/>
                  <a:ext cx="1344742" cy="749300"/>
                </a:xfrm>
                <a:prstGeom prst="roundRect">
                  <a:avLst>
                    <a:gd name="adj" fmla="val 16667"/>
                  </a:avLst>
                </a:prstGeom>
                <a:solidFill>
                  <a:srgbClr val="C8C8C8"/>
                </a:solidFill>
                <a:ln w="9525" cap="rnd" cmpd="sng" algn="ctr">
                  <a:solidFill>
                    <a:srgbClr val="FFFFFF"/>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spcAft>
                      <a:spcPts val="1000"/>
                    </a:spcAft>
                  </a:pPr>
                  <a:endParaRPr lang="en-US" sz="1200" err="1">
                    <a:solidFill>
                      <a:srgbClr val="FFFFFF"/>
                    </a:solidFill>
                  </a:endParaRPr>
                </a:p>
              </p:txBody>
            </p:sp>
            <p:sp>
              <p:nvSpPr>
                <p:cNvPr id="26" name="Rounded Rectangle 25"/>
                <p:cNvSpPr/>
                <p:nvPr/>
              </p:nvSpPr>
              <p:spPr>
                <a:xfrm>
                  <a:off x="8191500" y="5267710"/>
                  <a:ext cx="624237" cy="183438"/>
                </a:xfrm>
                <a:prstGeom prst="roundRect">
                  <a:avLst/>
                </a:prstGeom>
                <a:solidFill>
                  <a:srgbClr val="FFFFFF"/>
                </a:solidFill>
                <a:ln w="9525" cap="rnd" cmpd="sng" algn="ctr">
                  <a:solidFill>
                    <a:srgbClr val="FFFFFF"/>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1000"/>
                    </a:spcAft>
                  </a:pPr>
                  <a:r>
                    <a:rPr lang="en-US" sz="1200">
                      <a:solidFill>
                        <a:srgbClr val="575757"/>
                      </a:solidFill>
                    </a:rPr>
                    <a:t>***</a:t>
                  </a:r>
                </a:p>
              </p:txBody>
            </p:sp>
            <p:sp>
              <p:nvSpPr>
                <p:cNvPr id="34" name="TextBox 33"/>
                <p:cNvSpPr txBox="1"/>
                <p:nvPr/>
              </p:nvSpPr>
              <p:spPr>
                <a:xfrm>
                  <a:off x="8803037" y="5259082"/>
                  <a:ext cx="467963" cy="183438"/>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100">
                      <a:solidFill>
                        <a:srgbClr val="FFFFFF"/>
                      </a:solidFill>
                    </a:rPr>
                    <a:t>客戶</a:t>
                  </a:r>
                  <a:endParaRPr lang="en-US" sz="1100" err="1">
                    <a:solidFill>
                      <a:srgbClr val="FFFFFF"/>
                    </a:solidFill>
                  </a:endParaRPr>
                </a:p>
              </p:txBody>
            </p:sp>
            <p:sp>
              <p:nvSpPr>
                <p:cNvPr id="54" name="TextBox 53"/>
                <p:cNvSpPr txBox="1"/>
                <p:nvPr/>
              </p:nvSpPr>
              <p:spPr>
                <a:xfrm>
                  <a:off x="8429039" y="4900438"/>
                  <a:ext cx="1122830" cy="330676"/>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altLang="zh-TW" sz="900">
                      <a:solidFill>
                        <a:srgbClr val="575757"/>
                      </a:solidFill>
                    </a:rPr>
                    <a:t>$</a:t>
                  </a:r>
                  <a:r>
                    <a:rPr lang="en-US" altLang="zh-CN" sz="900">
                      <a:solidFill>
                        <a:srgbClr val="575757"/>
                      </a:solidFill>
                    </a:rPr>
                    <a:t>2,000 &lt;</a:t>
                  </a:r>
                  <a:r>
                    <a:rPr lang="zh-TW" altLang="en-US" sz="900">
                      <a:solidFill>
                        <a:srgbClr val="575757"/>
                      </a:solidFill>
                    </a:rPr>
                    <a:t>當月產品</a:t>
                  </a:r>
                  <a:r>
                    <a:rPr lang="en-US" altLang="zh-TW" sz="900">
                      <a:solidFill>
                        <a:srgbClr val="575757"/>
                      </a:solidFill>
                    </a:rPr>
                    <a:t>A</a:t>
                  </a:r>
                  <a:r>
                    <a:rPr lang="zh-TW" altLang="en-US" sz="900">
                      <a:solidFill>
                        <a:srgbClr val="575757"/>
                      </a:solidFill>
                    </a:rPr>
                    <a:t>申購</a:t>
                  </a:r>
                  <a:r>
                    <a:rPr lang="zh-CN" altLang="en-US" sz="900">
                      <a:solidFill>
                        <a:srgbClr val="575757"/>
                      </a:solidFill>
                    </a:rPr>
                    <a:t>金額</a:t>
                  </a:r>
                  <a:endParaRPr lang="en-US" sz="900">
                    <a:solidFill>
                      <a:srgbClr val="575757"/>
                    </a:solidFill>
                  </a:endParaRPr>
                </a:p>
              </p:txBody>
            </p:sp>
          </p:grpSp>
          <p:grpSp>
            <p:nvGrpSpPr>
              <p:cNvPr id="66" name="Group 65"/>
              <p:cNvGrpSpPr/>
              <p:nvPr/>
            </p:nvGrpSpPr>
            <p:grpSpPr>
              <a:xfrm>
                <a:off x="8115299" y="5566872"/>
                <a:ext cx="1420043" cy="749300"/>
                <a:chOff x="8115299" y="5566872"/>
                <a:chExt cx="1420043" cy="749300"/>
              </a:xfrm>
            </p:grpSpPr>
            <p:sp>
              <p:nvSpPr>
                <p:cNvPr id="27" name="Rounded Rectangle 26"/>
                <p:cNvSpPr/>
                <p:nvPr/>
              </p:nvSpPr>
              <p:spPr>
                <a:xfrm>
                  <a:off x="8115299" y="5566872"/>
                  <a:ext cx="1344742" cy="749300"/>
                </a:xfrm>
                <a:prstGeom prst="roundRect">
                  <a:avLst/>
                </a:prstGeom>
                <a:solidFill>
                  <a:srgbClr val="C8C8C8"/>
                </a:solidFill>
                <a:ln w="9525" cap="rnd" cmpd="sng" algn="ctr">
                  <a:solidFill>
                    <a:srgbClr val="FFFFFF"/>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spcAft>
                      <a:spcPts val="1000"/>
                    </a:spcAft>
                  </a:pPr>
                  <a:endParaRPr lang="en-US" sz="1200" err="1">
                    <a:solidFill>
                      <a:srgbClr val="FFFFFF"/>
                    </a:solidFill>
                  </a:endParaRPr>
                </a:p>
              </p:txBody>
            </p:sp>
            <p:sp>
              <p:nvSpPr>
                <p:cNvPr id="28" name="Rounded Rectangle 27"/>
                <p:cNvSpPr/>
                <p:nvPr/>
              </p:nvSpPr>
              <p:spPr>
                <a:xfrm>
                  <a:off x="8191500" y="6044546"/>
                  <a:ext cx="624237" cy="183438"/>
                </a:xfrm>
                <a:prstGeom prst="roundRect">
                  <a:avLst/>
                </a:prstGeom>
                <a:solidFill>
                  <a:srgbClr val="FFFFFF"/>
                </a:solidFill>
                <a:ln w="9525" cap="rnd" cmpd="sng" algn="ctr">
                  <a:solidFill>
                    <a:srgbClr val="FFFFFF"/>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1000"/>
                    </a:spcAft>
                  </a:pPr>
                  <a:r>
                    <a:rPr lang="en-US" sz="1200">
                      <a:solidFill>
                        <a:srgbClr val="575757"/>
                      </a:solidFill>
                    </a:rPr>
                    <a:t>***</a:t>
                  </a:r>
                </a:p>
              </p:txBody>
            </p:sp>
            <p:sp>
              <p:nvSpPr>
                <p:cNvPr id="35" name="TextBox 34"/>
                <p:cNvSpPr txBox="1"/>
                <p:nvPr/>
              </p:nvSpPr>
              <p:spPr>
                <a:xfrm>
                  <a:off x="8803037" y="6044546"/>
                  <a:ext cx="467963" cy="183438"/>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100">
                      <a:solidFill>
                        <a:srgbClr val="FFFFFF"/>
                      </a:solidFill>
                    </a:rPr>
                    <a:t>客戶</a:t>
                  </a:r>
                  <a:endParaRPr lang="en-US" sz="1100" err="1">
                    <a:solidFill>
                      <a:srgbClr val="FFFFFF"/>
                    </a:solidFill>
                  </a:endParaRPr>
                </a:p>
              </p:txBody>
            </p:sp>
            <p:sp>
              <p:nvSpPr>
                <p:cNvPr id="55" name="TextBox 54"/>
                <p:cNvSpPr txBox="1"/>
                <p:nvPr/>
              </p:nvSpPr>
              <p:spPr>
                <a:xfrm>
                  <a:off x="8412512" y="5687460"/>
                  <a:ext cx="1122830" cy="330676"/>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altLang="zh-TW" sz="900">
                      <a:solidFill>
                        <a:srgbClr val="575757"/>
                      </a:solidFill>
                    </a:rPr>
                    <a:t>$</a:t>
                  </a:r>
                  <a:r>
                    <a:rPr lang="en-US" altLang="zh-CN" sz="900">
                      <a:solidFill>
                        <a:srgbClr val="575757"/>
                      </a:solidFill>
                    </a:rPr>
                    <a:t>10,000 </a:t>
                  </a:r>
                  <a:r>
                    <a:rPr lang="en-US" altLang="zh-TW" sz="900">
                      <a:solidFill>
                        <a:srgbClr val="575757"/>
                      </a:solidFill>
                    </a:rPr>
                    <a:t>&gt;</a:t>
                  </a:r>
                  <a:r>
                    <a:rPr lang="zh-TW" altLang="en-US" sz="900">
                      <a:solidFill>
                        <a:srgbClr val="575757"/>
                      </a:solidFill>
                    </a:rPr>
                    <a:t>當月產品</a:t>
                  </a:r>
                  <a:r>
                    <a:rPr lang="en-US" altLang="zh-TW" sz="900">
                      <a:solidFill>
                        <a:srgbClr val="575757"/>
                      </a:solidFill>
                    </a:rPr>
                    <a:t>A</a:t>
                  </a:r>
                  <a:r>
                    <a:rPr lang="zh-TW" altLang="en-US" sz="900">
                      <a:solidFill>
                        <a:srgbClr val="575757"/>
                      </a:solidFill>
                    </a:rPr>
                    <a:t>申購</a:t>
                  </a:r>
                  <a:r>
                    <a:rPr lang="zh-CN" altLang="en-US" sz="900">
                      <a:solidFill>
                        <a:srgbClr val="575757"/>
                      </a:solidFill>
                    </a:rPr>
                    <a:t>金額</a:t>
                  </a:r>
                  <a:endParaRPr lang="en-US" sz="900">
                    <a:solidFill>
                      <a:srgbClr val="575757"/>
                    </a:solidFill>
                  </a:endParaRPr>
                </a:p>
              </p:txBody>
            </p:sp>
          </p:grpSp>
        </p:grpSp>
      </p:grpSp>
      <p:sp>
        <p:nvSpPr>
          <p:cNvPr id="6" name="TextBox 5"/>
          <p:cNvSpPr txBox="1"/>
          <p:nvPr/>
        </p:nvSpPr>
        <p:spPr>
          <a:xfrm>
            <a:off x="5945689" y="2432390"/>
            <a:ext cx="2805777" cy="251385"/>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200">
                <a:solidFill>
                  <a:srgbClr val="FFFFFF"/>
                </a:solidFill>
              </a:rPr>
              <a:t>特定分行</a:t>
            </a:r>
            <a:r>
              <a:rPr lang="zh-CN" altLang="en-US" sz="1200">
                <a:solidFill>
                  <a:srgbClr val="FFFFFF"/>
                </a:solidFill>
              </a:rPr>
              <a:t>購買</a:t>
            </a:r>
            <a:r>
              <a:rPr lang="zh-TW" altLang="en-US" sz="1200">
                <a:solidFill>
                  <a:srgbClr val="FFFFFF"/>
                </a:solidFill>
              </a:rPr>
              <a:t>某理財產品</a:t>
            </a:r>
            <a:r>
              <a:rPr lang="en-US" altLang="zh-TW" sz="1200">
                <a:solidFill>
                  <a:srgbClr val="FFFFFF"/>
                </a:solidFill>
              </a:rPr>
              <a:t>A</a:t>
            </a:r>
            <a:r>
              <a:rPr lang="zh-TW" altLang="en-US" sz="1200">
                <a:solidFill>
                  <a:srgbClr val="FFFFFF"/>
                </a:solidFill>
              </a:rPr>
              <a:t>的</a:t>
            </a:r>
            <a:r>
              <a:rPr lang="zh-CN" altLang="en-US" sz="1200">
                <a:solidFill>
                  <a:srgbClr val="FFFFFF"/>
                </a:solidFill>
              </a:rPr>
              <a:t>金額</a:t>
            </a:r>
            <a:r>
              <a:rPr lang="zh-TW" altLang="en-US" sz="1200">
                <a:solidFill>
                  <a:srgbClr val="FFFFFF"/>
                </a:solidFill>
              </a:rPr>
              <a:t>分析</a:t>
            </a:r>
            <a:endParaRPr lang="en-US" sz="1200" err="1">
              <a:solidFill>
                <a:srgbClr val="FFFFFF"/>
              </a:solidFill>
            </a:endParaRPr>
          </a:p>
        </p:txBody>
      </p:sp>
      <p:grpSp>
        <p:nvGrpSpPr>
          <p:cNvPr id="75" name="Group 74"/>
          <p:cNvGrpSpPr>
            <a:grpSpLocks noChangeAspect="1"/>
          </p:cNvGrpSpPr>
          <p:nvPr/>
        </p:nvGrpSpPr>
        <p:grpSpPr>
          <a:xfrm>
            <a:off x="6975759" y="4951047"/>
            <a:ext cx="290163" cy="290163"/>
            <a:chOff x="6299993" y="2600325"/>
            <a:chExt cx="1657350" cy="1657350"/>
          </a:xfrm>
        </p:grpSpPr>
        <p:sp>
          <p:nvSpPr>
            <p:cNvPr id="76" name="AutoShape 9"/>
            <p:cNvSpPr>
              <a:spLocks noChangeAspect="1" noChangeArrowheads="1" noTextEdit="1"/>
            </p:cNvSpPr>
            <p:nvPr/>
          </p:nvSpPr>
          <p:spPr bwMode="auto">
            <a:xfrm>
              <a:off x="6299993" y="2600325"/>
              <a:ext cx="1657350" cy="1657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76"/>
            <p:cNvSpPr>
              <a:spLocks/>
            </p:cNvSpPr>
            <p:nvPr/>
          </p:nvSpPr>
          <p:spPr bwMode="auto">
            <a:xfrm>
              <a:off x="6471443" y="2771775"/>
              <a:ext cx="1314451" cy="1082675"/>
            </a:xfrm>
            <a:custGeom>
              <a:avLst/>
              <a:gdLst>
                <a:gd name="connsiteX0" fmla="*/ 589643 w 1314451"/>
                <a:gd name="connsiteY0" fmla="*/ 765175 h 1082675"/>
                <a:gd name="connsiteX1" fmla="*/ 602602 w 1314451"/>
                <a:gd name="connsiteY1" fmla="*/ 811972 h 1082675"/>
                <a:gd name="connsiteX2" fmla="*/ 514768 w 1314451"/>
                <a:gd name="connsiteY2" fmla="*/ 917086 h 1082675"/>
                <a:gd name="connsiteX3" fmla="*/ 233986 w 1314451"/>
                <a:gd name="connsiteY3" fmla="*/ 1016439 h 1082675"/>
                <a:gd name="connsiteX4" fmla="*/ 47517 w 1314451"/>
                <a:gd name="connsiteY4" fmla="*/ 1016439 h 1082675"/>
                <a:gd name="connsiteX5" fmla="*/ 31678 w 1314451"/>
                <a:gd name="connsiteY5" fmla="*/ 1033718 h 1082675"/>
                <a:gd name="connsiteX6" fmla="*/ 47517 w 1314451"/>
                <a:gd name="connsiteY6" fmla="*/ 1050997 h 1082675"/>
                <a:gd name="connsiteX7" fmla="*/ 233986 w 1314451"/>
                <a:gd name="connsiteY7" fmla="*/ 1050997 h 1082675"/>
                <a:gd name="connsiteX8" fmla="*/ 534207 w 1314451"/>
                <a:gd name="connsiteY8" fmla="*/ 944444 h 1082675"/>
                <a:gd name="connsiteX9" fmla="*/ 617721 w 1314451"/>
                <a:gd name="connsiteY9" fmla="*/ 849410 h 1082675"/>
                <a:gd name="connsiteX10" fmla="*/ 631400 w 1314451"/>
                <a:gd name="connsiteY10" fmla="*/ 876048 h 1082675"/>
                <a:gd name="connsiteX11" fmla="*/ 635000 w 1314451"/>
                <a:gd name="connsiteY11" fmla="*/ 881088 h 1082675"/>
                <a:gd name="connsiteX12" fmla="*/ 554365 w 1314451"/>
                <a:gd name="connsiteY12" fmla="*/ 968922 h 1082675"/>
                <a:gd name="connsiteX13" fmla="*/ 233986 w 1314451"/>
                <a:gd name="connsiteY13" fmla="*/ 1082675 h 1082675"/>
                <a:gd name="connsiteX14" fmla="*/ 47517 w 1314451"/>
                <a:gd name="connsiteY14" fmla="*/ 1082675 h 1082675"/>
                <a:gd name="connsiteX15" fmla="*/ 0 w 1314451"/>
                <a:gd name="connsiteY15" fmla="*/ 1033718 h 1082675"/>
                <a:gd name="connsiteX16" fmla="*/ 47517 w 1314451"/>
                <a:gd name="connsiteY16" fmla="*/ 984761 h 1082675"/>
                <a:gd name="connsiteX17" fmla="*/ 233986 w 1314451"/>
                <a:gd name="connsiteY17" fmla="*/ 984761 h 1082675"/>
                <a:gd name="connsiteX18" fmla="*/ 494609 w 1314451"/>
                <a:gd name="connsiteY18" fmla="*/ 892607 h 1082675"/>
                <a:gd name="connsiteX19" fmla="*/ 589643 w 1314451"/>
                <a:gd name="connsiteY19" fmla="*/ 765175 h 1082675"/>
                <a:gd name="connsiteX20" fmla="*/ 1031098 w 1314451"/>
                <a:gd name="connsiteY20" fmla="*/ 0 h 1082675"/>
                <a:gd name="connsiteX21" fmla="*/ 1064180 w 1314451"/>
                <a:gd name="connsiteY21" fmla="*/ 13671 h 1082675"/>
                <a:gd name="connsiteX22" fmla="*/ 1300068 w 1314451"/>
                <a:gd name="connsiteY22" fmla="*/ 245369 h 1082675"/>
                <a:gd name="connsiteX23" fmla="*/ 1300068 w 1314451"/>
                <a:gd name="connsiteY23" fmla="*/ 246089 h 1082675"/>
                <a:gd name="connsiteX24" fmla="*/ 1302225 w 1314451"/>
                <a:gd name="connsiteY24" fmla="*/ 248247 h 1082675"/>
                <a:gd name="connsiteX25" fmla="*/ 1303664 w 1314451"/>
                <a:gd name="connsiteY25" fmla="*/ 249687 h 1082675"/>
                <a:gd name="connsiteX26" fmla="*/ 1305102 w 1314451"/>
                <a:gd name="connsiteY26" fmla="*/ 251845 h 1082675"/>
                <a:gd name="connsiteX27" fmla="*/ 1305821 w 1314451"/>
                <a:gd name="connsiteY27" fmla="*/ 253284 h 1082675"/>
                <a:gd name="connsiteX28" fmla="*/ 1307979 w 1314451"/>
                <a:gd name="connsiteY28" fmla="*/ 256882 h 1082675"/>
                <a:gd name="connsiteX29" fmla="*/ 1308698 w 1314451"/>
                <a:gd name="connsiteY29" fmla="*/ 257602 h 1082675"/>
                <a:gd name="connsiteX30" fmla="*/ 1314451 w 1314451"/>
                <a:gd name="connsiteY30" fmla="*/ 281347 h 1082675"/>
                <a:gd name="connsiteX31" fmla="*/ 1308698 w 1314451"/>
                <a:gd name="connsiteY31" fmla="*/ 304373 h 1082675"/>
                <a:gd name="connsiteX32" fmla="*/ 1307979 w 1314451"/>
                <a:gd name="connsiteY32" fmla="*/ 305812 h 1082675"/>
                <a:gd name="connsiteX33" fmla="*/ 1305821 w 1314451"/>
                <a:gd name="connsiteY33" fmla="*/ 308690 h 1082675"/>
                <a:gd name="connsiteX34" fmla="*/ 1305102 w 1314451"/>
                <a:gd name="connsiteY34" fmla="*/ 310129 h 1082675"/>
                <a:gd name="connsiteX35" fmla="*/ 1303664 w 1314451"/>
                <a:gd name="connsiteY35" fmla="*/ 312288 h 1082675"/>
                <a:gd name="connsiteX36" fmla="*/ 1302225 w 1314451"/>
                <a:gd name="connsiteY36" fmla="*/ 313727 h 1082675"/>
                <a:gd name="connsiteX37" fmla="*/ 1300068 w 1314451"/>
                <a:gd name="connsiteY37" fmla="*/ 315886 h 1082675"/>
                <a:gd name="connsiteX38" fmla="*/ 1300068 w 1314451"/>
                <a:gd name="connsiteY38" fmla="*/ 316605 h 1082675"/>
                <a:gd name="connsiteX39" fmla="*/ 1064180 w 1314451"/>
                <a:gd name="connsiteY39" fmla="*/ 548303 h 1082675"/>
                <a:gd name="connsiteX40" fmla="*/ 1031098 w 1314451"/>
                <a:gd name="connsiteY40" fmla="*/ 561975 h 1082675"/>
                <a:gd name="connsiteX41" fmla="*/ 997297 w 1314451"/>
                <a:gd name="connsiteY41" fmla="*/ 546864 h 1082675"/>
                <a:gd name="connsiteX42" fmla="*/ 998736 w 1314451"/>
                <a:gd name="connsiteY42" fmla="*/ 477787 h 1082675"/>
                <a:gd name="connsiteX43" fmla="*/ 1149042 w 1314451"/>
                <a:gd name="connsiteY43" fmla="*/ 330277 h 1082675"/>
                <a:gd name="connsiteX44" fmla="*/ 1065618 w 1314451"/>
                <a:gd name="connsiteY44" fmla="*/ 330277 h 1082675"/>
                <a:gd name="connsiteX45" fmla="*/ 850587 w 1314451"/>
                <a:gd name="connsiteY45" fmla="*/ 391440 h 1082675"/>
                <a:gd name="connsiteX46" fmla="*/ 721136 w 1314451"/>
                <a:gd name="connsiteY46" fmla="*/ 547584 h 1082675"/>
                <a:gd name="connsiteX47" fmla="*/ 706033 w 1314451"/>
                <a:gd name="connsiteY47" fmla="*/ 500812 h 1082675"/>
                <a:gd name="connsiteX48" fmla="*/ 833326 w 1314451"/>
                <a:gd name="connsiteY48" fmla="*/ 364816 h 1082675"/>
                <a:gd name="connsiteX49" fmla="*/ 1065618 w 1314451"/>
                <a:gd name="connsiteY49" fmla="*/ 298617 h 1082675"/>
                <a:gd name="connsiteX50" fmla="*/ 1149042 w 1314451"/>
                <a:gd name="connsiteY50" fmla="*/ 298617 h 1082675"/>
                <a:gd name="connsiteX51" fmla="*/ 1177809 w 1314451"/>
                <a:gd name="connsiteY51" fmla="*/ 318045 h 1082675"/>
                <a:gd name="connsiteX52" fmla="*/ 1170617 w 1314451"/>
                <a:gd name="connsiteY52" fmla="*/ 352583 h 1082675"/>
                <a:gd name="connsiteX53" fmla="*/ 1021030 w 1314451"/>
                <a:gd name="connsiteY53" fmla="*/ 500093 h 1082675"/>
                <a:gd name="connsiteX54" fmla="*/ 1020311 w 1314451"/>
                <a:gd name="connsiteY54" fmla="*/ 525277 h 1082675"/>
                <a:gd name="connsiteX55" fmla="*/ 1031098 w 1314451"/>
                <a:gd name="connsiteY55" fmla="*/ 530314 h 1082675"/>
                <a:gd name="connsiteX56" fmla="*/ 1041886 w 1314451"/>
                <a:gd name="connsiteY56" fmla="*/ 525997 h 1082675"/>
                <a:gd name="connsiteX57" fmla="*/ 1277054 w 1314451"/>
                <a:gd name="connsiteY57" fmla="*/ 294299 h 1082675"/>
                <a:gd name="connsiteX58" fmla="*/ 1277774 w 1314451"/>
                <a:gd name="connsiteY58" fmla="*/ 293580 h 1082675"/>
                <a:gd name="connsiteX59" fmla="*/ 1278493 w 1314451"/>
                <a:gd name="connsiteY59" fmla="*/ 293580 h 1082675"/>
                <a:gd name="connsiteX60" fmla="*/ 1278493 w 1314451"/>
                <a:gd name="connsiteY60" fmla="*/ 292860 h 1082675"/>
                <a:gd name="connsiteX61" fmla="*/ 1279212 w 1314451"/>
                <a:gd name="connsiteY61" fmla="*/ 292141 h 1082675"/>
                <a:gd name="connsiteX62" fmla="*/ 1279212 w 1314451"/>
                <a:gd name="connsiteY62" fmla="*/ 291421 h 1082675"/>
                <a:gd name="connsiteX63" fmla="*/ 1279931 w 1314451"/>
                <a:gd name="connsiteY63" fmla="*/ 290701 h 1082675"/>
                <a:gd name="connsiteX64" fmla="*/ 1280650 w 1314451"/>
                <a:gd name="connsiteY64" fmla="*/ 289982 h 1082675"/>
                <a:gd name="connsiteX65" fmla="*/ 1280650 w 1314451"/>
                <a:gd name="connsiteY65" fmla="*/ 289262 h 1082675"/>
                <a:gd name="connsiteX66" fmla="*/ 1282808 w 1314451"/>
                <a:gd name="connsiteY66" fmla="*/ 281347 h 1082675"/>
                <a:gd name="connsiteX67" fmla="*/ 1280650 w 1314451"/>
                <a:gd name="connsiteY67" fmla="*/ 272712 h 1082675"/>
                <a:gd name="connsiteX68" fmla="*/ 1280650 w 1314451"/>
                <a:gd name="connsiteY68" fmla="*/ 271993 h 1082675"/>
                <a:gd name="connsiteX69" fmla="*/ 1279931 w 1314451"/>
                <a:gd name="connsiteY69" fmla="*/ 271273 h 1082675"/>
                <a:gd name="connsiteX70" fmla="*/ 1279212 w 1314451"/>
                <a:gd name="connsiteY70" fmla="*/ 270554 h 1082675"/>
                <a:gd name="connsiteX71" fmla="*/ 1279212 w 1314451"/>
                <a:gd name="connsiteY71" fmla="*/ 269834 h 1082675"/>
                <a:gd name="connsiteX72" fmla="*/ 1278493 w 1314451"/>
                <a:gd name="connsiteY72" fmla="*/ 269115 h 1082675"/>
                <a:gd name="connsiteX73" fmla="*/ 1277774 w 1314451"/>
                <a:gd name="connsiteY73" fmla="*/ 268395 h 1082675"/>
                <a:gd name="connsiteX74" fmla="*/ 1277054 w 1314451"/>
                <a:gd name="connsiteY74" fmla="*/ 267676 h 1082675"/>
                <a:gd name="connsiteX75" fmla="*/ 1041886 w 1314451"/>
                <a:gd name="connsiteY75" fmla="*/ 35978 h 1082675"/>
                <a:gd name="connsiteX76" fmla="*/ 1031098 w 1314451"/>
                <a:gd name="connsiteY76" fmla="*/ 31660 h 1082675"/>
                <a:gd name="connsiteX77" fmla="*/ 1020311 w 1314451"/>
                <a:gd name="connsiteY77" fmla="*/ 36697 h 1082675"/>
                <a:gd name="connsiteX78" fmla="*/ 1021030 w 1314451"/>
                <a:gd name="connsiteY78" fmla="*/ 61882 h 1082675"/>
                <a:gd name="connsiteX79" fmla="*/ 1170617 w 1314451"/>
                <a:gd name="connsiteY79" fmla="*/ 209391 h 1082675"/>
                <a:gd name="connsiteX80" fmla="*/ 1177809 w 1314451"/>
                <a:gd name="connsiteY80" fmla="*/ 243930 h 1082675"/>
                <a:gd name="connsiteX81" fmla="*/ 1149042 w 1314451"/>
                <a:gd name="connsiteY81" fmla="*/ 264078 h 1082675"/>
                <a:gd name="connsiteX82" fmla="*/ 1065618 w 1314451"/>
                <a:gd name="connsiteY82" fmla="*/ 264078 h 1082675"/>
                <a:gd name="connsiteX83" fmla="*/ 817505 w 1314451"/>
                <a:gd name="connsiteY83" fmla="*/ 334594 h 1082675"/>
                <a:gd name="connsiteX84" fmla="*/ 689492 w 1314451"/>
                <a:gd name="connsiteY84" fmla="*/ 464115 h 1082675"/>
                <a:gd name="connsiteX85" fmla="*/ 671513 w 1314451"/>
                <a:gd name="connsiteY85" fmla="*/ 433174 h 1082675"/>
                <a:gd name="connsiteX86" fmla="*/ 800245 w 1314451"/>
                <a:gd name="connsiteY86" fmla="*/ 307971 h 1082675"/>
                <a:gd name="connsiteX87" fmla="*/ 1065618 w 1314451"/>
                <a:gd name="connsiteY87" fmla="*/ 232417 h 1082675"/>
                <a:gd name="connsiteX88" fmla="*/ 1149042 w 1314451"/>
                <a:gd name="connsiteY88" fmla="*/ 232417 h 1082675"/>
                <a:gd name="connsiteX89" fmla="*/ 998736 w 1314451"/>
                <a:gd name="connsiteY89" fmla="*/ 84188 h 1082675"/>
                <a:gd name="connsiteX90" fmla="*/ 997297 w 1314451"/>
                <a:gd name="connsiteY90" fmla="*/ 15111 h 1082675"/>
                <a:gd name="connsiteX91" fmla="*/ 1031098 w 1314451"/>
                <a:gd name="connsiteY91" fmla="*/ 0 h 1082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314451" h="1082675">
                  <a:moveTo>
                    <a:pt x="589643" y="765175"/>
                  </a:moveTo>
                  <a:cubicBezTo>
                    <a:pt x="593243" y="781014"/>
                    <a:pt x="597563" y="796133"/>
                    <a:pt x="602602" y="811972"/>
                  </a:cubicBezTo>
                  <a:cubicBezTo>
                    <a:pt x="581724" y="850850"/>
                    <a:pt x="552205" y="886128"/>
                    <a:pt x="514768" y="917086"/>
                  </a:cubicBezTo>
                  <a:cubicBezTo>
                    <a:pt x="437733" y="981162"/>
                    <a:pt x="337659" y="1016439"/>
                    <a:pt x="233986" y="1016439"/>
                  </a:cubicBezTo>
                  <a:cubicBezTo>
                    <a:pt x="233986" y="1016439"/>
                    <a:pt x="233986" y="1016439"/>
                    <a:pt x="47517" y="1016439"/>
                  </a:cubicBezTo>
                  <a:cubicBezTo>
                    <a:pt x="38878" y="1016439"/>
                    <a:pt x="31678" y="1024359"/>
                    <a:pt x="31678" y="1033718"/>
                  </a:cubicBezTo>
                  <a:cubicBezTo>
                    <a:pt x="31678" y="1043798"/>
                    <a:pt x="38878" y="1050997"/>
                    <a:pt x="47517" y="1050997"/>
                  </a:cubicBezTo>
                  <a:cubicBezTo>
                    <a:pt x="47517" y="1050997"/>
                    <a:pt x="47517" y="1050997"/>
                    <a:pt x="233986" y="1050997"/>
                  </a:cubicBezTo>
                  <a:cubicBezTo>
                    <a:pt x="344859" y="1050997"/>
                    <a:pt x="451412" y="1013559"/>
                    <a:pt x="534207" y="944444"/>
                  </a:cubicBezTo>
                  <a:cubicBezTo>
                    <a:pt x="568044" y="916366"/>
                    <a:pt x="596123" y="883968"/>
                    <a:pt x="617721" y="849410"/>
                  </a:cubicBezTo>
                  <a:cubicBezTo>
                    <a:pt x="622041" y="858049"/>
                    <a:pt x="627081" y="867409"/>
                    <a:pt x="631400" y="876048"/>
                  </a:cubicBezTo>
                  <a:cubicBezTo>
                    <a:pt x="632840" y="877488"/>
                    <a:pt x="633560" y="879648"/>
                    <a:pt x="635000" y="881088"/>
                  </a:cubicBezTo>
                  <a:cubicBezTo>
                    <a:pt x="612682" y="913486"/>
                    <a:pt x="586043" y="942284"/>
                    <a:pt x="554365" y="968922"/>
                  </a:cubicBezTo>
                  <a:cubicBezTo>
                    <a:pt x="465811" y="1042358"/>
                    <a:pt x="352058" y="1082675"/>
                    <a:pt x="233986" y="1082675"/>
                  </a:cubicBezTo>
                  <a:cubicBezTo>
                    <a:pt x="233986" y="1082675"/>
                    <a:pt x="233986" y="1082675"/>
                    <a:pt x="47517" y="1082675"/>
                  </a:cubicBezTo>
                  <a:cubicBezTo>
                    <a:pt x="21599" y="1082675"/>
                    <a:pt x="0" y="1061077"/>
                    <a:pt x="0" y="1033718"/>
                  </a:cubicBezTo>
                  <a:cubicBezTo>
                    <a:pt x="0" y="1007080"/>
                    <a:pt x="21599" y="984761"/>
                    <a:pt x="47517" y="984761"/>
                  </a:cubicBezTo>
                  <a:cubicBezTo>
                    <a:pt x="47517" y="984761"/>
                    <a:pt x="47517" y="984761"/>
                    <a:pt x="233986" y="984761"/>
                  </a:cubicBezTo>
                  <a:cubicBezTo>
                    <a:pt x="330459" y="984761"/>
                    <a:pt x="423334" y="952363"/>
                    <a:pt x="494609" y="892607"/>
                  </a:cubicBezTo>
                  <a:cubicBezTo>
                    <a:pt x="539246" y="855889"/>
                    <a:pt x="570924" y="813412"/>
                    <a:pt x="589643" y="765175"/>
                  </a:cubicBezTo>
                  <a:close/>
                  <a:moveTo>
                    <a:pt x="1031098" y="0"/>
                  </a:moveTo>
                  <a:cubicBezTo>
                    <a:pt x="1043324" y="0"/>
                    <a:pt x="1054831" y="4317"/>
                    <a:pt x="1064180" y="13671"/>
                  </a:cubicBezTo>
                  <a:cubicBezTo>
                    <a:pt x="1064180" y="13671"/>
                    <a:pt x="1064180" y="13671"/>
                    <a:pt x="1300068" y="245369"/>
                  </a:cubicBezTo>
                  <a:cubicBezTo>
                    <a:pt x="1300068" y="246089"/>
                    <a:pt x="1300068" y="246089"/>
                    <a:pt x="1300068" y="246089"/>
                  </a:cubicBezTo>
                  <a:cubicBezTo>
                    <a:pt x="1300787" y="246808"/>
                    <a:pt x="1301506" y="247528"/>
                    <a:pt x="1302225" y="248247"/>
                  </a:cubicBezTo>
                  <a:cubicBezTo>
                    <a:pt x="1302225" y="248967"/>
                    <a:pt x="1302944" y="248967"/>
                    <a:pt x="1303664" y="249687"/>
                  </a:cubicBezTo>
                  <a:cubicBezTo>
                    <a:pt x="1303664" y="250406"/>
                    <a:pt x="1304383" y="251126"/>
                    <a:pt x="1305102" y="251845"/>
                  </a:cubicBezTo>
                  <a:cubicBezTo>
                    <a:pt x="1305102" y="252565"/>
                    <a:pt x="1305821" y="253284"/>
                    <a:pt x="1305821" y="253284"/>
                  </a:cubicBezTo>
                  <a:cubicBezTo>
                    <a:pt x="1306540" y="254723"/>
                    <a:pt x="1307260" y="255443"/>
                    <a:pt x="1307979" y="256882"/>
                  </a:cubicBezTo>
                  <a:cubicBezTo>
                    <a:pt x="1307979" y="256882"/>
                    <a:pt x="1308698" y="256882"/>
                    <a:pt x="1308698" y="257602"/>
                  </a:cubicBezTo>
                  <a:cubicBezTo>
                    <a:pt x="1312294" y="264797"/>
                    <a:pt x="1314451" y="272712"/>
                    <a:pt x="1314451" y="281347"/>
                  </a:cubicBezTo>
                  <a:cubicBezTo>
                    <a:pt x="1314451" y="289982"/>
                    <a:pt x="1312294" y="297897"/>
                    <a:pt x="1308698" y="304373"/>
                  </a:cubicBezTo>
                  <a:cubicBezTo>
                    <a:pt x="1308698" y="305093"/>
                    <a:pt x="1307979" y="305093"/>
                    <a:pt x="1307979" y="305812"/>
                  </a:cubicBezTo>
                  <a:cubicBezTo>
                    <a:pt x="1307260" y="306532"/>
                    <a:pt x="1306540" y="307971"/>
                    <a:pt x="1305821" y="308690"/>
                  </a:cubicBezTo>
                  <a:cubicBezTo>
                    <a:pt x="1305821" y="309410"/>
                    <a:pt x="1305102" y="309410"/>
                    <a:pt x="1305102" y="310129"/>
                  </a:cubicBezTo>
                  <a:cubicBezTo>
                    <a:pt x="1304383" y="310849"/>
                    <a:pt x="1303664" y="311569"/>
                    <a:pt x="1303664" y="312288"/>
                  </a:cubicBezTo>
                  <a:cubicBezTo>
                    <a:pt x="1302944" y="313008"/>
                    <a:pt x="1302225" y="313727"/>
                    <a:pt x="1302225" y="313727"/>
                  </a:cubicBezTo>
                  <a:cubicBezTo>
                    <a:pt x="1301506" y="314447"/>
                    <a:pt x="1300787" y="315166"/>
                    <a:pt x="1300068" y="315886"/>
                  </a:cubicBezTo>
                  <a:cubicBezTo>
                    <a:pt x="1300068" y="315886"/>
                    <a:pt x="1300068" y="316605"/>
                    <a:pt x="1300068" y="316605"/>
                  </a:cubicBezTo>
                  <a:cubicBezTo>
                    <a:pt x="1300068" y="316605"/>
                    <a:pt x="1300068" y="316605"/>
                    <a:pt x="1064180" y="548303"/>
                  </a:cubicBezTo>
                  <a:cubicBezTo>
                    <a:pt x="1054831" y="557657"/>
                    <a:pt x="1043324" y="561975"/>
                    <a:pt x="1031098" y="561975"/>
                  </a:cubicBezTo>
                  <a:cubicBezTo>
                    <a:pt x="1018872" y="561975"/>
                    <a:pt x="1006646" y="556938"/>
                    <a:pt x="997297" y="546864"/>
                  </a:cubicBezTo>
                  <a:cubicBezTo>
                    <a:pt x="979318" y="527436"/>
                    <a:pt x="980037" y="496495"/>
                    <a:pt x="998736" y="477787"/>
                  </a:cubicBezTo>
                  <a:cubicBezTo>
                    <a:pt x="998736" y="477787"/>
                    <a:pt x="998736" y="477787"/>
                    <a:pt x="1149042" y="330277"/>
                  </a:cubicBezTo>
                  <a:cubicBezTo>
                    <a:pt x="1149042" y="330277"/>
                    <a:pt x="1149042" y="330277"/>
                    <a:pt x="1065618" y="330277"/>
                  </a:cubicBezTo>
                  <a:cubicBezTo>
                    <a:pt x="987948" y="330277"/>
                    <a:pt x="913154" y="351144"/>
                    <a:pt x="850587" y="391440"/>
                  </a:cubicBezTo>
                  <a:cubicBezTo>
                    <a:pt x="785861" y="432454"/>
                    <a:pt x="742711" y="484263"/>
                    <a:pt x="721136" y="547584"/>
                  </a:cubicBezTo>
                  <a:cubicBezTo>
                    <a:pt x="716821" y="531753"/>
                    <a:pt x="711787" y="515923"/>
                    <a:pt x="706033" y="500812"/>
                  </a:cubicBezTo>
                  <a:cubicBezTo>
                    <a:pt x="732643" y="447565"/>
                    <a:pt x="775074" y="401513"/>
                    <a:pt x="833326" y="364816"/>
                  </a:cubicBezTo>
                  <a:cubicBezTo>
                    <a:pt x="901648" y="320923"/>
                    <a:pt x="981476" y="298617"/>
                    <a:pt x="1065618" y="298617"/>
                  </a:cubicBezTo>
                  <a:cubicBezTo>
                    <a:pt x="1065618" y="298617"/>
                    <a:pt x="1065618" y="298617"/>
                    <a:pt x="1149042" y="298617"/>
                  </a:cubicBezTo>
                  <a:cubicBezTo>
                    <a:pt x="1161268" y="298617"/>
                    <a:pt x="1173494" y="305812"/>
                    <a:pt x="1177809" y="318045"/>
                  </a:cubicBezTo>
                  <a:cubicBezTo>
                    <a:pt x="1182843" y="329558"/>
                    <a:pt x="1179966" y="343229"/>
                    <a:pt x="1170617" y="352583"/>
                  </a:cubicBezTo>
                  <a:cubicBezTo>
                    <a:pt x="1170617" y="352583"/>
                    <a:pt x="1170617" y="352583"/>
                    <a:pt x="1021030" y="500093"/>
                  </a:cubicBezTo>
                  <a:cubicBezTo>
                    <a:pt x="1013838" y="507288"/>
                    <a:pt x="1013838" y="518801"/>
                    <a:pt x="1020311" y="525277"/>
                  </a:cubicBezTo>
                  <a:cubicBezTo>
                    <a:pt x="1023187" y="528875"/>
                    <a:pt x="1027502" y="530314"/>
                    <a:pt x="1031098" y="530314"/>
                  </a:cubicBezTo>
                  <a:cubicBezTo>
                    <a:pt x="1033975" y="530314"/>
                    <a:pt x="1038290" y="529595"/>
                    <a:pt x="1041886" y="525997"/>
                  </a:cubicBezTo>
                  <a:cubicBezTo>
                    <a:pt x="1041886" y="525997"/>
                    <a:pt x="1041886" y="525997"/>
                    <a:pt x="1277054" y="294299"/>
                  </a:cubicBezTo>
                  <a:cubicBezTo>
                    <a:pt x="1277054" y="294299"/>
                    <a:pt x="1277054" y="294299"/>
                    <a:pt x="1277774" y="293580"/>
                  </a:cubicBezTo>
                  <a:cubicBezTo>
                    <a:pt x="1277774" y="293580"/>
                    <a:pt x="1277774" y="293580"/>
                    <a:pt x="1278493" y="293580"/>
                  </a:cubicBezTo>
                  <a:cubicBezTo>
                    <a:pt x="1278493" y="293580"/>
                    <a:pt x="1278493" y="293580"/>
                    <a:pt x="1278493" y="292860"/>
                  </a:cubicBezTo>
                  <a:cubicBezTo>
                    <a:pt x="1278493" y="292860"/>
                    <a:pt x="1278493" y="292860"/>
                    <a:pt x="1279212" y="292141"/>
                  </a:cubicBezTo>
                  <a:cubicBezTo>
                    <a:pt x="1279212" y="292141"/>
                    <a:pt x="1279212" y="292141"/>
                    <a:pt x="1279212" y="291421"/>
                  </a:cubicBezTo>
                  <a:cubicBezTo>
                    <a:pt x="1279931" y="291421"/>
                    <a:pt x="1279931" y="291421"/>
                    <a:pt x="1279931" y="290701"/>
                  </a:cubicBezTo>
                  <a:cubicBezTo>
                    <a:pt x="1279931" y="290701"/>
                    <a:pt x="1279931" y="290701"/>
                    <a:pt x="1280650" y="289982"/>
                  </a:cubicBezTo>
                  <a:cubicBezTo>
                    <a:pt x="1280650" y="289982"/>
                    <a:pt x="1280650" y="289262"/>
                    <a:pt x="1280650" y="289262"/>
                  </a:cubicBezTo>
                  <a:cubicBezTo>
                    <a:pt x="1282089" y="286384"/>
                    <a:pt x="1282808" y="284225"/>
                    <a:pt x="1282808" y="281347"/>
                  </a:cubicBezTo>
                  <a:cubicBezTo>
                    <a:pt x="1282808" y="278469"/>
                    <a:pt x="1282089" y="275591"/>
                    <a:pt x="1280650" y="272712"/>
                  </a:cubicBezTo>
                  <a:cubicBezTo>
                    <a:pt x="1280650" y="272712"/>
                    <a:pt x="1280650" y="271993"/>
                    <a:pt x="1280650" y="271993"/>
                  </a:cubicBezTo>
                  <a:cubicBezTo>
                    <a:pt x="1279931" y="271993"/>
                    <a:pt x="1279931" y="271273"/>
                    <a:pt x="1279931" y="271273"/>
                  </a:cubicBezTo>
                  <a:cubicBezTo>
                    <a:pt x="1279931" y="271273"/>
                    <a:pt x="1279931" y="270554"/>
                    <a:pt x="1279212" y="270554"/>
                  </a:cubicBezTo>
                  <a:cubicBezTo>
                    <a:pt x="1279212" y="269834"/>
                    <a:pt x="1279212" y="269834"/>
                    <a:pt x="1279212" y="269834"/>
                  </a:cubicBezTo>
                  <a:cubicBezTo>
                    <a:pt x="1279212" y="269834"/>
                    <a:pt x="1279212" y="269834"/>
                    <a:pt x="1278493" y="269115"/>
                  </a:cubicBezTo>
                  <a:cubicBezTo>
                    <a:pt x="1277774" y="268395"/>
                    <a:pt x="1277774" y="268395"/>
                    <a:pt x="1277774" y="268395"/>
                  </a:cubicBezTo>
                  <a:cubicBezTo>
                    <a:pt x="1277054" y="268395"/>
                    <a:pt x="1277054" y="267676"/>
                    <a:pt x="1277054" y="267676"/>
                  </a:cubicBezTo>
                  <a:cubicBezTo>
                    <a:pt x="1277054" y="267676"/>
                    <a:pt x="1277054" y="267676"/>
                    <a:pt x="1041886" y="35978"/>
                  </a:cubicBezTo>
                  <a:cubicBezTo>
                    <a:pt x="1038290" y="32380"/>
                    <a:pt x="1033975" y="31660"/>
                    <a:pt x="1031098" y="31660"/>
                  </a:cubicBezTo>
                  <a:cubicBezTo>
                    <a:pt x="1027502" y="31660"/>
                    <a:pt x="1023187" y="33100"/>
                    <a:pt x="1020311" y="36697"/>
                  </a:cubicBezTo>
                  <a:cubicBezTo>
                    <a:pt x="1013838" y="43893"/>
                    <a:pt x="1013838" y="55406"/>
                    <a:pt x="1021030" y="61882"/>
                  </a:cubicBezTo>
                  <a:cubicBezTo>
                    <a:pt x="1021030" y="61882"/>
                    <a:pt x="1021030" y="61882"/>
                    <a:pt x="1170617" y="209391"/>
                  </a:cubicBezTo>
                  <a:cubicBezTo>
                    <a:pt x="1179966" y="218746"/>
                    <a:pt x="1182843" y="232417"/>
                    <a:pt x="1177809" y="243930"/>
                  </a:cubicBezTo>
                  <a:cubicBezTo>
                    <a:pt x="1173494" y="256163"/>
                    <a:pt x="1161268" y="264078"/>
                    <a:pt x="1149042" y="264078"/>
                  </a:cubicBezTo>
                  <a:cubicBezTo>
                    <a:pt x="1149042" y="264078"/>
                    <a:pt x="1149042" y="264078"/>
                    <a:pt x="1065618" y="264078"/>
                  </a:cubicBezTo>
                  <a:cubicBezTo>
                    <a:pt x="976441" y="264078"/>
                    <a:pt x="890141" y="288543"/>
                    <a:pt x="817505" y="334594"/>
                  </a:cubicBezTo>
                  <a:cubicBezTo>
                    <a:pt x="762129" y="369853"/>
                    <a:pt x="718978" y="413746"/>
                    <a:pt x="689492" y="464115"/>
                  </a:cubicBezTo>
                  <a:cubicBezTo>
                    <a:pt x="683739" y="454041"/>
                    <a:pt x="677986" y="443248"/>
                    <a:pt x="671513" y="433174"/>
                  </a:cubicBezTo>
                  <a:cubicBezTo>
                    <a:pt x="703157" y="384964"/>
                    <a:pt x="746307" y="342510"/>
                    <a:pt x="800245" y="307971"/>
                  </a:cubicBezTo>
                  <a:cubicBezTo>
                    <a:pt x="878634" y="258321"/>
                    <a:pt x="969969" y="232417"/>
                    <a:pt x="1065618" y="232417"/>
                  </a:cubicBezTo>
                  <a:cubicBezTo>
                    <a:pt x="1065618" y="232417"/>
                    <a:pt x="1065618" y="232417"/>
                    <a:pt x="1149042" y="232417"/>
                  </a:cubicBezTo>
                  <a:cubicBezTo>
                    <a:pt x="1149042" y="232417"/>
                    <a:pt x="1149042" y="232417"/>
                    <a:pt x="998736" y="84188"/>
                  </a:cubicBezTo>
                  <a:cubicBezTo>
                    <a:pt x="980037" y="65480"/>
                    <a:pt x="979318" y="34539"/>
                    <a:pt x="997297" y="15111"/>
                  </a:cubicBezTo>
                  <a:cubicBezTo>
                    <a:pt x="1006646" y="5037"/>
                    <a:pt x="1018872" y="0"/>
                    <a:pt x="1031098" y="0"/>
                  </a:cubicBez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78" name="Freeform 13"/>
            <p:cNvSpPr>
              <a:spLocks/>
            </p:cNvSpPr>
            <p:nvPr/>
          </p:nvSpPr>
          <p:spPr bwMode="auto">
            <a:xfrm>
              <a:off x="6471443" y="3005138"/>
              <a:ext cx="1314450" cy="1082675"/>
            </a:xfrm>
            <a:custGeom>
              <a:avLst/>
              <a:gdLst>
                <a:gd name="T0" fmla="*/ 1820 w 1828"/>
                <a:gd name="T1" fmla="*/ 1082 h 1505"/>
                <a:gd name="T2" fmla="*/ 1819 w 1828"/>
                <a:gd name="T3" fmla="*/ 1080 h 1505"/>
                <a:gd name="T4" fmla="*/ 1816 w 1828"/>
                <a:gd name="T5" fmla="*/ 1076 h 1505"/>
                <a:gd name="T6" fmla="*/ 1815 w 1828"/>
                <a:gd name="T7" fmla="*/ 1074 h 1505"/>
                <a:gd name="T8" fmla="*/ 1813 w 1828"/>
                <a:gd name="T9" fmla="*/ 1071 h 1505"/>
                <a:gd name="T10" fmla="*/ 1811 w 1828"/>
                <a:gd name="T11" fmla="*/ 1069 h 1505"/>
                <a:gd name="T12" fmla="*/ 1808 w 1828"/>
                <a:gd name="T13" fmla="*/ 1066 h 1505"/>
                <a:gd name="T14" fmla="*/ 1808 w 1828"/>
                <a:gd name="T15" fmla="*/ 1065 h 1505"/>
                <a:gd name="T16" fmla="*/ 1480 w 1828"/>
                <a:gd name="T17" fmla="*/ 743 h 1505"/>
                <a:gd name="T18" fmla="*/ 1434 w 1828"/>
                <a:gd name="T19" fmla="*/ 724 h 1505"/>
                <a:gd name="T20" fmla="*/ 1387 w 1828"/>
                <a:gd name="T21" fmla="*/ 745 h 1505"/>
                <a:gd name="T22" fmla="*/ 1389 w 1828"/>
                <a:gd name="T23" fmla="*/ 841 h 1505"/>
                <a:gd name="T24" fmla="*/ 1598 w 1828"/>
                <a:gd name="T25" fmla="*/ 1046 h 1505"/>
                <a:gd name="T26" fmla="*/ 1482 w 1828"/>
                <a:gd name="T27" fmla="*/ 1046 h 1505"/>
                <a:gd name="T28" fmla="*/ 1183 w 1828"/>
                <a:gd name="T29" fmla="*/ 961 h 1505"/>
                <a:gd name="T30" fmla="*/ 980 w 1828"/>
                <a:gd name="T31" fmla="*/ 602 h 1505"/>
                <a:gd name="T32" fmla="*/ 980 w 1828"/>
                <a:gd name="T33" fmla="*/ 591 h 1505"/>
                <a:gd name="T34" fmla="*/ 957 w 1828"/>
                <a:gd name="T35" fmla="*/ 436 h 1505"/>
                <a:gd name="T36" fmla="*/ 933 w 1828"/>
                <a:gd name="T37" fmla="*/ 372 h 1505"/>
                <a:gd name="T38" fmla="*/ 908 w 1828"/>
                <a:gd name="T39" fmla="*/ 322 h 1505"/>
                <a:gd name="T40" fmla="*/ 770 w 1828"/>
                <a:gd name="T41" fmla="*/ 158 h 1505"/>
                <a:gd name="T42" fmla="*/ 325 w 1828"/>
                <a:gd name="T43" fmla="*/ 0 h 1505"/>
                <a:gd name="T44" fmla="*/ 66 w 1828"/>
                <a:gd name="T45" fmla="*/ 0 h 1505"/>
                <a:gd name="T46" fmla="*/ 0 w 1828"/>
                <a:gd name="T47" fmla="*/ 68 h 1505"/>
                <a:gd name="T48" fmla="*/ 66 w 1828"/>
                <a:gd name="T49" fmla="*/ 136 h 1505"/>
                <a:gd name="T50" fmla="*/ 325 w 1828"/>
                <a:gd name="T51" fmla="*/ 136 h 1505"/>
                <a:gd name="T52" fmla="*/ 687 w 1828"/>
                <a:gd name="T53" fmla="*/ 264 h 1505"/>
                <a:gd name="T54" fmla="*/ 848 w 1828"/>
                <a:gd name="T55" fmla="*/ 591 h 1505"/>
                <a:gd name="T56" fmla="*/ 848 w 1828"/>
                <a:gd name="T57" fmla="*/ 602 h 1505"/>
                <a:gd name="T58" fmla="*/ 865 w 1828"/>
                <a:gd name="T59" fmla="*/ 744 h 1505"/>
                <a:gd name="T60" fmla="*/ 885 w 1828"/>
                <a:gd name="T61" fmla="*/ 809 h 1505"/>
                <a:gd name="T62" fmla="*/ 908 w 1828"/>
                <a:gd name="T63" fmla="*/ 860 h 1505"/>
                <a:gd name="T64" fmla="*/ 1113 w 1828"/>
                <a:gd name="T65" fmla="*/ 1077 h 1505"/>
                <a:gd name="T66" fmla="*/ 1482 w 1828"/>
                <a:gd name="T67" fmla="*/ 1182 h 1505"/>
                <a:gd name="T68" fmla="*/ 1598 w 1828"/>
                <a:gd name="T69" fmla="*/ 1182 h 1505"/>
                <a:gd name="T70" fmla="*/ 1389 w 1828"/>
                <a:gd name="T71" fmla="*/ 1388 h 1505"/>
                <a:gd name="T72" fmla="*/ 1387 w 1828"/>
                <a:gd name="T73" fmla="*/ 1484 h 1505"/>
                <a:gd name="T74" fmla="*/ 1434 w 1828"/>
                <a:gd name="T75" fmla="*/ 1505 h 1505"/>
                <a:gd name="T76" fmla="*/ 1480 w 1828"/>
                <a:gd name="T77" fmla="*/ 1486 h 1505"/>
                <a:gd name="T78" fmla="*/ 1808 w 1828"/>
                <a:gd name="T79" fmla="*/ 1164 h 1505"/>
                <a:gd name="T80" fmla="*/ 1808 w 1828"/>
                <a:gd name="T81" fmla="*/ 1163 h 1505"/>
                <a:gd name="T82" fmla="*/ 1811 w 1828"/>
                <a:gd name="T83" fmla="*/ 1160 h 1505"/>
                <a:gd name="T84" fmla="*/ 1813 w 1828"/>
                <a:gd name="T85" fmla="*/ 1158 h 1505"/>
                <a:gd name="T86" fmla="*/ 1815 w 1828"/>
                <a:gd name="T87" fmla="*/ 1155 h 1505"/>
                <a:gd name="T88" fmla="*/ 1816 w 1828"/>
                <a:gd name="T89" fmla="*/ 1153 h 1505"/>
                <a:gd name="T90" fmla="*/ 1819 w 1828"/>
                <a:gd name="T91" fmla="*/ 1148 h 1505"/>
                <a:gd name="T92" fmla="*/ 1820 w 1828"/>
                <a:gd name="T93" fmla="*/ 1147 h 1505"/>
                <a:gd name="T94" fmla="*/ 1828 w 1828"/>
                <a:gd name="T95" fmla="*/ 1114 h 1505"/>
                <a:gd name="T96" fmla="*/ 1820 w 1828"/>
                <a:gd name="T97" fmla="*/ 1082 h 1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8" h="1505">
                  <a:moveTo>
                    <a:pt x="1820" y="1082"/>
                  </a:moveTo>
                  <a:cubicBezTo>
                    <a:pt x="1820" y="1081"/>
                    <a:pt x="1819" y="1081"/>
                    <a:pt x="1819" y="1080"/>
                  </a:cubicBezTo>
                  <a:cubicBezTo>
                    <a:pt x="1818" y="1079"/>
                    <a:pt x="1817" y="1077"/>
                    <a:pt x="1816" y="1076"/>
                  </a:cubicBezTo>
                  <a:cubicBezTo>
                    <a:pt x="1816" y="1075"/>
                    <a:pt x="1815" y="1075"/>
                    <a:pt x="1815" y="1074"/>
                  </a:cubicBezTo>
                  <a:cubicBezTo>
                    <a:pt x="1814" y="1073"/>
                    <a:pt x="1813" y="1072"/>
                    <a:pt x="1813" y="1071"/>
                  </a:cubicBezTo>
                  <a:cubicBezTo>
                    <a:pt x="1812" y="1070"/>
                    <a:pt x="1811" y="1069"/>
                    <a:pt x="1811" y="1069"/>
                  </a:cubicBezTo>
                  <a:cubicBezTo>
                    <a:pt x="1810" y="1068"/>
                    <a:pt x="1809" y="1067"/>
                    <a:pt x="1808" y="1066"/>
                  </a:cubicBezTo>
                  <a:cubicBezTo>
                    <a:pt x="1808" y="1066"/>
                    <a:pt x="1808" y="1065"/>
                    <a:pt x="1808" y="1065"/>
                  </a:cubicBezTo>
                  <a:cubicBezTo>
                    <a:pt x="1480" y="743"/>
                    <a:pt x="1480" y="743"/>
                    <a:pt x="1480" y="743"/>
                  </a:cubicBezTo>
                  <a:cubicBezTo>
                    <a:pt x="1467" y="730"/>
                    <a:pt x="1451" y="724"/>
                    <a:pt x="1434" y="724"/>
                  </a:cubicBezTo>
                  <a:cubicBezTo>
                    <a:pt x="1417" y="724"/>
                    <a:pt x="1400" y="731"/>
                    <a:pt x="1387" y="745"/>
                  </a:cubicBezTo>
                  <a:cubicBezTo>
                    <a:pt x="1362" y="772"/>
                    <a:pt x="1363" y="815"/>
                    <a:pt x="1389" y="841"/>
                  </a:cubicBezTo>
                  <a:cubicBezTo>
                    <a:pt x="1598" y="1046"/>
                    <a:pt x="1598" y="1046"/>
                    <a:pt x="1598" y="1046"/>
                  </a:cubicBezTo>
                  <a:cubicBezTo>
                    <a:pt x="1482" y="1046"/>
                    <a:pt x="1482" y="1046"/>
                    <a:pt x="1482" y="1046"/>
                  </a:cubicBezTo>
                  <a:cubicBezTo>
                    <a:pt x="1374" y="1046"/>
                    <a:pt x="1270" y="1017"/>
                    <a:pt x="1183" y="961"/>
                  </a:cubicBezTo>
                  <a:cubicBezTo>
                    <a:pt x="1048" y="876"/>
                    <a:pt x="980" y="755"/>
                    <a:pt x="980" y="602"/>
                  </a:cubicBezTo>
                  <a:cubicBezTo>
                    <a:pt x="980" y="598"/>
                    <a:pt x="980" y="595"/>
                    <a:pt x="980" y="591"/>
                  </a:cubicBezTo>
                  <a:cubicBezTo>
                    <a:pt x="979" y="537"/>
                    <a:pt x="971" y="485"/>
                    <a:pt x="957" y="436"/>
                  </a:cubicBezTo>
                  <a:cubicBezTo>
                    <a:pt x="950" y="414"/>
                    <a:pt x="942" y="393"/>
                    <a:pt x="933" y="372"/>
                  </a:cubicBezTo>
                  <a:cubicBezTo>
                    <a:pt x="926" y="355"/>
                    <a:pt x="918" y="339"/>
                    <a:pt x="908" y="322"/>
                  </a:cubicBezTo>
                  <a:cubicBezTo>
                    <a:pt x="874" y="261"/>
                    <a:pt x="828" y="206"/>
                    <a:pt x="770" y="158"/>
                  </a:cubicBezTo>
                  <a:cubicBezTo>
                    <a:pt x="647" y="56"/>
                    <a:pt x="489" y="0"/>
                    <a:pt x="325" y="0"/>
                  </a:cubicBezTo>
                  <a:cubicBezTo>
                    <a:pt x="66" y="0"/>
                    <a:pt x="66" y="0"/>
                    <a:pt x="66" y="0"/>
                  </a:cubicBezTo>
                  <a:cubicBezTo>
                    <a:pt x="30" y="0"/>
                    <a:pt x="0" y="30"/>
                    <a:pt x="0" y="68"/>
                  </a:cubicBezTo>
                  <a:cubicBezTo>
                    <a:pt x="0" y="105"/>
                    <a:pt x="30" y="136"/>
                    <a:pt x="66" y="136"/>
                  </a:cubicBezTo>
                  <a:cubicBezTo>
                    <a:pt x="325" y="136"/>
                    <a:pt x="325" y="136"/>
                    <a:pt x="325" y="136"/>
                  </a:cubicBezTo>
                  <a:cubicBezTo>
                    <a:pt x="459" y="136"/>
                    <a:pt x="588" y="181"/>
                    <a:pt x="687" y="264"/>
                  </a:cubicBezTo>
                  <a:cubicBezTo>
                    <a:pt x="791" y="350"/>
                    <a:pt x="845" y="460"/>
                    <a:pt x="848" y="591"/>
                  </a:cubicBezTo>
                  <a:cubicBezTo>
                    <a:pt x="848" y="595"/>
                    <a:pt x="848" y="598"/>
                    <a:pt x="848" y="602"/>
                  </a:cubicBezTo>
                  <a:cubicBezTo>
                    <a:pt x="848" y="652"/>
                    <a:pt x="854" y="699"/>
                    <a:pt x="865" y="744"/>
                  </a:cubicBezTo>
                  <a:cubicBezTo>
                    <a:pt x="870" y="766"/>
                    <a:pt x="877" y="788"/>
                    <a:pt x="885" y="809"/>
                  </a:cubicBezTo>
                  <a:cubicBezTo>
                    <a:pt x="892" y="826"/>
                    <a:pt x="900" y="843"/>
                    <a:pt x="908" y="860"/>
                  </a:cubicBezTo>
                  <a:cubicBezTo>
                    <a:pt x="953" y="945"/>
                    <a:pt x="1022" y="1019"/>
                    <a:pt x="1113" y="1077"/>
                  </a:cubicBezTo>
                  <a:cubicBezTo>
                    <a:pt x="1222" y="1146"/>
                    <a:pt x="1349" y="1182"/>
                    <a:pt x="1482" y="1182"/>
                  </a:cubicBezTo>
                  <a:cubicBezTo>
                    <a:pt x="1598" y="1182"/>
                    <a:pt x="1598" y="1182"/>
                    <a:pt x="1598" y="1182"/>
                  </a:cubicBezTo>
                  <a:cubicBezTo>
                    <a:pt x="1389" y="1388"/>
                    <a:pt x="1389" y="1388"/>
                    <a:pt x="1389" y="1388"/>
                  </a:cubicBezTo>
                  <a:cubicBezTo>
                    <a:pt x="1363" y="1414"/>
                    <a:pt x="1362" y="1457"/>
                    <a:pt x="1387" y="1484"/>
                  </a:cubicBezTo>
                  <a:cubicBezTo>
                    <a:pt x="1400" y="1498"/>
                    <a:pt x="1417" y="1505"/>
                    <a:pt x="1434" y="1505"/>
                  </a:cubicBezTo>
                  <a:cubicBezTo>
                    <a:pt x="1451" y="1505"/>
                    <a:pt x="1467" y="1499"/>
                    <a:pt x="1480" y="1486"/>
                  </a:cubicBezTo>
                  <a:cubicBezTo>
                    <a:pt x="1808" y="1164"/>
                    <a:pt x="1808" y="1164"/>
                    <a:pt x="1808" y="1164"/>
                  </a:cubicBezTo>
                  <a:cubicBezTo>
                    <a:pt x="1808" y="1163"/>
                    <a:pt x="1808" y="1163"/>
                    <a:pt x="1808" y="1163"/>
                  </a:cubicBezTo>
                  <a:cubicBezTo>
                    <a:pt x="1809" y="1162"/>
                    <a:pt x="1810" y="1161"/>
                    <a:pt x="1811" y="1160"/>
                  </a:cubicBezTo>
                  <a:cubicBezTo>
                    <a:pt x="1811" y="1159"/>
                    <a:pt x="1812" y="1159"/>
                    <a:pt x="1813" y="1158"/>
                  </a:cubicBezTo>
                  <a:cubicBezTo>
                    <a:pt x="1813" y="1157"/>
                    <a:pt x="1814" y="1156"/>
                    <a:pt x="1815" y="1155"/>
                  </a:cubicBezTo>
                  <a:cubicBezTo>
                    <a:pt x="1815" y="1154"/>
                    <a:pt x="1816" y="1153"/>
                    <a:pt x="1816" y="1153"/>
                  </a:cubicBezTo>
                  <a:cubicBezTo>
                    <a:pt x="1817" y="1151"/>
                    <a:pt x="1818" y="1150"/>
                    <a:pt x="1819" y="1148"/>
                  </a:cubicBezTo>
                  <a:cubicBezTo>
                    <a:pt x="1819" y="1148"/>
                    <a:pt x="1820" y="1148"/>
                    <a:pt x="1820" y="1147"/>
                  </a:cubicBezTo>
                  <a:cubicBezTo>
                    <a:pt x="1825" y="1137"/>
                    <a:pt x="1828" y="1126"/>
                    <a:pt x="1828" y="1114"/>
                  </a:cubicBezTo>
                  <a:cubicBezTo>
                    <a:pt x="1828" y="1102"/>
                    <a:pt x="1825" y="1091"/>
                    <a:pt x="1820" y="108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79" name="Group 78"/>
          <p:cNvGrpSpPr>
            <a:grpSpLocks noChangeAspect="1"/>
          </p:cNvGrpSpPr>
          <p:nvPr/>
        </p:nvGrpSpPr>
        <p:grpSpPr>
          <a:xfrm>
            <a:off x="6955756" y="4039493"/>
            <a:ext cx="352425" cy="352425"/>
            <a:chOff x="5273675" y="2576513"/>
            <a:chExt cx="1644650" cy="1644650"/>
          </a:xfrm>
        </p:grpSpPr>
        <p:sp>
          <p:nvSpPr>
            <p:cNvPr id="80" name="AutoShape 35"/>
            <p:cNvSpPr>
              <a:spLocks noChangeAspect="1" noChangeArrowheads="1" noTextEdit="1"/>
            </p:cNvSpPr>
            <p:nvPr/>
          </p:nvSpPr>
          <p:spPr bwMode="auto">
            <a:xfrm>
              <a:off x="5273675" y="2576513"/>
              <a:ext cx="1644650"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81" name="Group 80"/>
            <p:cNvGrpSpPr/>
            <p:nvPr/>
          </p:nvGrpSpPr>
          <p:grpSpPr>
            <a:xfrm>
              <a:off x="5445125" y="3021013"/>
              <a:ext cx="1303338" cy="757238"/>
              <a:chOff x="5445125" y="3021013"/>
              <a:chExt cx="1303338" cy="757238"/>
            </a:xfrm>
          </p:grpSpPr>
          <p:sp>
            <p:nvSpPr>
              <p:cNvPr id="82" name="Freeform 81"/>
              <p:cNvSpPr>
                <a:spLocks/>
              </p:cNvSpPr>
              <p:nvPr/>
            </p:nvSpPr>
            <p:spPr bwMode="auto">
              <a:xfrm>
                <a:off x="5538174" y="3111501"/>
                <a:ext cx="632687" cy="576263"/>
              </a:xfrm>
              <a:custGeom>
                <a:avLst/>
                <a:gdLst>
                  <a:gd name="connsiteX0" fmla="*/ 217844 w 632687"/>
                  <a:gd name="connsiteY0" fmla="*/ 434975 h 576263"/>
                  <a:gd name="connsiteX1" fmla="*/ 225710 w 632687"/>
                  <a:gd name="connsiteY1" fmla="*/ 434975 h 576263"/>
                  <a:gd name="connsiteX2" fmla="*/ 230000 w 632687"/>
                  <a:gd name="connsiteY2" fmla="*/ 440713 h 576263"/>
                  <a:gd name="connsiteX3" fmla="*/ 316526 w 632687"/>
                  <a:gd name="connsiteY3" fmla="*/ 474421 h 576263"/>
                  <a:gd name="connsiteX4" fmla="*/ 402337 w 632687"/>
                  <a:gd name="connsiteY4" fmla="*/ 440713 h 576263"/>
                  <a:gd name="connsiteX5" fmla="*/ 406628 w 632687"/>
                  <a:gd name="connsiteY5" fmla="*/ 434975 h 576263"/>
                  <a:gd name="connsiteX6" fmla="*/ 414494 w 632687"/>
                  <a:gd name="connsiteY6" fmla="*/ 434975 h 576263"/>
                  <a:gd name="connsiteX7" fmla="*/ 550361 w 632687"/>
                  <a:gd name="connsiteY7" fmla="*/ 455057 h 576263"/>
                  <a:gd name="connsiteX8" fmla="*/ 631166 w 632687"/>
                  <a:gd name="connsiteY8" fmla="*/ 551161 h 576263"/>
                  <a:gd name="connsiteX9" fmla="*/ 629021 w 632687"/>
                  <a:gd name="connsiteY9" fmla="*/ 568374 h 576263"/>
                  <a:gd name="connsiteX10" fmla="*/ 610428 w 632687"/>
                  <a:gd name="connsiteY10" fmla="*/ 576263 h 576263"/>
                  <a:gd name="connsiteX11" fmla="*/ 21909 w 632687"/>
                  <a:gd name="connsiteY11" fmla="*/ 576263 h 576263"/>
                  <a:gd name="connsiteX12" fmla="*/ 4031 w 632687"/>
                  <a:gd name="connsiteY12" fmla="*/ 568374 h 576263"/>
                  <a:gd name="connsiteX13" fmla="*/ 1171 w 632687"/>
                  <a:gd name="connsiteY13" fmla="*/ 551161 h 576263"/>
                  <a:gd name="connsiteX14" fmla="*/ 81976 w 632687"/>
                  <a:gd name="connsiteY14" fmla="*/ 455057 h 576263"/>
                  <a:gd name="connsiteX15" fmla="*/ 217844 w 632687"/>
                  <a:gd name="connsiteY15" fmla="*/ 434975 h 576263"/>
                  <a:gd name="connsiteX16" fmla="*/ 175930 w 632687"/>
                  <a:gd name="connsiteY16" fmla="*/ 246062 h 576263"/>
                  <a:gd name="connsiteX17" fmla="*/ 191622 w 632687"/>
                  <a:gd name="connsiteY17" fmla="*/ 271128 h 576263"/>
                  <a:gd name="connsiteX18" fmla="*/ 195902 w 632687"/>
                  <a:gd name="connsiteY18" fmla="*/ 275425 h 576263"/>
                  <a:gd name="connsiteX19" fmla="*/ 242978 w 632687"/>
                  <a:gd name="connsiteY19" fmla="*/ 374256 h 576263"/>
                  <a:gd name="connsiteX20" fmla="*/ 316446 w 632687"/>
                  <a:gd name="connsiteY20" fmla="*/ 411496 h 576263"/>
                  <a:gd name="connsiteX21" fmla="*/ 389914 w 632687"/>
                  <a:gd name="connsiteY21" fmla="*/ 374256 h 576263"/>
                  <a:gd name="connsiteX22" fmla="*/ 436990 w 632687"/>
                  <a:gd name="connsiteY22" fmla="*/ 275425 h 576263"/>
                  <a:gd name="connsiteX23" fmla="*/ 440557 w 632687"/>
                  <a:gd name="connsiteY23" fmla="*/ 271844 h 576263"/>
                  <a:gd name="connsiteX24" fmla="*/ 451256 w 632687"/>
                  <a:gd name="connsiteY24" fmla="*/ 261818 h 576263"/>
                  <a:gd name="connsiteX25" fmla="*/ 470514 w 632687"/>
                  <a:gd name="connsiteY25" fmla="*/ 256805 h 576263"/>
                  <a:gd name="connsiteX26" fmla="*/ 449829 w 632687"/>
                  <a:gd name="connsiteY26" fmla="*/ 284019 h 576263"/>
                  <a:gd name="connsiteX27" fmla="*/ 399900 w 632687"/>
                  <a:gd name="connsiteY27" fmla="*/ 385714 h 576263"/>
                  <a:gd name="connsiteX28" fmla="*/ 397760 w 632687"/>
                  <a:gd name="connsiteY28" fmla="*/ 387147 h 576263"/>
                  <a:gd name="connsiteX29" fmla="*/ 397760 w 632687"/>
                  <a:gd name="connsiteY29" fmla="*/ 420090 h 576263"/>
                  <a:gd name="connsiteX30" fmla="*/ 389914 w 632687"/>
                  <a:gd name="connsiteY30" fmla="*/ 430117 h 576263"/>
                  <a:gd name="connsiteX31" fmla="*/ 382781 w 632687"/>
                  <a:gd name="connsiteY31" fmla="*/ 436562 h 576263"/>
                  <a:gd name="connsiteX32" fmla="*/ 382781 w 632687"/>
                  <a:gd name="connsiteY32" fmla="*/ 398605 h 576263"/>
                  <a:gd name="connsiteX33" fmla="*/ 316446 w 632687"/>
                  <a:gd name="connsiteY33" fmla="*/ 426536 h 576263"/>
                  <a:gd name="connsiteX34" fmla="*/ 249398 w 632687"/>
                  <a:gd name="connsiteY34" fmla="*/ 398605 h 576263"/>
                  <a:gd name="connsiteX35" fmla="*/ 249398 w 632687"/>
                  <a:gd name="connsiteY35" fmla="*/ 436562 h 576263"/>
                  <a:gd name="connsiteX36" fmla="*/ 242978 w 632687"/>
                  <a:gd name="connsiteY36" fmla="*/ 430833 h 576263"/>
                  <a:gd name="connsiteX37" fmla="*/ 234419 w 632687"/>
                  <a:gd name="connsiteY37" fmla="*/ 420090 h 576263"/>
                  <a:gd name="connsiteX38" fmla="*/ 234419 w 632687"/>
                  <a:gd name="connsiteY38" fmla="*/ 387147 h 576263"/>
                  <a:gd name="connsiteX39" fmla="*/ 232992 w 632687"/>
                  <a:gd name="connsiteY39" fmla="*/ 385714 h 576263"/>
                  <a:gd name="connsiteX40" fmla="*/ 183063 w 632687"/>
                  <a:gd name="connsiteY40" fmla="*/ 284019 h 576263"/>
                  <a:gd name="connsiteX41" fmla="*/ 160951 w 632687"/>
                  <a:gd name="connsiteY41" fmla="*/ 247494 h 576263"/>
                  <a:gd name="connsiteX42" fmla="*/ 166657 w 632687"/>
                  <a:gd name="connsiteY42" fmla="*/ 248211 h 576263"/>
                  <a:gd name="connsiteX43" fmla="*/ 175930 w 632687"/>
                  <a:gd name="connsiteY43" fmla="*/ 246062 h 576263"/>
                  <a:gd name="connsiteX44" fmla="*/ 315935 w 632687"/>
                  <a:gd name="connsiteY44" fmla="*/ 0 h 576263"/>
                  <a:gd name="connsiteX45" fmla="*/ 477268 w 632687"/>
                  <a:gd name="connsiteY45" fmla="*/ 163848 h 576263"/>
                  <a:gd name="connsiteX46" fmla="*/ 476554 w 632687"/>
                  <a:gd name="connsiteY46" fmla="*/ 194614 h 576263"/>
                  <a:gd name="connsiteX47" fmla="*/ 487976 w 632687"/>
                  <a:gd name="connsiteY47" fmla="*/ 230389 h 576263"/>
                  <a:gd name="connsiteX48" fmla="*/ 438720 w 632687"/>
                  <a:gd name="connsiteY48" fmla="*/ 244699 h 576263"/>
                  <a:gd name="connsiteX49" fmla="*/ 242407 w 632687"/>
                  <a:gd name="connsiteY49" fmla="*/ 128789 h 576263"/>
                  <a:gd name="connsiteX50" fmla="*/ 226702 w 632687"/>
                  <a:gd name="connsiteY50" fmla="*/ 138090 h 576263"/>
                  <a:gd name="connsiteX51" fmla="*/ 163168 w 632687"/>
                  <a:gd name="connsiteY51" fmla="*/ 231820 h 576263"/>
                  <a:gd name="connsiteX52" fmla="*/ 154601 w 632687"/>
                  <a:gd name="connsiteY52" fmla="*/ 163848 h 576263"/>
                  <a:gd name="connsiteX53" fmla="*/ 315935 w 632687"/>
                  <a:gd name="connsiteY53" fmla="*/ 0 h 576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632687" h="576263">
                    <a:moveTo>
                      <a:pt x="217844" y="434975"/>
                    </a:moveTo>
                    <a:cubicBezTo>
                      <a:pt x="217844" y="434975"/>
                      <a:pt x="217844" y="434975"/>
                      <a:pt x="225710" y="434975"/>
                    </a:cubicBezTo>
                    <a:cubicBezTo>
                      <a:pt x="225710" y="434975"/>
                      <a:pt x="225710" y="434975"/>
                      <a:pt x="230000" y="440713"/>
                    </a:cubicBezTo>
                    <a:cubicBezTo>
                      <a:pt x="231431" y="441430"/>
                      <a:pt x="260034" y="473704"/>
                      <a:pt x="316526" y="474421"/>
                    </a:cubicBezTo>
                    <a:cubicBezTo>
                      <a:pt x="372303" y="473704"/>
                      <a:pt x="400907" y="441430"/>
                      <a:pt x="402337" y="440713"/>
                    </a:cubicBezTo>
                    <a:cubicBezTo>
                      <a:pt x="402337" y="440713"/>
                      <a:pt x="402337" y="440713"/>
                      <a:pt x="406628" y="434975"/>
                    </a:cubicBezTo>
                    <a:cubicBezTo>
                      <a:pt x="406628" y="434975"/>
                      <a:pt x="406628" y="434975"/>
                      <a:pt x="414494" y="434975"/>
                    </a:cubicBezTo>
                    <a:cubicBezTo>
                      <a:pt x="418069" y="434975"/>
                      <a:pt x="502450" y="436410"/>
                      <a:pt x="550361" y="455057"/>
                    </a:cubicBezTo>
                    <a:cubicBezTo>
                      <a:pt x="590406" y="470118"/>
                      <a:pt x="618294" y="521756"/>
                      <a:pt x="631166" y="551161"/>
                    </a:cubicBezTo>
                    <a:cubicBezTo>
                      <a:pt x="634026" y="556899"/>
                      <a:pt x="632596" y="563354"/>
                      <a:pt x="629021" y="568374"/>
                    </a:cubicBezTo>
                    <a:cubicBezTo>
                      <a:pt x="624730" y="573394"/>
                      <a:pt x="617579" y="576263"/>
                      <a:pt x="610428" y="576263"/>
                    </a:cubicBezTo>
                    <a:cubicBezTo>
                      <a:pt x="610428" y="576263"/>
                      <a:pt x="610428" y="576263"/>
                      <a:pt x="21909" y="576263"/>
                    </a:cubicBezTo>
                    <a:cubicBezTo>
                      <a:pt x="14758" y="576263"/>
                      <a:pt x="7607" y="573394"/>
                      <a:pt x="4031" y="568374"/>
                    </a:cubicBezTo>
                    <a:cubicBezTo>
                      <a:pt x="-259" y="563354"/>
                      <a:pt x="-974" y="556899"/>
                      <a:pt x="1171" y="551161"/>
                    </a:cubicBezTo>
                    <a:cubicBezTo>
                      <a:pt x="14043" y="521756"/>
                      <a:pt x="41931" y="470118"/>
                      <a:pt x="81976" y="455057"/>
                    </a:cubicBezTo>
                    <a:cubicBezTo>
                      <a:pt x="129887" y="436410"/>
                      <a:pt x="214268" y="434975"/>
                      <a:pt x="217844" y="434975"/>
                    </a:cubicBezTo>
                    <a:close/>
                    <a:moveTo>
                      <a:pt x="175930" y="246062"/>
                    </a:moveTo>
                    <a:cubicBezTo>
                      <a:pt x="178070" y="256088"/>
                      <a:pt x="182350" y="267547"/>
                      <a:pt x="191622" y="271128"/>
                    </a:cubicBezTo>
                    <a:cubicBezTo>
                      <a:pt x="193762" y="271844"/>
                      <a:pt x="195189" y="273276"/>
                      <a:pt x="195902" y="275425"/>
                    </a:cubicBezTo>
                    <a:cubicBezTo>
                      <a:pt x="209454" y="309085"/>
                      <a:pt x="233706" y="366378"/>
                      <a:pt x="242978" y="374256"/>
                    </a:cubicBezTo>
                    <a:cubicBezTo>
                      <a:pt x="257244" y="387147"/>
                      <a:pt x="295761" y="411496"/>
                      <a:pt x="316446" y="411496"/>
                    </a:cubicBezTo>
                    <a:cubicBezTo>
                      <a:pt x="337131" y="411496"/>
                      <a:pt x="375648" y="387147"/>
                      <a:pt x="389914" y="374256"/>
                    </a:cubicBezTo>
                    <a:cubicBezTo>
                      <a:pt x="399186" y="366378"/>
                      <a:pt x="423438" y="309085"/>
                      <a:pt x="436990" y="275425"/>
                    </a:cubicBezTo>
                    <a:cubicBezTo>
                      <a:pt x="437703" y="273993"/>
                      <a:pt x="439130" y="272560"/>
                      <a:pt x="440557" y="271844"/>
                    </a:cubicBezTo>
                    <a:cubicBezTo>
                      <a:pt x="445549" y="268979"/>
                      <a:pt x="448403" y="265399"/>
                      <a:pt x="451256" y="261818"/>
                    </a:cubicBezTo>
                    <a:cubicBezTo>
                      <a:pt x="457675" y="261102"/>
                      <a:pt x="464095" y="259669"/>
                      <a:pt x="470514" y="256805"/>
                    </a:cubicBezTo>
                    <a:cubicBezTo>
                      <a:pt x="467661" y="265399"/>
                      <a:pt x="461955" y="276857"/>
                      <a:pt x="449829" y="284019"/>
                    </a:cubicBezTo>
                    <a:cubicBezTo>
                      <a:pt x="441983" y="303355"/>
                      <a:pt x="414165" y="373540"/>
                      <a:pt x="399900" y="385714"/>
                    </a:cubicBezTo>
                    <a:cubicBezTo>
                      <a:pt x="399186" y="386431"/>
                      <a:pt x="398473" y="387147"/>
                      <a:pt x="397760" y="387147"/>
                    </a:cubicBezTo>
                    <a:cubicBezTo>
                      <a:pt x="397760" y="387147"/>
                      <a:pt x="397760" y="387147"/>
                      <a:pt x="397760" y="420090"/>
                    </a:cubicBezTo>
                    <a:cubicBezTo>
                      <a:pt x="397760" y="420090"/>
                      <a:pt x="397760" y="420090"/>
                      <a:pt x="389914" y="430117"/>
                    </a:cubicBezTo>
                    <a:cubicBezTo>
                      <a:pt x="389200" y="430833"/>
                      <a:pt x="387061" y="432981"/>
                      <a:pt x="382781" y="436562"/>
                    </a:cubicBezTo>
                    <a:cubicBezTo>
                      <a:pt x="382781" y="429400"/>
                      <a:pt x="382781" y="417942"/>
                      <a:pt x="382781" y="398605"/>
                    </a:cubicBezTo>
                    <a:cubicBezTo>
                      <a:pt x="363522" y="412213"/>
                      <a:pt x="335705" y="426536"/>
                      <a:pt x="316446" y="426536"/>
                    </a:cubicBezTo>
                    <a:cubicBezTo>
                      <a:pt x="296474" y="426536"/>
                      <a:pt x="268656" y="412213"/>
                      <a:pt x="249398" y="398605"/>
                    </a:cubicBezTo>
                    <a:cubicBezTo>
                      <a:pt x="249398" y="398605"/>
                      <a:pt x="249398" y="398605"/>
                      <a:pt x="249398" y="436562"/>
                    </a:cubicBezTo>
                    <a:cubicBezTo>
                      <a:pt x="245118" y="432981"/>
                      <a:pt x="242978" y="430833"/>
                      <a:pt x="242978" y="430833"/>
                    </a:cubicBezTo>
                    <a:cubicBezTo>
                      <a:pt x="242978" y="430833"/>
                      <a:pt x="242978" y="430833"/>
                      <a:pt x="234419" y="420090"/>
                    </a:cubicBezTo>
                    <a:cubicBezTo>
                      <a:pt x="234419" y="412929"/>
                      <a:pt x="234419" y="402902"/>
                      <a:pt x="234419" y="387147"/>
                    </a:cubicBezTo>
                    <a:cubicBezTo>
                      <a:pt x="233706" y="386431"/>
                      <a:pt x="232992" y="386431"/>
                      <a:pt x="232992" y="385714"/>
                    </a:cubicBezTo>
                    <a:cubicBezTo>
                      <a:pt x="218727" y="373540"/>
                      <a:pt x="190909" y="304788"/>
                      <a:pt x="183063" y="284019"/>
                    </a:cubicBezTo>
                    <a:cubicBezTo>
                      <a:pt x="168797" y="276857"/>
                      <a:pt x="163091" y="259669"/>
                      <a:pt x="160951" y="247494"/>
                    </a:cubicBezTo>
                    <a:cubicBezTo>
                      <a:pt x="163091" y="248211"/>
                      <a:pt x="165231" y="248211"/>
                      <a:pt x="166657" y="248211"/>
                    </a:cubicBezTo>
                    <a:cubicBezTo>
                      <a:pt x="170224" y="248211"/>
                      <a:pt x="173077" y="247494"/>
                      <a:pt x="175930" y="246062"/>
                    </a:cubicBezTo>
                    <a:close/>
                    <a:moveTo>
                      <a:pt x="315935" y="0"/>
                    </a:moveTo>
                    <a:cubicBezTo>
                      <a:pt x="407309" y="0"/>
                      <a:pt x="477268" y="73696"/>
                      <a:pt x="477268" y="163848"/>
                    </a:cubicBezTo>
                    <a:cubicBezTo>
                      <a:pt x="477268" y="174580"/>
                      <a:pt x="477268" y="184597"/>
                      <a:pt x="476554" y="194614"/>
                    </a:cubicBezTo>
                    <a:cubicBezTo>
                      <a:pt x="475841" y="203916"/>
                      <a:pt x="478696" y="216794"/>
                      <a:pt x="487976" y="230389"/>
                    </a:cubicBezTo>
                    <a:cubicBezTo>
                      <a:pt x="487976" y="230389"/>
                      <a:pt x="454425" y="254000"/>
                      <a:pt x="438720" y="244699"/>
                    </a:cubicBezTo>
                    <a:cubicBezTo>
                      <a:pt x="420159" y="234682"/>
                      <a:pt x="343062" y="128789"/>
                      <a:pt x="242407" y="128789"/>
                    </a:cubicBezTo>
                    <a:cubicBezTo>
                      <a:pt x="242407" y="128789"/>
                      <a:pt x="231699" y="134513"/>
                      <a:pt x="226702" y="138090"/>
                    </a:cubicBezTo>
                    <a:cubicBezTo>
                      <a:pt x="181014" y="168856"/>
                      <a:pt x="178873" y="246130"/>
                      <a:pt x="163168" y="231820"/>
                    </a:cubicBezTo>
                    <a:cubicBezTo>
                      <a:pt x="157457" y="223949"/>
                      <a:pt x="154601" y="183882"/>
                      <a:pt x="154601" y="163848"/>
                    </a:cubicBezTo>
                    <a:cubicBezTo>
                      <a:pt x="154601" y="73696"/>
                      <a:pt x="224560" y="0"/>
                      <a:pt x="315935" y="0"/>
                    </a:cubicBez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83" name="Freeform 82"/>
              <p:cNvSpPr>
                <a:spLocks/>
              </p:cNvSpPr>
              <p:nvPr/>
            </p:nvSpPr>
            <p:spPr bwMode="auto">
              <a:xfrm>
                <a:off x="5445125" y="3021013"/>
                <a:ext cx="1303338" cy="757238"/>
              </a:xfrm>
              <a:custGeom>
                <a:avLst/>
                <a:gdLst>
                  <a:gd name="connsiteX0" fmla="*/ 803110 w 1303338"/>
                  <a:gd name="connsiteY0" fmla="*/ 596900 h 757238"/>
                  <a:gd name="connsiteX1" fmla="*/ 1184440 w 1303338"/>
                  <a:gd name="connsiteY1" fmla="*/ 596900 h 757238"/>
                  <a:gd name="connsiteX2" fmla="*/ 1200150 w 1303338"/>
                  <a:gd name="connsiteY2" fmla="*/ 612775 h 757238"/>
                  <a:gd name="connsiteX3" fmla="*/ 1184440 w 1303338"/>
                  <a:gd name="connsiteY3" fmla="*/ 628650 h 757238"/>
                  <a:gd name="connsiteX4" fmla="*/ 803110 w 1303338"/>
                  <a:gd name="connsiteY4" fmla="*/ 628650 h 757238"/>
                  <a:gd name="connsiteX5" fmla="*/ 787400 w 1303338"/>
                  <a:gd name="connsiteY5" fmla="*/ 612775 h 757238"/>
                  <a:gd name="connsiteX6" fmla="*/ 803110 w 1303338"/>
                  <a:gd name="connsiteY6" fmla="*/ 596900 h 757238"/>
                  <a:gd name="connsiteX7" fmla="*/ 803110 w 1303338"/>
                  <a:gd name="connsiteY7" fmla="*/ 503238 h 757238"/>
                  <a:gd name="connsiteX8" fmla="*/ 1184440 w 1303338"/>
                  <a:gd name="connsiteY8" fmla="*/ 503238 h 757238"/>
                  <a:gd name="connsiteX9" fmla="*/ 1200150 w 1303338"/>
                  <a:gd name="connsiteY9" fmla="*/ 519113 h 757238"/>
                  <a:gd name="connsiteX10" fmla="*/ 1184440 w 1303338"/>
                  <a:gd name="connsiteY10" fmla="*/ 534988 h 757238"/>
                  <a:gd name="connsiteX11" fmla="*/ 803110 w 1303338"/>
                  <a:gd name="connsiteY11" fmla="*/ 534988 h 757238"/>
                  <a:gd name="connsiteX12" fmla="*/ 787400 w 1303338"/>
                  <a:gd name="connsiteY12" fmla="*/ 519113 h 757238"/>
                  <a:gd name="connsiteX13" fmla="*/ 803110 w 1303338"/>
                  <a:gd name="connsiteY13" fmla="*/ 503238 h 757238"/>
                  <a:gd name="connsiteX14" fmla="*/ 803110 w 1303338"/>
                  <a:gd name="connsiteY14" fmla="*/ 409575 h 757238"/>
                  <a:gd name="connsiteX15" fmla="*/ 1184440 w 1303338"/>
                  <a:gd name="connsiteY15" fmla="*/ 409575 h 757238"/>
                  <a:gd name="connsiteX16" fmla="*/ 1200150 w 1303338"/>
                  <a:gd name="connsiteY16" fmla="*/ 425450 h 757238"/>
                  <a:gd name="connsiteX17" fmla="*/ 1184440 w 1303338"/>
                  <a:gd name="connsiteY17" fmla="*/ 441325 h 757238"/>
                  <a:gd name="connsiteX18" fmla="*/ 803110 w 1303338"/>
                  <a:gd name="connsiteY18" fmla="*/ 441325 h 757238"/>
                  <a:gd name="connsiteX19" fmla="*/ 787400 w 1303338"/>
                  <a:gd name="connsiteY19" fmla="*/ 425450 h 757238"/>
                  <a:gd name="connsiteX20" fmla="*/ 803110 w 1303338"/>
                  <a:gd name="connsiteY20" fmla="*/ 409575 h 757238"/>
                  <a:gd name="connsiteX21" fmla="*/ 803110 w 1303338"/>
                  <a:gd name="connsiteY21" fmla="*/ 315913 h 757238"/>
                  <a:gd name="connsiteX22" fmla="*/ 1184440 w 1303338"/>
                  <a:gd name="connsiteY22" fmla="*/ 315913 h 757238"/>
                  <a:gd name="connsiteX23" fmla="*/ 1200150 w 1303338"/>
                  <a:gd name="connsiteY23" fmla="*/ 331788 h 757238"/>
                  <a:gd name="connsiteX24" fmla="*/ 1184440 w 1303338"/>
                  <a:gd name="connsiteY24" fmla="*/ 347663 h 757238"/>
                  <a:gd name="connsiteX25" fmla="*/ 803110 w 1303338"/>
                  <a:gd name="connsiteY25" fmla="*/ 347663 h 757238"/>
                  <a:gd name="connsiteX26" fmla="*/ 787400 w 1303338"/>
                  <a:gd name="connsiteY26" fmla="*/ 331788 h 757238"/>
                  <a:gd name="connsiteX27" fmla="*/ 803110 w 1303338"/>
                  <a:gd name="connsiteY27" fmla="*/ 315913 h 757238"/>
                  <a:gd name="connsiteX28" fmla="*/ 803110 w 1303338"/>
                  <a:gd name="connsiteY28" fmla="*/ 222250 h 757238"/>
                  <a:gd name="connsiteX29" fmla="*/ 1184440 w 1303338"/>
                  <a:gd name="connsiteY29" fmla="*/ 222250 h 757238"/>
                  <a:gd name="connsiteX30" fmla="*/ 1200150 w 1303338"/>
                  <a:gd name="connsiteY30" fmla="*/ 238125 h 757238"/>
                  <a:gd name="connsiteX31" fmla="*/ 1184440 w 1303338"/>
                  <a:gd name="connsiteY31" fmla="*/ 254000 h 757238"/>
                  <a:gd name="connsiteX32" fmla="*/ 803110 w 1303338"/>
                  <a:gd name="connsiteY32" fmla="*/ 254000 h 757238"/>
                  <a:gd name="connsiteX33" fmla="*/ 787400 w 1303338"/>
                  <a:gd name="connsiteY33" fmla="*/ 238125 h 757238"/>
                  <a:gd name="connsiteX34" fmla="*/ 803110 w 1303338"/>
                  <a:gd name="connsiteY34" fmla="*/ 222250 h 757238"/>
                  <a:gd name="connsiteX35" fmla="*/ 803110 w 1303338"/>
                  <a:gd name="connsiteY35" fmla="*/ 128588 h 757238"/>
                  <a:gd name="connsiteX36" fmla="*/ 1184440 w 1303338"/>
                  <a:gd name="connsiteY36" fmla="*/ 128588 h 757238"/>
                  <a:gd name="connsiteX37" fmla="*/ 1200150 w 1303338"/>
                  <a:gd name="connsiteY37" fmla="*/ 144463 h 757238"/>
                  <a:gd name="connsiteX38" fmla="*/ 1184440 w 1303338"/>
                  <a:gd name="connsiteY38" fmla="*/ 160338 h 757238"/>
                  <a:gd name="connsiteX39" fmla="*/ 803110 w 1303338"/>
                  <a:gd name="connsiteY39" fmla="*/ 160338 h 757238"/>
                  <a:gd name="connsiteX40" fmla="*/ 787400 w 1303338"/>
                  <a:gd name="connsiteY40" fmla="*/ 144463 h 757238"/>
                  <a:gd name="connsiteX41" fmla="*/ 803110 w 1303338"/>
                  <a:gd name="connsiteY41" fmla="*/ 128588 h 757238"/>
                  <a:gd name="connsiteX42" fmla="*/ 100313 w 1303338"/>
                  <a:gd name="connsiteY42" fmla="*/ 31750 h 757238"/>
                  <a:gd name="connsiteX43" fmla="*/ 31750 w 1303338"/>
                  <a:gd name="connsiteY43" fmla="*/ 100267 h 757238"/>
                  <a:gd name="connsiteX44" fmla="*/ 31750 w 1303338"/>
                  <a:gd name="connsiteY44" fmla="*/ 656971 h 757238"/>
                  <a:gd name="connsiteX45" fmla="*/ 100313 w 1303338"/>
                  <a:gd name="connsiteY45" fmla="*/ 725488 h 757238"/>
                  <a:gd name="connsiteX46" fmla="*/ 1203026 w 1303338"/>
                  <a:gd name="connsiteY46" fmla="*/ 725488 h 757238"/>
                  <a:gd name="connsiteX47" fmla="*/ 1271588 w 1303338"/>
                  <a:gd name="connsiteY47" fmla="*/ 656971 h 757238"/>
                  <a:gd name="connsiteX48" fmla="*/ 1271588 w 1303338"/>
                  <a:gd name="connsiteY48" fmla="*/ 100267 h 757238"/>
                  <a:gd name="connsiteX49" fmla="*/ 1203026 w 1303338"/>
                  <a:gd name="connsiteY49" fmla="*/ 31750 h 757238"/>
                  <a:gd name="connsiteX50" fmla="*/ 100313 w 1303338"/>
                  <a:gd name="connsiteY50" fmla="*/ 31750 h 757238"/>
                  <a:gd name="connsiteX51" fmla="*/ 100037 w 1303338"/>
                  <a:gd name="connsiteY51" fmla="*/ 0 h 757238"/>
                  <a:gd name="connsiteX52" fmla="*/ 1203301 w 1303338"/>
                  <a:gd name="connsiteY52" fmla="*/ 0 h 757238"/>
                  <a:gd name="connsiteX53" fmla="*/ 1303338 w 1303338"/>
                  <a:gd name="connsiteY53" fmla="*/ 100013 h 757238"/>
                  <a:gd name="connsiteX54" fmla="*/ 1303338 w 1303338"/>
                  <a:gd name="connsiteY54" fmla="*/ 657226 h 757238"/>
                  <a:gd name="connsiteX55" fmla="*/ 1203301 w 1303338"/>
                  <a:gd name="connsiteY55" fmla="*/ 757238 h 757238"/>
                  <a:gd name="connsiteX56" fmla="*/ 100037 w 1303338"/>
                  <a:gd name="connsiteY56" fmla="*/ 757238 h 757238"/>
                  <a:gd name="connsiteX57" fmla="*/ 0 w 1303338"/>
                  <a:gd name="connsiteY57" fmla="*/ 657226 h 757238"/>
                  <a:gd name="connsiteX58" fmla="*/ 0 w 1303338"/>
                  <a:gd name="connsiteY58" fmla="*/ 100013 h 757238"/>
                  <a:gd name="connsiteX59" fmla="*/ 100037 w 1303338"/>
                  <a:gd name="connsiteY59" fmla="*/ 0 h 757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03338" h="757238">
                    <a:moveTo>
                      <a:pt x="803110" y="596900"/>
                    </a:moveTo>
                    <a:cubicBezTo>
                      <a:pt x="803110" y="596900"/>
                      <a:pt x="803110" y="596900"/>
                      <a:pt x="1184440" y="596900"/>
                    </a:cubicBezTo>
                    <a:cubicBezTo>
                      <a:pt x="1193009" y="596900"/>
                      <a:pt x="1200150" y="603394"/>
                      <a:pt x="1200150" y="612775"/>
                    </a:cubicBezTo>
                    <a:cubicBezTo>
                      <a:pt x="1200150" y="621434"/>
                      <a:pt x="1193009" y="628650"/>
                      <a:pt x="1184440" y="628650"/>
                    </a:cubicBezTo>
                    <a:cubicBezTo>
                      <a:pt x="1184440" y="628650"/>
                      <a:pt x="1184440" y="628650"/>
                      <a:pt x="803110" y="628650"/>
                    </a:cubicBezTo>
                    <a:cubicBezTo>
                      <a:pt x="794541" y="628650"/>
                      <a:pt x="787400" y="621434"/>
                      <a:pt x="787400" y="612775"/>
                    </a:cubicBezTo>
                    <a:cubicBezTo>
                      <a:pt x="787400" y="603394"/>
                      <a:pt x="794541" y="596900"/>
                      <a:pt x="803110" y="596900"/>
                    </a:cubicBezTo>
                    <a:close/>
                    <a:moveTo>
                      <a:pt x="803110" y="503238"/>
                    </a:moveTo>
                    <a:cubicBezTo>
                      <a:pt x="803110" y="503238"/>
                      <a:pt x="803110" y="503238"/>
                      <a:pt x="1184440" y="503238"/>
                    </a:cubicBezTo>
                    <a:cubicBezTo>
                      <a:pt x="1193009" y="503238"/>
                      <a:pt x="1200150" y="509732"/>
                      <a:pt x="1200150" y="519113"/>
                    </a:cubicBezTo>
                    <a:cubicBezTo>
                      <a:pt x="1200150" y="527772"/>
                      <a:pt x="1193009" y="534988"/>
                      <a:pt x="1184440" y="534988"/>
                    </a:cubicBezTo>
                    <a:cubicBezTo>
                      <a:pt x="1184440" y="534988"/>
                      <a:pt x="1184440" y="534988"/>
                      <a:pt x="803110" y="534988"/>
                    </a:cubicBezTo>
                    <a:cubicBezTo>
                      <a:pt x="794541" y="534988"/>
                      <a:pt x="787400" y="527772"/>
                      <a:pt x="787400" y="519113"/>
                    </a:cubicBezTo>
                    <a:cubicBezTo>
                      <a:pt x="787400" y="509732"/>
                      <a:pt x="794541" y="503238"/>
                      <a:pt x="803110" y="503238"/>
                    </a:cubicBezTo>
                    <a:close/>
                    <a:moveTo>
                      <a:pt x="803110" y="409575"/>
                    </a:moveTo>
                    <a:cubicBezTo>
                      <a:pt x="803110" y="409575"/>
                      <a:pt x="803110" y="409575"/>
                      <a:pt x="1184440" y="409575"/>
                    </a:cubicBezTo>
                    <a:cubicBezTo>
                      <a:pt x="1193009" y="409575"/>
                      <a:pt x="1200150" y="416069"/>
                      <a:pt x="1200150" y="425450"/>
                    </a:cubicBezTo>
                    <a:cubicBezTo>
                      <a:pt x="1200150" y="434109"/>
                      <a:pt x="1193009" y="441325"/>
                      <a:pt x="1184440" y="441325"/>
                    </a:cubicBezTo>
                    <a:cubicBezTo>
                      <a:pt x="1184440" y="441325"/>
                      <a:pt x="1184440" y="441325"/>
                      <a:pt x="803110" y="441325"/>
                    </a:cubicBezTo>
                    <a:cubicBezTo>
                      <a:pt x="794541" y="441325"/>
                      <a:pt x="787400" y="434109"/>
                      <a:pt x="787400" y="425450"/>
                    </a:cubicBezTo>
                    <a:cubicBezTo>
                      <a:pt x="787400" y="416069"/>
                      <a:pt x="794541" y="409575"/>
                      <a:pt x="803110" y="409575"/>
                    </a:cubicBezTo>
                    <a:close/>
                    <a:moveTo>
                      <a:pt x="803110" y="315913"/>
                    </a:moveTo>
                    <a:cubicBezTo>
                      <a:pt x="803110" y="315913"/>
                      <a:pt x="803110" y="315913"/>
                      <a:pt x="1184440" y="315913"/>
                    </a:cubicBezTo>
                    <a:cubicBezTo>
                      <a:pt x="1193009" y="315913"/>
                      <a:pt x="1200150" y="323129"/>
                      <a:pt x="1200150" y="331788"/>
                    </a:cubicBezTo>
                    <a:cubicBezTo>
                      <a:pt x="1200150" y="341169"/>
                      <a:pt x="1193009" y="347663"/>
                      <a:pt x="1184440" y="347663"/>
                    </a:cubicBezTo>
                    <a:cubicBezTo>
                      <a:pt x="1184440" y="347663"/>
                      <a:pt x="1184440" y="347663"/>
                      <a:pt x="803110" y="347663"/>
                    </a:cubicBezTo>
                    <a:cubicBezTo>
                      <a:pt x="794541" y="347663"/>
                      <a:pt x="787400" y="341169"/>
                      <a:pt x="787400" y="331788"/>
                    </a:cubicBezTo>
                    <a:cubicBezTo>
                      <a:pt x="787400" y="323129"/>
                      <a:pt x="794541" y="315913"/>
                      <a:pt x="803110" y="315913"/>
                    </a:cubicBezTo>
                    <a:close/>
                    <a:moveTo>
                      <a:pt x="803110" y="222250"/>
                    </a:moveTo>
                    <a:cubicBezTo>
                      <a:pt x="803110" y="222250"/>
                      <a:pt x="803110" y="222250"/>
                      <a:pt x="1184440" y="222250"/>
                    </a:cubicBezTo>
                    <a:cubicBezTo>
                      <a:pt x="1193009" y="222250"/>
                      <a:pt x="1200150" y="229466"/>
                      <a:pt x="1200150" y="238125"/>
                    </a:cubicBezTo>
                    <a:cubicBezTo>
                      <a:pt x="1200150" y="247506"/>
                      <a:pt x="1193009" y="254000"/>
                      <a:pt x="1184440" y="254000"/>
                    </a:cubicBezTo>
                    <a:cubicBezTo>
                      <a:pt x="1184440" y="254000"/>
                      <a:pt x="1184440" y="254000"/>
                      <a:pt x="803110" y="254000"/>
                    </a:cubicBezTo>
                    <a:cubicBezTo>
                      <a:pt x="794541" y="254000"/>
                      <a:pt x="787400" y="247506"/>
                      <a:pt x="787400" y="238125"/>
                    </a:cubicBezTo>
                    <a:cubicBezTo>
                      <a:pt x="787400" y="229466"/>
                      <a:pt x="794541" y="222250"/>
                      <a:pt x="803110" y="222250"/>
                    </a:cubicBezTo>
                    <a:close/>
                    <a:moveTo>
                      <a:pt x="803110" y="128588"/>
                    </a:moveTo>
                    <a:cubicBezTo>
                      <a:pt x="803110" y="128588"/>
                      <a:pt x="803110" y="128588"/>
                      <a:pt x="1184440" y="128588"/>
                    </a:cubicBezTo>
                    <a:cubicBezTo>
                      <a:pt x="1193009" y="128588"/>
                      <a:pt x="1200150" y="135804"/>
                      <a:pt x="1200150" y="144463"/>
                    </a:cubicBezTo>
                    <a:cubicBezTo>
                      <a:pt x="1200150" y="153844"/>
                      <a:pt x="1193009" y="160338"/>
                      <a:pt x="1184440" y="160338"/>
                    </a:cubicBezTo>
                    <a:cubicBezTo>
                      <a:pt x="1184440" y="160338"/>
                      <a:pt x="1184440" y="160338"/>
                      <a:pt x="803110" y="160338"/>
                    </a:cubicBezTo>
                    <a:cubicBezTo>
                      <a:pt x="794541" y="160338"/>
                      <a:pt x="787400" y="153844"/>
                      <a:pt x="787400" y="144463"/>
                    </a:cubicBezTo>
                    <a:cubicBezTo>
                      <a:pt x="787400" y="135804"/>
                      <a:pt x="794541" y="128588"/>
                      <a:pt x="803110" y="128588"/>
                    </a:cubicBezTo>
                    <a:close/>
                    <a:moveTo>
                      <a:pt x="100313" y="31750"/>
                    </a:moveTo>
                    <a:cubicBezTo>
                      <a:pt x="62461" y="31750"/>
                      <a:pt x="31750" y="62440"/>
                      <a:pt x="31750" y="100267"/>
                    </a:cubicBezTo>
                    <a:cubicBezTo>
                      <a:pt x="31750" y="100267"/>
                      <a:pt x="31750" y="100267"/>
                      <a:pt x="31750" y="656971"/>
                    </a:cubicBezTo>
                    <a:cubicBezTo>
                      <a:pt x="31750" y="694798"/>
                      <a:pt x="62461" y="725488"/>
                      <a:pt x="100313" y="725488"/>
                    </a:cubicBezTo>
                    <a:cubicBezTo>
                      <a:pt x="100313" y="725488"/>
                      <a:pt x="100313" y="725488"/>
                      <a:pt x="1203026" y="725488"/>
                    </a:cubicBezTo>
                    <a:cubicBezTo>
                      <a:pt x="1240878" y="725488"/>
                      <a:pt x="1271588" y="694798"/>
                      <a:pt x="1271588" y="656971"/>
                    </a:cubicBezTo>
                    <a:lnTo>
                      <a:pt x="1271588" y="100267"/>
                    </a:lnTo>
                    <a:cubicBezTo>
                      <a:pt x="1271588" y="62440"/>
                      <a:pt x="1240878" y="31750"/>
                      <a:pt x="1203026" y="31750"/>
                    </a:cubicBezTo>
                    <a:cubicBezTo>
                      <a:pt x="1203026" y="31750"/>
                      <a:pt x="1203026" y="31750"/>
                      <a:pt x="100313" y="31750"/>
                    </a:cubicBezTo>
                    <a:close/>
                    <a:moveTo>
                      <a:pt x="100037" y="0"/>
                    </a:moveTo>
                    <a:cubicBezTo>
                      <a:pt x="100037" y="0"/>
                      <a:pt x="100037" y="0"/>
                      <a:pt x="1203301" y="0"/>
                    </a:cubicBezTo>
                    <a:cubicBezTo>
                      <a:pt x="1258322" y="0"/>
                      <a:pt x="1303338" y="45006"/>
                      <a:pt x="1303338" y="100013"/>
                    </a:cubicBezTo>
                    <a:cubicBezTo>
                      <a:pt x="1303338" y="100013"/>
                      <a:pt x="1303338" y="100013"/>
                      <a:pt x="1303338" y="657226"/>
                    </a:cubicBezTo>
                    <a:cubicBezTo>
                      <a:pt x="1303338" y="712233"/>
                      <a:pt x="1258322" y="757238"/>
                      <a:pt x="1203301" y="757238"/>
                    </a:cubicBezTo>
                    <a:cubicBezTo>
                      <a:pt x="1203301" y="757238"/>
                      <a:pt x="1203301" y="757238"/>
                      <a:pt x="100037" y="757238"/>
                    </a:cubicBezTo>
                    <a:cubicBezTo>
                      <a:pt x="45017" y="757238"/>
                      <a:pt x="0" y="712233"/>
                      <a:pt x="0" y="657226"/>
                    </a:cubicBezTo>
                    <a:cubicBezTo>
                      <a:pt x="0" y="657226"/>
                      <a:pt x="0" y="657226"/>
                      <a:pt x="0" y="100013"/>
                    </a:cubicBezTo>
                    <a:cubicBezTo>
                      <a:pt x="0" y="45006"/>
                      <a:pt x="45017" y="0"/>
                      <a:pt x="100037" y="0"/>
                    </a:cubicBez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p>
                <a:endParaRPr lang="en-US"/>
              </a:p>
            </p:txBody>
          </p:sp>
        </p:grpSp>
      </p:grpSp>
      <p:grpSp>
        <p:nvGrpSpPr>
          <p:cNvPr id="84" name="bcgIcons_Bank">
            <a:extLst>
              <a:ext uri="{FF2B5EF4-FFF2-40B4-BE49-F238E27FC236}">
                <a16:creationId xmlns:a16="http://schemas.microsoft.com/office/drawing/2014/main" id="{B9CD3580-432D-4508-8A81-DA65CF6E70D9}"/>
              </a:ext>
            </a:extLst>
          </p:cNvPr>
          <p:cNvGrpSpPr>
            <a:grpSpLocks noChangeAspect="1"/>
          </p:cNvGrpSpPr>
          <p:nvPr/>
        </p:nvGrpSpPr>
        <p:grpSpPr bwMode="auto">
          <a:xfrm>
            <a:off x="6975759" y="3095128"/>
            <a:ext cx="352098" cy="352425"/>
            <a:chOff x="1682" y="0"/>
            <a:chExt cx="4316" cy="4320"/>
          </a:xfrm>
        </p:grpSpPr>
        <p:sp>
          <p:nvSpPr>
            <p:cNvPr id="85" name="AutoShape 3">
              <a:extLst>
                <a:ext uri="{FF2B5EF4-FFF2-40B4-BE49-F238E27FC236}">
                  <a16:creationId xmlns:a16="http://schemas.microsoft.com/office/drawing/2014/main" id="{9C346E6B-E788-44C6-9740-941EE2A207BD}"/>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5">
              <a:extLst>
                <a:ext uri="{FF2B5EF4-FFF2-40B4-BE49-F238E27FC236}">
                  <a16:creationId xmlns:a16="http://schemas.microsoft.com/office/drawing/2014/main" id="{61EEF2F3-5E32-48A7-A4F8-F3841294A969}"/>
                </a:ext>
              </a:extLst>
            </p:cNvPr>
            <p:cNvSpPr>
              <a:spLocks noEditPoints="1"/>
            </p:cNvSpPr>
            <p:nvPr/>
          </p:nvSpPr>
          <p:spPr bwMode="auto">
            <a:xfrm>
              <a:off x="2124" y="418"/>
              <a:ext cx="3428" cy="3454"/>
            </a:xfrm>
            <a:custGeom>
              <a:avLst/>
              <a:gdLst>
                <a:gd name="T0" fmla="*/ 1807 w 1830"/>
                <a:gd name="T1" fmla="*/ 1666 h 1842"/>
                <a:gd name="T2" fmla="*/ 1708 w 1830"/>
                <a:gd name="T3" fmla="*/ 1666 h 1842"/>
                <a:gd name="T4" fmla="*/ 1708 w 1830"/>
                <a:gd name="T5" fmla="*/ 1616 h 1842"/>
                <a:gd name="T6" fmla="*/ 1686 w 1830"/>
                <a:gd name="T7" fmla="*/ 1594 h 1842"/>
                <a:gd name="T8" fmla="*/ 144 w 1830"/>
                <a:gd name="T9" fmla="*/ 1594 h 1842"/>
                <a:gd name="T10" fmla="*/ 122 w 1830"/>
                <a:gd name="T11" fmla="*/ 1616 h 1842"/>
                <a:gd name="T12" fmla="*/ 122 w 1830"/>
                <a:gd name="T13" fmla="*/ 1666 h 1842"/>
                <a:gd name="T14" fmla="*/ 23 w 1830"/>
                <a:gd name="T15" fmla="*/ 1666 h 1842"/>
                <a:gd name="T16" fmla="*/ 1 w 1830"/>
                <a:gd name="T17" fmla="*/ 1688 h 1842"/>
                <a:gd name="T18" fmla="*/ 1 w 1830"/>
                <a:gd name="T19" fmla="*/ 1820 h 1842"/>
                <a:gd name="T20" fmla="*/ 23 w 1830"/>
                <a:gd name="T21" fmla="*/ 1842 h 1842"/>
                <a:gd name="T22" fmla="*/ 1807 w 1830"/>
                <a:gd name="T23" fmla="*/ 1842 h 1842"/>
                <a:gd name="T24" fmla="*/ 1829 w 1830"/>
                <a:gd name="T25" fmla="*/ 1820 h 1842"/>
                <a:gd name="T26" fmla="*/ 1829 w 1830"/>
                <a:gd name="T27" fmla="*/ 1688 h 1842"/>
                <a:gd name="T28" fmla="*/ 1807 w 1830"/>
                <a:gd name="T29" fmla="*/ 1666 h 1842"/>
                <a:gd name="T30" fmla="*/ 1818 w 1830"/>
                <a:gd name="T31" fmla="*/ 441 h 1842"/>
                <a:gd name="T32" fmla="*/ 925 w 1830"/>
                <a:gd name="T33" fmla="*/ 3 h 1842"/>
                <a:gd name="T34" fmla="*/ 905 w 1830"/>
                <a:gd name="T35" fmla="*/ 3 h 1842"/>
                <a:gd name="T36" fmla="*/ 12 w 1830"/>
                <a:gd name="T37" fmla="*/ 441 h 1842"/>
                <a:gd name="T38" fmla="*/ 0 w 1830"/>
                <a:gd name="T39" fmla="*/ 461 h 1842"/>
                <a:gd name="T40" fmla="*/ 0 w 1830"/>
                <a:gd name="T41" fmla="*/ 533 h 1842"/>
                <a:gd name="T42" fmla="*/ 22 w 1830"/>
                <a:gd name="T43" fmla="*/ 555 h 1842"/>
                <a:gd name="T44" fmla="*/ 169 w 1830"/>
                <a:gd name="T45" fmla="*/ 555 h 1842"/>
                <a:gd name="T46" fmla="*/ 169 w 1830"/>
                <a:gd name="T47" fmla="*/ 641 h 1842"/>
                <a:gd name="T48" fmla="*/ 191 w 1830"/>
                <a:gd name="T49" fmla="*/ 663 h 1842"/>
                <a:gd name="T50" fmla="*/ 1639 w 1830"/>
                <a:gd name="T51" fmla="*/ 663 h 1842"/>
                <a:gd name="T52" fmla="*/ 1661 w 1830"/>
                <a:gd name="T53" fmla="*/ 641 h 1842"/>
                <a:gd name="T54" fmla="*/ 1661 w 1830"/>
                <a:gd name="T55" fmla="*/ 555 h 1842"/>
                <a:gd name="T56" fmla="*/ 1808 w 1830"/>
                <a:gd name="T57" fmla="*/ 555 h 1842"/>
                <a:gd name="T58" fmla="*/ 1830 w 1830"/>
                <a:gd name="T59" fmla="*/ 533 h 1842"/>
                <a:gd name="T60" fmla="*/ 1830 w 1830"/>
                <a:gd name="T61" fmla="*/ 461 h 1842"/>
                <a:gd name="T62" fmla="*/ 1818 w 1830"/>
                <a:gd name="T63" fmla="*/ 441 h 1842"/>
                <a:gd name="T64" fmla="*/ 1617 w 1830"/>
                <a:gd name="T65" fmla="*/ 619 h 1842"/>
                <a:gd name="T66" fmla="*/ 213 w 1830"/>
                <a:gd name="T67" fmla="*/ 619 h 1842"/>
                <a:gd name="T68" fmla="*/ 213 w 1830"/>
                <a:gd name="T69" fmla="*/ 555 h 1842"/>
                <a:gd name="T70" fmla="*/ 1617 w 1830"/>
                <a:gd name="T71" fmla="*/ 555 h 1842"/>
                <a:gd name="T72" fmla="*/ 1617 w 1830"/>
                <a:gd name="T73" fmla="*/ 619 h 1842"/>
                <a:gd name="T74" fmla="*/ 1786 w 1830"/>
                <a:gd name="T75" fmla="*/ 511 h 1842"/>
                <a:gd name="T76" fmla="*/ 1661 w 1830"/>
                <a:gd name="T77" fmla="*/ 511 h 1842"/>
                <a:gd name="T78" fmla="*/ 1617 w 1830"/>
                <a:gd name="T79" fmla="*/ 511 h 1842"/>
                <a:gd name="T80" fmla="*/ 213 w 1830"/>
                <a:gd name="T81" fmla="*/ 511 h 1842"/>
                <a:gd name="T82" fmla="*/ 169 w 1830"/>
                <a:gd name="T83" fmla="*/ 511 h 1842"/>
                <a:gd name="T84" fmla="*/ 44 w 1830"/>
                <a:gd name="T85" fmla="*/ 511 h 1842"/>
                <a:gd name="T86" fmla="*/ 44 w 1830"/>
                <a:gd name="T87" fmla="*/ 474 h 1842"/>
                <a:gd name="T88" fmla="*/ 915 w 1830"/>
                <a:gd name="T89" fmla="*/ 47 h 1842"/>
                <a:gd name="T90" fmla="*/ 1786 w 1830"/>
                <a:gd name="T91" fmla="*/ 474 h 1842"/>
                <a:gd name="T92" fmla="*/ 1786 w 1830"/>
                <a:gd name="T93" fmla="*/ 511 h 1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830" h="1842">
                  <a:moveTo>
                    <a:pt x="1807" y="1666"/>
                  </a:moveTo>
                  <a:cubicBezTo>
                    <a:pt x="1708" y="1666"/>
                    <a:pt x="1708" y="1666"/>
                    <a:pt x="1708" y="1666"/>
                  </a:cubicBezTo>
                  <a:cubicBezTo>
                    <a:pt x="1708" y="1616"/>
                    <a:pt x="1708" y="1616"/>
                    <a:pt x="1708" y="1616"/>
                  </a:cubicBezTo>
                  <a:cubicBezTo>
                    <a:pt x="1708" y="1603"/>
                    <a:pt x="1699" y="1594"/>
                    <a:pt x="1686" y="1594"/>
                  </a:cubicBezTo>
                  <a:cubicBezTo>
                    <a:pt x="144" y="1594"/>
                    <a:pt x="144" y="1594"/>
                    <a:pt x="144" y="1594"/>
                  </a:cubicBezTo>
                  <a:cubicBezTo>
                    <a:pt x="131" y="1594"/>
                    <a:pt x="122" y="1603"/>
                    <a:pt x="122" y="1616"/>
                  </a:cubicBezTo>
                  <a:cubicBezTo>
                    <a:pt x="122" y="1666"/>
                    <a:pt x="122" y="1666"/>
                    <a:pt x="122" y="1666"/>
                  </a:cubicBezTo>
                  <a:cubicBezTo>
                    <a:pt x="23" y="1666"/>
                    <a:pt x="23" y="1666"/>
                    <a:pt x="23" y="1666"/>
                  </a:cubicBezTo>
                  <a:cubicBezTo>
                    <a:pt x="11" y="1666"/>
                    <a:pt x="1" y="1675"/>
                    <a:pt x="1" y="1688"/>
                  </a:cubicBezTo>
                  <a:cubicBezTo>
                    <a:pt x="1" y="1820"/>
                    <a:pt x="1" y="1820"/>
                    <a:pt x="1" y="1820"/>
                  </a:cubicBezTo>
                  <a:cubicBezTo>
                    <a:pt x="1" y="1832"/>
                    <a:pt x="11" y="1842"/>
                    <a:pt x="23" y="1842"/>
                  </a:cubicBezTo>
                  <a:cubicBezTo>
                    <a:pt x="1807" y="1842"/>
                    <a:pt x="1807" y="1842"/>
                    <a:pt x="1807" y="1842"/>
                  </a:cubicBezTo>
                  <a:cubicBezTo>
                    <a:pt x="1819" y="1842"/>
                    <a:pt x="1829" y="1832"/>
                    <a:pt x="1829" y="1820"/>
                  </a:cubicBezTo>
                  <a:cubicBezTo>
                    <a:pt x="1829" y="1688"/>
                    <a:pt x="1829" y="1688"/>
                    <a:pt x="1829" y="1688"/>
                  </a:cubicBezTo>
                  <a:cubicBezTo>
                    <a:pt x="1829" y="1675"/>
                    <a:pt x="1819" y="1666"/>
                    <a:pt x="1807" y="1666"/>
                  </a:cubicBezTo>
                  <a:close/>
                  <a:moveTo>
                    <a:pt x="1818" y="441"/>
                  </a:moveTo>
                  <a:cubicBezTo>
                    <a:pt x="925" y="3"/>
                    <a:pt x="925" y="3"/>
                    <a:pt x="925" y="3"/>
                  </a:cubicBezTo>
                  <a:cubicBezTo>
                    <a:pt x="919" y="0"/>
                    <a:pt x="911" y="0"/>
                    <a:pt x="905" y="3"/>
                  </a:cubicBezTo>
                  <a:cubicBezTo>
                    <a:pt x="12" y="441"/>
                    <a:pt x="12" y="441"/>
                    <a:pt x="12" y="441"/>
                  </a:cubicBezTo>
                  <a:cubicBezTo>
                    <a:pt x="5" y="445"/>
                    <a:pt x="0" y="452"/>
                    <a:pt x="0" y="461"/>
                  </a:cubicBezTo>
                  <a:cubicBezTo>
                    <a:pt x="0" y="533"/>
                    <a:pt x="0" y="533"/>
                    <a:pt x="0" y="533"/>
                  </a:cubicBezTo>
                  <a:cubicBezTo>
                    <a:pt x="0" y="545"/>
                    <a:pt x="10" y="555"/>
                    <a:pt x="22" y="555"/>
                  </a:cubicBezTo>
                  <a:cubicBezTo>
                    <a:pt x="169" y="555"/>
                    <a:pt x="169" y="555"/>
                    <a:pt x="169" y="555"/>
                  </a:cubicBezTo>
                  <a:cubicBezTo>
                    <a:pt x="169" y="641"/>
                    <a:pt x="169" y="641"/>
                    <a:pt x="169" y="641"/>
                  </a:cubicBezTo>
                  <a:cubicBezTo>
                    <a:pt x="169" y="654"/>
                    <a:pt x="179" y="663"/>
                    <a:pt x="191" y="663"/>
                  </a:cubicBezTo>
                  <a:cubicBezTo>
                    <a:pt x="1639" y="663"/>
                    <a:pt x="1639" y="663"/>
                    <a:pt x="1639" y="663"/>
                  </a:cubicBezTo>
                  <a:cubicBezTo>
                    <a:pt x="1651" y="663"/>
                    <a:pt x="1661" y="654"/>
                    <a:pt x="1661" y="641"/>
                  </a:cubicBezTo>
                  <a:cubicBezTo>
                    <a:pt x="1661" y="555"/>
                    <a:pt x="1661" y="555"/>
                    <a:pt x="1661" y="555"/>
                  </a:cubicBezTo>
                  <a:cubicBezTo>
                    <a:pt x="1808" y="555"/>
                    <a:pt x="1808" y="555"/>
                    <a:pt x="1808" y="555"/>
                  </a:cubicBezTo>
                  <a:cubicBezTo>
                    <a:pt x="1820" y="555"/>
                    <a:pt x="1830" y="545"/>
                    <a:pt x="1830" y="533"/>
                  </a:cubicBezTo>
                  <a:cubicBezTo>
                    <a:pt x="1830" y="461"/>
                    <a:pt x="1830" y="461"/>
                    <a:pt x="1830" y="461"/>
                  </a:cubicBezTo>
                  <a:cubicBezTo>
                    <a:pt x="1830" y="452"/>
                    <a:pt x="1825" y="445"/>
                    <a:pt x="1818" y="441"/>
                  </a:cubicBezTo>
                  <a:close/>
                  <a:moveTo>
                    <a:pt x="1617" y="619"/>
                  </a:moveTo>
                  <a:cubicBezTo>
                    <a:pt x="213" y="619"/>
                    <a:pt x="213" y="619"/>
                    <a:pt x="213" y="619"/>
                  </a:cubicBezTo>
                  <a:cubicBezTo>
                    <a:pt x="213" y="555"/>
                    <a:pt x="213" y="555"/>
                    <a:pt x="213" y="555"/>
                  </a:cubicBezTo>
                  <a:cubicBezTo>
                    <a:pt x="1617" y="555"/>
                    <a:pt x="1617" y="555"/>
                    <a:pt x="1617" y="555"/>
                  </a:cubicBezTo>
                  <a:lnTo>
                    <a:pt x="1617" y="619"/>
                  </a:lnTo>
                  <a:close/>
                  <a:moveTo>
                    <a:pt x="1786" y="511"/>
                  </a:moveTo>
                  <a:cubicBezTo>
                    <a:pt x="1661" y="511"/>
                    <a:pt x="1661" y="511"/>
                    <a:pt x="1661" y="511"/>
                  </a:cubicBezTo>
                  <a:cubicBezTo>
                    <a:pt x="1617" y="511"/>
                    <a:pt x="1617" y="511"/>
                    <a:pt x="1617" y="511"/>
                  </a:cubicBezTo>
                  <a:cubicBezTo>
                    <a:pt x="213" y="511"/>
                    <a:pt x="213" y="511"/>
                    <a:pt x="213" y="511"/>
                  </a:cubicBezTo>
                  <a:cubicBezTo>
                    <a:pt x="169" y="511"/>
                    <a:pt x="169" y="511"/>
                    <a:pt x="169" y="511"/>
                  </a:cubicBezTo>
                  <a:cubicBezTo>
                    <a:pt x="44" y="511"/>
                    <a:pt x="44" y="511"/>
                    <a:pt x="44" y="511"/>
                  </a:cubicBezTo>
                  <a:cubicBezTo>
                    <a:pt x="44" y="474"/>
                    <a:pt x="44" y="474"/>
                    <a:pt x="44" y="474"/>
                  </a:cubicBezTo>
                  <a:cubicBezTo>
                    <a:pt x="915" y="47"/>
                    <a:pt x="915" y="47"/>
                    <a:pt x="915" y="47"/>
                  </a:cubicBezTo>
                  <a:cubicBezTo>
                    <a:pt x="1786" y="474"/>
                    <a:pt x="1786" y="474"/>
                    <a:pt x="1786" y="474"/>
                  </a:cubicBezTo>
                  <a:lnTo>
                    <a:pt x="1786" y="5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6">
              <a:extLst>
                <a:ext uri="{FF2B5EF4-FFF2-40B4-BE49-F238E27FC236}">
                  <a16:creationId xmlns:a16="http://schemas.microsoft.com/office/drawing/2014/main" id="{1D77D616-DB7C-40F8-9632-BC312012A1CE}"/>
                </a:ext>
              </a:extLst>
            </p:cNvPr>
            <p:cNvSpPr>
              <a:spLocks noEditPoints="1"/>
            </p:cNvSpPr>
            <p:nvPr/>
          </p:nvSpPr>
          <p:spPr bwMode="auto">
            <a:xfrm>
              <a:off x="2574" y="778"/>
              <a:ext cx="2529" cy="2516"/>
            </a:xfrm>
            <a:custGeom>
              <a:avLst/>
              <a:gdLst>
                <a:gd name="T0" fmla="*/ 783 w 1350"/>
                <a:gd name="T1" fmla="*/ 108 h 1342"/>
                <a:gd name="T2" fmla="*/ 675 w 1350"/>
                <a:gd name="T3" fmla="*/ 216 h 1342"/>
                <a:gd name="T4" fmla="*/ 567 w 1350"/>
                <a:gd name="T5" fmla="*/ 108 h 1342"/>
                <a:gd name="T6" fmla="*/ 675 w 1350"/>
                <a:gd name="T7" fmla="*/ 0 h 1342"/>
                <a:gd name="T8" fmla="*/ 783 w 1350"/>
                <a:gd name="T9" fmla="*/ 108 h 1342"/>
                <a:gd name="T10" fmla="*/ 174 w 1350"/>
                <a:gd name="T11" fmla="*/ 540 h 1342"/>
                <a:gd name="T12" fmla="*/ 164 w 1350"/>
                <a:gd name="T13" fmla="*/ 531 h 1342"/>
                <a:gd name="T14" fmla="*/ 35 w 1350"/>
                <a:gd name="T15" fmla="*/ 531 h 1342"/>
                <a:gd name="T16" fmla="*/ 25 w 1350"/>
                <a:gd name="T17" fmla="*/ 540 h 1342"/>
                <a:gd name="T18" fmla="*/ 0 w 1350"/>
                <a:gd name="T19" fmla="*/ 1332 h 1342"/>
                <a:gd name="T20" fmla="*/ 10 w 1350"/>
                <a:gd name="T21" fmla="*/ 1342 h 1342"/>
                <a:gd name="T22" fmla="*/ 188 w 1350"/>
                <a:gd name="T23" fmla="*/ 1342 h 1342"/>
                <a:gd name="T24" fmla="*/ 198 w 1350"/>
                <a:gd name="T25" fmla="*/ 1332 h 1342"/>
                <a:gd name="T26" fmla="*/ 174 w 1350"/>
                <a:gd name="T27" fmla="*/ 540 h 1342"/>
                <a:gd name="T28" fmla="*/ 557 w 1350"/>
                <a:gd name="T29" fmla="*/ 540 h 1342"/>
                <a:gd name="T30" fmla="*/ 548 w 1350"/>
                <a:gd name="T31" fmla="*/ 531 h 1342"/>
                <a:gd name="T32" fmla="*/ 418 w 1350"/>
                <a:gd name="T33" fmla="*/ 531 h 1342"/>
                <a:gd name="T34" fmla="*/ 409 w 1350"/>
                <a:gd name="T35" fmla="*/ 540 h 1342"/>
                <a:gd name="T36" fmla="*/ 384 w 1350"/>
                <a:gd name="T37" fmla="*/ 1332 h 1342"/>
                <a:gd name="T38" fmla="*/ 394 w 1350"/>
                <a:gd name="T39" fmla="*/ 1342 h 1342"/>
                <a:gd name="T40" fmla="*/ 572 w 1350"/>
                <a:gd name="T41" fmla="*/ 1342 h 1342"/>
                <a:gd name="T42" fmla="*/ 582 w 1350"/>
                <a:gd name="T43" fmla="*/ 1332 h 1342"/>
                <a:gd name="T44" fmla="*/ 557 w 1350"/>
                <a:gd name="T45" fmla="*/ 540 h 1342"/>
                <a:gd name="T46" fmla="*/ 941 w 1350"/>
                <a:gd name="T47" fmla="*/ 540 h 1342"/>
                <a:gd name="T48" fmla="*/ 932 w 1350"/>
                <a:gd name="T49" fmla="*/ 531 h 1342"/>
                <a:gd name="T50" fmla="*/ 802 w 1350"/>
                <a:gd name="T51" fmla="*/ 531 h 1342"/>
                <a:gd name="T52" fmla="*/ 793 w 1350"/>
                <a:gd name="T53" fmla="*/ 540 h 1342"/>
                <a:gd name="T54" fmla="*/ 768 w 1350"/>
                <a:gd name="T55" fmla="*/ 1332 h 1342"/>
                <a:gd name="T56" fmla="*/ 778 w 1350"/>
                <a:gd name="T57" fmla="*/ 1342 h 1342"/>
                <a:gd name="T58" fmla="*/ 956 w 1350"/>
                <a:gd name="T59" fmla="*/ 1342 h 1342"/>
                <a:gd name="T60" fmla="*/ 966 w 1350"/>
                <a:gd name="T61" fmla="*/ 1332 h 1342"/>
                <a:gd name="T62" fmla="*/ 941 w 1350"/>
                <a:gd name="T63" fmla="*/ 540 h 1342"/>
                <a:gd name="T64" fmla="*/ 1325 w 1350"/>
                <a:gd name="T65" fmla="*/ 540 h 1342"/>
                <a:gd name="T66" fmla="*/ 1315 w 1350"/>
                <a:gd name="T67" fmla="*/ 531 h 1342"/>
                <a:gd name="T68" fmla="*/ 1186 w 1350"/>
                <a:gd name="T69" fmla="*/ 531 h 1342"/>
                <a:gd name="T70" fmla="*/ 1176 w 1350"/>
                <a:gd name="T71" fmla="*/ 540 h 1342"/>
                <a:gd name="T72" fmla="*/ 1152 w 1350"/>
                <a:gd name="T73" fmla="*/ 1332 h 1342"/>
                <a:gd name="T74" fmla="*/ 1162 w 1350"/>
                <a:gd name="T75" fmla="*/ 1342 h 1342"/>
                <a:gd name="T76" fmla="*/ 1340 w 1350"/>
                <a:gd name="T77" fmla="*/ 1342 h 1342"/>
                <a:gd name="T78" fmla="*/ 1350 w 1350"/>
                <a:gd name="T79" fmla="*/ 1332 h 1342"/>
                <a:gd name="T80" fmla="*/ 1325 w 1350"/>
                <a:gd name="T81" fmla="*/ 540 h 1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50" h="1342">
                  <a:moveTo>
                    <a:pt x="783" y="108"/>
                  </a:moveTo>
                  <a:cubicBezTo>
                    <a:pt x="783" y="167"/>
                    <a:pt x="735" y="216"/>
                    <a:pt x="675" y="216"/>
                  </a:cubicBezTo>
                  <a:cubicBezTo>
                    <a:pt x="615" y="216"/>
                    <a:pt x="567" y="167"/>
                    <a:pt x="567" y="108"/>
                  </a:cubicBezTo>
                  <a:cubicBezTo>
                    <a:pt x="567" y="48"/>
                    <a:pt x="615" y="0"/>
                    <a:pt x="675" y="0"/>
                  </a:cubicBezTo>
                  <a:cubicBezTo>
                    <a:pt x="735" y="0"/>
                    <a:pt x="783" y="48"/>
                    <a:pt x="783" y="108"/>
                  </a:cubicBezTo>
                  <a:close/>
                  <a:moveTo>
                    <a:pt x="174" y="540"/>
                  </a:moveTo>
                  <a:cubicBezTo>
                    <a:pt x="174" y="535"/>
                    <a:pt x="169" y="531"/>
                    <a:pt x="164" y="531"/>
                  </a:cubicBezTo>
                  <a:cubicBezTo>
                    <a:pt x="35" y="531"/>
                    <a:pt x="35" y="531"/>
                    <a:pt x="35" y="531"/>
                  </a:cubicBezTo>
                  <a:cubicBezTo>
                    <a:pt x="29" y="531"/>
                    <a:pt x="25" y="535"/>
                    <a:pt x="25" y="540"/>
                  </a:cubicBezTo>
                  <a:cubicBezTo>
                    <a:pt x="0" y="1332"/>
                    <a:pt x="0" y="1332"/>
                    <a:pt x="0" y="1332"/>
                  </a:cubicBezTo>
                  <a:cubicBezTo>
                    <a:pt x="0" y="1337"/>
                    <a:pt x="5" y="1342"/>
                    <a:pt x="10" y="1342"/>
                  </a:cubicBezTo>
                  <a:cubicBezTo>
                    <a:pt x="188" y="1342"/>
                    <a:pt x="188" y="1342"/>
                    <a:pt x="188" y="1342"/>
                  </a:cubicBezTo>
                  <a:cubicBezTo>
                    <a:pt x="194" y="1342"/>
                    <a:pt x="198" y="1337"/>
                    <a:pt x="198" y="1332"/>
                  </a:cubicBezTo>
                  <a:lnTo>
                    <a:pt x="174" y="540"/>
                  </a:lnTo>
                  <a:close/>
                  <a:moveTo>
                    <a:pt x="557" y="540"/>
                  </a:moveTo>
                  <a:cubicBezTo>
                    <a:pt x="557" y="535"/>
                    <a:pt x="553" y="531"/>
                    <a:pt x="548" y="531"/>
                  </a:cubicBezTo>
                  <a:cubicBezTo>
                    <a:pt x="418" y="531"/>
                    <a:pt x="418" y="531"/>
                    <a:pt x="418" y="531"/>
                  </a:cubicBezTo>
                  <a:cubicBezTo>
                    <a:pt x="413" y="531"/>
                    <a:pt x="409" y="535"/>
                    <a:pt x="409" y="540"/>
                  </a:cubicBezTo>
                  <a:cubicBezTo>
                    <a:pt x="384" y="1332"/>
                    <a:pt x="384" y="1332"/>
                    <a:pt x="384" y="1332"/>
                  </a:cubicBezTo>
                  <a:cubicBezTo>
                    <a:pt x="384" y="1337"/>
                    <a:pt x="389" y="1342"/>
                    <a:pt x="394" y="1342"/>
                  </a:cubicBezTo>
                  <a:cubicBezTo>
                    <a:pt x="572" y="1342"/>
                    <a:pt x="572" y="1342"/>
                    <a:pt x="572" y="1342"/>
                  </a:cubicBezTo>
                  <a:cubicBezTo>
                    <a:pt x="578" y="1342"/>
                    <a:pt x="582" y="1337"/>
                    <a:pt x="582" y="1332"/>
                  </a:cubicBezTo>
                  <a:lnTo>
                    <a:pt x="557" y="540"/>
                  </a:lnTo>
                  <a:close/>
                  <a:moveTo>
                    <a:pt x="941" y="540"/>
                  </a:moveTo>
                  <a:cubicBezTo>
                    <a:pt x="941" y="535"/>
                    <a:pt x="937" y="531"/>
                    <a:pt x="932" y="531"/>
                  </a:cubicBezTo>
                  <a:cubicBezTo>
                    <a:pt x="802" y="531"/>
                    <a:pt x="802" y="531"/>
                    <a:pt x="802" y="531"/>
                  </a:cubicBezTo>
                  <a:cubicBezTo>
                    <a:pt x="797" y="531"/>
                    <a:pt x="793" y="535"/>
                    <a:pt x="793" y="540"/>
                  </a:cubicBezTo>
                  <a:cubicBezTo>
                    <a:pt x="768" y="1332"/>
                    <a:pt x="768" y="1332"/>
                    <a:pt x="768" y="1332"/>
                  </a:cubicBezTo>
                  <a:cubicBezTo>
                    <a:pt x="768" y="1337"/>
                    <a:pt x="772" y="1342"/>
                    <a:pt x="778" y="1342"/>
                  </a:cubicBezTo>
                  <a:cubicBezTo>
                    <a:pt x="956" y="1342"/>
                    <a:pt x="956" y="1342"/>
                    <a:pt x="956" y="1342"/>
                  </a:cubicBezTo>
                  <a:cubicBezTo>
                    <a:pt x="961" y="1342"/>
                    <a:pt x="966" y="1337"/>
                    <a:pt x="966" y="1332"/>
                  </a:cubicBezTo>
                  <a:lnTo>
                    <a:pt x="941" y="540"/>
                  </a:lnTo>
                  <a:close/>
                  <a:moveTo>
                    <a:pt x="1325" y="540"/>
                  </a:moveTo>
                  <a:cubicBezTo>
                    <a:pt x="1325" y="535"/>
                    <a:pt x="1321" y="531"/>
                    <a:pt x="1315" y="531"/>
                  </a:cubicBezTo>
                  <a:cubicBezTo>
                    <a:pt x="1186" y="531"/>
                    <a:pt x="1186" y="531"/>
                    <a:pt x="1186" y="531"/>
                  </a:cubicBezTo>
                  <a:cubicBezTo>
                    <a:pt x="1181" y="531"/>
                    <a:pt x="1176" y="535"/>
                    <a:pt x="1176" y="540"/>
                  </a:cubicBezTo>
                  <a:cubicBezTo>
                    <a:pt x="1152" y="1332"/>
                    <a:pt x="1152" y="1332"/>
                    <a:pt x="1152" y="1332"/>
                  </a:cubicBezTo>
                  <a:cubicBezTo>
                    <a:pt x="1152" y="1337"/>
                    <a:pt x="1156" y="1342"/>
                    <a:pt x="1162" y="1342"/>
                  </a:cubicBezTo>
                  <a:cubicBezTo>
                    <a:pt x="1340" y="1342"/>
                    <a:pt x="1340" y="1342"/>
                    <a:pt x="1340" y="1342"/>
                  </a:cubicBezTo>
                  <a:cubicBezTo>
                    <a:pt x="1345" y="1342"/>
                    <a:pt x="1350" y="1337"/>
                    <a:pt x="1350" y="1332"/>
                  </a:cubicBezTo>
                  <a:lnTo>
                    <a:pt x="1325" y="5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8" name="bcgIcons_PublicSector">
            <a:extLst>
              <a:ext uri="{FF2B5EF4-FFF2-40B4-BE49-F238E27FC236}">
                <a16:creationId xmlns:a16="http://schemas.microsoft.com/office/drawing/2014/main" id="{DCC15F7D-CDC2-4E1F-A0B5-9B1EF884CF51}"/>
              </a:ext>
            </a:extLst>
          </p:cNvPr>
          <p:cNvGrpSpPr>
            <a:grpSpLocks noChangeAspect="1"/>
          </p:cNvGrpSpPr>
          <p:nvPr/>
        </p:nvGrpSpPr>
        <p:grpSpPr bwMode="auto">
          <a:xfrm>
            <a:off x="8278633" y="2878177"/>
            <a:ext cx="315998" cy="316291"/>
            <a:chOff x="1682" y="0"/>
            <a:chExt cx="4316" cy="4320"/>
          </a:xfrm>
        </p:grpSpPr>
        <p:sp>
          <p:nvSpPr>
            <p:cNvPr id="89" name="AutoShape 18">
              <a:extLst>
                <a:ext uri="{FF2B5EF4-FFF2-40B4-BE49-F238E27FC236}">
                  <a16:creationId xmlns:a16="http://schemas.microsoft.com/office/drawing/2014/main" id="{575286B9-FCC8-4EFB-9834-BD5493C559C3}"/>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20">
              <a:extLst>
                <a:ext uri="{FF2B5EF4-FFF2-40B4-BE49-F238E27FC236}">
                  <a16:creationId xmlns:a16="http://schemas.microsoft.com/office/drawing/2014/main" id="{CEF9E0BC-00B7-4B29-B377-3473BD5B2EB2}"/>
                </a:ext>
              </a:extLst>
            </p:cNvPr>
            <p:cNvSpPr>
              <a:spLocks noEditPoints="1"/>
            </p:cNvSpPr>
            <p:nvPr/>
          </p:nvSpPr>
          <p:spPr bwMode="auto">
            <a:xfrm>
              <a:off x="1847" y="431"/>
              <a:ext cx="3979" cy="3443"/>
            </a:xfrm>
            <a:custGeom>
              <a:avLst/>
              <a:gdLst>
                <a:gd name="T0" fmla="*/ 227 w 2124"/>
                <a:gd name="T1" fmla="*/ 496 h 1836"/>
                <a:gd name="T2" fmla="*/ 528 w 2124"/>
                <a:gd name="T3" fmla="*/ 467 h 1836"/>
                <a:gd name="T4" fmla="*/ 996 w 2124"/>
                <a:gd name="T5" fmla="*/ 467 h 1836"/>
                <a:gd name="T6" fmla="*/ 695 w 2124"/>
                <a:gd name="T7" fmla="*/ 496 h 1836"/>
                <a:gd name="T8" fmla="*/ 994 w 2124"/>
                <a:gd name="T9" fmla="*/ 498 h 1836"/>
                <a:gd name="T10" fmla="*/ 1130 w 2124"/>
                <a:gd name="T11" fmla="*/ 467 h 1836"/>
                <a:gd name="T12" fmla="*/ 1431 w 2124"/>
                <a:gd name="T13" fmla="*/ 496 h 1836"/>
                <a:gd name="T14" fmla="*/ 1933 w 2124"/>
                <a:gd name="T15" fmla="*/ 467 h 1836"/>
                <a:gd name="T16" fmla="*/ 1631 w 2124"/>
                <a:gd name="T17" fmla="*/ 496 h 1836"/>
                <a:gd name="T18" fmla="*/ 1930 w 2124"/>
                <a:gd name="T19" fmla="*/ 498 h 1836"/>
                <a:gd name="T20" fmla="*/ 427 w 2124"/>
                <a:gd name="T21" fmla="*/ 273 h 1836"/>
                <a:gd name="T22" fmla="*/ 729 w 2124"/>
                <a:gd name="T23" fmla="*/ 301 h 1836"/>
                <a:gd name="T24" fmla="*/ 1230 w 2124"/>
                <a:gd name="T25" fmla="*/ 273 h 1836"/>
                <a:gd name="T26" fmla="*/ 929 w 2124"/>
                <a:gd name="T27" fmla="*/ 301 h 1836"/>
                <a:gd name="T28" fmla="*/ 1228 w 2124"/>
                <a:gd name="T29" fmla="*/ 304 h 1836"/>
                <a:gd name="T30" fmla="*/ 1364 w 2124"/>
                <a:gd name="T31" fmla="*/ 273 h 1836"/>
                <a:gd name="T32" fmla="*/ 1665 w 2124"/>
                <a:gd name="T33" fmla="*/ 301 h 1836"/>
                <a:gd name="T34" fmla="*/ 996 w 2124"/>
                <a:gd name="T35" fmla="*/ 78 h 1836"/>
                <a:gd name="T36" fmla="*/ 695 w 2124"/>
                <a:gd name="T37" fmla="*/ 107 h 1836"/>
                <a:gd name="T38" fmla="*/ 994 w 2124"/>
                <a:gd name="T39" fmla="*/ 109 h 1836"/>
                <a:gd name="T40" fmla="*/ 1130 w 2124"/>
                <a:gd name="T41" fmla="*/ 78 h 1836"/>
                <a:gd name="T42" fmla="*/ 1431 w 2124"/>
                <a:gd name="T43" fmla="*/ 107 h 1836"/>
                <a:gd name="T44" fmla="*/ 1893 w 2124"/>
                <a:gd name="T45" fmla="*/ 584 h 1836"/>
                <a:gd name="T46" fmla="*/ 1893 w 2124"/>
                <a:gd name="T47" fmla="*/ 628 h 1836"/>
                <a:gd name="T48" fmla="*/ 2060 w 2124"/>
                <a:gd name="T49" fmla="*/ 662 h 1836"/>
                <a:gd name="T50" fmla="*/ 69 w 2124"/>
                <a:gd name="T51" fmla="*/ 693 h 1836"/>
                <a:gd name="T52" fmla="*/ 377 w 2124"/>
                <a:gd name="T53" fmla="*/ 638 h 1836"/>
                <a:gd name="T54" fmla="*/ 1533 w 2124"/>
                <a:gd name="T55" fmla="*/ 1602 h 1836"/>
                <a:gd name="T56" fmla="*/ 1155 w 2124"/>
                <a:gd name="T57" fmla="*/ 1543 h 1836"/>
                <a:gd name="T58" fmla="*/ 2102 w 2124"/>
                <a:gd name="T59" fmla="*/ 1836 h 1836"/>
                <a:gd name="T60" fmla="*/ 1191 w 2124"/>
                <a:gd name="T61" fmla="*/ 1811 h 1836"/>
                <a:gd name="T62" fmla="*/ 787 w 2124"/>
                <a:gd name="T63" fmla="*/ 1449 h 1836"/>
                <a:gd name="T64" fmla="*/ 404 w 2124"/>
                <a:gd name="T65" fmla="*/ 1449 h 1836"/>
                <a:gd name="T66" fmla="*/ 0 w 2124"/>
                <a:gd name="T67" fmla="*/ 1814 h 1836"/>
                <a:gd name="T68" fmla="*/ 1191 w 2124"/>
                <a:gd name="T69" fmla="*/ 1811 h 1836"/>
                <a:gd name="T70" fmla="*/ 896 w 2124"/>
                <a:gd name="T71" fmla="*/ 662 h 1836"/>
                <a:gd name="T72" fmla="*/ 1197 w 2124"/>
                <a:gd name="T73" fmla="*/ 690 h 1836"/>
                <a:gd name="T74" fmla="*/ 1356 w 2124"/>
                <a:gd name="T75" fmla="*/ 1362 h 1836"/>
                <a:gd name="T76" fmla="*/ 1407 w 2124"/>
                <a:gd name="T77" fmla="*/ 1450 h 1836"/>
                <a:gd name="T78" fmla="*/ 1649 w 2124"/>
                <a:gd name="T79" fmla="*/ 1450 h 1836"/>
                <a:gd name="T80" fmla="*/ 1701 w 2124"/>
                <a:gd name="T81" fmla="*/ 1362 h 1836"/>
                <a:gd name="T82" fmla="*/ 1796 w 2124"/>
                <a:gd name="T83" fmla="*/ 1101 h 1836"/>
                <a:gd name="T84" fmla="*/ 1528 w 2124"/>
                <a:gd name="T85" fmla="*/ 1401 h 1836"/>
                <a:gd name="T86" fmla="*/ 1261 w 2124"/>
                <a:gd name="T87" fmla="*/ 1101 h 1836"/>
                <a:gd name="T88" fmla="*/ 322 w 2124"/>
                <a:gd name="T89" fmla="*/ 1157 h 1836"/>
                <a:gd name="T90" fmla="*/ 440 w 2124"/>
                <a:gd name="T91" fmla="*/ 1423 h 1836"/>
                <a:gd name="T92" fmla="*/ 717 w 2124"/>
                <a:gd name="T93" fmla="*/ 1399 h 1836"/>
                <a:gd name="T94" fmla="*/ 761 w 2124"/>
                <a:gd name="T95" fmla="*/ 1367 h 1836"/>
                <a:gd name="T96" fmla="*/ 916 w 2124"/>
                <a:gd name="T97" fmla="*/ 1076 h 1836"/>
                <a:gd name="T98" fmla="*/ 738 w 2124"/>
                <a:gd name="T99" fmla="*/ 1329 h 1836"/>
                <a:gd name="T100" fmla="*/ 350 w 2124"/>
                <a:gd name="T101" fmla="*/ 1122 h 1836"/>
                <a:gd name="T102" fmla="*/ 322 w 2124"/>
                <a:gd name="T103" fmla="*/ 115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24" h="1836">
                  <a:moveTo>
                    <a:pt x="512" y="503"/>
                  </a:moveTo>
                  <a:cubicBezTo>
                    <a:pt x="505" y="503"/>
                    <a:pt x="499" y="501"/>
                    <a:pt x="495" y="496"/>
                  </a:cubicBezTo>
                  <a:cubicBezTo>
                    <a:pt x="461" y="456"/>
                    <a:pt x="413" y="433"/>
                    <a:pt x="361" y="433"/>
                  </a:cubicBezTo>
                  <a:cubicBezTo>
                    <a:pt x="309" y="433"/>
                    <a:pt x="260" y="456"/>
                    <a:pt x="227" y="496"/>
                  </a:cubicBezTo>
                  <a:cubicBezTo>
                    <a:pt x="219" y="505"/>
                    <a:pt x="205" y="506"/>
                    <a:pt x="196" y="498"/>
                  </a:cubicBezTo>
                  <a:cubicBezTo>
                    <a:pt x="187" y="491"/>
                    <a:pt x="186" y="477"/>
                    <a:pt x="193" y="467"/>
                  </a:cubicBezTo>
                  <a:cubicBezTo>
                    <a:pt x="235" y="418"/>
                    <a:pt x="296" y="389"/>
                    <a:pt x="361" y="389"/>
                  </a:cubicBezTo>
                  <a:cubicBezTo>
                    <a:pt x="426" y="389"/>
                    <a:pt x="487" y="418"/>
                    <a:pt x="528" y="467"/>
                  </a:cubicBezTo>
                  <a:cubicBezTo>
                    <a:pt x="536" y="477"/>
                    <a:pt x="535" y="491"/>
                    <a:pt x="526" y="498"/>
                  </a:cubicBezTo>
                  <a:cubicBezTo>
                    <a:pt x="522" y="502"/>
                    <a:pt x="516" y="503"/>
                    <a:pt x="512" y="503"/>
                  </a:cubicBezTo>
                  <a:close/>
                  <a:moveTo>
                    <a:pt x="994" y="498"/>
                  </a:moveTo>
                  <a:cubicBezTo>
                    <a:pt x="1003" y="491"/>
                    <a:pt x="1004" y="477"/>
                    <a:pt x="996" y="467"/>
                  </a:cubicBezTo>
                  <a:cubicBezTo>
                    <a:pt x="955" y="418"/>
                    <a:pt x="894" y="389"/>
                    <a:pt x="829" y="389"/>
                  </a:cubicBezTo>
                  <a:cubicBezTo>
                    <a:pt x="764" y="389"/>
                    <a:pt x="703" y="418"/>
                    <a:pt x="661" y="467"/>
                  </a:cubicBezTo>
                  <a:cubicBezTo>
                    <a:pt x="654" y="477"/>
                    <a:pt x="655" y="491"/>
                    <a:pt x="664" y="498"/>
                  </a:cubicBezTo>
                  <a:cubicBezTo>
                    <a:pt x="673" y="506"/>
                    <a:pt x="687" y="505"/>
                    <a:pt x="695" y="496"/>
                  </a:cubicBezTo>
                  <a:cubicBezTo>
                    <a:pt x="728" y="456"/>
                    <a:pt x="777" y="433"/>
                    <a:pt x="829" y="433"/>
                  </a:cubicBezTo>
                  <a:cubicBezTo>
                    <a:pt x="881" y="433"/>
                    <a:pt x="929" y="456"/>
                    <a:pt x="963" y="496"/>
                  </a:cubicBezTo>
                  <a:cubicBezTo>
                    <a:pt x="967" y="501"/>
                    <a:pt x="973" y="503"/>
                    <a:pt x="980" y="503"/>
                  </a:cubicBezTo>
                  <a:cubicBezTo>
                    <a:pt x="985" y="503"/>
                    <a:pt x="990" y="502"/>
                    <a:pt x="994" y="498"/>
                  </a:cubicBezTo>
                  <a:close/>
                  <a:moveTo>
                    <a:pt x="1462" y="498"/>
                  </a:moveTo>
                  <a:cubicBezTo>
                    <a:pt x="1471" y="491"/>
                    <a:pt x="1472" y="477"/>
                    <a:pt x="1465" y="467"/>
                  </a:cubicBezTo>
                  <a:cubicBezTo>
                    <a:pt x="1423" y="418"/>
                    <a:pt x="1362" y="389"/>
                    <a:pt x="1297" y="389"/>
                  </a:cubicBezTo>
                  <a:cubicBezTo>
                    <a:pt x="1232" y="389"/>
                    <a:pt x="1171" y="418"/>
                    <a:pt x="1130" y="467"/>
                  </a:cubicBezTo>
                  <a:cubicBezTo>
                    <a:pt x="1122" y="477"/>
                    <a:pt x="1123" y="491"/>
                    <a:pt x="1132" y="498"/>
                  </a:cubicBezTo>
                  <a:cubicBezTo>
                    <a:pt x="1142" y="506"/>
                    <a:pt x="1155" y="505"/>
                    <a:pt x="1163" y="496"/>
                  </a:cubicBezTo>
                  <a:cubicBezTo>
                    <a:pt x="1197" y="456"/>
                    <a:pt x="1245" y="433"/>
                    <a:pt x="1297" y="433"/>
                  </a:cubicBezTo>
                  <a:cubicBezTo>
                    <a:pt x="1349" y="433"/>
                    <a:pt x="1398" y="456"/>
                    <a:pt x="1431" y="496"/>
                  </a:cubicBezTo>
                  <a:cubicBezTo>
                    <a:pt x="1435" y="501"/>
                    <a:pt x="1441" y="503"/>
                    <a:pt x="1448" y="503"/>
                  </a:cubicBezTo>
                  <a:cubicBezTo>
                    <a:pt x="1453" y="503"/>
                    <a:pt x="1458" y="502"/>
                    <a:pt x="1462" y="498"/>
                  </a:cubicBezTo>
                  <a:close/>
                  <a:moveTo>
                    <a:pt x="1930" y="498"/>
                  </a:moveTo>
                  <a:cubicBezTo>
                    <a:pt x="1939" y="491"/>
                    <a:pt x="1940" y="477"/>
                    <a:pt x="1933" y="467"/>
                  </a:cubicBezTo>
                  <a:cubicBezTo>
                    <a:pt x="1891" y="418"/>
                    <a:pt x="1830" y="389"/>
                    <a:pt x="1765" y="389"/>
                  </a:cubicBezTo>
                  <a:cubicBezTo>
                    <a:pt x="1700" y="389"/>
                    <a:pt x="1639" y="418"/>
                    <a:pt x="1598" y="467"/>
                  </a:cubicBezTo>
                  <a:cubicBezTo>
                    <a:pt x="1590" y="477"/>
                    <a:pt x="1591" y="491"/>
                    <a:pt x="1600" y="498"/>
                  </a:cubicBezTo>
                  <a:cubicBezTo>
                    <a:pt x="1610" y="506"/>
                    <a:pt x="1624" y="505"/>
                    <a:pt x="1631" y="496"/>
                  </a:cubicBezTo>
                  <a:cubicBezTo>
                    <a:pt x="1665" y="456"/>
                    <a:pt x="1713" y="433"/>
                    <a:pt x="1765" y="433"/>
                  </a:cubicBezTo>
                  <a:cubicBezTo>
                    <a:pt x="1817" y="433"/>
                    <a:pt x="1866" y="456"/>
                    <a:pt x="1899" y="496"/>
                  </a:cubicBezTo>
                  <a:cubicBezTo>
                    <a:pt x="1903" y="501"/>
                    <a:pt x="1910" y="503"/>
                    <a:pt x="1916" y="503"/>
                  </a:cubicBezTo>
                  <a:cubicBezTo>
                    <a:pt x="1921" y="503"/>
                    <a:pt x="1926" y="502"/>
                    <a:pt x="1930" y="498"/>
                  </a:cubicBezTo>
                  <a:close/>
                  <a:moveTo>
                    <a:pt x="760" y="304"/>
                  </a:moveTo>
                  <a:cubicBezTo>
                    <a:pt x="769" y="296"/>
                    <a:pt x="770" y="282"/>
                    <a:pt x="762" y="273"/>
                  </a:cubicBezTo>
                  <a:cubicBezTo>
                    <a:pt x="721" y="223"/>
                    <a:pt x="660" y="195"/>
                    <a:pt x="595" y="195"/>
                  </a:cubicBezTo>
                  <a:cubicBezTo>
                    <a:pt x="530" y="195"/>
                    <a:pt x="469" y="223"/>
                    <a:pt x="427" y="273"/>
                  </a:cubicBezTo>
                  <a:cubicBezTo>
                    <a:pt x="420" y="282"/>
                    <a:pt x="421" y="296"/>
                    <a:pt x="430" y="304"/>
                  </a:cubicBezTo>
                  <a:cubicBezTo>
                    <a:pt x="439" y="312"/>
                    <a:pt x="453" y="310"/>
                    <a:pt x="461" y="301"/>
                  </a:cubicBezTo>
                  <a:cubicBezTo>
                    <a:pt x="494" y="262"/>
                    <a:pt x="543" y="239"/>
                    <a:pt x="595" y="239"/>
                  </a:cubicBezTo>
                  <a:cubicBezTo>
                    <a:pt x="647" y="239"/>
                    <a:pt x="695" y="262"/>
                    <a:pt x="729" y="301"/>
                  </a:cubicBezTo>
                  <a:cubicBezTo>
                    <a:pt x="733" y="306"/>
                    <a:pt x="739" y="309"/>
                    <a:pt x="746" y="309"/>
                  </a:cubicBezTo>
                  <a:cubicBezTo>
                    <a:pt x="751" y="309"/>
                    <a:pt x="756" y="307"/>
                    <a:pt x="760" y="304"/>
                  </a:cubicBezTo>
                  <a:close/>
                  <a:moveTo>
                    <a:pt x="1228" y="304"/>
                  </a:moveTo>
                  <a:cubicBezTo>
                    <a:pt x="1237" y="296"/>
                    <a:pt x="1238" y="282"/>
                    <a:pt x="1230" y="273"/>
                  </a:cubicBezTo>
                  <a:cubicBezTo>
                    <a:pt x="1189" y="223"/>
                    <a:pt x="1128" y="195"/>
                    <a:pt x="1063" y="195"/>
                  </a:cubicBezTo>
                  <a:cubicBezTo>
                    <a:pt x="998" y="195"/>
                    <a:pt x="937" y="223"/>
                    <a:pt x="896" y="273"/>
                  </a:cubicBezTo>
                  <a:cubicBezTo>
                    <a:pt x="888" y="282"/>
                    <a:pt x="889" y="296"/>
                    <a:pt x="898" y="304"/>
                  </a:cubicBezTo>
                  <a:cubicBezTo>
                    <a:pt x="908" y="312"/>
                    <a:pt x="921" y="310"/>
                    <a:pt x="929" y="301"/>
                  </a:cubicBezTo>
                  <a:cubicBezTo>
                    <a:pt x="963" y="262"/>
                    <a:pt x="1011" y="239"/>
                    <a:pt x="1063" y="239"/>
                  </a:cubicBezTo>
                  <a:cubicBezTo>
                    <a:pt x="1115" y="239"/>
                    <a:pt x="1163" y="262"/>
                    <a:pt x="1197" y="301"/>
                  </a:cubicBezTo>
                  <a:cubicBezTo>
                    <a:pt x="1201" y="306"/>
                    <a:pt x="1207" y="309"/>
                    <a:pt x="1214" y="309"/>
                  </a:cubicBezTo>
                  <a:cubicBezTo>
                    <a:pt x="1219" y="309"/>
                    <a:pt x="1224" y="307"/>
                    <a:pt x="1228" y="304"/>
                  </a:cubicBezTo>
                  <a:close/>
                  <a:moveTo>
                    <a:pt x="1696" y="304"/>
                  </a:moveTo>
                  <a:cubicBezTo>
                    <a:pt x="1705" y="296"/>
                    <a:pt x="1706" y="282"/>
                    <a:pt x="1699" y="273"/>
                  </a:cubicBezTo>
                  <a:cubicBezTo>
                    <a:pt x="1657" y="223"/>
                    <a:pt x="1596" y="195"/>
                    <a:pt x="1531" y="195"/>
                  </a:cubicBezTo>
                  <a:cubicBezTo>
                    <a:pt x="1466" y="195"/>
                    <a:pt x="1405" y="223"/>
                    <a:pt x="1364" y="273"/>
                  </a:cubicBezTo>
                  <a:cubicBezTo>
                    <a:pt x="1356" y="282"/>
                    <a:pt x="1357" y="296"/>
                    <a:pt x="1366" y="304"/>
                  </a:cubicBezTo>
                  <a:cubicBezTo>
                    <a:pt x="1376" y="312"/>
                    <a:pt x="1389" y="310"/>
                    <a:pt x="1397" y="301"/>
                  </a:cubicBezTo>
                  <a:cubicBezTo>
                    <a:pt x="1431" y="262"/>
                    <a:pt x="1479" y="239"/>
                    <a:pt x="1531" y="239"/>
                  </a:cubicBezTo>
                  <a:cubicBezTo>
                    <a:pt x="1583" y="239"/>
                    <a:pt x="1632" y="262"/>
                    <a:pt x="1665" y="301"/>
                  </a:cubicBezTo>
                  <a:cubicBezTo>
                    <a:pt x="1669" y="306"/>
                    <a:pt x="1675" y="309"/>
                    <a:pt x="1682" y="309"/>
                  </a:cubicBezTo>
                  <a:cubicBezTo>
                    <a:pt x="1687" y="309"/>
                    <a:pt x="1692" y="307"/>
                    <a:pt x="1696" y="304"/>
                  </a:cubicBezTo>
                  <a:close/>
                  <a:moveTo>
                    <a:pt x="994" y="109"/>
                  </a:moveTo>
                  <a:cubicBezTo>
                    <a:pt x="1003" y="101"/>
                    <a:pt x="1004" y="88"/>
                    <a:pt x="996" y="78"/>
                  </a:cubicBezTo>
                  <a:cubicBezTo>
                    <a:pt x="955" y="29"/>
                    <a:pt x="894" y="0"/>
                    <a:pt x="829" y="0"/>
                  </a:cubicBezTo>
                  <a:cubicBezTo>
                    <a:pt x="764" y="0"/>
                    <a:pt x="703" y="29"/>
                    <a:pt x="661" y="78"/>
                  </a:cubicBezTo>
                  <a:cubicBezTo>
                    <a:pt x="654" y="88"/>
                    <a:pt x="655" y="101"/>
                    <a:pt x="664" y="109"/>
                  </a:cubicBezTo>
                  <a:cubicBezTo>
                    <a:pt x="673" y="117"/>
                    <a:pt x="687" y="116"/>
                    <a:pt x="695" y="107"/>
                  </a:cubicBezTo>
                  <a:cubicBezTo>
                    <a:pt x="728" y="67"/>
                    <a:pt x="777" y="44"/>
                    <a:pt x="829" y="44"/>
                  </a:cubicBezTo>
                  <a:cubicBezTo>
                    <a:pt x="881" y="44"/>
                    <a:pt x="929" y="67"/>
                    <a:pt x="963" y="107"/>
                  </a:cubicBezTo>
                  <a:cubicBezTo>
                    <a:pt x="967" y="112"/>
                    <a:pt x="973" y="114"/>
                    <a:pt x="980" y="114"/>
                  </a:cubicBezTo>
                  <a:cubicBezTo>
                    <a:pt x="985" y="114"/>
                    <a:pt x="990" y="113"/>
                    <a:pt x="994" y="109"/>
                  </a:cubicBezTo>
                  <a:close/>
                  <a:moveTo>
                    <a:pt x="1462" y="109"/>
                  </a:moveTo>
                  <a:cubicBezTo>
                    <a:pt x="1471" y="101"/>
                    <a:pt x="1472" y="88"/>
                    <a:pt x="1465" y="78"/>
                  </a:cubicBezTo>
                  <a:cubicBezTo>
                    <a:pt x="1423" y="29"/>
                    <a:pt x="1362" y="0"/>
                    <a:pt x="1297" y="0"/>
                  </a:cubicBezTo>
                  <a:cubicBezTo>
                    <a:pt x="1232" y="0"/>
                    <a:pt x="1171" y="29"/>
                    <a:pt x="1130" y="78"/>
                  </a:cubicBezTo>
                  <a:cubicBezTo>
                    <a:pt x="1122" y="88"/>
                    <a:pt x="1123" y="101"/>
                    <a:pt x="1132" y="109"/>
                  </a:cubicBezTo>
                  <a:cubicBezTo>
                    <a:pt x="1142" y="117"/>
                    <a:pt x="1155" y="116"/>
                    <a:pt x="1163" y="107"/>
                  </a:cubicBezTo>
                  <a:cubicBezTo>
                    <a:pt x="1197" y="67"/>
                    <a:pt x="1245" y="44"/>
                    <a:pt x="1297" y="44"/>
                  </a:cubicBezTo>
                  <a:cubicBezTo>
                    <a:pt x="1349" y="44"/>
                    <a:pt x="1398" y="67"/>
                    <a:pt x="1431" y="107"/>
                  </a:cubicBezTo>
                  <a:cubicBezTo>
                    <a:pt x="1435" y="112"/>
                    <a:pt x="1441" y="114"/>
                    <a:pt x="1448" y="114"/>
                  </a:cubicBezTo>
                  <a:cubicBezTo>
                    <a:pt x="1453" y="114"/>
                    <a:pt x="1458" y="113"/>
                    <a:pt x="1462" y="109"/>
                  </a:cubicBezTo>
                  <a:close/>
                  <a:moveTo>
                    <a:pt x="2060" y="662"/>
                  </a:moveTo>
                  <a:cubicBezTo>
                    <a:pt x="2018" y="612"/>
                    <a:pt x="1957" y="584"/>
                    <a:pt x="1893" y="584"/>
                  </a:cubicBezTo>
                  <a:cubicBezTo>
                    <a:pt x="1839" y="584"/>
                    <a:pt x="1788" y="603"/>
                    <a:pt x="1749" y="638"/>
                  </a:cubicBezTo>
                  <a:cubicBezTo>
                    <a:pt x="1760" y="647"/>
                    <a:pt x="1771" y="657"/>
                    <a:pt x="1781" y="667"/>
                  </a:cubicBezTo>
                  <a:cubicBezTo>
                    <a:pt x="1781" y="667"/>
                    <a:pt x="1781" y="668"/>
                    <a:pt x="1781" y="668"/>
                  </a:cubicBezTo>
                  <a:cubicBezTo>
                    <a:pt x="1813" y="642"/>
                    <a:pt x="1852" y="628"/>
                    <a:pt x="1893" y="628"/>
                  </a:cubicBezTo>
                  <a:cubicBezTo>
                    <a:pt x="1944" y="628"/>
                    <a:pt x="1993" y="651"/>
                    <a:pt x="2026" y="690"/>
                  </a:cubicBezTo>
                  <a:cubicBezTo>
                    <a:pt x="2031" y="695"/>
                    <a:pt x="2037" y="698"/>
                    <a:pt x="2043" y="698"/>
                  </a:cubicBezTo>
                  <a:cubicBezTo>
                    <a:pt x="2048" y="698"/>
                    <a:pt x="2053" y="696"/>
                    <a:pt x="2057" y="693"/>
                  </a:cubicBezTo>
                  <a:cubicBezTo>
                    <a:pt x="2067" y="685"/>
                    <a:pt x="2068" y="671"/>
                    <a:pt x="2060" y="662"/>
                  </a:cubicBezTo>
                  <a:close/>
                  <a:moveTo>
                    <a:pt x="377" y="638"/>
                  </a:moveTo>
                  <a:cubicBezTo>
                    <a:pt x="338" y="603"/>
                    <a:pt x="287" y="584"/>
                    <a:pt x="233" y="584"/>
                  </a:cubicBezTo>
                  <a:cubicBezTo>
                    <a:pt x="169" y="584"/>
                    <a:pt x="108" y="612"/>
                    <a:pt x="66" y="662"/>
                  </a:cubicBezTo>
                  <a:cubicBezTo>
                    <a:pt x="58" y="671"/>
                    <a:pt x="59" y="685"/>
                    <a:pt x="69" y="693"/>
                  </a:cubicBezTo>
                  <a:cubicBezTo>
                    <a:pt x="78" y="701"/>
                    <a:pt x="92" y="699"/>
                    <a:pt x="100" y="690"/>
                  </a:cubicBezTo>
                  <a:cubicBezTo>
                    <a:pt x="133" y="651"/>
                    <a:pt x="182" y="628"/>
                    <a:pt x="233" y="628"/>
                  </a:cubicBezTo>
                  <a:cubicBezTo>
                    <a:pt x="274" y="628"/>
                    <a:pt x="313" y="642"/>
                    <a:pt x="344" y="667"/>
                  </a:cubicBezTo>
                  <a:cubicBezTo>
                    <a:pt x="355" y="657"/>
                    <a:pt x="366" y="647"/>
                    <a:pt x="377" y="638"/>
                  </a:cubicBezTo>
                  <a:close/>
                  <a:moveTo>
                    <a:pt x="2052" y="1567"/>
                  </a:moveTo>
                  <a:cubicBezTo>
                    <a:pt x="2030" y="1534"/>
                    <a:pt x="2004" y="1506"/>
                    <a:pt x="1974" y="1492"/>
                  </a:cubicBezTo>
                  <a:cubicBezTo>
                    <a:pt x="1885" y="1451"/>
                    <a:pt x="1720" y="1449"/>
                    <a:pt x="1720" y="1449"/>
                  </a:cubicBezTo>
                  <a:cubicBezTo>
                    <a:pt x="1720" y="1449"/>
                    <a:pt x="1614" y="1537"/>
                    <a:pt x="1533" y="1602"/>
                  </a:cubicBezTo>
                  <a:cubicBezTo>
                    <a:pt x="1530" y="1604"/>
                    <a:pt x="1527" y="1604"/>
                    <a:pt x="1524" y="1602"/>
                  </a:cubicBezTo>
                  <a:cubicBezTo>
                    <a:pt x="1464" y="1555"/>
                    <a:pt x="1337" y="1449"/>
                    <a:pt x="1337" y="1449"/>
                  </a:cubicBezTo>
                  <a:cubicBezTo>
                    <a:pt x="1337" y="1449"/>
                    <a:pt x="1197" y="1451"/>
                    <a:pt x="1105" y="1483"/>
                  </a:cubicBezTo>
                  <a:cubicBezTo>
                    <a:pt x="1123" y="1499"/>
                    <a:pt x="1139" y="1519"/>
                    <a:pt x="1155" y="1543"/>
                  </a:cubicBezTo>
                  <a:cubicBezTo>
                    <a:pt x="1208" y="1621"/>
                    <a:pt x="1235" y="1714"/>
                    <a:pt x="1235" y="1811"/>
                  </a:cubicBezTo>
                  <a:cubicBezTo>
                    <a:pt x="1235" y="1814"/>
                    <a:pt x="1235" y="1814"/>
                    <a:pt x="1235" y="1814"/>
                  </a:cubicBezTo>
                  <a:cubicBezTo>
                    <a:pt x="1235" y="1821"/>
                    <a:pt x="1234" y="1829"/>
                    <a:pt x="1231" y="1836"/>
                  </a:cubicBezTo>
                  <a:cubicBezTo>
                    <a:pt x="2102" y="1836"/>
                    <a:pt x="2102" y="1836"/>
                    <a:pt x="2102" y="1836"/>
                  </a:cubicBezTo>
                  <a:cubicBezTo>
                    <a:pt x="2114" y="1836"/>
                    <a:pt x="2124" y="1826"/>
                    <a:pt x="2124" y="1814"/>
                  </a:cubicBezTo>
                  <a:cubicBezTo>
                    <a:pt x="2124" y="1811"/>
                    <a:pt x="2124" y="1811"/>
                    <a:pt x="2124" y="1811"/>
                  </a:cubicBezTo>
                  <a:cubicBezTo>
                    <a:pt x="2124" y="1724"/>
                    <a:pt x="2100" y="1639"/>
                    <a:pt x="2052" y="1567"/>
                  </a:cubicBezTo>
                  <a:close/>
                  <a:moveTo>
                    <a:pt x="1191" y="1811"/>
                  </a:moveTo>
                  <a:cubicBezTo>
                    <a:pt x="1191" y="1724"/>
                    <a:pt x="1167" y="1639"/>
                    <a:pt x="1119" y="1567"/>
                  </a:cubicBezTo>
                  <a:cubicBezTo>
                    <a:pt x="1097" y="1534"/>
                    <a:pt x="1071" y="1506"/>
                    <a:pt x="1042" y="1492"/>
                  </a:cubicBezTo>
                  <a:cubicBezTo>
                    <a:pt x="952" y="1451"/>
                    <a:pt x="787" y="1449"/>
                    <a:pt x="787" y="1449"/>
                  </a:cubicBezTo>
                  <a:cubicBezTo>
                    <a:pt x="787" y="1449"/>
                    <a:pt x="787" y="1449"/>
                    <a:pt x="787" y="1449"/>
                  </a:cubicBezTo>
                  <a:cubicBezTo>
                    <a:pt x="787" y="1449"/>
                    <a:pt x="722" y="1541"/>
                    <a:pt x="592" y="1541"/>
                  </a:cubicBezTo>
                  <a:cubicBezTo>
                    <a:pt x="599" y="1541"/>
                    <a:pt x="599" y="1541"/>
                    <a:pt x="599" y="1541"/>
                  </a:cubicBezTo>
                  <a:cubicBezTo>
                    <a:pt x="469" y="1541"/>
                    <a:pt x="404" y="1449"/>
                    <a:pt x="404" y="1449"/>
                  </a:cubicBezTo>
                  <a:cubicBezTo>
                    <a:pt x="404" y="1449"/>
                    <a:pt x="404" y="1449"/>
                    <a:pt x="404" y="1449"/>
                  </a:cubicBezTo>
                  <a:cubicBezTo>
                    <a:pt x="404" y="1449"/>
                    <a:pt x="239" y="1451"/>
                    <a:pt x="150" y="1492"/>
                  </a:cubicBezTo>
                  <a:cubicBezTo>
                    <a:pt x="120" y="1506"/>
                    <a:pt x="94" y="1534"/>
                    <a:pt x="72" y="1567"/>
                  </a:cubicBezTo>
                  <a:cubicBezTo>
                    <a:pt x="24" y="1639"/>
                    <a:pt x="0" y="1724"/>
                    <a:pt x="0" y="1811"/>
                  </a:cubicBezTo>
                  <a:cubicBezTo>
                    <a:pt x="0" y="1814"/>
                    <a:pt x="0" y="1814"/>
                    <a:pt x="0" y="1814"/>
                  </a:cubicBezTo>
                  <a:cubicBezTo>
                    <a:pt x="0" y="1826"/>
                    <a:pt x="10" y="1836"/>
                    <a:pt x="22" y="1836"/>
                  </a:cubicBezTo>
                  <a:cubicBezTo>
                    <a:pt x="1169" y="1836"/>
                    <a:pt x="1169" y="1836"/>
                    <a:pt x="1169" y="1836"/>
                  </a:cubicBezTo>
                  <a:cubicBezTo>
                    <a:pt x="1181" y="1836"/>
                    <a:pt x="1191" y="1826"/>
                    <a:pt x="1191" y="1814"/>
                  </a:cubicBezTo>
                  <a:lnTo>
                    <a:pt x="1191" y="1811"/>
                  </a:lnTo>
                  <a:close/>
                  <a:moveTo>
                    <a:pt x="1228" y="693"/>
                  </a:moveTo>
                  <a:cubicBezTo>
                    <a:pt x="1237" y="685"/>
                    <a:pt x="1238" y="671"/>
                    <a:pt x="1230" y="662"/>
                  </a:cubicBezTo>
                  <a:cubicBezTo>
                    <a:pt x="1189" y="612"/>
                    <a:pt x="1128" y="584"/>
                    <a:pt x="1063" y="584"/>
                  </a:cubicBezTo>
                  <a:cubicBezTo>
                    <a:pt x="998" y="584"/>
                    <a:pt x="937" y="612"/>
                    <a:pt x="896" y="662"/>
                  </a:cubicBezTo>
                  <a:cubicBezTo>
                    <a:pt x="888" y="671"/>
                    <a:pt x="889" y="685"/>
                    <a:pt x="898" y="693"/>
                  </a:cubicBezTo>
                  <a:cubicBezTo>
                    <a:pt x="908" y="701"/>
                    <a:pt x="921" y="699"/>
                    <a:pt x="929" y="690"/>
                  </a:cubicBezTo>
                  <a:cubicBezTo>
                    <a:pt x="963" y="651"/>
                    <a:pt x="1011" y="628"/>
                    <a:pt x="1063" y="628"/>
                  </a:cubicBezTo>
                  <a:cubicBezTo>
                    <a:pt x="1115" y="628"/>
                    <a:pt x="1163" y="651"/>
                    <a:pt x="1197" y="690"/>
                  </a:cubicBezTo>
                  <a:cubicBezTo>
                    <a:pt x="1201" y="695"/>
                    <a:pt x="1207" y="698"/>
                    <a:pt x="1214" y="698"/>
                  </a:cubicBezTo>
                  <a:cubicBezTo>
                    <a:pt x="1219" y="698"/>
                    <a:pt x="1224" y="696"/>
                    <a:pt x="1228" y="693"/>
                  </a:cubicBezTo>
                  <a:close/>
                  <a:moveTo>
                    <a:pt x="1255" y="1157"/>
                  </a:moveTo>
                  <a:cubicBezTo>
                    <a:pt x="1275" y="1207"/>
                    <a:pt x="1328" y="1336"/>
                    <a:pt x="1356" y="1362"/>
                  </a:cubicBezTo>
                  <a:cubicBezTo>
                    <a:pt x="1358" y="1363"/>
                    <a:pt x="1361" y="1365"/>
                    <a:pt x="1363" y="1367"/>
                  </a:cubicBezTo>
                  <a:cubicBezTo>
                    <a:pt x="1363" y="1414"/>
                    <a:pt x="1363" y="1414"/>
                    <a:pt x="1363" y="1414"/>
                  </a:cubicBezTo>
                  <a:cubicBezTo>
                    <a:pt x="1365" y="1415"/>
                    <a:pt x="1365" y="1415"/>
                    <a:pt x="1365" y="1415"/>
                  </a:cubicBezTo>
                  <a:cubicBezTo>
                    <a:pt x="1365" y="1416"/>
                    <a:pt x="1383" y="1430"/>
                    <a:pt x="1407" y="1450"/>
                  </a:cubicBezTo>
                  <a:cubicBezTo>
                    <a:pt x="1407" y="1399"/>
                    <a:pt x="1407" y="1399"/>
                    <a:pt x="1407" y="1399"/>
                  </a:cubicBezTo>
                  <a:cubicBezTo>
                    <a:pt x="1444" y="1422"/>
                    <a:pt x="1492" y="1445"/>
                    <a:pt x="1528" y="1445"/>
                  </a:cubicBezTo>
                  <a:cubicBezTo>
                    <a:pt x="1565" y="1445"/>
                    <a:pt x="1613" y="1422"/>
                    <a:pt x="1649" y="1399"/>
                  </a:cubicBezTo>
                  <a:cubicBezTo>
                    <a:pt x="1649" y="1450"/>
                    <a:pt x="1649" y="1450"/>
                    <a:pt x="1649" y="1450"/>
                  </a:cubicBezTo>
                  <a:cubicBezTo>
                    <a:pt x="1675" y="1430"/>
                    <a:pt x="1692" y="1415"/>
                    <a:pt x="1692" y="1415"/>
                  </a:cubicBezTo>
                  <a:cubicBezTo>
                    <a:pt x="1693" y="1414"/>
                    <a:pt x="1693" y="1414"/>
                    <a:pt x="1693" y="1414"/>
                  </a:cubicBezTo>
                  <a:cubicBezTo>
                    <a:pt x="1693" y="1368"/>
                    <a:pt x="1693" y="1368"/>
                    <a:pt x="1693" y="1368"/>
                  </a:cubicBezTo>
                  <a:cubicBezTo>
                    <a:pt x="1696" y="1365"/>
                    <a:pt x="1699" y="1363"/>
                    <a:pt x="1701" y="1362"/>
                  </a:cubicBezTo>
                  <a:cubicBezTo>
                    <a:pt x="1729" y="1336"/>
                    <a:pt x="1782" y="1207"/>
                    <a:pt x="1802" y="1157"/>
                  </a:cubicBezTo>
                  <a:cubicBezTo>
                    <a:pt x="1837" y="1135"/>
                    <a:pt x="1846" y="1097"/>
                    <a:pt x="1849" y="1081"/>
                  </a:cubicBezTo>
                  <a:cubicBezTo>
                    <a:pt x="1849" y="1079"/>
                    <a:pt x="1849" y="1078"/>
                    <a:pt x="1849" y="1076"/>
                  </a:cubicBezTo>
                  <a:cubicBezTo>
                    <a:pt x="1796" y="1101"/>
                    <a:pt x="1796" y="1101"/>
                    <a:pt x="1796" y="1101"/>
                  </a:cubicBezTo>
                  <a:cubicBezTo>
                    <a:pt x="1791" y="1109"/>
                    <a:pt x="1784" y="1117"/>
                    <a:pt x="1774" y="1122"/>
                  </a:cubicBezTo>
                  <a:cubicBezTo>
                    <a:pt x="1769" y="1124"/>
                    <a:pt x="1766" y="1129"/>
                    <a:pt x="1764" y="1134"/>
                  </a:cubicBezTo>
                  <a:cubicBezTo>
                    <a:pt x="1731" y="1217"/>
                    <a:pt x="1687" y="1315"/>
                    <a:pt x="1671" y="1329"/>
                  </a:cubicBezTo>
                  <a:cubicBezTo>
                    <a:pt x="1644" y="1353"/>
                    <a:pt x="1568" y="1401"/>
                    <a:pt x="1528" y="1401"/>
                  </a:cubicBezTo>
                  <a:cubicBezTo>
                    <a:pt x="1489" y="1401"/>
                    <a:pt x="1413" y="1353"/>
                    <a:pt x="1385" y="1329"/>
                  </a:cubicBezTo>
                  <a:cubicBezTo>
                    <a:pt x="1370" y="1315"/>
                    <a:pt x="1326" y="1217"/>
                    <a:pt x="1293" y="1134"/>
                  </a:cubicBezTo>
                  <a:cubicBezTo>
                    <a:pt x="1291" y="1129"/>
                    <a:pt x="1287" y="1124"/>
                    <a:pt x="1283" y="1122"/>
                  </a:cubicBezTo>
                  <a:cubicBezTo>
                    <a:pt x="1273" y="1117"/>
                    <a:pt x="1266" y="1109"/>
                    <a:pt x="1261" y="1101"/>
                  </a:cubicBezTo>
                  <a:cubicBezTo>
                    <a:pt x="1208" y="1076"/>
                    <a:pt x="1208" y="1076"/>
                    <a:pt x="1208" y="1076"/>
                  </a:cubicBezTo>
                  <a:cubicBezTo>
                    <a:pt x="1208" y="1078"/>
                    <a:pt x="1208" y="1080"/>
                    <a:pt x="1208" y="1083"/>
                  </a:cubicBezTo>
                  <a:cubicBezTo>
                    <a:pt x="1212" y="1102"/>
                    <a:pt x="1222" y="1136"/>
                    <a:pt x="1255" y="1157"/>
                  </a:cubicBezTo>
                  <a:close/>
                  <a:moveTo>
                    <a:pt x="322" y="1157"/>
                  </a:moveTo>
                  <a:cubicBezTo>
                    <a:pt x="342" y="1207"/>
                    <a:pt x="395" y="1336"/>
                    <a:pt x="423" y="1362"/>
                  </a:cubicBezTo>
                  <a:cubicBezTo>
                    <a:pt x="425" y="1363"/>
                    <a:pt x="428" y="1365"/>
                    <a:pt x="431" y="1368"/>
                  </a:cubicBezTo>
                  <a:cubicBezTo>
                    <a:pt x="431" y="1411"/>
                    <a:pt x="431" y="1411"/>
                    <a:pt x="431" y="1411"/>
                  </a:cubicBezTo>
                  <a:cubicBezTo>
                    <a:pt x="440" y="1423"/>
                    <a:pt x="440" y="1423"/>
                    <a:pt x="440" y="1423"/>
                  </a:cubicBezTo>
                  <a:cubicBezTo>
                    <a:pt x="441" y="1425"/>
                    <a:pt x="452" y="1440"/>
                    <a:pt x="475" y="1457"/>
                  </a:cubicBezTo>
                  <a:cubicBezTo>
                    <a:pt x="475" y="1399"/>
                    <a:pt x="475" y="1399"/>
                    <a:pt x="475" y="1399"/>
                  </a:cubicBezTo>
                  <a:cubicBezTo>
                    <a:pt x="511" y="1422"/>
                    <a:pt x="559" y="1445"/>
                    <a:pt x="595" y="1445"/>
                  </a:cubicBezTo>
                  <a:cubicBezTo>
                    <a:pt x="632" y="1445"/>
                    <a:pt x="680" y="1422"/>
                    <a:pt x="717" y="1399"/>
                  </a:cubicBezTo>
                  <a:cubicBezTo>
                    <a:pt x="717" y="1457"/>
                    <a:pt x="717" y="1457"/>
                    <a:pt x="717" y="1457"/>
                  </a:cubicBezTo>
                  <a:cubicBezTo>
                    <a:pt x="740" y="1440"/>
                    <a:pt x="751" y="1424"/>
                    <a:pt x="751" y="1423"/>
                  </a:cubicBezTo>
                  <a:cubicBezTo>
                    <a:pt x="761" y="1411"/>
                    <a:pt x="761" y="1411"/>
                    <a:pt x="761" y="1411"/>
                  </a:cubicBezTo>
                  <a:cubicBezTo>
                    <a:pt x="761" y="1367"/>
                    <a:pt x="761" y="1367"/>
                    <a:pt x="761" y="1367"/>
                  </a:cubicBezTo>
                  <a:cubicBezTo>
                    <a:pt x="763" y="1365"/>
                    <a:pt x="766" y="1363"/>
                    <a:pt x="768" y="1362"/>
                  </a:cubicBezTo>
                  <a:cubicBezTo>
                    <a:pt x="796" y="1336"/>
                    <a:pt x="849" y="1207"/>
                    <a:pt x="869" y="1157"/>
                  </a:cubicBezTo>
                  <a:cubicBezTo>
                    <a:pt x="904" y="1135"/>
                    <a:pt x="913" y="1097"/>
                    <a:pt x="916" y="1081"/>
                  </a:cubicBezTo>
                  <a:cubicBezTo>
                    <a:pt x="916" y="1079"/>
                    <a:pt x="916" y="1078"/>
                    <a:pt x="916" y="1076"/>
                  </a:cubicBezTo>
                  <a:cubicBezTo>
                    <a:pt x="863" y="1101"/>
                    <a:pt x="863" y="1101"/>
                    <a:pt x="863" y="1101"/>
                  </a:cubicBezTo>
                  <a:cubicBezTo>
                    <a:pt x="858" y="1109"/>
                    <a:pt x="851" y="1117"/>
                    <a:pt x="841" y="1122"/>
                  </a:cubicBezTo>
                  <a:cubicBezTo>
                    <a:pt x="836" y="1124"/>
                    <a:pt x="833" y="1129"/>
                    <a:pt x="831" y="1134"/>
                  </a:cubicBezTo>
                  <a:cubicBezTo>
                    <a:pt x="798" y="1217"/>
                    <a:pt x="754" y="1315"/>
                    <a:pt x="738" y="1329"/>
                  </a:cubicBezTo>
                  <a:cubicBezTo>
                    <a:pt x="711" y="1353"/>
                    <a:pt x="635" y="1401"/>
                    <a:pt x="595" y="1401"/>
                  </a:cubicBezTo>
                  <a:cubicBezTo>
                    <a:pt x="556" y="1401"/>
                    <a:pt x="480" y="1353"/>
                    <a:pt x="452" y="1329"/>
                  </a:cubicBezTo>
                  <a:cubicBezTo>
                    <a:pt x="437" y="1315"/>
                    <a:pt x="393" y="1217"/>
                    <a:pt x="360" y="1134"/>
                  </a:cubicBezTo>
                  <a:cubicBezTo>
                    <a:pt x="358" y="1129"/>
                    <a:pt x="354" y="1124"/>
                    <a:pt x="350" y="1122"/>
                  </a:cubicBezTo>
                  <a:cubicBezTo>
                    <a:pt x="339" y="1117"/>
                    <a:pt x="333" y="1109"/>
                    <a:pt x="328" y="1101"/>
                  </a:cubicBezTo>
                  <a:cubicBezTo>
                    <a:pt x="275" y="1076"/>
                    <a:pt x="275" y="1076"/>
                    <a:pt x="275" y="1076"/>
                  </a:cubicBezTo>
                  <a:cubicBezTo>
                    <a:pt x="275" y="1078"/>
                    <a:pt x="275" y="1080"/>
                    <a:pt x="275" y="1083"/>
                  </a:cubicBezTo>
                  <a:cubicBezTo>
                    <a:pt x="279" y="1102"/>
                    <a:pt x="289" y="1136"/>
                    <a:pt x="322" y="11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21">
              <a:extLst>
                <a:ext uri="{FF2B5EF4-FFF2-40B4-BE49-F238E27FC236}">
                  <a16:creationId xmlns:a16="http://schemas.microsoft.com/office/drawing/2014/main" id="{9A32768F-1F7B-41E4-AD1E-05F5E20985B3}"/>
                </a:ext>
              </a:extLst>
            </p:cNvPr>
            <p:cNvSpPr>
              <a:spLocks noEditPoints="1"/>
            </p:cNvSpPr>
            <p:nvPr/>
          </p:nvSpPr>
          <p:spPr bwMode="auto">
            <a:xfrm>
              <a:off x="2383" y="1568"/>
              <a:ext cx="3019" cy="1511"/>
            </a:xfrm>
            <a:custGeom>
              <a:avLst/>
              <a:gdLst>
                <a:gd name="T0" fmla="*/ 1542 w 1612"/>
                <a:gd name="T1" fmla="*/ 422 h 806"/>
                <a:gd name="T2" fmla="*/ 1542 w 1612"/>
                <a:gd name="T3" fmla="*/ 421 h 806"/>
                <a:gd name="T4" fmla="*/ 1508 w 1612"/>
                <a:gd name="T5" fmla="*/ 469 h 806"/>
                <a:gd name="T6" fmla="*/ 1505 w 1612"/>
                <a:gd name="T7" fmla="*/ 470 h 806"/>
                <a:gd name="T8" fmla="*/ 1485 w 1612"/>
                <a:gd name="T9" fmla="*/ 470 h 806"/>
                <a:gd name="T10" fmla="*/ 1483 w 1612"/>
                <a:gd name="T11" fmla="*/ 470 h 806"/>
                <a:gd name="T12" fmla="*/ 1074 w 1612"/>
                <a:gd name="T13" fmla="*/ 253 h 806"/>
                <a:gd name="T14" fmla="*/ 1070 w 1612"/>
                <a:gd name="T15" fmla="*/ 253 h 806"/>
                <a:gd name="T16" fmla="*/ 949 w 1612"/>
                <a:gd name="T17" fmla="*/ 445 h 806"/>
                <a:gd name="T18" fmla="*/ 949 w 1612"/>
                <a:gd name="T19" fmla="*/ 444 h 806"/>
                <a:gd name="T20" fmla="*/ 932 w 1612"/>
                <a:gd name="T21" fmla="*/ 315 h 806"/>
                <a:gd name="T22" fmla="*/ 1242 w 1612"/>
                <a:gd name="T23" fmla="*/ 0 h 806"/>
                <a:gd name="T24" fmla="*/ 1553 w 1612"/>
                <a:gd name="T25" fmla="*/ 315 h 806"/>
                <a:gd name="T26" fmla="*/ 1542 w 1612"/>
                <a:gd name="T27" fmla="*/ 422 h 806"/>
                <a:gd name="T28" fmla="*/ 619 w 1612"/>
                <a:gd name="T29" fmla="*/ 317 h 806"/>
                <a:gd name="T30" fmla="*/ 310 w 1612"/>
                <a:gd name="T31" fmla="*/ 0 h 806"/>
                <a:gd name="T32" fmla="*/ 0 w 1612"/>
                <a:gd name="T33" fmla="*/ 317 h 806"/>
                <a:gd name="T34" fmla="*/ 12 w 1612"/>
                <a:gd name="T35" fmla="*/ 427 h 806"/>
                <a:gd name="T36" fmla="*/ 12 w 1612"/>
                <a:gd name="T37" fmla="*/ 428 h 806"/>
                <a:gd name="T38" fmla="*/ 43 w 1612"/>
                <a:gd name="T39" fmla="*/ 467 h 806"/>
                <a:gd name="T40" fmla="*/ 64 w 1612"/>
                <a:gd name="T41" fmla="*/ 469 h 806"/>
                <a:gd name="T42" fmla="*/ 140 w 1612"/>
                <a:gd name="T43" fmla="*/ 254 h 806"/>
                <a:gd name="T44" fmla="*/ 547 w 1612"/>
                <a:gd name="T45" fmla="*/ 240 h 806"/>
                <a:gd name="T46" fmla="*/ 550 w 1612"/>
                <a:gd name="T47" fmla="*/ 473 h 806"/>
                <a:gd name="T48" fmla="*/ 573 w 1612"/>
                <a:gd name="T49" fmla="*/ 473 h 806"/>
                <a:gd name="T50" fmla="*/ 608 w 1612"/>
                <a:gd name="T51" fmla="*/ 424 h 806"/>
                <a:gd name="T52" fmla="*/ 608 w 1612"/>
                <a:gd name="T53" fmla="*/ 424 h 806"/>
                <a:gd name="T54" fmla="*/ 619 w 1612"/>
                <a:gd name="T55" fmla="*/ 317 h 806"/>
                <a:gd name="T56" fmla="*/ 1033 w 1612"/>
                <a:gd name="T57" fmla="*/ 780 h 806"/>
                <a:gd name="T58" fmla="*/ 946 w 1612"/>
                <a:gd name="T59" fmla="*/ 612 h 806"/>
                <a:gd name="T60" fmla="*/ 872 w 1612"/>
                <a:gd name="T61" fmla="*/ 756 h 806"/>
                <a:gd name="T62" fmla="*/ 949 w 1612"/>
                <a:gd name="T63" fmla="*/ 806 h 806"/>
                <a:gd name="T64" fmla="*/ 1033 w 1612"/>
                <a:gd name="T65" fmla="*/ 799 h 806"/>
                <a:gd name="T66" fmla="*/ 1033 w 1612"/>
                <a:gd name="T67" fmla="*/ 780 h 806"/>
                <a:gd name="T68" fmla="*/ 1538 w 1612"/>
                <a:gd name="T69" fmla="*/ 613 h 806"/>
                <a:gd name="T70" fmla="*/ 1451 w 1612"/>
                <a:gd name="T71" fmla="*/ 781 h 806"/>
                <a:gd name="T72" fmla="*/ 1451 w 1612"/>
                <a:gd name="T73" fmla="*/ 799 h 806"/>
                <a:gd name="T74" fmla="*/ 1536 w 1612"/>
                <a:gd name="T75" fmla="*/ 806 h 806"/>
                <a:gd name="T76" fmla="*/ 1612 w 1612"/>
                <a:gd name="T77" fmla="*/ 756 h 806"/>
                <a:gd name="T78" fmla="*/ 1538 w 1612"/>
                <a:gd name="T79" fmla="*/ 613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12" h="806">
                  <a:moveTo>
                    <a:pt x="1542" y="422"/>
                  </a:moveTo>
                  <a:cubicBezTo>
                    <a:pt x="1542" y="422"/>
                    <a:pt x="1542" y="421"/>
                    <a:pt x="1542" y="421"/>
                  </a:cubicBezTo>
                  <a:cubicBezTo>
                    <a:pt x="1541" y="422"/>
                    <a:pt x="1536" y="437"/>
                    <a:pt x="1508" y="469"/>
                  </a:cubicBezTo>
                  <a:cubicBezTo>
                    <a:pt x="1507" y="470"/>
                    <a:pt x="1506" y="470"/>
                    <a:pt x="1505" y="470"/>
                  </a:cubicBezTo>
                  <a:cubicBezTo>
                    <a:pt x="1485" y="470"/>
                    <a:pt x="1485" y="470"/>
                    <a:pt x="1485" y="470"/>
                  </a:cubicBezTo>
                  <a:cubicBezTo>
                    <a:pt x="1484" y="470"/>
                    <a:pt x="1484" y="470"/>
                    <a:pt x="1483" y="470"/>
                  </a:cubicBezTo>
                  <a:cubicBezTo>
                    <a:pt x="1074" y="253"/>
                    <a:pt x="1074" y="253"/>
                    <a:pt x="1074" y="253"/>
                  </a:cubicBezTo>
                  <a:cubicBezTo>
                    <a:pt x="1073" y="253"/>
                    <a:pt x="1071" y="253"/>
                    <a:pt x="1070" y="253"/>
                  </a:cubicBezTo>
                  <a:cubicBezTo>
                    <a:pt x="979" y="283"/>
                    <a:pt x="980" y="472"/>
                    <a:pt x="949" y="445"/>
                  </a:cubicBezTo>
                  <a:cubicBezTo>
                    <a:pt x="949" y="444"/>
                    <a:pt x="949" y="444"/>
                    <a:pt x="949" y="444"/>
                  </a:cubicBezTo>
                  <a:cubicBezTo>
                    <a:pt x="936" y="410"/>
                    <a:pt x="932" y="354"/>
                    <a:pt x="932" y="315"/>
                  </a:cubicBezTo>
                  <a:cubicBezTo>
                    <a:pt x="932" y="141"/>
                    <a:pt x="1067" y="0"/>
                    <a:pt x="1242" y="0"/>
                  </a:cubicBezTo>
                  <a:cubicBezTo>
                    <a:pt x="1418" y="0"/>
                    <a:pt x="1553" y="141"/>
                    <a:pt x="1553" y="315"/>
                  </a:cubicBezTo>
                  <a:cubicBezTo>
                    <a:pt x="1553" y="353"/>
                    <a:pt x="1554" y="389"/>
                    <a:pt x="1542" y="422"/>
                  </a:cubicBezTo>
                  <a:close/>
                  <a:moveTo>
                    <a:pt x="619" y="317"/>
                  </a:moveTo>
                  <a:cubicBezTo>
                    <a:pt x="619" y="142"/>
                    <a:pt x="485" y="0"/>
                    <a:pt x="310" y="0"/>
                  </a:cubicBezTo>
                  <a:cubicBezTo>
                    <a:pt x="134" y="0"/>
                    <a:pt x="0" y="142"/>
                    <a:pt x="0" y="317"/>
                  </a:cubicBezTo>
                  <a:cubicBezTo>
                    <a:pt x="0" y="356"/>
                    <a:pt x="0" y="393"/>
                    <a:pt x="12" y="427"/>
                  </a:cubicBezTo>
                  <a:cubicBezTo>
                    <a:pt x="12" y="428"/>
                    <a:pt x="12" y="428"/>
                    <a:pt x="12" y="428"/>
                  </a:cubicBezTo>
                  <a:cubicBezTo>
                    <a:pt x="43" y="456"/>
                    <a:pt x="43" y="467"/>
                    <a:pt x="43" y="467"/>
                  </a:cubicBezTo>
                  <a:cubicBezTo>
                    <a:pt x="64" y="469"/>
                    <a:pt x="64" y="469"/>
                    <a:pt x="64" y="469"/>
                  </a:cubicBezTo>
                  <a:cubicBezTo>
                    <a:pt x="64" y="469"/>
                    <a:pt x="47" y="283"/>
                    <a:pt x="140" y="254"/>
                  </a:cubicBezTo>
                  <a:cubicBezTo>
                    <a:pt x="140" y="254"/>
                    <a:pt x="512" y="418"/>
                    <a:pt x="547" y="240"/>
                  </a:cubicBezTo>
                  <a:cubicBezTo>
                    <a:pt x="550" y="462"/>
                    <a:pt x="550" y="473"/>
                    <a:pt x="550" y="473"/>
                  </a:cubicBezTo>
                  <a:cubicBezTo>
                    <a:pt x="573" y="473"/>
                    <a:pt x="573" y="473"/>
                    <a:pt x="573" y="473"/>
                  </a:cubicBezTo>
                  <a:cubicBezTo>
                    <a:pt x="602" y="440"/>
                    <a:pt x="607" y="424"/>
                    <a:pt x="608" y="424"/>
                  </a:cubicBezTo>
                  <a:cubicBezTo>
                    <a:pt x="608" y="424"/>
                    <a:pt x="608" y="424"/>
                    <a:pt x="608" y="424"/>
                  </a:cubicBezTo>
                  <a:cubicBezTo>
                    <a:pt x="620" y="391"/>
                    <a:pt x="619" y="355"/>
                    <a:pt x="619" y="317"/>
                  </a:cubicBezTo>
                  <a:close/>
                  <a:moveTo>
                    <a:pt x="1033" y="780"/>
                  </a:moveTo>
                  <a:cubicBezTo>
                    <a:pt x="1011" y="755"/>
                    <a:pt x="982" y="699"/>
                    <a:pt x="946" y="612"/>
                  </a:cubicBezTo>
                  <a:cubicBezTo>
                    <a:pt x="943" y="671"/>
                    <a:pt x="933" y="750"/>
                    <a:pt x="872" y="756"/>
                  </a:cubicBezTo>
                  <a:cubicBezTo>
                    <a:pt x="899" y="783"/>
                    <a:pt x="925" y="798"/>
                    <a:pt x="949" y="806"/>
                  </a:cubicBezTo>
                  <a:cubicBezTo>
                    <a:pt x="984" y="802"/>
                    <a:pt x="1015" y="800"/>
                    <a:pt x="1033" y="799"/>
                  </a:cubicBezTo>
                  <a:lnTo>
                    <a:pt x="1033" y="780"/>
                  </a:lnTo>
                  <a:close/>
                  <a:moveTo>
                    <a:pt x="1538" y="613"/>
                  </a:moveTo>
                  <a:cubicBezTo>
                    <a:pt x="1502" y="699"/>
                    <a:pt x="1473" y="755"/>
                    <a:pt x="1451" y="781"/>
                  </a:cubicBezTo>
                  <a:cubicBezTo>
                    <a:pt x="1451" y="799"/>
                    <a:pt x="1451" y="799"/>
                    <a:pt x="1451" y="799"/>
                  </a:cubicBezTo>
                  <a:cubicBezTo>
                    <a:pt x="1469" y="800"/>
                    <a:pt x="1501" y="802"/>
                    <a:pt x="1536" y="806"/>
                  </a:cubicBezTo>
                  <a:cubicBezTo>
                    <a:pt x="1560" y="798"/>
                    <a:pt x="1586" y="783"/>
                    <a:pt x="1612" y="756"/>
                  </a:cubicBezTo>
                  <a:cubicBezTo>
                    <a:pt x="1552" y="750"/>
                    <a:pt x="1542" y="672"/>
                    <a:pt x="1538" y="6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2" name="bcgIcons_PublicSector">
            <a:extLst>
              <a:ext uri="{FF2B5EF4-FFF2-40B4-BE49-F238E27FC236}">
                <a16:creationId xmlns:a16="http://schemas.microsoft.com/office/drawing/2014/main" id="{DCC15F7D-CDC2-4E1F-A0B5-9B1EF884CF51}"/>
              </a:ext>
            </a:extLst>
          </p:cNvPr>
          <p:cNvGrpSpPr>
            <a:grpSpLocks noChangeAspect="1"/>
          </p:cNvGrpSpPr>
          <p:nvPr/>
        </p:nvGrpSpPr>
        <p:grpSpPr bwMode="auto">
          <a:xfrm>
            <a:off x="8278633" y="3857189"/>
            <a:ext cx="311952" cy="312240"/>
            <a:chOff x="1682" y="0"/>
            <a:chExt cx="4316" cy="4320"/>
          </a:xfrm>
        </p:grpSpPr>
        <p:sp>
          <p:nvSpPr>
            <p:cNvPr id="93" name="AutoShape 18">
              <a:extLst>
                <a:ext uri="{FF2B5EF4-FFF2-40B4-BE49-F238E27FC236}">
                  <a16:creationId xmlns:a16="http://schemas.microsoft.com/office/drawing/2014/main" id="{575286B9-FCC8-4EFB-9834-BD5493C559C3}"/>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20">
              <a:extLst>
                <a:ext uri="{FF2B5EF4-FFF2-40B4-BE49-F238E27FC236}">
                  <a16:creationId xmlns:a16="http://schemas.microsoft.com/office/drawing/2014/main" id="{CEF9E0BC-00B7-4B29-B377-3473BD5B2EB2}"/>
                </a:ext>
              </a:extLst>
            </p:cNvPr>
            <p:cNvSpPr>
              <a:spLocks noEditPoints="1"/>
            </p:cNvSpPr>
            <p:nvPr/>
          </p:nvSpPr>
          <p:spPr bwMode="auto">
            <a:xfrm>
              <a:off x="1847" y="431"/>
              <a:ext cx="3979" cy="3443"/>
            </a:xfrm>
            <a:custGeom>
              <a:avLst/>
              <a:gdLst>
                <a:gd name="T0" fmla="*/ 227 w 2124"/>
                <a:gd name="T1" fmla="*/ 496 h 1836"/>
                <a:gd name="T2" fmla="*/ 528 w 2124"/>
                <a:gd name="T3" fmla="*/ 467 h 1836"/>
                <a:gd name="T4" fmla="*/ 996 w 2124"/>
                <a:gd name="T5" fmla="*/ 467 h 1836"/>
                <a:gd name="T6" fmla="*/ 695 w 2124"/>
                <a:gd name="T7" fmla="*/ 496 h 1836"/>
                <a:gd name="T8" fmla="*/ 994 w 2124"/>
                <a:gd name="T9" fmla="*/ 498 h 1836"/>
                <a:gd name="T10" fmla="*/ 1130 w 2124"/>
                <a:gd name="T11" fmla="*/ 467 h 1836"/>
                <a:gd name="T12" fmla="*/ 1431 w 2124"/>
                <a:gd name="T13" fmla="*/ 496 h 1836"/>
                <a:gd name="T14" fmla="*/ 1933 w 2124"/>
                <a:gd name="T15" fmla="*/ 467 h 1836"/>
                <a:gd name="T16" fmla="*/ 1631 w 2124"/>
                <a:gd name="T17" fmla="*/ 496 h 1836"/>
                <a:gd name="T18" fmla="*/ 1930 w 2124"/>
                <a:gd name="T19" fmla="*/ 498 h 1836"/>
                <a:gd name="T20" fmla="*/ 427 w 2124"/>
                <a:gd name="T21" fmla="*/ 273 h 1836"/>
                <a:gd name="T22" fmla="*/ 729 w 2124"/>
                <a:gd name="T23" fmla="*/ 301 h 1836"/>
                <a:gd name="T24" fmla="*/ 1230 w 2124"/>
                <a:gd name="T25" fmla="*/ 273 h 1836"/>
                <a:gd name="T26" fmla="*/ 929 w 2124"/>
                <a:gd name="T27" fmla="*/ 301 h 1836"/>
                <a:gd name="T28" fmla="*/ 1228 w 2124"/>
                <a:gd name="T29" fmla="*/ 304 h 1836"/>
                <a:gd name="T30" fmla="*/ 1364 w 2124"/>
                <a:gd name="T31" fmla="*/ 273 h 1836"/>
                <a:gd name="T32" fmla="*/ 1665 w 2124"/>
                <a:gd name="T33" fmla="*/ 301 h 1836"/>
                <a:gd name="T34" fmla="*/ 996 w 2124"/>
                <a:gd name="T35" fmla="*/ 78 h 1836"/>
                <a:gd name="T36" fmla="*/ 695 w 2124"/>
                <a:gd name="T37" fmla="*/ 107 h 1836"/>
                <a:gd name="T38" fmla="*/ 994 w 2124"/>
                <a:gd name="T39" fmla="*/ 109 h 1836"/>
                <a:gd name="T40" fmla="*/ 1130 w 2124"/>
                <a:gd name="T41" fmla="*/ 78 h 1836"/>
                <a:gd name="T42" fmla="*/ 1431 w 2124"/>
                <a:gd name="T43" fmla="*/ 107 h 1836"/>
                <a:gd name="T44" fmla="*/ 1893 w 2124"/>
                <a:gd name="T45" fmla="*/ 584 h 1836"/>
                <a:gd name="T46" fmla="*/ 1893 w 2124"/>
                <a:gd name="T47" fmla="*/ 628 h 1836"/>
                <a:gd name="T48" fmla="*/ 2060 w 2124"/>
                <a:gd name="T49" fmla="*/ 662 h 1836"/>
                <a:gd name="T50" fmla="*/ 69 w 2124"/>
                <a:gd name="T51" fmla="*/ 693 h 1836"/>
                <a:gd name="T52" fmla="*/ 377 w 2124"/>
                <a:gd name="T53" fmla="*/ 638 h 1836"/>
                <a:gd name="T54" fmla="*/ 1533 w 2124"/>
                <a:gd name="T55" fmla="*/ 1602 h 1836"/>
                <a:gd name="T56" fmla="*/ 1155 w 2124"/>
                <a:gd name="T57" fmla="*/ 1543 h 1836"/>
                <a:gd name="T58" fmla="*/ 2102 w 2124"/>
                <a:gd name="T59" fmla="*/ 1836 h 1836"/>
                <a:gd name="T60" fmla="*/ 1191 w 2124"/>
                <a:gd name="T61" fmla="*/ 1811 h 1836"/>
                <a:gd name="T62" fmla="*/ 787 w 2124"/>
                <a:gd name="T63" fmla="*/ 1449 h 1836"/>
                <a:gd name="T64" fmla="*/ 404 w 2124"/>
                <a:gd name="T65" fmla="*/ 1449 h 1836"/>
                <a:gd name="T66" fmla="*/ 0 w 2124"/>
                <a:gd name="T67" fmla="*/ 1814 h 1836"/>
                <a:gd name="T68" fmla="*/ 1191 w 2124"/>
                <a:gd name="T69" fmla="*/ 1811 h 1836"/>
                <a:gd name="T70" fmla="*/ 896 w 2124"/>
                <a:gd name="T71" fmla="*/ 662 h 1836"/>
                <a:gd name="T72" fmla="*/ 1197 w 2124"/>
                <a:gd name="T73" fmla="*/ 690 h 1836"/>
                <a:gd name="T74" fmla="*/ 1356 w 2124"/>
                <a:gd name="T75" fmla="*/ 1362 h 1836"/>
                <a:gd name="T76" fmla="*/ 1407 w 2124"/>
                <a:gd name="T77" fmla="*/ 1450 h 1836"/>
                <a:gd name="T78" fmla="*/ 1649 w 2124"/>
                <a:gd name="T79" fmla="*/ 1450 h 1836"/>
                <a:gd name="T80" fmla="*/ 1701 w 2124"/>
                <a:gd name="T81" fmla="*/ 1362 h 1836"/>
                <a:gd name="T82" fmla="*/ 1796 w 2124"/>
                <a:gd name="T83" fmla="*/ 1101 h 1836"/>
                <a:gd name="T84" fmla="*/ 1528 w 2124"/>
                <a:gd name="T85" fmla="*/ 1401 h 1836"/>
                <a:gd name="T86" fmla="*/ 1261 w 2124"/>
                <a:gd name="T87" fmla="*/ 1101 h 1836"/>
                <a:gd name="T88" fmla="*/ 322 w 2124"/>
                <a:gd name="T89" fmla="*/ 1157 h 1836"/>
                <a:gd name="T90" fmla="*/ 440 w 2124"/>
                <a:gd name="T91" fmla="*/ 1423 h 1836"/>
                <a:gd name="T92" fmla="*/ 717 w 2124"/>
                <a:gd name="T93" fmla="*/ 1399 h 1836"/>
                <a:gd name="T94" fmla="*/ 761 w 2124"/>
                <a:gd name="T95" fmla="*/ 1367 h 1836"/>
                <a:gd name="T96" fmla="*/ 916 w 2124"/>
                <a:gd name="T97" fmla="*/ 1076 h 1836"/>
                <a:gd name="T98" fmla="*/ 738 w 2124"/>
                <a:gd name="T99" fmla="*/ 1329 h 1836"/>
                <a:gd name="T100" fmla="*/ 350 w 2124"/>
                <a:gd name="T101" fmla="*/ 1122 h 1836"/>
                <a:gd name="T102" fmla="*/ 322 w 2124"/>
                <a:gd name="T103" fmla="*/ 115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24" h="1836">
                  <a:moveTo>
                    <a:pt x="512" y="503"/>
                  </a:moveTo>
                  <a:cubicBezTo>
                    <a:pt x="505" y="503"/>
                    <a:pt x="499" y="501"/>
                    <a:pt x="495" y="496"/>
                  </a:cubicBezTo>
                  <a:cubicBezTo>
                    <a:pt x="461" y="456"/>
                    <a:pt x="413" y="433"/>
                    <a:pt x="361" y="433"/>
                  </a:cubicBezTo>
                  <a:cubicBezTo>
                    <a:pt x="309" y="433"/>
                    <a:pt x="260" y="456"/>
                    <a:pt x="227" y="496"/>
                  </a:cubicBezTo>
                  <a:cubicBezTo>
                    <a:pt x="219" y="505"/>
                    <a:pt x="205" y="506"/>
                    <a:pt x="196" y="498"/>
                  </a:cubicBezTo>
                  <a:cubicBezTo>
                    <a:pt x="187" y="491"/>
                    <a:pt x="186" y="477"/>
                    <a:pt x="193" y="467"/>
                  </a:cubicBezTo>
                  <a:cubicBezTo>
                    <a:pt x="235" y="418"/>
                    <a:pt x="296" y="389"/>
                    <a:pt x="361" y="389"/>
                  </a:cubicBezTo>
                  <a:cubicBezTo>
                    <a:pt x="426" y="389"/>
                    <a:pt x="487" y="418"/>
                    <a:pt x="528" y="467"/>
                  </a:cubicBezTo>
                  <a:cubicBezTo>
                    <a:pt x="536" y="477"/>
                    <a:pt x="535" y="491"/>
                    <a:pt x="526" y="498"/>
                  </a:cubicBezTo>
                  <a:cubicBezTo>
                    <a:pt x="522" y="502"/>
                    <a:pt x="516" y="503"/>
                    <a:pt x="512" y="503"/>
                  </a:cubicBezTo>
                  <a:close/>
                  <a:moveTo>
                    <a:pt x="994" y="498"/>
                  </a:moveTo>
                  <a:cubicBezTo>
                    <a:pt x="1003" y="491"/>
                    <a:pt x="1004" y="477"/>
                    <a:pt x="996" y="467"/>
                  </a:cubicBezTo>
                  <a:cubicBezTo>
                    <a:pt x="955" y="418"/>
                    <a:pt x="894" y="389"/>
                    <a:pt x="829" y="389"/>
                  </a:cubicBezTo>
                  <a:cubicBezTo>
                    <a:pt x="764" y="389"/>
                    <a:pt x="703" y="418"/>
                    <a:pt x="661" y="467"/>
                  </a:cubicBezTo>
                  <a:cubicBezTo>
                    <a:pt x="654" y="477"/>
                    <a:pt x="655" y="491"/>
                    <a:pt x="664" y="498"/>
                  </a:cubicBezTo>
                  <a:cubicBezTo>
                    <a:pt x="673" y="506"/>
                    <a:pt x="687" y="505"/>
                    <a:pt x="695" y="496"/>
                  </a:cubicBezTo>
                  <a:cubicBezTo>
                    <a:pt x="728" y="456"/>
                    <a:pt x="777" y="433"/>
                    <a:pt x="829" y="433"/>
                  </a:cubicBezTo>
                  <a:cubicBezTo>
                    <a:pt x="881" y="433"/>
                    <a:pt x="929" y="456"/>
                    <a:pt x="963" y="496"/>
                  </a:cubicBezTo>
                  <a:cubicBezTo>
                    <a:pt x="967" y="501"/>
                    <a:pt x="973" y="503"/>
                    <a:pt x="980" y="503"/>
                  </a:cubicBezTo>
                  <a:cubicBezTo>
                    <a:pt x="985" y="503"/>
                    <a:pt x="990" y="502"/>
                    <a:pt x="994" y="498"/>
                  </a:cubicBezTo>
                  <a:close/>
                  <a:moveTo>
                    <a:pt x="1462" y="498"/>
                  </a:moveTo>
                  <a:cubicBezTo>
                    <a:pt x="1471" y="491"/>
                    <a:pt x="1472" y="477"/>
                    <a:pt x="1465" y="467"/>
                  </a:cubicBezTo>
                  <a:cubicBezTo>
                    <a:pt x="1423" y="418"/>
                    <a:pt x="1362" y="389"/>
                    <a:pt x="1297" y="389"/>
                  </a:cubicBezTo>
                  <a:cubicBezTo>
                    <a:pt x="1232" y="389"/>
                    <a:pt x="1171" y="418"/>
                    <a:pt x="1130" y="467"/>
                  </a:cubicBezTo>
                  <a:cubicBezTo>
                    <a:pt x="1122" y="477"/>
                    <a:pt x="1123" y="491"/>
                    <a:pt x="1132" y="498"/>
                  </a:cubicBezTo>
                  <a:cubicBezTo>
                    <a:pt x="1142" y="506"/>
                    <a:pt x="1155" y="505"/>
                    <a:pt x="1163" y="496"/>
                  </a:cubicBezTo>
                  <a:cubicBezTo>
                    <a:pt x="1197" y="456"/>
                    <a:pt x="1245" y="433"/>
                    <a:pt x="1297" y="433"/>
                  </a:cubicBezTo>
                  <a:cubicBezTo>
                    <a:pt x="1349" y="433"/>
                    <a:pt x="1398" y="456"/>
                    <a:pt x="1431" y="496"/>
                  </a:cubicBezTo>
                  <a:cubicBezTo>
                    <a:pt x="1435" y="501"/>
                    <a:pt x="1441" y="503"/>
                    <a:pt x="1448" y="503"/>
                  </a:cubicBezTo>
                  <a:cubicBezTo>
                    <a:pt x="1453" y="503"/>
                    <a:pt x="1458" y="502"/>
                    <a:pt x="1462" y="498"/>
                  </a:cubicBezTo>
                  <a:close/>
                  <a:moveTo>
                    <a:pt x="1930" y="498"/>
                  </a:moveTo>
                  <a:cubicBezTo>
                    <a:pt x="1939" y="491"/>
                    <a:pt x="1940" y="477"/>
                    <a:pt x="1933" y="467"/>
                  </a:cubicBezTo>
                  <a:cubicBezTo>
                    <a:pt x="1891" y="418"/>
                    <a:pt x="1830" y="389"/>
                    <a:pt x="1765" y="389"/>
                  </a:cubicBezTo>
                  <a:cubicBezTo>
                    <a:pt x="1700" y="389"/>
                    <a:pt x="1639" y="418"/>
                    <a:pt x="1598" y="467"/>
                  </a:cubicBezTo>
                  <a:cubicBezTo>
                    <a:pt x="1590" y="477"/>
                    <a:pt x="1591" y="491"/>
                    <a:pt x="1600" y="498"/>
                  </a:cubicBezTo>
                  <a:cubicBezTo>
                    <a:pt x="1610" y="506"/>
                    <a:pt x="1624" y="505"/>
                    <a:pt x="1631" y="496"/>
                  </a:cubicBezTo>
                  <a:cubicBezTo>
                    <a:pt x="1665" y="456"/>
                    <a:pt x="1713" y="433"/>
                    <a:pt x="1765" y="433"/>
                  </a:cubicBezTo>
                  <a:cubicBezTo>
                    <a:pt x="1817" y="433"/>
                    <a:pt x="1866" y="456"/>
                    <a:pt x="1899" y="496"/>
                  </a:cubicBezTo>
                  <a:cubicBezTo>
                    <a:pt x="1903" y="501"/>
                    <a:pt x="1910" y="503"/>
                    <a:pt x="1916" y="503"/>
                  </a:cubicBezTo>
                  <a:cubicBezTo>
                    <a:pt x="1921" y="503"/>
                    <a:pt x="1926" y="502"/>
                    <a:pt x="1930" y="498"/>
                  </a:cubicBezTo>
                  <a:close/>
                  <a:moveTo>
                    <a:pt x="760" y="304"/>
                  </a:moveTo>
                  <a:cubicBezTo>
                    <a:pt x="769" y="296"/>
                    <a:pt x="770" y="282"/>
                    <a:pt x="762" y="273"/>
                  </a:cubicBezTo>
                  <a:cubicBezTo>
                    <a:pt x="721" y="223"/>
                    <a:pt x="660" y="195"/>
                    <a:pt x="595" y="195"/>
                  </a:cubicBezTo>
                  <a:cubicBezTo>
                    <a:pt x="530" y="195"/>
                    <a:pt x="469" y="223"/>
                    <a:pt x="427" y="273"/>
                  </a:cubicBezTo>
                  <a:cubicBezTo>
                    <a:pt x="420" y="282"/>
                    <a:pt x="421" y="296"/>
                    <a:pt x="430" y="304"/>
                  </a:cubicBezTo>
                  <a:cubicBezTo>
                    <a:pt x="439" y="312"/>
                    <a:pt x="453" y="310"/>
                    <a:pt x="461" y="301"/>
                  </a:cubicBezTo>
                  <a:cubicBezTo>
                    <a:pt x="494" y="262"/>
                    <a:pt x="543" y="239"/>
                    <a:pt x="595" y="239"/>
                  </a:cubicBezTo>
                  <a:cubicBezTo>
                    <a:pt x="647" y="239"/>
                    <a:pt x="695" y="262"/>
                    <a:pt x="729" y="301"/>
                  </a:cubicBezTo>
                  <a:cubicBezTo>
                    <a:pt x="733" y="306"/>
                    <a:pt x="739" y="309"/>
                    <a:pt x="746" y="309"/>
                  </a:cubicBezTo>
                  <a:cubicBezTo>
                    <a:pt x="751" y="309"/>
                    <a:pt x="756" y="307"/>
                    <a:pt x="760" y="304"/>
                  </a:cubicBezTo>
                  <a:close/>
                  <a:moveTo>
                    <a:pt x="1228" y="304"/>
                  </a:moveTo>
                  <a:cubicBezTo>
                    <a:pt x="1237" y="296"/>
                    <a:pt x="1238" y="282"/>
                    <a:pt x="1230" y="273"/>
                  </a:cubicBezTo>
                  <a:cubicBezTo>
                    <a:pt x="1189" y="223"/>
                    <a:pt x="1128" y="195"/>
                    <a:pt x="1063" y="195"/>
                  </a:cubicBezTo>
                  <a:cubicBezTo>
                    <a:pt x="998" y="195"/>
                    <a:pt x="937" y="223"/>
                    <a:pt x="896" y="273"/>
                  </a:cubicBezTo>
                  <a:cubicBezTo>
                    <a:pt x="888" y="282"/>
                    <a:pt x="889" y="296"/>
                    <a:pt x="898" y="304"/>
                  </a:cubicBezTo>
                  <a:cubicBezTo>
                    <a:pt x="908" y="312"/>
                    <a:pt x="921" y="310"/>
                    <a:pt x="929" y="301"/>
                  </a:cubicBezTo>
                  <a:cubicBezTo>
                    <a:pt x="963" y="262"/>
                    <a:pt x="1011" y="239"/>
                    <a:pt x="1063" y="239"/>
                  </a:cubicBezTo>
                  <a:cubicBezTo>
                    <a:pt x="1115" y="239"/>
                    <a:pt x="1163" y="262"/>
                    <a:pt x="1197" y="301"/>
                  </a:cubicBezTo>
                  <a:cubicBezTo>
                    <a:pt x="1201" y="306"/>
                    <a:pt x="1207" y="309"/>
                    <a:pt x="1214" y="309"/>
                  </a:cubicBezTo>
                  <a:cubicBezTo>
                    <a:pt x="1219" y="309"/>
                    <a:pt x="1224" y="307"/>
                    <a:pt x="1228" y="304"/>
                  </a:cubicBezTo>
                  <a:close/>
                  <a:moveTo>
                    <a:pt x="1696" y="304"/>
                  </a:moveTo>
                  <a:cubicBezTo>
                    <a:pt x="1705" y="296"/>
                    <a:pt x="1706" y="282"/>
                    <a:pt x="1699" y="273"/>
                  </a:cubicBezTo>
                  <a:cubicBezTo>
                    <a:pt x="1657" y="223"/>
                    <a:pt x="1596" y="195"/>
                    <a:pt x="1531" y="195"/>
                  </a:cubicBezTo>
                  <a:cubicBezTo>
                    <a:pt x="1466" y="195"/>
                    <a:pt x="1405" y="223"/>
                    <a:pt x="1364" y="273"/>
                  </a:cubicBezTo>
                  <a:cubicBezTo>
                    <a:pt x="1356" y="282"/>
                    <a:pt x="1357" y="296"/>
                    <a:pt x="1366" y="304"/>
                  </a:cubicBezTo>
                  <a:cubicBezTo>
                    <a:pt x="1376" y="312"/>
                    <a:pt x="1389" y="310"/>
                    <a:pt x="1397" y="301"/>
                  </a:cubicBezTo>
                  <a:cubicBezTo>
                    <a:pt x="1431" y="262"/>
                    <a:pt x="1479" y="239"/>
                    <a:pt x="1531" y="239"/>
                  </a:cubicBezTo>
                  <a:cubicBezTo>
                    <a:pt x="1583" y="239"/>
                    <a:pt x="1632" y="262"/>
                    <a:pt x="1665" y="301"/>
                  </a:cubicBezTo>
                  <a:cubicBezTo>
                    <a:pt x="1669" y="306"/>
                    <a:pt x="1675" y="309"/>
                    <a:pt x="1682" y="309"/>
                  </a:cubicBezTo>
                  <a:cubicBezTo>
                    <a:pt x="1687" y="309"/>
                    <a:pt x="1692" y="307"/>
                    <a:pt x="1696" y="304"/>
                  </a:cubicBezTo>
                  <a:close/>
                  <a:moveTo>
                    <a:pt x="994" y="109"/>
                  </a:moveTo>
                  <a:cubicBezTo>
                    <a:pt x="1003" y="101"/>
                    <a:pt x="1004" y="88"/>
                    <a:pt x="996" y="78"/>
                  </a:cubicBezTo>
                  <a:cubicBezTo>
                    <a:pt x="955" y="29"/>
                    <a:pt x="894" y="0"/>
                    <a:pt x="829" y="0"/>
                  </a:cubicBezTo>
                  <a:cubicBezTo>
                    <a:pt x="764" y="0"/>
                    <a:pt x="703" y="29"/>
                    <a:pt x="661" y="78"/>
                  </a:cubicBezTo>
                  <a:cubicBezTo>
                    <a:pt x="654" y="88"/>
                    <a:pt x="655" y="101"/>
                    <a:pt x="664" y="109"/>
                  </a:cubicBezTo>
                  <a:cubicBezTo>
                    <a:pt x="673" y="117"/>
                    <a:pt x="687" y="116"/>
                    <a:pt x="695" y="107"/>
                  </a:cubicBezTo>
                  <a:cubicBezTo>
                    <a:pt x="728" y="67"/>
                    <a:pt x="777" y="44"/>
                    <a:pt x="829" y="44"/>
                  </a:cubicBezTo>
                  <a:cubicBezTo>
                    <a:pt x="881" y="44"/>
                    <a:pt x="929" y="67"/>
                    <a:pt x="963" y="107"/>
                  </a:cubicBezTo>
                  <a:cubicBezTo>
                    <a:pt x="967" y="112"/>
                    <a:pt x="973" y="114"/>
                    <a:pt x="980" y="114"/>
                  </a:cubicBezTo>
                  <a:cubicBezTo>
                    <a:pt x="985" y="114"/>
                    <a:pt x="990" y="113"/>
                    <a:pt x="994" y="109"/>
                  </a:cubicBezTo>
                  <a:close/>
                  <a:moveTo>
                    <a:pt x="1462" y="109"/>
                  </a:moveTo>
                  <a:cubicBezTo>
                    <a:pt x="1471" y="101"/>
                    <a:pt x="1472" y="88"/>
                    <a:pt x="1465" y="78"/>
                  </a:cubicBezTo>
                  <a:cubicBezTo>
                    <a:pt x="1423" y="29"/>
                    <a:pt x="1362" y="0"/>
                    <a:pt x="1297" y="0"/>
                  </a:cubicBezTo>
                  <a:cubicBezTo>
                    <a:pt x="1232" y="0"/>
                    <a:pt x="1171" y="29"/>
                    <a:pt x="1130" y="78"/>
                  </a:cubicBezTo>
                  <a:cubicBezTo>
                    <a:pt x="1122" y="88"/>
                    <a:pt x="1123" y="101"/>
                    <a:pt x="1132" y="109"/>
                  </a:cubicBezTo>
                  <a:cubicBezTo>
                    <a:pt x="1142" y="117"/>
                    <a:pt x="1155" y="116"/>
                    <a:pt x="1163" y="107"/>
                  </a:cubicBezTo>
                  <a:cubicBezTo>
                    <a:pt x="1197" y="67"/>
                    <a:pt x="1245" y="44"/>
                    <a:pt x="1297" y="44"/>
                  </a:cubicBezTo>
                  <a:cubicBezTo>
                    <a:pt x="1349" y="44"/>
                    <a:pt x="1398" y="67"/>
                    <a:pt x="1431" y="107"/>
                  </a:cubicBezTo>
                  <a:cubicBezTo>
                    <a:pt x="1435" y="112"/>
                    <a:pt x="1441" y="114"/>
                    <a:pt x="1448" y="114"/>
                  </a:cubicBezTo>
                  <a:cubicBezTo>
                    <a:pt x="1453" y="114"/>
                    <a:pt x="1458" y="113"/>
                    <a:pt x="1462" y="109"/>
                  </a:cubicBezTo>
                  <a:close/>
                  <a:moveTo>
                    <a:pt x="2060" y="662"/>
                  </a:moveTo>
                  <a:cubicBezTo>
                    <a:pt x="2018" y="612"/>
                    <a:pt x="1957" y="584"/>
                    <a:pt x="1893" y="584"/>
                  </a:cubicBezTo>
                  <a:cubicBezTo>
                    <a:pt x="1839" y="584"/>
                    <a:pt x="1788" y="603"/>
                    <a:pt x="1749" y="638"/>
                  </a:cubicBezTo>
                  <a:cubicBezTo>
                    <a:pt x="1760" y="647"/>
                    <a:pt x="1771" y="657"/>
                    <a:pt x="1781" y="667"/>
                  </a:cubicBezTo>
                  <a:cubicBezTo>
                    <a:pt x="1781" y="667"/>
                    <a:pt x="1781" y="668"/>
                    <a:pt x="1781" y="668"/>
                  </a:cubicBezTo>
                  <a:cubicBezTo>
                    <a:pt x="1813" y="642"/>
                    <a:pt x="1852" y="628"/>
                    <a:pt x="1893" y="628"/>
                  </a:cubicBezTo>
                  <a:cubicBezTo>
                    <a:pt x="1944" y="628"/>
                    <a:pt x="1993" y="651"/>
                    <a:pt x="2026" y="690"/>
                  </a:cubicBezTo>
                  <a:cubicBezTo>
                    <a:pt x="2031" y="695"/>
                    <a:pt x="2037" y="698"/>
                    <a:pt x="2043" y="698"/>
                  </a:cubicBezTo>
                  <a:cubicBezTo>
                    <a:pt x="2048" y="698"/>
                    <a:pt x="2053" y="696"/>
                    <a:pt x="2057" y="693"/>
                  </a:cubicBezTo>
                  <a:cubicBezTo>
                    <a:pt x="2067" y="685"/>
                    <a:pt x="2068" y="671"/>
                    <a:pt x="2060" y="662"/>
                  </a:cubicBezTo>
                  <a:close/>
                  <a:moveTo>
                    <a:pt x="377" y="638"/>
                  </a:moveTo>
                  <a:cubicBezTo>
                    <a:pt x="338" y="603"/>
                    <a:pt x="287" y="584"/>
                    <a:pt x="233" y="584"/>
                  </a:cubicBezTo>
                  <a:cubicBezTo>
                    <a:pt x="169" y="584"/>
                    <a:pt x="108" y="612"/>
                    <a:pt x="66" y="662"/>
                  </a:cubicBezTo>
                  <a:cubicBezTo>
                    <a:pt x="58" y="671"/>
                    <a:pt x="59" y="685"/>
                    <a:pt x="69" y="693"/>
                  </a:cubicBezTo>
                  <a:cubicBezTo>
                    <a:pt x="78" y="701"/>
                    <a:pt x="92" y="699"/>
                    <a:pt x="100" y="690"/>
                  </a:cubicBezTo>
                  <a:cubicBezTo>
                    <a:pt x="133" y="651"/>
                    <a:pt x="182" y="628"/>
                    <a:pt x="233" y="628"/>
                  </a:cubicBezTo>
                  <a:cubicBezTo>
                    <a:pt x="274" y="628"/>
                    <a:pt x="313" y="642"/>
                    <a:pt x="344" y="667"/>
                  </a:cubicBezTo>
                  <a:cubicBezTo>
                    <a:pt x="355" y="657"/>
                    <a:pt x="366" y="647"/>
                    <a:pt x="377" y="638"/>
                  </a:cubicBezTo>
                  <a:close/>
                  <a:moveTo>
                    <a:pt x="2052" y="1567"/>
                  </a:moveTo>
                  <a:cubicBezTo>
                    <a:pt x="2030" y="1534"/>
                    <a:pt x="2004" y="1506"/>
                    <a:pt x="1974" y="1492"/>
                  </a:cubicBezTo>
                  <a:cubicBezTo>
                    <a:pt x="1885" y="1451"/>
                    <a:pt x="1720" y="1449"/>
                    <a:pt x="1720" y="1449"/>
                  </a:cubicBezTo>
                  <a:cubicBezTo>
                    <a:pt x="1720" y="1449"/>
                    <a:pt x="1614" y="1537"/>
                    <a:pt x="1533" y="1602"/>
                  </a:cubicBezTo>
                  <a:cubicBezTo>
                    <a:pt x="1530" y="1604"/>
                    <a:pt x="1527" y="1604"/>
                    <a:pt x="1524" y="1602"/>
                  </a:cubicBezTo>
                  <a:cubicBezTo>
                    <a:pt x="1464" y="1555"/>
                    <a:pt x="1337" y="1449"/>
                    <a:pt x="1337" y="1449"/>
                  </a:cubicBezTo>
                  <a:cubicBezTo>
                    <a:pt x="1337" y="1449"/>
                    <a:pt x="1197" y="1451"/>
                    <a:pt x="1105" y="1483"/>
                  </a:cubicBezTo>
                  <a:cubicBezTo>
                    <a:pt x="1123" y="1499"/>
                    <a:pt x="1139" y="1519"/>
                    <a:pt x="1155" y="1543"/>
                  </a:cubicBezTo>
                  <a:cubicBezTo>
                    <a:pt x="1208" y="1621"/>
                    <a:pt x="1235" y="1714"/>
                    <a:pt x="1235" y="1811"/>
                  </a:cubicBezTo>
                  <a:cubicBezTo>
                    <a:pt x="1235" y="1814"/>
                    <a:pt x="1235" y="1814"/>
                    <a:pt x="1235" y="1814"/>
                  </a:cubicBezTo>
                  <a:cubicBezTo>
                    <a:pt x="1235" y="1821"/>
                    <a:pt x="1234" y="1829"/>
                    <a:pt x="1231" y="1836"/>
                  </a:cubicBezTo>
                  <a:cubicBezTo>
                    <a:pt x="2102" y="1836"/>
                    <a:pt x="2102" y="1836"/>
                    <a:pt x="2102" y="1836"/>
                  </a:cubicBezTo>
                  <a:cubicBezTo>
                    <a:pt x="2114" y="1836"/>
                    <a:pt x="2124" y="1826"/>
                    <a:pt x="2124" y="1814"/>
                  </a:cubicBezTo>
                  <a:cubicBezTo>
                    <a:pt x="2124" y="1811"/>
                    <a:pt x="2124" y="1811"/>
                    <a:pt x="2124" y="1811"/>
                  </a:cubicBezTo>
                  <a:cubicBezTo>
                    <a:pt x="2124" y="1724"/>
                    <a:pt x="2100" y="1639"/>
                    <a:pt x="2052" y="1567"/>
                  </a:cubicBezTo>
                  <a:close/>
                  <a:moveTo>
                    <a:pt x="1191" y="1811"/>
                  </a:moveTo>
                  <a:cubicBezTo>
                    <a:pt x="1191" y="1724"/>
                    <a:pt x="1167" y="1639"/>
                    <a:pt x="1119" y="1567"/>
                  </a:cubicBezTo>
                  <a:cubicBezTo>
                    <a:pt x="1097" y="1534"/>
                    <a:pt x="1071" y="1506"/>
                    <a:pt x="1042" y="1492"/>
                  </a:cubicBezTo>
                  <a:cubicBezTo>
                    <a:pt x="952" y="1451"/>
                    <a:pt x="787" y="1449"/>
                    <a:pt x="787" y="1449"/>
                  </a:cubicBezTo>
                  <a:cubicBezTo>
                    <a:pt x="787" y="1449"/>
                    <a:pt x="787" y="1449"/>
                    <a:pt x="787" y="1449"/>
                  </a:cubicBezTo>
                  <a:cubicBezTo>
                    <a:pt x="787" y="1449"/>
                    <a:pt x="722" y="1541"/>
                    <a:pt x="592" y="1541"/>
                  </a:cubicBezTo>
                  <a:cubicBezTo>
                    <a:pt x="599" y="1541"/>
                    <a:pt x="599" y="1541"/>
                    <a:pt x="599" y="1541"/>
                  </a:cubicBezTo>
                  <a:cubicBezTo>
                    <a:pt x="469" y="1541"/>
                    <a:pt x="404" y="1449"/>
                    <a:pt x="404" y="1449"/>
                  </a:cubicBezTo>
                  <a:cubicBezTo>
                    <a:pt x="404" y="1449"/>
                    <a:pt x="404" y="1449"/>
                    <a:pt x="404" y="1449"/>
                  </a:cubicBezTo>
                  <a:cubicBezTo>
                    <a:pt x="404" y="1449"/>
                    <a:pt x="239" y="1451"/>
                    <a:pt x="150" y="1492"/>
                  </a:cubicBezTo>
                  <a:cubicBezTo>
                    <a:pt x="120" y="1506"/>
                    <a:pt x="94" y="1534"/>
                    <a:pt x="72" y="1567"/>
                  </a:cubicBezTo>
                  <a:cubicBezTo>
                    <a:pt x="24" y="1639"/>
                    <a:pt x="0" y="1724"/>
                    <a:pt x="0" y="1811"/>
                  </a:cubicBezTo>
                  <a:cubicBezTo>
                    <a:pt x="0" y="1814"/>
                    <a:pt x="0" y="1814"/>
                    <a:pt x="0" y="1814"/>
                  </a:cubicBezTo>
                  <a:cubicBezTo>
                    <a:pt x="0" y="1826"/>
                    <a:pt x="10" y="1836"/>
                    <a:pt x="22" y="1836"/>
                  </a:cubicBezTo>
                  <a:cubicBezTo>
                    <a:pt x="1169" y="1836"/>
                    <a:pt x="1169" y="1836"/>
                    <a:pt x="1169" y="1836"/>
                  </a:cubicBezTo>
                  <a:cubicBezTo>
                    <a:pt x="1181" y="1836"/>
                    <a:pt x="1191" y="1826"/>
                    <a:pt x="1191" y="1814"/>
                  </a:cubicBezTo>
                  <a:lnTo>
                    <a:pt x="1191" y="1811"/>
                  </a:lnTo>
                  <a:close/>
                  <a:moveTo>
                    <a:pt x="1228" y="693"/>
                  </a:moveTo>
                  <a:cubicBezTo>
                    <a:pt x="1237" y="685"/>
                    <a:pt x="1238" y="671"/>
                    <a:pt x="1230" y="662"/>
                  </a:cubicBezTo>
                  <a:cubicBezTo>
                    <a:pt x="1189" y="612"/>
                    <a:pt x="1128" y="584"/>
                    <a:pt x="1063" y="584"/>
                  </a:cubicBezTo>
                  <a:cubicBezTo>
                    <a:pt x="998" y="584"/>
                    <a:pt x="937" y="612"/>
                    <a:pt x="896" y="662"/>
                  </a:cubicBezTo>
                  <a:cubicBezTo>
                    <a:pt x="888" y="671"/>
                    <a:pt x="889" y="685"/>
                    <a:pt x="898" y="693"/>
                  </a:cubicBezTo>
                  <a:cubicBezTo>
                    <a:pt x="908" y="701"/>
                    <a:pt x="921" y="699"/>
                    <a:pt x="929" y="690"/>
                  </a:cubicBezTo>
                  <a:cubicBezTo>
                    <a:pt x="963" y="651"/>
                    <a:pt x="1011" y="628"/>
                    <a:pt x="1063" y="628"/>
                  </a:cubicBezTo>
                  <a:cubicBezTo>
                    <a:pt x="1115" y="628"/>
                    <a:pt x="1163" y="651"/>
                    <a:pt x="1197" y="690"/>
                  </a:cubicBezTo>
                  <a:cubicBezTo>
                    <a:pt x="1201" y="695"/>
                    <a:pt x="1207" y="698"/>
                    <a:pt x="1214" y="698"/>
                  </a:cubicBezTo>
                  <a:cubicBezTo>
                    <a:pt x="1219" y="698"/>
                    <a:pt x="1224" y="696"/>
                    <a:pt x="1228" y="693"/>
                  </a:cubicBezTo>
                  <a:close/>
                  <a:moveTo>
                    <a:pt x="1255" y="1157"/>
                  </a:moveTo>
                  <a:cubicBezTo>
                    <a:pt x="1275" y="1207"/>
                    <a:pt x="1328" y="1336"/>
                    <a:pt x="1356" y="1362"/>
                  </a:cubicBezTo>
                  <a:cubicBezTo>
                    <a:pt x="1358" y="1363"/>
                    <a:pt x="1361" y="1365"/>
                    <a:pt x="1363" y="1367"/>
                  </a:cubicBezTo>
                  <a:cubicBezTo>
                    <a:pt x="1363" y="1414"/>
                    <a:pt x="1363" y="1414"/>
                    <a:pt x="1363" y="1414"/>
                  </a:cubicBezTo>
                  <a:cubicBezTo>
                    <a:pt x="1365" y="1415"/>
                    <a:pt x="1365" y="1415"/>
                    <a:pt x="1365" y="1415"/>
                  </a:cubicBezTo>
                  <a:cubicBezTo>
                    <a:pt x="1365" y="1416"/>
                    <a:pt x="1383" y="1430"/>
                    <a:pt x="1407" y="1450"/>
                  </a:cubicBezTo>
                  <a:cubicBezTo>
                    <a:pt x="1407" y="1399"/>
                    <a:pt x="1407" y="1399"/>
                    <a:pt x="1407" y="1399"/>
                  </a:cubicBezTo>
                  <a:cubicBezTo>
                    <a:pt x="1444" y="1422"/>
                    <a:pt x="1492" y="1445"/>
                    <a:pt x="1528" y="1445"/>
                  </a:cubicBezTo>
                  <a:cubicBezTo>
                    <a:pt x="1565" y="1445"/>
                    <a:pt x="1613" y="1422"/>
                    <a:pt x="1649" y="1399"/>
                  </a:cubicBezTo>
                  <a:cubicBezTo>
                    <a:pt x="1649" y="1450"/>
                    <a:pt x="1649" y="1450"/>
                    <a:pt x="1649" y="1450"/>
                  </a:cubicBezTo>
                  <a:cubicBezTo>
                    <a:pt x="1675" y="1430"/>
                    <a:pt x="1692" y="1415"/>
                    <a:pt x="1692" y="1415"/>
                  </a:cubicBezTo>
                  <a:cubicBezTo>
                    <a:pt x="1693" y="1414"/>
                    <a:pt x="1693" y="1414"/>
                    <a:pt x="1693" y="1414"/>
                  </a:cubicBezTo>
                  <a:cubicBezTo>
                    <a:pt x="1693" y="1368"/>
                    <a:pt x="1693" y="1368"/>
                    <a:pt x="1693" y="1368"/>
                  </a:cubicBezTo>
                  <a:cubicBezTo>
                    <a:pt x="1696" y="1365"/>
                    <a:pt x="1699" y="1363"/>
                    <a:pt x="1701" y="1362"/>
                  </a:cubicBezTo>
                  <a:cubicBezTo>
                    <a:pt x="1729" y="1336"/>
                    <a:pt x="1782" y="1207"/>
                    <a:pt x="1802" y="1157"/>
                  </a:cubicBezTo>
                  <a:cubicBezTo>
                    <a:pt x="1837" y="1135"/>
                    <a:pt x="1846" y="1097"/>
                    <a:pt x="1849" y="1081"/>
                  </a:cubicBezTo>
                  <a:cubicBezTo>
                    <a:pt x="1849" y="1079"/>
                    <a:pt x="1849" y="1078"/>
                    <a:pt x="1849" y="1076"/>
                  </a:cubicBezTo>
                  <a:cubicBezTo>
                    <a:pt x="1796" y="1101"/>
                    <a:pt x="1796" y="1101"/>
                    <a:pt x="1796" y="1101"/>
                  </a:cubicBezTo>
                  <a:cubicBezTo>
                    <a:pt x="1791" y="1109"/>
                    <a:pt x="1784" y="1117"/>
                    <a:pt x="1774" y="1122"/>
                  </a:cubicBezTo>
                  <a:cubicBezTo>
                    <a:pt x="1769" y="1124"/>
                    <a:pt x="1766" y="1129"/>
                    <a:pt x="1764" y="1134"/>
                  </a:cubicBezTo>
                  <a:cubicBezTo>
                    <a:pt x="1731" y="1217"/>
                    <a:pt x="1687" y="1315"/>
                    <a:pt x="1671" y="1329"/>
                  </a:cubicBezTo>
                  <a:cubicBezTo>
                    <a:pt x="1644" y="1353"/>
                    <a:pt x="1568" y="1401"/>
                    <a:pt x="1528" y="1401"/>
                  </a:cubicBezTo>
                  <a:cubicBezTo>
                    <a:pt x="1489" y="1401"/>
                    <a:pt x="1413" y="1353"/>
                    <a:pt x="1385" y="1329"/>
                  </a:cubicBezTo>
                  <a:cubicBezTo>
                    <a:pt x="1370" y="1315"/>
                    <a:pt x="1326" y="1217"/>
                    <a:pt x="1293" y="1134"/>
                  </a:cubicBezTo>
                  <a:cubicBezTo>
                    <a:pt x="1291" y="1129"/>
                    <a:pt x="1287" y="1124"/>
                    <a:pt x="1283" y="1122"/>
                  </a:cubicBezTo>
                  <a:cubicBezTo>
                    <a:pt x="1273" y="1117"/>
                    <a:pt x="1266" y="1109"/>
                    <a:pt x="1261" y="1101"/>
                  </a:cubicBezTo>
                  <a:cubicBezTo>
                    <a:pt x="1208" y="1076"/>
                    <a:pt x="1208" y="1076"/>
                    <a:pt x="1208" y="1076"/>
                  </a:cubicBezTo>
                  <a:cubicBezTo>
                    <a:pt x="1208" y="1078"/>
                    <a:pt x="1208" y="1080"/>
                    <a:pt x="1208" y="1083"/>
                  </a:cubicBezTo>
                  <a:cubicBezTo>
                    <a:pt x="1212" y="1102"/>
                    <a:pt x="1222" y="1136"/>
                    <a:pt x="1255" y="1157"/>
                  </a:cubicBezTo>
                  <a:close/>
                  <a:moveTo>
                    <a:pt x="322" y="1157"/>
                  </a:moveTo>
                  <a:cubicBezTo>
                    <a:pt x="342" y="1207"/>
                    <a:pt x="395" y="1336"/>
                    <a:pt x="423" y="1362"/>
                  </a:cubicBezTo>
                  <a:cubicBezTo>
                    <a:pt x="425" y="1363"/>
                    <a:pt x="428" y="1365"/>
                    <a:pt x="431" y="1368"/>
                  </a:cubicBezTo>
                  <a:cubicBezTo>
                    <a:pt x="431" y="1411"/>
                    <a:pt x="431" y="1411"/>
                    <a:pt x="431" y="1411"/>
                  </a:cubicBezTo>
                  <a:cubicBezTo>
                    <a:pt x="440" y="1423"/>
                    <a:pt x="440" y="1423"/>
                    <a:pt x="440" y="1423"/>
                  </a:cubicBezTo>
                  <a:cubicBezTo>
                    <a:pt x="441" y="1425"/>
                    <a:pt x="452" y="1440"/>
                    <a:pt x="475" y="1457"/>
                  </a:cubicBezTo>
                  <a:cubicBezTo>
                    <a:pt x="475" y="1399"/>
                    <a:pt x="475" y="1399"/>
                    <a:pt x="475" y="1399"/>
                  </a:cubicBezTo>
                  <a:cubicBezTo>
                    <a:pt x="511" y="1422"/>
                    <a:pt x="559" y="1445"/>
                    <a:pt x="595" y="1445"/>
                  </a:cubicBezTo>
                  <a:cubicBezTo>
                    <a:pt x="632" y="1445"/>
                    <a:pt x="680" y="1422"/>
                    <a:pt x="717" y="1399"/>
                  </a:cubicBezTo>
                  <a:cubicBezTo>
                    <a:pt x="717" y="1457"/>
                    <a:pt x="717" y="1457"/>
                    <a:pt x="717" y="1457"/>
                  </a:cubicBezTo>
                  <a:cubicBezTo>
                    <a:pt x="740" y="1440"/>
                    <a:pt x="751" y="1424"/>
                    <a:pt x="751" y="1423"/>
                  </a:cubicBezTo>
                  <a:cubicBezTo>
                    <a:pt x="761" y="1411"/>
                    <a:pt x="761" y="1411"/>
                    <a:pt x="761" y="1411"/>
                  </a:cubicBezTo>
                  <a:cubicBezTo>
                    <a:pt x="761" y="1367"/>
                    <a:pt x="761" y="1367"/>
                    <a:pt x="761" y="1367"/>
                  </a:cubicBezTo>
                  <a:cubicBezTo>
                    <a:pt x="763" y="1365"/>
                    <a:pt x="766" y="1363"/>
                    <a:pt x="768" y="1362"/>
                  </a:cubicBezTo>
                  <a:cubicBezTo>
                    <a:pt x="796" y="1336"/>
                    <a:pt x="849" y="1207"/>
                    <a:pt x="869" y="1157"/>
                  </a:cubicBezTo>
                  <a:cubicBezTo>
                    <a:pt x="904" y="1135"/>
                    <a:pt x="913" y="1097"/>
                    <a:pt x="916" y="1081"/>
                  </a:cubicBezTo>
                  <a:cubicBezTo>
                    <a:pt x="916" y="1079"/>
                    <a:pt x="916" y="1078"/>
                    <a:pt x="916" y="1076"/>
                  </a:cubicBezTo>
                  <a:cubicBezTo>
                    <a:pt x="863" y="1101"/>
                    <a:pt x="863" y="1101"/>
                    <a:pt x="863" y="1101"/>
                  </a:cubicBezTo>
                  <a:cubicBezTo>
                    <a:pt x="858" y="1109"/>
                    <a:pt x="851" y="1117"/>
                    <a:pt x="841" y="1122"/>
                  </a:cubicBezTo>
                  <a:cubicBezTo>
                    <a:pt x="836" y="1124"/>
                    <a:pt x="833" y="1129"/>
                    <a:pt x="831" y="1134"/>
                  </a:cubicBezTo>
                  <a:cubicBezTo>
                    <a:pt x="798" y="1217"/>
                    <a:pt x="754" y="1315"/>
                    <a:pt x="738" y="1329"/>
                  </a:cubicBezTo>
                  <a:cubicBezTo>
                    <a:pt x="711" y="1353"/>
                    <a:pt x="635" y="1401"/>
                    <a:pt x="595" y="1401"/>
                  </a:cubicBezTo>
                  <a:cubicBezTo>
                    <a:pt x="556" y="1401"/>
                    <a:pt x="480" y="1353"/>
                    <a:pt x="452" y="1329"/>
                  </a:cubicBezTo>
                  <a:cubicBezTo>
                    <a:pt x="437" y="1315"/>
                    <a:pt x="393" y="1217"/>
                    <a:pt x="360" y="1134"/>
                  </a:cubicBezTo>
                  <a:cubicBezTo>
                    <a:pt x="358" y="1129"/>
                    <a:pt x="354" y="1124"/>
                    <a:pt x="350" y="1122"/>
                  </a:cubicBezTo>
                  <a:cubicBezTo>
                    <a:pt x="339" y="1117"/>
                    <a:pt x="333" y="1109"/>
                    <a:pt x="328" y="1101"/>
                  </a:cubicBezTo>
                  <a:cubicBezTo>
                    <a:pt x="275" y="1076"/>
                    <a:pt x="275" y="1076"/>
                    <a:pt x="275" y="1076"/>
                  </a:cubicBezTo>
                  <a:cubicBezTo>
                    <a:pt x="275" y="1078"/>
                    <a:pt x="275" y="1080"/>
                    <a:pt x="275" y="1083"/>
                  </a:cubicBezTo>
                  <a:cubicBezTo>
                    <a:pt x="279" y="1102"/>
                    <a:pt x="289" y="1136"/>
                    <a:pt x="322" y="11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21">
              <a:extLst>
                <a:ext uri="{FF2B5EF4-FFF2-40B4-BE49-F238E27FC236}">
                  <a16:creationId xmlns:a16="http://schemas.microsoft.com/office/drawing/2014/main" id="{9A32768F-1F7B-41E4-AD1E-05F5E20985B3}"/>
                </a:ext>
              </a:extLst>
            </p:cNvPr>
            <p:cNvSpPr>
              <a:spLocks noEditPoints="1"/>
            </p:cNvSpPr>
            <p:nvPr/>
          </p:nvSpPr>
          <p:spPr bwMode="auto">
            <a:xfrm>
              <a:off x="2383" y="1568"/>
              <a:ext cx="3019" cy="1511"/>
            </a:xfrm>
            <a:custGeom>
              <a:avLst/>
              <a:gdLst>
                <a:gd name="T0" fmla="*/ 1542 w 1612"/>
                <a:gd name="T1" fmla="*/ 422 h 806"/>
                <a:gd name="T2" fmla="*/ 1542 w 1612"/>
                <a:gd name="T3" fmla="*/ 421 h 806"/>
                <a:gd name="T4" fmla="*/ 1508 w 1612"/>
                <a:gd name="T5" fmla="*/ 469 h 806"/>
                <a:gd name="T6" fmla="*/ 1505 w 1612"/>
                <a:gd name="T7" fmla="*/ 470 h 806"/>
                <a:gd name="T8" fmla="*/ 1485 w 1612"/>
                <a:gd name="T9" fmla="*/ 470 h 806"/>
                <a:gd name="T10" fmla="*/ 1483 w 1612"/>
                <a:gd name="T11" fmla="*/ 470 h 806"/>
                <a:gd name="T12" fmla="*/ 1074 w 1612"/>
                <a:gd name="T13" fmla="*/ 253 h 806"/>
                <a:gd name="T14" fmla="*/ 1070 w 1612"/>
                <a:gd name="T15" fmla="*/ 253 h 806"/>
                <a:gd name="T16" fmla="*/ 949 w 1612"/>
                <a:gd name="T17" fmla="*/ 445 h 806"/>
                <a:gd name="T18" fmla="*/ 949 w 1612"/>
                <a:gd name="T19" fmla="*/ 444 h 806"/>
                <a:gd name="T20" fmla="*/ 932 w 1612"/>
                <a:gd name="T21" fmla="*/ 315 h 806"/>
                <a:gd name="T22" fmla="*/ 1242 w 1612"/>
                <a:gd name="T23" fmla="*/ 0 h 806"/>
                <a:gd name="T24" fmla="*/ 1553 w 1612"/>
                <a:gd name="T25" fmla="*/ 315 h 806"/>
                <a:gd name="T26" fmla="*/ 1542 w 1612"/>
                <a:gd name="T27" fmla="*/ 422 h 806"/>
                <a:gd name="T28" fmla="*/ 619 w 1612"/>
                <a:gd name="T29" fmla="*/ 317 h 806"/>
                <a:gd name="T30" fmla="*/ 310 w 1612"/>
                <a:gd name="T31" fmla="*/ 0 h 806"/>
                <a:gd name="T32" fmla="*/ 0 w 1612"/>
                <a:gd name="T33" fmla="*/ 317 h 806"/>
                <a:gd name="T34" fmla="*/ 12 w 1612"/>
                <a:gd name="T35" fmla="*/ 427 h 806"/>
                <a:gd name="T36" fmla="*/ 12 w 1612"/>
                <a:gd name="T37" fmla="*/ 428 h 806"/>
                <a:gd name="T38" fmla="*/ 43 w 1612"/>
                <a:gd name="T39" fmla="*/ 467 h 806"/>
                <a:gd name="T40" fmla="*/ 64 w 1612"/>
                <a:gd name="T41" fmla="*/ 469 h 806"/>
                <a:gd name="T42" fmla="*/ 140 w 1612"/>
                <a:gd name="T43" fmla="*/ 254 h 806"/>
                <a:gd name="T44" fmla="*/ 547 w 1612"/>
                <a:gd name="T45" fmla="*/ 240 h 806"/>
                <a:gd name="T46" fmla="*/ 550 w 1612"/>
                <a:gd name="T47" fmla="*/ 473 h 806"/>
                <a:gd name="T48" fmla="*/ 573 w 1612"/>
                <a:gd name="T49" fmla="*/ 473 h 806"/>
                <a:gd name="T50" fmla="*/ 608 w 1612"/>
                <a:gd name="T51" fmla="*/ 424 h 806"/>
                <a:gd name="T52" fmla="*/ 608 w 1612"/>
                <a:gd name="T53" fmla="*/ 424 h 806"/>
                <a:gd name="T54" fmla="*/ 619 w 1612"/>
                <a:gd name="T55" fmla="*/ 317 h 806"/>
                <a:gd name="T56" fmla="*/ 1033 w 1612"/>
                <a:gd name="T57" fmla="*/ 780 h 806"/>
                <a:gd name="T58" fmla="*/ 946 w 1612"/>
                <a:gd name="T59" fmla="*/ 612 h 806"/>
                <a:gd name="T60" fmla="*/ 872 w 1612"/>
                <a:gd name="T61" fmla="*/ 756 h 806"/>
                <a:gd name="T62" fmla="*/ 949 w 1612"/>
                <a:gd name="T63" fmla="*/ 806 h 806"/>
                <a:gd name="T64" fmla="*/ 1033 w 1612"/>
                <a:gd name="T65" fmla="*/ 799 h 806"/>
                <a:gd name="T66" fmla="*/ 1033 w 1612"/>
                <a:gd name="T67" fmla="*/ 780 h 806"/>
                <a:gd name="T68" fmla="*/ 1538 w 1612"/>
                <a:gd name="T69" fmla="*/ 613 h 806"/>
                <a:gd name="T70" fmla="*/ 1451 w 1612"/>
                <a:gd name="T71" fmla="*/ 781 h 806"/>
                <a:gd name="T72" fmla="*/ 1451 w 1612"/>
                <a:gd name="T73" fmla="*/ 799 h 806"/>
                <a:gd name="T74" fmla="*/ 1536 w 1612"/>
                <a:gd name="T75" fmla="*/ 806 h 806"/>
                <a:gd name="T76" fmla="*/ 1612 w 1612"/>
                <a:gd name="T77" fmla="*/ 756 h 806"/>
                <a:gd name="T78" fmla="*/ 1538 w 1612"/>
                <a:gd name="T79" fmla="*/ 613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12" h="806">
                  <a:moveTo>
                    <a:pt x="1542" y="422"/>
                  </a:moveTo>
                  <a:cubicBezTo>
                    <a:pt x="1542" y="422"/>
                    <a:pt x="1542" y="421"/>
                    <a:pt x="1542" y="421"/>
                  </a:cubicBezTo>
                  <a:cubicBezTo>
                    <a:pt x="1541" y="422"/>
                    <a:pt x="1536" y="437"/>
                    <a:pt x="1508" y="469"/>
                  </a:cubicBezTo>
                  <a:cubicBezTo>
                    <a:pt x="1507" y="470"/>
                    <a:pt x="1506" y="470"/>
                    <a:pt x="1505" y="470"/>
                  </a:cubicBezTo>
                  <a:cubicBezTo>
                    <a:pt x="1485" y="470"/>
                    <a:pt x="1485" y="470"/>
                    <a:pt x="1485" y="470"/>
                  </a:cubicBezTo>
                  <a:cubicBezTo>
                    <a:pt x="1484" y="470"/>
                    <a:pt x="1484" y="470"/>
                    <a:pt x="1483" y="470"/>
                  </a:cubicBezTo>
                  <a:cubicBezTo>
                    <a:pt x="1074" y="253"/>
                    <a:pt x="1074" y="253"/>
                    <a:pt x="1074" y="253"/>
                  </a:cubicBezTo>
                  <a:cubicBezTo>
                    <a:pt x="1073" y="253"/>
                    <a:pt x="1071" y="253"/>
                    <a:pt x="1070" y="253"/>
                  </a:cubicBezTo>
                  <a:cubicBezTo>
                    <a:pt x="979" y="283"/>
                    <a:pt x="980" y="472"/>
                    <a:pt x="949" y="445"/>
                  </a:cubicBezTo>
                  <a:cubicBezTo>
                    <a:pt x="949" y="444"/>
                    <a:pt x="949" y="444"/>
                    <a:pt x="949" y="444"/>
                  </a:cubicBezTo>
                  <a:cubicBezTo>
                    <a:pt x="936" y="410"/>
                    <a:pt x="932" y="354"/>
                    <a:pt x="932" y="315"/>
                  </a:cubicBezTo>
                  <a:cubicBezTo>
                    <a:pt x="932" y="141"/>
                    <a:pt x="1067" y="0"/>
                    <a:pt x="1242" y="0"/>
                  </a:cubicBezTo>
                  <a:cubicBezTo>
                    <a:pt x="1418" y="0"/>
                    <a:pt x="1553" y="141"/>
                    <a:pt x="1553" y="315"/>
                  </a:cubicBezTo>
                  <a:cubicBezTo>
                    <a:pt x="1553" y="353"/>
                    <a:pt x="1554" y="389"/>
                    <a:pt x="1542" y="422"/>
                  </a:cubicBezTo>
                  <a:close/>
                  <a:moveTo>
                    <a:pt x="619" y="317"/>
                  </a:moveTo>
                  <a:cubicBezTo>
                    <a:pt x="619" y="142"/>
                    <a:pt x="485" y="0"/>
                    <a:pt x="310" y="0"/>
                  </a:cubicBezTo>
                  <a:cubicBezTo>
                    <a:pt x="134" y="0"/>
                    <a:pt x="0" y="142"/>
                    <a:pt x="0" y="317"/>
                  </a:cubicBezTo>
                  <a:cubicBezTo>
                    <a:pt x="0" y="356"/>
                    <a:pt x="0" y="393"/>
                    <a:pt x="12" y="427"/>
                  </a:cubicBezTo>
                  <a:cubicBezTo>
                    <a:pt x="12" y="428"/>
                    <a:pt x="12" y="428"/>
                    <a:pt x="12" y="428"/>
                  </a:cubicBezTo>
                  <a:cubicBezTo>
                    <a:pt x="43" y="456"/>
                    <a:pt x="43" y="467"/>
                    <a:pt x="43" y="467"/>
                  </a:cubicBezTo>
                  <a:cubicBezTo>
                    <a:pt x="64" y="469"/>
                    <a:pt x="64" y="469"/>
                    <a:pt x="64" y="469"/>
                  </a:cubicBezTo>
                  <a:cubicBezTo>
                    <a:pt x="64" y="469"/>
                    <a:pt x="47" y="283"/>
                    <a:pt x="140" y="254"/>
                  </a:cubicBezTo>
                  <a:cubicBezTo>
                    <a:pt x="140" y="254"/>
                    <a:pt x="512" y="418"/>
                    <a:pt x="547" y="240"/>
                  </a:cubicBezTo>
                  <a:cubicBezTo>
                    <a:pt x="550" y="462"/>
                    <a:pt x="550" y="473"/>
                    <a:pt x="550" y="473"/>
                  </a:cubicBezTo>
                  <a:cubicBezTo>
                    <a:pt x="573" y="473"/>
                    <a:pt x="573" y="473"/>
                    <a:pt x="573" y="473"/>
                  </a:cubicBezTo>
                  <a:cubicBezTo>
                    <a:pt x="602" y="440"/>
                    <a:pt x="607" y="424"/>
                    <a:pt x="608" y="424"/>
                  </a:cubicBezTo>
                  <a:cubicBezTo>
                    <a:pt x="608" y="424"/>
                    <a:pt x="608" y="424"/>
                    <a:pt x="608" y="424"/>
                  </a:cubicBezTo>
                  <a:cubicBezTo>
                    <a:pt x="620" y="391"/>
                    <a:pt x="619" y="355"/>
                    <a:pt x="619" y="317"/>
                  </a:cubicBezTo>
                  <a:close/>
                  <a:moveTo>
                    <a:pt x="1033" y="780"/>
                  </a:moveTo>
                  <a:cubicBezTo>
                    <a:pt x="1011" y="755"/>
                    <a:pt x="982" y="699"/>
                    <a:pt x="946" y="612"/>
                  </a:cubicBezTo>
                  <a:cubicBezTo>
                    <a:pt x="943" y="671"/>
                    <a:pt x="933" y="750"/>
                    <a:pt x="872" y="756"/>
                  </a:cubicBezTo>
                  <a:cubicBezTo>
                    <a:pt x="899" y="783"/>
                    <a:pt x="925" y="798"/>
                    <a:pt x="949" y="806"/>
                  </a:cubicBezTo>
                  <a:cubicBezTo>
                    <a:pt x="984" y="802"/>
                    <a:pt x="1015" y="800"/>
                    <a:pt x="1033" y="799"/>
                  </a:cubicBezTo>
                  <a:lnTo>
                    <a:pt x="1033" y="780"/>
                  </a:lnTo>
                  <a:close/>
                  <a:moveTo>
                    <a:pt x="1538" y="613"/>
                  </a:moveTo>
                  <a:cubicBezTo>
                    <a:pt x="1502" y="699"/>
                    <a:pt x="1473" y="755"/>
                    <a:pt x="1451" y="781"/>
                  </a:cubicBezTo>
                  <a:cubicBezTo>
                    <a:pt x="1451" y="799"/>
                    <a:pt x="1451" y="799"/>
                    <a:pt x="1451" y="799"/>
                  </a:cubicBezTo>
                  <a:cubicBezTo>
                    <a:pt x="1469" y="800"/>
                    <a:pt x="1501" y="802"/>
                    <a:pt x="1536" y="806"/>
                  </a:cubicBezTo>
                  <a:cubicBezTo>
                    <a:pt x="1560" y="798"/>
                    <a:pt x="1586" y="783"/>
                    <a:pt x="1612" y="756"/>
                  </a:cubicBezTo>
                  <a:cubicBezTo>
                    <a:pt x="1552" y="750"/>
                    <a:pt x="1542" y="672"/>
                    <a:pt x="1538" y="6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98" name="bcgIcons_PublicSector">
            <a:extLst>
              <a:ext uri="{FF2B5EF4-FFF2-40B4-BE49-F238E27FC236}">
                <a16:creationId xmlns:a16="http://schemas.microsoft.com/office/drawing/2014/main" id="{DCC15F7D-CDC2-4E1F-A0B5-9B1EF884CF51}"/>
              </a:ext>
            </a:extLst>
          </p:cNvPr>
          <p:cNvGrpSpPr>
            <a:grpSpLocks noChangeAspect="1"/>
          </p:cNvGrpSpPr>
          <p:nvPr/>
        </p:nvGrpSpPr>
        <p:grpSpPr bwMode="auto">
          <a:xfrm>
            <a:off x="8278633" y="4680210"/>
            <a:ext cx="302652" cy="302933"/>
            <a:chOff x="1682" y="0"/>
            <a:chExt cx="4316" cy="4320"/>
          </a:xfrm>
        </p:grpSpPr>
        <p:sp>
          <p:nvSpPr>
            <p:cNvPr id="199" name="AutoShape 18">
              <a:extLst>
                <a:ext uri="{FF2B5EF4-FFF2-40B4-BE49-F238E27FC236}">
                  <a16:creationId xmlns:a16="http://schemas.microsoft.com/office/drawing/2014/main" id="{575286B9-FCC8-4EFB-9834-BD5493C559C3}"/>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 name="Freeform 20">
              <a:extLst>
                <a:ext uri="{FF2B5EF4-FFF2-40B4-BE49-F238E27FC236}">
                  <a16:creationId xmlns:a16="http://schemas.microsoft.com/office/drawing/2014/main" id="{CEF9E0BC-00B7-4B29-B377-3473BD5B2EB2}"/>
                </a:ext>
              </a:extLst>
            </p:cNvPr>
            <p:cNvSpPr>
              <a:spLocks noEditPoints="1"/>
            </p:cNvSpPr>
            <p:nvPr/>
          </p:nvSpPr>
          <p:spPr bwMode="auto">
            <a:xfrm>
              <a:off x="1847" y="431"/>
              <a:ext cx="3979" cy="3443"/>
            </a:xfrm>
            <a:custGeom>
              <a:avLst/>
              <a:gdLst>
                <a:gd name="T0" fmla="*/ 227 w 2124"/>
                <a:gd name="T1" fmla="*/ 496 h 1836"/>
                <a:gd name="T2" fmla="*/ 528 w 2124"/>
                <a:gd name="T3" fmla="*/ 467 h 1836"/>
                <a:gd name="T4" fmla="*/ 996 w 2124"/>
                <a:gd name="T5" fmla="*/ 467 h 1836"/>
                <a:gd name="T6" fmla="*/ 695 w 2124"/>
                <a:gd name="T7" fmla="*/ 496 h 1836"/>
                <a:gd name="T8" fmla="*/ 994 w 2124"/>
                <a:gd name="T9" fmla="*/ 498 h 1836"/>
                <a:gd name="T10" fmla="*/ 1130 w 2124"/>
                <a:gd name="T11" fmla="*/ 467 h 1836"/>
                <a:gd name="T12" fmla="*/ 1431 w 2124"/>
                <a:gd name="T13" fmla="*/ 496 h 1836"/>
                <a:gd name="T14" fmla="*/ 1933 w 2124"/>
                <a:gd name="T15" fmla="*/ 467 h 1836"/>
                <a:gd name="T16" fmla="*/ 1631 w 2124"/>
                <a:gd name="T17" fmla="*/ 496 h 1836"/>
                <a:gd name="T18" fmla="*/ 1930 w 2124"/>
                <a:gd name="T19" fmla="*/ 498 h 1836"/>
                <a:gd name="T20" fmla="*/ 427 w 2124"/>
                <a:gd name="T21" fmla="*/ 273 h 1836"/>
                <a:gd name="T22" fmla="*/ 729 w 2124"/>
                <a:gd name="T23" fmla="*/ 301 h 1836"/>
                <a:gd name="T24" fmla="*/ 1230 w 2124"/>
                <a:gd name="T25" fmla="*/ 273 h 1836"/>
                <a:gd name="T26" fmla="*/ 929 w 2124"/>
                <a:gd name="T27" fmla="*/ 301 h 1836"/>
                <a:gd name="T28" fmla="*/ 1228 w 2124"/>
                <a:gd name="T29" fmla="*/ 304 h 1836"/>
                <a:gd name="T30" fmla="*/ 1364 w 2124"/>
                <a:gd name="T31" fmla="*/ 273 h 1836"/>
                <a:gd name="T32" fmla="*/ 1665 w 2124"/>
                <a:gd name="T33" fmla="*/ 301 h 1836"/>
                <a:gd name="T34" fmla="*/ 996 w 2124"/>
                <a:gd name="T35" fmla="*/ 78 h 1836"/>
                <a:gd name="T36" fmla="*/ 695 w 2124"/>
                <a:gd name="T37" fmla="*/ 107 h 1836"/>
                <a:gd name="T38" fmla="*/ 994 w 2124"/>
                <a:gd name="T39" fmla="*/ 109 h 1836"/>
                <a:gd name="T40" fmla="*/ 1130 w 2124"/>
                <a:gd name="T41" fmla="*/ 78 h 1836"/>
                <a:gd name="T42" fmla="*/ 1431 w 2124"/>
                <a:gd name="T43" fmla="*/ 107 h 1836"/>
                <a:gd name="T44" fmla="*/ 1893 w 2124"/>
                <a:gd name="T45" fmla="*/ 584 h 1836"/>
                <a:gd name="T46" fmla="*/ 1893 w 2124"/>
                <a:gd name="T47" fmla="*/ 628 h 1836"/>
                <a:gd name="T48" fmla="*/ 2060 w 2124"/>
                <a:gd name="T49" fmla="*/ 662 h 1836"/>
                <a:gd name="T50" fmla="*/ 69 w 2124"/>
                <a:gd name="T51" fmla="*/ 693 h 1836"/>
                <a:gd name="T52" fmla="*/ 377 w 2124"/>
                <a:gd name="T53" fmla="*/ 638 h 1836"/>
                <a:gd name="T54" fmla="*/ 1533 w 2124"/>
                <a:gd name="T55" fmla="*/ 1602 h 1836"/>
                <a:gd name="T56" fmla="*/ 1155 w 2124"/>
                <a:gd name="T57" fmla="*/ 1543 h 1836"/>
                <a:gd name="T58" fmla="*/ 2102 w 2124"/>
                <a:gd name="T59" fmla="*/ 1836 h 1836"/>
                <a:gd name="T60" fmla="*/ 1191 w 2124"/>
                <a:gd name="T61" fmla="*/ 1811 h 1836"/>
                <a:gd name="T62" fmla="*/ 787 w 2124"/>
                <a:gd name="T63" fmla="*/ 1449 h 1836"/>
                <a:gd name="T64" fmla="*/ 404 w 2124"/>
                <a:gd name="T65" fmla="*/ 1449 h 1836"/>
                <a:gd name="T66" fmla="*/ 0 w 2124"/>
                <a:gd name="T67" fmla="*/ 1814 h 1836"/>
                <a:gd name="T68" fmla="*/ 1191 w 2124"/>
                <a:gd name="T69" fmla="*/ 1811 h 1836"/>
                <a:gd name="T70" fmla="*/ 896 w 2124"/>
                <a:gd name="T71" fmla="*/ 662 h 1836"/>
                <a:gd name="T72" fmla="*/ 1197 w 2124"/>
                <a:gd name="T73" fmla="*/ 690 h 1836"/>
                <a:gd name="T74" fmla="*/ 1356 w 2124"/>
                <a:gd name="T75" fmla="*/ 1362 h 1836"/>
                <a:gd name="T76" fmla="*/ 1407 w 2124"/>
                <a:gd name="T77" fmla="*/ 1450 h 1836"/>
                <a:gd name="T78" fmla="*/ 1649 w 2124"/>
                <a:gd name="T79" fmla="*/ 1450 h 1836"/>
                <a:gd name="T80" fmla="*/ 1701 w 2124"/>
                <a:gd name="T81" fmla="*/ 1362 h 1836"/>
                <a:gd name="T82" fmla="*/ 1796 w 2124"/>
                <a:gd name="T83" fmla="*/ 1101 h 1836"/>
                <a:gd name="T84" fmla="*/ 1528 w 2124"/>
                <a:gd name="T85" fmla="*/ 1401 h 1836"/>
                <a:gd name="T86" fmla="*/ 1261 w 2124"/>
                <a:gd name="T87" fmla="*/ 1101 h 1836"/>
                <a:gd name="T88" fmla="*/ 322 w 2124"/>
                <a:gd name="T89" fmla="*/ 1157 h 1836"/>
                <a:gd name="T90" fmla="*/ 440 w 2124"/>
                <a:gd name="T91" fmla="*/ 1423 h 1836"/>
                <a:gd name="T92" fmla="*/ 717 w 2124"/>
                <a:gd name="T93" fmla="*/ 1399 h 1836"/>
                <a:gd name="T94" fmla="*/ 761 w 2124"/>
                <a:gd name="T95" fmla="*/ 1367 h 1836"/>
                <a:gd name="T96" fmla="*/ 916 w 2124"/>
                <a:gd name="T97" fmla="*/ 1076 h 1836"/>
                <a:gd name="T98" fmla="*/ 738 w 2124"/>
                <a:gd name="T99" fmla="*/ 1329 h 1836"/>
                <a:gd name="T100" fmla="*/ 350 w 2124"/>
                <a:gd name="T101" fmla="*/ 1122 h 1836"/>
                <a:gd name="T102" fmla="*/ 322 w 2124"/>
                <a:gd name="T103" fmla="*/ 115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24" h="1836">
                  <a:moveTo>
                    <a:pt x="512" y="503"/>
                  </a:moveTo>
                  <a:cubicBezTo>
                    <a:pt x="505" y="503"/>
                    <a:pt x="499" y="501"/>
                    <a:pt x="495" y="496"/>
                  </a:cubicBezTo>
                  <a:cubicBezTo>
                    <a:pt x="461" y="456"/>
                    <a:pt x="413" y="433"/>
                    <a:pt x="361" y="433"/>
                  </a:cubicBezTo>
                  <a:cubicBezTo>
                    <a:pt x="309" y="433"/>
                    <a:pt x="260" y="456"/>
                    <a:pt x="227" y="496"/>
                  </a:cubicBezTo>
                  <a:cubicBezTo>
                    <a:pt x="219" y="505"/>
                    <a:pt x="205" y="506"/>
                    <a:pt x="196" y="498"/>
                  </a:cubicBezTo>
                  <a:cubicBezTo>
                    <a:pt x="187" y="491"/>
                    <a:pt x="186" y="477"/>
                    <a:pt x="193" y="467"/>
                  </a:cubicBezTo>
                  <a:cubicBezTo>
                    <a:pt x="235" y="418"/>
                    <a:pt x="296" y="389"/>
                    <a:pt x="361" y="389"/>
                  </a:cubicBezTo>
                  <a:cubicBezTo>
                    <a:pt x="426" y="389"/>
                    <a:pt x="487" y="418"/>
                    <a:pt x="528" y="467"/>
                  </a:cubicBezTo>
                  <a:cubicBezTo>
                    <a:pt x="536" y="477"/>
                    <a:pt x="535" y="491"/>
                    <a:pt x="526" y="498"/>
                  </a:cubicBezTo>
                  <a:cubicBezTo>
                    <a:pt x="522" y="502"/>
                    <a:pt x="516" y="503"/>
                    <a:pt x="512" y="503"/>
                  </a:cubicBezTo>
                  <a:close/>
                  <a:moveTo>
                    <a:pt x="994" y="498"/>
                  </a:moveTo>
                  <a:cubicBezTo>
                    <a:pt x="1003" y="491"/>
                    <a:pt x="1004" y="477"/>
                    <a:pt x="996" y="467"/>
                  </a:cubicBezTo>
                  <a:cubicBezTo>
                    <a:pt x="955" y="418"/>
                    <a:pt x="894" y="389"/>
                    <a:pt x="829" y="389"/>
                  </a:cubicBezTo>
                  <a:cubicBezTo>
                    <a:pt x="764" y="389"/>
                    <a:pt x="703" y="418"/>
                    <a:pt x="661" y="467"/>
                  </a:cubicBezTo>
                  <a:cubicBezTo>
                    <a:pt x="654" y="477"/>
                    <a:pt x="655" y="491"/>
                    <a:pt x="664" y="498"/>
                  </a:cubicBezTo>
                  <a:cubicBezTo>
                    <a:pt x="673" y="506"/>
                    <a:pt x="687" y="505"/>
                    <a:pt x="695" y="496"/>
                  </a:cubicBezTo>
                  <a:cubicBezTo>
                    <a:pt x="728" y="456"/>
                    <a:pt x="777" y="433"/>
                    <a:pt x="829" y="433"/>
                  </a:cubicBezTo>
                  <a:cubicBezTo>
                    <a:pt x="881" y="433"/>
                    <a:pt x="929" y="456"/>
                    <a:pt x="963" y="496"/>
                  </a:cubicBezTo>
                  <a:cubicBezTo>
                    <a:pt x="967" y="501"/>
                    <a:pt x="973" y="503"/>
                    <a:pt x="980" y="503"/>
                  </a:cubicBezTo>
                  <a:cubicBezTo>
                    <a:pt x="985" y="503"/>
                    <a:pt x="990" y="502"/>
                    <a:pt x="994" y="498"/>
                  </a:cubicBezTo>
                  <a:close/>
                  <a:moveTo>
                    <a:pt x="1462" y="498"/>
                  </a:moveTo>
                  <a:cubicBezTo>
                    <a:pt x="1471" y="491"/>
                    <a:pt x="1472" y="477"/>
                    <a:pt x="1465" y="467"/>
                  </a:cubicBezTo>
                  <a:cubicBezTo>
                    <a:pt x="1423" y="418"/>
                    <a:pt x="1362" y="389"/>
                    <a:pt x="1297" y="389"/>
                  </a:cubicBezTo>
                  <a:cubicBezTo>
                    <a:pt x="1232" y="389"/>
                    <a:pt x="1171" y="418"/>
                    <a:pt x="1130" y="467"/>
                  </a:cubicBezTo>
                  <a:cubicBezTo>
                    <a:pt x="1122" y="477"/>
                    <a:pt x="1123" y="491"/>
                    <a:pt x="1132" y="498"/>
                  </a:cubicBezTo>
                  <a:cubicBezTo>
                    <a:pt x="1142" y="506"/>
                    <a:pt x="1155" y="505"/>
                    <a:pt x="1163" y="496"/>
                  </a:cubicBezTo>
                  <a:cubicBezTo>
                    <a:pt x="1197" y="456"/>
                    <a:pt x="1245" y="433"/>
                    <a:pt x="1297" y="433"/>
                  </a:cubicBezTo>
                  <a:cubicBezTo>
                    <a:pt x="1349" y="433"/>
                    <a:pt x="1398" y="456"/>
                    <a:pt x="1431" y="496"/>
                  </a:cubicBezTo>
                  <a:cubicBezTo>
                    <a:pt x="1435" y="501"/>
                    <a:pt x="1441" y="503"/>
                    <a:pt x="1448" y="503"/>
                  </a:cubicBezTo>
                  <a:cubicBezTo>
                    <a:pt x="1453" y="503"/>
                    <a:pt x="1458" y="502"/>
                    <a:pt x="1462" y="498"/>
                  </a:cubicBezTo>
                  <a:close/>
                  <a:moveTo>
                    <a:pt x="1930" y="498"/>
                  </a:moveTo>
                  <a:cubicBezTo>
                    <a:pt x="1939" y="491"/>
                    <a:pt x="1940" y="477"/>
                    <a:pt x="1933" y="467"/>
                  </a:cubicBezTo>
                  <a:cubicBezTo>
                    <a:pt x="1891" y="418"/>
                    <a:pt x="1830" y="389"/>
                    <a:pt x="1765" y="389"/>
                  </a:cubicBezTo>
                  <a:cubicBezTo>
                    <a:pt x="1700" y="389"/>
                    <a:pt x="1639" y="418"/>
                    <a:pt x="1598" y="467"/>
                  </a:cubicBezTo>
                  <a:cubicBezTo>
                    <a:pt x="1590" y="477"/>
                    <a:pt x="1591" y="491"/>
                    <a:pt x="1600" y="498"/>
                  </a:cubicBezTo>
                  <a:cubicBezTo>
                    <a:pt x="1610" y="506"/>
                    <a:pt x="1624" y="505"/>
                    <a:pt x="1631" y="496"/>
                  </a:cubicBezTo>
                  <a:cubicBezTo>
                    <a:pt x="1665" y="456"/>
                    <a:pt x="1713" y="433"/>
                    <a:pt x="1765" y="433"/>
                  </a:cubicBezTo>
                  <a:cubicBezTo>
                    <a:pt x="1817" y="433"/>
                    <a:pt x="1866" y="456"/>
                    <a:pt x="1899" y="496"/>
                  </a:cubicBezTo>
                  <a:cubicBezTo>
                    <a:pt x="1903" y="501"/>
                    <a:pt x="1910" y="503"/>
                    <a:pt x="1916" y="503"/>
                  </a:cubicBezTo>
                  <a:cubicBezTo>
                    <a:pt x="1921" y="503"/>
                    <a:pt x="1926" y="502"/>
                    <a:pt x="1930" y="498"/>
                  </a:cubicBezTo>
                  <a:close/>
                  <a:moveTo>
                    <a:pt x="760" y="304"/>
                  </a:moveTo>
                  <a:cubicBezTo>
                    <a:pt x="769" y="296"/>
                    <a:pt x="770" y="282"/>
                    <a:pt x="762" y="273"/>
                  </a:cubicBezTo>
                  <a:cubicBezTo>
                    <a:pt x="721" y="223"/>
                    <a:pt x="660" y="195"/>
                    <a:pt x="595" y="195"/>
                  </a:cubicBezTo>
                  <a:cubicBezTo>
                    <a:pt x="530" y="195"/>
                    <a:pt x="469" y="223"/>
                    <a:pt x="427" y="273"/>
                  </a:cubicBezTo>
                  <a:cubicBezTo>
                    <a:pt x="420" y="282"/>
                    <a:pt x="421" y="296"/>
                    <a:pt x="430" y="304"/>
                  </a:cubicBezTo>
                  <a:cubicBezTo>
                    <a:pt x="439" y="312"/>
                    <a:pt x="453" y="310"/>
                    <a:pt x="461" y="301"/>
                  </a:cubicBezTo>
                  <a:cubicBezTo>
                    <a:pt x="494" y="262"/>
                    <a:pt x="543" y="239"/>
                    <a:pt x="595" y="239"/>
                  </a:cubicBezTo>
                  <a:cubicBezTo>
                    <a:pt x="647" y="239"/>
                    <a:pt x="695" y="262"/>
                    <a:pt x="729" y="301"/>
                  </a:cubicBezTo>
                  <a:cubicBezTo>
                    <a:pt x="733" y="306"/>
                    <a:pt x="739" y="309"/>
                    <a:pt x="746" y="309"/>
                  </a:cubicBezTo>
                  <a:cubicBezTo>
                    <a:pt x="751" y="309"/>
                    <a:pt x="756" y="307"/>
                    <a:pt x="760" y="304"/>
                  </a:cubicBezTo>
                  <a:close/>
                  <a:moveTo>
                    <a:pt x="1228" y="304"/>
                  </a:moveTo>
                  <a:cubicBezTo>
                    <a:pt x="1237" y="296"/>
                    <a:pt x="1238" y="282"/>
                    <a:pt x="1230" y="273"/>
                  </a:cubicBezTo>
                  <a:cubicBezTo>
                    <a:pt x="1189" y="223"/>
                    <a:pt x="1128" y="195"/>
                    <a:pt x="1063" y="195"/>
                  </a:cubicBezTo>
                  <a:cubicBezTo>
                    <a:pt x="998" y="195"/>
                    <a:pt x="937" y="223"/>
                    <a:pt x="896" y="273"/>
                  </a:cubicBezTo>
                  <a:cubicBezTo>
                    <a:pt x="888" y="282"/>
                    <a:pt x="889" y="296"/>
                    <a:pt x="898" y="304"/>
                  </a:cubicBezTo>
                  <a:cubicBezTo>
                    <a:pt x="908" y="312"/>
                    <a:pt x="921" y="310"/>
                    <a:pt x="929" y="301"/>
                  </a:cubicBezTo>
                  <a:cubicBezTo>
                    <a:pt x="963" y="262"/>
                    <a:pt x="1011" y="239"/>
                    <a:pt x="1063" y="239"/>
                  </a:cubicBezTo>
                  <a:cubicBezTo>
                    <a:pt x="1115" y="239"/>
                    <a:pt x="1163" y="262"/>
                    <a:pt x="1197" y="301"/>
                  </a:cubicBezTo>
                  <a:cubicBezTo>
                    <a:pt x="1201" y="306"/>
                    <a:pt x="1207" y="309"/>
                    <a:pt x="1214" y="309"/>
                  </a:cubicBezTo>
                  <a:cubicBezTo>
                    <a:pt x="1219" y="309"/>
                    <a:pt x="1224" y="307"/>
                    <a:pt x="1228" y="304"/>
                  </a:cubicBezTo>
                  <a:close/>
                  <a:moveTo>
                    <a:pt x="1696" y="304"/>
                  </a:moveTo>
                  <a:cubicBezTo>
                    <a:pt x="1705" y="296"/>
                    <a:pt x="1706" y="282"/>
                    <a:pt x="1699" y="273"/>
                  </a:cubicBezTo>
                  <a:cubicBezTo>
                    <a:pt x="1657" y="223"/>
                    <a:pt x="1596" y="195"/>
                    <a:pt x="1531" y="195"/>
                  </a:cubicBezTo>
                  <a:cubicBezTo>
                    <a:pt x="1466" y="195"/>
                    <a:pt x="1405" y="223"/>
                    <a:pt x="1364" y="273"/>
                  </a:cubicBezTo>
                  <a:cubicBezTo>
                    <a:pt x="1356" y="282"/>
                    <a:pt x="1357" y="296"/>
                    <a:pt x="1366" y="304"/>
                  </a:cubicBezTo>
                  <a:cubicBezTo>
                    <a:pt x="1376" y="312"/>
                    <a:pt x="1389" y="310"/>
                    <a:pt x="1397" y="301"/>
                  </a:cubicBezTo>
                  <a:cubicBezTo>
                    <a:pt x="1431" y="262"/>
                    <a:pt x="1479" y="239"/>
                    <a:pt x="1531" y="239"/>
                  </a:cubicBezTo>
                  <a:cubicBezTo>
                    <a:pt x="1583" y="239"/>
                    <a:pt x="1632" y="262"/>
                    <a:pt x="1665" y="301"/>
                  </a:cubicBezTo>
                  <a:cubicBezTo>
                    <a:pt x="1669" y="306"/>
                    <a:pt x="1675" y="309"/>
                    <a:pt x="1682" y="309"/>
                  </a:cubicBezTo>
                  <a:cubicBezTo>
                    <a:pt x="1687" y="309"/>
                    <a:pt x="1692" y="307"/>
                    <a:pt x="1696" y="304"/>
                  </a:cubicBezTo>
                  <a:close/>
                  <a:moveTo>
                    <a:pt x="994" y="109"/>
                  </a:moveTo>
                  <a:cubicBezTo>
                    <a:pt x="1003" y="101"/>
                    <a:pt x="1004" y="88"/>
                    <a:pt x="996" y="78"/>
                  </a:cubicBezTo>
                  <a:cubicBezTo>
                    <a:pt x="955" y="29"/>
                    <a:pt x="894" y="0"/>
                    <a:pt x="829" y="0"/>
                  </a:cubicBezTo>
                  <a:cubicBezTo>
                    <a:pt x="764" y="0"/>
                    <a:pt x="703" y="29"/>
                    <a:pt x="661" y="78"/>
                  </a:cubicBezTo>
                  <a:cubicBezTo>
                    <a:pt x="654" y="88"/>
                    <a:pt x="655" y="101"/>
                    <a:pt x="664" y="109"/>
                  </a:cubicBezTo>
                  <a:cubicBezTo>
                    <a:pt x="673" y="117"/>
                    <a:pt x="687" y="116"/>
                    <a:pt x="695" y="107"/>
                  </a:cubicBezTo>
                  <a:cubicBezTo>
                    <a:pt x="728" y="67"/>
                    <a:pt x="777" y="44"/>
                    <a:pt x="829" y="44"/>
                  </a:cubicBezTo>
                  <a:cubicBezTo>
                    <a:pt x="881" y="44"/>
                    <a:pt x="929" y="67"/>
                    <a:pt x="963" y="107"/>
                  </a:cubicBezTo>
                  <a:cubicBezTo>
                    <a:pt x="967" y="112"/>
                    <a:pt x="973" y="114"/>
                    <a:pt x="980" y="114"/>
                  </a:cubicBezTo>
                  <a:cubicBezTo>
                    <a:pt x="985" y="114"/>
                    <a:pt x="990" y="113"/>
                    <a:pt x="994" y="109"/>
                  </a:cubicBezTo>
                  <a:close/>
                  <a:moveTo>
                    <a:pt x="1462" y="109"/>
                  </a:moveTo>
                  <a:cubicBezTo>
                    <a:pt x="1471" y="101"/>
                    <a:pt x="1472" y="88"/>
                    <a:pt x="1465" y="78"/>
                  </a:cubicBezTo>
                  <a:cubicBezTo>
                    <a:pt x="1423" y="29"/>
                    <a:pt x="1362" y="0"/>
                    <a:pt x="1297" y="0"/>
                  </a:cubicBezTo>
                  <a:cubicBezTo>
                    <a:pt x="1232" y="0"/>
                    <a:pt x="1171" y="29"/>
                    <a:pt x="1130" y="78"/>
                  </a:cubicBezTo>
                  <a:cubicBezTo>
                    <a:pt x="1122" y="88"/>
                    <a:pt x="1123" y="101"/>
                    <a:pt x="1132" y="109"/>
                  </a:cubicBezTo>
                  <a:cubicBezTo>
                    <a:pt x="1142" y="117"/>
                    <a:pt x="1155" y="116"/>
                    <a:pt x="1163" y="107"/>
                  </a:cubicBezTo>
                  <a:cubicBezTo>
                    <a:pt x="1197" y="67"/>
                    <a:pt x="1245" y="44"/>
                    <a:pt x="1297" y="44"/>
                  </a:cubicBezTo>
                  <a:cubicBezTo>
                    <a:pt x="1349" y="44"/>
                    <a:pt x="1398" y="67"/>
                    <a:pt x="1431" y="107"/>
                  </a:cubicBezTo>
                  <a:cubicBezTo>
                    <a:pt x="1435" y="112"/>
                    <a:pt x="1441" y="114"/>
                    <a:pt x="1448" y="114"/>
                  </a:cubicBezTo>
                  <a:cubicBezTo>
                    <a:pt x="1453" y="114"/>
                    <a:pt x="1458" y="113"/>
                    <a:pt x="1462" y="109"/>
                  </a:cubicBezTo>
                  <a:close/>
                  <a:moveTo>
                    <a:pt x="2060" y="662"/>
                  </a:moveTo>
                  <a:cubicBezTo>
                    <a:pt x="2018" y="612"/>
                    <a:pt x="1957" y="584"/>
                    <a:pt x="1893" y="584"/>
                  </a:cubicBezTo>
                  <a:cubicBezTo>
                    <a:pt x="1839" y="584"/>
                    <a:pt x="1788" y="603"/>
                    <a:pt x="1749" y="638"/>
                  </a:cubicBezTo>
                  <a:cubicBezTo>
                    <a:pt x="1760" y="647"/>
                    <a:pt x="1771" y="657"/>
                    <a:pt x="1781" y="667"/>
                  </a:cubicBezTo>
                  <a:cubicBezTo>
                    <a:pt x="1781" y="667"/>
                    <a:pt x="1781" y="668"/>
                    <a:pt x="1781" y="668"/>
                  </a:cubicBezTo>
                  <a:cubicBezTo>
                    <a:pt x="1813" y="642"/>
                    <a:pt x="1852" y="628"/>
                    <a:pt x="1893" y="628"/>
                  </a:cubicBezTo>
                  <a:cubicBezTo>
                    <a:pt x="1944" y="628"/>
                    <a:pt x="1993" y="651"/>
                    <a:pt x="2026" y="690"/>
                  </a:cubicBezTo>
                  <a:cubicBezTo>
                    <a:pt x="2031" y="695"/>
                    <a:pt x="2037" y="698"/>
                    <a:pt x="2043" y="698"/>
                  </a:cubicBezTo>
                  <a:cubicBezTo>
                    <a:pt x="2048" y="698"/>
                    <a:pt x="2053" y="696"/>
                    <a:pt x="2057" y="693"/>
                  </a:cubicBezTo>
                  <a:cubicBezTo>
                    <a:pt x="2067" y="685"/>
                    <a:pt x="2068" y="671"/>
                    <a:pt x="2060" y="662"/>
                  </a:cubicBezTo>
                  <a:close/>
                  <a:moveTo>
                    <a:pt x="377" y="638"/>
                  </a:moveTo>
                  <a:cubicBezTo>
                    <a:pt x="338" y="603"/>
                    <a:pt x="287" y="584"/>
                    <a:pt x="233" y="584"/>
                  </a:cubicBezTo>
                  <a:cubicBezTo>
                    <a:pt x="169" y="584"/>
                    <a:pt x="108" y="612"/>
                    <a:pt x="66" y="662"/>
                  </a:cubicBezTo>
                  <a:cubicBezTo>
                    <a:pt x="58" y="671"/>
                    <a:pt x="59" y="685"/>
                    <a:pt x="69" y="693"/>
                  </a:cubicBezTo>
                  <a:cubicBezTo>
                    <a:pt x="78" y="701"/>
                    <a:pt x="92" y="699"/>
                    <a:pt x="100" y="690"/>
                  </a:cubicBezTo>
                  <a:cubicBezTo>
                    <a:pt x="133" y="651"/>
                    <a:pt x="182" y="628"/>
                    <a:pt x="233" y="628"/>
                  </a:cubicBezTo>
                  <a:cubicBezTo>
                    <a:pt x="274" y="628"/>
                    <a:pt x="313" y="642"/>
                    <a:pt x="344" y="667"/>
                  </a:cubicBezTo>
                  <a:cubicBezTo>
                    <a:pt x="355" y="657"/>
                    <a:pt x="366" y="647"/>
                    <a:pt x="377" y="638"/>
                  </a:cubicBezTo>
                  <a:close/>
                  <a:moveTo>
                    <a:pt x="2052" y="1567"/>
                  </a:moveTo>
                  <a:cubicBezTo>
                    <a:pt x="2030" y="1534"/>
                    <a:pt x="2004" y="1506"/>
                    <a:pt x="1974" y="1492"/>
                  </a:cubicBezTo>
                  <a:cubicBezTo>
                    <a:pt x="1885" y="1451"/>
                    <a:pt x="1720" y="1449"/>
                    <a:pt x="1720" y="1449"/>
                  </a:cubicBezTo>
                  <a:cubicBezTo>
                    <a:pt x="1720" y="1449"/>
                    <a:pt x="1614" y="1537"/>
                    <a:pt x="1533" y="1602"/>
                  </a:cubicBezTo>
                  <a:cubicBezTo>
                    <a:pt x="1530" y="1604"/>
                    <a:pt x="1527" y="1604"/>
                    <a:pt x="1524" y="1602"/>
                  </a:cubicBezTo>
                  <a:cubicBezTo>
                    <a:pt x="1464" y="1555"/>
                    <a:pt x="1337" y="1449"/>
                    <a:pt x="1337" y="1449"/>
                  </a:cubicBezTo>
                  <a:cubicBezTo>
                    <a:pt x="1337" y="1449"/>
                    <a:pt x="1197" y="1451"/>
                    <a:pt x="1105" y="1483"/>
                  </a:cubicBezTo>
                  <a:cubicBezTo>
                    <a:pt x="1123" y="1499"/>
                    <a:pt x="1139" y="1519"/>
                    <a:pt x="1155" y="1543"/>
                  </a:cubicBezTo>
                  <a:cubicBezTo>
                    <a:pt x="1208" y="1621"/>
                    <a:pt x="1235" y="1714"/>
                    <a:pt x="1235" y="1811"/>
                  </a:cubicBezTo>
                  <a:cubicBezTo>
                    <a:pt x="1235" y="1814"/>
                    <a:pt x="1235" y="1814"/>
                    <a:pt x="1235" y="1814"/>
                  </a:cubicBezTo>
                  <a:cubicBezTo>
                    <a:pt x="1235" y="1821"/>
                    <a:pt x="1234" y="1829"/>
                    <a:pt x="1231" y="1836"/>
                  </a:cubicBezTo>
                  <a:cubicBezTo>
                    <a:pt x="2102" y="1836"/>
                    <a:pt x="2102" y="1836"/>
                    <a:pt x="2102" y="1836"/>
                  </a:cubicBezTo>
                  <a:cubicBezTo>
                    <a:pt x="2114" y="1836"/>
                    <a:pt x="2124" y="1826"/>
                    <a:pt x="2124" y="1814"/>
                  </a:cubicBezTo>
                  <a:cubicBezTo>
                    <a:pt x="2124" y="1811"/>
                    <a:pt x="2124" y="1811"/>
                    <a:pt x="2124" y="1811"/>
                  </a:cubicBezTo>
                  <a:cubicBezTo>
                    <a:pt x="2124" y="1724"/>
                    <a:pt x="2100" y="1639"/>
                    <a:pt x="2052" y="1567"/>
                  </a:cubicBezTo>
                  <a:close/>
                  <a:moveTo>
                    <a:pt x="1191" y="1811"/>
                  </a:moveTo>
                  <a:cubicBezTo>
                    <a:pt x="1191" y="1724"/>
                    <a:pt x="1167" y="1639"/>
                    <a:pt x="1119" y="1567"/>
                  </a:cubicBezTo>
                  <a:cubicBezTo>
                    <a:pt x="1097" y="1534"/>
                    <a:pt x="1071" y="1506"/>
                    <a:pt x="1042" y="1492"/>
                  </a:cubicBezTo>
                  <a:cubicBezTo>
                    <a:pt x="952" y="1451"/>
                    <a:pt x="787" y="1449"/>
                    <a:pt x="787" y="1449"/>
                  </a:cubicBezTo>
                  <a:cubicBezTo>
                    <a:pt x="787" y="1449"/>
                    <a:pt x="787" y="1449"/>
                    <a:pt x="787" y="1449"/>
                  </a:cubicBezTo>
                  <a:cubicBezTo>
                    <a:pt x="787" y="1449"/>
                    <a:pt x="722" y="1541"/>
                    <a:pt x="592" y="1541"/>
                  </a:cubicBezTo>
                  <a:cubicBezTo>
                    <a:pt x="599" y="1541"/>
                    <a:pt x="599" y="1541"/>
                    <a:pt x="599" y="1541"/>
                  </a:cubicBezTo>
                  <a:cubicBezTo>
                    <a:pt x="469" y="1541"/>
                    <a:pt x="404" y="1449"/>
                    <a:pt x="404" y="1449"/>
                  </a:cubicBezTo>
                  <a:cubicBezTo>
                    <a:pt x="404" y="1449"/>
                    <a:pt x="404" y="1449"/>
                    <a:pt x="404" y="1449"/>
                  </a:cubicBezTo>
                  <a:cubicBezTo>
                    <a:pt x="404" y="1449"/>
                    <a:pt x="239" y="1451"/>
                    <a:pt x="150" y="1492"/>
                  </a:cubicBezTo>
                  <a:cubicBezTo>
                    <a:pt x="120" y="1506"/>
                    <a:pt x="94" y="1534"/>
                    <a:pt x="72" y="1567"/>
                  </a:cubicBezTo>
                  <a:cubicBezTo>
                    <a:pt x="24" y="1639"/>
                    <a:pt x="0" y="1724"/>
                    <a:pt x="0" y="1811"/>
                  </a:cubicBezTo>
                  <a:cubicBezTo>
                    <a:pt x="0" y="1814"/>
                    <a:pt x="0" y="1814"/>
                    <a:pt x="0" y="1814"/>
                  </a:cubicBezTo>
                  <a:cubicBezTo>
                    <a:pt x="0" y="1826"/>
                    <a:pt x="10" y="1836"/>
                    <a:pt x="22" y="1836"/>
                  </a:cubicBezTo>
                  <a:cubicBezTo>
                    <a:pt x="1169" y="1836"/>
                    <a:pt x="1169" y="1836"/>
                    <a:pt x="1169" y="1836"/>
                  </a:cubicBezTo>
                  <a:cubicBezTo>
                    <a:pt x="1181" y="1836"/>
                    <a:pt x="1191" y="1826"/>
                    <a:pt x="1191" y="1814"/>
                  </a:cubicBezTo>
                  <a:lnTo>
                    <a:pt x="1191" y="1811"/>
                  </a:lnTo>
                  <a:close/>
                  <a:moveTo>
                    <a:pt x="1228" y="693"/>
                  </a:moveTo>
                  <a:cubicBezTo>
                    <a:pt x="1237" y="685"/>
                    <a:pt x="1238" y="671"/>
                    <a:pt x="1230" y="662"/>
                  </a:cubicBezTo>
                  <a:cubicBezTo>
                    <a:pt x="1189" y="612"/>
                    <a:pt x="1128" y="584"/>
                    <a:pt x="1063" y="584"/>
                  </a:cubicBezTo>
                  <a:cubicBezTo>
                    <a:pt x="998" y="584"/>
                    <a:pt x="937" y="612"/>
                    <a:pt x="896" y="662"/>
                  </a:cubicBezTo>
                  <a:cubicBezTo>
                    <a:pt x="888" y="671"/>
                    <a:pt x="889" y="685"/>
                    <a:pt x="898" y="693"/>
                  </a:cubicBezTo>
                  <a:cubicBezTo>
                    <a:pt x="908" y="701"/>
                    <a:pt x="921" y="699"/>
                    <a:pt x="929" y="690"/>
                  </a:cubicBezTo>
                  <a:cubicBezTo>
                    <a:pt x="963" y="651"/>
                    <a:pt x="1011" y="628"/>
                    <a:pt x="1063" y="628"/>
                  </a:cubicBezTo>
                  <a:cubicBezTo>
                    <a:pt x="1115" y="628"/>
                    <a:pt x="1163" y="651"/>
                    <a:pt x="1197" y="690"/>
                  </a:cubicBezTo>
                  <a:cubicBezTo>
                    <a:pt x="1201" y="695"/>
                    <a:pt x="1207" y="698"/>
                    <a:pt x="1214" y="698"/>
                  </a:cubicBezTo>
                  <a:cubicBezTo>
                    <a:pt x="1219" y="698"/>
                    <a:pt x="1224" y="696"/>
                    <a:pt x="1228" y="693"/>
                  </a:cubicBezTo>
                  <a:close/>
                  <a:moveTo>
                    <a:pt x="1255" y="1157"/>
                  </a:moveTo>
                  <a:cubicBezTo>
                    <a:pt x="1275" y="1207"/>
                    <a:pt x="1328" y="1336"/>
                    <a:pt x="1356" y="1362"/>
                  </a:cubicBezTo>
                  <a:cubicBezTo>
                    <a:pt x="1358" y="1363"/>
                    <a:pt x="1361" y="1365"/>
                    <a:pt x="1363" y="1367"/>
                  </a:cubicBezTo>
                  <a:cubicBezTo>
                    <a:pt x="1363" y="1414"/>
                    <a:pt x="1363" y="1414"/>
                    <a:pt x="1363" y="1414"/>
                  </a:cubicBezTo>
                  <a:cubicBezTo>
                    <a:pt x="1365" y="1415"/>
                    <a:pt x="1365" y="1415"/>
                    <a:pt x="1365" y="1415"/>
                  </a:cubicBezTo>
                  <a:cubicBezTo>
                    <a:pt x="1365" y="1416"/>
                    <a:pt x="1383" y="1430"/>
                    <a:pt x="1407" y="1450"/>
                  </a:cubicBezTo>
                  <a:cubicBezTo>
                    <a:pt x="1407" y="1399"/>
                    <a:pt x="1407" y="1399"/>
                    <a:pt x="1407" y="1399"/>
                  </a:cubicBezTo>
                  <a:cubicBezTo>
                    <a:pt x="1444" y="1422"/>
                    <a:pt x="1492" y="1445"/>
                    <a:pt x="1528" y="1445"/>
                  </a:cubicBezTo>
                  <a:cubicBezTo>
                    <a:pt x="1565" y="1445"/>
                    <a:pt x="1613" y="1422"/>
                    <a:pt x="1649" y="1399"/>
                  </a:cubicBezTo>
                  <a:cubicBezTo>
                    <a:pt x="1649" y="1450"/>
                    <a:pt x="1649" y="1450"/>
                    <a:pt x="1649" y="1450"/>
                  </a:cubicBezTo>
                  <a:cubicBezTo>
                    <a:pt x="1675" y="1430"/>
                    <a:pt x="1692" y="1415"/>
                    <a:pt x="1692" y="1415"/>
                  </a:cubicBezTo>
                  <a:cubicBezTo>
                    <a:pt x="1693" y="1414"/>
                    <a:pt x="1693" y="1414"/>
                    <a:pt x="1693" y="1414"/>
                  </a:cubicBezTo>
                  <a:cubicBezTo>
                    <a:pt x="1693" y="1368"/>
                    <a:pt x="1693" y="1368"/>
                    <a:pt x="1693" y="1368"/>
                  </a:cubicBezTo>
                  <a:cubicBezTo>
                    <a:pt x="1696" y="1365"/>
                    <a:pt x="1699" y="1363"/>
                    <a:pt x="1701" y="1362"/>
                  </a:cubicBezTo>
                  <a:cubicBezTo>
                    <a:pt x="1729" y="1336"/>
                    <a:pt x="1782" y="1207"/>
                    <a:pt x="1802" y="1157"/>
                  </a:cubicBezTo>
                  <a:cubicBezTo>
                    <a:pt x="1837" y="1135"/>
                    <a:pt x="1846" y="1097"/>
                    <a:pt x="1849" y="1081"/>
                  </a:cubicBezTo>
                  <a:cubicBezTo>
                    <a:pt x="1849" y="1079"/>
                    <a:pt x="1849" y="1078"/>
                    <a:pt x="1849" y="1076"/>
                  </a:cubicBezTo>
                  <a:cubicBezTo>
                    <a:pt x="1796" y="1101"/>
                    <a:pt x="1796" y="1101"/>
                    <a:pt x="1796" y="1101"/>
                  </a:cubicBezTo>
                  <a:cubicBezTo>
                    <a:pt x="1791" y="1109"/>
                    <a:pt x="1784" y="1117"/>
                    <a:pt x="1774" y="1122"/>
                  </a:cubicBezTo>
                  <a:cubicBezTo>
                    <a:pt x="1769" y="1124"/>
                    <a:pt x="1766" y="1129"/>
                    <a:pt x="1764" y="1134"/>
                  </a:cubicBezTo>
                  <a:cubicBezTo>
                    <a:pt x="1731" y="1217"/>
                    <a:pt x="1687" y="1315"/>
                    <a:pt x="1671" y="1329"/>
                  </a:cubicBezTo>
                  <a:cubicBezTo>
                    <a:pt x="1644" y="1353"/>
                    <a:pt x="1568" y="1401"/>
                    <a:pt x="1528" y="1401"/>
                  </a:cubicBezTo>
                  <a:cubicBezTo>
                    <a:pt x="1489" y="1401"/>
                    <a:pt x="1413" y="1353"/>
                    <a:pt x="1385" y="1329"/>
                  </a:cubicBezTo>
                  <a:cubicBezTo>
                    <a:pt x="1370" y="1315"/>
                    <a:pt x="1326" y="1217"/>
                    <a:pt x="1293" y="1134"/>
                  </a:cubicBezTo>
                  <a:cubicBezTo>
                    <a:pt x="1291" y="1129"/>
                    <a:pt x="1287" y="1124"/>
                    <a:pt x="1283" y="1122"/>
                  </a:cubicBezTo>
                  <a:cubicBezTo>
                    <a:pt x="1273" y="1117"/>
                    <a:pt x="1266" y="1109"/>
                    <a:pt x="1261" y="1101"/>
                  </a:cubicBezTo>
                  <a:cubicBezTo>
                    <a:pt x="1208" y="1076"/>
                    <a:pt x="1208" y="1076"/>
                    <a:pt x="1208" y="1076"/>
                  </a:cubicBezTo>
                  <a:cubicBezTo>
                    <a:pt x="1208" y="1078"/>
                    <a:pt x="1208" y="1080"/>
                    <a:pt x="1208" y="1083"/>
                  </a:cubicBezTo>
                  <a:cubicBezTo>
                    <a:pt x="1212" y="1102"/>
                    <a:pt x="1222" y="1136"/>
                    <a:pt x="1255" y="1157"/>
                  </a:cubicBezTo>
                  <a:close/>
                  <a:moveTo>
                    <a:pt x="322" y="1157"/>
                  </a:moveTo>
                  <a:cubicBezTo>
                    <a:pt x="342" y="1207"/>
                    <a:pt x="395" y="1336"/>
                    <a:pt x="423" y="1362"/>
                  </a:cubicBezTo>
                  <a:cubicBezTo>
                    <a:pt x="425" y="1363"/>
                    <a:pt x="428" y="1365"/>
                    <a:pt x="431" y="1368"/>
                  </a:cubicBezTo>
                  <a:cubicBezTo>
                    <a:pt x="431" y="1411"/>
                    <a:pt x="431" y="1411"/>
                    <a:pt x="431" y="1411"/>
                  </a:cubicBezTo>
                  <a:cubicBezTo>
                    <a:pt x="440" y="1423"/>
                    <a:pt x="440" y="1423"/>
                    <a:pt x="440" y="1423"/>
                  </a:cubicBezTo>
                  <a:cubicBezTo>
                    <a:pt x="441" y="1425"/>
                    <a:pt x="452" y="1440"/>
                    <a:pt x="475" y="1457"/>
                  </a:cubicBezTo>
                  <a:cubicBezTo>
                    <a:pt x="475" y="1399"/>
                    <a:pt x="475" y="1399"/>
                    <a:pt x="475" y="1399"/>
                  </a:cubicBezTo>
                  <a:cubicBezTo>
                    <a:pt x="511" y="1422"/>
                    <a:pt x="559" y="1445"/>
                    <a:pt x="595" y="1445"/>
                  </a:cubicBezTo>
                  <a:cubicBezTo>
                    <a:pt x="632" y="1445"/>
                    <a:pt x="680" y="1422"/>
                    <a:pt x="717" y="1399"/>
                  </a:cubicBezTo>
                  <a:cubicBezTo>
                    <a:pt x="717" y="1457"/>
                    <a:pt x="717" y="1457"/>
                    <a:pt x="717" y="1457"/>
                  </a:cubicBezTo>
                  <a:cubicBezTo>
                    <a:pt x="740" y="1440"/>
                    <a:pt x="751" y="1424"/>
                    <a:pt x="751" y="1423"/>
                  </a:cubicBezTo>
                  <a:cubicBezTo>
                    <a:pt x="761" y="1411"/>
                    <a:pt x="761" y="1411"/>
                    <a:pt x="761" y="1411"/>
                  </a:cubicBezTo>
                  <a:cubicBezTo>
                    <a:pt x="761" y="1367"/>
                    <a:pt x="761" y="1367"/>
                    <a:pt x="761" y="1367"/>
                  </a:cubicBezTo>
                  <a:cubicBezTo>
                    <a:pt x="763" y="1365"/>
                    <a:pt x="766" y="1363"/>
                    <a:pt x="768" y="1362"/>
                  </a:cubicBezTo>
                  <a:cubicBezTo>
                    <a:pt x="796" y="1336"/>
                    <a:pt x="849" y="1207"/>
                    <a:pt x="869" y="1157"/>
                  </a:cubicBezTo>
                  <a:cubicBezTo>
                    <a:pt x="904" y="1135"/>
                    <a:pt x="913" y="1097"/>
                    <a:pt x="916" y="1081"/>
                  </a:cubicBezTo>
                  <a:cubicBezTo>
                    <a:pt x="916" y="1079"/>
                    <a:pt x="916" y="1078"/>
                    <a:pt x="916" y="1076"/>
                  </a:cubicBezTo>
                  <a:cubicBezTo>
                    <a:pt x="863" y="1101"/>
                    <a:pt x="863" y="1101"/>
                    <a:pt x="863" y="1101"/>
                  </a:cubicBezTo>
                  <a:cubicBezTo>
                    <a:pt x="858" y="1109"/>
                    <a:pt x="851" y="1117"/>
                    <a:pt x="841" y="1122"/>
                  </a:cubicBezTo>
                  <a:cubicBezTo>
                    <a:pt x="836" y="1124"/>
                    <a:pt x="833" y="1129"/>
                    <a:pt x="831" y="1134"/>
                  </a:cubicBezTo>
                  <a:cubicBezTo>
                    <a:pt x="798" y="1217"/>
                    <a:pt x="754" y="1315"/>
                    <a:pt x="738" y="1329"/>
                  </a:cubicBezTo>
                  <a:cubicBezTo>
                    <a:pt x="711" y="1353"/>
                    <a:pt x="635" y="1401"/>
                    <a:pt x="595" y="1401"/>
                  </a:cubicBezTo>
                  <a:cubicBezTo>
                    <a:pt x="556" y="1401"/>
                    <a:pt x="480" y="1353"/>
                    <a:pt x="452" y="1329"/>
                  </a:cubicBezTo>
                  <a:cubicBezTo>
                    <a:pt x="437" y="1315"/>
                    <a:pt x="393" y="1217"/>
                    <a:pt x="360" y="1134"/>
                  </a:cubicBezTo>
                  <a:cubicBezTo>
                    <a:pt x="358" y="1129"/>
                    <a:pt x="354" y="1124"/>
                    <a:pt x="350" y="1122"/>
                  </a:cubicBezTo>
                  <a:cubicBezTo>
                    <a:pt x="339" y="1117"/>
                    <a:pt x="333" y="1109"/>
                    <a:pt x="328" y="1101"/>
                  </a:cubicBezTo>
                  <a:cubicBezTo>
                    <a:pt x="275" y="1076"/>
                    <a:pt x="275" y="1076"/>
                    <a:pt x="275" y="1076"/>
                  </a:cubicBezTo>
                  <a:cubicBezTo>
                    <a:pt x="275" y="1078"/>
                    <a:pt x="275" y="1080"/>
                    <a:pt x="275" y="1083"/>
                  </a:cubicBezTo>
                  <a:cubicBezTo>
                    <a:pt x="279" y="1102"/>
                    <a:pt x="289" y="1136"/>
                    <a:pt x="322" y="11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 name="Freeform 21">
              <a:extLst>
                <a:ext uri="{FF2B5EF4-FFF2-40B4-BE49-F238E27FC236}">
                  <a16:creationId xmlns:a16="http://schemas.microsoft.com/office/drawing/2014/main" id="{9A32768F-1F7B-41E4-AD1E-05F5E20985B3}"/>
                </a:ext>
              </a:extLst>
            </p:cNvPr>
            <p:cNvSpPr>
              <a:spLocks noEditPoints="1"/>
            </p:cNvSpPr>
            <p:nvPr/>
          </p:nvSpPr>
          <p:spPr bwMode="auto">
            <a:xfrm>
              <a:off x="2383" y="1568"/>
              <a:ext cx="3019" cy="1511"/>
            </a:xfrm>
            <a:custGeom>
              <a:avLst/>
              <a:gdLst>
                <a:gd name="T0" fmla="*/ 1542 w 1612"/>
                <a:gd name="T1" fmla="*/ 422 h 806"/>
                <a:gd name="T2" fmla="*/ 1542 w 1612"/>
                <a:gd name="T3" fmla="*/ 421 h 806"/>
                <a:gd name="T4" fmla="*/ 1508 w 1612"/>
                <a:gd name="T5" fmla="*/ 469 h 806"/>
                <a:gd name="T6" fmla="*/ 1505 w 1612"/>
                <a:gd name="T7" fmla="*/ 470 h 806"/>
                <a:gd name="T8" fmla="*/ 1485 w 1612"/>
                <a:gd name="T9" fmla="*/ 470 h 806"/>
                <a:gd name="T10" fmla="*/ 1483 w 1612"/>
                <a:gd name="T11" fmla="*/ 470 h 806"/>
                <a:gd name="T12" fmla="*/ 1074 w 1612"/>
                <a:gd name="T13" fmla="*/ 253 h 806"/>
                <a:gd name="T14" fmla="*/ 1070 w 1612"/>
                <a:gd name="T15" fmla="*/ 253 h 806"/>
                <a:gd name="T16" fmla="*/ 949 w 1612"/>
                <a:gd name="T17" fmla="*/ 445 h 806"/>
                <a:gd name="T18" fmla="*/ 949 w 1612"/>
                <a:gd name="T19" fmla="*/ 444 h 806"/>
                <a:gd name="T20" fmla="*/ 932 w 1612"/>
                <a:gd name="T21" fmla="*/ 315 h 806"/>
                <a:gd name="T22" fmla="*/ 1242 w 1612"/>
                <a:gd name="T23" fmla="*/ 0 h 806"/>
                <a:gd name="T24" fmla="*/ 1553 w 1612"/>
                <a:gd name="T25" fmla="*/ 315 h 806"/>
                <a:gd name="T26" fmla="*/ 1542 w 1612"/>
                <a:gd name="T27" fmla="*/ 422 h 806"/>
                <a:gd name="T28" fmla="*/ 619 w 1612"/>
                <a:gd name="T29" fmla="*/ 317 h 806"/>
                <a:gd name="T30" fmla="*/ 310 w 1612"/>
                <a:gd name="T31" fmla="*/ 0 h 806"/>
                <a:gd name="T32" fmla="*/ 0 w 1612"/>
                <a:gd name="T33" fmla="*/ 317 h 806"/>
                <a:gd name="T34" fmla="*/ 12 w 1612"/>
                <a:gd name="T35" fmla="*/ 427 h 806"/>
                <a:gd name="T36" fmla="*/ 12 w 1612"/>
                <a:gd name="T37" fmla="*/ 428 h 806"/>
                <a:gd name="T38" fmla="*/ 43 w 1612"/>
                <a:gd name="T39" fmla="*/ 467 h 806"/>
                <a:gd name="T40" fmla="*/ 64 w 1612"/>
                <a:gd name="T41" fmla="*/ 469 h 806"/>
                <a:gd name="T42" fmla="*/ 140 w 1612"/>
                <a:gd name="T43" fmla="*/ 254 h 806"/>
                <a:gd name="T44" fmla="*/ 547 w 1612"/>
                <a:gd name="T45" fmla="*/ 240 h 806"/>
                <a:gd name="T46" fmla="*/ 550 w 1612"/>
                <a:gd name="T47" fmla="*/ 473 h 806"/>
                <a:gd name="T48" fmla="*/ 573 w 1612"/>
                <a:gd name="T49" fmla="*/ 473 h 806"/>
                <a:gd name="T50" fmla="*/ 608 w 1612"/>
                <a:gd name="T51" fmla="*/ 424 h 806"/>
                <a:gd name="T52" fmla="*/ 608 w 1612"/>
                <a:gd name="T53" fmla="*/ 424 h 806"/>
                <a:gd name="T54" fmla="*/ 619 w 1612"/>
                <a:gd name="T55" fmla="*/ 317 h 806"/>
                <a:gd name="T56" fmla="*/ 1033 w 1612"/>
                <a:gd name="T57" fmla="*/ 780 h 806"/>
                <a:gd name="T58" fmla="*/ 946 w 1612"/>
                <a:gd name="T59" fmla="*/ 612 h 806"/>
                <a:gd name="T60" fmla="*/ 872 w 1612"/>
                <a:gd name="T61" fmla="*/ 756 h 806"/>
                <a:gd name="T62" fmla="*/ 949 w 1612"/>
                <a:gd name="T63" fmla="*/ 806 h 806"/>
                <a:gd name="T64" fmla="*/ 1033 w 1612"/>
                <a:gd name="T65" fmla="*/ 799 h 806"/>
                <a:gd name="T66" fmla="*/ 1033 w 1612"/>
                <a:gd name="T67" fmla="*/ 780 h 806"/>
                <a:gd name="T68" fmla="*/ 1538 w 1612"/>
                <a:gd name="T69" fmla="*/ 613 h 806"/>
                <a:gd name="T70" fmla="*/ 1451 w 1612"/>
                <a:gd name="T71" fmla="*/ 781 h 806"/>
                <a:gd name="T72" fmla="*/ 1451 w 1612"/>
                <a:gd name="T73" fmla="*/ 799 h 806"/>
                <a:gd name="T74" fmla="*/ 1536 w 1612"/>
                <a:gd name="T75" fmla="*/ 806 h 806"/>
                <a:gd name="T76" fmla="*/ 1612 w 1612"/>
                <a:gd name="T77" fmla="*/ 756 h 806"/>
                <a:gd name="T78" fmla="*/ 1538 w 1612"/>
                <a:gd name="T79" fmla="*/ 613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12" h="806">
                  <a:moveTo>
                    <a:pt x="1542" y="422"/>
                  </a:moveTo>
                  <a:cubicBezTo>
                    <a:pt x="1542" y="422"/>
                    <a:pt x="1542" y="421"/>
                    <a:pt x="1542" y="421"/>
                  </a:cubicBezTo>
                  <a:cubicBezTo>
                    <a:pt x="1541" y="422"/>
                    <a:pt x="1536" y="437"/>
                    <a:pt x="1508" y="469"/>
                  </a:cubicBezTo>
                  <a:cubicBezTo>
                    <a:pt x="1507" y="470"/>
                    <a:pt x="1506" y="470"/>
                    <a:pt x="1505" y="470"/>
                  </a:cubicBezTo>
                  <a:cubicBezTo>
                    <a:pt x="1485" y="470"/>
                    <a:pt x="1485" y="470"/>
                    <a:pt x="1485" y="470"/>
                  </a:cubicBezTo>
                  <a:cubicBezTo>
                    <a:pt x="1484" y="470"/>
                    <a:pt x="1484" y="470"/>
                    <a:pt x="1483" y="470"/>
                  </a:cubicBezTo>
                  <a:cubicBezTo>
                    <a:pt x="1074" y="253"/>
                    <a:pt x="1074" y="253"/>
                    <a:pt x="1074" y="253"/>
                  </a:cubicBezTo>
                  <a:cubicBezTo>
                    <a:pt x="1073" y="253"/>
                    <a:pt x="1071" y="253"/>
                    <a:pt x="1070" y="253"/>
                  </a:cubicBezTo>
                  <a:cubicBezTo>
                    <a:pt x="979" y="283"/>
                    <a:pt x="980" y="472"/>
                    <a:pt x="949" y="445"/>
                  </a:cubicBezTo>
                  <a:cubicBezTo>
                    <a:pt x="949" y="444"/>
                    <a:pt x="949" y="444"/>
                    <a:pt x="949" y="444"/>
                  </a:cubicBezTo>
                  <a:cubicBezTo>
                    <a:pt x="936" y="410"/>
                    <a:pt x="932" y="354"/>
                    <a:pt x="932" y="315"/>
                  </a:cubicBezTo>
                  <a:cubicBezTo>
                    <a:pt x="932" y="141"/>
                    <a:pt x="1067" y="0"/>
                    <a:pt x="1242" y="0"/>
                  </a:cubicBezTo>
                  <a:cubicBezTo>
                    <a:pt x="1418" y="0"/>
                    <a:pt x="1553" y="141"/>
                    <a:pt x="1553" y="315"/>
                  </a:cubicBezTo>
                  <a:cubicBezTo>
                    <a:pt x="1553" y="353"/>
                    <a:pt x="1554" y="389"/>
                    <a:pt x="1542" y="422"/>
                  </a:cubicBezTo>
                  <a:close/>
                  <a:moveTo>
                    <a:pt x="619" y="317"/>
                  </a:moveTo>
                  <a:cubicBezTo>
                    <a:pt x="619" y="142"/>
                    <a:pt x="485" y="0"/>
                    <a:pt x="310" y="0"/>
                  </a:cubicBezTo>
                  <a:cubicBezTo>
                    <a:pt x="134" y="0"/>
                    <a:pt x="0" y="142"/>
                    <a:pt x="0" y="317"/>
                  </a:cubicBezTo>
                  <a:cubicBezTo>
                    <a:pt x="0" y="356"/>
                    <a:pt x="0" y="393"/>
                    <a:pt x="12" y="427"/>
                  </a:cubicBezTo>
                  <a:cubicBezTo>
                    <a:pt x="12" y="428"/>
                    <a:pt x="12" y="428"/>
                    <a:pt x="12" y="428"/>
                  </a:cubicBezTo>
                  <a:cubicBezTo>
                    <a:pt x="43" y="456"/>
                    <a:pt x="43" y="467"/>
                    <a:pt x="43" y="467"/>
                  </a:cubicBezTo>
                  <a:cubicBezTo>
                    <a:pt x="64" y="469"/>
                    <a:pt x="64" y="469"/>
                    <a:pt x="64" y="469"/>
                  </a:cubicBezTo>
                  <a:cubicBezTo>
                    <a:pt x="64" y="469"/>
                    <a:pt x="47" y="283"/>
                    <a:pt x="140" y="254"/>
                  </a:cubicBezTo>
                  <a:cubicBezTo>
                    <a:pt x="140" y="254"/>
                    <a:pt x="512" y="418"/>
                    <a:pt x="547" y="240"/>
                  </a:cubicBezTo>
                  <a:cubicBezTo>
                    <a:pt x="550" y="462"/>
                    <a:pt x="550" y="473"/>
                    <a:pt x="550" y="473"/>
                  </a:cubicBezTo>
                  <a:cubicBezTo>
                    <a:pt x="573" y="473"/>
                    <a:pt x="573" y="473"/>
                    <a:pt x="573" y="473"/>
                  </a:cubicBezTo>
                  <a:cubicBezTo>
                    <a:pt x="602" y="440"/>
                    <a:pt x="607" y="424"/>
                    <a:pt x="608" y="424"/>
                  </a:cubicBezTo>
                  <a:cubicBezTo>
                    <a:pt x="608" y="424"/>
                    <a:pt x="608" y="424"/>
                    <a:pt x="608" y="424"/>
                  </a:cubicBezTo>
                  <a:cubicBezTo>
                    <a:pt x="620" y="391"/>
                    <a:pt x="619" y="355"/>
                    <a:pt x="619" y="317"/>
                  </a:cubicBezTo>
                  <a:close/>
                  <a:moveTo>
                    <a:pt x="1033" y="780"/>
                  </a:moveTo>
                  <a:cubicBezTo>
                    <a:pt x="1011" y="755"/>
                    <a:pt x="982" y="699"/>
                    <a:pt x="946" y="612"/>
                  </a:cubicBezTo>
                  <a:cubicBezTo>
                    <a:pt x="943" y="671"/>
                    <a:pt x="933" y="750"/>
                    <a:pt x="872" y="756"/>
                  </a:cubicBezTo>
                  <a:cubicBezTo>
                    <a:pt x="899" y="783"/>
                    <a:pt x="925" y="798"/>
                    <a:pt x="949" y="806"/>
                  </a:cubicBezTo>
                  <a:cubicBezTo>
                    <a:pt x="984" y="802"/>
                    <a:pt x="1015" y="800"/>
                    <a:pt x="1033" y="799"/>
                  </a:cubicBezTo>
                  <a:lnTo>
                    <a:pt x="1033" y="780"/>
                  </a:lnTo>
                  <a:close/>
                  <a:moveTo>
                    <a:pt x="1538" y="613"/>
                  </a:moveTo>
                  <a:cubicBezTo>
                    <a:pt x="1502" y="699"/>
                    <a:pt x="1473" y="755"/>
                    <a:pt x="1451" y="781"/>
                  </a:cubicBezTo>
                  <a:cubicBezTo>
                    <a:pt x="1451" y="799"/>
                    <a:pt x="1451" y="799"/>
                    <a:pt x="1451" y="799"/>
                  </a:cubicBezTo>
                  <a:cubicBezTo>
                    <a:pt x="1469" y="800"/>
                    <a:pt x="1501" y="802"/>
                    <a:pt x="1536" y="806"/>
                  </a:cubicBezTo>
                  <a:cubicBezTo>
                    <a:pt x="1560" y="798"/>
                    <a:pt x="1586" y="783"/>
                    <a:pt x="1612" y="756"/>
                  </a:cubicBezTo>
                  <a:cubicBezTo>
                    <a:pt x="1552" y="750"/>
                    <a:pt x="1542" y="672"/>
                    <a:pt x="1538" y="6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02" name="bcgIcons_PublicSector">
            <a:extLst>
              <a:ext uri="{FF2B5EF4-FFF2-40B4-BE49-F238E27FC236}">
                <a16:creationId xmlns:a16="http://schemas.microsoft.com/office/drawing/2014/main" id="{DCC15F7D-CDC2-4E1F-A0B5-9B1EF884CF51}"/>
              </a:ext>
            </a:extLst>
          </p:cNvPr>
          <p:cNvGrpSpPr>
            <a:grpSpLocks noChangeAspect="1"/>
          </p:cNvGrpSpPr>
          <p:nvPr/>
        </p:nvGrpSpPr>
        <p:grpSpPr bwMode="auto">
          <a:xfrm>
            <a:off x="8278633" y="5456206"/>
            <a:ext cx="325352" cy="325654"/>
            <a:chOff x="1682" y="0"/>
            <a:chExt cx="4316" cy="4320"/>
          </a:xfrm>
        </p:grpSpPr>
        <p:sp>
          <p:nvSpPr>
            <p:cNvPr id="203" name="AutoShape 18">
              <a:extLst>
                <a:ext uri="{FF2B5EF4-FFF2-40B4-BE49-F238E27FC236}">
                  <a16:creationId xmlns:a16="http://schemas.microsoft.com/office/drawing/2014/main" id="{575286B9-FCC8-4EFB-9834-BD5493C559C3}"/>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 name="Freeform 20">
              <a:extLst>
                <a:ext uri="{FF2B5EF4-FFF2-40B4-BE49-F238E27FC236}">
                  <a16:creationId xmlns:a16="http://schemas.microsoft.com/office/drawing/2014/main" id="{CEF9E0BC-00B7-4B29-B377-3473BD5B2EB2}"/>
                </a:ext>
              </a:extLst>
            </p:cNvPr>
            <p:cNvSpPr>
              <a:spLocks noEditPoints="1"/>
            </p:cNvSpPr>
            <p:nvPr/>
          </p:nvSpPr>
          <p:spPr bwMode="auto">
            <a:xfrm>
              <a:off x="1847" y="431"/>
              <a:ext cx="3979" cy="3443"/>
            </a:xfrm>
            <a:custGeom>
              <a:avLst/>
              <a:gdLst>
                <a:gd name="T0" fmla="*/ 227 w 2124"/>
                <a:gd name="T1" fmla="*/ 496 h 1836"/>
                <a:gd name="T2" fmla="*/ 528 w 2124"/>
                <a:gd name="T3" fmla="*/ 467 h 1836"/>
                <a:gd name="T4" fmla="*/ 996 w 2124"/>
                <a:gd name="T5" fmla="*/ 467 h 1836"/>
                <a:gd name="T6" fmla="*/ 695 w 2124"/>
                <a:gd name="T7" fmla="*/ 496 h 1836"/>
                <a:gd name="T8" fmla="*/ 994 w 2124"/>
                <a:gd name="T9" fmla="*/ 498 h 1836"/>
                <a:gd name="T10" fmla="*/ 1130 w 2124"/>
                <a:gd name="T11" fmla="*/ 467 h 1836"/>
                <a:gd name="T12" fmla="*/ 1431 w 2124"/>
                <a:gd name="T13" fmla="*/ 496 h 1836"/>
                <a:gd name="T14" fmla="*/ 1933 w 2124"/>
                <a:gd name="T15" fmla="*/ 467 h 1836"/>
                <a:gd name="T16" fmla="*/ 1631 w 2124"/>
                <a:gd name="T17" fmla="*/ 496 h 1836"/>
                <a:gd name="T18" fmla="*/ 1930 w 2124"/>
                <a:gd name="T19" fmla="*/ 498 h 1836"/>
                <a:gd name="T20" fmla="*/ 427 w 2124"/>
                <a:gd name="T21" fmla="*/ 273 h 1836"/>
                <a:gd name="T22" fmla="*/ 729 w 2124"/>
                <a:gd name="T23" fmla="*/ 301 h 1836"/>
                <a:gd name="T24" fmla="*/ 1230 w 2124"/>
                <a:gd name="T25" fmla="*/ 273 h 1836"/>
                <a:gd name="T26" fmla="*/ 929 w 2124"/>
                <a:gd name="T27" fmla="*/ 301 h 1836"/>
                <a:gd name="T28" fmla="*/ 1228 w 2124"/>
                <a:gd name="T29" fmla="*/ 304 h 1836"/>
                <a:gd name="T30" fmla="*/ 1364 w 2124"/>
                <a:gd name="T31" fmla="*/ 273 h 1836"/>
                <a:gd name="T32" fmla="*/ 1665 w 2124"/>
                <a:gd name="T33" fmla="*/ 301 h 1836"/>
                <a:gd name="T34" fmla="*/ 996 w 2124"/>
                <a:gd name="T35" fmla="*/ 78 h 1836"/>
                <a:gd name="T36" fmla="*/ 695 w 2124"/>
                <a:gd name="T37" fmla="*/ 107 h 1836"/>
                <a:gd name="T38" fmla="*/ 994 w 2124"/>
                <a:gd name="T39" fmla="*/ 109 h 1836"/>
                <a:gd name="T40" fmla="*/ 1130 w 2124"/>
                <a:gd name="T41" fmla="*/ 78 h 1836"/>
                <a:gd name="T42" fmla="*/ 1431 w 2124"/>
                <a:gd name="T43" fmla="*/ 107 h 1836"/>
                <a:gd name="T44" fmla="*/ 1893 w 2124"/>
                <a:gd name="T45" fmla="*/ 584 h 1836"/>
                <a:gd name="T46" fmla="*/ 1893 w 2124"/>
                <a:gd name="T47" fmla="*/ 628 h 1836"/>
                <a:gd name="T48" fmla="*/ 2060 w 2124"/>
                <a:gd name="T49" fmla="*/ 662 h 1836"/>
                <a:gd name="T50" fmla="*/ 69 w 2124"/>
                <a:gd name="T51" fmla="*/ 693 h 1836"/>
                <a:gd name="T52" fmla="*/ 377 w 2124"/>
                <a:gd name="T53" fmla="*/ 638 h 1836"/>
                <a:gd name="T54" fmla="*/ 1533 w 2124"/>
                <a:gd name="T55" fmla="*/ 1602 h 1836"/>
                <a:gd name="T56" fmla="*/ 1155 w 2124"/>
                <a:gd name="T57" fmla="*/ 1543 h 1836"/>
                <a:gd name="T58" fmla="*/ 2102 w 2124"/>
                <a:gd name="T59" fmla="*/ 1836 h 1836"/>
                <a:gd name="T60" fmla="*/ 1191 w 2124"/>
                <a:gd name="T61" fmla="*/ 1811 h 1836"/>
                <a:gd name="T62" fmla="*/ 787 w 2124"/>
                <a:gd name="T63" fmla="*/ 1449 h 1836"/>
                <a:gd name="T64" fmla="*/ 404 w 2124"/>
                <a:gd name="T65" fmla="*/ 1449 h 1836"/>
                <a:gd name="T66" fmla="*/ 0 w 2124"/>
                <a:gd name="T67" fmla="*/ 1814 h 1836"/>
                <a:gd name="T68" fmla="*/ 1191 w 2124"/>
                <a:gd name="T69" fmla="*/ 1811 h 1836"/>
                <a:gd name="T70" fmla="*/ 896 w 2124"/>
                <a:gd name="T71" fmla="*/ 662 h 1836"/>
                <a:gd name="T72" fmla="*/ 1197 w 2124"/>
                <a:gd name="T73" fmla="*/ 690 h 1836"/>
                <a:gd name="T74" fmla="*/ 1356 w 2124"/>
                <a:gd name="T75" fmla="*/ 1362 h 1836"/>
                <a:gd name="T76" fmla="*/ 1407 w 2124"/>
                <a:gd name="T77" fmla="*/ 1450 h 1836"/>
                <a:gd name="T78" fmla="*/ 1649 w 2124"/>
                <a:gd name="T79" fmla="*/ 1450 h 1836"/>
                <a:gd name="T80" fmla="*/ 1701 w 2124"/>
                <a:gd name="T81" fmla="*/ 1362 h 1836"/>
                <a:gd name="T82" fmla="*/ 1796 w 2124"/>
                <a:gd name="T83" fmla="*/ 1101 h 1836"/>
                <a:gd name="T84" fmla="*/ 1528 w 2124"/>
                <a:gd name="T85" fmla="*/ 1401 h 1836"/>
                <a:gd name="T86" fmla="*/ 1261 w 2124"/>
                <a:gd name="T87" fmla="*/ 1101 h 1836"/>
                <a:gd name="T88" fmla="*/ 322 w 2124"/>
                <a:gd name="T89" fmla="*/ 1157 h 1836"/>
                <a:gd name="T90" fmla="*/ 440 w 2124"/>
                <a:gd name="T91" fmla="*/ 1423 h 1836"/>
                <a:gd name="T92" fmla="*/ 717 w 2124"/>
                <a:gd name="T93" fmla="*/ 1399 h 1836"/>
                <a:gd name="T94" fmla="*/ 761 w 2124"/>
                <a:gd name="T95" fmla="*/ 1367 h 1836"/>
                <a:gd name="T96" fmla="*/ 916 w 2124"/>
                <a:gd name="T97" fmla="*/ 1076 h 1836"/>
                <a:gd name="T98" fmla="*/ 738 w 2124"/>
                <a:gd name="T99" fmla="*/ 1329 h 1836"/>
                <a:gd name="T100" fmla="*/ 350 w 2124"/>
                <a:gd name="T101" fmla="*/ 1122 h 1836"/>
                <a:gd name="T102" fmla="*/ 322 w 2124"/>
                <a:gd name="T103" fmla="*/ 115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24" h="1836">
                  <a:moveTo>
                    <a:pt x="512" y="503"/>
                  </a:moveTo>
                  <a:cubicBezTo>
                    <a:pt x="505" y="503"/>
                    <a:pt x="499" y="501"/>
                    <a:pt x="495" y="496"/>
                  </a:cubicBezTo>
                  <a:cubicBezTo>
                    <a:pt x="461" y="456"/>
                    <a:pt x="413" y="433"/>
                    <a:pt x="361" y="433"/>
                  </a:cubicBezTo>
                  <a:cubicBezTo>
                    <a:pt x="309" y="433"/>
                    <a:pt x="260" y="456"/>
                    <a:pt x="227" y="496"/>
                  </a:cubicBezTo>
                  <a:cubicBezTo>
                    <a:pt x="219" y="505"/>
                    <a:pt x="205" y="506"/>
                    <a:pt x="196" y="498"/>
                  </a:cubicBezTo>
                  <a:cubicBezTo>
                    <a:pt x="187" y="491"/>
                    <a:pt x="186" y="477"/>
                    <a:pt x="193" y="467"/>
                  </a:cubicBezTo>
                  <a:cubicBezTo>
                    <a:pt x="235" y="418"/>
                    <a:pt x="296" y="389"/>
                    <a:pt x="361" y="389"/>
                  </a:cubicBezTo>
                  <a:cubicBezTo>
                    <a:pt x="426" y="389"/>
                    <a:pt x="487" y="418"/>
                    <a:pt x="528" y="467"/>
                  </a:cubicBezTo>
                  <a:cubicBezTo>
                    <a:pt x="536" y="477"/>
                    <a:pt x="535" y="491"/>
                    <a:pt x="526" y="498"/>
                  </a:cubicBezTo>
                  <a:cubicBezTo>
                    <a:pt x="522" y="502"/>
                    <a:pt x="516" y="503"/>
                    <a:pt x="512" y="503"/>
                  </a:cubicBezTo>
                  <a:close/>
                  <a:moveTo>
                    <a:pt x="994" y="498"/>
                  </a:moveTo>
                  <a:cubicBezTo>
                    <a:pt x="1003" y="491"/>
                    <a:pt x="1004" y="477"/>
                    <a:pt x="996" y="467"/>
                  </a:cubicBezTo>
                  <a:cubicBezTo>
                    <a:pt x="955" y="418"/>
                    <a:pt x="894" y="389"/>
                    <a:pt x="829" y="389"/>
                  </a:cubicBezTo>
                  <a:cubicBezTo>
                    <a:pt x="764" y="389"/>
                    <a:pt x="703" y="418"/>
                    <a:pt x="661" y="467"/>
                  </a:cubicBezTo>
                  <a:cubicBezTo>
                    <a:pt x="654" y="477"/>
                    <a:pt x="655" y="491"/>
                    <a:pt x="664" y="498"/>
                  </a:cubicBezTo>
                  <a:cubicBezTo>
                    <a:pt x="673" y="506"/>
                    <a:pt x="687" y="505"/>
                    <a:pt x="695" y="496"/>
                  </a:cubicBezTo>
                  <a:cubicBezTo>
                    <a:pt x="728" y="456"/>
                    <a:pt x="777" y="433"/>
                    <a:pt x="829" y="433"/>
                  </a:cubicBezTo>
                  <a:cubicBezTo>
                    <a:pt x="881" y="433"/>
                    <a:pt x="929" y="456"/>
                    <a:pt x="963" y="496"/>
                  </a:cubicBezTo>
                  <a:cubicBezTo>
                    <a:pt x="967" y="501"/>
                    <a:pt x="973" y="503"/>
                    <a:pt x="980" y="503"/>
                  </a:cubicBezTo>
                  <a:cubicBezTo>
                    <a:pt x="985" y="503"/>
                    <a:pt x="990" y="502"/>
                    <a:pt x="994" y="498"/>
                  </a:cubicBezTo>
                  <a:close/>
                  <a:moveTo>
                    <a:pt x="1462" y="498"/>
                  </a:moveTo>
                  <a:cubicBezTo>
                    <a:pt x="1471" y="491"/>
                    <a:pt x="1472" y="477"/>
                    <a:pt x="1465" y="467"/>
                  </a:cubicBezTo>
                  <a:cubicBezTo>
                    <a:pt x="1423" y="418"/>
                    <a:pt x="1362" y="389"/>
                    <a:pt x="1297" y="389"/>
                  </a:cubicBezTo>
                  <a:cubicBezTo>
                    <a:pt x="1232" y="389"/>
                    <a:pt x="1171" y="418"/>
                    <a:pt x="1130" y="467"/>
                  </a:cubicBezTo>
                  <a:cubicBezTo>
                    <a:pt x="1122" y="477"/>
                    <a:pt x="1123" y="491"/>
                    <a:pt x="1132" y="498"/>
                  </a:cubicBezTo>
                  <a:cubicBezTo>
                    <a:pt x="1142" y="506"/>
                    <a:pt x="1155" y="505"/>
                    <a:pt x="1163" y="496"/>
                  </a:cubicBezTo>
                  <a:cubicBezTo>
                    <a:pt x="1197" y="456"/>
                    <a:pt x="1245" y="433"/>
                    <a:pt x="1297" y="433"/>
                  </a:cubicBezTo>
                  <a:cubicBezTo>
                    <a:pt x="1349" y="433"/>
                    <a:pt x="1398" y="456"/>
                    <a:pt x="1431" y="496"/>
                  </a:cubicBezTo>
                  <a:cubicBezTo>
                    <a:pt x="1435" y="501"/>
                    <a:pt x="1441" y="503"/>
                    <a:pt x="1448" y="503"/>
                  </a:cubicBezTo>
                  <a:cubicBezTo>
                    <a:pt x="1453" y="503"/>
                    <a:pt x="1458" y="502"/>
                    <a:pt x="1462" y="498"/>
                  </a:cubicBezTo>
                  <a:close/>
                  <a:moveTo>
                    <a:pt x="1930" y="498"/>
                  </a:moveTo>
                  <a:cubicBezTo>
                    <a:pt x="1939" y="491"/>
                    <a:pt x="1940" y="477"/>
                    <a:pt x="1933" y="467"/>
                  </a:cubicBezTo>
                  <a:cubicBezTo>
                    <a:pt x="1891" y="418"/>
                    <a:pt x="1830" y="389"/>
                    <a:pt x="1765" y="389"/>
                  </a:cubicBezTo>
                  <a:cubicBezTo>
                    <a:pt x="1700" y="389"/>
                    <a:pt x="1639" y="418"/>
                    <a:pt x="1598" y="467"/>
                  </a:cubicBezTo>
                  <a:cubicBezTo>
                    <a:pt x="1590" y="477"/>
                    <a:pt x="1591" y="491"/>
                    <a:pt x="1600" y="498"/>
                  </a:cubicBezTo>
                  <a:cubicBezTo>
                    <a:pt x="1610" y="506"/>
                    <a:pt x="1624" y="505"/>
                    <a:pt x="1631" y="496"/>
                  </a:cubicBezTo>
                  <a:cubicBezTo>
                    <a:pt x="1665" y="456"/>
                    <a:pt x="1713" y="433"/>
                    <a:pt x="1765" y="433"/>
                  </a:cubicBezTo>
                  <a:cubicBezTo>
                    <a:pt x="1817" y="433"/>
                    <a:pt x="1866" y="456"/>
                    <a:pt x="1899" y="496"/>
                  </a:cubicBezTo>
                  <a:cubicBezTo>
                    <a:pt x="1903" y="501"/>
                    <a:pt x="1910" y="503"/>
                    <a:pt x="1916" y="503"/>
                  </a:cubicBezTo>
                  <a:cubicBezTo>
                    <a:pt x="1921" y="503"/>
                    <a:pt x="1926" y="502"/>
                    <a:pt x="1930" y="498"/>
                  </a:cubicBezTo>
                  <a:close/>
                  <a:moveTo>
                    <a:pt x="760" y="304"/>
                  </a:moveTo>
                  <a:cubicBezTo>
                    <a:pt x="769" y="296"/>
                    <a:pt x="770" y="282"/>
                    <a:pt x="762" y="273"/>
                  </a:cubicBezTo>
                  <a:cubicBezTo>
                    <a:pt x="721" y="223"/>
                    <a:pt x="660" y="195"/>
                    <a:pt x="595" y="195"/>
                  </a:cubicBezTo>
                  <a:cubicBezTo>
                    <a:pt x="530" y="195"/>
                    <a:pt x="469" y="223"/>
                    <a:pt x="427" y="273"/>
                  </a:cubicBezTo>
                  <a:cubicBezTo>
                    <a:pt x="420" y="282"/>
                    <a:pt x="421" y="296"/>
                    <a:pt x="430" y="304"/>
                  </a:cubicBezTo>
                  <a:cubicBezTo>
                    <a:pt x="439" y="312"/>
                    <a:pt x="453" y="310"/>
                    <a:pt x="461" y="301"/>
                  </a:cubicBezTo>
                  <a:cubicBezTo>
                    <a:pt x="494" y="262"/>
                    <a:pt x="543" y="239"/>
                    <a:pt x="595" y="239"/>
                  </a:cubicBezTo>
                  <a:cubicBezTo>
                    <a:pt x="647" y="239"/>
                    <a:pt x="695" y="262"/>
                    <a:pt x="729" y="301"/>
                  </a:cubicBezTo>
                  <a:cubicBezTo>
                    <a:pt x="733" y="306"/>
                    <a:pt x="739" y="309"/>
                    <a:pt x="746" y="309"/>
                  </a:cubicBezTo>
                  <a:cubicBezTo>
                    <a:pt x="751" y="309"/>
                    <a:pt x="756" y="307"/>
                    <a:pt x="760" y="304"/>
                  </a:cubicBezTo>
                  <a:close/>
                  <a:moveTo>
                    <a:pt x="1228" y="304"/>
                  </a:moveTo>
                  <a:cubicBezTo>
                    <a:pt x="1237" y="296"/>
                    <a:pt x="1238" y="282"/>
                    <a:pt x="1230" y="273"/>
                  </a:cubicBezTo>
                  <a:cubicBezTo>
                    <a:pt x="1189" y="223"/>
                    <a:pt x="1128" y="195"/>
                    <a:pt x="1063" y="195"/>
                  </a:cubicBezTo>
                  <a:cubicBezTo>
                    <a:pt x="998" y="195"/>
                    <a:pt x="937" y="223"/>
                    <a:pt x="896" y="273"/>
                  </a:cubicBezTo>
                  <a:cubicBezTo>
                    <a:pt x="888" y="282"/>
                    <a:pt x="889" y="296"/>
                    <a:pt x="898" y="304"/>
                  </a:cubicBezTo>
                  <a:cubicBezTo>
                    <a:pt x="908" y="312"/>
                    <a:pt x="921" y="310"/>
                    <a:pt x="929" y="301"/>
                  </a:cubicBezTo>
                  <a:cubicBezTo>
                    <a:pt x="963" y="262"/>
                    <a:pt x="1011" y="239"/>
                    <a:pt x="1063" y="239"/>
                  </a:cubicBezTo>
                  <a:cubicBezTo>
                    <a:pt x="1115" y="239"/>
                    <a:pt x="1163" y="262"/>
                    <a:pt x="1197" y="301"/>
                  </a:cubicBezTo>
                  <a:cubicBezTo>
                    <a:pt x="1201" y="306"/>
                    <a:pt x="1207" y="309"/>
                    <a:pt x="1214" y="309"/>
                  </a:cubicBezTo>
                  <a:cubicBezTo>
                    <a:pt x="1219" y="309"/>
                    <a:pt x="1224" y="307"/>
                    <a:pt x="1228" y="304"/>
                  </a:cubicBezTo>
                  <a:close/>
                  <a:moveTo>
                    <a:pt x="1696" y="304"/>
                  </a:moveTo>
                  <a:cubicBezTo>
                    <a:pt x="1705" y="296"/>
                    <a:pt x="1706" y="282"/>
                    <a:pt x="1699" y="273"/>
                  </a:cubicBezTo>
                  <a:cubicBezTo>
                    <a:pt x="1657" y="223"/>
                    <a:pt x="1596" y="195"/>
                    <a:pt x="1531" y="195"/>
                  </a:cubicBezTo>
                  <a:cubicBezTo>
                    <a:pt x="1466" y="195"/>
                    <a:pt x="1405" y="223"/>
                    <a:pt x="1364" y="273"/>
                  </a:cubicBezTo>
                  <a:cubicBezTo>
                    <a:pt x="1356" y="282"/>
                    <a:pt x="1357" y="296"/>
                    <a:pt x="1366" y="304"/>
                  </a:cubicBezTo>
                  <a:cubicBezTo>
                    <a:pt x="1376" y="312"/>
                    <a:pt x="1389" y="310"/>
                    <a:pt x="1397" y="301"/>
                  </a:cubicBezTo>
                  <a:cubicBezTo>
                    <a:pt x="1431" y="262"/>
                    <a:pt x="1479" y="239"/>
                    <a:pt x="1531" y="239"/>
                  </a:cubicBezTo>
                  <a:cubicBezTo>
                    <a:pt x="1583" y="239"/>
                    <a:pt x="1632" y="262"/>
                    <a:pt x="1665" y="301"/>
                  </a:cubicBezTo>
                  <a:cubicBezTo>
                    <a:pt x="1669" y="306"/>
                    <a:pt x="1675" y="309"/>
                    <a:pt x="1682" y="309"/>
                  </a:cubicBezTo>
                  <a:cubicBezTo>
                    <a:pt x="1687" y="309"/>
                    <a:pt x="1692" y="307"/>
                    <a:pt x="1696" y="304"/>
                  </a:cubicBezTo>
                  <a:close/>
                  <a:moveTo>
                    <a:pt x="994" y="109"/>
                  </a:moveTo>
                  <a:cubicBezTo>
                    <a:pt x="1003" y="101"/>
                    <a:pt x="1004" y="88"/>
                    <a:pt x="996" y="78"/>
                  </a:cubicBezTo>
                  <a:cubicBezTo>
                    <a:pt x="955" y="29"/>
                    <a:pt x="894" y="0"/>
                    <a:pt x="829" y="0"/>
                  </a:cubicBezTo>
                  <a:cubicBezTo>
                    <a:pt x="764" y="0"/>
                    <a:pt x="703" y="29"/>
                    <a:pt x="661" y="78"/>
                  </a:cubicBezTo>
                  <a:cubicBezTo>
                    <a:pt x="654" y="88"/>
                    <a:pt x="655" y="101"/>
                    <a:pt x="664" y="109"/>
                  </a:cubicBezTo>
                  <a:cubicBezTo>
                    <a:pt x="673" y="117"/>
                    <a:pt x="687" y="116"/>
                    <a:pt x="695" y="107"/>
                  </a:cubicBezTo>
                  <a:cubicBezTo>
                    <a:pt x="728" y="67"/>
                    <a:pt x="777" y="44"/>
                    <a:pt x="829" y="44"/>
                  </a:cubicBezTo>
                  <a:cubicBezTo>
                    <a:pt x="881" y="44"/>
                    <a:pt x="929" y="67"/>
                    <a:pt x="963" y="107"/>
                  </a:cubicBezTo>
                  <a:cubicBezTo>
                    <a:pt x="967" y="112"/>
                    <a:pt x="973" y="114"/>
                    <a:pt x="980" y="114"/>
                  </a:cubicBezTo>
                  <a:cubicBezTo>
                    <a:pt x="985" y="114"/>
                    <a:pt x="990" y="113"/>
                    <a:pt x="994" y="109"/>
                  </a:cubicBezTo>
                  <a:close/>
                  <a:moveTo>
                    <a:pt x="1462" y="109"/>
                  </a:moveTo>
                  <a:cubicBezTo>
                    <a:pt x="1471" y="101"/>
                    <a:pt x="1472" y="88"/>
                    <a:pt x="1465" y="78"/>
                  </a:cubicBezTo>
                  <a:cubicBezTo>
                    <a:pt x="1423" y="29"/>
                    <a:pt x="1362" y="0"/>
                    <a:pt x="1297" y="0"/>
                  </a:cubicBezTo>
                  <a:cubicBezTo>
                    <a:pt x="1232" y="0"/>
                    <a:pt x="1171" y="29"/>
                    <a:pt x="1130" y="78"/>
                  </a:cubicBezTo>
                  <a:cubicBezTo>
                    <a:pt x="1122" y="88"/>
                    <a:pt x="1123" y="101"/>
                    <a:pt x="1132" y="109"/>
                  </a:cubicBezTo>
                  <a:cubicBezTo>
                    <a:pt x="1142" y="117"/>
                    <a:pt x="1155" y="116"/>
                    <a:pt x="1163" y="107"/>
                  </a:cubicBezTo>
                  <a:cubicBezTo>
                    <a:pt x="1197" y="67"/>
                    <a:pt x="1245" y="44"/>
                    <a:pt x="1297" y="44"/>
                  </a:cubicBezTo>
                  <a:cubicBezTo>
                    <a:pt x="1349" y="44"/>
                    <a:pt x="1398" y="67"/>
                    <a:pt x="1431" y="107"/>
                  </a:cubicBezTo>
                  <a:cubicBezTo>
                    <a:pt x="1435" y="112"/>
                    <a:pt x="1441" y="114"/>
                    <a:pt x="1448" y="114"/>
                  </a:cubicBezTo>
                  <a:cubicBezTo>
                    <a:pt x="1453" y="114"/>
                    <a:pt x="1458" y="113"/>
                    <a:pt x="1462" y="109"/>
                  </a:cubicBezTo>
                  <a:close/>
                  <a:moveTo>
                    <a:pt x="2060" y="662"/>
                  </a:moveTo>
                  <a:cubicBezTo>
                    <a:pt x="2018" y="612"/>
                    <a:pt x="1957" y="584"/>
                    <a:pt x="1893" y="584"/>
                  </a:cubicBezTo>
                  <a:cubicBezTo>
                    <a:pt x="1839" y="584"/>
                    <a:pt x="1788" y="603"/>
                    <a:pt x="1749" y="638"/>
                  </a:cubicBezTo>
                  <a:cubicBezTo>
                    <a:pt x="1760" y="647"/>
                    <a:pt x="1771" y="657"/>
                    <a:pt x="1781" y="667"/>
                  </a:cubicBezTo>
                  <a:cubicBezTo>
                    <a:pt x="1781" y="667"/>
                    <a:pt x="1781" y="668"/>
                    <a:pt x="1781" y="668"/>
                  </a:cubicBezTo>
                  <a:cubicBezTo>
                    <a:pt x="1813" y="642"/>
                    <a:pt x="1852" y="628"/>
                    <a:pt x="1893" y="628"/>
                  </a:cubicBezTo>
                  <a:cubicBezTo>
                    <a:pt x="1944" y="628"/>
                    <a:pt x="1993" y="651"/>
                    <a:pt x="2026" y="690"/>
                  </a:cubicBezTo>
                  <a:cubicBezTo>
                    <a:pt x="2031" y="695"/>
                    <a:pt x="2037" y="698"/>
                    <a:pt x="2043" y="698"/>
                  </a:cubicBezTo>
                  <a:cubicBezTo>
                    <a:pt x="2048" y="698"/>
                    <a:pt x="2053" y="696"/>
                    <a:pt x="2057" y="693"/>
                  </a:cubicBezTo>
                  <a:cubicBezTo>
                    <a:pt x="2067" y="685"/>
                    <a:pt x="2068" y="671"/>
                    <a:pt x="2060" y="662"/>
                  </a:cubicBezTo>
                  <a:close/>
                  <a:moveTo>
                    <a:pt x="377" y="638"/>
                  </a:moveTo>
                  <a:cubicBezTo>
                    <a:pt x="338" y="603"/>
                    <a:pt x="287" y="584"/>
                    <a:pt x="233" y="584"/>
                  </a:cubicBezTo>
                  <a:cubicBezTo>
                    <a:pt x="169" y="584"/>
                    <a:pt x="108" y="612"/>
                    <a:pt x="66" y="662"/>
                  </a:cubicBezTo>
                  <a:cubicBezTo>
                    <a:pt x="58" y="671"/>
                    <a:pt x="59" y="685"/>
                    <a:pt x="69" y="693"/>
                  </a:cubicBezTo>
                  <a:cubicBezTo>
                    <a:pt x="78" y="701"/>
                    <a:pt x="92" y="699"/>
                    <a:pt x="100" y="690"/>
                  </a:cubicBezTo>
                  <a:cubicBezTo>
                    <a:pt x="133" y="651"/>
                    <a:pt x="182" y="628"/>
                    <a:pt x="233" y="628"/>
                  </a:cubicBezTo>
                  <a:cubicBezTo>
                    <a:pt x="274" y="628"/>
                    <a:pt x="313" y="642"/>
                    <a:pt x="344" y="667"/>
                  </a:cubicBezTo>
                  <a:cubicBezTo>
                    <a:pt x="355" y="657"/>
                    <a:pt x="366" y="647"/>
                    <a:pt x="377" y="638"/>
                  </a:cubicBezTo>
                  <a:close/>
                  <a:moveTo>
                    <a:pt x="2052" y="1567"/>
                  </a:moveTo>
                  <a:cubicBezTo>
                    <a:pt x="2030" y="1534"/>
                    <a:pt x="2004" y="1506"/>
                    <a:pt x="1974" y="1492"/>
                  </a:cubicBezTo>
                  <a:cubicBezTo>
                    <a:pt x="1885" y="1451"/>
                    <a:pt x="1720" y="1449"/>
                    <a:pt x="1720" y="1449"/>
                  </a:cubicBezTo>
                  <a:cubicBezTo>
                    <a:pt x="1720" y="1449"/>
                    <a:pt x="1614" y="1537"/>
                    <a:pt x="1533" y="1602"/>
                  </a:cubicBezTo>
                  <a:cubicBezTo>
                    <a:pt x="1530" y="1604"/>
                    <a:pt x="1527" y="1604"/>
                    <a:pt x="1524" y="1602"/>
                  </a:cubicBezTo>
                  <a:cubicBezTo>
                    <a:pt x="1464" y="1555"/>
                    <a:pt x="1337" y="1449"/>
                    <a:pt x="1337" y="1449"/>
                  </a:cubicBezTo>
                  <a:cubicBezTo>
                    <a:pt x="1337" y="1449"/>
                    <a:pt x="1197" y="1451"/>
                    <a:pt x="1105" y="1483"/>
                  </a:cubicBezTo>
                  <a:cubicBezTo>
                    <a:pt x="1123" y="1499"/>
                    <a:pt x="1139" y="1519"/>
                    <a:pt x="1155" y="1543"/>
                  </a:cubicBezTo>
                  <a:cubicBezTo>
                    <a:pt x="1208" y="1621"/>
                    <a:pt x="1235" y="1714"/>
                    <a:pt x="1235" y="1811"/>
                  </a:cubicBezTo>
                  <a:cubicBezTo>
                    <a:pt x="1235" y="1814"/>
                    <a:pt x="1235" y="1814"/>
                    <a:pt x="1235" y="1814"/>
                  </a:cubicBezTo>
                  <a:cubicBezTo>
                    <a:pt x="1235" y="1821"/>
                    <a:pt x="1234" y="1829"/>
                    <a:pt x="1231" y="1836"/>
                  </a:cubicBezTo>
                  <a:cubicBezTo>
                    <a:pt x="2102" y="1836"/>
                    <a:pt x="2102" y="1836"/>
                    <a:pt x="2102" y="1836"/>
                  </a:cubicBezTo>
                  <a:cubicBezTo>
                    <a:pt x="2114" y="1836"/>
                    <a:pt x="2124" y="1826"/>
                    <a:pt x="2124" y="1814"/>
                  </a:cubicBezTo>
                  <a:cubicBezTo>
                    <a:pt x="2124" y="1811"/>
                    <a:pt x="2124" y="1811"/>
                    <a:pt x="2124" y="1811"/>
                  </a:cubicBezTo>
                  <a:cubicBezTo>
                    <a:pt x="2124" y="1724"/>
                    <a:pt x="2100" y="1639"/>
                    <a:pt x="2052" y="1567"/>
                  </a:cubicBezTo>
                  <a:close/>
                  <a:moveTo>
                    <a:pt x="1191" y="1811"/>
                  </a:moveTo>
                  <a:cubicBezTo>
                    <a:pt x="1191" y="1724"/>
                    <a:pt x="1167" y="1639"/>
                    <a:pt x="1119" y="1567"/>
                  </a:cubicBezTo>
                  <a:cubicBezTo>
                    <a:pt x="1097" y="1534"/>
                    <a:pt x="1071" y="1506"/>
                    <a:pt x="1042" y="1492"/>
                  </a:cubicBezTo>
                  <a:cubicBezTo>
                    <a:pt x="952" y="1451"/>
                    <a:pt x="787" y="1449"/>
                    <a:pt x="787" y="1449"/>
                  </a:cubicBezTo>
                  <a:cubicBezTo>
                    <a:pt x="787" y="1449"/>
                    <a:pt x="787" y="1449"/>
                    <a:pt x="787" y="1449"/>
                  </a:cubicBezTo>
                  <a:cubicBezTo>
                    <a:pt x="787" y="1449"/>
                    <a:pt x="722" y="1541"/>
                    <a:pt x="592" y="1541"/>
                  </a:cubicBezTo>
                  <a:cubicBezTo>
                    <a:pt x="599" y="1541"/>
                    <a:pt x="599" y="1541"/>
                    <a:pt x="599" y="1541"/>
                  </a:cubicBezTo>
                  <a:cubicBezTo>
                    <a:pt x="469" y="1541"/>
                    <a:pt x="404" y="1449"/>
                    <a:pt x="404" y="1449"/>
                  </a:cubicBezTo>
                  <a:cubicBezTo>
                    <a:pt x="404" y="1449"/>
                    <a:pt x="404" y="1449"/>
                    <a:pt x="404" y="1449"/>
                  </a:cubicBezTo>
                  <a:cubicBezTo>
                    <a:pt x="404" y="1449"/>
                    <a:pt x="239" y="1451"/>
                    <a:pt x="150" y="1492"/>
                  </a:cubicBezTo>
                  <a:cubicBezTo>
                    <a:pt x="120" y="1506"/>
                    <a:pt x="94" y="1534"/>
                    <a:pt x="72" y="1567"/>
                  </a:cubicBezTo>
                  <a:cubicBezTo>
                    <a:pt x="24" y="1639"/>
                    <a:pt x="0" y="1724"/>
                    <a:pt x="0" y="1811"/>
                  </a:cubicBezTo>
                  <a:cubicBezTo>
                    <a:pt x="0" y="1814"/>
                    <a:pt x="0" y="1814"/>
                    <a:pt x="0" y="1814"/>
                  </a:cubicBezTo>
                  <a:cubicBezTo>
                    <a:pt x="0" y="1826"/>
                    <a:pt x="10" y="1836"/>
                    <a:pt x="22" y="1836"/>
                  </a:cubicBezTo>
                  <a:cubicBezTo>
                    <a:pt x="1169" y="1836"/>
                    <a:pt x="1169" y="1836"/>
                    <a:pt x="1169" y="1836"/>
                  </a:cubicBezTo>
                  <a:cubicBezTo>
                    <a:pt x="1181" y="1836"/>
                    <a:pt x="1191" y="1826"/>
                    <a:pt x="1191" y="1814"/>
                  </a:cubicBezTo>
                  <a:lnTo>
                    <a:pt x="1191" y="1811"/>
                  </a:lnTo>
                  <a:close/>
                  <a:moveTo>
                    <a:pt x="1228" y="693"/>
                  </a:moveTo>
                  <a:cubicBezTo>
                    <a:pt x="1237" y="685"/>
                    <a:pt x="1238" y="671"/>
                    <a:pt x="1230" y="662"/>
                  </a:cubicBezTo>
                  <a:cubicBezTo>
                    <a:pt x="1189" y="612"/>
                    <a:pt x="1128" y="584"/>
                    <a:pt x="1063" y="584"/>
                  </a:cubicBezTo>
                  <a:cubicBezTo>
                    <a:pt x="998" y="584"/>
                    <a:pt x="937" y="612"/>
                    <a:pt x="896" y="662"/>
                  </a:cubicBezTo>
                  <a:cubicBezTo>
                    <a:pt x="888" y="671"/>
                    <a:pt x="889" y="685"/>
                    <a:pt x="898" y="693"/>
                  </a:cubicBezTo>
                  <a:cubicBezTo>
                    <a:pt x="908" y="701"/>
                    <a:pt x="921" y="699"/>
                    <a:pt x="929" y="690"/>
                  </a:cubicBezTo>
                  <a:cubicBezTo>
                    <a:pt x="963" y="651"/>
                    <a:pt x="1011" y="628"/>
                    <a:pt x="1063" y="628"/>
                  </a:cubicBezTo>
                  <a:cubicBezTo>
                    <a:pt x="1115" y="628"/>
                    <a:pt x="1163" y="651"/>
                    <a:pt x="1197" y="690"/>
                  </a:cubicBezTo>
                  <a:cubicBezTo>
                    <a:pt x="1201" y="695"/>
                    <a:pt x="1207" y="698"/>
                    <a:pt x="1214" y="698"/>
                  </a:cubicBezTo>
                  <a:cubicBezTo>
                    <a:pt x="1219" y="698"/>
                    <a:pt x="1224" y="696"/>
                    <a:pt x="1228" y="693"/>
                  </a:cubicBezTo>
                  <a:close/>
                  <a:moveTo>
                    <a:pt x="1255" y="1157"/>
                  </a:moveTo>
                  <a:cubicBezTo>
                    <a:pt x="1275" y="1207"/>
                    <a:pt x="1328" y="1336"/>
                    <a:pt x="1356" y="1362"/>
                  </a:cubicBezTo>
                  <a:cubicBezTo>
                    <a:pt x="1358" y="1363"/>
                    <a:pt x="1361" y="1365"/>
                    <a:pt x="1363" y="1367"/>
                  </a:cubicBezTo>
                  <a:cubicBezTo>
                    <a:pt x="1363" y="1414"/>
                    <a:pt x="1363" y="1414"/>
                    <a:pt x="1363" y="1414"/>
                  </a:cubicBezTo>
                  <a:cubicBezTo>
                    <a:pt x="1365" y="1415"/>
                    <a:pt x="1365" y="1415"/>
                    <a:pt x="1365" y="1415"/>
                  </a:cubicBezTo>
                  <a:cubicBezTo>
                    <a:pt x="1365" y="1416"/>
                    <a:pt x="1383" y="1430"/>
                    <a:pt x="1407" y="1450"/>
                  </a:cubicBezTo>
                  <a:cubicBezTo>
                    <a:pt x="1407" y="1399"/>
                    <a:pt x="1407" y="1399"/>
                    <a:pt x="1407" y="1399"/>
                  </a:cubicBezTo>
                  <a:cubicBezTo>
                    <a:pt x="1444" y="1422"/>
                    <a:pt x="1492" y="1445"/>
                    <a:pt x="1528" y="1445"/>
                  </a:cubicBezTo>
                  <a:cubicBezTo>
                    <a:pt x="1565" y="1445"/>
                    <a:pt x="1613" y="1422"/>
                    <a:pt x="1649" y="1399"/>
                  </a:cubicBezTo>
                  <a:cubicBezTo>
                    <a:pt x="1649" y="1450"/>
                    <a:pt x="1649" y="1450"/>
                    <a:pt x="1649" y="1450"/>
                  </a:cubicBezTo>
                  <a:cubicBezTo>
                    <a:pt x="1675" y="1430"/>
                    <a:pt x="1692" y="1415"/>
                    <a:pt x="1692" y="1415"/>
                  </a:cubicBezTo>
                  <a:cubicBezTo>
                    <a:pt x="1693" y="1414"/>
                    <a:pt x="1693" y="1414"/>
                    <a:pt x="1693" y="1414"/>
                  </a:cubicBezTo>
                  <a:cubicBezTo>
                    <a:pt x="1693" y="1368"/>
                    <a:pt x="1693" y="1368"/>
                    <a:pt x="1693" y="1368"/>
                  </a:cubicBezTo>
                  <a:cubicBezTo>
                    <a:pt x="1696" y="1365"/>
                    <a:pt x="1699" y="1363"/>
                    <a:pt x="1701" y="1362"/>
                  </a:cubicBezTo>
                  <a:cubicBezTo>
                    <a:pt x="1729" y="1336"/>
                    <a:pt x="1782" y="1207"/>
                    <a:pt x="1802" y="1157"/>
                  </a:cubicBezTo>
                  <a:cubicBezTo>
                    <a:pt x="1837" y="1135"/>
                    <a:pt x="1846" y="1097"/>
                    <a:pt x="1849" y="1081"/>
                  </a:cubicBezTo>
                  <a:cubicBezTo>
                    <a:pt x="1849" y="1079"/>
                    <a:pt x="1849" y="1078"/>
                    <a:pt x="1849" y="1076"/>
                  </a:cubicBezTo>
                  <a:cubicBezTo>
                    <a:pt x="1796" y="1101"/>
                    <a:pt x="1796" y="1101"/>
                    <a:pt x="1796" y="1101"/>
                  </a:cubicBezTo>
                  <a:cubicBezTo>
                    <a:pt x="1791" y="1109"/>
                    <a:pt x="1784" y="1117"/>
                    <a:pt x="1774" y="1122"/>
                  </a:cubicBezTo>
                  <a:cubicBezTo>
                    <a:pt x="1769" y="1124"/>
                    <a:pt x="1766" y="1129"/>
                    <a:pt x="1764" y="1134"/>
                  </a:cubicBezTo>
                  <a:cubicBezTo>
                    <a:pt x="1731" y="1217"/>
                    <a:pt x="1687" y="1315"/>
                    <a:pt x="1671" y="1329"/>
                  </a:cubicBezTo>
                  <a:cubicBezTo>
                    <a:pt x="1644" y="1353"/>
                    <a:pt x="1568" y="1401"/>
                    <a:pt x="1528" y="1401"/>
                  </a:cubicBezTo>
                  <a:cubicBezTo>
                    <a:pt x="1489" y="1401"/>
                    <a:pt x="1413" y="1353"/>
                    <a:pt x="1385" y="1329"/>
                  </a:cubicBezTo>
                  <a:cubicBezTo>
                    <a:pt x="1370" y="1315"/>
                    <a:pt x="1326" y="1217"/>
                    <a:pt x="1293" y="1134"/>
                  </a:cubicBezTo>
                  <a:cubicBezTo>
                    <a:pt x="1291" y="1129"/>
                    <a:pt x="1287" y="1124"/>
                    <a:pt x="1283" y="1122"/>
                  </a:cubicBezTo>
                  <a:cubicBezTo>
                    <a:pt x="1273" y="1117"/>
                    <a:pt x="1266" y="1109"/>
                    <a:pt x="1261" y="1101"/>
                  </a:cubicBezTo>
                  <a:cubicBezTo>
                    <a:pt x="1208" y="1076"/>
                    <a:pt x="1208" y="1076"/>
                    <a:pt x="1208" y="1076"/>
                  </a:cubicBezTo>
                  <a:cubicBezTo>
                    <a:pt x="1208" y="1078"/>
                    <a:pt x="1208" y="1080"/>
                    <a:pt x="1208" y="1083"/>
                  </a:cubicBezTo>
                  <a:cubicBezTo>
                    <a:pt x="1212" y="1102"/>
                    <a:pt x="1222" y="1136"/>
                    <a:pt x="1255" y="1157"/>
                  </a:cubicBezTo>
                  <a:close/>
                  <a:moveTo>
                    <a:pt x="322" y="1157"/>
                  </a:moveTo>
                  <a:cubicBezTo>
                    <a:pt x="342" y="1207"/>
                    <a:pt x="395" y="1336"/>
                    <a:pt x="423" y="1362"/>
                  </a:cubicBezTo>
                  <a:cubicBezTo>
                    <a:pt x="425" y="1363"/>
                    <a:pt x="428" y="1365"/>
                    <a:pt x="431" y="1368"/>
                  </a:cubicBezTo>
                  <a:cubicBezTo>
                    <a:pt x="431" y="1411"/>
                    <a:pt x="431" y="1411"/>
                    <a:pt x="431" y="1411"/>
                  </a:cubicBezTo>
                  <a:cubicBezTo>
                    <a:pt x="440" y="1423"/>
                    <a:pt x="440" y="1423"/>
                    <a:pt x="440" y="1423"/>
                  </a:cubicBezTo>
                  <a:cubicBezTo>
                    <a:pt x="441" y="1425"/>
                    <a:pt x="452" y="1440"/>
                    <a:pt x="475" y="1457"/>
                  </a:cubicBezTo>
                  <a:cubicBezTo>
                    <a:pt x="475" y="1399"/>
                    <a:pt x="475" y="1399"/>
                    <a:pt x="475" y="1399"/>
                  </a:cubicBezTo>
                  <a:cubicBezTo>
                    <a:pt x="511" y="1422"/>
                    <a:pt x="559" y="1445"/>
                    <a:pt x="595" y="1445"/>
                  </a:cubicBezTo>
                  <a:cubicBezTo>
                    <a:pt x="632" y="1445"/>
                    <a:pt x="680" y="1422"/>
                    <a:pt x="717" y="1399"/>
                  </a:cubicBezTo>
                  <a:cubicBezTo>
                    <a:pt x="717" y="1457"/>
                    <a:pt x="717" y="1457"/>
                    <a:pt x="717" y="1457"/>
                  </a:cubicBezTo>
                  <a:cubicBezTo>
                    <a:pt x="740" y="1440"/>
                    <a:pt x="751" y="1424"/>
                    <a:pt x="751" y="1423"/>
                  </a:cubicBezTo>
                  <a:cubicBezTo>
                    <a:pt x="761" y="1411"/>
                    <a:pt x="761" y="1411"/>
                    <a:pt x="761" y="1411"/>
                  </a:cubicBezTo>
                  <a:cubicBezTo>
                    <a:pt x="761" y="1367"/>
                    <a:pt x="761" y="1367"/>
                    <a:pt x="761" y="1367"/>
                  </a:cubicBezTo>
                  <a:cubicBezTo>
                    <a:pt x="763" y="1365"/>
                    <a:pt x="766" y="1363"/>
                    <a:pt x="768" y="1362"/>
                  </a:cubicBezTo>
                  <a:cubicBezTo>
                    <a:pt x="796" y="1336"/>
                    <a:pt x="849" y="1207"/>
                    <a:pt x="869" y="1157"/>
                  </a:cubicBezTo>
                  <a:cubicBezTo>
                    <a:pt x="904" y="1135"/>
                    <a:pt x="913" y="1097"/>
                    <a:pt x="916" y="1081"/>
                  </a:cubicBezTo>
                  <a:cubicBezTo>
                    <a:pt x="916" y="1079"/>
                    <a:pt x="916" y="1078"/>
                    <a:pt x="916" y="1076"/>
                  </a:cubicBezTo>
                  <a:cubicBezTo>
                    <a:pt x="863" y="1101"/>
                    <a:pt x="863" y="1101"/>
                    <a:pt x="863" y="1101"/>
                  </a:cubicBezTo>
                  <a:cubicBezTo>
                    <a:pt x="858" y="1109"/>
                    <a:pt x="851" y="1117"/>
                    <a:pt x="841" y="1122"/>
                  </a:cubicBezTo>
                  <a:cubicBezTo>
                    <a:pt x="836" y="1124"/>
                    <a:pt x="833" y="1129"/>
                    <a:pt x="831" y="1134"/>
                  </a:cubicBezTo>
                  <a:cubicBezTo>
                    <a:pt x="798" y="1217"/>
                    <a:pt x="754" y="1315"/>
                    <a:pt x="738" y="1329"/>
                  </a:cubicBezTo>
                  <a:cubicBezTo>
                    <a:pt x="711" y="1353"/>
                    <a:pt x="635" y="1401"/>
                    <a:pt x="595" y="1401"/>
                  </a:cubicBezTo>
                  <a:cubicBezTo>
                    <a:pt x="556" y="1401"/>
                    <a:pt x="480" y="1353"/>
                    <a:pt x="452" y="1329"/>
                  </a:cubicBezTo>
                  <a:cubicBezTo>
                    <a:pt x="437" y="1315"/>
                    <a:pt x="393" y="1217"/>
                    <a:pt x="360" y="1134"/>
                  </a:cubicBezTo>
                  <a:cubicBezTo>
                    <a:pt x="358" y="1129"/>
                    <a:pt x="354" y="1124"/>
                    <a:pt x="350" y="1122"/>
                  </a:cubicBezTo>
                  <a:cubicBezTo>
                    <a:pt x="339" y="1117"/>
                    <a:pt x="333" y="1109"/>
                    <a:pt x="328" y="1101"/>
                  </a:cubicBezTo>
                  <a:cubicBezTo>
                    <a:pt x="275" y="1076"/>
                    <a:pt x="275" y="1076"/>
                    <a:pt x="275" y="1076"/>
                  </a:cubicBezTo>
                  <a:cubicBezTo>
                    <a:pt x="275" y="1078"/>
                    <a:pt x="275" y="1080"/>
                    <a:pt x="275" y="1083"/>
                  </a:cubicBezTo>
                  <a:cubicBezTo>
                    <a:pt x="279" y="1102"/>
                    <a:pt x="289" y="1136"/>
                    <a:pt x="322" y="11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 name="Freeform 21">
              <a:extLst>
                <a:ext uri="{FF2B5EF4-FFF2-40B4-BE49-F238E27FC236}">
                  <a16:creationId xmlns:a16="http://schemas.microsoft.com/office/drawing/2014/main" id="{9A32768F-1F7B-41E4-AD1E-05F5E20985B3}"/>
                </a:ext>
              </a:extLst>
            </p:cNvPr>
            <p:cNvSpPr>
              <a:spLocks noEditPoints="1"/>
            </p:cNvSpPr>
            <p:nvPr/>
          </p:nvSpPr>
          <p:spPr bwMode="auto">
            <a:xfrm>
              <a:off x="2383" y="1568"/>
              <a:ext cx="3019" cy="1511"/>
            </a:xfrm>
            <a:custGeom>
              <a:avLst/>
              <a:gdLst>
                <a:gd name="T0" fmla="*/ 1542 w 1612"/>
                <a:gd name="T1" fmla="*/ 422 h 806"/>
                <a:gd name="T2" fmla="*/ 1542 w 1612"/>
                <a:gd name="T3" fmla="*/ 421 h 806"/>
                <a:gd name="T4" fmla="*/ 1508 w 1612"/>
                <a:gd name="T5" fmla="*/ 469 h 806"/>
                <a:gd name="T6" fmla="*/ 1505 w 1612"/>
                <a:gd name="T7" fmla="*/ 470 h 806"/>
                <a:gd name="T8" fmla="*/ 1485 w 1612"/>
                <a:gd name="T9" fmla="*/ 470 h 806"/>
                <a:gd name="T10" fmla="*/ 1483 w 1612"/>
                <a:gd name="T11" fmla="*/ 470 h 806"/>
                <a:gd name="T12" fmla="*/ 1074 w 1612"/>
                <a:gd name="T13" fmla="*/ 253 h 806"/>
                <a:gd name="T14" fmla="*/ 1070 w 1612"/>
                <a:gd name="T15" fmla="*/ 253 h 806"/>
                <a:gd name="T16" fmla="*/ 949 w 1612"/>
                <a:gd name="T17" fmla="*/ 445 h 806"/>
                <a:gd name="T18" fmla="*/ 949 w 1612"/>
                <a:gd name="T19" fmla="*/ 444 h 806"/>
                <a:gd name="T20" fmla="*/ 932 w 1612"/>
                <a:gd name="T21" fmla="*/ 315 h 806"/>
                <a:gd name="T22" fmla="*/ 1242 w 1612"/>
                <a:gd name="T23" fmla="*/ 0 h 806"/>
                <a:gd name="T24" fmla="*/ 1553 w 1612"/>
                <a:gd name="T25" fmla="*/ 315 h 806"/>
                <a:gd name="T26" fmla="*/ 1542 w 1612"/>
                <a:gd name="T27" fmla="*/ 422 h 806"/>
                <a:gd name="T28" fmla="*/ 619 w 1612"/>
                <a:gd name="T29" fmla="*/ 317 h 806"/>
                <a:gd name="T30" fmla="*/ 310 w 1612"/>
                <a:gd name="T31" fmla="*/ 0 h 806"/>
                <a:gd name="T32" fmla="*/ 0 w 1612"/>
                <a:gd name="T33" fmla="*/ 317 h 806"/>
                <a:gd name="T34" fmla="*/ 12 w 1612"/>
                <a:gd name="T35" fmla="*/ 427 h 806"/>
                <a:gd name="T36" fmla="*/ 12 w 1612"/>
                <a:gd name="T37" fmla="*/ 428 h 806"/>
                <a:gd name="T38" fmla="*/ 43 w 1612"/>
                <a:gd name="T39" fmla="*/ 467 h 806"/>
                <a:gd name="T40" fmla="*/ 64 w 1612"/>
                <a:gd name="T41" fmla="*/ 469 h 806"/>
                <a:gd name="T42" fmla="*/ 140 w 1612"/>
                <a:gd name="T43" fmla="*/ 254 h 806"/>
                <a:gd name="T44" fmla="*/ 547 w 1612"/>
                <a:gd name="T45" fmla="*/ 240 h 806"/>
                <a:gd name="T46" fmla="*/ 550 w 1612"/>
                <a:gd name="T47" fmla="*/ 473 h 806"/>
                <a:gd name="T48" fmla="*/ 573 w 1612"/>
                <a:gd name="T49" fmla="*/ 473 h 806"/>
                <a:gd name="T50" fmla="*/ 608 w 1612"/>
                <a:gd name="T51" fmla="*/ 424 h 806"/>
                <a:gd name="T52" fmla="*/ 608 w 1612"/>
                <a:gd name="T53" fmla="*/ 424 h 806"/>
                <a:gd name="T54" fmla="*/ 619 w 1612"/>
                <a:gd name="T55" fmla="*/ 317 h 806"/>
                <a:gd name="T56" fmla="*/ 1033 w 1612"/>
                <a:gd name="T57" fmla="*/ 780 h 806"/>
                <a:gd name="T58" fmla="*/ 946 w 1612"/>
                <a:gd name="T59" fmla="*/ 612 h 806"/>
                <a:gd name="T60" fmla="*/ 872 w 1612"/>
                <a:gd name="T61" fmla="*/ 756 h 806"/>
                <a:gd name="T62" fmla="*/ 949 w 1612"/>
                <a:gd name="T63" fmla="*/ 806 h 806"/>
                <a:gd name="T64" fmla="*/ 1033 w 1612"/>
                <a:gd name="T65" fmla="*/ 799 h 806"/>
                <a:gd name="T66" fmla="*/ 1033 w 1612"/>
                <a:gd name="T67" fmla="*/ 780 h 806"/>
                <a:gd name="T68" fmla="*/ 1538 w 1612"/>
                <a:gd name="T69" fmla="*/ 613 h 806"/>
                <a:gd name="T70" fmla="*/ 1451 w 1612"/>
                <a:gd name="T71" fmla="*/ 781 h 806"/>
                <a:gd name="T72" fmla="*/ 1451 w 1612"/>
                <a:gd name="T73" fmla="*/ 799 h 806"/>
                <a:gd name="T74" fmla="*/ 1536 w 1612"/>
                <a:gd name="T75" fmla="*/ 806 h 806"/>
                <a:gd name="T76" fmla="*/ 1612 w 1612"/>
                <a:gd name="T77" fmla="*/ 756 h 806"/>
                <a:gd name="T78" fmla="*/ 1538 w 1612"/>
                <a:gd name="T79" fmla="*/ 613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12" h="806">
                  <a:moveTo>
                    <a:pt x="1542" y="422"/>
                  </a:moveTo>
                  <a:cubicBezTo>
                    <a:pt x="1542" y="422"/>
                    <a:pt x="1542" y="421"/>
                    <a:pt x="1542" y="421"/>
                  </a:cubicBezTo>
                  <a:cubicBezTo>
                    <a:pt x="1541" y="422"/>
                    <a:pt x="1536" y="437"/>
                    <a:pt x="1508" y="469"/>
                  </a:cubicBezTo>
                  <a:cubicBezTo>
                    <a:pt x="1507" y="470"/>
                    <a:pt x="1506" y="470"/>
                    <a:pt x="1505" y="470"/>
                  </a:cubicBezTo>
                  <a:cubicBezTo>
                    <a:pt x="1485" y="470"/>
                    <a:pt x="1485" y="470"/>
                    <a:pt x="1485" y="470"/>
                  </a:cubicBezTo>
                  <a:cubicBezTo>
                    <a:pt x="1484" y="470"/>
                    <a:pt x="1484" y="470"/>
                    <a:pt x="1483" y="470"/>
                  </a:cubicBezTo>
                  <a:cubicBezTo>
                    <a:pt x="1074" y="253"/>
                    <a:pt x="1074" y="253"/>
                    <a:pt x="1074" y="253"/>
                  </a:cubicBezTo>
                  <a:cubicBezTo>
                    <a:pt x="1073" y="253"/>
                    <a:pt x="1071" y="253"/>
                    <a:pt x="1070" y="253"/>
                  </a:cubicBezTo>
                  <a:cubicBezTo>
                    <a:pt x="979" y="283"/>
                    <a:pt x="980" y="472"/>
                    <a:pt x="949" y="445"/>
                  </a:cubicBezTo>
                  <a:cubicBezTo>
                    <a:pt x="949" y="444"/>
                    <a:pt x="949" y="444"/>
                    <a:pt x="949" y="444"/>
                  </a:cubicBezTo>
                  <a:cubicBezTo>
                    <a:pt x="936" y="410"/>
                    <a:pt x="932" y="354"/>
                    <a:pt x="932" y="315"/>
                  </a:cubicBezTo>
                  <a:cubicBezTo>
                    <a:pt x="932" y="141"/>
                    <a:pt x="1067" y="0"/>
                    <a:pt x="1242" y="0"/>
                  </a:cubicBezTo>
                  <a:cubicBezTo>
                    <a:pt x="1418" y="0"/>
                    <a:pt x="1553" y="141"/>
                    <a:pt x="1553" y="315"/>
                  </a:cubicBezTo>
                  <a:cubicBezTo>
                    <a:pt x="1553" y="353"/>
                    <a:pt x="1554" y="389"/>
                    <a:pt x="1542" y="422"/>
                  </a:cubicBezTo>
                  <a:close/>
                  <a:moveTo>
                    <a:pt x="619" y="317"/>
                  </a:moveTo>
                  <a:cubicBezTo>
                    <a:pt x="619" y="142"/>
                    <a:pt x="485" y="0"/>
                    <a:pt x="310" y="0"/>
                  </a:cubicBezTo>
                  <a:cubicBezTo>
                    <a:pt x="134" y="0"/>
                    <a:pt x="0" y="142"/>
                    <a:pt x="0" y="317"/>
                  </a:cubicBezTo>
                  <a:cubicBezTo>
                    <a:pt x="0" y="356"/>
                    <a:pt x="0" y="393"/>
                    <a:pt x="12" y="427"/>
                  </a:cubicBezTo>
                  <a:cubicBezTo>
                    <a:pt x="12" y="428"/>
                    <a:pt x="12" y="428"/>
                    <a:pt x="12" y="428"/>
                  </a:cubicBezTo>
                  <a:cubicBezTo>
                    <a:pt x="43" y="456"/>
                    <a:pt x="43" y="467"/>
                    <a:pt x="43" y="467"/>
                  </a:cubicBezTo>
                  <a:cubicBezTo>
                    <a:pt x="64" y="469"/>
                    <a:pt x="64" y="469"/>
                    <a:pt x="64" y="469"/>
                  </a:cubicBezTo>
                  <a:cubicBezTo>
                    <a:pt x="64" y="469"/>
                    <a:pt x="47" y="283"/>
                    <a:pt x="140" y="254"/>
                  </a:cubicBezTo>
                  <a:cubicBezTo>
                    <a:pt x="140" y="254"/>
                    <a:pt x="512" y="418"/>
                    <a:pt x="547" y="240"/>
                  </a:cubicBezTo>
                  <a:cubicBezTo>
                    <a:pt x="550" y="462"/>
                    <a:pt x="550" y="473"/>
                    <a:pt x="550" y="473"/>
                  </a:cubicBezTo>
                  <a:cubicBezTo>
                    <a:pt x="573" y="473"/>
                    <a:pt x="573" y="473"/>
                    <a:pt x="573" y="473"/>
                  </a:cubicBezTo>
                  <a:cubicBezTo>
                    <a:pt x="602" y="440"/>
                    <a:pt x="607" y="424"/>
                    <a:pt x="608" y="424"/>
                  </a:cubicBezTo>
                  <a:cubicBezTo>
                    <a:pt x="608" y="424"/>
                    <a:pt x="608" y="424"/>
                    <a:pt x="608" y="424"/>
                  </a:cubicBezTo>
                  <a:cubicBezTo>
                    <a:pt x="620" y="391"/>
                    <a:pt x="619" y="355"/>
                    <a:pt x="619" y="317"/>
                  </a:cubicBezTo>
                  <a:close/>
                  <a:moveTo>
                    <a:pt x="1033" y="780"/>
                  </a:moveTo>
                  <a:cubicBezTo>
                    <a:pt x="1011" y="755"/>
                    <a:pt x="982" y="699"/>
                    <a:pt x="946" y="612"/>
                  </a:cubicBezTo>
                  <a:cubicBezTo>
                    <a:pt x="943" y="671"/>
                    <a:pt x="933" y="750"/>
                    <a:pt x="872" y="756"/>
                  </a:cubicBezTo>
                  <a:cubicBezTo>
                    <a:pt x="899" y="783"/>
                    <a:pt x="925" y="798"/>
                    <a:pt x="949" y="806"/>
                  </a:cubicBezTo>
                  <a:cubicBezTo>
                    <a:pt x="984" y="802"/>
                    <a:pt x="1015" y="800"/>
                    <a:pt x="1033" y="799"/>
                  </a:cubicBezTo>
                  <a:lnTo>
                    <a:pt x="1033" y="780"/>
                  </a:lnTo>
                  <a:close/>
                  <a:moveTo>
                    <a:pt x="1538" y="613"/>
                  </a:moveTo>
                  <a:cubicBezTo>
                    <a:pt x="1502" y="699"/>
                    <a:pt x="1473" y="755"/>
                    <a:pt x="1451" y="781"/>
                  </a:cubicBezTo>
                  <a:cubicBezTo>
                    <a:pt x="1451" y="799"/>
                    <a:pt x="1451" y="799"/>
                    <a:pt x="1451" y="799"/>
                  </a:cubicBezTo>
                  <a:cubicBezTo>
                    <a:pt x="1469" y="800"/>
                    <a:pt x="1501" y="802"/>
                    <a:pt x="1536" y="806"/>
                  </a:cubicBezTo>
                  <a:cubicBezTo>
                    <a:pt x="1560" y="798"/>
                    <a:pt x="1586" y="783"/>
                    <a:pt x="1612" y="756"/>
                  </a:cubicBezTo>
                  <a:cubicBezTo>
                    <a:pt x="1552" y="750"/>
                    <a:pt x="1542" y="672"/>
                    <a:pt x="1538" y="6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16" name="Rectangle 215"/>
          <p:cNvSpPr/>
          <p:nvPr/>
        </p:nvSpPr>
        <p:spPr>
          <a:xfrm>
            <a:off x="665230" y="4936088"/>
            <a:ext cx="1394917" cy="369332"/>
          </a:xfrm>
          <a:prstGeom prst="rect">
            <a:avLst/>
          </a:prstGeom>
        </p:spPr>
        <p:txBody>
          <a:bodyPr wrap="square">
            <a:spAutoFit/>
          </a:bodyPr>
          <a:lstStyle/>
          <a:p>
            <a:pPr>
              <a:buSzPct val="100000"/>
              <a:buFont typeface="Trebuchet MS" panose="020B0603020202020204" pitchFamily="34" charset="0"/>
              <a:buChar char="​"/>
            </a:pPr>
            <a:r>
              <a:rPr lang="zh-CN" altLang="en-US" b="1" i="1">
                <a:solidFill>
                  <a:srgbClr val="29BA74"/>
                </a:solidFill>
                <a:latin typeface="Trebuchet MS" panose="020B0603020202020204" pitchFamily="34" charset="0"/>
                <a:ea typeface="微软雅黑" panose="020B0503020204020204" pitchFamily="34" charset="-122"/>
              </a:rPr>
              <a:t>大數據思維：</a:t>
            </a:r>
            <a:endParaRPr lang="en-US" altLang="zh-CN" b="1" i="1">
              <a:solidFill>
                <a:srgbClr val="29BA74"/>
              </a:solidFill>
              <a:latin typeface="Trebuchet MS" panose="020B0603020202020204" pitchFamily="34" charset="0"/>
              <a:ea typeface="微软雅黑" panose="020B0503020204020204" pitchFamily="34" charset="-122"/>
            </a:endParaRPr>
          </a:p>
        </p:txBody>
      </p:sp>
      <p:sp>
        <p:nvSpPr>
          <p:cNvPr id="217" name="Rectangle 216"/>
          <p:cNvSpPr/>
          <p:nvPr/>
        </p:nvSpPr>
        <p:spPr>
          <a:xfrm>
            <a:off x="665230" y="2635663"/>
            <a:ext cx="1024182" cy="369332"/>
          </a:xfrm>
          <a:prstGeom prst="rect">
            <a:avLst/>
          </a:prstGeom>
        </p:spPr>
        <p:txBody>
          <a:bodyPr wrap="square">
            <a:spAutoFit/>
          </a:bodyPr>
          <a:lstStyle/>
          <a:p>
            <a:pPr>
              <a:buSzPct val="100000"/>
              <a:buFont typeface="Trebuchet MS" panose="020B0603020202020204" pitchFamily="34" charset="0"/>
              <a:buChar char="​"/>
            </a:pPr>
            <a:r>
              <a:rPr lang="zh-CN" altLang="en-US" b="1" i="1">
                <a:solidFill>
                  <a:srgbClr val="29BA74"/>
                </a:solidFill>
                <a:latin typeface="Trebuchet MS" panose="020B0603020202020204" pitchFamily="34" charset="0"/>
                <a:ea typeface="微软雅黑" panose="020B0503020204020204" pitchFamily="34" charset="-122"/>
              </a:rPr>
              <a:t>舉例：</a:t>
            </a:r>
            <a:endParaRPr lang="en-US" altLang="zh-CN" b="1" i="1">
              <a:solidFill>
                <a:srgbClr val="29BA74"/>
              </a:solidFill>
              <a:latin typeface="Trebuchet MS" panose="020B0603020202020204" pitchFamily="34" charset="0"/>
              <a:ea typeface="微软雅黑" panose="020B0503020204020204" pitchFamily="34" charset="-122"/>
            </a:endParaRPr>
          </a:p>
        </p:txBody>
      </p:sp>
      <p:sp>
        <p:nvSpPr>
          <p:cNvPr id="100" name="Oval 99"/>
          <p:cNvSpPr>
            <a:spLocks noChangeAspect="1"/>
          </p:cNvSpPr>
          <p:nvPr/>
        </p:nvSpPr>
        <p:spPr>
          <a:xfrm>
            <a:off x="10771359" y="2799721"/>
            <a:ext cx="740689" cy="740689"/>
          </a:xfrm>
          <a:prstGeom prst="ellipse">
            <a:avLst/>
          </a:prstGeom>
          <a:solidFill>
            <a:srgbClr val="FFFFFF"/>
          </a:solidFill>
          <a:ln w="38100" cap="rnd">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1400" b="1" kern="0">
                <a:solidFill>
                  <a:schemeClr val="accent5"/>
                </a:solidFill>
              </a:rPr>
              <a:t>~19%</a:t>
            </a:r>
            <a:endParaRPr lang="en-US" sz="1400" kern="0">
              <a:solidFill>
                <a:schemeClr val="accent5"/>
              </a:solidFill>
            </a:endParaRPr>
          </a:p>
        </p:txBody>
      </p:sp>
      <p:sp>
        <p:nvSpPr>
          <p:cNvPr id="109" name="Oval 108"/>
          <p:cNvSpPr>
            <a:spLocks noChangeAspect="1"/>
          </p:cNvSpPr>
          <p:nvPr/>
        </p:nvSpPr>
        <p:spPr>
          <a:xfrm>
            <a:off x="10767697" y="3686125"/>
            <a:ext cx="740689" cy="740689"/>
          </a:xfrm>
          <a:prstGeom prst="ellipse">
            <a:avLst/>
          </a:prstGeom>
          <a:solidFill>
            <a:srgbClr val="FFFFFF"/>
          </a:solidFill>
          <a:ln w="38100" cap="rnd">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1400" b="1" kern="0">
                <a:solidFill>
                  <a:schemeClr val="accent5"/>
                </a:solidFill>
              </a:rPr>
              <a:t>~8%</a:t>
            </a:r>
          </a:p>
        </p:txBody>
      </p:sp>
      <p:sp>
        <p:nvSpPr>
          <p:cNvPr id="112" name="Oval 111"/>
          <p:cNvSpPr>
            <a:spLocks noChangeAspect="1"/>
          </p:cNvSpPr>
          <p:nvPr/>
        </p:nvSpPr>
        <p:spPr>
          <a:xfrm>
            <a:off x="10773568" y="4591500"/>
            <a:ext cx="740689" cy="740689"/>
          </a:xfrm>
          <a:prstGeom prst="ellipse">
            <a:avLst/>
          </a:prstGeom>
          <a:solidFill>
            <a:srgbClr val="FFFFFF"/>
          </a:solidFill>
          <a:ln w="38100" cap="rnd">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1400" b="1" kern="0">
                <a:solidFill>
                  <a:schemeClr val="accent5"/>
                </a:solidFill>
              </a:rPr>
              <a:t>~42%</a:t>
            </a:r>
          </a:p>
        </p:txBody>
      </p:sp>
      <p:grpSp>
        <p:nvGrpSpPr>
          <p:cNvPr id="40" name="Group 39"/>
          <p:cNvGrpSpPr/>
          <p:nvPr/>
        </p:nvGrpSpPr>
        <p:grpSpPr>
          <a:xfrm>
            <a:off x="10183511" y="3158597"/>
            <a:ext cx="590056" cy="2700887"/>
            <a:chOff x="9693905" y="3158597"/>
            <a:chExt cx="1079663" cy="2700887"/>
          </a:xfrm>
        </p:grpSpPr>
        <p:cxnSp>
          <p:nvCxnSpPr>
            <p:cNvPr id="99" name="Straight Connector 98"/>
            <p:cNvCxnSpPr>
              <a:endCxn id="100" idx="2"/>
            </p:cNvCxnSpPr>
            <p:nvPr/>
          </p:nvCxnSpPr>
          <p:spPr>
            <a:xfrm>
              <a:off x="9693905" y="3158597"/>
              <a:ext cx="1077454" cy="0"/>
            </a:xfrm>
            <a:prstGeom prst="line">
              <a:avLst/>
            </a:prstGeom>
            <a:ln w="19050" cap="rnd">
              <a:solidFill>
                <a:schemeClr val="accent5"/>
              </a:solidFill>
              <a:headEnd type="oval" w="med" len="med"/>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a:endCxn id="109" idx="2"/>
            </p:cNvCxnSpPr>
            <p:nvPr/>
          </p:nvCxnSpPr>
          <p:spPr>
            <a:xfrm>
              <a:off x="9699668" y="4033685"/>
              <a:ext cx="1068028" cy="0"/>
            </a:xfrm>
            <a:prstGeom prst="line">
              <a:avLst/>
            </a:prstGeom>
            <a:ln w="19050" cap="rnd">
              <a:solidFill>
                <a:schemeClr val="accent5"/>
              </a:solidFill>
              <a:headEnd type="oval" w="med" len="med"/>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a:endCxn id="112" idx="2"/>
            </p:cNvCxnSpPr>
            <p:nvPr/>
          </p:nvCxnSpPr>
          <p:spPr>
            <a:xfrm flipV="1">
              <a:off x="9693905" y="4961845"/>
              <a:ext cx="1079663" cy="0"/>
            </a:xfrm>
            <a:prstGeom prst="line">
              <a:avLst/>
            </a:prstGeom>
            <a:ln w="19050" cap="rnd">
              <a:solidFill>
                <a:schemeClr val="accent5"/>
              </a:solidFill>
              <a:headEnd type="oval" w="med" len="med"/>
            </a:ln>
          </p:spPr>
          <p:style>
            <a:lnRef idx="1">
              <a:schemeClr val="accent1"/>
            </a:lnRef>
            <a:fillRef idx="0">
              <a:schemeClr val="accent1"/>
            </a:fillRef>
            <a:effectRef idx="0">
              <a:schemeClr val="accent1"/>
            </a:effectRef>
            <a:fontRef idx="minor">
              <a:schemeClr val="tx1"/>
            </a:fontRef>
          </p:style>
        </p:cxnSp>
        <p:cxnSp>
          <p:nvCxnSpPr>
            <p:cNvPr id="114" name="Straight Connector 113"/>
            <p:cNvCxnSpPr>
              <a:endCxn id="115" idx="2"/>
            </p:cNvCxnSpPr>
            <p:nvPr/>
          </p:nvCxnSpPr>
          <p:spPr>
            <a:xfrm flipV="1">
              <a:off x="9693905" y="5859015"/>
              <a:ext cx="1077455" cy="469"/>
            </a:xfrm>
            <a:prstGeom prst="line">
              <a:avLst/>
            </a:prstGeom>
            <a:ln w="19050" cap="rnd">
              <a:solidFill>
                <a:schemeClr val="accent5"/>
              </a:solidFill>
              <a:headEnd type="oval" w="med" len="med"/>
            </a:ln>
          </p:spPr>
          <p:style>
            <a:lnRef idx="1">
              <a:schemeClr val="accent1"/>
            </a:lnRef>
            <a:fillRef idx="0">
              <a:schemeClr val="accent1"/>
            </a:fillRef>
            <a:effectRef idx="0">
              <a:schemeClr val="accent1"/>
            </a:effectRef>
            <a:fontRef idx="minor">
              <a:schemeClr val="tx1"/>
            </a:fontRef>
          </p:style>
        </p:cxnSp>
      </p:grpSp>
      <p:sp>
        <p:nvSpPr>
          <p:cNvPr id="115" name="Oval 114"/>
          <p:cNvSpPr>
            <a:spLocks noChangeAspect="1"/>
          </p:cNvSpPr>
          <p:nvPr/>
        </p:nvSpPr>
        <p:spPr>
          <a:xfrm>
            <a:off x="10771360" y="5488670"/>
            <a:ext cx="740689" cy="740689"/>
          </a:xfrm>
          <a:prstGeom prst="ellipse">
            <a:avLst/>
          </a:prstGeom>
          <a:solidFill>
            <a:srgbClr val="FFFFFF"/>
          </a:solidFill>
          <a:ln w="38100" cap="rnd">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1400" b="1" kern="0">
                <a:solidFill>
                  <a:schemeClr val="accent5"/>
                </a:solidFill>
              </a:rPr>
              <a:t>~29%</a:t>
            </a:r>
          </a:p>
        </p:txBody>
      </p:sp>
      <p:grpSp>
        <p:nvGrpSpPr>
          <p:cNvPr id="47" name="Group 46"/>
          <p:cNvGrpSpPr/>
          <p:nvPr/>
        </p:nvGrpSpPr>
        <p:grpSpPr>
          <a:xfrm>
            <a:off x="5350117" y="2120293"/>
            <a:ext cx="301819" cy="3875737"/>
            <a:chOff x="5422464" y="1973411"/>
            <a:chExt cx="326442" cy="4191922"/>
          </a:xfrm>
        </p:grpSpPr>
        <p:cxnSp>
          <p:nvCxnSpPr>
            <p:cNvPr id="7" name="Straight Connector 6"/>
            <p:cNvCxnSpPr/>
            <p:nvPr/>
          </p:nvCxnSpPr>
          <p:spPr>
            <a:xfrm>
              <a:off x="5593443" y="1973411"/>
              <a:ext cx="0" cy="4191922"/>
            </a:xfrm>
            <a:prstGeom prst="line">
              <a:avLst/>
            </a:prstGeom>
            <a:ln w="9525" cap="rnd" cmpd="sng" algn="ctr">
              <a:solidFill>
                <a:srgbClr val="9A9A9A"/>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07" name="Group 106"/>
            <p:cNvGrpSpPr>
              <a:grpSpLocks noChangeAspect="1"/>
            </p:cNvGrpSpPr>
            <p:nvPr/>
          </p:nvGrpSpPr>
          <p:grpSpPr>
            <a:xfrm flipH="1" flipV="1">
              <a:off x="5422464" y="3906151"/>
              <a:ext cx="326442" cy="326442"/>
              <a:chOff x="982662" y="1847850"/>
              <a:chExt cx="269875" cy="269875"/>
            </a:xfrm>
          </p:grpSpPr>
          <p:sp>
            <p:nvSpPr>
              <p:cNvPr id="110" name="Oval 50"/>
              <p:cNvSpPr>
                <a:spLocks noChangeArrowheads="1"/>
              </p:cNvSpPr>
              <p:nvPr/>
            </p:nvSpPr>
            <p:spPr bwMode="auto">
              <a:xfrm>
                <a:off x="982662" y="1847850"/>
                <a:ext cx="269875" cy="269875"/>
              </a:xfrm>
              <a:prstGeom prst="ellipse">
                <a:avLst/>
              </a:prstGeom>
              <a:solidFill>
                <a:schemeClr val="tx2"/>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113" name="Freeform 51"/>
              <p:cNvSpPr>
                <a:spLocks/>
              </p:cNvSpPr>
              <p:nvPr/>
            </p:nvSpPr>
            <p:spPr bwMode="auto">
              <a:xfrm>
                <a:off x="1082675" y="1895475"/>
                <a:ext cx="96837" cy="174625"/>
              </a:xfrm>
              <a:custGeom>
                <a:avLst/>
                <a:gdLst>
                  <a:gd name="T0" fmla="*/ 6 w 61"/>
                  <a:gd name="T1" fmla="*/ 0 h 110"/>
                  <a:gd name="T2" fmla="*/ 0 w 61"/>
                  <a:gd name="T3" fmla="*/ 7 h 110"/>
                  <a:gd name="T4" fmla="*/ 48 w 61"/>
                  <a:gd name="T5" fmla="*/ 55 h 110"/>
                  <a:gd name="T6" fmla="*/ 0 w 61"/>
                  <a:gd name="T7" fmla="*/ 104 h 110"/>
                  <a:gd name="T8" fmla="*/ 6 w 61"/>
                  <a:gd name="T9" fmla="*/ 110 h 110"/>
                  <a:gd name="T10" fmla="*/ 54 w 61"/>
                  <a:gd name="T11" fmla="*/ 62 h 110"/>
                  <a:gd name="T12" fmla="*/ 61 w 61"/>
                  <a:gd name="T13" fmla="*/ 55 h 110"/>
                  <a:gd name="T14" fmla="*/ 54 w 61"/>
                  <a:gd name="T15" fmla="*/ 49 h 110"/>
                  <a:gd name="T16" fmla="*/ 6 w 61"/>
                  <a:gd name="T1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110">
                    <a:moveTo>
                      <a:pt x="6" y="0"/>
                    </a:moveTo>
                    <a:lnTo>
                      <a:pt x="0" y="7"/>
                    </a:lnTo>
                    <a:lnTo>
                      <a:pt x="48" y="55"/>
                    </a:lnTo>
                    <a:lnTo>
                      <a:pt x="0" y="104"/>
                    </a:lnTo>
                    <a:lnTo>
                      <a:pt x="6" y="110"/>
                    </a:lnTo>
                    <a:lnTo>
                      <a:pt x="54" y="62"/>
                    </a:lnTo>
                    <a:lnTo>
                      <a:pt x="61" y="55"/>
                    </a:lnTo>
                    <a:lnTo>
                      <a:pt x="54" y="49"/>
                    </a:lnTo>
                    <a:lnTo>
                      <a:pt x="6"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grpSp>
      </p:grpSp>
      <p:pic>
        <p:nvPicPr>
          <p:cNvPr id="2" name="Picture 2">
            <a:extLst>
              <a:ext uri="{FF2B5EF4-FFF2-40B4-BE49-F238E27FC236}">
                <a16:creationId xmlns:a16="http://schemas.microsoft.com/office/drawing/2014/main" id="{56003066-AE94-C744-A57B-CE5C9F3096D7}"/>
              </a:ext>
            </a:extLst>
          </p:cNvPr>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0717092" y="-107062"/>
            <a:ext cx="1580317" cy="886887"/>
          </a:xfrm>
          <a:prstGeom prst="rect">
            <a:avLst/>
          </a:prstGeom>
          <a:noFill/>
          <a:extLst>
            <a:ext uri="{909E8E84-426E-40DD-AFC4-6F175D3DCCD1}">
              <a14:hiddenFill xmlns:a14="http://schemas.microsoft.com/office/drawing/2010/main">
                <a:solidFill>
                  <a:srgbClr val="FFFFFF"/>
                </a:solidFill>
              </a14:hiddenFill>
            </a:ext>
          </a:extLst>
        </p:spPr>
      </p:pic>
      <p:pic>
        <p:nvPicPr>
          <p:cNvPr id="60" name="BackupStamp">
            <a:extLst>
              <a:ext uri="{FF2B5EF4-FFF2-40B4-BE49-F238E27FC236}">
                <a16:creationId xmlns:a16="http://schemas.microsoft.com/office/drawing/2014/main" id="{75E91AD0-B306-7991-D38B-6EE90A6DE22A}"/>
              </a:ext>
            </a:extLst>
          </p:cNvPr>
          <p:cNvPicPr>
            <a:picLocks noChangeAspect="1"/>
          </p:cNvPicPr>
          <p:nvPr/>
        </p:nvPicPr>
        <p:blipFill>
          <a:blip r:embed="rId7"/>
          <a:stretch>
            <a:fillRect/>
          </a:stretch>
        </p:blipFill>
        <p:spPr>
          <a:xfrm>
            <a:off x="5229967" y="1582"/>
            <a:ext cx="1732066" cy="334800"/>
          </a:xfrm>
          <a:prstGeom prst="rect">
            <a:avLst/>
          </a:prstGeom>
        </p:spPr>
      </p:pic>
      <p:sp>
        <p:nvSpPr>
          <p:cNvPr id="70" name="Oval 20">
            <a:extLst>
              <a:ext uri="{FF2B5EF4-FFF2-40B4-BE49-F238E27FC236}">
                <a16:creationId xmlns:a16="http://schemas.microsoft.com/office/drawing/2014/main" id="{BE85CDE0-58F2-279D-7F16-AAF7B458BF95}"/>
              </a:ext>
            </a:extLst>
          </p:cNvPr>
          <p:cNvSpPr>
            <a:spLocks noChangeAspect="1" noChangeArrowheads="1"/>
          </p:cNvSpPr>
          <p:nvPr/>
        </p:nvSpPr>
        <p:spPr bwMode="auto">
          <a:xfrm>
            <a:off x="186544" y="98006"/>
            <a:ext cx="299290" cy="299290"/>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sz="1200">
                <a:solidFill>
                  <a:schemeClr val="bg1"/>
                </a:solidFill>
                <a:ea typeface="Microsoft YaHei" panose="020B0503020204020204" pitchFamily="34" charset="-122"/>
              </a:rPr>
              <a:t>1</a:t>
            </a:r>
          </a:p>
        </p:txBody>
      </p:sp>
      <p:sp>
        <p:nvSpPr>
          <p:cNvPr id="71" name="TextBox 70">
            <a:extLst>
              <a:ext uri="{FF2B5EF4-FFF2-40B4-BE49-F238E27FC236}">
                <a16:creationId xmlns:a16="http://schemas.microsoft.com/office/drawing/2014/main" id="{340117EE-428F-17D1-053D-1964666EAD21}"/>
              </a:ext>
            </a:extLst>
          </p:cNvPr>
          <p:cNvSpPr txBox="1"/>
          <p:nvPr/>
        </p:nvSpPr>
        <p:spPr>
          <a:xfrm>
            <a:off x="490697" y="128208"/>
            <a:ext cx="2217333" cy="276999"/>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a:spAutoFit/>
          </a:bodyPr>
          <a:lstStyle/>
          <a:p>
            <a:r>
              <a:rPr lang="zh-TW" altLang="en-US" sz="1200">
                <a:solidFill>
                  <a:srgbClr val="575757"/>
                </a:solidFill>
                <a:latin typeface="Trebuchet MS" panose="020B0603020202020204" pitchFamily="34" charset="0"/>
                <a:ea typeface="Microsoft YaHei" panose="020B0503020204020204" pitchFamily="34" charset="-122"/>
              </a:rPr>
              <a:t>優化預測模型，個性化經營</a:t>
            </a:r>
            <a:endParaRPr lang="en-US" sz="1200">
              <a:solidFill>
                <a:srgbClr val="575757"/>
              </a:solidFill>
              <a:ea typeface="Microsoft YaHei" panose="020B0503020204020204" pitchFamily="34" charset="-122"/>
            </a:endParaRPr>
          </a:p>
        </p:txBody>
      </p:sp>
    </p:spTree>
    <p:extLst>
      <p:ext uri="{BB962C8B-B14F-4D97-AF65-F5344CB8AC3E}">
        <p14:creationId xmlns:p14="http://schemas.microsoft.com/office/powerpoint/2010/main" val="227406441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3D45D4CA-F686-F2CE-5ADB-AEE957373F49}"/>
              </a:ext>
            </a:extLst>
          </p:cNvPr>
          <p:cNvGraphicFramePr>
            <a:graphicFrameLocks noChangeAspect="1"/>
          </p:cNvGraphicFramePr>
          <p:nvPr>
            <p:custDataLst>
              <p:tags r:id="rId1"/>
            </p:custDataLst>
            <p:extLst>
              <p:ext uri="{D42A27DB-BD31-4B8C-83A1-F6EECF244321}">
                <p14:modId xmlns:p14="http://schemas.microsoft.com/office/powerpoint/2010/main" val="80509456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7" imgW="404" imgH="405" progId="TCLayout.ActiveDocument.1">
                  <p:embed/>
                </p:oleObj>
              </mc:Choice>
              <mc:Fallback>
                <p:oleObj name="think-cell Slide" r:id="rId17" imgW="404" imgH="405" progId="TCLayout.ActiveDocument.1">
                  <p:embed/>
                  <p:pic>
                    <p:nvPicPr>
                      <p:cNvPr id="3" name="think-cell data - do not delete" hidden="1">
                        <a:extLst>
                          <a:ext uri="{FF2B5EF4-FFF2-40B4-BE49-F238E27FC236}">
                            <a16:creationId xmlns:a16="http://schemas.microsoft.com/office/drawing/2014/main" id="{3D45D4CA-F686-F2CE-5ADB-AEE957373F49}"/>
                          </a:ext>
                        </a:extLst>
                      </p:cNvPr>
                      <p:cNvPicPr/>
                      <p:nvPr/>
                    </p:nvPicPr>
                    <p:blipFill>
                      <a:blip r:embed="rId18"/>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A5CC260D-ED3B-0D0C-35EA-1FAE860AA174}"/>
              </a:ext>
            </a:extLst>
          </p:cNvPr>
          <p:cNvSpPr>
            <a:spLocks noGrp="1"/>
          </p:cNvSpPr>
          <p:nvPr>
            <p:ph type="title"/>
          </p:nvPr>
        </p:nvSpPr>
        <p:spPr>
          <a:xfrm>
            <a:off x="630000" y="622800"/>
            <a:ext cx="10933350" cy="664797"/>
          </a:xfrm>
        </p:spPr>
        <p:txBody>
          <a:bodyPr vert="horz"/>
          <a:lstStyle/>
          <a:p>
            <a:r>
              <a:rPr lang="en-US" altLang="zh-TW" sz="2400">
                <a:sym typeface="Trebuchet MS" panose="020B0603020202020204" pitchFamily="34" charset="0"/>
              </a:rPr>
              <a:t>M</a:t>
            </a:r>
            <a:r>
              <a:rPr lang="zh-TW" altLang="en-US" sz="2400">
                <a:sym typeface="Trebuchet MS" panose="020B0603020202020204" pitchFamily="34" charset="0"/>
              </a:rPr>
              <a:t>客過去往來產品</a:t>
            </a:r>
            <a:r>
              <a:rPr lang="zh-TW" altLang="en-US"/>
              <a:t>以存款、定存為主，待有活化空間；</a:t>
            </a:r>
            <a:r>
              <a:rPr lang="en-US" altLang="zh-TW"/>
              <a:t>M</a:t>
            </a:r>
            <a:r>
              <a:rPr lang="zh-TW" altLang="en-US"/>
              <a:t>客普遍數位使用度高，未來著重以數位方式進行精準行銷，提升經營效率</a:t>
            </a:r>
            <a:endParaRPr lang="en-US"/>
          </a:p>
        </p:txBody>
      </p:sp>
      <p:graphicFrame>
        <p:nvGraphicFramePr>
          <p:cNvPr id="152" name="Chart 151">
            <a:extLst>
              <a:ext uri="{FF2B5EF4-FFF2-40B4-BE49-F238E27FC236}">
                <a16:creationId xmlns:a16="http://schemas.microsoft.com/office/drawing/2014/main" id="{429A1714-CDAA-BE97-0577-49D2D603ACC0}"/>
              </a:ext>
            </a:extLst>
          </p:cNvPr>
          <p:cNvGraphicFramePr/>
          <p:nvPr>
            <p:custDataLst>
              <p:tags r:id="rId2"/>
            </p:custDataLst>
            <p:extLst>
              <p:ext uri="{D42A27DB-BD31-4B8C-83A1-F6EECF244321}">
                <p14:modId xmlns:p14="http://schemas.microsoft.com/office/powerpoint/2010/main" val="2488886175"/>
              </p:ext>
            </p:extLst>
          </p:nvPr>
        </p:nvGraphicFramePr>
        <p:xfrm>
          <a:off x="561975" y="3087688"/>
          <a:ext cx="1617663" cy="3070225"/>
        </p:xfrm>
        <a:graphic>
          <a:graphicData uri="http://schemas.openxmlformats.org/drawingml/2006/chart">
            <c:chart xmlns:c="http://schemas.openxmlformats.org/drawingml/2006/chart" xmlns:r="http://schemas.openxmlformats.org/officeDocument/2006/relationships" r:id="rId19"/>
          </a:graphicData>
        </a:graphic>
      </p:graphicFrame>
      <p:cxnSp>
        <p:nvCxnSpPr>
          <p:cNvPr id="96" name="Straight Connector 95">
            <a:extLst>
              <a:ext uri="{FF2B5EF4-FFF2-40B4-BE49-F238E27FC236}">
                <a16:creationId xmlns:a16="http://schemas.microsoft.com/office/drawing/2014/main" id="{A585C706-34FA-7A9F-FB0F-65A87B397149}"/>
              </a:ext>
            </a:extLst>
          </p:cNvPr>
          <p:cNvCxnSpPr/>
          <p:nvPr>
            <p:custDataLst>
              <p:tags r:id="rId3"/>
            </p:custDataLst>
          </p:nvPr>
        </p:nvCxnSpPr>
        <p:spPr bwMode="gray">
          <a:xfrm flipH="1" flipV="1">
            <a:off x="1862138" y="3381375"/>
            <a:ext cx="98425" cy="241300"/>
          </a:xfrm>
          <a:prstGeom prst="line">
            <a:avLst/>
          </a:prstGeom>
          <a:ln w="9525"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39" name="Text Placeholder 3">
            <a:extLst>
              <a:ext uri="{FF2B5EF4-FFF2-40B4-BE49-F238E27FC236}">
                <a16:creationId xmlns:a16="http://schemas.microsoft.com/office/drawing/2014/main" id="{213CE523-F0F5-E301-62A6-66AB281A8A00}"/>
              </a:ext>
            </a:extLst>
          </p:cNvPr>
          <p:cNvSpPr>
            <a:spLocks noGrp="1"/>
          </p:cNvSpPr>
          <p:nvPr>
            <p:custDataLst>
              <p:tags r:id="rId4"/>
            </p:custDataLst>
          </p:nvPr>
        </p:nvSpPr>
        <p:spPr bwMode="gray">
          <a:xfrm>
            <a:off x="1003300" y="3248025"/>
            <a:ext cx="279400" cy="268288"/>
          </a:xfrm>
          <a:prstGeom prst="rect">
            <a:avLst/>
          </a:prstGeom>
          <a:solidFill>
            <a:srgbClr val="318C46"/>
          </a:solidFill>
          <a:ln>
            <a:noFill/>
          </a:ln>
          <a:effectLst/>
        </p:spPr>
        <p:txBody>
          <a:bodyPr vert="horz" wrap="none" lIns="25400" tIns="0" rIns="25400" bIns="0" rtlCol="0" anchor="ctr">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lvl="0" algn="ctr">
              <a:spcBef>
                <a:spcPct val="0"/>
              </a:spcBef>
              <a:spcAft>
                <a:spcPct val="0"/>
              </a:spcAft>
            </a:pPr>
            <a:fld id="{C7A59232-5AD2-4ECE-9466-2E2F7AAD0CE7}" type="datetime'''''''''''''''''''''''''''''4''''''''''''''''''''''''''''''%'">
              <a:rPr lang="en-US" altLang="en-US" sz="1600" smtClean="0">
                <a:solidFill>
                  <a:schemeClr val="bg1"/>
                </a:solidFill>
                <a:effectLst/>
                <a:ea typeface="Microsoft YaHei" panose="020B0503020204020204" pitchFamily="34" charset="-122"/>
              </a:rPr>
              <a:pPr lvl="0" algn="ctr">
                <a:spcBef>
                  <a:spcPct val="0"/>
                </a:spcBef>
                <a:spcAft>
                  <a:spcPct val="0"/>
                </a:spcAft>
              </a:pPr>
              <a:t>4%</a:t>
            </a:fld>
            <a:endParaRPr lang="en-US" sz="1600">
              <a:solidFill>
                <a:schemeClr val="bg1"/>
              </a:solidFill>
              <a:ea typeface="Microsoft YaHei" panose="020B0503020204020204" pitchFamily="34" charset="-122"/>
            </a:endParaRPr>
          </a:p>
        </p:txBody>
      </p:sp>
      <p:sp>
        <p:nvSpPr>
          <p:cNvPr id="40" name="Text Placeholder 3">
            <a:extLst>
              <a:ext uri="{FF2B5EF4-FFF2-40B4-BE49-F238E27FC236}">
                <a16:creationId xmlns:a16="http://schemas.microsoft.com/office/drawing/2014/main" id="{0BA551CC-3AFB-A7AC-AD7A-3FFD8C0944D9}"/>
              </a:ext>
            </a:extLst>
          </p:cNvPr>
          <p:cNvSpPr>
            <a:spLocks noGrp="1"/>
          </p:cNvSpPr>
          <p:nvPr>
            <p:custDataLst>
              <p:tags r:id="rId5"/>
            </p:custDataLst>
          </p:nvPr>
        </p:nvSpPr>
        <p:spPr bwMode="gray">
          <a:xfrm>
            <a:off x="1177926" y="4413250"/>
            <a:ext cx="385763" cy="268288"/>
          </a:xfrm>
          <a:prstGeom prst="rect">
            <a:avLst/>
          </a:prstGeom>
          <a:noFill/>
          <a:ln>
            <a:noFill/>
          </a:ln>
          <a:effectLst/>
          <a:extLst>
            <a:ext uri="{909E8E84-426E-40DD-AFC4-6F175D3DCCD1}">
              <a14:hiddenFill xmlns:a14="http://schemas.microsoft.com/office/drawing/2010/main">
                <a:solidFill>
                  <a:srgbClr val="2A6B2A"/>
                </a:solidFill>
              </a14:hiddenFill>
            </a:ext>
          </a:extLst>
        </p:spPr>
        <p:txBody>
          <a:bodyPr vert="horz" wrap="none" lIns="25400" tIns="0" rIns="25400" bIns="0" rtlCol="0" anchor="ctr">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lvl="0" algn="ctr">
              <a:spcBef>
                <a:spcPct val="0"/>
              </a:spcBef>
              <a:spcAft>
                <a:spcPct val="0"/>
              </a:spcAft>
            </a:pPr>
            <a:fld id="{BB47D5C6-FE4E-4ECE-95DD-71352F6BCEB0}" type="datetime'''''7''''''''''''''''''''''''''''''''''''''''7''''''''%'''''''">
              <a:rPr lang="en-US" altLang="en-US" sz="1600" smtClean="0">
                <a:solidFill>
                  <a:schemeClr val="bg1"/>
                </a:solidFill>
                <a:ea typeface="Microsoft YaHei" panose="020B0503020204020204" pitchFamily="34" charset="-122"/>
              </a:rPr>
              <a:pPr lvl="0" algn="ctr">
                <a:spcBef>
                  <a:spcPct val="0"/>
                </a:spcBef>
                <a:spcAft>
                  <a:spcPct val="0"/>
                </a:spcAft>
              </a:pPr>
              <a:t>77%</a:t>
            </a:fld>
            <a:endParaRPr lang="en-US" sz="1600">
              <a:solidFill>
                <a:schemeClr val="bg1"/>
              </a:solidFill>
              <a:ea typeface="Microsoft YaHei" panose="020B0503020204020204" pitchFamily="34" charset="-122"/>
            </a:endParaRPr>
          </a:p>
        </p:txBody>
      </p:sp>
      <p:sp>
        <p:nvSpPr>
          <p:cNvPr id="42" name="Text Placeholder 3">
            <a:extLst>
              <a:ext uri="{FF2B5EF4-FFF2-40B4-BE49-F238E27FC236}">
                <a16:creationId xmlns:a16="http://schemas.microsoft.com/office/drawing/2014/main" id="{7A71AC88-FD75-61E3-2FFC-DA63BBC57085}"/>
              </a:ext>
            </a:extLst>
          </p:cNvPr>
          <p:cNvSpPr>
            <a:spLocks noGrp="1"/>
          </p:cNvSpPr>
          <p:nvPr>
            <p:custDataLst>
              <p:tags r:id="rId6"/>
            </p:custDataLst>
          </p:nvPr>
        </p:nvSpPr>
        <p:spPr bwMode="gray">
          <a:xfrm>
            <a:off x="1985963" y="3489325"/>
            <a:ext cx="703263" cy="2682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lvl="0">
              <a:spcBef>
                <a:spcPct val="0"/>
              </a:spcBef>
              <a:spcAft>
                <a:spcPct val="0"/>
              </a:spcAft>
            </a:pPr>
            <a:fld id="{C70D7C5B-68E8-4CB7-8C0C-8C0FB8B6ED4A}" type="datetime'''''3''''''''''0''''''''''''''''''-7''0萬'''''''''''''''''''''">
              <a:rPr lang="zh-TW" altLang="en-US" sz="1600" smtClean="0">
                <a:ea typeface="Microsoft YaHei" panose="020B0503020204020204" pitchFamily="34" charset="-122"/>
              </a:rPr>
              <a:pPr lvl="0">
                <a:spcBef>
                  <a:spcPct val="0"/>
                </a:spcBef>
                <a:spcAft>
                  <a:spcPct val="0"/>
                </a:spcAft>
              </a:pPr>
              <a:t>30-70萬</a:t>
            </a:fld>
            <a:endParaRPr lang="en-US" sz="1600">
              <a:ea typeface="Microsoft YaHei" panose="020B0503020204020204" pitchFamily="34" charset="-122"/>
            </a:endParaRPr>
          </a:p>
        </p:txBody>
      </p:sp>
      <p:sp>
        <p:nvSpPr>
          <p:cNvPr id="44" name="Text Placeholder 3">
            <a:extLst>
              <a:ext uri="{FF2B5EF4-FFF2-40B4-BE49-F238E27FC236}">
                <a16:creationId xmlns:a16="http://schemas.microsoft.com/office/drawing/2014/main" id="{B4220BE2-1F77-5D25-3322-8FC1E272208D}"/>
              </a:ext>
            </a:extLst>
          </p:cNvPr>
          <p:cNvSpPr>
            <a:spLocks noGrp="1"/>
          </p:cNvSpPr>
          <p:nvPr>
            <p:custDataLst>
              <p:tags r:id="rId7"/>
            </p:custDataLst>
          </p:nvPr>
        </p:nvSpPr>
        <p:spPr bwMode="gray">
          <a:xfrm>
            <a:off x="1985962" y="4413250"/>
            <a:ext cx="596900" cy="2682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lvl="0">
              <a:spcBef>
                <a:spcPct val="0"/>
              </a:spcBef>
              <a:spcAft>
                <a:spcPct val="0"/>
              </a:spcAft>
            </a:pPr>
            <a:fld id="{1177B2D3-87F0-49D8-9BF8-DF4A0DAFA092}" type="datetime'''''''''''''''''''1''''''-3''0''''''''''''萬'''''''''''">
              <a:rPr lang="zh-CN" altLang="en-US" sz="1600" smtClean="0">
                <a:ea typeface="Microsoft YaHei" panose="020B0503020204020204" pitchFamily="34" charset="-122"/>
              </a:rPr>
              <a:pPr lvl="0">
                <a:spcBef>
                  <a:spcPct val="0"/>
                </a:spcBef>
                <a:spcAft>
                  <a:spcPct val="0"/>
                </a:spcAft>
              </a:pPr>
              <a:t>1-30萬</a:t>
            </a:fld>
            <a:endParaRPr lang="en-US" sz="1600">
              <a:ea typeface="Microsoft YaHei" panose="020B0503020204020204" pitchFamily="34" charset="-122"/>
            </a:endParaRPr>
          </a:p>
        </p:txBody>
      </p:sp>
      <p:sp>
        <p:nvSpPr>
          <p:cNvPr id="10" name="Text Placeholder 3">
            <a:extLst>
              <a:ext uri="{FF2B5EF4-FFF2-40B4-BE49-F238E27FC236}">
                <a16:creationId xmlns:a16="http://schemas.microsoft.com/office/drawing/2014/main" id="{D065E331-32D0-674D-91E5-A447181FFA37}"/>
              </a:ext>
            </a:extLst>
          </p:cNvPr>
          <p:cNvSpPr>
            <a:spLocks noGrp="1"/>
          </p:cNvSpPr>
          <p:nvPr>
            <p:custDataLst>
              <p:tags r:id="rId8"/>
            </p:custDataLst>
          </p:nvPr>
        </p:nvSpPr>
        <p:spPr bwMode="gray">
          <a:xfrm>
            <a:off x="1147763" y="2847975"/>
            <a:ext cx="444500" cy="2682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lvl="0" algn="ctr">
              <a:spcBef>
                <a:spcPct val="0"/>
              </a:spcBef>
              <a:spcAft>
                <a:spcPct val="0"/>
              </a:spcAft>
            </a:pPr>
            <a:fld id="{C22C7389-14A5-49F7-A58F-9C6520D8EC14}" type="datetime'''''''''8''''''''''0''.''''''''''''''''''''''''''''2'''''">
              <a:rPr lang="en-US" altLang="en-US" sz="1600" smtClean="0">
                <a:ea typeface="Microsoft YaHei" panose="020B0503020204020204" pitchFamily="34" charset="-122"/>
              </a:rPr>
              <a:pPr lvl="0" algn="ctr">
                <a:spcBef>
                  <a:spcPct val="0"/>
                </a:spcBef>
                <a:spcAft>
                  <a:spcPct val="0"/>
                </a:spcAft>
              </a:pPr>
              <a:t>80.2</a:t>
            </a:fld>
            <a:endParaRPr lang="en-US" sz="1600">
              <a:ea typeface="Microsoft YaHei" panose="020B0503020204020204" pitchFamily="34" charset="-122"/>
            </a:endParaRPr>
          </a:p>
        </p:txBody>
      </p:sp>
      <p:sp>
        <p:nvSpPr>
          <p:cNvPr id="36" name="Text Placeholder 3">
            <a:extLst>
              <a:ext uri="{FF2B5EF4-FFF2-40B4-BE49-F238E27FC236}">
                <a16:creationId xmlns:a16="http://schemas.microsoft.com/office/drawing/2014/main" id="{34370C5F-05B6-3F80-1098-FBFEB16768B7}"/>
              </a:ext>
            </a:extLst>
          </p:cNvPr>
          <p:cNvSpPr>
            <a:spLocks noGrp="1"/>
          </p:cNvSpPr>
          <p:nvPr>
            <p:custDataLst>
              <p:tags r:id="rId9"/>
            </p:custDataLst>
          </p:nvPr>
        </p:nvSpPr>
        <p:spPr bwMode="gray">
          <a:xfrm>
            <a:off x="1985964" y="5730875"/>
            <a:ext cx="309563" cy="2682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lvl="0">
              <a:spcBef>
                <a:spcPct val="0"/>
              </a:spcBef>
              <a:spcAft>
                <a:spcPct val="0"/>
              </a:spcAft>
            </a:pPr>
            <a:fld id="{A4669797-38E8-48D0-AB96-A823A2437556}" type="datetime'0''''''''''''''''元'''''''''''''">
              <a:rPr lang="zh-TW" altLang="en-US" sz="1600" smtClean="0">
                <a:ea typeface="Microsoft YaHei" panose="020B0503020204020204" pitchFamily="34" charset="-122"/>
              </a:rPr>
              <a:pPr lvl="0">
                <a:spcBef>
                  <a:spcPct val="0"/>
                </a:spcBef>
                <a:spcAft>
                  <a:spcPct val="0"/>
                </a:spcAft>
              </a:pPr>
              <a:t>0元</a:t>
            </a:fld>
            <a:endParaRPr lang="en-US" sz="1600">
              <a:ea typeface="Microsoft YaHei" panose="020B0503020204020204" pitchFamily="34" charset="-122"/>
            </a:endParaRPr>
          </a:p>
        </p:txBody>
      </p:sp>
      <p:sp>
        <p:nvSpPr>
          <p:cNvPr id="37" name="Text Placeholder 3">
            <a:extLst>
              <a:ext uri="{FF2B5EF4-FFF2-40B4-BE49-F238E27FC236}">
                <a16:creationId xmlns:a16="http://schemas.microsoft.com/office/drawing/2014/main" id="{1971706D-F669-0F1F-883C-32B4BDD82FA4}"/>
              </a:ext>
            </a:extLst>
          </p:cNvPr>
          <p:cNvSpPr>
            <a:spLocks noGrp="1"/>
          </p:cNvSpPr>
          <p:nvPr>
            <p:custDataLst>
              <p:tags r:id="rId10"/>
            </p:custDataLst>
          </p:nvPr>
        </p:nvSpPr>
        <p:spPr bwMode="gray">
          <a:xfrm>
            <a:off x="1177926" y="5730875"/>
            <a:ext cx="385763" cy="268288"/>
          </a:xfrm>
          <a:prstGeom prst="rect">
            <a:avLst/>
          </a:prstGeom>
          <a:noFill/>
          <a:ln>
            <a:noFill/>
          </a:ln>
          <a:effectLst/>
          <a:extLst>
            <a:ext uri="{909E8E84-426E-40DD-AFC4-6F175D3DCCD1}">
              <a14:hiddenFill xmlns:a14="http://schemas.microsoft.com/office/drawing/2010/main">
                <a:solidFill>
                  <a:srgbClr val="235930"/>
                </a:solidFill>
              </a14:hiddenFill>
            </a:ext>
          </a:extLst>
        </p:spPr>
        <p:txBody>
          <a:bodyPr vert="horz" wrap="none" lIns="25400" tIns="0" rIns="25400" bIns="0" rtlCol="0" anchor="ctr">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lvl="0" algn="ctr">
              <a:spcBef>
                <a:spcPct val="0"/>
              </a:spcBef>
              <a:spcAft>
                <a:spcPct val="0"/>
              </a:spcAft>
            </a:pPr>
            <a:fld id="{06B919B6-489E-4A2F-9B94-59978C52BB2D}" type="datetime'''''''''''''''''''''''''1''''''''4''''''''''''%'''''''">
              <a:rPr lang="en-US" altLang="en-US" sz="1600" smtClean="0">
                <a:solidFill>
                  <a:schemeClr val="bg1"/>
                </a:solidFill>
                <a:effectLst/>
                <a:ea typeface="Microsoft YaHei" panose="020B0503020204020204" pitchFamily="34" charset="-122"/>
              </a:rPr>
              <a:pPr lvl="0" algn="ctr">
                <a:spcBef>
                  <a:spcPct val="0"/>
                </a:spcBef>
                <a:spcAft>
                  <a:spcPct val="0"/>
                </a:spcAft>
              </a:pPr>
              <a:t>14%</a:t>
            </a:fld>
            <a:endParaRPr lang="en-US" sz="1600">
              <a:solidFill>
                <a:schemeClr val="bg1"/>
              </a:solidFill>
              <a:ea typeface="Microsoft YaHei" panose="020B0503020204020204" pitchFamily="34" charset="-122"/>
            </a:endParaRPr>
          </a:p>
        </p:txBody>
      </p:sp>
      <p:sp>
        <p:nvSpPr>
          <p:cNvPr id="75" name="Text Placeholder 3">
            <a:extLst>
              <a:ext uri="{FF2B5EF4-FFF2-40B4-BE49-F238E27FC236}">
                <a16:creationId xmlns:a16="http://schemas.microsoft.com/office/drawing/2014/main" id="{65019EF3-2FE5-A5E8-07B4-E5D04C15CA17}"/>
              </a:ext>
            </a:extLst>
          </p:cNvPr>
          <p:cNvSpPr>
            <a:spLocks noGrp="1"/>
          </p:cNvSpPr>
          <p:nvPr>
            <p:custDataLst>
              <p:tags r:id="rId11"/>
            </p:custDataLst>
          </p:nvPr>
        </p:nvSpPr>
        <p:spPr bwMode="gray">
          <a:xfrm>
            <a:off x="1985963" y="3170238"/>
            <a:ext cx="801688" cy="2682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lvl="0">
              <a:spcBef>
                <a:spcPct val="0"/>
              </a:spcBef>
              <a:spcAft>
                <a:spcPct val="0"/>
              </a:spcAft>
            </a:pPr>
            <a:fld id="{E347E51B-833D-40CA-B969-672809CA670A}" type="datetime'''''''''潛''力''''''''''''''''''''''''''''''''''''A''客'''''">
              <a:rPr lang="zh-TW" altLang="en-US" sz="1600" smtClean="0">
                <a:ea typeface="Microsoft YaHei" panose="020B0503020204020204" pitchFamily="34" charset="-122"/>
              </a:rPr>
              <a:pPr lvl="0">
                <a:spcBef>
                  <a:spcPct val="0"/>
                </a:spcBef>
                <a:spcAft>
                  <a:spcPct val="0"/>
                </a:spcAft>
              </a:pPr>
              <a:t>潛力A客</a:t>
            </a:fld>
            <a:r>
              <a:rPr lang="en-US" altLang="zh-TW" sz="1600" baseline="30000">
                <a:ea typeface="Microsoft YaHei" panose="020B0503020204020204" pitchFamily="34" charset="-122"/>
              </a:rPr>
              <a:t>1</a:t>
            </a:r>
            <a:endParaRPr lang="en-US" sz="1600" baseline="30000">
              <a:ea typeface="Microsoft YaHei" panose="020B0503020204020204" pitchFamily="34" charset="-122"/>
            </a:endParaRPr>
          </a:p>
        </p:txBody>
      </p:sp>
      <p:sp>
        <p:nvSpPr>
          <p:cNvPr id="80" name="Text Placeholder 3">
            <a:extLst>
              <a:ext uri="{FF2B5EF4-FFF2-40B4-BE49-F238E27FC236}">
                <a16:creationId xmlns:a16="http://schemas.microsoft.com/office/drawing/2014/main" id="{F92F4967-B39F-8AA5-C570-FDE76EDA468C}"/>
              </a:ext>
            </a:extLst>
          </p:cNvPr>
          <p:cNvSpPr>
            <a:spLocks noGrp="1"/>
          </p:cNvSpPr>
          <p:nvPr>
            <p:custDataLst>
              <p:tags r:id="rId12"/>
            </p:custDataLst>
          </p:nvPr>
        </p:nvSpPr>
        <p:spPr bwMode="gray">
          <a:xfrm>
            <a:off x="1457325" y="3116263"/>
            <a:ext cx="279400" cy="268288"/>
          </a:xfrm>
          <a:prstGeom prst="rect">
            <a:avLst/>
          </a:prstGeom>
          <a:solidFill>
            <a:srgbClr val="29BA74"/>
          </a:solidFill>
          <a:ln>
            <a:noFill/>
          </a:ln>
          <a:effectLst/>
        </p:spPr>
        <p:txBody>
          <a:bodyPr vert="horz" wrap="none" lIns="25400" tIns="0" rIns="25400" bIns="0" rtlCol="0" anchor="ctr">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lvl="0" algn="ctr">
              <a:spcBef>
                <a:spcPct val="0"/>
              </a:spcBef>
              <a:spcAft>
                <a:spcPct val="0"/>
              </a:spcAft>
            </a:pPr>
            <a:fld id="{28CF4253-8408-421F-8664-75AB0CFB805C}" type="datetime'''''''''''6''''''''''''''''''''''''''''''%'''''''''''''''">
              <a:rPr lang="en-US" altLang="en-US" sz="1600" smtClean="0">
                <a:solidFill>
                  <a:schemeClr val="bg1"/>
                </a:solidFill>
                <a:effectLst/>
                <a:ea typeface="Microsoft YaHei" panose="020B0503020204020204" pitchFamily="34" charset="-122"/>
              </a:rPr>
              <a:pPr lvl="0" algn="ctr">
                <a:spcBef>
                  <a:spcPct val="0"/>
                </a:spcBef>
                <a:spcAft>
                  <a:spcPct val="0"/>
                </a:spcAft>
              </a:pPr>
              <a:t>6%</a:t>
            </a:fld>
            <a:endParaRPr lang="en-US" sz="1600">
              <a:solidFill>
                <a:schemeClr val="bg1"/>
              </a:solidFill>
              <a:ea typeface="Microsoft YaHei" panose="020B0503020204020204" pitchFamily="34" charset="-122"/>
            </a:endParaRPr>
          </a:p>
        </p:txBody>
      </p:sp>
      <p:sp>
        <p:nvSpPr>
          <p:cNvPr id="25" name="Rectangle 24">
            <a:extLst>
              <a:ext uri="{FF2B5EF4-FFF2-40B4-BE49-F238E27FC236}">
                <a16:creationId xmlns:a16="http://schemas.microsoft.com/office/drawing/2014/main" id="{8DDB2CBB-582B-8524-E958-6A2BA7DF26F2}"/>
              </a:ext>
            </a:extLst>
          </p:cNvPr>
          <p:cNvSpPr/>
          <p:nvPr/>
        </p:nvSpPr>
        <p:spPr>
          <a:xfrm>
            <a:off x="671321" y="2250850"/>
            <a:ext cx="2721874" cy="537027"/>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90000"/>
              </a:lnSpc>
            </a:pPr>
            <a:r>
              <a:rPr lang="zh-TW" altLang="en-US" sz="1600" b="1">
                <a:solidFill>
                  <a:srgbClr val="575757"/>
                </a:solidFill>
                <a:latin typeface="Microsoft YaHei" panose="020B0503020204020204" pitchFamily="34" charset="-122"/>
                <a:ea typeface="Microsoft YaHei" panose="020B0503020204020204" pitchFamily="34" charset="-122"/>
              </a:rPr>
              <a:t>凱基零售客戶</a:t>
            </a:r>
            <a:r>
              <a:rPr lang="en-US" altLang="zh-TW" sz="1600" b="1">
                <a:solidFill>
                  <a:srgbClr val="575757"/>
                </a:solidFill>
                <a:latin typeface="Microsoft YaHei" panose="020B0503020204020204" pitchFamily="34" charset="-122"/>
                <a:ea typeface="Microsoft YaHei" panose="020B0503020204020204" pitchFamily="34" charset="-122"/>
              </a:rPr>
              <a:t>M</a:t>
            </a:r>
            <a:r>
              <a:rPr lang="zh-TW" altLang="en-US" sz="1600" b="1">
                <a:solidFill>
                  <a:srgbClr val="575757"/>
                </a:solidFill>
                <a:latin typeface="Microsoft YaHei" panose="020B0503020204020204" pitchFamily="34" charset="-122"/>
                <a:ea typeface="Microsoft YaHei" panose="020B0503020204020204" pitchFamily="34" charset="-122"/>
              </a:rPr>
              <a:t>客數</a:t>
            </a:r>
            <a:endParaRPr lang="en-US" altLang="zh-TW" sz="1600" b="1">
              <a:solidFill>
                <a:srgbClr val="575757"/>
              </a:solidFill>
              <a:latin typeface="Microsoft YaHei" panose="020B0503020204020204" pitchFamily="34" charset="-122"/>
              <a:ea typeface="Microsoft YaHei" panose="020B0503020204020204" pitchFamily="34" charset="-122"/>
            </a:endParaRPr>
          </a:p>
          <a:p>
            <a:pPr>
              <a:lnSpc>
                <a:spcPct val="90000"/>
              </a:lnSpc>
            </a:pPr>
            <a:r>
              <a:rPr lang="en-US" altLang="zh-TW" sz="1400">
                <a:solidFill>
                  <a:srgbClr val="575757"/>
                </a:solidFill>
                <a:latin typeface="Microsoft YaHei" panose="020B0503020204020204" pitchFamily="34" charset="-122"/>
                <a:ea typeface="Microsoft YaHei" panose="020B0503020204020204" pitchFamily="34" charset="-122"/>
              </a:rPr>
              <a:t>(</a:t>
            </a:r>
            <a:r>
              <a:rPr lang="zh-TW" altLang="en-US" sz="1400">
                <a:solidFill>
                  <a:srgbClr val="575757"/>
                </a:solidFill>
                <a:latin typeface="Microsoft YaHei" panose="020B0503020204020204" pitchFamily="34" charset="-122"/>
                <a:ea typeface="Microsoft YaHei" panose="020B0503020204020204" pitchFamily="34" charset="-122"/>
              </a:rPr>
              <a:t>萬人，以</a:t>
            </a:r>
            <a:r>
              <a:rPr lang="en-US" altLang="zh-TW" sz="1400">
                <a:solidFill>
                  <a:srgbClr val="575757"/>
                </a:solidFill>
                <a:latin typeface="Microsoft YaHei" panose="020B0503020204020204" pitchFamily="34" charset="-122"/>
                <a:ea typeface="Microsoft YaHei" panose="020B0503020204020204" pitchFamily="34" charset="-122"/>
              </a:rPr>
              <a:t>'23</a:t>
            </a:r>
            <a:r>
              <a:rPr lang="zh-TW" altLang="en-US" sz="1400">
                <a:solidFill>
                  <a:srgbClr val="575757"/>
                </a:solidFill>
                <a:latin typeface="Microsoft YaHei" panose="020B0503020204020204" pitchFamily="34" charset="-122"/>
                <a:ea typeface="Microsoft YaHei" panose="020B0503020204020204" pitchFamily="34" charset="-122"/>
              </a:rPr>
              <a:t>年底資産規模爲準</a:t>
            </a:r>
            <a:r>
              <a:rPr lang="en-US" altLang="zh-TW" sz="1400">
                <a:solidFill>
                  <a:srgbClr val="575757"/>
                </a:solidFill>
                <a:latin typeface="Microsoft YaHei" panose="020B0503020204020204" pitchFamily="34" charset="-122"/>
                <a:ea typeface="Microsoft YaHei" panose="020B0503020204020204" pitchFamily="34" charset="-122"/>
              </a:rPr>
              <a:t>)</a:t>
            </a:r>
            <a:endParaRPr lang="en-US" sz="1400">
              <a:solidFill>
                <a:srgbClr val="575757"/>
              </a:solidFill>
              <a:latin typeface="Microsoft YaHei" panose="020B0503020204020204" pitchFamily="34" charset="-122"/>
              <a:ea typeface="Microsoft YaHei" panose="020B0503020204020204" pitchFamily="34" charset="-122"/>
            </a:endParaRPr>
          </a:p>
        </p:txBody>
      </p:sp>
      <p:sp>
        <p:nvSpPr>
          <p:cNvPr id="53" name="TextBox 52">
            <a:extLst>
              <a:ext uri="{FF2B5EF4-FFF2-40B4-BE49-F238E27FC236}">
                <a16:creationId xmlns:a16="http://schemas.microsoft.com/office/drawing/2014/main" id="{C18A79EB-A89B-C04E-0255-878D4A92B9A3}"/>
              </a:ext>
            </a:extLst>
          </p:cNvPr>
          <p:cNvSpPr txBox="1"/>
          <p:nvPr/>
        </p:nvSpPr>
        <p:spPr>
          <a:xfrm>
            <a:off x="8107491" y="5603123"/>
            <a:ext cx="3061723" cy="443198"/>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a:spAutoFit/>
          </a:bodyPr>
          <a:lstStyle/>
          <a:p>
            <a:pPr>
              <a:lnSpc>
                <a:spcPct val="90000"/>
              </a:lnSpc>
              <a:spcAft>
                <a:spcPts val="600"/>
              </a:spcAft>
            </a:pPr>
            <a:r>
              <a:rPr lang="zh-TW" altLang="en-US" sz="1600" b="1">
                <a:solidFill>
                  <a:srgbClr val="29BA74"/>
                </a:solidFill>
                <a:latin typeface="Trebuchet MS" panose="020B0603020202020204" pitchFamily="34" charset="0"/>
                <a:ea typeface="Microsoft YaHei" panose="020B0503020204020204" pitchFamily="34" charset="-122"/>
                <a:sym typeface="Microsoft YaHei" panose="020B0503020204020204" pitchFamily="34" charset="-122"/>
              </a:rPr>
              <a:t>行網銀註冊率高，應近一步以精準數位方式銷售</a:t>
            </a:r>
            <a:endParaRPr lang="en-US" altLang="zh-TW" sz="1600" b="1">
              <a:solidFill>
                <a:srgbClr val="A8B21C"/>
              </a:solidFill>
              <a:latin typeface="Trebuchet MS" panose="020B0603020202020204" pitchFamily="34" charset="0"/>
              <a:ea typeface="Microsoft YaHei" panose="020B0503020204020204" pitchFamily="34" charset="-122"/>
            </a:endParaRPr>
          </a:p>
        </p:txBody>
      </p:sp>
      <p:sp>
        <p:nvSpPr>
          <p:cNvPr id="56" name="TextBox 55">
            <a:extLst>
              <a:ext uri="{FF2B5EF4-FFF2-40B4-BE49-F238E27FC236}">
                <a16:creationId xmlns:a16="http://schemas.microsoft.com/office/drawing/2014/main" id="{F3F0FC4C-2AAF-8714-E0D1-5121632447F0}"/>
              </a:ext>
            </a:extLst>
          </p:cNvPr>
          <p:cNvSpPr txBox="1"/>
          <p:nvPr/>
        </p:nvSpPr>
        <p:spPr>
          <a:xfrm>
            <a:off x="630000" y="1790702"/>
            <a:ext cx="7599941" cy="276999"/>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a:spAutoFit/>
          </a:bodyPr>
          <a:lstStyle/>
          <a:p>
            <a:pPr marL="108000" lvl="1">
              <a:buClr>
                <a:schemeClr val="tx2"/>
              </a:buClr>
            </a:pPr>
            <a:r>
              <a:rPr lang="en-US" altLang="zh-TW">
                <a:solidFill>
                  <a:srgbClr val="29BA74"/>
                </a:solidFill>
                <a:sym typeface="Trebuchet MS" panose="020B0603020202020204" pitchFamily="34" charset="0"/>
              </a:rPr>
              <a:t>10%</a:t>
            </a:r>
            <a:r>
              <a:rPr lang="zh-TW" altLang="en-US">
                <a:solidFill>
                  <a:srgbClr val="29BA74"/>
                </a:solidFill>
                <a:sym typeface="Trebuchet MS" panose="020B0603020202020204" pitchFamily="34" charset="0"/>
              </a:rPr>
              <a:t> </a:t>
            </a:r>
            <a:r>
              <a:rPr lang="en-US" altLang="zh-TW">
                <a:solidFill>
                  <a:srgbClr val="29BA74"/>
                </a:solidFill>
                <a:sym typeface="Trebuchet MS" panose="020B0603020202020204" pitchFamily="34" charset="0"/>
              </a:rPr>
              <a:t>M</a:t>
            </a:r>
            <a:r>
              <a:rPr lang="zh-TW" altLang="en-US">
                <a:solidFill>
                  <a:srgbClr val="29BA74"/>
                </a:solidFill>
                <a:sym typeface="Trebuchet MS" panose="020B0603020202020204" pitchFamily="34" charset="0"/>
              </a:rPr>
              <a:t>客資產介於</a:t>
            </a:r>
            <a:r>
              <a:rPr lang="en-US" altLang="zh-TW">
                <a:solidFill>
                  <a:srgbClr val="29BA74"/>
                </a:solidFill>
                <a:sym typeface="Trebuchet MS" panose="020B0603020202020204" pitchFamily="34" charset="0"/>
              </a:rPr>
              <a:t>30-100</a:t>
            </a:r>
            <a:r>
              <a:rPr lang="zh-TW" altLang="en-US">
                <a:solidFill>
                  <a:srgbClr val="29BA74"/>
                </a:solidFill>
                <a:sym typeface="Trebuchet MS" panose="020B0603020202020204" pitchFamily="34" charset="0"/>
              </a:rPr>
              <a:t>萬</a:t>
            </a:r>
            <a:r>
              <a:rPr lang="en-US" altLang="zh-TW">
                <a:solidFill>
                  <a:srgbClr val="29BA74"/>
                </a:solidFill>
                <a:sym typeface="Trebuchet MS" panose="020B0603020202020204" pitchFamily="34" charset="0"/>
              </a:rPr>
              <a:t>; </a:t>
            </a:r>
            <a:r>
              <a:rPr lang="zh-TW" altLang="en-US">
                <a:solidFill>
                  <a:srgbClr val="29BA74"/>
                </a:solidFill>
                <a:sym typeface="Trebuchet MS" panose="020B0603020202020204" pitchFamily="34" charset="0"/>
              </a:rPr>
              <a:t>多數爲非財管客戶，資産以存款與定存爲主</a:t>
            </a:r>
            <a:endParaRPr lang="en-US" altLang="zh-TW">
              <a:solidFill>
                <a:srgbClr val="29BA74"/>
              </a:solidFill>
              <a:sym typeface="Trebuchet MS" panose="020B0603020202020204" pitchFamily="34" charset="0"/>
            </a:endParaRPr>
          </a:p>
        </p:txBody>
      </p:sp>
      <p:sp>
        <p:nvSpPr>
          <p:cNvPr id="59" name="Textfeld 1">
            <a:extLst>
              <a:ext uri="{FF2B5EF4-FFF2-40B4-BE49-F238E27FC236}">
                <a16:creationId xmlns:a16="http://schemas.microsoft.com/office/drawing/2014/main" id="{C54542BF-5FD8-3E37-C790-080DFF1811E9}"/>
              </a:ext>
            </a:extLst>
          </p:cNvPr>
          <p:cNvSpPr txBox="1"/>
          <p:nvPr>
            <p:custDataLst>
              <p:tags r:id="rId13"/>
            </p:custDataLst>
          </p:nvPr>
        </p:nvSpPr>
        <p:spPr>
          <a:xfrm>
            <a:off x="8318887" y="1974748"/>
            <a:ext cx="2208471" cy="240066"/>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en-US" altLang="zh-TW" sz="1200" b="1">
                <a:solidFill>
                  <a:srgbClr val="575757"/>
                </a:solidFill>
                <a:sym typeface="Trebuchet MS" panose="020B0603020202020204" pitchFamily="34" charset="0"/>
              </a:rPr>
              <a:t>TBD</a:t>
            </a:r>
            <a:r>
              <a:rPr lang="zh-TW" altLang="en-US" sz="1200" b="1">
                <a:solidFill>
                  <a:srgbClr val="575757"/>
                </a:solidFill>
                <a:sym typeface="Trebuchet MS" panose="020B0603020202020204" pitchFamily="34" charset="0"/>
              </a:rPr>
              <a:t> </a:t>
            </a:r>
            <a:r>
              <a:rPr lang="en-US" altLang="zh-TW" sz="1200" b="1">
                <a:solidFill>
                  <a:srgbClr val="575757"/>
                </a:solidFill>
                <a:sym typeface="Trebuchet MS" panose="020B0603020202020204" pitchFamily="34" charset="0"/>
              </a:rPr>
              <a:t>(70-100</a:t>
            </a:r>
            <a:r>
              <a:rPr lang="zh-TW" altLang="en-US" sz="1200" b="1">
                <a:solidFill>
                  <a:srgbClr val="575757"/>
                </a:solidFill>
                <a:sym typeface="Trebuchet MS" panose="020B0603020202020204" pitchFamily="34" charset="0"/>
              </a:rPr>
              <a:t>沒有行網銀數據</a:t>
            </a:r>
            <a:r>
              <a:rPr lang="en-US" altLang="zh-TW" sz="1200" b="1">
                <a:solidFill>
                  <a:srgbClr val="575757"/>
                </a:solidFill>
                <a:sym typeface="Trebuchet MS" panose="020B0603020202020204" pitchFamily="34" charset="0"/>
              </a:rPr>
              <a:t>)</a:t>
            </a:r>
          </a:p>
        </p:txBody>
      </p:sp>
      <p:sp>
        <p:nvSpPr>
          <p:cNvPr id="63" name="TextBox 62">
            <a:extLst>
              <a:ext uri="{FF2B5EF4-FFF2-40B4-BE49-F238E27FC236}">
                <a16:creationId xmlns:a16="http://schemas.microsoft.com/office/drawing/2014/main" id="{A5EA102C-BAD5-D3C1-180D-FC5D60928878}"/>
              </a:ext>
            </a:extLst>
          </p:cNvPr>
          <p:cNvSpPr txBox="1"/>
          <p:nvPr/>
        </p:nvSpPr>
        <p:spPr>
          <a:xfrm>
            <a:off x="4668900" y="5720932"/>
            <a:ext cx="2707782" cy="221599"/>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a:spAutoFit/>
          </a:bodyPr>
          <a:lstStyle/>
          <a:p>
            <a:pPr>
              <a:lnSpc>
                <a:spcPct val="90000"/>
              </a:lnSpc>
              <a:spcAft>
                <a:spcPts val="600"/>
              </a:spcAft>
            </a:pPr>
            <a:r>
              <a:rPr lang="zh-TW" altLang="en-US" sz="1600" b="1">
                <a:solidFill>
                  <a:srgbClr val="29BA74"/>
                </a:solidFill>
                <a:latin typeface="Trebuchet MS" panose="020B0603020202020204" pitchFamily="34" charset="0"/>
                <a:ea typeface="Microsoft YaHei" panose="020B0503020204020204" pitchFamily="34" charset="-122"/>
              </a:rPr>
              <a:t>現金多，有進一步深化的空間</a:t>
            </a:r>
            <a:endParaRPr lang="en-US" altLang="zh-TW" sz="1600" b="1">
              <a:solidFill>
                <a:srgbClr val="29BA74"/>
              </a:solidFill>
              <a:latin typeface="Trebuchet MS" panose="020B0603020202020204" pitchFamily="34" charset="0"/>
              <a:ea typeface="Microsoft YaHei" panose="020B0503020204020204" pitchFamily="34" charset="-122"/>
            </a:endParaRPr>
          </a:p>
        </p:txBody>
      </p:sp>
      <p:sp>
        <p:nvSpPr>
          <p:cNvPr id="103" name="Rectangle 102">
            <a:extLst>
              <a:ext uri="{FF2B5EF4-FFF2-40B4-BE49-F238E27FC236}">
                <a16:creationId xmlns:a16="http://schemas.microsoft.com/office/drawing/2014/main" id="{DCBD5A10-7004-8B9F-367E-603F8BE685F3}"/>
              </a:ext>
            </a:extLst>
          </p:cNvPr>
          <p:cNvSpPr/>
          <p:nvPr/>
        </p:nvSpPr>
        <p:spPr>
          <a:xfrm>
            <a:off x="2898490" y="4380053"/>
            <a:ext cx="1588350" cy="817916"/>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108000" lvl="1">
              <a:buClr>
                <a:schemeClr val="tx2"/>
              </a:buClr>
            </a:pPr>
            <a:r>
              <a:rPr lang="zh-TW" altLang="en-US" sz="1600">
                <a:solidFill>
                  <a:schemeClr val="tx1"/>
                </a:solidFill>
                <a:latin typeface="Trebuchet MS" panose="020B0603020202020204" pitchFamily="34" charset="0"/>
                <a:ea typeface="Microsoft YaHei" panose="020B0503020204020204" pitchFamily="34" charset="-122"/>
              </a:rPr>
              <a:t>整體逾</a:t>
            </a:r>
            <a:r>
              <a:rPr lang="en-US" altLang="zh-TW" sz="1600">
                <a:solidFill>
                  <a:schemeClr val="tx1"/>
                </a:solidFill>
                <a:latin typeface="Trebuchet MS" panose="020B0603020202020204" pitchFamily="34" charset="0"/>
                <a:ea typeface="Microsoft YaHei" panose="020B0503020204020204" pitchFamily="34" charset="-122"/>
              </a:rPr>
              <a:t>90%</a:t>
            </a:r>
            <a:r>
              <a:rPr lang="zh-TW" altLang="en-US" sz="1600">
                <a:solidFill>
                  <a:schemeClr val="tx1"/>
                </a:solidFill>
                <a:latin typeface="Trebuchet MS" panose="020B0603020202020204" pitchFamily="34" charset="0"/>
                <a:ea typeface="Microsoft YaHei" panose="020B0503020204020204" pitchFamily="34" charset="-122"/>
              </a:rPr>
              <a:t>為</a:t>
            </a:r>
            <a:r>
              <a:rPr lang="en-US" altLang="zh-TW" sz="1600">
                <a:solidFill>
                  <a:schemeClr val="tx1"/>
                </a:solidFill>
                <a:latin typeface="Trebuchet MS" panose="020B0603020202020204" pitchFamily="34" charset="0"/>
                <a:ea typeface="Microsoft YaHei" panose="020B0503020204020204" pitchFamily="34" charset="-122"/>
              </a:rPr>
              <a:t>0</a:t>
            </a:r>
            <a:r>
              <a:rPr lang="zh-TW" altLang="en-US" sz="1600">
                <a:solidFill>
                  <a:schemeClr val="tx1"/>
                </a:solidFill>
                <a:latin typeface="Trebuchet MS" panose="020B0603020202020204" pitchFamily="34" charset="0"/>
                <a:ea typeface="Microsoft YaHei" panose="020B0503020204020204" pitchFamily="34" charset="-122"/>
              </a:rPr>
              <a:t>元戶或資産規模小于</a:t>
            </a:r>
            <a:r>
              <a:rPr lang="en-US" altLang="zh-TW" sz="1600">
                <a:solidFill>
                  <a:schemeClr val="tx1"/>
                </a:solidFill>
                <a:latin typeface="Trebuchet MS" panose="020B0603020202020204" pitchFamily="34" charset="0"/>
                <a:ea typeface="Microsoft YaHei" panose="020B0503020204020204" pitchFamily="34" charset="-122"/>
              </a:rPr>
              <a:t>30</a:t>
            </a:r>
            <a:r>
              <a:rPr lang="zh-TW" altLang="en-US" sz="1600">
                <a:solidFill>
                  <a:schemeClr val="tx1"/>
                </a:solidFill>
                <a:latin typeface="Trebuchet MS" panose="020B0603020202020204" pitchFamily="34" charset="0"/>
                <a:ea typeface="Microsoft YaHei" panose="020B0503020204020204" pitchFamily="34" charset="-122"/>
              </a:rPr>
              <a:t>萬</a:t>
            </a:r>
            <a:endParaRPr lang="en-US" altLang="zh-TW" sz="1600">
              <a:solidFill>
                <a:schemeClr val="tx1"/>
              </a:solidFill>
              <a:latin typeface="Trebuchet MS" panose="020B0603020202020204" pitchFamily="34" charset="0"/>
              <a:ea typeface="Microsoft YaHei" panose="020B0503020204020204" pitchFamily="34" charset="-122"/>
            </a:endParaRPr>
          </a:p>
        </p:txBody>
      </p:sp>
      <p:sp>
        <p:nvSpPr>
          <p:cNvPr id="106" name="Rectangle 105">
            <a:extLst>
              <a:ext uri="{FF2B5EF4-FFF2-40B4-BE49-F238E27FC236}">
                <a16:creationId xmlns:a16="http://schemas.microsoft.com/office/drawing/2014/main" id="{59409EDE-96EF-63D5-0EE2-480675458DF4}"/>
              </a:ext>
            </a:extLst>
          </p:cNvPr>
          <p:cNvSpPr/>
          <p:nvPr/>
        </p:nvSpPr>
        <p:spPr>
          <a:xfrm>
            <a:off x="5025548" y="2283024"/>
            <a:ext cx="5367407" cy="306910"/>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1600" b="1">
                <a:solidFill>
                  <a:srgbClr val="575757"/>
                </a:solidFill>
                <a:latin typeface="Microsoft YaHei" panose="020B0503020204020204" pitchFamily="34" charset="-122"/>
                <a:ea typeface="Microsoft YaHei" panose="020B0503020204020204" pitchFamily="34" charset="-122"/>
              </a:rPr>
              <a:t>M</a:t>
            </a:r>
            <a:r>
              <a:rPr lang="zh-TW" altLang="en-US" sz="1600" b="1">
                <a:solidFill>
                  <a:srgbClr val="575757"/>
                </a:solidFill>
                <a:latin typeface="Microsoft YaHei" panose="020B0503020204020204" pitchFamily="34" charset="-122"/>
                <a:ea typeface="Microsoft YaHei" panose="020B0503020204020204" pitchFamily="34" charset="-122"/>
              </a:rPr>
              <a:t>客樣貌 </a:t>
            </a:r>
            <a:r>
              <a:rPr lang="en-US" altLang="zh-TW" sz="1600" b="1">
                <a:solidFill>
                  <a:srgbClr val="575757"/>
                </a:solidFill>
                <a:latin typeface="Microsoft YaHei" panose="020B0503020204020204" pitchFamily="34" charset="-122"/>
                <a:ea typeface="Microsoft YaHei" panose="020B0503020204020204" pitchFamily="34" charset="-122"/>
              </a:rPr>
              <a:t>(</a:t>
            </a:r>
            <a:r>
              <a:rPr lang="zh-TW" altLang="en-US" sz="1600" b="1">
                <a:solidFill>
                  <a:srgbClr val="575757"/>
                </a:solidFill>
                <a:latin typeface="Microsoft YaHei" panose="020B0503020204020204" pitchFamily="34" charset="-122"/>
                <a:ea typeface="Microsoft YaHei" panose="020B0503020204020204" pitchFamily="34" charset="-122"/>
              </a:rPr>
              <a:t>資産規模</a:t>
            </a:r>
            <a:r>
              <a:rPr lang="en-US" altLang="zh-TW" sz="1600" b="1">
                <a:solidFill>
                  <a:srgbClr val="575757"/>
                </a:solidFill>
                <a:latin typeface="Microsoft YaHei" panose="020B0503020204020204" pitchFamily="34" charset="-122"/>
                <a:ea typeface="Microsoft YaHei" panose="020B0503020204020204" pitchFamily="34" charset="-122"/>
              </a:rPr>
              <a:t>30-70</a:t>
            </a:r>
            <a:r>
              <a:rPr lang="zh-TW" altLang="en-US" sz="1600" b="1">
                <a:solidFill>
                  <a:srgbClr val="575757"/>
                </a:solidFill>
                <a:latin typeface="Microsoft YaHei" panose="020B0503020204020204" pitchFamily="34" charset="-122"/>
                <a:ea typeface="Microsoft YaHei" panose="020B0503020204020204" pitchFamily="34" charset="-122"/>
              </a:rPr>
              <a:t>萬</a:t>
            </a:r>
            <a:r>
              <a:rPr lang="en-US" altLang="zh-TW" sz="1600" b="1">
                <a:solidFill>
                  <a:srgbClr val="575757"/>
                </a:solidFill>
                <a:latin typeface="Microsoft YaHei" panose="020B0503020204020204" pitchFamily="34" charset="-122"/>
                <a:ea typeface="Microsoft YaHei" panose="020B0503020204020204" pitchFamily="34" charset="-122"/>
              </a:rPr>
              <a:t>)</a:t>
            </a:r>
            <a:endParaRPr lang="en-US" sz="1400">
              <a:solidFill>
                <a:srgbClr val="575757"/>
              </a:solidFill>
              <a:latin typeface="Microsoft YaHei" panose="020B0503020204020204" pitchFamily="34" charset="-122"/>
              <a:ea typeface="Microsoft YaHei" panose="020B0503020204020204" pitchFamily="34" charset="-122"/>
            </a:endParaRPr>
          </a:p>
        </p:txBody>
      </p:sp>
      <p:cxnSp>
        <p:nvCxnSpPr>
          <p:cNvPr id="107" name="Straight Connector 106">
            <a:extLst>
              <a:ext uri="{FF2B5EF4-FFF2-40B4-BE49-F238E27FC236}">
                <a16:creationId xmlns:a16="http://schemas.microsoft.com/office/drawing/2014/main" id="{294EBF65-0299-41C3-1488-499A94018ADB}"/>
              </a:ext>
            </a:extLst>
          </p:cNvPr>
          <p:cNvCxnSpPr>
            <a:cxnSpLocks/>
          </p:cNvCxnSpPr>
          <p:nvPr/>
        </p:nvCxnSpPr>
        <p:spPr>
          <a:xfrm>
            <a:off x="4249290" y="2579362"/>
            <a:ext cx="6919924" cy="0"/>
          </a:xfrm>
          <a:prstGeom prst="line">
            <a:avLst/>
          </a:prstGeom>
          <a:ln w="9525" cap="rnd">
            <a:solidFill>
              <a:schemeClr val="tx1">
                <a:lumMod val="60000"/>
                <a:lumOff val="40000"/>
              </a:schemeClr>
            </a:solidFill>
            <a:prstDash val="solid"/>
            <a:round/>
          </a:ln>
        </p:spPr>
        <p:style>
          <a:lnRef idx="1">
            <a:schemeClr val="accent1"/>
          </a:lnRef>
          <a:fillRef idx="0">
            <a:schemeClr val="accent1"/>
          </a:fillRef>
          <a:effectRef idx="0">
            <a:schemeClr val="accent1"/>
          </a:effectRef>
          <a:fontRef idx="minor">
            <a:schemeClr val="tx1"/>
          </a:fontRef>
        </p:style>
      </p:cxnSp>
      <p:sp>
        <p:nvSpPr>
          <p:cNvPr id="108" name="Rectangle 107">
            <a:extLst>
              <a:ext uri="{FF2B5EF4-FFF2-40B4-BE49-F238E27FC236}">
                <a16:creationId xmlns:a16="http://schemas.microsoft.com/office/drawing/2014/main" id="{8819CE6B-3AC7-E18D-8E66-DEE2B3D06D08}"/>
              </a:ext>
            </a:extLst>
          </p:cNvPr>
          <p:cNvSpPr/>
          <p:nvPr/>
        </p:nvSpPr>
        <p:spPr>
          <a:xfrm>
            <a:off x="5141113" y="3681517"/>
            <a:ext cx="2052498" cy="306910"/>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349200">
              <a:buClr>
                <a:schemeClr val="tx2"/>
              </a:buClr>
            </a:pPr>
            <a:r>
              <a:rPr lang="zh-TW" altLang="en-US" sz="1600">
                <a:solidFill>
                  <a:srgbClr val="575757"/>
                </a:solidFill>
                <a:latin typeface="Trebuchet MS" panose="020B0603020202020204" pitchFamily="34" charset="0"/>
                <a:ea typeface="Microsoft YaHei" panose="020B0503020204020204" pitchFamily="34" charset="-122"/>
              </a:rPr>
              <a:t>僅</a:t>
            </a:r>
            <a:r>
              <a:rPr lang="en-US" altLang="zh-TW" sz="1600">
                <a:solidFill>
                  <a:srgbClr val="575757"/>
                </a:solidFill>
                <a:latin typeface="Trebuchet MS" panose="020B0603020202020204" pitchFamily="34" charset="0"/>
                <a:ea typeface="Microsoft YaHei" panose="020B0503020204020204" pitchFamily="34" charset="-122"/>
              </a:rPr>
              <a:t>22%</a:t>
            </a:r>
            <a:r>
              <a:rPr lang="zh-TW" altLang="en-US" sz="1600">
                <a:solidFill>
                  <a:srgbClr val="575757"/>
                </a:solidFill>
                <a:latin typeface="Trebuchet MS" panose="020B0603020202020204" pitchFamily="34" charset="0"/>
                <a:ea typeface="Microsoft YaHei" panose="020B0503020204020204" pitchFamily="34" charset="-122"/>
              </a:rPr>
              <a:t>持有財管商品</a:t>
            </a:r>
            <a:endParaRPr lang="en-US" altLang="zh-TW" sz="1600">
              <a:solidFill>
                <a:srgbClr val="575757"/>
              </a:solidFill>
              <a:latin typeface="Trebuchet MS" panose="020B0603020202020204" pitchFamily="34" charset="0"/>
              <a:ea typeface="Microsoft YaHei" panose="020B0503020204020204" pitchFamily="34" charset="-122"/>
            </a:endParaRPr>
          </a:p>
        </p:txBody>
      </p:sp>
      <p:sp>
        <p:nvSpPr>
          <p:cNvPr id="109" name="Rectangle 108">
            <a:extLst>
              <a:ext uri="{FF2B5EF4-FFF2-40B4-BE49-F238E27FC236}">
                <a16:creationId xmlns:a16="http://schemas.microsoft.com/office/drawing/2014/main" id="{9CD99EDA-5430-1293-DCBD-66B2933FC4D4}"/>
              </a:ext>
            </a:extLst>
          </p:cNvPr>
          <p:cNvSpPr/>
          <p:nvPr/>
        </p:nvSpPr>
        <p:spPr>
          <a:xfrm>
            <a:off x="5161867" y="4426531"/>
            <a:ext cx="2611863" cy="356256"/>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349200">
              <a:buClr>
                <a:schemeClr val="tx2"/>
              </a:buClr>
            </a:pPr>
            <a:r>
              <a:rPr lang="zh-TW" altLang="en-US" sz="1600">
                <a:solidFill>
                  <a:srgbClr val="575757"/>
                </a:solidFill>
                <a:latin typeface="Trebuchet MS" panose="020B0603020202020204" pitchFamily="34" charset="0"/>
                <a:ea typeface="Microsoft YaHei" panose="020B0503020204020204" pitchFamily="34" charset="-122"/>
              </a:rPr>
              <a:t>平均產品持有數僅</a:t>
            </a:r>
            <a:r>
              <a:rPr lang="en-US" altLang="zh-TW" sz="1600">
                <a:solidFill>
                  <a:srgbClr val="575757"/>
                </a:solidFill>
                <a:latin typeface="Trebuchet MS" panose="020B0603020202020204" pitchFamily="34" charset="0"/>
                <a:ea typeface="Microsoft YaHei" panose="020B0503020204020204" pitchFamily="34" charset="-122"/>
              </a:rPr>
              <a:t>1.9</a:t>
            </a:r>
          </a:p>
        </p:txBody>
      </p:sp>
      <p:sp>
        <p:nvSpPr>
          <p:cNvPr id="110" name="Rectangle 109">
            <a:extLst>
              <a:ext uri="{FF2B5EF4-FFF2-40B4-BE49-F238E27FC236}">
                <a16:creationId xmlns:a16="http://schemas.microsoft.com/office/drawing/2014/main" id="{BD370F80-EEF7-29ED-B941-8E11CD824C61}"/>
              </a:ext>
            </a:extLst>
          </p:cNvPr>
          <p:cNvSpPr/>
          <p:nvPr/>
        </p:nvSpPr>
        <p:spPr>
          <a:xfrm>
            <a:off x="8584376" y="3650205"/>
            <a:ext cx="2611863" cy="356256"/>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349200">
              <a:buClr>
                <a:schemeClr val="tx2"/>
              </a:buClr>
            </a:pPr>
            <a:r>
              <a:rPr lang="en-US" altLang="zh-TW" sz="1600">
                <a:solidFill>
                  <a:srgbClr val="575757"/>
                </a:solidFill>
                <a:latin typeface="Trebuchet MS" panose="020B0603020202020204" pitchFamily="34" charset="0"/>
                <a:ea typeface="Microsoft YaHei" panose="020B0503020204020204" pitchFamily="34" charset="-122"/>
              </a:rPr>
              <a:t>74%</a:t>
            </a:r>
            <a:r>
              <a:rPr lang="zh-TW" altLang="en-US" sz="1600">
                <a:solidFill>
                  <a:srgbClr val="575757"/>
                </a:solidFill>
                <a:latin typeface="Trebuchet MS" panose="020B0603020202020204" pitchFamily="34" charset="0"/>
                <a:ea typeface="Microsoft YaHei" panose="020B0503020204020204" pitchFamily="34" charset="-122"/>
              </a:rPr>
              <a:t>客戶有註冊行網銀</a:t>
            </a:r>
            <a:endParaRPr lang="en-US" altLang="zh-TW" sz="1600">
              <a:solidFill>
                <a:srgbClr val="575757"/>
              </a:solidFill>
              <a:latin typeface="Trebuchet MS" panose="020B0603020202020204" pitchFamily="34" charset="0"/>
              <a:ea typeface="Microsoft YaHei" panose="020B0503020204020204" pitchFamily="34" charset="-122"/>
            </a:endParaRPr>
          </a:p>
        </p:txBody>
      </p:sp>
      <p:sp>
        <p:nvSpPr>
          <p:cNvPr id="111" name="Rectangle 110">
            <a:extLst>
              <a:ext uri="{FF2B5EF4-FFF2-40B4-BE49-F238E27FC236}">
                <a16:creationId xmlns:a16="http://schemas.microsoft.com/office/drawing/2014/main" id="{E7125A89-3770-8C8D-2CFC-44B265DF9130}"/>
              </a:ext>
            </a:extLst>
          </p:cNvPr>
          <p:cNvSpPr/>
          <p:nvPr/>
        </p:nvSpPr>
        <p:spPr>
          <a:xfrm>
            <a:off x="8508662" y="4419278"/>
            <a:ext cx="2611863" cy="356256"/>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349200">
              <a:buClr>
                <a:schemeClr val="tx2"/>
              </a:buClr>
            </a:pPr>
            <a:r>
              <a:rPr lang="zh-TW" altLang="en-US" sz="1600">
                <a:solidFill>
                  <a:srgbClr val="575757"/>
                </a:solidFill>
                <a:latin typeface="Trebuchet MS" panose="020B0603020202020204" pitchFamily="34" charset="0"/>
                <a:ea typeface="Microsoft YaHei" panose="020B0503020204020204" pitchFamily="34" charset="-122"/>
              </a:rPr>
              <a:t>行網銀平均每月登入</a:t>
            </a:r>
            <a:r>
              <a:rPr lang="en-US" altLang="zh-TW" sz="1600">
                <a:solidFill>
                  <a:srgbClr val="575757"/>
                </a:solidFill>
                <a:latin typeface="Trebuchet MS" panose="020B0603020202020204" pitchFamily="34" charset="0"/>
                <a:ea typeface="Microsoft YaHei" panose="020B0503020204020204" pitchFamily="34" charset="-122"/>
              </a:rPr>
              <a:t>2</a:t>
            </a:r>
            <a:r>
              <a:rPr lang="zh-TW" altLang="en-US" sz="1600">
                <a:solidFill>
                  <a:srgbClr val="575757"/>
                </a:solidFill>
                <a:latin typeface="Trebuchet MS" panose="020B0603020202020204" pitchFamily="34" charset="0"/>
                <a:ea typeface="Microsoft YaHei" panose="020B0503020204020204" pitchFamily="34" charset="-122"/>
              </a:rPr>
              <a:t>次</a:t>
            </a:r>
            <a:endParaRPr lang="en-US" altLang="zh-TW" sz="1600">
              <a:solidFill>
                <a:srgbClr val="575757"/>
              </a:solidFill>
              <a:latin typeface="Trebuchet MS" panose="020B0603020202020204" pitchFamily="34" charset="0"/>
              <a:ea typeface="Microsoft YaHei" panose="020B0503020204020204" pitchFamily="34" charset="-122"/>
            </a:endParaRPr>
          </a:p>
        </p:txBody>
      </p:sp>
      <p:sp>
        <p:nvSpPr>
          <p:cNvPr id="114" name="Right Bracket 113">
            <a:extLst>
              <a:ext uri="{FF2B5EF4-FFF2-40B4-BE49-F238E27FC236}">
                <a16:creationId xmlns:a16="http://schemas.microsoft.com/office/drawing/2014/main" id="{14CBF012-E41A-4564-88AA-C6DA0DA649EF}"/>
              </a:ext>
            </a:extLst>
          </p:cNvPr>
          <p:cNvSpPr/>
          <p:nvPr/>
        </p:nvSpPr>
        <p:spPr>
          <a:xfrm>
            <a:off x="2809301" y="3757613"/>
            <a:ext cx="178376" cy="2400300"/>
          </a:xfrm>
          <a:prstGeom prst="rightBracket">
            <a:avLst/>
          </a:prstGeom>
          <a:ln w="9525" cap="rnd">
            <a:solidFill>
              <a:schemeClr val="tx1">
                <a:lumMod val="60000"/>
                <a:lumOff val="40000"/>
              </a:schemeClr>
            </a:solidFill>
            <a:prstDash val="solid"/>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23" name="ee4pFootnotes">
            <a:extLst>
              <a:ext uri="{FF2B5EF4-FFF2-40B4-BE49-F238E27FC236}">
                <a16:creationId xmlns:a16="http://schemas.microsoft.com/office/drawing/2014/main" id="{B39EA40C-BD57-3B2A-0464-64DA9ACEF3E0}"/>
              </a:ext>
            </a:extLst>
          </p:cNvPr>
          <p:cNvSpPr>
            <a:spLocks noChangeArrowheads="1"/>
          </p:cNvSpPr>
          <p:nvPr/>
        </p:nvSpPr>
        <p:spPr bwMode="auto">
          <a:xfrm>
            <a:off x="630000" y="6421441"/>
            <a:ext cx="9030914" cy="138499"/>
          </a:xfrm>
          <a:prstGeom prst="rect">
            <a:avLst/>
          </a:prstGeom>
          <a:noFill/>
          <a:ln w="9525" algn="ctr">
            <a:noFill/>
            <a:miter lim="800000"/>
            <a:headEnd type="none" w="lg" len="lg"/>
            <a:tailEnd type="none" w="lg" len="lg"/>
          </a:ln>
        </p:spPr>
        <p:txBody>
          <a:bodyPr vert="horz" wrap="square" lIns="0" tIns="0" rIns="0" bIns="0" anchor="b" anchorCtr="0">
            <a:spAutoFit/>
          </a:bodyPr>
          <a:lstStyle/>
          <a:p>
            <a:pPr>
              <a:lnSpc>
                <a:spcPct val="90000"/>
              </a:lnSpc>
            </a:pPr>
            <a:r>
              <a:rPr lang="en-US" altLang="zh-TW" sz="1000">
                <a:solidFill>
                  <a:schemeClr val="bg1">
                    <a:lumMod val="50000"/>
                  </a:schemeClr>
                </a:solidFill>
                <a:latin typeface="Trebuchet MS" panose="020B0603020202020204" pitchFamily="34" charset="0"/>
                <a:cs typeface="Arial" pitchFamily="34" charset="0"/>
              </a:rPr>
              <a:t>1. </a:t>
            </a:r>
            <a:r>
              <a:rPr lang="zh-TW" altLang="en-US" sz="1000">
                <a:solidFill>
                  <a:schemeClr val="bg1">
                    <a:lumMod val="50000"/>
                  </a:schemeClr>
                </a:solidFill>
                <a:latin typeface="Trebuchet MS" panose="020B0603020202020204" pitchFamily="34" charset="0"/>
                <a:cs typeface="Arial" pitchFamily="34" charset="0"/>
              </a:rPr>
              <a:t>潛力</a:t>
            </a:r>
            <a:r>
              <a:rPr lang="en-US" altLang="zh-TW" sz="1000">
                <a:solidFill>
                  <a:schemeClr val="bg1">
                    <a:lumMod val="50000"/>
                  </a:schemeClr>
                </a:solidFill>
                <a:latin typeface="Trebuchet MS" panose="020B0603020202020204" pitchFamily="34" charset="0"/>
                <a:cs typeface="Arial" pitchFamily="34" charset="0"/>
              </a:rPr>
              <a:t>A</a:t>
            </a:r>
            <a:r>
              <a:rPr lang="zh-TW" altLang="en-US" sz="1000">
                <a:solidFill>
                  <a:schemeClr val="bg1">
                    <a:lumMod val="50000"/>
                  </a:schemeClr>
                </a:solidFill>
                <a:latin typeface="Trebuchet MS" panose="020B0603020202020204" pitchFamily="34" charset="0"/>
                <a:cs typeface="Arial" pitchFamily="34" charset="0"/>
              </a:rPr>
              <a:t>客包含資産規模介于</a:t>
            </a:r>
            <a:r>
              <a:rPr lang="en-US" altLang="zh-TW" sz="1000">
                <a:solidFill>
                  <a:schemeClr val="bg1">
                    <a:lumMod val="50000"/>
                  </a:schemeClr>
                </a:solidFill>
                <a:latin typeface="Trebuchet MS" panose="020B0603020202020204" pitchFamily="34" charset="0"/>
                <a:cs typeface="Arial" pitchFamily="34" charset="0"/>
              </a:rPr>
              <a:t>70-100</a:t>
            </a:r>
            <a:r>
              <a:rPr lang="zh-TW" altLang="en-US" sz="1000">
                <a:solidFill>
                  <a:schemeClr val="bg1">
                    <a:lumMod val="50000"/>
                  </a:schemeClr>
                </a:solidFill>
                <a:latin typeface="Trebuchet MS" panose="020B0603020202020204" pitchFamily="34" charset="0"/>
                <a:cs typeface="Arial" pitchFamily="34" charset="0"/>
              </a:rPr>
              <a:t>萬、過去資産規模曾</a:t>
            </a:r>
            <a:r>
              <a:rPr lang="en-US" altLang="zh-TW" sz="1000">
                <a:solidFill>
                  <a:schemeClr val="bg1">
                    <a:lumMod val="50000"/>
                  </a:schemeClr>
                </a:solidFill>
                <a:latin typeface="Trebuchet MS" panose="020B0603020202020204" pitchFamily="34" charset="0"/>
                <a:cs typeface="Arial" pitchFamily="34" charset="0"/>
              </a:rPr>
              <a:t>&gt;100</a:t>
            </a:r>
            <a:r>
              <a:rPr lang="zh-TW" altLang="en-US" sz="1000">
                <a:solidFill>
                  <a:schemeClr val="bg1">
                    <a:lumMod val="50000"/>
                  </a:schemeClr>
                </a:solidFill>
                <a:latin typeface="Trebuchet MS" panose="020B0603020202020204" pitchFamily="34" charset="0"/>
                <a:cs typeface="Arial" pitchFamily="34" charset="0"/>
              </a:rPr>
              <a:t>萬、信貸額度</a:t>
            </a:r>
            <a:r>
              <a:rPr lang="en-US" altLang="zh-TW" sz="1000">
                <a:solidFill>
                  <a:schemeClr val="bg1">
                    <a:lumMod val="50000"/>
                  </a:schemeClr>
                </a:solidFill>
                <a:latin typeface="Trebuchet MS" panose="020B0603020202020204" pitchFamily="34" charset="0"/>
                <a:cs typeface="Arial" pitchFamily="34" charset="0"/>
              </a:rPr>
              <a:t>&gt;300</a:t>
            </a:r>
            <a:r>
              <a:rPr lang="zh-TW" altLang="en-US" sz="1000">
                <a:solidFill>
                  <a:schemeClr val="bg1">
                    <a:lumMod val="50000"/>
                  </a:schemeClr>
                </a:solidFill>
                <a:latin typeface="Trebuchet MS" panose="020B0603020202020204" pitchFamily="34" charset="0"/>
                <a:cs typeface="Arial" pitchFamily="34" charset="0"/>
              </a:rPr>
              <a:t>萬、房貸額度</a:t>
            </a:r>
            <a:r>
              <a:rPr lang="en-US" altLang="zh-TW" sz="1000">
                <a:solidFill>
                  <a:schemeClr val="bg1">
                    <a:lumMod val="50000"/>
                  </a:schemeClr>
                </a:solidFill>
                <a:latin typeface="Trebuchet MS" panose="020B0603020202020204" pitchFamily="34" charset="0"/>
                <a:cs typeface="Arial" pitchFamily="34" charset="0"/>
              </a:rPr>
              <a:t>&gt;1000</a:t>
            </a:r>
            <a:r>
              <a:rPr lang="zh-TW" altLang="en-US" sz="1000">
                <a:solidFill>
                  <a:schemeClr val="bg1">
                    <a:lumMod val="50000"/>
                  </a:schemeClr>
                </a:solidFill>
                <a:latin typeface="Trebuchet MS" panose="020B0603020202020204" pitchFamily="34" charset="0"/>
                <a:cs typeface="Arial" pitchFamily="34" charset="0"/>
              </a:rPr>
              <a:t>萬</a:t>
            </a:r>
          </a:p>
        </p:txBody>
      </p:sp>
      <p:sp>
        <p:nvSpPr>
          <p:cNvPr id="125" name="Rectangle 124">
            <a:extLst>
              <a:ext uri="{FF2B5EF4-FFF2-40B4-BE49-F238E27FC236}">
                <a16:creationId xmlns:a16="http://schemas.microsoft.com/office/drawing/2014/main" id="{1BBC2360-C994-2181-E524-CDF43423674F}"/>
              </a:ext>
            </a:extLst>
          </p:cNvPr>
          <p:cNvSpPr/>
          <p:nvPr/>
        </p:nvSpPr>
        <p:spPr>
          <a:xfrm>
            <a:off x="4493601" y="2889150"/>
            <a:ext cx="2881216" cy="306903"/>
          </a:xfrm>
          <a:prstGeom prst="rect">
            <a:avLst/>
          </a:prstGeom>
          <a:solidFill>
            <a:srgbClr val="F2F2F2"/>
          </a:solidFill>
          <a:ln w="9525" cap="rnd" cmpd="sng" algn="ctr">
            <a:noFill/>
            <a:prstDash val="sysDot"/>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lvl="1" algn="ctr">
              <a:buClr>
                <a:schemeClr val="tx2"/>
              </a:buClr>
            </a:pPr>
            <a:r>
              <a:rPr lang="zh-TW" altLang="en-US" sz="1600" b="1">
                <a:solidFill>
                  <a:srgbClr val="29BA74"/>
                </a:solidFill>
                <a:latin typeface="Trebuchet MS" panose="020B0603020202020204" pitchFamily="34" charset="0"/>
                <a:ea typeface="Microsoft YaHei" panose="020B0503020204020204" pitchFamily="34" charset="-122"/>
              </a:rPr>
              <a:t>產品持有狀況</a:t>
            </a:r>
            <a:endParaRPr lang="en-US" altLang="zh-TW" sz="1600" b="1">
              <a:solidFill>
                <a:srgbClr val="29BA74"/>
              </a:solidFill>
              <a:latin typeface="Trebuchet MS" panose="020B0603020202020204" pitchFamily="34" charset="0"/>
              <a:ea typeface="Microsoft YaHei" panose="020B0503020204020204" pitchFamily="34" charset="-122"/>
            </a:endParaRPr>
          </a:p>
        </p:txBody>
      </p:sp>
      <p:sp>
        <p:nvSpPr>
          <p:cNvPr id="139" name="Rectangle 138">
            <a:extLst>
              <a:ext uri="{FF2B5EF4-FFF2-40B4-BE49-F238E27FC236}">
                <a16:creationId xmlns:a16="http://schemas.microsoft.com/office/drawing/2014/main" id="{83223106-B946-7E04-5C50-29C0FDBA18CF}"/>
              </a:ext>
            </a:extLst>
          </p:cNvPr>
          <p:cNvSpPr/>
          <p:nvPr/>
        </p:nvSpPr>
        <p:spPr>
          <a:xfrm>
            <a:off x="7982513" y="2886272"/>
            <a:ext cx="3061723" cy="314675"/>
          </a:xfrm>
          <a:prstGeom prst="rect">
            <a:avLst/>
          </a:prstGeom>
          <a:solidFill>
            <a:srgbClr val="F2F2F2"/>
          </a:solidFill>
          <a:ln w="9525" cap="rnd" cmpd="sng" algn="ctr">
            <a:noFill/>
            <a:prstDash val="sysDot"/>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lvl="1" algn="ctr">
              <a:buClr>
                <a:schemeClr val="tx2"/>
              </a:buClr>
            </a:pPr>
            <a:r>
              <a:rPr lang="zh-TW" altLang="en-US" sz="1600" b="1">
                <a:solidFill>
                  <a:srgbClr val="29BA74"/>
                </a:solidFill>
                <a:latin typeface="Trebuchet MS" panose="020B0603020202020204" pitchFamily="34" charset="0"/>
                <a:ea typeface="Microsoft YaHei" panose="020B0503020204020204" pitchFamily="34" charset="-122"/>
              </a:rPr>
              <a:t>行網銀使用狀況</a:t>
            </a:r>
            <a:endParaRPr lang="en-US" altLang="zh-TW" sz="1600" b="1">
              <a:solidFill>
                <a:srgbClr val="29BA74"/>
              </a:solidFill>
              <a:latin typeface="Trebuchet MS" panose="020B0603020202020204" pitchFamily="34" charset="0"/>
              <a:ea typeface="Microsoft YaHei" panose="020B0503020204020204" pitchFamily="34" charset="-122"/>
            </a:endParaRPr>
          </a:p>
        </p:txBody>
      </p:sp>
      <p:sp>
        <p:nvSpPr>
          <p:cNvPr id="140" name="Oval 139">
            <a:extLst>
              <a:ext uri="{FF2B5EF4-FFF2-40B4-BE49-F238E27FC236}">
                <a16:creationId xmlns:a16="http://schemas.microsoft.com/office/drawing/2014/main" id="{4DEE3C52-ABD1-A670-594E-E922738ED14D}"/>
              </a:ext>
            </a:extLst>
          </p:cNvPr>
          <p:cNvSpPr>
            <a:spLocks noChangeAspect="1"/>
          </p:cNvSpPr>
          <p:nvPr/>
        </p:nvSpPr>
        <p:spPr>
          <a:xfrm>
            <a:off x="4643501" y="3590913"/>
            <a:ext cx="489862" cy="489862"/>
          </a:xfrm>
          <a:prstGeom prst="ellipse">
            <a:avLst/>
          </a:prstGeom>
          <a:solidFill>
            <a:srgbClr val="FFFFFF"/>
          </a:solidFill>
          <a:ln w="38100" cap="rnd">
            <a:gradFill flip="none" rotWithShape="1">
              <a:gsLst>
                <a:gs pos="0">
                  <a:schemeClr val="accent4"/>
                </a:gs>
                <a:gs pos="100000">
                  <a:schemeClr val="accent3"/>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kern="0">
                <a:solidFill>
                  <a:schemeClr val="tx2"/>
                </a:solidFill>
              </a:rPr>
              <a:t>22%</a:t>
            </a:r>
            <a:endParaRPr lang="en-US" sz="300" kern="0">
              <a:solidFill>
                <a:schemeClr val="bg1">
                  <a:lumMod val="50000"/>
                </a:schemeClr>
              </a:solidFill>
            </a:endParaRPr>
          </a:p>
        </p:txBody>
      </p:sp>
      <p:sp>
        <p:nvSpPr>
          <p:cNvPr id="141" name="Oval 140">
            <a:extLst>
              <a:ext uri="{FF2B5EF4-FFF2-40B4-BE49-F238E27FC236}">
                <a16:creationId xmlns:a16="http://schemas.microsoft.com/office/drawing/2014/main" id="{EAB25B94-9E99-8675-0D2A-259CA831D594}"/>
              </a:ext>
            </a:extLst>
          </p:cNvPr>
          <p:cNvSpPr>
            <a:spLocks noChangeAspect="1"/>
          </p:cNvSpPr>
          <p:nvPr/>
        </p:nvSpPr>
        <p:spPr>
          <a:xfrm>
            <a:off x="4643501" y="4354734"/>
            <a:ext cx="489862" cy="489862"/>
          </a:xfrm>
          <a:prstGeom prst="ellipse">
            <a:avLst/>
          </a:prstGeom>
          <a:solidFill>
            <a:srgbClr val="FFFFFF"/>
          </a:solidFill>
          <a:ln w="38100" cap="rnd">
            <a:gradFill flip="none" rotWithShape="1">
              <a:gsLst>
                <a:gs pos="0">
                  <a:schemeClr val="accent4"/>
                </a:gs>
                <a:gs pos="100000">
                  <a:schemeClr val="accent3"/>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kern="0">
                <a:solidFill>
                  <a:schemeClr val="tx2"/>
                </a:solidFill>
              </a:rPr>
              <a:t>1.9</a:t>
            </a:r>
            <a:endParaRPr lang="en-US" sz="300" kern="0">
              <a:solidFill>
                <a:schemeClr val="bg1">
                  <a:lumMod val="50000"/>
                </a:schemeClr>
              </a:solidFill>
            </a:endParaRPr>
          </a:p>
        </p:txBody>
      </p:sp>
      <p:sp>
        <p:nvSpPr>
          <p:cNvPr id="142" name="Oval 141">
            <a:extLst>
              <a:ext uri="{FF2B5EF4-FFF2-40B4-BE49-F238E27FC236}">
                <a16:creationId xmlns:a16="http://schemas.microsoft.com/office/drawing/2014/main" id="{C8BF02DF-DAA1-9183-BA45-97BAFA4A6656}"/>
              </a:ext>
            </a:extLst>
          </p:cNvPr>
          <p:cNvSpPr>
            <a:spLocks noChangeAspect="1"/>
          </p:cNvSpPr>
          <p:nvPr/>
        </p:nvSpPr>
        <p:spPr>
          <a:xfrm>
            <a:off x="8011050" y="4353142"/>
            <a:ext cx="489862" cy="489862"/>
          </a:xfrm>
          <a:prstGeom prst="ellipse">
            <a:avLst/>
          </a:prstGeom>
          <a:solidFill>
            <a:srgbClr val="FFFFFF"/>
          </a:solidFill>
          <a:ln w="38100" cap="rnd">
            <a:gradFill flip="none" rotWithShape="1">
              <a:gsLst>
                <a:gs pos="0">
                  <a:schemeClr val="accent4"/>
                </a:gs>
                <a:gs pos="100000">
                  <a:schemeClr val="accent3"/>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kern="0">
                <a:solidFill>
                  <a:schemeClr val="tx2"/>
                </a:solidFill>
              </a:rPr>
              <a:t>2</a:t>
            </a:r>
            <a:r>
              <a:rPr lang="zh-TW" altLang="en-US" sz="1400" b="1" kern="0">
                <a:solidFill>
                  <a:schemeClr val="tx2"/>
                </a:solidFill>
              </a:rPr>
              <a:t>次</a:t>
            </a:r>
            <a:endParaRPr lang="en-US" sz="300" kern="0">
              <a:solidFill>
                <a:schemeClr val="bg1">
                  <a:lumMod val="50000"/>
                </a:schemeClr>
              </a:solidFill>
            </a:endParaRPr>
          </a:p>
        </p:txBody>
      </p:sp>
      <p:sp>
        <p:nvSpPr>
          <p:cNvPr id="143" name="Oval 142">
            <a:extLst>
              <a:ext uri="{FF2B5EF4-FFF2-40B4-BE49-F238E27FC236}">
                <a16:creationId xmlns:a16="http://schemas.microsoft.com/office/drawing/2014/main" id="{4894D6DD-6AA5-4F7C-AAEB-1D8FB97A9242}"/>
              </a:ext>
            </a:extLst>
          </p:cNvPr>
          <p:cNvSpPr>
            <a:spLocks noChangeAspect="1"/>
          </p:cNvSpPr>
          <p:nvPr/>
        </p:nvSpPr>
        <p:spPr>
          <a:xfrm>
            <a:off x="8011050" y="3591689"/>
            <a:ext cx="489862" cy="489862"/>
          </a:xfrm>
          <a:prstGeom prst="ellipse">
            <a:avLst/>
          </a:prstGeom>
          <a:solidFill>
            <a:srgbClr val="FFFFFF"/>
          </a:solidFill>
          <a:ln w="38100" cap="rnd">
            <a:gradFill flip="none" rotWithShape="1">
              <a:gsLst>
                <a:gs pos="0">
                  <a:schemeClr val="accent4"/>
                </a:gs>
                <a:gs pos="100000">
                  <a:schemeClr val="accent3"/>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kern="0">
                <a:solidFill>
                  <a:schemeClr val="tx2"/>
                </a:solidFill>
              </a:rPr>
              <a:t>74%</a:t>
            </a:r>
            <a:endParaRPr lang="en-US" sz="300" kern="0">
              <a:solidFill>
                <a:schemeClr val="bg1">
                  <a:lumMod val="50000"/>
                </a:schemeClr>
              </a:solidFill>
            </a:endParaRPr>
          </a:p>
        </p:txBody>
      </p:sp>
      <p:grpSp>
        <p:nvGrpSpPr>
          <p:cNvPr id="145" name="Group 21">
            <a:extLst>
              <a:ext uri="{FF2B5EF4-FFF2-40B4-BE49-F238E27FC236}">
                <a16:creationId xmlns:a16="http://schemas.microsoft.com/office/drawing/2014/main" id="{E8EF891F-BFD8-EE67-0DE2-B1355CF3F362}"/>
              </a:ext>
            </a:extLst>
          </p:cNvPr>
          <p:cNvGrpSpPr/>
          <p:nvPr/>
        </p:nvGrpSpPr>
        <p:grpSpPr>
          <a:xfrm rot="5400000">
            <a:off x="5871880" y="4238466"/>
            <a:ext cx="221597" cy="2119140"/>
            <a:chOff x="8199121" y="2556887"/>
            <a:chExt cx="1090023" cy="4536398"/>
          </a:xfrm>
        </p:grpSpPr>
        <p:sp>
          <p:nvSpPr>
            <p:cNvPr id="146" name="Isosceles Triangle 22">
              <a:extLst>
                <a:ext uri="{FF2B5EF4-FFF2-40B4-BE49-F238E27FC236}">
                  <a16:creationId xmlns:a16="http://schemas.microsoft.com/office/drawing/2014/main" id="{8F2D200B-9B3A-6B2D-23EF-13C970A0B081}"/>
                </a:ext>
              </a:extLst>
            </p:cNvPr>
            <p:cNvSpPr/>
            <p:nvPr/>
          </p:nvSpPr>
          <p:spPr>
            <a:xfrm rot="5400000">
              <a:off x="6614545" y="4418687"/>
              <a:ext cx="4536397" cy="812800"/>
            </a:xfrm>
            <a:prstGeom prst="triangle">
              <a:avLst/>
            </a:prstGeom>
            <a:gradFill flip="none" rotWithShape="1">
              <a:gsLst>
                <a:gs pos="0">
                  <a:schemeClr val="accent4">
                    <a:lumMod val="20000"/>
                    <a:lumOff val="80000"/>
                    <a:alpha val="0"/>
                  </a:schemeClr>
                </a:gs>
                <a:gs pos="100000">
                  <a:schemeClr val="accent4">
                    <a:lumMod val="40000"/>
                    <a:lumOff val="60000"/>
                  </a:schemeClr>
                </a:gs>
              </a:gsLst>
              <a:lin ang="16200000" scaled="1"/>
              <a:tileRect/>
            </a:gradFill>
            <a:ln w="12700" cap="rnd">
              <a:gradFill flip="none" rotWithShape="1">
                <a:gsLst>
                  <a:gs pos="0">
                    <a:schemeClr val="accent1">
                      <a:lumMod val="5000"/>
                      <a:lumOff val="95000"/>
                      <a:alpha val="0"/>
                    </a:schemeClr>
                  </a:gs>
                  <a:gs pos="100000">
                    <a:schemeClr val="accent4"/>
                  </a:gs>
                </a:gsLst>
                <a:lin ang="16200000" scaled="1"/>
                <a:tileRect/>
              </a:gra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spcAft>
                  <a:spcPts val="1000"/>
                </a:spcAft>
              </a:pPr>
              <a:endParaRPr lang="en-US" sz="1200" err="1">
                <a:solidFill>
                  <a:schemeClr val="bg1"/>
                </a:solidFill>
                <a:ea typeface="Microsoft YaHei" panose="020B0503020204020204" pitchFamily="34" charset="-122"/>
                <a:cs typeface="+mn-ea"/>
                <a:sym typeface="+mn-lt"/>
              </a:endParaRPr>
            </a:p>
          </p:txBody>
        </p:sp>
        <p:sp>
          <p:nvSpPr>
            <p:cNvPr id="147" name="Isosceles Triangle 23">
              <a:extLst>
                <a:ext uri="{FF2B5EF4-FFF2-40B4-BE49-F238E27FC236}">
                  <a16:creationId xmlns:a16="http://schemas.microsoft.com/office/drawing/2014/main" id="{F48BA410-4F0C-1F0F-C53B-FA2F2FB1DB9E}"/>
                </a:ext>
              </a:extLst>
            </p:cNvPr>
            <p:cNvSpPr/>
            <p:nvPr/>
          </p:nvSpPr>
          <p:spPr>
            <a:xfrm rot="5400000">
              <a:off x="6337322" y="4418686"/>
              <a:ext cx="4536397" cy="812800"/>
            </a:xfrm>
            <a:prstGeom prst="triangle">
              <a:avLst/>
            </a:prstGeom>
            <a:gradFill flip="none" rotWithShape="1">
              <a:gsLst>
                <a:gs pos="0">
                  <a:schemeClr val="accent4">
                    <a:lumMod val="20000"/>
                    <a:lumOff val="80000"/>
                    <a:alpha val="0"/>
                  </a:schemeClr>
                </a:gs>
                <a:gs pos="100000">
                  <a:schemeClr val="accent4">
                    <a:lumMod val="40000"/>
                    <a:lumOff val="60000"/>
                  </a:schemeClr>
                </a:gs>
              </a:gsLst>
              <a:lin ang="16200000" scaled="1"/>
              <a:tileRect/>
            </a:gradFill>
            <a:ln w="12700" cap="rnd">
              <a:gradFill flip="none" rotWithShape="1">
                <a:gsLst>
                  <a:gs pos="0">
                    <a:schemeClr val="accent1">
                      <a:lumMod val="5000"/>
                      <a:lumOff val="95000"/>
                      <a:alpha val="0"/>
                    </a:schemeClr>
                  </a:gs>
                  <a:gs pos="100000">
                    <a:schemeClr val="accent4"/>
                  </a:gs>
                </a:gsLst>
                <a:lin ang="16200000" scaled="1"/>
                <a:tileRect/>
              </a:gra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spcAft>
                  <a:spcPts val="1000"/>
                </a:spcAft>
              </a:pPr>
              <a:endParaRPr lang="en-US" sz="1200" err="1">
                <a:solidFill>
                  <a:schemeClr val="bg1"/>
                </a:solidFill>
                <a:ea typeface="Microsoft YaHei" panose="020B0503020204020204" pitchFamily="34" charset="-122"/>
                <a:cs typeface="+mn-ea"/>
                <a:sym typeface="+mn-lt"/>
              </a:endParaRPr>
            </a:p>
          </p:txBody>
        </p:sp>
      </p:grpSp>
      <p:grpSp>
        <p:nvGrpSpPr>
          <p:cNvPr id="149" name="Group 21">
            <a:extLst>
              <a:ext uri="{FF2B5EF4-FFF2-40B4-BE49-F238E27FC236}">
                <a16:creationId xmlns:a16="http://schemas.microsoft.com/office/drawing/2014/main" id="{916A42C0-EE14-B187-4C98-0375EE5C1263}"/>
              </a:ext>
            </a:extLst>
          </p:cNvPr>
          <p:cNvGrpSpPr/>
          <p:nvPr/>
        </p:nvGrpSpPr>
        <p:grpSpPr>
          <a:xfrm rot="5400000">
            <a:off x="9402575" y="4238467"/>
            <a:ext cx="221597" cy="2119140"/>
            <a:chOff x="8199121" y="2556887"/>
            <a:chExt cx="1090023" cy="4536398"/>
          </a:xfrm>
        </p:grpSpPr>
        <p:sp>
          <p:nvSpPr>
            <p:cNvPr id="150" name="Isosceles Triangle 22">
              <a:extLst>
                <a:ext uri="{FF2B5EF4-FFF2-40B4-BE49-F238E27FC236}">
                  <a16:creationId xmlns:a16="http://schemas.microsoft.com/office/drawing/2014/main" id="{E28A3849-CB14-7320-E680-0D895FD2CC83}"/>
                </a:ext>
              </a:extLst>
            </p:cNvPr>
            <p:cNvSpPr/>
            <p:nvPr/>
          </p:nvSpPr>
          <p:spPr>
            <a:xfrm rot="5400000">
              <a:off x="6614545" y="4418687"/>
              <a:ext cx="4536397" cy="812800"/>
            </a:xfrm>
            <a:prstGeom prst="triangle">
              <a:avLst/>
            </a:prstGeom>
            <a:gradFill flip="none" rotWithShape="1">
              <a:gsLst>
                <a:gs pos="0">
                  <a:schemeClr val="accent4">
                    <a:lumMod val="20000"/>
                    <a:lumOff val="80000"/>
                    <a:alpha val="0"/>
                  </a:schemeClr>
                </a:gs>
                <a:gs pos="100000">
                  <a:schemeClr val="accent4">
                    <a:lumMod val="40000"/>
                    <a:lumOff val="60000"/>
                  </a:schemeClr>
                </a:gs>
              </a:gsLst>
              <a:lin ang="16200000" scaled="1"/>
              <a:tileRect/>
            </a:gradFill>
            <a:ln w="12700" cap="rnd">
              <a:gradFill flip="none" rotWithShape="1">
                <a:gsLst>
                  <a:gs pos="0">
                    <a:schemeClr val="accent1">
                      <a:lumMod val="5000"/>
                      <a:lumOff val="95000"/>
                      <a:alpha val="0"/>
                    </a:schemeClr>
                  </a:gs>
                  <a:gs pos="100000">
                    <a:schemeClr val="accent4"/>
                  </a:gs>
                </a:gsLst>
                <a:lin ang="16200000" scaled="1"/>
                <a:tileRect/>
              </a:gra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spcAft>
                  <a:spcPts val="1000"/>
                </a:spcAft>
              </a:pPr>
              <a:endParaRPr lang="en-US" sz="1200" err="1">
                <a:solidFill>
                  <a:schemeClr val="bg1"/>
                </a:solidFill>
                <a:ea typeface="Microsoft YaHei" panose="020B0503020204020204" pitchFamily="34" charset="-122"/>
                <a:cs typeface="+mn-ea"/>
                <a:sym typeface="+mn-lt"/>
              </a:endParaRPr>
            </a:p>
          </p:txBody>
        </p:sp>
        <p:sp>
          <p:nvSpPr>
            <p:cNvPr id="151" name="Isosceles Triangle 23">
              <a:extLst>
                <a:ext uri="{FF2B5EF4-FFF2-40B4-BE49-F238E27FC236}">
                  <a16:creationId xmlns:a16="http://schemas.microsoft.com/office/drawing/2014/main" id="{7CE48370-6D01-4130-9196-A824FE0B3706}"/>
                </a:ext>
              </a:extLst>
            </p:cNvPr>
            <p:cNvSpPr/>
            <p:nvPr/>
          </p:nvSpPr>
          <p:spPr>
            <a:xfrm rot="5400000">
              <a:off x="6337322" y="4418686"/>
              <a:ext cx="4536397" cy="812800"/>
            </a:xfrm>
            <a:prstGeom prst="triangle">
              <a:avLst/>
            </a:prstGeom>
            <a:gradFill flip="none" rotWithShape="1">
              <a:gsLst>
                <a:gs pos="0">
                  <a:schemeClr val="accent4">
                    <a:lumMod val="20000"/>
                    <a:lumOff val="80000"/>
                    <a:alpha val="0"/>
                  </a:schemeClr>
                </a:gs>
                <a:gs pos="100000">
                  <a:schemeClr val="accent4">
                    <a:lumMod val="40000"/>
                    <a:lumOff val="60000"/>
                  </a:schemeClr>
                </a:gs>
              </a:gsLst>
              <a:lin ang="16200000" scaled="1"/>
              <a:tileRect/>
            </a:gradFill>
            <a:ln w="12700" cap="rnd">
              <a:gradFill flip="none" rotWithShape="1">
                <a:gsLst>
                  <a:gs pos="0">
                    <a:schemeClr val="accent1">
                      <a:lumMod val="5000"/>
                      <a:lumOff val="95000"/>
                      <a:alpha val="0"/>
                    </a:schemeClr>
                  </a:gs>
                  <a:gs pos="100000">
                    <a:schemeClr val="accent4"/>
                  </a:gs>
                </a:gsLst>
                <a:lin ang="16200000" scaled="1"/>
                <a:tileRect/>
              </a:gra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spcAft>
                  <a:spcPts val="1000"/>
                </a:spcAft>
              </a:pPr>
              <a:endParaRPr lang="en-US" sz="1200" err="1">
                <a:solidFill>
                  <a:schemeClr val="bg1"/>
                </a:solidFill>
                <a:ea typeface="Microsoft YaHei" panose="020B0503020204020204" pitchFamily="34" charset="-122"/>
                <a:cs typeface="+mn-ea"/>
                <a:sym typeface="+mn-lt"/>
              </a:endParaRPr>
            </a:p>
          </p:txBody>
        </p:sp>
      </p:grpSp>
      <p:sp>
        <p:nvSpPr>
          <p:cNvPr id="153" name="Textfeld 1">
            <a:extLst>
              <a:ext uri="{FF2B5EF4-FFF2-40B4-BE49-F238E27FC236}">
                <a16:creationId xmlns:a16="http://schemas.microsoft.com/office/drawing/2014/main" id="{55BC51A4-4ABA-FD5F-57D9-66976FF17A8F}"/>
              </a:ext>
            </a:extLst>
          </p:cNvPr>
          <p:cNvSpPr txBox="1"/>
          <p:nvPr>
            <p:custDataLst>
              <p:tags r:id="rId14"/>
            </p:custDataLst>
          </p:nvPr>
        </p:nvSpPr>
        <p:spPr>
          <a:xfrm>
            <a:off x="2962556" y="3114322"/>
            <a:ext cx="1088132" cy="483209"/>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en-US" sz="1200" b="1">
                <a:solidFill>
                  <a:srgbClr val="575757"/>
                </a:solidFill>
                <a:sym typeface="Trebuchet MS" panose="020B0603020202020204" pitchFamily="34" charset="0"/>
              </a:rPr>
              <a:t>CA 14.Jun.24:
</a:t>
            </a:r>
            <a:r>
              <a:rPr lang="zh-TW" altLang="en-US" sz="1200" b="1">
                <a:solidFill>
                  <a:srgbClr val="575757"/>
                </a:solidFill>
                <a:sym typeface="Trebuchet MS" panose="020B0603020202020204" pitchFamily="34" charset="0"/>
              </a:rPr>
              <a:t>已於前述章節</a:t>
            </a:r>
            <a:endParaRPr lang="en-US" sz="1200" b="1">
              <a:solidFill>
                <a:srgbClr val="575757"/>
              </a:solidFill>
              <a:sym typeface="Trebuchet MS" panose="020B0603020202020204" pitchFamily="34" charset="0"/>
            </a:endParaRPr>
          </a:p>
        </p:txBody>
      </p:sp>
      <p:cxnSp>
        <p:nvCxnSpPr>
          <p:cNvPr id="5" name="Straight Connector 4">
            <a:extLst>
              <a:ext uri="{FF2B5EF4-FFF2-40B4-BE49-F238E27FC236}">
                <a16:creationId xmlns:a16="http://schemas.microsoft.com/office/drawing/2014/main" id="{BE0CC23F-F9FB-297F-5AA4-EA767A45C438}"/>
              </a:ext>
            </a:extLst>
          </p:cNvPr>
          <p:cNvCxnSpPr/>
          <p:nvPr/>
        </p:nvCxnSpPr>
        <p:spPr>
          <a:xfrm flipV="1">
            <a:off x="-26987" y="-30773"/>
            <a:ext cx="12147183" cy="6888773"/>
          </a:xfrm>
          <a:prstGeom prst="line">
            <a:avLst/>
          </a:prstGeom>
          <a:ln w="9525" cap="rnd">
            <a:solidFill>
              <a:schemeClr val="tx1">
                <a:lumMod val="60000"/>
                <a:lumOff val="40000"/>
              </a:schemeClr>
            </a:solidFill>
            <a:prstDash val="solid"/>
            <a:roun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1853339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3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15" name="Object 14" hidden="1"/>
          <p:cNvGraphicFramePr>
            <a:graphicFrameLocks noChangeAspect="1"/>
          </p:cNvGraphicFramePr>
          <p:nvPr>
            <p:custDataLst>
              <p:tags r:id="rId1"/>
            </p:custDataLst>
            <p:extLst>
              <p:ext uri="{D42A27DB-BD31-4B8C-83A1-F6EECF244321}">
                <p14:modId xmlns:p14="http://schemas.microsoft.com/office/powerpoint/2010/main" val="457428295"/>
              </p:ext>
            </p:extLst>
          </p:nvPr>
        </p:nvGraphicFramePr>
        <p:xfrm>
          <a:off x="1589" y="1589"/>
          <a:ext cx="1587" cy="1587"/>
        </p:xfrm>
        <a:graphic>
          <a:graphicData uri="http://schemas.openxmlformats.org/presentationml/2006/ole">
            <mc:AlternateContent xmlns:mc="http://schemas.openxmlformats.org/markup-compatibility/2006">
              <mc:Choice xmlns:v="urn:schemas-microsoft-com:vml" Requires="v">
                <p:oleObj name="think-cell Slide" r:id="rId19" imgW="270" imgH="270" progId="TCLayout.ActiveDocument.1">
                  <p:embed/>
                </p:oleObj>
              </mc:Choice>
              <mc:Fallback>
                <p:oleObj name="think-cell Slide" r:id="rId19" imgW="270" imgH="270" progId="TCLayout.ActiveDocument.1">
                  <p:embed/>
                  <p:pic>
                    <p:nvPicPr>
                      <p:cNvPr id="15" name="Object 14" hidden="1"/>
                      <p:cNvPicPr/>
                      <p:nvPr/>
                    </p:nvPicPr>
                    <p:blipFill>
                      <a:blip r:embed="rId20"/>
                      <a:stretch>
                        <a:fillRect/>
                      </a:stretch>
                    </p:blipFill>
                    <p:spPr>
                      <a:xfrm>
                        <a:off x="1589" y="1589"/>
                        <a:ext cx="1587" cy="1587"/>
                      </a:xfrm>
                      <a:prstGeom prst="rect">
                        <a:avLst/>
                      </a:prstGeom>
                    </p:spPr>
                  </p:pic>
                </p:oleObj>
              </mc:Fallback>
            </mc:AlternateContent>
          </a:graphicData>
        </a:graphic>
      </p:graphicFrame>
      <p:sp>
        <p:nvSpPr>
          <p:cNvPr id="5" name="Rectangle 4" hidden="1">
            <a:extLst>
              <a:ext uri="{FF2B5EF4-FFF2-40B4-BE49-F238E27FC236}">
                <a16:creationId xmlns:a16="http://schemas.microsoft.com/office/drawing/2014/main" id="{B985BA38-C927-409E-9DFD-55AEF960ACD2}"/>
              </a:ext>
            </a:extLst>
          </p:cNvPr>
          <p:cNvSpPr/>
          <p:nvPr>
            <p:custDataLst>
              <p:tags r:id="rId2"/>
            </p:custDataLst>
          </p:nvPr>
        </p:nvSpPr>
        <p:spPr>
          <a:xfrm>
            <a:off x="1" y="1"/>
            <a:ext cx="158751" cy="158751"/>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FFFFFF"/>
              </a:solidFill>
              <a:effectLst/>
              <a:uLnTx/>
              <a:uFillTx/>
              <a:latin typeface="Trebuchet MS" panose="020B0603020202020204" pitchFamily="34" charset="0"/>
              <a:ea typeface="+mn-ea"/>
              <a:cs typeface="+mn-cs"/>
              <a:sym typeface="Trebuchet MS" panose="020B0603020202020204" pitchFamily="34" charset="0"/>
            </a:endParaRPr>
          </a:p>
        </p:txBody>
      </p:sp>
      <p:sp>
        <p:nvSpPr>
          <p:cNvPr id="4" name="Rectangle 3" hidden="1">
            <a:extLst>
              <a:ext uri="{FF2B5EF4-FFF2-40B4-BE49-F238E27FC236}">
                <a16:creationId xmlns:a16="http://schemas.microsoft.com/office/drawing/2014/main" id="{24250499-F407-4349-89B7-6C51155F9D47}"/>
              </a:ext>
            </a:extLst>
          </p:cNvPr>
          <p:cNvSpPr/>
          <p:nvPr>
            <p:custDataLst>
              <p:tags r:id="rId3"/>
            </p:custDataLst>
          </p:nvPr>
        </p:nvSpPr>
        <p:spPr>
          <a:xfrm>
            <a:off x="1" y="1"/>
            <a:ext cx="158751" cy="158751"/>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rebuchet MS" panose="020B0603020202020204" pitchFamily="34" charset="0"/>
              <a:ea typeface="+mn-ea"/>
              <a:cs typeface="+mn-cs"/>
              <a:sym typeface="Trebuchet MS" panose="020B0603020202020204" pitchFamily="34" charset="0"/>
            </a:endParaRPr>
          </a:p>
        </p:txBody>
      </p:sp>
      <p:sp>
        <p:nvSpPr>
          <p:cNvPr id="14" name="Rectangle 13" hidden="1"/>
          <p:cNvSpPr/>
          <p:nvPr>
            <p:custDataLst>
              <p:tags r:id="rId4"/>
            </p:custDataLst>
          </p:nvPr>
        </p:nvSpPr>
        <p:spPr bwMode="gray">
          <a:xfrm>
            <a:off x="1" y="1"/>
            <a:ext cx="158751" cy="158751"/>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ct val="0"/>
              </a:spcBef>
              <a:spcAft>
                <a:spcPct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Trebuchet MS" panose="020B0603020202020204" pitchFamily="34" charset="0"/>
              <a:ea typeface="+mn-ea"/>
              <a:cs typeface="+mn-cs"/>
              <a:sym typeface="Trebuchet MS" panose="020B0603020202020204" pitchFamily="34" charset="0"/>
            </a:endParaRPr>
          </a:p>
        </p:txBody>
      </p:sp>
      <p:sp>
        <p:nvSpPr>
          <p:cNvPr id="150" name="Title 6">
            <a:extLst>
              <a:ext uri="{FF2B5EF4-FFF2-40B4-BE49-F238E27FC236}">
                <a16:creationId xmlns:a16="http://schemas.microsoft.com/office/drawing/2014/main" id="{8185A1B7-2B9F-4C07-857C-2EB337B66606}"/>
              </a:ext>
            </a:extLst>
          </p:cNvPr>
          <p:cNvSpPr>
            <a:spLocks noGrp="1"/>
          </p:cNvSpPr>
          <p:nvPr>
            <p:ph type="title"/>
          </p:nvPr>
        </p:nvSpPr>
        <p:spPr>
          <a:xfrm>
            <a:off x="630000" y="622800"/>
            <a:ext cx="10933350" cy="332399"/>
          </a:xfrm>
          <a:prstGeom prst="rect">
            <a:avLst/>
          </a:prstGeom>
        </p:spPr>
        <p:txBody>
          <a:bodyPr vert="horz">
            <a:spAutoFit/>
          </a:bodyPr>
          <a:lstStyle/>
          <a:p>
            <a:pPr>
              <a:buSzPts val="2400"/>
            </a:pPr>
            <a:r>
              <a:rPr lang="zh-TW" altLang="en-US">
                <a:solidFill>
                  <a:schemeClr val="tx2"/>
                </a:solidFill>
              </a:rPr>
              <a:t>客戶路徑</a:t>
            </a:r>
            <a:r>
              <a:rPr lang="en-US" altLang="zh-TW">
                <a:solidFill>
                  <a:schemeClr val="tx2"/>
                </a:solidFill>
              </a:rPr>
              <a:t>|</a:t>
            </a:r>
            <a:r>
              <a:rPr lang="zh-TW" altLang="en-US">
                <a:solidFill>
                  <a:schemeClr val="tx2"/>
                </a:solidFill>
              </a:rPr>
              <a:t> 透過關鍵客戶路徑，識別下一個最佳產品 </a:t>
            </a:r>
            <a:r>
              <a:rPr lang="en-US" altLang="zh-TW">
                <a:solidFill>
                  <a:schemeClr val="tx2"/>
                </a:solidFill>
              </a:rPr>
              <a:t>(Next-best product)</a:t>
            </a:r>
            <a:endParaRPr lang="en-US">
              <a:solidFill>
                <a:schemeClr val="tx2"/>
              </a:solidFill>
            </a:endParaRPr>
          </a:p>
        </p:txBody>
      </p:sp>
      <p:sp>
        <p:nvSpPr>
          <p:cNvPr id="3" name="TextBox 2">
            <a:extLst>
              <a:ext uri="{FF2B5EF4-FFF2-40B4-BE49-F238E27FC236}">
                <a16:creationId xmlns:a16="http://schemas.microsoft.com/office/drawing/2014/main" id="{0DA02855-E829-4AAC-A3FD-5CB3B2C81F47}"/>
              </a:ext>
            </a:extLst>
          </p:cNvPr>
          <p:cNvSpPr txBox="1"/>
          <p:nvPr/>
        </p:nvSpPr>
        <p:spPr>
          <a:xfrm>
            <a:off x="649999" y="4135535"/>
            <a:ext cx="3454379" cy="1754326"/>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575757"/>
                </a:solidFill>
                <a:effectLst/>
                <a:uLnTx/>
                <a:uFillTx/>
                <a:latin typeface="Trebuchet MS"/>
                <a:ea typeface="+mn-ea"/>
                <a:cs typeface="+mn-cs"/>
              </a:rPr>
              <a:t>Across the entire customer base, we identified 12 </a:t>
            </a:r>
            <a:r>
              <a:rPr kumimoji="0" lang="en-US" sz="1800" b="0" i="0" u="none" strike="noStrike" kern="1200" cap="none" spc="0" normalizeH="0" baseline="0" noProof="0" err="1">
                <a:ln>
                  <a:noFill/>
                </a:ln>
                <a:solidFill>
                  <a:srgbClr val="575757"/>
                </a:solidFill>
                <a:effectLst/>
                <a:uLnTx/>
                <a:uFillTx/>
                <a:latin typeface="Trebuchet MS"/>
                <a:ea typeface="+mn-ea"/>
                <a:cs typeface="+mn-cs"/>
              </a:rPr>
              <a:t>strate-gically</a:t>
            </a:r>
            <a:r>
              <a:rPr kumimoji="0" lang="en-US" sz="1800" b="0" i="0" u="none" strike="noStrike" kern="1200" cap="none" spc="0" normalizeH="0" baseline="0" noProof="0">
                <a:ln>
                  <a:noFill/>
                </a:ln>
                <a:solidFill>
                  <a:srgbClr val="575757"/>
                </a:solidFill>
                <a:effectLst/>
                <a:uLnTx/>
                <a:uFillTx/>
                <a:latin typeface="Trebuchet MS"/>
                <a:ea typeface="+mn-ea"/>
                <a:cs typeface="+mn-cs"/>
              </a:rPr>
              <a:t> important </a:t>
            </a:r>
            <a:r>
              <a:rPr kumimoji="0" lang="en-US" sz="1800" b="0" i="0" u="none" strike="noStrike" kern="1200" cap="none" spc="0" normalizeH="0" baseline="0" noProof="0">
                <a:ln>
                  <a:noFill/>
                </a:ln>
                <a:solidFill>
                  <a:srgbClr val="29BA74"/>
                </a:solidFill>
                <a:effectLst/>
                <a:uLnTx/>
                <a:uFillTx/>
                <a:latin typeface="Trebuchet MS"/>
                <a:ea typeface="+mn-ea"/>
                <a:cs typeface="+mn-cs"/>
              </a:rPr>
              <a:t>customer pathways </a:t>
            </a:r>
            <a:r>
              <a:rPr kumimoji="0" lang="en-US" sz="1800" b="0" i="0" u="none" strike="noStrike" kern="1200" cap="none" spc="0" normalizeH="0" baseline="0" noProof="0">
                <a:ln>
                  <a:noFill/>
                </a:ln>
                <a:solidFill>
                  <a:srgbClr val="575757"/>
                </a:solidFill>
                <a:effectLst/>
                <a:uLnTx/>
                <a:uFillTx/>
                <a:latin typeface="Trebuchet MS"/>
                <a:ea typeface="+mn-ea"/>
                <a:cs typeface="+mn-cs"/>
              </a:rPr>
              <a:t>based on product coverage and how actively customers use bank services ... </a:t>
            </a:r>
          </a:p>
        </p:txBody>
      </p:sp>
      <p:pic>
        <p:nvPicPr>
          <p:cNvPr id="53" name="Picture 52">
            <a:extLst>
              <a:ext uri="{FF2B5EF4-FFF2-40B4-BE49-F238E27FC236}">
                <a16:creationId xmlns:a16="http://schemas.microsoft.com/office/drawing/2014/main" id="{1944172C-CDE3-4E41-958E-B40507CD7767}"/>
              </a:ext>
            </a:extLst>
          </p:cNvPr>
          <p:cNvPicPr>
            <a:picLocks noChangeAspect="1"/>
          </p:cNvPicPr>
          <p:nvPr>
            <p:custDataLst>
              <p:tags r:id="rId5"/>
            </p:custDataLst>
          </p:nvPr>
        </p:nvPicPr>
        <p:blipFill>
          <a:blip r:embed="rId21"/>
          <a:stretch>
            <a:fillRect/>
          </a:stretch>
        </p:blipFill>
        <p:spPr>
          <a:xfrm>
            <a:off x="8441605" y="2061612"/>
            <a:ext cx="3454378" cy="1943088"/>
          </a:xfrm>
          <a:prstGeom prst="rect">
            <a:avLst/>
          </a:prstGeom>
          <a:ln w="9525" cap="flat" cmpd="sng" algn="ctr">
            <a:solidFill>
              <a:srgbClr val="9A9A9A"/>
            </a:solidFill>
            <a:prstDash val="solid"/>
            <a:round/>
            <a:headEnd type="none" w="med" len="med"/>
            <a:tailEnd type="none" w="med" len="med"/>
          </a:ln>
          <a:effectLst>
            <a:outerShdw blurRad="50800" dist="38100" dir="2700000" algn="tl" rotWithShape="0">
              <a:prstClr val="black">
                <a:alpha val="40000"/>
              </a:prstClr>
            </a:outerShdw>
          </a:effectLst>
        </p:spPr>
      </p:pic>
      <p:pic>
        <p:nvPicPr>
          <p:cNvPr id="97" name="Picture 96">
            <a:extLst>
              <a:ext uri="{FF2B5EF4-FFF2-40B4-BE49-F238E27FC236}">
                <a16:creationId xmlns:a16="http://schemas.microsoft.com/office/drawing/2014/main" id="{F4E5B862-1636-4FCB-B7DC-57D7DCEFFEE7}"/>
              </a:ext>
            </a:extLst>
          </p:cNvPr>
          <p:cNvPicPr>
            <a:picLocks noChangeAspect="1"/>
          </p:cNvPicPr>
          <p:nvPr>
            <p:custDataLst>
              <p:tags r:id="rId6"/>
            </p:custDataLst>
          </p:nvPr>
        </p:nvPicPr>
        <p:blipFill>
          <a:blip r:embed="rId22"/>
          <a:stretch>
            <a:fillRect/>
          </a:stretch>
        </p:blipFill>
        <p:spPr>
          <a:xfrm>
            <a:off x="515265" y="2061612"/>
            <a:ext cx="3454376" cy="1943088"/>
          </a:xfrm>
          <a:prstGeom prst="rect">
            <a:avLst/>
          </a:prstGeom>
          <a:ln w="9525" cap="flat" cmpd="sng" algn="ctr">
            <a:solidFill>
              <a:srgbClr val="9A9A9A"/>
            </a:solidFill>
            <a:prstDash val="solid"/>
            <a:round/>
            <a:headEnd type="none" w="med" len="med"/>
            <a:tailEnd type="none" w="med" len="med"/>
          </a:ln>
          <a:effectLst>
            <a:outerShdw blurRad="50800" dist="38100" dir="2700000" algn="tl" rotWithShape="0">
              <a:prstClr val="black">
                <a:alpha val="40000"/>
              </a:prstClr>
            </a:outerShdw>
          </a:effectLst>
        </p:spPr>
      </p:pic>
      <p:sp>
        <p:nvSpPr>
          <p:cNvPr id="94" name="TextBox 93">
            <a:extLst>
              <a:ext uri="{FF2B5EF4-FFF2-40B4-BE49-F238E27FC236}">
                <a16:creationId xmlns:a16="http://schemas.microsoft.com/office/drawing/2014/main" id="{E32B0836-1786-455C-8B30-FD6ADF8ABCA7}"/>
              </a:ext>
            </a:extLst>
          </p:cNvPr>
          <p:cNvSpPr txBox="1"/>
          <p:nvPr/>
        </p:nvSpPr>
        <p:spPr>
          <a:xfrm>
            <a:off x="4558405" y="4135535"/>
            <a:ext cx="3377154" cy="1200329"/>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575757"/>
                </a:solidFill>
                <a:effectLst/>
                <a:uLnTx/>
                <a:uFillTx/>
                <a:latin typeface="Trebuchet MS"/>
                <a:ea typeface="+mn-ea"/>
                <a:cs typeface="+mn-cs"/>
              </a:rPr>
              <a:t>... Based on data-driven analysis of </a:t>
            </a:r>
            <a:r>
              <a:rPr kumimoji="0" lang="en-US" sz="1800" b="0" i="0" u="none" strike="noStrike" kern="1200" cap="none" spc="0" normalizeH="0" baseline="0" noProof="0">
                <a:ln>
                  <a:noFill/>
                </a:ln>
                <a:solidFill>
                  <a:srgbClr val="29BA74"/>
                </a:solidFill>
                <a:effectLst/>
                <a:uLnTx/>
                <a:uFillTx/>
                <a:latin typeface="Trebuchet MS"/>
                <a:ea typeface="+mn-ea"/>
                <a:cs typeface="+mn-cs"/>
              </a:rPr>
              <a:t>customer cluster footprints </a:t>
            </a:r>
            <a:r>
              <a:rPr kumimoji="0" lang="en-US" sz="1800" b="0" i="0" u="none" strike="noStrike" kern="1200" cap="none" spc="0" normalizeH="0" baseline="0" noProof="0">
                <a:ln>
                  <a:noFill/>
                </a:ln>
                <a:solidFill>
                  <a:srgbClr val="575757"/>
                </a:solidFill>
                <a:effectLst/>
                <a:uLnTx/>
                <a:uFillTx/>
                <a:latin typeface="Trebuchet MS"/>
                <a:ea typeface="+mn-ea"/>
                <a:cs typeface="+mn-cs"/>
              </a:rPr>
              <a:t>and historical pathways.</a:t>
            </a:r>
          </a:p>
        </p:txBody>
      </p:sp>
      <p:sp>
        <p:nvSpPr>
          <p:cNvPr id="95" name="TextBox 94">
            <a:extLst>
              <a:ext uri="{FF2B5EF4-FFF2-40B4-BE49-F238E27FC236}">
                <a16:creationId xmlns:a16="http://schemas.microsoft.com/office/drawing/2014/main" id="{2414CA6E-BC43-4E06-AA1B-829DAE8137C8}"/>
              </a:ext>
            </a:extLst>
          </p:cNvPr>
          <p:cNvSpPr txBox="1"/>
          <p:nvPr/>
        </p:nvSpPr>
        <p:spPr>
          <a:xfrm>
            <a:off x="8383488" y="4135535"/>
            <a:ext cx="3312000" cy="2031325"/>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143996" marR="0" lvl="1" indent="0" algn="l" defTabSz="914400" rtl="0" eaLnBrk="1" fontAlgn="auto" latinLnBrk="0" hangingPunct="1">
              <a:lnSpc>
                <a:spcPct val="100000"/>
              </a:lnSpc>
              <a:spcBef>
                <a:spcPts val="0"/>
              </a:spcBef>
              <a:spcAft>
                <a:spcPts val="0"/>
              </a:spcAft>
              <a:buClr>
                <a:srgbClr val="FF6A10"/>
              </a:buClr>
              <a:buSzTx/>
              <a:buFontTx/>
              <a:buNone/>
              <a:tabLst/>
              <a:defRPr/>
            </a:pPr>
            <a:r>
              <a:rPr kumimoji="0" lang="en-US" sz="1800" b="0" i="0" u="none" strike="noStrike" kern="1200" cap="none" spc="0" normalizeH="0" baseline="0" noProof="0">
                <a:ln>
                  <a:noFill/>
                </a:ln>
                <a:solidFill>
                  <a:srgbClr val="575757"/>
                </a:solidFill>
                <a:effectLst/>
                <a:uLnTx/>
                <a:uFillTx/>
                <a:latin typeface="Trebuchet MS"/>
                <a:ea typeface="+mn-ea"/>
                <a:cs typeface="+mn-cs"/>
              </a:rPr>
              <a:t>The pathways allowed to draw new </a:t>
            </a:r>
            <a:r>
              <a:rPr kumimoji="0" lang="en-US" sz="1800" b="0" i="0" u="none" strike="noStrike" kern="1200" cap="none" spc="0" normalizeH="0" baseline="0" noProof="0">
                <a:ln>
                  <a:noFill/>
                </a:ln>
                <a:solidFill>
                  <a:srgbClr val="29BA74"/>
                </a:solidFill>
                <a:effectLst/>
                <a:uLnTx/>
                <a:uFillTx/>
                <a:latin typeface="Trebuchet MS"/>
                <a:ea typeface="+mn-ea"/>
                <a:cs typeface="+mn-cs"/>
              </a:rPr>
              <a:t>business &amp; marketing relevant con-</a:t>
            </a:r>
            <a:r>
              <a:rPr kumimoji="0" lang="en-US" sz="1800" b="0" i="0" u="none" strike="noStrike" kern="1200" cap="none" spc="0" normalizeH="0" baseline="0" noProof="0" err="1">
                <a:ln>
                  <a:noFill/>
                </a:ln>
                <a:solidFill>
                  <a:srgbClr val="29BA74"/>
                </a:solidFill>
                <a:effectLst/>
                <a:uLnTx/>
                <a:uFillTx/>
                <a:latin typeface="Trebuchet MS"/>
                <a:ea typeface="+mn-ea"/>
                <a:cs typeface="+mn-cs"/>
              </a:rPr>
              <a:t>clusions</a:t>
            </a:r>
            <a:r>
              <a:rPr kumimoji="0" lang="en-US" sz="1800" b="0" i="0" u="none" strike="noStrike" kern="1200" cap="none" spc="0" normalizeH="0" baseline="0" noProof="0">
                <a:ln>
                  <a:noFill/>
                </a:ln>
                <a:solidFill>
                  <a:srgbClr val="29BA74"/>
                </a:solidFill>
                <a:effectLst/>
                <a:uLnTx/>
                <a:uFillTx/>
                <a:latin typeface="Trebuchet MS"/>
                <a:ea typeface="+mn-ea"/>
                <a:cs typeface="+mn-cs"/>
              </a:rPr>
              <a:t>, </a:t>
            </a:r>
            <a:r>
              <a:rPr kumimoji="0" lang="en-US" sz="1800" b="0" i="0" u="none" strike="noStrike" kern="1200" cap="none" spc="0" normalizeH="0" baseline="0" noProof="0">
                <a:ln>
                  <a:noFill/>
                </a:ln>
                <a:solidFill>
                  <a:srgbClr val="575757"/>
                </a:solidFill>
                <a:effectLst/>
                <a:uLnTx/>
                <a:uFillTx/>
                <a:latin typeface="Trebuchet MS"/>
                <a:ea typeface="+mn-ea"/>
                <a:cs typeface="+mn-cs"/>
              </a:rPr>
              <a:t>such as high activity being best predictor for becoming an investment customer</a:t>
            </a:r>
          </a:p>
        </p:txBody>
      </p:sp>
      <p:pic>
        <p:nvPicPr>
          <p:cNvPr id="6" name="Picture 5">
            <a:extLst>
              <a:ext uri="{FF2B5EF4-FFF2-40B4-BE49-F238E27FC236}">
                <a16:creationId xmlns:a16="http://schemas.microsoft.com/office/drawing/2014/main" id="{0639F494-7832-4149-A28E-1EA480E530C5}"/>
              </a:ext>
            </a:extLst>
          </p:cNvPr>
          <p:cNvPicPr>
            <a:picLocks noChangeAspect="1"/>
          </p:cNvPicPr>
          <p:nvPr/>
        </p:nvPicPr>
        <p:blipFill>
          <a:blip r:embed="rId23"/>
          <a:stretch>
            <a:fillRect/>
          </a:stretch>
        </p:blipFill>
        <p:spPr>
          <a:xfrm>
            <a:off x="4249857" y="2061612"/>
            <a:ext cx="3705982" cy="1943088"/>
          </a:xfrm>
          <a:prstGeom prst="rect">
            <a:avLst/>
          </a:prstGeom>
          <a:ln w="9525" cap="flat" cmpd="sng" algn="ctr">
            <a:solidFill>
              <a:srgbClr val="9A9A9A"/>
            </a:solidFill>
            <a:prstDash val="solid"/>
            <a:round/>
            <a:headEnd type="none" w="med" len="med"/>
            <a:tailEnd type="none" w="med" len="med"/>
          </a:ln>
          <a:effectLst>
            <a:outerShdw blurRad="50800" dist="38100" dir="2700000" algn="tl" rotWithShape="0">
              <a:prstClr val="black">
                <a:alpha val="40000"/>
              </a:prstClr>
            </a:outerShdw>
          </a:effectLst>
        </p:spPr>
      </p:pic>
      <p:sp>
        <p:nvSpPr>
          <p:cNvPr id="35" name="Oval 20">
            <a:extLst>
              <a:ext uri="{FF2B5EF4-FFF2-40B4-BE49-F238E27FC236}">
                <a16:creationId xmlns:a16="http://schemas.microsoft.com/office/drawing/2014/main" id="{CE23B59B-28C1-474D-82D9-3539229BC24D}"/>
              </a:ext>
            </a:extLst>
          </p:cNvPr>
          <p:cNvSpPr>
            <a:spLocks noChangeAspect="1" noChangeArrowheads="1"/>
          </p:cNvSpPr>
          <p:nvPr/>
        </p:nvSpPr>
        <p:spPr bwMode="auto">
          <a:xfrm>
            <a:off x="11614350" y="190800"/>
            <a:ext cx="432000" cy="432000"/>
          </a:xfrm>
          <a:prstGeom prst="ellipse">
            <a:avLst/>
          </a:prstGeom>
          <a:solidFill>
            <a:srgbClr val="FFFFFF"/>
          </a:solidFill>
          <a:ln w="9525" cap="flat" cmpd="sng" algn="ctr">
            <a:solidFill>
              <a:srgbClr val="29BA74"/>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9BA74"/>
                </a:solidFill>
                <a:effectLst/>
                <a:uLnTx/>
                <a:uFillTx/>
                <a:latin typeface="Trebuchet MS"/>
                <a:ea typeface="+mn-ea"/>
                <a:cs typeface="+mn-cs"/>
              </a:rPr>
              <a:t>A</a:t>
            </a:r>
            <a:endParaRPr kumimoji="0" lang="en-US" sz="1000" b="0" i="0" u="none" strike="noStrike" kern="1200" cap="none" spc="0" normalizeH="0" baseline="0" noProof="0">
              <a:ln>
                <a:noFill/>
              </a:ln>
              <a:solidFill>
                <a:srgbClr val="29BA74"/>
              </a:solidFill>
              <a:effectLst/>
              <a:uLnTx/>
              <a:uFillTx/>
              <a:latin typeface="Trebuchet MS"/>
              <a:ea typeface="+mn-ea"/>
              <a:cs typeface="+mn-cs"/>
            </a:endParaRPr>
          </a:p>
        </p:txBody>
      </p:sp>
      <p:grpSp>
        <p:nvGrpSpPr>
          <p:cNvPr id="36" name="Group 35">
            <a:extLst>
              <a:ext uri="{FF2B5EF4-FFF2-40B4-BE49-F238E27FC236}">
                <a16:creationId xmlns:a16="http://schemas.microsoft.com/office/drawing/2014/main" id="{46727590-0F63-3A82-192A-689AB69834D4}"/>
              </a:ext>
            </a:extLst>
          </p:cNvPr>
          <p:cNvGrpSpPr/>
          <p:nvPr/>
        </p:nvGrpSpPr>
        <p:grpSpPr>
          <a:xfrm>
            <a:off x="3681555" y="1447055"/>
            <a:ext cx="720000" cy="720000"/>
            <a:chOff x="-1338512" y="919137"/>
            <a:chExt cx="720000" cy="720000"/>
          </a:xfrm>
        </p:grpSpPr>
        <p:sp>
          <p:nvSpPr>
            <p:cNvPr id="37" name="Oval 36">
              <a:extLst>
                <a:ext uri="{FF2B5EF4-FFF2-40B4-BE49-F238E27FC236}">
                  <a16:creationId xmlns:a16="http://schemas.microsoft.com/office/drawing/2014/main" id="{985CC421-528D-F03F-CADC-E500773D5240}"/>
                </a:ext>
              </a:extLst>
            </p:cNvPr>
            <p:cNvSpPr/>
            <p:nvPr>
              <p:custDataLst>
                <p:tags r:id="rId16"/>
              </p:custDataLst>
            </p:nvPr>
          </p:nvSpPr>
          <p:spPr>
            <a:xfrm>
              <a:off x="-1338512" y="919137"/>
              <a:ext cx="720000" cy="720000"/>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lumMod val="50000"/>
                  </a:prstClr>
                </a:solidFill>
                <a:effectLst/>
                <a:uLnTx/>
                <a:uFillTx/>
                <a:latin typeface="Trebuchet MS"/>
                <a:ea typeface="+mn-ea"/>
                <a:cs typeface="+mn-cs"/>
              </a:endParaRPr>
            </a:p>
          </p:txBody>
        </p:sp>
        <p:grpSp>
          <p:nvGrpSpPr>
            <p:cNvPr id="38" name="Group 37">
              <a:extLst>
                <a:ext uri="{FF2B5EF4-FFF2-40B4-BE49-F238E27FC236}">
                  <a16:creationId xmlns:a16="http://schemas.microsoft.com/office/drawing/2014/main" id="{7C9F97DB-BA59-A15B-9436-9BEABB5D31CA}"/>
                </a:ext>
              </a:extLst>
            </p:cNvPr>
            <p:cNvGrpSpPr>
              <a:grpSpLocks noChangeAspect="1"/>
            </p:cNvGrpSpPr>
            <p:nvPr/>
          </p:nvGrpSpPr>
          <p:grpSpPr>
            <a:xfrm>
              <a:off x="-1237781" y="1024578"/>
              <a:ext cx="515974" cy="515974"/>
              <a:chOff x="5273675" y="2606675"/>
              <a:chExt cx="1644650" cy="1644650"/>
            </a:xfrm>
          </p:grpSpPr>
          <p:sp>
            <p:nvSpPr>
              <p:cNvPr id="39" name="AutoShape 3">
                <a:extLst>
                  <a:ext uri="{FF2B5EF4-FFF2-40B4-BE49-F238E27FC236}">
                    <a16:creationId xmlns:a16="http://schemas.microsoft.com/office/drawing/2014/main" id="{CA3A6EC5-9B54-295F-7550-D30766BB28B7}"/>
                  </a:ext>
                </a:extLst>
              </p:cNvPr>
              <p:cNvSpPr>
                <a:spLocks noChangeAspect="1" noChangeArrowheads="1" noTextEdit="1"/>
              </p:cNvSpPr>
              <p:nvPr/>
            </p:nvSpPr>
            <p:spPr bwMode="auto">
              <a:xfrm>
                <a:off x="5273675" y="2606675"/>
                <a:ext cx="1644650"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nvGrpSpPr>
              <p:cNvPr id="40" name="Group 39">
                <a:extLst>
                  <a:ext uri="{FF2B5EF4-FFF2-40B4-BE49-F238E27FC236}">
                    <a16:creationId xmlns:a16="http://schemas.microsoft.com/office/drawing/2014/main" id="{AC580863-BC53-550C-516F-063F9746333B}"/>
                  </a:ext>
                </a:extLst>
              </p:cNvPr>
              <p:cNvGrpSpPr/>
              <p:nvPr/>
            </p:nvGrpSpPr>
            <p:grpSpPr>
              <a:xfrm>
                <a:off x="5646738" y="2776538"/>
                <a:ext cx="898525" cy="1304925"/>
                <a:chOff x="5646738" y="2776538"/>
                <a:chExt cx="898525" cy="1304925"/>
              </a:xfrm>
            </p:grpSpPr>
            <p:sp>
              <p:nvSpPr>
                <p:cNvPr id="41" name="Freeform 5">
                  <a:extLst>
                    <a:ext uri="{FF2B5EF4-FFF2-40B4-BE49-F238E27FC236}">
                      <a16:creationId xmlns:a16="http://schemas.microsoft.com/office/drawing/2014/main" id="{8F37436D-D85D-8BA1-4D6A-88493545FE24}"/>
                    </a:ext>
                  </a:extLst>
                </p:cNvPr>
                <p:cNvSpPr>
                  <a:spLocks/>
                </p:cNvSpPr>
                <p:nvPr/>
              </p:nvSpPr>
              <p:spPr bwMode="auto">
                <a:xfrm>
                  <a:off x="5646738" y="2890838"/>
                  <a:ext cx="898525" cy="1190625"/>
                </a:xfrm>
                <a:custGeom>
                  <a:avLst/>
                  <a:gdLst>
                    <a:gd name="T0" fmla="*/ 22 w 1258"/>
                    <a:gd name="T1" fmla="*/ 1670 h 1670"/>
                    <a:gd name="T2" fmla="*/ 1236 w 1258"/>
                    <a:gd name="T3" fmla="*/ 1670 h 1670"/>
                    <a:gd name="T4" fmla="*/ 1258 w 1258"/>
                    <a:gd name="T5" fmla="*/ 1648 h 1670"/>
                    <a:gd name="T6" fmla="*/ 1258 w 1258"/>
                    <a:gd name="T7" fmla="*/ 22 h 1670"/>
                    <a:gd name="T8" fmla="*/ 1236 w 1258"/>
                    <a:gd name="T9" fmla="*/ 0 h 1670"/>
                    <a:gd name="T10" fmla="*/ 876 w 1258"/>
                    <a:gd name="T11" fmla="*/ 0 h 1670"/>
                    <a:gd name="T12" fmla="*/ 876 w 1258"/>
                    <a:gd name="T13" fmla="*/ 44 h 1670"/>
                    <a:gd name="T14" fmla="*/ 1214 w 1258"/>
                    <a:gd name="T15" fmla="*/ 44 h 1670"/>
                    <a:gd name="T16" fmla="*/ 1214 w 1258"/>
                    <a:gd name="T17" fmla="*/ 1626 h 1670"/>
                    <a:gd name="T18" fmla="*/ 44 w 1258"/>
                    <a:gd name="T19" fmla="*/ 1626 h 1670"/>
                    <a:gd name="T20" fmla="*/ 44 w 1258"/>
                    <a:gd name="T21" fmla="*/ 44 h 1670"/>
                    <a:gd name="T22" fmla="*/ 382 w 1258"/>
                    <a:gd name="T23" fmla="*/ 44 h 1670"/>
                    <a:gd name="T24" fmla="*/ 382 w 1258"/>
                    <a:gd name="T25" fmla="*/ 0 h 1670"/>
                    <a:gd name="T26" fmla="*/ 22 w 1258"/>
                    <a:gd name="T27" fmla="*/ 0 h 1670"/>
                    <a:gd name="T28" fmla="*/ 0 w 1258"/>
                    <a:gd name="T29" fmla="*/ 22 h 1670"/>
                    <a:gd name="T30" fmla="*/ 0 w 1258"/>
                    <a:gd name="T31" fmla="*/ 1648 h 1670"/>
                    <a:gd name="T32" fmla="*/ 22 w 1258"/>
                    <a:gd name="T33" fmla="*/ 1670 h 1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58" h="1670">
                      <a:moveTo>
                        <a:pt x="22" y="1670"/>
                      </a:moveTo>
                      <a:cubicBezTo>
                        <a:pt x="1236" y="1670"/>
                        <a:pt x="1236" y="1670"/>
                        <a:pt x="1236" y="1670"/>
                      </a:cubicBezTo>
                      <a:cubicBezTo>
                        <a:pt x="1249" y="1670"/>
                        <a:pt x="1258" y="1661"/>
                        <a:pt x="1258" y="1648"/>
                      </a:cubicBezTo>
                      <a:cubicBezTo>
                        <a:pt x="1258" y="22"/>
                        <a:pt x="1258" y="22"/>
                        <a:pt x="1258" y="22"/>
                      </a:cubicBezTo>
                      <a:cubicBezTo>
                        <a:pt x="1258" y="10"/>
                        <a:pt x="1249" y="0"/>
                        <a:pt x="1236" y="0"/>
                      </a:cubicBezTo>
                      <a:cubicBezTo>
                        <a:pt x="876" y="0"/>
                        <a:pt x="876" y="0"/>
                        <a:pt x="876" y="0"/>
                      </a:cubicBezTo>
                      <a:cubicBezTo>
                        <a:pt x="876" y="44"/>
                        <a:pt x="876" y="44"/>
                        <a:pt x="876" y="44"/>
                      </a:cubicBezTo>
                      <a:cubicBezTo>
                        <a:pt x="1214" y="44"/>
                        <a:pt x="1214" y="44"/>
                        <a:pt x="1214" y="44"/>
                      </a:cubicBezTo>
                      <a:cubicBezTo>
                        <a:pt x="1214" y="1626"/>
                        <a:pt x="1214" y="1626"/>
                        <a:pt x="1214" y="1626"/>
                      </a:cubicBezTo>
                      <a:cubicBezTo>
                        <a:pt x="44" y="1626"/>
                        <a:pt x="44" y="1626"/>
                        <a:pt x="44" y="1626"/>
                      </a:cubicBezTo>
                      <a:cubicBezTo>
                        <a:pt x="44" y="44"/>
                        <a:pt x="44" y="44"/>
                        <a:pt x="44" y="44"/>
                      </a:cubicBezTo>
                      <a:cubicBezTo>
                        <a:pt x="382" y="44"/>
                        <a:pt x="382" y="44"/>
                        <a:pt x="382" y="44"/>
                      </a:cubicBezTo>
                      <a:cubicBezTo>
                        <a:pt x="382" y="0"/>
                        <a:pt x="382" y="0"/>
                        <a:pt x="382" y="0"/>
                      </a:cubicBezTo>
                      <a:cubicBezTo>
                        <a:pt x="22" y="0"/>
                        <a:pt x="22" y="0"/>
                        <a:pt x="22" y="0"/>
                      </a:cubicBezTo>
                      <a:cubicBezTo>
                        <a:pt x="9" y="0"/>
                        <a:pt x="0" y="10"/>
                        <a:pt x="0" y="22"/>
                      </a:cubicBezTo>
                      <a:cubicBezTo>
                        <a:pt x="0" y="1648"/>
                        <a:pt x="0" y="1648"/>
                        <a:pt x="0" y="1648"/>
                      </a:cubicBezTo>
                      <a:cubicBezTo>
                        <a:pt x="0" y="1661"/>
                        <a:pt x="9" y="1670"/>
                        <a:pt x="22" y="167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42" name="Freeform 29">
                  <a:extLst>
                    <a:ext uri="{FF2B5EF4-FFF2-40B4-BE49-F238E27FC236}">
                      <a16:creationId xmlns:a16="http://schemas.microsoft.com/office/drawing/2014/main" id="{49ED5008-564F-3C91-2722-8D658683DCDB}"/>
                    </a:ext>
                  </a:extLst>
                </p:cNvPr>
                <p:cNvSpPr>
                  <a:spLocks/>
                </p:cNvSpPr>
                <p:nvPr/>
              </p:nvSpPr>
              <p:spPr bwMode="auto">
                <a:xfrm>
                  <a:off x="5795963" y="2776538"/>
                  <a:ext cx="600075" cy="1093787"/>
                </a:xfrm>
                <a:custGeom>
                  <a:avLst/>
                  <a:gdLst>
                    <a:gd name="connsiteX0" fmla="*/ 296727 w 600075"/>
                    <a:gd name="connsiteY0" fmla="*/ 1044575 h 1093787"/>
                    <a:gd name="connsiteX1" fmla="*/ 584335 w 600075"/>
                    <a:gd name="connsiteY1" fmla="*/ 1044575 h 1093787"/>
                    <a:gd name="connsiteX2" fmla="*/ 600075 w 600075"/>
                    <a:gd name="connsiteY2" fmla="*/ 1060450 h 1093787"/>
                    <a:gd name="connsiteX3" fmla="*/ 584335 w 600075"/>
                    <a:gd name="connsiteY3" fmla="*/ 1076325 h 1093787"/>
                    <a:gd name="connsiteX4" fmla="*/ 296727 w 600075"/>
                    <a:gd name="connsiteY4" fmla="*/ 1076325 h 1093787"/>
                    <a:gd name="connsiteX5" fmla="*/ 280987 w 600075"/>
                    <a:gd name="connsiteY5" fmla="*/ 1060450 h 1093787"/>
                    <a:gd name="connsiteX6" fmla="*/ 296727 w 600075"/>
                    <a:gd name="connsiteY6" fmla="*/ 1044575 h 1093787"/>
                    <a:gd name="connsiteX7" fmla="*/ 31750 w 600075"/>
                    <a:gd name="connsiteY7" fmla="*/ 971550 h 1093787"/>
                    <a:gd name="connsiteX8" fmla="*/ 31750 w 600075"/>
                    <a:gd name="connsiteY8" fmla="*/ 1062038 h 1093787"/>
                    <a:gd name="connsiteX9" fmla="*/ 122238 w 600075"/>
                    <a:gd name="connsiteY9" fmla="*/ 1062038 h 1093787"/>
                    <a:gd name="connsiteX10" fmla="*/ 122238 w 600075"/>
                    <a:gd name="connsiteY10" fmla="*/ 971550 h 1093787"/>
                    <a:gd name="connsiteX11" fmla="*/ 296727 w 600075"/>
                    <a:gd name="connsiteY11" fmla="*/ 958850 h 1093787"/>
                    <a:gd name="connsiteX12" fmla="*/ 584335 w 600075"/>
                    <a:gd name="connsiteY12" fmla="*/ 958850 h 1093787"/>
                    <a:gd name="connsiteX13" fmla="*/ 600075 w 600075"/>
                    <a:gd name="connsiteY13" fmla="*/ 974725 h 1093787"/>
                    <a:gd name="connsiteX14" fmla="*/ 584335 w 600075"/>
                    <a:gd name="connsiteY14" fmla="*/ 990600 h 1093787"/>
                    <a:gd name="connsiteX15" fmla="*/ 296727 w 600075"/>
                    <a:gd name="connsiteY15" fmla="*/ 990600 h 1093787"/>
                    <a:gd name="connsiteX16" fmla="*/ 280987 w 600075"/>
                    <a:gd name="connsiteY16" fmla="*/ 974725 h 1093787"/>
                    <a:gd name="connsiteX17" fmla="*/ 296727 w 600075"/>
                    <a:gd name="connsiteY17" fmla="*/ 958850 h 1093787"/>
                    <a:gd name="connsiteX18" fmla="*/ 15668 w 600075"/>
                    <a:gd name="connsiteY18" fmla="*/ 941387 h 1093787"/>
                    <a:gd name="connsiteX19" fmla="*/ 136733 w 600075"/>
                    <a:gd name="connsiteY19" fmla="*/ 941387 h 1093787"/>
                    <a:gd name="connsiteX20" fmla="*/ 152400 w 600075"/>
                    <a:gd name="connsiteY20" fmla="*/ 957054 h 1093787"/>
                    <a:gd name="connsiteX21" fmla="*/ 152400 w 600075"/>
                    <a:gd name="connsiteY21" fmla="*/ 1078120 h 1093787"/>
                    <a:gd name="connsiteX22" fmla="*/ 136733 w 600075"/>
                    <a:gd name="connsiteY22" fmla="*/ 1093787 h 1093787"/>
                    <a:gd name="connsiteX23" fmla="*/ 15668 w 600075"/>
                    <a:gd name="connsiteY23" fmla="*/ 1093787 h 1093787"/>
                    <a:gd name="connsiteX24" fmla="*/ 0 w 600075"/>
                    <a:gd name="connsiteY24" fmla="*/ 1078120 h 1093787"/>
                    <a:gd name="connsiteX25" fmla="*/ 0 w 600075"/>
                    <a:gd name="connsiteY25" fmla="*/ 957054 h 1093787"/>
                    <a:gd name="connsiteX26" fmla="*/ 15668 w 600075"/>
                    <a:gd name="connsiteY26" fmla="*/ 941387 h 1093787"/>
                    <a:gd name="connsiteX27" fmla="*/ 296727 w 600075"/>
                    <a:gd name="connsiteY27" fmla="*/ 766762 h 1093787"/>
                    <a:gd name="connsiteX28" fmla="*/ 584335 w 600075"/>
                    <a:gd name="connsiteY28" fmla="*/ 766762 h 1093787"/>
                    <a:gd name="connsiteX29" fmla="*/ 600075 w 600075"/>
                    <a:gd name="connsiteY29" fmla="*/ 782637 h 1093787"/>
                    <a:gd name="connsiteX30" fmla="*/ 584335 w 600075"/>
                    <a:gd name="connsiteY30" fmla="*/ 798512 h 1093787"/>
                    <a:gd name="connsiteX31" fmla="*/ 296727 w 600075"/>
                    <a:gd name="connsiteY31" fmla="*/ 798512 h 1093787"/>
                    <a:gd name="connsiteX32" fmla="*/ 280987 w 600075"/>
                    <a:gd name="connsiteY32" fmla="*/ 782637 h 1093787"/>
                    <a:gd name="connsiteX33" fmla="*/ 296727 w 600075"/>
                    <a:gd name="connsiteY33" fmla="*/ 766762 h 1093787"/>
                    <a:gd name="connsiteX34" fmla="*/ 31750 w 600075"/>
                    <a:gd name="connsiteY34" fmla="*/ 695325 h 1093787"/>
                    <a:gd name="connsiteX35" fmla="*/ 31750 w 600075"/>
                    <a:gd name="connsiteY35" fmla="*/ 785813 h 1093787"/>
                    <a:gd name="connsiteX36" fmla="*/ 122238 w 600075"/>
                    <a:gd name="connsiteY36" fmla="*/ 785813 h 1093787"/>
                    <a:gd name="connsiteX37" fmla="*/ 122238 w 600075"/>
                    <a:gd name="connsiteY37" fmla="*/ 695325 h 1093787"/>
                    <a:gd name="connsiteX38" fmla="*/ 296727 w 600075"/>
                    <a:gd name="connsiteY38" fmla="*/ 681037 h 1093787"/>
                    <a:gd name="connsiteX39" fmla="*/ 584335 w 600075"/>
                    <a:gd name="connsiteY39" fmla="*/ 681037 h 1093787"/>
                    <a:gd name="connsiteX40" fmla="*/ 600075 w 600075"/>
                    <a:gd name="connsiteY40" fmla="*/ 696912 h 1093787"/>
                    <a:gd name="connsiteX41" fmla="*/ 584335 w 600075"/>
                    <a:gd name="connsiteY41" fmla="*/ 712787 h 1093787"/>
                    <a:gd name="connsiteX42" fmla="*/ 296727 w 600075"/>
                    <a:gd name="connsiteY42" fmla="*/ 712787 h 1093787"/>
                    <a:gd name="connsiteX43" fmla="*/ 280987 w 600075"/>
                    <a:gd name="connsiteY43" fmla="*/ 696912 h 1093787"/>
                    <a:gd name="connsiteX44" fmla="*/ 296727 w 600075"/>
                    <a:gd name="connsiteY44" fmla="*/ 681037 h 1093787"/>
                    <a:gd name="connsiteX45" fmla="*/ 15668 w 600075"/>
                    <a:gd name="connsiteY45" fmla="*/ 663575 h 1093787"/>
                    <a:gd name="connsiteX46" fmla="*/ 136733 w 600075"/>
                    <a:gd name="connsiteY46" fmla="*/ 663575 h 1093787"/>
                    <a:gd name="connsiteX47" fmla="*/ 152400 w 600075"/>
                    <a:gd name="connsiteY47" fmla="*/ 679242 h 1093787"/>
                    <a:gd name="connsiteX48" fmla="*/ 152400 w 600075"/>
                    <a:gd name="connsiteY48" fmla="*/ 800308 h 1093787"/>
                    <a:gd name="connsiteX49" fmla="*/ 136733 w 600075"/>
                    <a:gd name="connsiteY49" fmla="*/ 815975 h 1093787"/>
                    <a:gd name="connsiteX50" fmla="*/ 15668 w 600075"/>
                    <a:gd name="connsiteY50" fmla="*/ 815975 h 1093787"/>
                    <a:gd name="connsiteX51" fmla="*/ 0 w 600075"/>
                    <a:gd name="connsiteY51" fmla="*/ 800308 h 1093787"/>
                    <a:gd name="connsiteX52" fmla="*/ 0 w 600075"/>
                    <a:gd name="connsiteY52" fmla="*/ 679242 h 1093787"/>
                    <a:gd name="connsiteX53" fmla="*/ 15668 w 600075"/>
                    <a:gd name="connsiteY53" fmla="*/ 663575 h 1093787"/>
                    <a:gd name="connsiteX54" fmla="*/ 296727 w 600075"/>
                    <a:gd name="connsiteY54" fmla="*/ 485775 h 1093787"/>
                    <a:gd name="connsiteX55" fmla="*/ 584335 w 600075"/>
                    <a:gd name="connsiteY55" fmla="*/ 485775 h 1093787"/>
                    <a:gd name="connsiteX56" fmla="*/ 600075 w 600075"/>
                    <a:gd name="connsiteY56" fmla="*/ 501650 h 1093787"/>
                    <a:gd name="connsiteX57" fmla="*/ 584335 w 600075"/>
                    <a:gd name="connsiteY57" fmla="*/ 517525 h 1093787"/>
                    <a:gd name="connsiteX58" fmla="*/ 296727 w 600075"/>
                    <a:gd name="connsiteY58" fmla="*/ 517525 h 1093787"/>
                    <a:gd name="connsiteX59" fmla="*/ 280987 w 600075"/>
                    <a:gd name="connsiteY59" fmla="*/ 501650 h 1093787"/>
                    <a:gd name="connsiteX60" fmla="*/ 296727 w 600075"/>
                    <a:gd name="connsiteY60" fmla="*/ 485775 h 1093787"/>
                    <a:gd name="connsiteX61" fmla="*/ 31750 w 600075"/>
                    <a:gd name="connsiteY61" fmla="*/ 412750 h 1093787"/>
                    <a:gd name="connsiteX62" fmla="*/ 31750 w 600075"/>
                    <a:gd name="connsiteY62" fmla="*/ 503238 h 1093787"/>
                    <a:gd name="connsiteX63" fmla="*/ 122238 w 600075"/>
                    <a:gd name="connsiteY63" fmla="*/ 503238 h 1093787"/>
                    <a:gd name="connsiteX64" fmla="*/ 122238 w 600075"/>
                    <a:gd name="connsiteY64" fmla="*/ 412750 h 1093787"/>
                    <a:gd name="connsiteX65" fmla="*/ 296727 w 600075"/>
                    <a:gd name="connsiteY65" fmla="*/ 400050 h 1093787"/>
                    <a:gd name="connsiteX66" fmla="*/ 584335 w 600075"/>
                    <a:gd name="connsiteY66" fmla="*/ 400050 h 1093787"/>
                    <a:gd name="connsiteX67" fmla="*/ 600075 w 600075"/>
                    <a:gd name="connsiteY67" fmla="*/ 415925 h 1093787"/>
                    <a:gd name="connsiteX68" fmla="*/ 584335 w 600075"/>
                    <a:gd name="connsiteY68" fmla="*/ 431800 h 1093787"/>
                    <a:gd name="connsiteX69" fmla="*/ 296727 w 600075"/>
                    <a:gd name="connsiteY69" fmla="*/ 431800 h 1093787"/>
                    <a:gd name="connsiteX70" fmla="*/ 280987 w 600075"/>
                    <a:gd name="connsiteY70" fmla="*/ 415925 h 1093787"/>
                    <a:gd name="connsiteX71" fmla="*/ 296727 w 600075"/>
                    <a:gd name="connsiteY71" fmla="*/ 400050 h 1093787"/>
                    <a:gd name="connsiteX72" fmla="*/ 15668 w 600075"/>
                    <a:gd name="connsiteY72" fmla="*/ 382587 h 1093787"/>
                    <a:gd name="connsiteX73" fmla="*/ 136733 w 600075"/>
                    <a:gd name="connsiteY73" fmla="*/ 382587 h 1093787"/>
                    <a:gd name="connsiteX74" fmla="*/ 152400 w 600075"/>
                    <a:gd name="connsiteY74" fmla="*/ 398182 h 1093787"/>
                    <a:gd name="connsiteX75" fmla="*/ 152400 w 600075"/>
                    <a:gd name="connsiteY75" fmla="*/ 519393 h 1093787"/>
                    <a:gd name="connsiteX76" fmla="*/ 136733 w 600075"/>
                    <a:gd name="connsiteY76" fmla="*/ 534987 h 1093787"/>
                    <a:gd name="connsiteX77" fmla="*/ 15668 w 600075"/>
                    <a:gd name="connsiteY77" fmla="*/ 534987 h 1093787"/>
                    <a:gd name="connsiteX78" fmla="*/ 0 w 600075"/>
                    <a:gd name="connsiteY78" fmla="*/ 519393 h 1093787"/>
                    <a:gd name="connsiteX79" fmla="*/ 0 w 600075"/>
                    <a:gd name="connsiteY79" fmla="*/ 398182 h 1093787"/>
                    <a:gd name="connsiteX80" fmla="*/ 15668 w 600075"/>
                    <a:gd name="connsiteY80" fmla="*/ 382587 h 1093787"/>
                    <a:gd name="connsiteX81" fmla="*/ 301266 w 600075"/>
                    <a:gd name="connsiteY81" fmla="*/ 31750 h 1093787"/>
                    <a:gd name="connsiteX82" fmla="*/ 279758 w 600075"/>
                    <a:gd name="connsiteY82" fmla="*/ 36027 h 1093787"/>
                    <a:gd name="connsiteX83" fmla="*/ 246062 w 600075"/>
                    <a:gd name="connsiteY83" fmla="*/ 66675 h 1093787"/>
                    <a:gd name="connsiteX84" fmla="*/ 357187 w 600075"/>
                    <a:gd name="connsiteY84" fmla="*/ 66675 h 1093787"/>
                    <a:gd name="connsiteX85" fmla="*/ 323491 w 600075"/>
                    <a:gd name="connsiteY85" fmla="*/ 36027 h 1093787"/>
                    <a:gd name="connsiteX86" fmla="*/ 301266 w 600075"/>
                    <a:gd name="connsiteY86" fmla="*/ 31750 h 1093787"/>
                    <a:gd name="connsiteX87" fmla="*/ 300832 w 600075"/>
                    <a:gd name="connsiteY87" fmla="*/ 0 h 1093787"/>
                    <a:gd name="connsiteX88" fmla="*/ 373818 w 600075"/>
                    <a:gd name="connsiteY88" fmla="*/ 35602 h 1093787"/>
                    <a:gd name="connsiteX89" fmla="*/ 390275 w 600075"/>
                    <a:gd name="connsiteY89" fmla="*/ 66220 h 1093787"/>
                    <a:gd name="connsiteX90" fmla="*/ 439648 w 600075"/>
                    <a:gd name="connsiteY90" fmla="*/ 66220 h 1093787"/>
                    <a:gd name="connsiteX91" fmla="*/ 446088 w 600075"/>
                    <a:gd name="connsiteY91" fmla="*/ 73340 h 1093787"/>
                    <a:gd name="connsiteX92" fmla="*/ 446088 w 600075"/>
                    <a:gd name="connsiteY92" fmla="*/ 113927 h 1093787"/>
                    <a:gd name="connsiteX93" fmla="*/ 446088 w 600075"/>
                    <a:gd name="connsiteY93" fmla="*/ 145256 h 1093787"/>
                    <a:gd name="connsiteX94" fmla="*/ 446088 w 600075"/>
                    <a:gd name="connsiteY94" fmla="*/ 178010 h 1093787"/>
                    <a:gd name="connsiteX95" fmla="*/ 431062 w 600075"/>
                    <a:gd name="connsiteY95" fmla="*/ 193675 h 1093787"/>
                    <a:gd name="connsiteX96" fmla="*/ 171317 w 600075"/>
                    <a:gd name="connsiteY96" fmla="*/ 193675 h 1093787"/>
                    <a:gd name="connsiteX97" fmla="*/ 155575 w 600075"/>
                    <a:gd name="connsiteY97" fmla="*/ 178010 h 1093787"/>
                    <a:gd name="connsiteX98" fmla="*/ 155575 w 600075"/>
                    <a:gd name="connsiteY98" fmla="*/ 145256 h 1093787"/>
                    <a:gd name="connsiteX99" fmla="*/ 155575 w 600075"/>
                    <a:gd name="connsiteY99" fmla="*/ 113927 h 1093787"/>
                    <a:gd name="connsiteX100" fmla="*/ 155575 w 600075"/>
                    <a:gd name="connsiteY100" fmla="*/ 73340 h 1093787"/>
                    <a:gd name="connsiteX101" fmla="*/ 162731 w 600075"/>
                    <a:gd name="connsiteY101" fmla="*/ 66220 h 1093787"/>
                    <a:gd name="connsiteX102" fmla="*/ 212104 w 600075"/>
                    <a:gd name="connsiteY102" fmla="*/ 66220 h 1093787"/>
                    <a:gd name="connsiteX103" fmla="*/ 227846 w 600075"/>
                    <a:gd name="connsiteY103" fmla="*/ 35602 h 1093787"/>
                    <a:gd name="connsiteX104" fmla="*/ 300832 w 600075"/>
                    <a:gd name="connsiteY104" fmla="*/ 0 h 1093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00075" h="1093787">
                      <a:moveTo>
                        <a:pt x="296727" y="1044575"/>
                      </a:moveTo>
                      <a:cubicBezTo>
                        <a:pt x="296727" y="1044575"/>
                        <a:pt x="296727" y="1044575"/>
                        <a:pt x="584335" y="1044575"/>
                      </a:cubicBezTo>
                      <a:cubicBezTo>
                        <a:pt x="592921" y="1044575"/>
                        <a:pt x="600075" y="1051791"/>
                        <a:pt x="600075" y="1060450"/>
                      </a:cubicBezTo>
                      <a:cubicBezTo>
                        <a:pt x="600075" y="1069109"/>
                        <a:pt x="592921" y="1076325"/>
                        <a:pt x="584335" y="1076325"/>
                      </a:cubicBezTo>
                      <a:cubicBezTo>
                        <a:pt x="584335" y="1076325"/>
                        <a:pt x="584335" y="1076325"/>
                        <a:pt x="296727" y="1076325"/>
                      </a:cubicBezTo>
                      <a:cubicBezTo>
                        <a:pt x="288142" y="1076325"/>
                        <a:pt x="280987" y="1069109"/>
                        <a:pt x="280987" y="1060450"/>
                      </a:cubicBezTo>
                      <a:cubicBezTo>
                        <a:pt x="280987" y="1051791"/>
                        <a:pt x="288142" y="1044575"/>
                        <a:pt x="296727" y="1044575"/>
                      </a:cubicBezTo>
                      <a:close/>
                      <a:moveTo>
                        <a:pt x="31750" y="971550"/>
                      </a:moveTo>
                      <a:lnTo>
                        <a:pt x="31750" y="1062038"/>
                      </a:lnTo>
                      <a:lnTo>
                        <a:pt x="122238" y="1062038"/>
                      </a:lnTo>
                      <a:lnTo>
                        <a:pt x="122238" y="971550"/>
                      </a:lnTo>
                      <a:close/>
                      <a:moveTo>
                        <a:pt x="296727" y="958850"/>
                      </a:moveTo>
                      <a:cubicBezTo>
                        <a:pt x="296727" y="958850"/>
                        <a:pt x="296727" y="958850"/>
                        <a:pt x="584335" y="958850"/>
                      </a:cubicBezTo>
                      <a:cubicBezTo>
                        <a:pt x="592921" y="958850"/>
                        <a:pt x="600075" y="966066"/>
                        <a:pt x="600075" y="974725"/>
                      </a:cubicBezTo>
                      <a:cubicBezTo>
                        <a:pt x="600075" y="983384"/>
                        <a:pt x="592921" y="990600"/>
                        <a:pt x="584335" y="990600"/>
                      </a:cubicBezTo>
                      <a:cubicBezTo>
                        <a:pt x="584335" y="990600"/>
                        <a:pt x="584335" y="990600"/>
                        <a:pt x="296727" y="990600"/>
                      </a:cubicBezTo>
                      <a:cubicBezTo>
                        <a:pt x="288142" y="990600"/>
                        <a:pt x="280987" y="983384"/>
                        <a:pt x="280987" y="974725"/>
                      </a:cubicBezTo>
                      <a:cubicBezTo>
                        <a:pt x="280987" y="966066"/>
                        <a:pt x="288142" y="958850"/>
                        <a:pt x="296727" y="958850"/>
                      </a:cubicBezTo>
                      <a:close/>
                      <a:moveTo>
                        <a:pt x="15668" y="941387"/>
                      </a:moveTo>
                      <a:cubicBezTo>
                        <a:pt x="15668" y="941387"/>
                        <a:pt x="15668" y="941387"/>
                        <a:pt x="136733" y="941387"/>
                      </a:cubicBezTo>
                      <a:cubicBezTo>
                        <a:pt x="145991" y="941387"/>
                        <a:pt x="152400" y="948509"/>
                        <a:pt x="152400" y="957054"/>
                      </a:cubicBezTo>
                      <a:cubicBezTo>
                        <a:pt x="152400" y="957054"/>
                        <a:pt x="152400" y="957054"/>
                        <a:pt x="152400" y="1078120"/>
                      </a:cubicBezTo>
                      <a:cubicBezTo>
                        <a:pt x="152400" y="1086666"/>
                        <a:pt x="145991" y="1093787"/>
                        <a:pt x="136733" y="1093787"/>
                      </a:cubicBezTo>
                      <a:cubicBezTo>
                        <a:pt x="136733" y="1093787"/>
                        <a:pt x="136733" y="1093787"/>
                        <a:pt x="15668" y="1093787"/>
                      </a:cubicBezTo>
                      <a:cubicBezTo>
                        <a:pt x="7122" y="1093787"/>
                        <a:pt x="0" y="1086666"/>
                        <a:pt x="0" y="1078120"/>
                      </a:cubicBezTo>
                      <a:cubicBezTo>
                        <a:pt x="0" y="1078120"/>
                        <a:pt x="0" y="1078120"/>
                        <a:pt x="0" y="957054"/>
                      </a:cubicBezTo>
                      <a:cubicBezTo>
                        <a:pt x="0" y="948509"/>
                        <a:pt x="7122" y="941387"/>
                        <a:pt x="15668" y="941387"/>
                      </a:cubicBezTo>
                      <a:close/>
                      <a:moveTo>
                        <a:pt x="296727" y="766762"/>
                      </a:moveTo>
                      <a:cubicBezTo>
                        <a:pt x="296727" y="766762"/>
                        <a:pt x="296727" y="766762"/>
                        <a:pt x="584335" y="766762"/>
                      </a:cubicBezTo>
                      <a:cubicBezTo>
                        <a:pt x="592921" y="766762"/>
                        <a:pt x="600075" y="773978"/>
                        <a:pt x="600075" y="782637"/>
                      </a:cubicBezTo>
                      <a:cubicBezTo>
                        <a:pt x="600075" y="791296"/>
                        <a:pt x="592921" y="798512"/>
                        <a:pt x="584335" y="798512"/>
                      </a:cubicBezTo>
                      <a:cubicBezTo>
                        <a:pt x="584335" y="798512"/>
                        <a:pt x="584335" y="798512"/>
                        <a:pt x="296727" y="798512"/>
                      </a:cubicBezTo>
                      <a:cubicBezTo>
                        <a:pt x="288142" y="798512"/>
                        <a:pt x="280987" y="791296"/>
                        <a:pt x="280987" y="782637"/>
                      </a:cubicBezTo>
                      <a:cubicBezTo>
                        <a:pt x="280987" y="773978"/>
                        <a:pt x="288142" y="766762"/>
                        <a:pt x="296727" y="766762"/>
                      </a:cubicBezTo>
                      <a:close/>
                      <a:moveTo>
                        <a:pt x="31750" y="695325"/>
                      </a:moveTo>
                      <a:lnTo>
                        <a:pt x="31750" y="785813"/>
                      </a:lnTo>
                      <a:lnTo>
                        <a:pt x="122238" y="785813"/>
                      </a:lnTo>
                      <a:lnTo>
                        <a:pt x="122238" y="695325"/>
                      </a:lnTo>
                      <a:close/>
                      <a:moveTo>
                        <a:pt x="296727" y="681037"/>
                      </a:moveTo>
                      <a:cubicBezTo>
                        <a:pt x="296727" y="681037"/>
                        <a:pt x="296727" y="681037"/>
                        <a:pt x="584335" y="681037"/>
                      </a:cubicBezTo>
                      <a:cubicBezTo>
                        <a:pt x="592921" y="681037"/>
                        <a:pt x="600075" y="688253"/>
                        <a:pt x="600075" y="696912"/>
                      </a:cubicBezTo>
                      <a:cubicBezTo>
                        <a:pt x="600075" y="705571"/>
                        <a:pt x="592921" y="712787"/>
                        <a:pt x="584335" y="712787"/>
                      </a:cubicBezTo>
                      <a:cubicBezTo>
                        <a:pt x="584335" y="712787"/>
                        <a:pt x="584335" y="712787"/>
                        <a:pt x="296727" y="712787"/>
                      </a:cubicBezTo>
                      <a:cubicBezTo>
                        <a:pt x="288142" y="712787"/>
                        <a:pt x="280987" y="705571"/>
                        <a:pt x="280987" y="696912"/>
                      </a:cubicBezTo>
                      <a:cubicBezTo>
                        <a:pt x="280987" y="688253"/>
                        <a:pt x="288142" y="681037"/>
                        <a:pt x="296727" y="681037"/>
                      </a:cubicBezTo>
                      <a:close/>
                      <a:moveTo>
                        <a:pt x="15668" y="663575"/>
                      </a:moveTo>
                      <a:cubicBezTo>
                        <a:pt x="15668" y="663575"/>
                        <a:pt x="15668" y="663575"/>
                        <a:pt x="136733" y="663575"/>
                      </a:cubicBezTo>
                      <a:cubicBezTo>
                        <a:pt x="145991" y="663575"/>
                        <a:pt x="152400" y="670697"/>
                        <a:pt x="152400" y="679242"/>
                      </a:cubicBezTo>
                      <a:cubicBezTo>
                        <a:pt x="152400" y="679242"/>
                        <a:pt x="152400" y="679242"/>
                        <a:pt x="152400" y="800308"/>
                      </a:cubicBezTo>
                      <a:cubicBezTo>
                        <a:pt x="152400" y="808854"/>
                        <a:pt x="145991" y="815975"/>
                        <a:pt x="136733" y="815975"/>
                      </a:cubicBezTo>
                      <a:cubicBezTo>
                        <a:pt x="136733" y="815975"/>
                        <a:pt x="136733" y="815975"/>
                        <a:pt x="15668" y="815975"/>
                      </a:cubicBezTo>
                      <a:cubicBezTo>
                        <a:pt x="7122" y="815975"/>
                        <a:pt x="0" y="808854"/>
                        <a:pt x="0" y="800308"/>
                      </a:cubicBezTo>
                      <a:cubicBezTo>
                        <a:pt x="0" y="800308"/>
                        <a:pt x="0" y="800308"/>
                        <a:pt x="0" y="679242"/>
                      </a:cubicBezTo>
                      <a:cubicBezTo>
                        <a:pt x="0" y="670697"/>
                        <a:pt x="7122" y="663575"/>
                        <a:pt x="15668" y="663575"/>
                      </a:cubicBezTo>
                      <a:close/>
                      <a:moveTo>
                        <a:pt x="296727" y="485775"/>
                      </a:moveTo>
                      <a:cubicBezTo>
                        <a:pt x="296727" y="485775"/>
                        <a:pt x="296727" y="485775"/>
                        <a:pt x="584335" y="485775"/>
                      </a:cubicBezTo>
                      <a:cubicBezTo>
                        <a:pt x="592921" y="485775"/>
                        <a:pt x="600075" y="492991"/>
                        <a:pt x="600075" y="501650"/>
                      </a:cubicBezTo>
                      <a:cubicBezTo>
                        <a:pt x="600075" y="511031"/>
                        <a:pt x="592921" y="517525"/>
                        <a:pt x="584335" y="517525"/>
                      </a:cubicBezTo>
                      <a:cubicBezTo>
                        <a:pt x="584335" y="517525"/>
                        <a:pt x="584335" y="517525"/>
                        <a:pt x="296727" y="517525"/>
                      </a:cubicBezTo>
                      <a:cubicBezTo>
                        <a:pt x="288142" y="517525"/>
                        <a:pt x="280987" y="511031"/>
                        <a:pt x="280987" y="501650"/>
                      </a:cubicBezTo>
                      <a:cubicBezTo>
                        <a:pt x="280987" y="492991"/>
                        <a:pt x="288142" y="485775"/>
                        <a:pt x="296727" y="485775"/>
                      </a:cubicBezTo>
                      <a:close/>
                      <a:moveTo>
                        <a:pt x="31750" y="412750"/>
                      </a:moveTo>
                      <a:lnTo>
                        <a:pt x="31750" y="503238"/>
                      </a:lnTo>
                      <a:lnTo>
                        <a:pt x="122238" y="503238"/>
                      </a:lnTo>
                      <a:lnTo>
                        <a:pt x="122238" y="412750"/>
                      </a:lnTo>
                      <a:close/>
                      <a:moveTo>
                        <a:pt x="296727" y="400050"/>
                      </a:moveTo>
                      <a:cubicBezTo>
                        <a:pt x="296727" y="400050"/>
                        <a:pt x="296727" y="400050"/>
                        <a:pt x="584335" y="400050"/>
                      </a:cubicBezTo>
                      <a:cubicBezTo>
                        <a:pt x="592921" y="400050"/>
                        <a:pt x="600075" y="406544"/>
                        <a:pt x="600075" y="415925"/>
                      </a:cubicBezTo>
                      <a:cubicBezTo>
                        <a:pt x="600075" y="424584"/>
                        <a:pt x="592921" y="431800"/>
                        <a:pt x="584335" y="431800"/>
                      </a:cubicBezTo>
                      <a:cubicBezTo>
                        <a:pt x="584335" y="431800"/>
                        <a:pt x="584335" y="431800"/>
                        <a:pt x="296727" y="431800"/>
                      </a:cubicBezTo>
                      <a:cubicBezTo>
                        <a:pt x="288142" y="431800"/>
                        <a:pt x="280987" y="424584"/>
                        <a:pt x="280987" y="415925"/>
                      </a:cubicBezTo>
                      <a:cubicBezTo>
                        <a:pt x="280987" y="406544"/>
                        <a:pt x="288142" y="400050"/>
                        <a:pt x="296727" y="400050"/>
                      </a:cubicBezTo>
                      <a:close/>
                      <a:moveTo>
                        <a:pt x="15668" y="382587"/>
                      </a:moveTo>
                      <a:cubicBezTo>
                        <a:pt x="15668" y="382587"/>
                        <a:pt x="15668" y="382587"/>
                        <a:pt x="136733" y="382587"/>
                      </a:cubicBezTo>
                      <a:cubicBezTo>
                        <a:pt x="145991" y="382587"/>
                        <a:pt x="152400" y="389675"/>
                        <a:pt x="152400" y="398182"/>
                      </a:cubicBezTo>
                      <a:cubicBezTo>
                        <a:pt x="152400" y="398182"/>
                        <a:pt x="152400" y="398182"/>
                        <a:pt x="152400" y="519393"/>
                      </a:cubicBezTo>
                      <a:cubicBezTo>
                        <a:pt x="152400" y="527899"/>
                        <a:pt x="145991" y="534987"/>
                        <a:pt x="136733" y="534987"/>
                      </a:cubicBezTo>
                      <a:cubicBezTo>
                        <a:pt x="136733" y="534987"/>
                        <a:pt x="136733" y="534987"/>
                        <a:pt x="15668" y="534987"/>
                      </a:cubicBezTo>
                      <a:cubicBezTo>
                        <a:pt x="7122" y="534987"/>
                        <a:pt x="0" y="527899"/>
                        <a:pt x="0" y="519393"/>
                      </a:cubicBezTo>
                      <a:cubicBezTo>
                        <a:pt x="0" y="519393"/>
                        <a:pt x="0" y="519393"/>
                        <a:pt x="0" y="398182"/>
                      </a:cubicBezTo>
                      <a:cubicBezTo>
                        <a:pt x="0" y="389675"/>
                        <a:pt x="7122" y="382587"/>
                        <a:pt x="15668" y="382587"/>
                      </a:cubicBezTo>
                      <a:close/>
                      <a:moveTo>
                        <a:pt x="301266" y="31750"/>
                      </a:moveTo>
                      <a:cubicBezTo>
                        <a:pt x="294097" y="31750"/>
                        <a:pt x="286211" y="33176"/>
                        <a:pt x="279758" y="36027"/>
                      </a:cubicBezTo>
                      <a:cubicBezTo>
                        <a:pt x="264703" y="41016"/>
                        <a:pt x="252515" y="52420"/>
                        <a:pt x="246062" y="66675"/>
                      </a:cubicBezTo>
                      <a:cubicBezTo>
                        <a:pt x="246062" y="66675"/>
                        <a:pt x="246062" y="66675"/>
                        <a:pt x="357187" y="66675"/>
                      </a:cubicBezTo>
                      <a:cubicBezTo>
                        <a:pt x="350018" y="52420"/>
                        <a:pt x="337830" y="41016"/>
                        <a:pt x="323491" y="36027"/>
                      </a:cubicBezTo>
                      <a:cubicBezTo>
                        <a:pt x="316322" y="33176"/>
                        <a:pt x="309153" y="31750"/>
                        <a:pt x="301266" y="31750"/>
                      </a:cubicBezTo>
                      <a:close/>
                      <a:moveTo>
                        <a:pt x="300832" y="0"/>
                      </a:moveTo>
                      <a:cubicBezTo>
                        <a:pt x="330885" y="0"/>
                        <a:pt x="356645" y="13529"/>
                        <a:pt x="373818" y="35602"/>
                      </a:cubicBezTo>
                      <a:cubicBezTo>
                        <a:pt x="380973" y="44147"/>
                        <a:pt x="386698" y="54827"/>
                        <a:pt x="390275" y="66220"/>
                      </a:cubicBezTo>
                      <a:cubicBezTo>
                        <a:pt x="390275" y="66220"/>
                        <a:pt x="390275" y="66220"/>
                        <a:pt x="439648" y="66220"/>
                      </a:cubicBezTo>
                      <a:cubicBezTo>
                        <a:pt x="443226" y="66220"/>
                        <a:pt x="446088" y="69068"/>
                        <a:pt x="446088" y="73340"/>
                      </a:cubicBezTo>
                      <a:cubicBezTo>
                        <a:pt x="446088" y="73340"/>
                        <a:pt x="446088" y="73340"/>
                        <a:pt x="446088" y="113927"/>
                      </a:cubicBezTo>
                      <a:cubicBezTo>
                        <a:pt x="446088" y="113927"/>
                        <a:pt x="446088" y="113927"/>
                        <a:pt x="446088" y="145256"/>
                      </a:cubicBezTo>
                      <a:cubicBezTo>
                        <a:pt x="446088" y="145256"/>
                        <a:pt x="446088" y="145256"/>
                        <a:pt x="446088" y="178010"/>
                      </a:cubicBezTo>
                      <a:cubicBezTo>
                        <a:pt x="446088" y="186555"/>
                        <a:pt x="439648" y="193675"/>
                        <a:pt x="431062" y="193675"/>
                      </a:cubicBezTo>
                      <a:lnTo>
                        <a:pt x="171317" y="193675"/>
                      </a:lnTo>
                      <a:cubicBezTo>
                        <a:pt x="162731" y="193675"/>
                        <a:pt x="155575" y="186555"/>
                        <a:pt x="155575" y="178010"/>
                      </a:cubicBezTo>
                      <a:cubicBezTo>
                        <a:pt x="155575" y="178010"/>
                        <a:pt x="155575" y="178010"/>
                        <a:pt x="155575" y="145256"/>
                      </a:cubicBezTo>
                      <a:cubicBezTo>
                        <a:pt x="155575" y="145256"/>
                        <a:pt x="155575" y="145256"/>
                        <a:pt x="155575" y="113927"/>
                      </a:cubicBezTo>
                      <a:cubicBezTo>
                        <a:pt x="155575" y="113927"/>
                        <a:pt x="155575" y="113927"/>
                        <a:pt x="155575" y="73340"/>
                      </a:cubicBezTo>
                      <a:cubicBezTo>
                        <a:pt x="155575" y="69068"/>
                        <a:pt x="159153" y="66220"/>
                        <a:pt x="162731" y="66220"/>
                      </a:cubicBezTo>
                      <a:cubicBezTo>
                        <a:pt x="162731" y="66220"/>
                        <a:pt x="162731" y="66220"/>
                        <a:pt x="212104" y="66220"/>
                      </a:cubicBezTo>
                      <a:cubicBezTo>
                        <a:pt x="215681" y="54827"/>
                        <a:pt x="220690" y="44147"/>
                        <a:pt x="227846" y="35602"/>
                      </a:cubicBezTo>
                      <a:cubicBezTo>
                        <a:pt x="245019" y="13529"/>
                        <a:pt x="271494" y="0"/>
                        <a:pt x="300832"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grpSp>
      </p:grpSp>
      <p:grpSp>
        <p:nvGrpSpPr>
          <p:cNvPr id="43" name="Group 42">
            <a:extLst>
              <a:ext uri="{FF2B5EF4-FFF2-40B4-BE49-F238E27FC236}">
                <a16:creationId xmlns:a16="http://schemas.microsoft.com/office/drawing/2014/main" id="{7BBBAE7F-D817-A839-E91D-4B3D74AAB6EE}"/>
              </a:ext>
            </a:extLst>
          </p:cNvPr>
          <p:cNvGrpSpPr/>
          <p:nvPr/>
        </p:nvGrpSpPr>
        <p:grpSpPr>
          <a:xfrm>
            <a:off x="7526405" y="1447055"/>
            <a:ext cx="720000" cy="720000"/>
            <a:chOff x="5772024" y="1984163"/>
            <a:chExt cx="646578" cy="646578"/>
          </a:xfrm>
        </p:grpSpPr>
        <p:sp>
          <p:nvSpPr>
            <p:cNvPr id="44" name="Oval 43">
              <a:extLst>
                <a:ext uri="{FF2B5EF4-FFF2-40B4-BE49-F238E27FC236}">
                  <a16:creationId xmlns:a16="http://schemas.microsoft.com/office/drawing/2014/main" id="{EBE52F9B-E5D2-5097-C254-014E7CBAA766}"/>
                </a:ext>
              </a:extLst>
            </p:cNvPr>
            <p:cNvSpPr/>
            <p:nvPr>
              <p:custDataLst>
                <p:tags r:id="rId15"/>
              </p:custDataLst>
            </p:nvPr>
          </p:nvSpPr>
          <p:spPr>
            <a:xfrm>
              <a:off x="5772024" y="1984163"/>
              <a:ext cx="646578" cy="646578"/>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lumMod val="50000"/>
                  </a:prstClr>
                </a:solidFill>
                <a:effectLst/>
                <a:uLnTx/>
                <a:uFillTx/>
                <a:latin typeface="Trebuchet MS"/>
                <a:ea typeface="+mn-ea"/>
                <a:cs typeface="+mn-cs"/>
              </a:endParaRPr>
            </a:p>
          </p:txBody>
        </p:sp>
        <p:grpSp>
          <p:nvGrpSpPr>
            <p:cNvPr id="45" name="Group 44">
              <a:extLst>
                <a:ext uri="{FF2B5EF4-FFF2-40B4-BE49-F238E27FC236}">
                  <a16:creationId xmlns:a16="http://schemas.microsoft.com/office/drawing/2014/main" id="{392CE6DE-164D-7A13-5174-9C877EE12934}"/>
                </a:ext>
              </a:extLst>
            </p:cNvPr>
            <p:cNvGrpSpPr>
              <a:grpSpLocks noChangeAspect="1"/>
            </p:cNvGrpSpPr>
            <p:nvPr/>
          </p:nvGrpSpPr>
          <p:grpSpPr>
            <a:xfrm>
              <a:off x="5866713" y="2078852"/>
              <a:ext cx="457200" cy="457200"/>
              <a:chOff x="7324950" y="3200401"/>
              <a:chExt cx="457200" cy="457200"/>
            </a:xfrm>
          </p:grpSpPr>
          <p:sp>
            <p:nvSpPr>
              <p:cNvPr id="46" name="AutoShape 7">
                <a:extLst>
                  <a:ext uri="{FF2B5EF4-FFF2-40B4-BE49-F238E27FC236}">
                    <a16:creationId xmlns:a16="http://schemas.microsoft.com/office/drawing/2014/main" id="{A46CED4C-A78D-74CD-D90D-7151CAA0EEDF}"/>
                  </a:ext>
                </a:extLst>
              </p:cNvPr>
              <p:cNvSpPr>
                <a:spLocks noChangeAspect="1" noChangeArrowheads="1" noTextEdit="1"/>
              </p:cNvSpPr>
              <p:nvPr/>
            </p:nvSpPr>
            <p:spPr bwMode="auto">
              <a:xfrm>
                <a:off x="7324950" y="3200401"/>
                <a:ext cx="457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47" name="Freeform 9">
                <a:extLst>
                  <a:ext uri="{FF2B5EF4-FFF2-40B4-BE49-F238E27FC236}">
                    <a16:creationId xmlns:a16="http://schemas.microsoft.com/office/drawing/2014/main" id="{F6947FD3-CB98-302C-8D5C-AF43EEC59380}"/>
                  </a:ext>
                </a:extLst>
              </p:cNvPr>
              <p:cNvSpPr>
                <a:spLocks noEditPoints="1"/>
              </p:cNvSpPr>
              <p:nvPr/>
            </p:nvSpPr>
            <p:spPr bwMode="auto">
              <a:xfrm>
                <a:off x="7348811" y="3227918"/>
                <a:ext cx="410056" cy="402744"/>
              </a:xfrm>
              <a:custGeom>
                <a:avLst/>
                <a:gdLst>
                  <a:gd name="T0" fmla="*/ 154 w 896"/>
                  <a:gd name="T1" fmla="*/ 248 h 880"/>
                  <a:gd name="T2" fmla="*/ 177 w 896"/>
                  <a:gd name="T3" fmla="*/ 237 h 880"/>
                  <a:gd name="T4" fmla="*/ 725 w 896"/>
                  <a:gd name="T5" fmla="*/ 237 h 880"/>
                  <a:gd name="T6" fmla="*/ 749 w 896"/>
                  <a:gd name="T7" fmla="*/ 248 h 880"/>
                  <a:gd name="T8" fmla="*/ 738 w 896"/>
                  <a:gd name="T9" fmla="*/ 412 h 880"/>
                  <a:gd name="T10" fmla="*/ 708 w 896"/>
                  <a:gd name="T11" fmla="*/ 406 h 880"/>
                  <a:gd name="T12" fmla="*/ 707 w 896"/>
                  <a:gd name="T13" fmla="*/ 269 h 880"/>
                  <a:gd name="T14" fmla="*/ 196 w 896"/>
                  <a:gd name="T15" fmla="*/ 269 h 880"/>
                  <a:gd name="T16" fmla="*/ 196 w 896"/>
                  <a:gd name="T17" fmla="*/ 313 h 880"/>
                  <a:gd name="T18" fmla="*/ 290 w 896"/>
                  <a:gd name="T19" fmla="*/ 500 h 880"/>
                  <a:gd name="T20" fmla="*/ 451 w 896"/>
                  <a:gd name="T21" fmla="*/ 535 h 880"/>
                  <a:gd name="T22" fmla="*/ 500 w 896"/>
                  <a:gd name="T23" fmla="*/ 569 h 880"/>
                  <a:gd name="T24" fmla="*/ 451 w 896"/>
                  <a:gd name="T25" fmla="*/ 603 h 880"/>
                  <a:gd name="T26" fmla="*/ 309 w 896"/>
                  <a:gd name="T27" fmla="*/ 542 h 880"/>
                  <a:gd name="T28" fmla="*/ 451 w 896"/>
                  <a:gd name="T29" fmla="*/ 653 h 880"/>
                  <a:gd name="T30" fmla="*/ 634 w 896"/>
                  <a:gd name="T31" fmla="*/ 447 h 880"/>
                  <a:gd name="T32" fmla="*/ 662 w 896"/>
                  <a:gd name="T33" fmla="*/ 417 h 880"/>
                  <a:gd name="T34" fmla="*/ 687 w 896"/>
                  <a:gd name="T35" fmla="*/ 405 h 880"/>
                  <a:gd name="T36" fmla="*/ 582 w 896"/>
                  <a:gd name="T37" fmla="*/ 609 h 880"/>
                  <a:gd name="T38" fmla="*/ 578 w 896"/>
                  <a:gd name="T39" fmla="*/ 662 h 880"/>
                  <a:gd name="T40" fmla="*/ 560 w 896"/>
                  <a:gd name="T41" fmla="*/ 627 h 880"/>
                  <a:gd name="T42" fmla="*/ 342 w 896"/>
                  <a:gd name="T43" fmla="*/ 627 h 880"/>
                  <a:gd name="T44" fmla="*/ 324 w 896"/>
                  <a:gd name="T45" fmla="*/ 662 h 880"/>
                  <a:gd name="T46" fmla="*/ 321 w 896"/>
                  <a:gd name="T47" fmla="*/ 609 h 880"/>
                  <a:gd name="T48" fmla="*/ 195 w 896"/>
                  <a:gd name="T49" fmla="*/ 406 h 880"/>
                  <a:gd name="T50" fmla="*/ 165 w 896"/>
                  <a:gd name="T51" fmla="*/ 412 h 880"/>
                  <a:gd name="T52" fmla="*/ 682 w 896"/>
                  <a:gd name="T53" fmla="*/ 283 h 880"/>
                  <a:gd name="T54" fmla="*/ 215 w 896"/>
                  <a:gd name="T55" fmla="*/ 283 h 880"/>
                  <a:gd name="T56" fmla="*/ 319 w 896"/>
                  <a:gd name="T57" fmla="*/ 245 h 880"/>
                  <a:gd name="T58" fmla="*/ 626 w 896"/>
                  <a:gd name="T59" fmla="*/ 400 h 880"/>
                  <a:gd name="T60" fmla="*/ 682 w 896"/>
                  <a:gd name="T61" fmla="*/ 389 h 880"/>
                  <a:gd name="T62" fmla="*/ 681 w 896"/>
                  <a:gd name="T63" fmla="*/ 328 h 880"/>
                  <a:gd name="T64" fmla="*/ 894 w 896"/>
                  <a:gd name="T65" fmla="*/ 865 h 880"/>
                  <a:gd name="T66" fmla="*/ 593 w 896"/>
                  <a:gd name="T67" fmla="*/ 675 h 880"/>
                  <a:gd name="T68" fmla="*/ 445 w 896"/>
                  <a:gd name="T69" fmla="*/ 791 h 880"/>
                  <a:gd name="T70" fmla="*/ 111 w 896"/>
                  <a:gd name="T71" fmla="*/ 708 h 880"/>
                  <a:gd name="T72" fmla="*/ 12 w 896"/>
                  <a:gd name="T73" fmla="*/ 880 h 880"/>
                  <a:gd name="T74" fmla="*/ 894 w 896"/>
                  <a:gd name="T75" fmla="*/ 865 h 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96" h="880">
                    <a:moveTo>
                      <a:pt x="154" y="400"/>
                    </a:moveTo>
                    <a:cubicBezTo>
                      <a:pt x="154" y="248"/>
                      <a:pt x="154" y="248"/>
                      <a:pt x="154" y="248"/>
                    </a:cubicBezTo>
                    <a:cubicBezTo>
                      <a:pt x="154" y="242"/>
                      <a:pt x="159" y="237"/>
                      <a:pt x="165" y="237"/>
                    </a:cubicBezTo>
                    <a:cubicBezTo>
                      <a:pt x="177" y="237"/>
                      <a:pt x="177" y="237"/>
                      <a:pt x="177" y="237"/>
                    </a:cubicBezTo>
                    <a:cubicBezTo>
                      <a:pt x="202" y="102"/>
                      <a:pt x="315" y="0"/>
                      <a:pt x="451" y="0"/>
                    </a:cubicBezTo>
                    <a:cubicBezTo>
                      <a:pt x="587" y="0"/>
                      <a:pt x="701" y="102"/>
                      <a:pt x="725" y="237"/>
                    </a:cubicBezTo>
                    <a:cubicBezTo>
                      <a:pt x="738" y="237"/>
                      <a:pt x="738" y="237"/>
                      <a:pt x="738" y="237"/>
                    </a:cubicBezTo>
                    <a:cubicBezTo>
                      <a:pt x="744" y="237"/>
                      <a:pt x="749" y="242"/>
                      <a:pt x="749" y="248"/>
                    </a:cubicBezTo>
                    <a:cubicBezTo>
                      <a:pt x="749" y="400"/>
                      <a:pt x="749" y="400"/>
                      <a:pt x="749" y="400"/>
                    </a:cubicBezTo>
                    <a:cubicBezTo>
                      <a:pt x="749" y="406"/>
                      <a:pt x="744" y="412"/>
                      <a:pt x="738" y="412"/>
                    </a:cubicBezTo>
                    <a:cubicBezTo>
                      <a:pt x="718" y="412"/>
                      <a:pt x="718" y="412"/>
                      <a:pt x="718" y="412"/>
                    </a:cubicBezTo>
                    <a:cubicBezTo>
                      <a:pt x="713" y="412"/>
                      <a:pt x="710" y="409"/>
                      <a:pt x="708" y="406"/>
                    </a:cubicBezTo>
                    <a:cubicBezTo>
                      <a:pt x="707" y="404"/>
                      <a:pt x="707" y="402"/>
                      <a:pt x="707" y="400"/>
                    </a:cubicBezTo>
                    <a:cubicBezTo>
                      <a:pt x="707" y="400"/>
                      <a:pt x="707" y="277"/>
                      <a:pt x="707" y="269"/>
                    </a:cubicBezTo>
                    <a:cubicBezTo>
                      <a:pt x="696" y="131"/>
                      <a:pt x="585" y="23"/>
                      <a:pt x="451" y="23"/>
                    </a:cubicBezTo>
                    <a:cubicBezTo>
                      <a:pt x="317" y="23"/>
                      <a:pt x="207" y="131"/>
                      <a:pt x="196" y="269"/>
                    </a:cubicBezTo>
                    <a:cubicBezTo>
                      <a:pt x="196" y="277"/>
                      <a:pt x="195" y="284"/>
                      <a:pt x="195" y="292"/>
                    </a:cubicBezTo>
                    <a:cubicBezTo>
                      <a:pt x="195" y="299"/>
                      <a:pt x="196" y="307"/>
                      <a:pt x="196" y="313"/>
                    </a:cubicBezTo>
                    <a:cubicBezTo>
                      <a:pt x="199" y="346"/>
                      <a:pt x="207" y="377"/>
                      <a:pt x="219" y="405"/>
                    </a:cubicBezTo>
                    <a:cubicBezTo>
                      <a:pt x="236" y="442"/>
                      <a:pt x="260" y="475"/>
                      <a:pt x="290" y="500"/>
                    </a:cubicBezTo>
                    <a:cubicBezTo>
                      <a:pt x="323" y="529"/>
                      <a:pt x="363" y="548"/>
                      <a:pt x="406" y="557"/>
                    </a:cubicBezTo>
                    <a:cubicBezTo>
                      <a:pt x="413" y="544"/>
                      <a:pt x="431" y="535"/>
                      <a:pt x="451" y="535"/>
                    </a:cubicBezTo>
                    <a:cubicBezTo>
                      <a:pt x="472" y="535"/>
                      <a:pt x="489" y="544"/>
                      <a:pt x="496" y="557"/>
                    </a:cubicBezTo>
                    <a:cubicBezTo>
                      <a:pt x="499" y="560"/>
                      <a:pt x="500" y="564"/>
                      <a:pt x="500" y="569"/>
                    </a:cubicBezTo>
                    <a:cubicBezTo>
                      <a:pt x="500" y="572"/>
                      <a:pt x="499" y="576"/>
                      <a:pt x="497" y="579"/>
                    </a:cubicBezTo>
                    <a:cubicBezTo>
                      <a:pt x="491" y="593"/>
                      <a:pt x="473" y="603"/>
                      <a:pt x="451" y="603"/>
                    </a:cubicBezTo>
                    <a:cubicBezTo>
                      <a:pt x="430" y="603"/>
                      <a:pt x="411" y="593"/>
                      <a:pt x="405" y="579"/>
                    </a:cubicBezTo>
                    <a:cubicBezTo>
                      <a:pt x="371" y="573"/>
                      <a:pt x="338" y="560"/>
                      <a:pt x="309" y="542"/>
                    </a:cubicBezTo>
                    <a:cubicBezTo>
                      <a:pt x="321" y="569"/>
                      <a:pt x="333" y="591"/>
                      <a:pt x="340" y="597"/>
                    </a:cubicBezTo>
                    <a:cubicBezTo>
                      <a:pt x="362" y="617"/>
                      <a:pt x="419" y="653"/>
                      <a:pt x="451" y="653"/>
                    </a:cubicBezTo>
                    <a:cubicBezTo>
                      <a:pt x="483" y="653"/>
                      <a:pt x="541" y="617"/>
                      <a:pt x="563" y="597"/>
                    </a:cubicBezTo>
                    <a:cubicBezTo>
                      <a:pt x="577" y="585"/>
                      <a:pt x="614" y="498"/>
                      <a:pt x="634" y="447"/>
                    </a:cubicBezTo>
                    <a:cubicBezTo>
                      <a:pt x="635" y="445"/>
                      <a:pt x="637" y="443"/>
                      <a:pt x="639" y="442"/>
                    </a:cubicBezTo>
                    <a:cubicBezTo>
                      <a:pt x="651" y="436"/>
                      <a:pt x="658" y="426"/>
                      <a:pt x="662" y="417"/>
                    </a:cubicBezTo>
                    <a:cubicBezTo>
                      <a:pt x="662" y="417"/>
                      <a:pt x="662" y="417"/>
                      <a:pt x="687" y="404"/>
                    </a:cubicBezTo>
                    <a:cubicBezTo>
                      <a:pt x="687" y="405"/>
                      <a:pt x="687" y="405"/>
                      <a:pt x="687" y="405"/>
                    </a:cubicBezTo>
                    <a:cubicBezTo>
                      <a:pt x="686" y="416"/>
                      <a:pt x="679" y="444"/>
                      <a:pt x="653" y="459"/>
                    </a:cubicBezTo>
                    <a:cubicBezTo>
                      <a:pt x="642" y="487"/>
                      <a:pt x="604" y="581"/>
                      <a:pt x="582" y="609"/>
                    </a:cubicBezTo>
                    <a:cubicBezTo>
                      <a:pt x="582" y="657"/>
                      <a:pt x="582" y="657"/>
                      <a:pt x="582" y="657"/>
                    </a:cubicBezTo>
                    <a:cubicBezTo>
                      <a:pt x="578" y="662"/>
                      <a:pt x="578" y="662"/>
                      <a:pt x="578" y="662"/>
                    </a:cubicBezTo>
                    <a:cubicBezTo>
                      <a:pt x="577" y="663"/>
                      <a:pt x="571" y="671"/>
                      <a:pt x="560" y="682"/>
                    </a:cubicBezTo>
                    <a:cubicBezTo>
                      <a:pt x="560" y="627"/>
                      <a:pt x="560" y="627"/>
                      <a:pt x="560" y="627"/>
                    </a:cubicBezTo>
                    <a:cubicBezTo>
                      <a:pt x="531" y="649"/>
                      <a:pt x="483" y="675"/>
                      <a:pt x="451" y="675"/>
                    </a:cubicBezTo>
                    <a:cubicBezTo>
                      <a:pt x="419" y="675"/>
                      <a:pt x="372" y="649"/>
                      <a:pt x="342" y="627"/>
                    </a:cubicBezTo>
                    <a:cubicBezTo>
                      <a:pt x="342" y="682"/>
                      <a:pt x="342" y="682"/>
                      <a:pt x="342" y="682"/>
                    </a:cubicBezTo>
                    <a:cubicBezTo>
                      <a:pt x="331" y="671"/>
                      <a:pt x="325" y="663"/>
                      <a:pt x="324" y="662"/>
                    </a:cubicBezTo>
                    <a:cubicBezTo>
                      <a:pt x="321" y="657"/>
                      <a:pt x="321" y="657"/>
                      <a:pt x="321" y="657"/>
                    </a:cubicBezTo>
                    <a:cubicBezTo>
                      <a:pt x="321" y="609"/>
                      <a:pt x="321" y="609"/>
                      <a:pt x="321" y="609"/>
                    </a:cubicBezTo>
                    <a:cubicBezTo>
                      <a:pt x="307" y="592"/>
                      <a:pt x="288" y="552"/>
                      <a:pt x="273" y="515"/>
                    </a:cubicBezTo>
                    <a:cubicBezTo>
                      <a:pt x="239" y="486"/>
                      <a:pt x="212" y="448"/>
                      <a:pt x="195" y="406"/>
                    </a:cubicBezTo>
                    <a:cubicBezTo>
                      <a:pt x="193" y="409"/>
                      <a:pt x="189" y="412"/>
                      <a:pt x="185" y="412"/>
                    </a:cubicBezTo>
                    <a:cubicBezTo>
                      <a:pt x="165" y="412"/>
                      <a:pt x="165" y="412"/>
                      <a:pt x="165" y="412"/>
                    </a:cubicBezTo>
                    <a:cubicBezTo>
                      <a:pt x="159" y="412"/>
                      <a:pt x="154" y="406"/>
                      <a:pt x="154" y="400"/>
                    </a:cubicBezTo>
                    <a:close/>
                    <a:moveTo>
                      <a:pt x="682" y="283"/>
                    </a:moveTo>
                    <a:cubicBezTo>
                      <a:pt x="682" y="152"/>
                      <a:pt x="581" y="46"/>
                      <a:pt x="448" y="46"/>
                    </a:cubicBezTo>
                    <a:cubicBezTo>
                      <a:pt x="316" y="46"/>
                      <a:pt x="215" y="152"/>
                      <a:pt x="215" y="283"/>
                    </a:cubicBezTo>
                    <a:cubicBezTo>
                      <a:pt x="215" y="312"/>
                      <a:pt x="219" y="370"/>
                      <a:pt x="228" y="381"/>
                    </a:cubicBezTo>
                    <a:cubicBezTo>
                      <a:pt x="250" y="402"/>
                      <a:pt x="253" y="290"/>
                      <a:pt x="319" y="245"/>
                    </a:cubicBezTo>
                    <a:cubicBezTo>
                      <a:pt x="327" y="241"/>
                      <a:pt x="342" y="232"/>
                      <a:pt x="342" y="232"/>
                    </a:cubicBezTo>
                    <a:cubicBezTo>
                      <a:pt x="488" y="232"/>
                      <a:pt x="600" y="386"/>
                      <a:pt x="626" y="400"/>
                    </a:cubicBezTo>
                    <a:cubicBezTo>
                      <a:pt x="636" y="406"/>
                      <a:pt x="649" y="403"/>
                      <a:pt x="662" y="398"/>
                    </a:cubicBezTo>
                    <a:cubicBezTo>
                      <a:pt x="669" y="396"/>
                      <a:pt x="676" y="392"/>
                      <a:pt x="682" y="389"/>
                    </a:cubicBezTo>
                    <a:cubicBezTo>
                      <a:pt x="691" y="384"/>
                      <a:pt x="698" y="379"/>
                      <a:pt x="698" y="379"/>
                    </a:cubicBezTo>
                    <a:cubicBezTo>
                      <a:pt x="684" y="360"/>
                      <a:pt x="680" y="341"/>
                      <a:pt x="681" y="328"/>
                    </a:cubicBezTo>
                    <a:cubicBezTo>
                      <a:pt x="682" y="313"/>
                      <a:pt x="682" y="299"/>
                      <a:pt x="682" y="283"/>
                    </a:cubicBezTo>
                    <a:close/>
                    <a:moveTo>
                      <a:pt x="894" y="865"/>
                    </a:moveTo>
                    <a:cubicBezTo>
                      <a:pt x="880" y="829"/>
                      <a:pt x="840" y="733"/>
                      <a:pt x="786" y="708"/>
                    </a:cubicBezTo>
                    <a:cubicBezTo>
                      <a:pt x="718" y="677"/>
                      <a:pt x="593" y="675"/>
                      <a:pt x="593" y="675"/>
                    </a:cubicBezTo>
                    <a:cubicBezTo>
                      <a:pt x="593" y="675"/>
                      <a:pt x="513" y="742"/>
                      <a:pt x="451" y="791"/>
                    </a:cubicBezTo>
                    <a:cubicBezTo>
                      <a:pt x="450" y="793"/>
                      <a:pt x="447" y="793"/>
                      <a:pt x="445" y="791"/>
                    </a:cubicBezTo>
                    <a:cubicBezTo>
                      <a:pt x="400" y="755"/>
                      <a:pt x="303" y="675"/>
                      <a:pt x="303" y="675"/>
                    </a:cubicBezTo>
                    <a:cubicBezTo>
                      <a:pt x="303" y="675"/>
                      <a:pt x="178" y="677"/>
                      <a:pt x="111" y="708"/>
                    </a:cubicBezTo>
                    <a:cubicBezTo>
                      <a:pt x="56" y="733"/>
                      <a:pt x="16" y="829"/>
                      <a:pt x="2" y="865"/>
                    </a:cubicBezTo>
                    <a:cubicBezTo>
                      <a:pt x="0" y="873"/>
                      <a:pt x="5" y="880"/>
                      <a:pt x="12" y="880"/>
                    </a:cubicBezTo>
                    <a:cubicBezTo>
                      <a:pt x="884" y="880"/>
                      <a:pt x="884" y="880"/>
                      <a:pt x="884" y="880"/>
                    </a:cubicBezTo>
                    <a:cubicBezTo>
                      <a:pt x="891" y="880"/>
                      <a:pt x="896" y="873"/>
                      <a:pt x="894" y="865"/>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grpSp>
      <p:grpSp>
        <p:nvGrpSpPr>
          <p:cNvPr id="48" name="Group 47">
            <a:extLst>
              <a:ext uri="{FF2B5EF4-FFF2-40B4-BE49-F238E27FC236}">
                <a16:creationId xmlns:a16="http://schemas.microsoft.com/office/drawing/2014/main" id="{CE2C38B7-878A-DDC0-D09B-4C37DB75CED2}"/>
              </a:ext>
            </a:extLst>
          </p:cNvPr>
          <p:cNvGrpSpPr/>
          <p:nvPr/>
        </p:nvGrpSpPr>
        <p:grpSpPr>
          <a:xfrm>
            <a:off x="11371255" y="1447055"/>
            <a:ext cx="720000" cy="720000"/>
            <a:chOff x="6351188" y="919137"/>
            <a:chExt cx="720000" cy="720000"/>
          </a:xfrm>
        </p:grpSpPr>
        <p:sp>
          <p:nvSpPr>
            <p:cNvPr id="49" name="Oval 48">
              <a:extLst>
                <a:ext uri="{FF2B5EF4-FFF2-40B4-BE49-F238E27FC236}">
                  <a16:creationId xmlns:a16="http://schemas.microsoft.com/office/drawing/2014/main" id="{CEAD95E1-1C6F-4C3E-AA6E-E6FC3B954F6F}"/>
                </a:ext>
              </a:extLst>
            </p:cNvPr>
            <p:cNvSpPr/>
            <p:nvPr>
              <p:custDataLst>
                <p:tags r:id="rId14"/>
              </p:custDataLst>
            </p:nvPr>
          </p:nvSpPr>
          <p:spPr>
            <a:xfrm>
              <a:off x="6351188" y="919137"/>
              <a:ext cx="720000" cy="720000"/>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lumMod val="50000"/>
                  </a:prstClr>
                </a:solidFill>
                <a:effectLst/>
                <a:uLnTx/>
                <a:uFillTx/>
                <a:latin typeface="Trebuchet MS"/>
                <a:ea typeface="+mn-ea"/>
                <a:cs typeface="+mn-cs"/>
              </a:endParaRPr>
            </a:p>
          </p:txBody>
        </p:sp>
        <p:sp>
          <p:nvSpPr>
            <p:cNvPr id="50" name="Freeform 17">
              <a:extLst>
                <a:ext uri="{FF2B5EF4-FFF2-40B4-BE49-F238E27FC236}">
                  <a16:creationId xmlns:a16="http://schemas.microsoft.com/office/drawing/2014/main" id="{35F10CC0-1E74-5658-3477-C51BECF3D984}"/>
                </a:ext>
              </a:extLst>
            </p:cNvPr>
            <p:cNvSpPr>
              <a:spLocks noEditPoints="1"/>
            </p:cNvSpPr>
            <p:nvPr/>
          </p:nvSpPr>
          <p:spPr bwMode="auto">
            <a:xfrm>
              <a:off x="6448813" y="1110835"/>
              <a:ext cx="517064" cy="325185"/>
            </a:xfrm>
            <a:custGeom>
              <a:avLst/>
              <a:gdLst>
                <a:gd name="T0" fmla="*/ 738 w 886"/>
                <a:gd name="T1" fmla="*/ 209 h 558"/>
                <a:gd name="T2" fmla="*/ 554 w 886"/>
                <a:gd name="T3" fmla="*/ 370 h 558"/>
                <a:gd name="T4" fmla="*/ 412 w 886"/>
                <a:gd name="T5" fmla="*/ 276 h 558"/>
                <a:gd name="T6" fmla="*/ 327 w 886"/>
                <a:gd name="T7" fmla="*/ 337 h 558"/>
                <a:gd name="T8" fmla="*/ 226 w 886"/>
                <a:gd name="T9" fmla="*/ 446 h 558"/>
                <a:gd name="T10" fmla="*/ 53 w 886"/>
                <a:gd name="T11" fmla="*/ 508 h 558"/>
                <a:gd name="T12" fmla="*/ 23 w 886"/>
                <a:gd name="T13" fmla="*/ 515 h 558"/>
                <a:gd name="T14" fmla="*/ 47 w 886"/>
                <a:gd name="T15" fmla="*/ 558 h 558"/>
                <a:gd name="T16" fmla="*/ 863 w 886"/>
                <a:gd name="T17" fmla="*/ 534 h 558"/>
                <a:gd name="T18" fmla="*/ 855 w 886"/>
                <a:gd name="T19" fmla="*/ 116 h 558"/>
                <a:gd name="T20" fmla="*/ 879 w 886"/>
                <a:gd name="T21" fmla="*/ 10 h 558"/>
                <a:gd name="T22" fmla="*/ 780 w 886"/>
                <a:gd name="T23" fmla="*/ 63 h 558"/>
                <a:gd name="T24" fmla="*/ 701 w 886"/>
                <a:gd name="T25" fmla="*/ 109 h 558"/>
                <a:gd name="T26" fmla="*/ 703 w 886"/>
                <a:gd name="T27" fmla="*/ 124 h 558"/>
                <a:gd name="T28" fmla="*/ 580 w 886"/>
                <a:gd name="T29" fmla="*/ 223 h 558"/>
                <a:gd name="T30" fmla="*/ 520 w 886"/>
                <a:gd name="T31" fmla="*/ 229 h 558"/>
                <a:gd name="T32" fmla="*/ 519 w 886"/>
                <a:gd name="T33" fmla="*/ 230 h 558"/>
                <a:gd name="T34" fmla="*/ 427 w 886"/>
                <a:gd name="T35" fmla="*/ 184 h 558"/>
                <a:gd name="T36" fmla="*/ 375 w 886"/>
                <a:gd name="T37" fmla="*/ 130 h 558"/>
                <a:gd name="T38" fmla="*/ 327 w 886"/>
                <a:gd name="T39" fmla="*/ 202 h 558"/>
                <a:gd name="T40" fmla="*/ 328 w 886"/>
                <a:gd name="T41" fmla="*/ 204 h 558"/>
                <a:gd name="T42" fmla="*/ 226 w 886"/>
                <a:gd name="T43" fmla="*/ 293 h 558"/>
                <a:gd name="T44" fmla="*/ 174 w 886"/>
                <a:gd name="T45" fmla="*/ 348 h 558"/>
                <a:gd name="T46" fmla="*/ 174 w 886"/>
                <a:gd name="T47" fmla="*/ 349 h 558"/>
                <a:gd name="T48" fmla="*/ 5 w 886"/>
                <a:gd name="T49" fmla="*/ 456 h 558"/>
                <a:gd name="T50" fmla="*/ 32 w 886"/>
                <a:gd name="T51" fmla="*/ 465 h 558"/>
                <a:gd name="T52" fmla="*/ 226 w 886"/>
                <a:gd name="T53" fmla="*/ 398 h 558"/>
                <a:gd name="T54" fmla="*/ 273 w 886"/>
                <a:gd name="T55" fmla="*/ 323 h 558"/>
                <a:gd name="T56" fmla="*/ 375 w 886"/>
                <a:gd name="T57" fmla="*/ 234 h 558"/>
                <a:gd name="T58" fmla="*/ 502 w 886"/>
                <a:gd name="T59" fmla="*/ 265 h 558"/>
                <a:gd name="T60" fmla="*/ 501 w 886"/>
                <a:gd name="T61" fmla="*/ 267 h 558"/>
                <a:gd name="T62" fmla="*/ 554 w 886"/>
                <a:gd name="T63" fmla="*/ 321 h 558"/>
                <a:gd name="T64" fmla="*/ 605 w 886"/>
                <a:gd name="T65" fmla="*/ 256 h 558"/>
                <a:gd name="T66" fmla="*/ 605 w 886"/>
                <a:gd name="T67" fmla="*/ 254 h 558"/>
                <a:gd name="T68" fmla="*/ 754 w 886"/>
                <a:gd name="T69" fmla="*/ 162 h 558"/>
                <a:gd name="T70" fmla="*/ 805 w 886"/>
                <a:gd name="T71" fmla="*/ 96 h 558"/>
                <a:gd name="T72" fmla="*/ 876 w 886"/>
                <a:gd name="T73" fmla="*/ 37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86" h="558">
                  <a:moveTo>
                    <a:pt x="754" y="211"/>
                  </a:moveTo>
                  <a:cubicBezTo>
                    <a:pt x="749" y="211"/>
                    <a:pt x="744" y="210"/>
                    <a:pt x="738" y="209"/>
                  </a:cubicBezTo>
                  <a:cubicBezTo>
                    <a:pt x="655" y="276"/>
                    <a:pt x="655" y="276"/>
                    <a:pt x="655" y="276"/>
                  </a:cubicBezTo>
                  <a:cubicBezTo>
                    <a:pt x="652" y="328"/>
                    <a:pt x="608" y="370"/>
                    <a:pt x="554" y="370"/>
                  </a:cubicBezTo>
                  <a:cubicBezTo>
                    <a:pt x="509" y="370"/>
                    <a:pt x="470" y="339"/>
                    <a:pt x="457" y="298"/>
                  </a:cubicBezTo>
                  <a:cubicBezTo>
                    <a:pt x="412" y="276"/>
                    <a:pt x="412" y="276"/>
                    <a:pt x="412" y="276"/>
                  </a:cubicBezTo>
                  <a:cubicBezTo>
                    <a:pt x="400" y="280"/>
                    <a:pt x="388" y="283"/>
                    <a:pt x="376" y="283"/>
                  </a:cubicBezTo>
                  <a:cubicBezTo>
                    <a:pt x="327" y="337"/>
                    <a:pt x="327" y="337"/>
                    <a:pt x="327" y="337"/>
                  </a:cubicBezTo>
                  <a:cubicBezTo>
                    <a:pt x="327" y="340"/>
                    <a:pt x="327" y="343"/>
                    <a:pt x="327" y="346"/>
                  </a:cubicBezTo>
                  <a:cubicBezTo>
                    <a:pt x="327" y="401"/>
                    <a:pt x="282" y="446"/>
                    <a:pt x="226" y="446"/>
                  </a:cubicBezTo>
                  <a:cubicBezTo>
                    <a:pt x="214" y="446"/>
                    <a:pt x="202" y="444"/>
                    <a:pt x="191" y="440"/>
                  </a:cubicBezTo>
                  <a:cubicBezTo>
                    <a:pt x="53" y="508"/>
                    <a:pt x="53" y="508"/>
                    <a:pt x="53" y="508"/>
                  </a:cubicBezTo>
                  <a:cubicBezTo>
                    <a:pt x="44" y="513"/>
                    <a:pt x="33" y="515"/>
                    <a:pt x="23" y="515"/>
                  </a:cubicBezTo>
                  <a:cubicBezTo>
                    <a:pt x="23" y="515"/>
                    <a:pt x="23" y="515"/>
                    <a:pt x="23" y="515"/>
                  </a:cubicBezTo>
                  <a:cubicBezTo>
                    <a:pt x="23" y="534"/>
                    <a:pt x="23" y="534"/>
                    <a:pt x="23" y="534"/>
                  </a:cubicBezTo>
                  <a:cubicBezTo>
                    <a:pt x="23" y="547"/>
                    <a:pt x="34" y="558"/>
                    <a:pt x="47" y="558"/>
                  </a:cubicBezTo>
                  <a:cubicBezTo>
                    <a:pt x="839" y="558"/>
                    <a:pt x="839" y="558"/>
                    <a:pt x="839" y="558"/>
                  </a:cubicBezTo>
                  <a:cubicBezTo>
                    <a:pt x="852" y="558"/>
                    <a:pt x="863" y="547"/>
                    <a:pt x="863" y="534"/>
                  </a:cubicBezTo>
                  <a:cubicBezTo>
                    <a:pt x="863" y="110"/>
                    <a:pt x="863" y="110"/>
                    <a:pt x="863" y="110"/>
                  </a:cubicBezTo>
                  <a:cubicBezTo>
                    <a:pt x="855" y="116"/>
                    <a:pt x="855" y="116"/>
                    <a:pt x="855" y="116"/>
                  </a:cubicBezTo>
                  <a:cubicBezTo>
                    <a:pt x="852" y="169"/>
                    <a:pt x="808" y="211"/>
                    <a:pt x="754" y="211"/>
                  </a:cubicBezTo>
                  <a:close/>
                  <a:moveTo>
                    <a:pt x="879" y="10"/>
                  </a:moveTo>
                  <a:cubicBezTo>
                    <a:pt x="872" y="1"/>
                    <a:pt x="859" y="0"/>
                    <a:pt x="851" y="6"/>
                  </a:cubicBezTo>
                  <a:cubicBezTo>
                    <a:pt x="780" y="63"/>
                    <a:pt x="780" y="63"/>
                    <a:pt x="780" y="63"/>
                  </a:cubicBezTo>
                  <a:cubicBezTo>
                    <a:pt x="772" y="59"/>
                    <a:pt x="763" y="56"/>
                    <a:pt x="754" y="56"/>
                  </a:cubicBezTo>
                  <a:cubicBezTo>
                    <a:pt x="725" y="56"/>
                    <a:pt x="701" y="80"/>
                    <a:pt x="701" y="109"/>
                  </a:cubicBezTo>
                  <a:cubicBezTo>
                    <a:pt x="701" y="113"/>
                    <a:pt x="702" y="117"/>
                    <a:pt x="703" y="122"/>
                  </a:cubicBezTo>
                  <a:cubicBezTo>
                    <a:pt x="703" y="124"/>
                    <a:pt x="703" y="124"/>
                    <a:pt x="703" y="124"/>
                  </a:cubicBezTo>
                  <a:cubicBezTo>
                    <a:pt x="703" y="124"/>
                    <a:pt x="703" y="124"/>
                    <a:pt x="703" y="124"/>
                  </a:cubicBezTo>
                  <a:cubicBezTo>
                    <a:pt x="580" y="223"/>
                    <a:pt x="580" y="223"/>
                    <a:pt x="580" y="223"/>
                  </a:cubicBezTo>
                  <a:cubicBezTo>
                    <a:pt x="572" y="219"/>
                    <a:pt x="564" y="217"/>
                    <a:pt x="554" y="217"/>
                  </a:cubicBezTo>
                  <a:cubicBezTo>
                    <a:pt x="542" y="217"/>
                    <a:pt x="530" y="221"/>
                    <a:pt x="520" y="229"/>
                  </a:cubicBezTo>
                  <a:cubicBezTo>
                    <a:pt x="519" y="229"/>
                    <a:pt x="519" y="229"/>
                    <a:pt x="519" y="229"/>
                  </a:cubicBezTo>
                  <a:cubicBezTo>
                    <a:pt x="519" y="230"/>
                    <a:pt x="519" y="230"/>
                    <a:pt x="519" y="230"/>
                  </a:cubicBezTo>
                  <a:cubicBezTo>
                    <a:pt x="427" y="185"/>
                    <a:pt x="427" y="185"/>
                    <a:pt x="427" y="185"/>
                  </a:cubicBezTo>
                  <a:cubicBezTo>
                    <a:pt x="427" y="184"/>
                    <a:pt x="427" y="184"/>
                    <a:pt x="427" y="184"/>
                  </a:cubicBezTo>
                  <a:cubicBezTo>
                    <a:pt x="427" y="182"/>
                    <a:pt x="427" y="182"/>
                    <a:pt x="427" y="182"/>
                  </a:cubicBezTo>
                  <a:cubicBezTo>
                    <a:pt x="427" y="153"/>
                    <a:pt x="404" y="130"/>
                    <a:pt x="375" y="130"/>
                  </a:cubicBezTo>
                  <a:cubicBezTo>
                    <a:pt x="346" y="130"/>
                    <a:pt x="323" y="153"/>
                    <a:pt x="323" y="182"/>
                  </a:cubicBezTo>
                  <a:cubicBezTo>
                    <a:pt x="323" y="189"/>
                    <a:pt x="324" y="195"/>
                    <a:pt x="327" y="202"/>
                  </a:cubicBezTo>
                  <a:cubicBezTo>
                    <a:pt x="328" y="204"/>
                    <a:pt x="328" y="204"/>
                    <a:pt x="328" y="204"/>
                  </a:cubicBezTo>
                  <a:cubicBezTo>
                    <a:pt x="328" y="204"/>
                    <a:pt x="328" y="204"/>
                    <a:pt x="328" y="204"/>
                  </a:cubicBezTo>
                  <a:cubicBezTo>
                    <a:pt x="244" y="297"/>
                    <a:pt x="244" y="297"/>
                    <a:pt x="244" y="297"/>
                  </a:cubicBezTo>
                  <a:cubicBezTo>
                    <a:pt x="238" y="294"/>
                    <a:pt x="233" y="293"/>
                    <a:pt x="226" y="293"/>
                  </a:cubicBezTo>
                  <a:cubicBezTo>
                    <a:pt x="197" y="293"/>
                    <a:pt x="174" y="317"/>
                    <a:pt x="174" y="346"/>
                  </a:cubicBezTo>
                  <a:cubicBezTo>
                    <a:pt x="174" y="348"/>
                    <a:pt x="174" y="348"/>
                    <a:pt x="174" y="348"/>
                  </a:cubicBezTo>
                  <a:cubicBezTo>
                    <a:pt x="174" y="349"/>
                    <a:pt x="174" y="349"/>
                    <a:pt x="174" y="349"/>
                  </a:cubicBezTo>
                  <a:cubicBezTo>
                    <a:pt x="174" y="349"/>
                    <a:pt x="174" y="349"/>
                    <a:pt x="174" y="349"/>
                  </a:cubicBezTo>
                  <a:cubicBezTo>
                    <a:pt x="14" y="429"/>
                    <a:pt x="14" y="429"/>
                    <a:pt x="14" y="429"/>
                  </a:cubicBezTo>
                  <a:cubicBezTo>
                    <a:pt x="4" y="434"/>
                    <a:pt x="0" y="446"/>
                    <a:pt x="5" y="456"/>
                  </a:cubicBezTo>
                  <a:cubicBezTo>
                    <a:pt x="9" y="463"/>
                    <a:pt x="16" y="467"/>
                    <a:pt x="23" y="467"/>
                  </a:cubicBezTo>
                  <a:cubicBezTo>
                    <a:pt x="26" y="467"/>
                    <a:pt x="29" y="466"/>
                    <a:pt x="32" y="465"/>
                  </a:cubicBezTo>
                  <a:cubicBezTo>
                    <a:pt x="192" y="385"/>
                    <a:pt x="192" y="385"/>
                    <a:pt x="192" y="385"/>
                  </a:cubicBezTo>
                  <a:cubicBezTo>
                    <a:pt x="201" y="393"/>
                    <a:pt x="214" y="398"/>
                    <a:pt x="226" y="398"/>
                  </a:cubicBezTo>
                  <a:cubicBezTo>
                    <a:pt x="255" y="398"/>
                    <a:pt x="278" y="374"/>
                    <a:pt x="278" y="346"/>
                  </a:cubicBezTo>
                  <a:cubicBezTo>
                    <a:pt x="278" y="338"/>
                    <a:pt x="277" y="331"/>
                    <a:pt x="273" y="323"/>
                  </a:cubicBezTo>
                  <a:cubicBezTo>
                    <a:pt x="358" y="231"/>
                    <a:pt x="358" y="231"/>
                    <a:pt x="358" y="231"/>
                  </a:cubicBezTo>
                  <a:cubicBezTo>
                    <a:pt x="363" y="233"/>
                    <a:pt x="369" y="234"/>
                    <a:pt x="375" y="234"/>
                  </a:cubicBezTo>
                  <a:cubicBezTo>
                    <a:pt x="388" y="234"/>
                    <a:pt x="400" y="229"/>
                    <a:pt x="410" y="221"/>
                  </a:cubicBezTo>
                  <a:cubicBezTo>
                    <a:pt x="502" y="265"/>
                    <a:pt x="502" y="265"/>
                    <a:pt x="502" y="265"/>
                  </a:cubicBezTo>
                  <a:cubicBezTo>
                    <a:pt x="502" y="265"/>
                    <a:pt x="501" y="266"/>
                    <a:pt x="501" y="266"/>
                  </a:cubicBezTo>
                  <a:cubicBezTo>
                    <a:pt x="501" y="267"/>
                    <a:pt x="501" y="267"/>
                    <a:pt x="501" y="267"/>
                  </a:cubicBezTo>
                  <a:cubicBezTo>
                    <a:pt x="501" y="269"/>
                    <a:pt x="501" y="269"/>
                    <a:pt x="501" y="269"/>
                  </a:cubicBezTo>
                  <a:cubicBezTo>
                    <a:pt x="501" y="298"/>
                    <a:pt x="525" y="321"/>
                    <a:pt x="554" y="321"/>
                  </a:cubicBezTo>
                  <a:cubicBezTo>
                    <a:pt x="583" y="321"/>
                    <a:pt x="607" y="298"/>
                    <a:pt x="607" y="269"/>
                  </a:cubicBezTo>
                  <a:cubicBezTo>
                    <a:pt x="607" y="263"/>
                    <a:pt x="606" y="259"/>
                    <a:pt x="605" y="256"/>
                  </a:cubicBezTo>
                  <a:cubicBezTo>
                    <a:pt x="605" y="255"/>
                    <a:pt x="605" y="255"/>
                    <a:pt x="605" y="255"/>
                  </a:cubicBezTo>
                  <a:cubicBezTo>
                    <a:pt x="605" y="254"/>
                    <a:pt x="605" y="254"/>
                    <a:pt x="605" y="254"/>
                  </a:cubicBezTo>
                  <a:cubicBezTo>
                    <a:pt x="728" y="155"/>
                    <a:pt x="728" y="155"/>
                    <a:pt x="728" y="155"/>
                  </a:cubicBezTo>
                  <a:cubicBezTo>
                    <a:pt x="736" y="160"/>
                    <a:pt x="745" y="162"/>
                    <a:pt x="754" y="162"/>
                  </a:cubicBezTo>
                  <a:cubicBezTo>
                    <a:pt x="783" y="162"/>
                    <a:pt x="807" y="138"/>
                    <a:pt x="807" y="109"/>
                  </a:cubicBezTo>
                  <a:cubicBezTo>
                    <a:pt x="807" y="104"/>
                    <a:pt x="806" y="98"/>
                    <a:pt x="805" y="96"/>
                  </a:cubicBezTo>
                  <a:cubicBezTo>
                    <a:pt x="805" y="95"/>
                    <a:pt x="805" y="95"/>
                    <a:pt x="805" y="94"/>
                  </a:cubicBezTo>
                  <a:cubicBezTo>
                    <a:pt x="876" y="37"/>
                    <a:pt x="876" y="37"/>
                    <a:pt x="876" y="37"/>
                  </a:cubicBezTo>
                  <a:cubicBezTo>
                    <a:pt x="884" y="31"/>
                    <a:pt x="886" y="18"/>
                    <a:pt x="879" y="1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2296" tIns="41148" rIns="82296" bIns="41148"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grpSp>
        <p:nvGrpSpPr>
          <p:cNvPr id="74" name="Group 73">
            <a:extLst>
              <a:ext uri="{FF2B5EF4-FFF2-40B4-BE49-F238E27FC236}">
                <a16:creationId xmlns:a16="http://schemas.microsoft.com/office/drawing/2014/main" id="{2B2E4EA8-B595-B510-1611-9254EE5B6266}"/>
              </a:ext>
            </a:extLst>
          </p:cNvPr>
          <p:cNvGrpSpPr/>
          <p:nvPr/>
        </p:nvGrpSpPr>
        <p:grpSpPr>
          <a:xfrm>
            <a:off x="3681556" y="1447055"/>
            <a:ext cx="720000" cy="720000"/>
            <a:chOff x="1890463" y="1748712"/>
            <a:chExt cx="720000" cy="720000"/>
          </a:xfrm>
        </p:grpSpPr>
        <p:sp>
          <p:nvSpPr>
            <p:cNvPr id="75" name="Oval 74">
              <a:extLst>
                <a:ext uri="{FF2B5EF4-FFF2-40B4-BE49-F238E27FC236}">
                  <a16:creationId xmlns:a16="http://schemas.microsoft.com/office/drawing/2014/main" id="{0AAE2AD0-012D-94B8-8278-D1B312F8E42C}"/>
                </a:ext>
              </a:extLst>
            </p:cNvPr>
            <p:cNvSpPr/>
            <p:nvPr>
              <p:custDataLst>
                <p:tags r:id="rId13"/>
              </p:custDataLst>
            </p:nvPr>
          </p:nvSpPr>
          <p:spPr>
            <a:xfrm>
              <a:off x="1890463" y="1748712"/>
              <a:ext cx="720000" cy="720000"/>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lumMod val="50000"/>
                  </a:prstClr>
                </a:solidFill>
                <a:effectLst/>
                <a:uLnTx/>
                <a:uFillTx/>
                <a:latin typeface="Trebuchet MS"/>
                <a:ea typeface="+mn-ea"/>
                <a:cs typeface="+mn-cs"/>
              </a:endParaRPr>
            </a:p>
          </p:txBody>
        </p:sp>
        <p:grpSp>
          <p:nvGrpSpPr>
            <p:cNvPr id="76" name="bcgIcons_OpportunityMapping">
              <a:extLst>
                <a:ext uri="{FF2B5EF4-FFF2-40B4-BE49-F238E27FC236}">
                  <a16:creationId xmlns:a16="http://schemas.microsoft.com/office/drawing/2014/main" id="{689717E0-4C55-DB00-D520-89E3065ADB57}"/>
                </a:ext>
              </a:extLst>
            </p:cNvPr>
            <p:cNvGrpSpPr>
              <a:grpSpLocks noChangeAspect="1"/>
            </p:cNvGrpSpPr>
            <p:nvPr/>
          </p:nvGrpSpPr>
          <p:grpSpPr bwMode="auto">
            <a:xfrm>
              <a:off x="1999038" y="1867690"/>
              <a:ext cx="507527" cy="507997"/>
              <a:chOff x="1682" y="0"/>
              <a:chExt cx="4316" cy="4320"/>
            </a:xfrm>
          </p:grpSpPr>
          <p:sp>
            <p:nvSpPr>
              <p:cNvPr id="77" name="AutoShape 13">
                <a:extLst>
                  <a:ext uri="{FF2B5EF4-FFF2-40B4-BE49-F238E27FC236}">
                    <a16:creationId xmlns:a16="http://schemas.microsoft.com/office/drawing/2014/main" id="{8812CA63-40EE-1346-EDB9-CC46442DDD0E}"/>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78" name="Freeform 15">
                <a:extLst>
                  <a:ext uri="{FF2B5EF4-FFF2-40B4-BE49-F238E27FC236}">
                    <a16:creationId xmlns:a16="http://schemas.microsoft.com/office/drawing/2014/main" id="{B70D2912-9DEF-31D8-8DCF-3DFF9B617F88}"/>
                  </a:ext>
                </a:extLst>
              </p:cNvPr>
              <p:cNvSpPr>
                <a:spLocks noEditPoints="1"/>
              </p:cNvSpPr>
              <p:nvPr/>
            </p:nvSpPr>
            <p:spPr bwMode="auto">
              <a:xfrm>
                <a:off x="2604" y="877"/>
                <a:ext cx="2493" cy="1855"/>
              </a:xfrm>
              <a:custGeom>
                <a:avLst/>
                <a:gdLst>
                  <a:gd name="T0" fmla="*/ 300 w 1331"/>
                  <a:gd name="T1" fmla="*/ 3 h 989"/>
                  <a:gd name="T2" fmla="*/ 0 w 1331"/>
                  <a:gd name="T3" fmla="*/ 310 h 989"/>
                  <a:gd name="T4" fmla="*/ 294 w 1331"/>
                  <a:gd name="T5" fmla="*/ 984 h 989"/>
                  <a:gd name="T6" fmla="*/ 306 w 1331"/>
                  <a:gd name="T7" fmla="*/ 984 h 989"/>
                  <a:gd name="T8" fmla="*/ 597 w 1331"/>
                  <a:gd name="T9" fmla="*/ 310 h 989"/>
                  <a:gd name="T10" fmla="*/ 300 w 1331"/>
                  <a:gd name="T11" fmla="*/ 3 h 989"/>
                  <a:gd name="T12" fmla="*/ 419 w 1331"/>
                  <a:gd name="T13" fmla="*/ 226 h 989"/>
                  <a:gd name="T14" fmla="*/ 364 w 1331"/>
                  <a:gd name="T15" fmla="*/ 279 h 989"/>
                  <a:gd name="T16" fmla="*/ 362 w 1331"/>
                  <a:gd name="T17" fmla="*/ 284 h 989"/>
                  <a:gd name="T18" fmla="*/ 374 w 1331"/>
                  <a:gd name="T19" fmla="*/ 359 h 989"/>
                  <a:gd name="T20" fmla="*/ 367 w 1331"/>
                  <a:gd name="T21" fmla="*/ 364 h 989"/>
                  <a:gd name="T22" fmla="*/ 300 w 1331"/>
                  <a:gd name="T23" fmla="*/ 328 h 989"/>
                  <a:gd name="T24" fmla="*/ 295 w 1331"/>
                  <a:gd name="T25" fmla="*/ 328 h 989"/>
                  <a:gd name="T26" fmla="*/ 228 w 1331"/>
                  <a:gd name="T27" fmla="*/ 363 h 989"/>
                  <a:gd name="T28" fmla="*/ 220 w 1331"/>
                  <a:gd name="T29" fmla="*/ 357 h 989"/>
                  <a:gd name="T30" fmla="*/ 234 w 1331"/>
                  <a:gd name="T31" fmla="*/ 282 h 989"/>
                  <a:gd name="T32" fmla="*/ 232 w 1331"/>
                  <a:gd name="T33" fmla="*/ 277 h 989"/>
                  <a:gd name="T34" fmla="*/ 179 w 1331"/>
                  <a:gd name="T35" fmla="*/ 224 h 989"/>
                  <a:gd name="T36" fmla="*/ 182 w 1331"/>
                  <a:gd name="T37" fmla="*/ 215 h 989"/>
                  <a:gd name="T38" fmla="*/ 256 w 1331"/>
                  <a:gd name="T39" fmla="*/ 204 h 989"/>
                  <a:gd name="T40" fmla="*/ 261 w 1331"/>
                  <a:gd name="T41" fmla="*/ 202 h 989"/>
                  <a:gd name="T42" fmla="*/ 295 w 1331"/>
                  <a:gd name="T43" fmla="*/ 134 h 989"/>
                  <a:gd name="T44" fmla="*/ 304 w 1331"/>
                  <a:gd name="T45" fmla="*/ 134 h 989"/>
                  <a:gd name="T46" fmla="*/ 337 w 1331"/>
                  <a:gd name="T47" fmla="*/ 202 h 989"/>
                  <a:gd name="T48" fmla="*/ 341 w 1331"/>
                  <a:gd name="T49" fmla="*/ 206 h 989"/>
                  <a:gd name="T50" fmla="*/ 416 w 1331"/>
                  <a:gd name="T51" fmla="*/ 217 h 989"/>
                  <a:gd name="T52" fmla="*/ 419 w 1331"/>
                  <a:gd name="T53" fmla="*/ 226 h 989"/>
                  <a:gd name="T54" fmla="*/ 1146 w 1331"/>
                  <a:gd name="T55" fmla="*/ 0 h 989"/>
                  <a:gd name="T56" fmla="*/ 958 w 1331"/>
                  <a:gd name="T57" fmla="*/ 192 h 989"/>
                  <a:gd name="T58" fmla="*/ 1142 w 1331"/>
                  <a:gd name="T59" fmla="*/ 613 h 989"/>
                  <a:gd name="T60" fmla="*/ 1149 w 1331"/>
                  <a:gd name="T61" fmla="*/ 613 h 989"/>
                  <a:gd name="T62" fmla="*/ 1331 w 1331"/>
                  <a:gd name="T63" fmla="*/ 192 h 989"/>
                  <a:gd name="T64" fmla="*/ 1146 w 1331"/>
                  <a:gd name="T65" fmla="*/ 0 h 989"/>
                  <a:gd name="T66" fmla="*/ 1220 w 1331"/>
                  <a:gd name="T67" fmla="*/ 155 h 989"/>
                  <a:gd name="T68" fmla="*/ 1186 w 1331"/>
                  <a:gd name="T69" fmla="*/ 188 h 989"/>
                  <a:gd name="T70" fmla="*/ 1185 w 1331"/>
                  <a:gd name="T71" fmla="*/ 191 h 989"/>
                  <a:gd name="T72" fmla="*/ 1192 w 1331"/>
                  <a:gd name="T73" fmla="*/ 238 h 989"/>
                  <a:gd name="T74" fmla="*/ 1187 w 1331"/>
                  <a:gd name="T75" fmla="*/ 241 h 989"/>
                  <a:gd name="T76" fmla="*/ 1146 w 1331"/>
                  <a:gd name="T77" fmla="*/ 219 h 989"/>
                  <a:gd name="T78" fmla="*/ 1143 w 1331"/>
                  <a:gd name="T79" fmla="*/ 218 h 989"/>
                  <a:gd name="T80" fmla="*/ 1101 w 1331"/>
                  <a:gd name="T81" fmla="*/ 240 h 989"/>
                  <a:gd name="T82" fmla="*/ 1096 w 1331"/>
                  <a:gd name="T83" fmla="*/ 237 h 989"/>
                  <a:gd name="T84" fmla="*/ 1104 w 1331"/>
                  <a:gd name="T85" fmla="*/ 190 h 989"/>
                  <a:gd name="T86" fmla="*/ 1103 w 1331"/>
                  <a:gd name="T87" fmla="*/ 187 h 989"/>
                  <a:gd name="T88" fmla="*/ 1070 w 1331"/>
                  <a:gd name="T89" fmla="*/ 153 h 989"/>
                  <a:gd name="T90" fmla="*/ 1072 w 1331"/>
                  <a:gd name="T91" fmla="*/ 148 h 989"/>
                  <a:gd name="T92" fmla="*/ 1118 w 1331"/>
                  <a:gd name="T93" fmla="*/ 141 h 989"/>
                  <a:gd name="T94" fmla="*/ 1121 w 1331"/>
                  <a:gd name="T95" fmla="*/ 139 h 989"/>
                  <a:gd name="T96" fmla="*/ 1142 w 1331"/>
                  <a:gd name="T97" fmla="*/ 97 h 989"/>
                  <a:gd name="T98" fmla="*/ 1149 w 1331"/>
                  <a:gd name="T99" fmla="*/ 97 h 989"/>
                  <a:gd name="T100" fmla="*/ 1169 w 1331"/>
                  <a:gd name="T101" fmla="*/ 140 h 989"/>
                  <a:gd name="T102" fmla="*/ 1171 w 1331"/>
                  <a:gd name="T103" fmla="*/ 142 h 989"/>
                  <a:gd name="T104" fmla="*/ 1218 w 1331"/>
                  <a:gd name="T105" fmla="*/ 149 h 989"/>
                  <a:gd name="T106" fmla="*/ 1220 w 1331"/>
                  <a:gd name="T107" fmla="*/ 155 h 9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31" h="989">
                    <a:moveTo>
                      <a:pt x="300" y="3"/>
                    </a:moveTo>
                    <a:cubicBezTo>
                      <a:pt x="134" y="3"/>
                      <a:pt x="0" y="142"/>
                      <a:pt x="0" y="310"/>
                    </a:cubicBezTo>
                    <a:cubicBezTo>
                      <a:pt x="0" y="465"/>
                      <a:pt x="251" y="910"/>
                      <a:pt x="294" y="984"/>
                    </a:cubicBezTo>
                    <a:cubicBezTo>
                      <a:pt x="296" y="989"/>
                      <a:pt x="303" y="989"/>
                      <a:pt x="306" y="984"/>
                    </a:cubicBezTo>
                    <a:cubicBezTo>
                      <a:pt x="348" y="910"/>
                      <a:pt x="597" y="465"/>
                      <a:pt x="597" y="310"/>
                    </a:cubicBezTo>
                    <a:cubicBezTo>
                      <a:pt x="597" y="142"/>
                      <a:pt x="466" y="3"/>
                      <a:pt x="300" y="3"/>
                    </a:cubicBezTo>
                    <a:close/>
                    <a:moveTo>
                      <a:pt x="419" y="226"/>
                    </a:moveTo>
                    <a:cubicBezTo>
                      <a:pt x="364" y="279"/>
                      <a:pt x="364" y="279"/>
                      <a:pt x="364" y="279"/>
                    </a:cubicBezTo>
                    <a:cubicBezTo>
                      <a:pt x="363" y="280"/>
                      <a:pt x="362" y="282"/>
                      <a:pt x="362" y="284"/>
                    </a:cubicBezTo>
                    <a:cubicBezTo>
                      <a:pt x="374" y="359"/>
                      <a:pt x="374" y="359"/>
                      <a:pt x="374" y="359"/>
                    </a:cubicBezTo>
                    <a:cubicBezTo>
                      <a:pt x="375" y="363"/>
                      <a:pt x="371" y="366"/>
                      <a:pt x="367" y="364"/>
                    </a:cubicBezTo>
                    <a:cubicBezTo>
                      <a:pt x="300" y="328"/>
                      <a:pt x="300" y="328"/>
                      <a:pt x="300" y="328"/>
                    </a:cubicBezTo>
                    <a:cubicBezTo>
                      <a:pt x="298" y="327"/>
                      <a:pt x="297" y="327"/>
                      <a:pt x="295" y="328"/>
                    </a:cubicBezTo>
                    <a:cubicBezTo>
                      <a:pt x="228" y="363"/>
                      <a:pt x="228" y="363"/>
                      <a:pt x="228" y="363"/>
                    </a:cubicBezTo>
                    <a:cubicBezTo>
                      <a:pt x="224" y="365"/>
                      <a:pt x="219" y="361"/>
                      <a:pt x="220" y="357"/>
                    </a:cubicBezTo>
                    <a:cubicBezTo>
                      <a:pt x="234" y="282"/>
                      <a:pt x="234" y="282"/>
                      <a:pt x="234" y="282"/>
                    </a:cubicBezTo>
                    <a:cubicBezTo>
                      <a:pt x="234" y="280"/>
                      <a:pt x="234" y="278"/>
                      <a:pt x="232" y="277"/>
                    </a:cubicBezTo>
                    <a:cubicBezTo>
                      <a:pt x="179" y="224"/>
                      <a:pt x="179" y="224"/>
                      <a:pt x="179" y="224"/>
                    </a:cubicBezTo>
                    <a:cubicBezTo>
                      <a:pt x="176" y="221"/>
                      <a:pt x="177" y="215"/>
                      <a:pt x="182" y="215"/>
                    </a:cubicBezTo>
                    <a:cubicBezTo>
                      <a:pt x="256" y="204"/>
                      <a:pt x="256" y="204"/>
                      <a:pt x="256" y="204"/>
                    </a:cubicBezTo>
                    <a:cubicBezTo>
                      <a:pt x="258" y="204"/>
                      <a:pt x="260" y="203"/>
                      <a:pt x="261" y="202"/>
                    </a:cubicBezTo>
                    <a:cubicBezTo>
                      <a:pt x="295" y="134"/>
                      <a:pt x="295" y="134"/>
                      <a:pt x="295" y="134"/>
                    </a:cubicBezTo>
                    <a:cubicBezTo>
                      <a:pt x="297" y="130"/>
                      <a:pt x="302" y="130"/>
                      <a:pt x="304" y="134"/>
                    </a:cubicBezTo>
                    <a:cubicBezTo>
                      <a:pt x="337" y="202"/>
                      <a:pt x="337" y="202"/>
                      <a:pt x="337" y="202"/>
                    </a:cubicBezTo>
                    <a:cubicBezTo>
                      <a:pt x="338" y="204"/>
                      <a:pt x="339" y="205"/>
                      <a:pt x="341" y="206"/>
                    </a:cubicBezTo>
                    <a:cubicBezTo>
                      <a:pt x="416" y="217"/>
                      <a:pt x="416" y="217"/>
                      <a:pt x="416" y="217"/>
                    </a:cubicBezTo>
                    <a:cubicBezTo>
                      <a:pt x="420" y="218"/>
                      <a:pt x="422" y="223"/>
                      <a:pt x="419" y="226"/>
                    </a:cubicBezTo>
                    <a:close/>
                    <a:moveTo>
                      <a:pt x="1146" y="0"/>
                    </a:moveTo>
                    <a:cubicBezTo>
                      <a:pt x="1042" y="0"/>
                      <a:pt x="958" y="87"/>
                      <a:pt x="958" y="192"/>
                    </a:cubicBezTo>
                    <a:cubicBezTo>
                      <a:pt x="958" y="289"/>
                      <a:pt x="1115" y="567"/>
                      <a:pt x="1142" y="613"/>
                    </a:cubicBezTo>
                    <a:cubicBezTo>
                      <a:pt x="1144" y="616"/>
                      <a:pt x="1148" y="616"/>
                      <a:pt x="1149" y="613"/>
                    </a:cubicBezTo>
                    <a:cubicBezTo>
                      <a:pt x="1176" y="567"/>
                      <a:pt x="1331" y="289"/>
                      <a:pt x="1331" y="192"/>
                    </a:cubicBezTo>
                    <a:cubicBezTo>
                      <a:pt x="1331" y="87"/>
                      <a:pt x="1249" y="0"/>
                      <a:pt x="1146" y="0"/>
                    </a:cubicBezTo>
                    <a:close/>
                    <a:moveTo>
                      <a:pt x="1220" y="155"/>
                    </a:moveTo>
                    <a:cubicBezTo>
                      <a:pt x="1186" y="188"/>
                      <a:pt x="1186" y="188"/>
                      <a:pt x="1186" y="188"/>
                    </a:cubicBezTo>
                    <a:cubicBezTo>
                      <a:pt x="1185" y="188"/>
                      <a:pt x="1185" y="190"/>
                      <a:pt x="1185" y="191"/>
                    </a:cubicBezTo>
                    <a:cubicBezTo>
                      <a:pt x="1192" y="238"/>
                      <a:pt x="1192" y="238"/>
                      <a:pt x="1192" y="238"/>
                    </a:cubicBezTo>
                    <a:cubicBezTo>
                      <a:pt x="1193" y="240"/>
                      <a:pt x="1190" y="242"/>
                      <a:pt x="1187" y="241"/>
                    </a:cubicBezTo>
                    <a:cubicBezTo>
                      <a:pt x="1146" y="219"/>
                      <a:pt x="1146" y="219"/>
                      <a:pt x="1146" y="219"/>
                    </a:cubicBezTo>
                    <a:cubicBezTo>
                      <a:pt x="1145" y="218"/>
                      <a:pt x="1144" y="218"/>
                      <a:pt x="1143" y="218"/>
                    </a:cubicBezTo>
                    <a:cubicBezTo>
                      <a:pt x="1101" y="240"/>
                      <a:pt x="1101" y="240"/>
                      <a:pt x="1101" y="240"/>
                    </a:cubicBezTo>
                    <a:cubicBezTo>
                      <a:pt x="1098" y="241"/>
                      <a:pt x="1095" y="239"/>
                      <a:pt x="1096" y="237"/>
                    </a:cubicBezTo>
                    <a:cubicBezTo>
                      <a:pt x="1104" y="190"/>
                      <a:pt x="1104" y="190"/>
                      <a:pt x="1104" y="190"/>
                    </a:cubicBezTo>
                    <a:cubicBezTo>
                      <a:pt x="1104" y="189"/>
                      <a:pt x="1104" y="188"/>
                      <a:pt x="1103" y="187"/>
                    </a:cubicBezTo>
                    <a:cubicBezTo>
                      <a:pt x="1070" y="153"/>
                      <a:pt x="1070" y="153"/>
                      <a:pt x="1070" y="153"/>
                    </a:cubicBezTo>
                    <a:cubicBezTo>
                      <a:pt x="1068" y="151"/>
                      <a:pt x="1069" y="148"/>
                      <a:pt x="1072" y="148"/>
                    </a:cubicBezTo>
                    <a:cubicBezTo>
                      <a:pt x="1118" y="141"/>
                      <a:pt x="1118" y="141"/>
                      <a:pt x="1118" y="141"/>
                    </a:cubicBezTo>
                    <a:cubicBezTo>
                      <a:pt x="1120" y="141"/>
                      <a:pt x="1121" y="141"/>
                      <a:pt x="1121" y="139"/>
                    </a:cubicBezTo>
                    <a:cubicBezTo>
                      <a:pt x="1142" y="97"/>
                      <a:pt x="1142" y="97"/>
                      <a:pt x="1142" y="97"/>
                    </a:cubicBezTo>
                    <a:cubicBezTo>
                      <a:pt x="1144" y="95"/>
                      <a:pt x="1147" y="95"/>
                      <a:pt x="1149" y="97"/>
                    </a:cubicBezTo>
                    <a:cubicBezTo>
                      <a:pt x="1169" y="140"/>
                      <a:pt x="1169" y="140"/>
                      <a:pt x="1169" y="140"/>
                    </a:cubicBezTo>
                    <a:cubicBezTo>
                      <a:pt x="1169" y="141"/>
                      <a:pt x="1170" y="142"/>
                      <a:pt x="1171" y="142"/>
                    </a:cubicBezTo>
                    <a:cubicBezTo>
                      <a:pt x="1218" y="149"/>
                      <a:pt x="1218" y="149"/>
                      <a:pt x="1218" y="149"/>
                    </a:cubicBezTo>
                    <a:cubicBezTo>
                      <a:pt x="1221" y="150"/>
                      <a:pt x="1222" y="153"/>
                      <a:pt x="1220" y="155"/>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79" name="Freeform 16">
                <a:extLst>
                  <a:ext uri="{FF2B5EF4-FFF2-40B4-BE49-F238E27FC236}">
                    <a16:creationId xmlns:a16="http://schemas.microsoft.com/office/drawing/2014/main" id="{45A7F873-9941-7D68-7FEC-182D604CA646}"/>
                  </a:ext>
                </a:extLst>
              </p:cNvPr>
              <p:cNvSpPr>
                <a:spLocks noEditPoints="1"/>
              </p:cNvSpPr>
              <p:nvPr/>
            </p:nvSpPr>
            <p:spPr bwMode="auto">
              <a:xfrm>
                <a:off x="1864" y="712"/>
                <a:ext cx="3956" cy="2665"/>
              </a:xfrm>
              <a:custGeom>
                <a:avLst/>
                <a:gdLst>
                  <a:gd name="T0" fmla="*/ 663 w 2112"/>
                  <a:gd name="T1" fmla="*/ 1199 h 1421"/>
                  <a:gd name="T2" fmla="*/ 469 w 2112"/>
                  <a:gd name="T3" fmla="*/ 844 h 1421"/>
                  <a:gd name="T4" fmla="*/ 695 w 2112"/>
                  <a:gd name="T5" fmla="*/ 0 h 1421"/>
                  <a:gd name="T6" fmla="*/ 920 w 2112"/>
                  <a:gd name="T7" fmla="*/ 844 h 1421"/>
                  <a:gd name="T8" fmla="*/ 727 w 2112"/>
                  <a:gd name="T9" fmla="*/ 1199 h 1421"/>
                  <a:gd name="T10" fmla="*/ 695 w 2112"/>
                  <a:gd name="T11" fmla="*/ 1218 h 1421"/>
                  <a:gd name="T12" fmla="*/ 352 w 2112"/>
                  <a:gd name="T13" fmla="*/ 395 h 1421"/>
                  <a:gd name="T14" fmla="*/ 662 w 2112"/>
                  <a:gd name="T15" fmla="*/ 1110 h 1421"/>
                  <a:gd name="T16" fmla="*/ 728 w 2112"/>
                  <a:gd name="T17" fmla="*/ 1110 h 1421"/>
                  <a:gd name="T18" fmla="*/ 1036 w 2112"/>
                  <a:gd name="T19" fmla="*/ 395 h 1421"/>
                  <a:gd name="T20" fmla="*/ 1344 w 2112"/>
                  <a:gd name="T21" fmla="*/ 593 h 1421"/>
                  <a:gd name="T22" fmla="*/ 1081 w 2112"/>
                  <a:gd name="T23" fmla="*/ 587 h 1421"/>
                  <a:gd name="T24" fmla="*/ 1364 w 2112"/>
                  <a:gd name="T25" fmla="*/ 631 h 1421"/>
                  <a:gd name="T26" fmla="*/ 2110 w 2112"/>
                  <a:gd name="T27" fmla="*/ 1377 h 1421"/>
                  <a:gd name="T28" fmla="*/ 1876 w 2112"/>
                  <a:gd name="T29" fmla="*/ 587 h 1421"/>
                  <a:gd name="T30" fmla="*/ 1736 w 2112"/>
                  <a:gd name="T31" fmla="*/ 592 h 1421"/>
                  <a:gd name="T32" fmla="*/ 1876 w 2112"/>
                  <a:gd name="T33" fmla="*/ 631 h 1421"/>
                  <a:gd name="T34" fmla="*/ 2064 w 2112"/>
                  <a:gd name="T35" fmla="*/ 1377 h 1421"/>
                  <a:gd name="T36" fmla="*/ 232 w 2112"/>
                  <a:gd name="T37" fmla="*/ 631 h 1421"/>
                  <a:gd name="T38" fmla="*/ 324 w 2112"/>
                  <a:gd name="T39" fmla="*/ 631 h 1421"/>
                  <a:gd name="T40" fmla="*/ 236 w 2112"/>
                  <a:gd name="T41" fmla="*/ 587 h 1421"/>
                  <a:gd name="T42" fmla="*/ 2 w 2112"/>
                  <a:gd name="T43" fmla="*/ 1377 h 1421"/>
                  <a:gd name="T44" fmla="*/ 45 w 2112"/>
                  <a:gd name="T45" fmla="*/ 1421 h 1421"/>
                  <a:gd name="T46" fmla="*/ 2104 w 2112"/>
                  <a:gd name="T47" fmla="*/ 1405 h 1421"/>
                  <a:gd name="T48" fmla="*/ 1541 w 2112"/>
                  <a:gd name="T49" fmla="*/ 826 h 1421"/>
                  <a:gd name="T50" fmla="*/ 1487 w 2112"/>
                  <a:gd name="T51" fmla="*/ 765 h 1421"/>
                  <a:gd name="T52" fmla="*/ 1276 w 2112"/>
                  <a:gd name="T53" fmla="*/ 270 h 1421"/>
                  <a:gd name="T54" fmla="*/ 1804 w 2112"/>
                  <a:gd name="T55" fmla="*/ 270 h 1421"/>
                  <a:gd name="T56" fmla="*/ 1594 w 2112"/>
                  <a:gd name="T57" fmla="*/ 765 h 1421"/>
                  <a:gd name="T58" fmla="*/ 1541 w 2112"/>
                  <a:gd name="T59" fmla="*/ 826 h 1421"/>
                  <a:gd name="T60" fmla="*/ 1541 w 2112"/>
                  <a:gd name="T61" fmla="*/ 44 h 1421"/>
                  <a:gd name="T62" fmla="*/ 1423 w 2112"/>
                  <a:gd name="T63" fmla="*/ 553 h 1421"/>
                  <a:gd name="T64" fmla="*/ 1541 w 2112"/>
                  <a:gd name="T65" fmla="*/ 770 h 1421"/>
                  <a:gd name="T66" fmla="*/ 1658 w 2112"/>
                  <a:gd name="T67" fmla="*/ 553 h 1421"/>
                  <a:gd name="T68" fmla="*/ 1541 w 2112"/>
                  <a:gd name="T69" fmla="*/ 44 h 1421"/>
                  <a:gd name="T70" fmla="*/ 1195 w 2112"/>
                  <a:gd name="T71" fmla="*/ 908 h 1421"/>
                  <a:gd name="T72" fmla="*/ 1195 w 2112"/>
                  <a:gd name="T73" fmla="*/ 826 h 1421"/>
                  <a:gd name="T74" fmla="*/ 1449 w 2112"/>
                  <a:gd name="T75" fmla="*/ 787 h 1421"/>
                  <a:gd name="T76" fmla="*/ 1195 w 2112"/>
                  <a:gd name="T77" fmla="*/ 782 h 1421"/>
                  <a:gd name="T78" fmla="*/ 1195 w 2112"/>
                  <a:gd name="T79" fmla="*/ 952 h 1421"/>
                  <a:gd name="T80" fmla="*/ 1659 w 2112"/>
                  <a:gd name="T81" fmla="*/ 1063 h 1421"/>
                  <a:gd name="T82" fmla="*/ 793 w 2112"/>
                  <a:gd name="T83" fmla="*/ 1174 h 1421"/>
                  <a:gd name="T84" fmla="*/ 1548 w 2112"/>
                  <a:gd name="T85" fmla="*/ 1218 h 1421"/>
                  <a:gd name="T86" fmla="*/ 1548 w 2112"/>
                  <a:gd name="T87" fmla="*/ 908 h 1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2" h="1421">
                    <a:moveTo>
                      <a:pt x="695" y="1218"/>
                    </a:moveTo>
                    <a:cubicBezTo>
                      <a:pt x="681" y="1218"/>
                      <a:pt x="669" y="1211"/>
                      <a:pt x="663" y="1199"/>
                    </a:cubicBezTo>
                    <a:cubicBezTo>
                      <a:pt x="624" y="1132"/>
                      <a:pt x="624" y="1132"/>
                      <a:pt x="624" y="1132"/>
                    </a:cubicBezTo>
                    <a:cubicBezTo>
                      <a:pt x="623" y="1131"/>
                      <a:pt x="545" y="997"/>
                      <a:pt x="469" y="844"/>
                    </a:cubicBezTo>
                    <a:cubicBezTo>
                      <a:pt x="360" y="627"/>
                      <a:pt x="308" y="480"/>
                      <a:pt x="308" y="395"/>
                    </a:cubicBezTo>
                    <a:cubicBezTo>
                      <a:pt x="308" y="177"/>
                      <a:pt x="481" y="0"/>
                      <a:pt x="695" y="0"/>
                    </a:cubicBezTo>
                    <a:cubicBezTo>
                      <a:pt x="907" y="0"/>
                      <a:pt x="1080" y="177"/>
                      <a:pt x="1080" y="395"/>
                    </a:cubicBezTo>
                    <a:cubicBezTo>
                      <a:pt x="1080" y="480"/>
                      <a:pt x="1027" y="627"/>
                      <a:pt x="920" y="844"/>
                    </a:cubicBezTo>
                    <a:cubicBezTo>
                      <a:pt x="844" y="997"/>
                      <a:pt x="767" y="1131"/>
                      <a:pt x="766" y="1132"/>
                    </a:cubicBezTo>
                    <a:cubicBezTo>
                      <a:pt x="727" y="1199"/>
                      <a:pt x="727" y="1199"/>
                      <a:pt x="727" y="1199"/>
                    </a:cubicBezTo>
                    <a:cubicBezTo>
                      <a:pt x="721" y="1211"/>
                      <a:pt x="709" y="1218"/>
                      <a:pt x="695" y="1218"/>
                    </a:cubicBezTo>
                    <a:cubicBezTo>
                      <a:pt x="695" y="1218"/>
                      <a:pt x="695" y="1218"/>
                      <a:pt x="695" y="1218"/>
                    </a:cubicBezTo>
                    <a:close/>
                    <a:moveTo>
                      <a:pt x="695" y="44"/>
                    </a:moveTo>
                    <a:cubicBezTo>
                      <a:pt x="506" y="44"/>
                      <a:pt x="352" y="202"/>
                      <a:pt x="352" y="395"/>
                    </a:cubicBezTo>
                    <a:cubicBezTo>
                      <a:pt x="352" y="473"/>
                      <a:pt x="403" y="614"/>
                      <a:pt x="508" y="825"/>
                    </a:cubicBezTo>
                    <a:cubicBezTo>
                      <a:pt x="584" y="976"/>
                      <a:pt x="661" y="1109"/>
                      <a:pt x="662" y="1110"/>
                    </a:cubicBezTo>
                    <a:cubicBezTo>
                      <a:pt x="695" y="1167"/>
                      <a:pt x="695" y="1167"/>
                      <a:pt x="695" y="1167"/>
                    </a:cubicBezTo>
                    <a:cubicBezTo>
                      <a:pt x="728" y="1110"/>
                      <a:pt x="728" y="1110"/>
                      <a:pt x="728" y="1110"/>
                    </a:cubicBezTo>
                    <a:cubicBezTo>
                      <a:pt x="729" y="1109"/>
                      <a:pt x="805" y="976"/>
                      <a:pt x="880" y="825"/>
                    </a:cubicBezTo>
                    <a:cubicBezTo>
                      <a:pt x="985" y="614"/>
                      <a:pt x="1036" y="473"/>
                      <a:pt x="1036" y="395"/>
                    </a:cubicBezTo>
                    <a:cubicBezTo>
                      <a:pt x="1036" y="202"/>
                      <a:pt x="883" y="44"/>
                      <a:pt x="695" y="44"/>
                    </a:cubicBezTo>
                    <a:close/>
                    <a:moveTo>
                      <a:pt x="1344" y="593"/>
                    </a:moveTo>
                    <a:cubicBezTo>
                      <a:pt x="1343" y="591"/>
                      <a:pt x="1343" y="589"/>
                      <a:pt x="1342" y="587"/>
                    </a:cubicBezTo>
                    <a:cubicBezTo>
                      <a:pt x="1081" y="587"/>
                      <a:pt x="1081" y="587"/>
                      <a:pt x="1081" y="587"/>
                    </a:cubicBezTo>
                    <a:cubicBezTo>
                      <a:pt x="1076" y="601"/>
                      <a:pt x="1070" y="616"/>
                      <a:pt x="1064" y="631"/>
                    </a:cubicBezTo>
                    <a:cubicBezTo>
                      <a:pt x="1364" y="631"/>
                      <a:pt x="1364" y="631"/>
                      <a:pt x="1364" y="631"/>
                    </a:cubicBezTo>
                    <a:cubicBezTo>
                      <a:pt x="1357" y="619"/>
                      <a:pt x="1351" y="606"/>
                      <a:pt x="1344" y="593"/>
                    </a:cubicBezTo>
                    <a:close/>
                    <a:moveTo>
                      <a:pt x="2110" y="1377"/>
                    </a:moveTo>
                    <a:cubicBezTo>
                      <a:pt x="1921" y="615"/>
                      <a:pt x="1921" y="615"/>
                      <a:pt x="1921" y="615"/>
                    </a:cubicBezTo>
                    <a:cubicBezTo>
                      <a:pt x="1916" y="596"/>
                      <a:pt x="1894" y="587"/>
                      <a:pt x="1876" y="587"/>
                    </a:cubicBezTo>
                    <a:cubicBezTo>
                      <a:pt x="1739" y="587"/>
                      <a:pt x="1739" y="587"/>
                      <a:pt x="1739" y="587"/>
                    </a:cubicBezTo>
                    <a:cubicBezTo>
                      <a:pt x="1738" y="589"/>
                      <a:pt x="1737" y="591"/>
                      <a:pt x="1736" y="592"/>
                    </a:cubicBezTo>
                    <a:cubicBezTo>
                      <a:pt x="1730" y="605"/>
                      <a:pt x="1723" y="618"/>
                      <a:pt x="1717" y="631"/>
                    </a:cubicBezTo>
                    <a:cubicBezTo>
                      <a:pt x="1876" y="631"/>
                      <a:pt x="1876" y="631"/>
                      <a:pt x="1876" y="631"/>
                    </a:cubicBezTo>
                    <a:cubicBezTo>
                      <a:pt x="1877" y="631"/>
                      <a:pt x="1879" y="631"/>
                      <a:pt x="1880" y="631"/>
                    </a:cubicBezTo>
                    <a:cubicBezTo>
                      <a:pt x="2064" y="1377"/>
                      <a:pt x="2064" y="1377"/>
                      <a:pt x="2064" y="1377"/>
                    </a:cubicBezTo>
                    <a:cubicBezTo>
                      <a:pt x="48" y="1377"/>
                      <a:pt x="48" y="1377"/>
                      <a:pt x="48" y="1377"/>
                    </a:cubicBezTo>
                    <a:cubicBezTo>
                      <a:pt x="232" y="631"/>
                      <a:pt x="232" y="631"/>
                      <a:pt x="232" y="631"/>
                    </a:cubicBezTo>
                    <a:cubicBezTo>
                      <a:pt x="233" y="631"/>
                      <a:pt x="235" y="631"/>
                      <a:pt x="236" y="631"/>
                    </a:cubicBezTo>
                    <a:cubicBezTo>
                      <a:pt x="324" y="631"/>
                      <a:pt x="324" y="631"/>
                      <a:pt x="324" y="631"/>
                    </a:cubicBezTo>
                    <a:cubicBezTo>
                      <a:pt x="318" y="616"/>
                      <a:pt x="312" y="601"/>
                      <a:pt x="307" y="587"/>
                    </a:cubicBezTo>
                    <a:cubicBezTo>
                      <a:pt x="236" y="587"/>
                      <a:pt x="236" y="587"/>
                      <a:pt x="236" y="587"/>
                    </a:cubicBezTo>
                    <a:cubicBezTo>
                      <a:pt x="218" y="587"/>
                      <a:pt x="196" y="596"/>
                      <a:pt x="191" y="615"/>
                    </a:cubicBezTo>
                    <a:cubicBezTo>
                      <a:pt x="2" y="1377"/>
                      <a:pt x="2" y="1377"/>
                      <a:pt x="2" y="1377"/>
                    </a:cubicBezTo>
                    <a:cubicBezTo>
                      <a:pt x="0" y="1387"/>
                      <a:pt x="2" y="1397"/>
                      <a:pt x="8" y="1405"/>
                    </a:cubicBezTo>
                    <a:cubicBezTo>
                      <a:pt x="16" y="1415"/>
                      <a:pt x="30" y="1421"/>
                      <a:pt x="45" y="1421"/>
                    </a:cubicBezTo>
                    <a:cubicBezTo>
                      <a:pt x="2067" y="1421"/>
                      <a:pt x="2067" y="1421"/>
                      <a:pt x="2067" y="1421"/>
                    </a:cubicBezTo>
                    <a:cubicBezTo>
                      <a:pt x="2082" y="1421"/>
                      <a:pt x="2096" y="1415"/>
                      <a:pt x="2104" y="1405"/>
                    </a:cubicBezTo>
                    <a:cubicBezTo>
                      <a:pt x="2110" y="1397"/>
                      <a:pt x="2112" y="1387"/>
                      <a:pt x="2110" y="1377"/>
                    </a:cubicBezTo>
                    <a:close/>
                    <a:moveTo>
                      <a:pt x="1541" y="826"/>
                    </a:moveTo>
                    <a:cubicBezTo>
                      <a:pt x="1529" y="826"/>
                      <a:pt x="1519" y="819"/>
                      <a:pt x="1513" y="810"/>
                    </a:cubicBezTo>
                    <a:cubicBezTo>
                      <a:pt x="1487" y="765"/>
                      <a:pt x="1487" y="765"/>
                      <a:pt x="1487" y="765"/>
                    </a:cubicBezTo>
                    <a:cubicBezTo>
                      <a:pt x="1487" y="764"/>
                      <a:pt x="1435" y="675"/>
                      <a:pt x="1384" y="573"/>
                    </a:cubicBezTo>
                    <a:cubicBezTo>
                      <a:pt x="1310" y="425"/>
                      <a:pt x="1276" y="329"/>
                      <a:pt x="1276" y="270"/>
                    </a:cubicBezTo>
                    <a:cubicBezTo>
                      <a:pt x="1276" y="122"/>
                      <a:pt x="1395" y="0"/>
                      <a:pt x="1541" y="0"/>
                    </a:cubicBezTo>
                    <a:cubicBezTo>
                      <a:pt x="1686" y="0"/>
                      <a:pt x="1804" y="122"/>
                      <a:pt x="1804" y="270"/>
                    </a:cubicBezTo>
                    <a:cubicBezTo>
                      <a:pt x="1804" y="329"/>
                      <a:pt x="1770" y="425"/>
                      <a:pt x="1697" y="573"/>
                    </a:cubicBezTo>
                    <a:cubicBezTo>
                      <a:pt x="1647" y="675"/>
                      <a:pt x="1595" y="764"/>
                      <a:pt x="1594" y="765"/>
                    </a:cubicBezTo>
                    <a:cubicBezTo>
                      <a:pt x="1569" y="809"/>
                      <a:pt x="1569" y="809"/>
                      <a:pt x="1569" y="809"/>
                    </a:cubicBezTo>
                    <a:cubicBezTo>
                      <a:pt x="1563" y="819"/>
                      <a:pt x="1552" y="826"/>
                      <a:pt x="1541" y="826"/>
                    </a:cubicBezTo>
                    <a:cubicBezTo>
                      <a:pt x="1541" y="826"/>
                      <a:pt x="1541" y="826"/>
                      <a:pt x="1541" y="826"/>
                    </a:cubicBezTo>
                    <a:close/>
                    <a:moveTo>
                      <a:pt x="1541" y="44"/>
                    </a:moveTo>
                    <a:cubicBezTo>
                      <a:pt x="1419" y="44"/>
                      <a:pt x="1320" y="146"/>
                      <a:pt x="1320" y="270"/>
                    </a:cubicBezTo>
                    <a:cubicBezTo>
                      <a:pt x="1320" y="321"/>
                      <a:pt x="1354" y="416"/>
                      <a:pt x="1423" y="553"/>
                    </a:cubicBezTo>
                    <a:cubicBezTo>
                      <a:pt x="1474" y="655"/>
                      <a:pt x="1525" y="742"/>
                      <a:pt x="1525" y="743"/>
                    </a:cubicBezTo>
                    <a:cubicBezTo>
                      <a:pt x="1541" y="770"/>
                      <a:pt x="1541" y="770"/>
                      <a:pt x="1541" y="770"/>
                    </a:cubicBezTo>
                    <a:cubicBezTo>
                      <a:pt x="1556" y="743"/>
                      <a:pt x="1556" y="743"/>
                      <a:pt x="1556" y="743"/>
                    </a:cubicBezTo>
                    <a:cubicBezTo>
                      <a:pt x="1557" y="742"/>
                      <a:pt x="1607" y="655"/>
                      <a:pt x="1658" y="553"/>
                    </a:cubicBezTo>
                    <a:cubicBezTo>
                      <a:pt x="1726" y="416"/>
                      <a:pt x="1760" y="321"/>
                      <a:pt x="1760" y="270"/>
                    </a:cubicBezTo>
                    <a:cubicBezTo>
                      <a:pt x="1760" y="146"/>
                      <a:pt x="1662" y="44"/>
                      <a:pt x="1541" y="44"/>
                    </a:cubicBezTo>
                    <a:close/>
                    <a:moveTo>
                      <a:pt x="1548" y="908"/>
                    </a:moveTo>
                    <a:cubicBezTo>
                      <a:pt x="1195" y="908"/>
                      <a:pt x="1195" y="908"/>
                      <a:pt x="1195" y="908"/>
                    </a:cubicBezTo>
                    <a:cubicBezTo>
                      <a:pt x="1172" y="908"/>
                      <a:pt x="1154" y="889"/>
                      <a:pt x="1154" y="867"/>
                    </a:cubicBezTo>
                    <a:cubicBezTo>
                      <a:pt x="1154" y="844"/>
                      <a:pt x="1172" y="826"/>
                      <a:pt x="1195" y="826"/>
                    </a:cubicBezTo>
                    <a:cubicBezTo>
                      <a:pt x="1471" y="826"/>
                      <a:pt x="1471" y="826"/>
                      <a:pt x="1471" y="826"/>
                    </a:cubicBezTo>
                    <a:cubicBezTo>
                      <a:pt x="1449" y="787"/>
                      <a:pt x="1449" y="787"/>
                      <a:pt x="1449" y="787"/>
                    </a:cubicBezTo>
                    <a:cubicBezTo>
                      <a:pt x="1449" y="787"/>
                      <a:pt x="1448" y="785"/>
                      <a:pt x="1446" y="782"/>
                    </a:cubicBezTo>
                    <a:cubicBezTo>
                      <a:pt x="1195" y="782"/>
                      <a:pt x="1195" y="782"/>
                      <a:pt x="1195" y="782"/>
                    </a:cubicBezTo>
                    <a:cubicBezTo>
                      <a:pt x="1148" y="782"/>
                      <a:pt x="1110" y="820"/>
                      <a:pt x="1110" y="867"/>
                    </a:cubicBezTo>
                    <a:cubicBezTo>
                      <a:pt x="1110" y="914"/>
                      <a:pt x="1148" y="952"/>
                      <a:pt x="1195" y="952"/>
                    </a:cubicBezTo>
                    <a:cubicBezTo>
                      <a:pt x="1548" y="952"/>
                      <a:pt x="1548" y="952"/>
                      <a:pt x="1548" y="952"/>
                    </a:cubicBezTo>
                    <a:cubicBezTo>
                      <a:pt x="1609" y="952"/>
                      <a:pt x="1659" y="1002"/>
                      <a:pt x="1659" y="1063"/>
                    </a:cubicBezTo>
                    <a:cubicBezTo>
                      <a:pt x="1659" y="1124"/>
                      <a:pt x="1609" y="1174"/>
                      <a:pt x="1548" y="1174"/>
                    </a:cubicBezTo>
                    <a:cubicBezTo>
                      <a:pt x="793" y="1174"/>
                      <a:pt x="793" y="1174"/>
                      <a:pt x="793" y="1174"/>
                    </a:cubicBezTo>
                    <a:cubicBezTo>
                      <a:pt x="767" y="1218"/>
                      <a:pt x="767" y="1218"/>
                      <a:pt x="767" y="1218"/>
                    </a:cubicBezTo>
                    <a:cubicBezTo>
                      <a:pt x="1548" y="1218"/>
                      <a:pt x="1548" y="1218"/>
                      <a:pt x="1548" y="1218"/>
                    </a:cubicBezTo>
                    <a:cubicBezTo>
                      <a:pt x="1633" y="1218"/>
                      <a:pt x="1703" y="1148"/>
                      <a:pt x="1703" y="1063"/>
                    </a:cubicBezTo>
                    <a:cubicBezTo>
                      <a:pt x="1703" y="977"/>
                      <a:pt x="1633" y="908"/>
                      <a:pt x="1548" y="90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grpSp>
      <p:grpSp>
        <p:nvGrpSpPr>
          <p:cNvPr id="80" name="Group 79">
            <a:extLst>
              <a:ext uri="{FF2B5EF4-FFF2-40B4-BE49-F238E27FC236}">
                <a16:creationId xmlns:a16="http://schemas.microsoft.com/office/drawing/2014/main" id="{6A5C256B-981E-E695-4FF4-E8C7F3F18CE2}"/>
              </a:ext>
            </a:extLst>
          </p:cNvPr>
          <p:cNvGrpSpPr/>
          <p:nvPr/>
        </p:nvGrpSpPr>
        <p:grpSpPr>
          <a:xfrm>
            <a:off x="7526406" y="1447055"/>
            <a:ext cx="720000" cy="720000"/>
            <a:chOff x="5735313" y="1748712"/>
            <a:chExt cx="720000" cy="720000"/>
          </a:xfrm>
        </p:grpSpPr>
        <p:grpSp>
          <p:nvGrpSpPr>
            <p:cNvPr id="81" name="Group 80">
              <a:extLst>
                <a:ext uri="{FF2B5EF4-FFF2-40B4-BE49-F238E27FC236}">
                  <a16:creationId xmlns:a16="http://schemas.microsoft.com/office/drawing/2014/main" id="{C78BA142-05EA-967C-7666-65F157067D62}"/>
                </a:ext>
              </a:extLst>
            </p:cNvPr>
            <p:cNvGrpSpPr/>
            <p:nvPr/>
          </p:nvGrpSpPr>
          <p:grpSpPr>
            <a:xfrm>
              <a:off x="5735313" y="1748712"/>
              <a:ext cx="720000" cy="720000"/>
              <a:chOff x="5772024" y="1984163"/>
              <a:chExt cx="646578" cy="646578"/>
            </a:xfrm>
          </p:grpSpPr>
          <p:sp>
            <p:nvSpPr>
              <p:cNvPr id="108" name="Oval 107">
                <a:extLst>
                  <a:ext uri="{FF2B5EF4-FFF2-40B4-BE49-F238E27FC236}">
                    <a16:creationId xmlns:a16="http://schemas.microsoft.com/office/drawing/2014/main" id="{032F6B6F-74A2-0F33-011C-ABA592823659}"/>
                  </a:ext>
                </a:extLst>
              </p:cNvPr>
              <p:cNvSpPr/>
              <p:nvPr>
                <p:custDataLst>
                  <p:tags r:id="rId12"/>
                </p:custDataLst>
              </p:nvPr>
            </p:nvSpPr>
            <p:spPr>
              <a:xfrm>
                <a:off x="5772024" y="1984163"/>
                <a:ext cx="646578" cy="646578"/>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lumMod val="50000"/>
                    </a:prstClr>
                  </a:solidFill>
                  <a:effectLst/>
                  <a:uLnTx/>
                  <a:uFillTx/>
                  <a:latin typeface="Trebuchet MS"/>
                  <a:ea typeface="+mn-ea"/>
                  <a:cs typeface="+mn-cs"/>
                </a:endParaRPr>
              </a:p>
            </p:txBody>
          </p:sp>
          <p:sp>
            <p:nvSpPr>
              <p:cNvPr id="109" name="AutoShape 7">
                <a:extLst>
                  <a:ext uri="{FF2B5EF4-FFF2-40B4-BE49-F238E27FC236}">
                    <a16:creationId xmlns:a16="http://schemas.microsoft.com/office/drawing/2014/main" id="{A207470E-4116-9D7A-D9D3-9A4807D3D297}"/>
                  </a:ext>
                </a:extLst>
              </p:cNvPr>
              <p:cNvSpPr>
                <a:spLocks noChangeAspect="1" noChangeArrowheads="1" noTextEdit="1"/>
              </p:cNvSpPr>
              <p:nvPr/>
            </p:nvSpPr>
            <p:spPr bwMode="auto">
              <a:xfrm>
                <a:off x="5866713" y="2078852"/>
                <a:ext cx="457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grpSp>
          <p:nvGrpSpPr>
            <p:cNvPr id="96" name="Group 95">
              <a:extLst>
                <a:ext uri="{FF2B5EF4-FFF2-40B4-BE49-F238E27FC236}">
                  <a16:creationId xmlns:a16="http://schemas.microsoft.com/office/drawing/2014/main" id="{427AE385-791B-EA44-6A7A-90803C1FFD0E}"/>
                </a:ext>
              </a:extLst>
            </p:cNvPr>
            <p:cNvGrpSpPr>
              <a:grpSpLocks noChangeAspect="1"/>
            </p:cNvGrpSpPr>
            <p:nvPr/>
          </p:nvGrpSpPr>
          <p:grpSpPr>
            <a:xfrm>
              <a:off x="5883176" y="1892511"/>
              <a:ext cx="432000" cy="432400"/>
              <a:chOff x="5273801" y="2606040"/>
              <a:chExt cx="1644396" cy="1645920"/>
            </a:xfrm>
          </p:grpSpPr>
          <p:sp>
            <p:nvSpPr>
              <p:cNvPr id="99" name="AutoShape 33">
                <a:extLst>
                  <a:ext uri="{FF2B5EF4-FFF2-40B4-BE49-F238E27FC236}">
                    <a16:creationId xmlns:a16="http://schemas.microsoft.com/office/drawing/2014/main" id="{CA647A93-50C0-3127-9734-EC884C6357B1}"/>
                  </a:ext>
                </a:extLst>
              </p:cNvPr>
              <p:cNvSpPr>
                <a:spLocks noChangeAspect="1" noChangeArrowheads="1" noTextEdit="1"/>
              </p:cNvSpPr>
              <p:nvPr/>
            </p:nvSpPr>
            <p:spPr bwMode="auto">
              <a:xfrm>
                <a:off x="5273801" y="2606040"/>
                <a:ext cx="1644396" cy="1645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nvGrpSpPr>
              <p:cNvPr id="102" name="Group 101">
                <a:extLst>
                  <a:ext uri="{FF2B5EF4-FFF2-40B4-BE49-F238E27FC236}">
                    <a16:creationId xmlns:a16="http://schemas.microsoft.com/office/drawing/2014/main" id="{A810A101-291A-DF60-A496-6FF1D68AAF3B}"/>
                  </a:ext>
                </a:extLst>
              </p:cNvPr>
              <p:cNvGrpSpPr/>
              <p:nvPr/>
            </p:nvGrpSpPr>
            <p:grpSpPr>
              <a:xfrm>
                <a:off x="5445632" y="2775204"/>
                <a:ext cx="1301877" cy="1306068"/>
                <a:chOff x="5445632" y="2775204"/>
                <a:chExt cx="1301877" cy="1306068"/>
              </a:xfrm>
            </p:grpSpPr>
            <p:sp>
              <p:nvSpPr>
                <p:cNvPr id="106" name="Freeform 35">
                  <a:extLst>
                    <a:ext uri="{FF2B5EF4-FFF2-40B4-BE49-F238E27FC236}">
                      <a16:creationId xmlns:a16="http://schemas.microsoft.com/office/drawing/2014/main" id="{7AA53388-B956-A0F2-ED93-DA16D0C3E0B4}"/>
                    </a:ext>
                  </a:extLst>
                </p:cNvPr>
                <p:cNvSpPr>
                  <a:spLocks noEditPoints="1"/>
                </p:cNvSpPr>
                <p:nvPr/>
              </p:nvSpPr>
              <p:spPr bwMode="auto">
                <a:xfrm>
                  <a:off x="5445632" y="2775204"/>
                  <a:ext cx="1301877" cy="1306068"/>
                </a:xfrm>
                <a:custGeom>
                  <a:avLst/>
                  <a:gdLst>
                    <a:gd name="T0" fmla="*/ 236 w 1824"/>
                    <a:gd name="T1" fmla="*/ 118 h 1828"/>
                    <a:gd name="T2" fmla="*/ 118 w 1824"/>
                    <a:gd name="T3" fmla="*/ 191 h 1828"/>
                    <a:gd name="T4" fmla="*/ 414 w 1824"/>
                    <a:gd name="T5" fmla="*/ 22 h 1828"/>
                    <a:gd name="T6" fmla="*/ 458 w 1824"/>
                    <a:gd name="T7" fmla="*/ 22 h 1828"/>
                    <a:gd name="T8" fmla="*/ 753 w 1824"/>
                    <a:gd name="T9" fmla="*/ 0 h 1828"/>
                    <a:gd name="T10" fmla="*/ 680 w 1824"/>
                    <a:gd name="T11" fmla="*/ 118 h 1828"/>
                    <a:gd name="T12" fmla="*/ 1071 w 1824"/>
                    <a:gd name="T13" fmla="*/ 0 h 1828"/>
                    <a:gd name="T14" fmla="*/ 1093 w 1824"/>
                    <a:gd name="T15" fmla="*/ 213 h 1828"/>
                    <a:gd name="T16" fmla="*/ 1366 w 1824"/>
                    <a:gd name="T17" fmla="*/ 22 h 1828"/>
                    <a:gd name="T18" fmla="*/ 1410 w 1824"/>
                    <a:gd name="T19" fmla="*/ 22 h 1828"/>
                    <a:gd name="T20" fmla="*/ 1706 w 1824"/>
                    <a:gd name="T21" fmla="*/ 0 h 1828"/>
                    <a:gd name="T22" fmla="*/ 1632 w 1824"/>
                    <a:gd name="T23" fmla="*/ 118 h 1828"/>
                    <a:gd name="T24" fmla="*/ 118 w 1824"/>
                    <a:gd name="T25" fmla="*/ 319 h 1828"/>
                    <a:gd name="T26" fmla="*/ 140 w 1824"/>
                    <a:gd name="T27" fmla="*/ 532 h 1828"/>
                    <a:gd name="T28" fmla="*/ 953 w 1824"/>
                    <a:gd name="T29" fmla="*/ 436 h 1828"/>
                    <a:gd name="T30" fmla="*/ 1071 w 1824"/>
                    <a:gd name="T31" fmla="*/ 363 h 1828"/>
                    <a:gd name="T32" fmla="*/ 1071 w 1824"/>
                    <a:gd name="T33" fmla="*/ 363 h 1828"/>
                    <a:gd name="T34" fmla="*/ 1388 w 1824"/>
                    <a:gd name="T35" fmla="*/ 554 h 1828"/>
                    <a:gd name="T36" fmla="*/ 1706 w 1824"/>
                    <a:gd name="T37" fmla="*/ 554 h 1828"/>
                    <a:gd name="T38" fmla="*/ 1706 w 1824"/>
                    <a:gd name="T39" fmla="*/ 554 h 1828"/>
                    <a:gd name="T40" fmla="*/ 1780 w 1824"/>
                    <a:gd name="T41" fmla="*/ 436 h 1828"/>
                    <a:gd name="T42" fmla="*/ 118 w 1824"/>
                    <a:gd name="T43" fmla="*/ 637 h 1828"/>
                    <a:gd name="T44" fmla="*/ 44 w 1824"/>
                    <a:gd name="T45" fmla="*/ 755 h 1828"/>
                    <a:gd name="T46" fmla="*/ 1071 w 1824"/>
                    <a:gd name="T47" fmla="*/ 872 h 1828"/>
                    <a:gd name="T48" fmla="*/ 1071 w 1824"/>
                    <a:gd name="T49" fmla="*/ 872 h 1828"/>
                    <a:gd name="T50" fmla="*/ 1144 w 1824"/>
                    <a:gd name="T51" fmla="*/ 755 h 1828"/>
                    <a:gd name="T52" fmla="*/ 1388 w 1824"/>
                    <a:gd name="T53" fmla="*/ 637 h 1828"/>
                    <a:gd name="T54" fmla="*/ 1315 w 1824"/>
                    <a:gd name="T55" fmla="*/ 755 h 1828"/>
                    <a:gd name="T56" fmla="*/ 1706 w 1824"/>
                    <a:gd name="T57" fmla="*/ 637 h 1828"/>
                    <a:gd name="T58" fmla="*/ 1728 w 1824"/>
                    <a:gd name="T59" fmla="*/ 850 h 1828"/>
                    <a:gd name="T60" fmla="*/ 96 w 1824"/>
                    <a:gd name="T61" fmla="*/ 978 h 1828"/>
                    <a:gd name="T62" fmla="*/ 140 w 1824"/>
                    <a:gd name="T63" fmla="*/ 978 h 1828"/>
                    <a:gd name="T64" fmla="*/ 436 w 1824"/>
                    <a:gd name="T65" fmla="*/ 956 h 1828"/>
                    <a:gd name="T66" fmla="*/ 362 w 1824"/>
                    <a:gd name="T67" fmla="*/ 1073 h 1828"/>
                    <a:gd name="T68" fmla="*/ 753 w 1824"/>
                    <a:gd name="T69" fmla="*/ 956 h 1828"/>
                    <a:gd name="T70" fmla="*/ 775 w 1824"/>
                    <a:gd name="T71" fmla="*/ 1169 h 1828"/>
                    <a:gd name="T72" fmla="*/ 1049 w 1824"/>
                    <a:gd name="T73" fmla="*/ 978 h 1828"/>
                    <a:gd name="T74" fmla="*/ 1093 w 1824"/>
                    <a:gd name="T75" fmla="*/ 978 h 1828"/>
                    <a:gd name="T76" fmla="*/ 1388 w 1824"/>
                    <a:gd name="T77" fmla="*/ 956 h 1828"/>
                    <a:gd name="T78" fmla="*/ 1315 w 1824"/>
                    <a:gd name="T79" fmla="*/ 1073 h 1828"/>
                    <a:gd name="T80" fmla="*/ 1706 w 1824"/>
                    <a:gd name="T81" fmla="*/ 956 h 1828"/>
                    <a:gd name="T82" fmla="*/ 1728 w 1824"/>
                    <a:gd name="T83" fmla="*/ 1169 h 1828"/>
                    <a:gd name="T84" fmla="*/ 0 w 1824"/>
                    <a:gd name="T85" fmla="*/ 1392 h 1828"/>
                    <a:gd name="T86" fmla="*/ 118 w 1824"/>
                    <a:gd name="T87" fmla="*/ 1318 h 1828"/>
                    <a:gd name="T88" fmla="*/ 118 w 1824"/>
                    <a:gd name="T89" fmla="*/ 1318 h 1828"/>
                    <a:gd name="T90" fmla="*/ 436 w 1824"/>
                    <a:gd name="T91" fmla="*/ 1509 h 1828"/>
                    <a:gd name="T92" fmla="*/ 753 w 1824"/>
                    <a:gd name="T93" fmla="*/ 1509 h 1828"/>
                    <a:gd name="T94" fmla="*/ 753 w 1824"/>
                    <a:gd name="T95" fmla="*/ 1509 h 1828"/>
                    <a:gd name="T96" fmla="*/ 827 w 1824"/>
                    <a:gd name="T97" fmla="*/ 1392 h 1828"/>
                    <a:gd name="T98" fmla="*/ 1706 w 1824"/>
                    <a:gd name="T99" fmla="*/ 1274 h 1828"/>
                    <a:gd name="T100" fmla="*/ 1632 w 1824"/>
                    <a:gd name="T101" fmla="*/ 1392 h 1828"/>
                    <a:gd name="T102" fmla="*/ 118 w 1824"/>
                    <a:gd name="T103" fmla="*/ 1828 h 1828"/>
                    <a:gd name="T104" fmla="*/ 118 w 1824"/>
                    <a:gd name="T105" fmla="*/ 1828 h 1828"/>
                    <a:gd name="T106" fmla="*/ 192 w 1824"/>
                    <a:gd name="T107" fmla="*/ 1710 h 1828"/>
                    <a:gd name="T108" fmla="*/ 414 w 1824"/>
                    <a:gd name="T109" fmla="*/ 1806 h 1828"/>
                    <a:gd name="T110" fmla="*/ 436 w 1824"/>
                    <a:gd name="T111" fmla="*/ 1593 h 1828"/>
                    <a:gd name="T112" fmla="*/ 871 w 1824"/>
                    <a:gd name="T113" fmla="*/ 1710 h 1828"/>
                    <a:gd name="T114" fmla="*/ 753 w 1824"/>
                    <a:gd name="T115" fmla="*/ 1784 h 1828"/>
                    <a:gd name="T116" fmla="*/ 1588 w 1824"/>
                    <a:gd name="T117" fmla="*/ 1710 h 1828"/>
                    <a:gd name="T118" fmla="*/ 1706 w 1824"/>
                    <a:gd name="T119" fmla="*/ 1637 h 1828"/>
                    <a:gd name="T120" fmla="*/ 1706 w 1824"/>
                    <a:gd name="T121" fmla="*/ 1637 h 1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24" h="1828">
                      <a:moveTo>
                        <a:pt x="118" y="235"/>
                      </a:moveTo>
                      <a:cubicBezTo>
                        <a:pt x="53" y="235"/>
                        <a:pt x="0" y="183"/>
                        <a:pt x="0" y="118"/>
                      </a:cubicBezTo>
                      <a:cubicBezTo>
                        <a:pt x="0" y="53"/>
                        <a:pt x="53" y="0"/>
                        <a:pt x="118" y="0"/>
                      </a:cubicBezTo>
                      <a:cubicBezTo>
                        <a:pt x="183" y="0"/>
                        <a:pt x="236" y="53"/>
                        <a:pt x="236" y="118"/>
                      </a:cubicBezTo>
                      <a:cubicBezTo>
                        <a:pt x="236" y="183"/>
                        <a:pt x="183" y="235"/>
                        <a:pt x="118" y="235"/>
                      </a:cubicBezTo>
                      <a:close/>
                      <a:moveTo>
                        <a:pt x="118" y="44"/>
                      </a:moveTo>
                      <a:cubicBezTo>
                        <a:pt x="77" y="44"/>
                        <a:pt x="44" y="77"/>
                        <a:pt x="44" y="118"/>
                      </a:cubicBezTo>
                      <a:cubicBezTo>
                        <a:pt x="44" y="158"/>
                        <a:pt x="77" y="191"/>
                        <a:pt x="118" y="191"/>
                      </a:cubicBezTo>
                      <a:cubicBezTo>
                        <a:pt x="159" y="191"/>
                        <a:pt x="192" y="158"/>
                        <a:pt x="192" y="118"/>
                      </a:cubicBezTo>
                      <a:cubicBezTo>
                        <a:pt x="192" y="77"/>
                        <a:pt x="159" y="44"/>
                        <a:pt x="118" y="44"/>
                      </a:cubicBezTo>
                      <a:close/>
                      <a:moveTo>
                        <a:pt x="436" y="0"/>
                      </a:moveTo>
                      <a:cubicBezTo>
                        <a:pt x="424" y="0"/>
                        <a:pt x="414" y="10"/>
                        <a:pt x="414" y="22"/>
                      </a:cubicBezTo>
                      <a:cubicBezTo>
                        <a:pt x="414" y="213"/>
                        <a:pt x="414" y="213"/>
                        <a:pt x="414" y="213"/>
                      </a:cubicBezTo>
                      <a:cubicBezTo>
                        <a:pt x="414" y="225"/>
                        <a:pt x="424" y="235"/>
                        <a:pt x="436" y="235"/>
                      </a:cubicBezTo>
                      <a:cubicBezTo>
                        <a:pt x="448" y="235"/>
                        <a:pt x="458" y="225"/>
                        <a:pt x="458" y="213"/>
                      </a:cubicBezTo>
                      <a:cubicBezTo>
                        <a:pt x="458" y="22"/>
                        <a:pt x="458" y="22"/>
                        <a:pt x="458" y="22"/>
                      </a:cubicBezTo>
                      <a:cubicBezTo>
                        <a:pt x="458" y="10"/>
                        <a:pt x="448" y="0"/>
                        <a:pt x="436" y="0"/>
                      </a:cubicBezTo>
                      <a:close/>
                      <a:moveTo>
                        <a:pt x="753" y="235"/>
                      </a:moveTo>
                      <a:cubicBezTo>
                        <a:pt x="688" y="235"/>
                        <a:pt x="636" y="183"/>
                        <a:pt x="636" y="118"/>
                      </a:cubicBezTo>
                      <a:cubicBezTo>
                        <a:pt x="636" y="53"/>
                        <a:pt x="688" y="0"/>
                        <a:pt x="753" y="0"/>
                      </a:cubicBezTo>
                      <a:cubicBezTo>
                        <a:pt x="818" y="0"/>
                        <a:pt x="871" y="53"/>
                        <a:pt x="871" y="118"/>
                      </a:cubicBezTo>
                      <a:cubicBezTo>
                        <a:pt x="871" y="183"/>
                        <a:pt x="818" y="235"/>
                        <a:pt x="753" y="235"/>
                      </a:cubicBezTo>
                      <a:close/>
                      <a:moveTo>
                        <a:pt x="753" y="44"/>
                      </a:moveTo>
                      <a:cubicBezTo>
                        <a:pt x="713" y="44"/>
                        <a:pt x="680" y="77"/>
                        <a:pt x="680" y="118"/>
                      </a:cubicBezTo>
                      <a:cubicBezTo>
                        <a:pt x="680" y="158"/>
                        <a:pt x="713" y="191"/>
                        <a:pt x="753" y="191"/>
                      </a:cubicBezTo>
                      <a:cubicBezTo>
                        <a:pt x="794" y="191"/>
                        <a:pt x="827" y="158"/>
                        <a:pt x="827" y="118"/>
                      </a:cubicBezTo>
                      <a:cubicBezTo>
                        <a:pt x="827" y="77"/>
                        <a:pt x="794" y="44"/>
                        <a:pt x="753" y="44"/>
                      </a:cubicBezTo>
                      <a:close/>
                      <a:moveTo>
                        <a:pt x="1071" y="0"/>
                      </a:moveTo>
                      <a:cubicBezTo>
                        <a:pt x="1059" y="0"/>
                        <a:pt x="1049" y="10"/>
                        <a:pt x="1049" y="22"/>
                      </a:cubicBezTo>
                      <a:cubicBezTo>
                        <a:pt x="1049" y="213"/>
                        <a:pt x="1049" y="213"/>
                        <a:pt x="1049" y="213"/>
                      </a:cubicBezTo>
                      <a:cubicBezTo>
                        <a:pt x="1049" y="225"/>
                        <a:pt x="1059" y="235"/>
                        <a:pt x="1071" y="235"/>
                      </a:cubicBezTo>
                      <a:cubicBezTo>
                        <a:pt x="1083" y="235"/>
                        <a:pt x="1093" y="225"/>
                        <a:pt x="1093" y="213"/>
                      </a:cubicBezTo>
                      <a:cubicBezTo>
                        <a:pt x="1093" y="22"/>
                        <a:pt x="1093" y="22"/>
                        <a:pt x="1093" y="22"/>
                      </a:cubicBezTo>
                      <a:cubicBezTo>
                        <a:pt x="1093" y="10"/>
                        <a:pt x="1083" y="0"/>
                        <a:pt x="1071" y="0"/>
                      </a:cubicBezTo>
                      <a:close/>
                      <a:moveTo>
                        <a:pt x="1388" y="0"/>
                      </a:moveTo>
                      <a:cubicBezTo>
                        <a:pt x="1376" y="0"/>
                        <a:pt x="1366" y="10"/>
                        <a:pt x="1366" y="22"/>
                      </a:cubicBezTo>
                      <a:cubicBezTo>
                        <a:pt x="1366" y="213"/>
                        <a:pt x="1366" y="213"/>
                        <a:pt x="1366" y="213"/>
                      </a:cubicBezTo>
                      <a:cubicBezTo>
                        <a:pt x="1366" y="225"/>
                        <a:pt x="1376" y="235"/>
                        <a:pt x="1388" y="235"/>
                      </a:cubicBezTo>
                      <a:cubicBezTo>
                        <a:pt x="1400" y="235"/>
                        <a:pt x="1410" y="225"/>
                        <a:pt x="1410" y="213"/>
                      </a:cubicBezTo>
                      <a:cubicBezTo>
                        <a:pt x="1410" y="22"/>
                        <a:pt x="1410" y="22"/>
                        <a:pt x="1410" y="22"/>
                      </a:cubicBezTo>
                      <a:cubicBezTo>
                        <a:pt x="1410" y="10"/>
                        <a:pt x="1400" y="0"/>
                        <a:pt x="1388" y="0"/>
                      </a:cubicBezTo>
                      <a:close/>
                      <a:moveTo>
                        <a:pt x="1706" y="235"/>
                      </a:moveTo>
                      <a:cubicBezTo>
                        <a:pt x="1641" y="235"/>
                        <a:pt x="1588" y="183"/>
                        <a:pt x="1588" y="118"/>
                      </a:cubicBezTo>
                      <a:cubicBezTo>
                        <a:pt x="1588" y="53"/>
                        <a:pt x="1641" y="0"/>
                        <a:pt x="1706" y="0"/>
                      </a:cubicBezTo>
                      <a:cubicBezTo>
                        <a:pt x="1771" y="0"/>
                        <a:pt x="1824" y="53"/>
                        <a:pt x="1824" y="118"/>
                      </a:cubicBezTo>
                      <a:cubicBezTo>
                        <a:pt x="1824" y="183"/>
                        <a:pt x="1771" y="235"/>
                        <a:pt x="1706" y="235"/>
                      </a:cubicBezTo>
                      <a:close/>
                      <a:moveTo>
                        <a:pt x="1706" y="44"/>
                      </a:moveTo>
                      <a:cubicBezTo>
                        <a:pt x="1665" y="44"/>
                        <a:pt x="1632" y="77"/>
                        <a:pt x="1632" y="118"/>
                      </a:cubicBezTo>
                      <a:cubicBezTo>
                        <a:pt x="1632" y="158"/>
                        <a:pt x="1665" y="191"/>
                        <a:pt x="1706" y="191"/>
                      </a:cubicBezTo>
                      <a:cubicBezTo>
                        <a:pt x="1747" y="191"/>
                        <a:pt x="1780" y="158"/>
                        <a:pt x="1780" y="118"/>
                      </a:cubicBezTo>
                      <a:cubicBezTo>
                        <a:pt x="1780" y="77"/>
                        <a:pt x="1747" y="44"/>
                        <a:pt x="1706" y="44"/>
                      </a:cubicBezTo>
                      <a:close/>
                      <a:moveTo>
                        <a:pt x="118" y="319"/>
                      </a:moveTo>
                      <a:cubicBezTo>
                        <a:pt x="106" y="319"/>
                        <a:pt x="96" y="328"/>
                        <a:pt x="96" y="341"/>
                      </a:cubicBezTo>
                      <a:cubicBezTo>
                        <a:pt x="96" y="532"/>
                        <a:pt x="96" y="532"/>
                        <a:pt x="96" y="532"/>
                      </a:cubicBezTo>
                      <a:cubicBezTo>
                        <a:pt x="96" y="544"/>
                        <a:pt x="106" y="554"/>
                        <a:pt x="118" y="554"/>
                      </a:cubicBezTo>
                      <a:cubicBezTo>
                        <a:pt x="130" y="554"/>
                        <a:pt x="140" y="544"/>
                        <a:pt x="140" y="532"/>
                      </a:cubicBezTo>
                      <a:cubicBezTo>
                        <a:pt x="140" y="341"/>
                        <a:pt x="140" y="341"/>
                        <a:pt x="140" y="341"/>
                      </a:cubicBezTo>
                      <a:cubicBezTo>
                        <a:pt x="140" y="328"/>
                        <a:pt x="130" y="319"/>
                        <a:pt x="118" y="319"/>
                      </a:cubicBezTo>
                      <a:close/>
                      <a:moveTo>
                        <a:pt x="1071" y="554"/>
                      </a:moveTo>
                      <a:cubicBezTo>
                        <a:pt x="1006" y="554"/>
                        <a:pt x="953" y="501"/>
                        <a:pt x="953" y="436"/>
                      </a:cubicBezTo>
                      <a:cubicBezTo>
                        <a:pt x="953" y="371"/>
                        <a:pt x="1006" y="319"/>
                        <a:pt x="1071" y="319"/>
                      </a:cubicBezTo>
                      <a:cubicBezTo>
                        <a:pt x="1136" y="319"/>
                        <a:pt x="1188" y="371"/>
                        <a:pt x="1188" y="436"/>
                      </a:cubicBezTo>
                      <a:cubicBezTo>
                        <a:pt x="1188" y="501"/>
                        <a:pt x="1136" y="554"/>
                        <a:pt x="1071" y="554"/>
                      </a:cubicBezTo>
                      <a:close/>
                      <a:moveTo>
                        <a:pt x="1071" y="363"/>
                      </a:moveTo>
                      <a:cubicBezTo>
                        <a:pt x="1030" y="363"/>
                        <a:pt x="997" y="396"/>
                        <a:pt x="997" y="436"/>
                      </a:cubicBezTo>
                      <a:cubicBezTo>
                        <a:pt x="997" y="477"/>
                        <a:pt x="1030" y="510"/>
                        <a:pt x="1071" y="510"/>
                      </a:cubicBezTo>
                      <a:cubicBezTo>
                        <a:pt x="1111" y="510"/>
                        <a:pt x="1144" y="477"/>
                        <a:pt x="1144" y="436"/>
                      </a:cubicBezTo>
                      <a:cubicBezTo>
                        <a:pt x="1144" y="396"/>
                        <a:pt x="1111" y="363"/>
                        <a:pt x="1071" y="363"/>
                      </a:cubicBezTo>
                      <a:close/>
                      <a:moveTo>
                        <a:pt x="1388" y="319"/>
                      </a:moveTo>
                      <a:cubicBezTo>
                        <a:pt x="1376" y="319"/>
                        <a:pt x="1366" y="328"/>
                        <a:pt x="1366" y="341"/>
                      </a:cubicBezTo>
                      <a:cubicBezTo>
                        <a:pt x="1366" y="532"/>
                        <a:pt x="1366" y="532"/>
                        <a:pt x="1366" y="532"/>
                      </a:cubicBezTo>
                      <a:cubicBezTo>
                        <a:pt x="1366" y="544"/>
                        <a:pt x="1376" y="554"/>
                        <a:pt x="1388" y="554"/>
                      </a:cubicBezTo>
                      <a:cubicBezTo>
                        <a:pt x="1400" y="554"/>
                        <a:pt x="1410" y="544"/>
                        <a:pt x="1410" y="532"/>
                      </a:cubicBezTo>
                      <a:cubicBezTo>
                        <a:pt x="1410" y="341"/>
                        <a:pt x="1410" y="341"/>
                        <a:pt x="1410" y="341"/>
                      </a:cubicBezTo>
                      <a:cubicBezTo>
                        <a:pt x="1410" y="328"/>
                        <a:pt x="1400" y="319"/>
                        <a:pt x="1388" y="319"/>
                      </a:cubicBezTo>
                      <a:close/>
                      <a:moveTo>
                        <a:pt x="1706" y="554"/>
                      </a:moveTo>
                      <a:cubicBezTo>
                        <a:pt x="1641" y="554"/>
                        <a:pt x="1588" y="501"/>
                        <a:pt x="1588" y="436"/>
                      </a:cubicBezTo>
                      <a:cubicBezTo>
                        <a:pt x="1588" y="371"/>
                        <a:pt x="1641" y="319"/>
                        <a:pt x="1706" y="319"/>
                      </a:cubicBezTo>
                      <a:cubicBezTo>
                        <a:pt x="1771" y="319"/>
                        <a:pt x="1824" y="371"/>
                        <a:pt x="1824" y="436"/>
                      </a:cubicBezTo>
                      <a:cubicBezTo>
                        <a:pt x="1824" y="501"/>
                        <a:pt x="1771" y="554"/>
                        <a:pt x="1706" y="554"/>
                      </a:cubicBezTo>
                      <a:close/>
                      <a:moveTo>
                        <a:pt x="1706" y="363"/>
                      </a:moveTo>
                      <a:cubicBezTo>
                        <a:pt x="1665" y="363"/>
                        <a:pt x="1632" y="396"/>
                        <a:pt x="1632" y="436"/>
                      </a:cubicBezTo>
                      <a:cubicBezTo>
                        <a:pt x="1632" y="477"/>
                        <a:pt x="1665" y="510"/>
                        <a:pt x="1706" y="510"/>
                      </a:cubicBezTo>
                      <a:cubicBezTo>
                        <a:pt x="1747" y="510"/>
                        <a:pt x="1780" y="477"/>
                        <a:pt x="1780" y="436"/>
                      </a:cubicBezTo>
                      <a:cubicBezTo>
                        <a:pt x="1780" y="396"/>
                        <a:pt x="1747" y="363"/>
                        <a:pt x="1706" y="363"/>
                      </a:cubicBezTo>
                      <a:close/>
                      <a:moveTo>
                        <a:pt x="118" y="872"/>
                      </a:moveTo>
                      <a:cubicBezTo>
                        <a:pt x="53" y="872"/>
                        <a:pt x="0" y="820"/>
                        <a:pt x="0" y="755"/>
                      </a:cubicBezTo>
                      <a:cubicBezTo>
                        <a:pt x="0" y="690"/>
                        <a:pt x="53" y="637"/>
                        <a:pt x="118" y="637"/>
                      </a:cubicBezTo>
                      <a:cubicBezTo>
                        <a:pt x="183" y="637"/>
                        <a:pt x="236" y="690"/>
                        <a:pt x="236" y="755"/>
                      </a:cubicBezTo>
                      <a:cubicBezTo>
                        <a:pt x="236" y="820"/>
                        <a:pt x="183" y="872"/>
                        <a:pt x="118" y="872"/>
                      </a:cubicBezTo>
                      <a:close/>
                      <a:moveTo>
                        <a:pt x="118" y="681"/>
                      </a:moveTo>
                      <a:cubicBezTo>
                        <a:pt x="77" y="681"/>
                        <a:pt x="44" y="714"/>
                        <a:pt x="44" y="755"/>
                      </a:cubicBezTo>
                      <a:cubicBezTo>
                        <a:pt x="44" y="795"/>
                        <a:pt x="77" y="828"/>
                        <a:pt x="118" y="828"/>
                      </a:cubicBezTo>
                      <a:cubicBezTo>
                        <a:pt x="159" y="828"/>
                        <a:pt x="192" y="795"/>
                        <a:pt x="192" y="755"/>
                      </a:cubicBezTo>
                      <a:cubicBezTo>
                        <a:pt x="192" y="714"/>
                        <a:pt x="159" y="681"/>
                        <a:pt x="118" y="681"/>
                      </a:cubicBezTo>
                      <a:close/>
                      <a:moveTo>
                        <a:pt x="1071" y="872"/>
                      </a:moveTo>
                      <a:cubicBezTo>
                        <a:pt x="1006" y="872"/>
                        <a:pt x="953" y="820"/>
                        <a:pt x="953" y="755"/>
                      </a:cubicBezTo>
                      <a:cubicBezTo>
                        <a:pt x="953" y="690"/>
                        <a:pt x="1006" y="637"/>
                        <a:pt x="1071" y="637"/>
                      </a:cubicBezTo>
                      <a:cubicBezTo>
                        <a:pt x="1136" y="637"/>
                        <a:pt x="1188" y="690"/>
                        <a:pt x="1188" y="755"/>
                      </a:cubicBezTo>
                      <a:cubicBezTo>
                        <a:pt x="1188" y="820"/>
                        <a:pt x="1136" y="872"/>
                        <a:pt x="1071" y="872"/>
                      </a:cubicBezTo>
                      <a:close/>
                      <a:moveTo>
                        <a:pt x="1071" y="681"/>
                      </a:moveTo>
                      <a:cubicBezTo>
                        <a:pt x="1030" y="681"/>
                        <a:pt x="997" y="714"/>
                        <a:pt x="997" y="755"/>
                      </a:cubicBezTo>
                      <a:cubicBezTo>
                        <a:pt x="997" y="795"/>
                        <a:pt x="1030" y="828"/>
                        <a:pt x="1071" y="828"/>
                      </a:cubicBezTo>
                      <a:cubicBezTo>
                        <a:pt x="1111" y="828"/>
                        <a:pt x="1144" y="795"/>
                        <a:pt x="1144" y="755"/>
                      </a:cubicBezTo>
                      <a:cubicBezTo>
                        <a:pt x="1144" y="714"/>
                        <a:pt x="1111" y="681"/>
                        <a:pt x="1071" y="681"/>
                      </a:cubicBezTo>
                      <a:close/>
                      <a:moveTo>
                        <a:pt x="1388" y="872"/>
                      </a:moveTo>
                      <a:cubicBezTo>
                        <a:pt x="1323" y="872"/>
                        <a:pt x="1271" y="820"/>
                        <a:pt x="1271" y="755"/>
                      </a:cubicBezTo>
                      <a:cubicBezTo>
                        <a:pt x="1271" y="690"/>
                        <a:pt x="1323" y="637"/>
                        <a:pt x="1388" y="637"/>
                      </a:cubicBezTo>
                      <a:cubicBezTo>
                        <a:pt x="1453" y="637"/>
                        <a:pt x="1506" y="690"/>
                        <a:pt x="1506" y="755"/>
                      </a:cubicBezTo>
                      <a:cubicBezTo>
                        <a:pt x="1506" y="820"/>
                        <a:pt x="1453" y="872"/>
                        <a:pt x="1388" y="872"/>
                      </a:cubicBezTo>
                      <a:close/>
                      <a:moveTo>
                        <a:pt x="1388" y="681"/>
                      </a:moveTo>
                      <a:cubicBezTo>
                        <a:pt x="1348" y="681"/>
                        <a:pt x="1315" y="714"/>
                        <a:pt x="1315" y="755"/>
                      </a:cubicBezTo>
                      <a:cubicBezTo>
                        <a:pt x="1315" y="795"/>
                        <a:pt x="1348" y="828"/>
                        <a:pt x="1388" y="828"/>
                      </a:cubicBezTo>
                      <a:cubicBezTo>
                        <a:pt x="1429" y="828"/>
                        <a:pt x="1462" y="795"/>
                        <a:pt x="1462" y="755"/>
                      </a:cubicBezTo>
                      <a:cubicBezTo>
                        <a:pt x="1462" y="714"/>
                        <a:pt x="1429" y="681"/>
                        <a:pt x="1388" y="681"/>
                      </a:cubicBezTo>
                      <a:close/>
                      <a:moveTo>
                        <a:pt x="1706" y="637"/>
                      </a:moveTo>
                      <a:cubicBezTo>
                        <a:pt x="1694" y="637"/>
                        <a:pt x="1684" y="647"/>
                        <a:pt x="1684" y="659"/>
                      </a:cubicBezTo>
                      <a:cubicBezTo>
                        <a:pt x="1684" y="850"/>
                        <a:pt x="1684" y="850"/>
                        <a:pt x="1684" y="850"/>
                      </a:cubicBezTo>
                      <a:cubicBezTo>
                        <a:pt x="1684" y="863"/>
                        <a:pt x="1694" y="872"/>
                        <a:pt x="1706" y="872"/>
                      </a:cubicBezTo>
                      <a:cubicBezTo>
                        <a:pt x="1718" y="872"/>
                        <a:pt x="1728" y="863"/>
                        <a:pt x="1728" y="850"/>
                      </a:cubicBezTo>
                      <a:cubicBezTo>
                        <a:pt x="1728" y="659"/>
                        <a:pt x="1728" y="659"/>
                        <a:pt x="1728" y="659"/>
                      </a:cubicBezTo>
                      <a:cubicBezTo>
                        <a:pt x="1728" y="647"/>
                        <a:pt x="1718" y="637"/>
                        <a:pt x="1706" y="637"/>
                      </a:cubicBezTo>
                      <a:close/>
                      <a:moveTo>
                        <a:pt x="118" y="956"/>
                      </a:moveTo>
                      <a:cubicBezTo>
                        <a:pt x="106" y="956"/>
                        <a:pt x="96" y="965"/>
                        <a:pt x="96" y="978"/>
                      </a:cubicBezTo>
                      <a:cubicBezTo>
                        <a:pt x="96" y="1169"/>
                        <a:pt x="96" y="1169"/>
                        <a:pt x="96" y="1169"/>
                      </a:cubicBezTo>
                      <a:cubicBezTo>
                        <a:pt x="96" y="1181"/>
                        <a:pt x="106" y="1191"/>
                        <a:pt x="118" y="1191"/>
                      </a:cubicBezTo>
                      <a:cubicBezTo>
                        <a:pt x="130" y="1191"/>
                        <a:pt x="140" y="1181"/>
                        <a:pt x="140" y="1169"/>
                      </a:cubicBezTo>
                      <a:cubicBezTo>
                        <a:pt x="140" y="978"/>
                        <a:pt x="140" y="978"/>
                        <a:pt x="140" y="978"/>
                      </a:cubicBezTo>
                      <a:cubicBezTo>
                        <a:pt x="140" y="965"/>
                        <a:pt x="130" y="956"/>
                        <a:pt x="118" y="956"/>
                      </a:cubicBezTo>
                      <a:close/>
                      <a:moveTo>
                        <a:pt x="436" y="1191"/>
                      </a:moveTo>
                      <a:cubicBezTo>
                        <a:pt x="371" y="1191"/>
                        <a:pt x="318" y="1138"/>
                        <a:pt x="318" y="1073"/>
                      </a:cubicBezTo>
                      <a:cubicBezTo>
                        <a:pt x="318" y="1008"/>
                        <a:pt x="371" y="956"/>
                        <a:pt x="436" y="956"/>
                      </a:cubicBezTo>
                      <a:cubicBezTo>
                        <a:pt x="501" y="956"/>
                        <a:pt x="553" y="1008"/>
                        <a:pt x="553" y="1073"/>
                      </a:cubicBezTo>
                      <a:cubicBezTo>
                        <a:pt x="553" y="1138"/>
                        <a:pt x="501" y="1191"/>
                        <a:pt x="436" y="1191"/>
                      </a:cubicBezTo>
                      <a:close/>
                      <a:moveTo>
                        <a:pt x="436" y="1000"/>
                      </a:moveTo>
                      <a:cubicBezTo>
                        <a:pt x="395" y="1000"/>
                        <a:pt x="362" y="1033"/>
                        <a:pt x="362" y="1073"/>
                      </a:cubicBezTo>
                      <a:cubicBezTo>
                        <a:pt x="362" y="1114"/>
                        <a:pt x="395" y="1147"/>
                        <a:pt x="436" y="1147"/>
                      </a:cubicBezTo>
                      <a:cubicBezTo>
                        <a:pt x="476" y="1147"/>
                        <a:pt x="509" y="1114"/>
                        <a:pt x="509" y="1073"/>
                      </a:cubicBezTo>
                      <a:cubicBezTo>
                        <a:pt x="509" y="1033"/>
                        <a:pt x="476" y="1000"/>
                        <a:pt x="436" y="1000"/>
                      </a:cubicBezTo>
                      <a:close/>
                      <a:moveTo>
                        <a:pt x="753" y="956"/>
                      </a:moveTo>
                      <a:cubicBezTo>
                        <a:pt x="741" y="956"/>
                        <a:pt x="731" y="965"/>
                        <a:pt x="731" y="978"/>
                      </a:cubicBezTo>
                      <a:cubicBezTo>
                        <a:pt x="731" y="1169"/>
                        <a:pt x="731" y="1169"/>
                        <a:pt x="731" y="1169"/>
                      </a:cubicBezTo>
                      <a:cubicBezTo>
                        <a:pt x="731" y="1181"/>
                        <a:pt x="741" y="1191"/>
                        <a:pt x="753" y="1191"/>
                      </a:cubicBezTo>
                      <a:cubicBezTo>
                        <a:pt x="765" y="1191"/>
                        <a:pt x="775" y="1181"/>
                        <a:pt x="775" y="1169"/>
                      </a:cubicBezTo>
                      <a:cubicBezTo>
                        <a:pt x="775" y="978"/>
                        <a:pt x="775" y="978"/>
                        <a:pt x="775" y="978"/>
                      </a:cubicBezTo>
                      <a:cubicBezTo>
                        <a:pt x="775" y="965"/>
                        <a:pt x="765" y="956"/>
                        <a:pt x="753" y="956"/>
                      </a:cubicBezTo>
                      <a:close/>
                      <a:moveTo>
                        <a:pt x="1071" y="956"/>
                      </a:moveTo>
                      <a:cubicBezTo>
                        <a:pt x="1059" y="956"/>
                        <a:pt x="1049" y="965"/>
                        <a:pt x="1049" y="978"/>
                      </a:cubicBezTo>
                      <a:cubicBezTo>
                        <a:pt x="1049" y="1169"/>
                        <a:pt x="1049" y="1169"/>
                        <a:pt x="1049" y="1169"/>
                      </a:cubicBezTo>
                      <a:cubicBezTo>
                        <a:pt x="1049" y="1181"/>
                        <a:pt x="1059" y="1191"/>
                        <a:pt x="1071" y="1191"/>
                      </a:cubicBezTo>
                      <a:cubicBezTo>
                        <a:pt x="1083" y="1191"/>
                        <a:pt x="1093" y="1181"/>
                        <a:pt x="1093" y="1169"/>
                      </a:cubicBezTo>
                      <a:cubicBezTo>
                        <a:pt x="1093" y="978"/>
                        <a:pt x="1093" y="978"/>
                        <a:pt x="1093" y="978"/>
                      </a:cubicBezTo>
                      <a:cubicBezTo>
                        <a:pt x="1093" y="965"/>
                        <a:pt x="1083" y="956"/>
                        <a:pt x="1071" y="956"/>
                      </a:cubicBezTo>
                      <a:close/>
                      <a:moveTo>
                        <a:pt x="1388" y="1191"/>
                      </a:moveTo>
                      <a:cubicBezTo>
                        <a:pt x="1323" y="1191"/>
                        <a:pt x="1271" y="1138"/>
                        <a:pt x="1271" y="1073"/>
                      </a:cubicBezTo>
                      <a:cubicBezTo>
                        <a:pt x="1271" y="1008"/>
                        <a:pt x="1323" y="956"/>
                        <a:pt x="1388" y="956"/>
                      </a:cubicBezTo>
                      <a:cubicBezTo>
                        <a:pt x="1453" y="956"/>
                        <a:pt x="1506" y="1008"/>
                        <a:pt x="1506" y="1073"/>
                      </a:cubicBezTo>
                      <a:cubicBezTo>
                        <a:pt x="1506" y="1138"/>
                        <a:pt x="1453" y="1191"/>
                        <a:pt x="1388" y="1191"/>
                      </a:cubicBezTo>
                      <a:close/>
                      <a:moveTo>
                        <a:pt x="1388" y="1000"/>
                      </a:moveTo>
                      <a:cubicBezTo>
                        <a:pt x="1348" y="1000"/>
                        <a:pt x="1315" y="1033"/>
                        <a:pt x="1315" y="1073"/>
                      </a:cubicBezTo>
                      <a:cubicBezTo>
                        <a:pt x="1315" y="1114"/>
                        <a:pt x="1348" y="1147"/>
                        <a:pt x="1388" y="1147"/>
                      </a:cubicBezTo>
                      <a:cubicBezTo>
                        <a:pt x="1429" y="1147"/>
                        <a:pt x="1462" y="1114"/>
                        <a:pt x="1462" y="1073"/>
                      </a:cubicBezTo>
                      <a:cubicBezTo>
                        <a:pt x="1462" y="1033"/>
                        <a:pt x="1429" y="1000"/>
                        <a:pt x="1388" y="1000"/>
                      </a:cubicBezTo>
                      <a:close/>
                      <a:moveTo>
                        <a:pt x="1706" y="956"/>
                      </a:moveTo>
                      <a:cubicBezTo>
                        <a:pt x="1694" y="956"/>
                        <a:pt x="1684" y="965"/>
                        <a:pt x="1684" y="978"/>
                      </a:cubicBezTo>
                      <a:cubicBezTo>
                        <a:pt x="1684" y="1169"/>
                        <a:pt x="1684" y="1169"/>
                        <a:pt x="1684" y="1169"/>
                      </a:cubicBezTo>
                      <a:cubicBezTo>
                        <a:pt x="1684" y="1181"/>
                        <a:pt x="1694" y="1191"/>
                        <a:pt x="1706" y="1191"/>
                      </a:cubicBezTo>
                      <a:cubicBezTo>
                        <a:pt x="1718" y="1191"/>
                        <a:pt x="1728" y="1181"/>
                        <a:pt x="1728" y="1169"/>
                      </a:cubicBezTo>
                      <a:cubicBezTo>
                        <a:pt x="1728" y="978"/>
                        <a:pt x="1728" y="978"/>
                        <a:pt x="1728" y="978"/>
                      </a:cubicBezTo>
                      <a:cubicBezTo>
                        <a:pt x="1728" y="965"/>
                        <a:pt x="1718" y="956"/>
                        <a:pt x="1706" y="956"/>
                      </a:cubicBezTo>
                      <a:close/>
                      <a:moveTo>
                        <a:pt x="118" y="1509"/>
                      </a:moveTo>
                      <a:cubicBezTo>
                        <a:pt x="53" y="1509"/>
                        <a:pt x="0" y="1457"/>
                        <a:pt x="0" y="1392"/>
                      </a:cubicBezTo>
                      <a:cubicBezTo>
                        <a:pt x="0" y="1327"/>
                        <a:pt x="53" y="1274"/>
                        <a:pt x="118" y="1274"/>
                      </a:cubicBezTo>
                      <a:cubicBezTo>
                        <a:pt x="183" y="1274"/>
                        <a:pt x="236" y="1327"/>
                        <a:pt x="236" y="1392"/>
                      </a:cubicBezTo>
                      <a:cubicBezTo>
                        <a:pt x="236" y="1457"/>
                        <a:pt x="183" y="1509"/>
                        <a:pt x="118" y="1509"/>
                      </a:cubicBezTo>
                      <a:close/>
                      <a:moveTo>
                        <a:pt x="118" y="1318"/>
                      </a:moveTo>
                      <a:cubicBezTo>
                        <a:pt x="77" y="1318"/>
                        <a:pt x="44" y="1351"/>
                        <a:pt x="44" y="1392"/>
                      </a:cubicBezTo>
                      <a:cubicBezTo>
                        <a:pt x="44" y="1432"/>
                        <a:pt x="77" y="1465"/>
                        <a:pt x="118" y="1465"/>
                      </a:cubicBezTo>
                      <a:cubicBezTo>
                        <a:pt x="159" y="1465"/>
                        <a:pt x="192" y="1432"/>
                        <a:pt x="192" y="1392"/>
                      </a:cubicBezTo>
                      <a:cubicBezTo>
                        <a:pt x="192" y="1351"/>
                        <a:pt x="159" y="1318"/>
                        <a:pt x="118" y="1318"/>
                      </a:cubicBezTo>
                      <a:close/>
                      <a:moveTo>
                        <a:pt x="436" y="1274"/>
                      </a:moveTo>
                      <a:cubicBezTo>
                        <a:pt x="424" y="1274"/>
                        <a:pt x="414" y="1284"/>
                        <a:pt x="414" y="1296"/>
                      </a:cubicBezTo>
                      <a:cubicBezTo>
                        <a:pt x="414" y="1487"/>
                        <a:pt x="414" y="1487"/>
                        <a:pt x="414" y="1487"/>
                      </a:cubicBezTo>
                      <a:cubicBezTo>
                        <a:pt x="414" y="1500"/>
                        <a:pt x="424" y="1509"/>
                        <a:pt x="436" y="1509"/>
                      </a:cubicBezTo>
                      <a:cubicBezTo>
                        <a:pt x="448" y="1509"/>
                        <a:pt x="458" y="1500"/>
                        <a:pt x="458" y="1487"/>
                      </a:cubicBezTo>
                      <a:cubicBezTo>
                        <a:pt x="458" y="1296"/>
                        <a:pt x="458" y="1296"/>
                        <a:pt x="458" y="1296"/>
                      </a:cubicBezTo>
                      <a:cubicBezTo>
                        <a:pt x="458" y="1284"/>
                        <a:pt x="448" y="1274"/>
                        <a:pt x="436" y="1274"/>
                      </a:cubicBezTo>
                      <a:close/>
                      <a:moveTo>
                        <a:pt x="753" y="1509"/>
                      </a:moveTo>
                      <a:cubicBezTo>
                        <a:pt x="688" y="1509"/>
                        <a:pt x="636" y="1457"/>
                        <a:pt x="636" y="1392"/>
                      </a:cubicBezTo>
                      <a:cubicBezTo>
                        <a:pt x="636" y="1327"/>
                        <a:pt x="688" y="1274"/>
                        <a:pt x="753" y="1274"/>
                      </a:cubicBezTo>
                      <a:cubicBezTo>
                        <a:pt x="818" y="1274"/>
                        <a:pt x="871" y="1327"/>
                        <a:pt x="871" y="1392"/>
                      </a:cubicBezTo>
                      <a:cubicBezTo>
                        <a:pt x="871" y="1457"/>
                        <a:pt x="818" y="1509"/>
                        <a:pt x="753" y="1509"/>
                      </a:cubicBezTo>
                      <a:close/>
                      <a:moveTo>
                        <a:pt x="753" y="1318"/>
                      </a:moveTo>
                      <a:cubicBezTo>
                        <a:pt x="713" y="1318"/>
                        <a:pt x="680" y="1351"/>
                        <a:pt x="680" y="1392"/>
                      </a:cubicBezTo>
                      <a:cubicBezTo>
                        <a:pt x="680" y="1432"/>
                        <a:pt x="713" y="1465"/>
                        <a:pt x="753" y="1465"/>
                      </a:cubicBezTo>
                      <a:cubicBezTo>
                        <a:pt x="794" y="1465"/>
                        <a:pt x="827" y="1432"/>
                        <a:pt x="827" y="1392"/>
                      </a:cubicBezTo>
                      <a:cubicBezTo>
                        <a:pt x="827" y="1351"/>
                        <a:pt x="794" y="1318"/>
                        <a:pt x="753" y="1318"/>
                      </a:cubicBezTo>
                      <a:close/>
                      <a:moveTo>
                        <a:pt x="1706" y="1509"/>
                      </a:moveTo>
                      <a:cubicBezTo>
                        <a:pt x="1641" y="1509"/>
                        <a:pt x="1588" y="1457"/>
                        <a:pt x="1588" y="1392"/>
                      </a:cubicBezTo>
                      <a:cubicBezTo>
                        <a:pt x="1588" y="1327"/>
                        <a:pt x="1641" y="1274"/>
                        <a:pt x="1706" y="1274"/>
                      </a:cubicBezTo>
                      <a:cubicBezTo>
                        <a:pt x="1771" y="1274"/>
                        <a:pt x="1824" y="1327"/>
                        <a:pt x="1824" y="1392"/>
                      </a:cubicBezTo>
                      <a:cubicBezTo>
                        <a:pt x="1824" y="1457"/>
                        <a:pt x="1771" y="1509"/>
                        <a:pt x="1706" y="1509"/>
                      </a:cubicBezTo>
                      <a:close/>
                      <a:moveTo>
                        <a:pt x="1706" y="1318"/>
                      </a:moveTo>
                      <a:cubicBezTo>
                        <a:pt x="1665" y="1318"/>
                        <a:pt x="1632" y="1351"/>
                        <a:pt x="1632" y="1392"/>
                      </a:cubicBezTo>
                      <a:cubicBezTo>
                        <a:pt x="1632" y="1432"/>
                        <a:pt x="1665" y="1465"/>
                        <a:pt x="1706" y="1465"/>
                      </a:cubicBezTo>
                      <a:cubicBezTo>
                        <a:pt x="1747" y="1465"/>
                        <a:pt x="1780" y="1432"/>
                        <a:pt x="1780" y="1392"/>
                      </a:cubicBezTo>
                      <a:cubicBezTo>
                        <a:pt x="1780" y="1351"/>
                        <a:pt x="1747" y="1318"/>
                        <a:pt x="1706" y="1318"/>
                      </a:cubicBezTo>
                      <a:close/>
                      <a:moveTo>
                        <a:pt x="118" y="1828"/>
                      </a:moveTo>
                      <a:cubicBezTo>
                        <a:pt x="53" y="1828"/>
                        <a:pt x="0" y="1775"/>
                        <a:pt x="0" y="1710"/>
                      </a:cubicBezTo>
                      <a:cubicBezTo>
                        <a:pt x="0" y="1645"/>
                        <a:pt x="53" y="1593"/>
                        <a:pt x="118" y="1593"/>
                      </a:cubicBezTo>
                      <a:cubicBezTo>
                        <a:pt x="183" y="1593"/>
                        <a:pt x="236" y="1645"/>
                        <a:pt x="236" y="1710"/>
                      </a:cubicBezTo>
                      <a:cubicBezTo>
                        <a:pt x="236" y="1775"/>
                        <a:pt x="183" y="1828"/>
                        <a:pt x="118" y="1828"/>
                      </a:cubicBezTo>
                      <a:close/>
                      <a:moveTo>
                        <a:pt x="118" y="1637"/>
                      </a:moveTo>
                      <a:cubicBezTo>
                        <a:pt x="77" y="1637"/>
                        <a:pt x="44" y="1670"/>
                        <a:pt x="44" y="1710"/>
                      </a:cubicBezTo>
                      <a:cubicBezTo>
                        <a:pt x="44" y="1751"/>
                        <a:pt x="77" y="1784"/>
                        <a:pt x="118" y="1784"/>
                      </a:cubicBezTo>
                      <a:cubicBezTo>
                        <a:pt x="159" y="1784"/>
                        <a:pt x="192" y="1751"/>
                        <a:pt x="192" y="1710"/>
                      </a:cubicBezTo>
                      <a:cubicBezTo>
                        <a:pt x="192" y="1670"/>
                        <a:pt x="159" y="1637"/>
                        <a:pt x="118" y="1637"/>
                      </a:cubicBezTo>
                      <a:close/>
                      <a:moveTo>
                        <a:pt x="436" y="1593"/>
                      </a:moveTo>
                      <a:cubicBezTo>
                        <a:pt x="424" y="1593"/>
                        <a:pt x="414" y="1603"/>
                        <a:pt x="414" y="1615"/>
                      </a:cubicBezTo>
                      <a:cubicBezTo>
                        <a:pt x="414" y="1806"/>
                        <a:pt x="414" y="1806"/>
                        <a:pt x="414" y="1806"/>
                      </a:cubicBezTo>
                      <a:cubicBezTo>
                        <a:pt x="414" y="1818"/>
                        <a:pt x="424" y="1828"/>
                        <a:pt x="436" y="1828"/>
                      </a:cubicBezTo>
                      <a:cubicBezTo>
                        <a:pt x="448" y="1828"/>
                        <a:pt x="458" y="1818"/>
                        <a:pt x="458" y="1806"/>
                      </a:cubicBezTo>
                      <a:cubicBezTo>
                        <a:pt x="458" y="1615"/>
                        <a:pt x="458" y="1615"/>
                        <a:pt x="458" y="1615"/>
                      </a:cubicBezTo>
                      <a:cubicBezTo>
                        <a:pt x="458" y="1603"/>
                        <a:pt x="448" y="1593"/>
                        <a:pt x="436" y="1593"/>
                      </a:cubicBezTo>
                      <a:close/>
                      <a:moveTo>
                        <a:pt x="753" y="1828"/>
                      </a:moveTo>
                      <a:cubicBezTo>
                        <a:pt x="688" y="1828"/>
                        <a:pt x="636" y="1775"/>
                        <a:pt x="636" y="1710"/>
                      </a:cubicBezTo>
                      <a:cubicBezTo>
                        <a:pt x="636" y="1645"/>
                        <a:pt x="688" y="1593"/>
                        <a:pt x="753" y="1593"/>
                      </a:cubicBezTo>
                      <a:cubicBezTo>
                        <a:pt x="818" y="1593"/>
                        <a:pt x="871" y="1645"/>
                        <a:pt x="871" y="1710"/>
                      </a:cubicBezTo>
                      <a:cubicBezTo>
                        <a:pt x="871" y="1775"/>
                        <a:pt x="818" y="1828"/>
                        <a:pt x="753" y="1828"/>
                      </a:cubicBezTo>
                      <a:close/>
                      <a:moveTo>
                        <a:pt x="753" y="1637"/>
                      </a:moveTo>
                      <a:cubicBezTo>
                        <a:pt x="713" y="1637"/>
                        <a:pt x="680" y="1670"/>
                        <a:pt x="680" y="1710"/>
                      </a:cubicBezTo>
                      <a:cubicBezTo>
                        <a:pt x="680" y="1751"/>
                        <a:pt x="713" y="1784"/>
                        <a:pt x="753" y="1784"/>
                      </a:cubicBezTo>
                      <a:cubicBezTo>
                        <a:pt x="794" y="1784"/>
                        <a:pt x="827" y="1751"/>
                        <a:pt x="827" y="1710"/>
                      </a:cubicBezTo>
                      <a:cubicBezTo>
                        <a:pt x="827" y="1670"/>
                        <a:pt x="794" y="1637"/>
                        <a:pt x="753" y="1637"/>
                      </a:cubicBezTo>
                      <a:close/>
                      <a:moveTo>
                        <a:pt x="1706" y="1828"/>
                      </a:moveTo>
                      <a:cubicBezTo>
                        <a:pt x="1641" y="1828"/>
                        <a:pt x="1588" y="1775"/>
                        <a:pt x="1588" y="1710"/>
                      </a:cubicBezTo>
                      <a:cubicBezTo>
                        <a:pt x="1588" y="1645"/>
                        <a:pt x="1641" y="1593"/>
                        <a:pt x="1706" y="1593"/>
                      </a:cubicBezTo>
                      <a:cubicBezTo>
                        <a:pt x="1771" y="1593"/>
                        <a:pt x="1824" y="1645"/>
                        <a:pt x="1824" y="1710"/>
                      </a:cubicBezTo>
                      <a:cubicBezTo>
                        <a:pt x="1824" y="1775"/>
                        <a:pt x="1771" y="1828"/>
                        <a:pt x="1706" y="1828"/>
                      </a:cubicBezTo>
                      <a:close/>
                      <a:moveTo>
                        <a:pt x="1706" y="1637"/>
                      </a:moveTo>
                      <a:cubicBezTo>
                        <a:pt x="1665" y="1637"/>
                        <a:pt x="1632" y="1670"/>
                        <a:pt x="1632" y="1710"/>
                      </a:cubicBezTo>
                      <a:cubicBezTo>
                        <a:pt x="1632" y="1751"/>
                        <a:pt x="1665" y="1784"/>
                        <a:pt x="1706" y="1784"/>
                      </a:cubicBezTo>
                      <a:cubicBezTo>
                        <a:pt x="1747" y="1784"/>
                        <a:pt x="1780" y="1751"/>
                        <a:pt x="1780" y="1710"/>
                      </a:cubicBezTo>
                      <a:cubicBezTo>
                        <a:pt x="1780" y="1670"/>
                        <a:pt x="1747" y="1637"/>
                        <a:pt x="1706" y="163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107" name="Freeform 36">
                  <a:extLst>
                    <a:ext uri="{FF2B5EF4-FFF2-40B4-BE49-F238E27FC236}">
                      <a16:creationId xmlns:a16="http://schemas.microsoft.com/office/drawing/2014/main" id="{E3178BC7-D441-C1F9-2D60-577DA67AFDF9}"/>
                    </a:ext>
                  </a:extLst>
                </p:cNvPr>
                <p:cNvSpPr>
                  <a:spLocks noEditPoints="1"/>
                </p:cNvSpPr>
                <p:nvPr/>
              </p:nvSpPr>
              <p:spPr bwMode="auto">
                <a:xfrm>
                  <a:off x="5666231" y="2983230"/>
                  <a:ext cx="854583" cy="1092327"/>
                </a:xfrm>
                <a:custGeom>
                  <a:avLst/>
                  <a:gdLst>
                    <a:gd name="T0" fmla="*/ 511 w 1197"/>
                    <a:gd name="T1" fmla="*/ 220 h 1529"/>
                    <a:gd name="T2" fmla="*/ 473 w 1197"/>
                    <a:gd name="T3" fmla="*/ 132 h 1529"/>
                    <a:gd name="T4" fmla="*/ 388 w 1197"/>
                    <a:gd name="T5" fmla="*/ 18 h 1529"/>
                    <a:gd name="T6" fmla="*/ 259 w 1197"/>
                    <a:gd name="T7" fmla="*/ 31 h 1529"/>
                    <a:gd name="T8" fmla="*/ 168 w 1197"/>
                    <a:gd name="T9" fmla="*/ 17 h 1529"/>
                    <a:gd name="T10" fmla="*/ 117 w 1197"/>
                    <a:gd name="T11" fmla="*/ 94 h 1529"/>
                    <a:gd name="T12" fmla="*/ 19 w 1197"/>
                    <a:gd name="T13" fmla="*/ 179 h 1529"/>
                    <a:gd name="T14" fmla="*/ 42 w 1197"/>
                    <a:gd name="T15" fmla="*/ 320 h 1529"/>
                    <a:gd name="T16" fmla="*/ 80 w 1197"/>
                    <a:gd name="T17" fmla="*/ 409 h 1529"/>
                    <a:gd name="T18" fmla="*/ 160 w 1197"/>
                    <a:gd name="T19" fmla="*/ 524 h 1529"/>
                    <a:gd name="T20" fmla="*/ 298 w 1197"/>
                    <a:gd name="T21" fmla="*/ 513 h 1529"/>
                    <a:gd name="T22" fmla="*/ 386 w 1197"/>
                    <a:gd name="T23" fmla="*/ 528 h 1529"/>
                    <a:gd name="T24" fmla="*/ 436 w 1197"/>
                    <a:gd name="T25" fmla="*/ 453 h 1529"/>
                    <a:gd name="T26" fmla="*/ 538 w 1197"/>
                    <a:gd name="T27" fmla="*/ 359 h 1529"/>
                    <a:gd name="T28" fmla="*/ 325 w 1197"/>
                    <a:gd name="T29" fmla="*/ 384 h 1529"/>
                    <a:gd name="T30" fmla="*/ 229 w 1197"/>
                    <a:gd name="T31" fmla="*/ 161 h 1529"/>
                    <a:gd name="T32" fmla="*/ 325 w 1197"/>
                    <a:gd name="T33" fmla="*/ 384 h 1529"/>
                    <a:gd name="T34" fmla="*/ 1154 w 1197"/>
                    <a:gd name="T35" fmla="*/ 1204 h 1529"/>
                    <a:gd name="T36" fmla="*/ 1116 w 1197"/>
                    <a:gd name="T37" fmla="*/ 1116 h 1529"/>
                    <a:gd name="T38" fmla="*/ 1031 w 1197"/>
                    <a:gd name="T39" fmla="*/ 1003 h 1529"/>
                    <a:gd name="T40" fmla="*/ 902 w 1197"/>
                    <a:gd name="T41" fmla="*/ 1015 h 1529"/>
                    <a:gd name="T42" fmla="*/ 811 w 1197"/>
                    <a:gd name="T43" fmla="*/ 1001 h 1529"/>
                    <a:gd name="T44" fmla="*/ 760 w 1197"/>
                    <a:gd name="T45" fmla="*/ 1078 h 1529"/>
                    <a:gd name="T46" fmla="*/ 662 w 1197"/>
                    <a:gd name="T47" fmla="*/ 1164 h 1529"/>
                    <a:gd name="T48" fmla="*/ 685 w 1197"/>
                    <a:gd name="T49" fmla="*/ 1305 h 1529"/>
                    <a:gd name="T50" fmla="*/ 723 w 1197"/>
                    <a:gd name="T51" fmla="*/ 1393 h 1529"/>
                    <a:gd name="T52" fmla="*/ 803 w 1197"/>
                    <a:gd name="T53" fmla="*/ 1508 h 1529"/>
                    <a:gd name="T54" fmla="*/ 941 w 1197"/>
                    <a:gd name="T55" fmla="*/ 1498 h 1529"/>
                    <a:gd name="T56" fmla="*/ 1029 w 1197"/>
                    <a:gd name="T57" fmla="*/ 1512 h 1529"/>
                    <a:gd name="T58" fmla="*/ 1079 w 1197"/>
                    <a:gd name="T59" fmla="*/ 1438 h 1529"/>
                    <a:gd name="T60" fmla="*/ 1181 w 1197"/>
                    <a:gd name="T61" fmla="*/ 1343 h 1529"/>
                    <a:gd name="T62" fmla="*/ 968 w 1197"/>
                    <a:gd name="T63" fmla="*/ 1368 h 1529"/>
                    <a:gd name="T64" fmla="*/ 872 w 1197"/>
                    <a:gd name="T65" fmla="*/ 1145 h 1529"/>
                    <a:gd name="T66" fmla="*/ 968 w 1197"/>
                    <a:gd name="T67" fmla="*/ 1368 h 1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97" h="1529">
                      <a:moveTo>
                        <a:pt x="550" y="244"/>
                      </a:moveTo>
                      <a:cubicBezTo>
                        <a:pt x="511" y="220"/>
                        <a:pt x="511" y="220"/>
                        <a:pt x="511" y="220"/>
                      </a:cubicBezTo>
                      <a:cubicBezTo>
                        <a:pt x="508" y="205"/>
                        <a:pt x="503" y="191"/>
                        <a:pt x="497" y="176"/>
                      </a:cubicBezTo>
                      <a:cubicBezTo>
                        <a:pt x="491" y="161"/>
                        <a:pt x="482" y="146"/>
                        <a:pt x="473" y="132"/>
                      </a:cubicBezTo>
                      <a:cubicBezTo>
                        <a:pt x="482" y="87"/>
                        <a:pt x="482" y="87"/>
                        <a:pt x="482" y="87"/>
                      </a:cubicBezTo>
                      <a:cubicBezTo>
                        <a:pt x="456" y="58"/>
                        <a:pt x="423" y="34"/>
                        <a:pt x="388" y="18"/>
                      </a:cubicBezTo>
                      <a:cubicBezTo>
                        <a:pt x="348" y="41"/>
                        <a:pt x="348" y="41"/>
                        <a:pt x="348" y="41"/>
                      </a:cubicBezTo>
                      <a:cubicBezTo>
                        <a:pt x="319" y="32"/>
                        <a:pt x="289" y="29"/>
                        <a:pt x="259" y="31"/>
                      </a:cubicBezTo>
                      <a:cubicBezTo>
                        <a:pt x="225" y="0"/>
                        <a:pt x="225" y="0"/>
                        <a:pt x="225" y="0"/>
                      </a:cubicBezTo>
                      <a:cubicBezTo>
                        <a:pt x="206" y="4"/>
                        <a:pt x="187" y="9"/>
                        <a:pt x="168" y="17"/>
                      </a:cubicBezTo>
                      <a:cubicBezTo>
                        <a:pt x="150" y="25"/>
                        <a:pt x="132" y="35"/>
                        <a:pt x="117" y="46"/>
                      </a:cubicBezTo>
                      <a:cubicBezTo>
                        <a:pt x="117" y="94"/>
                        <a:pt x="117" y="94"/>
                        <a:pt x="117" y="94"/>
                      </a:cubicBezTo>
                      <a:cubicBezTo>
                        <a:pt x="94" y="115"/>
                        <a:pt x="75" y="138"/>
                        <a:pt x="62" y="165"/>
                      </a:cubicBezTo>
                      <a:cubicBezTo>
                        <a:pt x="19" y="179"/>
                        <a:pt x="19" y="179"/>
                        <a:pt x="19" y="179"/>
                      </a:cubicBezTo>
                      <a:cubicBezTo>
                        <a:pt x="5" y="216"/>
                        <a:pt x="0" y="256"/>
                        <a:pt x="3" y="297"/>
                      </a:cubicBezTo>
                      <a:cubicBezTo>
                        <a:pt x="42" y="320"/>
                        <a:pt x="42" y="320"/>
                        <a:pt x="42" y="320"/>
                      </a:cubicBezTo>
                      <a:cubicBezTo>
                        <a:pt x="45" y="336"/>
                        <a:pt x="50" y="352"/>
                        <a:pt x="58" y="368"/>
                      </a:cubicBezTo>
                      <a:cubicBezTo>
                        <a:pt x="64" y="382"/>
                        <a:pt x="71" y="396"/>
                        <a:pt x="80" y="409"/>
                      </a:cubicBezTo>
                      <a:cubicBezTo>
                        <a:pt x="69" y="453"/>
                        <a:pt x="69" y="453"/>
                        <a:pt x="69" y="453"/>
                      </a:cubicBezTo>
                      <a:cubicBezTo>
                        <a:pt x="95" y="484"/>
                        <a:pt x="126" y="507"/>
                        <a:pt x="160" y="524"/>
                      </a:cubicBezTo>
                      <a:cubicBezTo>
                        <a:pt x="199" y="501"/>
                        <a:pt x="199" y="501"/>
                        <a:pt x="199" y="501"/>
                      </a:cubicBezTo>
                      <a:cubicBezTo>
                        <a:pt x="231" y="512"/>
                        <a:pt x="264" y="516"/>
                        <a:pt x="298" y="513"/>
                      </a:cubicBezTo>
                      <a:cubicBezTo>
                        <a:pt x="333" y="545"/>
                        <a:pt x="333" y="545"/>
                        <a:pt x="333" y="545"/>
                      </a:cubicBezTo>
                      <a:cubicBezTo>
                        <a:pt x="350" y="540"/>
                        <a:pt x="368" y="535"/>
                        <a:pt x="386" y="528"/>
                      </a:cubicBezTo>
                      <a:cubicBezTo>
                        <a:pt x="403" y="520"/>
                        <a:pt x="420" y="510"/>
                        <a:pt x="436" y="499"/>
                      </a:cubicBezTo>
                      <a:cubicBezTo>
                        <a:pt x="436" y="453"/>
                        <a:pt x="436" y="453"/>
                        <a:pt x="436" y="453"/>
                      </a:cubicBezTo>
                      <a:cubicBezTo>
                        <a:pt x="461" y="430"/>
                        <a:pt x="481" y="402"/>
                        <a:pt x="495" y="372"/>
                      </a:cubicBezTo>
                      <a:cubicBezTo>
                        <a:pt x="538" y="359"/>
                        <a:pt x="538" y="359"/>
                        <a:pt x="538" y="359"/>
                      </a:cubicBezTo>
                      <a:cubicBezTo>
                        <a:pt x="550" y="322"/>
                        <a:pt x="554" y="283"/>
                        <a:pt x="550" y="244"/>
                      </a:cubicBezTo>
                      <a:close/>
                      <a:moveTo>
                        <a:pt x="325" y="384"/>
                      </a:moveTo>
                      <a:cubicBezTo>
                        <a:pt x="264" y="411"/>
                        <a:pt x="193" y="382"/>
                        <a:pt x="167" y="320"/>
                      </a:cubicBezTo>
                      <a:cubicBezTo>
                        <a:pt x="140" y="258"/>
                        <a:pt x="168" y="187"/>
                        <a:pt x="229" y="161"/>
                      </a:cubicBezTo>
                      <a:cubicBezTo>
                        <a:pt x="290" y="134"/>
                        <a:pt x="361" y="163"/>
                        <a:pt x="387" y="224"/>
                      </a:cubicBezTo>
                      <a:cubicBezTo>
                        <a:pt x="414" y="285"/>
                        <a:pt x="386" y="358"/>
                        <a:pt x="325" y="384"/>
                      </a:cubicBezTo>
                      <a:close/>
                      <a:moveTo>
                        <a:pt x="1193" y="1228"/>
                      </a:moveTo>
                      <a:cubicBezTo>
                        <a:pt x="1154" y="1204"/>
                        <a:pt x="1154" y="1204"/>
                        <a:pt x="1154" y="1204"/>
                      </a:cubicBezTo>
                      <a:cubicBezTo>
                        <a:pt x="1151" y="1190"/>
                        <a:pt x="1146" y="1175"/>
                        <a:pt x="1140" y="1160"/>
                      </a:cubicBezTo>
                      <a:cubicBezTo>
                        <a:pt x="1134" y="1145"/>
                        <a:pt x="1125" y="1130"/>
                        <a:pt x="1116" y="1116"/>
                      </a:cubicBezTo>
                      <a:cubicBezTo>
                        <a:pt x="1125" y="1072"/>
                        <a:pt x="1125" y="1072"/>
                        <a:pt x="1125" y="1072"/>
                      </a:cubicBezTo>
                      <a:cubicBezTo>
                        <a:pt x="1099" y="1042"/>
                        <a:pt x="1066" y="1018"/>
                        <a:pt x="1031" y="1003"/>
                      </a:cubicBezTo>
                      <a:cubicBezTo>
                        <a:pt x="991" y="1026"/>
                        <a:pt x="991" y="1026"/>
                        <a:pt x="991" y="1026"/>
                      </a:cubicBezTo>
                      <a:cubicBezTo>
                        <a:pt x="962" y="1016"/>
                        <a:pt x="932" y="1013"/>
                        <a:pt x="902" y="1015"/>
                      </a:cubicBezTo>
                      <a:cubicBezTo>
                        <a:pt x="868" y="984"/>
                        <a:pt x="868" y="984"/>
                        <a:pt x="868" y="984"/>
                      </a:cubicBezTo>
                      <a:cubicBezTo>
                        <a:pt x="849" y="988"/>
                        <a:pt x="830" y="993"/>
                        <a:pt x="811" y="1001"/>
                      </a:cubicBezTo>
                      <a:cubicBezTo>
                        <a:pt x="793" y="1010"/>
                        <a:pt x="775" y="1019"/>
                        <a:pt x="760" y="1031"/>
                      </a:cubicBezTo>
                      <a:cubicBezTo>
                        <a:pt x="760" y="1078"/>
                        <a:pt x="760" y="1078"/>
                        <a:pt x="760" y="1078"/>
                      </a:cubicBezTo>
                      <a:cubicBezTo>
                        <a:pt x="737" y="1099"/>
                        <a:pt x="718" y="1123"/>
                        <a:pt x="705" y="1150"/>
                      </a:cubicBezTo>
                      <a:cubicBezTo>
                        <a:pt x="662" y="1164"/>
                        <a:pt x="662" y="1164"/>
                        <a:pt x="662" y="1164"/>
                      </a:cubicBezTo>
                      <a:cubicBezTo>
                        <a:pt x="648" y="1201"/>
                        <a:pt x="643" y="1240"/>
                        <a:pt x="646" y="1282"/>
                      </a:cubicBezTo>
                      <a:cubicBezTo>
                        <a:pt x="685" y="1305"/>
                        <a:pt x="685" y="1305"/>
                        <a:pt x="685" y="1305"/>
                      </a:cubicBezTo>
                      <a:cubicBezTo>
                        <a:pt x="688" y="1320"/>
                        <a:pt x="693" y="1337"/>
                        <a:pt x="701" y="1352"/>
                      </a:cubicBezTo>
                      <a:cubicBezTo>
                        <a:pt x="707" y="1367"/>
                        <a:pt x="714" y="1381"/>
                        <a:pt x="723" y="1393"/>
                      </a:cubicBezTo>
                      <a:cubicBezTo>
                        <a:pt x="712" y="1438"/>
                        <a:pt x="712" y="1438"/>
                        <a:pt x="712" y="1438"/>
                      </a:cubicBezTo>
                      <a:cubicBezTo>
                        <a:pt x="738" y="1468"/>
                        <a:pt x="769" y="1491"/>
                        <a:pt x="803" y="1508"/>
                      </a:cubicBezTo>
                      <a:cubicBezTo>
                        <a:pt x="842" y="1485"/>
                        <a:pt x="842" y="1485"/>
                        <a:pt x="842" y="1485"/>
                      </a:cubicBezTo>
                      <a:cubicBezTo>
                        <a:pt x="874" y="1496"/>
                        <a:pt x="907" y="1500"/>
                        <a:pt x="941" y="1498"/>
                      </a:cubicBezTo>
                      <a:cubicBezTo>
                        <a:pt x="976" y="1529"/>
                        <a:pt x="976" y="1529"/>
                        <a:pt x="976" y="1529"/>
                      </a:cubicBezTo>
                      <a:cubicBezTo>
                        <a:pt x="993" y="1525"/>
                        <a:pt x="1011" y="1519"/>
                        <a:pt x="1029" y="1512"/>
                      </a:cubicBezTo>
                      <a:cubicBezTo>
                        <a:pt x="1046" y="1504"/>
                        <a:pt x="1063" y="1494"/>
                        <a:pt x="1079" y="1484"/>
                      </a:cubicBezTo>
                      <a:cubicBezTo>
                        <a:pt x="1079" y="1438"/>
                        <a:pt x="1079" y="1438"/>
                        <a:pt x="1079" y="1438"/>
                      </a:cubicBezTo>
                      <a:cubicBezTo>
                        <a:pt x="1104" y="1415"/>
                        <a:pt x="1124" y="1387"/>
                        <a:pt x="1138" y="1356"/>
                      </a:cubicBezTo>
                      <a:cubicBezTo>
                        <a:pt x="1181" y="1343"/>
                        <a:pt x="1181" y="1343"/>
                        <a:pt x="1181" y="1343"/>
                      </a:cubicBezTo>
                      <a:cubicBezTo>
                        <a:pt x="1193" y="1307"/>
                        <a:pt x="1197" y="1267"/>
                        <a:pt x="1193" y="1228"/>
                      </a:cubicBezTo>
                      <a:close/>
                      <a:moveTo>
                        <a:pt x="968" y="1368"/>
                      </a:moveTo>
                      <a:cubicBezTo>
                        <a:pt x="907" y="1395"/>
                        <a:pt x="836" y="1366"/>
                        <a:pt x="810" y="1305"/>
                      </a:cubicBezTo>
                      <a:cubicBezTo>
                        <a:pt x="783" y="1243"/>
                        <a:pt x="811" y="1171"/>
                        <a:pt x="872" y="1145"/>
                      </a:cubicBezTo>
                      <a:cubicBezTo>
                        <a:pt x="933" y="1118"/>
                        <a:pt x="1004" y="1147"/>
                        <a:pt x="1030" y="1208"/>
                      </a:cubicBezTo>
                      <a:cubicBezTo>
                        <a:pt x="1057" y="1270"/>
                        <a:pt x="1029" y="1342"/>
                        <a:pt x="968" y="1368"/>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grpSp>
      </p:grpSp>
      <p:grpSp>
        <p:nvGrpSpPr>
          <p:cNvPr id="110" name="Group 109">
            <a:extLst>
              <a:ext uri="{FF2B5EF4-FFF2-40B4-BE49-F238E27FC236}">
                <a16:creationId xmlns:a16="http://schemas.microsoft.com/office/drawing/2014/main" id="{33E9E1EC-547F-AD7F-EC06-88CB7926B0AE}"/>
              </a:ext>
            </a:extLst>
          </p:cNvPr>
          <p:cNvGrpSpPr/>
          <p:nvPr/>
        </p:nvGrpSpPr>
        <p:grpSpPr>
          <a:xfrm>
            <a:off x="11371256" y="1447055"/>
            <a:ext cx="720000" cy="720000"/>
            <a:chOff x="9580163" y="1748712"/>
            <a:chExt cx="720000" cy="720000"/>
          </a:xfrm>
        </p:grpSpPr>
        <p:sp>
          <p:nvSpPr>
            <p:cNvPr id="111" name="Oval 110">
              <a:extLst>
                <a:ext uri="{FF2B5EF4-FFF2-40B4-BE49-F238E27FC236}">
                  <a16:creationId xmlns:a16="http://schemas.microsoft.com/office/drawing/2014/main" id="{AACFAA7E-0FB8-4B36-F765-4424A374275D}"/>
                </a:ext>
              </a:extLst>
            </p:cNvPr>
            <p:cNvSpPr/>
            <p:nvPr>
              <p:custDataLst>
                <p:tags r:id="rId11"/>
              </p:custDataLst>
            </p:nvPr>
          </p:nvSpPr>
          <p:spPr>
            <a:xfrm>
              <a:off x="9580163" y="1748712"/>
              <a:ext cx="720000" cy="720000"/>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lumMod val="50000"/>
                  </a:prstClr>
                </a:solidFill>
                <a:effectLst/>
                <a:uLnTx/>
                <a:uFillTx/>
                <a:latin typeface="Trebuchet MS"/>
                <a:ea typeface="+mn-ea"/>
                <a:cs typeface="+mn-cs"/>
              </a:endParaRPr>
            </a:p>
          </p:txBody>
        </p:sp>
        <p:grpSp>
          <p:nvGrpSpPr>
            <p:cNvPr id="112" name="bcgIcons_Target">
              <a:extLst>
                <a:ext uri="{FF2B5EF4-FFF2-40B4-BE49-F238E27FC236}">
                  <a16:creationId xmlns:a16="http://schemas.microsoft.com/office/drawing/2014/main" id="{914F5BD8-20F4-AA1C-4D07-DAEA76F3E480}"/>
                </a:ext>
              </a:extLst>
            </p:cNvPr>
            <p:cNvGrpSpPr>
              <a:grpSpLocks noChangeAspect="1"/>
            </p:cNvGrpSpPr>
            <p:nvPr/>
          </p:nvGrpSpPr>
          <p:grpSpPr bwMode="auto">
            <a:xfrm>
              <a:off x="9666038" y="1866237"/>
              <a:ext cx="553678" cy="554191"/>
              <a:chOff x="1682" y="0"/>
              <a:chExt cx="4316" cy="4320"/>
            </a:xfrm>
          </p:grpSpPr>
          <p:sp>
            <p:nvSpPr>
              <p:cNvPr id="113" name="AutoShape 23">
                <a:extLst>
                  <a:ext uri="{FF2B5EF4-FFF2-40B4-BE49-F238E27FC236}">
                    <a16:creationId xmlns:a16="http://schemas.microsoft.com/office/drawing/2014/main" id="{50933FC1-24AC-60CB-CA14-362BDD5029C2}"/>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114" name="Freeform 25">
                <a:extLst>
                  <a:ext uri="{FF2B5EF4-FFF2-40B4-BE49-F238E27FC236}">
                    <a16:creationId xmlns:a16="http://schemas.microsoft.com/office/drawing/2014/main" id="{CCC76F7B-5177-6B8A-0752-2606CBF0AA8C}"/>
                  </a:ext>
                </a:extLst>
              </p:cNvPr>
              <p:cNvSpPr>
                <a:spLocks noEditPoints="1"/>
              </p:cNvSpPr>
              <p:nvPr/>
            </p:nvSpPr>
            <p:spPr bwMode="auto">
              <a:xfrm>
                <a:off x="3782" y="838"/>
                <a:ext cx="1832" cy="1367"/>
              </a:xfrm>
              <a:custGeom>
                <a:avLst/>
                <a:gdLst>
                  <a:gd name="T0" fmla="*/ 25 w 978"/>
                  <a:gd name="T1" fmla="*/ 729 h 729"/>
                  <a:gd name="T2" fmla="*/ 7 w 978"/>
                  <a:gd name="T3" fmla="*/ 719 h 729"/>
                  <a:gd name="T4" fmla="*/ 13 w 978"/>
                  <a:gd name="T5" fmla="*/ 689 h 729"/>
                  <a:gd name="T6" fmla="*/ 888 w 978"/>
                  <a:gd name="T7" fmla="*/ 86 h 729"/>
                  <a:gd name="T8" fmla="*/ 919 w 978"/>
                  <a:gd name="T9" fmla="*/ 91 h 729"/>
                  <a:gd name="T10" fmla="*/ 913 w 978"/>
                  <a:gd name="T11" fmla="*/ 122 h 729"/>
                  <a:gd name="T12" fmla="*/ 38 w 978"/>
                  <a:gd name="T13" fmla="*/ 725 h 729"/>
                  <a:gd name="T14" fmla="*/ 25 w 978"/>
                  <a:gd name="T15" fmla="*/ 729 h 729"/>
                  <a:gd name="T16" fmla="*/ 578 w 978"/>
                  <a:gd name="T17" fmla="*/ 254 h 729"/>
                  <a:gd name="T18" fmla="*/ 586 w 978"/>
                  <a:gd name="T19" fmla="*/ 258 h 729"/>
                  <a:gd name="T20" fmla="*/ 825 w 978"/>
                  <a:gd name="T21" fmla="*/ 93 h 729"/>
                  <a:gd name="T22" fmla="*/ 826 w 978"/>
                  <a:gd name="T23" fmla="*/ 91 h 729"/>
                  <a:gd name="T24" fmla="*/ 849 w 978"/>
                  <a:gd name="T25" fmla="*/ 8 h 729"/>
                  <a:gd name="T26" fmla="*/ 841 w 978"/>
                  <a:gd name="T27" fmla="*/ 3 h 729"/>
                  <a:gd name="T28" fmla="*/ 602 w 978"/>
                  <a:gd name="T29" fmla="*/ 166 h 729"/>
                  <a:gd name="T30" fmla="*/ 599 w 978"/>
                  <a:gd name="T31" fmla="*/ 171 h 729"/>
                  <a:gd name="T32" fmla="*/ 578 w 978"/>
                  <a:gd name="T33" fmla="*/ 254 h 729"/>
                  <a:gd name="T34" fmla="*/ 646 w 978"/>
                  <a:gd name="T35" fmla="*/ 352 h 729"/>
                  <a:gd name="T36" fmla="*/ 730 w 978"/>
                  <a:gd name="T37" fmla="*/ 362 h 729"/>
                  <a:gd name="T38" fmla="*/ 736 w 978"/>
                  <a:gd name="T39" fmla="*/ 361 h 729"/>
                  <a:gd name="T40" fmla="*/ 974 w 978"/>
                  <a:gd name="T41" fmla="*/ 196 h 729"/>
                  <a:gd name="T42" fmla="*/ 972 w 978"/>
                  <a:gd name="T43" fmla="*/ 187 h 729"/>
                  <a:gd name="T44" fmla="*/ 886 w 978"/>
                  <a:gd name="T45" fmla="*/ 179 h 729"/>
                  <a:gd name="T46" fmla="*/ 884 w 978"/>
                  <a:gd name="T47" fmla="*/ 179 h 729"/>
                  <a:gd name="T48" fmla="*/ 644 w 978"/>
                  <a:gd name="T49" fmla="*/ 343 h 729"/>
                  <a:gd name="T50" fmla="*/ 646 w 978"/>
                  <a:gd name="T51" fmla="*/ 352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78" h="729">
                    <a:moveTo>
                      <a:pt x="25" y="729"/>
                    </a:moveTo>
                    <a:cubicBezTo>
                      <a:pt x="18" y="729"/>
                      <a:pt x="11" y="726"/>
                      <a:pt x="7" y="719"/>
                    </a:cubicBezTo>
                    <a:cubicBezTo>
                      <a:pt x="0" y="709"/>
                      <a:pt x="3" y="696"/>
                      <a:pt x="13" y="689"/>
                    </a:cubicBezTo>
                    <a:cubicBezTo>
                      <a:pt x="888" y="86"/>
                      <a:pt x="888" y="86"/>
                      <a:pt x="888" y="86"/>
                    </a:cubicBezTo>
                    <a:cubicBezTo>
                      <a:pt x="898" y="79"/>
                      <a:pt x="912" y="81"/>
                      <a:pt x="919" y="91"/>
                    </a:cubicBezTo>
                    <a:cubicBezTo>
                      <a:pt x="926" y="101"/>
                      <a:pt x="923" y="115"/>
                      <a:pt x="913" y="122"/>
                    </a:cubicBezTo>
                    <a:cubicBezTo>
                      <a:pt x="38" y="725"/>
                      <a:pt x="38" y="725"/>
                      <a:pt x="38" y="725"/>
                    </a:cubicBezTo>
                    <a:cubicBezTo>
                      <a:pt x="34" y="728"/>
                      <a:pt x="30" y="729"/>
                      <a:pt x="25" y="729"/>
                    </a:cubicBezTo>
                    <a:close/>
                    <a:moveTo>
                      <a:pt x="578" y="254"/>
                    </a:moveTo>
                    <a:cubicBezTo>
                      <a:pt x="577" y="258"/>
                      <a:pt x="582" y="259"/>
                      <a:pt x="586" y="258"/>
                    </a:cubicBezTo>
                    <a:cubicBezTo>
                      <a:pt x="586" y="258"/>
                      <a:pt x="586" y="258"/>
                      <a:pt x="825" y="93"/>
                    </a:cubicBezTo>
                    <a:cubicBezTo>
                      <a:pt x="826" y="93"/>
                      <a:pt x="826" y="93"/>
                      <a:pt x="826" y="91"/>
                    </a:cubicBezTo>
                    <a:cubicBezTo>
                      <a:pt x="826" y="91"/>
                      <a:pt x="826" y="91"/>
                      <a:pt x="849" y="8"/>
                    </a:cubicBezTo>
                    <a:cubicBezTo>
                      <a:pt x="850" y="3"/>
                      <a:pt x="845" y="0"/>
                      <a:pt x="841" y="3"/>
                    </a:cubicBezTo>
                    <a:cubicBezTo>
                      <a:pt x="841" y="3"/>
                      <a:pt x="841" y="3"/>
                      <a:pt x="602" y="166"/>
                    </a:cubicBezTo>
                    <a:cubicBezTo>
                      <a:pt x="601" y="168"/>
                      <a:pt x="601" y="168"/>
                      <a:pt x="599" y="171"/>
                    </a:cubicBezTo>
                    <a:cubicBezTo>
                      <a:pt x="599" y="171"/>
                      <a:pt x="599" y="171"/>
                      <a:pt x="578" y="254"/>
                    </a:cubicBezTo>
                    <a:close/>
                    <a:moveTo>
                      <a:pt x="646" y="352"/>
                    </a:moveTo>
                    <a:cubicBezTo>
                      <a:pt x="730" y="362"/>
                      <a:pt x="730" y="362"/>
                      <a:pt x="730" y="362"/>
                    </a:cubicBezTo>
                    <a:cubicBezTo>
                      <a:pt x="734" y="361"/>
                      <a:pt x="734" y="361"/>
                      <a:pt x="736" y="361"/>
                    </a:cubicBezTo>
                    <a:cubicBezTo>
                      <a:pt x="974" y="196"/>
                      <a:pt x="974" y="196"/>
                      <a:pt x="974" y="196"/>
                    </a:cubicBezTo>
                    <a:cubicBezTo>
                      <a:pt x="978" y="194"/>
                      <a:pt x="978" y="187"/>
                      <a:pt x="972" y="187"/>
                    </a:cubicBezTo>
                    <a:cubicBezTo>
                      <a:pt x="886" y="179"/>
                      <a:pt x="886" y="179"/>
                      <a:pt x="886" y="179"/>
                    </a:cubicBezTo>
                    <a:cubicBezTo>
                      <a:pt x="884" y="177"/>
                      <a:pt x="884" y="177"/>
                      <a:pt x="884" y="179"/>
                    </a:cubicBezTo>
                    <a:cubicBezTo>
                      <a:pt x="644" y="343"/>
                      <a:pt x="644" y="343"/>
                      <a:pt x="644" y="343"/>
                    </a:cubicBezTo>
                    <a:cubicBezTo>
                      <a:pt x="642" y="347"/>
                      <a:pt x="642" y="351"/>
                      <a:pt x="646" y="35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115" name="Freeform 26">
                <a:extLst>
                  <a:ext uri="{FF2B5EF4-FFF2-40B4-BE49-F238E27FC236}">
                    <a16:creationId xmlns:a16="http://schemas.microsoft.com/office/drawing/2014/main" id="{54FFF7B4-835F-D09C-7A78-558985D558C9}"/>
                  </a:ext>
                </a:extLst>
              </p:cNvPr>
              <p:cNvSpPr>
                <a:spLocks noEditPoints="1"/>
              </p:cNvSpPr>
              <p:nvPr/>
            </p:nvSpPr>
            <p:spPr bwMode="auto">
              <a:xfrm>
                <a:off x="2373" y="558"/>
                <a:ext cx="2814" cy="2816"/>
              </a:xfrm>
              <a:custGeom>
                <a:avLst/>
                <a:gdLst>
                  <a:gd name="T0" fmla="*/ 1016 w 1502"/>
                  <a:gd name="T1" fmla="*/ 662 h 1502"/>
                  <a:gd name="T2" fmla="*/ 1030 w 1502"/>
                  <a:gd name="T3" fmla="*/ 751 h 1502"/>
                  <a:gd name="T4" fmla="*/ 751 w 1502"/>
                  <a:gd name="T5" fmla="*/ 1030 h 1502"/>
                  <a:gd name="T6" fmla="*/ 472 w 1502"/>
                  <a:gd name="T7" fmla="*/ 751 h 1502"/>
                  <a:gd name="T8" fmla="*/ 751 w 1502"/>
                  <a:gd name="T9" fmla="*/ 472 h 1502"/>
                  <a:gd name="T10" fmla="*/ 929 w 1502"/>
                  <a:gd name="T11" fmla="*/ 536 h 1502"/>
                  <a:gd name="T12" fmla="*/ 819 w 1502"/>
                  <a:gd name="T13" fmla="*/ 611 h 1502"/>
                  <a:gd name="T14" fmla="*/ 751 w 1502"/>
                  <a:gd name="T15" fmla="*/ 596 h 1502"/>
                  <a:gd name="T16" fmla="*/ 596 w 1502"/>
                  <a:gd name="T17" fmla="*/ 751 h 1502"/>
                  <a:gd name="T18" fmla="*/ 751 w 1502"/>
                  <a:gd name="T19" fmla="*/ 906 h 1502"/>
                  <a:gd name="T20" fmla="*/ 906 w 1502"/>
                  <a:gd name="T21" fmla="*/ 751 h 1502"/>
                  <a:gd name="T22" fmla="*/ 906 w 1502"/>
                  <a:gd name="T23" fmla="*/ 738 h 1502"/>
                  <a:gd name="T24" fmla="*/ 1016 w 1502"/>
                  <a:gd name="T25" fmla="*/ 662 h 1502"/>
                  <a:gd name="T26" fmla="*/ 1107 w 1502"/>
                  <a:gd name="T27" fmla="*/ 599 h 1502"/>
                  <a:gd name="T28" fmla="*/ 1138 w 1502"/>
                  <a:gd name="T29" fmla="*/ 751 h 1502"/>
                  <a:gd name="T30" fmla="*/ 751 w 1502"/>
                  <a:gd name="T31" fmla="*/ 1138 h 1502"/>
                  <a:gd name="T32" fmla="*/ 364 w 1502"/>
                  <a:gd name="T33" fmla="*/ 751 h 1502"/>
                  <a:gd name="T34" fmla="*/ 751 w 1502"/>
                  <a:gd name="T35" fmla="*/ 364 h 1502"/>
                  <a:gd name="T36" fmla="*/ 1020 w 1502"/>
                  <a:gd name="T37" fmla="*/ 473 h 1502"/>
                  <a:gd name="T38" fmla="*/ 1124 w 1502"/>
                  <a:gd name="T39" fmla="*/ 401 h 1502"/>
                  <a:gd name="T40" fmla="*/ 751 w 1502"/>
                  <a:gd name="T41" fmla="*/ 240 h 1502"/>
                  <a:gd name="T42" fmla="*/ 240 w 1502"/>
                  <a:gd name="T43" fmla="*/ 751 h 1502"/>
                  <a:gd name="T44" fmla="*/ 751 w 1502"/>
                  <a:gd name="T45" fmla="*/ 1262 h 1502"/>
                  <a:gd name="T46" fmla="*/ 1262 w 1502"/>
                  <a:gd name="T47" fmla="*/ 751 h 1502"/>
                  <a:gd name="T48" fmla="*/ 1211 w 1502"/>
                  <a:gd name="T49" fmla="*/ 528 h 1502"/>
                  <a:gd name="T50" fmla="*/ 1107 w 1502"/>
                  <a:gd name="T51" fmla="*/ 599 h 1502"/>
                  <a:gd name="T52" fmla="*/ 1333 w 1502"/>
                  <a:gd name="T53" fmla="*/ 443 h 1502"/>
                  <a:gd name="T54" fmla="*/ 1307 w 1502"/>
                  <a:gd name="T55" fmla="*/ 461 h 1502"/>
                  <a:gd name="T56" fmla="*/ 1378 w 1502"/>
                  <a:gd name="T57" fmla="*/ 751 h 1502"/>
                  <a:gd name="T58" fmla="*/ 751 w 1502"/>
                  <a:gd name="T59" fmla="*/ 1378 h 1502"/>
                  <a:gd name="T60" fmla="*/ 124 w 1502"/>
                  <a:gd name="T61" fmla="*/ 751 h 1502"/>
                  <a:gd name="T62" fmla="*/ 751 w 1502"/>
                  <a:gd name="T63" fmla="*/ 124 h 1502"/>
                  <a:gd name="T64" fmla="*/ 1220 w 1502"/>
                  <a:gd name="T65" fmla="*/ 335 h 1502"/>
                  <a:gd name="T66" fmla="*/ 1246 w 1502"/>
                  <a:gd name="T67" fmla="*/ 317 h 1502"/>
                  <a:gd name="T68" fmla="*/ 1273 w 1502"/>
                  <a:gd name="T69" fmla="*/ 211 h 1502"/>
                  <a:gd name="T70" fmla="*/ 751 w 1502"/>
                  <a:gd name="T71" fmla="*/ 0 h 1502"/>
                  <a:gd name="T72" fmla="*/ 0 w 1502"/>
                  <a:gd name="T73" fmla="*/ 751 h 1502"/>
                  <a:gd name="T74" fmla="*/ 751 w 1502"/>
                  <a:gd name="T75" fmla="*/ 1502 h 1502"/>
                  <a:gd name="T76" fmla="*/ 1502 w 1502"/>
                  <a:gd name="T77" fmla="*/ 751 h 1502"/>
                  <a:gd name="T78" fmla="*/ 1442 w 1502"/>
                  <a:gd name="T79" fmla="*/ 456 h 1502"/>
                  <a:gd name="T80" fmla="*/ 1333 w 1502"/>
                  <a:gd name="T81" fmla="*/ 443 h 1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02" h="1502">
                    <a:moveTo>
                      <a:pt x="1016" y="662"/>
                    </a:moveTo>
                    <a:cubicBezTo>
                      <a:pt x="1025" y="690"/>
                      <a:pt x="1030" y="720"/>
                      <a:pt x="1030" y="751"/>
                    </a:cubicBezTo>
                    <a:cubicBezTo>
                      <a:pt x="1030" y="905"/>
                      <a:pt x="905" y="1030"/>
                      <a:pt x="751" y="1030"/>
                    </a:cubicBezTo>
                    <a:cubicBezTo>
                      <a:pt x="597" y="1030"/>
                      <a:pt x="472" y="905"/>
                      <a:pt x="472" y="751"/>
                    </a:cubicBezTo>
                    <a:cubicBezTo>
                      <a:pt x="472" y="597"/>
                      <a:pt x="597" y="472"/>
                      <a:pt x="751" y="472"/>
                    </a:cubicBezTo>
                    <a:cubicBezTo>
                      <a:pt x="818" y="472"/>
                      <a:pt x="880" y="496"/>
                      <a:pt x="929" y="536"/>
                    </a:cubicBezTo>
                    <a:cubicBezTo>
                      <a:pt x="819" y="611"/>
                      <a:pt x="819" y="611"/>
                      <a:pt x="819" y="611"/>
                    </a:cubicBezTo>
                    <a:cubicBezTo>
                      <a:pt x="798" y="601"/>
                      <a:pt x="775" y="596"/>
                      <a:pt x="751" y="596"/>
                    </a:cubicBezTo>
                    <a:cubicBezTo>
                      <a:pt x="665" y="596"/>
                      <a:pt x="596" y="665"/>
                      <a:pt x="596" y="751"/>
                    </a:cubicBezTo>
                    <a:cubicBezTo>
                      <a:pt x="596" y="836"/>
                      <a:pt x="665" y="906"/>
                      <a:pt x="751" y="906"/>
                    </a:cubicBezTo>
                    <a:cubicBezTo>
                      <a:pt x="837" y="906"/>
                      <a:pt x="906" y="836"/>
                      <a:pt x="906" y="751"/>
                    </a:cubicBezTo>
                    <a:cubicBezTo>
                      <a:pt x="906" y="746"/>
                      <a:pt x="906" y="742"/>
                      <a:pt x="906" y="738"/>
                    </a:cubicBezTo>
                    <a:lnTo>
                      <a:pt x="1016" y="662"/>
                    </a:lnTo>
                    <a:close/>
                    <a:moveTo>
                      <a:pt x="1107" y="599"/>
                    </a:moveTo>
                    <a:cubicBezTo>
                      <a:pt x="1127" y="646"/>
                      <a:pt x="1138" y="697"/>
                      <a:pt x="1138" y="751"/>
                    </a:cubicBezTo>
                    <a:cubicBezTo>
                      <a:pt x="1138" y="964"/>
                      <a:pt x="964" y="1138"/>
                      <a:pt x="751" y="1138"/>
                    </a:cubicBezTo>
                    <a:cubicBezTo>
                      <a:pt x="537" y="1138"/>
                      <a:pt x="364" y="964"/>
                      <a:pt x="364" y="751"/>
                    </a:cubicBezTo>
                    <a:cubicBezTo>
                      <a:pt x="364" y="537"/>
                      <a:pt x="537" y="364"/>
                      <a:pt x="751" y="364"/>
                    </a:cubicBezTo>
                    <a:cubicBezTo>
                      <a:pt x="855" y="364"/>
                      <a:pt x="950" y="405"/>
                      <a:pt x="1020" y="473"/>
                    </a:cubicBezTo>
                    <a:cubicBezTo>
                      <a:pt x="1124" y="401"/>
                      <a:pt x="1124" y="401"/>
                      <a:pt x="1124" y="401"/>
                    </a:cubicBezTo>
                    <a:cubicBezTo>
                      <a:pt x="1030" y="302"/>
                      <a:pt x="898" y="240"/>
                      <a:pt x="751" y="240"/>
                    </a:cubicBezTo>
                    <a:cubicBezTo>
                      <a:pt x="469" y="240"/>
                      <a:pt x="240" y="469"/>
                      <a:pt x="240" y="751"/>
                    </a:cubicBezTo>
                    <a:cubicBezTo>
                      <a:pt x="240" y="1033"/>
                      <a:pt x="469" y="1262"/>
                      <a:pt x="751" y="1262"/>
                    </a:cubicBezTo>
                    <a:cubicBezTo>
                      <a:pt x="1033" y="1262"/>
                      <a:pt x="1262" y="1033"/>
                      <a:pt x="1262" y="751"/>
                    </a:cubicBezTo>
                    <a:cubicBezTo>
                      <a:pt x="1262" y="671"/>
                      <a:pt x="1244" y="595"/>
                      <a:pt x="1211" y="528"/>
                    </a:cubicBezTo>
                    <a:lnTo>
                      <a:pt x="1107" y="599"/>
                    </a:lnTo>
                    <a:close/>
                    <a:moveTo>
                      <a:pt x="1333" y="443"/>
                    </a:moveTo>
                    <a:cubicBezTo>
                      <a:pt x="1307" y="461"/>
                      <a:pt x="1307" y="461"/>
                      <a:pt x="1307" y="461"/>
                    </a:cubicBezTo>
                    <a:cubicBezTo>
                      <a:pt x="1352" y="548"/>
                      <a:pt x="1378" y="646"/>
                      <a:pt x="1378" y="751"/>
                    </a:cubicBezTo>
                    <a:cubicBezTo>
                      <a:pt x="1378" y="1097"/>
                      <a:pt x="1097" y="1378"/>
                      <a:pt x="751" y="1378"/>
                    </a:cubicBezTo>
                    <a:cubicBezTo>
                      <a:pt x="405" y="1378"/>
                      <a:pt x="124" y="1097"/>
                      <a:pt x="124" y="751"/>
                    </a:cubicBezTo>
                    <a:cubicBezTo>
                      <a:pt x="124" y="405"/>
                      <a:pt x="405" y="124"/>
                      <a:pt x="751" y="124"/>
                    </a:cubicBezTo>
                    <a:cubicBezTo>
                      <a:pt x="937" y="124"/>
                      <a:pt x="1105" y="205"/>
                      <a:pt x="1220" y="335"/>
                    </a:cubicBezTo>
                    <a:cubicBezTo>
                      <a:pt x="1246" y="317"/>
                      <a:pt x="1246" y="317"/>
                      <a:pt x="1246" y="317"/>
                    </a:cubicBezTo>
                    <a:cubicBezTo>
                      <a:pt x="1273" y="211"/>
                      <a:pt x="1273" y="211"/>
                      <a:pt x="1273" y="211"/>
                    </a:cubicBezTo>
                    <a:cubicBezTo>
                      <a:pt x="1138" y="80"/>
                      <a:pt x="954" y="0"/>
                      <a:pt x="751" y="0"/>
                    </a:cubicBezTo>
                    <a:cubicBezTo>
                      <a:pt x="337" y="0"/>
                      <a:pt x="0" y="337"/>
                      <a:pt x="0" y="751"/>
                    </a:cubicBezTo>
                    <a:cubicBezTo>
                      <a:pt x="0" y="1165"/>
                      <a:pt x="337" y="1502"/>
                      <a:pt x="751" y="1502"/>
                    </a:cubicBezTo>
                    <a:cubicBezTo>
                      <a:pt x="1165" y="1502"/>
                      <a:pt x="1502" y="1165"/>
                      <a:pt x="1502" y="751"/>
                    </a:cubicBezTo>
                    <a:cubicBezTo>
                      <a:pt x="1502" y="646"/>
                      <a:pt x="1480" y="547"/>
                      <a:pt x="1442" y="456"/>
                    </a:cubicBezTo>
                    <a:lnTo>
                      <a:pt x="1333" y="44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grpSp>
      <p:sp>
        <p:nvSpPr>
          <p:cNvPr id="51" name="TextBox 50">
            <a:extLst>
              <a:ext uri="{FF2B5EF4-FFF2-40B4-BE49-F238E27FC236}">
                <a16:creationId xmlns:a16="http://schemas.microsoft.com/office/drawing/2014/main" id="{7979A6C3-D648-43A3-887C-D7250602F9CD}"/>
              </a:ext>
            </a:extLst>
          </p:cNvPr>
          <p:cNvSpPr txBox="1"/>
          <p:nvPr/>
        </p:nvSpPr>
        <p:spPr>
          <a:xfrm>
            <a:off x="5472579" y="202961"/>
            <a:ext cx="6073197" cy="401816"/>
          </a:xfrm>
          <a:prstGeom prst="rect">
            <a:avLst/>
          </a:prstGeom>
          <a:noFill/>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txBody>
          <a:bodyPr wrap="square" lIns="93761" tIns="92285" rIns="93761" bIns="92285" rtlCol="0" anchor="t">
            <a:spAutoFit/>
          </a:bodyPr>
          <a:lstStyle/>
          <a:p>
            <a:pPr marL="0" marR="0" lvl="0" indent="0" algn="r" defTabSz="685800" rtl="0" eaLnBrk="1" fontAlgn="auto" latinLnBrk="0" hangingPunct="1">
              <a:lnSpc>
                <a:spcPct val="100000"/>
              </a:lnSpc>
              <a:spcBef>
                <a:spcPts val="0"/>
              </a:spcBef>
              <a:spcAft>
                <a:spcPts val="0"/>
              </a:spcAft>
              <a:buClrTx/>
              <a:buSzTx/>
              <a:buFontTx/>
              <a:buNone/>
              <a:tabLst/>
              <a:defRPr/>
            </a:pPr>
            <a:r>
              <a:rPr kumimoji="0" lang="fi-FI" sz="1400" b="0" i="0" u="none" strike="noStrike" kern="1200" cap="none" spc="0" normalizeH="0" baseline="0" noProof="0">
                <a:ln>
                  <a:noFill/>
                </a:ln>
                <a:solidFill>
                  <a:srgbClr val="29BA74"/>
                </a:solidFill>
                <a:effectLst/>
                <a:uLnTx/>
                <a:uFillTx/>
                <a:latin typeface="OP Chevin Pro Light"/>
                <a:ea typeface="+mn-ea"/>
                <a:cs typeface="+mn-cs"/>
              </a:rPr>
              <a:t>Leveraging data-driven customer pathways</a:t>
            </a:r>
            <a:endParaRPr kumimoji="0" lang="fi-FI" sz="1400" b="0" i="1" u="none" strike="noStrike" kern="1200" cap="none" spc="0" normalizeH="0" baseline="0" noProof="0">
              <a:ln>
                <a:noFill/>
              </a:ln>
              <a:solidFill>
                <a:srgbClr val="29BA74"/>
              </a:solidFill>
              <a:effectLst/>
              <a:uLnTx/>
              <a:uFillTx/>
              <a:latin typeface="OP Chevin Pro Light"/>
              <a:ea typeface="+mn-ea"/>
              <a:cs typeface="+mn-cs"/>
            </a:endParaRPr>
          </a:p>
        </p:txBody>
      </p:sp>
      <p:sp>
        <p:nvSpPr>
          <p:cNvPr id="2" name="Textfeld 1">
            <a:extLst>
              <a:ext uri="{FF2B5EF4-FFF2-40B4-BE49-F238E27FC236}">
                <a16:creationId xmlns:a16="http://schemas.microsoft.com/office/drawing/2014/main" id="{217F1456-C252-2364-C1D5-2F520F20BB2C}"/>
              </a:ext>
            </a:extLst>
          </p:cNvPr>
          <p:cNvSpPr txBox="1"/>
          <p:nvPr>
            <p:custDataLst>
              <p:tags r:id="rId7"/>
            </p:custDataLst>
          </p:nvPr>
        </p:nvSpPr>
        <p:spPr>
          <a:xfrm>
            <a:off x="0" y="27838"/>
            <a:ext cx="2743200" cy="240066"/>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marL="0" marR="0" lvl="0" indent="0" algn="l" defTabSz="914400" rtl="0" eaLnBrk="1" fontAlgn="auto" latinLnBrk="0" hangingPunct="1">
              <a:lnSpc>
                <a:spcPct val="90000"/>
              </a:lnSpc>
              <a:spcBef>
                <a:spcPts val="0"/>
              </a:spcBef>
              <a:spcAft>
                <a:spcPts val="600"/>
              </a:spcAft>
              <a:buClrTx/>
              <a:buSzTx/>
              <a:buFontTx/>
              <a:buNone/>
              <a:tabLst/>
              <a:defRPr/>
            </a:pPr>
            <a:r>
              <a:rPr kumimoji="0" lang="zh-TW" altLang="en-US" sz="1200" b="1" i="0" u="none" strike="noStrike" kern="1200" cap="none" spc="0" normalizeH="0" baseline="0" noProof="0">
                <a:ln>
                  <a:noFill/>
                </a:ln>
                <a:solidFill>
                  <a:srgbClr val="575757"/>
                </a:solidFill>
                <a:effectLst/>
                <a:uLnTx/>
                <a:uFillTx/>
                <a:latin typeface="Trebuchet MS"/>
                <a:ea typeface="+mn-ea"/>
                <a:cs typeface="+mn-cs"/>
                <a:sym typeface="Trebuchet MS" panose="020B0603020202020204" pitchFamily="34" charset="0"/>
              </a:rPr>
              <a:t>短期</a:t>
            </a:r>
            <a:r>
              <a:rPr kumimoji="0" lang="en-US" altLang="zh-TW" sz="1200" b="1" i="0" u="none" strike="noStrike" kern="1200" cap="none" spc="0" normalizeH="0" baseline="0" noProof="0">
                <a:ln>
                  <a:noFill/>
                </a:ln>
                <a:solidFill>
                  <a:srgbClr val="575757"/>
                </a:solidFill>
                <a:effectLst/>
                <a:uLnTx/>
                <a:uFillTx/>
                <a:latin typeface="Trebuchet MS"/>
                <a:ea typeface="+mn-ea"/>
                <a:cs typeface="+mn-cs"/>
                <a:sym typeface="Trebuchet MS" panose="020B0603020202020204" pitchFamily="34" charset="0"/>
              </a:rPr>
              <a:t>customer pathway</a:t>
            </a:r>
          </a:p>
        </p:txBody>
      </p:sp>
      <p:sp>
        <p:nvSpPr>
          <p:cNvPr id="7" name="Textfeld 1">
            <a:extLst>
              <a:ext uri="{FF2B5EF4-FFF2-40B4-BE49-F238E27FC236}">
                <a16:creationId xmlns:a16="http://schemas.microsoft.com/office/drawing/2014/main" id="{B7F5AF98-790D-EA7E-3D45-C3342B165A35}"/>
              </a:ext>
            </a:extLst>
          </p:cNvPr>
          <p:cNvSpPr txBox="1"/>
          <p:nvPr>
            <p:custDataLst>
              <p:tags r:id="rId8"/>
            </p:custDataLst>
          </p:nvPr>
        </p:nvSpPr>
        <p:spPr>
          <a:xfrm>
            <a:off x="649999" y="6184865"/>
            <a:ext cx="2743200" cy="1455783"/>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en-US" sz="1200" b="1">
                <a:solidFill>
                  <a:srgbClr val="575757"/>
                </a:solidFill>
                <a:sym typeface="Trebuchet MS" panose="020B0603020202020204" pitchFamily="34" charset="0"/>
              </a:rPr>
              <a:t>Customer pathway: </a:t>
            </a:r>
          </a:p>
          <a:p>
            <a:pPr>
              <a:lnSpc>
                <a:spcPct val="90000"/>
              </a:lnSpc>
              <a:spcAft>
                <a:spcPts val="600"/>
              </a:spcAft>
            </a:pPr>
            <a:r>
              <a:rPr lang="zh-TW" altLang="en-US" sz="1200" b="1">
                <a:solidFill>
                  <a:srgbClr val="575757"/>
                </a:solidFill>
                <a:sym typeface="Trebuchet MS" panose="020B0603020202020204" pitchFamily="34" charset="0"/>
              </a:rPr>
              <a:t>從房貸到理財</a:t>
            </a:r>
            <a:endParaRPr lang="en-US" altLang="zh-TW" sz="1200" b="1">
              <a:solidFill>
                <a:srgbClr val="575757"/>
              </a:solidFill>
              <a:sym typeface="Trebuchet MS" panose="020B0603020202020204" pitchFamily="34" charset="0"/>
            </a:endParaRPr>
          </a:p>
          <a:p>
            <a:pPr>
              <a:lnSpc>
                <a:spcPct val="90000"/>
              </a:lnSpc>
              <a:spcAft>
                <a:spcPts val="600"/>
              </a:spcAft>
            </a:pPr>
            <a:r>
              <a:rPr lang="zh-TW" altLang="en-US" sz="1200" b="1">
                <a:solidFill>
                  <a:srgbClr val="575757"/>
                </a:solidFill>
                <a:sym typeface="Trebuchet MS" panose="020B0603020202020204" pitchFamily="34" charset="0"/>
              </a:rPr>
              <a:t>從日常交易到房信貸</a:t>
            </a:r>
            <a:endParaRPr lang="en-US" altLang="zh-TW" sz="1200" b="1">
              <a:solidFill>
                <a:srgbClr val="575757"/>
              </a:solidFill>
              <a:sym typeface="Trebuchet MS" panose="020B0603020202020204" pitchFamily="34" charset="0"/>
            </a:endParaRPr>
          </a:p>
          <a:p>
            <a:pPr>
              <a:lnSpc>
                <a:spcPct val="90000"/>
              </a:lnSpc>
              <a:spcAft>
                <a:spcPts val="600"/>
              </a:spcAft>
            </a:pPr>
            <a:r>
              <a:rPr lang="zh-TW" altLang="en-US" sz="1200" b="1">
                <a:solidFill>
                  <a:srgbClr val="575757"/>
                </a:solidFill>
                <a:sym typeface="Trebuchet MS" panose="020B0603020202020204" pitchFamily="34" charset="0"/>
              </a:rPr>
              <a:t>從存款到房貸</a:t>
            </a:r>
            <a:endParaRPr lang="en-US" altLang="zh-TW" sz="1200" b="1">
              <a:solidFill>
                <a:srgbClr val="575757"/>
              </a:solidFill>
              <a:sym typeface="Trebuchet MS" panose="020B0603020202020204" pitchFamily="34" charset="0"/>
            </a:endParaRPr>
          </a:p>
          <a:p>
            <a:pPr>
              <a:lnSpc>
                <a:spcPct val="90000"/>
              </a:lnSpc>
              <a:spcAft>
                <a:spcPts val="600"/>
              </a:spcAft>
            </a:pPr>
            <a:r>
              <a:rPr lang="zh-TW" altLang="en-US" sz="1200" b="1">
                <a:solidFill>
                  <a:srgbClr val="575757"/>
                </a:solidFill>
                <a:sym typeface="Trebuchet MS" panose="020B0603020202020204" pitchFamily="34" charset="0"/>
              </a:rPr>
              <a:t>從日常交易到存款</a:t>
            </a:r>
            <a:endParaRPr lang="en-US" altLang="zh-TW" sz="1200" b="1">
              <a:solidFill>
                <a:srgbClr val="575757"/>
              </a:solidFill>
              <a:sym typeface="Trebuchet MS" panose="020B0603020202020204" pitchFamily="34" charset="0"/>
            </a:endParaRPr>
          </a:p>
          <a:p>
            <a:pPr>
              <a:lnSpc>
                <a:spcPct val="90000"/>
              </a:lnSpc>
              <a:spcAft>
                <a:spcPts val="600"/>
              </a:spcAft>
            </a:pPr>
            <a:r>
              <a:rPr lang="en-US" sz="1200" b="1">
                <a:solidFill>
                  <a:srgbClr val="575757"/>
                </a:solidFill>
                <a:sym typeface="Trebuchet MS" panose="020B0603020202020204" pitchFamily="34" charset="0"/>
              </a:rPr>
              <a:t>…</a:t>
            </a:r>
          </a:p>
        </p:txBody>
      </p:sp>
      <p:sp>
        <p:nvSpPr>
          <p:cNvPr id="8" name="Textfeld 1">
            <a:extLst>
              <a:ext uri="{FF2B5EF4-FFF2-40B4-BE49-F238E27FC236}">
                <a16:creationId xmlns:a16="http://schemas.microsoft.com/office/drawing/2014/main" id="{85455504-249C-6A85-A555-2A802F976990}"/>
              </a:ext>
            </a:extLst>
          </p:cNvPr>
          <p:cNvSpPr txBox="1"/>
          <p:nvPr>
            <p:custDataLst>
              <p:tags r:id="rId9"/>
            </p:custDataLst>
          </p:nvPr>
        </p:nvSpPr>
        <p:spPr>
          <a:xfrm>
            <a:off x="4783205" y="6208763"/>
            <a:ext cx="2743200" cy="892552"/>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zh-TW" altLang="en-US" sz="1200" b="1">
                <a:solidFill>
                  <a:srgbClr val="575757"/>
                </a:solidFill>
                <a:sym typeface="Trebuchet MS" panose="020B0603020202020204" pitchFamily="34" charset="0"/>
              </a:rPr>
              <a:t>根據不同</a:t>
            </a:r>
            <a:r>
              <a:rPr lang="en-US" altLang="zh-TW" sz="1200" b="1">
                <a:solidFill>
                  <a:srgbClr val="575757"/>
                </a:solidFill>
                <a:sym typeface="Trebuchet MS" panose="020B0603020202020204" pitchFamily="34" charset="0"/>
              </a:rPr>
              <a:t>pathway</a:t>
            </a:r>
            <a:r>
              <a:rPr lang="zh-TW" altLang="en-US" sz="1200" b="1">
                <a:solidFill>
                  <a:srgbClr val="575757"/>
                </a:solidFill>
                <a:sym typeface="Trebuchet MS" panose="020B0603020202020204" pitchFamily="34" charset="0"/>
              </a:rPr>
              <a:t>的客戶識別出下一個最佳産品</a:t>
            </a:r>
            <a:endParaRPr lang="en-US" altLang="zh-TW" sz="1200" b="1">
              <a:solidFill>
                <a:srgbClr val="575757"/>
              </a:solidFill>
              <a:sym typeface="Trebuchet MS" panose="020B0603020202020204" pitchFamily="34" charset="0"/>
            </a:endParaRPr>
          </a:p>
          <a:p>
            <a:pPr>
              <a:lnSpc>
                <a:spcPct val="90000"/>
              </a:lnSpc>
              <a:spcAft>
                <a:spcPts val="600"/>
              </a:spcAft>
            </a:pPr>
            <a:endParaRPr lang="en-US" sz="1200" b="1">
              <a:solidFill>
                <a:srgbClr val="575757"/>
              </a:solidFill>
              <a:sym typeface="Trebuchet MS" panose="020B0603020202020204" pitchFamily="34" charset="0"/>
            </a:endParaRPr>
          </a:p>
          <a:p>
            <a:pPr>
              <a:lnSpc>
                <a:spcPct val="90000"/>
              </a:lnSpc>
              <a:spcAft>
                <a:spcPts val="600"/>
              </a:spcAft>
            </a:pPr>
            <a:r>
              <a:rPr lang="en-US" altLang="zh-TW" sz="1200" b="1">
                <a:solidFill>
                  <a:srgbClr val="575757"/>
                </a:solidFill>
                <a:sym typeface="Trebuchet MS" panose="020B0603020202020204" pitchFamily="34" charset="0"/>
              </a:rPr>
              <a:t>(asking for detail info)</a:t>
            </a:r>
            <a:endParaRPr lang="en-US" sz="1200" b="1">
              <a:solidFill>
                <a:srgbClr val="575757"/>
              </a:solidFill>
              <a:sym typeface="Trebuchet MS" panose="020B0603020202020204" pitchFamily="34" charset="0"/>
            </a:endParaRPr>
          </a:p>
        </p:txBody>
      </p:sp>
      <p:sp>
        <p:nvSpPr>
          <p:cNvPr id="9" name="Textfeld 1">
            <a:extLst>
              <a:ext uri="{FF2B5EF4-FFF2-40B4-BE49-F238E27FC236}">
                <a16:creationId xmlns:a16="http://schemas.microsoft.com/office/drawing/2014/main" id="{23CE09F6-75CE-364B-5ADB-1FEE1B2E65A7}"/>
              </a:ext>
            </a:extLst>
          </p:cNvPr>
          <p:cNvSpPr txBox="1"/>
          <p:nvPr>
            <p:custDataLst>
              <p:tags r:id="rId10"/>
            </p:custDataLst>
          </p:nvPr>
        </p:nvSpPr>
        <p:spPr>
          <a:xfrm>
            <a:off x="8568803" y="4410994"/>
            <a:ext cx="2743200" cy="406265"/>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zh-TW" altLang="en-US" sz="1200" b="1">
                <a:solidFill>
                  <a:srgbClr val="575757"/>
                </a:solidFill>
                <a:sym typeface="Trebuchet MS" panose="020B0603020202020204" pitchFamily="34" charset="0"/>
              </a:rPr>
              <a:t>綜合</a:t>
            </a:r>
            <a:r>
              <a:rPr lang="en-US" altLang="zh-TW" sz="1200" b="1">
                <a:solidFill>
                  <a:srgbClr val="575757"/>
                </a:solidFill>
                <a:sym typeface="Trebuchet MS" panose="020B0603020202020204" pitchFamily="34" charset="0"/>
              </a:rPr>
              <a:t>pathway + next-best product </a:t>
            </a:r>
            <a:r>
              <a:rPr lang="zh-TW" altLang="en-US" sz="1200" b="1">
                <a:solidFill>
                  <a:srgbClr val="575757"/>
                </a:solidFill>
                <a:sym typeface="Trebuchet MS" panose="020B0603020202020204" pitchFamily="34" charset="0"/>
              </a:rPr>
              <a:t>識別潛在</a:t>
            </a:r>
            <a:r>
              <a:rPr lang="en-US" altLang="zh-TW" sz="1200" b="1">
                <a:solidFill>
                  <a:srgbClr val="575757"/>
                </a:solidFill>
                <a:sym typeface="Trebuchet MS" panose="020B0603020202020204" pitchFamily="34" charset="0"/>
              </a:rPr>
              <a:t>WM</a:t>
            </a:r>
            <a:r>
              <a:rPr lang="zh-TW" altLang="en-US" sz="1200" b="1">
                <a:solidFill>
                  <a:srgbClr val="575757"/>
                </a:solidFill>
                <a:sym typeface="Trebuchet MS" panose="020B0603020202020204" pitchFamily="34" charset="0"/>
              </a:rPr>
              <a:t>客戶</a:t>
            </a:r>
            <a:endParaRPr lang="en-US" sz="1200" b="1">
              <a:solidFill>
                <a:srgbClr val="575757"/>
              </a:solidFill>
              <a:sym typeface="Trebuchet MS" panose="020B0603020202020204" pitchFamily="34" charset="0"/>
            </a:endParaRPr>
          </a:p>
        </p:txBody>
      </p:sp>
      <p:sp>
        <p:nvSpPr>
          <p:cNvPr id="29" name="TextBox 28">
            <a:extLst>
              <a:ext uri="{FF2B5EF4-FFF2-40B4-BE49-F238E27FC236}">
                <a16:creationId xmlns:a16="http://schemas.microsoft.com/office/drawing/2014/main" id="{72000730-2956-2774-BE2E-C17FA960D92F}"/>
              </a:ext>
            </a:extLst>
          </p:cNvPr>
          <p:cNvSpPr txBox="1"/>
          <p:nvPr/>
        </p:nvSpPr>
        <p:spPr>
          <a:xfrm>
            <a:off x="797697" y="1517183"/>
            <a:ext cx="2745008" cy="497996"/>
          </a:xfrm>
          <a:prstGeom prst="rect">
            <a:avLst/>
          </a:prstGeom>
          <a:noFill/>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txBody>
          <a:bodyPr wrap="square" lIns="93761" tIns="92285" rIns="93761" bIns="92285" rtlCol="0" anchor="t">
            <a:spAutoFit/>
          </a:bodyPr>
          <a:lstStyle/>
          <a:p>
            <a:pPr marR="0" lvl="0" algn="ctr" defTabSz="685800" eaLnBrk="1" fontAlgn="auto" latinLnBrk="0" hangingPunct="1">
              <a:lnSpc>
                <a:spcPct val="100000"/>
              </a:lnSpc>
              <a:spcBef>
                <a:spcPts val="0"/>
              </a:spcBef>
              <a:spcAft>
                <a:spcPts val="0"/>
              </a:spcAft>
              <a:buClrTx/>
              <a:buSzTx/>
              <a:buFontTx/>
              <a:buNone/>
              <a:tabLst/>
              <a:defRPr/>
            </a:pPr>
            <a:r>
              <a:rPr lang="zh-TW" altLang="en-US" sz="2025" i="1">
                <a:solidFill>
                  <a:srgbClr val="29BA74"/>
                </a:solidFill>
                <a:latin typeface="OP Chevin Pro Light"/>
                <a:ea typeface="Microsoft YaHei" panose="020B0503020204020204" pitchFamily="34" charset="-122"/>
              </a:rPr>
              <a:t>識別關鍵客戶路徑</a:t>
            </a:r>
            <a:endParaRPr kumimoji="0" lang="fi-FI" sz="2025" b="0" i="1" u="none" strike="noStrike" kern="1200" cap="none" spc="0" normalizeH="0" baseline="0" noProof="0">
              <a:ln>
                <a:noFill/>
              </a:ln>
              <a:solidFill>
                <a:srgbClr val="29BA74"/>
              </a:solidFill>
              <a:effectLst/>
              <a:uLnTx/>
              <a:uFillTx/>
              <a:latin typeface="OP Chevin Pro Light"/>
              <a:ea typeface="Microsoft YaHei" panose="020B0503020204020204" pitchFamily="34" charset="-122"/>
            </a:endParaRPr>
          </a:p>
        </p:txBody>
      </p:sp>
      <p:sp>
        <p:nvSpPr>
          <p:cNvPr id="30" name="TextBox 29">
            <a:extLst>
              <a:ext uri="{FF2B5EF4-FFF2-40B4-BE49-F238E27FC236}">
                <a16:creationId xmlns:a16="http://schemas.microsoft.com/office/drawing/2014/main" id="{B52FFEAB-56B4-EE83-C49A-290BB98092A7}"/>
              </a:ext>
            </a:extLst>
          </p:cNvPr>
          <p:cNvSpPr txBox="1"/>
          <p:nvPr/>
        </p:nvSpPr>
        <p:spPr>
          <a:xfrm>
            <a:off x="4559155" y="1517183"/>
            <a:ext cx="2745008" cy="497996"/>
          </a:xfrm>
          <a:prstGeom prst="rect">
            <a:avLst/>
          </a:prstGeom>
          <a:noFill/>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txBody>
          <a:bodyPr wrap="square" lIns="93761" tIns="92285" rIns="93761" bIns="92285" rtlCol="0" anchor="t">
            <a:spAutoFit/>
          </a:bodyPr>
          <a:lstStyle/>
          <a:p>
            <a:pPr marR="0" lvl="0" algn="ctr" defTabSz="685800" eaLnBrk="1" fontAlgn="auto" latinLnBrk="0" hangingPunct="1">
              <a:lnSpc>
                <a:spcPct val="100000"/>
              </a:lnSpc>
              <a:spcBef>
                <a:spcPts val="0"/>
              </a:spcBef>
              <a:spcAft>
                <a:spcPts val="0"/>
              </a:spcAft>
              <a:buClrTx/>
              <a:buSzTx/>
              <a:buFontTx/>
              <a:buNone/>
              <a:tabLst/>
              <a:defRPr/>
            </a:pPr>
            <a:r>
              <a:rPr kumimoji="0" lang="zh-TW" altLang="en-US" sz="2025" b="0" i="1" u="none" strike="noStrike" kern="1200" cap="none" spc="0" normalizeH="0" baseline="0" noProof="0">
                <a:ln>
                  <a:noFill/>
                </a:ln>
                <a:solidFill>
                  <a:srgbClr val="29BA74"/>
                </a:solidFill>
                <a:effectLst/>
                <a:uLnTx/>
                <a:uFillTx/>
                <a:latin typeface="OP Chevin Pro Light"/>
                <a:ea typeface="Microsoft YaHei" panose="020B0503020204020204" pitchFamily="34" charset="-122"/>
                <a:cs typeface="+mn-cs"/>
              </a:rPr>
              <a:t>識別下一個最佳產品</a:t>
            </a:r>
            <a:endParaRPr kumimoji="0" lang="fi-FI" sz="2025" b="0" i="1" u="none" strike="noStrike" kern="1200" cap="none" spc="0" normalizeH="0" baseline="0" noProof="0">
              <a:ln>
                <a:noFill/>
              </a:ln>
              <a:solidFill>
                <a:srgbClr val="29BA74"/>
              </a:solidFill>
              <a:effectLst/>
              <a:uLnTx/>
              <a:uFillTx/>
              <a:latin typeface="OP Chevin Pro Light"/>
              <a:ea typeface="Microsoft YaHei" panose="020B0503020204020204" pitchFamily="34" charset="-122"/>
              <a:cs typeface="+mn-cs"/>
            </a:endParaRPr>
          </a:p>
        </p:txBody>
      </p:sp>
      <p:sp>
        <p:nvSpPr>
          <p:cNvPr id="31" name="TextBox 30">
            <a:extLst>
              <a:ext uri="{FF2B5EF4-FFF2-40B4-BE49-F238E27FC236}">
                <a16:creationId xmlns:a16="http://schemas.microsoft.com/office/drawing/2014/main" id="{D2B8FBCC-037C-CCAD-3F1D-2523FCEED226}"/>
              </a:ext>
            </a:extLst>
          </p:cNvPr>
          <p:cNvSpPr txBox="1"/>
          <p:nvPr/>
        </p:nvSpPr>
        <p:spPr>
          <a:xfrm>
            <a:off x="8657225" y="1564098"/>
            <a:ext cx="2745008" cy="497996"/>
          </a:xfrm>
          <a:prstGeom prst="rect">
            <a:avLst/>
          </a:prstGeom>
          <a:noFill/>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txBody>
          <a:bodyPr wrap="square" lIns="93761" tIns="92285" rIns="93761" bIns="92285" rtlCol="0" anchor="t">
            <a:spAutoFit/>
          </a:bodyPr>
          <a:lstStyle/>
          <a:p>
            <a:pPr marR="0" lvl="0" algn="ctr" defTabSz="685800" eaLnBrk="1" fontAlgn="auto" latinLnBrk="0" hangingPunct="1">
              <a:lnSpc>
                <a:spcPct val="100000"/>
              </a:lnSpc>
              <a:spcBef>
                <a:spcPts val="0"/>
              </a:spcBef>
              <a:spcAft>
                <a:spcPts val="0"/>
              </a:spcAft>
              <a:buClrTx/>
              <a:buSzTx/>
              <a:buFontTx/>
              <a:buNone/>
              <a:tabLst/>
              <a:defRPr/>
            </a:pPr>
            <a:r>
              <a:rPr lang="zh-TW" altLang="en-US" sz="2025" i="1">
                <a:solidFill>
                  <a:srgbClr val="29BA74"/>
                </a:solidFill>
                <a:latin typeface="OP Chevin Pro Light"/>
                <a:ea typeface="Microsoft YaHei" panose="020B0503020204020204" pitchFamily="34" charset="-122"/>
              </a:rPr>
              <a:t>識別潛在</a:t>
            </a:r>
            <a:r>
              <a:rPr lang="en-US" altLang="zh-TW" sz="2025" i="1">
                <a:solidFill>
                  <a:srgbClr val="29BA74"/>
                </a:solidFill>
                <a:latin typeface="OP Chevin Pro Light"/>
                <a:ea typeface="Microsoft YaHei" panose="020B0503020204020204" pitchFamily="34" charset="-122"/>
              </a:rPr>
              <a:t>WM</a:t>
            </a:r>
            <a:r>
              <a:rPr lang="zh-TW" altLang="en-US" sz="2025" i="1">
                <a:solidFill>
                  <a:srgbClr val="29BA74"/>
                </a:solidFill>
                <a:latin typeface="OP Chevin Pro Light"/>
                <a:ea typeface="Microsoft YaHei" panose="020B0503020204020204" pitchFamily="34" charset="-122"/>
              </a:rPr>
              <a:t>客戶</a:t>
            </a:r>
            <a:endParaRPr kumimoji="0" lang="fi-FI" sz="2025" b="0" i="1" u="none" strike="noStrike" kern="1200" cap="none" spc="0" normalizeH="0" baseline="0" noProof="0">
              <a:ln>
                <a:noFill/>
              </a:ln>
              <a:solidFill>
                <a:srgbClr val="29BA74"/>
              </a:solidFill>
              <a:effectLst/>
              <a:uLnTx/>
              <a:uFillTx/>
              <a:latin typeface="OP Chevin Pro Light"/>
              <a:ea typeface="Microsoft YaHei" panose="020B0503020204020204" pitchFamily="34" charset="-122"/>
              <a:cs typeface="+mn-cs"/>
            </a:endParaRPr>
          </a:p>
        </p:txBody>
      </p:sp>
      <p:cxnSp>
        <p:nvCxnSpPr>
          <p:cNvPr id="11" name="Straight Connector 10">
            <a:extLst>
              <a:ext uri="{FF2B5EF4-FFF2-40B4-BE49-F238E27FC236}">
                <a16:creationId xmlns:a16="http://schemas.microsoft.com/office/drawing/2014/main" id="{6CA61DEA-D5CC-9C62-3462-265B5DCEFFF2}"/>
              </a:ext>
            </a:extLst>
          </p:cNvPr>
          <p:cNvCxnSpPr/>
          <p:nvPr/>
        </p:nvCxnSpPr>
        <p:spPr>
          <a:xfrm flipV="1">
            <a:off x="0" y="136281"/>
            <a:ext cx="11852031" cy="6638192"/>
          </a:xfrm>
          <a:prstGeom prst="line">
            <a:avLst/>
          </a:prstGeom>
          <a:ln w="9525" cap="rnd">
            <a:solidFill>
              <a:schemeClr val="tx1">
                <a:lumMod val="60000"/>
                <a:lumOff val="40000"/>
              </a:schemeClr>
            </a:solidFill>
            <a:prstDash val="solid"/>
            <a:roun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0596407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26B5BDDD-4F38-7CB8-5EFF-24F9B7607EED}"/>
              </a:ext>
            </a:extLst>
          </p:cNvPr>
          <p:cNvGraphicFramePr>
            <a:graphicFrameLocks noChangeAspect="1"/>
          </p:cNvGraphicFramePr>
          <p:nvPr>
            <p:custDataLst>
              <p:tags r:id="rId1"/>
            </p:custDataLst>
            <p:extLst>
              <p:ext uri="{D42A27DB-BD31-4B8C-83A1-F6EECF244321}">
                <p14:modId xmlns:p14="http://schemas.microsoft.com/office/powerpoint/2010/main" val="352395764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404" imgH="405" progId="TCLayout.ActiveDocument.1">
                  <p:embed/>
                </p:oleObj>
              </mc:Choice>
              <mc:Fallback>
                <p:oleObj name="think-cell Slide" r:id="rId6" imgW="404" imgH="405" progId="TCLayout.ActiveDocument.1">
                  <p:embed/>
                  <p:pic>
                    <p:nvPicPr>
                      <p:cNvPr id="4" name="think-cell data - do not delete" hidden="1">
                        <a:extLst>
                          <a:ext uri="{FF2B5EF4-FFF2-40B4-BE49-F238E27FC236}">
                            <a16:creationId xmlns:a16="http://schemas.microsoft.com/office/drawing/2014/main" id="{26B5BDDD-4F38-7CB8-5EFF-24F9B7607EED}"/>
                          </a:ext>
                        </a:extLst>
                      </p:cNvPr>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EC55BABC-498A-DFBD-64AC-E5D6556A9722}"/>
              </a:ext>
            </a:extLst>
          </p:cNvPr>
          <p:cNvSpPr>
            <a:spLocks noGrp="1"/>
          </p:cNvSpPr>
          <p:nvPr>
            <p:ph type="title"/>
          </p:nvPr>
        </p:nvSpPr>
        <p:spPr/>
        <p:txBody>
          <a:bodyPr vert="horz"/>
          <a:lstStyle/>
          <a:p>
            <a:r>
              <a:rPr lang="zh-TW" altLang="en-US"/>
              <a:t>需額外考量的資料</a:t>
            </a:r>
            <a:endParaRPr lang="en-US"/>
          </a:p>
        </p:txBody>
      </p:sp>
      <p:sp>
        <p:nvSpPr>
          <p:cNvPr id="3" name="Textfeld 1">
            <a:extLst>
              <a:ext uri="{FF2B5EF4-FFF2-40B4-BE49-F238E27FC236}">
                <a16:creationId xmlns:a16="http://schemas.microsoft.com/office/drawing/2014/main" id="{FEB26AFA-2C09-97DA-77CB-CB7BE147F4A7}"/>
              </a:ext>
            </a:extLst>
          </p:cNvPr>
          <p:cNvSpPr txBox="1"/>
          <p:nvPr>
            <p:custDataLst>
              <p:tags r:id="rId2"/>
            </p:custDataLst>
          </p:nvPr>
        </p:nvSpPr>
        <p:spPr>
          <a:xfrm>
            <a:off x="0" y="27838"/>
            <a:ext cx="2743200" cy="726353"/>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marL="0" marR="0" lvl="0" indent="0" algn="l" defTabSz="914400" rtl="0" eaLnBrk="1" fontAlgn="auto" latinLnBrk="0" hangingPunct="1">
              <a:lnSpc>
                <a:spcPct val="90000"/>
              </a:lnSpc>
              <a:spcBef>
                <a:spcPts val="0"/>
              </a:spcBef>
              <a:spcAft>
                <a:spcPts val="600"/>
              </a:spcAft>
              <a:buClrTx/>
              <a:buSzTx/>
              <a:buFontTx/>
              <a:buNone/>
              <a:tabLst/>
              <a:defRPr/>
            </a:pPr>
            <a:r>
              <a:rPr kumimoji="0" lang="zh-TW" altLang="en-US" sz="1200" b="1" i="0" u="none" strike="noStrike" kern="1200" cap="none" spc="0" normalizeH="0" baseline="0" noProof="0">
                <a:ln>
                  <a:noFill/>
                </a:ln>
                <a:solidFill>
                  <a:srgbClr val="575757"/>
                </a:solidFill>
                <a:effectLst/>
                <a:uLnTx/>
                <a:uFillTx/>
                <a:latin typeface="Trebuchet MS"/>
                <a:ea typeface="+mn-ea"/>
                <a:cs typeface="+mn-cs"/>
                <a:sym typeface="Trebuchet MS" panose="020B0603020202020204" pitchFamily="34" charset="0"/>
              </a:rPr>
              <a:t>短期</a:t>
            </a:r>
            <a:r>
              <a:rPr kumimoji="0" lang="en-US" altLang="zh-TW" sz="1200" b="1" i="0" u="none" strike="noStrike" kern="1200" cap="none" spc="0" normalizeH="0" baseline="0" noProof="0">
                <a:ln>
                  <a:noFill/>
                </a:ln>
                <a:solidFill>
                  <a:srgbClr val="575757"/>
                </a:solidFill>
                <a:effectLst/>
                <a:uLnTx/>
                <a:uFillTx/>
                <a:latin typeface="Trebuchet MS"/>
                <a:ea typeface="+mn-ea"/>
                <a:cs typeface="+mn-cs"/>
                <a:sym typeface="Trebuchet MS" panose="020B0603020202020204" pitchFamily="34" charset="0"/>
              </a:rPr>
              <a:t>customer pathway</a:t>
            </a:r>
          </a:p>
          <a:p>
            <a:pPr marL="0" marR="0" lvl="0" indent="0" algn="l" defTabSz="914400" rtl="0" eaLnBrk="1" fontAlgn="auto" latinLnBrk="0" hangingPunct="1">
              <a:lnSpc>
                <a:spcPct val="90000"/>
              </a:lnSpc>
              <a:spcBef>
                <a:spcPts val="0"/>
              </a:spcBef>
              <a:spcAft>
                <a:spcPts val="600"/>
              </a:spcAft>
              <a:buClrTx/>
              <a:buSzTx/>
              <a:buFontTx/>
              <a:buNone/>
              <a:tabLst/>
              <a:defRPr/>
            </a:pPr>
            <a:r>
              <a:rPr lang="en-US" altLang="zh-TW" sz="1200" b="1">
                <a:solidFill>
                  <a:srgbClr val="575757"/>
                </a:solidFill>
                <a:latin typeface="Trebuchet MS"/>
                <a:sym typeface="Trebuchet MS" panose="020B0603020202020204" pitchFamily="34" charset="0"/>
              </a:rPr>
              <a:t>(ask for more detail)</a:t>
            </a:r>
          </a:p>
          <a:p>
            <a:pPr marL="0" marR="0" lvl="0" indent="0" algn="l" defTabSz="914400" rtl="0" eaLnBrk="1" fontAlgn="auto" latinLnBrk="0" hangingPunct="1">
              <a:lnSpc>
                <a:spcPct val="90000"/>
              </a:lnSpc>
              <a:spcBef>
                <a:spcPts val="0"/>
              </a:spcBef>
              <a:spcAft>
                <a:spcPts val="600"/>
              </a:spcAft>
              <a:buClrTx/>
              <a:buSzTx/>
              <a:buFontTx/>
              <a:buNone/>
              <a:tabLst/>
              <a:defRPr/>
            </a:pPr>
            <a:r>
              <a:rPr kumimoji="0" lang="en-US" altLang="zh-TW" sz="1200" b="1" i="0" u="none" strike="noStrike" kern="1200" cap="none" spc="0" normalizeH="0" baseline="0" noProof="0">
                <a:ln>
                  <a:noFill/>
                </a:ln>
                <a:solidFill>
                  <a:srgbClr val="575757"/>
                </a:solidFill>
                <a:effectLst/>
                <a:uLnTx/>
                <a:uFillTx/>
                <a:latin typeface="Trebuchet MS"/>
                <a:ea typeface="+mn-ea"/>
                <a:cs typeface="+mn-cs"/>
                <a:sym typeface="Trebuchet MS" panose="020B0603020202020204" pitchFamily="34" charset="0"/>
              </a:rPr>
              <a:t>parameter</a:t>
            </a:r>
          </a:p>
        </p:txBody>
      </p:sp>
      <p:pic>
        <p:nvPicPr>
          <p:cNvPr id="5" name="Picture 4">
            <a:extLst>
              <a:ext uri="{FF2B5EF4-FFF2-40B4-BE49-F238E27FC236}">
                <a16:creationId xmlns:a16="http://schemas.microsoft.com/office/drawing/2014/main" id="{C11B6EF4-75E7-1171-B4F2-23A75092A3EB}"/>
              </a:ext>
            </a:extLst>
          </p:cNvPr>
          <p:cNvPicPr>
            <a:picLocks noChangeAspect="1"/>
          </p:cNvPicPr>
          <p:nvPr>
            <p:custDataLst>
              <p:tags r:id="rId3"/>
            </p:custDataLst>
          </p:nvPr>
        </p:nvPicPr>
        <p:blipFill>
          <a:blip r:embed="rId8"/>
          <a:stretch>
            <a:fillRect/>
          </a:stretch>
        </p:blipFill>
        <p:spPr>
          <a:xfrm>
            <a:off x="1302886" y="1025768"/>
            <a:ext cx="8946013" cy="5032132"/>
          </a:xfrm>
          <a:prstGeom prst="rect">
            <a:avLst/>
          </a:prstGeom>
          <a:ln w="9525" cap="flat" cmpd="sng" algn="ctr">
            <a:solidFill>
              <a:srgbClr val="9A9A9A"/>
            </a:solidFill>
            <a:prstDash val="solid"/>
            <a:round/>
            <a:headEnd type="none" w="med" len="med"/>
            <a:tailEnd type="none" w="med" len="med"/>
          </a:ln>
          <a:effectLst>
            <a:outerShdw blurRad="50800" dist="38100" dir="2700000" algn="tl" rotWithShape="0">
              <a:prstClr val="black">
                <a:alpha val="40000"/>
              </a:prstClr>
            </a:outerShdw>
          </a:effectLst>
        </p:spPr>
      </p:pic>
      <p:cxnSp>
        <p:nvCxnSpPr>
          <p:cNvPr id="6" name="Straight Connector 5">
            <a:extLst>
              <a:ext uri="{FF2B5EF4-FFF2-40B4-BE49-F238E27FC236}">
                <a16:creationId xmlns:a16="http://schemas.microsoft.com/office/drawing/2014/main" id="{AC6DBD46-8EED-8D67-4AF1-842069108AAE}"/>
              </a:ext>
            </a:extLst>
          </p:cNvPr>
          <p:cNvCxnSpPr/>
          <p:nvPr/>
        </p:nvCxnSpPr>
        <p:spPr>
          <a:xfrm flipV="1">
            <a:off x="0" y="136281"/>
            <a:ext cx="11852031" cy="6638192"/>
          </a:xfrm>
          <a:prstGeom prst="line">
            <a:avLst/>
          </a:prstGeom>
          <a:ln w="9525" cap="rnd">
            <a:solidFill>
              <a:schemeClr val="tx1">
                <a:lumMod val="60000"/>
                <a:lumOff val="40000"/>
              </a:schemeClr>
            </a:solidFill>
            <a:prstDash val="solid"/>
            <a:roun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4893104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3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395" imgH="394" progId="TCLayout.ActiveDocument.1">
                  <p:embed/>
                </p:oleObj>
              </mc:Choice>
              <mc:Fallback>
                <p:oleObj name="think-cell Slide" r:id="rId6" imgW="395" imgH="394" progId="TCLayout.ActiveDocument.1">
                  <p:embed/>
                  <p:pic>
                    <p:nvPicPr>
                      <p:cNvPr id="5" name="Object 4"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4" name="Rectangle 3" hidden="1"/>
          <p:cNvSpPr/>
          <p:nvPr>
            <p:custDataLst>
              <p:tags r:id="rId2"/>
            </p:custDataLst>
          </p:nvPr>
        </p:nvSpPr>
        <p:spPr>
          <a:xfrm>
            <a:off x="0" y="0"/>
            <a:ext cx="158750" cy="158750"/>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endParaRPr lang="en-US" sz="2400">
              <a:solidFill>
                <a:srgbClr val="FFFFFF"/>
              </a:solidFill>
              <a:latin typeface="Work Sans SemiBold" panose="020B0604020202020204" charset="0"/>
              <a:ea typeface="+mj-ea"/>
              <a:cs typeface="+mj-cs"/>
              <a:sym typeface="Work Sans SemiBold" panose="020B0604020202020204" charset="0"/>
            </a:endParaRPr>
          </a:p>
        </p:txBody>
      </p:sp>
      <p:sp>
        <p:nvSpPr>
          <p:cNvPr id="8" name="Rectangle 7">
            <a:extLst>
              <a:ext uri="{FF2B5EF4-FFF2-40B4-BE49-F238E27FC236}">
                <a16:creationId xmlns:a16="http://schemas.microsoft.com/office/drawing/2014/main" id="{EEF5CA6F-DC84-4D1D-956E-CD79F2AF7C68}"/>
              </a:ext>
            </a:extLst>
          </p:cNvPr>
          <p:cNvSpPr/>
          <p:nvPr/>
        </p:nvSpPr>
        <p:spPr>
          <a:xfrm>
            <a:off x="0" y="3581400"/>
            <a:ext cx="12192000" cy="762000"/>
          </a:xfrm>
          <a:prstGeom prst="rect">
            <a:avLst/>
          </a:prstGeom>
          <a:solidFill>
            <a:srgbClr val="F4FAF4"/>
          </a:solidFill>
          <a:ln w="9525" cap="rnd" cmpd="sng" algn="ctr">
            <a:noFill/>
            <a:prstDash val="sysDot"/>
            <a:roun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eaLnBrk="1" fontAlgn="auto" latinLnBrk="0" hangingPunct="1">
              <a:lnSpc>
                <a:spcPct val="90000"/>
              </a:lnSpc>
              <a:spcBef>
                <a:spcPts val="0"/>
              </a:spcBef>
              <a:spcAft>
                <a:spcPts val="1000"/>
              </a:spcAft>
              <a:buClrTx/>
              <a:buSzTx/>
              <a:buFontTx/>
              <a:buNone/>
              <a:tabLst/>
            </a:pPr>
            <a:endParaRPr kumimoji="0" lang="en-US" sz="1200" b="0" i="0" u="none" strike="noStrike" kern="0" cap="none" spc="0" normalizeH="0" baseline="0" noProof="0">
              <a:ln>
                <a:noFill/>
              </a:ln>
              <a:solidFill>
                <a:prstClr val="white"/>
              </a:solidFill>
              <a:effectLst/>
              <a:uLnTx/>
              <a:uFillTx/>
              <a:ea typeface="+mn-ea"/>
              <a:cs typeface="+mn-cs"/>
              <a:sym typeface="+mn-lt"/>
            </a:endParaRPr>
          </a:p>
        </p:txBody>
      </p:sp>
      <p:sp>
        <p:nvSpPr>
          <p:cNvPr id="2" name="Title 1"/>
          <p:cNvSpPr>
            <a:spLocks noGrp="1"/>
          </p:cNvSpPr>
          <p:nvPr>
            <p:ph type="title"/>
          </p:nvPr>
        </p:nvSpPr>
        <p:spPr>
          <a:xfrm>
            <a:off x="630000" y="622800"/>
            <a:ext cx="10933350" cy="332399"/>
          </a:xfrm>
        </p:spPr>
        <p:txBody>
          <a:bodyPr/>
          <a:lstStyle/>
          <a:p>
            <a:r>
              <a:rPr lang="en-US"/>
              <a:t>We’ve categorized banking use cases by types of outcomes</a:t>
            </a:r>
          </a:p>
        </p:txBody>
      </p:sp>
      <p:sp>
        <p:nvSpPr>
          <p:cNvPr id="25" name="ee4pContent1"/>
          <p:cNvSpPr txBox="1"/>
          <p:nvPr/>
        </p:nvSpPr>
        <p:spPr>
          <a:xfrm>
            <a:off x="678025" y="3897729"/>
            <a:ext cx="3185058" cy="424780"/>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defPPr>
              <a:defRPr lang="en-US"/>
            </a:defPPr>
            <a:lvl1pPr>
              <a:buSzPct val="100000"/>
              <a:buFont typeface="Trebuchet MS" panose="020B0603020202020204" pitchFamily="34" charset="0"/>
              <a:buChar char="​"/>
              <a:defRPr sz="1400">
                <a:solidFill>
                  <a:srgbClr val="575757"/>
                </a:solidFill>
              </a:defRPr>
            </a:lvl1pPr>
            <a:lvl2pPr marL="324000" lvl="1" indent="-216000">
              <a:buClr>
                <a:srgbClr val="2E3558"/>
              </a:buClr>
              <a:buSzPct val="100000"/>
              <a:buFont typeface="Trebuchet MS" panose="020B0603020202020204" pitchFamily="34" charset="0"/>
              <a:buChar char="•"/>
              <a:defRPr sz="1400">
                <a:solidFill>
                  <a:srgbClr val="575757"/>
                </a:solidFill>
              </a:defRPr>
            </a:lvl2pPr>
            <a:lvl3pPr marL="648000" lvl="2" indent="-216000">
              <a:buClr>
                <a:srgbClr val="2E3558"/>
              </a:buClr>
              <a:buSzPct val="100000"/>
              <a:buFont typeface="Trebuchet MS" panose="020B0603020202020204" pitchFamily="34" charset="0"/>
              <a:buChar char="–"/>
              <a:defRPr sz="1400">
                <a:solidFill>
                  <a:srgbClr val="575757"/>
                </a:solidFill>
              </a:defRPr>
            </a:lvl3pPr>
            <a:lvl4pPr marL="0" lvl="3">
              <a:buSzPct val="100000"/>
              <a:buFont typeface="Trebuchet MS" panose="020B0603020202020204" pitchFamily="34" charset="0"/>
              <a:buChar char="​"/>
              <a:defRPr>
                <a:solidFill>
                  <a:srgbClr val="2E3558"/>
                </a:solidFill>
                <a:latin typeface="+mj-lt"/>
              </a:defRPr>
            </a:lvl4pPr>
            <a:lvl5pPr marL="0" lvl="4">
              <a:buSzPct val="100000"/>
              <a:buFont typeface="Trebuchet MS" panose="020B0603020202020204" pitchFamily="34" charset="0"/>
              <a:buChar char="​"/>
              <a:defRPr b="1">
                <a:solidFill>
                  <a:srgbClr val="575757"/>
                </a:solidFill>
              </a:defRPr>
            </a:lvl5pPr>
            <a:lvl6pPr marL="324000" lvl="5" indent="-216000">
              <a:buClr>
                <a:srgbClr val="2E3558"/>
              </a:buClr>
              <a:buSzPct val="100000"/>
              <a:buFont typeface="Trebuchet MS" panose="020B0603020202020204" pitchFamily="34" charset="0"/>
              <a:buChar char="•"/>
              <a:defRPr>
                <a:solidFill>
                  <a:srgbClr val="575757"/>
                </a:solidFill>
              </a:defRPr>
            </a:lvl6pPr>
            <a:lvl7pPr marL="0" lvl="6">
              <a:buSzPct val="100000"/>
              <a:buFont typeface="Trebuchet MS" panose="020B0603020202020204" pitchFamily="34" charset="0"/>
              <a:buChar char="​"/>
              <a:defRPr sz="4400">
                <a:solidFill>
                  <a:srgbClr val="575757"/>
                </a:solidFill>
              </a:defRPr>
            </a:lvl7pPr>
            <a:lvl8pPr marL="0" lvl="7">
              <a:buSzPct val="100000"/>
              <a:buFont typeface="Trebuchet MS" panose="020B0603020202020204" pitchFamily="34" charset="0"/>
              <a:buChar char="​"/>
              <a:defRPr sz="5400">
                <a:solidFill>
                  <a:srgbClr val="2E3558"/>
                </a:solidFill>
              </a:defRPr>
            </a:lvl8pPr>
            <a:lvl9pPr marL="0" lvl="8">
              <a:buSzPct val="100000"/>
              <a:buFont typeface="Trebuchet MS" panose="020B0603020202020204" pitchFamily="34" charset="0"/>
              <a:buChar char="​"/>
              <a:defRPr sz="2400">
                <a:solidFill>
                  <a:srgbClr val="2E3558"/>
                </a:solidFill>
              </a:defRPr>
            </a:lvl9pPr>
          </a:lstStyle>
          <a:p>
            <a:r>
              <a:rPr lang="en-US" sz="1200" b="1">
                <a:solidFill>
                  <a:srgbClr val="295E7E"/>
                </a:solidFill>
              </a:rPr>
              <a:t>Precision targeted paid media, improving spend efficiency &amp; effectiveness while growing share of digital</a:t>
            </a:r>
          </a:p>
        </p:txBody>
      </p:sp>
      <p:sp>
        <p:nvSpPr>
          <p:cNvPr id="26" name="ee4pContent2"/>
          <p:cNvSpPr txBox="1"/>
          <p:nvPr/>
        </p:nvSpPr>
        <p:spPr>
          <a:xfrm>
            <a:off x="4525686" y="3897729"/>
            <a:ext cx="3185058" cy="569034"/>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defPPr>
              <a:defRPr lang="en-US"/>
            </a:defPPr>
            <a:lvl1pPr>
              <a:buSzPct val="100000"/>
              <a:buFont typeface="Trebuchet MS" panose="020B0603020202020204" pitchFamily="34" charset="0"/>
              <a:buChar char="​"/>
              <a:defRPr sz="1400">
                <a:solidFill>
                  <a:srgbClr val="575757"/>
                </a:solidFill>
              </a:defRPr>
            </a:lvl1pPr>
            <a:lvl2pPr marL="324000" lvl="1" indent="-216000">
              <a:buClr>
                <a:srgbClr val="2E3558"/>
              </a:buClr>
              <a:buSzPct val="100000"/>
              <a:buFont typeface="Trebuchet MS" panose="020B0603020202020204" pitchFamily="34" charset="0"/>
              <a:buChar char="•"/>
              <a:defRPr sz="1400">
                <a:solidFill>
                  <a:srgbClr val="575757"/>
                </a:solidFill>
              </a:defRPr>
            </a:lvl2pPr>
            <a:lvl3pPr marL="648000" lvl="2" indent="-216000">
              <a:buClr>
                <a:srgbClr val="2E3558"/>
              </a:buClr>
              <a:buSzPct val="100000"/>
              <a:buFont typeface="Trebuchet MS" panose="020B0603020202020204" pitchFamily="34" charset="0"/>
              <a:buChar char="–"/>
              <a:defRPr sz="1400">
                <a:solidFill>
                  <a:srgbClr val="575757"/>
                </a:solidFill>
              </a:defRPr>
            </a:lvl3pPr>
            <a:lvl4pPr marL="0" lvl="3">
              <a:buSzPct val="100000"/>
              <a:buFont typeface="Trebuchet MS" panose="020B0603020202020204" pitchFamily="34" charset="0"/>
              <a:buChar char="​"/>
              <a:defRPr>
                <a:solidFill>
                  <a:srgbClr val="2E3558"/>
                </a:solidFill>
                <a:latin typeface="+mj-lt"/>
              </a:defRPr>
            </a:lvl4pPr>
            <a:lvl5pPr marL="0" lvl="4">
              <a:buSzPct val="100000"/>
              <a:buFont typeface="Trebuchet MS" panose="020B0603020202020204" pitchFamily="34" charset="0"/>
              <a:buChar char="​"/>
              <a:defRPr b="1">
                <a:solidFill>
                  <a:srgbClr val="575757"/>
                </a:solidFill>
              </a:defRPr>
            </a:lvl5pPr>
            <a:lvl6pPr marL="324000" lvl="5" indent="-216000">
              <a:buClr>
                <a:srgbClr val="2E3558"/>
              </a:buClr>
              <a:buSzPct val="100000"/>
              <a:buFont typeface="Trebuchet MS" panose="020B0603020202020204" pitchFamily="34" charset="0"/>
              <a:buChar char="•"/>
              <a:defRPr>
                <a:solidFill>
                  <a:srgbClr val="575757"/>
                </a:solidFill>
              </a:defRPr>
            </a:lvl6pPr>
            <a:lvl7pPr marL="0" lvl="6">
              <a:buSzPct val="100000"/>
              <a:buFont typeface="Trebuchet MS" panose="020B0603020202020204" pitchFamily="34" charset="0"/>
              <a:buChar char="​"/>
              <a:defRPr sz="4400">
                <a:solidFill>
                  <a:srgbClr val="575757"/>
                </a:solidFill>
              </a:defRPr>
            </a:lvl7pPr>
            <a:lvl8pPr marL="0" lvl="7">
              <a:buSzPct val="100000"/>
              <a:buFont typeface="Trebuchet MS" panose="020B0603020202020204" pitchFamily="34" charset="0"/>
              <a:buChar char="​"/>
              <a:defRPr sz="5400">
                <a:solidFill>
                  <a:srgbClr val="2E3558"/>
                </a:solidFill>
              </a:defRPr>
            </a:lvl8pPr>
            <a:lvl9pPr marL="0" lvl="8">
              <a:buSzPct val="100000"/>
              <a:buFont typeface="Trebuchet MS" panose="020B0603020202020204" pitchFamily="34" charset="0"/>
              <a:buChar char="​"/>
              <a:defRPr sz="2400">
                <a:solidFill>
                  <a:srgbClr val="2E3558"/>
                </a:solidFill>
              </a:defRPr>
            </a:lvl9pPr>
          </a:lstStyle>
          <a:p>
            <a:r>
              <a:rPr lang="en-US" sz="1200" b="1">
                <a:solidFill>
                  <a:srgbClr val="295E7E"/>
                </a:solidFill>
              </a:rPr>
              <a:t>Hyper-personalized offers &amp; orchestrating omnichannel customer journeys, digitally &amp; in branch networks</a:t>
            </a:r>
          </a:p>
        </p:txBody>
      </p:sp>
      <p:sp>
        <p:nvSpPr>
          <p:cNvPr id="28" name="ee4pContent4"/>
          <p:cNvSpPr txBox="1"/>
          <p:nvPr/>
        </p:nvSpPr>
        <p:spPr>
          <a:xfrm>
            <a:off x="8463850" y="3897729"/>
            <a:ext cx="3185058" cy="399704"/>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defPPr>
              <a:defRPr lang="en-US"/>
            </a:defPPr>
            <a:lvl1pPr>
              <a:buSzPct val="100000"/>
              <a:buFont typeface="Trebuchet MS" panose="020B0603020202020204" pitchFamily="34" charset="0"/>
              <a:buChar char="​"/>
              <a:defRPr sz="1400">
                <a:solidFill>
                  <a:srgbClr val="575757"/>
                </a:solidFill>
              </a:defRPr>
            </a:lvl1pPr>
            <a:lvl2pPr marL="324000" lvl="1" indent="-216000">
              <a:buClr>
                <a:srgbClr val="2E3558"/>
              </a:buClr>
              <a:buSzPct val="100000"/>
              <a:buFont typeface="Trebuchet MS" panose="020B0603020202020204" pitchFamily="34" charset="0"/>
              <a:buChar char="•"/>
              <a:defRPr sz="1400">
                <a:solidFill>
                  <a:srgbClr val="575757"/>
                </a:solidFill>
              </a:defRPr>
            </a:lvl2pPr>
            <a:lvl3pPr marL="648000" lvl="2" indent="-216000">
              <a:buClr>
                <a:srgbClr val="2E3558"/>
              </a:buClr>
              <a:buSzPct val="100000"/>
              <a:buFont typeface="Trebuchet MS" panose="020B0603020202020204" pitchFamily="34" charset="0"/>
              <a:buChar char="–"/>
              <a:defRPr sz="1400">
                <a:solidFill>
                  <a:srgbClr val="575757"/>
                </a:solidFill>
              </a:defRPr>
            </a:lvl3pPr>
            <a:lvl4pPr marL="0" lvl="3">
              <a:buSzPct val="100000"/>
              <a:buFont typeface="Trebuchet MS" panose="020B0603020202020204" pitchFamily="34" charset="0"/>
              <a:buChar char="​"/>
              <a:defRPr>
                <a:solidFill>
                  <a:srgbClr val="2E3558"/>
                </a:solidFill>
                <a:latin typeface="+mj-lt"/>
              </a:defRPr>
            </a:lvl4pPr>
            <a:lvl5pPr marL="0" lvl="4">
              <a:buSzPct val="100000"/>
              <a:buFont typeface="Trebuchet MS" panose="020B0603020202020204" pitchFamily="34" charset="0"/>
              <a:buChar char="​"/>
              <a:defRPr b="1">
                <a:solidFill>
                  <a:srgbClr val="575757"/>
                </a:solidFill>
              </a:defRPr>
            </a:lvl5pPr>
            <a:lvl6pPr marL="324000" lvl="5" indent="-216000">
              <a:buClr>
                <a:srgbClr val="2E3558"/>
              </a:buClr>
              <a:buSzPct val="100000"/>
              <a:buFont typeface="Trebuchet MS" panose="020B0603020202020204" pitchFamily="34" charset="0"/>
              <a:buChar char="•"/>
              <a:defRPr>
                <a:solidFill>
                  <a:srgbClr val="575757"/>
                </a:solidFill>
              </a:defRPr>
            </a:lvl6pPr>
            <a:lvl7pPr marL="0" lvl="6">
              <a:buSzPct val="100000"/>
              <a:buFont typeface="Trebuchet MS" panose="020B0603020202020204" pitchFamily="34" charset="0"/>
              <a:buChar char="​"/>
              <a:defRPr sz="4400">
                <a:solidFill>
                  <a:srgbClr val="575757"/>
                </a:solidFill>
              </a:defRPr>
            </a:lvl7pPr>
            <a:lvl8pPr marL="0" lvl="7">
              <a:buSzPct val="100000"/>
              <a:buFont typeface="Trebuchet MS" panose="020B0603020202020204" pitchFamily="34" charset="0"/>
              <a:buChar char="​"/>
              <a:defRPr sz="5400">
                <a:solidFill>
                  <a:srgbClr val="2E3558"/>
                </a:solidFill>
              </a:defRPr>
            </a:lvl8pPr>
            <a:lvl9pPr marL="0" lvl="8">
              <a:buSzPct val="100000"/>
              <a:buFont typeface="Trebuchet MS" panose="020B0603020202020204" pitchFamily="34" charset="0"/>
              <a:buChar char="​"/>
              <a:defRPr sz="2400">
                <a:solidFill>
                  <a:srgbClr val="2E3558"/>
                </a:solidFill>
              </a:defRPr>
            </a:lvl9pPr>
          </a:lstStyle>
          <a:p>
            <a:r>
              <a:rPr lang="en-US" sz="1200" b="1">
                <a:solidFill>
                  <a:srgbClr val="295E7E"/>
                </a:solidFill>
              </a:rPr>
              <a:t>Tactics to encourage product usage, retain customers and increase customer lifetime value </a:t>
            </a:r>
          </a:p>
        </p:txBody>
      </p:sp>
      <p:sp>
        <p:nvSpPr>
          <p:cNvPr id="29" name="ee4pHeader1"/>
          <p:cNvSpPr txBox="1"/>
          <p:nvPr/>
        </p:nvSpPr>
        <p:spPr>
          <a:xfrm>
            <a:off x="678025" y="3073657"/>
            <a:ext cx="1934526" cy="267175"/>
          </a:xfrm>
          <a:prstGeom prst="rect">
            <a:avLst/>
          </a:prstGeom>
          <a:noFill/>
          <a:ln cap="rnd">
            <a:noFill/>
          </a:ln>
        </p:spPr>
        <p:txBody>
          <a:bodyPr vert="horz" wrap="square" lIns="0" tIns="0" rIns="0" bIns="0" rtlCol="0" anchor="t" anchorCtr="0">
            <a:noAutofit/>
          </a:bodyPr>
          <a:lstStyle/>
          <a:p>
            <a:pPr marL="0" lvl="3"/>
            <a:r>
              <a:rPr lang="en-US">
                <a:solidFill>
                  <a:srgbClr val="29BA74">
                    <a:lumMod val="100000"/>
                  </a:srgbClr>
                </a:solidFill>
                <a:latin typeface="Work Sans SemiBold" panose="00000700000000000000" pitchFamily="2" charset="0"/>
                <a:sym typeface="+mn-lt"/>
              </a:rPr>
              <a:t>Precision media</a:t>
            </a:r>
          </a:p>
        </p:txBody>
      </p:sp>
      <p:sp>
        <p:nvSpPr>
          <p:cNvPr id="30" name="ee4pHeader2"/>
          <p:cNvSpPr txBox="1"/>
          <p:nvPr/>
        </p:nvSpPr>
        <p:spPr>
          <a:xfrm>
            <a:off x="4586216" y="3074735"/>
            <a:ext cx="3549265" cy="265018"/>
          </a:xfrm>
          <a:prstGeom prst="rect">
            <a:avLst/>
          </a:prstGeom>
          <a:noFill/>
          <a:ln cap="rnd">
            <a:noFill/>
          </a:ln>
        </p:spPr>
        <p:txBody>
          <a:bodyPr vert="horz" wrap="square" lIns="0" tIns="0" rIns="0" bIns="0" rtlCol="0" anchor="t" anchorCtr="0">
            <a:noAutofit/>
          </a:bodyPr>
          <a:lstStyle/>
          <a:p>
            <a:pPr marL="0" lvl="3"/>
            <a:r>
              <a:rPr lang="en-US">
                <a:solidFill>
                  <a:srgbClr val="29BA74">
                    <a:lumMod val="100000"/>
                  </a:srgbClr>
                </a:solidFill>
                <a:latin typeface="Work Sans SemiBold" panose="00000700000000000000" pitchFamily="2" charset="0"/>
                <a:sym typeface="+mn-lt"/>
              </a:rPr>
              <a:t>1:1 owned channel experiences</a:t>
            </a:r>
          </a:p>
        </p:txBody>
      </p:sp>
      <p:sp>
        <p:nvSpPr>
          <p:cNvPr id="32" name="ee4pHeader4"/>
          <p:cNvSpPr txBox="1"/>
          <p:nvPr/>
        </p:nvSpPr>
        <p:spPr>
          <a:xfrm>
            <a:off x="8463851" y="3104276"/>
            <a:ext cx="2198458" cy="205937"/>
          </a:xfrm>
          <a:prstGeom prst="rect">
            <a:avLst/>
          </a:prstGeom>
          <a:noFill/>
          <a:ln cap="rnd">
            <a:noFill/>
          </a:ln>
        </p:spPr>
        <p:txBody>
          <a:bodyPr vert="horz" wrap="square" lIns="0" tIns="0" rIns="0" bIns="0" rtlCol="0" anchor="t" anchorCtr="0">
            <a:noAutofit/>
          </a:bodyPr>
          <a:lstStyle/>
          <a:p>
            <a:pPr marL="0" lvl="3"/>
            <a:r>
              <a:rPr lang="en-US">
                <a:solidFill>
                  <a:srgbClr val="29BA74">
                    <a:lumMod val="100000"/>
                  </a:srgbClr>
                </a:solidFill>
                <a:latin typeface="Work Sans SemiBold" panose="00000700000000000000" pitchFamily="2" charset="0"/>
                <a:sym typeface="+mn-lt"/>
              </a:rPr>
              <a:t>Loyalty &amp; advocacy</a:t>
            </a:r>
          </a:p>
        </p:txBody>
      </p:sp>
      <p:sp>
        <p:nvSpPr>
          <p:cNvPr id="33" name="ee4pContent1"/>
          <p:cNvSpPr txBox="1"/>
          <p:nvPr/>
        </p:nvSpPr>
        <p:spPr>
          <a:xfrm>
            <a:off x="629999" y="4617389"/>
            <a:ext cx="3185058" cy="854233"/>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defPPr>
              <a:defRPr lang="en-US"/>
            </a:defPPr>
            <a:lvl1pPr>
              <a:buSzPct val="100000"/>
              <a:buFont typeface="Trebuchet MS" panose="020B0603020202020204" pitchFamily="34" charset="0"/>
              <a:buChar char="​"/>
              <a:defRPr sz="1400">
                <a:solidFill>
                  <a:srgbClr val="575757"/>
                </a:solidFill>
              </a:defRPr>
            </a:lvl1pPr>
            <a:lvl2pPr marL="324000" lvl="1" indent="-216000">
              <a:buClr>
                <a:srgbClr val="2E3558"/>
              </a:buClr>
              <a:buSzPct val="100000"/>
              <a:buFont typeface="Trebuchet MS" panose="020B0603020202020204" pitchFamily="34" charset="0"/>
              <a:buChar char="•"/>
              <a:defRPr sz="1400">
                <a:solidFill>
                  <a:srgbClr val="575757"/>
                </a:solidFill>
              </a:defRPr>
            </a:lvl2pPr>
            <a:lvl3pPr marL="648000" lvl="2" indent="-216000">
              <a:buClr>
                <a:srgbClr val="2E3558"/>
              </a:buClr>
              <a:buSzPct val="100000"/>
              <a:buFont typeface="Trebuchet MS" panose="020B0603020202020204" pitchFamily="34" charset="0"/>
              <a:buChar char="–"/>
              <a:defRPr sz="1400">
                <a:solidFill>
                  <a:srgbClr val="575757"/>
                </a:solidFill>
              </a:defRPr>
            </a:lvl3pPr>
            <a:lvl4pPr marL="0" lvl="3">
              <a:buSzPct val="100000"/>
              <a:buFont typeface="Trebuchet MS" panose="020B0603020202020204" pitchFamily="34" charset="0"/>
              <a:buChar char="​"/>
              <a:defRPr>
                <a:solidFill>
                  <a:srgbClr val="2E3558"/>
                </a:solidFill>
                <a:latin typeface="+mj-lt"/>
              </a:defRPr>
            </a:lvl4pPr>
            <a:lvl5pPr marL="0" lvl="4">
              <a:buSzPct val="100000"/>
              <a:buFont typeface="Trebuchet MS" panose="020B0603020202020204" pitchFamily="34" charset="0"/>
              <a:buChar char="​"/>
              <a:defRPr b="1">
                <a:solidFill>
                  <a:srgbClr val="575757"/>
                </a:solidFill>
              </a:defRPr>
            </a:lvl5pPr>
            <a:lvl6pPr marL="324000" lvl="5" indent="-216000">
              <a:buClr>
                <a:srgbClr val="2E3558"/>
              </a:buClr>
              <a:buSzPct val="100000"/>
              <a:buFont typeface="Trebuchet MS" panose="020B0603020202020204" pitchFamily="34" charset="0"/>
              <a:buChar char="•"/>
              <a:defRPr>
                <a:solidFill>
                  <a:srgbClr val="575757"/>
                </a:solidFill>
              </a:defRPr>
            </a:lvl6pPr>
            <a:lvl7pPr marL="0" lvl="6">
              <a:buSzPct val="100000"/>
              <a:buFont typeface="Trebuchet MS" panose="020B0603020202020204" pitchFamily="34" charset="0"/>
              <a:buChar char="​"/>
              <a:defRPr sz="4400">
                <a:solidFill>
                  <a:srgbClr val="575757"/>
                </a:solidFill>
              </a:defRPr>
            </a:lvl7pPr>
            <a:lvl8pPr marL="0" lvl="7">
              <a:buSzPct val="100000"/>
              <a:buFont typeface="Trebuchet MS" panose="020B0603020202020204" pitchFamily="34" charset="0"/>
              <a:buChar char="​"/>
              <a:defRPr sz="5400">
                <a:solidFill>
                  <a:srgbClr val="2E3558"/>
                </a:solidFill>
              </a:defRPr>
            </a:lvl8pPr>
            <a:lvl9pPr marL="0" lvl="8">
              <a:buSzPct val="100000"/>
              <a:buFont typeface="Trebuchet MS" panose="020B0603020202020204" pitchFamily="34" charset="0"/>
              <a:buChar char="​"/>
              <a:defRPr sz="2400">
                <a:solidFill>
                  <a:srgbClr val="2E3558"/>
                </a:solidFill>
              </a:defRPr>
            </a:lvl9pPr>
          </a:lstStyle>
          <a:p>
            <a:pPr marL="171450" lvl="1" indent="-171450">
              <a:buClr>
                <a:srgbClr val="2E3558">
                  <a:lumMod val="100000"/>
                </a:srgbClr>
              </a:buClr>
            </a:pPr>
            <a:r>
              <a:rPr lang="en-US" sz="1200">
                <a:latin typeface="Work Sans" panose="020B0604020202020204" charset="0"/>
              </a:rPr>
              <a:t>Mix optimization</a:t>
            </a:r>
          </a:p>
          <a:p>
            <a:pPr marL="171450" lvl="1" indent="-171450">
              <a:buClr>
                <a:srgbClr val="2E3558">
                  <a:lumMod val="100000"/>
                </a:srgbClr>
              </a:buClr>
            </a:pPr>
            <a:r>
              <a:rPr lang="en-US" sz="1200">
                <a:latin typeface="Work Sans" panose="020B0604020202020204" charset="0"/>
              </a:rPr>
              <a:t>Frequency management</a:t>
            </a:r>
          </a:p>
          <a:p>
            <a:pPr marL="171450" lvl="1" indent="-171450">
              <a:buClr>
                <a:srgbClr val="2E3558">
                  <a:lumMod val="100000"/>
                </a:srgbClr>
              </a:buClr>
            </a:pPr>
            <a:r>
              <a:rPr lang="en-US" sz="1200">
                <a:latin typeface="Work Sans" panose="020B0604020202020204" charset="0"/>
              </a:rPr>
              <a:t>Improved targeting (precision geo-targeting)</a:t>
            </a:r>
          </a:p>
          <a:p>
            <a:pPr marL="171450" lvl="1" indent="-171450">
              <a:buClr>
                <a:srgbClr val="2E3558">
                  <a:lumMod val="100000"/>
                </a:srgbClr>
              </a:buClr>
            </a:pPr>
            <a:r>
              <a:rPr lang="en-US" sz="1200">
                <a:latin typeface="Work Sans" panose="020B0604020202020204" charset="0"/>
              </a:rPr>
              <a:t>Triggered engagement</a:t>
            </a:r>
            <a:endParaRPr lang="en-US" sz="1200">
              <a:solidFill>
                <a:srgbClr val="575757">
                  <a:lumMod val="100000"/>
                </a:srgbClr>
              </a:solidFill>
              <a:latin typeface="Work Sans" panose="00000500000000000000" pitchFamily="2" charset="0"/>
            </a:endParaRPr>
          </a:p>
        </p:txBody>
      </p:sp>
      <p:sp>
        <p:nvSpPr>
          <p:cNvPr id="34" name="ee4pContent2"/>
          <p:cNvSpPr txBox="1"/>
          <p:nvPr/>
        </p:nvSpPr>
        <p:spPr>
          <a:xfrm>
            <a:off x="4542252" y="4567527"/>
            <a:ext cx="3427466" cy="1813316"/>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defPPr>
              <a:defRPr lang="en-US"/>
            </a:defPPr>
            <a:lvl1pPr>
              <a:buSzPct val="100000"/>
              <a:buFont typeface="Trebuchet MS" panose="020B0603020202020204" pitchFamily="34" charset="0"/>
              <a:buChar char="​"/>
              <a:defRPr sz="1400">
                <a:solidFill>
                  <a:srgbClr val="575757"/>
                </a:solidFill>
              </a:defRPr>
            </a:lvl1pPr>
            <a:lvl2pPr marL="324000" lvl="1" indent="-216000">
              <a:buClr>
                <a:srgbClr val="2E3558"/>
              </a:buClr>
              <a:buSzPct val="100000"/>
              <a:buFont typeface="Trebuchet MS" panose="020B0603020202020204" pitchFamily="34" charset="0"/>
              <a:buChar char="•"/>
              <a:defRPr sz="1400">
                <a:solidFill>
                  <a:srgbClr val="575757"/>
                </a:solidFill>
              </a:defRPr>
            </a:lvl2pPr>
            <a:lvl3pPr marL="648000" lvl="2" indent="-216000">
              <a:buClr>
                <a:srgbClr val="2E3558"/>
              </a:buClr>
              <a:buSzPct val="100000"/>
              <a:buFont typeface="Trebuchet MS" panose="020B0603020202020204" pitchFamily="34" charset="0"/>
              <a:buChar char="–"/>
              <a:defRPr sz="1400">
                <a:solidFill>
                  <a:srgbClr val="575757"/>
                </a:solidFill>
              </a:defRPr>
            </a:lvl3pPr>
            <a:lvl4pPr marL="0" lvl="3">
              <a:buSzPct val="100000"/>
              <a:buFont typeface="Trebuchet MS" panose="020B0603020202020204" pitchFamily="34" charset="0"/>
              <a:buChar char="​"/>
              <a:defRPr>
                <a:solidFill>
                  <a:srgbClr val="2E3558"/>
                </a:solidFill>
                <a:latin typeface="+mj-lt"/>
              </a:defRPr>
            </a:lvl4pPr>
            <a:lvl5pPr marL="0" lvl="4">
              <a:buSzPct val="100000"/>
              <a:buFont typeface="Trebuchet MS" panose="020B0603020202020204" pitchFamily="34" charset="0"/>
              <a:buChar char="​"/>
              <a:defRPr b="1">
                <a:solidFill>
                  <a:srgbClr val="575757"/>
                </a:solidFill>
              </a:defRPr>
            </a:lvl5pPr>
            <a:lvl6pPr marL="324000" lvl="5" indent="-216000">
              <a:buClr>
                <a:srgbClr val="2E3558"/>
              </a:buClr>
              <a:buSzPct val="100000"/>
              <a:buFont typeface="Trebuchet MS" panose="020B0603020202020204" pitchFamily="34" charset="0"/>
              <a:buChar char="•"/>
              <a:defRPr>
                <a:solidFill>
                  <a:srgbClr val="575757"/>
                </a:solidFill>
              </a:defRPr>
            </a:lvl6pPr>
            <a:lvl7pPr marL="0" lvl="6">
              <a:buSzPct val="100000"/>
              <a:buFont typeface="Trebuchet MS" panose="020B0603020202020204" pitchFamily="34" charset="0"/>
              <a:buChar char="​"/>
              <a:defRPr sz="4400">
                <a:solidFill>
                  <a:srgbClr val="575757"/>
                </a:solidFill>
              </a:defRPr>
            </a:lvl7pPr>
            <a:lvl8pPr marL="0" lvl="7">
              <a:buSzPct val="100000"/>
              <a:buFont typeface="Trebuchet MS" panose="020B0603020202020204" pitchFamily="34" charset="0"/>
              <a:buChar char="​"/>
              <a:defRPr sz="5400">
                <a:solidFill>
                  <a:srgbClr val="2E3558"/>
                </a:solidFill>
              </a:defRPr>
            </a:lvl8pPr>
            <a:lvl9pPr marL="0" lvl="8">
              <a:buSzPct val="100000"/>
              <a:buFont typeface="Trebuchet MS" panose="020B0603020202020204" pitchFamily="34" charset="0"/>
              <a:buChar char="​"/>
              <a:defRPr sz="2400">
                <a:solidFill>
                  <a:srgbClr val="2E3558"/>
                </a:solidFill>
              </a:defRPr>
            </a:lvl9pPr>
          </a:lstStyle>
          <a:p>
            <a:pPr lvl="1"/>
            <a:r>
              <a:rPr lang="en-US" sz="1200"/>
              <a:t>Next best action/offer</a:t>
            </a:r>
          </a:p>
          <a:p>
            <a:pPr lvl="1"/>
            <a:r>
              <a:rPr lang="en-US" sz="1200"/>
              <a:t>Cross-sell recommendations (PDP, email, app)</a:t>
            </a:r>
          </a:p>
          <a:p>
            <a:pPr lvl="1"/>
            <a:r>
              <a:rPr lang="en-US" sz="1200"/>
              <a:t>Gamification/multi-step</a:t>
            </a:r>
          </a:p>
          <a:p>
            <a:pPr lvl="1"/>
            <a:r>
              <a:rPr lang="en-US" sz="1200"/>
              <a:t>Expand contactable customer base (e-mail acquisition, app download)</a:t>
            </a:r>
          </a:p>
          <a:p>
            <a:pPr lvl="1"/>
            <a:r>
              <a:rPr lang="en-US" sz="1200"/>
              <a:t>Bionic personalization</a:t>
            </a:r>
          </a:p>
          <a:p>
            <a:pPr lvl="1"/>
            <a:r>
              <a:rPr lang="en-US" sz="1200"/>
              <a:t>Triggered engagement</a:t>
            </a:r>
          </a:p>
          <a:p>
            <a:pPr lvl="1"/>
            <a:r>
              <a:rPr lang="en-US" sz="1200"/>
              <a:t>Personalized partnerships (e.g., cards/merchant funded offers)</a:t>
            </a:r>
          </a:p>
          <a:p>
            <a:pPr lvl="1"/>
            <a:r>
              <a:rPr lang="en-US" sz="1200"/>
              <a:t>Personalized product renewal/extension</a:t>
            </a:r>
          </a:p>
        </p:txBody>
      </p:sp>
      <p:sp>
        <p:nvSpPr>
          <p:cNvPr id="36" name="ee4pContent4"/>
          <p:cNvSpPr txBox="1"/>
          <p:nvPr/>
        </p:nvSpPr>
        <p:spPr>
          <a:xfrm>
            <a:off x="8366828" y="4567527"/>
            <a:ext cx="3185058" cy="854233"/>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defPPr>
              <a:defRPr lang="en-US"/>
            </a:defPPr>
            <a:lvl1pPr>
              <a:buSzPct val="100000"/>
              <a:buFont typeface="Trebuchet MS" panose="020B0603020202020204" pitchFamily="34" charset="0"/>
              <a:buChar char="​"/>
              <a:defRPr sz="1400">
                <a:solidFill>
                  <a:srgbClr val="575757"/>
                </a:solidFill>
              </a:defRPr>
            </a:lvl1pPr>
            <a:lvl2pPr marL="324000" lvl="1" indent="-216000">
              <a:buClr>
                <a:srgbClr val="2E3558"/>
              </a:buClr>
              <a:buSzPct val="100000"/>
              <a:buFont typeface="Trebuchet MS" panose="020B0603020202020204" pitchFamily="34" charset="0"/>
              <a:buChar char="•"/>
              <a:defRPr sz="1400">
                <a:solidFill>
                  <a:srgbClr val="575757"/>
                </a:solidFill>
              </a:defRPr>
            </a:lvl2pPr>
            <a:lvl3pPr marL="648000" lvl="2" indent="-216000">
              <a:buClr>
                <a:srgbClr val="2E3558"/>
              </a:buClr>
              <a:buSzPct val="100000"/>
              <a:buFont typeface="Trebuchet MS" panose="020B0603020202020204" pitchFamily="34" charset="0"/>
              <a:buChar char="–"/>
              <a:defRPr sz="1400">
                <a:solidFill>
                  <a:srgbClr val="575757"/>
                </a:solidFill>
              </a:defRPr>
            </a:lvl3pPr>
            <a:lvl4pPr marL="0" lvl="3">
              <a:buSzPct val="100000"/>
              <a:buFont typeface="Trebuchet MS" panose="020B0603020202020204" pitchFamily="34" charset="0"/>
              <a:buChar char="​"/>
              <a:defRPr>
                <a:solidFill>
                  <a:srgbClr val="2E3558"/>
                </a:solidFill>
                <a:latin typeface="+mj-lt"/>
              </a:defRPr>
            </a:lvl4pPr>
            <a:lvl5pPr marL="0" lvl="4">
              <a:buSzPct val="100000"/>
              <a:buFont typeface="Trebuchet MS" panose="020B0603020202020204" pitchFamily="34" charset="0"/>
              <a:buChar char="​"/>
              <a:defRPr b="1">
                <a:solidFill>
                  <a:srgbClr val="575757"/>
                </a:solidFill>
              </a:defRPr>
            </a:lvl5pPr>
            <a:lvl6pPr marL="324000" lvl="5" indent="-216000">
              <a:buClr>
                <a:srgbClr val="2E3558"/>
              </a:buClr>
              <a:buSzPct val="100000"/>
              <a:buFont typeface="Trebuchet MS" panose="020B0603020202020204" pitchFamily="34" charset="0"/>
              <a:buChar char="•"/>
              <a:defRPr>
                <a:solidFill>
                  <a:srgbClr val="575757"/>
                </a:solidFill>
              </a:defRPr>
            </a:lvl6pPr>
            <a:lvl7pPr marL="0" lvl="6">
              <a:buSzPct val="100000"/>
              <a:buFont typeface="Trebuchet MS" panose="020B0603020202020204" pitchFamily="34" charset="0"/>
              <a:buChar char="​"/>
              <a:defRPr sz="4400">
                <a:solidFill>
                  <a:srgbClr val="575757"/>
                </a:solidFill>
              </a:defRPr>
            </a:lvl7pPr>
            <a:lvl8pPr marL="0" lvl="7">
              <a:buSzPct val="100000"/>
              <a:buFont typeface="Trebuchet MS" panose="020B0603020202020204" pitchFamily="34" charset="0"/>
              <a:buChar char="​"/>
              <a:defRPr sz="5400">
                <a:solidFill>
                  <a:srgbClr val="2E3558"/>
                </a:solidFill>
              </a:defRPr>
            </a:lvl8pPr>
            <a:lvl9pPr marL="0" lvl="8">
              <a:buSzPct val="100000"/>
              <a:buFont typeface="Trebuchet MS" panose="020B0603020202020204" pitchFamily="34" charset="0"/>
              <a:buChar char="​"/>
              <a:defRPr sz="2400">
                <a:solidFill>
                  <a:srgbClr val="2E3558"/>
                </a:solidFill>
              </a:defRPr>
            </a:lvl9pPr>
          </a:lstStyle>
          <a:p>
            <a:pPr lvl="1"/>
            <a:r>
              <a:rPr lang="en-US" sz="1200"/>
              <a:t>Churn prevention</a:t>
            </a:r>
          </a:p>
          <a:p>
            <a:pPr lvl="1"/>
            <a:r>
              <a:rPr lang="en-US" sz="1200"/>
              <a:t>Re-activation/win-back</a:t>
            </a:r>
          </a:p>
          <a:p>
            <a:pPr lvl="1"/>
            <a:r>
              <a:rPr lang="en-US" sz="1200"/>
              <a:t>Personalized incentives </a:t>
            </a:r>
          </a:p>
          <a:p>
            <a:pPr lvl="1"/>
            <a:r>
              <a:rPr lang="en-US" sz="1200"/>
              <a:t>Surprise and delight</a:t>
            </a:r>
          </a:p>
          <a:p>
            <a:pPr lvl="1"/>
            <a:r>
              <a:rPr lang="en-US" sz="1200"/>
              <a:t>New customer onboarding</a:t>
            </a:r>
          </a:p>
          <a:p>
            <a:pPr lvl="1"/>
            <a:r>
              <a:rPr lang="en-US" sz="1200"/>
              <a:t>Referral programs</a:t>
            </a:r>
          </a:p>
          <a:p>
            <a:pPr lvl="1"/>
            <a:r>
              <a:rPr lang="en-US" sz="1200"/>
              <a:t>Personalized, shareable content</a:t>
            </a:r>
          </a:p>
        </p:txBody>
      </p:sp>
      <p:pic>
        <p:nvPicPr>
          <p:cNvPr id="37" name="Picture 36"/>
          <p:cNvPicPr>
            <a:picLocks noChangeAspect="1"/>
          </p:cNvPicPr>
          <p:nvPr/>
        </p:nvPicPr>
        <p:blipFill rotWithShape="1">
          <a:blip r:embed="rId8">
            <a:extLst>
              <a:ext uri="{28A0092B-C50C-407E-A947-70E740481C1C}">
                <a14:useLocalDpi xmlns:a14="http://schemas.microsoft.com/office/drawing/2010/main" val="0"/>
              </a:ext>
            </a:extLst>
          </a:blip>
          <a:srcRect t="48981" r="46616"/>
          <a:stretch/>
        </p:blipFill>
        <p:spPr>
          <a:xfrm>
            <a:off x="10543703" y="-67375"/>
            <a:ext cx="1648297" cy="1695030"/>
          </a:xfrm>
          <a:prstGeom prst="rect">
            <a:avLst/>
          </a:prstGeom>
        </p:spPr>
      </p:pic>
      <p:grpSp>
        <p:nvGrpSpPr>
          <p:cNvPr id="41" name="bcgIcons_Target">
            <a:extLst>
              <a:ext uri="{FF2B5EF4-FFF2-40B4-BE49-F238E27FC236}">
                <a16:creationId xmlns:a16="http://schemas.microsoft.com/office/drawing/2014/main" id="{D12A4919-2326-4206-813C-241C496E1E18}"/>
              </a:ext>
            </a:extLst>
          </p:cNvPr>
          <p:cNvGrpSpPr>
            <a:grpSpLocks noChangeAspect="1"/>
          </p:cNvGrpSpPr>
          <p:nvPr/>
        </p:nvGrpSpPr>
        <p:grpSpPr bwMode="auto">
          <a:xfrm>
            <a:off x="791187" y="1888488"/>
            <a:ext cx="692914" cy="693556"/>
            <a:chOff x="1682" y="0"/>
            <a:chExt cx="4316" cy="4320"/>
          </a:xfrm>
        </p:grpSpPr>
        <p:sp>
          <p:nvSpPr>
            <p:cNvPr id="42" name="AutoShape 23">
              <a:extLst>
                <a:ext uri="{FF2B5EF4-FFF2-40B4-BE49-F238E27FC236}">
                  <a16:creationId xmlns:a16="http://schemas.microsoft.com/office/drawing/2014/main" id="{8D8497EC-D6B6-49E2-A260-3E1D705C7F78}"/>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25">
              <a:extLst>
                <a:ext uri="{FF2B5EF4-FFF2-40B4-BE49-F238E27FC236}">
                  <a16:creationId xmlns:a16="http://schemas.microsoft.com/office/drawing/2014/main" id="{FD321037-36D3-45E3-B9F8-ACBFDADF1442}"/>
                </a:ext>
              </a:extLst>
            </p:cNvPr>
            <p:cNvSpPr>
              <a:spLocks noEditPoints="1"/>
            </p:cNvSpPr>
            <p:nvPr/>
          </p:nvSpPr>
          <p:spPr bwMode="auto">
            <a:xfrm>
              <a:off x="3782" y="838"/>
              <a:ext cx="1832" cy="1367"/>
            </a:xfrm>
            <a:custGeom>
              <a:avLst/>
              <a:gdLst>
                <a:gd name="T0" fmla="*/ 25 w 978"/>
                <a:gd name="T1" fmla="*/ 729 h 729"/>
                <a:gd name="T2" fmla="*/ 7 w 978"/>
                <a:gd name="T3" fmla="*/ 719 h 729"/>
                <a:gd name="T4" fmla="*/ 13 w 978"/>
                <a:gd name="T5" fmla="*/ 689 h 729"/>
                <a:gd name="T6" fmla="*/ 888 w 978"/>
                <a:gd name="T7" fmla="*/ 86 h 729"/>
                <a:gd name="T8" fmla="*/ 919 w 978"/>
                <a:gd name="T9" fmla="*/ 91 h 729"/>
                <a:gd name="T10" fmla="*/ 913 w 978"/>
                <a:gd name="T11" fmla="*/ 122 h 729"/>
                <a:gd name="T12" fmla="*/ 38 w 978"/>
                <a:gd name="T13" fmla="*/ 725 h 729"/>
                <a:gd name="T14" fmla="*/ 25 w 978"/>
                <a:gd name="T15" fmla="*/ 729 h 729"/>
                <a:gd name="T16" fmla="*/ 578 w 978"/>
                <a:gd name="T17" fmla="*/ 254 h 729"/>
                <a:gd name="T18" fmla="*/ 586 w 978"/>
                <a:gd name="T19" fmla="*/ 258 h 729"/>
                <a:gd name="T20" fmla="*/ 825 w 978"/>
                <a:gd name="T21" fmla="*/ 93 h 729"/>
                <a:gd name="T22" fmla="*/ 826 w 978"/>
                <a:gd name="T23" fmla="*/ 91 h 729"/>
                <a:gd name="T24" fmla="*/ 849 w 978"/>
                <a:gd name="T25" fmla="*/ 8 h 729"/>
                <a:gd name="T26" fmla="*/ 841 w 978"/>
                <a:gd name="T27" fmla="*/ 3 h 729"/>
                <a:gd name="T28" fmla="*/ 602 w 978"/>
                <a:gd name="T29" fmla="*/ 166 h 729"/>
                <a:gd name="T30" fmla="*/ 599 w 978"/>
                <a:gd name="T31" fmla="*/ 171 h 729"/>
                <a:gd name="T32" fmla="*/ 578 w 978"/>
                <a:gd name="T33" fmla="*/ 254 h 729"/>
                <a:gd name="T34" fmla="*/ 646 w 978"/>
                <a:gd name="T35" fmla="*/ 352 h 729"/>
                <a:gd name="T36" fmla="*/ 730 w 978"/>
                <a:gd name="T37" fmla="*/ 362 h 729"/>
                <a:gd name="T38" fmla="*/ 736 w 978"/>
                <a:gd name="T39" fmla="*/ 361 h 729"/>
                <a:gd name="T40" fmla="*/ 974 w 978"/>
                <a:gd name="T41" fmla="*/ 196 h 729"/>
                <a:gd name="T42" fmla="*/ 972 w 978"/>
                <a:gd name="T43" fmla="*/ 187 h 729"/>
                <a:gd name="T44" fmla="*/ 886 w 978"/>
                <a:gd name="T45" fmla="*/ 179 h 729"/>
                <a:gd name="T46" fmla="*/ 884 w 978"/>
                <a:gd name="T47" fmla="*/ 179 h 729"/>
                <a:gd name="T48" fmla="*/ 644 w 978"/>
                <a:gd name="T49" fmla="*/ 343 h 729"/>
                <a:gd name="T50" fmla="*/ 646 w 978"/>
                <a:gd name="T51" fmla="*/ 352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78" h="729">
                  <a:moveTo>
                    <a:pt x="25" y="729"/>
                  </a:moveTo>
                  <a:cubicBezTo>
                    <a:pt x="18" y="729"/>
                    <a:pt x="11" y="726"/>
                    <a:pt x="7" y="719"/>
                  </a:cubicBezTo>
                  <a:cubicBezTo>
                    <a:pt x="0" y="709"/>
                    <a:pt x="3" y="696"/>
                    <a:pt x="13" y="689"/>
                  </a:cubicBezTo>
                  <a:cubicBezTo>
                    <a:pt x="888" y="86"/>
                    <a:pt x="888" y="86"/>
                    <a:pt x="888" y="86"/>
                  </a:cubicBezTo>
                  <a:cubicBezTo>
                    <a:pt x="898" y="79"/>
                    <a:pt x="912" y="81"/>
                    <a:pt x="919" y="91"/>
                  </a:cubicBezTo>
                  <a:cubicBezTo>
                    <a:pt x="926" y="101"/>
                    <a:pt x="923" y="115"/>
                    <a:pt x="913" y="122"/>
                  </a:cubicBezTo>
                  <a:cubicBezTo>
                    <a:pt x="38" y="725"/>
                    <a:pt x="38" y="725"/>
                    <a:pt x="38" y="725"/>
                  </a:cubicBezTo>
                  <a:cubicBezTo>
                    <a:pt x="34" y="728"/>
                    <a:pt x="30" y="729"/>
                    <a:pt x="25" y="729"/>
                  </a:cubicBezTo>
                  <a:close/>
                  <a:moveTo>
                    <a:pt x="578" y="254"/>
                  </a:moveTo>
                  <a:cubicBezTo>
                    <a:pt x="577" y="258"/>
                    <a:pt x="582" y="259"/>
                    <a:pt x="586" y="258"/>
                  </a:cubicBezTo>
                  <a:cubicBezTo>
                    <a:pt x="586" y="258"/>
                    <a:pt x="586" y="258"/>
                    <a:pt x="825" y="93"/>
                  </a:cubicBezTo>
                  <a:cubicBezTo>
                    <a:pt x="826" y="93"/>
                    <a:pt x="826" y="93"/>
                    <a:pt x="826" y="91"/>
                  </a:cubicBezTo>
                  <a:cubicBezTo>
                    <a:pt x="826" y="91"/>
                    <a:pt x="826" y="91"/>
                    <a:pt x="849" y="8"/>
                  </a:cubicBezTo>
                  <a:cubicBezTo>
                    <a:pt x="850" y="3"/>
                    <a:pt x="845" y="0"/>
                    <a:pt x="841" y="3"/>
                  </a:cubicBezTo>
                  <a:cubicBezTo>
                    <a:pt x="841" y="3"/>
                    <a:pt x="841" y="3"/>
                    <a:pt x="602" y="166"/>
                  </a:cubicBezTo>
                  <a:cubicBezTo>
                    <a:pt x="601" y="168"/>
                    <a:pt x="601" y="168"/>
                    <a:pt x="599" y="171"/>
                  </a:cubicBezTo>
                  <a:cubicBezTo>
                    <a:pt x="599" y="171"/>
                    <a:pt x="599" y="171"/>
                    <a:pt x="578" y="254"/>
                  </a:cubicBezTo>
                  <a:close/>
                  <a:moveTo>
                    <a:pt x="646" y="352"/>
                  </a:moveTo>
                  <a:cubicBezTo>
                    <a:pt x="730" y="362"/>
                    <a:pt x="730" y="362"/>
                    <a:pt x="730" y="362"/>
                  </a:cubicBezTo>
                  <a:cubicBezTo>
                    <a:pt x="734" y="361"/>
                    <a:pt x="734" y="361"/>
                    <a:pt x="736" y="361"/>
                  </a:cubicBezTo>
                  <a:cubicBezTo>
                    <a:pt x="974" y="196"/>
                    <a:pt x="974" y="196"/>
                    <a:pt x="974" y="196"/>
                  </a:cubicBezTo>
                  <a:cubicBezTo>
                    <a:pt x="978" y="194"/>
                    <a:pt x="978" y="187"/>
                    <a:pt x="972" y="187"/>
                  </a:cubicBezTo>
                  <a:cubicBezTo>
                    <a:pt x="886" y="179"/>
                    <a:pt x="886" y="179"/>
                    <a:pt x="886" y="179"/>
                  </a:cubicBezTo>
                  <a:cubicBezTo>
                    <a:pt x="884" y="177"/>
                    <a:pt x="884" y="177"/>
                    <a:pt x="884" y="179"/>
                  </a:cubicBezTo>
                  <a:cubicBezTo>
                    <a:pt x="644" y="343"/>
                    <a:pt x="644" y="343"/>
                    <a:pt x="644" y="343"/>
                  </a:cubicBezTo>
                  <a:cubicBezTo>
                    <a:pt x="642" y="347"/>
                    <a:pt x="642" y="351"/>
                    <a:pt x="646" y="35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26">
              <a:extLst>
                <a:ext uri="{FF2B5EF4-FFF2-40B4-BE49-F238E27FC236}">
                  <a16:creationId xmlns:a16="http://schemas.microsoft.com/office/drawing/2014/main" id="{71ECDB0C-EB91-4B11-935F-B84B30DB2AFE}"/>
                </a:ext>
              </a:extLst>
            </p:cNvPr>
            <p:cNvSpPr>
              <a:spLocks noEditPoints="1"/>
            </p:cNvSpPr>
            <p:nvPr/>
          </p:nvSpPr>
          <p:spPr bwMode="auto">
            <a:xfrm>
              <a:off x="2422" y="756"/>
              <a:ext cx="2814" cy="2816"/>
            </a:xfrm>
            <a:custGeom>
              <a:avLst/>
              <a:gdLst>
                <a:gd name="T0" fmla="*/ 1016 w 1502"/>
                <a:gd name="T1" fmla="*/ 662 h 1502"/>
                <a:gd name="T2" fmla="*/ 1030 w 1502"/>
                <a:gd name="T3" fmla="*/ 751 h 1502"/>
                <a:gd name="T4" fmla="*/ 751 w 1502"/>
                <a:gd name="T5" fmla="*/ 1030 h 1502"/>
                <a:gd name="T6" fmla="*/ 472 w 1502"/>
                <a:gd name="T7" fmla="*/ 751 h 1502"/>
                <a:gd name="T8" fmla="*/ 751 w 1502"/>
                <a:gd name="T9" fmla="*/ 472 h 1502"/>
                <a:gd name="T10" fmla="*/ 929 w 1502"/>
                <a:gd name="T11" fmla="*/ 536 h 1502"/>
                <a:gd name="T12" fmla="*/ 819 w 1502"/>
                <a:gd name="T13" fmla="*/ 611 h 1502"/>
                <a:gd name="T14" fmla="*/ 751 w 1502"/>
                <a:gd name="T15" fmla="*/ 596 h 1502"/>
                <a:gd name="T16" fmla="*/ 596 w 1502"/>
                <a:gd name="T17" fmla="*/ 751 h 1502"/>
                <a:gd name="T18" fmla="*/ 751 w 1502"/>
                <a:gd name="T19" fmla="*/ 906 h 1502"/>
                <a:gd name="T20" fmla="*/ 906 w 1502"/>
                <a:gd name="T21" fmla="*/ 751 h 1502"/>
                <a:gd name="T22" fmla="*/ 906 w 1502"/>
                <a:gd name="T23" fmla="*/ 738 h 1502"/>
                <a:gd name="T24" fmla="*/ 1016 w 1502"/>
                <a:gd name="T25" fmla="*/ 662 h 1502"/>
                <a:gd name="T26" fmla="*/ 1107 w 1502"/>
                <a:gd name="T27" fmla="*/ 599 h 1502"/>
                <a:gd name="T28" fmla="*/ 1138 w 1502"/>
                <a:gd name="T29" fmla="*/ 751 h 1502"/>
                <a:gd name="T30" fmla="*/ 751 w 1502"/>
                <a:gd name="T31" fmla="*/ 1138 h 1502"/>
                <a:gd name="T32" fmla="*/ 364 w 1502"/>
                <a:gd name="T33" fmla="*/ 751 h 1502"/>
                <a:gd name="T34" fmla="*/ 751 w 1502"/>
                <a:gd name="T35" fmla="*/ 364 h 1502"/>
                <a:gd name="T36" fmla="*/ 1020 w 1502"/>
                <a:gd name="T37" fmla="*/ 473 h 1502"/>
                <a:gd name="T38" fmla="*/ 1124 w 1502"/>
                <a:gd name="T39" fmla="*/ 401 h 1502"/>
                <a:gd name="T40" fmla="*/ 751 w 1502"/>
                <a:gd name="T41" fmla="*/ 240 h 1502"/>
                <a:gd name="T42" fmla="*/ 240 w 1502"/>
                <a:gd name="T43" fmla="*/ 751 h 1502"/>
                <a:gd name="T44" fmla="*/ 751 w 1502"/>
                <a:gd name="T45" fmla="*/ 1262 h 1502"/>
                <a:gd name="T46" fmla="*/ 1262 w 1502"/>
                <a:gd name="T47" fmla="*/ 751 h 1502"/>
                <a:gd name="T48" fmla="*/ 1211 w 1502"/>
                <a:gd name="T49" fmla="*/ 528 h 1502"/>
                <a:gd name="T50" fmla="*/ 1107 w 1502"/>
                <a:gd name="T51" fmla="*/ 599 h 1502"/>
                <a:gd name="T52" fmla="*/ 1333 w 1502"/>
                <a:gd name="T53" fmla="*/ 443 h 1502"/>
                <a:gd name="T54" fmla="*/ 1307 w 1502"/>
                <a:gd name="T55" fmla="*/ 461 h 1502"/>
                <a:gd name="T56" fmla="*/ 1378 w 1502"/>
                <a:gd name="T57" fmla="*/ 751 h 1502"/>
                <a:gd name="T58" fmla="*/ 751 w 1502"/>
                <a:gd name="T59" fmla="*/ 1378 h 1502"/>
                <a:gd name="T60" fmla="*/ 124 w 1502"/>
                <a:gd name="T61" fmla="*/ 751 h 1502"/>
                <a:gd name="T62" fmla="*/ 751 w 1502"/>
                <a:gd name="T63" fmla="*/ 124 h 1502"/>
                <a:gd name="T64" fmla="*/ 1220 w 1502"/>
                <a:gd name="T65" fmla="*/ 335 h 1502"/>
                <a:gd name="T66" fmla="*/ 1246 w 1502"/>
                <a:gd name="T67" fmla="*/ 317 h 1502"/>
                <a:gd name="T68" fmla="*/ 1273 w 1502"/>
                <a:gd name="T69" fmla="*/ 211 h 1502"/>
                <a:gd name="T70" fmla="*/ 751 w 1502"/>
                <a:gd name="T71" fmla="*/ 0 h 1502"/>
                <a:gd name="T72" fmla="*/ 0 w 1502"/>
                <a:gd name="T73" fmla="*/ 751 h 1502"/>
                <a:gd name="T74" fmla="*/ 751 w 1502"/>
                <a:gd name="T75" fmla="*/ 1502 h 1502"/>
                <a:gd name="T76" fmla="*/ 1502 w 1502"/>
                <a:gd name="T77" fmla="*/ 751 h 1502"/>
                <a:gd name="T78" fmla="*/ 1442 w 1502"/>
                <a:gd name="T79" fmla="*/ 456 h 1502"/>
                <a:gd name="T80" fmla="*/ 1333 w 1502"/>
                <a:gd name="T81" fmla="*/ 443 h 1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02" h="1502">
                  <a:moveTo>
                    <a:pt x="1016" y="662"/>
                  </a:moveTo>
                  <a:cubicBezTo>
                    <a:pt x="1025" y="690"/>
                    <a:pt x="1030" y="720"/>
                    <a:pt x="1030" y="751"/>
                  </a:cubicBezTo>
                  <a:cubicBezTo>
                    <a:pt x="1030" y="905"/>
                    <a:pt x="905" y="1030"/>
                    <a:pt x="751" y="1030"/>
                  </a:cubicBezTo>
                  <a:cubicBezTo>
                    <a:pt x="597" y="1030"/>
                    <a:pt x="472" y="905"/>
                    <a:pt x="472" y="751"/>
                  </a:cubicBezTo>
                  <a:cubicBezTo>
                    <a:pt x="472" y="597"/>
                    <a:pt x="597" y="472"/>
                    <a:pt x="751" y="472"/>
                  </a:cubicBezTo>
                  <a:cubicBezTo>
                    <a:pt x="818" y="472"/>
                    <a:pt x="880" y="496"/>
                    <a:pt x="929" y="536"/>
                  </a:cubicBezTo>
                  <a:cubicBezTo>
                    <a:pt x="819" y="611"/>
                    <a:pt x="819" y="611"/>
                    <a:pt x="819" y="611"/>
                  </a:cubicBezTo>
                  <a:cubicBezTo>
                    <a:pt x="798" y="601"/>
                    <a:pt x="775" y="596"/>
                    <a:pt x="751" y="596"/>
                  </a:cubicBezTo>
                  <a:cubicBezTo>
                    <a:pt x="665" y="596"/>
                    <a:pt x="596" y="665"/>
                    <a:pt x="596" y="751"/>
                  </a:cubicBezTo>
                  <a:cubicBezTo>
                    <a:pt x="596" y="836"/>
                    <a:pt x="665" y="906"/>
                    <a:pt x="751" y="906"/>
                  </a:cubicBezTo>
                  <a:cubicBezTo>
                    <a:pt x="837" y="906"/>
                    <a:pt x="906" y="836"/>
                    <a:pt x="906" y="751"/>
                  </a:cubicBezTo>
                  <a:cubicBezTo>
                    <a:pt x="906" y="746"/>
                    <a:pt x="906" y="742"/>
                    <a:pt x="906" y="738"/>
                  </a:cubicBezTo>
                  <a:lnTo>
                    <a:pt x="1016" y="662"/>
                  </a:lnTo>
                  <a:close/>
                  <a:moveTo>
                    <a:pt x="1107" y="599"/>
                  </a:moveTo>
                  <a:cubicBezTo>
                    <a:pt x="1127" y="646"/>
                    <a:pt x="1138" y="697"/>
                    <a:pt x="1138" y="751"/>
                  </a:cubicBezTo>
                  <a:cubicBezTo>
                    <a:pt x="1138" y="964"/>
                    <a:pt x="964" y="1138"/>
                    <a:pt x="751" y="1138"/>
                  </a:cubicBezTo>
                  <a:cubicBezTo>
                    <a:pt x="537" y="1138"/>
                    <a:pt x="364" y="964"/>
                    <a:pt x="364" y="751"/>
                  </a:cubicBezTo>
                  <a:cubicBezTo>
                    <a:pt x="364" y="537"/>
                    <a:pt x="537" y="364"/>
                    <a:pt x="751" y="364"/>
                  </a:cubicBezTo>
                  <a:cubicBezTo>
                    <a:pt x="855" y="364"/>
                    <a:pt x="950" y="405"/>
                    <a:pt x="1020" y="473"/>
                  </a:cubicBezTo>
                  <a:cubicBezTo>
                    <a:pt x="1124" y="401"/>
                    <a:pt x="1124" y="401"/>
                    <a:pt x="1124" y="401"/>
                  </a:cubicBezTo>
                  <a:cubicBezTo>
                    <a:pt x="1030" y="302"/>
                    <a:pt x="898" y="240"/>
                    <a:pt x="751" y="240"/>
                  </a:cubicBezTo>
                  <a:cubicBezTo>
                    <a:pt x="469" y="240"/>
                    <a:pt x="240" y="469"/>
                    <a:pt x="240" y="751"/>
                  </a:cubicBezTo>
                  <a:cubicBezTo>
                    <a:pt x="240" y="1033"/>
                    <a:pt x="469" y="1262"/>
                    <a:pt x="751" y="1262"/>
                  </a:cubicBezTo>
                  <a:cubicBezTo>
                    <a:pt x="1033" y="1262"/>
                    <a:pt x="1262" y="1033"/>
                    <a:pt x="1262" y="751"/>
                  </a:cubicBezTo>
                  <a:cubicBezTo>
                    <a:pt x="1262" y="671"/>
                    <a:pt x="1244" y="595"/>
                    <a:pt x="1211" y="528"/>
                  </a:cubicBezTo>
                  <a:lnTo>
                    <a:pt x="1107" y="599"/>
                  </a:lnTo>
                  <a:close/>
                  <a:moveTo>
                    <a:pt x="1333" y="443"/>
                  </a:moveTo>
                  <a:cubicBezTo>
                    <a:pt x="1307" y="461"/>
                    <a:pt x="1307" y="461"/>
                    <a:pt x="1307" y="461"/>
                  </a:cubicBezTo>
                  <a:cubicBezTo>
                    <a:pt x="1352" y="548"/>
                    <a:pt x="1378" y="646"/>
                    <a:pt x="1378" y="751"/>
                  </a:cubicBezTo>
                  <a:cubicBezTo>
                    <a:pt x="1378" y="1097"/>
                    <a:pt x="1097" y="1378"/>
                    <a:pt x="751" y="1378"/>
                  </a:cubicBezTo>
                  <a:cubicBezTo>
                    <a:pt x="405" y="1378"/>
                    <a:pt x="124" y="1097"/>
                    <a:pt x="124" y="751"/>
                  </a:cubicBezTo>
                  <a:cubicBezTo>
                    <a:pt x="124" y="405"/>
                    <a:pt x="405" y="124"/>
                    <a:pt x="751" y="124"/>
                  </a:cubicBezTo>
                  <a:cubicBezTo>
                    <a:pt x="937" y="124"/>
                    <a:pt x="1105" y="205"/>
                    <a:pt x="1220" y="335"/>
                  </a:cubicBezTo>
                  <a:cubicBezTo>
                    <a:pt x="1246" y="317"/>
                    <a:pt x="1246" y="317"/>
                    <a:pt x="1246" y="317"/>
                  </a:cubicBezTo>
                  <a:cubicBezTo>
                    <a:pt x="1273" y="211"/>
                    <a:pt x="1273" y="211"/>
                    <a:pt x="1273" y="211"/>
                  </a:cubicBezTo>
                  <a:cubicBezTo>
                    <a:pt x="1138" y="80"/>
                    <a:pt x="954" y="0"/>
                    <a:pt x="751" y="0"/>
                  </a:cubicBezTo>
                  <a:cubicBezTo>
                    <a:pt x="337" y="0"/>
                    <a:pt x="0" y="337"/>
                    <a:pt x="0" y="751"/>
                  </a:cubicBezTo>
                  <a:cubicBezTo>
                    <a:pt x="0" y="1165"/>
                    <a:pt x="337" y="1502"/>
                    <a:pt x="751" y="1502"/>
                  </a:cubicBezTo>
                  <a:cubicBezTo>
                    <a:pt x="1165" y="1502"/>
                    <a:pt x="1502" y="1165"/>
                    <a:pt x="1502" y="751"/>
                  </a:cubicBezTo>
                  <a:cubicBezTo>
                    <a:pt x="1502" y="646"/>
                    <a:pt x="1480" y="547"/>
                    <a:pt x="1442" y="456"/>
                  </a:cubicBezTo>
                  <a:lnTo>
                    <a:pt x="1333" y="44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5" name="bcgIcons_Digital">
            <a:extLst>
              <a:ext uri="{FF2B5EF4-FFF2-40B4-BE49-F238E27FC236}">
                <a16:creationId xmlns:a16="http://schemas.microsoft.com/office/drawing/2014/main" id="{DDC60129-6EB5-4402-A43A-B239E1412395}"/>
              </a:ext>
            </a:extLst>
          </p:cNvPr>
          <p:cNvGrpSpPr>
            <a:grpSpLocks noChangeAspect="1"/>
          </p:cNvGrpSpPr>
          <p:nvPr/>
        </p:nvGrpSpPr>
        <p:grpSpPr bwMode="auto">
          <a:xfrm>
            <a:off x="4703439" y="1888488"/>
            <a:ext cx="692914" cy="693556"/>
            <a:chOff x="1682" y="0"/>
            <a:chExt cx="4316" cy="4320"/>
          </a:xfrm>
        </p:grpSpPr>
        <p:sp>
          <p:nvSpPr>
            <p:cNvPr id="46" name="AutoShape 8">
              <a:extLst>
                <a:ext uri="{FF2B5EF4-FFF2-40B4-BE49-F238E27FC236}">
                  <a16:creationId xmlns:a16="http://schemas.microsoft.com/office/drawing/2014/main" id="{4D352D0D-09E1-4D2D-A978-308E0E8596E6}"/>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10">
              <a:extLst>
                <a:ext uri="{FF2B5EF4-FFF2-40B4-BE49-F238E27FC236}">
                  <a16:creationId xmlns:a16="http://schemas.microsoft.com/office/drawing/2014/main" id="{D67BB1E6-A882-4AEA-AA12-C9C111A8F15A}"/>
                </a:ext>
              </a:extLst>
            </p:cNvPr>
            <p:cNvSpPr>
              <a:spLocks noEditPoints="1"/>
            </p:cNvSpPr>
            <p:nvPr/>
          </p:nvSpPr>
          <p:spPr bwMode="auto">
            <a:xfrm>
              <a:off x="2727" y="919"/>
              <a:ext cx="2797" cy="2512"/>
            </a:xfrm>
            <a:custGeom>
              <a:avLst/>
              <a:gdLst>
                <a:gd name="T0" fmla="*/ 263 w 1493"/>
                <a:gd name="T1" fmla="*/ 1282 h 1340"/>
                <a:gd name="T2" fmla="*/ 379 w 1493"/>
                <a:gd name="T3" fmla="*/ 1282 h 1340"/>
                <a:gd name="T4" fmla="*/ 469 w 1493"/>
                <a:gd name="T5" fmla="*/ 22 h 1340"/>
                <a:gd name="T6" fmla="*/ 195 w 1493"/>
                <a:gd name="T7" fmla="*/ 0 h 1340"/>
                <a:gd name="T8" fmla="*/ 195 w 1493"/>
                <a:gd name="T9" fmla="*/ 44 h 1340"/>
                <a:gd name="T10" fmla="*/ 469 w 1493"/>
                <a:gd name="T11" fmla="*/ 22 h 1340"/>
                <a:gd name="T12" fmla="*/ 390 w 1493"/>
                <a:gd name="T13" fmla="*/ 564 h 1340"/>
                <a:gd name="T14" fmla="*/ 368 w 1493"/>
                <a:gd name="T15" fmla="*/ 701 h 1340"/>
                <a:gd name="T16" fmla="*/ 504 w 1493"/>
                <a:gd name="T17" fmla="*/ 723 h 1340"/>
                <a:gd name="T18" fmla="*/ 526 w 1493"/>
                <a:gd name="T19" fmla="*/ 586 h 1340"/>
                <a:gd name="T20" fmla="*/ 758 w 1493"/>
                <a:gd name="T21" fmla="*/ 347 h 1340"/>
                <a:gd name="T22" fmla="*/ 578 w 1493"/>
                <a:gd name="T23" fmla="*/ 369 h 1340"/>
                <a:gd name="T24" fmla="*/ 600 w 1493"/>
                <a:gd name="T25" fmla="*/ 549 h 1340"/>
                <a:gd name="T26" fmla="*/ 780 w 1493"/>
                <a:gd name="T27" fmla="*/ 527 h 1340"/>
                <a:gd name="T28" fmla="*/ 758 w 1493"/>
                <a:gd name="T29" fmla="*/ 347 h 1340"/>
                <a:gd name="T30" fmla="*/ 570 w 1493"/>
                <a:gd name="T31" fmla="*/ 586 h 1340"/>
                <a:gd name="T32" fmla="*/ 570 w 1493"/>
                <a:gd name="T33" fmla="*/ 701 h 1340"/>
                <a:gd name="T34" fmla="*/ 390 w 1493"/>
                <a:gd name="T35" fmla="*/ 767 h 1340"/>
                <a:gd name="T36" fmla="*/ 324 w 1493"/>
                <a:gd name="T37" fmla="*/ 586 h 1340"/>
                <a:gd name="T38" fmla="*/ 504 w 1493"/>
                <a:gd name="T39" fmla="*/ 520 h 1340"/>
                <a:gd name="T40" fmla="*/ 534 w 1493"/>
                <a:gd name="T41" fmla="*/ 527 h 1340"/>
                <a:gd name="T42" fmla="*/ 600 w 1493"/>
                <a:gd name="T43" fmla="*/ 303 h 1340"/>
                <a:gd name="T44" fmla="*/ 638 w 1493"/>
                <a:gd name="T45" fmla="*/ 115 h 1340"/>
                <a:gd name="T46" fmla="*/ 10 w 1493"/>
                <a:gd name="T47" fmla="*/ 105 h 1340"/>
                <a:gd name="T48" fmla="*/ 0 w 1493"/>
                <a:gd name="T49" fmla="*/ 1092 h 1340"/>
                <a:gd name="T50" fmla="*/ 628 w 1493"/>
                <a:gd name="T51" fmla="*/ 1102 h 1340"/>
                <a:gd name="T52" fmla="*/ 638 w 1493"/>
                <a:gd name="T53" fmla="*/ 593 h 1340"/>
                <a:gd name="T54" fmla="*/ 1095 w 1493"/>
                <a:gd name="T55" fmla="*/ 105 h 1340"/>
                <a:gd name="T56" fmla="*/ 874 w 1493"/>
                <a:gd name="T57" fmla="*/ 127 h 1340"/>
                <a:gd name="T58" fmla="*/ 896 w 1493"/>
                <a:gd name="T59" fmla="*/ 348 h 1340"/>
                <a:gd name="T60" fmla="*/ 1117 w 1493"/>
                <a:gd name="T61" fmla="*/ 326 h 1340"/>
                <a:gd name="T62" fmla="*/ 1095 w 1493"/>
                <a:gd name="T63" fmla="*/ 105 h 1340"/>
                <a:gd name="T64" fmla="*/ 1493 w 1493"/>
                <a:gd name="T65" fmla="*/ 222 h 1340"/>
                <a:gd name="T66" fmla="*/ 1197 w 1493"/>
                <a:gd name="T67" fmla="*/ 200 h 1340"/>
                <a:gd name="T68" fmla="*/ 1175 w 1493"/>
                <a:gd name="T69" fmla="*/ 496 h 1340"/>
                <a:gd name="T70" fmla="*/ 1471 w 1493"/>
                <a:gd name="T71" fmla="*/ 518 h 1340"/>
                <a:gd name="T72" fmla="*/ 1117 w 1493"/>
                <a:gd name="T73" fmla="*/ 667 h 1340"/>
                <a:gd name="T74" fmla="*/ 1095 w 1493"/>
                <a:gd name="T75" fmla="*/ 409 h 1340"/>
                <a:gd name="T76" fmla="*/ 838 w 1493"/>
                <a:gd name="T77" fmla="*/ 431 h 1340"/>
                <a:gd name="T78" fmla="*/ 860 w 1493"/>
                <a:gd name="T79" fmla="*/ 689 h 1340"/>
                <a:gd name="T80" fmla="*/ 1117 w 1493"/>
                <a:gd name="T81" fmla="*/ 667 h 1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93" h="1340">
                  <a:moveTo>
                    <a:pt x="321" y="1340"/>
                  </a:moveTo>
                  <a:cubicBezTo>
                    <a:pt x="289" y="1340"/>
                    <a:pt x="263" y="1314"/>
                    <a:pt x="263" y="1282"/>
                  </a:cubicBezTo>
                  <a:cubicBezTo>
                    <a:pt x="263" y="1250"/>
                    <a:pt x="289" y="1224"/>
                    <a:pt x="321" y="1224"/>
                  </a:cubicBezTo>
                  <a:cubicBezTo>
                    <a:pt x="353" y="1224"/>
                    <a:pt x="379" y="1250"/>
                    <a:pt x="379" y="1282"/>
                  </a:cubicBezTo>
                  <a:cubicBezTo>
                    <a:pt x="379" y="1314"/>
                    <a:pt x="353" y="1340"/>
                    <a:pt x="321" y="1340"/>
                  </a:cubicBezTo>
                  <a:close/>
                  <a:moveTo>
                    <a:pt x="469" y="22"/>
                  </a:moveTo>
                  <a:cubicBezTo>
                    <a:pt x="469" y="10"/>
                    <a:pt x="459" y="0"/>
                    <a:pt x="447" y="0"/>
                  </a:cubicBezTo>
                  <a:cubicBezTo>
                    <a:pt x="195" y="0"/>
                    <a:pt x="195" y="0"/>
                    <a:pt x="195" y="0"/>
                  </a:cubicBezTo>
                  <a:cubicBezTo>
                    <a:pt x="183" y="0"/>
                    <a:pt x="173" y="10"/>
                    <a:pt x="173" y="22"/>
                  </a:cubicBezTo>
                  <a:cubicBezTo>
                    <a:pt x="173" y="34"/>
                    <a:pt x="183" y="44"/>
                    <a:pt x="195" y="44"/>
                  </a:cubicBezTo>
                  <a:cubicBezTo>
                    <a:pt x="447" y="44"/>
                    <a:pt x="447" y="44"/>
                    <a:pt x="447" y="44"/>
                  </a:cubicBezTo>
                  <a:cubicBezTo>
                    <a:pt x="459" y="44"/>
                    <a:pt x="469" y="34"/>
                    <a:pt x="469" y="22"/>
                  </a:cubicBezTo>
                  <a:close/>
                  <a:moveTo>
                    <a:pt x="504" y="564"/>
                  </a:moveTo>
                  <a:cubicBezTo>
                    <a:pt x="390" y="564"/>
                    <a:pt x="390" y="564"/>
                    <a:pt x="390" y="564"/>
                  </a:cubicBezTo>
                  <a:cubicBezTo>
                    <a:pt x="377" y="564"/>
                    <a:pt x="368" y="574"/>
                    <a:pt x="368" y="586"/>
                  </a:cubicBezTo>
                  <a:cubicBezTo>
                    <a:pt x="368" y="701"/>
                    <a:pt x="368" y="701"/>
                    <a:pt x="368" y="701"/>
                  </a:cubicBezTo>
                  <a:cubicBezTo>
                    <a:pt x="368" y="713"/>
                    <a:pt x="377" y="723"/>
                    <a:pt x="390" y="723"/>
                  </a:cubicBezTo>
                  <a:cubicBezTo>
                    <a:pt x="504" y="723"/>
                    <a:pt x="504" y="723"/>
                    <a:pt x="504" y="723"/>
                  </a:cubicBezTo>
                  <a:cubicBezTo>
                    <a:pt x="516" y="723"/>
                    <a:pt x="526" y="713"/>
                    <a:pt x="526" y="701"/>
                  </a:cubicBezTo>
                  <a:cubicBezTo>
                    <a:pt x="526" y="586"/>
                    <a:pt x="526" y="586"/>
                    <a:pt x="526" y="586"/>
                  </a:cubicBezTo>
                  <a:cubicBezTo>
                    <a:pt x="526" y="574"/>
                    <a:pt x="516" y="564"/>
                    <a:pt x="504" y="564"/>
                  </a:cubicBezTo>
                  <a:moveTo>
                    <a:pt x="758" y="347"/>
                  </a:moveTo>
                  <a:cubicBezTo>
                    <a:pt x="600" y="347"/>
                    <a:pt x="600" y="347"/>
                    <a:pt x="600" y="347"/>
                  </a:cubicBezTo>
                  <a:cubicBezTo>
                    <a:pt x="588" y="347"/>
                    <a:pt x="578" y="357"/>
                    <a:pt x="578" y="369"/>
                  </a:cubicBezTo>
                  <a:cubicBezTo>
                    <a:pt x="578" y="527"/>
                    <a:pt x="578" y="527"/>
                    <a:pt x="578" y="527"/>
                  </a:cubicBezTo>
                  <a:cubicBezTo>
                    <a:pt x="578" y="539"/>
                    <a:pt x="588" y="549"/>
                    <a:pt x="600" y="549"/>
                  </a:cubicBezTo>
                  <a:cubicBezTo>
                    <a:pt x="758" y="549"/>
                    <a:pt x="758" y="549"/>
                    <a:pt x="758" y="549"/>
                  </a:cubicBezTo>
                  <a:cubicBezTo>
                    <a:pt x="770" y="549"/>
                    <a:pt x="780" y="539"/>
                    <a:pt x="780" y="527"/>
                  </a:cubicBezTo>
                  <a:cubicBezTo>
                    <a:pt x="780" y="369"/>
                    <a:pt x="780" y="369"/>
                    <a:pt x="780" y="369"/>
                  </a:cubicBezTo>
                  <a:cubicBezTo>
                    <a:pt x="780" y="357"/>
                    <a:pt x="770" y="347"/>
                    <a:pt x="758" y="347"/>
                  </a:cubicBezTo>
                  <a:moveTo>
                    <a:pt x="600" y="593"/>
                  </a:moveTo>
                  <a:cubicBezTo>
                    <a:pt x="589" y="593"/>
                    <a:pt x="579" y="590"/>
                    <a:pt x="570" y="586"/>
                  </a:cubicBezTo>
                  <a:cubicBezTo>
                    <a:pt x="570" y="586"/>
                    <a:pt x="570" y="586"/>
                    <a:pt x="570" y="586"/>
                  </a:cubicBezTo>
                  <a:cubicBezTo>
                    <a:pt x="570" y="701"/>
                    <a:pt x="570" y="701"/>
                    <a:pt x="570" y="701"/>
                  </a:cubicBezTo>
                  <a:cubicBezTo>
                    <a:pt x="570" y="737"/>
                    <a:pt x="541" y="767"/>
                    <a:pt x="504" y="767"/>
                  </a:cubicBezTo>
                  <a:cubicBezTo>
                    <a:pt x="390" y="767"/>
                    <a:pt x="390" y="767"/>
                    <a:pt x="390" y="767"/>
                  </a:cubicBezTo>
                  <a:cubicBezTo>
                    <a:pt x="353" y="767"/>
                    <a:pt x="324" y="737"/>
                    <a:pt x="324" y="701"/>
                  </a:cubicBezTo>
                  <a:cubicBezTo>
                    <a:pt x="324" y="586"/>
                    <a:pt x="324" y="586"/>
                    <a:pt x="324" y="586"/>
                  </a:cubicBezTo>
                  <a:cubicBezTo>
                    <a:pt x="324" y="550"/>
                    <a:pt x="353" y="520"/>
                    <a:pt x="390" y="520"/>
                  </a:cubicBezTo>
                  <a:cubicBezTo>
                    <a:pt x="504" y="520"/>
                    <a:pt x="504" y="520"/>
                    <a:pt x="504" y="520"/>
                  </a:cubicBezTo>
                  <a:cubicBezTo>
                    <a:pt x="515" y="520"/>
                    <a:pt x="525" y="523"/>
                    <a:pt x="534" y="528"/>
                  </a:cubicBezTo>
                  <a:cubicBezTo>
                    <a:pt x="534" y="527"/>
                    <a:pt x="534" y="527"/>
                    <a:pt x="534" y="527"/>
                  </a:cubicBezTo>
                  <a:cubicBezTo>
                    <a:pt x="534" y="369"/>
                    <a:pt x="534" y="369"/>
                    <a:pt x="534" y="369"/>
                  </a:cubicBezTo>
                  <a:cubicBezTo>
                    <a:pt x="534" y="333"/>
                    <a:pt x="564" y="303"/>
                    <a:pt x="600" y="303"/>
                  </a:cubicBezTo>
                  <a:cubicBezTo>
                    <a:pt x="638" y="303"/>
                    <a:pt x="638" y="303"/>
                    <a:pt x="638" y="303"/>
                  </a:cubicBezTo>
                  <a:cubicBezTo>
                    <a:pt x="638" y="115"/>
                    <a:pt x="638" y="115"/>
                    <a:pt x="638" y="115"/>
                  </a:cubicBezTo>
                  <a:cubicBezTo>
                    <a:pt x="638" y="110"/>
                    <a:pt x="634" y="105"/>
                    <a:pt x="628" y="105"/>
                  </a:cubicBezTo>
                  <a:cubicBezTo>
                    <a:pt x="10" y="105"/>
                    <a:pt x="10" y="105"/>
                    <a:pt x="10" y="105"/>
                  </a:cubicBezTo>
                  <a:cubicBezTo>
                    <a:pt x="4" y="105"/>
                    <a:pt x="0" y="110"/>
                    <a:pt x="0" y="115"/>
                  </a:cubicBezTo>
                  <a:cubicBezTo>
                    <a:pt x="0" y="1092"/>
                    <a:pt x="0" y="1092"/>
                    <a:pt x="0" y="1092"/>
                  </a:cubicBezTo>
                  <a:cubicBezTo>
                    <a:pt x="0" y="1098"/>
                    <a:pt x="4" y="1102"/>
                    <a:pt x="10" y="1102"/>
                  </a:cubicBezTo>
                  <a:cubicBezTo>
                    <a:pt x="628" y="1102"/>
                    <a:pt x="628" y="1102"/>
                    <a:pt x="628" y="1102"/>
                  </a:cubicBezTo>
                  <a:cubicBezTo>
                    <a:pt x="634" y="1102"/>
                    <a:pt x="638" y="1098"/>
                    <a:pt x="638" y="1092"/>
                  </a:cubicBezTo>
                  <a:cubicBezTo>
                    <a:pt x="638" y="593"/>
                    <a:pt x="638" y="593"/>
                    <a:pt x="638" y="593"/>
                  </a:cubicBezTo>
                  <a:lnTo>
                    <a:pt x="600" y="593"/>
                  </a:lnTo>
                  <a:close/>
                  <a:moveTo>
                    <a:pt x="1095" y="105"/>
                  </a:moveTo>
                  <a:cubicBezTo>
                    <a:pt x="896" y="105"/>
                    <a:pt x="896" y="105"/>
                    <a:pt x="896" y="105"/>
                  </a:cubicBezTo>
                  <a:cubicBezTo>
                    <a:pt x="884" y="105"/>
                    <a:pt x="874" y="115"/>
                    <a:pt x="874" y="127"/>
                  </a:cubicBezTo>
                  <a:cubicBezTo>
                    <a:pt x="874" y="326"/>
                    <a:pt x="874" y="326"/>
                    <a:pt x="874" y="326"/>
                  </a:cubicBezTo>
                  <a:cubicBezTo>
                    <a:pt x="874" y="338"/>
                    <a:pt x="884" y="348"/>
                    <a:pt x="896" y="348"/>
                  </a:cubicBezTo>
                  <a:cubicBezTo>
                    <a:pt x="1095" y="348"/>
                    <a:pt x="1095" y="348"/>
                    <a:pt x="1095" y="348"/>
                  </a:cubicBezTo>
                  <a:cubicBezTo>
                    <a:pt x="1107" y="348"/>
                    <a:pt x="1117" y="338"/>
                    <a:pt x="1117" y="326"/>
                  </a:cubicBezTo>
                  <a:cubicBezTo>
                    <a:pt x="1117" y="127"/>
                    <a:pt x="1117" y="127"/>
                    <a:pt x="1117" y="127"/>
                  </a:cubicBezTo>
                  <a:cubicBezTo>
                    <a:pt x="1117" y="115"/>
                    <a:pt x="1107" y="105"/>
                    <a:pt x="1095" y="105"/>
                  </a:cubicBezTo>
                  <a:moveTo>
                    <a:pt x="1493" y="496"/>
                  </a:moveTo>
                  <a:cubicBezTo>
                    <a:pt x="1493" y="222"/>
                    <a:pt x="1493" y="222"/>
                    <a:pt x="1493" y="222"/>
                  </a:cubicBezTo>
                  <a:cubicBezTo>
                    <a:pt x="1493" y="210"/>
                    <a:pt x="1483" y="200"/>
                    <a:pt x="1471" y="200"/>
                  </a:cubicBezTo>
                  <a:cubicBezTo>
                    <a:pt x="1197" y="200"/>
                    <a:pt x="1197" y="200"/>
                    <a:pt x="1197" y="200"/>
                  </a:cubicBezTo>
                  <a:cubicBezTo>
                    <a:pt x="1185" y="200"/>
                    <a:pt x="1175" y="210"/>
                    <a:pt x="1175" y="222"/>
                  </a:cubicBezTo>
                  <a:cubicBezTo>
                    <a:pt x="1175" y="496"/>
                    <a:pt x="1175" y="496"/>
                    <a:pt x="1175" y="496"/>
                  </a:cubicBezTo>
                  <a:cubicBezTo>
                    <a:pt x="1175" y="508"/>
                    <a:pt x="1185" y="518"/>
                    <a:pt x="1197" y="518"/>
                  </a:cubicBezTo>
                  <a:cubicBezTo>
                    <a:pt x="1471" y="518"/>
                    <a:pt x="1471" y="518"/>
                    <a:pt x="1471" y="518"/>
                  </a:cubicBezTo>
                  <a:cubicBezTo>
                    <a:pt x="1483" y="518"/>
                    <a:pt x="1493" y="508"/>
                    <a:pt x="1493" y="496"/>
                  </a:cubicBezTo>
                  <a:close/>
                  <a:moveTo>
                    <a:pt x="1117" y="667"/>
                  </a:moveTo>
                  <a:cubicBezTo>
                    <a:pt x="1117" y="431"/>
                    <a:pt x="1117" y="431"/>
                    <a:pt x="1117" y="431"/>
                  </a:cubicBezTo>
                  <a:cubicBezTo>
                    <a:pt x="1117" y="419"/>
                    <a:pt x="1107" y="409"/>
                    <a:pt x="1095" y="409"/>
                  </a:cubicBezTo>
                  <a:cubicBezTo>
                    <a:pt x="860" y="409"/>
                    <a:pt x="860" y="409"/>
                    <a:pt x="860" y="409"/>
                  </a:cubicBezTo>
                  <a:cubicBezTo>
                    <a:pt x="848" y="409"/>
                    <a:pt x="838" y="419"/>
                    <a:pt x="838" y="431"/>
                  </a:cubicBezTo>
                  <a:cubicBezTo>
                    <a:pt x="838" y="667"/>
                    <a:pt x="838" y="667"/>
                    <a:pt x="838" y="667"/>
                  </a:cubicBezTo>
                  <a:cubicBezTo>
                    <a:pt x="838" y="679"/>
                    <a:pt x="848" y="689"/>
                    <a:pt x="860" y="689"/>
                  </a:cubicBezTo>
                  <a:cubicBezTo>
                    <a:pt x="1095" y="689"/>
                    <a:pt x="1095" y="689"/>
                    <a:pt x="1095" y="689"/>
                  </a:cubicBezTo>
                  <a:cubicBezTo>
                    <a:pt x="1107" y="689"/>
                    <a:pt x="1117" y="679"/>
                    <a:pt x="1117" y="66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11">
              <a:extLst>
                <a:ext uri="{FF2B5EF4-FFF2-40B4-BE49-F238E27FC236}">
                  <a16:creationId xmlns:a16="http://schemas.microsoft.com/office/drawing/2014/main" id="{D8E6CD62-8842-4F0D-A332-DAD3C00D9643}"/>
                </a:ext>
              </a:extLst>
            </p:cNvPr>
            <p:cNvSpPr>
              <a:spLocks noEditPoints="1"/>
            </p:cNvSpPr>
            <p:nvPr/>
          </p:nvSpPr>
          <p:spPr bwMode="auto">
            <a:xfrm>
              <a:off x="2574" y="728"/>
              <a:ext cx="1509" cy="2865"/>
            </a:xfrm>
            <a:custGeom>
              <a:avLst/>
              <a:gdLst>
                <a:gd name="T0" fmla="*/ 762 w 806"/>
                <a:gd name="T1" fmla="*/ 695 h 1528"/>
                <a:gd name="T2" fmla="*/ 762 w 806"/>
                <a:gd name="T3" fmla="*/ 1252 h 1528"/>
                <a:gd name="T4" fmla="*/ 44 w 806"/>
                <a:gd name="T5" fmla="*/ 1252 h 1528"/>
                <a:gd name="T6" fmla="*/ 44 w 806"/>
                <a:gd name="T7" fmla="*/ 44 h 1528"/>
                <a:gd name="T8" fmla="*/ 762 w 806"/>
                <a:gd name="T9" fmla="*/ 44 h 1528"/>
                <a:gd name="T10" fmla="*/ 762 w 806"/>
                <a:gd name="T11" fmla="*/ 405 h 1528"/>
                <a:gd name="T12" fmla="*/ 806 w 806"/>
                <a:gd name="T13" fmla="*/ 405 h 1528"/>
                <a:gd name="T14" fmla="*/ 806 w 806"/>
                <a:gd name="T15" fmla="*/ 22 h 1528"/>
                <a:gd name="T16" fmla="*/ 784 w 806"/>
                <a:gd name="T17" fmla="*/ 0 h 1528"/>
                <a:gd name="T18" fmla="*/ 22 w 806"/>
                <a:gd name="T19" fmla="*/ 0 h 1528"/>
                <a:gd name="T20" fmla="*/ 0 w 806"/>
                <a:gd name="T21" fmla="*/ 22 h 1528"/>
                <a:gd name="T22" fmla="*/ 0 w 806"/>
                <a:gd name="T23" fmla="*/ 1252 h 1528"/>
                <a:gd name="T24" fmla="*/ 0 w 806"/>
                <a:gd name="T25" fmla="*/ 1296 h 1528"/>
                <a:gd name="T26" fmla="*/ 0 w 806"/>
                <a:gd name="T27" fmla="*/ 1506 h 1528"/>
                <a:gd name="T28" fmla="*/ 22 w 806"/>
                <a:gd name="T29" fmla="*/ 1528 h 1528"/>
                <a:gd name="T30" fmla="*/ 784 w 806"/>
                <a:gd name="T31" fmla="*/ 1528 h 1528"/>
                <a:gd name="T32" fmla="*/ 806 w 806"/>
                <a:gd name="T33" fmla="*/ 1506 h 1528"/>
                <a:gd name="T34" fmla="*/ 806 w 806"/>
                <a:gd name="T35" fmla="*/ 1296 h 1528"/>
                <a:gd name="T36" fmla="*/ 806 w 806"/>
                <a:gd name="T37" fmla="*/ 1252 h 1528"/>
                <a:gd name="T38" fmla="*/ 806 w 806"/>
                <a:gd name="T39" fmla="*/ 695 h 1528"/>
                <a:gd name="T40" fmla="*/ 762 w 806"/>
                <a:gd name="T41" fmla="*/ 695 h 1528"/>
                <a:gd name="T42" fmla="*/ 762 w 806"/>
                <a:gd name="T43" fmla="*/ 1484 h 1528"/>
                <a:gd name="T44" fmla="*/ 44 w 806"/>
                <a:gd name="T45" fmla="*/ 1484 h 1528"/>
                <a:gd name="T46" fmla="*/ 44 w 806"/>
                <a:gd name="T47" fmla="*/ 1296 h 1528"/>
                <a:gd name="T48" fmla="*/ 762 w 806"/>
                <a:gd name="T49" fmla="*/ 1296 h 1528"/>
                <a:gd name="T50" fmla="*/ 762 w 806"/>
                <a:gd name="T51" fmla="*/ 1484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06" h="1528">
                  <a:moveTo>
                    <a:pt x="762" y="695"/>
                  </a:moveTo>
                  <a:cubicBezTo>
                    <a:pt x="762" y="1252"/>
                    <a:pt x="762" y="1252"/>
                    <a:pt x="762" y="1252"/>
                  </a:cubicBezTo>
                  <a:cubicBezTo>
                    <a:pt x="44" y="1252"/>
                    <a:pt x="44" y="1252"/>
                    <a:pt x="44" y="1252"/>
                  </a:cubicBezTo>
                  <a:cubicBezTo>
                    <a:pt x="44" y="44"/>
                    <a:pt x="44" y="44"/>
                    <a:pt x="44" y="44"/>
                  </a:cubicBezTo>
                  <a:cubicBezTo>
                    <a:pt x="762" y="44"/>
                    <a:pt x="762" y="44"/>
                    <a:pt x="762" y="44"/>
                  </a:cubicBezTo>
                  <a:cubicBezTo>
                    <a:pt x="762" y="405"/>
                    <a:pt x="762" y="405"/>
                    <a:pt x="762" y="405"/>
                  </a:cubicBezTo>
                  <a:cubicBezTo>
                    <a:pt x="806" y="405"/>
                    <a:pt x="806" y="405"/>
                    <a:pt x="806" y="405"/>
                  </a:cubicBezTo>
                  <a:cubicBezTo>
                    <a:pt x="806" y="22"/>
                    <a:pt x="806" y="22"/>
                    <a:pt x="806" y="22"/>
                  </a:cubicBezTo>
                  <a:cubicBezTo>
                    <a:pt x="806" y="10"/>
                    <a:pt x="796" y="0"/>
                    <a:pt x="784" y="0"/>
                  </a:cubicBezTo>
                  <a:cubicBezTo>
                    <a:pt x="22" y="0"/>
                    <a:pt x="22" y="0"/>
                    <a:pt x="22" y="0"/>
                  </a:cubicBezTo>
                  <a:cubicBezTo>
                    <a:pt x="10" y="0"/>
                    <a:pt x="0" y="10"/>
                    <a:pt x="0" y="22"/>
                  </a:cubicBezTo>
                  <a:cubicBezTo>
                    <a:pt x="0" y="1252"/>
                    <a:pt x="0" y="1252"/>
                    <a:pt x="0" y="1252"/>
                  </a:cubicBezTo>
                  <a:cubicBezTo>
                    <a:pt x="0" y="1296"/>
                    <a:pt x="0" y="1296"/>
                    <a:pt x="0" y="1296"/>
                  </a:cubicBezTo>
                  <a:cubicBezTo>
                    <a:pt x="0" y="1506"/>
                    <a:pt x="0" y="1506"/>
                    <a:pt x="0" y="1506"/>
                  </a:cubicBezTo>
                  <a:cubicBezTo>
                    <a:pt x="0" y="1518"/>
                    <a:pt x="10" y="1528"/>
                    <a:pt x="22" y="1528"/>
                  </a:cubicBezTo>
                  <a:cubicBezTo>
                    <a:pt x="784" y="1528"/>
                    <a:pt x="784" y="1528"/>
                    <a:pt x="784" y="1528"/>
                  </a:cubicBezTo>
                  <a:cubicBezTo>
                    <a:pt x="796" y="1528"/>
                    <a:pt x="806" y="1518"/>
                    <a:pt x="806" y="1506"/>
                  </a:cubicBezTo>
                  <a:cubicBezTo>
                    <a:pt x="806" y="1296"/>
                    <a:pt x="806" y="1296"/>
                    <a:pt x="806" y="1296"/>
                  </a:cubicBezTo>
                  <a:cubicBezTo>
                    <a:pt x="806" y="1252"/>
                    <a:pt x="806" y="1252"/>
                    <a:pt x="806" y="1252"/>
                  </a:cubicBezTo>
                  <a:cubicBezTo>
                    <a:pt x="806" y="695"/>
                    <a:pt x="806" y="695"/>
                    <a:pt x="806" y="695"/>
                  </a:cubicBezTo>
                  <a:lnTo>
                    <a:pt x="762" y="695"/>
                  </a:lnTo>
                  <a:close/>
                  <a:moveTo>
                    <a:pt x="762" y="1484"/>
                  </a:moveTo>
                  <a:cubicBezTo>
                    <a:pt x="44" y="1484"/>
                    <a:pt x="44" y="1484"/>
                    <a:pt x="44" y="1484"/>
                  </a:cubicBezTo>
                  <a:cubicBezTo>
                    <a:pt x="44" y="1296"/>
                    <a:pt x="44" y="1296"/>
                    <a:pt x="44" y="1296"/>
                  </a:cubicBezTo>
                  <a:cubicBezTo>
                    <a:pt x="762" y="1296"/>
                    <a:pt x="762" y="1296"/>
                    <a:pt x="762" y="1296"/>
                  </a:cubicBezTo>
                  <a:lnTo>
                    <a:pt x="762" y="148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4" name="Group 53">
            <a:extLst>
              <a:ext uri="{FF2B5EF4-FFF2-40B4-BE49-F238E27FC236}">
                <a16:creationId xmlns:a16="http://schemas.microsoft.com/office/drawing/2014/main" id="{712499D3-35B4-43E6-BE2D-FC41B20AB61B}"/>
              </a:ext>
            </a:extLst>
          </p:cNvPr>
          <p:cNvGrpSpPr>
            <a:grpSpLocks noChangeAspect="1"/>
          </p:cNvGrpSpPr>
          <p:nvPr/>
        </p:nvGrpSpPr>
        <p:grpSpPr>
          <a:xfrm>
            <a:off x="8624717" y="1888488"/>
            <a:ext cx="693556" cy="693556"/>
            <a:chOff x="5273675" y="2606675"/>
            <a:chExt cx="1644650" cy="1644650"/>
          </a:xfrm>
        </p:grpSpPr>
        <p:sp>
          <p:nvSpPr>
            <p:cNvPr id="55" name="AutoShape 3">
              <a:extLst>
                <a:ext uri="{FF2B5EF4-FFF2-40B4-BE49-F238E27FC236}">
                  <a16:creationId xmlns:a16="http://schemas.microsoft.com/office/drawing/2014/main" id="{A0622C78-AF24-4E41-9666-23D0CC9F6B09}"/>
                </a:ext>
              </a:extLst>
            </p:cNvPr>
            <p:cNvSpPr>
              <a:spLocks noChangeAspect="1" noChangeArrowheads="1" noTextEdit="1"/>
            </p:cNvSpPr>
            <p:nvPr/>
          </p:nvSpPr>
          <p:spPr bwMode="auto">
            <a:xfrm>
              <a:off x="5273675" y="2606675"/>
              <a:ext cx="1644650"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57" name="Group 56">
              <a:extLst>
                <a:ext uri="{FF2B5EF4-FFF2-40B4-BE49-F238E27FC236}">
                  <a16:creationId xmlns:a16="http://schemas.microsoft.com/office/drawing/2014/main" id="{29F697B0-F717-48DD-A99D-6B41FF4E8054}"/>
                </a:ext>
              </a:extLst>
            </p:cNvPr>
            <p:cNvGrpSpPr/>
            <p:nvPr/>
          </p:nvGrpSpPr>
          <p:grpSpPr>
            <a:xfrm>
              <a:off x="5435601" y="2782802"/>
              <a:ext cx="1312862" cy="1293982"/>
              <a:chOff x="5435601" y="2782802"/>
              <a:chExt cx="1312862" cy="1293982"/>
            </a:xfrm>
          </p:grpSpPr>
          <p:sp>
            <p:nvSpPr>
              <p:cNvPr id="58" name="Freeform 21">
                <a:extLst>
                  <a:ext uri="{FF2B5EF4-FFF2-40B4-BE49-F238E27FC236}">
                    <a16:creationId xmlns:a16="http://schemas.microsoft.com/office/drawing/2014/main" id="{0402E211-8D79-4C98-AD5C-AEB3EA7F4C61}"/>
                  </a:ext>
                </a:extLst>
              </p:cNvPr>
              <p:cNvSpPr>
                <a:spLocks/>
              </p:cNvSpPr>
              <p:nvPr/>
            </p:nvSpPr>
            <p:spPr bwMode="auto">
              <a:xfrm>
                <a:off x="5435601" y="2782802"/>
                <a:ext cx="1312862" cy="1293982"/>
              </a:xfrm>
              <a:custGeom>
                <a:avLst/>
                <a:gdLst>
                  <a:gd name="connsiteX0" fmla="*/ 292611 w 1312862"/>
                  <a:gd name="connsiteY0" fmla="*/ 935122 h 1293982"/>
                  <a:gd name="connsiteX1" fmla="*/ 286175 w 1312862"/>
                  <a:gd name="connsiteY1" fmla="*/ 935836 h 1293982"/>
                  <a:gd name="connsiteX2" fmla="*/ 274733 w 1312862"/>
                  <a:gd name="connsiteY2" fmla="*/ 937265 h 1293982"/>
                  <a:gd name="connsiteX3" fmla="*/ 241838 w 1312862"/>
                  <a:gd name="connsiteY3" fmla="*/ 948692 h 1293982"/>
                  <a:gd name="connsiteX4" fmla="*/ 30163 w 1312862"/>
                  <a:gd name="connsiteY4" fmla="*/ 1069391 h 1293982"/>
                  <a:gd name="connsiteX5" fmla="*/ 30163 w 1312862"/>
                  <a:gd name="connsiteY5" fmla="*/ 1255797 h 1293982"/>
                  <a:gd name="connsiteX6" fmla="*/ 248989 w 1312862"/>
                  <a:gd name="connsiteY6" fmla="*/ 1171522 h 1293982"/>
                  <a:gd name="connsiteX7" fmla="*/ 310489 w 1312862"/>
                  <a:gd name="connsiteY7" fmla="*/ 1160095 h 1293982"/>
                  <a:gd name="connsiteX8" fmla="*/ 322646 w 1312862"/>
                  <a:gd name="connsiteY8" fmla="*/ 1160809 h 1293982"/>
                  <a:gd name="connsiteX9" fmla="*/ 410605 w 1312862"/>
                  <a:gd name="connsiteY9" fmla="*/ 1167237 h 1293982"/>
                  <a:gd name="connsiteX10" fmla="*/ 444931 w 1312862"/>
                  <a:gd name="connsiteY10" fmla="*/ 1167951 h 1293982"/>
                  <a:gd name="connsiteX11" fmla="*/ 587954 w 1312862"/>
                  <a:gd name="connsiteY11" fmla="*/ 1146525 h 1293982"/>
                  <a:gd name="connsiteX12" fmla="*/ 597251 w 1312862"/>
                  <a:gd name="connsiteY12" fmla="*/ 1143668 h 1293982"/>
                  <a:gd name="connsiteX13" fmla="*/ 751716 w 1312862"/>
                  <a:gd name="connsiteY13" fmla="*/ 1040823 h 1293982"/>
                  <a:gd name="connsiteX14" fmla="*/ 785327 w 1312862"/>
                  <a:gd name="connsiteY14" fmla="*/ 1001543 h 1293982"/>
                  <a:gd name="connsiteX15" fmla="*/ 783181 w 1312862"/>
                  <a:gd name="connsiteY15" fmla="*/ 962262 h 1293982"/>
                  <a:gd name="connsiteX16" fmla="*/ 763873 w 1312862"/>
                  <a:gd name="connsiteY16" fmla="*/ 955120 h 1293982"/>
                  <a:gd name="connsiteX17" fmla="*/ 743135 w 1312862"/>
                  <a:gd name="connsiteY17" fmla="*/ 964404 h 1293982"/>
                  <a:gd name="connsiteX18" fmla="*/ 737414 w 1312862"/>
                  <a:gd name="connsiteY18" fmla="*/ 970832 h 1293982"/>
                  <a:gd name="connsiteX19" fmla="*/ 708094 w 1312862"/>
                  <a:gd name="connsiteY19" fmla="*/ 1004399 h 1293982"/>
                  <a:gd name="connsiteX20" fmla="*/ 678774 w 1312862"/>
                  <a:gd name="connsiteY20" fmla="*/ 1031539 h 1293982"/>
                  <a:gd name="connsiteX21" fmla="*/ 668763 w 1312862"/>
                  <a:gd name="connsiteY21" fmla="*/ 1039395 h 1293982"/>
                  <a:gd name="connsiteX22" fmla="*/ 644449 w 1312862"/>
                  <a:gd name="connsiteY22" fmla="*/ 1054393 h 1293982"/>
                  <a:gd name="connsiteX23" fmla="*/ 594390 w 1312862"/>
                  <a:gd name="connsiteY23" fmla="*/ 1075105 h 1293982"/>
                  <a:gd name="connsiteX24" fmla="*/ 589385 w 1312862"/>
                  <a:gd name="connsiteY24" fmla="*/ 1076533 h 1293982"/>
                  <a:gd name="connsiteX25" fmla="*/ 529315 w 1312862"/>
                  <a:gd name="connsiteY25" fmla="*/ 1084390 h 1293982"/>
                  <a:gd name="connsiteX26" fmla="*/ 527169 w 1312862"/>
                  <a:gd name="connsiteY26" fmla="*/ 1084390 h 1293982"/>
                  <a:gd name="connsiteX27" fmla="*/ 489983 w 1312862"/>
                  <a:gd name="connsiteY27" fmla="*/ 1080819 h 1293982"/>
                  <a:gd name="connsiteX28" fmla="*/ 446361 w 1312862"/>
                  <a:gd name="connsiteY28" fmla="*/ 1068677 h 1293982"/>
                  <a:gd name="connsiteX29" fmla="*/ 427768 w 1312862"/>
                  <a:gd name="connsiteY29" fmla="*/ 1060821 h 1293982"/>
                  <a:gd name="connsiteX30" fmla="*/ 409175 w 1312862"/>
                  <a:gd name="connsiteY30" fmla="*/ 1034396 h 1293982"/>
                  <a:gd name="connsiteX31" fmla="*/ 409175 w 1312862"/>
                  <a:gd name="connsiteY31" fmla="*/ 1032967 h 1293982"/>
                  <a:gd name="connsiteX32" fmla="*/ 409175 w 1312862"/>
                  <a:gd name="connsiteY32" fmla="*/ 1029396 h 1293982"/>
                  <a:gd name="connsiteX33" fmla="*/ 410605 w 1312862"/>
                  <a:gd name="connsiteY33" fmla="*/ 1022969 h 1293982"/>
                  <a:gd name="connsiteX34" fmla="*/ 411321 w 1312862"/>
                  <a:gd name="connsiteY34" fmla="*/ 1020826 h 1293982"/>
                  <a:gd name="connsiteX35" fmla="*/ 417041 w 1312862"/>
                  <a:gd name="connsiteY35" fmla="*/ 1012970 h 1293982"/>
                  <a:gd name="connsiteX36" fmla="*/ 418472 w 1312862"/>
                  <a:gd name="connsiteY36" fmla="*/ 1011541 h 1293982"/>
                  <a:gd name="connsiteX37" fmla="*/ 436350 w 1312862"/>
                  <a:gd name="connsiteY37" fmla="*/ 1003685 h 1293982"/>
                  <a:gd name="connsiteX38" fmla="*/ 523594 w 1312862"/>
                  <a:gd name="connsiteY38" fmla="*/ 995115 h 1293982"/>
                  <a:gd name="connsiteX39" fmla="*/ 543617 w 1312862"/>
                  <a:gd name="connsiteY39" fmla="*/ 980117 h 1293982"/>
                  <a:gd name="connsiteX40" fmla="*/ 545762 w 1312862"/>
                  <a:gd name="connsiteY40" fmla="*/ 970832 h 1293982"/>
                  <a:gd name="connsiteX41" fmla="*/ 522879 w 1312862"/>
                  <a:gd name="connsiteY41" fmla="*/ 947263 h 1293982"/>
                  <a:gd name="connsiteX42" fmla="*/ 331227 w 1312862"/>
                  <a:gd name="connsiteY42" fmla="*/ 937265 h 1293982"/>
                  <a:gd name="connsiteX43" fmla="*/ 322646 w 1312862"/>
                  <a:gd name="connsiteY43" fmla="*/ 936551 h 1293982"/>
                  <a:gd name="connsiteX44" fmla="*/ 309774 w 1312862"/>
                  <a:gd name="connsiteY44" fmla="*/ 935836 h 1293982"/>
                  <a:gd name="connsiteX45" fmla="*/ 298332 w 1312862"/>
                  <a:gd name="connsiteY45" fmla="*/ 935836 h 1293982"/>
                  <a:gd name="connsiteX46" fmla="*/ 297617 w 1312862"/>
                  <a:gd name="connsiteY46" fmla="*/ 935836 h 1293982"/>
                  <a:gd name="connsiteX47" fmla="*/ 292611 w 1312862"/>
                  <a:gd name="connsiteY47" fmla="*/ 935122 h 1293982"/>
                  <a:gd name="connsiteX48" fmla="*/ 293046 w 1312862"/>
                  <a:gd name="connsiteY48" fmla="*/ 903372 h 1293982"/>
                  <a:gd name="connsiteX49" fmla="*/ 299463 w 1312862"/>
                  <a:gd name="connsiteY49" fmla="*/ 904085 h 1293982"/>
                  <a:gd name="connsiteX50" fmla="*/ 300889 w 1312862"/>
                  <a:gd name="connsiteY50" fmla="*/ 904085 h 1293982"/>
                  <a:gd name="connsiteX51" fmla="*/ 524060 w 1312862"/>
                  <a:gd name="connsiteY51" fmla="*/ 915497 h 1293982"/>
                  <a:gd name="connsiteX52" fmla="*/ 576823 w 1312862"/>
                  <a:gd name="connsiteY52" fmla="*/ 970415 h 1293982"/>
                  <a:gd name="connsiteX53" fmla="*/ 572545 w 1312862"/>
                  <a:gd name="connsiteY53" fmla="*/ 991099 h 1293982"/>
                  <a:gd name="connsiteX54" fmla="*/ 526912 w 1312862"/>
                  <a:gd name="connsiteY54" fmla="*/ 1026047 h 1293982"/>
                  <a:gd name="connsiteX55" fmla="*/ 444917 w 1312862"/>
                  <a:gd name="connsiteY55" fmla="*/ 1033892 h 1293982"/>
                  <a:gd name="connsiteX56" fmla="*/ 457751 w 1312862"/>
                  <a:gd name="connsiteY56" fmla="*/ 1038885 h 1293982"/>
                  <a:gd name="connsiteX57" fmla="*/ 495540 w 1312862"/>
                  <a:gd name="connsiteY57" fmla="*/ 1049583 h 1293982"/>
                  <a:gd name="connsiteX58" fmla="*/ 526912 w 1312862"/>
                  <a:gd name="connsiteY58" fmla="*/ 1052436 h 1293982"/>
                  <a:gd name="connsiteX59" fmla="*/ 529051 w 1312862"/>
                  <a:gd name="connsiteY59" fmla="*/ 1052436 h 1293982"/>
                  <a:gd name="connsiteX60" fmla="*/ 580388 w 1312862"/>
                  <a:gd name="connsiteY60" fmla="*/ 1045304 h 1293982"/>
                  <a:gd name="connsiteX61" fmla="*/ 585379 w 1312862"/>
                  <a:gd name="connsiteY61" fmla="*/ 1044591 h 1293982"/>
                  <a:gd name="connsiteX62" fmla="*/ 628872 w 1312862"/>
                  <a:gd name="connsiteY62" fmla="*/ 1026760 h 1293982"/>
                  <a:gd name="connsiteX63" fmla="*/ 649550 w 1312862"/>
                  <a:gd name="connsiteY63" fmla="*/ 1013209 h 1293982"/>
                  <a:gd name="connsiteX64" fmla="*/ 658819 w 1312862"/>
                  <a:gd name="connsiteY64" fmla="*/ 1006790 h 1293982"/>
                  <a:gd name="connsiteX65" fmla="*/ 683774 w 1312862"/>
                  <a:gd name="connsiteY65" fmla="*/ 982540 h 1293982"/>
                  <a:gd name="connsiteX66" fmla="*/ 718711 w 1312862"/>
                  <a:gd name="connsiteY66" fmla="*/ 943313 h 1293982"/>
                  <a:gd name="connsiteX67" fmla="*/ 762918 w 1312862"/>
                  <a:gd name="connsiteY67" fmla="*/ 923342 h 1293982"/>
                  <a:gd name="connsiteX68" fmla="*/ 807124 w 1312862"/>
                  <a:gd name="connsiteY68" fmla="*/ 942599 h 1293982"/>
                  <a:gd name="connsiteX69" fmla="*/ 807837 w 1312862"/>
                  <a:gd name="connsiteY69" fmla="*/ 1021767 h 1293982"/>
                  <a:gd name="connsiteX70" fmla="*/ 775039 w 1312862"/>
                  <a:gd name="connsiteY70" fmla="*/ 1060995 h 1293982"/>
                  <a:gd name="connsiteX71" fmla="*/ 606056 w 1312862"/>
                  <a:gd name="connsiteY71" fmla="*/ 1172971 h 1293982"/>
                  <a:gd name="connsiteX72" fmla="*/ 596787 w 1312862"/>
                  <a:gd name="connsiteY72" fmla="*/ 1175824 h 1293982"/>
                  <a:gd name="connsiteX73" fmla="*/ 444917 w 1312862"/>
                  <a:gd name="connsiteY73" fmla="*/ 1198647 h 1293982"/>
                  <a:gd name="connsiteX74" fmla="*/ 408553 w 1312862"/>
                  <a:gd name="connsiteY74" fmla="*/ 1197934 h 1293982"/>
                  <a:gd name="connsiteX75" fmla="*/ 320853 w 1312862"/>
                  <a:gd name="connsiteY75" fmla="*/ 1191515 h 1293982"/>
                  <a:gd name="connsiteX76" fmla="*/ 310871 w 1312862"/>
                  <a:gd name="connsiteY76" fmla="*/ 1190802 h 1293982"/>
                  <a:gd name="connsiteX77" fmla="*/ 260961 w 1312862"/>
                  <a:gd name="connsiteY77" fmla="*/ 1200074 h 1293982"/>
                  <a:gd name="connsiteX78" fmla="*/ 21390 w 1312862"/>
                  <a:gd name="connsiteY78" fmla="*/ 1292793 h 1293982"/>
                  <a:gd name="connsiteX79" fmla="*/ 0 w 1312862"/>
                  <a:gd name="connsiteY79" fmla="*/ 1278528 h 1293982"/>
                  <a:gd name="connsiteX80" fmla="*/ 0 w 1312862"/>
                  <a:gd name="connsiteY80" fmla="*/ 1059568 h 1293982"/>
                  <a:gd name="connsiteX81" fmla="*/ 8556 w 1312862"/>
                  <a:gd name="connsiteY81" fmla="*/ 1046017 h 1293982"/>
                  <a:gd name="connsiteX82" fmla="*/ 227449 w 1312862"/>
                  <a:gd name="connsiteY82" fmla="*/ 921203 h 1293982"/>
                  <a:gd name="connsiteX83" fmla="*/ 269517 w 1312862"/>
                  <a:gd name="connsiteY83" fmla="*/ 905512 h 1293982"/>
                  <a:gd name="connsiteX84" fmla="*/ 284490 w 1312862"/>
                  <a:gd name="connsiteY84" fmla="*/ 904085 h 1293982"/>
                  <a:gd name="connsiteX85" fmla="*/ 293046 w 1312862"/>
                  <a:gd name="connsiteY85" fmla="*/ 903372 h 1293982"/>
                  <a:gd name="connsiteX86" fmla="*/ 659587 w 1312862"/>
                  <a:gd name="connsiteY86" fmla="*/ 403310 h 1293982"/>
                  <a:gd name="connsiteX87" fmla="*/ 535978 w 1312862"/>
                  <a:gd name="connsiteY87" fmla="*/ 441853 h 1293982"/>
                  <a:gd name="connsiteX88" fmla="*/ 315912 w 1312862"/>
                  <a:gd name="connsiteY88" fmla="*/ 677394 h 1293982"/>
                  <a:gd name="connsiteX89" fmla="*/ 518116 w 1312862"/>
                  <a:gd name="connsiteY89" fmla="*/ 863685 h 1293982"/>
                  <a:gd name="connsiteX90" fmla="*/ 737468 w 1312862"/>
                  <a:gd name="connsiteY90" fmla="*/ 627431 h 1293982"/>
                  <a:gd name="connsiteX91" fmla="*/ 766762 w 1312862"/>
                  <a:gd name="connsiteY91" fmla="*/ 501095 h 1293982"/>
                  <a:gd name="connsiteX92" fmla="*/ 659587 w 1312862"/>
                  <a:gd name="connsiteY92" fmla="*/ 403310 h 1293982"/>
                  <a:gd name="connsiteX93" fmla="*/ 653979 w 1312862"/>
                  <a:gd name="connsiteY93" fmla="*/ 374574 h 1293982"/>
                  <a:gd name="connsiteX94" fmla="*/ 655407 w 1312862"/>
                  <a:gd name="connsiteY94" fmla="*/ 374574 h 1293982"/>
                  <a:gd name="connsiteX95" fmla="*/ 674683 w 1312862"/>
                  <a:gd name="connsiteY95" fmla="*/ 379569 h 1293982"/>
                  <a:gd name="connsiteX96" fmla="*/ 787484 w 1312862"/>
                  <a:gd name="connsiteY96" fmla="*/ 483027 h 1293982"/>
                  <a:gd name="connsiteX97" fmla="*/ 793909 w 1312862"/>
                  <a:gd name="connsiteY97" fmla="*/ 502292 h 1293982"/>
                  <a:gd name="connsiteX98" fmla="*/ 793909 w 1312862"/>
                  <a:gd name="connsiteY98" fmla="*/ 503006 h 1293982"/>
                  <a:gd name="connsiteX99" fmla="*/ 763210 w 1312862"/>
                  <a:gd name="connsiteY99" fmla="*/ 637859 h 1293982"/>
                  <a:gd name="connsiteX100" fmla="*/ 759641 w 1312862"/>
                  <a:gd name="connsiteY100" fmla="*/ 644280 h 1293982"/>
                  <a:gd name="connsiteX101" fmla="*/ 533324 w 1312862"/>
                  <a:gd name="connsiteY101" fmla="*/ 888300 h 1293982"/>
                  <a:gd name="connsiteX102" fmla="*/ 518332 w 1312862"/>
                  <a:gd name="connsiteY102" fmla="*/ 895435 h 1293982"/>
                  <a:gd name="connsiteX103" fmla="*/ 517618 w 1312862"/>
                  <a:gd name="connsiteY103" fmla="*/ 895435 h 1293982"/>
                  <a:gd name="connsiteX104" fmla="*/ 502625 w 1312862"/>
                  <a:gd name="connsiteY104" fmla="*/ 889727 h 1293982"/>
                  <a:gd name="connsiteX105" fmla="*/ 291302 w 1312862"/>
                  <a:gd name="connsiteY105" fmla="*/ 692799 h 1293982"/>
                  <a:gd name="connsiteX106" fmla="*/ 284162 w 1312862"/>
                  <a:gd name="connsiteY106" fmla="*/ 677815 h 1293982"/>
                  <a:gd name="connsiteX107" fmla="*/ 289874 w 1312862"/>
                  <a:gd name="connsiteY107" fmla="*/ 663545 h 1293982"/>
                  <a:gd name="connsiteX108" fmla="*/ 516190 w 1312862"/>
                  <a:gd name="connsiteY108" fmla="*/ 419525 h 1293982"/>
                  <a:gd name="connsiteX109" fmla="*/ 522615 w 1312862"/>
                  <a:gd name="connsiteY109" fmla="*/ 415244 h 1293982"/>
                  <a:gd name="connsiteX110" fmla="*/ 653979 w 1312862"/>
                  <a:gd name="connsiteY110" fmla="*/ 374574 h 1293982"/>
                  <a:gd name="connsiteX111" fmla="*/ 1281112 w 1312862"/>
                  <a:gd name="connsiteY111" fmla="*/ 38186 h 1293982"/>
                  <a:gd name="connsiteX112" fmla="*/ 1063703 w 1312862"/>
                  <a:gd name="connsiteY112" fmla="*/ 122462 h 1293982"/>
                  <a:gd name="connsiteX113" fmla="*/ 1001688 w 1312862"/>
                  <a:gd name="connsiteY113" fmla="*/ 133889 h 1293982"/>
                  <a:gd name="connsiteX114" fmla="*/ 989571 w 1312862"/>
                  <a:gd name="connsiteY114" fmla="*/ 133174 h 1293982"/>
                  <a:gd name="connsiteX115" fmla="*/ 902607 w 1312862"/>
                  <a:gd name="connsiteY115" fmla="*/ 126747 h 1293982"/>
                  <a:gd name="connsiteX116" fmla="*/ 868392 w 1312862"/>
                  <a:gd name="connsiteY116" fmla="*/ 126033 h 1293982"/>
                  <a:gd name="connsiteX117" fmla="*/ 725829 w 1312862"/>
                  <a:gd name="connsiteY117" fmla="*/ 147458 h 1293982"/>
                  <a:gd name="connsiteX118" fmla="*/ 716562 w 1312862"/>
                  <a:gd name="connsiteY118" fmla="*/ 150315 h 1293982"/>
                  <a:gd name="connsiteX119" fmla="*/ 562594 w 1312862"/>
                  <a:gd name="connsiteY119" fmla="*/ 253160 h 1293982"/>
                  <a:gd name="connsiteX120" fmla="*/ 528379 w 1312862"/>
                  <a:gd name="connsiteY120" fmla="*/ 292441 h 1293982"/>
                  <a:gd name="connsiteX121" fmla="*/ 531230 w 1312862"/>
                  <a:gd name="connsiteY121" fmla="*/ 331722 h 1293982"/>
                  <a:gd name="connsiteX122" fmla="*/ 549763 w 1312862"/>
                  <a:gd name="connsiteY122" fmla="*/ 338864 h 1293982"/>
                  <a:gd name="connsiteX123" fmla="*/ 571148 w 1312862"/>
                  <a:gd name="connsiteY123" fmla="*/ 329579 h 1293982"/>
                  <a:gd name="connsiteX124" fmla="*/ 576850 w 1312862"/>
                  <a:gd name="connsiteY124" fmla="*/ 323151 h 1293982"/>
                  <a:gd name="connsiteX125" fmla="*/ 606076 w 1312862"/>
                  <a:gd name="connsiteY125" fmla="*/ 289584 h 1293982"/>
                  <a:gd name="connsiteX126" fmla="*/ 634588 w 1312862"/>
                  <a:gd name="connsiteY126" fmla="*/ 262444 h 1293982"/>
                  <a:gd name="connsiteX127" fmla="*/ 644568 w 1312862"/>
                  <a:gd name="connsiteY127" fmla="*/ 254588 h 1293982"/>
                  <a:gd name="connsiteX128" fmla="*/ 668804 w 1312862"/>
                  <a:gd name="connsiteY128" fmla="*/ 239590 h 1293982"/>
                  <a:gd name="connsiteX129" fmla="*/ 719413 w 1312862"/>
                  <a:gd name="connsiteY129" fmla="*/ 218878 h 1293982"/>
                  <a:gd name="connsiteX130" fmla="*/ 724403 w 1312862"/>
                  <a:gd name="connsiteY130" fmla="*/ 217450 h 1293982"/>
                  <a:gd name="connsiteX131" fmla="*/ 783567 w 1312862"/>
                  <a:gd name="connsiteY131" fmla="*/ 209594 h 1293982"/>
                  <a:gd name="connsiteX132" fmla="*/ 786418 w 1312862"/>
                  <a:gd name="connsiteY132" fmla="*/ 209594 h 1293982"/>
                  <a:gd name="connsiteX133" fmla="*/ 823485 w 1312862"/>
                  <a:gd name="connsiteY133" fmla="*/ 213165 h 1293982"/>
                  <a:gd name="connsiteX134" fmla="*/ 866966 w 1312862"/>
                  <a:gd name="connsiteY134" fmla="*/ 225306 h 1293982"/>
                  <a:gd name="connsiteX135" fmla="*/ 885500 w 1312862"/>
                  <a:gd name="connsiteY135" fmla="*/ 233162 h 1293982"/>
                  <a:gd name="connsiteX136" fmla="*/ 904033 w 1312862"/>
                  <a:gd name="connsiteY136" fmla="*/ 259588 h 1293982"/>
                  <a:gd name="connsiteX137" fmla="*/ 904033 w 1312862"/>
                  <a:gd name="connsiteY137" fmla="*/ 261016 h 1293982"/>
                  <a:gd name="connsiteX138" fmla="*/ 903320 w 1312862"/>
                  <a:gd name="connsiteY138" fmla="*/ 264587 h 1293982"/>
                  <a:gd name="connsiteX139" fmla="*/ 901894 w 1312862"/>
                  <a:gd name="connsiteY139" fmla="*/ 271015 h 1293982"/>
                  <a:gd name="connsiteX140" fmla="*/ 901181 w 1312862"/>
                  <a:gd name="connsiteY140" fmla="*/ 273157 h 1293982"/>
                  <a:gd name="connsiteX141" fmla="*/ 896192 w 1312862"/>
                  <a:gd name="connsiteY141" fmla="*/ 281014 h 1293982"/>
                  <a:gd name="connsiteX142" fmla="*/ 894766 w 1312862"/>
                  <a:gd name="connsiteY142" fmla="*/ 282442 h 1293982"/>
                  <a:gd name="connsiteX143" fmla="*/ 876946 w 1312862"/>
                  <a:gd name="connsiteY143" fmla="*/ 290298 h 1293982"/>
                  <a:gd name="connsiteX144" fmla="*/ 789269 w 1312862"/>
                  <a:gd name="connsiteY144" fmla="*/ 298868 h 1293982"/>
                  <a:gd name="connsiteX145" fmla="*/ 769311 w 1312862"/>
                  <a:gd name="connsiteY145" fmla="*/ 313867 h 1293982"/>
                  <a:gd name="connsiteX146" fmla="*/ 767885 w 1312862"/>
                  <a:gd name="connsiteY146" fmla="*/ 323151 h 1293982"/>
                  <a:gd name="connsiteX147" fmla="*/ 790695 w 1312862"/>
                  <a:gd name="connsiteY147" fmla="*/ 346720 h 1293982"/>
                  <a:gd name="connsiteX148" fmla="*/ 981017 w 1312862"/>
                  <a:gd name="connsiteY148" fmla="*/ 356719 h 1293982"/>
                  <a:gd name="connsiteX149" fmla="*/ 990283 w 1312862"/>
                  <a:gd name="connsiteY149" fmla="*/ 357433 h 1293982"/>
                  <a:gd name="connsiteX150" fmla="*/ 1002401 w 1312862"/>
                  <a:gd name="connsiteY150" fmla="*/ 358147 h 1293982"/>
                  <a:gd name="connsiteX151" fmla="*/ 1014519 w 1312862"/>
                  <a:gd name="connsiteY151" fmla="*/ 358147 h 1293982"/>
                  <a:gd name="connsiteX152" fmla="*/ 1019509 w 1312862"/>
                  <a:gd name="connsiteY152" fmla="*/ 358861 h 1293982"/>
                  <a:gd name="connsiteX153" fmla="*/ 1026637 w 1312862"/>
                  <a:gd name="connsiteY153" fmla="*/ 358147 h 1293982"/>
                  <a:gd name="connsiteX154" fmla="*/ 1038042 w 1312862"/>
                  <a:gd name="connsiteY154" fmla="*/ 356719 h 1293982"/>
                  <a:gd name="connsiteX155" fmla="*/ 1070119 w 1312862"/>
                  <a:gd name="connsiteY155" fmla="*/ 345291 h 1293982"/>
                  <a:gd name="connsiteX156" fmla="*/ 1281112 w 1312862"/>
                  <a:gd name="connsiteY156" fmla="*/ 224592 h 1293982"/>
                  <a:gd name="connsiteX157" fmla="*/ 1281112 w 1312862"/>
                  <a:gd name="connsiteY157" fmla="*/ 38186 h 1293982"/>
                  <a:gd name="connsiteX158" fmla="*/ 1291431 w 1312862"/>
                  <a:gd name="connsiteY158" fmla="*/ 1190 h 1293982"/>
                  <a:gd name="connsiteX159" fmla="*/ 1312862 w 1312862"/>
                  <a:gd name="connsiteY159" fmla="*/ 15455 h 1293982"/>
                  <a:gd name="connsiteX160" fmla="*/ 1312862 w 1312862"/>
                  <a:gd name="connsiteY160" fmla="*/ 234415 h 1293982"/>
                  <a:gd name="connsiteX161" fmla="*/ 1305004 w 1312862"/>
                  <a:gd name="connsiteY161" fmla="*/ 247966 h 1293982"/>
                  <a:gd name="connsiteX162" fmla="*/ 1085691 w 1312862"/>
                  <a:gd name="connsiteY162" fmla="*/ 372781 h 1293982"/>
                  <a:gd name="connsiteX163" fmla="*/ 1043543 w 1312862"/>
                  <a:gd name="connsiteY163" fmla="*/ 388471 h 1293982"/>
                  <a:gd name="connsiteX164" fmla="*/ 1028541 w 1312862"/>
                  <a:gd name="connsiteY164" fmla="*/ 389898 h 1293982"/>
                  <a:gd name="connsiteX165" fmla="*/ 1019254 w 1312862"/>
                  <a:gd name="connsiteY165" fmla="*/ 390611 h 1293982"/>
                  <a:gd name="connsiteX166" fmla="*/ 1013539 w 1312862"/>
                  <a:gd name="connsiteY166" fmla="*/ 389898 h 1293982"/>
                  <a:gd name="connsiteX167" fmla="*/ 1012110 w 1312862"/>
                  <a:gd name="connsiteY167" fmla="*/ 389898 h 1293982"/>
                  <a:gd name="connsiteX168" fmla="*/ 787797 w 1312862"/>
                  <a:gd name="connsiteY168" fmla="*/ 378486 h 1293982"/>
                  <a:gd name="connsiteX169" fmla="*/ 735647 w 1312862"/>
                  <a:gd name="connsiteY169" fmla="*/ 323568 h 1293982"/>
                  <a:gd name="connsiteX170" fmla="*/ 739219 w 1312862"/>
                  <a:gd name="connsiteY170" fmla="*/ 302885 h 1293982"/>
                  <a:gd name="connsiteX171" fmla="*/ 785653 w 1312862"/>
                  <a:gd name="connsiteY171" fmla="*/ 267937 h 1293982"/>
                  <a:gd name="connsiteX172" fmla="*/ 867092 w 1312862"/>
                  <a:gd name="connsiteY172" fmla="*/ 260091 h 1293982"/>
                  <a:gd name="connsiteX173" fmla="*/ 854233 w 1312862"/>
                  <a:gd name="connsiteY173" fmla="*/ 255098 h 1293982"/>
                  <a:gd name="connsiteX174" fmla="*/ 817086 w 1312862"/>
                  <a:gd name="connsiteY174" fmla="*/ 244400 h 1293982"/>
                  <a:gd name="connsiteX175" fmla="*/ 784939 w 1312862"/>
                  <a:gd name="connsiteY175" fmla="*/ 241547 h 1293982"/>
                  <a:gd name="connsiteX176" fmla="*/ 782796 w 1312862"/>
                  <a:gd name="connsiteY176" fmla="*/ 241547 h 1293982"/>
                  <a:gd name="connsiteX177" fmla="*/ 732075 w 1312862"/>
                  <a:gd name="connsiteY177" fmla="*/ 248679 h 1293982"/>
                  <a:gd name="connsiteX178" fmla="*/ 727075 w 1312862"/>
                  <a:gd name="connsiteY178" fmla="*/ 249393 h 1293982"/>
                  <a:gd name="connsiteX179" fmla="*/ 683498 w 1312862"/>
                  <a:gd name="connsiteY179" fmla="*/ 267223 h 1293982"/>
                  <a:gd name="connsiteX180" fmla="*/ 662067 w 1312862"/>
                  <a:gd name="connsiteY180" fmla="*/ 280775 h 1293982"/>
                  <a:gd name="connsiteX181" fmla="*/ 653494 w 1312862"/>
                  <a:gd name="connsiteY181" fmla="*/ 287194 h 1293982"/>
                  <a:gd name="connsiteX182" fmla="*/ 628491 w 1312862"/>
                  <a:gd name="connsiteY182" fmla="*/ 311443 h 1293982"/>
                  <a:gd name="connsiteX183" fmla="*/ 593487 w 1312862"/>
                  <a:gd name="connsiteY183" fmla="*/ 350671 h 1293982"/>
                  <a:gd name="connsiteX184" fmla="*/ 548481 w 1312862"/>
                  <a:gd name="connsiteY184" fmla="*/ 370641 h 1293982"/>
                  <a:gd name="connsiteX185" fmla="*/ 504190 w 1312862"/>
                  <a:gd name="connsiteY185" fmla="*/ 351384 h 1293982"/>
                  <a:gd name="connsiteX186" fmla="*/ 504190 w 1312862"/>
                  <a:gd name="connsiteY186" fmla="*/ 272216 h 1293982"/>
                  <a:gd name="connsiteX187" fmla="*/ 537051 w 1312862"/>
                  <a:gd name="connsiteY187" fmla="*/ 232988 h 1293982"/>
                  <a:gd name="connsiteX188" fmla="*/ 706358 w 1312862"/>
                  <a:gd name="connsiteY188" fmla="*/ 121012 h 1293982"/>
                  <a:gd name="connsiteX189" fmla="*/ 715645 w 1312862"/>
                  <a:gd name="connsiteY189" fmla="*/ 118159 h 1293982"/>
                  <a:gd name="connsiteX190" fmla="*/ 867807 w 1312862"/>
                  <a:gd name="connsiteY190" fmla="*/ 95336 h 1293982"/>
                  <a:gd name="connsiteX191" fmla="*/ 904240 w 1312862"/>
                  <a:gd name="connsiteY191" fmla="*/ 96049 h 1293982"/>
                  <a:gd name="connsiteX192" fmla="*/ 991393 w 1312862"/>
                  <a:gd name="connsiteY192" fmla="*/ 102468 h 1293982"/>
                  <a:gd name="connsiteX193" fmla="*/ 1001395 w 1312862"/>
                  <a:gd name="connsiteY193" fmla="*/ 103182 h 1293982"/>
                  <a:gd name="connsiteX194" fmla="*/ 1052115 w 1312862"/>
                  <a:gd name="connsiteY194" fmla="*/ 93910 h 1293982"/>
                  <a:gd name="connsiteX195" fmla="*/ 1291431 w 1312862"/>
                  <a:gd name="connsiteY195" fmla="*/ 1190 h 129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1312862" h="1293982">
                    <a:moveTo>
                      <a:pt x="292611" y="935122"/>
                    </a:moveTo>
                    <a:cubicBezTo>
                      <a:pt x="290466" y="935122"/>
                      <a:pt x="288320" y="935122"/>
                      <a:pt x="286175" y="935836"/>
                    </a:cubicBezTo>
                    <a:cubicBezTo>
                      <a:pt x="281884" y="935836"/>
                      <a:pt x="278309" y="936551"/>
                      <a:pt x="274733" y="937265"/>
                    </a:cubicBezTo>
                    <a:cubicBezTo>
                      <a:pt x="263291" y="939407"/>
                      <a:pt x="252565" y="942978"/>
                      <a:pt x="241838" y="948692"/>
                    </a:cubicBezTo>
                    <a:cubicBezTo>
                      <a:pt x="241838" y="948692"/>
                      <a:pt x="241838" y="948692"/>
                      <a:pt x="30163" y="1069391"/>
                    </a:cubicBezTo>
                    <a:cubicBezTo>
                      <a:pt x="30163" y="1069391"/>
                      <a:pt x="30163" y="1069391"/>
                      <a:pt x="30163" y="1255797"/>
                    </a:cubicBezTo>
                    <a:cubicBezTo>
                      <a:pt x="30163" y="1255797"/>
                      <a:pt x="30163" y="1255797"/>
                      <a:pt x="248989" y="1171522"/>
                    </a:cubicBezTo>
                    <a:cubicBezTo>
                      <a:pt x="268297" y="1164380"/>
                      <a:pt x="289036" y="1160095"/>
                      <a:pt x="310489" y="1160095"/>
                    </a:cubicBezTo>
                    <a:cubicBezTo>
                      <a:pt x="314780" y="1160095"/>
                      <a:pt x="319070" y="1160095"/>
                      <a:pt x="322646" y="1160809"/>
                    </a:cubicBezTo>
                    <a:cubicBezTo>
                      <a:pt x="322646" y="1160809"/>
                      <a:pt x="322646" y="1160809"/>
                      <a:pt x="410605" y="1167237"/>
                    </a:cubicBezTo>
                    <a:cubicBezTo>
                      <a:pt x="422047" y="1167951"/>
                      <a:pt x="433489" y="1167951"/>
                      <a:pt x="444931" y="1167951"/>
                    </a:cubicBezTo>
                    <a:cubicBezTo>
                      <a:pt x="493559" y="1167951"/>
                      <a:pt x="541472" y="1160809"/>
                      <a:pt x="587954" y="1146525"/>
                    </a:cubicBezTo>
                    <a:cubicBezTo>
                      <a:pt x="587954" y="1146525"/>
                      <a:pt x="587954" y="1146525"/>
                      <a:pt x="597251" y="1143668"/>
                    </a:cubicBezTo>
                    <a:cubicBezTo>
                      <a:pt x="657321" y="1125099"/>
                      <a:pt x="710954" y="1089389"/>
                      <a:pt x="751716" y="1040823"/>
                    </a:cubicBezTo>
                    <a:cubicBezTo>
                      <a:pt x="751716" y="1040823"/>
                      <a:pt x="751716" y="1040823"/>
                      <a:pt x="785327" y="1001543"/>
                    </a:cubicBezTo>
                    <a:cubicBezTo>
                      <a:pt x="795338" y="989401"/>
                      <a:pt x="793908" y="972260"/>
                      <a:pt x="783181" y="962262"/>
                    </a:cubicBezTo>
                    <a:cubicBezTo>
                      <a:pt x="777460" y="957262"/>
                      <a:pt x="771024" y="955120"/>
                      <a:pt x="763873" y="955120"/>
                    </a:cubicBezTo>
                    <a:cubicBezTo>
                      <a:pt x="756007" y="955120"/>
                      <a:pt x="748141" y="958691"/>
                      <a:pt x="743135" y="964404"/>
                    </a:cubicBezTo>
                    <a:cubicBezTo>
                      <a:pt x="743135" y="964404"/>
                      <a:pt x="743135" y="964404"/>
                      <a:pt x="737414" y="970832"/>
                    </a:cubicBezTo>
                    <a:cubicBezTo>
                      <a:pt x="737414" y="970832"/>
                      <a:pt x="737414" y="970832"/>
                      <a:pt x="708094" y="1004399"/>
                    </a:cubicBezTo>
                    <a:cubicBezTo>
                      <a:pt x="698797" y="1014398"/>
                      <a:pt x="689501" y="1022969"/>
                      <a:pt x="678774" y="1031539"/>
                    </a:cubicBezTo>
                    <a:cubicBezTo>
                      <a:pt x="675914" y="1034396"/>
                      <a:pt x="672338" y="1036538"/>
                      <a:pt x="668763" y="1039395"/>
                    </a:cubicBezTo>
                    <a:cubicBezTo>
                      <a:pt x="660896" y="1045109"/>
                      <a:pt x="653030" y="1050108"/>
                      <a:pt x="644449" y="1054393"/>
                    </a:cubicBezTo>
                    <a:cubicBezTo>
                      <a:pt x="628716" y="1062964"/>
                      <a:pt x="611553" y="1070106"/>
                      <a:pt x="594390" y="1075105"/>
                    </a:cubicBezTo>
                    <a:cubicBezTo>
                      <a:pt x="594390" y="1075105"/>
                      <a:pt x="594390" y="1075105"/>
                      <a:pt x="589385" y="1076533"/>
                    </a:cubicBezTo>
                    <a:cubicBezTo>
                      <a:pt x="570076" y="1081533"/>
                      <a:pt x="549338" y="1084390"/>
                      <a:pt x="529315" y="1084390"/>
                    </a:cubicBezTo>
                    <a:cubicBezTo>
                      <a:pt x="528600" y="1084390"/>
                      <a:pt x="527885" y="1084390"/>
                      <a:pt x="527169" y="1084390"/>
                    </a:cubicBezTo>
                    <a:cubicBezTo>
                      <a:pt x="514297" y="1084390"/>
                      <a:pt x="502140" y="1082961"/>
                      <a:pt x="489983" y="1080819"/>
                    </a:cubicBezTo>
                    <a:cubicBezTo>
                      <a:pt x="474966" y="1078676"/>
                      <a:pt x="460664" y="1074391"/>
                      <a:pt x="446361" y="1068677"/>
                    </a:cubicBezTo>
                    <a:cubicBezTo>
                      <a:pt x="446361" y="1068677"/>
                      <a:pt x="446361" y="1068677"/>
                      <a:pt x="427768" y="1060821"/>
                    </a:cubicBezTo>
                    <a:cubicBezTo>
                      <a:pt x="417041" y="1056536"/>
                      <a:pt x="409175" y="1046537"/>
                      <a:pt x="409175" y="1034396"/>
                    </a:cubicBezTo>
                    <a:cubicBezTo>
                      <a:pt x="409175" y="1034396"/>
                      <a:pt x="409175" y="1033681"/>
                      <a:pt x="409175" y="1032967"/>
                    </a:cubicBezTo>
                    <a:cubicBezTo>
                      <a:pt x="409175" y="1031539"/>
                      <a:pt x="409175" y="1030110"/>
                      <a:pt x="409175" y="1029396"/>
                    </a:cubicBezTo>
                    <a:cubicBezTo>
                      <a:pt x="409890" y="1027254"/>
                      <a:pt x="409890" y="1025111"/>
                      <a:pt x="410605" y="1022969"/>
                    </a:cubicBezTo>
                    <a:cubicBezTo>
                      <a:pt x="411321" y="1022254"/>
                      <a:pt x="411321" y="1021540"/>
                      <a:pt x="411321" y="1020826"/>
                    </a:cubicBezTo>
                    <a:cubicBezTo>
                      <a:pt x="412751" y="1017969"/>
                      <a:pt x="414896" y="1015827"/>
                      <a:pt x="417041" y="1012970"/>
                    </a:cubicBezTo>
                    <a:cubicBezTo>
                      <a:pt x="417041" y="1012970"/>
                      <a:pt x="417757" y="1012256"/>
                      <a:pt x="418472" y="1011541"/>
                    </a:cubicBezTo>
                    <a:cubicBezTo>
                      <a:pt x="422762" y="1007256"/>
                      <a:pt x="429198" y="1004399"/>
                      <a:pt x="436350" y="1003685"/>
                    </a:cubicBezTo>
                    <a:cubicBezTo>
                      <a:pt x="436350" y="1003685"/>
                      <a:pt x="436350" y="1003685"/>
                      <a:pt x="523594" y="995115"/>
                    </a:cubicBezTo>
                    <a:cubicBezTo>
                      <a:pt x="532890" y="994401"/>
                      <a:pt x="540757" y="987973"/>
                      <a:pt x="543617" y="980117"/>
                    </a:cubicBezTo>
                    <a:cubicBezTo>
                      <a:pt x="545047" y="977260"/>
                      <a:pt x="545762" y="974403"/>
                      <a:pt x="545762" y="970832"/>
                    </a:cubicBezTo>
                    <a:cubicBezTo>
                      <a:pt x="545762" y="957976"/>
                      <a:pt x="535751" y="947978"/>
                      <a:pt x="522879" y="947263"/>
                    </a:cubicBezTo>
                    <a:cubicBezTo>
                      <a:pt x="522879" y="947263"/>
                      <a:pt x="522879" y="947263"/>
                      <a:pt x="331227" y="937265"/>
                    </a:cubicBezTo>
                    <a:cubicBezTo>
                      <a:pt x="331227" y="937265"/>
                      <a:pt x="331227" y="937265"/>
                      <a:pt x="322646" y="936551"/>
                    </a:cubicBezTo>
                    <a:cubicBezTo>
                      <a:pt x="322646" y="936551"/>
                      <a:pt x="322646" y="936551"/>
                      <a:pt x="309774" y="935836"/>
                    </a:cubicBezTo>
                    <a:cubicBezTo>
                      <a:pt x="309774" y="935836"/>
                      <a:pt x="309774" y="935836"/>
                      <a:pt x="298332" y="935836"/>
                    </a:cubicBezTo>
                    <a:cubicBezTo>
                      <a:pt x="298332" y="935836"/>
                      <a:pt x="297617" y="935836"/>
                      <a:pt x="297617" y="935836"/>
                    </a:cubicBezTo>
                    <a:cubicBezTo>
                      <a:pt x="296187" y="935122"/>
                      <a:pt x="294756" y="935122"/>
                      <a:pt x="292611" y="935122"/>
                    </a:cubicBezTo>
                    <a:close/>
                    <a:moveTo>
                      <a:pt x="293046" y="903372"/>
                    </a:moveTo>
                    <a:cubicBezTo>
                      <a:pt x="295185" y="903372"/>
                      <a:pt x="297324" y="903372"/>
                      <a:pt x="299463" y="904085"/>
                    </a:cubicBezTo>
                    <a:cubicBezTo>
                      <a:pt x="300889" y="904085"/>
                      <a:pt x="300889" y="904085"/>
                      <a:pt x="300889" y="904085"/>
                    </a:cubicBezTo>
                    <a:cubicBezTo>
                      <a:pt x="524060" y="915497"/>
                      <a:pt x="524060" y="915497"/>
                      <a:pt x="524060" y="915497"/>
                    </a:cubicBezTo>
                    <a:cubicBezTo>
                      <a:pt x="553294" y="916923"/>
                      <a:pt x="576823" y="941173"/>
                      <a:pt x="576823" y="970415"/>
                    </a:cubicBezTo>
                    <a:cubicBezTo>
                      <a:pt x="576823" y="977547"/>
                      <a:pt x="575397" y="984680"/>
                      <a:pt x="572545" y="991099"/>
                    </a:cubicBezTo>
                    <a:cubicBezTo>
                      <a:pt x="565415" y="1010356"/>
                      <a:pt x="547590" y="1023907"/>
                      <a:pt x="526912" y="1026047"/>
                    </a:cubicBezTo>
                    <a:cubicBezTo>
                      <a:pt x="444917" y="1033892"/>
                      <a:pt x="444917" y="1033892"/>
                      <a:pt x="444917" y="1033892"/>
                    </a:cubicBezTo>
                    <a:cubicBezTo>
                      <a:pt x="457751" y="1038885"/>
                      <a:pt x="457751" y="1038885"/>
                      <a:pt x="457751" y="1038885"/>
                    </a:cubicBezTo>
                    <a:cubicBezTo>
                      <a:pt x="469872" y="1043877"/>
                      <a:pt x="482706" y="1047444"/>
                      <a:pt x="495540" y="1049583"/>
                    </a:cubicBezTo>
                    <a:cubicBezTo>
                      <a:pt x="505522" y="1051723"/>
                      <a:pt x="516217" y="1052436"/>
                      <a:pt x="526912" y="1052436"/>
                    </a:cubicBezTo>
                    <a:cubicBezTo>
                      <a:pt x="529051" y="1052436"/>
                      <a:pt x="529051" y="1052436"/>
                      <a:pt x="529051" y="1052436"/>
                    </a:cubicBezTo>
                    <a:cubicBezTo>
                      <a:pt x="546164" y="1052436"/>
                      <a:pt x="563989" y="1050296"/>
                      <a:pt x="580388" y="1045304"/>
                    </a:cubicBezTo>
                    <a:cubicBezTo>
                      <a:pt x="585379" y="1044591"/>
                      <a:pt x="585379" y="1044591"/>
                      <a:pt x="585379" y="1044591"/>
                    </a:cubicBezTo>
                    <a:cubicBezTo>
                      <a:pt x="600352" y="1040311"/>
                      <a:pt x="615325" y="1033892"/>
                      <a:pt x="628872" y="1026760"/>
                    </a:cubicBezTo>
                    <a:cubicBezTo>
                      <a:pt x="636002" y="1022481"/>
                      <a:pt x="643132" y="1018201"/>
                      <a:pt x="649550" y="1013209"/>
                    </a:cubicBezTo>
                    <a:cubicBezTo>
                      <a:pt x="652402" y="1011069"/>
                      <a:pt x="655967" y="1008929"/>
                      <a:pt x="658819" y="1006790"/>
                    </a:cubicBezTo>
                    <a:cubicBezTo>
                      <a:pt x="667375" y="999657"/>
                      <a:pt x="675931" y="991099"/>
                      <a:pt x="683774" y="982540"/>
                    </a:cubicBezTo>
                    <a:cubicBezTo>
                      <a:pt x="718711" y="943313"/>
                      <a:pt x="718711" y="943313"/>
                      <a:pt x="718711" y="943313"/>
                    </a:cubicBezTo>
                    <a:cubicBezTo>
                      <a:pt x="730119" y="930475"/>
                      <a:pt x="745805" y="923342"/>
                      <a:pt x="762918" y="923342"/>
                    </a:cubicBezTo>
                    <a:cubicBezTo>
                      <a:pt x="780030" y="923342"/>
                      <a:pt x="795716" y="930475"/>
                      <a:pt x="807124" y="942599"/>
                    </a:cubicBezTo>
                    <a:cubicBezTo>
                      <a:pt x="827088" y="964709"/>
                      <a:pt x="827088" y="998944"/>
                      <a:pt x="807837" y="1021767"/>
                    </a:cubicBezTo>
                    <a:cubicBezTo>
                      <a:pt x="775039" y="1060995"/>
                      <a:pt x="775039" y="1060995"/>
                      <a:pt x="775039" y="1060995"/>
                    </a:cubicBezTo>
                    <a:cubicBezTo>
                      <a:pt x="730119" y="1113773"/>
                      <a:pt x="671653" y="1152288"/>
                      <a:pt x="606056" y="1172971"/>
                    </a:cubicBezTo>
                    <a:cubicBezTo>
                      <a:pt x="596787" y="1175824"/>
                      <a:pt x="596787" y="1175824"/>
                      <a:pt x="596787" y="1175824"/>
                    </a:cubicBezTo>
                    <a:cubicBezTo>
                      <a:pt x="547590" y="1190802"/>
                      <a:pt x="496253" y="1198647"/>
                      <a:pt x="444917" y="1198647"/>
                    </a:cubicBezTo>
                    <a:cubicBezTo>
                      <a:pt x="432795" y="1198647"/>
                      <a:pt x="420674" y="1198647"/>
                      <a:pt x="408553" y="1197934"/>
                    </a:cubicBezTo>
                    <a:cubicBezTo>
                      <a:pt x="320853" y="1191515"/>
                      <a:pt x="320853" y="1191515"/>
                      <a:pt x="320853" y="1191515"/>
                    </a:cubicBezTo>
                    <a:cubicBezTo>
                      <a:pt x="318001" y="1190802"/>
                      <a:pt x="314436" y="1190802"/>
                      <a:pt x="310871" y="1190802"/>
                    </a:cubicBezTo>
                    <a:cubicBezTo>
                      <a:pt x="293759" y="1190802"/>
                      <a:pt x="276647" y="1194368"/>
                      <a:pt x="260961" y="1200074"/>
                    </a:cubicBezTo>
                    <a:cubicBezTo>
                      <a:pt x="21390" y="1292793"/>
                      <a:pt x="21390" y="1292793"/>
                      <a:pt x="21390" y="1292793"/>
                    </a:cubicBezTo>
                    <a:cubicBezTo>
                      <a:pt x="11408" y="1297072"/>
                      <a:pt x="0" y="1289227"/>
                      <a:pt x="0" y="1278528"/>
                    </a:cubicBezTo>
                    <a:lnTo>
                      <a:pt x="0" y="1059568"/>
                    </a:lnTo>
                    <a:cubicBezTo>
                      <a:pt x="0" y="1053863"/>
                      <a:pt x="3565" y="1048870"/>
                      <a:pt x="8556" y="1046017"/>
                    </a:cubicBezTo>
                    <a:cubicBezTo>
                      <a:pt x="227449" y="921203"/>
                      <a:pt x="227449" y="921203"/>
                      <a:pt x="227449" y="921203"/>
                    </a:cubicBezTo>
                    <a:cubicBezTo>
                      <a:pt x="240284" y="913357"/>
                      <a:pt x="254544" y="908365"/>
                      <a:pt x="269517" y="905512"/>
                    </a:cubicBezTo>
                    <a:cubicBezTo>
                      <a:pt x="274508" y="904799"/>
                      <a:pt x="279499" y="904085"/>
                      <a:pt x="284490" y="904085"/>
                    </a:cubicBezTo>
                    <a:cubicBezTo>
                      <a:pt x="287342" y="904085"/>
                      <a:pt x="290194" y="903372"/>
                      <a:pt x="293046" y="903372"/>
                    </a:cubicBezTo>
                    <a:close/>
                    <a:moveTo>
                      <a:pt x="659587" y="403310"/>
                    </a:moveTo>
                    <a:cubicBezTo>
                      <a:pt x="659587" y="403310"/>
                      <a:pt x="659587" y="403310"/>
                      <a:pt x="535978" y="441853"/>
                    </a:cubicBezTo>
                    <a:cubicBezTo>
                      <a:pt x="535978" y="441853"/>
                      <a:pt x="535978" y="441853"/>
                      <a:pt x="315912" y="677394"/>
                    </a:cubicBezTo>
                    <a:cubicBezTo>
                      <a:pt x="315912" y="677394"/>
                      <a:pt x="315912" y="677394"/>
                      <a:pt x="518116" y="863685"/>
                    </a:cubicBezTo>
                    <a:cubicBezTo>
                      <a:pt x="518116" y="863685"/>
                      <a:pt x="518116" y="863685"/>
                      <a:pt x="737468" y="627431"/>
                    </a:cubicBezTo>
                    <a:cubicBezTo>
                      <a:pt x="737468" y="627431"/>
                      <a:pt x="737468" y="627431"/>
                      <a:pt x="766762" y="501095"/>
                    </a:cubicBezTo>
                    <a:cubicBezTo>
                      <a:pt x="766762" y="501095"/>
                      <a:pt x="766762" y="501095"/>
                      <a:pt x="659587" y="403310"/>
                    </a:cubicBezTo>
                    <a:close/>
                    <a:moveTo>
                      <a:pt x="653979" y="374574"/>
                    </a:moveTo>
                    <a:cubicBezTo>
                      <a:pt x="653979" y="374574"/>
                      <a:pt x="654693" y="374574"/>
                      <a:pt x="655407" y="374574"/>
                    </a:cubicBezTo>
                    <a:cubicBezTo>
                      <a:pt x="663260" y="373147"/>
                      <a:pt x="669685" y="374574"/>
                      <a:pt x="674683" y="379569"/>
                    </a:cubicBezTo>
                    <a:cubicBezTo>
                      <a:pt x="674683" y="379569"/>
                      <a:pt x="674683" y="379569"/>
                      <a:pt x="787484" y="483027"/>
                    </a:cubicBezTo>
                    <a:cubicBezTo>
                      <a:pt x="793195" y="488022"/>
                      <a:pt x="795337" y="495157"/>
                      <a:pt x="793909" y="502292"/>
                    </a:cubicBezTo>
                    <a:cubicBezTo>
                      <a:pt x="793909" y="502292"/>
                      <a:pt x="793909" y="502292"/>
                      <a:pt x="793909" y="503006"/>
                    </a:cubicBezTo>
                    <a:cubicBezTo>
                      <a:pt x="793909" y="503006"/>
                      <a:pt x="793909" y="503006"/>
                      <a:pt x="763210" y="637859"/>
                    </a:cubicBezTo>
                    <a:cubicBezTo>
                      <a:pt x="762496" y="639999"/>
                      <a:pt x="761069" y="642140"/>
                      <a:pt x="759641" y="644280"/>
                    </a:cubicBezTo>
                    <a:cubicBezTo>
                      <a:pt x="759641" y="644280"/>
                      <a:pt x="759641" y="644280"/>
                      <a:pt x="533324" y="888300"/>
                    </a:cubicBezTo>
                    <a:cubicBezTo>
                      <a:pt x="529041" y="892581"/>
                      <a:pt x="524043" y="894722"/>
                      <a:pt x="518332" y="895435"/>
                    </a:cubicBezTo>
                    <a:cubicBezTo>
                      <a:pt x="518332" y="895435"/>
                      <a:pt x="518332" y="895435"/>
                      <a:pt x="517618" y="895435"/>
                    </a:cubicBezTo>
                    <a:cubicBezTo>
                      <a:pt x="511906" y="895435"/>
                      <a:pt x="506909" y="893295"/>
                      <a:pt x="502625" y="889727"/>
                    </a:cubicBezTo>
                    <a:cubicBezTo>
                      <a:pt x="502625" y="889727"/>
                      <a:pt x="502625" y="889727"/>
                      <a:pt x="291302" y="692799"/>
                    </a:cubicBezTo>
                    <a:cubicBezTo>
                      <a:pt x="287018" y="689231"/>
                      <a:pt x="284876" y="683523"/>
                      <a:pt x="284162" y="677815"/>
                    </a:cubicBezTo>
                    <a:cubicBezTo>
                      <a:pt x="284162" y="672107"/>
                      <a:pt x="286304" y="667113"/>
                      <a:pt x="289874" y="663545"/>
                    </a:cubicBezTo>
                    <a:cubicBezTo>
                      <a:pt x="289874" y="663545"/>
                      <a:pt x="289874" y="663545"/>
                      <a:pt x="516190" y="419525"/>
                    </a:cubicBezTo>
                    <a:cubicBezTo>
                      <a:pt x="518332" y="417385"/>
                      <a:pt x="520474" y="415958"/>
                      <a:pt x="522615" y="415244"/>
                    </a:cubicBezTo>
                    <a:cubicBezTo>
                      <a:pt x="522615" y="415244"/>
                      <a:pt x="522615" y="415244"/>
                      <a:pt x="653979" y="374574"/>
                    </a:cubicBezTo>
                    <a:close/>
                    <a:moveTo>
                      <a:pt x="1281112" y="38186"/>
                    </a:moveTo>
                    <a:cubicBezTo>
                      <a:pt x="1281112" y="38186"/>
                      <a:pt x="1281112" y="38186"/>
                      <a:pt x="1063703" y="122462"/>
                    </a:cubicBezTo>
                    <a:cubicBezTo>
                      <a:pt x="1043745" y="129604"/>
                      <a:pt x="1023073" y="133889"/>
                      <a:pt x="1001688" y="133889"/>
                    </a:cubicBezTo>
                    <a:cubicBezTo>
                      <a:pt x="998124" y="133889"/>
                      <a:pt x="993848" y="133889"/>
                      <a:pt x="989571" y="133174"/>
                    </a:cubicBezTo>
                    <a:cubicBezTo>
                      <a:pt x="989571" y="133174"/>
                      <a:pt x="989571" y="133174"/>
                      <a:pt x="902607" y="126747"/>
                    </a:cubicBezTo>
                    <a:cubicBezTo>
                      <a:pt x="891202" y="126033"/>
                      <a:pt x="879797" y="126033"/>
                      <a:pt x="868392" y="126033"/>
                    </a:cubicBezTo>
                    <a:cubicBezTo>
                      <a:pt x="819920" y="126033"/>
                      <a:pt x="772162" y="133174"/>
                      <a:pt x="725829" y="147458"/>
                    </a:cubicBezTo>
                    <a:cubicBezTo>
                      <a:pt x="725829" y="147458"/>
                      <a:pt x="725829" y="147458"/>
                      <a:pt x="716562" y="150315"/>
                    </a:cubicBezTo>
                    <a:cubicBezTo>
                      <a:pt x="656686" y="168884"/>
                      <a:pt x="603225" y="204594"/>
                      <a:pt x="562594" y="253160"/>
                    </a:cubicBezTo>
                    <a:cubicBezTo>
                      <a:pt x="562594" y="253160"/>
                      <a:pt x="562594" y="253160"/>
                      <a:pt x="528379" y="292441"/>
                    </a:cubicBezTo>
                    <a:cubicBezTo>
                      <a:pt x="519112" y="304582"/>
                      <a:pt x="519825" y="321723"/>
                      <a:pt x="531230" y="331722"/>
                    </a:cubicBezTo>
                    <a:cubicBezTo>
                      <a:pt x="536220" y="336721"/>
                      <a:pt x="543348" y="338864"/>
                      <a:pt x="549763" y="338864"/>
                    </a:cubicBezTo>
                    <a:cubicBezTo>
                      <a:pt x="558317" y="338864"/>
                      <a:pt x="565445" y="335293"/>
                      <a:pt x="571148" y="329579"/>
                    </a:cubicBezTo>
                    <a:cubicBezTo>
                      <a:pt x="571148" y="329579"/>
                      <a:pt x="571148" y="329579"/>
                      <a:pt x="576850" y="323151"/>
                    </a:cubicBezTo>
                    <a:cubicBezTo>
                      <a:pt x="576850" y="323151"/>
                      <a:pt x="576850" y="323151"/>
                      <a:pt x="606076" y="289584"/>
                    </a:cubicBezTo>
                    <a:cubicBezTo>
                      <a:pt x="614630" y="279585"/>
                      <a:pt x="624609" y="271015"/>
                      <a:pt x="634588" y="262444"/>
                    </a:cubicBezTo>
                    <a:cubicBezTo>
                      <a:pt x="638152" y="259588"/>
                      <a:pt x="641717" y="257445"/>
                      <a:pt x="644568" y="254588"/>
                    </a:cubicBezTo>
                    <a:cubicBezTo>
                      <a:pt x="652409" y="248875"/>
                      <a:pt x="660963" y="243875"/>
                      <a:pt x="668804" y="239590"/>
                    </a:cubicBezTo>
                    <a:cubicBezTo>
                      <a:pt x="685198" y="231020"/>
                      <a:pt x="701593" y="223878"/>
                      <a:pt x="719413" y="218878"/>
                    </a:cubicBezTo>
                    <a:cubicBezTo>
                      <a:pt x="719413" y="218878"/>
                      <a:pt x="719413" y="218878"/>
                      <a:pt x="724403" y="217450"/>
                    </a:cubicBezTo>
                    <a:cubicBezTo>
                      <a:pt x="743649" y="212450"/>
                      <a:pt x="763608" y="209594"/>
                      <a:pt x="783567" y="209594"/>
                    </a:cubicBezTo>
                    <a:cubicBezTo>
                      <a:pt x="784992" y="209594"/>
                      <a:pt x="785705" y="209594"/>
                      <a:pt x="786418" y="209594"/>
                    </a:cubicBezTo>
                    <a:cubicBezTo>
                      <a:pt x="798536" y="209594"/>
                      <a:pt x="811367" y="211022"/>
                      <a:pt x="823485" y="213165"/>
                    </a:cubicBezTo>
                    <a:cubicBezTo>
                      <a:pt x="837741" y="215307"/>
                      <a:pt x="852710" y="219592"/>
                      <a:pt x="866966" y="225306"/>
                    </a:cubicBezTo>
                    <a:cubicBezTo>
                      <a:pt x="866966" y="225306"/>
                      <a:pt x="866966" y="225306"/>
                      <a:pt x="885500" y="233162"/>
                    </a:cubicBezTo>
                    <a:cubicBezTo>
                      <a:pt x="896192" y="237447"/>
                      <a:pt x="903320" y="247446"/>
                      <a:pt x="904033" y="259588"/>
                    </a:cubicBezTo>
                    <a:cubicBezTo>
                      <a:pt x="904033" y="259588"/>
                      <a:pt x="904033" y="260302"/>
                      <a:pt x="904033" y="261016"/>
                    </a:cubicBezTo>
                    <a:cubicBezTo>
                      <a:pt x="904033" y="262444"/>
                      <a:pt x="904033" y="263873"/>
                      <a:pt x="903320" y="264587"/>
                    </a:cubicBezTo>
                    <a:cubicBezTo>
                      <a:pt x="903320" y="266730"/>
                      <a:pt x="902607" y="268872"/>
                      <a:pt x="901894" y="271015"/>
                    </a:cubicBezTo>
                    <a:cubicBezTo>
                      <a:pt x="901894" y="271729"/>
                      <a:pt x="901894" y="272443"/>
                      <a:pt x="901181" y="273157"/>
                    </a:cubicBezTo>
                    <a:cubicBezTo>
                      <a:pt x="899756" y="276014"/>
                      <a:pt x="898330" y="278157"/>
                      <a:pt x="896192" y="281014"/>
                    </a:cubicBezTo>
                    <a:cubicBezTo>
                      <a:pt x="895479" y="281014"/>
                      <a:pt x="895479" y="281728"/>
                      <a:pt x="894766" y="282442"/>
                    </a:cubicBezTo>
                    <a:cubicBezTo>
                      <a:pt x="889776" y="286727"/>
                      <a:pt x="884074" y="289584"/>
                      <a:pt x="876946" y="290298"/>
                    </a:cubicBezTo>
                    <a:cubicBezTo>
                      <a:pt x="876946" y="290298"/>
                      <a:pt x="876946" y="290298"/>
                      <a:pt x="789269" y="298868"/>
                    </a:cubicBezTo>
                    <a:cubicBezTo>
                      <a:pt x="780003" y="299583"/>
                      <a:pt x="772875" y="306010"/>
                      <a:pt x="769311" y="313867"/>
                    </a:cubicBezTo>
                    <a:cubicBezTo>
                      <a:pt x="768598" y="316723"/>
                      <a:pt x="767885" y="319580"/>
                      <a:pt x="767885" y="323151"/>
                    </a:cubicBezTo>
                    <a:cubicBezTo>
                      <a:pt x="767885" y="336007"/>
                      <a:pt x="777864" y="346006"/>
                      <a:pt x="790695" y="346720"/>
                    </a:cubicBezTo>
                    <a:cubicBezTo>
                      <a:pt x="790695" y="346720"/>
                      <a:pt x="790695" y="346720"/>
                      <a:pt x="981017" y="356719"/>
                    </a:cubicBezTo>
                    <a:cubicBezTo>
                      <a:pt x="981017" y="356719"/>
                      <a:pt x="981017" y="356719"/>
                      <a:pt x="990283" y="357433"/>
                    </a:cubicBezTo>
                    <a:cubicBezTo>
                      <a:pt x="990283" y="357433"/>
                      <a:pt x="990283" y="357433"/>
                      <a:pt x="1002401" y="358147"/>
                    </a:cubicBezTo>
                    <a:cubicBezTo>
                      <a:pt x="1002401" y="358147"/>
                      <a:pt x="1002401" y="358147"/>
                      <a:pt x="1014519" y="358147"/>
                    </a:cubicBezTo>
                    <a:cubicBezTo>
                      <a:pt x="1016658" y="358861"/>
                      <a:pt x="1018083" y="358861"/>
                      <a:pt x="1019509" y="358861"/>
                    </a:cubicBezTo>
                    <a:cubicBezTo>
                      <a:pt x="1021647" y="358861"/>
                      <a:pt x="1024499" y="358861"/>
                      <a:pt x="1026637" y="358147"/>
                    </a:cubicBezTo>
                    <a:cubicBezTo>
                      <a:pt x="1030201" y="358147"/>
                      <a:pt x="1034478" y="357433"/>
                      <a:pt x="1038042" y="356719"/>
                    </a:cubicBezTo>
                    <a:cubicBezTo>
                      <a:pt x="1049447" y="354576"/>
                      <a:pt x="1060139" y="351005"/>
                      <a:pt x="1070119" y="345291"/>
                    </a:cubicBezTo>
                    <a:cubicBezTo>
                      <a:pt x="1070119" y="345291"/>
                      <a:pt x="1070119" y="345291"/>
                      <a:pt x="1281112" y="224592"/>
                    </a:cubicBezTo>
                    <a:cubicBezTo>
                      <a:pt x="1281112" y="224592"/>
                      <a:pt x="1281112" y="224592"/>
                      <a:pt x="1281112" y="38186"/>
                    </a:cubicBezTo>
                    <a:close/>
                    <a:moveTo>
                      <a:pt x="1291431" y="1190"/>
                    </a:moveTo>
                    <a:cubicBezTo>
                      <a:pt x="1302147" y="-3089"/>
                      <a:pt x="1312862" y="4757"/>
                      <a:pt x="1312862" y="15455"/>
                    </a:cubicBezTo>
                    <a:lnTo>
                      <a:pt x="1312862" y="234415"/>
                    </a:lnTo>
                    <a:cubicBezTo>
                      <a:pt x="1312862" y="240121"/>
                      <a:pt x="1310005" y="245113"/>
                      <a:pt x="1305004" y="247966"/>
                    </a:cubicBezTo>
                    <a:cubicBezTo>
                      <a:pt x="1085691" y="372781"/>
                      <a:pt x="1085691" y="372781"/>
                      <a:pt x="1085691" y="372781"/>
                    </a:cubicBezTo>
                    <a:cubicBezTo>
                      <a:pt x="1072832" y="380626"/>
                      <a:pt x="1058545" y="385619"/>
                      <a:pt x="1043543" y="388471"/>
                    </a:cubicBezTo>
                    <a:cubicBezTo>
                      <a:pt x="1038542" y="389185"/>
                      <a:pt x="1033542" y="389898"/>
                      <a:pt x="1028541" y="389898"/>
                    </a:cubicBezTo>
                    <a:cubicBezTo>
                      <a:pt x="1025683" y="389898"/>
                      <a:pt x="1022112" y="390611"/>
                      <a:pt x="1019254" y="390611"/>
                    </a:cubicBezTo>
                    <a:cubicBezTo>
                      <a:pt x="1017111" y="390611"/>
                      <a:pt x="1015682" y="390611"/>
                      <a:pt x="1013539" y="389898"/>
                    </a:cubicBezTo>
                    <a:cubicBezTo>
                      <a:pt x="1012110" y="389898"/>
                      <a:pt x="1012110" y="389898"/>
                      <a:pt x="1012110" y="389898"/>
                    </a:cubicBezTo>
                    <a:cubicBezTo>
                      <a:pt x="787797" y="378486"/>
                      <a:pt x="787797" y="378486"/>
                      <a:pt x="787797" y="378486"/>
                    </a:cubicBezTo>
                    <a:cubicBezTo>
                      <a:pt x="758507" y="377060"/>
                      <a:pt x="735647" y="352810"/>
                      <a:pt x="735647" y="323568"/>
                    </a:cubicBezTo>
                    <a:cubicBezTo>
                      <a:pt x="735647" y="316436"/>
                      <a:pt x="737076" y="309304"/>
                      <a:pt x="739219" y="302885"/>
                    </a:cubicBezTo>
                    <a:cubicBezTo>
                      <a:pt x="747077" y="283627"/>
                      <a:pt x="764937" y="270076"/>
                      <a:pt x="785653" y="267937"/>
                    </a:cubicBezTo>
                    <a:cubicBezTo>
                      <a:pt x="867092" y="260091"/>
                      <a:pt x="867092" y="260091"/>
                      <a:pt x="867092" y="260091"/>
                    </a:cubicBezTo>
                    <a:cubicBezTo>
                      <a:pt x="854233" y="255098"/>
                      <a:pt x="854233" y="255098"/>
                      <a:pt x="854233" y="255098"/>
                    </a:cubicBezTo>
                    <a:cubicBezTo>
                      <a:pt x="842089" y="250106"/>
                      <a:pt x="829945" y="246540"/>
                      <a:pt x="817086" y="244400"/>
                    </a:cubicBezTo>
                    <a:cubicBezTo>
                      <a:pt x="806370" y="242260"/>
                      <a:pt x="795655" y="241547"/>
                      <a:pt x="784939" y="241547"/>
                    </a:cubicBezTo>
                    <a:cubicBezTo>
                      <a:pt x="782796" y="241547"/>
                      <a:pt x="782796" y="241547"/>
                      <a:pt x="782796" y="241547"/>
                    </a:cubicBezTo>
                    <a:cubicBezTo>
                      <a:pt x="765651" y="241547"/>
                      <a:pt x="748506" y="243687"/>
                      <a:pt x="732075" y="248679"/>
                    </a:cubicBezTo>
                    <a:cubicBezTo>
                      <a:pt x="727075" y="249393"/>
                      <a:pt x="727075" y="249393"/>
                      <a:pt x="727075" y="249393"/>
                    </a:cubicBezTo>
                    <a:cubicBezTo>
                      <a:pt x="712073" y="253672"/>
                      <a:pt x="697071" y="260091"/>
                      <a:pt x="683498" y="267223"/>
                    </a:cubicBezTo>
                    <a:cubicBezTo>
                      <a:pt x="675640" y="271503"/>
                      <a:pt x="668496" y="275782"/>
                      <a:pt x="662067" y="280775"/>
                    </a:cubicBezTo>
                    <a:cubicBezTo>
                      <a:pt x="659209" y="282914"/>
                      <a:pt x="656352" y="285054"/>
                      <a:pt x="653494" y="287194"/>
                    </a:cubicBezTo>
                    <a:cubicBezTo>
                      <a:pt x="644207" y="294326"/>
                      <a:pt x="636349" y="302885"/>
                      <a:pt x="628491" y="311443"/>
                    </a:cubicBezTo>
                    <a:cubicBezTo>
                      <a:pt x="593487" y="350671"/>
                      <a:pt x="593487" y="350671"/>
                      <a:pt x="593487" y="350671"/>
                    </a:cubicBezTo>
                    <a:cubicBezTo>
                      <a:pt x="582057" y="363509"/>
                      <a:pt x="565626" y="370641"/>
                      <a:pt x="548481" y="370641"/>
                    </a:cubicBezTo>
                    <a:cubicBezTo>
                      <a:pt x="532050" y="370641"/>
                      <a:pt x="515620" y="363509"/>
                      <a:pt x="504190" y="351384"/>
                    </a:cubicBezTo>
                    <a:cubicBezTo>
                      <a:pt x="484187" y="329274"/>
                      <a:pt x="484902" y="295039"/>
                      <a:pt x="504190" y="272216"/>
                    </a:cubicBezTo>
                    <a:cubicBezTo>
                      <a:pt x="537051" y="232988"/>
                      <a:pt x="537051" y="232988"/>
                      <a:pt x="537051" y="232988"/>
                    </a:cubicBezTo>
                    <a:cubicBezTo>
                      <a:pt x="582057" y="180210"/>
                      <a:pt x="639921" y="141696"/>
                      <a:pt x="706358" y="121012"/>
                    </a:cubicBezTo>
                    <a:cubicBezTo>
                      <a:pt x="715645" y="118159"/>
                      <a:pt x="715645" y="118159"/>
                      <a:pt x="715645" y="118159"/>
                    </a:cubicBezTo>
                    <a:cubicBezTo>
                      <a:pt x="764937" y="103182"/>
                      <a:pt x="815657" y="95336"/>
                      <a:pt x="867807" y="95336"/>
                    </a:cubicBezTo>
                    <a:cubicBezTo>
                      <a:pt x="879951" y="95336"/>
                      <a:pt x="892095" y="95336"/>
                      <a:pt x="904240" y="96049"/>
                    </a:cubicBezTo>
                    <a:cubicBezTo>
                      <a:pt x="991393" y="102468"/>
                      <a:pt x="991393" y="102468"/>
                      <a:pt x="991393" y="102468"/>
                    </a:cubicBezTo>
                    <a:cubicBezTo>
                      <a:pt x="994965" y="103182"/>
                      <a:pt x="998537" y="103182"/>
                      <a:pt x="1001395" y="103182"/>
                    </a:cubicBezTo>
                    <a:cubicBezTo>
                      <a:pt x="1019254" y="103182"/>
                      <a:pt x="1035685" y="99615"/>
                      <a:pt x="1052115" y="93910"/>
                    </a:cubicBezTo>
                    <a:cubicBezTo>
                      <a:pt x="1291431" y="1190"/>
                      <a:pt x="1291431" y="1190"/>
                      <a:pt x="1291431" y="1190"/>
                    </a:cubicBez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59" name="Freeform 11">
                <a:extLst>
                  <a:ext uri="{FF2B5EF4-FFF2-40B4-BE49-F238E27FC236}">
                    <a16:creationId xmlns:a16="http://schemas.microsoft.com/office/drawing/2014/main" id="{3A6FB46C-A3C6-4E9E-8057-5A975F0882CF}"/>
                  </a:ext>
                </a:extLst>
              </p:cNvPr>
              <p:cNvSpPr>
                <a:spLocks noEditPoints="1"/>
              </p:cNvSpPr>
              <p:nvPr/>
            </p:nvSpPr>
            <p:spPr bwMode="auto">
              <a:xfrm>
                <a:off x="5795963" y="3219450"/>
                <a:ext cx="371475" cy="384175"/>
              </a:xfrm>
              <a:custGeom>
                <a:avLst/>
                <a:gdLst>
                  <a:gd name="T0" fmla="*/ 413 w 522"/>
                  <a:gd name="T1" fmla="*/ 80 h 537"/>
                  <a:gd name="T2" fmla="*/ 378 w 522"/>
                  <a:gd name="T3" fmla="*/ 114 h 537"/>
                  <a:gd name="T4" fmla="*/ 413 w 522"/>
                  <a:gd name="T5" fmla="*/ 148 h 537"/>
                  <a:gd name="T6" fmla="*/ 447 w 522"/>
                  <a:gd name="T7" fmla="*/ 114 h 537"/>
                  <a:gd name="T8" fmla="*/ 413 w 522"/>
                  <a:gd name="T9" fmla="*/ 80 h 537"/>
                  <a:gd name="T10" fmla="*/ 409 w 522"/>
                  <a:gd name="T11" fmla="*/ 0 h 537"/>
                  <a:gd name="T12" fmla="*/ 522 w 522"/>
                  <a:gd name="T13" fmla="*/ 102 h 537"/>
                  <a:gd name="T14" fmla="*/ 485 w 522"/>
                  <a:gd name="T15" fmla="*/ 246 h 537"/>
                  <a:gd name="T16" fmla="*/ 221 w 522"/>
                  <a:gd name="T17" fmla="*/ 537 h 537"/>
                  <a:gd name="T18" fmla="*/ 0 w 522"/>
                  <a:gd name="T19" fmla="*/ 335 h 537"/>
                  <a:gd name="T20" fmla="*/ 269 w 522"/>
                  <a:gd name="T21" fmla="*/ 44 h 537"/>
                  <a:gd name="T22" fmla="*/ 409 w 522"/>
                  <a:gd name="T23" fmla="*/ 0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2" h="537">
                    <a:moveTo>
                      <a:pt x="413" y="80"/>
                    </a:moveTo>
                    <a:cubicBezTo>
                      <a:pt x="394" y="80"/>
                      <a:pt x="378" y="95"/>
                      <a:pt x="378" y="114"/>
                    </a:cubicBezTo>
                    <a:cubicBezTo>
                      <a:pt x="378" y="133"/>
                      <a:pt x="394" y="148"/>
                      <a:pt x="413" y="148"/>
                    </a:cubicBezTo>
                    <a:cubicBezTo>
                      <a:pt x="431" y="148"/>
                      <a:pt x="447" y="133"/>
                      <a:pt x="447" y="114"/>
                    </a:cubicBezTo>
                    <a:cubicBezTo>
                      <a:pt x="447" y="95"/>
                      <a:pt x="431" y="80"/>
                      <a:pt x="413" y="80"/>
                    </a:cubicBezTo>
                    <a:close/>
                    <a:moveTo>
                      <a:pt x="409" y="0"/>
                    </a:moveTo>
                    <a:cubicBezTo>
                      <a:pt x="409" y="0"/>
                      <a:pt x="409" y="0"/>
                      <a:pt x="522" y="102"/>
                    </a:cubicBezTo>
                    <a:cubicBezTo>
                      <a:pt x="522" y="102"/>
                      <a:pt x="522" y="102"/>
                      <a:pt x="485" y="246"/>
                    </a:cubicBezTo>
                    <a:cubicBezTo>
                      <a:pt x="485" y="246"/>
                      <a:pt x="485" y="246"/>
                      <a:pt x="221" y="537"/>
                    </a:cubicBezTo>
                    <a:cubicBezTo>
                      <a:pt x="221" y="537"/>
                      <a:pt x="221" y="537"/>
                      <a:pt x="0" y="335"/>
                    </a:cubicBezTo>
                    <a:cubicBezTo>
                      <a:pt x="0" y="335"/>
                      <a:pt x="0" y="335"/>
                      <a:pt x="269" y="44"/>
                    </a:cubicBezTo>
                    <a:cubicBezTo>
                      <a:pt x="269" y="44"/>
                      <a:pt x="269" y="44"/>
                      <a:pt x="409" y="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grpSp>
      <p:cxnSp>
        <p:nvCxnSpPr>
          <p:cNvPr id="9" name="Straight Connector 8"/>
          <p:cNvCxnSpPr/>
          <p:nvPr/>
        </p:nvCxnSpPr>
        <p:spPr>
          <a:xfrm>
            <a:off x="678025" y="2886060"/>
            <a:ext cx="3632881" cy="0"/>
          </a:xfrm>
          <a:prstGeom prst="line">
            <a:avLst/>
          </a:prstGeom>
          <a:noFill/>
          <a:ln w="3175"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cxnSp>
      <p:cxnSp>
        <p:nvCxnSpPr>
          <p:cNvPr id="49" name="Straight Connector 48"/>
          <p:cNvCxnSpPr/>
          <p:nvPr/>
        </p:nvCxnSpPr>
        <p:spPr>
          <a:xfrm>
            <a:off x="4502600" y="2886060"/>
            <a:ext cx="3632881" cy="0"/>
          </a:xfrm>
          <a:prstGeom prst="line">
            <a:avLst/>
          </a:prstGeom>
          <a:noFill/>
          <a:ln w="3175"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cxnSp>
      <p:cxnSp>
        <p:nvCxnSpPr>
          <p:cNvPr id="50" name="Straight Connector 49"/>
          <p:cNvCxnSpPr/>
          <p:nvPr/>
        </p:nvCxnSpPr>
        <p:spPr>
          <a:xfrm>
            <a:off x="8421373" y="2886060"/>
            <a:ext cx="3632881" cy="0"/>
          </a:xfrm>
          <a:prstGeom prst="line">
            <a:avLst/>
          </a:prstGeom>
          <a:noFill/>
          <a:ln w="3175"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cxnSp>
      <p:sp>
        <p:nvSpPr>
          <p:cNvPr id="39" name="Rectangle 38">
            <a:extLst>
              <a:ext uri="{FF2B5EF4-FFF2-40B4-BE49-F238E27FC236}">
                <a16:creationId xmlns:a16="http://schemas.microsoft.com/office/drawing/2014/main" id="{B92B4B51-CEEF-43F2-8460-5077BD667015}"/>
              </a:ext>
            </a:extLst>
          </p:cNvPr>
          <p:cNvSpPr/>
          <p:nvPr/>
        </p:nvSpPr>
        <p:spPr>
          <a:xfrm>
            <a:off x="5081266" y="74428"/>
            <a:ext cx="2030818" cy="244549"/>
          </a:xfrm>
          <a:prstGeom prst="rect">
            <a:avLst/>
          </a:prstGeom>
          <a:noFill/>
          <a:ln w="9525" cap="rnd" cmpd="sng" algn="ctr">
            <a:noFill/>
            <a:prstDash val="sysDot"/>
            <a:round/>
          </a:ln>
          <a:effectLst/>
          <a:extLst>
            <a:ext uri="{909E8E84-426E-40DD-AFC4-6F175D3DCCD1}">
              <a14:hiddenFill xmlns:a14="http://schemas.microsoft.com/office/drawing/2010/main">
                <a:solidFill>
                  <a:schemeClr val="accent6"/>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eaLnBrk="1" fontAlgn="auto" latinLnBrk="0" hangingPunct="1">
              <a:lnSpc>
                <a:spcPct val="90000"/>
              </a:lnSpc>
              <a:spcBef>
                <a:spcPts val="0"/>
              </a:spcBef>
              <a:spcAft>
                <a:spcPts val="1000"/>
              </a:spcAft>
              <a:buClrTx/>
              <a:buSzTx/>
              <a:buFontTx/>
              <a:buNone/>
              <a:tabLst/>
            </a:pPr>
            <a:r>
              <a:rPr kumimoji="0" lang="en-US" sz="1200" b="0" i="0" u="none" strike="noStrike" kern="0" cap="none" spc="0" normalizeH="0" baseline="0" noProof="0">
                <a:ln>
                  <a:noFill/>
                </a:ln>
                <a:solidFill>
                  <a:srgbClr val="85858B"/>
                </a:solidFill>
                <a:effectLst/>
                <a:uLnTx/>
                <a:uFillTx/>
                <a:ea typeface="+mn-ea"/>
                <a:cs typeface="+mn-cs"/>
                <a:sym typeface="+mn-lt"/>
              </a:rPr>
              <a:t>Backup</a:t>
            </a:r>
          </a:p>
        </p:txBody>
      </p:sp>
      <p:sp>
        <p:nvSpPr>
          <p:cNvPr id="38" name="Oval 37">
            <a:extLst>
              <a:ext uri="{FF2B5EF4-FFF2-40B4-BE49-F238E27FC236}">
                <a16:creationId xmlns:a16="http://schemas.microsoft.com/office/drawing/2014/main" id="{4405A01A-E735-4386-A9BB-A57DC61AD86D}"/>
              </a:ext>
            </a:extLst>
          </p:cNvPr>
          <p:cNvSpPr/>
          <p:nvPr/>
        </p:nvSpPr>
        <p:spPr>
          <a:xfrm>
            <a:off x="782400" y="1770693"/>
            <a:ext cx="1015288" cy="1015288"/>
          </a:xfrm>
          <a:prstGeom prst="ellipse">
            <a:avLst/>
          </a:prstGeom>
          <a:blipFill>
            <a:blip r:embed="rId9">
              <a:duotone>
                <a:schemeClr val="accent6">
                  <a:shade val="45000"/>
                  <a:satMod val="135000"/>
                </a:schemeClr>
                <a:prstClr val="white"/>
              </a:duotone>
            </a:blip>
            <a:stretch>
              <a:fillRect l="-109" t="-123276" r="-417" b="-42522"/>
            </a:stretch>
          </a:blipFill>
          <a:ln w="13875" cap="flat" cmpd="sng" algn="ctr">
            <a:solidFill>
              <a:srgbClr val="295E7E"/>
            </a:solidFill>
            <a:prstDash val="solid"/>
            <a:round/>
            <a:headEnd type="none" w="med" len="med"/>
            <a:tailEnd type="none" w="med" len="med"/>
          </a:ln>
          <a:effectLst/>
        </p:spPr>
        <p:txBody>
          <a:bodyPr vert="horz" wrap="square" lIns="99898" tIns="49949" rIns="99898" bIns="49949" numCol="1" anchor="t" anchorCtr="0" compatLnSpc="1">
            <a:prstTxWarp prst="textNoShape">
              <a:avLst/>
            </a:prstTxWarp>
          </a:bodyPr>
          <a:lstStyle/>
          <a:p>
            <a:endParaRPr lang="en-US">
              <a:solidFill>
                <a:srgbClr val="435264"/>
              </a:solidFill>
              <a:latin typeface="Work Sans"/>
              <a:sym typeface="+mn-lt"/>
            </a:endParaRPr>
          </a:p>
        </p:txBody>
      </p:sp>
      <p:sp>
        <p:nvSpPr>
          <p:cNvPr id="40" name="Oval 39">
            <a:extLst>
              <a:ext uri="{FF2B5EF4-FFF2-40B4-BE49-F238E27FC236}">
                <a16:creationId xmlns:a16="http://schemas.microsoft.com/office/drawing/2014/main" id="{7C0F9931-A254-4A48-B98D-2EB1E25324D9}"/>
              </a:ext>
            </a:extLst>
          </p:cNvPr>
          <p:cNvSpPr/>
          <p:nvPr/>
        </p:nvSpPr>
        <p:spPr>
          <a:xfrm>
            <a:off x="8616251" y="1770693"/>
            <a:ext cx="1015288" cy="1015288"/>
          </a:xfrm>
          <a:prstGeom prst="ellipse">
            <a:avLst/>
          </a:prstGeom>
          <a:blipFill>
            <a:blip r:embed="rId9">
              <a:duotone>
                <a:schemeClr val="accent6">
                  <a:shade val="45000"/>
                  <a:satMod val="135000"/>
                </a:schemeClr>
                <a:prstClr val="white"/>
              </a:duotone>
            </a:blip>
            <a:stretch>
              <a:fillRect l="-109" t="-123276" r="-417" b="-42522"/>
            </a:stretch>
          </a:blipFill>
          <a:ln w="13875" cap="flat" cmpd="sng" algn="ctr">
            <a:solidFill>
              <a:srgbClr val="295E7E"/>
            </a:solidFill>
            <a:prstDash val="solid"/>
            <a:round/>
            <a:headEnd type="none" w="med" len="med"/>
            <a:tailEnd type="none" w="med" len="med"/>
          </a:ln>
          <a:effectLst/>
        </p:spPr>
        <p:txBody>
          <a:bodyPr vert="horz" wrap="square" lIns="99898" tIns="49949" rIns="99898" bIns="49949" numCol="1" anchor="t" anchorCtr="0" compatLnSpc="1">
            <a:prstTxWarp prst="textNoShape">
              <a:avLst/>
            </a:prstTxWarp>
          </a:bodyPr>
          <a:lstStyle/>
          <a:p>
            <a:endParaRPr lang="en-US">
              <a:solidFill>
                <a:srgbClr val="435264"/>
              </a:solidFill>
              <a:latin typeface="Work Sans"/>
              <a:sym typeface="+mn-lt"/>
            </a:endParaRPr>
          </a:p>
        </p:txBody>
      </p:sp>
      <p:grpSp>
        <p:nvGrpSpPr>
          <p:cNvPr id="51" name="bcgIcons_Target">
            <a:extLst>
              <a:ext uri="{FF2B5EF4-FFF2-40B4-BE49-F238E27FC236}">
                <a16:creationId xmlns:a16="http://schemas.microsoft.com/office/drawing/2014/main" id="{224B0F6C-59D4-403F-B698-0EB18AF72381}"/>
              </a:ext>
            </a:extLst>
          </p:cNvPr>
          <p:cNvGrpSpPr>
            <a:grpSpLocks noChangeAspect="1"/>
          </p:cNvGrpSpPr>
          <p:nvPr/>
        </p:nvGrpSpPr>
        <p:grpSpPr bwMode="auto">
          <a:xfrm>
            <a:off x="943587" y="1931559"/>
            <a:ext cx="692914" cy="693556"/>
            <a:chOff x="1682" y="0"/>
            <a:chExt cx="4316" cy="4320"/>
          </a:xfrm>
        </p:grpSpPr>
        <p:sp>
          <p:nvSpPr>
            <p:cNvPr id="52" name="AutoShape 23">
              <a:extLst>
                <a:ext uri="{FF2B5EF4-FFF2-40B4-BE49-F238E27FC236}">
                  <a16:creationId xmlns:a16="http://schemas.microsoft.com/office/drawing/2014/main" id="{DFFE1727-08D9-4791-99C0-3E583DDDD572}"/>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25">
              <a:extLst>
                <a:ext uri="{FF2B5EF4-FFF2-40B4-BE49-F238E27FC236}">
                  <a16:creationId xmlns:a16="http://schemas.microsoft.com/office/drawing/2014/main" id="{339B1980-1051-4FB0-BA6C-62AF2C423295}"/>
                </a:ext>
              </a:extLst>
            </p:cNvPr>
            <p:cNvSpPr>
              <a:spLocks noEditPoints="1"/>
            </p:cNvSpPr>
            <p:nvPr/>
          </p:nvSpPr>
          <p:spPr bwMode="auto">
            <a:xfrm>
              <a:off x="3782" y="838"/>
              <a:ext cx="1832" cy="1367"/>
            </a:xfrm>
            <a:custGeom>
              <a:avLst/>
              <a:gdLst>
                <a:gd name="T0" fmla="*/ 25 w 978"/>
                <a:gd name="T1" fmla="*/ 729 h 729"/>
                <a:gd name="T2" fmla="*/ 7 w 978"/>
                <a:gd name="T3" fmla="*/ 719 h 729"/>
                <a:gd name="T4" fmla="*/ 13 w 978"/>
                <a:gd name="T5" fmla="*/ 689 h 729"/>
                <a:gd name="T6" fmla="*/ 888 w 978"/>
                <a:gd name="T7" fmla="*/ 86 h 729"/>
                <a:gd name="T8" fmla="*/ 919 w 978"/>
                <a:gd name="T9" fmla="*/ 91 h 729"/>
                <a:gd name="T10" fmla="*/ 913 w 978"/>
                <a:gd name="T11" fmla="*/ 122 h 729"/>
                <a:gd name="T12" fmla="*/ 38 w 978"/>
                <a:gd name="T13" fmla="*/ 725 h 729"/>
                <a:gd name="T14" fmla="*/ 25 w 978"/>
                <a:gd name="T15" fmla="*/ 729 h 729"/>
                <a:gd name="T16" fmla="*/ 578 w 978"/>
                <a:gd name="T17" fmla="*/ 254 h 729"/>
                <a:gd name="T18" fmla="*/ 586 w 978"/>
                <a:gd name="T19" fmla="*/ 258 h 729"/>
                <a:gd name="T20" fmla="*/ 825 w 978"/>
                <a:gd name="T21" fmla="*/ 93 h 729"/>
                <a:gd name="T22" fmla="*/ 826 w 978"/>
                <a:gd name="T23" fmla="*/ 91 h 729"/>
                <a:gd name="T24" fmla="*/ 849 w 978"/>
                <a:gd name="T25" fmla="*/ 8 h 729"/>
                <a:gd name="T26" fmla="*/ 841 w 978"/>
                <a:gd name="T27" fmla="*/ 3 h 729"/>
                <a:gd name="T28" fmla="*/ 602 w 978"/>
                <a:gd name="T29" fmla="*/ 166 h 729"/>
                <a:gd name="T30" fmla="*/ 599 w 978"/>
                <a:gd name="T31" fmla="*/ 171 h 729"/>
                <a:gd name="T32" fmla="*/ 578 w 978"/>
                <a:gd name="T33" fmla="*/ 254 h 729"/>
                <a:gd name="T34" fmla="*/ 646 w 978"/>
                <a:gd name="T35" fmla="*/ 352 h 729"/>
                <a:gd name="T36" fmla="*/ 730 w 978"/>
                <a:gd name="T37" fmla="*/ 362 h 729"/>
                <a:gd name="T38" fmla="*/ 736 w 978"/>
                <a:gd name="T39" fmla="*/ 361 h 729"/>
                <a:gd name="T40" fmla="*/ 974 w 978"/>
                <a:gd name="T41" fmla="*/ 196 h 729"/>
                <a:gd name="T42" fmla="*/ 972 w 978"/>
                <a:gd name="T43" fmla="*/ 187 h 729"/>
                <a:gd name="T44" fmla="*/ 886 w 978"/>
                <a:gd name="T45" fmla="*/ 179 h 729"/>
                <a:gd name="T46" fmla="*/ 884 w 978"/>
                <a:gd name="T47" fmla="*/ 179 h 729"/>
                <a:gd name="T48" fmla="*/ 644 w 978"/>
                <a:gd name="T49" fmla="*/ 343 h 729"/>
                <a:gd name="T50" fmla="*/ 646 w 978"/>
                <a:gd name="T51" fmla="*/ 352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78" h="729">
                  <a:moveTo>
                    <a:pt x="25" y="729"/>
                  </a:moveTo>
                  <a:cubicBezTo>
                    <a:pt x="18" y="729"/>
                    <a:pt x="11" y="726"/>
                    <a:pt x="7" y="719"/>
                  </a:cubicBezTo>
                  <a:cubicBezTo>
                    <a:pt x="0" y="709"/>
                    <a:pt x="3" y="696"/>
                    <a:pt x="13" y="689"/>
                  </a:cubicBezTo>
                  <a:cubicBezTo>
                    <a:pt x="888" y="86"/>
                    <a:pt x="888" y="86"/>
                    <a:pt x="888" y="86"/>
                  </a:cubicBezTo>
                  <a:cubicBezTo>
                    <a:pt x="898" y="79"/>
                    <a:pt x="912" y="81"/>
                    <a:pt x="919" y="91"/>
                  </a:cubicBezTo>
                  <a:cubicBezTo>
                    <a:pt x="926" y="101"/>
                    <a:pt x="923" y="115"/>
                    <a:pt x="913" y="122"/>
                  </a:cubicBezTo>
                  <a:cubicBezTo>
                    <a:pt x="38" y="725"/>
                    <a:pt x="38" y="725"/>
                    <a:pt x="38" y="725"/>
                  </a:cubicBezTo>
                  <a:cubicBezTo>
                    <a:pt x="34" y="728"/>
                    <a:pt x="30" y="729"/>
                    <a:pt x="25" y="729"/>
                  </a:cubicBezTo>
                  <a:close/>
                  <a:moveTo>
                    <a:pt x="578" y="254"/>
                  </a:moveTo>
                  <a:cubicBezTo>
                    <a:pt x="577" y="258"/>
                    <a:pt x="582" y="259"/>
                    <a:pt x="586" y="258"/>
                  </a:cubicBezTo>
                  <a:cubicBezTo>
                    <a:pt x="586" y="258"/>
                    <a:pt x="586" y="258"/>
                    <a:pt x="825" y="93"/>
                  </a:cubicBezTo>
                  <a:cubicBezTo>
                    <a:pt x="826" y="93"/>
                    <a:pt x="826" y="93"/>
                    <a:pt x="826" y="91"/>
                  </a:cubicBezTo>
                  <a:cubicBezTo>
                    <a:pt x="826" y="91"/>
                    <a:pt x="826" y="91"/>
                    <a:pt x="849" y="8"/>
                  </a:cubicBezTo>
                  <a:cubicBezTo>
                    <a:pt x="850" y="3"/>
                    <a:pt x="845" y="0"/>
                    <a:pt x="841" y="3"/>
                  </a:cubicBezTo>
                  <a:cubicBezTo>
                    <a:pt x="841" y="3"/>
                    <a:pt x="841" y="3"/>
                    <a:pt x="602" y="166"/>
                  </a:cubicBezTo>
                  <a:cubicBezTo>
                    <a:pt x="601" y="168"/>
                    <a:pt x="601" y="168"/>
                    <a:pt x="599" y="171"/>
                  </a:cubicBezTo>
                  <a:cubicBezTo>
                    <a:pt x="599" y="171"/>
                    <a:pt x="599" y="171"/>
                    <a:pt x="578" y="254"/>
                  </a:cubicBezTo>
                  <a:close/>
                  <a:moveTo>
                    <a:pt x="646" y="352"/>
                  </a:moveTo>
                  <a:cubicBezTo>
                    <a:pt x="730" y="362"/>
                    <a:pt x="730" y="362"/>
                    <a:pt x="730" y="362"/>
                  </a:cubicBezTo>
                  <a:cubicBezTo>
                    <a:pt x="734" y="361"/>
                    <a:pt x="734" y="361"/>
                    <a:pt x="736" y="361"/>
                  </a:cubicBezTo>
                  <a:cubicBezTo>
                    <a:pt x="974" y="196"/>
                    <a:pt x="974" y="196"/>
                    <a:pt x="974" y="196"/>
                  </a:cubicBezTo>
                  <a:cubicBezTo>
                    <a:pt x="978" y="194"/>
                    <a:pt x="978" y="187"/>
                    <a:pt x="972" y="187"/>
                  </a:cubicBezTo>
                  <a:cubicBezTo>
                    <a:pt x="886" y="179"/>
                    <a:pt x="886" y="179"/>
                    <a:pt x="886" y="179"/>
                  </a:cubicBezTo>
                  <a:cubicBezTo>
                    <a:pt x="884" y="177"/>
                    <a:pt x="884" y="177"/>
                    <a:pt x="884" y="179"/>
                  </a:cubicBezTo>
                  <a:cubicBezTo>
                    <a:pt x="644" y="343"/>
                    <a:pt x="644" y="343"/>
                    <a:pt x="644" y="343"/>
                  </a:cubicBezTo>
                  <a:cubicBezTo>
                    <a:pt x="642" y="347"/>
                    <a:pt x="642" y="351"/>
                    <a:pt x="646" y="35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26">
              <a:extLst>
                <a:ext uri="{FF2B5EF4-FFF2-40B4-BE49-F238E27FC236}">
                  <a16:creationId xmlns:a16="http://schemas.microsoft.com/office/drawing/2014/main" id="{49805807-E383-430F-9B77-0912C0900F8E}"/>
                </a:ext>
              </a:extLst>
            </p:cNvPr>
            <p:cNvSpPr>
              <a:spLocks noEditPoints="1"/>
            </p:cNvSpPr>
            <p:nvPr/>
          </p:nvSpPr>
          <p:spPr bwMode="auto">
            <a:xfrm>
              <a:off x="2422" y="756"/>
              <a:ext cx="2814" cy="2816"/>
            </a:xfrm>
            <a:custGeom>
              <a:avLst/>
              <a:gdLst>
                <a:gd name="T0" fmla="*/ 1016 w 1502"/>
                <a:gd name="T1" fmla="*/ 662 h 1502"/>
                <a:gd name="T2" fmla="*/ 1030 w 1502"/>
                <a:gd name="T3" fmla="*/ 751 h 1502"/>
                <a:gd name="T4" fmla="*/ 751 w 1502"/>
                <a:gd name="T5" fmla="*/ 1030 h 1502"/>
                <a:gd name="T6" fmla="*/ 472 w 1502"/>
                <a:gd name="T7" fmla="*/ 751 h 1502"/>
                <a:gd name="T8" fmla="*/ 751 w 1502"/>
                <a:gd name="T9" fmla="*/ 472 h 1502"/>
                <a:gd name="T10" fmla="*/ 929 w 1502"/>
                <a:gd name="T11" fmla="*/ 536 h 1502"/>
                <a:gd name="T12" fmla="*/ 819 w 1502"/>
                <a:gd name="T13" fmla="*/ 611 h 1502"/>
                <a:gd name="T14" fmla="*/ 751 w 1502"/>
                <a:gd name="T15" fmla="*/ 596 h 1502"/>
                <a:gd name="T16" fmla="*/ 596 w 1502"/>
                <a:gd name="T17" fmla="*/ 751 h 1502"/>
                <a:gd name="T18" fmla="*/ 751 w 1502"/>
                <a:gd name="T19" fmla="*/ 906 h 1502"/>
                <a:gd name="T20" fmla="*/ 906 w 1502"/>
                <a:gd name="T21" fmla="*/ 751 h 1502"/>
                <a:gd name="T22" fmla="*/ 906 w 1502"/>
                <a:gd name="T23" fmla="*/ 738 h 1502"/>
                <a:gd name="T24" fmla="*/ 1016 w 1502"/>
                <a:gd name="T25" fmla="*/ 662 h 1502"/>
                <a:gd name="T26" fmla="*/ 1107 w 1502"/>
                <a:gd name="T27" fmla="*/ 599 h 1502"/>
                <a:gd name="T28" fmla="*/ 1138 w 1502"/>
                <a:gd name="T29" fmla="*/ 751 h 1502"/>
                <a:gd name="T30" fmla="*/ 751 w 1502"/>
                <a:gd name="T31" fmla="*/ 1138 h 1502"/>
                <a:gd name="T32" fmla="*/ 364 w 1502"/>
                <a:gd name="T33" fmla="*/ 751 h 1502"/>
                <a:gd name="T34" fmla="*/ 751 w 1502"/>
                <a:gd name="T35" fmla="*/ 364 h 1502"/>
                <a:gd name="T36" fmla="*/ 1020 w 1502"/>
                <a:gd name="T37" fmla="*/ 473 h 1502"/>
                <a:gd name="T38" fmla="*/ 1124 w 1502"/>
                <a:gd name="T39" fmla="*/ 401 h 1502"/>
                <a:gd name="T40" fmla="*/ 751 w 1502"/>
                <a:gd name="T41" fmla="*/ 240 h 1502"/>
                <a:gd name="T42" fmla="*/ 240 w 1502"/>
                <a:gd name="T43" fmla="*/ 751 h 1502"/>
                <a:gd name="T44" fmla="*/ 751 w 1502"/>
                <a:gd name="T45" fmla="*/ 1262 h 1502"/>
                <a:gd name="T46" fmla="*/ 1262 w 1502"/>
                <a:gd name="T47" fmla="*/ 751 h 1502"/>
                <a:gd name="T48" fmla="*/ 1211 w 1502"/>
                <a:gd name="T49" fmla="*/ 528 h 1502"/>
                <a:gd name="T50" fmla="*/ 1107 w 1502"/>
                <a:gd name="T51" fmla="*/ 599 h 1502"/>
                <a:gd name="T52" fmla="*/ 1333 w 1502"/>
                <a:gd name="T53" fmla="*/ 443 h 1502"/>
                <a:gd name="T54" fmla="*/ 1307 w 1502"/>
                <a:gd name="T55" fmla="*/ 461 h 1502"/>
                <a:gd name="T56" fmla="*/ 1378 w 1502"/>
                <a:gd name="T57" fmla="*/ 751 h 1502"/>
                <a:gd name="T58" fmla="*/ 751 w 1502"/>
                <a:gd name="T59" fmla="*/ 1378 h 1502"/>
                <a:gd name="T60" fmla="*/ 124 w 1502"/>
                <a:gd name="T61" fmla="*/ 751 h 1502"/>
                <a:gd name="T62" fmla="*/ 751 w 1502"/>
                <a:gd name="T63" fmla="*/ 124 h 1502"/>
                <a:gd name="T64" fmla="*/ 1220 w 1502"/>
                <a:gd name="T65" fmla="*/ 335 h 1502"/>
                <a:gd name="T66" fmla="*/ 1246 w 1502"/>
                <a:gd name="T67" fmla="*/ 317 h 1502"/>
                <a:gd name="T68" fmla="*/ 1273 w 1502"/>
                <a:gd name="T69" fmla="*/ 211 h 1502"/>
                <a:gd name="T70" fmla="*/ 751 w 1502"/>
                <a:gd name="T71" fmla="*/ 0 h 1502"/>
                <a:gd name="T72" fmla="*/ 0 w 1502"/>
                <a:gd name="T73" fmla="*/ 751 h 1502"/>
                <a:gd name="T74" fmla="*/ 751 w 1502"/>
                <a:gd name="T75" fmla="*/ 1502 h 1502"/>
                <a:gd name="T76" fmla="*/ 1502 w 1502"/>
                <a:gd name="T77" fmla="*/ 751 h 1502"/>
                <a:gd name="T78" fmla="*/ 1442 w 1502"/>
                <a:gd name="T79" fmla="*/ 456 h 1502"/>
                <a:gd name="T80" fmla="*/ 1333 w 1502"/>
                <a:gd name="T81" fmla="*/ 443 h 1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02" h="1502">
                  <a:moveTo>
                    <a:pt x="1016" y="662"/>
                  </a:moveTo>
                  <a:cubicBezTo>
                    <a:pt x="1025" y="690"/>
                    <a:pt x="1030" y="720"/>
                    <a:pt x="1030" y="751"/>
                  </a:cubicBezTo>
                  <a:cubicBezTo>
                    <a:pt x="1030" y="905"/>
                    <a:pt x="905" y="1030"/>
                    <a:pt x="751" y="1030"/>
                  </a:cubicBezTo>
                  <a:cubicBezTo>
                    <a:pt x="597" y="1030"/>
                    <a:pt x="472" y="905"/>
                    <a:pt x="472" y="751"/>
                  </a:cubicBezTo>
                  <a:cubicBezTo>
                    <a:pt x="472" y="597"/>
                    <a:pt x="597" y="472"/>
                    <a:pt x="751" y="472"/>
                  </a:cubicBezTo>
                  <a:cubicBezTo>
                    <a:pt x="818" y="472"/>
                    <a:pt x="880" y="496"/>
                    <a:pt x="929" y="536"/>
                  </a:cubicBezTo>
                  <a:cubicBezTo>
                    <a:pt x="819" y="611"/>
                    <a:pt x="819" y="611"/>
                    <a:pt x="819" y="611"/>
                  </a:cubicBezTo>
                  <a:cubicBezTo>
                    <a:pt x="798" y="601"/>
                    <a:pt x="775" y="596"/>
                    <a:pt x="751" y="596"/>
                  </a:cubicBezTo>
                  <a:cubicBezTo>
                    <a:pt x="665" y="596"/>
                    <a:pt x="596" y="665"/>
                    <a:pt x="596" y="751"/>
                  </a:cubicBezTo>
                  <a:cubicBezTo>
                    <a:pt x="596" y="836"/>
                    <a:pt x="665" y="906"/>
                    <a:pt x="751" y="906"/>
                  </a:cubicBezTo>
                  <a:cubicBezTo>
                    <a:pt x="837" y="906"/>
                    <a:pt x="906" y="836"/>
                    <a:pt x="906" y="751"/>
                  </a:cubicBezTo>
                  <a:cubicBezTo>
                    <a:pt x="906" y="746"/>
                    <a:pt x="906" y="742"/>
                    <a:pt x="906" y="738"/>
                  </a:cubicBezTo>
                  <a:lnTo>
                    <a:pt x="1016" y="662"/>
                  </a:lnTo>
                  <a:close/>
                  <a:moveTo>
                    <a:pt x="1107" y="599"/>
                  </a:moveTo>
                  <a:cubicBezTo>
                    <a:pt x="1127" y="646"/>
                    <a:pt x="1138" y="697"/>
                    <a:pt x="1138" y="751"/>
                  </a:cubicBezTo>
                  <a:cubicBezTo>
                    <a:pt x="1138" y="964"/>
                    <a:pt x="964" y="1138"/>
                    <a:pt x="751" y="1138"/>
                  </a:cubicBezTo>
                  <a:cubicBezTo>
                    <a:pt x="537" y="1138"/>
                    <a:pt x="364" y="964"/>
                    <a:pt x="364" y="751"/>
                  </a:cubicBezTo>
                  <a:cubicBezTo>
                    <a:pt x="364" y="537"/>
                    <a:pt x="537" y="364"/>
                    <a:pt x="751" y="364"/>
                  </a:cubicBezTo>
                  <a:cubicBezTo>
                    <a:pt x="855" y="364"/>
                    <a:pt x="950" y="405"/>
                    <a:pt x="1020" y="473"/>
                  </a:cubicBezTo>
                  <a:cubicBezTo>
                    <a:pt x="1124" y="401"/>
                    <a:pt x="1124" y="401"/>
                    <a:pt x="1124" y="401"/>
                  </a:cubicBezTo>
                  <a:cubicBezTo>
                    <a:pt x="1030" y="302"/>
                    <a:pt x="898" y="240"/>
                    <a:pt x="751" y="240"/>
                  </a:cubicBezTo>
                  <a:cubicBezTo>
                    <a:pt x="469" y="240"/>
                    <a:pt x="240" y="469"/>
                    <a:pt x="240" y="751"/>
                  </a:cubicBezTo>
                  <a:cubicBezTo>
                    <a:pt x="240" y="1033"/>
                    <a:pt x="469" y="1262"/>
                    <a:pt x="751" y="1262"/>
                  </a:cubicBezTo>
                  <a:cubicBezTo>
                    <a:pt x="1033" y="1262"/>
                    <a:pt x="1262" y="1033"/>
                    <a:pt x="1262" y="751"/>
                  </a:cubicBezTo>
                  <a:cubicBezTo>
                    <a:pt x="1262" y="671"/>
                    <a:pt x="1244" y="595"/>
                    <a:pt x="1211" y="528"/>
                  </a:cubicBezTo>
                  <a:lnTo>
                    <a:pt x="1107" y="599"/>
                  </a:lnTo>
                  <a:close/>
                  <a:moveTo>
                    <a:pt x="1333" y="443"/>
                  </a:moveTo>
                  <a:cubicBezTo>
                    <a:pt x="1307" y="461"/>
                    <a:pt x="1307" y="461"/>
                    <a:pt x="1307" y="461"/>
                  </a:cubicBezTo>
                  <a:cubicBezTo>
                    <a:pt x="1352" y="548"/>
                    <a:pt x="1378" y="646"/>
                    <a:pt x="1378" y="751"/>
                  </a:cubicBezTo>
                  <a:cubicBezTo>
                    <a:pt x="1378" y="1097"/>
                    <a:pt x="1097" y="1378"/>
                    <a:pt x="751" y="1378"/>
                  </a:cubicBezTo>
                  <a:cubicBezTo>
                    <a:pt x="405" y="1378"/>
                    <a:pt x="124" y="1097"/>
                    <a:pt x="124" y="751"/>
                  </a:cubicBezTo>
                  <a:cubicBezTo>
                    <a:pt x="124" y="405"/>
                    <a:pt x="405" y="124"/>
                    <a:pt x="751" y="124"/>
                  </a:cubicBezTo>
                  <a:cubicBezTo>
                    <a:pt x="937" y="124"/>
                    <a:pt x="1105" y="205"/>
                    <a:pt x="1220" y="335"/>
                  </a:cubicBezTo>
                  <a:cubicBezTo>
                    <a:pt x="1246" y="317"/>
                    <a:pt x="1246" y="317"/>
                    <a:pt x="1246" y="317"/>
                  </a:cubicBezTo>
                  <a:cubicBezTo>
                    <a:pt x="1273" y="211"/>
                    <a:pt x="1273" y="211"/>
                    <a:pt x="1273" y="211"/>
                  </a:cubicBezTo>
                  <a:cubicBezTo>
                    <a:pt x="1138" y="80"/>
                    <a:pt x="954" y="0"/>
                    <a:pt x="751" y="0"/>
                  </a:cubicBezTo>
                  <a:cubicBezTo>
                    <a:pt x="337" y="0"/>
                    <a:pt x="0" y="337"/>
                    <a:pt x="0" y="751"/>
                  </a:cubicBezTo>
                  <a:cubicBezTo>
                    <a:pt x="0" y="1165"/>
                    <a:pt x="337" y="1502"/>
                    <a:pt x="751" y="1502"/>
                  </a:cubicBezTo>
                  <a:cubicBezTo>
                    <a:pt x="1165" y="1502"/>
                    <a:pt x="1502" y="1165"/>
                    <a:pt x="1502" y="751"/>
                  </a:cubicBezTo>
                  <a:cubicBezTo>
                    <a:pt x="1502" y="646"/>
                    <a:pt x="1480" y="547"/>
                    <a:pt x="1442" y="456"/>
                  </a:cubicBezTo>
                  <a:lnTo>
                    <a:pt x="1333" y="44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61" name="Oval 60">
            <a:extLst>
              <a:ext uri="{FF2B5EF4-FFF2-40B4-BE49-F238E27FC236}">
                <a16:creationId xmlns:a16="http://schemas.microsoft.com/office/drawing/2014/main" id="{5D618071-C159-4E16-8A32-5708231DCDCA}"/>
              </a:ext>
            </a:extLst>
          </p:cNvPr>
          <p:cNvSpPr/>
          <p:nvPr/>
        </p:nvSpPr>
        <p:spPr>
          <a:xfrm>
            <a:off x="4694652" y="1770693"/>
            <a:ext cx="1015288" cy="1015288"/>
          </a:xfrm>
          <a:prstGeom prst="ellipse">
            <a:avLst/>
          </a:prstGeom>
          <a:blipFill>
            <a:blip r:embed="rId9">
              <a:duotone>
                <a:schemeClr val="accent6">
                  <a:shade val="45000"/>
                  <a:satMod val="135000"/>
                </a:schemeClr>
                <a:prstClr val="white"/>
              </a:duotone>
            </a:blip>
            <a:stretch>
              <a:fillRect l="-109" t="-123276" r="-417" b="-42522"/>
            </a:stretch>
          </a:blipFill>
          <a:ln w="13875" cap="flat" cmpd="sng" algn="ctr">
            <a:solidFill>
              <a:srgbClr val="295E7E"/>
            </a:solidFill>
            <a:prstDash val="solid"/>
            <a:round/>
            <a:headEnd type="none" w="med" len="med"/>
            <a:tailEnd type="none" w="med" len="med"/>
          </a:ln>
          <a:effectLst/>
        </p:spPr>
        <p:txBody>
          <a:bodyPr vert="horz" wrap="square" lIns="99898" tIns="49949" rIns="99898" bIns="49949" numCol="1" anchor="t" anchorCtr="0" compatLnSpc="1">
            <a:prstTxWarp prst="textNoShape">
              <a:avLst/>
            </a:prstTxWarp>
          </a:bodyPr>
          <a:lstStyle/>
          <a:p>
            <a:endParaRPr lang="en-US">
              <a:solidFill>
                <a:srgbClr val="435264"/>
              </a:solidFill>
              <a:latin typeface="Work Sans"/>
              <a:sym typeface="+mn-lt"/>
            </a:endParaRPr>
          </a:p>
        </p:txBody>
      </p:sp>
      <p:grpSp>
        <p:nvGrpSpPr>
          <p:cNvPr id="62" name="bcgIcons_Digital">
            <a:extLst>
              <a:ext uri="{FF2B5EF4-FFF2-40B4-BE49-F238E27FC236}">
                <a16:creationId xmlns:a16="http://schemas.microsoft.com/office/drawing/2014/main" id="{74C2B509-044A-412F-85A3-94A32DED5A99}"/>
              </a:ext>
            </a:extLst>
          </p:cNvPr>
          <p:cNvGrpSpPr>
            <a:grpSpLocks noChangeAspect="1"/>
          </p:cNvGrpSpPr>
          <p:nvPr/>
        </p:nvGrpSpPr>
        <p:grpSpPr bwMode="auto">
          <a:xfrm>
            <a:off x="4855839" y="1931559"/>
            <a:ext cx="692914" cy="693556"/>
            <a:chOff x="1682" y="0"/>
            <a:chExt cx="4316" cy="4320"/>
          </a:xfrm>
        </p:grpSpPr>
        <p:sp>
          <p:nvSpPr>
            <p:cNvPr id="64" name="AutoShape 8">
              <a:extLst>
                <a:ext uri="{FF2B5EF4-FFF2-40B4-BE49-F238E27FC236}">
                  <a16:creationId xmlns:a16="http://schemas.microsoft.com/office/drawing/2014/main" id="{11EC50EF-C8FF-4234-B0D7-632BDF292831}"/>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10">
              <a:extLst>
                <a:ext uri="{FF2B5EF4-FFF2-40B4-BE49-F238E27FC236}">
                  <a16:creationId xmlns:a16="http://schemas.microsoft.com/office/drawing/2014/main" id="{8CB012C8-3F74-4C46-96C9-F06C707430CD}"/>
                </a:ext>
              </a:extLst>
            </p:cNvPr>
            <p:cNvSpPr>
              <a:spLocks noEditPoints="1"/>
            </p:cNvSpPr>
            <p:nvPr/>
          </p:nvSpPr>
          <p:spPr bwMode="auto">
            <a:xfrm>
              <a:off x="2727" y="919"/>
              <a:ext cx="2797" cy="2512"/>
            </a:xfrm>
            <a:custGeom>
              <a:avLst/>
              <a:gdLst>
                <a:gd name="T0" fmla="*/ 263 w 1493"/>
                <a:gd name="T1" fmla="*/ 1282 h 1340"/>
                <a:gd name="T2" fmla="*/ 379 w 1493"/>
                <a:gd name="T3" fmla="*/ 1282 h 1340"/>
                <a:gd name="T4" fmla="*/ 469 w 1493"/>
                <a:gd name="T5" fmla="*/ 22 h 1340"/>
                <a:gd name="T6" fmla="*/ 195 w 1493"/>
                <a:gd name="T7" fmla="*/ 0 h 1340"/>
                <a:gd name="T8" fmla="*/ 195 w 1493"/>
                <a:gd name="T9" fmla="*/ 44 h 1340"/>
                <a:gd name="T10" fmla="*/ 469 w 1493"/>
                <a:gd name="T11" fmla="*/ 22 h 1340"/>
                <a:gd name="T12" fmla="*/ 390 w 1493"/>
                <a:gd name="T13" fmla="*/ 564 h 1340"/>
                <a:gd name="T14" fmla="*/ 368 w 1493"/>
                <a:gd name="T15" fmla="*/ 701 h 1340"/>
                <a:gd name="T16" fmla="*/ 504 w 1493"/>
                <a:gd name="T17" fmla="*/ 723 h 1340"/>
                <a:gd name="T18" fmla="*/ 526 w 1493"/>
                <a:gd name="T19" fmla="*/ 586 h 1340"/>
                <a:gd name="T20" fmla="*/ 758 w 1493"/>
                <a:gd name="T21" fmla="*/ 347 h 1340"/>
                <a:gd name="T22" fmla="*/ 578 w 1493"/>
                <a:gd name="T23" fmla="*/ 369 h 1340"/>
                <a:gd name="T24" fmla="*/ 600 w 1493"/>
                <a:gd name="T25" fmla="*/ 549 h 1340"/>
                <a:gd name="T26" fmla="*/ 780 w 1493"/>
                <a:gd name="T27" fmla="*/ 527 h 1340"/>
                <a:gd name="T28" fmla="*/ 758 w 1493"/>
                <a:gd name="T29" fmla="*/ 347 h 1340"/>
                <a:gd name="T30" fmla="*/ 570 w 1493"/>
                <a:gd name="T31" fmla="*/ 586 h 1340"/>
                <a:gd name="T32" fmla="*/ 570 w 1493"/>
                <a:gd name="T33" fmla="*/ 701 h 1340"/>
                <a:gd name="T34" fmla="*/ 390 w 1493"/>
                <a:gd name="T35" fmla="*/ 767 h 1340"/>
                <a:gd name="T36" fmla="*/ 324 w 1493"/>
                <a:gd name="T37" fmla="*/ 586 h 1340"/>
                <a:gd name="T38" fmla="*/ 504 w 1493"/>
                <a:gd name="T39" fmla="*/ 520 h 1340"/>
                <a:gd name="T40" fmla="*/ 534 w 1493"/>
                <a:gd name="T41" fmla="*/ 527 h 1340"/>
                <a:gd name="T42" fmla="*/ 600 w 1493"/>
                <a:gd name="T43" fmla="*/ 303 h 1340"/>
                <a:gd name="T44" fmla="*/ 638 w 1493"/>
                <a:gd name="T45" fmla="*/ 115 h 1340"/>
                <a:gd name="T46" fmla="*/ 10 w 1493"/>
                <a:gd name="T47" fmla="*/ 105 h 1340"/>
                <a:gd name="T48" fmla="*/ 0 w 1493"/>
                <a:gd name="T49" fmla="*/ 1092 h 1340"/>
                <a:gd name="T50" fmla="*/ 628 w 1493"/>
                <a:gd name="T51" fmla="*/ 1102 h 1340"/>
                <a:gd name="T52" fmla="*/ 638 w 1493"/>
                <a:gd name="T53" fmla="*/ 593 h 1340"/>
                <a:gd name="T54" fmla="*/ 1095 w 1493"/>
                <a:gd name="T55" fmla="*/ 105 h 1340"/>
                <a:gd name="T56" fmla="*/ 874 w 1493"/>
                <a:gd name="T57" fmla="*/ 127 h 1340"/>
                <a:gd name="T58" fmla="*/ 896 w 1493"/>
                <a:gd name="T59" fmla="*/ 348 h 1340"/>
                <a:gd name="T60" fmla="*/ 1117 w 1493"/>
                <a:gd name="T61" fmla="*/ 326 h 1340"/>
                <a:gd name="T62" fmla="*/ 1095 w 1493"/>
                <a:gd name="T63" fmla="*/ 105 h 1340"/>
                <a:gd name="T64" fmla="*/ 1493 w 1493"/>
                <a:gd name="T65" fmla="*/ 222 h 1340"/>
                <a:gd name="T66" fmla="*/ 1197 w 1493"/>
                <a:gd name="T67" fmla="*/ 200 h 1340"/>
                <a:gd name="T68" fmla="*/ 1175 w 1493"/>
                <a:gd name="T69" fmla="*/ 496 h 1340"/>
                <a:gd name="T70" fmla="*/ 1471 w 1493"/>
                <a:gd name="T71" fmla="*/ 518 h 1340"/>
                <a:gd name="T72" fmla="*/ 1117 w 1493"/>
                <a:gd name="T73" fmla="*/ 667 h 1340"/>
                <a:gd name="T74" fmla="*/ 1095 w 1493"/>
                <a:gd name="T75" fmla="*/ 409 h 1340"/>
                <a:gd name="T76" fmla="*/ 838 w 1493"/>
                <a:gd name="T77" fmla="*/ 431 h 1340"/>
                <a:gd name="T78" fmla="*/ 860 w 1493"/>
                <a:gd name="T79" fmla="*/ 689 h 1340"/>
                <a:gd name="T80" fmla="*/ 1117 w 1493"/>
                <a:gd name="T81" fmla="*/ 667 h 1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93" h="1340">
                  <a:moveTo>
                    <a:pt x="321" y="1340"/>
                  </a:moveTo>
                  <a:cubicBezTo>
                    <a:pt x="289" y="1340"/>
                    <a:pt x="263" y="1314"/>
                    <a:pt x="263" y="1282"/>
                  </a:cubicBezTo>
                  <a:cubicBezTo>
                    <a:pt x="263" y="1250"/>
                    <a:pt x="289" y="1224"/>
                    <a:pt x="321" y="1224"/>
                  </a:cubicBezTo>
                  <a:cubicBezTo>
                    <a:pt x="353" y="1224"/>
                    <a:pt x="379" y="1250"/>
                    <a:pt x="379" y="1282"/>
                  </a:cubicBezTo>
                  <a:cubicBezTo>
                    <a:pt x="379" y="1314"/>
                    <a:pt x="353" y="1340"/>
                    <a:pt x="321" y="1340"/>
                  </a:cubicBezTo>
                  <a:close/>
                  <a:moveTo>
                    <a:pt x="469" y="22"/>
                  </a:moveTo>
                  <a:cubicBezTo>
                    <a:pt x="469" y="10"/>
                    <a:pt x="459" y="0"/>
                    <a:pt x="447" y="0"/>
                  </a:cubicBezTo>
                  <a:cubicBezTo>
                    <a:pt x="195" y="0"/>
                    <a:pt x="195" y="0"/>
                    <a:pt x="195" y="0"/>
                  </a:cubicBezTo>
                  <a:cubicBezTo>
                    <a:pt x="183" y="0"/>
                    <a:pt x="173" y="10"/>
                    <a:pt x="173" y="22"/>
                  </a:cubicBezTo>
                  <a:cubicBezTo>
                    <a:pt x="173" y="34"/>
                    <a:pt x="183" y="44"/>
                    <a:pt x="195" y="44"/>
                  </a:cubicBezTo>
                  <a:cubicBezTo>
                    <a:pt x="447" y="44"/>
                    <a:pt x="447" y="44"/>
                    <a:pt x="447" y="44"/>
                  </a:cubicBezTo>
                  <a:cubicBezTo>
                    <a:pt x="459" y="44"/>
                    <a:pt x="469" y="34"/>
                    <a:pt x="469" y="22"/>
                  </a:cubicBezTo>
                  <a:close/>
                  <a:moveTo>
                    <a:pt x="504" y="564"/>
                  </a:moveTo>
                  <a:cubicBezTo>
                    <a:pt x="390" y="564"/>
                    <a:pt x="390" y="564"/>
                    <a:pt x="390" y="564"/>
                  </a:cubicBezTo>
                  <a:cubicBezTo>
                    <a:pt x="377" y="564"/>
                    <a:pt x="368" y="574"/>
                    <a:pt x="368" y="586"/>
                  </a:cubicBezTo>
                  <a:cubicBezTo>
                    <a:pt x="368" y="701"/>
                    <a:pt x="368" y="701"/>
                    <a:pt x="368" y="701"/>
                  </a:cubicBezTo>
                  <a:cubicBezTo>
                    <a:pt x="368" y="713"/>
                    <a:pt x="377" y="723"/>
                    <a:pt x="390" y="723"/>
                  </a:cubicBezTo>
                  <a:cubicBezTo>
                    <a:pt x="504" y="723"/>
                    <a:pt x="504" y="723"/>
                    <a:pt x="504" y="723"/>
                  </a:cubicBezTo>
                  <a:cubicBezTo>
                    <a:pt x="516" y="723"/>
                    <a:pt x="526" y="713"/>
                    <a:pt x="526" y="701"/>
                  </a:cubicBezTo>
                  <a:cubicBezTo>
                    <a:pt x="526" y="586"/>
                    <a:pt x="526" y="586"/>
                    <a:pt x="526" y="586"/>
                  </a:cubicBezTo>
                  <a:cubicBezTo>
                    <a:pt x="526" y="574"/>
                    <a:pt x="516" y="564"/>
                    <a:pt x="504" y="564"/>
                  </a:cubicBezTo>
                  <a:moveTo>
                    <a:pt x="758" y="347"/>
                  </a:moveTo>
                  <a:cubicBezTo>
                    <a:pt x="600" y="347"/>
                    <a:pt x="600" y="347"/>
                    <a:pt x="600" y="347"/>
                  </a:cubicBezTo>
                  <a:cubicBezTo>
                    <a:pt x="588" y="347"/>
                    <a:pt x="578" y="357"/>
                    <a:pt x="578" y="369"/>
                  </a:cubicBezTo>
                  <a:cubicBezTo>
                    <a:pt x="578" y="527"/>
                    <a:pt x="578" y="527"/>
                    <a:pt x="578" y="527"/>
                  </a:cubicBezTo>
                  <a:cubicBezTo>
                    <a:pt x="578" y="539"/>
                    <a:pt x="588" y="549"/>
                    <a:pt x="600" y="549"/>
                  </a:cubicBezTo>
                  <a:cubicBezTo>
                    <a:pt x="758" y="549"/>
                    <a:pt x="758" y="549"/>
                    <a:pt x="758" y="549"/>
                  </a:cubicBezTo>
                  <a:cubicBezTo>
                    <a:pt x="770" y="549"/>
                    <a:pt x="780" y="539"/>
                    <a:pt x="780" y="527"/>
                  </a:cubicBezTo>
                  <a:cubicBezTo>
                    <a:pt x="780" y="369"/>
                    <a:pt x="780" y="369"/>
                    <a:pt x="780" y="369"/>
                  </a:cubicBezTo>
                  <a:cubicBezTo>
                    <a:pt x="780" y="357"/>
                    <a:pt x="770" y="347"/>
                    <a:pt x="758" y="347"/>
                  </a:cubicBezTo>
                  <a:moveTo>
                    <a:pt x="600" y="593"/>
                  </a:moveTo>
                  <a:cubicBezTo>
                    <a:pt x="589" y="593"/>
                    <a:pt x="579" y="590"/>
                    <a:pt x="570" y="586"/>
                  </a:cubicBezTo>
                  <a:cubicBezTo>
                    <a:pt x="570" y="586"/>
                    <a:pt x="570" y="586"/>
                    <a:pt x="570" y="586"/>
                  </a:cubicBezTo>
                  <a:cubicBezTo>
                    <a:pt x="570" y="701"/>
                    <a:pt x="570" y="701"/>
                    <a:pt x="570" y="701"/>
                  </a:cubicBezTo>
                  <a:cubicBezTo>
                    <a:pt x="570" y="737"/>
                    <a:pt x="541" y="767"/>
                    <a:pt x="504" y="767"/>
                  </a:cubicBezTo>
                  <a:cubicBezTo>
                    <a:pt x="390" y="767"/>
                    <a:pt x="390" y="767"/>
                    <a:pt x="390" y="767"/>
                  </a:cubicBezTo>
                  <a:cubicBezTo>
                    <a:pt x="353" y="767"/>
                    <a:pt x="324" y="737"/>
                    <a:pt x="324" y="701"/>
                  </a:cubicBezTo>
                  <a:cubicBezTo>
                    <a:pt x="324" y="586"/>
                    <a:pt x="324" y="586"/>
                    <a:pt x="324" y="586"/>
                  </a:cubicBezTo>
                  <a:cubicBezTo>
                    <a:pt x="324" y="550"/>
                    <a:pt x="353" y="520"/>
                    <a:pt x="390" y="520"/>
                  </a:cubicBezTo>
                  <a:cubicBezTo>
                    <a:pt x="504" y="520"/>
                    <a:pt x="504" y="520"/>
                    <a:pt x="504" y="520"/>
                  </a:cubicBezTo>
                  <a:cubicBezTo>
                    <a:pt x="515" y="520"/>
                    <a:pt x="525" y="523"/>
                    <a:pt x="534" y="528"/>
                  </a:cubicBezTo>
                  <a:cubicBezTo>
                    <a:pt x="534" y="527"/>
                    <a:pt x="534" y="527"/>
                    <a:pt x="534" y="527"/>
                  </a:cubicBezTo>
                  <a:cubicBezTo>
                    <a:pt x="534" y="369"/>
                    <a:pt x="534" y="369"/>
                    <a:pt x="534" y="369"/>
                  </a:cubicBezTo>
                  <a:cubicBezTo>
                    <a:pt x="534" y="333"/>
                    <a:pt x="564" y="303"/>
                    <a:pt x="600" y="303"/>
                  </a:cubicBezTo>
                  <a:cubicBezTo>
                    <a:pt x="638" y="303"/>
                    <a:pt x="638" y="303"/>
                    <a:pt x="638" y="303"/>
                  </a:cubicBezTo>
                  <a:cubicBezTo>
                    <a:pt x="638" y="115"/>
                    <a:pt x="638" y="115"/>
                    <a:pt x="638" y="115"/>
                  </a:cubicBezTo>
                  <a:cubicBezTo>
                    <a:pt x="638" y="110"/>
                    <a:pt x="634" y="105"/>
                    <a:pt x="628" y="105"/>
                  </a:cubicBezTo>
                  <a:cubicBezTo>
                    <a:pt x="10" y="105"/>
                    <a:pt x="10" y="105"/>
                    <a:pt x="10" y="105"/>
                  </a:cubicBezTo>
                  <a:cubicBezTo>
                    <a:pt x="4" y="105"/>
                    <a:pt x="0" y="110"/>
                    <a:pt x="0" y="115"/>
                  </a:cubicBezTo>
                  <a:cubicBezTo>
                    <a:pt x="0" y="1092"/>
                    <a:pt x="0" y="1092"/>
                    <a:pt x="0" y="1092"/>
                  </a:cubicBezTo>
                  <a:cubicBezTo>
                    <a:pt x="0" y="1098"/>
                    <a:pt x="4" y="1102"/>
                    <a:pt x="10" y="1102"/>
                  </a:cubicBezTo>
                  <a:cubicBezTo>
                    <a:pt x="628" y="1102"/>
                    <a:pt x="628" y="1102"/>
                    <a:pt x="628" y="1102"/>
                  </a:cubicBezTo>
                  <a:cubicBezTo>
                    <a:pt x="634" y="1102"/>
                    <a:pt x="638" y="1098"/>
                    <a:pt x="638" y="1092"/>
                  </a:cubicBezTo>
                  <a:cubicBezTo>
                    <a:pt x="638" y="593"/>
                    <a:pt x="638" y="593"/>
                    <a:pt x="638" y="593"/>
                  </a:cubicBezTo>
                  <a:lnTo>
                    <a:pt x="600" y="593"/>
                  </a:lnTo>
                  <a:close/>
                  <a:moveTo>
                    <a:pt x="1095" y="105"/>
                  </a:moveTo>
                  <a:cubicBezTo>
                    <a:pt x="896" y="105"/>
                    <a:pt x="896" y="105"/>
                    <a:pt x="896" y="105"/>
                  </a:cubicBezTo>
                  <a:cubicBezTo>
                    <a:pt x="884" y="105"/>
                    <a:pt x="874" y="115"/>
                    <a:pt x="874" y="127"/>
                  </a:cubicBezTo>
                  <a:cubicBezTo>
                    <a:pt x="874" y="326"/>
                    <a:pt x="874" y="326"/>
                    <a:pt x="874" y="326"/>
                  </a:cubicBezTo>
                  <a:cubicBezTo>
                    <a:pt x="874" y="338"/>
                    <a:pt x="884" y="348"/>
                    <a:pt x="896" y="348"/>
                  </a:cubicBezTo>
                  <a:cubicBezTo>
                    <a:pt x="1095" y="348"/>
                    <a:pt x="1095" y="348"/>
                    <a:pt x="1095" y="348"/>
                  </a:cubicBezTo>
                  <a:cubicBezTo>
                    <a:pt x="1107" y="348"/>
                    <a:pt x="1117" y="338"/>
                    <a:pt x="1117" y="326"/>
                  </a:cubicBezTo>
                  <a:cubicBezTo>
                    <a:pt x="1117" y="127"/>
                    <a:pt x="1117" y="127"/>
                    <a:pt x="1117" y="127"/>
                  </a:cubicBezTo>
                  <a:cubicBezTo>
                    <a:pt x="1117" y="115"/>
                    <a:pt x="1107" y="105"/>
                    <a:pt x="1095" y="105"/>
                  </a:cubicBezTo>
                  <a:moveTo>
                    <a:pt x="1493" y="496"/>
                  </a:moveTo>
                  <a:cubicBezTo>
                    <a:pt x="1493" y="222"/>
                    <a:pt x="1493" y="222"/>
                    <a:pt x="1493" y="222"/>
                  </a:cubicBezTo>
                  <a:cubicBezTo>
                    <a:pt x="1493" y="210"/>
                    <a:pt x="1483" y="200"/>
                    <a:pt x="1471" y="200"/>
                  </a:cubicBezTo>
                  <a:cubicBezTo>
                    <a:pt x="1197" y="200"/>
                    <a:pt x="1197" y="200"/>
                    <a:pt x="1197" y="200"/>
                  </a:cubicBezTo>
                  <a:cubicBezTo>
                    <a:pt x="1185" y="200"/>
                    <a:pt x="1175" y="210"/>
                    <a:pt x="1175" y="222"/>
                  </a:cubicBezTo>
                  <a:cubicBezTo>
                    <a:pt x="1175" y="496"/>
                    <a:pt x="1175" y="496"/>
                    <a:pt x="1175" y="496"/>
                  </a:cubicBezTo>
                  <a:cubicBezTo>
                    <a:pt x="1175" y="508"/>
                    <a:pt x="1185" y="518"/>
                    <a:pt x="1197" y="518"/>
                  </a:cubicBezTo>
                  <a:cubicBezTo>
                    <a:pt x="1471" y="518"/>
                    <a:pt x="1471" y="518"/>
                    <a:pt x="1471" y="518"/>
                  </a:cubicBezTo>
                  <a:cubicBezTo>
                    <a:pt x="1483" y="518"/>
                    <a:pt x="1493" y="508"/>
                    <a:pt x="1493" y="496"/>
                  </a:cubicBezTo>
                  <a:close/>
                  <a:moveTo>
                    <a:pt x="1117" y="667"/>
                  </a:moveTo>
                  <a:cubicBezTo>
                    <a:pt x="1117" y="431"/>
                    <a:pt x="1117" y="431"/>
                    <a:pt x="1117" y="431"/>
                  </a:cubicBezTo>
                  <a:cubicBezTo>
                    <a:pt x="1117" y="419"/>
                    <a:pt x="1107" y="409"/>
                    <a:pt x="1095" y="409"/>
                  </a:cubicBezTo>
                  <a:cubicBezTo>
                    <a:pt x="860" y="409"/>
                    <a:pt x="860" y="409"/>
                    <a:pt x="860" y="409"/>
                  </a:cubicBezTo>
                  <a:cubicBezTo>
                    <a:pt x="848" y="409"/>
                    <a:pt x="838" y="419"/>
                    <a:pt x="838" y="431"/>
                  </a:cubicBezTo>
                  <a:cubicBezTo>
                    <a:pt x="838" y="667"/>
                    <a:pt x="838" y="667"/>
                    <a:pt x="838" y="667"/>
                  </a:cubicBezTo>
                  <a:cubicBezTo>
                    <a:pt x="838" y="679"/>
                    <a:pt x="848" y="689"/>
                    <a:pt x="860" y="689"/>
                  </a:cubicBezTo>
                  <a:cubicBezTo>
                    <a:pt x="1095" y="689"/>
                    <a:pt x="1095" y="689"/>
                    <a:pt x="1095" y="689"/>
                  </a:cubicBezTo>
                  <a:cubicBezTo>
                    <a:pt x="1107" y="689"/>
                    <a:pt x="1117" y="679"/>
                    <a:pt x="1117" y="66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11">
              <a:extLst>
                <a:ext uri="{FF2B5EF4-FFF2-40B4-BE49-F238E27FC236}">
                  <a16:creationId xmlns:a16="http://schemas.microsoft.com/office/drawing/2014/main" id="{A72716F6-B268-4721-8EE7-12CA4D82670F}"/>
                </a:ext>
              </a:extLst>
            </p:cNvPr>
            <p:cNvSpPr>
              <a:spLocks noEditPoints="1"/>
            </p:cNvSpPr>
            <p:nvPr/>
          </p:nvSpPr>
          <p:spPr bwMode="auto">
            <a:xfrm>
              <a:off x="2574" y="728"/>
              <a:ext cx="1509" cy="2865"/>
            </a:xfrm>
            <a:custGeom>
              <a:avLst/>
              <a:gdLst>
                <a:gd name="T0" fmla="*/ 762 w 806"/>
                <a:gd name="T1" fmla="*/ 695 h 1528"/>
                <a:gd name="T2" fmla="*/ 762 w 806"/>
                <a:gd name="T3" fmla="*/ 1252 h 1528"/>
                <a:gd name="T4" fmla="*/ 44 w 806"/>
                <a:gd name="T5" fmla="*/ 1252 h 1528"/>
                <a:gd name="T6" fmla="*/ 44 w 806"/>
                <a:gd name="T7" fmla="*/ 44 h 1528"/>
                <a:gd name="T8" fmla="*/ 762 w 806"/>
                <a:gd name="T9" fmla="*/ 44 h 1528"/>
                <a:gd name="T10" fmla="*/ 762 w 806"/>
                <a:gd name="T11" fmla="*/ 405 h 1528"/>
                <a:gd name="T12" fmla="*/ 806 w 806"/>
                <a:gd name="T13" fmla="*/ 405 h 1528"/>
                <a:gd name="T14" fmla="*/ 806 w 806"/>
                <a:gd name="T15" fmla="*/ 22 h 1528"/>
                <a:gd name="T16" fmla="*/ 784 w 806"/>
                <a:gd name="T17" fmla="*/ 0 h 1528"/>
                <a:gd name="T18" fmla="*/ 22 w 806"/>
                <a:gd name="T19" fmla="*/ 0 h 1528"/>
                <a:gd name="T20" fmla="*/ 0 w 806"/>
                <a:gd name="T21" fmla="*/ 22 h 1528"/>
                <a:gd name="T22" fmla="*/ 0 w 806"/>
                <a:gd name="T23" fmla="*/ 1252 h 1528"/>
                <a:gd name="T24" fmla="*/ 0 w 806"/>
                <a:gd name="T25" fmla="*/ 1296 h 1528"/>
                <a:gd name="T26" fmla="*/ 0 w 806"/>
                <a:gd name="T27" fmla="*/ 1506 h 1528"/>
                <a:gd name="T28" fmla="*/ 22 w 806"/>
                <a:gd name="T29" fmla="*/ 1528 h 1528"/>
                <a:gd name="T30" fmla="*/ 784 w 806"/>
                <a:gd name="T31" fmla="*/ 1528 h 1528"/>
                <a:gd name="T32" fmla="*/ 806 w 806"/>
                <a:gd name="T33" fmla="*/ 1506 h 1528"/>
                <a:gd name="T34" fmla="*/ 806 w 806"/>
                <a:gd name="T35" fmla="*/ 1296 h 1528"/>
                <a:gd name="T36" fmla="*/ 806 w 806"/>
                <a:gd name="T37" fmla="*/ 1252 h 1528"/>
                <a:gd name="T38" fmla="*/ 806 w 806"/>
                <a:gd name="T39" fmla="*/ 695 h 1528"/>
                <a:gd name="T40" fmla="*/ 762 w 806"/>
                <a:gd name="T41" fmla="*/ 695 h 1528"/>
                <a:gd name="T42" fmla="*/ 762 w 806"/>
                <a:gd name="T43" fmla="*/ 1484 h 1528"/>
                <a:gd name="T44" fmla="*/ 44 w 806"/>
                <a:gd name="T45" fmla="*/ 1484 h 1528"/>
                <a:gd name="T46" fmla="*/ 44 w 806"/>
                <a:gd name="T47" fmla="*/ 1296 h 1528"/>
                <a:gd name="T48" fmla="*/ 762 w 806"/>
                <a:gd name="T49" fmla="*/ 1296 h 1528"/>
                <a:gd name="T50" fmla="*/ 762 w 806"/>
                <a:gd name="T51" fmla="*/ 1484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06" h="1528">
                  <a:moveTo>
                    <a:pt x="762" y="695"/>
                  </a:moveTo>
                  <a:cubicBezTo>
                    <a:pt x="762" y="1252"/>
                    <a:pt x="762" y="1252"/>
                    <a:pt x="762" y="1252"/>
                  </a:cubicBezTo>
                  <a:cubicBezTo>
                    <a:pt x="44" y="1252"/>
                    <a:pt x="44" y="1252"/>
                    <a:pt x="44" y="1252"/>
                  </a:cubicBezTo>
                  <a:cubicBezTo>
                    <a:pt x="44" y="44"/>
                    <a:pt x="44" y="44"/>
                    <a:pt x="44" y="44"/>
                  </a:cubicBezTo>
                  <a:cubicBezTo>
                    <a:pt x="762" y="44"/>
                    <a:pt x="762" y="44"/>
                    <a:pt x="762" y="44"/>
                  </a:cubicBezTo>
                  <a:cubicBezTo>
                    <a:pt x="762" y="405"/>
                    <a:pt x="762" y="405"/>
                    <a:pt x="762" y="405"/>
                  </a:cubicBezTo>
                  <a:cubicBezTo>
                    <a:pt x="806" y="405"/>
                    <a:pt x="806" y="405"/>
                    <a:pt x="806" y="405"/>
                  </a:cubicBezTo>
                  <a:cubicBezTo>
                    <a:pt x="806" y="22"/>
                    <a:pt x="806" y="22"/>
                    <a:pt x="806" y="22"/>
                  </a:cubicBezTo>
                  <a:cubicBezTo>
                    <a:pt x="806" y="10"/>
                    <a:pt x="796" y="0"/>
                    <a:pt x="784" y="0"/>
                  </a:cubicBezTo>
                  <a:cubicBezTo>
                    <a:pt x="22" y="0"/>
                    <a:pt x="22" y="0"/>
                    <a:pt x="22" y="0"/>
                  </a:cubicBezTo>
                  <a:cubicBezTo>
                    <a:pt x="10" y="0"/>
                    <a:pt x="0" y="10"/>
                    <a:pt x="0" y="22"/>
                  </a:cubicBezTo>
                  <a:cubicBezTo>
                    <a:pt x="0" y="1252"/>
                    <a:pt x="0" y="1252"/>
                    <a:pt x="0" y="1252"/>
                  </a:cubicBezTo>
                  <a:cubicBezTo>
                    <a:pt x="0" y="1296"/>
                    <a:pt x="0" y="1296"/>
                    <a:pt x="0" y="1296"/>
                  </a:cubicBezTo>
                  <a:cubicBezTo>
                    <a:pt x="0" y="1506"/>
                    <a:pt x="0" y="1506"/>
                    <a:pt x="0" y="1506"/>
                  </a:cubicBezTo>
                  <a:cubicBezTo>
                    <a:pt x="0" y="1518"/>
                    <a:pt x="10" y="1528"/>
                    <a:pt x="22" y="1528"/>
                  </a:cubicBezTo>
                  <a:cubicBezTo>
                    <a:pt x="784" y="1528"/>
                    <a:pt x="784" y="1528"/>
                    <a:pt x="784" y="1528"/>
                  </a:cubicBezTo>
                  <a:cubicBezTo>
                    <a:pt x="796" y="1528"/>
                    <a:pt x="806" y="1518"/>
                    <a:pt x="806" y="1506"/>
                  </a:cubicBezTo>
                  <a:cubicBezTo>
                    <a:pt x="806" y="1296"/>
                    <a:pt x="806" y="1296"/>
                    <a:pt x="806" y="1296"/>
                  </a:cubicBezTo>
                  <a:cubicBezTo>
                    <a:pt x="806" y="1252"/>
                    <a:pt x="806" y="1252"/>
                    <a:pt x="806" y="1252"/>
                  </a:cubicBezTo>
                  <a:cubicBezTo>
                    <a:pt x="806" y="695"/>
                    <a:pt x="806" y="695"/>
                    <a:pt x="806" y="695"/>
                  </a:cubicBezTo>
                  <a:lnTo>
                    <a:pt x="762" y="695"/>
                  </a:lnTo>
                  <a:close/>
                  <a:moveTo>
                    <a:pt x="762" y="1484"/>
                  </a:moveTo>
                  <a:cubicBezTo>
                    <a:pt x="44" y="1484"/>
                    <a:pt x="44" y="1484"/>
                    <a:pt x="44" y="1484"/>
                  </a:cubicBezTo>
                  <a:cubicBezTo>
                    <a:pt x="44" y="1296"/>
                    <a:pt x="44" y="1296"/>
                    <a:pt x="44" y="1296"/>
                  </a:cubicBezTo>
                  <a:cubicBezTo>
                    <a:pt x="762" y="1296"/>
                    <a:pt x="762" y="1296"/>
                    <a:pt x="762" y="1296"/>
                  </a:cubicBezTo>
                  <a:lnTo>
                    <a:pt x="762" y="148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7" name="Group 66">
            <a:extLst>
              <a:ext uri="{FF2B5EF4-FFF2-40B4-BE49-F238E27FC236}">
                <a16:creationId xmlns:a16="http://schemas.microsoft.com/office/drawing/2014/main" id="{019B8AA8-A19D-4F03-9799-7589EFBE68E9}"/>
              </a:ext>
            </a:extLst>
          </p:cNvPr>
          <p:cNvGrpSpPr>
            <a:grpSpLocks noChangeAspect="1"/>
          </p:cNvGrpSpPr>
          <p:nvPr/>
        </p:nvGrpSpPr>
        <p:grpSpPr>
          <a:xfrm>
            <a:off x="8777117" y="1931559"/>
            <a:ext cx="693556" cy="693556"/>
            <a:chOff x="5273675" y="2606675"/>
            <a:chExt cx="1644650" cy="1644650"/>
          </a:xfrm>
        </p:grpSpPr>
        <p:sp>
          <p:nvSpPr>
            <p:cNvPr id="68" name="AutoShape 3">
              <a:extLst>
                <a:ext uri="{FF2B5EF4-FFF2-40B4-BE49-F238E27FC236}">
                  <a16:creationId xmlns:a16="http://schemas.microsoft.com/office/drawing/2014/main" id="{0D5E2188-F85C-4D7D-AD2A-702EC96CDEDE}"/>
                </a:ext>
              </a:extLst>
            </p:cNvPr>
            <p:cNvSpPr>
              <a:spLocks noChangeAspect="1" noChangeArrowheads="1" noTextEdit="1"/>
            </p:cNvSpPr>
            <p:nvPr/>
          </p:nvSpPr>
          <p:spPr bwMode="auto">
            <a:xfrm>
              <a:off x="5273675" y="2606675"/>
              <a:ext cx="1644650"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69" name="Group 68">
              <a:extLst>
                <a:ext uri="{FF2B5EF4-FFF2-40B4-BE49-F238E27FC236}">
                  <a16:creationId xmlns:a16="http://schemas.microsoft.com/office/drawing/2014/main" id="{5CAB12EF-F27A-4358-97D8-65DBF31C83D7}"/>
                </a:ext>
              </a:extLst>
            </p:cNvPr>
            <p:cNvGrpSpPr/>
            <p:nvPr/>
          </p:nvGrpSpPr>
          <p:grpSpPr>
            <a:xfrm>
              <a:off x="5435601" y="2782802"/>
              <a:ext cx="1312862" cy="1293982"/>
              <a:chOff x="5435601" y="2782802"/>
              <a:chExt cx="1312862" cy="1293982"/>
            </a:xfrm>
          </p:grpSpPr>
          <p:sp>
            <p:nvSpPr>
              <p:cNvPr id="70" name="Freeform 21">
                <a:extLst>
                  <a:ext uri="{FF2B5EF4-FFF2-40B4-BE49-F238E27FC236}">
                    <a16:creationId xmlns:a16="http://schemas.microsoft.com/office/drawing/2014/main" id="{899788CD-D0D0-440C-AF7E-8D5CC9203CBE}"/>
                  </a:ext>
                </a:extLst>
              </p:cNvPr>
              <p:cNvSpPr>
                <a:spLocks/>
              </p:cNvSpPr>
              <p:nvPr/>
            </p:nvSpPr>
            <p:spPr bwMode="auto">
              <a:xfrm>
                <a:off x="5435601" y="2782802"/>
                <a:ext cx="1312862" cy="1293982"/>
              </a:xfrm>
              <a:custGeom>
                <a:avLst/>
                <a:gdLst>
                  <a:gd name="connsiteX0" fmla="*/ 292611 w 1312862"/>
                  <a:gd name="connsiteY0" fmla="*/ 935122 h 1293982"/>
                  <a:gd name="connsiteX1" fmla="*/ 286175 w 1312862"/>
                  <a:gd name="connsiteY1" fmla="*/ 935836 h 1293982"/>
                  <a:gd name="connsiteX2" fmla="*/ 274733 w 1312862"/>
                  <a:gd name="connsiteY2" fmla="*/ 937265 h 1293982"/>
                  <a:gd name="connsiteX3" fmla="*/ 241838 w 1312862"/>
                  <a:gd name="connsiteY3" fmla="*/ 948692 h 1293982"/>
                  <a:gd name="connsiteX4" fmla="*/ 30163 w 1312862"/>
                  <a:gd name="connsiteY4" fmla="*/ 1069391 h 1293982"/>
                  <a:gd name="connsiteX5" fmla="*/ 30163 w 1312862"/>
                  <a:gd name="connsiteY5" fmla="*/ 1255797 h 1293982"/>
                  <a:gd name="connsiteX6" fmla="*/ 248989 w 1312862"/>
                  <a:gd name="connsiteY6" fmla="*/ 1171522 h 1293982"/>
                  <a:gd name="connsiteX7" fmla="*/ 310489 w 1312862"/>
                  <a:gd name="connsiteY7" fmla="*/ 1160095 h 1293982"/>
                  <a:gd name="connsiteX8" fmla="*/ 322646 w 1312862"/>
                  <a:gd name="connsiteY8" fmla="*/ 1160809 h 1293982"/>
                  <a:gd name="connsiteX9" fmla="*/ 410605 w 1312862"/>
                  <a:gd name="connsiteY9" fmla="*/ 1167237 h 1293982"/>
                  <a:gd name="connsiteX10" fmla="*/ 444931 w 1312862"/>
                  <a:gd name="connsiteY10" fmla="*/ 1167951 h 1293982"/>
                  <a:gd name="connsiteX11" fmla="*/ 587954 w 1312862"/>
                  <a:gd name="connsiteY11" fmla="*/ 1146525 h 1293982"/>
                  <a:gd name="connsiteX12" fmla="*/ 597251 w 1312862"/>
                  <a:gd name="connsiteY12" fmla="*/ 1143668 h 1293982"/>
                  <a:gd name="connsiteX13" fmla="*/ 751716 w 1312862"/>
                  <a:gd name="connsiteY13" fmla="*/ 1040823 h 1293982"/>
                  <a:gd name="connsiteX14" fmla="*/ 785327 w 1312862"/>
                  <a:gd name="connsiteY14" fmla="*/ 1001543 h 1293982"/>
                  <a:gd name="connsiteX15" fmla="*/ 783181 w 1312862"/>
                  <a:gd name="connsiteY15" fmla="*/ 962262 h 1293982"/>
                  <a:gd name="connsiteX16" fmla="*/ 763873 w 1312862"/>
                  <a:gd name="connsiteY16" fmla="*/ 955120 h 1293982"/>
                  <a:gd name="connsiteX17" fmla="*/ 743135 w 1312862"/>
                  <a:gd name="connsiteY17" fmla="*/ 964404 h 1293982"/>
                  <a:gd name="connsiteX18" fmla="*/ 737414 w 1312862"/>
                  <a:gd name="connsiteY18" fmla="*/ 970832 h 1293982"/>
                  <a:gd name="connsiteX19" fmla="*/ 708094 w 1312862"/>
                  <a:gd name="connsiteY19" fmla="*/ 1004399 h 1293982"/>
                  <a:gd name="connsiteX20" fmla="*/ 678774 w 1312862"/>
                  <a:gd name="connsiteY20" fmla="*/ 1031539 h 1293982"/>
                  <a:gd name="connsiteX21" fmla="*/ 668763 w 1312862"/>
                  <a:gd name="connsiteY21" fmla="*/ 1039395 h 1293982"/>
                  <a:gd name="connsiteX22" fmla="*/ 644449 w 1312862"/>
                  <a:gd name="connsiteY22" fmla="*/ 1054393 h 1293982"/>
                  <a:gd name="connsiteX23" fmla="*/ 594390 w 1312862"/>
                  <a:gd name="connsiteY23" fmla="*/ 1075105 h 1293982"/>
                  <a:gd name="connsiteX24" fmla="*/ 589385 w 1312862"/>
                  <a:gd name="connsiteY24" fmla="*/ 1076533 h 1293982"/>
                  <a:gd name="connsiteX25" fmla="*/ 529315 w 1312862"/>
                  <a:gd name="connsiteY25" fmla="*/ 1084390 h 1293982"/>
                  <a:gd name="connsiteX26" fmla="*/ 527169 w 1312862"/>
                  <a:gd name="connsiteY26" fmla="*/ 1084390 h 1293982"/>
                  <a:gd name="connsiteX27" fmla="*/ 489983 w 1312862"/>
                  <a:gd name="connsiteY27" fmla="*/ 1080819 h 1293982"/>
                  <a:gd name="connsiteX28" fmla="*/ 446361 w 1312862"/>
                  <a:gd name="connsiteY28" fmla="*/ 1068677 h 1293982"/>
                  <a:gd name="connsiteX29" fmla="*/ 427768 w 1312862"/>
                  <a:gd name="connsiteY29" fmla="*/ 1060821 h 1293982"/>
                  <a:gd name="connsiteX30" fmla="*/ 409175 w 1312862"/>
                  <a:gd name="connsiteY30" fmla="*/ 1034396 h 1293982"/>
                  <a:gd name="connsiteX31" fmla="*/ 409175 w 1312862"/>
                  <a:gd name="connsiteY31" fmla="*/ 1032967 h 1293982"/>
                  <a:gd name="connsiteX32" fmla="*/ 409175 w 1312862"/>
                  <a:gd name="connsiteY32" fmla="*/ 1029396 h 1293982"/>
                  <a:gd name="connsiteX33" fmla="*/ 410605 w 1312862"/>
                  <a:gd name="connsiteY33" fmla="*/ 1022969 h 1293982"/>
                  <a:gd name="connsiteX34" fmla="*/ 411321 w 1312862"/>
                  <a:gd name="connsiteY34" fmla="*/ 1020826 h 1293982"/>
                  <a:gd name="connsiteX35" fmla="*/ 417041 w 1312862"/>
                  <a:gd name="connsiteY35" fmla="*/ 1012970 h 1293982"/>
                  <a:gd name="connsiteX36" fmla="*/ 418472 w 1312862"/>
                  <a:gd name="connsiteY36" fmla="*/ 1011541 h 1293982"/>
                  <a:gd name="connsiteX37" fmla="*/ 436350 w 1312862"/>
                  <a:gd name="connsiteY37" fmla="*/ 1003685 h 1293982"/>
                  <a:gd name="connsiteX38" fmla="*/ 523594 w 1312862"/>
                  <a:gd name="connsiteY38" fmla="*/ 995115 h 1293982"/>
                  <a:gd name="connsiteX39" fmla="*/ 543617 w 1312862"/>
                  <a:gd name="connsiteY39" fmla="*/ 980117 h 1293982"/>
                  <a:gd name="connsiteX40" fmla="*/ 545762 w 1312862"/>
                  <a:gd name="connsiteY40" fmla="*/ 970832 h 1293982"/>
                  <a:gd name="connsiteX41" fmla="*/ 522879 w 1312862"/>
                  <a:gd name="connsiteY41" fmla="*/ 947263 h 1293982"/>
                  <a:gd name="connsiteX42" fmla="*/ 331227 w 1312862"/>
                  <a:gd name="connsiteY42" fmla="*/ 937265 h 1293982"/>
                  <a:gd name="connsiteX43" fmla="*/ 322646 w 1312862"/>
                  <a:gd name="connsiteY43" fmla="*/ 936551 h 1293982"/>
                  <a:gd name="connsiteX44" fmla="*/ 309774 w 1312862"/>
                  <a:gd name="connsiteY44" fmla="*/ 935836 h 1293982"/>
                  <a:gd name="connsiteX45" fmla="*/ 298332 w 1312862"/>
                  <a:gd name="connsiteY45" fmla="*/ 935836 h 1293982"/>
                  <a:gd name="connsiteX46" fmla="*/ 297617 w 1312862"/>
                  <a:gd name="connsiteY46" fmla="*/ 935836 h 1293982"/>
                  <a:gd name="connsiteX47" fmla="*/ 292611 w 1312862"/>
                  <a:gd name="connsiteY47" fmla="*/ 935122 h 1293982"/>
                  <a:gd name="connsiteX48" fmla="*/ 293046 w 1312862"/>
                  <a:gd name="connsiteY48" fmla="*/ 903372 h 1293982"/>
                  <a:gd name="connsiteX49" fmla="*/ 299463 w 1312862"/>
                  <a:gd name="connsiteY49" fmla="*/ 904085 h 1293982"/>
                  <a:gd name="connsiteX50" fmla="*/ 300889 w 1312862"/>
                  <a:gd name="connsiteY50" fmla="*/ 904085 h 1293982"/>
                  <a:gd name="connsiteX51" fmla="*/ 524060 w 1312862"/>
                  <a:gd name="connsiteY51" fmla="*/ 915497 h 1293982"/>
                  <a:gd name="connsiteX52" fmla="*/ 576823 w 1312862"/>
                  <a:gd name="connsiteY52" fmla="*/ 970415 h 1293982"/>
                  <a:gd name="connsiteX53" fmla="*/ 572545 w 1312862"/>
                  <a:gd name="connsiteY53" fmla="*/ 991099 h 1293982"/>
                  <a:gd name="connsiteX54" fmla="*/ 526912 w 1312862"/>
                  <a:gd name="connsiteY54" fmla="*/ 1026047 h 1293982"/>
                  <a:gd name="connsiteX55" fmla="*/ 444917 w 1312862"/>
                  <a:gd name="connsiteY55" fmla="*/ 1033892 h 1293982"/>
                  <a:gd name="connsiteX56" fmla="*/ 457751 w 1312862"/>
                  <a:gd name="connsiteY56" fmla="*/ 1038885 h 1293982"/>
                  <a:gd name="connsiteX57" fmla="*/ 495540 w 1312862"/>
                  <a:gd name="connsiteY57" fmla="*/ 1049583 h 1293982"/>
                  <a:gd name="connsiteX58" fmla="*/ 526912 w 1312862"/>
                  <a:gd name="connsiteY58" fmla="*/ 1052436 h 1293982"/>
                  <a:gd name="connsiteX59" fmla="*/ 529051 w 1312862"/>
                  <a:gd name="connsiteY59" fmla="*/ 1052436 h 1293982"/>
                  <a:gd name="connsiteX60" fmla="*/ 580388 w 1312862"/>
                  <a:gd name="connsiteY60" fmla="*/ 1045304 h 1293982"/>
                  <a:gd name="connsiteX61" fmla="*/ 585379 w 1312862"/>
                  <a:gd name="connsiteY61" fmla="*/ 1044591 h 1293982"/>
                  <a:gd name="connsiteX62" fmla="*/ 628872 w 1312862"/>
                  <a:gd name="connsiteY62" fmla="*/ 1026760 h 1293982"/>
                  <a:gd name="connsiteX63" fmla="*/ 649550 w 1312862"/>
                  <a:gd name="connsiteY63" fmla="*/ 1013209 h 1293982"/>
                  <a:gd name="connsiteX64" fmla="*/ 658819 w 1312862"/>
                  <a:gd name="connsiteY64" fmla="*/ 1006790 h 1293982"/>
                  <a:gd name="connsiteX65" fmla="*/ 683774 w 1312862"/>
                  <a:gd name="connsiteY65" fmla="*/ 982540 h 1293982"/>
                  <a:gd name="connsiteX66" fmla="*/ 718711 w 1312862"/>
                  <a:gd name="connsiteY66" fmla="*/ 943313 h 1293982"/>
                  <a:gd name="connsiteX67" fmla="*/ 762918 w 1312862"/>
                  <a:gd name="connsiteY67" fmla="*/ 923342 h 1293982"/>
                  <a:gd name="connsiteX68" fmla="*/ 807124 w 1312862"/>
                  <a:gd name="connsiteY68" fmla="*/ 942599 h 1293982"/>
                  <a:gd name="connsiteX69" fmla="*/ 807837 w 1312862"/>
                  <a:gd name="connsiteY69" fmla="*/ 1021767 h 1293982"/>
                  <a:gd name="connsiteX70" fmla="*/ 775039 w 1312862"/>
                  <a:gd name="connsiteY70" fmla="*/ 1060995 h 1293982"/>
                  <a:gd name="connsiteX71" fmla="*/ 606056 w 1312862"/>
                  <a:gd name="connsiteY71" fmla="*/ 1172971 h 1293982"/>
                  <a:gd name="connsiteX72" fmla="*/ 596787 w 1312862"/>
                  <a:gd name="connsiteY72" fmla="*/ 1175824 h 1293982"/>
                  <a:gd name="connsiteX73" fmla="*/ 444917 w 1312862"/>
                  <a:gd name="connsiteY73" fmla="*/ 1198647 h 1293982"/>
                  <a:gd name="connsiteX74" fmla="*/ 408553 w 1312862"/>
                  <a:gd name="connsiteY74" fmla="*/ 1197934 h 1293982"/>
                  <a:gd name="connsiteX75" fmla="*/ 320853 w 1312862"/>
                  <a:gd name="connsiteY75" fmla="*/ 1191515 h 1293982"/>
                  <a:gd name="connsiteX76" fmla="*/ 310871 w 1312862"/>
                  <a:gd name="connsiteY76" fmla="*/ 1190802 h 1293982"/>
                  <a:gd name="connsiteX77" fmla="*/ 260961 w 1312862"/>
                  <a:gd name="connsiteY77" fmla="*/ 1200074 h 1293982"/>
                  <a:gd name="connsiteX78" fmla="*/ 21390 w 1312862"/>
                  <a:gd name="connsiteY78" fmla="*/ 1292793 h 1293982"/>
                  <a:gd name="connsiteX79" fmla="*/ 0 w 1312862"/>
                  <a:gd name="connsiteY79" fmla="*/ 1278528 h 1293982"/>
                  <a:gd name="connsiteX80" fmla="*/ 0 w 1312862"/>
                  <a:gd name="connsiteY80" fmla="*/ 1059568 h 1293982"/>
                  <a:gd name="connsiteX81" fmla="*/ 8556 w 1312862"/>
                  <a:gd name="connsiteY81" fmla="*/ 1046017 h 1293982"/>
                  <a:gd name="connsiteX82" fmla="*/ 227449 w 1312862"/>
                  <a:gd name="connsiteY82" fmla="*/ 921203 h 1293982"/>
                  <a:gd name="connsiteX83" fmla="*/ 269517 w 1312862"/>
                  <a:gd name="connsiteY83" fmla="*/ 905512 h 1293982"/>
                  <a:gd name="connsiteX84" fmla="*/ 284490 w 1312862"/>
                  <a:gd name="connsiteY84" fmla="*/ 904085 h 1293982"/>
                  <a:gd name="connsiteX85" fmla="*/ 293046 w 1312862"/>
                  <a:gd name="connsiteY85" fmla="*/ 903372 h 1293982"/>
                  <a:gd name="connsiteX86" fmla="*/ 659587 w 1312862"/>
                  <a:gd name="connsiteY86" fmla="*/ 403310 h 1293982"/>
                  <a:gd name="connsiteX87" fmla="*/ 535978 w 1312862"/>
                  <a:gd name="connsiteY87" fmla="*/ 441853 h 1293982"/>
                  <a:gd name="connsiteX88" fmla="*/ 315912 w 1312862"/>
                  <a:gd name="connsiteY88" fmla="*/ 677394 h 1293982"/>
                  <a:gd name="connsiteX89" fmla="*/ 518116 w 1312862"/>
                  <a:gd name="connsiteY89" fmla="*/ 863685 h 1293982"/>
                  <a:gd name="connsiteX90" fmla="*/ 737468 w 1312862"/>
                  <a:gd name="connsiteY90" fmla="*/ 627431 h 1293982"/>
                  <a:gd name="connsiteX91" fmla="*/ 766762 w 1312862"/>
                  <a:gd name="connsiteY91" fmla="*/ 501095 h 1293982"/>
                  <a:gd name="connsiteX92" fmla="*/ 659587 w 1312862"/>
                  <a:gd name="connsiteY92" fmla="*/ 403310 h 1293982"/>
                  <a:gd name="connsiteX93" fmla="*/ 653979 w 1312862"/>
                  <a:gd name="connsiteY93" fmla="*/ 374574 h 1293982"/>
                  <a:gd name="connsiteX94" fmla="*/ 655407 w 1312862"/>
                  <a:gd name="connsiteY94" fmla="*/ 374574 h 1293982"/>
                  <a:gd name="connsiteX95" fmla="*/ 674683 w 1312862"/>
                  <a:gd name="connsiteY95" fmla="*/ 379569 h 1293982"/>
                  <a:gd name="connsiteX96" fmla="*/ 787484 w 1312862"/>
                  <a:gd name="connsiteY96" fmla="*/ 483027 h 1293982"/>
                  <a:gd name="connsiteX97" fmla="*/ 793909 w 1312862"/>
                  <a:gd name="connsiteY97" fmla="*/ 502292 h 1293982"/>
                  <a:gd name="connsiteX98" fmla="*/ 793909 w 1312862"/>
                  <a:gd name="connsiteY98" fmla="*/ 503006 h 1293982"/>
                  <a:gd name="connsiteX99" fmla="*/ 763210 w 1312862"/>
                  <a:gd name="connsiteY99" fmla="*/ 637859 h 1293982"/>
                  <a:gd name="connsiteX100" fmla="*/ 759641 w 1312862"/>
                  <a:gd name="connsiteY100" fmla="*/ 644280 h 1293982"/>
                  <a:gd name="connsiteX101" fmla="*/ 533324 w 1312862"/>
                  <a:gd name="connsiteY101" fmla="*/ 888300 h 1293982"/>
                  <a:gd name="connsiteX102" fmla="*/ 518332 w 1312862"/>
                  <a:gd name="connsiteY102" fmla="*/ 895435 h 1293982"/>
                  <a:gd name="connsiteX103" fmla="*/ 517618 w 1312862"/>
                  <a:gd name="connsiteY103" fmla="*/ 895435 h 1293982"/>
                  <a:gd name="connsiteX104" fmla="*/ 502625 w 1312862"/>
                  <a:gd name="connsiteY104" fmla="*/ 889727 h 1293982"/>
                  <a:gd name="connsiteX105" fmla="*/ 291302 w 1312862"/>
                  <a:gd name="connsiteY105" fmla="*/ 692799 h 1293982"/>
                  <a:gd name="connsiteX106" fmla="*/ 284162 w 1312862"/>
                  <a:gd name="connsiteY106" fmla="*/ 677815 h 1293982"/>
                  <a:gd name="connsiteX107" fmla="*/ 289874 w 1312862"/>
                  <a:gd name="connsiteY107" fmla="*/ 663545 h 1293982"/>
                  <a:gd name="connsiteX108" fmla="*/ 516190 w 1312862"/>
                  <a:gd name="connsiteY108" fmla="*/ 419525 h 1293982"/>
                  <a:gd name="connsiteX109" fmla="*/ 522615 w 1312862"/>
                  <a:gd name="connsiteY109" fmla="*/ 415244 h 1293982"/>
                  <a:gd name="connsiteX110" fmla="*/ 653979 w 1312862"/>
                  <a:gd name="connsiteY110" fmla="*/ 374574 h 1293982"/>
                  <a:gd name="connsiteX111" fmla="*/ 1281112 w 1312862"/>
                  <a:gd name="connsiteY111" fmla="*/ 38186 h 1293982"/>
                  <a:gd name="connsiteX112" fmla="*/ 1063703 w 1312862"/>
                  <a:gd name="connsiteY112" fmla="*/ 122462 h 1293982"/>
                  <a:gd name="connsiteX113" fmla="*/ 1001688 w 1312862"/>
                  <a:gd name="connsiteY113" fmla="*/ 133889 h 1293982"/>
                  <a:gd name="connsiteX114" fmla="*/ 989571 w 1312862"/>
                  <a:gd name="connsiteY114" fmla="*/ 133174 h 1293982"/>
                  <a:gd name="connsiteX115" fmla="*/ 902607 w 1312862"/>
                  <a:gd name="connsiteY115" fmla="*/ 126747 h 1293982"/>
                  <a:gd name="connsiteX116" fmla="*/ 868392 w 1312862"/>
                  <a:gd name="connsiteY116" fmla="*/ 126033 h 1293982"/>
                  <a:gd name="connsiteX117" fmla="*/ 725829 w 1312862"/>
                  <a:gd name="connsiteY117" fmla="*/ 147458 h 1293982"/>
                  <a:gd name="connsiteX118" fmla="*/ 716562 w 1312862"/>
                  <a:gd name="connsiteY118" fmla="*/ 150315 h 1293982"/>
                  <a:gd name="connsiteX119" fmla="*/ 562594 w 1312862"/>
                  <a:gd name="connsiteY119" fmla="*/ 253160 h 1293982"/>
                  <a:gd name="connsiteX120" fmla="*/ 528379 w 1312862"/>
                  <a:gd name="connsiteY120" fmla="*/ 292441 h 1293982"/>
                  <a:gd name="connsiteX121" fmla="*/ 531230 w 1312862"/>
                  <a:gd name="connsiteY121" fmla="*/ 331722 h 1293982"/>
                  <a:gd name="connsiteX122" fmla="*/ 549763 w 1312862"/>
                  <a:gd name="connsiteY122" fmla="*/ 338864 h 1293982"/>
                  <a:gd name="connsiteX123" fmla="*/ 571148 w 1312862"/>
                  <a:gd name="connsiteY123" fmla="*/ 329579 h 1293982"/>
                  <a:gd name="connsiteX124" fmla="*/ 576850 w 1312862"/>
                  <a:gd name="connsiteY124" fmla="*/ 323151 h 1293982"/>
                  <a:gd name="connsiteX125" fmla="*/ 606076 w 1312862"/>
                  <a:gd name="connsiteY125" fmla="*/ 289584 h 1293982"/>
                  <a:gd name="connsiteX126" fmla="*/ 634588 w 1312862"/>
                  <a:gd name="connsiteY126" fmla="*/ 262444 h 1293982"/>
                  <a:gd name="connsiteX127" fmla="*/ 644568 w 1312862"/>
                  <a:gd name="connsiteY127" fmla="*/ 254588 h 1293982"/>
                  <a:gd name="connsiteX128" fmla="*/ 668804 w 1312862"/>
                  <a:gd name="connsiteY128" fmla="*/ 239590 h 1293982"/>
                  <a:gd name="connsiteX129" fmla="*/ 719413 w 1312862"/>
                  <a:gd name="connsiteY129" fmla="*/ 218878 h 1293982"/>
                  <a:gd name="connsiteX130" fmla="*/ 724403 w 1312862"/>
                  <a:gd name="connsiteY130" fmla="*/ 217450 h 1293982"/>
                  <a:gd name="connsiteX131" fmla="*/ 783567 w 1312862"/>
                  <a:gd name="connsiteY131" fmla="*/ 209594 h 1293982"/>
                  <a:gd name="connsiteX132" fmla="*/ 786418 w 1312862"/>
                  <a:gd name="connsiteY132" fmla="*/ 209594 h 1293982"/>
                  <a:gd name="connsiteX133" fmla="*/ 823485 w 1312862"/>
                  <a:gd name="connsiteY133" fmla="*/ 213165 h 1293982"/>
                  <a:gd name="connsiteX134" fmla="*/ 866966 w 1312862"/>
                  <a:gd name="connsiteY134" fmla="*/ 225306 h 1293982"/>
                  <a:gd name="connsiteX135" fmla="*/ 885500 w 1312862"/>
                  <a:gd name="connsiteY135" fmla="*/ 233162 h 1293982"/>
                  <a:gd name="connsiteX136" fmla="*/ 904033 w 1312862"/>
                  <a:gd name="connsiteY136" fmla="*/ 259588 h 1293982"/>
                  <a:gd name="connsiteX137" fmla="*/ 904033 w 1312862"/>
                  <a:gd name="connsiteY137" fmla="*/ 261016 h 1293982"/>
                  <a:gd name="connsiteX138" fmla="*/ 903320 w 1312862"/>
                  <a:gd name="connsiteY138" fmla="*/ 264587 h 1293982"/>
                  <a:gd name="connsiteX139" fmla="*/ 901894 w 1312862"/>
                  <a:gd name="connsiteY139" fmla="*/ 271015 h 1293982"/>
                  <a:gd name="connsiteX140" fmla="*/ 901181 w 1312862"/>
                  <a:gd name="connsiteY140" fmla="*/ 273157 h 1293982"/>
                  <a:gd name="connsiteX141" fmla="*/ 896192 w 1312862"/>
                  <a:gd name="connsiteY141" fmla="*/ 281014 h 1293982"/>
                  <a:gd name="connsiteX142" fmla="*/ 894766 w 1312862"/>
                  <a:gd name="connsiteY142" fmla="*/ 282442 h 1293982"/>
                  <a:gd name="connsiteX143" fmla="*/ 876946 w 1312862"/>
                  <a:gd name="connsiteY143" fmla="*/ 290298 h 1293982"/>
                  <a:gd name="connsiteX144" fmla="*/ 789269 w 1312862"/>
                  <a:gd name="connsiteY144" fmla="*/ 298868 h 1293982"/>
                  <a:gd name="connsiteX145" fmla="*/ 769311 w 1312862"/>
                  <a:gd name="connsiteY145" fmla="*/ 313867 h 1293982"/>
                  <a:gd name="connsiteX146" fmla="*/ 767885 w 1312862"/>
                  <a:gd name="connsiteY146" fmla="*/ 323151 h 1293982"/>
                  <a:gd name="connsiteX147" fmla="*/ 790695 w 1312862"/>
                  <a:gd name="connsiteY147" fmla="*/ 346720 h 1293982"/>
                  <a:gd name="connsiteX148" fmla="*/ 981017 w 1312862"/>
                  <a:gd name="connsiteY148" fmla="*/ 356719 h 1293982"/>
                  <a:gd name="connsiteX149" fmla="*/ 990283 w 1312862"/>
                  <a:gd name="connsiteY149" fmla="*/ 357433 h 1293982"/>
                  <a:gd name="connsiteX150" fmla="*/ 1002401 w 1312862"/>
                  <a:gd name="connsiteY150" fmla="*/ 358147 h 1293982"/>
                  <a:gd name="connsiteX151" fmla="*/ 1014519 w 1312862"/>
                  <a:gd name="connsiteY151" fmla="*/ 358147 h 1293982"/>
                  <a:gd name="connsiteX152" fmla="*/ 1019509 w 1312862"/>
                  <a:gd name="connsiteY152" fmla="*/ 358861 h 1293982"/>
                  <a:gd name="connsiteX153" fmla="*/ 1026637 w 1312862"/>
                  <a:gd name="connsiteY153" fmla="*/ 358147 h 1293982"/>
                  <a:gd name="connsiteX154" fmla="*/ 1038042 w 1312862"/>
                  <a:gd name="connsiteY154" fmla="*/ 356719 h 1293982"/>
                  <a:gd name="connsiteX155" fmla="*/ 1070119 w 1312862"/>
                  <a:gd name="connsiteY155" fmla="*/ 345291 h 1293982"/>
                  <a:gd name="connsiteX156" fmla="*/ 1281112 w 1312862"/>
                  <a:gd name="connsiteY156" fmla="*/ 224592 h 1293982"/>
                  <a:gd name="connsiteX157" fmla="*/ 1281112 w 1312862"/>
                  <a:gd name="connsiteY157" fmla="*/ 38186 h 1293982"/>
                  <a:gd name="connsiteX158" fmla="*/ 1291431 w 1312862"/>
                  <a:gd name="connsiteY158" fmla="*/ 1190 h 1293982"/>
                  <a:gd name="connsiteX159" fmla="*/ 1312862 w 1312862"/>
                  <a:gd name="connsiteY159" fmla="*/ 15455 h 1293982"/>
                  <a:gd name="connsiteX160" fmla="*/ 1312862 w 1312862"/>
                  <a:gd name="connsiteY160" fmla="*/ 234415 h 1293982"/>
                  <a:gd name="connsiteX161" fmla="*/ 1305004 w 1312862"/>
                  <a:gd name="connsiteY161" fmla="*/ 247966 h 1293982"/>
                  <a:gd name="connsiteX162" fmla="*/ 1085691 w 1312862"/>
                  <a:gd name="connsiteY162" fmla="*/ 372781 h 1293982"/>
                  <a:gd name="connsiteX163" fmla="*/ 1043543 w 1312862"/>
                  <a:gd name="connsiteY163" fmla="*/ 388471 h 1293982"/>
                  <a:gd name="connsiteX164" fmla="*/ 1028541 w 1312862"/>
                  <a:gd name="connsiteY164" fmla="*/ 389898 h 1293982"/>
                  <a:gd name="connsiteX165" fmla="*/ 1019254 w 1312862"/>
                  <a:gd name="connsiteY165" fmla="*/ 390611 h 1293982"/>
                  <a:gd name="connsiteX166" fmla="*/ 1013539 w 1312862"/>
                  <a:gd name="connsiteY166" fmla="*/ 389898 h 1293982"/>
                  <a:gd name="connsiteX167" fmla="*/ 1012110 w 1312862"/>
                  <a:gd name="connsiteY167" fmla="*/ 389898 h 1293982"/>
                  <a:gd name="connsiteX168" fmla="*/ 787797 w 1312862"/>
                  <a:gd name="connsiteY168" fmla="*/ 378486 h 1293982"/>
                  <a:gd name="connsiteX169" fmla="*/ 735647 w 1312862"/>
                  <a:gd name="connsiteY169" fmla="*/ 323568 h 1293982"/>
                  <a:gd name="connsiteX170" fmla="*/ 739219 w 1312862"/>
                  <a:gd name="connsiteY170" fmla="*/ 302885 h 1293982"/>
                  <a:gd name="connsiteX171" fmla="*/ 785653 w 1312862"/>
                  <a:gd name="connsiteY171" fmla="*/ 267937 h 1293982"/>
                  <a:gd name="connsiteX172" fmla="*/ 867092 w 1312862"/>
                  <a:gd name="connsiteY172" fmla="*/ 260091 h 1293982"/>
                  <a:gd name="connsiteX173" fmla="*/ 854233 w 1312862"/>
                  <a:gd name="connsiteY173" fmla="*/ 255098 h 1293982"/>
                  <a:gd name="connsiteX174" fmla="*/ 817086 w 1312862"/>
                  <a:gd name="connsiteY174" fmla="*/ 244400 h 1293982"/>
                  <a:gd name="connsiteX175" fmla="*/ 784939 w 1312862"/>
                  <a:gd name="connsiteY175" fmla="*/ 241547 h 1293982"/>
                  <a:gd name="connsiteX176" fmla="*/ 782796 w 1312862"/>
                  <a:gd name="connsiteY176" fmla="*/ 241547 h 1293982"/>
                  <a:gd name="connsiteX177" fmla="*/ 732075 w 1312862"/>
                  <a:gd name="connsiteY177" fmla="*/ 248679 h 1293982"/>
                  <a:gd name="connsiteX178" fmla="*/ 727075 w 1312862"/>
                  <a:gd name="connsiteY178" fmla="*/ 249393 h 1293982"/>
                  <a:gd name="connsiteX179" fmla="*/ 683498 w 1312862"/>
                  <a:gd name="connsiteY179" fmla="*/ 267223 h 1293982"/>
                  <a:gd name="connsiteX180" fmla="*/ 662067 w 1312862"/>
                  <a:gd name="connsiteY180" fmla="*/ 280775 h 1293982"/>
                  <a:gd name="connsiteX181" fmla="*/ 653494 w 1312862"/>
                  <a:gd name="connsiteY181" fmla="*/ 287194 h 1293982"/>
                  <a:gd name="connsiteX182" fmla="*/ 628491 w 1312862"/>
                  <a:gd name="connsiteY182" fmla="*/ 311443 h 1293982"/>
                  <a:gd name="connsiteX183" fmla="*/ 593487 w 1312862"/>
                  <a:gd name="connsiteY183" fmla="*/ 350671 h 1293982"/>
                  <a:gd name="connsiteX184" fmla="*/ 548481 w 1312862"/>
                  <a:gd name="connsiteY184" fmla="*/ 370641 h 1293982"/>
                  <a:gd name="connsiteX185" fmla="*/ 504190 w 1312862"/>
                  <a:gd name="connsiteY185" fmla="*/ 351384 h 1293982"/>
                  <a:gd name="connsiteX186" fmla="*/ 504190 w 1312862"/>
                  <a:gd name="connsiteY186" fmla="*/ 272216 h 1293982"/>
                  <a:gd name="connsiteX187" fmla="*/ 537051 w 1312862"/>
                  <a:gd name="connsiteY187" fmla="*/ 232988 h 1293982"/>
                  <a:gd name="connsiteX188" fmla="*/ 706358 w 1312862"/>
                  <a:gd name="connsiteY188" fmla="*/ 121012 h 1293982"/>
                  <a:gd name="connsiteX189" fmla="*/ 715645 w 1312862"/>
                  <a:gd name="connsiteY189" fmla="*/ 118159 h 1293982"/>
                  <a:gd name="connsiteX190" fmla="*/ 867807 w 1312862"/>
                  <a:gd name="connsiteY190" fmla="*/ 95336 h 1293982"/>
                  <a:gd name="connsiteX191" fmla="*/ 904240 w 1312862"/>
                  <a:gd name="connsiteY191" fmla="*/ 96049 h 1293982"/>
                  <a:gd name="connsiteX192" fmla="*/ 991393 w 1312862"/>
                  <a:gd name="connsiteY192" fmla="*/ 102468 h 1293982"/>
                  <a:gd name="connsiteX193" fmla="*/ 1001395 w 1312862"/>
                  <a:gd name="connsiteY193" fmla="*/ 103182 h 1293982"/>
                  <a:gd name="connsiteX194" fmla="*/ 1052115 w 1312862"/>
                  <a:gd name="connsiteY194" fmla="*/ 93910 h 1293982"/>
                  <a:gd name="connsiteX195" fmla="*/ 1291431 w 1312862"/>
                  <a:gd name="connsiteY195" fmla="*/ 1190 h 129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1312862" h="1293982">
                    <a:moveTo>
                      <a:pt x="292611" y="935122"/>
                    </a:moveTo>
                    <a:cubicBezTo>
                      <a:pt x="290466" y="935122"/>
                      <a:pt x="288320" y="935122"/>
                      <a:pt x="286175" y="935836"/>
                    </a:cubicBezTo>
                    <a:cubicBezTo>
                      <a:pt x="281884" y="935836"/>
                      <a:pt x="278309" y="936551"/>
                      <a:pt x="274733" y="937265"/>
                    </a:cubicBezTo>
                    <a:cubicBezTo>
                      <a:pt x="263291" y="939407"/>
                      <a:pt x="252565" y="942978"/>
                      <a:pt x="241838" y="948692"/>
                    </a:cubicBezTo>
                    <a:cubicBezTo>
                      <a:pt x="241838" y="948692"/>
                      <a:pt x="241838" y="948692"/>
                      <a:pt x="30163" y="1069391"/>
                    </a:cubicBezTo>
                    <a:cubicBezTo>
                      <a:pt x="30163" y="1069391"/>
                      <a:pt x="30163" y="1069391"/>
                      <a:pt x="30163" y="1255797"/>
                    </a:cubicBezTo>
                    <a:cubicBezTo>
                      <a:pt x="30163" y="1255797"/>
                      <a:pt x="30163" y="1255797"/>
                      <a:pt x="248989" y="1171522"/>
                    </a:cubicBezTo>
                    <a:cubicBezTo>
                      <a:pt x="268297" y="1164380"/>
                      <a:pt x="289036" y="1160095"/>
                      <a:pt x="310489" y="1160095"/>
                    </a:cubicBezTo>
                    <a:cubicBezTo>
                      <a:pt x="314780" y="1160095"/>
                      <a:pt x="319070" y="1160095"/>
                      <a:pt x="322646" y="1160809"/>
                    </a:cubicBezTo>
                    <a:cubicBezTo>
                      <a:pt x="322646" y="1160809"/>
                      <a:pt x="322646" y="1160809"/>
                      <a:pt x="410605" y="1167237"/>
                    </a:cubicBezTo>
                    <a:cubicBezTo>
                      <a:pt x="422047" y="1167951"/>
                      <a:pt x="433489" y="1167951"/>
                      <a:pt x="444931" y="1167951"/>
                    </a:cubicBezTo>
                    <a:cubicBezTo>
                      <a:pt x="493559" y="1167951"/>
                      <a:pt x="541472" y="1160809"/>
                      <a:pt x="587954" y="1146525"/>
                    </a:cubicBezTo>
                    <a:cubicBezTo>
                      <a:pt x="587954" y="1146525"/>
                      <a:pt x="587954" y="1146525"/>
                      <a:pt x="597251" y="1143668"/>
                    </a:cubicBezTo>
                    <a:cubicBezTo>
                      <a:pt x="657321" y="1125099"/>
                      <a:pt x="710954" y="1089389"/>
                      <a:pt x="751716" y="1040823"/>
                    </a:cubicBezTo>
                    <a:cubicBezTo>
                      <a:pt x="751716" y="1040823"/>
                      <a:pt x="751716" y="1040823"/>
                      <a:pt x="785327" y="1001543"/>
                    </a:cubicBezTo>
                    <a:cubicBezTo>
                      <a:pt x="795338" y="989401"/>
                      <a:pt x="793908" y="972260"/>
                      <a:pt x="783181" y="962262"/>
                    </a:cubicBezTo>
                    <a:cubicBezTo>
                      <a:pt x="777460" y="957262"/>
                      <a:pt x="771024" y="955120"/>
                      <a:pt x="763873" y="955120"/>
                    </a:cubicBezTo>
                    <a:cubicBezTo>
                      <a:pt x="756007" y="955120"/>
                      <a:pt x="748141" y="958691"/>
                      <a:pt x="743135" y="964404"/>
                    </a:cubicBezTo>
                    <a:cubicBezTo>
                      <a:pt x="743135" y="964404"/>
                      <a:pt x="743135" y="964404"/>
                      <a:pt x="737414" y="970832"/>
                    </a:cubicBezTo>
                    <a:cubicBezTo>
                      <a:pt x="737414" y="970832"/>
                      <a:pt x="737414" y="970832"/>
                      <a:pt x="708094" y="1004399"/>
                    </a:cubicBezTo>
                    <a:cubicBezTo>
                      <a:pt x="698797" y="1014398"/>
                      <a:pt x="689501" y="1022969"/>
                      <a:pt x="678774" y="1031539"/>
                    </a:cubicBezTo>
                    <a:cubicBezTo>
                      <a:pt x="675914" y="1034396"/>
                      <a:pt x="672338" y="1036538"/>
                      <a:pt x="668763" y="1039395"/>
                    </a:cubicBezTo>
                    <a:cubicBezTo>
                      <a:pt x="660896" y="1045109"/>
                      <a:pt x="653030" y="1050108"/>
                      <a:pt x="644449" y="1054393"/>
                    </a:cubicBezTo>
                    <a:cubicBezTo>
                      <a:pt x="628716" y="1062964"/>
                      <a:pt x="611553" y="1070106"/>
                      <a:pt x="594390" y="1075105"/>
                    </a:cubicBezTo>
                    <a:cubicBezTo>
                      <a:pt x="594390" y="1075105"/>
                      <a:pt x="594390" y="1075105"/>
                      <a:pt x="589385" y="1076533"/>
                    </a:cubicBezTo>
                    <a:cubicBezTo>
                      <a:pt x="570076" y="1081533"/>
                      <a:pt x="549338" y="1084390"/>
                      <a:pt x="529315" y="1084390"/>
                    </a:cubicBezTo>
                    <a:cubicBezTo>
                      <a:pt x="528600" y="1084390"/>
                      <a:pt x="527885" y="1084390"/>
                      <a:pt x="527169" y="1084390"/>
                    </a:cubicBezTo>
                    <a:cubicBezTo>
                      <a:pt x="514297" y="1084390"/>
                      <a:pt x="502140" y="1082961"/>
                      <a:pt x="489983" y="1080819"/>
                    </a:cubicBezTo>
                    <a:cubicBezTo>
                      <a:pt x="474966" y="1078676"/>
                      <a:pt x="460664" y="1074391"/>
                      <a:pt x="446361" y="1068677"/>
                    </a:cubicBezTo>
                    <a:cubicBezTo>
                      <a:pt x="446361" y="1068677"/>
                      <a:pt x="446361" y="1068677"/>
                      <a:pt x="427768" y="1060821"/>
                    </a:cubicBezTo>
                    <a:cubicBezTo>
                      <a:pt x="417041" y="1056536"/>
                      <a:pt x="409175" y="1046537"/>
                      <a:pt x="409175" y="1034396"/>
                    </a:cubicBezTo>
                    <a:cubicBezTo>
                      <a:pt x="409175" y="1034396"/>
                      <a:pt x="409175" y="1033681"/>
                      <a:pt x="409175" y="1032967"/>
                    </a:cubicBezTo>
                    <a:cubicBezTo>
                      <a:pt x="409175" y="1031539"/>
                      <a:pt x="409175" y="1030110"/>
                      <a:pt x="409175" y="1029396"/>
                    </a:cubicBezTo>
                    <a:cubicBezTo>
                      <a:pt x="409890" y="1027254"/>
                      <a:pt x="409890" y="1025111"/>
                      <a:pt x="410605" y="1022969"/>
                    </a:cubicBezTo>
                    <a:cubicBezTo>
                      <a:pt x="411321" y="1022254"/>
                      <a:pt x="411321" y="1021540"/>
                      <a:pt x="411321" y="1020826"/>
                    </a:cubicBezTo>
                    <a:cubicBezTo>
                      <a:pt x="412751" y="1017969"/>
                      <a:pt x="414896" y="1015827"/>
                      <a:pt x="417041" y="1012970"/>
                    </a:cubicBezTo>
                    <a:cubicBezTo>
                      <a:pt x="417041" y="1012970"/>
                      <a:pt x="417757" y="1012256"/>
                      <a:pt x="418472" y="1011541"/>
                    </a:cubicBezTo>
                    <a:cubicBezTo>
                      <a:pt x="422762" y="1007256"/>
                      <a:pt x="429198" y="1004399"/>
                      <a:pt x="436350" y="1003685"/>
                    </a:cubicBezTo>
                    <a:cubicBezTo>
                      <a:pt x="436350" y="1003685"/>
                      <a:pt x="436350" y="1003685"/>
                      <a:pt x="523594" y="995115"/>
                    </a:cubicBezTo>
                    <a:cubicBezTo>
                      <a:pt x="532890" y="994401"/>
                      <a:pt x="540757" y="987973"/>
                      <a:pt x="543617" y="980117"/>
                    </a:cubicBezTo>
                    <a:cubicBezTo>
                      <a:pt x="545047" y="977260"/>
                      <a:pt x="545762" y="974403"/>
                      <a:pt x="545762" y="970832"/>
                    </a:cubicBezTo>
                    <a:cubicBezTo>
                      <a:pt x="545762" y="957976"/>
                      <a:pt x="535751" y="947978"/>
                      <a:pt x="522879" y="947263"/>
                    </a:cubicBezTo>
                    <a:cubicBezTo>
                      <a:pt x="522879" y="947263"/>
                      <a:pt x="522879" y="947263"/>
                      <a:pt x="331227" y="937265"/>
                    </a:cubicBezTo>
                    <a:cubicBezTo>
                      <a:pt x="331227" y="937265"/>
                      <a:pt x="331227" y="937265"/>
                      <a:pt x="322646" y="936551"/>
                    </a:cubicBezTo>
                    <a:cubicBezTo>
                      <a:pt x="322646" y="936551"/>
                      <a:pt x="322646" y="936551"/>
                      <a:pt x="309774" y="935836"/>
                    </a:cubicBezTo>
                    <a:cubicBezTo>
                      <a:pt x="309774" y="935836"/>
                      <a:pt x="309774" y="935836"/>
                      <a:pt x="298332" y="935836"/>
                    </a:cubicBezTo>
                    <a:cubicBezTo>
                      <a:pt x="298332" y="935836"/>
                      <a:pt x="297617" y="935836"/>
                      <a:pt x="297617" y="935836"/>
                    </a:cubicBezTo>
                    <a:cubicBezTo>
                      <a:pt x="296187" y="935122"/>
                      <a:pt x="294756" y="935122"/>
                      <a:pt x="292611" y="935122"/>
                    </a:cubicBezTo>
                    <a:close/>
                    <a:moveTo>
                      <a:pt x="293046" y="903372"/>
                    </a:moveTo>
                    <a:cubicBezTo>
                      <a:pt x="295185" y="903372"/>
                      <a:pt x="297324" y="903372"/>
                      <a:pt x="299463" y="904085"/>
                    </a:cubicBezTo>
                    <a:cubicBezTo>
                      <a:pt x="300889" y="904085"/>
                      <a:pt x="300889" y="904085"/>
                      <a:pt x="300889" y="904085"/>
                    </a:cubicBezTo>
                    <a:cubicBezTo>
                      <a:pt x="524060" y="915497"/>
                      <a:pt x="524060" y="915497"/>
                      <a:pt x="524060" y="915497"/>
                    </a:cubicBezTo>
                    <a:cubicBezTo>
                      <a:pt x="553294" y="916923"/>
                      <a:pt x="576823" y="941173"/>
                      <a:pt x="576823" y="970415"/>
                    </a:cubicBezTo>
                    <a:cubicBezTo>
                      <a:pt x="576823" y="977547"/>
                      <a:pt x="575397" y="984680"/>
                      <a:pt x="572545" y="991099"/>
                    </a:cubicBezTo>
                    <a:cubicBezTo>
                      <a:pt x="565415" y="1010356"/>
                      <a:pt x="547590" y="1023907"/>
                      <a:pt x="526912" y="1026047"/>
                    </a:cubicBezTo>
                    <a:cubicBezTo>
                      <a:pt x="444917" y="1033892"/>
                      <a:pt x="444917" y="1033892"/>
                      <a:pt x="444917" y="1033892"/>
                    </a:cubicBezTo>
                    <a:cubicBezTo>
                      <a:pt x="457751" y="1038885"/>
                      <a:pt x="457751" y="1038885"/>
                      <a:pt x="457751" y="1038885"/>
                    </a:cubicBezTo>
                    <a:cubicBezTo>
                      <a:pt x="469872" y="1043877"/>
                      <a:pt x="482706" y="1047444"/>
                      <a:pt x="495540" y="1049583"/>
                    </a:cubicBezTo>
                    <a:cubicBezTo>
                      <a:pt x="505522" y="1051723"/>
                      <a:pt x="516217" y="1052436"/>
                      <a:pt x="526912" y="1052436"/>
                    </a:cubicBezTo>
                    <a:cubicBezTo>
                      <a:pt x="529051" y="1052436"/>
                      <a:pt x="529051" y="1052436"/>
                      <a:pt x="529051" y="1052436"/>
                    </a:cubicBezTo>
                    <a:cubicBezTo>
                      <a:pt x="546164" y="1052436"/>
                      <a:pt x="563989" y="1050296"/>
                      <a:pt x="580388" y="1045304"/>
                    </a:cubicBezTo>
                    <a:cubicBezTo>
                      <a:pt x="585379" y="1044591"/>
                      <a:pt x="585379" y="1044591"/>
                      <a:pt x="585379" y="1044591"/>
                    </a:cubicBezTo>
                    <a:cubicBezTo>
                      <a:pt x="600352" y="1040311"/>
                      <a:pt x="615325" y="1033892"/>
                      <a:pt x="628872" y="1026760"/>
                    </a:cubicBezTo>
                    <a:cubicBezTo>
                      <a:pt x="636002" y="1022481"/>
                      <a:pt x="643132" y="1018201"/>
                      <a:pt x="649550" y="1013209"/>
                    </a:cubicBezTo>
                    <a:cubicBezTo>
                      <a:pt x="652402" y="1011069"/>
                      <a:pt x="655967" y="1008929"/>
                      <a:pt x="658819" y="1006790"/>
                    </a:cubicBezTo>
                    <a:cubicBezTo>
                      <a:pt x="667375" y="999657"/>
                      <a:pt x="675931" y="991099"/>
                      <a:pt x="683774" y="982540"/>
                    </a:cubicBezTo>
                    <a:cubicBezTo>
                      <a:pt x="718711" y="943313"/>
                      <a:pt x="718711" y="943313"/>
                      <a:pt x="718711" y="943313"/>
                    </a:cubicBezTo>
                    <a:cubicBezTo>
                      <a:pt x="730119" y="930475"/>
                      <a:pt x="745805" y="923342"/>
                      <a:pt x="762918" y="923342"/>
                    </a:cubicBezTo>
                    <a:cubicBezTo>
                      <a:pt x="780030" y="923342"/>
                      <a:pt x="795716" y="930475"/>
                      <a:pt x="807124" y="942599"/>
                    </a:cubicBezTo>
                    <a:cubicBezTo>
                      <a:pt x="827088" y="964709"/>
                      <a:pt x="827088" y="998944"/>
                      <a:pt x="807837" y="1021767"/>
                    </a:cubicBezTo>
                    <a:cubicBezTo>
                      <a:pt x="775039" y="1060995"/>
                      <a:pt x="775039" y="1060995"/>
                      <a:pt x="775039" y="1060995"/>
                    </a:cubicBezTo>
                    <a:cubicBezTo>
                      <a:pt x="730119" y="1113773"/>
                      <a:pt x="671653" y="1152288"/>
                      <a:pt x="606056" y="1172971"/>
                    </a:cubicBezTo>
                    <a:cubicBezTo>
                      <a:pt x="596787" y="1175824"/>
                      <a:pt x="596787" y="1175824"/>
                      <a:pt x="596787" y="1175824"/>
                    </a:cubicBezTo>
                    <a:cubicBezTo>
                      <a:pt x="547590" y="1190802"/>
                      <a:pt x="496253" y="1198647"/>
                      <a:pt x="444917" y="1198647"/>
                    </a:cubicBezTo>
                    <a:cubicBezTo>
                      <a:pt x="432795" y="1198647"/>
                      <a:pt x="420674" y="1198647"/>
                      <a:pt x="408553" y="1197934"/>
                    </a:cubicBezTo>
                    <a:cubicBezTo>
                      <a:pt x="320853" y="1191515"/>
                      <a:pt x="320853" y="1191515"/>
                      <a:pt x="320853" y="1191515"/>
                    </a:cubicBezTo>
                    <a:cubicBezTo>
                      <a:pt x="318001" y="1190802"/>
                      <a:pt x="314436" y="1190802"/>
                      <a:pt x="310871" y="1190802"/>
                    </a:cubicBezTo>
                    <a:cubicBezTo>
                      <a:pt x="293759" y="1190802"/>
                      <a:pt x="276647" y="1194368"/>
                      <a:pt x="260961" y="1200074"/>
                    </a:cubicBezTo>
                    <a:cubicBezTo>
                      <a:pt x="21390" y="1292793"/>
                      <a:pt x="21390" y="1292793"/>
                      <a:pt x="21390" y="1292793"/>
                    </a:cubicBezTo>
                    <a:cubicBezTo>
                      <a:pt x="11408" y="1297072"/>
                      <a:pt x="0" y="1289227"/>
                      <a:pt x="0" y="1278528"/>
                    </a:cubicBezTo>
                    <a:lnTo>
                      <a:pt x="0" y="1059568"/>
                    </a:lnTo>
                    <a:cubicBezTo>
                      <a:pt x="0" y="1053863"/>
                      <a:pt x="3565" y="1048870"/>
                      <a:pt x="8556" y="1046017"/>
                    </a:cubicBezTo>
                    <a:cubicBezTo>
                      <a:pt x="227449" y="921203"/>
                      <a:pt x="227449" y="921203"/>
                      <a:pt x="227449" y="921203"/>
                    </a:cubicBezTo>
                    <a:cubicBezTo>
                      <a:pt x="240284" y="913357"/>
                      <a:pt x="254544" y="908365"/>
                      <a:pt x="269517" y="905512"/>
                    </a:cubicBezTo>
                    <a:cubicBezTo>
                      <a:pt x="274508" y="904799"/>
                      <a:pt x="279499" y="904085"/>
                      <a:pt x="284490" y="904085"/>
                    </a:cubicBezTo>
                    <a:cubicBezTo>
                      <a:pt x="287342" y="904085"/>
                      <a:pt x="290194" y="903372"/>
                      <a:pt x="293046" y="903372"/>
                    </a:cubicBezTo>
                    <a:close/>
                    <a:moveTo>
                      <a:pt x="659587" y="403310"/>
                    </a:moveTo>
                    <a:cubicBezTo>
                      <a:pt x="659587" y="403310"/>
                      <a:pt x="659587" y="403310"/>
                      <a:pt x="535978" y="441853"/>
                    </a:cubicBezTo>
                    <a:cubicBezTo>
                      <a:pt x="535978" y="441853"/>
                      <a:pt x="535978" y="441853"/>
                      <a:pt x="315912" y="677394"/>
                    </a:cubicBezTo>
                    <a:cubicBezTo>
                      <a:pt x="315912" y="677394"/>
                      <a:pt x="315912" y="677394"/>
                      <a:pt x="518116" y="863685"/>
                    </a:cubicBezTo>
                    <a:cubicBezTo>
                      <a:pt x="518116" y="863685"/>
                      <a:pt x="518116" y="863685"/>
                      <a:pt x="737468" y="627431"/>
                    </a:cubicBezTo>
                    <a:cubicBezTo>
                      <a:pt x="737468" y="627431"/>
                      <a:pt x="737468" y="627431"/>
                      <a:pt x="766762" y="501095"/>
                    </a:cubicBezTo>
                    <a:cubicBezTo>
                      <a:pt x="766762" y="501095"/>
                      <a:pt x="766762" y="501095"/>
                      <a:pt x="659587" y="403310"/>
                    </a:cubicBezTo>
                    <a:close/>
                    <a:moveTo>
                      <a:pt x="653979" y="374574"/>
                    </a:moveTo>
                    <a:cubicBezTo>
                      <a:pt x="653979" y="374574"/>
                      <a:pt x="654693" y="374574"/>
                      <a:pt x="655407" y="374574"/>
                    </a:cubicBezTo>
                    <a:cubicBezTo>
                      <a:pt x="663260" y="373147"/>
                      <a:pt x="669685" y="374574"/>
                      <a:pt x="674683" y="379569"/>
                    </a:cubicBezTo>
                    <a:cubicBezTo>
                      <a:pt x="674683" y="379569"/>
                      <a:pt x="674683" y="379569"/>
                      <a:pt x="787484" y="483027"/>
                    </a:cubicBezTo>
                    <a:cubicBezTo>
                      <a:pt x="793195" y="488022"/>
                      <a:pt x="795337" y="495157"/>
                      <a:pt x="793909" y="502292"/>
                    </a:cubicBezTo>
                    <a:cubicBezTo>
                      <a:pt x="793909" y="502292"/>
                      <a:pt x="793909" y="502292"/>
                      <a:pt x="793909" y="503006"/>
                    </a:cubicBezTo>
                    <a:cubicBezTo>
                      <a:pt x="793909" y="503006"/>
                      <a:pt x="793909" y="503006"/>
                      <a:pt x="763210" y="637859"/>
                    </a:cubicBezTo>
                    <a:cubicBezTo>
                      <a:pt x="762496" y="639999"/>
                      <a:pt x="761069" y="642140"/>
                      <a:pt x="759641" y="644280"/>
                    </a:cubicBezTo>
                    <a:cubicBezTo>
                      <a:pt x="759641" y="644280"/>
                      <a:pt x="759641" y="644280"/>
                      <a:pt x="533324" y="888300"/>
                    </a:cubicBezTo>
                    <a:cubicBezTo>
                      <a:pt x="529041" y="892581"/>
                      <a:pt x="524043" y="894722"/>
                      <a:pt x="518332" y="895435"/>
                    </a:cubicBezTo>
                    <a:cubicBezTo>
                      <a:pt x="518332" y="895435"/>
                      <a:pt x="518332" y="895435"/>
                      <a:pt x="517618" y="895435"/>
                    </a:cubicBezTo>
                    <a:cubicBezTo>
                      <a:pt x="511906" y="895435"/>
                      <a:pt x="506909" y="893295"/>
                      <a:pt x="502625" y="889727"/>
                    </a:cubicBezTo>
                    <a:cubicBezTo>
                      <a:pt x="502625" y="889727"/>
                      <a:pt x="502625" y="889727"/>
                      <a:pt x="291302" y="692799"/>
                    </a:cubicBezTo>
                    <a:cubicBezTo>
                      <a:pt x="287018" y="689231"/>
                      <a:pt x="284876" y="683523"/>
                      <a:pt x="284162" y="677815"/>
                    </a:cubicBezTo>
                    <a:cubicBezTo>
                      <a:pt x="284162" y="672107"/>
                      <a:pt x="286304" y="667113"/>
                      <a:pt x="289874" y="663545"/>
                    </a:cubicBezTo>
                    <a:cubicBezTo>
                      <a:pt x="289874" y="663545"/>
                      <a:pt x="289874" y="663545"/>
                      <a:pt x="516190" y="419525"/>
                    </a:cubicBezTo>
                    <a:cubicBezTo>
                      <a:pt x="518332" y="417385"/>
                      <a:pt x="520474" y="415958"/>
                      <a:pt x="522615" y="415244"/>
                    </a:cubicBezTo>
                    <a:cubicBezTo>
                      <a:pt x="522615" y="415244"/>
                      <a:pt x="522615" y="415244"/>
                      <a:pt x="653979" y="374574"/>
                    </a:cubicBezTo>
                    <a:close/>
                    <a:moveTo>
                      <a:pt x="1281112" y="38186"/>
                    </a:moveTo>
                    <a:cubicBezTo>
                      <a:pt x="1281112" y="38186"/>
                      <a:pt x="1281112" y="38186"/>
                      <a:pt x="1063703" y="122462"/>
                    </a:cubicBezTo>
                    <a:cubicBezTo>
                      <a:pt x="1043745" y="129604"/>
                      <a:pt x="1023073" y="133889"/>
                      <a:pt x="1001688" y="133889"/>
                    </a:cubicBezTo>
                    <a:cubicBezTo>
                      <a:pt x="998124" y="133889"/>
                      <a:pt x="993848" y="133889"/>
                      <a:pt x="989571" y="133174"/>
                    </a:cubicBezTo>
                    <a:cubicBezTo>
                      <a:pt x="989571" y="133174"/>
                      <a:pt x="989571" y="133174"/>
                      <a:pt x="902607" y="126747"/>
                    </a:cubicBezTo>
                    <a:cubicBezTo>
                      <a:pt x="891202" y="126033"/>
                      <a:pt x="879797" y="126033"/>
                      <a:pt x="868392" y="126033"/>
                    </a:cubicBezTo>
                    <a:cubicBezTo>
                      <a:pt x="819920" y="126033"/>
                      <a:pt x="772162" y="133174"/>
                      <a:pt x="725829" y="147458"/>
                    </a:cubicBezTo>
                    <a:cubicBezTo>
                      <a:pt x="725829" y="147458"/>
                      <a:pt x="725829" y="147458"/>
                      <a:pt x="716562" y="150315"/>
                    </a:cubicBezTo>
                    <a:cubicBezTo>
                      <a:pt x="656686" y="168884"/>
                      <a:pt x="603225" y="204594"/>
                      <a:pt x="562594" y="253160"/>
                    </a:cubicBezTo>
                    <a:cubicBezTo>
                      <a:pt x="562594" y="253160"/>
                      <a:pt x="562594" y="253160"/>
                      <a:pt x="528379" y="292441"/>
                    </a:cubicBezTo>
                    <a:cubicBezTo>
                      <a:pt x="519112" y="304582"/>
                      <a:pt x="519825" y="321723"/>
                      <a:pt x="531230" y="331722"/>
                    </a:cubicBezTo>
                    <a:cubicBezTo>
                      <a:pt x="536220" y="336721"/>
                      <a:pt x="543348" y="338864"/>
                      <a:pt x="549763" y="338864"/>
                    </a:cubicBezTo>
                    <a:cubicBezTo>
                      <a:pt x="558317" y="338864"/>
                      <a:pt x="565445" y="335293"/>
                      <a:pt x="571148" y="329579"/>
                    </a:cubicBezTo>
                    <a:cubicBezTo>
                      <a:pt x="571148" y="329579"/>
                      <a:pt x="571148" y="329579"/>
                      <a:pt x="576850" y="323151"/>
                    </a:cubicBezTo>
                    <a:cubicBezTo>
                      <a:pt x="576850" y="323151"/>
                      <a:pt x="576850" y="323151"/>
                      <a:pt x="606076" y="289584"/>
                    </a:cubicBezTo>
                    <a:cubicBezTo>
                      <a:pt x="614630" y="279585"/>
                      <a:pt x="624609" y="271015"/>
                      <a:pt x="634588" y="262444"/>
                    </a:cubicBezTo>
                    <a:cubicBezTo>
                      <a:pt x="638152" y="259588"/>
                      <a:pt x="641717" y="257445"/>
                      <a:pt x="644568" y="254588"/>
                    </a:cubicBezTo>
                    <a:cubicBezTo>
                      <a:pt x="652409" y="248875"/>
                      <a:pt x="660963" y="243875"/>
                      <a:pt x="668804" y="239590"/>
                    </a:cubicBezTo>
                    <a:cubicBezTo>
                      <a:pt x="685198" y="231020"/>
                      <a:pt x="701593" y="223878"/>
                      <a:pt x="719413" y="218878"/>
                    </a:cubicBezTo>
                    <a:cubicBezTo>
                      <a:pt x="719413" y="218878"/>
                      <a:pt x="719413" y="218878"/>
                      <a:pt x="724403" y="217450"/>
                    </a:cubicBezTo>
                    <a:cubicBezTo>
                      <a:pt x="743649" y="212450"/>
                      <a:pt x="763608" y="209594"/>
                      <a:pt x="783567" y="209594"/>
                    </a:cubicBezTo>
                    <a:cubicBezTo>
                      <a:pt x="784992" y="209594"/>
                      <a:pt x="785705" y="209594"/>
                      <a:pt x="786418" y="209594"/>
                    </a:cubicBezTo>
                    <a:cubicBezTo>
                      <a:pt x="798536" y="209594"/>
                      <a:pt x="811367" y="211022"/>
                      <a:pt x="823485" y="213165"/>
                    </a:cubicBezTo>
                    <a:cubicBezTo>
                      <a:pt x="837741" y="215307"/>
                      <a:pt x="852710" y="219592"/>
                      <a:pt x="866966" y="225306"/>
                    </a:cubicBezTo>
                    <a:cubicBezTo>
                      <a:pt x="866966" y="225306"/>
                      <a:pt x="866966" y="225306"/>
                      <a:pt x="885500" y="233162"/>
                    </a:cubicBezTo>
                    <a:cubicBezTo>
                      <a:pt x="896192" y="237447"/>
                      <a:pt x="903320" y="247446"/>
                      <a:pt x="904033" y="259588"/>
                    </a:cubicBezTo>
                    <a:cubicBezTo>
                      <a:pt x="904033" y="259588"/>
                      <a:pt x="904033" y="260302"/>
                      <a:pt x="904033" y="261016"/>
                    </a:cubicBezTo>
                    <a:cubicBezTo>
                      <a:pt x="904033" y="262444"/>
                      <a:pt x="904033" y="263873"/>
                      <a:pt x="903320" y="264587"/>
                    </a:cubicBezTo>
                    <a:cubicBezTo>
                      <a:pt x="903320" y="266730"/>
                      <a:pt x="902607" y="268872"/>
                      <a:pt x="901894" y="271015"/>
                    </a:cubicBezTo>
                    <a:cubicBezTo>
                      <a:pt x="901894" y="271729"/>
                      <a:pt x="901894" y="272443"/>
                      <a:pt x="901181" y="273157"/>
                    </a:cubicBezTo>
                    <a:cubicBezTo>
                      <a:pt x="899756" y="276014"/>
                      <a:pt x="898330" y="278157"/>
                      <a:pt x="896192" y="281014"/>
                    </a:cubicBezTo>
                    <a:cubicBezTo>
                      <a:pt x="895479" y="281014"/>
                      <a:pt x="895479" y="281728"/>
                      <a:pt x="894766" y="282442"/>
                    </a:cubicBezTo>
                    <a:cubicBezTo>
                      <a:pt x="889776" y="286727"/>
                      <a:pt x="884074" y="289584"/>
                      <a:pt x="876946" y="290298"/>
                    </a:cubicBezTo>
                    <a:cubicBezTo>
                      <a:pt x="876946" y="290298"/>
                      <a:pt x="876946" y="290298"/>
                      <a:pt x="789269" y="298868"/>
                    </a:cubicBezTo>
                    <a:cubicBezTo>
                      <a:pt x="780003" y="299583"/>
                      <a:pt x="772875" y="306010"/>
                      <a:pt x="769311" y="313867"/>
                    </a:cubicBezTo>
                    <a:cubicBezTo>
                      <a:pt x="768598" y="316723"/>
                      <a:pt x="767885" y="319580"/>
                      <a:pt x="767885" y="323151"/>
                    </a:cubicBezTo>
                    <a:cubicBezTo>
                      <a:pt x="767885" y="336007"/>
                      <a:pt x="777864" y="346006"/>
                      <a:pt x="790695" y="346720"/>
                    </a:cubicBezTo>
                    <a:cubicBezTo>
                      <a:pt x="790695" y="346720"/>
                      <a:pt x="790695" y="346720"/>
                      <a:pt x="981017" y="356719"/>
                    </a:cubicBezTo>
                    <a:cubicBezTo>
                      <a:pt x="981017" y="356719"/>
                      <a:pt x="981017" y="356719"/>
                      <a:pt x="990283" y="357433"/>
                    </a:cubicBezTo>
                    <a:cubicBezTo>
                      <a:pt x="990283" y="357433"/>
                      <a:pt x="990283" y="357433"/>
                      <a:pt x="1002401" y="358147"/>
                    </a:cubicBezTo>
                    <a:cubicBezTo>
                      <a:pt x="1002401" y="358147"/>
                      <a:pt x="1002401" y="358147"/>
                      <a:pt x="1014519" y="358147"/>
                    </a:cubicBezTo>
                    <a:cubicBezTo>
                      <a:pt x="1016658" y="358861"/>
                      <a:pt x="1018083" y="358861"/>
                      <a:pt x="1019509" y="358861"/>
                    </a:cubicBezTo>
                    <a:cubicBezTo>
                      <a:pt x="1021647" y="358861"/>
                      <a:pt x="1024499" y="358861"/>
                      <a:pt x="1026637" y="358147"/>
                    </a:cubicBezTo>
                    <a:cubicBezTo>
                      <a:pt x="1030201" y="358147"/>
                      <a:pt x="1034478" y="357433"/>
                      <a:pt x="1038042" y="356719"/>
                    </a:cubicBezTo>
                    <a:cubicBezTo>
                      <a:pt x="1049447" y="354576"/>
                      <a:pt x="1060139" y="351005"/>
                      <a:pt x="1070119" y="345291"/>
                    </a:cubicBezTo>
                    <a:cubicBezTo>
                      <a:pt x="1070119" y="345291"/>
                      <a:pt x="1070119" y="345291"/>
                      <a:pt x="1281112" y="224592"/>
                    </a:cubicBezTo>
                    <a:cubicBezTo>
                      <a:pt x="1281112" y="224592"/>
                      <a:pt x="1281112" y="224592"/>
                      <a:pt x="1281112" y="38186"/>
                    </a:cubicBezTo>
                    <a:close/>
                    <a:moveTo>
                      <a:pt x="1291431" y="1190"/>
                    </a:moveTo>
                    <a:cubicBezTo>
                      <a:pt x="1302147" y="-3089"/>
                      <a:pt x="1312862" y="4757"/>
                      <a:pt x="1312862" y="15455"/>
                    </a:cubicBezTo>
                    <a:lnTo>
                      <a:pt x="1312862" y="234415"/>
                    </a:lnTo>
                    <a:cubicBezTo>
                      <a:pt x="1312862" y="240121"/>
                      <a:pt x="1310005" y="245113"/>
                      <a:pt x="1305004" y="247966"/>
                    </a:cubicBezTo>
                    <a:cubicBezTo>
                      <a:pt x="1085691" y="372781"/>
                      <a:pt x="1085691" y="372781"/>
                      <a:pt x="1085691" y="372781"/>
                    </a:cubicBezTo>
                    <a:cubicBezTo>
                      <a:pt x="1072832" y="380626"/>
                      <a:pt x="1058545" y="385619"/>
                      <a:pt x="1043543" y="388471"/>
                    </a:cubicBezTo>
                    <a:cubicBezTo>
                      <a:pt x="1038542" y="389185"/>
                      <a:pt x="1033542" y="389898"/>
                      <a:pt x="1028541" y="389898"/>
                    </a:cubicBezTo>
                    <a:cubicBezTo>
                      <a:pt x="1025683" y="389898"/>
                      <a:pt x="1022112" y="390611"/>
                      <a:pt x="1019254" y="390611"/>
                    </a:cubicBezTo>
                    <a:cubicBezTo>
                      <a:pt x="1017111" y="390611"/>
                      <a:pt x="1015682" y="390611"/>
                      <a:pt x="1013539" y="389898"/>
                    </a:cubicBezTo>
                    <a:cubicBezTo>
                      <a:pt x="1012110" y="389898"/>
                      <a:pt x="1012110" y="389898"/>
                      <a:pt x="1012110" y="389898"/>
                    </a:cubicBezTo>
                    <a:cubicBezTo>
                      <a:pt x="787797" y="378486"/>
                      <a:pt x="787797" y="378486"/>
                      <a:pt x="787797" y="378486"/>
                    </a:cubicBezTo>
                    <a:cubicBezTo>
                      <a:pt x="758507" y="377060"/>
                      <a:pt x="735647" y="352810"/>
                      <a:pt x="735647" y="323568"/>
                    </a:cubicBezTo>
                    <a:cubicBezTo>
                      <a:pt x="735647" y="316436"/>
                      <a:pt x="737076" y="309304"/>
                      <a:pt x="739219" y="302885"/>
                    </a:cubicBezTo>
                    <a:cubicBezTo>
                      <a:pt x="747077" y="283627"/>
                      <a:pt x="764937" y="270076"/>
                      <a:pt x="785653" y="267937"/>
                    </a:cubicBezTo>
                    <a:cubicBezTo>
                      <a:pt x="867092" y="260091"/>
                      <a:pt x="867092" y="260091"/>
                      <a:pt x="867092" y="260091"/>
                    </a:cubicBezTo>
                    <a:cubicBezTo>
                      <a:pt x="854233" y="255098"/>
                      <a:pt x="854233" y="255098"/>
                      <a:pt x="854233" y="255098"/>
                    </a:cubicBezTo>
                    <a:cubicBezTo>
                      <a:pt x="842089" y="250106"/>
                      <a:pt x="829945" y="246540"/>
                      <a:pt x="817086" y="244400"/>
                    </a:cubicBezTo>
                    <a:cubicBezTo>
                      <a:pt x="806370" y="242260"/>
                      <a:pt x="795655" y="241547"/>
                      <a:pt x="784939" y="241547"/>
                    </a:cubicBezTo>
                    <a:cubicBezTo>
                      <a:pt x="782796" y="241547"/>
                      <a:pt x="782796" y="241547"/>
                      <a:pt x="782796" y="241547"/>
                    </a:cubicBezTo>
                    <a:cubicBezTo>
                      <a:pt x="765651" y="241547"/>
                      <a:pt x="748506" y="243687"/>
                      <a:pt x="732075" y="248679"/>
                    </a:cubicBezTo>
                    <a:cubicBezTo>
                      <a:pt x="727075" y="249393"/>
                      <a:pt x="727075" y="249393"/>
                      <a:pt x="727075" y="249393"/>
                    </a:cubicBezTo>
                    <a:cubicBezTo>
                      <a:pt x="712073" y="253672"/>
                      <a:pt x="697071" y="260091"/>
                      <a:pt x="683498" y="267223"/>
                    </a:cubicBezTo>
                    <a:cubicBezTo>
                      <a:pt x="675640" y="271503"/>
                      <a:pt x="668496" y="275782"/>
                      <a:pt x="662067" y="280775"/>
                    </a:cubicBezTo>
                    <a:cubicBezTo>
                      <a:pt x="659209" y="282914"/>
                      <a:pt x="656352" y="285054"/>
                      <a:pt x="653494" y="287194"/>
                    </a:cubicBezTo>
                    <a:cubicBezTo>
                      <a:pt x="644207" y="294326"/>
                      <a:pt x="636349" y="302885"/>
                      <a:pt x="628491" y="311443"/>
                    </a:cubicBezTo>
                    <a:cubicBezTo>
                      <a:pt x="593487" y="350671"/>
                      <a:pt x="593487" y="350671"/>
                      <a:pt x="593487" y="350671"/>
                    </a:cubicBezTo>
                    <a:cubicBezTo>
                      <a:pt x="582057" y="363509"/>
                      <a:pt x="565626" y="370641"/>
                      <a:pt x="548481" y="370641"/>
                    </a:cubicBezTo>
                    <a:cubicBezTo>
                      <a:pt x="532050" y="370641"/>
                      <a:pt x="515620" y="363509"/>
                      <a:pt x="504190" y="351384"/>
                    </a:cubicBezTo>
                    <a:cubicBezTo>
                      <a:pt x="484187" y="329274"/>
                      <a:pt x="484902" y="295039"/>
                      <a:pt x="504190" y="272216"/>
                    </a:cubicBezTo>
                    <a:cubicBezTo>
                      <a:pt x="537051" y="232988"/>
                      <a:pt x="537051" y="232988"/>
                      <a:pt x="537051" y="232988"/>
                    </a:cubicBezTo>
                    <a:cubicBezTo>
                      <a:pt x="582057" y="180210"/>
                      <a:pt x="639921" y="141696"/>
                      <a:pt x="706358" y="121012"/>
                    </a:cubicBezTo>
                    <a:cubicBezTo>
                      <a:pt x="715645" y="118159"/>
                      <a:pt x="715645" y="118159"/>
                      <a:pt x="715645" y="118159"/>
                    </a:cubicBezTo>
                    <a:cubicBezTo>
                      <a:pt x="764937" y="103182"/>
                      <a:pt x="815657" y="95336"/>
                      <a:pt x="867807" y="95336"/>
                    </a:cubicBezTo>
                    <a:cubicBezTo>
                      <a:pt x="879951" y="95336"/>
                      <a:pt x="892095" y="95336"/>
                      <a:pt x="904240" y="96049"/>
                    </a:cubicBezTo>
                    <a:cubicBezTo>
                      <a:pt x="991393" y="102468"/>
                      <a:pt x="991393" y="102468"/>
                      <a:pt x="991393" y="102468"/>
                    </a:cubicBezTo>
                    <a:cubicBezTo>
                      <a:pt x="994965" y="103182"/>
                      <a:pt x="998537" y="103182"/>
                      <a:pt x="1001395" y="103182"/>
                    </a:cubicBezTo>
                    <a:cubicBezTo>
                      <a:pt x="1019254" y="103182"/>
                      <a:pt x="1035685" y="99615"/>
                      <a:pt x="1052115" y="93910"/>
                    </a:cubicBezTo>
                    <a:cubicBezTo>
                      <a:pt x="1291431" y="1190"/>
                      <a:pt x="1291431" y="1190"/>
                      <a:pt x="1291431" y="1190"/>
                    </a:cubicBez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71" name="Freeform 11">
                <a:extLst>
                  <a:ext uri="{FF2B5EF4-FFF2-40B4-BE49-F238E27FC236}">
                    <a16:creationId xmlns:a16="http://schemas.microsoft.com/office/drawing/2014/main" id="{0A11546A-B03A-4AF0-8F3E-9DB8E05BC6F2}"/>
                  </a:ext>
                </a:extLst>
              </p:cNvPr>
              <p:cNvSpPr>
                <a:spLocks noEditPoints="1"/>
              </p:cNvSpPr>
              <p:nvPr/>
            </p:nvSpPr>
            <p:spPr bwMode="auto">
              <a:xfrm>
                <a:off x="5795963" y="3219450"/>
                <a:ext cx="371475" cy="384175"/>
              </a:xfrm>
              <a:custGeom>
                <a:avLst/>
                <a:gdLst>
                  <a:gd name="T0" fmla="*/ 413 w 522"/>
                  <a:gd name="T1" fmla="*/ 80 h 537"/>
                  <a:gd name="T2" fmla="*/ 378 w 522"/>
                  <a:gd name="T3" fmla="*/ 114 h 537"/>
                  <a:gd name="T4" fmla="*/ 413 w 522"/>
                  <a:gd name="T5" fmla="*/ 148 h 537"/>
                  <a:gd name="T6" fmla="*/ 447 w 522"/>
                  <a:gd name="T7" fmla="*/ 114 h 537"/>
                  <a:gd name="T8" fmla="*/ 413 w 522"/>
                  <a:gd name="T9" fmla="*/ 80 h 537"/>
                  <a:gd name="T10" fmla="*/ 409 w 522"/>
                  <a:gd name="T11" fmla="*/ 0 h 537"/>
                  <a:gd name="T12" fmla="*/ 522 w 522"/>
                  <a:gd name="T13" fmla="*/ 102 h 537"/>
                  <a:gd name="T14" fmla="*/ 485 w 522"/>
                  <a:gd name="T15" fmla="*/ 246 h 537"/>
                  <a:gd name="T16" fmla="*/ 221 w 522"/>
                  <a:gd name="T17" fmla="*/ 537 h 537"/>
                  <a:gd name="T18" fmla="*/ 0 w 522"/>
                  <a:gd name="T19" fmla="*/ 335 h 537"/>
                  <a:gd name="T20" fmla="*/ 269 w 522"/>
                  <a:gd name="T21" fmla="*/ 44 h 537"/>
                  <a:gd name="T22" fmla="*/ 409 w 522"/>
                  <a:gd name="T23" fmla="*/ 0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2" h="537">
                    <a:moveTo>
                      <a:pt x="413" y="80"/>
                    </a:moveTo>
                    <a:cubicBezTo>
                      <a:pt x="394" y="80"/>
                      <a:pt x="378" y="95"/>
                      <a:pt x="378" y="114"/>
                    </a:cubicBezTo>
                    <a:cubicBezTo>
                      <a:pt x="378" y="133"/>
                      <a:pt x="394" y="148"/>
                      <a:pt x="413" y="148"/>
                    </a:cubicBezTo>
                    <a:cubicBezTo>
                      <a:pt x="431" y="148"/>
                      <a:pt x="447" y="133"/>
                      <a:pt x="447" y="114"/>
                    </a:cubicBezTo>
                    <a:cubicBezTo>
                      <a:pt x="447" y="95"/>
                      <a:pt x="431" y="80"/>
                      <a:pt x="413" y="80"/>
                    </a:cubicBezTo>
                    <a:close/>
                    <a:moveTo>
                      <a:pt x="409" y="0"/>
                    </a:moveTo>
                    <a:cubicBezTo>
                      <a:pt x="409" y="0"/>
                      <a:pt x="409" y="0"/>
                      <a:pt x="522" y="102"/>
                    </a:cubicBezTo>
                    <a:cubicBezTo>
                      <a:pt x="522" y="102"/>
                      <a:pt x="522" y="102"/>
                      <a:pt x="485" y="246"/>
                    </a:cubicBezTo>
                    <a:cubicBezTo>
                      <a:pt x="485" y="246"/>
                      <a:pt x="485" y="246"/>
                      <a:pt x="221" y="537"/>
                    </a:cubicBezTo>
                    <a:cubicBezTo>
                      <a:pt x="221" y="537"/>
                      <a:pt x="221" y="537"/>
                      <a:pt x="0" y="335"/>
                    </a:cubicBezTo>
                    <a:cubicBezTo>
                      <a:pt x="0" y="335"/>
                      <a:pt x="0" y="335"/>
                      <a:pt x="269" y="44"/>
                    </a:cubicBezTo>
                    <a:cubicBezTo>
                      <a:pt x="269" y="44"/>
                      <a:pt x="269" y="44"/>
                      <a:pt x="409" y="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72" name="ee4pFootnotes">
            <a:extLst>
              <a:ext uri="{FF2B5EF4-FFF2-40B4-BE49-F238E27FC236}">
                <a16:creationId xmlns:a16="http://schemas.microsoft.com/office/drawing/2014/main" id="{3D7279FD-8F11-46D7-824E-B2168EEAF00B}"/>
              </a:ext>
            </a:extLst>
          </p:cNvPr>
          <p:cNvSpPr>
            <a:spLocks noChangeArrowheads="1"/>
          </p:cNvSpPr>
          <p:nvPr/>
        </p:nvSpPr>
        <p:spPr bwMode="auto">
          <a:xfrm>
            <a:off x="630000" y="6638573"/>
            <a:ext cx="9030914" cy="138499"/>
          </a:xfrm>
          <a:prstGeom prst="rect">
            <a:avLst/>
          </a:prstGeom>
          <a:noFill/>
          <a:ln w="9525" algn="ctr">
            <a:noFill/>
            <a:miter lim="800000"/>
            <a:headEnd type="none" w="lg" len="lg"/>
            <a:tailEnd type="none" w="lg" len="lg"/>
          </a:ln>
        </p:spPr>
        <p:txBody>
          <a:bodyPr vert="horz" wrap="square" lIns="0" tIns="0" rIns="0" bIns="0" anchor="b" anchorCtr="0">
            <a:spAutoFit/>
          </a:bodyPr>
          <a:lstStyle/>
          <a:p>
            <a:pPr>
              <a:lnSpc>
                <a:spcPct val="90000"/>
              </a:lnSpc>
            </a:pPr>
            <a:r>
              <a:rPr lang="en-US" sz="1000">
                <a:solidFill>
                  <a:schemeClr val="bg1">
                    <a:lumMod val="50000"/>
                  </a:schemeClr>
                </a:solidFill>
                <a:latin typeface="Trebuchet MS" panose="020B0603020202020204" pitchFamily="34" charset="0"/>
                <a:cs typeface="Arial" pitchFamily="34" charset="0"/>
              </a:rPr>
              <a:t>1.PDP = Product Detail Page </a:t>
            </a:r>
          </a:p>
        </p:txBody>
      </p:sp>
      <p:sp>
        <p:nvSpPr>
          <p:cNvPr id="3" name="Textfeld 1">
            <a:extLst>
              <a:ext uri="{FF2B5EF4-FFF2-40B4-BE49-F238E27FC236}">
                <a16:creationId xmlns:a16="http://schemas.microsoft.com/office/drawing/2014/main" id="{89465BDA-147C-D1A8-9BB6-774CEBAA0003}"/>
              </a:ext>
            </a:extLst>
          </p:cNvPr>
          <p:cNvSpPr txBox="1"/>
          <p:nvPr>
            <p:custDataLst>
              <p:tags r:id="rId3"/>
            </p:custDataLst>
          </p:nvPr>
        </p:nvSpPr>
        <p:spPr>
          <a:xfrm>
            <a:off x="25200" y="1015200"/>
            <a:ext cx="2743200" cy="406265"/>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en-US" sz="1200" b="1">
                <a:solidFill>
                  <a:srgbClr val="575757"/>
                </a:solidFill>
                <a:sym typeface="Trebuchet MS" panose="020B0603020202020204" pitchFamily="34" charset="0"/>
              </a:rPr>
              <a:t>TM 13.Jun.24:</a:t>
            </a:r>
            <a:r>
              <a:rPr lang="en-US" altLang="zh-TW" sz="1200" b="1">
                <a:solidFill>
                  <a:srgbClr val="575757"/>
                </a:solidFill>
                <a:sym typeface="Trebuchet MS" panose="020B0603020202020204" pitchFamily="34" charset="0"/>
              </a:rPr>
              <a:t>Personalization </a:t>
            </a:r>
            <a:r>
              <a:rPr lang="zh-TW" altLang="en-US" sz="1200" b="1">
                <a:solidFill>
                  <a:srgbClr val="575757"/>
                </a:solidFill>
                <a:sym typeface="Trebuchet MS" panose="020B0603020202020204" pitchFamily="34" charset="0"/>
              </a:rPr>
              <a:t>不僅局限于精準行銷手段</a:t>
            </a:r>
            <a:endParaRPr lang="en-US" sz="1200" b="1">
              <a:solidFill>
                <a:srgbClr val="575757"/>
              </a:solidFill>
              <a:sym typeface="Trebuchet MS" panose="020B0603020202020204" pitchFamily="34" charset="0"/>
            </a:endParaRPr>
          </a:p>
        </p:txBody>
      </p:sp>
    </p:spTree>
    <p:extLst>
      <p:ext uri="{BB962C8B-B14F-4D97-AF65-F5344CB8AC3E}">
        <p14:creationId xmlns:p14="http://schemas.microsoft.com/office/powerpoint/2010/main" val="205436883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30" name="think-cell data - do not delete" hidden="1">
            <a:extLst>
              <a:ext uri="{FF2B5EF4-FFF2-40B4-BE49-F238E27FC236}">
                <a16:creationId xmlns:a16="http://schemas.microsoft.com/office/drawing/2014/main" id="{F4AAA844-3190-9995-D915-79842CE2F7CD}"/>
              </a:ext>
            </a:extLst>
          </p:cNvPr>
          <p:cNvGraphicFramePr>
            <a:graphicFrameLocks noChangeAspect="1"/>
          </p:cNvGraphicFramePr>
          <p:nvPr>
            <p:custDataLst>
              <p:tags r:id="rId1"/>
            </p:custDataLst>
            <p:extLst>
              <p:ext uri="{D42A27DB-BD31-4B8C-83A1-F6EECF244321}">
                <p14:modId xmlns:p14="http://schemas.microsoft.com/office/powerpoint/2010/main" val="98138383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404" imgH="405" progId="TCLayout.ActiveDocument.1">
                  <p:embed/>
                </p:oleObj>
              </mc:Choice>
              <mc:Fallback>
                <p:oleObj name="think-cell Slide" r:id="rId5" imgW="404" imgH="405" progId="TCLayout.ActiveDocument.1">
                  <p:embed/>
                  <p:pic>
                    <p:nvPicPr>
                      <p:cNvPr id="30" name="think-cell data - do not delete" hidden="1">
                        <a:extLst>
                          <a:ext uri="{FF2B5EF4-FFF2-40B4-BE49-F238E27FC236}">
                            <a16:creationId xmlns:a16="http://schemas.microsoft.com/office/drawing/2014/main" id="{F4AAA844-3190-9995-D915-79842CE2F7CD}"/>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2" name="object 2"/>
          <p:cNvSpPr txBox="1"/>
          <p:nvPr/>
        </p:nvSpPr>
        <p:spPr>
          <a:xfrm>
            <a:off x="11470640" y="6392367"/>
            <a:ext cx="92075" cy="166071"/>
          </a:xfrm>
          <a:prstGeom prst="rect">
            <a:avLst/>
          </a:prstGeom>
        </p:spPr>
        <p:txBody>
          <a:bodyPr vert="horz" wrap="square" lIns="0" tIns="12065" rIns="0" bIns="0" rtlCol="0">
            <a:spAutoFit/>
          </a:bodyPr>
          <a:lstStyle/>
          <a:p>
            <a:pPr marL="12700">
              <a:lnSpc>
                <a:spcPct val="100000"/>
              </a:lnSpc>
              <a:spcBef>
                <a:spcPts val="95"/>
              </a:spcBef>
            </a:pPr>
            <a:r>
              <a:rPr lang="en-US" sz="1000" spc="-50">
                <a:solidFill>
                  <a:srgbClr val="7E7E7E"/>
                </a:solidFill>
                <a:latin typeface="Trebuchet MS"/>
                <a:ea typeface="Microsoft YaHei" panose="020B0503020204020204" pitchFamily="34" charset="-122"/>
                <a:cs typeface="Trebuchet MS"/>
              </a:rPr>
              <a:t>9</a:t>
            </a:r>
            <a:endParaRPr lang="en-US" sz="1000">
              <a:latin typeface="Trebuchet MS"/>
              <a:ea typeface="Microsoft YaHei" panose="020B0503020204020204" pitchFamily="34" charset="-122"/>
              <a:cs typeface="Trebuchet MS"/>
            </a:endParaRPr>
          </a:p>
        </p:txBody>
      </p:sp>
      <p:sp>
        <p:nvSpPr>
          <p:cNvPr id="3" name="object 3"/>
          <p:cNvSpPr txBox="1"/>
          <p:nvPr/>
        </p:nvSpPr>
        <p:spPr>
          <a:xfrm>
            <a:off x="14886570" y="3898591"/>
            <a:ext cx="107722" cy="2653665"/>
          </a:xfrm>
          <a:prstGeom prst="rect">
            <a:avLst/>
          </a:prstGeom>
        </p:spPr>
        <p:txBody>
          <a:bodyPr vert="vert270" wrap="square" lIns="0" tIns="6350" rIns="0" bIns="0" rtlCol="0">
            <a:spAutoFit/>
          </a:bodyPr>
          <a:lstStyle/>
          <a:p>
            <a:pPr marL="12700">
              <a:lnSpc>
                <a:spcPct val="100000"/>
              </a:lnSpc>
              <a:spcBef>
                <a:spcPts val="50"/>
              </a:spcBef>
            </a:pPr>
            <a:r>
              <a:rPr lang="en-US" sz="700">
                <a:solidFill>
                  <a:srgbClr val="7E7E7E"/>
                </a:solidFill>
                <a:latin typeface="Trebuchet MS"/>
                <a:ea typeface="Microsoft YaHei" panose="020B0503020204020204" pitchFamily="34" charset="-122"/>
                <a:cs typeface="Trebuchet MS"/>
              </a:rPr>
              <a:t>Copyright</a:t>
            </a:r>
            <a:r>
              <a:rPr lang="en-US" sz="700" spc="-25">
                <a:solidFill>
                  <a:srgbClr val="7E7E7E"/>
                </a:solidFill>
                <a:latin typeface="Trebuchet MS"/>
                <a:ea typeface="Microsoft YaHei" panose="020B0503020204020204" pitchFamily="34" charset="-122"/>
                <a:cs typeface="Trebuchet MS"/>
              </a:rPr>
              <a:t> </a:t>
            </a:r>
            <a:r>
              <a:rPr lang="en-US" sz="700">
                <a:solidFill>
                  <a:srgbClr val="7E7E7E"/>
                </a:solidFill>
                <a:latin typeface="Trebuchet MS"/>
                <a:ea typeface="Microsoft YaHei" panose="020B0503020204020204" pitchFamily="34" charset="-122"/>
                <a:cs typeface="Trebuchet MS"/>
              </a:rPr>
              <a:t>©</a:t>
            </a:r>
            <a:r>
              <a:rPr lang="en-US" sz="700" spc="-25">
                <a:solidFill>
                  <a:srgbClr val="7E7E7E"/>
                </a:solidFill>
                <a:latin typeface="Trebuchet MS"/>
                <a:ea typeface="Microsoft YaHei" panose="020B0503020204020204" pitchFamily="34" charset="-122"/>
                <a:cs typeface="Trebuchet MS"/>
              </a:rPr>
              <a:t> </a:t>
            </a:r>
            <a:r>
              <a:rPr lang="en-US" sz="700">
                <a:solidFill>
                  <a:srgbClr val="7E7E7E"/>
                </a:solidFill>
                <a:latin typeface="Trebuchet MS"/>
                <a:ea typeface="Microsoft YaHei" panose="020B0503020204020204" pitchFamily="34" charset="-122"/>
                <a:cs typeface="Trebuchet MS"/>
              </a:rPr>
              <a:t>2020</a:t>
            </a:r>
            <a:r>
              <a:rPr lang="en-US" sz="700" spc="-15">
                <a:solidFill>
                  <a:srgbClr val="7E7E7E"/>
                </a:solidFill>
                <a:latin typeface="Trebuchet MS"/>
                <a:ea typeface="Microsoft YaHei" panose="020B0503020204020204" pitchFamily="34" charset="-122"/>
                <a:cs typeface="Trebuchet MS"/>
              </a:rPr>
              <a:t> </a:t>
            </a:r>
            <a:r>
              <a:rPr lang="en-US" sz="700">
                <a:solidFill>
                  <a:srgbClr val="7E7E7E"/>
                </a:solidFill>
                <a:latin typeface="Trebuchet MS"/>
                <a:ea typeface="Microsoft YaHei" panose="020B0503020204020204" pitchFamily="34" charset="-122"/>
                <a:cs typeface="Trebuchet MS"/>
              </a:rPr>
              <a:t>by</a:t>
            </a:r>
            <a:r>
              <a:rPr lang="en-US" sz="700" spc="-20">
                <a:solidFill>
                  <a:srgbClr val="7E7E7E"/>
                </a:solidFill>
                <a:latin typeface="Trebuchet MS"/>
                <a:ea typeface="Microsoft YaHei" panose="020B0503020204020204" pitchFamily="34" charset="-122"/>
                <a:cs typeface="Trebuchet MS"/>
              </a:rPr>
              <a:t> </a:t>
            </a:r>
            <a:r>
              <a:rPr lang="en-US" sz="700">
                <a:solidFill>
                  <a:srgbClr val="7E7E7E"/>
                </a:solidFill>
                <a:latin typeface="Trebuchet MS"/>
                <a:ea typeface="Microsoft YaHei" panose="020B0503020204020204" pitchFamily="34" charset="-122"/>
                <a:cs typeface="Trebuchet MS"/>
              </a:rPr>
              <a:t>Boston </a:t>
            </a:r>
            <a:r>
              <a:rPr lang="en-US" sz="700" spc="-10">
                <a:solidFill>
                  <a:srgbClr val="7E7E7E"/>
                </a:solidFill>
                <a:latin typeface="Trebuchet MS"/>
                <a:ea typeface="Microsoft YaHei" panose="020B0503020204020204" pitchFamily="34" charset="-122"/>
                <a:cs typeface="Trebuchet MS"/>
              </a:rPr>
              <a:t>Consulting </a:t>
            </a:r>
            <a:r>
              <a:rPr lang="en-US" sz="700">
                <a:solidFill>
                  <a:srgbClr val="7E7E7E"/>
                </a:solidFill>
                <a:latin typeface="Trebuchet MS"/>
                <a:ea typeface="Microsoft YaHei" panose="020B0503020204020204" pitchFamily="34" charset="-122"/>
                <a:cs typeface="Trebuchet MS"/>
              </a:rPr>
              <a:t>Group.</a:t>
            </a:r>
            <a:r>
              <a:rPr lang="en-US" sz="700" spc="-5">
                <a:solidFill>
                  <a:srgbClr val="7E7E7E"/>
                </a:solidFill>
                <a:latin typeface="Trebuchet MS"/>
                <a:ea typeface="Microsoft YaHei" panose="020B0503020204020204" pitchFamily="34" charset="-122"/>
                <a:cs typeface="Trebuchet MS"/>
              </a:rPr>
              <a:t> </a:t>
            </a:r>
            <a:r>
              <a:rPr lang="en-US" sz="700">
                <a:solidFill>
                  <a:srgbClr val="7E7E7E"/>
                </a:solidFill>
                <a:latin typeface="Trebuchet MS"/>
                <a:ea typeface="Microsoft YaHei" panose="020B0503020204020204" pitchFamily="34" charset="-122"/>
                <a:cs typeface="Trebuchet MS"/>
              </a:rPr>
              <a:t>All</a:t>
            </a:r>
            <a:r>
              <a:rPr lang="en-US" sz="700" spc="-5">
                <a:solidFill>
                  <a:srgbClr val="7E7E7E"/>
                </a:solidFill>
                <a:latin typeface="Trebuchet MS"/>
                <a:ea typeface="Microsoft YaHei" panose="020B0503020204020204" pitchFamily="34" charset="-122"/>
                <a:cs typeface="Trebuchet MS"/>
              </a:rPr>
              <a:t> </a:t>
            </a:r>
            <a:r>
              <a:rPr lang="en-US" sz="700">
                <a:solidFill>
                  <a:srgbClr val="7E7E7E"/>
                </a:solidFill>
                <a:latin typeface="Trebuchet MS"/>
                <a:ea typeface="Microsoft YaHei" panose="020B0503020204020204" pitchFamily="34" charset="-122"/>
                <a:cs typeface="Trebuchet MS"/>
              </a:rPr>
              <a:t>rights</a:t>
            </a:r>
            <a:r>
              <a:rPr lang="en-US" sz="700" spc="-25">
                <a:solidFill>
                  <a:srgbClr val="7E7E7E"/>
                </a:solidFill>
                <a:latin typeface="Trebuchet MS"/>
                <a:ea typeface="Microsoft YaHei" panose="020B0503020204020204" pitchFamily="34" charset="-122"/>
                <a:cs typeface="Trebuchet MS"/>
              </a:rPr>
              <a:t> </a:t>
            </a:r>
            <a:r>
              <a:rPr lang="en-US" sz="700" spc="-10">
                <a:solidFill>
                  <a:srgbClr val="7E7E7E"/>
                </a:solidFill>
                <a:latin typeface="Trebuchet MS"/>
                <a:ea typeface="Microsoft YaHei" panose="020B0503020204020204" pitchFamily="34" charset="-122"/>
                <a:cs typeface="Trebuchet MS"/>
              </a:rPr>
              <a:t>reserved.</a:t>
            </a:r>
            <a:endParaRPr lang="en-US" sz="700">
              <a:latin typeface="Trebuchet MS"/>
              <a:ea typeface="Microsoft YaHei" panose="020B0503020204020204" pitchFamily="34" charset="-122"/>
              <a:cs typeface="Trebuchet MS"/>
            </a:endParaRPr>
          </a:p>
        </p:txBody>
      </p:sp>
      <p:grpSp>
        <p:nvGrpSpPr>
          <p:cNvPr id="4" name="object 4"/>
          <p:cNvGrpSpPr/>
          <p:nvPr/>
        </p:nvGrpSpPr>
        <p:grpSpPr>
          <a:xfrm>
            <a:off x="3570732" y="1717039"/>
            <a:ext cx="4542028" cy="4522470"/>
            <a:chOff x="3570732" y="1717039"/>
            <a:chExt cx="4542028" cy="4522470"/>
          </a:xfrm>
        </p:grpSpPr>
        <p:sp>
          <p:nvSpPr>
            <p:cNvPr id="5" name="object 5"/>
            <p:cNvSpPr/>
            <p:nvPr/>
          </p:nvSpPr>
          <p:spPr>
            <a:xfrm>
              <a:off x="3570732" y="1717039"/>
              <a:ext cx="2207260" cy="2044700"/>
            </a:xfrm>
            <a:custGeom>
              <a:avLst/>
              <a:gdLst/>
              <a:ahLst/>
              <a:cxnLst/>
              <a:rect l="l" t="t" r="r" b="b"/>
              <a:pathLst>
                <a:path w="2207260" h="2044700">
                  <a:moveTo>
                    <a:pt x="2206752" y="143764"/>
                  </a:moveTo>
                  <a:lnTo>
                    <a:pt x="2063496" y="143764"/>
                  </a:lnTo>
                  <a:lnTo>
                    <a:pt x="2063496" y="1900936"/>
                  </a:lnTo>
                  <a:lnTo>
                    <a:pt x="2206752" y="1900948"/>
                  </a:lnTo>
                  <a:lnTo>
                    <a:pt x="2206752" y="143764"/>
                  </a:lnTo>
                  <a:close/>
                </a:path>
                <a:path w="2207260" h="2044700">
                  <a:moveTo>
                    <a:pt x="2206752" y="0"/>
                  </a:moveTo>
                  <a:lnTo>
                    <a:pt x="0" y="0"/>
                  </a:lnTo>
                  <a:lnTo>
                    <a:pt x="0" y="143510"/>
                  </a:lnTo>
                  <a:lnTo>
                    <a:pt x="0" y="1901190"/>
                  </a:lnTo>
                  <a:lnTo>
                    <a:pt x="0" y="2044700"/>
                  </a:lnTo>
                  <a:lnTo>
                    <a:pt x="2206752" y="2044700"/>
                  </a:lnTo>
                  <a:lnTo>
                    <a:pt x="2206752" y="1901190"/>
                  </a:lnTo>
                  <a:lnTo>
                    <a:pt x="143256" y="1901190"/>
                  </a:lnTo>
                  <a:lnTo>
                    <a:pt x="143256" y="143510"/>
                  </a:lnTo>
                  <a:lnTo>
                    <a:pt x="2206752" y="143510"/>
                  </a:lnTo>
                  <a:lnTo>
                    <a:pt x="2206752" y="0"/>
                  </a:lnTo>
                  <a:close/>
                </a:path>
              </a:pathLst>
            </a:custGeom>
            <a:solidFill>
              <a:srgbClr val="29B974"/>
            </a:solidFill>
          </p:spPr>
          <p:txBody>
            <a:bodyPr wrap="square" lIns="0" tIns="0" rIns="0" bIns="0" rtlCol="0"/>
            <a:lstStyle/>
            <a:p>
              <a:endParaRPr>
                <a:ea typeface="Microsoft YaHei" panose="020B0503020204020204" pitchFamily="34" charset="-122"/>
              </a:endParaRPr>
            </a:p>
          </p:txBody>
        </p:sp>
        <p:sp>
          <p:nvSpPr>
            <p:cNvPr id="6" name="object 6"/>
            <p:cNvSpPr/>
            <p:nvPr/>
          </p:nvSpPr>
          <p:spPr>
            <a:xfrm>
              <a:off x="5905500" y="1717039"/>
              <a:ext cx="2207260" cy="2044700"/>
            </a:xfrm>
            <a:custGeom>
              <a:avLst/>
              <a:gdLst/>
              <a:ahLst/>
              <a:cxnLst/>
              <a:rect l="l" t="t" r="r" b="b"/>
              <a:pathLst>
                <a:path w="2207259" h="2044700">
                  <a:moveTo>
                    <a:pt x="2206752" y="143764"/>
                  </a:moveTo>
                  <a:lnTo>
                    <a:pt x="2063496" y="143764"/>
                  </a:lnTo>
                  <a:lnTo>
                    <a:pt x="2063496" y="1900936"/>
                  </a:lnTo>
                  <a:lnTo>
                    <a:pt x="2206752" y="1900948"/>
                  </a:lnTo>
                  <a:lnTo>
                    <a:pt x="2206752" y="143764"/>
                  </a:lnTo>
                  <a:close/>
                </a:path>
                <a:path w="2207259" h="2044700">
                  <a:moveTo>
                    <a:pt x="2206752" y="0"/>
                  </a:moveTo>
                  <a:lnTo>
                    <a:pt x="0" y="0"/>
                  </a:lnTo>
                  <a:lnTo>
                    <a:pt x="0" y="143510"/>
                  </a:lnTo>
                  <a:lnTo>
                    <a:pt x="0" y="1901190"/>
                  </a:lnTo>
                  <a:lnTo>
                    <a:pt x="0" y="2044700"/>
                  </a:lnTo>
                  <a:lnTo>
                    <a:pt x="2206752" y="2044700"/>
                  </a:lnTo>
                  <a:lnTo>
                    <a:pt x="2206752" y="1901190"/>
                  </a:lnTo>
                  <a:lnTo>
                    <a:pt x="143256" y="1901190"/>
                  </a:lnTo>
                  <a:lnTo>
                    <a:pt x="143256" y="143510"/>
                  </a:lnTo>
                  <a:lnTo>
                    <a:pt x="2206752" y="143510"/>
                  </a:lnTo>
                  <a:lnTo>
                    <a:pt x="2206752" y="0"/>
                  </a:lnTo>
                  <a:close/>
                </a:path>
              </a:pathLst>
            </a:custGeom>
            <a:solidFill>
              <a:srgbClr val="3DAC92"/>
            </a:solidFill>
          </p:spPr>
          <p:txBody>
            <a:bodyPr wrap="square" lIns="0" tIns="0" rIns="0" bIns="0" rtlCol="0"/>
            <a:lstStyle/>
            <a:p>
              <a:endParaRPr>
                <a:ea typeface="Microsoft YaHei" panose="020B0503020204020204" pitchFamily="34" charset="-122"/>
              </a:endParaRPr>
            </a:p>
          </p:txBody>
        </p:sp>
        <p:sp>
          <p:nvSpPr>
            <p:cNvPr id="7" name="object 7"/>
            <p:cNvSpPr/>
            <p:nvPr/>
          </p:nvSpPr>
          <p:spPr>
            <a:xfrm>
              <a:off x="3570732" y="4196079"/>
              <a:ext cx="2207260" cy="2043430"/>
            </a:xfrm>
            <a:custGeom>
              <a:avLst/>
              <a:gdLst/>
              <a:ahLst/>
              <a:cxnLst/>
              <a:rect l="l" t="t" r="r" b="b"/>
              <a:pathLst>
                <a:path w="2207260" h="2043429">
                  <a:moveTo>
                    <a:pt x="2206752" y="142748"/>
                  </a:moveTo>
                  <a:lnTo>
                    <a:pt x="2063496" y="142748"/>
                  </a:lnTo>
                  <a:lnTo>
                    <a:pt x="2063496" y="1899894"/>
                  </a:lnTo>
                  <a:lnTo>
                    <a:pt x="2206752" y="1899894"/>
                  </a:lnTo>
                  <a:lnTo>
                    <a:pt x="2206752" y="142748"/>
                  </a:lnTo>
                  <a:close/>
                </a:path>
                <a:path w="2207260" h="2043429">
                  <a:moveTo>
                    <a:pt x="2206752" y="0"/>
                  </a:moveTo>
                  <a:lnTo>
                    <a:pt x="0" y="0"/>
                  </a:lnTo>
                  <a:lnTo>
                    <a:pt x="0" y="142240"/>
                  </a:lnTo>
                  <a:lnTo>
                    <a:pt x="0" y="1899920"/>
                  </a:lnTo>
                  <a:lnTo>
                    <a:pt x="0" y="2043430"/>
                  </a:lnTo>
                  <a:lnTo>
                    <a:pt x="2206752" y="2043430"/>
                  </a:lnTo>
                  <a:lnTo>
                    <a:pt x="2206752" y="1899920"/>
                  </a:lnTo>
                  <a:lnTo>
                    <a:pt x="143256" y="1899920"/>
                  </a:lnTo>
                  <a:lnTo>
                    <a:pt x="143256" y="142240"/>
                  </a:lnTo>
                  <a:lnTo>
                    <a:pt x="2206752" y="142240"/>
                  </a:lnTo>
                  <a:lnTo>
                    <a:pt x="2206752" y="0"/>
                  </a:lnTo>
                  <a:close/>
                </a:path>
              </a:pathLst>
            </a:custGeom>
            <a:solidFill>
              <a:srgbClr val="A8B11C"/>
            </a:solidFill>
          </p:spPr>
          <p:txBody>
            <a:bodyPr wrap="square" lIns="0" tIns="0" rIns="0" bIns="0" rtlCol="0"/>
            <a:lstStyle/>
            <a:p>
              <a:endParaRPr>
                <a:ea typeface="Microsoft YaHei" panose="020B0503020204020204" pitchFamily="34" charset="-122"/>
              </a:endParaRPr>
            </a:p>
          </p:txBody>
        </p:sp>
        <p:sp>
          <p:nvSpPr>
            <p:cNvPr id="8" name="object 8"/>
            <p:cNvSpPr/>
            <p:nvPr/>
          </p:nvSpPr>
          <p:spPr>
            <a:xfrm>
              <a:off x="5905500" y="4196079"/>
              <a:ext cx="2207260" cy="2043430"/>
            </a:xfrm>
            <a:custGeom>
              <a:avLst/>
              <a:gdLst/>
              <a:ahLst/>
              <a:cxnLst/>
              <a:rect l="l" t="t" r="r" b="b"/>
              <a:pathLst>
                <a:path w="2207259" h="2043429">
                  <a:moveTo>
                    <a:pt x="2206752" y="142748"/>
                  </a:moveTo>
                  <a:lnTo>
                    <a:pt x="2063496" y="142748"/>
                  </a:lnTo>
                  <a:lnTo>
                    <a:pt x="2063496" y="1899894"/>
                  </a:lnTo>
                  <a:lnTo>
                    <a:pt x="2206752" y="1899894"/>
                  </a:lnTo>
                  <a:lnTo>
                    <a:pt x="2206752" y="142748"/>
                  </a:lnTo>
                  <a:close/>
                </a:path>
                <a:path w="2207259" h="2043429">
                  <a:moveTo>
                    <a:pt x="2206752" y="0"/>
                  </a:moveTo>
                  <a:lnTo>
                    <a:pt x="0" y="0"/>
                  </a:lnTo>
                  <a:lnTo>
                    <a:pt x="0" y="142240"/>
                  </a:lnTo>
                  <a:lnTo>
                    <a:pt x="0" y="1899920"/>
                  </a:lnTo>
                  <a:lnTo>
                    <a:pt x="0" y="2043430"/>
                  </a:lnTo>
                  <a:lnTo>
                    <a:pt x="2206752" y="2043430"/>
                  </a:lnTo>
                  <a:lnTo>
                    <a:pt x="2206752" y="1899920"/>
                  </a:lnTo>
                  <a:lnTo>
                    <a:pt x="143256" y="1899920"/>
                  </a:lnTo>
                  <a:lnTo>
                    <a:pt x="143256" y="142240"/>
                  </a:lnTo>
                  <a:lnTo>
                    <a:pt x="2206752" y="142240"/>
                  </a:lnTo>
                  <a:lnTo>
                    <a:pt x="2206752" y="0"/>
                  </a:lnTo>
                  <a:close/>
                </a:path>
              </a:pathLst>
            </a:custGeom>
            <a:solidFill>
              <a:srgbClr val="187955"/>
            </a:solidFill>
          </p:spPr>
          <p:txBody>
            <a:bodyPr wrap="square" lIns="0" tIns="0" rIns="0" bIns="0" rtlCol="0"/>
            <a:lstStyle/>
            <a:p>
              <a:endParaRPr>
                <a:ea typeface="Microsoft YaHei" panose="020B0503020204020204" pitchFamily="34" charset="-122"/>
              </a:endParaRPr>
            </a:p>
          </p:txBody>
        </p:sp>
      </p:grpSp>
      <p:sp>
        <p:nvSpPr>
          <p:cNvPr id="9" name="object 9"/>
          <p:cNvSpPr txBox="1">
            <a:spLocks noGrp="1"/>
          </p:cNvSpPr>
          <p:nvPr>
            <p:ph type="title"/>
          </p:nvPr>
        </p:nvSpPr>
        <p:spPr>
          <a:xfrm>
            <a:off x="3997197" y="1902968"/>
            <a:ext cx="388620" cy="855980"/>
          </a:xfrm>
          <a:prstGeom prst="rect">
            <a:avLst/>
          </a:prstGeom>
        </p:spPr>
        <p:txBody>
          <a:bodyPr vert="horz" wrap="square" lIns="0" tIns="12065" rIns="0" bIns="0" rtlCol="0">
            <a:spAutoFit/>
          </a:bodyPr>
          <a:lstStyle/>
          <a:p>
            <a:pPr marL="12700">
              <a:lnSpc>
                <a:spcPct val="100000"/>
              </a:lnSpc>
              <a:spcBef>
                <a:spcPts val="95"/>
              </a:spcBef>
            </a:pPr>
            <a:r>
              <a:rPr lang="en-US" sz="5450" spc="-50">
                <a:ea typeface="Microsoft YaHei" panose="020B0503020204020204" pitchFamily="34" charset="-122"/>
              </a:rPr>
              <a:t>1</a:t>
            </a:r>
            <a:endParaRPr lang="en-US" sz="5450">
              <a:ea typeface="Microsoft YaHei" panose="020B0503020204020204" pitchFamily="34" charset="-122"/>
            </a:endParaRPr>
          </a:p>
        </p:txBody>
      </p:sp>
      <p:sp>
        <p:nvSpPr>
          <p:cNvPr id="10" name="object 10"/>
          <p:cNvSpPr txBox="1"/>
          <p:nvPr/>
        </p:nvSpPr>
        <p:spPr>
          <a:xfrm>
            <a:off x="7299706" y="1902968"/>
            <a:ext cx="388620" cy="855980"/>
          </a:xfrm>
          <a:prstGeom prst="rect">
            <a:avLst/>
          </a:prstGeom>
        </p:spPr>
        <p:txBody>
          <a:bodyPr vert="horz" wrap="square" lIns="0" tIns="12065" rIns="0" bIns="0" rtlCol="0">
            <a:spAutoFit/>
          </a:bodyPr>
          <a:lstStyle/>
          <a:p>
            <a:pPr marL="12700">
              <a:lnSpc>
                <a:spcPct val="100000"/>
              </a:lnSpc>
              <a:spcBef>
                <a:spcPts val="95"/>
              </a:spcBef>
            </a:pPr>
            <a:r>
              <a:rPr lang="en-US" sz="5450" spc="-50">
                <a:solidFill>
                  <a:srgbClr val="3DAC92"/>
                </a:solidFill>
                <a:latin typeface="Trebuchet MS"/>
                <a:ea typeface="Microsoft YaHei" panose="020B0503020204020204" pitchFamily="34" charset="-122"/>
                <a:cs typeface="Trebuchet MS"/>
              </a:rPr>
              <a:t>2</a:t>
            </a:r>
            <a:endParaRPr lang="en-US" sz="5450">
              <a:latin typeface="Trebuchet MS"/>
              <a:ea typeface="Microsoft YaHei" panose="020B0503020204020204" pitchFamily="34" charset="-122"/>
              <a:cs typeface="Trebuchet MS"/>
            </a:endParaRPr>
          </a:p>
        </p:txBody>
      </p:sp>
      <p:sp>
        <p:nvSpPr>
          <p:cNvPr id="11" name="object 11"/>
          <p:cNvSpPr txBox="1"/>
          <p:nvPr/>
        </p:nvSpPr>
        <p:spPr>
          <a:xfrm>
            <a:off x="3997197" y="5158536"/>
            <a:ext cx="388620" cy="855980"/>
          </a:xfrm>
          <a:prstGeom prst="rect">
            <a:avLst/>
          </a:prstGeom>
        </p:spPr>
        <p:txBody>
          <a:bodyPr vert="horz" wrap="square" lIns="0" tIns="12065" rIns="0" bIns="0" rtlCol="0">
            <a:spAutoFit/>
          </a:bodyPr>
          <a:lstStyle/>
          <a:p>
            <a:pPr marL="12700">
              <a:lnSpc>
                <a:spcPct val="100000"/>
              </a:lnSpc>
              <a:spcBef>
                <a:spcPts val="95"/>
              </a:spcBef>
            </a:pPr>
            <a:r>
              <a:rPr lang="en-US" sz="5450" spc="-50">
                <a:solidFill>
                  <a:srgbClr val="A8B11C"/>
                </a:solidFill>
                <a:latin typeface="Trebuchet MS"/>
                <a:ea typeface="Microsoft YaHei" panose="020B0503020204020204" pitchFamily="34" charset="-122"/>
                <a:cs typeface="Trebuchet MS"/>
              </a:rPr>
              <a:t>3</a:t>
            </a:r>
            <a:endParaRPr lang="en-US" sz="5450">
              <a:latin typeface="Trebuchet MS"/>
              <a:ea typeface="Microsoft YaHei" panose="020B0503020204020204" pitchFamily="34" charset="-122"/>
              <a:cs typeface="Trebuchet MS"/>
            </a:endParaRPr>
          </a:p>
        </p:txBody>
      </p:sp>
      <p:sp>
        <p:nvSpPr>
          <p:cNvPr id="12" name="object 12"/>
          <p:cNvSpPr txBox="1"/>
          <p:nvPr/>
        </p:nvSpPr>
        <p:spPr>
          <a:xfrm>
            <a:off x="7299706" y="5158536"/>
            <a:ext cx="388620" cy="855980"/>
          </a:xfrm>
          <a:prstGeom prst="rect">
            <a:avLst/>
          </a:prstGeom>
        </p:spPr>
        <p:txBody>
          <a:bodyPr vert="horz" wrap="square" lIns="0" tIns="12065" rIns="0" bIns="0" rtlCol="0">
            <a:spAutoFit/>
          </a:bodyPr>
          <a:lstStyle/>
          <a:p>
            <a:pPr marL="12700">
              <a:lnSpc>
                <a:spcPct val="100000"/>
              </a:lnSpc>
              <a:spcBef>
                <a:spcPts val="95"/>
              </a:spcBef>
            </a:pPr>
            <a:r>
              <a:rPr lang="en-US" sz="5450" spc="-50">
                <a:solidFill>
                  <a:srgbClr val="187955"/>
                </a:solidFill>
                <a:latin typeface="Trebuchet MS"/>
                <a:ea typeface="Microsoft YaHei" panose="020B0503020204020204" pitchFamily="34" charset="-122"/>
                <a:cs typeface="Trebuchet MS"/>
              </a:rPr>
              <a:t>4</a:t>
            </a:r>
            <a:endParaRPr lang="en-US" sz="5450">
              <a:latin typeface="Trebuchet MS"/>
              <a:ea typeface="Microsoft YaHei" panose="020B0503020204020204" pitchFamily="34" charset="-122"/>
              <a:cs typeface="Trebuchet MS"/>
            </a:endParaRPr>
          </a:p>
        </p:txBody>
      </p:sp>
      <p:sp>
        <p:nvSpPr>
          <p:cNvPr id="13" name="object 13"/>
          <p:cNvSpPr txBox="1"/>
          <p:nvPr/>
        </p:nvSpPr>
        <p:spPr>
          <a:xfrm>
            <a:off x="681024" y="551179"/>
            <a:ext cx="4403725" cy="382156"/>
          </a:xfrm>
          <a:prstGeom prst="rect">
            <a:avLst/>
          </a:prstGeom>
        </p:spPr>
        <p:txBody>
          <a:bodyPr vert="horz" wrap="square" lIns="0" tIns="12700" rIns="0" bIns="0" rtlCol="0">
            <a:spAutoFit/>
          </a:bodyPr>
          <a:lstStyle/>
          <a:p>
            <a:pPr marL="12700">
              <a:lnSpc>
                <a:spcPct val="100000"/>
              </a:lnSpc>
              <a:spcBef>
                <a:spcPts val="100"/>
              </a:spcBef>
            </a:pPr>
            <a:r>
              <a:rPr lang="en-US" sz="2400">
                <a:solidFill>
                  <a:srgbClr val="29B974"/>
                </a:solidFill>
                <a:latin typeface="Trebuchet MS"/>
                <a:ea typeface="Microsoft YaHei" panose="020B0503020204020204" pitchFamily="34" charset="-122"/>
                <a:cs typeface="Trebuchet MS"/>
              </a:rPr>
              <a:t>Key</a:t>
            </a:r>
            <a:r>
              <a:rPr lang="en-US" sz="2400" spc="-65">
                <a:solidFill>
                  <a:srgbClr val="29B974"/>
                </a:solidFill>
                <a:latin typeface="Trebuchet MS"/>
                <a:ea typeface="Microsoft YaHei" panose="020B0503020204020204" pitchFamily="34" charset="-122"/>
                <a:cs typeface="Trebuchet MS"/>
              </a:rPr>
              <a:t> </a:t>
            </a:r>
            <a:r>
              <a:rPr lang="en-US" sz="2400">
                <a:solidFill>
                  <a:srgbClr val="29B974"/>
                </a:solidFill>
                <a:latin typeface="Trebuchet MS"/>
                <a:ea typeface="Microsoft YaHei" panose="020B0503020204020204" pitchFamily="34" charset="-122"/>
                <a:cs typeface="Trebuchet MS"/>
              </a:rPr>
              <a:t>elements</a:t>
            </a:r>
            <a:r>
              <a:rPr lang="en-US" sz="2400" spc="-65">
                <a:solidFill>
                  <a:srgbClr val="29B974"/>
                </a:solidFill>
                <a:latin typeface="Trebuchet MS"/>
                <a:ea typeface="Microsoft YaHei" panose="020B0503020204020204" pitchFamily="34" charset="-122"/>
                <a:cs typeface="Trebuchet MS"/>
              </a:rPr>
              <a:t> </a:t>
            </a:r>
            <a:r>
              <a:rPr lang="en-US" sz="2400">
                <a:solidFill>
                  <a:srgbClr val="29B974"/>
                </a:solidFill>
                <a:latin typeface="Trebuchet MS"/>
                <a:ea typeface="Microsoft YaHei" panose="020B0503020204020204" pitchFamily="34" charset="-122"/>
                <a:cs typeface="Trebuchet MS"/>
              </a:rPr>
              <a:t>of</a:t>
            </a:r>
            <a:r>
              <a:rPr lang="en-US" sz="2400" spc="-70">
                <a:solidFill>
                  <a:srgbClr val="29B974"/>
                </a:solidFill>
                <a:latin typeface="Trebuchet MS"/>
                <a:ea typeface="Microsoft YaHei" panose="020B0503020204020204" pitchFamily="34" charset="-122"/>
                <a:cs typeface="Trebuchet MS"/>
              </a:rPr>
              <a:t> </a:t>
            </a:r>
            <a:r>
              <a:rPr lang="en-US" sz="2400" spc="-10">
                <a:solidFill>
                  <a:srgbClr val="29B974"/>
                </a:solidFill>
                <a:latin typeface="Trebuchet MS"/>
                <a:ea typeface="Microsoft YaHei" panose="020B0503020204020204" pitchFamily="34" charset="-122"/>
                <a:cs typeface="Trebuchet MS"/>
              </a:rPr>
              <a:t>personalization</a:t>
            </a:r>
            <a:endParaRPr lang="en-US" sz="2400">
              <a:latin typeface="Trebuchet MS"/>
              <a:ea typeface="Microsoft YaHei" panose="020B0503020204020204" pitchFamily="34" charset="-122"/>
              <a:cs typeface="Trebuchet MS"/>
            </a:endParaRPr>
          </a:p>
        </p:txBody>
      </p:sp>
      <p:grpSp>
        <p:nvGrpSpPr>
          <p:cNvPr id="14" name="object 14"/>
          <p:cNvGrpSpPr/>
          <p:nvPr/>
        </p:nvGrpSpPr>
        <p:grpSpPr>
          <a:xfrm>
            <a:off x="2572511" y="1160017"/>
            <a:ext cx="6587237" cy="5283200"/>
            <a:chOff x="2572511" y="1160017"/>
            <a:chExt cx="6587237" cy="5283200"/>
          </a:xfrm>
        </p:grpSpPr>
        <p:sp>
          <p:nvSpPr>
            <p:cNvPr id="15" name="object 15"/>
            <p:cNvSpPr/>
            <p:nvPr/>
          </p:nvSpPr>
          <p:spPr>
            <a:xfrm>
              <a:off x="3201542" y="1160017"/>
              <a:ext cx="5282565" cy="5283200"/>
            </a:xfrm>
            <a:custGeom>
              <a:avLst/>
              <a:gdLst/>
              <a:ahLst/>
              <a:cxnLst/>
              <a:rect l="l" t="t" r="r" b="b"/>
              <a:pathLst>
                <a:path w="5282565" h="5283200">
                  <a:moveTo>
                    <a:pt x="2648331" y="0"/>
                  </a:moveTo>
                  <a:lnTo>
                    <a:pt x="0" y="2634234"/>
                  </a:lnTo>
                  <a:lnTo>
                    <a:pt x="2634234" y="5282666"/>
                  </a:lnTo>
                  <a:lnTo>
                    <a:pt x="5282564" y="2648458"/>
                  </a:lnTo>
                  <a:lnTo>
                    <a:pt x="2648331" y="0"/>
                  </a:lnTo>
                  <a:close/>
                </a:path>
              </a:pathLst>
            </a:custGeom>
            <a:solidFill>
              <a:srgbClr val="F1F1F1"/>
            </a:solidFill>
          </p:spPr>
          <p:txBody>
            <a:bodyPr wrap="square" lIns="0" tIns="0" rIns="0" bIns="0" rtlCol="0"/>
            <a:lstStyle/>
            <a:p>
              <a:endParaRPr>
                <a:ea typeface="Microsoft YaHei" panose="020B0503020204020204" pitchFamily="34" charset="-122"/>
              </a:endParaRPr>
            </a:p>
          </p:txBody>
        </p:sp>
        <p:sp>
          <p:nvSpPr>
            <p:cNvPr id="16" name="object 16"/>
            <p:cNvSpPr/>
            <p:nvPr/>
          </p:nvSpPr>
          <p:spPr>
            <a:xfrm>
              <a:off x="8458200" y="1827275"/>
              <a:ext cx="666115" cy="455930"/>
            </a:xfrm>
            <a:custGeom>
              <a:avLst/>
              <a:gdLst/>
              <a:ahLst/>
              <a:cxnLst/>
              <a:rect l="l" t="t" r="r" b="b"/>
              <a:pathLst>
                <a:path w="666115" h="455930">
                  <a:moveTo>
                    <a:pt x="148590" y="386588"/>
                  </a:moveTo>
                  <a:lnTo>
                    <a:pt x="4064" y="386588"/>
                  </a:lnTo>
                  <a:lnTo>
                    <a:pt x="0" y="390651"/>
                  </a:lnTo>
                  <a:lnTo>
                    <a:pt x="0" y="451993"/>
                  </a:lnTo>
                  <a:lnTo>
                    <a:pt x="4064" y="455675"/>
                  </a:lnTo>
                  <a:lnTo>
                    <a:pt x="148590" y="455675"/>
                  </a:lnTo>
                  <a:lnTo>
                    <a:pt x="152526" y="451993"/>
                  </a:lnTo>
                  <a:lnTo>
                    <a:pt x="152526" y="390651"/>
                  </a:lnTo>
                  <a:lnTo>
                    <a:pt x="148590" y="386588"/>
                  </a:lnTo>
                  <a:close/>
                </a:path>
                <a:path w="666115" h="455930">
                  <a:moveTo>
                    <a:pt x="320040" y="260096"/>
                  </a:moveTo>
                  <a:lnTo>
                    <a:pt x="175005" y="260096"/>
                  </a:lnTo>
                  <a:lnTo>
                    <a:pt x="171450" y="264160"/>
                  </a:lnTo>
                  <a:lnTo>
                    <a:pt x="171450" y="451993"/>
                  </a:lnTo>
                  <a:lnTo>
                    <a:pt x="175005" y="455675"/>
                  </a:lnTo>
                  <a:lnTo>
                    <a:pt x="320040" y="455675"/>
                  </a:lnTo>
                  <a:lnTo>
                    <a:pt x="323976" y="451993"/>
                  </a:lnTo>
                  <a:lnTo>
                    <a:pt x="323976" y="264160"/>
                  </a:lnTo>
                  <a:lnTo>
                    <a:pt x="320040" y="260096"/>
                  </a:lnTo>
                  <a:close/>
                </a:path>
                <a:path w="666115" h="455930">
                  <a:moveTo>
                    <a:pt x="490981" y="127381"/>
                  </a:moveTo>
                  <a:lnTo>
                    <a:pt x="345948" y="127381"/>
                  </a:lnTo>
                  <a:lnTo>
                    <a:pt x="342010" y="131445"/>
                  </a:lnTo>
                  <a:lnTo>
                    <a:pt x="342010" y="451993"/>
                  </a:lnTo>
                  <a:lnTo>
                    <a:pt x="345948" y="455675"/>
                  </a:lnTo>
                  <a:lnTo>
                    <a:pt x="490981" y="455675"/>
                  </a:lnTo>
                  <a:lnTo>
                    <a:pt x="494538" y="451993"/>
                  </a:lnTo>
                  <a:lnTo>
                    <a:pt x="494538" y="131445"/>
                  </a:lnTo>
                  <a:lnTo>
                    <a:pt x="490981" y="127381"/>
                  </a:lnTo>
                  <a:close/>
                </a:path>
                <a:path w="666115" h="455930">
                  <a:moveTo>
                    <a:pt x="661924" y="0"/>
                  </a:moveTo>
                  <a:lnTo>
                    <a:pt x="517905" y="0"/>
                  </a:lnTo>
                  <a:lnTo>
                    <a:pt x="514350" y="3683"/>
                  </a:lnTo>
                  <a:lnTo>
                    <a:pt x="514350" y="451993"/>
                  </a:lnTo>
                  <a:lnTo>
                    <a:pt x="517905" y="455675"/>
                  </a:lnTo>
                  <a:lnTo>
                    <a:pt x="661924" y="455675"/>
                  </a:lnTo>
                  <a:lnTo>
                    <a:pt x="665988" y="451993"/>
                  </a:lnTo>
                  <a:lnTo>
                    <a:pt x="665988" y="3683"/>
                  </a:lnTo>
                  <a:lnTo>
                    <a:pt x="661924" y="0"/>
                  </a:lnTo>
                  <a:close/>
                </a:path>
              </a:pathLst>
            </a:custGeom>
            <a:solidFill>
              <a:srgbClr val="29B974"/>
            </a:solidFill>
          </p:spPr>
          <p:txBody>
            <a:bodyPr wrap="square" lIns="0" tIns="0" rIns="0" bIns="0" rtlCol="0"/>
            <a:lstStyle/>
            <a:p>
              <a:endParaRPr>
                <a:ea typeface="Microsoft YaHei" panose="020B0503020204020204" pitchFamily="34" charset="-122"/>
              </a:endParaRPr>
            </a:p>
          </p:txBody>
        </p:sp>
        <p:sp>
          <p:nvSpPr>
            <p:cNvPr id="17" name="object 17"/>
            <p:cNvSpPr/>
            <p:nvPr/>
          </p:nvSpPr>
          <p:spPr>
            <a:xfrm>
              <a:off x="8423148" y="1792223"/>
              <a:ext cx="736600" cy="3360420"/>
            </a:xfrm>
            <a:custGeom>
              <a:avLst/>
              <a:gdLst/>
              <a:ahLst/>
              <a:cxnLst/>
              <a:rect l="l" t="t" r="r" b="b"/>
              <a:pathLst>
                <a:path w="736600" h="3360420">
                  <a:moveTo>
                    <a:pt x="182626" y="2789301"/>
                  </a:moveTo>
                  <a:lnTo>
                    <a:pt x="147828" y="2751582"/>
                  </a:lnTo>
                  <a:lnTo>
                    <a:pt x="146304" y="2749804"/>
                  </a:lnTo>
                  <a:lnTo>
                    <a:pt x="144018" y="2748788"/>
                  </a:lnTo>
                  <a:lnTo>
                    <a:pt x="139446" y="2748534"/>
                  </a:lnTo>
                  <a:lnTo>
                    <a:pt x="137160" y="2749423"/>
                  </a:lnTo>
                  <a:lnTo>
                    <a:pt x="135382" y="2751201"/>
                  </a:lnTo>
                  <a:lnTo>
                    <a:pt x="78486" y="2803017"/>
                  </a:lnTo>
                  <a:lnTo>
                    <a:pt x="74803" y="2806192"/>
                  </a:lnTo>
                  <a:lnTo>
                    <a:pt x="74803" y="2811780"/>
                  </a:lnTo>
                  <a:lnTo>
                    <a:pt x="78105" y="2815463"/>
                  </a:lnTo>
                  <a:lnTo>
                    <a:pt x="112776" y="2853182"/>
                  </a:lnTo>
                  <a:lnTo>
                    <a:pt x="128511" y="2835351"/>
                  </a:lnTo>
                  <a:lnTo>
                    <a:pt x="145402" y="2818676"/>
                  </a:lnTo>
                  <a:lnTo>
                    <a:pt x="163449" y="2803283"/>
                  </a:lnTo>
                  <a:lnTo>
                    <a:pt x="182626" y="2789301"/>
                  </a:lnTo>
                  <a:close/>
                </a:path>
                <a:path w="736600" h="3360420">
                  <a:moveTo>
                    <a:pt x="460756" y="2619248"/>
                  </a:moveTo>
                  <a:lnTo>
                    <a:pt x="456819" y="2615184"/>
                  </a:lnTo>
                  <a:lnTo>
                    <a:pt x="279019" y="2615184"/>
                  </a:lnTo>
                  <a:lnTo>
                    <a:pt x="274955" y="2619248"/>
                  </a:lnTo>
                  <a:lnTo>
                    <a:pt x="274955" y="2707132"/>
                  </a:lnTo>
                  <a:lnTo>
                    <a:pt x="333883" y="2707132"/>
                  </a:lnTo>
                  <a:lnTo>
                    <a:pt x="333883" y="2734183"/>
                  </a:lnTo>
                  <a:lnTo>
                    <a:pt x="342646" y="2733332"/>
                  </a:lnTo>
                  <a:lnTo>
                    <a:pt x="351409" y="2732697"/>
                  </a:lnTo>
                  <a:lnTo>
                    <a:pt x="360172" y="2732290"/>
                  </a:lnTo>
                  <a:lnTo>
                    <a:pt x="368935" y="2732151"/>
                  </a:lnTo>
                  <a:lnTo>
                    <a:pt x="377317" y="2732240"/>
                  </a:lnTo>
                  <a:lnTo>
                    <a:pt x="385533" y="2732506"/>
                  </a:lnTo>
                  <a:lnTo>
                    <a:pt x="393611" y="2733014"/>
                  </a:lnTo>
                  <a:lnTo>
                    <a:pt x="401574" y="2733802"/>
                  </a:lnTo>
                  <a:lnTo>
                    <a:pt x="401574" y="2732151"/>
                  </a:lnTo>
                  <a:lnTo>
                    <a:pt x="401574" y="2707132"/>
                  </a:lnTo>
                  <a:lnTo>
                    <a:pt x="460756" y="2707132"/>
                  </a:lnTo>
                  <a:lnTo>
                    <a:pt x="460756" y="2619248"/>
                  </a:lnTo>
                  <a:close/>
                </a:path>
                <a:path w="736600" h="3360420">
                  <a:moveTo>
                    <a:pt x="662813" y="2807589"/>
                  </a:moveTo>
                  <a:lnTo>
                    <a:pt x="659130" y="2804287"/>
                  </a:lnTo>
                  <a:lnTo>
                    <a:pt x="601726" y="2752090"/>
                  </a:lnTo>
                  <a:lnTo>
                    <a:pt x="599948" y="2750312"/>
                  </a:lnTo>
                  <a:lnTo>
                    <a:pt x="597662" y="2749550"/>
                  </a:lnTo>
                  <a:lnTo>
                    <a:pt x="595376" y="2749550"/>
                  </a:lnTo>
                  <a:lnTo>
                    <a:pt x="593090" y="2749677"/>
                  </a:lnTo>
                  <a:lnTo>
                    <a:pt x="590804" y="2750693"/>
                  </a:lnTo>
                  <a:lnTo>
                    <a:pt x="554990" y="2789301"/>
                  </a:lnTo>
                  <a:lnTo>
                    <a:pt x="574268" y="2803677"/>
                  </a:lnTo>
                  <a:lnTo>
                    <a:pt x="592455" y="2819311"/>
                  </a:lnTo>
                  <a:lnTo>
                    <a:pt x="609485" y="2836138"/>
                  </a:lnTo>
                  <a:lnTo>
                    <a:pt x="625348" y="2854071"/>
                  </a:lnTo>
                  <a:lnTo>
                    <a:pt x="658964" y="2817444"/>
                  </a:lnTo>
                  <a:lnTo>
                    <a:pt x="662813" y="2813177"/>
                  </a:lnTo>
                  <a:lnTo>
                    <a:pt x="662813" y="2807589"/>
                  </a:lnTo>
                  <a:close/>
                </a:path>
                <a:path w="736600" h="3360420">
                  <a:moveTo>
                    <a:pt x="669036" y="3061208"/>
                  </a:moveTo>
                  <a:lnTo>
                    <a:pt x="665099" y="3012656"/>
                  </a:lnTo>
                  <a:lnTo>
                    <a:pt x="653732" y="2966593"/>
                  </a:lnTo>
                  <a:lnTo>
                    <a:pt x="652018" y="2962554"/>
                  </a:lnTo>
                  <a:lnTo>
                    <a:pt x="652018" y="3060700"/>
                  </a:lnTo>
                  <a:lnTo>
                    <a:pt x="648296" y="3106432"/>
                  </a:lnTo>
                  <a:lnTo>
                    <a:pt x="637565" y="3149803"/>
                  </a:lnTo>
                  <a:lnTo>
                    <a:pt x="620382" y="3190240"/>
                  </a:lnTo>
                  <a:lnTo>
                    <a:pt x="597344" y="3227171"/>
                  </a:lnTo>
                  <a:lnTo>
                    <a:pt x="569036" y="3260001"/>
                  </a:lnTo>
                  <a:lnTo>
                    <a:pt x="536028" y="3288157"/>
                  </a:lnTo>
                  <a:lnTo>
                    <a:pt x="498919" y="3311080"/>
                  </a:lnTo>
                  <a:lnTo>
                    <a:pt x="458292" y="3328162"/>
                  </a:lnTo>
                  <a:lnTo>
                    <a:pt x="414718" y="3338830"/>
                  </a:lnTo>
                  <a:lnTo>
                    <a:pt x="368808" y="3342513"/>
                  </a:lnTo>
                  <a:lnTo>
                    <a:pt x="322884" y="3338830"/>
                  </a:lnTo>
                  <a:lnTo>
                    <a:pt x="279311" y="3328162"/>
                  </a:lnTo>
                  <a:lnTo>
                    <a:pt x="238683" y="3311080"/>
                  </a:lnTo>
                  <a:lnTo>
                    <a:pt x="201574" y="3288157"/>
                  </a:lnTo>
                  <a:lnTo>
                    <a:pt x="168567" y="3260001"/>
                  </a:lnTo>
                  <a:lnTo>
                    <a:pt x="140258" y="3227171"/>
                  </a:lnTo>
                  <a:lnTo>
                    <a:pt x="117221" y="3190240"/>
                  </a:lnTo>
                  <a:lnTo>
                    <a:pt x="100037" y="3149803"/>
                  </a:lnTo>
                  <a:lnTo>
                    <a:pt x="89306" y="3106432"/>
                  </a:lnTo>
                  <a:lnTo>
                    <a:pt x="85598" y="3060700"/>
                  </a:lnTo>
                  <a:lnTo>
                    <a:pt x="89306" y="3015005"/>
                  </a:lnTo>
                  <a:lnTo>
                    <a:pt x="100037" y="2971660"/>
                  </a:lnTo>
                  <a:lnTo>
                    <a:pt x="117221" y="2931223"/>
                  </a:lnTo>
                  <a:lnTo>
                    <a:pt x="140258" y="2894304"/>
                  </a:lnTo>
                  <a:lnTo>
                    <a:pt x="168567" y="2861462"/>
                  </a:lnTo>
                  <a:lnTo>
                    <a:pt x="201574" y="2833281"/>
                  </a:lnTo>
                  <a:lnTo>
                    <a:pt x="238683" y="2810357"/>
                  </a:lnTo>
                  <a:lnTo>
                    <a:pt x="279311" y="2793263"/>
                  </a:lnTo>
                  <a:lnTo>
                    <a:pt x="322884" y="2782582"/>
                  </a:lnTo>
                  <a:lnTo>
                    <a:pt x="368808" y="2778887"/>
                  </a:lnTo>
                  <a:lnTo>
                    <a:pt x="414718" y="2782582"/>
                  </a:lnTo>
                  <a:lnTo>
                    <a:pt x="458292" y="2793263"/>
                  </a:lnTo>
                  <a:lnTo>
                    <a:pt x="498919" y="2810357"/>
                  </a:lnTo>
                  <a:lnTo>
                    <a:pt x="536028" y="2833281"/>
                  </a:lnTo>
                  <a:lnTo>
                    <a:pt x="569036" y="2861462"/>
                  </a:lnTo>
                  <a:lnTo>
                    <a:pt x="597344" y="2894304"/>
                  </a:lnTo>
                  <a:lnTo>
                    <a:pt x="620382" y="2931223"/>
                  </a:lnTo>
                  <a:lnTo>
                    <a:pt x="637565" y="2971660"/>
                  </a:lnTo>
                  <a:lnTo>
                    <a:pt x="648296" y="3015005"/>
                  </a:lnTo>
                  <a:lnTo>
                    <a:pt x="652018" y="3060700"/>
                  </a:lnTo>
                  <a:lnTo>
                    <a:pt x="652018" y="2962554"/>
                  </a:lnTo>
                  <a:lnTo>
                    <a:pt x="635533" y="2923641"/>
                  </a:lnTo>
                  <a:lnTo>
                    <a:pt x="611111" y="2884411"/>
                  </a:lnTo>
                  <a:lnTo>
                    <a:pt x="581113" y="2849537"/>
                  </a:lnTo>
                  <a:lnTo>
                    <a:pt x="546138" y="2819616"/>
                  </a:lnTo>
                  <a:lnTo>
                    <a:pt x="506793" y="2795282"/>
                  </a:lnTo>
                  <a:lnTo>
                    <a:pt x="467893" y="2778887"/>
                  </a:lnTo>
                  <a:lnTo>
                    <a:pt x="417512" y="2765793"/>
                  </a:lnTo>
                  <a:lnTo>
                    <a:pt x="368808" y="2761869"/>
                  </a:lnTo>
                  <a:lnTo>
                    <a:pt x="320090" y="2765793"/>
                  </a:lnTo>
                  <a:lnTo>
                    <a:pt x="273888" y="2777134"/>
                  </a:lnTo>
                  <a:lnTo>
                    <a:pt x="230809" y="2795282"/>
                  </a:lnTo>
                  <a:lnTo>
                    <a:pt x="191465" y="2819616"/>
                  </a:lnTo>
                  <a:lnTo>
                    <a:pt x="156489" y="2849537"/>
                  </a:lnTo>
                  <a:lnTo>
                    <a:pt x="126479" y="2884411"/>
                  </a:lnTo>
                  <a:lnTo>
                    <a:pt x="102069" y="2923641"/>
                  </a:lnTo>
                  <a:lnTo>
                    <a:pt x="83870" y="2966593"/>
                  </a:lnTo>
                  <a:lnTo>
                    <a:pt x="72504" y="3012656"/>
                  </a:lnTo>
                  <a:lnTo>
                    <a:pt x="68580" y="3061208"/>
                  </a:lnTo>
                  <a:lnTo>
                    <a:pt x="72504" y="3109747"/>
                  </a:lnTo>
                  <a:lnTo>
                    <a:pt x="83870" y="3155785"/>
                  </a:lnTo>
                  <a:lnTo>
                    <a:pt x="102069" y="3198711"/>
                  </a:lnTo>
                  <a:lnTo>
                    <a:pt x="126479" y="3237915"/>
                  </a:lnTo>
                  <a:lnTo>
                    <a:pt x="156489" y="3272777"/>
                  </a:lnTo>
                  <a:lnTo>
                    <a:pt x="191465" y="3302685"/>
                  </a:lnTo>
                  <a:lnTo>
                    <a:pt x="230809" y="3327019"/>
                  </a:lnTo>
                  <a:lnTo>
                    <a:pt x="273888" y="3345167"/>
                  </a:lnTo>
                  <a:lnTo>
                    <a:pt x="320090" y="3356508"/>
                  </a:lnTo>
                  <a:lnTo>
                    <a:pt x="368808" y="3360420"/>
                  </a:lnTo>
                  <a:lnTo>
                    <a:pt x="417512" y="3356508"/>
                  </a:lnTo>
                  <a:lnTo>
                    <a:pt x="463715" y="3345167"/>
                  </a:lnTo>
                  <a:lnTo>
                    <a:pt x="470014" y="3342513"/>
                  </a:lnTo>
                  <a:lnTo>
                    <a:pt x="506793" y="3327019"/>
                  </a:lnTo>
                  <a:lnTo>
                    <a:pt x="546138" y="3302685"/>
                  </a:lnTo>
                  <a:lnTo>
                    <a:pt x="581113" y="3272777"/>
                  </a:lnTo>
                  <a:lnTo>
                    <a:pt x="611124" y="3237915"/>
                  </a:lnTo>
                  <a:lnTo>
                    <a:pt x="635533" y="3198711"/>
                  </a:lnTo>
                  <a:lnTo>
                    <a:pt x="653732" y="3155785"/>
                  </a:lnTo>
                  <a:lnTo>
                    <a:pt x="665099" y="3109747"/>
                  </a:lnTo>
                  <a:lnTo>
                    <a:pt x="669036" y="3061208"/>
                  </a:lnTo>
                  <a:close/>
                </a:path>
                <a:path w="736600" h="3360420">
                  <a:moveTo>
                    <a:pt x="736092" y="3683"/>
                  </a:moveTo>
                  <a:lnTo>
                    <a:pt x="732028" y="0"/>
                  </a:lnTo>
                  <a:lnTo>
                    <a:pt x="718312" y="0"/>
                  </a:lnTo>
                  <a:lnTo>
                    <a:pt x="718312" y="17653"/>
                  </a:lnTo>
                  <a:lnTo>
                    <a:pt x="718312" y="508127"/>
                  </a:lnTo>
                  <a:lnTo>
                    <a:pt x="17780" y="508127"/>
                  </a:lnTo>
                  <a:lnTo>
                    <a:pt x="17780" y="17653"/>
                  </a:lnTo>
                  <a:lnTo>
                    <a:pt x="718312" y="17653"/>
                  </a:lnTo>
                  <a:lnTo>
                    <a:pt x="718312" y="0"/>
                  </a:lnTo>
                  <a:lnTo>
                    <a:pt x="4064" y="0"/>
                  </a:lnTo>
                  <a:lnTo>
                    <a:pt x="0" y="3683"/>
                  </a:lnTo>
                  <a:lnTo>
                    <a:pt x="0" y="522097"/>
                  </a:lnTo>
                  <a:lnTo>
                    <a:pt x="4064" y="525780"/>
                  </a:lnTo>
                  <a:lnTo>
                    <a:pt x="732028" y="525780"/>
                  </a:lnTo>
                  <a:lnTo>
                    <a:pt x="736092" y="522097"/>
                  </a:lnTo>
                  <a:lnTo>
                    <a:pt x="736092" y="508127"/>
                  </a:lnTo>
                  <a:lnTo>
                    <a:pt x="736092" y="17653"/>
                  </a:lnTo>
                  <a:lnTo>
                    <a:pt x="736092" y="3683"/>
                  </a:lnTo>
                  <a:close/>
                </a:path>
              </a:pathLst>
            </a:custGeom>
            <a:solidFill>
              <a:srgbClr val="03522C"/>
            </a:solidFill>
          </p:spPr>
          <p:txBody>
            <a:bodyPr wrap="square" lIns="0" tIns="0" rIns="0" bIns="0" rtlCol="0"/>
            <a:lstStyle/>
            <a:p>
              <a:endParaRPr>
                <a:ea typeface="Microsoft YaHei" panose="020B0503020204020204" pitchFamily="34" charset="-122"/>
              </a:endParaRPr>
            </a:p>
          </p:txBody>
        </p:sp>
        <p:sp>
          <p:nvSpPr>
            <p:cNvPr id="18" name="object 18"/>
            <p:cNvSpPr/>
            <p:nvPr/>
          </p:nvSpPr>
          <p:spPr>
            <a:xfrm>
              <a:off x="8528303" y="4590288"/>
              <a:ext cx="527685" cy="527685"/>
            </a:xfrm>
            <a:custGeom>
              <a:avLst/>
              <a:gdLst/>
              <a:ahLst/>
              <a:cxnLst/>
              <a:rect l="l" t="t" r="r" b="b"/>
              <a:pathLst>
                <a:path w="527684" h="527685">
                  <a:moveTo>
                    <a:pt x="248157" y="0"/>
                  </a:moveTo>
                  <a:lnTo>
                    <a:pt x="199380" y="7415"/>
                  </a:lnTo>
                  <a:lnTo>
                    <a:pt x="153929" y="23369"/>
                  </a:lnTo>
                  <a:lnTo>
                    <a:pt x="112679" y="46994"/>
                  </a:lnTo>
                  <a:lnTo>
                    <a:pt x="76501" y="77422"/>
                  </a:lnTo>
                  <a:lnTo>
                    <a:pt x="46271" y="113785"/>
                  </a:lnTo>
                  <a:lnTo>
                    <a:pt x="22861" y="155215"/>
                  </a:lnTo>
                  <a:lnTo>
                    <a:pt x="7146" y="200846"/>
                  </a:lnTo>
                  <a:lnTo>
                    <a:pt x="0" y="249809"/>
                  </a:lnTo>
                  <a:lnTo>
                    <a:pt x="36195" y="249809"/>
                  </a:lnTo>
                  <a:lnTo>
                    <a:pt x="42672" y="256159"/>
                  </a:lnTo>
                  <a:lnTo>
                    <a:pt x="42672" y="272288"/>
                  </a:lnTo>
                  <a:lnTo>
                    <a:pt x="36195" y="279145"/>
                  </a:lnTo>
                  <a:lnTo>
                    <a:pt x="0" y="279145"/>
                  </a:lnTo>
                  <a:lnTo>
                    <a:pt x="7525" y="327923"/>
                  </a:lnTo>
                  <a:lnTo>
                    <a:pt x="23530" y="373374"/>
                  </a:lnTo>
                  <a:lnTo>
                    <a:pt x="47162" y="414624"/>
                  </a:lnTo>
                  <a:lnTo>
                    <a:pt x="77565" y="450802"/>
                  </a:lnTo>
                  <a:lnTo>
                    <a:pt x="113885" y="481032"/>
                  </a:lnTo>
                  <a:lnTo>
                    <a:pt x="155269" y="504442"/>
                  </a:lnTo>
                  <a:lnTo>
                    <a:pt x="200861" y="520157"/>
                  </a:lnTo>
                  <a:lnTo>
                    <a:pt x="249809" y="527304"/>
                  </a:lnTo>
                  <a:lnTo>
                    <a:pt x="249809" y="491109"/>
                  </a:lnTo>
                  <a:lnTo>
                    <a:pt x="256540" y="484631"/>
                  </a:lnTo>
                  <a:lnTo>
                    <a:pt x="406737" y="484631"/>
                  </a:lnTo>
                  <a:lnTo>
                    <a:pt x="407181" y="484378"/>
                  </a:lnTo>
                  <a:lnTo>
                    <a:pt x="146685" y="484378"/>
                  </a:lnTo>
                  <a:lnTo>
                    <a:pt x="141039" y="481032"/>
                  </a:lnTo>
                  <a:lnTo>
                    <a:pt x="133096" y="476376"/>
                  </a:lnTo>
                  <a:lnTo>
                    <a:pt x="130682" y="467613"/>
                  </a:lnTo>
                  <a:lnTo>
                    <a:pt x="134747" y="460756"/>
                  </a:lnTo>
                  <a:lnTo>
                    <a:pt x="136651" y="457200"/>
                  </a:lnTo>
                  <a:lnTo>
                    <a:pt x="139826" y="454787"/>
                  </a:lnTo>
                  <a:lnTo>
                    <a:pt x="146939" y="452755"/>
                  </a:lnTo>
                  <a:lnTo>
                    <a:pt x="377729" y="452755"/>
                  </a:lnTo>
                  <a:lnTo>
                    <a:pt x="378587" y="452247"/>
                  </a:lnTo>
                  <a:lnTo>
                    <a:pt x="382524" y="451866"/>
                  </a:lnTo>
                  <a:lnTo>
                    <a:pt x="448300" y="451866"/>
                  </a:lnTo>
                  <a:lnTo>
                    <a:pt x="450945" y="449643"/>
                  </a:lnTo>
                  <a:lnTo>
                    <a:pt x="481133" y="413305"/>
                  </a:lnTo>
                  <a:lnTo>
                    <a:pt x="489537" y="398399"/>
                  </a:lnTo>
                  <a:lnTo>
                    <a:pt x="60578" y="398399"/>
                  </a:lnTo>
                  <a:lnTo>
                    <a:pt x="51816" y="395986"/>
                  </a:lnTo>
                  <a:lnTo>
                    <a:pt x="47878" y="389255"/>
                  </a:lnTo>
                  <a:lnTo>
                    <a:pt x="43815" y="382016"/>
                  </a:lnTo>
                  <a:lnTo>
                    <a:pt x="46227" y="373253"/>
                  </a:lnTo>
                  <a:lnTo>
                    <a:pt x="53086" y="369316"/>
                  </a:lnTo>
                  <a:lnTo>
                    <a:pt x="56388" y="367284"/>
                  </a:lnTo>
                  <a:lnTo>
                    <a:pt x="60451" y="366903"/>
                  </a:lnTo>
                  <a:lnTo>
                    <a:pt x="462152" y="366903"/>
                  </a:lnTo>
                  <a:lnTo>
                    <a:pt x="468375" y="365125"/>
                  </a:lnTo>
                  <a:lnTo>
                    <a:pt x="506809" y="365125"/>
                  </a:lnTo>
                  <a:lnTo>
                    <a:pt x="520172" y="326186"/>
                  </a:lnTo>
                  <a:lnTo>
                    <a:pt x="525938" y="286512"/>
                  </a:lnTo>
                  <a:lnTo>
                    <a:pt x="264414" y="286512"/>
                  </a:lnTo>
                  <a:lnTo>
                    <a:pt x="255271" y="284741"/>
                  </a:lnTo>
                  <a:lnTo>
                    <a:pt x="247761" y="279876"/>
                  </a:lnTo>
                  <a:lnTo>
                    <a:pt x="242607" y="272581"/>
                  </a:lnTo>
                  <a:lnTo>
                    <a:pt x="240538" y="263525"/>
                  </a:lnTo>
                  <a:lnTo>
                    <a:pt x="165862" y="212470"/>
                  </a:lnTo>
                  <a:lnTo>
                    <a:pt x="161417" y="209676"/>
                  </a:lnTo>
                  <a:lnTo>
                    <a:pt x="160274" y="204088"/>
                  </a:lnTo>
                  <a:lnTo>
                    <a:pt x="162687" y="199644"/>
                  </a:lnTo>
                  <a:lnTo>
                    <a:pt x="165480" y="195199"/>
                  </a:lnTo>
                  <a:lnTo>
                    <a:pt x="171196" y="194056"/>
                  </a:lnTo>
                  <a:lnTo>
                    <a:pt x="331581" y="194056"/>
                  </a:lnTo>
                  <a:lnTo>
                    <a:pt x="373023" y="162941"/>
                  </a:lnTo>
                  <a:lnTo>
                    <a:pt x="58927" y="162941"/>
                  </a:lnTo>
                  <a:lnTo>
                    <a:pt x="45339" y="154939"/>
                  </a:lnTo>
                  <a:lnTo>
                    <a:pt x="42925" y="146176"/>
                  </a:lnTo>
                  <a:lnTo>
                    <a:pt x="46990" y="138937"/>
                  </a:lnTo>
                  <a:lnTo>
                    <a:pt x="49022" y="135636"/>
                  </a:lnTo>
                  <a:lnTo>
                    <a:pt x="52197" y="133350"/>
                  </a:lnTo>
                  <a:lnTo>
                    <a:pt x="55752" y="132334"/>
                  </a:lnTo>
                  <a:lnTo>
                    <a:pt x="59181" y="131444"/>
                  </a:lnTo>
                  <a:lnTo>
                    <a:pt x="462889" y="131444"/>
                  </a:lnTo>
                  <a:lnTo>
                    <a:pt x="463803" y="130937"/>
                  </a:lnTo>
                  <a:lnTo>
                    <a:pt x="467741" y="130429"/>
                  </a:lnTo>
                  <a:lnTo>
                    <a:pt x="490569" y="130429"/>
                  </a:lnTo>
                  <a:lnTo>
                    <a:pt x="480309" y="112511"/>
                  </a:lnTo>
                  <a:lnTo>
                    <a:pt x="450389" y="76962"/>
                  </a:lnTo>
                  <a:lnTo>
                    <a:pt x="145669" y="76962"/>
                  </a:lnTo>
                  <a:lnTo>
                    <a:pt x="136905" y="74549"/>
                  </a:lnTo>
                  <a:lnTo>
                    <a:pt x="132969" y="67563"/>
                  </a:lnTo>
                  <a:lnTo>
                    <a:pt x="128904" y="60579"/>
                  </a:lnTo>
                  <a:lnTo>
                    <a:pt x="131318" y="51181"/>
                  </a:lnTo>
                  <a:lnTo>
                    <a:pt x="138049" y="47117"/>
                  </a:lnTo>
                  <a:lnTo>
                    <a:pt x="141731" y="44957"/>
                  </a:lnTo>
                  <a:lnTo>
                    <a:pt x="145669" y="44576"/>
                  </a:lnTo>
                  <a:lnTo>
                    <a:pt x="377634" y="44576"/>
                  </a:lnTo>
                  <a:lnTo>
                    <a:pt x="380746" y="43687"/>
                  </a:lnTo>
                  <a:lnTo>
                    <a:pt x="409115" y="43687"/>
                  </a:lnTo>
                  <a:lnTo>
                    <a:pt x="407313" y="42672"/>
                  </a:lnTo>
                  <a:lnTo>
                    <a:pt x="255016" y="42672"/>
                  </a:lnTo>
                  <a:lnTo>
                    <a:pt x="248157" y="35813"/>
                  </a:lnTo>
                  <a:lnTo>
                    <a:pt x="248157" y="0"/>
                  </a:lnTo>
                  <a:close/>
                </a:path>
                <a:path w="527684" h="527685">
                  <a:moveTo>
                    <a:pt x="406737" y="484631"/>
                  </a:moveTo>
                  <a:lnTo>
                    <a:pt x="272669" y="484631"/>
                  </a:lnTo>
                  <a:lnTo>
                    <a:pt x="279146" y="491109"/>
                  </a:lnTo>
                  <a:lnTo>
                    <a:pt x="279146" y="526923"/>
                  </a:lnTo>
                  <a:lnTo>
                    <a:pt x="328032" y="519522"/>
                  </a:lnTo>
                  <a:lnTo>
                    <a:pt x="373534" y="503606"/>
                  </a:lnTo>
                  <a:lnTo>
                    <a:pt x="406737" y="484631"/>
                  </a:lnTo>
                  <a:close/>
                </a:path>
                <a:path w="527684" h="527685">
                  <a:moveTo>
                    <a:pt x="377729" y="452755"/>
                  </a:moveTo>
                  <a:lnTo>
                    <a:pt x="146939" y="452755"/>
                  </a:lnTo>
                  <a:lnTo>
                    <a:pt x="150875" y="453263"/>
                  </a:lnTo>
                  <a:lnTo>
                    <a:pt x="154304" y="455168"/>
                  </a:lnTo>
                  <a:lnTo>
                    <a:pt x="161417" y="459231"/>
                  </a:lnTo>
                  <a:lnTo>
                    <a:pt x="163829" y="467994"/>
                  </a:lnTo>
                  <a:lnTo>
                    <a:pt x="159385" y="475106"/>
                  </a:lnTo>
                  <a:lnTo>
                    <a:pt x="155448" y="481964"/>
                  </a:lnTo>
                  <a:lnTo>
                    <a:pt x="146685" y="484378"/>
                  </a:lnTo>
                  <a:lnTo>
                    <a:pt x="407181" y="484378"/>
                  </a:lnTo>
                  <a:lnTo>
                    <a:pt x="408737" y="483488"/>
                  </a:lnTo>
                  <a:lnTo>
                    <a:pt x="382904" y="483488"/>
                  </a:lnTo>
                  <a:lnTo>
                    <a:pt x="373506" y="481075"/>
                  </a:lnTo>
                  <a:lnTo>
                    <a:pt x="369316" y="474218"/>
                  </a:lnTo>
                  <a:lnTo>
                    <a:pt x="365251" y="467106"/>
                  </a:lnTo>
                  <a:lnTo>
                    <a:pt x="367665" y="458343"/>
                  </a:lnTo>
                  <a:lnTo>
                    <a:pt x="375157" y="454279"/>
                  </a:lnTo>
                  <a:lnTo>
                    <a:pt x="377729" y="452755"/>
                  </a:lnTo>
                  <a:close/>
                </a:path>
                <a:path w="527684" h="527685">
                  <a:moveTo>
                    <a:pt x="448300" y="451866"/>
                  </a:moveTo>
                  <a:lnTo>
                    <a:pt x="382524" y="451866"/>
                  </a:lnTo>
                  <a:lnTo>
                    <a:pt x="389890" y="453898"/>
                  </a:lnTo>
                  <a:lnTo>
                    <a:pt x="393192" y="456311"/>
                  </a:lnTo>
                  <a:lnTo>
                    <a:pt x="395224" y="459867"/>
                  </a:lnTo>
                  <a:lnTo>
                    <a:pt x="399288" y="466725"/>
                  </a:lnTo>
                  <a:lnTo>
                    <a:pt x="396875" y="475488"/>
                  </a:lnTo>
                  <a:lnTo>
                    <a:pt x="389890" y="479425"/>
                  </a:lnTo>
                  <a:lnTo>
                    <a:pt x="382904" y="483488"/>
                  </a:lnTo>
                  <a:lnTo>
                    <a:pt x="408737" y="483488"/>
                  </a:lnTo>
                  <a:lnTo>
                    <a:pt x="414792" y="480028"/>
                  </a:lnTo>
                  <a:lnTo>
                    <a:pt x="448300" y="451866"/>
                  </a:lnTo>
                  <a:close/>
                </a:path>
                <a:path w="527684" h="527685">
                  <a:moveTo>
                    <a:pt x="462152" y="366903"/>
                  </a:moveTo>
                  <a:lnTo>
                    <a:pt x="60451" y="366903"/>
                  </a:lnTo>
                  <a:lnTo>
                    <a:pt x="64135" y="367792"/>
                  </a:lnTo>
                  <a:lnTo>
                    <a:pt x="67691" y="368807"/>
                  </a:lnTo>
                  <a:lnTo>
                    <a:pt x="70993" y="371094"/>
                  </a:lnTo>
                  <a:lnTo>
                    <a:pt x="73025" y="374395"/>
                  </a:lnTo>
                  <a:lnTo>
                    <a:pt x="76962" y="381635"/>
                  </a:lnTo>
                  <a:lnTo>
                    <a:pt x="74549" y="390398"/>
                  </a:lnTo>
                  <a:lnTo>
                    <a:pt x="67437" y="394335"/>
                  </a:lnTo>
                  <a:lnTo>
                    <a:pt x="60578" y="398399"/>
                  </a:lnTo>
                  <a:lnTo>
                    <a:pt x="489537" y="398399"/>
                  </a:lnTo>
                  <a:lnTo>
                    <a:pt x="490038" y="397510"/>
                  </a:lnTo>
                  <a:lnTo>
                    <a:pt x="468122" y="397510"/>
                  </a:lnTo>
                  <a:lnTo>
                    <a:pt x="461264" y="393445"/>
                  </a:lnTo>
                  <a:lnTo>
                    <a:pt x="454532" y="389255"/>
                  </a:lnTo>
                  <a:lnTo>
                    <a:pt x="452120" y="380238"/>
                  </a:lnTo>
                  <a:lnTo>
                    <a:pt x="456897" y="371729"/>
                  </a:lnTo>
                  <a:lnTo>
                    <a:pt x="458089" y="369569"/>
                  </a:lnTo>
                  <a:lnTo>
                    <a:pt x="461264" y="367156"/>
                  </a:lnTo>
                  <a:lnTo>
                    <a:pt x="462152" y="366903"/>
                  </a:lnTo>
                  <a:close/>
                </a:path>
                <a:path w="527684" h="527685">
                  <a:moveTo>
                    <a:pt x="506809" y="365125"/>
                  </a:moveTo>
                  <a:lnTo>
                    <a:pt x="468375" y="365125"/>
                  </a:lnTo>
                  <a:lnTo>
                    <a:pt x="472313" y="365506"/>
                  </a:lnTo>
                  <a:lnTo>
                    <a:pt x="475615" y="367538"/>
                  </a:lnTo>
                  <a:lnTo>
                    <a:pt x="482853" y="371729"/>
                  </a:lnTo>
                  <a:lnTo>
                    <a:pt x="485267" y="381126"/>
                  </a:lnTo>
                  <a:lnTo>
                    <a:pt x="481202" y="388112"/>
                  </a:lnTo>
                  <a:lnTo>
                    <a:pt x="477266" y="394969"/>
                  </a:lnTo>
                  <a:lnTo>
                    <a:pt x="468122" y="397510"/>
                  </a:lnTo>
                  <a:lnTo>
                    <a:pt x="490038" y="397510"/>
                  </a:lnTo>
                  <a:lnTo>
                    <a:pt x="504495" y="371867"/>
                  </a:lnTo>
                  <a:lnTo>
                    <a:pt x="506809" y="365125"/>
                  </a:lnTo>
                  <a:close/>
                </a:path>
                <a:path w="527684" h="527685">
                  <a:moveTo>
                    <a:pt x="451301" y="145161"/>
                  </a:moveTo>
                  <a:lnTo>
                    <a:pt x="398272" y="145161"/>
                  </a:lnTo>
                  <a:lnTo>
                    <a:pt x="400685" y="145414"/>
                  </a:lnTo>
                  <a:lnTo>
                    <a:pt x="402971" y="145795"/>
                  </a:lnTo>
                  <a:lnTo>
                    <a:pt x="405129" y="146938"/>
                  </a:lnTo>
                  <a:lnTo>
                    <a:pt x="410082" y="153035"/>
                  </a:lnTo>
                  <a:lnTo>
                    <a:pt x="409575" y="158623"/>
                  </a:lnTo>
                  <a:lnTo>
                    <a:pt x="405638" y="161798"/>
                  </a:lnTo>
                  <a:lnTo>
                    <a:pt x="287781" y="262000"/>
                  </a:lnTo>
                  <a:lnTo>
                    <a:pt x="287781" y="262381"/>
                  </a:lnTo>
                  <a:lnTo>
                    <a:pt x="288163" y="262381"/>
                  </a:lnTo>
                  <a:lnTo>
                    <a:pt x="288163" y="262763"/>
                  </a:lnTo>
                  <a:lnTo>
                    <a:pt x="286256" y="272045"/>
                  </a:lnTo>
                  <a:lnTo>
                    <a:pt x="281098" y="279590"/>
                  </a:lnTo>
                  <a:lnTo>
                    <a:pt x="273536" y="284658"/>
                  </a:lnTo>
                  <a:lnTo>
                    <a:pt x="264414" y="286512"/>
                  </a:lnTo>
                  <a:lnTo>
                    <a:pt x="525938" y="286512"/>
                  </a:lnTo>
                  <a:lnTo>
                    <a:pt x="527303" y="277113"/>
                  </a:lnTo>
                  <a:lnTo>
                    <a:pt x="491490" y="277113"/>
                  </a:lnTo>
                  <a:lnTo>
                    <a:pt x="484631" y="270763"/>
                  </a:lnTo>
                  <a:lnTo>
                    <a:pt x="484631" y="254635"/>
                  </a:lnTo>
                  <a:lnTo>
                    <a:pt x="491490" y="248157"/>
                  </a:lnTo>
                  <a:lnTo>
                    <a:pt x="527303" y="248157"/>
                  </a:lnTo>
                  <a:lnTo>
                    <a:pt x="519888" y="199271"/>
                  </a:lnTo>
                  <a:lnTo>
                    <a:pt x="506526" y="161162"/>
                  </a:lnTo>
                  <a:lnTo>
                    <a:pt x="467995" y="161162"/>
                  </a:lnTo>
                  <a:lnTo>
                    <a:pt x="459231" y="159131"/>
                  </a:lnTo>
                  <a:lnTo>
                    <a:pt x="451230" y="145414"/>
                  </a:lnTo>
                  <a:lnTo>
                    <a:pt x="451301" y="145161"/>
                  </a:lnTo>
                  <a:close/>
                </a:path>
                <a:path w="527684" h="527685">
                  <a:moveTo>
                    <a:pt x="331581" y="194056"/>
                  </a:moveTo>
                  <a:lnTo>
                    <a:pt x="171196" y="194056"/>
                  </a:lnTo>
                  <a:lnTo>
                    <a:pt x="175641" y="196850"/>
                  </a:lnTo>
                  <a:lnTo>
                    <a:pt x="249809" y="237362"/>
                  </a:lnTo>
                  <a:lnTo>
                    <a:pt x="255524" y="240664"/>
                  </a:lnTo>
                  <a:lnTo>
                    <a:pt x="258318" y="239394"/>
                  </a:lnTo>
                  <a:lnTo>
                    <a:pt x="261112" y="239013"/>
                  </a:lnTo>
                  <a:lnTo>
                    <a:pt x="271442" y="239013"/>
                  </a:lnTo>
                  <a:lnTo>
                    <a:pt x="277622" y="234569"/>
                  </a:lnTo>
                  <a:lnTo>
                    <a:pt x="331581" y="194056"/>
                  </a:lnTo>
                  <a:close/>
                </a:path>
                <a:path w="527684" h="527685">
                  <a:moveTo>
                    <a:pt x="271442" y="239013"/>
                  </a:moveTo>
                  <a:lnTo>
                    <a:pt x="266319" y="239013"/>
                  </a:lnTo>
                  <a:lnTo>
                    <a:pt x="270382" y="239775"/>
                  </a:lnTo>
                  <a:lnTo>
                    <a:pt x="271442" y="239013"/>
                  </a:lnTo>
                  <a:close/>
                </a:path>
                <a:path w="527684" h="527685">
                  <a:moveTo>
                    <a:pt x="462889" y="131444"/>
                  </a:moveTo>
                  <a:lnTo>
                    <a:pt x="59181" y="131444"/>
                  </a:lnTo>
                  <a:lnTo>
                    <a:pt x="63119" y="131825"/>
                  </a:lnTo>
                  <a:lnTo>
                    <a:pt x="66548" y="133857"/>
                  </a:lnTo>
                  <a:lnTo>
                    <a:pt x="73660" y="137794"/>
                  </a:lnTo>
                  <a:lnTo>
                    <a:pt x="76073" y="146557"/>
                  </a:lnTo>
                  <a:lnTo>
                    <a:pt x="72136" y="153797"/>
                  </a:lnTo>
                  <a:lnTo>
                    <a:pt x="68072" y="160528"/>
                  </a:lnTo>
                  <a:lnTo>
                    <a:pt x="58927" y="162941"/>
                  </a:lnTo>
                  <a:lnTo>
                    <a:pt x="373023" y="162941"/>
                  </a:lnTo>
                  <a:lnTo>
                    <a:pt x="395859" y="145795"/>
                  </a:lnTo>
                  <a:lnTo>
                    <a:pt x="398272" y="145161"/>
                  </a:lnTo>
                  <a:lnTo>
                    <a:pt x="451301" y="145161"/>
                  </a:lnTo>
                  <a:lnTo>
                    <a:pt x="453644" y="136779"/>
                  </a:lnTo>
                  <a:lnTo>
                    <a:pt x="460375" y="132842"/>
                  </a:lnTo>
                  <a:lnTo>
                    <a:pt x="462889" y="131444"/>
                  </a:lnTo>
                  <a:close/>
                </a:path>
                <a:path w="527684" h="527685">
                  <a:moveTo>
                    <a:pt x="490569" y="130429"/>
                  </a:moveTo>
                  <a:lnTo>
                    <a:pt x="467741" y="130429"/>
                  </a:lnTo>
                  <a:lnTo>
                    <a:pt x="471424" y="131444"/>
                  </a:lnTo>
                  <a:lnTo>
                    <a:pt x="475106" y="132334"/>
                  </a:lnTo>
                  <a:lnTo>
                    <a:pt x="478409" y="134619"/>
                  </a:lnTo>
                  <a:lnTo>
                    <a:pt x="480314" y="137922"/>
                  </a:lnTo>
                  <a:lnTo>
                    <a:pt x="484377" y="144653"/>
                  </a:lnTo>
                  <a:lnTo>
                    <a:pt x="481965" y="153288"/>
                  </a:lnTo>
                  <a:lnTo>
                    <a:pt x="474725" y="157225"/>
                  </a:lnTo>
                  <a:lnTo>
                    <a:pt x="467995" y="161162"/>
                  </a:lnTo>
                  <a:lnTo>
                    <a:pt x="506526" y="161162"/>
                  </a:lnTo>
                  <a:lnTo>
                    <a:pt x="503934" y="153769"/>
                  </a:lnTo>
                  <a:lnTo>
                    <a:pt x="490569" y="130429"/>
                  </a:lnTo>
                  <a:close/>
                </a:path>
                <a:path w="527684" h="527685">
                  <a:moveTo>
                    <a:pt x="377634" y="44576"/>
                  </a:moveTo>
                  <a:lnTo>
                    <a:pt x="145669" y="44576"/>
                  </a:lnTo>
                  <a:lnTo>
                    <a:pt x="152907" y="46609"/>
                  </a:lnTo>
                  <a:lnTo>
                    <a:pt x="156082" y="49149"/>
                  </a:lnTo>
                  <a:lnTo>
                    <a:pt x="157988" y="52831"/>
                  </a:lnTo>
                  <a:lnTo>
                    <a:pt x="162051" y="59817"/>
                  </a:lnTo>
                  <a:lnTo>
                    <a:pt x="159639" y="68834"/>
                  </a:lnTo>
                  <a:lnTo>
                    <a:pt x="152907" y="72898"/>
                  </a:lnTo>
                  <a:lnTo>
                    <a:pt x="145669" y="76962"/>
                  </a:lnTo>
                  <a:lnTo>
                    <a:pt x="450389" y="76962"/>
                  </a:lnTo>
                  <a:lnTo>
                    <a:pt x="449881" y="76358"/>
                  </a:lnTo>
                  <a:lnTo>
                    <a:pt x="449537" y="76073"/>
                  </a:lnTo>
                  <a:lnTo>
                    <a:pt x="380746" y="76073"/>
                  </a:lnTo>
                  <a:lnTo>
                    <a:pt x="373506" y="72009"/>
                  </a:lnTo>
                  <a:lnTo>
                    <a:pt x="366775" y="67944"/>
                  </a:lnTo>
                  <a:lnTo>
                    <a:pt x="364363" y="58928"/>
                  </a:lnTo>
                  <a:lnTo>
                    <a:pt x="368300" y="51943"/>
                  </a:lnTo>
                  <a:lnTo>
                    <a:pt x="370331" y="48260"/>
                  </a:lnTo>
                  <a:lnTo>
                    <a:pt x="373506" y="45719"/>
                  </a:lnTo>
                  <a:lnTo>
                    <a:pt x="377634" y="44576"/>
                  </a:lnTo>
                  <a:close/>
                </a:path>
                <a:path w="527684" h="527685">
                  <a:moveTo>
                    <a:pt x="409115" y="43687"/>
                  </a:moveTo>
                  <a:lnTo>
                    <a:pt x="380746" y="43687"/>
                  </a:lnTo>
                  <a:lnTo>
                    <a:pt x="384682" y="44068"/>
                  </a:lnTo>
                  <a:lnTo>
                    <a:pt x="388366" y="46228"/>
                  </a:lnTo>
                  <a:lnTo>
                    <a:pt x="395097" y="50292"/>
                  </a:lnTo>
                  <a:lnTo>
                    <a:pt x="397510" y="59309"/>
                  </a:lnTo>
                  <a:lnTo>
                    <a:pt x="393446" y="66675"/>
                  </a:lnTo>
                  <a:lnTo>
                    <a:pt x="389509" y="73660"/>
                  </a:lnTo>
                  <a:lnTo>
                    <a:pt x="380746" y="76073"/>
                  </a:lnTo>
                  <a:lnTo>
                    <a:pt x="449537" y="76073"/>
                  </a:lnTo>
                  <a:lnTo>
                    <a:pt x="413518" y="46170"/>
                  </a:lnTo>
                  <a:lnTo>
                    <a:pt x="409115" y="43687"/>
                  </a:lnTo>
                  <a:close/>
                </a:path>
                <a:path w="527684" h="527685">
                  <a:moveTo>
                    <a:pt x="277495" y="0"/>
                  </a:moveTo>
                  <a:lnTo>
                    <a:pt x="277495" y="35813"/>
                  </a:lnTo>
                  <a:lnTo>
                    <a:pt x="271145" y="42672"/>
                  </a:lnTo>
                  <a:lnTo>
                    <a:pt x="407313" y="42672"/>
                  </a:lnTo>
                  <a:lnTo>
                    <a:pt x="372088" y="22808"/>
                  </a:lnTo>
                  <a:lnTo>
                    <a:pt x="326457" y="7131"/>
                  </a:lnTo>
                  <a:lnTo>
                    <a:pt x="277495" y="0"/>
                  </a:lnTo>
                  <a:close/>
                </a:path>
              </a:pathLst>
            </a:custGeom>
            <a:solidFill>
              <a:srgbClr val="29B974"/>
            </a:solidFill>
          </p:spPr>
          <p:txBody>
            <a:bodyPr wrap="square" lIns="0" tIns="0" rIns="0" bIns="0" rtlCol="0"/>
            <a:lstStyle/>
            <a:p>
              <a:endParaRPr>
                <a:ea typeface="Microsoft YaHei" panose="020B0503020204020204" pitchFamily="34" charset="-122"/>
              </a:endParaRPr>
            </a:p>
          </p:txBody>
        </p:sp>
        <p:sp>
          <p:nvSpPr>
            <p:cNvPr id="19" name="object 19"/>
            <p:cNvSpPr/>
            <p:nvPr/>
          </p:nvSpPr>
          <p:spPr>
            <a:xfrm>
              <a:off x="2572511" y="4469764"/>
              <a:ext cx="736600" cy="607060"/>
            </a:xfrm>
            <a:custGeom>
              <a:avLst/>
              <a:gdLst/>
              <a:ahLst/>
              <a:cxnLst/>
              <a:rect l="l" t="t" r="r" b="b"/>
              <a:pathLst>
                <a:path w="736600" h="607060">
                  <a:moveTo>
                    <a:pt x="329819" y="428752"/>
                  </a:moveTo>
                  <a:lnTo>
                    <a:pt x="308641" y="466867"/>
                  </a:lnTo>
                  <a:lnTo>
                    <a:pt x="276606" y="500126"/>
                  </a:lnTo>
                  <a:lnTo>
                    <a:pt x="244594" y="522347"/>
                  </a:lnTo>
                  <a:lnTo>
                    <a:pt x="209010" y="538543"/>
                  </a:lnTo>
                  <a:lnTo>
                    <a:pt x="170807" y="548453"/>
                  </a:lnTo>
                  <a:lnTo>
                    <a:pt x="130937" y="551815"/>
                  </a:lnTo>
                  <a:lnTo>
                    <a:pt x="26543" y="551815"/>
                  </a:lnTo>
                  <a:lnTo>
                    <a:pt x="16287" y="553993"/>
                  </a:lnTo>
                  <a:lnTo>
                    <a:pt x="7842" y="559911"/>
                  </a:lnTo>
                  <a:lnTo>
                    <a:pt x="2111" y="568638"/>
                  </a:lnTo>
                  <a:lnTo>
                    <a:pt x="0" y="579247"/>
                  </a:lnTo>
                  <a:lnTo>
                    <a:pt x="2111" y="590016"/>
                  </a:lnTo>
                  <a:lnTo>
                    <a:pt x="7842" y="598725"/>
                  </a:lnTo>
                  <a:lnTo>
                    <a:pt x="16287" y="604553"/>
                  </a:lnTo>
                  <a:lnTo>
                    <a:pt x="26543" y="606679"/>
                  </a:lnTo>
                  <a:lnTo>
                    <a:pt x="130937" y="606679"/>
                  </a:lnTo>
                  <a:lnTo>
                    <a:pt x="179812" y="602503"/>
                  </a:lnTo>
                  <a:lnTo>
                    <a:pt x="226663" y="590232"/>
                  </a:lnTo>
                  <a:lnTo>
                    <a:pt x="270418" y="570245"/>
                  </a:lnTo>
                  <a:lnTo>
                    <a:pt x="310006" y="542925"/>
                  </a:lnTo>
                  <a:lnTo>
                    <a:pt x="345350" y="506902"/>
                  </a:lnTo>
                  <a:lnTo>
                    <a:pt x="355219" y="493649"/>
                  </a:lnTo>
                  <a:lnTo>
                    <a:pt x="354330" y="492887"/>
                  </a:lnTo>
                  <a:lnTo>
                    <a:pt x="353949" y="491744"/>
                  </a:lnTo>
                  <a:lnTo>
                    <a:pt x="353187" y="490855"/>
                  </a:lnTo>
                  <a:lnTo>
                    <a:pt x="345606" y="476079"/>
                  </a:lnTo>
                  <a:lnTo>
                    <a:pt x="339217" y="460756"/>
                  </a:lnTo>
                  <a:lnTo>
                    <a:pt x="333970" y="444956"/>
                  </a:lnTo>
                  <a:lnTo>
                    <a:pt x="329819" y="428752"/>
                  </a:lnTo>
                  <a:close/>
                </a:path>
                <a:path w="736600" h="607060">
                  <a:moveTo>
                    <a:pt x="720344" y="185039"/>
                  </a:moveTo>
                  <a:lnTo>
                    <a:pt x="643636" y="185039"/>
                  </a:lnTo>
                  <a:lnTo>
                    <a:pt x="559562" y="267716"/>
                  </a:lnTo>
                  <a:lnTo>
                    <a:pt x="553565" y="276625"/>
                  </a:lnTo>
                  <a:lnTo>
                    <a:pt x="551402" y="286893"/>
                  </a:lnTo>
                  <a:lnTo>
                    <a:pt x="553096" y="297255"/>
                  </a:lnTo>
                  <a:lnTo>
                    <a:pt x="558673" y="306451"/>
                  </a:lnTo>
                  <a:lnTo>
                    <a:pt x="563880" y="312039"/>
                  </a:lnTo>
                  <a:lnTo>
                    <a:pt x="570738" y="314833"/>
                  </a:lnTo>
                  <a:lnTo>
                    <a:pt x="584454" y="314833"/>
                  </a:lnTo>
                  <a:lnTo>
                    <a:pt x="590931" y="312420"/>
                  </a:lnTo>
                  <a:lnTo>
                    <a:pt x="596138" y="307213"/>
                  </a:lnTo>
                  <a:lnTo>
                    <a:pt x="720344" y="185039"/>
                  </a:lnTo>
                  <a:close/>
                </a:path>
                <a:path w="736600" h="607060">
                  <a:moveTo>
                    <a:pt x="584073" y="0"/>
                  </a:moveTo>
                  <a:lnTo>
                    <a:pt x="551402" y="28019"/>
                  </a:lnTo>
                  <a:lnTo>
                    <a:pt x="553565" y="38280"/>
                  </a:lnTo>
                  <a:lnTo>
                    <a:pt x="559562" y="47243"/>
                  </a:lnTo>
                  <a:lnTo>
                    <a:pt x="643636" y="130302"/>
                  </a:lnTo>
                  <a:lnTo>
                    <a:pt x="596900" y="130302"/>
                  </a:lnTo>
                  <a:lnTo>
                    <a:pt x="557325" y="132998"/>
                  </a:lnTo>
                  <a:lnTo>
                    <a:pt x="519096" y="141017"/>
                  </a:lnTo>
                  <a:lnTo>
                    <a:pt x="482653" y="154251"/>
                  </a:lnTo>
                  <a:lnTo>
                    <a:pt x="448437" y="172593"/>
                  </a:lnTo>
                  <a:lnTo>
                    <a:pt x="407812" y="204787"/>
                  </a:lnTo>
                  <a:lnTo>
                    <a:pt x="376427" y="242697"/>
                  </a:lnTo>
                  <a:lnTo>
                    <a:pt x="385220" y="257843"/>
                  </a:lnTo>
                  <a:lnTo>
                    <a:pt x="392763" y="273573"/>
                  </a:lnTo>
                  <a:lnTo>
                    <a:pt x="399091" y="289899"/>
                  </a:lnTo>
                  <a:lnTo>
                    <a:pt x="404240" y="306832"/>
                  </a:lnTo>
                  <a:lnTo>
                    <a:pt x="415551" y="281443"/>
                  </a:lnTo>
                  <a:lnTo>
                    <a:pt x="451746" y="237716"/>
                  </a:lnTo>
                  <a:lnTo>
                    <a:pt x="504102" y="204434"/>
                  </a:lnTo>
                  <a:lnTo>
                    <a:pt x="564713" y="187217"/>
                  </a:lnTo>
                  <a:lnTo>
                    <a:pt x="596900" y="185039"/>
                  </a:lnTo>
                  <a:lnTo>
                    <a:pt x="720344" y="185039"/>
                  </a:lnTo>
                  <a:lnTo>
                    <a:pt x="728090" y="177419"/>
                  </a:lnTo>
                  <a:lnTo>
                    <a:pt x="728090" y="177037"/>
                  </a:lnTo>
                  <a:lnTo>
                    <a:pt x="728852" y="176276"/>
                  </a:lnTo>
                  <a:lnTo>
                    <a:pt x="729234" y="175768"/>
                  </a:lnTo>
                  <a:lnTo>
                    <a:pt x="729996" y="175006"/>
                  </a:lnTo>
                  <a:lnTo>
                    <a:pt x="729996" y="174625"/>
                  </a:lnTo>
                  <a:lnTo>
                    <a:pt x="730503" y="174244"/>
                  </a:lnTo>
                  <a:lnTo>
                    <a:pt x="730885" y="173862"/>
                  </a:lnTo>
                  <a:lnTo>
                    <a:pt x="730885" y="173355"/>
                  </a:lnTo>
                  <a:lnTo>
                    <a:pt x="731265" y="173355"/>
                  </a:lnTo>
                  <a:lnTo>
                    <a:pt x="731265" y="172974"/>
                  </a:lnTo>
                  <a:lnTo>
                    <a:pt x="731647" y="172593"/>
                  </a:lnTo>
                  <a:lnTo>
                    <a:pt x="732027" y="171831"/>
                  </a:lnTo>
                  <a:lnTo>
                    <a:pt x="732409" y="171323"/>
                  </a:lnTo>
                  <a:lnTo>
                    <a:pt x="732409" y="170942"/>
                  </a:lnTo>
                  <a:lnTo>
                    <a:pt x="732916" y="170942"/>
                  </a:lnTo>
                  <a:lnTo>
                    <a:pt x="732916" y="170561"/>
                  </a:lnTo>
                  <a:lnTo>
                    <a:pt x="734822" y="167005"/>
                  </a:lnTo>
                  <a:lnTo>
                    <a:pt x="736091" y="162560"/>
                  </a:lnTo>
                  <a:lnTo>
                    <a:pt x="736091" y="152781"/>
                  </a:lnTo>
                  <a:lnTo>
                    <a:pt x="734822" y="148462"/>
                  </a:lnTo>
                  <a:lnTo>
                    <a:pt x="732916" y="144399"/>
                  </a:lnTo>
                  <a:lnTo>
                    <a:pt x="732916" y="144018"/>
                  </a:lnTo>
                  <a:lnTo>
                    <a:pt x="732409" y="144018"/>
                  </a:lnTo>
                  <a:lnTo>
                    <a:pt x="732027" y="143129"/>
                  </a:lnTo>
                  <a:lnTo>
                    <a:pt x="731647" y="142748"/>
                  </a:lnTo>
                  <a:lnTo>
                    <a:pt x="731265" y="141986"/>
                  </a:lnTo>
                  <a:lnTo>
                    <a:pt x="730885" y="141605"/>
                  </a:lnTo>
                  <a:lnTo>
                    <a:pt x="730805" y="141017"/>
                  </a:lnTo>
                  <a:lnTo>
                    <a:pt x="730503" y="140716"/>
                  </a:lnTo>
                  <a:lnTo>
                    <a:pt x="729996" y="140335"/>
                  </a:lnTo>
                  <a:lnTo>
                    <a:pt x="729996" y="139954"/>
                  </a:lnTo>
                  <a:lnTo>
                    <a:pt x="729614" y="139573"/>
                  </a:lnTo>
                  <a:lnTo>
                    <a:pt x="729234" y="139573"/>
                  </a:lnTo>
                  <a:lnTo>
                    <a:pt x="729234" y="139192"/>
                  </a:lnTo>
                  <a:lnTo>
                    <a:pt x="728852" y="138684"/>
                  </a:lnTo>
                  <a:lnTo>
                    <a:pt x="728090" y="137922"/>
                  </a:lnTo>
                  <a:lnTo>
                    <a:pt x="728090" y="137541"/>
                  </a:lnTo>
                  <a:lnTo>
                    <a:pt x="596138" y="7747"/>
                  </a:lnTo>
                  <a:lnTo>
                    <a:pt x="590931" y="2540"/>
                  </a:lnTo>
                  <a:lnTo>
                    <a:pt x="584073" y="0"/>
                  </a:lnTo>
                  <a:close/>
                </a:path>
              </a:pathLst>
            </a:custGeom>
            <a:solidFill>
              <a:srgbClr val="03522C"/>
            </a:solidFill>
          </p:spPr>
          <p:txBody>
            <a:bodyPr wrap="square" lIns="0" tIns="0" rIns="0" bIns="0" rtlCol="0"/>
            <a:lstStyle/>
            <a:p>
              <a:endParaRPr>
                <a:ea typeface="Microsoft YaHei" panose="020B0503020204020204" pitchFamily="34" charset="-122"/>
              </a:endParaRPr>
            </a:p>
          </p:txBody>
        </p:sp>
        <p:sp>
          <p:nvSpPr>
            <p:cNvPr id="20" name="object 20"/>
            <p:cNvSpPr/>
            <p:nvPr/>
          </p:nvSpPr>
          <p:spPr>
            <a:xfrm>
              <a:off x="2572511" y="4600955"/>
              <a:ext cx="736600" cy="607060"/>
            </a:xfrm>
            <a:custGeom>
              <a:avLst/>
              <a:gdLst/>
              <a:ahLst/>
              <a:cxnLst/>
              <a:rect l="l" t="t" r="r" b="b"/>
              <a:pathLst>
                <a:path w="736600" h="607060">
                  <a:moveTo>
                    <a:pt x="130810" y="0"/>
                  </a:moveTo>
                  <a:lnTo>
                    <a:pt x="26543" y="0"/>
                  </a:lnTo>
                  <a:lnTo>
                    <a:pt x="16287" y="2125"/>
                  </a:lnTo>
                  <a:lnTo>
                    <a:pt x="7842" y="7953"/>
                  </a:lnTo>
                  <a:lnTo>
                    <a:pt x="2111" y="16662"/>
                  </a:lnTo>
                  <a:lnTo>
                    <a:pt x="0" y="27432"/>
                  </a:lnTo>
                  <a:lnTo>
                    <a:pt x="2111" y="37986"/>
                  </a:lnTo>
                  <a:lnTo>
                    <a:pt x="7842" y="46720"/>
                  </a:lnTo>
                  <a:lnTo>
                    <a:pt x="16287" y="52667"/>
                  </a:lnTo>
                  <a:lnTo>
                    <a:pt x="26543" y="54864"/>
                  </a:lnTo>
                  <a:lnTo>
                    <a:pt x="130810" y="54864"/>
                  </a:lnTo>
                  <a:lnTo>
                    <a:pt x="170753" y="58205"/>
                  </a:lnTo>
                  <a:lnTo>
                    <a:pt x="208994" y="68072"/>
                  </a:lnTo>
                  <a:lnTo>
                    <a:pt x="244592" y="84224"/>
                  </a:lnTo>
                  <a:lnTo>
                    <a:pt x="276606" y="106426"/>
                  </a:lnTo>
                  <a:lnTo>
                    <a:pt x="304248" y="134219"/>
                  </a:lnTo>
                  <a:lnTo>
                    <a:pt x="336720" y="200187"/>
                  </a:lnTo>
                  <a:lnTo>
                    <a:pt x="341502" y="238125"/>
                  </a:lnTo>
                  <a:lnTo>
                    <a:pt x="341502" y="242570"/>
                  </a:lnTo>
                  <a:lnTo>
                    <a:pt x="343058" y="270644"/>
                  </a:lnTo>
                  <a:lnTo>
                    <a:pt x="355219" y="322651"/>
                  </a:lnTo>
                  <a:lnTo>
                    <a:pt x="381031" y="371435"/>
                  </a:lnTo>
                  <a:lnTo>
                    <a:pt x="422354" y="415377"/>
                  </a:lnTo>
                  <a:lnTo>
                    <a:pt x="482401" y="452427"/>
                  </a:lnTo>
                  <a:lnTo>
                    <a:pt x="518858" y="465661"/>
                  </a:lnTo>
                  <a:lnTo>
                    <a:pt x="557125" y="473680"/>
                  </a:lnTo>
                  <a:lnTo>
                    <a:pt x="596773" y="476377"/>
                  </a:lnTo>
                  <a:lnTo>
                    <a:pt x="643508" y="476377"/>
                  </a:lnTo>
                  <a:lnTo>
                    <a:pt x="559307" y="559435"/>
                  </a:lnTo>
                  <a:lnTo>
                    <a:pt x="553366" y="568342"/>
                  </a:lnTo>
                  <a:lnTo>
                    <a:pt x="551211" y="578596"/>
                  </a:lnTo>
                  <a:lnTo>
                    <a:pt x="552914" y="588920"/>
                  </a:lnTo>
                  <a:lnTo>
                    <a:pt x="558545" y="598043"/>
                  </a:lnTo>
                  <a:lnTo>
                    <a:pt x="563752" y="603758"/>
                  </a:lnTo>
                  <a:lnTo>
                    <a:pt x="570611" y="606552"/>
                  </a:lnTo>
                  <a:lnTo>
                    <a:pt x="584326" y="606552"/>
                  </a:lnTo>
                  <a:lnTo>
                    <a:pt x="590676" y="604139"/>
                  </a:lnTo>
                  <a:lnTo>
                    <a:pt x="728090" y="469138"/>
                  </a:lnTo>
                  <a:lnTo>
                    <a:pt x="728090" y="468757"/>
                  </a:lnTo>
                  <a:lnTo>
                    <a:pt x="728472" y="468376"/>
                  </a:lnTo>
                  <a:lnTo>
                    <a:pt x="728852" y="467868"/>
                  </a:lnTo>
                  <a:lnTo>
                    <a:pt x="729234" y="467487"/>
                  </a:lnTo>
                  <a:lnTo>
                    <a:pt x="729234" y="467106"/>
                  </a:lnTo>
                  <a:lnTo>
                    <a:pt x="729614" y="467106"/>
                  </a:lnTo>
                  <a:lnTo>
                    <a:pt x="729996" y="466725"/>
                  </a:lnTo>
                  <a:lnTo>
                    <a:pt x="729996" y="466344"/>
                  </a:lnTo>
                  <a:lnTo>
                    <a:pt x="730885" y="465455"/>
                  </a:lnTo>
                  <a:lnTo>
                    <a:pt x="730885" y="465074"/>
                  </a:lnTo>
                  <a:lnTo>
                    <a:pt x="731265" y="464693"/>
                  </a:lnTo>
                  <a:lnTo>
                    <a:pt x="731647" y="463931"/>
                  </a:lnTo>
                  <a:lnTo>
                    <a:pt x="732027" y="463423"/>
                  </a:lnTo>
                  <a:lnTo>
                    <a:pt x="732409" y="462661"/>
                  </a:lnTo>
                  <a:lnTo>
                    <a:pt x="732916" y="462661"/>
                  </a:lnTo>
                  <a:lnTo>
                    <a:pt x="732916" y="462280"/>
                  </a:lnTo>
                  <a:lnTo>
                    <a:pt x="734822" y="458216"/>
                  </a:lnTo>
                  <a:lnTo>
                    <a:pt x="736091" y="453771"/>
                  </a:lnTo>
                  <a:lnTo>
                    <a:pt x="736091" y="444119"/>
                  </a:lnTo>
                  <a:lnTo>
                    <a:pt x="734822" y="439674"/>
                  </a:lnTo>
                  <a:lnTo>
                    <a:pt x="732916" y="436118"/>
                  </a:lnTo>
                  <a:lnTo>
                    <a:pt x="732916" y="435610"/>
                  </a:lnTo>
                  <a:lnTo>
                    <a:pt x="732409" y="435610"/>
                  </a:lnTo>
                  <a:lnTo>
                    <a:pt x="732409" y="435229"/>
                  </a:lnTo>
                  <a:lnTo>
                    <a:pt x="732027" y="434848"/>
                  </a:lnTo>
                  <a:lnTo>
                    <a:pt x="731647" y="434086"/>
                  </a:lnTo>
                  <a:lnTo>
                    <a:pt x="731265" y="433705"/>
                  </a:lnTo>
                  <a:lnTo>
                    <a:pt x="731265" y="433197"/>
                  </a:lnTo>
                  <a:lnTo>
                    <a:pt x="730885" y="433197"/>
                  </a:lnTo>
                  <a:lnTo>
                    <a:pt x="730885" y="432816"/>
                  </a:lnTo>
                  <a:lnTo>
                    <a:pt x="730503" y="432435"/>
                  </a:lnTo>
                  <a:lnTo>
                    <a:pt x="729996" y="432054"/>
                  </a:lnTo>
                  <a:lnTo>
                    <a:pt x="729996" y="431673"/>
                  </a:lnTo>
                  <a:lnTo>
                    <a:pt x="729614" y="431292"/>
                  </a:lnTo>
                  <a:lnTo>
                    <a:pt x="729234" y="430784"/>
                  </a:lnTo>
                  <a:lnTo>
                    <a:pt x="728090" y="429641"/>
                  </a:lnTo>
                  <a:lnTo>
                    <a:pt x="728090" y="429260"/>
                  </a:lnTo>
                  <a:lnTo>
                    <a:pt x="720207" y="421513"/>
                  </a:lnTo>
                  <a:lnTo>
                    <a:pt x="596773" y="421513"/>
                  </a:lnTo>
                  <a:lnTo>
                    <a:pt x="564566" y="419336"/>
                  </a:lnTo>
                  <a:lnTo>
                    <a:pt x="503868" y="402171"/>
                  </a:lnTo>
                  <a:lnTo>
                    <a:pt x="440666" y="358941"/>
                  </a:lnTo>
                  <a:lnTo>
                    <a:pt x="415099" y="325247"/>
                  </a:lnTo>
                  <a:lnTo>
                    <a:pt x="399724" y="286408"/>
                  </a:lnTo>
                  <a:lnTo>
                    <a:pt x="394588" y="242570"/>
                  </a:lnTo>
                  <a:lnTo>
                    <a:pt x="394588" y="238125"/>
                  </a:lnTo>
                  <a:lnTo>
                    <a:pt x="392350" y="209125"/>
                  </a:lnTo>
                  <a:lnTo>
                    <a:pt x="377872" y="154936"/>
                  </a:lnTo>
                  <a:lnTo>
                    <a:pt x="354441" y="111793"/>
                  </a:lnTo>
                  <a:lnTo>
                    <a:pt x="326628" y="78698"/>
                  </a:lnTo>
                  <a:lnTo>
                    <a:pt x="270398" y="36379"/>
                  </a:lnTo>
                  <a:lnTo>
                    <a:pt x="226599" y="16430"/>
                  </a:lnTo>
                  <a:lnTo>
                    <a:pt x="179705" y="4173"/>
                  </a:lnTo>
                  <a:lnTo>
                    <a:pt x="130810" y="0"/>
                  </a:lnTo>
                  <a:close/>
                </a:path>
                <a:path w="736600" h="607060">
                  <a:moveTo>
                    <a:pt x="584326" y="291846"/>
                  </a:moveTo>
                  <a:lnTo>
                    <a:pt x="570611" y="291846"/>
                  </a:lnTo>
                  <a:lnTo>
                    <a:pt x="563752" y="294640"/>
                  </a:lnTo>
                  <a:lnTo>
                    <a:pt x="558545" y="300228"/>
                  </a:lnTo>
                  <a:lnTo>
                    <a:pt x="552914" y="309405"/>
                  </a:lnTo>
                  <a:lnTo>
                    <a:pt x="551211" y="319738"/>
                  </a:lnTo>
                  <a:lnTo>
                    <a:pt x="553366" y="329999"/>
                  </a:lnTo>
                  <a:lnTo>
                    <a:pt x="559307" y="338963"/>
                  </a:lnTo>
                  <a:lnTo>
                    <a:pt x="643508" y="421513"/>
                  </a:lnTo>
                  <a:lnTo>
                    <a:pt x="720207" y="421513"/>
                  </a:lnTo>
                  <a:lnTo>
                    <a:pt x="590676" y="294259"/>
                  </a:lnTo>
                  <a:lnTo>
                    <a:pt x="584326" y="291846"/>
                  </a:lnTo>
                  <a:close/>
                </a:path>
              </a:pathLst>
            </a:custGeom>
            <a:solidFill>
              <a:srgbClr val="29B974"/>
            </a:solidFill>
          </p:spPr>
          <p:txBody>
            <a:bodyPr wrap="square" lIns="0" tIns="0" rIns="0" bIns="0" rtlCol="0"/>
            <a:lstStyle/>
            <a:p>
              <a:endParaRPr>
                <a:ea typeface="Microsoft YaHei" panose="020B0503020204020204" pitchFamily="34" charset="-122"/>
              </a:endParaRPr>
            </a:p>
          </p:txBody>
        </p:sp>
        <p:sp>
          <p:nvSpPr>
            <p:cNvPr id="21" name="object 21"/>
            <p:cNvSpPr/>
            <p:nvPr/>
          </p:nvSpPr>
          <p:spPr>
            <a:xfrm>
              <a:off x="2670047" y="1807463"/>
              <a:ext cx="559435" cy="579120"/>
            </a:xfrm>
            <a:custGeom>
              <a:avLst/>
              <a:gdLst/>
              <a:ahLst/>
              <a:cxnLst/>
              <a:rect l="l" t="t" r="r" b="b"/>
              <a:pathLst>
                <a:path w="559435" h="579119">
                  <a:moveTo>
                    <a:pt x="12445" y="490982"/>
                  </a:moveTo>
                  <a:lnTo>
                    <a:pt x="7238" y="490982"/>
                  </a:lnTo>
                  <a:lnTo>
                    <a:pt x="3556" y="494157"/>
                  </a:lnTo>
                  <a:lnTo>
                    <a:pt x="0" y="497713"/>
                  </a:lnTo>
                  <a:lnTo>
                    <a:pt x="0" y="503427"/>
                  </a:lnTo>
                  <a:lnTo>
                    <a:pt x="3175" y="506602"/>
                  </a:lnTo>
                  <a:lnTo>
                    <a:pt x="42163" y="546481"/>
                  </a:lnTo>
                  <a:lnTo>
                    <a:pt x="43814" y="548513"/>
                  </a:lnTo>
                  <a:lnTo>
                    <a:pt x="46227" y="549275"/>
                  </a:lnTo>
                  <a:lnTo>
                    <a:pt x="52324" y="549275"/>
                  </a:lnTo>
                  <a:lnTo>
                    <a:pt x="55118" y="547751"/>
                  </a:lnTo>
                  <a:lnTo>
                    <a:pt x="56641" y="544830"/>
                  </a:lnTo>
                  <a:lnTo>
                    <a:pt x="82913" y="519175"/>
                  </a:lnTo>
                  <a:lnTo>
                    <a:pt x="40258" y="519175"/>
                  </a:lnTo>
                  <a:lnTo>
                    <a:pt x="16128" y="494538"/>
                  </a:lnTo>
                  <a:lnTo>
                    <a:pt x="12445" y="490982"/>
                  </a:lnTo>
                  <a:close/>
                </a:path>
                <a:path w="559435" h="579119">
                  <a:moveTo>
                    <a:pt x="213487" y="0"/>
                  </a:moveTo>
                  <a:lnTo>
                    <a:pt x="203453" y="0"/>
                  </a:lnTo>
                  <a:lnTo>
                    <a:pt x="199389" y="4063"/>
                  </a:lnTo>
                  <a:lnTo>
                    <a:pt x="199389" y="181990"/>
                  </a:lnTo>
                  <a:lnTo>
                    <a:pt x="41020" y="340740"/>
                  </a:lnTo>
                  <a:lnTo>
                    <a:pt x="40258" y="342773"/>
                  </a:lnTo>
                  <a:lnTo>
                    <a:pt x="40258" y="519175"/>
                  </a:lnTo>
                  <a:lnTo>
                    <a:pt x="57912" y="519175"/>
                  </a:lnTo>
                  <a:lnTo>
                    <a:pt x="57912" y="348741"/>
                  </a:lnTo>
                  <a:lnTo>
                    <a:pt x="216281" y="190119"/>
                  </a:lnTo>
                  <a:lnTo>
                    <a:pt x="217169" y="188087"/>
                  </a:lnTo>
                  <a:lnTo>
                    <a:pt x="217169" y="4063"/>
                  </a:lnTo>
                  <a:lnTo>
                    <a:pt x="213487" y="0"/>
                  </a:lnTo>
                  <a:close/>
                </a:path>
                <a:path w="559435" h="579119">
                  <a:moveTo>
                    <a:pt x="91312" y="491744"/>
                  </a:moveTo>
                  <a:lnTo>
                    <a:pt x="85597" y="491744"/>
                  </a:lnTo>
                  <a:lnTo>
                    <a:pt x="82041" y="495300"/>
                  </a:lnTo>
                  <a:lnTo>
                    <a:pt x="57912" y="519175"/>
                  </a:lnTo>
                  <a:lnTo>
                    <a:pt x="82913" y="519175"/>
                  </a:lnTo>
                  <a:lnTo>
                    <a:pt x="94487" y="507873"/>
                  </a:lnTo>
                  <a:lnTo>
                    <a:pt x="98170" y="504571"/>
                  </a:lnTo>
                  <a:lnTo>
                    <a:pt x="98170" y="498983"/>
                  </a:lnTo>
                  <a:lnTo>
                    <a:pt x="94487" y="495300"/>
                  </a:lnTo>
                  <a:lnTo>
                    <a:pt x="91312" y="491744"/>
                  </a:lnTo>
                  <a:close/>
                </a:path>
                <a:path w="559435" h="579119">
                  <a:moveTo>
                    <a:pt x="235584" y="296037"/>
                  </a:moveTo>
                  <a:lnTo>
                    <a:pt x="229996" y="296037"/>
                  </a:lnTo>
                  <a:lnTo>
                    <a:pt x="226313" y="299593"/>
                  </a:lnTo>
                  <a:lnTo>
                    <a:pt x="222757" y="302895"/>
                  </a:lnTo>
                  <a:lnTo>
                    <a:pt x="222757" y="308483"/>
                  </a:lnTo>
                  <a:lnTo>
                    <a:pt x="225932" y="312165"/>
                  </a:lnTo>
                  <a:lnTo>
                    <a:pt x="264921" y="352044"/>
                  </a:lnTo>
                  <a:lnTo>
                    <a:pt x="266572" y="353568"/>
                  </a:lnTo>
                  <a:lnTo>
                    <a:pt x="268985" y="354457"/>
                  </a:lnTo>
                  <a:lnTo>
                    <a:pt x="273431" y="354457"/>
                  </a:lnTo>
                  <a:lnTo>
                    <a:pt x="275844" y="353568"/>
                  </a:lnTo>
                  <a:lnTo>
                    <a:pt x="277494" y="352044"/>
                  </a:lnTo>
                  <a:lnTo>
                    <a:pt x="305255" y="324993"/>
                  </a:lnTo>
                  <a:lnTo>
                    <a:pt x="263397" y="324993"/>
                  </a:lnTo>
                  <a:lnTo>
                    <a:pt x="238887" y="299593"/>
                  </a:lnTo>
                  <a:lnTo>
                    <a:pt x="235584" y="296037"/>
                  </a:lnTo>
                  <a:close/>
                </a:path>
                <a:path w="559435" h="579119">
                  <a:moveTo>
                    <a:pt x="276987" y="0"/>
                  </a:moveTo>
                  <a:lnTo>
                    <a:pt x="267334" y="0"/>
                  </a:lnTo>
                  <a:lnTo>
                    <a:pt x="263397" y="4063"/>
                  </a:lnTo>
                  <a:lnTo>
                    <a:pt x="263397" y="324993"/>
                  </a:lnTo>
                  <a:lnTo>
                    <a:pt x="305255" y="324993"/>
                  </a:lnTo>
                  <a:lnTo>
                    <a:pt x="306428" y="323850"/>
                  </a:lnTo>
                  <a:lnTo>
                    <a:pt x="281050" y="323850"/>
                  </a:lnTo>
                  <a:lnTo>
                    <a:pt x="281050" y="4063"/>
                  </a:lnTo>
                  <a:lnTo>
                    <a:pt x="276987" y="0"/>
                  </a:lnTo>
                  <a:close/>
                </a:path>
                <a:path w="559435" h="579119">
                  <a:moveTo>
                    <a:pt x="314070" y="297180"/>
                  </a:moveTo>
                  <a:lnTo>
                    <a:pt x="308356" y="297180"/>
                  </a:lnTo>
                  <a:lnTo>
                    <a:pt x="304800" y="300482"/>
                  </a:lnTo>
                  <a:lnTo>
                    <a:pt x="281050" y="323850"/>
                  </a:lnTo>
                  <a:lnTo>
                    <a:pt x="306428" y="323850"/>
                  </a:lnTo>
                  <a:lnTo>
                    <a:pt x="320928" y="309752"/>
                  </a:lnTo>
                  <a:lnTo>
                    <a:pt x="320928" y="304038"/>
                  </a:lnTo>
                  <a:lnTo>
                    <a:pt x="317626" y="300863"/>
                  </a:lnTo>
                  <a:lnTo>
                    <a:pt x="314070" y="297180"/>
                  </a:lnTo>
                  <a:close/>
                </a:path>
                <a:path w="559435" h="579119">
                  <a:moveTo>
                    <a:pt x="474090" y="520700"/>
                  </a:moveTo>
                  <a:lnTo>
                    <a:pt x="468375" y="520700"/>
                  </a:lnTo>
                  <a:lnTo>
                    <a:pt x="464819" y="524001"/>
                  </a:lnTo>
                  <a:lnTo>
                    <a:pt x="461137" y="527558"/>
                  </a:lnTo>
                  <a:lnTo>
                    <a:pt x="461137" y="532764"/>
                  </a:lnTo>
                  <a:lnTo>
                    <a:pt x="464438" y="536448"/>
                  </a:lnTo>
                  <a:lnTo>
                    <a:pt x="503427" y="576326"/>
                  </a:lnTo>
                  <a:lnTo>
                    <a:pt x="505078" y="578358"/>
                  </a:lnTo>
                  <a:lnTo>
                    <a:pt x="507491" y="579120"/>
                  </a:lnTo>
                  <a:lnTo>
                    <a:pt x="513460" y="579120"/>
                  </a:lnTo>
                  <a:lnTo>
                    <a:pt x="516254" y="577088"/>
                  </a:lnTo>
                  <a:lnTo>
                    <a:pt x="517906" y="574675"/>
                  </a:lnTo>
                  <a:lnTo>
                    <a:pt x="544216" y="548894"/>
                  </a:lnTo>
                  <a:lnTo>
                    <a:pt x="501395" y="548894"/>
                  </a:lnTo>
                  <a:lnTo>
                    <a:pt x="474090" y="520700"/>
                  </a:lnTo>
                  <a:close/>
                </a:path>
                <a:path w="559435" h="579119">
                  <a:moveTo>
                    <a:pt x="404494" y="0"/>
                  </a:moveTo>
                  <a:lnTo>
                    <a:pt x="394843" y="0"/>
                  </a:lnTo>
                  <a:lnTo>
                    <a:pt x="390778" y="4063"/>
                  </a:lnTo>
                  <a:lnTo>
                    <a:pt x="390778" y="146176"/>
                  </a:lnTo>
                  <a:lnTo>
                    <a:pt x="392049" y="148209"/>
                  </a:lnTo>
                  <a:lnTo>
                    <a:pt x="393700" y="150240"/>
                  </a:lnTo>
                  <a:lnTo>
                    <a:pt x="501395" y="258952"/>
                  </a:lnTo>
                  <a:lnTo>
                    <a:pt x="501395" y="548894"/>
                  </a:lnTo>
                  <a:lnTo>
                    <a:pt x="544216" y="548894"/>
                  </a:lnTo>
                  <a:lnTo>
                    <a:pt x="544605" y="548513"/>
                  </a:lnTo>
                  <a:lnTo>
                    <a:pt x="519049" y="548513"/>
                  </a:lnTo>
                  <a:lnTo>
                    <a:pt x="519049" y="252857"/>
                  </a:lnTo>
                  <a:lnTo>
                    <a:pt x="518287" y="250951"/>
                  </a:lnTo>
                  <a:lnTo>
                    <a:pt x="516635" y="248920"/>
                  </a:lnTo>
                  <a:lnTo>
                    <a:pt x="408558" y="140208"/>
                  </a:lnTo>
                  <a:lnTo>
                    <a:pt x="408558" y="4063"/>
                  </a:lnTo>
                  <a:lnTo>
                    <a:pt x="404494" y="0"/>
                  </a:lnTo>
                  <a:close/>
                </a:path>
                <a:path w="559435" h="579119">
                  <a:moveTo>
                    <a:pt x="552450" y="521588"/>
                  </a:moveTo>
                  <a:lnTo>
                    <a:pt x="546862" y="521588"/>
                  </a:lnTo>
                  <a:lnTo>
                    <a:pt x="519049" y="548513"/>
                  </a:lnTo>
                  <a:lnTo>
                    <a:pt x="544605" y="548513"/>
                  </a:lnTo>
                  <a:lnTo>
                    <a:pt x="555751" y="537590"/>
                  </a:lnTo>
                  <a:lnTo>
                    <a:pt x="559307" y="534415"/>
                  </a:lnTo>
                  <a:lnTo>
                    <a:pt x="559307" y="528827"/>
                  </a:lnTo>
                  <a:lnTo>
                    <a:pt x="556132" y="525145"/>
                  </a:lnTo>
                  <a:lnTo>
                    <a:pt x="552450" y="521588"/>
                  </a:lnTo>
                  <a:close/>
                </a:path>
                <a:path w="559435" h="579119">
                  <a:moveTo>
                    <a:pt x="377189" y="352425"/>
                  </a:moveTo>
                  <a:lnTo>
                    <a:pt x="371475" y="352425"/>
                  </a:lnTo>
                  <a:lnTo>
                    <a:pt x="368300" y="355981"/>
                  </a:lnTo>
                  <a:lnTo>
                    <a:pt x="364744" y="359283"/>
                  </a:lnTo>
                  <a:lnTo>
                    <a:pt x="364744" y="364871"/>
                  </a:lnTo>
                  <a:lnTo>
                    <a:pt x="367919" y="368553"/>
                  </a:lnTo>
                  <a:lnTo>
                    <a:pt x="406907" y="408305"/>
                  </a:lnTo>
                  <a:lnTo>
                    <a:pt x="408558" y="409956"/>
                  </a:lnTo>
                  <a:lnTo>
                    <a:pt x="410590" y="410718"/>
                  </a:lnTo>
                  <a:lnTo>
                    <a:pt x="413003" y="411225"/>
                  </a:lnTo>
                  <a:lnTo>
                    <a:pt x="415416" y="411225"/>
                  </a:lnTo>
                  <a:lnTo>
                    <a:pt x="417829" y="409956"/>
                  </a:lnTo>
                  <a:lnTo>
                    <a:pt x="419353" y="408305"/>
                  </a:lnTo>
                  <a:lnTo>
                    <a:pt x="447557" y="381000"/>
                  </a:lnTo>
                  <a:lnTo>
                    <a:pt x="404875" y="381000"/>
                  </a:lnTo>
                  <a:lnTo>
                    <a:pt x="380745" y="355981"/>
                  </a:lnTo>
                  <a:lnTo>
                    <a:pt x="377189" y="352425"/>
                  </a:lnTo>
                  <a:close/>
                </a:path>
                <a:path w="559435" h="579119">
                  <a:moveTo>
                    <a:pt x="340994" y="0"/>
                  </a:moveTo>
                  <a:lnTo>
                    <a:pt x="330962" y="0"/>
                  </a:lnTo>
                  <a:lnTo>
                    <a:pt x="327278" y="4063"/>
                  </a:lnTo>
                  <a:lnTo>
                    <a:pt x="327278" y="217043"/>
                  </a:lnTo>
                  <a:lnTo>
                    <a:pt x="328168" y="219456"/>
                  </a:lnTo>
                  <a:lnTo>
                    <a:pt x="329691" y="221107"/>
                  </a:lnTo>
                  <a:lnTo>
                    <a:pt x="404875" y="296037"/>
                  </a:lnTo>
                  <a:lnTo>
                    <a:pt x="404875" y="381000"/>
                  </a:lnTo>
                  <a:lnTo>
                    <a:pt x="447557" y="381000"/>
                  </a:lnTo>
                  <a:lnTo>
                    <a:pt x="447950" y="380619"/>
                  </a:lnTo>
                  <a:lnTo>
                    <a:pt x="422656" y="380619"/>
                  </a:lnTo>
                  <a:lnTo>
                    <a:pt x="422656" y="289940"/>
                  </a:lnTo>
                  <a:lnTo>
                    <a:pt x="421385" y="287909"/>
                  </a:lnTo>
                  <a:lnTo>
                    <a:pt x="419734" y="285876"/>
                  </a:lnTo>
                  <a:lnTo>
                    <a:pt x="344931" y="211074"/>
                  </a:lnTo>
                  <a:lnTo>
                    <a:pt x="344931" y="4063"/>
                  </a:lnTo>
                  <a:lnTo>
                    <a:pt x="340994" y="0"/>
                  </a:lnTo>
                  <a:close/>
                </a:path>
                <a:path w="559435" h="579119">
                  <a:moveTo>
                    <a:pt x="455929" y="353568"/>
                  </a:moveTo>
                  <a:lnTo>
                    <a:pt x="450341" y="353568"/>
                  </a:lnTo>
                  <a:lnTo>
                    <a:pt x="446658" y="356870"/>
                  </a:lnTo>
                  <a:lnTo>
                    <a:pt x="422656" y="380619"/>
                  </a:lnTo>
                  <a:lnTo>
                    <a:pt x="447950" y="380619"/>
                  </a:lnTo>
                  <a:lnTo>
                    <a:pt x="459231" y="369697"/>
                  </a:lnTo>
                  <a:lnTo>
                    <a:pt x="462788" y="366140"/>
                  </a:lnTo>
                  <a:lnTo>
                    <a:pt x="462788" y="360425"/>
                  </a:lnTo>
                  <a:lnTo>
                    <a:pt x="459231" y="357250"/>
                  </a:lnTo>
                  <a:lnTo>
                    <a:pt x="455929" y="353568"/>
                  </a:lnTo>
                  <a:close/>
                </a:path>
              </a:pathLst>
            </a:custGeom>
            <a:solidFill>
              <a:srgbClr val="03522C"/>
            </a:solidFill>
          </p:spPr>
          <p:txBody>
            <a:bodyPr wrap="square" lIns="0" tIns="0" rIns="0" bIns="0" rtlCol="0"/>
            <a:lstStyle/>
            <a:p>
              <a:endParaRPr>
                <a:ea typeface="Microsoft YaHei" panose="020B0503020204020204" pitchFamily="34" charset="-122"/>
              </a:endParaRPr>
            </a:p>
          </p:txBody>
        </p:sp>
        <p:sp>
          <p:nvSpPr>
            <p:cNvPr id="22" name="object 22"/>
            <p:cNvSpPr/>
            <p:nvPr/>
          </p:nvSpPr>
          <p:spPr>
            <a:xfrm>
              <a:off x="2613660" y="2191511"/>
              <a:ext cx="4604385" cy="3110865"/>
            </a:xfrm>
            <a:custGeom>
              <a:avLst/>
              <a:gdLst/>
              <a:ahLst/>
              <a:cxnLst/>
              <a:rect l="l" t="t" r="r" b="b"/>
              <a:pathLst>
                <a:path w="4604384" h="3110865">
                  <a:moveTo>
                    <a:pt x="208661" y="290576"/>
                  </a:moveTo>
                  <a:lnTo>
                    <a:pt x="200456" y="249948"/>
                  </a:lnTo>
                  <a:lnTo>
                    <a:pt x="182219" y="222885"/>
                  </a:lnTo>
                  <a:lnTo>
                    <a:pt x="178092" y="216763"/>
                  </a:lnTo>
                  <a:lnTo>
                    <a:pt x="165227" y="208089"/>
                  </a:lnTo>
                  <a:lnTo>
                    <a:pt x="165227" y="293751"/>
                  </a:lnTo>
                  <a:lnTo>
                    <a:pt x="163576" y="296926"/>
                  </a:lnTo>
                  <a:lnTo>
                    <a:pt x="162814" y="299339"/>
                  </a:lnTo>
                  <a:lnTo>
                    <a:pt x="158750" y="303022"/>
                  </a:lnTo>
                  <a:lnTo>
                    <a:pt x="151130" y="303022"/>
                  </a:lnTo>
                  <a:lnTo>
                    <a:pt x="151511" y="305435"/>
                  </a:lnTo>
                  <a:lnTo>
                    <a:pt x="151511" y="324739"/>
                  </a:lnTo>
                  <a:lnTo>
                    <a:pt x="149860" y="328422"/>
                  </a:lnTo>
                  <a:lnTo>
                    <a:pt x="148336" y="329565"/>
                  </a:lnTo>
                  <a:lnTo>
                    <a:pt x="147066" y="331216"/>
                  </a:lnTo>
                  <a:lnTo>
                    <a:pt x="143891" y="333248"/>
                  </a:lnTo>
                  <a:lnTo>
                    <a:pt x="131699" y="332867"/>
                  </a:lnTo>
                  <a:lnTo>
                    <a:pt x="125730" y="332867"/>
                  </a:lnTo>
                  <a:lnTo>
                    <a:pt x="122428" y="332486"/>
                  </a:lnTo>
                  <a:lnTo>
                    <a:pt x="122326" y="357111"/>
                  </a:lnTo>
                  <a:lnTo>
                    <a:pt x="121285" y="358267"/>
                  </a:lnTo>
                  <a:lnTo>
                    <a:pt x="119634" y="358267"/>
                  </a:lnTo>
                  <a:lnTo>
                    <a:pt x="118491" y="358648"/>
                  </a:lnTo>
                  <a:lnTo>
                    <a:pt x="116459" y="358648"/>
                  </a:lnTo>
                  <a:lnTo>
                    <a:pt x="110197" y="358343"/>
                  </a:lnTo>
                  <a:lnTo>
                    <a:pt x="101854" y="357111"/>
                  </a:lnTo>
                  <a:lnTo>
                    <a:pt x="92443" y="354533"/>
                  </a:lnTo>
                  <a:lnTo>
                    <a:pt x="83058" y="350139"/>
                  </a:lnTo>
                  <a:lnTo>
                    <a:pt x="82169" y="349758"/>
                  </a:lnTo>
                  <a:lnTo>
                    <a:pt x="81407" y="348996"/>
                  </a:lnTo>
                  <a:lnTo>
                    <a:pt x="81407" y="347726"/>
                  </a:lnTo>
                  <a:lnTo>
                    <a:pt x="80645" y="332867"/>
                  </a:lnTo>
                  <a:lnTo>
                    <a:pt x="64655" y="323811"/>
                  </a:lnTo>
                  <a:lnTo>
                    <a:pt x="50584" y="308127"/>
                  </a:lnTo>
                  <a:lnTo>
                    <a:pt x="44691" y="284746"/>
                  </a:lnTo>
                  <a:lnTo>
                    <a:pt x="53213" y="252603"/>
                  </a:lnTo>
                  <a:lnTo>
                    <a:pt x="60477" y="241858"/>
                  </a:lnTo>
                  <a:lnTo>
                    <a:pt x="71513" y="232321"/>
                  </a:lnTo>
                  <a:lnTo>
                    <a:pt x="86474" y="225501"/>
                  </a:lnTo>
                  <a:lnTo>
                    <a:pt x="105537" y="222885"/>
                  </a:lnTo>
                  <a:lnTo>
                    <a:pt x="126238" y="225310"/>
                  </a:lnTo>
                  <a:lnTo>
                    <a:pt x="140220" y="231127"/>
                  </a:lnTo>
                  <a:lnTo>
                    <a:pt x="147840" y="238163"/>
                  </a:lnTo>
                  <a:lnTo>
                    <a:pt x="149479" y="244221"/>
                  </a:lnTo>
                  <a:lnTo>
                    <a:pt x="149098" y="245364"/>
                  </a:lnTo>
                  <a:lnTo>
                    <a:pt x="148336" y="246634"/>
                  </a:lnTo>
                  <a:lnTo>
                    <a:pt x="147447" y="247777"/>
                  </a:lnTo>
                  <a:lnTo>
                    <a:pt x="149186" y="249948"/>
                  </a:lnTo>
                  <a:lnTo>
                    <a:pt x="152654" y="255016"/>
                  </a:lnTo>
                  <a:lnTo>
                    <a:pt x="151892" y="263525"/>
                  </a:lnTo>
                  <a:lnTo>
                    <a:pt x="151892" y="267589"/>
                  </a:lnTo>
                  <a:lnTo>
                    <a:pt x="161163" y="288163"/>
                  </a:lnTo>
                  <a:lnTo>
                    <a:pt x="165227" y="293751"/>
                  </a:lnTo>
                  <a:lnTo>
                    <a:pt x="165227" y="208089"/>
                  </a:lnTo>
                  <a:lnTo>
                    <a:pt x="144945" y="194386"/>
                  </a:lnTo>
                  <a:lnTo>
                    <a:pt x="104394" y="186182"/>
                  </a:lnTo>
                  <a:lnTo>
                    <a:pt x="63754" y="194386"/>
                  </a:lnTo>
                  <a:lnTo>
                    <a:pt x="30568" y="216763"/>
                  </a:lnTo>
                  <a:lnTo>
                    <a:pt x="8191" y="249948"/>
                  </a:lnTo>
                  <a:lnTo>
                    <a:pt x="0" y="290576"/>
                  </a:lnTo>
                  <a:lnTo>
                    <a:pt x="8191" y="331139"/>
                  </a:lnTo>
                  <a:lnTo>
                    <a:pt x="30568" y="364286"/>
                  </a:lnTo>
                  <a:lnTo>
                    <a:pt x="63754" y="386651"/>
                  </a:lnTo>
                  <a:lnTo>
                    <a:pt x="104394" y="394843"/>
                  </a:lnTo>
                  <a:lnTo>
                    <a:pt x="144945" y="386651"/>
                  </a:lnTo>
                  <a:lnTo>
                    <a:pt x="178092" y="364286"/>
                  </a:lnTo>
                  <a:lnTo>
                    <a:pt x="181902" y="358648"/>
                  </a:lnTo>
                  <a:lnTo>
                    <a:pt x="199034" y="333248"/>
                  </a:lnTo>
                  <a:lnTo>
                    <a:pt x="200456" y="331139"/>
                  </a:lnTo>
                  <a:lnTo>
                    <a:pt x="208661" y="290576"/>
                  </a:lnTo>
                  <a:close/>
                </a:path>
                <a:path w="4604384" h="3110865">
                  <a:moveTo>
                    <a:pt x="431927" y="104394"/>
                  </a:moveTo>
                  <a:lnTo>
                    <a:pt x="423722" y="63766"/>
                  </a:lnTo>
                  <a:lnTo>
                    <a:pt x="401345" y="30581"/>
                  </a:lnTo>
                  <a:lnTo>
                    <a:pt x="386461" y="20548"/>
                  </a:lnTo>
                  <a:lnTo>
                    <a:pt x="386461" y="106807"/>
                  </a:lnTo>
                  <a:lnTo>
                    <a:pt x="385191" y="109982"/>
                  </a:lnTo>
                  <a:lnTo>
                    <a:pt x="384810" y="111633"/>
                  </a:lnTo>
                  <a:lnTo>
                    <a:pt x="382397" y="116840"/>
                  </a:lnTo>
                  <a:lnTo>
                    <a:pt x="372745" y="116840"/>
                  </a:lnTo>
                  <a:lnTo>
                    <a:pt x="373507" y="121285"/>
                  </a:lnTo>
                  <a:lnTo>
                    <a:pt x="373888" y="128524"/>
                  </a:lnTo>
                  <a:lnTo>
                    <a:pt x="373621" y="131826"/>
                  </a:lnTo>
                  <a:lnTo>
                    <a:pt x="373507" y="134620"/>
                  </a:lnTo>
                  <a:lnTo>
                    <a:pt x="373126" y="142240"/>
                  </a:lnTo>
                  <a:lnTo>
                    <a:pt x="372745" y="146304"/>
                  </a:lnTo>
                  <a:lnTo>
                    <a:pt x="369443" y="147828"/>
                  </a:lnTo>
                  <a:lnTo>
                    <a:pt x="366649" y="149479"/>
                  </a:lnTo>
                  <a:lnTo>
                    <a:pt x="357378" y="150749"/>
                  </a:lnTo>
                  <a:lnTo>
                    <a:pt x="344932" y="149479"/>
                  </a:lnTo>
                  <a:lnTo>
                    <a:pt x="344932" y="172085"/>
                  </a:lnTo>
                  <a:lnTo>
                    <a:pt x="343662" y="173609"/>
                  </a:lnTo>
                  <a:lnTo>
                    <a:pt x="341630" y="173609"/>
                  </a:lnTo>
                  <a:lnTo>
                    <a:pt x="292481" y="164846"/>
                  </a:lnTo>
                  <a:lnTo>
                    <a:pt x="291719" y="163576"/>
                  </a:lnTo>
                  <a:lnTo>
                    <a:pt x="291719" y="131826"/>
                  </a:lnTo>
                  <a:lnTo>
                    <a:pt x="282892" y="120942"/>
                  </a:lnTo>
                  <a:lnTo>
                    <a:pt x="274205" y="105625"/>
                  </a:lnTo>
                  <a:lnTo>
                    <a:pt x="269722" y="87376"/>
                  </a:lnTo>
                  <a:lnTo>
                    <a:pt x="273558" y="67691"/>
                  </a:lnTo>
                  <a:lnTo>
                    <a:pt x="280466" y="56324"/>
                  </a:lnTo>
                  <a:lnTo>
                    <a:pt x="290804" y="45808"/>
                  </a:lnTo>
                  <a:lnTo>
                    <a:pt x="305219" y="38074"/>
                  </a:lnTo>
                  <a:lnTo>
                    <a:pt x="324358" y="35052"/>
                  </a:lnTo>
                  <a:lnTo>
                    <a:pt x="342417" y="36385"/>
                  </a:lnTo>
                  <a:lnTo>
                    <a:pt x="361784" y="42024"/>
                  </a:lnTo>
                  <a:lnTo>
                    <a:pt x="378714" y="43053"/>
                  </a:lnTo>
                  <a:lnTo>
                    <a:pt x="382016" y="43053"/>
                  </a:lnTo>
                  <a:lnTo>
                    <a:pt x="371856" y="53975"/>
                  </a:lnTo>
                  <a:lnTo>
                    <a:pt x="370332" y="60833"/>
                  </a:lnTo>
                  <a:lnTo>
                    <a:pt x="370332" y="61214"/>
                  </a:lnTo>
                  <a:lnTo>
                    <a:pt x="369951" y="61214"/>
                  </a:lnTo>
                  <a:lnTo>
                    <a:pt x="369062" y="60833"/>
                  </a:lnTo>
                  <a:lnTo>
                    <a:pt x="368300" y="60833"/>
                  </a:lnTo>
                  <a:lnTo>
                    <a:pt x="368681" y="64897"/>
                  </a:lnTo>
                  <a:lnTo>
                    <a:pt x="369443" y="72517"/>
                  </a:lnTo>
                  <a:lnTo>
                    <a:pt x="370332" y="74930"/>
                  </a:lnTo>
                  <a:lnTo>
                    <a:pt x="371094" y="77343"/>
                  </a:lnTo>
                  <a:lnTo>
                    <a:pt x="371475" y="80137"/>
                  </a:lnTo>
                  <a:lnTo>
                    <a:pt x="372364" y="82550"/>
                  </a:lnTo>
                  <a:lnTo>
                    <a:pt x="373126" y="86614"/>
                  </a:lnTo>
                  <a:lnTo>
                    <a:pt x="373507" y="87884"/>
                  </a:lnTo>
                  <a:lnTo>
                    <a:pt x="375158" y="92710"/>
                  </a:lnTo>
                  <a:lnTo>
                    <a:pt x="376682" y="96266"/>
                  </a:lnTo>
                  <a:lnTo>
                    <a:pt x="379603" y="99187"/>
                  </a:lnTo>
                  <a:lnTo>
                    <a:pt x="386461" y="106807"/>
                  </a:lnTo>
                  <a:lnTo>
                    <a:pt x="386461" y="20548"/>
                  </a:lnTo>
                  <a:lnTo>
                    <a:pt x="368160" y="8204"/>
                  </a:lnTo>
                  <a:lnTo>
                    <a:pt x="327533" y="0"/>
                  </a:lnTo>
                  <a:lnTo>
                    <a:pt x="286969" y="8204"/>
                  </a:lnTo>
                  <a:lnTo>
                    <a:pt x="253822" y="30581"/>
                  </a:lnTo>
                  <a:lnTo>
                    <a:pt x="231457" y="63766"/>
                  </a:lnTo>
                  <a:lnTo>
                    <a:pt x="223266" y="104394"/>
                  </a:lnTo>
                  <a:lnTo>
                    <a:pt x="231457" y="144983"/>
                  </a:lnTo>
                  <a:lnTo>
                    <a:pt x="253822" y="178168"/>
                  </a:lnTo>
                  <a:lnTo>
                    <a:pt x="286969" y="200571"/>
                  </a:lnTo>
                  <a:lnTo>
                    <a:pt x="327533" y="208788"/>
                  </a:lnTo>
                  <a:lnTo>
                    <a:pt x="368160" y="200571"/>
                  </a:lnTo>
                  <a:lnTo>
                    <a:pt x="401345" y="178168"/>
                  </a:lnTo>
                  <a:lnTo>
                    <a:pt x="404418" y="173609"/>
                  </a:lnTo>
                  <a:lnTo>
                    <a:pt x="419823" y="150749"/>
                  </a:lnTo>
                  <a:lnTo>
                    <a:pt x="423722" y="144983"/>
                  </a:lnTo>
                  <a:lnTo>
                    <a:pt x="431927" y="104394"/>
                  </a:lnTo>
                  <a:close/>
                </a:path>
                <a:path w="4604384" h="3110865">
                  <a:moveTo>
                    <a:pt x="672084" y="322326"/>
                  </a:moveTo>
                  <a:lnTo>
                    <a:pt x="663879" y="281990"/>
                  </a:lnTo>
                  <a:lnTo>
                    <a:pt x="644575" y="253492"/>
                  </a:lnTo>
                  <a:lnTo>
                    <a:pt x="641502" y="248958"/>
                  </a:lnTo>
                  <a:lnTo>
                    <a:pt x="625551" y="238239"/>
                  </a:lnTo>
                  <a:lnTo>
                    <a:pt x="625551" y="305638"/>
                  </a:lnTo>
                  <a:lnTo>
                    <a:pt x="621118" y="323900"/>
                  </a:lnTo>
                  <a:lnTo>
                    <a:pt x="612444" y="339102"/>
                  </a:lnTo>
                  <a:lnTo>
                    <a:pt x="603631" y="349758"/>
                  </a:lnTo>
                  <a:lnTo>
                    <a:pt x="603631" y="381635"/>
                  </a:lnTo>
                  <a:lnTo>
                    <a:pt x="559104" y="391541"/>
                  </a:lnTo>
                  <a:lnTo>
                    <a:pt x="553593" y="391668"/>
                  </a:lnTo>
                  <a:lnTo>
                    <a:pt x="551561" y="391668"/>
                  </a:lnTo>
                  <a:lnTo>
                    <a:pt x="550418" y="390398"/>
                  </a:lnTo>
                  <a:lnTo>
                    <a:pt x="550418" y="369062"/>
                  </a:lnTo>
                  <a:lnTo>
                    <a:pt x="550418" y="367538"/>
                  </a:lnTo>
                  <a:lnTo>
                    <a:pt x="537972" y="369062"/>
                  </a:lnTo>
                  <a:lnTo>
                    <a:pt x="528193" y="367538"/>
                  </a:lnTo>
                  <a:lnTo>
                    <a:pt x="522605" y="364617"/>
                  </a:lnTo>
                  <a:lnTo>
                    <a:pt x="522224" y="360172"/>
                  </a:lnTo>
                  <a:lnTo>
                    <a:pt x="521843" y="352552"/>
                  </a:lnTo>
                  <a:lnTo>
                    <a:pt x="521843" y="351790"/>
                  </a:lnTo>
                  <a:lnTo>
                    <a:pt x="521335" y="346964"/>
                  </a:lnTo>
                  <a:lnTo>
                    <a:pt x="521843" y="339102"/>
                  </a:lnTo>
                  <a:lnTo>
                    <a:pt x="522224" y="335280"/>
                  </a:lnTo>
                  <a:lnTo>
                    <a:pt x="512953" y="334899"/>
                  </a:lnTo>
                  <a:lnTo>
                    <a:pt x="510540" y="330073"/>
                  </a:lnTo>
                  <a:lnTo>
                    <a:pt x="510159" y="328422"/>
                  </a:lnTo>
                  <a:lnTo>
                    <a:pt x="508889" y="324739"/>
                  </a:lnTo>
                  <a:lnTo>
                    <a:pt x="512064" y="321183"/>
                  </a:lnTo>
                  <a:lnTo>
                    <a:pt x="516509" y="316738"/>
                  </a:lnTo>
                  <a:lnTo>
                    <a:pt x="516509" y="316357"/>
                  </a:lnTo>
                  <a:lnTo>
                    <a:pt x="522986" y="300990"/>
                  </a:lnTo>
                  <a:lnTo>
                    <a:pt x="523748" y="298196"/>
                  </a:lnTo>
                  <a:lnTo>
                    <a:pt x="524256" y="295402"/>
                  </a:lnTo>
                  <a:lnTo>
                    <a:pt x="525018" y="293370"/>
                  </a:lnTo>
                  <a:lnTo>
                    <a:pt x="525780" y="290576"/>
                  </a:lnTo>
                  <a:lnTo>
                    <a:pt x="526669" y="282829"/>
                  </a:lnTo>
                  <a:lnTo>
                    <a:pt x="526669" y="279273"/>
                  </a:lnTo>
                  <a:lnTo>
                    <a:pt x="526669" y="278892"/>
                  </a:lnTo>
                  <a:lnTo>
                    <a:pt x="526161" y="278892"/>
                  </a:lnTo>
                  <a:lnTo>
                    <a:pt x="525399" y="279273"/>
                  </a:lnTo>
                  <a:lnTo>
                    <a:pt x="525018" y="279273"/>
                  </a:lnTo>
                  <a:lnTo>
                    <a:pt x="525018" y="278892"/>
                  </a:lnTo>
                  <a:lnTo>
                    <a:pt x="523367" y="272034"/>
                  </a:lnTo>
                  <a:lnTo>
                    <a:pt x="513334" y="261112"/>
                  </a:lnTo>
                  <a:lnTo>
                    <a:pt x="516509" y="261112"/>
                  </a:lnTo>
                  <a:lnTo>
                    <a:pt x="533209" y="260248"/>
                  </a:lnTo>
                  <a:lnTo>
                    <a:pt x="552627" y="254800"/>
                  </a:lnTo>
                  <a:lnTo>
                    <a:pt x="570992" y="253492"/>
                  </a:lnTo>
                  <a:lnTo>
                    <a:pt x="614756" y="274396"/>
                  </a:lnTo>
                  <a:lnTo>
                    <a:pt x="625551" y="305638"/>
                  </a:lnTo>
                  <a:lnTo>
                    <a:pt x="625551" y="238239"/>
                  </a:lnTo>
                  <a:lnTo>
                    <a:pt x="608317" y="226644"/>
                  </a:lnTo>
                  <a:lnTo>
                    <a:pt x="567690" y="218440"/>
                  </a:lnTo>
                  <a:lnTo>
                    <a:pt x="527126" y="226644"/>
                  </a:lnTo>
                  <a:lnTo>
                    <a:pt x="493979" y="248958"/>
                  </a:lnTo>
                  <a:lnTo>
                    <a:pt x="471614" y="281990"/>
                  </a:lnTo>
                  <a:lnTo>
                    <a:pt x="463423" y="322326"/>
                  </a:lnTo>
                  <a:lnTo>
                    <a:pt x="471614" y="362966"/>
                  </a:lnTo>
                  <a:lnTo>
                    <a:pt x="493979" y="396151"/>
                  </a:lnTo>
                  <a:lnTo>
                    <a:pt x="527126" y="418528"/>
                  </a:lnTo>
                  <a:lnTo>
                    <a:pt x="567690" y="426720"/>
                  </a:lnTo>
                  <a:lnTo>
                    <a:pt x="608317" y="418528"/>
                  </a:lnTo>
                  <a:lnTo>
                    <a:pt x="641502" y="396151"/>
                  </a:lnTo>
                  <a:lnTo>
                    <a:pt x="644525" y="391668"/>
                  </a:lnTo>
                  <a:lnTo>
                    <a:pt x="663879" y="362966"/>
                  </a:lnTo>
                  <a:lnTo>
                    <a:pt x="672084" y="322326"/>
                  </a:lnTo>
                  <a:close/>
                </a:path>
                <a:path w="4604384" h="3110865">
                  <a:moveTo>
                    <a:pt x="4604004" y="1726692"/>
                  </a:moveTo>
                  <a:lnTo>
                    <a:pt x="4603178" y="1679117"/>
                  </a:lnTo>
                  <a:lnTo>
                    <a:pt x="4600714" y="1631950"/>
                  </a:lnTo>
                  <a:lnTo>
                    <a:pt x="4596663" y="1585201"/>
                  </a:lnTo>
                  <a:lnTo>
                    <a:pt x="4591024" y="1538922"/>
                  </a:lnTo>
                  <a:lnTo>
                    <a:pt x="4583836" y="1493113"/>
                  </a:lnTo>
                  <a:lnTo>
                    <a:pt x="4575124" y="1447800"/>
                  </a:lnTo>
                  <a:lnTo>
                    <a:pt x="4564913" y="1403032"/>
                  </a:lnTo>
                  <a:lnTo>
                    <a:pt x="4553229" y="1358823"/>
                  </a:lnTo>
                  <a:lnTo>
                    <a:pt x="4540110" y="1315186"/>
                  </a:lnTo>
                  <a:lnTo>
                    <a:pt x="4525556" y="1272159"/>
                  </a:lnTo>
                  <a:lnTo>
                    <a:pt x="4509617" y="1229779"/>
                  </a:lnTo>
                  <a:lnTo>
                    <a:pt x="4492320" y="1188046"/>
                  </a:lnTo>
                  <a:lnTo>
                    <a:pt x="4473676" y="1147000"/>
                  </a:lnTo>
                  <a:lnTo>
                    <a:pt x="4453712" y="1106678"/>
                  </a:lnTo>
                  <a:lnTo>
                    <a:pt x="4432478" y="1067079"/>
                  </a:lnTo>
                  <a:lnTo>
                    <a:pt x="4409973" y="1028255"/>
                  </a:lnTo>
                  <a:lnTo>
                    <a:pt x="4386237" y="990219"/>
                  </a:lnTo>
                  <a:lnTo>
                    <a:pt x="4361294" y="952995"/>
                  </a:lnTo>
                  <a:lnTo>
                    <a:pt x="4335157" y="916609"/>
                  </a:lnTo>
                  <a:lnTo>
                    <a:pt x="4307891" y="881087"/>
                  </a:lnTo>
                  <a:lnTo>
                    <a:pt x="4279481" y="846467"/>
                  </a:lnTo>
                  <a:lnTo>
                    <a:pt x="4249966" y="812749"/>
                  </a:lnTo>
                  <a:lnTo>
                    <a:pt x="4219384" y="779995"/>
                  </a:lnTo>
                  <a:lnTo>
                    <a:pt x="4187761" y="748195"/>
                  </a:lnTo>
                  <a:lnTo>
                    <a:pt x="4155097" y="717397"/>
                  </a:lnTo>
                  <a:lnTo>
                    <a:pt x="4121454" y="687616"/>
                  </a:lnTo>
                  <a:lnTo>
                    <a:pt x="4086834" y="658888"/>
                  </a:lnTo>
                  <a:lnTo>
                    <a:pt x="4051274" y="631228"/>
                  </a:lnTo>
                  <a:lnTo>
                    <a:pt x="4014800" y="604659"/>
                  </a:lnTo>
                  <a:lnTo>
                    <a:pt x="3977436" y="579221"/>
                  </a:lnTo>
                  <a:lnTo>
                    <a:pt x="3939197" y="554939"/>
                  </a:lnTo>
                  <a:lnTo>
                    <a:pt x="3900132" y="531825"/>
                  </a:lnTo>
                  <a:lnTo>
                    <a:pt x="3860254" y="509917"/>
                  </a:lnTo>
                  <a:lnTo>
                    <a:pt x="3819601" y="489229"/>
                  </a:lnTo>
                  <a:lnTo>
                    <a:pt x="3778186" y="469798"/>
                  </a:lnTo>
                  <a:lnTo>
                    <a:pt x="3736035" y="451650"/>
                  </a:lnTo>
                  <a:lnTo>
                    <a:pt x="3693172" y="434797"/>
                  </a:lnTo>
                  <a:lnTo>
                    <a:pt x="3649649" y="419277"/>
                  </a:lnTo>
                  <a:lnTo>
                    <a:pt x="3605466" y="405117"/>
                  </a:lnTo>
                  <a:lnTo>
                    <a:pt x="3560661" y="392328"/>
                  </a:lnTo>
                  <a:lnTo>
                    <a:pt x="3515245" y="380961"/>
                  </a:lnTo>
                  <a:lnTo>
                    <a:pt x="3469271" y="371017"/>
                  </a:lnTo>
                  <a:lnTo>
                    <a:pt x="3422751" y="362534"/>
                  </a:lnTo>
                  <a:lnTo>
                    <a:pt x="3375710" y="355536"/>
                  </a:lnTo>
                  <a:lnTo>
                    <a:pt x="3328174" y="350050"/>
                  </a:lnTo>
                  <a:lnTo>
                    <a:pt x="3280168" y="346100"/>
                  </a:lnTo>
                  <a:lnTo>
                    <a:pt x="3231718" y="343712"/>
                  </a:lnTo>
                  <a:lnTo>
                    <a:pt x="3182874" y="342900"/>
                  </a:lnTo>
                  <a:lnTo>
                    <a:pt x="3134017" y="343712"/>
                  </a:lnTo>
                  <a:lnTo>
                    <a:pt x="3085566" y="346100"/>
                  </a:lnTo>
                  <a:lnTo>
                    <a:pt x="3037560" y="350050"/>
                  </a:lnTo>
                  <a:lnTo>
                    <a:pt x="2990024" y="355536"/>
                  </a:lnTo>
                  <a:lnTo>
                    <a:pt x="2942983" y="362534"/>
                  </a:lnTo>
                  <a:lnTo>
                    <a:pt x="2896463" y="371017"/>
                  </a:lnTo>
                  <a:lnTo>
                    <a:pt x="2850489" y="380961"/>
                  </a:lnTo>
                  <a:lnTo>
                    <a:pt x="2805074" y="392328"/>
                  </a:lnTo>
                  <a:lnTo>
                    <a:pt x="2760268" y="405117"/>
                  </a:lnTo>
                  <a:lnTo>
                    <a:pt x="2716085" y="419277"/>
                  </a:lnTo>
                  <a:lnTo>
                    <a:pt x="2672562" y="434797"/>
                  </a:lnTo>
                  <a:lnTo>
                    <a:pt x="2629700" y="451650"/>
                  </a:lnTo>
                  <a:lnTo>
                    <a:pt x="2587548" y="469798"/>
                  </a:lnTo>
                  <a:lnTo>
                    <a:pt x="2546134" y="489229"/>
                  </a:lnTo>
                  <a:lnTo>
                    <a:pt x="2505481" y="509917"/>
                  </a:lnTo>
                  <a:lnTo>
                    <a:pt x="2465603" y="531825"/>
                  </a:lnTo>
                  <a:lnTo>
                    <a:pt x="2426538" y="554939"/>
                  </a:lnTo>
                  <a:lnTo>
                    <a:pt x="2388298" y="579221"/>
                  </a:lnTo>
                  <a:lnTo>
                    <a:pt x="2350935" y="604659"/>
                  </a:lnTo>
                  <a:lnTo>
                    <a:pt x="2314460" y="631228"/>
                  </a:lnTo>
                  <a:lnTo>
                    <a:pt x="2278900" y="658888"/>
                  </a:lnTo>
                  <a:lnTo>
                    <a:pt x="2244280" y="687616"/>
                  </a:lnTo>
                  <a:lnTo>
                    <a:pt x="2210638" y="717397"/>
                  </a:lnTo>
                  <a:lnTo>
                    <a:pt x="2177973" y="748195"/>
                  </a:lnTo>
                  <a:lnTo>
                    <a:pt x="2146350" y="779995"/>
                  </a:lnTo>
                  <a:lnTo>
                    <a:pt x="2115769" y="812749"/>
                  </a:lnTo>
                  <a:lnTo>
                    <a:pt x="2086254" y="846467"/>
                  </a:lnTo>
                  <a:lnTo>
                    <a:pt x="2057844" y="881087"/>
                  </a:lnTo>
                  <a:lnTo>
                    <a:pt x="2030577" y="916609"/>
                  </a:lnTo>
                  <a:lnTo>
                    <a:pt x="2004441" y="952995"/>
                  </a:lnTo>
                  <a:lnTo>
                    <a:pt x="1979498" y="990219"/>
                  </a:lnTo>
                  <a:lnTo>
                    <a:pt x="1955761" y="1028255"/>
                  </a:lnTo>
                  <a:lnTo>
                    <a:pt x="1933257" y="1067079"/>
                  </a:lnTo>
                  <a:lnTo>
                    <a:pt x="1912023" y="1106678"/>
                  </a:lnTo>
                  <a:lnTo>
                    <a:pt x="1892058" y="1147000"/>
                  </a:lnTo>
                  <a:lnTo>
                    <a:pt x="1873415" y="1188046"/>
                  </a:lnTo>
                  <a:lnTo>
                    <a:pt x="1856117" y="1229779"/>
                  </a:lnTo>
                  <a:lnTo>
                    <a:pt x="1840179" y="1272159"/>
                  </a:lnTo>
                  <a:lnTo>
                    <a:pt x="1825625" y="1315186"/>
                  </a:lnTo>
                  <a:lnTo>
                    <a:pt x="1812505" y="1358823"/>
                  </a:lnTo>
                  <a:lnTo>
                    <a:pt x="1800821" y="1403032"/>
                  </a:lnTo>
                  <a:lnTo>
                    <a:pt x="1790611" y="1447800"/>
                  </a:lnTo>
                  <a:lnTo>
                    <a:pt x="1781898" y="1493113"/>
                  </a:lnTo>
                  <a:lnTo>
                    <a:pt x="1774710" y="1538922"/>
                  </a:lnTo>
                  <a:lnTo>
                    <a:pt x="1769071" y="1585201"/>
                  </a:lnTo>
                  <a:lnTo>
                    <a:pt x="1765020" y="1631950"/>
                  </a:lnTo>
                  <a:lnTo>
                    <a:pt x="1762556" y="1679117"/>
                  </a:lnTo>
                  <a:lnTo>
                    <a:pt x="1761744" y="1726692"/>
                  </a:lnTo>
                  <a:lnTo>
                    <a:pt x="1762556" y="1774278"/>
                  </a:lnTo>
                  <a:lnTo>
                    <a:pt x="1765020" y="1821446"/>
                  </a:lnTo>
                  <a:lnTo>
                    <a:pt x="1769071" y="1868195"/>
                  </a:lnTo>
                  <a:lnTo>
                    <a:pt x="1774710" y="1914474"/>
                  </a:lnTo>
                  <a:lnTo>
                    <a:pt x="1781898" y="1960283"/>
                  </a:lnTo>
                  <a:lnTo>
                    <a:pt x="1790611" y="2005596"/>
                  </a:lnTo>
                  <a:lnTo>
                    <a:pt x="1800821" y="2050364"/>
                  </a:lnTo>
                  <a:lnTo>
                    <a:pt x="1812505" y="2094572"/>
                  </a:lnTo>
                  <a:lnTo>
                    <a:pt x="1825625" y="2138210"/>
                  </a:lnTo>
                  <a:lnTo>
                    <a:pt x="1840179" y="2181237"/>
                  </a:lnTo>
                  <a:lnTo>
                    <a:pt x="1856117" y="2223617"/>
                  </a:lnTo>
                  <a:lnTo>
                    <a:pt x="1873415" y="2265349"/>
                  </a:lnTo>
                  <a:lnTo>
                    <a:pt x="1892058" y="2306396"/>
                  </a:lnTo>
                  <a:lnTo>
                    <a:pt x="1912023" y="2346718"/>
                  </a:lnTo>
                  <a:lnTo>
                    <a:pt x="1933257" y="2386317"/>
                  </a:lnTo>
                  <a:lnTo>
                    <a:pt x="1955761" y="2425141"/>
                  </a:lnTo>
                  <a:lnTo>
                    <a:pt x="1979498" y="2463177"/>
                  </a:lnTo>
                  <a:lnTo>
                    <a:pt x="2004441" y="2500401"/>
                  </a:lnTo>
                  <a:lnTo>
                    <a:pt x="2030577" y="2536787"/>
                  </a:lnTo>
                  <a:lnTo>
                    <a:pt x="2057844" y="2572308"/>
                  </a:lnTo>
                  <a:lnTo>
                    <a:pt x="2086254" y="2606929"/>
                  </a:lnTo>
                  <a:lnTo>
                    <a:pt x="2115769" y="2640647"/>
                  </a:lnTo>
                  <a:lnTo>
                    <a:pt x="2146350" y="2673400"/>
                  </a:lnTo>
                  <a:lnTo>
                    <a:pt x="2177986" y="2705201"/>
                  </a:lnTo>
                  <a:lnTo>
                    <a:pt x="2210638" y="2735999"/>
                  </a:lnTo>
                  <a:lnTo>
                    <a:pt x="2244280" y="2765780"/>
                  </a:lnTo>
                  <a:lnTo>
                    <a:pt x="2278900" y="2794508"/>
                  </a:lnTo>
                  <a:lnTo>
                    <a:pt x="2314460" y="2822168"/>
                  </a:lnTo>
                  <a:lnTo>
                    <a:pt x="2350935" y="2848737"/>
                  </a:lnTo>
                  <a:lnTo>
                    <a:pt x="2388298" y="2874175"/>
                  </a:lnTo>
                  <a:lnTo>
                    <a:pt x="2426538" y="2898457"/>
                  </a:lnTo>
                  <a:lnTo>
                    <a:pt x="2465603" y="2921571"/>
                  </a:lnTo>
                  <a:lnTo>
                    <a:pt x="2505481" y="2943479"/>
                  </a:lnTo>
                  <a:lnTo>
                    <a:pt x="2546134" y="2964167"/>
                  </a:lnTo>
                  <a:lnTo>
                    <a:pt x="2587548" y="2983598"/>
                  </a:lnTo>
                  <a:lnTo>
                    <a:pt x="2629700" y="3001746"/>
                  </a:lnTo>
                  <a:lnTo>
                    <a:pt x="2672562" y="3018599"/>
                  </a:lnTo>
                  <a:lnTo>
                    <a:pt x="2716085" y="3034119"/>
                  </a:lnTo>
                  <a:lnTo>
                    <a:pt x="2760268" y="3048279"/>
                  </a:lnTo>
                  <a:lnTo>
                    <a:pt x="2805074" y="3061068"/>
                  </a:lnTo>
                  <a:lnTo>
                    <a:pt x="2850489" y="3072434"/>
                  </a:lnTo>
                  <a:lnTo>
                    <a:pt x="2896463" y="3082379"/>
                  </a:lnTo>
                  <a:lnTo>
                    <a:pt x="2942983" y="3090862"/>
                  </a:lnTo>
                  <a:lnTo>
                    <a:pt x="2990024" y="3097860"/>
                  </a:lnTo>
                  <a:lnTo>
                    <a:pt x="3037560" y="3103346"/>
                  </a:lnTo>
                  <a:lnTo>
                    <a:pt x="3085566" y="3107296"/>
                  </a:lnTo>
                  <a:lnTo>
                    <a:pt x="3134017" y="3109684"/>
                  </a:lnTo>
                  <a:lnTo>
                    <a:pt x="3182874" y="3110484"/>
                  </a:lnTo>
                  <a:lnTo>
                    <a:pt x="3231718" y="3109684"/>
                  </a:lnTo>
                  <a:lnTo>
                    <a:pt x="3280168" y="3107296"/>
                  </a:lnTo>
                  <a:lnTo>
                    <a:pt x="3328174" y="3103346"/>
                  </a:lnTo>
                  <a:lnTo>
                    <a:pt x="3375710" y="3097860"/>
                  </a:lnTo>
                  <a:lnTo>
                    <a:pt x="3422751" y="3090862"/>
                  </a:lnTo>
                  <a:lnTo>
                    <a:pt x="3469271" y="3082379"/>
                  </a:lnTo>
                  <a:lnTo>
                    <a:pt x="3515245" y="3072434"/>
                  </a:lnTo>
                  <a:lnTo>
                    <a:pt x="3560661" y="3061068"/>
                  </a:lnTo>
                  <a:lnTo>
                    <a:pt x="3605466" y="3048279"/>
                  </a:lnTo>
                  <a:lnTo>
                    <a:pt x="3649649" y="3034119"/>
                  </a:lnTo>
                  <a:lnTo>
                    <a:pt x="3693172" y="3018599"/>
                  </a:lnTo>
                  <a:lnTo>
                    <a:pt x="3736035" y="3001746"/>
                  </a:lnTo>
                  <a:lnTo>
                    <a:pt x="3778186" y="2983598"/>
                  </a:lnTo>
                  <a:lnTo>
                    <a:pt x="3819601" y="2964167"/>
                  </a:lnTo>
                  <a:lnTo>
                    <a:pt x="3860254" y="2943479"/>
                  </a:lnTo>
                  <a:lnTo>
                    <a:pt x="3900132" y="2921571"/>
                  </a:lnTo>
                  <a:lnTo>
                    <a:pt x="3939197" y="2898457"/>
                  </a:lnTo>
                  <a:lnTo>
                    <a:pt x="3977436" y="2874175"/>
                  </a:lnTo>
                  <a:lnTo>
                    <a:pt x="4014800" y="2848737"/>
                  </a:lnTo>
                  <a:lnTo>
                    <a:pt x="4051274" y="2822168"/>
                  </a:lnTo>
                  <a:lnTo>
                    <a:pt x="4086834" y="2794508"/>
                  </a:lnTo>
                  <a:lnTo>
                    <a:pt x="4121454" y="2765780"/>
                  </a:lnTo>
                  <a:lnTo>
                    <a:pt x="4155097" y="2735999"/>
                  </a:lnTo>
                  <a:lnTo>
                    <a:pt x="4187761" y="2705201"/>
                  </a:lnTo>
                  <a:lnTo>
                    <a:pt x="4219384" y="2673400"/>
                  </a:lnTo>
                  <a:lnTo>
                    <a:pt x="4249966" y="2640647"/>
                  </a:lnTo>
                  <a:lnTo>
                    <a:pt x="4279481" y="2606929"/>
                  </a:lnTo>
                  <a:lnTo>
                    <a:pt x="4307891" y="2572308"/>
                  </a:lnTo>
                  <a:lnTo>
                    <a:pt x="4335157" y="2536787"/>
                  </a:lnTo>
                  <a:lnTo>
                    <a:pt x="4361294" y="2500401"/>
                  </a:lnTo>
                  <a:lnTo>
                    <a:pt x="4386237" y="2463177"/>
                  </a:lnTo>
                  <a:lnTo>
                    <a:pt x="4409973" y="2425141"/>
                  </a:lnTo>
                  <a:lnTo>
                    <a:pt x="4432478" y="2386317"/>
                  </a:lnTo>
                  <a:lnTo>
                    <a:pt x="4453712" y="2346718"/>
                  </a:lnTo>
                  <a:lnTo>
                    <a:pt x="4473676" y="2306396"/>
                  </a:lnTo>
                  <a:lnTo>
                    <a:pt x="4492320" y="2265349"/>
                  </a:lnTo>
                  <a:lnTo>
                    <a:pt x="4509617" y="2223617"/>
                  </a:lnTo>
                  <a:lnTo>
                    <a:pt x="4525556" y="2181237"/>
                  </a:lnTo>
                  <a:lnTo>
                    <a:pt x="4540110" y="2138210"/>
                  </a:lnTo>
                  <a:lnTo>
                    <a:pt x="4553229" y="2094572"/>
                  </a:lnTo>
                  <a:lnTo>
                    <a:pt x="4564913" y="2050364"/>
                  </a:lnTo>
                  <a:lnTo>
                    <a:pt x="4575124" y="2005596"/>
                  </a:lnTo>
                  <a:lnTo>
                    <a:pt x="4583836" y="1960283"/>
                  </a:lnTo>
                  <a:lnTo>
                    <a:pt x="4591024" y="1914474"/>
                  </a:lnTo>
                  <a:lnTo>
                    <a:pt x="4596663" y="1868195"/>
                  </a:lnTo>
                  <a:lnTo>
                    <a:pt x="4600714" y="1821446"/>
                  </a:lnTo>
                  <a:lnTo>
                    <a:pt x="4603178" y="1774278"/>
                  </a:lnTo>
                  <a:lnTo>
                    <a:pt x="4604004" y="1726692"/>
                  </a:lnTo>
                  <a:close/>
                </a:path>
              </a:pathLst>
            </a:custGeom>
            <a:solidFill>
              <a:srgbClr val="29B974"/>
            </a:solidFill>
          </p:spPr>
          <p:txBody>
            <a:bodyPr wrap="square" lIns="0" tIns="0" rIns="0" bIns="0" rtlCol="0"/>
            <a:lstStyle/>
            <a:p>
              <a:endParaRPr>
                <a:ea typeface="Microsoft YaHei" panose="020B0503020204020204" pitchFamily="34" charset="-122"/>
              </a:endParaRPr>
            </a:p>
          </p:txBody>
        </p:sp>
        <p:sp>
          <p:nvSpPr>
            <p:cNvPr id="23" name="object 23"/>
            <p:cNvSpPr/>
            <p:nvPr/>
          </p:nvSpPr>
          <p:spPr>
            <a:xfrm>
              <a:off x="4375404" y="2534411"/>
              <a:ext cx="2842260" cy="2767965"/>
            </a:xfrm>
            <a:custGeom>
              <a:avLst/>
              <a:gdLst/>
              <a:ahLst/>
              <a:cxnLst/>
              <a:rect l="l" t="t" r="r" b="b"/>
              <a:pathLst>
                <a:path w="2842259" h="2767965">
                  <a:moveTo>
                    <a:pt x="0" y="1383792"/>
                  </a:moveTo>
                  <a:lnTo>
                    <a:pt x="824" y="1336216"/>
                  </a:lnTo>
                  <a:lnTo>
                    <a:pt x="3278" y="1289044"/>
                  </a:lnTo>
                  <a:lnTo>
                    <a:pt x="7337" y="1242300"/>
                  </a:lnTo>
                  <a:lnTo>
                    <a:pt x="12973" y="1196011"/>
                  </a:lnTo>
                  <a:lnTo>
                    <a:pt x="20160" y="1150202"/>
                  </a:lnTo>
                  <a:lnTo>
                    <a:pt x="28872" y="1104898"/>
                  </a:lnTo>
                  <a:lnTo>
                    <a:pt x="39082" y="1060126"/>
                  </a:lnTo>
                  <a:lnTo>
                    <a:pt x="50764" y="1015911"/>
                  </a:lnTo>
                  <a:lnTo>
                    <a:pt x="63891" y="972280"/>
                  </a:lnTo>
                  <a:lnTo>
                    <a:pt x="78437" y="929257"/>
                  </a:lnTo>
                  <a:lnTo>
                    <a:pt x="94376" y="886869"/>
                  </a:lnTo>
                  <a:lnTo>
                    <a:pt x="111680" y="845141"/>
                  </a:lnTo>
                  <a:lnTo>
                    <a:pt x="130324" y="804099"/>
                  </a:lnTo>
                  <a:lnTo>
                    <a:pt x="150281" y="763769"/>
                  </a:lnTo>
                  <a:lnTo>
                    <a:pt x="171524" y="724177"/>
                  </a:lnTo>
                  <a:lnTo>
                    <a:pt x="194027" y="685348"/>
                  </a:lnTo>
                  <a:lnTo>
                    <a:pt x="217764" y="647308"/>
                  </a:lnTo>
                  <a:lnTo>
                    <a:pt x="242708" y="610083"/>
                  </a:lnTo>
                  <a:lnTo>
                    <a:pt x="268833" y="573699"/>
                  </a:lnTo>
                  <a:lnTo>
                    <a:pt x="296112" y="538181"/>
                  </a:lnTo>
                  <a:lnTo>
                    <a:pt x="324519" y="503555"/>
                  </a:lnTo>
                  <a:lnTo>
                    <a:pt x="354027" y="469847"/>
                  </a:lnTo>
                  <a:lnTo>
                    <a:pt x="384611" y="437083"/>
                  </a:lnTo>
                  <a:lnTo>
                    <a:pt x="416242" y="405288"/>
                  </a:lnTo>
                  <a:lnTo>
                    <a:pt x="448895" y="374489"/>
                  </a:lnTo>
                  <a:lnTo>
                    <a:pt x="482544" y="344710"/>
                  </a:lnTo>
                  <a:lnTo>
                    <a:pt x="517162" y="315978"/>
                  </a:lnTo>
                  <a:lnTo>
                    <a:pt x="552723" y="288318"/>
                  </a:lnTo>
                  <a:lnTo>
                    <a:pt x="589200" y="261757"/>
                  </a:lnTo>
                  <a:lnTo>
                    <a:pt x="626566" y="236319"/>
                  </a:lnTo>
                  <a:lnTo>
                    <a:pt x="664795" y="212031"/>
                  </a:lnTo>
                  <a:lnTo>
                    <a:pt x="703862" y="188919"/>
                  </a:lnTo>
                  <a:lnTo>
                    <a:pt x="743738" y="167008"/>
                  </a:lnTo>
                  <a:lnTo>
                    <a:pt x="784399" y="146324"/>
                  </a:lnTo>
                  <a:lnTo>
                    <a:pt x="825816" y="126892"/>
                  </a:lnTo>
                  <a:lnTo>
                    <a:pt x="867965" y="108739"/>
                  </a:lnTo>
                  <a:lnTo>
                    <a:pt x="910818" y="91891"/>
                  </a:lnTo>
                  <a:lnTo>
                    <a:pt x="954349" y="76372"/>
                  </a:lnTo>
                  <a:lnTo>
                    <a:pt x="998532" y="62209"/>
                  </a:lnTo>
                  <a:lnTo>
                    <a:pt x="1043340" y="49427"/>
                  </a:lnTo>
                  <a:lnTo>
                    <a:pt x="1088746" y="38053"/>
                  </a:lnTo>
                  <a:lnTo>
                    <a:pt x="1134725" y="28112"/>
                  </a:lnTo>
                  <a:lnTo>
                    <a:pt x="1181249" y="19629"/>
                  </a:lnTo>
                  <a:lnTo>
                    <a:pt x="1228292" y="12631"/>
                  </a:lnTo>
                  <a:lnTo>
                    <a:pt x="1275829" y="7143"/>
                  </a:lnTo>
                  <a:lnTo>
                    <a:pt x="1323831" y="3192"/>
                  </a:lnTo>
                  <a:lnTo>
                    <a:pt x="1372274" y="802"/>
                  </a:lnTo>
                  <a:lnTo>
                    <a:pt x="1421130" y="0"/>
                  </a:lnTo>
                  <a:lnTo>
                    <a:pt x="1469985" y="802"/>
                  </a:lnTo>
                  <a:lnTo>
                    <a:pt x="1518428" y="3192"/>
                  </a:lnTo>
                  <a:lnTo>
                    <a:pt x="1566430" y="7143"/>
                  </a:lnTo>
                  <a:lnTo>
                    <a:pt x="1613967" y="12631"/>
                  </a:lnTo>
                  <a:lnTo>
                    <a:pt x="1661010" y="19629"/>
                  </a:lnTo>
                  <a:lnTo>
                    <a:pt x="1707534" y="28112"/>
                  </a:lnTo>
                  <a:lnTo>
                    <a:pt x="1753513" y="38053"/>
                  </a:lnTo>
                  <a:lnTo>
                    <a:pt x="1798919" y="49427"/>
                  </a:lnTo>
                  <a:lnTo>
                    <a:pt x="1843727" y="62209"/>
                  </a:lnTo>
                  <a:lnTo>
                    <a:pt x="1887910" y="76372"/>
                  </a:lnTo>
                  <a:lnTo>
                    <a:pt x="1931441" y="91891"/>
                  </a:lnTo>
                  <a:lnTo>
                    <a:pt x="1974294" y="108739"/>
                  </a:lnTo>
                  <a:lnTo>
                    <a:pt x="2016443" y="126892"/>
                  </a:lnTo>
                  <a:lnTo>
                    <a:pt x="2057860" y="146324"/>
                  </a:lnTo>
                  <a:lnTo>
                    <a:pt x="2098521" y="167008"/>
                  </a:lnTo>
                  <a:lnTo>
                    <a:pt x="2138397" y="188919"/>
                  </a:lnTo>
                  <a:lnTo>
                    <a:pt x="2177464" y="212031"/>
                  </a:lnTo>
                  <a:lnTo>
                    <a:pt x="2215693" y="236319"/>
                  </a:lnTo>
                  <a:lnTo>
                    <a:pt x="2253059" y="261757"/>
                  </a:lnTo>
                  <a:lnTo>
                    <a:pt x="2289536" y="288318"/>
                  </a:lnTo>
                  <a:lnTo>
                    <a:pt x="2325097" y="315978"/>
                  </a:lnTo>
                  <a:lnTo>
                    <a:pt x="2359715" y="344710"/>
                  </a:lnTo>
                  <a:lnTo>
                    <a:pt x="2393364" y="374489"/>
                  </a:lnTo>
                  <a:lnTo>
                    <a:pt x="2426017" y="405288"/>
                  </a:lnTo>
                  <a:lnTo>
                    <a:pt x="2457648" y="437083"/>
                  </a:lnTo>
                  <a:lnTo>
                    <a:pt x="2488232" y="469847"/>
                  </a:lnTo>
                  <a:lnTo>
                    <a:pt x="2517740" y="503555"/>
                  </a:lnTo>
                  <a:lnTo>
                    <a:pt x="2546147" y="538181"/>
                  </a:lnTo>
                  <a:lnTo>
                    <a:pt x="2573426" y="573699"/>
                  </a:lnTo>
                  <a:lnTo>
                    <a:pt x="2599551" y="610083"/>
                  </a:lnTo>
                  <a:lnTo>
                    <a:pt x="2624495" y="647308"/>
                  </a:lnTo>
                  <a:lnTo>
                    <a:pt x="2648232" y="685348"/>
                  </a:lnTo>
                  <a:lnTo>
                    <a:pt x="2670735" y="724177"/>
                  </a:lnTo>
                  <a:lnTo>
                    <a:pt x="2691978" y="763769"/>
                  </a:lnTo>
                  <a:lnTo>
                    <a:pt x="2711935" y="804099"/>
                  </a:lnTo>
                  <a:lnTo>
                    <a:pt x="2730579" y="845141"/>
                  </a:lnTo>
                  <a:lnTo>
                    <a:pt x="2747883" y="886869"/>
                  </a:lnTo>
                  <a:lnTo>
                    <a:pt x="2763822" y="929257"/>
                  </a:lnTo>
                  <a:lnTo>
                    <a:pt x="2778368" y="972280"/>
                  </a:lnTo>
                  <a:lnTo>
                    <a:pt x="2791495" y="1015911"/>
                  </a:lnTo>
                  <a:lnTo>
                    <a:pt x="2803177" y="1060126"/>
                  </a:lnTo>
                  <a:lnTo>
                    <a:pt x="2813387" y="1104898"/>
                  </a:lnTo>
                  <a:lnTo>
                    <a:pt x="2822099" y="1150202"/>
                  </a:lnTo>
                  <a:lnTo>
                    <a:pt x="2829286" y="1196011"/>
                  </a:lnTo>
                  <a:lnTo>
                    <a:pt x="2834922" y="1242300"/>
                  </a:lnTo>
                  <a:lnTo>
                    <a:pt x="2838981" y="1289044"/>
                  </a:lnTo>
                  <a:lnTo>
                    <a:pt x="2841435" y="1336216"/>
                  </a:lnTo>
                  <a:lnTo>
                    <a:pt x="2842260" y="1383792"/>
                  </a:lnTo>
                  <a:lnTo>
                    <a:pt x="2841435" y="1431367"/>
                  </a:lnTo>
                  <a:lnTo>
                    <a:pt x="2838981" y="1478539"/>
                  </a:lnTo>
                  <a:lnTo>
                    <a:pt x="2834922" y="1525283"/>
                  </a:lnTo>
                  <a:lnTo>
                    <a:pt x="2829286" y="1571572"/>
                  </a:lnTo>
                  <a:lnTo>
                    <a:pt x="2822099" y="1617381"/>
                  </a:lnTo>
                  <a:lnTo>
                    <a:pt x="2813387" y="1662685"/>
                  </a:lnTo>
                  <a:lnTo>
                    <a:pt x="2803177" y="1707457"/>
                  </a:lnTo>
                  <a:lnTo>
                    <a:pt x="2791495" y="1751672"/>
                  </a:lnTo>
                  <a:lnTo>
                    <a:pt x="2778368" y="1795303"/>
                  </a:lnTo>
                  <a:lnTo>
                    <a:pt x="2763822" y="1838326"/>
                  </a:lnTo>
                  <a:lnTo>
                    <a:pt x="2747883" y="1880714"/>
                  </a:lnTo>
                  <a:lnTo>
                    <a:pt x="2730579" y="1922442"/>
                  </a:lnTo>
                  <a:lnTo>
                    <a:pt x="2711935" y="1963484"/>
                  </a:lnTo>
                  <a:lnTo>
                    <a:pt x="2691978" y="2003814"/>
                  </a:lnTo>
                  <a:lnTo>
                    <a:pt x="2670735" y="2043406"/>
                  </a:lnTo>
                  <a:lnTo>
                    <a:pt x="2648232" y="2082235"/>
                  </a:lnTo>
                  <a:lnTo>
                    <a:pt x="2624495" y="2120275"/>
                  </a:lnTo>
                  <a:lnTo>
                    <a:pt x="2599551" y="2157500"/>
                  </a:lnTo>
                  <a:lnTo>
                    <a:pt x="2573426" y="2193884"/>
                  </a:lnTo>
                  <a:lnTo>
                    <a:pt x="2546147" y="2229402"/>
                  </a:lnTo>
                  <a:lnTo>
                    <a:pt x="2517740" y="2264028"/>
                  </a:lnTo>
                  <a:lnTo>
                    <a:pt x="2488232" y="2297736"/>
                  </a:lnTo>
                  <a:lnTo>
                    <a:pt x="2457648" y="2330500"/>
                  </a:lnTo>
                  <a:lnTo>
                    <a:pt x="2426017" y="2362295"/>
                  </a:lnTo>
                  <a:lnTo>
                    <a:pt x="2393364" y="2393094"/>
                  </a:lnTo>
                  <a:lnTo>
                    <a:pt x="2359715" y="2422873"/>
                  </a:lnTo>
                  <a:lnTo>
                    <a:pt x="2325097" y="2451605"/>
                  </a:lnTo>
                  <a:lnTo>
                    <a:pt x="2289536" y="2479265"/>
                  </a:lnTo>
                  <a:lnTo>
                    <a:pt x="2253059" y="2505826"/>
                  </a:lnTo>
                  <a:lnTo>
                    <a:pt x="2215693" y="2531264"/>
                  </a:lnTo>
                  <a:lnTo>
                    <a:pt x="2177464" y="2555552"/>
                  </a:lnTo>
                  <a:lnTo>
                    <a:pt x="2138397" y="2578664"/>
                  </a:lnTo>
                  <a:lnTo>
                    <a:pt x="2098521" y="2600575"/>
                  </a:lnTo>
                  <a:lnTo>
                    <a:pt x="2057860" y="2621259"/>
                  </a:lnTo>
                  <a:lnTo>
                    <a:pt x="2016443" y="2640691"/>
                  </a:lnTo>
                  <a:lnTo>
                    <a:pt x="1974294" y="2658844"/>
                  </a:lnTo>
                  <a:lnTo>
                    <a:pt x="1931441" y="2675692"/>
                  </a:lnTo>
                  <a:lnTo>
                    <a:pt x="1887910" y="2691211"/>
                  </a:lnTo>
                  <a:lnTo>
                    <a:pt x="1843727" y="2705374"/>
                  </a:lnTo>
                  <a:lnTo>
                    <a:pt x="1798919" y="2718156"/>
                  </a:lnTo>
                  <a:lnTo>
                    <a:pt x="1753513" y="2729530"/>
                  </a:lnTo>
                  <a:lnTo>
                    <a:pt x="1707534" y="2739471"/>
                  </a:lnTo>
                  <a:lnTo>
                    <a:pt x="1661010" y="2747954"/>
                  </a:lnTo>
                  <a:lnTo>
                    <a:pt x="1613967" y="2754952"/>
                  </a:lnTo>
                  <a:lnTo>
                    <a:pt x="1566430" y="2760440"/>
                  </a:lnTo>
                  <a:lnTo>
                    <a:pt x="1518428" y="2764391"/>
                  </a:lnTo>
                  <a:lnTo>
                    <a:pt x="1469985" y="2766781"/>
                  </a:lnTo>
                  <a:lnTo>
                    <a:pt x="1421130" y="2767584"/>
                  </a:lnTo>
                  <a:lnTo>
                    <a:pt x="1372274" y="2766781"/>
                  </a:lnTo>
                  <a:lnTo>
                    <a:pt x="1323831" y="2764391"/>
                  </a:lnTo>
                  <a:lnTo>
                    <a:pt x="1275829" y="2760440"/>
                  </a:lnTo>
                  <a:lnTo>
                    <a:pt x="1228292" y="2754952"/>
                  </a:lnTo>
                  <a:lnTo>
                    <a:pt x="1181249" y="2747954"/>
                  </a:lnTo>
                  <a:lnTo>
                    <a:pt x="1134725" y="2739471"/>
                  </a:lnTo>
                  <a:lnTo>
                    <a:pt x="1088746" y="2729530"/>
                  </a:lnTo>
                  <a:lnTo>
                    <a:pt x="1043340" y="2718156"/>
                  </a:lnTo>
                  <a:lnTo>
                    <a:pt x="998532" y="2705374"/>
                  </a:lnTo>
                  <a:lnTo>
                    <a:pt x="954349" y="2691211"/>
                  </a:lnTo>
                  <a:lnTo>
                    <a:pt x="910818" y="2675692"/>
                  </a:lnTo>
                  <a:lnTo>
                    <a:pt x="867965" y="2658844"/>
                  </a:lnTo>
                  <a:lnTo>
                    <a:pt x="825816" y="2640691"/>
                  </a:lnTo>
                  <a:lnTo>
                    <a:pt x="784399" y="2621259"/>
                  </a:lnTo>
                  <a:lnTo>
                    <a:pt x="743738" y="2600575"/>
                  </a:lnTo>
                  <a:lnTo>
                    <a:pt x="703862" y="2578664"/>
                  </a:lnTo>
                  <a:lnTo>
                    <a:pt x="664795" y="2555552"/>
                  </a:lnTo>
                  <a:lnTo>
                    <a:pt x="626566" y="2531264"/>
                  </a:lnTo>
                  <a:lnTo>
                    <a:pt x="589200" y="2505826"/>
                  </a:lnTo>
                  <a:lnTo>
                    <a:pt x="552723" y="2479265"/>
                  </a:lnTo>
                  <a:lnTo>
                    <a:pt x="517162" y="2451605"/>
                  </a:lnTo>
                  <a:lnTo>
                    <a:pt x="482544" y="2422873"/>
                  </a:lnTo>
                  <a:lnTo>
                    <a:pt x="448895" y="2393094"/>
                  </a:lnTo>
                  <a:lnTo>
                    <a:pt x="416242" y="2362295"/>
                  </a:lnTo>
                  <a:lnTo>
                    <a:pt x="384611" y="2330500"/>
                  </a:lnTo>
                  <a:lnTo>
                    <a:pt x="354027" y="2297736"/>
                  </a:lnTo>
                  <a:lnTo>
                    <a:pt x="324519" y="2264028"/>
                  </a:lnTo>
                  <a:lnTo>
                    <a:pt x="296112" y="2229402"/>
                  </a:lnTo>
                  <a:lnTo>
                    <a:pt x="268833" y="2193884"/>
                  </a:lnTo>
                  <a:lnTo>
                    <a:pt x="242708" y="2157500"/>
                  </a:lnTo>
                  <a:lnTo>
                    <a:pt x="217764" y="2120275"/>
                  </a:lnTo>
                  <a:lnTo>
                    <a:pt x="194027" y="2082235"/>
                  </a:lnTo>
                  <a:lnTo>
                    <a:pt x="171524" y="2043406"/>
                  </a:lnTo>
                  <a:lnTo>
                    <a:pt x="150281" y="2003814"/>
                  </a:lnTo>
                  <a:lnTo>
                    <a:pt x="130324" y="1963484"/>
                  </a:lnTo>
                  <a:lnTo>
                    <a:pt x="111680" y="1922442"/>
                  </a:lnTo>
                  <a:lnTo>
                    <a:pt x="94376" y="1880714"/>
                  </a:lnTo>
                  <a:lnTo>
                    <a:pt x="78437" y="1838326"/>
                  </a:lnTo>
                  <a:lnTo>
                    <a:pt x="63891" y="1795303"/>
                  </a:lnTo>
                  <a:lnTo>
                    <a:pt x="50764" y="1751672"/>
                  </a:lnTo>
                  <a:lnTo>
                    <a:pt x="39082" y="1707457"/>
                  </a:lnTo>
                  <a:lnTo>
                    <a:pt x="28872" y="1662685"/>
                  </a:lnTo>
                  <a:lnTo>
                    <a:pt x="20160" y="1617381"/>
                  </a:lnTo>
                  <a:lnTo>
                    <a:pt x="12973" y="1571572"/>
                  </a:lnTo>
                  <a:lnTo>
                    <a:pt x="7337" y="1525283"/>
                  </a:lnTo>
                  <a:lnTo>
                    <a:pt x="3278" y="1478539"/>
                  </a:lnTo>
                  <a:lnTo>
                    <a:pt x="824" y="1431367"/>
                  </a:lnTo>
                  <a:lnTo>
                    <a:pt x="0" y="1383792"/>
                  </a:lnTo>
                  <a:close/>
                </a:path>
              </a:pathLst>
            </a:custGeom>
            <a:ln w="9144">
              <a:solidFill>
                <a:srgbClr val="29B974"/>
              </a:solidFill>
            </a:ln>
          </p:spPr>
          <p:txBody>
            <a:bodyPr wrap="square" lIns="0" tIns="0" rIns="0" bIns="0" rtlCol="0"/>
            <a:lstStyle/>
            <a:p>
              <a:endParaRPr>
                <a:ea typeface="Microsoft YaHei" panose="020B0503020204020204" pitchFamily="34" charset="-122"/>
              </a:endParaRPr>
            </a:p>
          </p:txBody>
        </p:sp>
      </p:grpSp>
      <p:sp>
        <p:nvSpPr>
          <p:cNvPr id="24" name="object 24"/>
          <p:cNvSpPr txBox="1"/>
          <p:nvPr/>
        </p:nvSpPr>
        <p:spPr>
          <a:xfrm>
            <a:off x="4659629" y="3473322"/>
            <a:ext cx="2273300" cy="818515"/>
          </a:xfrm>
          <a:prstGeom prst="rect">
            <a:avLst/>
          </a:prstGeom>
        </p:spPr>
        <p:txBody>
          <a:bodyPr vert="horz" wrap="square" lIns="0" tIns="13335" rIns="0" bIns="0" rtlCol="0">
            <a:spAutoFit/>
          </a:bodyPr>
          <a:lstStyle/>
          <a:p>
            <a:pPr marL="12700" marR="5080" indent="249554">
              <a:lnSpc>
                <a:spcPct val="100000"/>
              </a:lnSpc>
              <a:spcBef>
                <a:spcPts val="105"/>
              </a:spcBef>
            </a:pPr>
            <a:r>
              <a:rPr lang="en-US" sz="2600">
                <a:solidFill>
                  <a:srgbClr val="FFFFFF"/>
                </a:solidFill>
                <a:latin typeface="Trebuchet MS"/>
                <a:ea typeface="Microsoft YaHei" panose="020B0503020204020204" pitchFamily="34" charset="-122"/>
                <a:cs typeface="Trebuchet MS"/>
              </a:rPr>
              <a:t>Elements</a:t>
            </a:r>
            <a:r>
              <a:rPr lang="en-US" sz="2600" spc="-60">
                <a:solidFill>
                  <a:srgbClr val="FFFFFF"/>
                </a:solidFill>
                <a:latin typeface="Trebuchet MS"/>
                <a:ea typeface="Microsoft YaHei" panose="020B0503020204020204" pitchFamily="34" charset="-122"/>
                <a:cs typeface="Trebuchet MS"/>
              </a:rPr>
              <a:t> </a:t>
            </a:r>
            <a:r>
              <a:rPr lang="en-US" sz="2600" spc="-25">
                <a:solidFill>
                  <a:srgbClr val="FFFFFF"/>
                </a:solidFill>
                <a:latin typeface="Trebuchet MS"/>
                <a:ea typeface="Microsoft YaHei" panose="020B0503020204020204" pitchFamily="34" charset="-122"/>
                <a:cs typeface="Trebuchet MS"/>
              </a:rPr>
              <a:t>of </a:t>
            </a:r>
            <a:r>
              <a:rPr lang="en-US" sz="2600" spc="-10">
                <a:solidFill>
                  <a:srgbClr val="FFFFFF"/>
                </a:solidFill>
                <a:latin typeface="Trebuchet MS"/>
                <a:ea typeface="Microsoft YaHei" panose="020B0503020204020204" pitchFamily="34" charset="-122"/>
                <a:cs typeface="Trebuchet MS"/>
              </a:rPr>
              <a:t>Personalization</a:t>
            </a:r>
            <a:endParaRPr lang="en-US" sz="2600">
              <a:latin typeface="Trebuchet MS"/>
              <a:ea typeface="Microsoft YaHei" panose="020B0503020204020204" pitchFamily="34" charset="-122"/>
              <a:cs typeface="Trebuchet MS"/>
            </a:endParaRPr>
          </a:p>
        </p:txBody>
      </p:sp>
      <p:sp>
        <p:nvSpPr>
          <p:cNvPr id="25" name="object 25"/>
          <p:cNvSpPr txBox="1"/>
          <p:nvPr/>
        </p:nvSpPr>
        <p:spPr>
          <a:xfrm>
            <a:off x="772464" y="2062835"/>
            <a:ext cx="2658110" cy="1148080"/>
          </a:xfrm>
          <a:prstGeom prst="rect">
            <a:avLst/>
          </a:prstGeom>
        </p:spPr>
        <p:txBody>
          <a:bodyPr vert="horz" wrap="square" lIns="0" tIns="196850" rIns="0" bIns="0" rtlCol="0">
            <a:spAutoFit/>
          </a:bodyPr>
          <a:lstStyle/>
          <a:p>
            <a:pPr marL="12700">
              <a:lnSpc>
                <a:spcPct val="100000"/>
              </a:lnSpc>
              <a:spcBef>
                <a:spcPts val="1550"/>
              </a:spcBef>
            </a:pPr>
            <a:r>
              <a:rPr lang="en-US" sz="2400" spc="-10">
                <a:solidFill>
                  <a:srgbClr val="29B974"/>
                </a:solidFill>
                <a:latin typeface="Trebuchet MS"/>
                <a:ea typeface="Microsoft YaHei" panose="020B0503020204020204" pitchFamily="34" charset="-122"/>
                <a:cs typeface="Trebuchet MS"/>
              </a:rPr>
              <a:t>Track</a:t>
            </a:r>
            <a:endParaRPr lang="en-US" sz="2400">
              <a:latin typeface="Trebuchet MS"/>
              <a:ea typeface="Microsoft YaHei" panose="020B0503020204020204" pitchFamily="34" charset="-122"/>
              <a:cs typeface="Trebuchet MS"/>
            </a:endParaRPr>
          </a:p>
          <a:p>
            <a:pPr marL="24130" marR="5080">
              <a:lnSpc>
                <a:spcPct val="100000"/>
              </a:lnSpc>
              <a:spcBef>
                <a:spcPts val="905"/>
              </a:spcBef>
            </a:pPr>
            <a:r>
              <a:rPr lang="en-US" sz="1500" spc="-30">
                <a:solidFill>
                  <a:srgbClr val="565656"/>
                </a:solidFill>
                <a:latin typeface="Trebuchet MS"/>
                <a:ea typeface="Microsoft YaHei" panose="020B0503020204020204" pitchFamily="34" charset="-122"/>
                <a:cs typeface="Trebuchet MS"/>
              </a:rPr>
              <a:t>Track</a:t>
            </a:r>
            <a:r>
              <a:rPr lang="en-US" sz="1500" spc="-60">
                <a:solidFill>
                  <a:srgbClr val="565656"/>
                </a:solidFill>
                <a:latin typeface="Trebuchet MS"/>
                <a:ea typeface="Microsoft YaHei" panose="020B0503020204020204" pitchFamily="34" charset="-122"/>
                <a:cs typeface="Trebuchet MS"/>
              </a:rPr>
              <a:t> </a:t>
            </a:r>
            <a:r>
              <a:rPr lang="en-US" sz="1500" spc="-10">
                <a:solidFill>
                  <a:srgbClr val="565656"/>
                </a:solidFill>
                <a:latin typeface="Trebuchet MS"/>
                <a:ea typeface="Microsoft YaHei" panose="020B0503020204020204" pitchFamily="34" charset="-122"/>
                <a:cs typeface="Trebuchet MS"/>
              </a:rPr>
              <a:t>in-</a:t>
            </a:r>
            <a:r>
              <a:rPr lang="en-US" sz="1500">
                <a:solidFill>
                  <a:srgbClr val="565656"/>
                </a:solidFill>
                <a:latin typeface="Trebuchet MS"/>
                <a:ea typeface="Microsoft YaHei" panose="020B0503020204020204" pitchFamily="34" charset="-122"/>
                <a:cs typeface="Trebuchet MS"/>
              </a:rPr>
              <a:t>depth</a:t>
            </a:r>
            <a:r>
              <a:rPr lang="en-US" sz="1500" spc="-75">
                <a:solidFill>
                  <a:srgbClr val="565656"/>
                </a:solidFill>
                <a:latin typeface="Trebuchet MS"/>
                <a:ea typeface="Microsoft YaHei" panose="020B0503020204020204" pitchFamily="34" charset="-122"/>
                <a:cs typeface="Trebuchet MS"/>
              </a:rPr>
              <a:t> </a:t>
            </a:r>
            <a:r>
              <a:rPr lang="en-US" sz="1500">
                <a:solidFill>
                  <a:srgbClr val="565656"/>
                </a:solidFill>
                <a:latin typeface="Trebuchet MS"/>
                <a:ea typeface="Microsoft YaHei" panose="020B0503020204020204" pitchFamily="34" charset="-122"/>
                <a:cs typeface="Trebuchet MS"/>
              </a:rPr>
              <a:t>behavioral</a:t>
            </a:r>
            <a:r>
              <a:rPr lang="en-US" sz="1500" spc="-70">
                <a:solidFill>
                  <a:srgbClr val="565656"/>
                </a:solidFill>
                <a:latin typeface="Trebuchet MS"/>
                <a:ea typeface="Microsoft YaHei" panose="020B0503020204020204" pitchFamily="34" charset="-122"/>
                <a:cs typeface="Trebuchet MS"/>
              </a:rPr>
              <a:t> </a:t>
            </a:r>
            <a:r>
              <a:rPr lang="en-US" sz="1500" spc="-20">
                <a:solidFill>
                  <a:srgbClr val="565656"/>
                </a:solidFill>
                <a:latin typeface="Trebuchet MS"/>
                <a:ea typeface="Microsoft YaHei" panose="020B0503020204020204" pitchFamily="34" charset="-122"/>
                <a:cs typeface="Trebuchet MS"/>
              </a:rPr>
              <a:t>data </a:t>
            </a:r>
            <a:r>
              <a:rPr lang="en-US" sz="1500">
                <a:solidFill>
                  <a:srgbClr val="565656"/>
                </a:solidFill>
                <a:latin typeface="Trebuchet MS"/>
                <a:ea typeface="Microsoft YaHei" panose="020B0503020204020204" pitchFamily="34" charset="-122"/>
                <a:cs typeface="Trebuchet MS"/>
              </a:rPr>
              <a:t>across</a:t>
            </a:r>
            <a:r>
              <a:rPr lang="en-US" sz="1500" spc="-50">
                <a:solidFill>
                  <a:srgbClr val="565656"/>
                </a:solidFill>
                <a:latin typeface="Trebuchet MS"/>
                <a:ea typeface="Microsoft YaHei" panose="020B0503020204020204" pitchFamily="34" charset="-122"/>
                <a:cs typeface="Trebuchet MS"/>
              </a:rPr>
              <a:t> </a:t>
            </a:r>
            <a:r>
              <a:rPr lang="en-US" sz="1500">
                <a:solidFill>
                  <a:srgbClr val="565656"/>
                </a:solidFill>
                <a:latin typeface="Trebuchet MS"/>
                <a:ea typeface="Microsoft YaHei" panose="020B0503020204020204" pitchFamily="34" charset="-122"/>
                <a:cs typeface="Trebuchet MS"/>
              </a:rPr>
              <a:t>each</a:t>
            </a:r>
            <a:r>
              <a:rPr lang="en-US" sz="1500" spc="-30">
                <a:solidFill>
                  <a:srgbClr val="565656"/>
                </a:solidFill>
                <a:latin typeface="Trebuchet MS"/>
                <a:ea typeface="Microsoft YaHei" panose="020B0503020204020204" pitchFamily="34" charset="-122"/>
                <a:cs typeface="Trebuchet MS"/>
              </a:rPr>
              <a:t> </a:t>
            </a:r>
            <a:r>
              <a:rPr lang="en-US" sz="1500" spc="-10">
                <a:solidFill>
                  <a:srgbClr val="565656"/>
                </a:solidFill>
                <a:latin typeface="Trebuchet MS"/>
                <a:ea typeface="Microsoft YaHei" panose="020B0503020204020204" pitchFamily="34" charset="-122"/>
                <a:cs typeface="Trebuchet MS"/>
              </a:rPr>
              <a:t>marketing</a:t>
            </a:r>
            <a:r>
              <a:rPr lang="en-US" sz="1500" spc="-50">
                <a:solidFill>
                  <a:srgbClr val="565656"/>
                </a:solidFill>
                <a:latin typeface="Trebuchet MS"/>
                <a:ea typeface="Microsoft YaHei" panose="020B0503020204020204" pitchFamily="34" charset="-122"/>
                <a:cs typeface="Trebuchet MS"/>
              </a:rPr>
              <a:t> </a:t>
            </a:r>
            <a:r>
              <a:rPr lang="en-US" sz="1500" spc="-10">
                <a:solidFill>
                  <a:srgbClr val="565656"/>
                </a:solidFill>
                <a:latin typeface="Trebuchet MS"/>
                <a:ea typeface="Microsoft YaHei" panose="020B0503020204020204" pitchFamily="34" charset="-122"/>
                <a:cs typeface="Trebuchet MS"/>
              </a:rPr>
              <a:t>channel</a:t>
            </a:r>
            <a:endParaRPr lang="en-US" sz="1500">
              <a:latin typeface="Trebuchet MS"/>
              <a:ea typeface="Microsoft YaHei" panose="020B0503020204020204" pitchFamily="34" charset="-122"/>
              <a:cs typeface="Trebuchet MS"/>
            </a:endParaRPr>
          </a:p>
        </p:txBody>
      </p:sp>
      <p:sp>
        <p:nvSpPr>
          <p:cNvPr id="26" name="object 26"/>
          <p:cNvSpPr txBox="1"/>
          <p:nvPr/>
        </p:nvSpPr>
        <p:spPr>
          <a:xfrm>
            <a:off x="754786" y="4713859"/>
            <a:ext cx="2626360" cy="1457960"/>
          </a:xfrm>
          <a:prstGeom prst="rect">
            <a:avLst/>
          </a:prstGeom>
        </p:spPr>
        <p:txBody>
          <a:bodyPr vert="horz" wrap="square" lIns="0" tIns="106680" rIns="0" bIns="0" rtlCol="0">
            <a:spAutoFit/>
          </a:bodyPr>
          <a:lstStyle/>
          <a:p>
            <a:pPr marL="12700">
              <a:lnSpc>
                <a:spcPct val="100000"/>
              </a:lnSpc>
              <a:spcBef>
                <a:spcPts val="840"/>
              </a:spcBef>
            </a:pPr>
            <a:r>
              <a:rPr lang="en-US" sz="2400" spc="-10">
                <a:solidFill>
                  <a:srgbClr val="29B974"/>
                </a:solidFill>
                <a:latin typeface="Trebuchet MS"/>
                <a:ea typeface="Microsoft YaHei" panose="020B0503020204020204" pitchFamily="34" charset="-122"/>
                <a:cs typeface="Trebuchet MS"/>
              </a:rPr>
              <a:t>Analyze</a:t>
            </a:r>
            <a:endParaRPr lang="en-US" sz="2400">
              <a:latin typeface="Trebuchet MS"/>
              <a:ea typeface="Microsoft YaHei" panose="020B0503020204020204" pitchFamily="34" charset="-122"/>
              <a:cs typeface="Trebuchet MS"/>
            </a:endParaRPr>
          </a:p>
          <a:p>
            <a:pPr marL="41910" marR="5080">
              <a:lnSpc>
                <a:spcPct val="100000"/>
              </a:lnSpc>
              <a:spcBef>
                <a:spcPts val="465"/>
              </a:spcBef>
            </a:pPr>
            <a:r>
              <a:rPr lang="en-US" sz="1500">
                <a:solidFill>
                  <a:srgbClr val="565656"/>
                </a:solidFill>
                <a:latin typeface="Trebuchet MS"/>
                <a:ea typeface="Microsoft YaHei" panose="020B0503020204020204" pitchFamily="34" charset="-122"/>
                <a:cs typeface="Trebuchet MS"/>
              </a:rPr>
              <a:t>Analyze</a:t>
            </a:r>
            <a:r>
              <a:rPr lang="en-US" sz="1500" spc="-50">
                <a:solidFill>
                  <a:srgbClr val="565656"/>
                </a:solidFill>
                <a:latin typeface="Trebuchet MS"/>
                <a:ea typeface="Microsoft YaHei" panose="020B0503020204020204" pitchFamily="34" charset="-122"/>
                <a:cs typeface="Trebuchet MS"/>
              </a:rPr>
              <a:t> </a:t>
            </a:r>
            <a:r>
              <a:rPr lang="en-US" sz="1500">
                <a:solidFill>
                  <a:srgbClr val="565656"/>
                </a:solidFill>
                <a:latin typeface="Trebuchet MS"/>
                <a:ea typeface="Microsoft YaHei" panose="020B0503020204020204" pitchFamily="34" charset="-122"/>
                <a:cs typeface="Trebuchet MS"/>
              </a:rPr>
              <a:t>and</a:t>
            </a:r>
            <a:r>
              <a:rPr lang="en-US" sz="1500" spc="-40">
                <a:solidFill>
                  <a:srgbClr val="565656"/>
                </a:solidFill>
                <a:latin typeface="Trebuchet MS"/>
                <a:ea typeface="Microsoft YaHei" panose="020B0503020204020204" pitchFamily="34" charset="-122"/>
                <a:cs typeface="Trebuchet MS"/>
              </a:rPr>
              <a:t> </a:t>
            </a:r>
            <a:r>
              <a:rPr lang="en-US" sz="1500" spc="-10">
                <a:solidFill>
                  <a:srgbClr val="565656"/>
                </a:solidFill>
                <a:latin typeface="Trebuchet MS"/>
                <a:ea typeface="Microsoft YaHei" panose="020B0503020204020204" pitchFamily="34" charset="-122"/>
                <a:cs typeface="Trebuchet MS"/>
              </a:rPr>
              <a:t>interpret</a:t>
            </a:r>
            <a:r>
              <a:rPr lang="en-US" sz="1500" spc="-55">
                <a:solidFill>
                  <a:srgbClr val="565656"/>
                </a:solidFill>
                <a:latin typeface="Trebuchet MS"/>
                <a:ea typeface="Microsoft YaHei" panose="020B0503020204020204" pitchFamily="34" charset="-122"/>
                <a:cs typeface="Trebuchet MS"/>
              </a:rPr>
              <a:t> </a:t>
            </a:r>
            <a:r>
              <a:rPr lang="en-US" sz="1500">
                <a:solidFill>
                  <a:srgbClr val="565656"/>
                </a:solidFill>
                <a:latin typeface="Trebuchet MS"/>
                <a:ea typeface="Microsoft YaHei" panose="020B0503020204020204" pitchFamily="34" charset="-122"/>
                <a:cs typeface="Trebuchet MS"/>
              </a:rPr>
              <a:t>data</a:t>
            </a:r>
            <a:r>
              <a:rPr lang="en-US" sz="1500" spc="-40">
                <a:solidFill>
                  <a:srgbClr val="565656"/>
                </a:solidFill>
                <a:latin typeface="Trebuchet MS"/>
                <a:ea typeface="Microsoft YaHei" panose="020B0503020204020204" pitchFamily="34" charset="-122"/>
                <a:cs typeface="Trebuchet MS"/>
              </a:rPr>
              <a:t> </a:t>
            </a:r>
            <a:r>
              <a:rPr lang="en-US" sz="1500" spc="-25">
                <a:solidFill>
                  <a:srgbClr val="565656"/>
                </a:solidFill>
                <a:latin typeface="Trebuchet MS"/>
                <a:ea typeface="Microsoft YaHei" panose="020B0503020204020204" pitchFamily="34" charset="-122"/>
                <a:cs typeface="Trebuchet MS"/>
              </a:rPr>
              <a:t>to </a:t>
            </a:r>
            <a:r>
              <a:rPr lang="en-US" sz="1500" spc="-10">
                <a:solidFill>
                  <a:srgbClr val="565656"/>
                </a:solidFill>
                <a:latin typeface="Trebuchet MS"/>
                <a:ea typeface="Microsoft YaHei" panose="020B0503020204020204" pitchFamily="34" charset="-122"/>
                <a:cs typeface="Trebuchet MS"/>
              </a:rPr>
              <a:t>understand</a:t>
            </a:r>
            <a:r>
              <a:rPr lang="en-US" sz="1500" spc="-65">
                <a:solidFill>
                  <a:srgbClr val="565656"/>
                </a:solidFill>
                <a:latin typeface="Trebuchet MS"/>
                <a:ea typeface="Microsoft YaHei" panose="020B0503020204020204" pitchFamily="34" charset="-122"/>
                <a:cs typeface="Trebuchet MS"/>
              </a:rPr>
              <a:t> </a:t>
            </a:r>
            <a:r>
              <a:rPr lang="en-US" sz="1500">
                <a:solidFill>
                  <a:srgbClr val="565656"/>
                </a:solidFill>
                <a:latin typeface="Trebuchet MS"/>
                <a:ea typeface="Microsoft YaHei" panose="020B0503020204020204" pitchFamily="34" charset="-122"/>
                <a:cs typeface="Trebuchet MS"/>
              </a:rPr>
              <a:t>what</a:t>
            </a:r>
            <a:r>
              <a:rPr lang="en-US" sz="1500" spc="-35">
                <a:solidFill>
                  <a:srgbClr val="565656"/>
                </a:solidFill>
                <a:latin typeface="Trebuchet MS"/>
                <a:ea typeface="Microsoft YaHei" panose="020B0503020204020204" pitchFamily="34" charset="-122"/>
                <a:cs typeface="Trebuchet MS"/>
              </a:rPr>
              <a:t> </a:t>
            </a:r>
            <a:r>
              <a:rPr lang="en-US" sz="1500">
                <a:solidFill>
                  <a:srgbClr val="565656"/>
                </a:solidFill>
                <a:latin typeface="Trebuchet MS"/>
                <a:ea typeface="Microsoft YaHei" panose="020B0503020204020204" pitchFamily="34" charset="-122"/>
                <a:cs typeface="Trebuchet MS"/>
              </a:rPr>
              <a:t>it</a:t>
            </a:r>
            <a:r>
              <a:rPr lang="en-US" sz="1500" spc="-35">
                <a:solidFill>
                  <a:srgbClr val="565656"/>
                </a:solidFill>
                <a:latin typeface="Trebuchet MS"/>
                <a:ea typeface="Microsoft YaHei" panose="020B0503020204020204" pitchFamily="34" charset="-122"/>
                <a:cs typeface="Trebuchet MS"/>
              </a:rPr>
              <a:t> </a:t>
            </a:r>
            <a:r>
              <a:rPr lang="en-US" sz="1500" spc="-10">
                <a:solidFill>
                  <a:srgbClr val="565656"/>
                </a:solidFill>
                <a:latin typeface="Trebuchet MS"/>
                <a:ea typeface="Microsoft YaHei" panose="020B0503020204020204" pitchFamily="34" charset="-122"/>
                <a:cs typeface="Trebuchet MS"/>
              </a:rPr>
              <a:t>means, </a:t>
            </a:r>
            <a:r>
              <a:rPr lang="en-US" sz="1500">
                <a:solidFill>
                  <a:srgbClr val="565656"/>
                </a:solidFill>
                <a:latin typeface="Trebuchet MS"/>
                <a:ea typeface="Microsoft YaHei" panose="020B0503020204020204" pitchFamily="34" charset="-122"/>
                <a:cs typeface="Trebuchet MS"/>
              </a:rPr>
              <a:t>including</a:t>
            </a:r>
            <a:r>
              <a:rPr lang="en-US" sz="1500" spc="-70">
                <a:solidFill>
                  <a:srgbClr val="565656"/>
                </a:solidFill>
                <a:latin typeface="Trebuchet MS"/>
                <a:ea typeface="Microsoft YaHei" panose="020B0503020204020204" pitchFamily="34" charset="-122"/>
                <a:cs typeface="Trebuchet MS"/>
              </a:rPr>
              <a:t> </a:t>
            </a:r>
            <a:r>
              <a:rPr lang="en-US" sz="1500">
                <a:solidFill>
                  <a:srgbClr val="565656"/>
                </a:solidFill>
                <a:latin typeface="Trebuchet MS"/>
                <a:ea typeface="Microsoft YaHei" panose="020B0503020204020204" pitchFamily="34" charset="-122"/>
                <a:cs typeface="Trebuchet MS"/>
              </a:rPr>
              <a:t>person's</a:t>
            </a:r>
            <a:r>
              <a:rPr lang="en-US" sz="1500" spc="-65">
                <a:solidFill>
                  <a:srgbClr val="565656"/>
                </a:solidFill>
                <a:latin typeface="Trebuchet MS"/>
                <a:ea typeface="Microsoft YaHei" panose="020B0503020204020204" pitchFamily="34" charset="-122"/>
                <a:cs typeface="Trebuchet MS"/>
              </a:rPr>
              <a:t> </a:t>
            </a:r>
            <a:r>
              <a:rPr lang="en-US" sz="1500" spc="-10">
                <a:solidFill>
                  <a:srgbClr val="565656"/>
                </a:solidFill>
                <a:latin typeface="Trebuchet MS"/>
                <a:ea typeface="Microsoft YaHei" panose="020B0503020204020204" pitchFamily="34" charset="-122"/>
                <a:cs typeface="Trebuchet MS"/>
              </a:rPr>
              <a:t>preferences </a:t>
            </a:r>
            <a:r>
              <a:rPr lang="en-US" sz="1500">
                <a:solidFill>
                  <a:srgbClr val="565656"/>
                </a:solidFill>
                <a:latin typeface="Trebuchet MS"/>
                <a:ea typeface="Microsoft YaHei" panose="020B0503020204020204" pitchFamily="34" charset="-122"/>
                <a:cs typeface="Trebuchet MS"/>
              </a:rPr>
              <a:t>&amp; </a:t>
            </a:r>
            <a:r>
              <a:rPr lang="en-US" sz="1500" spc="-10">
                <a:solidFill>
                  <a:srgbClr val="565656"/>
                </a:solidFill>
                <a:latin typeface="Trebuchet MS"/>
                <a:ea typeface="Microsoft YaHei" panose="020B0503020204020204" pitchFamily="34" charset="-122"/>
                <a:cs typeface="Trebuchet MS"/>
              </a:rPr>
              <a:t>in-the-moment</a:t>
            </a:r>
            <a:r>
              <a:rPr lang="en-US" sz="1500" spc="-30">
                <a:solidFill>
                  <a:srgbClr val="565656"/>
                </a:solidFill>
                <a:latin typeface="Trebuchet MS"/>
                <a:ea typeface="Microsoft YaHei" panose="020B0503020204020204" pitchFamily="34" charset="-122"/>
                <a:cs typeface="Trebuchet MS"/>
              </a:rPr>
              <a:t> </a:t>
            </a:r>
            <a:r>
              <a:rPr lang="en-US" sz="1500" spc="-10">
                <a:solidFill>
                  <a:srgbClr val="565656"/>
                </a:solidFill>
                <a:latin typeface="Trebuchet MS"/>
                <a:ea typeface="Microsoft YaHei" panose="020B0503020204020204" pitchFamily="34" charset="-122"/>
                <a:cs typeface="Trebuchet MS"/>
              </a:rPr>
              <a:t>intent</a:t>
            </a:r>
            <a:endParaRPr lang="en-US" sz="1500">
              <a:latin typeface="Trebuchet MS"/>
              <a:ea typeface="Microsoft YaHei" panose="020B0503020204020204" pitchFamily="34" charset="-122"/>
              <a:cs typeface="Trebuchet MS"/>
            </a:endParaRPr>
          </a:p>
        </p:txBody>
      </p:sp>
      <p:sp>
        <p:nvSpPr>
          <p:cNvPr id="27" name="object 27"/>
          <p:cNvSpPr txBox="1"/>
          <p:nvPr/>
        </p:nvSpPr>
        <p:spPr>
          <a:xfrm>
            <a:off x="8315706" y="4679848"/>
            <a:ext cx="2726690" cy="1492250"/>
          </a:xfrm>
          <a:prstGeom prst="rect">
            <a:avLst/>
          </a:prstGeom>
        </p:spPr>
        <p:txBody>
          <a:bodyPr vert="horz" wrap="square" lIns="0" tIns="127635" rIns="0" bIns="0" rtlCol="0">
            <a:spAutoFit/>
          </a:bodyPr>
          <a:lstStyle/>
          <a:p>
            <a:pPr marL="1807210">
              <a:lnSpc>
                <a:spcPct val="100000"/>
              </a:lnSpc>
              <a:spcBef>
                <a:spcPts val="1005"/>
              </a:spcBef>
            </a:pPr>
            <a:r>
              <a:rPr lang="en-US" sz="2400" spc="-25">
                <a:solidFill>
                  <a:srgbClr val="29B974"/>
                </a:solidFill>
                <a:latin typeface="Trebuchet MS"/>
                <a:ea typeface="Microsoft YaHei" panose="020B0503020204020204" pitchFamily="34" charset="-122"/>
                <a:cs typeface="Trebuchet MS"/>
              </a:rPr>
              <a:t>Act</a:t>
            </a:r>
            <a:endParaRPr lang="en-US" sz="2400">
              <a:latin typeface="Trebuchet MS"/>
              <a:ea typeface="Microsoft YaHei" panose="020B0503020204020204" pitchFamily="34" charset="-122"/>
              <a:cs typeface="Trebuchet MS"/>
            </a:endParaRPr>
          </a:p>
          <a:p>
            <a:pPr marL="12700" marR="5080">
              <a:lnSpc>
                <a:spcPct val="100000"/>
              </a:lnSpc>
              <a:spcBef>
                <a:spcPts val="570"/>
              </a:spcBef>
            </a:pPr>
            <a:r>
              <a:rPr lang="en-US" sz="1500">
                <a:solidFill>
                  <a:srgbClr val="565656"/>
                </a:solidFill>
                <a:latin typeface="Trebuchet MS"/>
                <a:ea typeface="Microsoft YaHei" panose="020B0503020204020204" pitchFamily="34" charset="-122"/>
                <a:cs typeface="Trebuchet MS"/>
              </a:rPr>
              <a:t>Act</a:t>
            </a:r>
            <a:r>
              <a:rPr lang="en-US" sz="1500" spc="-40">
                <a:solidFill>
                  <a:srgbClr val="565656"/>
                </a:solidFill>
                <a:latin typeface="Trebuchet MS"/>
                <a:ea typeface="Microsoft YaHei" panose="020B0503020204020204" pitchFamily="34" charset="-122"/>
                <a:cs typeface="Trebuchet MS"/>
              </a:rPr>
              <a:t> </a:t>
            </a:r>
            <a:r>
              <a:rPr lang="en-US" sz="1500">
                <a:solidFill>
                  <a:srgbClr val="565656"/>
                </a:solidFill>
                <a:latin typeface="Trebuchet MS"/>
                <a:ea typeface="Microsoft YaHei" panose="020B0503020204020204" pitchFamily="34" charset="-122"/>
                <a:cs typeface="Trebuchet MS"/>
              </a:rPr>
              <a:t>on</a:t>
            </a:r>
            <a:r>
              <a:rPr lang="en-US" sz="1500" spc="-35">
                <a:solidFill>
                  <a:srgbClr val="565656"/>
                </a:solidFill>
                <a:latin typeface="Trebuchet MS"/>
                <a:ea typeface="Microsoft YaHei" panose="020B0503020204020204" pitchFamily="34" charset="-122"/>
                <a:cs typeface="Trebuchet MS"/>
              </a:rPr>
              <a:t> </a:t>
            </a:r>
            <a:r>
              <a:rPr lang="en-US" sz="1500">
                <a:solidFill>
                  <a:srgbClr val="565656"/>
                </a:solidFill>
                <a:latin typeface="Trebuchet MS"/>
                <a:ea typeface="Microsoft YaHei" panose="020B0503020204020204" pitchFamily="34" charset="-122"/>
                <a:cs typeface="Trebuchet MS"/>
              </a:rPr>
              <a:t>that</a:t>
            </a:r>
            <a:r>
              <a:rPr lang="en-US" sz="1500" spc="-55">
                <a:solidFill>
                  <a:srgbClr val="565656"/>
                </a:solidFill>
                <a:latin typeface="Trebuchet MS"/>
                <a:ea typeface="Microsoft YaHei" panose="020B0503020204020204" pitchFamily="34" charset="-122"/>
                <a:cs typeface="Trebuchet MS"/>
              </a:rPr>
              <a:t> </a:t>
            </a:r>
            <a:r>
              <a:rPr lang="en-US" sz="1500">
                <a:solidFill>
                  <a:srgbClr val="565656"/>
                </a:solidFill>
                <a:latin typeface="Trebuchet MS"/>
                <a:ea typeface="Microsoft YaHei" panose="020B0503020204020204" pitchFamily="34" charset="-122"/>
                <a:cs typeface="Trebuchet MS"/>
              </a:rPr>
              <a:t>data</a:t>
            </a:r>
            <a:r>
              <a:rPr lang="en-US" sz="1500" spc="-40">
                <a:solidFill>
                  <a:srgbClr val="565656"/>
                </a:solidFill>
                <a:latin typeface="Trebuchet MS"/>
                <a:ea typeface="Microsoft YaHei" panose="020B0503020204020204" pitchFamily="34" charset="-122"/>
                <a:cs typeface="Trebuchet MS"/>
              </a:rPr>
              <a:t> </a:t>
            </a:r>
            <a:r>
              <a:rPr lang="en-US" sz="1500">
                <a:solidFill>
                  <a:srgbClr val="565656"/>
                </a:solidFill>
                <a:latin typeface="Trebuchet MS"/>
                <a:ea typeface="Microsoft YaHei" panose="020B0503020204020204" pitchFamily="34" charset="-122"/>
                <a:cs typeface="Trebuchet MS"/>
              </a:rPr>
              <a:t>in</a:t>
            </a:r>
            <a:r>
              <a:rPr lang="en-US" sz="1500" spc="-30">
                <a:solidFill>
                  <a:srgbClr val="565656"/>
                </a:solidFill>
                <a:latin typeface="Trebuchet MS"/>
                <a:ea typeface="Microsoft YaHei" panose="020B0503020204020204" pitchFamily="34" charset="-122"/>
                <a:cs typeface="Trebuchet MS"/>
              </a:rPr>
              <a:t> </a:t>
            </a:r>
            <a:r>
              <a:rPr lang="en-US" sz="1500">
                <a:solidFill>
                  <a:srgbClr val="565656"/>
                </a:solidFill>
                <a:latin typeface="Trebuchet MS"/>
                <a:ea typeface="Microsoft YaHei" panose="020B0503020204020204" pitchFamily="34" charset="-122"/>
                <a:cs typeface="Trebuchet MS"/>
              </a:rPr>
              <a:t>real</a:t>
            </a:r>
            <a:r>
              <a:rPr lang="en-US" sz="1500" spc="-35">
                <a:solidFill>
                  <a:srgbClr val="565656"/>
                </a:solidFill>
                <a:latin typeface="Trebuchet MS"/>
                <a:ea typeface="Microsoft YaHei" panose="020B0503020204020204" pitchFamily="34" charset="-122"/>
                <a:cs typeface="Trebuchet MS"/>
              </a:rPr>
              <a:t> </a:t>
            </a:r>
            <a:r>
              <a:rPr lang="en-US" sz="1500">
                <a:solidFill>
                  <a:srgbClr val="565656"/>
                </a:solidFill>
                <a:latin typeface="Trebuchet MS"/>
                <a:ea typeface="Microsoft YaHei" panose="020B0503020204020204" pitchFamily="34" charset="-122"/>
                <a:cs typeface="Trebuchet MS"/>
              </a:rPr>
              <a:t>time</a:t>
            </a:r>
            <a:r>
              <a:rPr lang="en-US" sz="1500" spc="-55">
                <a:solidFill>
                  <a:srgbClr val="565656"/>
                </a:solidFill>
                <a:latin typeface="Trebuchet MS"/>
                <a:ea typeface="Microsoft YaHei" panose="020B0503020204020204" pitchFamily="34" charset="-122"/>
                <a:cs typeface="Trebuchet MS"/>
              </a:rPr>
              <a:t> </a:t>
            </a:r>
            <a:r>
              <a:rPr lang="en-US" sz="1500" spc="-25">
                <a:solidFill>
                  <a:srgbClr val="565656"/>
                </a:solidFill>
                <a:latin typeface="Trebuchet MS"/>
                <a:ea typeface="Microsoft YaHei" panose="020B0503020204020204" pitchFamily="34" charset="-122"/>
                <a:cs typeface="Trebuchet MS"/>
              </a:rPr>
              <a:t>to </a:t>
            </a:r>
            <a:r>
              <a:rPr lang="en-US" sz="1500">
                <a:solidFill>
                  <a:srgbClr val="565656"/>
                </a:solidFill>
                <a:latin typeface="Trebuchet MS"/>
                <a:ea typeface="Microsoft YaHei" panose="020B0503020204020204" pitchFamily="34" charset="-122"/>
                <a:cs typeface="Trebuchet MS"/>
              </a:rPr>
              <a:t>affect</a:t>
            </a:r>
            <a:r>
              <a:rPr lang="en-US" sz="1500" spc="-65">
                <a:solidFill>
                  <a:srgbClr val="565656"/>
                </a:solidFill>
                <a:latin typeface="Trebuchet MS"/>
                <a:ea typeface="Microsoft YaHei" panose="020B0503020204020204" pitchFamily="34" charset="-122"/>
                <a:cs typeface="Trebuchet MS"/>
              </a:rPr>
              <a:t> </a:t>
            </a:r>
            <a:r>
              <a:rPr lang="en-US" sz="1500">
                <a:solidFill>
                  <a:srgbClr val="565656"/>
                </a:solidFill>
                <a:latin typeface="Trebuchet MS"/>
                <a:ea typeface="Microsoft YaHei" panose="020B0503020204020204" pitchFamily="34" charset="-122"/>
                <a:cs typeface="Trebuchet MS"/>
              </a:rPr>
              <a:t>the</a:t>
            </a:r>
            <a:r>
              <a:rPr lang="en-US" sz="1500" spc="-55">
                <a:solidFill>
                  <a:srgbClr val="565656"/>
                </a:solidFill>
                <a:latin typeface="Trebuchet MS"/>
                <a:ea typeface="Microsoft YaHei" panose="020B0503020204020204" pitchFamily="34" charset="-122"/>
                <a:cs typeface="Trebuchet MS"/>
              </a:rPr>
              <a:t> </a:t>
            </a:r>
            <a:r>
              <a:rPr lang="en-US" sz="1500">
                <a:solidFill>
                  <a:srgbClr val="565656"/>
                </a:solidFill>
                <a:latin typeface="Trebuchet MS"/>
                <a:ea typeface="Microsoft YaHei" panose="020B0503020204020204" pitchFamily="34" charset="-122"/>
                <a:cs typeface="Trebuchet MS"/>
              </a:rPr>
              <a:t>person's</a:t>
            </a:r>
            <a:r>
              <a:rPr lang="en-US" sz="1500" spc="-70">
                <a:solidFill>
                  <a:srgbClr val="565656"/>
                </a:solidFill>
                <a:latin typeface="Trebuchet MS"/>
                <a:ea typeface="Microsoft YaHei" panose="020B0503020204020204" pitchFamily="34" charset="-122"/>
                <a:cs typeface="Trebuchet MS"/>
              </a:rPr>
              <a:t> </a:t>
            </a:r>
            <a:r>
              <a:rPr lang="en-US" sz="1500" spc="-10">
                <a:solidFill>
                  <a:srgbClr val="565656"/>
                </a:solidFill>
                <a:latin typeface="Trebuchet MS"/>
                <a:ea typeface="Microsoft YaHei" panose="020B0503020204020204" pitchFamily="34" charset="-122"/>
                <a:cs typeface="Trebuchet MS"/>
              </a:rPr>
              <a:t>digital </a:t>
            </a:r>
            <a:r>
              <a:rPr lang="en-US" sz="1500">
                <a:solidFill>
                  <a:srgbClr val="565656"/>
                </a:solidFill>
                <a:latin typeface="Trebuchet MS"/>
                <a:ea typeface="Microsoft YaHei" panose="020B0503020204020204" pitchFamily="34" charset="-122"/>
                <a:cs typeface="Trebuchet MS"/>
              </a:rPr>
              <a:t>experience,</a:t>
            </a:r>
            <a:r>
              <a:rPr lang="en-US" sz="1500" spc="-75">
                <a:solidFill>
                  <a:srgbClr val="565656"/>
                </a:solidFill>
                <a:latin typeface="Trebuchet MS"/>
                <a:ea typeface="Microsoft YaHei" panose="020B0503020204020204" pitchFamily="34" charset="-122"/>
                <a:cs typeface="Trebuchet MS"/>
              </a:rPr>
              <a:t> </a:t>
            </a:r>
            <a:r>
              <a:rPr lang="en-US" sz="1500">
                <a:solidFill>
                  <a:srgbClr val="565656"/>
                </a:solidFill>
                <a:latin typeface="Trebuchet MS"/>
                <a:ea typeface="Microsoft YaHei" panose="020B0503020204020204" pitchFamily="34" charset="-122"/>
                <a:cs typeface="Trebuchet MS"/>
              </a:rPr>
              <a:t>tailoring</a:t>
            </a:r>
            <a:r>
              <a:rPr lang="en-US" sz="1500" spc="-75">
                <a:solidFill>
                  <a:srgbClr val="565656"/>
                </a:solidFill>
                <a:latin typeface="Trebuchet MS"/>
                <a:ea typeface="Microsoft YaHei" panose="020B0503020204020204" pitchFamily="34" charset="-122"/>
                <a:cs typeface="Trebuchet MS"/>
              </a:rPr>
              <a:t> </a:t>
            </a:r>
            <a:r>
              <a:rPr lang="en-US" sz="1500">
                <a:solidFill>
                  <a:srgbClr val="565656"/>
                </a:solidFill>
                <a:latin typeface="Trebuchet MS"/>
                <a:ea typeface="Microsoft YaHei" panose="020B0503020204020204" pitchFamily="34" charset="-122"/>
                <a:cs typeface="Trebuchet MS"/>
              </a:rPr>
              <a:t>it</a:t>
            </a:r>
            <a:r>
              <a:rPr lang="en-US" sz="1500" spc="-45">
                <a:solidFill>
                  <a:srgbClr val="565656"/>
                </a:solidFill>
                <a:latin typeface="Trebuchet MS"/>
                <a:ea typeface="Microsoft YaHei" panose="020B0503020204020204" pitchFamily="34" charset="-122"/>
                <a:cs typeface="Trebuchet MS"/>
              </a:rPr>
              <a:t> </a:t>
            </a:r>
            <a:r>
              <a:rPr lang="en-US" sz="1500">
                <a:solidFill>
                  <a:srgbClr val="565656"/>
                </a:solidFill>
                <a:latin typeface="Trebuchet MS"/>
                <a:ea typeface="Microsoft YaHei" panose="020B0503020204020204" pitchFamily="34" charset="-122"/>
                <a:cs typeface="Trebuchet MS"/>
              </a:rPr>
              <a:t>to</a:t>
            </a:r>
            <a:r>
              <a:rPr lang="en-US" sz="1500" spc="-55">
                <a:solidFill>
                  <a:srgbClr val="565656"/>
                </a:solidFill>
                <a:latin typeface="Trebuchet MS"/>
                <a:ea typeface="Microsoft YaHei" panose="020B0503020204020204" pitchFamily="34" charset="-122"/>
                <a:cs typeface="Trebuchet MS"/>
              </a:rPr>
              <a:t> </a:t>
            </a:r>
            <a:r>
              <a:rPr lang="en-US" sz="1500" spc="-25">
                <a:solidFill>
                  <a:srgbClr val="565656"/>
                </a:solidFill>
                <a:latin typeface="Trebuchet MS"/>
                <a:ea typeface="Microsoft YaHei" panose="020B0503020204020204" pitchFamily="34" charset="-122"/>
                <a:cs typeface="Trebuchet MS"/>
              </a:rPr>
              <a:t>the </a:t>
            </a:r>
            <a:r>
              <a:rPr lang="en-US" sz="1500">
                <a:solidFill>
                  <a:srgbClr val="565656"/>
                </a:solidFill>
                <a:latin typeface="Trebuchet MS"/>
                <a:ea typeface="Microsoft YaHei" panose="020B0503020204020204" pitchFamily="34" charset="-122"/>
                <a:cs typeface="Trebuchet MS"/>
              </a:rPr>
              <a:t>individual</a:t>
            </a:r>
            <a:r>
              <a:rPr lang="en-US" sz="1500" spc="-80">
                <a:solidFill>
                  <a:srgbClr val="565656"/>
                </a:solidFill>
                <a:latin typeface="Trebuchet MS"/>
                <a:ea typeface="Microsoft YaHei" panose="020B0503020204020204" pitchFamily="34" charset="-122"/>
                <a:cs typeface="Trebuchet MS"/>
              </a:rPr>
              <a:t> </a:t>
            </a:r>
            <a:r>
              <a:rPr lang="en-US" sz="1500">
                <a:solidFill>
                  <a:srgbClr val="565656"/>
                </a:solidFill>
                <a:latin typeface="Trebuchet MS"/>
                <a:ea typeface="Microsoft YaHei" panose="020B0503020204020204" pitchFamily="34" charset="-122"/>
                <a:cs typeface="Trebuchet MS"/>
              </a:rPr>
              <a:t>to</a:t>
            </a:r>
            <a:r>
              <a:rPr lang="en-US" sz="1500" spc="-55">
                <a:solidFill>
                  <a:srgbClr val="565656"/>
                </a:solidFill>
                <a:latin typeface="Trebuchet MS"/>
                <a:ea typeface="Microsoft YaHei" panose="020B0503020204020204" pitchFamily="34" charset="-122"/>
                <a:cs typeface="Trebuchet MS"/>
              </a:rPr>
              <a:t> </a:t>
            </a:r>
            <a:r>
              <a:rPr lang="en-US" sz="1500">
                <a:solidFill>
                  <a:srgbClr val="565656"/>
                </a:solidFill>
                <a:latin typeface="Trebuchet MS"/>
                <a:ea typeface="Microsoft YaHei" panose="020B0503020204020204" pitchFamily="34" charset="-122"/>
                <a:cs typeface="Trebuchet MS"/>
              </a:rPr>
              <a:t>improve</a:t>
            </a:r>
            <a:r>
              <a:rPr lang="en-US" sz="1500" spc="-60">
                <a:solidFill>
                  <a:srgbClr val="565656"/>
                </a:solidFill>
                <a:latin typeface="Trebuchet MS"/>
                <a:ea typeface="Microsoft YaHei" panose="020B0503020204020204" pitchFamily="34" charset="-122"/>
                <a:cs typeface="Trebuchet MS"/>
              </a:rPr>
              <a:t> </a:t>
            </a:r>
            <a:r>
              <a:rPr lang="en-US" sz="1500" spc="-10">
                <a:solidFill>
                  <a:srgbClr val="565656"/>
                </a:solidFill>
                <a:latin typeface="Trebuchet MS"/>
                <a:ea typeface="Microsoft YaHei" panose="020B0503020204020204" pitchFamily="34" charset="-122"/>
                <a:cs typeface="Trebuchet MS"/>
              </a:rPr>
              <a:t>relevance</a:t>
            </a:r>
            <a:endParaRPr lang="en-US" sz="1500">
              <a:latin typeface="Trebuchet MS"/>
              <a:ea typeface="Microsoft YaHei" panose="020B0503020204020204" pitchFamily="34" charset="-122"/>
              <a:cs typeface="Trebuchet MS"/>
            </a:endParaRPr>
          </a:p>
        </p:txBody>
      </p:sp>
      <p:sp>
        <p:nvSpPr>
          <p:cNvPr id="28" name="object 28"/>
          <p:cNvSpPr txBox="1"/>
          <p:nvPr/>
        </p:nvSpPr>
        <p:spPr>
          <a:xfrm>
            <a:off x="8315706" y="1865350"/>
            <a:ext cx="3053715" cy="1736725"/>
          </a:xfrm>
          <a:prstGeom prst="rect">
            <a:avLst/>
          </a:prstGeom>
        </p:spPr>
        <p:txBody>
          <a:bodyPr vert="horz" wrap="square" lIns="0" tIns="137795" rIns="0" bIns="0" rtlCol="0">
            <a:spAutoFit/>
          </a:bodyPr>
          <a:lstStyle/>
          <a:p>
            <a:pPr marL="1504950">
              <a:lnSpc>
                <a:spcPct val="100000"/>
              </a:lnSpc>
              <a:spcBef>
                <a:spcPts val="1085"/>
              </a:spcBef>
            </a:pPr>
            <a:r>
              <a:rPr lang="en-US" sz="2400" spc="-10">
                <a:solidFill>
                  <a:srgbClr val="29B974"/>
                </a:solidFill>
                <a:latin typeface="Trebuchet MS"/>
                <a:ea typeface="Microsoft YaHei" panose="020B0503020204020204" pitchFamily="34" charset="-122"/>
                <a:cs typeface="Trebuchet MS"/>
              </a:rPr>
              <a:t>Centralize</a:t>
            </a:r>
            <a:endParaRPr lang="en-US" sz="2400">
              <a:latin typeface="Trebuchet MS"/>
              <a:ea typeface="Microsoft YaHei" panose="020B0503020204020204" pitchFamily="34" charset="-122"/>
              <a:cs typeface="Trebuchet MS"/>
            </a:endParaRPr>
          </a:p>
          <a:p>
            <a:pPr marL="12700" marR="5080">
              <a:lnSpc>
                <a:spcPct val="99800"/>
              </a:lnSpc>
              <a:spcBef>
                <a:spcPts val="620"/>
              </a:spcBef>
            </a:pPr>
            <a:r>
              <a:rPr lang="en-US" sz="1500" spc="-10">
                <a:solidFill>
                  <a:srgbClr val="565656"/>
                </a:solidFill>
                <a:latin typeface="Trebuchet MS"/>
                <a:ea typeface="Microsoft YaHei" panose="020B0503020204020204" pitchFamily="34" charset="-122"/>
                <a:cs typeface="Trebuchet MS"/>
              </a:rPr>
              <a:t>Centralize</a:t>
            </a:r>
            <a:r>
              <a:rPr lang="en-US" sz="1500" spc="-60">
                <a:solidFill>
                  <a:srgbClr val="565656"/>
                </a:solidFill>
                <a:latin typeface="Trebuchet MS"/>
                <a:ea typeface="Microsoft YaHei" panose="020B0503020204020204" pitchFamily="34" charset="-122"/>
                <a:cs typeface="Trebuchet MS"/>
              </a:rPr>
              <a:t> </a:t>
            </a:r>
            <a:r>
              <a:rPr lang="en-US" sz="1500">
                <a:solidFill>
                  <a:srgbClr val="565656"/>
                </a:solidFill>
                <a:latin typeface="Trebuchet MS"/>
                <a:ea typeface="Microsoft YaHei" panose="020B0503020204020204" pitchFamily="34" charset="-122"/>
                <a:cs typeface="Trebuchet MS"/>
              </a:rPr>
              <a:t>all</a:t>
            </a:r>
            <a:r>
              <a:rPr lang="en-US" sz="1500" spc="-25">
                <a:solidFill>
                  <a:srgbClr val="565656"/>
                </a:solidFill>
                <a:latin typeface="Trebuchet MS"/>
                <a:ea typeface="Microsoft YaHei" panose="020B0503020204020204" pitchFamily="34" charset="-122"/>
                <a:cs typeface="Trebuchet MS"/>
              </a:rPr>
              <a:t> </a:t>
            </a:r>
            <a:r>
              <a:rPr lang="en-US" sz="1500">
                <a:solidFill>
                  <a:srgbClr val="565656"/>
                </a:solidFill>
                <a:latin typeface="Trebuchet MS"/>
                <a:ea typeface="Microsoft YaHei" panose="020B0503020204020204" pitchFamily="34" charset="-122"/>
                <a:cs typeface="Trebuchet MS"/>
              </a:rPr>
              <a:t>that</a:t>
            </a:r>
            <a:r>
              <a:rPr lang="en-US" sz="1500" spc="-35">
                <a:solidFill>
                  <a:srgbClr val="565656"/>
                </a:solidFill>
                <a:latin typeface="Trebuchet MS"/>
                <a:ea typeface="Microsoft YaHei" panose="020B0503020204020204" pitchFamily="34" charset="-122"/>
                <a:cs typeface="Trebuchet MS"/>
              </a:rPr>
              <a:t> </a:t>
            </a:r>
            <a:r>
              <a:rPr lang="en-US" sz="1500">
                <a:solidFill>
                  <a:srgbClr val="565656"/>
                </a:solidFill>
                <a:latin typeface="Trebuchet MS"/>
                <a:ea typeface="Microsoft YaHei" panose="020B0503020204020204" pitchFamily="34" charset="-122"/>
                <a:cs typeface="Trebuchet MS"/>
              </a:rPr>
              <a:t>behavioral</a:t>
            </a:r>
            <a:r>
              <a:rPr lang="en-US" sz="1500" spc="-40">
                <a:solidFill>
                  <a:srgbClr val="565656"/>
                </a:solidFill>
                <a:latin typeface="Trebuchet MS"/>
                <a:ea typeface="Microsoft YaHei" panose="020B0503020204020204" pitchFamily="34" charset="-122"/>
                <a:cs typeface="Trebuchet MS"/>
              </a:rPr>
              <a:t> </a:t>
            </a:r>
            <a:r>
              <a:rPr lang="en-US" sz="1500" spc="-20">
                <a:solidFill>
                  <a:srgbClr val="565656"/>
                </a:solidFill>
                <a:latin typeface="Trebuchet MS"/>
                <a:ea typeface="Microsoft YaHei" panose="020B0503020204020204" pitchFamily="34" charset="-122"/>
                <a:cs typeface="Trebuchet MS"/>
              </a:rPr>
              <a:t>data, </a:t>
            </a:r>
            <a:r>
              <a:rPr lang="en-US" sz="1500">
                <a:solidFill>
                  <a:srgbClr val="565656"/>
                </a:solidFill>
                <a:latin typeface="Trebuchet MS"/>
                <a:ea typeface="Microsoft YaHei" panose="020B0503020204020204" pitchFamily="34" charset="-122"/>
                <a:cs typeface="Trebuchet MS"/>
              </a:rPr>
              <a:t>combine</a:t>
            </a:r>
            <a:r>
              <a:rPr lang="en-US" sz="1500" spc="-65">
                <a:solidFill>
                  <a:srgbClr val="565656"/>
                </a:solidFill>
                <a:latin typeface="Trebuchet MS"/>
                <a:ea typeface="Microsoft YaHei" panose="020B0503020204020204" pitchFamily="34" charset="-122"/>
                <a:cs typeface="Trebuchet MS"/>
              </a:rPr>
              <a:t> </a:t>
            </a:r>
            <a:r>
              <a:rPr lang="en-US" sz="1500">
                <a:solidFill>
                  <a:srgbClr val="565656"/>
                </a:solidFill>
                <a:latin typeface="Trebuchet MS"/>
                <a:ea typeface="Microsoft YaHei" panose="020B0503020204020204" pitchFamily="34" charset="-122"/>
                <a:cs typeface="Trebuchet MS"/>
              </a:rPr>
              <a:t>it</a:t>
            </a:r>
            <a:r>
              <a:rPr lang="en-US" sz="1500" spc="-35">
                <a:solidFill>
                  <a:srgbClr val="565656"/>
                </a:solidFill>
                <a:latin typeface="Trebuchet MS"/>
                <a:ea typeface="Microsoft YaHei" panose="020B0503020204020204" pitchFamily="34" charset="-122"/>
                <a:cs typeface="Trebuchet MS"/>
              </a:rPr>
              <a:t> </a:t>
            </a:r>
            <a:r>
              <a:rPr lang="en-US" sz="1500">
                <a:solidFill>
                  <a:srgbClr val="565656"/>
                </a:solidFill>
                <a:latin typeface="Trebuchet MS"/>
                <a:ea typeface="Microsoft YaHei" panose="020B0503020204020204" pitchFamily="34" charset="-122"/>
                <a:cs typeface="Trebuchet MS"/>
              </a:rPr>
              <a:t>with</a:t>
            </a:r>
            <a:r>
              <a:rPr lang="en-US" sz="1500" spc="-45">
                <a:solidFill>
                  <a:srgbClr val="565656"/>
                </a:solidFill>
                <a:latin typeface="Trebuchet MS"/>
                <a:ea typeface="Microsoft YaHei" panose="020B0503020204020204" pitchFamily="34" charset="-122"/>
                <a:cs typeface="Trebuchet MS"/>
              </a:rPr>
              <a:t> </a:t>
            </a:r>
            <a:r>
              <a:rPr lang="en-US" sz="1500">
                <a:solidFill>
                  <a:srgbClr val="565656"/>
                </a:solidFill>
                <a:latin typeface="Trebuchet MS"/>
                <a:ea typeface="Microsoft YaHei" panose="020B0503020204020204" pitchFamily="34" charset="-122"/>
                <a:cs typeface="Trebuchet MS"/>
              </a:rPr>
              <a:t>any</a:t>
            </a:r>
            <a:r>
              <a:rPr lang="en-US" sz="1500" spc="-40">
                <a:solidFill>
                  <a:srgbClr val="565656"/>
                </a:solidFill>
                <a:latin typeface="Trebuchet MS"/>
                <a:ea typeface="Microsoft YaHei" panose="020B0503020204020204" pitchFamily="34" charset="-122"/>
                <a:cs typeface="Trebuchet MS"/>
              </a:rPr>
              <a:t> </a:t>
            </a:r>
            <a:r>
              <a:rPr lang="en-US" sz="1500" spc="-10">
                <a:solidFill>
                  <a:srgbClr val="565656"/>
                </a:solidFill>
                <a:latin typeface="Trebuchet MS"/>
                <a:ea typeface="Microsoft YaHei" panose="020B0503020204020204" pitchFamily="34" charset="-122"/>
                <a:cs typeface="Trebuchet MS"/>
              </a:rPr>
              <a:t>additional </a:t>
            </a:r>
            <a:r>
              <a:rPr lang="en-US" sz="1500">
                <a:solidFill>
                  <a:srgbClr val="565656"/>
                </a:solidFill>
                <a:latin typeface="Trebuchet MS"/>
                <a:ea typeface="Microsoft YaHei" panose="020B0503020204020204" pitchFamily="34" charset="-122"/>
                <a:cs typeface="Trebuchet MS"/>
              </a:rPr>
              <a:t>sources</a:t>
            </a:r>
            <a:r>
              <a:rPr lang="en-US" sz="1500" spc="-75">
                <a:solidFill>
                  <a:srgbClr val="565656"/>
                </a:solidFill>
                <a:latin typeface="Trebuchet MS"/>
                <a:ea typeface="Microsoft YaHei" panose="020B0503020204020204" pitchFamily="34" charset="-122"/>
                <a:cs typeface="Trebuchet MS"/>
              </a:rPr>
              <a:t> </a:t>
            </a:r>
            <a:r>
              <a:rPr lang="en-US" sz="1500">
                <a:solidFill>
                  <a:srgbClr val="565656"/>
                </a:solidFill>
                <a:latin typeface="Trebuchet MS"/>
                <a:ea typeface="Microsoft YaHei" panose="020B0503020204020204" pitchFamily="34" charset="-122"/>
                <a:cs typeface="Trebuchet MS"/>
              </a:rPr>
              <a:t>of</a:t>
            </a:r>
            <a:r>
              <a:rPr lang="en-US" sz="1500" spc="-45">
                <a:solidFill>
                  <a:srgbClr val="565656"/>
                </a:solidFill>
                <a:latin typeface="Trebuchet MS"/>
                <a:ea typeface="Microsoft YaHei" panose="020B0503020204020204" pitchFamily="34" charset="-122"/>
                <a:cs typeface="Trebuchet MS"/>
              </a:rPr>
              <a:t> </a:t>
            </a:r>
            <a:r>
              <a:rPr lang="en-US" sz="1500">
                <a:solidFill>
                  <a:srgbClr val="565656"/>
                </a:solidFill>
                <a:latin typeface="Trebuchet MS"/>
                <a:ea typeface="Microsoft YaHei" panose="020B0503020204020204" pitchFamily="34" charset="-122"/>
                <a:cs typeface="Trebuchet MS"/>
              </a:rPr>
              <a:t>customer</a:t>
            </a:r>
            <a:r>
              <a:rPr lang="en-US" sz="1500" spc="-70">
                <a:solidFill>
                  <a:srgbClr val="565656"/>
                </a:solidFill>
                <a:latin typeface="Trebuchet MS"/>
                <a:ea typeface="Microsoft YaHei" panose="020B0503020204020204" pitchFamily="34" charset="-122"/>
                <a:cs typeface="Trebuchet MS"/>
              </a:rPr>
              <a:t> </a:t>
            </a:r>
            <a:r>
              <a:rPr lang="en-US" sz="1500">
                <a:solidFill>
                  <a:srgbClr val="565656"/>
                </a:solidFill>
                <a:latin typeface="Trebuchet MS"/>
                <a:ea typeface="Microsoft YaHei" panose="020B0503020204020204" pitchFamily="34" charset="-122"/>
                <a:cs typeface="Trebuchet MS"/>
              </a:rPr>
              <a:t>or</a:t>
            </a:r>
            <a:r>
              <a:rPr lang="en-US" sz="1500" spc="-35">
                <a:solidFill>
                  <a:srgbClr val="565656"/>
                </a:solidFill>
                <a:latin typeface="Trebuchet MS"/>
                <a:ea typeface="Microsoft YaHei" panose="020B0503020204020204" pitchFamily="34" charset="-122"/>
                <a:cs typeface="Trebuchet MS"/>
              </a:rPr>
              <a:t> </a:t>
            </a:r>
            <a:r>
              <a:rPr lang="en-US" sz="1500">
                <a:solidFill>
                  <a:srgbClr val="565656"/>
                </a:solidFill>
                <a:latin typeface="Trebuchet MS"/>
                <a:ea typeface="Microsoft YaHei" panose="020B0503020204020204" pitchFamily="34" charset="-122"/>
                <a:cs typeface="Trebuchet MS"/>
              </a:rPr>
              <a:t>visitor</a:t>
            </a:r>
            <a:r>
              <a:rPr lang="en-US" sz="1500" spc="-60">
                <a:solidFill>
                  <a:srgbClr val="565656"/>
                </a:solidFill>
                <a:latin typeface="Trebuchet MS"/>
                <a:ea typeface="Microsoft YaHei" panose="020B0503020204020204" pitchFamily="34" charset="-122"/>
                <a:cs typeface="Trebuchet MS"/>
              </a:rPr>
              <a:t> </a:t>
            </a:r>
            <a:r>
              <a:rPr lang="en-US" sz="1500" spc="-20">
                <a:solidFill>
                  <a:srgbClr val="565656"/>
                </a:solidFill>
                <a:latin typeface="Trebuchet MS"/>
                <a:ea typeface="Microsoft YaHei" panose="020B0503020204020204" pitchFamily="34" charset="-122"/>
                <a:cs typeface="Trebuchet MS"/>
              </a:rPr>
              <a:t>data, </a:t>
            </a:r>
            <a:r>
              <a:rPr lang="en-US" sz="1500">
                <a:solidFill>
                  <a:srgbClr val="565656"/>
                </a:solidFill>
                <a:latin typeface="Trebuchet MS"/>
                <a:ea typeface="Microsoft YaHei" panose="020B0503020204020204" pitchFamily="34" charset="-122"/>
                <a:cs typeface="Trebuchet MS"/>
              </a:rPr>
              <a:t>and</a:t>
            </a:r>
            <a:r>
              <a:rPr lang="en-US" sz="1500" spc="-30">
                <a:solidFill>
                  <a:srgbClr val="565656"/>
                </a:solidFill>
                <a:latin typeface="Trebuchet MS"/>
                <a:ea typeface="Microsoft YaHei" panose="020B0503020204020204" pitchFamily="34" charset="-122"/>
                <a:cs typeface="Trebuchet MS"/>
              </a:rPr>
              <a:t> </a:t>
            </a:r>
            <a:r>
              <a:rPr lang="en-US" sz="1500">
                <a:solidFill>
                  <a:srgbClr val="565656"/>
                </a:solidFill>
                <a:latin typeface="Trebuchet MS"/>
                <a:ea typeface="Microsoft YaHei" panose="020B0503020204020204" pitchFamily="34" charset="-122"/>
                <a:cs typeface="Trebuchet MS"/>
              </a:rPr>
              <a:t>merge</a:t>
            </a:r>
            <a:r>
              <a:rPr lang="en-US" sz="1500" spc="-55">
                <a:solidFill>
                  <a:srgbClr val="565656"/>
                </a:solidFill>
                <a:latin typeface="Trebuchet MS"/>
                <a:ea typeface="Microsoft YaHei" panose="020B0503020204020204" pitchFamily="34" charset="-122"/>
                <a:cs typeface="Trebuchet MS"/>
              </a:rPr>
              <a:t> </a:t>
            </a:r>
            <a:r>
              <a:rPr lang="en-US" sz="1500">
                <a:solidFill>
                  <a:srgbClr val="565656"/>
                </a:solidFill>
                <a:latin typeface="Trebuchet MS"/>
                <a:ea typeface="Microsoft YaHei" panose="020B0503020204020204" pitchFamily="34" charset="-122"/>
                <a:cs typeface="Trebuchet MS"/>
              </a:rPr>
              <a:t>it</a:t>
            </a:r>
            <a:r>
              <a:rPr lang="en-US" sz="1500" spc="-30">
                <a:solidFill>
                  <a:srgbClr val="565656"/>
                </a:solidFill>
                <a:latin typeface="Trebuchet MS"/>
                <a:ea typeface="Microsoft YaHei" panose="020B0503020204020204" pitchFamily="34" charset="-122"/>
                <a:cs typeface="Trebuchet MS"/>
              </a:rPr>
              <a:t> </a:t>
            </a:r>
            <a:r>
              <a:rPr lang="en-US" sz="1500">
                <a:solidFill>
                  <a:srgbClr val="565656"/>
                </a:solidFill>
                <a:latin typeface="Trebuchet MS"/>
                <a:ea typeface="Microsoft YaHei" panose="020B0503020204020204" pitchFamily="34" charset="-122"/>
                <a:cs typeface="Trebuchet MS"/>
              </a:rPr>
              <a:t>in</a:t>
            </a:r>
            <a:r>
              <a:rPr lang="en-US" sz="1500" spc="-30">
                <a:solidFill>
                  <a:srgbClr val="565656"/>
                </a:solidFill>
                <a:latin typeface="Trebuchet MS"/>
                <a:ea typeface="Microsoft YaHei" panose="020B0503020204020204" pitchFamily="34" charset="-122"/>
                <a:cs typeface="Trebuchet MS"/>
              </a:rPr>
              <a:t> </a:t>
            </a:r>
            <a:r>
              <a:rPr lang="en-US" sz="1500">
                <a:solidFill>
                  <a:srgbClr val="565656"/>
                </a:solidFill>
                <a:latin typeface="Trebuchet MS"/>
                <a:ea typeface="Microsoft YaHei" panose="020B0503020204020204" pitchFamily="34" charset="-122"/>
                <a:cs typeface="Trebuchet MS"/>
              </a:rPr>
              <a:t>a</a:t>
            </a:r>
            <a:r>
              <a:rPr lang="en-US" sz="1500" spc="-25">
                <a:solidFill>
                  <a:srgbClr val="565656"/>
                </a:solidFill>
                <a:latin typeface="Trebuchet MS"/>
                <a:ea typeface="Microsoft YaHei" panose="020B0503020204020204" pitchFamily="34" charset="-122"/>
                <a:cs typeface="Trebuchet MS"/>
              </a:rPr>
              <a:t> </a:t>
            </a:r>
            <a:r>
              <a:rPr lang="en-US" sz="1500">
                <a:solidFill>
                  <a:srgbClr val="565656"/>
                </a:solidFill>
                <a:latin typeface="Trebuchet MS"/>
                <a:ea typeface="Microsoft YaHei" panose="020B0503020204020204" pitchFamily="34" charset="-122"/>
                <a:cs typeface="Trebuchet MS"/>
              </a:rPr>
              <a:t>single</a:t>
            </a:r>
            <a:r>
              <a:rPr lang="en-US" sz="1500" spc="-65">
                <a:solidFill>
                  <a:srgbClr val="565656"/>
                </a:solidFill>
                <a:latin typeface="Trebuchet MS"/>
                <a:ea typeface="Microsoft YaHei" panose="020B0503020204020204" pitchFamily="34" charset="-122"/>
                <a:cs typeface="Trebuchet MS"/>
              </a:rPr>
              <a:t> </a:t>
            </a:r>
            <a:r>
              <a:rPr lang="en-US" sz="1500" spc="-10">
                <a:solidFill>
                  <a:srgbClr val="565656"/>
                </a:solidFill>
                <a:latin typeface="Trebuchet MS"/>
                <a:ea typeface="Microsoft YaHei" panose="020B0503020204020204" pitchFamily="34" charset="-122"/>
                <a:cs typeface="Trebuchet MS"/>
              </a:rPr>
              <a:t>unified </a:t>
            </a:r>
            <a:r>
              <a:rPr lang="en-US" sz="1500">
                <a:solidFill>
                  <a:srgbClr val="565656"/>
                </a:solidFill>
                <a:latin typeface="Trebuchet MS"/>
                <a:ea typeface="Microsoft YaHei" panose="020B0503020204020204" pitchFamily="34" charset="-122"/>
                <a:cs typeface="Trebuchet MS"/>
              </a:rPr>
              <a:t>profile</a:t>
            </a:r>
            <a:r>
              <a:rPr lang="en-US" sz="1500" spc="-50">
                <a:solidFill>
                  <a:srgbClr val="565656"/>
                </a:solidFill>
                <a:latin typeface="Trebuchet MS"/>
                <a:ea typeface="Microsoft YaHei" panose="020B0503020204020204" pitchFamily="34" charset="-122"/>
                <a:cs typeface="Trebuchet MS"/>
              </a:rPr>
              <a:t> </a:t>
            </a:r>
            <a:r>
              <a:rPr lang="en-US" sz="1500">
                <a:solidFill>
                  <a:srgbClr val="565656"/>
                </a:solidFill>
                <a:latin typeface="Trebuchet MS"/>
                <a:ea typeface="Microsoft YaHei" panose="020B0503020204020204" pitchFamily="34" charset="-122"/>
                <a:cs typeface="Trebuchet MS"/>
              </a:rPr>
              <a:t>for</a:t>
            </a:r>
            <a:r>
              <a:rPr lang="en-US" sz="1500" spc="-20">
                <a:solidFill>
                  <a:srgbClr val="565656"/>
                </a:solidFill>
                <a:latin typeface="Trebuchet MS"/>
                <a:ea typeface="Microsoft YaHei" panose="020B0503020204020204" pitchFamily="34" charset="-122"/>
                <a:cs typeface="Trebuchet MS"/>
              </a:rPr>
              <a:t> </a:t>
            </a:r>
            <a:r>
              <a:rPr lang="en-US" sz="1500">
                <a:solidFill>
                  <a:srgbClr val="565656"/>
                </a:solidFill>
                <a:latin typeface="Trebuchet MS"/>
                <a:ea typeface="Microsoft YaHei" panose="020B0503020204020204" pitchFamily="34" charset="-122"/>
                <a:cs typeface="Trebuchet MS"/>
              </a:rPr>
              <a:t>each</a:t>
            </a:r>
            <a:r>
              <a:rPr lang="en-US" sz="1500" spc="-40">
                <a:solidFill>
                  <a:srgbClr val="565656"/>
                </a:solidFill>
                <a:latin typeface="Trebuchet MS"/>
                <a:ea typeface="Microsoft YaHei" panose="020B0503020204020204" pitchFamily="34" charset="-122"/>
                <a:cs typeface="Trebuchet MS"/>
              </a:rPr>
              <a:t> </a:t>
            </a:r>
            <a:r>
              <a:rPr lang="en-US" sz="1500">
                <a:solidFill>
                  <a:srgbClr val="565656"/>
                </a:solidFill>
                <a:latin typeface="Trebuchet MS"/>
                <a:ea typeface="Microsoft YaHei" panose="020B0503020204020204" pitchFamily="34" charset="-122"/>
                <a:cs typeface="Trebuchet MS"/>
              </a:rPr>
              <a:t>individual</a:t>
            </a:r>
            <a:r>
              <a:rPr lang="en-US" sz="1500" spc="-45">
                <a:solidFill>
                  <a:srgbClr val="565656"/>
                </a:solidFill>
                <a:latin typeface="Trebuchet MS"/>
                <a:ea typeface="Microsoft YaHei" panose="020B0503020204020204" pitchFamily="34" charset="-122"/>
                <a:cs typeface="Trebuchet MS"/>
              </a:rPr>
              <a:t> </a:t>
            </a:r>
            <a:r>
              <a:rPr lang="en-US" sz="1500" spc="-10">
                <a:solidFill>
                  <a:srgbClr val="565656"/>
                </a:solidFill>
                <a:latin typeface="Trebuchet MS"/>
                <a:ea typeface="Microsoft YaHei" panose="020B0503020204020204" pitchFamily="34" charset="-122"/>
                <a:cs typeface="Trebuchet MS"/>
              </a:rPr>
              <a:t>person</a:t>
            </a:r>
            <a:endParaRPr lang="en-US" sz="1500">
              <a:latin typeface="Trebuchet MS"/>
              <a:ea typeface="Microsoft YaHei" panose="020B0503020204020204" pitchFamily="34" charset="-122"/>
              <a:cs typeface="Trebuchet MS"/>
            </a:endParaRPr>
          </a:p>
        </p:txBody>
      </p:sp>
      <p:sp>
        <p:nvSpPr>
          <p:cNvPr id="29" name="Textfeld 1">
            <a:extLst>
              <a:ext uri="{FF2B5EF4-FFF2-40B4-BE49-F238E27FC236}">
                <a16:creationId xmlns:a16="http://schemas.microsoft.com/office/drawing/2014/main" id="{37DCEE0D-8D6A-E533-22E9-3BA5FA826C9E}"/>
              </a:ext>
            </a:extLst>
          </p:cNvPr>
          <p:cNvSpPr txBox="1"/>
          <p:nvPr>
            <p:custDataLst>
              <p:tags r:id="rId2"/>
            </p:custDataLst>
          </p:nvPr>
        </p:nvSpPr>
        <p:spPr>
          <a:xfrm>
            <a:off x="11992572" y="368977"/>
            <a:ext cx="2743200" cy="2696123"/>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marL="0" marR="0" lvl="0" indent="0" algn="l" defTabSz="914400" rtl="0" eaLnBrk="1" fontAlgn="auto" latinLnBrk="0" hangingPunct="1">
              <a:lnSpc>
                <a:spcPct val="90000"/>
              </a:lnSpc>
              <a:spcBef>
                <a:spcPts val="0"/>
              </a:spcBef>
              <a:spcAft>
                <a:spcPts val="600"/>
              </a:spcAft>
              <a:buClrTx/>
              <a:buSzTx/>
              <a:buFontTx/>
              <a:buNone/>
              <a:tabLst/>
              <a:defRPr/>
            </a:pPr>
            <a:r>
              <a:rPr lang="zh-TW" altLang="en-US" sz="1200" b="1">
                <a:solidFill>
                  <a:srgbClr val="575757"/>
                </a:solidFill>
                <a:latin typeface="Trebuchet MS"/>
                <a:ea typeface="Microsoft YaHei" panose="020B0503020204020204" pitchFamily="34" charset="-122"/>
                <a:sym typeface="Trebuchet MS" panose="020B0603020202020204" pitchFamily="34" charset="0"/>
              </a:rPr>
              <a:t>長期 個性化經營</a:t>
            </a:r>
            <a:r>
              <a:rPr lang="en-US" altLang="zh-TW" sz="1200" b="1">
                <a:solidFill>
                  <a:srgbClr val="575757"/>
                </a:solidFill>
                <a:latin typeface="Trebuchet MS"/>
                <a:ea typeface="Microsoft YaHei" panose="020B0503020204020204" pitchFamily="34" charset="-122"/>
                <a:sym typeface="Trebuchet MS" panose="020B0603020202020204" pitchFamily="34" charset="0"/>
              </a:rPr>
              <a:t>:</a:t>
            </a:r>
            <a:r>
              <a:rPr lang="zh-TW" altLang="en-US" sz="1200" b="1">
                <a:solidFill>
                  <a:srgbClr val="575757"/>
                </a:solidFill>
                <a:latin typeface="Trebuchet MS"/>
                <a:ea typeface="Microsoft YaHei" panose="020B0503020204020204" pitchFamily="34" charset="-122"/>
                <a:sym typeface="Trebuchet MS" panose="020B0603020202020204" pitchFamily="34" charset="0"/>
              </a:rPr>
              <a:t> 關鍵因素</a:t>
            </a:r>
            <a:endParaRPr lang="en-US" altLang="zh-TW" sz="1200" b="1">
              <a:solidFill>
                <a:srgbClr val="575757"/>
              </a:solidFill>
              <a:latin typeface="Trebuchet MS"/>
              <a:ea typeface="Microsoft YaHei" panose="020B0503020204020204" pitchFamily="34" charset="-122"/>
              <a:sym typeface="Trebuchet MS" panose="020B0603020202020204" pitchFamily="34" charset="0"/>
            </a:endParaRPr>
          </a:p>
          <a:p>
            <a:pPr marL="0" marR="0" lvl="0" indent="0" algn="l" defTabSz="914400" rtl="0" eaLnBrk="1" fontAlgn="auto" latinLnBrk="0" hangingPunct="1">
              <a:lnSpc>
                <a:spcPct val="90000"/>
              </a:lnSpc>
              <a:spcBef>
                <a:spcPts val="0"/>
              </a:spcBef>
              <a:spcAft>
                <a:spcPts val="600"/>
              </a:spcAft>
              <a:buClrTx/>
              <a:buSzTx/>
              <a:buFontTx/>
              <a:buNone/>
              <a:tabLst/>
              <a:defRPr/>
            </a:pPr>
            <a:endParaRPr kumimoji="0" lang="en-US" altLang="zh-TW" sz="12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endParaRPr>
          </a:p>
          <a:p>
            <a:pPr marL="0" marR="0" lvl="0" indent="0" algn="l" defTabSz="914400" rtl="0" eaLnBrk="1" fontAlgn="auto" latinLnBrk="0" hangingPunct="1">
              <a:lnSpc>
                <a:spcPct val="90000"/>
              </a:lnSpc>
              <a:spcBef>
                <a:spcPts val="0"/>
              </a:spcBef>
              <a:spcAft>
                <a:spcPts val="600"/>
              </a:spcAft>
              <a:buClrTx/>
              <a:buSzTx/>
              <a:buFontTx/>
              <a:buNone/>
              <a:tabLst/>
              <a:defRPr/>
            </a:pPr>
            <a:r>
              <a:rPr kumimoji="0" lang="zh-TW" altLang="en-US" sz="12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爲達個性化經營，除了有</a:t>
            </a:r>
            <a:r>
              <a:rPr kumimoji="0" lang="en-US" altLang="zh-TW" sz="12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propensity model</a:t>
            </a:r>
            <a:r>
              <a:rPr kumimoji="0" lang="zh-TW" altLang="en-US" sz="12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之外還需要有對應的</a:t>
            </a:r>
            <a:endParaRPr kumimoji="0" lang="en-US" altLang="zh-TW" sz="12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endParaRPr>
          </a:p>
          <a:p>
            <a:pPr marL="228600" marR="0" lvl="0" indent="-228600" algn="l" defTabSz="914400" rtl="0" eaLnBrk="1" fontAlgn="auto" latinLnBrk="0" hangingPunct="1">
              <a:lnSpc>
                <a:spcPct val="90000"/>
              </a:lnSpc>
              <a:spcBef>
                <a:spcPts val="0"/>
              </a:spcBef>
              <a:spcAft>
                <a:spcPts val="600"/>
              </a:spcAft>
              <a:buClrTx/>
              <a:buSzTx/>
              <a:buFontTx/>
              <a:buAutoNum type="arabicPeriod"/>
              <a:tabLst/>
              <a:defRPr/>
            </a:pPr>
            <a:r>
              <a:rPr lang="zh-TW" altLang="en-US" sz="1200" b="1">
                <a:solidFill>
                  <a:srgbClr val="575757"/>
                </a:solidFill>
                <a:latin typeface="Trebuchet MS"/>
                <a:ea typeface="Microsoft YaHei" panose="020B0503020204020204" pitchFamily="34" charset="-122"/>
                <a:sym typeface="Trebuchet MS" panose="020B0603020202020204" pitchFamily="34" charset="0"/>
              </a:rPr>
              <a:t>中央管理的</a:t>
            </a:r>
            <a:r>
              <a:rPr lang="en-US" altLang="zh-TW" sz="1200" b="1">
                <a:solidFill>
                  <a:srgbClr val="575757"/>
                </a:solidFill>
                <a:latin typeface="Trebuchet MS"/>
                <a:ea typeface="Microsoft YaHei" panose="020B0503020204020204" pitchFamily="34" charset="-122"/>
                <a:sym typeface="Trebuchet MS" panose="020B0603020202020204" pitchFamily="34" charset="0"/>
              </a:rPr>
              <a:t>Data </a:t>
            </a:r>
            <a:r>
              <a:rPr lang="zh-TW" altLang="en-US" sz="1200" b="1">
                <a:solidFill>
                  <a:srgbClr val="575757"/>
                </a:solidFill>
                <a:latin typeface="Trebuchet MS"/>
                <a:ea typeface="Microsoft YaHei" panose="020B0503020204020204" pitchFamily="34" charset="-122"/>
                <a:sym typeface="Trebuchet MS" panose="020B0603020202020204" pitchFamily="34" charset="0"/>
              </a:rPr>
              <a:t>數據</a:t>
            </a:r>
            <a:r>
              <a:rPr lang="en-US" altLang="zh-TW" sz="1200" b="1">
                <a:solidFill>
                  <a:srgbClr val="575757"/>
                </a:solidFill>
                <a:latin typeface="Trebuchet MS"/>
                <a:ea typeface="Microsoft YaHei" panose="020B0503020204020204" pitchFamily="34" charset="-122"/>
                <a:sym typeface="Trebuchet MS" panose="020B0603020202020204" pitchFamily="34" charset="0"/>
              </a:rPr>
              <a:t>:</a:t>
            </a:r>
            <a:r>
              <a:rPr lang="zh-TW" altLang="en-US" sz="1200" b="1">
                <a:solidFill>
                  <a:srgbClr val="575757"/>
                </a:solidFill>
                <a:latin typeface="Trebuchet MS"/>
                <a:ea typeface="Microsoft YaHei" panose="020B0503020204020204" pitchFamily="34" charset="-122"/>
                <a:sym typeface="Trebuchet MS" panose="020B0603020202020204" pitchFamily="34" charset="0"/>
              </a:rPr>
              <a:t> 確保客戶全面的畫像資料、交易數據、對過去行銷活動反應的數據皆被采納</a:t>
            </a:r>
            <a:endParaRPr lang="en-US" altLang="zh-TW" sz="1200" b="1">
              <a:solidFill>
                <a:srgbClr val="575757"/>
              </a:solidFill>
              <a:latin typeface="Trebuchet MS"/>
              <a:ea typeface="Microsoft YaHei" panose="020B0503020204020204" pitchFamily="34" charset="-122"/>
              <a:sym typeface="Trebuchet MS" panose="020B0603020202020204" pitchFamily="34" charset="0"/>
            </a:endParaRPr>
          </a:p>
          <a:p>
            <a:pPr marL="228600" marR="0" lvl="0" indent="-228600" algn="l" defTabSz="914400" rtl="0" eaLnBrk="1" fontAlgn="auto" latinLnBrk="0" hangingPunct="1">
              <a:lnSpc>
                <a:spcPct val="90000"/>
              </a:lnSpc>
              <a:spcBef>
                <a:spcPts val="0"/>
              </a:spcBef>
              <a:spcAft>
                <a:spcPts val="600"/>
              </a:spcAft>
              <a:buClrTx/>
              <a:buSzTx/>
              <a:buFontTx/>
              <a:buAutoNum type="arabicPeriod"/>
              <a:tabLst/>
              <a:defRPr/>
            </a:pPr>
            <a:r>
              <a:rPr kumimoji="0" lang="zh-TW" altLang="en-US" sz="12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即時行動機制</a:t>
            </a:r>
            <a:r>
              <a:rPr kumimoji="0" lang="en-US" altLang="zh-TW" sz="12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a:t>
            </a:r>
            <a:r>
              <a:rPr kumimoji="0" lang="zh-TW" altLang="en-US" sz="12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 確保團隊</a:t>
            </a:r>
            <a:r>
              <a:rPr kumimoji="0" lang="en-US" altLang="zh-TW" sz="12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a:t>
            </a:r>
            <a:r>
              <a:rPr kumimoji="0" lang="zh-TW" altLang="en-US" sz="12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軟體皆能即時反應 </a:t>
            </a:r>
            <a:r>
              <a:rPr kumimoji="0" lang="en-US" altLang="zh-TW" sz="12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a:t>
            </a:r>
            <a:r>
              <a:rPr kumimoji="0" lang="zh-TW" altLang="en-US" sz="12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比如訊息即時推</a:t>
            </a:r>
            <a:r>
              <a:rPr lang="zh-TW" altLang="en-US" sz="1200" b="1">
                <a:solidFill>
                  <a:srgbClr val="575757"/>
                </a:solidFill>
                <a:latin typeface="Trebuchet MS"/>
                <a:ea typeface="Microsoft YaHei" panose="020B0503020204020204" pitchFamily="34" charset="-122"/>
                <a:sym typeface="Trebuchet MS" panose="020B0603020202020204" pitchFamily="34" charset="0"/>
              </a:rPr>
              <a:t>播、克服即時承接等</a:t>
            </a:r>
            <a:r>
              <a:rPr lang="en-US" altLang="zh-TW" sz="1200" b="1">
                <a:solidFill>
                  <a:srgbClr val="575757"/>
                </a:solidFill>
                <a:latin typeface="Trebuchet MS"/>
                <a:ea typeface="Microsoft YaHei" panose="020B0503020204020204" pitchFamily="34" charset="-122"/>
                <a:sym typeface="Trebuchet MS" panose="020B0603020202020204" pitchFamily="34" charset="0"/>
              </a:rPr>
              <a:t>)</a:t>
            </a:r>
          </a:p>
          <a:p>
            <a:pPr marL="228600" marR="0" lvl="0" indent="-228600" algn="l" defTabSz="914400" rtl="0" eaLnBrk="1" fontAlgn="auto" latinLnBrk="0" hangingPunct="1">
              <a:lnSpc>
                <a:spcPct val="90000"/>
              </a:lnSpc>
              <a:spcBef>
                <a:spcPts val="0"/>
              </a:spcBef>
              <a:spcAft>
                <a:spcPts val="600"/>
              </a:spcAft>
              <a:buClrTx/>
              <a:buSzTx/>
              <a:buFontTx/>
              <a:buAutoNum type="arabicPeriod"/>
              <a:tabLst/>
              <a:defRPr/>
            </a:pPr>
            <a:r>
              <a:rPr kumimoji="0" lang="zh-TW" altLang="en-US" sz="12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定期追踪機制</a:t>
            </a:r>
            <a:r>
              <a:rPr kumimoji="0" lang="en-US" altLang="zh-TW" sz="12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a:t>
            </a:r>
            <a:r>
              <a:rPr kumimoji="0" lang="zh-TW" altLang="en-US" sz="12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 建立追踪機制，即時針對客戶反應、活動績效調整</a:t>
            </a:r>
            <a:endParaRPr kumimoji="0" lang="en-US" altLang="zh-TW" sz="12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endParaRPr>
          </a:p>
          <a:p>
            <a:pPr marR="0" lvl="0" algn="l" defTabSz="914400" rtl="0" eaLnBrk="1" fontAlgn="auto" latinLnBrk="0" hangingPunct="1">
              <a:lnSpc>
                <a:spcPct val="90000"/>
              </a:lnSpc>
              <a:spcBef>
                <a:spcPts val="0"/>
              </a:spcBef>
              <a:spcAft>
                <a:spcPts val="600"/>
              </a:spcAft>
              <a:buClrTx/>
              <a:buSzTx/>
              <a:tabLst/>
              <a:defRPr/>
            </a:pPr>
            <a:r>
              <a:rPr lang="en-US" altLang="zh-TW" sz="1200" b="1">
                <a:solidFill>
                  <a:srgbClr val="575757"/>
                </a:solidFill>
                <a:latin typeface="Trebuchet MS"/>
                <a:ea typeface="Microsoft YaHei" panose="020B0503020204020204" pitchFamily="34" charset="-122"/>
                <a:sym typeface="Trebuchet MS" panose="020B0603020202020204" pitchFamily="34" charset="0"/>
              </a:rPr>
              <a:t>Expected vs. </a:t>
            </a:r>
            <a:r>
              <a:rPr lang="zh-TW" altLang="en-US" sz="1200" b="1">
                <a:solidFill>
                  <a:srgbClr val="575757"/>
                </a:solidFill>
                <a:latin typeface="Trebuchet MS"/>
                <a:ea typeface="Microsoft YaHei" panose="020B0503020204020204" pitchFamily="34" charset="-122"/>
                <a:sym typeface="Trebuchet MS" panose="020B0603020202020204" pitchFamily="34" charset="0"/>
              </a:rPr>
              <a:t>凱基</a:t>
            </a:r>
            <a:endParaRPr kumimoji="0" lang="en-US" altLang="zh-TW" sz="12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endParaRPr>
          </a:p>
        </p:txBody>
      </p:sp>
      <p:cxnSp>
        <p:nvCxnSpPr>
          <p:cNvPr id="32" name="Straight Connector 31">
            <a:extLst>
              <a:ext uri="{FF2B5EF4-FFF2-40B4-BE49-F238E27FC236}">
                <a16:creationId xmlns:a16="http://schemas.microsoft.com/office/drawing/2014/main" id="{E336D36B-F7FC-F1E1-E1C1-649A8CA51DA3}"/>
              </a:ext>
            </a:extLst>
          </p:cNvPr>
          <p:cNvCxnSpPr/>
          <p:nvPr/>
        </p:nvCxnSpPr>
        <p:spPr>
          <a:xfrm flipV="1">
            <a:off x="30773" y="43962"/>
            <a:ext cx="12054254" cy="6770076"/>
          </a:xfrm>
          <a:prstGeom prst="line">
            <a:avLst/>
          </a:prstGeom>
          <a:ln w="9525" cap="rnd">
            <a:solidFill>
              <a:schemeClr val="tx1">
                <a:lumMod val="60000"/>
                <a:lumOff val="40000"/>
              </a:schemeClr>
            </a:solidFill>
            <a:prstDash val="solid"/>
            <a:round/>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46" name="think-cell data - do not delete" hidden="1">
            <a:extLst>
              <a:ext uri="{FF2B5EF4-FFF2-40B4-BE49-F238E27FC236}">
                <a16:creationId xmlns:a16="http://schemas.microsoft.com/office/drawing/2014/main" id="{AF82178C-2B38-29A2-160D-8C59B5E7B58F}"/>
              </a:ext>
            </a:extLst>
          </p:cNvPr>
          <p:cNvGraphicFramePr>
            <a:graphicFrameLocks noChangeAspect="1"/>
          </p:cNvGraphicFramePr>
          <p:nvPr>
            <p:custDataLst>
              <p:tags r:id="rId1"/>
            </p:custDataLst>
            <p:extLst>
              <p:ext uri="{D42A27DB-BD31-4B8C-83A1-F6EECF244321}">
                <p14:modId xmlns:p14="http://schemas.microsoft.com/office/powerpoint/2010/main" val="305497581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404" imgH="405" progId="TCLayout.ActiveDocument.1">
                  <p:embed/>
                </p:oleObj>
              </mc:Choice>
              <mc:Fallback>
                <p:oleObj name="think-cell Slide" r:id="rId6" imgW="404" imgH="405" progId="TCLayout.ActiveDocument.1">
                  <p:embed/>
                  <p:pic>
                    <p:nvPicPr>
                      <p:cNvPr id="46" name="think-cell data - do not delete" hidden="1">
                        <a:extLst>
                          <a:ext uri="{FF2B5EF4-FFF2-40B4-BE49-F238E27FC236}">
                            <a16:creationId xmlns:a16="http://schemas.microsoft.com/office/drawing/2014/main" id="{AF82178C-2B38-29A2-160D-8C59B5E7B58F}"/>
                          </a:ext>
                        </a:extLst>
                      </p:cNvPr>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49" name="Rectangle 48">
            <a:extLst>
              <a:ext uri="{FF2B5EF4-FFF2-40B4-BE49-F238E27FC236}">
                <a16:creationId xmlns:a16="http://schemas.microsoft.com/office/drawing/2014/main" id="{09EB6EBE-D2AD-42B5-D315-6E2B31462BB5}"/>
              </a:ext>
            </a:extLst>
          </p:cNvPr>
          <p:cNvSpPr/>
          <p:nvPr/>
        </p:nvSpPr>
        <p:spPr>
          <a:xfrm>
            <a:off x="1105142" y="4937191"/>
            <a:ext cx="10458208" cy="1223896"/>
          </a:xfrm>
          <a:prstGeom prst="rect">
            <a:avLst/>
          </a:prstGeom>
          <a:solidFill>
            <a:srgbClr val="F2F2F2"/>
          </a:solidFill>
          <a:ln w="9525" cap="rnd" cmpd="sng" algn="ctr">
            <a:solidFill>
              <a:srgbClr val="29BA74"/>
            </a:solidFill>
            <a:prstDash val="sysDash"/>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a typeface="Microsoft YaHei" panose="020B0503020204020204" pitchFamily="34" charset="-122"/>
            </a:endParaRPr>
          </a:p>
        </p:txBody>
      </p:sp>
      <p:sp>
        <p:nvSpPr>
          <p:cNvPr id="2" name="Title 1">
            <a:extLst>
              <a:ext uri="{FF2B5EF4-FFF2-40B4-BE49-F238E27FC236}">
                <a16:creationId xmlns:a16="http://schemas.microsoft.com/office/drawing/2014/main" id="{EEA7A0A3-548C-40C5-31AF-C665960FDD71}"/>
              </a:ext>
            </a:extLst>
          </p:cNvPr>
          <p:cNvSpPr>
            <a:spLocks noGrp="1"/>
          </p:cNvSpPr>
          <p:nvPr>
            <p:ph type="title"/>
          </p:nvPr>
        </p:nvSpPr>
        <p:spPr>
          <a:xfrm>
            <a:off x="630000" y="622800"/>
            <a:ext cx="10933350" cy="664797"/>
          </a:xfrm>
        </p:spPr>
        <p:txBody>
          <a:bodyPr vert="horz"/>
          <a:lstStyle/>
          <a:p>
            <a:r>
              <a:rPr lang="zh-TW" altLang="en-US">
                <a:ea typeface="Microsoft YaHei" panose="020B0503020204020204" pitchFamily="34" charset="-122"/>
              </a:rPr>
              <a:t>長期爲發展個性化經營，凱基應擴大既有傾向模型、建立完善之個性化行銷組織及流程，並確保有明確的反饋機制</a:t>
            </a:r>
            <a:endParaRPr lang="en-US">
              <a:ea typeface="Microsoft YaHei" panose="020B0503020204020204" pitchFamily="34" charset="-122"/>
            </a:endParaRPr>
          </a:p>
        </p:txBody>
      </p:sp>
      <p:sp>
        <p:nvSpPr>
          <p:cNvPr id="3" name="Textfeld 1">
            <a:extLst>
              <a:ext uri="{FF2B5EF4-FFF2-40B4-BE49-F238E27FC236}">
                <a16:creationId xmlns:a16="http://schemas.microsoft.com/office/drawing/2014/main" id="{77095CF4-B53F-D5E7-79E1-B03569BF1D64}"/>
              </a:ext>
            </a:extLst>
          </p:cNvPr>
          <p:cNvSpPr txBox="1"/>
          <p:nvPr>
            <p:custDataLst>
              <p:tags r:id="rId2"/>
            </p:custDataLst>
          </p:nvPr>
        </p:nvSpPr>
        <p:spPr>
          <a:xfrm>
            <a:off x="25200" y="-129523"/>
            <a:ext cx="2743200" cy="649409"/>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en-US" sz="1200" b="1">
                <a:solidFill>
                  <a:srgbClr val="575757"/>
                </a:solidFill>
                <a:ea typeface="Microsoft YaHei" panose="020B0503020204020204" pitchFamily="34" charset="-122"/>
                <a:sym typeface="Trebuchet MS" panose="020B0603020202020204" pitchFamily="34" charset="0"/>
              </a:rPr>
              <a:t>CA 12.Jun.24:
</a:t>
            </a:r>
            <a:r>
              <a:rPr lang="zh-TW" altLang="en-US" sz="1200" b="1">
                <a:solidFill>
                  <a:srgbClr val="575757"/>
                </a:solidFill>
                <a:ea typeface="Microsoft YaHei" panose="020B0503020204020204" pitchFamily="34" charset="-122"/>
                <a:sym typeface="Trebuchet MS" panose="020B0603020202020204" pitchFamily="34" charset="0"/>
              </a:rPr>
              <a:t>凱基</a:t>
            </a:r>
            <a:r>
              <a:rPr lang="en-US" altLang="zh-TW" sz="1200" b="1">
                <a:solidFill>
                  <a:srgbClr val="575757"/>
                </a:solidFill>
                <a:ea typeface="Microsoft YaHei" panose="020B0503020204020204" pitchFamily="34" charset="-122"/>
                <a:sym typeface="Trebuchet MS" panose="020B0603020202020204" pitchFamily="34" charset="0"/>
              </a:rPr>
              <a:t>vs. </a:t>
            </a:r>
            <a:r>
              <a:rPr lang="zh-TW" altLang="en-US" sz="1200" b="1">
                <a:solidFill>
                  <a:srgbClr val="575757"/>
                </a:solidFill>
                <a:ea typeface="Microsoft YaHei" panose="020B0503020204020204" pitchFamily="34" charset="-122"/>
                <a:sym typeface="Trebuchet MS" panose="020B0603020202020204" pitchFamily="34" charset="0"/>
              </a:rPr>
              <a:t>行業</a:t>
            </a:r>
            <a:r>
              <a:rPr lang="en-US" altLang="zh-TW" sz="1200" b="1">
                <a:solidFill>
                  <a:srgbClr val="575757"/>
                </a:solidFill>
                <a:ea typeface="Microsoft YaHei" panose="020B0503020204020204" pitchFamily="34" charset="-122"/>
                <a:sym typeface="Trebuchet MS" panose="020B0603020202020204" pitchFamily="34" charset="0"/>
              </a:rPr>
              <a:t>practice &gt; </a:t>
            </a:r>
            <a:r>
              <a:rPr lang="zh-TW" altLang="en-US" sz="1200" b="1">
                <a:solidFill>
                  <a:srgbClr val="575757"/>
                </a:solidFill>
                <a:ea typeface="Microsoft YaHei" panose="020B0503020204020204" pitchFamily="34" charset="-122"/>
                <a:sym typeface="Trebuchet MS" panose="020B0603020202020204" pitchFamily="34" charset="0"/>
              </a:rPr>
              <a:t>下一步 </a:t>
            </a:r>
            <a:r>
              <a:rPr lang="en-US" altLang="zh-TW" sz="1200" b="1">
                <a:solidFill>
                  <a:srgbClr val="575757"/>
                </a:solidFill>
                <a:ea typeface="Microsoft YaHei" panose="020B0503020204020204" pitchFamily="34" charset="-122"/>
                <a:sym typeface="Trebuchet MS" panose="020B0603020202020204" pitchFamily="34" charset="0"/>
              </a:rPr>
              <a:t>(</a:t>
            </a:r>
            <a:r>
              <a:rPr lang="zh-TW" altLang="en-US" sz="1200" b="1">
                <a:solidFill>
                  <a:srgbClr val="575757"/>
                </a:solidFill>
                <a:ea typeface="Microsoft YaHei" panose="020B0503020204020204" pitchFamily="34" charset="-122"/>
                <a:sym typeface="Trebuchet MS" panose="020B0603020202020204" pitchFamily="34" charset="0"/>
              </a:rPr>
              <a:t>需探索的</a:t>
            </a:r>
            <a:r>
              <a:rPr lang="en-US" altLang="zh-TW" sz="1200" b="1">
                <a:solidFill>
                  <a:srgbClr val="575757"/>
                </a:solidFill>
                <a:ea typeface="Microsoft YaHei" panose="020B0503020204020204" pitchFamily="34" charset="-122"/>
                <a:sym typeface="Trebuchet MS" panose="020B0603020202020204" pitchFamily="34" charset="0"/>
              </a:rPr>
              <a:t>topic)</a:t>
            </a:r>
            <a:endParaRPr lang="en-US" sz="1200" b="1">
              <a:solidFill>
                <a:srgbClr val="575757"/>
              </a:solidFill>
              <a:ea typeface="Microsoft YaHei" panose="020B0503020204020204" pitchFamily="34" charset="-122"/>
              <a:sym typeface="Trebuchet MS" panose="020B0603020202020204" pitchFamily="34" charset="0"/>
            </a:endParaRPr>
          </a:p>
        </p:txBody>
      </p:sp>
      <p:sp>
        <p:nvSpPr>
          <p:cNvPr id="5" name="Rectangle 4">
            <a:extLst>
              <a:ext uri="{FF2B5EF4-FFF2-40B4-BE49-F238E27FC236}">
                <a16:creationId xmlns:a16="http://schemas.microsoft.com/office/drawing/2014/main" id="{46697683-BFCE-3690-FBBC-2C6CECA2ADC2}"/>
              </a:ext>
            </a:extLst>
          </p:cNvPr>
          <p:cNvSpPr/>
          <p:nvPr/>
        </p:nvSpPr>
        <p:spPr>
          <a:xfrm>
            <a:off x="632789" y="1402448"/>
            <a:ext cx="377528" cy="1827597"/>
          </a:xfrm>
          <a:prstGeom prst="rect">
            <a:avLst/>
          </a:prstGeom>
          <a:gradFill>
            <a:gsLst>
              <a:gs pos="0">
                <a:schemeClr val="accent2"/>
              </a:gs>
              <a:gs pos="100000">
                <a:schemeClr val="tx2"/>
              </a:gs>
            </a:gsLst>
            <a:lin ang="2700000" scaled="1"/>
          </a:grad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6800" rIns="91440" bIns="45720" numCol="1" spcCol="0" rtlCol="0" fromWordArt="0" anchor="ctr" anchorCtr="0" forceAA="0" compatLnSpc="1">
            <a:prstTxWarp prst="textNoShape">
              <a:avLst/>
            </a:prstTxWarp>
            <a:noAutofit/>
          </a:bodyPr>
          <a:lstStyle/>
          <a:p>
            <a:pPr algn="ctr"/>
            <a:r>
              <a:rPr lang="zh-TW" altLang="en-US" sz="1600" b="1">
                <a:solidFill>
                  <a:srgbClr val="FFFFFF"/>
                </a:solidFill>
                <a:effectLst>
                  <a:outerShdw blurRad="50800" dist="38100" dir="2700000" algn="tl" rotWithShape="0">
                    <a:prstClr val="black">
                      <a:alpha val="40000"/>
                    </a:prstClr>
                  </a:outerShdw>
                </a:effectLst>
                <a:latin typeface="Trebuchet MS"/>
                <a:ea typeface="Microsoft YaHei" panose="020B0503020204020204" pitchFamily="34" charset="-122"/>
                <a:sym typeface="+mn-lt"/>
              </a:rPr>
              <a:t>關鍵成功因素</a:t>
            </a:r>
            <a:endParaRPr lang="en-US" sz="1600" b="1">
              <a:solidFill>
                <a:srgbClr val="FFFFFF"/>
              </a:solidFill>
              <a:effectLst>
                <a:outerShdw blurRad="50800" dist="38100" dir="2700000" algn="tl" rotWithShape="0">
                  <a:prstClr val="black">
                    <a:alpha val="40000"/>
                  </a:prstClr>
                </a:outerShdw>
              </a:effectLst>
              <a:latin typeface="Trebuchet MS"/>
              <a:ea typeface="Microsoft YaHei" panose="020B0503020204020204" pitchFamily="34" charset="-122"/>
              <a:sym typeface="+mn-lt"/>
            </a:endParaRPr>
          </a:p>
        </p:txBody>
      </p:sp>
      <p:sp>
        <p:nvSpPr>
          <p:cNvPr id="6" name="Rectangle 5">
            <a:extLst>
              <a:ext uri="{FF2B5EF4-FFF2-40B4-BE49-F238E27FC236}">
                <a16:creationId xmlns:a16="http://schemas.microsoft.com/office/drawing/2014/main" id="{590FFC0C-E7F8-41A6-CBE1-205240800534}"/>
              </a:ext>
            </a:extLst>
          </p:cNvPr>
          <p:cNvSpPr/>
          <p:nvPr/>
        </p:nvSpPr>
        <p:spPr>
          <a:xfrm>
            <a:off x="630001" y="3278395"/>
            <a:ext cx="377528" cy="1610447"/>
          </a:xfrm>
          <a:prstGeom prst="rect">
            <a:avLst/>
          </a:prstGeom>
          <a:solidFill>
            <a:srgbClr val="670F31"/>
          </a:solid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6800" rIns="91440" bIns="45720" numCol="1" spcCol="0" rtlCol="0" fromWordArt="0" anchor="ctr" anchorCtr="0" forceAA="0" compatLnSpc="1">
            <a:prstTxWarp prst="textNoShape">
              <a:avLst/>
            </a:prstTxWarp>
            <a:noAutofit/>
          </a:bodyPr>
          <a:lstStyle/>
          <a:p>
            <a:pPr algn="ctr"/>
            <a:r>
              <a:rPr lang="zh-TW" altLang="en-US" sz="1600" b="1">
                <a:solidFill>
                  <a:srgbClr val="FFFFFF"/>
                </a:solidFill>
                <a:effectLst>
                  <a:outerShdw blurRad="50800" dist="38100" dir="2700000" algn="tl" rotWithShape="0">
                    <a:prstClr val="black">
                      <a:alpha val="40000"/>
                    </a:prstClr>
                  </a:outerShdw>
                </a:effectLst>
                <a:latin typeface="Trebuchet MS"/>
                <a:ea typeface="Microsoft YaHei" panose="020B0503020204020204" pitchFamily="34" charset="-122"/>
                <a:sym typeface="+mn-lt"/>
              </a:rPr>
              <a:t>目前凱基作法</a:t>
            </a:r>
            <a:endParaRPr lang="en-US" sz="1600" b="1">
              <a:solidFill>
                <a:srgbClr val="FFFFFF"/>
              </a:solidFill>
              <a:effectLst>
                <a:outerShdw blurRad="50800" dist="38100" dir="2700000" algn="tl" rotWithShape="0">
                  <a:prstClr val="black">
                    <a:alpha val="40000"/>
                  </a:prstClr>
                </a:outerShdw>
              </a:effectLst>
              <a:latin typeface="Trebuchet MS"/>
              <a:ea typeface="Microsoft YaHei" panose="020B0503020204020204" pitchFamily="34" charset="-122"/>
              <a:sym typeface="+mn-lt"/>
            </a:endParaRPr>
          </a:p>
        </p:txBody>
      </p:sp>
      <p:sp>
        <p:nvSpPr>
          <p:cNvPr id="7" name="TextBox 6">
            <a:extLst>
              <a:ext uri="{FF2B5EF4-FFF2-40B4-BE49-F238E27FC236}">
                <a16:creationId xmlns:a16="http://schemas.microsoft.com/office/drawing/2014/main" id="{9ED7DD4D-DCF7-643B-D604-5A7A0A838AFD}"/>
              </a:ext>
            </a:extLst>
          </p:cNvPr>
          <p:cNvSpPr txBox="1"/>
          <p:nvPr/>
        </p:nvSpPr>
        <p:spPr>
          <a:xfrm>
            <a:off x="1105142" y="1402447"/>
            <a:ext cx="2529761" cy="432594"/>
          </a:xfrm>
          <a:prstGeom prst="rect">
            <a:avLst/>
          </a:prstGeom>
          <a:solidFill>
            <a:srgbClr val="C9E7CA"/>
          </a:solidFill>
          <a:effectLst/>
          <a:extLst>
            <a:ext uri="{53640926-AAD7-44D8-BBD7-CCE9431645EC}">
              <a14:shadowObscured xmlns:a14="http://schemas.microsoft.com/office/drawing/2010/main"/>
            </a:ext>
          </a:extLst>
        </p:spPr>
        <p:txBody>
          <a:bodyPr wrap="none" lIns="93761" tIns="92285" rIns="93761" bIns="92285" rtlCol="0" anchor="t">
            <a:noAutofit/>
          </a:bodyPr>
          <a:lstStyle/>
          <a:p>
            <a:pPr marR="0" lvl="0" algn="ctr" defTabSz="685800" eaLnBrk="1" fontAlgn="auto" latinLnBrk="0" hangingPunct="1">
              <a:lnSpc>
                <a:spcPct val="100000"/>
              </a:lnSpc>
              <a:spcBef>
                <a:spcPts val="0"/>
              </a:spcBef>
              <a:spcAft>
                <a:spcPts val="0"/>
              </a:spcAft>
              <a:buClrTx/>
              <a:buSzTx/>
              <a:buFontTx/>
              <a:buNone/>
              <a:tabLst/>
              <a:defRPr/>
            </a:pPr>
            <a:r>
              <a:rPr kumimoji="0" lang="zh-TW" altLang="en-US" sz="1600" b="1" i="1" u="none" strike="noStrike" kern="1200" cap="none" spc="0" normalizeH="0" baseline="0" noProof="0">
                <a:ln>
                  <a:noFill/>
                </a:ln>
                <a:solidFill>
                  <a:srgbClr val="575757"/>
                </a:solidFill>
                <a:effectLst/>
                <a:uLnTx/>
                <a:uFillTx/>
                <a:latin typeface="OP Chevin Pro Light"/>
                <a:ea typeface="Microsoft YaHei" panose="020B0503020204020204" pitchFamily="34" charset="-122"/>
              </a:rPr>
              <a:t>全面覆蓋的傾向模型</a:t>
            </a:r>
            <a:endParaRPr kumimoji="0" lang="fi-FI" sz="1600" b="1" i="1" u="none" strike="noStrike" kern="1200" cap="none" spc="0" normalizeH="0" baseline="0" noProof="0">
              <a:ln>
                <a:noFill/>
              </a:ln>
              <a:solidFill>
                <a:srgbClr val="575757"/>
              </a:solidFill>
              <a:effectLst/>
              <a:uLnTx/>
              <a:uFillTx/>
              <a:latin typeface="OP Chevin Pro Light"/>
              <a:ea typeface="Microsoft YaHei" panose="020B0503020204020204" pitchFamily="34" charset="-122"/>
            </a:endParaRPr>
          </a:p>
        </p:txBody>
      </p:sp>
      <p:sp>
        <p:nvSpPr>
          <p:cNvPr id="9" name="TextBox 8">
            <a:extLst>
              <a:ext uri="{FF2B5EF4-FFF2-40B4-BE49-F238E27FC236}">
                <a16:creationId xmlns:a16="http://schemas.microsoft.com/office/drawing/2014/main" id="{BE6059AE-57E6-A8A9-7C83-178073C8F39D}"/>
              </a:ext>
            </a:extLst>
          </p:cNvPr>
          <p:cNvSpPr txBox="1"/>
          <p:nvPr/>
        </p:nvSpPr>
        <p:spPr>
          <a:xfrm>
            <a:off x="3704520" y="1402447"/>
            <a:ext cx="2529761" cy="432594"/>
          </a:xfrm>
          <a:prstGeom prst="rect">
            <a:avLst/>
          </a:prstGeom>
          <a:solidFill>
            <a:srgbClr val="C9E7CA"/>
          </a:solidFill>
          <a:effectLst/>
          <a:extLst>
            <a:ext uri="{53640926-AAD7-44D8-BBD7-CCE9431645EC}">
              <a14:shadowObscured xmlns:a14="http://schemas.microsoft.com/office/drawing/2010/main"/>
            </a:ext>
          </a:extLst>
        </p:spPr>
        <p:txBody>
          <a:bodyPr wrap="none" lIns="93761" tIns="92285" rIns="93761" bIns="92285" rtlCol="0" anchor="t">
            <a:noAutofit/>
          </a:bodyPr>
          <a:lstStyle/>
          <a:p>
            <a:pPr marR="0" lvl="0" algn="ctr" defTabSz="685800" eaLnBrk="1" fontAlgn="auto" latinLnBrk="0" hangingPunct="1">
              <a:lnSpc>
                <a:spcPct val="100000"/>
              </a:lnSpc>
              <a:spcBef>
                <a:spcPts val="0"/>
              </a:spcBef>
              <a:spcAft>
                <a:spcPts val="0"/>
              </a:spcAft>
              <a:buClrTx/>
              <a:buSzTx/>
              <a:buFontTx/>
              <a:buNone/>
              <a:tabLst/>
              <a:defRPr/>
            </a:pPr>
            <a:r>
              <a:rPr kumimoji="0" lang="zh-TW" altLang="en-US" sz="1600" b="1" i="1" u="none" strike="noStrike" kern="1200" cap="none" spc="0" normalizeH="0" baseline="0" noProof="0">
                <a:ln>
                  <a:noFill/>
                </a:ln>
                <a:solidFill>
                  <a:srgbClr val="575757"/>
                </a:solidFill>
                <a:effectLst/>
                <a:uLnTx/>
                <a:uFillTx/>
                <a:latin typeface="OP Chevin Pro Light"/>
                <a:ea typeface="Microsoft YaHei" panose="020B0503020204020204" pitchFamily="34" charset="-122"/>
              </a:rPr>
              <a:t>中央管理的數據基礎</a:t>
            </a:r>
            <a:endParaRPr kumimoji="0" lang="fi-FI" sz="1600" b="1" i="1" u="none" strike="noStrike" kern="1200" cap="none" spc="0" normalizeH="0" baseline="0" noProof="0">
              <a:ln>
                <a:noFill/>
              </a:ln>
              <a:solidFill>
                <a:srgbClr val="575757"/>
              </a:solidFill>
              <a:effectLst/>
              <a:uLnTx/>
              <a:uFillTx/>
              <a:latin typeface="OP Chevin Pro Light"/>
              <a:ea typeface="Microsoft YaHei" panose="020B0503020204020204" pitchFamily="34" charset="-122"/>
            </a:endParaRPr>
          </a:p>
        </p:txBody>
      </p:sp>
      <p:sp>
        <p:nvSpPr>
          <p:cNvPr id="10" name="TextBox 9">
            <a:extLst>
              <a:ext uri="{FF2B5EF4-FFF2-40B4-BE49-F238E27FC236}">
                <a16:creationId xmlns:a16="http://schemas.microsoft.com/office/drawing/2014/main" id="{0869F443-5E83-CADA-D358-208579F3D263}"/>
              </a:ext>
            </a:extLst>
          </p:cNvPr>
          <p:cNvSpPr txBox="1"/>
          <p:nvPr/>
        </p:nvSpPr>
        <p:spPr>
          <a:xfrm>
            <a:off x="6317011" y="1402447"/>
            <a:ext cx="2662325" cy="432594"/>
          </a:xfrm>
          <a:prstGeom prst="rect">
            <a:avLst/>
          </a:prstGeom>
          <a:solidFill>
            <a:srgbClr val="C9E7CA"/>
          </a:solidFill>
          <a:effectLst/>
          <a:extLst>
            <a:ext uri="{53640926-AAD7-44D8-BBD7-CCE9431645EC}">
              <a14:shadowObscured xmlns:a14="http://schemas.microsoft.com/office/drawing/2010/main"/>
            </a:ext>
          </a:extLst>
        </p:spPr>
        <p:txBody>
          <a:bodyPr wrap="none" lIns="93761" tIns="92285" rIns="93761" bIns="92285" rtlCol="0" anchor="t">
            <a:noAutofit/>
          </a:bodyPr>
          <a:lstStyle/>
          <a:p>
            <a:pPr marR="0" lvl="0" algn="ctr" defTabSz="685800" eaLnBrk="1" fontAlgn="auto" latinLnBrk="0" hangingPunct="1">
              <a:lnSpc>
                <a:spcPct val="100000"/>
              </a:lnSpc>
              <a:spcBef>
                <a:spcPts val="0"/>
              </a:spcBef>
              <a:spcAft>
                <a:spcPts val="0"/>
              </a:spcAft>
              <a:buClrTx/>
              <a:buSzTx/>
              <a:buFontTx/>
              <a:buNone/>
              <a:tabLst/>
              <a:defRPr/>
            </a:pPr>
            <a:r>
              <a:rPr kumimoji="0" lang="zh-TW" altLang="en-US" sz="1600" b="1" i="1" u="none" strike="noStrike" kern="1200" cap="none" spc="0" normalizeH="0" baseline="0" noProof="0">
                <a:ln>
                  <a:noFill/>
                </a:ln>
                <a:solidFill>
                  <a:srgbClr val="575757"/>
                </a:solidFill>
                <a:effectLst/>
                <a:uLnTx/>
                <a:uFillTx/>
                <a:latin typeface="OP Chevin Pro Light"/>
                <a:ea typeface="Microsoft YaHei" panose="020B0503020204020204" pitchFamily="34" charset="-122"/>
              </a:rPr>
              <a:t>即時行動的組織</a:t>
            </a:r>
            <a:r>
              <a:rPr kumimoji="0" lang="en-US" altLang="zh-TW" sz="1600" b="1" i="1" u="none" strike="noStrike" kern="1200" cap="none" spc="0" normalizeH="0" baseline="0" noProof="0">
                <a:ln>
                  <a:noFill/>
                </a:ln>
                <a:solidFill>
                  <a:srgbClr val="575757"/>
                </a:solidFill>
                <a:effectLst/>
                <a:uLnTx/>
                <a:uFillTx/>
                <a:latin typeface="OP Chevin Pro Light"/>
                <a:ea typeface="Microsoft YaHei" panose="020B0503020204020204" pitchFamily="34" charset="-122"/>
              </a:rPr>
              <a:t>/</a:t>
            </a:r>
            <a:r>
              <a:rPr kumimoji="0" lang="zh-TW" altLang="en-US" sz="1600" b="1" i="1" u="none" strike="noStrike" kern="1200" cap="none" spc="0" normalizeH="0" baseline="0" noProof="0">
                <a:ln>
                  <a:noFill/>
                </a:ln>
                <a:solidFill>
                  <a:srgbClr val="575757"/>
                </a:solidFill>
                <a:effectLst/>
                <a:uLnTx/>
                <a:uFillTx/>
                <a:latin typeface="OP Chevin Pro Light"/>
                <a:ea typeface="Microsoft YaHei" panose="020B0503020204020204" pitchFamily="34" charset="-122"/>
              </a:rPr>
              <a:t>流程</a:t>
            </a:r>
            <a:endParaRPr kumimoji="0" lang="fi-FI" sz="1600" b="1" i="1" u="none" strike="noStrike" kern="1200" cap="none" spc="0" normalizeH="0" baseline="0" noProof="0">
              <a:ln>
                <a:noFill/>
              </a:ln>
              <a:solidFill>
                <a:srgbClr val="575757"/>
              </a:solidFill>
              <a:effectLst/>
              <a:uLnTx/>
              <a:uFillTx/>
              <a:latin typeface="OP Chevin Pro Light"/>
              <a:ea typeface="Microsoft YaHei" panose="020B0503020204020204" pitchFamily="34" charset="-122"/>
            </a:endParaRPr>
          </a:p>
        </p:txBody>
      </p:sp>
      <p:sp>
        <p:nvSpPr>
          <p:cNvPr id="11" name="TextBox 10">
            <a:extLst>
              <a:ext uri="{FF2B5EF4-FFF2-40B4-BE49-F238E27FC236}">
                <a16:creationId xmlns:a16="http://schemas.microsoft.com/office/drawing/2014/main" id="{97EBF5AA-960F-0C02-26F9-FB71F6062FFA}"/>
              </a:ext>
            </a:extLst>
          </p:cNvPr>
          <p:cNvSpPr txBox="1"/>
          <p:nvPr/>
        </p:nvSpPr>
        <p:spPr>
          <a:xfrm>
            <a:off x="9062068" y="1402447"/>
            <a:ext cx="2472806" cy="432594"/>
          </a:xfrm>
          <a:prstGeom prst="rect">
            <a:avLst/>
          </a:prstGeom>
          <a:solidFill>
            <a:srgbClr val="C9E7CA"/>
          </a:solidFill>
          <a:effectLst/>
          <a:extLst>
            <a:ext uri="{53640926-AAD7-44D8-BBD7-CCE9431645EC}">
              <a14:shadowObscured xmlns:a14="http://schemas.microsoft.com/office/drawing/2010/main"/>
            </a:ext>
          </a:extLst>
        </p:spPr>
        <p:txBody>
          <a:bodyPr wrap="none" lIns="93761" tIns="92285" rIns="93761" bIns="92285" rtlCol="0" anchor="t">
            <a:noAutofit/>
          </a:bodyPr>
          <a:lstStyle/>
          <a:p>
            <a:pPr marR="0" lvl="0" algn="ctr" defTabSz="685800" eaLnBrk="1" fontAlgn="auto" latinLnBrk="0" hangingPunct="1">
              <a:lnSpc>
                <a:spcPct val="100000"/>
              </a:lnSpc>
              <a:spcBef>
                <a:spcPts val="0"/>
              </a:spcBef>
              <a:spcAft>
                <a:spcPts val="0"/>
              </a:spcAft>
              <a:buClrTx/>
              <a:buSzTx/>
              <a:buFontTx/>
              <a:buNone/>
              <a:tabLst/>
              <a:defRPr/>
            </a:pPr>
            <a:r>
              <a:rPr kumimoji="0" lang="zh-TW" altLang="en-US" sz="1600" b="1" i="1" u="none" strike="noStrike" kern="1200" cap="none" spc="0" normalizeH="0" baseline="0" noProof="0">
                <a:ln>
                  <a:noFill/>
                </a:ln>
                <a:solidFill>
                  <a:srgbClr val="575757"/>
                </a:solidFill>
                <a:effectLst/>
                <a:uLnTx/>
                <a:uFillTx/>
                <a:latin typeface="OP Chevin Pro Light"/>
                <a:ea typeface="Microsoft YaHei" panose="020B0503020204020204" pitchFamily="34" charset="-122"/>
              </a:rPr>
              <a:t>定期反饋的追踪機制</a:t>
            </a:r>
            <a:endParaRPr kumimoji="0" lang="fi-FI" sz="1600" b="1" i="1" u="none" strike="noStrike" kern="1200" cap="none" spc="0" normalizeH="0" baseline="0" noProof="0">
              <a:ln>
                <a:noFill/>
              </a:ln>
              <a:solidFill>
                <a:srgbClr val="575757"/>
              </a:solidFill>
              <a:effectLst/>
              <a:uLnTx/>
              <a:uFillTx/>
              <a:latin typeface="OP Chevin Pro Light"/>
              <a:ea typeface="Microsoft YaHei" panose="020B0503020204020204" pitchFamily="34" charset="-122"/>
            </a:endParaRPr>
          </a:p>
        </p:txBody>
      </p:sp>
      <p:sp>
        <p:nvSpPr>
          <p:cNvPr id="12" name="TextBox 11">
            <a:extLst>
              <a:ext uri="{FF2B5EF4-FFF2-40B4-BE49-F238E27FC236}">
                <a16:creationId xmlns:a16="http://schemas.microsoft.com/office/drawing/2014/main" id="{8E573D98-57F7-5DCB-9501-C4FFCF9FFFEB}"/>
              </a:ext>
            </a:extLst>
          </p:cNvPr>
          <p:cNvSpPr txBox="1"/>
          <p:nvPr/>
        </p:nvSpPr>
        <p:spPr>
          <a:xfrm>
            <a:off x="1105142" y="1966455"/>
            <a:ext cx="2529761" cy="1291095"/>
          </a:xfrm>
          <a:prstGeom prst="rect">
            <a:avLst/>
          </a:prstGeom>
          <a:noFill/>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txBody>
          <a:bodyPr wrap="square" lIns="93761" tIns="92285" rIns="93761" bIns="92285" rtlCol="0" anchor="t">
            <a:noAutofit/>
          </a:bodyPr>
          <a:lstStyle/>
          <a:p>
            <a:pPr marR="0" lvl="0" defTabSz="685800" eaLnBrk="1" fontAlgn="auto" latinLnBrk="0" hangingPunct="1">
              <a:lnSpc>
                <a:spcPct val="100000"/>
              </a:lnSpc>
              <a:spcBef>
                <a:spcPts val="0"/>
              </a:spcBef>
              <a:spcAft>
                <a:spcPts val="0"/>
              </a:spcAft>
              <a:buClrTx/>
              <a:buSzTx/>
              <a:buFontTx/>
              <a:buNone/>
              <a:tabLst/>
              <a:defRPr/>
            </a:pPr>
            <a:r>
              <a:rPr lang="zh-TW" altLang="en-US" sz="1400">
                <a:solidFill>
                  <a:srgbClr val="575757"/>
                </a:solidFill>
                <a:latin typeface="OP Chevin Pro Light"/>
                <a:ea typeface="Microsoft YaHei" panose="020B0503020204020204" pitchFamily="34" charset="-122"/>
              </a:rPr>
              <a:t>傾向模型應提供</a:t>
            </a:r>
            <a:r>
              <a:rPr lang="zh-TW" altLang="en-US" sz="1400">
                <a:solidFill>
                  <a:srgbClr val="29BA74"/>
                </a:solidFill>
                <a:latin typeface="OP Chevin Pro Light"/>
                <a:ea typeface="Microsoft YaHei" panose="020B0503020204020204" pitchFamily="34" charset="-122"/>
              </a:rPr>
              <a:t>個性化行銷之精準建議</a:t>
            </a:r>
            <a:r>
              <a:rPr lang="zh-TW" altLang="en-US" sz="1400">
                <a:solidFill>
                  <a:srgbClr val="575757"/>
                </a:solidFill>
                <a:latin typeface="OP Chevin Pro Light"/>
                <a:ea typeface="Microsoft YaHei" panose="020B0503020204020204" pitchFamily="34" charset="-122"/>
              </a:rPr>
              <a:t>，包含針對特定客戶在</a:t>
            </a:r>
            <a:r>
              <a:rPr lang="zh-TW" altLang="en-US" sz="1400">
                <a:solidFill>
                  <a:srgbClr val="29BA74"/>
                </a:solidFill>
                <a:latin typeface="OP Chevin Pro Light"/>
                <a:ea typeface="Microsoft YaHei" panose="020B0503020204020204" pitchFamily="34" charset="-122"/>
              </a:rPr>
              <a:t>對的時間、對的管道提供對的訊息及優惠</a:t>
            </a:r>
            <a:endParaRPr kumimoji="0" lang="fi-FI" sz="1400" u="none" strike="noStrike" kern="1200" cap="none" spc="0" normalizeH="0" baseline="0" noProof="0">
              <a:ln>
                <a:noFill/>
              </a:ln>
              <a:solidFill>
                <a:srgbClr val="29BA74"/>
              </a:solidFill>
              <a:effectLst/>
              <a:uLnTx/>
              <a:uFillTx/>
              <a:latin typeface="OP Chevin Pro Light"/>
              <a:ea typeface="Microsoft YaHei" panose="020B0503020204020204" pitchFamily="34" charset="-122"/>
            </a:endParaRPr>
          </a:p>
        </p:txBody>
      </p:sp>
      <p:sp>
        <p:nvSpPr>
          <p:cNvPr id="13" name="TextBox 12">
            <a:extLst>
              <a:ext uri="{FF2B5EF4-FFF2-40B4-BE49-F238E27FC236}">
                <a16:creationId xmlns:a16="http://schemas.microsoft.com/office/drawing/2014/main" id="{62B031B0-F51D-5893-D9FB-B2104A62F558}"/>
              </a:ext>
            </a:extLst>
          </p:cNvPr>
          <p:cNvSpPr txBox="1"/>
          <p:nvPr/>
        </p:nvSpPr>
        <p:spPr>
          <a:xfrm>
            <a:off x="3704520" y="1966455"/>
            <a:ext cx="2529761" cy="1291095"/>
          </a:xfrm>
          <a:prstGeom prst="rect">
            <a:avLst/>
          </a:prstGeom>
          <a:noFill/>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txBody>
          <a:bodyPr wrap="square" lIns="93761" tIns="92285" rIns="93761" bIns="92285" rtlCol="0" anchor="t">
            <a:noAutofit/>
          </a:bodyPr>
          <a:lstStyle/>
          <a:p>
            <a:pPr marR="0" lvl="0" defTabSz="685800" eaLnBrk="1" fontAlgn="auto" latinLnBrk="0" hangingPunct="1">
              <a:lnSpc>
                <a:spcPct val="100000"/>
              </a:lnSpc>
              <a:spcBef>
                <a:spcPts val="0"/>
              </a:spcBef>
              <a:spcAft>
                <a:spcPts val="0"/>
              </a:spcAft>
              <a:buClrTx/>
              <a:buSzTx/>
              <a:buFontTx/>
              <a:buNone/>
              <a:tabLst/>
              <a:defRPr/>
            </a:pPr>
            <a:r>
              <a:rPr lang="zh-TW" altLang="en-US" sz="1400">
                <a:solidFill>
                  <a:srgbClr val="29BA74"/>
                </a:solidFill>
                <a:latin typeface="OP Chevin Pro Light"/>
                <a:ea typeface="Microsoft YaHei" panose="020B0503020204020204" pitchFamily="34" charset="-122"/>
              </a:rPr>
              <a:t>整合單一客戶全面數據</a:t>
            </a:r>
            <a:r>
              <a:rPr lang="zh-TW" altLang="en-US" sz="1400">
                <a:solidFill>
                  <a:srgbClr val="575757"/>
                </a:solidFill>
                <a:latin typeface="OP Chevin Pro Light"/>
                <a:ea typeface="Microsoft YaHei" panose="020B0503020204020204" pitchFamily="34" charset="-122"/>
              </a:rPr>
              <a:t>，包含行內各類型</a:t>
            </a:r>
            <a:r>
              <a:rPr lang="zh-TW" altLang="en-US" sz="1400">
                <a:solidFill>
                  <a:srgbClr val="29BA74"/>
                </a:solidFill>
                <a:latin typeface="OP Chevin Pro Light"/>
                <a:ea typeface="Microsoft YaHei" panose="020B0503020204020204" pitchFamily="34" charset="-122"/>
              </a:rPr>
              <a:t>畫像、交易、産品、使用管道資訊、過去營銷活動反應數據</a:t>
            </a:r>
            <a:r>
              <a:rPr lang="zh-TW" altLang="en-US" sz="1400">
                <a:solidFill>
                  <a:srgbClr val="575757"/>
                </a:solidFill>
                <a:latin typeface="OP Chevin Pro Light"/>
                <a:ea typeface="Microsoft YaHei" panose="020B0503020204020204" pitchFamily="34" charset="-122"/>
              </a:rPr>
              <a:t>等並透過外部合作取得之行外資訊，如數位足迹等</a:t>
            </a:r>
            <a:endParaRPr kumimoji="0" lang="fi-FI" sz="1400" u="none" strike="noStrike" kern="1200" cap="none" spc="0" normalizeH="0" baseline="0" noProof="0">
              <a:ln>
                <a:noFill/>
              </a:ln>
              <a:solidFill>
                <a:srgbClr val="575757"/>
              </a:solidFill>
              <a:effectLst/>
              <a:uLnTx/>
              <a:uFillTx/>
              <a:latin typeface="OP Chevin Pro Light"/>
              <a:ea typeface="Microsoft YaHei" panose="020B0503020204020204" pitchFamily="34" charset="-122"/>
            </a:endParaRPr>
          </a:p>
        </p:txBody>
      </p:sp>
      <p:sp>
        <p:nvSpPr>
          <p:cNvPr id="14" name="TextBox 13">
            <a:extLst>
              <a:ext uri="{FF2B5EF4-FFF2-40B4-BE49-F238E27FC236}">
                <a16:creationId xmlns:a16="http://schemas.microsoft.com/office/drawing/2014/main" id="{D1472A05-B961-4541-ABFD-C0AD08083B21}"/>
              </a:ext>
            </a:extLst>
          </p:cNvPr>
          <p:cNvSpPr txBox="1"/>
          <p:nvPr/>
        </p:nvSpPr>
        <p:spPr>
          <a:xfrm>
            <a:off x="6317012" y="1966455"/>
            <a:ext cx="2662325" cy="1291095"/>
          </a:xfrm>
          <a:prstGeom prst="rect">
            <a:avLst/>
          </a:prstGeom>
          <a:noFill/>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txBody>
          <a:bodyPr wrap="square" lIns="93761" tIns="92285" rIns="93761" bIns="92285" rtlCol="0" anchor="t">
            <a:noAutofit/>
          </a:bodyPr>
          <a:lstStyle/>
          <a:p>
            <a:pPr marR="0" lvl="0" defTabSz="685800" eaLnBrk="1" fontAlgn="auto" latinLnBrk="0" hangingPunct="1">
              <a:lnSpc>
                <a:spcPct val="100000"/>
              </a:lnSpc>
              <a:spcBef>
                <a:spcPts val="0"/>
              </a:spcBef>
              <a:spcAft>
                <a:spcPts val="0"/>
              </a:spcAft>
              <a:buClrTx/>
              <a:buSzTx/>
              <a:buFontTx/>
              <a:buNone/>
              <a:tabLst/>
              <a:defRPr/>
            </a:pPr>
            <a:r>
              <a:rPr kumimoji="0" lang="zh-TW" altLang="en-US" sz="1400" u="none" strike="noStrike" kern="1200" cap="none" spc="0" normalizeH="0" baseline="0" noProof="0">
                <a:ln>
                  <a:noFill/>
                </a:ln>
                <a:solidFill>
                  <a:srgbClr val="575757"/>
                </a:solidFill>
                <a:effectLst/>
                <a:uLnTx/>
                <a:uFillTx/>
                <a:latin typeface="OP Chevin Pro Light"/>
                <a:ea typeface="Microsoft YaHei" panose="020B0503020204020204" pitchFamily="34" charset="-122"/>
              </a:rPr>
              <a:t>需搭配</a:t>
            </a:r>
            <a:r>
              <a:rPr kumimoji="0" lang="zh-TW" altLang="en-US" sz="1400" u="none" strike="noStrike" kern="1200" cap="none" spc="0" normalizeH="0" baseline="0" noProof="0">
                <a:ln>
                  <a:noFill/>
                </a:ln>
                <a:solidFill>
                  <a:srgbClr val="29BA74"/>
                </a:solidFill>
                <a:effectLst/>
                <a:uLnTx/>
                <a:uFillTx/>
                <a:latin typeface="OP Chevin Pro Light"/>
                <a:ea typeface="Microsoft YaHei" panose="020B0503020204020204" pitchFamily="34" charset="-122"/>
              </a:rPr>
              <a:t>可根據模型建議即時調整、發展行銷活動之軟硬體</a:t>
            </a:r>
            <a:r>
              <a:rPr kumimoji="0" lang="zh-TW" altLang="en-US" sz="1400" u="none" strike="noStrike" kern="1200" cap="none" spc="0" normalizeH="0" baseline="0" noProof="0">
                <a:ln>
                  <a:noFill/>
                </a:ln>
                <a:solidFill>
                  <a:srgbClr val="575757"/>
                </a:solidFill>
                <a:effectLst/>
                <a:uLnTx/>
                <a:uFillTx/>
                <a:latin typeface="OP Chevin Pro Light"/>
                <a:ea typeface="Microsoft YaHei" panose="020B0503020204020204" pitchFamily="34" charset="-122"/>
              </a:rPr>
              <a:t>，包含敏捷反應之組織及活動訊息設計、訊息發放流程、客服團隊承接等</a:t>
            </a:r>
            <a:endParaRPr kumimoji="0" lang="fi-FI" sz="1400" u="none" strike="noStrike" kern="1200" cap="none" spc="0" normalizeH="0" baseline="0" noProof="0">
              <a:ln>
                <a:noFill/>
              </a:ln>
              <a:solidFill>
                <a:srgbClr val="575757"/>
              </a:solidFill>
              <a:effectLst/>
              <a:uLnTx/>
              <a:uFillTx/>
              <a:latin typeface="OP Chevin Pro Light"/>
              <a:ea typeface="Microsoft YaHei" panose="020B0503020204020204" pitchFamily="34" charset="-122"/>
            </a:endParaRPr>
          </a:p>
        </p:txBody>
      </p:sp>
      <p:sp>
        <p:nvSpPr>
          <p:cNvPr id="20" name="TextBox 19">
            <a:extLst>
              <a:ext uri="{FF2B5EF4-FFF2-40B4-BE49-F238E27FC236}">
                <a16:creationId xmlns:a16="http://schemas.microsoft.com/office/drawing/2014/main" id="{ECEB861F-0E1C-8052-7D22-CBA2FA79E409}"/>
              </a:ext>
            </a:extLst>
          </p:cNvPr>
          <p:cNvSpPr txBox="1"/>
          <p:nvPr/>
        </p:nvSpPr>
        <p:spPr>
          <a:xfrm>
            <a:off x="9033589" y="1989678"/>
            <a:ext cx="2529761" cy="1291095"/>
          </a:xfrm>
          <a:prstGeom prst="rect">
            <a:avLst/>
          </a:prstGeom>
          <a:noFill/>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txBody>
          <a:bodyPr wrap="square" lIns="93761" tIns="92285" rIns="93761" bIns="92285" rtlCol="0" anchor="t">
            <a:noAutofit/>
          </a:bodyPr>
          <a:lstStyle/>
          <a:p>
            <a:pPr marR="0" lvl="0" defTabSz="685800" eaLnBrk="1" fontAlgn="auto" latinLnBrk="0" hangingPunct="1">
              <a:lnSpc>
                <a:spcPct val="100000"/>
              </a:lnSpc>
              <a:spcBef>
                <a:spcPts val="0"/>
              </a:spcBef>
              <a:spcAft>
                <a:spcPts val="0"/>
              </a:spcAft>
              <a:buClrTx/>
              <a:buSzTx/>
              <a:buFontTx/>
              <a:buNone/>
              <a:tabLst/>
              <a:defRPr/>
            </a:pPr>
            <a:r>
              <a:rPr kumimoji="0" lang="zh-TW" altLang="en-US" sz="1400" u="none" strike="noStrike" kern="1200" cap="none" spc="0" normalizeH="0" baseline="0" noProof="0">
                <a:ln>
                  <a:noFill/>
                </a:ln>
                <a:solidFill>
                  <a:srgbClr val="575757"/>
                </a:solidFill>
                <a:effectLst/>
                <a:uLnTx/>
                <a:uFillTx/>
                <a:latin typeface="OP Chevin Pro Light"/>
                <a:ea typeface="Microsoft YaHei" panose="020B0503020204020204" pitchFamily="34" charset="-122"/>
              </a:rPr>
              <a:t>需建立</a:t>
            </a:r>
            <a:r>
              <a:rPr kumimoji="0" lang="zh-TW" altLang="en-US" sz="1400" u="none" strike="noStrike" kern="1200" cap="none" spc="0" normalizeH="0" baseline="0" noProof="0">
                <a:ln>
                  <a:noFill/>
                </a:ln>
                <a:solidFill>
                  <a:srgbClr val="29BA74"/>
                </a:solidFill>
                <a:effectLst/>
                <a:uLnTx/>
                <a:uFillTx/>
                <a:latin typeface="OP Chevin Pro Light"/>
                <a:ea typeface="Microsoft YaHei" panose="020B0503020204020204" pitchFamily="34" charset="-122"/>
              </a:rPr>
              <a:t>定期</a:t>
            </a:r>
            <a:r>
              <a:rPr lang="zh-TW" altLang="en-US" sz="1400">
                <a:solidFill>
                  <a:srgbClr val="29BA74"/>
                </a:solidFill>
                <a:latin typeface="OP Chevin Pro Light"/>
                <a:ea typeface="Microsoft YaHei" panose="020B0503020204020204" pitchFamily="34" charset="-122"/>
              </a:rPr>
              <a:t>追踪機制</a:t>
            </a:r>
            <a:r>
              <a:rPr lang="zh-TW" altLang="en-US" sz="1400">
                <a:solidFill>
                  <a:srgbClr val="575757"/>
                </a:solidFill>
                <a:latin typeface="OP Chevin Pro Light"/>
                <a:ea typeface="Microsoft YaHei" panose="020B0503020204020204" pitchFamily="34" charset="-122"/>
              </a:rPr>
              <a:t>，</a:t>
            </a:r>
            <a:r>
              <a:rPr lang="zh-TW" altLang="en-US" sz="1400">
                <a:solidFill>
                  <a:srgbClr val="29BA74"/>
                </a:solidFill>
                <a:latin typeface="OP Chevin Pro Light"/>
                <a:ea typeface="Microsoft YaHei" panose="020B0503020204020204" pitchFamily="34" charset="-122"/>
              </a:rPr>
              <a:t>將客戶、客服團隊反饋反應在模型及未來行銷活動</a:t>
            </a:r>
            <a:r>
              <a:rPr lang="zh-TW" altLang="en-US" sz="1400">
                <a:solidFill>
                  <a:srgbClr val="575757"/>
                </a:solidFill>
                <a:latin typeface="OP Chevin Pro Light"/>
                <a:ea typeface="Microsoft YaHei" panose="020B0503020204020204" pitchFamily="34" charset="-122"/>
              </a:rPr>
              <a:t>上，促使行銷活動日趨精準</a:t>
            </a:r>
            <a:endParaRPr kumimoji="0" lang="fi-FI" sz="1400" u="none" strike="noStrike" kern="1200" cap="none" spc="0" normalizeH="0" baseline="0" noProof="0">
              <a:ln>
                <a:noFill/>
              </a:ln>
              <a:solidFill>
                <a:srgbClr val="575757"/>
              </a:solidFill>
              <a:effectLst/>
              <a:uLnTx/>
              <a:uFillTx/>
              <a:latin typeface="OP Chevin Pro Light"/>
              <a:ea typeface="Microsoft YaHei" panose="020B0503020204020204" pitchFamily="34" charset="-122"/>
            </a:endParaRPr>
          </a:p>
        </p:txBody>
      </p:sp>
      <p:sp>
        <p:nvSpPr>
          <p:cNvPr id="21" name="TextBox 20">
            <a:extLst>
              <a:ext uri="{FF2B5EF4-FFF2-40B4-BE49-F238E27FC236}">
                <a16:creationId xmlns:a16="http://schemas.microsoft.com/office/drawing/2014/main" id="{052BFECD-4C95-18D1-2132-A0227269A3E4}"/>
              </a:ext>
            </a:extLst>
          </p:cNvPr>
          <p:cNvSpPr txBox="1"/>
          <p:nvPr/>
        </p:nvSpPr>
        <p:spPr>
          <a:xfrm>
            <a:off x="915270" y="3278395"/>
            <a:ext cx="2699013" cy="1263590"/>
          </a:xfrm>
          <a:prstGeom prst="rect">
            <a:avLst/>
          </a:prstGeom>
          <a:noFill/>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txBody>
          <a:bodyPr wrap="square" lIns="93761" tIns="92285" rIns="93761" bIns="92285" rtlCol="0" anchor="t">
            <a:spAutoFit/>
          </a:bodyPr>
          <a:lstStyle/>
          <a:p>
            <a:pPr marL="324000" lvl="1" indent="-216000" defTabSz="685800">
              <a:buClr>
                <a:schemeClr val="tx2"/>
              </a:buClr>
              <a:buFont typeface="Trebuchet MS" panose="020B0603020202020204" pitchFamily="34" charset="0"/>
              <a:buChar char="•"/>
              <a:defRPr/>
            </a:pPr>
            <a:r>
              <a:rPr lang="zh-TW" altLang="en-US" sz="1400">
                <a:latin typeface="Trebuchet MS" panose="020B0603020202020204" pitchFamily="34" charset="0"/>
                <a:ea typeface="Microsoft YaHei" panose="020B0503020204020204" pitchFamily="34" charset="-122"/>
              </a:rPr>
              <a:t>目前傾向模型</a:t>
            </a:r>
            <a:r>
              <a:rPr lang="zh-TW" altLang="en-US" sz="1400">
                <a:solidFill>
                  <a:srgbClr val="E71C57"/>
                </a:solidFill>
                <a:latin typeface="Trebuchet MS" panose="020B0603020202020204" pitchFamily="34" charset="0"/>
                <a:ea typeface="Microsoft YaHei" panose="020B0503020204020204" pitchFamily="34" charset="-122"/>
              </a:rPr>
              <a:t>主要以升級</a:t>
            </a:r>
            <a:r>
              <a:rPr lang="en-US" altLang="zh-TW" sz="1400">
                <a:solidFill>
                  <a:srgbClr val="E71C57"/>
                </a:solidFill>
                <a:latin typeface="Trebuchet MS" panose="020B0603020202020204" pitchFamily="34" charset="0"/>
                <a:ea typeface="Microsoft YaHei" panose="020B0503020204020204" pitchFamily="34" charset="-122"/>
              </a:rPr>
              <a:t>(</a:t>
            </a:r>
            <a:r>
              <a:rPr lang="zh-TW" altLang="en-US" sz="1400">
                <a:solidFill>
                  <a:srgbClr val="E71C57"/>
                </a:solidFill>
                <a:latin typeface="Trebuchet MS" panose="020B0603020202020204" pitchFamily="34" charset="0"/>
                <a:ea typeface="Microsoft YaHei" panose="020B0503020204020204" pitchFamily="34" charset="-122"/>
              </a:rPr>
              <a:t>包含潛力</a:t>
            </a:r>
            <a:r>
              <a:rPr lang="en-US" altLang="zh-TW" sz="1400">
                <a:solidFill>
                  <a:srgbClr val="E71C57"/>
                </a:solidFill>
                <a:latin typeface="Trebuchet MS" panose="020B0603020202020204" pitchFamily="34" charset="0"/>
                <a:ea typeface="Microsoft YaHei" panose="020B0503020204020204" pitchFamily="34" charset="-122"/>
              </a:rPr>
              <a:t>M</a:t>
            </a:r>
            <a:r>
              <a:rPr lang="zh-TW" altLang="en-US" sz="1400">
                <a:solidFill>
                  <a:srgbClr val="E71C57"/>
                </a:solidFill>
                <a:latin typeface="Trebuchet MS" panose="020B0603020202020204" pitchFamily="34" charset="0"/>
                <a:ea typeface="Microsoft YaHei" panose="020B0503020204020204" pitchFamily="34" charset="-122"/>
              </a:rPr>
              <a:t>升</a:t>
            </a:r>
            <a:r>
              <a:rPr lang="en-US" altLang="zh-TW" sz="1400">
                <a:solidFill>
                  <a:srgbClr val="E71C57"/>
                </a:solidFill>
                <a:latin typeface="Trebuchet MS" panose="020B0603020202020204" pitchFamily="34" charset="0"/>
                <a:ea typeface="Microsoft YaHei" panose="020B0503020204020204" pitchFamily="34" charset="-122"/>
              </a:rPr>
              <a:t>A</a:t>
            </a:r>
            <a:r>
              <a:rPr lang="zh-TW" altLang="en-US" sz="1400">
                <a:solidFill>
                  <a:srgbClr val="E71C57"/>
                </a:solidFill>
                <a:latin typeface="Trebuchet MS" panose="020B0603020202020204" pitchFamily="34" charset="0"/>
                <a:ea typeface="Microsoft YaHei" panose="020B0503020204020204" pitchFamily="34" charset="-122"/>
              </a:rPr>
              <a:t>、</a:t>
            </a:r>
            <a:r>
              <a:rPr lang="en-US" altLang="zh-TW" sz="1400">
                <a:solidFill>
                  <a:srgbClr val="E71C57"/>
                </a:solidFill>
                <a:latin typeface="Trebuchet MS" panose="020B0603020202020204" pitchFamily="34" charset="0"/>
                <a:ea typeface="Microsoft YaHei" panose="020B0503020204020204" pitchFamily="34" charset="-122"/>
              </a:rPr>
              <a:t>A</a:t>
            </a:r>
            <a:r>
              <a:rPr lang="zh-TW" altLang="en-US" sz="1400">
                <a:solidFill>
                  <a:srgbClr val="E71C57"/>
                </a:solidFill>
                <a:latin typeface="Trebuchet MS" panose="020B0603020202020204" pitchFamily="34" charset="0"/>
                <a:ea typeface="Microsoft YaHei" panose="020B0503020204020204" pitchFamily="34" charset="-122"/>
              </a:rPr>
              <a:t>升</a:t>
            </a:r>
            <a:r>
              <a:rPr lang="en-US" altLang="zh-TW" sz="1400">
                <a:solidFill>
                  <a:srgbClr val="E71C57"/>
                </a:solidFill>
                <a:latin typeface="Trebuchet MS" panose="020B0603020202020204" pitchFamily="34" charset="0"/>
                <a:ea typeface="Microsoft YaHei" panose="020B0503020204020204" pitchFamily="34" charset="-122"/>
              </a:rPr>
              <a:t>A+)</a:t>
            </a:r>
            <a:r>
              <a:rPr lang="zh-TW" altLang="en-US" sz="1400">
                <a:solidFill>
                  <a:srgbClr val="E71C57"/>
                </a:solidFill>
                <a:latin typeface="Trebuchet MS" panose="020B0603020202020204" pitchFamily="34" charset="0"/>
                <a:ea typeface="Microsoft YaHei" panose="020B0503020204020204" pitchFamily="34" charset="-122"/>
              </a:rPr>
              <a:t>及產品為中心產生潛在名單</a:t>
            </a:r>
            <a:endParaRPr lang="en-US" altLang="zh-TW" sz="1400">
              <a:solidFill>
                <a:srgbClr val="E71C57"/>
              </a:solidFill>
              <a:latin typeface="Trebuchet MS" panose="020B0603020202020204" pitchFamily="34" charset="0"/>
              <a:ea typeface="Microsoft YaHei" panose="020B0503020204020204" pitchFamily="34" charset="-122"/>
            </a:endParaRPr>
          </a:p>
          <a:p>
            <a:pPr marL="324000" lvl="1" indent="-216000" defTabSz="685800">
              <a:buClr>
                <a:schemeClr val="tx2"/>
              </a:buClr>
              <a:buFont typeface="Trebuchet MS" panose="020B0603020202020204" pitchFamily="34" charset="0"/>
              <a:buChar char="•"/>
              <a:defRPr/>
            </a:pPr>
            <a:r>
              <a:rPr lang="zh-TW" altLang="en-US" sz="1400">
                <a:latin typeface="Trebuchet MS" panose="020B0603020202020204" pitchFamily="34" charset="0"/>
                <a:ea typeface="Microsoft YaHei" panose="020B0503020204020204" pitchFamily="34" charset="-122"/>
              </a:rPr>
              <a:t>尚未針對特定客戶提出管道、産品、時間建議</a:t>
            </a:r>
            <a:endParaRPr lang="en-US" altLang="zh-TW" sz="1400">
              <a:latin typeface="Trebuchet MS" panose="020B0603020202020204" pitchFamily="34" charset="0"/>
              <a:ea typeface="Microsoft YaHei" panose="020B0503020204020204" pitchFamily="34" charset="-122"/>
            </a:endParaRPr>
          </a:p>
        </p:txBody>
      </p:sp>
      <p:sp>
        <p:nvSpPr>
          <p:cNvPr id="25" name="TextBox 24">
            <a:extLst>
              <a:ext uri="{FF2B5EF4-FFF2-40B4-BE49-F238E27FC236}">
                <a16:creationId xmlns:a16="http://schemas.microsoft.com/office/drawing/2014/main" id="{74C13036-39DE-4E04-D8E8-E83BB2A33632}"/>
              </a:ext>
            </a:extLst>
          </p:cNvPr>
          <p:cNvSpPr txBox="1"/>
          <p:nvPr/>
        </p:nvSpPr>
        <p:spPr>
          <a:xfrm>
            <a:off x="3514648" y="3278395"/>
            <a:ext cx="2699013" cy="1048147"/>
          </a:xfrm>
          <a:prstGeom prst="rect">
            <a:avLst/>
          </a:prstGeom>
          <a:noFill/>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txBody>
          <a:bodyPr wrap="square" lIns="93761" tIns="92285" rIns="93761" bIns="92285" rtlCol="0" anchor="t">
            <a:spAutoFit/>
          </a:bodyPr>
          <a:lstStyle/>
          <a:p>
            <a:pPr marL="324000" lvl="1" indent="-216000" defTabSz="685800">
              <a:buClr>
                <a:schemeClr val="tx2"/>
              </a:buClr>
              <a:buFont typeface="Trebuchet MS" panose="020B0603020202020204" pitchFamily="34" charset="0"/>
              <a:buChar char="•"/>
              <a:defRPr/>
            </a:pPr>
            <a:r>
              <a:rPr lang="zh-TW" altLang="en-US" sz="1400">
                <a:latin typeface="Trebuchet MS" panose="020B0603020202020204" pitchFamily="34" charset="0"/>
                <a:ea typeface="Microsoft YaHei" panose="020B0503020204020204" pitchFamily="34" charset="-122"/>
              </a:rPr>
              <a:t>目前以</a:t>
            </a:r>
            <a:r>
              <a:rPr lang="zh-TW" altLang="en-US" sz="1400">
                <a:solidFill>
                  <a:srgbClr val="E71C57"/>
                </a:solidFill>
                <a:latin typeface="Trebuchet MS" panose="020B0603020202020204" pitchFamily="34" charset="0"/>
                <a:ea typeface="Microsoft YaHei" panose="020B0503020204020204" pitchFamily="34" charset="-122"/>
              </a:rPr>
              <a:t>行內數據為主</a:t>
            </a:r>
            <a:endParaRPr lang="en-US" altLang="zh-TW" sz="1400">
              <a:solidFill>
                <a:srgbClr val="E71C57"/>
              </a:solidFill>
              <a:latin typeface="Trebuchet MS" panose="020B0603020202020204" pitchFamily="34" charset="0"/>
              <a:ea typeface="Microsoft YaHei" panose="020B0503020204020204" pitchFamily="34" charset="-122"/>
            </a:endParaRPr>
          </a:p>
          <a:p>
            <a:pPr marL="324000" lvl="1" indent="-216000" defTabSz="685800">
              <a:buClr>
                <a:schemeClr val="tx2"/>
              </a:buClr>
              <a:buFont typeface="Trebuchet MS" panose="020B0603020202020204" pitchFamily="34" charset="0"/>
              <a:buChar char="•"/>
              <a:defRPr/>
            </a:pPr>
            <a:r>
              <a:rPr lang="zh-TW" altLang="en-US" sz="1400">
                <a:latin typeface="Trebuchet MS" panose="020B0603020202020204" pitchFamily="34" charset="0"/>
                <a:ea typeface="Microsoft YaHei" panose="020B0503020204020204" pitchFamily="34" charset="-122"/>
              </a:rPr>
              <a:t>參數主要包含資産規模狀况、收益狀况、産品餘額、往來期間、年齡</a:t>
            </a:r>
            <a:endParaRPr lang="en-US" altLang="zh-TW" sz="1400">
              <a:latin typeface="Trebuchet MS" panose="020B0603020202020204" pitchFamily="34" charset="0"/>
              <a:ea typeface="Microsoft YaHei" panose="020B0503020204020204" pitchFamily="34" charset="-122"/>
            </a:endParaRPr>
          </a:p>
        </p:txBody>
      </p:sp>
      <p:sp>
        <p:nvSpPr>
          <p:cNvPr id="27" name="TextBox 26">
            <a:extLst>
              <a:ext uri="{FF2B5EF4-FFF2-40B4-BE49-F238E27FC236}">
                <a16:creationId xmlns:a16="http://schemas.microsoft.com/office/drawing/2014/main" id="{6CDDC632-60E8-46EB-68FD-D8E54452B2FD}"/>
              </a:ext>
            </a:extLst>
          </p:cNvPr>
          <p:cNvSpPr txBox="1"/>
          <p:nvPr/>
        </p:nvSpPr>
        <p:spPr>
          <a:xfrm>
            <a:off x="6197174" y="3278395"/>
            <a:ext cx="2699013" cy="1610447"/>
          </a:xfrm>
          <a:prstGeom prst="rect">
            <a:avLst/>
          </a:prstGeom>
          <a:noFill/>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txBody>
          <a:bodyPr wrap="square" lIns="93761" tIns="92285" rIns="93761" bIns="92285" rtlCol="0" anchor="t">
            <a:noAutofit/>
          </a:bodyPr>
          <a:lstStyle/>
          <a:p>
            <a:pPr marL="324000" lvl="1" indent="-216000" defTabSz="685800">
              <a:buClr>
                <a:schemeClr val="tx2"/>
              </a:buClr>
              <a:buFont typeface="Trebuchet MS" panose="020B0603020202020204" pitchFamily="34" charset="0"/>
              <a:buChar char="•"/>
              <a:defRPr/>
            </a:pPr>
            <a:r>
              <a:rPr lang="zh-TW" altLang="en-US" sz="1400">
                <a:latin typeface="Trebuchet MS" panose="020B0603020202020204" pitchFamily="34" charset="0"/>
                <a:ea typeface="Microsoft YaHei" panose="020B0503020204020204" pitchFamily="34" charset="-122"/>
              </a:rPr>
              <a:t>客戶升級</a:t>
            </a:r>
            <a:r>
              <a:rPr lang="en-US" altLang="zh-TW" sz="1400">
                <a:latin typeface="Trebuchet MS" panose="020B0603020202020204" pitchFamily="34" charset="0"/>
                <a:ea typeface="Microsoft YaHei" panose="020B0503020204020204" pitchFamily="34" charset="-122"/>
              </a:rPr>
              <a:t>:</a:t>
            </a:r>
            <a:r>
              <a:rPr lang="zh-TW" altLang="en-US" sz="1400">
                <a:latin typeface="Trebuchet MS" panose="020B0603020202020204" pitchFamily="34" charset="0"/>
                <a:ea typeface="Microsoft YaHei" panose="020B0503020204020204" pitchFamily="34" charset="-122"/>
              </a:rPr>
              <a:t> 傾向模型産生潜力名單後，交由</a:t>
            </a:r>
            <a:r>
              <a:rPr lang="zh-TW" altLang="en-US" sz="1400">
                <a:solidFill>
                  <a:srgbClr val="E71C57"/>
                </a:solidFill>
                <a:latin typeface="Trebuchet MS" panose="020B0603020202020204" pitchFamily="34" charset="0"/>
                <a:ea typeface="Microsoft YaHei" panose="020B0503020204020204" pitchFamily="34" charset="-122"/>
              </a:rPr>
              <a:t>理專</a:t>
            </a:r>
            <a:r>
              <a:rPr lang="en-US" altLang="zh-TW" sz="1400">
                <a:solidFill>
                  <a:srgbClr val="E71C57"/>
                </a:solidFill>
                <a:latin typeface="Trebuchet MS" panose="020B0603020202020204" pitchFamily="34" charset="0"/>
                <a:ea typeface="Microsoft YaHei" panose="020B0503020204020204" pitchFamily="34" charset="-122"/>
              </a:rPr>
              <a:t>/PBO</a:t>
            </a:r>
            <a:r>
              <a:rPr lang="zh-TW" altLang="en-US" sz="1400">
                <a:solidFill>
                  <a:srgbClr val="E71C57"/>
                </a:solidFill>
                <a:latin typeface="Trebuchet MS" panose="020B0603020202020204" pitchFamily="34" charset="0"/>
                <a:ea typeface="Microsoft YaHei" panose="020B0503020204020204" pitchFamily="34" charset="-122"/>
              </a:rPr>
              <a:t>團隊聯繫、瞭解客戶需求</a:t>
            </a:r>
            <a:endParaRPr lang="en-US" altLang="zh-TW" sz="1400">
              <a:solidFill>
                <a:srgbClr val="E71C57"/>
              </a:solidFill>
              <a:latin typeface="Trebuchet MS" panose="020B0603020202020204" pitchFamily="34" charset="0"/>
              <a:ea typeface="Microsoft YaHei" panose="020B0503020204020204" pitchFamily="34" charset="-122"/>
            </a:endParaRPr>
          </a:p>
          <a:p>
            <a:pPr marL="324000" lvl="1" indent="-216000" defTabSz="685800">
              <a:buClr>
                <a:schemeClr val="tx2"/>
              </a:buClr>
              <a:buFont typeface="Trebuchet MS" panose="020B0603020202020204" pitchFamily="34" charset="0"/>
              <a:buChar char="•"/>
              <a:defRPr/>
            </a:pPr>
            <a:r>
              <a:rPr lang="zh-TW" altLang="en-US" sz="1400">
                <a:latin typeface="Trebuchet MS" panose="020B0603020202020204" pitchFamily="34" charset="0"/>
                <a:ea typeface="Microsoft YaHei" panose="020B0503020204020204" pitchFamily="34" charset="-122"/>
              </a:rPr>
              <a:t>產品活動</a:t>
            </a:r>
            <a:r>
              <a:rPr lang="en-US" altLang="zh-TW" sz="1400">
                <a:latin typeface="Trebuchet MS" panose="020B0603020202020204" pitchFamily="34" charset="0"/>
                <a:ea typeface="Microsoft YaHei" panose="020B0503020204020204" pitchFamily="34" charset="-122"/>
              </a:rPr>
              <a:t>:</a:t>
            </a:r>
            <a:r>
              <a:rPr lang="zh-TW" altLang="en-US" sz="1400">
                <a:latin typeface="Trebuchet MS" panose="020B0603020202020204" pitchFamily="34" charset="0"/>
                <a:ea typeface="Microsoft YaHei" panose="020B0503020204020204" pitchFamily="34" charset="-122"/>
              </a:rPr>
              <a:t> 由</a:t>
            </a:r>
            <a:r>
              <a:rPr lang="zh-TW" altLang="en-US" sz="1400">
                <a:solidFill>
                  <a:srgbClr val="E71C57"/>
                </a:solidFill>
                <a:latin typeface="Trebuchet MS" panose="020B0603020202020204" pitchFamily="34" charset="0"/>
                <a:ea typeface="Microsoft YaHei" panose="020B0503020204020204" pitchFamily="34" charset="-122"/>
              </a:rPr>
              <a:t>產品</a:t>
            </a:r>
            <a:r>
              <a:rPr lang="en-US" altLang="zh-TW" sz="1400">
                <a:solidFill>
                  <a:srgbClr val="E71C57"/>
                </a:solidFill>
                <a:latin typeface="Trebuchet MS" panose="020B0603020202020204" pitchFamily="34" charset="0"/>
                <a:ea typeface="Microsoft YaHei" panose="020B0503020204020204" pitchFamily="34" charset="-122"/>
              </a:rPr>
              <a:t>PM</a:t>
            </a:r>
            <a:r>
              <a:rPr lang="zh-TW" altLang="en-US" sz="1400">
                <a:solidFill>
                  <a:srgbClr val="E71C57"/>
                </a:solidFill>
                <a:latin typeface="Trebuchet MS" panose="020B0603020202020204" pitchFamily="34" charset="0"/>
                <a:ea typeface="Microsoft YaHei" panose="020B0503020204020204" pitchFamily="34" charset="-122"/>
              </a:rPr>
              <a:t>向數據團隊提出目標畫像</a:t>
            </a:r>
            <a:r>
              <a:rPr lang="zh-TW" altLang="en-US" sz="1400">
                <a:latin typeface="Trebuchet MS" panose="020B0603020202020204" pitchFamily="34" charset="0"/>
                <a:ea typeface="Microsoft YaHei" panose="020B0503020204020204" pitchFamily="34" charset="-122"/>
              </a:rPr>
              <a:t>，數據團隊協助提供潛在名單</a:t>
            </a:r>
            <a:endParaRPr lang="en-US" altLang="zh-TW" sz="1400">
              <a:latin typeface="Trebuchet MS" panose="020B0603020202020204" pitchFamily="34" charset="0"/>
              <a:ea typeface="Microsoft YaHei" panose="020B0503020204020204" pitchFamily="34" charset="-122"/>
            </a:endParaRPr>
          </a:p>
          <a:p>
            <a:pPr marL="324000" lvl="1" indent="-216000" defTabSz="685800">
              <a:buClr>
                <a:schemeClr val="tx2"/>
              </a:buClr>
              <a:buFont typeface="Trebuchet MS" panose="020B0603020202020204" pitchFamily="34" charset="0"/>
              <a:buChar char="•"/>
              <a:defRPr/>
            </a:pPr>
            <a:r>
              <a:rPr lang="zh-TW" altLang="en-US" sz="1400">
                <a:solidFill>
                  <a:srgbClr val="E71C57"/>
                </a:solidFill>
                <a:latin typeface="Trebuchet MS" panose="020B0603020202020204" pitchFamily="34" charset="0"/>
                <a:ea typeface="Microsoft YaHei" panose="020B0503020204020204" pitchFamily="34" charset="-122"/>
              </a:rPr>
              <a:t>無專責</a:t>
            </a:r>
            <a:r>
              <a:rPr lang="en-US" altLang="zh-TW" sz="1400">
                <a:solidFill>
                  <a:srgbClr val="E71C57"/>
                </a:solidFill>
                <a:latin typeface="Trebuchet MS" panose="020B0603020202020204" pitchFamily="34" charset="0"/>
                <a:ea typeface="Microsoft YaHei" panose="020B0503020204020204" pitchFamily="34" charset="-122"/>
              </a:rPr>
              <a:t>M</a:t>
            </a:r>
            <a:r>
              <a:rPr lang="zh-TW" altLang="en-US" sz="1400">
                <a:solidFill>
                  <a:srgbClr val="E71C57"/>
                </a:solidFill>
                <a:latin typeface="Trebuchet MS" panose="020B0603020202020204" pitchFamily="34" charset="0"/>
                <a:ea typeface="Microsoft YaHei" panose="020B0503020204020204" pitchFamily="34" charset="-122"/>
              </a:rPr>
              <a:t>客經營團隊</a:t>
            </a:r>
            <a:endParaRPr lang="en-US" altLang="zh-TW" sz="1400">
              <a:solidFill>
                <a:srgbClr val="E71C57"/>
              </a:solidFill>
              <a:latin typeface="Trebuchet MS" panose="020B0603020202020204" pitchFamily="34" charset="0"/>
              <a:ea typeface="Microsoft YaHei" panose="020B0503020204020204" pitchFamily="34" charset="-122"/>
            </a:endParaRPr>
          </a:p>
        </p:txBody>
      </p:sp>
      <p:sp>
        <p:nvSpPr>
          <p:cNvPr id="29" name="TextBox 28">
            <a:extLst>
              <a:ext uri="{FF2B5EF4-FFF2-40B4-BE49-F238E27FC236}">
                <a16:creationId xmlns:a16="http://schemas.microsoft.com/office/drawing/2014/main" id="{E4A7FEA6-ABB6-45F9-CF63-4F8BDBE6B0FF}"/>
              </a:ext>
            </a:extLst>
          </p:cNvPr>
          <p:cNvSpPr txBox="1"/>
          <p:nvPr/>
        </p:nvSpPr>
        <p:spPr>
          <a:xfrm>
            <a:off x="8833585" y="3278394"/>
            <a:ext cx="2699013" cy="1048147"/>
          </a:xfrm>
          <a:prstGeom prst="rect">
            <a:avLst/>
          </a:prstGeom>
          <a:noFill/>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txBody>
          <a:bodyPr wrap="square" lIns="93761" tIns="92285" rIns="93761" bIns="92285" rtlCol="0" anchor="t">
            <a:spAutoFit/>
          </a:bodyPr>
          <a:lstStyle/>
          <a:p>
            <a:pPr marL="324000" lvl="1" indent="-216000" defTabSz="685800">
              <a:buClr>
                <a:schemeClr val="tx2"/>
              </a:buClr>
              <a:buFont typeface="Trebuchet MS" panose="020B0603020202020204" pitchFamily="34" charset="0"/>
              <a:buChar char="•"/>
              <a:defRPr/>
            </a:pPr>
            <a:r>
              <a:rPr lang="zh-TW" altLang="en-US" sz="1400">
                <a:latin typeface="Trebuchet MS" panose="020B0603020202020204" pitchFamily="34" charset="0"/>
                <a:ea typeface="Microsoft YaHei" panose="020B0503020204020204" pitchFamily="34" charset="-122"/>
              </a:rPr>
              <a:t>客戶升級</a:t>
            </a:r>
            <a:r>
              <a:rPr lang="en-US" altLang="zh-TW" sz="1400">
                <a:latin typeface="Trebuchet MS" panose="020B0603020202020204" pitchFamily="34" charset="0"/>
                <a:ea typeface="Microsoft YaHei" panose="020B0503020204020204" pitchFamily="34" charset="-122"/>
              </a:rPr>
              <a:t>:</a:t>
            </a:r>
            <a:r>
              <a:rPr lang="zh-TW" altLang="en-US" sz="1400">
                <a:latin typeface="Trebuchet MS" panose="020B0603020202020204" pitchFamily="34" charset="0"/>
                <a:ea typeface="Microsoft YaHei" panose="020B0503020204020204" pitchFamily="34" charset="-122"/>
              </a:rPr>
              <a:t> 目前針對潜力名單追踪六個月後成效</a:t>
            </a:r>
            <a:endParaRPr lang="en-US" altLang="zh-TW" sz="1400">
              <a:latin typeface="Trebuchet MS" panose="020B0603020202020204" pitchFamily="34" charset="0"/>
              <a:ea typeface="Microsoft YaHei" panose="020B0503020204020204" pitchFamily="34" charset="-122"/>
            </a:endParaRPr>
          </a:p>
          <a:p>
            <a:pPr marL="324000" lvl="1" indent="-216000" defTabSz="685800">
              <a:buClr>
                <a:schemeClr val="tx2"/>
              </a:buClr>
              <a:buFont typeface="Trebuchet MS" panose="020B0603020202020204" pitchFamily="34" charset="0"/>
              <a:buChar char="•"/>
              <a:defRPr/>
            </a:pPr>
            <a:r>
              <a:rPr lang="zh-TW" altLang="en-US" sz="1400">
                <a:latin typeface="Trebuchet MS" panose="020B0603020202020204" pitchFamily="34" charset="0"/>
                <a:ea typeface="Microsoft YaHei" panose="020B0503020204020204" pitchFamily="34" charset="-122"/>
              </a:rPr>
              <a:t>產品活動</a:t>
            </a:r>
            <a:r>
              <a:rPr lang="en-US" altLang="zh-TW" sz="1400">
                <a:latin typeface="Trebuchet MS" panose="020B0603020202020204" pitchFamily="34" charset="0"/>
                <a:ea typeface="Microsoft YaHei" panose="020B0503020204020204" pitchFamily="34" charset="-122"/>
              </a:rPr>
              <a:t>:</a:t>
            </a:r>
            <a:r>
              <a:rPr lang="zh-TW" altLang="en-US" sz="1400">
                <a:latin typeface="Trebuchet MS" panose="020B0603020202020204" pitchFamily="34" charset="0"/>
                <a:ea typeface="Microsoft YaHei" panose="020B0503020204020204" pitchFamily="34" charset="-122"/>
              </a:rPr>
              <a:t> 由產品</a:t>
            </a:r>
            <a:r>
              <a:rPr lang="en-US" altLang="zh-TW" sz="1400">
                <a:latin typeface="Trebuchet MS" panose="020B0603020202020204" pitchFamily="34" charset="0"/>
                <a:ea typeface="Microsoft YaHei" panose="020B0503020204020204" pitchFamily="34" charset="-122"/>
              </a:rPr>
              <a:t>PM</a:t>
            </a:r>
            <a:r>
              <a:rPr lang="zh-TW" altLang="en-US" sz="1400">
                <a:latin typeface="Trebuchet MS" panose="020B0603020202020204" pitchFamily="34" charset="0"/>
                <a:ea typeface="Microsoft YaHei" panose="020B0503020204020204" pitchFamily="34" charset="-122"/>
              </a:rPr>
              <a:t>追踪其各活動成效</a:t>
            </a:r>
            <a:endParaRPr lang="en-US" altLang="zh-TW" sz="1400">
              <a:latin typeface="Trebuchet MS" panose="020B0603020202020204" pitchFamily="34" charset="0"/>
              <a:ea typeface="Microsoft YaHei" panose="020B0503020204020204" pitchFamily="34" charset="-122"/>
            </a:endParaRPr>
          </a:p>
        </p:txBody>
      </p:sp>
      <p:sp>
        <p:nvSpPr>
          <p:cNvPr id="33" name="Rectangle 32">
            <a:extLst>
              <a:ext uri="{FF2B5EF4-FFF2-40B4-BE49-F238E27FC236}">
                <a16:creationId xmlns:a16="http://schemas.microsoft.com/office/drawing/2014/main" id="{14670DCC-2D81-2B17-4CC3-84DD70187D3F}"/>
              </a:ext>
            </a:extLst>
          </p:cNvPr>
          <p:cNvSpPr/>
          <p:nvPr/>
        </p:nvSpPr>
        <p:spPr>
          <a:xfrm>
            <a:off x="630001" y="4937191"/>
            <a:ext cx="377528" cy="1223896"/>
          </a:xfrm>
          <a:prstGeom prst="rect">
            <a:avLst/>
          </a:prstGeom>
          <a:solidFill>
            <a:srgbClr val="03522D"/>
          </a:solid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6800" rIns="91440" bIns="45720" numCol="1" spcCol="0" rtlCol="0" fromWordArt="0" anchor="ctr" anchorCtr="0" forceAA="0" compatLnSpc="1">
            <a:prstTxWarp prst="textNoShape">
              <a:avLst/>
            </a:prstTxWarp>
            <a:noAutofit/>
          </a:bodyPr>
          <a:lstStyle/>
          <a:p>
            <a:pPr algn="ctr"/>
            <a:r>
              <a:rPr lang="zh-TW" altLang="en-US" sz="1600" b="1">
                <a:solidFill>
                  <a:srgbClr val="FFFFFF"/>
                </a:solidFill>
                <a:effectLst>
                  <a:outerShdw blurRad="50800" dist="38100" dir="2700000" algn="tl" rotWithShape="0">
                    <a:prstClr val="black">
                      <a:alpha val="40000"/>
                    </a:prstClr>
                  </a:outerShdw>
                </a:effectLst>
                <a:latin typeface="Trebuchet MS"/>
                <a:ea typeface="Microsoft YaHei" panose="020B0503020204020204" pitchFamily="34" charset="-122"/>
                <a:sym typeface="+mn-lt"/>
              </a:rPr>
              <a:t>下一步</a:t>
            </a:r>
            <a:endParaRPr lang="en-US" sz="1600" b="1">
              <a:solidFill>
                <a:srgbClr val="FFFFFF"/>
              </a:solidFill>
              <a:effectLst>
                <a:outerShdw blurRad="50800" dist="38100" dir="2700000" algn="tl" rotWithShape="0">
                  <a:prstClr val="black">
                    <a:alpha val="40000"/>
                  </a:prstClr>
                </a:outerShdw>
              </a:effectLst>
              <a:latin typeface="Trebuchet MS"/>
              <a:ea typeface="Microsoft YaHei" panose="020B0503020204020204" pitchFamily="34" charset="-122"/>
              <a:sym typeface="+mn-lt"/>
            </a:endParaRPr>
          </a:p>
        </p:txBody>
      </p:sp>
      <p:sp>
        <p:nvSpPr>
          <p:cNvPr id="42" name="TextBox 41">
            <a:extLst>
              <a:ext uri="{FF2B5EF4-FFF2-40B4-BE49-F238E27FC236}">
                <a16:creationId xmlns:a16="http://schemas.microsoft.com/office/drawing/2014/main" id="{E09B379B-3E0F-5A3B-C311-2032893CCDD1}"/>
              </a:ext>
            </a:extLst>
          </p:cNvPr>
          <p:cNvSpPr txBox="1"/>
          <p:nvPr/>
        </p:nvSpPr>
        <p:spPr>
          <a:xfrm>
            <a:off x="915270" y="4937192"/>
            <a:ext cx="2699013" cy="1048147"/>
          </a:xfrm>
          <a:prstGeom prst="rect">
            <a:avLst/>
          </a:prstGeom>
          <a:noFill/>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txBody>
          <a:bodyPr wrap="square" lIns="93761" tIns="92285" rIns="93761" bIns="92285" rtlCol="0" anchor="t">
            <a:spAutoFit/>
          </a:bodyPr>
          <a:lstStyle/>
          <a:p>
            <a:pPr marL="324000" lvl="1" indent="-216000" defTabSz="685800">
              <a:buClr>
                <a:schemeClr val="tx2"/>
              </a:buClr>
              <a:buFont typeface="Trebuchet MS" panose="020B0603020202020204" pitchFamily="34" charset="0"/>
              <a:buChar char="•"/>
              <a:defRPr/>
            </a:pPr>
            <a:r>
              <a:rPr lang="zh-TW" altLang="en-US" sz="1400">
                <a:solidFill>
                  <a:srgbClr val="29BA74"/>
                </a:solidFill>
                <a:latin typeface="Trebuchet MS" panose="020B0603020202020204" pitchFamily="34" charset="0"/>
                <a:ea typeface="Microsoft YaHei" panose="020B0503020204020204" pitchFamily="34" charset="-122"/>
              </a:rPr>
              <a:t>規模化既有模型</a:t>
            </a:r>
            <a:r>
              <a:rPr lang="zh-TW" altLang="en-US" sz="1400">
                <a:solidFill>
                  <a:srgbClr val="575757"/>
                </a:solidFill>
                <a:latin typeface="Trebuchet MS" panose="020B0603020202020204" pitchFamily="34" charset="0"/>
                <a:ea typeface="Microsoft YaHei" panose="020B0503020204020204" pitchFamily="34" charset="-122"/>
              </a:rPr>
              <a:t>，涵蓋所有</a:t>
            </a:r>
            <a:r>
              <a:rPr lang="en-US" altLang="zh-TW" sz="1400">
                <a:solidFill>
                  <a:srgbClr val="575757"/>
                </a:solidFill>
                <a:latin typeface="Trebuchet MS" panose="020B0603020202020204" pitchFamily="34" charset="0"/>
                <a:ea typeface="Microsoft YaHei" panose="020B0503020204020204" pitchFamily="34" charset="-122"/>
              </a:rPr>
              <a:t>M</a:t>
            </a:r>
            <a:r>
              <a:rPr lang="zh-TW" altLang="en-US" sz="1400">
                <a:solidFill>
                  <a:srgbClr val="575757"/>
                </a:solidFill>
                <a:latin typeface="Trebuchet MS" panose="020B0603020202020204" pitchFamily="34" charset="0"/>
                <a:ea typeface="Microsoft YaHei" panose="020B0503020204020204" pitchFamily="34" charset="-122"/>
              </a:rPr>
              <a:t>客</a:t>
            </a:r>
            <a:endParaRPr lang="en-US" altLang="zh-TW" sz="1400">
              <a:solidFill>
                <a:srgbClr val="575757"/>
              </a:solidFill>
              <a:latin typeface="Trebuchet MS" panose="020B0603020202020204" pitchFamily="34" charset="0"/>
              <a:ea typeface="Microsoft YaHei" panose="020B0503020204020204" pitchFamily="34" charset="-122"/>
            </a:endParaRPr>
          </a:p>
          <a:p>
            <a:pPr marL="324000" lvl="1" indent="-216000" defTabSz="685800">
              <a:buClr>
                <a:schemeClr val="tx2"/>
              </a:buClr>
              <a:buFont typeface="Trebuchet MS" panose="020B0603020202020204" pitchFamily="34" charset="0"/>
              <a:buChar char="•"/>
              <a:defRPr/>
            </a:pPr>
            <a:r>
              <a:rPr lang="zh-TW" altLang="en-US" sz="1400">
                <a:solidFill>
                  <a:srgbClr val="575757"/>
                </a:solidFill>
                <a:latin typeface="Trebuchet MS" panose="020B0603020202020204" pitchFamily="34" charset="0"/>
                <a:ea typeface="Microsoft YaHei" panose="020B0503020204020204" pitchFamily="34" charset="-122"/>
              </a:rPr>
              <a:t>進一步</a:t>
            </a:r>
            <a:r>
              <a:rPr lang="zh-TW" altLang="en-US" sz="1400">
                <a:solidFill>
                  <a:srgbClr val="29BA74"/>
                </a:solidFill>
                <a:latin typeface="Trebuchet MS" panose="020B0603020202020204" pitchFamily="34" charset="0"/>
                <a:ea typeface="Microsoft YaHei" panose="020B0503020204020204" pitchFamily="34" charset="-122"/>
              </a:rPr>
              <a:t>加入客戶路徑思維</a:t>
            </a:r>
            <a:r>
              <a:rPr lang="zh-TW" altLang="en-US" sz="1400">
                <a:solidFill>
                  <a:srgbClr val="575757"/>
                </a:solidFill>
                <a:latin typeface="Trebuchet MS" panose="020B0603020202020204" pitchFamily="34" charset="0"/>
                <a:ea typeface="Microsoft YaHei" panose="020B0503020204020204" pitchFamily="34" charset="-122"/>
              </a:rPr>
              <a:t>，以模型識別下一最佳産品</a:t>
            </a:r>
            <a:endParaRPr lang="en-US" altLang="zh-TW" sz="1400">
              <a:solidFill>
                <a:srgbClr val="575757"/>
              </a:solidFill>
              <a:latin typeface="Trebuchet MS" panose="020B0603020202020204" pitchFamily="34" charset="0"/>
              <a:ea typeface="Microsoft YaHei" panose="020B0503020204020204" pitchFamily="34" charset="-122"/>
            </a:endParaRPr>
          </a:p>
        </p:txBody>
      </p:sp>
      <p:sp>
        <p:nvSpPr>
          <p:cNvPr id="43" name="TextBox 42">
            <a:extLst>
              <a:ext uri="{FF2B5EF4-FFF2-40B4-BE49-F238E27FC236}">
                <a16:creationId xmlns:a16="http://schemas.microsoft.com/office/drawing/2014/main" id="{BBA0B5C6-5C7F-7573-8BC1-FE731A7C7A1A}"/>
              </a:ext>
            </a:extLst>
          </p:cNvPr>
          <p:cNvSpPr txBox="1"/>
          <p:nvPr/>
        </p:nvSpPr>
        <p:spPr>
          <a:xfrm>
            <a:off x="3514648" y="4937192"/>
            <a:ext cx="2699013" cy="1263590"/>
          </a:xfrm>
          <a:prstGeom prst="rect">
            <a:avLst/>
          </a:prstGeom>
          <a:noFill/>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txBody>
          <a:bodyPr wrap="square" lIns="93761" tIns="92285" rIns="93761" bIns="92285" rtlCol="0" anchor="t">
            <a:spAutoFit/>
          </a:bodyPr>
          <a:lstStyle/>
          <a:p>
            <a:pPr marL="324000" lvl="1" indent="-216000" defTabSz="685800">
              <a:buClr>
                <a:schemeClr val="tx2"/>
              </a:buClr>
              <a:buFont typeface="Trebuchet MS" panose="020B0603020202020204" pitchFamily="34" charset="0"/>
              <a:buChar char="•"/>
              <a:defRPr/>
            </a:pPr>
            <a:r>
              <a:rPr lang="zh-TW" altLang="en-US" sz="1400">
                <a:solidFill>
                  <a:srgbClr val="29BA74"/>
                </a:solidFill>
                <a:latin typeface="Trebuchet MS" panose="020B0603020202020204" pitchFamily="34" charset="0"/>
                <a:ea typeface="Microsoft YaHei" panose="020B0503020204020204" pitchFamily="34" charset="-122"/>
              </a:rPr>
              <a:t>識別潜在數據合作夥伴</a:t>
            </a:r>
            <a:r>
              <a:rPr lang="zh-TW" altLang="en-US" sz="1400">
                <a:solidFill>
                  <a:srgbClr val="575757"/>
                </a:solidFill>
                <a:latin typeface="Trebuchet MS" panose="020B0603020202020204" pitchFamily="34" charset="0"/>
                <a:ea typeface="Microsoft YaHei" panose="020B0503020204020204" pitchFamily="34" charset="-122"/>
              </a:rPr>
              <a:t>，擴大基礎數據 </a:t>
            </a:r>
            <a:r>
              <a:rPr lang="en-US" altLang="zh-TW" sz="1400" i="1">
                <a:solidFill>
                  <a:srgbClr val="575757"/>
                </a:solidFill>
                <a:latin typeface="Trebuchet MS" panose="020B0603020202020204" pitchFamily="34" charset="0"/>
                <a:ea typeface="Microsoft YaHei" panose="020B0503020204020204" pitchFamily="34" charset="-122"/>
              </a:rPr>
              <a:t>(</a:t>
            </a:r>
            <a:r>
              <a:rPr lang="zh-TW" altLang="en-US" sz="1400" i="1">
                <a:solidFill>
                  <a:srgbClr val="575757"/>
                </a:solidFill>
                <a:latin typeface="Trebuchet MS" panose="020B0603020202020204" pitchFamily="34" charset="0"/>
                <a:ea typeface="Microsoft YaHei" panose="020B0503020204020204" pitchFamily="34" charset="-122"/>
              </a:rPr>
              <a:t>洽談中</a:t>
            </a:r>
            <a:r>
              <a:rPr lang="en-US" altLang="zh-TW" sz="1400" i="1">
                <a:solidFill>
                  <a:srgbClr val="575757"/>
                </a:solidFill>
                <a:latin typeface="Trebuchet MS" panose="020B0603020202020204" pitchFamily="34" charset="0"/>
                <a:ea typeface="Microsoft YaHei" panose="020B0503020204020204" pitchFamily="34" charset="-122"/>
              </a:rPr>
              <a:t>)</a:t>
            </a:r>
          </a:p>
          <a:p>
            <a:pPr marL="324000" lvl="1" indent="-216000" defTabSz="685800">
              <a:buClr>
                <a:schemeClr val="tx2"/>
              </a:buClr>
              <a:buFont typeface="Trebuchet MS" panose="020B0603020202020204" pitchFamily="34" charset="0"/>
              <a:buChar char="•"/>
              <a:defRPr/>
            </a:pPr>
            <a:r>
              <a:rPr lang="zh-TW" altLang="en-US" sz="1400">
                <a:solidFill>
                  <a:srgbClr val="29BA74"/>
                </a:solidFill>
                <a:latin typeface="Trebuchet MS" panose="020B0603020202020204" pitchFamily="34" charset="0"/>
                <a:ea typeface="Microsoft YaHei" panose="020B0503020204020204" pitchFamily="34" charset="-122"/>
              </a:rPr>
              <a:t>統一數據管理單位</a:t>
            </a:r>
            <a:r>
              <a:rPr lang="zh-TW" altLang="en-US" sz="1400">
                <a:solidFill>
                  <a:srgbClr val="575757"/>
                </a:solidFill>
                <a:latin typeface="Trebuchet MS" panose="020B0603020202020204" pitchFamily="34" charset="0"/>
                <a:ea typeface="Microsoft YaHei" panose="020B0503020204020204" pitchFamily="34" charset="-122"/>
              </a:rPr>
              <a:t>，串接單一客戶所有資料 </a:t>
            </a:r>
            <a:endParaRPr lang="en-US" altLang="zh-TW" sz="1400">
              <a:solidFill>
                <a:srgbClr val="575757"/>
              </a:solidFill>
              <a:latin typeface="Trebuchet MS" panose="020B0603020202020204" pitchFamily="34" charset="0"/>
              <a:ea typeface="Microsoft YaHei" panose="020B0503020204020204" pitchFamily="34" charset="-122"/>
            </a:endParaRPr>
          </a:p>
          <a:p>
            <a:pPr marL="324000" lvl="1" indent="-216000" defTabSz="685800">
              <a:buClr>
                <a:schemeClr val="tx2"/>
              </a:buClr>
              <a:buFont typeface="Trebuchet MS" panose="020B0603020202020204" pitchFamily="34" charset="0"/>
              <a:buChar char="•"/>
              <a:defRPr/>
            </a:pPr>
            <a:endParaRPr lang="en-US" altLang="zh-TW" sz="1400">
              <a:solidFill>
                <a:srgbClr val="575757"/>
              </a:solidFill>
              <a:latin typeface="Trebuchet MS" panose="020B0603020202020204" pitchFamily="34" charset="0"/>
              <a:ea typeface="Microsoft YaHei" panose="020B0503020204020204" pitchFamily="34" charset="-122"/>
            </a:endParaRPr>
          </a:p>
        </p:txBody>
      </p:sp>
      <p:sp>
        <p:nvSpPr>
          <p:cNvPr id="44" name="TextBox 43">
            <a:extLst>
              <a:ext uri="{FF2B5EF4-FFF2-40B4-BE49-F238E27FC236}">
                <a16:creationId xmlns:a16="http://schemas.microsoft.com/office/drawing/2014/main" id="{56C1896A-EA6E-B965-0901-368B8C314A69}"/>
              </a:ext>
            </a:extLst>
          </p:cNvPr>
          <p:cNvSpPr txBox="1"/>
          <p:nvPr/>
        </p:nvSpPr>
        <p:spPr>
          <a:xfrm>
            <a:off x="6197174" y="4937192"/>
            <a:ext cx="2699013" cy="1223896"/>
          </a:xfrm>
          <a:prstGeom prst="rect">
            <a:avLst/>
          </a:prstGeom>
          <a:noFill/>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txBody>
          <a:bodyPr wrap="square" lIns="93761" tIns="92285" rIns="93761" bIns="92285" rtlCol="0" anchor="t">
            <a:noAutofit/>
          </a:bodyPr>
          <a:lstStyle/>
          <a:p>
            <a:pPr marL="324000" lvl="1" indent="-216000" defTabSz="685800">
              <a:buClr>
                <a:schemeClr val="tx2"/>
              </a:buClr>
              <a:buFont typeface="Trebuchet MS" panose="020B0603020202020204" pitchFamily="34" charset="0"/>
              <a:buChar char="•"/>
              <a:defRPr/>
            </a:pPr>
            <a:r>
              <a:rPr lang="zh-TW" altLang="en-US" sz="1400">
                <a:solidFill>
                  <a:srgbClr val="575757"/>
                </a:solidFill>
                <a:latin typeface="Trebuchet MS" panose="020B0603020202020204" pitchFamily="34" charset="0"/>
                <a:ea typeface="Microsoft YaHei" panose="020B0503020204020204" pitchFamily="34" charset="-122"/>
              </a:rPr>
              <a:t>建立</a:t>
            </a:r>
            <a:r>
              <a:rPr lang="zh-TW" altLang="en-US" sz="1400">
                <a:solidFill>
                  <a:srgbClr val="29BA74"/>
                </a:solidFill>
                <a:latin typeface="Trebuchet MS" panose="020B0603020202020204" pitchFamily="34" charset="0"/>
                <a:ea typeface="Microsoft YaHei" panose="020B0503020204020204" pitchFamily="34" charset="-122"/>
              </a:rPr>
              <a:t>個性化行銷流程</a:t>
            </a:r>
            <a:r>
              <a:rPr lang="zh-TW" altLang="en-US" sz="1400">
                <a:solidFill>
                  <a:srgbClr val="575757"/>
                </a:solidFill>
                <a:latin typeface="Trebuchet MS" panose="020B0603020202020204" pitchFamily="34" charset="0"/>
                <a:ea typeface="Microsoft YaHei" panose="020B0503020204020204" pitchFamily="34" charset="-122"/>
              </a:rPr>
              <a:t>，確保團隊根據模型結果即時承接</a:t>
            </a:r>
            <a:endParaRPr lang="en-US" altLang="zh-TW" sz="1400">
              <a:solidFill>
                <a:srgbClr val="575757"/>
              </a:solidFill>
              <a:latin typeface="Trebuchet MS" panose="020B0603020202020204" pitchFamily="34" charset="0"/>
              <a:ea typeface="Microsoft YaHei" panose="020B0503020204020204" pitchFamily="34" charset="-122"/>
            </a:endParaRPr>
          </a:p>
          <a:p>
            <a:pPr marL="324000" lvl="1" indent="-216000" defTabSz="685800">
              <a:buClr>
                <a:schemeClr val="tx2"/>
              </a:buClr>
              <a:buFont typeface="Trebuchet MS" panose="020B0603020202020204" pitchFamily="34" charset="0"/>
              <a:buChar char="•"/>
              <a:defRPr/>
            </a:pPr>
            <a:r>
              <a:rPr lang="zh-TW" altLang="en-US" sz="1400">
                <a:solidFill>
                  <a:srgbClr val="29BA74"/>
                </a:solidFill>
                <a:latin typeface="Trebuchet MS" panose="020B0603020202020204" pitchFamily="34" charset="0"/>
                <a:ea typeface="Microsoft YaHei" panose="020B0503020204020204" pitchFamily="34" charset="-122"/>
              </a:rPr>
              <a:t>明確各部門職責</a:t>
            </a:r>
            <a:r>
              <a:rPr lang="zh-TW" altLang="en-US" sz="1400">
                <a:solidFill>
                  <a:srgbClr val="575757"/>
                </a:solidFill>
                <a:latin typeface="Trebuchet MS" panose="020B0603020202020204" pitchFamily="34" charset="0"/>
                <a:ea typeface="Microsoft YaHei" panose="020B0503020204020204" pitchFamily="34" charset="-122"/>
              </a:rPr>
              <a:t>，需有團隊發展行銷活動內容、動態調整模型、活動</a:t>
            </a:r>
            <a:endParaRPr lang="en-US" altLang="zh-TW" sz="1400">
              <a:solidFill>
                <a:srgbClr val="575757"/>
              </a:solidFill>
              <a:latin typeface="Trebuchet MS" panose="020B0603020202020204" pitchFamily="34" charset="0"/>
              <a:ea typeface="Microsoft YaHei" panose="020B0503020204020204" pitchFamily="34" charset="-122"/>
            </a:endParaRPr>
          </a:p>
        </p:txBody>
      </p:sp>
      <p:sp>
        <p:nvSpPr>
          <p:cNvPr id="28" name="Textfeld 1">
            <a:extLst>
              <a:ext uri="{FF2B5EF4-FFF2-40B4-BE49-F238E27FC236}">
                <a16:creationId xmlns:a16="http://schemas.microsoft.com/office/drawing/2014/main" id="{5891E592-B66E-ABA9-4CBE-9752BB8C3438}"/>
              </a:ext>
            </a:extLst>
          </p:cNvPr>
          <p:cNvSpPr txBox="1"/>
          <p:nvPr>
            <p:custDataLst>
              <p:tags r:id="rId3"/>
            </p:custDataLst>
          </p:nvPr>
        </p:nvSpPr>
        <p:spPr>
          <a:xfrm>
            <a:off x="5994827" y="4817158"/>
            <a:ext cx="5435800" cy="240066"/>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en-US" sz="1200" b="1">
                <a:solidFill>
                  <a:srgbClr val="575757"/>
                </a:solidFill>
                <a:ea typeface="Microsoft YaHei" panose="020B0503020204020204" pitchFamily="34" charset="-122"/>
                <a:sym typeface="Trebuchet MS" panose="020B0603020202020204" pitchFamily="34" charset="0"/>
              </a:rPr>
              <a:t>Need to follow up with client</a:t>
            </a:r>
          </a:p>
        </p:txBody>
      </p:sp>
      <p:sp>
        <p:nvSpPr>
          <p:cNvPr id="47" name="TextBox 46">
            <a:extLst>
              <a:ext uri="{FF2B5EF4-FFF2-40B4-BE49-F238E27FC236}">
                <a16:creationId xmlns:a16="http://schemas.microsoft.com/office/drawing/2014/main" id="{A87D369F-03B7-9062-7E8D-E2A51202FABD}"/>
              </a:ext>
            </a:extLst>
          </p:cNvPr>
          <p:cNvSpPr txBox="1"/>
          <p:nvPr/>
        </p:nvSpPr>
        <p:spPr>
          <a:xfrm>
            <a:off x="8833585" y="4937192"/>
            <a:ext cx="2699013" cy="1048147"/>
          </a:xfrm>
          <a:prstGeom prst="rect">
            <a:avLst/>
          </a:prstGeom>
          <a:noFill/>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txBody>
          <a:bodyPr wrap="square" lIns="93761" tIns="92285" rIns="93761" bIns="92285" rtlCol="0" anchor="t">
            <a:noAutofit/>
          </a:bodyPr>
          <a:lstStyle/>
          <a:p>
            <a:pPr marL="324000" lvl="1" indent="-216000" defTabSz="685800">
              <a:buClr>
                <a:schemeClr val="tx2"/>
              </a:buClr>
              <a:buFont typeface="Trebuchet MS" panose="020B0603020202020204" pitchFamily="34" charset="0"/>
              <a:buChar char="•"/>
              <a:defRPr/>
            </a:pPr>
            <a:r>
              <a:rPr lang="zh-TW" altLang="en-US" sz="1400">
                <a:solidFill>
                  <a:srgbClr val="575757"/>
                </a:solidFill>
                <a:latin typeface="Trebuchet MS" panose="020B0603020202020204" pitchFamily="34" charset="0"/>
                <a:ea typeface="Microsoft YaHei" panose="020B0503020204020204" pitchFamily="34" charset="-122"/>
              </a:rPr>
              <a:t>建立</a:t>
            </a:r>
            <a:r>
              <a:rPr lang="zh-TW" altLang="en-US" sz="1400">
                <a:solidFill>
                  <a:srgbClr val="29BA74"/>
                </a:solidFill>
                <a:latin typeface="Trebuchet MS" panose="020B0603020202020204" pitchFamily="34" charset="0"/>
                <a:ea typeface="Microsoft YaHei" panose="020B0503020204020204" pitchFamily="34" charset="-122"/>
              </a:rPr>
              <a:t>定期反饋機制</a:t>
            </a:r>
            <a:r>
              <a:rPr lang="zh-TW" altLang="en-US" sz="1400">
                <a:solidFill>
                  <a:srgbClr val="575757"/>
                </a:solidFill>
                <a:latin typeface="Trebuchet MS" panose="020B0603020202020204" pitchFamily="34" charset="0"/>
                <a:ea typeface="Microsoft YaHei" panose="020B0503020204020204" pitchFamily="34" charset="-122"/>
              </a:rPr>
              <a:t>，確保行銷活動成效持續輸入模型</a:t>
            </a:r>
            <a:endParaRPr lang="en-US" altLang="zh-TW" sz="1400">
              <a:solidFill>
                <a:srgbClr val="575757"/>
              </a:solidFill>
              <a:latin typeface="Trebuchet MS" panose="020B0603020202020204" pitchFamily="34" charset="0"/>
              <a:ea typeface="Microsoft YaHei" panose="020B0503020204020204" pitchFamily="34" charset="-122"/>
            </a:endParaRPr>
          </a:p>
          <a:p>
            <a:pPr marL="324000" lvl="1" indent="-216000" defTabSz="685800">
              <a:buClr>
                <a:schemeClr val="tx2"/>
              </a:buClr>
              <a:buFont typeface="Trebuchet MS" panose="020B0603020202020204" pitchFamily="34" charset="0"/>
              <a:buChar char="•"/>
              <a:defRPr/>
            </a:pPr>
            <a:r>
              <a:rPr lang="zh-TW" altLang="en-US" sz="1400">
                <a:solidFill>
                  <a:srgbClr val="575757"/>
                </a:solidFill>
                <a:latin typeface="Trebuchet MS" panose="020B0603020202020204" pitchFamily="34" charset="0"/>
                <a:ea typeface="Microsoft YaHei" panose="020B0503020204020204" pitchFamily="34" charset="-122"/>
              </a:rPr>
              <a:t>明確</a:t>
            </a:r>
            <a:r>
              <a:rPr lang="zh-TW" altLang="en-US" sz="1400">
                <a:solidFill>
                  <a:srgbClr val="29BA74"/>
                </a:solidFill>
                <a:latin typeface="Trebuchet MS" panose="020B0603020202020204" pitchFamily="34" charset="0"/>
                <a:ea typeface="Microsoft YaHei" panose="020B0503020204020204" pitchFamily="34" charset="-122"/>
              </a:rPr>
              <a:t>追蹤指標及</a:t>
            </a:r>
            <a:r>
              <a:rPr lang="en-US" altLang="zh-TW" sz="1400">
                <a:solidFill>
                  <a:srgbClr val="29BA74"/>
                </a:solidFill>
                <a:latin typeface="Trebuchet MS" panose="020B0603020202020204" pitchFamily="34" charset="0"/>
                <a:ea typeface="Microsoft YaHei" panose="020B0503020204020204" pitchFamily="34" charset="-122"/>
              </a:rPr>
              <a:t>M</a:t>
            </a:r>
            <a:r>
              <a:rPr lang="zh-TW" altLang="en-US" sz="1400">
                <a:solidFill>
                  <a:srgbClr val="29BA74"/>
                </a:solidFill>
                <a:latin typeface="Trebuchet MS" panose="020B0603020202020204" pitchFamily="34" charset="0"/>
                <a:ea typeface="Microsoft YaHei" panose="020B0503020204020204" pitchFamily="34" charset="-122"/>
              </a:rPr>
              <a:t>客全域檢視單位</a:t>
            </a:r>
            <a:r>
              <a:rPr lang="zh-TW" altLang="en-US" sz="1400">
                <a:solidFill>
                  <a:srgbClr val="575757"/>
                </a:solidFill>
                <a:latin typeface="Trebuchet MS" panose="020B0603020202020204" pitchFamily="34" charset="0"/>
                <a:ea typeface="Microsoft YaHei" panose="020B0503020204020204" pitchFamily="34" charset="-122"/>
              </a:rPr>
              <a:t>，確保有整體視角</a:t>
            </a:r>
            <a:endParaRPr lang="en-US" altLang="zh-TW" sz="1400">
              <a:solidFill>
                <a:srgbClr val="575757"/>
              </a:solidFill>
              <a:latin typeface="Trebuchet MS" panose="020B0603020202020204" pitchFamily="34" charset="0"/>
              <a:ea typeface="Microsoft YaHei" panose="020B0503020204020204" pitchFamily="34" charset="-122"/>
            </a:endParaRPr>
          </a:p>
        </p:txBody>
      </p:sp>
    </p:spTree>
    <p:extLst>
      <p:ext uri="{BB962C8B-B14F-4D97-AF65-F5344CB8AC3E}">
        <p14:creationId xmlns:p14="http://schemas.microsoft.com/office/powerpoint/2010/main" val="301001217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3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90698E8-30ED-EE96-F80F-3CC36E007927}"/>
              </a:ext>
            </a:extLst>
          </p:cNvPr>
          <p:cNvSpPr>
            <a:spLocks noGrp="1"/>
          </p:cNvSpPr>
          <p:nvPr>
            <p:ph type="title"/>
          </p:nvPr>
        </p:nvSpPr>
        <p:spPr>
          <a:xfrm>
            <a:off x="630000" y="622800"/>
            <a:ext cx="10933350" cy="664797"/>
          </a:xfrm>
        </p:spPr>
        <p:txBody>
          <a:bodyPr vert="horz"/>
          <a:lstStyle/>
          <a:p>
            <a:r>
              <a:rPr lang="zh-TW" altLang="en-US"/>
              <a:t>行業對標</a:t>
            </a:r>
            <a:r>
              <a:rPr lang="en-US" altLang="zh-TW"/>
              <a:t>|</a:t>
            </a:r>
            <a:r>
              <a:rPr lang="zh-TW" altLang="en-US"/>
              <a:t> 各家銀行皆在申請完成後積極啓動客戶，並反覆透過訊息、通知提醒各項優惠及服務</a:t>
            </a:r>
            <a:endParaRPr lang="en-US"/>
          </a:p>
        </p:txBody>
      </p:sp>
      <p:graphicFrame>
        <p:nvGraphicFramePr>
          <p:cNvPr id="45" name="Object 44" hidden="1">
            <a:extLst>
              <a:ext uri="{FF2B5EF4-FFF2-40B4-BE49-F238E27FC236}">
                <a16:creationId xmlns:a16="http://schemas.microsoft.com/office/drawing/2014/main" id="{5AC7BD2F-2AEC-16E9-E69B-E22D9836EEA6}"/>
              </a:ext>
            </a:extLst>
          </p:cNvPr>
          <p:cNvGraphicFramePr>
            <a:graphicFrameLocks noChangeAspect="1"/>
          </p:cNvGraphicFramePr>
          <p:nvPr>
            <p:custDataLst>
              <p:tags r:id="rId1"/>
            </p:custDataLst>
            <p:extLst>
              <p:ext uri="{D42A27DB-BD31-4B8C-83A1-F6EECF244321}">
                <p14:modId xmlns:p14="http://schemas.microsoft.com/office/powerpoint/2010/main" val="123724248"/>
              </p:ext>
            </p:ext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6" imgW="270" imgH="270" progId="TCLayout.ActiveDocument.1">
                  <p:embed/>
                </p:oleObj>
              </mc:Choice>
              <mc:Fallback>
                <p:oleObj name="think-cell Slide" r:id="rId6" imgW="270" imgH="270" progId="TCLayout.ActiveDocument.1">
                  <p:embed/>
                  <p:pic>
                    <p:nvPicPr>
                      <p:cNvPr id="45" name="Object 44" hidden="1">
                        <a:extLst>
                          <a:ext uri="{FF2B5EF4-FFF2-40B4-BE49-F238E27FC236}">
                            <a16:creationId xmlns:a16="http://schemas.microsoft.com/office/drawing/2014/main" id="{5AC7BD2F-2AEC-16E9-E69B-E22D9836EEA6}"/>
                          </a:ext>
                        </a:extLst>
                      </p:cNvPr>
                      <p:cNvPicPr/>
                      <p:nvPr/>
                    </p:nvPicPr>
                    <p:blipFill>
                      <a:blip r:embed="rId7"/>
                      <a:stretch>
                        <a:fillRect/>
                      </a:stretch>
                    </p:blipFill>
                    <p:spPr>
                      <a:xfrm>
                        <a:off x="1588" y="1588"/>
                        <a:ext cx="1587" cy="1587"/>
                      </a:xfrm>
                      <a:prstGeom prst="rect">
                        <a:avLst/>
                      </a:prstGeom>
                    </p:spPr>
                  </p:pic>
                </p:oleObj>
              </mc:Fallback>
            </mc:AlternateContent>
          </a:graphicData>
        </a:graphic>
      </p:graphicFrame>
      <p:sp>
        <p:nvSpPr>
          <p:cNvPr id="46" name="Rectangle 45" hidden="1">
            <a:extLst>
              <a:ext uri="{FF2B5EF4-FFF2-40B4-BE49-F238E27FC236}">
                <a16:creationId xmlns:a16="http://schemas.microsoft.com/office/drawing/2014/main" id="{4395C119-CEDB-52A6-4480-6B0A92915E1C}"/>
              </a:ext>
            </a:extLst>
          </p:cNvPr>
          <p:cNvSpPr/>
          <p:nvPr>
            <p:custDataLst>
              <p:tags r:id="rId2"/>
            </p:custDataLst>
          </p:nvPr>
        </p:nvSpPr>
        <p:spPr bwMode="gray">
          <a:xfrm>
            <a:off x="0" y="0"/>
            <a:ext cx="158750" cy="158750"/>
          </a:xfrm>
          <a:prstGeom prst="rect">
            <a:avLst/>
          </a:prstGeom>
          <a:solidFill>
            <a:schemeClr val="tx2"/>
          </a:solidFill>
          <a:ln w="9525"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spcBef>
                <a:spcPct val="0"/>
              </a:spcBef>
              <a:spcAft>
                <a:spcPct val="0"/>
              </a:spcAft>
            </a:pPr>
            <a:endParaRPr lang="en-US" sz="1600">
              <a:solidFill>
                <a:srgbClr val="FFFFFF"/>
              </a:solidFill>
              <a:latin typeface="Trebuchet MS" panose="020B0603020202020204" pitchFamily="34" charset="0"/>
              <a:sym typeface="Trebuchet MS" panose="020B0603020202020204" pitchFamily="34" charset="0"/>
            </a:endParaRPr>
          </a:p>
        </p:txBody>
      </p:sp>
      <p:sp>
        <p:nvSpPr>
          <p:cNvPr id="19" name="TextBox 18">
            <a:extLst>
              <a:ext uri="{FF2B5EF4-FFF2-40B4-BE49-F238E27FC236}">
                <a16:creationId xmlns:a16="http://schemas.microsoft.com/office/drawing/2014/main" id="{1BBD9D06-CFB3-084B-C368-9B97BFFFDC2E}"/>
              </a:ext>
            </a:extLst>
          </p:cNvPr>
          <p:cNvSpPr txBox="1"/>
          <p:nvPr/>
        </p:nvSpPr>
        <p:spPr>
          <a:xfrm>
            <a:off x="630000" y="1916499"/>
            <a:ext cx="1071930" cy="767004"/>
          </a:xfrm>
          <a:prstGeom prst="rect">
            <a:avLst/>
          </a:prstGeom>
          <a:solidFill>
            <a:srgbClr val="C9E7CA"/>
          </a:solid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600" b="1">
                <a:solidFill>
                  <a:srgbClr val="575757"/>
                </a:solidFill>
                <a:latin typeface="Microsoft YaHei" panose="020B0503020204020204" pitchFamily="34" charset="-122"/>
                <a:ea typeface="Microsoft YaHei" panose="020B0503020204020204" pitchFamily="34" charset="-122"/>
              </a:rPr>
              <a:t>新戶啟動關鍵</a:t>
            </a:r>
            <a:endParaRPr lang="en-US" sz="1600" b="1">
              <a:solidFill>
                <a:srgbClr val="575757"/>
              </a:solidFill>
              <a:latin typeface="Microsoft YaHei" panose="020B0503020204020204" pitchFamily="34" charset="-122"/>
              <a:ea typeface="Microsoft YaHei" panose="020B0503020204020204" pitchFamily="34" charset="-122"/>
            </a:endParaRPr>
          </a:p>
        </p:txBody>
      </p:sp>
      <p:sp>
        <p:nvSpPr>
          <p:cNvPr id="55" name="TextBox 54">
            <a:extLst>
              <a:ext uri="{FF2B5EF4-FFF2-40B4-BE49-F238E27FC236}">
                <a16:creationId xmlns:a16="http://schemas.microsoft.com/office/drawing/2014/main" id="{57254811-6B22-686D-4E37-7EE1154D4AD2}"/>
              </a:ext>
            </a:extLst>
          </p:cNvPr>
          <p:cNvSpPr txBox="1"/>
          <p:nvPr/>
        </p:nvSpPr>
        <p:spPr>
          <a:xfrm>
            <a:off x="1797948" y="1916499"/>
            <a:ext cx="3037086" cy="767004"/>
          </a:xfrm>
          <a:prstGeom prst="rect">
            <a:avLst/>
          </a:prstGeom>
          <a:no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zh-TW" altLang="en-US" sz="1600" b="1">
                <a:solidFill>
                  <a:srgbClr val="29BA74"/>
                </a:solidFill>
                <a:latin typeface="Microsoft YaHei" panose="020B0503020204020204" pitchFamily="34" charset="-122"/>
                <a:ea typeface="Microsoft YaHei" panose="020B0503020204020204" pitchFamily="34" charset="-122"/>
              </a:rPr>
              <a:t>提供新戶專屬優惠，優惠門檻低，以漲初始存款為目標</a:t>
            </a:r>
            <a:endParaRPr lang="en-US" sz="1600" b="1">
              <a:solidFill>
                <a:srgbClr val="29BA74"/>
              </a:solidFill>
              <a:latin typeface="Microsoft YaHei" panose="020B0503020204020204" pitchFamily="34" charset="-122"/>
              <a:ea typeface="Microsoft YaHei" panose="020B0503020204020204" pitchFamily="34" charset="-122"/>
            </a:endParaRPr>
          </a:p>
        </p:txBody>
      </p:sp>
      <p:sp>
        <p:nvSpPr>
          <p:cNvPr id="1056" name="TextBox 1055">
            <a:extLst>
              <a:ext uri="{FF2B5EF4-FFF2-40B4-BE49-F238E27FC236}">
                <a16:creationId xmlns:a16="http://schemas.microsoft.com/office/drawing/2014/main" id="{E1ADA049-3715-0AD8-AAAB-9A5DACC61266}"/>
              </a:ext>
            </a:extLst>
          </p:cNvPr>
          <p:cNvSpPr txBox="1"/>
          <p:nvPr/>
        </p:nvSpPr>
        <p:spPr>
          <a:xfrm>
            <a:off x="8524914" y="1916499"/>
            <a:ext cx="3037086" cy="767004"/>
          </a:xfrm>
          <a:prstGeom prst="rect">
            <a:avLst/>
          </a:prstGeom>
          <a:no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zh-TW" altLang="en-US" sz="1600" b="1">
                <a:solidFill>
                  <a:srgbClr val="29BA74"/>
                </a:solidFill>
                <a:latin typeface="Microsoft YaHei" panose="020B0503020204020204" pitchFamily="34" charset="-122"/>
                <a:ea typeface="Microsoft YaHei" panose="020B0503020204020204" pitchFamily="34" charset="-122"/>
              </a:rPr>
              <a:t>透過</a:t>
            </a:r>
            <a:r>
              <a:rPr lang="en-US" altLang="zh-TW" sz="1600" b="1">
                <a:solidFill>
                  <a:srgbClr val="29BA74"/>
                </a:solidFill>
                <a:latin typeface="Microsoft YaHei" panose="020B0503020204020204" pitchFamily="34" charset="-122"/>
                <a:ea typeface="Microsoft YaHei" panose="020B0503020204020204" pitchFamily="34" charset="-122"/>
              </a:rPr>
              <a:t>APP</a:t>
            </a:r>
            <a:r>
              <a:rPr lang="zh-TW" altLang="en-US" sz="1600" b="1">
                <a:solidFill>
                  <a:srgbClr val="29BA74"/>
                </a:solidFill>
                <a:latin typeface="Microsoft YaHei" panose="020B0503020204020204" pitchFamily="34" charset="-122"/>
                <a:ea typeface="Microsoft YaHei" panose="020B0503020204020204" pitchFamily="34" charset="-122"/>
              </a:rPr>
              <a:t>反覆提醒各式服務及相關優惠</a:t>
            </a:r>
            <a:endParaRPr lang="en-US" sz="1600" b="1">
              <a:solidFill>
                <a:srgbClr val="29BA74"/>
              </a:solidFill>
              <a:latin typeface="Microsoft YaHei" panose="020B0503020204020204" pitchFamily="34" charset="-122"/>
              <a:ea typeface="Microsoft YaHei" panose="020B0503020204020204" pitchFamily="34" charset="-122"/>
            </a:endParaRPr>
          </a:p>
        </p:txBody>
      </p:sp>
      <p:sp>
        <p:nvSpPr>
          <p:cNvPr id="1057" name="TextBox 1056">
            <a:extLst>
              <a:ext uri="{FF2B5EF4-FFF2-40B4-BE49-F238E27FC236}">
                <a16:creationId xmlns:a16="http://schemas.microsoft.com/office/drawing/2014/main" id="{951E1487-2073-0FA5-B6D6-0ECD7E17CFFD}"/>
              </a:ext>
            </a:extLst>
          </p:cNvPr>
          <p:cNvSpPr txBox="1"/>
          <p:nvPr/>
        </p:nvSpPr>
        <p:spPr>
          <a:xfrm>
            <a:off x="13074054" y="1916499"/>
            <a:ext cx="3037086" cy="767004"/>
          </a:xfrm>
          <a:prstGeom prst="rect">
            <a:avLst/>
          </a:prstGeom>
          <a:no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zh-TW" altLang="en-US" sz="1600" b="1">
                <a:solidFill>
                  <a:srgbClr val="29BA74"/>
                </a:solidFill>
                <a:latin typeface="Microsoft YaHei" panose="020B0503020204020204" pitchFamily="34" charset="-122"/>
                <a:ea typeface="Microsoft YaHei" panose="020B0503020204020204" pitchFamily="34" charset="-122"/>
              </a:rPr>
              <a:t>設定追踪機制，針對未啓動客戶，進行第二輪行銷活動</a:t>
            </a:r>
            <a:endParaRPr lang="en-US" sz="1600" b="1">
              <a:solidFill>
                <a:srgbClr val="29BA74"/>
              </a:solidFill>
              <a:latin typeface="Microsoft YaHei" panose="020B0503020204020204" pitchFamily="34" charset="-122"/>
              <a:ea typeface="Microsoft YaHei" panose="020B0503020204020204" pitchFamily="34" charset="-122"/>
            </a:endParaRPr>
          </a:p>
        </p:txBody>
      </p:sp>
      <p:sp>
        <p:nvSpPr>
          <p:cNvPr id="1058" name="Textfeld 1">
            <a:extLst>
              <a:ext uri="{FF2B5EF4-FFF2-40B4-BE49-F238E27FC236}">
                <a16:creationId xmlns:a16="http://schemas.microsoft.com/office/drawing/2014/main" id="{F0EFD1EF-FBD3-6CA8-60D0-F2612CE27B35}"/>
              </a:ext>
            </a:extLst>
          </p:cNvPr>
          <p:cNvSpPr txBox="1"/>
          <p:nvPr>
            <p:custDataLst>
              <p:tags r:id="rId3"/>
            </p:custDataLst>
          </p:nvPr>
        </p:nvSpPr>
        <p:spPr>
          <a:xfrm>
            <a:off x="8908152" y="1433290"/>
            <a:ext cx="2743200" cy="240066"/>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en-US" altLang="zh-TW" sz="1200" b="1">
                <a:solidFill>
                  <a:srgbClr val="575757"/>
                </a:solidFill>
                <a:sym typeface="Trebuchet MS" panose="020B0603020202020204" pitchFamily="34" charset="0"/>
              </a:rPr>
              <a:t>TBD</a:t>
            </a:r>
            <a:endParaRPr lang="en-US" sz="1200" b="1">
              <a:solidFill>
                <a:srgbClr val="575757"/>
              </a:solidFill>
              <a:sym typeface="Trebuchet MS" panose="020B0603020202020204" pitchFamily="34" charset="0"/>
            </a:endParaRPr>
          </a:p>
        </p:txBody>
      </p:sp>
      <p:sp>
        <p:nvSpPr>
          <p:cNvPr id="1059" name="TextBox 1058">
            <a:extLst>
              <a:ext uri="{FF2B5EF4-FFF2-40B4-BE49-F238E27FC236}">
                <a16:creationId xmlns:a16="http://schemas.microsoft.com/office/drawing/2014/main" id="{65C124C2-8458-0117-3E92-05C42333B55E}"/>
              </a:ext>
            </a:extLst>
          </p:cNvPr>
          <p:cNvSpPr txBox="1"/>
          <p:nvPr/>
        </p:nvSpPr>
        <p:spPr>
          <a:xfrm>
            <a:off x="630000" y="2799058"/>
            <a:ext cx="1071930" cy="1058727"/>
          </a:xfrm>
          <a:prstGeom prst="rect">
            <a:avLst/>
          </a:prstGeom>
          <a:solidFill>
            <a:srgbClr val="C9E7CA"/>
          </a:solid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600" b="1">
                <a:solidFill>
                  <a:srgbClr val="575757"/>
                </a:solidFill>
                <a:latin typeface="Microsoft YaHei" panose="020B0503020204020204" pitchFamily="34" charset="-122"/>
                <a:ea typeface="Microsoft YaHei" panose="020B0503020204020204" pitchFamily="34" charset="-122"/>
              </a:rPr>
              <a:t>行業案例</a:t>
            </a:r>
            <a:endParaRPr lang="en-US" sz="1600" b="1">
              <a:solidFill>
                <a:srgbClr val="575757"/>
              </a:solidFill>
              <a:latin typeface="Microsoft YaHei" panose="020B0503020204020204" pitchFamily="34" charset="-122"/>
              <a:ea typeface="Microsoft YaHei" panose="020B0503020204020204" pitchFamily="34" charset="-122"/>
            </a:endParaRPr>
          </a:p>
        </p:txBody>
      </p:sp>
      <p:sp>
        <p:nvSpPr>
          <p:cNvPr id="1060" name="TextBox 1059">
            <a:extLst>
              <a:ext uri="{FF2B5EF4-FFF2-40B4-BE49-F238E27FC236}">
                <a16:creationId xmlns:a16="http://schemas.microsoft.com/office/drawing/2014/main" id="{A4B3D7C4-06E0-EAAC-9DA8-8EB8A2DDB8B6}"/>
              </a:ext>
            </a:extLst>
          </p:cNvPr>
          <p:cNvSpPr txBox="1"/>
          <p:nvPr/>
        </p:nvSpPr>
        <p:spPr>
          <a:xfrm>
            <a:off x="630000" y="3973341"/>
            <a:ext cx="1071930" cy="987279"/>
          </a:xfrm>
          <a:prstGeom prst="rect">
            <a:avLst/>
          </a:prstGeom>
          <a:solidFill>
            <a:srgbClr val="C9E7CA"/>
          </a:solid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600" b="1">
                <a:solidFill>
                  <a:srgbClr val="575757"/>
                </a:solidFill>
                <a:latin typeface="Microsoft YaHei" panose="020B0503020204020204" pitchFamily="34" charset="-122"/>
                <a:ea typeface="Microsoft YaHei" panose="020B0503020204020204" pitchFamily="34" charset="-122"/>
              </a:rPr>
              <a:t>凱基現狀</a:t>
            </a:r>
            <a:endParaRPr lang="en-US" sz="1600" b="1">
              <a:solidFill>
                <a:srgbClr val="575757"/>
              </a:solidFill>
              <a:latin typeface="Microsoft YaHei" panose="020B0503020204020204" pitchFamily="34" charset="-122"/>
              <a:ea typeface="Microsoft YaHei" panose="020B0503020204020204" pitchFamily="34" charset="-122"/>
            </a:endParaRPr>
          </a:p>
        </p:txBody>
      </p:sp>
      <p:sp>
        <p:nvSpPr>
          <p:cNvPr id="1061" name="TextBox 1060">
            <a:extLst>
              <a:ext uri="{FF2B5EF4-FFF2-40B4-BE49-F238E27FC236}">
                <a16:creationId xmlns:a16="http://schemas.microsoft.com/office/drawing/2014/main" id="{615EF5C0-CDF5-7F22-F41A-579A5E9B2BFB}"/>
              </a:ext>
            </a:extLst>
          </p:cNvPr>
          <p:cNvSpPr txBox="1"/>
          <p:nvPr/>
        </p:nvSpPr>
        <p:spPr>
          <a:xfrm>
            <a:off x="1797948" y="2807941"/>
            <a:ext cx="3037086" cy="1121246"/>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324000" lvl="1" indent="-216000">
              <a:buClr>
                <a:schemeClr val="tx2"/>
              </a:buClr>
              <a:buFont typeface="Trebuchet MS" panose="020B0603020202020204" pitchFamily="34" charset="0"/>
              <a:buChar char="•"/>
            </a:pPr>
            <a:r>
              <a:rPr lang="zh-TW" altLang="en-US" sz="1400">
                <a:solidFill>
                  <a:schemeClr val="tx1"/>
                </a:solidFill>
                <a:latin typeface="Trebuchet MS" panose="020B0603020202020204" pitchFamily="34" charset="0"/>
                <a:ea typeface="Microsoft YaHei" panose="020B0503020204020204" pitchFamily="34" charset="-122"/>
              </a:rPr>
              <a:t>新戶專屬活存利率</a:t>
            </a:r>
            <a:endParaRPr lang="en-US" altLang="zh-TW" sz="1400">
              <a:solidFill>
                <a:schemeClr val="tx1"/>
              </a:solidFill>
              <a:latin typeface="Trebuchet MS" panose="020B0603020202020204" pitchFamily="34" charset="0"/>
              <a:ea typeface="Microsoft YaHei" panose="020B0503020204020204" pitchFamily="34" charset="-122"/>
            </a:endParaRPr>
          </a:p>
          <a:p>
            <a:pPr marL="324000" lvl="1" indent="-216000">
              <a:buClr>
                <a:schemeClr val="tx2"/>
              </a:buClr>
              <a:buFont typeface="Trebuchet MS" panose="020B0603020202020204" pitchFamily="34" charset="0"/>
              <a:buChar char="•"/>
            </a:pPr>
            <a:r>
              <a:rPr lang="zh-TW" altLang="en-US" sz="1400">
                <a:solidFill>
                  <a:schemeClr val="tx1"/>
                </a:solidFill>
                <a:latin typeface="Trebuchet MS" panose="020B0603020202020204" pitchFamily="34" charset="0"/>
                <a:ea typeface="Microsoft YaHei" panose="020B0503020204020204" pitchFamily="34" charset="-122"/>
              </a:rPr>
              <a:t>提供體驗</a:t>
            </a:r>
            <a:r>
              <a:rPr lang="en-US" altLang="zh-TW" sz="1400">
                <a:solidFill>
                  <a:schemeClr val="tx1"/>
                </a:solidFill>
                <a:latin typeface="Trebuchet MS" panose="020B0603020202020204" pitchFamily="34" charset="0"/>
                <a:ea typeface="Microsoft YaHei" panose="020B0503020204020204" pitchFamily="34" charset="-122"/>
              </a:rPr>
              <a:t>"</a:t>
            </a:r>
            <a:r>
              <a:rPr lang="zh-TW" altLang="en-US" sz="1400">
                <a:solidFill>
                  <a:schemeClr val="tx1"/>
                </a:solidFill>
                <a:latin typeface="Trebuchet MS" panose="020B0603020202020204" pitchFamily="34" charset="0"/>
                <a:ea typeface="Microsoft YaHei" panose="020B0503020204020204" pitchFamily="34" charset="-122"/>
              </a:rPr>
              <a:t>高級</a:t>
            </a:r>
            <a:r>
              <a:rPr lang="en-US" altLang="zh-TW" sz="1400">
                <a:solidFill>
                  <a:schemeClr val="tx1"/>
                </a:solidFill>
                <a:latin typeface="Trebuchet MS" panose="020B0603020202020204" pitchFamily="34" charset="0"/>
                <a:ea typeface="Microsoft YaHei" panose="020B0503020204020204" pitchFamily="34" charset="-122"/>
              </a:rPr>
              <a:t>M</a:t>
            </a:r>
            <a:r>
              <a:rPr lang="zh-TW" altLang="en-US" sz="1400">
                <a:solidFill>
                  <a:schemeClr val="tx1"/>
                </a:solidFill>
                <a:latin typeface="Trebuchet MS" panose="020B0603020202020204" pitchFamily="34" charset="0"/>
                <a:ea typeface="Microsoft YaHei" panose="020B0503020204020204" pitchFamily="34" charset="-122"/>
              </a:rPr>
              <a:t>客</a:t>
            </a:r>
            <a:r>
              <a:rPr lang="en-US" altLang="zh-TW" sz="1400">
                <a:solidFill>
                  <a:schemeClr val="tx1"/>
                </a:solidFill>
                <a:latin typeface="Trebuchet MS" panose="020B0603020202020204" pitchFamily="34" charset="0"/>
                <a:ea typeface="Microsoft YaHei" panose="020B0503020204020204" pitchFamily="34" charset="-122"/>
              </a:rPr>
              <a:t>"</a:t>
            </a:r>
            <a:r>
              <a:rPr lang="zh-TW" altLang="en-US" sz="1400">
                <a:solidFill>
                  <a:schemeClr val="tx1"/>
                </a:solidFill>
                <a:latin typeface="Trebuchet MS" panose="020B0603020202020204" pitchFamily="34" charset="0"/>
                <a:ea typeface="Microsoft YaHei" panose="020B0503020204020204" pitchFamily="34" charset="-122"/>
              </a:rPr>
              <a:t>優惠及服務一個月，內容包含優惠活存利率及較高的免手續費次數</a:t>
            </a:r>
            <a:endParaRPr lang="en-US" sz="1400">
              <a:solidFill>
                <a:schemeClr val="tx1"/>
              </a:solidFill>
              <a:latin typeface="Trebuchet MS" panose="020B0603020202020204" pitchFamily="34" charset="0"/>
              <a:ea typeface="Microsoft YaHei" panose="020B0503020204020204" pitchFamily="34" charset="-122"/>
            </a:endParaRPr>
          </a:p>
        </p:txBody>
      </p:sp>
      <p:sp>
        <p:nvSpPr>
          <p:cNvPr id="1062" name="TextBox 1061">
            <a:extLst>
              <a:ext uri="{FF2B5EF4-FFF2-40B4-BE49-F238E27FC236}">
                <a16:creationId xmlns:a16="http://schemas.microsoft.com/office/drawing/2014/main" id="{EEB87546-DAF2-AC2E-853F-1EB0E75A81D5}"/>
              </a:ext>
            </a:extLst>
          </p:cNvPr>
          <p:cNvSpPr txBox="1"/>
          <p:nvPr/>
        </p:nvSpPr>
        <p:spPr>
          <a:xfrm>
            <a:off x="1797948" y="3990651"/>
            <a:ext cx="3037086" cy="952658"/>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324000" lvl="1" indent="-216000">
              <a:buClr>
                <a:schemeClr val="tx2"/>
              </a:buClr>
              <a:buFont typeface="Trebuchet MS" panose="020B0603020202020204" pitchFamily="34" charset="0"/>
              <a:buChar char="•"/>
            </a:pPr>
            <a:r>
              <a:rPr lang="zh-TW" altLang="en-US" sz="1400">
                <a:solidFill>
                  <a:schemeClr val="tx1"/>
                </a:solidFill>
                <a:latin typeface="Trebuchet MS" panose="020B0603020202020204" pitchFamily="34" charset="0"/>
                <a:ea typeface="Microsoft YaHei" panose="020B0503020204020204" pitchFamily="34" charset="-122"/>
              </a:rPr>
              <a:t>美元換匯優惠</a:t>
            </a:r>
            <a:endParaRPr lang="en-US" altLang="zh-TW" sz="1400">
              <a:solidFill>
                <a:schemeClr val="tx1"/>
              </a:solidFill>
              <a:latin typeface="Trebuchet MS" panose="020B0603020202020204" pitchFamily="34" charset="0"/>
              <a:ea typeface="Microsoft YaHei" panose="020B0503020204020204" pitchFamily="34" charset="-122"/>
            </a:endParaRPr>
          </a:p>
          <a:p>
            <a:pPr marL="324000" lvl="1" indent="-216000">
              <a:buClr>
                <a:schemeClr val="tx2"/>
              </a:buClr>
              <a:buFont typeface="Trebuchet MS" panose="020B0603020202020204" pitchFamily="34" charset="0"/>
              <a:buChar char="•"/>
            </a:pPr>
            <a:r>
              <a:rPr lang="zh-TW" altLang="en-US" sz="1400">
                <a:solidFill>
                  <a:schemeClr val="tx1"/>
                </a:solidFill>
                <a:latin typeface="Trebuchet MS" panose="020B0603020202020204" pitchFamily="34" charset="0"/>
                <a:ea typeface="Microsoft YaHei" panose="020B0503020204020204" pitchFamily="34" charset="-122"/>
              </a:rPr>
              <a:t>基金申購手續費優惠</a:t>
            </a:r>
            <a:endParaRPr lang="en-US" altLang="zh-TW" sz="1400">
              <a:solidFill>
                <a:schemeClr val="tx1"/>
              </a:solidFill>
              <a:latin typeface="Trebuchet MS" panose="020B0603020202020204" pitchFamily="34" charset="0"/>
              <a:ea typeface="Microsoft YaHei" panose="020B0503020204020204" pitchFamily="34" charset="-122"/>
            </a:endParaRPr>
          </a:p>
          <a:p>
            <a:pPr marL="324000" lvl="1" indent="-216000">
              <a:buClr>
                <a:schemeClr val="tx2"/>
              </a:buClr>
              <a:buFont typeface="Trebuchet MS" panose="020B0603020202020204" pitchFamily="34" charset="0"/>
              <a:buChar char="•"/>
            </a:pPr>
            <a:r>
              <a:rPr lang="zh-TW" altLang="en-US" sz="1400">
                <a:solidFill>
                  <a:schemeClr val="tx1"/>
                </a:solidFill>
                <a:latin typeface="Trebuchet MS" panose="020B0603020202020204" pitchFamily="34" charset="0"/>
                <a:ea typeface="Microsoft YaHei" panose="020B0503020204020204" pitchFamily="34" charset="-122"/>
              </a:rPr>
              <a:t>轉貸、信貸優惠</a:t>
            </a:r>
            <a:endParaRPr lang="en-US" altLang="zh-TW" sz="1400">
              <a:solidFill>
                <a:schemeClr val="tx1"/>
              </a:solidFill>
              <a:latin typeface="Trebuchet MS" panose="020B0603020202020204" pitchFamily="34" charset="0"/>
              <a:ea typeface="Microsoft YaHei" panose="020B0503020204020204" pitchFamily="34" charset="-122"/>
            </a:endParaRPr>
          </a:p>
          <a:p>
            <a:pPr marL="324000" lvl="1" indent="-216000">
              <a:buClr>
                <a:schemeClr val="tx2"/>
              </a:buClr>
              <a:buFont typeface="Trebuchet MS" panose="020B0603020202020204" pitchFamily="34" charset="0"/>
              <a:buChar char="•"/>
            </a:pPr>
            <a:r>
              <a:rPr lang="zh-TW" altLang="en-US" sz="1400">
                <a:solidFill>
                  <a:schemeClr val="tx1"/>
                </a:solidFill>
                <a:latin typeface="Trebuchet MS" panose="020B0603020202020204" pitchFamily="34" charset="0"/>
                <a:ea typeface="Microsoft YaHei" panose="020B0503020204020204" pitchFamily="34" charset="-122"/>
              </a:rPr>
              <a:t>信卡優惠 </a:t>
            </a:r>
            <a:r>
              <a:rPr lang="en-US" altLang="zh-TW" sz="1400">
                <a:solidFill>
                  <a:schemeClr val="tx1"/>
                </a:solidFill>
                <a:latin typeface="Trebuchet MS" panose="020B0603020202020204" pitchFamily="34" charset="0"/>
                <a:ea typeface="Microsoft YaHei" panose="020B0503020204020204" pitchFamily="34" charset="-122"/>
              </a:rPr>
              <a:t>(</a:t>
            </a:r>
            <a:r>
              <a:rPr lang="zh-TW" altLang="en-US" sz="1400">
                <a:solidFill>
                  <a:schemeClr val="tx1"/>
                </a:solidFill>
                <a:latin typeface="Trebuchet MS" panose="020B0603020202020204" pitchFamily="34" charset="0"/>
                <a:ea typeface="Microsoft YaHei" panose="020B0503020204020204" pitchFamily="34" charset="-122"/>
              </a:rPr>
              <a:t>海外消費、保費優惠</a:t>
            </a:r>
            <a:r>
              <a:rPr lang="en-US" altLang="zh-TW" sz="1400">
                <a:solidFill>
                  <a:schemeClr val="tx1"/>
                </a:solidFill>
                <a:latin typeface="Trebuchet MS" panose="020B0603020202020204" pitchFamily="34" charset="0"/>
                <a:ea typeface="Microsoft YaHei" panose="020B0503020204020204" pitchFamily="34" charset="-122"/>
              </a:rPr>
              <a:t>)</a:t>
            </a:r>
          </a:p>
        </p:txBody>
      </p:sp>
      <p:sp>
        <p:nvSpPr>
          <p:cNvPr id="1063" name="TextBox 1062">
            <a:extLst>
              <a:ext uri="{FF2B5EF4-FFF2-40B4-BE49-F238E27FC236}">
                <a16:creationId xmlns:a16="http://schemas.microsoft.com/office/drawing/2014/main" id="{F72F0D4D-5C89-8739-0B2C-8F8F9E9D088D}"/>
              </a:ext>
            </a:extLst>
          </p:cNvPr>
          <p:cNvSpPr txBox="1"/>
          <p:nvPr/>
        </p:nvSpPr>
        <p:spPr>
          <a:xfrm>
            <a:off x="630000" y="5076176"/>
            <a:ext cx="1071930" cy="1084912"/>
          </a:xfrm>
          <a:prstGeom prst="rect">
            <a:avLst/>
          </a:prstGeom>
          <a:solidFill>
            <a:srgbClr val="C9E7CA"/>
          </a:solid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TW" altLang="en-US" sz="1600" b="1">
                <a:solidFill>
                  <a:srgbClr val="575757"/>
                </a:solidFill>
                <a:latin typeface="Microsoft YaHei" panose="020B0503020204020204" pitchFamily="34" charset="-122"/>
                <a:ea typeface="Microsoft YaHei" panose="020B0503020204020204" pitchFamily="34" charset="-122"/>
              </a:rPr>
              <a:t>初步識別缺口</a:t>
            </a:r>
            <a:endParaRPr lang="en-US" sz="1600" b="1">
              <a:solidFill>
                <a:srgbClr val="575757"/>
              </a:solidFill>
              <a:latin typeface="Microsoft YaHei" panose="020B0503020204020204" pitchFamily="34" charset="-122"/>
              <a:ea typeface="Microsoft YaHei" panose="020B0503020204020204" pitchFamily="34" charset="-122"/>
            </a:endParaRPr>
          </a:p>
        </p:txBody>
      </p:sp>
      <p:sp>
        <p:nvSpPr>
          <p:cNvPr id="1064" name="TextBox 1063">
            <a:extLst>
              <a:ext uri="{FF2B5EF4-FFF2-40B4-BE49-F238E27FC236}">
                <a16:creationId xmlns:a16="http://schemas.microsoft.com/office/drawing/2014/main" id="{CA076293-D196-63FD-F508-A17B9D136800}"/>
              </a:ext>
            </a:extLst>
          </p:cNvPr>
          <p:cNvSpPr txBox="1"/>
          <p:nvPr/>
        </p:nvSpPr>
        <p:spPr>
          <a:xfrm>
            <a:off x="1797948" y="5115873"/>
            <a:ext cx="3037086" cy="952658"/>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324000" lvl="1" indent="-216000">
              <a:buClr>
                <a:schemeClr val="tx2"/>
              </a:buClr>
              <a:buFont typeface="Trebuchet MS" panose="020B0603020202020204" pitchFamily="34" charset="0"/>
              <a:buChar char="•"/>
            </a:pPr>
            <a:r>
              <a:rPr lang="zh-TW" altLang="en-US" sz="1400">
                <a:solidFill>
                  <a:srgbClr val="E71C57"/>
                </a:solidFill>
                <a:latin typeface="Trebuchet MS" panose="020B0603020202020204" pitchFamily="34" charset="0"/>
                <a:ea typeface="Microsoft YaHei" panose="020B0503020204020204" pitchFamily="34" charset="-122"/>
              </a:rPr>
              <a:t>優惠使用門檻較高</a:t>
            </a:r>
            <a:r>
              <a:rPr lang="zh-TW" altLang="en-US" sz="1400">
                <a:solidFill>
                  <a:schemeClr val="tx1"/>
                </a:solidFill>
                <a:latin typeface="Trebuchet MS" panose="020B0603020202020204" pitchFamily="34" charset="0"/>
                <a:ea typeface="Microsoft YaHei" panose="020B0503020204020204" pitchFamily="34" charset="-122"/>
              </a:rPr>
              <a:t>，非單純放入存款即可享有</a:t>
            </a:r>
            <a:endParaRPr lang="en-US" altLang="zh-TW" sz="1400">
              <a:solidFill>
                <a:schemeClr val="tx1"/>
              </a:solidFill>
              <a:latin typeface="Trebuchet MS" panose="020B0603020202020204" pitchFamily="34" charset="0"/>
              <a:ea typeface="Microsoft YaHei" panose="020B0503020204020204" pitchFamily="34" charset="-122"/>
            </a:endParaRPr>
          </a:p>
          <a:p>
            <a:pPr marL="324000" lvl="1" indent="-216000">
              <a:buClr>
                <a:schemeClr val="tx2"/>
              </a:buClr>
              <a:buFont typeface="Trebuchet MS" panose="020B0603020202020204" pitchFamily="34" charset="0"/>
              <a:buChar char="•"/>
            </a:pPr>
            <a:r>
              <a:rPr lang="zh-TW" altLang="en-US" sz="1400">
                <a:solidFill>
                  <a:srgbClr val="E71C57"/>
                </a:solidFill>
                <a:latin typeface="Trebuchet MS" panose="020B0603020202020204" pitchFamily="34" charset="0"/>
                <a:ea typeface="Microsoft YaHei" panose="020B0503020204020204" pitchFamily="34" charset="-122"/>
              </a:rPr>
              <a:t>優惠訊息繁雜</a:t>
            </a:r>
            <a:r>
              <a:rPr lang="zh-TW" altLang="en-US" sz="1400">
                <a:solidFill>
                  <a:schemeClr val="tx1"/>
                </a:solidFill>
                <a:latin typeface="Trebuchet MS" panose="020B0603020202020204" pitchFamily="34" charset="0"/>
                <a:ea typeface="Microsoft YaHei" panose="020B0503020204020204" pitchFamily="34" charset="-122"/>
              </a:rPr>
              <a:t>，較難清楚掌握實際有效訊息</a:t>
            </a:r>
            <a:endParaRPr lang="en-US" altLang="zh-TW" sz="1400">
              <a:solidFill>
                <a:schemeClr val="tx1"/>
              </a:solidFill>
              <a:latin typeface="Trebuchet MS" panose="020B0603020202020204" pitchFamily="34" charset="0"/>
              <a:ea typeface="Microsoft YaHei" panose="020B0503020204020204" pitchFamily="34" charset="-122"/>
            </a:endParaRPr>
          </a:p>
        </p:txBody>
      </p:sp>
      <p:sp>
        <p:nvSpPr>
          <p:cNvPr id="1065" name="TextBox 1064">
            <a:extLst>
              <a:ext uri="{FF2B5EF4-FFF2-40B4-BE49-F238E27FC236}">
                <a16:creationId xmlns:a16="http://schemas.microsoft.com/office/drawing/2014/main" id="{AE75B7D4-486B-06D1-DE8E-5A87C08541A1}"/>
              </a:ext>
            </a:extLst>
          </p:cNvPr>
          <p:cNvSpPr txBox="1"/>
          <p:nvPr/>
        </p:nvSpPr>
        <p:spPr>
          <a:xfrm>
            <a:off x="8524914" y="2807941"/>
            <a:ext cx="3037086" cy="95265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324000" lvl="1" indent="-216000">
              <a:buClr>
                <a:schemeClr val="tx2"/>
              </a:buClr>
              <a:buFont typeface="Trebuchet MS" panose="020B0603020202020204" pitchFamily="34" charset="0"/>
              <a:buChar char="•"/>
            </a:pPr>
            <a:r>
              <a:rPr lang="zh-TW" altLang="en-US" sz="1400">
                <a:solidFill>
                  <a:schemeClr val="tx1"/>
                </a:solidFill>
                <a:latin typeface="Trebuchet MS" panose="020B0603020202020204" pitchFamily="34" charset="0"/>
                <a:ea typeface="Microsoft YaHei" panose="020B0503020204020204" pitchFamily="34" charset="-122"/>
              </a:rPr>
              <a:t>每隔</a:t>
            </a:r>
            <a:r>
              <a:rPr lang="en-US" altLang="zh-TW" sz="1400">
                <a:solidFill>
                  <a:schemeClr val="tx1"/>
                </a:solidFill>
                <a:latin typeface="Trebuchet MS" panose="020B0603020202020204" pitchFamily="34" charset="0"/>
                <a:ea typeface="Microsoft YaHei" panose="020B0503020204020204" pitchFamily="34" charset="-122"/>
              </a:rPr>
              <a:t>1-3</a:t>
            </a:r>
            <a:r>
              <a:rPr lang="zh-TW" altLang="en-US" sz="1400">
                <a:solidFill>
                  <a:schemeClr val="tx1"/>
                </a:solidFill>
                <a:latin typeface="Trebuchet MS" panose="020B0603020202020204" pitchFamily="34" charset="0"/>
                <a:ea typeface="Microsoft YaHei" panose="020B0503020204020204" pitchFamily="34" charset="-122"/>
              </a:rPr>
              <a:t>天透過</a:t>
            </a:r>
            <a:r>
              <a:rPr lang="en-US" altLang="zh-TW" sz="1400">
                <a:solidFill>
                  <a:schemeClr val="tx1"/>
                </a:solidFill>
                <a:latin typeface="Trebuchet MS" panose="020B0603020202020204" pitchFamily="34" charset="0"/>
                <a:ea typeface="Microsoft YaHei" panose="020B0503020204020204" pitchFamily="34" charset="-122"/>
              </a:rPr>
              <a:t>APP</a:t>
            </a:r>
            <a:r>
              <a:rPr lang="zh-TW" altLang="en-US" sz="1400">
                <a:solidFill>
                  <a:schemeClr val="tx1"/>
                </a:solidFill>
                <a:latin typeface="Trebuchet MS" panose="020B0603020202020204" pitchFamily="34" charset="0"/>
                <a:ea typeface="Microsoft YaHei" panose="020B0503020204020204" pitchFamily="34" charset="-122"/>
              </a:rPr>
              <a:t>提供</a:t>
            </a:r>
            <a:r>
              <a:rPr lang="en-US" altLang="zh-TW" sz="1400">
                <a:solidFill>
                  <a:schemeClr val="tx1"/>
                </a:solidFill>
                <a:latin typeface="Trebuchet MS" panose="020B0603020202020204" pitchFamily="34" charset="0"/>
                <a:ea typeface="Microsoft YaHei" panose="020B0503020204020204" pitchFamily="34" charset="-122"/>
              </a:rPr>
              <a:t>APP</a:t>
            </a:r>
            <a:r>
              <a:rPr lang="zh-TW" altLang="en-US" sz="1400">
                <a:solidFill>
                  <a:schemeClr val="tx1"/>
                </a:solidFill>
                <a:latin typeface="Trebuchet MS" panose="020B0603020202020204" pitchFamily="34" charset="0"/>
                <a:ea typeface="Microsoft YaHei" panose="020B0503020204020204" pitchFamily="34" charset="-122"/>
              </a:rPr>
              <a:t>服務、優惠訊息</a:t>
            </a:r>
            <a:endParaRPr lang="en-US" altLang="zh-TW" sz="1400">
              <a:solidFill>
                <a:schemeClr val="tx1"/>
              </a:solidFill>
              <a:latin typeface="Trebuchet MS" panose="020B0603020202020204" pitchFamily="34" charset="0"/>
              <a:ea typeface="Microsoft YaHei" panose="020B0503020204020204" pitchFamily="34" charset="-122"/>
            </a:endParaRPr>
          </a:p>
          <a:p>
            <a:pPr marL="324000" lvl="1" indent="-216000">
              <a:buClr>
                <a:schemeClr val="tx2"/>
              </a:buClr>
              <a:buFont typeface="Trebuchet MS" panose="020B0603020202020204" pitchFamily="34" charset="0"/>
              <a:buChar char="•"/>
            </a:pPr>
            <a:r>
              <a:rPr lang="zh-TW" altLang="en-US" sz="1400">
                <a:solidFill>
                  <a:schemeClr val="tx1"/>
                </a:solidFill>
                <a:latin typeface="Trebuchet MS" panose="020B0603020202020204" pitchFamily="34" charset="0"/>
                <a:ea typeface="Microsoft YaHei" panose="020B0503020204020204" pitchFamily="34" charset="-122"/>
              </a:rPr>
              <a:t>每次提醒一種服務或優惠，並直接連結</a:t>
            </a:r>
            <a:r>
              <a:rPr lang="en-US" altLang="zh-TW" sz="1400">
                <a:solidFill>
                  <a:schemeClr val="tx1"/>
                </a:solidFill>
                <a:latin typeface="Trebuchet MS" panose="020B0603020202020204" pitchFamily="34" charset="0"/>
                <a:ea typeface="Microsoft YaHei" panose="020B0503020204020204" pitchFamily="34" charset="-122"/>
              </a:rPr>
              <a:t>APP</a:t>
            </a:r>
            <a:r>
              <a:rPr lang="zh-TW" altLang="en-US" sz="1400">
                <a:solidFill>
                  <a:schemeClr val="tx1"/>
                </a:solidFill>
                <a:latin typeface="Trebuchet MS" panose="020B0603020202020204" pitchFamily="34" charset="0"/>
                <a:ea typeface="Microsoft YaHei" panose="020B0503020204020204" pitchFamily="34" charset="-122"/>
              </a:rPr>
              <a:t>使用</a:t>
            </a:r>
            <a:endParaRPr lang="en-US" sz="1400">
              <a:solidFill>
                <a:schemeClr val="tx1"/>
              </a:solidFill>
              <a:latin typeface="Trebuchet MS" panose="020B0603020202020204" pitchFamily="34" charset="0"/>
              <a:ea typeface="Microsoft YaHei" panose="020B0503020204020204" pitchFamily="34" charset="-122"/>
            </a:endParaRPr>
          </a:p>
        </p:txBody>
      </p:sp>
      <p:sp>
        <p:nvSpPr>
          <p:cNvPr id="1066" name="TextBox 1065">
            <a:extLst>
              <a:ext uri="{FF2B5EF4-FFF2-40B4-BE49-F238E27FC236}">
                <a16:creationId xmlns:a16="http://schemas.microsoft.com/office/drawing/2014/main" id="{10867BE2-9018-2B8D-5420-72A1AB8C8903}"/>
              </a:ext>
            </a:extLst>
          </p:cNvPr>
          <p:cNvSpPr txBox="1"/>
          <p:nvPr/>
        </p:nvSpPr>
        <p:spPr>
          <a:xfrm>
            <a:off x="8524914" y="3990651"/>
            <a:ext cx="3037086" cy="952658"/>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324000" lvl="1" indent="-216000">
              <a:buClr>
                <a:schemeClr val="tx2"/>
              </a:buClr>
              <a:buFont typeface="Trebuchet MS" panose="020B0603020202020204" pitchFamily="34" charset="0"/>
              <a:buChar char="•"/>
            </a:pPr>
            <a:r>
              <a:rPr lang="zh-TW" altLang="en-US" sz="1400">
                <a:solidFill>
                  <a:schemeClr val="tx1"/>
                </a:solidFill>
                <a:latin typeface="Trebuchet MS" panose="020B0603020202020204" pitchFamily="34" charset="0"/>
                <a:ea typeface="Microsoft YaHei" panose="020B0503020204020204" pitchFamily="34" charset="-122"/>
              </a:rPr>
              <a:t>以電子郵件發送單次</a:t>
            </a:r>
            <a:r>
              <a:rPr lang="en-US" altLang="zh-TW" sz="1400">
                <a:solidFill>
                  <a:schemeClr val="tx1"/>
                </a:solidFill>
                <a:latin typeface="Trebuchet MS" panose="020B0603020202020204" pitchFamily="34" charset="0"/>
                <a:ea typeface="Microsoft YaHei" panose="020B0503020204020204" pitchFamily="34" charset="-122"/>
              </a:rPr>
              <a:t>EDM</a:t>
            </a:r>
          </a:p>
          <a:p>
            <a:pPr marL="742950" lvl="1" indent="-285750">
              <a:buFont typeface="Arial" panose="020B0604020202020204" pitchFamily="34" charset="0"/>
              <a:buChar char="•"/>
            </a:pPr>
            <a:endParaRPr lang="en-US" altLang="zh-TW" sz="1400">
              <a:solidFill>
                <a:srgbClr val="575757"/>
              </a:solidFill>
              <a:latin typeface="Microsoft YaHei" panose="020B0503020204020204" pitchFamily="34" charset="-122"/>
              <a:ea typeface="Microsoft YaHei" panose="020B0503020204020204" pitchFamily="34" charset="-122"/>
            </a:endParaRPr>
          </a:p>
        </p:txBody>
      </p:sp>
      <p:sp>
        <p:nvSpPr>
          <p:cNvPr id="1067" name="TextBox 1066">
            <a:extLst>
              <a:ext uri="{FF2B5EF4-FFF2-40B4-BE49-F238E27FC236}">
                <a16:creationId xmlns:a16="http://schemas.microsoft.com/office/drawing/2014/main" id="{5DBD1455-BE44-0F6A-4A89-58FE87E54BF2}"/>
              </a:ext>
            </a:extLst>
          </p:cNvPr>
          <p:cNvSpPr txBox="1"/>
          <p:nvPr/>
        </p:nvSpPr>
        <p:spPr>
          <a:xfrm>
            <a:off x="8524914" y="5115872"/>
            <a:ext cx="3037086" cy="1045215"/>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285750" indent="-285750">
              <a:buFont typeface="Arial" panose="020B0604020202020204" pitchFamily="34" charset="0"/>
              <a:buChar char="•"/>
            </a:pPr>
            <a:r>
              <a:rPr lang="zh-TW" altLang="en-US" sz="1400">
                <a:solidFill>
                  <a:srgbClr val="575757"/>
                </a:solidFill>
                <a:latin typeface="Microsoft YaHei" panose="020B0503020204020204" pitchFamily="34" charset="-122"/>
                <a:ea typeface="Microsoft YaHei" panose="020B0503020204020204" pitchFamily="34" charset="-122"/>
              </a:rPr>
              <a:t>僅有</a:t>
            </a:r>
            <a:r>
              <a:rPr lang="zh-TW" altLang="en-US" sz="1400">
                <a:solidFill>
                  <a:srgbClr val="E71C57"/>
                </a:solidFill>
                <a:latin typeface="Microsoft YaHei" panose="020B0503020204020204" pitchFamily="34" charset="-122"/>
                <a:ea typeface="Microsoft YaHei" panose="020B0503020204020204" pitchFamily="34" charset="-122"/>
              </a:rPr>
              <a:t>單次提醒，未反覆觸發</a:t>
            </a:r>
            <a:endParaRPr lang="en-US" altLang="zh-TW" sz="1400">
              <a:solidFill>
                <a:srgbClr val="E71C57"/>
              </a:solidFill>
              <a:latin typeface="Microsoft YaHei" panose="020B0503020204020204" pitchFamily="34" charset="-122"/>
              <a:ea typeface="Microsoft YaHei" panose="020B0503020204020204" pitchFamily="34" charset="-122"/>
            </a:endParaRPr>
          </a:p>
          <a:p>
            <a:pPr marL="285750" indent="-285750">
              <a:buFont typeface="Arial" panose="020B0604020202020204" pitchFamily="34" charset="0"/>
              <a:buChar char="•"/>
            </a:pPr>
            <a:r>
              <a:rPr lang="en-US" altLang="zh-TW" sz="1400">
                <a:solidFill>
                  <a:srgbClr val="E71C57"/>
                </a:solidFill>
                <a:latin typeface="Microsoft YaHei" panose="020B0503020204020204" pitchFamily="34" charset="-122"/>
                <a:ea typeface="Microsoft YaHei" panose="020B0503020204020204" pitchFamily="34" charset="-122"/>
              </a:rPr>
              <a:t>EDM</a:t>
            </a:r>
            <a:r>
              <a:rPr lang="zh-TW" altLang="en-US" sz="1400">
                <a:solidFill>
                  <a:srgbClr val="E71C57"/>
                </a:solidFill>
                <a:latin typeface="Microsoft YaHei" panose="020B0503020204020204" pitchFamily="34" charset="-122"/>
                <a:ea typeface="Microsoft YaHei" panose="020B0503020204020204" pitchFamily="34" charset="-122"/>
              </a:rPr>
              <a:t>無法直接連結</a:t>
            </a:r>
            <a:r>
              <a:rPr lang="en-US" altLang="zh-TW" sz="1400">
                <a:solidFill>
                  <a:srgbClr val="E71C57"/>
                </a:solidFill>
                <a:latin typeface="Microsoft YaHei" panose="020B0503020204020204" pitchFamily="34" charset="-122"/>
                <a:ea typeface="Microsoft YaHei" panose="020B0503020204020204" pitchFamily="34" charset="-122"/>
              </a:rPr>
              <a:t>APP</a:t>
            </a:r>
            <a:r>
              <a:rPr lang="zh-TW" altLang="en-US" sz="1400">
                <a:solidFill>
                  <a:srgbClr val="E71C57"/>
                </a:solidFill>
                <a:latin typeface="Microsoft YaHei" panose="020B0503020204020204" pitchFamily="34" charset="-122"/>
                <a:ea typeface="Microsoft YaHei" panose="020B0503020204020204" pitchFamily="34" charset="-122"/>
              </a:rPr>
              <a:t>使用優惠</a:t>
            </a:r>
            <a:r>
              <a:rPr lang="zh-TW" altLang="en-US" sz="1400">
                <a:solidFill>
                  <a:srgbClr val="575757"/>
                </a:solidFill>
                <a:latin typeface="Microsoft YaHei" panose="020B0503020204020204" pitchFamily="34" charset="-122"/>
                <a:ea typeface="Microsoft YaHei" panose="020B0503020204020204" pitchFamily="34" charset="-122"/>
              </a:rPr>
              <a:t>，需連結至網頁，用戶旅程較冗長</a:t>
            </a:r>
            <a:endParaRPr lang="en-US" altLang="zh-TW" sz="1400">
              <a:solidFill>
                <a:srgbClr val="575757"/>
              </a:solidFill>
              <a:latin typeface="Microsoft YaHei" panose="020B0503020204020204" pitchFamily="34" charset="-122"/>
              <a:ea typeface="Microsoft YaHei" panose="020B0503020204020204" pitchFamily="34" charset="-122"/>
            </a:endParaRPr>
          </a:p>
          <a:p>
            <a:pPr marL="285750" indent="-285750">
              <a:buFont typeface="Arial" panose="020B0604020202020204" pitchFamily="34" charset="0"/>
              <a:buChar char="•"/>
            </a:pPr>
            <a:r>
              <a:rPr lang="zh-TW" altLang="en-US" sz="1400">
                <a:solidFill>
                  <a:srgbClr val="E71C57"/>
                </a:solidFill>
                <a:latin typeface="Microsoft YaHei" panose="020B0503020204020204" pitchFamily="34" charset="-122"/>
                <a:ea typeface="Microsoft YaHei" panose="020B0503020204020204" pitchFamily="34" charset="-122"/>
              </a:rPr>
              <a:t>無法在</a:t>
            </a:r>
            <a:r>
              <a:rPr lang="en-US" altLang="zh-TW" sz="1400">
                <a:solidFill>
                  <a:srgbClr val="E71C57"/>
                </a:solidFill>
                <a:latin typeface="Microsoft YaHei" panose="020B0503020204020204" pitchFamily="34" charset="-122"/>
                <a:ea typeface="Microsoft YaHei" panose="020B0503020204020204" pitchFamily="34" charset="-122"/>
              </a:rPr>
              <a:t>APP</a:t>
            </a:r>
            <a:r>
              <a:rPr lang="zh-TW" altLang="en-US" sz="1400">
                <a:solidFill>
                  <a:srgbClr val="E71C57"/>
                </a:solidFill>
                <a:latin typeface="Microsoft YaHei" panose="020B0503020204020204" pitchFamily="34" charset="-122"/>
                <a:ea typeface="Microsoft YaHei" panose="020B0503020204020204" pitchFamily="34" charset="-122"/>
              </a:rPr>
              <a:t>中看出優惠</a:t>
            </a:r>
            <a:r>
              <a:rPr lang="zh-TW" altLang="en-US" sz="1400">
                <a:solidFill>
                  <a:srgbClr val="575757"/>
                </a:solidFill>
                <a:latin typeface="Microsoft YaHei" panose="020B0503020204020204" pitchFamily="34" charset="-122"/>
                <a:ea typeface="Microsoft YaHei" panose="020B0503020204020204" pitchFamily="34" charset="-122"/>
              </a:rPr>
              <a:t>，若無點選</a:t>
            </a:r>
            <a:r>
              <a:rPr lang="en-US" altLang="zh-TW" sz="1400">
                <a:solidFill>
                  <a:srgbClr val="575757"/>
                </a:solidFill>
                <a:latin typeface="Microsoft YaHei" panose="020B0503020204020204" pitchFamily="34" charset="-122"/>
                <a:ea typeface="Microsoft YaHei" panose="020B0503020204020204" pitchFamily="34" charset="-122"/>
              </a:rPr>
              <a:t>Email</a:t>
            </a:r>
            <a:r>
              <a:rPr lang="zh-TW" altLang="en-US" sz="1400">
                <a:solidFill>
                  <a:srgbClr val="575757"/>
                </a:solidFill>
                <a:latin typeface="Microsoft YaHei" panose="020B0503020204020204" pitchFamily="34" charset="-122"/>
                <a:ea typeface="Microsoft YaHei" panose="020B0503020204020204" pitchFamily="34" charset="-122"/>
              </a:rPr>
              <a:t>則無法得知</a:t>
            </a:r>
            <a:endParaRPr lang="en-US" altLang="zh-TW" sz="1400">
              <a:solidFill>
                <a:srgbClr val="575757"/>
              </a:solidFill>
              <a:latin typeface="Microsoft YaHei" panose="020B0503020204020204" pitchFamily="34" charset="-122"/>
              <a:ea typeface="Microsoft YaHei" panose="020B0503020204020204" pitchFamily="34" charset="-122"/>
            </a:endParaRPr>
          </a:p>
        </p:txBody>
      </p:sp>
      <p:sp>
        <p:nvSpPr>
          <p:cNvPr id="1068" name="TextBox 1067">
            <a:extLst>
              <a:ext uri="{FF2B5EF4-FFF2-40B4-BE49-F238E27FC236}">
                <a16:creationId xmlns:a16="http://schemas.microsoft.com/office/drawing/2014/main" id="{C13BF524-48DB-5DE4-AD3A-ECDEC2FF0393}"/>
              </a:ext>
            </a:extLst>
          </p:cNvPr>
          <p:cNvSpPr txBox="1"/>
          <p:nvPr/>
        </p:nvSpPr>
        <p:spPr>
          <a:xfrm>
            <a:off x="5161431" y="1916499"/>
            <a:ext cx="3037086" cy="767004"/>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zh-TW" altLang="en-US" sz="1600" b="1">
                <a:solidFill>
                  <a:srgbClr val="29BA74"/>
                </a:solidFill>
                <a:latin typeface="Microsoft YaHei" panose="020B0503020204020204" pitchFamily="34" charset="-122"/>
                <a:ea typeface="Microsoft YaHei" panose="020B0503020204020204" pitchFamily="34" charset="-122"/>
              </a:rPr>
              <a:t>帳戶申請後，立即觸發</a:t>
            </a:r>
            <a:r>
              <a:rPr lang="en-US" altLang="zh-TW" sz="1600" b="1">
                <a:solidFill>
                  <a:srgbClr val="29BA74"/>
                </a:solidFill>
                <a:latin typeface="Microsoft YaHei" panose="020B0503020204020204" pitchFamily="34" charset="-122"/>
                <a:ea typeface="Microsoft YaHei" panose="020B0503020204020204" pitchFamily="34" charset="-122"/>
              </a:rPr>
              <a:t>APP</a:t>
            </a:r>
            <a:r>
              <a:rPr lang="zh-TW" altLang="en-US" sz="1600" b="1">
                <a:solidFill>
                  <a:srgbClr val="29BA74"/>
                </a:solidFill>
                <a:latin typeface="Microsoft YaHei" panose="020B0503020204020204" pitchFamily="34" charset="-122"/>
                <a:ea typeface="Microsoft YaHei" panose="020B0503020204020204" pitchFamily="34" charset="-122"/>
              </a:rPr>
              <a:t>下載，建立啟動接觸點</a:t>
            </a:r>
            <a:endParaRPr lang="en-US" sz="1600" b="1">
              <a:solidFill>
                <a:srgbClr val="29BA74"/>
              </a:solidFill>
              <a:latin typeface="Microsoft YaHei" panose="020B0503020204020204" pitchFamily="34" charset="-122"/>
              <a:ea typeface="Microsoft YaHei" panose="020B0503020204020204" pitchFamily="34" charset="-122"/>
            </a:endParaRPr>
          </a:p>
        </p:txBody>
      </p:sp>
      <p:sp>
        <p:nvSpPr>
          <p:cNvPr id="1069" name="TextBox 1068">
            <a:extLst>
              <a:ext uri="{FF2B5EF4-FFF2-40B4-BE49-F238E27FC236}">
                <a16:creationId xmlns:a16="http://schemas.microsoft.com/office/drawing/2014/main" id="{D04146F1-1296-B176-E06B-97F71AB29072}"/>
              </a:ext>
            </a:extLst>
          </p:cNvPr>
          <p:cNvSpPr txBox="1"/>
          <p:nvPr/>
        </p:nvSpPr>
        <p:spPr>
          <a:xfrm>
            <a:off x="4998347" y="2807941"/>
            <a:ext cx="3200169" cy="1121246"/>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324000" lvl="1" indent="-216000">
              <a:buClr>
                <a:schemeClr val="tx2"/>
              </a:buClr>
              <a:buFont typeface="Trebuchet MS" panose="020B0603020202020204" pitchFamily="34" charset="0"/>
              <a:buChar char="•"/>
            </a:pPr>
            <a:r>
              <a:rPr lang="zh-TW" altLang="en-US" sz="1400">
                <a:solidFill>
                  <a:schemeClr val="tx1"/>
                </a:solidFill>
                <a:latin typeface="Trebuchet MS" panose="020B0603020202020204" pitchFamily="34" charset="0"/>
                <a:ea typeface="Microsoft YaHei" panose="020B0503020204020204" pitchFamily="34" charset="-122"/>
              </a:rPr>
              <a:t>審請完成當下，立即告知可透過</a:t>
            </a:r>
            <a:r>
              <a:rPr lang="en-US" altLang="zh-TW" sz="1400">
                <a:solidFill>
                  <a:schemeClr val="tx1"/>
                </a:solidFill>
                <a:latin typeface="Trebuchet MS" panose="020B0603020202020204" pitchFamily="34" charset="0"/>
                <a:ea typeface="Microsoft YaHei" panose="020B0503020204020204" pitchFamily="34" charset="-122"/>
              </a:rPr>
              <a:t>APP</a:t>
            </a:r>
            <a:r>
              <a:rPr lang="zh-TW" altLang="en-US" sz="1400">
                <a:solidFill>
                  <a:schemeClr val="tx1"/>
                </a:solidFill>
                <a:latin typeface="Trebuchet MS" panose="020B0603020202020204" pitchFamily="34" charset="0"/>
                <a:ea typeface="Microsoft YaHei" panose="020B0503020204020204" pitchFamily="34" charset="-122"/>
              </a:rPr>
              <a:t>查詢申辦進度、提供下載連結</a:t>
            </a:r>
            <a:endParaRPr lang="en-US" altLang="zh-TW" sz="1400">
              <a:solidFill>
                <a:schemeClr val="tx1"/>
              </a:solidFill>
              <a:latin typeface="Trebuchet MS" panose="020B0603020202020204" pitchFamily="34" charset="0"/>
              <a:ea typeface="Microsoft YaHei" panose="020B0503020204020204" pitchFamily="34" charset="-122"/>
            </a:endParaRPr>
          </a:p>
          <a:p>
            <a:pPr marL="324000" lvl="1" indent="-216000">
              <a:buClr>
                <a:schemeClr val="tx2"/>
              </a:buClr>
              <a:buFont typeface="Trebuchet MS" panose="020B0603020202020204" pitchFamily="34" charset="0"/>
              <a:buChar char="•"/>
            </a:pPr>
            <a:r>
              <a:rPr lang="zh-TW" altLang="en-US" sz="1400">
                <a:solidFill>
                  <a:schemeClr val="tx1"/>
                </a:solidFill>
                <a:latin typeface="Trebuchet MS" panose="020B0603020202020204" pitchFamily="34" charset="0"/>
                <a:ea typeface="Microsoft YaHei" panose="020B0503020204020204" pitchFamily="34" charset="-122"/>
              </a:rPr>
              <a:t>審核通過後，立即告知</a:t>
            </a:r>
            <a:r>
              <a:rPr lang="en-US" altLang="zh-TW" sz="1400">
                <a:solidFill>
                  <a:schemeClr val="tx1"/>
                </a:solidFill>
                <a:latin typeface="Trebuchet MS" panose="020B0603020202020204" pitchFamily="34" charset="0"/>
                <a:ea typeface="Microsoft YaHei" panose="020B0503020204020204" pitchFamily="34" charset="-122"/>
              </a:rPr>
              <a:t>APP</a:t>
            </a:r>
            <a:r>
              <a:rPr lang="zh-TW" altLang="en-US" sz="1400">
                <a:solidFill>
                  <a:schemeClr val="tx1"/>
                </a:solidFill>
                <a:latin typeface="Trebuchet MS" panose="020B0603020202020204" pitchFamily="34" charset="0"/>
                <a:ea typeface="Microsoft YaHei" panose="020B0503020204020204" pitchFamily="34" charset="-122"/>
              </a:rPr>
              <a:t>可使用並附上下載連結</a:t>
            </a:r>
            <a:endParaRPr lang="en-US" sz="1400">
              <a:solidFill>
                <a:schemeClr val="tx1"/>
              </a:solidFill>
              <a:latin typeface="Trebuchet MS" panose="020B0603020202020204" pitchFamily="34" charset="0"/>
              <a:ea typeface="Microsoft YaHei" panose="020B0503020204020204" pitchFamily="34" charset="-122"/>
            </a:endParaRPr>
          </a:p>
        </p:txBody>
      </p:sp>
      <p:sp>
        <p:nvSpPr>
          <p:cNvPr id="1070" name="TextBox 1069">
            <a:extLst>
              <a:ext uri="{FF2B5EF4-FFF2-40B4-BE49-F238E27FC236}">
                <a16:creationId xmlns:a16="http://schemas.microsoft.com/office/drawing/2014/main" id="{A55B6841-3213-6D23-B595-DF50CC23B633}"/>
              </a:ext>
            </a:extLst>
          </p:cNvPr>
          <p:cNvSpPr txBox="1"/>
          <p:nvPr/>
        </p:nvSpPr>
        <p:spPr>
          <a:xfrm>
            <a:off x="4998348" y="3990651"/>
            <a:ext cx="3037086" cy="952658"/>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324000" lvl="1" indent="-216000">
              <a:buClr>
                <a:schemeClr val="tx2"/>
              </a:buClr>
              <a:buFont typeface="Trebuchet MS" panose="020B0603020202020204" pitchFamily="34" charset="0"/>
              <a:buChar char="•"/>
            </a:pPr>
            <a:r>
              <a:rPr lang="zh-TW" altLang="en-US" sz="1400">
                <a:solidFill>
                  <a:schemeClr val="tx1"/>
                </a:solidFill>
                <a:latin typeface="Trebuchet MS" panose="020B0603020202020204" pitchFamily="34" charset="0"/>
                <a:ea typeface="Microsoft YaHei" panose="020B0503020204020204" pitchFamily="34" charset="-122"/>
              </a:rPr>
              <a:t>僅告知申請成功，將寄出金融卡</a:t>
            </a:r>
            <a:endParaRPr lang="en-US" altLang="zh-TW" sz="1400">
              <a:solidFill>
                <a:schemeClr val="tx1"/>
              </a:solidFill>
              <a:latin typeface="Trebuchet MS" panose="020B0603020202020204" pitchFamily="34" charset="0"/>
              <a:ea typeface="Microsoft YaHei" panose="020B0503020204020204" pitchFamily="34" charset="-122"/>
            </a:endParaRPr>
          </a:p>
        </p:txBody>
      </p:sp>
      <p:sp>
        <p:nvSpPr>
          <p:cNvPr id="1071" name="TextBox 1070">
            <a:extLst>
              <a:ext uri="{FF2B5EF4-FFF2-40B4-BE49-F238E27FC236}">
                <a16:creationId xmlns:a16="http://schemas.microsoft.com/office/drawing/2014/main" id="{9C1FC690-854C-5795-1F0C-B8056BF0C229}"/>
              </a:ext>
            </a:extLst>
          </p:cNvPr>
          <p:cNvSpPr txBox="1"/>
          <p:nvPr/>
        </p:nvSpPr>
        <p:spPr>
          <a:xfrm>
            <a:off x="4998348" y="5115873"/>
            <a:ext cx="3037086" cy="952658"/>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324000" lvl="1" indent="-216000">
              <a:buClr>
                <a:schemeClr val="tx2"/>
              </a:buClr>
              <a:buFont typeface="Trebuchet MS" panose="020B0603020202020204" pitchFamily="34" charset="0"/>
              <a:buChar char="•"/>
            </a:pPr>
            <a:r>
              <a:rPr lang="zh-TW" altLang="en-US" sz="1400">
                <a:solidFill>
                  <a:srgbClr val="E71C57"/>
                </a:solidFill>
                <a:latin typeface="Trebuchet MS" panose="020B0603020202020204" pitchFamily="34" charset="0"/>
                <a:ea typeface="Microsoft YaHei" panose="020B0503020204020204" pitchFamily="34" charset="-122"/>
              </a:rPr>
              <a:t>金融卡取得之前</a:t>
            </a:r>
            <a:r>
              <a:rPr lang="en-US" altLang="zh-TW" sz="1400">
                <a:solidFill>
                  <a:srgbClr val="E71C57"/>
                </a:solidFill>
                <a:latin typeface="Trebuchet MS" panose="020B0603020202020204" pitchFamily="34" charset="0"/>
                <a:ea typeface="Microsoft YaHei" panose="020B0503020204020204" pitchFamily="34" charset="-122"/>
              </a:rPr>
              <a:t>(</a:t>
            </a:r>
            <a:r>
              <a:rPr lang="zh-TW" altLang="en-US" sz="1400">
                <a:solidFill>
                  <a:srgbClr val="E71C57"/>
                </a:solidFill>
                <a:latin typeface="Trebuchet MS" panose="020B0603020202020204" pitchFamily="34" charset="0"/>
                <a:ea typeface="Microsoft YaHei" panose="020B0503020204020204" pitchFamily="34" charset="-122"/>
              </a:rPr>
              <a:t>約一週</a:t>
            </a:r>
            <a:r>
              <a:rPr lang="en-US" altLang="zh-TW" sz="1400">
                <a:solidFill>
                  <a:srgbClr val="E71C57"/>
                </a:solidFill>
                <a:latin typeface="Trebuchet MS" panose="020B0603020202020204" pitchFamily="34" charset="0"/>
                <a:ea typeface="Microsoft YaHei" panose="020B0503020204020204" pitchFamily="34" charset="-122"/>
              </a:rPr>
              <a:t>)</a:t>
            </a:r>
            <a:r>
              <a:rPr lang="zh-TW" altLang="en-US" sz="1400">
                <a:solidFill>
                  <a:srgbClr val="E71C57"/>
                </a:solidFill>
                <a:latin typeface="Trebuchet MS" panose="020B0603020202020204" pitchFamily="34" charset="0"/>
                <a:ea typeface="Microsoft YaHei" panose="020B0503020204020204" pitchFamily="34" charset="-122"/>
              </a:rPr>
              <a:t>無觸發客戶下載</a:t>
            </a:r>
            <a:r>
              <a:rPr lang="en-US" altLang="zh-TW" sz="1400">
                <a:solidFill>
                  <a:srgbClr val="E71C57"/>
                </a:solidFill>
                <a:latin typeface="Trebuchet MS" panose="020B0603020202020204" pitchFamily="34" charset="0"/>
                <a:ea typeface="Microsoft YaHei" panose="020B0503020204020204" pitchFamily="34" charset="-122"/>
              </a:rPr>
              <a:t>APP</a:t>
            </a:r>
            <a:r>
              <a:rPr lang="zh-TW" altLang="en-US" sz="1400">
                <a:solidFill>
                  <a:schemeClr val="tx1"/>
                </a:solidFill>
                <a:latin typeface="Trebuchet MS" panose="020B0603020202020204" pitchFamily="34" charset="0"/>
                <a:ea typeface="Microsoft YaHei" panose="020B0503020204020204" pitchFamily="34" charset="-122"/>
              </a:rPr>
              <a:t>，期間無法透過</a:t>
            </a:r>
            <a:r>
              <a:rPr lang="en-US" altLang="zh-TW" sz="1400">
                <a:solidFill>
                  <a:schemeClr val="tx1"/>
                </a:solidFill>
                <a:latin typeface="Trebuchet MS" panose="020B0603020202020204" pitchFamily="34" charset="0"/>
                <a:ea typeface="Microsoft YaHei" panose="020B0503020204020204" pitchFamily="34" charset="-122"/>
              </a:rPr>
              <a:t>APP</a:t>
            </a:r>
            <a:r>
              <a:rPr lang="zh-TW" altLang="en-US" sz="1400">
                <a:solidFill>
                  <a:schemeClr val="tx1"/>
                </a:solidFill>
                <a:latin typeface="Trebuchet MS" panose="020B0603020202020204" pitchFamily="34" charset="0"/>
                <a:ea typeface="Microsoft YaHei" panose="020B0503020204020204" pitchFamily="34" charset="-122"/>
              </a:rPr>
              <a:t>接觸客戶</a:t>
            </a:r>
            <a:endParaRPr lang="en-US" altLang="zh-TW" sz="1400">
              <a:solidFill>
                <a:srgbClr val="E71C57"/>
              </a:solidFill>
              <a:latin typeface="Trebuchet MS" panose="020B0603020202020204" pitchFamily="34" charset="0"/>
              <a:ea typeface="Microsoft YaHei" panose="020B0503020204020204" pitchFamily="34" charset="-122"/>
            </a:endParaRPr>
          </a:p>
        </p:txBody>
      </p:sp>
      <p:pic>
        <p:nvPicPr>
          <p:cNvPr id="1073" name="Picture 1072" descr="A screenshot of a phone&#10;&#10;Description automatically generated">
            <a:extLst>
              <a:ext uri="{FF2B5EF4-FFF2-40B4-BE49-F238E27FC236}">
                <a16:creationId xmlns:a16="http://schemas.microsoft.com/office/drawing/2014/main" id="{CBC53549-80BF-EF7A-33C1-C9E94BAEC423}"/>
              </a:ext>
            </a:extLst>
          </p:cNvPr>
          <p:cNvPicPr>
            <a:picLocks noChangeAspect="1"/>
          </p:cNvPicPr>
          <p:nvPr/>
        </p:nvPicPr>
        <p:blipFill>
          <a:blip r:embed="rId8"/>
          <a:stretch>
            <a:fillRect/>
          </a:stretch>
        </p:blipFill>
        <p:spPr>
          <a:xfrm>
            <a:off x="4696327" y="6609551"/>
            <a:ext cx="1727333" cy="2637739"/>
          </a:xfrm>
          <a:prstGeom prst="rect">
            <a:avLst/>
          </a:prstGeom>
        </p:spPr>
      </p:pic>
      <p:pic>
        <p:nvPicPr>
          <p:cNvPr id="1075" name="Picture 1074" descr="A screenshot of a computer&#10;&#10;Description automatically generated">
            <a:extLst>
              <a:ext uri="{FF2B5EF4-FFF2-40B4-BE49-F238E27FC236}">
                <a16:creationId xmlns:a16="http://schemas.microsoft.com/office/drawing/2014/main" id="{EB53B149-F170-C115-BCC1-0FD6868B7662}"/>
              </a:ext>
            </a:extLst>
          </p:cNvPr>
          <p:cNvPicPr>
            <a:picLocks noChangeAspect="1"/>
          </p:cNvPicPr>
          <p:nvPr/>
        </p:nvPicPr>
        <p:blipFill>
          <a:blip r:embed="rId9"/>
          <a:stretch>
            <a:fillRect/>
          </a:stretch>
        </p:blipFill>
        <p:spPr>
          <a:xfrm>
            <a:off x="6503493" y="6676790"/>
            <a:ext cx="1322247" cy="1251630"/>
          </a:xfrm>
          <a:prstGeom prst="rect">
            <a:avLst/>
          </a:prstGeom>
        </p:spPr>
      </p:pic>
    </p:spTree>
    <p:extLst>
      <p:ext uri="{BB962C8B-B14F-4D97-AF65-F5344CB8AC3E}">
        <p14:creationId xmlns:p14="http://schemas.microsoft.com/office/powerpoint/2010/main" val="354019970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2AB11627-26D7-8855-AEF0-F8C83D93D4B8}"/>
              </a:ext>
            </a:extLst>
          </p:cNvPr>
          <p:cNvGraphicFramePr>
            <a:graphicFrameLocks noChangeAspect="1"/>
          </p:cNvGraphicFramePr>
          <p:nvPr>
            <p:custDataLst>
              <p:tags r:id="rId1"/>
            </p:custDataLst>
            <p:extLst>
              <p:ext uri="{D42A27DB-BD31-4B8C-83A1-F6EECF244321}">
                <p14:modId xmlns:p14="http://schemas.microsoft.com/office/powerpoint/2010/main" val="46337481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04" imgH="405" progId="TCLayout.ActiveDocument.1">
                  <p:embed/>
                </p:oleObj>
              </mc:Choice>
              <mc:Fallback>
                <p:oleObj name="think-cell Slide" r:id="rId4" imgW="404" imgH="405" progId="TCLayout.ActiveDocument.1">
                  <p:embed/>
                  <p:pic>
                    <p:nvPicPr>
                      <p:cNvPr id="5" name="think-cell data - do not delete" hidden="1">
                        <a:extLst>
                          <a:ext uri="{FF2B5EF4-FFF2-40B4-BE49-F238E27FC236}">
                            <a16:creationId xmlns:a16="http://schemas.microsoft.com/office/drawing/2014/main" id="{2AB11627-26D7-8855-AEF0-F8C83D93D4B8}"/>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Title 3">
            <a:extLst>
              <a:ext uri="{FF2B5EF4-FFF2-40B4-BE49-F238E27FC236}">
                <a16:creationId xmlns:a16="http://schemas.microsoft.com/office/drawing/2014/main" id="{118C245C-843A-609D-7B42-0F27C966DBA4}"/>
              </a:ext>
            </a:extLst>
          </p:cNvPr>
          <p:cNvSpPr>
            <a:spLocks noGrp="1"/>
          </p:cNvSpPr>
          <p:nvPr>
            <p:ph type="title"/>
          </p:nvPr>
        </p:nvSpPr>
        <p:spPr/>
        <p:txBody>
          <a:bodyPr vert="horz"/>
          <a:lstStyle/>
          <a:p>
            <a:r>
              <a:rPr lang="en-US"/>
              <a:t>Indonesian bank</a:t>
            </a:r>
          </a:p>
        </p:txBody>
      </p:sp>
    </p:spTree>
    <p:extLst>
      <p:ext uri="{BB962C8B-B14F-4D97-AF65-F5344CB8AC3E}">
        <p14:creationId xmlns:p14="http://schemas.microsoft.com/office/powerpoint/2010/main" val="144740444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1F1F1"/>
          </a:solidFill>
        </p:spPr>
        <p:txBody>
          <a:bodyPr wrap="square" lIns="0" tIns="0" rIns="0" bIns="0" rtlCol="0"/>
          <a:lstStyle/>
          <a:p>
            <a:endParaRPr/>
          </a:p>
        </p:txBody>
      </p:sp>
      <p:sp>
        <p:nvSpPr>
          <p:cNvPr id="3" name="object 3"/>
          <p:cNvSpPr txBox="1"/>
          <p:nvPr/>
        </p:nvSpPr>
        <p:spPr>
          <a:xfrm>
            <a:off x="11470640" y="6392062"/>
            <a:ext cx="92075" cy="177800"/>
          </a:xfrm>
          <a:prstGeom prst="rect">
            <a:avLst/>
          </a:prstGeom>
        </p:spPr>
        <p:txBody>
          <a:bodyPr vert="horz" wrap="square" lIns="0" tIns="12065" rIns="0" bIns="0" rtlCol="0">
            <a:spAutoFit/>
          </a:bodyPr>
          <a:lstStyle/>
          <a:p>
            <a:pPr marL="12700">
              <a:lnSpc>
                <a:spcPct val="100000"/>
              </a:lnSpc>
              <a:spcBef>
                <a:spcPts val="95"/>
              </a:spcBef>
            </a:pPr>
            <a:r>
              <a:rPr sz="1000" spc="-50">
                <a:solidFill>
                  <a:srgbClr val="7E7E7E"/>
                </a:solidFill>
                <a:latin typeface="Trebuchet MS"/>
                <a:cs typeface="Trebuchet MS"/>
              </a:rPr>
              <a:t>1</a:t>
            </a:r>
            <a:endParaRPr sz="1000">
              <a:latin typeface="Trebuchet MS"/>
              <a:cs typeface="Trebuchet MS"/>
            </a:endParaRPr>
          </a:p>
        </p:txBody>
      </p:sp>
      <p:sp>
        <p:nvSpPr>
          <p:cNvPr id="4" name="object 4"/>
          <p:cNvSpPr txBox="1"/>
          <p:nvPr/>
        </p:nvSpPr>
        <p:spPr>
          <a:xfrm>
            <a:off x="11986574" y="3898286"/>
            <a:ext cx="128270" cy="2653665"/>
          </a:xfrm>
          <a:prstGeom prst="rect">
            <a:avLst/>
          </a:prstGeom>
        </p:spPr>
        <p:txBody>
          <a:bodyPr vert="vert270" wrap="square" lIns="0" tIns="6350" rIns="0" bIns="0" rtlCol="0">
            <a:spAutoFit/>
          </a:bodyPr>
          <a:lstStyle/>
          <a:p>
            <a:pPr marL="12700">
              <a:lnSpc>
                <a:spcPct val="100000"/>
              </a:lnSpc>
              <a:spcBef>
                <a:spcPts val="50"/>
              </a:spcBef>
            </a:pPr>
            <a:r>
              <a:rPr sz="700">
                <a:solidFill>
                  <a:srgbClr val="7E7E7E"/>
                </a:solidFill>
                <a:latin typeface="Trebuchet MS"/>
                <a:cs typeface="Trebuchet MS"/>
              </a:rPr>
              <a:t>Copyright</a:t>
            </a:r>
            <a:r>
              <a:rPr sz="700" spc="-25">
                <a:solidFill>
                  <a:srgbClr val="7E7E7E"/>
                </a:solidFill>
                <a:latin typeface="Trebuchet MS"/>
                <a:cs typeface="Trebuchet MS"/>
              </a:rPr>
              <a:t> </a:t>
            </a:r>
            <a:r>
              <a:rPr sz="700">
                <a:solidFill>
                  <a:srgbClr val="7E7E7E"/>
                </a:solidFill>
                <a:latin typeface="Trebuchet MS"/>
                <a:cs typeface="Trebuchet MS"/>
              </a:rPr>
              <a:t>©</a:t>
            </a:r>
            <a:r>
              <a:rPr sz="700" spc="-25">
                <a:solidFill>
                  <a:srgbClr val="7E7E7E"/>
                </a:solidFill>
                <a:latin typeface="Trebuchet MS"/>
                <a:cs typeface="Trebuchet MS"/>
              </a:rPr>
              <a:t> </a:t>
            </a:r>
            <a:r>
              <a:rPr sz="700">
                <a:solidFill>
                  <a:srgbClr val="7E7E7E"/>
                </a:solidFill>
                <a:latin typeface="Trebuchet MS"/>
                <a:cs typeface="Trebuchet MS"/>
              </a:rPr>
              <a:t>2019</a:t>
            </a:r>
            <a:r>
              <a:rPr sz="700" spc="-15">
                <a:solidFill>
                  <a:srgbClr val="7E7E7E"/>
                </a:solidFill>
                <a:latin typeface="Trebuchet MS"/>
                <a:cs typeface="Trebuchet MS"/>
              </a:rPr>
              <a:t> </a:t>
            </a:r>
            <a:r>
              <a:rPr sz="700">
                <a:solidFill>
                  <a:srgbClr val="7E7E7E"/>
                </a:solidFill>
                <a:latin typeface="Trebuchet MS"/>
                <a:cs typeface="Trebuchet MS"/>
              </a:rPr>
              <a:t>by</a:t>
            </a:r>
            <a:r>
              <a:rPr sz="700" spc="-20">
                <a:solidFill>
                  <a:srgbClr val="7E7E7E"/>
                </a:solidFill>
                <a:latin typeface="Trebuchet MS"/>
                <a:cs typeface="Trebuchet MS"/>
              </a:rPr>
              <a:t> </a:t>
            </a:r>
            <a:r>
              <a:rPr sz="700">
                <a:solidFill>
                  <a:srgbClr val="7E7E7E"/>
                </a:solidFill>
                <a:latin typeface="Trebuchet MS"/>
                <a:cs typeface="Trebuchet MS"/>
              </a:rPr>
              <a:t>Boston </a:t>
            </a:r>
            <a:r>
              <a:rPr sz="700" spc="-10">
                <a:solidFill>
                  <a:srgbClr val="7E7E7E"/>
                </a:solidFill>
                <a:latin typeface="Trebuchet MS"/>
                <a:cs typeface="Trebuchet MS"/>
              </a:rPr>
              <a:t>Consulting </a:t>
            </a:r>
            <a:r>
              <a:rPr sz="700">
                <a:solidFill>
                  <a:srgbClr val="7E7E7E"/>
                </a:solidFill>
                <a:latin typeface="Trebuchet MS"/>
                <a:cs typeface="Trebuchet MS"/>
              </a:rPr>
              <a:t>Group.</a:t>
            </a:r>
            <a:r>
              <a:rPr sz="700" spc="-5">
                <a:solidFill>
                  <a:srgbClr val="7E7E7E"/>
                </a:solidFill>
                <a:latin typeface="Trebuchet MS"/>
                <a:cs typeface="Trebuchet MS"/>
              </a:rPr>
              <a:t> </a:t>
            </a:r>
            <a:r>
              <a:rPr sz="700">
                <a:solidFill>
                  <a:srgbClr val="7E7E7E"/>
                </a:solidFill>
                <a:latin typeface="Trebuchet MS"/>
                <a:cs typeface="Trebuchet MS"/>
              </a:rPr>
              <a:t>All</a:t>
            </a:r>
            <a:r>
              <a:rPr sz="700" spc="-5">
                <a:solidFill>
                  <a:srgbClr val="7E7E7E"/>
                </a:solidFill>
                <a:latin typeface="Trebuchet MS"/>
                <a:cs typeface="Trebuchet MS"/>
              </a:rPr>
              <a:t> </a:t>
            </a:r>
            <a:r>
              <a:rPr sz="700">
                <a:solidFill>
                  <a:srgbClr val="7E7E7E"/>
                </a:solidFill>
                <a:latin typeface="Trebuchet MS"/>
                <a:cs typeface="Trebuchet MS"/>
              </a:rPr>
              <a:t>rights</a:t>
            </a:r>
            <a:r>
              <a:rPr sz="700" spc="-25">
                <a:solidFill>
                  <a:srgbClr val="7E7E7E"/>
                </a:solidFill>
                <a:latin typeface="Trebuchet MS"/>
                <a:cs typeface="Trebuchet MS"/>
              </a:rPr>
              <a:t> </a:t>
            </a:r>
            <a:r>
              <a:rPr sz="700" spc="-10">
                <a:solidFill>
                  <a:srgbClr val="7E7E7E"/>
                </a:solidFill>
                <a:latin typeface="Trebuchet MS"/>
                <a:cs typeface="Trebuchet MS"/>
              </a:rPr>
              <a:t>reserved.</a:t>
            </a:r>
            <a:endParaRPr sz="700">
              <a:latin typeface="Trebuchet MS"/>
              <a:cs typeface="Trebuchet MS"/>
            </a:endParaRPr>
          </a:p>
        </p:txBody>
      </p:sp>
      <p:sp>
        <p:nvSpPr>
          <p:cNvPr id="5" name="object 5"/>
          <p:cNvSpPr txBox="1">
            <a:spLocks noGrp="1"/>
          </p:cNvSpPr>
          <p:nvPr>
            <p:ph type="title"/>
          </p:nvPr>
        </p:nvSpPr>
        <p:spPr>
          <a:prstGeom prst="rect">
            <a:avLst/>
          </a:prstGeom>
        </p:spPr>
        <p:txBody>
          <a:bodyPr vert="horz" wrap="square" lIns="0" tIns="12065" rIns="0" bIns="0" rtlCol="0">
            <a:spAutoFit/>
          </a:bodyPr>
          <a:lstStyle/>
          <a:p>
            <a:pPr marL="12700">
              <a:lnSpc>
                <a:spcPct val="100000"/>
              </a:lnSpc>
              <a:spcBef>
                <a:spcPts val="95"/>
              </a:spcBef>
            </a:pPr>
            <a:r>
              <a:t>Significant</a:t>
            </a:r>
            <a:r>
              <a:rPr spc="-85"/>
              <a:t> </a:t>
            </a:r>
            <a:r>
              <a:t>project</a:t>
            </a:r>
            <a:r>
              <a:rPr spc="-100"/>
              <a:t> </a:t>
            </a:r>
            <a:r>
              <a:t>impact</a:t>
            </a:r>
            <a:r>
              <a:rPr spc="-110"/>
              <a:t> </a:t>
            </a:r>
            <a:r>
              <a:t>during</a:t>
            </a:r>
            <a:r>
              <a:rPr spc="-90"/>
              <a:t> </a:t>
            </a:r>
            <a:r>
              <a:t>the</a:t>
            </a:r>
            <a:r>
              <a:rPr spc="-110"/>
              <a:t> </a:t>
            </a:r>
            <a:r>
              <a:rPr spc="-10"/>
              <a:t>pilot</a:t>
            </a:r>
          </a:p>
        </p:txBody>
      </p:sp>
      <p:grpSp>
        <p:nvGrpSpPr>
          <p:cNvPr id="6" name="object 6"/>
          <p:cNvGrpSpPr/>
          <p:nvPr/>
        </p:nvGrpSpPr>
        <p:grpSpPr>
          <a:xfrm>
            <a:off x="1443037" y="1621345"/>
            <a:ext cx="4411345" cy="366395"/>
            <a:chOff x="1443037" y="1621345"/>
            <a:chExt cx="4411345" cy="366395"/>
          </a:xfrm>
        </p:grpSpPr>
        <p:sp>
          <p:nvSpPr>
            <p:cNvPr id="7" name="object 7"/>
            <p:cNvSpPr/>
            <p:nvPr/>
          </p:nvSpPr>
          <p:spPr>
            <a:xfrm>
              <a:off x="1447800" y="1626108"/>
              <a:ext cx="4401820" cy="356870"/>
            </a:xfrm>
            <a:custGeom>
              <a:avLst/>
              <a:gdLst/>
              <a:ahLst/>
              <a:cxnLst/>
              <a:rect l="l" t="t" r="r" b="b"/>
              <a:pathLst>
                <a:path w="4401820" h="356869">
                  <a:moveTo>
                    <a:pt x="4223004" y="0"/>
                  </a:moveTo>
                  <a:lnTo>
                    <a:pt x="0" y="0"/>
                  </a:lnTo>
                  <a:lnTo>
                    <a:pt x="0" y="356615"/>
                  </a:lnTo>
                  <a:lnTo>
                    <a:pt x="4401312" y="356615"/>
                  </a:lnTo>
                  <a:lnTo>
                    <a:pt x="4401312" y="178307"/>
                  </a:lnTo>
                  <a:lnTo>
                    <a:pt x="4394939" y="130924"/>
                  </a:lnTo>
                  <a:lnTo>
                    <a:pt x="4376956" y="88335"/>
                  </a:lnTo>
                  <a:lnTo>
                    <a:pt x="4349067" y="52244"/>
                  </a:lnTo>
                  <a:lnTo>
                    <a:pt x="4312976" y="24355"/>
                  </a:lnTo>
                  <a:lnTo>
                    <a:pt x="4270387" y="6372"/>
                  </a:lnTo>
                  <a:lnTo>
                    <a:pt x="4223004" y="0"/>
                  </a:lnTo>
                  <a:close/>
                </a:path>
              </a:pathLst>
            </a:custGeom>
            <a:solidFill>
              <a:srgbClr val="29B974"/>
            </a:solidFill>
          </p:spPr>
          <p:txBody>
            <a:bodyPr wrap="square" lIns="0" tIns="0" rIns="0" bIns="0" rtlCol="0"/>
            <a:lstStyle/>
            <a:p>
              <a:endParaRPr/>
            </a:p>
          </p:txBody>
        </p:sp>
        <p:sp>
          <p:nvSpPr>
            <p:cNvPr id="8" name="object 8"/>
            <p:cNvSpPr/>
            <p:nvPr/>
          </p:nvSpPr>
          <p:spPr>
            <a:xfrm>
              <a:off x="1447800" y="1626108"/>
              <a:ext cx="4401820" cy="356870"/>
            </a:xfrm>
            <a:custGeom>
              <a:avLst/>
              <a:gdLst/>
              <a:ahLst/>
              <a:cxnLst/>
              <a:rect l="l" t="t" r="r" b="b"/>
              <a:pathLst>
                <a:path w="4401820" h="356869">
                  <a:moveTo>
                    <a:pt x="0" y="0"/>
                  </a:moveTo>
                  <a:lnTo>
                    <a:pt x="4223004" y="0"/>
                  </a:lnTo>
                  <a:lnTo>
                    <a:pt x="4270387" y="6372"/>
                  </a:lnTo>
                  <a:lnTo>
                    <a:pt x="4312976" y="24355"/>
                  </a:lnTo>
                  <a:lnTo>
                    <a:pt x="4349067" y="52244"/>
                  </a:lnTo>
                  <a:lnTo>
                    <a:pt x="4376956" y="88335"/>
                  </a:lnTo>
                  <a:lnTo>
                    <a:pt x="4394939" y="130924"/>
                  </a:lnTo>
                  <a:lnTo>
                    <a:pt x="4401312" y="178307"/>
                  </a:lnTo>
                  <a:lnTo>
                    <a:pt x="4401312" y="356615"/>
                  </a:lnTo>
                  <a:lnTo>
                    <a:pt x="0" y="356615"/>
                  </a:lnTo>
                  <a:lnTo>
                    <a:pt x="0" y="0"/>
                  </a:lnTo>
                  <a:close/>
                </a:path>
              </a:pathLst>
            </a:custGeom>
            <a:ln w="9525">
              <a:solidFill>
                <a:srgbClr val="29B974"/>
              </a:solidFill>
            </a:ln>
          </p:spPr>
          <p:txBody>
            <a:bodyPr wrap="square" lIns="0" tIns="0" rIns="0" bIns="0" rtlCol="0"/>
            <a:lstStyle/>
            <a:p>
              <a:endParaRPr/>
            </a:p>
          </p:txBody>
        </p:sp>
      </p:grpSp>
      <p:sp>
        <p:nvSpPr>
          <p:cNvPr id="9" name="object 9"/>
          <p:cNvSpPr txBox="1"/>
          <p:nvPr/>
        </p:nvSpPr>
        <p:spPr>
          <a:xfrm>
            <a:off x="1572513" y="1656714"/>
            <a:ext cx="2225675" cy="285115"/>
          </a:xfrm>
          <a:prstGeom prst="rect">
            <a:avLst/>
          </a:prstGeom>
        </p:spPr>
        <p:txBody>
          <a:bodyPr vert="horz" wrap="square" lIns="0" tIns="13335" rIns="0" bIns="0" rtlCol="0">
            <a:spAutoFit/>
          </a:bodyPr>
          <a:lstStyle/>
          <a:p>
            <a:pPr marL="12700">
              <a:lnSpc>
                <a:spcPct val="100000"/>
              </a:lnSpc>
              <a:spcBef>
                <a:spcPts val="105"/>
              </a:spcBef>
            </a:pPr>
            <a:r>
              <a:rPr sz="1700">
                <a:solidFill>
                  <a:srgbClr val="FFFFFF"/>
                </a:solidFill>
                <a:latin typeface="Trebuchet MS"/>
                <a:cs typeface="Trebuchet MS"/>
              </a:rPr>
              <a:t>Overall</a:t>
            </a:r>
            <a:r>
              <a:rPr sz="1700" spc="-50">
                <a:solidFill>
                  <a:srgbClr val="FFFFFF"/>
                </a:solidFill>
                <a:latin typeface="Trebuchet MS"/>
                <a:cs typeface="Trebuchet MS"/>
              </a:rPr>
              <a:t> </a:t>
            </a:r>
            <a:r>
              <a:rPr sz="1700">
                <a:solidFill>
                  <a:srgbClr val="FFFFFF"/>
                </a:solidFill>
                <a:latin typeface="Trebuchet MS"/>
                <a:cs typeface="Trebuchet MS"/>
              </a:rPr>
              <a:t>project</a:t>
            </a:r>
            <a:r>
              <a:rPr sz="1700" spc="-35">
                <a:solidFill>
                  <a:srgbClr val="FFFFFF"/>
                </a:solidFill>
                <a:latin typeface="Trebuchet MS"/>
                <a:cs typeface="Trebuchet MS"/>
              </a:rPr>
              <a:t> </a:t>
            </a:r>
            <a:r>
              <a:rPr sz="1700" spc="-10">
                <a:solidFill>
                  <a:srgbClr val="FFFFFF"/>
                </a:solidFill>
                <a:latin typeface="Trebuchet MS"/>
                <a:cs typeface="Trebuchet MS"/>
              </a:rPr>
              <a:t>impact</a:t>
            </a:r>
            <a:endParaRPr sz="1700">
              <a:latin typeface="Trebuchet MS"/>
              <a:cs typeface="Trebuchet MS"/>
            </a:endParaRPr>
          </a:p>
        </p:txBody>
      </p:sp>
      <p:grpSp>
        <p:nvGrpSpPr>
          <p:cNvPr id="10" name="object 10"/>
          <p:cNvGrpSpPr/>
          <p:nvPr/>
        </p:nvGrpSpPr>
        <p:grpSpPr>
          <a:xfrm>
            <a:off x="612711" y="1353375"/>
            <a:ext cx="902335" cy="903605"/>
            <a:chOff x="612711" y="1353375"/>
            <a:chExt cx="902335" cy="903605"/>
          </a:xfrm>
        </p:grpSpPr>
        <p:sp>
          <p:nvSpPr>
            <p:cNvPr id="11" name="object 11"/>
            <p:cNvSpPr/>
            <p:nvPr/>
          </p:nvSpPr>
          <p:spPr>
            <a:xfrm>
              <a:off x="630173" y="1370838"/>
              <a:ext cx="867410" cy="868680"/>
            </a:xfrm>
            <a:custGeom>
              <a:avLst/>
              <a:gdLst/>
              <a:ahLst/>
              <a:cxnLst/>
              <a:rect l="l" t="t" r="r" b="b"/>
              <a:pathLst>
                <a:path w="867410" h="868680">
                  <a:moveTo>
                    <a:pt x="433578" y="0"/>
                  </a:moveTo>
                  <a:lnTo>
                    <a:pt x="386334" y="2548"/>
                  </a:lnTo>
                  <a:lnTo>
                    <a:pt x="340565" y="10016"/>
                  </a:lnTo>
                  <a:lnTo>
                    <a:pt x="296533" y="22140"/>
                  </a:lnTo>
                  <a:lnTo>
                    <a:pt x="254504" y="38654"/>
                  </a:lnTo>
                  <a:lnTo>
                    <a:pt x="214742" y="59294"/>
                  </a:lnTo>
                  <a:lnTo>
                    <a:pt x="177512" y="83795"/>
                  </a:lnTo>
                  <a:lnTo>
                    <a:pt x="143078" y="111892"/>
                  </a:lnTo>
                  <a:lnTo>
                    <a:pt x="111704" y="143320"/>
                  </a:lnTo>
                  <a:lnTo>
                    <a:pt x="83655" y="177814"/>
                  </a:lnTo>
                  <a:lnTo>
                    <a:pt x="59196" y="215109"/>
                  </a:lnTo>
                  <a:lnTo>
                    <a:pt x="38590" y="254941"/>
                  </a:lnTo>
                  <a:lnTo>
                    <a:pt x="22104" y="297045"/>
                  </a:lnTo>
                  <a:lnTo>
                    <a:pt x="10000" y="341156"/>
                  </a:lnTo>
                  <a:lnTo>
                    <a:pt x="2544" y="387009"/>
                  </a:lnTo>
                  <a:lnTo>
                    <a:pt x="0" y="434339"/>
                  </a:lnTo>
                  <a:lnTo>
                    <a:pt x="2544" y="481670"/>
                  </a:lnTo>
                  <a:lnTo>
                    <a:pt x="10000" y="527523"/>
                  </a:lnTo>
                  <a:lnTo>
                    <a:pt x="22104" y="571634"/>
                  </a:lnTo>
                  <a:lnTo>
                    <a:pt x="38590" y="613738"/>
                  </a:lnTo>
                  <a:lnTo>
                    <a:pt x="59196" y="653570"/>
                  </a:lnTo>
                  <a:lnTo>
                    <a:pt x="83655" y="690865"/>
                  </a:lnTo>
                  <a:lnTo>
                    <a:pt x="111704" y="725359"/>
                  </a:lnTo>
                  <a:lnTo>
                    <a:pt x="143078" y="756787"/>
                  </a:lnTo>
                  <a:lnTo>
                    <a:pt x="177512" y="784884"/>
                  </a:lnTo>
                  <a:lnTo>
                    <a:pt x="214742" y="809385"/>
                  </a:lnTo>
                  <a:lnTo>
                    <a:pt x="254504" y="830025"/>
                  </a:lnTo>
                  <a:lnTo>
                    <a:pt x="296533" y="846539"/>
                  </a:lnTo>
                  <a:lnTo>
                    <a:pt x="340565" y="858663"/>
                  </a:lnTo>
                  <a:lnTo>
                    <a:pt x="386334" y="866131"/>
                  </a:lnTo>
                  <a:lnTo>
                    <a:pt x="433578" y="868679"/>
                  </a:lnTo>
                  <a:lnTo>
                    <a:pt x="480810" y="866131"/>
                  </a:lnTo>
                  <a:lnTo>
                    <a:pt x="526571" y="858663"/>
                  </a:lnTo>
                  <a:lnTo>
                    <a:pt x="570597" y="846539"/>
                  </a:lnTo>
                  <a:lnTo>
                    <a:pt x="612623" y="830025"/>
                  </a:lnTo>
                  <a:lnTo>
                    <a:pt x="652384" y="809385"/>
                  </a:lnTo>
                  <a:lnTo>
                    <a:pt x="689616" y="784884"/>
                  </a:lnTo>
                  <a:lnTo>
                    <a:pt x="724052" y="756787"/>
                  </a:lnTo>
                  <a:lnTo>
                    <a:pt x="755429" y="725359"/>
                  </a:lnTo>
                  <a:lnTo>
                    <a:pt x="783482" y="690865"/>
                  </a:lnTo>
                  <a:lnTo>
                    <a:pt x="807945" y="653570"/>
                  </a:lnTo>
                  <a:lnTo>
                    <a:pt x="828555" y="613738"/>
                  </a:lnTo>
                  <a:lnTo>
                    <a:pt x="845045" y="571634"/>
                  </a:lnTo>
                  <a:lnTo>
                    <a:pt x="857152" y="527523"/>
                  </a:lnTo>
                  <a:lnTo>
                    <a:pt x="864611" y="481670"/>
                  </a:lnTo>
                  <a:lnTo>
                    <a:pt x="867156" y="434339"/>
                  </a:lnTo>
                  <a:lnTo>
                    <a:pt x="864611" y="387009"/>
                  </a:lnTo>
                  <a:lnTo>
                    <a:pt x="857152" y="341156"/>
                  </a:lnTo>
                  <a:lnTo>
                    <a:pt x="845045" y="297045"/>
                  </a:lnTo>
                  <a:lnTo>
                    <a:pt x="828555" y="254941"/>
                  </a:lnTo>
                  <a:lnTo>
                    <a:pt x="807945" y="215109"/>
                  </a:lnTo>
                  <a:lnTo>
                    <a:pt x="783482" y="177814"/>
                  </a:lnTo>
                  <a:lnTo>
                    <a:pt x="755429" y="143320"/>
                  </a:lnTo>
                  <a:lnTo>
                    <a:pt x="724052" y="111892"/>
                  </a:lnTo>
                  <a:lnTo>
                    <a:pt x="689616" y="83795"/>
                  </a:lnTo>
                  <a:lnTo>
                    <a:pt x="652384" y="59294"/>
                  </a:lnTo>
                  <a:lnTo>
                    <a:pt x="612623" y="38654"/>
                  </a:lnTo>
                  <a:lnTo>
                    <a:pt x="570597" y="22140"/>
                  </a:lnTo>
                  <a:lnTo>
                    <a:pt x="526571" y="10016"/>
                  </a:lnTo>
                  <a:lnTo>
                    <a:pt x="480810" y="2548"/>
                  </a:lnTo>
                  <a:lnTo>
                    <a:pt x="433578" y="0"/>
                  </a:lnTo>
                  <a:close/>
                </a:path>
              </a:pathLst>
            </a:custGeom>
            <a:solidFill>
              <a:srgbClr val="FFFFFF"/>
            </a:solidFill>
          </p:spPr>
          <p:txBody>
            <a:bodyPr wrap="square" lIns="0" tIns="0" rIns="0" bIns="0" rtlCol="0"/>
            <a:lstStyle/>
            <a:p>
              <a:endParaRPr/>
            </a:p>
          </p:txBody>
        </p:sp>
        <p:sp>
          <p:nvSpPr>
            <p:cNvPr id="12" name="object 12"/>
            <p:cNvSpPr/>
            <p:nvPr/>
          </p:nvSpPr>
          <p:spPr>
            <a:xfrm>
              <a:off x="630173" y="1370838"/>
              <a:ext cx="867410" cy="868680"/>
            </a:xfrm>
            <a:custGeom>
              <a:avLst/>
              <a:gdLst/>
              <a:ahLst/>
              <a:cxnLst/>
              <a:rect l="l" t="t" r="r" b="b"/>
              <a:pathLst>
                <a:path w="867410" h="868680">
                  <a:moveTo>
                    <a:pt x="0" y="434339"/>
                  </a:moveTo>
                  <a:lnTo>
                    <a:pt x="2544" y="387009"/>
                  </a:lnTo>
                  <a:lnTo>
                    <a:pt x="10000" y="341156"/>
                  </a:lnTo>
                  <a:lnTo>
                    <a:pt x="22104" y="297045"/>
                  </a:lnTo>
                  <a:lnTo>
                    <a:pt x="38590" y="254941"/>
                  </a:lnTo>
                  <a:lnTo>
                    <a:pt x="59196" y="215109"/>
                  </a:lnTo>
                  <a:lnTo>
                    <a:pt x="83655" y="177814"/>
                  </a:lnTo>
                  <a:lnTo>
                    <a:pt x="111704" y="143320"/>
                  </a:lnTo>
                  <a:lnTo>
                    <a:pt x="143078" y="111892"/>
                  </a:lnTo>
                  <a:lnTo>
                    <a:pt x="177512" y="83795"/>
                  </a:lnTo>
                  <a:lnTo>
                    <a:pt x="214742" y="59294"/>
                  </a:lnTo>
                  <a:lnTo>
                    <a:pt x="254504" y="38654"/>
                  </a:lnTo>
                  <a:lnTo>
                    <a:pt x="296533" y="22140"/>
                  </a:lnTo>
                  <a:lnTo>
                    <a:pt x="340565" y="10016"/>
                  </a:lnTo>
                  <a:lnTo>
                    <a:pt x="386334" y="2548"/>
                  </a:lnTo>
                  <a:lnTo>
                    <a:pt x="433578" y="0"/>
                  </a:lnTo>
                  <a:lnTo>
                    <a:pt x="480810" y="2548"/>
                  </a:lnTo>
                  <a:lnTo>
                    <a:pt x="526571" y="10016"/>
                  </a:lnTo>
                  <a:lnTo>
                    <a:pt x="570597" y="22140"/>
                  </a:lnTo>
                  <a:lnTo>
                    <a:pt x="612623" y="38654"/>
                  </a:lnTo>
                  <a:lnTo>
                    <a:pt x="652384" y="59294"/>
                  </a:lnTo>
                  <a:lnTo>
                    <a:pt x="689616" y="83795"/>
                  </a:lnTo>
                  <a:lnTo>
                    <a:pt x="724052" y="111892"/>
                  </a:lnTo>
                  <a:lnTo>
                    <a:pt x="755429" y="143320"/>
                  </a:lnTo>
                  <a:lnTo>
                    <a:pt x="783482" y="177814"/>
                  </a:lnTo>
                  <a:lnTo>
                    <a:pt x="807945" y="215109"/>
                  </a:lnTo>
                  <a:lnTo>
                    <a:pt x="828555" y="254941"/>
                  </a:lnTo>
                  <a:lnTo>
                    <a:pt x="845045" y="297045"/>
                  </a:lnTo>
                  <a:lnTo>
                    <a:pt x="857152" y="341156"/>
                  </a:lnTo>
                  <a:lnTo>
                    <a:pt x="864611" y="387009"/>
                  </a:lnTo>
                  <a:lnTo>
                    <a:pt x="867156" y="434339"/>
                  </a:lnTo>
                  <a:lnTo>
                    <a:pt x="864611" y="481670"/>
                  </a:lnTo>
                  <a:lnTo>
                    <a:pt x="857152" y="527523"/>
                  </a:lnTo>
                  <a:lnTo>
                    <a:pt x="845045" y="571634"/>
                  </a:lnTo>
                  <a:lnTo>
                    <a:pt x="828555" y="613738"/>
                  </a:lnTo>
                  <a:lnTo>
                    <a:pt x="807945" y="653570"/>
                  </a:lnTo>
                  <a:lnTo>
                    <a:pt x="783482" y="690865"/>
                  </a:lnTo>
                  <a:lnTo>
                    <a:pt x="755429" y="725359"/>
                  </a:lnTo>
                  <a:lnTo>
                    <a:pt x="724052" y="756787"/>
                  </a:lnTo>
                  <a:lnTo>
                    <a:pt x="689616" y="784884"/>
                  </a:lnTo>
                  <a:lnTo>
                    <a:pt x="652384" y="809385"/>
                  </a:lnTo>
                  <a:lnTo>
                    <a:pt x="612623" y="830025"/>
                  </a:lnTo>
                  <a:lnTo>
                    <a:pt x="570597" y="846539"/>
                  </a:lnTo>
                  <a:lnTo>
                    <a:pt x="526571" y="858663"/>
                  </a:lnTo>
                  <a:lnTo>
                    <a:pt x="480810" y="866131"/>
                  </a:lnTo>
                  <a:lnTo>
                    <a:pt x="433578" y="868679"/>
                  </a:lnTo>
                  <a:lnTo>
                    <a:pt x="386334" y="866131"/>
                  </a:lnTo>
                  <a:lnTo>
                    <a:pt x="340565" y="858663"/>
                  </a:lnTo>
                  <a:lnTo>
                    <a:pt x="296533" y="846539"/>
                  </a:lnTo>
                  <a:lnTo>
                    <a:pt x="254504" y="830025"/>
                  </a:lnTo>
                  <a:lnTo>
                    <a:pt x="214742" y="809385"/>
                  </a:lnTo>
                  <a:lnTo>
                    <a:pt x="177512" y="784884"/>
                  </a:lnTo>
                  <a:lnTo>
                    <a:pt x="143078" y="756787"/>
                  </a:lnTo>
                  <a:lnTo>
                    <a:pt x="111704" y="725359"/>
                  </a:lnTo>
                  <a:lnTo>
                    <a:pt x="83655" y="690865"/>
                  </a:lnTo>
                  <a:lnTo>
                    <a:pt x="59196" y="653570"/>
                  </a:lnTo>
                  <a:lnTo>
                    <a:pt x="38590" y="613738"/>
                  </a:lnTo>
                  <a:lnTo>
                    <a:pt x="22104" y="571634"/>
                  </a:lnTo>
                  <a:lnTo>
                    <a:pt x="10000" y="527523"/>
                  </a:lnTo>
                  <a:lnTo>
                    <a:pt x="2544" y="481670"/>
                  </a:lnTo>
                  <a:lnTo>
                    <a:pt x="0" y="434339"/>
                  </a:lnTo>
                  <a:close/>
                </a:path>
              </a:pathLst>
            </a:custGeom>
            <a:ln w="34924">
              <a:solidFill>
                <a:srgbClr val="29B974"/>
              </a:solidFill>
            </a:ln>
          </p:spPr>
          <p:txBody>
            <a:bodyPr wrap="square" lIns="0" tIns="0" rIns="0" bIns="0" rtlCol="0"/>
            <a:lstStyle/>
            <a:p>
              <a:endParaRPr/>
            </a:p>
          </p:txBody>
        </p:sp>
        <p:sp>
          <p:nvSpPr>
            <p:cNvPr id="13" name="object 13"/>
            <p:cNvSpPr/>
            <p:nvPr/>
          </p:nvSpPr>
          <p:spPr>
            <a:xfrm>
              <a:off x="806195" y="1589522"/>
              <a:ext cx="289560" cy="429895"/>
            </a:xfrm>
            <a:custGeom>
              <a:avLst/>
              <a:gdLst/>
              <a:ahLst/>
              <a:cxnLst/>
              <a:rect l="l" t="t" r="r" b="b"/>
              <a:pathLst>
                <a:path w="289559" h="429894">
                  <a:moveTo>
                    <a:pt x="286766" y="394725"/>
                  </a:moveTo>
                  <a:lnTo>
                    <a:pt x="2794" y="394725"/>
                  </a:lnTo>
                  <a:lnTo>
                    <a:pt x="0" y="397519"/>
                  </a:lnTo>
                  <a:lnTo>
                    <a:pt x="0" y="426983"/>
                  </a:lnTo>
                  <a:lnTo>
                    <a:pt x="2794" y="429777"/>
                  </a:lnTo>
                  <a:lnTo>
                    <a:pt x="286766" y="429777"/>
                  </a:lnTo>
                  <a:lnTo>
                    <a:pt x="289560" y="426983"/>
                  </a:lnTo>
                  <a:lnTo>
                    <a:pt x="289560" y="397519"/>
                  </a:lnTo>
                  <a:lnTo>
                    <a:pt x="286766" y="394725"/>
                  </a:lnTo>
                  <a:close/>
                </a:path>
                <a:path w="289559" h="429894">
                  <a:moveTo>
                    <a:pt x="269748" y="368817"/>
                  </a:moveTo>
                  <a:lnTo>
                    <a:pt x="20091" y="368817"/>
                  </a:lnTo>
                  <a:lnTo>
                    <a:pt x="17297" y="371611"/>
                  </a:lnTo>
                  <a:lnTo>
                    <a:pt x="17297" y="394725"/>
                  </a:lnTo>
                  <a:lnTo>
                    <a:pt x="272262" y="394725"/>
                  </a:lnTo>
                  <a:lnTo>
                    <a:pt x="272262" y="371611"/>
                  </a:lnTo>
                  <a:lnTo>
                    <a:pt x="269748" y="368817"/>
                  </a:lnTo>
                  <a:close/>
                </a:path>
                <a:path w="289559" h="429894">
                  <a:moveTo>
                    <a:pt x="94907" y="210702"/>
                  </a:moveTo>
                  <a:lnTo>
                    <a:pt x="90436" y="223021"/>
                  </a:lnTo>
                  <a:lnTo>
                    <a:pt x="89271" y="230211"/>
                  </a:lnTo>
                  <a:lnTo>
                    <a:pt x="90960" y="237007"/>
                  </a:lnTo>
                  <a:lnTo>
                    <a:pt x="95112" y="242685"/>
                  </a:lnTo>
                  <a:lnTo>
                    <a:pt x="101333" y="246516"/>
                  </a:lnTo>
                  <a:lnTo>
                    <a:pt x="172326" y="272678"/>
                  </a:lnTo>
                  <a:lnTo>
                    <a:pt x="179490" y="273704"/>
                  </a:lnTo>
                  <a:lnTo>
                    <a:pt x="186261" y="272028"/>
                  </a:lnTo>
                  <a:lnTo>
                    <a:pt x="191932" y="267946"/>
                  </a:lnTo>
                  <a:lnTo>
                    <a:pt x="195795" y="261756"/>
                  </a:lnTo>
                  <a:lnTo>
                    <a:pt x="200279" y="249310"/>
                  </a:lnTo>
                  <a:lnTo>
                    <a:pt x="198043" y="249310"/>
                  </a:lnTo>
                  <a:lnTo>
                    <a:pt x="194119" y="248294"/>
                  </a:lnTo>
                  <a:lnTo>
                    <a:pt x="100495" y="213750"/>
                  </a:lnTo>
                  <a:lnTo>
                    <a:pt x="98259" y="212861"/>
                  </a:lnTo>
                  <a:lnTo>
                    <a:pt x="96583" y="211718"/>
                  </a:lnTo>
                  <a:lnTo>
                    <a:pt x="94907" y="210702"/>
                  </a:lnTo>
                  <a:close/>
                </a:path>
                <a:path w="289559" h="429894">
                  <a:moveTo>
                    <a:pt x="183749" y="0"/>
                  </a:moveTo>
                  <a:lnTo>
                    <a:pt x="176933" y="1676"/>
                  </a:lnTo>
                  <a:lnTo>
                    <a:pt x="171265" y="5758"/>
                  </a:lnTo>
                  <a:lnTo>
                    <a:pt x="167525" y="11947"/>
                  </a:lnTo>
                  <a:lnTo>
                    <a:pt x="163067" y="24520"/>
                  </a:lnTo>
                  <a:lnTo>
                    <a:pt x="165023" y="24520"/>
                  </a:lnTo>
                  <a:lnTo>
                    <a:pt x="167246" y="24774"/>
                  </a:lnTo>
                  <a:lnTo>
                    <a:pt x="169202" y="25663"/>
                  </a:lnTo>
                  <a:lnTo>
                    <a:pt x="262547" y="59699"/>
                  </a:lnTo>
                  <a:lnTo>
                    <a:pt x="264490" y="60588"/>
                  </a:lnTo>
                  <a:lnTo>
                    <a:pt x="266445" y="61731"/>
                  </a:lnTo>
                  <a:lnTo>
                    <a:pt x="267842" y="63128"/>
                  </a:lnTo>
                  <a:lnTo>
                    <a:pt x="272580" y="50555"/>
                  </a:lnTo>
                  <a:lnTo>
                    <a:pt x="190931" y="1025"/>
                  </a:lnTo>
                  <a:lnTo>
                    <a:pt x="183749" y="0"/>
                  </a:lnTo>
                  <a:close/>
                </a:path>
              </a:pathLst>
            </a:custGeom>
            <a:solidFill>
              <a:srgbClr val="03522C"/>
            </a:solidFill>
          </p:spPr>
          <p:txBody>
            <a:bodyPr wrap="square" lIns="0" tIns="0" rIns="0" bIns="0" rtlCol="0"/>
            <a:lstStyle/>
            <a:p>
              <a:endParaRPr/>
            </a:p>
          </p:txBody>
        </p:sp>
        <p:sp>
          <p:nvSpPr>
            <p:cNvPr id="14" name="object 14"/>
            <p:cNvSpPr/>
            <p:nvPr/>
          </p:nvSpPr>
          <p:spPr>
            <a:xfrm>
              <a:off x="905878" y="1625346"/>
              <a:ext cx="414020" cy="243204"/>
            </a:xfrm>
            <a:custGeom>
              <a:avLst/>
              <a:gdLst/>
              <a:ahLst/>
              <a:cxnLst/>
              <a:rect l="l" t="t" r="r" b="b"/>
              <a:pathLst>
                <a:path w="414019" h="243205">
                  <a:moveTo>
                    <a:pt x="153327" y="106679"/>
                  </a:moveTo>
                  <a:lnTo>
                    <a:pt x="152488" y="106679"/>
                  </a:lnTo>
                  <a:lnTo>
                    <a:pt x="139090" y="142875"/>
                  </a:lnTo>
                  <a:lnTo>
                    <a:pt x="139928" y="143509"/>
                  </a:lnTo>
                  <a:lnTo>
                    <a:pt x="140474" y="144017"/>
                  </a:lnTo>
                  <a:lnTo>
                    <a:pt x="141312" y="144271"/>
                  </a:lnTo>
                  <a:lnTo>
                    <a:pt x="383933" y="241934"/>
                  </a:lnTo>
                  <a:lnTo>
                    <a:pt x="390501" y="243054"/>
                  </a:lnTo>
                  <a:lnTo>
                    <a:pt x="412889" y="211962"/>
                  </a:lnTo>
                  <a:lnTo>
                    <a:pt x="413871" y="205212"/>
                  </a:lnTo>
                  <a:lnTo>
                    <a:pt x="412270" y="198913"/>
                  </a:lnTo>
                  <a:lnTo>
                    <a:pt x="408406" y="193710"/>
                  </a:lnTo>
                  <a:lnTo>
                    <a:pt x="402602" y="190245"/>
                  </a:lnTo>
                  <a:lnTo>
                    <a:pt x="154990" y="107314"/>
                  </a:lnTo>
                  <a:lnTo>
                    <a:pt x="154165" y="107061"/>
                  </a:lnTo>
                  <a:lnTo>
                    <a:pt x="153327" y="106679"/>
                  </a:lnTo>
                  <a:close/>
                </a:path>
                <a:path w="414019" h="243205">
                  <a:moveTo>
                    <a:pt x="61861" y="0"/>
                  </a:moveTo>
                  <a:lnTo>
                    <a:pt x="58521" y="1650"/>
                  </a:lnTo>
                  <a:lnTo>
                    <a:pt x="57124" y="4825"/>
                  </a:lnTo>
                  <a:lnTo>
                    <a:pt x="1396" y="158368"/>
                  </a:lnTo>
                  <a:lnTo>
                    <a:pt x="0" y="161798"/>
                  </a:lnTo>
                  <a:lnTo>
                    <a:pt x="1676" y="165100"/>
                  </a:lnTo>
                  <a:lnTo>
                    <a:pt x="5016" y="166496"/>
                  </a:lnTo>
                  <a:lnTo>
                    <a:pt x="98374" y="200787"/>
                  </a:lnTo>
                  <a:lnTo>
                    <a:pt x="101434" y="202183"/>
                  </a:lnTo>
                  <a:lnTo>
                    <a:pt x="105054" y="200532"/>
                  </a:lnTo>
                  <a:lnTo>
                    <a:pt x="106172" y="197103"/>
                  </a:lnTo>
                  <a:lnTo>
                    <a:pt x="162191" y="43561"/>
                  </a:lnTo>
                  <a:lnTo>
                    <a:pt x="163296" y="40386"/>
                  </a:lnTo>
                  <a:lnTo>
                    <a:pt x="161632" y="36829"/>
                  </a:lnTo>
                  <a:lnTo>
                    <a:pt x="65214" y="1142"/>
                  </a:lnTo>
                  <a:lnTo>
                    <a:pt x="61861" y="0"/>
                  </a:lnTo>
                  <a:close/>
                </a:path>
              </a:pathLst>
            </a:custGeom>
            <a:solidFill>
              <a:srgbClr val="29B974"/>
            </a:solidFill>
          </p:spPr>
          <p:txBody>
            <a:bodyPr wrap="square" lIns="0" tIns="0" rIns="0" bIns="0" rtlCol="0"/>
            <a:lstStyle/>
            <a:p>
              <a:endParaRPr/>
            </a:p>
          </p:txBody>
        </p:sp>
      </p:grpSp>
      <p:grpSp>
        <p:nvGrpSpPr>
          <p:cNvPr id="15" name="object 15"/>
          <p:cNvGrpSpPr/>
          <p:nvPr/>
        </p:nvGrpSpPr>
        <p:grpSpPr>
          <a:xfrm>
            <a:off x="7158037" y="1621345"/>
            <a:ext cx="4409440" cy="366395"/>
            <a:chOff x="7158037" y="1621345"/>
            <a:chExt cx="4409440" cy="366395"/>
          </a:xfrm>
        </p:grpSpPr>
        <p:sp>
          <p:nvSpPr>
            <p:cNvPr id="16" name="object 16"/>
            <p:cNvSpPr/>
            <p:nvPr/>
          </p:nvSpPr>
          <p:spPr>
            <a:xfrm>
              <a:off x="7162800" y="1626108"/>
              <a:ext cx="4399915" cy="356870"/>
            </a:xfrm>
            <a:custGeom>
              <a:avLst/>
              <a:gdLst/>
              <a:ahLst/>
              <a:cxnLst/>
              <a:rect l="l" t="t" r="r" b="b"/>
              <a:pathLst>
                <a:path w="4399915" h="356869">
                  <a:moveTo>
                    <a:pt x="4221480" y="0"/>
                  </a:moveTo>
                  <a:lnTo>
                    <a:pt x="0" y="0"/>
                  </a:lnTo>
                  <a:lnTo>
                    <a:pt x="0" y="356615"/>
                  </a:lnTo>
                  <a:lnTo>
                    <a:pt x="4399788" y="356615"/>
                  </a:lnTo>
                  <a:lnTo>
                    <a:pt x="4399788" y="178307"/>
                  </a:lnTo>
                  <a:lnTo>
                    <a:pt x="4393415" y="130924"/>
                  </a:lnTo>
                  <a:lnTo>
                    <a:pt x="4375432" y="88335"/>
                  </a:lnTo>
                  <a:lnTo>
                    <a:pt x="4347543" y="52244"/>
                  </a:lnTo>
                  <a:lnTo>
                    <a:pt x="4311452" y="24355"/>
                  </a:lnTo>
                  <a:lnTo>
                    <a:pt x="4268863" y="6372"/>
                  </a:lnTo>
                  <a:lnTo>
                    <a:pt x="4221480" y="0"/>
                  </a:lnTo>
                  <a:close/>
                </a:path>
              </a:pathLst>
            </a:custGeom>
            <a:solidFill>
              <a:srgbClr val="29B974"/>
            </a:solidFill>
          </p:spPr>
          <p:txBody>
            <a:bodyPr wrap="square" lIns="0" tIns="0" rIns="0" bIns="0" rtlCol="0"/>
            <a:lstStyle/>
            <a:p>
              <a:endParaRPr/>
            </a:p>
          </p:txBody>
        </p:sp>
        <p:sp>
          <p:nvSpPr>
            <p:cNvPr id="17" name="object 17"/>
            <p:cNvSpPr/>
            <p:nvPr/>
          </p:nvSpPr>
          <p:spPr>
            <a:xfrm>
              <a:off x="7162800" y="1626108"/>
              <a:ext cx="4399915" cy="356870"/>
            </a:xfrm>
            <a:custGeom>
              <a:avLst/>
              <a:gdLst/>
              <a:ahLst/>
              <a:cxnLst/>
              <a:rect l="l" t="t" r="r" b="b"/>
              <a:pathLst>
                <a:path w="4399915" h="356869">
                  <a:moveTo>
                    <a:pt x="0" y="0"/>
                  </a:moveTo>
                  <a:lnTo>
                    <a:pt x="4221480" y="0"/>
                  </a:lnTo>
                  <a:lnTo>
                    <a:pt x="4268863" y="6372"/>
                  </a:lnTo>
                  <a:lnTo>
                    <a:pt x="4311452" y="24355"/>
                  </a:lnTo>
                  <a:lnTo>
                    <a:pt x="4347543" y="52244"/>
                  </a:lnTo>
                  <a:lnTo>
                    <a:pt x="4375432" y="88335"/>
                  </a:lnTo>
                  <a:lnTo>
                    <a:pt x="4393415" y="130924"/>
                  </a:lnTo>
                  <a:lnTo>
                    <a:pt x="4399788" y="178307"/>
                  </a:lnTo>
                  <a:lnTo>
                    <a:pt x="4399788" y="356615"/>
                  </a:lnTo>
                  <a:lnTo>
                    <a:pt x="0" y="356615"/>
                  </a:lnTo>
                  <a:lnTo>
                    <a:pt x="0" y="0"/>
                  </a:lnTo>
                  <a:close/>
                </a:path>
              </a:pathLst>
            </a:custGeom>
            <a:ln w="9525">
              <a:solidFill>
                <a:srgbClr val="29B974"/>
              </a:solidFill>
            </a:ln>
          </p:spPr>
          <p:txBody>
            <a:bodyPr wrap="square" lIns="0" tIns="0" rIns="0" bIns="0" rtlCol="0"/>
            <a:lstStyle/>
            <a:p>
              <a:endParaRPr/>
            </a:p>
          </p:txBody>
        </p:sp>
      </p:grpSp>
      <p:sp>
        <p:nvSpPr>
          <p:cNvPr id="18" name="object 18"/>
          <p:cNvSpPr txBox="1"/>
          <p:nvPr/>
        </p:nvSpPr>
        <p:spPr>
          <a:xfrm>
            <a:off x="7288148" y="1656714"/>
            <a:ext cx="4125595" cy="285115"/>
          </a:xfrm>
          <a:prstGeom prst="rect">
            <a:avLst/>
          </a:prstGeom>
        </p:spPr>
        <p:txBody>
          <a:bodyPr vert="horz" wrap="square" lIns="0" tIns="13335" rIns="0" bIns="0" rtlCol="0">
            <a:spAutoFit/>
          </a:bodyPr>
          <a:lstStyle/>
          <a:p>
            <a:pPr marL="12700">
              <a:lnSpc>
                <a:spcPct val="100000"/>
              </a:lnSpc>
              <a:spcBef>
                <a:spcPts val="105"/>
              </a:spcBef>
            </a:pPr>
            <a:r>
              <a:rPr sz="1700" spc="-10">
                <a:solidFill>
                  <a:srgbClr val="FFFFFF"/>
                </a:solidFill>
                <a:latin typeface="Trebuchet MS"/>
                <a:cs typeface="Trebuchet MS"/>
              </a:rPr>
              <a:t>Deep-</a:t>
            </a:r>
            <a:r>
              <a:rPr sz="1700">
                <a:solidFill>
                  <a:srgbClr val="FFFFFF"/>
                </a:solidFill>
                <a:latin typeface="Trebuchet MS"/>
                <a:cs typeface="Trebuchet MS"/>
              </a:rPr>
              <a:t>dive</a:t>
            </a:r>
            <a:r>
              <a:rPr sz="1700" spc="-20">
                <a:solidFill>
                  <a:srgbClr val="FFFFFF"/>
                </a:solidFill>
                <a:latin typeface="Trebuchet MS"/>
                <a:cs typeface="Trebuchet MS"/>
              </a:rPr>
              <a:t> </a:t>
            </a:r>
            <a:r>
              <a:rPr sz="1700">
                <a:solidFill>
                  <a:srgbClr val="FFFFFF"/>
                </a:solidFill>
                <a:latin typeface="Trebuchet MS"/>
                <a:cs typeface="Trebuchet MS"/>
              </a:rPr>
              <a:t>on</a:t>
            </a:r>
            <a:r>
              <a:rPr sz="1700" spc="-20">
                <a:solidFill>
                  <a:srgbClr val="FFFFFF"/>
                </a:solidFill>
                <a:latin typeface="Trebuchet MS"/>
                <a:cs typeface="Trebuchet MS"/>
              </a:rPr>
              <a:t> </a:t>
            </a:r>
            <a:r>
              <a:rPr sz="1700">
                <a:solidFill>
                  <a:srgbClr val="FFFFFF"/>
                </a:solidFill>
                <a:latin typeface="Trebuchet MS"/>
                <a:cs typeface="Trebuchet MS"/>
              </a:rPr>
              <a:t>leads</a:t>
            </a:r>
            <a:r>
              <a:rPr sz="1700" spc="-30">
                <a:solidFill>
                  <a:srgbClr val="FFFFFF"/>
                </a:solidFill>
                <a:latin typeface="Trebuchet MS"/>
                <a:cs typeface="Trebuchet MS"/>
              </a:rPr>
              <a:t> </a:t>
            </a:r>
            <a:r>
              <a:rPr sz="1700">
                <a:solidFill>
                  <a:srgbClr val="FFFFFF"/>
                </a:solidFill>
                <a:latin typeface="Trebuchet MS"/>
                <a:cs typeface="Trebuchet MS"/>
              </a:rPr>
              <a:t>generated</a:t>
            </a:r>
            <a:r>
              <a:rPr sz="1700" spc="-40">
                <a:solidFill>
                  <a:srgbClr val="FFFFFF"/>
                </a:solidFill>
                <a:latin typeface="Trebuchet MS"/>
                <a:cs typeface="Trebuchet MS"/>
              </a:rPr>
              <a:t> </a:t>
            </a:r>
            <a:r>
              <a:rPr sz="1700">
                <a:solidFill>
                  <a:srgbClr val="FFFFFF"/>
                </a:solidFill>
                <a:latin typeface="Trebuchet MS"/>
                <a:cs typeface="Trebuchet MS"/>
              </a:rPr>
              <a:t>by</a:t>
            </a:r>
            <a:r>
              <a:rPr sz="1700" spc="-15">
                <a:solidFill>
                  <a:srgbClr val="FFFFFF"/>
                </a:solidFill>
                <a:latin typeface="Trebuchet MS"/>
                <a:cs typeface="Trebuchet MS"/>
              </a:rPr>
              <a:t> </a:t>
            </a:r>
            <a:r>
              <a:rPr sz="1700" spc="-10">
                <a:solidFill>
                  <a:srgbClr val="FFFFFF"/>
                </a:solidFill>
                <a:latin typeface="Trebuchet MS"/>
                <a:cs typeface="Trebuchet MS"/>
              </a:rPr>
              <a:t>analytics</a:t>
            </a:r>
            <a:endParaRPr sz="1700">
              <a:latin typeface="Trebuchet MS"/>
              <a:cs typeface="Trebuchet MS"/>
            </a:endParaRPr>
          </a:p>
        </p:txBody>
      </p:sp>
      <p:pic>
        <p:nvPicPr>
          <p:cNvPr id="19" name="object 19"/>
          <p:cNvPicPr/>
          <p:nvPr/>
        </p:nvPicPr>
        <p:blipFill>
          <a:blip r:embed="rId3" cstate="print"/>
          <a:stretch>
            <a:fillRect/>
          </a:stretch>
        </p:blipFill>
        <p:spPr>
          <a:xfrm>
            <a:off x="6327711" y="1353375"/>
            <a:ext cx="902080" cy="903604"/>
          </a:xfrm>
          <a:prstGeom prst="rect">
            <a:avLst/>
          </a:prstGeom>
        </p:spPr>
      </p:pic>
      <p:sp>
        <p:nvSpPr>
          <p:cNvPr id="20" name="object 20"/>
          <p:cNvSpPr txBox="1"/>
          <p:nvPr/>
        </p:nvSpPr>
        <p:spPr>
          <a:xfrm>
            <a:off x="2401570" y="2505582"/>
            <a:ext cx="2928620" cy="756920"/>
          </a:xfrm>
          <a:prstGeom prst="rect">
            <a:avLst/>
          </a:prstGeom>
        </p:spPr>
        <p:txBody>
          <a:bodyPr vert="horz" wrap="square" lIns="0" tIns="12065" rIns="0" bIns="0" rtlCol="0">
            <a:spAutoFit/>
          </a:bodyPr>
          <a:lstStyle/>
          <a:p>
            <a:pPr marL="12700" marR="5080">
              <a:lnSpc>
                <a:spcPct val="100000"/>
              </a:lnSpc>
              <a:spcBef>
                <a:spcPts val="95"/>
              </a:spcBef>
            </a:pPr>
            <a:r>
              <a:rPr sz="1600">
                <a:solidFill>
                  <a:srgbClr val="565656"/>
                </a:solidFill>
                <a:latin typeface="Trebuchet MS"/>
                <a:cs typeface="Trebuchet MS"/>
              </a:rPr>
              <a:t>Avg.</a:t>
            </a:r>
            <a:r>
              <a:rPr sz="1600" spc="-65">
                <a:solidFill>
                  <a:srgbClr val="565656"/>
                </a:solidFill>
                <a:latin typeface="Trebuchet MS"/>
                <a:cs typeface="Trebuchet MS"/>
              </a:rPr>
              <a:t> </a:t>
            </a:r>
            <a:r>
              <a:rPr sz="1600">
                <a:solidFill>
                  <a:srgbClr val="565656"/>
                </a:solidFill>
                <a:latin typeface="Trebuchet MS"/>
                <a:cs typeface="Trebuchet MS"/>
              </a:rPr>
              <a:t>customer</a:t>
            </a:r>
            <a:r>
              <a:rPr sz="1600" spc="-55">
                <a:solidFill>
                  <a:srgbClr val="565656"/>
                </a:solidFill>
                <a:latin typeface="Trebuchet MS"/>
                <a:cs typeface="Trebuchet MS"/>
              </a:rPr>
              <a:t> </a:t>
            </a:r>
            <a:r>
              <a:rPr sz="1600" spc="-10">
                <a:solidFill>
                  <a:srgbClr val="29B974"/>
                </a:solidFill>
                <a:latin typeface="Trebuchet MS"/>
                <a:cs typeface="Trebuchet MS"/>
              </a:rPr>
              <a:t>investment</a:t>
            </a:r>
            <a:r>
              <a:rPr sz="1600" spc="-110">
                <a:solidFill>
                  <a:srgbClr val="29B974"/>
                </a:solidFill>
                <a:latin typeface="Trebuchet MS"/>
                <a:cs typeface="Trebuchet MS"/>
              </a:rPr>
              <a:t> </a:t>
            </a:r>
            <a:r>
              <a:rPr sz="1600" spc="-25">
                <a:solidFill>
                  <a:srgbClr val="29B974"/>
                </a:solidFill>
                <a:latin typeface="Trebuchet MS"/>
                <a:cs typeface="Trebuchet MS"/>
              </a:rPr>
              <a:t>AUM </a:t>
            </a:r>
            <a:r>
              <a:rPr sz="1600">
                <a:solidFill>
                  <a:srgbClr val="29B974"/>
                </a:solidFill>
                <a:latin typeface="Trebuchet MS"/>
                <a:cs typeface="Trebuchet MS"/>
              </a:rPr>
              <a:t>growth</a:t>
            </a:r>
            <a:r>
              <a:rPr sz="1600" spc="-30">
                <a:solidFill>
                  <a:srgbClr val="29B974"/>
                </a:solidFill>
                <a:latin typeface="Trebuchet MS"/>
                <a:cs typeface="Trebuchet MS"/>
              </a:rPr>
              <a:t> </a:t>
            </a:r>
            <a:r>
              <a:rPr sz="1600">
                <a:solidFill>
                  <a:srgbClr val="565656"/>
                </a:solidFill>
                <a:latin typeface="Trebuchet MS"/>
                <a:cs typeface="Trebuchet MS"/>
              </a:rPr>
              <a:t>(in</a:t>
            </a:r>
            <a:r>
              <a:rPr sz="1600" spc="-30">
                <a:solidFill>
                  <a:srgbClr val="565656"/>
                </a:solidFill>
                <a:latin typeface="Trebuchet MS"/>
                <a:cs typeface="Trebuchet MS"/>
              </a:rPr>
              <a:t> </a:t>
            </a:r>
            <a:r>
              <a:rPr sz="1600">
                <a:solidFill>
                  <a:srgbClr val="565656"/>
                </a:solidFill>
                <a:latin typeface="Trebuchet MS"/>
                <a:cs typeface="Trebuchet MS"/>
              </a:rPr>
              <a:t>2</a:t>
            </a:r>
            <a:r>
              <a:rPr sz="1600" spc="-30">
                <a:solidFill>
                  <a:srgbClr val="565656"/>
                </a:solidFill>
                <a:latin typeface="Trebuchet MS"/>
                <a:cs typeface="Trebuchet MS"/>
              </a:rPr>
              <a:t> </a:t>
            </a:r>
            <a:r>
              <a:rPr sz="1600">
                <a:solidFill>
                  <a:srgbClr val="565656"/>
                </a:solidFill>
                <a:latin typeface="Trebuchet MS"/>
                <a:cs typeface="Trebuchet MS"/>
              </a:rPr>
              <a:t>months),</a:t>
            </a:r>
            <a:r>
              <a:rPr sz="1600" spc="-20">
                <a:solidFill>
                  <a:srgbClr val="565656"/>
                </a:solidFill>
                <a:latin typeface="Trebuchet MS"/>
                <a:cs typeface="Trebuchet MS"/>
              </a:rPr>
              <a:t> </a:t>
            </a:r>
            <a:r>
              <a:rPr sz="1600">
                <a:solidFill>
                  <a:srgbClr val="565656"/>
                </a:solidFill>
                <a:latin typeface="Trebuchet MS"/>
                <a:cs typeface="Trebuchet MS"/>
              </a:rPr>
              <a:t>with</a:t>
            </a:r>
            <a:r>
              <a:rPr sz="1600" spc="-30">
                <a:solidFill>
                  <a:srgbClr val="565656"/>
                </a:solidFill>
                <a:latin typeface="Trebuchet MS"/>
                <a:cs typeface="Trebuchet MS"/>
              </a:rPr>
              <a:t> </a:t>
            </a:r>
            <a:r>
              <a:rPr sz="1600" spc="-20">
                <a:solidFill>
                  <a:srgbClr val="565656"/>
                </a:solidFill>
                <a:latin typeface="Trebuchet MS"/>
                <a:cs typeface="Trebuchet MS"/>
              </a:rPr>
              <a:t>zero </a:t>
            </a:r>
            <a:r>
              <a:rPr sz="1600">
                <a:solidFill>
                  <a:srgbClr val="565656"/>
                </a:solidFill>
                <a:latin typeface="Trebuchet MS"/>
                <a:cs typeface="Trebuchet MS"/>
              </a:rPr>
              <a:t>cannibalization</a:t>
            </a:r>
            <a:r>
              <a:rPr sz="1600" spc="-30">
                <a:solidFill>
                  <a:srgbClr val="565656"/>
                </a:solidFill>
                <a:latin typeface="Trebuchet MS"/>
                <a:cs typeface="Trebuchet MS"/>
              </a:rPr>
              <a:t> </a:t>
            </a:r>
            <a:r>
              <a:rPr sz="1600">
                <a:solidFill>
                  <a:srgbClr val="565656"/>
                </a:solidFill>
                <a:latin typeface="Trebuchet MS"/>
                <a:cs typeface="Trebuchet MS"/>
              </a:rPr>
              <a:t>to</a:t>
            </a:r>
            <a:r>
              <a:rPr sz="1600" spc="-40">
                <a:solidFill>
                  <a:srgbClr val="565656"/>
                </a:solidFill>
                <a:latin typeface="Trebuchet MS"/>
                <a:cs typeface="Trebuchet MS"/>
              </a:rPr>
              <a:t> </a:t>
            </a:r>
            <a:r>
              <a:rPr sz="1600">
                <a:solidFill>
                  <a:srgbClr val="565656"/>
                </a:solidFill>
                <a:latin typeface="Trebuchet MS"/>
                <a:cs typeface="Trebuchet MS"/>
              </a:rPr>
              <a:t>CASA</a:t>
            </a:r>
            <a:r>
              <a:rPr sz="1600" spc="-110">
                <a:solidFill>
                  <a:srgbClr val="565656"/>
                </a:solidFill>
                <a:latin typeface="Trebuchet MS"/>
                <a:cs typeface="Trebuchet MS"/>
              </a:rPr>
              <a:t> </a:t>
            </a:r>
            <a:r>
              <a:rPr sz="1600">
                <a:solidFill>
                  <a:srgbClr val="565656"/>
                </a:solidFill>
                <a:latin typeface="Trebuchet MS"/>
                <a:cs typeface="Trebuchet MS"/>
              </a:rPr>
              <a:t>and</a:t>
            </a:r>
            <a:r>
              <a:rPr sz="1600" spc="-85">
                <a:solidFill>
                  <a:srgbClr val="565656"/>
                </a:solidFill>
                <a:latin typeface="Trebuchet MS"/>
                <a:cs typeface="Trebuchet MS"/>
              </a:rPr>
              <a:t> </a:t>
            </a:r>
            <a:r>
              <a:rPr sz="1600" spc="-25">
                <a:solidFill>
                  <a:srgbClr val="565656"/>
                </a:solidFill>
                <a:latin typeface="Trebuchet MS"/>
                <a:cs typeface="Trebuchet MS"/>
              </a:rPr>
              <a:t>TD</a:t>
            </a:r>
            <a:endParaRPr sz="1600">
              <a:latin typeface="Trebuchet MS"/>
              <a:cs typeface="Trebuchet MS"/>
            </a:endParaRPr>
          </a:p>
        </p:txBody>
      </p:sp>
      <p:pic>
        <p:nvPicPr>
          <p:cNvPr id="21" name="object 21"/>
          <p:cNvPicPr/>
          <p:nvPr/>
        </p:nvPicPr>
        <p:blipFill>
          <a:blip r:embed="rId4" cstate="print"/>
          <a:stretch>
            <a:fillRect/>
          </a:stretch>
        </p:blipFill>
        <p:spPr>
          <a:xfrm>
            <a:off x="600455" y="2431542"/>
            <a:ext cx="926591" cy="925829"/>
          </a:xfrm>
          <a:prstGeom prst="rect">
            <a:avLst/>
          </a:prstGeom>
        </p:spPr>
      </p:pic>
      <p:sp>
        <p:nvSpPr>
          <p:cNvPr id="22" name="object 22"/>
          <p:cNvSpPr txBox="1"/>
          <p:nvPr/>
        </p:nvSpPr>
        <p:spPr>
          <a:xfrm>
            <a:off x="906272" y="2713482"/>
            <a:ext cx="313055" cy="330835"/>
          </a:xfrm>
          <a:prstGeom prst="rect">
            <a:avLst/>
          </a:prstGeom>
        </p:spPr>
        <p:txBody>
          <a:bodyPr vert="horz" wrap="square" lIns="0" tIns="13335" rIns="0" bIns="0" rtlCol="0">
            <a:spAutoFit/>
          </a:bodyPr>
          <a:lstStyle/>
          <a:p>
            <a:pPr marL="12700">
              <a:lnSpc>
                <a:spcPct val="100000"/>
              </a:lnSpc>
              <a:spcBef>
                <a:spcPts val="105"/>
              </a:spcBef>
            </a:pPr>
            <a:r>
              <a:rPr sz="2000" spc="-25">
                <a:solidFill>
                  <a:srgbClr val="29B974"/>
                </a:solidFill>
                <a:latin typeface="Trebuchet MS"/>
                <a:cs typeface="Trebuchet MS"/>
              </a:rPr>
              <a:t>8%</a:t>
            </a:r>
            <a:endParaRPr sz="2000">
              <a:latin typeface="Trebuchet MS"/>
              <a:cs typeface="Trebuchet MS"/>
            </a:endParaRPr>
          </a:p>
        </p:txBody>
      </p:sp>
      <p:sp>
        <p:nvSpPr>
          <p:cNvPr id="23" name="object 23"/>
          <p:cNvSpPr txBox="1"/>
          <p:nvPr/>
        </p:nvSpPr>
        <p:spPr>
          <a:xfrm>
            <a:off x="2401570" y="3664153"/>
            <a:ext cx="2760980" cy="513080"/>
          </a:xfrm>
          <a:prstGeom prst="rect">
            <a:avLst/>
          </a:prstGeom>
        </p:spPr>
        <p:txBody>
          <a:bodyPr vert="horz" wrap="square" lIns="0" tIns="12065" rIns="0" bIns="0" rtlCol="0">
            <a:spAutoFit/>
          </a:bodyPr>
          <a:lstStyle/>
          <a:p>
            <a:pPr marL="12700">
              <a:lnSpc>
                <a:spcPct val="100000"/>
              </a:lnSpc>
              <a:spcBef>
                <a:spcPts val="95"/>
              </a:spcBef>
            </a:pPr>
            <a:r>
              <a:rPr sz="1600">
                <a:solidFill>
                  <a:srgbClr val="565656"/>
                </a:solidFill>
                <a:latin typeface="Trebuchet MS"/>
                <a:cs typeface="Trebuchet MS"/>
              </a:rPr>
              <a:t>Increase</a:t>
            </a:r>
            <a:r>
              <a:rPr sz="1600" spc="-55">
                <a:solidFill>
                  <a:srgbClr val="565656"/>
                </a:solidFill>
                <a:latin typeface="Trebuchet MS"/>
                <a:cs typeface="Trebuchet MS"/>
              </a:rPr>
              <a:t> </a:t>
            </a:r>
            <a:r>
              <a:rPr sz="1600">
                <a:solidFill>
                  <a:srgbClr val="565656"/>
                </a:solidFill>
                <a:latin typeface="Trebuchet MS"/>
                <a:cs typeface="Trebuchet MS"/>
              </a:rPr>
              <a:t>in</a:t>
            </a:r>
            <a:r>
              <a:rPr sz="1600" spc="-40">
                <a:solidFill>
                  <a:srgbClr val="565656"/>
                </a:solidFill>
                <a:latin typeface="Trebuchet MS"/>
                <a:cs typeface="Trebuchet MS"/>
              </a:rPr>
              <a:t> </a:t>
            </a:r>
            <a:r>
              <a:rPr sz="1600">
                <a:solidFill>
                  <a:srgbClr val="29B974"/>
                </a:solidFill>
                <a:latin typeface="Trebuchet MS"/>
                <a:cs typeface="Trebuchet MS"/>
              </a:rPr>
              <a:t>RM</a:t>
            </a:r>
            <a:r>
              <a:rPr sz="1600" spc="-50">
                <a:solidFill>
                  <a:srgbClr val="29B974"/>
                </a:solidFill>
                <a:latin typeface="Trebuchet MS"/>
                <a:cs typeface="Trebuchet MS"/>
              </a:rPr>
              <a:t> </a:t>
            </a:r>
            <a:r>
              <a:rPr sz="1600">
                <a:solidFill>
                  <a:srgbClr val="29B974"/>
                </a:solidFill>
                <a:latin typeface="Trebuchet MS"/>
                <a:cs typeface="Trebuchet MS"/>
              </a:rPr>
              <a:t>productivity</a:t>
            </a:r>
            <a:r>
              <a:rPr sz="1600" spc="-25">
                <a:solidFill>
                  <a:srgbClr val="29B974"/>
                </a:solidFill>
                <a:latin typeface="Trebuchet MS"/>
                <a:cs typeface="Trebuchet MS"/>
              </a:rPr>
              <a:t> </a:t>
            </a:r>
            <a:r>
              <a:rPr sz="1600" spc="-25">
                <a:solidFill>
                  <a:srgbClr val="565656"/>
                </a:solidFill>
                <a:latin typeface="Trebuchet MS"/>
                <a:cs typeface="Trebuchet MS"/>
              </a:rPr>
              <a:t>to</a:t>
            </a:r>
            <a:endParaRPr sz="1600">
              <a:latin typeface="Trebuchet MS"/>
              <a:cs typeface="Trebuchet MS"/>
            </a:endParaRPr>
          </a:p>
          <a:p>
            <a:pPr marL="12700">
              <a:lnSpc>
                <a:spcPct val="100000"/>
              </a:lnSpc>
              <a:spcBef>
                <a:spcPts val="5"/>
              </a:spcBef>
            </a:pPr>
            <a:r>
              <a:rPr sz="1600">
                <a:solidFill>
                  <a:srgbClr val="565656"/>
                </a:solidFill>
                <a:latin typeface="Trebuchet MS"/>
                <a:cs typeface="Trebuchet MS"/>
              </a:rPr>
              <a:t>serve</a:t>
            </a:r>
            <a:r>
              <a:rPr sz="1600" spc="-40">
                <a:solidFill>
                  <a:srgbClr val="565656"/>
                </a:solidFill>
                <a:latin typeface="Trebuchet MS"/>
                <a:cs typeface="Trebuchet MS"/>
              </a:rPr>
              <a:t> </a:t>
            </a:r>
            <a:r>
              <a:rPr sz="1600" spc="-10">
                <a:solidFill>
                  <a:srgbClr val="565656"/>
                </a:solidFill>
                <a:latin typeface="Trebuchet MS"/>
                <a:cs typeface="Trebuchet MS"/>
              </a:rPr>
              <a:t>clients</a:t>
            </a:r>
            <a:endParaRPr sz="1600">
              <a:latin typeface="Trebuchet MS"/>
              <a:cs typeface="Trebuchet MS"/>
            </a:endParaRPr>
          </a:p>
        </p:txBody>
      </p:sp>
      <p:pic>
        <p:nvPicPr>
          <p:cNvPr id="24" name="object 24"/>
          <p:cNvPicPr/>
          <p:nvPr/>
        </p:nvPicPr>
        <p:blipFill>
          <a:blip r:embed="rId5" cstate="print"/>
          <a:stretch>
            <a:fillRect/>
          </a:stretch>
        </p:blipFill>
        <p:spPr>
          <a:xfrm>
            <a:off x="600455" y="3464814"/>
            <a:ext cx="926591" cy="925830"/>
          </a:xfrm>
          <a:prstGeom prst="rect">
            <a:avLst/>
          </a:prstGeom>
        </p:spPr>
      </p:pic>
      <p:sp>
        <p:nvSpPr>
          <p:cNvPr id="25" name="object 25"/>
          <p:cNvSpPr txBox="1"/>
          <p:nvPr/>
        </p:nvSpPr>
        <p:spPr>
          <a:xfrm>
            <a:off x="659383" y="3747008"/>
            <a:ext cx="808990" cy="330835"/>
          </a:xfrm>
          <a:prstGeom prst="rect">
            <a:avLst/>
          </a:prstGeom>
        </p:spPr>
        <p:txBody>
          <a:bodyPr vert="horz" wrap="square" lIns="0" tIns="12700" rIns="0" bIns="0" rtlCol="0">
            <a:spAutoFit/>
          </a:bodyPr>
          <a:lstStyle/>
          <a:p>
            <a:pPr marL="12700">
              <a:lnSpc>
                <a:spcPct val="100000"/>
              </a:lnSpc>
              <a:spcBef>
                <a:spcPts val="100"/>
              </a:spcBef>
            </a:pPr>
            <a:r>
              <a:rPr sz="2000" spc="-10">
                <a:solidFill>
                  <a:srgbClr val="29B974"/>
                </a:solidFill>
                <a:latin typeface="Trebuchet MS"/>
                <a:cs typeface="Trebuchet MS"/>
              </a:rPr>
              <a:t>15-</a:t>
            </a:r>
            <a:r>
              <a:rPr sz="2000" spc="-25">
                <a:solidFill>
                  <a:srgbClr val="29B974"/>
                </a:solidFill>
                <a:latin typeface="Trebuchet MS"/>
                <a:cs typeface="Trebuchet MS"/>
              </a:rPr>
              <a:t>25%</a:t>
            </a:r>
            <a:endParaRPr sz="2000">
              <a:latin typeface="Trebuchet MS"/>
              <a:cs typeface="Trebuchet MS"/>
            </a:endParaRPr>
          </a:p>
        </p:txBody>
      </p:sp>
      <p:sp>
        <p:nvSpPr>
          <p:cNvPr id="26" name="object 26"/>
          <p:cNvSpPr txBox="1"/>
          <p:nvPr/>
        </p:nvSpPr>
        <p:spPr>
          <a:xfrm>
            <a:off x="2401570" y="4697984"/>
            <a:ext cx="3126740" cy="513080"/>
          </a:xfrm>
          <a:prstGeom prst="rect">
            <a:avLst/>
          </a:prstGeom>
        </p:spPr>
        <p:txBody>
          <a:bodyPr vert="horz" wrap="square" lIns="0" tIns="12065" rIns="0" bIns="0" rtlCol="0">
            <a:spAutoFit/>
          </a:bodyPr>
          <a:lstStyle/>
          <a:p>
            <a:pPr marL="12700" marR="5080">
              <a:lnSpc>
                <a:spcPct val="100000"/>
              </a:lnSpc>
              <a:spcBef>
                <a:spcPts val="95"/>
              </a:spcBef>
            </a:pPr>
            <a:r>
              <a:rPr sz="1600">
                <a:solidFill>
                  <a:srgbClr val="565656"/>
                </a:solidFill>
                <a:latin typeface="Trebuchet MS"/>
                <a:cs typeface="Trebuchet MS"/>
              </a:rPr>
              <a:t>Conversion</a:t>
            </a:r>
            <a:r>
              <a:rPr sz="1600" spc="-45">
                <a:solidFill>
                  <a:srgbClr val="565656"/>
                </a:solidFill>
                <a:latin typeface="Trebuchet MS"/>
                <a:cs typeface="Trebuchet MS"/>
              </a:rPr>
              <a:t> </a:t>
            </a:r>
            <a:r>
              <a:rPr sz="1600">
                <a:solidFill>
                  <a:srgbClr val="565656"/>
                </a:solidFill>
                <a:latin typeface="Trebuchet MS"/>
                <a:cs typeface="Trebuchet MS"/>
              </a:rPr>
              <a:t>from</a:t>
            </a:r>
            <a:r>
              <a:rPr sz="1600" spc="-70">
                <a:solidFill>
                  <a:srgbClr val="565656"/>
                </a:solidFill>
                <a:latin typeface="Trebuchet MS"/>
                <a:cs typeface="Trebuchet MS"/>
              </a:rPr>
              <a:t> </a:t>
            </a:r>
            <a:r>
              <a:rPr sz="1600">
                <a:solidFill>
                  <a:srgbClr val="565656"/>
                </a:solidFill>
                <a:latin typeface="Trebuchet MS"/>
                <a:cs typeface="Trebuchet MS"/>
              </a:rPr>
              <a:t>advisory</a:t>
            </a:r>
            <a:r>
              <a:rPr sz="1600" spc="-60">
                <a:solidFill>
                  <a:srgbClr val="565656"/>
                </a:solidFill>
                <a:latin typeface="Trebuchet MS"/>
                <a:cs typeface="Trebuchet MS"/>
              </a:rPr>
              <a:t> </a:t>
            </a:r>
            <a:r>
              <a:rPr sz="1600" spc="-10">
                <a:solidFill>
                  <a:srgbClr val="565656"/>
                </a:solidFill>
                <a:latin typeface="Trebuchet MS"/>
                <a:cs typeface="Trebuchet MS"/>
              </a:rPr>
              <a:t>meeting </a:t>
            </a:r>
            <a:r>
              <a:rPr sz="1600">
                <a:solidFill>
                  <a:srgbClr val="565656"/>
                </a:solidFill>
                <a:latin typeface="Trebuchet MS"/>
                <a:cs typeface="Trebuchet MS"/>
              </a:rPr>
              <a:t>to</a:t>
            </a:r>
            <a:r>
              <a:rPr sz="1600" spc="5">
                <a:solidFill>
                  <a:srgbClr val="565656"/>
                </a:solidFill>
                <a:latin typeface="Trebuchet MS"/>
                <a:cs typeface="Trebuchet MS"/>
              </a:rPr>
              <a:t> </a:t>
            </a:r>
            <a:r>
              <a:rPr sz="1600" spc="-10">
                <a:solidFill>
                  <a:srgbClr val="29B974"/>
                </a:solidFill>
                <a:latin typeface="Trebuchet MS"/>
                <a:cs typeface="Trebuchet MS"/>
              </a:rPr>
              <a:t>investment</a:t>
            </a:r>
            <a:endParaRPr sz="1600">
              <a:latin typeface="Trebuchet MS"/>
              <a:cs typeface="Trebuchet MS"/>
            </a:endParaRPr>
          </a:p>
        </p:txBody>
      </p:sp>
      <p:pic>
        <p:nvPicPr>
          <p:cNvPr id="27" name="object 27"/>
          <p:cNvPicPr/>
          <p:nvPr/>
        </p:nvPicPr>
        <p:blipFill>
          <a:blip r:embed="rId6" cstate="print"/>
          <a:stretch>
            <a:fillRect/>
          </a:stretch>
        </p:blipFill>
        <p:spPr>
          <a:xfrm>
            <a:off x="600455" y="4498085"/>
            <a:ext cx="926591" cy="925829"/>
          </a:xfrm>
          <a:prstGeom prst="rect">
            <a:avLst/>
          </a:prstGeom>
        </p:spPr>
      </p:pic>
      <p:sp>
        <p:nvSpPr>
          <p:cNvPr id="28" name="object 28"/>
          <p:cNvSpPr txBox="1"/>
          <p:nvPr/>
        </p:nvSpPr>
        <p:spPr>
          <a:xfrm>
            <a:off x="839216" y="4780279"/>
            <a:ext cx="447675" cy="330835"/>
          </a:xfrm>
          <a:prstGeom prst="rect">
            <a:avLst/>
          </a:prstGeom>
        </p:spPr>
        <p:txBody>
          <a:bodyPr vert="horz" wrap="square" lIns="0" tIns="12700" rIns="0" bIns="0" rtlCol="0">
            <a:spAutoFit/>
          </a:bodyPr>
          <a:lstStyle/>
          <a:p>
            <a:pPr marL="12700">
              <a:lnSpc>
                <a:spcPct val="100000"/>
              </a:lnSpc>
              <a:spcBef>
                <a:spcPts val="100"/>
              </a:spcBef>
            </a:pPr>
            <a:r>
              <a:rPr sz="2000" spc="-25">
                <a:solidFill>
                  <a:srgbClr val="29B974"/>
                </a:solidFill>
                <a:latin typeface="Trebuchet MS"/>
                <a:cs typeface="Trebuchet MS"/>
              </a:rPr>
              <a:t>25%</a:t>
            </a:r>
            <a:endParaRPr sz="2000">
              <a:latin typeface="Trebuchet MS"/>
              <a:cs typeface="Trebuchet MS"/>
            </a:endParaRPr>
          </a:p>
        </p:txBody>
      </p:sp>
      <p:sp>
        <p:nvSpPr>
          <p:cNvPr id="29" name="object 29"/>
          <p:cNvSpPr txBox="1"/>
          <p:nvPr/>
        </p:nvSpPr>
        <p:spPr>
          <a:xfrm>
            <a:off x="2401570" y="5731255"/>
            <a:ext cx="2913380" cy="513080"/>
          </a:xfrm>
          <a:prstGeom prst="rect">
            <a:avLst/>
          </a:prstGeom>
        </p:spPr>
        <p:txBody>
          <a:bodyPr vert="horz" wrap="square" lIns="0" tIns="12065" rIns="0" bIns="0" rtlCol="0">
            <a:spAutoFit/>
          </a:bodyPr>
          <a:lstStyle/>
          <a:p>
            <a:pPr marL="12700" marR="5080">
              <a:lnSpc>
                <a:spcPct val="100000"/>
              </a:lnSpc>
              <a:spcBef>
                <a:spcPts val="95"/>
              </a:spcBef>
            </a:pPr>
            <a:r>
              <a:rPr sz="1600">
                <a:solidFill>
                  <a:srgbClr val="29B974"/>
                </a:solidFill>
                <a:latin typeface="Trebuchet MS"/>
                <a:cs typeface="Trebuchet MS"/>
              </a:rPr>
              <a:t>USD</a:t>
            </a:r>
            <a:r>
              <a:rPr sz="1600" spc="-20">
                <a:solidFill>
                  <a:srgbClr val="29B974"/>
                </a:solidFill>
                <a:latin typeface="Trebuchet MS"/>
                <a:cs typeface="Trebuchet MS"/>
              </a:rPr>
              <a:t> </a:t>
            </a:r>
            <a:r>
              <a:rPr sz="1600">
                <a:solidFill>
                  <a:srgbClr val="29B974"/>
                </a:solidFill>
                <a:latin typeface="Trebuchet MS"/>
                <a:cs typeface="Trebuchet MS"/>
              </a:rPr>
              <a:t>avg.</a:t>
            </a:r>
            <a:r>
              <a:rPr sz="1600" spc="-25">
                <a:solidFill>
                  <a:srgbClr val="29B974"/>
                </a:solidFill>
                <a:latin typeface="Trebuchet MS"/>
                <a:cs typeface="Trebuchet MS"/>
              </a:rPr>
              <a:t> </a:t>
            </a:r>
            <a:r>
              <a:rPr sz="1600">
                <a:solidFill>
                  <a:srgbClr val="29B974"/>
                </a:solidFill>
                <a:latin typeface="Trebuchet MS"/>
                <a:cs typeface="Trebuchet MS"/>
              </a:rPr>
              <a:t>Net</a:t>
            </a:r>
            <a:r>
              <a:rPr sz="1600" spc="-30">
                <a:solidFill>
                  <a:srgbClr val="29B974"/>
                </a:solidFill>
                <a:latin typeface="Trebuchet MS"/>
                <a:cs typeface="Trebuchet MS"/>
              </a:rPr>
              <a:t> </a:t>
            </a:r>
            <a:r>
              <a:rPr sz="1600">
                <a:solidFill>
                  <a:srgbClr val="29B974"/>
                </a:solidFill>
                <a:latin typeface="Trebuchet MS"/>
                <a:cs typeface="Trebuchet MS"/>
              </a:rPr>
              <a:t>New</a:t>
            </a:r>
            <a:r>
              <a:rPr sz="1600" spc="-30">
                <a:solidFill>
                  <a:srgbClr val="29B974"/>
                </a:solidFill>
                <a:latin typeface="Trebuchet MS"/>
                <a:cs typeface="Trebuchet MS"/>
              </a:rPr>
              <a:t> </a:t>
            </a:r>
            <a:r>
              <a:rPr sz="1600">
                <a:solidFill>
                  <a:srgbClr val="29B974"/>
                </a:solidFill>
                <a:latin typeface="Trebuchet MS"/>
                <a:cs typeface="Trebuchet MS"/>
              </a:rPr>
              <a:t>Money</a:t>
            </a:r>
            <a:r>
              <a:rPr sz="1600" spc="-25">
                <a:solidFill>
                  <a:srgbClr val="29B974"/>
                </a:solidFill>
                <a:latin typeface="Trebuchet MS"/>
                <a:cs typeface="Trebuchet MS"/>
              </a:rPr>
              <a:t> </a:t>
            </a:r>
            <a:r>
              <a:rPr sz="1600" spc="-20">
                <a:solidFill>
                  <a:srgbClr val="29B974"/>
                </a:solidFill>
                <a:latin typeface="Trebuchet MS"/>
                <a:cs typeface="Trebuchet MS"/>
              </a:rPr>
              <a:t>(</a:t>
            </a:r>
            <a:r>
              <a:rPr lang="en-US" sz="1600" spc="-20" err="1">
                <a:solidFill>
                  <a:srgbClr val="29B974"/>
                </a:solidFill>
                <a:latin typeface="Trebuchet MS"/>
                <a:cs typeface="Trebuchet MS"/>
              </a:rPr>
              <a:t>NNM</a:t>
            </a:r>
            <a:r>
              <a:rPr sz="1600" spc="-20">
                <a:solidFill>
                  <a:srgbClr val="29B974"/>
                </a:solidFill>
                <a:latin typeface="Trebuchet MS"/>
                <a:cs typeface="Trebuchet MS"/>
              </a:rPr>
              <a:t>) </a:t>
            </a:r>
            <a:r>
              <a:rPr sz="1600">
                <a:solidFill>
                  <a:srgbClr val="29B974"/>
                </a:solidFill>
                <a:latin typeface="Trebuchet MS"/>
                <a:cs typeface="Trebuchet MS"/>
              </a:rPr>
              <a:t>investment</a:t>
            </a:r>
            <a:r>
              <a:rPr sz="1600" spc="-30">
                <a:solidFill>
                  <a:srgbClr val="29B974"/>
                </a:solidFill>
                <a:latin typeface="Trebuchet MS"/>
                <a:cs typeface="Trebuchet MS"/>
              </a:rPr>
              <a:t> </a:t>
            </a:r>
            <a:r>
              <a:rPr sz="1600">
                <a:solidFill>
                  <a:srgbClr val="565656"/>
                </a:solidFill>
                <a:latin typeface="Trebuchet MS"/>
                <a:cs typeface="Trebuchet MS"/>
              </a:rPr>
              <a:t>per</a:t>
            </a:r>
            <a:r>
              <a:rPr sz="1600" spc="-50">
                <a:solidFill>
                  <a:srgbClr val="565656"/>
                </a:solidFill>
                <a:latin typeface="Trebuchet MS"/>
                <a:cs typeface="Trebuchet MS"/>
              </a:rPr>
              <a:t> </a:t>
            </a:r>
            <a:r>
              <a:rPr sz="1600" spc="-10">
                <a:solidFill>
                  <a:srgbClr val="565656"/>
                </a:solidFill>
                <a:latin typeface="Trebuchet MS"/>
                <a:cs typeface="Trebuchet MS"/>
              </a:rPr>
              <a:t>customer</a:t>
            </a:r>
            <a:endParaRPr sz="1600">
              <a:latin typeface="Trebuchet MS"/>
              <a:cs typeface="Trebuchet MS"/>
            </a:endParaRPr>
          </a:p>
        </p:txBody>
      </p:sp>
      <p:pic>
        <p:nvPicPr>
          <p:cNvPr id="30" name="object 30"/>
          <p:cNvPicPr/>
          <p:nvPr/>
        </p:nvPicPr>
        <p:blipFill>
          <a:blip r:embed="rId7" cstate="print"/>
          <a:stretch>
            <a:fillRect/>
          </a:stretch>
        </p:blipFill>
        <p:spPr>
          <a:xfrm>
            <a:off x="600455" y="5531358"/>
            <a:ext cx="926591" cy="925830"/>
          </a:xfrm>
          <a:prstGeom prst="rect">
            <a:avLst/>
          </a:prstGeom>
        </p:spPr>
      </p:pic>
      <p:sp>
        <p:nvSpPr>
          <p:cNvPr id="31" name="object 31"/>
          <p:cNvSpPr txBox="1"/>
          <p:nvPr/>
        </p:nvSpPr>
        <p:spPr>
          <a:xfrm>
            <a:off x="851408" y="5813552"/>
            <a:ext cx="422909" cy="330835"/>
          </a:xfrm>
          <a:prstGeom prst="rect">
            <a:avLst/>
          </a:prstGeom>
        </p:spPr>
        <p:txBody>
          <a:bodyPr vert="horz" wrap="square" lIns="0" tIns="12700" rIns="0" bIns="0" rtlCol="0">
            <a:spAutoFit/>
          </a:bodyPr>
          <a:lstStyle/>
          <a:p>
            <a:pPr marL="12700">
              <a:lnSpc>
                <a:spcPct val="100000"/>
              </a:lnSpc>
              <a:spcBef>
                <a:spcPts val="100"/>
              </a:spcBef>
            </a:pPr>
            <a:r>
              <a:rPr sz="2000" spc="-25">
                <a:solidFill>
                  <a:srgbClr val="29B974"/>
                </a:solidFill>
                <a:latin typeface="Trebuchet MS"/>
                <a:cs typeface="Trebuchet MS"/>
              </a:rPr>
              <a:t>60k</a:t>
            </a:r>
            <a:endParaRPr sz="2000">
              <a:latin typeface="Trebuchet MS"/>
              <a:cs typeface="Trebuchet MS"/>
            </a:endParaRPr>
          </a:p>
        </p:txBody>
      </p:sp>
      <p:sp>
        <p:nvSpPr>
          <p:cNvPr id="32" name="object 32"/>
          <p:cNvSpPr txBox="1"/>
          <p:nvPr/>
        </p:nvSpPr>
        <p:spPr>
          <a:xfrm>
            <a:off x="8117205" y="2631186"/>
            <a:ext cx="3310890" cy="513080"/>
          </a:xfrm>
          <a:prstGeom prst="rect">
            <a:avLst/>
          </a:prstGeom>
        </p:spPr>
        <p:txBody>
          <a:bodyPr vert="horz" wrap="square" lIns="0" tIns="12065" rIns="0" bIns="0" rtlCol="0">
            <a:spAutoFit/>
          </a:bodyPr>
          <a:lstStyle/>
          <a:p>
            <a:pPr marL="12700" marR="5080">
              <a:lnSpc>
                <a:spcPct val="100000"/>
              </a:lnSpc>
              <a:spcBef>
                <a:spcPts val="95"/>
              </a:spcBef>
            </a:pPr>
            <a:r>
              <a:rPr sz="1600">
                <a:solidFill>
                  <a:srgbClr val="29B974"/>
                </a:solidFill>
                <a:latin typeface="Trebuchet MS"/>
                <a:cs typeface="Trebuchet MS"/>
              </a:rPr>
              <a:t>USD</a:t>
            </a:r>
            <a:r>
              <a:rPr sz="1600" spc="-105">
                <a:solidFill>
                  <a:srgbClr val="29B974"/>
                </a:solidFill>
                <a:latin typeface="Trebuchet MS"/>
                <a:cs typeface="Trebuchet MS"/>
              </a:rPr>
              <a:t> </a:t>
            </a:r>
            <a:r>
              <a:rPr sz="1600">
                <a:solidFill>
                  <a:srgbClr val="29B974"/>
                </a:solidFill>
                <a:latin typeface="Trebuchet MS"/>
                <a:cs typeface="Trebuchet MS"/>
              </a:rPr>
              <a:t>AUM</a:t>
            </a:r>
            <a:r>
              <a:rPr sz="1600" spc="-35">
                <a:solidFill>
                  <a:srgbClr val="29B974"/>
                </a:solidFill>
                <a:latin typeface="Trebuchet MS"/>
                <a:cs typeface="Trebuchet MS"/>
              </a:rPr>
              <a:t> </a:t>
            </a:r>
            <a:r>
              <a:rPr sz="1600">
                <a:solidFill>
                  <a:srgbClr val="29B974"/>
                </a:solidFill>
                <a:latin typeface="Trebuchet MS"/>
                <a:cs typeface="Trebuchet MS"/>
              </a:rPr>
              <a:t>uplift</a:t>
            </a:r>
            <a:r>
              <a:rPr sz="1600" spc="-40">
                <a:solidFill>
                  <a:srgbClr val="29B974"/>
                </a:solidFill>
                <a:latin typeface="Trebuchet MS"/>
                <a:cs typeface="Trebuchet MS"/>
              </a:rPr>
              <a:t> </a:t>
            </a:r>
            <a:r>
              <a:rPr sz="1600" spc="-10">
                <a:solidFill>
                  <a:srgbClr val="29B974"/>
                </a:solidFill>
                <a:latin typeface="Trebuchet MS"/>
                <a:cs typeface="Trebuchet MS"/>
              </a:rPr>
              <a:t>opportunity </a:t>
            </a:r>
            <a:r>
              <a:rPr sz="1600">
                <a:solidFill>
                  <a:srgbClr val="565656"/>
                </a:solidFill>
                <a:latin typeface="Trebuchet MS"/>
                <a:cs typeface="Trebuchet MS"/>
              </a:rPr>
              <a:t>identified</a:t>
            </a:r>
            <a:r>
              <a:rPr sz="1600" spc="-40">
                <a:solidFill>
                  <a:srgbClr val="565656"/>
                </a:solidFill>
                <a:latin typeface="Trebuchet MS"/>
                <a:cs typeface="Trebuchet MS"/>
              </a:rPr>
              <a:t> </a:t>
            </a:r>
            <a:r>
              <a:rPr sz="1600">
                <a:solidFill>
                  <a:srgbClr val="565656"/>
                </a:solidFill>
                <a:latin typeface="Trebuchet MS"/>
                <a:cs typeface="Trebuchet MS"/>
              </a:rPr>
              <a:t>from</a:t>
            </a:r>
            <a:r>
              <a:rPr sz="1600" spc="-25">
                <a:solidFill>
                  <a:srgbClr val="565656"/>
                </a:solidFill>
                <a:latin typeface="Trebuchet MS"/>
                <a:cs typeface="Trebuchet MS"/>
              </a:rPr>
              <a:t> </a:t>
            </a:r>
            <a:r>
              <a:rPr sz="1600">
                <a:solidFill>
                  <a:srgbClr val="29B974"/>
                </a:solidFill>
                <a:latin typeface="Trebuchet MS"/>
                <a:cs typeface="Trebuchet MS"/>
              </a:rPr>
              <a:t>29k</a:t>
            </a:r>
            <a:r>
              <a:rPr sz="1600" spc="-50">
                <a:solidFill>
                  <a:srgbClr val="29B974"/>
                </a:solidFill>
                <a:latin typeface="Trebuchet MS"/>
                <a:cs typeface="Trebuchet MS"/>
              </a:rPr>
              <a:t> </a:t>
            </a:r>
            <a:r>
              <a:rPr sz="1600">
                <a:solidFill>
                  <a:srgbClr val="29B974"/>
                </a:solidFill>
                <a:latin typeface="Trebuchet MS"/>
                <a:cs typeface="Trebuchet MS"/>
              </a:rPr>
              <a:t>leads</a:t>
            </a:r>
            <a:r>
              <a:rPr sz="1600" spc="-35">
                <a:solidFill>
                  <a:srgbClr val="29B974"/>
                </a:solidFill>
                <a:latin typeface="Trebuchet MS"/>
                <a:cs typeface="Trebuchet MS"/>
              </a:rPr>
              <a:t> </a:t>
            </a:r>
            <a:r>
              <a:rPr sz="1600" spc="-10">
                <a:solidFill>
                  <a:srgbClr val="565656"/>
                </a:solidFill>
                <a:latin typeface="Trebuchet MS"/>
                <a:cs typeface="Trebuchet MS"/>
              </a:rPr>
              <a:t>generated</a:t>
            </a:r>
            <a:endParaRPr sz="1600">
              <a:latin typeface="Trebuchet MS"/>
              <a:cs typeface="Trebuchet MS"/>
            </a:endParaRPr>
          </a:p>
        </p:txBody>
      </p:sp>
      <p:pic>
        <p:nvPicPr>
          <p:cNvPr id="33" name="object 33"/>
          <p:cNvPicPr/>
          <p:nvPr/>
        </p:nvPicPr>
        <p:blipFill>
          <a:blip r:embed="rId8" cstate="print"/>
          <a:stretch>
            <a:fillRect/>
          </a:stretch>
        </p:blipFill>
        <p:spPr>
          <a:xfrm>
            <a:off x="6315455" y="2431542"/>
            <a:ext cx="926592" cy="925829"/>
          </a:xfrm>
          <a:prstGeom prst="rect">
            <a:avLst/>
          </a:prstGeom>
        </p:spPr>
      </p:pic>
      <p:sp>
        <p:nvSpPr>
          <p:cNvPr id="34" name="object 34"/>
          <p:cNvSpPr txBox="1"/>
          <p:nvPr/>
        </p:nvSpPr>
        <p:spPr>
          <a:xfrm>
            <a:off x="6519798" y="2713482"/>
            <a:ext cx="517525" cy="330835"/>
          </a:xfrm>
          <a:prstGeom prst="rect">
            <a:avLst/>
          </a:prstGeom>
        </p:spPr>
        <p:txBody>
          <a:bodyPr vert="horz" wrap="square" lIns="0" tIns="13335" rIns="0" bIns="0" rtlCol="0">
            <a:spAutoFit/>
          </a:bodyPr>
          <a:lstStyle/>
          <a:p>
            <a:pPr marL="12700">
              <a:lnSpc>
                <a:spcPct val="100000"/>
              </a:lnSpc>
              <a:spcBef>
                <a:spcPts val="105"/>
              </a:spcBef>
            </a:pPr>
            <a:r>
              <a:rPr sz="2000">
                <a:solidFill>
                  <a:srgbClr val="29B974"/>
                </a:solidFill>
                <a:latin typeface="Trebuchet MS"/>
                <a:cs typeface="Trebuchet MS"/>
              </a:rPr>
              <a:t>4</a:t>
            </a:r>
            <a:r>
              <a:rPr sz="2000" spc="-15">
                <a:solidFill>
                  <a:srgbClr val="29B974"/>
                </a:solidFill>
                <a:latin typeface="Trebuchet MS"/>
                <a:cs typeface="Trebuchet MS"/>
              </a:rPr>
              <a:t> </a:t>
            </a:r>
            <a:r>
              <a:rPr sz="2000" spc="-25">
                <a:solidFill>
                  <a:srgbClr val="29B974"/>
                </a:solidFill>
                <a:latin typeface="Trebuchet MS"/>
                <a:cs typeface="Trebuchet MS"/>
              </a:rPr>
              <a:t>Bn</a:t>
            </a:r>
            <a:endParaRPr sz="2000">
              <a:latin typeface="Trebuchet MS"/>
              <a:cs typeface="Trebuchet MS"/>
            </a:endParaRPr>
          </a:p>
        </p:txBody>
      </p:sp>
      <p:sp>
        <p:nvSpPr>
          <p:cNvPr id="35" name="object 35"/>
          <p:cNvSpPr txBox="1"/>
          <p:nvPr/>
        </p:nvSpPr>
        <p:spPr>
          <a:xfrm>
            <a:off x="8117205" y="3786632"/>
            <a:ext cx="3269615" cy="269240"/>
          </a:xfrm>
          <a:prstGeom prst="rect">
            <a:avLst/>
          </a:prstGeom>
        </p:spPr>
        <p:txBody>
          <a:bodyPr vert="horz" wrap="square" lIns="0" tIns="12065" rIns="0" bIns="0" rtlCol="0">
            <a:spAutoFit/>
          </a:bodyPr>
          <a:lstStyle/>
          <a:p>
            <a:pPr marL="12700">
              <a:lnSpc>
                <a:spcPct val="100000"/>
              </a:lnSpc>
              <a:spcBef>
                <a:spcPts val="95"/>
              </a:spcBef>
            </a:pPr>
            <a:r>
              <a:rPr sz="1600">
                <a:solidFill>
                  <a:srgbClr val="565656"/>
                </a:solidFill>
                <a:latin typeface="Trebuchet MS"/>
                <a:cs typeface="Trebuchet MS"/>
              </a:rPr>
              <a:t>Leads</a:t>
            </a:r>
            <a:r>
              <a:rPr sz="1600" spc="-35">
                <a:solidFill>
                  <a:srgbClr val="565656"/>
                </a:solidFill>
                <a:latin typeface="Trebuchet MS"/>
                <a:cs typeface="Trebuchet MS"/>
              </a:rPr>
              <a:t> </a:t>
            </a:r>
            <a:r>
              <a:rPr sz="1600">
                <a:solidFill>
                  <a:srgbClr val="565656"/>
                </a:solidFill>
                <a:latin typeface="Trebuchet MS"/>
                <a:cs typeface="Trebuchet MS"/>
              </a:rPr>
              <a:t>met</a:t>
            </a:r>
            <a:r>
              <a:rPr sz="1600" spc="-30">
                <a:solidFill>
                  <a:srgbClr val="565656"/>
                </a:solidFill>
                <a:latin typeface="Trebuchet MS"/>
                <a:cs typeface="Trebuchet MS"/>
              </a:rPr>
              <a:t> </a:t>
            </a:r>
            <a:r>
              <a:rPr sz="1600">
                <a:solidFill>
                  <a:srgbClr val="29B974"/>
                </a:solidFill>
                <a:latin typeface="Trebuchet MS"/>
                <a:cs typeface="Trebuchet MS"/>
              </a:rPr>
              <a:t>confirmed</a:t>
            </a:r>
            <a:r>
              <a:rPr sz="1600" spc="-25">
                <a:solidFill>
                  <a:srgbClr val="29B974"/>
                </a:solidFill>
                <a:latin typeface="Trebuchet MS"/>
                <a:cs typeface="Trebuchet MS"/>
              </a:rPr>
              <a:t> </a:t>
            </a:r>
            <a:r>
              <a:rPr sz="1600">
                <a:solidFill>
                  <a:srgbClr val="29B974"/>
                </a:solidFill>
                <a:latin typeface="Trebuchet MS"/>
                <a:cs typeface="Trebuchet MS"/>
              </a:rPr>
              <a:t>to</a:t>
            </a:r>
            <a:r>
              <a:rPr sz="1600" spc="-30">
                <a:solidFill>
                  <a:srgbClr val="29B974"/>
                </a:solidFill>
                <a:latin typeface="Trebuchet MS"/>
                <a:cs typeface="Trebuchet MS"/>
              </a:rPr>
              <a:t> </a:t>
            </a:r>
            <a:r>
              <a:rPr sz="1600">
                <a:solidFill>
                  <a:srgbClr val="29B974"/>
                </a:solidFill>
                <a:latin typeface="Trebuchet MS"/>
                <a:cs typeface="Trebuchet MS"/>
              </a:rPr>
              <a:t>be</a:t>
            </a:r>
            <a:r>
              <a:rPr sz="1600" spc="-45">
                <a:solidFill>
                  <a:srgbClr val="29B974"/>
                </a:solidFill>
                <a:latin typeface="Trebuchet MS"/>
                <a:cs typeface="Trebuchet MS"/>
              </a:rPr>
              <a:t> </a:t>
            </a:r>
            <a:r>
              <a:rPr sz="1600" spc="-10">
                <a:solidFill>
                  <a:srgbClr val="29B974"/>
                </a:solidFill>
                <a:latin typeface="Trebuchet MS"/>
                <a:cs typeface="Trebuchet MS"/>
              </a:rPr>
              <a:t>wealthy</a:t>
            </a:r>
            <a:endParaRPr sz="1600">
              <a:latin typeface="Trebuchet MS"/>
              <a:cs typeface="Trebuchet MS"/>
            </a:endParaRPr>
          </a:p>
        </p:txBody>
      </p:sp>
      <p:pic>
        <p:nvPicPr>
          <p:cNvPr id="36" name="object 36"/>
          <p:cNvPicPr/>
          <p:nvPr/>
        </p:nvPicPr>
        <p:blipFill>
          <a:blip r:embed="rId9" cstate="print"/>
          <a:stretch>
            <a:fillRect/>
          </a:stretch>
        </p:blipFill>
        <p:spPr>
          <a:xfrm>
            <a:off x="6315455" y="3464814"/>
            <a:ext cx="926592" cy="925830"/>
          </a:xfrm>
          <a:prstGeom prst="rect">
            <a:avLst/>
          </a:prstGeom>
        </p:spPr>
      </p:pic>
      <p:sp>
        <p:nvSpPr>
          <p:cNvPr id="37" name="object 37"/>
          <p:cNvSpPr txBox="1"/>
          <p:nvPr/>
        </p:nvSpPr>
        <p:spPr>
          <a:xfrm>
            <a:off x="6554851" y="3747008"/>
            <a:ext cx="447675" cy="330835"/>
          </a:xfrm>
          <a:prstGeom prst="rect">
            <a:avLst/>
          </a:prstGeom>
        </p:spPr>
        <p:txBody>
          <a:bodyPr vert="horz" wrap="square" lIns="0" tIns="12700" rIns="0" bIns="0" rtlCol="0">
            <a:spAutoFit/>
          </a:bodyPr>
          <a:lstStyle/>
          <a:p>
            <a:pPr marL="12700">
              <a:lnSpc>
                <a:spcPct val="100000"/>
              </a:lnSpc>
              <a:spcBef>
                <a:spcPts val="100"/>
              </a:spcBef>
            </a:pPr>
            <a:r>
              <a:rPr sz="2000" spc="-25">
                <a:solidFill>
                  <a:srgbClr val="29B974"/>
                </a:solidFill>
                <a:latin typeface="Trebuchet MS"/>
                <a:cs typeface="Trebuchet MS"/>
              </a:rPr>
              <a:t>79%</a:t>
            </a:r>
            <a:endParaRPr sz="2000">
              <a:latin typeface="Trebuchet MS"/>
              <a:cs typeface="Trebuchet MS"/>
            </a:endParaRPr>
          </a:p>
        </p:txBody>
      </p:sp>
      <p:sp>
        <p:nvSpPr>
          <p:cNvPr id="38" name="object 38"/>
          <p:cNvSpPr txBox="1"/>
          <p:nvPr/>
        </p:nvSpPr>
        <p:spPr>
          <a:xfrm>
            <a:off x="8117205" y="4697984"/>
            <a:ext cx="3126740" cy="513080"/>
          </a:xfrm>
          <a:prstGeom prst="rect">
            <a:avLst/>
          </a:prstGeom>
        </p:spPr>
        <p:txBody>
          <a:bodyPr vert="horz" wrap="square" lIns="0" tIns="12065" rIns="0" bIns="0" rtlCol="0">
            <a:spAutoFit/>
          </a:bodyPr>
          <a:lstStyle/>
          <a:p>
            <a:pPr marL="12700" marR="5080">
              <a:lnSpc>
                <a:spcPct val="100000"/>
              </a:lnSpc>
              <a:spcBef>
                <a:spcPts val="95"/>
              </a:spcBef>
            </a:pPr>
            <a:r>
              <a:rPr sz="1600">
                <a:solidFill>
                  <a:srgbClr val="565656"/>
                </a:solidFill>
                <a:latin typeface="Trebuchet MS"/>
                <a:cs typeface="Trebuchet MS"/>
              </a:rPr>
              <a:t>Conversion</a:t>
            </a:r>
            <a:r>
              <a:rPr sz="1600" spc="-45">
                <a:solidFill>
                  <a:srgbClr val="565656"/>
                </a:solidFill>
                <a:latin typeface="Trebuchet MS"/>
                <a:cs typeface="Trebuchet MS"/>
              </a:rPr>
              <a:t> </a:t>
            </a:r>
            <a:r>
              <a:rPr sz="1600">
                <a:solidFill>
                  <a:srgbClr val="565656"/>
                </a:solidFill>
                <a:latin typeface="Trebuchet MS"/>
                <a:cs typeface="Trebuchet MS"/>
              </a:rPr>
              <a:t>from</a:t>
            </a:r>
            <a:r>
              <a:rPr sz="1600" spc="-70">
                <a:solidFill>
                  <a:srgbClr val="565656"/>
                </a:solidFill>
                <a:latin typeface="Trebuchet MS"/>
                <a:cs typeface="Trebuchet MS"/>
              </a:rPr>
              <a:t> </a:t>
            </a:r>
            <a:r>
              <a:rPr sz="1600">
                <a:solidFill>
                  <a:srgbClr val="565656"/>
                </a:solidFill>
                <a:latin typeface="Trebuchet MS"/>
                <a:cs typeface="Trebuchet MS"/>
              </a:rPr>
              <a:t>advisory</a:t>
            </a:r>
            <a:r>
              <a:rPr sz="1600" spc="-60">
                <a:solidFill>
                  <a:srgbClr val="565656"/>
                </a:solidFill>
                <a:latin typeface="Trebuchet MS"/>
                <a:cs typeface="Trebuchet MS"/>
              </a:rPr>
              <a:t> </a:t>
            </a:r>
            <a:r>
              <a:rPr sz="1600" spc="-10">
                <a:solidFill>
                  <a:srgbClr val="565656"/>
                </a:solidFill>
                <a:latin typeface="Trebuchet MS"/>
                <a:cs typeface="Trebuchet MS"/>
              </a:rPr>
              <a:t>meeting </a:t>
            </a:r>
            <a:r>
              <a:rPr sz="1600">
                <a:solidFill>
                  <a:srgbClr val="565656"/>
                </a:solidFill>
                <a:latin typeface="Trebuchet MS"/>
                <a:cs typeface="Trebuchet MS"/>
              </a:rPr>
              <a:t>to</a:t>
            </a:r>
            <a:r>
              <a:rPr sz="1600" spc="5">
                <a:solidFill>
                  <a:srgbClr val="565656"/>
                </a:solidFill>
                <a:latin typeface="Trebuchet MS"/>
                <a:cs typeface="Trebuchet MS"/>
              </a:rPr>
              <a:t> </a:t>
            </a:r>
            <a:r>
              <a:rPr sz="1600" spc="-10">
                <a:solidFill>
                  <a:srgbClr val="29B974"/>
                </a:solidFill>
                <a:latin typeface="Trebuchet MS"/>
                <a:cs typeface="Trebuchet MS"/>
              </a:rPr>
              <a:t>investment</a:t>
            </a:r>
            <a:endParaRPr sz="1600">
              <a:latin typeface="Trebuchet MS"/>
              <a:cs typeface="Trebuchet MS"/>
            </a:endParaRPr>
          </a:p>
        </p:txBody>
      </p:sp>
      <p:pic>
        <p:nvPicPr>
          <p:cNvPr id="39" name="object 39"/>
          <p:cNvPicPr/>
          <p:nvPr/>
        </p:nvPicPr>
        <p:blipFill>
          <a:blip r:embed="rId10" cstate="print"/>
          <a:stretch>
            <a:fillRect/>
          </a:stretch>
        </p:blipFill>
        <p:spPr>
          <a:xfrm>
            <a:off x="6315455" y="4498085"/>
            <a:ext cx="926592" cy="925829"/>
          </a:xfrm>
          <a:prstGeom prst="rect">
            <a:avLst/>
          </a:prstGeom>
        </p:spPr>
      </p:pic>
      <p:sp>
        <p:nvSpPr>
          <p:cNvPr id="40" name="object 40"/>
          <p:cNvSpPr txBox="1"/>
          <p:nvPr/>
        </p:nvSpPr>
        <p:spPr>
          <a:xfrm>
            <a:off x="6554851" y="4780279"/>
            <a:ext cx="447675" cy="330835"/>
          </a:xfrm>
          <a:prstGeom prst="rect">
            <a:avLst/>
          </a:prstGeom>
        </p:spPr>
        <p:txBody>
          <a:bodyPr vert="horz" wrap="square" lIns="0" tIns="12700" rIns="0" bIns="0" rtlCol="0">
            <a:spAutoFit/>
          </a:bodyPr>
          <a:lstStyle/>
          <a:p>
            <a:pPr marL="12700">
              <a:lnSpc>
                <a:spcPct val="100000"/>
              </a:lnSpc>
              <a:spcBef>
                <a:spcPts val="100"/>
              </a:spcBef>
            </a:pPr>
            <a:r>
              <a:rPr sz="2000" spc="-25">
                <a:solidFill>
                  <a:srgbClr val="29B974"/>
                </a:solidFill>
                <a:latin typeface="Trebuchet MS"/>
                <a:cs typeface="Trebuchet MS"/>
              </a:rPr>
              <a:t>12%</a:t>
            </a:r>
            <a:endParaRPr sz="2000">
              <a:latin typeface="Trebuchet MS"/>
              <a:cs typeface="Trebuchet MS"/>
            </a:endParaRPr>
          </a:p>
        </p:txBody>
      </p:sp>
      <p:sp>
        <p:nvSpPr>
          <p:cNvPr id="41" name="object 41"/>
          <p:cNvSpPr txBox="1"/>
          <p:nvPr/>
        </p:nvSpPr>
        <p:spPr>
          <a:xfrm>
            <a:off x="8117205" y="5731255"/>
            <a:ext cx="3102610" cy="513080"/>
          </a:xfrm>
          <a:prstGeom prst="rect">
            <a:avLst/>
          </a:prstGeom>
        </p:spPr>
        <p:txBody>
          <a:bodyPr vert="horz" wrap="square" lIns="0" tIns="12065" rIns="0" bIns="0" rtlCol="0">
            <a:spAutoFit/>
          </a:bodyPr>
          <a:lstStyle/>
          <a:p>
            <a:pPr marL="12700" marR="5080">
              <a:lnSpc>
                <a:spcPct val="100000"/>
              </a:lnSpc>
              <a:spcBef>
                <a:spcPts val="95"/>
              </a:spcBef>
            </a:pPr>
            <a:r>
              <a:rPr lang="en-US" sz="1600" err="1">
                <a:solidFill>
                  <a:srgbClr val="29B974"/>
                </a:solidFill>
                <a:latin typeface="Trebuchet MS"/>
                <a:cs typeface="Trebuchet MS"/>
              </a:rPr>
              <a:t>NNM</a:t>
            </a:r>
            <a:r>
              <a:rPr sz="1600" spc="-45">
                <a:solidFill>
                  <a:srgbClr val="29B974"/>
                </a:solidFill>
                <a:latin typeface="Trebuchet MS"/>
                <a:cs typeface="Trebuchet MS"/>
              </a:rPr>
              <a:t> </a:t>
            </a:r>
            <a:r>
              <a:rPr sz="1600">
                <a:solidFill>
                  <a:srgbClr val="29B974"/>
                </a:solidFill>
                <a:latin typeface="Trebuchet MS"/>
                <a:cs typeface="Trebuchet MS"/>
              </a:rPr>
              <a:t>investment</a:t>
            </a:r>
            <a:r>
              <a:rPr sz="1600" spc="-25">
                <a:solidFill>
                  <a:srgbClr val="29B974"/>
                </a:solidFill>
                <a:latin typeface="Trebuchet MS"/>
                <a:cs typeface="Trebuchet MS"/>
              </a:rPr>
              <a:t> </a:t>
            </a:r>
            <a:r>
              <a:rPr sz="1600">
                <a:solidFill>
                  <a:srgbClr val="29B974"/>
                </a:solidFill>
                <a:latin typeface="Trebuchet MS"/>
                <a:cs typeface="Trebuchet MS"/>
              </a:rPr>
              <a:t>per</a:t>
            </a:r>
            <a:r>
              <a:rPr sz="1600" spc="-60">
                <a:solidFill>
                  <a:srgbClr val="29B974"/>
                </a:solidFill>
                <a:latin typeface="Trebuchet MS"/>
                <a:cs typeface="Trebuchet MS"/>
              </a:rPr>
              <a:t> </a:t>
            </a:r>
            <a:r>
              <a:rPr sz="1600">
                <a:solidFill>
                  <a:srgbClr val="29B974"/>
                </a:solidFill>
                <a:latin typeface="Trebuchet MS"/>
                <a:cs typeface="Trebuchet MS"/>
              </a:rPr>
              <a:t>customer</a:t>
            </a:r>
            <a:r>
              <a:rPr sz="1600" spc="-25">
                <a:solidFill>
                  <a:srgbClr val="29B974"/>
                </a:solidFill>
                <a:latin typeface="Trebuchet MS"/>
                <a:cs typeface="Trebuchet MS"/>
              </a:rPr>
              <a:t> </a:t>
            </a:r>
            <a:r>
              <a:rPr sz="1600" spc="-25">
                <a:solidFill>
                  <a:srgbClr val="565656"/>
                </a:solidFill>
                <a:latin typeface="Trebuchet MS"/>
                <a:cs typeface="Trebuchet MS"/>
              </a:rPr>
              <a:t>for </a:t>
            </a:r>
            <a:r>
              <a:rPr sz="1600">
                <a:solidFill>
                  <a:srgbClr val="565656"/>
                </a:solidFill>
                <a:latin typeface="Trebuchet MS"/>
                <a:cs typeface="Trebuchet MS"/>
              </a:rPr>
              <a:t>leads</a:t>
            </a:r>
            <a:r>
              <a:rPr sz="1600" spc="-45">
                <a:solidFill>
                  <a:srgbClr val="565656"/>
                </a:solidFill>
                <a:latin typeface="Trebuchet MS"/>
                <a:cs typeface="Trebuchet MS"/>
              </a:rPr>
              <a:t> </a:t>
            </a:r>
            <a:r>
              <a:rPr sz="1600">
                <a:solidFill>
                  <a:srgbClr val="565656"/>
                </a:solidFill>
                <a:latin typeface="Trebuchet MS"/>
                <a:cs typeface="Trebuchet MS"/>
              </a:rPr>
              <a:t>compared</a:t>
            </a:r>
            <a:r>
              <a:rPr sz="1600" spc="-40">
                <a:solidFill>
                  <a:srgbClr val="565656"/>
                </a:solidFill>
                <a:latin typeface="Trebuchet MS"/>
                <a:cs typeface="Trebuchet MS"/>
              </a:rPr>
              <a:t> </a:t>
            </a:r>
            <a:r>
              <a:rPr sz="1600">
                <a:solidFill>
                  <a:srgbClr val="565656"/>
                </a:solidFill>
                <a:latin typeface="Trebuchet MS"/>
                <a:cs typeface="Trebuchet MS"/>
              </a:rPr>
              <a:t>to</a:t>
            </a:r>
            <a:r>
              <a:rPr sz="1600" spc="-35">
                <a:solidFill>
                  <a:srgbClr val="565656"/>
                </a:solidFill>
                <a:latin typeface="Trebuchet MS"/>
                <a:cs typeface="Trebuchet MS"/>
              </a:rPr>
              <a:t> </a:t>
            </a:r>
            <a:r>
              <a:rPr sz="1600" spc="-10">
                <a:solidFill>
                  <a:srgbClr val="565656"/>
                </a:solidFill>
                <a:latin typeface="Trebuchet MS"/>
                <a:cs typeface="Trebuchet MS"/>
              </a:rPr>
              <a:t>non-</a:t>
            </a:r>
            <a:r>
              <a:rPr sz="1600" spc="-20">
                <a:solidFill>
                  <a:srgbClr val="565656"/>
                </a:solidFill>
                <a:latin typeface="Trebuchet MS"/>
                <a:cs typeface="Trebuchet MS"/>
              </a:rPr>
              <a:t>leads</a:t>
            </a:r>
            <a:endParaRPr sz="1600">
              <a:latin typeface="Trebuchet MS"/>
              <a:cs typeface="Trebuchet MS"/>
            </a:endParaRPr>
          </a:p>
        </p:txBody>
      </p:sp>
      <p:pic>
        <p:nvPicPr>
          <p:cNvPr id="42" name="object 42"/>
          <p:cNvPicPr/>
          <p:nvPr/>
        </p:nvPicPr>
        <p:blipFill>
          <a:blip r:embed="rId11" cstate="print"/>
          <a:stretch>
            <a:fillRect/>
          </a:stretch>
        </p:blipFill>
        <p:spPr>
          <a:xfrm>
            <a:off x="6315455" y="5531358"/>
            <a:ext cx="926592" cy="925830"/>
          </a:xfrm>
          <a:prstGeom prst="rect">
            <a:avLst/>
          </a:prstGeom>
        </p:spPr>
      </p:pic>
      <p:sp>
        <p:nvSpPr>
          <p:cNvPr id="43" name="object 43"/>
          <p:cNvSpPr txBox="1"/>
          <p:nvPr/>
        </p:nvSpPr>
        <p:spPr>
          <a:xfrm>
            <a:off x="6521322" y="5668772"/>
            <a:ext cx="514350" cy="620395"/>
          </a:xfrm>
          <a:prstGeom prst="rect">
            <a:avLst/>
          </a:prstGeom>
        </p:spPr>
        <p:txBody>
          <a:bodyPr vert="horz" wrap="square" lIns="0" tIns="12700" rIns="0" bIns="0" rtlCol="0">
            <a:spAutoFit/>
          </a:bodyPr>
          <a:lstStyle/>
          <a:p>
            <a:pPr marL="29209">
              <a:lnSpc>
                <a:spcPts val="2340"/>
              </a:lnSpc>
              <a:spcBef>
                <a:spcPts val="100"/>
              </a:spcBef>
            </a:pPr>
            <a:r>
              <a:rPr sz="2000" spc="-20">
                <a:solidFill>
                  <a:srgbClr val="29B974"/>
                </a:solidFill>
                <a:latin typeface="Trebuchet MS"/>
                <a:cs typeface="Trebuchet MS"/>
              </a:rPr>
              <a:t>1.5-</a:t>
            </a:r>
            <a:endParaRPr sz="2000">
              <a:latin typeface="Trebuchet MS"/>
              <a:cs typeface="Trebuchet MS"/>
            </a:endParaRPr>
          </a:p>
          <a:p>
            <a:pPr marL="12700">
              <a:lnSpc>
                <a:spcPts val="2340"/>
              </a:lnSpc>
            </a:pPr>
            <a:r>
              <a:rPr sz="2000" spc="-20">
                <a:solidFill>
                  <a:srgbClr val="29B974"/>
                </a:solidFill>
                <a:latin typeface="Trebuchet MS"/>
                <a:cs typeface="Trebuchet MS"/>
              </a:rPr>
              <a:t>2.5x</a:t>
            </a:r>
            <a:endParaRPr sz="2000">
              <a:latin typeface="Trebuchet MS"/>
              <a:cs typeface="Trebuchet MS"/>
            </a:endParaRPr>
          </a:p>
        </p:txBody>
      </p:sp>
      <p:sp>
        <p:nvSpPr>
          <p:cNvPr id="44" name="object 44"/>
          <p:cNvSpPr/>
          <p:nvPr/>
        </p:nvSpPr>
        <p:spPr>
          <a:xfrm>
            <a:off x="1144524" y="3409188"/>
            <a:ext cx="4704080" cy="0"/>
          </a:xfrm>
          <a:custGeom>
            <a:avLst/>
            <a:gdLst/>
            <a:ahLst/>
            <a:cxnLst/>
            <a:rect l="l" t="t" r="r" b="b"/>
            <a:pathLst>
              <a:path w="4704080">
                <a:moveTo>
                  <a:pt x="0" y="0"/>
                </a:moveTo>
                <a:lnTo>
                  <a:pt x="4703953" y="0"/>
                </a:lnTo>
              </a:path>
            </a:pathLst>
          </a:custGeom>
          <a:ln w="9525">
            <a:solidFill>
              <a:srgbClr val="9A9A9A"/>
            </a:solidFill>
            <a:prstDash val="dot"/>
          </a:ln>
        </p:spPr>
        <p:txBody>
          <a:bodyPr wrap="square" lIns="0" tIns="0" rIns="0" bIns="0" rtlCol="0"/>
          <a:lstStyle/>
          <a:p>
            <a:endParaRPr/>
          </a:p>
        </p:txBody>
      </p:sp>
      <p:sp>
        <p:nvSpPr>
          <p:cNvPr id="45" name="object 45"/>
          <p:cNvSpPr/>
          <p:nvPr/>
        </p:nvSpPr>
        <p:spPr>
          <a:xfrm>
            <a:off x="1144524" y="4442459"/>
            <a:ext cx="4704080" cy="0"/>
          </a:xfrm>
          <a:custGeom>
            <a:avLst/>
            <a:gdLst/>
            <a:ahLst/>
            <a:cxnLst/>
            <a:rect l="l" t="t" r="r" b="b"/>
            <a:pathLst>
              <a:path w="4704080">
                <a:moveTo>
                  <a:pt x="0" y="0"/>
                </a:moveTo>
                <a:lnTo>
                  <a:pt x="4703953" y="0"/>
                </a:lnTo>
              </a:path>
            </a:pathLst>
          </a:custGeom>
          <a:ln w="9525">
            <a:solidFill>
              <a:srgbClr val="9A9A9A"/>
            </a:solidFill>
            <a:prstDash val="dot"/>
          </a:ln>
        </p:spPr>
        <p:txBody>
          <a:bodyPr wrap="square" lIns="0" tIns="0" rIns="0" bIns="0" rtlCol="0"/>
          <a:lstStyle/>
          <a:p>
            <a:endParaRPr/>
          </a:p>
        </p:txBody>
      </p:sp>
      <p:sp>
        <p:nvSpPr>
          <p:cNvPr id="46" name="object 46"/>
          <p:cNvSpPr/>
          <p:nvPr/>
        </p:nvSpPr>
        <p:spPr>
          <a:xfrm>
            <a:off x="1144524" y="5475732"/>
            <a:ext cx="4704080" cy="0"/>
          </a:xfrm>
          <a:custGeom>
            <a:avLst/>
            <a:gdLst/>
            <a:ahLst/>
            <a:cxnLst/>
            <a:rect l="l" t="t" r="r" b="b"/>
            <a:pathLst>
              <a:path w="4704080">
                <a:moveTo>
                  <a:pt x="0" y="0"/>
                </a:moveTo>
                <a:lnTo>
                  <a:pt x="4703953" y="0"/>
                </a:lnTo>
              </a:path>
            </a:pathLst>
          </a:custGeom>
          <a:ln w="9525">
            <a:solidFill>
              <a:srgbClr val="9A9A9A"/>
            </a:solidFill>
            <a:prstDash val="dot"/>
          </a:ln>
        </p:spPr>
        <p:txBody>
          <a:bodyPr wrap="square" lIns="0" tIns="0" rIns="0" bIns="0" rtlCol="0"/>
          <a:lstStyle/>
          <a:p>
            <a:endParaRPr/>
          </a:p>
        </p:txBody>
      </p:sp>
      <p:sp>
        <p:nvSpPr>
          <p:cNvPr id="47" name="object 47"/>
          <p:cNvSpPr/>
          <p:nvPr/>
        </p:nvSpPr>
        <p:spPr>
          <a:xfrm>
            <a:off x="6859523" y="3409188"/>
            <a:ext cx="4704080" cy="0"/>
          </a:xfrm>
          <a:custGeom>
            <a:avLst/>
            <a:gdLst/>
            <a:ahLst/>
            <a:cxnLst/>
            <a:rect l="l" t="t" r="r" b="b"/>
            <a:pathLst>
              <a:path w="4704080">
                <a:moveTo>
                  <a:pt x="0" y="0"/>
                </a:moveTo>
                <a:lnTo>
                  <a:pt x="4703953" y="0"/>
                </a:lnTo>
              </a:path>
            </a:pathLst>
          </a:custGeom>
          <a:ln w="9525">
            <a:solidFill>
              <a:srgbClr val="9A9A9A"/>
            </a:solidFill>
            <a:prstDash val="dot"/>
          </a:ln>
        </p:spPr>
        <p:txBody>
          <a:bodyPr wrap="square" lIns="0" tIns="0" rIns="0" bIns="0" rtlCol="0"/>
          <a:lstStyle/>
          <a:p>
            <a:endParaRPr/>
          </a:p>
        </p:txBody>
      </p:sp>
      <p:sp>
        <p:nvSpPr>
          <p:cNvPr id="48" name="object 48"/>
          <p:cNvSpPr/>
          <p:nvPr/>
        </p:nvSpPr>
        <p:spPr>
          <a:xfrm>
            <a:off x="6859523" y="4442459"/>
            <a:ext cx="4704080" cy="0"/>
          </a:xfrm>
          <a:custGeom>
            <a:avLst/>
            <a:gdLst/>
            <a:ahLst/>
            <a:cxnLst/>
            <a:rect l="l" t="t" r="r" b="b"/>
            <a:pathLst>
              <a:path w="4704080">
                <a:moveTo>
                  <a:pt x="0" y="0"/>
                </a:moveTo>
                <a:lnTo>
                  <a:pt x="4703953" y="0"/>
                </a:lnTo>
              </a:path>
            </a:pathLst>
          </a:custGeom>
          <a:ln w="9525">
            <a:solidFill>
              <a:srgbClr val="9A9A9A"/>
            </a:solidFill>
            <a:prstDash val="dot"/>
          </a:ln>
        </p:spPr>
        <p:txBody>
          <a:bodyPr wrap="square" lIns="0" tIns="0" rIns="0" bIns="0" rtlCol="0"/>
          <a:lstStyle/>
          <a:p>
            <a:endParaRPr/>
          </a:p>
        </p:txBody>
      </p:sp>
      <p:sp>
        <p:nvSpPr>
          <p:cNvPr id="49" name="object 49"/>
          <p:cNvSpPr/>
          <p:nvPr/>
        </p:nvSpPr>
        <p:spPr>
          <a:xfrm>
            <a:off x="6859523" y="5475732"/>
            <a:ext cx="4704080" cy="0"/>
          </a:xfrm>
          <a:custGeom>
            <a:avLst/>
            <a:gdLst/>
            <a:ahLst/>
            <a:cxnLst/>
            <a:rect l="l" t="t" r="r" b="b"/>
            <a:pathLst>
              <a:path w="4704080">
                <a:moveTo>
                  <a:pt x="0" y="0"/>
                </a:moveTo>
                <a:lnTo>
                  <a:pt x="4703953" y="0"/>
                </a:lnTo>
              </a:path>
            </a:pathLst>
          </a:custGeom>
          <a:ln w="9525">
            <a:solidFill>
              <a:srgbClr val="9A9A9A"/>
            </a:solidFill>
            <a:prstDash val="dot"/>
          </a:ln>
        </p:spPr>
        <p:txBody>
          <a:bodyPr wrap="square" lIns="0" tIns="0" rIns="0" bIns="0" rtlCol="0"/>
          <a:lstStyle/>
          <a:p>
            <a:endParaRPr/>
          </a:p>
        </p:txBody>
      </p:sp>
      <p:pic>
        <p:nvPicPr>
          <p:cNvPr id="50" name="object 50"/>
          <p:cNvPicPr/>
          <p:nvPr/>
        </p:nvPicPr>
        <p:blipFill>
          <a:blip r:embed="rId12" cstate="print"/>
          <a:stretch>
            <a:fillRect/>
          </a:stretch>
        </p:blipFill>
        <p:spPr>
          <a:xfrm>
            <a:off x="1950973" y="2438654"/>
            <a:ext cx="22351" cy="910590"/>
          </a:xfrm>
          <a:prstGeom prst="rect">
            <a:avLst/>
          </a:prstGeom>
        </p:spPr>
      </p:pic>
      <p:pic>
        <p:nvPicPr>
          <p:cNvPr id="51" name="object 51"/>
          <p:cNvPicPr/>
          <p:nvPr/>
        </p:nvPicPr>
        <p:blipFill>
          <a:blip r:embed="rId12" cstate="print"/>
          <a:stretch>
            <a:fillRect/>
          </a:stretch>
        </p:blipFill>
        <p:spPr>
          <a:xfrm>
            <a:off x="1950973" y="3471926"/>
            <a:ext cx="22351" cy="910590"/>
          </a:xfrm>
          <a:prstGeom prst="rect">
            <a:avLst/>
          </a:prstGeom>
        </p:spPr>
      </p:pic>
      <p:pic>
        <p:nvPicPr>
          <p:cNvPr id="52" name="object 52"/>
          <p:cNvPicPr/>
          <p:nvPr/>
        </p:nvPicPr>
        <p:blipFill>
          <a:blip r:embed="rId13" cstate="print"/>
          <a:stretch>
            <a:fillRect/>
          </a:stretch>
        </p:blipFill>
        <p:spPr>
          <a:xfrm>
            <a:off x="1950973" y="4505197"/>
            <a:ext cx="22351" cy="910589"/>
          </a:xfrm>
          <a:prstGeom prst="rect">
            <a:avLst/>
          </a:prstGeom>
        </p:spPr>
      </p:pic>
      <p:pic>
        <p:nvPicPr>
          <p:cNvPr id="53" name="object 53"/>
          <p:cNvPicPr/>
          <p:nvPr/>
        </p:nvPicPr>
        <p:blipFill>
          <a:blip r:embed="rId14" cstate="print"/>
          <a:stretch>
            <a:fillRect/>
          </a:stretch>
        </p:blipFill>
        <p:spPr>
          <a:xfrm>
            <a:off x="1950973" y="5538470"/>
            <a:ext cx="22351" cy="910628"/>
          </a:xfrm>
          <a:prstGeom prst="rect">
            <a:avLst/>
          </a:prstGeom>
        </p:spPr>
      </p:pic>
      <p:pic>
        <p:nvPicPr>
          <p:cNvPr id="54" name="object 54"/>
          <p:cNvPicPr/>
          <p:nvPr/>
        </p:nvPicPr>
        <p:blipFill>
          <a:blip r:embed="rId15" cstate="print"/>
          <a:stretch>
            <a:fillRect/>
          </a:stretch>
        </p:blipFill>
        <p:spPr>
          <a:xfrm>
            <a:off x="7664450" y="2438654"/>
            <a:ext cx="22351" cy="910590"/>
          </a:xfrm>
          <a:prstGeom prst="rect">
            <a:avLst/>
          </a:prstGeom>
        </p:spPr>
      </p:pic>
      <p:pic>
        <p:nvPicPr>
          <p:cNvPr id="55" name="object 55"/>
          <p:cNvPicPr/>
          <p:nvPr/>
        </p:nvPicPr>
        <p:blipFill>
          <a:blip r:embed="rId15" cstate="print"/>
          <a:stretch>
            <a:fillRect/>
          </a:stretch>
        </p:blipFill>
        <p:spPr>
          <a:xfrm>
            <a:off x="7664450" y="3471926"/>
            <a:ext cx="22351" cy="910590"/>
          </a:xfrm>
          <a:prstGeom prst="rect">
            <a:avLst/>
          </a:prstGeom>
        </p:spPr>
      </p:pic>
      <p:pic>
        <p:nvPicPr>
          <p:cNvPr id="56" name="object 56"/>
          <p:cNvPicPr/>
          <p:nvPr/>
        </p:nvPicPr>
        <p:blipFill>
          <a:blip r:embed="rId16" cstate="print"/>
          <a:stretch>
            <a:fillRect/>
          </a:stretch>
        </p:blipFill>
        <p:spPr>
          <a:xfrm>
            <a:off x="7664450" y="4505197"/>
            <a:ext cx="22351" cy="910589"/>
          </a:xfrm>
          <a:prstGeom prst="rect">
            <a:avLst/>
          </a:prstGeom>
        </p:spPr>
      </p:pic>
      <p:pic>
        <p:nvPicPr>
          <p:cNvPr id="57" name="object 57"/>
          <p:cNvPicPr/>
          <p:nvPr/>
        </p:nvPicPr>
        <p:blipFill>
          <a:blip r:embed="rId17" cstate="print"/>
          <a:stretch>
            <a:fillRect/>
          </a:stretch>
        </p:blipFill>
        <p:spPr>
          <a:xfrm>
            <a:off x="7664450" y="5538470"/>
            <a:ext cx="22351" cy="910628"/>
          </a:xfrm>
          <a:prstGeom prst="rect">
            <a:avLst/>
          </a:prstGeom>
        </p:spPr>
      </p:pic>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txBox="1"/>
          <p:nvPr/>
        </p:nvSpPr>
        <p:spPr>
          <a:xfrm>
            <a:off x="11986574" y="3898286"/>
            <a:ext cx="128270" cy="2653665"/>
          </a:xfrm>
          <a:prstGeom prst="rect">
            <a:avLst/>
          </a:prstGeom>
        </p:spPr>
        <p:txBody>
          <a:bodyPr vert="vert270" wrap="square" lIns="0" tIns="6350" rIns="0" bIns="0" rtlCol="0">
            <a:spAutoFit/>
          </a:bodyPr>
          <a:lstStyle/>
          <a:p>
            <a:pPr marL="12700">
              <a:lnSpc>
                <a:spcPct val="100000"/>
              </a:lnSpc>
              <a:spcBef>
                <a:spcPts val="50"/>
              </a:spcBef>
            </a:pPr>
            <a:r>
              <a:rPr sz="700">
                <a:solidFill>
                  <a:srgbClr val="7E7E7E"/>
                </a:solidFill>
                <a:latin typeface="Trebuchet MS"/>
                <a:cs typeface="Trebuchet MS"/>
              </a:rPr>
              <a:t>Copyright</a:t>
            </a:r>
            <a:r>
              <a:rPr sz="700" spc="-25">
                <a:solidFill>
                  <a:srgbClr val="7E7E7E"/>
                </a:solidFill>
                <a:latin typeface="Trebuchet MS"/>
                <a:cs typeface="Trebuchet MS"/>
              </a:rPr>
              <a:t> </a:t>
            </a:r>
            <a:r>
              <a:rPr sz="700">
                <a:solidFill>
                  <a:srgbClr val="7E7E7E"/>
                </a:solidFill>
                <a:latin typeface="Trebuchet MS"/>
                <a:cs typeface="Trebuchet MS"/>
              </a:rPr>
              <a:t>©</a:t>
            </a:r>
            <a:r>
              <a:rPr sz="700" spc="-25">
                <a:solidFill>
                  <a:srgbClr val="7E7E7E"/>
                </a:solidFill>
                <a:latin typeface="Trebuchet MS"/>
                <a:cs typeface="Trebuchet MS"/>
              </a:rPr>
              <a:t> </a:t>
            </a:r>
            <a:r>
              <a:rPr sz="700">
                <a:solidFill>
                  <a:srgbClr val="7E7E7E"/>
                </a:solidFill>
                <a:latin typeface="Trebuchet MS"/>
                <a:cs typeface="Trebuchet MS"/>
              </a:rPr>
              <a:t>2019</a:t>
            </a:r>
            <a:r>
              <a:rPr sz="700" spc="-15">
                <a:solidFill>
                  <a:srgbClr val="7E7E7E"/>
                </a:solidFill>
                <a:latin typeface="Trebuchet MS"/>
                <a:cs typeface="Trebuchet MS"/>
              </a:rPr>
              <a:t> </a:t>
            </a:r>
            <a:r>
              <a:rPr sz="700">
                <a:solidFill>
                  <a:srgbClr val="7E7E7E"/>
                </a:solidFill>
                <a:latin typeface="Trebuchet MS"/>
                <a:cs typeface="Trebuchet MS"/>
              </a:rPr>
              <a:t>by</a:t>
            </a:r>
            <a:r>
              <a:rPr sz="700" spc="-20">
                <a:solidFill>
                  <a:srgbClr val="7E7E7E"/>
                </a:solidFill>
                <a:latin typeface="Trebuchet MS"/>
                <a:cs typeface="Trebuchet MS"/>
              </a:rPr>
              <a:t> </a:t>
            </a:r>
            <a:r>
              <a:rPr sz="700">
                <a:solidFill>
                  <a:srgbClr val="7E7E7E"/>
                </a:solidFill>
                <a:latin typeface="Trebuchet MS"/>
                <a:cs typeface="Trebuchet MS"/>
              </a:rPr>
              <a:t>Boston </a:t>
            </a:r>
            <a:r>
              <a:rPr sz="700" spc="-10">
                <a:solidFill>
                  <a:srgbClr val="7E7E7E"/>
                </a:solidFill>
                <a:latin typeface="Trebuchet MS"/>
                <a:cs typeface="Trebuchet MS"/>
              </a:rPr>
              <a:t>Consulting </a:t>
            </a:r>
            <a:r>
              <a:rPr sz="700">
                <a:solidFill>
                  <a:srgbClr val="7E7E7E"/>
                </a:solidFill>
                <a:latin typeface="Trebuchet MS"/>
                <a:cs typeface="Trebuchet MS"/>
              </a:rPr>
              <a:t>Group.</a:t>
            </a:r>
            <a:r>
              <a:rPr sz="700" spc="-5">
                <a:solidFill>
                  <a:srgbClr val="7E7E7E"/>
                </a:solidFill>
                <a:latin typeface="Trebuchet MS"/>
                <a:cs typeface="Trebuchet MS"/>
              </a:rPr>
              <a:t> </a:t>
            </a:r>
            <a:r>
              <a:rPr sz="700">
                <a:solidFill>
                  <a:srgbClr val="7E7E7E"/>
                </a:solidFill>
                <a:latin typeface="Trebuchet MS"/>
                <a:cs typeface="Trebuchet MS"/>
              </a:rPr>
              <a:t>All</a:t>
            </a:r>
            <a:r>
              <a:rPr sz="700" spc="-5">
                <a:solidFill>
                  <a:srgbClr val="7E7E7E"/>
                </a:solidFill>
                <a:latin typeface="Trebuchet MS"/>
                <a:cs typeface="Trebuchet MS"/>
              </a:rPr>
              <a:t> </a:t>
            </a:r>
            <a:r>
              <a:rPr sz="700">
                <a:solidFill>
                  <a:srgbClr val="7E7E7E"/>
                </a:solidFill>
                <a:latin typeface="Trebuchet MS"/>
                <a:cs typeface="Trebuchet MS"/>
              </a:rPr>
              <a:t>rights</a:t>
            </a:r>
            <a:r>
              <a:rPr sz="700" spc="-25">
                <a:solidFill>
                  <a:srgbClr val="7E7E7E"/>
                </a:solidFill>
                <a:latin typeface="Trebuchet MS"/>
                <a:cs typeface="Trebuchet MS"/>
              </a:rPr>
              <a:t> </a:t>
            </a:r>
            <a:r>
              <a:rPr sz="700" spc="-10">
                <a:solidFill>
                  <a:srgbClr val="7E7E7E"/>
                </a:solidFill>
                <a:latin typeface="Trebuchet MS"/>
                <a:cs typeface="Trebuchet MS"/>
              </a:rPr>
              <a:t>reserved.</a:t>
            </a:r>
            <a:endParaRPr sz="700">
              <a:latin typeface="Trebuchet MS"/>
              <a:cs typeface="Trebuchet MS"/>
            </a:endParaRPr>
          </a:p>
        </p:txBody>
      </p:sp>
      <p:sp>
        <p:nvSpPr>
          <p:cNvPr id="3" name="object 3"/>
          <p:cNvSpPr txBox="1">
            <a:spLocks noGrp="1"/>
          </p:cNvSpPr>
          <p:nvPr>
            <p:ph type="title"/>
          </p:nvPr>
        </p:nvSpPr>
        <p:spPr>
          <a:prstGeom prst="rect">
            <a:avLst/>
          </a:prstGeom>
        </p:spPr>
        <p:txBody>
          <a:bodyPr vert="horz" wrap="square" lIns="0" tIns="277824" rIns="0" bIns="0" rtlCol="0">
            <a:spAutoFit/>
          </a:bodyPr>
          <a:lstStyle/>
          <a:p>
            <a:pPr marL="12700">
              <a:lnSpc>
                <a:spcPct val="100000"/>
              </a:lnSpc>
              <a:spcBef>
                <a:spcPts val="95"/>
              </a:spcBef>
            </a:pPr>
            <a:r>
              <a:rPr sz="2800"/>
              <a:t>Developed</a:t>
            </a:r>
            <a:r>
              <a:rPr sz="2800" spc="-110"/>
              <a:t> </a:t>
            </a:r>
            <a:r>
              <a:rPr sz="2800"/>
              <a:t>proposition</a:t>
            </a:r>
            <a:r>
              <a:rPr sz="2800" spc="-105"/>
              <a:t> </a:t>
            </a:r>
            <a:r>
              <a:rPr sz="2800"/>
              <a:t>and</a:t>
            </a:r>
            <a:r>
              <a:rPr sz="2800" spc="-140"/>
              <a:t> </a:t>
            </a:r>
            <a:r>
              <a:rPr sz="2800" spc="-20"/>
              <a:t>TOM</a:t>
            </a:r>
            <a:r>
              <a:rPr sz="2800" spc="-105"/>
              <a:t> </a:t>
            </a:r>
            <a:r>
              <a:rPr sz="2800"/>
              <a:t>to</a:t>
            </a:r>
            <a:r>
              <a:rPr sz="2800" spc="-110"/>
              <a:t> </a:t>
            </a:r>
            <a:r>
              <a:rPr sz="2800"/>
              <a:t>build</a:t>
            </a:r>
            <a:r>
              <a:rPr sz="2800" spc="-105"/>
              <a:t> </a:t>
            </a:r>
            <a:r>
              <a:rPr sz="2800" spc="-10"/>
              <a:t>Wealth:</a:t>
            </a:r>
            <a:r>
              <a:rPr sz="2800" spc="-100"/>
              <a:t> </a:t>
            </a:r>
            <a:r>
              <a:rPr sz="2800"/>
              <a:t>14</a:t>
            </a:r>
            <a:r>
              <a:rPr sz="2800" spc="-125"/>
              <a:t> </a:t>
            </a:r>
            <a:r>
              <a:rPr sz="2800"/>
              <a:t>building</a:t>
            </a:r>
            <a:r>
              <a:rPr sz="2800" spc="-110"/>
              <a:t> </a:t>
            </a:r>
            <a:r>
              <a:rPr sz="2800" spc="-10"/>
              <a:t>blocks</a:t>
            </a:r>
            <a:endParaRPr sz="2800"/>
          </a:p>
        </p:txBody>
      </p:sp>
      <p:sp>
        <p:nvSpPr>
          <p:cNvPr id="4" name="object 4"/>
          <p:cNvSpPr/>
          <p:nvPr/>
        </p:nvSpPr>
        <p:spPr>
          <a:xfrm>
            <a:off x="8692133" y="2516885"/>
            <a:ext cx="1260475" cy="2988945"/>
          </a:xfrm>
          <a:custGeom>
            <a:avLst/>
            <a:gdLst/>
            <a:ahLst/>
            <a:cxnLst/>
            <a:rect l="l" t="t" r="r" b="b"/>
            <a:pathLst>
              <a:path w="1260475" h="2988945">
                <a:moveTo>
                  <a:pt x="0" y="2988564"/>
                </a:moveTo>
                <a:lnTo>
                  <a:pt x="1260348" y="2988564"/>
                </a:lnTo>
                <a:lnTo>
                  <a:pt x="1260348" y="0"/>
                </a:lnTo>
                <a:lnTo>
                  <a:pt x="0" y="0"/>
                </a:lnTo>
                <a:lnTo>
                  <a:pt x="0" y="2988564"/>
                </a:lnTo>
                <a:close/>
              </a:path>
            </a:pathLst>
          </a:custGeom>
          <a:ln w="10478">
            <a:solidFill>
              <a:srgbClr val="9A9A9A"/>
            </a:solidFill>
          </a:ln>
        </p:spPr>
        <p:txBody>
          <a:bodyPr wrap="square" lIns="0" tIns="0" rIns="0" bIns="0" rtlCol="0"/>
          <a:lstStyle/>
          <a:p>
            <a:endParaRPr/>
          </a:p>
        </p:txBody>
      </p:sp>
      <p:sp>
        <p:nvSpPr>
          <p:cNvPr id="5" name="object 5"/>
          <p:cNvSpPr txBox="1"/>
          <p:nvPr/>
        </p:nvSpPr>
        <p:spPr>
          <a:xfrm>
            <a:off x="9231248" y="3473653"/>
            <a:ext cx="200025" cy="269240"/>
          </a:xfrm>
          <a:prstGeom prst="rect">
            <a:avLst/>
          </a:prstGeom>
        </p:spPr>
        <p:txBody>
          <a:bodyPr vert="horz" wrap="square" lIns="0" tIns="12065" rIns="0" bIns="0" rtlCol="0">
            <a:spAutoFit/>
          </a:bodyPr>
          <a:lstStyle/>
          <a:p>
            <a:pPr marL="12700">
              <a:lnSpc>
                <a:spcPct val="100000"/>
              </a:lnSpc>
              <a:spcBef>
                <a:spcPts val="95"/>
              </a:spcBef>
            </a:pPr>
            <a:r>
              <a:rPr sz="1600" spc="-25">
                <a:solidFill>
                  <a:srgbClr val="4B4B4B"/>
                </a:solidFill>
                <a:latin typeface="Trebuchet MS"/>
                <a:cs typeface="Trebuchet MS"/>
              </a:rPr>
              <a:t>IT</a:t>
            </a:r>
            <a:endParaRPr sz="1600">
              <a:latin typeface="Trebuchet MS"/>
              <a:cs typeface="Trebuchet MS"/>
            </a:endParaRPr>
          </a:p>
        </p:txBody>
      </p:sp>
      <p:sp>
        <p:nvSpPr>
          <p:cNvPr id="6" name="object 6"/>
          <p:cNvSpPr txBox="1"/>
          <p:nvPr/>
        </p:nvSpPr>
        <p:spPr>
          <a:xfrm>
            <a:off x="8824086" y="4266691"/>
            <a:ext cx="1011555" cy="269240"/>
          </a:xfrm>
          <a:prstGeom prst="rect">
            <a:avLst/>
          </a:prstGeom>
        </p:spPr>
        <p:txBody>
          <a:bodyPr vert="horz" wrap="square" lIns="0" tIns="12065" rIns="0" bIns="0" rtlCol="0">
            <a:spAutoFit/>
          </a:bodyPr>
          <a:lstStyle/>
          <a:p>
            <a:pPr marL="12700">
              <a:lnSpc>
                <a:spcPct val="100000"/>
              </a:lnSpc>
              <a:spcBef>
                <a:spcPts val="95"/>
              </a:spcBef>
            </a:pPr>
            <a:r>
              <a:rPr sz="1600" spc="-10">
                <a:solidFill>
                  <a:srgbClr val="4B4B4B"/>
                </a:solidFill>
                <a:latin typeface="Trebuchet MS"/>
                <a:cs typeface="Trebuchet MS"/>
              </a:rPr>
              <a:t>Operations</a:t>
            </a:r>
            <a:endParaRPr sz="1600">
              <a:latin typeface="Trebuchet MS"/>
              <a:cs typeface="Trebuchet MS"/>
            </a:endParaRPr>
          </a:p>
        </p:txBody>
      </p:sp>
      <p:sp>
        <p:nvSpPr>
          <p:cNvPr id="7" name="object 7"/>
          <p:cNvSpPr/>
          <p:nvPr/>
        </p:nvSpPr>
        <p:spPr>
          <a:xfrm>
            <a:off x="10304526" y="2516885"/>
            <a:ext cx="1259205" cy="2988945"/>
          </a:xfrm>
          <a:custGeom>
            <a:avLst/>
            <a:gdLst/>
            <a:ahLst/>
            <a:cxnLst/>
            <a:rect l="l" t="t" r="r" b="b"/>
            <a:pathLst>
              <a:path w="1259204" h="2988945">
                <a:moveTo>
                  <a:pt x="0" y="2988564"/>
                </a:moveTo>
                <a:lnTo>
                  <a:pt x="1258824" y="2988564"/>
                </a:lnTo>
                <a:lnTo>
                  <a:pt x="1258824" y="0"/>
                </a:lnTo>
                <a:lnTo>
                  <a:pt x="0" y="0"/>
                </a:lnTo>
                <a:lnTo>
                  <a:pt x="0" y="2988564"/>
                </a:lnTo>
                <a:close/>
              </a:path>
            </a:pathLst>
          </a:custGeom>
          <a:ln w="10478">
            <a:solidFill>
              <a:srgbClr val="9A9A9A"/>
            </a:solidFill>
          </a:ln>
        </p:spPr>
        <p:txBody>
          <a:bodyPr wrap="square" lIns="0" tIns="0" rIns="0" bIns="0" rtlCol="0"/>
          <a:lstStyle/>
          <a:p>
            <a:endParaRPr/>
          </a:p>
        </p:txBody>
      </p:sp>
      <p:sp>
        <p:nvSpPr>
          <p:cNvPr id="8" name="object 8"/>
          <p:cNvSpPr txBox="1"/>
          <p:nvPr/>
        </p:nvSpPr>
        <p:spPr>
          <a:xfrm>
            <a:off x="10763377" y="2590037"/>
            <a:ext cx="372110" cy="269240"/>
          </a:xfrm>
          <a:prstGeom prst="rect">
            <a:avLst/>
          </a:prstGeom>
        </p:spPr>
        <p:txBody>
          <a:bodyPr vert="horz" wrap="square" lIns="0" tIns="12065" rIns="0" bIns="0" rtlCol="0">
            <a:spAutoFit/>
          </a:bodyPr>
          <a:lstStyle/>
          <a:p>
            <a:pPr>
              <a:lnSpc>
                <a:spcPct val="100000"/>
              </a:lnSpc>
              <a:spcBef>
                <a:spcPts val="95"/>
              </a:spcBef>
            </a:pPr>
            <a:r>
              <a:rPr sz="1600" spc="-20">
                <a:solidFill>
                  <a:srgbClr val="4B4B4B"/>
                </a:solidFill>
                <a:latin typeface="Trebuchet MS"/>
                <a:cs typeface="Trebuchet MS"/>
              </a:rPr>
              <a:t>Risk</a:t>
            </a:r>
            <a:endParaRPr sz="1600">
              <a:latin typeface="Trebuchet MS"/>
              <a:cs typeface="Trebuchet MS"/>
            </a:endParaRPr>
          </a:p>
        </p:txBody>
      </p:sp>
      <p:sp>
        <p:nvSpPr>
          <p:cNvPr id="9" name="object 9"/>
          <p:cNvSpPr txBox="1"/>
          <p:nvPr/>
        </p:nvSpPr>
        <p:spPr>
          <a:xfrm>
            <a:off x="10354691" y="2833877"/>
            <a:ext cx="1188720" cy="269240"/>
          </a:xfrm>
          <a:prstGeom prst="rect">
            <a:avLst/>
          </a:prstGeom>
        </p:spPr>
        <p:txBody>
          <a:bodyPr vert="horz" wrap="square" lIns="0" tIns="12065" rIns="0" bIns="0" rtlCol="0">
            <a:spAutoFit/>
          </a:bodyPr>
          <a:lstStyle/>
          <a:p>
            <a:pPr>
              <a:lnSpc>
                <a:spcPct val="100000"/>
              </a:lnSpc>
              <a:spcBef>
                <a:spcPts val="95"/>
              </a:spcBef>
            </a:pPr>
            <a:r>
              <a:rPr sz="1600" spc="-10">
                <a:solidFill>
                  <a:srgbClr val="4B4B4B"/>
                </a:solidFill>
                <a:latin typeface="Trebuchet MS"/>
                <a:cs typeface="Trebuchet MS"/>
              </a:rPr>
              <a:t>management</a:t>
            </a:r>
            <a:endParaRPr sz="1600">
              <a:latin typeface="Trebuchet MS"/>
              <a:cs typeface="Trebuchet MS"/>
            </a:endParaRPr>
          </a:p>
        </p:txBody>
      </p:sp>
      <p:sp>
        <p:nvSpPr>
          <p:cNvPr id="10" name="object 10"/>
          <p:cNvSpPr txBox="1"/>
          <p:nvPr/>
        </p:nvSpPr>
        <p:spPr>
          <a:xfrm>
            <a:off x="709371" y="1825879"/>
            <a:ext cx="1101090" cy="459740"/>
          </a:xfrm>
          <a:prstGeom prst="rect">
            <a:avLst/>
          </a:prstGeom>
        </p:spPr>
        <p:txBody>
          <a:bodyPr vert="horz" wrap="square" lIns="0" tIns="12065" rIns="0" bIns="0" rtlCol="0">
            <a:spAutoFit/>
          </a:bodyPr>
          <a:lstStyle/>
          <a:p>
            <a:pPr marL="18415">
              <a:lnSpc>
                <a:spcPts val="1710"/>
              </a:lnSpc>
              <a:spcBef>
                <a:spcPts val="95"/>
              </a:spcBef>
            </a:pPr>
            <a:r>
              <a:rPr sz="1600" b="1" spc="-10">
                <a:solidFill>
                  <a:srgbClr val="565656"/>
                </a:solidFill>
                <a:latin typeface="Trebuchet MS"/>
                <a:cs typeface="Trebuchet MS"/>
              </a:rPr>
              <a:t>Customers,</a:t>
            </a:r>
            <a:endParaRPr sz="1600">
              <a:latin typeface="Trebuchet MS"/>
              <a:cs typeface="Trebuchet MS"/>
            </a:endParaRPr>
          </a:p>
          <a:p>
            <a:pPr marL="12700">
              <a:lnSpc>
                <a:spcPts val="1710"/>
              </a:lnSpc>
            </a:pPr>
            <a:r>
              <a:rPr sz="1600" b="1" spc="-10">
                <a:solidFill>
                  <a:srgbClr val="565656"/>
                </a:solidFill>
                <a:latin typeface="Trebuchet MS"/>
                <a:cs typeface="Trebuchet MS"/>
              </a:rPr>
              <a:t>Proposition</a:t>
            </a:r>
            <a:endParaRPr sz="1600">
              <a:latin typeface="Trebuchet MS"/>
              <a:cs typeface="Trebuchet MS"/>
            </a:endParaRPr>
          </a:p>
        </p:txBody>
      </p:sp>
      <p:sp>
        <p:nvSpPr>
          <p:cNvPr id="11" name="object 11"/>
          <p:cNvSpPr txBox="1"/>
          <p:nvPr/>
        </p:nvSpPr>
        <p:spPr>
          <a:xfrm>
            <a:off x="2425445" y="2016074"/>
            <a:ext cx="893444" cy="269240"/>
          </a:xfrm>
          <a:prstGeom prst="rect">
            <a:avLst/>
          </a:prstGeom>
        </p:spPr>
        <p:txBody>
          <a:bodyPr vert="horz" wrap="square" lIns="0" tIns="12065" rIns="0" bIns="0" rtlCol="0">
            <a:spAutoFit/>
          </a:bodyPr>
          <a:lstStyle/>
          <a:p>
            <a:pPr marL="12700">
              <a:lnSpc>
                <a:spcPct val="100000"/>
              </a:lnSpc>
              <a:spcBef>
                <a:spcPts val="95"/>
              </a:spcBef>
            </a:pPr>
            <a:r>
              <a:rPr sz="1600" b="1" spc="-10">
                <a:solidFill>
                  <a:srgbClr val="565656"/>
                </a:solidFill>
                <a:latin typeface="Trebuchet MS"/>
                <a:cs typeface="Trebuchet MS"/>
              </a:rPr>
              <a:t>Coverage</a:t>
            </a:r>
            <a:endParaRPr sz="1600">
              <a:latin typeface="Trebuchet MS"/>
              <a:cs typeface="Trebuchet MS"/>
            </a:endParaRPr>
          </a:p>
        </p:txBody>
      </p:sp>
      <p:sp>
        <p:nvSpPr>
          <p:cNvPr id="12" name="object 12"/>
          <p:cNvSpPr txBox="1"/>
          <p:nvPr/>
        </p:nvSpPr>
        <p:spPr>
          <a:xfrm>
            <a:off x="8809481" y="1825879"/>
            <a:ext cx="1026160" cy="459740"/>
          </a:xfrm>
          <a:prstGeom prst="rect">
            <a:avLst/>
          </a:prstGeom>
        </p:spPr>
        <p:txBody>
          <a:bodyPr vert="horz" wrap="square" lIns="0" tIns="12065" rIns="0" bIns="0" rtlCol="0">
            <a:spAutoFit/>
          </a:bodyPr>
          <a:lstStyle/>
          <a:p>
            <a:pPr algn="ctr">
              <a:lnSpc>
                <a:spcPts val="1710"/>
              </a:lnSpc>
              <a:spcBef>
                <a:spcPts val="95"/>
              </a:spcBef>
            </a:pPr>
            <a:r>
              <a:rPr sz="1600" b="1">
                <a:solidFill>
                  <a:srgbClr val="565656"/>
                </a:solidFill>
                <a:latin typeface="Trebuchet MS"/>
                <a:cs typeface="Trebuchet MS"/>
              </a:rPr>
              <a:t>IT</a:t>
            </a:r>
            <a:r>
              <a:rPr sz="1600" b="1" spc="-40">
                <a:solidFill>
                  <a:srgbClr val="565656"/>
                </a:solidFill>
                <a:latin typeface="Trebuchet MS"/>
                <a:cs typeface="Trebuchet MS"/>
              </a:rPr>
              <a:t> </a:t>
            </a:r>
            <a:r>
              <a:rPr sz="1600" b="1" spc="-50">
                <a:solidFill>
                  <a:srgbClr val="565656"/>
                </a:solidFill>
                <a:latin typeface="Trebuchet MS"/>
                <a:cs typeface="Trebuchet MS"/>
              </a:rPr>
              <a:t>&amp;</a:t>
            </a:r>
            <a:endParaRPr sz="1600">
              <a:latin typeface="Trebuchet MS"/>
              <a:cs typeface="Trebuchet MS"/>
            </a:endParaRPr>
          </a:p>
          <a:p>
            <a:pPr algn="ctr">
              <a:lnSpc>
                <a:spcPts val="1710"/>
              </a:lnSpc>
            </a:pPr>
            <a:r>
              <a:rPr sz="1600" b="1" spc="-10">
                <a:solidFill>
                  <a:srgbClr val="565656"/>
                </a:solidFill>
                <a:latin typeface="Trebuchet MS"/>
                <a:cs typeface="Trebuchet MS"/>
              </a:rPr>
              <a:t>operations</a:t>
            </a:r>
            <a:endParaRPr sz="1600">
              <a:latin typeface="Trebuchet MS"/>
              <a:cs typeface="Trebuchet MS"/>
            </a:endParaRPr>
          </a:p>
        </p:txBody>
      </p:sp>
      <p:sp>
        <p:nvSpPr>
          <p:cNvPr id="13" name="object 13"/>
          <p:cNvSpPr/>
          <p:nvPr/>
        </p:nvSpPr>
        <p:spPr>
          <a:xfrm>
            <a:off x="8692133" y="2330957"/>
            <a:ext cx="1260475" cy="0"/>
          </a:xfrm>
          <a:custGeom>
            <a:avLst/>
            <a:gdLst/>
            <a:ahLst/>
            <a:cxnLst/>
            <a:rect l="l" t="t" r="r" b="b"/>
            <a:pathLst>
              <a:path w="1260475">
                <a:moveTo>
                  <a:pt x="0" y="0"/>
                </a:moveTo>
                <a:lnTo>
                  <a:pt x="1259967" y="0"/>
                </a:lnTo>
              </a:path>
            </a:pathLst>
          </a:custGeom>
          <a:ln w="28575">
            <a:solidFill>
              <a:srgbClr val="29B974"/>
            </a:solidFill>
          </a:ln>
        </p:spPr>
        <p:txBody>
          <a:bodyPr wrap="square" lIns="0" tIns="0" rIns="0" bIns="0" rtlCol="0"/>
          <a:lstStyle/>
          <a:p>
            <a:endParaRPr/>
          </a:p>
        </p:txBody>
      </p:sp>
      <p:sp>
        <p:nvSpPr>
          <p:cNvPr id="14" name="object 14"/>
          <p:cNvSpPr txBox="1"/>
          <p:nvPr/>
        </p:nvSpPr>
        <p:spPr>
          <a:xfrm>
            <a:off x="10479785" y="1635379"/>
            <a:ext cx="908050" cy="650240"/>
          </a:xfrm>
          <a:prstGeom prst="rect">
            <a:avLst/>
          </a:prstGeom>
        </p:spPr>
        <p:txBody>
          <a:bodyPr vert="horz" wrap="square" lIns="0" tIns="65405" rIns="0" bIns="0" rtlCol="0">
            <a:spAutoFit/>
          </a:bodyPr>
          <a:lstStyle/>
          <a:p>
            <a:pPr marL="12065" marR="5080" indent="635" algn="ctr">
              <a:lnSpc>
                <a:spcPct val="78100"/>
              </a:lnSpc>
              <a:spcBef>
                <a:spcPts val="515"/>
              </a:spcBef>
            </a:pPr>
            <a:r>
              <a:rPr sz="1600" b="1">
                <a:solidFill>
                  <a:srgbClr val="565656"/>
                </a:solidFill>
                <a:latin typeface="Trebuchet MS"/>
                <a:cs typeface="Trebuchet MS"/>
              </a:rPr>
              <a:t>Risk</a:t>
            </a:r>
            <a:r>
              <a:rPr sz="1600" b="1" spc="5">
                <a:solidFill>
                  <a:srgbClr val="565656"/>
                </a:solidFill>
                <a:latin typeface="Trebuchet MS"/>
                <a:cs typeface="Trebuchet MS"/>
              </a:rPr>
              <a:t> </a:t>
            </a:r>
            <a:r>
              <a:rPr sz="1600" b="1" spc="-50">
                <a:solidFill>
                  <a:srgbClr val="565656"/>
                </a:solidFill>
                <a:latin typeface="Trebuchet MS"/>
                <a:cs typeface="Trebuchet MS"/>
              </a:rPr>
              <a:t>&amp; </a:t>
            </a:r>
            <a:r>
              <a:rPr sz="1600" b="1" spc="-10">
                <a:solidFill>
                  <a:srgbClr val="565656"/>
                </a:solidFill>
                <a:latin typeface="Trebuchet MS"/>
                <a:cs typeface="Trebuchet MS"/>
              </a:rPr>
              <a:t>support functions</a:t>
            </a:r>
            <a:endParaRPr sz="1600">
              <a:latin typeface="Trebuchet MS"/>
              <a:cs typeface="Trebuchet MS"/>
            </a:endParaRPr>
          </a:p>
        </p:txBody>
      </p:sp>
      <p:sp>
        <p:nvSpPr>
          <p:cNvPr id="15" name="object 15"/>
          <p:cNvSpPr/>
          <p:nvPr/>
        </p:nvSpPr>
        <p:spPr>
          <a:xfrm>
            <a:off x="10304526" y="2330957"/>
            <a:ext cx="1260475" cy="0"/>
          </a:xfrm>
          <a:custGeom>
            <a:avLst/>
            <a:gdLst/>
            <a:ahLst/>
            <a:cxnLst/>
            <a:rect l="l" t="t" r="r" b="b"/>
            <a:pathLst>
              <a:path w="1260475">
                <a:moveTo>
                  <a:pt x="0" y="0"/>
                </a:moveTo>
                <a:lnTo>
                  <a:pt x="1259967" y="0"/>
                </a:lnTo>
              </a:path>
            </a:pathLst>
          </a:custGeom>
          <a:ln w="28575">
            <a:solidFill>
              <a:srgbClr val="29B974"/>
            </a:solidFill>
          </a:ln>
        </p:spPr>
        <p:txBody>
          <a:bodyPr wrap="square" lIns="0" tIns="0" rIns="0" bIns="0" rtlCol="0"/>
          <a:lstStyle/>
          <a:p>
            <a:endParaRPr/>
          </a:p>
        </p:txBody>
      </p:sp>
      <p:grpSp>
        <p:nvGrpSpPr>
          <p:cNvPr id="16" name="object 16"/>
          <p:cNvGrpSpPr/>
          <p:nvPr/>
        </p:nvGrpSpPr>
        <p:grpSpPr>
          <a:xfrm>
            <a:off x="620648" y="2507360"/>
            <a:ext cx="307340" cy="307340"/>
            <a:chOff x="620648" y="2507360"/>
            <a:chExt cx="307340" cy="307340"/>
          </a:xfrm>
        </p:grpSpPr>
        <p:sp>
          <p:nvSpPr>
            <p:cNvPr id="17" name="object 17"/>
            <p:cNvSpPr/>
            <p:nvPr/>
          </p:nvSpPr>
          <p:spPr>
            <a:xfrm>
              <a:off x="630173" y="2516885"/>
              <a:ext cx="288290" cy="288290"/>
            </a:xfrm>
            <a:custGeom>
              <a:avLst/>
              <a:gdLst/>
              <a:ahLst/>
              <a:cxnLst/>
              <a:rect l="l" t="t" r="r" b="b"/>
              <a:pathLst>
                <a:path w="288290" h="288289">
                  <a:moveTo>
                    <a:pt x="144018" y="0"/>
                  </a:moveTo>
                  <a:lnTo>
                    <a:pt x="98496" y="7345"/>
                  </a:lnTo>
                  <a:lnTo>
                    <a:pt x="58962" y="27797"/>
                  </a:lnTo>
                  <a:lnTo>
                    <a:pt x="27786" y="58978"/>
                  </a:lnTo>
                  <a:lnTo>
                    <a:pt x="7342" y="98511"/>
                  </a:lnTo>
                  <a:lnTo>
                    <a:pt x="0" y="144017"/>
                  </a:lnTo>
                  <a:lnTo>
                    <a:pt x="7342" y="189524"/>
                  </a:lnTo>
                  <a:lnTo>
                    <a:pt x="27786" y="229057"/>
                  </a:lnTo>
                  <a:lnTo>
                    <a:pt x="58962" y="260238"/>
                  </a:lnTo>
                  <a:lnTo>
                    <a:pt x="98496" y="280690"/>
                  </a:lnTo>
                  <a:lnTo>
                    <a:pt x="144018" y="288036"/>
                  </a:lnTo>
                  <a:lnTo>
                    <a:pt x="189539" y="280690"/>
                  </a:lnTo>
                  <a:lnTo>
                    <a:pt x="229073" y="260238"/>
                  </a:lnTo>
                  <a:lnTo>
                    <a:pt x="260249" y="229057"/>
                  </a:lnTo>
                  <a:lnTo>
                    <a:pt x="280693" y="189524"/>
                  </a:lnTo>
                  <a:lnTo>
                    <a:pt x="288036" y="144017"/>
                  </a:lnTo>
                  <a:lnTo>
                    <a:pt x="280693" y="98511"/>
                  </a:lnTo>
                  <a:lnTo>
                    <a:pt x="260249" y="58978"/>
                  </a:lnTo>
                  <a:lnTo>
                    <a:pt x="229073" y="27797"/>
                  </a:lnTo>
                  <a:lnTo>
                    <a:pt x="189539" y="7345"/>
                  </a:lnTo>
                  <a:lnTo>
                    <a:pt x="144018" y="0"/>
                  </a:lnTo>
                  <a:close/>
                </a:path>
              </a:pathLst>
            </a:custGeom>
            <a:solidFill>
              <a:srgbClr val="29B974"/>
            </a:solidFill>
          </p:spPr>
          <p:txBody>
            <a:bodyPr wrap="square" lIns="0" tIns="0" rIns="0" bIns="0" rtlCol="0"/>
            <a:lstStyle/>
            <a:p>
              <a:endParaRPr/>
            </a:p>
          </p:txBody>
        </p:sp>
        <p:sp>
          <p:nvSpPr>
            <p:cNvPr id="18" name="object 18"/>
            <p:cNvSpPr/>
            <p:nvPr/>
          </p:nvSpPr>
          <p:spPr>
            <a:xfrm>
              <a:off x="630173" y="2516885"/>
              <a:ext cx="288290" cy="288290"/>
            </a:xfrm>
            <a:custGeom>
              <a:avLst/>
              <a:gdLst/>
              <a:ahLst/>
              <a:cxnLst/>
              <a:rect l="l" t="t" r="r" b="b"/>
              <a:pathLst>
                <a:path w="288290" h="288289">
                  <a:moveTo>
                    <a:pt x="0" y="144017"/>
                  </a:moveTo>
                  <a:lnTo>
                    <a:pt x="7342" y="98511"/>
                  </a:lnTo>
                  <a:lnTo>
                    <a:pt x="27786" y="58978"/>
                  </a:lnTo>
                  <a:lnTo>
                    <a:pt x="58962" y="27797"/>
                  </a:lnTo>
                  <a:lnTo>
                    <a:pt x="98496" y="7345"/>
                  </a:lnTo>
                  <a:lnTo>
                    <a:pt x="144018" y="0"/>
                  </a:lnTo>
                  <a:lnTo>
                    <a:pt x="189539" y="7345"/>
                  </a:lnTo>
                  <a:lnTo>
                    <a:pt x="229073" y="27797"/>
                  </a:lnTo>
                  <a:lnTo>
                    <a:pt x="260249" y="58978"/>
                  </a:lnTo>
                  <a:lnTo>
                    <a:pt x="280693" y="98511"/>
                  </a:lnTo>
                  <a:lnTo>
                    <a:pt x="288036" y="144017"/>
                  </a:lnTo>
                  <a:lnTo>
                    <a:pt x="280693" y="189524"/>
                  </a:lnTo>
                  <a:lnTo>
                    <a:pt x="260249" y="229057"/>
                  </a:lnTo>
                  <a:lnTo>
                    <a:pt x="229073" y="260238"/>
                  </a:lnTo>
                  <a:lnTo>
                    <a:pt x="189539" y="280690"/>
                  </a:lnTo>
                  <a:lnTo>
                    <a:pt x="144018" y="288036"/>
                  </a:lnTo>
                  <a:lnTo>
                    <a:pt x="98496" y="280690"/>
                  </a:lnTo>
                  <a:lnTo>
                    <a:pt x="58962" y="260238"/>
                  </a:lnTo>
                  <a:lnTo>
                    <a:pt x="27786" y="229057"/>
                  </a:lnTo>
                  <a:lnTo>
                    <a:pt x="7342" y="189524"/>
                  </a:lnTo>
                  <a:lnTo>
                    <a:pt x="0" y="144017"/>
                  </a:lnTo>
                  <a:close/>
                </a:path>
              </a:pathLst>
            </a:custGeom>
            <a:ln w="19049">
              <a:solidFill>
                <a:srgbClr val="FFFFFF"/>
              </a:solidFill>
            </a:ln>
          </p:spPr>
          <p:txBody>
            <a:bodyPr wrap="square" lIns="0" tIns="0" rIns="0" bIns="0" rtlCol="0"/>
            <a:lstStyle/>
            <a:p>
              <a:endParaRPr/>
            </a:p>
          </p:txBody>
        </p:sp>
      </p:grpSp>
      <p:sp>
        <p:nvSpPr>
          <p:cNvPr id="19" name="object 19"/>
          <p:cNvSpPr txBox="1"/>
          <p:nvPr/>
        </p:nvSpPr>
        <p:spPr>
          <a:xfrm>
            <a:off x="630173" y="2516885"/>
            <a:ext cx="1260475" cy="1440180"/>
          </a:xfrm>
          <a:prstGeom prst="rect">
            <a:avLst/>
          </a:prstGeom>
          <a:ln w="10478">
            <a:solidFill>
              <a:srgbClr val="9A9A9A"/>
            </a:solidFill>
          </a:ln>
        </p:spPr>
        <p:txBody>
          <a:bodyPr vert="horz" wrap="square" lIns="0" tIns="149225" rIns="0" bIns="0" rtlCol="0">
            <a:spAutoFit/>
          </a:bodyPr>
          <a:lstStyle/>
          <a:p>
            <a:pPr marL="214629" marR="189865" indent="-118110">
              <a:lnSpc>
                <a:spcPct val="100000"/>
              </a:lnSpc>
              <a:spcBef>
                <a:spcPts val="1175"/>
              </a:spcBef>
              <a:tabLst>
                <a:tab pos="353060" algn="l"/>
              </a:tabLst>
            </a:pPr>
            <a:r>
              <a:rPr sz="2100" spc="-75" baseline="45634">
                <a:solidFill>
                  <a:srgbClr val="FFFFFF"/>
                </a:solidFill>
                <a:latin typeface="Trebuchet MS"/>
                <a:cs typeface="Trebuchet MS"/>
              </a:rPr>
              <a:t>1</a:t>
            </a:r>
            <a:r>
              <a:rPr sz="2100" baseline="45634">
                <a:solidFill>
                  <a:srgbClr val="FFFFFF"/>
                </a:solidFill>
                <a:latin typeface="Trebuchet MS"/>
                <a:cs typeface="Trebuchet MS"/>
              </a:rPr>
              <a:t>		</a:t>
            </a:r>
            <a:r>
              <a:rPr sz="1600" spc="-10">
                <a:solidFill>
                  <a:srgbClr val="4B4B4B"/>
                </a:solidFill>
                <a:latin typeface="Trebuchet MS"/>
                <a:cs typeface="Trebuchet MS"/>
              </a:rPr>
              <a:t>Target segments</a:t>
            </a:r>
            <a:endParaRPr sz="1600">
              <a:latin typeface="Trebuchet MS"/>
              <a:cs typeface="Trebuchet MS"/>
            </a:endParaRPr>
          </a:p>
          <a:p>
            <a:pPr marL="110489" marR="88265" indent="62230">
              <a:lnSpc>
                <a:spcPct val="100000"/>
              </a:lnSpc>
              <a:spcBef>
                <a:spcPts val="1200"/>
              </a:spcBef>
            </a:pPr>
            <a:r>
              <a:rPr sz="1600">
                <a:solidFill>
                  <a:srgbClr val="4B4B4B"/>
                </a:solidFill>
                <a:latin typeface="Trebuchet MS"/>
                <a:cs typeface="Trebuchet MS"/>
              </a:rPr>
              <a:t>(incl.</a:t>
            </a:r>
            <a:r>
              <a:rPr sz="1600" spc="-50">
                <a:solidFill>
                  <a:srgbClr val="4B4B4B"/>
                </a:solidFill>
                <a:latin typeface="Trebuchet MS"/>
                <a:cs typeface="Trebuchet MS"/>
              </a:rPr>
              <a:t> </a:t>
            </a:r>
            <a:r>
              <a:rPr sz="1600" spc="-20">
                <a:solidFill>
                  <a:srgbClr val="4B4B4B"/>
                </a:solidFill>
                <a:latin typeface="Trebuchet MS"/>
                <a:cs typeface="Trebuchet MS"/>
              </a:rPr>
              <a:t>lead </a:t>
            </a:r>
            <a:r>
              <a:rPr sz="1600" spc="-10">
                <a:solidFill>
                  <a:srgbClr val="4B4B4B"/>
                </a:solidFill>
                <a:latin typeface="Trebuchet MS"/>
                <a:cs typeface="Trebuchet MS"/>
              </a:rPr>
              <a:t>generation)</a:t>
            </a:r>
            <a:endParaRPr sz="1600">
              <a:latin typeface="Trebuchet MS"/>
              <a:cs typeface="Trebuchet MS"/>
            </a:endParaRPr>
          </a:p>
        </p:txBody>
      </p:sp>
      <p:sp>
        <p:nvSpPr>
          <p:cNvPr id="20" name="object 20"/>
          <p:cNvSpPr txBox="1"/>
          <p:nvPr/>
        </p:nvSpPr>
        <p:spPr>
          <a:xfrm>
            <a:off x="7137654" y="2016074"/>
            <a:ext cx="1144270" cy="269240"/>
          </a:xfrm>
          <a:prstGeom prst="rect">
            <a:avLst/>
          </a:prstGeom>
        </p:spPr>
        <p:txBody>
          <a:bodyPr vert="horz" wrap="square" lIns="0" tIns="12065" rIns="0" bIns="0" rtlCol="0">
            <a:spAutoFit/>
          </a:bodyPr>
          <a:lstStyle/>
          <a:p>
            <a:pPr marL="12700">
              <a:lnSpc>
                <a:spcPct val="100000"/>
              </a:lnSpc>
              <a:spcBef>
                <a:spcPts val="95"/>
              </a:spcBef>
            </a:pPr>
            <a:r>
              <a:rPr sz="1600" b="1">
                <a:solidFill>
                  <a:srgbClr val="565656"/>
                </a:solidFill>
                <a:latin typeface="Trebuchet MS"/>
                <a:cs typeface="Trebuchet MS"/>
              </a:rPr>
              <a:t>Digital</a:t>
            </a:r>
            <a:r>
              <a:rPr sz="1600" b="1" spc="-45">
                <a:solidFill>
                  <a:srgbClr val="565656"/>
                </a:solidFill>
                <a:latin typeface="Trebuchet MS"/>
                <a:cs typeface="Trebuchet MS"/>
              </a:rPr>
              <a:t> </a:t>
            </a:r>
            <a:r>
              <a:rPr sz="1600" b="1" spc="-10">
                <a:solidFill>
                  <a:srgbClr val="565656"/>
                </a:solidFill>
                <a:latin typeface="Trebuchet MS"/>
                <a:cs typeface="Trebuchet MS"/>
              </a:rPr>
              <a:t>tools</a:t>
            </a:r>
            <a:endParaRPr sz="1600">
              <a:latin typeface="Trebuchet MS"/>
              <a:cs typeface="Trebuchet MS"/>
            </a:endParaRPr>
          </a:p>
        </p:txBody>
      </p:sp>
      <p:sp>
        <p:nvSpPr>
          <p:cNvPr id="21" name="object 21"/>
          <p:cNvSpPr/>
          <p:nvPr/>
        </p:nvSpPr>
        <p:spPr>
          <a:xfrm>
            <a:off x="7079742" y="2330957"/>
            <a:ext cx="1260475" cy="0"/>
          </a:xfrm>
          <a:custGeom>
            <a:avLst/>
            <a:gdLst/>
            <a:ahLst/>
            <a:cxnLst/>
            <a:rect l="l" t="t" r="r" b="b"/>
            <a:pathLst>
              <a:path w="1260475">
                <a:moveTo>
                  <a:pt x="0" y="0"/>
                </a:moveTo>
                <a:lnTo>
                  <a:pt x="1259966" y="0"/>
                </a:lnTo>
              </a:path>
            </a:pathLst>
          </a:custGeom>
          <a:ln w="28575">
            <a:solidFill>
              <a:srgbClr val="29B974"/>
            </a:solidFill>
          </a:ln>
        </p:spPr>
        <p:txBody>
          <a:bodyPr wrap="square" lIns="0" tIns="0" rIns="0" bIns="0" rtlCol="0"/>
          <a:lstStyle/>
          <a:p>
            <a:endParaRPr/>
          </a:p>
        </p:txBody>
      </p:sp>
      <p:grpSp>
        <p:nvGrpSpPr>
          <p:cNvPr id="22" name="object 22"/>
          <p:cNvGrpSpPr/>
          <p:nvPr/>
        </p:nvGrpSpPr>
        <p:grpSpPr>
          <a:xfrm>
            <a:off x="7070217" y="2507360"/>
            <a:ext cx="307340" cy="307340"/>
            <a:chOff x="7070217" y="2507360"/>
            <a:chExt cx="307340" cy="307340"/>
          </a:xfrm>
        </p:grpSpPr>
        <p:sp>
          <p:nvSpPr>
            <p:cNvPr id="23" name="object 23"/>
            <p:cNvSpPr/>
            <p:nvPr/>
          </p:nvSpPr>
          <p:spPr>
            <a:xfrm>
              <a:off x="7079742" y="2516885"/>
              <a:ext cx="288290" cy="288290"/>
            </a:xfrm>
            <a:custGeom>
              <a:avLst/>
              <a:gdLst/>
              <a:ahLst/>
              <a:cxnLst/>
              <a:rect l="l" t="t" r="r" b="b"/>
              <a:pathLst>
                <a:path w="288290" h="288289">
                  <a:moveTo>
                    <a:pt x="144017" y="0"/>
                  </a:moveTo>
                  <a:lnTo>
                    <a:pt x="98511" y="7345"/>
                  </a:lnTo>
                  <a:lnTo>
                    <a:pt x="58978" y="27797"/>
                  </a:lnTo>
                  <a:lnTo>
                    <a:pt x="27797" y="58978"/>
                  </a:lnTo>
                  <a:lnTo>
                    <a:pt x="7345" y="98511"/>
                  </a:lnTo>
                  <a:lnTo>
                    <a:pt x="0" y="144017"/>
                  </a:lnTo>
                  <a:lnTo>
                    <a:pt x="7345" y="189524"/>
                  </a:lnTo>
                  <a:lnTo>
                    <a:pt x="27797" y="229057"/>
                  </a:lnTo>
                  <a:lnTo>
                    <a:pt x="58978" y="260238"/>
                  </a:lnTo>
                  <a:lnTo>
                    <a:pt x="98511" y="280690"/>
                  </a:lnTo>
                  <a:lnTo>
                    <a:pt x="144017" y="288036"/>
                  </a:lnTo>
                  <a:lnTo>
                    <a:pt x="189524" y="280690"/>
                  </a:lnTo>
                  <a:lnTo>
                    <a:pt x="229057" y="260238"/>
                  </a:lnTo>
                  <a:lnTo>
                    <a:pt x="260238" y="229057"/>
                  </a:lnTo>
                  <a:lnTo>
                    <a:pt x="280690" y="189524"/>
                  </a:lnTo>
                  <a:lnTo>
                    <a:pt x="288035" y="144017"/>
                  </a:lnTo>
                  <a:lnTo>
                    <a:pt x="280690" y="98511"/>
                  </a:lnTo>
                  <a:lnTo>
                    <a:pt x="260238" y="58978"/>
                  </a:lnTo>
                  <a:lnTo>
                    <a:pt x="229057" y="27797"/>
                  </a:lnTo>
                  <a:lnTo>
                    <a:pt x="189524" y="7345"/>
                  </a:lnTo>
                  <a:lnTo>
                    <a:pt x="144017" y="0"/>
                  </a:lnTo>
                  <a:close/>
                </a:path>
              </a:pathLst>
            </a:custGeom>
            <a:solidFill>
              <a:srgbClr val="29B974"/>
            </a:solidFill>
          </p:spPr>
          <p:txBody>
            <a:bodyPr wrap="square" lIns="0" tIns="0" rIns="0" bIns="0" rtlCol="0"/>
            <a:lstStyle/>
            <a:p>
              <a:endParaRPr/>
            </a:p>
          </p:txBody>
        </p:sp>
        <p:sp>
          <p:nvSpPr>
            <p:cNvPr id="24" name="object 24"/>
            <p:cNvSpPr/>
            <p:nvPr/>
          </p:nvSpPr>
          <p:spPr>
            <a:xfrm>
              <a:off x="7079742" y="2516885"/>
              <a:ext cx="288290" cy="288290"/>
            </a:xfrm>
            <a:custGeom>
              <a:avLst/>
              <a:gdLst/>
              <a:ahLst/>
              <a:cxnLst/>
              <a:rect l="l" t="t" r="r" b="b"/>
              <a:pathLst>
                <a:path w="288290" h="288289">
                  <a:moveTo>
                    <a:pt x="0" y="144017"/>
                  </a:moveTo>
                  <a:lnTo>
                    <a:pt x="7345" y="98511"/>
                  </a:lnTo>
                  <a:lnTo>
                    <a:pt x="27797" y="58978"/>
                  </a:lnTo>
                  <a:lnTo>
                    <a:pt x="58978" y="27797"/>
                  </a:lnTo>
                  <a:lnTo>
                    <a:pt x="98511" y="7345"/>
                  </a:lnTo>
                  <a:lnTo>
                    <a:pt x="144017" y="0"/>
                  </a:lnTo>
                  <a:lnTo>
                    <a:pt x="189524" y="7345"/>
                  </a:lnTo>
                  <a:lnTo>
                    <a:pt x="229057" y="27797"/>
                  </a:lnTo>
                  <a:lnTo>
                    <a:pt x="260238" y="58978"/>
                  </a:lnTo>
                  <a:lnTo>
                    <a:pt x="280690" y="98511"/>
                  </a:lnTo>
                  <a:lnTo>
                    <a:pt x="288035" y="144017"/>
                  </a:lnTo>
                  <a:lnTo>
                    <a:pt x="280690" y="189524"/>
                  </a:lnTo>
                  <a:lnTo>
                    <a:pt x="260238" y="229057"/>
                  </a:lnTo>
                  <a:lnTo>
                    <a:pt x="229057" y="260238"/>
                  </a:lnTo>
                  <a:lnTo>
                    <a:pt x="189524" y="280690"/>
                  </a:lnTo>
                  <a:lnTo>
                    <a:pt x="144017" y="288036"/>
                  </a:lnTo>
                  <a:lnTo>
                    <a:pt x="98511" y="280690"/>
                  </a:lnTo>
                  <a:lnTo>
                    <a:pt x="58978" y="260238"/>
                  </a:lnTo>
                  <a:lnTo>
                    <a:pt x="27797" y="229057"/>
                  </a:lnTo>
                  <a:lnTo>
                    <a:pt x="7345" y="189524"/>
                  </a:lnTo>
                  <a:lnTo>
                    <a:pt x="0" y="144017"/>
                  </a:lnTo>
                  <a:close/>
                </a:path>
              </a:pathLst>
            </a:custGeom>
            <a:ln w="19049">
              <a:solidFill>
                <a:srgbClr val="FFFFFF"/>
              </a:solidFill>
            </a:ln>
          </p:spPr>
          <p:txBody>
            <a:bodyPr wrap="square" lIns="0" tIns="0" rIns="0" bIns="0" rtlCol="0"/>
            <a:lstStyle/>
            <a:p>
              <a:endParaRPr/>
            </a:p>
          </p:txBody>
        </p:sp>
      </p:grpSp>
      <p:sp>
        <p:nvSpPr>
          <p:cNvPr id="25" name="object 25"/>
          <p:cNvSpPr txBox="1"/>
          <p:nvPr/>
        </p:nvSpPr>
        <p:spPr>
          <a:xfrm>
            <a:off x="7079742" y="2516885"/>
            <a:ext cx="1260475" cy="1440180"/>
          </a:xfrm>
          <a:prstGeom prst="rect">
            <a:avLst/>
          </a:prstGeom>
          <a:ln w="10478">
            <a:solidFill>
              <a:srgbClr val="9A9A9A"/>
            </a:solidFill>
          </a:ln>
        </p:spPr>
        <p:txBody>
          <a:bodyPr vert="horz" wrap="square" lIns="0" tIns="31115" rIns="0" bIns="0" rtlCol="0">
            <a:spAutoFit/>
          </a:bodyPr>
          <a:lstStyle/>
          <a:p>
            <a:pPr marL="97155">
              <a:lnSpc>
                <a:spcPct val="100000"/>
              </a:lnSpc>
              <a:spcBef>
                <a:spcPts val="245"/>
              </a:spcBef>
            </a:pPr>
            <a:r>
              <a:rPr sz="1400" spc="-50">
                <a:solidFill>
                  <a:srgbClr val="FFFFFF"/>
                </a:solidFill>
                <a:latin typeface="Trebuchet MS"/>
                <a:cs typeface="Trebuchet MS"/>
              </a:rPr>
              <a:t>6</a:t>
            </a:r>
            <a:endParaRPr sz="1400">
              <a:latin typeface="Trebuchet MS"/>
              <a:cs typeface="Trebuchet MS"/>
            </a:endParaRPr>
          </a:p>
          <a:p>
            <a:pPr>
              <a:lnSpc>
                <a:spcPct val="100000"/>
              </a:lnSpc>
              <a:spcBef>
                <a:spcPts val="145"/>
              </a:spcBef>
            </a:pPr>
            <a:endParaRPr sz="1400">
              <a:latin typeface="Trebuchet MS"/>
              <a:cs typeface="Trebuchet MS"/>
            </a:endParaRPr>
          </a:p>
          <a:p>
            <a:pPr marL="15240" algn="ctr">
              <a:lnSpc>
                <a:spcPct val="100000"/>
              </a:lnSpc>
            </a:pPr>
            <a:r>
              <a:rPr sz="1600" spc="-10">
                <a:solidFill>
                  <a:srgbClr val="4B4B4B"/>
                </a:solidFill>
                <a:latin typeface="Trebuchet MS"/>
                <a:cs typeface="Trebuchet MS"/>
              </a:rPr>
              <a:t>Customer</a:t>
            </a:r>
            <a:endParaRPr sz="1600">
              <a:latin typeface="Trebuchet MS"/>
              <a:cs typeface="Trebuchet MS"/>
            </a:endParaRPr>
          </a:p>
          <a:p>
            <a:pPr marL="17145" algn="ctr">
              <a:lnSpc>
                <a:spcPct val="100000"/>
              </a:lnSpc>
            </a:pPr>
            <a:r>
              <a:rPr sz="1600" spc="-25">
                <a:solidFill>
                  <a:srgbClr val="4B4B4B"/>
                </a:solidFill>
                <a:latin typeface="Trebuchet MS"/>
                <a:cs typeface="Trebuchet MS"/>
              </a:rPr>
              <a:t>App</a:t>
            </a:r>
            <a:endParaRPr sz="1600">
              <a:latin typeface="Trebuchet MS"/>
              <a:cs typeface="Trebuchet MS"/>
            </a:endParaRPr>
          </a:p>
        </p:txBody>
      </p:sp>
      <p:sp>
        <p:nvSpPr>
          <p:cNvPr id="26" name="object 26"/>
          <p:cNvSpPr/>
          <p:nvPr/>
        </p:nvSpPr>
        <p:spPr>
          <a:xfrm>
            <a:off x="7079742" y="4065270"/>
            <a:ext cx="288290" cy="288290"/>
          </a:xfrm>
          <a:custGeom>
            <a:avLst/>
            <a:gdLst/>
            <a:ahLst/>
            <a:cxnLst/>
            <a:rect l="l" t="t" r="r" b="b"/>
            <a:pathLst>
              <a:path w="288290" h="288289">
                <a:moveTo>
                  <a:pt x="144017" y="0"/>
                </a:moveTo>
                <a:lnTo>
                  <a:pt x="98511" y="7345"/>
                </a:lnTo>
                <a:lnTo>
                  <a:pt x="58978" y="27797"/>
                </a:lnTo>
                <a:lnTo>
                  <a:pt x="27797" y="58978"/>
                </a:lnTo>
                <a:lnTo>
                  <a:pt x="7345" y="98511"/>
                </a:lnTo>
                <a:lnTo>
                  <a:pt x="0" y="144017"/>
                </a:lnTo>
                <a:lnTo>
                  <a:pt x="7345" y="189524"/>
                </a:lnTo>
                <a:lnTo>
                  <a:pt x="27797" y="229057"/>
                </a:lnTo>
                <a:lnTo>
                  <a:pt x="58978" y="260238"/>
                </a:lnTo>
                <a:lnTo>
                  <a:pt x="98511" y="280690"/>
                </a:lnTo>
                <a:lnTo>
                  <a:pt x="144017" y="288035"/>
                </a:lnTo>
                <a:lnTo>
                  <a:pt x="189524" y="280690"/>
                </a:lnTo>
                <a:lnTo>
                  <a:pt x="229057" y="260238"/>
                </a:lnTo>
                <a:lnTo>
                  <a:pt x="260238" y="229057"/>
                </a:lnTo>
                <a:lnTo>
                  <a:pt x="280690" y="189524"/>
                </a:lnTo>
                <a:lnTo>
                  <a:pt x="288035" y="144017"/>
                </a:lnTo>
                <a:lnTo>
                  <a:pt x="280690" y="98511"/>
                </a:lnTo>
                <a:lnTo>
                  <a:pt x="260238" y="58978"/>
                </a:lnTo>
                <a:lnTo>
                  <a:pt x="229057" y="27797"/>
                </a:lnTo>
                <a:lnTo>
                  <a:pt x="189524" y="7345"/>
                </a:lnTo>
                <a:lnTo>
                  <a:pt x="144017" y="0"/>
                </a:lnTo>
                <a:close/>
              </a:path>
            </a:pathLst>
          </a:custGeom>
          <a:solidFill>
            <a:srgbClr val="29B974"/>
          </a:solidFill>
        </p:spPr>
        <p:txBody>
          <a:bodyPr wrap="square" lIns="0" tIns="0" rIns="0" bIns="0" rtlCol="0"/>
          <a:lstStyle/>
          <a:p>
            <a:endParaRPr/>
          </a:p>
        </p:txBody>
      </p:sp>
      <p:sp>
        <p:nvSpPr>
          <p:cNvPr id="27" name="object 27"/>
          <p:cNvSpPr txBox="1"/>
          <p:nvPr/>
        </p:nvSpPr>
        <p:spPr>
          <a:xfrm>
            <a:off x="7079742" y="4065270"/>
            <a:ext cx="1260475" cy="1440180"/>
          </a:xfrm>
          <a:prstGeom prst="rect">
            <a:avLst/>
          </a:prstGeom>
          <a:ln w="10478">
            <a:solidFill>
              <a:srgbClr val="9A9A9A"/>
            </a:solidFill>
          </a:ln>
        </p:spPr>
        <p:txBody>
          <a:bodyPr vert="horz" wrap="square" lIns="0" tIns="31750" rIns="0" bIns="0" rtlCol="0">
            <a:spAutoFit/>
          </a:bodyPr>
          <a:lstStyle/>
          <a:p>
            <a:pPr marL="97155">
              <a:lnSpc>
                <a:spcPct val="100000"/>
              </a:lnSpc>
              <a:spcBef>
                <a:spcPts val="250"/>
              </a:spcBef>
            </a:pPr>
            <a:r>
              <a:rPr sz="1400" spc="-50">
                <a:solidFill>
                  <a:srgbClr val="FFFFFF"/>
                </a:solidFill>
                <a:latin typeface="Trebuchet MS"/>
                <a:cs typeface="Trebuchet MS"/>
              </a:rPr>
              <a:t>7</a:t>
            </a:r>
            <a:endParaRPr sz="1400">
              <a:latin typeface="Trebuchet MS"/>
              <a:cs typeface="Trebuchet MS"/>
            </a:endParaRPr>
          </a:p>
          <a:p>
            <a:pPr>
              <a:lnSpc>
                <a:spcPct val="100000"/>
              </a:lnSpc>
              <a:spcBef>
                <a:spcPts val="140"/>
              </a:spcBef>
            </a:pPr>
            <a:endParaRPr sz="1400">
              <a:latin typeface="Trebuchet MS"/>
              <a:cs typeface="Trebuchet MS"/>
            </a:endParaRPr>
          </a:p>
          <a:p>
            <a:pPr marL="466090" marR="174625" indent="-266700">
              <a:lnSpc>
                <a:spcPct val="100000"/>
              </a:lnSpc>
            </a:pPr>
            <a:r>
              <a:rPr sz="1600" spc="-10">
                <a:solidFill>
                  <a:srgbClr val="4B4B4B"/>
                </a:solidFill>
                <a:latin typeface="Trebuchet MS"/>
                <a:cs typeface="Trebuchet MS"/>
              </a:rPr>
              <a:t>Employee </a:t>
            </a:r>
            <a:r>
              <a:rPr sz="1600" spc="-25">
                <a:solidFill>
                  <a:srgbClr val="4B4B4B"/>
                </a:solidFill>
                <a:latin typeface="Trebuchet MS"/>
                <a:cs typeface="Trebuchet MS"/>
              </a:rPr>
              <a:t>App</a:t>
            </a:r>
            <a:endParaRPr sz="1600">
              <a:latin typeface="Trebuchet MS"/>
              <a:cs typeface="Trebuchet MS"/>
            </a:endParaRPr>
          </a:p>
        </p:txBody>
      </p:sp>
      <p:sp>
        <p:nvSpPr>
          <p:cNvPr id="28" name="object 28"/>
          <p:cNvSpPr txBox="1"/>
          <p:nvPr/>
        </p:nvSpPr>
        <p:spPr>
          <a:xfrm>
            <a:off x="3954017" y="1825879"/>
            <a:ext cx="1061720" cy="459740"/>
          </a:xfrm>
          <a:prstGeom prst="rect">
            <a:avLst/>
          </a:prstGeom>
        </p:spPr>
        <p:txBody>
          <a:bodyPr vert="horz" wrap="square" lIns="0" tIns="12065" rIns="0" bIns="0" rtlCol="0">
            <a:spAutoFit/>
          </a:bodyPr>
          <a:lstStyle/>
          <a:p>
            <a:pPr algn="ctr">
              <a:lnSpc>
                <a:spcPts val="1710"/>
              </a:lnSpc>
              <a:spcBef>
                <a:spcPts val="95"/>
              </a:spcBef>
            </a:pPr>
            <a:r>
              <a:rPr sz="1600" b="1">
                <a:solidFill>
                  <a:srgbClr val="565656"/>
                </a:solidFill>
                <a:latin typeface="Trebuchet MS"/>
                <a:cs typeface="Trebuchet MS"/>
              </a:rPr>
              <a:t>Products</a:t>
            </a:r>
            <a:r>
              <a:rPr sz="1600" b="1" spc="-65">
                <a:solidFill>
                  <a:srgbClr val="565656"/>
                </a:solidFill>
                <a:latin typeface="Trebuchet MS"/>
                <a:cs typeface="Trebuchet MS"/>
              </a:rPr>
              <a:t> </a:t>
            </a:r>
            <a:r>
              <a:rPr sz="1600" b="1" spc="-50">
                <a:solidFill>
                  <a:srgbClr val="565656"/>
                </a:solidFill>
                <a:latin typeface="Trebuchet MS"/>
                <a:cs typeface="Trebuchet MS"/>
              </a:rPr>
              <a:t>&amp;</a:t>
            </a:r>
            <a:endParaRPr sz="1600">
              <a:latin typeface="Trebuchet MS"/>
              <a:cs typeface="Trebuchet MS"/>
            </a:endParaRPr>
          </a:p>
          <a:p>
            <a:pPr algn="ctr">
              <a:lnSpc>
                <a:spcPts val="1710"/>
              </a:lnSpc>
            </a:pPr>
            <a:r>
              <a:rPr sz="1600" b="1" spc="-10">
                <a:solidFill>
                  <a:srgbClr val="565656"/>
                </a:solidFill>
                <a:latin typeface="Trebuchet MS"/>
                <a:cs typeface="Trebuchet MS"/>
              </a:rPr>
              <a:t>services</a:t>
            </a:r>
            <a:endParaRPr sz="1600">
              <a:latin typeface="Trebuchet MS"/>
              <a:cs typeface="Trebuchet MS"/>
            </a:endParaRPr>
          </a:p>
        </p:txBody>
      </p:sp>
      <p:sp>
        <p:nvSpPr>
          <p:cNvPr id="29" name="object 29"/>
          <p:cNvSpPr/>
          <p:nvPr/>
        </p:nvSpPr>
        <p:spPr>
          <a:xfrm>
            <a:off x="3854958" y="2330957"/>
            <a:ext cx="1260475" cy="0"/>
          </a:xfrm>
          <a:custGeom>
            <a:avLst/>
            <a:gdLst/>
            <a:ahLst/>
            <a:cxnLst/>
            <a:rect l="l" t="t" r="r" b="b"/>
            <a:pathLst>
              <a:path w="1260475">
                <a:moveTo>
                  <a:pt x="0" y="0"/>
                </a:moveTo>
                <a:lnTo>
                  <a:pt x="1259966" y="0"/>
                </a:lnTo>
              </a:path>
            </a:pathLst>
          </a:custGeom>
          <a:ln w="28575">
            <a:solidFill>
              <a:srgbClr val="29B974"/>
            </a:solidFill>
          </a:ln>
        </p:spPr>
        <p:txBody>
          <a:bodyPr wrap="square" lIns="0" tIns="0" rIns="0" bIns="0" rtlCol="0"/>
          <a:lstStyle/>
          <a:p>
            <a:endParaRPr/>
          </a:p>
        </p:txBody>
      </p:sp>
      <p:grpSp>
        <p:nvGrpSpPr>
          <p:cNvPr id="30" name="object 30"/>
          <p:cNvGrpSpPr/>
          <p:nvPr/>
        </p:nvGrpSpPr>
        <p:grpSpPr>
          <a:xfrm>
            <a:off x="2233041" y="2507360"/>
            <a:ext cx="307340" cy="307340"/>
            <a:chOff x="2233041" y="2507360"/>
            <a:chExt cx="307340" cy="307340"/>
          </a:xfrm>
        </p:grpSpPr>
        <p:sp>
          <p:nvSpPr>
            <p:cNvPr id="31" name="object 31"/>
            <p:cNvSpPr/>
            <p:nvPr/>
          </p:nvSpPr>
          <p:spPr>
            <a:xfrm>
              <a:off x="2242566" y="2516885"/>
              <a:ext cx="288290" cy="288290"/>
            </a:xfrm>
            <a:custGeom>
              <a:avLst/>
              <a:gdLst/>
              <a:ahLst/>
              <a:cxnLst/>
              <a:rect l="l" t="t" r="r" b="b"/>
              <a:pathLst>
                <a:path w="288289" h="288289">
                  <a:moveTo>
                    <a:pt x="144017" y="0"/>
                  </a:moveTo>
                  <a:lnTo>
                    <a:pt x="98511" y="7345"/>
                  </a:lnTo>
                  <a:lnTo>
                    <a:pt x="58978" y="27797"/>
                  </a:lnTo>
                  <a:lnTo>
                    <a:pt x="27797" y="58978"/>
                  </a:lnTo>
                  <a:lnTo>
                    <a:pt x="7345" y="98511"/>
                  </a:lnTo>
                  <a:lnTo>
                    <a:pt x="0" y="144017"/>
                  </a:lnTo>
                  <a:lnTo>
                    <a:pt x="7345" y="189524"/>
                  </a:lnTo>
                  <a:lnTo>
                    <a:pt x="27797" y="229057"/>
                  </a:lnTo>
                  <a:lnTo>
                    <a:pt x="58978" y="260238"/>
                  </a:lnTo>
                  <a:lnTo>
                    <a:pt x="98511" y="280690"/>
                  </a:lnTo>
                  <a:lnTo>
                    <a:pt x="144017" y="288036"/>
                  </a:lnTo>
                  <a:lnTo>
                    <a:pt x="189524" y="280690"/>
                  </a:lnTo>
                  <a:lnTo>
                    <a:pt x="229057" y="260238"/>
                  </a:lnTo>
                  <a:lnTo>
                    <a:pt x="260238" y="229057"/>
                  </a:lnTo>
                  <a:lnTo>
                    <a:pt x="280690" y="189524"/>
                  </a:lnTo>
                  <a:lnTo>
                    <a:pt x="288035" y="144017"/>
                  </a:lnTo>
                  <a:lnTo>
                    <a:pt x="280690" y="98511"/>
                  </a:lnTo>
                  <a:lnTo>
                    <a:pt x="260238" y="58978"/>
                  </a:lnTo>
                  <a:lnTo>
                    <a:pt x="229057" y="27797"/>
                  </a:lnTo>
                  <a:lnTo>
                    <a:pt x="189524" y="7345"/>
                  </a:lnTo>
                  <a:lnTo>
                    <a:pt x="144017" y="0"/>
                  </a:lnTo>
                  <a:close/>
                </a:path>
              </a:pathLst>
            </a:custGeom>
            <a:solidFill>
              <a:srgbClr val="29B974"/>
            </a:solidFill>
          </p:spPr>
          <p:txBody>
            <a:bodyPr wrap="square" lIns="0" tIns="0" rIns="0" bIns="0" rtlCol="0"/>
            <a:lstStyle/>
            <a:p>
              <a:endParaRPr/>
            </a:p>
          </p:txBody>
        </p:sp>
        <p:sp>
          <p:nvSpPr>
            <p:cNvPr id="32" name="object 32"/>
            <p:cNvSpPr/>
            <p:nvPr/>
          </p:nvSpPr>
          <p:spPr>
            <a:xfrm>
              <a:off x="2242566" y="2516885"/>
              <a:ext cx="288290" cy="288290"/>
            </a:xfrm>
            <a:custGeom>
              <a:avLst/>
              <a:gdLst/>
              <a:ahLst/>
              <a:cxnLst/>
              <a:rect l="l" t="t" r="r" b="b"/>
              <a:pathLst>
                <a:path w="288289" h="288289">
                  <a:moveTo>
                    <a:pt x="0" y="144017"/>
                  </a:moveTo>
                  <a:lnTo>
                    <a:pt x="7345" y="98511"/>
                  </a:lnTo>
                  <a:lnTo>
                    <a:pt x="27797" y="58978"/>
                  </a:lnTo>
                  <a:lnTo>
                    <a:pt x="58978" y="27797"/>
                  </a:lnTo>
                  <a:lnTo>
                    <a:pt x="98511" y="7345"/>
                  </a:lnTo>
                  <a:lnTo>
                    <a:pt x="144017" y="0"/>
                  </a:lnTo>
                  <a:lnTo>
                    <a:pt x="189524" y="7345"/>
                  </a:lnTo>
                  <a:lnTo>
                    <a:pt x="229057" y="27797"/>
                  </a:lnTo>
                  <a:lnTo>
                    <a:pt x="260238" y="58978"/>
                  </a:lnTo>
                  <a:lnTo>
                    <a:pt x="280690" y="98511"/>
                  </a:lnTo>
                  <a:lnTo>
                    <a:pt x="288035" y="144017"/>
                  </a:lnTo>
                  <a:lnTo>
                    <a:pt x="280690" y="189524"/>
                  </a:lnTo>
                  <a:lnTo>
                    <a:pt x="260238" y="229057"/>
                  </a:lnTo>
                  <a:lnTo>
                    <a:pt x="229057" y="260238"/>
                  </a:lnTo>
                  <a:lnTo>
                    <a:pt x="189524" y="280690"/>
                  </a:lnTo>
                  <a:lnTo>
                    <a:pt x="144017" y="288036"/>
                  </a:lnTo>
                  <a:lnTo>
                    <a:pt x="98511" y="280690"/>
                  </a:lnTo>
                  <a:lnTo>
                    <a:pt x="58978" y="260238"/>
                  </a:lnTo>
                  <a:lnTo>
                    <a:pt x="27797" y="229057"/>
                  </a:lnTo>
                  <a:lnTo>
                    <a:pt x="7345" y="189524"/>
                  </a:lnTo>
                  <a:lnTo>
                    <a:pt x="0" y="144017"/>
                  </a:lnTo>
                  <a:close/>
                </a:path>
              </a:pathLst>
            </a:custGeom>
            <a:ln w="19049">
              <a:solidFill>
                <a:srgbClr val="FFFFFF"/>
              </a:solidFill>
            </a:ln>
          </p:spPr>
          <p:txBody>
            <a:bodyPr wrap="square" lIns="0" tIns="0" rIns="0" bIns="0" rtlCol="0"/>
            <a:lstStyle/>
            <a:p>
              <a:endParaRPr/>
            </a:p>
          </p:txBody>
        </p:sp>
      </p:grpSp>
      <p:sp>
        <p:nvSpPr>
          <p:cNvPr id="33" name="object 33"/>
          <p:cNvSpPr txBox="1"/>
          <p:nvPr/>
        </p:nvSpPr>
        <p:spPr>
          <a:xfrm>
            <a:off x="2242566" y="2516885"/>
            <a:ext cx="1260475" cy="2988945"/>
          </a:xfrm>
          <a:prstGeom prst="rect">
            <a:avLst/>
          </a:prstGeom>
          <a:ln w="10478">
            <a:solidFill>
              <a:srgbClr val="9A9A9A"/>
            </a:solidFill>
          </a:ln>
        </p:spPr>
        <p:txBody>
          <a:bodyPr vert="horz" wrap="square" lIns="0" tIns="31115" rIns="0" bIns="0" rtlCol="0">
            <a:spAutoFit/>
          </a:bodyPr>
          <a:lstStyle/>
          <a:p>
            <a:pPr marL="97155">
              <a:lnSpc>
                <a:spcPct val="100000"/>
              </a:lnSpc>
              <a:spcBef>
                <a:spcPts val="245"/>
              </a:spcBef>
            </a:pPr>
            <a:r>
              <a:rPr sz="1400" spc="-50">
                <a:solidFill>
                  <a:srgbClr val="FFFFFF"/>
                </a:solidFill>
                <a:latin typeface="Trebuchet MS"/>
                <a:cs typeface="Trebuchet MS"/>
              </a:rPr>
              <a:t>3</a:t>
            </a:r>
            <a:endParaRPr sz="1400">
              <a:latin typeface="Trebuchet MS"/>
              <a:cs typeface="Trebuchet MS"/>
            </a:endParaRPr>
          </a:p>
          <a:p>
            <a:pPr>
              <a:lnSpc>
                <a:spcPct val="100000"/>
              </a:lnSpc>
              <a:spcBef>
                <a:spcPts val="840"/>
              </a:spcBef>
            </a:pPr>
            <a:endParaRPr sz="1400">
              <a:latin typeface="Trebuchet MS"/>
              <a:cs typeface="Trebuchet MS"/>
            </a:endParaRPr>
          </a:p>
          <a:p>
            <a:pPr marL="215900" marR="191135" indent="-1905" algn="ctr">
              <a:lnSpc>
                <a:spcPct val="100000"/>
              </a:lnSpc>
            </a:pPr>
            <a:r>
              <a:rPr sz="1600" spc="-10">
                <a:solidFill>
                  <a:srgbClr val="4B4B4B"/>
                </a:solidFill>
                <a:latin typeface="Trebuchet MS"/>
                <a:cs typeface="Trebuchet MS"/>
              </a:rPr>
              <a:t>Client coverage </a:t>
            </a:r>
            <a:r>
              <a:rPr sz="1600">
                <a:solidFill>
                  <a:srgbClr val="4B4B4B"/>
                </a:solidFill>
                <a:latin typeface="Trebuchet MS"/>
                <a:cs typeface="Trebuchet MS"/>
              </a:rPr>
              <a:t>&amp;</a:t>
            </a:r>
            <a:r>
              <a:rPr sz="1600" spc="-5">
                <a:solidFill>
                  <a:srgbClr val="4B4B4B"/>
                </a:solidFill>
                <a:latin typeface="Trebuchet MS"/>
                <a:cs typeface="Trebuchet MS"/>
              </a:rPr>
              <a:t> </a:t>
            </a:r>
            <a:r>
              <a:rPr sz="1600" spc="-10">
                <a:solidFill>
                  <a:srgbClr val="4B4B4B"/>
                </a:solidFill>
                <a:latin typeface="Trebuchet MS"/>
                <a:cs typeface="Trebuchet MS"/>
              </a:rPr>
              <a:t>service model</a:t>
            </a:r>
            <a:endParaRPr sz="1600">
              <a:latin typeface="Trebuchet MS"/>
              <a:cs typeface="Trebuchet MS"/>
            </a:endParaRPr>
          </a:p>
          <a:p>
            <a:pPr marL="141605" marR="117475" algn="ctr">
              <a:lnSpc>
                <a:spcPct val="100000"/>
              </a:lnSpc>
              <a:spcBef>
                <a:spcPts val="1200"/>
              </a:spcBef>
            </a:pPr>
            <a:r>
              <a:rPr sz="1600">
                <a:solidFill>
                  <a:srgbClr val="4B4B4B"/>
                </a:solidFill>
                <a:latin typeface="Trebuchet MS"/>
                <a:cs typeface="Trebuchet MS"/>
              </a:rPr>
              <a:t>(incl.</a:t>
            </a:r>
            <a:r>
              <a:rPr sz="1600" spc="-50">
                <a:solidFill>
                  <a:srgbClr val="4B4B4B"/>
                </a:solidFill>
                <a:latin typeface="Trebuchet MS"/>
                <a:cs typeface="Trebuchet MS"/>
              </a:rPr>
              <a:t> </a:t>
            </a:r>
            <a:r>
              <a:rPr sz="1600" spc="-20">
                <a:solidFill>
                  <a:srgbClr val="4B4B4B"/>
                </a:solidFill>
                <a:latin typeface="Trebuchet MS"/>
                <a:cs typeface="Trebuchet MS"/>
              </a:rPr>
              <a:t>front </a:t>
            </a:r>
            <a:r>
              <a:rPr sz="1600" spc="-10">
                <a:solidFill>
                  <a:srgbClr val="4B4B4B"/>
                </a:solidFill>
                <a:latin typeface="Trebuchet MS"/>
                <a:cs typeface="Trebuchet MS"/>
              </a:rPr>
              <a:t>effective- ness)</a:t>
            </a:r>
            <a:endParaRPr sz="1600">
              <a:latin typeface="Trebuchet MS"/>
              <a:cs typeface="Trebuchet MS"/>
            </a:endParaRPr>
          </a:p>
        </p:txBody>
      </p:sp>
      <p:sp>
        <p:nvSpPr>
          <p:cNvPr id="34" name="object 34"/>
          <p:cNvSpPr/>
          <p:nvPr/>
        </p:nvSpPr>
        <p:spPr>
          <a:xfrm>
            <a:off x="630173" y="2330957"/>
            <a:ext cx="1260475" cy="0"/>
          </a:xfrm>
          <a:custGeom>
            <a:avLst/>
            <a:gdLst/>
            <a:ahLst/>
            <a:cxnLst/>
            <a:rect l="l" t="t" r="r" b="b"/>
            <a:pathLst>
              <a:path w="1260475">
                <a:moveTo>
                  <a:pt x="0" y="0"/>
                </a:moveTo>
                <a:lnTo>
                  <a:pt x="1259967" y="0"/>
                </a:lnTo>
              </a:path>
            </a:pathLst>
          </a:custGeom>
          <a:ln w="28575">
            <a:solidFill>
              <a:srgbClr val="29B974"/>
            </a:solidFill>
          </a:ln>
        </p:spPr>
        <p:txBody>
          <a:bodyPr wrap="square" lIns="0" tIns="0" rIns="0" bIns="0" rtlCol="0"/>
          <a:lstStyle/>
          <a:p>
            <a:endParaRPr/>
          </a:p>
        </p:txBody>
      </p:sp>
      <p:sp>
        <p:nvSpPr>
          <p:cNvPr id="35" name="object 35"/>
          <p:cNvSpPr/>
          <p:nvPr/>
        </p:nvSpPr>
        <p:spPr>
          <a:xfrm>
            <a:off x="2242566" y="2330957"/>
            <a:ext cx="1260475" cy="0"/>
          </a:xfrm>
          <a:custGeom>
            <a:avLst/>
            <a:gdLst/>
            <a:ahLst/>
            <a:cxnLst/>
            <a:rect l="l" t="t" r="r" b="b"/>
            <a:pathLst>
              <a:path w="1260475">
                <a:moveTo>
                  <a:pt x="0" y="0"/>
                </a:moveTo>
                <a:lnTo>
                  <a:pt x="1259967" y="0"/>
                </a:lnTo>
              </a:path>
            </a:pathLst>
          </a:custGeom>
          <a:ln w="28575">
            <a:solidFill>
              <a:srgbClr val="29B974"/>
            </a:solidFill>
          </a:ln>
        </p:spPr>
        <p:txBody>
          <a:bodyPr wrap="square" lIns="0" tIns="0" rIns="0" bIns="0" rtlCol="0"/>
          <a:lstStyle/>
          <a:p>
            <a:endParaRPr/>
          </a:p>
        </p:txBody>
      </p:sp>
      <p:sp>
        <p:nvSpPr>
          <p:cNvPr id="36" name="object 36"/>
          <p:cNvSpPr txBox="1"/>
          <p:nvPr/>
        </p:nvSpPr>
        <p:spPr>
          <a:xfrm>
            <a:off x="5923026" y="2016074"/>
            <a:ext cx="348615" cy="269240"/>
          </a:xfrm>
          <a:prstGeom prst="rect">
            <a:avLst/>
          </a:prstGeom>
        </p:spPr>
        <p:txBody>
          <a:bodyPr vert="horz" wrap="square" lIns="0" tIns="12065" rIns="0" bIns="0" rtlCol="0">
            <a:spAutoFit/>
          </a:bodyPr>
          <a:lstStyle/>
          <a:p>
            <a:pPr marL="12700">
              <a:lnSpc>
                <a:spcPct val="100000"/>
              </a:lnSpc>
              <a:spcBef>
                <a:spcPts val="95"/>
              </a:spcBef>
            </a:pPr>
            <a:r>
              <a:rPr sz="1600" b="1" spc="-25">
                <a:solidFill>
                  <a:srgbClr val="565656"/>
                </a:solidFill>
                <a:latin typeface="Trebuchet MS"/>
                <a:cs typeface="Trebuchet MS"/>
              </a:rPr>
              <a:t>CIO</a:t>
            </a:r>
            <a:endParaRPr sz="1600">
              <a:latin typeface="Trebuchet MS"/>
              <a:cs typeface="Trebuchet MS"/>
            </a:endParaRPr>
          </a:p>
        </p:txBody>
      </p:sp>
      <p:sp>
        <p:nvSpPr>
          <p:cNvPr id="37" name="object 37"/>
          <p:cNvSpPr/>
          <p:nvPr/>
        </p:nvSpPr>
        <p:spPr>
          <a:xfrm>
            <a:off x="5467350" y="2330957"/>
            <a:ext cx="1260475" cy="0"/>
          </a:xfrm>
          <a:custGeom>
            <a:avLst/>
            <a:gdLst/>
            <a:ahLst/>
            <a:cxnLst/>
            <a:rect l="l" t="t" r="r" b="b"/>
            <a:pathLst>
              <a:path w="1260475">
                <a:moveTo>
                  <a:pt x="0" y="0"/>
                </a:moveTo>
                <a:lnTo>
                  <a:pt x="1259967" y="0"/>
                </a:lnTo>
              </a:path>
            </a:pathLst>
          </a:custGeom>
          <a:ln w="28575">
            <a:solidFill>
              <a:srgbClr val="29B974"/>
            </a:solidFill>
          </a:ln>
        </p:spPr>
        <p:txBody>
          <a:bodyPr wrap="square" lIns="0" tIns="0" rIns="0" bIns="0" rtlCol="0"/>
          <a:lstStyle/>
          <a:p>
            <a:endParaRPr/>
          </a:p>
        </p:txBody>
      </p:sp>
      <p:grpSp>
        <p:nvGrpSpPr>
          <p:cNvPr id="38" name="object 38"/>
          <p:cNvGrpSpPr/>
          <p:nvPr/>
        </p:nvGrpSpPr>
        <p:grpSpPr>
          <a:xfrm>
            <a:off x="5457825" y="2507360"/>
            <a:ext cx="307340" cy="307340"/>
            <a:chOff x="5457825" y="2507360"/>
            <a:chExt cx="307340" cy="307340"/>
          </a:xfrm>
        </p:grpSpPr>
        <p:sp>
          <p:nvSpPr>
            <p:cNvPr id="39" name="object 39"/>
            <p:cNvSpPr/>
            <p:nvPr/>
          </p:nvSpPr>
          <p:spPr>
            <a:xfrm>
              <a:off x="5467350" y="2516885"/>
              <a:ext cx="288290" cy="288290"/>
            </a:xfrm>
            <a:custGeom>
              <a:avLst/>
              <a:gdLst/>
              <a:ahLst/>
              <a:cxnLst/>
              <a:rect l="l" t="t" r="r" b="b"/>
              <a:pathLst>
                <a:path w="288289" h="288289">
                  <a:moveTo>
                    <a:pt x="144017" y="0"/>
                  </a:moveTo>
                  <a:lnTo>
                    <a:pt x="98511" y="7345"/>
                  </a:lnTo>
                  <a:lnTo>
                    <a:pt x="58978" y="27797"/>
                  </a:lnTo>
                  <a:lnTo>
                    <a:pt x="27797" y="58978"/>
                  </a:lnTo>
                  <a:lnTo>
                    <a:pt x="7345" y="98511"/>
                  </a:lnTo>
                  <a:lnTo>
                    <a:pt x="0" y="144017"/>
                  </a:lnTo>
                  <a:lnTo>
                    <a:pt x="7345" y="189524"/>
                  </a:lnTo>
                  <a:lnTo>
                    <a:pt x="27797" y="229057"/>
                  </a:lnTo>
                  <a:lnTo>
                    <a:pt x="58978" y="260238"/>
                  </a:lnTo>
                  <a:lnTo>
                    <a:pt x="98511" y="280690"/>
                  </a:lnTo>
                  <a:lnTo>
                    <a:pt x="144017" y="288036"/>
                  </a:lnTo>
                  <a:lnTo>
                    <a:pt x="189524" y="280690"/>
                  </a:lnTo>
                  <a:lnTo>
                    <a:pt x="229057" y="260238"/>
                  </a:lnTo>
                  <a:lnTo>
                    <a:pt x="260238" y="229057"/>
                  </a:lnTo>
                  <a:lnTo>
                    <a:pt x="280690" y="189524"/>
                  </a:lnTo>
                  <a:lnTo>
                    <a:pt x="288036" y="144017"/>
                  </a:lnTo>
                  <a:lnTo>
                    <a:pt x="280690" y="98511"/>
                  </a:lnTo>
                  <a:lnTo>
                    <a:pt x="260238" y="58978"/>
                  </a:lnTo>
                  <a:lnTo>
                    <a:pt x="229057" y="27797"/>
                  </a:lnTo>
                  <a:lnTo>
                    <a:pt x="189524" y="7345"/>
                  </a:lnTo>
                  <a:lnTo>
                    <a:pt x="144017" y="0"/>
                  </a:lnTo>
                  <a:close/>
                </a:path>
              </a:pathLst>
            </a:custGeom>
            <a:solidFill>
              <a:srgbClr val="29B974"/>
            </a:solidFill>
          </p:spPr>
          <p:txBody>
            <a:bodyPr wrap="square" lIns="0" tIns="0" rIns="0" bIns="0" rtlCol="0"/>
            <a:lstStyle/>
            <a:p>
              <a:endParaRPr/>
            </a:p>
          </p:txBody>
        </p:sp>
        <p:sp>
          <p:nvSpPr>
            <p:cNvPr id="40" name="object 40"/>
            <p:cNvSpPr/>
            <p:nvPr/>
          </p:nvSpPr>
          <p:spPr>
            <a:xfrm>
              <a:off x="5467350" y="2516885"/>
              <a:ext cx="288290" cy="288290"/>
            </a:xfrm>
            <a:custGeom>
              <a:avLst/>
              <a:gdLst/>
              <a:ahLst/>
              <a:cxnLst/>
              <a:rect l="l" t="t" r="r" b="b"/>
              <a:pathLst>
                <a:path w="288289" h="288289">
                  <a:moveTo>
                    <a:pt x="0" y="144017"/>
                  </a:moveTo>
                  <a:lnTo>
                    <a:pt x="7345" y="98511"/>
                  </a:lnTo>
                  <a:lnTo>
                    <a:pt x="27797" y="58978"/>
                  </a:lnTo>
                  <a:lnTo>
                    <a:pt x="58978" y="27797"/>
                  </a:lnTo>
                  <a:lnTo>
                    <a:pt x="98511" y="7345"/>
                  </a:lnTo>
                  <a:lnTo>
                    <a:pt x="144017" y="0"/>
                  </a:lnTo>
                  <a:lnTo>
                    <a:pt x="189524" y="7345"/>
                  </a:lnTo>
                  <a:lnTo>
                    <a:pt x="229057" y="27797"/>
                  </a:lnTo>
                  <a:lnTo>
                    <a:pt x="260238" y="58978"/>
                  </a:lnTo>
                  <a:lnTo>
                    <a:pt x="280690" y="98511"/>
                  </a:lnTo>
                  <a:lnTo>
                    <a:pt x="288036" y="144017"/>
                  </a:lnTo>
                  <a:lnTo>
                    <a:pt x="280690" y="189524"/>
                  </a:lnTo>
                  <a:lnTo>
                    <a:pt x="260238" y="229057"/>
                  </a:lnTo>
                  <a:lnTo>
                    <a:pt x="229057" y="260238"/>
                  </a:lnTo>
                  <a:lnTo>
                    <a:pt x="189524" y="280690"/>
                  </a:lnTo>
                  <a:lnTo>
                    <a:pt x="144017" y="288036"/>
                  </a:lnTo>
                  <a:lnTo>
                    <a:pt x="98511" y="280690"/>
                  </a:lnTo>
                  <a:lnTo>
                    <a:pt x="58978" y="260238"/>
                  </a:lnTo>
                  <a:lnTo>
                    <a:pt x="27797" y="229057"/>
                  </a:lnTo>
                  <a:lnTo>
                    <a:pt x="7345" y="189524"/>
                  </a:lnTo>
                  <a:lnTo>
                    <a:pt x="0" y="144017"/>
                  </a:lnTo>
                  <a:close/>
                </a:path>
              </a:pathLst>
            </a:custGeom>
            <a:ln w="19050">
              <a:solidFill>
                <a:srgbClr val="FFFFFF"/>
              </a:solidFill>
            </a:ln>
          </p:spPr>
          <p:txBody>
            <a:bodyPr wrap="square" lIns="0" tIns="0" rIns="0" bIns="0" rtlCol="0"/>
            <a:lstStyle/>
            <a:p>
              <a:endParaRPr/>
            </a:p>
          </p:txBody>
        </p:sp>
      </p:grpSp>
      <p:sp>
        <p:nvSpPr>
          <p:cNvPr id="41" name="object 41"/>
          <p:cNvSpPr txBox="1"/>
          <p:nvPr/>
        </p:nvSpPr>
        <p:spPr>
          <a:xfrm>
            <a:off x="5467350" y="2516885"/>
            <a:ext cx="1260475" cy="2988945"/>
          </a:xfrm>
          <a:prstGeom prst="rect">
            <a:avLst/>
          </a:prstGeom>
          <a:ln w="10478">
            <a:solidFill>
              <a:srgbClr val="9A9A9A"/>
            </a:solidFill>
          </a:ln>
        </p:spPr>
        <p:txBody>
          <a:bodyPr vert="horz" wrap="square" lIns="0" tIns="31115" rIns="0" bIns="0" rtlCol="0">
            <a:spAutoFit/>
          </a:bodyPr>
          <a:lstStyle/>
          <a:p>
            <a:pPr marL="97155">
              <a:lnSpc>
                <a:spcPct val="100000"/>
              </a:lnSpc>
              <a:spcBef>
                <a:spcPts val="245"/>
              </a:spcBef>
            </a:pPr>
            <a:r>
              <a:rPr sz="1400" spc="-50">
                <a:solidFill>
                  <a:srgbClr val="FFFFFF"/>
                </a:solidFill>
                <a:latin typeface="Trebuchet MS"/>
                <a:cs typeface="Trebuchet MS"/>
              </a:rPr>
              <a:t>5</a:t>
            </a:r>
            <a:endParaRPr sz="1400">
              <a:latin typeface="Trebuchet MS"/>
              <a:cs typeface="Trebuchet MS"/>
            </a:endParaRPr>
          </a:p>
          <a:p>
            <a:pPr>
              <a:lnSpc>
                <a:spcPct val="100000"/>
              </a:lnSpc>
            </a:pPr>
            <a:endParaRPr sz="1400">
              <a:latin typeface="Trebuchet MS"/>
              <a:cs typeface="Trebuchet MS"/>
            </a:endParaRPr>
          </a:p>
          <a:p>
            <a:pPr>
              <a:lnSpc>
                <a:spcPct val="100000"/>
              </a:lnSpc>
            </a:pPr>
            <a:endParaRPr sz="1400">
              <a:latin typeface="Trebuchet MS"/>
              <a:cs typeface="Trebuchet MS"/>
            </a:endParaRPr>
          </a:p>
          <a:p>
            <a:pPr>
              <a:lnSpc>
                <a:spcPct val="100000"/>
              </a:lnSpc>
            </a:pPr>
            <a:endParaRPr sz="1400">
              <a:latin typeface="Trebuchet MS"/>
              <a:cs typeface="Trebuchet MS"/>
            </a:endParaRPr>
          </a:p>
          <a:p>
            <a:pPr>
              <a:lnSpc>
                <a:spcPct val="100000"/>
              </a:lnSpc>
            </a:pPr>
            <a:endParaRPr sz="1400">
              <a:latin typeface="Trebuchet MS"/>
              <a:cs typeface="Trebuchet MS"/>
            </a:endParaRPr>
          </a:p>
          <a:p>
            <a:pPr>
              <a:lnSpc>
                <a:spcPct val="100000"/>
              </a:lnSpc>
              <a:spcBef>
                <a:spcPts val="700"/>
              </a:spcBef>
            </a:pPr>
            <a:endParaRPr sz="1400">
              <a:latin typeface="Trebuchet MS"/>
              <a:cs typeface="Trebuchet MS"/>
            </a:endParaRPr>
          </a:p>
          <a:p>
            <a:pPr marL="185420">
              <a:lnSpc>
                <a:spcPct val="100000"/>
              </a:lnSpc>
            </a:pPr>
            <a:r>
              <a:rPr sz="1600">
                <a:solidFill>
                  <a:srgbClr val="4B4B4B"/>
                </a:solidFill>
                <a:latin typeface="Trebuchet MS"/>
                <a:cs typeface="Trebuchet MS"/>
              </a:rPr>
              <a:t>CIO</a:t>
            </a:r>
            <a:r>
              <a:rPr sz="1600" spc="-15">
                <a:solidFill>
                  <a:srgbClr val="4B4B4B"/>
                </a:solidFill>
                <a:latin typeface="Trebuchet MS"/>
                <a:cs typeface="Trebuchet MS"/>
              </a:rPr>
              <a:t> </a:t>
            </a:r>
            <a:r>
              <a:rPr sz="1600" spc="-10">
                <a:solidFill>
                  <a:srgbClr val="4B4B4B"/>
                </a:solidFill>
                <a:latin typeface="Trebuchet MS"/>
                <a:cs typeface="Trebuchet MS"/>
              </a:rPr>
              <a:t>office</a:t>
            </a:r>
            <a:endParaRPr sz="1600">
              <a:latin typeface="Trebuchet MS"/>
              <a:cs typeface="Trebuchet MS"/>
            </a:endParaRPr>
          </a:p>
        </p:txBody>
      </p:sp>
      <p:grpSp>
        <p:nvGrpSpPr>
          <p:cNvPr id="42" name="object 42"/>
          <p:cNvGrpSpPr/>
          <p:nvPr/>
        </p:nvGrpSpPr>
        <p:grpSpPr>
          <a:xfrm>
            <a:off x="620648" y="4055745"/>
            <a:ext cx="307340" cy="307340"/>
            <a:chOff x="620648" y="4055745"/>
            <a:chExt cx="307340" cy="307340"/>
          </a:xfrm>
        </p:grpSpPr>
        <p:sp>
          <p:nvSpPr>
            <p:cNvPr id="43" name="object 43"/>
            <p:cNvSpPr/>
            <p:nvPr/>
          </p:nvSpPr>
          <p:spPr>
            <a:xfrm>
              <a:off x="630173" y="4065270"/>
              <a:ext cx="288290" cy="288290"/>
            </a:xfrm>
            <a:custGeom>
              <a:avLst/>
              <a:gdLst/>
              <a:ahLst/>
              <a:cxnLst/>
              <a:rect l="l" t="t" r="r" b="b"/>
              <a:pathLst>
                <a:path w="288290" h="288289">
                  <a:moveTo>
                    <a:pt x="144018" y="0"/>
                  </a:moveTo>
                  <a:lnTo>
                    <a:pt x="98496" y="7345"/>
                  </a:lnTo>
                  <a:lnTo>
                    <a:pt x="58962" y="27797"/>
                  </a:lnTo>
                  <a:lnTo>
                    <a:pt x="27786" y="58978"/>
                  </a:lnTo>
                  <a:lnTo>
                    <a:pt x="7342" y="98511"/>
                  </a:lnTo>
                  <a:lnTo>
                    <a:pt x="0" y="144017"/>
                  </a:lnTo>
                  <a:lnTo>
                    <a:pt x="7342" y="189524"/>
                  </a:lnTo>
                  <a:lnTo>
                    <a:pt x="27786" y="229057"/>
                  </a:lnTo>
                  <a:lnTo>
                    <a:pt x="58962" y="260238"/>
                  </a:lnTo>
                  <a:lnTo>
                    <a:pt x="98496" y="280690"/>
                  </a:lnTo>
                  <a:lnTo>
                    <a:pt x="144018" y="288035"/>
                  </a:lnTo>
                  <a:lnTo>
                    <a:pt x="189539" y="280690"/>
                  </a:lnTo>
                  <a:lnTo>
                    <a:pt x="229073" y="260238"/>
                  </a:lnTo>
                  <a:lnTo>
                    <a:pt x="260249" y="229057"/>
                  </a:lnTo>
                  <a:lnTo>
                    <a:pt x="280693" y="189524"/>
                  </a:lnTo>
                  <a:lnTo>
                    <a:pt x="288036" y="144017"/>
                  </a:lnTo>
                  <a:lnTo>
                    <a:pt x="280693" y="98511"/>
                  </a:lnTo>
                  <a:lnTo>
                    <a:pt x="260249" y="58978"/>
                  </a:lnTo>
                  <a:lnTo>
                    <a:pt x="229073" y="27797"/>
                  </a:lnTo>
                  <a:lnTo>
                    <a:pt x="189539" y="7345"/>
                  </a:lnTo>
                  <a:lnTo>
                    <a:pt x="144018" y="0"/>
                  </a:lnTo>
                  <a:close/>
                </a:path>
              </a:pathLst>
            </a:custGeom>
            <a:solidFill>
              <a:srgbClr val="29B974"/>
            </a:solidFill>
          </p:spPr>
          <p:txBody>
            <a:bodyPr wrap="square" lIns="0" tIns="0" rIns="0" bIns="0" rtlCol="0"/>
            <a:lstStyle/>
            <a:p>
              <a:endParaRPr/>
            </a:p>
          </p:txBody>
        </p:sp>
        <p:sp>
          <p:nvSpPr>
            <p:cNvPr id="44" name="object 44"/>
            <p:cNvSpPr/>
            <p:nvPr/>
          </p:nvSpPr>
          <p:spPr>
            <a:xfrm>
              <a:off x="630173" y="4065270"/>
              <a:ext cx="288290" cy="288290"/>
            </a:xfrm>
            <a:custGeom>
              <a:avLst/>
              <a:gdLst/>
              <a:ahLst/>
              <a:cxnLst/>
              <a:rect l="l" t="t" r="r" b="b"/>
              <a:pathLst>
                <a:path w="288290" h="288289">
                  <a:moveTo>
                    <a:pt x="0" y="144017"/>
                  </a:moveTo>
                  <a:lnTo>
                    <a:pt x="7342" y="98511"/>
                  </a:lnTo>
                  <a:lnTo>
                    <a:pt x="27786" y="58978"/>
                  </a:lnTo>
                  <a:lnTo>
                    <a:pt x="58962" y="27797"/>
                  </a:lnTo>
                  <a:lnTo>
                    <a:pt x="98496" y="7345"/>
                  </a:lnTo>
                  <a:lnTo>
                    <a:pt x="144018" y="0"/>
                  </a:lnTo>
                  <a:lnTo>
                    <a:pt x="189539" y="7345"/>
                  </a:lnTo>
                  <a:lnTo>
                    <a:pt x="229073" y="27797"/>
                  </a:lnTo>
                  <a:lnTo>
                    <a:pt x="260249" y="58978"/>
                  </a:lnTo>
                  <a:lnTo>
                    <a:pt x="280693" y="98511"/>
                  </a:lnTo>
                  <a:lnTo>
                    <a:pt x="288036" y="144017"/>
                  </a:lnTo>
                  <a:lnTo>
                    <a:pt x="280693" y="189524"/>
                  </a:lnTo>
                  <a:lnTo>
                    <a:pt x="260249" y="229057"/>
                  </a:lnTo>
                  <a:lnTo>
                    <a:pt x="229073" y="260238"/>
                  </a:lnTo>
                  <a:lnTo>
                    <a:pt x="189539" y="280690"/>
                  </a:lnTo>
                  <a:lnTo>
                    <a:pt x="144018" y="288035"/>
                  </a:lnTo>
                  <a:lnTo>
                    <a:pt x="98496" y="280690"/>
                  </a:lnTo>
                  <a:lnTo>
                    <a:pt x="58962" y="260238"/>
                  </a:lnTo>
                  <a:lnTo>
                    <a:pt x="27786" y="229057"/>
                  </a:lnTo>
                  <a:lnTo>
                    <a:pt x="7342" y="189524"/>
                  </a:lnTo>
                  <a:lnTo>
                    <a:pt x="0" y="144017"/>
                  </a:lnTo>
                  <a:close/>
                </a:path>
              </a:pathLst>
            </a:custGeom>
            <a:ln w="19049">
              <a:solidFill>
                <a:srgbClr val="FFFFFF"/>
              </a:solidFill>
            </a:ln>
          </p:spPr>
          <p:txBody>
            <a:bodyPr wrap="square" lIns="0" tIns="0" rIns="0" bIns="0" rtlCol="0"/>
            <a:lstStyle/>
            <a:p>
              <a:endParaRPr/>
            </a:p>
          </p:txBody>
        </p:sp>
      </p:grpSp>
      <p:sp>
        <p:nvSpPr>
          <p:cNvPr id="45" name="object 45"/>
          <p:cNvSpPr txBox="1"/>
          <p:nvPr/>
        </p:nvSpPr>
        <p:spPr>
          <a:xfrm>
            <a:off x="630173" y="4065270"/>
            <a:ext cx="1260475" cy="1440180"/>
          </a:xfrm>
          <a:prstGeom prst="rect">
            <a:avLst/>
          </a:prstGeom>
          <a:ln w="10478">
            <a:solidFill>
              <a:srgbClr val="9A9A9A"/>
            </a:solidFill>
          </a:ln>
        </p:spPr>
        <p:txBody>
          <a:bodyPr vert="horz" wrap="square" lIns="0" tIns="31750" rIns="0" bIns="0" rtlCol="0">
            <a:spAutoFit/>
          </a:bodyPr>
          <a:lstStyle/>
          <a:p>
            <a:pPr marR="964565" algn="ctr">
              <a:lnSpc>
                <a:spcPct val="100000"/>
              </a:lnSpc>
              <a:spcBef>
                <a:spcPts val="250"/>
              </a:spcBef>
            </a:pPr>
            <a:r>
              <a:rPr sz="1400" spc="-50">
                <a:solidFill>
                  <a:srgbClr val="FFFFFF"/>
                </a:solidFill>
                <a:latin typeface="Trebuchet MS"/>
                <a:cs typeface="Trebuchet MS"/>
              </a:rPr>
              <a:t>2</a:t>
            </a:r>
            <a:endParaRPr sz="1400">
              <a:latin typeface="Trebuchet MS"/>
              <a:cs typeface="Trebuchet MS"/>
            </a:endParaRPr>
          </a:p>
          <a:p>
            <a:pPr marL="128905" marR="104139" indent="-1905" algn="ctr">
              <a:lnSpc>
                <a:spcPct val="100000"/>
              </a:lnSpc>
              <a:spcBef>
                <a:spcPts val="805"/>
              </a:spcBef>
            </a:pPr>
            <a:r>
              <a:rPr sz="1600" spc="-10">
                <a:solidFill>
                  <a:srgbClr val="4B4B4B"/>
                </a:solidFill>
                <a:latin typeface="Trebuchet MS"/>
                <a:cs typeface="Trebuchet MS"/>
              </a:rPr>
              <a:t>Customer </a:t>
            </a:r>
            <a:r>
              <a:rPr sz="1600" spc="-20">
                <a:solidFill>
                  <a:srgbClr val="4B4B4B"/>
                </a:solidFill>
                <a:latin typeface="Trebuchet MS"/>
                <a:cs typeface="Trebuchet MS"/>
              </a:rPr>
              <a:t>Value </a:t>
            </a:r>
            <a:r>
              <a:rPr sz="1600" spc="-10">
                <a:solidFill>
                  <a:srgbClr val="4B4B4B"/>
                </a:solidFill>
                <a:latin typeface="Trebuchet MS"/>
                <a:cs typeface="Trebuchet MS"/>
              </a:rPr>
              <a:t>proposition</a:t>
            </a:r>
            <a:endParaRPr sz="1600">
              <a:latin typeface="Trebuchet MS"/>
              <a:cs typeface="Trebuchet MS"/>
            </a:endParaRPr>
          </a:p>
        </p:txBody>
      </p:sp>
      <p:grpSp>
        <p:nvGrpSpPr>
          <p:cNvPr id="46" name="object 46"/>
          <p:cNvGrpSpPr/>
          <p:nvPr/>
        </p:nvGrpSpPr>
        <p:grpSpPr>
          <a:xfrm>
            <a:off x="3845433" y="2507360"/>
            <a:ext cx="307340" cy="307340"/>
            <a:chOff x="3845433" y="2507360"/>
            <a:chExt cx="307340" cy="307340"/>
          </a:xfrm>
        </p:grpSpPr>
        <p:sp>
          <p:nvSpPr>
            <p:cNvPr id="47" name="object 47"/>
            <p:cNvSpPr/>
            <p:nvPr/>
          </p:nvSpPr>
          <p:spPr>
            <a:xfrm>
              <a:off x="3854958" y="2516885"/>
              <a:ext cx="288290" cy="288290"/>
            </a:xfrm>
            <a:custGeom>
              <a:avLst/>
              <a:gdLst/>
              <a:ahLst/>
              <a:cxnLst/>
              <a:rect l="l" t="t" r="r" b="b"/>
              <a:pathLst>
                <a:path w="288289" h="288289">
                  <a:moveTo>
                    <a:pt x="144017" y="0"/>
                  </a:moveTo>
                  <a:lnTo>
                    <a:pt x="98511" y="7345"/>
                  </a:lnTo>
                  <a:lnTo>
                    <a:pt x="58978" y="27797"/>
                  </a:lnTo>
                  <a:lnTo>
                    <a:pt x="27797" y="58978"/>
                  </a:lnTo>
                  <a:lnTo>
                    <a:pt x="7345" y="98511"/>
                  </a:lnTo>
                  <a:lnTo>
                    <a:pt x="0" y="144017"/>
                  </a:lnTo>
                  <a:lnTo>
                    <a:pt x="7345" y="189524"/>
                  </a:lnTo>
                  <a:lnTo>
                    <a:pt x="27797" y="229057"/>
                  </a:lnTo>
                  <a:lnTo>
                    <a:pt x="58978" y="260238"/>
                  </a:lnTo>
                  <a:lnTo>
                    <a:pt x="98511" y="280690"/>
                  </a:lnTo>
                  <a:lnTo>
                    <a:pt x="144017" y="288036"/>
                  </a:lnTo>
                  <a:lnTo>
                    <a:pt x="189524" y="280690"/>
                  </a:lnTo>
                  <a:lnTo>
                    <a:pt x="229057" y="260238"/>
                  </a:lnTo>
                  <a:lnTo>
                    <a:pt x="260238" y="229057"/>
                  </a:lnTo>
                  <a:lnTo>
                    <a:pt x="280690" y="189524"/>
                  </a:lnTo>
                  <a:lnTo>
                    <a:pt x="288036" y="144017"/>
                  </a:lnTo>
                  <a:lnTo>
                    <a:pt x="280690" y="98511"/>
                  </a:lnTo>
                  <a:lnTo>
                    <a:pt x="260238" y="58978"/>
                  </a:lnTo>
                  <a:lnTo>
                    <a:pt x="229057" y="27797"/>
                  </a:lnTo>
                  <a:lnTo>
                    <a:pt x="189524" y="7345"/>
                  </a:lnTo>
                  <a:lnTo>
                    <a:pt x="144017" y="0"/>
                  </a:lnTo>
                  <a:close/>
                </a:path>
              </a:pathLst>
            </a:custGeom>
            <a:solidFill>
              <a:srgbClr val="29B974"/>
            </a:solidFill>
          </p:spPr>
          <p:txBody>
            <a:bodyPr wrap="square" lIns="0" tIns="0" rIns="0" bIns="0" rtlCol="0"/>
            <a:lstStyle/>
            <a:p>
              <a:endParaRPr/>
            </a:p>
          </p:txBody>
        </p:sp>
        <p:sp>
          <p:nvSpPr>
            <p:cNvPr id="48" name="object 48"/>
            <p:cNvSpPr/>
            <p:nvPr/>
          </p:nvSpPr>
          <p:spPr>
            <a:xfrm>
              <a:off x="3854958" y="2516885"/>
              <a:ext cx="288290" cy="288290"/>
            </a:xfrm>
            <a:custGeom>
              <a:avLst/>
              <a:gdLst/>
              <a:ahLst/>
              <a:cxnLst/>
              <a:rect l="l" t="t" r="r" b="b"/>
              <a:pathLst>
                <a:path w="288289" h="288289">
                  <a:moveTo>
                    <a:pt x="0" y="144017"/>
                  </a:moveTo>
                  <a:lnTo>
                    <a:pt x="7345" y="98511"/>
                  </a:lnTo>
                  <a:lnTo>
                    <a:pt x="27797" y="58978"/>
                  </a:lnTo>
                  <a:lnTo>
                    <a:pt x="58978" y="27797"/>
                  </a:lnTo>
                  <a:lnTo>
                    <a:pt x="98511" y="7345"/>
                  </a:lnTo>
                  <a:lnTo>
                    <a:pt x="144017" y="0"/>
                  </a:lnTo>
                  <a:lnTo>
                    <a:pt x="189524" y="7345"/>
                  </a:lnTo>
                  <a:lnTo>
                    <a:pt x="229057" y="27797"/>
                  </a:lnTo>
                  <a:lnTo>
                    <a:pt x="260238" y="58978"/>
                  </a:lnTo>
                  <a:lnTo>
                    <a:pt x="280690" y="98511"/>
                  </a:lnTo>
                  <a:lnTo>
                    <a:pt x="288036" y="144017"/>
                  </a:lnTo>
                  <a:lnTo>
                    <a:pt x="280690" y="189524"/>
                  </a:lnTo>
                  <a:lnTo>
                    <a:pt x="260238" y="229057"/>
                  </a:lnTo>
                  <a:lnTo>
                    <a:pt x="229057" y="260238"/>
                  </a:lnTo>
                  <a:lnTo>
                    <a:pt x="189524" y="280690"/>
                  </a:lnTo>
                  <a:lnTo>
                    <a:pt x="144017" y="288036"/>
                  </a:lnTo>
                  <a:lnTo>
                    <a:pt x="98511" y="280690"/>
                  </a:lnTo>
                  <a:lnTo>
                    <a:pt x="58978" y="260238"/>
                  </a:lnTo>
                  <a:lnTo>
                    <a:pt x="27797" y="229057"/>
                  </a:lnTo>
                  <a:lnTo>
                    <a:pt x="7345" y="189524"/>
                  </a:lnTo>
                  <a:lnTo>
                    <a:pt x="0" y="144017"/>
                  </a:lnTo>
                  <a:close/>
                </a:path>
              </a:pathLst>
            </a:custGeom>
            <a:ln w="19050">
              <a:solidFill>
                <a:srgbClr val="FFFFFF"/>
              </a:solidFill>
            </a:ln>
          </p:spPr>
          <p:txBody>
            <a:bodyPr wrap="square" lIns="0" tIns="0" rIns="0" bIns="0" rtlCol="0"/>
            <a:lstStyle/>
            <a:p>
              <a:endParaRPr/>
            </a:p>
          </p:txBody>
        </p:sp>
      </p:grpSp>
      <p:sp>
        <p:nvSpPr>
          <p:cNvPr id="49" name="object 49"/>
          <p:cNvSpPr txBox="1"/>
          <p:nvPr/>
        </p:nvSpPr>
        <p:spPr>
          <a:xfrm>
            <a:off x="3854958" y="2516885"/>
            <a:ext cx="1260475" cy="2988945"/>
          </a:xfrm>
          <a:prstGeom prst="rect">
            <a:avLst/>
          </a:prstGeom>
          <a:ln w="10478">
            <a:solidFill>
              <a:srgbClr val="9A9A9A"/>
            </a:solidFill>
          </a:ln>
        </p:spPr>
        <p:txBody>
          <a:bodyPr vert="horz" wrap="square" lIns="0" tIns="31115" rIns="0" bIns="0" rtlCol="0">
            <a:spAutoFit/>
          </a:bodyPr>
          <a:lstStyle/>
          <a:p>
            <a:pPr marL="97155">
              <a:lnSpc>
                <a:spcPct val="100000"/>
              </a:lnSpc>
              <a:spcBef>
                <a:spcPts val="245"/>
              </a:spcBef>
            </a:pPr>
            <a:r>
              <a:rPr sz="1400" spc="-50">
                <a:solidFill>
                  <a:srgbClr val="FFFFFF"/>
                </a:solidFill>
                <a:latin typeface="Trebuchet MS"/>
                <a:cs typeface="Trebuchet MS"/>
              </a:rPr>
              <a:t>4</a:t>
            </a:r>
            <a:endParaRPr sz="1400">
              <a:latin typeface="Trebuchet MS"/>
              <a:cs typeface="Trebuchet MS"/>
            </a:endParaRPr>
          </a:p>
          <a:p>
            <a:pPr>
              <a:lnSpc>
                <a:spcPct val="100000"/>
              </a:lnSpc>
            </a:pPr>
            <a:endParaRPr sz="1400">
              <a:latin typeface="Trebuchet MS"/>
              <a:cs typeface="Trebuchet MS"/>
            </a:endParaRPr>
          </a:p>
          <a:p>
            <a:pPr>
              <a:lnSpc>
                <a:spcPct val="100000"/>
              </a:lnSpc>
            </a:pPr>
            <a:endParaRPr sz="1400">
              <a:latin typeface="Trebuchet MS"/>
              <a:cs typeface="Trebuchet MS"/>
            </a:endParaRPr>
          </a:p>
          <a:p>
            <a:pPr>
              <a:lnSpc>
                <a:spcPct val="100000"/>
              </a:lnSpc>
            </a:pPr>
            <a:endParaRPr sz="1400">
              <a:latin typeface="Trebuchet MS"/>
              <a:cs typeface="Trebuchet MS"/>
            </a:endParaRPr>
          </a:p>
          <a:p>
            <a:pPr>
              <a:lnSpc>
                <a:spcPct val="100000"/>
              </a:lnSpc>
              <a:spcBef>
                <a:spcPts val="1365"/>
              </a:spcBef>
            </a:pPr>
            <a:endParaRPr sz="1400">
              <a:latin typeface="Trebuchet MS"/>
              <a:cs typeface="Trebuchet MS"/>
            </a:endParaRPr>
          </a:p>
          <a:p>
            <a:pPr marL="167005" marR="142875" indent="81915">
              <a:lnSpc>
                <a:spcPct val="100000"/>
              </a:lnSpc>
            </a:pPr>
            <a:r>
              <a:rPr sz="1600" spc="-10">
                <a:solidFill>
                  <a:srgbClr val="4B4B4B"/>
                </a:solidFill>
                <a:latin typeface="Trebuchet MS"/>
                <a:cs typeface="Trebuchet MS"/>
              </a:rPr>
              <a:t>Products </a:t>
            </a:r>
            <a:r>
              <a:rPr sz="1600">
                <a:solidFill>
                  <a:srgbClr val="4B4B4B"/>
                </a:solidFill>
                <a:latin typeface="Trebuchet MS"/>
                <a:cs typeface="Trebuchet MS"/>
              </a:rPr>
              <a:t>&amp;</a:t>
            </a:r>
            <a:r>
              <a:rPr sz="1600" spc="-5">
                <a:solidFill>
                  <a:srgbClr val="4B4B4B"/>
                </a:solidFill>
                <a:latin typeface="Trebuchet MS"/>
                <a:cs typeface="Trebuchet MS"/>
              </a:rPr>
              <a:t> </a:t>
            </a:r>
            <a:r>
              <a:rPr sz="1600" spc="-10">
                <a:solidFill>
                  <a:srgbClr val="4B4B4B"/>
                </a:solidFill>
                <a:latin typeface="Trebuchet MS"/>
                <a:cs typeface="Trebuchet MS"/>
              </a:rPr>
              <a:t>Services</a:t>
            </a:r>
            <a:endParaRPr sz="1600">
              <a:latin typeface="Trebuchet MS"/>
              <a:cs typeface="Trebuchet MS"/>
            </a:endParaRPr>
          </a:p>
        </p:txBody>
      </p:sp>
      <p:grpSp>
        <p:nvGrpSpPr>
          <p:cNvPr id="50" name="object 50"/>
          <p:cNvGrpSpPr/>
          <p:nvPr/>
        </p:nvGrpSpPr>
        <p:grpSpPr>
          <a:xfrm>
            <a:off x="8530208" y="3313557"/>
            <a:ext cx="307340" cy="307340"/>
            <a:chOff x="8530208" y="3313557"/>
            <a:chExt cx="307340" cy="307340"/>
          </a:xfrm>
        </p:grpSpPr>
        <p:sp>
          <p:nvSpPr>
            <p:cNvPr id="51" name="object 51"/>
            <p:cNvSpPr/>
            <p:nvPr/>
          </p:nvSpPr>
          <p:spPr>
            <a:xfrm>
              <a:off x="8539733" y="3323082"/>
              <a:ext cx="288290" cy="288290"/>
            </a:xfrm>
            <a:custGeom>
              <a:avLst/>
              <a:gdLst/>
              <a:ahLst/>
              <a:cxnLst/>
              <a:rect l="l" t="t" r="r" b="b"/>
              <a:pathLst>
                <a:path w="288290" h="288289">
                  <a:moveTo>
                    <a:pt x="144018" y="0"/>
                  </a:moveTo>
                  <a:lnTo>
                    <a:pt x="98511" y="7345"/>
                  </a:lnTo>
                  <a:lnTo>
                    <a:pt x="58978" y="27797"/>
                  </a:lnTo>
                  <a:lnTo>
                    <a:pt x="27797" y="58978"/>
                  </a:lnTo>
                  <a:lnTo>
                    <a:pt x="7345" y="98511"/>
                  </a:lnTo>
                  <a:lnTo>
                    <a:pt x="0" y="144017"/>
                  </a:lnTo>
                  <a:lnTo>
                    <a:pt x="7345" y="189524"/>
                  </a:lnTo>
                  <a:lnTo>
                    <a:pt x="27797" y="229057"/>
                  </a:lnTo>
                  <a:lnTo>
                    <a:pt x="58978" y="260238"/>
                  </a:lnTo>
                  <a:lnTo>
                    <a:pt x="98511" y="280690"/>
                  </a:lnTo>
                  <a:lnTo>
                    <a:pt x="144018" y="288035"/>
                  </a:lnTo>
                  <a:lnTo>
                    <a:pt x="189524" y="280690"/>
                  </a:lnTo>
                  <a:lnTo>
                    <a:pt x="229057" y="260238"/>
                  </a:lnTo>
                  <a:lnTo>
                    <a:pt x="260238" y="229057"/>
                  </a:lnTo>
                  <a:lnTo>
                    <a:pt x="280690" y="189524"/>
                  </a:lnTo>
                  <a:lnTo>
                    <a:pt x="288036" y="144017"/>
                  </a:lnTo>
                  <a:lnTo>
                    <a:pt x="280690" y="98511"/>
                  </a:lnTo>
                  <a:lnTo>
                    <a:pt x="260238" y="58978"/>
                  </a:lnTo>
                  <a:lnTo>
                    <a:pt x="229057" y="27797"/>
                  </a:lnTo>
                  <a:lnTo>
                    <a:pt x="189524" y="7345"/>
                  </a:lnTo>
                  <a:lnTo>
                    <a:pt x="144018" y="0"/>
                  </a:lnTo>
                  <a:close/>
                </a:path>
              </a:pathLst>
            </a:custGeom>
            <a:solidFill>
              <a:srgbClr val="29B974"/>
            </a:solidFill>
          </p:spPr>
          <p:txBody>
            <a:bodyPr wrap="square" lIns="0" tIns="0" rIns="0" bIns="0" rtlCol="0"/>
            <a:lstStyle/>
            <a:p>
              <a:endParaRPr/>
            </a:p>
          </p:txBody>
        </p:sp>
        <p:sp>
          <p:nvSpPr>
            <p:cNvPr id="52" name="object 52"/>
            <p:cNvSpPr/>
            <p:nvPr/>
          </p:nvSpPr>
          <p:spPr>
            <a:xfrm>
              <a:off x="8539733" y="3323082"/>
              <a:ext cx="288290" cy="288290"/>
            </a:xfrm>
            <a:custGeom>
              <a:avLst/>
              <a:gdLst/>
              <a:ahLst/>
              <a:cxnLst/>
              <a:rect l="l" t="t" r="r" b="b"/>
              <a:pathLst>
                <a:path w="288290" h="288289">
                  <a:moveTo>
                    <a:pt x="0" y="144017"/>
                  </a:moveTo>
                  <a:lnTo>
                    <a:pt x="7345" y="98511"/>
                  </a:lnTo>
                  <a:lnTo>
                    <a:pt x="27797" y="58978"/>
                  </a:lnTo>
                  <a:lnTo>
                    <a:pt x="58978" y="27797"/>
                  </a:lnTo>
                  <a:lnTo>
                    <a:pt x="98511" y="7345"/>
                  </a:lnTo>
                  <a:lnTo>
                    <a:pt x="144018" y="0"/>
                  </a:lnTo>
                  <a:lnTo>
                    <a:pt x="189524" y="7345"/>
                  </a:lnTo>
                  <a:lnTo>
                    <a:pt x="229057" y="27797"/>
                  </a:lnTo>
                  <a:lnTo>
                    <a:pt x="260238" y="58978"/>
                  </a:lnTo>
                  <a:lnTo>
                    <a:pt x="280690" y="98511"/>
                  </a:lnTo>
                  <a:lnTo>
                    <a:pt x="288036" y="144017"/>
                  </a:lnTo>
                  <a:lnTo>
                    <a:pt x="280690" y="189524"/>
                  </a:lnTo>
                  <a:lnTo>
                    <a:pt x="260238" y="229057"/>
                  </a:lnTo>
                  <a:lnTo>
                    <a:pt x="229057" y="260238"/>
                  </a:lnTo>
                  <a:lnTo>
                    <a:pt x="189524" y="280690"/>
                  </a:lnTo>
                  <a:lnTo>
                    <a:pt x="144018" y="288035"/>
                  </a:lnTo>
                  <a:lnTo>
                    <a:pt x="98511" y="280690"/>
                  </a:lnTo>
                  <a:lnTo>
                    <a:pt x="58978" y="260238"/>
                  </a:lnTo>
                  <a:lnTo>
                    <a:pt x="27797" y="229057"/>
                  </a:lnTo>
                  <a:lnTo>
                    <a:pt x="7345" y="189524"/>
                  </a:lnTo>
                  <a:lnTo>
                    <a:pt x="0" y="144017"/>
                  </a:lnTo>
                  <a:close/>
                </a:path>
              </a:pathLst>
            </a:custGeom>
            <a:ln w="19050">
              <a:solidFill>
                <a:srgbClr val="FFFFFF"/>
              </a:solidFill>
            </a:ln>
          </p:spPr>
          <p:txBody>
            <a:bodyPr wrap="square" lIns="0" tIns="0" rIns="0" bIns="0" rtlCol="0"/>
            <a:lstStyle/>
            <a:p>
              <a:endParaRPr/>
            </a:p>
          </p:txBody>
        </p:sp>
      </p:grpSp>
      <p:sp>
        <p:nvSpPr>
          <p:cNvPr id="53" name="object 53"/>
          <p:cNvSpPr txBox="1"/>
          <p:nvPr/>
        </p:nvSpPr>
        <p:spPr>
          <a:xfrm>
            <a:off x="8624443" y="3342258"/>
            <a:ext cx="119380" cy="239395"/>
          </a:xfrm>
          <a:prstGeom prst="rect">
            <a:avLst/>
          </a:prstGeom>
        </p:spPr>
        <p:txBody>
          <a:bodyPr vert="horz" wrap="square" lIns="0" tIns="13335" rIns="0" bIns="0" rtlCol="0">
            <a:spAutoFit/>
          </a:bodyPr>
          <a:lstStyle/>
          <a:p>
            <a:pPr marL="12700">
              <a:lnSpc>
                <a:spcPct val="100000"/>
              </a:lnSpc>
              <a:spcBef>
                <a:spcPts val="105"/>
              </a:spcBef>
            </a:pPr>
            <a:r>
              <a:rPr sz="1400" spc="-50">
                <a:solidFill>
                  <a:srgbClr val="FFFFFF"/>
                </a:solidFill>
                <a:latin typeface="Trebuchet MS"/>
                <a:cs typeface="Trebuchet MS"/>
              </a:rPr>
              <a:t>8</a:t>
            </a:r>
            <a:endParaRPr sz="1400">
              <a:latin typeface="Trebuchet MS"/>
              <a:cs typeface="Trebuchet MS"/>
            </a:endParaRPr>
          </a:p>
        </p:txBody>
      </p:sp>
      <p:grpSp>
        <p:nvGrpSpPr>
          <p:cNvPr id="54" name="object 54"/>
          <p:cNvGrpSpPr/>
          <p:nvPr/>
        </p:nvGrpSpPr>
        <p:grpSpPr>
          <a:xfrm>
            <a:off x="8530208" y="4136516"/>
            <a:ext cx="307340" cy="307340"/>
            <a:chOff x="8530208" y="4136516"/>
            <a:chExt cx="307340" cy="307340"/>
          </a:xfrm>
        </p:grpSpPr>
        <p:sp>
          <p:nvSpPr>
            <p:cNvPr id="55" name="object 55"/>
            <p:cNvSpPr/>
            <p:nvPr/>
          </p:nvSpPr>
          <p:spPr>
            <a:xfrm>
              <a:off x="8539733" y="4146041"/>
              <a:ext cx="288290" cy="288290"/>
            </a:xfrm>
            <a:custGeom>
              <a:avLst/>
              <a:gdLst/>
              <a:ahLst/>
              <a:cxnLst/>
              <a:rect l="l" t="t" r="r" b="b"/>
              <a:pathLst>
                <a:path w="288290" h="288289">
                  <a:moveTo>
                    <a:pt x="144018" y="0"/>
                  </a:moveTo>
                  <a:lnTo>
                    <a:pt x="98511" y="7345"/>
                  </a:lnTo>
                  <a:lnTo>
                    <a:pt x="58978" y="27797"/>
                  </a:lnTo>
                  <a:lnTo>
                    <a:pt x="27797" y="58978"/>
                  </a:lnTo>
                  <a:lnTo>
                    <a:pt x="7345" y="98511"/>
                  </a:lnTo>
                  <a:lnTo>
                    <a:pt x="0" y="144017"/>
                  </a:lnTo>
                  <a:lnTo>
                    <a:pt x="7345" y="189524"/>
                  </a:lnTo>
                  <a:lnTo>
                    <a:pt x="27797" y="229057"/>
                  </a:lnTo>
                  <a:lnTo>
                    <a:pt x="58978" y="260238"/>
                  </a:lnTo>
                  <a:lnTo>
                    <a:pt x="98511" y="280690"/>
                  </a:lnTo>
                  <a:lnTo>
                    <a:pt x="144018" y="288035"/>
                  </a:lnTo>
                  <a:lnTo>
                    <a:pt x="189524" y="280690"/>
                  </a:lnTo>
                  <a:lnTo>
                    <a:pt x="229057" y="260238"/>
                  </a:lnTo>
                  <a:lnTo>
                    <a:pt x="260238" y="229057"/>
                  </a:lnTo>
                  <a:lnTo>
                    <a:pt x="280690" y="189524"/>
                  </a:lnTo>
                  <a:lnTo>
                    <a:pt x="288036" y="144017"/>
                  </a:lnTo>
                  <a:lnTo>
                    <a:pt x="280690" y="98511"/>
                  </a:lnTo>
                  <a:lnTo>
                    <a:pt x="260238" y="58978"/>
                  </a:lnTo>
                  <a:lnTo>
                    <a:pt x="229057" y="27797"/>
                  </a:lnTo>
                  <a:lnTo>
                    <a:pt x="189524" y="7345"/>
                  </a:lnTo>
                  <a:lnTo>
                    <a:pt x="144018" y="0"/>
                  </a:lnTo>
                  <a:close/>
                </a:path>
              </a:pathLst>
            </a:custGeom>
            <a:solidFill>
              <a:srgbClr val="29B974"/>
            </a:solidFill>
          </p:spPr>
          <p:txBody>
            <a:bodyPr wrap="square" lIns="0" tIns="0" rIns="0" bIns="0" rtlCol="0"/>
            <a:lstStyle/>
            <a:p>
              <a:endParaRPr/>
            </a:p>
          </p:txBody>
        </p:sp>
        <p:sp>
          <p:nvSpPr>
            <p:cNvPr id="56" name="object 56"/>
            <p:cNvSpPr/>
            <p:nvPr/>
          </p:nvSpPr>
          <p:spPr>
            <a:xfrm>
              <a:off x="8539733" y="4146041"/>
              <a:ext cx="288290" cy="288290"/>
            </a:xfrm>
            <a:custGeom>
              <a:avLst/>
              <a:gdLst/>
              <a:ahLst/>
              <a:cxnLst/>
              <a:rect l="l" t="t" r="r" b="b"/>
              <a:pathLst>
                <a:path w="288290" h="288289">
                  <a:moveTo>
                    <a:pt x="0" y="144017"/>
                  </a:moveTo>
                  <a:lnTo>
                    <a:pt x="7345" y="98511"/>
                  </a:lnTo>
                  <a:lnTo>
                    <a:pt x="27797" y="58978"/>
                  </a:lnTo>
                  <a:lnTo>
                    <a:pt x="58978" y="27797"/>
                  </a:lnTo>
                  <a:lnTo>
                    <a:pt x="98511" y="7345"/>
                  </a:lnTo>
                  <a:lnTo>
                    <a:pt x="144018" y="0"/>
                  </a:lnTo>
                  <a:lnTo>
                    <a:pt x="189524" y="7345"/>
                  </a:lnTo>
                  <a:lnTo>
                    <a:pt x="229057" y="27797"/>
                  </a:lnTo>
                  <a:lnTo>
                    <a:pt x="260238" y="58978"/>
                  </a:lnTo>
                  <a:lnTo>
                    <a:pt x="280690" y="98511"/>
                  </a:lnTo>
                  <a:lnTo>
                    <a:pt x="288036" y="144017"/>
                  </a:lnTo>
                  <a:lnTo>
                    <a:pt x="280690" y="189524"/>
                  </a:lnTo>
                  <a:lnTo>
                    <a:pt x="260238" y="229057"/>
                  </a:lnTo>
                  <a:lnTo>
                    <a:pt x="229057" y="260238"/>
                  </a:lnTo>
                  <a:lnTo>
                    <a:pt x="189524" y="280690"/>
                  </a:lnTo>
                  <a:lnTo>
                    <a:pt x="144018" y="288035"/>
                  </a:lnTo>
                  <a:lnTo>
                    <a:pt x="98511" y="280690"/>
                  </a:lnTo>
                  <a:lnTo>
                    <a:pt x="58978" y="260238"/>
                  </a:lnTo>
                  <a:lnTo>
                    <a:pt x="27797" y="229057"/>
                  </a:lnTo>
                  <a:lnTo>
                    <a:pt x="7345" y="189524"/>
                  </a:lnTo>
                  <a:lnTo>
                    <a:pt x="0" y="144017"/>
                  </a:lnTo>
                  <a:close/>
                </a:path>
              </a:pathLst>
            </a:custGeom>
            <a:ln w="19050">
              <a:solidFill>
                <a:srgbClr val="FFFFFF"/>
              </a:solidFill>
            </a:ln>
          </p:spPr>
          <p:txBody>
            <a:bodyPr wrap="square" lIns="0" tIns="0" rIns="0" bIns="0" rtlCol="0"/>
            <a:lstStyle/>
            <a:p>
              <a:endParaRPr/>
            </a:p>
          </p:txBody>
        </p:sp>
      </p:grpSp>
      <p:sp>
        <p:nvSpPr>
          <p:cNvPr id="57" name="object 57"/>
          <p:cNvSpPr txBox="1"/>
          <p:nvPr/>
        </p:nvSpPr>
        <p:spPr>
          <a:xfrm>
            <a:off x="8624443" y="4165472"/>
            <a:ext cx="119380" cy="239395"/>
          </a:xfrm>
          <a:prstGeom prst="rect">
            <a:avLst/>
          </a:prstGeom>
        </p:spPr>
        <p:txBody>
          <a:bodyPr vert="horz" wrap="square" lIns="0" tIns="12700" rIns="0" bIns="0" rtlCol="0">
            <a:spAutoFit/>
          </a:bodyPr>
          <a:lstStyle/>
          <a:p>
            <a:pPr marL="12700">
              <a:lnSpc>
                <a:spcPct val="100000"/>
              </a:lnSpc>
              <a:spcBef>
                <a:spcPts val="100"/>
              </a:spcBef>
            </a:pPr>
            <a:r>
              <a:rPr sz="1400" spc="-50">
                <a:solidFill>
                  <a:srgbClr val="FFFFFF"/>
                </a:solidFill>
                <a:latin typeface="Trebuchet MS"/>
                <a:cs typeface="Trebuchet MS"/>
              </a:rPr>
              <a:t>9</a:t>
            </a:r>
            <a:endParaRPr sz="1400">
              <a:latin typeface="Trebuchet MS"/>
              <a:cs typeface="Trebuchet MS"/>
            </a:endParaRPr>
          </a:p>
        </p:txBody>
      </p:sp>
      <p:grpSp>
        <p:nvGrpSpPr>
          <p:cNvPr id="58" name="object 58"/>
          <p:cNvGrpSpPr/>
          <p:nvPr/>
        </p:nvGrpSpPr>
        <p:grpSpPr>
          <a:xfrm>
            <a:off x="10295001" y="2507360"/>
            <a:ext cx="307340" cy="307340"/>
            <a:chOff x="10295001" y="2507360"/>
            <a:chExt cx="307340" cy="307340"/>
          </a:xfrm>
        </p:grpSpPr>
        <p:sp>
          <p:nvSpPr>
            <p:cNvPr id="59" name="object 59"/>
            <p:cNvSpPr/>
            <p:nvPr/>
          </p:nvSpPr>
          <p:spPr>
            <a:xfrm>
              <a:off x="10304526" y="2516885"/>
              <a:ext cx="288290" cy="288290"/>
            </a:xfrm>
            <a:custGeom>
              <a:avLst/>
              <a:gdLst/>
              <a:ahLst/>
              <a:cxnLst/>
              <a:rect l="l" t="t" r="r" b="b"/>
              <a:pathLst>
                <a:path w="288290" h="288289">
                  <a:moveTo>
                    <a:pt x="144018" y="0"/>
                  </a:moveTo>
                  <a:lnTo>
                    <a:pt x="98511" y="7345"/>
                  </a:lnTo>
                  <a:lnTo>
                    <a:pt x="58978" y="27797"/>
                  </a:lnTo>
                  <a:lnTo>
                    <a:pt x="27797" y="58978"/>
                  </a:lnTo>
                  <a:lnTo>
                    <a:pt x="7345" y="98511"/>
                  </a:lnTo>
                  <a:lnTo>
                    <a:pt x="0" y="144017"/>
                  </a:lnTo>
                  <a:lnTo>
                    <a:pt x="7345" y="189524"/>
                  </a:lnTo>
                  <a:lnTo>
                    <a:pt x="27797" y="229057"/>
                  </a:lnTo>
                  <a:lnTo>
                    <a:pt x="58978" y="260238"/>
                  </a:lnTo>
                  <a:lnTo>
                    <a:pt x="98511" y="280690"/>
                  </a:lnTo>
                  <a:lnTo>
                    <a:pt x="144018" y="288036"/>
                  </a:lnTo>
                  <a:lnTo>
                    <a:pt x="189524" y="280690"/>
                  </a:lnTo>
                  <a:lnTo>
                    <a:pt x="229057" y="260238"/>
                  </a:lnTo>
                  <a:lnTo>
                    <a:pt x="260238" y="229057"/>
                  </a:lnTo>
                  <a:lnTo>
                    <a:pt x="280690" y="189524"/>
                  </a:lnTo>
                  <a:lnTo>
                    <a:pt x="288035" y="144017"/>
                  </a:lnTo>
                  <a:lnTo>
                    <a:pt x="280690" y="98511"/>
                  </a:lnTo>
                  <a:lnTo>
                    <a:pt x="260238" y="58978"/>
                  </a:lnTo>
                  <a:lnTo>
                    <a:pt x="229057" y="27797"/>
                  </a:lnTo>
                  <a:lnTo>
                    <a:pt x="189524" y="7345"/>
                  </a:lnTo>
                  <a:lnTo>
                    <a:pt x="144018" y="0"/>
                  </a:lnTo>
                  <a:close/>
                </a:path>
              </a:pathLst>
            </a:custGeom>
            <a:solidFill>
              <a:srgbClr val="29B974"/>
            </a:solidFill>
          </p:spPr>
          <p:txBody>
            <a:bodyPr wrap="square" lIns="0" tIns="0" rIns="0" bIns="0" rtlCol="0"/>
            <a:lstStyle/>
            <a:p>
              <a:endParaRPr/>
            </a:p>
          </p:txBody>
        </p:sp>
        <p:sp>
          <p:nvSpPr>
            <p:cNvPr id="60" name="object 60"/>
            <p:cNvSpPr/>
            <p:nvPr/>
          </p:nvSpPr>
          <p:spPr>
            <a:xfrm>
              <a:off x="10304526" y="2516885"/>
              <a:ext cx="288290" cy="288290"/>
            </a:xfrm>
            <a:custGeom>
              <a:avLst/>
              <a:gdLst/>
              <a:ahLst/>
              <a:cxnLst/>
              <a:rect l="l" t="t" r="r" b="b"/>
              <a:pathLst>
                <a:path w="288290" h="288289">
                  <a:moveTo>
                    <a:pt x="0" y="144017"/>
                  </a:moveTo>
                  <a:lnTo>
                    <a:pt x="7345" y="98511"/>
                  </a:lnTo>
                  <a:lnTo>
                    <a:pt x="27797" y="58978"/>
                  </a:lnTo>
                  <a:lnTo>
                    <a:pt x="58978" y="27797"/>
                  </a:lnTo>
                  <a:lnTo>
                    <a:pt x="98511" y="7345"/>
                  </a:lnTo>
                  <a:lnTo>
                    <a:pt x="144018" y="0"/>
                  </a:lnTo>
                  <a:lnTo>
                    <a:pt x="189524" y="7345"/>
                  </a:lnTo>
                  <a:lnTo>
                    <a:pt x="229057" y="27797"/>
                  </a:lnTo>
                  <a:lnTo>
                    <a:pt x="260238" y="58978"/>
                  </a:lnTo>
                  <a:lnTo>
                    <a:pt x="280690" y="98511"/>
                  </a:lnTo>
                  <a:lnTo>
                    <a:pt x="288035" y="144017"/>
                  </a:lnTo>
                  <a:lnTo>
                    <a:pt x="280690" y="189524"/>
                  </a:lnTo>
                  <a:lnTo>
                    <a:pt x="260238" y="229057"/>
                  </a:lnTo>
                  <a:lnTo>
                    <a:pt x="229057" y="260238"/>
                  </a:lnTo>
                  <a:lnTo>
                    <a:pt x="189524" y="280690"/>
                  </a:lnTo>
                  <a:lnTo>
                    <a:pt x="144018" y="288036"/>
                  </a:lnTo>
                  <a:lnTo>
                    <a:pt x="98511" y="280690"/>
                  </a:lnTo>
                  <a:lnTo>
                    <a:pt x="58978" y="260238"/>
                  </a:lnTo>
                  <a:lnTo>
                    <a:pt x="27797" y="229057"/>
                  </a:lnTo>
                  <a:lnTo>
                    <a:pt x="7345" y="189524"/>
                  </a:lnTo>
                  <a:lnTo>
                    <a:pt x="0" y="144017"/>
                  </a:lnTo>
                  <a:close/>
                </a:path>
              </a:pathLst>
            </a:custGeom>
            <a:ln w="19049">
              <a:solidFill>
                <a:srgbClr val="FFFFFF"/>
              </a:solidFill>
            </a:ln>
          </p:spPr>
          <p:txBody>
            <a:bodyPr wrap="square" lIns="0" tIns="0" rIns="0" bIns="0" rtlCol="0"/>
            <a:lstStyle/>
            <a:p>
              <a:endParaRPr/>
            </a:p>
          </p:txBody>
        </p:sp>
      </p:grpSp>
      <p:sp>
        <p:nvSpPr>
          <p:cNvPr id="61" name="object 61"/>
          <p:cNvSpPr txBox="1"/>
          <p:nvPr/>
        </p:nvSpPr>
        <p:spPr>
          <a:xfrm>
            <a:off x="10354691" y="2535174"/>
            <a:ext cx="198755" cy="239395"/>
          </a:xfrm>
          <a:prstGeom prst="rect">
            <a:avLst/>
          </a:prstGeom>
        </p:spPr>
        <p:txBody>
          <a:bodyPr vert="horz" wrap="square" lIns="0" tIns="13335" rIns="0" bIns="0" rtlCol="0">
            <a:spAutoFit/>
          </a:bodyPr>
          <a:lstStyle/>
          <a:p>
            <a:pPr>
              <a:lnSpc>
                <a:spcPct val="100000"/>
              </a:lnSpc>
              <a:spcBef>
                <a:spcPts val="105"/>
              </a:spcBef>
            </a:pPr>
            <a:r>
              <a:rPr sz="1400" spc="-25">
                <a:solidFill>
                  <a:srgbClr val="FFFFFF"/>
                </a:solidFill>
                <a:latin typeface="Trebuchet MS"/>
                <a:cs typeface="Trebuchet MS"/>
              </a:rPr>
              <a:t>10</a:t>
            </a:r>
            <a:endParaRPr sz="1400">
              <a:latin typeface="Trebuchet MS"/>
              <a:cs typeface="Trebuchet MS"/>
            </a:endParaRPr>
          </a:p>
        </p:txBody>
      </p:sp>
      <p:grpSp>
        <p:nvGrpSpPr>
          <p:cNvPr id="62" name="object 62"/>
          <p:cNvGrpSpPr/>
          <p:nvPr/>
        </p:nvGrpSpPr>
        <p:grpSpPr>
          <a:xfrm>
            <a:off x="10295001" y="3403472"/>
            <a:ext cx="307340" cy="307340"/>
            <a:chOff x="10295001" y="3403472"/>
            <a:chExt cx="307340" cy="307340"/>
          </a:xfrm>
        </p:grpSpPr>
        <p:sp>
          <p:nvSpPr>
            <p:cNvPr id="63" name="object 63"/>
            <p:cNvSpPr/>
            <p:nvPr/>
          </p:nvSpPr>
          <p:spPr>
            <a:xfrm>
              <a:off x="10304526" y="3412997"/>
              <a:ext cx="288290" cy="288290"/>
            </a:xfrm>
            <a:custGeom>
              <a:avLst/>
              <a:gdLst/>
              <a:ahLst/>
              <a:cxnLst/>
              <a:rect l="l" t="t" r="r" b="b"/>
              <a:pathLst>
                <a:path w="288290" h="288289">
                  <a:moveTo>
                    <a:pt x="144018" y="0"/>
                  </a:moveTo>
                  <a:lnTo>
                    <a:pt x="98511" y="7345"/>
                  </a:lnTo>
                  <a:lnTo>
                    <a:pt x="58978" y="27797"/>
                  </a:lnTo>
                  <a:lnTo>
                    <a:pt x="27797" y="58978"/>
                  </a:lnTo>
                  <a:lnTo>
                    <a:pt x="7345" y="98511"/>
                  </a:lnTo>
                  <a:lnTo>
                    <a:pt x="0" y="144017"/>
                  </a:lnTo>
                  <a:lnTo>
                    <a:pt x="7345" y="189524"/>
                  </a:lnTo>
                  <a:lnTo>
                    <a:pt x="27797" y="229057"/>
                  </a:lnTo>
                  <a:lnTo>
                    <a:pt x="58978" y="260238"/>
                  </a:lnTo>
                  <a:lnTo>
                    <a:pt x="98511" y="280690"/>
                  </a:lnTo>
                  <a:lnTo>
                    <a:pt x="144018" y="288035"/>
                  </a:lnTo>
                  <a:lnTo>
                    <a:pt x="189524" y="280690"/>
                  </a:lnTo>
                  <a:lnTo>
                    <a:pt x="229057" y="260238"/>
                  </a:lnTo>
                  <a:lnTo>
                    <a:pt x="260238" y="229057"/>
                  </a:lnTo>
                  <a:lnTo>
                    <a:pt x="280690" y="189524"/>
                  </a:lnTo>
                  <a:lnTo>
                    <a:pt x="288035" y="144017"/>
                  </a:lnTo>
                  <a:lnTo>
                    <a:pt x="280690" y="98511"/>
                  </a:lnTo>
                  <a:lnTo>
                    <a:pt x="260238" y="58978"/>
                  </a:lnTo>
                  <a:lnTo>
                    <a:pt x="229057" y="27797"/>
                  </a:lnTo>
                  <a:lnTo>
                    <a:pt x="189524" y="7345"/>
                  </a:lnTo>
                  <a:lnTo>
                    <a:pt x="144018" y="0"/>
                  </a:lnTo>
                  <a:close/>
                </a:path>
              </a:pathLst>
            </a:custGeom>
            <a:solidFill>
              <a:srgbClr val="29B974"/>
            </a:solidFill>
          </p:spPr>
          <p:txBody>
            <a:bodyPr wrap="square" lIns="0" tIns="0" rIns="0" bIns="0" rtlCol="0"/>
            <a:lstStyle/>
            <a:p>
              <a:endParaRPr/>
            </a:p>
          </p:txBody>
        </p:sp>
        <p:sp>
          <p:nvSpPr>
            <p:cNvPr id="64" name="object 64"/>
            <p:cNvSpPr/>
            <p:nvPr/>
          </p:nvSpPr>
          <p:spPr>
            <a:xfrm>
              <a:off x="10304526" y="3412997"/>
              <a:ext cx="288290" cy="288290"/>
            </a:xfrm>
            <a:custGeom>
              <a:avLst/>
              <a:gdLst/>
              <a:ahLst/>
              <a:cxnLst/>
              <a:rect l="l" t="t" r="r" b="b"/>
              <a:pathLst>
                <a:path w="288290" h="288289">
                  <a:moveTo>
                    <a:pt x="0" y="144017"/>
                  </a:moveTo>
                  <a:lnTo>
                    <a:pt x="7345" y="98511"/>
                  </a:lnTo>
                  <a:lnTo>
                    <a:pt x="27797" y="58978"/>
                  </a:lnTo>
                  <a:lnTo>
                    <a:pt x="58978" y="27797"/>
                  </a:lnTo>
                  <a:lnTo>
                    <a:pt x="98511" y="7345"/>
                  </a:lnTo>
                  <a:lnTo>
                    <a:pt x="144018" y="0"/>
                  </a:lnTo>
                  <a:lnTo>
                    <a:pt x="189524" y="7345"/>
                  </a:lnTo>
                  <a:lnTo>
                    <a:pt x="229057" y="27797"/>
                  </a:lnTo>
                  <a:lnTo>
                    <a:pt x="260238" y="58978"/>
                  </a:lnTo>
                  <a:lnTo>
                    <a:pt x="280690" y="98511"/>
                  </a:lnTo>
                  <a:lnTo>
                    <a:pt x="288035" y="144017"/>
                  </a:lnTo>
                  <a:lnTo>
                    <a:pt x="280690" y="189524"/>
                  </a:lnTo>
                  <a:lnTo>
                    <a:pt x="260238" y="229057"/>
                  </a:lnTo>
                  <a:lnTo>
                    <a:pt x="229057" y="260238"/>
                  </a:lnTo>
                  <a:lnTo>
                    <a:pt x="189524" y="280690"/>
                  </a:lnTo>
                  <a:lnTo>
                    <a:pt x="144018" y="288035"/>
                  </a:lnTo>
                  <a:lnTo>
                    <a:pt x="98511" y="280690"/>
                  </a:lnTo>
                  <a:lnTo>
                    <a:pt x="58978" y="260238"/>
                  </a:lnTo>
                  <a:lnTo>
                    <a:pt x="27797" y="229057"/>
                  </a:lnTo>
                  <a:lnTo>
                    <a:pt x="7345" y="189524"/>
                  </a:lnTo>
                  <a:lnTo>
                    <a:pt x="0" y="144017"/>
                  </a:lnTo>
                  <a:close/>
                </a:path>
              </a:pathLst>
            </a:custGeom>
            <a:ln w="19050">
              <a:solidFill>
                <a:srgbClr val="FFFFFF"/>
              </a:solidFill>
            </a:ln>
          </p:spPr>
          <p:txBody>
            <a:bodyPr wrap="square" lIns="0" tIns="0" rIns="0" bIns="0" rtlCol="0"/>
            <a:lstStyle/>
            <a:p>
              <a:endParaRPr/>
            </a:p>
          </p:txBody>
        </p:sp>
      </p:grpSp>
      <p:sp>
        <p:nvSpPr>
          <p:cNvPr id="65" name="object 65"/>
          <p:cNvSpPr txBox="1"/>
          <p:nvPr/>
        </p:nvSpPr>
        <p:spPr>
          <a:xfrm>
            <a:off x="10354691" y="3431540"/>
            <a:ext cx="1118870" cy="708025"/>
          </a:xfrm>
          <a:prstGeom prst="rect">
            <a:avLst/>
          </a:prstGeom>
        </p:spPr>
        <p:txBody>
          <a:bodyPr vert="horz" wrap="square" lIns="0" tIns="13335" rIns="0" bIns="0" rtlCol="0">
            <a:spAutoFit/>
          </a:bodyPr>
          <a:lstStyle/>
          <a:p>
            <a:pPr marR="924560" algn="ctr">
              <a:lnSpc>
                <a:spcPts val="1605"/>
              </a:lnSpc>
              <a:spcBef>
                <a:spcPts val="105"/>
              </a:spcBef>
            </a:pPr>
            <a:r>
              <a:rPr sz="1400" spc="-25">
                <a:solidFill>
                  <a:srgbClr val="FFFFFF"/>
                </a:solidFill>
                <a:latin typeface="Trebuchet MS"/>
                <a:cs typeface="Trebuchet MS"/>
              </a:rPr>
              <a:t>11</a:t>
            </a:r>
            <a:endParaRPr sz="1400">
              <a:latin typeface="Trebuchet MS"/>
              <a:cs typeface="Trebuchet MS"/>
            </a:endParaRPr>
          </a:p>
          <a:p>
            <a:pPr marL="59690" algn="ctr">
              <a:lnSpc>
                <a:spcPts val="1845"/>
              </a:lnSpc>
            </a:pPr>
            <a:r>
              <a:rPr sz="1600">
                <a:solidFill>
                  <a:srgbClr val="4B4B4B"/>
                </a:solidFill>
                <a:latin typeface="Trebuchet MS"/>
                <a:cs typeface="Trebuchet MS"/>
              </a:rPr>
              <a:t>Legal</a:t>
            </a:r>
            <a:r>
              <a:rPr sz="1600" spc="-35">
                <a:solidFill>
                  <a:srgbClr val="4B4B4B"/>
                </a:solidFill>
                <a:latin typeface="Trebuchet MS"/>
                <a:cs typeface="Trebuchet MS"/>
              </a:rPr>
              <a:t> </a:t>
            </a:r>
            <a:r>
              <a:rPr sz="1600" spc="-50">
                <a:solidFill>
                  <a:srgbClr val="4B4B4B"/>
                </a:solidFill>
                <a:latin typeface="Trebuchet MS"/>
                <a:cs typeface="Trebuchet MS"/>
              </a:rPr>
              <a:t>&amp;</a:t>
            </a:r>
            <a:endParaRPr sz="1600">
              <a:latin typeface="Trebuchet MS"/>
              <a:cs typeface="Trebuchet MS"/>
            </a:endParaRPr>
          </a:p>
          <a:p>
            <a:pPr marL="57150" algn="ctr">
              <a:lnSpc>
                <a:spcPct val="100000"/>
              </a:lnSpc>
            </a:pPr>
            <a:r>
              <a:rPr sz="1600" spc="-10">
                <a:solidFill>
                  <a:srgbClr val="4B4B4B"/>
                </a:solidFill>
                <a:latin typeface="Trebuchet MS"/>
                <a:cs typeface="Trebuchet MS"/>
              </a:rPr>
              <a:t>compliance</a:t>
            </a:r>
            <a:endParaRPr sz="1600">
              <a:latin typeface="Trebuchet MS"/>
              <a:cs typeface="Trebuchet MS"/>
            </a:endParaRPr>
          </a:p>
        </p:txBody>
      </p:sp>
      <p:grpSp>
        <p:nvGrpSpPr>
          <p:cNvPr id="66" name="object 66"/>
          <p:cNvGrpSpPr/>
          <p:nvPr/>
        </p:nvGrpSpPr>
        <p:grpSpPr>
          <a:xfrm>
            <a:off x="10295001" y="4653153"/>
            <a:ext cx="307340" cy="307340"/>
            <a:chOff x="10295001" y="4653153"/>
            <a:chExt cx="307340" cy="307340"/>
          </a:xfrm>
        </p:grpSpPr>
        <p:sp>
          <p:nvSpPr>
            <p:cNvPr id="67" name="object 67"/>
            <p:cNvSpPr/>
            <p:nvPr/>
          </p:nvSpPr>
          <p:spPr>
            <a:xfrm>
              <a:off x="10304526" y="4662678"/>
              <a:ext cx="288290" cy="288290"/>
            </a:xfrm>
            <a:custGeom>
              <a:avLst/>
              <a:gdLst/>
              <a:ahLst/>
              <a:cxnLst/>
              <a:rect l="l" t="t" r="r" b="b"/>
              <a:pathLst>
                <a:path w="288290" h="288289">
                  <a:moveTo>
                    <a:pt x="144018" y="0"/>
                  </a:moveTo>
                  <a:lnTo>
                    <a:pt x="98511" y="7345"/>
                  </a:lnTo>
                  <a:lnTo>
                    <a:pt x="58978" y="27797"/>
                  </a:lnTo>
                  <a:lnTo>
                    <a:pt x="27797" y="58978"/>
                  </a:lnTo>
                  <a:lnTo>
                    <a:pt x="7345" y="98511"/>
                  </a:lnTo>
                  <a:lnTo>
                    <a:pt x="0" y="144018"/>
                  </a:lnTo>
                  <a:lnTo>
                    <a:pt x="7345" y="189524"/>
                  </a:lnTo>
                  <a:lnTo>
                    <a:pt x="27797" y="229057"/>
                  </a:lnTo>
                  <a:lnTo>
                    <a:pt x="58978" y="260238"/>
                  </a:lnTo>
                  <a:lnTo>
                    <a:pt x="98511" y="280690"/>
                  </a:lnTo>
                  <a:lnTo>
                    <a:pt x="144018" y="288036"/>
                  </a:lnTo>
                  <a:lnTo>
                    <a:pt x="189524" y="280690"/>
                  </a:lnTo>
                  <a:lnTo>
                    <a:pt x="229057" y="260238"/>
                  </a:lnTo>
                  <a:lnTo>
                    <a:pt x="260238" y="229057"/>
                  </a:lnTo>
                  <a:lnTo>
                    <a:pt x="280690" y="189524"/>
                  </a:lnTo>
                  <a:lnTo>
                    <a:pt x="288035" y="144018"/>
                  </a:lnTo>
                  <a:lnTo>
                    <a:pt x="280690" y="98511"/>
                  </a:lnTo>
                  <a:lnTo>
                    <a:pt x="260238" y="58978"/>
                  </a:lnTo>
                  <a:lnTo>
                    <a:pt x="229057" y="27797"/>
                  </a:lnTo>
                  <a:lnTo>
                    <a:pt x="189524" y="7345"/>
                  </a:lnTo>
                  <a:lnTo>
                    <a:pt x="144018" y="0"/>
                  </a:lnTo>
                  <a:close/>
                </a:path>
              </a:pathLst>
            </a:custGeom>
            <a:solidFill>
              <a:srgbClr val="29B974"/>
            </a:solidFill>
          </p:spPr>
          <p:txBody>
            <a:bodyPr wrap="square" lIns="0" tIns="0" rIns="0" bIns="0" rtlCol="0"/>
            <a:lstStyle/>
            <a:p>
              <a:endParaRPr/>
            </a:p>
          </p:txBody>
        </p:sp>
        <p:sp>
          <p:nvSpPr>
            <p:cNvPr id="68" name="object 68"/>
            <p:cNvSpPr/>
            <p:nvPr/>
          </p:nvSpPr>
          <p:spPr>
            <a:xfrm>
              <a:off x="10304526" y="4662678"/>
              <a:ext cx="288290" cy="288290"/>
            </a:xfrm>
            <a:custGeom>
              <a:avLst/>
              <a:gdLst/>
              <a:ahLst/>
              <a:cxnLst/>
              <a:rect l="l" t="t" r="r" b="b"/>
              <a:pathLst>
                <a:path w="288290" h="288289">
                  <a:moveTo>
                    <a:pt x="0" y="144018"/>
                  </a:moveTo>
                  <a:lnTo>
                    <a:pt x="7345" y="98511"/>
                  </a:lnTo>
                  <a:lnTo>
                    <a:pt x="27797" y="58978"/>
                  </a:lnTo>
                  <a:lnTo>
                    <a:pt x="58978" y="27797"/>
                  </a:lnTo>
                  <a:lnTo>
                    <a:pt x="98511" y="7345"/>
                  </a:lnTo>
                  <a:lnTo>
                    <a:pt x="144018" y="0"/>
                  </a:lnTo>
                  <a:lnTo>
                    <a:pt x="189524" y="7345"/>
                  </a:lnTo>
                  <a:lnTo>
                    <a:pt x="229057" y="27797"/>
                  </a:lnTo>
                  <a:lnTo>
                    <a:pt x="260238" y="58978"/>
                  </a:lnTo>
                  <a:lnTo>
                    <a:pt x="280690" y="98511"/>
                  </a:lnTo>
                  <a:lnTo>
                    <a:pt x="288035" y="144018"/>
                  </a:lnTo>
                  <a:lnTo>
                    <a:pt x="280690" y="189524"/>
                  </a:lnTo>
                  <a:lnTo>
                    <a:pt x="260238" y="229057"/>
                  </a:lnTo>
                  <a:lnTo>
                    <a:pt x="229057" y="260238"/>
                  </a:lnTo>
                  <a:lnTo>
                    <a:pt x="189524" y="280690"/>
                  </a:lnTo>
                  <a:lnTo>
                    <a:pt x="144018" y="288036"/>
                  </a:lnTo>
                  <a:lnTo>
                    <a:pt x="98511" y="280690"/>
                  </a:lnTo>
                  <a:lnTo>
                    <a:pt x="58978" y="260238"/>
                  </a:lnTo>
                  <a:lnTo>
                    <a:pt x="27797" y="229057"/>
                  </a:lnTo>
                  <a:lnTo>
                    <a:pt x="7345" y="189524"/>
                  </a:lnTo>
                  <a:lnTo>
                    <a:pt x="0" y="144018"/>
                  </a:lnTo>
                  <a:close/>
                </a:path>
              </a:pathLst>
            </a:custGeom>
            <a:ln w="19049">
              <a:solidFill>
                <a:srgbClr val="FFFFFF"/>
              </a:solidFill>
            </a:ln>
          </p:spPr>
          <p:txBody>
            <a:bodyPr wrap="square" lIns="0" tIns="0" rIns="0" bIns="0" rtlCol="0"/>
            <a:lstStyle/>
            <a:p>
              <a:endParaRPr/>
            </a:p>
          </p:txBody>
        </p:sp>
      </p:grpSp>
      <p:sp>
        <p:nvSpPr>
          <p:cNvPr id="69" name="object 69"/>
          <p:cNvSpPr txBox="1"/>
          <p:nvPr/>
        </p:nvSpPr>
        <p:spPr>
          <a:xfrm>
            <a:off x="10354691" y="4662932"/>
            <a:ext cx="1019810" cy="756920"/>
          </a:xfrm>
          <a:prstGeom prst="rect">
            <a:avLst/>
          </a:prstGeom>
        </p:spPr>
        <p:txBody>
          <a:bodyPr vert="horz" wrap="square" lIns="0" tIns="12065" rIns="0" bIns="0" rtlCol="0">
            <a:spAutoFit/>
          </a:bodyPr>
          <a:lstStyle/>
          <a:p>
            <a:pPr marL="168910" marR="5080" indent="-169545">
              <a:lnSpc>
                <a:spcPct val="100000"/>
              </a:lnSpc>
              <a:spcBef>
                <a:spcPts val="95"/>
              </a:spcBef>
              <a:tabLst>
                <a:tab pos="328930" algn="l"/>
              </a:tabLst>
            </a:pPr>
            <a:r>
              <a:rPr sz="2100" spc="-37" baseline="1984">
                <a:solidFill>
                  <a:srgbClr val="FFFFFF"/>
                </a:solidFill>
                <a:latin typeface="Trebuchet MS"/>
                <a:cs typeface="Trebuchet MS"/>
              </a:rPr>
              <a:t>12</a:t>
            </a:r>
            <a:r>
              <a:rPr sz="2100" baseline="1984">
                <a:solidFill>
                  <a:srgbClr val="FFFFFF"/>
                </a:solidFill>
                <a:latin typeface="Trebuchet MS"/>
                <a:cs typeface="Trebuchet MS"/>
              </a:rPr>
              <a:t>	</a:t>
            </a:r>
            <a:r>
              <a:rPr sz="1600" spc="-10">
                <a:solidFill>
                  <a:srgbClr val="4B4B4B"/>
                </a:solidFill>
                <a:latin typeface="Trebuchet MS"/>
                <a:cs typeface="Trebuchet MS"/>
              </a:rPr>
              <a:t>Other support functions</a:t>
            </a:r>
            <a:endParaRPr sz="1600">
              <a:latin typeface="Trebuchet MS"/>
              <a:cs typeface="Trebuchet MS"/>
            </a:endParaRPr>
          </a:p>
        </p:txBody>
      </p:sp>
      <p:grpSp>
        <p:nvGrpSpPr>
          <p:cNvPr id="70" name="object 70"/>
          <p:cNvGrpSpPr/>
          <p:nvPr/>
        </p:nvGrpSpPr>
        <p:grpSpPr>
          <a:xfrm>
            <a:off x="4679060" y="5951601"/>
            <a:ext cx="307340" cy="307340"/>
            <a:chOff x="4679060" y="5951601"/>
            <a:chExt cx="307340" cy="307340"/>
          </a:xfrm>
        </p:grpSpPr>
        <p:sp>
          <p:nvSpPr>
            <p:cNvPr id="71" name="object 71"/>
            <p:cNvSpPr/>
            <p:nvPr/>
          </p:nvSpPr>
          <p:spPr>
            <a:xfrm>
              <a:off x="4688585" y="5961126"/>
              <a:ext cx="288290" cy="288290"/>
            </a:xfrm>
            <a:custGeom>
              <a:avLst/>
              <a:gdLst/>
              <a:ahLst/>
              <a:cxnLst/>
              <a:rect l="l" t="t" r="r" b="b"/>
              <a:pathLst>
                <a:path w="288289" h="288289">
                  <a:moveTo>
                    <a:pt x="144017" y="0"/>
                  </a:moveTo>
                  <a:lnTo>
                    <a:pt x="98511" y="7342"/>
                  </a:lnTo>
                  <a:lnTo>
                    <a:pt x="58978" y="27786"/>
                  </a:lnTo>
                  <a:lnTo>
                    <a:pt x="27797" y="58962"/>
                  </a:lnTo>
                  <a:lnTo>
                    <a:pt x="7345" y="98496"/>
                  </a:lnTo>
                  <a:lnTo>
                    <a:pt x="0" y="144018"/>
                  </a:lnTo>
                  <a:lnTo>
                    <a:pt x="7345" y="189539"/>
                  </a:lnTo>
                  <a:lnTo>
                    <a:pt x="27797" y="229073"/>
                  </a:lnTo>
                  <a:lnTo>
                    <a:pt x="58978" y="260249"/>
                  </a:lnTo>
                  <a:lnTo>
                    <a:pt x="98511" y="280693"/>
                  </a:lnTo>
                  <a:lnTo>
                    <a:pt x="144017" y="288036"/>
                  </a:lnTo>
                  <a:lnTo>
                    <a:pt x="189524" y="280693"/>
                  </a:lnTo>
                  <a:lnTo>
                    <a:pt x="229057" y="260249"/>
                  </a:lnTo>
                  <a:lnTo>
                    <a:pt x="260238" y="229073"/>
                  </a:lnTo>
                  <a:lnTo>
                    <a:pt x="280690" y="189539"/>
                  </a:lnTo>
                  <a:lnTo>
                    <a:pt x="288036" y="144018"/>
                  </a:lnTo>
                  <a:lnTo>
                    <a:pt x="280690" y="98496"/>
                  </a:lnTo>
                  <a:lnTo>
                    <a:pt x="260238" y="58962"/>
                  </a:lnTo>
                  <a:lnTo>
                    <a:pt x="229057" y="27786"/>
                  </a:lnTo>
                  <a:lnTo>
                    <a:pt x="189524" y="7342"/>
                  </a:lnTo>
                  <a:lnTo>
                    <a:pt x="144017" y="0"/>
                  </a:lnTo>
                  <a:close/>
                </a:path>
              </a:pathLst>
            </a:custGeom>
            <a:solidFill>
              <a:srgbClr val="29B974"/>
            </a:solidFill>
          </p:spPr>
          <p:txBody>
            <a:bodyPr wrap="square" lIns="0" tIns="0" rIns="0" bIns="0" rtlCol="0"/>
            <a:lstStyle/>
            <a:p>
              <a:endParaRPr/>
            </a:p>
          </p:txBody>
        </p:sp>
        <p:sp>
          <p:nvSpPr>
            <p:cNvPr id="72" name="object 72"/>
            <p:cNvSpPr/>
            <p:nvPr/>
          </p:nvSpPr>
          <p:spPr>
            <a:xfrm>
              <a:off x="4688585" y="5961126"/>
              <a:ext cx="288290" cy="288290"/>
            </a:xfrm>
            <a:custGeom>
              <a:avLst/>
              <a:gdLst/>
              <a:ahLst/>
              <a:cxnLst/>
              <a:rect l="l" t="t" r="r" b="b"/>
              <a:pathLst>
                <a:path w="288289" h="288289">
                  <a:moveTo>
                    <a:pt x="0" y="144018"/>
                  </a:moveTo>
                  <a:lnTo>
                    <a:pt x="7345" y="98496"/>
                  </a:lnTo>
                  <a:lnTo>
                    <a:pt x="27797" y="58962"/>
                  </a:lnTo>
                  <a:lnTo>
                    <a:pt x="58978" y="27786"/>
                  </a:lnTo>
                  <a:lnTo>
                    <a:pt x="98511" y="7342"/>
                  </a:lnTo>
                  <a:lnTo>
                    <a:pt x="144017" y="0"/>
                  </a:lnTo>
                  <a:lnTo>
                    <a:pt x="189524" y="7342"/>
                  </a:lnTo>
                  <a:lnTo>
                    <a:pt x="229057" y="27786"/>
                  </a:lnTo>
                  <a:lnTo>
                    <a:pt x="260238" y="58962"/>
                  </a:lnTo>
                  <a:lnTo>
                    <a:pt x="280690" y="98496"/>
                  </a:lnTo>
                  <a:lnTo>
                    <a:pt x="288036" y="144018"/>
                  </a:lnTo>
                  <a:lnTo>
                    <a:pt x="280690" y="189539"/>
                  </a:lnTo>
                  <a:lnTo>
                    <a:pt x="260238" y="229073"/>
                  </a:lnTo>
                  <a:lnTo>
                    <a:pt x="229057" y="260249"/>
                  </a:lnTo>
                  <a:lnTo>
                    <a:pt x="189524" y="280693"/>
                  </a:lnTo>
                  <a:lnTo>
                    <a:pt x="144017" y="288036"/>
                  </a:lnTo>
                  <a:lnTo>
                    <a:pt x="98511" y="280693"/>
                  </a:lnTo>
                  <a:lnTo>
                    <a:pt x="58978" y="260249"/>
                  </a:lnTo>
                  <a:lnTo>
                    <a:pt x="27797" y="229073"/>
                  </a:lnTo>
                  <a:lnTo>
                    <a:pt x="7345" y="189539"/>
                  </a:lnTo>
                  <a:lnTo>
                    <a:pt x="0" y="144018"/>
                  </a:lnTo>
                  <a:close/>
                </a:path>
              </a:pathLst>
            </a:custGeom>
            <a:ln w="19050">
              <a:solidFill>
                <a:srgbClr val="FFFFFF"/>
              </a:solidFill>
            </a:ln>
          </p:spPr>
          <p:txBody>
            <a:bodyPr wrap="square" lIns="0" tIns="0" rIns="0" bIns="0" rtlCol="0"/>
            <a:lstStyle/>
            <a:p>
              <a:endParaRPr/>
            </a:p>
          </p:txBody>
        </p:sp>
      </p:grpSp>
      <p:sp>
        <p:nvSpPr>
          <p:cNvPr id="73" name="object 73"/>
          <p:cNvSpPr txBox="1"/>
          <p:nvPr/>
        </p:nvSpPr>
        <p:spPr>
          <a:xfrm>
            <a:off x="630173" y="5951982"/>
            <a:ext cx="10933430" cy="295910"/>
          </a:xfrm>
          <a:prstGeom prst="rect">
            <a:avLst/>
          </a:prstGeom>
          <a:ln w="10478">
            <a:solidFill>
              <a:srgbClr val="9A9A9A"/>
            </a:solidFill>
          </a:ln>
        </p:spPr>
        <p:txBody>
          <a:bodyPr vert="horz" wrap="square" lIns="0" tIns="24130" rIns="0" bIns="0" rtlCol="0">
            <a:spAutoFit/>
          </a:bodyPr>
          <a:lstStyle/>
          <a:p>
            <a:pPr marL="4107815">
              <a:lnSpc>
                <a:spcPct val="100000"/>
              </a:lnSpc>
              <a:spcBef>
                <a:spcPts val="190"/>
              </a:spcBef>
              <a:tabLst>
                <a:tab pos="4430395" algn="l"/>
              </a:tabLst>
            </a:pPr>
            <a:r>
              <a:rPr sz="2100" spc="-37" baseline="1984">
                <a:solidFill>
                  <a:srgbClr val="FFFFFF"/>
                </a:solidFill>
                <a:latin typeface="Trebuchet MS"/>
                <a:cs typeface="Trebuchet MS"/>
              </a:rPr>
              <a:t>14</a:t>
            </a:r>
            <a:r>
              <a:rPr sz="2100" baseline="1984">
                <a:solidFill>
                  <a:srgbClr val="FFFFFF"/>
                </a:solidFill>
                <a:latin typeface="Trebuchet MS"/>
                <a:cs typeface="Trebuchet MS"/>
              </a:rPr>
              <a:t>	</a:t>
            </a:r>
            <a:r>
              <a:rPr sz="1600" b="1">
                <a:solidFill>
                  <a:srgbClr val="565656"/>
                </a:solidFill>
                <a:latin typeface="Trebuchet MS"/>
                <a:cs typeface="Trebuchet MS"/>
              </a:rPr>
              <a:t>Finance</a:t>
            </a:r>
            <a:r>
              <a:rPr sz="1600" b="1" spc="-70">
                <a:solidFill>
                  <a:srgbClr val="565656"/>
                </a:solidFill>
                <a:latin typeface="Trebuchet MS"/>
                <a:cs typeface="Trebuchet MS"/>
              </a:rPr>
              <a:t> </a:t>
            </a:r>
            <a:r>
              <a:rPr sz="1600" b="1">
                <a:solidFill>
                  <a:srgbClr val="565656"/>
                </a:solidFill>
                <a:latin typeface="Trebuchet MS"/>
                <a:cs typeface="Trebuchet MS"/>
              </a:rPr>
              <a:t>(business</a:t>
            </a:r>
            <a:r>
              <a:rPr sz="1600" b="1" spc="-60">
                <a:solidFill>
                  <a:srgbClr val="565656"/>
                </a:solidFill>
                <a:latin typeface="Trebuchet MS"/>
                <a:cs typeface="Trebuchet MS"/>
              </a:rPr>
              <a:t> </a:t>
            </a:r>
            <a:r>
              <a:rPr sz="1600" b="1" spc="-10">
                <a:solidFill>
                  <a:srgbClr val="565656"/>
                </a:solidFill>
                <a:latin typeface="Trebuchet MS"/>
                <a:cs typeface="Trebuchet MS"/>
              </a:rPr>
              <a:t>case)</a:t>
            </a:r>
            <a:endParaRPr sz="1600">
              <a:latin typeface="Trebuchet MS"/>
              <a:cs typeface="Trebuchet MS"/>
            </a:endParaRPr>
          </a:p>
        </p:txBody>
      </p:sp>
      <p:grpSp>
        <p:nvGrpSpPr>
          <p:cNvPr id="74" name="object 74"/>
          <p:cNvGrpSpPr/>
          <p:nvPr/>
        </p:nvGrpSpPr>
        <p:grpSpPr>
          <a:xfrm>
            <a:off x="4685157" y="5604128"/>
            <a:ext cx="307340" cy="307340"/>
            <a:chOff x="4685157" y="5604128"/>
            <a:chExt cx="307340" cy="307340"/>
          </a:xfrm>
        </p:grpSpPr>
        <p:sp>
          <p:nvSpPr>
            <p:cNvPr id="75" name="object 75"/>
            <p:cNvSpPr/>
            <p:nvPr/>
          </p:nvSpPr>
          <p:spPr>
            <a:xfrm>
              <a:off x="4694682" y="5613653"/>
              <a:ext cx="288290" cy="288290"/>
            </a:xfrm>
            <a:custGeom>
              <a:avLst/>
              <a:gdLst/>
              <a:ahLst/>
              <a:cxnLst/>
              <a:rect l="l" t="t" r="r" b="b"/>
              <a:pathLst>
                <a:path w="288289" h="288289">
                  <a:moveTo>
                    <a:pt x="144017" y="0"/>
                  </a:moveTo>
                  <a:lnTo>
                    <a:pt x="98511" y="7342"/>
                  </a:lnTo>
                  <a:lnTo>
                    <a:pt x="58978" y="27786"/>
                  </a:lnTo>
                  <a:lnTo>
                    <a:pt x="27797" y="58962"/>
                  </a:lnTo>
                  <a:lnTo>
                    <a:pt x="7345" y="98496"/>
                  </a:lnTo>
                  <a:lnTo>
                    <a:pt x="0" y="144018"/>
                  </a:lnTo>
                  <a:lnTo>
                    <a:pt x="7345" y="189539"/>
                  </a:lnTo>
                  <a:lnTo>
                    <a:pt x="27797" y="229073"/>
                  </a:lnTo>
                  <a:lnTo>
                    <a:pt x="58978" y="260249"/>
                  </a:lnTo>
                  <a:lnTo>
                    <a:pt x="98511" y="280693"/>
                  </a:lnTo>
                  <a:lnTo>
                    <a:pt x="144017" y="288036"/>
                  </a:lnTo>
                  <a:lnTo>
                    <a:pt x="189524" y="280693"/>
                  </a:lnTo>
                  <a:lnTo>
                    <a:pt x="229057" y="260249"/>
                  </a:lnTo>
                  <a:lnTo>
                    <a:pt x="260238" y="229073"/>
                  </a:lnTo>
                  <a:lnTo>
                    <a:pt x="280690" y="189539"/>
                  </a:lnTo>
                  <a:lnTo>
                    <a:pt x="288035" y="144018"/>
                  </a:lnTo>
                  <a:lnTo>
                    <a:pt x="280690" y="98496"/>
                  </a:lnTo>
                  <a:lnTo>
                    <a:pt x="260238" y="58962"/>
                  </a:lnTo>
                  <a:lnTo>
                    <a:pt x="229057" y="27786"/>
                  </a:lnTo>
                  <a:lnTo>
                    <a:pt x="189524" y="7342"/>
                  </a:lnTo>
                  <a:lnTo>
                    <a:pt x="144017" y="0"/>
                  </a:lnTo>
                  <a:close/>
                </a:path>
              </a:pathLst>
            </a:custGeom>
            <a:solidFill>
              <a:srgbClr val="29B974"/>
            </a:solidFill>
          </p:spPr>
          <p:txBody>
            <a:bodyPr wrap="square" lIns="0" tIns="0" rIns="0" bIns="0" rtlCol="0"/>
            <a:lstStyle/>
            <a:p>
              <a:endParaRPr/>
            </a:p>
          </p:txBody>
        </p:sp>
        <p:sp>
          <p:nvSpPr>
            <p:cNvPr id="76" name="object 76"/>
            <p:cNvSpPr/>
            <p:nvPr/>
          </p:nvSpPr>
          <p:spPr>
            <a:xfrm>
              <a:off x="4694682" y="5613653"/>
              <a:ext cx="288290" cy="288290"/>
            </a:xfrm>
            <a:custGeom>
              <a:avLst/>
              <a:gdLst/>
              <a:ahLst/>
              <a:cxnLst/>
              <a:rect l="l" t="t" r="r" b="b"/>
              <a:pathLst>
                <a:path w="288289" h="288289">
                  <a:moveTo>
                    <a:pt x="0" y="144018"/>
                  </a:moveTo>
                  <a:lnTo>
                    <a:pt x="7345" y="98496"/>
                  </a:lnTo>
                  <a:lnTo>
                    <a:pt x="27797" y="58962"/>
                  </a:lnTo>
                  <a:lnTo>
                    <a:pt x="58978" y="27786"/>
                  </a:lnTo>
                  <a:lnTo>
                    <a:pt x="98511" y="7342"/>
                  </a:lnTo>
                  <a:lnTo>
                    <a:pt x="144017" y="0"/>
                  </a:lnTo>
                  <a:lnTo>
                    <a:pt x="189524" y="7342"/>
                  </a:lnTo>
                  <a:lnTo>
                    <a:pt x="229057" y="27786"/>
                  </a:lnTo>
                  <a:lnTo>
                    <a:pt x="260238" y="58962"/>
                  </a:lnTo>
                  <a:lnTo>
                    <a:pt x="280690" y="98496"/>
                  </a:lnTo>
                  <a:lnTo>
                    <a:pt x="288035" y="144018"/>
                  </a:lnTo>
                  <a:lnTo>
                    <a:pt x="280690" y="189539"/>
                  </a:lnTo>
                  <a:lnTo>
                    <a:pt x="260238" y="229073"/>
                  </a:lnTo>
                  <a:lnTo>
                    <a:pt x="229057" y="260249"/>
                  </a:lnTo>
                  <a:lnTo>
                    <a:pt x="189524" y="280693"/>
                  </a:lnTo>
                  <a:lnTo>
                    <a:pt x="144017" y="288036"/>
                  </a:lnTo>
                  <a:lnTo>
                    <a:pt x="98511" y="280693"/>
                  </a:lnTo>
                  <a:lnTo>
                    <a:pt x="58978" y="260249"/>
                  </a:lnTo>
                  <a:lnTo>
                    <a:pt x="27797" y="229073"/>
                  </a:lnTo>
                  <a:lnTo>
                    <a:pt x="7345" y="189539"/>
                  </a:lnTo>
                  <a:lnTo>
                    <a:pt x="0" y="144018"/>
                  </a:lnTo>
                  <a:close/>
                </a:path>
              </a:pathLst>
            </a:custGeom>
            <a:ln w="19049">
              <a:solidFill>
                <a:srgbClr val="FFFFFF"/>
              </a:solidFill>
            </a:ln>
          </p:spPr>
          <p:txBody>
            <a:bodyPr wrap="square" lIns="0" tIns="0" rIns="0" bIns="0" rtlCol="0"/>
            <a:lstStyle/>
            <a:p>
              <a:endParaRPr/>
            </a:p>
          </p:txBody>
        </p:sp>
      </p:grpSp>
      <p:sp>
        <p:nvSpPr>
          <p:cNvPr id="77" name="object 77"/>
          <p:cNvSpPr txBox="1"/>
          <p:nvPr/>
        </p:nvSpPr>
        <p:spPr>
          <a:xfrm>
            <a:off x="630173" y="5607558"/>
            <a:ext cx="10933430" cy="295910"/>
          </a:xfrm>
          <a:prstGeom prst="rect">
            <a:avLst/>
          </a:prstGeom>
          <a:ln w="10478">
            <a:solidFill>
              <a:srgbClr val="9A9A9A"/>
            </a:solidFill>
          </a:ln>
        </p:spPr>
        <p:txBody>
          <a:bodyPr vert="horz" wrap="square" lIns="0" tIns="31115" rIns="0" bIns="0" rtlCol="0">
            <a:spAutoFit/>
          </a:bodyPr>
          <a:lstStyle/>
          <a:p>
            <a:pPr marL="4114165">
              <a:lnSpc>
                <a:spcPct val="100000"/>
              </a:lnSpc>
              <a:spcBef>
                <a:spcPts val="245"/>
              </a:spcBef>
              <a:tabLst>
                <a:tab pos="4430395" algn="l"/>
              </a:tabLst>
            </a:pPr>
            <a:r>
              <a:rPr sz="2100" spc="-37" baseline="5952">
                <a:solidFill>
                  <a:srgbClr val="FFFFFF"/>
                </a:solidFill>
                <a:latin typeface="Trebuchet MS"/>
                <a:cs typeface="Trebuchet MS"/>
              </a:rPr>
              <a:t>13</a:t>
            </a:r>
            <a:r>
              <a:rPr sz="2100" baseline="5952">
                <a:solidFill>
                  <a:srgbClr val="FFFFFF"/>
                </a:solidFill>
                <a:latin typeface="Trebuchet MS"/>
                <a:cs typeface="Trebuchet MS"/>
              </a:rPr>
              <a:t>	</a:t>
            </a:r>
            <a:r>
              <a:rPr sz="1600" b="1">
                <a:solidFill>
                  <a:srgbClr val="565656"/>
                </a:solidFill>
                <a:latin typeface="Trebuchet MS"/>
                <a:cs typeface="Trebuchet MS"/>
              </a:rPr>
              <a:t>Organization</a:t>
            </a:r>
            <a:r>
              <a:rPr sz="1600" b="1" spc="-60">
                <a:solidFill>
                  <a:srgbClr val="565656"/>
                </a:solidFill>
                <a:latin typeface="Trebuchet MS"/>
                <a:cs typeface="Trebuchet MS"/>
              </a:rPr>
              <a:t> </a:t>
            </a:r>
            <a:r>
              <a:rPr sz="1600" b="1">
                <a:solidFill>
                  <a:srgbClr val="565656"/>
                </a:solidFill>
                <a:latin typeface="Trebuchet MS"/>
                <a:cs typeface="Trebuchet MS"/>
              </a:rPr>
              <a:t>&amp;</a:t>
            </a:r>
            <a:r>
              <a:rPr sz="1600" b="1" spc="-60">
                <a:solidFill>
                  <a:srgbClr val="565656"/>
                </a:solidFill>
                <a:latin typeface="Trebuchet MS"/>
                <a:cs typeface="Trebuchet MS"/>
              </a:rPr>
              <a:t> </a:t>
            </a:r>
            <a:r>
              <a:rPr sz="1600" b="1" spc="-10">
                <a:solidFill>
                  <a:srgbClr val="565656"/>
                </a:solidFill>
                <a:latin typeface="Trebuchet MS"/>
                <a:cs typeface="Trebuchet MS"/>
              </a:rPr>
              <a:t>governance</a:t>
            </a:r>
            <a:endParaRPr sz="1600">
              <a:latin typeface="Trebuchet MS"/>
              <a:cs typeface="Trebuchet MS"/>
            </a:endParaRPr>
          </a:p>
        </p:txBody>
      </p:sp>
      <p:sp>
        <p:nvSpPr>
          <p:cNvPr id="78" name="object 78"/>
          <p:cNvSpPr txBox="1">
            <a:spLocks noGrp="1"/>
          </p:cNvSpPr>
          <p:nvPr>
            <p:ph type="sldNum" sz="quarter" idx="7"/>
          </p:nvPr>
        </p:nvSpPr>
        <p:spPr>
          <a:prstGeom prst="rect">
            <a:avLst/>
          </a:prstGeom>
        </p:spPr>
        <p:txBody>
          <a:bodyPr vert="horz" wrap="square" lIns="0" tIns="4445" rIns="0" bIns="0" rtlCol="0">
            <a:spAutoFit/>
          </a:bodyPr>
          <a:lstStyle/>
          <a:p>
            <a:pPr marL="104775">
              <a:lnSpc>
                <a:spcPct val="100000"/>
              </a:lnSpc>
              <a:spcBef>
                <a:spcPts val="35"/>
              </a:spcBef>
            </a:pPr>
            <a:r>
              <a:rPr spc="-50"/>
              <a:t>3</a:t>
            </a: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1F1F1"/>
          </a:solidFill>
        </p:spPr>
        <p:txBody>
          <a:bodyPr wrap="square" lIns="0" tIns="0" rIns="0" bIns="0" rtlCol="0"/>
          <a:lstStyle/>
          <a:p>
            <a:endParaRPr/>
          </a:p>
        </p:txBody>
      </p:sp>
      <p:sp>
        <p:nvSpPr>
          <p:cNvPr id="3" name="object 3"/>
          <p:cNvSpPr txBox="1"/>
          <p:nvPr/>
        </p:nvSpPr>
        <p:spPr>
          <a:xfrm>
            <a:off x="11986574" y="3898286"/>
            <a:ext cx="128270" cy="2653665"/>
          </a:xfrm>
          <a:prstGeom prst="rect">
            <a:avLst/>
          </a:prstGeom>
        </p:spPr>
        <p:txBody>
          <a:bodyPr vert="vert270" wrap="square" lIns="0" tIns="6350" rIns="0" bIns="0" rtlCol="0">
            <a:spAutoFit/>
          </a:bodyPr>
          <a:lstStyle/>
          <a:p>
            <a:pPr marL="12700">
              <a:lnSpc>
                <a:spcPct val="100000"/>
              </a:lnSpc>
              <a:spcBef>
                <a:spcPts val="50"/>
              </a:spcBef>
            </a:pPr>
            <a:r>
              <a:rPr sz="700">
                <a:solidFill>
                  <a:srgbClr val="7E7E7E"/>
                </a:solidFill>
                <a:latin typeface="Trebuchet MS"/>
                <a:cs typeface="Trebuchet MS"/>
              </a:rPr>
              <a:t>Copyright</a:t>
            </a:r>
            <a:r>
              <a:rPr sz="700" spc="-25">
                <a:solidFill>
                  <a:srgbClr val="7E7E7E"/>
                </a:solidFill>
                <a:latin typeface="Trebuchet MS"/>
                <a:cs typeface="Trebuchet MS"/>
              </a:rPr>
              <a:t> </a:t>
            </a:r>
            <a:r>
              <a:rPr sz="700">
                <a:solidFill>
                  <a:srgbClr val="7E7E7E"/>
                </a:solidFill>
                <a:latin typeface="Trebuchet MS"/>
                <a:cs typeface="Trebuchet MS"/>
              </a:rPr>
              <a:t>©</a:t>
            </a:r>
            <a:r>
              <a:rPr sz="700" spc="-25">
                <a:solidFill>
                  <a:srgbClr val="7E7E7E"/>
                </a:solidFill>
                <a:latin typeface="Trebuchet MS"/>
                <a:cs typeface="Trebuchet MS"/>
              </a:rPr>
              <a:t> </a:t>
            </a:r>
            <a:r>
              <a:rPr sz="700">
                <a:solidFill>
                  <a:srgbClr val="7E7E7E"/>
                </a:solidFill>
                <a:latin typeface="Trebuchet MS"/>
                <a:cs typeface="Trebuchet MS"/>
              </a:rPr>
              <a:t>2019</a:t>
            </a:r>
            <a:r>
              <a:rPr sz="700" spc="-15">
                <a:solidFill>
                  <a:srgbClr val="7E7E7E"/>
                </a:solidFill>
                <a:latin typeface="Trebuchet MS"/>
                <a:cs typeface="Trebuchet MS"/>
              </a:rPr>
              <a:t> </a:t>
            </a:r>
            <a:r>
              <a:rPr sz="700">
                <a:solidFill>
                  <a:srgbClr val="7E7E7E"/>
                </a:solidFill>
                <a:latin typeface="Trebuchet MS"/>
                <a:cs typeface="Trebuchet MS"/>
              </a:rPr>
              <a:t>by</a:t>
            </a:r>
            <a:r>
              <a:rPr sz="700" spc="-20">
                <a:solidFill>
                  <a:srgbClr val="7E7E7E"/>
                </a:solidFill>
                <a:latin typeface="Trebuchet MS"/>
                <a:cs typeface="Trebuchet MS"/>
              </a:rPr>
              <a:t> </a:t>
            </a:r>
            <a:r>
              <a:rPr sz="700">
                <a:solidFill>
                  <a:srgbClr val="7E7E7E"/>
                </a:solidFill>
                <a:latin typeface="Trebuchet MS"/>
                <a:cs typeface="Trebuchet MS"/>
              </a:rPr>
              <a:t>Boston </a:t>
            </a:r>
            <a:r>
              <a:rPr sz="700" spc="-10">
                <a:solidFill>
                  <a:srgbClr val="7E7E7E"/>
                </a:solidFill>
                <a:latin typeface="Trebuchet MS"/>
                <a:cs typeface="Trebuchet MS"/>
              </a:rPr>
              <a:t>Consulting </a:t>
            </a:r>
            <a:r>
              <a:rPr sz="700">
                <a:solidFill>
                  <a:srgbClr val="7E7E7E"/>
                </a:solidFill>
                <a:latin typeface="Trebuchet MS"/>
                <a:cs typeface="Trebuchet MS"/>
              </a:rPr>
              <a:t>Group.</a:t>
            </a:r>
            <a:r>
              <a:rPr sz="700" spc="-5">
                <a:solidFill>
                  <a:srgbClr val="7E7E7E"/>
                </a:solidFill>
                <a:latin typeface="Trebuchet MS"/>
                <a:cs typeface="Trebuchet MS"/>
              </a:rPr>
              <a:t> </a:t>
            </a:r>
            <a:r>
              <a:rPr sz="700">
                <a:solidFill>
                  <a:srgbClr val="7E7E7E"/>
                </a:solidFill>
                <a:latin typeface="Trebuchet MS"/>
                <a:cs typeface="Trebuchet MS"/>
              </a:rPr>
              <a:t>All</a:t>
            </a:r>
            <a:r>
              <a:rPr sz="700" spc="-5">
                <a:solidFill>
                  <a:srgbClr val="7E7E7E"/>
                </a:solidFill>
                <a:latin typeface="Trebuchet MS"/>
                <a:cs typeface="Trebuchet MS"/>
              </a:rPr>
              <a:t> </a:t>
            </a:r>
            <a:r>
              <a:rPr sz="700">
                <a:solidFill>
                  <a:srgbClr val="7E7E7E"/>
                </a:solidFill>
                <a:latin typeface="Trebuchet MS"/>
                <a:cs typeface="Trebuchet MS"/>
              </a:rPr>
              <a:t>rights</a:t>
            </a:r>
            <a:r>
              <a:rPr sz="700" spc="-25">
                <a:solidFill>
                  <a:srgbClr val="7E7E7E"/>
                </a:solidFill>
                <a:latin typeface="Trebuchet MS"/>
                <a:cs typeface="Trebuchet MS"/>
              </a:rPr>
              <a:t> </a:t>
            </a:r>
            <a:r>
              <a:rPr sz="700" spc="-10">
                <a:solidFill>
                  <a:srgbClr val="7E7E7E"/>
                </a:solidFill>
                <a:latin typeface="Trebuchet MS"/>
                <a:cs typeface="Trebuchet MS"/>
              </a:rPr>
              <a:t>reserved.</a:t>
            </a:r>
            <a:endParaRPr sz="700">
              <a:latin typeface="Trebuchet MS"/>
              <a:cs typeface="Trebuchet MS"/>
            </a:endParaRPr>
          </a:p>
        </p:txBody>
      </p:sp>
      <p:sp>
        <p:nvSpPr>
          <p:cNvPr id="4" name="object 4"/>
          <p:cNvSpPr txBox="1">
            <a:spLocks noGrp="1"/>
          </p:cNvSpPr>
          <p:nvPr>
            <p:ph type="title"/>
          </p:nvPr>
        </p:nvSpPr>
        <p:spPr>
          <a:prstGeom prst="rect">
            <a:avLst/>
          </a:prstGeom>
        </p:spPr>
        <p:txBody>
          <a:bodyPr vert="horz" wrap="square" lIns="0" tIns="277824" rIns="0" bIns="0" rtlCol="0">
            <a:spAutoFit/>
          </a:bodyPr>
          <a:lstStyle/>
          <a:p>
            <a:pPr marL="12700">
              <a:lnSpc>
                <a:spcPct val="100000"/>
              </a:lnSpc>
              <a:spcBef>
                <a:spcPts val="95"/>
              </a:spcBef>
            </a:pPr>
            <a:r>
              <a:rPr sz="2800" spc="-10"/>
              <a:t>Wealth</a:t>
            </a:r>
            <a:r>
              <a:rPr sz="2800" spc="-85"/>
              <a:t> </a:t>
            </a:r>
            <a:r>
              <a:rPr sz="2800"/>
              <a:t>analytics</a:t>
            </a:r>
            <a:r>
              <a:rPr sz="2800" spc="-70"/>
              <a:t> </a:t>
            </a:r>
            <a:r>
              <a:rPr sz="2800"/>
              <a:t>use</a:t>
            </a:r>
            <a:r>
              <a:rPr sz="2800" spc="-85"/>
              <a:t> </a:t>
            </a:r>
            <a:r>
              <a:rPr sz="2800"/>
              <a:t>cases</a:t>
            </a:r>
            <a:r>
              <a:rPr sz="2800" spc="-70"/>
              <a:t> </a:t>
            </a:r>
            <a:r>
              <a:rPr sz="2800"/>
              <a:t>for</a:t>
            </a:r>
            <a:r>
              <a:rPr sz="2800" spc="-90"/>
              <a:t> </a:t>
            </a:r>
            <a:r>
              <a:rPr sz="2800"/>
              <a:t>leads</a:t>
            </a:r>
            <a:r>
              <a:rPr sz="2800" spc="-75"/>
              <a:t> </a:t>
            </a:r>
            <a:r>
              <a:rPr sz="2800"/>
              <a:t>generation</a:t>
            </a:r>
            <a:r>
              <a:rPr sz="2800" spc="-90"/>
              <a:t> </a:t>
            </a:r>
            <a:r>
              <a:rPr sz="2800"/>
              <a:t>driven</a:t>
            </a:r>
            <a:r>
              <a:rPr sz="2800" spc="-90"/>
              <a:t> </a:t>
            </a:r>
            <a:r>
              <a:rPr sz="2800"/>
              <a:t>by</a:t>
            </a:r>
            <a:r>
              <a:rPr sz="2800" spc="-90"/>
              <a:t> </a:t>
            </a:r>
            <a:r>
              <a:rPr sz="2800" spc="-25"/>
              <a:t>ML</a:t>
            </a:r>
            <a:endParaRPr sz="2800"/>
          </a:p>
        </p:txBody>
      </p:sp>
      <p:sp>
        <p:nvSpPr>
          <p:cNvPr id="5" name="object 5"/>
          <p:cNvSpPr txBox="1"/>
          <p:nvPr/>
        </p:nvSpPr>
        <p:spPr>
          <a:xfrm>
            <a:off x="1231201" y="1854517"/>
            <a:ext cx="1256665" cy="1699895"/>
          </a:xfrm>
          <a:prstGeom prst="rect">
            <a:avLst/>
          </a:prstGeom>
          <a:solidFill>
            <a:srgbClr val="29B974"/>
          </a:solidFill>
        </p:spPr>
        <p:txBody>
          <a:bodyPr vert="horz" wrap="square" lIns="0" tIns="0" rIns="0" bIns="0" rtlCol="0">
            <a:spAutoFit/>
          </a:bodyPr>
          <a:lstStyle/>
          <a:p>
            <a:pPr>
              <a:lnSpc>
                <a:spcPct val="100000"/>
              </a:lnSpc>
            </a:pPr>
            <a:endParaRPr sz="1400">
              <a:latin typeface="Times New Roman"/>
              <a:cs typeface="Times New Roman"/>
            </a:endParaRPr>
          </a:p>
          <a:p>
            <a:pPr>
              <a:lnSpc>
                <a:spcPct val="100000"/>
              </a:lnSpc>
              <a:spcBef>
                <a:spcPts val="915"/>
              </a:spcBef>
            </a:pPr>
            <a:endParaRPr sz="1400">
              <a:latin typeface="Times New Roman"/>
              <a:cs typeface="Times New Roman"/>
            </a:endParaRPr>
          </a:p>
          <a:p>
            <a:pPr marL="202565" marR="194310" indent="99060" algn="just">
              <a:lnSpc>
                <a:spcPct val="100000"/>
              </a:lnSpc>
            </a:pPr>
            <a:r>
              <a:rPr sz="1400" spc="-10">
                <a:solidFill>
                  <a:srgbClr val="FFFFFF"/>
                </a:solidFill>
                <a:latin typeface="Trebuchet MS"/>
                <a:cs typeface="Trebuchet MS"/>
              </a:rPr>
              <a:t>Machine Learning Algorithms</a:t>
            </a:r>
            <a:endParaRPr sz="1400">
              <a:latin typeface="Trebuchet MS"/>
              <a:cs typeface="Trebuchet MS"/>
            </a:endParaRPr>
          </a:p>
        </p:txBody>
      </p:sp>
      <p:sp>
        <p:nvSpPr>
          <p:cNvPr id="6" name="object 6"/>
          <p:cNvSpPr txBox="1"/>
          <p:nvPr/>
        </p:nvSpPr>
        <p:spPr>
          <a:xfrm>
            <a:off x="1231201" y="3654361"/>
            <a:ext cx="1256665" cy="1163320"/>
          </a:xfrm>
          <a:prstGeom prst="rect">
            <a:avLst/>
          </a:prstGeom>
          <a:solidFill>
            <a:srgbClr val="29B974"/>
          </a:solidFill>
        </p:spPr>
        <p:txBody>
          <a:bodyPr vert="horz" wrap="square" lIns="0" tIns="158750" rIns="0" bIns="0" rtlCol="0">
            <a:spAutoFit/>
          </a:bodyPr>
          <a:lstStyle/>
          <a:p>
            <a:pPr>
              <a:lnSpc>
                <a:spcPct val="100000"/>
              </a:lnSpc>
              <a:spcBef>
                <a:spcPts val="1250"/>
              </a:spcBef>
            </a:pPr>
            <a:endParaRPr sz="1400">
              <a:latin typeface="Times New Roman"/>
              <a:cs typeface="Times New Roman"/>
            </a:endParaRPr>
          </a:p>
          <a:p>
            <a:pPr marL="202565" marR="194310" indent="27305">
              <a:lnSpc>
                <a:spcPct val="100000"/>
              </a:lnSpc>
            </a:pPr>
            <a:r>
              <a:rPr sz="1400" spc="-10">
                <a:solidFill>
                  <a:srgbClr val="FFFFFF"/>
                </a:solidFill>
                <a:latin typeface="Trebuchet MS"/>
                <a:cs typeface="Trebuchet MS"/>
              </a:rPr>
              <a:t>Statistical Algorithms</a:t>
            </a:r>
            <a:endParaRPr sz="1400">
              <a:latin typeface="Trebuchet MS"/>
              <a:cs typeface="Trebuchet MS"/>
            </a:endParaRPr>
          </a:p>
        </p:txBody>
      </p:sp>
      <p:sp>
        <p:nvSpPr>
          <p:cNvPr id="7" name="object 7"/>
          <p:cNvSpPr txBox="1"/>
          <p:nvPr/>
        </p:nvSpPr>
        <p:spPr>
          <a:xfrm>
            <a:off x="1235963" y="4974335"/>
            <a:ext cx="1247140" cy="1066800"/>
          </a:xfrm>
          <a:prstGeom prst="rect">
            <a:avLst/>
          </a:prstGeom>
          <a:solidFill>
            <a:srgbClr val="6D6E73"/>
          </a:solidFill>
          <a:ln w="9525">
            <a:solidFill>
              <a:srgbClr val="9A9A9A"/>
            </a:solidFill>
          </a:ln>
        </p:spPr>
        <p:txBody>
          <a:bodyPr vert="horz" wrap="square" lIns="0" tIns="110489" rIns="0" bIns="0" rtlCol="0">
            <a:spAutoFit/>
          </a:bodyPr>
          <a:lstStyle/>
          <a:p>
            <a:pPr>
              <a:lnSpc>
                <a:spcPct val="100000"/>
              </a:lnSpc>
              <a:spcBef>
                <a:spcPts val="869"/>
              </a:spcBef>
            </a:pPr>
            <a:endParaRPr sz="1400">
              <a:latin typeface="Times New Roman"/>
              <a:cs typeface="Times New Roman"/>
            </a:endParaRPr>
          </a:p>
          <a:p>
            <a:pPr marL="412750" marR="285115" indent="-119380">
              <a:lnSpc>
                <a:spcPct val="100000"/>
              </a:lnSpc>
            </a:pPr>
            <a:r>
              <a:rPr sz="1400" spc="-10">
                <a:solidFill>
                  <a:srgbClr val="FFFFFF"/>
                </a:solidFill>
                <a:latin typeface="Trebuchet MS"/>
                <a:cs typeface="Trebuchet MS"/>
              </a:rPr>
              <a:t>Business </a:t>
            </a:r>
            <a:r>
              <a:rPr sz="1400" spc="-20">
                <a:solidFill>
                  <a:srgbClr val="FFFFFF"/>
                </a:solidFill>
                <a:latin typeface="Trebuchet MS"/>
                <a:cs typeface="Trebuchet MS"/>
              </a:rPr>
              <a:t>Rules</a:t>
            </a:r>
            <a:endParaRPr sz="1400">
              <a:latin typeface="Trebuchet MS"/>
              <a:cs typeface="Trebuchet MS"/>
            </a:endParaRPr>
          </a:p>
        </p:txBody>
      </p:sp>
      <p:sp>
        <p:nvSpPr>
          <p:cNvPr id="8" name="object 8"/>
          <p:cNvSpPr/>
          <p:nvPr/>
        </p:nvSpPr>
        <p:spPr>
          <a:xfrm>
            <a:off x="3168395" y="1859279"/>
            <a:ext cx="3716020" cy="471170"/>
          </a:xfrm>
          <a:custGeom>
            <a:avLst/>
            <a:gdLst/>
            <a:ahLst/>
            <a:cxnLst/>
            <a:rect l="l" t="t" r="r" b="b"/>
            <a:pathLst>
              <a:path w="3716020" h="471169">
                <a:moveTo>
                  <a:pt x="0" y="470915"/>
                </a:moveTo>
                <a:lnTo>
                  <a:pt x="3715511" y="470915"/>
                </a:lnTo>
                <a:lnTo>
                  <a:pt x="3715511" y="0"/>
                </a:lnTo>
                <a:lnTo>
                  <a:pt x="0" y="0"/>
                </a:lnTo>
                <a:lnTo>
                  <a:pt x="0" y="470915"/>
                </a:lnTo>
                <a:close/>
              </a:path>
            </a:pathLst>
          </a:custGeom>
          <a:ln w="9525">
            <a:solidFill>
              <a:srgbClr val="29B974"/>
            </a:solidFill>
          </a:ln>
        </p:spPr>
        <p:txBody>
          <a:bodyPr wrap="square" lIns="0" tIns="0" rIns="0" bIns="0" rtlCol="0"/>
          <a:lstStyle/>
          <a:p>
            <a:endParaRPr/>
          </a:p>
        </p:txBody>
      </p:sp>
      <p:sp>
        <p:nvSpPr>
          <p:cNvPr id="9" name="object 9"/>
          <p:cNvSpPr txBox="1"/>
          <p:nvPr/>
        </p:nvSpPr>
        <p:spPr>
          <a:xfrm>
            <a:off x="3173158" y="1895347"/>
            <a:ext cx="3706495" cy="391160"/>
          </a:xfrm>
          <a:prstGeom prst="rect">
            <a:avLst/>
          </a:prstGeom>
        </p:spPr>
        <p:txBody>
          <a:bodyPr vert="horz" wrap="square" lIns="0" tIns="12700" rIns="0" bIns="0" rtlCol="0">
            <a:spAutoFit/>
          </a:bodyPr>
          <a:lstStyle/>
          <a:p>
            <a:pPr marL="87630" marR="302260">
              <a:lnSpc>
                <a:spcPct val="100000"/>
              </a:lnSpc>
              <a:spcBef>
                <a:spcPts val="100"/>
              </a:spcBef>
            </a:pPr>
            <a:r>
              <a:rPr sz="1200" b="1" spc="-10">
                <a:solidFill>
                  <a:srgbClr val="565656"/>
                </a:solidFill>
                <a:latin typeface="Trebuchet MS"/>
                <a:cs typeface="Trebuchet MS"/>
              </a:rPr>
              <a:t>Potential</a:t>
            </a:r>
            <a:r>
              <a:rPr sz="1200" b="1" spc="-50">
                <a:solidFill>
                  <a:srgbClr val="565656"/>
                </a:solidFill>
                <a:latin typeface="Trebuchet MS"/>
                <a:cs typeface="Trebuchet MS"/>
              </a:rPr>
              <a:t> </a:t>
            </a:r>
            <a:r>
              <a:rPr sz="1200" b="1">
                <a:solidFill>
                  <a:srgbClr val="565656"/>
                </a:solidFill>
                <a:latin typeface="Trebuchet MS"/>
                <a:cs typeface="Trebuchet MS"/>
              </a:rPr>
              <a:t>wealth</a:t>
            </a:r>
            <a:r>
              <a:rPr sz="1200" b="1" spc="-15">
                <a:solidFill>
                  <a:srgbClr val="565656"/>
                </a:solidFill>
                <a:latin typeface="Trebuchet MS"/>
                <a:cs typeface="Trebuchet MS"/>
              </a:rPr>
              <a:t> </a:t>
            </a:r>
            <a:r>
              <a:rPr sz="1200" b="1">
                <a:solidFill>
                  <a:srgbClr val="565656"/>
                </a:solidFill>
                <a:latin typeface="Trebuchet MS"/>
                <a:cs typeface="Trebuchet MS"/>
              </a:rPr>
              <a:t>customers:</a:t>
            </a:r>
            <a:r>
              <a:rPr sz="1200" b="1" spc="-20">
                <a:solidFill>
                  <a:srgbClr val="565656"/>
                </a:solidFill>
                <a:latin typeface="Trebuchet MS"/>
                <a:cs typeface="Trebuchet MS"/>
              </a:rPr>
              <a:t> </a:t>
            </a:r>
            <a:r>
              <a:rPr sz="1200">
                <a:solidFill>
                  <a:srgbClr val="565656"/>
                </a:solidFill>
                <a:latin typeface="Trebuchet MS"/>
                <a:cs typeface="Trebuchet MS"/>
              </a:rPr>
              <a:t>Identify</a:t>
            </a:r>
            <a:r>
              <a:rPr sz="1200" spc="-65">
                <a:solidFill>
                  <a:srgbClr val="565656"/>
                </a:solidFill>
                <a:latin typeface="Trebuchet MS"/>
                <a:cs typeface="Trebuchet MS"/>
              </a:rPr>
              <a:t> </a:t>
            </a:r>
            <a:r>
              <a:rPr sz="1200" spc="-10">
                <a:solidFill>
                  <a:srgbClr val="565656"/>
                </a:solidFill>
                <a:latin typeface="Trebuchet MS"/>
                <a:cs typeface="Trebuchet MS"/>
              </a:rPr>
              <a:t>customers </a:t>
            </a:r>
            <a:r>
              <a:rPr sz="1200">
                <a:solidFill>
                  <a:srgbClr val="565656"/>
                </a:solidFill>
                <a:latin typeface="Trebuchet MS"/>
                <a:cs typeface="Trebuchet MS"/>
              </a:rPr>
              <a:t>most</a:t>
            </a:r>
            <a:r>
              <a:rPr sz="1200" spc="-15">
                <a:solidFill>
                  <a:srgbClr val="565656"/>
                </a:solidFill>
                <a:latin typeface="Trebuchet MS"/>
                <a:cs typeface="Trebuchet MS"/>
              </a:rPr>
              <a:t> </a:t>
            </a:r>
            <a:r>
              <a:rPr sz="1200">
                <a:solidFill>
                  <a:srgbClr val="565656"/>
                </a:solidFill>
                <a:latin typeface="Trebuchet MS"/>
                <a:cs typeface="Trebuchet MS"/>
              </a:rPr>
              <a:t>likely</a:t>
            </a:r>
            <a:r>
              <a:rPr sz="1200" spc="-40">
                <a:solidFill>
                  <a:srgbClr val="565656"/>
                </a:solidFill>
                <a:latin typeface="Trebuchet MS"/>
                <a:cs typeface="Trebuchet MS"/>
              </a:rPr>
              <a:t> </a:t>
            </a:r>
            <a:r>
              <a:rPr sz="1200">
                <a:solidFill>
                  <a:srgbClr val="565656"/>
                </a:solidFill>
                <a:latin typeface="Trebuchet MS"/>
                <a:cs typeface="Trebuchet MS"/>
              </a:rPr>
              <a:t>to</a:t>
            </a:r>
            <a:r>
              <a:rPr sz="1200" spc="-20">
                <a:solidFill>
                  <a:srgbClr val="565656"/>
                </a:solidFill>
                <a:latin typeface="Trebuchet MS"/>
                <a:cs typeface="Trebuchet MS"/>
              </a:rPr>
              <a:t> </a:t>
            </a:r>
            <a:r>
              <a:rPr sz="1200">
                <a:solidFill>
                  <a:srgbClr val="565656"/>
                </a:solidFill>
                <a:latin typeface="Trebuchet MS"/>
                <a:cs typeface="Trebuchet MS"/>
              </a:rPr>
              <a:t>purchase</a:t>
            </a:r>
            <a:r>
              <a:rPr sz="1200" spc="-55">
                <a:solidFill>
                  <a:srgbClr val="565656"/>
                </a:solidFill>
                <a:latin typeface="Trebuchet MS"/>
                <a:cs typeface="Trebuchet MS"/>
              </a:rPr>
              <a:t> </a:t>
            </a:r>
            <a:r>
              <a:rPr sz="1200">
                <a:solidFill>
                  <a:srgbClr val="565656"/>
                </a:solidFill>
                <a:latin typeface="Trebuchet MS"/>
                <a:cs typeface="Trebuchet MS"/>
              </a:rPr>
              <a:t>wealth</a:t>
            </a:r>
            <a:r>
              <a:rPr sz="1200" spc="-55">
                <a:solidFill>
                  <a:srgbClr val="565656"/>
                </a:solidFill>
                <a:latin typeface="Trebuchet MS"/>
                <a:cs typeface="Trebuchet MS"/>
              </a:rPr>
              <a:t> </a:t>
            </a:r>
            <a:r>
              <a:rPr sz="1200" spc="-10">
                <a:solidFill>
                  <a:srgbClr val="565656"/>
                </a:solidFill>
                <a:latin typeface="Trebuchet MS"/>
                <a:cs typeface="Trebuchet MS"/>
              </a:rPr>
              <a:t>products</a:t>
            </a:r>
            <a:endParaRPr sz="1200">
              <a:latin typeface="Trebuchet MS"/>
              <a:cs typeface="Trebuchet MS"/>
            </a:endParaRPr>
          </a:p>
        </p:txBody>
      </p:sp>
      <p:sp>
        <p:nvSpPr>
          <p:cNvPr id="10" name="object 10"/>
          <p:cNvSpPr/>
          <p:nvPr/>
        </p:nvSpPr>
        <p:spPr>
          <a:xfrm>
            <a:off x="2607564" y="1859279"/>
            <a:ext cx="561340" cy="471170"/>
          </a:xfrm>
          <a:custGeom>
            <a:avLst/>
            <a:gdLst/>
            <a:ahLst/>
            <a:cxnLst/>
            <a:rect l="l" t="t" r="r" b="b"/>
            <a:pathLst>
              <a:path w="561339" h="471169">
                <a:moveTo>
                  <a:pt x="0" y="470915"/>
                </a:moveTo>
                <a:lnTo>
                  <a:pt x="560832" y="470915"/>
                </a:lnTo>
                <a:lnTo>
                  <a:pt x="560832" y="0"/>
                </a:lnTo>
                <a:lnTo>
                  <a:pt x="0" y="0"/>
                </a:lnTo>
                <a:lnTo>
                  <a:pt x="0" y="470915"/>
                </a:lnTo>
                <a:close/>
              </a:path>
            </a:pathLst>
          </a:custGeom>
          <a:ln w="9525">
            <a:solidFill>
              <a:srgbClr val="29B974"/>
            </a:solidFill>
          </a:ln>
        </p:spPr>
        <p:txBody>
          <a:bodyPr wrap="square" lIns="0" tIns="0" rIns="0" bIns="0" rtlCol="0"/>
          <a:lstStyle/>
          <a:p>
            <a:endParaRPr/>
          </a:p>
        </p:txBody>
      </p:sp>
      <p:sp>
        <p:nvSpPr>
          <p:cNvPr id="11" name="object 11"/>
          <p:cNvSpPr txBox="1"/>
          <p:nvPr/>
        </p:nvSpPr>
        <p:spPr>
          <a:xfrm>
            <a:off x="2602801" y="1854517"/>
            <a:ext cx="570865" cy="480695"/>
          </a:xfrm>
          <a:prstGeom prst="rect">
            <a:avLst/>
          </a:prstGeom>
          <a:solidFill>
            <a:srgbClr val="29B974"/>
          </a:solidFill>
        </p:spPr>
        <p:txBody>
          <a:bodyPr vert="horz" wrap="square" lIns="0" tIns="112395" rIns="0" bIns="0" rtlCol="0">
            <a:spAutoFit/>
          </a:bodyPr>
          <a:lstStyle/>
          <a:p>
            <a:pPr marL="161925">
              <a:lnSpc>
                <a:spcPct val="100000"/>
              </a:lnSpc>
              <a:spcBef>
                <a:spcPts val="885"/>
              </a:spcBef>
            </a:pPr>
            <a:r>
              <a:rPr sz="1600" b="1" spc="-25">
                <a:solidFill>
                  <a:srgbClr val="FFFFFF"/>
                </a:solidFill>
                <a:latin typeface="Trebuchet MS"/>
                <a:cs typeface="Trebuchet MS"/>
              </a:rPr>
              <a:t>A1</a:t>
            </a:r>
            <a:endParaRPr sz="1600">
              <a:latin typeface="Trebuchet MS"/>
              <a:cs typeface="Trebuchet MS"/>
            </a:endParaRPr>
          </a:p>
        </p:txBody>
      </p:sp>
      <p:sp>
        <p:nvSpPr>
          <p:cNvPr id="12" name="object 12"/>
          <p:cNvSpPr/>
          <p:nvPr/>
        </p:nvSpPr>
        <p:spPr>
          <a:xfrm>
            <a:off x="3168395" y="2465832"/>
            <a:ext cx="3716020" cy="471170"/>
          </a:xfrm>
          <a:custGeom>
            <a:avLst/>
            <a:gdLst/>
            <a:ahLst/>
            <a:cxnLst/>
            <a:rect l="l" t="t" r="r" b="b"/>
            <a:pathLst>
              <a:path w="3716020" h="471169">
                <a:moveTo>
                  <a:pt x="0" y="470915"/>
                </a:moveTo>
                <a:lnTo>
                  <a:pt x="3715511" y="470915"/>
                </a:lnTo>
                <a:lnTo>
                  <a:pt x="3715511" y="0"/>
                </a:lnTo>
                <a:lnTo>
                  <a:pt x="0" y="0"/>
                </a:lnTo>
                <a:lnTo>
                  <a:pt x="0" y="470915"/>
                </a:lnTo>
                <a:close/>
              </a:path>
            </a:pathLst>
          </a:custGeom>
          <a:ln w="9525">
            <a:solidFill>
              <a:srgbClr val="29B974"/>
            </a:solidFill>
          </a:ln>
        </p:spPr>
        <p:txBody>
          <a:bodyPr wrap="square" lIns="0" tIns="0" rIns="0" bIns="0" rtlCol="0"/>
          <a:lstStyle/>
          <a:p>
            <a:endParaRPr/>
          </a:p>
        </p:txBody>
      </p:sp>
      <p:sp>
        <p:nvSpPr>
          <p:cNvPr id="13" name="object 13"/>
          <p:cNvSpPr txBox="1"/>
          <p:nvPr/>
        </p:nvSpPr>
        <p:spPr>
          <a:xfrm>
            <a:off x="3173158" y="2501900"/>
            <a:ext cx="3706495" cy="391160"/>
          </a:xfrm>
          <a:prstGeom prst="rect">
            <a:avLst/>
          </a:prstGeom>
        </p:spPr>
        <p:txBody>
          <a:bodyPr vert="horz" wrap="square" lIns="0" tIns="12700" rIns="0" bIns="0" rtlCol="0">
            <a:spAutoFit/>
          </a:bodyPr>
          <a:lstStyle/>
          <a:p>
            <a:pPr marL="87630" marR="269875">
              <a:lnSpc>
                <a:spcPct val="100000"/>
              </a:lnSpc>
              <a:spcBef>
                <a:spcPts val="100"/>
              </a:spcBef>
            </a:pPr>
            <a:r>
              <a:rPr sz="1200" b="1">
                <a:solidFill>
                  <a:srgbClr val="565656"/>
                </a:solidFill>
                <a:latin typeface="Trebuchet MS"/>
                <a:cs typeface="Trebuchet MS"/>
              </a:rPr>
              <a:t>Wealth</a:t>
            </a:r>
            <a:r>
              <a:rPr sz="1200" b="1" spc="-30">
                <a:solidFill>
                  <a:srgbClr val="565656"/>
                </a:solidFill>
                <a:latin typeface="Trebuchet MS"/>
                <a:cs typeface="Trebuchet MS"/>
              </a:rPr>
              <a:t> </a:t>
            </a:r>
            <a:r>
              <a:rPr sz="1200" b="1">
                <a:solidFill>
                  <a:srgbClr val="565656"/>
                </a:solidFill>
                <a:latin typeface="Trebuchet MS"/>
                <a:cs typeface="Trebuchet MS"/>
              </a:rPr>
              <a:t>Elsewhere:</a:t>
            </a:r>
            <a:r>
              <a:rPr sz="1200" b="1" spc="-20">
                <a:solidFill>
                  <a:srgbClr val="565656"/>
                </a:solidFill>
                <a:latin typeface="Trebuchet MS"/>
                <a:cs typeface="Trebuchet MS"/>
              </a:rPr>
              <a:t> </a:t>
            </a:r>
            <a:r>
              <a:rPr sz="1200">
                <a:solidFill>
                  <a:srgbClr val="565656"/>
                </a:solidFill>
                <a:latin typeface="Trebuchet MS"/>
                <a:cs typeface="Trebuchet MS"/>
              </a:rPr>
              <a:t>High</a:t>
            </a:r>
            <a:r>
              <a:rPr sz="1200" spc="-40">
                <a:solidFill>
                  <a:srgbClr val="565656"/>
                </a:solidFill>
                <a:latin typeface="Trebuchet MS"/>
                <a:cs typeface="Trebuchet MS"/>
              </a:rPr>
              <a:t> </a:t>
            </a:r>
            <a:r>
              <a:rPr sz="1200">
                <a:solidFill>
                  <a:srgbClr val="565656"/>
                </a:solidFill>
                <a:latin typeface="Trebuchet MS"/>
                <a:cs typeface="Trebuchet MS"/>
              </a:rPr>
              <a:t>wealth</a:t>
            </a:r>
            <a:r>
              <a:rPr sz="1200" spc="-60">
                <a:solidFill>
                  <a:srgbClr val="565656"/>
                </a:solidFill>
                <a:latin typeface="Trebuchet MS"/>
                <a:cs typeface="Trebuchet MS"/>
              </a:rPr>
              <a:t> </a:t>
            </a:r>
            <a:r>
              <a:rPr sz="1200">
                <a:solidFill>
                  <a:srgbClr val="565656"/>
                </a:solidFill>
                <a:latin typeface="Trebuchet MS"/>
                <a:cs typeface="Trebuchet MS"/>
              </a:rPr>
              <a:t>retail</a:t>
            </a:r>
            <a:r>
              <a:rPr sz="1200" spc="-65">
                <a:solidFill>
                  <a:srgbClr val="565656"/>
                </a:solidFill>
                <a:latin typeface="Trebuchet MS"/>
                <a:cs typeface="Trebuchet MS"/>
              </a:rPr>
              <a:t> </a:t>
            </a:r>
            <a:r>
              <a:rPr sz="1200" spc="-10">
                <a:solidFill>
                  <a:srgbClr val="565656"/>
                </a:solidFill>
                <a:latin typeface="Trebuchet MS"/>
                <a:cs typeface="Trebuchet MS"/>
              </a:rPr>
              <a:t>customers </a:t>
            </a:r>
            <a:r>
              <a:rPr sz="1200">
                <a:solidFill>
                  <a:srgbClr val="565656"/>
                </a:solidFill>
                <a:latin typeface="Trebuchet MS"/>
                <a:cs typeface="Trebuchet MS"/>
              </a:rPr>
              <a:t>with</a:t>
            </a:r>
            <a:r>
              <a:rPr sz="1200" spc="-35">
                <a:solidFill>
                  <a:srgbClr val="565656"/>
                </a:solidFill>
                <a:latin typeface="Trebuchet MS"/>
                <a:cs typeface="Trebuchet MS"/>
              </a:rPr>
              <a:t> </a:t>
            </a:r>
            <a:r>
              <a:rPr sz="1200">
                <a:solidFill>
                  <a:srgbClr val="565656"/>
                </a:solidFill>
                <a:latin typeface="Trebuchet MS"/>
                <a:cs typeface="Trebuchet MS"/>
              </a:rPr>
              <a:t>low</a:t>
            </a:r>
            <a:r>
              <a:rPr sz="1200" spc="-10">
                <a:solidFill>
                  <a:srgbClr val="565656"/>
                </a:solidFill>
                <a:latin typeface="Trebuchet MS"/>
                <a:cs typeface="Trebuchet MS"/>
              </a:rPr>
              <a:t> </a:t>
            </a:r>
            <a:r>
              <a:rPr sz="1200">
                <a:solidFill>
                  <a:srgbClr val="565656"/>
                </a:solidFill>
                <a:latin typeface="Trebuchet MS"/>
                <a:cs typeface="Trebuchet MS"/>
              </a:rPr>
              <a:t>Share</a:t>
            </a:r>
            <a:r>
              <a:rPr sz="1200" spc="-15">
                <a:solidFill>
                  <a:srgbClr val="565656"/>
                </a:solidFill>
                <a:latin typeface="Trebuchet MS"/>
                <a:cs typeface="Trebuchet MS"/>
              </a:rPr>
              <a:t> </a:t>
            </a:r>
            <a:r>
              <a:rPr sz="1200">
                <a:solidFill>
                  <a:srgbClr val="565656"/>
                </a:solidFill>
                <a:latin typeface="Trebuchet MS"/>
                <a:cs typeface="Trebuchet MS"/>
              </a:rPr>
              <a:t>of</a:t>
            </a:r>
            <a:r>
              <a:rPr sz="1200" spc="-40">
                <a:solidFill>
                  <a:srgbClr val="565656"/>
                </a:solidFill>
                <a:latin typeface="Trebuchet MS"/>
                <a:cs typeface="Trebuchet MS"/>
              </a:rPr>
              <a:t> </a:t>
            </a:r>
            <a:r>
              <a:rPr sz="1200" spc="-10">
                <a:solidFill>
                  <a:srgbClr val="565656"/>
                </a:solidFill>
                <a:latin typeface="Trebuchet MS"/>
                <a:cs typeface="Trebuchet MS"/>
              </a:rPr>
              <a:t>Wallet</a:t>
            </a:r>
            <a:r>
              <a:rPr sz="1200" spc="-5">
                <a:solidFill>
                  <a:srgbClr val="565656"/>
                </a:solidFill>
                <a:latin typeface="Trebuchet MS"/>
                <a:cs typeface="Trebuchet MS"/>
              </a:rPr>
              <a:t> </a:t>
            </a:r>
            <a:r>
              <a:rPr sz="1200" spc="-65">
                <a:solidFill>
                  <a:srgbClr val="565656"/>
                </a:solidFill>
                <a:latin typeface="Trebuchet MS"/>
                <a:cs typeface="Trebuchet MS"/>
              </a:rPr>
              <a:t>w.r.t</a:t>
            </a:r>
            <a:r>
              <a:rPr sz="1200" spc="-75">
                <a:solidFill>
                  <a:srgbClr val="565656"/>
                </a:solidFill>
                <a:latin typeface="Trebuchet MS"/>
                <a:cs typeface="Trebuchet MS"/>
              </a:rPr>
              <a:t> </a:t>
            </a:r>
            <a:r>
              <a:rPr lang="en-US" sz="1200" err="1">
                <a:solidFill>
                  <a:srgbClr val="565656"/>
                </a:solidFill>
                <a:latin typeface="Trebuchet MS"/>
                <a:cs typeface="Trebuchet MS"/>
              </a:rPr>
              <a:t>AuM</a:t>
            </a:r>
            <a:r>
              <a:rPr sz="1200" spc="-5">
                <a:solidFill>
                  <a:srgbClr val="565656"/>
                </a:solidFill>
                <a:latin typeface="Trebuchet MS"/>
                <a:cs typeface="Trebuchet MS"/>
              </a:rPr>
              <a:t> </a:t>
            </a:r>
            <a:r>
              <a:rPr sz="1200">
                <a:solidFill>
                  <a:srgbClr val="565656"/>
                </a:solidFill>
                <a:latin typeface="Trebuchet MS"/>
                <a:cs typeface="Trebuchet MS"/>
              </a:rPr>
              <a:t>at</a:t>
            </a:r>
            <a:r>
              <a:rPr sz="1200" spc="-20">
                <a:solidFill>
                  <a:srgbClr val="565656"/>
                </a:solidFill>
                <a:latin typeface="Trebuchet MS"/>
                <a:cs typeface="Trebuchet MS"/>
              </a:rPr>
              <a:t> </a:t>
            </a:r>
            <a:r>
              <a:rPr sz="1200" spc="-10">
                <a:solidFill>
                  <a:srgbClr val="565656"/>
                </a:solidFill>
                <a:latin typeface="Trebuchet MS"/>
                <a:cs typeface="Trebuchet MS"/>
              </a:rPr>
              <a:t>CLIENT</a:t>
            </a:r>
            <a:endParaRPr sz="1200">
              <a:latin typeface="Trebuchet MS"/>
              <a:cs typeface="Trebuchet MS"/>
            </a:endParaRPr>
          </a:p>
        </p:txBody>
      </p:sp>
      <p:sp>
        <p:nvSpPr>
          <p:cNvPr id="14" name="object 14"/>
          <p:cNvSpPr/>
          <p:nvPr/>
        </p:nvSpPr>
        <p:spPr>
          <a:xfrm>
            <a:off x="2607564" y="2465832"/>
            <a:ext cx="561340" cy="471170"/>
          </a:xfrm>
          <a:custGeom>
            <a:avLst/>
            <a:gdLst/>
            <a:ahLst/>
            <a:cxnLst/>
            <a:rect l="l" t="t" r="r" b="b"/>
            <a:pathLst>
              <a:path w="561339" h="471169">
                <a:moveTo>
                  <a:pt x="0" y="470915"/>
                </a:moveTo>
                <a:lnTo>
                  <a:pt x="560832" y="470915"/>
                </a:lnTo>
                <a:lnTo>
                  <a:pt x="560832" y="0"/>
                </a:lnTo>
                <a:lnTo>
                  <a:pt x="0" y="0"/>
                </a:lnTo>
                <a:lnTo>
                  <a:pt x="0" y="470915"/>
                </a:lnTo>
                <a:close/>
              </a:path>
            </a:pathLst>
          </a:custGeom>
          <a:ln w="9525">
            <a:solidFill>
              <a:srgbClr val="29B974"/>
            </a:solidFill>
          </a:ln>
        </p:spPr>
        <p:txBody>
          <a:bodyPr wrap="square" lIns="0" tIns="0" rIns="0" bIns="0" rtlCol="0"/>
          <a:lstStyle/>
          <a:p>
            <a:endParaRPr/>
          </a:p>
        </p:txBody>
      </p:sp>
      <p:sp>
        <p:nvSpPr>
          <p:cNvPr id="15" name="object 15"/>
          <p:cNvSpPr txBox="1"/>
          <p:nvPr/>
        </p:nvSpPr>
        <p:spPr>
          <a:xfrm>
            <a:off x="2602801" y="2461069"/>
            <a:ext cx="570865" cy="480695"/>
          </a:xfrm>
          <a:prstGeom prst="rect">
            <a:avLst/>
          </a:prstGeom>
          <a:solidFill>
            <a:srgbClr val="29B974"/>
          </a:solidFill>
        </p:spPr>
        <p:txBody>
          <a:bodyPr vert="horz" wrap="square" lIns="0" tIns="112395" rIns="0" bIns="0" rtlCol="0">
            <a:spAutoFit/>
          </a:bodyPr>
          <a:lstStyle/>
          <a:p>
            <a:pPr marL="161925">
              <a:lnSpc>
                <a:spcPct val="100000"/>
              </a:lnSpc>
              <a:spcBef>
                <a:spcPts val="885"/>
              </a:spcBef>
            </a:pPr>
            <a:r>
              <a:rPr sz="1600" b="1" spc="-25">
                <a:solidFill>
                  <a:srgbClr val="FFFFFF"/>
                </a:solidFill>
                <a:latin typeface="Trebuchet MS"/>
                <a:cs typeface="Trebuchet MS"/>
              </a:rPr>
              <a:t>A2</a:t>
            </a:r>
            <a:endParaRPr sz="1600">
              <a:latin typeface="Trebuchet MS"/>
              <a:cs typeface="Trebuchet MS"/>
            </a:endParaRPr>
          </a:p>
        </p:txBody>
      </p:sp>
      <p:grpSp>
        <p:nvGrpSpPr>
          <p:cNvPr id="16" name="object 16"/>
          <p:cNvGrpSpPr/>
          <p:nvPr/>
        </p:nvGrpSpPr>
        <p:grpSpPr>
          <a:xfrm>
            <a:off x="624649" y="1854517"/>
            <a:ext cx="491490" cy="2963545"/>
            <a:chOff x="624649" y="1854517"/>
            <a:chExt cx="491490" cy="2963545"/>
          </a:xfrm>
        </p:grpSpPr>
        <p:sp>
          <p:nvSpPr>
            <p:cNvPr id="17" name="object 17"/>
            <p:cNvSpPr/>
            <p:nvPr/>
          </p:nvSpPr>
          <p:spPr>
            <a:xfrm>
              <a:off x="629412" y="1859279"/>
              <a:ext cx="481965" cy="2954020"/>
            </a:xfrm>
            <a:custGeom>
              <a:avLst/>
              <a:gdLst/>
              <a:ahLst/>
              <a:cxnLst/>
              <a:rect l="l" t="t" r="r" b="b"/>
              <a:pathLst>
                <a:path w="481965" h="2954020">
                  <a:moveTo>
                    <a:pt x="481584" y="0"/>
                  </a:moveTo>
                  <a:lnTo>
                    <a:pt x="0" y="0"/>
                  </a:lnTo>
                  <a:lnTo>
                    <a:pt x="0" y="2953512"/>
                  </a:lnTo>
                  <a:lnTo>
                    <a:pt x="481584" y="2953512"/>
                  </a:lnTo>
                  <a:lnTo>
                    <a:pt x="481584" y="0"/>
                  </a:lnTo>
                  <a:close/>
                </a:path>
              </a:pathLst>
            </a:custGeom>
            <a:solidFill>
              <a:srgbClr val="9A9A9A"/>
            </a:solidFill>
          </p:spPr>
          <p:txBody>
            <a:bodyPr wrap="square" lIns="0" tIns="0" rIns="0" bIns="0" rtlCol="0"/>
            <a:lstStyle/>
            <a:p>
              <a:endParaRPr/>
            </a:p>
          </p:txBody>
        </p:sp>
        <p:sp>
          <p:nvSpPr>
            <p:cNvPr id="18" name="object 18"/>
            <p:cNvSpPr/>
            <p:nvPr/>
          </p:nvSpPr>
          <p:spPr>
            <a:xfrm>
              <a:off x="629412" y="1859279"/>
              <a:ext cx="481965" cy="2954020"/>
            </a:xfrm>
            <a:custGeom>
              <a:avLst/>
              <a:gdLst/>
              <a:ahLst/>
              <a:cxnLst/>
              <a:rect l="l" t="t" r="r" b="b"/>
              <a:pathLst>
                <a:path w="481965" h="2954020">
                  <a:moveTo>
                    <a:pt x="0" y="2953512"/>
                  </a:moveTo>
                  <a:lnTo>
                    <a:pt x="481584" y="2953512"/>
                  </a:lnTo>
                  <a:lnTo>
                    <a:pt x="481584" y="0"/>
                  </a:lnTo>
                  <a:lnTo>
                    <a:pt x="0" y="0"/>
                  </a:lnTo>
                  <a:lnTo>
                    <a:pt x="0" y="2953512"/>
                  </a:lnTo>
                  <a:close/>
                </a:path>
              </a:pathLst>
            </a:custGeom>
            <a:ln w="9525">
              <a:solidFill>
                <a:srgbClr val="9A9A9A"/>
              </a:solidFill>
            </a:ln>
          </p:spPr>
          <p:txBody>
            <a:bodyPr wrap="square" lIns="0" tIns="0" rIns="0" bIns="0" rtlCol="0"/>
            <a:lstStyle/>
            <a:p>
              <a:endParaRPr/>
            </a:p>
          </p:txBody>
        </p:sp>
      </p:grpSp>
      <p:sp>
        <p:nvSpPr>
          <p:cNvPr id="19" name="object 19"/>
          <p:cNvSpPr txBox="1"/>
          <p:nvPr/>
        </p:nvSpPr>
        <p:spPr>
          <a:xfrm>
            <a:off x="771708" y="2777822"/>
            <a:ext cx="202565" cy="1121410"/>
          </a:xfrm>
          <a:prstGeom prst="rect">
            <a:avLst/>
          </a:prstGeom>
        </p:spPr>
        <p:txBody>
          <a:bodyPr vert="vert270" wrap="square" lIns="0" tIns="3175" rIns="0" bIns="0" rtlCol="0">
            <a:spAutoFit/>
          </a:bodyPr>
          <a:lstStyle/>
          <a:p>
            <a:pPr marL="12700">
              <a:lnSpc>
                <a:spcPct val="100000"/>
              </a:lnSpc>
              <a:spcBef>
                <a:spcPts val="25"/>
              </a:spcBef>
            </a:pPr>
            <a:r>
              <a:rPr sz="1200">
                <a:solidFill>
                  <a:srgbClr val="FFFFFF"/>
                </a:solidFill>
                <a:latin typeface="Trebuchet MS"/>
                <a:cs typeface="Trebuchet MS"/>
              </a:rPr>
              <a:t>Analytics</a:t>
            </a:r>
            <a:r>
              <a:rPr sz="1200" spc="-60">
                <a:solidFill>
                  <a:srgbClr val="FFFFFF"/>
                </a:solidFill>
                <a:latin typeface="Trebuchet MS"/>
                <a:cs typeface="Trebuchet MS"/>
              </a:rPr>
              <a:t> </a:t>
            </a:r>
            <a:r>
              <a:rPr sz="1200" spc="-10">
                <a:solidFill>
                  <a:srgbClr val="FFFFFF"/>
                </a:solidFill>
                <a:latin typeface="Trebuchet MS"/>
                <a:cs typeface="Trebuchet MS"/>
              </a:rPr>
              <a:t>Driven</a:t>
            </a:r>
            <a:endParaRPr sz="1200">
              <a:latin typeface="Trebuchet MS"/>
              <a:cs typeface="Trebuchet MS"/>
            </a:endParaRPr>
          </a:p>
        </p:txBody>
      </p:sp>
      <p:grpSp>
        <p:nvGrpSpPr>
          <p:cNvPr id="20" name="object 20"/>
          <p:cNvGrpSpPr/>
          <p:nvPr/>
        </p:nvGrpSpPr>
        <p:grpSpPr>
          <a:xfrm>
            <a:off x="624649" y="4969573"/>
            <a:ext cx="491490" cy="1076325"/>
            <a:chOff x="624649" y="4969573"/>
            <a:chExt cx="491490" cy="1076325"/>
          </a:xfrm>
        </p:grpSpPr>
        <p:sp>
          <p:nvSpPr>
            <p:cNvPr id="21" name="object 21"/>
            <p:cNvSpPr/>
            <p:nvPr/>
          </p:nvSpPr>
          <p:spPr>
            <a:xfrm>
              <a:off x="629412" y="4974335"/>
              <a:ext cx="481965" cy="1066800"/>
            </a:xfrm>
            <a:custGeom>
              <a:avLst/>
              <a:gdLst/>
              <a:ahLst/>
              <a:cxnLst/>
              <a:rect l="l" t="t" r="r" b="b"/>
              <a:pathLst>
                <a:path w="481965" h="1066800">
                  <a:moveTo>
                    <a:pt x="481584" y="0"/>
                  </a:moveTo>
                  <a:lnTo>
                    <a:pt x="0" y="0"/>
                  </a:lnTo>
                  <a:lnTo>
                    <a:pt x="0" y="1066800"/>
                  </a:lnTo>
                  <a:lnTo>
                    <a:pt x="481584" y="1066800"/>
                  </a:lnTo>
                  <a:lnTo>
                    <a:pt x="481584" y="0"/>
                  </a:lnTo>
                  <a:close/>
                </a:path>
              </a:pathLst>
            </a:custGeom>
            <a:solidFill>
              <a:srgbClr val="9A9A9A"/>
            </a:solidFill>
          </p:spPr>
          <p:txBody>
            <a:bodyPr wrap="square" lIns="0" tIns="0" rIns="0" bIns="0" rtlCol="0"/>
            <a:lstStyle/>
            <a:p>
              <a:endParaRPr/>
            </a:p>
          </p:txBody>
        </p:sp>
        <p:sp>
          <p:nvSpPr>
            <p:cNvPr id="22" name="object 22"/>
            <p:cNvSpPr/>
            <p:nvPr/>
          </p:nvSpPr>
          <p:spPr>
            <a:xfrm>
              <a:off x="629412" y="4974335"/>
              <a:ext cx="481965" cy="1066800"/>
            </a:xfrm>
            <a:custGeom>
              <a:avLst/>
              <a:gdLst/>
              <a:ahLst/>
              <a:cxnLst/>
              <a:rect l="l" t="t" r="r" b="b"/>
              <a:pathLst>
                <a:path w="481965" h="1066800">
                  <a:moveTo>
                    <a:pt x="0" y="1066800"/>
                  </a:moveTo>
                  <a:lnTo>
                    <a:pt x="481584" y="1066800"/>
                  </a:lnTo>
                  <a:lnTo>
                    <a:pt x="481584" y="0"/>
                  </a:lnTo>
                  <a:lnTo>
                    <a:pt x="0" y="0"/>
                  </a:lnTo>
                  <a:lnTo>
                    <a:pt x="0" y="1066800"/>
                  </a:lnTo>
                  <a:close/>
                </a:path>
              </a:pathLst>
            </a:custGeom>
            <a:ln w="9525">
              <a:solidFill>
                <a:srgbClr val="9A9A9A"/>
              </a:solidFill>
            </a:ln>
          </p:spPr>
          <p:txBody>
            <a:bodyPr wrap="square" lIns="0" tIns="0" rIns="0" bIns="0" rtlCol="0"/>
            <a:lstStyle/>
            <a:p>
              <a:endParaRPr/>
            </a:p>
          </p:txBody>
        </p:sp>
      </p:grpSp>
      <p:sp>
        <p:nvSpPr>
          <p:cNvPr id="23" name="object 23"/>
          <p:cNvSpPr txBox="1"/>
          <p:nvPr/>
        </p:nvSpPr>
        <p:spPr>
          <a:xfrm>
            <a:off x="679677" y="5214515"/>
            <a:ext cx="386080" cy="589915"/>
          </a:xfrm>
          <a:prstGeom prst="rect">
            <a:avLst/>
          </a:prstGeom>
        </p:spPr>
        <p:txBody>
          <a:bodyPr vert="vert270" wrap="square" lIns="0" tIns="3810" rIns="0" bIns="0" rtlCol="0">
            <a:spAutoFit/>
          </a:bodyPr>
          <a:lstStyle/>
          <a:p>
            <a:pPr marL="12700">
              <a:lnSpc>
                <a:spcPct val="100000"/>
              </a:lnSpc>
              <a:spcBef>
                <a:spcPts val="30"/>
              </a:spcBef>
            </a:pPr>
            <a:r>
              <a:rPr sz="1200" spc="-10">
                <a:solidFill>
                  <a:srgbClr val="FFFFFF"/>
                </a:solidFill>
                <a:latin typeface="Trebuchet MS"/>
                <a:cs typeface="Trebuchet MS"/>
              </a:rPr>
              <a:t>Business</a:t>
            </a:r>
            <a:endParaRPr sz="1200">
              <a:latin typeface="Trebuchet MS"/>
              <a:cs typeface="Trebuchet MS"/>
            </a:endParaRPr>
          </a:p>
          <a:p>
            <a:pPr marL="74930">
              <a:lnSpc>
                <a:spcPct val="100000"/>
              </a:lnSpc>
            </a:pPr>
            <a:r>
              <a:rPr sz="1200" spc="-10">
                <a:solidFill>
                  <a:srgbClr val="FFFFFF"/>
                </a:solidFill>
                <a:latin typeface="Trebuchet MS"/>
                <a:cs typeface="Trebuchet MS"/>
              </a:rPr>
              <a:t>Driven</a:t>
            </a:r>
            <a:endParaRPr sz="1200">
              <a:latin typeface="Trebuchet MS"/>
              <a:cs typeface="Trebuchet MS"/>
            </a:endParaRPr>
          </a:p>
        </p:txBody>
      </p:sp>
      <p:sp>
        <p:nvSpPr>
          <p:cNvPr id="24" name="object 24"/>
          <p:cNvSpPr/>
          <p:nvPr/>
        </p:nvSpPr>
        <p:spPr>
          <a:xfrm>
            <a:off x="3168395" y="3072383"/>
            <a:ext cx="3716020" cy="471170"/>
          </a:xfrm>
          <a:custGeom>
            <a:avLst/>
            <a:gdLst/>
            <a:ahLst/>
            <a:cxnLst/>
            <a:rect l="l" t="t" r="r" b="b"/>
            <a:pathLst>
              <a:path w="3716020" h="471170">
                <a:moveTo>
                  <a:pt x="0" y="470915"/>
                </a:moveTo>
                <a:lnTo>
                  <a:pt x="3715511" y="470915"/>
                </a:lnTo>
                <a:lnTo>
                  <a:pt x="3715511" y="0"/>
                </a:lnTo>
                <a:lnTo>
                  <a:pt x="0" y="0"/>
                </a:lnTo>
                <a:lnTo>
                  <a:pt x="0" y="470915"/>
                </a:lnTo>
                <a:close/>
              </a:path>
            </a:pathLst>
          </a:custGeom>
          <a:ln w="9525">
            <a:solidFill>
              <a:srgbClr val="D3DF33"/>
            </a:solidFill>
          </a:ln>
        </p:spPr>
        <p:txBody>
          <a:bodyPr wrap="square" lIns="0" tIns="0" rIns="0" bIns="0" rtlCol="0"/>
          <a:lstStyle/>
          <a:p>
            <a:endParaRPr/>
          </a:p>
        </p:txBody>
      </p:sp>
      <p:sp>
        <p:nvSpPr>
          <p:cNvPr id="25" name="object 25"/>
          <p:cNvSpPr txBox="1"/>
          <p:nvPr/>
        </p:nvSpPr>
        <p:spPr>
          <a:xfrm>
            <a:off x="3173158" y="3108452"/>
            <a:ext cx="3706495" cy="391795"/>
          </a:xfrm>
          <a:prstGeom prst="rect">
            <a:avLst/>
          </a:prstGeom>
        </p:spPr>
        <p:txBody>
          <a:bodyPr vert="horz" wrap="square" lIns="0" tIns="12700" rIns="0" bIns="0" rtlCol="0">
            <a:spAutoFit/>
          </a:bodyPr>
          <a:lstStyle/>
          <a:p>
            <a:pPr marL="87630">
              <a:lnSpc>
                <a:spcPct val="100000"/>
              </a:lnSpc>
              <a:spcBef>
                <a:spcPts val="100"/>
              </a:spcBef>
            </a:pPr>
            <a:r>
              <a:rPr sz="1200" b="1">
                <a:solidFill>
                  <a:srgbClr val="565656"/>
                </a:solidFill>
                <a:latin typeface="Trebuchet MS"/>
                <a:cs typeface="Trebuchet MS"/>
              </a:rPr>
              <a:t>Retention:</a:t>
            </a:r>
            <a:r>
              <a:rPr sz="1200" b="1" spc="-35">
                <a:solidFill>
                  <a:srgbClr val="565656"/>
                </a:solidFill>
                <a:latin typeface="Trebuchet MS"/>
                <a:cs typeface="Trebuchet MS"/>
              </a:rPr>
              <a:t> </a:t>
            </a:r>
            <a:r>
              <a:rPr sz="1200">
                <a:solidFill>
                  <a:srgbClr val="565656"/>
                </a:solidFill>
                <a:latin typeface="Trebuchet MS"/>
                <a:cs typeface="Trebuchet MS"/>
              </a:rPr>
              <a:t>Identify</a:t>
            </a:r>
            <a:r>
              <a:rPr sz="1200" spc="-70">
                <a:solidFill>
                  <a:srgbClr val="565656"/>
                </a:solidFill>
                <a:latin typeface="Trebuchet MS"/>
                <a:cs typeface="Trebuchet MS"/>
              </a:rPr>
              <a:t> </a:t>
            </a:r>
            <a:r>
              <a:rPr sz="1200">
                <a:solidFill>
                  <a:srgbClr val="565656"/>
                </a:solidFill>
                <a:latin typeface="Trebuchet MS"/>
                <a:cs typeface="Trebuchet MS"/>
              </a:rPr>
              <a:t>customers</a:t>
            </a:r>
            <a:r>
              <a:rPr sz="1200" spc="-35">
                <a:solidFill>
                  <a:srgbClr val="565656"/>
                </a:solidFill>
                <a:latin typeface="Trebuchet MS"/>
                <a:cs typeface="Trebuchet MS"/>
              </a:rPr>
              <a:t> </a:t>
            </a:r>
            <a:r>
              <a:rPr sz="1200">
                <a:solidFill>
                  <a:srgbClr val="565656"/>
                </a:solidFill>
                <a:latin typeface="Trebuchet MS"/>
                <a:cs typeface="Trebuchet MS"/>
              </a:rPr>
              <a:t>most</a:t>
            </a:r>
            <a:r>
              <a:rPr sz="1200" spc="-35">
                <a:solidFill>
                  <a:srgbClr val="565656"/>
                </a:solidFill>
                <a:latin typeface="Trebuchet MS"/>
                <a:cs typeface="Trebuchet MS"/>
              </a:rPr>
              <a:t> </a:t>
            </a:r>
            <a:r>
              <a:rPr sz="1200">
                <a:solidFill>
                  <a:srgbClr val="565656"/>
                </a:solidFill>
                <a:latin typeface="Trebuchet MS"/>
                <a:cs typeface="Trebuchet MS"/>
              </a:rPr>
              <a:t>likely</a:t>
            </a:r>
            <a:r>
              <a:rPr sz="1200" spc="-50">
                <a:solidFill>
                  <a:srgbClr val="565656"/>
                </a:solidFill>
                <a:latin typeface="Trebuchet MS"/>
                <a:cs typeface="Trebuchet MS"/>
              </a:rPr>
              <a:t> </a:t>
            </a:r>
            <a:r>
              <a:rPr sz="1200">
                <a:solidFill>
                  <a:srgbClr val="565656"/>
                </a:solidFill>
                <a:latin typeface="Trebuchet MS"/>
                <a:cs typeface="Trebuchet MS"/>
              </a:rPr>
              <a:t>to</a:t>
            </a:r>
            <a:r>
              <a:rPr sz="1200" spc="-30">
                <a:solidFill>
                  <a:srgbClr val="565656"/>
                </a:solidFill>
                <a:latin typeface="Trebuchet MS"/>
                <a:cs typeface="Trebuchet MS"/>
              </a:rPr>
              <a:t> </a:t>
            </a:r>
            <a:r>
              <a:rPr sz="1200" spc="-10">
                <a:solidFill>
                  <a:srgbClr val="565656"/>
                </a:solidFill>
                <a:latin typeface="Trebuchet MS"/>
                <a:cs typeface="Trebuchet MS"/>
              </a:rPr>
              <a:t>leave</a:t>
            </a:r>
            <a:endParaRPr sz="1200">
              <a:latin typeface="Trebuchet MS"/>
              <a:cs typeface="Trebuchet MS"/>
            </a:endParaRPr>
          </a:p>
          <a:p>
            <a:pPr marL="87630">
              <a:lnSpc>
                <a:spcPct val="100000"/>
              </a:lnSpc>
            </a:pPr>
            <a:r>
              <a:rPr sz="1200">
                <a:solidFill>
                  <a:srgbClr val="565656"/>
                </a:solidFill>
                <a:latin typeface="Trebuchet MS"/>
                <a:cs typeface="Trebuchet MS"/>
              </a:rPr>
              <a:t>CLIENT</a:t>
            </a:r>
            <a:r>
              <a:rPr sz="1200" spc="-45">
                <a:solidFill>
                  <a:srgbClr val="565656"/>
                </a:solidFill>
                <a:latin typeface="Trebuchet MS"/>
                <a:cs typeface="Trebuchet MS"/>
              </a:rPr>
              <a:t> </a:t>
            </a:r>
            <a:r>
              <a:rPr sz="1200" spc="-10">
                <a:solidFill>
                  <a:srgbClr val="565656"/>
                </a:solidFill>
                <a:latin typeface="Trebuchet MS"/>
                <a:cs typeface="Trebuchet MS"/>
              </a:rPr>
              <a:t>3-</a:t>
            </a:r>
            <a:r>
              <a:rPr sz="1200">
                <a:solidFill>
                  <a:srgbClr val="565656"/>
                </a:solidFill>
                <a:latin typeface="Trebuchet MS"/>
                <a:cs typeface="Trebuchet MS"/>
              </a:rPr>
              <a:t>6</a:t>
            </a:r>
            <a:r>
              <a:rPr sz="1200" spc="-10">
                <a:solidFill>
                  <a:srgbClr val="565656"/>
                </a:solidFill>
                <a:latin typeface="Trebuchet MS"/>
                <a:cs typeface="Trebuchet MS"/>
              </a:rPr>
              <a:t> </a:t>
            </a:r>
            <a:r>
              <a:rPr sz="1200">
                <a:solidFill>
                  <a:srgbClr val="565656"/>
                </a:solidFill>
                <a:latin typeface="Trebuchet MS"/>
                <a:cs typeface="Trebuchet MS"/>
              </a:rPr>
              <a:t>months</a:t>
            </a:r>
            <a:r>
              <a:rPr sz="1200" spc="-20">
                <a:solidFill>
                  <a:srgbClr val="565656"/>
                </a:solidFill>
                <a:latin typeface="Trebuchet MS"/>
                <a:cs typeface="Trebuchet MS"/>
              </a:rPr>
              <a:t> </a:t>
            </a:r>
            <a:r>
              <a:rPr sz="1200">
                <a:solidFill>
                  <a:srgbClr val="565656"/>
                </a:solidFill>
                <a:latin typeface="Trebuchet MS"/>
                <a:cs typeface="Trebuchet MS"/>
              </a:rPr>
              <a:t>in</a:t>
            </a:r>
            <a:r>
              <a:rPr sz="1200" spc="-20">
                <a:solidFill>
                  <a:srgbClr val="565656"/>
                </a:solidFill>
                <a:latin typeface="Trebuchet MS"/>
                <a:cs typeface="Trebuchet MS"/>
              </a:rPr>
              <a:t> </a:t>
            </a:r>
            <a:r>
              <a:rPr sz="1200" spc="-10">
                <a:solidFill>
                  <a:srgbClr val="565656"/>
                </a:solidFill>
                <a:latin typeface="Trebuchet MS"/>
                <a:cs typeface="Trebuchet MS"/>
              </a:rPr>
              <a:t>advance</a:t>
            </a:r>
            <a:endParaRPr sz="1200">
              <a:latin typeface="Trebuchet MS"/>
              <a:cs typeface="Trebuchet MS"/>
            </a:endParaRPr>
          </a:p>
        </p:txBody>
      </p:sp>
      <p:sp>
        <p:nvSpPr>
          <p:cNvPr id="26" name="object 26"/>
          <p:cNvSpPr/>
          <p:nvPr/>
        </p:nvSpPr>
        <p:spPr>
          <a:xfrm>
            <a:off x="2607564" y="3072383"/>
            <a:ext cx="561340" cy="471170"/>
          </a:xfrm>
          <a:custGeom>
            <a:avLst/>
            <a:gdLst/>
            <a:ahLst/>
            <a:cxnLst/>
            <a:rect l="l" t="t" r="r" b="b"/>
            <a:pathLst>
              <a:path w="561339" h="471170">
                <a:moveTo>
                  <a:pt x="0" y="470915"/>
                </a:moveTo>
                <a:lnTo>
                  <a:pt x="560832" y="470915"/>
                </a:lnTo>
                <a:lnTo>
                  <a:pt x="560832" y="0"/>
                </a:lnTo>
                <a:lnTo>
                  <a:pt x="0" y="0"/>
                </a:lnTo>
                <a:lnTo>
                  <a:pt x="0" y="470915"/>
                </a:lnTo>
                <a:close/>
              </a:path>
            </a:pathLst>
          </a:custGeom>
          <a:ln w="9525">
            <a:solidFill>
              <a:srgbClr val="D3DF33"/>
            </a:solidFill>
          </a:ln>
        </p:spPr>
        <p:txBody>
          <a:bodyPr wrap="square" lIns="0" tIns="0" rIns="0" bIns="0" rtlCol="0"/>
          <a:lstStyle/>
          <a:p>
            <a:endParaRPr/>
          </a:p>
        </p:txBody>
      </p:sp>
      <p:sp>
        <p:nvSpPr>
          <p:cNvPr id="27" name="object 27"/>
          <p:cNvSpPr txBox="1"/>
          <p:nvPr/>
        </p:nvSpPr>
        <p:spPr>
          <a:xfrm>
            <a:off x="2602801" y="3067621"/>
            <a:ext cx="570865" cy="480695"/>
          </a:xfrm>
          <a:prstGeom prst="rect">
            <a:avLst/>
          </a:prstGeom>
          <a:solidFill>
            <a:srgbClr val="D3DF33"/>
          </a:solidFill>
        </p:spPr>
        <p:txBody>
          <a:bodyPr vert="horz" wrap="square" lIns="0" tIns="112395" rIns="0" bIns="0" rtlCol="0">
            <a:spAutoFit/>
          </a:bodyPr>
          <a:lstStyle/>
          <a:p>
            <a:pPr marL="161925">
              <a:lnSpc>
                <a:spcPct val="100000"/>
              </a:lnSpc>
              <a:spcBef>
                <a:spcPts val="885"/>
              </a:spcBef>
            </a:pPr>
            <a:r>
              <a:rPr sz="1600" b="1" spc="-25">
                <a:solidFill>
                  <a:srgbClr val="6D6E73"/>
                </a:solidFill>
                <a:latin typeface="Trebuchet MS"/>
                <a:cs typeface="Trebuchet MS"/>
              </a:rPr>
              <a:t>A3</a:t>
            </a:r>
            <a:endParaRPr sz="1600">
              <a:latin typeface="Trebuchet MS"/>
              <a:cs typeface="Trebuchet MS"/>
            </a:endParaRPr>
          </a:p>
        </p:txBody>
      </p:sp>
      <p:sp>
        <p:nvSpPr>
          <p:cNvPr id="28" name="object 28"/>
          <p:cNvSpPr/>
          <p:nvPr/>
        </p:nvSpPr>
        <p:spPr>
          <a:xfrm>
            <a:off x="3168395" y="3659123"/>
            <a:ext cx="3716020" cy="471170"/>
          </a:xfrm>
          <a:custGeom>
            <a:avLst/>
            <a:gdLst/>
            <a:ahLst/>
            <a:cxnLst/>
            <a:rect l="l" t="t" r="r" b="b"/>
            <a:pathLst>
              <a:path w="3716020" h="471170">
                <a:moveTo>
                  <a:pt x="0" y="470915"/>
                </a:moveTo>
                <a:lnTo>
                  <a:pt x="3715511" y="470915"/>
                </a:lnTo>
                <a:lnTo>
                  <a:pt x="3715511" y="0"/>
                </a:lnTo>
                <a:lnTo>
                  <a:pt x="0" y="0"/>
                </a:lnTo>
                <a:lnTo>
                  <a:pt x="0" y="470915"/>
                </a:lnTo>
                <a:close/>
              </a:path>
            </a:pathLst>
          </a:custGeom>
          <a:ln w="9525">
            <a:solidFill>
              <a:srgbClr val="29B974"/>
            </a:solidFill>
          </a:ln>
        </p:spPr>
        <p:txBody>
          <a:bodyPr wrap="square" lIns="0" tIns="0" rIns="0" bIns="0" rtlCol="0"/>
          <a:lstStyle/>
          <a:p>
            <a:endParaRPr/>
          </a:p>
        </p:txBody>
      </p:sp>
      <p:sp>
        <p:nvSpPr>
          <p:cNvPr id="29" name="object 29"/>
          <p:cNvSpPr txBox="1"/>
          <p:nvPr/>
        </p:nvSpPr>
        <p:spPr>
          <a:xfrm>
            <a:off x="3173158" y="3695827"/>
            <a:ext cx="3706495" cy="391160"/>
          </a:xfrm>
          <a:prstGeom prst="rect">
            <a:avLst/>
          </a:prstGeom>
        </p:spPr>
        <p:txBody>
          <a:bodyPr vert="horz" wrap="square" lIns="0" tIns="12700" rIns="0" bIns="0" rtlCol="0">
            <a:spAutoFit/>
          </a:bodyPr>
          <a:lstStyle/>
          <a:p>
            <a:pPr marL="87630" marR="398780">
              <a:lnSpc>
                <a:spcPct val="100000"/>
              </a:lnSpc>
              <a:spcBef>
                <a:spcPts val="100"/>
              </a:spcBef>
            </a:pPr>
            <a:r>
              <a:rPr sz="1200" b="1">
                <a:solidFill>
                  <a:srgbClr val="565656"/>
                </a:solidFill>
                <a:latin typeface="Trebuchet MS"/>
                <a:cs typeface="Trebuchet MS"/>
              </a:rPr>
              <a:t>Leakers:</a:t>
            </a:r>
            <a:r>
              <a:rPr sz="1200" b="1" spc="-25">
                <a:solidFill>
                  <a:srgbClr val="565656"/>
                </a:solidFill>
                <a:latin typeface="Trebuchet MS"/>
                <a:cs typeface="Trebuchet MS"/>
              </a:rPr>
              <a:t> </a:t>
            </a:r>
            <a:r>
              <a:rPr sz="1200">
                <a:solidFill>
                  <a:srgbClr val="565656"/>
                </a:solidFill>
                <a:latin typeface="Trebuchet MS"/>
                <a:cs typeface="Trebuchet MS"/>
              </a:rPr>
              <a:t>Statistical</a:t>
            </a:r>
            <a:r>
              <a:rPr sz="1200" spc="-60">
                <a:solidFill>
                  <a:srgbClr val="565656"/>
                </a:solidFill>
                <a:latin typeface="Trebuchet MS"/>
                <a:cs typeface="Trebuchet MS"/>
              </a:rPr>
              <a:t> </a:t>
            </a:r>
            <a:r>
              <a:rPr sz="1200">
                <a:solidFill>
                  <a:srgbClr val="565656"/>
                </a:solidFill>
                <a:latin typeface="Trebuchet MS"/>
                <a:cs typeface="Trebuchet MS"/>
              </a:rPr>
              <a:t>rules</a:t>
            </a:r>
            <a:r>
              <a:rPr sz="1200" spc="-40">
                <a:solidFill>
                  <a:srgbClr val="565656"/>
                </a:solidFill>
                <a:latin typeface="Trebuchet MS"/>
                <a:cs typeface="Trebuchet MS"/>
              </a:rPr>
              <a:t> </a:t>
            </a:r>
            <a:r>
              <a:rPr sz="1200">
                <a:solidFill>
                  <a:srgbClr val="565656"/>
                </a:solidFill>
                <a:latin typeface="Trebuchet MS"/>
                <a:cs typeface="Trebuchet MS"/>
              </a:rPr>
              <a:t>to</a:t>
            </a:r>
            <a:r>
              <a:rPr sz="1200" spc="-20">
                <a:solidFill>
                  <a:srgbClr val="565656"/>
                </a:solidFill>
                <a:latin typeface="Trebuchet MS"/>
                <a:cs typeface="Trebuchet MS"/>
              </a:rPr>
              <a:t> </a:t>
            </a:r>
            <a:r>
              <a:rPr sz="1200">
                <a:solidFill>
                  <a:srgbClr val="565656"/>
                </a:solidFill>
                <a:latin typeface="Trebuchet MS"/>
                <a:cs typeface="Trebuchet MS"/>
              </a:rPr>
              <a:t>identify</a:t>
            </a:r>
            <a:r>
              <a:rPr sz="1200" spc="-65">
                <a:solidFill>
                  <a:srgbClr val="565656"/>
                </a:solidFill>
                <a:latin typeface="Trebuchet MS"/>
                <a:cs typeface="Trebuchet MS"/>
              </a:rPr>
              <a:t> </a:t>
            </a:r>
            <a:r>
              <a:rPr sz="1200" spc="-10">
                <a:solidFill>
                  <a:srgbClr val="565656"/>
                </a:solidFill>
                <a:latin typeface="Trebuchet MS"/>
                <a:cs typeface="Trebuchet MS"/>
              </a:rPr>
              <a:t>customers </a:t>
            </a:r>
            <a:r>
              <a:rPr sz="1200">
                <a:solidFill>
                  <a:srgbClr val="565656"/>
                </a:solidFill>
                <a:latin typeface="Trebuchet MS"/>
                <a:cs typeface="Trebuchet MS"/>
              </a:rPr>
              <a:t>with</a:t>
            </a:r>
            <a:r>
              <a:rPr sz="1200" spc="-20">
                <a:solidFill>
                  <a:srgbClr val="565656"/>
                </a:solidFill>
                <a:latin typeface="Trebuchet MS"/>
                <a:cs typeface="Trebuchet MS"/>
              </a:rPr>
              <a:t> </a:t>
            </a:r>
            <a:r>
              <a:rPr sz="1200" spc="-10">
                <a:solidFill>
                  <a:srgbClr val="565656"/>
                </a:solidFill>
                <a:latin typeface="Trebuchet MS"/>
                <a:cs typeface="Trebuchet MS"/>
              </a:rPr>
              <a:t>consistent</a:t>
            </a:r>
            <a:r>
              <a:rPr sz="1200" spc="-80">
                <a:solidFill>
                  <a:srgbClr val="565656"/>
                </a:solidFill>
                <a:latin typeface="Trebuchet MS"/>
                <a:cs typeface="Trebuchet MS"/>
              </a:rPr>
              <a:t> </a:t>
            </a:r>
            <a:r>
              <a:rPr lang="en-US" sz="1200" err="1">
                <a:solidFill>
                  <a:srgbClr val="565656"/>
                </a:solidFill>
                <a:latin typeface="Trebuchet MS"/>
                <a:cs typeface="Trebuchet MS"/>
              </a:rPr>
              <a:t>AuM</a:t>
            </a:r>
            <a:r>
              <a:rPr sz="1200" spc="5">
                <a:solidFill>
                  <a:srgbClr val="565656"/>
                </a:solidFill>
                <a:latin typeface="Trebuchet MS"/>
                <a:cs typeface="Trebuchet MS"/>
              </a:rPr>
              <a:t> </a:t>
            </a:r>
            <a:r>
              <a:rPr sz="1200">
                <a:solidFill>
                  <a:srgbClr val="565656"/>
                </a:solidFill>
                <a:latin typeface="Trebuchet MS"/>
                <a:cs typeface="Trebuchet MS"/>
              </a:rPr>
              <a:t>outflow</a:t>
            </a:r>
            <a:r>
              <a:rPr sz="1200" spc="-30">
                <a:solidFill>
                  <a:srgbClr val="565656"/>
                </a:solidFill>
                <a:latin typeface="Trebuchet MS"/>
                <a:cs typeface="Trebuchet MS"/>
              </a:rPr>
              <a:t> </a:t>
            </a:r>
            <a:r>
              <a:rPr sz="1200">
                <a:solidFill>
                  <a:srgbClr val="565656"/>
                </a:solidFill>
                <a:latin typeface="Trebuchet MS"/>
                <a:cs typeface="Trebuchet MS"/>
              </a:rPr>
              <a:t>from </a:t>
            </a:r>
            <a:r>
              <a:rPr sz="1200" spc="-10">
                <a:solidFill>
                  <a:srgbClr val="565656"/>
                </a:solidFill>
                <a:latin typeface="Trebuchet MS"/>
                <a:cs typeface="Trebuchet MS"/>
              </a:rPr>
              <a:t>CLIENT</a:t>
            </a:r>
            <a:endParaRPr sz="1200">
              <a:latin typeface="Trebuchet MS"/>
              <a:cs typeface="Trebuchet MS"/>
            </a:endParaRPr>
          </a:p>
        </p:txBody>
      </p:sp>
      <p:sp>
        <p:nvSpPr>
          <p:cNvPr id="30" name="object 30"/>
          <p:cNvSpPr/>
          <p:nvPr/>
        </p:nvSpPr>
        <p:spPr>
          <a:xfrm>
            <a:off x="2607564" y="3659123"/>
            <a:ext cx="561340" cy="471170"/>
          </a:xfrm>
          <a:custGeom>
            <a:avLst/>
            <a:gdLst/>
            <a:ahLst/>
            <a:cxnLst/>
            <a:rect l="l" t="t" r="r" b="b"/>
            <a:pathLst>
              <a:path w="561339" h="471170">
                <a:moveTo>
                  <a:pt x="0" y="470915"/>
                </a:moveTo>
                <a:lnTo>
                  <a:pt x="560832" y="470915"/>
                </a:lnTo>
                <a:lnTo>
                  <a:pt x="560832" y="0"/>
                </a:lnTo>
                <a:lnTo>
                  <a:pt x="0" y="0"/>
                </a:lnTo>
                <a:lnTo>
                  <a:pt x="0" y="470915"/>
                </a:lnTo>
                <a:close/>
              </a:path>
            </a:pathLst>
          </a:custGeom>
          <a:ln w="9525">
            <a:solidFill>
              <a:srgbClr val="29B974"/>
            </a:solidFill>
          </a:ln>
        </p:spPr>
        <p:txBody>
          <a:bodyPr wrap="square" lIns="0" tIns="0" rIns="0" bIns="0" rtlCol="0"/>
          <a:lstStyle/>
          <a:p>
            <a:endParaRPr/>
          </a:p>
        </p:txBody>
      </p:sp>
      <p:sp>
        <p:nvSpPr>
          <p:cNvPr id="31" name="object 31"/>
          <p:cNvSpPr txBox="1"/>
          <p:nvPr/>
        </p:nvSpPr>
        <p:spPr>
          <a:xfrm>
            <a:off x="2602801" y="3654361"/>
            <a:ext cx="570865" cy="480695"/>
          </a:xfrm>
          <a:prstGeom prst="rect">
            <a:avLst/>
          </a:prstGeom>
          <a:solidFill>
            <a:srgbClr val="29B974"/>
          </a:solidFill>
        </p:spPr>
        <p:txBody>
          <a:bodyPr vert="horz" wrap="square" lIns="0" tIns="113030" rIns="0" bIns="0" rtlCol="0">
            <a:spAutoFit/>
          </a:bodyPr>
          <a:lstStyle/>
          <a:p>
            <a:pPr marL="161925">
              <a:lnSpc>
                <a:spcPct val="100000"/>
              </a:lnSpc>
              <a:spcBef>
                <a:spcPts val="890"/>
              </a:spcBef>
            </a:pPr>
            <a:r>
              <a:rPr sz="1600" b="1" spc="-25">
                <a:solidFill>
                  <a:srgbClr val="FFFFFF"/>
                </a:solidFill>
                <a:latin typeface="Trebuchet MS"/>
                <a:cs typeface="Trebuchet MS"/>
              </a:rPr>
              <a:t>A4</a:t>
            </a:r>
            <a:endParaRPr sz="1600">
              <a:latin typeface="Trebuchet MS"/>
              <a:cs typeface="Trebuchet MS"/>
            </a:endParaRPr>
          </a:p>
        </p:txBody>
      </p:sp>
      <p:sp>
        <p:nvSpPr>
          <p:cNvPr id="32" name="object 32"/>
          <p:cNvSpPr/>
          <p:nvPr/>
        </p:nvSpPr>
        <p:spPr>
          <a:xfrm>
            <a:off x="3168395" y="4341876"/>
            <a:ext cx="3716020" cy="471170"/>
          </a:xfrm>
          <a:custGeom>
            <a:avLst/>
            <a:gdLst/>
            <a:ahLst/>
            <a:cxnLst/>
            <a:rect l="l" t="t" r="r" b="b"/>
            <a:pathLst>
              <a:path w="3716020" h="471170">
                <a:moveTo>
                  <a:pt x="0" y="470916"/>
                </a:moveTo>
                <a:lnTo>
                  <a:pt x="3715511" y="470916"/>
                </a:lnTo>
                <a:lnTo>
                  <a:pt x="3715511" y="0"/>
                </a:lnTo>
                <a:lnTo>
                  <a:pt x="0" y="0"/>
                </a:lnTo>
                <a:lnTo>
                  <a:pt x="0" y="470916"/>
                </a:lnTo>
                <a:close/>
              </a:path>
            </a:pathLst>
          </a:custGeom>
          <a:ln w="9525">
            <a:solidFill>
              <a:srgbClr val="29B974"/>
            </a:solidFill>
          </a:ln>
        </p:spPr>
        <p:txBody>
          <a:bodyPr wrap="square" lIns="0" tIns="0" rIns="0" bIns="0" rtlCol="0"/>
          <a:lstStyle/>
          <a:p>
            <a:endParaRPr/>
          </a:p>
        </p:txBody>
      </p:sp>
      <p:sp>
        <p:nvSpPr>
          <p:cNvPr id="33" name="object 33"/>
          <p:cNvSpPr txBox="1"/>
          <p:nvPr/>
        </p:nvSpPr>
        <p:spPr>
          <a:xfrm>
            <a:off x="3173158" y="4377690"/>
            <a:ext cx="3706495" cy="391160"/>
          </a:xfrm>
          <a:prstGeom prst="rect">
            <a:avLst/>
          </a:prstGeom>
        </p:spPr>
        <p:txBody>
          <a:bodyPr vert="horz" wrap="square" lIns="0" tIns="12700" rIns="0" bIns="0" rtlCol="0">
            <a:spAutoFit/>
          </a:bodyPr>
          <a:lstStyle/>
          <a:p>
            <a:pPr marL="87630" marR="351155">
              <a:lnSpc>
                <a:spcPct val="100000"/>
              </a:lnSpc>
              <a:spcBef>
                <a:spcPts val="100"/>
              </a:spcBef>
            </a:pPr>
            <a:r>
              <a:rPr sz="1200" b="1">
                <a:solidFill>
                  <a:srgbClr val="565656"/>
                </a:solidFill>
                <a:latin typeface="Trebuchet MS"/>
                <a:cs typeface="Trebuchet MS"/>
              </a:rPr>
              <a:t>Recent:</a:t>
            </a:r>
            <a:r>
              <a:rPr sz="1200" b="1" spc="-5">
                <a:solidFill>
                  <a:srgbClr val="565656"/>
                </a:solidFill>
                <a:latin typeface="Trebuchet MS"/>
                <a:cs typeface="Trebuchet MS"/>
              </a:rPr>
              <a:t> </a:t>
            </a:r>
            <a:r>
              <a:rPr sz="1200">
                <a:solidFill>
                  <a:srgbClr val="565656"/>
                </a:solidFill>
                <a:latin typeface="Trebuchet MS"/>
                <a:cs typeface="Trebuchet MS"/>
              </a:rPr>
              <a:t>Customers</a:t>
            </a:r>
            <a:r>
              <a:rPr sz="1200" spc="-50">
                <a:solidFill>
                  <a:srgbClr val="565656"/>
                </a:solidFill>
                <a:latin typeface="Trebuchet MS"/>
                <a:cs typeface="Trebuchet MS"/>
              </a:rPr>
              <a:t> </a:t>
            </a:r>
            <a:r>
              <a:rPr sz="1200">
                <a:solidFill>
                  <a:srgbClr val="565656"/>
                </a:solidFill>
                <a:latin typeface="Trebuchet MS"/>
                <a:cs typeface="Trebuchet MS"/>
              </a:rPr>
              <a:t>with</a:t>
            </a:r>
            <a:r>
              <a:rPr sz="1200" spc="-30">
                <a:solidFill>
                  <a:srgbClr val="565656"/>
                </a:solidFill>
                <a:latin typeface="Trebuchet MS"/>
                <a:cs typeface="Trebuchet MS"/>
              </a:rPr>
              <a:t> </a:t>
            </a:r>
            <a:r>
              <a:rPr sz="1200">
                <a:solidFill>
                  <a:srgbClr val="565656"/>
                </a:solidFill>
                <a:latin typeface="Trebuchet MS"/>
                <a:cs typeface="Trebuchet MS"/>
              </a:rPr>
              <a:t>recent</a:t>
            </a:r>
            <a:r>
              <a:rPr sz="1200" spc="-65">
                <a:solidFill>
                  <a:srgbClr val="565656"/>
                </a:solidFill>
                <a:latin typeface="Trebuchet MS"/>
                <a:cs typeface="Trebuchet MS"/>
              </a:rPr>
              <a:t> </a:t>
            </a:r>
            <a:r>
              <a:rPr sz="1200">
                <a:solidFill>
                  <a:srgbClr val="565656"/>
                </a:solidFill>
                <a:latin typeface="Trebuchet MS"/>
                <a:cs typeface="Trebuchet MS"/>
              </a:rPr>
              <a:t>high</a:t>
            </a:r>
            <a:r>
              <a:rPr sz="1200" spc="-80">
                <a:solidFill>
                  <a:srgbClr val="565656"/>
                </a:solidFill>
                <a:latin typeface="Trebuchet MS"/>
                <a:cs typeface="Trebuchet MS"/>
              </a:rPr>
              <a:t> </a:t>
            </a:r>
            <a:r>
              <a:rPr lang="en-US" sz="1200" err="1">
                <a:solidFill>
                  <a:srgbClr val="565656"/>
                </a:solidFill>
                <a:latin typeface="Trebuchet MS"/>
                <a:cs typeface="Trebuchet MS"/>
              </a:rPr>
              <a:t>AuM</a:t>
            </a:r>
            <a:r>
              <a:rPr sz="1200" spc="-30">
                <a:solidFill>
                  <a:srgbClr val="565656"/>
                </a:solidFill>
                <a:latin typeface="Trebuchet MS"/>
                <a:cs typeface="Trebuchet MS"/>
              </a:rPr>
              <a:t> </a:t>
            </a:r>
            <a:r>
              <a:rPr sz="1200" spc="-10">
                <a:solidFill>
                  <a:srgbClr val="565656"/>
                </a:solidFill>
                <a:latin typeface="Trebuchet MS"/>
                <a:cs typeface="Trebuchet MS"/>
              </a:rPr>
              <a:t>inflow </a:t>
            </a:r>
            <a:r>
              <a:rPr sz="1200">
                <a:solidFill>
                  <a:srgbClr val="565656"/>
                </a:solidFill>
                <a:latin typeface="Trebuchet MS"/>
                <a:cs typeface="Trebuchet MS"/>
              </a:rPr>
              <a:t>due</a:t>
            </a:r>
            <a:r>
              <a:rPr sz="1200" spc="-10">
                <a:solidFill>
                  <a:srgbClr val="565656"/>
                </a:solidFill>
                <a:latin typeface="Trebuchet MS"/>
                <a:cs typeface="Trebuchet MS"/>
              </a:rPr>
              <a:t> </a:t>
            </a:r>
            <a:r>
              <a:rPr sz="1200">
                <a:solidFill>
                  <a:srgbClr val="565656"/>
                </a:solidFill>
                <a:latin typeface="Trebuchet MS"/>
                <a:cs typeface="Trebuchet MS"/>
              </a:rPr>
              <a:t>to</a:t>
            </a:r>
            <a:r>
              <a:rPr sz="1200" spc="20">
                <a:solidFill>
                  <a:srgbClr val="565656"/>
                </a:solidFill>
                <a:latin typeface="Trebuchet MS"/>
                <a:cs typeface="Trebuchet MS"/>
              </a:rPr>
              <a:t> </a:t>
            </a:r>
            <a:r>
              <a:rPr sz="1200" spc="-10">
                <a:solidFill>
                  <a:srgbClr val="565656"/>
                </a:solidFill>
                <a:latin typeface="Trebuchet MS"/>
                <a:cs typeface="Trebuchet MS"/>
              </a:rPr>
              <a:t>COVID-</a:t>
            </a:r>
            <a:r>
              <a:rPr sz="1200" spc="-25">
                <a:solidFill>
                  <a:srgbClr val="565656"/>
                </a:solidFill>
                <a:latin typeface="Trebuchet MS"/>
                <a:cs typeface="Trebuchet MS"/>
              </a:rPr>
              <a:t>19</a:t>
            </a:r>
            <a:endParaRPr sz="1200">
              <a:latin typeface="Trebuchet MS"/>
              <a:cs typeface="Trebuchet MS"/>
            </a:endParaRPr>
          </a:p>
        </p:txBody>
      </p:sp>
      <p:sp>
        <p:nvSpPr>
          <p:cNvPr id="34" name="object 34"/>
          <p:cNvSpPr/>
          <p:nvPr/>
        </p:nvSpPr>
        <p:spPr>
          <a:xfrm>
            <a:off x="2607564" y="4341876"/>
            <a:ext cx="561340" cy="471170"/>
          </a:xfrm>
          <a:custGeom>
            <a:avLst/>
            <a:gdLst/>
            <a:ahLst/>
            <a:cxnLst/>
            <a:rect l="l" t="t" r="r" b="b"/>
            <a:pathLst>
              <a:path w="561339" h="471170">
                <a:moveTo>
                  <a:pt x="0" y="470916"/>
                </a:moveTo>
                <a:lnTo>
                  <a:pt x="560832" y="470916"/>
                </a:lnTo>
                <a:lnTo>
                  <a:pt x="560832" y="0"/>
                </a:lnTo>
                <a:lnTo>
                  <a:pt x="0" y="0"/>
                </a:lnTo>
                <a:lnTo>
                  <a:pt x="0" y="470916"/>
                </a:lnTo>
                <a:close/>
              </a:path>
            </a:pathLst>
          </a:custGeom>
          <a:ln w="9525">
            <a:solidFill>
              <a:srgbClr val="29B974"/>
            </a:solidFill>
          </a:ln>
        </p:spPr>
        <p:txBody>
          <a:bodyPr wrap="square" lIns="0" tIns="0" rIns="0" bIns="0" rtlCol="0"/>
          <a:lstStyle/>
          <a:p>
            <a:endParaRPr/>
          </a:p>
        </p:txBody>
      </p:sp>
      <p:sp>
        <p:nvSpPr>
          <p:cNvPr id="35" name="object 35"/>
          <p:cNvSpPr txBox="1"/>
          <p:nvPr/>
        </p:nvSpPr>
        <p:spPr>
          <a:xfrm>
            <a:off x="2602801" y="4337113"/>
            <a:ext cx="570865" cy="480695"/>
          </a:xfrm>
          <a:prstGeom prst="rect">
            <a:avLst/>
          </a:prstGeom>
          <a:solidFill>
            <a:srgbClr val="29B974"/>
          </a:solidFill>
        </p:spPr>
        <p:txBody>
          <a:bodyPr vert="horz" wrap="square" lIns="0" tIns="111760" rIns="0" bIns="0" rtlCol="0">
            <a:spAutoFit/>
          </a:bodyPr>
          <a:lstStyle/>
          <a:p>
            <a:pPr marL="161925">
              <a:lnSpc>
                <a:spcPct val="100000"/>
              </a:lnSpc>
              <a:spcBef>
                <a:spcPts val="880"/>
              </a:spcBef>
            </a:pPr>
            <a:r>
              <a:rPr sz="1600" b="1" spc="-25">
                <a:solidFill>
                  <a:srgbClr val="FFFFFF"/>
                </a:solidFill>
                <a:latin typeface="Trebuchet MS"/>
                <a:cs typeface="Trebuchet MS"/>
              </a:rPr>
              <a:t>A5</a:t>
            </a:r>
            <a:endParaRPr sz="1600">
              <a:latin typeface="Trebuchet MS"/>
              <a:cs typeface="Trebuchet MS"/>
            </a:endParaRPr>
          </a:p>
        </p:txBody>
      </p:sp>
      <p:sp>
        <p:nvSpPr>
          <p:cNvPr id="36" name="object 36"/>
          <p:cNvSpPr txBox="1"/>
          <p:nvPr/>
        </p:nvSpPr>
        <p:spPr>
          <a:xfrm>
            <a:off x="7036307" y="2330195"/>
            <a:ext cx="1732914" cy="3386825"/>
          </a:xfrm>
          <a:prstGeom prst="rect">
            <a:avLst/>
          </a:prstGeom>
          <a:ln w="9525">
            <a:solidFill>
              <a:srgbClr val="29B974"/>
            </a:solidFill>
          </a:ln>
        </p:spPr>
        <p:txBody>
          <a:bodyPr vert="horz" wrap="square" lIns="0" tIns="49530" rIns="0" bIns="0" rtlCol="0">
            <a:spAutoFit/>
          </a:bodyPr>
          <a:lstStyle/>
          <a:p>
            <a:pPr>
              <a:lnSpc>
                <a:spcPct val="100000"/>
              </a:lnSpc>
              <a:spcBef>
                <a:spcPts val="390"/>
              </a:spcBef>
            </a:pPr>
            <a:endParaRPr sz="1200">
              <a:latin typeface="Times New Roman"/>
              <a:cs typeface="Times New Roman"/>
            </a:endParaRPr>
          </a:p>
          <a:p>
            <a:pPr marL="320675" marR="171450" indent="-228600">
              <a:lnSpc>
                <a:spcPct val="100000"/>
              </a:lnSpc>
              <a:buClr>
                <a:srgbClr val="29B974"/>
              </a:buClr>
              <a:buAutoNum type="arabicPeriod"/>
              <a:tabLst>
                <a:tab pos="320675" algn="l"/>
              </a:tabLst>
            </a:pPr>
            <a:r>
              <a:rPr sz="1200" spc="-10">
                <a:solidFill>
                  <a:srgbClr val="565656"/>
                </a:solidFill>
                <a:latin typeface="Trebuchet MS"/>
                <a:cs typeface="Trebuchet MS"/>
              </a:rPr>
              <a:t>Prioritize </a:t>
            </a:r>
            <a:r>
              <a:rPr sz="1200">
                <a:solidFill>
                  <a:srgbClr val="565656"/>
                </a:solidFill>
                <a:latin typeface="Trebuchet MS"/>
                <a:cs typeface="Trebuchet MS"/>
              </a:rPr>
              <a:t>customers</a:t>
            </a:r>
            <a:r>
              <a:rPr sz="1200" spc="-55">
                <a:solidFill>
                  <a:srgbClr val="565656"/>
                </a:solidFill>
                <a:latin typeface="Trebuchet MS"/>
                <a:cs typeface="Trebuchet MS"/>
              </a:rPr>
              <a:t> </a:t>
            </a:r>
            <a:r>
              <a:rPr sz="1200" spc="-20">
                <a:solidFill>
                  <a:srgbClr val="565656"/>
                </a:solidFill>
                <a:latin typeface="Trebuchet MS"/>
                <a:cs typeface="Trebuchet MS"/>
              </a:rPr>
              <a:t>with </a:t>
            </a:r>
            <a:r>
              <a:rPr sz="1200">
                <a:solidFill>
                  <a:srgbClr val="565656"/>
                </a:solidFill>
                <a:latin typeface="Trebuchet MS"/>
                <a:cs typeface="Trebuchet MS"/>
              </a:rPr>
              <a:t>high</a:t>
            </a:r>
            <a:r>
              <a:rPr sz="1200" spc="-50">
                <a:solidFill>
                  <a:srgbClr val="565656"/>
                </a:solidFill>
                <a:latin typeface="Trebuchet MS"/>
                <a:cs typeface="Trebuchet MS"/>
              </a:rPr>
              <a:t> </a:t>
            </a:r>
            <a:r>
              <a:rPr sz="1200">
                <a:solidFill>
                  <a:srgbClr val="565656"/>
                </a:solidFill>
                <a:latin typeface="Trebuchet MS"/>
                <a:cs typeface="Trebuchet MS"/>
              </a:rPr>
              <a:t>propensity</a:t>
            </a:r>
            <a:r>
              <a:rPr sz="1200" spc="-50">
                <a:solidFill>
                  <a:srgbClr val="565656"/>
                </a:solidFill>
                <a:latin typeface="Trebuchet MS"/>
                <a:cs typeface="Trebuchet MS"/>
              </a:rPr>
              <a:t> </a:t>
            </a:r>
            <a:r>
              <a:rPr sz="1200" spc="-25">
                <a:solidFill>
                  <a:srgbClr val="565656"/>
                </a:solidFill>
                <a:latin typeface="Trebuchet MS"/>
                <a:cs typeface="Trebuchet MS"/>
              </a:rPr>
              <a:t>to </a:t>
            </a:r>
            <a:r>
              <a:rPr sz="1200">
                <a:solidFill>
                  <a:srgbClr val="565656"/>
                </a:solidFill>
                <a:latin typeface="Trebuchet MS"/>
                <a:cs typeface="Trebuchet MS"/>
              </a:rPr>
              <a:t>purchase</a:t>
            </a:r>
            <a:r>
              <a:rPr sz="1200" spc="-75">
                <a:solidFill>
                  <a:srgbClr val="565656"/>
                </a:solidFill>
                <a:latin typeface="Trebuchet MS"/>
                <a:cs typeface="Trebuchet MS"/>
              </a:rPr>
              <a:t> </a:t>
            </a:r>
            <a:r>
              <a:rPr sz="1200" spc="-10">
                <a:solidFill>
                  <a:srgbClr val="565656"/>
                </a:solidFill>
                <a:latin typeface="Trebuchet MS"/>
                <a:cs typeface="Trebuchet MS"/>
              </a:rPr>
              <a:t>wealth </a:t>
            </a:r>
            <a:r>
              <a:rPr sz="1200">
                <a:solidFill>
                  <a:srgbClr val="565656"/>
                </a:solidFill>
                <a:latin typeface="Trebuchet MS"/>
                <a:cs typeface="Trebuchet MS"/>
              </a:rPr>
              <a:t>products</a:t>
            </a:r>
            <a:r>
              <a:rPr sz="1200" spc="-50">
                <a:solidFill>
                  <a:srgbClr val="565656"/>
                </a:solidFill>
                <a:latin typeface="Trebuchet MS"/>
                <a:cs typeface="Trebuchet MS"/>
              </a:rPr>
              <a:t> </a:t>
            </a:r>
            <a:r>
              <a:rPr sz="1200">
                <a:solidFill>
                  <a:srgbClr val="565656"/>
                </a:solidFill>
                <a:latin typeface="Trebuchet MS"/>
                <a:cs typeface="Trebuchet MS"/>
              </a:rPr>
              <a:t>and</a:t>
            </a:r>
            <a:r>
              <a:rPr sz="1200" spc="-50">
                <a:solidFill>
                  <a:srgbClr val="565656"/>
                </a:solidFill>
                <a:latin typeface="Trebuchet MS"/>
                <a:cs typeface="Trebuchet MS"/>
              </a:rPr>
              <a:t> </a:t>
            </a:r>
            <a:r>
              <a:rPr sz="1200" spc="-20">
                <a:solidFill>
                  <a:srgbClr val="565656"/>
                </a:solidFill>
                <a:latin typeface="Trebuchet MS"/>
                <a:cs typeface="Trebuchet MS"/>
              </a:rPr>
              <a:t>high </a:t>
            </a:r>
            <a:r>
              <a:rPr lang="en-US" sz="1200" err="1">
                <a:solidFill>
                  <a:srgbClr val="565656"/>
                </a:solidFill>
                <a:latin typeface="Trebuchet MS"/>
                <a:cs typeface="Trebuchet MS"/>
              </a:rPr>
              <a:t>AuM</a:t>
            </a:r>
            <a:r>
              <a:rPr sz="1200" spc="-5">
                <a:solidFill>
                  <a:srgbClr val="565656"/>
                </a:solidFill>
                <a:latin typeface="Trebuchet MS"/>
                <a:cs typeface="Trebuchet MS"/>
              </a:rPr>
              <a:t> </a:t>
            </a:r>
            <a:r>
              <a:rPr sz="1200" spc="-10">
                <a:solidFill>
                  <a:srgbClr val="565656"/>
                </a:solidFill>
                <a:latin typeface="Trebuchet MS"/>
                <a:cs typeface="Trebuchet MS"/>
              </a:rPr>
              <a:t>potential</a:t>
            </a:r>
            <a:endParaRPr sz="1200">
              <a:latin typeface="Trebuchet MS"/>
              <a:cs typeface="Trebuchet MS"/>
            </a:endParaRPr>
          </a:p>
          <a:p>
            <a:pPr>
              <a:lnSpc>
                <a:spcPct val="100000"/>
              </a:lnSpc>
              <a:spcBef>
                <a:spcPts val="50"/>
              </a:spcBef>
              <a:buClr>
                <a:srgbClr val="29B974"/>
              </a:buClr>
              <a:buFont typeface="Trebuchet MS"/>
              <a:buAutoNum type="arabicPeriod"/>
            </a:pPr>
            <a:endParaRPr sz="1200">
              <a:latin typeface="Trebuchet MS"/>
              <a:cs typeface="Trebuchet MS"/>
            </a:endParaRPr>
          </a:p>
          <a:p>
            <a:pPr marL="320040" indent="-227965">
              <a:lnSpc>
                <a:spcPct val="100000"/>
              </a:lnSpc>
              <a:buClr>
                <a:srgbClr val="29B974"/>
              </a:buClr>
              <a:buAutoNum type="arabicPeriod"/>
              <a:tabLst>
                <a:tab pos="320040" algn="l"/>
              </a:tabLst>
            </a:pPr>
            <a:r>
              <a:rPr sz="1200" spc="-10">
                <a:solidFill>
                  <a:srgbClr val="565656"/>
                </a:solidFill>
                <a:latin typeface="Trebuchet MS"/>
                <a:cs typeface="Trebuchet MS"/>
              </a:rPr>
              <a:t>Further</a:t>
            </a:r>
            <a:endParaRPr sz="1200">
              <a:latin typeface="Trebuchet MS"/>
              <a:cs typeface="Trebuchet MS"/>
            </a:endParaRPr>
          </a:p>
          <a:p>
            <a:pPr marL="320675" marR="83820">
              <a:lnSpc>
                <a:spcPct val="100000"/>
              </a:lnSpc>
            </a:pPr>
            <a:r>
              <a:rPr sz="1200" spc="-10">
                <a:solidFill>
                  <a:srgbClr val="565656"/>
                </a:solidFill>
                <a:latin typeface="Trebuchet MS"/>
                <a:cs typeface="Trebuchet MS"/>
              </a:rPr>
              <a:t>prioritization</a:t>
            </a:r>
            <a:r>
              <a:rPr sz="1200" spc="500">
                <a:solidFill>
                  <a:srgbClr val="565656"/>
                </a:solidFill>
                <a:latin typeface="Trebuchet MS"/>
                <a:cs typeface="Trebuchet MS"/>
              </a:rPr>
              <a:t> </a:t>
            </a:r>
            <a:r>
              <a:rPr sz="1200">
                <a:solidFill>
                  <a:srgbClr val="565656"/>
                </a:solidFill>
                <a:latin typeface="Trebuchet MS"/>
                <a:cs typeface="Trebuchet MS"/>
              </a:rPr>
              <a:t>based</a:t>
            </a:r>
            <a:r>
              <a:rPr sz="1200" spc="-55">
                <a:solidFill>
                  <a:srgbClr val="565656"/>
                </a:solidFill>
                <a:latin typeface="Trebuchet MS"/>
                <a:cs typeface="Trebuchet MS"/>
              </a:rPr>
              <a:t> </a:t>
            </a:r>
            <a:r>
              <a:rPr sz="1200">
                <a:solidFill>
                  <a:srgbClr val="565656"/>
                </a:solidFill>
                <a:latin typeface="Trebuchet MS"/>
                <a:cs typeface="Trebuchet MS"/>
              </a:rPr>
              <a:t>on</a:t>
            </a:r>
            <a:r>
              <a:rPr sz="1200" spc="-10">
                <a:solidFill>
                  <a:srgbClr val="565656"/>
                </a:solidFill>
                <a:latin typeface="Trebuchet MS"/>
                <a:cs typeface="Trebuchet MS"/>
              </a:rPr>
              <a:t> statistical </a:t>
            </a:r>
            <a:r>
              <a:rPr sz="1200">
                <a:solidFill>
                  <a:srgbClr val="565656"/>
                </a:solidFill>
                <a:latin typeface="Trebuchet MS"/>
                <a:cs typeface="Trebuchet MS"/>
              </a:rPr>
              <a:t>or</a:t>
            </a:r>
            <a:r>
              <a:rPr sz="1200" spc="40">
                <a:solidFill>
                  <a:srgbClr val="565656"/>
                </a:solidFill>
                <a:latin typeface="Trebuchet MS"/>
                <a:cs typeface="Trebuchet MS"/>
              </a:rPr>
              <a:t> </a:t>
            </a:r>
            <a:r>
              <a:rPr sz="1200" spc="-10">
                <a:solidFill>
                  <a:srgbClr val="565656"/>
                </a:solidFill>
                <a:latin typeface="Trebuchet MS"/>
                <a:cs typeface="Trebuchet MS"/>
              </a:rPr>
              <a:t>business-</a:t>
            </a:r>
            <a:r>
              <a:rPr sz="1200" spc="-20">
                <a:solidFill>
                  <a:srgbClr val="565656"/>
                </a:solidFill>
                <a:latin typeface="Trebuchet MS"/>
                <a:cs typeface="Trebuchet MS"/>
              </a:rPr>
              <a:t>rules </a:t>
            </a:r>
            <a:r>
              <a:rPr sz="1200">
                <a:solidFill>
                  <a:srgbClr val="565656"/>
                </a:solidFill>
                <a:latin typeface="Trebuchet MS"/>
                <a:cs typeface="Trebuchet MS"/>
              </a:rPr>
              <a:t>based</a:t>
            </a:r>
            <a:r>
              <a:rPr sz="1200" spc="-55">
                <a:solidFill>
                  <a:srgbClr val="565656"/>
                </a:solidFill>
                <a:latin typeface="Trebuchet MS"/>
                <a:cs typeface="Trebuchet MS"/>
              </a:rPr>
              <a:t> </a:t>
            </a:r>
            <a:r>
              <a:rPr sz="1200" spc="-10">
                <a:solidFill>
                  <a:srgbClr val="565656"/>
                </a:solidFill>
                <a:latin typeface="Trebuchet MS"/>
                <a:cs typeface="Trebuchet MS"/>
              </a:rPr>
              <a:t>triggers</a:t>
            </a:r>
            <a:endParaRPr sz="1200">
              <a:latin typeface="Trebuchet MS"/>
              <a:cs typeface="Trebuchet MS"/>
            </a:endParaRPr>
          </a:p>
          <a:p>
            <a:pPr>
              <a:lnSpc>
                <a:spcPct val="100000"/>
              </a:lnSpc>
              <a:spcBef>
                <a:spcPts val="45"/>
              </a:spcBef>
            </a:pPr>
            <a:endParaRPr sz="1200">
              <a:latin typeface="Trebuchet MS"/>
              <a:cs typeface="Trebuchet MS"/>
            </a:endParaRPr>
          </a:p>
          <a:p>
            <a:pPr marL="320675" marR="331470" indent="-228600">
              <a:lnSpc>
                <a:spcPct val="100000"/>
              </a:lnSpc>
              <a:buClr>
                <a:srgbClr val="29B974"/>
              </a:buClr>
              <a:buAutoNum type="arabicPeriod" startAt="3"/>
              <a:tabLst>
                <a:tab pos="320675" algn="l"/>
              </a:tabLst>
            </a:pPr>
            <a:r>
              <a:rPr sz="1200">
                <a:solidFill>
                  <a:srgbClr val="565656"/>
                </a:solidFill>
                <a:latin typeface="Trebuchet MS"/>
                <a:cs typeface="Trebuchet MS"/>
              </a:rPr>
              <a:t>Segregate</a:t>
            </a:r>
            <a:r>
              <a:rPr sz="1200" spc="-65">
                <a:solidFill>
                  <a:srgbClr val="565656"/>
                </a:solidFill>
                <a:latin typeface="Trebuchet MS"/>
                <a:cs typeface="Trebuchet MS"/>
              </a:rPr>
              <a:t> </a:t>
            </a:r>
            <a:r>
              <a:rPr sz="1200" spc="-20">
                <a:solidFill>
                  <a:srgbClr val="565656"/>
                </a:solidFill>
                <a:latin typeface="Trebuchet MS"/>
                <a:cs typeface="Trebuchet MS"/>
              </a:rPr>
              <a:t>leads </a:t>
            </a:r>
            <a:r>
              <a:rPr sz="1200">
                <a:solidFill>
                  <a:srgbClr val="565656"/>
                </a:solidFill>
                <a:latin typeface="Trebuchet MS"/>
                <a:cs typeface="Trebuchet MS"/>
              </a:rPr>
              <a:t>into</a:t>
            </a:r>
            <a:r>
              <a:rPr sz="1200" spc="-30">
                <a:solidFill>
                  <a:srgbClr val="565656"/>
                </a:solidFill>
                <a:latin typeface="Trebuchet MS"/>
                <a:cs typeface="Trebuchet MS"/>
              </a:rPr>
              <a:t> </a:t>
            </a:r>
            <a:r>
              <a:rPr sz="1200" spc="-10">
                <a:solidFill>
                  <a:srgbClr val="565656"/>
                </a:solidFill>
                <a:latin typeface="Trebuchet MS"/>
                <a:cs typeface="Trebuchet MS"/>
              </a:rPr>
              <a:t>archetypes </a:t>
            </a:r>
            <a:r>
              <a:rPr sz="1200">
                <a:solidFill>
                  <a:srgbClr val="565656"/>
                </a:solidFill>
                <a:latin typeface="Trebuchet MS"/>
                <a:cs typeface="Trebuchet MS"/>
              </a:rPr>
              <a:t>based</a:t>
            </a:r>
            <a:r>
              <a:rPr sz="1200" spc="-45">
                <a:solidFill>
                  <a:srgbClr val="565656"/>
                </a:solidFill>
                <a:latin typeface="Trebuchet MS"/>
                <a:cs typeface="Trebuchet MS"/>
              </a:rPr>
              <a:t> </a:t>
            </a:r>
            <a:r>
              <a:rPr sz="1200">
                <a:solidFill>
                  <a:srgbClr val="565656"/>
                </a:solidFill>
                <a:latin typeface="Trebuchet MS"/>
                <a:cs typeface="Trebuchet MS"/>
              </a:rPr>
              <a:t>on </a:t>
            </a:r>
            <a:r>
              <a:rPr sz="1200" spc="-10">
                <a:solidFill>
                  <a:srgbClr val="565656"/>
                </a:solidFill>
                <a:latin typeface="Trebuchet MS"/>
                <a:cs typeface="Trebuchet MS"/>
              </a:rPr>
              <a:t>their characteristics</a:t>
            </a:r>
            <a:endParaRPr sz="1200">
              <a:latin typeface="Trebuchet MS"/>
              <a:cs typeface="Trebuchet MS"/>
            </a:endParaRPr>
          </a:p>
        </p:txBody>
      </p:sp>
      <p:sp>
        <p:nvSpPr>
          <p:cNvPr id="37" name="object 37"/>
          <p:cNvSpPr/>
          <p:nvPr/>
        </p:nvSpPr>
        <p:spPr>
          <a:xfrm>
            <a:off x="7036307" y="1859279"/>
            <a:ext cx="1732914" cy="454659"/>
          </a:xfrm>
          <a:custGeom>
            <a:avLst/>
            <a:gdLst/>
            <a:ahLst/>
            <a:cxnLst/>
            <a:rect l="l" t="t" r="r" b="b"/>
            <a:pathLst>
              <a:path w="1732915" h="454660">
                <a:moveTo>
                  <a:pt x="0" y="454151"/>
                </a:moveTo>
                <a:lnTo>
                  <a:pt x="1732788" y="454151"/>
                </a:lnTo>
                <a:lnTo>
                  <a:pt x="1732788" y="0"/>
                </a:lnTo>
                <a:lnTo>
                  <a:pt x="0" y="0"/>
                </a:lnTo>
                <a:lnTo>
                  <a:pt x="0" y="454151"/>
                </a:lnTo>
                <a:close/>
              </a:path>
            </a:pathLst>
          </a:custGeom>
          <a:ln w="9524">
            <a:solidFill>
              <a:srgbClr val="29B974"/>
            </a:solidFill>
          </a:ln>
        </p:spPr>
        <p:txBody>
          <a:bodyPr wrap="square" lIns="0" tIns="0" rIns="0" bIns="0" rtlCol="0"/>
          <a:lstStyle/>
          <a:p>
            <a:endParaRPr/>
          </a:p>
        </p:txBody>
      </p:sp>
      <p:sp>
        <p:nvSpPr>
          <p:cNvPr id="38" name="object 38"/>
          <p:cNvSpPr txBox="1"/>
          <p:nvPr/>
        </p:nvSpPr>
        <p:spPr>
          <a:xfrm>
            <a:off x="7031545" y="1854517"/>
            <a:ext cx="1742439" cy="464184"/>
          </a:xfrm>
          <a:prstGeom prst="rect">
            <a:avLst/>
          </a:prstGeom>
          <a:solidFill>
            <a:srgbClr val="29B974"/>
          </a:solidFill>
        </p:spPr>
        <p:txBody>
          <a:bodyPr vert="horz" wrap="square" lIns="0" tIns="120014" rIns="0" bIns="0" rtlCol="0">
            <a:spAutoFit/>
          </a:bodyPr>
          <a:lstStyle/>
          <a:p>
            <a:pPr marL="353695">
              <a:lnSpc>
                <a:spcPct val="100000"/>
              </a:lnSpc>
              <a:spcBef>
                <a:spcPts val="944"/>
              </a:spcBef>
            </a:pPr>
            <a:r>
              <a:rPr sz="1400" spc="-10">
                <a:solidFill>
                  <a:srgbClr val="FFFFFF"/>
                </a:solidFill>
                <a:latin typeface="Trebuchet MS"/>
                <a:cs typeface="Trebuchet MS"/>
              </a:rPr>
              <a:t>Prioritization</a:t>
            </a:r>
            <a:endParaRPr sz="1400">
              <a:latin typeface="Trebuchet MS"/>
              <a:cs typeface="Trebuchet MS"/>
            </a:endParaRPr>
          </a:p>
        </p:txBody>
      </p:sp>
      <p:sp>
        <p:nvSpPr>
          <p:cNvPr id="39" name="object 39"/>
          <p:cNvSpPr/>
          <p:nvPr/>
        </p:nvSpPr>
        <p:spPr>
          <a:xfrm>
            <a:off x="9073895" y="1859279"/>
            <a:ext cx="1734820" cy="454659"/>
          </a:xfrm>
          <a:custGeom>
            <a:avLst/>
            <a:gdLst/>
            <a:ahLst/>
            <a:cxnLst/>
            <a:rect l="l" t="t" r="r" b="b"/>
            <a:pathLst>
              <a:path w="1734820" h="454660">
                <a:moveTo>
                  <a:pt x="0" y="454151"/>
                </a:moveTo>
                <a:lnTo>
                  <a:pt x="1734311" y="454151"/>
                </a:lnTo>
                <a:lnTo>
                  <a:pt x="1734311" y="0"/>
                </a:lnTo>
                <a:lnTo>
                  <a:pt x="0" y="0"/>
                </a:lnTo>
                <a:lnTo>
                  <a:pt x="0" y="454151"/>
                </a:lnTo>
                <a:close/>
              </a:path>
            </a:pathLst>
          </a:custGeom>
          <a:ln w="9524">
            <a:solidFill>
              <a:srgbClr val="29B974"/>
            </a:solidFill>
          </a:ln>
        </p:spPr>
        <p:txBody>
          <a:bodyPr wrap="square" lIns="0" tIns="0" rIns="0" bIns="0" rtlCol="0"/>
          <a:lstStyle/>
          <a:p>
            <a:endParaRPr/>
          </a:p>
        </p:txBody>
      </p:sp>
      <p:sp>
        <p:nvSpPr>
          <p:cNvPr id="40" name="object 40"/>
          <p:cNvSpPr txBox="1"/>
          <p:nvPr/>
        </p:nvSpPr>
        <p:spPr>
          <a:xfrm>
            <a:off x="9069133" y="1854517"/>
            <a:ext cx="1744345" cy="464184"/>
          </a:xfrm>
          <a:prstGeom prst="rect">
            <a:avLst/>
          </a:prstGeom>
          <a:solidFill>
            <a:srgbClr val="29B974"/>
          </a:solidFill>
        </p:spPr>
        <p:txBody>
          <a:bodyPr vert="horz" wrap="square" lIns="0" tIns="120014" rIns="0" bIns="0" rtlCol="0">
            <a:spAutoFit/>
          </a:bodyPr>
          <a:lstStyle/>
          <a:p>
            <a:pPr marL="343535">
              <a:lnSpc>
                <a:spcPct val="100000"/>
              </a:lnSpc>
              <a:spcBef>
                <a:spcPts val="944"/>
              </a:spcBef>
            </a:pPr>
            <a:r>
              <a:rPr sz="1400" spc="-10">
                <a:solidFill>
                  <a:srgbClr val="FFFFFF"/>
                </a:solidFill>
                <a:latin typeface="Trebuchet MS"/>
                <a:cs typeface="Trebuchet MS"/>
              </a:rPr>
              <a:t>Go-to-Market</a:t>
            </a:r>
            <a:endParaRPr sz="1400">
              <a:latin typeface="Trebuchet MS"/>
              <a:cs typeface="Trebuchet MS"/>
            </a:endParaRPr>
          </a:p>
        </p:txBody>
      </p:sp>
      <p:sp>
        <p:nvSpPr>
          <p:cNvPr id="41" name="object 41"/>
          <p:cNvSpPr txBox="1"/>
          <p:nvPr/>
        </p:nvSpPr>
        <p:spPr>
          <a:xfrm>
            <a:off x="3168395" y="4974335"/>
            <a:ext cx="3716020" cy="1066800"/>
          </a:xfrm>
          <a:prstGeom prst="rect">
            <a:avLst/>
          </a:prstGeom>
          <a:ln w="9525">
            <a:solidFill>
              <a:srgbClr val="7E7E7E"/>
            </a:solidFill>
          </a:ln>
        </p:spPr>
        <p:txBody>
          <a:bodyPr vert="horz" wrap="square" lIns="0" tIns="171450" rIns="0" bIns="0" rtlCol="0">
            <a:spAutoFit/>
          </a:bodyPr>
          <a:lstStyle/>
          <a:p>
            <a:pPr>
              <a:lnSpc>
                <a:spcPct val="100000"/>
              </a:lnSpc>
              <a:spcBef>
                <a:spcPts val="1350"/>
              </a:spcBef>
            </a:pPr>
            <a:endParaRPr sz="1200">
              <a:latin typeface="Times New Roman"/>
              <a:cs typeface="Times New Roman"/>
            </a:endParaRPr>
          </a:p>
          <a:p>
            <a:pPr marL="92075" marR="123189">
              <a:lnSpc>
                <a:spcPct val="100000"/>
              </a:lnSpc>
            </a:pPr>
            <a:r>
              <a:rPr sz="1200" b="1">
                <a:solidFill>
                  <a:srgbClr val="565656"/>
                </a:solidFill>
                <a:latin typeface="Trebuchet MS"/>
                <a:cs typeface="Trebuchet MS"/>
              </a:rPr>
              <a:t>Special</a:t>
            </a:r>
            <a:r>
              <a:rPr sz="1200" b="1" spc="-25">
                <a:solidFill>
                  <a:srgbClr val="565656"/>
                </a:solidFill>
                <a:latin typeface="Trebuchet MS"/>
                <a:cs typeface="Trebuchet MS"/>
              </a:rPr>
              <a:t> </a:t>
            </a:r>
            <a:r>
              <a:rPr sz="1200" b="1">
                <a:solidFill>
                  <a:srgbClr val="565656"/>
                </a:solidFill>
                <a:latin typeface="Trebuchet MS"/>
                <a:cs typeface="Trebuchet MS"/>
              </a:rPr>
              <a:t>privileges:</a:t>
            </a:r>
            <a:r>
              <a:rPr sz="1200" b="1" spc="-10">
                <a:solidFill>
                  <a:srgbClr val="565656"/>
                </a:solidFill>
                <a:latin typeface="Trebuchet MS"/>
                <a:cs typeface="Trebuchet MS"/>
              </a:rPr>
              <a:t> </a:t>
            </a:r>
            <a:r>
              <a:rPr sz="1200">
                <a:solidFill>
                  <a:srgbClr val="565656"/>
                </a:solidFill>
                <a:latin typeface="Trebuchet MS"/>
                <a:cs typeface="Trebuchet MS"/>
              </a:rPr>
              <a:t>Customers</a:t>
            </a:r>
            <a:r>
              <a:rPr sz="1200" spc="-35">
                <a:solidFill>
                  <a:srgbClr val="565656"/>
                </a:solidFill>
                <a:latin typeface="Trebuchet MS"/>
                <a:cs typeface="Trebuchet MS"/>
              </a:rPr>
              <a:t> </a:t>
            </a:r>
            <a:r>
              <a:rPr sz="1200">
                <a:solidFill>
                  <a:srgbClr val="565656"/>
                </a:solidFill>
                <a:latin typeface="Trebuchet MS"/>
                <a:cs typeface="Trebuchet MS"/>
              </a:rPr>
              <a:t>with</a:t>
            </a:r>
            <a:r>
              <a:rPr sz="1200" spc="-45">
                <a:solidFill>
                  <a:srgbClr val="565656"/>
                </a:solidFill>
                <a:latin typeface="Trebuchet MS"/>
                <a:cs typeface="Trebuchet MS"/>
              </a:rPr>
              <a:t> </a:t>
            </a:r>
            <a:r>
              <a:rPr sz="1200">
                <a:solidFill>
                  <a:srgbClr val="565656"/>
                </a:solidFill>
                <a:latin typeface="Trebuchet MS"/>
                <a:cs typeface="Trebuchet MS"/>
              </a:rPr>
              <a:t>special</a:t>
            </a:r>
            <a:r>
              <a:rPr sz="1200" spc="-55">
                <a:solidFill>
                  <a:srgbClr val="565656"/>
                </a:solidFill>
                <a:latin typeface="Trebuchet MS"/>
                <a:cs typeface="Trebuchet MS"/>
              </a:rPr>
              <a:t> </a:t>
            </a:r>
            <a:r>
              <a:rPr sz="1200" spc="-10">
                <a:solidFill>
                  <a:srgbClr val="565656"/>
                </a:solidFill>
                <a:latin typeface="Trebuchet MS"/>
                <a:cs typeface="Trebuchet MS"/>
              </a:rPr>
              <a:t>interest </a:t>
            </a:r>
            <a:r>
              <a:rPr sz="1200">
                <a:solidFill>
                  <a:srgbClr val="565656"/>
                </a:solidFill>
                <a:latin typeface="Trebuchet MS"/>
                <a:cs typeface="Trebuchet MS"/>
              </a:rPr>
              <a:t>rates;</a:t>
            </a:r>
            <a:r>
              <a:rPr sz="1200" spc="-40">
                <a:solidFill>
                  <a:srgbClr val="565656"/>
                </a:solidFill>
                <a:latin typeface="Trebuchet MS"/>
                <a:cs typeface="Trebuchet MS"/>
              </a:rPr>
              <a:t> </a:t>
            </a:r>
            <a:r>
              <a:rPr sz="1200">
                <a:solidFill>
                  <a:srgbClr val="565656"/>
                </a:solidFill>
                <a:latin typeface="Trebuchet MS"/>
                <a:cs typeface="Trebuchet MS"/>
              </a:rPr>
              <a:t>loan</a:t>
            </a:r>
            <a:r>
              <a:rPr sz="1200" spc="-40">
                <a:solidFill>
                  <a:srgbClr val="565656"/>
                </a:solidFill>
                <a:latin typeface="Trebuchet MS"/>
                <a:cs typeface="Trebuchet MS"/>
              </a:rPr>
              <a:t> </a:t>
            </a:r>
            <a:r>
              <a:rPr sz="1200">
                <a:solidFill>
                  <a:srgbClr val="565656"/>
                </a:solidFill>
                <a:latin typeface="Trebuchet MS"/>
                <a:cs typeface="Trebuchet MS"/>
              </a:rPr>
              <a:t>amount,</a:t>
            </a:r>
            <a:r>
              <a:rPr sz="1200" spc="-40">
                <a:solidFill>
                  <a:srgbClr val="565656"/>
                </a:solidFill>
                <a:latin typeface="Trebuchet MS"/>
                <a:cs typeface="Trebuchet MS"/>
              </a:rPr>
              <a:t> </a:t>
            </a:r>
            <a:r>
              <a:rPr sz="1200" spc="-20">
                <a:solidFill>
                  <a:srgbClr val="565656"/>
                </a:solidFill>
                <a:latin typeface="Trebuchet MS"/>
                <a:cs typeface="Trebuchet MS"/>
              </a:rPr>
              <a:t>etc.</a:t>
            </a:r>
            <a:endParaRPr sz="1200">
              <a:latin typeface="Trebuchet MS"/>
              <a:cs typeface="Trebuchet MS"/>
            </a:endParaRPr>
          </a:p>
        </p:txBody>
      </p:sp>
      <p:sp>
        <p:nvSpPr>
          <p:cNvPr id="42" name="object 42"/>
          <p:cNvSpPr txBox="1"/>
          <p:nvPr/>
        </p:nvSpPr>
        <p:spPr>
          <a:xfrm>
            <a:off x="2607564" y="4974335"/>
            <a:ext cx="561340" cy="1066800"/>
          </a:xfrm>
          <a:prstGeom prst="rect">
            <a:avLst/>
          </a:prstGeom>
          <a:solidFill>
            <a:srgbClr val="6D6E73"/>
          </a:solidFill>
          <a:ln w="9525">
            <a:solidFill>
              <a:srgbClr val="7E7E7E"/>
            </a:solidFill>
          </a:ln>
        </p:spPr>
        <p:txBody>
          <a:bodyPr vert="horz" wrap="square" lIns="0" tIns="172085" rIns="0" bIns="0" rtlCol="0">
            <a:spAutoFit/>
          </a:bodyPr>
          <a:lstStyle/>
          <a:p>
            <a:pPr>
              <a:lnSpc>
                <a:spcPct val="100000"/>
              </a:lnSpc>
              <a:spcBef>
                <a:spcPts val="1355"/>
              </a:spcBef>
            </a:pPr>
            <a:endParaRPr sz="1600">
              <a:latin typeface="Times New Roman"/>
              <a:cs typeface="Times New Roman"/>
            </a:endParaRPr>
          </a:p>
          <a:p>
            <a:pPr marL="160655">
              <a:lnSpc>
                <a:spcPct val="100000"/>
              </a:lnSpc>
            </a:pPr>
            <a:r>
              <a:rPr sz="1600" b="1" spc="-25">
                <a:solidFill>
                  <a:srgbClr val="FFFFFF"/>
                </a:solidFill>
                <a:latin typeface="Trebuchet MS"/>
                <a:cs typeface="Trebuchet MS"/>
              </a:rPr>
              <a:t>B1</a:t>
            </a:r>
            <a:endParaRPr sz="1600">
              <a:latin typeface="Trebuchet MS"/>
              <a:cs typeface="Trebuchet MS"/>
            </a:endParaRPr>
          </a:p>
        </p:txBody>
      </p:sp>
      <p:grpSp>
        <p:nvGrpSpPr>
          <p:cNvPr id="43" name="object 43"/>
          <p:cNvGrpSpPr/>
          <p:nvPr/>
        </p:nvGrpSpPr>
        <p:grpSpPr>
          <a:xfrm>
            <a:off x="1219200" y="1478280"/>
            <a:ext cx="7610475" cy="215265"/>
            <a:chOff x="1219200" y="1478280"/>
            <a:chExt cx="7610475" cy="215265"/>
          </a:xfrm>
        </p:grpSpPr>
        <p:sp>
          <p:nvSpPr>
            <p:cNvPr id="44" name="object 44"/>
            <p:cNvSpPr/>
            <p:nvPr/>
          </p:nvSpPr>
          <p:spPr>
            <a:xfrm>
              <a:off x="1219200" y="1543812"/>
              <a:ext cx="7610475" cy="76200"/>
            </a:xfrm>
            <a:custGeom>
              <a:avLst/>
              <a:gdLst/>
              <a:ahLst/>
              <a:cxnLst/>
              <a:rect l="l" t="t" r="r" b="b"/>
              <a:pathLst>
                <a:path w="7610475" h="76200">
                  <a:moveTo>
                    <a:pt x="38100" y="0"/>
                  </a:moveTo>
                  <a:lnTo>
                    <a:pt x="23268" y="2988"/>
                  </a:lnTo>
                  <a:lnTo>
                    <a:pt x="11158" y="11144"/>
                  </a:lnTo>
                  <a:lnTo>
                    <a:pt x="2993" y="23252"/>
                  </a:lnTo>
                  <a:lnTo>
                    <a:pt x="0" y="38100"/>
                  </a:lnTo>
                  <a:lnTo>
                    <a:pt x="2993" y="52947"/>
                  </a:lnTo>
                  <a:lnTo>
                    <a:pt x="11158" y="65055"/>
                  </a:lnTo>
                  <a:lnTo>
                    <a:pt x="23268" y="73211"/>
                  </a:lnTo>
                  <a:lnTo>
                    <a:pt x="38100" y="76200"/>
                  </a:lnTo>
                  <a:lnTo>
                    <a:pt x="52947" y="73211"/>
                  </a:lnTo>
                  <a:lnTo>
                    <a:pt x="65055" y="65055"/>
                  </a:lnTo>
                  <a:lnTo>
                    <a:pt x="73211" y="52947"/>
                  </a:lnTo>
                  <a:lnTo>
                    <a:pt x="74921" y="44450"/>
                  </a:lnTo>
                  <a:lnTo>
                    <a:pt x="34594" y="44450"/>
                  </a:lnTo>
                  <a:lnTo>
                    <a:pt x="31750" y="41655"/>
                  </a:lnTo>
                  <a:lnTo>
                    <a:pt x="31750" y="34543"/>
                  </a:lnTo>
                  <a:lnTo>
                    <a:pt x="34594" y="31750"/>
                  </a:lnTo>
                  <a:lnTo>
                    <a:pt x="74921" y="31750"/>
                  </a:lnTo>
                  <a:lnTo>
                    <a:pt x="73211" y="23252"/>
                  </a:lnTo>
                  <a:lnTo>
                    <a:pt x="65055" y="11144"/>
                  </a:lnTo>
                  <a:lnTo>
                    <a:pt x="52947" y="2988"/>
                  </a:lnTo>
                  <a:lnTo>
                    <a:pt x="38100" y="0"/>
                  </a:lnTo>
                  <a:close/>
                </a:path>
                <a:path w="7610475" h="76200">
                  <a:moveTo>
                    <a:pt x="7572375" y="0"/>
                  </a:moveTo>
                  <a:lnTo>
                    <a:pt x="7557527" y="2988"/>
                  </a:lnTo>
                  <a:lnTo>
                    <a:pt x="7545419" y="11144"/>
                  </a:lnTo>
                  <a:lnTo>
                    <a:pt x="7537263" y="23252"/>
                  </a:lnTo>
                  <a:lnTo>
                    <a:pt x="7534275" y="38100"/>
                  </a:lnTo>
                  <a:lnTo>
                    <a:pt x="7537263" y="52947"/>
                  </a:lnTo>
                  <a:lnTo>
                    <a:pt x="7545419" y="65055"/>
                  </a:lnTo>
                  <a:lnTo>
                    <a:pt x="7557527" y="73211"/>
                  </a:lnTo>
                  <a:lnTo>
                    <a:pt x="7572375" y="76200"/>
                  </a:lnTo>
                  <a:lnTo>
                    <a:pt x="7587222" y="73211"/>
                  </a:lnTo>
                  <a:lnTo>
                    <a:pt x="7599330" y="65055"/>
                  </a:lnTo>
                  <a:lnTo>
                    <a:pt x="7607486" y="52947"/>
                  </a:lnTo>
                  <a:lnTo>
                    <a:pt x="7609196" y="44450"/>
                  </a:lnTo>
                  <a:lnTo>
                    <a:pt x="7575931" y="44450"/>
                  </a:lnTo>
                  <a:lnTo>
                    <a:pt x="7578725" y="41655"/>
                  </a:lnTo>
                  <a:lnTo>
                    <a:pt x="7578725" y="34543"/>
                  </a:lnTo>
                  <a:lnTo>
                    <a:pt x="7575931" y="31750"/>
                  </a:lnTo>
                  <a:lnTo>
                    <a:pt x="7609196" y="31750"/>
                  </a:lnTo>
                  <a:lnTo>
                    <a:pt x="7607486" y="23252"/>
                  </a:lnTo>
                  <a:lnTo>
                    <a:pt x="7599330" y="11144"/>
                  </a:lnTo>
                  <a:lnTo>
                    <a:pt x="7587222" y="2988"/>
                  </a:lnTo>
                  <a:lnTo>
                    <a:pt x="7572375" y="0"/>
                  </a:lnTo>
                  <a:close/>
                </a:path>
                <a:path w="7610475" h="76200">
                  <a:moveTo>
                    <a:pt x="74921" y="31750"/>
                  </a:moveTo>
                  <a:lnTo>
                    <a:pt x="34594" y="31750"/>
                  </a:lnTo>
                  <a:lnTo>
                    <a:pt x="31750" y="34543"/>
                  </a:lnTo>
                  <a:lnTo>
                    <a:pt x="31750" y="41655"/>
                  </a:lnTo>
                  <a:lnTo>
                    <a:pt x="34594" y="44450"/>
                  </a:lnTo>
                  <a:lnTo>
                    <a:pt x="74921" y="44450"/>
                  </a:lnTo>
                  <a:lnTo>
                    <a:pt x="76200" y="38100"/>
                  </a:lnTo>
                  <a:lnTo>
                    <a:pt x="74921" y="31750"/>
                  </a:lnTo>
                  <a:close/>
                </a:path>
                <a:path w="7610475" h="76200">
                  <a:moveTo>
                    <a:pt x="7535553" y="31750"/>
                  </a:moveTo>
                  <a:lnTo>
                    <a:pt x="74921" y="31750"/>
                  </a:lnTo>
                  <a:lnTo>
                    <a:pt x="76200" y="38100"/>
                  </a:lnTo>
                  <a:lnTo>
                    <a:pt x="74921" y="44450"/>
                  </a:lnTo>
                  <a:lnTo>
                    <a:pt x="7535553" y="44450"/>
                  </a:lnTo>
                  <a:lnTo>
                    <a:pt x="7534275" y="38100"/>
                  </a:lnTo>
                  <a:lnTo>
                    <a:pt x="7535553" y="31750"/>
                  </a:lnTo>
                  <a:close/>
                </a:path>
                <a:path w="7610475" h="76200">
                  <a:moveTo>
                    <a:pt x="7609196" y="31750"/>
                  </a:moveTo>
                  <a:lnTo>
                    <a:pt x="7575931" y="31750"/>
                  </a:lnTo>
                  <a:lnTo>
                    <a:pt x="7578725" y="34543"/>
                  </a:lnTo>
                  <a:lnTo>
                    <a:pt x="7578725" y="41655"/>
                  </a:lnTo>
                  <a:lnTo>
                    <a:pt x="7575931" y="44450"/>
                  </a:lnTo>
                  <a:lnTo>
                    <a:pt x="7609196" y="44450"/>
                  </a:lnTo>
                  <a:lnTo>
                    <a:pt x="7610475" y="38100"/>
                  </a:lnTo>
                  <a:lnTo>
                    <a:pt x="7609196" y="31750"/>
                  </a:lnTo>
                  <a:close/>
                </a:path>
              </a:pathLst>
            </a:custGeom>
            <a:solidFill>
              <a:srgbClr val="6D6E73"/>
            </a:solidFill>
          </p:spPr>
          <p:txBody>
            <a:bodyPr wrap="square" lIns="0" tIns="0" rIns="0" bIns="0" rtlCol="0"/>
            <a:lstStyle/>
            <a:p>
              <a:endParaRPr/>
            </a:p>
          </p:txBody>
        </p:sp>
        <p:sp>
          <p:nvSpPr>
            <p:cNvPr id="45" name="object 45"/>
            <p:cNvSpPr/>
            <p:nvPr/>
          </p:nvSpPr>
          <p:spPr>
            <a:xfrm>
              <a:off x="4521708" y="1478280"/>
              <a:ext cx="1062355" cy="215265"/>
            </a:xfrm>
            <a:custGeom>
              <a:avLst/>
              <a:gdLst/>
              <a:ahLst/>
              <a:cxnLst/>
              <a:rect l="l" t="t" r="r" b="b"/>
              <a:pathLst>
                <a:path w="1062354" h="215264">
                  <a:moveTo>
                    <a:pt x="1062227" y="0"/>
                  </a:moveTo>
                  <a:lnTo>
                    <a:pt x="0" y="0"/>
                  </a:lnTo>
                  <a:lnTo>
                    <a:pt x="0" y="214884"/>
                  </a:lnTo>
                  <a:lnTo>
                    <a:pt x="1062227" y="214884"/>
                  </a:lnTo>
                  <a:lnTo>
                    <a:pt x="1062227" y="0"/>
                  </a:lnTo>
                  <a:close/>
                </a:path>
              </a:pathLst>
            </a:custGeom>
            <a:solidFill>
              <a:srgbClr val="F1F1F1"/>
            </a:solidFill>
          </p:spPr>
          <p:txBody>
            <a:bodyPr wrap="square" lIns="0" tIns="0" rIns="0" bIns="0" rtlCol="0"/>
            <a:lstStyle/>
            <a:p>
              <a:endParaRPr/>
            </a:p>
          </p:txBody>
        </p:sp>
      </p:grpSp>
      <p:grpSp>
        <p:nvGrpSpPr>
          <p:cNvPr id="46" name="object 46"/>
          <p:cNvGrpSpPr/>
          <p:nvPr/>
        </p:nvGrpSpPr>
        <p:grpSpPr>
          <a:xfrm>
            <a:off x="9108947" y="1478280"/>
            <a:ext cx="1652270" cy="215265"/>
            <a:chOff x="9108947" y="1478280"/>
            <a:chExt cx="1652270" cy="215265"/>
          </a:xfrm>
        </p:grpSpPr>
        <p:sp>
          <p:nvSpPr>
            <p:cNvPr id="47" name="object 47"/>
            <p:cNvSpPr/>
            <p:nvPr/>
          </p:nvSpPr>
          <p:spPr>
            <a:xfrm>
              <a:off x="9108947" y="1548384"/>
              <a:ext cx="1652270" cy="76200"/>
            </a:xfrm>
            <a:custGeom>
              <a:avLst/>
              <a:gdLst/>
              <a:ahLst/>
              <a:cxnLst/>
              <a:rect l="l" t="t" r="r" b="b"/>
              <a:pathLst>
                <a:path w="1652270" h="76200">
                  <a:moveTo>
                    <a:pt x="38100" y="0"/>
                  </a:moveTo>
                  <a:lnTo>
                    <a:pt x="23252" y="2988"/>
                  </a:lnTo>
                  <a:lnTo>
                    <a:pt x="11144" y="11144"/>
                  </a:lnTo>
                  <a:lnTo>
                    <a:pt x="2988" y="23252"/>
                  </a:lnTo>
                  <a:lnTo>
                    <a:pt x="0" y="38100"/>
                  </a:lnTo>
                  <a:lnTo>
                    <a:pt x="2988" y="52947"/>
                  </a:lnTo>
                  <a:lnTo>
                    <a:pt x="11144" y="65055"/>
                  </a:lnTo>
                  <a:lnTo>
                    <a:pt x="23252" y="73211"/>
                  </a:lnTo>
                  <a:lnTo>
                    <a:pt x="38100" y="76200"/>
                  </a:lnTo>
                  <a:lnTo>
                    <a:pt x="52947" y="73211"/>
                  </a:lnTo>
                  <a:lnTo>
                    <a:pt x="65055" y="65055"/>
                  </a:lnTo>
                  <a:lnTo>
                    <a:pt x="73211" y="52947"/>
                  </a:lnTo>
                  <a:lnTo>
                    <a:pt x="74921" y="44450"/>
                  </a:lnTo>
                  <a:lnTo>
                    <a:pt x="34544" y="44450"/>
                  </a:lnTo>
                  <a:lnTo>
                    <a:pt x="31750" y="41655"/>
                  </a:lnTo>
                  <a:lnTo>
                    <a:pt x="31750" y="34543"/>
                  </a:lnTo>
                  <a:lnTo>
                    <a:pt x="34544" y="31750"/>
                  </a:lnTo>
                  <a:lnTo>
                    <a:pt x="74921" y="31750"/>
                  </a:lnTo>
                  <a:lnTo>
                    <a:pt x="73211" y="23252"/>
                  </a:lnTo>
                  <a:lnTo>
                    <a:pt x="65055" y="11144"/>
                  </a:lnTo>
                  <a:lnTo>
                    <a:pt x="52947" y="2988"/>
                  </a:lnTo>
                  <a:lnTo>
                    <a:pt x="38100" y="0"/>
                  </a:lnTo>
                  <a:close/>
                </a:path>
                <a:path w="1652270" h="76200">
                  <a:moveTo>
                    <a:pt x="1614043" y="0"/>
                  </a:moveTo>
                  <a:lnTo>
                    <a:pt x="1599195" y="2988"/>
                  </a:lnTo>
                  <a:lnTo>
                    <a:pt x="1587087" y="11144"/>
                  </a:lnTo>
                  <a:lnTo>
                    <a:pt x="1578931" y="23252"/>
                  </a:lnTo>
                  <a:lnTo>
                    <a:pt x="1575943" y="38100"/>
                  </a:lnTo>
                  <a:lnTo>
                    <a:pt x="1578931" y="52947"/>
                  </a:lnTo>
                  <a:lnTo>
                    <a:pt x="1587087" y="65055"/>
                  </a:lnTo>
                  <a:lnTo>
                    <a:pt x="1599195" y="73211"/>
                  </a:lnTo>
                  <a:lnTo>
                    <a:pt x="1614043" y="76200"/>
                  </a:lnTo>
                  <a:lnTo>
                    <a:pt x="1628890" y="73211"/>
                  </a:lnTo>
                  <a:lnTo>
                    <a:pt x="1640998" y="65055"/>
                  </a:lnTo>
                  <a:lnTo>
                    <a:pt x="1649154" y="52947"/>
                  </a:lnTo>
                  <a:lnTo>
                    <a:pt x="1650864" y="44450"/>
                  </a:lnTo>
                  <a:lnTo>
                    <a:pt x="1617599" y="44450"/>
                  </a:lnTo>
                  <a:lnTo>
                    <a:pt x="1620393" y="41655"/>
                  </a:lnTo>
                  <a:lnTo>
                    <a:pt x="1620393" y="34543"/>
                  </a:lnTo>
                  <a:lnTo>
                    <a:pt x="1617599" y="31750"/>
                  </a:lnTo>
                  <a:lnTo>
                    <a:pt x="1650864" y="31750"/>
                  </a:lnTo>
                  <a:lnTo>
                    <a:pt x="1649154" y="23252"/>
                  </a:lnTo>
                  <a:lnTo>
                    <a:pt x="1640998" y="11144"/>
                  </a:lnTo>
                  <a:lnTo>
                    <a:pt x="1628890" y="2988"/>
                  </a:lnTo>
                  <a:lnTo>
                    <a:pt x="1614043" y="0"/>
                  </a:lnTo>
                  <a:close/>
                </a:path>
                <a:path w="1652270" h="76200">
                  <a:moveTo>
                    <a:pt x="74921" y="31750"/>
                  </a:moveTo>
                  <a:lnTo>
                    <a:pt x="34544" y="31750"/>
                  </a:lnTo>
                  <a:lnTo>
                    <a:pt x="31750" y="34543"/>
                  </a:lnTo>
                  <a:lnTo>
                    <a:pt x="31750" y="41655"/>
                  </a:lnTo>
                  <a:lnTo>
                    <a:pt x="34544" y="44450"/>
                  </a:lnTo>
                  <a:lnTo>
                    <a:pt x="74921" y="44450"/>
                  </a:lnTo>
                  <a:lnTo>
                    <a:pt x="76200" y="38100"/>
                  </a:lnTo>
                  <a:lnTo>
                    <a:pt x="74921" y="31750"/>
                  </a:lnTo>
                  <a:close/>
                </a:path>
                <a:path w="1652270" h="76200">
                  <a:moveTo>
                    <a:pt x="1577221" y="31750"/>
                  </a:moveTo>
                  <a:lnTo>
                    <a:pt x="74921" y="31750"/>
                  </a:lnTo>
                  <a:lnTo>
                    <a:pt x="76200" y="38100"/>
                  </a:lnTo>
                  <a:lnTo>
                    <a:pt x="74921" y="44450"/>
                  </a:lnTo>
                  <a:lnTo>
                    <a:pt x="1577221" y="44450"/>
                  </a:lnTo>
                  <a:lnTo>
                    <a:pt x="1575943" y="38100"/>
                  </a:lnTo>
                  <a:lnTo>
                    <a:pt x="1577221" y="31750"/>
                  </a:lnTo>
                  <a:close/>
                </a:path>
                <a:path w="1652270" h="76200">
                  <a:moveTo>
                    <a:pt x="1650864" y="31750"/>
                  </a:moveTo>
                  <a:lnTo>
                    <a:pt x="1617599" y="31750"/>
                  </a:lnTo>
                  <a:lnTo>
                    <a:pt x="1620393" y="34543"/>
                  </a:lnTo>
                  <a:lnTo>
                    <a:pt x="1620393" y="41655"/>
                  </a:lnTo>
                  <a:lnTo>
                    <a:pt x="1617599" y="44450"/>
                  </a:lnTo>
                  <a:lnTo>
                    <a:pt x="1650864" y="44450"/>
                  </a:lnTo>
                  <a:lnTo>
                    <a:pt x="1652143" y="38100"/>
                  </a:lnTo>
                  <a:lnTo>
                    <a:pt x="1650864" y="31750"/>
                  </a:lnTo>
                  <a:close/>
                </a:path>
              </a:pathLst>
            </a:custGeom>
            <a:solidFill>
              <a:srgbClr val="6D6E73"/>
            </a:solidFill>
          </p:spPr>
          <p:txBody>
            <a:bodyPr wrap="square" lIns="0" tIns="0" rIns="0" bIns="0" rtlCol="0"/>
            <a:lstStyle/>
            <a:p>
              <a:endParaRPr/>
            </a:p>
          </p:txBody>
        </p:sp>
        <p:sp>
          <p:nvSpPr>
            <p:cNvPr id="48" name="object 48"/>
            <p:cNvSpPr/>
            <p:nvPr/>
          </p:nvSpPr>
          <p:spPr>
            <a:xfrm>
              <a:off x="9590531" y="1478280"/>
              <a:ext cx="688975" cy="215265"/>
            </a:xfrm>
            <a:custGeom>
              <a:avLst/>
              <a:gdLst/>
              <a:ahLst/>
              <a:cxnLst/>
              <a:rect l="l" t="t" r="r" b="b"/>
              <a:pathLst>
                <a:path w="688975" h="215264">
                  <a:moveTo>
                    <a:pt x="688848" y="0"/>
                  </a:moveTo>
                  <a:lnTo>
                    <a:pt x="0" y="0"/>
                  </a:lnTo>
                  <a:lnTo>
                    <a:pt x="0" y="214884"/>
                  </a:lnTo>
                  <a:lnTo>
                    <a:pt x="688848" y="214884"/>
                  </a:lnTo>
                  <a:lnTo>
                    <a:pt x="688848" y="0"/>
                  </a:lnTo>
                  <a:close/>
                </a:path>
              </a:pathLst>
            </a:custGeom>
            <a:solidFill>
              <a:srgbClr val="F1F1F1"/>
            </a:solidFill>
          </p:spPr>
          <p:txBody>
            <a:bodyPr wrap="square" lIns="0" tIns="0" rIns="0" bIns="0" rtlCol="0"/>
            <a:lstStyle/>
            <a:p>
              <a:endParaRPr/>
            </a:p>
          </p:txBody>
        </p:sp>
      </p:grpSp>
      <p:sp>
        <p:nvSpPr>
          <p:cNvPr id="49" name="object 49"/>
          <p:cNvSpPr txBox="1"/>
          <p:nvPr/>
        </p:nvSpPr>
        <p:spPr>
          <a:xfrm>
            <a:off x="4867402" y="1461007"/>
            <a:ext cx="5253990" cy="239395"/>
          </a:xfrm>
          <a:prstGeom prst="rect">
            <a:avLst/>
          </a:prstGeom>
        </p:spPr>
        <p:txBody>
          <a:bodyPr vert="horz" wrap="square" lIns="0" tIns="13335" rIns="0" bIns="0" rtlCol="0">
            <a:spAutoFit/>
          </a:bodyPr>
          <a:lstStyle/>
          <a:p>
            <a:pPr marL="12700">
              <a:lnSpc>
                <a:spcPct val="100000"/>
              </a:lnSpc>
              <a:spcBef>
                <a:spcPts val="105"/>
              </a:spcBef>
              <a:tabLst>
                <a:tab pos="4895215" algn="l"/>
              </a:tabLst>
            </a:pPr>
            <a:r>
              <a:rPr sz="1400" spc="-25">
                <a:solidFill>
                  <a:srgbClr val="565656"/>
                </a:solidFill>
                <a:latin typeface="Trebuchet MS"/>
                <a:cs typeface="Trebuchet MS"/>
              </a:rPr>
              <a:t>Who</a:t>
            </a:r>
            <a:r>
              <a:rPr sz="1400">
                <a:solidFill>
                  <a:srgbClr val="565656"/>
                </a:solidFill>
                <a:latin typeface="Trebuchet MS"/>
                <a:cs typeface="Trebuchet MS"/>
              </a:rPr>
              <a:t>	</a:t>
            </a:r>
            <a:r>
              <a:rPr sz="1400" spc="-25">
                <a:solidFill>
                  <a:srgbClr val="565656"/>
                </a:solidFill>
                <a:latin typeface="Trebuchet MS"/>
                <a:cs typeface="Trebuchet MS"/>
              </a:rPr>
              <a:t>How</a:t>
            </a:r>
            <a:endParaRPr sz="1400">
              <a:latin typeface="Trebuchet MS"/>
              <a:cs typeface="Trebuchet MS"/>
            </a:endParaRPr>
          </a:p>
        </p:txBody>
      </p:sp>
      <p:sp>
        <p:nvSpPr>
          <p:cNvPr id="50" name="object 50"/>
          <p:cNvSpPr txBox="1"/>
          <p:nvPr/>
        </p:nvSpPr>
        <p:spPr>
          <a:xfrm>
            <a:off x="9073895" y="2330195"/>
            <a:ext cx="1734820" cy="1728470"/>
          </a:xfrm>
          <a:prstGeom prst="rect">
            <a:avLst/>
          </a:prstGeom>
          <a:ln w="9525">
            <a:solidFill>
              <a:srgbClr val="29B974"/>
            </a:solidFill>
          </a:ln>
        </p:spPr>
        <p:txBody>
          <a:bodyPr vert="horz" wrap="square" lIns="0" tIns="0" rIns="0" bIns="0" rtlCol="0">
            <a:spAutoFit/>
          </a:bodyPr>
          <a:lstStyle/>
          <a:p>
            <a:pPr>
              <a:lnSpc>
                <a:spcPct val="100000"/>
              </a:lnSpc>
            </a:pPr>
            <a:endParaRPr sz="1200">
              <a:latin typeface="Times New Roman"/>
              <a:cs typeface="Times New Roman"/>
            </a:endParaRPr>
          </a:p>
          <a:p>
            <a:pPr>
              <a:lnSpc>
                <a:spcPct val="100000"/>
              </a:lnSpc>
            </a:pPr>
            <a:endParaRPr sz="1200">
              <a:latin typeface="Times New Roman"/>
              <a:cs typeface="Times New Roman"/>
            </a:endParaRPr>
          </a:p>
          <a:p>
            <a:pPr>
              <a:lnSpc>
                <a:spcPct val="100000"/>
              </a:lnSpc>
              <a:spcBef>
                <a:spcPts val="1305"/>
              </a:spcBef>
            </a:pPr>
            <a:endParaRPr sz="1200">
              <a:latin typeface="Times New Roman"/>
              <a:cs typeface="Times New Roman"/>
            </a:endParaRPr>
          </a:p>
          <a:p>
            <a:pPr marL="106045" marR="112395" indent="3175" algn="ctr">
              <a:lnSpc>
                <a:spcPts val="1300"/>
              </a:lnSpc>
            </a:pPr>
            <a:r>
              <a:rPr sz="1200">
                <a:solidFill>
                  <a:srgbClr val="565656"/>
                </a:solidFill>
                <a:latin typeface="Trebuchet MS"/>
                <a:cs typeface="Trebuchet MS"/>
              </a:rPr>
              <a:t>RM</a:t>
            </a:r>
            <a:r>
              <a:rPr sz="1200" spc="-30">
                <a:solidFill>
                  <a:srgbClr val="565656"/>
                </a:solidFill>
                <a:latin typeface="Trebuchet MS"/>
                <a:cs typeface="Trebuchet MS"/>
              </a:rPr>
              <a:t> </a:t>
            </a:r>
            <a:r>
              <a:rPr sz="1200">
                <a:solidFill>
                  <a:srgbClr val="565656"/>
                </a:solidFill>
                <a:latin typeface="Trebuchet MS"/>
                <a:cs typeface="Trebuchet MS"/>
              </a:rPr>
              <a:t>ensures</a:t>
            </a:r>
            <a:r>
              <a:rPr sz="1200" spc="-55">
                <a:solidFill>
                  <a:srgbClr val="565656"/>
                </a:solidFill>
                <a:latin typeface="Trebuchet MS"/>
                <a:cs typeface="Trebuchet MS"/>
              </a:rPr>
              <a:t> </a:t>
            </a:r>
            <a:r>
              <a:rPr sz="1200" spc="-10">
                <a:solidFill>
                  <a:srgbClr val="565656"/>
                </a:solidFill>
                <a:latin typeface="Trebuchet MS"/>
                <a:cs typeface="Trebuchet MS"/>
              </a:rPr>
              <a:t>relevance </a:t>
            </a:r>
            <a:r>
              <a:rPr sz="1200">
                <a:solidFill>
                  <a:srgbClr val="565656"/>
                </a:solidFill>
                <a:latin typeface="Trebuchet MS"/>
                <a:cs typeface="Trebuchet MS"/>
              </a:rPr>
              <a:t>and</a:t>
            </a:r>
            <a:r>
              <a:rPr sz="1200" spc="15">
                <a:solidFill>
                  <a:srgbClr val="565656"/>
                </a:solidFill>
                <a:latin typeface="Trebuchet MS"/>
                <a:cs typeface="Trebuchet MS"/>
              </a:rPr>
              <a:t> </a:t>
            </a:r>
            <a:r>
              <a:rPr sz="1200" spc="-10">
                <a:solidFill>
                  <a:srgbClr val="565656"/>
                </a:solidFill>
                <a:latin typeface="Trebuchet MS"/>
                <a:cs typeface="Trebuchet MS"/>
              </a:rPr>
              <a:t>applicability</a:t>
            </a:r>
            <a:r>
              <a:rPr sz="1200" spc="-5">
                <a:solidFill>
                  <a:srgbClr val="565656"/>
                </a:solidFill>
                <a:latin typeface="Trebuchet MS"/>
                <a:cs typeface="Trebuchet MS"/>
              </a:rPr>
              <a:t> </a:t>
            </a:r>
            <a:r>
              <a:rPr sz="1200" spc="-25">
                <a:solidFill>
                  <a:srgbClr val="565656"/>
                </a:solidFill>
                <a:latin typeface="Trebuchet MS"/>
                <a:cs typeface="Trebuchet MS"/>
              </a:rPr>
              <a:t>of </a:t>
            </a:r>
            <a:r>
              <a:rPr sz="1200">
                <a:solidFill>
                  <a:srgbClr val="565656"/>
                </a:solidFill>
                <a:latin typeface="Trebuchet MS"/>
                <a:cs typeface="Trebuchet MS"/>
              </a:rPr>
              <a:t>leads</a:t>
            </a:r>
            <a:r>
              <a:rPr sz="1200" spc="-45">
                <a:solidFill>
                  <a:srgbClr val="565656"/>
                </a:solidFill>
                <a:latin typeface="Trebuchet MS"/>
                <a:cs typeface="Trebuchet MS"/>
              </a:rPr>
              <a:t> </a:t>
            </a:r>
            <a:r>
              <a:rPr sz="1200">
                <a:solidFill>
                  <a:srgbClr val="565656"/>
                </a:solidFill>
                <a:latin typeface="Trebuchet MS"/>
                <a:cs typeface="Trebuchet MS"/>
              </a:rPr>
              <a:t>in</a:t>
            </a:r>
            <a:r>
              <a:rPr sz="1200" spc="-20">
                <a:solidFill>
                  <a:srgbClr val="565656"/>
                </a:solidFill>
                <a:latin typeface="Trebuchet MS"/>
                <a:cs typeface="Trebuchet MS"/>
              </a:rPr>
              <a:t> </a:t>
            </a:r>
            <a:r>
              <a:rPr sz="1200">
                <a:solidFill>
                  <a:srgbClr val="565656"/>
                </a:solidFill>
                <a:latin typeface="Trebuchet MS"/>
                <a:cs typeface="Trebuchet MS"/>
              </a:rPr>
              <a:t>current</a:t>
            </a:r>
            <a:r>
              <a:rPr sz="1200" spc="-55">
                <a:solidFill>
                  <a:srgbClr val="565656"/>
                </a:solidFill>
                <a:latin typeface="Trebuchet MS"/>
                <a:cs typeface="Trebuchet MS"/>
              </a:rPr>
              <a:t> </a:t>
            </a:r>
            <a:r>
              <a:rPr sz="1200" spc="-10">
                <a:solidFill>
                  <a:srgbClr val="565656"/>
                </a:solidFill>
                <a:latin typeface="Trebuchet MS"/>
                <a:cs typeface="Trebuchet MS"/>
              </a:rPr>
              <a:t>client context</a:t>
            </a:r>
            <a:endParaRPr sz="1200">
              <a:latin typeface="Trebuchet MS"/>
              <a:cs typeface="Trebuchet MS"/>
            </a:endParaRPr>
          </a:p>
          <a:p>
            <a:pPr marR="3810" algn="ctr">
              <a:lnSpc>
                <a:spcPct val="100000"/>
              </a:lnSpc>
              <a:spcBef>
                <a:spcPts val="1120"/>
              </a:spcBef>
            </a:pPr>
            <a:r>
              <a:rPr sz="1200" i="1">
                <a:solidFill>
                  <a:srgbClr val="565656"/>
                </a:solidFill>
                <a:latin typeface="Trebuchet MS"/>
                <a:cs typeface="Trebuchet MS"/>
              </a:rPr>
              <a:t>Monitoring</a:t>
            </a:r>
            <a:r>
              <a:rPr sz="1200" i="1" spc="-40">
                <a:solidFill>
                  <a:srgbClr val="565656"/>
                </a:solidFill>
                <a:latin typeface="Trebuchet MS"/>
                <a:cs typeface="Trebuchet MS"/>
              </a:rPr>
              <a:t> </a:t>
            </a:r>
            <a:r>
              <a:rPr sz="1200" i="1">
                <a:solidFill>
                  <a:srgbClr val="565656"/>
                </a:solidFill>
                <a:latin typeface="Trebuchet MS"/>
                <a:cs typeface="Trebuchet MS"/>
              </a:rPr>
              <a:t>&amp;</a:t>
            </a:r>
            <a:r>
              <a:rPr sz="1200" i="1" spc="-10">
                <a:solidFill>
                  <a:srgbClr val="565656"/>
                </a:solidFill>
                <a:latin typeface="Trebuchet MS"/>
                <a:cs typeface="Trebuchet MS"/>
              </a:rPr>
              <a:t> Tracking</a:t>
            </a:r>
            <a:endParaRPr sz="1200">
              <a:latin typeface="Trebuchet MS"/>
              <a:cs typeface="Trebuchet MS"/>
            </a:endParaRPr>
          </a:p>
        </p:txBody>
      </p:sp>
      <p:grpSp>
        <p:nvGrpSpPr>
          <p:cNvPr id="51" name="object 51"/>
          <p:cNvGrpSpPr/>
          <p:nvPr/>
        </p:nvGrpSpPr>
        <p:grpSpPr>
          <a:xfrm>
            <a:off x="9637776" y="4863084"/>
            <a:ext cx="509905" cy="431800"/>
            <a:chOff x="9637776" y="4863084"/>
            <a:chExt cx="509905" cy="431800"/>
          </a:xfrm>
        </p:grpSpPr>
        <p:sp>
          <p:nvSpPr>
            <p:cNvPr id="52" name="object 52"/>
            <p:cNvSpPr/>
            <p:nvPr/>
          </p:nvSpPr>
          <p:spPr>
            <a:xfrm>
              <a:off x="9774301" y="4863084"/>
              <a:ext cx="373380" cy="257175"/>
            </a:xfrm>
            <a:custGeom>
              <a:avLst/>
              <a:gdLst/>
              <a:ahLst/>
              <a:cxnLst/>
              <a:rect l="l" t="t" r="r" b="b"/>
              <a:pathLst>
                <a:path w="373379" h="257175">
                  <a:moveTo>
                    <a:pt x="288671" y="112776"/>
                  </a:moveTo>
                  <a:lnTo>
                    <a:pt x="280543" y="112776"/>
                  </a:lnTo>
                  <a:lnTo>
                    <a:pt x="276732" y="115062"/>
                  </a:lnTo>
                  <a:lnTo>
                    <a:pt x="273939" y="122809"/>
                  </a:lnTo>
                  <a:lnTo>
                    <a:pt x="261774" y="155420"/>
                  </a:lnTo>
                  <a:lnTo>
                    <a:pt x="249491" y="188055"/>
                  </a:lnTo>
                  <a:lnTo>
                    <a:pt x="237026" y="220866"/>
                  </a:lnTo>
                  <a:lnTo>
                    <a:pt x="224663" y="253111"/>
                  </a:lnTo>
                  <a:lnTo>
                    <a:pt x="224663" y="253365"/>
                  </a:lnTo>
                  <a:lnTo>
                    <a:pt x="224027" y="255270"/>
                  </a:lnTo>
                  <a:lnTo>
                    <a:pt x="226568" y="257175"/>
                  </a:lnTo>
                  <a:lnTo>
                    <a:pt x="228092" y="255270"/>
                  </a:lnTo>
                  <a:lnTo>
                    <a:pt x="367029" y="116586"/>
                  </a:lnTo>
                  <a:lnTo>
                    <a:pt x="368553" y="115316"/>
                  </a:lnTo>
                  <a:lnTo>
                    <a:pt x="367283" y="113157"/>
                  </a:lnTo>
                  <a:lnTo>
                    <a:pt x="288671" y="112776"/>
                  </a:lnTo>
                  <a:close/>
                </a:path>
                <a:path w="373379" h="257175">
                  <a:moveTo>
                    <a:pt x="256031" y="112776"/>
                  </a:moveTo>
                  <a:lnTo>
                    <a:pt x="117982" y="112776"/>
                  </a:lnTo>
                  <a:lnTo>
                    <a:pt x="117348" y="114427"/>
                  </a:lnTo>
                  <a:lnTo>
                    <a:pt x="117601" y="115697"/>
                  </a:lnTo>
                  <a:lnTo>
                    <a:pt x="128266" y="144093"/>
                  </a:lnTo>
                  <a:lnTo>
                    <a:pt x="140211" y="176168"/>
                  </a:lnTo>
                  <a:lnTo>
                    <a:pt x="142875" y="183134"/>
                  </a:lnTo>
                  <a:lnTo>
                    <a:pt x="179831" y="185039"/>
                  </a:lnTo>
                  <a:lnTo>
                    <a:pt x="192595" y="187408"/>
                  </a:lnTo>
                  <a:lnTo>
                    <a:pt x="203930" y="192849"/>
                  </a:lnTo>
                  <a:lnTo>
                    <a:pt x="213407" y="200862"/>
                  </a:lnTo>
                  <a:lnTo>
                    <a:pt x="220599" y="210947"/>
                  </a:lnTo>
                  <a:lnTo>
                    <a:pt x="229427" y="187188"/>
                  </a:lnTo>
                  <a:lnTo>
                    <a:pt x="238363" y="163369"/>
                  </a:lnTo>
                  <a:lnTo>
                    <a:pt x="247370" y="139527"/>
                  </a:lnTo>
                  <a:lnTo>
                    <a:pt x="256413" y="115697"/>
                  </a:lnTo>
                  <a:lnTo>
                    <a:pt x="257048" y="114427"/>
                  </a:lnTo>
                  <a:lnTo>
                    <a:pt x="256031" y="112776"/>
                  </a:lnTo>
                  <a:close/>
                </a:path>
                <a:path w="373379" h="257175">
                  <a:moveTo>
                    <a:pt x="91948" y="113157"/>
                  </a:moveTo>
                  <a:lnTo>
                    <a:pt x="7747" y="113157"/>
                  </a:lnTo>
                  <a:lnTo>
                    <a:pt x="7112" y="115316"/>
                  </a:lnTo>
                  <a:lnTo>
                    <a:pt x="8000" y="116586"/>
                  </a:lnTo>
                  <a:lnTo>
                    <a:pt x="55453" y="163859"/>
                  </a:lnTo>
                  <a:lnTo>
                    <a:pt x="71120" y="179705"/>
                  </a:lnTo>
                  <a:lnTo>
                    <a:pt x="122174" y="182118"/>
                  </a:lnTo>
                  <a:lnTo>
                    <a:pt x="115891" y="165994"/>
                  </a:lnTo>
                  <a:lnTo>
                    <a:pt x="103564" y="133415"/>
                  </a:lnTo>
                  <a:lnTo>
                    <a:pt x="97281" y="117221"/>
                  </a:lnTo>
                  <a:lnTo>
                    <a:pt x="96647" y="115062"/>
                  </a:lnTo>
                  <a:lnTo>
                    <a:pt x="91948" y="113157"/>
                  </a:lnTo>
                  <a:close/>
                </a:path>
                <a:path w="373379" h="257175">
                  <a:moveTo>
                    <a:pt x="69070" y="112996"/>
                  </a:moveTo>
                  <a:lnTo>
                    <a:pt x="9651" y="113157"/>
                  </a:lnTo>
                  <a:lnTo>
                    <a:pt x="89407" y="113157"/>
                  </a:lnTo>
                  <a:lnTo>
                    <a:pt x="69070" y="112996"/>
                  </a:lnTo>
                  <a:close/>
                </a:path>
                <a:path w="373379" h="257175">
                  <a:moveTo>
                    <a:pt x="237363" y="0"/>
                  </a:moveTo>
                  <a:lnTo>
                    <a:pt x="235839" y="0"/>
                  </a:lnTo>
                  <a:lnTo>
                    <a:pt x="234569" y="1905"/>
                  </a:lnTo>
                  <a:lnTo>
                    <a:pt x="235457" y="3175"/>
                  </a:lnTo>
                  <a:lnTo>
                    <a:pt x="245883" y="26312"/>
                  </a:lnTo>
                  <a:lnTo>
                    <a:pt x="254507" y="45354"/>
                  </a:lnTo>
                  <a:lnTo>
                    <a:pt x="265135" y="68627"/>
                  </a:lnTo>
                  <a:lnTo>
                    <a:pt x="273176" y="86106"/>
                  </a:lnTo>
                  <a:lnTo>
                    <a:pt x="275717" y="92329"/>
                  </a:lnTo>
                  <a:lnTo>
                    <a:pt x="279400" y="94615"/>
                  </a:lnTo>
                  <a:lnTo>
                    <a:pt x="286384" y="94234"/>
                  </a:lnTo>
                  <a:lnTo>
                    <a:pt x="368107" y="94126"/>
                  </a:lnTo>
                  <a:lnTo>
                    <a:pt x="369062" y="93980"/>
                  </a:lnTo>
                  <a:lnTo>
                    <a:pt x="370967" y="93599"/>
                  </a:lnTo>
                  <a:lnTo>
                    <a:pt x="372491" y="93599"/>
                  </a:lnTo>
                  <a:lnTo>
                    <a:pt x="372872" y="91059"/>
                  </a:lnTo>
                  <a:lnTo>
                    <a:pt x="372237" y="90170"/>
                  </a:lnTo>
                  <a:lnTo>
                    <a:pt x="352252" y="68578"/>
                  </a:lnTo>
                  <a:lnTo>
                    <a:pt x="312614" y="25346"/>
                  </a:lnTo>
                  <a:lnTo>
                    <a:pt x="294004" y="5334"/>
                  </a:lnTo>
                  <a:lnTo>
                    <a:pt x="291846" y="2794"/>
                  </a:lnTo>
                  <a:lnTo>
                    <a:pt x="287654" y="635"/>
                  </a:lnTo>
                  <a:lnTo>
                    <a:pt x="284479" y="635"/>
                  </a:lnTo>
                  <a:lnTo>
                    <a:pt x="273099" y="267"/>
                  </a:lnTo>
                  <a:lnTo>
                    <a:pt x="261540" y="79"/>
                  </a:lnTo>
                  <a:lnTo>
                    <a:pt x="237363" y="0"/>
                  </a:lnTo>
                  <a:close/>
                </a:path>
                <a:path w="373379" h="257175">
                  <a:moveTo>
                    <a:pt x="368107" y="94126"/>
                  </a:moveTo>
                  <a:lnTo>
                    <a:pt x="306371" y="94126"/>
                  </a:lnTo>
                  <a:lnTo>
                    <a:pt x="367410" y="94234"/>
                  </a:lnTo>
                  <a:lnTo>
                    <a:pt x="368107" y="94126"/>
                  </a:lnTo>
                  <a:close/>
                </a:path>
                <a:path w="373379" h="257175">
                  <a:moveTo>
                    <a:pt x="138049" y="0"/>
                  </a:moveTo>
                  <a:lnTo>
                    <a:pt x="112125" y="79"/>
                  </a:lnTo>
                  <a:lnTo>
                    <a:pt x="100578" y="267"/>
                  </a:lnTo>
                  <a:lnTo>
                    <a:pt x="89280" y="635"/>
                  </a:lnTo>
                  <a:lnTo>
                    <a:pt x="85598" y="635"/>
                  </a:lnTo>
                  <a:lnTo>
                    <a:pt x="55197" y="31194"/>
                  </a:lnTo>
                  <a:lnTo>
                    <a:pt x="32003" y="56896"/>
                  </a:lnTo>
                  <a:lnTo>
                    <a:pt x="24483" y="64992"/>
                  </a:lnTo>
                  <a:lnTo>
                    <a:pt x="9251" y="81613"/>
                  </a:lnTo>
                  <a:lnTo>
                    <a:pt x="1016" y="90424"/>
                  </a:lnTo>
                  <a:lnTo>
                    <a:pt x="0" y="91313"/>
                  </a:lnTo>
                  <a:lnTo>
                    <a:pt x="1016" y="93853"/>
                  </a:lnTo>
                  <a:lnTo>
                    <a:pt x="92201" y="93853"/>
                  </a:lnTo>
                  <a:lnTo>
                    <a:pt x="94360" y="93218"/>
                  </a:lnTo>
                  <a:lnTo>
                    <a:pt x="97535" y="91313"/>
                  </a:lnTo>
                  <a:lnTo>
                    <a:pt x="98171" y="89408"/>
                  </a:lnTo>
                  <a:lnTo>
                    <a:pt x="108126" y="68308"/>
                  </a:lnTo>
                  <a:lnTo>
                    <a:pt x="128228" y="25346"/>
                  </a:lnTo>
                  <a:lnTo>
                    <a:pt x="138683" y="3175"/>
                  </a:lnTo>
                  <a:lnTo>
                    <a:pt x="139065" y="1905"/>
                  </a:lnTo>
                  <a:lnTo>
                    <a:pt x="138049" y="0"/>
                  </a:lnTo>
                  <a:close/>
                </a:path>
                <a:path w="373379" h="257175">
                  <a:moveTo>
                    <a:pt x="209676" y="635"/>
                  </a:moveTo>
                  <a:lnTo>
                    <a:pt x="163956" y="635"/>
                  </a:lnTo>
                  <a:lnTo>
                    <a:pt x="159893" y="1905"/>
                  </a:lnTo>
                  <a:lnTo>
                    <a:pt x="138810" y="46847"/>
                  </a:lnTo>
                  <a:lnTo>
                    <a:pt x="118999" y="90678"/>
                  </a:lnTo>
                  <a:lnTo>
                    <a:pt x="117982" y="92329"/>
                  </a:lnTo>
                  <a:lnTo>
                    <a:pt x="119252" y="93853"/>
                  </a:lnTo>
                  <a:lnTo>
                    <a:pt x="255016" y="93853"/>
                  </a:lnTo>
                  <a:lnTo>
                    <a:pt x="255524" y="92329"/>
                  </a:lnTo>
                  <a:lnTo>
                    <a:pt x="255270" y="90678"/>
                  </a:lnTo>
                  <a:lnTo>
                    <a:pt x="244827" y="68308"/>
                  </a:lnTo>
                  <a:lnTo>
                    <a:pt x="225226" y="25346"/>
                  </a:lnTo>
                  <a:lnTo>
                    <a:pt x="215900" y="5334"/>
                  </a:lnTo>
                  <a:lnTo>
                    <a:pt x="214375" y="2794"/>
                  </a:lnTo>
                  <a:lnTo>
                    <a:pt x="209676" y="635"/>
                  </a:lnTo>
                  <a:close/>
                </a:path>
                <a:path w="373379" h="257175">
                  <a:moveTo>
                    <a:pt x="186896" y="158"/>
                  </a:moveTo>
                  <a:lnTo>
                    <a:pt x="176877" y="277"/>
                  </a:lnTo>
                  <a:lnTo>
                    <a:pt x="166750" y="635"/>
                  </a:lnTo>
                  <a:lnTo>
                    <a:pt x="206755" y="635"/>
                  </a:lnTo>
                  <a:lnTo>
                    <a:pt x="196844" y="277"/>
                  </a:lnTo>
                  <a:lnTo>
                    <a:pt x="186896" y="158"/>
                  </a:lnTo>
                  <a:close/>
                </a:path>
              </a:pathLst>
            </a:custGeom>
            <a:solidFill>
              <a:srgbClr val="29B974"/>
            </a:solidFill>
          </p:spPr>
          <p:txBody>
            <a:bodyPr wrap="square" lIns="0" tIns="0" rIns="0" bIns="0" rtlCol="0"/>
            <a:lstStyle/>
            <a:p>
              <a:endParaRPr/>
            </a:p>
          </p:txBody>
        </p:sp>
        <p:sp>
          <p:nvSpPr>
            <p:cNvPr id="53" name="object 53"/>
            <p:cNvSpPr/>
            <p:nvPr/>
          </p:nvSpPr>
          <p:spPr>
            <a:xfrm>
              <a:off x="9637776" y="5055616"/>
              <a:ext cx="497205" cy="238760"/>
            </a:xfrm>
            <a:custGeom>
              <a:avLst/>
              <a:gdLst/>
              <a:ahLst/>
              <a:cxnLst/>
              <a:rect l="l" t="t" r="r" b="b"/>
              <a:pathLst>
                <a:path w="497204" h="238760">
                  <a:moveTo>
                    <a:pt x="181609" y="0"/>
                  </a:moveTo>
                  <a:lnTo>
                    <a:pt x="169037" y="0"/>
                  </a:lnTo>
                  <a:lnTo>
                    <a:pt x="168655" y="1270"/>
                  </a:lnTo>
                  <a:lnTo>
                    <a:pt x="160781" y="1270"/>
                  </a:lnTo>
                  <a:lnTo>
                    <a:pt x="156718" y="2540"/>
                  </a:lnTo>
                  <a:lnTo>
                    <a:pt x="155701" y="2540"/>
                  </a:lnTo>
                  <a:lnTo>
                    <a:pt x="155067" y="3810"/>
                  </a:lnTo>
                  <a:lnTo>
                    <a:pt x="151383" y="3810"/>
                  </a:lnTo>
                  <a:lnTo>
                    <a:pt x="151383" y="5080"/>
                  </a:lnTo>
                  <a:lnTo>
                    <a:pt x="148208" y="5080"/>
                  </a:lnTo>
                  <a:lnTo>
                    <a:pt x="147574" y="6350"/>
                  </a:lnTo>
                  <a:lnTo>
                    <a:pt x="145033" y="6350"/>
                  </a:lnTo>
                  <a:lnTo>
                    <a:pt x="144399" y="7620"/>
                  </a:lnTo>
                  <a:lnTo>
                    <a:pt x="142494" y="7620"/>
                  </a:lnTo>
                  <a:lnTo>
                    <a:pt x="141858" y="8890"/>
                  </a:lnTo>
                  <a:lnTo>
                    <a:pt x="139953" y="8890"/>
                  </a:lnTo>
                  <a:lnTo>
                    <a:pt x="139700" y="10160"/>
                  </a:lnTo>
                  <a:lnTo>
                    <a:pt x="137795" y="10160"/>
                  </a:lnTo>
                  <a:lnTo>
                    <a:pt x="137159" y="11430"/>
                  </a:lnTo>
                  <a:lnTo>
                    <a:pt x="3428" y="86360"/>
                  </a:lnTo>
                  <a:lnTo>
                    <a:pt x="1524" y="87630"/>
                  </a:lnTo>
                  <a:lnTo>
                    <a:pt x="0" y="90170"/>
                  </a:lnTo>
                  <a:lnTo>
                    <a:pt x="0" y="234950"/>
                  </a:lnTo>
                  <a:lnTo>
                    <a:pt x="1270" y="237490"/>
                  </a:lnTo>
                  <a:lnTo>
                    <a:pt x="3175" y="238760"/>
                  </a:lnTo>
                  <a:lnTo>
                    <a:pt x="8890" y="238760"/>
                  </a:lnTo>
                  <a:lnTo>
                    <a:pt x="52091" y="222250"/>
                  </a:lnTo>
                  <a:lnTo>
                    <a:pt x="14097" y="222250"/>
                  </a:lnTo>
                  <a:lnTo>
                    <a:pt x="14097" y="96520"/>
                  </a:lnTo>
                  <a:lnTo>
                    <a:pt x="144145" y="22860"/>
                  </a:lnTo>
                  <a:lnTo>
                    <a:pt x="152759" y="19050"/>
                  </a:lnTo>
                  <a:lnTo>
                    <a:pt x="161909" y="16510"/>
                  </a:lnTo>
                  <a:lnTo>
                    <a:pt x="171416" y="13970"/>
                  </a:lnTo>
                  <a:lnTo>
                    <a:pt x="334662" y="13970"/>
                  </a:lnTo>
                  <a:lnTo>
                    <a:pt x="332978" y="12700"/>
                  </a:lnTo>
                  <a:lnTo>
                    <a:pt x="325074" y="8890"/>
                  </a:lnTo>
                  <a:lnTo>
                    <a:pt x="316229" y="7620"/>
                  </a:lnTo>
                  <a:lnTo>
                    <a:pt x="181609" y="0"/>
                  </a:lnTo>
                  <a:close/>
                </a:path>
                <a:path w="497204" h="238760">
                  <a:moveTo>
                    <a:pt x="177673" y="160020"/>
                  </a:moveTo>
                  <a:lnTo>
                    <a:pt x="170052" y="161290"/>
                  </a:lnTo>
                  <a:lnTo>
                    <a:pt x="162814" y="165100"/>
                  </a:lnTo>
                  <a:lnTo>
                    <a:pt x="14097" y="222250"/>
                  </a:lnTo>
                  <a:lnTo>
                    <a:pt x="52091" y="222250"/>
                  </a:lnTo>
                  <a:lnTo>
                    <a:pt x="168401" y="177800"/>
                  </a:lnTo>
                  <a:lnTo>
                    <a:pt x="169037" y="176530"/>
                  </a:lnTo>
                  <a:lnTo>
                    <a:pt x="173100" y="176530"/>
                  </a:lnTo>
                  <a:lnTo>
                    <a:pt x="173735" y="175260"/>
                  </a:lnTo>
                  <a:lnTo>
                    <a:pt x="328929" y="175260"/>
                  </a:lnTo>
                  <a:lnTo>
                    <a:pt x="333375" y="173990"/>
                  </a:lnTo>
                  <a:lnTo>
                    <a:pt x="335788" y="173990"/>
                  </a:lnTo>
                  <a:lnTo>
                    <a:pt x="336803" y="172720"/>
                  </a:lnTo>
                  <a:lnTo>
                    <a:pt x="340868" y="172720"/>
                  </a:lnTo>
                  <a:lnTo>
                    <a:pt x="342138" y="171450"/>
                  </a:lnTo>
                  <a:lnTo>
                    <a:pt x="345948" y="171450"/>
                  </a:lnTo>
                  <a:lnTo>
                    <a:pt x="347218" y="170180"/>
                  </a:lnTo>
                  <a:lnTo>
                    <a:pt x="350393" y="170180"/>
                  </a:lnTo>
                  <a:lnTo>
                    <a:pt x="352551" y="168910"/>
                  </a:lnTo>
                  <a:lnTo>
                    <a:pt x="356362" y="167640"/>
                  </a:lnTo>
                  <a:lnTo>
                    <a:pt x="360509" y="166370"/>
                  </a:lnTo>
                  <a:lnTo>
                    <a:pt x="251205" y="166370"/>
                  </a:lnTo>
                  <a:lnTo>
                    <a:pt x="186322" y="161290"/>
                  </a:lnTo>
                  <a:lnTo>
                    <a:pt x="177673" y="160020"/>
                  </a:lnTo>
                  <a:close/>
                </a:path>
                <a:path w="497204" h="238760">
                  <a:moveTo>
                    <a:pt x="324484" y="175260"/>
                  </a:moveTo>
                  <a:lnTo>
                    <a:pt x="184150" y="175260"/>
                  </a:lnTo>
                  <a:lnTo>
                    <a:pt x="210708" y="177800"/>
                  </a:lnTo>
                  <a:lnTo>
                    <a:pt x="250190" y="180340"/>
                  </a:lnTo>
                  <a:lnTo>
                    <a:pt x="294080" y="180340"/>
                  </a:lnTo>
                  <a:lnTo>
                    <a:pt x="307137" y="177800"/>
                  </a:lnTo>
                  <a:lnTo>
                    <a:pt x="314325" y="177800"/>
                  </a:lnTo>
                  <a:lnTo>
                    <a:pt x="315975" y="176530"/>
                  </a:lnTo>
                  <a:lnTo>
                    <a:pt x="320040" y="176530"/>
                  </a:lnTo>
                  <a:lnTo>
                    <a:pt x="324484" y="175260"/>
                  </a:lnTo>
                  <a:close/>
                </a:path>
                <a:path w="497204" h="238760">
                  <a:moveTo>
                    <a:pt x="487306" y="25400"/>
                  </a:moveTo>
                  <a:lnTo>
                    <a:pt x="464439" y="25400"/>
                  </a:lnTo>
                  <a:lnTo>
                    <a:pt x="470534" y="27940"/>
                  </a:lnTo>
                  <a:lnTo>
                    <a:pt x="475233" y="31750"/>
                  </a:lnTo>
                  <a:lnTo>
                    <a:pt x="480750" y="39370"/>
                  </a:lnTo>
                  <a:lnTo>
                    <a:pt x="482980" y="48260"/>
                  </a:lnTo>
                  <a:lnTo>
                    <a:pt x="481877" y="55880"/>
                  </a:lnTo>
                  <a:lnTo>
                    <a:pt x="439558" y="105410"/>
                  </a:lnTo>
                  <a:lnTo>
                    <a:pt x="383766" y="142240"/>
                  </a:lnTo>
                  <a:lnTo>
                    <a:pt x="327483" y="160020"/>
                  </a:lnTo>
                  <a:lnTo>
                    <a:pt x="276806" y="166370"/>
                  </a:lnTo>
                  <a:lnTo>
                    <a:pt x="360509" y="166370"/>
                  </a:lnTo>
                  <a:lnTo>
                    <a:pt x="404421" y="147320"/>
                  </a:lnTo>
                  <a:lnTo>
                    <a:pt x="420497" y="137160"/>
                  </a:lnTo>
                  <a:lnTo>
                    <a:pt x="421767" y="137160"/>
                  </a:lnTo>
                  <a:lnTo>
                    <a:pt x="424306" y="134620"/>
                  </a:lnTo>
                  <a:lnTo>
                    <a:pt x="425830" y="133350"/>
                  </a:lnTo>
                  <a:lnTo>
                    <a:pt x="427100" y="132080"/>
                  </a:lnTo>
                  <a:lnTo>
                    <a:pt x="463159" y="101600"/>
                  </a:lnTo>
                  <a:lnTo>
                    <a:pt x="495022" y="60960"/>
                  </a:lnTo>
                  <a:lnTo>
                    <a:pt x="496760" y="46990"/>
                  </a:lnTo>
                  <a:lnTo>
                    <a:pt x="493164" y="33020"/>
                  </a:lnTo>
                  <a:lnTo>
                    <a:pt x="487306" y="25400"/>
                  </a:lnTo>
                  <a:close/>
                </a:path>
                <a:path w="497204" h="238760">
                  <a:moveTo>
                    <a:pt x="334662" y="13970"/>
                  </a:moveTo>
                  <a:lnTo>
                    <a:pt x="181101" y="13970"/>
                  </a:lnTo>
                  <a:lnTo>
                    <a:pt x="315341" y="21590"/>
                  </a:lnTo>
                  <a:lnTo>
                    <a:pt x="323338" y="22860"/>
                  </a:lnTo>
                  <a:lnTo>
                    <a:pt x="329787" y="27940"/>
                  </a:lnTo>
                  <a:lnTo>
                    <a:pt x="334093" y="34290"/>
                  </a:lnTo>
                  <a:lnTo>
                    <a:pt x="335660" y="41910"/>
                  </a:lnTo>
                  <a:lnTo>
                    <a:pt x="334198" y="49530"/>
                  </a:lnTo>
                  <a:lnTo>
                    <a:pt x="330152" y="55880"/>
                  </a:lnTo>
                  <a:lnTo>
                    <a:pt x="324034" y="60960"/>
                  </a:lnTo>
                  <a:lnTo>
                    <a:pt x="316356" y="62230"/>
                  </a:lnTo>
                  <a:lnTo>
                    <a:pt x="246506" y="69850"/>
                  </a:lnTo>
                  <a:lnTo>
                    <a:pt x="243331" y="69850"/>
                  </a:lnTo>
                  <a:lnTo>
                    <a:pt x="240792" y="72390"/>
                  </a:lnTo>
                  <a:lnTo>
                    <a:pt x="240538" y="76200"/>
                  </a:lnTo>
                  <a:lnTo>
                    <a:pt x="239902" y="78740"/>
                  </a:lnTo>
                  <a:lnTo>
                    <a:pt x="241807" y="81280"/>
                  </a:lnTo>
                  <a:lnTo>
                    <a:pt x="244601" y="82550"/>
                  </a:lnTo>
                  <a:lnTo>
                    <a:pt x="268985" y="92710"/>
                  </a:lnTo>
                  <a:lnTo>
                    <a:pt x="290135" y="99060"/>
                  </a:lnTo>
                  <a:lnTo>
                    <a:pt x="312070" y="102870"/>
                  </a:lnTo>
                  <a:lnTo>
                    <a:pt x="334244" y="101600"/>
                  </a:lnTo>
                  <a:lnTo>
                    <a:pt x="356107" y="97790"/>
                  </a:lnTo>
                  <a:lnTo>
                    <a:pt x="374332" y="91440"/>
                  </a:lnTo>
                  <a:lnTo>
                    <a:pt x="379185" y="88900"/>
                  </a:lnTo>
                  <a:lnTo>
                    <a:pt x="315263" y="88900"/>
                  </a:lnTo>
                  <a:lnTo>
                    <a:pt x="301990" y="87630"/>
                  </a:lnTo>
                  <a:lnTo>
                    <a:pt x="288883" y="85090"/>
                  </a:lnTo>
                  <a:lnTo>
                    <a:pt x="276098" y="81280"/>
                  </a:lnTo>
                  <a:lnTo>
                    <a:pt x="317880" y="77470"/>
                  </a:lnTo>
                  <a:lnTo>
                    <a:pt x="320675" y="76200"/>
                  </a:lnTo>
                  <a:lnTo>
                    <a:pt x="323469" y="76200"/>
                  </a:lnTo>
                  <a:lnTo>
                    <a:pt x="326390" y="74930"/>
                  </a:lnTo>
                  <a:lnTo>
                    <a:pt x="327025" y="74930"/>
                  </a:lnTo>
                  <a:lnTo>
                    <a:pt x="327659" y="73660"/>
                  </a:lnTo>
                  <a:lnTo>
                    <a:pt x="330834" y="73660"/>
                  </a:lnTo>
                  <a:lnTo>
                    <a:pt x="330834" y="72390"/>
                  </a:lnTo>
                  <a:lnTo>
                    <a:pt x="332740" y="72390"/>
                  </a:lnTo>
                  <a:lnTo>
                    <a:pt x="333375" y="71120"/>
                  </a:lnTo>
                  <a:lnTo>
                    <a:pt x="334899" y="71120"/>
                  </a:lnTo>
                  <a:lnTo>
                    <a:pt x="336169" y="68580"/>
                  </a:lnTo>
                  <a:lnTo>
                    <a:pt x="337693" y="68580"/>
                  </a:lnTo>
                  <a:lnTo>
                    <a:pt x="343407" y="63500"/>
                  </a:lnTo>
                  <a:lnTo>
                    <a:pt x="347599" y="55880"/>
                  </a:lnTo>
                  <a:lnTo>
                    <a:pt x="348742" y="46990"/>
                  </a:lnTo>
                  <a:lnTo>
                    <a:pt x="349123" y="46990"/>
                  </a:lnTo>
                  <a:lnTo>
                    <a:pt x="349123" y="44450"/>
                  </a:lnTo>
                  <a:lnTo>
                    <a:pt x="349376" y="43180"/>
                  </a:lnTo>
                  <a:lnTo>
                    <a:pt x="349376" y="39370"/>
                  </a:lnTo>
                  <a:lnTo>
                    <a:pt x="349123" y="36830"/>
                  </a:lnTo>
                  <a:lnTo>
                    <a:pt x="348742" y="35560"/>
                  </a:lnTo>
                  <a:lnTo>
                    <a:pt x="348106" y="33020"/>
                  </a:lnTo>
                  <a:lnTo>
                    <a:pt x="347218" y="29210"/>
                  </a:lnTo>
                  <a:lnTo>
                    <a:pt x="345948" y="26670"/>
                  </a:lnTo>
                  <a:lnTo>
                    <a:pt x="345694" y="26670"/>
                  </a:lnTo>
                  <a:lnTo>
                    <a:pt x="345313" y="25400"/>
                  </a:lnTo>
                  <a:lnTo>
                    <a:pt x="345058" y="25400"/>
                  </a:lnTo>
                  <a:lnTo>
                    <a:pt x="339715" y="17780"/>
                  </a:lnTo>
                  <a:lnTo>
                    <a:pt x="334662" y="13970"/>
                  </a:lnTo>
                  <a:close/>
                </a:path>
                <a:path w="497204" h="238760">
                  <a:moveTo>
                    <a:pt x="465963" y="11430"/>
                  </a:moveTo>
                  <a:lnTo>
                    <a:pt x="457200" y="11430"/>
                  </a:lnTo>
                  <a:lnTo>
                    <a:pt x="450461" y="12700"/>
                  </a:lnTo>
                  <a:lnTo>
                    <a:pt x="444055" y="15240"/>
                  </a:lnTo>
                  <a:lnTo>
                    <a:pt x="438126" y="19050"/>
                  </a:lnTo>
                  <a:lnTo>
                    <a:pt x="432816" y="22860"/>
                  </a:lnTo>
                  <a:lnTo>
                    <a:pt x="432180" y="22860"/>
                  </a:lnTo>
                  <a:lnTo>
                    <a:pt x="431292" y="24130"/>
                  </a:lnTo>
                  <a:lnTo>
                    <a:pt x="410464" y="48260"/>
                  </a:lnTo>
                  <a:lnTo>
                    <a:pt x="407543" y="50800"/>
                  </a:lnTo>
                  <a:lnTo>
                    <a:pt x="405002" y="53340"/>
                  </a:lnTo>
                  <a:lnTo>
                    <a:pt x="365505" y="80010"/>
                  </a:lnTo>
                  <a:lnTo>
                    <a:pt x="361060" y="81280"/>
                  </a:lnTo>
                  <a:lnTo>
                    <a:pt x="356743" y="83820"/>
                  </a:lnTo>
                  <a:lnTo>
                    <a:pt x="352298" y="85090"/>
                  </a:lnTo>
                  <a:lnTo>
                    <a:pt x="347852" y="85090"/>
                  </a:lnTo>
                  <a:lnTo>
                    <a:pt x="347599" y="86360"/>
                  </a:lnTo>
                  <a:lnTo>
                    <a:pt x="342519" y="86360"/>
                  </a:lnTo>
                  <a:lnTo>
                    <a:pt x="338074" y="87630"/>
                  </a:lnTo>
                  <a:lnTo>
                    <a:pt x="333375" y="87630"/>
                  </a:lnTo>
                  <a:lnTo>
                    <a:pt x="328549" y="88900"/>
                  </a:lnTo>
                  <a:lnTo>
                    <a:pt x="379185" y="88900"/>
                  </a:lnTo>
                  <a:lnTo>
                    <a:pt x="420624" y="57150"/>
                  </a:lnTo>
                  <a:lnTo>
                    <a:pt x="445897" y="29210"/>
                  </a:lnTo>
                  <a:lnTo>
                    <a:pt x="451866" y="26670"/>
                  </a:lnTo>
                  <a:lnTo>
                    <a:pt x="458216" y="25400"/>
                  </a:lnTo>
                  <a:lnTo>
                    <a:pt x="487306" y="25400"/>
                  </a:lnTo>
                  <a:lnTo>
                    <a:pt x="484377" y="21590"/>
                  </a:lnTo>
                  <a:lnTo>
                    <a:pt x="483743" y="21590"/>
                  </a:lnTo>
                  <a:lnTo>
                    <a:pt x="483362" y="20320"/>
                  </a:lnTo>
                  <a:lnTo>
                    <a:pt x="482473" y="20320"/>
                  </a:lnTo>
                  <a:lnTo>
                    <a:pt x="481456" y="19050"/>
                  </a:lnTo>
                  <a:lnTo>
                    <a:pt x="480822" y="19050"/>
                  </a:lnTo>
                  <a:lnTo>
                    <a:pt x="480568" y="17780"/>
                  </a:lnTo>
                  <a:lnTo>
                    <a:pt x="478917" y="17780"/>
                  </a:lnTo>
                  <a:lnTo>
                    <a:pt x="478281" y="16510"/>
                  </a:lnTo>
                  <a:lnTo>
                    <a:pt x="477393" y="16510"/>
                  </a:lnTo>
                  <a:lnTo>
                    <a:pt x="472058" y="13970"/>
                  </a:lnTo>
                  <a:lnTo>
                    <a:pt x="465963" y="11430"/>
                  </a:lnTo>
                  <a:close/>
                </a:path>
              </a:pathLst>
            </a:custGeom>
            <a:solidFill>
              <a:srgbClr val="03522C"/>
            </a:solidFill>
          </p:spPr>
          <p:txBody>
            <a:bodyPr wrap="square" lIns="0" tIns="0" rIns="0" bIns="0" rtlCol="0"/>
            <a:lstStyle/>
            <a:p>
              <a:endParaRPr/>
            </a:p>
          </p:txBody>
        </p:sp>
      </p:grpSp>
      <p:graphicFrame>
        <p:nvGraphicFramePr>
          <p:cNvPr id="54" name="object 54"/>
          <p:cNvGraphicFramePr>
            <a:graphicFrameLocks noGrp="1"/>
          </p:cNvGraphicFramePr>
          <p:nvPr/>
        </p:nvGraphicFramePr>
        <p:xfrm>
          <a:off x="9069133" y="4267009"/>
          <a:ext cx="1734185" cy="1768475"/>
        </p:xfrm>
        <a:graphic>
          <a:graphicData uri="http://schemas.openxmlformats.org/drawingml/2006/table">
            <a:tbl>
              <a:tblPr firstRow="1" bandRow="1">
                <a:tableStyleId>{2D5ABB26-0587-4C30-8999-92F81FD0307C}</a:tableStyleId>
              </a:tblPr>
              <a:tblGrid>
                <a:gridCol w="510540">
                  <a:extLst>
                    <a:ext uri="{9D8B030D-6E8A-4147-A177-3AD203B41FA5}">
                      <a16:colId xmlns:a16="http://schemas.microsoft.com/office/drawing/2014/main" val="20000"/>
                    </a:ext>
                  </a:extLst>
                </a:gridCol>
                <a:gridCol w="1223645">
                  <a:extLst>
                    <a:ext uri="{9D8B030D-6E8A-4147-A177-3AD203B41FA5}">
                      <a16:colId xmlns:a16="http://schemas.microsoft.com/office/drawing/2014/main" val="20001"/>
                    </a:ext>
                  </a:extLst>
                </a:gridCol>
              </a:tblGrid>
              <a:tr h="387350">
                <a:tc>
                  <a:txBody>
                    <a:bodyPr/>
                    <a:lstStyle/>
                    <a:p>
                      <a:pPr marL="125730">
                        <a:lnSpc>
                          <a:spcPct val="100000"/>
                        </a:lnSpc>
                        <a:spcBef>
                          <a:spcPts val="525"/>
                        </a:spcBef>
                      </a:pPr>
                      <a:r>
                        <a:rPr sz="1600" b="1" spc="-25">
                          <a:solidFill>
                            <a:srgbClr val="6D6E73"/>
                          </a:solidFill>
                          <a:latin typeface="Trebuchet MS"/>
                          <a:cs typeface="Trebuchet MS"/>
                        </a:rPr>
                        <a:t>A6</a:t>
                      </a:r>
                      <a:endParaRPr sz="1600">
                        <a:latin typeface="Trebuchet MS"/>
                        <a:cs typeface="Trebuchet MS"/>
                      </a:endParaRPr>
                    </a:p>
                  </a:txBody>
                  <a:tcPr marL="0" marR="0" marT="66675" marB="0">
                    <a:lnL w="9525">
                      <a:solidFill>
                        <a:srgbClr val="D3DF33"/>
                      </a:solidFill>
                      <a:prstDash val="solid"/>
                    </a:lnL>
                    <a:lnR w="9525">
                      <a:solidFill>
                        <a:srgbClr val="D3DF33"/>
                      </a:solidFill>
                      <a:prstDash val="solid"/>
                    </a:lnR>
                    <a:lnT w="9525">
                      <a:solidFill>
                        <a:srgbClr val="D3DF33"/>
                      </a:solidFill>
                      <a:prstDash val="solid"/>
                    </a:lnT>
                    <a:lnB w="12700">
                      <a:solidFill>
                        <a:srgbClr val="D3DF33"/>
                      </a:solidFill>
                      <a:prstDash val="solid"/>
                    </a:lnB>
                    <a:solidFill>
                      <a:srgbClr val="D3DF33"/>
                    </a:solidFill>
                  </a:tcPr>
                </a:tc>
                <a:tc>
                  <a:txBody>
                    <a:bodyPr/>
                    <a:lstStyle/>
                    <a:p>
                      <a:pPr marL="349250" marR="277495" indent="-64135">
                        <a:lnSpc>
                          <a:spcPct val="100000"/>
                        </a:lnSpc>
                        <a:spcBef>
                          <a:spcPts val="60"/>
                        </a:spcBef>
                      </a:pPr>
                      <a:r>
                        <a:rPr sz="1200">
                          <a:solidFill>
                            <a:srgbClr val="565656"/>
                          </a:solidFill>
                          <a:latin typeface="Trebuchet MS"/>
                          <a:cs typeface="Trebuchet MS"/>
                        </a:rPr>
                        <a:t>Next</a:t>
                      </a:r>
                      <a:r>
                        <a:rPr sz="1200" spc="-40">
                          <a:solidFill>
                            <a:srgbClr val="565656"/>
                          </a:solidFill>
                          <a:latin typeface="Trebuchet MS"/>
                          <a:cs typeface="Trebuchet MS"/>
                        </a:rPr>
                        <a:t> </a:t>
                      </a:r>
                      <a:r>
                        <a:rPr sz="1200" spc="-20">
                          <a:solidFill>
                            <a:srgbClr val="565656"/>
                          </a:solidFill>
                          <a:latin typeface="Trebuchet MS"/>
                          <a:cs typeface="Trebuchet MS"/>
                        </a:rPr>
                        <a:t>Best </a:t>
                      </a:r>
                      <a:r>
                        <a:rPr sz="1200" spc="-10">
                          <a:solidFill>
                            <a:srgbClr val="565656"/>
                          </a:solidFill>
                          <a:latin typeface="Trebuchet MS"/>
                          <a:cs typeface="Trebuchet MS"/>
                        </a:rPr>
                        <a:t>Product</a:t>
                      </a:r>
                      <a:endParaRPr sz="1200">
                        <a:latin typeface="Trebuchet MS"/>
                        <a:cs typeface="Trebuchet MS"/>
                      </a:endParaRPr>
                    </a:p>
                  </a:txBody>
                  <a:tcPr marL="0" marR="0" marT="7620" marB="0">
                    <a:lnL w="9525">
                      <a:solidFill>
                        <a:srgbClr val="D3DF33"/>
                      </a:solidFill>
                      <a:prstDash val="solid"/>
                    </a:lnL>
                    <a:lnR w="9525">
                      <a:solidFill>
                        <a:srgbClr val="D3DF33"/>
                      </a:solidFill>
                      <a:prstDash val="solid"/>
                    </a:lnR>
                    <a:lnT w="9525">
                      <a:solidFill>
                        <a:srgbClr val="D3DF33"/>
                      </a:solidFill>
                      <a:prstDash val="solid"/>
                    </a:lnT>
                    <a:lnB w="12700">
                      <a:solidFill>
                        <a:srgbClr val="D3DF33"/>
                      </a:solidFill>
                      <a:prstDash val="solid"/>
                    </a:lnB>
                  </a:tcPr>
                </a:tc>
                <a:extLst>
                  <a:ext uri="{0D108BD9-81ED-4DB2-BD59-A6C34878D82A}">
                    <a16:rowId xmlns:a16="http://schemas.microsoft.com/office/drawing/2014/main" val="10000"/>
                  </a:ext>
                </a:extLst>
              </a:tr>
              <a:tr h="1381125">
                <a:tc gridSpan="2">
                  <a:txBody>
                    <a:bodyPr/>
                    <a:lstStyle/>
                    <a:p>
                      <a:pPr>
                        <a:lnSpc>
                          <a:spcPct val="100000"/>
                        </a:lnSpc>
                      </a:pPr>
                      <a:endParaRPr sz="1200">
                        <a:latin typeface="Times New Roman"/>
                        <a:cs typeface="Times New Roman"/>
                      </a:endParaRPr>
                    </a:p>
                    <a:p>
                      <a:pPr>
                        <a:lnSpc>
                          <a:spcPct val="100000"/>
                        </a:lnSpc>
                      </a:pPr>
                      <a:endParaRPr sz="1200">
                        <a:latin typeface="Times New Roman"/>
                        <a:cs typeface="Times New Roman"/>
                      </a:endParaRPr>
                    </a:p>
                    <a:p>
                      <a:pPr>
                        <a:lnSpc>
                          <a:spcPct val="100000"/>
                        </a:lnSpc>
                        <a:spcBef>
                          <a:spcPts val="1355"/>
                        </a:spcBef>
                      </a:pPr>
                      <a:endParaRPr sz="1200">
                        <a:latin typeface="Times New Roman"/>
                        <a:cs typeface="Times New Roman"/>
                      </a:endParaRPr>
                    </a:p>
                    <a:p>
                      <a:pPr marL="203835" marR="130175" indent="-76200">
                        <a:lnSpc>
                          <a:spcPts val="1300"/>
                        </a:lnSpc>
                      </a:pPr>
                      <a:r>
                        <a:rPr sz="1200">
                          <a:solidFill>
                            <a:srgbClr val="565656"/>
                          </a:solidFill>
                          <a:latin typeface="Trebuchet MS"/>
                          <a:cs typeface="Trebuchet MS"/>
                        </a:rPr>
                        <a:t>What</a:t>
                      </a:r>
                      <a:r>
                        <a:rPr sz="1200" spc="-30">
                          <a:solidFill>
                            <a:srgbClr val="565656"/>
                          </a:solidFill>
                          <a:latin typeface="Trebuchet MS"/>
                          <a:cs typeface="Trebuchet MS"/>
                        </a:rPr>
                        <a:t> </a:t>
                      </a:r>
                      <a:r>
                        <a:rPr sz="1200">
                          <a:solidFill>
                            <a:srgbClr val="565656"/>
                          </a:solidFill>
                          <a:latin typeface="Trebuchet MS"/>
                          <a:cs typeface="Trebuchet MS"/>
                        </a:rPr>
                        <a:t>are</a:t>
                      </a:r>
                      <a:r>
                        <a:rPr sz="1200" spc="-25">
                          <a:solidFill>
                            <a:srgbClr val="565656"/>
                          </a:solidFill>
                          <a:latin typeface="Trebuchet MS"/>
                          <a:cs typeface="Trebuchet MS"/>
                        </a:rPr>
                        <a:t> </a:t>
                      </a:r>
                      <a:r>
                        <a:rPr sz="1200">
                          <a:solidFill>
                            <a:srgbClr val="565656"/>
                          </a:solidFill>
                          <a:latin typeface="Trebuchet MS"/>
                          <a:cs typeface="Trebuchet MS"/>
                        </a:rPr>
                        <a:t>the</a:t>
                      </a:r>
                      <a:r>
                        <a:rPr sz="1200" spc="-10">
                          <a:solidFill>
                            <a:srgbClr val="565656"/>
                          </a:solidFill>
                          <a:latin typeface="Trebuchet MS"/>
                          <a:cs typeface="Trebuchet MS"/>
                        </a:rPr>
                        <a:t> product </a:t>
                      </a:r>
                      <a:r>
                        <a:rPr sz="1200">
                          <a:solidFill>
                            <a:srgbClr val="565656"/>
                          </a:solidFill>
                          <a:latin typeface="Trebuchet MS"/>
                          <a:cs typeface="Trebuchet MS"/>
                        </a:rPr>
                        <a:t>bundles</a:t>
                      </a:r>
                      <a:r>
                        <a:rPr sz="1200" spc="-50">
                          <a:solidFill>
                            <a:srgbClr val="565656"/>
                          </a:solidFill>
                          <a:latin typeface="Trebuchet MS"/>
                          <a:cs typeface="Trebuchet MS"/>
                        </a:rPr>
                        <a:t> </a:t>
                      </a:r>
                      <a:r>
                        <a:rPr sz="1200">
                          <a:solidFill>
                            <a:srgbClr val="565656"/>
                          </a:solidFill>
                          <a:latin typeface="Trebuchet MS"/>
                          <a:cs typeface="Trebuchet MS"/>
                        </a:rPr>
                        <a:t>and</a:t>
                      </a:r>
                      <a:r>
                        <a:rPr sz="1200" spc="-35">
                          <a:solidFill>
                            <a:srgbClr val="565656"/>
                          </a:solidFill>
                          <a:latin typeface="Trebuchet MS"/>
                          <a:cs typeface="Trebuchet MS"/>
                        </a:rPr>
                        <a:t> </a:t>
                      </a:r>
                      <a:r>
                        <a:rPr sz="1200" spc="-10">
                          <a:solidFill>
                            <a:srgbClr val="565656"/>
                          </a:solidFill>
                          <a:latin typeface="Trebuchet MS"/>
                          <a:cs typeface="Trebuchet MS"/>
                        </a:rPr>
                        <a:t>offers?</a:t>
                      </a:r>
                      <a:endParaRPr sz="1200">
                        <a:latin typeface="Trebuchet MS"/>
                        <a:cs typeface="Trebuchet MS"/>
                      </a:endParaRPr>
                    </a:p>
                  </a:txBody>
                  <a:tcPr marL="0" marR="0" marT="0" marB="0">
                    <a:lnL w="9525">
                      <a:solidFill>
                        <a:srgbClr val="D3DF33"/>
                      </a:solidFill>
                      <a:prstDash val="solid"/>
                    </a:lnL>
                    <a:lnR w="9525">
                      <a:solidFill>
                        <a:srgbClr val="D3DF33"/>
                      </a:solidFill>
                      <a:prstDash val="solid"/>
                    </a:lnR>
                    <a:lnT w="12700">
                      <a:solidFill>
                        <a:srgbClr val="D3DF33"/>
                      </a:solidFill>
                      <a:prstDash val="solid"/>
                    </a:lnT>
                    <a:lnB w="9525">
                      <a:solidFill>
                        <a:srgbClr val="D3DF33"/>
                      </a:solidFill>
                      <a:prstDash val="solid"/>
                    </a:lnB>
                  </a:tcPr>
                </a:tc>
                <a:tc hMerge="1">
                  <a:txBody>
                    <a:bodyPr/>
                    <a:lstStyle/>
                    <a:p>
                      <a:endParaRPr/>
                    </a:p>
                  </a:txBody>
                  <a:tcPr marL="0" marR="0" marT="0" marB="0"/>
                </a:tc>
                <a:extLst>
                  <a:ext uri="{0D108BD9-81ED-4DB2-BD59-A6C34878D82A}">
                    <a16:rowId xmlns:a16="http://schemas.microsoft.com/office/drawing/2014/main" val="10001"/>
                  </a:ext>
                </a:extLst>
              </a:tr>
            </a:tbl>
          </a:graphicData>
        </a:graphic>
      </p:graphicFrame>
      <p:grpSp>
        <p:nvGrpSpPr>
          <p:cNvPr id="55" name="object 55"/>
          <p:cNvGrpSpPr/>
          <p:nvPr/>
        </p:nvGrpSpPr>
        <p:grpSpPr>
          <a:xfrm>
            <a:off x="9806749" y="6344221"/>
            <a:ext cx="971550" cy="308610"/>
            <a:chOff x="9806749" y="6344221"/>
            <a:chExt cx="971550" cy="308610"/>
          </a:xfrm>
        </p:grpSpPr>
        <p:sp>
          <p:nvSpPr>
            <p:cNvPr id="56" name="object 56"/>
            <p:cNvSpPr/>
            <p:nvPr/>
          </p:nvSpPr>
          <p:spPr>
            <a:xfrm>
              <a:off x="10037063" y="6348984"/>
              <a:ext cx="736600" cy="299085"/>
            </a:xfrm>
            <a:custGeom>
              <a:avLst/>
              <a:gdLst/>
              <a:ahLst/>
              <a:cxnLst/>
              <a:rect l="l" t="t" r="r" b="b"/>
              <a:pathLst>
                <a:path w="736600" h="299084">
                  <a:moveTo>
                    <a:pt x="0" y="298703"/>
                  </a:moveTo>
                  <a:lnTo>
                    <a:pt x="736092" y="298703"/>
                  </a:lnTo>
                  <a:lnTo>
                    <a:pt x="736092" y="0"/>
                  </a:lnTo>
                  <a:lnTo>
                    <a:pt x="0" y="0"/>
                  </a:lnTo>
                  <a:lnTo>
                    <a:pt x="0" y="298703"/>
                  </a:lnTo>
                  <a:close/>
                </a:path>
              </a:pathLst>
            </a:custGeom>
            <a:ln w="9525">
              <a:solidFill>
                <a:srgbClr val="D3DF33"/>
              </a:solidFill>
            </a:ln>
          </p:spPr>
          <p:txBody>
            <a:bodyPr wrap="square" lIns="0" tIns="0" rIns="0" bIns="0" rtlCol="0"/>
            <a:lstStyle/>
            <a:p>
              <a:endParaRPr/>
            </a:p>
          </p:txBody>
        </p:sp>
        <p:sp>
          <p:nvSpPr>
            <p:cNvPr id="57" name="object 57"/>
            <p:cNvSpPr/>
            <p:nvPr/>
          </p:nvSpPr>
          <p:spPr>
            <a:xfrm>
              <a:off x="9811511" y="6348984"/>
              <a:ext cx="226060" cy="299085"/>
            </a:xfrm>
            <a:custGeom>
              <a:avLst/>
              <a:gdLst/>
              <a:ahLst/>
              <a:cxnLst/>
              <a:rect l="l" t="t" r="r" b="b"/>
              <a:pathLst>
                <a:path w="226059" h="299084">
                  <a:moveTo>
                    <a:pt x="225551" y="0"/>
                  </a:moveTo>
                  <a:lnTo>
                    <a:pt x="0" y="0"/>
                  </a:lnTo>
                  <a:lnTo>
                    <a:pt x="0" y="298703"/>
                  </a:lnTo>
                  <a:lnTo>
                    <a:pt x="225551" y="298703"/>
                  </a:lnTo>
                  <a:lnTo>
                    <a:pt x="225551" y="0"/>
                  </a:lnTo>
                  <a:close/>
                </a:path>
              </a:pathLst>
            </a:custGeom>
            <a:solidFill>
              <a:srgbClr val="D3DF33"/>
            </a:solidFill>
          </p:spPr>
          <p:txBody>
            <a:bodyPr wrap="square" lIns="0" tIns="0" rIns="0" bIns="0" rtlCol="0"/>
            <a:lstStyle/>
            <a:p>
              <a:endParaRPr/>
            </a:p>
          </p:txBody>
        </p:sp>
        <p:sp>
          <p:nvSpPr>
            <p:cNvPr id="58" name="object 58"/>
            <p:cNvSpPr/>
            <p:nvPr/>
          </p:nvSpPr>
          <p:spPr>
            <a:xfrm>
              <a:off x="9811511" y="6348984"/>
              <a:ext cx="226060" cy="299085"/>
            </a:xfrm>
            <a:custGeom>
              <a:avLst/>
              <a:gdLst/>
              <a:ahLst/>
              <a:cxnLst/>
              <a:rect l="l" t="t" r="r" b="b"/>
              <a:pathLst>
                <a:path w="226059" h="299084">
                  <a:moveTo>
                    <a:pt x="0" y="298703"/>
                  </a:moveTo>
                  <a:lnTo>
                    <a:pt x="225551" y="298703"/>
                  </a:lnTo>
                  <a:lnTo>
                    <a:pt x="225551" y="0"/>
                  </a:lnTo>
                  <a:lnTo>
                    <a:pt x="0" y="0"/>
                  </a:lnTo>
                  <a:lnTo>
                    <a:pt x="0" y="298703"/>
                  </a:lnTo>
                  <a:close/>
                </a:path>
              </a:pathLst>
            </a:custGeom>
            <a:ln w="9525">
              <a:solidFill>
                <a:srgbClr val="D3DF33"/>
              </a:solidFill>
            </a:ln>
          </p:spPr>
          <p:txBody>
            <a:bodyPr wrap="square" lIns="0" tIns="0" rIns="0" bIns="0" rtlCol="0"/>
            <a:lstStyle/>
            <a:p>
              <a:endParaRPr/>
            </a:p>
          </p:txBody>
        </p:sp>
      </p:grpSp>
      <p:grpSp>
        <p:nvGrpSpPr>
          <p:cNvPr id="59" name="object 59"/>
          <p:cNvGrpSpPr/>
          <p:nvPr/>
        </p:nvGrpSpPr>
        <p:grpSpPr>
          <a:xfrm>
            <a:off x="9681971" y="2494788"/>
            <a:ext cx="506095" cy="466725"/>
            <a:chOff x="9681971" y="2494788"/>
            <a:chExt cx="506095" cy="466725"/>
          </a:xfrm>
        </p:grpSpPr>
        <p:sp>
          <p:nvSpPr>
            <p:cNvPr id="60" name="object 60"/>
            <p:cNvSpPr/>
            <p:nvPr/>
          </p:nvSpPr>
          <p:spPr>
            <a:xfrm>
              <a:off x="9809987" y="2494788"/>
              <a:ext cx="259079" cy="466725"/>
            </a:xfrm>
            <a:custGeom>
              <a:avLst/>
              <a:gdLst/>
              <a:ahLst/>
              <a:cxnLst/>
              <a:rect l="l" t="t" r="r" b="b"/>
              <a:pathLst>
                <a:path w="259079" h="466725">
                  <a:moveTo>
                    <a:pt x="245344" y="99567"/>
                  </a:moveTo>
                  <a:lnTo>
                    <a:pt x="68579" y="99567"/>
                  </a:lnTo>
                  <a:lnTo>
                    <a:pt x="123412" y="112482"/>
                  </a:lnTo>
                  <a:lnTo>
                    <a:pt x="168719" y="141732"/>
                  </a:lnTo>
                  <a:lnTo>
                    <a:pt x="220852" y="189991"/>
                  </a:lnTo>
                  <a:lnTo>
                    <a:pt x="232023" y="191172"/>
                  </a:lnTo>
                  <a:lnTo>
                    <a:pt x="244586" y="186959"/>
                  </a:lnTo>
                  <a:lnTo>
                    <a:pt x="254839" y="181437"/>
                  </a:lnTo>
                  <a:lnTo>
                    <a:pt x="259079" y="178688"/>
                  </a:lnTo>
                  <a:lnTo>
                    <a:pt x="254492" y="170828"/>
                  </a:lnTo>
                  <a:lnTo>
                    <a:pt x="251618" y="163433"/>
                  </a:lnTo>
                  <a:lnTo>
                    <a:pt x="250296" y="157130"/>
                  </a:lnTo>
                  <a:lnTo>
                    <a:pt x="250208" y="156305"/>
                  </a:lnTo>
                  <a:lnTo>
                    <a:pt x="250062" y="151129"/>
                  </a:lnTo>
                  <a:lnTo>
                    <a:pt x="250951" y="143510"/>
                  </a:lnTo>
                  <a:lnTo>
                    <a:pt x="250697" y="135382"/>
                  </a:lnTo>
                  <a:lnTo>
                    <a:pt x="250697" y="127253"/>
                  </a:lnTo>
                  <a:lnTo>
                    <a:pt x="245344" y="99567"/>
                  </a:lnTo>
                  <a:close/>
                </a:path>
                <a:path w="259079" h="466725">
                  <a:moveTo>
                    <a:pt x="125348" y="0"/>
                  </a:moveTo>
                  <a:lnTo>
                    <a:pt x="75866" y="9989"/>
                  </a:lnTo>
                  <a:lnTo>
                    <a:pt x="36099" y="37242"/>
                  </a:lnTo>
                  <a:lnTo>
                    <a:pt x="9620" y="77688"/>
                  </a:lnTo>
                  <a:lnTo>
                    <a:pt x="0" y="127253"/>
                  </a:lnTo>
                  <a:lnTo>
                    <a:pt x="466" y="141180"/>
                  </a:lnTo>
                  <a:lnTo>
                    <a:pt x="1825" y="157130"/>
                  </a:lnTo>
                  <a:lnTo>
                    <a:pt x="4018" y="171223"/>
                  </a:lnTo>
                  <a:lnTo>
                    <a:pt x="6984" y="179577"/>
                  </a:lnTo>
                  <a:lnTo>
                    <a:pt x="14991" y="176192"/>
                  </a:lnTo>
                  <a:lnTo>
                    <a:pt x="23129" y="156305"/>
                  </a:lnTo>
                  <a:lnTo>
                    <a:pt x="35577" y="129893"/>
                  </a:lnTo>
                  <a:lnTo>
                    <a:pt x="56514" y="106934"/>
                  </a:lnTo>
                  <a:lnTo>
                    <a:pt x="60070" y="104394"/>
                  </a:lnTo>
                  <a:lnTo>
                    <a:pt x="68579" y="99567"/>
                  </a:lnTo>
                  <a:lnTo>
                    <a:pt x="245344" y="99567"/>
                  </a:lnTo>
                  <a:lnTo>
                    <a:pt x="241113" y="77688"/>
                  </a:lnTo>
                  <a:lnTo>
                    <a:pt x="214693" y="37242"/>
                  </a:lnTo>
                  <a:lnTo>
                    <a:pt x="174938" y="9989"/>
                  </a:lnTo>
                  <a:lnTo>
                    <a:pt x="125348" y="0"/>
                  </a:lnTo>
                  <a:close/>
                </a:path>
                <a:path w="259079" h="466725">
                  <a:moveTo>
                    <a:pt x="133476" y="370713"/>
                  </a:moveTo>
                  <a:lnTo>
                    <a:pt x="116839" y="370713"/>
                  </a:lnTo>
                  <a:lnTo>
                    <a:pt x="105663" y="372872"/>
                  </a:lnTo>
                  <a:lnTo>
                    <a:pt x="98932" y="374650"/>
                  </a:lnTo>
                  <a:lnTo>
                    <a:pt x="98043" y="376554"/>
                  </a:lnTo>
                  <a:lnTo>
                    <a:pt x="98932" y="378206"/>
                  </a:lnTo>
                  <a:lnTo>
                    <a:pt x="113283" y="405511"/>
                  </a:lnTo>
                  <a:lnTo>
                    <a:pt x="113537" y="406146"/>
                  </a:lnTo>
                  <a:lnTo>
                    <a:pt x="113791" y="406908"/>
                  </a:lnTo>
                  <a:lnTo>
                    <a:pt x="113610" y="407542"/>
                  </a:lnTo>
                  <a:lnTo>
                    <a:pt x="113537" y="466344"/>
                  </a:lnTo>
                  <a:lnTo>
                    <a:pt x="135762" y="466344"/>
                  </a:lnTo>
                  <a:lnTo>
                    <a:pt x="135762" y="407542"/>
                  </a:lnTo>
                  <a:lnTo>
                    <a:pt x="135381" y="406908"/>
                  </a:lnTo>
                  <a:lnTo>
                    <a:pt x="135381" y="406146"/>
                  </a:lnTo>
                  <a:lnTo>
                    <a:pt x="136016" y="405257"/>
                  </a:lnTo>
                  <a:lnTo>
                    <a:pt x="150367" y="378206"/>
                  </a:lnTo>
                  <a:lnTo>
                    <a:pt x="151129" y="376554"/>
                  </a:lnTo>
                  <a:lnTo>
                    <a:pt x="150367" y="374650"/>
                  </a:lnTo>
                  <a:lnTo>
                    <a:pt x="143890" y="372872"/>
                  </a:lnTo>
                  <a:lnTo>
                    <a:pt x="133476" y="370713"/>
                  </a:lnTo>
                  <a:close/>
                </a:path>
              </a:pathLst>
            </a:custGeom>
            <a:solidFill>
              <a:srgbClr val="29B974"/>
            </a:solidFill>
          </p:spPr>
          <p:txBody>
            <a:bodyPr wrap="square" lIns="0" tIns="0" rIns="0" bIns="0" rtlCol="0"/>
            <a:lstStyle/>
            <a:p>
              <a:endParaRPr/>
            </a:p>
          </p:txBody>
        </p:sp>
        <p:sp>
          <p:nvSpPr>
            <p:cNvPr id="61" name="object 61"/>
            <p:cNvSpPr/>
            <p:nvPr/>
          </p:nvSpPr>
          <p:spPr>
            <a:xfrm>
              <a:off x="9681971" y="2680716"/>
              <a:ext cx="506095" cy="280670"/>
            </a:xfrm>
            <a:custGeom>
              <a:avLst/>
              <a:gdLst/>
              <a:ahLst/>
              <a:cxnLst/>
              <a:rect l="l" t="t" r="r" b="b"/>
              <a:pathLst>
                <a:path w="506095" h="280669">
                  <a:moveTo>
                    <a:pt x="171196" y="164211"/>
                  </a:moveTo>
                  <a:lnTo>
                    <a:pt x="131127" y="166878"/>
                  </a:lnTo>
                  <a:lnTo>
                    <a:pt x="62483" y="182880"/>
                  </a:lnTo>
                  <a:lnTo>
                    <a:pt x="23320" y="224885"/>
                  </a:lnTo>
                  <a:lnTo>
                    <a:pt x="1397" y="272034"/>
                  </a:lnTo>
                  <a:lnTo>
                    <a:pt x="0" y="275971"/>
                  </a:lnTo>
                  <a:lnTo>
                    <a:pt x="2794" y="280416"/>
                  </a:lnTo>
                  <a:lnTo>
                    <a:pt x="233425" y="280416"/>
                  </a:lnTo>
                  <a:lnTo>
                    <a:pt x="185166" y="205867"/>
                  </a:lnTo>
                  <a:lnTo>
                    <a:pt x="145414" y="205867"/>
                  </a:lnTo>
                  <a:lnTo>
                    <a:pt x="171196" y="164211"/>
                  </a:lnTo>
                  <a:close/>
                </a:path>
                <a:path w="506095" h="280669">
                  <a:moveTo>
                    <a:pt x="334772" y="164211"/>
                  </a:moveTo>
                  <a:lnTo>
                    <a:pt x="360552" y="205867"/>
                  </a:lnTo>
                  <a:lnTo>
                    <a:pt x="320801" y="205867"/>
                  </a:lnTo>
                  <a:lnTo>
                    <a:pt x="272542" y="280416"/>
                  </a:lnTo>
                  <a:lnTo>
                    <a:pt x="503174" y="280416"/>
                  </a:lnTo>
                  <a:lnTo>
                    <a:pt x="505968" y="275971"/>
                  </a:lnTo>
                  <a:lnTo>
                    <a:pt x="482647" y="224885"/>
                  </a:lnTo>
                  <a:lnTo>
                    <a:pt x="443483" y="182880"/>
                  </a:lnTo>
                  <a:lnTo>
                    <a:pt x="374840" y="166878"/>
                  </a:lnTo>
                  <a:lnTo>
                    <a:pt x="346400" y="164627"/>
                  </a:lnTo>
                  <a:lnTo>
                    <a:pt x="334772" y="164211"/>
                  </a:lnTo>
                  <a:close/>
                </a:path>
                <a:path w="506095" h="280669">
                  <a:moveTo>
                    <a:pt x="126110" y="0"/>
                  </a:moveTo>
                  <a:lnTo>
                    <a:pt x="127069" y="8665"/>
                  </a:lnTo>
                  <a:lnTo>
                    <a:pt x="130063" y="19510"/>
                  </a:lnTo>
                  <a:lnTo>
                    <a:pt x="135844" y="30093"/>
                  </a:lnTo>
                  <a:lnTo>
                    <a:pt x="145160" y="37973"/>
                  </a:lnTo>
                  <a:lnTo>
                    <a:pt x="152523" y="56481"/>
                  </a:lnTo>
                  <a:lnTo>
                    <a:pt x="163385" y="81740"/>
                  </a:lnTo>
                  <a:lnTo>
                    <a:pt x="175200" y="105785"/>
                  </a:lnTo>
                  <a:lnTo>
                    <a:pt x="185420" y="120650"/>
                  </a:lnTo>
                  <a:lnTo>
                    <a:pt x="185800" y="120904"/>
                  </a:lnTo>
                  <a:lnTo>
                    <a:pt x="186308" y="121285"/>
                  </a:lnTo>
                  <a:lnTo>
                    <a:pt x="186562" y="121538"/>
                  </a:lnTo>
                  <a:lnTo>
                    <a:pt x="186562" y="160909"/>
                  </a:lnTo>
                  <a:lnTo>
                    <a:pt x="189992" y="163703"/>
                  </a:lnTo>
                  <a:lnTo>
                    <a:pt x="194182" y="167005"/>
                  </a:lnTo>
                  <a:lnTo>
                    <a:pt x="198881" y="171323"/>
                  </a:lnTo>
                  <a:lnTo>
                    <a:pt x="198881" y="130810"/>
                  </a:lnTo>
                  <a:lnTo>
                    <a:pt x="222949" y="130810"/>
                  </a:lnTo>
                  <a:lnTo>
                    <a:pt x="221440" y="130111"/>
                  </a:lnTo>
                  <a:lnTo>
                    <a:pt x="205392" y="120328"/>
                  </a:lnTo>
                  <a:lnTo>
                    <a:pt x="175831" y="79025"/>
                  </a:lnTo>
                  <a:lnTo>
                    <a:pt x="155828" y="31242"/>
                  </a:lnTo>
                  <a:lnTo>
                    <a:pt x="154939" y="29591"/>
                  </a:lnTo>
                  <a:lnTo>
                    <a:pt x="153543" y="28067"/>
                  </a:lnTo>
                  <a:lnTo>
                    <a:pt x="151892" y="27559"/>
                  </a:lnTo>
                  <a:lnTo>
                    <a:pt x="144525" y="24764"/>
                  </a:lnTo>
                  <a:lnTo>
                    <a:pt x="140970" y="15239"/>
                  </a:lnTo>
                  <a:lnTo>
                    <a:pt x="139192" y="7366"/>
                  </a:lnTo>
                  <a:lnTo>
                    <a:pt x="135635" y="7366"/>
                  </a:lnTo>
                  <a:lnTo>
                    <a:pt x="134493" y="6985"/>
                  </a:lnTo>
                  <a:lnTo>
                    <a:pt x="133603" y="6731"/>
                  </a:lnTo>
                  <a:lnTo>
                    <a:pt x="133096" y="6731"/>
                  </a:lnTo>
                  <a:lnTo>
                    <a:pt x="132842" y="6476"/>
                  </a:lnTo>
                  <a:lnTo>
                    <a:pt x="131699" y="6223"/>
                  </a:lnTo>
                  <a:lnTo>
                    <a:pt x="130809" y="5587"/>
                  </a:lnTo>
                  <a:lnTo>
                    <a:pt x="129667" y="5080"/>
                  </a:lnTo>
                  <a:lnTo>
                    <a:pt x="129158" y="4445"/>
                  </a:lnTo>
                  <a:lnTo>
                    <a:pt x="128270" y="3937"/>
                  </a:lnTo>
                  <a:lnTo>
                    <a:pt x="127761" y="3048"/>
                  </a:lnTo>
                  <a:lnTo>
                    <a:pt x="127253" y="2032"/>
                  </a:lnTo>
                  <a:lnTo>
                    <a:pt x="126110" y="0"/>
                  </a:lnTo>
                  <a:close/>
                </a:path>
                <a:path w="506095" h="280669">
                  <a:moveTo>
                    <a:pt x="319404" y="131063"/>
                  </a:moveTo>
                  <a:lnTo>
                    <a:pt x="307085" y="131063"/>
                  </a:lnTo>
                  <a:lnTo>
                    <a:pt x="307085" y="171069"/>
                  </a:lnTo>
                  <a:lnTo>
                    <a:pt x="311784" y="167005"/>
                  </a:lnTo>
                  <a:lnTo>
                    <a:pt x="315975" y="163703"/>
                  </a:lnTo>
                  <a:lnTo>
                    <a:pt x="319404" y="160909"/>
                  </a:lnTo>
                  <a:lnTo>
                    <a:pt x="319404" y="131063"/>
                  </a:lnTo>
                  <a:close/>
                </a:path>
                <a:path w="506095" h="280669">
                  <a:moveTo>
                    <a:pt x="222949" y="130810"/>
                  </a:moveTo>
                  <a:lnTo>
                    <a:pt x="198881" y="130810"/>
                  </a:lnTo>
                  <a:lnTo>
                    <a:pt x="211768" y="138969"/>
                  </a:lnTo>
                  <a:lnTo>
                    <a:pt x="226050" y="146304"/>
                  </a:lnTo>
                  <a:lnTo>
                    <a:pt x="240234" y="151530"/>
                  </a:lnTo>
                  <a:lnTo>
                    <a:pt x="253237" y="153543"/>
                  </a:lnTo>
                  <a:lnTo>
                    <a:pt x="266091" y="151526"/>
                  </a:lnTo>
                  <a:lnTo>
                    <a:pt x="280223" y="146272"/>
                  </a:lnTo>
                  <a:lnTo>
                    <a:pt x="290059" y="141224"/>
                  </a:lnTo>
                  <a:lnTo>
                    <a:pt x="253237" y="141224"/>
                  </a:lnTo>
                  <a:lnTo>
                    <a:pt x="238464" y="137989"/>
                  </a:lnTo>
                  <a:lnTo>
                    <a:pt x="222949" y="130810"/>
                  </a:lnTo>
                  <a:close/>
                </a:path>
                <a:path w="506095" h="280669">
                  <a:moveTo>
                    <a:pt x="379095" y="11811"/>
                  </a:moveTo>
                  <a:lnTo>
                    <a:pt x="374523" y="14097"/>
                  </a:lnTo>
                  <a:lnTo>
                    <a:pt x="369570" y="16001"/>
                  </a:lnTo>
                  <a:lnTo>
                    <a:pt x="364235" y="17145"/>
                  </a:lnTo>
                  <a:lnTo>
                    <a:pt x="361950" y="21336"/>
                  </a:lnTo>
                  <a:lnTo>
                    <a:pt x="358901" y="25273"/>
                  </a:lnTo>
                  <a:lnTo>
                    <a:pt x="353568" y="27812"/>
                  </a:lnTo>
                  <a:lnTo>
                    <a:pt x="352425" y="28701"/>
                  </a:lnTo>
                  <a:lnTo>
                    <a:pt x="351281" y="29845"/>
                  </a:lnTo>
                  <a:lnTo>
                    <a:pt x="350774" y="31242"/>
                  </a:lnTo>
                  <a:lnTo>
                    <a:pt x="341374" y="54336"/>
                  </a:lnTo>
                  <a:lnTo>
                    <a:pt x="320288" y="99857"/>
                  </a:lnTo>
                  <a:lnTo>
                    <a:pt x="284813" y="130111"/>
                  </a:lnTo>
                  <a:lnTo>
                    <a:pt x="253237" y="141224"/>
                  </a:lnTo>
                  <a:lnTo>
                    <a:pt x="290059" y="141224"/>
                  </a:lnTo>
                  <a:lnTo>
                    <a:pt x="294243" y="139076"/>
                  </a:lnTo>
                  <a:lnTo>
                    <a:pt x="307085" y="131063"/>
                  </a:lnTo>
                  <a:lnTo>
                    <a:pt x="319404" y="131063"/>
                  </a:lnTo>
                  <a:lnTo>
                    <a:pt x="319404" y="121793"/>
                  </a:lnTo>
                  <a:lnTo>
                    <a:pt x="319912" y="121538"/>
                  </a:lnTo>
                  <a:lnTo>
                    <a:pt x="320801" y="120650"/>
                  </a:lnTo>
                  <a:lnTo>
                    <a:pt x="331063" y="105548"/>
                  </a:lnTo>
                  <a:lnTo>
                    <a:pt x="342979" y="81280"/>
                  </a:lnTo>
                  <a:lnTo>
                    <a:pt x="353966" y="55963"/>
                  </a:lnTo>
                  <a:lnTo>
                    <a:pt x="361442" y="37719"/>
                  </a:lnTo>
                  <a:lnTo>
                    <a:pt x="368879" y="31706"/>
                  </a:lnTo>
                  <a:lnTo>
                    <a:pt x="373983" y="24860"/>
                  </a:lnTo>
                  <a:lnTo>
                    <a:pt x="377229" y="17966"/>
                  </a:lnTo>
                  <a:lnTo>
                    <a:pt x="379095" y="11811"/>
                  </a:lnTo>
                  <a:close/>
                </a:path>
              </a:pathLst>
            </a:custGeom>
            <a:solidFill>
              <a:srgbClr val="03522C"/>
            </a:solidFill>
          </p:spPr>
          <p:txBody>
            <a:bodyPr wrap="square" lIns="0" tIns="0" rIns="0" bIns="0" rtlCol="0"/>
            <a:lstStyle/>
            <a:p>
              <a:endParaRPr/>
            </a:p>
          </p:txBody>
        </p:sp>
      </p:grpSp>
      <p:grpSp>
        <p:nvGrpSpPr>
          <p:cNvPr id="62" name="object 62"/>
          <p:cNvGrpSpPr/>
          <p:nvPr/>
        </p:nvGrpSpPr>
        <p:grpSpPr>
          <a:xfrm>
            <a:off x="8645461" y="6344221"/>
            <a:ext cx="971550" cy="308610"/>
            <a:chOff x="8645461" y="6344221"/>
            <a:chExt cx="971550" cy="308610"/>
          </a:xfrm>
        </p:grpSpPr>
        <p:sp>
          <p:nvSpPr>
            <p:cNvPr id="63" name="object 63"/>
            <p:cNvSpPr/>
            <p:nvPr/>
          </p:nvSpPr>
          <p:spPr>
            <a:xfrm>
              <a:off x="8875775" y="6348984"/>
              <a:ext cx="736600" cy="299085"/>
            </a:xfrm>
            <a:custGeom>
              <a:avLst/>
              <a:gdLst/>
              <a:ahLst/>
              <a:cxnLst/>
              <a:rect l="l" t="t" r="r" b="b"/>
              <a:pathLst>
                <a:path w="736600" h="299084">
                  <a:moveTo>
                    <a:pt x="0" y="298703"/>
                  </a:moveTo>
                  <a:lnTo>
                    <a:pt x="736092" y="298703"/>
                  </a:lnTo>
                  <a:lnTo>
                    <a:pt x="736092" y="0"/>
                  </a:lnTo>
                  <a:lnTo>
                    <a:pt x="0" y="0"/>
                  </a:lnTo>
                  <a:lnTo>
                    <a:pt x="0" y="298703"/>
                  </a:lnTo>
                  <a:close/>
                </a:path>
              </a:pathLst>
            </a:custGeom>
            <a:ln w="9525">
              <a:solidFill>
                <a:srgbClr val="29B974"/>
              </a:solidFill>
            </a:ln>
          </p:spPr>
          <p:txBody>
            <a:bodyPr wrap="square" lIns="0" tIns="0" rIns="0" bIns="0" rtlCol="0"/>
            <a:lstStyle/>
            <a:p>
              <a:endParaRPr/>
            </a:p>
          </p:txBody>
        </p:sp>
        <p:sp>
          <p:nvSpPr>
            <p:cNvPr id="64" name="object 64"/>
            <p:cNvSpPr/>
            <p:nvPr/>
          </p:nvSpPr>
          <p:spPr>
            <a:xfrm>
              <a:off x="8650223" y="6348984"/>
              <a:ext cx="226060" cy="299085"/>
            </a:xfrm>
            <a:custGeom>
              <a:avLst/>
              <a:gdLst/>
              <a:ahLst/>
              <a:cxnLst/>
              <a:rect l="l" t="t" r="r" b="b"/>
              <a:pathLst>
                <a:path w="226059" h="299084">
                  <a:moveTo>
                    <a:pt x="225551" y="0"/>
                  </a:moveTo>
                  <a:lnTo>
                    <a:pt x="0" y="0"/>
                  </a:lnTo>
                  <a:lnTo>
                    <a:pt x="0" y="298703"/>
                  </a:lnTo>
                  <a:lnTo>
                    <a:pt x="225551" y="298703"/>
                  </a:lnTo>
                  <a:lnTo>
                    <a:pt x="225551" y="0"/>
                  </a:lnTo>
                  <a:close/>
                </a:path>
              </a:pathLst>
            </a:custGeom>
            <a:solidFill>
              <a:srgbClr val="29B974"/>
            </a:solidFill>
          </p:spPr>
          <p:txBody>
            <a:bodyPr wrap="square" lIns="0" tIns="0" rIns="0" bIns="0" rtlCol="0"/>
            <a:lstStyle/>
            <a:p>
              <a:endParaRPr/>
            </a:p>
          </p:txBody>
        </p:sp>
        <p:sp>
          <p:nvSpPr>
            <p:cNvPr id="65" name="object 65"/>
            <p:cNvSpPr/>
            <p:nvPr/>
          </p:nvSpPr>
          <p:spPr>
            <a:xfrm>
              <a:off x="8650223" y="6348984"/>
              <a:ext cx="226060" cy="299085"/>
            </a:xfrm>
            <a:custGeom>
              <a:avLst/>
              <a:gdLst/>
              <a:ahLst/>
              <a:cxnLst/>
              <a:rect l="l" t="t" r="r" b="b"/>
              <a:pathLst>
                <a:path w="226059" h="299084">
                  <a:moveTo>
                    <a:pt x="0" y="298703"/>
                  </a:moveTo>
                  <a:lnTo>
                    <a:pt x="225551" y="298703"/>
                  </a:lnTo>
                  <a:lnTo>
                    <a:pt x="225551" y="0"/>
                  </a:lnTo>
                  <a:lnTo>
                    <a:pt x="0" y="0"/>
                  </a:lnTo>
                  <a:lnTo>
                    <a:pt x="0" y="298703"/>
                  </a:lnTo>
                  <a:close/>
                </a:path>
              </a:pathLst>
            </a:custGeom>
            <a:ln w="9525">
              <a:solidFill>
                <a:srgbClr val="29B974"/>
              </a:solidFill>
            </a:ln>
          </p:spPr>
          <p:txBody>
            <a:bodyPr wrap="square" lIns="0" tIns="0" rIns="0" bIns="0" rtlCol="0"/>
            <a:lstStyle/>
            <a:p>
              <a:endParaRPr/>
            </a:p>
          </p:txBody>
        </p:sp>
      </p:grpSp>
      <p:sp>
        <p:nvSpPr>
          <p:cNvPr id="66" name="object 66"/>
          <p:cNvSpPr txBox="1"/>
          <p:nvPr/>
        </p:nvSpPr>
        <p:spPr>
          <a:xfrm>
            <a:off x="8977376" y="6400754"/>
            <a:ext cx="536575" cy="202565"/>
          </a:xfrm>
          <a:prstGeom prst="rect">
            <a:avLst/>
          </a:prstGeom>
        </p:spPr>
        <p:txBody>
          <a:bodyPr vert="horz" wrap="square" lIns="0" tIns="3175" rIns="0" bIns="0" rtlCol="0">
            <a:spAutoFit/>
          </a:bodyPr>
          <a:lstStyle/>
          <a:p>
            <a:pPr marL="12700">
              <a:lnSpc>
                <a:spcPct val="100000"/>
              </a:lnSpc>
              <a:spcBef>
                <a:spcPts val="25"/>
              </a:spcBef>
            </a:pPr>
            <a:r>
              <a:rPr sz="1200" spc="-10">
                <a:solidFill>
                  <a:srgbClr val="565656"/>
                </a:solidFill>
                <a:latin typeface="Trebuchet MS"/>
                <a:cs typeface="Trebuchet MS"/>
              </a:rPr>
              <a:t>Phase</a:t>
            </a:r>
            <a:r>
              <a:rPr sz="1200" spc="-45">
                <a:solidFill>
                  <a:srgbClr val="565656"/>
                </a:solidFill>
                <a:latin typeface="Trebuchet MS"/>
                <a:cs typeface="Trebuchet MS"/>
              </a:rPr>
              <a:t> </a:t>
            </a:r>
            <a:r>
              <a:rPr sz="1200" spc="-50">
                <a:solidFill>
                  <a:srgbClr val="565656"/>
                </a:solidFill>
                <a:latin typeface="Trebuchet MS"/>
                <a:cs typeface="Trebuchet MS"/>
              </a:rPr>
              <a:t>1</a:t>
            </a:r>
            <a:endParaRPr sz="1200">
              <a:latin typeface="Trebuchet MS"/>
              <a:cs typeface="Trebuchet MS"/>
            </a:endParaRPr>
          </a:p>
        </p:txBody>
      </p:sp>
      <p:sp>
        <p:nvSpPr>
          <p:cNvPr id="67" name="object 67"/>
          <p:cNvSpPr txBox="1"/>
          <p:nvPr/>
        </p:nvSpPr>
        <p:spPr>
          <a:xfrm>
            <a:off x="10138918" y="6400754"/>
            <a:ext cx="536575" cy="202565"/>
          </a:xfrm>
          <a:prstGeom prst="rect">
            <a:avLst/>
          </a:prstGeom>
        </p:spPr>
        <p:txBody>
          <a:bodyPr vert="horz" wrap="square" lIns="0" tIns="3175" rIns="0" bIns="0" rtlCol="0">
            <a:spAutoFit/>
          </a:bodyPr>
          <a:lstStyle/>
          <a:p>
            <a:pPr marL="12700">
              <a:lnSpc>
                <a:spcPct val="100000"/>
              </a:lnSpc>
              <a:spcBef>
                <a:spcPts val="25"/>
              </a:spcBef>
            </a:pPr>
            <a:r>
              <a:rPr sz="1200" spc="-10">
                <a:solidFill>
                  <a:srgbClr val="565656"/>
                </a:solidFill>
                <a:latin typeface="Trebuchet MS"/>
                <a:cs typeface="Trebuchet MS"/>
              </a:rPr>
              <a:t>Phase</a:t>
            </a:r>
            <a:r>
              <a:rPr sz="1200" spc="-45">
                <a:solidFill>
                  <a:srgbClr val="565656"/>
                </a:solidFill>
                <a:latin typeface="Trebuchet MS"/>
                <a:cs typeface="Trebuchet MS"/>
              </a:rPr>
              <a:t> </a:t>
            </a:r>
            <a:r>
              <a:rPr sz="1200" spc="-50">
                <a:solidFill>
                  <a:srgbClr val="565656"/>
                </a:solidFill>
                <a:latin typeface="Trebuchet MS"/>
                <a:cs typeface="Trebuchet MS"/>
              </a:rPr>
              <a:t>2</a:t>
            </a:r>
            <a:endParaRPr sz="1200">
              <a:latin typeface="Trebuchet MS"/>
              <a:cs typeface="Trebuchet MS"/>
            </a:endParaRPr>
          </a:p>
        </p:txBody>
      </p:sp>
      <p:sp>
        <p:nvSpPr>
          <p:cNvPr id="68" name="object 68"/>
          <p:cNvSpPr txBox="1">
            <a:spLocks noGrp="1"/>
          </p:cNvSpPr>
          <p:nvPr>
            <p:ph type="sldNum" sz="quarter" idx="7"/>
          </p:nvPr>
        </p:nvSpPr>
        <p:spPr>
          <a:prstGeom prst="rect">
            <a:avLst/>
          </a:prstGeom>
        </p:spPr>
        <p:txBody>
          <a:bodyPr vert="horz" wrap="square" lIns="0" tIns="4445" rIns="0" bIns="0" rtlCol="0">
            <a:spAutoFit/>
          </a:bodyPr>
          <a:lstStyle/>
          <a:p>
            <a:pPr marL="104775">
              <a:lnSpc>
                <a:spcPct val="100000"/>
              </a:lnSpc>
              <a:spcBef>
                <a:spcPts val="35"/>
              </a:spcBef>
            </a:pPr>
            <a:r>
              <a:rPr spc="-50"/>
              <a:t>5</a:t>
            </a: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1F1F1"/>
          </a:solidFill>
        </p:spPr>
        <p:txBody>
          <a:bodyPr wrap="square" lIns="0" tIns="0" rIns="0" bIns="0" rtlCol="0"/>
          <a:lstStyle/>
          <a:p>
            <a:endParaRPr/>
          </a:p>
        </p:txBody>
      </p:sp>
      <p:sp>
        <p:nvSpPr>
          <p:cNvPr id="3" name="object 3"/>
          <p:cNvSpPr txBox="1"/>
          <p:nvPr/>
        </p:nvSpPr>
        <p:spPr>
          <a:xfrm>
            <a:off x="11470640" y="6392062"/>
            <a:ext cx="92075" cy="177800"/>
          </a:xfrm>
          <a:prstGeom prst="rect">
            <a:avLst/>
          </a:prstGeom>
        </p:spPr>
        <p:txBody>
          <a:bodyPr vert="horz" wrap="square" lIns="0" tIns="12065" rIns="0" bIns="0" rtlCol="0">
            <a:spAutoFit/>
          </a:bodyPr>
          <a:lstStyle/>
          <a:p>
            <a:pPr marL="12700">
              <a:lnSpc>
                <a:spcPct val="100000"/>
              </a:lnSpc>
              <a:spcBef>
                <a:spcPts val="95"/>
              </a:spcBef>
            </a:pPr>
            <a:r>
              <a:rPr sz="1000" spc="-50">
                <a:solidFill>
                  <a:srgbClr val="7E7E7E"/>
                </a:solidFill>
                <a:latin typeface="Trebuchet MS"/>
                <a:cs typeface="Trebuchet MS"/>
              </a:rPr>
              <a:t>6</a:t>
            </a:r>
            <a:endParaRPr sz="1000">
              <a:latin typeface="Trebuchet MS"/>
              <a:cs typeface="Trebuchet MS"/>
            </a:endParaRPr>
          </a:p>
        </p:txBody>
      </p:sp>
      <p:sp>
        <p:nvSpPr>
          <p:cNvPr id="4" name="object 4"/>
          <p:cNvSpPr txBox="1"/>
          <p:nvPr/>
        </p:nvSpPr>
        <p:spPr>
          <a:xfrm>
            <a:off x="11986574" y="3898286"/>
            <a:ext cx="128270" cy="2653665"/>
          </a:xfrm>
          <a:prstGeom prst="rect">
            <a:avLst/>
          </a:prstGeom>
        </p:spPr>
        <p:txBody>
          <a:bodyPr vert="vert270" wrap="square" lIns="0" tIns="6350" rIns="0" bIns="0" rtlCol="0">
            <a:spAutoFit/>
          </a:bodyPr>
          <a:lstStyle/>
          <a:p>
            <a:pPr marL="12700">
              <a:lnSpc>
                <a:spcPct val="100000"/>
              </a:lnSpc>
              <a:spcBef>
                <a:spcPts val="50"/>
              </a:spcBef>
            </a:pPr>
            <a:r>
              <a:rPr sz="700">
                <a:solidFill>
                  <a:srgbClr val="7E7E7E"/>
                </a:solidFill>
                <a:latin typeface="Trebuchet MS"/>
                <a:cs typeface="Trebuchet MS"/>
              </a:rPr>
              <a:t>Copyright</a:t>
            </a:r>
            <a:r>
              <a:rPr sz="700" spc="-25">
                <a:solidFill>
                  <a:srgbClr val="7E7E7E"/>
                </a:solidFill>
                <a:latin typeface="Trebuchet MS"/>
                <a:cs typeface="Trebuchet MS"/>
              </a:rPr>
              <a:t> </a:t>
            </a:r>
            <a:r>
              <a:rPr sz="700">
                <a:solidFill>
                  <a:srgbClr val="7E7E7E"/>
                </a:solidFill>
                <a:latin typeface="Trebuchet MS"/>
                <a:cs typeface="Trebuchet MS"/>
              </a:rPr>
              <a:t>©</a:t>
            </a:r>
            <a:r>
              <a:rPr sz="700" spc="-25">
                <a:solidFill>
                  <a:srgbClr val="7E7E7E"/>
                </a:solidFill>
                <a:latin typeface="Trebuchet MS"/>
                <a:cs typeface="Trebuchet MS"/>
              </a:rPr>
              <a:t> </a:t>
            </a:r>
            <a:r>
              <a:rPr sz="700">
                <a:solidFill>
                  <a:srgbClr val="7E7E7E"/>
                </a:solidFill>
                <a:latin typeface="Trebuchet MS"/>
                <a:cs typeface="Trebuchet MS"/>
              </a:rPr>
              <a:t>2019</a:t>
            </a:r>
            <a:r>
              <a:rPr sz="700" spc="-15">
                <a:solidFill>
                  <a:srgbClr val="7E7E7E"/>
                </a:solidFill>
                <a:latin typeface="Trebuchet MS"/>
                <a:cs typeface="Trebuchet MS"/>
              </a:rPr>
              <a:t> </a:t>
            </a:r>
            <a:r>
              <a:rPr sz="700">
                <a:solidFill>
                  <a:srgbClr val="7E7E7E"/>
                </a:solidFill>
                <a:latin typeface="Trebuchet MS"/>
                <a:cs typeface="Trebuchet MS"/>
              </a:rPr>
              <a:t>by</a:t>
            </a:r>
            <a:r>
              <a:rPr sz="700" spc="-20">
                <a:solidFill>
                  <a:srgbClr val="7E7E7E"/>
                </a:solidFill>
                <a:latin typeface="Trebuchet MS"/>
                <a:cs typeface="Trebuchet MS"/>
              </a:rPr>
              <a:t> </a:t>
            </a:r>
            <a:r>
              <a:rPr sz="700">
                <a:solidFill>
                  <a:srgbClr val="7E7E7E"/>
                </a:solidFill>
                <a:latin typeface="Trebuchet MS"/>
                <a:cs typeface="Trebuchet MS"/>
              </a:rPr>
              <a:t>Boston </a:t>
            </a:r>
            <a:r>
              <a:rPr sz="700" spc="-10">
                <a:solidFill>
                  <a:srgbClr val="7E7E7E"/>
                </a:solidFill>
                <a:latin typeface="Trebuchet MS"/>
                <a:cs typeface="Trebuchet MS"/>
              </a:rPr>
              <a:t>Consulting </a:t>
            </a:r>
            <a:r>
              <a:rPr sz="700">
                <a:solidFill>
                  <a:srgbClr val="7E7E7E"/>
                </a:solidFill>
                <a:latin typeface="Trebuchet MS"/>
                <a:cs typeface="Trebuchet MS"/>
              </a:rPr>
              <a:t>Group.</a:t>
            </a:r>
            <a:r>
              <a:rPr sz="700" spc="-5">
                <a:solidFill>
                  <a:srgbClr val="7E7E7E"/>
                </a:solidFill>
                <a:latin typeface="Trebuchet MS"/>
                <a:cs typeface="Trebuchet MS"/>
              </a:rPr>
              <a:t> </a:t>
            </a:r>
            <a:r>
              <a:rPr sz="700">
                <a:solidFill>
                  <a:srgbClr val="7E7E7E"/>
                </a:solidFill>
                <a:latin typeface="Trebuchet MS"/>
                <a:cs typeface="Trebuchet MS"/>
              </a:rPr>
              <a:t>All</a:t>
            </a:r>
            <a:r>
              <a:rPr sz="700" spc="-5">
                <a:solidFill>
                  <a:srgbClr val="7E7E7E"/>
                </a:solidFill>
                <a:latin typeface="Trebuchet MS"/>
                <a:cs typeface="Trebuchet MS"/>
              </a:rPr>
              <a:t> </a:t>
            </a:r>
            <a:r>
              <a:rPr sz="700">
                <a:solidFill>
                  <a:srgbClr val="7E7E7E"/>
                </a:solidFill>
                <a:latin typeface="Trebuchet MS"/>
                <a:cs typeface="Trebuchet MS"/>
              </a:rPr>
              <a:t>rights</a:t>
            </a:r>
            <a:r>
              <a:rPr sz="700" spc="-25">
                <a:solidFill>
                  <a:srgbClr val="7E7E7E"/>
                </a:solidFill>
                <a:latin typeface="Trebuchet MS"/>
                <a:cs typeface="Trebuchet MS"/>
              </a:rPr>
              <a:t> </a:t>
            </a:r>
            <a:r>
              <a:rPr sz="700" spc="-10">
                <a:solidFill>
                  <a:srgbClr val="7E7E7E"/>
                </a:solidFill>
                <a:latin typeface="Trebuchet MS"/>
                <a:cs typeface="Trebuchet MS"/>
              </a:rPr>
              <a:t>reserved.</a:t>
            </a:r>
            <a:endParaRPr sz="700">
              <a:latin typeface="Trebuchet MS"/>
              <a:cs typeface="Trebuchet MS"/>
            </a:endParaRPr>
          </a:p>
        </p:txBody>
      </p:sp>
      <p:sp>
        <p:nvSpPr>
          <p:cNvPr id="5" name="object 5"/>
          <p:cNvSpPr/>
          <p:nvPr/>
        </p:nvSpPr>
        <p:spPr>
          <a:xfrm>
            <a:off x="4357115" y="4841747"/>
            <a:ext cx="826135" cy="652780"/>
          </a:xfrm>
          <a:custGeom>
            <a:avLst/>
            <a:gdLst/>
            <a:ahLst/>
            <a:cxnLst/>
            <a:rect l="l" t="t" r="r" b="b"/>
            <a:pathLst>
              <a:path w="826135" h="652779">
                <a:moveTo>
                  <a:pt x="779780" y="0"/>
                </a:moveTo>
                <a:lnTo>
                  <a:pt x="795932" y="43211"/>
                </a:lnTo>
                <a:lnTo>
                  <a:pt x="807942" y="88518"/>
                </a:lnTo>
                <a:lnTo>
                  <a:pt x="815427" y="135731"/>
                </a:lnTo>
                <a:lnTo>
                  <a:pt x="818007" y="184657"/>
                </a:lnTo>
                <a:lnTo>
                  <a:pt x="815345" y="234111"/>
                </a:lnTo>
                <a:lnTo>
                  <a:pt x="807548" y="281961"/>
                </a:lnTo>
                <a:lnTo>
                  <a:pt x="794894" y="327942"/>
                </a:lnTo>
                <a:lnTo>
                  <a:pt x="777661" y="371784"/>
                </a:lnTo>
                <a:lnTo>
                  <a:pt x="756129" y="413220"/>
                </a:lnTo>
                <a:lnTo>
                  <a:pt x="730578" y="451981"/>
                </a:lnTo>
                <a:lnTo>
                  <a:pt x="701285" y="487800"/>
                </a:lnTo>
                <a:lnTo>
                  <a:pt x="668531" y="520409"/>
                </a:lnTo>
                <a:lnTo>
                  <a:pt x="632594" y="549540"/>
                </a:lnTo>
                <a:lnTo>
                  <a:pt x="593753" y="574924"/>
                </a:lnTo>
                <a:lnTo>
                  <a:pt x="552287" y="596294"/>
                </a:lnTo>
                <a:lnTo>
                  <a:pt x="508476" y="613381"/>
                </a:lnTo>
                <a:lnTo>
                  <a:pt x="462598" y="625918"/>
                </a:lnTo>
                <a:lnTo>
                  <a:pt x="414933" y="633637"/>
                </a:lnTo>
                <a:lnTo>
                  <a:pt x="365760" y="636269"/>
                </a:lnTo>
                <a:lnTo>
                  <a:pt x="316226" y="633637"/>
                </a:lnTo>
                <a:lnTo>
                  <a:pt x="268302" y="625916"/>
                </a:lnTo>
                <a:lnTo>
                  <a:pt x="222250" y="613372"/>
                </a:lnTo>
                <a:lnTo>
                  <a:pt x="178333" y="596268"/>
                </a:lnTo>
                <a:lnTo>
                  <a:pt x="136815" y="574869"/>
                </a:lnTo>
                <a:lnTo>
                  <a:pt x="97959" y="549439"/>
                </a:lnTo>
                <a:lnTo>
                  <a:pt x="62029" y="520243"/>
                </a:lnTo>
                <a:lnTo>
                  <a:pt x="29288" y="487546"/>
                </a:lnTo>
                <a:lnTo>
                  <a:pt x="0" y="451611"/>
                </a:lnTo>
                <a:lnTo>
                  <a:pt x="10602" y="467804"/>
                </a:lnTo>
                <a:lnTo>
                  <a:pt x="44196" y="511809"/>
                </a:lnTo>
                <a:lnTo>
                  <a:pt x="81547" y="546742"/>
                </a:lnTo>
                <a:lnTo>
                  <a:pt x="122695" y="577367"/>
                </a:lnTo>
                <a:lnTo>
                  <a:pt x="167253" y="603296"/>
                </a:lnTo>
                <a:lnTo>
                  <a:pt x="214835" y="624140"/>
                </a:lnTo>
                <a:lnTo>
                  <a:pt x="265053" y="639509"/>
                </a:lnTo>
                <a:lnTo>
                  <a:pt x="317522" y="649016"/>
                </a:lnTo>
                <a:lnTo>
                  <a:pt x="371856" y="652271"/>
                </a:lnTo>
                <a:lnTo>
                  <a:pt x="418353" y="649934"/>
                </a:lnTo>
                <a:lnTo>
                  <a:pt x="463493" y="643072"/>
                </a:lnTo>
                <a:lnTo>
                  <a:pt x="507049" y="631913"/>
                </a:lnTo>
                <a:lnTo>
                  <a:pt x="548794" y="616682"/>
                </a:lnTo>
                <a:lnTo>
                  <a:pt x="588502" y="597606"/>
                </a:lnTo>
                <a:lnTo>
                  <a:pt x="625945" y="574911"/>
                </a:lnTo>
                <a:lnTo>
                  <a:pt x="660898" y="548825"/>
                </a:lnTo>
                <a:lnTo>
                  <a:pt x="693134" y="519572"/>
                </a:lnTo>
                <a:lnTo>
                  <a:pt x="722426" y="487381"/>
                </a:lnTo>
                <a:lnTo>
                  <a:pt x="748547" y="452476"/>
                </a:lnTo>
                <a:lnTo>
                  <a:pt x="771271" y="415085"/>
                </a:lnTo>
                <a:lnTo>
                  <a:pt x="790372" y="375433"/>
                </a:lnTo>
                <a:lnTo>
                  <a:pt x="805623" y="333748"/>
                </a:lnTo>
                <a:lnTo>
                  <a:pt x="816797" y="290256"/>
                </a:lnTo>
                <a:lnTo>
                  <a:pt x="823667" y="245182"/>
                </a:lnTo>
                <a:lnTo>
                  <a:pt x="826008" y="198754"/>
                </a:lnTo>
                <a:lnTo>
                  <a:pt x="823017" y="146482"/>
                </a:lnTo>
                <a:lnTo>
                  <a:pt x="814181" y="95567"/>
                </a:lnTo>
                <a:lnTo>
                  <a:pt x="799701" y="46557"/>
                </a:lnTo>
                <a:lnTo>
                  <a:pt x="779780" y="0"/>
                </a:lnTo>
                <a:close/>
              </a:path>
            </a:pathLst>
          </a:custGeom>
          <a:solidFill>
            <a:srgbClr val="D7D9DD"/>
          </a:solidFill>
        </p:spPr>
        <p:txBody>
          <a:bodyPr wrap="square" lIns="0" tIns="0" rIns="0" bIns="0" rtlCol="0"/>
          <a:lstStyle/>
          <a:p>
            <a:endParaRPr/>
          </a:p>
        </p:txBody>
      </p:sp>
      <p:sp>
        <p:nvSpPr>
          <p:cNvPr id="6" name="object 6"/>
          <p:cNvSpPr txBox="1">
            <a:spLocks noGrp="1"/>
          </p:cNvSpPr>
          <p:nvPr>
            <p:ph type="title"/>
          </p:nvPr>
        </p:nvSpPr>
        <p:spPr>
          <a:prstGeom prst="rect">
            <a:avLst/>
          </a:prstGeom>
        </p:spPr>
        <p:txBody>
          <a:bodyPr vert="horz" wrap="square" lIns="0" tIns="155829" rIns="0" bIns="0" rtlCol="0">
            <a:spAutoFit/>
          </a:bodyPr>
          <a:lstStyle/>
          <a:p>
            <a:pPr marL="12700">
              <a:lnSpc>
                <a:spcPct val="100000"/>
              </a:lnSpc>
              <a:spcBef>
                <a:spcPts val="95"/>
              </a:spcBef>
            </a:pPr>
            <a:r>
              <a:rPr sz="2800">
                <a:solidFill>
                  <a:srgbClr val="565656"/>
                </a:solidFill>
              </a:rPr>
              <a:t>Richer</a:t>
            </a:r>
            <a:r>
              <a:rPr sz="2800" spc="-90">
                <a:solidFill>
                  <a:srgbClr val="565656"/>
                </a:solidFill>
              </a:rPr>
              <a:t> </a:t>
            </a:r>
            <a:r>
              <a:rPr sz="2800">
                <a:solidFill>
                  <a:srgbClr val="565656"/>
                </a:solidFill>
              </a:rPr>
              <a:t>set</a:t>
            </a:r>
            <a:r>
              <a:rPr sz="2800" spc="-75">
                <a:solidFill>
                  <a:srgbClr val="565656"/>
                </a:solidFill>
              </a:rPr>
              <a:t> </a:t>
            </a:r>
            <a:r>
              <a:rPr sz="2800">
                <a:solidFill>
                  <a:srgbClr val="565656"/>
                </a:solidFill>
              </a:rPr>
              <a:t>of</a:t>
            </a:r>
            <a:r>
              <a:rPr sz="2800" spc="-85">
                <a:solidFill>
                  <a:srgbClr val="565656"/>
                </a:solidFill>
              </a:rPr>
              <a:t> </a:t>
            </a:r>
            <a:r>
              <a:rPr sz="2800">
                <a:solidFill>
                  <a:srgbClr val="565656"/>
                </a:solidFill>
              </a:rPr>
              <a:t>'features'</a:t>
            </a:r>
            <a:r>
              <a:rPr sz="2800" spc="-65">
                <a:solidFill>
                  <a:srgbClr val="565656"/>
                </a:solidFill>
              </a:rPr>
              <a:t> </a:t>
            </a:r>
            <a:r>
              <a:rPr sz="2800">
                <a:solidFill>
                  <a:srgbClr val="565656"/>
                </a:solidFill>
              </a:rPr>
              <a:t>to</a:t>
            </a:r>
            <a:r>
              <a:rPr sz="2800" spc="-85">
                <a:solidFill>
                  <a:srgbClr val="565656"/>
                </a:solidFill>
              </a:rPr>
              <a:t> </a:t>
            </a:r>
            <a:r>
              <a:rPr sz="2800">
                <a:solidFill>
                  <a:srgbClr val="565656"/>
                </a:solidFill>
              </a:rPr>
              <a:t>capture</a:t>
            </a:r>
            <a:r>
              <a:rPr sz="2800" spc="-70">
                <a:solidFill>
                  <a:srgbClr val="565656"/>
                </a:solidFill>
              </a:rPr>
              <a:t> </a:t>
            </a:r>
            <a:r>
              <a:rPr sz="2800">
                <a:solidFill>
                  <a:srgbClr val="565656"/>
                </a:solidFill>
              </a:rPr>
              <a:t>deep</a:t>
            </a:r>
            <a:r>
              <a:rPr sz="2800" spc="-85">
                <a:solidFill>
                  <a:srgbClr val="565656"/>
                </a:solidFill>
              </a:rPr>
              <a:t> </a:t>
            </a:r>
            <a:r>
              <a:rPr sz="2800">
                <a:solidFill>
                  <a:srgbClr val="565656"/>
                </a:solidFill>
              </a:rPr>
              <a:t>signals</a:t>
            </a:r>
            <a:r>
              <a:rPr sz="2800" spc="-60">
                <a:solidFill>
                  <a:srgbClr val="565656"/>
                </a:solidFill>
              </a:rPr>
              <a:t> </a:t>
            </a:r>
            <a:r>
              <a:rPr sz="2800">
                <a:solidFill>
                  <a:srgbClr val="565656"/>
                </a:solidFill>
              </a:rPr>
              <a:t>for</a:t>
            </a:r>
            <a:r>
              <a:rPr sz="2800" spc="-85">
                <a:solidFill>
                  <a:srgbClr val="565656"/>
                </a:solidFill>
              </a:rPr>
              <a:t> </a:t>
            </a:r>
            <a:r>
              <a:rPr sz="2800">
                <a:solidFill>
                  <a:srgbClr val="565656"/>
                </a:solidFill>
              </a:rPr>
              <a:t>analytics</a:t>
            </a:r>
            <a:r>
              <a:rPr sz="2800" spc="-55">
                <a:solidFill>
                  <a:srgbClr val="565656"/>
                </a:solidFill>
              </a:rPr>
              <a:t> </a:t>
            </a:r>
            <a:r>
              <a:rPr sz="2800" spc="-10">
                <a:solidFill>
                  <a:srgbClr val="565656"/>
                </a:solidFill>
              </a:rPr>
              <a:t>models</a:t>
            </a:r>
            <a:endParaRPr sz="2800"/>
          </a:p>
        </p:txBody>
      </p:sp>
      <p:sp>
        <p:nvSpPr>
          <p:cNvPr id="7" name="object 7"/>
          <p:cNvSpPr txBox="1"/>
          <p:nvPr/>
        </p:nvSpPr>
        <p:spPr>
          <a:xfrm>
            <a:off x="2116582" y="1380780"/>
            <a:ext cx="1843405" cy="1121410"/>
          </a:xfrm>
          <a:prstGeom prst="rect">
            <a:avLst/>
          </a:prstGeom>
        </p:spPr>
        <p:txBody>
          <a:bodyPr vert="horz" wrap="square" lIns="0" tIns="93980" rIns="0" bIns="0" rtlCol="0">
            <a:spAutoFit/>
          </a:bodyPr>
          <a:lstStyle/>
          <a:p>
            <a:pPr marL="166370">
              <a:lnSpc>
                <a:spcPct val="100000"/>
              </a:lnSpc>
              <a:spcBef>
                <a:spcPts val="740"/>
              </a:spcBef>
            </a:pPr>
            <a:r>
              <a:rPr sz="1400" b="1">
                <a:solidFill>
                  <a:srgbClr val="29B974"/>
                </a:solidFill>
                <a:latin typeface="Henderson BCG Sans"/>
                <a:cs typeface="Henderson BCG Sans"/>
              </a:rPr>
              <a:t>Product</a:t>
            </a:r>
            <a:r>
              <a:rPr sz="1400" b="1" spc="-60">
                <a:solidFill>
                  <a:srgbClr val="29B974"/>
                </a:solidFill>
                <a:latin typeface="Henderson BCG Sans"/>
                <a:cs typeface="Henderson BCG Sans"/>
              </a:rPr>
              <a:t> </a:t>
            </a:r>
            <a:r>
              <a:rPr sz="1400" b="1" spc="-10">
                <a:solidFill>
                  <a:srgbClr val="29B974"/>
                </a:solidFill>
                <a:latin typeface="Henderson BCG Sans"/>
                <a:cs typeface="Henderson BCG Sans"/>
              </a:rPr>
              <a:t>Holdings</a:t>
            </a:r>
            <a:endParaRPr sz="1400">
              <a:latin typeface="Henderson BCG Sans"/>
              <a:cs typeface="Henderson BCG Sans"/>
            </a:endParaRPr>
          </a:p>
          <a:p>
            <a:pPr marL="12700" marR="5080">
              <a:lnSpc>
                <a:spcPct val="100000"/>
              </a:lnSpc>
              <a:spcBef>
                <a:spcPts val="545"/>
              </a:spcBef>
            </a:pPr>
            <a:r>
              <a:rPr sz="1200">
                <a:solidFill>
                  <a:srgbClr val="565656"/>
                </a:solidFill>
                <a:latin typeface="Trebuchet MS"/>
                <a:cs typeface="Trebuchet MS"/>
              </a:rPr>
              <a:t>#</a:t>
            </a:r>
            <a:r>
              <a:rPr sz="1200" spc="-25">
                <a:solidFill>
                  <a:srgbClr val="565656"/>
                </a:solidFill>
                <a:latin typeface="Trebuchet MS"/>
                <a:cs typeface="Trebuchet MS"/>
              </a:rPr>
              <a:t> </a:t>
            </a:r>
            <a:r>
              <a:rPr sz="1200">
                <a:solidFill>
                  <a:srgbClr val="565656"/>
                </a:solidFill>
                <a:latin typeface="Trebuchet MS"/>
                <a:cs typeface="Trebuchet MS"/>
              </a:rPr>
              <a:t>of</a:t>
            </a:r>
            <a:r>
              <a:rPr sz="1200" spc="-15">
                <a:solidFill>
                  <a:srgbClr val="565656"/>
                </a:solidFill>
                <a:latin typeface="Trebuchet MS"/>
                <a:cs typeface="Trebuchet MS"/>
              </a:rPr>
              <a:t> </a:t>
            </a:r>
            <a:r>
              <a:rPr sz="1200">
                <a:solidFill>
                  <a:srgbClr val="565656"/>
                </a:solidFill>
                <a:latin typeface="Trebuchet MS"/>
                <a:cs typeface="Trebuchet MS"/>
              </a:rPr>
              <a:t>CASA</a:t>
            </a:r>
            <a:r>
              <a:rPr sz="1200" spc="-80">
                <a:solidFill>
                  <a:srgbClr val="565656"/>
                </a:solidFill>
                <a:latin typeface="Trebuchet MS"/>
                <a:cs typeface="Trebuchet MS"/>
              </a:rPr>
              <a:t> </a:t>
            </a:r>
            <a:r>
              <a:rPr sz="1200">
                <a:solidFill>
                  <a:srgbClr val="565656"/>
                </a:solidFill>
                <a:latin typeface="Trebuchet MS"/>
                <a:cs typeface="Trebuchet MS"/>
              </a:rPr>
              <a:t>accounts,</a:t>
            </a:r>
            <a:r>
              <a:rPr sz="1200" spc="-45">
                <a:solidFill>
                  <a:srgbClr val="565656"/>
                </a:solidFill>
                <a:latin typeface="Trebuchet MS"/>
                <a:cs typeface="Trebuchet MS"/>
              </a:rPr>
              <a:t> </a:t>
            </a:r>
            <a:r>
              <a:rPr sz="1200" spc="-10">
                <a:solidFill>
                  <a:srgbClr val="565656"/>
                </a:solidFill>
                <a:latin typeface="Trebuchet MS"/>
                <a:cs typeface="Trebuchet MS"/>
              </a:rPr>
              <a:t>Credit </a:t>
            </a:r>
            <a:r>
              <a:rPr sz="1200">
                <a:solidFill>
                  <a:srgbClr val="565656"/>
                </a:solidFill>
                <a:latin typeface="Trebuchet MS"/>
                <a:cs typeface="Trebuchet MS"/>
              </a:rPr>
              <a:t>card,</a:t>
            </a:r>
            <a:r>
              <a:rPr sz="1200" spc="-45">
                <a:solidFill>
                  <a:srgbClr val="565656"/>
                </a:solidFill>
                <a:latin typeface="Trebuchet MS"/>
                <a:cs typeface="Trebuchet MS"/>
              </a:rPr>
              <a:t> </a:t>
            </a:r>
            <a:r>
              <a:rPr sz="1200">
                <a:solidFill>
                  <a:srgbClr val="565656"/>
                </a:solidFill>
                <a:latin typeface="Trebuchet MS"/>
                <a:cs typeface="Trebuchet MS"/>
              </a:rPr>
              <a:t>debit</a:t>
            </a:r>
            <a:r>
              <a:rPr sz="1200" spc="-40">
                <a:solidFill>
                  <a:srgbClr val="565656"/>
                </a:solidFill>
                <a:latin typeface="Trebuchet MS"/>
                <a:cs typeface="Trebuchet MS"/>
              </a:rPr>
              <a:t> </a:t>
            </a:r>
            <a:r>
              <a:rPr sz="1200">
                <a:solidFill>
                  <a:srgbClr val="565656"/>
                </a:solidFill>
                <a:latin typeface="Trebuchet MS"/>
                <a:cs typeface="Trebuchet MS"/>
              </a:rPr>
              <a:t>card,</a:t>
            </a:r>
            <a:r>
              <a:rPr sz="1200" spc="-40">
                <a:solidFill>
                  <a:srgbClr val="565656"/>
                </a:solidFill>
                <a:latin typeface="Trebuchet MS"/>
                <a:cs typeface="Trebuchet MS"/>
              </a:rPr>
              <a:t> </a:t>
            </a:r>
            <a:r>
              <a:rPr sz="1200" spc="-20">
                <a:solidFill>
                  <a:srgbClr val="565656"/>
                </a:solidFill>
                <a:latin typeface="Trebuchet MS"/>
                <a:cs typeface="Trebuchet MS"/>
              </a:rPr>
              <a:t>loan </a:t>
            </a:r>
            <a:r>
              <a:rPr sz="1200">
                <a:solidFill>
                  <a:srgbClr val="565656"/>
                </a:solidFill>
                <a:latin typeface="Trebuchet MS"/>
                <a:cs typeface="Trebuchet MS"/>
              </a:rPr>
              <a:t>products,</a:t>
            </a:r>
            <a:r>
              <a:rPr sz="1200" spc="-60">
                <a:solidFill>
                  <a:srgbClr val="565656"/>
                </a:solidFill>
                <a:latin typeface="Trebuchet MS"/>
                <a:cs typeface="Trebuchet MS"/>
              </a:rPr>
              <a:t> </a:t>
            </a:r>
            <a:r>
              <a:rPr sz="1200">
                <a:solidFill>
                  <a:srgbClr val="565656"/>
                </a:solidFill>
                <a:latin typeface="Trebuchet MS"/>
                <a:cs typeface="Trebuchet MS"/>
              </a:rPr>
              <a:t>product</a:t>
            </a:r>
            <a:r>
              <a:rPr sz="1200" spc="-60">
                <a:solidFill>
                  <a:srgbClr val="565656"/>
                </a:solidFill>
                <a:latin typeface="Trebuchet MS"/>
                <a:cs typeface="Trebuchet MS"/>
              </a:rPr>
              <a:t> </a:t>
            </a:r>
            <a:r>
              <a:rPr sz="1200" spc="-10">
                <a:solidFill>
                  <a:srgbClr val="565656"/>
                </a:solidFill>
                <a:latin typeface="Trebuchet MS"/>
                <a:cs typeface="Trebuchet MS"/>
              </a:rPr>
              <a:t>tenure, </a:t>
            </a:r>
            <a:r>
              <a:rPr sz="1200">
                <a:solidFill>
                  <a:srgbClr val="565656"/>
                </a:solidFill>
                <a:latin typeface="Trebuchet MS"/>
                <a:cs typeface="Trebuchet MS"/>
              </a:rPr>
              <a:t>CASA</a:t>
            </a:r>
            <a:r>
              <a:rPr sz="1200" spc="-90">
                <a:solidFill>
                  <a:srgbClr val="565656"/>
                </a:solidFill>
                <a:latin typeface="Trebuchet MS"/>
                <a:cs typeface="Trebuchet MS"/>
              </a:rPr>
              <a:t> </a:t>
            </a:r>
            <a:r>
              <a:rPr sz="1200" spc="-10">
                <a:solidFill>
                  <a:srgbClr val="565656"/>
                </a:solidFill>
                <a:latin typeface="Trebuchet MS"/>
                <a:cs typeface="Trebuchet MS"/>
              </a:rPr>
              <a:t>balances</a:t>
            </a:r>
            <a:endParaRPr sz="1200">
              <a:latin typeface="Trebuchet MS"/>
              <a:cs typeface="Trebuchet MS"/>
            </a:endParaRPr>
          </a:p>
        </p:txBody>
      </p:sp>
      <p:sp>
        <p:nvSpPr>
          <p:cNvPr id="8" name="object 8"/>
          <p:cNvSpPr txBox="1"/>
          <p:nvPr/>
        </p:nvSpPr>
        <p:spPr>
          <a:xfrm>
            <a:off x="1573783" y="3261740"/>
            <a:ext cx="1677035" cy="1425575"/>
          </a:xfrm>
          <a:prstGeom prst="rect">
            <a:avLst/>
          </a:prstGeom>
        </p:spPr>
        <p:txBody>
          <a:bodyPr vert="horz" wrap="square" lIns="0" tIns="13335" rIns="0" bIns="0" rtlCol="0">
            <a:spAutoFit/>
          </a:bodyPr>
          <a:lstStyle/>
          <a:p>
            <a:pPr marL="74930" marR="160020">
              <a:lnSpc>
                <a:spcPct val="100000"/>
              </a:lnSpc>
              <a:spcBef>
                <a:spcPts val="105"/>
              </a:spcBef>
            </a:pPr>
            <a:r>
              <a:rPr sz="1400" b="1">
                <a:solidFill>
                  <a:srgbClr val="29B974"/>
                </a:solidFill>
                <a:latin typeface="Henderson BCG Sans"/>
                <a:cs typeface="Henderson BCG Sans"/>
              </a:rPr>
              <a:t>Engagement</a:t>
            </a:r>
            <a:r>
              <a:rPr sz="1400" b="1" spc="-75">
                <a:solidFill>
                  <a:srgbClr val="29B974"/>
                </a:solidFill>
                <a:latin typeface="Henderson BCG Sans"/>
                <a:cs typeface="Henderson BCG Sans"/>
              </a:rPr>
              <a:t> </a:t>
            </a:r>
            <a:r>
              <a:rPr sz="1400" b="1" spc="-25">
                <a:solidFill>
                  <a:srgbClr val="29B974"/>
                </a:solidFill>
                <a:latin typeface="Henderson BCG Sans"/>
                <a:cs typeface="Henderson BCG Sans"/>
              </a:rPr>
              <a:t>and </a:t>
            </a:r>
            <a:r>
              <a:rPr sz="1400" b="1" spc="-10">
                <a:solidFill>
                  <a:srgbClr val="29B974"/>
                </a:solidFill>
                <a:latin typeface="Henderson BCG Sans"/>
                <a:cs typeface="Henderson BCG Sans"/>
              </a:rPr>
              <a:t>interactions</a:t>
            </a:r>
            <a:endParaRPr sz="1400">
              <a:latin typeface="Henderson BCG Sans"/>
              <a:cs typeface="Henderson BCG Sans"/>
            </a:endParaRPr>
          </a:p>
          <a:p>
            <a:pPr marL="12700" marR="5080">
              <a:lnSpc>
                <a:spcPct val="100000"/>
              </a:lnSpc>
              <a:spcBef>
                <a:spcPts val="455"/>
              </a:spcBef>
            </a:pPr>
            <a:r>
              <a:rPr sz="1200">
                <a:solidFill>
                  <a:srgbClr val="565656"/>
                </a:solidFill>
                <a:latin typeface="Trebuchet MS"/>
                <a:cs typeface="Trebuchet MS"/>
              </a:rPr>
              <a:t>Marketing</a:t>
            </a:r>
            <a:r>
              <a:rPr sz="1200" spc="-50">
                <a:solidFill>
                  <a:srgbClr val="565656"/>
                </a:solidFill>
                <a:latin typeface="Trebuchet MS"/>
                <a:cs typeface="Trebuchet MS"/>
              </a:rPr>
              <a:t> </a:t>
            </a:r>
            <a:r>
              <a:rPr sz="1200" spc="-10">
                <a:solidFill>
                  <a:srgbClr val="565656"/>
                </a:solidFill>
                <a:latin typeface="Trebuchet MS"/>
                <a:cs typeface="Trebuchet MS"/>
              </a:rPr>
              <a:t>campaign </a:t>
            </a:r>
            <a:r>
              <a:rPr sz="1200">
                <a:solidFill>
                  <a:srgbClr val="565656"/>
                </a:solidFill>
                <a:latin typeface="Trebuchet MS"/>
                <a:cs typeface="Trebuchet MS"/>
              </a:rPr>
              <a:t>responses,</a:t>
            </a:r>
            <a:r>
              <a:rPr sz="1200" spc="-80">
                <a:solidFill>
                  <a:srgbClr val="565656"/>
                </a:solidFill>
                <a:latin typeface="Trebuchet MS"/>
                <a:cs typeface="Trebuchet MS"/>
              </a:rPr>
              <a:t> </a:t>
            </a:r>
            <a:r>
              <a:rPr sz="1200" spc="-10">
                <a:solidFill>
                  <a:srgbClr val="565656"/>
                </a:solidFill>
                <a:latin typeface="Trebuchet MS"/>
                <a:cs typeface="Trebuchet MS"/>
              </a:rPr>
              <a:t>channel preferences,</a:t>
            </a:r>
            <a:r>
              <a:rPr sz="1200" spc="20">
                <a:solidFill>
                  <a:srgbClr val="565656"/>
                </a:solidFill>
                <a:latin typeface="Trebuchet MS"/>
                <a:cs typeface="Trebuchet MS"/>
              </a:rPr>
              <a:t> </a:t>
            </a:r>
            <a:r>
              <a:rPr sz="1200" spc="-25">
                <a:solidFill>
                  <a:srgbClr val="565656"/>
                </a:solidFill>
                <a:latin typeface="Trebuchet MS"/>
                <a:cs typeface="Trebuchet MS"/>
              </a:rPr>
              <a:t>web </a:t>
            </a:r>
            <a:r>
              <a:rPr sz="1200">
                <a:solidFill>
                  <a:srgbClr val="565656"/>
                </a:solidFill>
                <a:latin typeface="Trebuchet MS"/>
                <a:cs typeface="Trebuchet MS"/>
              </a:rPr>
              <a:t>interactions,</a:t>
            </a:r>
            <a:r>
              <a:rPr sz="1200" spc="-70">
                <a:solidFill>
                  <a:srgbClr val="565656"/>
                </a:solidFill>
                <a:latin typeface="Trebuchet MS"/>
                <a:cs typeface="Trebuchet MS"/>
              </a:rPr>
              <a:t> </a:t>
            </a:r>
            <a:r>
              <a:rPr sz="1200">
                <a:solidFill>
                  <a:srgbClr val="565656"/>
                </a:solidFill>
                <a:latin typeface="Trebuchet MS"/>
                <a:cs typeface="Trebuchet MS"/>
              </a:rPr>
              <a:t>call</a:t>
            </a:r>
            <a:r>
              <a:rPr sz="1200" spc="-40">
                <a:solidFill>
                  <a:srgbClr val="565656"/>
                </a:solidFill>
                <a:latin typeface="Trebuchet MS"/>
                <a:cs typeface="Trebuchet MS"/>
              </a:rPr>
              <a:t> </a:t>
            </a:r>
            <a:r>
              <a:rPr sz="1200" spc="-10">
                <a:solidFill>
                  <a:srgbClr val="565656"/>
                </a:solidFill>
                <a:latin typeface="Trebuchet MS"/>
                <a:cs typeface="Trebuchet MS"/>
              </a:rPr>
              <a:t>center interactions</a:t>
            </a:r>
            <a:endParaRPr sz="1200">
              <a:latin typeface="Trebuchet MS"/>
              <a:cs typeface="Trebuchet MS"/>
            </a:endParaRPr>
          </a:p>
        </p:txBody>
      </p:sp>
      <p:sp>
        <p:nvSpPr>
          <p:cNvPr id="9" name="object 9"/>
          <p:cNvSpPr txBox="1"/>
          <p:nvPr/>
        </p:nvSpPr>
        <p:spPr>
          <a:xfrm>
            <a:off x="2383282" y="5032911"/>
            <a:ext cx="2028825" cy="1492250"/>
          </a:xfrm>
          <a:prstGeom prst="rect">
            <a:avLst/>
          </a:prstGeom>
        </p:spPr>
        <p:txBody>
          <a:bodyPr vert="horz" wrap="square" lIns="0" tIns="96520" rIns="0" bIns="0" rtlCol="0">
            <a:spAutoFit/>
          </a:bodyPr>
          <a:lstStyle/>
          <a:p>
            <a:pPr marL="74930">
              <a:lnSpc>
                <a:spcPct val="100000"/>
              </a:lnSpc>
              <a:spcBef>
                <a:spcPts val="760"/>
              </a:spcBef>
            </a:pPr>
            <a:r>
              <a:rPr sz="1400" b="1" spc="-10">
                <a:solidFill>
                  <a:srgbClr val="29B974"/>
                </a:solidFill>
                <a:latin typeface="Henderson BCG Sans"/>
                <a:cs typeface="Henderson BCG Sans"/>
              </a:rPr>
              <a:t>Lifestyle</a:t>
            </a:r>
            <a:endParaRPr sz="1400">
              <a:latin typeface="Henderson BCG Sans"/>
              <a:cs typeface="Henderson BCG Sans"/>
            </a:endParaRPr>
          </a:p>
          <a:p>
            <a:pPr marL="12700" marR="5080">
              <a:lnSpc>
                <a:spcPct val="100000"/>
              </a:lnSpc>
              <a:spcBef>
                <a:spcPts val="565"/>
              </a:spcBef>
            </a:pPr>
            <a:r>
              <a:rPr sz="1200">
                <a:solidFill>
                  <a:srgbClr val="565656"/>
                </a:solidFill>
                <a:latin typeface="Trebuchet MS"/>
                <a:cs typeface="Trebuchet MS"/>
              </a:rPr>
              <a:t>Purchasing</a:t>
            </a:r>
            <a:r>
              <a:rPr sz="1200" spc="-75">
                <a:solidFill>
                  <a:srgbClr val="565656"/>
                </a:solidFill>
                <a:latin typeface="Trebuchet MS"/>
                <a:cs typeface="Trebuchet MS"/>
              </a:rPr>
              <a:t> </a:t>
            </a:r>
            <a:r>
              <a:rPr sz="1200">
                <a:solidFill>
                  <a:srgbClr val="565656"/>
                </a:solidFill>
                <a:latin typeface="Trebuchet MS"/>
                <a:cs typeface="Trebuchet MS"/>
              </a:rPr>
              <a:t>habits,</a:t>
            </a:r>
            <a:r>
              <a:rPr sz="1200" spc="-60">
                <a:solidFill>
                  <a:srgbClr val="565656"/>
                </a:solidFill>
                <a:latin typeface="Trebuchet MS"/>
                <a:cs typeface="Trebuchet MS"/>
              </a:rPr>
              <a:t> </a:t>
            </a:r>
            <a:r>
              <a:rPr sz="1200" spc="-10">
                <a:solidFill>
                  <a:srgbClr val="565656"/>
                </a:solidFill>
                <a:latin typeface="Trebuchet MS"/>
                <a:cs typeface="Trebuchet MS"/>
              </a:rPr>
              <a:t>merchant </a:t>
            </a:r>
            <a:r>
              <a:rPr sz="1200">
                <a:solidFill>
                  <a:srgbClr val="565656"/>
                </a:solidFill>
                <a:latin typeface="Trebuchet MS"/>
                <a:cs typeface="Trebuchet MS"/>
              </a:rPr>
              <a:t>types</a:t>
            </a:r>
            <a:r>
              <a:rPr sz="1200" spc="10">
                <a:solidFill>
                  <a:srgbClr val="565656"/>
                </a:solidFill>
                <a:latin typeface="Trebuchet MS"/>
                <a:cs typeface="Trebuchet MS"/>
              </a:rPr>
              <a:t> </a:t>
            </a:r>
            <a:r>
              <a:rPr sz="1200" spc="-10">
                <a:solidFill>
                  <a:srgbClr val="565656"/>
                </a:solidFill>
                <a:latin typeface="Trebuchet MS"/>
                <a:cs typeface="Trebuchet MS"/>
              </a:rPr>
              <a:t>(mall/shop/</a:t>
            </a:r>
            <a:r>
              <a:rPr lang="en-US" sz="1200" spc="-10" err="1">
                <a:solidFill>
                  <a:srgbClr val="565656"/>
                </a:solidFill>
                <a:latin typeface="Trebuchet MS"/>
                <a:cs typeface="Trebuchet MS"/>
              </a:rPr>
              <a:t>etc</a:t>
            </a:r>
            <a:r>
              <a:rPr sz="1200" spc="-10">
                <a:solidFill>
                  <a:srgbClr val="565656"/>
                </a:solidFill>
                <a:latin typeface="Trebuchet MS"/>
                <a:cs typeface="Trebuchet MS"/>
              </a:rPr>
              <a:t>),</a:t>
            </a:r>
            <a:r>
              <a:rPr sz="1200" spc="-5">
                <a:solidFill>
                  <a:srgbClr val="565656"/>
                </a:solidFill>
                <a:latin typeface="Trebuchet MS"/>
                <a:cs typeface="Trebuchet MS"/>
              </a:rPr>
              <a:t> </a:t>
            </a:r>
            <a:r>
              <a:rPr sz="1200" spc="-20">
                <a:solidFill>
                  <a:srgbClr val="565656"/>
                </a:solidFill>
                <a:latin typeface="Trebuchet MS"/>
                <a:cs typeface="Trebuchet MS"/>
              </a:rPr>
              <a:t>spend </a:t>
            </a:r>
            <a:r>
              <a:rPr sz="1200" spc="-10">
                <a:solidFill>
                  <a:srgbClr val="565656"/>
                </a:solidFill>
                <a:latin typeface="Trebuchet MS"/>
                <a:cs typeface="Trebuchet MS"/>
              </a:rPr>
              <a:t>categories (dining/groceries/</a:t>
            </a:r>
            <a:r>
              <a:rPr lang="en-US" sz="1200" spc="-10" err="1">
                <a:solidFill>
                  <a:srgbClr val="565656"/>
                </a:solidFill>
                <a:latin typeface="Trebuchet MS"/>
                <a:cs typeface="Trebuchet MS"/>
              </a:rPr>
              <a:t>etc</a:t>
            </a:r>
            <a:r>
              <a:rPr sz="1200" spc="-10">
                <a:solidFill>
                  <a:srgbClr val="565656"/>
                </a:solidFill>
                <a:latin typeface="Trebuchet MS"/>
                <a:cs typeface="Trebuchet MS"/>
              </a:rPr>
              <a:t>), </a:t>
            </a:r>
            <a:r>
              <a:rPr sz="1200">
                <a:solidFill>
                  <a:srgbClr val="565656"/>
                </a:solidFill>
                <a:latin typeface="Trebuchet MS"/>
                <a:cs typeface="Trebuchet MS"/>
              </a:rPr>
              <a:t>countries</a:t>
            </a:r>
            <a:r>
              <a:rPr sz="1200" spc="5">
                <a:solidFill>
                  <a:srgbClr val="565656"/>
                </a:solidFill>
                <a:latin typeface="Trebuchet MS"/>
                <a:cs typeface="Trebuchet MS"/>
              </a:rPr>
              <a:t> </a:t>
            </a:r>
            <a:r>
              <a:rPr sz="1200" spc="-10">
                <a:solidFill>
                  <a:srgbClr val="565656"/>
                </a:solidFill>
                <a:latin typeface="Trebuchet MS"/>
                <a:cs typeface="Trebuchet MS"/>
              </a:rPr>
              <a:t>travelled</a:t>
            </a:r>
            <a:r>
              <a:rPr sz="1200" spc="-10">
                <a:solidFill>
                  <a:srgbClr val="565656"/>
                </a:solidFill>
                <a:latin typeface="Henderson BCG Sans"/>
                <a:cs typeface="Henderson BCG Sans"/>
              </a:rPr>
              <a:t>),</a:t>
            </a:r>
            <a:r>
              <a:rPr sz="1200" spc="-85">
                <a:solidFill>
                  <a:srgbClr val="565656"/>
                </a:solidFill>
                <a:latin typeface="Henderson BCG Sans"/>
                <a:cs typeface="Henderson BCG Sans"/>
              </a:rPr>
              <a:t> </a:t>
            </a:r>
            <a:r>
              <a:rPr sz="1200" spc="-10">
                <a:solidFill>
                  <a:srgbClr val="565656"/>
                </a:solidFill>
                <a:latin typeface="Henderson BCG Sans"/>
                <a:cs typeface="Henderson BCG Sans"/>
              </a:rPr>
              <a:t>spend amount</a:t>
            </a:r>
            <a:endParaRPr sz="1200">
              <a:latin typeface="Henderson BCG Sans"/>
              <a:cs typeface="Henderson BCG Sans"/>
            </a:endParaRPr>
          </a:p>
        </p:txBody>
      </p:sp>
      <p:sp>
        <p:nvSpPr>
          <p:cNvPr id="10" name="object 10"/>
          <p:cNvSpPr txBox="1"/>
          <p:nvPr/>
        </p:nvSpPr>
        <p:spPr>
          <a:xfrm>
            <a:off x="7569454" y="5033738"/>
            <a:ext cx="1674495" cy="942975"/>
          </a:xfrm>
          <a:prstGeom prst="rect">
            <a:avLst/>
          </a:prstGeom>
        </p:spPr>
        <p:txBody>
          <a:bodyPr vert="horz" wrap="square" lIns="0" tIns="95885" rIns="0" bIns="0" rtlCol="0">
            <a:spAutoFit/>
          </a:bodyPr>
          <a:lstStyle/>
          <a:p>
            <a:pPr marL="12700" algn="just">
              <a:lnSpc>
                <a:spcPct val="100000"/>
              </a:lnSpc>
              <a:spcBef>
                <a:spcPts val="755"/>
              </a:spcBef>
            </a:pPr>
            <a:r>
              <a:rPr sz="1400" b="1">
                <a:solidFill>
                  <a:srgbClr val="29B974"/>
                </a:solidFill>
                <a:latin typeface="Henderson BCG Sans"/>
                <a:cs typeface="Henderson BCG Sans"/>
              </a:rPr>
              <a:t>Wealth</a:t>
            </a:r>
            <a:r>
              <a:rPr sz="1400" b="1" spc="-40">
                <a:solidFill>
                  <a:srgbClr val="29B974"/>
                </a:solidFill>
                <a:latin typeface="Henderson BCG Sans"/>
                <a:cs typeface="Henderson BCG Sans"/>
              </a:rPr>
              <a:t> </a:t>
            </a:r>
            <a:r>
              <a:rPr sz="1400" b="1" spc="-20">
                <a:solidFill>
                  <a:srgbClr val="29B974"/>
                </a:solidFill>
                <a:latin typeface="Henderson BCG Sans"/>
                <a:cs typeface="Henderson BCG Sans"/>
              </a:rPr>
              <a:t>Data</a:t>
            </a:r>
            <a:endParaRPr sz="1400">
              <a:latin typeface="Henderson BCG Sans"/>
              <a:cs typeface="Henderson BCG Sans"/>
            </a:endParaRPr>
          </a:p>
          <a:p>
            <a:pPr marL="12700" marR="5080" algn="just">
              <a:lnSpc>
                <a:spcPct val="100000"/>
              </a:lnSpc>
              <a:spcBef>
                <a:spcPts val="560"/>
              </a:spcBef>
            </a:pPr>
            <a:r>
              <a:rPr sz="1200" spc="-10">
                <a:solidFill>
                  <a:srgbClr val="565656"/>
                </a:solidFill>
                <a:latin typeface="Trebuchet MS"/>
                <a:cs typeface="Trebuchet MS"/>
              </a:rPr>
              <a:t>Wealth</a:t>
            </a:r>
            <a:r>
              <a:rPr sz="1200" spc="-40">
                <a:solidFill>
                  <a:srgbClr val="565656"/>
                </a:solidFill>
                <a:latin typeface="Trebuchet MS"/>
                <a:cs typeface="Trebuchet MS"/>
              </a:rPr>
              <a:t> </a:t>
            </a:r>
            <a:r>
              <a:rPr sz="1200">
                <a:solidFill>
                  <a:srgbClr val="565656"/>
                </a:solidFill>
                <a:latin typeface="Trebuchet MS"/>
                <a:cs typeface="Trebuchet MS"/>
              </a:rPr>
              <a:t>related</a:t>
            </a:r>
            <a:r>
              <a:rPr sz="1200" spc="-65">
                <a:solidFill>
                  <a:srgbClr val="565656"/>
                </a:solidFill>
                <a:latin typeface="Trebuchet MS"/>
                <a:cs typeface="Trebuchet MS"/>
              </a:rPr>
              <a:t> </a:t>
            </a:r>
            <a:r>
              <a:rPr sz="1200" spc="-10">
                <a:solidFill>
                  <a:srgbClr val="565656"/>
                </a:solidFill>
                <a:latin typeface="Trebuchet MS"/>
                <a:cs typeface="Trebuchet MS"/>
              </a:rPr>
              <a:t>products </a:t>
            </a:r>
            <a:r>
              <a:rPr sz="1200">
                <a:solidFill>
                  <a:srgbClr val="565656"/>
                </a:solidFill>
                <a:latin typeface="Trebuchet MS"/>
                <a:cs typeface="Trebuchet MS"/>
              </a:rPr>
              <a:t>(if</a:t>
            </a:r>
            <a:r>
              <a:rPr sz="1200" spc="-20">
                <a:solidFill>
                  <a:srgbClr val="565656"/>
                </a:solidFill>
                <a:latin typeface="Trebuchet MS"/>
                <a:cs typeface="Trebuchet MS"/>
              </a:rPr>
              <a:t> </a:t>
            </a:r>
            <a:r>
              <a:rPr sz="1200">
                <a:solidFill>
                  <a:srgbClr val="565656"/>
                </a:solidFill>
                <a:latin typeface="Trebuchet MS"/>
                <a:cs typeface="Trebuchet MS"/>
              </a:rPr>
              <a:t>any),</a:t>
            </a:r>
            <a:r>
              <a:rPr sz="1200" spc="-10">
                <a:solidFill>
                  <a:srgbClr val="565656"/>
                </a:solidFill>
                <a:latin typeface="Trebuchet MS"/>
                <a:cs typeface="Trebuchet MS"/>
              </a:rPr>
              <a:t> monthly</a:t>
            </a:r>
            <a:r>
              <a:rPr sz="1200" spc="-75">
                <a:solidFill>
                  <a:srgbClr val="565656"/>
                </a:solidFill>
                <a:latin typeface="Trebuchet MS"/>
                <a:cs typeface="Trebuchet MS"/>
              </a:rPr>
              <a:t> </a:t>
            </a:r>
            <a:r>
              <a:rPr lang="en-US" sz="1200" err="1">
                <a:solidFill>
                  <a:srgbClr val="565656"/>
                </a:solidFill>
                <a:latin typeface="Trebuchet MS"/>
                <a:cs typeface="Trebuchet MS"/>
              </a:rPr>
              <a:t>AuM</a:t>
            </a:r>
            <a:r>
              <a:rPr sz="1200">
                <a:solidFill>
                  <a:srgbClr val="565656"/>
                </a:solidFill>
                <a:latin typeface="Trebuchet MS"/>
                <a:cs typeface="Trebuchet MS"/>
              </a:rPr>
              <a:t>,</a:t>
            </a:r>
            <a:r>
              <a:rPr sz="1200" spc="-5">
                <a:solidFill>
                  <a:srgbClr val="565656"/>
                </a:solidFill>
                <a:latin typeface="Trebuchet MS"/>
                <a:cs typeface="Trebuchet MS"/>
              </a:rPr>
              <a:t> </a:t>
            </a:r>
            <a:r>
              <a:rPr sz="1200" spc="-50">
                <a:solidFill>
                  <a:srgbClr val="565656"/>
                </a:solidFill>
                <a:latin typeface="Trebuchet MS"/>
                <a:cs typeface="Trebuchet MS"/>
              </a:rPr>
              <a:t># </a:t>
            </a:r>
            <a:r>
              <a:rPr sz="1200">
                <a:solidFill>
                  <a:srgbClr val="565656"/>
                </a:solidFill>
                <a:latin typeface="Trebuchet MS"/>
                <a:cs typeface="Trebuchet MS"/>
              </a:rPr>
              <a:t>transactions</a:t>
            </a:r>
            <a:r>
              <a:rPr sz="1200" spc="-65">
                <a:solidFill>
                  <a:srgbClr val="565656"/>
                </a:solidFill>
                <a:latin typeface="Trebuchet MS"/>
                <a:cs typeface="Trebuchet MS"/>
              </a:rPr>
              <a:t> </a:t>
            </a:r>
            <a:r>
              <a:rPr sz="1200">
                <a:solidFill>
                  <a:srgbClr val="565656"/>
                </a:solidFill>
                <a:latin typeface="Trebuchet MS"/>
                <a:cs typeface="Trebuchet MS"/>
              </a:rPr>
              <a:t>done,</a:t>
            </a:r>
            <a:r>
              <a:rPr sz="1200" spc="-55">
                <a:solidFill>
                  <a:srgbClr val="565656"/>
                </a:solidFill>
                <a:latin typeface="Trebuchet MS"/>
                <a:cs typeface="Trebuchet MS"/>
              </a:rPr>
              <a:t> </a:t>
            </a:r>
            <a:r>
              <a:rPr lang="en-US" sz="1200" spc="-25" err="1">
                <a:solidFill>
                  <a:srgbClr val="565656"/>
                </a:solidFill>
                <a:latin typeface="Trebuchet MS"/>
                <a:cs typeface="Trebuchet MS"/>
              </a:rPr>
              <a:t>RFM</a:t>
            </a:r>
            <a:endParaRPr sz="1200">
              <a:latin typeface="Trebuchet MS"/>
              <a:cs typeface="Trebuchet MS"/>
            </a:endParaRPr>
          </a:p>
        </p:txBody>
      </p:sp>
      <p:sp>
        <p:nvSpPr>
          <p:cNvPr id="11" name="object 11"/>
          <p:cNvSpPr txBox="1"/>
          <p:nvPr/>
        </p:nvSpPr>
        <p:spPr>
          <a:xfrm>
            <a:off x="8116316" y="3188777"/>
            <a:ext cx="1837055" cy="1076960"/>
          </a:xfrm>
          <a:prstGeom prst="rect">
            <a:avLst/>
          </a:prstGeom>
        </p:spPr>
        <p:txBody>
          <a:bodyPr vert="horz" wrap="square" lIns="0" tIns="69850" rIns="0" bIns="0" rtlCol="0">
            <a:spAutoFit/>
          </a:bodyPr>
          <a:lstStyle/>
          <a:p>
            <a:pPr marL="12700">
              <a:lnSpc>
                <a:spcPct val="100000"/>
              </a:lnSpc>
              <a:spcBef>
                <a:spcPts val="550"/>
              </a:spcBef>
            </a:pPr>
            <a:r>
              <a:rPr sz="1400" b="1">
                <a:solidFill>
                  <a:srgbClr val="29B974"/>
                </a:solidFill>
                <a:latin typeface="Henderson BCG Sans"/>
                <a:cs typeface="Henderson BCG Sans"/>
              </a:rPr>
              <a:t>Financial</a:t>
            </a:r>
            <a:r>
              <a:rPr sz="1400" b="1" spc="-40">
                <a:solidFill>
                  <a:srgbClr val="29B974"/>
                </a:solidFill>
                <a:latin typeface="Henderson BCG Sans"/>
                <a:cs typeface="Henderson BCG Sans"/>
              </a:rPr>
              <a:t> </a:t>
            </a:r>
            <a:r>
              <a:rPr sz="1400" b="1" spc="-10">
                <a:solidFill>
                  <a:srgbClr val="29B974"/>
                </a:solidFill>
                <a:latin typeface="Henderson BCG Sans"/>
                <a:cs typeface="Henderson BCG Sans"/>
              </a:rPr>
              <a:t>Behavior</a:t>
            </a:r>
            <a:endParaRPr sz="1400">
              <a:latin typeface="Henderson BCG Sans"/>
              <a:cs typeface="Henderson BCG Sans"/>
            </a:endParaRPr>
          </a:p>
          <a:p>
            <a:pPr marL="106680" marR="5080">
              <a:lnSpc>
                <a:spcPct val="100000"/>
              </a:lnSpc>
              <a:spcBef>
                <a:spcPts val="385"/>
              </a:spcBef>
            </a:pPr>
            <a:r>
              <a:rPr sz="1200" spc="-10">
                <a:solidFill>
                  <a:srgbClr val="565656"/>
                </a:solidFill>
                <a:latin typeface="Trebuchet MS"/>
                <a:cs typeface="Trebuchet MS"/>
              </a:rPr>
              <a:t>30/60/90-</a:t>
            </a:r>
            <a:r>
              <a:rPr sz="1200">
                <a:solidFill>
                  <a:srgbClr val="565656"/>
                </a:solidFill>
                <a:latin typeface="Trebuchet MS"/>
                <a:cs typeface="Trebuchet MS"/>
              </a:rPr>
              <a:t>day</a:t>
            </a:r>
            <a:r>
              <a:rPr sz="1200" spc="-15">
                <a:solidFill>
                  <a:srgbClr val="565656"/>
                </a:solidFill>
                <a:latin typeface="Trebuchet MS"/>
                <a:cs typeface="Trebuchet MS"/>
              </a:rPr>
              <a:t> </a:t>
            </a:r>
            <a:r>
              <a:rPr lang="en-US" sz="1200" spc="-20" err="1">
                <a:solidFill>
                  <a:srgbClr val="565656"/>
                </a:solidFill>
                <a:latin typeface="Trebuchet MS"/>
                <a:cs typeface="Trebuchet MS"/>
              </a:rPr>
              <a:t>DPD</a:t>
            </a:r>
            <a:r>
              <a:rPr sz="1200" spc="-20">
                <a:solidFill>
                  <a:srgbClr val="565656"/>
                </a:solidFill>
                <a:latin typeface="Trebuchet MS"/>
                <a:cs typeface="Trebuchet MS"/>
              </a:rPr>
              <a:t>, </a:t>
            </a:r>
            <a:r>
              <a:rPr sz="1200">
                <a:solidFill>
                  <a:srgbClr val="565656"/>
                </a:solidFill>
                <a:latin typeface="Trebuchet MS"/>
                <a:cs typeface="Trebuchet MS"/>
              </a:rPr>
              <a:t>delinquency</a:t>
            </a:r>
            <a:r>
              <a:rPr sz="1200" spc="-65">
                <a:solidFill>
                  <a:srgbClr val="565656"/>
                </a:solidFill>
                <a:latin typeface="Trebuchet MS"/>
                <a:cs typeface="Trebuchet MS"/>
              </a:rPr>
              <a:t> </a:t>
            </a:r>
            <a:r>
              <a:rPr sz="1200">
                <a:solidFill>
                  <a:srgbClr val="565656"/>
                </a:solidFill>
                <a:latin typeface="Trebuchet MS"/>
                <a:cs typeface="Trebuchet MS"/>
              </a:rPr>
              <a:t>rates,</a:t>
            </a:r>
            <a:r>
              <a:rPr sz="1200" spc="-70">
                <a:solidFill>
                  <a:srgbClr val="565656"/>
                </a:solidFill>
                <a:latin typeface="Trebuchet MS"/>
                <a:cs typeface="Trebuchet MS"/>
              </a:rPr>
              <a:t> </a:t>
            </a:r>
            <a:r>
              <a:rPr sz="1200" spc="-10">
                <a:solidFill>
                  <a:srgbClr val="565656"/>
                </a:solidFill>
                <a:latin typeface="Trebuchet MS"/>
                <a:cs typeface="Trebuchet MS"/>
              </a:rPr>
              <a:t>credit </a:t>
            </a:r>
            <a:r>
              <a:rPr sz="1200">
                <a:solidFill>
                  <a:srgbClr val="565656"/>
                </a:solidFill>
                <a:latin typeface="Trebuchet MS"/>
                <a:cs typeface="Trebuchet MS"/>
              </a:rPr>
              <a:t>&amp;</a:t>
            </a:r>
            <a:r>
              <a:rPr sz="1200" spc="-15">
                <a:solidFill>
                  <a:srgbClr val="565656"/>
                </a:solidFill>
                <a:latin typeface="Trebuchet MS"/>
                <a:cs typeface="Trebuchet MS"/>
              </a:rPr>
              <a:t> </a:t>
            </a:r>
            <a:r>
              <a:rPr sz="1200">
                <a:solidFill>
                  <a:srgbClr val="565656"/>
                </a:solidFill>
                <a:latin typeface="Trebuchet MS"/>
                <a:cs typeface="Trebuchet MS"/>
              </a:rPr>
              <a:t>risk</a:t>
            </a:r>
            <a:r>
              <a:rPr sz="1200" spc="-20">
                <a:solidFill>
                  <a:srgbClr val="565656"/>
                </a:solidFill>
                <a:latin typeface="Trebuchet MS"/>
                <a:cs typeface="Trebuchet MS"/>
              </a:rPr>
              <a:t> </a:t>
            </a:r>
            <a:r>
              <a:rPr sz="1200">
                <a:solidFill>
                  <a:srgbClr val="565656"/>
                </a:solidFill>
                <a:latin typeface="Trebuchet MS"/>
                <a:cs typeface="Trebuchet MS"/>
              </a:rPr>
              <a:t>profile,</a:t>
            </a:r>
            <a:r>
              <a:rPr sz="1200" spc="-45">
                <a:solidFill>
                  <a:srgbClr val="565656"/>
                </a:solidFill>
                <a:latin typeface="Trebuchet MS"/>
                <a:cs typeface="Trebuchet MS"/>
              </a:rPr>
              <a:t> </a:t>
            </a:r>
            <a:r>
              <a:rPr sz="1200">
                <a:solidFill>
                  <a:srgbClr val="565656"/>
                </a:solidFill>
                <a:latin typeface="Trebuchet MS"/>
                <a:cs typeface="Trebuchet MS"/>
              </a:rPr>
              <a:t>credit</a:t>
            </a:r>
            <a:r>
              <a:rPr sz="1200" spc="-45">
                <a:solidFill>
                  <a:srgbClr val="565656"/>
                </a:solidFill>
                <a:latin typeface="Trebuchet MS"/>
                <a:cs typeface="Trebuchet MS"/>
              </a:rPr>
              <a:t> </a:t>
            </a:r>
            <a:r>
              <a:rPr sz="1200" spc="-25">
                <a:solidFill>
                  <a:srgbClr val="565656"/>
                </a:solidFill>
                <a:latin typeface="Trebuchet MS"/>
                <a:cs typeface="Trebuchet MS"/>
              </a:rPr>
              <a:t>bad </a:t>
            </a:r>
            <a:r>
              <a:rPr sz="1200">
                <a:solidFill>
                  <a:srgbClr val="565656"/>
                </a:solidFill>
                <a:latin typeface="Trebuchet MS"/>
                <a:cs typeface="Trebuchet MS"/>
              </a:rPr>
              <a:t>rate,</a:t>
            </a:r>
            <a:r>
              <a:rPr sz="1200" spc="-40">
                <a:solidFill>
                  <a:srgbClr val="565656"/>
                </a:solidFill>
                <a:latin typeface="Trebuchet MS"/>
                <a:cs typeface="Trebuchet MS"/>
              </a:rPr>
              <a:t> </a:t>
            </a:r>
            <a:r>
              <a:rPr sz="1200">
                <a:solidFill>
                  <a:srgbClr val="565656"/>
                </a:solidFill>
                <a:latin typeface="Trebuchet MS"/>
                <a:cs typeface="Trebuchet MS"/>
              </a:rPr>
              <a:t>credit</a:t>
            </a:r>
            <a:r>
              <a:rPr sz="1200" spc="-35">
                <a:solidFill>
                  <a:srgbClr val="565656"/>
                </a:solidFill>
                <a:latin typeface="Trebuchet MS"/>
                <a:cs typeface="Trebuchet MS"/>
              </a:rPr>
              <a:t> </a:t>
            </a:r>
            <a:r>
              <a:rPr sz="1200" spc="-20">
                <a:solidFill>
                  <a:srgbClr val="565656"/>
                </a:solidFill>
                <a:latin typeface="Trebuchet MS"/>
                <a:cs typeface="Trebuchet MS"/>
              </a:rPr>
              <a:t>limit</a:t>
            </a:r>
            <a:endParaRPr sz="1200">
              <a:latin typeface="Trebuchet MS"/>
              <a:cs typeface="Trebuchet MS"/>
            </a:endParaRPr>
          </a:p>
        </p:txBody>
      </p:sp>
      <p:sp>
        <p:nvSpPr>
          <p:cNvPr id="12" name="object 12"/>
          <p:cNvSpPr txBox="1"/>
          <p:nvPr/>
        </p:nvSpPr>
        <p:spPr>
          <a:xfrm>
            <a:off x="7489697" y="1407015"/>
            <a:ext cx="2316480" cy="1283970"/>
          </a:xfrm>
          <a:prstGeom prst="rect">
            <a:avLst/>
          </a:prstGeom>
        </p:spPr>
        <p:txBody>
          <a:bodyPr vert="horz" wrap="square" lIns="0" tIns="83185" rIns="0" bIns="0" rtlCol="0">
            <a:spAutoFit/>
          </a:bodyPr>
          <a:lstStyle/>
          <a:p>
            <a:pPr marL="12700">
              <a:lnSpc>
                <a:spcPct val="100000"/>
              </a:lnSpc>
              <a:spcBef>
                <a:spcPts val="655"/>
              </a:spcBef>
            </a:pPr>
            <a:r>
              <a:rPr sz="1400" b="1">
                <a:solidFill>
                  <a:srgbClr val="29B974"/>
                </a:solidFill>
                <a:latin typeface="Henderson BCG Sans"/>
                <a:cs typeface="Henderson BCG Sans"/>
              </a:rPr>
              <a:t>Customer</a:t>
            </a:r>
            <a:r>
              <a:rPr sz="1400" b="1" spc="-40">
                <a:solidFill>
                  <a:srgbClr val="29B974"/>
                </a:solidFill>
                <a:latin typeface="Henderson BCG Sans"/>
                <a:cs typeface="Henderson BCG Sans"/>
              </a:rPr>
              <a:t> </a:t>
            </a:r>
            <a:r>
              <a:rPr sz="1400" b="1" spc="-10">
                <a:solidFill>
                  <a:srgbClr val="29B974"/>
                </a:solidFill>
                <a:latin typeface="Henderson BCG Sans"/>
                <a:cs typeface="Henderson BCG Sans"/>
              </a:rPr>
              <a:t>profile</a:t>
            </a:r>
            <a:endParaRPr sz="1400">
              <a:latin typeface="Henderson BCG Sans"/>
              <a:cs typeface="Henderson BCG Sans"/>
            </a:endParaRPr>
          </a:p>
          <a:p>
            <a:pPr marL="158750" marR="5080">
              <a:lnSpc>
                <a:spcPct val="100000"/>
              </a:lnSpc>
              <a:spcBef>
                <a:spcPts val="470"/>
              </a:spcBef>
            </a:pPr>
            <a:r>
              <a:rPr sz="1200" b="1" spc="-10">
                <a:solidFill>
                  <a:srgbClr val="565656"/>
                </a:solidFill>
                <a:latin typeface="Trebuchet MS"/>
                <a:cs typeface="Trebuchet MS"/>
              </a:rPr>
              <a:t>Demographics:</a:t>
            </a:r>
            <a:r>
              <a:rPr sz="1200" b="1" spc="-65">
                <a:solidFill>
                  <a:srgbClr val="565656"/>
                </a:solidFill>
                <a:latin typeface="Trebuchet MS"/>
                <a:cs typeface="Trebuchet MS"/>
              </a:rPr>
              <a:t> </a:t>
            </a:r>
            <a:r>
              <a:rPr sz="1200">
                <a:solidFill>
                  <a:srgbClr val="565656"/>
                </a:solidFill>
                <a:latin typeface="Trebuchet MS"/>
                <a:cs typeface="Trebuchet MS"/>
              </a:rPr>
              <a:t>Age,</a:t>
            </a:r>
            <a:r>
              <a:rPr sz="1200" spc="-25">
                <a:solidFill>
                  <a:srgbClr val="565656"/>
                </a:solidFill>
                <a:latin typeface="Trebuchet MS"/>
                <a:cs typeface="Trebuchet MS"/>
              </a:rPr>
              <a:t> </a:t>
            </a:r>
            <a:r>
              <a:rPr sz="1200" spc="-10">
                <a:solidFill>
                  <a:srgbClr val="565656"/>
                </a:solidFill>
                <a:latin typeface="Trebuchet MS"/>
                <a:cs typeface="Trebuchet MS"/>
              </a:rPr>
              <a:t>gender, </a:t>
            </a:r>
            <a:r>
              <a:rPr sz="1200">
                <a:solidFill>
                  <a:srgbClr val="565656"/>
                </a:solidFill>
                <a:latin typeface="Trebuchet MS"/>
                <a:cs typeface="Trebuchet MS"/>
              </a:rPr>
              <a:t>income,</a:t>
            </a:r>
            <a:r>
              <a:rPr sz="1200" spc="-35">
                <a:solidFill>
                  <a:srgbClr val="565656"/>
                </a:solidFill>
                <a:latin typeface="Trebuchet MS"/>
                <a:cs typeface="Trebuchet MS"/>
              </a:rPr>
              <a:t> </a:t>
            </a:r>
            <a:r>
              <a:rPr sz="1200">
                <a:solidFill>
                  <a:srgbClr val="565656"/>
                </a:solidFill>
                <a:latin typeface="Trebuchet MS"/>
                <a:cs typeface="Trebuchet MS"/>
              </a:rPr>
              <a:t>marital</a:t>
            </a:r>
            <a:r>
              <a:rPr sz="1200" spc="-45">
                <a:solidFill>
                  <a:srgbClr val="565656"/>
                </a:solidFill>
                <a:latin typeface="Trebuchet MS"/>
                <a:cs typeface="Trebuchet MS"/>
              </a:rPr>
              <a:t> </a:t>
            </a:r>
            <a:r>
              <a:rPr sz="1200" spc="-10">
                <a:solidFill>
                  <a:srgbClr val="565656"/>
                </a:solidFill>
                <a:latin typeface="Trebuchet MS"/>
                <a:cs typeface="Trebuchet MS"/>
              </a:rPr>
              <a:t>status, </a:t>
            </a:r>
            <a:r>
              <a:rPr sz="1200">
                <a:solidFill>
                  <a:srgbClr val="565656"/>
                </a:solidFill>
                <a:latin typeface="Trebuchet MS"/>
                <a:cs typeface="Trebuchet MS"/>
              </a:rPr>
              <a:t>household</a:t>
            </a:r>
            <a:r>
              <a:rPr sz="1200" spc="-70">
                <a:solidFill>
                  <a:srgbClr val="565656"/>
                </a:solidFill>
                <a:latin typeface="Trebuchet MS"/>
                <a:cs typeface="Trebuchet MS"/>
              </a:rPr>
              <a:t> </a:t>
            </a:r>
            <a:r>
              <a:rPr sz="1200">
                <a:solidFill>
                  <a:srgbClr val="565656"/>
                </a:solidFill>
                <a:latin typeface="Trebuchet MS"/>
                <a:cs typeface="Trebuchet MS"/>
              </a:rPr>
              <a:t>location,</a:t>
            </a:r>
            <a:r>
              <a:rPr sz="1200" spc="-65">
                <a:solidFill>
                  <a:srgbClr val="565656"/>
                </a:solidFill>
                <a:latin typeface="Trebuchet MS"/>
                <a:cs typeface="Trebuchet MS"/>
              </a:rPr>
              <a:t> </a:t>
            </a:r>
            <a:r>
              <a:rPr sz="1200" spc="-10">
                <a:solidFill>
                  <a:srgbClr val="565656"/>
                </a:solidFill>
                <a:latin typeface="Trebuchet MS"/>
                <a:cs typeface="Trebuchet MS"/>
              </a:rPr>
              <a:t>salary</a:t>
            </a:r>
            <a:r>
              <a:rPr sz="1200" spc="500">
                <a:solidFill>
                  <a:srgbClr val="565656"/>
                </a:solidFill>
                <a:latin typeface="Trebuchet MS"/>
                <a:cs typeface="Trebuchet MS"/>
              </a:rPr>
              <a:t> </a:t>
            </a:r>
            <a:r>
              <a:rPr sz="1200" b="1">
                <a:solidFill>
                  <a:srgbClr val="565656"/>
                </a:solidFill>
                <a:latin typeface="Trebuchet MS"/>
                <a:cs typeface="Trebuchet MS"/>
              </a:rPr>
              <a:t>Bank</a:t>
            </a:r>
            <a:r>
              <a:rPr sz="1200" b="1" spc="-15">
                <a:solidFill>
                  <a:srgbClr val="565656"/>
                </a:solidFill>
                <a:latin typeface="Trebuchet MS"/>
                <a:cs typeface="Trebuchet MS"/>
              </a:rPr>
              <a:t> </a:t>
            </a:r>
            <a:r>
              <a:rPr sz="1200" b="1" spc="-10">
                <a:solidFill>
                  <a:srgbClr val="565656"/>
                </a:solidFill>
                <a:latin typeface="Trebuchet MS"/>
                <a:cs typeface="Trebuchet MS"/>
              </a:rPr>
              <a:t>interaction:</a:t>
            </a:r>
            <a:r>
              <a:rPr sz="1200" b="1" spc="-20">
                <a:solidFill>
                  <a:srgbClr val="565656"/>
                </a:solidFill>
                <a:latin typeface="Trebuchet MS"/>
                <a:cs typeface="Trebuchet MS"/>
              </a:rPr>
              <a:t> </a:t>
            </a:r>
            <a:r>
              <a:rPr sz="1200" spc="-25">
                <a:solidFill>
                  <a:srgbClr val="565656"/>
                </a:solidFill>
                <a:latin typeface="Trebuchet MS"/>
                <a:cs typeface="Trebuchet MS"/>
              </a:rPr>
              <a:t>Tenure</a:t>
            </a:r>
            <a:r>
              <a:rPr sz="1200" spc="-55">
                <a:solidFill>
                  <a:srgbClr val="565656"/>
                </a:solidFill>
                <a:latin typeface="Trebuchet MS"/>
                <a:cs typeface="Trebuchet MS"/>
              </a:rPr>
              <a:t> </a:t>
            </a:r>
            <a:r>
              <a:rPr sz="1200" spc="-20">
                <a:solidFill>
                  <a:srgbClr val="565656"/>
                </a:solidFill>
                <a:latin typeface="Trebuchet MS"/>
                <a:cs typeface="Trebuchet MS"/>
              </a:rPr>
              <a:t>with </a:t>
            </a:r>
            <a:r>
              <a:rPr sz="1200">
                <a:solidFill>
                  <a:srgbClr val="565656"/>
                </a:solidFill>
                <a:latin typeface="Trebuchet MS"/>
                <a:cs typeface="Trebuchet MS"/>
              </a:rPr>
              <a:t>bank,</a:t>
            </a:r>
            <a:r>
              <a:rPr sz="1200" spc="-15">
                <a:solidFill>
                  <a:srgbClr val="565656"/>
                </a:solidFill>
                <a:latin typeface="Trebuchet MS"/>
                <a:cs typeface="Trebuchet MS"/>
              </a:rPr>
              <a:t> </a:t>
            </a:r>
            <a:r>
              <a:rPr sz="1200" spc="-10">
                <a:solidFill>
                  <a:srgbClr val="565656"/>
                </a:solidFill>
                <a:latin typeface="Trebuchet MS"/>
                <a:cs typeface="Trebuchet MS"/>
              </a:rPr>
              <a:t>relationship</a:t>
            </a:r>
            <a:r>
              <a:rPr sz="1200" spc="-30">
                <a:solidFill>
                  <a:srgbClr val="565656"/>
                </a:solidFill>
                <a:latin typeface="Trebuchet MS"/>
                <a:cs typeface="Trebuchet MS"/>
              </a:rPr>
              <a:t> </a:t>
            </a:r>
            <a:r>
              <a:rPr sz="1200">
                <a:solidFill>
                  <a:srgbClr val="565656"/>
                </a:solidFill>
                <a:latin typeface="Trebuchet MS"/>
                <a:cs typeface="Trebuchet MS"/>
              </a:rPr>
              <a:t>type,</a:t>
            </a:r>
            <a:r>
              <a:rPr sz="1200" spc="-5">
                <a:solidFill>
                  <a:srgbClr val="565656"/>
                </a:solidFill>
                <a:latin typeface="Trebuchet MS"/>
                <a:cs typeface="Trebuchet MS"/>
              </a:rPr>
              <a:t> </a:t>
            </a:r>
            <a:r>
              <a:rPr sz="1200" spc="-10">
                <a:solidFill>
                  <a:srgbClr val="565656"/>
                </a:solidFill>
                <a:latin typeface="Trebuchet MS"/>
                <a:cs typeface="Trebuchet MS"/>
              </a:rPr>
              <a:t>branch</a:t>
            </a:r>
            <a:endParaRPr sz="1200">
              <a:latin typeface="Trebuchet MS"/>
              <a:cs typeface="Trebuchet MS"/>
            </a:endParaRPr>
          </a:p>
        </p:txBody>
      </p:sp>
      <p:pic>
        <p:nvPicPr>
          <p:cNvPr id="13" name="object 13"/>
          <p:cNvPicPr/>
          <p:nvPr/>
        </p:nvPicPr>
        <p:blipFill>
          <a:blip r:embed="rId3" cstate="print"/>
          <a:stretch>
            <a:fillRect/>
          </a:stretch>
        </p:blipFill>
        <p:spPr>
          <a:xfrm>
            <a:off x="5284660" y="4295457"/>
            <a:ext cx="209930" cy="207137"/>
          </a:xfrm>
          <a:prstGeom prst="rect">
            <a:avLst/>
          </a:prstGeom>
        </p:spPr>
      </p:pic>
      <p:grpSp>
        <p:nvGrpSpPr>
          <p:cNvPr id="14" name="object 14"/>
          <p:cNvGrpSpPr/>
          <p:nvPr/>
        </p:nvGrpSpPr>
        <p:grpSpPr>
          <a:xfrm>
            <a:off x="6451091" y="3617976"/>
            <a:ext cx="207645" cy="207645"/>
            <a:chOff x="6451091" y="3617976"/>
            <a:chExt cx="207645" cy="207645"/>
          </a:xfrm>
        </p:grpSpPr>
        <p:pic>
          <p:nvPicPr>
            <p:cNvPr id="15" name="object 15"/>
            <p:cNvPicPr/>
            <p:nvPr/>
          </p:nvPicPr>
          <p:blipFill>
            <a:blip r:embed="rId4" cstate="print"/>
            <a:stretch>
              <a:fillRect/>
            </a:stretch>
          </p:blipFill>
          <p:spPr>
            <a:xfrm>
              <a:off x="6451091" y="3617976"/>
              <a:ext cx="207263" cy="207263"/>
            </a:xfrm>
            <a:prstGeom prst="rect">
              <a:avLst/>
            </a:prstGeom>
          </p:spPr>
        </p:pic>
        <p:pic>
          <p:nvPicPr>
            <p:cNvPr id="16" name="object 16"/>
            <p:cNvPicPr/>
            <p:nvPr/>
          </p:nvPicPr>
          <p:blipFill>
            <a:blip r:embed="rId5" cstate="print"/>
            <a:stretch>
              <a:fillRect/>
            </a:stretch>
          </p:blipFill>
          <p:spPr>
            <a:xfrm>
              <a:off x="6487985" y="3656647"/>
              <a:ext cx="133476" cy="131762"/>
            </a:xfrm>
            <a:prstGeom prst="rect">
              <a:avLst/>
            </a:prstGeom>
          </p:spPr>
        </p:pic>
      </p:grpSp>
      <p:grpSp>
        <p:nvGrpSpPr>
          <p:cNvPr id="17" name="object 17"/>
          <p:cNvGrpSpPr/>
          <p:nvPr/>
        </p:nvGrpSpPr>
        <p:grpSpPr>
          <a:xfrm>
            <a:off x="6106096" y="4291361"/>
            <a:ext cx="210185" cy="207010"/>
            <a:chOff x="6106096" y="4291361"/>
            <a:chExt cx="210185" cy="207010"/>
          </a:xfrm>
        </p:grpSpPr>
        <p:pic>
          <p:nvPicPr>
            <p:cNvPr id="18" name="object 18"/>
            <p:cNvPicPr/>
            <p:nvPr/>
          </p:nvPicPr>
          <p:blipFill>
            <a:blip r:embed="rId6" cstate="print"/>
            <a:stretch>
              <a:fillRect/>
            </a:stretch>
          </p:blipFill>
          <p:spPr>
            <a:xfrm>
              <a:off x="6106096" y="4291361"/>
              <a:ext cx="209930" cy="206660"/>
            </a:xfrm>
            <a:prstGeom prst="rect">
              <a:avLst/>
            </a:prstGeom>
          </p:spPr>
        </p:pic>
        <p:pic>
          <p:nvPicPr>
            <p:cNvPr id="19" name="object 19"/>
            <p:cNvPicPr/>
            <p:nvPr/>
          </p:nvPicPr>
          <p:blipFill>
            <a:blip r:embed="rId7" cstate="print"/>
            <a:stretch>
              <a:fillRect/>
            </a:stretch>
          </p:blipFill>
          <p:spPr>
            <a:xfrm>
              <a:off x="6143561" y="4328731"/>
              <a:ext cx="133476" cy="131762"/>
            </a:xfrm>
            <a:prstGeom prst="rect">
              <a:avLst/>
            </a:prstGeom>
          </p:spPr>
        </p:pic>
      </p:grpSp>
      <p:grpSp>
        <p:nvGrpSpPr>
          <p:cNvPr id="20" name="object 20"/>
          <p:cNvGrpSpPr/>
          <p:nvPr/>
        </p:nvGrpSpPr>
        <p:grpSpPr>
          <a:xfrm>
            <a:off x="4946903" y="3617976"/>
            <a:ext cx="207645" cy="207645"/>
            <a:chOff x="4946903" y="3617976"/>
            <a:chExt cx="207645" cy="207645"/>
          </a:xfrm>
        </p:grpSpPr>
        <p:pic>
          <p:nvPicPr>
            <p:cNvPr id="21" name="object 21"/>
            <p:cNvPicPr/>
            <p:nvPr/>
          </p:nvPicPr>
          <p:blipFill>
            <a:blip r:embed="rId4" cstate="print"/>
            <a:stretch>
              <a:fillRect/>
            </a:stretch>
          </p:blipFill>
          <p:spPr>
            <a:xfrm>
              <a:off x="4946903" y="3617976"/>
              <a:ext cx="207263" cy="207263"/>
            </a:xfrm>
            <a:prstGeom prst="rect">
              <a:avLst/>
            </a:prstGeom>
          </p:spPr>
        </p:pic>
        <p:pic>
          <p:nvPicPr>
            <p:cNvPr id="22" name="object 22"/>
            <p:cNvPicPr/>
            <p:nvPr/>
          </p:nvPicPr>
          <p:blipFill>
            <a:blip r:embed="rId5" cstate="print"/>
            <a:stretch>
              <a:fillRect/>
            </a:stretch>
          </p:blipFill>
          <p:spPr>
            <a:xfrm>
              <a:off x="4983797" y="3656647"/>
              <a:ext cx="133476" cy="131762"/>
            </a:xfrm>
            <a:prstGeom prst="rect">
              <a:avLst/>
            </a:prstGeom>
          </p:spPr>
        </p:pic>
      </p:grpSp>
      <p:grpSp>
        <p:nvGrpSpPr>
          <p:cNvPr id="23" name="object 23"/>
          <p:cNvGrpSpPr/>
          <p:nvPr/>
        </p:nvGrpSpPr>
        <p:grpSpPr>
          <a:xfrm>
            <a:off x="5280088" y="3009201"/>
            <a:ext cx="210185" cy="207645"/>
            <a:chOff x="5280088" y="3009201"/>
            <a:chExt cx="210185" cy="207645"/>
          </a:xfrm>
        </p:grpSpPr>
        <p:pic>
          <p:nvPicPr>
            <p:cNvPr id="24" name="object 24"/>
            <p:cNvPicPr/>
            <p:nvPr/>
          </p:nvPicPr>
          <p:blipFill>
            <a:blip r:embed="rId8" cstate="print"/>
            <a:stretch>
              <a:fillRect/>
            </a:stretch>
          </p:blipFill>
          <p:spPr>
            <a:xfrm>
              <a:off x="5280088" y="3009201"/>
              <a:ext cx="209930" cy="207137"/>
            </a:xfrm>
            <a:prstGeom prst="rect">
              <a:avLst/>
            </a:prstGeom>
          </p:spPr>
        </p:pic>
        <p:pic>
          <p:nvPicPr>
            <p:cNvPr id="25" name="object 25"/>
            <p:cNvPicPr/>
            <p:nvPr/>
          </p:nvPicPr>
          <p:blipFill>
            <a:blip r:embed="rId5" cstate="print"/>
            <a:stretch>
              <a:fillRect/>
            </a:stretch>
          </p:blipFill>
          <p:spPr>
            <a:xfrm>
              <a:off x="5319077" y="3047047"/>
              <a:ext cx="133476" cy="131762"/>
            </a:xfrm>
            <a:prstGeom prst="rect">
              <a:avLst/>
            </a:prstGeom>
          </p:spPr>
        </p:pic>
      </p:grpSp>
      <p:grpSp>
        <p:nvGrpSpPr>
          <p:cNvPr id="26" name="object 26"/>
          <p:cNvGrpSpPr/>
          <p:nvPr/>
        </p:nvGrpSpPr>
        <p:grpSpPr>
          <a:xfrm>
            <a:off x="6173089" y="3007677"/>
            <a:ext cx="208915" cy="207645"/>
            <a:chOff x="6173089" y="3007677"/>
            <a:chExt cx="208915" cy="207645"/>
          </a:xfrm>
        </p:grpSpPr>
        <p:pic>
          <p:nvPicPr>
            <p:cNvPr id="27" name="object 27"/>
            <p:cNvPicPr/>
            <p:nvPr/>
          </p:nvPicPr>
          <p:blipFill>
            <a:blip r:embed="rId9" cstate="print"/>
            <a:stretch>
              <a:fillRect/>
            </a:stretch>
          </p:blipFill>
          <p:spPr>
            <a:xfrm>
              <a:off x="6173089" y="3007677"/>
              <a:ext cx="208534" cy="207137"/>
            </a:xfrm>
            <a:prstGeom prst="rect">
              <a:avLst/>
            </a:prstGeom>
          </p:spPr>
        </p:pic>
        <p:pic>
          <p:nvPicPr>
            <p:cNvPr id="28" name="object 28"/>
            <p:cNvPicPr/>
            <p:nvPr/>
          </p:nvPicPr>
          <p:blipFill>
            <a:blip r:embed="rId7" cstate="print"/>
            <a:stretch>
              <a:fillRect/>
            </a:stretch>
          </p:blipFill>
          <p:spPr>
            <a:xfrm>
              <a:off x="6210617" y="3045523"/>
              <a:ext cx="133477" cy="131762"/>
            </a:xfrm>
            <a:prstGeom prst="rect">
              <a:avLst/>
            </a:prstGeom>
          </p:spPr>
        </p:pic>
      </p:grpSp>
      <p:grpSp>
        <p:nvGrpSpPr>
          <p:cNvPr id="29" name="object 29"/>
          <p:cNvGrpSpPr/>
          <p:nvPr/>
        </p:nvGrpSpPr>
        <p:grpSpPr>
          <a:xfrm>
            <a:off x="3544823" y="1877567"/>
            <a:ext cx="4512945" cy="3758565"/>
            <a:chOff x="3544823" y="1877567"/>
            <a:chExt cx="4512945" cy="3758565"/>
          </a:xfrm>
        </p:grpSpPr>
        <p:pic>
          <p:nvPicPr>
            <p:cNvPr id="30" name="object 30"/>
            <p:cNvPicPr/>
            <p:nvPr/>
          </p:nvPicPr>
          <p:blipFill>
            <a:blip r:embed="rId10" cstate="print"/>
            <a:stretch>
              <a:fillRect/>
            </a:stretch>
          </p:blipFill>
          <p:spPr>
            <a:xfrm>
              <a:off x="5039867" y="2965703"/>
              <a:ext cx="1567434" cy="1570482"/>
            </a:xfrm>
            <a:prstGeom prst="rect">
              <a:avLst/>
            </a:prstGeom>
          </p:spPr>
        </p:pic>
        <p:sp>
          <p:nvSpPr>
            <p:cNvPr id="31" name="object 31"/>
            <p:cNvSpPr/>
            <p:nvPr/>
          </p:nvSpPr>
          <p:spPr>
            <a:xfrm>
              <a:off x="5058155" y="2983991"/>
              <a:ext cx="1515110" cy="1518285"/>
            </a:xfrm>
            <a:custGeom>
              <a:avLst/>
              <a:gdLst/>
              <a:ahLst/>
              <a:cxnLst/>
              <a:rect l="l" t="t" r="r" b="b"/>
              <a:pathLst>
                <a:path w="1515109" h="1518285">
                  <a:moveTo>
                    <a:pt x="757428" y="0"/>
                  </a:moveTo>
                  <a:lnTo>
                    <a:pt x="709511" y="1492"/>
                  </a:lnTo>
                  <a:lnTo>
                    <a:pt x="662388" y="5910"/>
                  </a:lnTo>
                  <a:lnTo>
                    <a:pt x="616148" y="13164"/>
                  </a:lnTo>
                  <a:lnTo>
                    <a:pt x="570880" y="23167"/>
                  </a:lnTo>
                  <a:lnTo>
                    <a:pt x="526671" y="35829"/>
                  </a:lnTo>
                  <a:lnTo>
                    <a:pt x="483611" y="51061"/>
                  </a:lnTo>
                  <a:lnTo>
                    <a:pt x="441788" y="68776"/>
                  </a:lnTo>
                  <a:lnTo>
                    <a:pt x="401291" y="88884"/>
                  </a:lnTo>
                  <a:lnTo>
                    <a:pt x="362208" y="111296"/>
                  </a:lnTo>
                  <a:lnTo>
                    <a:pt x="324627" y="135925"/>
                  </a:lnTo>
                  <a:lnTo>
                    <a:pt x="288639" y="162680"/>
                  </a:lnTo>
                  <a:lnTo>
                    <a:pt x="254330" y="191474"/>
                  </a:lnTo>
                  <a:lnTo>
                    <a:pt x="221789" y="222218"/>
                  </a:lnTo>
                  <a:lnTo>
                    <a:pt x="191106" y="254822"/>
                  </a:lnTo>
                  <a:lnTo>
                    <a:pt x="162368" y="289199"/>
                  </a:lnTo>
                  <a:lnTo>
                    <a:pt x="135665" y="325260"/>
                  </a:lnTo>
                  <a:lnTo>
                    <a:pt x="111084" y="362916"/>
                  </a:lnTo>
                  <a:lnTo>
                    <a:pt x="88715" y="402077"/>
                  </a:lnTo>
                  <a:lnTo>
                    <a:pt x="68645" y="442657"/>
                  </a:lnTo>
                  <a:lnTo>
                    <a:pt x="50965" y="484565"/>
                  </a:lnTo>
                  <a:lnTo>
                    <a:pt x="35761" y="527713"/>
                  </a:lnTo>
                  <a:lnTo>
                    <a:pt x="23123" y="572013"/>
                  </a:lnTo>
                  <a:lnTo>
                    <a:pt x="13139" y="617375"/>
                  </a:lnTo>
                  <a:lnTo>
                    <a:pt x="5898" y="663712"/>
                  </a:lnTo>
                  <a:lnTo>
                    <a:pt x="1489" y="710933"/>
                  </a:lnTo>
                  <a:lnTo>
                    <a:pt x="0" y="758952"/>
                  </a:lnTo>
                  <a:lnTo>
                    <a:pt x="1489" y="806970"/>
                  </a:lnTo>
                  <a:lnTo>
                    <a:pt x="5898" y="854191"/>
                  </a:lnTo>
                  <a:lnTo>
                    <a:pt x="13139" y="900528"/>
                  </a:lnTo>
                  <a:lnTo>
                    <a:pt x="23123" y="945890"/>
                  </a:lnTo>
                  <a:lnTo>
                    <a:pt x="35761" y="990190"/>
                  </a:lnTo>
                  <a:lnTo>
                    <a:pt x="50965" y="1033338"/>
                  </a:lnTo>
                  <a:lnTo>
                    <a:pt x="68645" y="1075246"/>
                  </a:lnTo>
                  <a:lnTo>
                    <a:pt x="88715" y="1115826"/>
                  </a:lnTo>
                  <a:lnTo>
                    <a:pt x="111084" y="1154987"/>
                  </a:lnTo>
                  <a:lnTo>
                    <a:pt x="135665" y="1192643"/>
                  </a:lnTo>
                  <a:lnTo>
                    <a:pt x="162368" y="1228704"/>
                  </a:lnTo>
                  <a:lnTo>
                    <a:pt x="191106" y="1263081"/>
                  </a:lnTo>
                  <a:lnTo>
                    <a:pt x="221789" y="1295685"/>
                  </a:lnTo>
                  <a:lnTo>
                    <a:pt x="254330" y="1326429"/>
                  </a:lnTo>
                  <a:lnTo>
                    <a:pt x="288639" y="1355223"/>
                  </a:lnTo>
                  <a:lnTo>
                    <a:pt x="324627" y="1381978"/>
                  </a:lnTo>
                  <a:lnTo>
                    <a:pt x="362208" y="1406607"/>
                  </a:lnTo>
                  <a:lnTo>
                    <a:pt x="401291" y="1429019"/>
                  </a:lnTo>
                  <a:lnTo>
                    <a:pt x="441788" y="1449127"/>
                  </a:lnTo>
                  <a:lnTo>
                    <a:pt x="483611" y="1466842"/>
                  </a:lnTo>
                  <a:lnTo>
                    <a:pt x="526671" y="1482074"/>
                  </a:lnTo>
                  <a:lnTo>
                    <a:pt x="570880" y="1494736"/>
                  </a:lnTo>
                  <a:lnTo>
                    <a:pt x="616148" y="1504739"/>
                  </a:lnTo>
                  <a:lnTo>
                    <a:pt x="662388" y="1511993"/>
                  </a:lnTo>
                  <a:lnTo>
                    <a:pt x="709511" y="1516411"/>
                  </a:lnTo>
                  <a:lnTo>
                    <a:pt x="757428" y="1517904"/>
                  </a:lnTo>
                  <a:lnTo>
                    <a:pt x="805344" y="1516411"/>
                  </a:lnTo>
                  <a:lnTo>
                    <a:pt x="852467" y="1511993"/>
                  </a:lnTo>
                  <a:lnTo>
                    <a:pt x="898707" y="1504739"/>
                  </a:lnTo>
                  <a:lnTo>
                    <a:pt x="943975" y="1494736"/>
                  </a:lnTo>
                  <a:lnTo>
                    <a:pt x="974385" y="1486027"/>
                  </a:lnTo>
                  <a:lnTo>
                    <a:pt x="757428" y="1486027"/>
                  </a:lnTo>
                  <a:lnTo>
                    <a:pt x="709242" y="1484458"/>
                  </a:lnTo>
                  <a:lnTo>
                    <a:pt x="661664" y="1479784"/>
                  </a:lnTo>
                  <a:lnTo>
                    <a:pt x="614807" y="1472053"/>
                  </a:lnTo>
                  <a:lnTo>
                    <a:pt x="568785" y="1461313"/>
                  </a:lnTo>
                  <a:lnTo>
                    <a:pt x="523715" y="1447614"/>
                  </a:lnTo>
                  <a:lnTo>
                    <a:pt x="479710" y="1431004"/>
                  </a:lnTo>
                  <a:lnTo>
                    <a:pt x="436885" y="1411531"/>
                  </a:lnTo>
                  <a:lnTo>
                    <a:pt x="395355" y="1389243"/>
                  </a:lnTo>
                  <a:lnTo>
                    <a:pt x="355234" y="1364190"/>
                  </a:lnTo>
                  <a:lnTo>
                    <a:pt x="316638" y="1336419"/>
                  </a:lnTo>
                  <a:lnTo>
                    <a:pt x="279679" y="1305980"/>
                  </a:lnTo>
                  <a:lnTo>
                    <a:pt x="244475" y="1272921"/>
                  </a:lnTo>
                  <a:lnTo>
                    <a:pt x="211476" y="1237623"/>
                  </a:lnTo>
                  <a:lnTo>
                    <a:pt x="181092" y="1200576"/>
                  </a:lnTo>
                  <a:lnTo>
                    <a:pt x="153372" y="1161895"/>
                  </a:lnTo>
                  <a:lnTo>
                    <a:pt x="128364" y="1121692"/>
                  </a:lnTo>
                  <a:lnTo>
                    <a:pt x="106116" y="1080081"/>
                  </a:lnTo>
                  <a:lnTo>
                    <a:pt x="86677" y="1037177"/>
                  </a:lnTo>
                  <a:lnTo>
                    <a:pt x="70096" y="993092"/>
                  </a:lnTo>
                  <a:lnTo>
                    <a:pt x="56420" y="947942"/>
                  </a:lnTo>
                  <a:lnTo>
                    <a:pt x="45700" y="901838"/>
                  </a:lnTo>
                  <a:lnTo>
                    <a:pt x="37982" y="854896"/>
                  </a:lnTo>
                  <a:lnTo>
                    <a:pt x="33316" y="807230"/>
                  </a:lnTo>
                  <a:lnTo>
                    <a:pt x="31750" y="758952"/>
                  </a:lnTo>
                  <a:lnTo>
                    <a:pt x="33316" y="710673"/>
                  </a:lnTo>
                  <a:lnTo>
                    <a:pt x="37982" y="663007"/>
                  </a:lnTo>
                  <a:lnTo>
                    <a:pt x="45700" y="616065"/>
                  </a:lnTo>
                  <a:lnTo>
                    <a:pt x="56420" y="569961"/>
                  </a:lnTo>
                  <a:lnTo>
                    <a:pt x="70096" y="524811"/>
                  </a:lnTo>
                  <a:lnTo>
                    <a:pt x="86677" y="480726"/>
                  </a:lnTo>
                  <a:lnTo>
                    <a:pt x="106116" y="437822"/>
                  </a:lnTo>
                  <a:lnTo>
                    <a:pt x="128364" y="396211"/>
                  </a:lnTo>
                  <a:lnTo>
                    <a:pt x="153372" y="356008"/>
                  </a:lnTo>
                  <a:lnTo>
                    <a:pt x="181092" y="317327"/>
                  </a:lnTo>
                  <a:lnTo>
                    <a:pt x="211476" y="280280"/>
                  </a:lnTo>
                  <a:lnTo>
                    <a:pt x="244475" y="244983"/>
                  </a:lnTo>
                  <a:lnTo>
                    <a:pt x="279679" y="211923"/>
                  </a:lnTo>
                  <a:lnTo>
                    <a:pt x="316638" y="181484"/>
                  </a:lnTo>
                  <a:lnTo>
                    <a:pt x="355234" y="153713"/>
                  </a:lnTo>
                  <a:lnTo>
                    <a:pt x="395355" y="128660"/>
                  </a:lnTo>
                  <a:lnTo>
                    <a:pt x="436885" y="106372"/>
                  </a:lnTo>
                  <a:lnTo>
                    <a:pt x="479710" y="86899"/>
                  </a:lnTo>
                  <a:lnTo>
                    <a:pt x="523715" y="70289"/>
                  </a:lnTo>
                  <a:lnTo>
                    <a:pt x="568785" y="56590"/>
                  </a:lnTo>
                  <a:lnTo>
                    <a:pt x="614806" y="45850"/>
                  </a:lnTo>
                  <a:lnTo>
                    <a:pt x="661664" y="38119"/>
                  </a:lnTo>
                  <a:lnTo>
                    <a:pt x="709242" y="33445"/>
                  </a:lnTo>
                  <a:lnTo>
                    <a:pt x="757428" y="31877"/>
                  </a:lnTo>
                  <a:lnTo>
                    <a:pt x="974385" y="31877"/>
                  </a:lnTo>
                  <a:lnTo>
                    <a:pt x="943975" y="23167"/>
                  </a:lnTo>
                  <a:lnTo>
                    <a:pt x="898707" y="13164"/>
                  </a:lnTo>
                  <a:lnTo>
                    <a:pt x="852467" y="5910"/>
                  </a:lnTo>
                  <a:lnTo>
                    <a:pt x="805344" y="1492"/>
                  </a:lnTo>
                  <a:lnTo>
                    <a:pt x="757428" y="0"/>
                  </a:lnTo>
                  <a:close/>
                </a:path>
                <a:path w="1515109" h="1518285">
                  <a:moveTo>
                    <a:pt x="974385" y="31877"/>
                  </a:moveTo>
                  <a:lnTo>
                    <a:pt x="757428" y="31877"/>
                  </a:lnTo>
                  <a:lnTo>
                    <a:pt x="805613" y="33445"/>
                  </a:lnTo>
                  <a:lnTo>
                    <a:pt x="853191" y="38119"/>
                  </a:lnTo>
                  <a:lnTo>
                    <a:pt x="900049" y="45850"/>
                  </a:lnTo>
                  <a:lnTo>
                    <a:pt x="946070" y="56590"/>
                  </a:lnTo>
                  <a:lnTo>
                    <a:pt x="991140" y="70289"/>
                  </a:lnTo>
                  <a:lnTo>
                    <a:pt x="1035145" y="86899"/>
                  </a:lnTo>
                  <a:lnTo>
                    <a:pt x="1077970" y="106372"/>
                  </a:lnTo>
                  <a:lnTo>
                    <a:pt x="1119500" y="128660"/>
                  </a:lnTo>
                  <a:lnTo>
                    <a:pt x="1159621" y="153713"/>
                  </a:lnTo>
                  <a:lnTo>
                    <a:pt x="1198217" y="181484"/>
                  </a:lnTo>
                  <a:lnTo>
                    <a:pt x="1235176" y="211923"/>
                  </a:lnTo>
                  <a:lnTo>
                    <a:pt x="1270381" y="244983"/>
                  </a:lnTo>
                  <a:lnTo>
                    <a:pt x="1303379" y="280280"/>
                  </a:lnTo>
                  <a:lnTo>
                    <a:pt x="1333763" y="317327"/>
                  </a:lnTo>
                  <a:lnTo>
                    <a:pt x="1361483" y="356008"/>
                  </a:lnTo>
                  <a:lnTo>
                    <a:pt x="1386491" y="396211"/>
                  </a:lnTo>
                  <a:lnTo>
                    <a:pt x="1408739" y="437822"/>
                  </a:lnTo>
                  <a:lnTo>
                    <a:pt x="1428178" y="480726"/>
                  </a:lnTo>
                  <a:lnTo>
                    <a:pt x="1444759" y="524811"/>
                  </a:lnTo>
                  <a:lnTo>
                    <a:pt x="1458435" y="569961"/>
                  </a:lnTo>
                  <a:lnTo>
                    <a:pt x="1469155" y="616065"/>
                  </a:lnTo>
                  <a:lnTo>
                    <a:pt x="1476873" y="663007"/>
                  </a:lnTo>
                  <a:lnTo>
                    <a:pt x="1481539" y="710673"/>
                  </a:lnTo>
                  <a:lnTo>
                    <a:pt x="1483105" y="758952"/>
                  </a:lnTo>
                  <a:lnTo>
                    <a:pt x="1481539" y="807230"/>
                  </a:lnTo>
                  <a:lnTo>
                    <a:pt x="1476873" y="854896"/>
                  </a:lnTo>
                  <a:lnTo>
                    <a:pt x="1469155" y="901838"/>
                  </a:lnTo>
                  <a:lnTo>
                    <a:pt x="1458435" y="947942"/>
                  </a:lnTo>
                  <a:lnTo>
                    <a:pt x="1444759" y="993092"/>
                  </a:lnTo>
                  <a:lnTo>
                    <a:pt x="1428178" y="1037177"/>
                  </a:lnTo>
                  <a:lnTo>
                    <a:pt x="1408739" y="1080081"/>
                  </a:lnTo>
                  <a:lnTo>
                    <a:pt x="1386491" y="1121692"/>
                  </a:lnTo>
                  <a:lnTo>
                    <a:pt x="1361483" y="1161895"/>
                  </a:lnTo>
                  <a:lnTo>
                    <a:pt x="1333763" y="1200576"/>
                  </a:lnTo>
                  <a:lnTo>
                    <a:pt x="1303379" y="1237623"/>
                  </a:lnTo>
                  <a:lnTo>
                    <a:pt x="1270381" y="1272921"/>
                  </a:lnTo>
                  <a:lnTo>
                    <a:pt x="1235176" y="1305980"/>
                  </a:lnTo>
                  <a:lnTo>
                    <a:pt x="1198217" y="1336419"/>
                  </a:lnTo>
                  <a:lnTo>
                    <a:pt x="1159621" y="1364190"/>
                  </a:lnTo>
                  <a:lnTo>
                    <a:pt x="1119500" y="1389243"/>
                  </a:lnTo>
                  <a:lnTo>
                    <a:pt x="1077970" y="1411531"/>
                  </a:lnTo>
                  <a:lnTo>
                    <a:pt x="1035145" y="1431004"/>
                  </a:lnTo>
                  <a:lnTo>
                    <a:pt x="991140" y="1447614"/>
                  </a:lnTo>
                  <a:lnTo>
                    <a:pt x="946070" y="1461313"/>
                  </a:lnTo>
                  <a:lnTo>
                    <a:pt x="900049" y="1472053"/>
                  </a:lnTo>
                  <a:lnTo>
                    <a:pt x="853191" y="1479784"/>
                  </a:lnTo>
                  <a:lnTo>
                    <a:pt x="805613" y="1484458"/>
                  </a:lnTo>
                  <a:lnTo>
                    <a:pt x="757428" y="1486027"/>
                  </a:lnTo>
                  <a:lnTo>
                    <a:pt x="974385" y="1486027"/>
                  </a:lnTo>
                  <a:lnTo>
                    <a:pt x="1031244" y="1466842"/>
                  </a:lnTo>
                  <a:lnTo>
                    <a:pt x="1073067" y="1449127"/>
                  </a:lnTo>
                  <a:lnTo>
                    <a:pt x="1113564" y="1429019"/>
                  </a:lnTo>
                  <a:lnTo>
                    <a:pt x="1152647" y="1406607"/>
                  </a:lnTo>
                  <a:lnTo>
                    <a:pt x="1190228" y="1381978"/>
                  </a:lnTo>
                  <a:lnTo>
                    <a:pt x="1226216" y="1355223"/>
                  </a:lnTo>
                  <a:lnTo>
                    <a:pt x="1260525" y="1326429"/>
                  </a:lnTo>
                  <a:lnTo>
                    <a:pt x="1293066" y="1295685"/>
                  </a:lnTo>
                  <a:lnTo>
                    <a:pt x="1323749" y="1263081"/>
                  </a:lnTo>
                  <a:lnTo>
                    <a:pt x="1352487" y="1228704"/>
                  </a:lnTo>
                  <a:lnTo>
                    <a:pt x="1379190" y="1192643"/>
                  </a:lnTo>
                  <a:lnTo>
                    <a:pt x="1403771" y="1154987"/>
                  </a:lnTo>
                  <a:lnTo>
                    <a:pt x="1426140" y="1115826"/>
                  </a:lnTo>
                  <a:lnTo>
                    <a:pt x="1446210" y="1075246"/>
                  </a:lnTo>
                  <a:lnTo>
                    <a:pt x="1463890" y="1033338"/>
                  </a:lnTo>
                  <a:lnTo>
                    <a:pt x="1479094" y="990190"/>
                  </a:lnTo>
                  <a:lnTo>
                    <a:pt x="1491732" y="945890"/>
                  </a:lnTo>
                  <a:lnTo>
                    <a:pt x="1501716" y="900528"/>
                  </a:lnTo>
                  <a:lnTo>
                    <a:pt x="1508957" y="854191"/>
                  </a:lnTo>
                  <a:lnTo>
                    <a:pt x="1513366" y="806970"/>
                  </a:lnTo>
                  <a:lnTo>
                    <a:pt x="1514855" y="758952"/>
                  </a:lnTo>
                  <a:lnTo>
                    <a:pt x="1513366" y="710933"/>
                  </a:lnTo>
                  <a:lnTo>
                    <a:pt x="1508957" y="663712"/>
                  </a:lnTo>
                  <a:lnTo>
                    <a:pt x="1501716" y="617375"/>
                  </a:lnTo>
                  <a:lnTo>
                    <a:pt x="1491732" y="572013"/>
                  </a:lnTo>
                  <a:lnTo>
                    <a:pt x="1479094" y="527713"/>
                  </a:lnTo>
                  <a:lnTo>
                    <a:pt x="1463890" y="484565"/>
                  </a:lnTo>
                  <a:lnTo>
                    <a:pt x="1446210" y="442657"/>
                  </a:lnTo>
                  <a:lnTo>
                    <a:pt x="1426140" y="402077"/>
                  </a:lnTo>
                  <a:lnTo>
                    <a:pt x="1403771" y="362916"/>
                  </a:lnTo>
                  <a:lnTo>
                    <a:pt x="1379190" y="325260"/>
                  </a:lnTo>
                  <a:lnTo>
                    <a:pt x="1352487" y="289199"/>
                  </a:lnTo>
                  <a:lnTo>
                    <a:pt x="1323749" y="254822"/>
                  </a:lnTo>
                  <a:lnTo>
                    <a:pt x="1293066" y="222218"/>
                  </a:lnTo>
                  <a:lnTo>
                    <a:pt x="1260525" y="191474"/>
                  </a:lnTo>
                  <a:lnTo>
                    <a:pt x="1226216" y="162680"/>
                  </a:lnTo>
                  <a:lnTo>
                    <a:pt x="1190228" y="135925"/>
                  </a:lnTo>
                  <a:lnTo>
                    <a:pt x="1152647" y="111296"/>
                  </a:lnTo>
                  <a:lnTo>
                    <a:pt x="1113564" y="88884"/>
                  </a:lnTo>
                  <a:lnTo>
                    <a:pt x="1073067" y="68776"/>
                  </a:lnTo>
                  <a:lnTo>
                    <a:pt x="1031244" y="51061"/>
                  </a:lnTo>
                  <a:lnTo>
                    <a:pt x="988184" y="35829"/>
                  </a:lnTo>
                  <a:lnTo>
                    <a:pt x="974385" y="31877"/>
                  </a:lnTo>
                  <a:close/>
                </a:path>
              </a:pathLst>
            </a:custGeom>
            <a:solidFill>
              <a:srgbClr val="6D6E73"/>
            </a:solidFill>
          </p:spPr>
          <p:txBody>
            <a:bodyPr wrap="square" lIns="0" tIns="0" rIns="0" bIns="0" rtlCol="0"/>
            <a:lstStyle/>
            <a:p>
              <a:endParaRPr/>
            </a:p>
          </p:txBody>
        </p:sp>
        <p:pic>
          <p:nvPicPr>
            <p:cNvPr id="32" name="object 32"/>
            <p:cNvPicPr/>
            <p:nvPr/>
          </p:nvPicPr>
          <p:blipFill>
            <a:blip r:embed="rId11" cstate="print"/>
            <a:stretch>
              <a:fillRect/>
            </a:stretch>
          </p:blipFill>
          <p:spPr>
            <a:xfrm>
              <a:off x="4931663" y="4381500"/>
              <a:ext cx="475488" cy="473963"/>
            </a:xfrm>
            <a:prstGeom prst="rect">
              <a:avLst/>
            </a:prstGeom>
          </p:spPr>
        </p:pic>
        <p:sp>
          <p:nvSpPr>
            <p:cNvPr id="33" name="object 33"/>
            <p:cNvSpPr/>
            <p:nvPr/>
          </p:nvSpPr>
          <p:spPr>
            <a:xfrm>
              <a:off x="4151375" y="4462272"/>
              <a:ext cx="1172210" cy="1169035"/>
            </a:xfrm>
            <a:custGeom>
              <a:avLst/>
              <a:gdLst/>
              <a:ahLst/>
              <a:cxnLst/>
              <a:rect l="l" t="t" r="r" b="b"/>
              <a:pathLst>
                <a:path w="1172210" h="1169035">
                  <a:moveTo>
                    <a:pt x="592963" y="0"/>
                  </a:moveTo>
                  <a:lnTo>
                    <a:pt x="544307" y="1977"/>
                  </a:lnTo>
                  <a:lnTo>
                    <a:pt x="496738" y="7805"/>
                  </a:lnTo>
                  <a:lnTo>
                    <a:pt x="450410" y="17330"/>
                  </a:lnTo>
                  <a:lnTo>
                    <a:pt x="405473" y="30395"/>
                  </a:lnTo>
                  <a:lnTo>
                    <a:pt x="362080" y="46847"/>
                  </a:lnTo>
                  <a:lnTo>
                    <a:pt x="320384" y="66529"/>
                  </a:lnTo>
                  <a:lnTo>
                    <a:pt x="280537" y="89287"/>
                  </a:lnTo>
                  <a:lnTo>
                    <a:pt x="242690" y="114966"/>
                  </a:lnTo>
                  <a:lnTo>
                    <a:pt x="206997" y="143411"/>
                  </a:lnTo>
                  <a:lnTo>
                    <a:pt x="173608" y="174466"/>
                  </a:lnTo>
                  <a:lnTo>
                    <a:pt x="142678" y="207976"/>
                  </a:lnTo>
                  <a:lnTo>
                    <a:pt x="114356" y="243788"/>
                  </a:lnTo>
                  <a:lnTo>
                    <a:pt x="88797" y="281744"/>
                  </a:lnTo>
                  <a:lnTo>
                    <a:pt x="66152" y="321691"/>
                  </a:lnTo>
                  <a:lnTo>
                    <a:pt x="46573" y="363474"/>
                  </a:lnTo>
                  <a:lnTo>
                    <a:pt x="30212" y="406936"/>
                  </a:lnTo>
                  <a:lnTo>
                    <a:pt x="17223" y="451924"/>
                  </a:lnTo>
                  <a:lnTo>
                    <a:pt x="7756" y="498281"/>
                  </a:lnTo>
                  <a:lnTo>
                    <a:pt x="1964" y="545854"/>
                  </a:lnTo>
                  <a:lnTo>
                    <a:pt x="0" y="594486"/>
                  </a:lnTo>
                  <a:lnTo>
                    <a:pt x="2056" y="644151"/>
                  </a:lnTo>
                  <a:lnTo>
                    <a:pt x="8114" y="692631"/>
                  </a:lnTo>
                  <a:lnTo>
                    <a:pt x="18010" y="739774"/>
                  </a:lnTo>
                  <a:lnTo>
                    <a:pt x="31578" y="785432"/>
                  </a:lnTo>
                  <a:lnTo>
                    <a:pt x="48652" y="829452"/>
                  </a:lnTo>
                  <a:lnTo>
                    <a:pt x="69069" y="871685"/>
                  </a:lnTo>
                  <a:lnTo>
                    <a:pt x="92662" y="911980"/>
                  </a:lnTo>
                  <a:lnTo>
                    <a:pt x="119266" y="950187"/>
                  </a:lnTo>
                  <a:lnTo>
                    <a:pt x="148716" y="986154"/>
                  </a:lnTo>
                  <a:lnTo>
                    <a:pt x="182588" y="1018584"/>
                  </a:lnTo>
                  <a:lnTo>
                    <a:pt x="218930" y="1048320"/>
                  </a:lnTo>
                  <a:lnTo>
                    <a:pt x="257563" y="1075195"/>
                  </a:lnTo>
                  <a:lnTo>
                    <a:pt x="298306" y="1099038"/>
                  </a:lnTo>
                  <a:lnTo>
                    <a:pt x="340979" y="1119679"/>
                  </a:lnTo>
                  <a:lnTo>
                    <a:pt x="385400" y="1136948"/>
                  </a:lnTo>
                  <a:lnTo>
                    <a:pt x="431389" y="1150676"/>
                  </a:lnTo>
                  <a:lnTo>
                    <a:pt x="478766" y="1160691"/>
                  </a:lnTo>
                  <a:lnTo>
                    <a:pt x="527350" y="1166825"/>
                  </a:lnTo>
                  <a:lnTo>
                    <a:pt x="576961" y="1168908"/>
                  </a:lnTo>
                  <a:lnTo>
                    <a:pt x="625631" y="1166944"/>
                  </a:lnTo>
                  <a:lnTo>
                    <a:pt x="673242" y="1161155"/>
                  </a:lnTo>
                  <a:lnTo>
                    <a:pt x="719637" y="1151693"/>
                  </a:lnTo>
                  <a:lnTo>
                    <a:pt x="764661" y="1138711"/>
                  </a:lnTo>
                  <a:lnTo>
                    <a:pt x="808160" y="1122360"/>
                  </a:lnTo>
                  <a:lnTo>
                    <a:pt x="849977" y="1102793"/>
                  </a:lnTo>
                  <a:lnTo>
                    <a:pt x="889959" y="1080162"/>
                  </a:lnTo>
                  <a:lnTo>
                    <a:pt x="927948" y="1054620"/>
                  </a:lnTo>
                  <a:lnTo>
                    <a:pt x="963790" y="1026318"/>
                  </a:lnTo>
                  <a:lnTo>
                    <a:pt x="997331" y="995410"/>
                  </a:lnTo>
                  <a:lnTo>
                    <a:pt x="1028413" y="962047"/>
                  </a:lnTo>
                  <a:lnTo>
                    <a:pt x="1056883" y="926381"/>
                  </a:lnTo>
                  <a:lnTo>
                    <a:pt x="1082585" y="888566"/>
                  </a:lnTo>
                  <a:lnTo>
                    <a:pt x="1105364" y="848753"/>
                  </a:lnTo>
                  <a:lnTo>
                    <a:pt x="1125065" y="807094"/>
                  </a:lnTo>
                  <a:lnTo>
                    <a:pt x="1141531" y="763743"/>
                  </a:lnTo>
                  <a:lnTo>
                    <a:pt x="1154609" y="718851"/>
                  </a:lnTo>
                  <a:lnTo>
                    <a:pt x="1164142" y="672570"/>
                  </a:lnTo>
                  <a:lnTo>
                    <a:pt x="1169976" y="625053"/>
                  </a:lnTo>
                  <a:lnTo>
                    <a:pt x="1171956" y="576452"/>
                  </a:lnTo>
                  <a:lnTo>
                    <a:pt x="1169899" y="526788"/>
                  </a:lnTo>
                  <a:lnTo>
                    <a:pt x="1163841" y="478308"/>
                  </a:lnTo>
                  <a:lnTo>
                    <a:pt x="1153945" y="431164"/>
                  </a:lnTo>
                  <a:lnTo>
                    <a:pt x="1140377" y="385507"/>
                  </a:lnTo>
                  <a:lnTo>
                    <a:pt x="1123303" y="341487"/>
                  </a:lnTo>
                  <a:lnTo>
                    <a:pt x="1102886" y="299254"/>
                  </a:lnTo>
                  <a:lnTo>
                    <a:pt x="1079293" y="258959"/>
                  </a:lnTo>
                  <a:lnTo>
                    <a:pt x="1052689" y="220752"/>
                  </a:lnTo>
                  <a:lnTo>
                    <a:pt x="1023238" y="184784"/>
                  </a:lnTo>
                  <a:lnTo>
                    <a:pt x="989365" y="151805"/>
                  </a:lnTo>
                  <a:lnTo>
                    <a:pt x="953009" y="121627"/>
                  </a:lnTo>
                  <a:lnTo>
                    <a:pt x="914337" y="94409"/>
                  </a:lnTo>
                  <a:lnTo>
                    <a:pt x="873519" y="70308"/>
                  </a:lnTo>
                  <a:lnTo>
                    <a:pt x="830722" y="49482"/>
                  </a:lnTo>
                  <a:lnTo>
                    <a:pt x="786116" y="32089"/>
                  </a:lnTo>
                  <a:lnTo>
                    <a:pt x="739869" y="18286"/>
                  </a:lnTo>
                  <a:lnTo>
                    <a:pt x="692148" y="8232"/>
                  </a:lnTo>
                  <a:lnTo>
                    <a:pt x="643124" y="2084"/>
                  </a:lnTo>
                  <a:lnTo>
                    <a:pt x="592963" y="0"/>
                  </a:lnTo>
                  <a:close/>
                </a:path>
              </a:pathLst>
            </a:custGeom>
            <a:solidFill>
              <a:srgbClr val="29B974"/>
            </a:solidFill>
          </p:spPr>
          <p:txBody>
            <a:bodyPr wrap="square" lIns="0" tIns="0" rIns="0" bIns="0" rtlCol="0"/>
            <a:lstStyle/>
            <a:p>
              <a:endParaRPr/>
            </a:p>
          </p:txBody>
        </p:sp>
        <p:pic>
          <p:nvPicPr>
            <p:cNvPr id="34" name="object 34"/>
            <p:cNvPicPr/>
            <p:nvPr/>
          </p:nvPicPr>
          <p:blipFill>
            <a:blip r:embed="rId12" cstate="print"/>
            <a:stretch>
              <a:fillRect/>
            </a:stretch>
          </p:blipFill>
          <p:spPr>
            <a:xfrm>
              <a:off x="4253483" y="4561319"/>
              <a:ext cx="1005865" cy="1008900"/>
            </a:xfrm>
            <a:prstGeom prst="rect">
              <a:avLst/>
            </a:prstGeom>
          </p:spPr>
        </p:pic>
        <p:sp>
          <p:nvSpPr>
            <p:cNvPr id="35" name="object 35"/>
            <p:cNvSpPr/>
            <p:nvPr/>
          </p:nvSpPr>
          <p:spPr>
            <a:xfrm>
              <a:off x="4279391" y="4587239"/>
              <a:ext cx="904240" cy="906780"/>
            </a:xfrm>
            <a:custGeom>
              <a:avLst/>
              <a:gdLst/>
              <a:ahLst/>
              <a:cxnLst/>
              <a:rect l="l" t="t" r="r" b="b"/>
              <a:pathLst>
                <a:path w="904239" h="906779">
                  <a:moveTo>
                    <a:pt x="451866" y="0"/>
                  </a:moveTo>
                  <a:lnTo>
                    <a:pt x="402630" y="2659"/>
                  </a:lnTo>
                  <a:lnTo>
                    <a:pt x="354931" y="10455"/>
                  </a:lnTo>
                  <a:lnTo>
                    <a:pt x="309042" y="23109"/>
                  </a:lnTo>
                  <a:lnTo>
                    <a:pt x="265241" y="40347"/>
                  </a:lnTo>
                  <a:lnTo>
                    <a:pt x="223802" y="61891"/>
                  </a:lnTo>
                  <a:lnTo>
                    <a:pt x="185001" y="87465"/>
                  </a:lnTo>
                  <a:lnTo>
                    <a:pt x="149114" y="116793"/>
                  </a:lnTo>
                  <a:lnTo>
                    <a:pt x="116417" y="149598"/>
                  </a:lnTo>
                  <a:lnTo>
                    <a:pt x="87184" y="185604"/>
                  </a:lnTo>
                  <a:lnTo>
                    <a:pt x="61693" y="224536"/>
                  </a:lnTo>
                  <a:lnTo>
                    <a:pt x="40219" y="266115"/>
                  </a:lnTo>
                  <a:lnTo>
                    <a:pt x="23036" y="310066"/>
                  </a:lnTo>
                  <a:lnTo>
                    <a:pt x="10422" y="356114"/>
                  </a:lnTo>
                  <a:lnTo>
                    <a:pt x="2651" y="403980"/>
                  </a:lnTo>
                  <a:lnTo>
                    <a:pt x="0" y="453390"/>
                  </a:lnTo>
                  <a:lnTo>
                    <a:pt x="2651" y="502799"/>
                  </a:lnTo>
                  <a:lnTo>
                    <a:pt x="10422" y="550665"/>
                  </a:lnTo>
                  <a:lnTo>
                    <a:pt x="23036" y="596713"/>
                  </a:lnTo>
                  <a:lnTo>
                    <a:pt x="40219" y="640664"/>
                  </a:lnTo>
                  <a:lnTo>
                    <a:pt x="61693" y="682244"/>
                  </a:lnTo>
                  <a:lnTo>
                    <a:pt x="87184" y="721175"/>
                  </a:lnTo>
                  <a:lnTo>
                    <a:pt x="116417" y="757181"/>
                  </a:lnTo>
                  <a:lnTo>
                    <a:pt x="149114" y="789986"/>
                  </a:lnTo>
                  <a:lnTo>
                    <a:pt x="185001" y="819314"/>
                  </a:lnTo>
                  <a:lnTo>
                    <a:pt x="223802" y="844888"/>
                  </a:lnTo>
                  <a:lnTo>
                    <a:pt x="265241" y="866432"/>
                  </a:lnTo>
                  <a:lnTo>
                    <a:pt x="309042" y="883670"/>
                  </a:lnTo>
                  <a:lnTo>
                    <a:pt x="354931" y="896324"/>
                  </a:lnTo>
                  <a:lnTo>
                    <a:pt x="402630" y="904120"/>
                  </a:lnTo>
                  <a:lnTo>
                    <a:pt x="451866" y="906780"/>
                  </a:lnTo>
                  <a:lnTo>
                    <a:pt x="501101" y="904120"/>
                  </a:lnTo>
                  <a:lnTo>
                    <a:pt x="548800" y="896324"/>
                  </a:lnTo>
                  <a:lnTo>
                    <a:pt x="594689" y="883670"/>
                  </a:lnTo>
                  <a:lnTo>
                    <a:pt x="638490" y="866432"/>
                  </a:lnTo>
                  <a:lnTo>
                    <a:pt x="679929" y="844888"/>
                  </a:lnTo>
                  <a:lnTo>
                    <a:pt x="718730" y="819314"/>
                  </a:lnTo>
                  <a:lnTo>
                    <a:pt x="754617" y="789986"/>
                  </a:lnTo>
                  <a:lnTo>
                    <a:pt x="787314" y="757181"/>
                  </a:lnTo>
                  <a:lnTo>
                    <a:pt x="816547" y="721175"/>
                  </a:lnTo>
                  <a:lnTo>
                    <a:pt x="842038" y="682243"/>
                  </a:lnTo>
                  <a:lnTo>
                    <a:pt x="863512" y="640664"/>
                  </a:lnTo>
                  <a:lnTo>
                    <a:pt x="880695" y="596713"/>
                  </a:lnTo>
                  <a:lnTo>
                    <a:pt x="893309" y="550665"/>
                  </a:lnTo>
                  <a:lnTo>
                    <a:pt x="901080" y="502799"/>
                  </a:lnTo>
                  <a:lnTo>
                    <a:pt x="903732" y="453390"/>
                  </a:lnTo>
                  <a:lnTo>
                    <a:pt x="901080" y="403980"/>
                  </a:lnTo>
                  <a:lnTo>
                    <a:pt x="893309" y="356114"/>
                  </a:lnTo>
                  <a:lnTo>
                    <a:pt x="880695" y="310066"/>
                  </a:lnTo>
                  <a:lnTo>
                    <a:pt x="863512" y="266115"/>
                  </a:lnTo>
                  <a:lnTo>
                    <a:pt x="842038" y="224536"/>
                  </a:lnTo>
                  <a:lnTo>
                    <a:pt x="816547" y="185604"/>
                  </a:lnTo>
                  <a:lnTo>
                    <a:pt x="787314" y="149598"/>
                  </a:lnTo>
                  <a:lnTo>
                    <a:pt x="754617" y="116793"/>
                  </a:lnTo>
                  <a:lnTo>
                    <a:pt x="718730" y="87465"/>
                  </a:lnTo>
                  <a:lnTo>
                    <a:pt x="679929" y="61891"/>
                  </a:lnTo>
                  <a:lnTo>
                    <a:pt x="638490" y="40347"/>
                  </a:lnTo>
                  <a:lnTo>
                    <a:pt x="594689" y="23109"/>
                  </a:lnTo>
                  <a:lnTo>
                    <a:pt x="548800" y="10455"/>
                  </a:lnTo>
                  <a:lnTo>
                    <a:pt x="501101" y="2659"/>
                  </a:lnTo>
                  <a:lnTo>
                    <a:pt x="451866" y="0"/>
                  </a:lnTo>
                  <a:close/>
                </a:path>
              </a:pathLst>
            </a:custGeom>
            <a:solidFill>
              <a:srgbClr val="FFFFFF"/>
            </a:solidFill>
          </p:spPr>
          <p:txBody>
            <a:bodyPr wrap="square" lIns="0" tIns="0" rIns="0" bIns="0" rtlCol="0"/>
            <a:lstStyle/>
            <a:p>
              <a:endParaRPr/>
            </a:p>
          </p:txBody>
        </p:sp>
        <p:pic>
          <p:nvPicPr>
            <p:cNvPr id="36" name="object 36"/>
            <p:cNvPicPr/>
            <p:nvPr/>
          </p:nvPicPr>
          <p:blipFill>
            <a:blip r:embed="rId13" cstate="print"/>
            <a:stretch>
              <a:fillRect/>
            </a:stretch>
          </p:blipFill>
          <p:spPr>
            <a:xfrm>
              <a:off x="6554723" y="3697223"/>
              <a:ext cx="618744" cy="50292"/>
            </a:xfrm>
            <a:prstGeom prst="rect">
              <a:avLst/>
            </a:prstGeom>
          </p:spPr>
        </p:pic>
        <p:sp>
          <p:nvSpPr>
            <p:cNvPr id="37" name="object 37"/>
            <p:cNvSpPr/>
            <p:nvPr/>
          </p:nvSpPr>
          <p:spPr>
            <a:xfrm>
              <a:off x="6886955" y="3110483"/>
              <a:ext cx="1170940" cy="1169035"/>
            </a:xfrm>
            <a:custGeom>
              <a:avLst/>
              <a:gdLst/>
              <a:ahLst/>
              <a:cxnLst/>
              <a:rect l="l" t="t" r="r" b="b"/>
              <a:pathLst>
                <a:path w="1170940" h="1169035">
                  <a:moveTo>
                    <a:pt x="594233" y="0"/>
                  </a:moveTo>
                  <a:lnTo>
                    <a:pt x="545619" y="1963"/>
                  </a:lnTo>
                  <a:lnTo>
                    <a:pt x="498065" y="7752"/>
                  </a:lnTo>
                  <a:lnTo>
                    <a:pt x="451726" y="17214"/>
                  </a:lnTo>
                  <a:lnTo>
                    <a:pt x="406757" y="30196"/>
                  </a:lnTo>
                  <a:lnTo>
                    <a:pt x="363313" y="46547"/>
                  </a:lnTo>
                  <a:lnTo>
                    <a:pt x="321548" y="66114"/>
                  </a:lnTo>
                  <a:lnTo>
                    <a:pt x="281618" y="88745"/>
                  </a:lnTo>
                  <a:lnTo>
                    <a:pt x="243678" y="114287"/>
                  </a:lnTo>
                  <a:lnTo>
                    <a:pt x="207882" y="142589"/>
                  </a:lnTo>
                  <a:lnTo>
                    <a:pt x="174386" y="173497"/>
                  </a:lnTo>
                  <a:lnTo>
                    <a:pt x="143345" y="206860"/>
                  </a:lnTo>
                  <a:lnTo>
                    <a:pt x="114913" y="242526"/>
                  </a:lnTo>
                  <a:lnTo>
                    <a:pt x="89246" y="280341"/>
                  </a:lnTo>
                  <a:lnTo>
                    <a:pt x="66498" y="320154"/>
                  </a:lnTo>
                  <a:lnTo>
                    <a:pt x="46825" y="361813"/>
                  </a:lnTo>
                  <a:lnTo>
                    <a:pt x="30381" y="405164"/>
                  </a:lnTo>
                  <a:lnTo>
                    <a:pt x="17322" y="450056"/>
                  </a:lnTo>
                  <a:lnTo>
                    <a:pt x="7801" y="496337"/>
                  </a:lnTo>
                  <a:lnTo>
                    <a:pt x="1976" y="543854"/>
                  </a:lnTo>
                  <a:lnTo>
                    <a:pt x="0" y="592454"/>
                  </a:lnTo>
                  <a:lnTo>
                    <a:pt x="2058" y="642189"/>
                  </a:lnTo>
                  <a:lnTo>
                    <a:pt x="8135" y="690855"/>
                  </a:lnTo>
                  <a:lnTo>
                    <a:pt x="18081" y="738269"/>
                  </a:lnTo>
                  <a:lnTo>
                    <a:pt x="31745" y="784247"/>
                  </a:lnTo>
                  <a:lnTo>
                    <a:pt x="48979" y="828605"/>
                  </a:lnTo>
                  <a:lnTo>
                    <a:pt x="69633" y="871158"/>
                  </a:lnTo>
                  <a:lnTo>
                    <a:pt x="93558" y="911724"/>
                  </a:lnTo>
                  <a:lnTo>
                    <a:pt x="120604" y="950117"/>
                  </a:lnTo>
                  <a:lnTo>
                    <a:pt x="150622" y="986154"/>
                  </a:lnTo>
                  <a:lnTo>
                    <a:pt x="183871" y="1018584"/>
                  </a:lnTo>
                  <a:lnTo>
                    <a:pt x="219721" y="1048320"/>
                  </a:lnTo>
                  <a:lnTo>
                    <a:pt x="257987" y="1075195"/>
                  </a:lnTo>
                  <a:lnTo>
                    <a:pt x="298488" y="1099038"/>
                  </a:lnTo>
                  <a:lnTo>
                    <a:pt x="341042" y="1119679"/>
                  </a:lnTo>
                  <a:lnTo>
                    <a:pt x="385467" y="1136948"/>
                  </a:lnTo>
                  <a:lnTo>
                    <a:pt x="431580" y="1150676"/>
                  </a:lnTo>
                  <a:lnTo>
                    <a:pt x="479200" y="1160691"/>
                  </a:lnTo>
                  <a:lnTo>
                    <a:pt x="528144" y="1166825"/>
                  </a:lnTo>
                  <a:lnTo>
                    <a:pt x="578230" y="1168908"/>
                  </a:lnTo>
                  <a:lnTo>
                    <a:pt x="626812" y="1166944"/>
                  </a:lnTo>
                  <a:lnTo>
                    <a:pt x="674310" y="1161155"/>
                  </a:lnTo>
                  <a:lnTo>
                    <a:pt x="720572" y="1151693"/>
                  </a:lnTo>
                  <a:lnTo>
                    <a:pt x="765446" y="1138711"/>
                  </a:lnTo>
                  <a:lnTo>
                    <a:pt x="808779" y="1122360"/>
                  </a:lnTo>
                  <a:lnTo>
                    <a:pt x="850420" y="1102793"/>
                  </a:lnTo>
                  <a:lnTo>
                    <a:pt x="890216" y="1080162"/>
                  </a:lnTo>
                  <a:lnTo>
                    <a:pt x="928015" y="1054620"/>
                  </a:lnTo>
                  <a:lnTo>
                    <a:pt x="963665" y="1026318"/>
                  </a:lnTo>
                  <a:lnTo>
                    <a:pt x="997013" y="995410"/>
                  </a:lnTo>
                  <a:lnTo>
                    <a:pt x="1027908" y="962047"/>
                  </a:lnTo>
                  <a:lnTo>
                    <a:pt x="1056197" y="926381"/>
                  </a:lnTo>
                  <a:lnTo>
                    <a:pt x="1081727" y="888566"/>
                  </a:lnTo>
                  <a:lnTo>
                    <a:pt x="1104348" y="848753"/>
                  </a:lnTo>
                  <a:lnTo>
                    <a:pt x="1123906" y="807094"/>
                  </a:lnTo>
                  <a:lnTo>
                    <a:pt x="1140249" y="763743"/>
                  </a:lnTo>
                  <a:lnTo>
                    <a:pt x="1153226" y="718851"/>
                  </a:lnTo>
                  <a:lnTo>
                    <a:pt x="1162683" y="672570"/>
                  </a:lnTo>
                  <a:lnTo>
                    <a:pt x="1168469" y="625053"/>
                  </a:lnTo>
                  <a:lnTo>
                    <a:pt x="1170432" y="576452"/>
                  </a:lnTo>
                  <a:lnTo>
                    <a:pt x="1168375" y="526718"/>
                  </a:lnTo>
                  <a:lnTo>
                    <a:pt x="1162318" y="478052"/>
                  </a:lnTo>
                  <a:lnTo>
                    <a:pt x="1152426" y="430638"/>
                  </a:lnTo>
                  <a:lnTo>
                    <a:pt x="1138864" y="384660"/>
                  </a:lnTo>
                  <a:lnTo>
                    <a:pt x="1121800" y="340302"/>
                  </a:lnTo>
                  <a:lnTo>
                    <a:pt x="1101400" y="297749"/>
                  </a:lnTo>
                  <a:lnTo>
                    <a:pt x="1077829" y="257183"/>
                  </a:lnTo>
                  <a:lnTo>
                    <a:pt x="1051254" y="218790"/>
                  </a:lnTo>
                  <a:lnTo>
                    <a:pt x="1021842" y="182752"/>
                  </a:lnTo>
                  <a:lnTo>
                    <a:pt x="988098" y="150323"/>
                  </a:lnTo>
                  <a:lnTo>
                    <a:pt x="951962" y="120587"/>
                  </a:lnTo>
                  <a:lnTo>
                    <a:pt x="913580" y="93712"/>
                  </a:lnTo>
                  <a:lnTo>
                    <a:pt x="873097" y="69869"/>
                  </a:lnTo>
                  <a:lnTo>
                    <a:pt x="830659" y="49228"/>
                  </a:lnTo>
                  <a:lnTo>
                    <a:pt x="786411" y="31959"/>
                  </a:lnTo>
                  <a:lnTo>
                    <a:pt x="740499" y="18231"/>
                  </a:lnTo>
                  <a:lnTo>
                    <a:pt x="693068" y="8216"/>
                  </a:lnTo>
                  <a:lnTo>
                    <a:pt x="644264" y="2082"/>
                  </a:lnTo>
                  <a:lnTo>
                    <a:pt x="594233" y="0"/>
                  </a:lnTo>
                  <a:close/>
                </a:path>
              </a:pathLst>
            </a:custGeom>
            <a:solidFill>
              <a:srgbClr val="29B974"/>
            </a:solidFill>
          </p:spPr>
          <p:txBody>
            <a:bodyPr wrap="square" lIns="0" tIns="0" rIns="0" bIns="0" rtlCol="0"/>
            <a:lstStyle/>
            <a:p>
              <a:endParaRPr/>
            </a:p>
          </p:txBody>
        </p:sp>
        <p:pic>
          <p:nvPicPr>
            <p:cNvPr id="38" name="object 38"/>
            <p:cNvPicPr/>
            <p:nvPr/>
          </p:nvPicPr>
          <p:blipFill>
            <a:blip r:embed="rId14" cstate="print"/>
            <a:stretch>
              <a:fillRect/>
            </a:stretch>
          </p:blipFill>
          <p:spPr>
            <a:xfrm>
              <a:off x="6989064" y="3209518"/>
              <a:ext cx="1005865" cy="1005865"/>
            </a:xfrm>
            <a:prstGeom prst="rect">
              <a:avLst/>
            </a:prstGeom>
          </p:spPr>
        </p:pic>
        <p:sp>
          <p:nvSpPr>
            <p:cNvPr id="39" name="object 39"/>
            <p:cNvSpPr/>
            <p:nvPr/>
          </p:nvSpPr>
          <p:spPr>
            <a:xfrm>
              <a:off x="7014971" y="3235451"/>
              <a:ext cx="904240" cy="904240"/>
            </a:xfrm>
            <a:custGeom>
              <a:avLst/>
              <a:gdLst/>
              <a:ahLst/>
              <a:cxnLst/>
              <a:rect l="l" t="t" r="r" b="b"/>
              <a:pathLst>
                <a:path w="904240" h="904239">
                  <a:moveTo>
                    <a:pt x="451866" y="0"/>
                  </a:moveTo>
                  <a:lnTo>
                    <a:pt x="402630" y="2651"/>
                  </a:lnTo>
                  <a:lnTo>
                    <a:pt x="354931" y="10422"/>
                  </a:lnTo>
                  <a:lnTo>
                    <a:pt x="309042" y="23036"/>
                  </a:lnTo>
                  <a:lnTo>
                    <a:pt x="265241" y="40219"/>
                  </a:lnTo>
                  <a:lnTo>
                    <a:pt x="223802" y="61693"/>
                  </a:lnTo>
                  <a:lnTo>
                    <a:pt x="185001" y="87184"/>
                  </a:lnTo>
                  <a:lnTo>
                    <a:pt x="149114" y="116417"/>
                  </a:lnTo>
                  <a:lnTo>
                    <a:pt x="116417" y="149114"/>
                  </a:lnTo>
                  <a:lnTo>
                    <a:pt x="87184" y="185001"/>
                  </a:lnTo>
                  <a:lnTo>
                    <a:pt x="61693" y="223802"/>
                  </a:lnTo>
                  <a:lnTo>
                    <a:pt x="40219" y="265241"/>
                  </a:lnTo>
                  <a:lnTo>
                    <a:pt x="23036" y="309042"/>
                  </a:lnTo>
                  <a:lnTo>
                    <a:pt x="10422" y="354931"/>
                  </a:lnTo>
                  <a:lnTo>
                    <a:pt x="2651" y="402630"/>
                  </a:lnTo>
                  <a:lnTo>
                    <a:pt x="0" y="451866"/>
                  </a:lnTo>
                  <a:lnTo>
                    <a:pt x="2651" y="501101"/>
                  </a:lnTo>
                  <a:lnTo>
                    <a:pt x="10422" y="548800"/>
                  </a:lnTo>
                  <a:lnTo>
                    <a:pt x="23036" y="594689"/>
                  </a:lnTo>
                  <a:lnTo>
                    <a:pt x="40219" y="638490"/>
                  </a:lnTo>
                  <a:lnTo>
                    <a:pt x="61693" y="679929"/>
                  </a:lnTo>
                  <a:lnTo>
                    <a:pt x="87184" y="718730"/>
                  </a:lnTo>
                  <a:lnTo>
                    <a:pt x="116417" y="754617"/>
                  </a:lnTo>
                  <a:lnTo>
                    <a:pt x="149114" y="787314"/>
                  </a:lnTo>
                  <a:lnTo>
                    <a:pt x="185001" y="816547"/>
                  </a:lnTo>
                  <a:lnTo>
                    <a:pt x="223802" y="842038"/>
                  </a:lnTo>
                  <a:lnTo>
                    <a:pt x="265241" y="863512"/>
                  </a:lnTo>
                  <a:lnTo>
                    <a:pt x="309042" y="880695"/>
                  </a:lnTo>
                  <a:lnTo>
                    <a:pt x="354931" y="893309"/>
                  </a:lnTo>
                  <a:lnTo>
                    <a:pt x="402630" y="901080"/>
                  </a:lnTo>
                  <a:lnTo>
                    <a:pt x="451866" y="903732"/>
                  </a:lnTo>
                  <a:lnTo>
                    <a:pt x="501101" y="901080"/>
                  </a:lnTo>
                  <a:lnTo>
                    <a:pt x="548800" y="893309"/>
                  </a:lnTo>
                  <a:lnTo>
                    <a:pt x="594689" y="880695"/>
                  </a:lnTo>
                  <a:lnTo>
                    <a:pt x="638490" y="863512"/>
                  </a:lnTo>
                  <a:lnTo>
                    <a:pt x="679929" y="842038"/>
                  </a:lnTo>
                  <a:lnTo>
                    <a:pt x="718730" y="816547"/>
                  </a:lnTo>
                  <a:lnTo>
                    <a:pt x="754617" y="787314"/>
                  </a:lnTo>
                  <a:lnTo>
                    <a:pt x="787314" y="754617"/>
                  </a:lnTo>
                  <a:lnTo>
                    <a:pt x="816547" y="718730"/>
                  </a:lnTo>
                  <a:lnTo>
                    <a:pt x="842038" y="679929"/>
                  </a:lnTo>
                  <a:lnTo>
                    <a:pt x="863512" y="638490"/>
                  </a:lnTo>
                  <a:lnTo>
                    <a:pt x="880695" y="594689"/>
                  </a:lnTo>
                  <a:lnTo>
                    <a:pt x="893309" y="548800"/>
                  </a:lnTo>
                  <a:lnTo>
                    <a:pt x="901080" y="501101"/>
                  </a:lnTo>
                  <a:lnTo>
                    <a:pt x="903731" y="451866"/>
                  </a:lnTo>
                  <a:lnTo>
                    <a:pt x="901080" y="402630"/>
                  </a:lnTo>
                  <a:lnTo>
                    <a:pt x="893309" y="354931"/>
                  </a:lnTo>
                  <a:lnTo>
                    <a:pt x="880695" y="309042"/>
                  </a:lnTo>
                  <a:lnTo>
                    <a:pt x="863512" y="265241"/>
                  </a:lnTo>
                  <a:lnTo>
                    <a:pt x="842038" y="223802"/>
                  </a:lnTo>
                  <a:lnTo>
                    <a:pt x="816547" y="185001"/>
                  </a:lnTo>
                  <a:lnTo>
                    <a:pt x="787314" y="149114"/>
                  </a:lnTo>
                  <a:lnTo>
                    <a:pt x="754617" y="116417"/>
                  </a:lnTo>
                  <a:lnTo>
                    <a:pt x="718730" y="87184"/>
                  </a:lnTo>
                  <a:lnTo>
                    <a:pt x="679929" y="61693"/>
                  </a:lnTo>
                  <a:lnTo>
                    <a:pt x="638490" y="40219"/>
                  </a:lnTo>
                  <a:lnTo>
                    <a:pt x="594689" y="23036"/>
                  </a:lnTo>
                  <a:lnTo>
                    <a:pt x="548800" y="10422"/>
                  </a:lnTo>
                  <a:lnTo>
                    <a:pt x="501101" y="2651"/>
                  </a:lnTo>
                  <a:lnTo>
                    <a:pt x="451866" y="0"/>
                  </a:lnTo>
                  <a:close/>
                </a:path>
              </a:pathLst>
            </a:custGeom>
            <a:solidFill>
              <a:srgbClr val="FFFFFF"/>
            </a:solidFill>
          </p:spPr>
          <p:txBody>
            <a:bodyPr wrap="square" lIns="0" tIns="0" rIns="0" bIns="0" rtlCol="0"/>
            <a:lstStyle/>
            <a:p>
              <a:endParaRPr/>
            </a:p>
          </p:txBody>
        </p:sp>
        <p:sp>
          <p:nvSpPr>
            <p:cNvPr id="40" name="object 40"/>
            <p:cNvSpPr/>
            <p:nvPr/>
          </p:nvSpPr>
          <p:spPr>
            <a:xfrm>
              <a:off x="7094220" y="3488435"/>
              <a:ext cx="824865" cy="650875"/>
            </a:xfrm>
            <a:custGeom>
              <a:avLst/>
              <a:gdLst/>
              <a:ahLst/>
              <a:cxnLst/>
              <a:rect l="l" t="t" r="r" b="b"/>
              <a:pathLst>
                <a:path w="824865" h="650875">
                  <a:moveTo>
                    <a:pt x="778382" y="0"/>
                  </a:moveTo>
                  <a:lnTo>
                    <a:pt x="795637" y="43285"/>
                  </a:lnTo>
                  <a:lnTo>
                    <a:pt x="808212" y="88630"/>
                  </a:lnTo>
                  <a:lnTo>
                    <a:pt x="815905" y="135856"/>
                  </a:lnTo>
                  <a:lnTo>
                    <a:pt x="818514" y="184784"/>
                  </a:lnTo>
                  <a:lnTo>
                    <a:pt x="815858" y="233931"/>
                  </a:lnTo>
                  <a:lnTo>
                    <a:pt x="808076" y="281567"/>
                  </a:lnTo>
                  <a:lnTo>
                    <a:pt x="795445" y="327413"/>
                  </a:lnTo>
                  <a:lnTo>
                    <a:pt x="778245" y="371191"/>
                  </a:lnTo>
                  <a:lnTo>
                    <a:pt x="756755" y="412622"/>
                  </a:lnTo>
                  <a:lnTo>
                    <a:pt x="731252" y="451430"/>
                  </a:lnTo>
                  <a:lnTo>
                    <a:pt x="702016" y="487334"/>
                  </a:lnTo>
                  <a:lnTo>
                    <a:pt x="669325" y="520056"/>
                  </a:lnTo>
                  <a:lnTo>
                    <a:pt x="633458" y="549319"/>
                  </a:lnTo>
                  <a:lnTo>
                    <a:pt x="594693" y="574844"/>
                  </a:lnTo>
                  <a:lnTo>
                    <a:pt x="553310" y="596352"/>
                  </a:lnTo>
                  <a:lnTo>
                    <a:pt x="509585" y="613565"/>
                  </a:lnTo>
                  <a:lnTo>
                    <a:pt x="463799" y="626205"/>
                  </a:lnTo>
                  <a:lnTo>
                    <a:pt x="416230" y="633993"/>
                  </a:lnTo>
                  <a:lnTo>
                    <a:pt x="367156" y="636651"/>
                  </a:lnTo>
                  <a:lnTo>
                    <a:pt x="317638" y="634015"/>
                  </a:lnTo>
                  <a:lnTo>
                    <a:pt x="269610" y="626275"/>
                  </a:lnTo>
                  <a:lnTo>
                    <a:pt x="223369" y="613678"/>
                  </a:lnTo>
                  <a:lnTo>
                    <a:pt x="179210" y="596470"/>
                  </a:lnTo>
                  <a:lnTo>
                    <a:pt x="137428" y="574901"/>
                  </a:lnTo>
                  <a:lnTo>
                    <a:pt x="98321" y="549218"/>
                  </a:lnTo>
                  <a:lnTo>
                    <a:pt x="62183" y="519668"/>
                  </a:lnTo>
                  <a:lnTo>
                    <a:pt x="29311" y="486500"/>
                  </a:lnTo>
                  <a:lnTo>
                    <a:pt x="0" y="449961"/>
                  </a:lnTo>
                  <a:lnTo>
                    <a:pt x="10900" y="466099"/>
                  </a:lnTo>
                  <a:lnTo>
                    <a:pt x="46100" y="510158"/>
                  </a:lnTo>
                  <a:lnTo>
                    <a:pt x="83390" y="545138"/>
                  </a:lnTo>
                  <a:lnTo>
                    <a:pt x="124463" y="575797"/>
                  </a:lnTo>
                  <a:lnTo>
                    <a:pt x="168935" y="601748"/>
                  </a:lnTo>
                  <a:lnTo>
                    <a:pt x="216421" y="622606"/>
                  </a:lnTo>
                  <a:lnTo>
                    <a:pt x="266538" y="637982"/>
                  </a:lnTo>
                  <a:lnTo>
                    <a:pt x="318901" y="647492"/>
                  </a:lnTo>
                  <a:lnTo>
                    <a:pt x="373125" y="650747"/>
                  </a:lnTo>
                  <a:lnTo>
                    <a:pt x="422221" y="648090"/>
                  </a:lnTo>
                  <a:lnTo>
                    <a:pt x="469807" y="640302"/>
                  </a:lnTo>
                  <a:lnTo>
                    <a:pt x="515603" y="627662"/>
                  </a:lnTo>
                  <a:lnTo>
                    <a:pt x="559333" y="610449"/>
                  </a:lnTo>
                  <a:lnTo>
                    <a:pt x="600719" y="588941"/>
                  </a:lnTo>
                  <a:lnTo>
                    <a:pt x="639482" y="563416"/>
                  </a:lnTo>
                  <a:lnTo>
                    <a:pt x="675345" y="534153"/>
                  </a:lnTo>
                  <a:lnTo>
                    <a:pt x="708030" y="501431"/>
                  </a:lnTo>
                  <a:lnTo>
                    <a:pt x="737258" y="465527"/>
                  </a:lnTo>
                  <a:lnTo>
                    <a:pt x="762752" y="426720"/>
                  </a:lnTo>
                  <a:lnTo>
                    <a:pt x="784234" y="385288"/>
                  </a:lnTo>
                  <a:lnTo>
                    <a:pt x="801426" y="341510"/>
                  </a:lnTo>
                  <a:lnTo>
                    <a:pt x="814051" y="295664"/>
                  </a:lnTo>
                  <a:lnTo>
                    <a:pt x="821829" y="248028"/>
                  </a:lnTo>
                  <a:lnTo>
                    <a:pt x="824483" y="198881"/>
                  </a:lnTo>
                  <a:lnTo>
                    <a:pt x="821513" y="145732"/>
                  </a:lnTo>
                  <a:lnTo>
                    <a:pt x="812720" y="94869"/>
                  </a:lnTo>
                  <a:lnTo>
                    <a:pt x="798284" y="46291"/>
                  </a:lnTo>
                  <a:lnTo>
                    <a:pt x="778382" y="0"/>
                  </a:lnTo>
                  <a:close/>
                </a:path>
              </a:pathLst>
            </a:custGeom>
            <a:solidFill>
              <a:srgbClr val="D7D9DD"/>
            </a:solidFill>
          </p:spPr>
          <p:txBody>
            <a:bodyPr wrap="square" lIns="0" tIns="0" rIns="0" bIns="0" rtlCol="0"/>
            <a:lstStyle/>
            <a:p>
              <a:endParaRPr/>
            </a:p>
          </p:txBody>
        </p:sp>
        <p:pic>
          <p:nvPicPr>
            <p:cNvPr id="41" name="object 41"/>
            <p:cNvPicPr/>
            <p:nvPr/>
          </p:nvPicPr>
          <p:blipFill>
            <a:blip r:embed="rId15" cstate="print"/>
            <a:stretch>
              <a:fillRect/>
            </a:stretch>
          </p:blipFill>
          <p:spPr>
            <a:xfrm>
              <a:off x="6192011" y="4376927"/>
              <a:ext cx="472439" cy="473964"/>
            </a:xfrm>
            <a:prstGeom prst="rect">
              <a:avLst/>
            </a:prstGeom>
          </p:spPr>
        </p:pic>
        <p:sp>
          <p:nvSpPr>
            <p:cNvPr id="42" name="object 42"/>
            <p:cNvSpPr/>
            <p:nvPr/>
          </p:nvSpPr>
          <p:spPr>
            <a:xfrm>
              <a:off x="6284975" y="4465319"/>
              <a:ext cx="1170940" cy="1170940"/>
            </a:xfrm>
            <a:custGeom>
              <a:avLst/>
              <a:gdLst/>
              <a:ahLst/>
              <a:cxnLst/>
              <a:rect l="l" t="t" r="r" b="b"/>
              <a:pathLst>
                <a:path w="1170940" h="1170939">
                  <a:moveTo>
                    <a:pt x="592201" y="0"/>
                  </a:moveTo>
                  <a:lnTo>
                    <a:pt x="543619" y="1965"/>
                  </a:lnTo>
                  <a:lnTo>
                    <a:pt x="496121" y="7759"/>
                  </a:lnTo>
                  <a:lnTo>
                    <a:pt x="449859" y="17231"/>
                  </a:lnTo>
                  <a:lnTo>
                    <a:pt x="404985" y="30227"/>
                  </a:lnTo>
                  <a:lnTo>
                    <a:pt x="361652" y="46595"/>
                  </a:lnTo>
                  <a:lnTo>
                    <a:pt x="320011" y="66183"/>
                  </a:lnTo>
                  <a:lnTo>
                    <a:pt x="280215" y="88838"/>
                  </a:lnTo>
                  <a:lnTo>
                    <a:pt x="242416" y="114409"/>
                  </a:lnTo>
                  <a:lnTo>
                    <a:pt x="206766" y="142743"/>
                  </a:lnTo>
                  <a:lnTo>
                    <a:pt x="173418" y="173688"/>
                  </a:lnTo>
                  <a:lnTo>
                    <a:pt x="142523" y="207091"/>
                  </a:lnTo>
                  <a:lnTo>
                    <a:pt x="114234" y="242800"/>
                  </a:lnTo>
                  <a:lnTo>
                    <a:pt x="88704" y="280663"/>
                  </a:lnTo>
                  <a:lnTo>
                    <a:pt x="66083" y="320528"/>
                  </a:lnTo>
                  <a:lnTo>
                    <a:pt x="46525" y="362241"/>
                  </a:lnTo>
                  <a:lnTo>
                    <a:pt x="30182" y="405652"/>
                  </a:lnTo>
                  <a:lnTo>
                    <a:pt x="17205" y="450607"/>
                  </a:lnTo>
                  <a:lnTo>
                    <a:pt x="7748" y="496954"/>
                  </a:lnTo>
                  <a:lnTo>
                    <a:pt x="1962" y="544542"/>
                  </a:lnTo>
                  <a:lnTo>
                    <a:pt x="0" y="593216"/>
                  </a:lnTo>
                  <a:lnTo>
                    <a:pt x="2056" y="642961"/>
                  </a:lnTo>
                  <a:lnTo>
                    <a:pt x="8113" y="691513"/>
                  </a:lnTo>
                  <a:lnTo>
                    <a:pt x="18005" y="738721"/>
                  </a:lnTo>
                  <a:lnTo>
                    <a:pt x="31567" y="784436"/>
                  </a:lnTo>
                  <a:lnTo>
                    <a:pt x="48631" y="828510"/>
                  </a:lnTo>
                  <a:lnTo>
                    <a:pt x="69031" y="870791"/>
                  </a:lnTo>
                  <a:lnTo>
                    <a:pt x="92602" y="911132"/>
                  </a:lnTo>
                  <a:lnTo>
                    <a:pt x="119177" y="949382"/>
                  </a:lnTo>
                  <a:lnTo>
                    <a:pt x="148589" y="985392"/>
                  </a:lnTo>
                  <a:lnTo>
                    <a:pt x="182390" y="1018441"/>
                  </a:lnTo>
                  <a:lnTo>
                    <a:pt x="218680" y="1048674"/>
                  </a:lnTo>
                  <a:lnTo>
                    <a:pt x="257290" y="1075935"/>
                  </a:lnTo>
                  <a:lnTo>
                    <a:pt x="298049" y="1100068"/>
                  </a:lnTo>
                  <a:lnTo>
                    <a:pt x="340788" y="1120917"/>
                  </a:lnTo>
                  <a:lnTo>
                    <a:pt x="385337" y="1138326"/>
                  </a:lnTo>
                  <a:lnTo>
                    <a:pt x="431525" y="1152138"/>
                  </a:lnTo>
                  <a:lnTo>
                    <a:pt x="479184" y="1162197"/>
                  </a:lnTo>
                  <a:lnTo>
                    <a:pt x="528142" y="1168347"/>
                  </a:lnTo>
                  <a:lnTo>
                    <a:pt x="578230" y="1170431"/>
                  </a:lnTo>
                  <a:lnTo>
                    <a:pt x="626812" y="1168451"/>
                  </a:lnTo>
                  <a:lnTo>
                    <a:pt x="674310" y="1162615"/>
                  </a:lnTo>
                  <a:lnTo>
                    <a:pt x="720572" y="1153077"/>
                  </a:lnTo>
                  <a:lnTo>
                    <a:pt x="765446" y="1139993"/>
                  </a:lnTo>
                  <a:lnTo>
                    <a:pt x="808779" y="1123519"/>
                  </a:lnTo>
                  <a:lnTo>
                    <a:pt x="850420" y="1103809"/>
                  </a:lnTo>
                  <a:lnTo>
                    <a:pt x="890216" y="1081020"/>
                  </a:lnTo>
                  <a:lnTo>
                    <a:pt x="928015" y="1055307"/>
                  </a:lnTo>
                  <a:lnTo>
                    <a:pt x="963665" y="1026824"/>
                  </a:lnTo>
                  <a:lnTo>
                    <a:pt x="997013" y="995727"/>
                  </a:lnTo>
                  <a:lnTo>
                    <a:pt x="1027908" y="962172"/>
                  </a:lnTo>
                  <a:lnTo>
                    <a:pt x="1056197" y="926314"/>
                  </a:lnTo>
                  <a:lnTo>
                    <a:pt x="1081727" y="888308"/>
                  </a:lnTo>
                  <a:lnTo>
                    <a:pt x="1104348" y="848310"/>
                  </a:lnTo>
                  <a:lnTo>
                    <a:pt x="1123906" y="806475"/>
                  </a:lnTo>
                  <a:lnTo>
                    <a:pt x="1140249" y="762959"/>
                  </a:lnTo>
                  <a:lnTo>
                    <a:pt x="1153226" y="717916"/>
                  </a:lnTo>
                  <a:lnTo>
                    <a:pt x="1162683" y="671502"/>
                  </a:lnTo>
                  <a:lnTo>
                    <a:pt x="1168469" y="623872"/>
                  </a:lnTo>
                  <a:lnTo>
                    <a:pt x="1170431" y="575182"/>
                  </a:lnTo>
                  <a:lnTo>
                    <a:pt x="1168375" y="525438"/>
                  </a:lnTo>
                  <a:lnTo>
                    <a:pt x="1162318" y="476886"/>
                  </a:lnTo>
                  <a:lnTo>
                    <a:pt x="1152426" y="429678"/>
                  </a:lnTo>
                  <a:lnTo>
                    <a:pt x="1138864" y="383963"/>
                  </a:lnTo>
                  <a:lnTo>
                    <a:pt x="1121800" y="339889"/>
                  </a:lnTo>
                  <a:lnTo>
                    <a:pt x="1101400" y="297608"/>
                  </a:lnTo>
                  <a:lnTo>
                    <a:pt x="1077829" y="257267"/>
                  </a:lnTo>
                  <a:lnTo>
                    <a:pt x="1051254" y="219017"/>
                  </a:lnTo>
                  <a:lnTo>
                    <a:pt x="1021842" y="183006"/>
                  </a:lnTo>
                  <a:lnTo>
                    <a:pt x="988041" y="150509"/>
                  </a:lnTo>
                  <a:lnTo>
                    <a:pt x="951751" y="120717"/>
                  </a:lnTo>
                  <a:lnTo>
                    <a:pt x="913141" y="93799"/>
                  </a:lnTo>
                  <a:lnTo>
                    <a:pt x="872382" y="69924"/>
                  </a:lnTo>
                  <a:lnTo>
                    <a:pt x="829643" y="49260"/>
                  </a:lnTo>
                  <a:lnTo>
                    <a:pt x="785094" y="31975"/>
                  </a:lnTo>
                  <a:lnTo>
                    <a:pt x="738906" y="18238"/>
                  </a:lnTo>
                  <a:lnTo>
                    <a:pt x="691247" y="8218"/>
                  </a:lnTo>
                  <a:lnTo>
                    <a:pt x="642289" y="2082"/>
                  </a:lnTo>
                  <a:lnTo>
                    <a:pt x="592201" y="0"/>
                  </a:lnTo>
                  <a:close/>
                </a:path>
              </a:pathLst>
            </a:custGeom>
            <a:solidFill>
              <a:srgbClr val="29B974"/>
            </a:solidFill>
          </p:spPr>
          <p:txBody>
            <a:bodyPr wrap="square" lIns="0" tIns="0" rIns="0" bIns="0" rtlCol="0"/>
            <a:lstStyle/>
            <a:p>
              <a:endParaRPr/>
            </a:p>
          </p:txBody>
        </p:sp>
        <p:pic>
          <p:nvPicPr>
            <p:cNvPr id="43" name="object 43"/>
            <p:cNvPicPr/>
            <p:nvPr/>
          </p:nvPicPr>
          <p:blipFill>
            <a:blip r:embed="rId12" cstate="print"/>
            <a:stretch>
              <a:fillRect/>
            </a:stretch>
          </p:blipFill>
          <p:spPr>
            <a:xfrm>
              <a:off x="6387083" y="4564367"/>
              <a:ext cx="1005865" cy="1008900"/>
            </a:xfrm>
            <a:prstGeom prst="rect">
              <a:avLst/>
            </a:prstGeom>
          </p:spPr>
        </p:pic>
        <p:sp>
          <p:nvSpPr>
            <p:cNvPr id="44" name="object 44"/>
            <p:cNvSpPr/>
            <p:nvPr/>
          </p:nvSpPr>
          <p:spPr>
            <a:xfrm>
              <a:off x="6412991" y="4590288"/>
              <a:ext cx="904240" cy="906780"/>
            </a:xfrm>
            <a:custGeom>
              <a:avLst/>
              <a:gdLst/>
              <a:ahLst/>
              <a:cxnLst/>
              <a:rect l="l" t="t" r="r" b="b"/>
              <a:pathLst>
                <a:path w="904240" h="906779">
                  <a:moveTo>
                    <a:pt x="451865" y="0"/>
                  </a:moveTo>
                  <a:lnTo>
                    <a:pt x="402630" y="2659"/>
                  </a:lnTo>
                  <a:lnTo>
                    <a:pt x="354931" y="10455"/>
                  </a:lnTo>
                  <a:lnTo>
                    <a:pt x="309042" y="23109"/>
                  </a:lnTo>
                  <a:lnTo>
                    <a:pt x="265241" y="40347"/>
                  </a:lnTo>
                  <a:lnTo>
                    <a:pt x="223802" y="61891"/>
                  </a:lnTo>
                  <a:lnTo>
                    <a:pt x="185001" y="87465"/>
                  </a:lnTo>
                  <a:lnTo>
                    <a:pt x="149114" y="116793"/>
                  </a:lnTo>
                  <a:lnTo>
                    <a:pt x="116417" y="149598"/>
                  </a:lnTo>
                  <a:lnTo>
                    <a:pt x="87184" y="185604"/>
                  </a:lnTo>
                  <a:lnTo>
                    <a:pt x="61693" y="224535"/>
                  </a:lnTo>
                  <a:lnTo>
                    <a:pt x="40219" y="266115"/>
                  </a:lnTo>
                  <a:lnTo>
                    <a:pt x="23036" y="310066"/>
                  </a:lnTo>
                  <a:lnTo>
                    <a:pt x="10422" y="356114"/>
                  </a:lnTo>
                  <a:lnTo>
                    <a:pt x="2651" y="403980"/>
                  </a:lnTo>
                  <a:lnTo>
                    <a:pt x="0" y="453389"/>
                  </a:lnTo>
                  <a:lnTo>
                    <a:pt x="2651" y="502799"/>
                  </a:lnTo>
                  <a:lnTo>
                    <a:pt x="10422" y="550665"/>
                  </a:lnTo>
                  <a:lnTo>
                    <a:pt x="23036" y="596713"/>
                  </a:lnTo>
                  <a:lnTo>
                    <a:pt x="40219" y="640664"/>
                  </a:lnTo>
                  <a:lnTo>
                    <a:pt x="61693" y="682244"/>
                  </a:lnTo>
                  <a:lnTo>
                    <a:pt x="87184" y="721175"/>
                  </a:lnTo>
                  <a:lnTo>
                    <a:pt x="116417" y="757181"/>
                  </a:lnTo>
                  <a:lnTo>
                    <a:pt x="149114" y="789986"/>
                  </a:lnTo>
                  <a:lnTo>
                    <a:pt x="185001" y="819314"/>
                  </a:lnTo>
                  <a:lnTo>
                    <a:pt x="223802" y="844888"/>
                  </a:lnTo>
                  <a:lnTo>
                    <a:pt x="265241" y="866432"/>
                  </a:lnTo>
                  <a:lnTo>
                    <a:pt x="309042" y="883670"/>
                  </a:lnTo>
                  <a:lnTo>
                    <a:pt x="354931" y="896324"/>
                  </a:lnTo>
                  <a:lnTo>
                    <a:pt x="402630" y="904120"/>
                  </a:lnTo>
                  <a:lnTo>
                    <a:pt x="451865" y="906780"/>
                  </a:lnTo>
                  <a:lnTo>
                    <a:pt x="501101" y="904120"/>
                  </a:lnTo>
                  <a:lnTo>
                    <a:pt x="548800" y="896324"/>
                  </a:lnTo>
                  <a:lnTo>
                    <a:pt x="594689" y="883670"/>
                  </a:lnTo>
                  <a:lnTo>
                    <a:pt x="638490" y="866432"/>
                  </a:lnTo>
                  <a:lnTo>
                    <a:pt x="679929" y="844888"/>
                  </a:lnTo>
                  <a:lnTo>
                    <a:pt x="718730" y="819314"/>
                  </a:lnTo>
                  <a:lnTo>
                    <a:pt x="754617" y="789986"/>
                  </a:lnTo>
                  <a:lnTo>
                    <a:pt x="787314" y="757181"/>
                  </a:lnTo>
                  <a:lnTo>
                    <a:pt x="816547" y="721175"/>
                  </a:lnTo>
                  <a:lnTo>
                    <a:pt x="842038" y="682244"/>
                  </a:lnTo>
                  <a:lnTo>
                    <a:pt x="863512" y="640664"/>
                  </a:lnTo>
                  <a:lnTo>
                    <a:pt x="880695" y="596713"/>
                  </a:lnTo>
                  <a:lnTo>
                    <a:pt x="893309" y="550665"/>
                  </a:lnTo>
                  <a:lnTo>
                    <a:pt x="901080" y="502799"/>
                  </a:lnTo>
                  <a:lnTo>
                    <a:pt x="903732" y="453389"/>
                  </a:lnTo>
                  <a:lnTo>
                    <a:pt x="901080" y="403980"/>
                  </a:lnTo>
                  <a:lnTo>
                    <a:pt x="893309" y="356114"/>
                  </a:lnTo>
                  <a:lnTo>
                    <a:pt x="880695" y="310066"/>
                  </a:lnTo>
                  <a:lnTo>
                    <a:pt x="863512" y="266115"/>
                  </a:lnTo>
                  <a:lnTo>
                    <a:pt x="842038" y="224536"/>
                  </a:lnTo>
                  <a:lnTo>
                    <a:pt x="816547" y="185604"/>
                  </a:lnTo>
                  <a:lnTo>
                    <a:pt x="787314" y="149598"/>
                  </a:lnTo>
                  <a:lnTo>
                    <a:pt x="754617" y="116793"/>
                  </a:lnTo>
                  <a:lnTo>
                    <a:pt x="718730" y="87465"/>
                  </a:lnTo>
                  <a:lnTo>
                    <a:pt x="679929" y="61891"/>
                  </a:lnTo>
                  <a:lnTo>
                    <a:pt x="638490" y="40347"/>
                  </a:lnTo>
                  <a:lnTo>
                    <a:pt x="594689" y="23109"/>
                  </a:lnTo>
                  <a:lnTo>
                    <a:pt x="548800" y="10455"/>
                  </a:lnTo>
                  <a:lnTo>
                    <a:pt x="501101" y="2659"/>
                  </a:lnTo>
                  <a:lnTo>
                    <a:pt x="451865" y="0"/>
                  </a:lnTo>
                  <a:close/>
                </a:path>
              </a:pathLst>
            </a:custGeom>
            <a:solidFill>
              <a:srgbClr val="FFFFFF"/>
            </a:solidFill>
          </p:spPr>
          <p:txBody>
            <a:bodyPr wrap="square" lIns="0" tIns="0" rIns="0" bIns="0" rtlCol="0"/>
            <a:lstStyle/>
            <a:p>
              <a:endParaRPr/>
            </a:p>
          </p:txBody>
        </p:sp>
        <p:sp>
          <p:nvSpPr>
            <p:cNvPr id="45" name="object 45"/>
            <p:cNvSpPr/>
            <p:nvPr/>
          </p:nvSpPr>
          <p:spPr>
            <a:xfrm>
              <a:off x="6492239" y="4846319"/>
              <a:ext cx="824865" cy="650875"/>
            </a:xfrm>
            <a:custGeom>
              <a:avLst/>
              <a:gdLst/>
              <a:ahLst/>
              <a:cxnLst/>
              <a:rect l="l" t="t" r="r" b="b"/>
              <a:pathLst>
                <a:path w="824865" h="650875">
                  <a:moveTo>
                    <a:pt x="778383" y="0"/>
                  </a:moveTo>
                  <a:lnTo>
                    <a:pt x="795637" y="43253"/>
                  </a:lnTo>
                  <a:lnTo>
                    <a:pt x="808212" y="88376"/>
                  </a:lnTo>
                  <a:lnTo>
                    <a:pt x="815905" y="134999"/>
                  </a:lnTo>
                  <a:lnTo>
                    <a:pt x="818514" y="182752"/>
                  </a:lnTo>
                  <a:lnTo>
                    <a:pt x="816177" y="229227"/>
                  </a:lnTo>
                  <a:lnTo>
                    <a:pt x="809315" y="274343"/>
                  </a:lnTo>
                  <a:lnTo>
                    <a:pt x="798156" y="317876"/>
                  </a:lnTo>
                  <a:lnTo>
                    <a:pt x="782927" y="359598"/>
                  </a:lnTo>
                  <a:lnTo>
                    <a:pt x="763853" y="399284"/>
                  </a:lnTo>
                  <a:lnTo>
                    <a:pt x="741161" y="436706"/>
                  </a:lnTo>
                  <a:lnTo>
                    <a:pt x="715078" y="471639"/>
                  </a:lnTo>
                  <a:lnTo>
                    <a:pt x="685831" y="503856"/>
                  </a:lnTo>
                  <a:lnTo>
                    <a:pt x="653646" y="533131"/>
                  </a:lnTo>
                  <a:lnTo>
                    <a:pt x="618750" y="559237"/>
                  </a:lnTo>
                  <a:lnTo>
                    <a:pt x="581369" y="581948"/>
                  </a:lnTo>
                  <a:lnTo>
                    <a:pt x="541730" y="601037"/>
                  </a:lnTo>
                  <a:lnTo>
                    <a:pt x="500059" y="616278"/>
                  </a:lnTo>
                  <a:lnTo>
                    <a:pt x="456584" y="627445"/>
                  </a:lnTo>
                  <a:lnTo>
                    <a:pt x="411530" y="634311"/>
                  </a:lnTo>
                  <a:lnTo>
                    <a:pt x="365125" y="636650"/>
                  </a:lnTo>
                  <a:lnTo>
                    <a:pt x="316211" y="633948"/>
                  </a:lnTo>
                  <a:lnTo>
                    <a:pt x="268654" y="626041"/>
                  </a:lnTo>
                  <a:lnTo>
                    <a:pt x="222767" y="613226"/>
                  </a:lnTo>
                  <a:lnTo>
                    <a:pt x="178861" y="595801"/>
                  </a:lnTo>
                  <a:lnTo>
                    <a:pt x="137250" y="574065"/>
                  </a:lnTo>
                  <a:lnTo>
                    <a:pt x="98246" y="548315"/>
                  </a:lnTo>
                  <a:lnTo>
                    <a:pt x="62161" y="518849"/>
                  </a:lnTo>
                  <a:lnTo>
                    <a:pt x="29308" y="485965"/>
                  </a:lnTo>
                  <a:lnTo>
                    <a:pt x="0" y="449960"/>
                  </a:lnTo>
                  <a:lnTo>
                    <a:pt x="10614" y="466099"/>
                  </a:lnTo>
                  <a:lnTo>
                    <a:pt x="46101" y="510158"/>
                  </a:lnTo>
                  <a:lnTo>
                    <a:pt x="83390" y="545138"/>
                  </a:lnTo>
                  <a:lnTo>
                    <a:pt x="124463" y="575797"/>
                  </a:lnTo>
                  <a:lnTo>
                    <a:pt x="168935" y="601748"/>
                  </a:lnTo>
                  <a:lnTo>
                    <a:pt x="216421" y="622606"/>
                  </a:lnTo>
                  <a:lnTo>
                    <a:pt x="266538" y="637982"/>
                  </a:lnTo>
                  <a:lnTo>
                    <a:pt x="318901" y="647492"/>
                  </a:lnTo>
                  <a:lnTo>
                    <a:pt x="373126" y="650747"/>
                  </a:lnTo>
                  <a:lnTo>
                    <a:pt x="422221" y="648089"/>
                  </a:lnTo>
                  <a:lnTo>
                    <a:pt x="469807" y="640297"/>
                  </a:lnTo>
                  <a:lnTo>
                    <a:pt x="515603" y="627646"/>
                  </a:lnTo>
                  <a:lnTo>
                    <a:pt x="559333" y="610410"/>
                  </a:lnTo>
                  <a:lnTo>
                    <a:pt x="600719" y="588866"/>
                  </a:lnTo>
                  <a:lnTo>
                    <a:pt x="639482" y="563286"/>
                  </a:lnTo>
                  <a:lnTo>
                    <a:pt x="675345" y="533947"/>
                  </a:lnTo>
                  <a:lnTo>
                    <a:pt x="708030" y="501122"/>
                  </a:lnTo>
                  <a:lnTo>
                    <a:pt x="737258" y="465088"/>
                  </a:lnTo>
                  <a:lnTo>
                    <a:pt x="762752" y="426117"/>
                  </a:lnTo>
                  <a:lnTo>
                    <a:pt x="784234" y="384486"/>
                  </a:lnTo>
                  <a:lnTo>
                    <a:pt x="801426" y="340469"/>
                  </a:lnTo>
                  <a:lnTo>
                    <a:pt x="814051" y="294341"/>
                  </a:lnTo>
                  <a:lnTo>
                    <a:pt x="821829" y="246376"/>
                  </a:lnTo>
                  <a:lnTo>
                    <a:pt x="824484" y="196849"/>
                  </a:lnTo>
                  <a:lnTo>
                    <a:pt x="821513" y="144607"/>
                  </a:lnTo>
                  <a:lnTo>
                    <a:pt x="812720" y="93900"/>
                  </a:lnTo>
                  <a:lnTo>
                    <a:pt x="798284" y="45456"/>
                  </a:lnTo>
                  <a:lnTo>
                    <a:pt x="778383" y="0"/>
                  </a:lnTo>
                  <a:close/>
                </a:path>
              </a:pathLst>
            </a:custGeom>
            <a:solidFill>
              <a:srgbClr val="D7D9DD"/>
            </a:solidFill>
          </p:spPr>
          <p:txBody>
            <a:bodyPr wrap="square" lIns="0" tIns="0" rIns="0" bIns="0" rtlCol="0"/>
            <a:lstStyle/>
            <a:p>
              <a:endParaRPr/>
            </a:p>
          </p:txBody>
        </p:sp>
        <p:pic>
          <p:nvPicPr>
            <p:cNvPr id="46" name="object 46"/>
            <p:cNvPicPr/>
            <p:nvPr/>
          </p:nvPicPr>
          <p:blipFill>
            <a:blip r:embed="rId16" cstate="print"/>
            <a:stretch>
              <a:fillRect/>
            </a:stretch>
          </p:blipFill>
          <p:spPr>
            <a:xfrm>
              <a:off x="4431791" y="3697223"/>
              <a:ext cx="618743" cy="50292"/>
            </a:xfrm>
            <a:prstGeom prst="rect">
              <a:avLst/>
            </a:prstGeom>
          </p:spPr>
        </p:pic>
        <p:sp>
          <p:nvSpPr>
            <p:cNvPr id="47" name="object 47"/>
            <p:cNvSpPr/>
            <p:nvPr/>
          </p:nvSpPr>
          <p:spPr>
            <a:xfrm>
              <a:off x="3544823" y="3110483"/>
              <a:ext cx="1170940" cy="1169035"/>
            </a:xfrm>
            <a:custGeom>
              <a:avLst/>
              <a:gdLst/>
              <a:ahLst/>
              <a:cxnLst/>
              <a:rect l="l" t="t" r="r" b="b"/>
              <a:pathLst>
                <a:path w="1170939" h="1169035">
                  <a:moveTo>
                    <a:pt x="592201" y="0"/>
                  </a:moveTo>
                  <a:lnTo>
                    <a:pt x="543619" y="1963"/>
                  </a:lnTo>
                  <a:lnTo>
                    <a:pt x="496121" y="7752"/>
                  </a:lnTo>
                  <a:lnTo>
                    <a:pt x="449859" y="17214"/>
                  </a:lnTo>
                  <a:lnTo>
                    <a:pt x="404985" y="30196"/>
                  </a:lnTo>
                  <a:lnTo>
                    <a:pt x="361652" y="46547"/>
                  </a:lnTo>
                  <a:lnTo>
                    <a:pt x="320011" y="66114"/>
                  </a:lnTo>
                  <a:lnTo>
                    <a:pt x="280215" y="88745"/>
                  </a:lnTo>
                  <a:lnTo>
                    <a:pt x="242416" y="114287"/>
                  </a:lnTo>
                  <a:lnTo>
                    <a:pt x="206766" y="142589"/>
                  </a:lnTo>
                  <a:lnTo>
                    <a:pt x="173418" y="173497"/>
                  </a:lnTo>
                  <a:lnTo>
                    <a:pt x="142523" y="206860"/>
                  </a:lnTo>
                  <a:lnTo>
                    <a:pt x="114234" y="242526"/>
                  </a:lnTo>
                  <a:lnTo>
                    <a:pt x="88704" y="280341"/>
                  </a:lnTo>
                  <a:lnTo>
                    <a:pt x="66083" y="320154"/>
                  </a:lnTo>
                  <a:lnTo>
                    <a:pt x="46525" y="361813"/>
                  </a:lnTo>
                  <a:lnTo>
                    <a:pt x="30182" y="405164"/>
                  </a:lnTo>
                  <a:lnTo>
                    <a:pt x="17205" y="450056"/>
                  </a:lnTo>
                  <a:lnTo>
                    <a:pt x="7748" y="496337"/>
                  </a:lnTo>
                  <a:lnTo>
                    <a:pt x="1962" y="543854"/>
                  </a:lnTo>
                  <a:lnTo>
                    <a:pt x="0" y="592454"/>
                  </a:lnTo>
                  <a:lnTo>
                    <a:pt x="2056" y="642189"/>
                  </a:lnTo>
                  <a:lnTo>
                    <a:pt x="8113" y="690855"/>
                  </a:lnTo>
                  <a:lnTo>
                    <a:pt x="18005" y="738269"/>
                  </a:lnTo>
                  <a:lnTo>
                    <a:pt x="31567" y="784247"/>
                  </a:lnTo>
                  <a:lnTo>
                    <a:pt x="48631" y="828605"/>
                  </a:lnTo>
                  <a:lnTo>
                    <a:pt x="69031" y="871158"/>
                  </a:lnTo>
                  <a:lnTo>
                    <a:pt x="92602" y="911724"/>
                  </a:lnTo>
                  <a:lnTo>
                    <a:pt x="119177" y="950117"/>
                  </a:lnTo>
                  <a:lnTo>
                    <a:pt x="148589" y="986154"/>
                  </a:lnTo>
                  <a:lnTo>
                    <a:pt x="182333" y="1018584"/>
                  </a:lnTo>
                  <a:lnTo>
                    <a:pt x="218469" y="1048320"/>
                  </a:lnTo>
                  <a:lnTo>
                    <a:pt x="256851" y="1075195"/>
                  </a:lnTo>
                  <a:lnTo>
                    <a:pt x="297334" y="1099038"/>
                  </a:lnTo>
                  <a:lnTo>
                    <a:pt x="339772" y="1119679"/>
                  </a:lnTo>
                  <a:lnTo>
                    <a:pt x="384020" y="1136948"/>
                  </a:lnTo>
                  <a:lnTo>
                    <a:pt x="429932" y="1150676"/>
                  </a:lnTo>
                  <a:lnTo>
                    <a:pt x="477363" y="1160691"/>
                  </a:lnTo>
                  <a:lnTo>
                    <a:pt x="526167" y="1166825"/>
                  </a:lnTo>
                  <a:lnTo>
                    <a:pt x="576199" y="1168908"/>
                  </a:lnTo>
                  <a:lnTo>
                    <a:pt x="624812" y="1166944"/>
                  </a:lnTo>
                  <a:lnTo>
                    <a:pt x="672366" y="1161155"/>
                  </a:lnTo>
                  <a:lnTo>
                    <a:pt x="718705" y="1151693"/>
                  </a:lnTo>
                  <a:lnTo>
                    <a:pt x="763674" y="1138711"/>
                  </a:lnTo>
                  <a:lnTo>
                    <a:pt x="807118" y="1122360"/>
                  </a:lnTo>
                  <a:lnTo>
                    <a:pt x="848883" y="1102793"/>
                  </a:lnTo>
                  <a:lnTo>
                    <a:pt x="888813" y="1080162"/>
                  </a:lnTo>
                  <a:lnTo>
                    <a:pt x="926753" y="1054620"/>
                  </a:lnTo>
                  <a:lnTo>
                    <a:pt x="962549" y="1026318"/>
                  </a:lnTo>
                  <a:lnTo>
                    <a:pt x="996045" y="995410"/>
                  </a:lnTo>
                  <a:lnTo>
                    <a:pt x="1027086" y="962047"/>
                  </a:lnTo>
                  <a:lnTo>
                    <a:pt x="1055518" y="926381"/>
                  </a:lnTo>
                  <a:lnTo>
                    <a:pt x="1081185" y="888566"/>
                  </a:lnTo>
                  <a:lnTo>
                    <a:pt x="1103933" y="848753"/>
                  </a:lnTo>
                  <a:lnTo>
                    <a:pt x="1123606" y="807094"/>
                  </a:lnTo>
                  <a:lnTo>
                    <a:pt x="1140050" y="763743"/>
                  </a:lnTo>
                  <a:lnTo>
                    <a:pt x="1153109" y="718851"/>
                  </a:lnTo>
                  <a:lnTo>
                    <a:pt x="1162630" y="672570"/>
                  </a:lnTo>
                  <a:lnTo>
                    <a:pt x="1168455" y="625053"/>
                  </a:lnTo>
                  <a:lnTo>
                    <a:pt x="1170431" y="576452"/>
                  </a:lnTo>
                  <a:lnTo>
                    <a:pt x="1168373" y="526718"/>
                  </a:lnTo>
                  <a:lnTo>
                    <a:pt x="1162296" y="478052"/>
                  </a:lnTo>
                  <a:lnTo>
                    <a:pt x="1152350" y="430638"/>
                  </a:lnTo>
                  <a:lnTo>
                    <a:pt x="1138686" y="384660"/>
                  </a:lnTo>
                  <a:lnTo>
                    <a:pt x="1121452" y="340302"/>
                  </a:lnTo>
                  <a:lnTo>
                    <a:pt x="1100798" y="297749"/>
                  </a:lnTo>
                  <a:lnTo>
                    <a:pt x="1076873" y="257183"/>
                  </a:lnTo>
                  <a:lnTo>
                    <a:pt x="1049827" y="218790"/>
                  </a:lnTo>
                  <a:lnTo>
                    <a:pt x="1019810" y="182752"/>
                  </a:lnTo>
                  <a:lnTo>
                    <a:pt x="986560" y="150323"/>
                  </a:lnTo>
                  <a:lnTo>
                    <a:pt x="950710" y="120587"/>
                  </a:lnTo>
                  <a:lnTo>
                    <a:pt x="912444" y="93712"/>
                  </a:lnTo>
                  <a:lnTo>
                    <a:pt x="871943" y="69869"/>
                  </a:lnTo>
                  <a:lnTo>
                    <a:pt x="829389" y="49228"/>
                  </a:lnTo>
                  <a:lnTo>
                    <a:pt x="784964" y="31959"/>
                  </a:lnTo>
                  <a:lnTo>
                    <a:pt x="738851" y="18231"/>
                  </a:lnTo>
                  <a:lnTo>
                    <a:pt x="691231" y="8216"/>
                  </a:lnTo>
                  <a:lnTo>
                    <a:pt x="642287" y="2082"/>
                  </a:lnTo>
                  <a:lnTo>
                    <a:pt x="592201" y="0"/>
                  </a:lnTo>
                  <a:close/>
                </a:path>
              </a:pathLst>
            </a:custGeom>
            <a:solidFill>
              <a:srgbClr val="29B974"/>
            </a:solidFill>
          </p:spPr>
          <p:txBody>
            <a:bodyPr wrap="square" lIns="0" tIns="0" rIns="0" bIns="0" rtlCol="0"/>
            <a:lstStyle/>
            <a:p>
              <a:endParaRPr/>
            </a:p>
          </p:txBody>
        </p:sp>
        <p:pic>
          <p:nvPicPr>
            <p:cNvPr id="48" name="object 48"/>
            <p:cNvPicPr/>
            <p:nvPr/>
          </p:nvPicPr>
          <p:blipFill>
            <a:blip r:embed="rId17" cstate="print"/>
            <a:stretch>
              <a:fillRect/>
            </a:stretch>
          </p:blipFill>
          <p:spPr>
            <a:xfrm>
              <a:off x="3645407" y="3209518"/>
              <a:ext cx="1007376" cy="1005865"/>
            </a:xfrm>
            <a:prstGeom prst="rect">
              <a:avLst/>
            </a:prstGeom>
          </p:spPr>
        </p:pic>
        <p:sp>
          <p:nvSpPr>
            <p:cNvPr id="49" name="object 49"/>
            <p:cNvSpPr/>
            <p:nvPr/>
          </p:nvSpPr>
          <p:spPr>
            <a:xfrm>
              <a:off x="3671315" y="3235451"/>
              <a:ext cx="905510" cy="904240"/>
            </a:xfrm>
            <a:custGeom>
              <a:avLst/>
              <a:gdLst/>
              <a:ahLst/>
              <a:cxnLst/>
              <a:rect l="l" t="t" r="r" b="b"/>
              <a:pathLst>
                <a:path w="905510" h="904239">
                  <a:moveTo>
                    <a:pt x="452628" y="0"/>
                  </a:moveTo>
                  <a:lnTo>
                    <a:pt x="403316" y="2651"/>
                  </a:lnTo>
                  <a:lnTo>
                    <a:pt x="355541" y="10422"/>
                  </a:lnTo>
                  <a:lnTo>
                    <a:pt x="309579" y="23036"/>
                  </a:lnTo>
                  <a:lnTo>
                    <a:pt x="265705" y="40219"/>
                  </a:lnTo>
                  <a:lnTo>
                    <a:pt x="224197" y="61693"/>
                  </a:lnTo>
                  <a:lnTo>
                    <a:pt x="185330" y="87184"/>
                  </a:lnTo>
                  <a:lnTo>
                    <a:pt x="149381" y="116417"/>
                  </a:lnTo>
                  <a:lnTo>
                    <a:pt x="116627" y="149114"/>
                  </a:lnTo>
                  <a:lnTo>
                    <a:pt x="87343" y="185001"/>
                  </a:lnTo>
                  <a:lnTo>
                    <a:pt x="61806" y="223802"/>
                  </a:lnTo>
                  <a:lnTo>
                    <a:pt x="40293" y="265241"/>
                  </a:lnTo>
                  <a:lnTo>
                    <a:pt x="23079" y="309042"/>
                  </a:lnTo>
                  <a:lnTo>
                    <a:pt x="10441" y="354931"/>
                  </a:lnTo>
                  <a:lnTo>
                    <a:pt x="2656" y="402630"/>
                  </a:lnTo>
                  <a:lnTo>
                    <a:pt x="0" y="451866"/>
                  </a:lnTo>
                  <a:lnTo>
                    <a:pt x="2656" y="501101"/>
                  </a:lnTo>
                  <a:lnTo>
                    <a:pt x="10441" y="548800"/>
                  </a:lnTo>
                  <a:lnTo>
                    <a:pt x="23079" y="594689"/>
                  </a:lnTo>
                  <a:lnTo>
                    <a:pt x="40293" y="638490"/>
                  </a:lnTo>
                  <a:lnTo>
                    <a:pt x="61806" y="679929"/>
                  </a:lnTo>
                  <a:lnTo>
                    <a:pt x="87343" y="718730"/>
                  </a:lnTo>
                  <a:lnTo>
                    <a:pt x="116627" y="754617"/>
                  </a:lnTo>
                  <a:lnTo>
                    <a:pt x="149381" y="787314"/>
                  </a:lnTo>
                  <a:lnTo>
                    <a:pt x="185330" y="816547"/>
                  </a:lnTo>
                  <a:lnTo>
                    <a:pt x="224197" y="842038"/>
                  </a:lnTo>
                  <a:lnTo>
                    <a:pt x="265705" y="863512"/>
                  </a:lnTo>
                  <a:lnTo>
                    <a:pt x="309579" y="880695"/>
                  </a:lnTo>
                  <a:lnTo>
                    <a:pt x="355541" y="893309"/>
                  </a:lnTo>
                  <a:lnTo>
                    <a:pt x="403316" y="901080"/>
                  </a:lnTo>
                  <a:lnTo>
                    <a:pt x="452628" y="903732"/>
                  </a:lnTo>
                  <a:lnTo>
                    <a:pt x="501939" y="901080"/>
                  </a:lnTo>
                  <a:lnTo>
                    <a:pt x="549714" y="893309"/>
                  </a:lnTo>
                  <a:lnTo>
                    <a:pt x="595676" y="880695"/>
                  </a:lnTo>
                  <a:lnTo>
                    <a:pt x="639550" y="863512"/>
                  </a:lnTo>
                  <a:lnTo>
                    <a:pt x="681058" y="842038"/>
                  </a:lnTo>
                  <a:lnTo>
                    <a:pt x="719925" y="816547"/>
                  </a:lnTo>
                  <a:lnTo>
                    <a:pt x="755874" y="787314"/>
                  </a:lnTo>
                  <a:lnTo>
                    <a:pt x="788628" y="754617"/>
                  </a:lnTo>
                  <a:lnTo>
                    <a:pt x="817912" y="718730"/>
                  </a:lnTo>
                  <a:lnTo>
                    <a:pt x="843449" y="679929"/>
                  </a:lnTo>
                  <a:lnTo>
                    <a:pt x="864962" y="638490"/>
                  </a:lnTo>
                  <a:lnTo>
                    <a:pt x="882176" y="594689"/>
                  </a:lnTo>
                  <a:lnTo>
                    <a:pt x="894814" y="548800"/>
                  </a:lnTo>
                  <a:lnTo>
                    <a:pt x="902599" y="501101"/>
                  </a:lnTo>
                  <a:lnTo>
                    <a:pt x="905256" y="451866"/>
                  </a:lnTo>
                  <a:lnTo>
                    <a:pt x="902599" y="402630"/>
                  </a:lnTo>
                  <a:lnTo>
                    <a:pt x="894814" y="354931"/>
                  </a:lnTo>
                  <a:lnTo>
                    <a:pt x="882176" y="309042"/>
                  </a:lnTo>
                  <a:lnTo>
                    <a:pt x="864962" y="265241"/>
                  </a:lnTo>
                  <a:lnTo>
                    <a:pt x="843449" y="223802"/>
                  </a:lnTo>
                  <a:lnTo>
                    <a:pt x="817912" y="185001"/>
                  </a:lnTo>
                  <a:lnTo>
                    <a:pt x="788628" y="149114"/>
                  </a:lnTo>
                  <a:lnTo>
                    <a:pt x="755874" y="116417"/>
                  </a:lnTo>
                  <a:lnTo>
                    <a:pt x="719925" y="87184"/>
                  </a:lnTo>
                  <a:lnTo>
                    <a:pt x="681058" y="61693"/>
                  </a:lnTo>
                  <a:lnTo>
                    <a:pt x="639550" y="40219"/>
                  </a:lnTo>
                  <a:lnTo>
                    <a:pt x="595676" y="23036"/>
                  </a:lnTo>
                  <a:lnTo>
                    <a:pt x="549714" y="10422"/>
                  </a:lnTo>
                  <a:lnTo>
                    <a:pt x="501939" y="2651"/>
                  </a:lnTo>
                  <a:lnTo>
                    <a:pt x="452628" y="0"/>
                  </a:lnTo>
                  <a:close/>
                </a:path>
              </a:pathLst>
            </a:custGeom>
            <a:solidFill>
              <a:srgbClr val="FFFFFF"/>
            </a:solidFill>
          </p:spPr>
          <p:txBody>
            <a:bodyPr wrap="square" lIns="0" tIns="0" rIns="0" bIns="0" rtlCol="0"/>
            <a:lstStyle/>
            <a:p>
              <a:endParaRPr/>
            </a:p>
          </p:txBody>
        </p:sp>
        <p:sp>
          <p:nvSpPr>
            <p:cNvPr id="50" name="object 50"/>
            <p:cNvSpPr/>
            <p:nvPr/>
          </p:nvSpPr>
          <p:spPr>
            <a:xfrm>
              <a:off x="3752087" y="3488435"/>
              <a:ext cx="824865" cy="650875"/>
            </a:xfrm>
            <a:custGeom>
              <a:avLst/>
              <a:gdLst/>
              <a:ahLst/>
              <a:cxnLst/>
              <a:rect l="l" t="t" r="r" b="b"/>
              <a:pathLst>
                <a:path w="824864" h="650875">
                  <a:moveTo>
                    <a:pt x="778383" y="0"/>
                  </a:moveTo>
                  <a:lnTo>
                    <a:pt x="794462" y="43285"/>
                  </a:lnTo>
                  <a:lnTo>
                    <a:pt x="806434" y="88630"/>
                  </a:lnTo>
                  <a:lnTo>
                    <a:pt x="813905" y="135856"/>
                  </a:lnTo>
                  <a:lnTo>
                    <a:pt x="816483" y="184784"/>
                  </a:lnTo>
                  <a:lnTo>
                    <a:pt x="813826" y="233931"/>
                  </a:lnTo>
                  <a:lnTo>
                    <a:pt x="806044" y="281567"/>
                  </a:lnTo>
                  <a:lnTo>
                    <a:pt x="793413" y="327413"/>
                  </a:lnTo>
                  <a:lnTo>
                    <a:pt x="776213" y="371191"/>
                  </a:lnTo>
                  <a:lnTo>
                    <a:pt x="754723" y="412622"/>
                  </a:lnTo>
                  <a:lnTo>
                    <a:pt x="729220" y="451430"/>
                  </a:lnTo>
                  <a:lnTo>
                    <a:pt x="699984" y="487334"/>
                  </a:lnTo>
                  <a:lnTo>
                    <a:pt x="667293" y="520056"/>
                  </a:lnTo>
                  <a:lnTo>
                    <a:pt x="631426" y="549319"/>
                  </a:lnTo>
                  <a:lnTo>
                    <a:pt x="592661" y="574844"/>
                  </a:lnTo>
                  <a:lnTo>
                    <a:pt x="551278" y="596352"/>
                  </a:lnTo>
                  <a:lnTo>
                    <a:pt x="507553" y="613565"/>
                  </a:lnTo>
                  <a:lnTo>
                    <a:pt x="461767" y="626205"/>
                  </a:lnTo>
                  <a:lnTo>
                    <a:pt x="414198" y="633993"/>
                  </a:lnTo>
                  <a:lnTo>
                    <a:pt x="365125" y="636651"/>
                  </a:lnTo>
                  <a:lnTo>
                    <a:pt x="315676" y="634015"/>
                  </a:lnTo>
                  <a:lnTo>
                    <a:pt x="267835" y="626275"/>
                  </a:lnTo>
                  <a:lnTo>
                    <a:pt x="221864" y="613678"/>
                  </a:lnTo>
                  <a:lnTo>
                    <a:pt x="178025" y="596470"/>
                  </a:lnTo>
                  <a:lnTo>
                    <a:pt x="136581" y="574901"/>
                  </a:lnTo>
                  <a:lnTo>
                    <a:pt x="97794" y="549218"/>
                  </a:lnTo>
                  <a:lnTo>
                    <a:pt x="61927" y="519668"/>
                  </a:lnTo>
                  <a:lnTo>
                    <a:pt x="29241" y="486500"/>
                  </a:lnTo>
                  <a:lnTo>
                    <a:pt x="0" y="449961"/>
                  </a:lnTo>
                  <a:lnTo>
                    <a:pt x="10584" y="466099"/>
                  </a:lnTo>
                  <a:lnTo>
                    <a:pt x="44196" y="510158"/>
                  </a:lnTo>
                  <a:lnTo>
                    <a:pt x="81438" y="545138"/>
                  </a:lnTo>
                  <a:lnTo>
                    <a:pt x="122477" y="575797"/>
                  </a:lnTo>
                  <a:lnTo>
                    <a:pt x="166926" y="601748"/>
                  </a:lnTo>
                  <a:lnTo>
                    <a:pt x="214399" y="622606"/>
                  </a:lnTo>
                  <a:lnTo>
                    <a:pt x="264509" y="637982"/>
                  </a:lnTo>
                  <a:lnTo>
                    <a:pt x="316869" y="647492"/>
                  </a:lnTo>
                  <a:lnTo>
                    <a:pt x="371094" y="650747"/>
                  </a:lnTo>
                  <a:lnTo>
                    <a:pt x="420569" y="648090"/>
                  </a:lnTo>
                  <a:lnTo>
                    <a:pt x="468484" y="640302"/>
                  </a:lnTo>
                  <a:lnTo>
                    <a:pt x="514563" y="627662"/>
                  </a:lnTo>
                  <a:lnTo>
                    <a:pt x="558532" y="610449"/>
                  </a:lnTo>
                  <a:lnTo>
                    <a:pt x="600117" y="588941"/>
                  </a:lnTo>
                  <a:lnTo>
                    <a:pt x="639043" y="563416"/>
                  </a:lnTo>
                  <a:lnTo>
                    <a:pt x="675037" y="534153"/>
                  </a:lnTo>
                  <a:lnTo>
                    <a:pt x="707823" y="501431"/>
                  </a:lnTo>
                  <a:lnTo>
                    <a:pt x="737128" y="465527"/>
                  </a:lnTo>
                  <a:lnTo>
                    <a:pt x="762677" y="426720"/>
                  </a:lnTo>
                  <a:lnTo>
                    <a:pt x="784196" y="385288"/>
                  </a:lnTo>
                  <a:lnTo>
                    <a:pt x="801410" y="341510"/>
                  </a:lnTo>
                  <a:lnTo>
                    <a:pt x="814046" y="295664"/>
                  </a:lnTo>
                  <a:lnTo>
                    <a:pt x="821828" y="248028"/>
                  </a:lnTo>
                  <a:lnTo>
                    <a:pt x="824484" y="198881"/>
                  </a:lnTo>
                  <a:lnTo>
                    <a:pt x="821513" y="145732"/>
                  </a:lnTo>
                  <a:lnTo>
                    <a:pt x="812720" y="94869"/>
                  </a:lnTo>
                  <a:lnTo>
                    <a:pt x="798284" y="46291"/>
                  </a:lnTo>
                  <a:lnTo>
                    <a:pt x="778383" y="0"/>
                  </a:lnTo>
                  <a:close/>
                </a:path>
              </a:pathLst>
            </a:custGeom>
            <a:solidFill>
              <a:srgbClr val="D7D9DD"/>
            </a:solidFill>
          </p:spPr>
          <p:txBody>
            <a:bodyPr wrap="square" lIns="0" tIns="0" rIns="0" bIns="0" rtlCol="0"/>
            <a:lstStyle/>
            <a:p>
              <a:endParaRPr/>
            </a:p>
          </p:txBody>
        </p:sp>
        <p:pic>
          <p:nvPicPr>
            <p:cNvPr id="51" name="object 51"/>
            <p:cNvPicPr/>
            <p:nvPr/>
          </p:nvPicPr>
          <p:blipFill>
            <a:blip r:embed="rId18" cstate="print"/>
            <a:stretch>
              <a:fillRect/>
            </a:stretch>
          </p:blipFill>
          <p:spPr>
            <a:xfrm>
              <a:off x="4930139" y="2659379"/>
              <a:ext cx="473963" cy="470916"/>
            </a:xfrm>
            <a:prstGeom prst="rect">
              <a:avLst/>
            </a:prstGeom>
          </p:spPr>
        </p:pic>
        <p:sp>
          <p:nvSpPr>
            <p:cNvPr id="52" name="object 52"/>
            <p:cNvSpPr/>
            <p:nvPr/>
          </p:nvSpPr>
          <p:spPr>
            <a:xfrm>
              <a:off x="4151375" y="1877567"/>
              <a:ext cx="1172210" cy="1167765"/>
            </a:xfrm>
            <a:custGeom>
              <a:avLst/>
              <a:gdLst/>
              <a:ahLst/>
              <a:cxnLst/>
              <a:rect l="l" t="t" r="r" b="b"/>
              <a:pathLst>
                <a:path w="1172210" h="1167764">
                  <a:moveTo>
                    <a:pt x="592963" y="0"/>
                  </a:moveTo>
                  <a:lnTo>
                    <a:pt x="544307" y="1975"/>
                  </a:lnTo>
                  <a:lnTo>
                    <a:pt x="496738" y="7798"/>
                  </a:lnTo>
                  <a:lnTo>
                    <a:pt x="450410" y="17313"/>
                  </a:lnTo>
                  <a:lnTo>
                    <a:pt x="405473" y="30365"/>
                  </a:lnTo>
                  <a:lnTo>
                    <a:pt x="362080" y="46799"/>
                  </a:lnTo>
                  <a:lnTo>
                    <a:pt x="320384" y="66460"/>
                  </a:lnTo>
                  <a:lnTo>
                    <a:pt x="280537" y="89194"/>
                  </a:lnTo>
                  <a:lnTo>
                    <a:pt x="242690" y="114844"/>
                  </a:lnTo>
                  <a:lnTo>
                    <a:pt x="206997" y="143256"/>
                  </a:lnTo>
                  <a:lnTo>
                    <a:pt x="173608" y="174275"/>
                  </a:lnTo>
                  <a:lnTo>
                    <a:pt x="142678" y="207746"/>
                  </a:lnTo>
                  <a:lnTo>
                    <a:pt x="114356" y="243513"/>
                  </a:lnTo>
                  <a:lnTo>
                    <a:pt x="88797" y="281422"/>
                  </a:lnTo>
                  <a:lnTo>
                    <a:pt x="66152" y="321318"/>
                  </a:lnTo>
                  <a:lnTo>
                    <a:pt x="46573" y="363045"/>
                  </a:lnTo>
                  <a:lnTo>
                    <a:pt x="30212" y="406448"/>
                  </a:lnTo>
                  <a:lnTo>
                    <a:pt x="17223" y="451373"/>
                  </a:lnTo>
                  <a:lnTo>
                    <a:pt x="7756" y="497664"/>
                  </a:lnTo>
                  <a:lnTo>
                    <a:pt x="1964" y="545166"/>
                  </a:lnTo>
                  <a:lnTo>
                    <a:pt x="0" y="593725"/>
                  </a:lnTo>
                  <a:lnTo>
                    <a:pt x="2056" y="643338"/>
                  </a:lnTo>
                  <a:lnTo>
                    <a:pt x="8114" y="691754"/>
                  </a:lnTo>
                  <a:lnTo>
                    <a:pt x="18010" y="738824"/>
                  </a:lnTo>
                  <a:lnTo>
                    <a:pt x="31578" y="784406"/>
                  </a:lnTo>
                  <a:lnTo>
                    <a:pt x="48652" y="828352"/>
                  </a:lnTo>
                  <a:lnTo>
                    <a:pt x="69069" y="870519"/>
                  </a:lnTo>
                  <a:lnTo>
                    <a:pt x="92662" y="910760"/>
                  </a:lnTo>
                  <a:lnTo>
                    <a:pt x="119266" y="948930"/>
                  </a:lnTo>
                  <a:lnTo>
                    <a:pt x="148716" y="984885"/>
                  </a:lnTo>
                  <a:lnTo>
                    <a:pt x="182533" y="1017276"/>
                  </a:lnTo>
                  <a:lnTo>
                    <a:pt x="218735" y="1046975"/>
                  </a:lnTo>
                  <a:lnTo>
                    <a:pt x="257179" y="1073814"/>
                  </a:lnTo>
                  <a:lnTo>
                    <a:pt x="297721" y="1097624"/>
                  </a:lnTo>
                  <a:lnTo>
                    <a:pt x="340217" y="1118235"/>
                  </a:lnTo>
                  <a:lnTo>
                    <a:pt x="384522" y="1135477"/>
                  </a:lnTo>
                  <a:lnTo>
                    <a:pt x="430493" y="1149182"/>
                  </a:lnTo>
                  <a:lnTo>
                    <a:pt x="477986" y="1159181"/>
                  </a:lnTo>
                  <a:lnTo>
                    <a:pt x="526856" y="1165305"/>
                  </a:lnTo>
                  <a:lnTo>
                    <a:pt x="576961" y="1167384"/>
                  </a:lnTo>
                  <a:lnTo>
                    <a:pt x="625631" y="1165423"/>
                  </a:lnTo>
                  <a:lnTo>
                    <a:pt x="673242" y="1159642"/>
                  </a:lnTo>
                  <a:lnTo>
                    <a:pt x="719637" y="1150194"/>
                  </a:lnTo>
                  <a:lnTo>
                    <a:pt x="764661" y="1137230"/>
                  </a:lnTo>
                  <a:lnTo>
                    <a:pt x="808160" y="1120902"/>
                  </a:lnTo>
                  <a:lnTo>
                    <a:pt x="849977" y="1101362"/>
                  </a:lnTo>
                  <a:lnTo>
                    <a:pt x="889959" y="1078762"/>
                  </a:lnTo>
                  <a:lnTo>
                    <a:pt x="927948" y="1053254"/>
                  </a:lnTo>
                  <a:lnTo>
                    <a:pt x="963790" y="1024991"/>
                  </a:lnTo>
                  <a:lnTo>
                    <a:pt x="997331" y="994124"/>
                  </a:lnTo>
                  <a:lnTo>
                    <a:pt x="1028413" y="960805"/>
                  </a:lnTo>
                  <a:lnTo>
                    <a:pt x="1056883" y="925186"/>
                  </a:lnTo>
                  <a:lnTo>
                    <a:pt x="1082585" y="887420"/>
                  </a:lnTo>
                  <a:lnTo>
                    <a:pt x="1105364" y="847658"/>
                  </a:lnTo>
                  <a:lnTo>
                    <a:pt x="1125065" y="806053"/>
                  </a:lnTo>
                  <a:lnTo>
                    <a:pt x="1141531" y="762755"/>
                  </a:lnTo>
                  <a:lnTo>
                    <a:pt x="1154609" y="717919"/>
                  </a:lnTo>
                  <a:lnTo>
                    <a:pt x="1164142" y="671694"/>
                  </a:lnTo>
                  <a:lnTo>
                    <a:pt x="1169976" y="624234"/>
                  </a:lnTo>
                  <a:lnTo>
                    <a:pt x="1171956" y="575691"/>
                  </a:lnTo>
                  <a:lnTo>
                    <a:pt x="1169896" y="526072"/>
                  </a:lnTo>
                  <a:lnTo>
                    <a:pt x="1163818" y="477647"/>
                  </a:lnTo>
                  <a:lnTo>
                    <a:pt x="1153870" y="430562"/>
                  </a:lnTo>
                  <a:lnTo>
                    <a:pt x="1140199" y="384968"/>
                  </a:lnTo>
                  <a:lnTo>
                    <a:pt x="1122954" y="341011"/>
                  </a:lnTo>
                  <a:lnTo>
                    <a:pt x="1102284" y="298840"/>
                  </a:lnTo>
                  <a:lnTo>
                    <a:pt x="1078337" y="258604"/>
                  </a:lnTo>
                  <a:lnTo>
                    <a:pt x="1051262" y="220451"/>
                  </a:lnTo>
                  <a:lnTo>
                    <a:pt x="1021207" y="184531"/>
                  </a:lnTo>
                  <a:lnTo>
                    <a:pt x="987884" y="151589"/>
                  </a:lnTo>
                  <a:lnTo>
                    <a:pt x="951968" y="121448"/>
                  </a:lnTo>
                  <a:lnTo>
                    <a:pt x="913640" y="94266"/>
                  </a:lnTo>
                  <a:lnTo>
                    <a:pt x="873080" y="70198"/>
                  </a:lnTo>
                  <a:lnTo>
                    <a:pt x="830468" y="49402"/>
                  </a:lnTo>
                  <a:lnTo>
                    <a:pt x="785986" y="32036"/>
                  </a:lnTo>
                  <a:lnTo>
                    <a:pt x="739814" y="18255"/>
                  </a:lnTo>
                  <a:lnTo>
                    <a:pt x="692132" y="8218"/>
                  </a:lnTo>
                  <a:lnTo>
                    <a:pt x="643122" y="2080"/>
                  </a:lnTo>
                  <a:lnTo>
                    <a:pt x="592963" y="0"/>
                  </a:lnTo>
                  <a:close/>
                </a:path>
              </a:pathLst>
            </a:custGeom>
            <a:solidFill>
              <a:srgbClr val="29B974"/>
            </a:solidFill>
          </p:spPr>
          <p:txBody>
            <a:bodyPr wrap="square" lIns="0" tIns="0" rIns="0" bIns="0" rtlCol="0"/>
            <a:lstStyle/>
            <a:p>
              <a:endParaRPr/>
            </a:p>
          </p:txBody>
        </p:sp>
        <p:pic>
          <p:nvPicPr>
            <p:cNvPr id="53" name="object 53"/>
            <p:cNvPicPr/>
            <p:nvPr/>
          </p:nvPicPr>
          <p:blipFill>
            <a:blip r:embed="rId12" cstate="print"/>
            <a:stretch>
              <a:fillRect/>
            </a:stretch>
          </p:blipFill>
          <p:spPr>
            <a:xfrm>
              <a:off x="4253483" y="1978151"/>
              <a:ext cx="1005865" cy="1008888"/>
            </a:xfrm>
            <a:prstGeom prst="rect">
              <a:avLst/>
            </a:prstGeom>
          </p:spPr>
        </p:pic>
        <p:sp>
          <p:nvSpPr>
            <p:cNvPr id="54" name="object 54"/>
            <p:cNvSpPr/>
            <p:nvPr/>
          </p:nvSpPr>
          <p:spPr>
            <a:xfrm>
              <a:off x="4279391" y="2004059"/>
              <a:ext cx="904240" cy="906780"/>
            </a:xfrm>
            <a:custGeom>
              <a:avLst/>
              <a:gdLst/>
              <a:ahLst/>
              <a:cxnLst/>
              <a:rect l="l" t="t" r="r" b="b"/>
              <a:pathLst>
                <a:path w="904239" h="906780">
                  <a:moveTo>
                    <a:pt x="451866" y="0"/>
                  </a:moveTo>
                  <a:lnTo>
                    <a:pt x="402630" y="2659"/>
                  </a:lnTo>
                  <a:lnTo>
                    <a:pt x="354931" y="10455"/>
                  </a:lnTo>
                  <a:lnTo>
                    <a:pt x="309042" y="23109"/>
                  </a:lnTo>
                  <a:lnTo>
                    <a:pt x="265241" y="40347"/>
                  </a:lnTo>
                  <a:lnTo>
                    <a:pt x="223802" y="61891"/>
                  </a:lnTo>
                  <a:lnTo>
                    <a:pt x="185001" y="87465"/>
                  </a:lnTo>
                  <a:lnTo>
                    <a:pt x="149114" y="116793"/>
                  </a:lnTo>
                  <a:lnTo>
                    <a:pt x="116417" y="149598"/>
                  </a:lnTo>
                  <a:lnTo>
                    <a:pt x="87184" y="185604"/>
                  </a:lnTo>
                  <a:lnTo>
                    <a:pt x="61693" y="224535"/>
                  </a:lnTo>
                  <a:lnTo>
                    <a:pt x="40219" y="266115"/>
                  </a:lnTo>
                  <a:lnTo>
                    <a:pt x="23036" y="310066"/>
                  </a:lnTo>
                  <a:lnTo>
                    <a:pt x="10422" y="356114"/>
                  </a:lnTo>
                  <a:lnTo>
                    <a:pt x="2651" y="403980"/>
                  </a:lnTo>
                  <a:lnTo>
                    <a:pt x="0" y="453389"/>
                  </a:lnTo>
                  <a:lnTo>
                    <a:pt x="2651" y="502799"/>
                  </a:lnTo>
                  <a:lnTo>
                    <a:pt x="10422" y="550665"/>
                  </a:lnTo>
                  <a:lnTo>
                    <a:pt x="23036" y="596713"/>
                  </a:lnTo>
                  <a:lnTo>
                    <a:pt x="40219" y="640664"/>
                  </a:lnTo>
                  <a:lnTo>
                    <a:pt x="61693" y="682243"/>
                  </a:lnTo>
                  <a:lnTo>
                    <a:pt x="87184" y="721175"/>
                  </a:lnTo>
                  <a:lnTo>
                    <a:pt x="116417" y="757181"/>
                  </a:lnTo>
                  <a:lnTo>
                    <a:pt x="149114" y="789986"/>
                  </a:lnTo>
                  <a:lnTo>
                    <a:pt x="185001" y="819314"/>
                  </a:lnTo>
                  <a:lnTo>
                    <a:pt x="223802" y="844888"/>
                  </a:lnTo>
                  <a:lnTo>
                    <a:pt x="265241" y="866432"/>
                  </a:lnTo>
                  <a:lnTo>
                    <a:pt x="309042" y="883670"/>
                  </a:lnTo>
                  <a:lnTo>
                    <a:pt x="354931" y="896324"/>
                  </a:lnTo>
                  <a:lnTo>
                    <a:pt x="402630" y="904120"/>
                  </a:lnTo>
                  <a:lnTo>
                    <a:pt x="451866" y="906779"/>
                  </a:lnTo>
                  <a:lnTo>
                    <a:pt x="501101" y="904120"/>
                  </a:lnTo>
                  <a:lnTo>
                    <a:pt x="548800" y="896324"/>
                  </a:lnTo>
                  <a:lnTo>
                    <a:pt x="594689" y="883670"/>
                  </a:lnTo>
                  <a:lnTo>
                    <a:pt x="638490" y="866432"/>
                  </a:lnTo>
                  <a:lnTo>
                    <a:pt x="679929" y="844888"/>
                  </a:lnTo>
                  <a:lnTo>
                    <a:pt x="718730" y="819314"/>
                  </a:lnTo>
                  <a:lnTo>
                    <a:pt x="754617" y="789986"/>
                  </a:lnTo>
                  <a:lnTo>
                    <a:pt x="787314" y="757181"/>
                  </a:lnTo>
                  <a:lnTo>
                    <a:pt x="816547" y="721175"/>
                  </a:lnTo>
                  <a:lnTo>
                    <a:pt x="842038" y="682244"/>
                  </a:lnTo>
                  <a:lnTo>
                    <a:pt x="863512" y="640664"/>
                  </a:lnTo>
                  <a:lnTo>
                    <a:pt x="880695" y="596713"/>
                  </a:lnTo>
                  <a:lnTo>
                    <a:pt x="893309" y="550665"/>
                  </a:lnTo>
                  <a:lnTo>
                    <a:pt x="901080" y="502799"/>
                  </a:lnTo>
                  <a:lnTo>
                    <a:pt x="903732" y="453389"/>
                  </a:lnTo>
                  <a:lnTo>
                    <a:pt x="901080" y="403980"/>
                  </a:lnTo>
                  <a:lnTo>
                    <a:pt x="893309" y="356114"/>
                  </a:lnTo>
                  <a:lnTo>
                    <a:pt x="880695" y="310066"/>
                  </a:lnTo>
                  <a:lnTo>
                    <a:pt x="863512" y="266115"/>
                  </a:lnTo>
                  <a:lnTo>
                    <a:pt x="842038" y="224536"/>
                  </a:lnTo>
                  <a:lnTo>
                    <a:pt x="816547" y="185604"/>
                  </a:lnTo>
                  <a:lnTo>
                    <a:pt x="787314" y="149598"/>
                  </a:lnTo>
                  <a:lnTo>
                    <a:pt x="754617" y="116793"/>
                  </a:lnTo>
                  <a:lnTo>
                    <a:pt x="718730" y="87465"/>
                  </a:lnTo>
                  <a:lnTo>
                    <a:pt x="679929" y="61891"/>
                  </a:lnTo>
                  <a:lnTo>
                    <a:pt x="638490" y="40347"/>
                  </a:lnTo>
                  <a:lnTo>
                    <a:pt x="594689" y="23109"/>
                  </a:lnTo>
                  <a:lnTo>
                    <a:pt x="548800" y="10455"/>
                  </a:lnTo>
                  <a:lnTo>
                    <a:pt x="501101" y="2659"/>
                  </a:lnTo>
                  <a:lnTo>
                    <a:pt x="451866" y="0"/>
                  </a:lnTo>
                  <a:close/>
                </a:path>
              </a:pathLst>
            </a:custGeom>
            <a:solidFill>
              <a:srgbClr val="FFFFFF"/>
            </a:solidFill>
          </p:spPr>
          <p:txBody>
            <a:bodyPr wrap="square" lIns="0" tIns="0" rIns="0" bIns="0" rtlCol="0"/>
            <a:lstStyle/>
            <a:p>
              <a:endParaRPr/>
            </a:p>
          </p:txBody>
        </p:sp>
        <p:sp>
          <p:nvSpPr>
            <p:cNvPr id="55" name="object 55"/>
            <p:cNvSpPr/>
            <p:nvPr/>
          </p:nvSpPr>
          <p:spPr>
            <a:xfrm>
              <a:off x="4357115" y="2255519"/>
              <a:ext cx="826135" cy="655320"/>
            </a:xfrm>
            <a:custGeom>
              <a:avLst/>
              <a:gdLst/>
              <a:ahLst/>
              <a:cxnLst/>
              <a:rect l="l" t="t" r="r" b="b"/>
              <a:pathLst>
                <a:path w="826135" h="655319">
                  <a:moveTo>
                    <a:pt x="779780" y="0"/>
                  </a:moveTo>
                  <a:lnTo>
                    <a:pt x="795932" y="43475"/>
                  </a:lnTo>
                  <a:lnTo>
                    <a:pt x="807942" y="89011"/>
                  </a:lnTo>
                  <a:lnTo>
                    <a:pt x="815427" y="136427"/>
                  </a:lnTo>
                  <a:lnTo>
                    <a:pt x="818007" y="185546"/>
                  </a:lnTo>
                  <a:lnTo>
                    <a:pt x="815345" y="234871"/>
                  </a:lnTo>
                  <a:lnTo>
                    <a:pt x="807548" y="282682"/>
                  </a:lnTo>
                  <a:lnTo>
                    <a:pt x="794894" y="328701"/>
                  </a:lnTo>
                  <a:lnTo>
                    <a:pt x="777661" y="372647"/>
                  </a:lnTo>
                  <a:lnTo>
                    <a:pt x="756129" y="414241"/>
                  </a:lnTo>
                  <a:lnTo>
                    <a:pt x="730578" y="453202"/>
                  </a:lnTo>
                  <a:lnTo>
                    <a:pt x="701285" y="489250"/>
                  </a:lnTo>
                  <a:lnTo>
                    <a:pt x="668531" y="522106"/>
                  </a:lnTo>
                  <a:lnTo>
                    <a:pt x="632594" y="551489"/>
                  </a:lnTo>
                  <a:lnTo>
                    <a:pt x="593753" y="577120"/>
                  </a:lnTo>
                  <a:lnTo>
                    <a:pt x="552287" y="598719"/>
                  </a:lnTo>
                  <a:lnTo>
                    <a:pt x="508476" y="616005"/>
                  </a:lnTo>
                  <a:lnTo>
                    <a:pt x="462598" y="628699"/>
                  </a:lnTo>
                  <a:lnTo>
                    <a:pt x="414933" y="636521"/>
                  </a:lnTo>
                  <a:lnTo>
                    <a:pt x="365760" y="639190"/>
                  </a:lnTo>
                  <a:lnTo>
                    <a:pt x="316226" y="636544"/>
                  </a:lnTo>
                  <a:lnTo>
                    <a:pt x="268302" y="628784"/>
                  </a:lnTo>
                  <a:lnTo>
                    <a:pt x="222250" y="616175"/>
                  </a:lnTo>
                  <a:lnTo>
                    <a:pt x="178333" y="598985"/>
                  </a:lnTo>
                  <a:lnTo>
                    <a:pt x="136815" y="577481"/>
                  </a:lnTo>
                  <a:lnTo>
                    <a:pt x="97959" y="551927"/>
                  </a:lnTo>
                  <a:lnTo>
                    <a:pt x="62029" y="522592"/>
                  </a:lnTo>
                  <a:lnTo>
                    <a:pt x="29288" y="489742"/>
                  </a:lnTo>
                  <a:lnTo>
                    <a:pt x="0" y="453643"/>
                  </a:lnTo>
                  <a:lnTo>
                    <a:pt x="9745" y="469931"/>
                  </a:lnTo>
                  <a:lnTo>
                    <a:pt x="44196" y="514222"/>
                  </a:lnTo>
                  <a:lnTo>
                    <a:pt x="81547" y="549310"/>
                  </a:lnTo>
                  <a:lnTo>
                    <a:pt x="122695" y="580073"/>
                  </a:lnTo>
                  <a:lnTo>
                    <a:pt x="167253" y="606119"/>
                  </a:lnTo>
                  <a:lnTo>
                    <a:pt x="214835" y="627058"/>
                  </a:lnTo>
                  <a:lnTo>
                    <a:pt x="265053" y="642498"/>
                  </a:lnTo>
                  <a:lnTo>
                    <a:pt x="317522" y="652049"/>
                  </a:lnTo>
                  <a:lnTo>
                    <a:pt x="371856" y="655319"/>
                  </a:lnTo>
                  <a:lnTo>
                    <a:pt x="418353" y="652970"/>
                  </a:lnTo>
                  <a:lnTo>
                    <a:pt x="463493" y="646074"/>
                  </a:lnTo>
                  <a:lnTo>
                    <a:pt x="507049" y="634859"/>
                  </a:lnTo>
                  <a:lnTo>
                    <a:pt x="548794" y="619553"/>
                  </a:lnTo>
                  <a:lnTo>
                    <a:pt x="588502" y="600383"/>
                  </a:lnTo>
                  <a:lnTo>
                    <a:pt x="625945" y="577578"/>
                  </a:lnTo>
                  <a:lnTo>
                    <a:pt x="660898" y="551364"/>
                  </a:lnTo>
                  <a:lnTo>
                    <a:pt x="693134" y="521969"/>
                  </a:lnTo>
                  <a:lnTo>
                    <a:pt x="722426" y="489622"/>
                  </a:lnTo>
                  <a:lnTo>
                    <a:pt x="748547" y="454550"/>
                  </a:lnTo>
                  <a:lnTo>
                    <a:pt x="771271" y="416981"/>
                  </a:lnTo>
                  <a:lnTo>
                    <a:pt x="790372" y="377142"/>
                  </a:lnTo>
                  <a:lnTo>
                    <a:pt x="805623" y="335261"/>
                  </a:lnTo>
                  <a:lnTo>
                    <a:pt x="816797" y="291566"/>
                  </a:lnTo>
                  <a:lnTo>
                    <a:pt x="823667" y="246284"/>
                  </a:lnTo>
                  <a:lnTo>
                    <a:pt x="826008" y="199643"/>
                  </a:lnTo>
                  <a:lnTo>
                    <a:pt x="822749" y="147161"/>
                  </a:lnTo>
                  <a:lnTo>
                    <a:pt x="813466" y="96012"/>
                  </a:lnTo>
                  <a:lnTo>
                    <a:pt x="798897" y="46767"/>
                  </a:lnTo>
                  <a:lnTo>
                    <a:pt x="779780" y="0"/>
                  </a:lnTo>
                  <a:close/>
                </a:path>
              </a:pathLst>
            </a:custGeom>
            <a:solidFill>
              <a:srgbClr val="D7D9DD"/>
            </a:solidFill>
          </p:spPr>
          <p:txBody>
            <a:bodyPr wrap="square" lIns="0" tIns="0" rIns="0" bIns="0" rtlCol="0"/>
            <a:lstStyle/>
            <a:p>
              <a:endParaRPr/>
            </a:p>
          </p:txBody>
        </p:sp>
        <p:pic>
          <p:nvPicPr>
            <p:cNvPr id="56" name="object 56"/>
            <p:cNvPicPr/>
            <p:nvPr/>
          </p:nvPicPr>
          <p:blipFill>
            <a:blip r:embed="rId19" cstate="print"/>
            <a:stretch>
              <a:fillRect/>
            </a:stretch>
          </p:blipFill>
          <p:spPr>
            <a:xfrm>
              <a:off x="6259067" y="2656331"/>
              <a:ext cx="473963" cy="472439"/>
            </a:xfrm>
            <a:prstGeom prst="rect">
              <a:avLst/>
            </a:prstGeom>
          </p:spPr>
        </p:pic>
        <p:sp>
          <p:nvSpPr>
            <p:cNvPr id="57" name="object 57"/>
            <p:cNvSpPr/>
            <p:nvPr/>
          </p:nvSpPr>
          <p:spPr>
            <a:xfrm>
              <a:off x="6341363" y="1879091"/>
              <a:ext cx="1172210" cy="1169035"/>
            </a:xfrm>
            <a:custGeom>
              <a:avLst/>
              <a:gdLst/>
              <a:ahLst/>
              <a:cxnLst/>
              <a:rect l="l" t="t" r="r" b="b"/>
              <a:pathLst>
                <a:path w="1172209" h="1169035">
                  <a:moveTo>
                    <a:pt x="592963" y="0"/>
                  </a:moveTo>
                  <a:lnTo>
                    <a:pt x="544307" y="1963"/>
                  </a:lnTo>
                  <a:lnTo>
                    <a:pt x="496738" y="7752"/>
                  </a:lnTo>
                  <a:lnTo>
                    <a:pt x="450410" y="17214"/>
                  </a:lnTo>
                  <a:lnTo>
                    <a:pt x="405473" y="30196"/>
                  </a:lnTo>
                  <a:lnTo>
                    <a:pt x="362080" y="46547"/>
                  </a:lnTo>
                  <a:lnTo>
                    <a:pt x="320384" y="66114"/>
                  </a:lnTo>
                  <a:lnTo>
                    <a:pt x="280537" y="88745"/>
                  </a:lnTo>
                  <a:lnTo>
                    <a:pt x="242690" y="114287"/>
                  </a:lnTo>
                  <a:lnTo>
                    <a:pt x="206997" y="142589"/>
                  </a:lnTo>
                  <a:lnTo>
                    <a:pt x="173609" y="173497"/>
                  </a:lnTo>
                  <a:lnTo>
                    <a:pt x="142678" y="206860"/>
                  </a:lnTo>
                  <a:lnTo>
                    <a:pt x="114356" y="242526"/>
                  </a:lnTo>
                  <a:lnTo>
                    <a:pt x="88797" y="280341"/>
                  </a:lnTo>
                  <a:lnTo>
                    <a:pt x="66152" y="320154"/>
                  </a:lnTo>
                  <a:lnTo>
                    <a:pt x="46573" y="361813"/>
                  </a:lnTo>
                  <a:lnTo>
                    <a:pt x="30212" y="405164"/>
                  </a:lnTo>
                  <a:lnTo>
                    <a:pt x="17223" y="450056"/>
                  </a:lnTo>
                  <a:lnTo>
                    <a:pt x="7756" y="496337"/>
                  </a:lnTo>
                  <a:lnTo>
                    <a:pt x="1964" y="543854"/>
                  </a:lnTo>
                  <a:lnTo>
                    <a:pt x="0" y="592455"/>
                  </a:lnTo>
                  <a:lnTo>
                    <a:pt x="2056" y="642189"/>
                  </a:lnTo>
                  <a:lnTo>
                    <a:pt x="8114" y="690855"/>
                  </a:lnTo>
                  <a:lnTo>
                    <a:pt x="18010" y="738269"/>
                  </a:lnTo>
                  <a:lnTo>
                    <a:pt x="31578" y="784247"/>
                  </a:lnTo>
                  <a:lnTo>
                    <a:pt x="48652" y="828605"/>
                  </a:lnTo>
                  <a:lnTo>
                    <a:pt x="69069" y="871158"/>
                  </a:lnTo>
                  <a:lnTo>
                    <a:pt x="92662" y="911724"/>
                  </a:lnTo>
                  <a:lnTo>
                    <a:pt x="119266" y="950117"/>
                  </a:lnTo>
                  <a:lnTo>
                    <a:pt x="148716" y="986155"/>
                  </a:lnTo>
                  <a:lnTo>
                    <a:pt x="182590" y="1018584"/>
                  </a:lnTo>
                  <a:lnTo>
                    <a:pt x="218946" y="1048320"/>
                  </a:lnTo>
                  <a:lnTo>
                    <a:pt x="257618" y="1075195"/>
                  </a:lnTo>
                  <a:lnTo>
                    <a:pt x="298436" y="1099038"/>
                  </a:lnTo>
                  <a:lnTo>
                    <a:pt x="341233" y="1119679"/>
                  </a:lnTo>
                  <a:lnTo>
                    <a:pt x="385839" y="1136948"/>
                  </a:lnTo>
                  <a:lnTo>
                    <a:pt x="432086" y="1150676"/>
                  </a:lnTo>
                  <a:lnTo>
                    <a:pt x="479807" y="1160691"/>
                  </a:lnTo>
                  <a:lnTo>
                    <a:pt x="528831" y="1166825"/>
                  </a:lnTo>
                  <a:lnTo>
                    <a:pt x="578992" y="1168908"/>
                  </a:lnTo>
                  <a:lnTo>
                    <a:pt x="627648" y="1166944"/>
                  </a:lnTo>
                  <a:lnTo>
                    <a:pt x="675217" y="1161155"/>
                  </a:lnTo>
                  <a:lnTo>
                    <a:pt x="721545" y="1151693"/>
                  </a:lnTo>
                  <a:lnTo>
                    <a:pt x="766482" y="1138711"/>
                  </a:lnTo>
                  <a:lnTo>
                    <a:pt x="809875" y="1122360"/>
                  </a:lnTo>
                  <a:lnTo>
                    <a:pt x="851571" y="1102793"/>
                  </a:lnTo>
                  <a:lnTo>
                    <a:pt x="891418" y="1080162"/>
                  </a:lnTo>
                  <a:lnTo>
                    <a:pt x="929265" y="1054620"/>
                  </a:lnTo>
                  <a:lnTo>
                    <a:pt x="964958" y="1026318"/>
                  </a:lnTo>
                  <a:lnTo>
                    <a:pt x="998346" y="995410"/>
                  </a:lnTo>
                  <a:lnTo>
                    <a:pt x="1029277" y="962047"/>
                  </a:lnTo>
                  <a:lnTo>
                    <a:pt x="1057599" y="926381"/>
                  </a:lnTo>
                  <a:lnTo>
                    <a:pt x="1083158" y="888566"/>
                  </a:lnTo>
                  <a:lnTo>
                    <a:pt x="1105803" y="848753"/>
                  </a:lnTo>
                  <a:lnTo>
                    <a:pt x="1125382" y="807094"/>
                  </a:lnTo>
                  <a:lnTo>
                    <a:pt x="1141743" y="763743"/>
                  </a:lnTo>
                  <a:lnTo>
                    <a:pt x="1154732" y="718851"/>
                  </a:lnTo>
                  <a:lnTo>
                    <a:pt x="1164199" y="672570"/>
                  </a:lnTo>
                  <a:lnTo>
                    <a:pt x="1169991" y="625053"/>
                  </a:lnTo>
                  <a:lnTo>
                    <a:pt x="1171956" y="576453"/>
                  </a:lnTo>
                  <a:lnTo>
                    <a:pt x="1169899" y="526788"/>
                  </a:lnTo>
                  <a:lnTo>
                    <a:pt x="1163841" y="478308"/>
                  </a:lnTo>
                  <a:lnTo>
                    <a:pt x="1153945" y="431165"/>
                  </a:lnTo>
                  <a:lnTo>
                    <a:pt x="1140377" y="385507"/>
                  </a:lnTo>
                  <a:lnTo>
                    <a:pt x="1123303" y="341487"/>
                  </a:lnTo>
                  <a:lnTo>
                    <a:pt x="1102886" y="299254"/>
                  </a:lnTo>
                  <a:lnTo>
                    <a:pt x="1079293" y="258959"/>
                  </a:lnTo>
                  <a:lnTo>
                    <a:pt x="1052689" y="220752"/>
                  </a:lnTo>
                  <a:lnTo>
                    <a:pt x="1023238" y="184785"/>
                  </a:lnTo>
                  <a:lnTo>
                    <a:pt x="989365" y="151805"/>
                  </a:lnTo>
                  <a:lnTo>
                    <a:pt x="953009" y="121627"/>
                  </a:lnTo>
                  <a:lnTo>
                    <a:pt x="914337" y="94409"/>
                  </a:lnTo>
                  <a:lnTo>
                    <a:pt x="873519" y="70308"/>
                  </a:lnTo>
                  <a:lnTo>
                    <a:pt x="830722" y="49482"/>
                  </a:lnTo>
                  <a:lnTo>
                    <a:pt x="786116" y="32089"/>
                  </a:lnTo>
                  <a:lnTo>
                    <a:pt x="739869" y="18286"/>
                  </a:lnTo>
                  <a:lnTo>
                    <a:pt x="692148" y="8232"/>
                  </a:lnTo>
                  <a:lnTo>
                    <a:pt x="643124" y="2084"/>
                  </a:lnTo>
                  <a:lnTo>
                    <a:pt x="592963" y="0"/>
                  </a:lnTo>
                  <a:close/>
                </a:path>
              </a:pathLst>
            </a:custGeom>
            <a:solidFill>
              <a:srgbClr val="29B974"/>
            </a:solidFill>
          </p:spPr>
          <p:txBody>
            <a:bodyPr wrap="square" lIns="0" tIns="0" rIns="0" bIns="0" rtlCol="0"/>
            <a:lstStyle/>
            <a:p>
              <a:endParaRPr/>
            </a:p>
          </p:txBody>
        </p:sp>
        <p:pic>
          <p:nvPicPr>
            <p:cNvPr id="58" name="object 58"/>
            <p:cNvPicPr/>
            <p:nvPr/>
          </p:nvPicPr>
          <p:blipFill>
            <a:blip r:embed="rId12" cstate="print"/>
            <a:stretch>
              <a:fillRect/>
            </a:stretch>
          </p:blipFill>
          <p:spPr>
            <a:xfrm>
              <a:off x="6443472" y="1979675"/>
              <a:ext cx="1005865" cy="1008888"/>
            </a:xfrm>
            <a:prstGeom prst="rect">
              <a:avLst/>
            </a:prstGeom>
          </p:spPr>
        </p:pic>
        <p:sp>
          <p:nvSpPr>
            <p:cNvPr id="59" name="object 59"/>
            <p:cNvSpPr/>
            <p:nvPr/>
          </p:nvSpPr>
          <p:spPr>
            <a:xfrm>
              <a:off x="6469379" y="2005583"/>
              <a:ext cx="904240" cy="906780"/>
            </a:xfrm>
            <a:custGeom>
              <a:avLst/>
              <a:gdLst/>
              <a:ahLst/>
              <a:cxnLst/>
              <a:rect l="l" t="t" r="r" b="b"/>
              <a:pathLst>
                <a:path w="904240" h="906780">
                  <a:moveTo>
                    <a:pt x="451866" y="0"/>
                  </a:moveTo>
                  <a:lnTo>
                    <a:pt x="402630" y="2659"/>
                  </a:lnTo>
                  <a:lnTo>
                    <a:pt x="354931" y="10455"/>
                  </a:lnTo>
                  <a:lnTo>
                    <a:pt x="309042" y="23109"/>
                  </a:lnTo>
                  <a:lnTo>
                    <a:pt x="265241" y="40347"/>
                  </a:lnTo>
                  <a:lnTo>
                    <a:pt x="223802" y="61891"/>
                  </a:lnTo>
                  <a:lnTo>
                    <a:pt x="185001" y="87465"/>
                  </a:lnTo>
                  <a:lnTo>
                    <a:pt x="149114" y="116793"/>
                  </a:lnTo>
                  <a:lnTo>
                    <a:pt x="116417" y="149598"/>
                  </a:lnTo>
                  <a:lnTo>
                    <a:pt x="87184" y="185604"/>
                  </a:lnTo>
                  <a:lnTo>
                    <a:pt x="61693" y="224535"/>
                  </a:lnTo>
                  <a:lnTo>
                    <a:pt x="40219" y="266115"/>
                  </a:lnTo>
                  <a:lnTo>
                    <a:pt x="23036" y="310066"/>
                  </a:lnTo>
                  <a:lnTo>
                    <a:pt x="10422" y="356114"/>
                  </a:lnTo>
                  <a:lnTo>
                    <a:pt x="2651" y="403980"/>
                  </a:lnTo>
                  <a:lnTo>
                    <a:pt x="0" y="453389"/>
                  </a:lnTo>
                  <a:lnTo>
                    <a:pt x="2651" y="502799"/>
                  </a:lnTo>
                  <a:lnTo>
                    <a:pt x="10422" y="550665"/>
                  </a:lnTo>
                  <a:lnTo>
                    <a:pt x="23036" y="596713"/>
                  </a:lnTo>
                  <a:lnTo>
                    <a:pt x="40219" y="640664"/>
                  </a:lnTo>
                  <a:lnTo>
                    <a:pt x="61693" y="682243"/>
                  </a:lnTo>
                  <a:lnTo>
                    <a:pt x="87184" y="721175"/>
                  </a:lnTo>
                  <a:lnTo>
                    <a:pt x="116417" y="757181"/>
                  </a:lnTo>
                  <a:lnTo>
                    <a:pt x="149114" y="789986"/>
                  </a:lnTo>
                  <a:lnTo>
                    <a:pt x="185001" y="819314"/>
                  </a:lnTo>
                  <a:lnTo>
                    <a:pt x="223802" y="844888"/>
                  </a:lnTo>
                  <a:lnTo>
                    <a:pt x="265241" y="866432"/>
                  </a:lnTo>
                  <a:lnTo>
                    <a:pt x="309042" y="883670"/>
                  </a:lnTo>
                  <a:lnTo>
                    <a:pt x="354931" y="896324"/>
                  </a:lnTo>
                  <a:lnTo>
                    <a:pt x="402630" y="904120"/>
                  </a:lnTo>
                  <a:lnTo>
                    <a:pt x="451866" y="906779"/>
                  </a:lnTo>
                  <a:lnTo>
                    <a:pt x="501101" y="904120"/>
                  </a:lnTo>
                  <a:lnTo>
                    <a:pt x="548800" y="896324"/>
                  </a:lnTo>
                  <a:lnTo>
                    <a:pt x="594689" y="883670"/>
                  </a:lnTo>
                  <a:lnTo>
                    <a:pt x="638490" y="866432"/>
                  </a:lnTo>
                  <a:lnTo>
                    <a:pt x="679929" y="844888"/>
                  </a:lnTo>
                  <a:lnTo>
                    <a:pt x="718730" y="819314"/>
                  </a:lnTo>
                  <a:lnTo>
                    <a:pt x="754617" y="789986"/>
                  </a:lnTo>
                  <a:lnTo>
                    <a:pt x="787314" y="757181"/>
                  </a:lnTo>
                  <a:lnTo>
                    <a:pt x="816547" y="721175"/>
                  </a:lnTo>
                  <a:lnTo>
                    <a:pt x="842038" y="682243"/>
                  </a:lnTo>
                  <a:lnTo>
                    <a:pt x="863512" y="640664"/>
                  </a:lnTo>
                  <a:lnTo>
                    <a:pt x="880695" y="596713"/>
                  </a:lnTo>
                  <a:lnTo>
                    <a:pt x="893309" y="550665"/>
                  </a:lnTo>
                  <a:lnTo>
                    <a:pt x="901080" y="502799"/>
                  </a:lnTo>
                  <a:lnTo>
                    <a:pt x="903731" y="453389"/>
                  </a:lnTo>
                  <a:lnTo>
                    <a:pt x="901080" y="403980"/>
                  </a:lnTo>
                  <a:lnTo>
                    <a:pt x="893309" y="356114"/>
                  </a:lnTo>
                  <a:lnTo>
                    <a:pt x="880695" y="310066"/>
                  </a:lnTo>
                  <a:lnTo>
                    <a:pt x="863512" y="266115"/>
                  </a:lnTo>
                  <a:lnTo>
                    <a:pt x="842038" y="224536"/>
                  </a:lnTo>
                  <a:lnTo>
                    <a:pt x="816547" y="185604"/>
                  </a:lnTo>
                  <a:lnTo>
                    <a:pt x="787314" y="149598"/>
                  </a:lnTo>
                  <a:lnTo>
                    <a:pt x="754617" y="116793"/>
                  </a:lnTo>
                  <a:lnTo>
                    <a:pt x="718730" y="87465"/>
                  </a:lnTo>
                  <a:lnTo>
                    <a:pt x="679929" y="61891"/>
                  </a:lnTo>
                  <a:lnTo>
                    <a:pt x="638490" y="40347"/>
                  </a:lnTo>
                  <a:lnTo>
                    <a:pt x="594689" y="23109"/>
                  </a:lnTo>
                  <a:lnTo>
                    <a:pt x="548800" y="10455"/>
                  </a:lnTo>
                  <a:lnTo>
                    <a:pt x="501101" y="2659"/>
                  </a:lnTo>
                  <a:lnTo>
                    <a:pt x="451866" y="0"/>
                  </a:lnTo>
                  <a:close/>
                </a:path>
              </a:pathLst>
            </a:custGeom>
            <a:solidFill>
              <a:srgbClr val="FFFFFF"/>
            </a:solidFill>
          </p:spPr>
          <p:txBody>
            <a:bodyPr wrap="square" lIns="0" tIns="0" rIns="0" bIns="0" rtlCol="0"/>
            <a:lstStyle/>
            <a:p>
              <a:endParaRPr/>
            </a:p>
          </p:txBody>
        </p:sp>
        <p:sp>
          <p:nvSpPr>
            <p:cNvPr id="60" name="object 60"/>
            <p:cNvSpPr/>
            <p:nvPr/>
          </p:nvSpPr>
          <p:spPr>
            <a:xfrm>
              <a:off x="6550151" y="2257043"/>
              <a:ext cx="822960" cy="655320"/>
            </a:xfrm>
            <a:custGeom>
              <a:avLst/>
              <a:gdLst/>
              <a:ahLst/>
              <a:cxnLst/>
              <a:rect l="l" t="t" r="r" b="b"/>
              <a:pathLst>
                <a:path w="822959" h="655319">
                  <a:moveTo>
                    <a:pt x="776858" y="0"/>
                  </a:moveTo>
                  <a:lnTo>
                    <a:pt x="794113" y="43475"/>
                  </a:lnTo>
                  <a:lnTo>
                    <a:pt x="806688" y="89011"/>
                  </a:lnTo>
                  <a:lnTo>
                    <a:pt x="814381" y="136427"/>
                  </a:lnTo>
                  <a:lnTo>
                    <a:pt x="816991" y="185546"/>
                  </a:lnTo>
                  <a:lnTo>
                    <a:pt x="814339" y="234871"/>
                  </a:lnTo>
                  <a:lnTo>
                    <a:pt x="806566" y="282682"/>
                  </a:lnTo>
                  <a:lnTo>
                    <a:pt x="793948" y="328701"/>
                  </a:lnTo>
                  <a:lnTo>
                    <a:pt x="776757" y="372647"/>
                  </a:lnTo>
                  <a:lnTo>
                    <a:pt x="755269" y="414241"/>
                  </a:lnTo>
                  <a:lnTo>
                    <a:pt x="729757" y="453202"/>
                  </a:lnTo>
                  <a:lnTo>
                    <a:pt x="700496" y="489250"/>
                  </a:lnTo>
                  <a:lnTo>
                    <a:pt x="667760" y="522106"/>
                  </a:lnTo>
                  <a:lnTo>
                    <a:pt x="631825" y="551489"/>
                  </a:lnTo>
                  <a:lnTo>
                    <a:pt x="592963" y="577120"/>
                  </a:lnTo>
                  <a:lnTo>
                    <a:pt x="551449" y="598719"/>
                  </a:lnTo>
                  <a:lnTo>
                    <a:pt x="507558" y="616005"/>
                  </a:lnTo>
                  <a:lnTo>
                    <a:pt x="461563" y="628699"/>
                  </a:lnTo>
                  <a:lnTo>
                    <a:pt x="413740" y="636521"/>
                  </a:lnTo>
                  <a:lnTo>
                    <a:pt x="364363" y="639190"/>
                  </a:lnTo>
                  <a:lnTo>
                    <a:pt x="315032" y="636544"/>
                  </a:lnTo>
                  <a:lnTo>
                    <a:pt x="267293" y="628784"/>
                  </a:lnTo>
                  <a:lnTo>
                    <a:pt x="221412" y="616175"/>
                  </a:lnTo>
                  <a:lnTo>
                    <a:pt x="177654" y="598985"/>
                  </a:lnTo>
                  <a:lnTo>
                    <a:pt x="136284" y="577481"/>
                  </a:lnTo>
                  <a:lnTo>
                    <a:pt x="97568" y="551927"/>
                  </a:lnTo>
                  <a:lnTo>
                    <a:pt x="61772" y="522592"/>
                  </a:lnTo>
                  <a:lnTo>
                    <a:pt x="29161" y="489742"/>
                  </a:lnTo>
                  <a:lnTo>
                    <a:pt x="0" y="453643"/>
                  </a:lnTo>
                  <a:lnTo>
                    <a:pt x="10560" y="468788"/>
                  </a:lnTo>
                  <a:lnTo>
                    <a:pt x="46100" y="514222"/>
                  </a:lnTo>
                  <a:lnTo>
                    <a:pt x="83288" y="549310"/>
                  </a:lnTo>
                  <a:lnTo>
                    <a:pt x="124270" y="580073"/>
                  </a:lnTo>
                  <a:lnTo>
                    <a:pt x="168658" y="606119"/>
                  </a:lnTo>
                  <a:lnTo>
                    <a:pt x="216063" y="627058"/>
                  </a:lnTo>
                  <a:lnTo>
                    <a:pt x="266096" y="642498"/>
                  </a:lnTo>
                  <a:lnTo>
                    <a:pt x="318368" y="652049"/>
                  </a:lnTo>
                  <a:lnTo>
                    <a:pt x="372491" y="655319"/>
                  </a:lnTo>
                  <a:lnTo>
                    <a:pt x="421487" y="652649"/>
                  </a:lnTo>
                  <a:lnTo>
                    <a:pt x="468976" y="644824"/>
                  </a:lnTo>
                  <a:lnTo>
                    <a:pt x="514681" y="632118"/>
                  </a:lnTo>
                  <a:lnTo>
                    <a:pt x="558324" y="614810"/>
                  </a:lnTo>
                  <a:lnTo>
                    <a:pt x="599628" y="593174"/>
                  </a:lnTo>
                  <a:lnTo>
                    <a:pt x="638315" y="567488"/>
                  </a:lnTo>
                  <a:lnTo>
                    <a:pt x="674108" y="538028"/>
                  </a:lnTo>
                  <a:lnTo>
                    <a:pt x="706729" y="505071"/>
                  </a:lnTo>
                  <a:lnTo>
                    <a:pt x="735900" y="468892"/>
                  </a:lnTo>
                  <a:lnTo>
                    <a:pt x="761346" y="429767"/>
                  </a:lnTo>
                  <a:lnTo>
                    <a:pt x="782787" y="387975"/>
                  </a:lnTo>
                  <a:lnTo>
                    <a:pt x="799946" y="343790"/>
                  </a:lnTo>
                  <a:lnTo>
                    <a:pt x="812546" y="297488"/>
                  </a:lnTo>
                  <a:lnTo>
                    <a:pt x="820310" y="249348"/>
                  </a:lnTo>
                  <a:lnTo>
                    <a:pt x="822959" y="199643"/>
                  </a:lnTo>
                  <a:lnTo>
                    <a:pt x="819989" y="147161"/>
                  </a:lnTo>
                  <a:lnTo>
                    <a:pt x="811196" y="96012"/>
                  </a:lnTo>
                  <a:lnTo>
                    <a:pt x="796760" y="46767"/>
                  </a:lnTo>
                  <a:lnTo>
                    <a:pt x="776858" y="0"/>
                  </a:lnTo>
                  <a:close/>
                </a:path>
              </a:pathLst>
            </a:custGeom>
            <a:solidFill>
              <a:srgbClr val="D7D9DD"/>
            </a:solidFill>
          </p:spPr>
          <p:txBody>
            <a:bodyPr wrap="square" lIns="0" tIns="0" rIns="0" bIns="0" rtlCol="0"/>
            <a:lstStyle/>
            <a:p>
              <a:endParaRPr/>
            </a:p>
          </p:txBody>
        </p:sp>
        <p:sp>
          <p:nvSpPr>
            <p:cNvPr id="61" name="object 61"/>
            <p:cNvSpPr/>
            <p:nvPr/>
          </p:nvSpPr>
          <p:spPr>
            <a:xfrm>
              <a:off x="6778751" y="2185415"/>
              <a:ext cx="295910" cy="533400"/>
            </a:xfrm>
            <a:custGeom>
              <a:avLst/>
              <a:gdLst/>
              <a:ahLst/>
              <a:cxnLst/>
              <a:rect l="l" t="t" r="r" b="b"/>
              <a:pathLst>
                <a:path w="295909" h="533400">
                  <a:moveTo>
                    <a:pt x="281141" y="113919"/>
                  </a:moveTo>
                  <a:lnTo>
                    <a:pt x="78231" y="113919"/>
                  </a:lnTo>
                  <a:lnTo>
                    <a:pt x="140866" y="128696"/>
                  </a:lnTo>
                  <a:lnTo>
                    <a:pt x="192595" y="162131"/>
                  </a:lnTo>
                  <a:lnTo>
                    <a:pt x="252095" y="217297"/>
                  </a:lnTo>
                  <a:lnTo>
                    <a:pt x="264848" y="218668"/>
                  </a:lnTo>
                  <a:lnTo>
                    <a:pt x="279161" y="213883"/>
                  </a:lnTo>
                  <a:lnTo>
                    <a:pt x="290831" y="207599"/>
                  </a:lnTo>
                  <a:lnTo>
                    <a:pt x="295655" y="204470"/>
                  </a:lnTo>
                  <a:lnTo>
                    <a:pt x="290423" y="195421"/>
                  </a:lnTo>
                  <a:lnTo>
                    <a:pt x="287131" y="186944"/>
                  </a:lnTo>
                  <a:lnTo>
                    <a:pt x="285596" y="179641"/>
                  </a:lnTo>
                  <a:lnTo>
                    <a:pt x="285517" y="178831"/>
                  </a:lnTo>
                  <a:lnTo>
                    <a:pt x="285369" y="172847"/>
                  </a:lnTo>
                  <a:lnTo>
                    <a:pt x="285896" y="166241"/>
                  </a:lnTo>
                  <a:lnTo>
                    <a:pt x="286017" y="161424"/>
                  </a:lnTo>
                  <a:lnTo>
                    <a:pt x="286003" y="145542"/>
                  </a:lnTo>
                  <a:lnTo>
                    <a:pt x="281141" y="113919"/>
                  </a:lnTo>
                  <a:close/>
                </a:path>
                <a:path w="295909" h="533400">
                  <a:moveTo>
                    <a:pt x="143001" y="0"/>
                  </a:moveTo>
                  <a:lnTo>
                    <a:pt x="97113" y="7406"/>
                  </a:lnTo>
                  <a:lnTo>
                    <a:pt x="57771" y="28041"/>
                  </a:lnTo>
                  <a:lnTo>
                    <a:pt x="27074" y="59527"/>
                  </a:lnTo>
                  <a:lnTo>
                    <a:pt x="7118" y="99486"/>
                  </a:lnTo>
                  <a:lnTo>
                    <a:pt x="0" y="145542"/>
                  </a:lnTo>
                  <a:lnTo>
                    <a:pt x="535" y="161424"/>
                  </a:lnTo>
                  <a:lnTo>
                    <a:pt x="2095" y="179641"/>
                  </a:lnTo>
                  <a:lnTo>
                    <a:pt x="4607" y="195762"/>
                  </a:lnTo>
                  <a:lnTo>
                    <a:pt x="8000" y="205359"/>
                  </a:lnTo>
                  <a:lnTo>
                    <a:pt x="17081" y="201543"/>
                  </a:lnTo>
                  <a:lnTo>
                    <a:pt x="26352" y="178831"/>
                  </a:lnTo>
                  <a:lnTo>
                    <a:pt x="40576" y="148619"/>
                  </a:lnTo>
                  <a:lnTo>
                    <a:pt x="64516" y="122300"/>
                  </a:lnTo>
                  <a:lnTo>
                    <a:pt x="68579" y="119380"/>
                  </a:lnTo>
                  <a:lnTo>
                    <a:pt x="78231" y="113919"/>
                  </a:lnTo>
                  <a:lnTo>
                    <a:pt x="281141" y="113919"/>
                  </a:lnTo>
                  <a:lnTo>
                    <a:pt x="278922" y="99486"/>
                  </a:lnTo>
                  <a:lnTo>
                    <a:pt x="259039" y="59527"/>
                  </a:lnTo>
                  <a:lnTo>
                    <a:pt x="228396" y="28041"/>
                  </a:lnTo>
                  <a:lnTo>
                    <a:pt x="189036" y="7406"/>
                  </a:lnTo>
                  <a:lnTo>
                    <a:pt x="143001" y="0"/>
                  </a:lnTo>
                  <a:close/>
                </a:path>
                <a:path w="295909" h="533400">
                  <a:moveTo>
                    <a:pt x="143001" y="423925"/>
                  </a:moveTo>
                  <a:lnTo>
                    <a:pt x="111887" y="430657"/>
                  </a:lnTo>
                  <a:lnTo>
                    <a:pt x="112902" y="432688"/>
                  </a:lnTo>
                  <a:lnTo>
                    <a:pt x="129286" y="463931"/>
                  </a:lnTo>
                  <a:lnTo>
                    <a:pt x="129921" y="465455"/>
                  </a:lnTo>
                  <a:lnTo>
                    <a:pt x="129540" y="466471"/>
                  </a:lnTo>
                  <a:lnTo>
                    <a:pt x="129540" y="533400"/>
                  </a:lnTo>
                  <a:lnTo>
                    <a:pt x="154940" y="533400"/>
                  </a:lnTo>
                  <a:lnTo>
                    <a:pt x="154940" y="466089"/>
                  </a:lnTo>
                  <a:lnTo>
                    <a:pt x="154558" y="465455"/>
                  </a:lnTo>
                  <a:lnTo>
                    <a:pt x="154558" y="464566"/>
                  </a:lnTo>
                  <a:lnTo>
                    <a:pt x="155194" y="463550"/>
                  </a:lnTo>
                  <a:lnTo>
                    <a:pt x="171576" y="432688"/>
                  </a:lnTo>
                  <a:lnTo>
                    <a:pt x="172466" y="430657"/>
                  </a:lnTo>
                  <a:lnTo>
                    <a:pt x="171576" y="428498"/>
                  </a:lnTo>
                  <a:lnTo>
                    <a:pt x="169925" y="428117"/>
                  </a:lnTo>
                  <a:lnTo>
                    <a:pt x="164611" y="426765"/>
                  </a:lnTo>
                  <a:lnTo>
                    <a:pt x="157797" y="425402"/>
                  </a:lnTo>
                  <a:lnTo>
                    <a:pt x="150316" y="424348"/>
                  </a:lnTo>
                  <a:lnTo>
                    <a:pt x="143001" y="423925"/>
                  </a:lnTo>
                  <a:close/>
                </a:path>
              </a:pathLst>
            </a:custGeom>
            <a:solidFill>
              <a:srgbClr val="29B974"/>
            </a:solidFill>
          </p:spPr>
          <p:txBody>
            <a:bodyPr wrap="square" lIns="0" tIns="0" rIns="0" bIns="0" rtlCol="0"/>
            <a:lstStyle/>
            <a:p>
              <a:endParaRPr/>
            </a:p>
          </p:txBody>
        </p:sp>
        <p:sp>
          <p:nvSpPr>
            <p:cNvPr id="62" name="object 62"/>
            <p:cNvSpPr/>
            <p:nvPr/>
          </p:nvSpPr>
          <p:spPr>
            <a:xfrm>
              <a:off x="6630923" y="2397251"/>
              <a:ext cx="581025" cy="321945"/>
            </a:xfrm>
            <a:custGeom>
              <a:avLst/>
              <a:gdLst/>
              <a:ahLst/>
              <a:cxnLst/>
              <a:rect l="l" t="t" r="r" b="b"/>
              <a:pathLst>
                <a:path w="581025" h="321944">
                  <a:moveTo>
                    <a:pt x="196469" y="188340"/>
                  </a:moveTo>
                  <a:lnTo>
                    <a:pt x="150495" y="191388"/>
                  </a:lnTo>
                  <a:lnTo>
                    <a:pt x="109672" y="197770"/>
                  </a:lnTo>
                  <a:lnTo>
                    <a:pt x="71754" y="209676"/>
                  </a:lnTo>
                  <a:lnTo>
                    <a:pt x="26797" y="257889"/>
                  </a:lnTo>
                  <a:lnTo>
                    <a:pt x="1650" y="311912"/>
                  </a:lnTo>
                  <a:lnTo>
                    <a:pt x="0" y="316357"/>
                  </a:lnTo>
                  <a:lnTo>
                    <a:pt x="3175" y="321563"/>
                  </a:lnTo>
                  <a:lnTo>
                    <a:pt x="267843" y="321563"/>
                  </a:lnTo>
                  <a:lnTo>
                    <a:pt x="212471" y="236093"/>
                  </a:lnTo>
                  <a:lnTo>
                    <a:pt x="166877" y="236093"/>
                  </a:lnTo>
                  <a:lnTo>
                    <a:pt x="196469" y="188340"/>
                  </a:lnTo>
                  <a:close/>
                </a:path>
                <a:path w="581025" h="321944">
                  <a:moveTo>
                    <a:pt x="384175" y="188340"/>
                  </a:moveTo>
                  <a:lnTo>
                    <a:pt x="413766" y="236093"/>
                  </a:lnTo>
                  <a:lnTo>
                    <a:pt x="368173" y="236093"/>
                  </a:lnTo>
                  <a:lnTo>
                    <a:pt x="312800" y="321563"/>
                  </a:lnTo>
                  <a:lnTo>
                    <a:pt x="577469" y="321563"/>
                  </a:lnTo>
                  <a:lnTo>
                    <a:pt x="580644" y="316357"/>
                  </a:lnTo>
                  <a:lnTo>
                    <a:pt x="553847" y="257889"/>
                  </a:lnTo>
                  <a:lnTo>
                    <a:pt x="508889" y="209676"/>
                  </a:lnTo>
                  <a:lnTo>
                    <a:pt x="470971" y="197770"/>
                  </a:lnTo>
                  <a:lnTo>
                    <a:pt x="430149" y="191388"/>
                  </a:lnTo>
                  <a:lnTo>
                    <a:pt x="397517" y="188817"/>
                  </a:lnTo>
                  <a:lnTo>
                    <a:pt x="384175" y="188340"/>
                  </a:lnTo>
                  <a:close/>
                </a:path>
                <a:path w="581025" h="321944">
                  <a:moveTo>
                    <a:pt x="144652" y="0"/>
                  </a:moveTo>
                  <a:lnTo>
                    <a:pt x="145797" y="9913"/>
                  </a:lnTo>
                  <a:lnTo>
                    <a:pt x="149240" y="22351"/>
                  </a:lnTo>
                  <a:lnTo>
                    <a:pt x="155850" y="34504"/>
                  </a:lnTo>
                  <a:lnTo>
                    <a:pt x="166497" y="43561"/>
                  </a:lnTo>
                  <a:lnTo>
                    <a:pt x="175043" y="64775"/>
                  </a:lnTo>
                  <a:lnTo>
                    <a:pt x="187531" y="93741"/>
                  </a:lnTo>
                  <a:lnTo>
                    <a:pt x="201090" y="121302"/>
                  </a:lnTo>
                  <a:lnTo>
                    <a:pt x="213105" y="138684"/>
                  </a:lnTo>
                  <a:lnTo>
                    <a:pt x="213741" y="139064"/>
                  </a:lnTo>
                  <a:lnTo>
                    <a:pt x="214122" y="139319"/>
                  </a:lnTo>
                  <a:lnTo>
                    <a:pt x="214122" y="184531"/>
                  </a:lnTo>
                  <a:lnTo>
                    <a:pt x="217931" y="187706"/>
                  </a:lnTo>
                  <a:lnTo>
                    <a:pt x="222757" y="191643"/>
                  </a:lnTo>
                  <a:lnTo>
                    <a:pt x="228219" y="196469"/>
                  </a:lnTo>
                  <a:lnTo>
                    <a:pt x="228219" y="149987"/>
                  </a:lnTo>
                  <a:lnTo>
                    <a:pt x="255881" y="149987"/>
                  </a:lnTo>
                  <a:lnTo>
                    <a:pt x="254126" y="149177"/>
                  </a:lnTo>
                  <a:lnTo>
                    <a:pt x="222123" y="127762"/>
                  </a:lnTo>
                  <a:lnTo>
                    <a:pt x="201802" y="90598"/>
                  </a:lnTo>
                  <a:lnTo>
                    <a:pt x="178816" y="35813"/>
                  </a:lnTo>
                  <a:lnTo>
                    <a:pt x="177800" y="33909"/>
                  </a:lnTo>
                  <a:lnTo>
                    <a:pt x="176149" y="32258"/>
                  </a:lnTo>
                  <a:lnTo>
                    <a:pt x="174244" y="31623"/>
                  </a:lnTo>
                  <a:lnTo>
                    <a:pt x="168713" y="27866"/>
                  </a:lnTo>
                  <a:lnTo>
                    <a:pt x="164576" y="22145"/>
                  </a:lnTo>
                  <a:lnTo>
                    <a:pt x="161653" y="15353"/>
                  </a:lnTo>
                  <a:lnTo>
                    <a:pt x="159766" y="8382"/>
                  </a:lnTo>
                  <a:lnTo>
                    <a:pt x="155575" y="8382"/>
                  </a:lnTo>
                  <a:lnTo>
                    <a:pt x="153416" y="7747"/>
                  </a:lnTo>
                  <a:lnTo>
                    <a:pt x="152653" y="7747"/>
                  </a:lnTo>
                  <a:lnTo>
                    <a:pt x="152400" y="7365"/>
                  </a:lnTo>
                  <a:lnTo>
                    <a:pt x="151129" y="7112"/>
                  </a:lnTo>
                  <a:lnTo>
                    <a:pt x="150114" y="6476"/>
                  </a:lnTo>
                  <a:lnTo>
                    <a:pt x="148844" y="5842"/>
                  </a:lnTo>
                  <a:lnTo>
                    <a:pt x="148208" y="5207"/>
                  </a:lnTo>
                  <a:lnTo>
                    <a:pt x="147193" y="4572"/>
                  </a:lnTo>
                  <a:lnTo>
                    <a:pt x="146557" y="3556"/>
                  </a:lnTo>
                  <a:lnTo>
                    <a:pt x="145287" y="1015"/>
                  </a:lnTo>
                  <a:lnTo>
                    <a:pt x="144652" y="0"/>
                  </a:lnTo>
                  <a:close/>
                </a:path>
                <a:path w="581025" h="321944">
                  <a:moveTo>
                    <a:pt x="366522" y="150240"/>
                  </a:moveTo>
                  <a:lnTo>
                    <a:pt x="352425" y="150240"/>
                  </a:lnTo>
                  <a:lnTo>
                    <a:pt x="352425" y="196087"/>
                  </a:lnTo>
                  <a:lnTo>
                    <a:pt x="362711" y="187706"/>
                  </a:lnTo>
                  <a:lnTo>
                    <a:pt x="366522" y="184531"/>
                  </a:lnTo>
                  <a:lnTo>
                    <a:pt x="366522" y="150240"/>
                  </a:lnTo>
                  <a:close/>
                </a:path>
                <a:path w="581025" h="321944">
                  <a:moveTo>
                    <a:pt x="255881" y="149987"/>
                  </a:moveTo>
                  <a:lnTo>
                    <a:pt x="228219" y="149987"/>
                  </a:lnTo>
                  <a:lnTo>
                    <a:pt x="243000" y="159379"/>
                  </a:lnTo>
                  <a:lnTo>
                    <a:pt x="259404" y="167814"/>
                  </a:lnTo>
                  <a:lnTo>
                    <a:pt x="275732" y="173833"/>
                  </a:lnTo>
                  <a:lnTo>
                    <a:pt x="290702" y="176149"/>
                  </a:lnTo>
                  <a:lnTo>
                    <a:pt x="305376" y="173829"/>
                  </a:lnTo>
                  <a:lnTo>
                    <a:pt x="321578" y="167782"/>
                  </a:lnTo>
                  <a:lnTo>
                    <a:pt x="332954" y="161925"/>
                  </a:lnTo>
                  <a:lnTo>
                    <a:pt x="290702" y="161925"/>
                  </a:lnTo>
                  <a:lnTo>
                    <a:pt x="273700" y="158212"/>
                  </a:lnTo>
                  <a:lnTo>
                    <a:pt x="255881" y="149987"/>
                  </a:lnTo>
                  <a:close/>
                </a:path>
                <a:path w="581025" h="321944">
                  <a:moveTo>
                    <a:pt x="434975" y="13588"/>
                  </a:moveTo>
                  <a:lnTo>
                    <a:pt x="429895" y="16128"/>
                  </a:lnTo>
                  <a:lnTo>
                    <a:pt x="424052" y="18414"/>
                  </a:lnTo>
                  <a:lnTo>
                    <a:pt x="417956" y="19685"/>
                  </a:lnTo>
                  <a:lnTo>
                    <a:pt x="415417" y="24511"/>
                  </a:lnTo>
                  <a:lnTo>
                    <a:pt x="411860" y="29083"/>
                  </a:lnTo>
                  <a:lnTo>
                    <a:pt x="405765" y="31876"/>
                  </a:lnTo>
                  <a:lnTo>
                    <a:pt x="404495" y="32893"/>
                  </a:lnTo>
                  <a:lnTo>
                    <a:pt x="403225" y="34162"/>
                  </a:lnTo>
                  <a:lnTo>
                    <a:pt x="402590" y="35813"/>
                  </a:lnTo>
                  <a:lnTo>
                    <a:pt x="391779" y="62271"/>
                  </a:lnTo>
                  <a:lnTo>
                    <a:pt x="367585" y="114520"/>
                  </a:lnTo>
                  <a:lnTo>
                    <a:pt x="326882" y="149177"/>
                  </a:lnTo>
                  <a:lnTo>
                    <a:pt x="290702" y="161925"/>
                  </a:lnTo>
                  <a:lnTo>
                    <a:pt x="332954" y="161925"/>
                  </a:lnTo>
                  <a:lnTo>
                    <a:pt x="337691" y="159486"/>
                  </a:lnTo>
                  <a:lnTo>
                    <a:pt x="352425" y="150240"/>
                  </a:lnTo>
                  <a:lnTo>
                    <a:pt x="366522" y="150240"/>
                  </a:lnTo>
                  <a:lnTo>
                    <a:pt x="366522" y="139700"/>
                  </a:lnTo>
                  <a:lnTo>
                    <a:pt x="367156" y="139319"/>
                  </a:lnTo>
                  <a:lnTo>
                    <a:pt x="368173" y="138302"/>
                  </a:lnTo>
                  <a:lnTo>
                    <a:pt x="379920" y="121046"/>
                  </a:lnTo>
                  <a:lnTo>
                    <a:pt x="393573" y="93218"/>
                  </a:lnTo>
                  <a:lnTo>
                    <a:pt x="406177" y="64150"/>
                  </a:lnTo>
                  <a:lnTo>
                    <a:pt x="414781" y="43180"/>
                  </a:lnTo>
                  <a:lnTo>
                    <a:pt x="423348" y="36359"/>
                  </a:lnTo>
                  <a:lnTo>
                    <a:pt x="429212" y="28527"/>
                  </a:lnTo>
                  <a:lnTo>
                    <a:pt x="432909" y="20623"/>
                  </a:lnTo>
                  <a:lnTo>
                    <a:pt x="434975" y="13588"/>
                  </a:lnTo>
                  <a:close/>
                </a:path>
              </a:pathLst>
            </a:custGeom>
            <a:solidFill>
              <a:srgbClr val="03522C"/>
            </a:solidFill>
          </p:spPr>
          <p:txBody>
            <a:bodyPr wrap="square" lIns="0" tIns="0" rIns="0" bIns="0" rtlCol="0"/>
            <a:lstStyle/>
            <a:p>
              <a:endParaRPr/>
            </a:p>
          </p:txBody>
        </p:sp>
        <p:sp>
          <p:nvSpPr>
            <p:cNvPr id="63" name="object 63"/>
            <p:cNvSpPr/>
            <p:nvPr/>
          </p:nvSpPr>
          <p:spPr>
            <a:xfrm>
              <a:off x="4386072" y="2240279"/>
              <a:ext cx="690880" cy="2719070"/>
            </a:xfrm>
            <a:custGeom>
              <a:avLst/>
              <a:gdLst/>
              <a:ahLst/>
              <a:cxnLst/>
              <a:rect l="l" t="t" r="r" b="b"/>
              <a:pathLst>
                <a:path w="690879" h="2719070">
                  <a:moveTo>
                    <a:pt x="366649" y="2534412"/>
                  </a:moveTo>
                  <a:lnTo>
                    <a:pt x="204216" y="2534412"/>
                  </a:lnTo>
                  <a:lnTo>
                    <a:pt x="201599" y="2542438"/>
                  </a:lnTo>
                  <a:lnTo>
                    <a:pt x="196596" y="2549106"/>
                  </a:lnTo>
                  <a:lnTo>
                    <a:pt x="189674" y="2553792"/>
                  </a:lnTo>
                  <a:lnTo>
                    <a:pt x="181356" y="2555875"/>
                  </a:lnTo>
                  <a:lnTo>
                    <a:pt x="181356" y="2699766"/>
                  </a:lnTo>
                  <a:lnTo>
                    <a:pt x="189242" y="2701582"/>
                  </a:lnTo>
                  <a:lnTo>
                    <a:pt x="195973" y="2705633"/>
                  </a:lnTo>
                  <a:lnTo>
                    <a:pt x="201015" y="2711500"/>
                  </a:lnTo>
                  <a:lnTo>
                    <a:pt x="203835" y="2718816"/>
                  </a:lnTo>
                  <a:lnTo>
                    <a:pt x="365379" y="2718816"/>
                  </a:lnTo>
                  <a:lnTo>
                    <a:pt x="351701" y="2701036"/>
                  </a:lnTo>
                  <a:lnTo>
                    <a:pt x="340334" y="2679281"/>
                  </a:lnTo>
                  <a:lnTo>
                    <a:pt x="332562" y="2654401"/>
                  </a:lnTo>
                  <a:lnTo>
                    <a:pt x="329692" y="2627249"/>
                  </a:lnTo>
                  <a:lnTo>
                    <a:pt x="332638" y="2599537"/>
                  </a:lnTo>
                  <a:lnTo>
                    <a:pt x="340639" y="2574264"/>
                  </a:lnTo>
                  <a:lnTo>
                    <a:pt x="352399" y="2552281"/>
                  </a:lnTo>
                  <a:lnTo>
                    <a:pt x="366649" y="2534412"/>
                  </a:lnTo>
                  <a:close/>
                </a:path>
                <a:path w="690879" h="2719070">
                  <a:moveTo>
                    <a:pt x="633984" y="2555875"/>
                  </a:moveTo>
                  <a:lnTo>
                    <a:pt x="625373" y="2554008"/>
                  </a:lnTo>
                  <a:lnTo>
                    <a:pt x="618210" y="2549385"/>
                  </a:lnTo>
                  <a:lnTo>
                    <a:pt x="613029" y="2542641"/>
                  </a:lnTo>
                  <a:lnTo>
                    <a:pt x="610362" y="2534412"/>
                  </a:lnTo>
                  <a:lnTo>
                    <a:pt x="448691" y="2534412"/>
                  </a:lnTo>
                  <a:lnTo>
                    <a:pt x="462864" y="2552281"/>
                  </a:lnTo>
                  <a:lnTo>
                    <a:pt x="474497" y="2574264"/>
                  </a:lnTo>
                  <a:lnTo>
                    <a:pt x="482371" y="2599537"/>
                  </a:lnTo>
                  <a:lnTo>
                    <a:pt x="485267" y="2627249"/>
                  </a:lnTo>
                  <a:lnTo>
                    <a:pt x="482434" y="2654401"/>
                  </a:lnTo>
                  <a:lnTo>
                    <a:pt x="474802" y="2679281"/>
                  </a:lnTo>
                  <a:lnTo>
                    <a:pt x="463550" y="2701048"/>
                  </a:lnTo>
                  <a:lnTo>
                    <a:pt x="449961" y="2718816"/>
                  </a:lnTo>
                  <a:lnTo>
                    <a:pt x="610743" y="2718816"/>
                  </a:lnTo>
                  <a:lnTo>
                    <a:pt x="613778" y="2711234"/>
                  </a:lnTo>
                  <a:lnTo>
                    <a:pt x="618972" y="2705150"/>
                  </a:lnTo>
                  <a:lnTo>
                    <a:pt x="625868" y="2701048"/>
                  </a:lnTo>
                  <a:lnTo>
                    <a:pt x="633984" y="2699385"/>
                  </a:lnTo>
                  <a:lnTo>
                    <a:pt x="633984" y="2555875"/>
                  </a:lnTo>
                  <a:close/>
                </a:path>
                <a:path w="690879" h="2719070">
                  <a:moveTo>
                    <a:pt x="690372" y="59944"/>
                  </a:moveTo>
                  <a:lnTo>
                    <a:pt x="685736" y="36817"/>
                  </a:lnTo>
                  <a:lnTo>
                    <a:pt x="673011" y="17741"/>
                  </a:lnTo>
                  <a:lnTo>
                    <a:pt x="653986" y="4787"/>
                  </a:lnTo>
                  <a:lnTo>
                    <a:pt x="630428" y="0"/>
                  </a:lnTo>
                  <a:lnTo>
                    <a:pt x="286004" y="0"/>
                  </a:lnTo>
                  <a:lnTo>
                    <a:pt x="286004" y="164084"/>
                  </a:lnTo>
                  <a:lnTo>
                    <a:pt x="286004" y="209042"/>
                  </a:lnTo>
                  <a:lnTo>
                    <a:pt x="286004" y="226822"/>
                  </a:lnTo>
                  <a:lnTo>
                    <a:pt x="286004" y="287909"/>
                  </a:lnTo>
                  <a:lnTo>
                    <a:pt x="286004" y="305689"/>
                  </a:lnTo>
                  <a:lnTo>
                    <a:pt x="286004" y="350647"/>
                  </a:lnTo>
                  <a:lnTo>
                    <a:pt x="284543" y="358419"/>
                  </a:lnTo>
                  <a:lnTo>
                    <a:pt x="280479" y="364845"/>
                  </a:lnTo>
                  <a:lnTo>
                    <a:pt x="274205" y="369227"/>
                  </a:lnTo>
                  <a:lnTo>
                    <a:pt x="266192" y="370840"/>
                  </a:lnTo>
                  <a:lnTo>
                    <a:pt x="183388" y="370840"/>
                  </a:lnTo>
                  <a:lnTo>
                    <a:pt x="183388" y="305689"/>
                  </a:lnTo>
                  <a:lnTo>
                    <a:pt x="286004" y="305689"/>
                  </a:lnTo>
                  <a:lnTo>
                    <a:pt x="286004" y="287909"/>
                  </a:lnTo>
                  <a:lnTo>
                    <a:pt x="183388" y="287909"/>
                  </a:lnTo>
                  <a:lnTo>
                    <a:pt x="183388" y="226822"/>
                  </a:lnTo>
                  <a:lnTo>
                    <a:pt x="286004" y="226822"/>
                  </a:lnTo>
                  <a:lnTo>
                    <a:pt x="286004" y="209042"/>
                  </a:lnTo>
                  <a:lnTo>
                    <a:pt x="183388" y="209042"/>
                  </a:lnTo>
                  <a:lnTo>
                    <a:pt x="183388" y="144018"/>
                  </a:lnTo>
                  <a:lnTo>
                    <a:pt x="266192" y="144018"/>
                  </a:lnTo>
                  <a:lnTo>
                    <a:pt x="274205" y="145503"/>
                  </a:lnTo>
                  <a:lnTo>
                    <a:pt x="280479" y="149631"/>
                  </a:lnTo>
                  <a:lnTo>
                    <a:pt x="284543" y="155968"/>
                  </a:lnTo>
                  <a:lnTo>
                    <a:pt x="286004" y="164084"/>
                  </a:lnTo>
                  <a:lnTo>
                    <a:pt x="286004" y="0"/>
                  </a:lnTo>
                  <a:lnTo>
                    <a:pt x="165735" y="0"/>
                  </a:lnTo>
                  <a:lnTo>
                    <a:pt x="165735" y="144018"/>
                  </a:lnTo>
                  <a:lnTo>
                    <a:pt x="165735" y="209042"/>
                  </a:lnTo>
                  <a:lnTo>
                    <a:pt x="165735" y="226822"/>
                  </a:lnTo>
                  <a:lnTo>
                    <a:pt x="165735" y="287909"/>
                  </a:lnTo>
                  <a:lnTo>
                    <a:pt x="165735" y="305689"/>
                  </a:lnTo>
                  <a:lnTo>
                    <a:pt x="165735" y="370840"/>
                  </a:lnTo>
                  <a:lnTo>
                    <a:pt x="81280" y="370840"/>
                  </a:lnTo>
                  <a:lnTo>
                    <a:pt x="73507" y="369227"/>
                  </a:lnTo>
                  <a:lnTo>
                    <a:pt x="67081" y="364845"/>
                  </a:lnTo>
                  <a:lnTo>
                    <a:pt x="62699" y="358419"/>
                  </a:lnTo>
                  <a:lnTo>
                    <a:pt x="61087" y="350647"/>
                  </a:lnTo>
                  <a:lnTo>
                    <a:pt x="61087" y="305689"/>
                  </a:lnTo>
                  <a:lnTo>
                    <a:pt x="165735" y="305689"/>
                  </a:lnTo>
                  <a:lnTo>
                    <a:pt x="165735" y="287909"/>
                  </a:lnTo>
                  <a:lnTo>
                    <a:pt x="61087" y="287909"/>
                  </a:lnTo>
                  <a:lnTo>
                    <a:pt x="61087" y="226822"/>
                  </a:lnTo>
                  <a:lnTo>
                    <a:pt x="165735" y="226822"/>
                  </a:lnTo>
                  <a:lnTo>
                    <a:pt x="165735" y="209042"/>
                  </a:lnTo>
                  <a:lnTo>
                    <a:pt x="61087" y="209042"/>
                  </a:lnTo>
                  <a:lnTo>
                    <a:pt x="61087" y="164084"/>
                  </a:lnTo>
                  <a:lnTo>
                    <a:pt x="62699" y="155968"/>
                  </a:lnTo>
                  <a:lnTo>
                    <a:pt x="67081" y="149631"/>
                  </a:lnTo>
                  <a:lnTo>
                    <a:pt x="73507" y="145503"/>
                  </a:lnTo>
                  <a:lnTo>
                    <a:pt x="81280" y="144018"/>
                  </a:lnTo>
                  <a:lnTo>
                    <a:pt x="165735" y="144018"/>
                  </a:lnTo>
                  <a:lnTo>
                    <a:pt x="165735" y="0"/>
                  </a:lnTo>
                  <a:lnTo>
                    <a:pt x="59944" y="0"/>
                  </a:lnTo>
                  <a:lnTo>
                    <a:pt x="36372" y="4787"/>
                  </a:lnTo>
                  <a:lnTo>
                    <a:pt x="17348" y="17741"/>
                  </a:lnTo>
                  <a:lnTo>
                    <a:pt x="4622" y="36817"/>
                  </a:lnTo>
                  <a:lnTo>
                    <a:pt x="0" y="59944"/>
                  </a:lnTo>
                  <a:lnTo>
                    <a:pt x="0" y="375920"/>
                  </a:lnTo>
                  <a:lnTo>
                    <a:pt x="4622" y="399110"/>
                  </a:lnTo>
                  <a:lnTo>
                    <a:pt x="17348" y="418185"/>
                  </a:lnTo>
                  <a:lnTo>
                    <a:pt x="36372" y="431114"/>
                  </a:lnTo>
                  <a:lnTo>
                    <a:pt x="59944" y="435864"/>
                  </a:lnTo>
                  <a:lnTo>
                    <a:pt x="630428" y="435864"/>
                  </a:lnTo>
                  <a:lnTo>
                    <a:pt x="653986" y="431114"/>
                  </a:lnTo>
                  <a:lnTo>
                    <a:pt x="673011" y="418185"/>
                  </a:lnTo>
                  <a:lnTo>
                    <a:pt x="685736" y="399110"/>
                  </a:lnTo>
                  <a:lnTo>
                    <a:pt x="690372" y="375920"/>
                  </a:lnTo>
                  <a:lnTo>
                    <a:pt x="690372" y="370840"/>
                  </a:lnTo>
                  <a:lnTo>
                    <a:pt x="690372" y="305689"/>
                  </a:lnTo>
                  <a:lnTo>
                    <a:pt x="690372" y="287909"/>
                  </a:lnTo>
                  <a:lnTo>
                    <a:pt x="690372" y="226822"/>
                  </a:lnTo>
                  <a:lnTo>
                    <a:pt x="690372" y="209042"/>
                  </a:lnTo>
                  <a:lnTo>
                    <a:pt x="690372" y="144018"/>
                  </a:lnTo>
                  <a:lnTo>
                    <a:pt x="690372" y="59944"/>
                  </a:lnTo>
                  <a:close/>
                </a:path>
              </a:pathLst>
            </a:custGeom>
            <a:solidFill>
              <a:srgbClr val="29B974"/>
            </a:solidFill>
          </p:spPr>
          <p:txBody>
            <a:bodyPr wrap="square" lIns="0" tIns="0" rIns="0" bIns="0" rtlCol="0"/>
            <a:lstStyle/>
            <a:p>
              <a:endParaRPr/>
            </a:p>
          </p:txBody>
        </p:sp>
        <p:sp>
          <p:nvSpPr>
            <p:cNvPr id="64" name="object 64"/>
            <p:cNvSpPr/>
            <p:nvPr/>
          </p:nvSpPr>
          <p:spPr>
            <a:xfrm>
              <a:off x="4424172" y="4690871"/>
              <a:ext cx="2802890" cy="669290"/>
            </a:xfrm>
            <a:custGeom>
              <a:avLst/>
              <a:gdLst/>
              <a:ahLst/>
              <a:cxnLst/>
              <a:rect l="l" t="t" r="r" b="b"/>
              <a:pathLst>
                <a:path w="2802890" h="669289">
                  <a:moveTo>
                    <a:pt x="403733" y="196977"/>
                  </a:moveTo>
                  <a:lnTo>
                    <a:pt x="377063" y="167513"/>
                  </a:lnTo>
                  <a:lnTo>
                    <a:pt x="367817" y="162483"/>
                  </a:lnTo>
                  <a:lnTo>
                    <a:pt x="361226" y="157492"/>
                  </a:lnTo>
                  <a:lnTo>
                    <a:pt x="357289" y="152590"/>
                  </a:lnTo>
                  <a:lnTo>
                    <a:pt x="355981" y="147828"/>
                  </a:lnTo>
                  <a:lnTo>
                    <a:pt x="355981" y="143891"/>
                  </a:lnTo>
                  <a:lnTo>
                    <a:pt x="357124" y="141097"/>
                  </a:lnTo>
                  <a:lnTo>
                    <a:pt x="359918" y="138303"/>
                  </a:lnTo>
                  <a:lnTo>
                    <a:pt x="362585" y="136017"/>
                  </a:lnTo>
                  <a:lnTo>
                    <a:pt x="366141" y="134747"/>
                  </a:lnTo>
                  <a:lnTo>
                    <a:pt x="378206" y="134747"/>
                  </a:lnTo>
                  <a:lnTo>
                    <a:pt x="385699" y="137541"/>
                  </a:lnTo>
                  <a:lnTo>
                    <a:pt x="393192" y="142240"/>
                  </a:lnTo>
                  <a:lnTo>
                    <a:pt x="395668" y="134747"/>
                  </a:lnTo>
                  <a:lnTo>
                    <a:pt x="398653" y="125730"/>
                  </a:lnTo>
                  <a:lnTo>
                    <a:pt x="394335" y="121793"/>
                  </a:lnTo>
                  <a:lnTo>
                    <a:pt x="386842" y="119761"/>
                  </a:lnTo>
                  <a:lnTo>
                    <a:pt x="377825" y="118618"/>
                  </a:lnTo>
                  <a:lnTo>
                    <a:pt x="377825" y="105664"/>
                  </a:lnTo>
                  <a:lnTo>
                    <a:pt x="360299" y="105664"/>
                  </a:lnTo>
                  <a:lnTo>
                    <a:pt x="360299" y="119761"/>
                  </a:lnTo>
                  <a:lnTo>
                    <a:pt x="352806" y="121412"/>
                  </a:lnTo>
                  <a:lnTo>
                    <a:pt x="347345" y="124968"/>
                  </a:lnTo>
                  <a:lnTo>
                    <a:pt x="343027" y="130048"/>
                  </a:lnTo>
                  <a:lnTo>
                    <a:pt x="337947" y="134747"/>
                  </a:lnTo>
                  <a:lnTo>
                    <a:pt x="335915" y="141097"/>
                  </a:lnTo>
                  <a:lnTo>
                    <a:pt x="335915" y="152590"/>
                  </a:lnTo>
                  <a:lnTo>
                    <a:pt x="362585" y="180467"/>
                  </a:lnTo>
                  <a:lnTo>
                    <a:pt x="370840" y="184785"/>
                  </a:lnTo>
                  <a:lnTo>
                    <a:pt x="376301" y="188722"/>
                  </a:lnTo>
                  <a:lnTo>
                    <a:pt x="379476" y="191897"/>
                  </a:lnTo>
                  <a:lnTo>
                    <a:pt x="382524" y="195453"/>
                  </a:lnTo>
                  <a:lnTo>
                    <a:pt x="383794" y="199390"/>
                  </a:lnTo>
                  <a:lnTo>
                    <a:pt x="383794" y="211201"/>
                  </a:lnTo>
                  <a:lnTo>
                    <a:pt x="378206" y="215138"/>
                  </a:lnTo>
                  <a:lnTo>
                    <a:pt x="359029" y="215138"/>
                  </a:lnTo>
                  <a:lnTo>
                    <a:pt x="351282" y="212344"/>
                  </a:lnTo>
                  <a:lnTo>
                    <a:pt x="343408" y="207264"/>
                  </a:lnTo>
                  <a:lnTo>
                    <a:pt x="335534" y="224536"/>
                  </a:lnTo>
                  <a:lnTo>
                    <a:pt x="341503" y="227749"/>
                  </a:lnTo>
                  <a:lnTo>
                    <a:pt x="347624" y="230098"/>
                  </a:lnTo>
                  <a:lnTo>
                    <a:pt x="353885" y="231546"/>
                  </a:lnTo>
                  <a:lnTo>
                    <a:pt x="360299" y="232029"/>
                  </a:lnTo>
                  <a:lnTo>
                    <a:pt x="360299" y="248285"/>
                  </a:lnTo>
                  <a:lnTo>
                    <a:pt x="377825" y="248285"/>
                  </a:lnTo>
                  <a:lnTo>
                    <a:pt x="377825" y="231267"/>
                  </a:lnTo>
                  <a:lnTo>
                    <a:pt x="385699" y="229362"/>
                  </a:lnTo>
                  <a:lnTo>
                    <a:pt x="392430" y="225425"/>
                  </a:lnTo>
                  <a:lnTo>
                    <a:pt x="397129" y="220218"/>
                  </a:lnTo>
                  <a:lnTo>
                    <a:pt x="401828" y="215138"/>
                  </a:lnTo>
                  <a:lnTo>
                    <a:pt x="403733" y="208788"/>
                  </a:lnTo>
                  <a:lnTo>
                    <a:pt x="403733" y="196977"/>
                  </a:lnTo>
                  <a:close/>
                </a:path>
                <a:path w="2802890" h="669289">
                  <a:moveTo>
                    <a:pt x="618515" y="429018"/>
                  </a:moveTo>
                  <a:lnTo>
                    <a:pt x="614045" y="412496"/>
                  </a:lnTo>
                  <a:lnTo>
                    <a:pt x="606094" y="402348"/>
                  </a:lnTo>
                  <a:lnTo>
                    <a:pt x="603123" y="398526"/>
                  </a:lnTo>
                  <a:lnTo>
                    <a:pt x="603123" y="397268"/>
                  </a:lnTo>
                  <a:lnTo>
                    <a:pt x="602361" y="397268"/>
                  </a:lnTo>
                  <a:lnTo>
                    <a:pt x="601370" y="396278"/>
                  </a:lnTo>
                  <a:lnTo>
                    <a:pt x="601370" y="430276"/>
                  </a:lnTo>
                  <a:lnTo>
                    <a:pt x="600049" y="441718"/>
                  </a:lnTo>
                  <a:lnTo>
                    <a:pt x="576834" y="472198"/>
                  </a:lnTo>
                  <a:lnTo>
                    <a:pt x="547395" y="502666"/>
                  </a:lnTo>
                  <a:lnTo>
                    <a:pt x="514273" y="528066"/>
                  </a:lnTo>
                  <a:lnTo>
                    <a:pt x="477926" y="548386"/>
                  </a:lnTo>
                  <a:lnTo>
                    <a:pt x="438785" y="563638"/>
                  </a:lnTo>
                  <a:lnTo>
                    <a:pt x="376428" y="577596"/>
                  </a:lnTo>
                  <a:lnTo>
                    <a:pt x="344728" y="578878"/>
                  </a:lnTo>
                  <a:lnTo>
                    <a:pt x="312928" y="578878"/>
                  </a:lnTo>
                  <a:lnTo>
                    <a:pt x="230632" y="572528"/>
                  </a:lnTo>
                  <a:lnTo>
                    <a:pt x="223583" y="572528"/>
                  </a:lnTo>
                  <a:lnTo>
                    <a:pt x="202692" y="576338"/>
                  </a:lnTo>
                  <a:lnTo>
                    <a:pt x="17526" y="648728"/>
                  </a:lnTo>
                  <a:lnTo>
                    <a:pt x="17526" y="492518"/>
                  </a:lnTo>
                  <a:lnTo>
                    <a:pt x="179578" y="399796"/>
                  </a:lnTo>
                  <a:lnTo>
                    <a:pt x="190271" y="394716"/>
                  </a:lnTo>
                  <a:lnTo>
                    <a:pt x="201650" y="390918"/>
                  </a:lnTo>
                  <a:lnTo>
                    <a:pt x="225552" y="388366"/>
                  </a:lnTo>
                  <a:lnTo>
                    <a:pt x="392684" y="397268"/>
                  </a:lnTo>
                  <a:lnTo>
                    <a:pt x="402602" y="399796"/>
                  </a:lnTo>
                  <a:lnTo>
                    <a:pt x="410578" y="406146"/>
                  </a:lnTo>
                  <a:lnTo>
                    <a:pt x="415899" y="413766"/>
                  </a:lnTo>
                  <a:lnTo>
                    <a:pt x="417830" y="423926"/>
                  </a:lnTo>
                  <a:lnTo>
                    <a:pt x="416026" y="432816"/>
                  </a:lnTo>
                  <a:lnTo>
                    <a:pt x="411022" y="441718"/>
                  </a:lnTo>
                  <a:lnTo>
                    <a:pt x="403466" y="446798"/>
                  </a:lnTo>
                  <a:lnTo>
                    <a:pt x="393954" y="449326"/>
                  </a:lnTo>
                  <a:lnTo>
                    <a:pt x="303022" y="458216"/>
                  </a:lnTo>
                  <a:lnTo>
                    <a:pt x="299847" y="462026"/>
                  </a:lnTo>
                  <a:lnTo>
                    <a:pt x="299466" y="465848"/>
                  </a:lnTo>
                  <a:lnTo>
                    <a:pt x="298704" y="469646"/>
                  </a:lnTo>
                  <a:lnTo>
                    <a:pt x="301117" y="473468"/>
                  </a:lnTo>
                  <a:lnTo>
                    <a:pt x="304546" y="474726"/>
                  </a:lnTo>
                  <a:lnTo>
                    <a:pt x="334899" y="487426"/>
                  </a:lnTo>
                  <a:lnTo>
                    <a:pt x="361238" y="495046"/>
                  </a:lnTo>
                  <a:lnTo>
                    <a:pt x="388569" y="498868"/>
                  </a:lnTo>
                  <a:lnTo>
                    <a:pt x="416204" y="498868"/>
                  </a:lnTo>
                  <a:lnTo>
                    <a:pt x="443484" y="492518"/>
                  </a:lnTo>
                  <a:lnTo>
                    <a:pt x="466090" y="484898"/>
                  </a:lnTo>
                  <a:lnTo>
                    <a:pt x="470789" y="482346"/>
                  </a:lnTo>
                  <a:lnTo>
                    <a:pt x="487235" y="473468"/>
                  </a:lnTo>
                  <a:lnTo>
                    <a:pt x="506552" y="459498"/>
                  </a:lnTo>
                  <a:lnTo>
                    <a:pt x="523748" y="442976"/>
                  </a:lnTo>
                  <a:lnTo>
                    <a:pt x="549617" y="413766"/>
                  </a:lnTo>
                  <a:lnTo>
                    <a:pt x="555117" y="407416"/>
                  </a:lnTo>
                  <a:lnTo>
                    <a:pt x="562610" y="403618"/>
                  </a:lnTo>
                  <a:lnTo>
                    <a:pt x="598551" y="420116"/>
                  </a:lnTo>
                  <a:lnTo>
                    <a:pt x="601370" y="430276"/>
                  </a:lnTo>
                  <a:lnTo>
                    <a:pt x="601370" y="396278"/>
                  </a:lnTo>
                  <a:lnTo>
                    <a:pt x="601091" y="395998"/>
                  </a:lnTo>
                  <a:lnTo>
                    <a:pt x="600710" y="395998"/>
                  </a:lnTo>
                  <a:lnTo>
                    <a:pt x="599567" y="394716"/>
                  </a:lnTo>
                  <a:lnTo>
                    <a:pt x="598805" y="394716"/>
                  </a:lnTo>
                  <a:lnTo>
                    <a:pt x="598043" y="393446"/>
                  </a:lnTo>
                  <a:lnTo>
                    <a:pt x="596392" y="393446"/>
                  </a:lnTo>
                  <a:lnTo>
                    <a:pt x="595630" y="392176"/>
                  </a:lnTo>
                  <a:lnTo>
                    <a:pt x="594487" y="392176"/>
                  </a:lnTo>
                  <a:lnTo>
                    <a:pt x="587756" y="388366"/>
                  </a:lnTo>
                  <a:lnTo>
                    <a:pt x="580263" y="385826"/>
                  </a:lnTo>
                  <a:lnTo>
                    <a:pt x="569214" y="385826"/>
                  </a:lnTo>
                  <a:lnTo>
                    <a:pt x="560882" y="387096"/>
                  </a:lnTo>
                  <a:lnTo>
                    <a:pt x="552958" y="389648"/>
                  </a:lnTo>
                  <a:lnTo>
                    <a:pt x="545592" y="394716"/>
                  </a:lnTo>
                  <a:lnTo>
                    <a:pt x="538988" y="399796"/>
                  </a:lnTo>
                  <a:lnTo>
                    <a:pt x="538226" y="399796"/>
                  </a:lnTo>
                  <a:lnTo>
                    <a:pt x="536956" y="401066"/>
                  </a:lnTo>
                  <a:lnTo>
                    <a:pt x="511048" y="431546"/>
                  </a:lnTo>
                  <a:lnTo>
                    <a:pt x="507492" y="434098"/>
                  </a:lnTo>
                  <a:lnTo>
                    <a:pt x="467537" y="464566"/>
                  </a:lnTo>
                  <a:lnTo>
                    <a:pt x="438658" y="475996"/>
                  </a:lnTo>
                  <a:lnTo>
                    <a:pt x="435102" y="477266"/>
                  </a:lnTo>
                  <a:lnTo>
                    <a:pt x="433197" y="477266"/>
                  </a:lnTo>
                  <a:lnTo>
                    <a:pt x="432689" y="478548"/>
                  </a:lnTo>
                  <a:lnTo>
                    <a:pt x="428752" y="478548"/>
                  </a:lnTo>
                  <a:lnTo>
                    <a:pt x="421005" y="479818"/>
                  </a:lnTo>
                  <a:lnTo>
                    <a:pt x="415036" y="481076"/>
                  </a:lnTo>
                  <a:lnTo>
                    <a:pt x="409194" y="481076"/>
                  </a:lnTo>
                  <a:lnTo>
                    <a:pt x="392595" y="482346"/>
                  </a:lnTo>
                  <a:lnTo>
                    <a:pt x="359740" y="477266"/>
                  </a:lnTo>
                  <a:lnTo>
                    <a:pt x="343789" y="472198"/>
                  </a:lnTo>
                  <a:lnTo>
                    <a:pt x="394919" y="467118"/>
                  </a:lnTo>
                  <a:lnTo>
                    <a:pt x="399288" y="467118"/>
                  </a:lnTo>
                  <a:lnTo>
                    <a:pt x="406400" y="464566"/>
                  </a:lnTo>
                  <a:lnTo>
                    <a:pt x="407924" y="463296"/>
                  </a:lnTo>
                  <a:lnTo>
                    <a:pt x="410337" y="463296"/>
                  </a:lnTo>
                  <a:lnTo>
                    <a:pt x="411861" y="462026"/>
                  </a:lnTo>
                  <a:lnTo>
                    <a:pt x="413512" y="462026"/>
                  </a:lnTo>
                  <a:lnTo>
                    <a:pt x="414274" y="460768"/>
                  </a:lnTo>
                  <a:lnTo>
                    <a:pt x="415036" y="460768"/>
                  </a:lnTo>
                  <a:lnTo>
                    <a:pt x="415417" y="459498"/>
                  </a:lnTo>
                  <a:lnTo>
                    <a:pt x="417068" y="459498"/>
                  </a:lnTo>
                  <a:lnTo>
                    <a:pt x="418592" y="456946"/>
                  </a:lnTo>
                  <a:lnTo>
                    <a:pt x="420497" y="456946"/>
                  </a:lnTo>
                  <a:lnTo>
                    <a:pt x="425424" y="450596"/>
                  </a:lnTo>
                  <a:lnTo>
                    <a:pt x="429463" y="444246"/>
                  </a:lnTo>
                  <a:lnTo>
                    <a:pt x="432473" y="437896"/>
                  </a:lnTo>
                  <a:lnTo>
                    <a:pt x="434340" y="430276"/>
                  </a:lnTo>
                  <a:lnTo>
                    <a:pt x="434721" y="429018"/>
                  </a:lnTo>
                  <a:lnTo>
                    <a:pt x="434721" y="426466"/>
                  </a:lnTo>
                  <a:lnTo>
                    <a:pt x="435102" y="425196"/>
                  </a:lnTo>
                  <a:lnTo>
                    <a:pt x="435102" y="420116"/>
                  </a:lnTo>
                  <a:lnTo>
                    <a:pt x="434340" y="415048"/>
                  </a:lnTo>
                  <a:lnTo>
                    <a:pt x="433578" y="411226"/>
                  </a:lnTo>
                  <a:lnTo>
                    <a:pt x="432308" y="407416"/>
                  </a:lnTo>
                  <a:lnTo>
                    <a:pt x="430784" y="404876"/>
                  </a:lnTo>
                  <a:lnTo>
                    <a:pt x="429641" y="402348"/>
                  </a:lnTo>
                  <a:lnTo>
                    <a:pt x="393827" y="379476"/>
                  </a:lnTo>
                  <a:lnTo>
                    <a:pt x="226187" y="371868"/>
                  </a:lnTo>
                  <a:lnTo>
                    <a:pt x="204216" y="371868"/>
                  </a:lnTo>
                  <a:lnTo>
                    <a:pt x="198247" y="374396"/>
                  </a:lnTo>
                  <a:lnTo>
                    <a:pt x="192024" y="375666"/>
                  </a:lnTo>
                  <a:lnTo>
                    <a:pt x="189992" y="375666"/>
                  </a:lnTo>
                  <a:lnTo>
                    <a:pt x="188849" y="376948"/>
                  </a:lnTo>
                  <a:lnTo>
                    <a:pt x="186817" y="376948"/>
                  </a:lnTo>
                  <a:lnTo>
                    <a:pt x="186055" y="378218"/>
                  </a:lnTo>
                  <a:lnTo>
                    <a:pt x="182499" y="378218"/>
                  </a:lnTo>
                  <a:lnTo>
                    <a:pt x="182118" y="379476"/>
                  </a:lnTo>
                  <a:lnTo>
                    <a:pt x="179832" y="379476"/>
                  </a:lnTo>
                  <a:lnTo>
                    <a:pt x="179451" y="380746"/>
                  </a:lnTo>
                  <a:lnTo>
                    <a:pt x="177419" y="380746"/>
                  </a:lnTo>
                  <a:lnTo>
                    <a:pt x="176657" y="382016"/>
                  </a:lnTo>
                  <a:lnTo>
                    <a:pt x="175006" y="382016"/>
                  </a:lnTo>
                  <a:lnTo>
                    <a:pt x="174625" y="383298"/>
                  </a:lnTo>
                  <a:lnTo>
                    <a:pt x="171577" y="383298"/>
                  </a:lnTo>
                  <a:lnTo>
                    <a:pt x="170688" y="384568"/>
                  </a:lnTo>
                  <a:lnTo>
                    <a:pt x="4318" y="478548"/>
                  </a:lnTo>
                  <a:lnTo>
                    <a:pt x="1905" y="481076"/>
                  </a:lnTo>
                  <a:lnTo>
                    <a:pt x="0" y="483616"/>
                  </a:lnTo>
                  <a:lnTo>
                    <a:pt x="0" y="663956"/>
                  </a:lnTo>
                  <a:lnTo>
                    <a:pt x="1524" y="666496"/>
                  </a:lnTo>
                  <a:lnTo>
                    <a:pt x="3937" y="667778"/>
                  </a:lnTo>
                  <a:lnTo>
                    <a:pt x="5461" y="669036"/>
                  </a:lnTo>
                  <a:lnTo>
                    <a:pt x="11811" y="669036"/>
                  </a:lnTo>
                  <a:lnTo>
                    <a:pt x="64363" y="648728"/>
                  </a:lnTo>
                  <a:lnTo>
                    <a:pt x="208915" y="592836"/>
                  </a:lnTo>
                  <a:lnTo>
                    <a:pt x="210439" y="591578"/>
                  </a:lnTo>
                  <a:lnTo>
                    <a:pt x="213995" y="591578"/>
                  </a:lnTo>
                  <a:lnTo>
                    <a:pt x="213995" y="590296"/>
                  </a:lnTo>
                  <a:lnTo>
                    <a:pt x="229362" y="590296"/>
                  </a:lnTo>
                  <a:lnTo>
                    <a:pt x="266484" y="592836"/>
                  </a:lnTo>
                  <a:lnTo>
                    <a:pt x="311531" y="595388"/>
                  </a:lnTo>
                  <a:lnTo>
                    <a:pt x="321818" y="595388"/>
                  </a:lnTo>
                  <a:lnTo>
                    <a:pt x="323342" y="596646"/>
                  </a:lnTo>
                  <a:lnTo>
                    <a:pt x="350901" y="596646"/>
                  </a:lnTo>
                  <a:lnTo>
                    <a:pt x="352933" y="595388"/>
                  </a:lnTo>
                  <a:lnTo>
                    <a:pt x="366217" y="595388"/>
                  </a:lnTo>
                  <a:lnTo>
                    <a:pt x="374332" y="594106"/>
                  </a:lnTo>
                  <a:lnTo>
                    <a:pt x="382435" y="594106"/>
                  </a:lnTo>
                  <a:lnTo>
                    <a:pt x="390652" y="592836"/>
                  </a:lnTo>
                  <a:lnTo>
                    <a:pt x="391414" y="592836"/>
                  </a:lnTo>
                  <a:lnTo>
                    <a:pt x="393446" y="591578"/>
                  </a:lnTo>
                  <a:lnTo>
                    <a:pt x="398907" y="591578"/>
                  </a:lnTo>
                  <a:lnTo>
                    <a:pt x="403987" y="590296"/>
                  </a:lnTo>
                  <a:lnTo>
                    <a:pt x="415036" y="587756"/>
                  </a:lnTo>
                  <a:lnTo>
                    <a:pt x="418211" y="587756"/>
                  </a:lnTo>
                  <a:lnTo>
                    <a:pt x="420497" y="586486"/>
                  </a:lnTo>
                  <a:lnTo>
                    <a:pt x="421767" y="586486"/>
                  </a:lnTo>
                  <a:lnTo>
                    <a:pt x="423291" y="585228"/>
                  </a:lnTo>
                  <a:lnTo>
                    <a:pt x="429260" y="585228"/>
                  </a:lnTo>
                  <a:lnTo>
                    <a:pt x="430784" y="583946"/>
                  </a:lnTo>
                  <a:lnTo>
                    <a:pt x="432308" y="583946"/>
                  </a:lnTo>
                  <a:lnTo>
                    <a:pt x="433959" y="582688"/>
                  </a:lnTo>
                  <a:lnTo>
                    <a:pt x="436245" y="582688"/>
                  </a:lnTo>
                  <a:lnTo>
                    <a:pt x="439039" y="581406"/>
                  </a:lnTo>
                  <a:lnTo>
                    <a:pt x="441452" y="581406"/>
                  </a:lnTo>
                  <a:lnTo>
                    <a:pt x="443738" y="580136"/>
                  </a:lnTo>
                  <a:lnTo>
                    <a:pt x="447179" y="578878"/>
                  </a:lnTo>
                  <a:lnTo>
                    <a:pt x="464388" y="572528"/>
                  </a:lnTo>
                  <a:lnTo>
                    <a:pt x="484390" y="564896"/>
                  </a:lnTo>
                  <a:lnTo>
                    <a:pt x="503643" y="554736"/>
                  </a:lnTo>
                  <a:lnTo>
                    <a:pt x="522097" y="543306"/>
                  </a:lnTo>
                  <a:lnTo>
                    <a:pt x="523621" y="542036"/>
                  </a:lnTo>
                  <a:lnTo>
                    <a:pt x="528320" y="539496"/>
                  </a:lnTo>
                  <a:lnTo>
                    <a:pt x="562444" y="511568"/>
                  </a:lnTo>
                  <a:lnTo>
                    <a:pt x="590169" y="483616"/>
                  </a:lnTo>
                  <a:lnTo>
                    <a:pt x="616369" y="446798"/>
                  </a:lnTo>
                  <a:lnTo>
                    <a:pt x="618515" y="429018"/>
                  </a:lnTo>
                  <a:close/>
                </a:path>
                <a:path w="2802890" h="669289">
                  <a:moveTo>
                    <a:pt x="630936" y="51562"/>
                  </a:moveTo>
                  <a:lnTo>
                    <a:pt x="628142" y="48768"/>
                  </a:lnTo>
                  <a:lnTo>
                    <a:pt x="613410" y="48768"/>
                  </a:lnTo>
                  <a:lnTo>
                    <a:pt x="613410" y="66294"/>
                  </a:lnTo>
                  <a:lnTo>
                    <a:pt x="613410" y="286766"/>
                  </a:lnTo>
                  <a:lnTo>
                    <a:pt x="125857" y="286766"/>
                  </a:lnTo>
                  <a:lnTo>
                    <a:pt x="125857" y="66294"/>
                  </a:lnTo>
                  <a:lnTo>
                    <a:pt x="613410" y="66294"/>
                  </a:lnTo>
                  <a:lnTo>
                    <a:pt x="613410" y="48768"/>
                  </a:lnTo>
                  <a:lnTo>
                    <a:pt x="111506" y="48768"/>
                  </a:lnTo>
                  <a:lnTo>
                    <a:pt x="108331" y="51562"/>
                  </a:lnTo>
                  <a:lnTo>
                    <a:pt x="108331" y="301117"/>
                  </a:lnTo>
                  <a:lnTo>
                    <a:pt x="111506" y="304165"/>
                  </a:lnTo>
                  <a:lnTo>
                    <a:pt x="628142" y="304165"/>
                  </a:lnTo>
                  <a:lnTo>
                    <a:pt x="630936" y="301117"/>
                  </a:lnTo>
                  <a:lnTo>
                    <a:pt x="630936" y="286766"/>
                  </a:lnTo>
                  <a:lnTo>
                    <a:pt x="630936" y="66294"/>
                  </a:lnTo>
                  <a:lnTo>
                    <a:pt x="630936" y="51562"/>
                  </a:lnTo>
                  <a:close/>
                </a:path>
                <a:path w="2802890" h="669289">
                  <a:moveTo>
                    <a:pt x="2169668" y="352679"/>
                  </a:moveTo>
                  <a:lnTo>
                    <a:pt x="2165731" y="348615"/>
                  </a:lnTo>
                  <a:lnTo>
                    <a:pt x="2093341" y="348615"/>
                  </a:lnTo>
                  <a:lnTo>
                    <a:pt x="2089404" y="352679"/>
                  </a:lnTo>
                  <a:lnTo>
                    <a:pt x="2089404" y="362077"/>
                  </a:lnTo>
                  <a:lnTo>
                    <a:pt x="2093341" y="366014"/>
                  </a:lnTo>
                  <a:lnTo>
                    <a:pt x="2165731" y="366014"/>
                  </a:lnTo>
                  <a:lnTo>
                    <a:pt x="2169668" y="362077"/>
                  </a:lnTo>
                  <a:lnTo>
                    <a:pt x="2169668" y="352679"/>
                  </a:lnTo>
                  <a:close/>
                </a:path>
                <a:path w="2802890" h="669289">
                  <a:moveTo>
                    <a:pt x="2254123" y="556260"/>
                  </a:moveTo>
                  <a:lnTo>
                    <a:pt x="2250567" y="553212"/>
                  </a:lnTo>
                  <a:lnTo>
                    <a:pt x="2247519" y="549656"/>
                  </a:lnTo>
                  <a:lnTo>
                    <a:pt x="2241931" y="549656"/>
                  </a:lnTo>
                  <a:lnTo>
                    <a:pt x="2190496" y="601218"/>
                  </a:lnTo>
                  <a:lnTo>
                    <a:pt x="2190496" y="606679"/>
                  </a:lnTo>
                  <a:lnTo>
                    <a:pt x="2194052" y="609854"/>
                  </a:lnTo>
                  <a:lnTo>
                    <a:pt x="2195576" y="611505"/>
                  </a:lnTo>
                  <a:lnTo>
                    <a:pt x="2197849" y="612648"/>
                  </a:lnTo>
                  <a:lnTo>
                    <a:pt x="2202307" y="612648"/>
                  </a:lnTo>
                  <a:lnTo>
                    <a:pt x="2204593" y="611505"/>
                  </a:lnTo>
                  <a:lnTo>
                    <a:pt x="2206117" y="609854"/>
                  </a:lnTo>
                  <a:lnTo>
                    <a:pt x="2254123" y="561848"/>
                  </a:lnTo>
                  <a:lnTo>
                    <a:pt x="2254123" y="556260"/>
                  </a:lnTo>
                  <a:close/>
                </a:path>
                <a:path w="2802890" h="669289">
                  <a:moveTo>
                    <a:pt x="2254123" y="152908"/>
                  </a:moveTo>
                  <a:lnTo>
                    <a:pt x="2206117" y="104775"/>
                  </a:lnTo>
                  <a:lnTo>
                    <a:pt x="2202675" y="101219"/>
                  </a:lnTo>
                  <a:lnTo>
                    <a:pt x="2197100" y="101219"/>
                  </a:lnTo>
                  <a:lnTo>
                    <a:pt x="2194052" y="104775"/>
                  </a:lnTo>
                  <a:lnTo>
                    <a:pt x="2190496" y="108331"/>
                  </a:lnTo>
                  <a:lnTo>
                    <a:pt x="2190496" y="113411"/>
                  </a:lnTo>
                  <a:lnTo>
                    <a:pt x="2238375" y="161544"/>
                  </a:lnTo>
                  <a:lnTo>
                    <a:pt x="2240026" y="163068"/>
                  </a:lnTo>
                  <a:lnTo>
                    <a:pt x="2242312" y="164338"/>
                  </a:lnTo>
                  <a:lnTo>
                    <a:pt x="2246630" y="164338"/>
                  </a:lnTo>
                  <a:lnTo>
                    <a:pt x="2249043" y="163068"/>
                  </a:lnTo>
                  <a:lnTo>
                    <a:pt x="2250567" y="161544"/>
                  </a:lnTo>
                  <a:lnTo>
                    <a:pt x="2254123" y="158369"/>
                  </a:lnTo>
                  <a:lnTo>
                    <a:pt x="2254123" y="152908"/>
                  </a:lnTo>
                  <a:close/>
                </a:path>
                <a:path w="2802890" h="669289">
                  <a:moveTo>
                    <a:pt x="2437003" y="447167"/>
                  </a:moveTo>
                  <a:lnTo>
                    <a:pt x="2418969" y="443522"/>
                  </a:lnTo>
                  <a:lnTo>
                    <a:pt x="2404186" y="433552"/>
                  </a:lnTo>
                  <a:lnTo>
                    <a:pt x="2394191" y="418782"/>
                  </a:lnTo>
                  <a:lnTo>
                    <a:pt x="2390521" y="400685"/>
                  </a:lnTo>
                  <a:lnTo>
                    <a:pt x="2386927" y="418782"/>
                  </a:lnTo>
                  <a:lnTo>
                    <a:pt x="2377097" y="433552"/>
                  </a:lnTo>
                  <a:lnTo>
                    <a:pt x="2362492" y="443522"/>
                  </a:lnTo>
                  <a:lnTo>
                    <a:pt x="2344547" y="447167"/>
                  </a:lnTo>
                  <a:lnTo>
                    <a:pt x="2362492" y="450773"/>
                  </a:lnTo>
                  <a:lnTo>
                    <a:pt x="2377097" y="460603"/>
                  </a:lnTo>
                  <a:lnTo>
                    <a:pt x="2386927" y="475246"/>
                  </a:lnTo>
                  <a:lnTo>
                    <a:pt x="2390521" y="493268"/>
                  </a:lnTo>
                  <a:lnTo>
                    <a:pt x="2394191" y="475246"/>
                  </a:lnTo>
                  <a:lnTo>
                    <a:pt x="2404186" y="460603"/>
                  </a:lnTo>
                  <a:lnTo>
                    <a:pt x="2418969" y="450773"/>
                  </a:lnTo>
                  <a:lnTo>
                    <a:pt x="2437003" y="447167"/>
                  </a:lnTo>
                  <a:close/>
                </a:path>
                <a:path w="2802890" h="669289">
                  <a:moveTo>
                    <a:pt x="2454656" y="3937"/>
                  </a:moveTo>
                  <a:lnTo>
                    <a:pt x="2450719" y="0"/>
                  </a:lnTo>
                  <a:lnTo>
                    <a:pt x="2441321" y="0"/>
                  </a:lnTo>
                  <a:lnTo>
                    <a:pt x="2437384" y="3937"/>
                  </a:lnTo>
                  <a:lnTo>
                    <a:pt x="2437384" y="76835"/>
                  </a:lnTo>
                  <a:lnTo>
                    <a:pt x="2441321" y="80391"/>
                  </a:lnTo>
                  <a:lnTo>
                    <a:pt x="2450719" y="80391"/>
                  </a:lnTo>
                  <a:lnTo>
                    <a:pt x="2454656" y="76835"/>
                  </a:lnTo>
                  <a:lnTo>
                    <a:pt x="2454656" y="3937"/>
                  </a:lnTo>
                  <a:close/>
                </a:path>
                <a:path w="2802890" h="669289">
                  <a:moveTo>
                    <a:pt x="2536444" y="287655"/>
                  </a:moveTo>
                  <a:lnTo>
                    <a:pt x="2518422" y="283984"/>
                  </a:lnTo>
                  <a:lnTo>
                    <a:pt x="2503690" y="273989"/>
                  </a:lnTo>
                  <a:lnTo>
                    <a:pt x="2493734" y="259207"/>
                  </a:lnTo>
                  <a:lnTo>
                    <a:pt x="2490089" y="241173"/>
                  </a:lnTo>
                  <a:lnTo>
                    <a:pt x="2486431" y="259207"/>
                  </a:lnTo>
                  <a:lnTo>
                    <a:pt x="2476462" y="273989"/>
                  </a:lnTo>
                  <a:lnTo>
                    <a:pt x="2461691" y="283984"/>
                  </a:lnTo>
                  <a:lnTo>
                    <a:pt x="2443607" y="287655"/>
                  </a:lnTo>
                  <a:lnTo>
                    <a:pt x="2461691" y="291261"/>
                  </a:lnTo>
                  <a:lnTo>
                    <a:pt x="2476462" y="301091"/>
                  </a:lnTo>
                  <a:lnTo>
                    <a:pt x="2486431" y="315734"/>
                  </a:lnTo>
                  <a:lnTo>
                    <a:pt x="2490089" y="333756"/>
                  </a:lnTo>
                  <a:lnTo>
                    <a:pt x="2493734" y="315734"/>
                  </a:lnTo>
                  <a:lnTo>
                    <a:pt x="2503690" y="301091"/>
                  </a:lnTo>
                  <a:lnTo>
                    <a:pt x="2518422" y="291261"/>
                  </a:lnTo>
                  <a:lnTo>
                    <a:pt x="2536444" y="287655"/>
                  </a:lnTo>
                  <a:close/>
                </a:path>
                <a:path w="2802890" h="669289">
                  <a:moveTo>
                    <a:pt x="2701544" y="601218"/>
                  </a:moveTo>
                  <a:lnTo>
                    <a:pt x="2650109" y="549656"/>
                  </a:lnTo>
                  <a:lnTo>
                    <a:pt x="2644521" y="549656"/>
                  </a:lnTo>
                  <a:lnTo>
                    <a:pt x="2641473" y="553212"/>
                  </a:lnTo>
                  <a:lnTo>
                    <a:pt x="2637917" y="556260"/>
                  </a:lnTo>
                  <a:lnTo>
                    <a:pt x="2637917" y="561848"/>
                  </a:lnTo>
                  <a:lnTo>
                    <a:pt x="2685923" y="609854"/>
                  </a:lnTo>
                  <a:lnTo>
                    <a:pt x="2687447" y="611505"/>
                  </a:lnTo>
                  <a:lnTo>
                    <a:pt x="2689733" y="612648"/>
                  </a:lnTo>
                  <a:lnTo>
                    <a:pt x="2694178" y="612648"/>
                  </a:lnTo>
                  <a:lnTo>
                    <a:pt x="2696464" y="611505"/>
                  </a:lnTo>
                  <a:lnTo>
                    <a:pt x="2697988" y="609854"/>
                  </a:lnTo>
                  <a:lnTo>
                    <a:pt x="2701544" y="606679"/>
                  </a:lnTo>
                  <a:lnTo>
                    <a:pt x="2701544" y="601218"/>
                  </a:lnTo>
                  <a:close/>
                </a:path>
                <a:path w="2802890" h="669289">
                  <a:moveTo>
                    <a:pt x="2701544" y="108331"/>
                  </a:moveTo>
                  <a:lnTo>
                    <a:pt x="2697988" y="104775"/>
                  </a:lnTo>
                  <a:lnTo>
                    <a:pt x="2694940" y="101219"/>
                  </a:lnTo>
                  <a:lnTo>
                    <a:pt x="2689352" y="101219"/>
                  </a:lnTo>
                  <a:lnTo>
                    <a:pt x="2685923" y="104775"/>
                  </a:lnTo>
                  <a:lnTo>
                    <a:pt x="2637917" y="152908"/>
                  </a:lnTo>
                  <a:lnTo>
                    <a:pt x="2637917" y="158369"/>
                  </a:lnTo>
                  <a:lnTo>
                    <a:pt x="2641473" y="161544"/>
                  </a:lnTo>
                  <a:lnTo>
                    <a:pt x="2642997" y="163068"/>
                  </a:lnTo>
                  <a:lnTo>
                    <a:pt x="2645410" y="164338"/>
                  </a:lnTo>
                  <a:lnTo>
                    <a:pt x="2649728" y="164338"/>
                  </a:lnTo>
                  <a:lnTo>
                    <a:pt x="2652014" y="163068"/>
                  </a:lnTo>
                  <a:lnTo>
                    <a:pt x="2653665" y="161544"/>
                  </a:lnTo>
                  <a:lnTo>
                    <a:pt x="2701544" y="113411"/>
                  </a:lnTo>
                  <a:lnTo>
                    <a:pt x="2701544" y="108331"/>
                  </a:lnTo>
                  <a:close/>
                </a:path>
                <a:path w="2802890" h="669289">
                  <a:moveTo>
                    <a:pt x="2802636" y="352679"/>
                  </a:moveTo>
                  <a:lnTo>
                    <a:pt x="2798699" y="348615"/>
                  </a:lnTo>
                  <a:lnTo>
                    <a:pt x="2726309" y="348615"/>
                  </a:lnTo>
                  <a:lnTo>
                    <a:pt x="2722372" y="352679"/>
                  </a:lnTo>
                  <a:lnTo>
                    <a:pt x="2722372" y="362077"/>
                  </a:lnTo>
                  <a:lnTo>
                    <a:pt x="2726309" y="366014"/>
                  </a:lnTo>
                  <a:lnTo>
                    <a:pt x="2798699" y="366014"/>
                  </a:lnTo>
                  <a:lnTo>
                    <a:pt x="2802636" y="362077"/>
                  </a:lnTo>
                  <a:lnTo>
                    <a:pt x="2802636" y="352679"/>
                  </a:lnTo>
                  <a:close/>
                </a:path>
              </a:pathLst>
            </a:custGeom>
            <a:solidFill>
              <a:srgbClr val="03522C"/>
            </a:solidFill>
          </p:spPr>
          <p:txBody>
            <a:bodyPr wrap="square" lIns="0" tIns="0" rIns="0" bIns="0" rtlCol="0"/>
            <a:lstStyle/>
            <a:p>
              <a:endParaRPr/>
            </a:p>
          </p:txBody>
        </p:sp>
        <p:sp>
          <p:nvSpPr>
            <p:cNvPr id="65" name="object 65"/>
            <p:cNvSpPr/>
            <p:nvPr/>
          </p:nvSpPr>
          <p:spPr>
            <a:xfrm>
              <a:off x="6633972" y="4904232"/>
              <a:ext cx="474345" cy="408940"/>
            </a:xfrm>
            <a:custGeom>
              <a:avLst/>
              <a:gdLst/>
              <a:ahLst/>
              <a:cxnLst/>
              <a:rect l="l" t="t" r="r" b="b"/>
              <a:pathLst>
                <a:path w="474345" h="408939">
                  <a:moveTo>
                    <a:pt x="239775" y="408051"/>
                  </a:moveTo>
                  <a:lnTo>
                    <a:pt x="235838" y="408051"/>
                  </a:lnTo>
                  <a:lnTo>
                    <a:pt x="236220" y="408432"/>
                  </a:lnTo>
                  <a:lnTo>
                    <a:pt x="239395" y="408432"/>
                  </a:lnTo>
                  <a:lnTo>
                    <a:pt x="239775" y="408051"/>
                  </a:lnTo>
                  <a:close/>
                </a:path>
                <a:path w="474345" h="408939">
                  <a:moveTo>
                    <a:pt x="241300" y="407670"/>
                  </a:moveTo>
                  <a:lnTo>
                    <a:pt x="234187" y="407670"/>
                  </a:lnTo>
                  <a:lnTo>
                    <a:pt x="234569" y="408051"/>
                  </a:lnTo>
                  <a:lnTo>
                    <a:pt x="240919" y="408051"/>
                  </a:lnTo>
                  <a:lnTo>
                    <a:pt x="241300" y="407670"/>
                  </a:lnTo>
                  <a:close/>
                </a:path>
                <a:path w="474345" h="408939">
                  <a:moveTo>
                    <a:pt x="241680" y="407289"/>
                  </a:moveTo>
                  <a:lnTo>
                    <a:pt x="233806" y="407289"/>
                  </a:lnTo>
                  <a:lnTo>
                    <a:pt x="233806" y="407670"/>
                  </a:lnTo>
                  <a:lnTo>
                    <a:pt x="241680" y="407670"/>
                  </a:lnTo>
                  <a:lnTo>
                    <a:pt x="241680" y="407289"/>
                  </a:lnTo>
                  <a:close/>
                </a:path>
                <a:path w="474345" h="408939">
                  <a:moveTo>
                    <a:pt x="472821" y="148082"/>
                  </a:moveTo>
                  <a:lnTo>
                    <a:pt x="1143" y="148082"/>
                  </a:lnTo>
                  <a:lnTo>
                    <a:pt x="1143" y="148463"/>
                  </a:lnTo>
                  <a:lnTo>
                    <a:pt x="1904" y="149225"/>
                  </a:lnTo>
                  <a:lnTo>
                    <a:pt x="1904" y="149606"/>
                  </a:lnTo>
                  <a:lnTo>
                    <a:pt x="231521" y="405638"/>
                  </a:lnTo>
                  <a:lnTo>
                    <a:pt x="232282" y="406400"/>
                  </a:lnTo>
                  <a:lnTo>
                    <a:pt x="232663" y="406908"/>
                  </a:lnTo>
                  <a:lnTo>
                    <a:pt x="233045" y="407289"/>
                  </a:lnTo>
                  <a:lnTo>
                    <a:pt x="242443" y="407289"/>
                  </a:lnTo>
                  <a:lnTo>
                    <a:pt x="243712" y="406019"/>
                  </a:lnTo>
                  <a:lnTo>
                    <a:pt x="244094" y="406019"/>
                  </a:lnTo>
                  <a:lnTo>
                    <a:pt x="244094" y="405638"/>
                  </a:lnTo>
                  <a:lnTo>
                    <a:pt x="273155" y="372999"/>
                  </a:lnTo>
                  <a:lnTo>
                    <a:pt x="237744" y="372999"/>
                  </a:lnTo>
                  <a:lnTo>
                    <a:pt x="233899" y="361950"/>
                  </a:lnTo>
                  <a:lnTo>
                    <a:pt x="215773" y="361950"/>
                  </a:lnTo>
                  <a:lnTo>
                    <a:pt x="27939" y="152400"/>
                  </a:lnTo>
                  <a:lnTo>
                    <a:pt x="469571" y="152400"/>
                  </a:lnTo>
                  <a:lnTo>
                    <a:pt x="472058" y="149606"/>
                  </a:lnTo>
                  <a:lnTo>
                    <a:pt x="472058" y="149225"/>
                  </a:lnTo>
                  <a:lnTo>
                    <a:pt x="472821" y="148463"/>
                  </a:lnTo>
                  <a:lnTo>
                    <a:pt x="472821" y="148082"/>
                  </a:lnTo>
                  <a:close/>
                </a:path>
                <a:path w="474345" h="408939">
                  <a:moveTo>
                    <a:pt x="331343" y="152400"/>
                  </a:moveTo>
                  <a:lnTo>
                    <a:pt x="312800" y="152400"/>
                  </a:lnTo>
                  <a:lnTo>
                    <a:pt x="237744" y="372999"/>
                  </a:lnTo>
                  <a:lnTo>
                    <a:pt x="273155" y="372999"/>
                  </a:lnTo>
                  <a:lnTo>
                    <a:pt x="282992" y="361950"/>
                  </a:lnTo>
                  <a:lnTo>
                    <a:pt x="259714" y="361950"/>
                  </a:lnTo>
                  <a:lnTo>
                    <a:pt x="331343" y="152400"/>
                  </a:lnTo>
                  <a:close/>
                </a:path>
                <a:path w="474345" h="408939">
                  <a:moveTo>
                    <a:pt x="201549" y="268986"/>
                  </a:moveTo>
                  <a:lnTo>
                    <a:pt x="198604" y="275006"/>
                  </a:lnTo>
                  <a:lnTo>
                    <a:pt x="196183" y="281622"/>
                  </a:lnTo>
                  <a:lnTo>
                    <a:pt x="194190" y="288524"/>
                  </a:lnTo>
                  <a:lnTo>
                    <a:pt x="192531" y="295402"/>
                  </a:lnTo>
                  <a:lnTo>
                    <a:pt x="215773" y="361950"/>
                  </a:lnTo>
                  <a:lnTo>
                    <a:pt x="233899" y="361950"/>
                  </a:lnTo>
                  <a:lnTo>
                    <a:pt x="201549" y="268986"/>
                  </a:lnTo>
                  <a:close/>
                </a:path>
                <a:path w="474345" h="408939">
                  <a:moveTo>
                    <a:pt x="469571" y="152400"/>
                  </a:moveTo>
                  <a:lnTo>
                    <a:pt x="446024" y="152400"/>
                  </a:lnTo>
                  <a:lnTo>
                    <a:pt x="259714" y="361950"/>
                  </a:lnTo>
                  <a:lnTo>
                    <a:pt x="282992" y="361950"/>
                  </a:lnTo>
                  <a:lnTo>
                    <a:pt x="469571" y="152400"/>
                  </a:lnTo>
                  <a:close/>
                </a:path>
                <a:path w="474345" h="408939">
                  <a:moveTo>
                    <a:pt x="161544" y="152400"/>
                  </a:moveTo>
                  <a:lnTo>
                    <a:pt x="143509" y="152400"/>
                  </a:lnTo>
                  <a:lnTo>
                    <a:pt x="160400" y="201676"/>
                  </a:lnTo>
                  <a:lnTo>
                    <a:pt x="163411" y="195865"/>
                  </a:lnTo>
                  <a:lnTo>
                    <a:pt x="166004" y="189769"/>
                  </a:lnTo>
                  <a:lnTo>
                    <a:pt x="168241" y="183530"/>
                  </a:lnTo>
                  <a:lnTo>
                    <a:pt x="170179" y="177292"/>
                  </a:lnTo>
                  <a:lnTo>
                    <a:pt x="161544" y="152400"/>
                  </a:lnTo>
                  <a:close/>
                </a:path>
                <a:path w="474345" h="408939">
                  <a:moveTo>
                    <a:pt x="473963" y="141351"/>
                  </a:moveTo>
                  <a:lnTo>
                    <a:pt x="0" y="141351"/>
                  </a:lnTo>
                  <a:lnTo>
                    <a:pt x="0" y="146177"/>
                  </a:lnTo>
                  <a:lnTo>
                    <a:pt x="380" y="146558"/>
                  </a:lnTo>
                  <a:lnTo>
                    <a:pt x="380" y="146939"/>
                  </a:lnTo>
                  <a:lnTo>
                    <a:pt x="761" y="147320"/>
                  </a:lnTo>
                  <a:lnTo>
                    <a:pt x="761" y="148082"/>
                  </a:lnTo>
                  <a:lnTo>
                    <a:pt x="473201" y="148082"/>
                  </a:lnTo>
                  <a:lnTo>
                    <a:pt x="473201" y="147320"/>
                  </a:lnTo>
                  <a:lnTo>
                    <a:pt x="473582" y="146939"/>
                  </a:lnTo>
                  <a:lnTo>
                    <a:pt x="473582" y="146558"/>
                  </a:lnTo>
                  <a:lnTo>
                    <a:pt x="473963" y="146177"/>
                  </a:lnTo>
                  <a:lnTo>
                    <a:pt x="473963" y="141351"/>
                  </a:lnTo>
                  <a:close/>
                </a:path>
                <a:path w="474345" h="408939">
                  <a:moveTo>
                    <a:pt x="378078" y="3175"/>
                  </a:moveTo>
                  <a:lnTo>
                    <a:pt x="95884" y="3175"/>
                  </a:lnTo>
                  <a:lnTo>
                    <a:pt x="95884" y="3556"/>
                  </a:lnTo>
                  <a:lnTo>
                    <a:pt x="1524" y="138684"/>
                  </a:lnTo>
                  <a:lnTo>
                    <a:pt x="761" y="139446"/>
                  </a:lnTo>
                  <a:lnTo>
                    <a:pt x="761" y="140208"/>
                  </a:lnTo>
                  <a:lnTo>
                    <a:pt x="380" y="140589"/>
                  </a:lnTo>
                  <a:lnTo>
                    <a:pt x="380" y="141351"/>
                  </a:lnTo>
                  <a:lnTo>
                    <a:pt x="473582" y="141351"/>
                  </a:lnTo>
                  <a:lnTo>
                    <a:pt x="473582" y="140589"/>
                  </a:lnTo>
                  <a:lnTo>
                    <a:pt x="473201" y="140208"/>
                  </a:lnTo>
                  <a:lnTo>
                    <a:pt x="473201" y="139446"/>
                  </a:lnTo>
                  <a:lnTo>
                    <a:pt x="472439" y="138684"/>
                  </a:lnTo>
                  <a:lnTo>
                    <a:pt x="469956" y="135128"/>
                  </a:lnTo>
                  <a:lnTo>
                    <a:pt x="25146" y="135128"/>
                  </a:lnTo>
                  <a:lnTo>
                    <a:pt x="100202" y="27178"/>
                  </a:lnTo>
                  <a:lnTo>
                    <a:pt x="118616" y="27178"/>
                  </a:lnTo>
                  <a:lnTo>
                    <a:pt x="115188" y="17272"/>
                  </a:lnTo>
                  <a:lnTo>
                    <a:pt x="387656" y="17272"/>
                  </a:lnTo>
                  <a:lnTo>
                    <a:pt x="378078" y="3556"/>
                  </a:lnTo>
                  <a:lnTo>
                    <a:pt x="378078" y="3175"/>
                  </a:lnTo>
                  <a:close/>
                </a:path>
                <a:path w="474345" h="408939">
                  <a:moveTo>
                    <a:pt x="118616" y="27178"/>
                  </a:moveTo>
                  <a:lnTo>
                    <a:pt x="100202" y="27178"/>
                  </a:lnTo>
                  <a:lnTo>
                    <a:pt x="137541" y="135128"/>
                  </a:lnTo>
                  <a:lnTo>
                    <a:pt x="165480" y="135128"/>
                  </a:lnTo>
                  <a:lnTo>
                    <a:pt x="172614" y="124079"/>
                  </a:lnTo>
                  <a:lnTo>
                    <a:pt x="152146" y="124079"/>
                  </a:lnTo>
                  <a:lnTo>
                    <a:pt x="118616" y="27178"/>
                  </a:lnTo>
                  <a:close/>
                </a:path>
                <a:path w="474345" h="408939">
                  <a:moveTo>
                    <a:pt x="307721" y="101219"/>
                  </a:moveTo>
                  <a:lnTo>
                    <a:pt x="303022" y="105156"/>
                  </a:lnTo>
                  <a:lnTo>
                    <a:pt x="299466" y="110236"/>
                  </a:lnTo>
                  <a:lnTo>
                    <a:pt x="296672" y="116205"/>
                  </a:lnTo>
                  <a:lnTo>
                    <a:pt x="308863" y="135128"/>
                  </a:lnTo>
                  <a:lnTo>
                    <a:pt x="337184" y="135128"/>
                  </a:lnTo>
                  <a:lnTo>
                    <a:pt x="340941" y="124079"/>
                  </a:lnTo>
                  <a:lnTo>
                    <a:pt x="322706" y="124079"/>
                  </a:lnTo>
                  <a:lnTo>
                    <a:pt x="307721" y="101219"/>
                  </a:lnTo>
                  <a:close/>
                </a:path>
                <a:path w="474345" h="408939">
                  <a:moveTo>
                    <a:pt x="394840" y="27559"/>
                  </a:moveTo>
                  <a:lnTo>
                    <a:pt x="373760" y="27559"/>
                  </a:lnTo>
                  <a:lnTo>
                    <a:pt x="448818" y="135128"/>
                  </a:lnTo>
                  <a:lnTo>
                    <a:pt x="469956" y="135128"/>
                  </a:lnTo>
                  <a:lnTo>
                    <a:pt x="394840" y="27559"/>
                  </a:lnTo>
                  <a:close/>
                </a:path>
                <a:path w="474345" h="408939">
                  <a:moveTo>
                    <a:pt x="253110" y="17272"/>
                  </a:moveTo>
                  <a:lnTo>
                    <a:pt x="221233" y="17272"/>
                  </a:lnTo>
                  <a:lnTo>
                    <a:pt x="152146" y="124079"/>
                  </a:lnTo>
                  <a:lnTo>
                    <a:pt x="172614" y="124079"/>
                  </a:lnTo>
                  <a:lnTo>
                    <a:pt x="236981" y="24384"/>
                  </a:lnTo>
                  <a:lnTo>
                    <a:pt x="257682" y="24384"/>
                  </a:lnTo>
                  <a:lnTo>
                    <a:pt x="253110" y="17272"/>
                  </a:lnTo>
                  <a:close/>
                </a:path>
                <a:path w="474345" h="408939">
                  <a:moveTo>
                    <a:pt x="387656" y="17272"/>
                  </a:moveTo>
                  <a:lnTo>
                    <a:pt x="358775" y="17272"/>
                  </a:lnTo>
                  <a:lnTo>
                    <a:pt x="322706" y="124079"/>
                  </a:lnTo>
                  <a:lnTo>
                    <a:pt x="340941" y="124079"/>
                  </a:lnTo>
                  <a:lnTo>
                    <a:pt x="373760" y="27559"/>
                  </a:lnTo>
                  <a:lnTo>
                    <a:pt x="394840" y="27559"/>
                  </a:lnTo>
                  <a:lnTo>
                    <a:pt x="387656" y="17272"/>
                  </a:lnTo>
                  <a:close/>
                </a:path>
                <a:path w="474345" h="408939">
                  <a:moveTo>
                    <a:pt x="257682" y="24384"/>
                  </a:moveTo>
                  <a:lnTo>
                    <a:pt x="236981" y="24384"/>
                  </a:lnTo>
                  <a:lnTo>
                    <a:pt x="253492" y="50038"/>
                  </a:lnTo>
                  <a:lnTo>
                    <a:pt x="258191" y="45720"/>
                  </a:lnTo>
                  <a:lnTo>
                    <a:pt x="261747" y="40513"/>
                  </a:lnTo>
                  <a:lnTo>
                    <a:pt x="264541" y="35052"/>
                  </a:lnTo>
                  <a:lnTo>
                    <a:pt x="257682" y="24384"/>
                  </a:lnTo>
                  <a:close/>
                </a:path>
                <a:path w="474345" h="408939">
                  <a:moveTo>
                    <a:pt x="377698" y="2794"/>
                  </a:moveTo>
                  <a:lnTo>
                    <a:pt x="96266" y="2794"/>
                  </a:lnTo>
                  <a:lnTo>
                    <a:pt x="96266" y="3175"/>
                  </a:lnTo>
                  <a:lnTo>
                    <a:pt x="377698" y="3175"/>
                  </a:lnTo>
                  <a:lnTo>
                    <a:pt x="377698" y="2794"/>
                  </a:lnTo>
                  <a:close/>
                </a:path>
                <a:path w="474345" h="408939">
                  <a:moveTo>
                    <a:pt x="377317" y="2413"/>
                  </a:moveTo>
                  <a:lnTo>
                    <a:pt x="96647" y="2413"/>
                  </a:lnTo>
                  <a:lnTo>
                    <a:pt x="96647" y="2794"/>
                  </a:lnTo>
                  <a:lnTo>
                    <a:pt x="377317" y="2794"/>
                  </a:lnTo>
                  <a:lnTo>
                    <a:pt x="377317" y="2413"/>
                  </a:lnTo>
                  <a:close/>
                </a:path>
                <a:path w="474345" h="408939">
                  <a:moveTo>
                    <a:pt x="376935" y="2032"/>
                  </a:moveTo>
                  <a:lnTo>
                    <a:pt x="97027" y="2032"/>
                  </a:lnTo>
                  <a:lnTo>
                    <a:pt x="97027" y="2413"/>
                  </a:lnTo>
                  <a:lnTo>
                    <a:pt x="376935" y="2413"/>
                  </a:lnTo>
                  <a:lnTo>
                    <a:pt x="376935" y="2032"/>
                  </a:lnTo>
                  <a:close/>
                </a:path>
                <a:path w="474345" h="408939">
                  <a:moveTo>
                    <a:pt x="376554" y="1524"/>
                  </a:moveTo>
                  <a:lnTo>
                    <a:pt x="97408" y="1524"/>
                  </a:lnTo>
                  <a:lnTo>
                    <a:pt x="97408" y="2032"/>
                  </a:lnTo>
                  <a:lnTo>
                    <a:pt x="376554" y="2032"/>
                  </a:lnTo>
                  <a:lnTo>
                    <a:pt x="376554" y="1524"/>
                  </a:lnTo>
                  <a:close/>
                </a:path>
                <a:path w="474345" h="408939">
                  <a:moveTo>
                    <a:pt x="376047" y="1143"/>
                  </a:moveTo>
                  <a:lnTo>
                    <a:pt x="97917" y="1143"/>
                  </a:lnTo>
                  <a:lnTo>
                    <a:pt x="97917" y="1524"/>
                  </a:lnTo>
                  <a:lnTo>
                    <a:pt x="376047" y="1524"/>
                  </a:lnTo>
                  <a:lnTo>
                    <a:pt x="376047" y="1143"/>
                  </a:lnTo>
                  <a:close/>
                </a:path>
                <a:path w="474345" h="408939">
                  <a:moveTo>
                    <a:pt x="375284" y="762"/>
                  </a:moveTo>
                  <a:lnTo>
                    <a:pt x="98678" y="762"/>
                  </a:lnTo>
                  <a:lnTo>
                    <a:pt x="98678" y="1143"/>
                  </a:lnTo>
                  <a:lnTo>
                    <a:pt x="375666" y="1143"/>
                  </a:lnTo>
                  <a:lnTo>
                    <a:pt x="375284" y="762"/>
                  </a:lnTo>
                  <a:close/>
                </a:path>
                <a:path w="474345" h="408939">
                  <a:moveTo>
                    <a:pt x="374523" y="381"/>
                  </a:moveTo>
                  <a:lnTo>
                    <a:pt x="99441" y="381"/>
                  </a:lnTo>
                  <a:lnTo>
                    <a:pt x="99441" y="762"/>
                  </a:lnTo>
                  <a:lnTo>
                    <a:pt x="374523" y="762"/>
                  </a:lnTo>
                  <a:lnTo>
                    <a:pt x="374523" y="381"/>
                  </a:lnTo>
                  <a:close/>
                </a:path>
                <a:path w="474345" h="408939">
                  <a:moveTo>
                    <a:pt x="373379" y="0"/>
                  </a:moveTo>
                  <a:lnTo>
                    <a:pt x="100583" y="0"/>
                  </a:lnTo>
                  <a:lnTo>
                    <a:pt x="100202" y="381"/>
                  </a:lnTo>
                  <a:lnTo>
                    <a:pt x="373760" y="381"/>
                  </a:lnTo>
                  <a:lnTo>
                    <a:pt x="373379" y="0"/>
                  </a:lnTo>
                  <a:close/>
                </a:path>
              </a:pathLst>
            </a:custGeom>
            <a:solidFill>
              <a:srgbClr val="29B974"/>
            </a:solidFill>
          </p:spPr>
          <p:txBody>
            <a:bodyPr wrap="square" lIns="0" tIns="0" rIns="0" bIns="0" rtlCol="0"/>
            <a:lstStyle/>
            <a:p>
              <a:endParaRPr/>
            </a:p>
          </p:txBody>
        </p:sp>
        <p:sp>
          <p:nvSpPr>
            <p:cNvPr id="66" name="object 66"/>
            <p:cNvSpPr/>
            <p:nvPr/>
          </p:nvSpPr>
          <p:spPr>
            <a:xfrm>
              <a:off x="4111751" y="3456431"/>
              <a:ext cx="370840" cy="376555"/>
            </a:xfrm>
            <a:custGeom>
              <a:avLst/>
              <a:gdLst/>
              <a:ahLst/>
              <a:cxnLst/>
              <a:rect l="l" t="t" r="r" b="b"/>
              <a:pathLst>
                <a:path w="370839" h="376554">
                  <a:moveTo>
                    <a:pt x="147320" y="258952"/>
                  </a:moveTo>
                  <a:lnTo>
                    <a:pt x="48387" y="258952"/>
                  </a:lnTo>
                  <a:lnTo>
                    <a:pt x="48387" y="274700"/>
                  </a:lnTo>
                  <a:lnTo>
                    <a:pt x="141986" y="274700"/>
                  </a:lnTo>
                  <a:lnTo>
                    <a:pt x="157803" y="291234"/>
                  </a:lnTo>
                  <a:lnTo>
                    <a:pt x="173561" y="308197"/>
                  </a:lnTo>
                  <a:lnTo>
                    <a:pt x="216804" y="355806"/>
                  </a:lnTo>
                  <a:lnTo>
                    <a:pt x="222347" y="361832"/>
                  </a:lnTo>
                  <a:lnTo>
                    <a:pt x="226568" y="366013"/>
                  </a:lnTo>
                  <a:lnTo>
                    <a:pt x="233045" y="372871"/>
                  </a:lnTo>
                  <a:lnTo>
                    <a:pt x="239522" y="376427"/>
                  </a:lnTo>
                  <a:lnTo>
                    <a:pt x="248412" y="376427"/>
                  </a:lnTo>
                  <a:lnTo>
                    <a:pt x="249555" y="376046"/>
                  </a:lnTo>
                  <a:lnTo>
                    <a:pt x="258825" y="373887"/>
                  </a:lnTo>
                  <a:lnTo>
                    <a:pt x="262763" y="363219"/>
                  </a:lnTo>
                  <a:lnTo>
                    <a:pt x="263144" y="362457"/>
                  </a:lnTo>
                  <a:lnTo>
                    <a:pt x="263144" y="360679"/>
                  </a:lnTo>
                  <a:lnTo>
                    <a:pt x="245237" y="360679"/>
                  </a:lnTo>
                  <a:lnTo>
                    <a:pt x="242697" y="360044"/>
                  </a:lnTo>
                  <a:lnTo>
                    <a:pt x="233729" y="350885"/>
                  </a:lnTo>
                  <a:lnTo>
                    <a:pt x="228298" y="345090"/>
                  </a:lnTo>
                  <a:lnTo>
                    <a:pt x="221652" y="337819"/>
                  </a:lnTo>
                  <a:lnTo>
                    <a:pt x="199774" y="313461"/>
                  </a:lnTo>
                  <a:lnTo>
                    <a:pt x="183959" y="296148"/>
                  </a:lnTo>
                  <a:lnTo>
                    <a:pt x="167382" y="278429"/>
                  </a:lnTo>
                  <a:lnTo>
                    <a:pt x="150875" y="261365"/>
                  </a:lnTo>
                  <a:lnTo>
                    <a:pt x="149478" y="259968"/>
                  </a:lnTo>
                  <a:lnTo>
                    <a:pt x="147320" y="258952"/>
                  </a:lnTo>
                  <a:close/>
                </a:path>
                <a:path w="370839" h="376554">
                  <a:moveTo>
                    <a:pt x="370332" y="15747"/>
                  </a:moveTo>
                  <a:lnTo>
                    <a:pt x="354584" y="15747"/>
                  </a:lnTo>
                  <a:lnTo>
                    <a:pt x="354584" y="258952"/>
                  </a:lnTo>
                  <a:lnTo>
                    <a:pt x="250951" y="258952"/>
                  </a:lnTo>
                  <a:lnTo>
                    <a:pt x="247396" y="262508"/>
                  </a:lnTo>
                  <a:lnTo>
                    <a:pt x="247396" y="358901"/>
                  </a:lnTo>
                  <a:lnTo>
                    <a:pt x="247014" y="360044"/>
                  </a:lnTo>
                  <a:lnTo>
                    <a:pt x="246252" y="360679"/>
                  </a:lnTo>
                  <a:lnTo>
                    <a:pt x="263144" y="360679"/>
                  </a:lnTo>
                  <a:lnTo>
                    <a:pt x="263144" y="274700"/>
                  </a:lnTo>
                  <a:lnTo>
                    <a:pt x="363220" y="274700"/>
                  </a:lnTo>
                  <a:lnTo>
                    <a:pt x="370332" y="267842"/>
                  </a:lnTo>
                  <a:lnTo>
                    <a:pt x="370332" y="15747"/>
                  </a:lnTo>
                  <a:close/>
                </a:path>
                <a:path w="370839" h="376554">
                  <a:moveTo>
                    <a:pt x="363220" y="0"/>
                  </a:moveTo>
                  <a:lnTo>
                    <a:pt x="7112" y="0"/>
                  </a:lnTo>
                  <a:lnTo>
                    <a:pt x="0" y="7112"/>
                  </a:lnTo>
                  <a:lnTo>
                    <a:pt x="0" y="91439"/>
                  </a:lnTo>
                  <a:lnTo>
                    <a:pt x="15748" y="91439"/>
                  </a:lnTo>
                  <a:lnTo>
                    <a:pt x="15748" y="15747"/>
                  </a:lnTo>
                  <a:lnTo>
                    <a:pt x="370332" y="15747"/>
                  </a:lnTo>
                  <a:lnTo>
                    <a:pt x="370332" y="7112"/>
                  </a:lnTo>
                  <a:lnTo>
                    <a:pt x="363220" y="0"/>
                  </a:lnTo>
                  <a:close/>
                </a:path>
              </a:pathLst>
            </a:custGeom>
            <a:solidFill>
              <a:srgbClr val="03522C"/>
            </a:solidFill>
          </p:spPr>
          <p:txBody>
            <a:bodyPr wrap="square" lIns="0" tIns="0" rIns="0" bIns="0" rtlCol="0"/>
            <a:lstStyle/>
            <a:p>
              <a:endParaRPr/>
            </a:p>
          </p:txBody>
        </p:sp>
        <p:sp>
          <p:nvSpPr>
            <p:cNvPr id="67" name="object 67"/>
            <p:cNvSpPr/>
            <p:nvPr/>
          </p:nvSpPr>
          <p:spPr>
            <a:xfrm>
              <a:off x="3774947" y="3497579"/>
              <a:ext cx="628015" cy="443865"/>
            </a:xfrm>
            <a:custGeom>
              <a:avLst/>
              <a:gdLst/>
              <a:ahLst/>
              <a:cxnLst/>
              <a:rect l="l" t="t" r="r" b="b"/>
              <a:pathLst>
                <a:path w="628014" h="443864">
                  <a:moveTo>
                    <a:pt x="228218" y="341376"/>
                  </a:moveTo>
                  <a:lnTo>
                    <a:pt x="107061" y="341376"/>
                  </a:lnTo>
                  <a:lnTo>
                    <a:pt x="107061" y="429514"/>
                  </a:lnTo>
                  <a:lnTo>
                    <a:pt x="107441" y="430276"/>
                  </a:lnTo>
                  <a:lnTo>
                    <a:pt x="111378" y="440944"/>
                  </a:lnTo>
                  <a:lnTo>
                    <a:pt x="120650" y="443103"/>
                  </a:lnTo>
                  <a:lnTo>
                    <a:pt x="122174" y="443484"/>
                  </a:lnTo>
                  <a:lnTo>
                    <a:pt x="130682" y="443484"/>
                  </a:lnTo>
                  <a:lnTo>
                    <a:pt x="137160" y="440309"/>
                  </a:lnTo>
                  <a:lnTo>
                    <a:pt x="143637" y="433451"/>
                  </a:lnTo>
                  <a:lnTo>
                    <a:pt x="147857" y="429029"/>
                  </a:lnTo>
                  <a:lnTo>
                    <a:pt x="153400" y="422941"/>
                  </a:lnTo>
                  <a:lnTo>
                    <a:pt x="168021" y="406527"/>
                  </a:lnTo>
                  <a:lnTo>
                    <a:pt x="196595" y="375046"/>
                  </a:lnTo>
                  <a:lnTo>
                    <a:pt x="212383" y="358003"/>
                  </a:lnTo>
                  <a:lnTo>
                    <a:pt x="228218" y="341376"/>
                  </a:lnTo>
                  <a:close/>
                </a:path>
                <a:path w="628014" h="443864">
                  <a:moveTo>
                    <a:pt x="362838" y="65912"/>
                  </a:moveTo>
                  <a:lnTo>
                    <a:pt x="7112" y="65912"/>
                  </a:lnTo>
                  <a:lnTo>
                    <a:pt x="0" y="73025"/>
                  </a:lnTo>
                  <a:lnTo>
                    <a:pt x="0" y="334645"/>
                  </a:lnTo>
                  <a:lnTo>
                    <a:pt x="7112" y="341376"/>
                  </a:lnTo>
                  <a:lnTo>
                    <a:pt x="362838" y="341376"/>
                  </a:lnTo>
                  <a:lnTo>
                    <a:pt x="369950" y="334645"/>
                  </a:lnTo>
                  <a:lnTo>
                    <a:pt x="369950" y="263652"/>
                  </a:lnTo>
                  <a:lnTo>
                    <a:pt x="67690" y="263652"/>
                  </a:lnTo>
                  <a:lnTo>
                    <a:pt x="64135" y="260477"/>
                  </a:lnTo>
                  <a:lnTo>
                    <a:pt x="64135" y="251460"/>
                  </a:lnTo>
                  <a:lnTo>
                    <a:pt x="67690" y="247904"/>
                  </a:lnTo>
                  <a:lnTo>
                    <a:pt x="369950" y="247904"/>
                  </a:lnTo>
                  <a:lnTo>
                    <a:pt x="369950" y="214630"/>
                  </a:lnTo>
                  <a:lnTo>
                    <a:pt x="67690" y="214630"/>
                  </a:lnTo>
                  <a:lnTo>
                    <a:pt x="64135" y="210947"/>
                  </a:lnTo>
                  <a:lnTo>
                    <a:pt x="64135" y="202057"/>
                  </a:lnTo>
                  <a:lnTo>
                    <a:pt x="67690" y="198755"/>
                  </a:lnTo>
                  <a:lnTo>
                    <a:pt x="369950" y="198755"/>
                  </a:lnTo>
                  <a:lnTo>
                    <a:pt x="369950" y="165862"/>
                  </a:lnTo>
                  <a:lnTo>
                    <a:pt x="67690" y="165862"/>
                  </a:lnTo>
                  <a:lnTo>
                    <a:pt x="64135" y="162306"/>
                  </a:lnTo>
                  <a:lnTo>
                    <a:pt x="64135" y="153670"/>
                  </a:lnTo>
                  <a:lnTo>
                    <a:pt x="67690" y="150114"/>
                  </a:lnTo>
                  <a:lnTo>
                    <a:pt x="369950" y="150114"/>
                  </a:lnTo>
                  <a:lnTo>
                    <a:pt x="369950" y="73025"/>
                  </a:lnTo>
                  <a:lnTo>
                    <a:pt x="362838" y="65912"/>
                  </a:lnTo>
                  <a:close/>
                </a:path>
                <a:path w="628014" h="443864">
                  <a:moveTo>
                    <a:pt x="369950" y="247904"/>
                  </a:moveTo>
                  <a:lnTo>
                    <a:pt x="302260" y="247904"/>
                  </a:lnTo>
                  <a:lnTo>
                    <a:pt x="305942" y="251460"/>
                  </a:lnTo>
                  <a:lnTo>
                    <a:pt x="305942" y="260477"/>
                  </a:lnTo>
                  <a:lnTo>
                    <a:pt x="302260" y="263652"/>
                  </a:lnTo>
                  <a:lnTo>
                    <a:pt x="369950" y="263652"/>
                  </a:lnTo>
                  <a:lnTo>
                    <a:pt x="369950" y="247904"/>
                  </a:lnTo>
                  <a:close/>
                </a:path>
                <a:path w="628014" h="443864">
                  <a:moveTo>
                    <a:pt x="369950" y="198755"/>
                  </a:moveTo>
                  <a:lnTo>
                    <a:pt x="302260" y="198755"/>
                  </a:lnTo>
                  <a:lnTo>
                    <a:pt x="305942" y="202057"/>
                  </a:lnTo>
                  <a:lnTo>
                    <a:pt x="305942" y="210947"/>
                  </a:lnTo>
                  <a:lnTo>
                    <a:pt x="302260" y="214630"/>
                  </a:lnTo>
                  <a:lnTo>
                    <a:pt x="369950" y="214630"/>
                  </a:lnTo>
                  <a:lnTo>
                    <a:pt x="369950" y="198755"/>
                  </a:lnTo>
                  <a:close/>
                </a:path>
                <a:path w="628014" h="443864">
                  <a:moveTo>
                    <a:pt x="369950" y="150114"/>
                  </a:moveTo>
                  <a:lnTo>
                    <a:pt x="302260" y="150114"/>
                  </a:lnTo>
                  <a:lnTo>
                    <a:pt x="305942" y="153670"/>
                  </a:lnTo>
                  <a:lnTo>
                    <a:pt x="305942" y="162306"/>
                  </a:lnTo>
                  <a:lnTo>
                    <a:pt x="302260" y="165862"/>
                  </a:lnTo>
                  <a:lnTo>
                    <a:pt x="369950" y="165862"/>
                  </a:lnTo>
                  <a:lnTo>
                    <a:pt x="369950" y="150114"/>
                  </a:lnTo>
                  <a:close/>
                </a:path>
                <a:path w="628014" h="443864">
                  <a:moveTo>
                    <a:pt x="529716" y="0"/>
                  </a:moveTo>
                  <a:lnTo>
                    <a:pt x="524144" y="42975"/>
                  </a:lnTo>
                  <a:lnTo>
                    <a:pt x="502919" y="56642"/>
                  </a:lnTo>
                  <a:lnTo>
                    <a:pt x="496062" y="60198"/>
                  </a:lnTo>
                  <a:lnTo>
                    <a:pt x="497839" y="62737"/>
                  </a:lnTo>
                  <a:lnTo>
                    <a:pt x="498982" y="65150"/>
                  </a:lnTo>
                  <a:lnTo>
                    <a:pt x="498982" y="168783"/>
                  </a:lnTo>
                  <a:lnTo>
                    <a:pt x="510321" y="174462"/>
                  </a:lnTo>
                  <a:lnTo>
                    <a:pt x="520445" y="177546"/>
                  </a:lnTo>
                  <a:lnTo>
                    <a:pt x="528951" y="178819"/>
                  </a:lnTo>
                  <a:lnTo>
                    <a:pt x="535431" y="179070"/>
                  </a:lnTo>
                  <a:lnTo>
                    <a:pt x="598169" y="179070"/>
                  </a:lnTo>
                  <a:lnTo>
                    <a:pt x="599948" y="177673"/>
                  </a:lnTo>
                  <a:lnTo>
                    <a:pt x="599948" y="150495"/>
                  </a:lnTo>
                  <a:lnTo>
                    <a:pt x="609600" y="150495"/>
                  </a:lnTo>
                  <a:lnTo>
                    <a:pt x="611377" y="148971"/>
                  </a:lnTo>
                  <a:lnTo>
                    <a:pt x="611377" y="121412"/>
                  </a:lnTo>
                  <a:lnTo>
                    <a:pt x="619632" y="121412"/>
                  </a:lnTo>
                  <a:lnTo>
                    <a:pt x="621029" y="120015"/>
                  </a:lnTo>
                  <a:lnTo>
                    <a:pt x="621029" y="92837"/>
                  </a:lnTo>
                  <a:lnTo>
                    <a:pt x="626490" y="92837"/>
                  </a:lnTo>
                  <a:lnTo>
                    <a:pt x="627888" y="91312"/>
                  </a:lnTo>
                  <a:lnTo>
                    <a:pt x="627888" y="64135"/>
                  </a:lnTo>
                  <a:lnTo>
                    <a:pt x="554863" y="64135"/>
                  </a:lnTo>
                  <a:lnTo>
                    <a:pt x="556371" y="61313"/>
                  </a:lnTo>
                  <a:lnTo>
                    <a:pt x="559688" y="53657"/>
                  </a:lnTo>
                  <a:lnTo>
                    <a:pt x="563006" y="42382"/>
                  </a:lnTo>
                  <a:lnTo>
                    <a:pt x="564514" y="28702"/>
                  </a:lnTo>
                  <a:lnTo>
                    <a:pt x="563685" y="24542"/>
                  </a:lnTo>
                  <a:lnTo>
                    <a:pt x="560355" y="15335"/>
                  </a:lnTo>
                  <a:lnTo>
                    <a:pt x="553263" y="5984"/>
                  </a:lnTo>
                  <a:lnTo>
                    <a:pt x="541147" y="1397"/>
                  </a:lnTo>
                  <a:lnTo>
                    <a:pt x="529716" y="0"/>
                  </a:lnTo>
                  <a:close/>
                </a:path>
                <a:path w="628014" h="443864">
                  <a:moveTo>
                    <a:pt x="486410" y="63754"/>
                  </a:moveTo>
                  <a:lnTo>
                    <a:pt x="432688" y="63754"/>
                  </a:lnTo>
                  <a:lnTo>
                    <a:pt x="430529" y="65912"/>
                  </a:lnTo>
                  <a:lnTo>
                    <a:pt x="430529" y="170180"/>
                  </a:lnTo>
                  <a:lnTo>
                    <a:pt x="432688" y="171958"/>
                  </a:lnTo>
                  <a:lnTo>
                    <a:pt x="486410" y="171958"/>
                  </a:lnTo>
                  <a:lnTo>
                    <a:pt x="488568" y="170180"/>
                  </a:lnTo>
                  <a:lnTo>
                    <a:pt x="488568" y="162941"/>
                  </a:lnTo>
                  <a:lnTo>
                    <a:pt x="444118" y="162941"/>
                  </a:lnTo>
                  <a:lnTo>
                    <a:pt x="440181" y="159385"/>
                  </a:lnTo>
                  <a:lnTo>
                    <a:pt x="440181" y="150495"/>
                  </a:lnTo>
                  <a:lnTo>
                    <a:pt x="444118" y="146812"/>
                  </a:lnTo>
                  <a:lnTo>
                    <a:pt x="488568" y="146812"/>
                  </a:lnTo>
                  <a:lnTo>
                    <a:pt x="488568" y="65912"/>
                  </a:lnTo>
                  <a:lnTo>
                    <a:pt x="486410" y="63754"/>
                  </a:lnTo>
                  <a:close/>
                </a:path>
                <a:path w="628014" h="443864">
                  <a:moveTo>
                    <a:pt x="488568" y="146812"/>
                  </a:moveTo>
                  <a:lnTo>
                    <a:pt x="454151" y="146812"/>
                  </a:lnTo>
                  <a:lnTo>
                    <a:pt x="458088" y="150495"/>
                  </a:lnTo>
                  <a:lnTo>
                    <a:pt x="458088" y="159385"/>
                  </a:lnTo>
                  <a:lnTo>
                    <a:pt x="454151" y="162941"/>
                  </a:lnTo>
                  <a:lnTo>
                    <a:pt x="488568" y="162941"/>
                  </a:lnTo>
                  <a:lnTo>
                    <a:pt x="488568" y="146812"/>
                  </a:lnTo>
                  <a:close/>
                </a:path>
              </a:pathLst>
            </a:custGeom>
            <a:solidFill>
              <a:srgbClr val="29B974"/>
            </a:solidFill>
          </p:spPr>
          <p:txBody>
            <a:bodyPr wrap="square" lIns="0" tIns="0" rIns="0" bIns="0" rtlCol="0"/>
            <a:lstStyle/>
            <a:p>
              <a:endParaRPr/>
            </a:p>
          </p:txBody>
        </p:sp>
        <p:sp>
          <p:nvSpPr>
            <p:cNvPr id="68" name="object 68"/>
            <p:cNvSpPr/>
            <p:nvPr/>
          </p:nvSpPr>
          <p:spPr>
            <a:xfrm>
              <a:off x="7156703" y="3438143"/>
              <a:ext cx="509905" cy="387985"/>
            </a:xfrm>
            <a:custGeom>
              <a:avLst/>
              <a:gdLst/>
              <a:ahLst/>
              <a:cxnLst/>
              <a:rect l="l" t="t" r="r" b="b"/>
              <a:pathLst>
                <a:path w="509904" h="387985">
                  <a:moveTo>
                    <a:pt x="508279" y="354329"/>
                  </a:moveTo>
                  <a:lnTo>
                    <a:pt x="443865" y="354329"/>
                  </a:lnTo>
                  <a:lnTo>
                    <a:pt x="474472" y="385825"/>
                  </a:lnTo>
                  <a:lnTo>
                    <a:pt x="476123" y="387476"/>
                  </a:lnTo>
                  <a:lnTo>
                    <a:pt x="478409" y="387476"/>
                  </a:lnTo>
                  <a:lnTo>
                    <a:pt x="479425" y="385825"/>
                  </a:lnTo>
                  <a:lnTo>
                    <a:pt x="508000" y="359028"/>
                  </a:lnTo>
                  <a:lnTo>
                    <a:pt x="509397" y="358012"/>
                  </a:lnTo>
                  <a:lnTo>
                    <a:pt x="509397" y="355345"/>
                  </a:lnTo>
                  <a:lnTo>
                    <a:pt x="508279" y="354329"/>
                  </a:lnTo>
                  <a:close/>
                </a:path>
                <a:path w="509904" h="387985">
                  <a:moveTo>
                    <a:pt x="372364" y="115315"/>
                  </a:moveTo>
                  <a:lnTo>
                    <a:pt x="322675" y="123983"/>
                  </a:lnTo>
                  <a:lnTo>
                    <a:pt x="278511" y="151891"/>
                  </a:lnTo>
                  <a:lnTo>
                    <a:pt x="248771" y="194520"/>
                  </a:lnTo>
                  <a:lnTo>
                    <a:pt x="238140" y="243554"/>
                  </a:lnTo>
                  <a:lnTo>
                    <a:pt x="246774" y="293016"/>
                  </a:lnTo>
                  <a:lnTo>
                    <a:pt x="274827" y="336930"/>
                  </a:lnTo>
                  <a:lnTo>
                    <a:pt x="312937" y="364045"/>
                  </a:lnTo>
                  <a:lnTo>
                    <a:pt x="356727" y="376015"/>
                  </a:lnTo>
                  <a:lnTo>
                    <a:pt x="401826" y="372792"/>
                  </a:lnTo>
                  <a:lnTo>
                    <a:pt x="430201" y="360330"/>
                  </a:lnTo>
                  <a:lnTo>
                    <a:pt x="361569" y="360330"/>
                  </a:lnTo>
                  <a:lnTo>
                    <a:pt x="321504" y="350075"/>
                  </a:lnTo>
                  <a:lnTo>
                    <a:pt x="286512" y="325246"/>
                  </a:lnTo>
                  <a:lnTo>
                    <a:pt x="262026" y="286906"/>
                  </a:lnTo>
                  <a:lnTo>
                    <a:pt x="254460" y="243697"/>
                  </a:lnTo>
                  <a:lnTo>
                    <a:pt x="263777" y="200749"/>
                  </a:lnTo>
                  <a:lnTo>
                    <a:pt x="289941" y="163194"/>
                  </a:lnTo>
                  <a:lnTo>
                    <a:pt x="328422" y="138985"/>
                  </a:lnTo>
                  <a:lnTo>
                    <a:pt x="371855" y="131444"/>
                  </a:lnTo>
                  <a:lnTo>
                    <a:pt x="432016" y="131444"/>
                  </a:lnTo>
                  <a:lnTo>
                    <a:pt x="421671" y="125793"/>
                  </a:lnTo>
                  <a:lnTo>
                    <a:pt x="397434" y="118173"/>
                  </a:lnTo>
                  <a:lnTo>
                    <a:pt x="372364" y="115315"/>
                  </a:lnTo>
                  <a:close/>
                </a:path>
                <a:path w="509904" h="387985">
                  <a:moveTo>
                    <a:pt x="432016" y="131444"/>
                  </a:moveTo>
                  <a:lnTo>
                    <a:pt x="371855" y="131444"/>
                  </a:lnTo>
                  <a:lnTo>
                    <a:pt x="393821" y="133971"/>
                  </a:lnTo>
                  <a:lnTo>
                    <a:pt x="415083" y="140604"/>
                  </a:lnTo>
                  <a:lnTo>
                    <a:pt x="434988" y="151358"/>
                  </a:lnTo>
                  <a:lnTo>
                    <a:pt x="452881" y="166242"/>
                  </a:lnTo>
                  <a:lnTo>
                    <a:pt x="476234" y="201509"/>
                  </a:lnTo>
                  <a:lnTo>
                    <a:pt x="485012" y="241299"/>
                  </a:lnTo>
                  <a:lnTo>
                    <a:pt x="479313" y="281471"/>
                  </a:lnTo>
                  <a:lnTo>
                    <a:pt x="459231" y="317880"/>
                  </a:lnTo>
                  <a:lnTo>
                    <a:pt x="453136" y="325246"/>
                  </a:lnTo>
                  <a:lnTo>
                    <a:pt x="449834" y="328548"/>
                  </a:lnTo>
                  <a:lnTo>
                    <a:pt x="446786" y="331215"/>
                  </a:lnTo>
                  <a:lnTo>
                    <a:pt x="443484" y="334263"/>
                  </a:lnTo>
                  <a:lnTo>
                    <a:pt x="440054" y="336930"/>
                  </a:lnTo>
                  <a:lnTo>
                    <a:pt x="402490" y="355965"/>
                  </a:lnTo>
                  <a:lnTo>
                    <a:pt x="361569" y="360330"/>
                  </a:lnTo>
                  <a:lnTo>
                    <a:pt x="430201" y="360330"/>
                  </a:lnTo>
                  <a:lnTo>
                    <a:pt x="443865" y="354329"/>
                  </a:lnTo>
                  <a:lnTo>
                    <a:pt x="508279" y="354329"/>
                  </a:lnTo>
                  <a:lnTo>
                    <a:pt x="508000" y="354075"/>
                  </a:lnTo>
                  <a:lnTo>
                    <a:pt x="476757" y="321944"/>
                  </a:lnTo>
                  <a:lnTo>
                    <a:pt x="496429" y="281229"/>
                  </a:lnTo>
                  <a:lnTo>
                    <a:pt x="500967" y="237108"/>
                  </a:lnTo>
                  <a:lnTo>
                    <a:pt x="490384" y="193750"/>
                  </a:lnTo>
                  <a:lnTo>
                    <a:pt x="464693" y="155320"/>
                  </a:lnTo>
                  <a:lnTo>
                    <a:pt x="444337" y="138175"/>
                  </a:lnTo>
                  <a:lnTo>
                    <a:pt x="432016" y="131444"/>
                  </a:lnTo>
                  <a:close/>
                </a:path>
                <a:path w="509904" h="387985">
                  <a:moveTo>
                    <a:pt x="477647" y="0"/>
                  </a:moveTo>
                  <a:lnTo>
                    <a:pt x="2667" y="0"/>
                  </a:lnTo>
                  <a:lnTo>
                    <a:pt x="0" y="3047"/>
                  </a:lnTo>
                  <a:lnTo>
                    <a:pt x="0" y="270001"/>
                  </a:lnTo>
                  <a:lnTo>
                    <a:pt x="2667" y="273049"/>
                  </a:lnTo>
                  <a:lnTo>
                    <a:pt x="207264" y="273049"/>
                  </a:lnTo>
                  <a:lnTo>
                    <a:pt x="207264" y="282066"/>
                  </a:lnTo>
                  <a:lnTo>
                    <a:pt x="173609" y="300481"/>
                  </a:lnTo>
                  <a:lnTo>
                    <a:pt x="170942" y="302132"/>
                  </a:lnTo>
                  <a:lnTo>
                    <a:pt x="169291" y="305180"/>
                  </a:lnTo>
                  <a:lnTo>
                    <a:pt x="170306" y="308101"/>
                  </a:lnTo>
                  <a:lnTo>
                    <a:pt x="170942" y="311149"/>
                  </a:lnTo>
                  <a:lnTo>
                    <a:pt x="173609" y="313181"/>
                  </a:lnTo>
                  <a:lnTo>
                    <a:pt x="240538" y="313181"/>
                  </a:lnTo>
                  <a:lnTo>
                    <a:pt x="238125" y="308863"/>
                  </a:lnTo>
                  <a:lnTo>
                    <a:pt x="234061" y="299465"/>
                  </a:lnTo>
                  <a:lnTo>
                    <a:pt x="203200" y="299465"/>
                  </a:lnTo>
                  <a:lnTo>
                    <a:pt x="217297" y="292099"/>
                  </a:lnTo>
                  <a:lnTo>
                    <a:pt x="219328" y="291083"/>
                  </a:lnTo>
                  <a:lnTo>
                    <a:pt x="220725" y="288416"/>
                  </a:lnTo>
                  <a:lnTo>
                    <a:pt x="220725" y="262635"/>
                  </a:lnTo>
                  <a:lnTo>
                    <a:pt x="217931" y="259587"/>
                  </a:lnTo>
                  <a:lnTo>
                    <a:pt x="13462" y="259587"/>
                  </a:lnTo>
                  <a:lnTo>
                    <a:pt x="13462" y="13715"/>
                  </a:lnTo>
                  <a:lnTo>
                    <a:pt x="480949" y="13715"/>
                  </a:lnTo>
                  <a:lnTo>
                    <a:pt x="480949" y="3047"/>
                  </a:lnTo>
                  <a:lnTo>
                    <a:pt x="477647" y="0"/>
                  </a:lnTo>
                  <a:close/>
                </a:path>
                <a:path w="509904" h="387985">
                  <a:moveTo>
                    <a:pt x="274066" y="282320"/>
                  </a:moveTo>
                  <a:lnTo>
                    <a:pt x="277498" y="290482"/>
                  </a:lnTo>
                  <a:lnTo>
                    <a:pt x="281717" y="298370"/>
                  </a:lnTo>
                  <a:lnTo>
                    <a:pt x="286746" y="305948"/>
                  </a:lnTo>
                  <a:lnTo>
                    <a:pt x="292607" y="313181"/>
                  </a:lnTo>
                  <a:lnTo>
                    <a:pt x="306704" y="313181"/>
                  </a:lnTo>
                  <a:lnTo>
                    <a:pt x="309499" y="311149"/>
                  </a:lnTo>
                  <a:lnTo>
                    <a:pt x="310769" y="305053"/>
                  </a:lnTo>
                  <a:lnTo>
                    <a:pt x="309499" y="302132"/>
                  </a:lnTo>
                  <a:lnTo>
                    <a:pt x="306704" y="300481"/>
                  </a:lnTo>
                  <a:lnTo>
                    <a:pt x="274066" y="282320"/>
                  </a:lnTo>
                  <a:close/>
                </a:path>
                <a:path w="509904" h="387985">
                  <a:moveTo>
                    <a:pt x="467741" y="219836"/>
                  </a:moveTo>
                  <a:lnTo>
                    <a:pt x="467741" y="259333"/>
                  </a:lnTo>
                  <a:lnTo>
                    <a:pt x="268731" y="259333"/>
                  </a:lnTo>
                  <a:lnTo>
                    <a:pt x="269748" y="266572"/>
                  </a:lnTo>
                  <a:lnTo>
                    <a:pt x="271399" y="273684"/>
                  </a:lnTo>
                  <a:lnTo>
                    <a:pt x="273685" y="280288"/>
                  </a:lnTo>
                  <a:lnTo>
                    <a:pt x="273685" y="272668"/>
                  </a:lnTo>
                  <a:lnTo>
                    <a:pt x="467741" y="272668"/>
                  </a:lnTo>
                  <a:lnTo>
                    <a:pt x="470370" y="259587"/>
                  </a:lnTo>
                  <a:lnTo>
                    <a:pt x="471265" y="246252"/>
                  </a:lnTo>
                  <a:lnTo>
                    <a:pt x="470384" y="232985"/>
                  </a:lnTo>
                  <a:lnTo>
                    <a:pt x="467741" y="219836"/>
                  </a:lnTo>
                  <a:close/>
                </a:path>
                <a:path w="509904" h="387985">
                  <a:moveTo>
                    <a:pt x="480949" y="13715"/>
                  </a:moveTo>
                  <a:lnTo>
                    <a:pt x="467232" y="13715"/>
                  </a:lnTo>
                  <a:lnTo>
                    <a:pt x="467232" y="139826"/>
                  </a:lnTo>
                  <a:lnTo>
                    <a:pt x="469519" y="141858"/>
                  </a:lnTo>
                  <a:lnTo>
                    <a:pt x="471550" y="143890"/>
                  </a:lnTo>
                  <a:lnTo>
                    <a:pt x="473964" y="146176"/>
                  </a:lnTo>
                  <a:lnTo>
                    <a:pt x="476250" y="148589"/>
                  </a:lnTo>
                  <a:lnTo>
                    <a:pt x="478738" y="151358"/>
                  </a:lnTo>
                  <a:lnTo>
                    <a:pt x="480949" y="154304"/>
                  </a:lnTo>
                  <a:lnTo>
                    <a:pt x="480949" y="13715"/>
                  </a:lnTo>
                  <a:close/>
                </a:path>
              </a:pathLst>
            </a:custGeom>
            <a:solidFill>
              <a:srgbClr val="03522C"/>
            </a:solidFill>
          </p:spPr>
          <p:txBody>
            <a:bodyPr wrap="square" lIns="0" tIns="0" rIns="0" bIns="0" rtlCol="0"/>
            <a:lstStyle/>
            <a:p>
              <a:endParaRPr/>
            </a:p>
          </p:txBody>
        </p:sp>
        <p:sp>
          <p:nvSpPr>
            <p:cNvPr id="69" name="object 69"/>
            <p:cNvSpPr/>
            <p:nvPr/>
          </p:nvSpPr>
          <p:spPr>
            <a:xfrm>
              <a:off x="7184135" y="3465575"/>
              <a:ext cx="603250" cy="486409"/>
            </a:xfrm>
            <a:custGeom>
              <a:avLst/>
              <a:gdLst/>
              <a:ahLst/>
              <a:cxnLst/>
              <a:rect l="l" t="t" r="r" b="b"/>
              <a:pathLst>
                <a:path w="603250" h="486410">
                  <a:moveTo>
                    <a:pt x="500125" y="334518"/>
                  </a:moveTo>
                  <a:lnTo>
                    <a:pt x="496443" y="334518"/>
                  </a:lnTo>
                  <a:lnTo>
                    <a:pt x="494792" y="334772"/>
                  </a:lnTo>
                  <a:lnTo>
                    <a:pt x="493395" y="336169"/>
                  </a:lnTo>
                  <a:lnTo>
                    <a:pt x="455549" y="372744"/>
                  </a:lnTo>
                  <a:lnTo>
                    <a:pt x="453263" y="375412"/>
                  </a:lnTo>
                  <a:lnTo>
                    <a:pt x="453263" y="379475"/>
                  </a:lnTo>
                  <a:lnTo>
                    <a:pt x="455549" y="382143"/>
                  </a:lnTo>
                  <a:lnTo>
                    <a:pt x="550291" y="481456"/>
                  </a:lnTo>
                  <a:lnTo>
                    <a:pt x="553339" y="484505"/>
                  </a:lnTo>
                  <a:lnTo>
                    <a:pt x="557276" y="486156"/>
                  </a:lnTo>
                  <a:lnTo>
                    <a:pt x="561975" y="486156"/>
                  </a:lnTo>
                  <a:lnTo>
                    <a:pt x="568259" y="485350"/>
                  </a:lnTo>
                  <a:lnTo>
                    <a:pt x="574817" y="482949"/>
                  </a:lnTo>
                  <a:lnTo>
                    <a:pt x="581495" y="478976"/>
                  </a:lnTo>
                  <a:lnTo>
                    <a:pt x="588137" y="473456"/>
                  </a:lnTo>
                  <a:lnTo>
                    <a:pt x="560959" y="473456"/>
                  </a:lnTo>
                  <a:lnTo>
                    <a:pt x="559943" y="472440"/>
                  </a:lnTo>
                  <a:lnTo>
                    <a:pt x="470027" y="377825"/>
                  </a:lnTo>
                  <a:lnTo>
                    <a:pt x="497713" y="350647"/>
                  </a:lnTo>
                  <a:lnTo>
                    <a:pt x="516495" y="350647"/>
                  </a:lnTo>
                  <a:lnTo>
                    <a:pt x="503047" y="336550"/>
                  </a:lnTo>
                  <a:lnTo>
                    <a:pt x="501777" y="335153"/>
                  </a:lnTo>
                  <a:lnTo>
                    <a:pt x="500125" y="334518"/>
                  </a:lnTo>
                  <a:close/>
                </a:path>
                <a:path w="603250" h="486410">
                  <a:moveTo>
                    <a:pt x="516495" y="350647"/>
                  </a:moveTo>
                  <a:lnTo>
                    <a:pt x="497713" y="350647"/>
                  </a:lnTo>
                  <a:lnTo>
                    <a:pt x="588137" y="445262"/>
                  </a:lnTo>
                  <a:lnTo>
                    <a:pt x="588391" y="445643"/>
                  </a:lnTo>
                  <a:lnTo>
                    <a:pt x="578739" y="463676"/>
                  </a:lnTo>
                  <a:lnTo>
                    <a:pt x="569722" y="472440"/>
                  </a:lnTo>
                  <a:lnTo>
                    <a:pt x="560959" y="473456"/>
                  </a:lnTo>
                  <a:lnTo>
                    <a:pt x="588137" y="473456"/>
                  </a:lnTo>
                  <a:lnTo>
                    <a:pt x="593852" y="467994"/>
                  </a:lnTo>
                  <a:lnTo>
                    <a:pt x="598551" y="461263"/>
                  </a:lnTo>
                  <a:lnTo>
                    <a:pt x="600456" y="454913"/>
                  </a:lnTo>
                  <a:lnTo>
                    <a:pt x="603123" y="447548"/>
                  </a:lnTo>
                  <a:lnTo>
                    <a:pt x="602234" y="440563"/>
                  </a:lnTo>
                  <a:lnTo>
                    <a:pt x="516495" y="350647"/>
                  </a:lnTo>
                  <a:close/>
                </a:path>
                <a:path w="603250" h="486410">
                  <a:moveTo>
                    <a:pt x="424434" y="0"/>
                  </a:moveTo>
                  <a:lnTo>
                    <a:pt x="1397" y="0"/>
                  </a:lnTo>
                  <a:lnTo>
                    <a:pt x="0" y="1397"/>
                  </a:lnTo>
                  <a:lnTo>
                    <a:pt x="0" y="215011"/>
                  </a:lnTo>
                  <a:lnTo>
                    <a:pt x="1397" y="216662"/>
                  </a:lnTo>
                  <a:lnTo>
                    <a:pt x="196088" y="216662"/>
                  </a:lnTo>
                  <a:lnTo>
                    <a:pt x="196088" y="209550"/>
                  </a:lnTo>
                  <a:lnTo>
                    <a:pt x="196850" y="202565"/>
                  </a:lnTo>
                  <a:lnTo>
                    <a:pt x="197866" y="195834"/>
                  </a:lnTo>
                  <a:lnTo>
                    <a:pt x="159258" y="195834"/>
                  </a:lnTo>
                  <a:lnTo>
                    <a:pt x="159258" y="195706"/>
                  </a:lnTo>
                  <a:lnTo>
                    <a:pt x="32512" y="195706"/>
                  </a:lnTo>
                  <a:lnTo>
                    <a:pt x="32512" y="182244"/>
                  </a:lnTo>
                  <a:lnTo>
                    <a:pt x="200564" y="182244"/>
                  </a:lnTo>
                  <a:lnTo>
                    <a:pt x="202438" y="174625"/>
                  </a:lnTo>
                  <a:lnTo>
                    <a:pt x="204850" y="167640"/>
                  </a:lnTo>
                  <a:lnTo>
                    <a:pt x="207899" y="160274"/>
                  </a:lnTo>
                  <a:lnTo>
                    <a:pt x="32512" y="160274"/>
                  </a:lnTo>
                  <a:lnTo>
                    <a:pt x="32512" y="146812"/>
                  </a:lnTo>
                  <a:lnTo>
                    <a:pt x="214884" y="146812"/>
                  </a:lnTo>
                  <a:lnTo>
                    <a:pt x="218160" y="140811"/>
                  </a:lnTo>
                  <a:lnTo>
                    <a:pt x="221853" y="135000"/>
                  </a:lnTo>
                  <a:lnTo>
                    <a:pt x="225903" y="129381"/>
                  </a:lnTo>
                  <a:lnTo>
                    <a:pt x="230250" y="123951"/>
                  </a:lnTo>
                  <a:lnTo>
                    <a:pt x="32512" y="123951"/>
                  </a:lnTo>
                  <a:lnTo>
                    <a:pt x="32512" y="110489"/>
                  </a:lnTo>
                  <a:lnTo>
                    <a:pt x="243332" y="110489"/>
                  </a:lnTo>
                  <a:lnTo>
                    <a:pt x="252184" y="102899"/>
                  </a:lnTo>
                  <a:lnTo>
                    <a:pt x="261572" y="96154"/>
                  </a:lnTo>
                  <a:lnTo>
                    <a:pt x="271460" y="90291"/>
                  </a:lnTo>
                  <a:lnTo>
                    <a:pt x="275700" y="88264"/>
                  </a:lnTo>
                  <a:lnTo>
                    <a:pt x="32512" y="88264"/>
                  </a:lnTo>
                  <a:lnTo>
                    <a:pt x="32512" y="74802"/>
                  </a:lnTo>
                  <a:lnTo>
                    <a:pt x="317841" y="74802"/>
                  </a:lnTo>
                  <a:lnTo>
                    <a:pt x="324993" y="73278"/>
                  </a:lnTo>
                  <a:lnTo>
                    <a:pt x="332994" y="72898"/>
                  </a:lnTo>
                  <a:lnTo>
                    <a:pt x="425704" y="72898"/>
                  </a:lnTo>
                  <a:lnTo>
                    <a:pt x="425704" y="49022"/>
                  </a:lnTo>
                  <a:lnTo>
                    <a:pt x="34163" y="49022"/>
                  </a:lnTo>
                  <a:lnTo>
                    <a:pt x="32512" y="47751"/>
                  </a:lnTo>
                  <a:lnTo>
                    <a:pt x="32512" y="21971"/>
                  </a:lnTo>
                  <a:lnTo>
                    <a:pt x="34163" y="20574"/>
                  </a:lnTo>
                  <a:lnTo>
                    <a:pt x="425704" y="20574"/>
                  </a:lnTo>
                  <a:lnTo>
                    <a:pt x="425704" y="1397"/>
                  </a:lnTo>
                  <a:lnTo>
                    <a:pt x="424434" y="0"/>
                  </a:lnTo>
                  <a:close/>
                </a:path>
                <a:path w="603250" h="486410">
                  <a:moveTo>
                    <a:pt x="412270" y="146812"/>
                  </a:moveTo>
                  <a:lnTo>
                    <a:pt x="389382" y="146812"/>
                  </a:lnTo>
                  <a:lnTo>
                    <a:pt x="389382" y="160274"/>
                  </a:lnTo>
                  <a:lnTo>
                    <a:pt x="258572" y="160274"/>
                  </a:lnTo>
                  <a:lnTo>
                    <a:pt x="253873" y="167259"/>
                  </a:lnTo>
                  <a:lnTo>
                    <a:pt x="249809" y="174625"/>
                  </a:lnTo>
                  <a:lnTo>
                    <a:pt x="247142" y="182372"/>
                  </a:lnTo>
                  <a:lnTo>
                    <a:pt x="266573" y="182372"/>
                  </a:lnTo>
                  <a:lnTo>
                    <a:pt x="266573" y="195834"/>
                  </a:lnTo>
                  <a:lnTo>
                    <a:pt x="243078" y="195834"/>
                  </a:lnTo>
                  <a:lnTo>
                    <a:pt x="241427" y="202565"/>
                  </a:lnTo>
                  <a:lnTo>
                    <a:pt x="240411" y="209550"/>
                  </a:lnTo>
                  <a:lnTo>
                    <a:pt x="240411" y="216662"/>
                  </a:lnTo>
                  <a:lnTo>
                    <a:pt x="424434" y="216662"/>
                  </a:lnTo>
                  <a:lnTo>
                    <a:pt x="425704" y="215011"/>
                  </a:lnTo>
                  <a:lnTo>
                    <a:pt x="425704" y="195706"/>
                  </a:lnTo>
                  <a:lnTo>
                    <a:pt x="282194" y="195706"/>
                  </a:lnTo>
                  <a:lnTo>
                    <a:pt x="282194" y="182244"/>
                  </a:lnTo>
                  <a:lnTo>
                    <a:pt x="425704" y="182244"/>
                  </a:lnTo>
                  <a:lnTo>
                    <a:pt x="425704" y="163194"/>
                  </a:lnTo>
                  <a:lnTo>
                    <a:pt x="422402" y="158242"/>
                  </a:lnTo>
                  <a:lnTo>
                    <a:pt x="418338" y="152781"/>
                  </a:lnTo>
                  <a:lnTo>
                    <a:pt x="413639" y="148081"/>
                  </a:lnTo>
                  <a:lnTo>
                    <a:pt x="412270" y="146812"/>
                  </a:lnTo>
                  <a:close/>
                </a:path>
                <a:path w="603250" h="486410">
                  <a:moveTo>
                    <a:pt x="200564" y="182244"/>
                  </a:moveTo>
                  <a:lnTo>
                    <a:pt x="139954" y="182244"/>
                  </a:lnTo>
                  <a:lnTo>
                    <a:pt x="139954" y="195706"/>
                  </a:lnTo>
                  <a:lnTo>
                    <a:pt x="159258" y="195706"/>
                  </a:lnTo>
                  <a:lnTo>
                    <a:pt x="159258" y="182372"/>
                  </a:lnTo>
                  <a:lnTo>
                    <a:pt x="200533" y="182372"/>
                  </a:lnTo>
                  <a:lnTo>
                    <a:pt x="200564" y="182244"/>
                  </a:lnTo>
                  <a:close/>
                </a:path>
                <a:path w="603250" h="486410">
                  <a:moveTo>
                    <a:pt x="425704" y="182244"/>
                  </a:moveTo>
                  <a:lnTo>
                    <a:pt x="389382" y="182244"/>
                  </a:lnTo>
                  <a:lnTo>
                    <a:pt x="389382" y="195706"/>
                  </a:lnTo>
                  <a:lnTo>
                    <a:pt x="425704" y="195706"/>
                  </a:lnTo>
                  <a:lnTo>
                    <a:pt x="425704" y="182244"/>
                  </a:lnTo>
                  <a:close/>
                </a:path>
                <a:path w="603250" h="486410">
                  <a:moveTo>
                    <a:pt x="159258" y="146812"/>
                  </a:moveTo>
                  <a:lnTo>
                    <a:pt x="139954" y="146812"/>
                  </a:lnTo>
                  <a:lnTo>
                    <a:pt x="139954" y="160274"/>
                  </a:lnTo>
                  <a:lnTo>
                    <a:pt x="159258" y="160274"/>
                  </a:lnTo>
                  <a:lnTo>
                    <a:pt x="159258" y="146812"/>
                  </a:lnTo>
                  <a:close/>
                </a:path>
                <a:path w="603250" h="486410">
                  <a:moveTo>
                    <a:pt x="377952" y="124206"/>
                  </a:moveTo>
                  <a:lnTo>
                    <a:pt x="304038" y="124206"/>
                  </a:lnTo>
                  <a:lnTo>
                    <a:pt x="295350" y="128395"/>
                  </a:lnTo>
                  <a:lnTo>
                    <a:pt x="286924" y="133334"/>
                  </a:lnTo>
                  <a:lnTo>
                    <a:pt x="278927" y="139011"/>
                  </a:lnTo>
                  <a:lnTo>
                    <a:pt x="271525" y="145415"/>
                  </a:lnTo>
                  <a:lnTo>
                    <a:pt x="269494" y="146812"/>
                  </a:lnTo>
                  <a:lnTo>
                    <a:pt x="268224" y="148844"/>
                  </a:lnTo>
                  <a:lnTo>
                    <a:pt x="266573" y="150113"/>
                  </a:lnTo>
                  <a:lnTo>
                    <a:pt x="266573" y="160274"/>
                  </a:lnTo>
                  <a:lnTo>
                    <a:pt x="282194" y="160274"/>
                  </a:lnTo>
                  <a:lnTo>
                    <a:pt x="282194" y="146812"/>
                  </a:lnTo>
                  <a:lnTo>
                    <a:pt x="412270" y="146812"/>
                  </a:lnTo>
                  <a:lnTo>
                    <a:pt x="405598" y="140618"/>
                  </a:lnTo>
                  <a:lnTo>
                    <a:pt x="396938" y="134191"/>
                  </a:lnTo>
                  <a:lnTo>
                    <a:pt x="387707" y="128740"/>
                  </a:lnTo>
                  <a:lnTo>
                    <a:pt x="377952" y="124206"/>
                  </a:lnTo>
                  <a:close/>
                </a:path>
                <a:path w="603250" h="486410">
                  <a:moveTo>
                    <a:pt x="159258" y="110489"/>
                  </a:moveTo>
                  <a:lnTo>
                    <a:pt x="139954" y="110489"/>
                  </a:lnTo>
                  <a:lnTo>
                    <a:pt x="139954" y="123951"/>
                  </a:lnTo>
                  <a:lnTo>
                    <a:pt x="159258" y="123951"/>
                  </a:lnTo>
                  <a:lnTo>
                    <a:pt x="159258" y="110489"/>
                  </a:lnTo>
                  <a:close/>
                </a:path>
                <a:path w="603250" h="486410">
                  <a:moveTo>
                    <a:pt x="425704" y="72898"/>
                  </a:moveTo>
                  <a:lnTo>
                    <a:pt x="349123" y="72898"/>
                  </a:lnTo>
                  <a:lnTo>
                    <a:pt x="357124" y="73278"/>
                  </a:lnTo>
                  <a:lnTo>
                    <a:pt x="365125" y="74929"/>
                  </a:lnTo>
                  <a:lnTo>
                    <a:pt x="389255" y="74929"/>
                  </a:lnTo>
                  <a:lnTo>
                    <a:pt x="389255" y="80899"/>
                  </a:lnTo>
                  <a:lnTo>
                    <a:pt x="398754" y="84695"/>
                  </a:lnTo>
                  <a:lnTo>
                    <a:pt x="408098" y="89074"/>
                  </a:lnTo>
                  <a:lnTo>
                    <a:pt x="417133" y="94097"/>
                  </a:lnTo>
                  <a:lnTo>
                    <a:pt x="425704" y="99822"/>
                  </a:lnTo>
                  <a:lnTo>
                    <a:pt x="425704" y="72898"/>
                  </a:lnTo>
                  <a:close/>
                </a:path>
                <a:path w="603250" h="486410">
                  <a:moveTo>
                    <a:pt x="159385" y="74802"/>
                  </a:moveTo>
                  <a:lnTo>
                    <a:pt x="139954" y="74802"/>
                  </a:lnTo>
                  <a:lnTo>
                    <a:pt x="139954" y="88264"/>
                  </a:lnTo>
                  <a:lnTo>
                    <a:pt x="159385" y="88264"/>
                  </a:lnTo>
                  <a:lnTo>
                    <a:pt x="159385" y="74802"/>
                  </a:lnTo>
                  <a:close/>
                </a:path>
                <a:path w="603250" h="486410">
                  <a:moveTo>
                    <a:pt x="317841" y="74802"/>
                  </a:moveTo>
                  <a:lnTo>
                    <a:pt x="266573" y="74802"/>
                  </a:lnTo>
                  <a:lnTo>
                    <a:pt x="266573" y="88264"/>
                  </a:lnTo>
                  <a:lnTo>
                    <a:pt x="275700" y="88264"/>
                  </a:lnTo>
                  <a:lnTo>
                    <a:pt x="281813" y="85344"/>
                  </a:lnTo>
                  <a:lnTo>
                    <a:pt x="281813" y="74929"/>
                  </a:lnTo>
                  <a:lnTo>
                    <a:pt x="317246" y="74929"/>
                  </a:lnTo>
                  <a:lnTo>
                    <a:pt x="317841" y="74802"/>
                  </a:lnTo>
                  <a:close/>
                </a:path>
                <a:path w="603250" h="486410">
                  <a:moveTo>
                    <a:pt x="160782" y="20574"/>
                  </a:moveTo>
                  <a:lnTo>
                    <a:pt x="138303" y="20574"/>
                  </a:lnTo>
                  <a:lnTo>
                    <a:pt x="139954" y="21971"/>
                  </a:lnTo>
                  <a:lnTo>
                    <a:pt x="139954" y="47751"/>
                  </a:lnTo>
                  <a:lnTo>
                    <a:pt x="138303" y="49022"/>
                  </a:lnTo>
                  <a:lnTo>
                    <a:pt x="160782" y="49022"/>
                  </a:lnTo>
                  <a:lnTo>
                    <a:pt x="159385" y="47751"/>
                  </a:lnTo>
                  <a:lnTo>
                    <a:pt x="159385" y="21971"/>
                  </a:lnTo>
                  <a:lnTo>
                    <a:pt x="160782" y="20574"/>
                  </a:lnTo>
                  <a:close/>
                </a:path>
                <a:path w="603250" h="486410">
                  <a:moveTo>
                    <a:pt x="287274" y="20574"/>
                  </a:moveTo>
                  <a:lnTo>
                    <a:pt x="265175" y="20574"/>
                  </a:lnTo>
                  <a:lnTo>
                    <a:pt x="266573" y="21971"/>
                  </a:lnTo>
                  <a:lnTo>
                    <a:pt x="266573" y="47751"/>
                  </a:lnTo>
                  <a:lnTo>
                    <a:pt x="265175" y="49022"/>
                  </a:lnTo>
                  <a:lnTo>
                    <a:pt x="287274" y="49022"/>
                  </a:lnTo>
                  <a:lnTo>
                    <a:pt x="286004" y="47751"/>
                  </a:lnTo>
                  <a:lnTo>
                    <a:pt x="286004" y="21971"/>
                  </a:lnTo>
                  <a:lnTo>
                    <a:pt x="287274" y="20574"/>
                  </a:lnTo>
                  <a:close/>
                </a:path>
                <a:path w="603250" h="486410">
                  <a:moveTo>
                    <a:pt x="425704" y="20574"/>
                  </a:moveTo>
                  <a:lnTo>
                    <a:pt x="391795" y="20574"/>
                  </a:lnTo>
                  <a:lnTo>
                    <a:pt x="393446" y="21971"/>
                  </a:lnTo>
                  <a:lnTo>
                    <a:pt x="393446" y="47751"/>
                  </a:lnTo>
                  <a:lnTo>
                    <a:pt x="391795" y="49022"/>
                  </a:lnTo>
                  <a:lnTo>
                    <a:pt x="425704" y="49022"/>
                  </a:lnTo>
                  <a:lnTo>
                    <a:pt x="425704" y="20574"/>
                  </a:lnTo>
                  <a:close/>
                </a:path>
              </a:pathLst>
            </a:custGeom>
            <a:solidFill>
              <a:srgbClr val="29B974"/>
            </a:solidFill>
          </p:spPr>
          <p:txBody>
            <a:bodyPr wrap="square" lIns="0" tIns="0" rIns="0" bIns="0" rtlCol="0"/>
            <a:lstStyle/>
            <a:p>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txBox="1">
            <a:spLocks noGrp="1"/>
          </p:cNvSpPr>
          <p:nvPr>
            <p:ph type="title"/>
          </p:nvPr>
        </p:nvSpPr>
        <p:spPr>
          <a:xfrm>
            <a:off x="617321" y="3712845"/>
            <a:ext cx="10545445" cy="1589405"/>
          </a:xfrm>
          <a:prstGeom prst="rect">
            <a:avLst/>
          </a:prstGeom>
        </p:spPr>
        <p:txBody>
          <a:bodyPr vert="horz" wrap="square" lIns="0" tIns="106045" rIns="0" bIns="0" rtlCol="0">
            <a:spAutoFit/>
          </a:bodyPr>
          <a:lstStyle/>
          <a:p>
            <a:pPr marL="12700" marR="5080">
              <a:lnSpc>
                <a:spcPts val="5830"/>
              </a:lnSpc>
              <a:spcBef>
                <a:spcPts val="835"/>
              </a:spcBef>
            </a:pPr>
            <a:r>
              <a:rPr sz="5400">
                <a:solidFill>
                  <a:srgbClr val="FFFFFF"/>
                </a:solidFill>
              </a:rPr>
              <a:t>1.</a:t>
            </a:r>
            <a:r>
              <a:rPr sz="5400" spc="-200">
                <a:solidFill>
                  <a:srgbClr val="FFFFFF"/>
                </a:solidFill>
              </a:rPr>
              <a:t> </a:t>
            </a:r>
            <a:r>
              <a:rPr sz="5400" spc="-655">
                <a:solidFill>
                  <a:srgbClr val="FFFFFF"/>
                </a:solidFill>
              </a:rPr>
              <a:t>T</a:t>
            </a:r>
            <a:r>
              <a:rPr sz="5400" spc="20">
                <a:solidFill>
                  <a:srgbClr val="FFFFFF"/>
                </a:solidFill>
              </a:rPr>
              <a:t>arge</a:t>
            </a:r>
            <a:r>
              <a:rPr sz="5400" spc="30">
                <a:solidFill>
                  <a:srgbClr val="FFFFFF"/>
                </a:solidFill>
              </a:rPr>
              <a:t>t</a:t>
            </a:r>
            <a:r>
              <a:rPr sz="5400" spc="-95">
                <a:solidFill>
                  <a:srgbClr val="FFFFFF"/>
                </a:solidFill>
              </a:rPr>
              <a:t> </a:t>
            </a:r>
            <a:r>
              <a:rPr sz="5400" spc="-25">
                <a:solidFill>
                  <a:srgbClr val="FFFFFF"/>
                </a:solidFill>
              </a:rPr>
              <a:t>segments:</a:t>
            </a:r>
            <a:r>
              <a:rPr sz="5400" spc="-380">
                <a:solidFill>
                  <a:srgbClr val="FFFFFF"/>
                </a:solidFill>
              </a:rPr>
              <a:t> </a:t>
            </a:r>
            <a:r>
              <a:rPr sz="5400">
                <a:solidFill>
                  <a:srgbClr val="FFFFFF"/>
                </a:solidFill>
              </a:rPr>
              <a:t>Analytics</a:t>
            </a:r>
            <a:r>
              <a:rPr sz="5400" spc="-114">
                <a:solidFill>
                  <a:srgbClr val="FFFFFF"/>
                </a:solidFill>
              </a:rPr>
              <a:t> </a:t>
            </a:r>
            <a:r>
              <a:rPr sz="5400" spc="-20">
                <a:solidFill>
                  <a:srgbClr val="FFFFFF"/>
                </a:solidFill>
              </a:rPr>
              <a:t>lead </a:t>
            </a:r>
            <a:r>
              <a:rPr sz="5400">
                <a:solidFill>
                  <a:srgbClr val="FFFFFF"/>
                </a:solidFill>
              </a:rPr>
              <a:t>generation</a:t>
            </a:r>
            <a:r>
              <a:rPr sz="5400" spc="-55">
                <a:solidFill>
                  <a:srgbClr val="FFFFFF"/>
                </a:solidFill>
              </a:rPr>
              <a:t> </a:t>
            </a:r>
            <a:r>
              <a:rPr sz="5400" spc="-10">
                <a:solidFill>
                  <a:srgbClr val="FFFFFF"/>
                </a:solidFill>
              </a:rPr>
              <a:t>approach</a:t>
            </a:r>
            <a:endParaRPr sz="5400"/>
          </a:p>
        </p:txBody>
      </p:sp>
      <p:sp>
        <p:nvSpPr>
          <p:cNvPr id="3" name="object 3"/>
          <p:cNvSpPr txBox="1">
            <a:spLocks noGrp="1"/>
          </p:cNvSpPr>
          <p:nvPr>
            <p:ph type="sldNum" sz="quarter" idx="7"/>
          </p:nvPr>
        </p:nvSpPr>
        <p:spPr>
          <a:prstGeom prst="rect">
            <a:avLst/>
          </a:prstGeom>
        </p:spPr>
        <p:txBody>
          <a:bodyPr vert="horz" wrap="square" lIns="0" tIns="4445" rIns="0" bIns="0" rtlCol="0">
            <a:spAutoFit/>
          </a:bodyPr>
          <a:lstStyle/>
          <a:p>
            <a:pPr marL="104775" marR="0" lvl="0" indent="0" defTabSz="914400" eaLnBrk="1" fontAlgn="auto" latinLnBrk="0" hangingPunct="1">
              <a:lnSpc>
                <a:spcPct val="100000"/>
              </a:lnSpc>
              <a:spcBef>
                <a:spcPts val="35"/>
              </a:spcBef>
              <a:spcAft>
                <a:spcPts val="0"/>
              </a:spcAft>
              <a:buClrTx/>
              <a:buSzTx/>
              <a:buFontTx/>
              <a:buNone/>
              <a:tabLst/>
              <a:defRPr/>
            </a:pPr>
            <a:r>
              <a:rPr kumimoji="0" sz="1000" b="0" i="0" u="none" strike="noStrike" kern="0" cap="none" spc="-50" normalizeH="0" baseline="0" noProof="0">
                <a:ln>
                  <a:noFill/>
                </a:ln>
                <a:solidFill>
                  <a:srgbClr val="7E7E7E"/>
                </a:solidFill>
                <a:effectLst/>
                <a:uLnTx/>
                <a:uFillTx/>
                <a:latin typeface="Trebuchet MS"/>
              </a:rPr>
              <a:t>4</a:t>
            </a: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1F1F1"/>
          </a:solidFill>
        </p:spPr>
        <p:txBody>
          <a:bodyPr wrap="square" lIns="0" tIns="0" rIns="0" bIns="0" rtlCol="0"/>
          <a:lstStyle/>
          <a:p>
            <a:endParaRPr/>
          </a:p>
        </p:txBody>
      </p:sp>
      <p:sp>
        <p:nvSpPr>
          <p:cNvPr id="3" name="object 3"/>
          <p:cNvSpPr txBox="1"/>
          <p:nvPr/>
        </p:nvSpPr>
        <p:spPr>
          <a:xfrm>
            <a:off x="11986574" y="3898286"/>
            <a:ext cx="128270" cy="2653665"/>
          </a:xfrm>
          <a:prstGeom prst="rect">
            <a:avLst/>
          </a:prstGeom>
        </p:spPr>
        <p:txBody>
          <a:bodyPr vert="vert270" wrap="square" lIns="0" tIns="6350" rIns="0" bIns="0" rtlCol="0">
            <a:spAutoFit/>
          </a:bodyPr>
          <a:lstStyle/>
          <a:p>
            <a:pPr marL="12700">
              <a:lnSpc>
                <a:spcPct val="100000"/>
              </a:lnSpc>
              <a:spcBef>
                <a:spcPts val="50"/>
              </a:spcBef>
            </a:pPr>
            <a:r>
              <a:rPr sz="700">
                <a:solidFill>
                  <a:srgbClr val="7E7E7E"/>
                </a:solidFill>
                <a:latin typeface="Trebuchet MS"/>
                <a:cs typeface="Trebuchet MS"/>
              </a:rPr>
              <a:t>Copyright</a:t>
            </a:r>
            <a:r>
              <a:rPr sz="700" spc="-25">
                <a:solidFill>
                  <a:srgbClr val="7E7E7E"/>
                </a:solidFill>
                <a:latin typeface="Trebuchet MS"/>
                <a:cs typeface="Trebuchet MS"/>
              </a:rPr>
              <a:t> </a:t>
            </a:r>
            <a:r>
              <a:rPr sz="700">
                <a:solidFill>
                  <a:srgbClr val="7E7E7E"/>
                </a:solidFill>
                <a:latin typeface="Trebuchet MS"/>
                <a:cs typeface="Trebuchet MS"/>
              </a:rPr>
              <a:t>©</a:t>
            </a:r>
            <a:r>
              <a:rPr sz="700" spc="-25">
                <a:solidFill>
                  <a:srgbClr val="7E7E7E"/>
                </a:solidFill>
                <a:latin typeface="Trebuchet MS"/>
                <a:cs typeface="Trebuchet MS"/>
              </a:rPr>
              <a:t> </a:t>
            </a:r>
            <a:r>
              <a:rPr sz="700">
                <a:solidFill>
                  <a:srgbClr val="7E7E7E"/>
                </a:solidFill>
                <a:latin typeface="Trebuchet MS"/>
                <a:cs typeface="Trebuchet MS"/>
              </a:rPr>
              <a:t>2019</a:t>
            </a:r>
            <a:r>
              <a:rPr sz="700" spc="-15">
                <a:solidFill>
                  <a:srgbClr val="7E7E7E"/>
                </a:solidFill>
                <a:latin typeface="Trebuchet MS"/>
                <a:cs typeface="Trebuchet MS"/>
              </a:rPr>
              <a:t> </a:t>
            </a:r>
            <a:r>
              <a:rPr sz="700">
                <a:solidFill>
                  <a:srgbClr val="7E7E7E"/>
                </a:solidFill>
                <a:latin typeface="Trebuchet MS"/>
                <a:cs typeface="Trebuchet MS"/>
              </a:rPr>
              <a:t>by</a:t>
            </a:r>
            <a:r>
              <a:rPr sz="700" spc="-20">
                <a:solidFill>
                  <a:srgbClr val="7E7E7E"/>
                </a:solidFill>
                <a:latin typeface="Trebuchet MS"/>
                <a:cs typeface="Trebuchet MS"/>
              </a:rPr>
              <a:t> </a:t>
            </a:r>
            <a:r>
              <a:rPr sz="700">
                <a:solidFill>
                  <a:srgbClr val="7E7E7E"/>
                </a:solidFill>
                <a:latin typeface="Trebuchet MS"/>
                <a:cs typeface="Trebuchet MS"/>
              </a:rPr>
              <a:t>Boston </a:t>
            </a:r>
            <a:r>
              <a:rPr sz="700" spc="-10">
                <a:solidFill>
                  <a:srgbClr val="7E7E7E"/>
                </a:solidFill>
                <a:latin typeface="Trebuchet MS"/>
                <a:cs typeface="Trebuchet MS"/>
              </a:rPr>
              <a:t>Consulting </a:t>
            </a:r>
            <a:r>
              <a:rPr sz="700">
                <a:solidFill>
                  <a:srgbClr val="7E7E7E"/>
                </a:solidFill>
                <a:latin typeface="Trebuchet MS"/>
                <a:cs typeface="Trebuchet MS"/>
              </a:rPr>
              <a:t>Group.</a:t>
            </a:r>
            <a:r>
              <a:rPr sz="700" spc="-5">
                <a:solidFill>
                  <a:srgbClr val="7E7E7E"/>
                </a:solidFill>
                <a:latin typeface="Trebuchet MS"/>
                <a:cs typeface="Trebuchet MS"/>
              </a:rPr>
              <a:t> </a:t>
            </a:r>
            <a:r>
              <a:rPr sz="700">
                <a:solidFill>
                  <a:srgbClr val="7E7E7E"/>
                </a:solidFill>
                <a:latin typeface="Trebuchet MS"/>
                <a:cs typeface="Trebuchet MS"/>
              </a:rPr>
              <a:t>All</a:t>
            </a:r>
            <a:r>
              <a:rPr sz="700" spc="-5">
                <a:solidFill>
                  <a:srgbClr val="7E7E7E"/>
                </a:solidFill>
                <a:latin typeface="Trebuchet MS"/>
                <a:cs typeface="Trebuchet MS"/>
              </a:rPr>
              <a:t> </a:t>
            </a:r>
            <a:r>
              <a:rPr sz="700">
                <a:solidFill>
                  <a:srgbClr val="7E7E7E"/>
                </a:solidFill>
                <a:latin typeface="Trebuchet MS"/>
                <a:cs typeface="Trebuchet MS"/>
              </a:rPr>
              <a:t>rights</a:t>
            </a:r>
            <a:r>
              <a:rPr sz="700" spc="-25">
                <a:solidFill>
                  <a:srgbClr val="7E7E7E"/>
                </a:solidFill>
                <a:latin typeface="Trebuchet MS"/>
                <a:cs typeface="Trebuchet MS"/>
              </a:rPr>
              <a:t> </a:t>
            </a:r>
            <a:r>
              <a:rPr sz="700" spc="-10">
                <a:solidFill>
                  <a:srgbClr val="7E7E7E"/>
                </a:solidFill>
                <a:latin typeface="Trebuchet MS"/>
                <a:cs typeface="Trebuchet MS"/>
              </a:rPr>
              <a:t>reserved.</a:t>
            </a:r>
            <a:endParaRPr sz="700">
              <a:latin typeface="Trebuchet MS"/>
              <a:cs typeface="Trebuchet MS"/>
            </a:endParaRPr>
          </a:p>
        </p:txBody>
      </p:sp>
      <p:sp>
        <p:nvSpPr>
          <p:cNvPr id="4" name="object 4"/>
          <p:cNvSpPr/>
          <p:nvPr/>
        </p:nvSpPr>
        <p:spPr>
          <a:xfrm>
            <a:off x="8401811" y="1959864"/>
            <a:ext cx="3435350" cy="4415155"/>
          </a:xfrm>
          <a:custGeom>
            <a:avLst/>
            <a:gdLst/>
            <a:ahLst/>
            <a:cxnLst/>
            <a:rect l="l" t="t" r="r" b="b"/>
            <a:pathLst>
              <a:path w="3435350" h="4415155">
                <a:moveTo>
                  <a:pt x="3435096" y="0"/>
                </a:moveTo>
                <a:lnTo>
                  <a:pt x="0" y="0"/>
                </a:lnTo>
                <a:lnTo>
                  <a:pt x="0" y="4415028"/>
                </a:lnTo>
                <a:lnTo>
                  <a:pt x="3435096" y="4415028"/>
                </a:lnTo>
                <a:lnTo>
                  <a:pt x="3435096" y="0"/>
                </a:lnTo>
                <a:close/>
              </a:path>
            </a:pathLst>
          </a:custGeom>
          <a:solidFill>
            <a:srgbClr val="D6EFEA">
              <a:alpha val="59999"/>
            </a:srgbClr>
          </a:solidFill>
        </p:spPr>
        <p:txBody>
          <a:bodyPr wrap="square" lIns="0" tIns="0" rIns="0" bIns="0" rtlCol="0"/>
          <a:lstStyle/>
          <a:p>
            <a:endParaRPr/>
          </a:p>
        </p:txBody>
      </p:sp>
      <p:grpSp>
        <p:nvGrpSpPr>
          <p:cNvPr id="5" name="object 5"/>
          <p:cNvGrpSpPr/>
          <p:nvPr/>
        </p:nvGrpSpPr>
        <p:grpSpPr>
          <a:xfrm>
            <a:off x="629412" y="1967483"/>
            <a:ext cx="3432175" cy="4415155"/>
            <a:chOff x="629412" y="1967483"/>
            <a:chExt cx="3432175" cy="4415155"/>
          </a:xfrm>
        </p:grpSpPr>
        <p:sp>
          <p:nvSpPr>
            <p:cNvPr id="6" name="object 6"/>
            <p:cNvSpPr/>
            <p:nvPr/>
          </p:nvSpPr>
          <p:spPr>
            <a:xfrm>
              <a:off x="629412" y="1967483"/>
              <a:ext cx="3432175" cy="4415155"/>
            </a:xfrm>
            <a:custGeom>
              <a:avLst/>
              <a:gdLst/>
              <a:ahLst/>
              <a:cxnLst/>
              <a:rect l="l" t="t" r="r" b="b"/>
              <a:pathLst>
                <a:path w="3432175" h="4415155">
                  <a:moveTo>
                    <a:pt x="3432048" y="0"/>
                  </a:moveTo>
                  <a:lnTo>
                    <a:pt x="0" y="0"/>
                  </a:lnTo>
                  <a:lnTo>
                    <a:pt x="0" y="4415028"/>
                  </a:lnTo>
                  <a:lnTo>
                    <a:pt x="3432048" y="4415028"/>
                  </a:lnTo>
                  <a:lnTo>
                    <a:pt x="3432048" y="0"/>
                  </a:lnTo>
                  <a:close/>
                </a:path>
              </a:pathLst>
            </a:custGeom>
            <a:solidFill>
              <a:srgbClr val="D6EFEA">
                <a:alpha val="59999"/>
              </a:srgbClr>
            </a:solidFill>
          </p:spPr>
          <p:txBody>
            <a:bodyPr wrap="square" lIns="0" tIns="0" rIns="0" bIns="0" rtlCol="0"/>
            <a:lstStyle/>
            <a:p>
              <a:endParaRPr/>
            </a:p>
          </p:txBody>
        </p:sp>
        <p:pic>
          <p:nvPicPr>
            <p:cNvPr id="7" name="object 7"/>
            <p:cNvPicPr/>
            <p:nvPr/>
          </p:nvPicPr>
          <p:blipFill>
            <a:blip r:embed="rId3" cstate="print"/>
            <a:stretch>
              <a:fillRect/>
            </a:stretch>
          </p:blipFill>
          <p:spPr>
            <a:xfrm>
              <a:off x="797052" y="2641091"/>
              <a:ext cx="501395" cy="502920"/>
            </a:xfrm>
            <a:prstGeom prst="rect">
              <a:avLst/>
            </a:prstGeom>
          </p:spPr>
        </p:pic>
      </p:grpSp>
      <p:sp>
        <p:nvSpPr>
          <p:cNvPr id="8" name="object 8"/>
          <p:cNvSpPr/>
          <p:nvPr/>
        </p:nvSpPr>
        <p:spPr>
          <a:xfrm>
            <a:off x="4532376" y="1967483"/>
            <a:ext cx="3435350" cy="4415155"/>
          </a:xfrm>
          <a:custGeom>
            <a:avLst/>
            <a:gdLst/>
            <a:ahLst/>
            <a:cxnLst/>
            <a:rect l="l" t="t" r="r" b="b"/>
            <a:pathLst>
              <a:path w="3435350" h="4415155">
                <a:moveTo>
                  <a:pt x="3435096" y="0"/>
                </a:moveTo>
                <a:lnTo>
                  <a:pt x="0" y="0"/>
                </a:lnTo>
                <a:lnTo>
                  <a:pt x="0" y="4415028"/>
                </a:lnTo>
                <a:lnTo>
                  <a:pt x="3435096" y="4415028"/>
                </a:lnTo>
                <a:lnTo>
                  <a:pt x="3435096" y="0"/>
                </a:lnTo>
                <a:close/>
              </a:path>
            </a:pathLst>
          </a:custGeom>
          <a:solidFill>
            <a:srgbClr val="D6EFEA">
              <a:alpha val="59999"/>
            </a:srgbClr>
          </a:solidFill>
        </p:spPr>
        <p:txBody>
          <a:bodyPr wrap="square" lIns="0" tIns="0" rIns="0" bIns="0" rtlCol="0"/>
          <a:lstStyle/>
          <a:p>
            <a:endParaRPr/>
          </a:p>
        </p:txBody>
      </p:sp>
      <p:sp>
        <p:nvSpPr>
          <p:cNvPr id="9" name="object 9"/>
          <p:cNvSpPr txBox="1"/>
          <p:nvPr/>
        </p:nvSpPr>
        <p:spPr>
          <a:xfrm>
            <a:off x="630173" y="1568958"/>
            <a:ext cx="3432175" cy="379730"/>
          </a:xfrm>
          <a:prstGeom prst="rect">
            <a:avLst/>
          </a:prstGeom>
          <a:solidFill>
            <a:srgbClr val="29B974"/>
          </a:solidFill>
          <a:ln w="7620">
            <a:solidFill>
              <a:srgbClr val="FFFFFF"/>
            </a:solidFill>
          </a:ln>
        </p:spPr>
        <p:txBody>
          <a:bodyPr vert="horz" wrap="square" lIns="0" tIns="76835" rIns="0" bIns="0" rtlCol="0">
            <a:spAutoFit/>
          </a:bodyPr>
          <a:lstStyle/>
          <a:p>
            <a:pPr marL="346075">
              <a:lnSpc>
                <a:spcPct val="100000"/>
              </a:lnSpc>
              <a:spcBef>
                <a:spcPts val="605"/>
              </a:spcBef>
            </a:pPr>
            <a:r>
              <a:rPr sz="1400" b="1">
                <a:solidFill>
                  <a:srgbClr val="FFFFFF"/>
                </a:solidFill>
                <a:latin typeface="Trebuchet MS"/>
                <a:cs typeface="Trebuchet MS"/>
              </a:rPr>
              <a:t>Step</a:t>
            </a:r>
            <a:r>
              <a:rPr sz="1400" b="1" spc="-35">
                <a:solidFill>
                  <a:srgbClr val="FFFFFF"/>
                </a:solidFill>
                <a:latin typeface="Trebuchet MS"/>
                <a:cs typeface="Trebuchet MS"/>
              </a:rPr>
              <a:t> </a:t>
            </a:r>
            <a:r>
              <a:rPr sz="1400" b="1">
                <a:solidFill>
                  <a:srgbClr val="FFFFFF"/>
                </a:solidFill>
                <a:latin typeface="Trebuchet MS"/>
                <a:cs typeface="Trebuchet MS"/>
              </a:rPr>
              <a:t>1:</a:t>
            </a:r>
            <a:r>
              <a:rPr sz="1400" b="1" spc="-10">
                <a:solidFill>
                  <a:srgbClr val="FFFFFF"/>
                </a:solidFill>
                <a:latin typeface="Trebuchet MS"/>
                <a:cs typeface="Trebuchet MS"/>
              </a:rPr>
              <a:t> </a:t>
            </a:r>
            <a:r>
              <a:rPr sz="1400" b="1">
                <a:solidFill>
                  <a:srgbClr val="FFFFFF"/>
                </a:solidFill>
                <a:latin typeface="Trebuchet MS"/>
                <a:cs typeface="Trebuchet MS"/>
              </a:rPr>
              <a:t>Define</a:t>
            </a:r>
            <a:r>
              <a:rPr sz="1400" b="1" spc="-40">
                <a:solidFill>
                  <a:srgbClr val="FFFFFF"/>
                </a:solidFill>
                <a:latin typeface="Trebuchet MS"/>
                <a:cs typeface="Trebuchet MS"/>
              </a:rPr>
              <a:t> </a:t>
            </a:r>
            <a:r>
              <a:rPr sz="1400" b="1">
                <a:solidFill>
                  <a:srgbClr val="FFFFFF"/>
                </a:solidFill>
                <a:latin typeface="Trebuchet MS"/>
                <a:cs typeface="Trebuchet MS"/>
              </a:rPr>
              <a:t>Wealth</a:t>
            </a:r>
            <a:r>
              <a:rPr sz="1400" b="1" spc="-20">
                <a:solidFill>
                  <a:srgbClr val="FFFFFF"/>
                </a:solidFill>
                <a:latin typeface="Trebuchet MS"/>
                <a:cs typeface="Trebuchet MS"/>
              </a:rPr>
              <a:t> </a:t>
            </a:r>
            <a:r>
              <a:rPr sz="1400" b="1" spc="-10">
                <a:solidFill>
                  <a:srgbClr val="FFFFFF"/>
                </a:solidFill>
                <a:latin typeface="Trebuchet MS"/>
                <a:cs typeface="Trebuchet MS"/>
              </a:rPr>
              <a:t>Customers</a:t>
            </a:r>
            <a:endParaRPr sz="1400">
              <a:latin typeface="Trebuchet MS"/>
              <a:cs typeface="Trebuchet MS"/>
            </a:endParaRPr>
          </a:p>
        </p:txBody>
      </p:sp>
      <p:sp>
        <p:nvSpPr>
          <p:cNvPr id="10" name="object 10"/>
          <p:cNvSpPr txBox="1"/>
          <p:nvPr/>
        </p:nvSpPr>
        <p:spPr>
          <a:xfrm>
            <a:off x="4533138" y="1568958"/>
            <a:ext cx="3434079" cy="379730"/>
          </a:xfrm>
          <a:prstGeom prst="rect">
            <a:avLst/>
          </a:prstGeom>
          <a:solidFill>
            <a:srgbClr val="29B974"/>
          </a:solidFill>
          <a:ln w="7619">
            <a:solidFill>
              <a:srgbClr val="FFFFFF"/>
            </a:solidFill>
          </a:ln>
        </p:spPr>
        <p:txBody>
          <a:bodyPr vert="horz" wrap="square" lIns="0" tIns="76835" rIns="0" bIns="0" rtlCol="0">
            <a:spAutoFit/>
          </a:bodyPr>
          <a:lstStyle/>
          <a:p>
            <a:pPr algn="ctr">
              <a:lnSpc>
                <a:spcPct val="100000"/>
              </a:lnSpc>
              <a:spcBef>
                <a:spcPts val="605"/>
              </a:spcBef>
            </a:pPr>
            <a:r>
              <a:rPr sz="1400" b="1">
                <a:solidFill>
                  <a:srgbClr val="FFFFFF"/>
                </a:solidFill>
                <a:latin typeface="Trebuchet MS"/>
                <a:cs typeface="Trebuchet MS"/>
              </a:rPr>
              <a:t>Step</a:t>
            </a:r>
            <a:r>
              <a:rPr sz="1400" b="1" spc="-35">
                <a:solidFill>
                  <a:srgbClr val="FFFFFF"/>
                </a:solidFill>
                <a:latin typeface="Trebuchet MS"/>
                <a:cs typeface="Trebuchet MS"/>
              </a:rPr>
              <a:t> </a:t>
            </a:r>
            <a:r>
              <a:rPr sz="1400" b="1">
                <a:solidFill>
                  <a:srgbClr val="FFFFFF"/>
                </a:solidFill>
                <a:latin typeface="Trebuchet MS"/>
                <a:cs typeface="Trebuchet MS"/>
              </a:rPr>
              <a:t>2:</a:t>
            </a:r>
            <a:r>
              <a:rPr sz="1400" b="1" spc="-10">
                <a:solidFill>
                  <a:srgbClr val="FFFFFF"/>
                </a:solidFill>
                <a:latin typeface="Trebuchet MS"/>
                <a:cs typeface="Trebuchet MS"/>
              </a:rPr>
              <a:t> </a:t>
            </a:r>
            <a:r>
              <a:rPr sz="1400" b="1">
                <a:solidFill>
                  <a:srgbClr val="FFFFFF"/>
                </a:solidFill>
                <a:latin typeface="Trebuchet MS"/>
                <a:cs typeface="Trebuchet MS"/>
              </a:rPr>
              <a:t>Build</a:t>
            </a:r>
            <a:r>
              <a:rPr sz="1400" b="1" spc="-40">
                <a:solidFill>
                  <a:srgbClr val="FFFFFF"/>
                </a:solidFill>
                <a:latin typeface="Trebuchet MS"/>
                <a:cs typeface="Trebuchet MS"/>
              </a:rPr>
              <a:t> </a:t>
            </a:r>
            <a:r>
              <a:rPr sz="1400" b="1">
                <a:solidFill>
                  <a:srgbClr val="FFFFFF"/>
                </a:solidFill>
                <a:latin typeface="Trebuchet MS"/>
                <a:cs typeface="Trebuchet MS"/>
              </a:rPr>
              <a:t>Propensity</a:t>
            </a:r>
            <a:r>
              <a:rPr sz="1400" b="1" spc="-35">
                <a:solidFill>
                  <a:srgbClr val="FFFFFF"/>
                </a:solidFill>
                <a:latin typeface="Trebuchet MS"/>
                <a:cs typeface="Trebuchet MS"/>
              </a:rPr>
              <a:t> </a:t>
            </a:r>
            <a:r>
              <a:rPr sz="1400" b="1" spc="-20">
                <a:solidFill>
                  <a:srgbClr val="FFFFFF"/>
                </a:solidFill>
                <a:latin typeface="Trebuchet MS"/>
                <a:cs typeface="Trebuchet MS"/>
              </a:rPr>
              <a:t>model</a:t>
            </a:r>
            <a:endParaRPr sz="1400">
              <a:latin typeface="Trebuchet MS"/>
              <a:cs typeface="Trebuchet MS"/>
            </a:endParaRPr>
          </a:p>
        </p:txBody>
      </p:sp>
      <p:sp>
        <p:nvSpPr>
          <p:cNvPr id="11" name="object 11"/>
          <p:cNvSpPr txBox="1"/>
          <p:nvPr/>
        </p:nvSpPr>
        <p:spPr>
          <a:xfrm>
            <a:off x="8402573" y="1568958"/>
            <a:ext cx="3434079" cy="379730"/>
          </a:xfrm>
          <a:prstGeom prst="rect">
            <a:avLst/>
          </a:prstGeom>
          <a:solidFill>
            <a:srgbClr val="29B974"/>
          </a:solidFill>
          <a:ln w="7619">
            <a:solidFill>
              <a:srgbClr val="FFFFFF"/>
            </a:solidFill>
          </a:ln>
        </p:spPr>
        <p:txBody>
          <a:bodyPr vert="horz" wrap="square" lIns="0" tIns="76835" rIns="0" bIns="0" rtlCol="0">
            <a:spAutoFit/>
          </a:bodyPr>
          <a:lstStyle/>
          <a:p>
            <a:pPr marL="252095">
              <a:lnSpc>
                <a:spcPct val="100000"/>
              </a:lnSpc>
              <a:spcBef>
                <a:spcPts val="605"/>
              </a:spcBef>
            </a:pPr>
            <a:r>
              <a:rPr sz="1400" b="1">
                <a:solidFill>
                  <a:srgbClr val="FFFFFF"/>
                </a:solidFill>
                <a:latin typeface="Trebuchet MS"/>
                <a:cs typeface="Trebuchet MS"/>
              </a:rPr>
              <a:t>Step</a:t>
            </a:r>
            <a:r>
              <a:rPr sz="1400" b="1" spc="-15">
                <a:solidFill>
                  <a:srgbClr val="FFFFFF"/>
                </a:solidFill>
                <a:latin typeface="Trebuchet MS"/>
                <a:cs typeface="Trebuchet MS"/>
              </a:rPr>
              <a:t> </a:t>
            </a:r>
            <a:r>
              <a:rPr sz="1400" b="1">
                <a:solidFill>
                  <a:srgbClr val="FFFFFF"/>
                </a:solidFill>
                <a:latin typeface="Trebuchet MS"/>
                <a:cs typeface="Trebuchet MS"/>
              </a:rPr>
              <a:t>3:</a:t>
            </a:r>
            <a:r>
              <a:rPr sz="1400" b="1" spc="5">
                <a:solidFill>
                  <a:srgbClr val="FFFFFF"/>
                </a:solidFill>
                <a:latin typeface="Trebuchet MS"/>
                <a:cs typeface="Trebuchet MS"/>
              </a:rPr>
              <a:t> </a:t>
            </a:r>
            <a:r>
              <a:rPr sz="1400" b="1" spc="-10">
                <a:solidFill>
                  <a:srgbClr val="FFFFFF"/>
                </a:solidFill>
                <a:latin typeface="Trebuchet MS"/>
                <a:cs typeface="Trebuchet MS"/>
              </a:rPr>
              <a:t>Identify</a:t>
            </a:r>
            <a:r>
              <a:rPr sz="1400" b="1" spc="-100">
                <a:solidFill>
                  <a:srgbClr val="FFFFFF"/>
                </a:solidFill>
                <a:latin typeface="Trebuchet MS"/>
                <a:cs typeface="Trebuchet MS"/>
              </a:rPr>
              <a:t> </a:t>
            </a:r>
            <a:r>
              <a:rPr sz="1400" b="1">
                <a:solidFill>
                  <a:srgbClr val="FFFFFF"/>
                </a:solidFill>
                <a:latin typeface="Trebuchet MS"/>
                <a:cs typeface="Trebuchet MS"/>
              </a:rPr>
              <a:t>Affluent</a:t>
            </a:r>
            <a:r>
              <a:rPr sz="1400" b="1" spc="-30">
                <a:solidFill>
                  <a:srgbClr val="FFFFFF"/>
                </a:solidFill>
                <a:latin typeface="Trebuchet MS"/>
                <a:cs typeface="Trebuchet MS"/>
              </a:rPr>
              <a:t> </a:t>
            </a:r>
            <a:r>
              <a:rPr sz="1400" b="1" spc="-10">
                <a:solidFill>
                  <a:srgbClr val="FFFFFF"/>
                </a:solidFill>
                <a:latin typeface="Trebuchet MS"/>
                <a:cs typeface="Trebuchet MS"/>
              </a:rPr>
              <a:t>Customers</a:t>
            </a:r>
            <a:endParaRPr sz="1400">
              <a:latin typeface="Trebuchet MS"/>
              <a:cs typeface="Trebuchet MS"/>
            </a:endParaRPr>
          </a:p>
        </p:txBody>
      </p:sp>
      <p:sp>
        <p:nvSpPr>
          <p:cNvPr id="12" name="object 12"/>
          <p:cNvSpPr txBox="1"/>
          <p:nvPr/>
        </p:nvSpPr>
        <p:spPr>
          <a:xfrm>
            <a:off x="1608582" y="2079498"/>
            <a:ext cx="2272665" cy="2094230"/>
          </a:xfrm>
          <a:prstGeom prst="rect">
            <a:avLst/>
          </a:prstGeom>
          <a:solidFill>
            <a:srgbClr val="FFFFFF"/>
          </a:solidFill>
          <a:ln w="7620">
            <a:solidFill>
              <a:srgbClr val="565656"/>
            </a:solidFill>
          </a:ln>
        </p:spPr>
        <p:txBody>
          <a:bodyPr vert="horz" wrap="square" lIns="0" tIns="146685" rIns="0" bIns="0" rtlCol="0">
            <a:spAutoFit/>
          </a:bodyPr>
          <a:lstStyle/>
          <a:p>
            <a:pPr>
              <a:lnSpc>
                <a:spcPct val="100000"/>
              </a:lnSpc>
              <a:spcBef>
                <a:spcPts val="1155"/>
              </a:spcBef>
            </a:pPr>
            <a:endParaRPr sz="1400">
              <a:latin typeface="Times New Roman"/>
              <a:cs typeface="Times New Roman"/>
            </a:endParaRPr>
          </a:p>
          <a:p>
            <a:pPr algn="ctr">
              <a:lnSpc>
                <a:spcPct val="100000"/>
              </a:lnSpc>
            </a:pPr>
            <a:r>
              <a:rPr sz="1400" b="1">
                <a:solidFill>
                  <a:srgbClr val="565656"/>
                </a:solidFill>
                <a:latin typeface="Trebuchet MS"/>
                <a:cs typeface="Trebuchet MS"/>
              </a:rPr>
              <a:t>Active</a:t>
            </a:r>
            <a:r>
              <a:rPr sz="1400" b="1" spc="-30">
                <a:solidFill>
                  <a:srgbClr val="565656"/>
                </a:solidFill>
                <a:latin typeface="Trebuchet MS"/>
                <a:cs typeface="Trebuchet MS"/>
              </a:rPr>
              <a:t> </a:t>
            </a:r>
            <a:r>
              <a:rPr sz="1400" b="1" spc="-10">
                <a:solidFill>
                  <a:srgbClr val="565656"/>
                </a:solidFill>
                <a:latin typeface="Trebuchet MS"/>
                <a:cs typeface="Trebuchet MS"/>
              </a:rPr>
              <a:t>customers</a:t>
            </a:r>
            <a:r>
              <a:rPr sz="1350" b="1" spc="-15" baseline="24691">
                <a:solidFill>
                  <a:srgbClr val="565656"/>
                </a:solidFill>
                <a:latin typeface="Trebuchet MS"/>
                <a:cs typeface="Trebuchet MS"/>
              </a:rPr>
              <a:t>1</a:t>
            </a:r>
            <a:endParaRPr sz="1350" baseline="24691">
              <a:latin typeface="Trebuchet MS"/>
              <a:cs typeface="Trebuchet MS"/>
            </a:endParaRPr>
          </a:p>
          <a:p>
            <a:pPr marL="67310" marR="60960" algn="ctr">
              <a:lnSpc>
                <a:spcPct val="100000"/>
              </a:lnSpc>
              <a:spcBef>
                <a:spcPts val="15"/>
              </a:spcBef>
            </a:pPr>
            <a:r>
              <a:rPr sz="1100">
                <a:solidFill>
                  <a:srgbClr val="565656"/>
                </a:solidFill>
                <a:latin typeface="Trebuchet MS"/>
                <a:cs typeface="Trebuchet MS"/>
              </a:rPr>
              <a:t>(All</a:t>
            </a:r>
            <a:r>
              <a:rPr sz="1100" spc="-20">
                <a:solidFill>
                  <a:srgbClr val="565656"/>
                </a:solidFill>
                <a:latin typeface="Trebuchet MS"/>
                <a:cs typeface="Trebuchet MS"/>
              </a:rPr>
              <a:t> </a:t>
            </a:r>
            <a:r>
              <a:rPr sz="1100">
                <a:solidFill>
                  <a:srgbClr val="565656"/>
                </a:solidFill>
                <a:latin typeface="Trebuchet MS"/>
                <a:cs typeface="Trebuchet MS"/>
              </a:rPr>
              <a:t>active</a:t>
            </a:r>
            <a:r>
              <a:rPr sz="1100" spc="315">
                <a:solidFill>
                  <a:srgbClr val="565656"/>
                </a:solidFill>
                <a:latin typeface="Trebuchet MS"/>
                <a:cs typeface="Trebuchet MS"/>
              </a:rPr>
              <a:t> </a:t>
            </a:r>
            <a:r>
              <a:rPr sz="1100">
                <a:solidFill>
                  <a:srgbClr val="565656"/>
                </a:solidFill>
                <a:latin typeface="Trebuchet MS"/>
                <a:cs typeface="Trebuchet MS"/>
              </a:rPr>
              <a:t>customers as</a:t>
            </a:r>
            <a:r>
              <a:rPr sz="1100" spc="-10">
                <a:solidFill>
                  <a:srgbClr val="565656"/>
                </a:solidFill>
                <a:latin typeface="Trebuchet MS"/>
                <a:cs typeface="Trebuchet MS"/>
              </a:rPr>
              <a:t> </a:t>
            </a:r>
            <a:r>
              <a:rPr sz="1100">
                <a:solidFill>
                  <a:srgbClr val="565656"/>
                </a:solidFill>
                <a:latin typeface="Trebuchet MS"/>
                <a:cs typeface="Trebuchet MS"/>
              </a:rPr>
              <a:t>of </a:t>
            </a:r>
            <a:r>
              <a:rPr sz="1100" spc="-10">
                <a:solidFill>
                  <a:srgbClr val="565656"/>
                </a:solidFill>
                <a:latin typeface="Trebuchet MS"/>
                <a:cs typeface="Trebuchet MS"/>
              </a:rPr>
              <a:t>Jan'19 </a:t>
            </a:r>
            <a:r>
              <a:rPr sz="1100">
                <a:solidFill>
                  <a:srgbClr val="565656"/>
                </a:solidFill>
                <a:latin typeface="Trebuchet MS"/>
                <a:cs typeface="Trebuchet MS"/>
              </a:rPr>
              <a:t>with</a:t>
            </a:r>
            <a:r>
              <a:rPr sz="1100" spc="-15">
                <a:solidFill>
                  <a:srgbClr val="565656"/>
                </a:solidFill>
                <a:latin typeface="Trebuchet MS"/>
                <a:cs typeface="Trebuchet MS"/>
              </a:rPr>
              <a:t> </a:t>
            </a:r>
            <a:r>
              <a:rPr sz="1100">
                <a:solidFill>
                  <a:srgbClr val="565656"/>
                </a:solidFill>
                <a:latin typeface="Trebuchet MS"/>
                <a:cs typeface="Trebuchet MS"/>
              </a:rPr>
              <a:t>at</a:t>
            </a:r>
            <a:r>
              <a:rPr sz="1100" spc="-5">
                <a:solidFill>
                  <a:srgbClr val="565656"/>
                </a:solidFill>
                <a:latin typeface="Trebuchet MS"/>
                <a:cs typeface="Trebuchet MS"/>
              </a:rPr>
              <a:t> </a:t>
            </a:r>
            <a:r>
              <a:rPr sz="1100">
                <a:solidFill>
                  <a:srgbClr val="565656"/>
                </a:solidFill>
                <a:latin typeface="Trebuchet MS"/>
                <a:cs typeface="Trebuchet MS"/>
              </a:rPr>
              <a:t>least</a:t>
            </a:r>
            <a:r>
              <a:rPr sz="1100" spc="-10">
                <a:solidFill>
                  <a:srgbClr val="565656"/>
                </a:solidFill>
                <a:latin typeface="Trebuchet MS"/>
                <a:cs typeface="Trebuchet MS"/>
              </a:rPr>
              <a:t> </a:t>
            </a:r>
            <a:r>
              <a:rPr sz="1100">
                <a:solidFill>
                  <a:srgbClr val="565656"/>
                </a:solidFill>
                <a:latin typeface="Trebuchet MS"/>
                <a:cs typeface="Trebuchet MS"/>
              </a:rPr>
              <a:t>6</a:t>
            </a:r>
            <a:r>
              <a:rPr sz="1100" spc="-10">
                <a:solidFill>
                  <a:srgbClr val="565656"/>
                </a:solidFill>
                <a:latin typeface="Trebuchet MS"/>
                <a:cs typeface="Trebuchet MS"/>
              </a:rPr>
              <a:t> </a:t>
            </a:r>
            <a:r>
              <a:rPr sz="1100">
                <a:solidFill>
                  <a:srgbClr val="565656"/>
                </a:solidFill>
                <a:latin typeface="Trebuchet MS"/>
                <a:cs typeface="Trebuchet MS"/>
              </a:rPr>
              <a:t>months</a:t>
            </a:r>
            <a:r>
              <a:rPr sz="1100" spc="-10">
                <a:solidFill>
                  <a:srgbClr val="565656"/>
                </a:solidFill>
                <a:latin typeface="Trebuchet MS"/>
                <a:cs typeface="Trebuchet MS"/>
              </a:rPr>
              <a:t> </a:t>
            </a:r>
            <a:r>
              <a:rPr sz="1100">
                <a:solidFill>
                  <a:srgbClr val="565656"/>
                </a:solidFill>
                <a:latin typeface="Trebuchet MS"/>
                <a:cs typeface="Trebuchet MS"/>
              </a:rPr>
              <a:t>of </a:t>
            </a:r>
            <a:r>
              <a:rPr sz="1100" spc="-10">
                <a:solidFill>
                  <a:srgbClr val="565656"/>
                </a:solidFill>
                <a:latin typeface="Trebuchet MS"/>
                <a:cs typeface="Trebuchet MS"/>
              </a:rPr>
              <a:t>tenure </a:t>
            </a:r>
            <a:r>
              <a:rPr sz="1100">
                <a:solidFill>
                  <a:srgbClr val="565656"/>
                </a:solidFill>
                <a:latin typeface="Trebuchet MS"/>
                <a:cs typeface="Trebuchet MS"/>
              </a:rPr>
              <a:t>with</a:t>
            </a:r>
            <a:r>
              <a:rPr sz="1100" spc="-20">
                <a:solidFill>
                  <a:srgbClr val="565656"/>
                </a:solidFill>
                <a:latin typeface="Trebuchet MS"/>
                <a:cs typeface="Trebuchet MS"/>
              </a:rPr>
              <a:t> </a:t>
            </a:r>
            <a:r>
              <a:rPr sz="1100" spc="-10">
                <a:solidFill>
                  <a:srgbClr val="565656"/>
                </a:solidFill>
                <a:latin typeface="Trebuchet MS"/>
                <a:cs typeface="Trebuchet MS"/>
              </a:rPr>
              <a:t>CLIENT)</a:t>
            </a:r>
            <a:endParaRPr sz="1100">
              <a:latin typeface="Trebuchet MS"/>
              <a:cs typeface="Trebuchet MS"/>
            </a:endParaRPr>
          </a:p>
          <a:p>
            <a:pPr>
              <a:lnSpc>
                <a:spcPct val="100000"/>
              </a:lnSpc>
            </a:pPr>
            <a:endParaRPr sz="1100">
              <a:latin typeface="Trebuchet MS"/>
              <a:cs typeface="Trebuchet MS"/>
            </a:endParaRPr>
          </a:p>
          <a:p>
            <a:pPr>
              <a:lnSpc>
                <a:spcPct val="100000"/>
              </a:lnSpc>
              <a:spcBef>
                <a:spcPts val="25"/>
              </a:spcBef>
            </a:pPr>
            <a:endParaRPr sz="1100">
              <a:latin typeface="Trebuchet MS"/>
              <a:cs typeface="Trebuchet MS"/>
            </a:endParaRPr>
          </a:p>
          <a:p>
            <a:pPr marL="97790" marR="91440" algn="ctr">
              <a:lnSpc>
                <a:spcPct val="100000"/>
              </a:lnSpc>
            </a:pPr>
            <a:r>
              <a:rPr sz="1100" u="sng">
                <a:solidFill>
                  <a:srgbClr val="565656"/>
                </a:solidFill>
                <a:uFill>
                  <a:solidFill>
                    <a:srgbClr val="565656"/>
                  </a:solidFill>
                </a:uFill>
                <a:latin typeface="Trebuchet MS"/>
                <a:cs typeface="Trebuchet MS"/>
              </a:rPr>
              <a:t>Exclusions</a:t>
            </a:r>
            <a:r>
              <a:rPr sz="1100" u="none">
                <a:solidFill>
                  <a:srgbClr val="565656"/>
                </a:solidFill>
                <a:latin typeface="Trebuchet MS"/>
                <a:cs typeface="Trebuchet MS"/>
              </a:rPr>
              <a:t>:</a:t>
            </a:r>
            <a:r>
              <a:rPr sz="1100" u="none" spc="-35">
                <a:solidFill>
                  <a:srgbClr val="565656"/>
                </a:solidFill>
                <a:latin typeface="Trebuchet MS"/>
                <a:cs typeface="Trebuchet MS"/>
              </a:rPr>
              <a:t> </a:t>
            </a:r>
            <a:r>
              <a:rPr sz="1100" u="none">
                <a:solidFill>
                  <a:srgbClr val="565656"/>
                </a:solidFill>
                <a:latin typeface="Trebuchet MS"/>
                <a:cs typeface="Trebuchet MS"/>
              </a:rPr>
              <a:t>Inactive</a:t>
            </a:r>
            <a:r>
              <a:rPr sz="1100" u="none" spc="-40">
                <a:solidFill>
                  <a:srgbClr val="565656"/>
                </a:solidFill>
                <a:latin typeface="Trebuchet MS"/>
                <a:cs typeface="Trebuchet MS"/>
              </a:rPr>
              <a:t> </a:t>
            </a:r>
            <a:r>
              <a:rPr sz="1100" u="none">
                <a:solidFill>
                  <a:srgbClr val="565656"/>
                </a:solidFill>
                <a:latin typeface="Trebuchet MS"/>
                <a:cs typeface="Trebuchet MS"/>
              </a:rPr>
              <a:t>and</a:t>
            </a:r>
            <a:r>
              <a:rPr sz="1100" u="none" spc="-40">
                <a:solidFill>
                  <a:srgbClr val="565656"/>
                </a:solidFill>
                <a:latin typeface="Trebuchet MS"/>
                <a:cs typeface="Trebuchet MS"/>
              </a:rPr>
              <a:t> </a:t>
            </a:r>
            <a:r>
              <a:rPr sz="1100" u="none" spc="-10">
                <a:solidFill>
                  <a:srgbClr val="565656"/>
                </a:solidFill>
                <a:latin typeface="Trebuchet MS"/>
                <a:cs typeface="Trebuchet MS"/>
              </a:rPr>
              <a:t>Dormant </a:t>
            </a:r>
            <a:r>
              <a:rPr sz="1100" u="none">
                <a:solidFill>
                  <a:srgbClr val="565656"/>
                </a:solidFill>
                <a:latin typeface="Trebuchet MS"/>
                <a:cs typeface="Trebuchet MS"/>
              </a:rPr>
              <a:t>customers</a:t>
            </a:r>
            <a:r>
              <a:rPr sz="1100" u="none" spc="-10">
                <a:solidFill>
                  <a:srgbClr val="565656"/>
                </a:solidFill>
                <a:latin typeface="Trebuchet MS"/>
                <a:cs typeface="Trebuchet MS"/>
              </a:rPr>
              <a:t> </a:t>
            </a:r>
            <a:r>
              <a:rPr sz="1100" u="none">
                <a:solidFill>
                  <a:srgbClr val="565656"/>
                </a:solidFill>
                <a:latin typeface="Trebuchet MS"/>
                <a:cs typeface="Trebuchet MS"/>
              </a:rPr>
              <a:t>as</a:t>
            </a:r>
            <a:r>
              <a:rPr sz="1100" u="none" spc="-20">
                <a:solidFill>
                  <a:srgbClr val="565656"/>
                </a:solidFill>
                <a:latin typeface="Trebuchet MS"/>
                <a:cs typeface="Trebuchet MS"/>
              </a:rPr>
              <a:t> </a:t>
            </a:r>
            <a:r>
              <a:rPr sz="1100" u="none">
                <a:solidFill>
                  <a:srgbClr val="565656"/>
                </a:solidFill>
                <a:latin typeface="Trebuchet MS"/>
                <a:cs typeface="Trebuchet MS"/>
              </a:rPr>
              <a:t>of</a:t>
            </a:r>
            <a:r>
              <a:rPr sz="1100" u="none" spc="-5">
                <a:solidFill>
                  <a:srgbClr val="565656"/>
                </a:solidFill>
                <a:latin typeface="Trebuchet MS"/>
                <a:cs typeface="Trebuchet MS"/>
              </a:rPr>
              <a:t> </a:t>
            </a:r>
            <a:r>
              <a:rPr sz="1100" u="none" spc="-10">
                <a:solidFill>
                  <a:srgbClr val="565656"/>
                </a:solidFill>
                <a:latin typeface="Trebuchet MS"/>
                <a:cs typeface="Trebuchet MS"/>
              </a:rPr>
              <a:t>Jul'18</a:t>
            </a:r>
            <a:endParaRPr sz="1100">
              <a:latin typeface="Trebuchet MS"/>
              <a:cs typeface="Trebuchet MS"/>
            </a:endParaRPr>
          </a:p>
        </p:txBody>
      </p:sp>
      <p:sp>
        <p:nvSpPr>
          <p:cNvPr id="13" name="object 13"/>
          <p:cNvSpPr txBox="1"/>
          <p:nvPr/>
        </p:nvSpPr>
        <p:spPr>
          <a:xfrm>
            <a:off x="1634489" y="4583429"/>
            <a:ext cx="2272665" cy="1630680"/>
          </a:xfrm>
          <a:prstGeom prst="rect">
            <a:avLst/>
          </a:prstGeom>
          <a:solidFill>
            <a:srgbClr val="FFFFFF"/>
          </a:solidFill>
          <a:ln w="7620">
            <a:solidFill>
              <a:srgbClr val="565656"/>
            </a:solidFill>
          </a:ln>
        </p:spPr>
        <p:txBody>
          <a:bodyPr vert="horz" wrap="square" lIns="0" tIns="45085" rIns="0" bIns="0" rtlCol="0">
            <a:spAutoFit/>
          </a:bodyPr>
          <a:lstStyle/>
          <a:p>
            <a:pPr marL="135255" marR="132080" indent="-635" algn="ctr">
              <a:lnSpc>
                <a:spcPct val="100000"/>
              </a:lnSpc>
              <a:spcBef>
                <a:spcPts val="355"/>
              </a:spcBef>
            </a:pPr>
            <a:r>
              <a:rPr sz="1300" b="1">
                <a:solidFill>
                  <a:srgbClr val="565656"/>
                </a:solidFill>
                <a:latin typeface="Trebuchet MS"/>
                <a:cs typeface="Trebuchet MS"/>
              </a:rPr>
              <a:t>Flagging</a:t>
            </a:r>
            <a:r>
              <a:rPr sz="1300" b="1" spc="-50">
                <a:solidFill>
                  <a:srgbClr val="565656"/>
                </a:solidFill>
                <a:latin typeface="Trebuchet MS"/>
                <a:cs typeface="Trebuchet MS"/>
              </a:rPr>
              <a:t> </a:t>
            </a:r>
            <a:r>
              <a:rPr sz="1300" b="1">
                <a:solidFill>
                  <a:srgbClr val="565656"/>
                </a:solidFill>
                <a:latin typeface="Trebuchet MS"/>
                <a:cs typeface="Trebuchet MS"/>
              </a:rPr>
              <a:t>customers</a:t>
            </a:r>
            <a:r>
              <a:rPr sz="1300" b="1" spc="-55">
                <a:solidFill>
                  <a:srgbClr val="565656"/>
                </a:solidFill>
                <a:latin typeface="Trebuchet MS"/>
                <a:cs typeface="Trebuchet MS"/>
              </a:rPr>
              <a:t> </a:t>
            </a:r>
            <a:r>
              <a:rPr sz="1300" b="1" spc="-25">
                <a:solidFill>
                  <a:srgbClr val="565656"/>
                </a:solidFill>
                <a:latin typeface="Trebuchet MS"/>
                <a:cs typeface="Trebuchet MS"/>
              </a:rPr>
              <a:t>who </a:t>
            </a:r>
            <a:r>
              <a:rPr sz="1300" b="1">
                <a:solidFill>
                  <a:srgbClr val="565656"/>
                </a:solidFill>
                <a:latin typeface="Trebuchet MS"/>
                <a:cs typeface="Trebuchet MS"/>
              </a:rPr>
              <a:t>purchase</a:t>
            </a:r>
            <a:r>
              <a:rPr sz="1300" b="1" spc="-50">
                <a:solidFill>
                  <a:srgbClr val="565656"/>
                </a:solidFill>
                <a:latin typeface="Trebuchet MS"/>
                <a:cs typeface="Trebuchet MS"/>
              </a:rPr>
              <a:t> </a:t>
            </a:r>
            <a:r>
              <a:rPr sz="1300" b="1">
                <a:solidFill>
                  <a:srgbClr val="565656"/>
                </a:solidFill>
                <a:latin typeface="Trebuchet MS"/>
                <a:cs typeface="Trebuchet MS"/>
              </a:rPr>
              <a:t>wealth</a:t>
            </a:r>
            <a:r>
              <a:rPr sz="1300" b="1" spc="-50">
                <a:solidFill>
                  <a:srgbClr val="565656"/>
                </a:solidFill>
                <a:latin typeface="Trebuchet MS"/>
                <a:cs typeface="Trebuchet MS"/>
              </a:rPr>
              <a:t> </a:t>
            </a:r>
            <a:r>
              <a:rPr sz="1300" b="1" spc="-10">
                <a:solidFill>
                  <a:srgbClr val="565656"/>
                </a:solidFill>
                <a:latin typeface="Trebuchet MS"/>
                <a:cs typeface="Trebuchet MS"/>
              </a:rPr>
              <a:t>products </a:t>
            </a:r>
            <a:r>
              <a:rPr sz="1300" b="1" spc="-35">
                <a:solidFill>
                  <a:srgbClr val="565656"/>
                </a:solidFill>
                <a:latin typeface="Trebuchet MS"/>
                <a:cs typeface="Trebuchet MS"/>
              </a:rPr>
              <a:t>(Yes-</a:t>
            </a:r>
            <a:r>
              <a:rPr sz="1300" b="1" spc="-10">
                <a:solidFill>
                  <a:srgbClr val="565656"/>
                </a:solidFill>
                <a:latin typeface="Trebuchet MS"/>
                <a:cs typeface="Trebuchet MS"/>
              </a:rPr>
              <a:t>1/No-0)</a:t>
            </a:r>
            <a:r>
              <a:rPr sz="1300" b="1" spc="-80">
                <a:solidFill>
                  <a:srgbClr val="565656"/>
                </a:solidFill>
                <a:latin typeface="Trebuchet MS"/>
                <a:cs typeface="Trebuchet MS"/>
              </a:rPr>
              <a:t> </a:t>
            </a:r>
            <a:r>
              <a:rPr sz="1300" b="1" spc="-50">
                <a:solidFill>
                  <a:srgbClr val="565656"/>
                </a:solidFill>
                <a:latin typeface="Trebuchet MS"/>
                <a:cs typeface="Trebuchet MS"/>
              </a:rPr>
              <a:t>:</a:t>
            </a:r>
            <a:endParaRPr sz="1300">
              <a:latin typeface="Trebuchet MS"/>
              <a:cs typeface="Trebuchet MS"/>
            </a:endParaRPr>
          </a:p>
          <a:p>
            <a:pPr>
              <a:lnSpc>
                <a:spcPct val="100000"/>
              </a:lnSpc>
              <a:spcBef>
                <a:spcPts val="35"/>
              </a:spcBef>
            </a:pPr>
            <a:endParaRPr sz="1300">
              <a:latin typeface="Trebuchet MS"/>
              <a:cs typeface="Trebuchet MS"/>
            </a:endParaRPr>
          </a:p>
          <a:p>
            <a:pPr marL="129539">
              <a:lnSpc>
                <a:spcPct val="100000"/>
              </a:lnSpc>
            </a:pPr>
            <a:r>
              <a:rPr sz="1100" b="1" u="sng">
                <a:solidFill>
                  <a:srgbClr val="6D6E73"/>
                </a:solidFill>
                <a:uFill>
                  <a:solidFill>
                    <a:srgbClr val="6D6E73"/>
                  </a:solidFill>
                </a:uFill>
                <a:latin typeface="Trebuchet MS"/>
                <a:cs typeface="Trebuchet MS"/>
              </a:rPr>
              <a:t>Wealth</a:t>
            </a:r>
            <a:r>
              <a:rPr sz="1100" b="1" u="sng" spc="-55">
                <a:solidFill>
                  <a:srgbClr val="6D6E73"/>
                </a:solidFill>
                <a:uFill>
                  <a:solidFill>
                    <a:srgbClr val="6D6E73"/>
                  </a:solidFill>
                </a:uFill>
                <a:latin typeface="Trebuchet MS"/>
                <a:cs typeface="Trebuchet MS"/>
              </a:rPr>
              <a:t> </a:t>
            </a:r>
            <a:r>
              <a:rPr sz="1100" b="1" u="sng">
                <a:solidFill>
                  <a:srgbClr val="6D6E73"/>
                </a:solidFill>
                <a:uFill>
                  <a:solidFill>
                    <a:srgbClr val="6D6E73"/>
                  </a:solidFill>
                </a:uFill>
                <a:latin typeface="Trebuchet MS"/>
                <a:cs typeface="Trebuchet MS"/>
              </a:rPr>
              <a:t>customers</a:t>
            </a:r>
            <a:r>
              <a:rPr sz="1100" b="1" u="sng" spc="-45">
                <a:solidFill>
                  <a:srgbClr val="6D6E73"/>
                </a:solidFill>
                <a:uFill>
                  <a:solidFill>
                    <a:srgbClr val="6D6E73"/>
                  </a:solidFill>
                </a:uFill>
                <a:latin typeface="Trebuchet MS"/>
                <a:cs typeface="Trebuchet MS"/>
              </a:rPr>
              <a:t> </a:t>
            </a:r>
            <a:r>
              <a:rPr sz="1100" b="1" u="sng" spc="-10">
                <a:solidFill>
                  <a:srgbClr val="6D6E73"/>
                </a:solidFill>
                <a:uFill>
                  <a:solidFill>
                    <a:srgbClr val="6D6E73"/>
                  </a:solidFill>
                </a:uFill>
                <a:latin typeface="Trebuchet MS"/>
                <a:cs typeface="Trebuchet MS"/>
              </a:rPr>
              <a:t>definition:</a:t>
            </a:r>
            <a:endParaRPr sz="1100">
              <a:latin typeface="Trebuchet MS"/>
              <a:cs typeface="Trebuchet MS"/>
            </a:endParaRPr>
          </a:p>
          <a:p>
            <a:pPr marL="129539" marR="45720">
              <a:lnSpc>
                <a:spcPct val="100000"/>
              </a:lnSpc>
              <a:spcBef>
                <a:spcPts val="204"/>
              </a:spcBef>
            </a:pPr>
            <a:r>
              <a:rPr sz="1200">
                <a:solidFill>
                  <a:srgbClr val="565656"/>
                </a:solidFill>
                <a:latin typeface="Trebuchet MS"/>
                <a:cs typeface="Trebuchet MS"/>
              </a:rPr>
              <a:t>Have</a:t>
            </a:r>
            <a:r>
              <a:rPr sz="1200" spc="-20">
                <a:solidFill>
                  <a:srgbClr val="565656"/>
                </a:solidFill>
                <a:latin typeface="Trebuchet MS"/>
                <a:cs typeface="Trebuchet MS"/>
              </a:rPr>
              <a:t> </a:t>
            </a:r>
            <a:r>
              <a:rPr sz="1200">
                <a:solidFill>
                  <a:srgbClr val="565656"/>
                </a:solidFill>
                <a:latin typeface="Trebuchet MS"/>
                <a:cs typeface="Trebuchet MS"/>
              </a:rPr>
              <a:t>a</a:t>
            </a:r>
            <a:r>
              <a:rPr sz="1200" spc="-20">
                <a:solidFill>
                  <a:srgbClr val="565656"/>
                </a:solidFill>
                <a:latin typeface="Trebuchet MS"/>
                <a:cs typeface="Trebuchet MS"/>
              </a:rPr>
              <a:t> </a:t>
            </a:r>
            <a:r>
              <a:rPr sz="1200">
                <a:solidFill>
                  <a:srgbClr val="565656"/>
                </a:solidFill>
                <a:latin typeface="Trebuchet MS"/>
                <a:cs typeface="Trebuchet MS"/>
              </a:rPr>
              <a:t>minimum</a:t>
            </a:r>
            <a:r>
              <a:rPr sz="1200" spc="-35">
                <a:solidFill>
                  <a:srgbClr val="565656"/>
                </a:solidFill>
                <a:latin typeface="Trebuchet MS"/>
                <a:cs typeface="Trebuchet MS"/>
              </a:rPr>
              <a:t> </a:t>
            </a:r>
            <a:r>
              <a:rPr sz="1200">
                <a:solidFill>
                  <a:srgbClr val="565656"/>
                </a:solidFill>
                <a:latin typeface="Trebuchet MS"/>
                <a:cs typeface="Trebuchet MS"/>
              </a:rPr>
              <a:t>of</a:t>
            </a:r>
            <a:r>
              <a:rPr sz="1200" spc="-10">
                <a:solidFill>
                  <a:srgbClr val="565656"/>
                </a:solidFill>
                <a:latin typeface="Trebuchet MS"/>
                <a:cs typeface="Trebuchet MS"/>
              </a:rPr>
              <a:t> </a:t>
            </a:r>
            <a:r>
              <a:rPr sz="1200">
                <a:solidFill>
                  <a:srgbClr val="565656"/>
                </a:solidFill>
                <a:latin typeface="Trebuchet MS"/>
                <a:cs typeface="Trebuchet MS"/>
              </a:rPr>
              <a:t>xx</a:t>
            </a:r>
            <a:r>
              <a:rPr sz="1200" spc="-20">
                <a:solidFill>
                  <a:srgbClr val="565656"/>
                </a:solidFill>
                <a:latin typeface="Trebuchet MS"/>
                <a:cs typeface="Trebuchet MS"/>
              </a:rPr>
              <a:t> </a:t>
            </a:r>
            <a:r>
              <a:rPr sz="1200" spc="-10">
                <a:solidFill>
                  <a:srgbClr val="565656"/>
                </a:solidFill>
                <a:latin typeface="Trebuchet MS"/>
                <a:cs typeface="Trebuchet MS"/>
              </a:rPr>
              <a:t>number </a:t>
            </a:r>
            <a:r>
              <a:rPr sz="1200">
                <a:solidFill>
                  <a:srgbClr val="565656"/>
                </a:solidFill>
                <a:latin typeface="Trebuchet MS"/>
                <a:cs typeface="Trebuchet MS"/>
              </a:rPr>
              <a:t>of</a:t>
            </a:r>
            <a:r>
              <a:rPr sz="1200" spc="-15">
                <a:solidFill>
                  <a:srgbClr val="565656"/>
                </a:solidFill>
                <a:latin typeface="Trebuchet MS"/>
                <a:cs typeface="Trebuchet MS"/>
              </a:rPr>
              <a:t> </a:t>
            </a:r>
            <a:r>
              <a:rPr sz="1200">
                <a:solidFill>
                  <a:srgbClr val="565656"/>
                </a:solidFill>
                <a:latin typeface="Trebuchet MS"/>
                <a:cs typeface="Trebuchet MS"/>
              </a:rPr>
              <a:t>wealth</a:t>
            </a:r>
            <a:r>
              <a:rPr sz="1200" spc="-45">
                <a:solidFill>
                  <a:srgbClr val="565656"/>
                </a:solidFill>
                <a:latin typeface="Trebuchet MS"/>
                <a:cs typeface="Trebuchet MS"/>
              </a:rPr>
              <a:t> </a:t>
            </a:r>
            <a:r>
              <a:rPr sz="1200">
                <a:solidFill>
                  <a:srgbClr val="565656"/>
                </a:solidFill>
                <a:latin typeface="Trebuchet MS"/>
                <a:cs typeface="Trebuchet MS"/>
              </a:rPr>
              <a:t>products</a:t>
            </a:r>
            <a:r>
              <a:rPr sz="1200" spc="-50">
                <a:solidFill>
                  <a:srgbClr val="565656"/>
                </a:solidFill>
                <a:latin typeface="Trebuchet MS"/>
                <a:cs typeface="Trebuchet MS"/>
              </a:rPr>
              <a:t> </a:t>
            </a:r>
            <a:r>
              <a:rPr sz="1200">
                <a:solidFill>
                  <a:srgbClr val="565656"/>
                </a:solidFill>
                <a:latin typeface="Trebuchet MS"/>
                <a:cs typeface="Trebuchet MS"/>
              </a:rPr>
              <a:t>&amp;</a:t>
            </a:r>
            <a:r>
              <a:rPr sz="1200" spc="-70">
                <a:solidFill>
                  <a:srgbClr val="565656"/>
                </a:solidFill>
                <a:latin typeface="Trebuchet MS"/>
                <a:cs typeface="Trebuchet MS"/>
              </a:rPr>
              <a:t> </a:t>
            </a:r>
            <a:r>
              <a:rPr sz="1200">
                <a:solidFill>
                  <a:srgbClr val="565656"/>
                </a:solidFill>
                <a:latin typeface="Trebuchet MS"/>
                <a:cs typeface="Trebuchet MS"/>
              </a:rPr>
              <a:t>AUM</a:t>
            </a:r>
            <a:r>
              <a:rPr sz="1200" spc="-10">
                <a:solidFill>
                  <a:srgbClr val="565656"/>
                </a:solidFill>
                <a:latin typeface="Trebuchet MS"/>
                <a:cs typeface="Trebuchet MS"/>
              </a:rPr>
              <a:t> </a:t>
            </a:r>
            <a:r>
              <a:rPr sz="1200" spc="-25">
                <a:solidFill>
                  <a:srgbClr val="565656"/>
                </a:solidFill>
                <a:latin typeface="Trebuchet MS"/>
                <a:cs typeface="Trebuchet MS"/>
              </a:rPr>
              <a:t>&gt;= </a:t>
            </a:r>
            <a:r>
              <a:rPr lang="en-US" sz="1200" err="1">
                <a:solidFill>
                  <a:srgbClr val="565656"/>
                </a:solidFill>
                <a:latin typeface="Trebuchet MS"/>
                <a:cs typeface="Trebuchet MS"/>
              </a:rPr>
              <a:t>yy</a:t>
            </a:r>
            <a:r>
              <a:rPr sz="1200" spc="-25">
                <a:solidFill>
                  <a:srgbClr val="565656"/>
                </a:solidFill>
                <a:latin typeface="Trebuchet MS"/>
                <a:cs typeface="Trebuchet MS"/>
              </a:rPr>
              <a:t> </a:t>
            </a:r>
            <a:r>
              <a:rPr sz="1200">
                <a:solidFill>
                  <a:srgbClr val="565656"/>
                </a:solidFill>
                <a:latin typeface="Trebuchet MS"/>
                <a:cs typeface="Trebuchet MS"/>
              </a:rPr>
              <a:t>IDR</a:t>
            </a:r>
            <a:r>
              <a:rPr sz="1200" spc="-5">
                <a:solidFill>
                  <a:srgbClr val="565656"/>
                </a:solidFill>
                <a:latin typeface="Trebuchet MS"/>
                <a:cs typeface="Trebuchet MS"/>
              </a:rPr>
              <a:t> </a:t>
            </a:r>
            <a:r>
              <a:rPr sz="1200" spc="-10">
                <a:solidFill>
                  <a:srgbClr val="565656"/>
                </a:solidFill>
                <a:latin typeface="Trebuchet MS"/>
                <a:cs typeface="Trebuchet MS"/>
              </a:rPr>
              <a:t>monthly</a:t>
            </a:r>
            <a:endParaRPr sz="1200">
              <a:latin typeface="Trebuchet MS"/>
              <a:cs typeface="Trebuchet MS"/>
            </a:endParaRPr>
          </a:p>
        </p:txBody>
      </p:sp>
      <p:sp>
        <p:nvSpPr>
          <p:cNvPr id="14" name="object 14"/>
          <p:cNvSpPr txBox="1"/>
          <p:nvPr/>
        </p:nvSpPr>
        <p:spPr>
          <a:xfrm>
            <a:off x="732281" y="2079498"/>
            <a:ext cx="699770" cy="384175"/>
          </a:xfrm>
          <a:prstGeom prst="rect">
            <a:avLst/>
          </a:prstGeom>
          <a:solidFill>
            <a:srgbClr val="D6EFEA">
              <a:alpha val="59999"/>
            </a:srgbClr>
          </a:solidFill>
          <a:ln w="7619">
            <a:solidFill>
              <a:srgbClr val="29B974"/>
            </a:solidFill>
          </a:ln>
        </p:spPr>
        <p:txBody>
          <a:bodyPr vert="horz" wrap="square" lIns="0" tIns="95885" rIns="0" bIns="0" rtlCol="0">
            <a:spAutoFit/>
          </a:bodyPr>
          <a:lstStyle/>
          <a:p>
            <a:pPr marL="52069">
              <a:lnSpc>
                <a:spcPct val="100000"/>
              </a:lnSpc>
              <a:spcBef>
                <a:spcPts val="755"/>
              </a:spcBef>
            </a:pPr>
            <a:r>
              <a:rPr sz="1200" b="1" spc="-10">
                <a:solidFill>
                  <a:srgbClr val="29B974"/>
                </a:solidFill>
                <a:latin typeface="Trebuchet MS"/>
                <a:cs typeface="Trebuchet MS"/>
              </a:rPr>
              <a:t>Baseline</a:t>
            </a:r>
            <a:endParaRPr sz="1200">
              <a:latin typeface="Trebuchet MS"/>
              <a:cs typeface="Trebuchet MS"/>
            </a:endParaRPr>
          </a:p>
        </p:txBody>
      </p:sp>
      <p:sp>
        <p:nvSpPr>
          <p:cNvPr id="15" name="object 15"/>
          <p:cNvSpPr txBox="1"/>
          <p:nvPr/>
        </p:nvSpPr>
        <p:spPr>
          <a:xfrm>
            <a:off x="794766" y="5176265"/>
            <a:ext cx="699770" cy="384175"/>
          </a:xfrm>
          <a:prstGeom prst="rect">
            <a:avLst/>
          </a:prstGeom>
          <a:solidFill>
            <a:srgbClr val="D6EFEA">
              <a:alpha val="59999"/>
            </a:srgbClr>
          </a:solidFill>
          <a:ln w="7619">
            <a:solidFill>
              <a:srgbClr val="29B974"/>
            </a:solidFill>
          </a:ln>
        </p:spPr>
        <p:txBody>
          <a:bodyPr vert="horz" wrap="square" lIns="0" tIns="96520" rIns="0" bIns="0" rtlCol="0">
            <a:spAutoFit/>
          </a:bodyPr>
          <a:lstStyle/>
          <a:p>
            <a:pPr marL="87630">
              <a:lnSpc>
                <a:spcPct val="100000"/>
              </a:lnSpc>
              <a:spcBef>
                <a:spcPts val="760"/>
              </a:spcBef>
            </a:pPr>
            <a:r>
              <a:rPr sz="1200" b="1" spc="-10">
                <a:solidFill>
                  <a:srgbClr val="29B974"/>
                </a:solidFill>
                <a:latin typeface="Trebuchet MS"/>
                <a:cs typeface="Trebuchet MS"/>
              </a:rPr>
              <a:t>Tagging</a:t>
            </a:r>
            <a:endParaRPr sz="1200">
              <a:latin typeface="Trebuchet MS"/>
              <a:cs typeface="Trebuchet MS"/>
            </a:endParaRPr>
          </a:p>
        </p:txBody>
      </p:sp>
      <p:sp>
        <p:nvSpPr>
          <p:cNvPr id="16" name="object 16"/>
          <p:cNvSpPr txBox="1"/>
          <p:nvPr/>
        </p:nvSpPr>
        <p:spPr>
          <a:xfrm>
            <a:off x="5786628" y="2078735"/>
            <a:ext cx="2007235" cy="1011815"/>
          </a:xfrm>
          <a:prstGeom prst="rect">
            <a:avLst/>
          </a:prstGeom>
          <a:solidFill>
            <a:srgbClr val="FFFFFF"/>
          </a:solidFill>
          <a:ln w="9525">
            <a:solidFill>
              <a:srgbClr val="6F6F6F"/>
            </a:solidFill>
          </a:ln>
        </p:spPr>
        <p:txBody>
          <a:bodyPr vert="horz" wrap="square" lIns="0" tIns="102870" rIns="0" bIns="0" rtlCol="0">
            <a:spAutoFit/>
          </a:bodyPr>
          <a:lstStyle/>
          <a:p>
            <a:pPr marL="1270" algn="ctr">
              <a:lnSpc>
                <a:spcPct val="100000"/>
              </a:lnSpc>
              <a:spcBef>
                <a:spcPts val="810"/>
              </a:spcBef>
            </a:pPr>
            <a:r>
              <a:rPr sz="1400" b="1">
                <a:solidFill>
                  <a:srgbClr val="565656"/>
                </a:solidFill>
                <a:latin typeface="Trebuchet MS"/>
                <a:cs typeface="Trebuchet MS"/>
              </a:rPr>
              <a:t>Propensity</a:t>
            </a:r>
            <a:r>
              <a:rPr sz="1400" b="1" spc="-45">
                <a:solidFill>
                  <a:srgbClr val="565656"/>
                </a:solidFill>
                <a:latin typeface="Trebuchet MS"/>
                <a:cs typeface="Trebuchet MS"/>
              </a:rPr>
              <a:t> </a:t>
            </a:r>
            <a:r>
              <a:rPr sz="1400" b="1">
                <a:solidFill>
                  <a:srgbClr val="565656"/>
                </a:solidFill>
                <a:latin typeface="Trebuchet MS"/>
                <a:cs typeface="Trebuchet MS"/>
              </a:rPr>
              <a:t>Model</a:t>
            </a:r>
            <a:r>
              <a:rPr sz="1400" b="1" spc="-45">
                <a:solidFill>
                  <a:srgbClr val="565656"/>
                </a:solidFill>
                <a:latin typeface="Trebuchet MS"/>
                <a:cs typeface="Trebuchet MS"/>
              </a:rPr>
              <a:t> </a:t>
            </a:r>
            <a:r>
              <a:rPr sz="1400" b="1" spc="-10">
                <a:solidFill>
                  <a:srgbClr val="565656"/>
                </a:solidFill>
                <a:latin typeface="Trebuchet MS"/>
                <a:cs typeface="Trebuchet MS"/>
              </a:rPr>
              <a:t>(1/0)</a:t>
            </a:r>
            <a:endParaRPr sz="1400">
              <a:latin typeface="Trebuchet MS"/>
              <a:cs typeface="Trebuchet MS"/>
            </a:endParaRPr>
          </a:p>
          <a:p>
            <a:pPr marL="27305" marR="19685" indent="635" algn="ctr">
              <a:lnSpc>
                <a:spcPts val="1190"/>
              </a:lnSpc>
              <a:spcBef>
                <a:spcPts val="630"/>
              </a:spcBef>
            </a:pPr>
            <a:r>
              <a:rPr sz="1100">
                <a:solidFill>
                  <a:srgbClr val="565656"/>
                </a:solidFill>
                <a:latin typeface="Trebuchet MS"/>
                <a:cs typeface="Trebuchet MS"/>
              </a:rPr>
              <a:t>Model</a:t>
            </a:r>
            <a:r>
              <a:rPr sz="1100" spc="-25">
                <a:solidFill>
                  <a:srgbClr val="565656"/>
                </a:solidFill>
                <a:latin typeface="Trebuchet MS"/>
                <a:cs typeface="Trebuchet MS"/>
              </a:rPr>
              <a:t> </a:t>
            </a:r>
            <a:r>
              <a:rPr lang="en-US" sz="1100" err="1">
                <a:solidFill>
                  <a:srgbClr val="565656"/>
                </a:solidFill>
                <a:latin typeface="Trebuchet MS"/>
                <a:cs typeface="Trebuchet MS"/>
              </a:rPr>
              <a:t>behaviour</a:t>
            </a:r>
            <a:r>
              <a:rPr sz="1100" spc="-35">
                <a:solidFill>
                  <a:srgbClr val="565656"/>
                </a:solidFill>
                <a:latin typeface="Trebuchet MS"/>
                <a:cs typeface="Trebuchet MS"/>
              </a:rPr>
              <a:t> </a:t>
            </a:r>
            <a:r>
              <a:rPr sz="1100">
                <a:solidFill>
                  <a:srgbClr val="565656"/>
                </a:solidFill>
                <a:latin typeface="Trebuchet MS"/>
                <a:cs typeface="Trebuchet MS"/>
              </a:rPr>
              <a:t>of</a:t>
            </a:r>
            <a:r>
              <a:rPr sz="1100" spc="-10">
                <a:solidFill>
                  <a:srgbClr val="565656"/>
                </a:solidFill>
                <a:latin typeface="Trebuchet MS"/>
                <a:cs typeface="Trebuchet MS"/>
              </a:rPr>
              <a:t> wealth </a:t>
            </a:r>
            <a:r>
              <a:rPr sz="1100">
                <a:solidFill>
                  <a:srgbClr val="565656"/>
                </a:solidFill>
                <a:latin typeface="Trebuchet MS"/>
                <a:cs typeface="Trebuchet MS"/>
              </a:rPr>
              <a:t>customers</a:t>
            </a:r>
            <a:r>
              <a:rPr sz="1100" spc="-10">
                <a:solidFill>
                  <a:srgbClr val="565656"/>
                </a:solidFill>
                <a:latin typeface="Trebuchet MS"/>
                <a:cs typeface="Trebuchet MS"/>
              </a:rPr>
              <a:t> </a:t>
            </a:r>
            <a:r>
              <a:rPr sz="1100">
                <a:solidFill>
                  <a:srgbClr val="565656"/>
                </a:solidFill>
                <a:latin typeface="Trebuchet MS"/>
                <a:cs typeface="Trebuchet MS"/>
              </a:rPr>
              <a:t>over</a:t>
            </a:r>
            <a:r>
              <a:rPr sz="1100" spc="-30">
                <a:solidFill>
                  <a:srgbClr val="565656"/>
                </a:solidFill>
                <a:latin typeface="Trebuchet MS"/>
                <a:cs typeface="Trebuchet MS"/>
              </a:rPr>
              <a:t> </a:t>
            </a:r>
            <a:r>
              <a:rPr sz="1100">
                <a:solidFill>
                  <a:srgbClr val="565656"/>
                </a:solidFill>
                <a:latin typeface="Trebuchet MS"/>
                <a:cs typeface="Trebuchet MS"/>
              </a:rPr>
              <a:t>period</a:t>
            </a:r>
            <a:r>
              <a:rPr sz="1100" spc="-20">
                <a:solidFill>
                  <a:srgbClr val="565656"/>
                </a:solidFill>
                <a:latin typeface="Trebuchet MS"/>
                <a:cs typeface="Trebuchet MS"/>
              </a:rPr>
              <a:t> </a:t>
            </a:r>
            <a:r>
              <a:rPr sz="1100">
                <a:solidFill>
                  <a:srgbClr val="565656"/>
                </a:solidFill>
                <a:latin typeface="Trebuchet MS"/>
                <a:cs typeface="Trebuchet MS"/>
              </a:rPr>
              <a:t>Jan'19</a:t>
            </a:r>
            <a:r>
              <a:rPr sz="1100" spc="-35">
                <a:solidFill>
                  <a:srgbClr val="565656"/>
                </a:solidFill>
                <a:latin typeface="Trebuchet MS"/>
                <a:cs typeface="Trebuchet MS"/>
              </a:rPr>
              <a:t> </a:t>
            </a:r>
            <a:r>
              <a:rPr sz="1100" spc="-50">
                <a:solidFill>
                  <a:srgbClr val="565656"/>
                </a:solidFill>
                <a:latin typeface="Trebuchet MS"/>
                <a:cs typeface="Trebuchet MS"/>
              </a:rPr>
              <a:t>- </a:t>
            </a:r>
            <a:r>
              <a:rPr sz="1100">
                <a:solidFill>
                  <a:srgbClr val="565656"/>
                </a:solidFill>
                <a:latin typeface="Trebuchet MS"/>
                <a:cs typeface="Trebuchet MS"/>
              </a:rPr>
              <a:t>YTD'20</a:t>
            </a:r>
            <a:r>
              <a:rPr sz="1100" spc="-30">
                <a:solidFill>
                  <a:srgbClr val="565656"/>
                </a:solidFill>
                <a:latin typeface="Trebuchet MS"/>
                <a:cs typeface="Trebuchet MS"/>
              </a:rPr>
              <a:t> </a:t>
            </a:r>
            <a:r>
              <a:rPr sz="1100">
                <a:solidFill>
                  <a:srgbClr val="565656"/>
                </a:solidFill>
                <a:latin typeface="Trebuchet MS"/>
                <a:cs typeface="Trebuchet MS"/>
              </a:rPr>
              <a:t>using</a:t>
            </a:r>
            <a:r>
              <a:rPr sz="1100" spc="305">
                <a:solidFill>
                  <a:srgbClr val="565656"/>
                </a:solidFill>
                <a:latin typeface="Trebuchet MS"/>
                <a:cs typeface="Trebuchet MS"/>
              </a:rPr>
              <a:t> </a:t>
            </a:r>
            <a:r>
              <a:rPr sz="1100">
                <a:solidFill>
                  <a:srgbClr val="565656"/>
                </a:solidFill>
                <a:latin typeface="Trebuchet MS"/>
                <a:cs typeface="Trebuchet MS"/>
              </a:rPr>
              <a:t>Machine</a:t>
            </a:r>
            <a:r>
              <a:rPr sz="1100" spc="-40">
                <a:solidFill>
                  <a:srgbClr val="565656"/>
                </a:solidFill>
                <a:latin typeface="Trebuchet MS"/>
                <a:cs typeface="Trebuchet MS"/>
              </a:rPr>
              <a:t> </a:t>
            </a:r>
            <a:r>
              <a:rPr sz="1100" spc="-10">
                <a:solidFill>
                  <a:srgbClr val="565656"/>
                </a:solidFill>
                <a:latin typeface="Trebuchet MS"/>
                <a:cs typeface="Trebuchet MS"/>
              </a:rPr>
              <a:t>Learning algorithm</a:t>
            </a:r>
            <a:endParaRPr sz="1100">
              <a:latin typeface="Trebuchet MS"/>
              <a:cs typeface="Trebuchet MS"/>
            </a:endParaRPr>
          </a:p>
        </p:txBody>
      </p:sp>
      <p:sp>
        <p:nvSpPr>
          <p:cNvPr id="17" name="object 17"/>
          <p:cNvSpPr txBox="1"/>
          <p:nvPr/>
        </p:nvSpPr>
        <p:spPr>
          <a:xfrm>
            <a:off x="4752594" y="2079498"/>
            <a:ext cx="699770" cy="384175"/>
          </a:xfrm>
          <a:prstGeom prst="rect">
            <a:avLst/>
          </a:prstGeom>
          <a:solidFill>
            <a:srgbClr val="D6EFEA">
              <a:alpha val="59999"/>
            </a:srgbClr>
          </a:solidFill>
          <a:ln w="7620">
            <a:solidFill>
              <a:srgbClr val="29B974"/>
            </a:solidFill>
          </a:ln>
        </p:spPr>
        <p:txBody>
          <a:bodyPr vert="horz" wrap="square" lIns="0" tIns="4445" rIns="0" bIns="0" rtlCol="0">
            <a:spAutoFit/>
          </a:bodyPr>
          <a:lstStyle/>
          <a:p>
            <a:pPr marL="130175" marR="123189" indent="40640">
              <a:lnSpc>
                <a:spcPct val="100000"/>
              </a:lnSpc>
              <a:spcBef>
                <a:spcPts val="35"/>
              </a:spcBef>
            </a:pPr>
            <a:r>
              <a:rPr sz="1200" b="1" spc="-10">
                <a:solidFill>
                  <a:srgbClr val="29B974"/>
                </a:solidFill>
                <a:latin typeface="Trebuchet MS"/>
                <a:cs typeface="Trebuchet MS"/>
              </a:rPr>
              <a:t>Train model</a:t>
            </a:r>
            <a:endParaRPr sz="1200">
              <a:latin typeface="Trebuchet MS"/>
              <a:cs typeface="Trebuchet MS"/>
            </a:endParaRPr>
          </a:p>
        </p:txBody>
      </p:sp>
      <p:sp>
        <p:nvSpPr>
          <p:cNvPr id="18" name="object 18"/>
          <p:cNvSpPr/>
          <p:nvPr/>
        </p:nvSpPr>
        <p:spPr>
          <a:xfrm>
            <a:off x="4745736" y="2642107"/>
            <a:ext cx="3066415" cy="2236470"/>
          </a:xfrm>
          <a:custGeom>
            <a:avLst/>
            <a:gdLst/>
            <a:ahLst/>
            <a:cxnLst/>
            <a:rect l="l" t="t" r="r" b="b"/>
            <a:pathLst>
              <a:path w="3066415" h="2236470">
                <a:moveTo>
                  <a:pt x="312801" y="261620"/>
                </a:moveTo>
                <a:lnTo>
                  <a:pt x="307467" y="234950"/>
                </a:lnTo>
                <a:lnTo>
                  <a:pt x="292938" y="213360"/>
                </a:lnTo>
                <a:lnTo>
                  <a:pt x="271373" y="199390"/>
                </a:lnTo>
                <a:lnTo>
                  <a:pt x="244983" y="194310"/>
                </a:lnTo>
                <a:lnTo>
                  <a:pt x="218643" y="199390"/>
                </a:lnTo>
                <a:lnTo>
                  <a:pt x="197129" y="214630"/>
                </a:lnTo>
                <a:lnTo>
                  <a:pt x="182613" y="234950"/>
                </a:lnTo>
                <a:lnTo>
                  <a:pt x="177292" y="261620"/>
                </a:lnTo>
                <a:lnTo>
                  <a:pt x="182613" y="288290"/>
                </a:lnTo>
                <a:lnTo>
                  <a:pt x="197129" y="308610"/>
                </a:lnTo>
                <a:lnTo>
                  <a:pt x="218643" y="323850"/>
                </a:lnTo>
                <a:lnTo>
                  <a:pt x="244983" y="328930"/>
                </a:lnTo>
                <a:lnTo>
                  <a:pt x="271373" y="323850"/>
                </a:lnTo>
                <a:lnTo>
                  <a:pt x="292938" y="308610"/>
                </a:lnTo>
                <a:lnTo>
                  <a:pt x="307467" y="288290"/>
                </a:lnTo>
                <a:lnTo>
                  <a:pt x="312801" y="261620"/>
                </a:lnTo>
                <a:close/>
              </a:path>
              <a:path w="3066415" h="2236470">
                <a:moveTo>
                  <a:pt x="398653" y="261620"/>
                </a:moveTo>
                <a:lnTo>
                  <a:pt x="390842" y="213360"/>
                </a:lnTo>
                <a:lnTo>
                  <a:pt x="382524" y="197345"/>
                </a:lnTo>
                <a:lnTo>
                  <a:pt x="382524" y="261620"/>
                </a:lnTo>
                <a:lnTo>
                  <a:pt x="375526" y="304800"/>
                </a:lnTo>
                <a:lnTo>
                  <a:pt x="356069" y="341630"/>
                </a:lnTo>
                <a:lnTo>
                  <a:pt x="326390" y="372110"/>
                </a:lnTo>
                <a:lnTo>
                  <a:pt x="288734" y="391160"/>
                </a:lnTo>
                <a:lnTo>
                  <a:pt x="245364" y="398780"/>
                </a:lnTo>
                <a:lnTo>
                  <a:pt x="202044" y="391160"/>
                </a:lnTo>
                <a:lnTo>
                  <a:pt x="164426" y="372110"/>
                </a:lnTo>
                <a:lnTo>
                  <a:pt x="134759" y="341630"/>
                </a:lnTo>
                <a:lnTo>
                  <a:pt x="115316" y="304800"/>
                </a:lnTo>
                <a:lnTo>
                  <a:pt x="108331" y="261620"/>
                </a:lnTo>
                <a:lnTo>
                  <a:pt x="115316" y="217170"/>
                </a:lnTo>
                <a:lnTo>
                  <a:pt x="134759" y="180340"/>
                </a:lnTo>
                <a:lnTo>
                  <a:pt x="164426" y="149860"/>
                </a:lnTo>
                <a:lnTo>
                  <a:pt x="202044" y="130810"/>
                </a:lnTo>
                <a:lnTo>
                  <a:pt x="245364" y="124460"/>
                </a:lnTo>
                <a:lnTo>
                  <a:pt x="288734" y="130810"/>
                </a:lnTo>
                <a:lnTo>
                  <a:pt x="326390" y="149860"/>
                </a:lnTo>
                <a:lnTo>
                  <a:pt x="356069" y="180340"/>
                </a:lnTo>
                <a:lnTo>
                  <a:pt x="375526" y="217170"/>
                </a:lnTo>
                <a:lnTo>
                  <a:pt x="382524" y="261620"/>
                </a:lnTo>
                <a:lnTo>
                  <a:pt x="382524" y="197345"/>
                </a:lnTo>
                <a:lnTo>
                  <a:pt x="335915" y="138430"/>
                </a:lnTo>
                <a:lnTo>
                  <a:pt x="293827" y="116840"/>
                </a:lnTo>
                <a:lnTo>
                  <a:pt x="245364" y="109220"/>
                </a:lnTo>
                <a:lnTo>
                  <a:pt x="196951" y="116840"/>
                </a:lnTo>
                <a:lnTo>
                  <a:pt x="154901" y="138430"/>
                </a:lnTo>
                <a:lnTo>
                  <a:pt x="121754" y="171450"/>
                </a:lnTo>
                <a:lnTo>
                  <a:pt x="99999" y="213360"/>
                </a:lnTo>
                <a:lnTo>
                  <a:pt x="92202" y="261620"/>
                </a:lnTo>
                <a:lnTo>
                  <a:pt x="99999" y="309880"/>
                </a:lnTo>
                <a:lnTo>
                  <a:pt x="121754" y="351790"/>
                </a:lnTo>
                <a:lnTo>
                  <a:pt x="154901" y="384810"/>
                </a:lnTo>
                <a:lnTo>
                  <a:pt x="196951" y="406400"/>
                </a:lnTo>
                <a:lnTo>
                  <a:pt x="245364" y="414020"/>
                </a:lnTo>
                <a:lnTo>
                  <a:pt x="293827" y="406400"/>
                </a:lnTo>
                <a:lnTo>
                  <a:pt x="308686" y="398780"/>
                </a:lnTo>
                <a:lnTo>
                  <a:pt x="335915" y="384810"/>
                </a:lnTo>
                <a:lnTo>
                  <a:pt x="369087" y="351790"/>
                </a:lnTo>
                <a:lnTo>
                  <a:pt x="390842" y="309880"/>
                </a:lnTo>
                <a:lnTo>
                  <a:pt x="398653" y="261620"/>
                </a:lnTo>
                <a:close/>
              </a:path>
              <a:path w="3066415" h="2236470">
                <a:moveTo>
                  <a:pt x="490093" y="250190"/>
                </a:moveTo>
                <a:lnTo>
                  <a:pt x="488975" y="238760"/>
                </a:lnTo>
                <a:lnTo>
                  <a:pt x="487629" y="228600"/>
                </a:lnTo>
                <a:lnTo>
                  <a:pt x="486029" y="218440"/>
                </a:lnTo>
                <a:lnTo>
                  <a:pt x="485470" y="214630"/>
                </a:lnTo>
                <a:lnTo>
                  <a:pt x="473964" y="181013"/>
                </a:lnTo>
                <a:lnTo>
                  <a:pt x="473964" y="246380"/>
                </a:lnTo>
                <a:lnTo>
                  <a:pt x="438658" y="266700"/>
                </a:lnTo>
                <a:lnTo>
                  <a:pt x="433616" y="306070"/>
                </a:lnTo>
                <a:lnTo>
                  <a:pt x="430657" y="316230"/>
                </a:lnTo>
                <a:lnTo>
                  <a:pt x="429260" y="321310"/>
                </a:lnTo>
                <a:lnTo>
                  <a:pt x="454914" y="353060"/>
                </a:lnTo>
                <a:lnTo>
                  <a:pt x="449834" y="363220"/>
                </a:lnTo>
                <a:lnTo>
                  <a:pt x="443357" y="374650"/>
                </a:lnTo>
                <a:lnTo>
                  <a:pt x="442175" y="377190"/>
                </a:lnTo>
                <a:lnTo>
                  <a:pt x="439064" y="382270"/>
                </a:lnTo>
                <a:lnTo>
                  <a:pt x="434670" y="388620"/>
                </a:lnTo>
                <a:lnTo>
                  <a:pt x="429641" y="396240"/>
                </a:lnTo>
                <a:lnTo>
                  <a:pt x="385953" y="389890"/>
                </a:lnTo>
                <a:lnTo>
                  <a:pt x="383032" y="392430"/>
                </a:lnTo>
                <a:lnTo>
                  <a:pt x="375564" y="398780"/>
                </a:lnTo>
                <a:lnTo>
                  <a:pt x="367817" y="405130"/>
                </a:lnTo>
                <a:lnTo>
                  <a:pt x="359740" y="411480"/>
                </a:lnTo>
                <a:lnTo>
                  <a:pt x="351282" y="417830"/>
                </a:lnTo>
                <a:lnTo>
                  <a:pt x="347345" y="420370"/>
                </a:lnTo>
                <a:lnTo>
                  <a:pt x="346964" y="466090"/>
                </a:lnTo>
                <a:lnTo>
                  <a:pt x="338569" y="469900"/>
                </a:lnTo>
                <a:lnTo>
                  <a:pt x="330974" y="472440"/>
                </a:lnTo>
                <a:lnTo>
                  <a:pt x="325399" y="474980"/>
                </a:lnTo>
                <a:lnTo>
                  <a:pt x="320979" y="476250"/>
                </a:lnTo>
                <a:lnTo>
                  <a:pt x="315442" y="478790"/>
                </a:lnTo>
                <a:lnTo>
                  <a:pt x="307594" y="481330"/>
                </a:lnTo>
                <a:lnTo>
                  <a:pt x="298577" y="483870"/>
                </a:lnTo>
                <a:lnTo>
                  <a:pt x="280187" y="462280"/>
                </a:lnTo>
                <a:lnTo>
                  <a:pt x="268287" y="448310"/>
                </a:lnTo>
                <a:lnTo>
                  <a:pt x="267208" y="447040"/>
                </a:lnTo>
                <a:lnTo>
                  <a:pt x="257048" y="447040"/>
                </a:lnTo>
                <a:lnTo>
                  <a:pt x="251333" y="448310"/>
                </a:lnTo>
                <a:lnTo>
                  <a:pt x="239395" y="448310"/>
                </a:lnTo>
                <a:lnTo>
                  <a:pt x="226822" y="447040"/>
                </a:lnTo>
                <a:lnTo>
                  <a:pt x="222885" y="447040"/>
                </a:lnTo>
                <a:lnTo>
                  <a:pt x="191008" y="483870"/>
                </a:lnTo>
                <a:lnTo>
                  <a:pt x="182194" y="481330"/>
                </a:lnTo>
                <a:lnTo>
                  <a:pt x="174320" y="478790"/>
                </a:lnTo>
                <a:lnTo>
                  <a:pt x="168656" y="476250"/>
                </a:lnTo>
                <a:lnTo>
                  <a:pt x="166497" y="476250"/>
                </a:lnTo>
                <a:lnTo>
                  <a:pt x="164401" y="474980"/>
                </a:lnTo>
                <a:lnTo>
                  <a:pt x="158953" y="472440"/>
                </a:lnTo>
                <a:lnTo>
                  <a:pt x="151333" y="469900"/>
                </a:lnTo>
                <a:lnTo>
                  <a:pt x="142748" y="466090"/>
                </a:lnTo>
                <a:lnTo>
                  <a:pt x="142367" y="419100"/>
                </a:lnTo>
                <a:lnTo>
                  <a:pt x="138684" y="416560"/>
                </a:lnTo>
                <a:lnTo>
                  <a:pt x="130175" y="411480"/>
                </a:lnTo>
                <a:lnTo>
                  <a:pt x="123672" y="406400"/>
                </a:lnTo>
                <a:lnTo>
                  <a:pt x="122047" y="405130"/>
                </a:lnTo>
                <a:lnTo>
                  <a:pt x="114388" y="398780"/>
                </a:lnTo>
                <a:lnTo>
                  <a:pt x="111556" y="396240"/>
                </a:lnTo>
                <a:lnTo>
                  <a:pt x="107315" y="392430"/>
                </a:lnTo>
                <a:lnTo>
                  <a:pt x="104394" y="389890"/>
                </a:lnTo>
                <a:lnTo>
                  <a:pt x="60452" y="396240"/>
                </a:lnTo>
                <a:lnTo>
                  <a:pt x="55245" y="388620"/>
                </a:lnTo>
                <a:lnTo>
                  <a:pt x="50876" y="382270"/>
                </a:lnTo>
                <a:lnTo>
                  <a:pt x="47853" y="377190"/>
                </a:lnTo>
                <a:lnTo>
                  <a:pt x="46736" y="374650"/>
                </a:lnTo>
                <a:lnTo>
                  <a:pt x="45631" y="373380"/>
                </a:lnTo>
                <a:lnTo>
                  <a:pt x="42811" y="368300"/>
                </a:lnTo>
                <a:lnTo>
                  <a:pt x="38963" y="360680"/>
                </a:lnTo>
                <a:lnTo>
                  <a:pt x="34798" y="353060"/>
                </a:lnTo>
                <a:lnTo>
                  <a:pt x="61087" y="320040"/>
                </a:lnTo>
                <a:lnTo>
                  <a:pt x="60071" y="316230"/>
                </a:lnTo>
                <a:lnTo>
                  <a:pt x="56883" y="304800"/>
                </a:lnTo>
                <a:lnTo>
                  <a:pt x="54419" y="293370"/>
                </a:lnTo>
                <a:lnTo>
                  <a:pt x="52705" y="281940"/>
                </a:lnTo>
                <a:lnTo>
                  <a:pt x="51816" y="270510"/>
                </a:lnTo>
                <a:lnTo>
                  <a:pt x="51435" y="266700"/>
                </a:lnTo>
                <a:lnTo>
                  <a:pt x="16002" y="246380"/>
                </a:lnTo>
                <a:lnTo>
                  <a:pt x="17056" y="237490"/>
                </a:lnTo>
                <a:lnTo>
                  <a:pt x="18262" y="228600"/>
                </a:lnTo>
                <a:lnTo>
                  <a:pt x="19685" y="220980"/>
                </a:lnTo>
                <a:lnTo>
                  <a:pt x="21844" y="207010"/>
                </a:lnTo>
                <a:lnTo>
                  <a:pt x="25019" y="195580"/>
                </a:lnTo>
                <a:lnTo>
                  <a:pt x="67310" y="187960"/>
                </a:lnTo>
                <a:lnTo>
                  <a:pt x="69088" y="184150"/>
                </a:lnTo>
                <a:lnTo>
                  <a:pt x="91440" y="148590"/>
                </a:lnTo>
                <a:lnTo>
                  <a:pt x="94361" y="144780"/>
                </a:lnTo>
                <a:lnTo>
                  <a:pt x="79248" y="102870"/>
                </a:lnTo>
                <a:lnTo>
                  <a:pt x="85801" y="96520"/>
                </a:lnTo>
                <a:lnTo>
                  <a:pt x="91821" y="90170"/>
                </a:lnTo>
                <a:lnTo>
                  <a:pt x="96202" y="86360"/>
                </a:lnTo>
                <a:lnTo>
                  <a:pt x="97917" y="85090"/>
                </a:lnTo>
                <a:lnTo>
                  <a:pt x="99822" y="83820"/>
                </a:lnTo>
                <a:lnTo>
                  <a:pt x="104394" y="80010"/>
                </a:lnTo>
                <a:lnTo>
                  <a:pt x="110769" y="74930"/>
                </a:lnTo>
                <a:lnTo>
                  <a:pt x="118110" y="69850"/>
                </a:lnTo>
                <a:lnTo>
                  <a:pt x="161163" y="93980"/>
                </a:lnTo>
                <a:lnTo>
                  <a:pt x="164719" y="92710"/>
                </a:lnTo>
                <a:lnTo>
                  <a:pt x="172834" y="88900"/>
                </a:lnTo>
                <a:lnTo>
                  <a:pt x="197612" y="81280"/>
                </a:lnTo>
                <a:lnTo>
                  <a:pt x="201930" y="80010"/>
                </a:lnTo>
                <a:lnTo>
                  <a:pt x="203352" y="76200"/>
                </a:lnTo>
                <a:lnTo>
                  <a:pt x="219583" y="33020"/>
                </a:lnTo>
                <a:lnTo>
                  <a:pt x="228892" y="31750"/>
                </a:lnTo>
                <a:lnTo>
                  <a:pt x="261683" y="31750"/>
                </a:lnTo>
                <a:lnTo>
                  <a:pt x="270764" y="33020"/>
                </a:lnTo>
                <a:lnTo>
                  <a:pt x="288544" y="80010"/>
                </a:lnTo>
                <a:lnTo>
                  <a:pt x="292481" y="81280"/>
                </a:lnTo>
                <a:lnTo>
                  <a:pt x="301015" y="83820"/>
                </a:lnTo>
                <a:lnTo>
                  <a:pt x="317512" y="88900"/>
                </a:lnTo>
                <a:lnTo>
                  <a:pt x="325628" y="92710"/>
                </a:lnTo>
                <a:lnTo>
                  <a:pt x="329311" y="93980"/>
                </a:lnTo>
                <a:lnTo>
                  <a:pt x="360934" y="76200"/>
                </a:lnTo>
                <a:lnTo>
                  <a:pt x="372237" y="69850"/>
                </a:lnTo>
                <a:lnTo>
                  <a:pt x="379615" y="74930"/>
                </a:lnTo>
                <a:lnTo>
                  <a:pt x="386092" y="80010"/>
                </a:lnTo>
                <a:lnTo>
                  <a:pt x="390677" y="83820"/>
                </a:lnTo>
                <a:lnTo>
                  <a:pt x="394144" y="86360"/>
                </a:lnTo>
                <a:lnTo>
                  <a:pt x="398589" y="90170"/>
                </a:lnTo>
                <a:lnTo>
                  <a:pt x="404634" y="96520"/>
                </a:lnTo>
                <a:lnTo>
                  <a:pt x="411226" y="102870"/>
                </a:lnTo>
                <a:lnTo>
                  <a:pt x="396367" y="144780"/>
                </a:lnTo>
                <a:lnTo>
                  <a:pt x="399288" y="148590"/>
                </a:lnTo>
                <a:lnTo>
                  <a:pt x="405561" y="157480"/>
                </a:lnTo>
                <a:lnTo>
                  <a:pt x="411416" y="166370"/>
                </a:lnTo>
                <a:lnTo>
                  <a:pt x="416788" y="175260"/>
                </a:lnTo>
                <a:lnTo>
                  <a:pt x="421640" y="184150"/>
                </a:lnTo>
                <a:lnTo>
                  <a:pt x="423418" y="187960"/>
                </a:lnTo>
                <a:lnTo>
                  <a:pt x="464947" y="195580"/>
                </a:lnTo>
                <a:lnTo>
                  <a:pt x="467194" y="204470"/>
                </a:lnTo>
                <a:lnTo>
                  <a:pt x="468960" y="213360"/>
                </a:lnTo>
                <a:lnTo>
                  <a:pt x="470789" y="220980"/>
                </a:lnTo>
                <a:lnTo>
                  <a:pt x="472948" y="233680"/>
                </a:lnTo>
                <a:lnTo>
                  <a:pt x="473964" y="246380"/>
                </a:lnTo>
                <a:lnTo>
                  <a:pt x="473964" y="181013"/>
                </a:lnTo>
                <a:lnTo>
                  <a:pt x="433832" y="173990"/>
                </a:lnTo>
                <a:lnTo>
                  <a:pt x="429539" y="165100"/>
                </a:lnTo>
                <a:lnTo>
                  <a:pt x="424853" y="157480"/>
                </a:lnTo>
                <a:lnTo>
                  <a:pt x="419773" y="149860"/>
                </a:lnTo>
                <a:lnTo>
                  <a:pt x="414274" y="142240"/>
                </a:lnTo>
                <a:lnTo>
                  <a:pt x="429514" y="99060"/>
                </a:lnTo>
                <a:lnTo>
                  <a:pt x="426212" y="95250"/>
                </a:lnTo>
                <a:lnTo>
                  <a:pt x="418299" y="87630"/>
                </a:lnTo>
                <a:lnTo>
                  <a:pt x="410756" y="80010"/>
                </a:lnTo>
                <a:lnTo>
                  <a:pt x="405003" y="74930"/>
                </a:lnTo>
                <a:lnTo>
                  <a:pt x="400024" y="71120"/>
                </a:lnTo>
                <a:lnTo>
                  <a:pt x="398538" y="69850"/>
                </a:lnTo>
                <a:lnTo>
                  <a:pt x="394106" y="66040"/>
                </a:lnTo>
                <a:lnTo>
                  <a:pt x="385953" y="59690"/>
                </a:lnTo>
                <a:lnTo>
                  <a:pt x="376809" y="53340"/>
                </a:lnTo>
                <a:lnTo>
                  <a:pt x="372872" y="50800"/>
                </a:lnTo>
                <a:lnTo>
                  <a:pt x="328168" y="76200"/>
                </a:lnTo>
                <a:lnTo>
                  <a:pt x="307390" y="68580"/>
                </a:lnTo>
                <a:lnTo>
                  <a:pt x="300355" y="67310"/>
                </a:lnTo>
                <a:lnTo>
                  <a:pt x="287121" y="31750"/>
                </a:lnTo>
                <a:lnTo>
                  <a:pt x="281940" y="17780"/>
                </a:lnTo>
                <a:lnTo>
                  <a:pt x="277241" y="17780"/>
                </a:lnTo>
                <a:lnTo>
                  <a:pt x="256095" y="15240"/>
                </a:lnTo>
                <a:lnTo>
                  <a:pt x="234315" y="15240"/>
                </a:lnTo>
                <a:lnTo>
                  <a:pt x="213106" y="17780"/>
                </a:lnTo>
                <a:lnTo>
                  <a:pt x="208407" y="17780"/>
                </a:lnTo>
                <a:lnTo>
                  <a:pt x="189992" y="67310"/>
                </a:lnTo>
                <a:lnTo>
                  <a:pt x="182968" y="68580"/>
                </a:lnTo>
                <a:lnTo>
                  <a:pt x="162306" y="76200"/>
                </a:lnTo>
                <a:lnTo>
                  <a:pt x="151130" y="69850"/>
                </a:lnTo>
                <a:lnTo>
                  <a:pt x="117602" y="50800"/>
                </a:lnTo>
                <a:lnTo>
                  <a:pt x="113538" y="53340"/>
                </a:lnTo>
                <a:lnTo>
                  <a:pt x="104648" y="59690"/>
                </a:lnTo>
                <a:lnTo>
                  <a:pt x="96583" y="66040"/>
                </a:lnTo>
                <a:lnTo>
                  <a:pt x="90601" y="71120"/>
                </a:lnTo>
                <a:lnTo>
                  <a:pt x="88011" y="72390"/>
                </a:lnTo>
                <a:lnTo>
                  <a:pt x="85547" y="74930"/>
                </a:lnTo>
                <a:lnTo>
                  <a:pt x="79781" y="80010"/>
                </a:lnTo>
                <a:lnTo>
                  <a:pt x="72250" y="86360"/>
                </a:lnTo>
                <a:lnTo>
                  <a:pt x="64516" y="95250"/>
                </a:lnTo>
                <a:lnTo>
                  <a:pt x="61341" y="99060"/>
                </a:lnTo>
                <a:lnTo>
                  <a:pt x="76454" y="142240"/>
                </a:lnTo>
                <a:lnTo>
                  <a:pt x="70942" y="149860"/>
                </a:lnTo>
                <a:lnTo>
                  <a:pt x="65824" y="157480"/>
                </a:lnTo>
                <a:lnTo>
                  <a:pt x="61074" y="165100"/>
                </a:lnTo>
                <a:lnTo>
                  <a:pt x="56642" y="173990"/>
                </a:lnTo>
                <a:lnTo>
                  <a:pt x="12573" y="181610"/>
                </a:lnTo>
                <a:lnTo>
                  <a:pt x="11557" y="186690"/>
                </a:lnTo>
                <a:lnTo>
                  <a:pt x="8597" y="196850"/>
                </a:lnTo>
                <a:lnTo>
                  <a:pt x="6261" y="207010"/>
                </a:lnTo>
                <a:lnTo>
                  <a:pt x="0" y="255270"/>
                </a:lnTo>
                <a:lnTo>
                  <a:pt x="36449" y="276860"/>
                </a:lnTo>
                <a:lnTo>
                  <a:pt x="37426" y="287020"/>
                </a:lnTo>
                <a:lnTo>
                  <a:pt x="38925" y="297180"/>
                </a:lnTo>
                <a:lnTo>
                  <a:pt x="40982" y="306070"/>
                </a:lnTo>
                <a:lnTo>
                  <a:pt x="43688" y="316230"/>
                </a:lnTo>
                <a:lnTo>
                  <a:pt x="16637" y="349250"/>
                </a:lnTo>
                <a:lnTo>
                  <a:pt x="33147" y="382270"/>
                </a:lnTo>
                <a:lnTo>
                  <a:pt x="34798" y="386080"/>
                </a:lnTo>
                <a:lnTo>
                  <a:pt x="38735" y="392430"/>
                </a:lnTo>
                <a:lnTo>
                  <a:pt x="44284" y="401320"/>
                </a:lnTo>
                <a:lnTo>
                  <a:pt x="50800" y="410210"/>
                </a:lnTo>
                <a:lnTo>
                  <a:pt x="53721" y="414020"/>
                </a:lnTo>
                <a:lnTo>
                  <a:pt x="99187" y="406400"/>
                </a:lnTo>
                <a:lnTo>
                  <a:pt x="105740" y="412750"/>
                </a:lnTo>
                <a:lnTo>
                  <a:pt x="112471" y="417830"/>
                </a:lnTo>
                <a:lnTo>
                  <a:pt x="119418" y="422910"/>
                </a:lnTo>
                <a:lnTo>
                  <a:pt x="126619" y="427990"/>
                </a:lnTo>
                <a:lnTo>
                  <a:pt x="127254" y="476250"/>
                </a:lnTo>
                <a:lnTo>
                  <a:pt x="131572" y="477520"/>
                </a:lnTo>
                <a:lnTo>
                  <a:pt x="141605" y="482600"/>
                </a:lnTo>
                <a:lnTo>
                  <a:pt x="150977" y="486410"/>
                </a:lnTo>
                <a:lnTo>
                  <a:pt x="161163" y="490220"/>
                </a:lnTo>
                <a:lnTo>
                  <a:pt x="164299" y="491490"/>
                </a:lnTo>
                <a:lnTo>
                  <a:pt x="171551" y="494030"/>
                </a:lnTo>
                <a:lnTo>
                  <a:pt x="181356" y="496570"/>
                </a:lnTo>
                <a:lnTo>
                  <a:pt x="192151" y="500380"/>
                </a:lnTo>
                <a:lnTo>
                  <a:pt x="196850" y="500380"/>
                </a:lnTo>
                <a:lnTo>
                  <a:pt x="211099" y="483870"/>
                </a:lnTo>
                <a:lnTo>
                  <a:pt x="229743" y="462280"/>
                </a:lnTo>
                <a:lnTo>
                  <a:pt x="237324" y="463550"/>
                </a:lnTo>
                <a:lnTo>
                  <a:pt x="252844" y="463550"/>
                </a:lnTo>
                <a:lnTo>
                  <a:pt x="260731" y="462280"/>
                </a:lnTo>
                <a:lnTo>
                  <a:pt x="293116" y="500380"/>
                </a:lnTo>
                <a:lnTo>
                  <a:pt x="297815" y="500380"/>
                </a:lnTo>
                <a:lnTo>
                  <a:pt x="308444" y="496570"/>
                </a:lnTo>
                <a:lnTo>
                  <a:pt x="318173" y="494030"/>
                </a:lnTo>
                <a:lnTo>
                  <a:pt x="325399" y="491490"/>
                </a:lnTo>
                <a:lnTo>
                  <a:pt x="328549" y="490220"/>
                </a:lnTo>
                <a:lnTo>
                  <a:pt x="331597" y="488950"/>
                </a:lnTo>
                <a:lnTo>
                  <a:pt x="338709" y="486410"/>
                </a:lnTo>
                <a:lnTo>
                  <a:pt x="345020" y="483870"/>
                </a:lnTo>
                <a:lnTo>
                  <a:pt x="348183" y="482600"/>
                </a:lnTo>
                <a:lnTo>
                  <a:pt x="358394" y="477520"/>
                </a:lnTo>
                <a:lnTo>
                  <a:pt x="362712" y="476250"/>
                </a:lnTo>
                <a:lnTo>
                  <a:pt x="363093" y="429260"/>
                </a:lnTo>
                <a:lnTo>
                  <a:pt x="370547" y="422910"/>
                </a:lnTo>
                <a:lnTo>
                  <a:pt x="377710" y="417830"/>
                </a:lnTo>
                <a:lnTo>
                  <a:pt x="384606" y="412750"/>
                </a:lnTo>
                <a:lnTo>
                  <a:pt x="391287" y="406400"/>
                </a:lnTo>
                <a:lnTo>
                  <a:pt x="436245" y="414020"/>
                </a:lnTo>
                <a:lnTo>
                  <a:pt x="451078" y="392430"/>
                </a:lnTo>
                <a:lnTo>
                  <a:pt x="455104" y="386080"/>
                </a:lnTo>
                <a:lnTo>
                  <a:pt x="458419" y="379730"/>
                </a:lnTo>
                <a:lnTo>
                  <a:pt x="462000" y="373380"/>
                </a:lnTo>
                <a:lnTo>
                  <a:pt x="466623" y="364490"/>
                </a:lnTo>
                <a:lnTo>
                  <a:pt x="471297" y="354330"/>
                </a:lnTo>
                <a:lnTo>
                  <a:pt x="473456" y="349250"/>
                </a:lnTo>
                <a:lnTo>
                  <a:pt x="446405" y="317500"/>
                </a:lnTo>
                <a:lnTo>
                  <a:pt x="449084" y="307340"/>
                </a:lnTo>
                <a:lnTo>
                  <a:pt x="451256" y="297180"/>
                </a:lnTo>
                <a:lnTo>
                  <a:pt x="452894" y="287020"/>
                </a:lnTo>
                <a:lnTo>
                  <a:pt x="454025" y="276860"/>
                </a:lnTo>
                <a:lnTo>
                  <a:pt x="490093" y="255270"/>
                </a:lnTo>
                <a:lnTo>
                  <a:pt x="490093" y="250190"/>
                </a:lnTo>
                <a:close/>
              </a:path>
              <a:path w="3066415" h="2236470">
                <a:moveTo>
                  <a:pt x="758850" y="148590"/>
                </a:moveTo>
                <a:lnTo>
                  <a:pt x="758799" y="142240"/>
                </a:lnTo>
                <a:lnTo>
                  <a:pt x="758190" y="129540"/>
                </a:lnTo>
                <a:lnTo>
                  <a:pt x="737235" y="116840"/>
                </a:lnTo>
                <a:lnTo>
                  <a:pt x="735457" y="109220"/>
                </a:lnTo>
                <a:lnTo>
                  <a:pt x="732536" y="101600"/>
                </a:lnTo>
                <a:lnTo>
                  <a:pt x="729234" y="93980"/>
                </a:lnTo>
                <a:lnTo>
                  <a:pt x="726579" y="87630"/>
                </a:lnTo>
                <a:lnTo>
                  <a:pt x="723519" y="81280"/>
                </a:lnTo>
                <a:lnTo>
                  <a:pt x="722668" y="80010"/>
                </a:lnTo>
                <a:lnTo>
                  <a:pt x="720153" y="76200"/>
                </a:lnTo>
                <a:lnTo>
                  <a:pt x="716661" y="69850"/>
                </a:lnTo>
                <a:lnTo>
                  <a:pt x="721360" y="45720"/>
                </a:lnTo>
                <a:lnTo>
                  <a:pt x="710349" y="35560"/>
                </a:lnTo>
                <a:lnTo>
                  <a:pt x="698131" y="25400"/>
                </a:lnTo>
                <a:lnTo>
                  <a:pt x="692492" y="21590"/>
                </a:lnTo>
                <a:lnTo>
                  <a:pt x="684974" y="16510"/>
                </a:lnTo>
                <a:lnTo>
                  <a:pt x="676046" y="12407"/>
                </a:lnTo>
                <a:lnTo>
                  <a:pt x="676046" y="144780"/>
                </a:lnTo>
                <a:lnTo>
                  <a:pt x="671677" y="168910"/>
                </a:lnTo>
                <a:lnTo>
                  <a:pt x="658533" y="190500"/>
                </a:lnTo>
                <a:lnTo>
                  <a:pt x="637667" y="204470"/>
                </a:lnTo>
                <a:lnTo>
                  <a:pt x="612584" y="209550"/>
                </a:lnTo>
                <a:lnTo>
                  <a:pt x="588302" y="205740"/>
                </a:lnTo>
                <a:lnTo>
                  <a:pt x="567524" y="191770"/>
                </a:lnTo>
                <a:lnTo>
                  <a:pt x="552958" y="170180"/>
                </a:lnTo>
                <a:lnTo>
                  <a:pt x="547687" y="144780"/>
                </a:lnTo>
                <a:lnTo>
                  <a:pt x="552157" y="120650"/>
                </a:lnTo>
                <a:lnTo>
                  <a:pt x="565340" y="100330"/>
                </a:lnTo>
                <a:lnTo>
                  <a:pt x="586232" y="85090"/>
                </a:lnTo>
                <a:lnTo>
                  <a:pt x="592391" y="82550"/>
                </a:lnTo>
                <a:lnTo>
                  <a:pt x="604939" y="80010"/>
                </a:lnTo>
                <a:lnTo>
                  <a:pt x="611251" y="80010"/>
                </a:lnTo>
                <a:lnTo>
                  <a:pt x="660603" y="102870"/>
                </a:lnTo>
                <a:lnTo>
                  <a:pt x="676046" y="144780"/>
                </a:lnTo>
                <a:lnTo>
                  <a:pt x="676046" y="12407"/>
                </a:lnTo>
                <a:lnTo>
                  <a:pt x="671195" y="10160"/>
                </a:lnTo>
                <a:lnTo>
                  <a:pt x="649478" y="21590"/>
                </a:lnTo>
                <a:lnTo>
                  <a:pt x="626135" y="16510"/>
                </a:lnTo>
                <a:lnTo>
                  <a:pt x="602234" y="16510"/>
                </a:lnTo>
                <a:lnTo>
                  <a:pt x="583819" y="0"/>
                </a:lnTo>
                <a:lnTo>
                  <a:pt x="576211" y="1270"/>
                </a:lnTo>
                <a:lnTo>
                  <a:pt x="539026" y="16510"/>
                </a:lnTo>
                <a:lnTo>
                  <a:pt x="526034" y="24130"/>
                </a:lnTo>
                <a:lnTo>
                  <a:pt x="526034" y="49530"/>
                </a:lnTo>
                <a:lnTo>
                  <a:pt x="517232" y="58420"/>
                </a:lnTo>
                <a:lnTo>
                  <a:pt x="509371" y="67310"/>
                </a:lnTo>
                <a:lnTo>
                  <a:pt x="502539" y="77470"/>
                </a:lnTo>
                <a:lnTo>
                  <a:pt x="496824" y="87630"/>
                </a:lnTo>
                <a:lnTo>
                  <a:pt x="473329" y="95250"/>
                </a:lnTo>
                <a:lnTo>
                  <a:pt x="468757" y="110490"/>
                </a:lnTo>
                <a:lnTo>
                  <a:pt x="465899" y="125730"/>
                </a:lnTo>
                <a:lnTo>
                  <a:pt x="464642" y="142240"/>
                </a:lnTo>
                <a:lnTo>
                  <a:pt x="464947" y="158750"/>
                </a:lnTo>
                <a:lnTo>
                  <a:pt x="485902" y="170180"/>
                </a:lnTo>
                <a:lnTo>
                  <a:pt x="487438" y="176530"/>
                </a:lnTo>
                <a:lnTo>
                  <a:pt x="506222" y="218440"/>
                </a:lnTo>
                <a:lnTo>
                  <a:pt x="500380" y="241300"/>
                </a:lnTo>
                <a:lnTo>
                  <a:pt x="511187" y="252730"/>
                </a:lnTo>
                <a:lnTo>
                  <a:pt x="522998" y="262890"/>
                </a:lnTo>
                <a:lnTo>
                  <a:pt x="535686" y="271780"/>
                </a:lnTo>
                <a:lnTo>
                  <a:pt x="549148" y="279400"/>
                </a:lnTo>
                <a:lnTo>
                  <a:pt x="570103" y="266700"/>
                </a:lnTo>
                <a:lnTo>
                  <a:pt x="582930" y="270510"/>
                </a:lnTo>
                <a:lnTo>
                  <a:pt x="596074" y="273050"/>
                </a:lnTo>
                <a:lnTo>
                  <a:pt x="609498" y="274320"/>
                </a:lnTo>
                <a:lnTo>
                  <a:pt x="623189" y="274320"/>
                </a:lnTo>
                <a:lnTo>
                  <a:pt x="641477" y="290830"/>
                </a:lnTo>
                <a:lnTo>
                  <a:pt x="648474" y="288290"/>
                </a:lnTo>
                <a:lnTo>
                  <a:pt x="655662" y="287020"/>
                </a:lnTo>
                <a:lnTo>
                  <a:pt x="670052" y="281940"/>
                </a:lnTo>
                <a:lnTo>
                  <a:pt x="676960" y="278130"/>
                </a:lnTo>
                <a:lnTo>
                  <a:pt x="683666" y="274320"/>
                </a:lnTo>
                <a:lnTo>
                  <a:pt x="696722" y="266700"/>
                </a:lnTo>
                <a:lnTo>
                  <a:pt x="696722" y="241300"/>
                </a:lnTo>
                <a:lnTo>
                  <a:pt x="706297" y="232410"/>
                </a:lnTo>
                <a:lnTo>
                  <a:pt x="714844" y="220980"/>
                </a:lnTo>
                <a:lnTo>
                  <a:pt x="722287" y="210820"/>
                </a:lnTo>
                <a:lnTo>
                  <a:pt x="722922" y="209550"/>
                </a:lnTo>
                <a:lnTo>
                  <a:pt x="728599" y="198120"/>
                </a:lnTo>
                <a:lnTo>
                  <a:pt x="751332" y="190500"/>
                </a:lnTo>
                <a:lnTo>
                  <a:pt x="755599" y="176530"/>
                </a:lnTo>
                <a:lnTo>
                  <a:pt x="758139" y="161290"/>
                </a:lnTo>
                <a:lnTo>
                  <a:pt x="758850" y="148590"/>
                </a:lnTo>
                <a:close/>
              </a:path>
              <a:path w="3066415" h="2236470">
                <a:moveTo>
                  <a:pt x="3066288" y="840232"/>
                </a:moveTo>
                <a:lnTo>
                  <a:pt x="1040892" y="840232"/>
                </a:lnTo>
                <a:lnTo>
                  <a:pt x="1040892" y="2236216"/>
                </a:lnTo>
                <a:lnTo>
                  <a:pt x="3066288" y="2236216"/>
                </a:lnTo>
                <a:lnTo>
                  <a:pt x="3066288" y="840232"/>
                </a:lnTo>
                <a:close/>
              </a:path>
            </a:pathLst>
          </a:custGeom>
          <a:solidFill>
            <a:srgbClr val="FFFFFF"/>
          </a:solidFill>
        </p:spPr>
        <p:txBody>
          <a:bodyPr wrap="square" lIns="0" tIns="0" rIns="0" bIns="0" rtlCol="0"/>
          <a:lstStyle/>
          <a:p>
            <a:endParaRPr/>
          </a:p>
        </p:txBody>
      </p:sp>
      <p:sp>
        <p:nvSpPr>
          <p:cNvPr id="19" name="object 19"/>
          <p:cNvSpPr txBox="1"/>
          <p:nvPr/>
        </p:nvSpPr>
        <p:spPr>
          <a:xfrm>
            <a:off x="5943346" y="3531234"/>
            <a:ext cx="1713864" cy="529590"/>
          </a:xfrm>
          <a:prstGeom prst="rect">
            <a:avLst/>
          </a:prstGeom>
        </p:spPr>
        <p:txBody>
          <a:bodyPr vert="horz" wrap="square" lIns="0" tIns="13335" rIns="0" bIns="0" rtlCol="0">
            <a:spAutoFit/>
          </a:bodyPr>
          <a:lstStyle/>
          <a:p>
            <a:pPr marL="12700" marR="5080" indent="30480" algn="just">
              <a:lnSpc>
                <a:spcPct val="100000"/>
              </a:lnSpc>
              <a:spcBef>
                <a:spcPts val="105"/>
              </a:spcBef>
            </a:pPr>
            <a:r>
              <a:rPr sz="1100" b="1">
                <a:solidFill>
                  <a:srgbClr val="565656"/>
                </a:solidFill>
                <a:latin typeface="Trebuchet MS"/>
                <a:cs typeface="Trebuchet MS"/>
              </a:rPr>
              <a:t>Hypothesis</a:t>
            </a:r>
            <a:r>
              <a:rPr sz="1100" b="1" spc="-45">
                <a:solidFill>
                  <a:srgbClr val="565656"/>
                </a:solidFill>
                <a:latin typeface="Trebuchet MS"/>
                <a:cs typeface="Trebuchet MS"/>
              </a:rPr>
              <a:t> </a:t>
            </a:r>
            <a:r>
              <a:rPr sz="1100">
                <a:solidFill>
                  <a:srgbClr val="565656"/>
                </a:solidFill>
                <a:latin typeface="Trebuchet MS"/>
                <a:cs typeface="Trebuchet MS"/>
              </a:rPr>
              <a:t>to</a:t>
            </a:r>
            <a:r>
              <a:rPr sz="1100" spc="-30">
                <a:solidFill>
                  <a:srgbClr val="565656"/>
                </a:solidFill>
                <a:latin typeface="Trebuchet MS"/>
                <a:cs typeface="Trebuchet MS"/>
              </a:rPr>
              <a:t> </a:t>
            </a:r>
            <a:r>
              <a:rPr sz="1100" spc="-10">
                <a:solidFill>
                  <a:srgbClr val="565656"/>
                </a:solidFill>
                <a:latin typeface="Trebuchet MS"/>
                <a:cs typeface="Trebuchet MS"/>
              </a:rPr>
              <a:t>understand </a:t>
            </a:r>
            <a:r>
              <a:rPr sz="1100">
                <a:solidFill>
                  <a:srgbClr val="565656"/>
                </a:solidFill>
                <a:latin typeface="Trebuchet MS"/>
                <a:cs typeface="Trebuchet MS"/>
              </a:rPr>
              <a:t>behavior</a:t>
            </a:r>
            <a:r>
              <a:rPr sz="1100" spc="-35">
                <a:solidFill>
                  <a:srgbClr val="565656"/>
                </a:solidFill>
                <a:latin typeface="Trebuchet MS"/>
                <a:cs typeface="Trebuchet MS"/>
              </a:rPr>
              <a:t> </a:t>
            </a:r>
            <a:r>
              <a:rPr sz="1100">
                <a:solidFill>
                  <a:srgbClr val="565656"/>
                </a:solidFill>
                <a:latin typeface="Trebuchet MS"/>
                <a:cs typeface="Trebuchet MS"/>
              </a:rPr>
              <a:t>of</a:t>
            </a:r>
            <a:r>
              <a:rPr sz="1100" spc="-15">
                <a:solidFill>
                  <a:srgbClr val="565656"/>
                </a:solidFill>
                <a:latin typeface="Trebuchet MS"/>
                <a:cs typeface="Trebuchet MS"/>
              </a:rPr>
              <a:t> </a:t>
            </a:r>
            <a:r>
              <a:rPr sz="1100">
                <a:solidFill>
                  <a:srgbClr val="565656"/>
                </a:solidFill>
                <a:latin typeface="Trebuchet MS"/>
                <a:cs typeface="Trebuchet MS"/>
              </a:rPr>
              <a:t>customers</a:t>
            </a:r>
            <a:r>
              <a:rPr sz="1100" spc="-20">
                <a:solidFill>
                  <a:srgbClr val="565656"/>
                </a:solidFill>
                <a:latin typeface="Trebuchet MS"/>
                <a:cs typeface="Trebuchet MS"/>
              </a:rPr>
              <a:t> </a:t>
            </a:r>
            <a:r>
              <a:rPr sz="1100" spc="-25">
                <a:solidFill>
                  <a:srgbClr val="565656"/>
                </a:solidFill>
                <a:latin typeface="Trebuchet MS"/>
                <a:cs typeface="Trebuchet MS"/>
              </a:rPr>
              <a:t>who </a:t>
            </a:r>
            <a:r>
              <a:rPr sz="1100">
                <a:solidFill>
                  <a:srgbClr val="565656"/>
                </a:solidFill>
                <a:latin typeface="Trebuchet MS"/>
                <a:cs typeface="Trebuchet MS"/>
              </a:rPr>
              <a:t>purchase</a:t>
            </a:r>
            <a:r>
              <a:rPr sz="1100" spc="-45">
                <a:solidFill>
                  <a:srgbClr val="565656"/>
                </a:solidFill>
                <a:latin typeface="Trebuchet MS"/>
                <a:cs typeface="Trebuchet MS"/>
              </a:rPr>
              <a:t> </a:t>
            </a:r>
            <a:r>
              <a:rPr sz="1100">
                <a:solidFill>
                  <a:srgbClr val="565656"/>
                </a:solidFill>
                <a:latin typeface="Trebuchet MS"/>
                <a:cs typeface="Trebuchet MS"/>
              </a:rPr>
              <a:t>wealth</a:t>
            </a:r>
            <a:r>
              <a:rPr sz="1100" spc="-40">
                <a:solidFill>
                  <a:srgbClr val="565656"/>
                </a:solidFill>
                <a:latin typeface="Trebuchet MS"/>
                <a:cs typeface="Trebuchet MS"/>
              </a:rPr>
              <a:t> </a:t>
            </a:r>
            <a:r>
              <a:rPr sz="1100" spc="-10">
                <a:solidFill>
                  <a:srgbClr val="565656"/>
                </a:solidFill>
                <a:latin typeface="Trebuchet MS"/>
                <a:cs typeface="Trebuchet MS"/>
              </a:rPr>
              <a:t>products</a:t>
            </a:r>
            <a:endParaRPr sz="1100">
              <a:latin typeface="Trebuchet MS"/>
              <a:cs typeface="Trebuchet MS"/>
            </a:endParaRPr>
          </a:p>
        </p:txBody>
      </p:sp>
      <p:sp>
        <p:nvSpPr>
          <p:cNvPr id="20" name="object 20"/>
          <p:cNvSpPr txBox="1"/>
          <p:nvPr/>
        </p:nvSpPr>
        <p:spPr>
          <a:xfrm>
            <a:off x="5880861" y="4188333"/>
            <a:ext cx="1837689" cy="635000"/>
          </a:xfrm>
          <a:prstGeom prst="rect">
            <a:avLst/>
          </a:prstGeom>
        </p:spPr>
        <p:txBody>
          <a:bodyPr vert="horz" wrap="square" lIns="0" tIns="12065" rIns="0" bIns="0" rtlCol="0">
            <a:spAutoFit/>
          </a:bodyPr>
          <a:lstStyle/>
          <a:p>
            <a:pPr marL="194945" marR="5080" indent="-182880">
              <a:lnSpc>
                <a:spcPct val="100000"/>
              </a:lnSpc>
              <a:spcBef>
                <a:spcPts val="95"/>
              </a:spcBef>
            </a:pPr>
            <a:r>
              <a:rPr sz="1000" i="1">
                <a:solidFill>
                  <a:srgbClr val="565656"/>
                </a:solidFill>
                <a:latin typeface="Trebuchet MS"/>
                <a:cs typeface="Trebuchet MS"/>
              </a:rPr>
              <a:t>e.g.</a:t>
            </a:r>
            <a:r>
              <a:rPr sz="1000" i="1" spc="-50">
                <a:solidFill>
                  <a:srgbClr val="565656"/>
                </a:solidFill>
                <a:latin typeface="Trebuchet MS"/>
                <a:cs typeface="Trebuchet MS"/>
              </a:rPr>
              <a:t> </a:t>
            </a:r>
            <a:r>
              <a:rPr sz="1000" i="1">
                <a:solidFill>
                  <a:srgbClr val="565656"/>
                </a:solidFill>
                <a:latin typeface="Trebuchet MS"/>
                <a:cs typeface="Trebuchet MS"/>
              </a:rPr>
              <a:t>customers</a:t>
            </a:r>
            <a:r>
              <a:rPr sz="1000" i="1" spc="-50">
                <a:solidFill>
                  <a:srgbClr val="565656"/>
                </a:solidFill>
                <a:latin typeface="Trebuchet MS"/>
                <a:cs typeface="Trebuchet MS"/>
              </a:rPr>
              <a:t> </a:t>
            </a:r>
            <a:r>
              <a:rPr sz="1000" i="1">
                <a:solidFill>
                  <a:srgbClr val="565656"/>
                </a:solidFill>
                <a:latin typeface="Trebuchet MS"/>
                <a:cs typeface="Trebuchet MS"/>
              </a:rPr>
              <a:t>who</a:t>
            </a:r>
            <a:r>
              <a:rPr sz="1000" i="1" spc="-30">
                <a:solidFill>
                  <a:srgbClr val="565656"/>
                </a:solidFill>
                <a:latin typeface="Trebuchet MS"/>
                <a:cs typeface="Trebuchet MS"/>
              </a:rPr>
              <a:t> </a:t>
            </a:r>
            <a:r>
              <a:rPr sz="1000" i="1">
                <a:solidFill>
                  <a:srgbClr val="565656"/>
                </a:solidFill>
                <a:latin typeface="Trebuchet MS"/>
                <a:cs typeface="Trebuchet MS"/>
              </a:rPr>
              <a:t>shop</a:t>
            </a:r>
            <a:r>
              <a:rPr sz="1000" i="1" spc="-35">
                <a:solidFill>
                  <a:srgbClr val="565656"/>
                </a:solidFill>
                <a:latin typeface="Trebuchet MS"/>
                <a:cs typeface="Trebuchet MS"/>
              </a:rPr>
              <a:t> </a:t>
            </a:r>
            <a:r>
              <a:rPr sz="1000" i="1" spc="-10">
                <a:solidFill>
                  <a:srgbClr val="565656"/>
                </a:solidFill>
                <a:latin typeface="Trebuchet MS"/>
                <a:cs typeface="Trebuchet MS"/>
              </a:rPr>
              <a:t>luxury </a:t>
            </a:r>
            <a:r>
              <a:rPr sz="1000" i="1">
                <a:solidFill>
                  <a:srgbClr val="565656"/>
                </a:solidFill>
                <a:latin typeface="Trebuchet MS"/>
                <a:cs typeface="Trebuchet MS"/>
              </a:rPr>
              <a:t>retail</a:t>
            </a:r>
            <a:r>
              <a:rPr sz="1000" i="1" spc="-40">
                <a:solidFill>
                  <a:srgbClr val="565656"/>
                </a:solidFill>
                <a:latin typeface="Trebuchet MS"/>
                <a:cs typeface="Trebuchet MS"/>
              </a:rPr>
              <a:t> </a:t>
            </a:r>
            <a:r>
              <a:rPr sz="1000" i="1">
                <a:solidFill>
                  <a:srgbClr val="565656"/>
                </a:solidFill>
                <a:latin typeface="Trebuchet MS"/>
                <a:cs typeface="Trebuchet MS"/>
              </a:rPr>
              <a:t>products</a:t>
            </a:r>
            <a:r>
              <a:rPr sz="1000" i="1" spc="-5">
                <a:solidFill>
                  <a:srgbClr val="565656"/>
                </a:solidFill>
                <a:latin typeface="Trebuchet MS"/>
                <a:cs typeface="Trebuchet MS"/>
              </a:rPr>
              <a:t> </a:t>
            </a:r>
            <a:r>
              <a:rPr sz="1000" i="1">
                <a:solidFill>
                  <a:srgbClr val="565656"/>
                </a:solidFill>
                <a:latin typeface="Trebuchet MS"/>
                <a:cs typeface="Trebuchet MS"/>
              </a:rPr>
              <a:t>have</a:t>
            </a:r>
            <a:r>
              <a:rPr sz="1000" i="1" spc="-35">
                <a:solidFill>
                  <a:srgbClr val="565656"/>
                </a:solidFill>
                <a:latin typeface="Trebuchet MS"/>
                <a:cs typeface="Trebuchet MS"/>
              </a:rPr>
              <a:t> </a:t>
            </a:r>
            <a:r>
              <a:rPr sz="1000" i="1" spc="-20">
                <a:solidFill>
                  <a:srgbClr val="565656"/>
                </a:solidFill>
                <a:latin typeface="Trebuchet MS"/>
                <a:cs typeface="Trebuchet MS"/>
              </a:rPr>
              <a:t>high </a:t>
            </a:r>
            <a:r>
              <a:rPr sz="1000" i="1">
                <a:solidFill>
                  <a:srgbClr val="565656"/>
                </a:solidFill>
                <a:latin typeface="Trebuchet MS"/>
                <a:cs typeface="Trebuchet MS"/>
              </a:rPr>
              <a:t>propensity</a:t>
            </a:r>
            <a:r>
              <a:rPr sz="1000" i="1" spc="-20">
                <a:solidFill>
                  <a:srgbClr val="565656"/>
                </a:solidFill>
                <a:latin typeface="Trebuchet MS"/>
                <a:cs typeface="Trebuchet MS"/>
              </a:rPr>
              <a:t> </a:t>
            </a:r>
            <a:r>
              <a:rPr sz="1000" i="1">
                <a:solidFill>
                  <a:srgbClr val="565656"/>
                </a:solidFill>
                <a:latin typeface="Trebuchet MS"/>
                <a:cs typeface="Trebuchet MS"/>
              </a:rPr>
              <a:t>to</a:t>
            </a:r>
            <a:r>
              <a:rPr sz="1000" i="1" spc="-35">
                <a:solidFill>
                  <a:srgbClr val="565656"/>
                </a:solidFill>
                <a:latin typeface="Trebuchet MS"/>
                <a:cs typeface="Trebuchet MS"/>
              </a:rPr>
              <a:t> </a:t>
            </a:r>
            <a:r>
              <a:rPr sz="1000" i="1">
                <a:solidFill>
                  <a:srgbClr val="565656"/>
                </a:solidFill>
                <a:latin typeface="Trebuchet MS"/>
                <a:cs typeface="Trebuchet MS"/>
              </a:rPr>
              <a:t>buy</a:t>
            </a:r>
            <a:r>
              <a:rPr sz="1000" i="1" spc="-20">
                <a:solidFill>
                  <a:srgbClr val="565656"/>
                </a:solidFill>
                <a:latin typeface="Trebuchet MS"/>
                <a:cs typeface="Trebuchet MS"/>
              </a:rPr>
              <a:t> </a:t>
            </a:r>
            <a:r>
              <a:rPr sz="1000" i="1" spc="-10">
                <a:solidFill>
                  <a:srgbClr val="565656"/>
                </a:solidFill>
                <a:latin typeface="Trebuchet MS"/>
                <a:cs typeface="Trebuchet MS"/>
              </a:rPr>
              <a:t>wealth</a:t>
            </a:r>
            <a:endParaRPr sz="1000">
              <a:latin typeface="Trebuchet MS"/>
              <a:cs typeface="Trebuchet MS"/>
            </a:endParaRPr>
          </a:p>
          <a:p>
            <a:pPr marL="670560">
              <a:lnSpc>
                <a:spcPct val="100000"/>
              </a:lnSpc>
            </a:pPr>
            <a:r>
              <a:rPr sz="1000" i="1" spc="-10">
                <a:solidFill>
                  <a:srgbClr val="565656"/>
                </a:solidFill>
                <a:latin typeface="Trebuchet MS"/>
                <a:cs typeface="Trebuchet MS"/>
              </a:rPr>
              <a:t>products</a:t>
            </a:r>
            <a:endParaRPr sz="1000">
              <a:latin typeface="Trebuchet MS"/>
              <a:cs typeface="Trebuchet MS"/>
            </a:endParaRPr>
          </a:p>
        </p:txBody>
      </p:sp>
      <p:sp>
        <p:nvSpPr>
          <p:cNvPr id="21" name="object 21"/>
          <p:cNvSpPr txBox="1"/>
          <p:nvPr/>
        </p:nvSpPr>
        <p:spPr>
          <a:xfrm>
            <a:off x="4839461" y="5176265"/>
            <a:ext cx="699770" cy="384175"/>
          </a:xfrm>
          <a:prstGeom prst="rect">
            <a:avLst/>
          </a:prstGeom>
          <a:solidFill>
            <a:srgbClr val="D6EFEA">
              <a:alpha val="59999"/>
            </a:srgbClr>
          </a:solidFill>
          <a:ln w="7620">
            <a:solidFill>
              <a:srgbClr val="29B974"/>
            </a:solidFill>
          </a:ln>
        </p:spPr>
        <p:txBody>
          <a:bodyPr vert="horz" wrap="square" lIns="0" tIns="5080" rIns="0" bIns="0" rtlCol="0">
            <a:spAutoFit/>
          </a:bodyPr>
          <a:lstStyle/>
          <a:p>
            <a:pPr marL="130175" marR="123189" indent="73025">
              <a:lnSpc>
                <a:spcPct val="100000"/>
              </a:lnSpc>
              <a:spcBef>
                <a:spcPts val="40"/>
              </a:spcBef>
            </a:pPr>
            <a:r>
              <a:rPr sz="1200" b="1" spc="-20">
                <a:solidFill>
                  <a:srgbClr val="29B974"/>
                </a:solidFill>
                <a:latin typeface="Trebuchet MS"/>
                <a:cs typeface="Trebuchet MS"/>
              </a:rPr>
              <a:t>Test </a:t>
            </a:r>
            <a:r>
              <a:rPr sz="1200" b="1" spc="-10">
                <a:solidFill>
                  <a:srgbClr val="29B974"/>
                </a:solidFill>
                <a:latin typeface="Trebuchet MS"/>
                <a:cs typeface="Trebuchet MS"/>
              </a:rPr>
              <a:t>model</a:t>
            </a:r>
            <a:endParaRPr sz="1200">
              <a:latin typeface="Trebuchet MS"/>
              <a:cs typeface="Trebuchet MS"/>
            </a:endParaRPr>
          </a:p>
        </p:txBody>
      </p:sp>
      <p:sp>
        <p:nvSpPr>
          <p:cNvPr id="22" name="object 22"/>
          <p:cNvSpPr txBox="1"/>
          <p:nvPr/>
        </p:nvSpPr>
        <p:spPr>
          <a:xfrm>
            <a:off x="5786628" y="5175503"/>
            <a:ext cx="2025650" cy="1038225"/>
          </a:xfrm>
          <a:prstGeom prst="rect">
            <a:avLst/>
          </a:prstGeom>
          <a:solidFill>
            <a:srgbClr val="FFFFFF"/>
          </a:solidFill>
          <a:ln w="9525">
            <a:solidFill>
              <a:srgbClr val="6F6F6F"/>
            </a:solidFill>
          </a:ln>
        </p:spPr>
        <p:txBody>
          <a:bodyPr vert="horz" wrap="square" lIns="0" tIns="194310" rIns="0" bIns="0" rtlCol="0">
            <a:spAutoFit/>
          </a:bodyPr>
          <a:lstStyle/>
          <a:p>
            <a:pPr marL="571500">
              <a:lnSpc>
                <a:spcPct val="100000"/>
              </a:lnSpc>
              <a:spcBef>
                <a:spcPts val="1530"/>
              </a:spcBef>
            </a:pPr>
            <a:r>
              <a:rPr sz="1400" b="1" spc="-25">
                <a:solidFill>
                  <a:srgbClr val="565656"/>
                </a:solidFill>
                <a:latin typeface="Trebuchet MS"/>
                <a:cs typeface="Trebuchet MS"/>
              </a:rPr>
              <a:t>Test</a:t>
            </a:r>
            <a:r>
              <a:rPr sz="1400" b="1" spc="-80">
                <a:solidFill>
                  <a:srgbClr val="565656"/>
                </a:solidFill>
                <a:latin typeface="Trebuchet MS"/>
                <a:cs typeface="Trebuchet MS"/>
              </a:rPr>
              <a:t> </a:t>
            </a:r>
            <a:r>
              <a:rPr sz="1400" b="1" spc="-10">
                <a:solidFill>
                  <a:srgbClr val="565656"/>
                </a:solidFill>
                <a:latin typeface="Trebuchet MS"/>
                <a:cs typeface="Trebuchet MS"/>
              </a:rPr>
              <a:t>Model</a:t>
            </a:r>
            <a:endParaRPr sz="1400">
              <a:latin typeface="Trebuchet MS"/>
              <a:cs typeface="Trebuchet MS"/>
            </a:endParaRPr>
          </a:p>
          <a:p>
            <a:pPr marL="237490" marR="194310" indent="-35560">
              <a:lnSpc>
                <a:spcPts val="1300"/>
              </a:lnSpc>
              <a:spcBef>
                <a:spcPts val="625"/>
              </a:spcBef>
            </a:pPr>
            <a:r>
              <a:rPr sz="1200" b="1" spc="-10">
                <a:solidFill>
                  <a:srgbClr val="6D6E73"/>
                </a:solidFill>
                <a:latin typeface="Trebuchet MS"/>
                <a:cs typeface="Trebuchet MS"/>
              </a:rPr>
              <a:t>Back-</a:t>
            </a:r>
            <a:r>
              <a:rPr sz="1200" b="1">
                <a:solidFill>
                  <a:srgbClr val="6D6E73"/>
                </a:solidFill>
                <a:latin typeface="Trebuchet MS"/>
                <a:cs typeface="Trebuchet MS"/>
              </a:rPr>
              <a:t>testing:</a:t>
            </a:r>
            <a:r>
              <a:rPr sz="1200" b="1" spc="-15">
                <a:solidFill>
                  <a:srgbClr val="6D6E73"/>
                </a:solidFill>
                <a:latin typeface="Trebuchet MS"/>
                <a:cs typeface="Trebuchet MS"/>
              </a:rPr>
              <a:t> </a:t>
            </a:r>
            <a:r>
              <a:rPr sz="1200">
                <a:solidFill>
                  <a:srgbClr val="565656"/>
                </a:solidFill>
                <a:latin typeface="Trebuchet MS"/>
                <a:cs typeface="Trebuchet MS"/>
              </a:rPr>
              <a:t>Fine</a:t>
            </a:r>
            <a:r>
              <a:rPr sz="1200" spc="-35">
                <a:solidFill>
                  <a:srgbClr val="565656"/>
                </a:solidFill>
                <a:latin typeface="Trebuchet MS"/>
                <a:cs typeface="Trebuchet MS"/>
              </a:rPr>
              <a:t> </a:t>
            </a:r>
            <a:r>
              <a:rPr sz="1200" spc="-20">
                <a:solidFill>
                  <a:srgbClr val="565656"/>
                </a:solidFill>
                <a:latin typeface="Trebuchet MS"/>
                <a:cs typeface="Trebuchet MS"/>
              </a:rPr>
              <a:t>tune </a:t>
            </a:r>
            <a:r>
              <a:rPr sz="1200">
                <a:solidFill>
                  <a:srgbClr val="565656"/>
                </a:solidFill>
                <a:latin typeface="Trebuchet MS"/>
                <a:cs typeface="Trebuchet MS"/>
              </a:rPr>
              <a:t>model</a:t>
            </a:r>
            <a:r>
              <a:rPr sz="1200" spc="-30">
                <a:solidFill>
                  <a:srgbClr val="565656"/>
                </a:solidFill>
                <a:latin typeface="Trebuchet MS"/>
                <a:cs typeface="Trebuchet MS"/>
              </a:rPr>
              <a:t> </a:t>
            </a:r>
            <a:r>
              <a:rPr sz="1200">
                <a:solidFill>
                  <a:srgbClr val="565656"/>
                </a:solidFill>
                <a:latin typeface="Trebuchet MS"/>
                <a:cs typeface="Trebuchet MS"/>
              </a:rPr>
              <a:t>on</a:t>
            </a:r>
            <a:r>
              <a:rPr sz="1200" spc="-30">
                <a:solidFill>
                  <a:srgbClr val="565656"/>
                </a:solidFill>
                <a:latin typeface="Trebuchet MS"/>
                <a:cs typeface="Trebuchet MS"/>
              </a:rPr>
              <a:t> </a:t>
            </a:r>
            <a:r>
              <a:rPr sz="1200" spc="-40">
                <a:solidFill>
                  <a:srgbClr val="565656"/>
                </a:solidFill>
                <a:latin typeface="Trebuchet MS"/>
                <a:cs typeface="Trebuchet MS"/>
              </a:rPr>
              <a:t>Test</a:t>
            </a:r>
            <a:r>
              <a:rPr sz="1200" spc="-20">
                <a:solidFill>
                  <a:srgbClr val="565656"/>
                </a:solidFill>
                <a:latin typeface="Trebuchet MS"/>
                <a:cs typeface="Trebuchet MS"/>
              </a:rPr>
              <a:t> </a:t>
            </a:r>
            <a:r>
              <a:rPr sz="1200">
                <a:solidFill>
                  <a:srgbClr val="565656"/>
                </a:solidFill>
                <a:latin typeface="Trebuchet MS"/>
                <a:cs typeface="Trebuchet MS"/>
              </a:rPr>
              <a:t>data</a:t>
            </a:r>
            <a:r>
              <a:rPr sz="1200" spc="-35">
                <a:solidFill>
                  <a:srgbClr val="565656"/>
                </a:solidFill>
                <a:latin typeface="Trebuchet MS"/>
                <a:cs typeface="Trebuchet MS"/>
              </a:rPr>
              <a:t> </a:t>
            </a:r>
            <a:r>
              <a:rPr sz="1200" spc="-25">
                <a:solidFill>
                  <a:srgbClr val="565656"/>
                </a:solidFill>
                <a:latin typeface="Trebuchet MS"/>
                <a:cs typeface="Trebuchet MS"/>
              </a:rPr>
              <a:t>set</a:t>
            </a:r>
            <a:endParaRPr sz="1200">
              <a:latin typeface="Trebuchet MS"/>
              <a:cs typeface="Trebuchet MS"/>
            </a:endParaRPr>
          </a:p>
        </p:txBody>
      </p:sp>
      <p:grpSp>
        <p:nvGrpSpPr>
          <p:cNvPr id="23" name="object 23"/>
          <p:cNvGrpSpPr/>
          <p:nvPr/>
        </p:nvGrpSpPr>
        <p:grpSpPr>
          <a:xfrm>
            <a:off x="4742307" y="3343655"/>
            <a:ext cx="1181735" cy="2882265"/>
            <a:chOff x="4742307" y="3343655"/>
            <a:chExt cx="1181735" cy="2882265"/>
          </a:xfrm>
        </p:grpSpPr>
        <p:sp>
          <p:nvSpPr>
            <p:cNvPr id="24" name="object 24"/>
            <p:cNvSpPr/>
            <p:nvPr/>
          </p:nvSpPr>
          <p:spPr>
            <a:xfrm>
              <a:off x="4742307" y="5640323"/>
              <a:ext cx="817880" cy="585470"/>
            </a:xfrm>
            <a:custGeom>
              <a:avLst/>
              <a:gdLst/>
              <a:ahLst/>
              <a:cxnLst/>
              <a:rect l="l" t="t" r="r" b="b"/>
              <a:pathLst>
                <a:path w="817879" h="585470">
                  <a:moveTo>
                    <a:pt x="815046" y="491820"/>
                  </a:moveTo>
                  <a:lnTo>
                    <a:pt x="797178" y="491820"/>
                  </a:lnTo>
                  <a:lnTo>
                    <a:pt x="787145" y="524217"/>
                  </a:lnTo>
                  <a:lnTo>
                    <a:pt x="434975" y="524217"/>
                  </a:lnTo>
                  <a:lnTo>
                    <a:pt x="434975" y="541578"/>
                  </a:lnTo>
                  <a:lnTo>
                    <a:pt x="796797" y="541578"/>
                  </a:lnTo>
                  <a:lnTo>
                    <a:pt x="800226" y="539267"/>
                  </a:lnTo>
                  <a:lnTo>
                    <a:pt x="801369" y="535406"/>
                  </a:lnTo>
                  <a:lnTo>
                    <a:pt x="815046" y="491820"/>
                  </a:lnTo>
                  <a:close/>
                </a:path>
                <a:path w="817879" h="585470">
                  <a:moveTo>
                    <a:pt x="811402" y="474840"/>
                  </a:moveTo>
                  <a:lnTo>
                    <a:pt x="516000" y="474840"/>
                  </a:lnTo>
                  <a:lnTo>
                    <a:pt x="512063" y="478701"/>
                  </a:lnTo>
                  <a:lnTo>
                    <a:pt x="512063" y="489508"/>
                  </a:lnTo>
                  <a:lnTo>
                    <a:pt x="434975" y="489508"/>
                  </a:lnTo>
                  <a:lnTo>
                    <a:pt x="434975" y="506475"/>
                  </a:lnTo>
                  <a:lnTo>
                    <a:pt x="525144" y="506475"/>
                  </a:lnTo>
                  <a:lnTo>
                    <a:pt x="529081" y="502615"/>
                  </a:lnTo>
                  <a:lnTo>
                    <a:pt x="529081" y="491820"/>
                  </a:lnTo>
                  <a:lnTo>
                    <a:pt x="815046" y="491820"/>
                  </a:lnTo>
                  <a:lnTo>
                    <a:pt x="816863" y="486028"/>
                  </a:lnTo>
                  <a:lnTo>
                    <a:pt x="817626" y="483336"/>
                  </a:lnTo>
                  <a:lnTo>
                    <a:pt x="817244" y="480631"/>
                  </a:lnTo>
                  <a:lnTo>
                    <a:pt x="815720" y="478320"/>
                  </a:lnTo>
                  <a:lnTo>
                    <a:pt x="813815" y="476389"/>
                  </a:lnTo>
                  <a:lnTo>
                    <a:pt x="811402" y="474840"/>
                  </a:lnTo>
                  <a:close/>
                </a:path>
                <a:path w="817879" h="585470">
                  <a:moveTo>
                    <a:pt x="301497" y="474840"/>
                  </a:moveTo>
                  <a:lnTo>
                    <a:pt x="6222" y="474840"/>
                  </a:lnTo>
                  <a:lnTo>
                    <a:pt x="3809" y="476389"/>
                  </a:lnTo>
                  <a:lnTo>
                    <a:pt x="1904" y="478320"/>
                  </a:lnTo>
                  <a:lnTo>
                    <a:pt x="380" y="480631"/>
                  </a:lnTo>
                  <a:lnTo>
                    <a:pt x="0" y="483336"/>
                  </a:lnTo>
                  <a:lnTo>
                    <a:pt x="762" y="486028"/>
                  </a:lnTo>
                  <a:lnTo>
                    <a:pt x="15888" y="534635"/>
                  </a:lnTo>
                  <a:lnTo>
                    <a:pt x="17398" y="539267"/>
                  </a:lnTo>
                  <a:lnTo>
                    <a:pt x="20827" y="541578"/>
                  </a:lnTo>
                  <a:lnTo>
                    <a:pt x="383539" y="541578"/>
                  </a:lnTo>
                  <a:lnTo>
                    <a:pt x="383539" y="524217"/>
                  </a:lnTo>
                  <a:lnTo>
                    <a:pt x="30479" y="524217"/>
                  </a:lnTo>
                  <a:lnTo>
                    <a:pt x="20446" y="491820"/>
                  </a:lnTo>
                  <a:lnTo>
                    <a:pt x="383539" y="491820"/>
                  </a:lnTo>
                  <a:lnTo>
                    <a:pt x="383539" y="489508"/>
                  </a:lnTo>
                  <a:lnTo>
                    <a:pt x="305307" y="489508"/>
                  </a:lnTo>
                  <a:lnTo>
                    <a:pt x="305307" y="478701"/>
                  </a:lnTo>
                  <a:lnTo>
                    <a:pt x="301497" y="474840"/>
                  </a:lnTo>
                  <a:close/>
                </a:path>
                <a:path w="817879" h="585470">
                  <a:moveTo>
                    <a:pt x="383539" y="491820"/>
                  </a:moveTo>
                  <a:lnTo>
                    <a:pt x="288289" y="491820"/>
                  </a:lnTo>
                  <a:lnTo>
                    <a:pt x="288289" y="502615"/>
                  </a:lnTo>
                  <a:lnTo>
                    <a:pt x="292226" y="506475"/>
                  </a:lnTo>
                  <a:lnTo>
                    <a:pt x="383539" y="506475"/>
                  </a:lnTo>
                  <a:lnTo>
                    <a:pt x="383539" y="491820"/>
                  </a:lnTo>
                  <a:close/>
                </a:path>
                <a:path w="817879" h="585470">
                  <a:moveTo>
                    <a:pt x="759840" y="43637"/>
                  </a:moveTo>
                  <a:lnTo>
                    <a:pt x="436498" y="43637"/>
                  </a:lnTo>
                  <a:lnTo>
                    <a:pt x="436498" y="60553"/>
                  </a:lnTo>
                  <a:lnTo>
                    <a:pt x="746759" y="60553"/>
                  </a:lnTo>
                  <a:lnTo>
                    <a:pt x="745235" y="440816"/>
                  </a:lnTo>
                  <a:lnTo>
                    <a:pt x="434975" y="440816"/>
                  </a:lnTo>
                  <a:lnTo>
                    <a:pt x="434975" y="457733"/>
                  </a:lnTo>
                  <a:lnTo>
                    <a:pt x="758316" y="457733"/>
                  </a:lnTo>
                  <a:lnTo>
                    <a:pt x="762126" y="453885"/>
                  </a:lnTo>
                  <a:lnTo>
                    <a:pt x="762237" y="420522"/>
                  </a:lnTo>
                  <a:lnTo>
                    <a:pt x="763552" y="77685"/>
                  </a:lnTo>
                  <a:lnTo>
                    <a:pt x="763651" y="47485"/>
                  </a:lnTo>
                  <a:lnTo>
                    <a:pt x="759840" y="43637"/>
                  </a:lnTo>
                  <a:close/>
                </a:path>
                <a:path w="817879" h="585470">
                  <a:moveTo>
                    <a:pt x="727963" y="76149"/>
                  </a:moveTo>
                  <a:lnTo>
                    <a:pt x="436498" y="76149"/>
                  </a:lnTo>
                  <a:lnTo>
                    <a:pt x="434975" y="424370"/>
                  </a:lnTo>
                  <a:lnTo>
                    <a:pt x="726313" y="424370"/>
                  </a:lnTo>
                  <a:lnTo>
                    <a:pt x="727963" y="422833"/>
                  </a:lnTo>
                  <a:lnTo>
                    <a:pt x="728353" y="332816"/>
                  </a:lnTo>
                  <a:lnTo>
                    <a:pt x="530859" y="332816"/>
                  </a:lnTo>
                  <a:lnTo>
                    <a:pt x="530859" y="156400"/>
                  </a:lnTo>
                  <a:lnTo>
                    <a:pt x="545820" y="155672"/>
                  </a:lnTo>
                  <a:lnTo>
                    <a:pt x="558530" y="155198"/>
                  </a:lnTo>
                  <a:lnTo>
                    <a:pt x="569025" y="154941"/>
                  </a:lnTo>
                  <a:lnTo>
                    <a:pt x="729144" y="154863"/>
                  </a:lnTo>
                  <a:lnTo>
                    <a:pt x="729488" y="77685"/>
                  </a:lnTo>
                  <a:lnTo>
                    <a:pt x="727963" y="76149"/>
                  </a:lnTo>
                  <a:close/>
                </a:path>
                <a:path w="817879" h="585470">
                  <a:moveTo>
                    <a:pt x="729144" y="154863"/>
                  </a:moveTo>
                  <a:lnTo>
                    <a:pt x="577341" y="154863"/>
                  </a:lnTo>
                  <a:lnTo>
                    <a:pt x="589579" y="155577"/>
                  </a:lnTo>
                  <a:lnTo>
                    <a:pt x="600376" y="157694"/>
                  </a:lnTo>
                  <a:lnTo>
                    <a:pt x="631281" y="188493"/>
                  </a:lnTo>
                  <a:lnTo>
                    <a:pt x="632205" y="198297"/>
                  </a:lnTo>
                  <a:lnTo>
                    <a:pt x="632205" y="206362"/>
                  </a:lnTo>
                  <a:lnTo>
                    <a:pt x="629157" y="214045"/>
                  </a:lnTo>
                  <a:lnTo>
                    <a:pt x="623062" y="220586"/>
                  </a:lnTo>
                  <a:lnTo>
                    <a:pt x="616838" y="227507"/>
                  </a:lnTo>
                  <a:lnTo>
                    <a:pt x="609980" y="231736"/>
                  </a:lnTo>
                  <a:lnTo>
                    <a:pt x="602614" y="233273"/>
                  </a:lnTo>
                  <a:lnTo>
                    <a:pt x="612507" y="236238"/>
                  </a:lnTo>
                  <a:lnTo>
                    <a:pt x="640508" y="263923"/>
                  </a:lnTo>
                  <a:lnTo>
                    <a:pt x="643001" y="281698"/>
                  </a:lnTo>
                  <a:lnTo>
                    <a:pt x="641909" y="292875"/>
                  </a:lnTo>
                  <a:lnTo>
                    <a:pt x="616638" y="325036"/>
                  </a:lnTo>
                  <a:lnTo>
                    <a:pt x="581151" y="332816"/>
                  </a:lnTo>
                  <a:lnTo>
                    <a:pt x="728353" y="332816"/>
                  </a:lnTo>
                  <a:lnTo>
                    <a:pt x="729144" y="154863"/>
                  </a:lnTo>
                  <a:close/>
                </a:path>
                <a:path w="817879" h="585470">
                  <a:moveTo>
                    <a:pt x="574420" y="244690"/>
                  </a:moveTo>
                  <a:lnTo>
                    <a:pt x="554735" y="245465"/>
                  </a:lnTo>
                  <a:lnTo>
                    <a:pt x="554735" y="312839"/>
                  </a:lnTo>
                  <a:lnTo>
                    <a:pt x="563244" y="313613"/>
                  </a:lnTo>
                  <a:lnTo>
                    <a:pt x="569467" y="313994"/>
                  </a:lnTo>
                  <a:lnTo>
                    <a:pt x="574039" y="313994"/>
                  </a:lnTo>
                  <a:lnTo>
                    <a:pt x="611774" y="300607"/>
                  </a:lnTo>
                  <a:lnTo>
                    <a:pt x="617346" y="278193"/>
                  </a:lnTo>
                  <a:lnTo>
                    <a:pt x="616749" y="270325"/>
                  </a:lnTo>
                  <a:lnTo>
                    <a:pt x="585227" y="245197"/>
                  </a:lnTo>
                  <a:lnTo>
                    <a:pt x="574420" y="244690"/>
                  </a:lnTo>
                  <a:close/>
                </a:path>
                <a:path w="817879" h="585470">
                  <a:moveTo>
                    <a:pt x="576452" y="174536"/>
                  </a:moveTo>
                  <a:lnTo>
                    <a:pt x="568325" y="174536"/>
                  </a:lnTo>
                  <a:lnTo>
                    <a:pt x="554735" y="175310"/>
                  </a:lnTo>
                  <a:lnTo>
                    <a:pt x="554735" y="226809"/>
                  </a:lnTo>
                  <a:lnTo>
                    <a:pt x="559815" y="227203"/>
                  </a:lnTo>
                  <a:lnTo>
                    <a:pt x="566419" y="227584"/>
                  </a:lnTo>
                  <a:lnTo>
                    <a:pt x="573785" y="227584"/>
                  </a:lnTo>
                  <a:lnTo>
                    <a:pt x="588587" y="225834"/>
                  </a:lnTo>
                  <a:lnTo>
                    <a:pt x="599233" y="220564"/>
                  </a:lnTo>
                  <a:lnTo>
                    <a:pt x="605664" y="211735"/>
                  </a:lnTo>
                  <a:lnTo>
                    <a:pt x="607821" y="199313"/>
                  </a:lnTo>
                  <a:lnTo>
                    <a:pt x="605867" y="188418"/>
                  </a:lnTo>
                  <a:lnTo>
                    <a:pt x="599995" y="180681"/>
                  </a:lnTo>
                  <a:lnTo>
                    <a:pt x="590194" y="176066"/>
                  </a:lnTo>
                  <a:lnTo>
                    <a:pt x="576452" y="174536"/>
                  </a:lnTo>
                  <a:close/>
                </a:path>
                <a:path w="817879" h="585470">
                  <a:moveTo>
                    <a:pt x="385317" y="43637"/>
                  </a:moveTo>
                  <a:lnTo>
                    <a:pt x="61087" y="43637"/>
                  </a:lnTo>
                  <a:lnTo>
                    <a:pt x="57150" y="47485"/>
                  </a:lnTo>
                  <a:lnTo>
                    <a:pt x="57042" y="79997"/>
                  </a:lnTo>
                  <a:lnTo>
                    <a:pt x="55727" y="422833"/>
                  </a:lnTo>
                  <a:lnTo>
                    <a:pt x="55625" y="453885"/>
                  </a:lnTo>
                  <a:lnTo>
                    <a:pt x="59435" y="457733"/>
                  </a:lnTo>
                  <a:lnTo>
                    <a:pt x="383666" y="457733"/>
                  </a:lnTo>
                  <a:lnTo>
                    <a:pt x="383666" y="440816"/>
                  </a:lnTo>
                  <a:lnTo>
                    <a:pt x="72643" y="440816"/>
                  </a:lnTo>
                  <a:lnTo>
                    <a:pt x="74167" y="60553"/>
                  </a:lnTo>
                  <a:lnTo>
                    <a:pt x="385317" y="60553"/>
                  </a:lnTo>
                  <a:lnTo>
                    <a:pt x="385317" y="43637"/>
                  </a:lnTo>
                  <a:close/>
                </a:path>
                <a:path w="817879" h="585470">
                  <a:moveTo>
                    <a:pt x="386079" y="76149"/>
                  </a:moveTo>
                  <a:lnTo>
                    <a:pt x="92963" y="76149"/>
                  </a:lnTo>
                  <a:lnTo>
                    <a:pt x="91439" y="77685"/>
                  </a:lnTo>
                  <a:lnTo>
                    <a:pt x="89915" y="422833"/>
                  </a:lnTo>
                  <a:lnTo>
                    <a:pt x="91439" y="424370"/>
                  </a:lnTo>
                  <a:lnTo>
                    <a:pt x="384555" y="424370"/>
                  </a:lnTo>
                  <a:lnTo>
                    <a:pt x="384956" y="332816"/>
                  </a:lnTo>
                  <a:lnTo>
                    <a:pt x="166115" y="332816"/>
                  </a:lnTo>
                  <a:lnTo>
                    <a:pt x="237616" y="154000"/>
                  </a:lnTo>
                  <a:lnTo>
                    <a:pt x="385739" y="154000"/>
                  </a:lnTo>
                  <a:lnTo>
                    <a:pt x="386079" y="76149"/>
                  </a:lnTo>
                  <a:close/>
                </a:path>
                <a:path w="817879" h="585470">
                  <a:moveTo>
                    <a:pt x="271525" y="295516"/>
                  </a:moveTo>
                  <a:lnTo>
                    <a:pt x="206120" y="295516"/>
                  </a:lnTo>
                  <a:lnTo>
                    <a:pt x="193039" y="332816"/>
                  </a:lnTo>
                  <a:lnTo>
                    <a:pt x="283844" y="332816"/>
                  </a:lnTo>
                  <a:lnTo>
                    <a:pt x="271525" y="295516"/>
                  </a:lnTo>
                  <a:close/>
                </a:path>
                <a:path w="817879" h="585470">
                  <a:moveTo>
                    <a:pt x="385739" y="154000"/>
                  </a:moveTo>
                  <a:lnTo>
                    <a:pt x="244220" y="154000"/>
                  </a:lnTo>
                  <a:lnTo>
                    <a:pt x="310768" y="332816"/>
                  </a:lnTo>
                  <a:lnTo>
                    <a:pt x="384956" y="332816"/>
                  </a:lnTo>
                  <a:lnTo>
                    <a:pt x="385739" y="154000"/>
                  </a:lnTo>
                  <a:close/>
                </a:path>
                <a:path w="817879" h="585470">
                  <a:moveTo>
                    <a:pt x="239775" y="200202"/>
                  </a:moveTo>
                  <a:lnTo>
                    <a:pt x="212343" y="278066"/>
                  </a:lnTo>
                  <a:lnTo>
                    <a:pt x="264540" y="278066"/>
                  </a:lnTo>
                  <a:lnTo>
                    <a:pt x="239775" y="200202"/>
                  </a:lnTo>
                  <a:close/>
                </a:path>
                <a:path w="817879" h="585470">
                  <a:moveTo>
                    <a:pt x="414019" y="0"/>
                  </a:moveTo>
                  <a:lnTo>
                    <a:pt x="405002" y="0"/>
                  </a:lnTo>
                  <a:lnTo>
                    <a:pt x="401573" y="3848"/>
                  </a:lnTo>
                  <a:lnTo>
                    <a:pt x="401573" y="581367"/>
                  </a:lnTo>
                  <a:lnTo>
                    <a:pt x="405002" y="585216"/>
                  </a:lnTo>
                  <a:lnTo>
                    <a:pt x="414019" y="585216"/>
                  </a:lnTo>
                  <a:lnTo>
                    <a:pt x="417829" y="581367"/>
                  </a:lnTo>
                  <a:lnTo>
                    <a:pt x="417829" y="3848"/>
                  </a:lnTo>
                  <a:lnTo>
                    <a:pt x="414019" y="0"/>
                  </a:lnTo>
                  <a:close/>
                </a:path>
              </a:pathLst>
            </a:custGeom>
            <a:solidFill>
              <a:srgbClr val="FFFFFF"/>
            </a:solidFill>
          </p:spPr>
          <p:txBody>
            <a:bodyPr wrap="square" lIns="0" tIns="0" rIns="0" bIns="0" rtlCol="0"/>
            <a:lstStyle/>
            <a:p>
              <a:endParaRPr/>
            </a:p>
          </p:txBody>
        </p:sp>
        <p:sp>
          <p:nvSpPr>
            <p:cNvPr id="25" name="object 25"/>
            <p:cNvSpPr/>
            <p:nvPr/>
          </p:nvSpPr>
          <p:spPr>
            <a:xfrm>
              <a:off x="5615940" y="3343655"/>
              <a:ext cx="307975" cy="306705"/>
            </a:xfrm>
            <a:custGeom>
              <a:avLst/>
              <a:gdLst/>
              <a:ahLst/>
              <a:cxnLst/>
              <a:rect l="l" t="t" r="r" b="b"/>
              <a:pathLst>
                <a:path w="307975" h="306704">
                  <a:moveTo>
                    <a:pt x="153924" y="0"/>
                  </a:moveTo>
                  <a:lnTo>
                    <a:pt x="105290" y="7808"/>
                  </a:lnTo>
                  <a:lnTo>
                    <a:pt x="63038" y="29553"/>
                  </a:lnTo>
                  <a:lnTo>
                    <a:pt x="29711" y="62709"/>
                  </a:lnTo>
                  <a:lnTo>
                    <a:pt x="7851" y="104753"/>
                  </a:lnTo>
                  <a:lnTo>
                    <a:pt x="0" y="153162"/>
                  </a:lnTo>
                  <a:lnTo>
                    <a:pt x="7851" y="201570"/>
                  </a:lnTo>
                  <a:lnTo>
                    <a:pt x="29711" y="243614"/>
                  </a:lnTo>
                  <a:lnTo>
                    <a:pt x="63038" y="276770"/>
                  </a:lnTo>
                  <a:lnTo>
                    <a:pt x="105290" y="298515"/>
                  </a:lnTo>
                  <a:lnTo>
                    <a:pt x="153924" y="306324"/>
                  </a:lnTo>
                  <a:lnTo>
                    <a:pt x="202557" y="298515"/>
                  </a:lnTo>
                  <a:lnTo>
                    <a:pt x="244809" y="276770"/>
                  </a:lnTo>
                  <a:lnTo>
                    <a:pt x="278136" y="243614"/>
                  </a:lnTo>
                  <a:lnTo>
                    <a:pt x="299996" y="201570"/>
                  </a:lnTo>
                  <a:lnTo>
                    <a:pt x="307848" y="153162"/>
                  </a:lnTo>
                  <a:lnTo>
                    <a:pt x="299996" y="104753"/>
                  </a:lnTo>
                  <a:lnTo>
                    <a:pt x="278136" y="62709"/>
                  </a:lnTo>
                  <a:lnTo>
                    <a:pt x="244809" y="29553"/>
                  </a:lnTo>
                  <a:lnTo>
                    <a:pt x="202557" y="7808"/>
                  </a:lnTo>
                  <a:lnTo>
                    <a:pt x="153924" y="0"/>
                  </a:lnTo>
                  <a:close/>
                </a:path>
              </a:pathLst>
            </a:custGeom>
            <a:solidFill>
              <a:srgbClr val="29B974"/>
            </a:solidFill>
          </p:spPr>
          <p:txBody>
            <a:bodyPr wrap="square" lIns="0" tIns="0" rIns="0" bIns="0" rtlCol="0"/>
            <a:lstStyle/>
            <a:p>
              <a:endParaRPr/>
            </a:p>
          </p:txBody>
        </p:sp>
      </p:grpSp>
      <p:sp>
        <p:nvSpPr>
          <p:cNvPr id="26" name="object 26"/>
          <p:cNvSpPr txBox="1"/>
          <p:nvPr/>
        </p:nvSpPr>
        <p:spPr>
          <a:xfrm>
            <a:off x="9441180" y="2078735"/>
            <a:ext cx="2272665" cy="2094230"/>
          </a:xfrm>
          <a:prstGeom prst="rect">
            <a:avLst/>
          </a:prstGeom>
          <a:solidFill>
            <a:srgbClr val="FFFFFF"/>
          </a:solidFill>
          <a:ln w="9525">
            <a:solidFill>
              <a:srgbClr val="6F6F6F"/>
            </a:solidFill>
          </a:ln>
        </p:spPr>
        <p:txBody>
          <a:bodyPr vert="horz" wrap="square" lIns="0" tIns="98425" rIns="0" bIns="0" rtlCol="0">
            <a:spAutoFit/>
          </a:bodyPr>
          <a:lstStyle/>
          <a:p>
            <a:pPr>
              <a:lnSpc>
                <a:spcPct val="100000"/>
              </a:lnSpc>
              <a:spcBef>
                <a:spcPts val="775"/>
              </a:spcBef>
            </a:pPr>
            <a:endParaRPr sz="1400">
              <a:latin typeface="Times New Roman"/>
              <a:cs typeface="Times New Roman"/>
            </a:endParaRPr>
          </a:p>
          <a:p>
            <a:pPr marL="511809">
              <a:lnSpc>
                <a:spcPct val="100000"/>
              </a:lnSpc>
            </a:pPr>
            <a:r>
              <a:rPr sz="1400" b="1">
                <a:solidFill>
                  <a:srgbClr val="565656"/>
                </a:solidFill>
                <a:latin typeface="Trebuchet MS"/>
                <a:cs typeface="Trebuchet MS"/>
              </a:rPr>
              <a:t>Generate</a:t>
            </a:r>
            <a:r>
              <a:rPr sz="1400" b="1" spc="-95">
                <a:solidFill>
                  <a:srgbClr val="565656"/>
                </a:solidFill>
                <a:latin typeface="Trebuchet MS"/>
                <a:cs typeface="Trebuchet MS"/>
              </a:rPr>
              <a:t> </a:t>
            </a:r>
            <a:r>
              <a:rPr sz="1400" b="1" spc="-20">
                <a:solidFill>
                  <a:srgbClr val="565656"/>
                </a:solidFill>
                <a:latin typeface="Trebuchet MS"/>
                <a:cs typeface="Trebuchet MS"/>
              </a:rPr>
              <a:t>leads</a:t>
            </a:r>
            <a:endParaRPr sz="1400">
              <a:latin typeface="Trebuchet MS"/>
              <a:cs typeface="Trebuchet MS"/>
            </a:endParaRPr>
          </a:p>
          <a:p>
            <a:pPr>
              <a:lnSpc>
                <a:spcPct val="100000"/>
              </a:lnSpc>
              <a:spcBef>
                <a:spcPts val="1110"/>
              </a:spcBef>
            </a:pPr>
            <a:endParaRPr sz="1400">
              <a:latin typeface="Trebuchet MS"/>
              <a:cs typeface="Trebuchet MS"/>
            </a:endParaRPr>
          </a:p>
          <a:p>
            <a:pPr marL="194945" marR="363220" indent="-172720" algn="just">
              <a:lnSpc>
                <a:spcPts val="1300"/>
              </a:lnSpc>
              <a:buClr>
                <a:srgbClr val="29B974"/>
              </a:buClr>
              <a:buFont typeface="Arial"/>
              <a:buChar char="•"/>
              <a:tabLst>
                <a:tab pos="194945" algn="l"/>
              </a:tabLst>
            </a:pPr>
            <a:r>
              <a:rPr sz="1200">
                <a:solidFill>
                  <a:srgbClr val="565656"/>
                </a:solidFill>
                <a:latin typeface="Trebuchet MS"/>
                <a:cs typeface="Trebuchet MS"/>
              </a:rPr>
              <a:t>Generate</a:t>
            </a:r>
            <a:r>
              <a:rPr sz="1200" spc="-55">
                <a:solidFill>
                  <a:srgbClr val="565656"/>
                </a:solidFill>
                <a:latin typeface="Trebuchet MS"/>
                <a:cs typeface="Trebuchet MS"/>
              </a:rPr>
              <a:t> </a:t>
            </a:r>
            <a:r>
              <a:rPr sz="1200">
                <a:solidFill>
                  <a:srgbClr val="565656"/>
                </a:solidFill>
                <a:latin typeface="Trebuchet MS"/>
                <a:cs typeface="Trebuchet MS"/>
              </a:rPr>
              <a:t>leads</a:t>
            </a:r>
            <a:r>
              <a:rPr sz="1200" spc="-50">
                <a:solidFill>
                  <a:srgbClr val="565656"/>
                </a:solidFill>
                <a:latin typeface="Trebuchet MS"/>
                <a:cs typeface="Trebuchet MS"/>
              </a:rPr>
              <a:t> </a:t>
            </a:r>
            <a:r>
              <a:rPr sz="1200">
                <a:solidFill>
                  <a:srgbClr val="565656"/>
                </a:solidFill>
                <a:latin typeface="Trebuchet MS"/>
                <a:cs typeface="Trebuchet MS"/>
              </a:rPr>
              <a:t>with</a:t>
            </a:r>
            <a:r>
              <a:rPr sz="1200" spc="-40">
                <a:solidFill>
                  <a:srgbClr val="565656"/>
                </a:solidFill>
                <a:latin typeface="Trebuchet MS"/>
                <a:cs typeface="Trebuchet MS"/>
              </a:rPr>
              <a:t> </a:t>
            </a:r>
            <a:r>
              <a:rPr sz="1200" spc="-20">
                <a:solidFill>
                  <a:srgbClr val="565656"/>
                </a:solidFill>
                <a:latin typeface="Trebuchet MS"/>
                <a:cs typeface="Trebuchet MS"/>
              </a:rPr>
              <a:t>high </a:t>
            </a:r>
            <a:r>
              <a:rPr sz="1200">
                <a:solidFill>
                  <a:srgbClr val="565656"/>
                </a:solidFill>
                <a:latin typeface="Trebuchet MS"/>
                <a:cs typeface="Trebuchet MS"/>
              </a:rPr>
              <a:t>propensity</a:t>
            </a:r>
            <a:r>
              <a:rPr sz="1200" spc="-60">
                <a:solidFill>
                  <a:srgbClr val="565656"/>
                </a:solidFill>
                <a:latin typeface="Trebuchet MS"/>
                <a:cs typeface="Trebuchet MS"/>
              </a:rPr>
              <a:t> </a:t>
            </a:r>
            <a:r>
              <a:rPr sz="1200">
                <a:solidFill>
                  <a:srgbClr val="565656"/>
                </a:solidFill>
                <a:latin typeface="Trebuchet MS"/>
                <a:cs typeface="Trebuchet MS"/>
              </a:rPr>
              <a:t>to</a:t>
            </a:r>
            <a:r>
              <a:rPr sz="1200" spc="-15">
                <a:solidFill>
                  <a:srgbClr val="565656"/>
                </a:solidFill>
                <a:latin typeface="Trebuchet MS"/>
                <a:cs typeface="Trebuchet MS"/>
              </a:rPr>
              <a:t> </a:t>
            </a:r>
            <a:r>
              <a:rPr sz="1200">
                <a:solidFill>
                  <a:srgbClr val="565656"/>
                </a:solidFill>
                <a:latin typeface="Trebuchet MS"/>
                <a:cs typeface="Trebuchet MS"/>
              </a:rPr>
              <a:t>buy</a:t>
            </a:r>
            <a:r>
              <a:rPr sz="1200" spc="-40">
                <a:solidFill>
                  <a:srgbClr val="565656"/>
                </a:solidFill>
                <a:latin typeface="Trebuchet MS"/>
                <a:cs typeface="Trebuchet MS"/>
              </a:rPr>
              <a:t> </a:t>
            </a:r>
            <a:r>
              <a:rPr sz="1200" spc="-10">
                <a:solidFill>
                  <a:srgbClr val="565656"/>
                </a:solidFill>
                <a:latin typeface="Trebuchet MS"/>
                <a:cs typeface="Trebuchet MS"/>
              </a:rPr>
              <a:t>wealth products</a:t>
            </a:r>
            <a:endParaRPr sz="1200">
              <a:latin typeface="Trebuchet MS"/>
              <a:cs typeface="Trebuchet MS"/>
            </a:endParaRPr>
          </a:p>
          <a:p>
            <a:pPr marL="194945" marR="177800" indent="-172720" algn="just">
              <a:lnSpc>
                <a:spcPts val="1300"/>
              </a:lnSpc>
              <a:spcBef>
                <a:spcPts val="585"/>
              </a:spcBef>
              <a:buClr>
                <a:srgbClr val="29B974"/>
              </a:buClr>
              <a:buFont typeface="Arial"/>
              <a:buChar char="•"/>
              <a:tabLst>
                <a:tab pos="194945" algn="l"/>
              </a:tabLst>
            </a:pPr>
            <a:r>
              <a:rPr sz="1200">
                <a:solidFill>
                  <a:srgbClr val="565656"/>
                </a:solidFill>
                <a:latin typeface="Trebuchet MS"/>
                <a:cs typeface="Trebuchet MS"/>
              </a:rPr>
              <a:t>Each</a:t>
            </a:r>
            <a:r>
              <a:rPr sz="1200" spc="-30">
                <a:solidFill>
                  <a:srgbClr val="565656"/>
                </a:solidFill>
                <a:latin typeface="Trebuchet MS"/>
                <a:cs typeface="Trebuchet MS"/>
              </a:rPr>
              <a:t> </a:t>
            </a:r>
            <a:r>
              <a:rPr sz="1200">
                <a:solidFill>
                  <a:srgbClr val="565656"/>
                </a:solidFill>
                <a:latin typeface="Trebuchet MS"/>
                <a:cs typeface="Trebuchet MS"/>
              </a:rPr>
              <a:t>leads</a:t>
            </a:r>
            <a:r>
              <a:rPr sz="1200" spc="-40">
                <a:solidFill>
                  <a:srgbClr val="565656"/>
                </a:solidFill>
                <a:latin typeface="Trebuchet MS"/>
                <a:cs typeface="Trebuchet MS"/>
              </a:rPr>
              <a:t> </a:t>
            </a:r>
            <a:r>
              <a:rPr sz="1200">
                <a:solidFill>
                  <a:srgbClr val="565656"/>
                </a:solidFill>
                <a:latin typeface="Trebuchet MS"/>
                <a:cs typeface="Trebuchet MS"/>
              </a:rPr>
              <a:t>with</a:t>
            </a:r>
            <a:r>
              <a:rPr sz="1200" spc="-30">
                <a:solidFill>
                  <a:srgbClr val="565656"/>
                </a:solidFill>
                <a:latin typeface="Trebuchet MS"/>
                <a:cs typeface="Trebuchet MS"/>
              </a:rPr>
              <a:t> </a:t>
            </a:r>
            <a:r>
              <a:rPr sz="1200">
                <a:solidFill>
                  <a:srgbClr val="565656"/>
                </a:solidFill>
                <a:latin typeface="Trebuchet MS"/>
                <a:cs typeface="Trebuchet MS"/>
              </a:rPr>
              <a:t>a</a:t>
            </a:r>
            <a:r>
              <a:rPr sz="1200" spc="-15">
                <a:solidFill>
                  <a:srgbClr val="565656"/>
                </a:solidFill>
                <a:latin typeface="Trebuchet MS"/>
                <a:cs typeface="Trebuchet MS"/>
              </a:rPr>
              <a:t> </a:t>
            </a:r>
            <a:r>
              <a:rPr sz="1200" spc="-10">
                <a:solidFill>
                  <a:srgbClr val="565656"/>
                </a:solidFill>
                <a:latin typeface="Trebuchet MS"/>
                <a:cs typeface="Trebuchet MS"/>
              </a:rPr>
              <a:t>predicted </a:t>
            </a:r>
            <a:r>
              <a:rPr sz="1200">
                <a:solidFill>
                  <a:srgbClr val="565656"/>
                </a:solidFill>
                <a:latin typeface="Trebuchet MS"/>
                <a:cs typeface="Trebuchet MS"/>
              </a:rPr>
              <a:t>likelihood</a:t>
            </a:r>
            <a:r>
              <a:rPr sz="1200" spc="-30">
                <a:solidFill>
                  <a:srgbClr val="565656"/>
                </a:solidFill>
                <a:latin typeface="Trebuchet MS"/>
                <a:cs typeface="Trebuchet MS"/>
              </a:rPr>
              <a:t> </a:t>
            </a:r>
            <a:r>
              <a:rPr sz="1200">
                <a:solidFill>
                  <a:srgbClr val="565656"/>
                </a:solidFill>
                <a:latin typeface="Trebuchet MS"/>
                <a:cs typeface="Trebuchet MS"/>
              </a:rPr>
              <a:t>to</a:t>
            </a:r>
            <a:r>
              <a:rPr sz="1200" spc="-45">
                <a:solidFill>
                  <a:srgbClr val="565656"/>
                </a:solidFill>
                <a:latin typeface="Trebuchet MS"/>
                <a:cs typeface="Trebuchet MS"/>
              </a:rPr>
              <a:t> </a:t>
            </a:r>
            <a:r>
              <a:rPr sz="1200" spc="-10">
                <a:solidFill>
                  <a:srgbClr val="565656"/>
                </a:solidFill>
                <a:latin typeface="Trebuchet MS"/>
                <a:cs typeface="Trebuchet MS"/>
              </a:rPr>
              <a:t>convert</a:t>
            </a:r>
            <a:endParaRPr sz="1200">
              <a:latin typeface="Trebuchet MS"/>
              <a:cs typeface="Trebuchet MS"/>
            </a:endParaRPr>
          </a:p>
        </p:txBody>
      </p:sp>
      <p:grpSp>
        <p:nvGrpSpPr>
          <p:cNvPr id="27" name="object 27"/>
          <p:cNvGrpSpPr/>
          <p:nvPr/>
        </p:nvGrpSpPr>
        <p:grpSpPr>
          <a:xfrm>
            <a:off x="8610600" y="2534411"/>
            <a:ext cx="601980" cy="4183379"/>
            <a:chOff x="8610600" y="2534411"/>
            <a:chExt cx="601980" cy="4183379"/>
          </a:xfrm>
        </p:grpSpPr>
        <p:sp>
          <p:nvSpPr>
            <p:cNvPr id="28" name="object 28"/>
            <p:cNvSpPr/>
            <p:nvPr/>
          </p:nvSpPr>
          <p:spPr>
            <a:xfrm>
              <a:off x="8659367" y="2534411"/>
              <a:ext cx="501650" cy="518159"/>
            </a:xfrm>
            <a:custGeom>
              <a:avLst/>
              <a:gdLst/>
              <a:ahLst/>
              <a:cxnLst/>
              <a:rect l="l" t="t" r="r" b="b"/>
              <a:pathLst>
                <a:path w="501650" h="518160">
                  <a:moveTo>
                    <a:pt x="11175" y="439292"/>
                  </a:moveTo>
                  <a:lnTo>
                    <a:pt x="6476" y="439292"/>
                  </a:lnTo>
                  <a:lnTo>
                    <a:pt x="3301" y="442087"/>
                  </a:lnTo>
                  <a:lnTo>
                    <a:pt x="0" y="445388"/>
                  </a:lnTo>
                  <a:lnTo>
                    <a:pt x="0" y="450468"/>
                  </a:lnTo>
                  <a:lnTo>
                    <a:pt x="2921" y="453263"/>
                  </a:lnTo>
                  <a:lnTo>
                    <a:pt x="37846" y="488950"/>
                  </a:lnTo>
                  <a:lnTo>
                    <a:pt x="39242" y="490727"/>
                  </a:lnTo>
                  <a:lnTo>
                    <a:pt x="41401" y="491489"/>
                  </a:lnTo>
                  <a:lnTo>
                    <a:pt x="46862" y="491489"/>
                  </a:lnTo>
                  <a:lnTo>
                    <a:pt x="49402" y="490092"/>
                  </a:lnTo>
                  <a:lnTo>
                    <a:pt x="50800" y="487552"/>
                  </a:lnTo>
                  <a:lnTo>
                    <a:pt x="74445" y="464438"/>
                  </a:lnTo>
                  <a:lnTo>
                    <a:pt x="36067" y="464438"/>
                  </a:lnTo>
                  <a:lnTo>
                    <a:pt x="14477" y="442467"/>
                  </a:lnTo>
                  <a:lnTo>
                    <a:pt x="11175" y="439292"/>
                  </a:lnTo>
                  <a:close/>
                </a:path>
                <a:path w="501650" h="518160">
                  <a:moveTo>
                    <a:pt x="191388" y="0"/>
                  </a:moveTo>
                  <a:lnTo>
                    <a:pt x="182372" y="0"/>
                  </a:lnTo>
                  <a:lnTo>
                    <a:pt x="178815" y="3555"/>
                  </a:lnTo>
                  <a:lnTo>
                    <a:pt x="178815" y="162813"/>
                  </a:lnTo>
                  <a:lnTo>
                    <a:pt x="38226" y="303402"/>
                  </a:lnTo>
                  <a:lnTo>
                    <a:pt x="36702" y="304800"/>
                  </a:lnTo>
                  <a:lnTo>
                    <a:pt x="36067" y="306704"/>
                  </a:lnTo>
                  <a:lnTo>
                    <a:pt x="36067" y="464438"/>
                  </a:lnTo>
                  <a:lnTo>
                    <a:pt x="51942" y="464438"/>
                  </a:lnTo>
                  <a:lnTo>
                    <a:pt x="51942" y="312038"/>
                  </a:lnTo>
                  <a:lnTo>
                    <a:pt x="192531" y="171576"/>
                  </a:lnTo>
                  <a:lnTo>
                    <a:pt x="193928" y="170052"/>
                  </a:lnTo>
                  <a:lnTo>
                    <a:pt x="194690" y="168275"/>
                  </a:lnTo>
                  <a:lnTo>
                    <a:pt x="194690" y="3555"/>
                  </a:lnTo>
                  <a:lnTo>
                    <a:pt x="191388" y="0"/>
                  </a:lnTo>
                  <a:close/>
                </a:path>
                <a:path w="501650" h="518160">
                  <a:moveTo>
                    <a:pt x="81787" y="439927"/>
                  </a:moveTo>
                  <a:lnTo>
                    <a:pt x="76834" y="439927"/>
                  </a:lnTo>
                  <a:lnTo>
                    <a:pt x="73532" y="443229"/>
                  </a:lnTo>
                  <a:lnTo>
                    <a:pt x="51942" y="464438"/>
                  </a:lnTo>
                  <a:lnTo>
                    <a:pt x="74445" y="464438"/>
                  </a:lnTo>
                  <a:lnTo>
                    <a:pt x="84708" y="454405"/>
                  </a:lnTo>
                  <a:lnTo>
                    <a:pt x="88010" y="451485"/>
                  </a:lnTo>
                  <a:lnTo>
                    <a:pt x="88010" y="446404"/>
                  </a:lnTo>
                  <a:lnTo>
                    <a:pt x="84708" y="443229"/>
                  </a:lnTo>
                  <a:lnTo>
                    <a:pt x="81787" y="439927"/>
                  </a:lnTo>
                  <a:close/>
                </a:path>
                <a:path w="501650" h="518160">
                  <a:moveTo>
                    <a:pt x="211200" y="264795"/>
                  </a:moveTo>
                  <a:lnTo>
                    <a:pt x="206121" y="264795"/>
                  </a:lnTo>
                  <a:lnTo>
                    <a:pt x="202946" y="268097"/>
                  </a:lnTo>
                  <a:lnTo>
                    <a:pt x="199643" y="271017"/>
                  </a:lnTo>
                  <a:lnTo>
                    <a:pt x="199643" y="275971"/>
                  </a:lnTo>
                  <a:lnTo>
                    <a:pt x="202564" y="279273"/>
                  </a:lnTo>
                  <a:lnTo>
                    <a:pt x="237489" y="314960"/>
                  </a:lnTo>
                  <a:lnTo>
                    <a:pt x="239013" y="316357"/>
                  </a:lnTo>
                  <a:lnTo>
                    <a:pt x="241173" y="317118"/>
                  </a:lnTo>
                  <a:lnTo>
                    <a:pt x="245109" y="317118"/>
                  </a:lnTo>
                  <a:lnTo>
                    <a:pt x="247268" y="316357"/>
                  </a:lnTo>
                  <a:lnTo>
                    <a:pt x="248665" y="314960"/>
                  </a:lnTo>
                  <a:lnTo>
                    <a:pt x="273503" y="290829"/>
                  </a:lnTo>
                  <a:lnTo>
                    <a:pt x="236092" y="290829"/>
                  </a:lnTo>
                  <a:lnTo>
                    <a:pt x="214122" y="268097"/>
                  </a:lnTo>
                  <a:lnTo>
                    <a:pt x="211200" y="264795"/>
                  </a:lnTo>
                  <a:close/>
                </a:path>
                <a:path w="501650" h="518160">
                  <a:moveTo>
                    <a:pt x="248411" y="0"/>
                  </a:moveTo>
                  <a:lnTo>
                    <a:pt x="239649" y="0"/>
                  </a:lnTo>
                  <a:lnTo>
                    <a:pt x="236092" y="3555"/>
                  </a:lnTo>
                  <a:lnTo>
                    <a:pt x="236092" y="290829"/>
                  </a:lnTo>
                  <a:lnTo>
                    <a:pt x="273503" y="290829"/>
                  </a:lnTo>
                  <a:lnTo>
                    <a:pt x="274679" y="289687"/>
                  </a:lnTo>
                  <a:lnTo>
                    <a:pt x="251967" y="289687"/>
                  </a:lnTo>
                  <a:lnTo>
                    <a:pt x="251967" y="3555"/>
                  </a:lnTo>
                  <a:lnTo>
                    <a:pt x="248411" y="0"/>
                  </a:lnTo>
                  <a:close/>
                </a:path>
                <a:path w="501650" h="518160">
                  <a:moveTo>
                    <a:pt x="281558" y="265938"/>
                  </a:moveTo>
                  <a:lnTo>
                    <a:pt x="276478" y="265938"/>
                  </a:lnTo>
                  <a:lnTo>
                    <a:pt x="273176" y="268859"/>
                  </a:lnTo>
                  <a:lnTo>
                    <a:pt x="251967" y="289687"/>
                  </a:lnTo>
                  <a:lnTo>
                    <a:pt x="274679" y="289687"/>
                  </a:lnTo>
                  <a:lnTo>
                    <a:pt x="287654" y="277113"/>
                  </a:lnTo>
                  <a:lnTo>
                    <a:pt x="287654" y="272034"/>
                  </a:lnTo>
                  <a:lnTo>
                    <a:pt x="281558" y="265938"/>
                  </a:lnTo>
                  <a:close/>
                </a:path>
                <a:path w="501650" h="518160">
                  <a:moveTo>
                    <a:pt x="424941" y="465963"/>
                  </a:moveTo>
                  <a:lnTo>
                    <a:pt x="419988" y="465963"/>
                  </a:lnTo>
                  <a:lnTo>
                    <a:pt x="416686" y="468757"/>
                  </a:lnTo>
                  <a:lnTo>
                    <a:pt x="413384" y="472059"/>
                  </a:lnTo>
                  <a:lnTo>
                    <a:pt x="413384" y="476758"/>
                  </a:lnTo>
                  <a:lnTo>
                    <a:pt x="416305" y="479933"/>
                  </a:lnTo>
                  <a:lnTo>
                    <a:pt x="451230" y="515620"/>
                  </a:lnTo>
                  <a:lnTo>
                    <a:pt x="452754" y="517398"/>
                  </a:lnTo>
                  <a:lnTo>
                    <a:pt x="454913" y="518160"/>
                  </a:lnTo>
                  <a:lnTo>
                    <a:pt x="460248" y="518160"/>
                  </a:lnTo>
                  <a:lnTo>
                    <a:pt x="462787" y="516382"/>
                  </a:lnTo>
                  <a:lnTo>
                    <a:pt x="464311" y="514223"/>
                  </a:lnTo>
                  <a:lnTo>
                    <a:pt x="487868" y="491109"/>
                  </a:lnTo>
                  <a:lnTo>
                    <a:pt x="449452" y="491109"/>
                  </a:lnTo>
                  <a:lnTo>
                    <a:pt x="427862" y="468757"/>
                  </a:lnTo>
                  <a:lnTo>
                    <a:pt x="424941" y="465963"/>
                  </a:lnTo>
                  <a:close/>
                </a:path>
                <a:path w="501650" h="518160">
                  <a:moveTo>
                    <a:pt x="362584" y="0"/>
                  </a:moveTo>
                  <a:lnTo>
                    <a:pt x="353949" y="0"/>
                  </a:lnTo>
                  <a:lnTo>
                    <a:pt x="350392" y="3555"/>
                  </a:lnTo>
                  <a:lnTo>
                    <a:pt x="350392" y="130810"/>
                  </a:lnTo>
                  <a:lnTo>
                    <a:pt x="351408" y="132587"/>
                  </a:lnTo>
                  <a:lnTo>
                    <a:pt x="352932" y="134365"/>
                  </a:lnTo>
                  <a:lnTo>
                    <a:pt x="449452" y="231648"/>
                  </a:lnTo>
                  <a:lnTo>
                    <a:pt x="449452" y="491109"/>
                  </a:lnTo>
                  <a:lnTo>
                    <a:pt x="487868" y="491109"/>
                  </a:lnTo>
                  <a:lnTo>
                    <a:pt x="488257" y="490727"/>
                  </a:lnTo>
                  <a:lnTo>
                    <a:pt x="465327" y="490727"/>
                  </a:lnTo>
                  <a:lnTo>
                    <a:pt x="465327" y="226313"/>
                  </a:lnTo>
                  <a:lnTo>
                    <a:pt x="464565" y="224536"/>
                  </a:lnTo>
                  <a:lnTo>
                    <a:pt x="463168" y="222630"/>
                  </a:lnTo>
                  <a:lnTo>
                    <a:pt x="366267" y="125349"/>
                  </a:lnTo>
                  <a:lnTo>
                    <a:pt x="366267" y="3555"/>
                  </a:lnTo>
                  <a:lnTo>
                    <a:pt x="362584" y="0"/>
                  </a:lnTo>
                  <a:close/>
                </a:path>
                <a:path w="501650" h="518160">
                  <a:moveTo>
                    <a:pt x="495300" y="466598"/>
                  </a:moveTo>
                  <a:lnTo>
                    <a:pt x="490220" y="466598"/>
                  </a:lnTo>
                  <a:lnTo>
                    <a:pt x="486917" y="469900"/>
                  </a:lnTo>
                  <a:lnTo>
                    <a:pt x="465327" y="490727"/>
                  </a:lnTo>
                  <a:lnTo>
                    <a:pt x="488257" y="490727"/>
                  </a:lnTo>
                  <a:lnTo>
                    <a:pt x="498093" y="481075"/>
                  </a:lnTo>
                  <a:lnTo>
                    <a:pt x="501396" y="478154"/>
                  </a:lnTo>
                  <a:lnTo>
                    <a:pt x="501396" y="473075"/>
                  </a:lnTo>
                  <a:lnTo>
                    <a:pt x="498475" y="469900"/>
                  </a:lnTo>
                  <a:lnTo>
                    <a:pt x="495300" y="466598"/>
                  </a:lnTo>
                  <a:close/>
                </a:path>
                <a:path w="501650" h="518160">
                  <a:moveTo>
                    <a:pt x="338074" y="315340"/>
                  </a:moveTo>
                  <a:lnTo>
                    <a:pt x="333121" y="315340"/>
                  </a:lnTo>
                  <a:lnTo>
                    <a:pt x="330200" y="318515"/>
                  </a:lnTo>
                  <a:lnTo>
                    <a:pt x="326898" y="321437"/>
                  </a:lnTo>
                  <a:lnTo>
                    <a:pt x="326898" y="326516"/>
                  </a:lnTo>
                  <a:lnTo>
                    <a:pt x="329818" y="329691"/>
                  </a:lnTo>
                  <a:lnTo>
                    <a:pt x="364743" y="365378"/>
                  </a:lnTo>
                  <a:lnTo>
                    <a:pt x="366267" y="366775"/>
                  </a:lnTo>
                  <a:lnTo>
                    <a:pt x="368046" y="367538"/>
                  </a:lnTo>
                  <a:lnTo>
                    <a:pt x="370204" y="367918"/>
                  </a:lnTo>
                  <a:lnTo>
                    <a:pt x="372363" y="367918"/>
                  </a:lnTo>
                  <a:lnTo>
                    <a:pt x="374523" y="366775"/>
                  </a:lnTo>
                  <a:lnTo>
                    <a:pt x="375920" y="365378"/>
                  </a:lnTo>
                  <a:lnTo>
                    <a:pt x="401242" y="340867"/>
                  </a:lnTo>
                  <a:lnTo>
                    <a:pt x="362965" y="340867"/>
                  </a:lnTo>
                  <a:lnTo>
                    <a:pt x="341375" y="318515"/>
                  </a:lnTo>
                  <a:lnTo>
                    <a:pt x="338074" y="315340"/>
                  </a:lnTo>
                  <a:close/>
                </a:path>
                <a:path w="501650" h="518160">
                  <a:moveTo>
                    <a:pt x="305688" y="0"/>
                  </a:moveTo>
                  <a:lnTo>
                    <a:pt x="296672" y="0"/>
                  </a:lnTo>
                  <a:lnTo>
                    <a:pt x="293370" y="3555"/>
                  </a:lnTo>
                  <a:lnTo>
                    <a:pt x="293370" y="194183"/>
                  </a:lnTo>
                  <a:lnTo>
                    <a:pt x="294131" y="196341"/>
                  </a:lnTo>
                  <a:lnTo>
                    <a:pt x="295528" y="197865"/>
                  </a:lnTo>
                  <a:lnTo>
                    <a:pt x="362965" y="264795"/>
                  </a:lnTo>
                  <a:lnTo>
                    <a:pt x="362965" y="340867"/>
                  </a:lnTo>
                  <a:lnTo>
                    <a:pt x="401242" y="340867"/>
                  </a:lnTo>
                  <a:lnTo>
                    <a:pt x="401635" y="340487"/>
                  </a:lnTo>
                  <a:lnTo>
                    <a:pt x="378840" y="340487"/>
                  </a:lnTo>
                  <a:lnTo>
                    <a:pt x="378840" y="259461"/>
                  </a:lnTo>
                  <a:lnTo>
                    <a:pt x="377698" y="257683"/>
                  </a:lnTo>
                  <a:lnTo>
                    <a:pt x="376300" y="255777"/>
                  </a:lnTo>
                  <a:lnTo>
                    <a:pt x="309245" y="188849"/>
                  </a:lnTo>
                  <a:lnTo>
                    <a:pt x="309245" y="3555"/>
                  </a:lnTo>
                  <a:lnTo>
                    <a:pt x="305688" y="0"/>
                  </a:lnTo>
                  <a:close/>
                </a:path>
                <a:path w="501650" h="518160">
                  <a:moveTo>
                    <a:pt x="408812" y="316357"/>
                  </a:moveTo>
                  <a:lnTo>
                    <a:pt x="403732" y="316357"/>
                  </a:lnTo>
                  <a:lnTo>
                    <a:pt x="400430" y="319277"/>
                  </a:lnTo>
                  <a:lnTo>
                    <a:pt x="378840" y="340487"/>
                  </a:lnTo>
                  <a:lnTo>
                    <a:pt x="401635" y="340487"/>
                  </a:lnTo>
                  <a:lnTo>
                    <a:pt x="411606" y="330835"/>
                  </a:lnTo>
                  <a:lnTo>
                    <a:pt x="414908" y="327533"/>
                  </a:lnTo>
                  <a:lnTo>
                    <a:pt x="414908" y="322452"/>
                  </a:lnTo>
                  <a:lnTo>
                    <a:pt x="411606" y="319659"/>
                  </a:lnTo>
                  <a:lnTo>
                    <a:pt x="408812" y="316357"/>
                  </a:lnTo>
                  <a:close/>
                </a:path>
              </a:pathLst>
            </a:custGeom>
            <a:solidFill>
              <a:srgbClr val="03522C"/>
            </a:solidFill>
          </p:spPr>
          <p:txBody>
            <a:bodyPr wrap="square" lIns="0" tIns="0" rIns="0" bIns="0" rtlCol="0"/>
            <a:lstStyle/>
            <a:p>
              <a:endParaRPr/>
            </a:p>
          </p:txBody>
        </p:sp>
        <p:sp>
          <p:nvSpPr>
            <p:cNvPr id="29" name="object 29"/>
            <p:cNvSpPr/>
            <p:nvPr/>
          </p:nvSpPr>
          <p:spPr>
            <a:xfrm>
              <a:off x="8610600" y="2877311"/>
              <a:ext cx="601980" cy="3840479"/>
            </a:xfrm>
            <a:custGeom>
              <a:avLst/>
              <a:gdLst/>
              <a:ahLst/>
              <a:cxnLst/>
              <a:rect l="l" t="t" r="r" b="b"/>
              <a:pathLst>
                <a:path w="601979" h="3840479">
                  <a:moveTo>
                    <a:pt x="186944" y="260477"/>
                  </a:moveTo>
                  <a:lnTo>
                    <a:pt x="179578" y="224053"/>
                  </a:lnTo>
                  <a:lnTo>
                    <a:pt x="163233" y="199771"/>
                  </a:lnTo>
                  <a:lnTo>
                    <a:pt x="159537" y="194297"/>
                  </a:lnTo>
                  <a:lnTo>
                    <a:pt x="147955" y="186486"/>
                  </a:lnTo>
                  <a:lnTo>
                    <a:pt x="147955" y="263271"/>
                  </a:lnTo>
                  <a:lnTo>
                    <a:pt x="146558" y="266192"/>
                  </a:lnTo>
                  <a:lnTo>
                    <a:pt x="145796" y="268351"/>
                  </a:lnTo>
                  <a:lnTo>
                    <a:pt x="142240" y="271653"/>
                  </a:lnTo>
                  <a:lnTo>
                    <a:pt x="135382" y="271653"/>
                  </a:lnTo>
                  <a:lnTo>
                    <a:pt x="135636" y="273812"/>
                  </a:lnTo>
                  <a:lnTo>
                    <a:pt x="135636" y="291084"/>
                  </a:lnTo>
                  <a:lnTo>
                    <a:pt x="134239" y="294386"/>
                  </a:lnTo>
                  <a:lnTo>
                    <a:pt x="132842" y="295529"/>
                  </a:lnTo>
                  <a:lnTo>
                    <a:pt x="131699" y="296926"/>
                  </a:lnTo>
                  <a:lnTo>
                    <a:pt x="128778" y="298704"/>
                  </a:lnTo>
                  <a:lnTo>
                    <a:pt x="117983" y="298323"/>
                  </a:lnTo>
                  <a:lnTo>
                    <a:pt x="112649" y="298323"/>
                  </a:lnTo>
                  <a:lnTo>
                    <a:pt x="109728" y="297942"/>
                  </a:lnTo>
                  <a:lnTo>
                    <a:pt x="109626" y="320128"/>
                  </a:lnTo>
                  <a:lnTo>
                    <a:pt x="108585" y="321056"/>
                  </a:lnTo>
                  <a:lnTo>
                    <a:pt x="107188" y="321056"/>
                  </a:lnTo>
                  <a:lnTo>
                    <a:pt x="106045" y="321437"/>
                  </a:lnTo>
                  <a:lnTo>
                    <a:pt x="104267" y="321437"/>
                  </a:lnTo>
                  <a:lnTo>
                    <a:pt x="72898" y="312801"/>
                  </a:lnTo>
                  <a:lnTo>
                    <a:pt x="72898" y="311785"/>
                  </a:lnTo>
                  <a:lnTo>
                    <a:pt x="72136" y="298323"/>
                  </a:lnTo>
                  <a:lnTo>
                    <a:pt x="57848" y="290245"/>
                  </a:lnTo>
                  <a:lnTo>
                    <a:pt x="45250" y="276199"/>
                  </a:lnTo>
                  <a:lnTo>
                    <a:pt x="39966" y="255257"/>
                  </a:lnTo>
                  <a:lnTo>
                    <a:pt x="47625" y="226441"/>
                  </a:lnTo>
                  <a:lnTo>
                    <a:pt x="54140" y="216814"/>
                  </a:lnTo>
                  <a:lnTo>
                    <a:pt x="64071" y="208254"/>
                  </a:lnTo>
                  <a:lnTo>
                    <a:pt x="77520" y="202120"/>
                  </a:lnTo>
                  <a:lnTo>
                    <a:pt x="94615" y="199771"/>
                  </a:lnTo>
                  <a:lnTo>
                    <a:pt x="113118" y="201955"/>
                  </a:lnTo>
                  <a:lnTo>
                    <a:pt x="125615" y="207175"/>
                  </a:lnTo>
                  <a:lnTo>
                    <a:pt x="132422" y="213487"/>
                  </a:lnTo>
                  <a:lnTo>
                    <a:pt x="133858" y="218948"/>
                  </a:lnTo>
                  <a:lnTo>
                    <a:pt x="133477" y="219964"/>
                  </a:lnTo>
                  <a:lnTo>
                    <a:pt x="132842" y="221107"/>
                  </a:lnTo>
                  <a:lnTo>
                    <a:pt x="132080" y="222123"/>
                  </a:lnTo>
                  <a:lnTo>
                    <a:pt x="133578" y="224053"/>
                  </a:lnTo>
                  <a:lnTo>
                    <a:pt x="136779" y="228600"/>
                  </a:lnTo>
                  <a:lnTo>
                    <a:pt x="136017" y="236220"/>
                  </a:lnTo>
                  <a:lnTo>
                    <a:pt x="136017" y="239903"/>
                  </a:lnTo>
                  <a:lnTo>
                    <a:pt x="144399" y="258318"/>
                  </a:lnTo>
                  <a:lnTo>
                    <a:pt x="147955" y="263271"/>
                  </a:lnTo>
                  <a:lnTo>
                    <a:pt x="147955" y="186486"/>
                  </a:lnTo>
                  <a:lnTo>
                    <a:pt x="129819" y="174244"/>
                  </a:lnTo>
                  <a:lnTo>
                    <a:pt x="93472" y="166878"/>
                  </a:lnTo>
                  <a:lnTo>
                    <a:pt x="57111" y="174244"/>
                  </a:lnTo>
                  <a:lnTo>
                    <a:pt x="27393" y="194297"/>
                  </a:lnTo>
                  <a:lnTo>
                    <a:pt x="7353" y="224053"/>
                  </a:lnTo>
                  <a:lnTo>
                    <a:pt x="0" y="260477"/>
                  </a:lnTo>
                  <a:lnTo>
                    <a:pt x="7353" y="296837"/>
                  </a:lnTo>
                  <a:lnTo>
                    <a:pt x="27393" y="326555"/>
                  </a:lnTo>
                  <a:lnTo>
                    <a:pt x="57111" y="346595"/>
                  </a:lnTo>
                  <a:lnTo>
                    <a:pt x="93472" y="353949"/>
                  </a:lnTo>
                  <a:lnTo>
                    <a:pt x="129819" y="346595"/>
                  </a:lnTo>
                  <a:lnTo>
                    <a:pt x="159537" y="326555"/>
                  </a:lnTo>
                  <a:lnTo>
                    <a:pt x="162991" y="321437"/>
                  </a:lnTo>
                  <a:lnTo>
                    <a:pt x="178320" y="298704"/>
                  </a:lnTo>
                  <a:lnTo>
                    <a:pt x="179578" y="296837"/>
                  </a:lnTo>
                  <a:lnTo>
                    <a:pt x="186944" y="260477"/>
                  </a:lnTo>
                  <a:close/>
                </a:path>
                <a:path w="601979" h="3840479">
                  <a:moveTo>
                    <a:pt x="386842" y="93599"/>
                  </a:moveTo>
                  <a:lnTo>
                    <a:pt x="379501" y="57175"/>
                  </a:lnTo>
                  <a:lnTo>
                    <a:pt x="377952" y="54864"/>
                  </a:lnTo>
                  <a:lnTo>
                    <a:pt x="362140" y="31369"/>
                  </a:lnTo>
                  <a:lnTo>
                    <a:pt x="359486" y="27419"/>
                  </a:lnTo>
                  <a:lnTo>
                    <a:pt x="346075" y="18376"/>
                  </a:lnTo>
                  <a:lnTo>
                    <a:pt x="346075" y="95758"/>
                  </a:lnTo>
                  <a:lnTo>
                    <a:pt x="345059" y="98552"/>
                  </a:lnTo>
                  <a:lnTo>
                    <a:pt x="344678" y="100076"/>
                  </a:lnTo>
                  <a:lnTo>
                    <a:pt x="342519" y="104775"/>
                  </a:lnTo>
                  <a:lnTo>
                    <a:pt x="333883" y="104775"/>
                  </a:lnTo>
                  <a:lnTo>
                    <a:pt x="334518" y="108712"/>
                  </a:lnTo>
                  <a:lnTo>
                    <a:pt x="334899" y="115189"/>
                  </a:lnTo>
                  <a:lnTo>
                    <a:pt x="334632" y="118110"/>
                  </a:lnTo>
                  <a:lnTo>
                    <a:pt x="334518" y="120650"/>
                  </a:lnTo>
                  <a:lnTo>
                    <a:pt x="334137" y="127508"/>
                  </a:lnTo>
                  <a:lnTo>
                    <a:pt x="333883" y="131064"/>
                  </a:lnTo>
                  <a:lnTo>
                    <a:pt x="330962" y="132588"/>
                  </a:lnTo>
                  <a:lnTo>
                    <a:pt x="328422" y="133985"/>
                  </a:lnTo>
                  <a:lnTo>
                    <a:pt x="320167" y="135128"/>
                  </a:lnTo>
                  <a:lnTo>
                    <a:pt x="308991" y="133985"/>
                  </a:lnTo>
                  <a:lnTo>
                    <a:pt x="308991" y="154178"/>
                  </a:lnTo>
                  <a:lnTo>
                    <a:pt x="307848" y="155702"/>
                  </a:lnTo>
                  <a:lnTo>
                    <a:pt x="306070" y="155702"/>
                  </a:lnTo>
                  <a:lnTo>
                    <a:pt x="263144" y="148082"/>
                  </a:lnTo>
                  <a:lnTo>
                    <a:pt x="261239" y="146685"/>
                  </a:lnTo>
                  <a:lnTo>
                    <a:pt x="261239" y="118110"/>
                  </a:lnTo>
                  <a:lnTo>
                    <a:pt x="253314" y="108381"/>
                  </a:lnTo>
                  <a:lnTo>
                    <a:pt x="245541" y="94703"/>
                  </a:lnTo>
                  <a:lnTo>
                    <a:pt x="241592" y="78384"/>
                  </a:lnTo>
                  <a:lnTo>
                    <a:pt x="245110" y="60706"/>
                  </a:lnTo>
                  <a:lnTo>
                    <a:pt x="251282" y="50507"/>
                  </a:lnTo>
                  <a:lnTo>
                    <a:pt x="260502" y="41046"/>
                  </a:lnTo>
                  <a:lnTo>
                    <a:pt x="273392" y="34086"/>
                  </a:lnTo>
                  <a:lnTo>
                    <a:pt x="290576" y="31369"/>
                  </a:lnTo>
                  <a:lnTo>
                    <a:pt x="306743" y="32562"/>
                  </a:lnTo>
                  <a:lnTo>
                    <a:pt x="324040" y="37642"/>
                  </a:lnTo>
                  <a:lnTo>
                    <a:pt x="339217" y="38608"/>
                  </a:lnTo>
                  <a:lnTo>
                    <a:pt x="342138" y="38608"/>
                  </a:lnTo>
                  <a:lnTo>
                    <a:pt x="333121" y="48387"/>
                  </a:lnTo>
                  <a:lnTo>
                    <a:pt x="331724" y="54483"/>
                  </a:lnTo>
                  <a:lnTo>
                    <a:pt x="331724" y="54864"/>
                  </a:lnTo>
                  <a:lnTo>
                    <a:pt x="331343" y="54864"/>
                  </a:lnTo>
                  <a:lnTo>
                    <a:pt x="330581" y="54483"/>
                  </a:lnTo>
                  <a:lnTo>
                    <a:pt x="329819" y="54483"/>
                  </a:lnTo>
                  <a:lnTo>
                    <a:pt x="330200" y="58166"/>
                  </a:lnTo>
                  <a:lnTo>
                    <a:pt x="330962" y="65024"/>
                  </a:lnTo>
                  <a:lnTo>
                    <a:pt x="331724" y="67183"/>
                  </a:lnTo>
                  <a:lnTo>
                    <a:pt x="332359" y="69342"/>
                  </a:lnTo>
                  <a:lnTo>
                    <a:pt x="332740" y="71882"/>
                  </a:lnTo>
                  <a:lnTo>
                    <a:pt x="333502" y="74041"/>
                  </a:lnTo>
                  <a:lnTo>
                    <a:pt x="333883" y="75819"/>
                  </a:lnTo>
                  <a:lnTo>
                    <a:pt x="339979" y="88900"/>
                  </a:lnTo>
                  <a:lnTo>
                    <a:pt x="346075" y="95758"/>
                  </a:lnTo>
                  <a:lnTo>
                    <a:pt x="346075" y="18376"/>
                  </a:lnTo>
                  <a:lnTo>
                    <a:pt x="329780" y="7366"/>
                  </a:lnTo>
                  <a:lnTo>
                    <a:pt x="293370" y="0"/>
                  </a:lnTo>
                  <a:lnTo>
                    <a:pt x="257009" y="7366"/>
                  </a:lnTo>
                  <a:lnTo>
                    <a:pt x="227291" y="27419"/>
                  </a:lnTo>
                  <a:lnTo>
                    <a:pt x="207251" y="57175"/>
                  </a:lnTo>
                  <a:lnTo>
                    <a:pt x="199898" y="93599"/>
                  </a:lnTo>
                  <a:lnTo>
                    <a:pt x="207251" y="129959"/>
                  </a:lnTo>
                  <a:lnTo>
                    <a:pt x="227291" y="159677"/>
                  </a:lnTo>
                  <a:lnTo>
                    <a:pt x="257009" y="179717"/>
                  </a:lnTo>
                  <a:lnTo>
                    <a:pt x="293370" y="187071"/>
                  </a:lnTo>
                  <a:lnTo>
                    <a:pt x="329780" y="179717"/>
                  </a:lnTo>
                  <a:lnTo>
                    <a:pt x="359486" y="159677"/>
                  </a:lnTo>
                  <a:lnTo>
                    <a:pt x="362153" y="155702"/>
                  </a:lnTo>
                  <a:lnTo>
                    <a:pt x="376021" y="135128"/>
                  </a:lnTo>
                  <a:lnTo>
                    <a:pt x="379501" y="129959"/>
                  </a:lnTo>
                  <a:lnTo>
                    <a:pt x="386842" y="93599"/>
                  </a:lnTo>
                  <a:close/>
                </a:path>
                <a:path w="601979" h="3840479">
                  <a:moveTo>
                    <a:pt x="576072" y="3687318"/>
                  </a:moveTo>
                  <a:lnTo>
                    <a:pt x="568261" y="3638905"/>
                  </a:lnTo>
                  <a:lnTo>
                    <a:pt x="546506" y="3596868"/>
                  </a:lnTo>
                  <a:lnTo>
                    <a:pt x="513359" y="3563709"/>
                  </a:lnTo>
                  <a:lnTo>
                    <a:pt x="471309" y="3541966"/>
                  </a:lnTo>
                  <a:lnTo>
                    <a:pt x="422910" y="3534156"/>
                  </a:lnTo>
                  <a:lnTo>
                    <a:pt x="374497" y="3541966"/>
                  </a:lnTo>
                  <a:lnTo>
                    <a:pt x="332447" y="3563709"/>
                  </a:lnTo>
                  <a:lnTo>
                    <a:pt x="299300" y="3596868"/>
                  </a:lnTo>
                  <a:lnTo>
                    <a:pt x="277545" y="3638905"/>
                  </a:lnTo>
                  <a:lnTo>
                    <a:pt x="269748" y="3687318"/>
                  </a:lnTo>
                  <a:lnTo>
                    <a:pt x="277545" y="3735743"/>
                  </a:lnTo>
                  <a:lnTo>
                    <a:pt x="299300" y="3777780"/>
                  </a:lnTo>
                  <a:lnTo>
                    <a:pt x="332447" y="3810939"/>
                  </a:lnTo>
                  <a:lnTo>
                    <a:pt x="374497" y="3832682"/>
                  </a:lnTo>
                  <a:lnTo>
                    <a:pt x="422910" y="3840480"/>
                  </a:lnTo>
                  <a:lnTo>
                    <a:pt x="471309" y="3832682"/>
                  </a:lnTo>
                  <a:lnTo>
                    <a:pt x="513359" y="3810939"/>
                  </a:lnTo>
                  <a:lnTo>
                    <a:pt x="546506" y="3777780"/>
                  </a:lnTo>
                  <a:lnTo>
                    <a:pt x="568261" y="3735743"/>
                  </a:lnTo>
                  <a:lnTo>
                    <a:pt x="576072" y="3687318"/>
                  </a:lnTo>
                  <a:close/>
                </a:path>
                <a:path w="601979" h="3840479">
                  <a:moveTo>
                    <a:pt x="601980" y="288925"/>
                  </a:moveTo>
                  <a:lnTo>
                    <a:pt x="594614" y="252742"/>
                  </a:lnTo>
                  <a:lnTo>
                    <a:pt x="577329" y="227203"/>
                  </a:lnTo>
                  <a:lnTo>
                    <a:pt x="574573" y="223139"/>
                  </a:lnTo>
                  <a:lnTo>
                    <a:pt x="560336" y="213575"/>
                  </a:lnTo>
                  <a:lnTo>
                    <a:pt x="560336" y="273989"/>
                  </a:lnTo>
                  <a:lnTo>
                    <a:pt x="556336" y="290385"/>
                  </a:lnTo>
                  <a:lnTo>
                    <a:pt x="548551" y="304025"/>
                  </a:lnTo>
                  <a:lnTo>
                    <a:pt x="540639" y="313563"/>
                  </a:lnTo>
                  <a:lnTo>
                    <a:pt x="540639" y="342011"/>
                  </a:lnTo>
                  <a:lnTo>
                    <a:pt x="500849" y="351040"/>
                  </a:lnTo>
                  <a:lnTo>
                    <a:pt x="495935" y="351155"/>
                  </a:lnTo>
                  <a:lnTo>
                    <a:pt x="494030" y="351155"/>
                  </a:lnTo>
                  <a:lnTo>
                    <a:pt x="493014" y="350012"/>
                  </a:lnTo>
                  <a:lnTo>
                    <a:pt x="493014" y="330835"/>
                  </a:lnTo>
                  <a:lnTo>
                    <a:pt x="493014" y="329438"/>
                  </a:lnTo>
                  <a:lnTo>
                    <a:pt x="481838" y="330835"/>
                  </a:lnTo>
                  <a:lnTo>
                    <a:pt x="473075" y="329438"/>
                  </a:lnTo>
                  <a:lnTo>
                    <a:pt x="470916" y="328295"/>
                  </a:lnTo>
                  <a:lnTo>
                    <a:pt x="468122" y="326898"/>
                  </a:lnTo>
                  <a:lnTo>
                    <a:pt x="467741" y="322961"/>
                  </a:lnTo>
                  <a:lnTo>
                    <a:pt x="467360" y="316103"/>
                  </a:lnTo>
                  <a:lnTo>
                    <a:pt x="467360" y="315341"/>
                  </a:lnTo>
                  <a:lnTo>
                    <a:pt x="466979" y="311023"/>
                  </a:lnTo>
                  <a:lnTo>
                    <a:pt x="467372" y="304025"/>
                  </a:lnTo>
                  <a:lnTo>
                    <a:pt x="467741" y="300482"/>
                  </a:lnTo>
                  <a:lnTo>
                    <a:pt x="459486" y="300228"/>
                  </a:lnTo>
                  <a:lnTo>
                    <a:pt x="457200" y="295783"/>
                  </a:lnTo>
                  <a:lnTo>
                    <a:pt x="456946" y="294386"/>
                  </a:lnTo>
                  <a:lnTo>
                    <a:pt x="455803" y="291084"/>
                  </a:lnTo>
                  <a:lnTo>
                    <a:pt x="458724" y="287909"/>
                  </a:lnTo>
                  <a:lnTo>
                    <a:pt x="462280" y="284226"/>
                  </a:lnTo>
                  <a:lnTo>
                    <a:pt x="462661" y="283972"/>
                  </a:lnTo>
                  <a:lnTo>
                    <a:pt x="462661" y="283591"/>
                  </a:lnTo>
                  <a:lnTo>
                    <a:pt x="468503" y="269875"/>
                  </a:lnTo>
                  <a:lnTo>
                    <a:pt x="469138" y="267335"/>
                  </a:lnTo>
                  <a:lnTo>
                    <a:pt x="469519" y="264795"/>
                  </a:lnTo>
                  <a:lnTo>
                    <a:pt x="470281" y="263017"/>
                  </a:lnTo>
                  <a:lnTo>
                    <a:pt x="470916" y="260477"/>
                  </a:lnTo>
                  <a:lnTo>
                    <a:pt x="471678" y="253619"/>
                  </a:lnTo>
                  <a:lnTo>
                    <a:pt x="471678" y="250317"/>
                  </a:lnTo>
                  <a:lnTo>
                    <a:pt x="471678" y="249936"/>
                  </a:lnTo>
                  <a:lnTo>
                    <a:pt x="471297" y="249936"/>
                  </a:lnTo>
                  <a:lnTo>
                    <a:pt x="470662" y="250317"/>
                  </a:lnTo>
                  <a:lnTo>
                    <a:pt x="470281" y="250317"/>
                  </a:lnTo>
                  <a:lnTo>
                    <a:pt x="470281" y="249936"/>
                  </a:lnTo>
                  <a:lnTo>
                    <a:pt x="468757" y="243840"/>
                  </a:lnTo>
                  <a:lnTo>
                    <a:pt x="459740" y="234061"/>
                  </a:lnTo>
                  <a:lnTo>
                    <a:pt x="462661" y="234061"/>
                  </a:lnTo>
                  <a:lnTo>
                    <a:pt x="477634" y="233311"/>
                  </a:lnTo>
                  <a:lnTo>
                    <a:pt x="495020" y="228384"/>
                  </a:lnTo>
                  <a:lnTo>
                    <a:pt x="511429" y="227203"/>
                  </a:lnTo>
                  <a:lnTo>
                    <a:pt x="550697" y="245960"/>
                  </a:lnTo>
                  <a:lnTo>
                    <a:pt x="560336" y="273989"/>
                  </a:lnTo>
                  <a:lnTo>
                    <a:pt x="560336" y="213575"/>
                  </a:lnTo>
                  <a:lnTo>
                    <a:pt x="544855" y="203174"/>
                  </a:lnTo>
                  <a:lnTo>
                    <a:pt x="508508" y="195834"/>
                  </a:lnTo>
                  <a:lnTo>
                    <a:pt x="472147" y="203174"/>
                  </a:lnTo>
                  <a:lnTo>
                    <a:pt x="442429" y="223139"/>
                  </a:lnTo>
                  <a:lnTo>
                    <a:pt x="422389" y="252742"/>
                  </a:lnTo>
                  <a:lnTo>
                    <a:pt x="415036" y="288925"/>
                  </a:lnTo>
                  <a:lnTo>
                    <a:pt x="422389" y="325361"/>
                  </a:lnTo>
                  <a:lnTo>
                    <a:pt x="442429" y="355117"/>
                  </a:lnTo>
                  <a:lnTo>
                    <a:pt x="472147" y="375170"/>
                  </a:lnTo>
                  <a:lnTo>
                    <a:pt x="508508" y="382524"/>
                  </a:lnTo>
                  <a:lnTo>
                    <a:pt x="544855" y="375170"/>
                  </a:lnTo>
                  <a:lnTo>
                    <a:pt x="574573" y="355117"/>
                  </a:lnTo>
                  <a:lnTo>
                    <a:pt x="577240" y="351155"/>
                  </a:lnTo>
                  <a:lnTo>
                    <a:pt x="594614" y="325361"/>
                  </a:lnTo>
                  <a:lnTo>
                    <a:pt x="601980" y="288925"/>
                  </a:lnTo>
                  <a:close/>
                </a:path>
              </a:pathLst>
            </a:custGeom>
            <a:solidFill>
              <a:srgbClr val="29B974"/>
            </a:solidFill>
          </p:spPr>
          <p:txBody>
            <a:bodyPr wrap="square" lIns="0" tIns="0" rIns="0" bIns="0" rtlCol="0"/>
            <a:lstStyle/>
            <a:p>
              <a:endParaRPr/>
            </a:p>
          </p:txBody>
        </p:sp>
      </p:grpSp>
      <p:sp>
        <p:nvSpPr>
          <p:cNvPr id="30" name="object 30"/>
          <p:cNvSpPr txBox="1"/>
          <p:nvPr/>
        </p:nvSpPr>
        <p:spPr>
          <a:xfrm>
            <a:off x="617321" y="6536842"/>
            <a:ext cx="5512435" cy="177800"/>
          </a:xfrm>
          <a:prstGeom prst="rect">
            <a:avLst/>
          </a:prstGeom>
        </p:spPr>
        <p:txBody>
          <a:bodyPr vert="horz" wrap="square" lIns="0" tIns="12065" rIns="0" bIns="0" rtlCol="0">
            <a:spAutoFit/>
          </a:bodyPr>
          <a:lstStyle/>
          <a:p>
            <a:pPr marL="12700">
              <a:lnSpc>
                <a:spcPct val="100000"/>
              </a:lnSpc>
              <a:spcBef>
                <a:spcPts val="95"/>
              </a:spcBef>
            </a:pPr>
            <a:r>
              <a:rPr sz="1000">
                <a:solidFill>
                  <a:srgbClr val="7E7E7E"/>
                </a:solidFill>
                <a:latin typeface="Trebuchet MS"/>
                <a:cs typeface="Trebuchet MS"/>
              </a:rPr>
              <a:t>1.</a:t>
            </a:r>
            <a:r>
              <a:rPr sz="1000" spc="-60">
                <a:solidFill>
                  <a:srgbClr val="7E7E7E"/>
                </a:solidFill>
                <a:latin typeface="Trebuchet MS"/>
                <a:cs typeface="Trebuchet MS"/>
              </a:rPr>
              <a:t> </a:t>
            </a:r>
            <a:r>
              <a:rPr sz="1000">
                <a:solidFill>
                  <a:srgbClr val="7E7E7E"/>
                </a:solidFill>
                <a:latin typeface="Trebuchet MS"/>
                <a:cs typeface="Trebuchet MS"/>
              </a:rPr>
              <a:t>Include</a:t>
            </a:r>
            <a:r>
              <a:rPr sz="1000" spc="-5">
                <a:solidFill>
                  <a:srgbClr val="7E7E7E"/>
                </a:solidFill>
                <a:latin typeface="Trebuchet MS"/>
                <a:cs typeface="Trebuchet MS"/>
              </a:rPr>
              <a:t> </a:t>
            </a:r>
            <a:r>
              <a:rPr sz="1000">
                <a:solidFill>
                  <a:srgbClr val="7E7E7E"/>
                </a:solidFill>
                <a:latin typeface="Trebuchet MS"/>
                <a:cs typeface="Trebuchet MS"/>
              </a:rPr>
              <a:t>customers</a:t>
            </a:r>
            <a:r>
              <a:rPr sz="1000" spc="-40">
                <a:solidFill>
                  <a:srgbClr val="7E7E7E"/>
                </a:solidFill>
                <a:latin typeface="Trebuchet MS"/>
                <a:cs typeface="Trebuchet MS"/>
              </a:rPr>
              <a:t> </a:t>
            </a:r>
            <a:r>
              <a:rPr sz="1000">
                <a:solidFill>
                  <a:srgbClr val="7E7E7E"/>
                </a:solidFill>
                <a:latin typeface="Trebuchet MS"/>
                <a:cs typeface="Trebuchet MS"/>
              </a:rPr>
              <a:t>from</a:t>
            </a:r>
            <a:r>
              <a:rPr sz="1000" spc="-50">
                <a:solidFill>
                  <a:srgbClr val="7E7E7E"/>
                </a:solidFill>
                <a:latin typeface="Trebuchet MS"/>
                <a:cs typeface="Trebuchet MS"/>
              </a:rPr>
              <a:t> </a:t>
            </a:r>
            <a:r>
              <a:rPr sz="1000">
                <a:solidFill>
                  <a:srgbClr val="7E7E7E"/>
                </a:solidFill>
                <a:latin typeface="Trebuchet MS"/>
                <a:cs typeface="Trebuchet MS"/>
              </a:rPr>
              <a:t>top</a:t>
            </a:r>
            <a:r>
              <a:rPr sz="1000" spc="-45">
                <a:solidFill>
                  <a:srgbClr val="7E7E7E"/>
                </a:solidFill>
                <a:latin typeface="Trebuchet MS"/>
                <a:cs typeface="Trebuchet MS"/>
              </a:rPr>
              <a:t> </a:t>
            </a:r>
            <a:r>
              <a:rPr sz="1000">
                <a:solidFill>
                  <a:srgbClr val="7E7E7E"/>
                </a:solidFill>
                <a:latin typeface="Trebuchet MS"/>
                <a:cs typeface="Trebuchet MS"/>
              </a:rPr>
              <a:t>performing</a:t>
            </a:r>
            <a:r>
              <a:rPr sz="1000" spc="-20">
                <a:solidFill>
                  <a:srgbClr val="7E7E7E"/>
                </a:solidFill>
                <a:latin typeface="Trebuchet MS"/>
                <a:cs typeface="Trebuchet MS"/>
              </a:rPr>
              <a:t> </a:t>
            </a:r>
            <a:r>
              <a:rPr sz="1000">
                <a:solidFill>
                  <a:srgbClr val="7E7E7E"/>
                </a:solidFill>
                <a:latin typeface="Trebuchet MS"/>
                <a:cs typeface="Trebuchet MS"/>
              </a:rPr>
              <a:t>branches</a:t>
            </a:r>
            <a:r>
              <a:rPr sz="1000" spc="-20">
                <a:solidFill>
                  <a:srgbClr val="7E7E7E"/>
                </a:solidFill>
                <a:latin typeface="Trebuchet MS"/>
                <a:cs typeface="Trebuchet MS"/>
              </a:rPr>
              <a:t> </a:t>
            </a:r>
            <a:r>
              <a:rPr sz="1000">
                <a:solidFill>
                  <a:srgbClr val="7E7E7E"/>
                </a:solidFill>
                <a:latin typeface="Trebuchet MS"/>
                <a:cs typeface="Trebuchet MS"/>
              </a:rPr>
              <a:t>for</a:t>
            </a:r>
            <a:r>
              <a:rPr sz="1000" spc="-50">
                <a:solidFill>
                  <a:srgbClr val="7E7E7E"/>
                </a:solidFill>
                <a:latin typeface="Trebuchet MS"/>
                <a:cs typeface="Trebuchet MS"/>
              </a:rPr>
              <a:t> </a:t>
            </a:r>
            <a:r>
              <a:rPr sz="1000">
                <a:solidFill>
                  <a:srgbClr val="7E7E7E"/>
                </a:solidFill>
                <a:latin typeface="Trebuchet MS"/>
                <a:cs typeface="Trebuchet MS"/>
              </a:rPr>
              <a:t>pilot</a:t>
            </a:r>
            <a:r>
              <a:rPr sz="1000" spc="-30">
                <a:solidFill>
                  <a:srgbClr val="7E7E7E"/>
                </a:solidFill>
                <a:latin typeface="Trebuchet MS"/>
                <a:cs typeface="Trebuchet MS"/>
              </a:rPr>
              <a:t> </a:t>
            </a:r>
            <a:r>
              <a:rPr sz="1000">
                <a:solidFill>
                  <a:srgbClr val="7E7E7E"/>
                </a:solidFill>
                <a:latin typeface="Trebuchet MS"/>
                <a:cs typeface="Trebuchet MS"/>
              </a:rPr>
              <a:t>model</a:t>
            </a:r>
            <a:r>
              <a:rPr sz="1000" spc="-30">
                <a:solidFill>
                  <a:srgbClr val="7E7E7E"/>
                </a:solidFill>
                <a:latin typeface="Trebuchet MS"/>
                <a:cs typeface="Trebuchet MS"/>
              </a:rPr>
              <a:t> </a:t>
            </a:r>
            <a:r>
              <a:rPr sz="1000">
                <a:solidFill>
                  <a:srgbClr val="7E7E7E"/>
                </a:solidFill>
                <a:latin typeface="Trebuchet MS"/>
                <a:cs typeface="Trebuchet MS"/>
              </a:rPr>
              <a:t>build</a:t>
            </a:r>
            <a:r>
              <a:rPr sz="1000" spc="-20">
                <a:solidFill>
                  <a:srgbClr val="7E7E7E"/>
                </a:solidFill>
                <a:latin typeface="Trebuchet MS"/>
                <a:cs typeface="Trebuchet MS"/>
              </a:rPr>
              <a:t> </a:t>
            </a:r>
            <a:r>
              <a:rPr sz="1000">
                <a:solidFill>
                  <a:srgbClr val="7E7E7E"/>
                </a:solidFill>
                <a:latin typeface="Trebuchet MS"/>
                <a:cs typeface="Trebuchet MS"/>
              </a:rPr>
              <a:t>to</a:t>
            </a:r>
            <a:r>
              <a:rPr sz="1000" spc="-50">
                <a:solidFill>
                  <a:srgbClr val="7E7E7E"/>
                </a:solidFill>
                <a:latin typeface="Trebuchet MS"/>
                <a:cs typeface="Trebuchet MS"/>
              </a:rPr>
              <a:t> </a:t>
            </a:r>
            <a:r>
              <a:rPr sz="1000">
                <a:solidFill>
                  <a:srgbClr val="7E7E7E"/>
                </a:solidFill>
                <a:latin typeface="Trebuchet MS"/>
                <a:cs typeface="Trebuchet MS"/>
              </a:rPr>
              <a:t>reduce</a:t>
            </a:r>
            <a:r>
              <a:rPr sz="1000" spc="-5">
                <a:solidFill>
                  <a:srgbClr val="7E7E7E"/>
                </a:solidFill>
                <a:latin typeface="Trebuchet MS"/>
                <a:cs typeface="Trebuchet MS"/>
              </a:rPr>
              <a:t> </a:t>
            </a:r>
            <a:r>
              <a:rPr sz="1000">
                <a:solidFill>
                  <a:srgbClr val="7E7E7E"/>
                </a:solidFill>
                <a:latin typeface="Trebuchet MS"/>
                <a:cs typeface="Trebuchet MS"/>
              </a:rPr>
              <a:t>data</a:t>
            </a:r>
            <a:r>
              <a:rPr sz="1000" spc="-50">
                <a:solidFill>
                  <a:srgbClr val="7E7E7E"/>
                </a:solidFill>
                <a:latin typeface="Trebuchet MS"/>
                <a:cs typeface="Trebuchet MS"/>
              </a:rPr>
              <a:t> </a:t>
            </a:r>
            <a:r>
              <a:rPr sz="1000" spc="-10">
                <a:solidFill>
                  <a:srgbClr val="7E7E7E"/>
                </a:solidFill>
                <a:latin typeface="Trebuchet MS"/>
                <a:cs typeface="Trebuchet MS"/>
              </a:rPr>
              <a:t>volume</a:t>
            </a:r>
            <a:endParaRPr sz="1000">
              <a:latin typeface="Trebuchet MS"/>
              <a:cs typeface="Trebuchet MS"/>
            </a:endParaRPr>
          </a:p>
        </p:txBody>
      </p:sp>
      <p:sp>
        <p:nvSpPr>
          <p:cNvPr id="31" name="object 31"/>
          <p:cNvSpPr txBox="1"/>
          <p:nvPr/>
        </p:nvSpPr>
        <p:spPr>
          <a:xfrm>
            <a:off x="5707760" y="3388614"/>
            <a:ext cx="125730" cy="208279"/>
          </a:xfrm>
          <a:prstGeom prst="rect">
            <a:avLst/>
          </a:prstGeom>
        </p:spPr>
        <p:txBody>
          <a:bodyPr vert="horz" wrap="square" lIns="0" tIns="12700" rIns="0" bIns="0" rtlCol="0">
            <a:spAutoFit/>
          </a:bodyPr>
          <a:lstStyle/>
          <a:p>
            <a:pPr marL="12700">
              <a:lnSpc>
                <a:spcPct val="100000"/>
              </a:lnSpc>
              <a:spcBef>
                <a:spcPts val="100"/>
              </a:spcBef>
            </a:pPr>
            <a:r>
              <a:rPr sz="1200" spc="-50">
                <a:solidFill>
                  <a:srgbClr val="FFFFFF"/>
                </a:solidFill>
                <a:latin typeface="Trebuchet MS"/>
                <a:cs typeface="Trebuchet MS"/>
              </a:rPr>
              <a:t>H</a:t>
            </a:r>
            <a:endParaRPr sz="1200">
              <a:latin typeface="Trebuchet MS"/>
              <a:cs typeface="Trebuchet MS"/>
            </a:endParaRPr>
          </a:p>
        </p:txBody>
      </p:sp>
      <p:sp>
        <p:nvSpPr>
          <p:cNvPr id="32" name="object 32"/>
          <p:cNvSpPr txBox="1"/>
          <p:nvPr/>
        </p:nvSpPr>
        <p:spPr>
          <a:xfrm>
            <a:off x="8972168" y="6456679"/>
            <a:ext cx="125730" cy="208279"/>
          </a:xfrm>
          <a:prstGeom prst="rect">
            <a:avLst/>
          </a:prstGeom>
        </p:spPr>
        <p:txBody>
          <a:bodyPr vert="horz" wrap="square" lIns="0" tIns="12700" rIns="0" bIns="0" rtlCol="0">
            <a:spAutoFit/>
          </a:bodyPr>
          <a:lstStyle/>
          <a:p>
            <a:pPr marL="12700">
              <a:lnSpc>
                <a:spcPct val="100000"/>
              </a:lnSpc>
              <a:spcBef>
                <a:spcPts val="100"/>
              </a:spcBef>
            </a:pPr>
            <a:r>
              <a:rPr sz="1200" spc="-50">
                <a:solidFill>
                  <a:srgbClr val="FFFFFF"/>
                </a:solidFill>
                <a:latin typeface="Trebuchet MS"/>
                <a:cs typeface="Trebuchet MS"/>
              </a:rPr>
              <a:t>H</a:t>
            </a:r>
            <a:endParaRPr sz="1200">
              <a:latin typeface="Trebuchet MS"/>
              <a:cs typeface="Trebuchet MS"/>
            </a:endParaRPr>
          </a:p>
        </p:txBody>
      </p:sp>
      <p:sp>
        <p:nvSpPr>
          <p:cNvPr id="33" name="object 33"/>
          <p:cNvSpPr txBox="1"/>
          <p:nvPr/>
        </p:nvSpPr>
        <p:spPr>
          <a:xfrm>
            <a:off x="9233407" y="6397244"/>
            <a:ext cx="2329180" cy="330200"/>
          </a:xfrm>
          <a:prstGeom prst="rect">
            <a:avLst/>
          </a:prstGeom>
        </p:spPr>
        <p:txBody>
          <a:bodyPr vert="horz" wrap="square" lIns="0" tIns="12065" rIns="0" bIns="0" rtlCol="0">
            <a:spAutoFit/>
          </a:bodyPr>
          <a:lstStyle/>
          <a:p>
            <a:pPr marL="12700" marR="5080">
              <a:lnSpc>
                <a:spcPct val="100000"/>
              </a:lnSpc>
              <a:spcBef>
                <a:spcPts val="95"/>
              </a:spcBef>
            </a:pPr>
            <a:r>
              <a:rPr sz="1000">
                <a:solidFill>
                  <a:srgbClr val="565656"/>
                </a:solidFill>
                <a:latin typeface="Trebuchet MS"/>
                <a:cs typeface="Trebuchet MS"/>
              </a:rPr>
              <a:t>Detailed</a:t>
            </a:r>
            <a:r>
              <a:rPr sz="1000" spc="-25">
                <a:solidFill>
                  <a:srgbClr val="565656"/>
                </a:solidFill>
                <a:latin typeface="Trebuchet MS"/>
                <a:cs typeface="Trebuchet MS"/>
              </a:rPr>
              <a:t> </a:t>
            </a:r>
            <a:r>
              <a:rPr sz="1000">
                <a:solidFill>
                  <a:srgbClr val="565656"/>
                </a:solidFill>
                <a:latin typeface="Trebuchet MS"/>
                <a:cs typeface="Trebuchet MS"/>
              </a:rPr>
              <a:t>list</a:t>
            </a:r>
            <a:r>
              <a:rPr sz="1000" spc="-50">
                <a:solidFill>
                  <a:srgbClr val="565656"/>
                </a:solidFill>
                <a:latin typeface="Trebuchet MS"/>
                <a:cs typeface="Trebuchet MS"/>
              </a:rPr>
              <a:t> </a:t>
            </a:r>
            <a:r>
              <a:rPr sz="1000">
                <a:solidFill>
                  <a:srgbClr val="565656"/>
                </a:solidFill>
                <a:latin typeface="Trebuchet MS"/>
                <a:cs typeface="Trebuchet MS"/>
              </a:rPr>
              <a:t>of</a:t>
            </a:r>
            <a:r>
              <a:rPr sz="1000" spc="-50">
                <a:solidFill>
                  <a:srgbClr val="565656"/>
                </a:solidFill>
                <a:latin typeface="Trebuchet MS"/>
                <a:cs typeface="Trebuchet MS"/>
              </a:rPr>
              <a:t> </a:t>
            </a:r>
            <a:r>
              <a:rPr sz="1000">
                <a:solidFill>
                  <a:srgbClr val="565656"/>
                </a:solidFill>
                <a:latin typeface="Trebuchet MS"/>
                <a:cs typeface="Trebuchet MS"/>
              </a:rPr>
              <a:t>predictors/hypothesis</a:t>
            </a:r>
            <a:r>
              <a:rPr sz="1000" spc="420">
                <a:solidFill>
                  <a:srgbClr val="565656"/>
                </a:solidFill>
                <a:latin typeface="Trebuchet MS"/>
                <a:cs typeface="Trebuchet MS"/>
              </a:rPr>
              <a:t> </a:t>
            </a:r>
            <a:r>
              <a:rPr sz="1500" spc="-75" baseline="2777">
                <a:solidFill>
                  <a:srgbClr val="7E7E7E"/>
                </a:solidFill>
                <a:latin typeface="Trebuchet MS"/>
                <a:cs typeface="Trebuchet MS"/>
              </a:rPr>
              <a:t>7 </a:t>
            </a:r>
            <a:r>
              <a:rPr sz="1000">
                <a:solidFill>
                  <a:srgbClr val="565656"/>
                </a:solidFill>
                <a:latin typeface="Trebuchet MS"/>
                <a:cs typeface="Trebuchet MS"/>
              </a:rPr>
              <a:t>to</a:t>
            </a:r>
            <a:r>
              <a:rPr sz="1000" spc="-40">
                <a:solidFill>
                  <a:srgbClr val="565656"/>
                </a:solidFill>
                <a:latin typeface="Trebuchet MS"/>
                <a:cs typeface="Trebuchet MS"/>
              </a:rPr>
              <a:t> </a:t>
            </a:r>
            <a:r>
              <a:rPr sz="1000">
                <a:solidFill>
                  <a:srgbClr val="565656"/>
                </a:solidFill>
                <a:latin typeface="Trebuchet MS"/>
                <a:cs typeface="Trebuchet MS"/>
              </a:rPr>
              <a:t>be</a:t>
            </a:r>
            <a:r>
              <a:rPr sz="1000" spc="-25">
                <a:solidFill>
                  <a:srgbClr val="565656"/>
                </a:solidFill>
                <a:latin typeface="Trebuchet MS"/>
                <a:cs typeface="Trebuchet MS"/>
              </a:rPr>
              <a:t> </a:t>
            </a:r>
            <a:r>
              <a:rPr sz="1000">
                <a:solidFill>
                  <a:srgbClr val="565656"/>
                </a:solidFill>
                <a:latin typeface="Trebuchet MS"/>
                <a:cs typeface="Trebuchet MS"/>
              </a:rPr>
              <a:t>included</a:t>
            </a:r>
            <a:r>
              <a:rPr sz="1000" spc="10">
                <a:solidFill>
                  <a:srgbClr val="565656"/>
                </a:solidFill>
                <a:latin typeface="Trebuchet MS"/>
                <a:cs typeface="Trebuchet MS"/>
              </a:rPr>
              <a:t> </a:t>
            </a:r>
            <a:r>
              <a:rPr sz="1000">
                <a:solidFill>
                  <a:srgbClr val="565656"/>
                </a:solidFill>
                <a:latin typeface="Trebuchet MS"/>
                <a:cs typeface="Trebuchet MS"/>
              </a:rPr>
              <a:t>in</a:t>
            </a:r>
            <a:r>
              <a:rPr sz="1000" spc="-45">
                <a:solidFill>
                  <a:srgbClr val="565656"/>
                </a:solidFill>
                <a:latin typeface="Trebuchet MS"/>
                <a:cs typeface="Trebuchet MS"/>
              </a:rPr>
              <a:t> </a:t>
            </a:r>
            <a:r>
              <a:rPr sz="1000">
                <a:solidFill>
                  <a:srgbClr val="565656"/>
                </a:solidFill>
                <a:latin typeface="Trebuchet MS"/>
                <a:cs typeface="Trebuchet MS"/>
              </a:rPr>
              <a:t>the</a:t>
            </a:r>
            <a:r>
              <a:rPr sz="1000" spc="-25">
                <a:solidFill>
                  <a:srgbClr val="565656"/>
                </a:solidFill>
                <a:latin typeface="Trebuchet MS"/>
                <a:cs typeface="Trebuchet MS"/>
              </a:rPr>
              <a:t> </a:t>
            </a:r>
            <a:r>
              <a:rPr sz="1000" spc="-20">
                <a:solidFill>
                  <a:srgbClr val="565656"/>
                </a:solidFill>
                <a:latin typeface="Trebuchet MS"/>
                <a:cs typeface="Trebuchet MS"/>
              </a:rPr>
              <a:t>model</a:t>
            </a:r>
            <a:endParaRPr sz="1000">
              <a:latin typeface="Trebuchet MS"/>
              <a:cs typeface="Trebuchet MS"/>
            </a:endParaRPr>
          </a:p>
        </p:txBody>
      </p:sp>
      <p:sp>
        <p:nvSpPr>
          <p:cNvPr id="34" name="object 34"/>
          <p:cNvSpPr txBox="1">
            <a:spLocks noGrp="1"/>
          </p:cNvSpPr>
          <p:nvPr>
            <p:ph type="title"/>
          </p:nvPr>
        </p:nvSpPr>
        <p:spPr>
          <a:xfrm>
            <a:off x="617321" y="830402"/>
            <a:ext cx="10417810" cy="721360"/>
          </a:xfrm>
          <a:prstGeom prst="rect">
            <a:avLst/>
          </a:prstGeom>
        </p:spPr>
        <p:txBody>
          <a:bodyPr vert="horz" wrap="square" lIns="0" tIns="12700" rIns="0" bIns="0" rtlCol="0">
            <a:spAutoFit/>
          </a:bodyPr>
          <a:lstStyle/>
          <a:p>
            <a:pPr marL="12700">
              <a:lnSpc>
                <a:spcPts val="2735"/>
              </a:lnSpc>
              <a:spcBef>
                <a:spcPts val="100"/>
              </a:spcBef>
            </a:pPr>
            <a:r>
              <a:rPr sz="2400"/>
              <a:t>A1:</a:t>
            </a:r>
            <a:r>
              <a:rPr sz="2400" spc="-75"/>
              <a:t> </a:t>
            </a:r>
            <a:r>
              <a:rPr sz="2400"/>
              <a:t>Potential</a:t>
            </a:r>
            <a:r>
              <a:rPr sz="2400" spc="-55"/>
              <a:t> </a:t>
            </a:r>
            <a:r>
              <a:rPr sz="2400"/>
              <a:t>wealth</a:t>
            </a:r>
            <a:r>
              <a:rPr sz="2400" spc="-65"/>
              <a:t> </a:t>
            </a:r>
            <a:r>
              <a:rPr sz="2400"/>
              <a:t>customers</a:t>
            </a:r>
            <a:r>
              <a:rPr sz="2400" spc="-40"/>
              <a:t> </a:t>
            </a:r>
            <a:r>
              <a:rPr sz="2400"/>
              <a:t>-</a:t>
            </a:r>
            <a:r>
              <a:rPr sz="2400" spc="-65"/>
              <a:t> </a:t>
            </a:r>
            <a:r>
              <a:rPr sz="2400"/>
              <a:t>identify</a:t>
            </a:r>
            <a:r>
              <a:rPr sz="2400" spc="-50"/>
              <a:t> </a:t>
            </a:r>
            <a:r>
              <a:rPr sz="2400"/>
              <a:t>customers</a:t>
            </a:r>
            <a:r>
              <a:rPr sz="2400" spc="-55"/>
              <a:t> </a:t>
            </a:r>
            <a:r>
              <a:rPr sz="2400"/>
              <a:t>most</a:t>
            </a:r>
            <a:r>
              <a:rPr sz="2400" spc="-85"/>
              <a:t> </a:t>
            </a:r>
            <a:r>
              <a:rPr sz="2400"/>
              <a:t>likely</a:t>
            </a:r>
            <a:r>
              <a:rPr sz="2400" spc="-50"/>
              <a:t> </a:t>
            </a:r>
            <a:r>
              <a:rPr sz="2400"/>
              <a:t>to</a:t>
            </a:r>
            <a:r>
              <a:rPr sz="2400" spc="-70"/>
              <a:t> </a:t>
            </a:r>
            <a:r>
              <a:rPr sz="2400" spc="-10"/>
              <a:t>purchase</a:t>
            </a:r>
            <a:endParaRPr sz="2400"/>
          </a:p>
          <a:p>
            <a:pPr marL="12700">
              <a:lnSpc>
                <a:spcPts val="2735"/>
              </a:lnSpc>
            </a:pPr>
            <a:r>
              <a:rPr sz="2400"/>
              <a:t>wealth</a:t>
            </a:r>
            <a:r>
              <a:rPr sz="2400" spc="-85"/>
              <a:t> </a:t>
            </a:r>
            <a:r>
              <a:rPr sz="2400" spc="-10"/>
              <a:t>products</a:t>
            </a:r>
            <a:endParaRPr sz="2400"/>
          </a:p>
        </p:txBody>
      </p:sp>
      <p:grpSp>
        <p:nvGrpSpPr>
          <p:cNvPr id="35" name="object 35"/>
          <p:cNvGrpSpPr/>
          <p:nvPr/>
        </p:nvGrpSpPr>
        <p:grpSpPr>
          <a:xfrm>
            <a:off x="835152" y="5611850"/>
            <a:ext cx="626745" cy="640080"/>
            <a:chOff x="835152" y="5611850"/>
            <a:chExt cx="626745" cy="640080"/>
          </a:xfrm>
        </p:grpSpPr>
        <p:sp>
          <p:nvSpPr>
            <p:cNvPr id="36" name="object 36"/>
            <p:cNvSpPr/>
            <p:nvPr/>
          </p:nvSpPr>
          <p:spPr>
            <a:xfrm>
              <a:off x="908714" y="5611850"/>
              <a:ext cx="401955" cy="437515"/>
            </a:xfrm>
            <a:custGeom>
              <a:avLst/>
              <a:gdLst/>
              <a:ahLst/>
              <a:cxnLst/>
              <a:rect l="l" t="t" r="r" b="b"/>
              <a:pathLst>
                <a:path w="401955" h="437514">
                  <a:moveTo>
                    <a:pt x="206473" y="0"/>
                  </a:moveTo>
                  <a:lnTo>
                    <a:pt x="162207" y="3802"/>
                  </a:lnTo>
                  <a:lnTo>
                    <a:pt x="119209" y="17553"/>
                  </a:lnTo>
                  <a:lnTo>
                    <a:pt x="79154" y="41478"/>
                  </a:lnTo>
                  <a:lnTo>
                    <a:pt x="40321" y="81138"/>
                  </a:lnTo>
                  <a:lnTo>
                    <a:pt x="14232" y="127914"/>
                  </a:lnTo>
                  <a:lnTo>
                    <a:pt x="0" y="192291"/>
                  </a:lnTo>
                  <a:lnTo>
                    <a:pt x="2810" y="239142"/>
                  </a:lnTo>
                  <a:lnTo>
                    <a:pt x="16519" y="284786"/>
                  </a:lnTo>
                  <a:lnTo>
                    <a:pt x="41410" y="327342"/>
                  </a:lnTo>
                  <a:lnTo>
                    <a:pt x="75436" y="362304"/>
                  </a:lnTo>
                  <a:lnTo>
                    <a:pt x="115418" y="387397"/>
                  </a:lnTo>
                  <a:lnTo>
                    <a:pt x="159384" y="402359"/>
                  </a:lnTo>
                  <a:lnTo>
                    <a:pt x="205362" y="406928"/>
                  </a:lnTo>
                  <a:lnTo>
                    <a:pt x="251383" y="400839"/>
                  </a:lnTo>
                  <a:lnTo>
                    <a:pt x="295474" y="383832"/>
                  </a:lnTo>
                  <a:lnTo>
                    <a:pt x="336241" y="436905"/>
                  </a:lnTo>
                  <a:lnTo>
                    <a:pt x="392908" y="393306"/>
                  </a:lnTo>
                  <a:lnTo>
                    <a:pt x="352090" y="339471"/>
                  </a:lnTo>
                  <a:lnTo>
                    <a:pt x="370989" y="314767"/>
                  </a:lnTo>
                  <a:lnTo>
                    <a:pt x="385647" y="287718"/>
                  </a:lnTo>
                  <a:lnTo>
                    <a:pt x="395985" y="258964"/>
                  </a:lnTo>
                  <a:lnTo>
                    <a:pt x="401925" y="229146"/>
                  </a:lnTo>
                  <a:lnTo>
                    <a:pt x="373223" y="247713"/>
                  </a:lnTo>
                  <a:lnTo>
                    <a:pt x="365821" y="270336"/>
                  </a:lnTo>
                  <a:lnTo>
                    <a:pt x="355457" y="291887"/>
                  </a:lnTo>
                  <a:lnTo>
                    <a:pt x="326042" y="330365"/>
                  </a:lnTo>
                  <a:lnTo>
                    <a:pt x="293200" y="356146"/>
                  </a:lnTo>
                  <a:lnTo>
                    <a:pt x="253515" y="373975"/>
                  </a:lnTo>
                  <a:lnTo>
                    <a:pt x="211636" y="381379"/>
                  </a:lnTo>
                  <a:lnTo>
                    <a:pt x="169524" y="378610"/>
                  </a:lnTo>
                  <a:lnTo>
                    <a:pt x="129143" y="365922"/>
                  </a:lnTo>
                  <a:lnTo>
                    <a:pt x="92451" y="343566"/>
                  </a:lnTo>
                  <a:lnTo>
                    <a:pt x="61413" y="311797"/>
                  </a:lnTo>
                  <a:lnTo>
                    <a:pt x="41414" y="278817"/>
                  </a:lnTo>
                  <a:lnTo>
                    <a:pt x="25049" y="206604"/>
                  </a:lnTo>
                  <a:lnTo>
                    <a:pt x="28189" y="170002"/>
                  </a:lnTo>
                  <a:lnTo>
                    <a:pt x="42929" y="125338"/>
                  </a:lnTo>
                  <a:lnTo>
                    <a:pt x="73766" y="80711"/>
                  </a:lnTo>
                  <a:lnTo>
                    <a:pt x="135606" y="38169"/>
                  </a:lnTo>
                  <a:lnTo>
                    <a:pt x="179912" y="26519"/>
                  </a:lnTo>
                  <a:lnTo>
                    <a:pt x="225160" y="26687"/>
                  </a:lnTo>
                  <a:lnTo>
                    <a:pt x="268961" y="38355"/>
                  </a:lnTo>
                  <a:lnTo>
                    <a:pt x="308922" y="61209"/>
                  </a:lnTo>
                  <a:lnTo>
                    <a:pt x="342654" y="94932"/>
                  </a:lnTo>
                  <a:lnTo>
                    <a:pt x="366782" y="138530"/>
                  </a:lnTo>
                  <a:lnTo>
                    <a:pt x="378176" y="185547"/>
                  </a:lnTo>
                  <a:lnTo>
                    <a:pt x="401163" y="170383"/>
                  </a:lnTo>
                  <a:lnTo>
                    <a:pt x="387828" y="123366"/>
                  </a:lnTo>
                  <a:lnTo>
                    <a:pt x="362682" y="79768"/>
                  </a:lnTo>
                  <a:lnTo>
                    <a:pt x="330111" y="46030"/>
                  </a:lnTo>
                  <a:lnTo>
                    <a:pt x="292101" y="21339"/>
                  </a:lnTo>
                  <a:lnTo>
                    <a:pt x="250330" y="5920"/>
                  </a:lnTo>
                  <a:lnTo>
                    <a:pt x="206473" y="0"/>
                  </a:lnTo>
                  <a:close/>
                </a:path>
              </a:pathLst>
            </a:custGeom>
            <a:solidFill>
              <a:srgbClr val="29B974"/>
            </a:solidFill>
          </p:spPr>
          <p:txBody>
            <a:bodyPr wrap="square" lIns="0" tIns="0" rIns="0" bIns="0" rtlCol="0"/>
            <a:lstStyle/>
            <a:p>
              <a:endParaRPr/>
            </a:p>
          </p:txBody>
        </p:sp>
        <p:sp>
          <p:nvSpPr>
            <p:cNvPr id="37" name="object 37"/>
            <p:cNvSpPr/>
            <p:nvPr/>
          </p:nvSpPr>
          <p:spPr>
            <a:xfrm>
              <a:off x="835152" y="5654039"/>
              <a:ext cx="626745" cy="597535"/>
            </a:xfrm>
            <a:custGeom>
              <a:avLst/>
              <a:gdLst/>
              <a:ahLst/>
              <a:cxnLst/>
              <a:rect l="l" t="t" r="r" b="b"/>
              <a:pathLst>
                <a:path w="626744" h="597535">
                  <a:moveTo>
                    <a:pt x="487679" y="357098"/>
                  </a:moveTo>
                  <a:lnTo>
                    <a:pt x="485394" y="357098"/>
                  </a:lnTo>
                  <a:lnTo>
                    <a:pt x="483869" y="357479"/>
                  </a:lnTo>
                  <a:lnTo>
                    <a:pt x="482726" y="357860"/>
                  </a:lnTo>
                  <a:lnTo>
                    <a:pt x="481584" y="358609"/>
                  </a:lnTo>
                  <a:lnTo>
                    <a:pt x="417988" y="407340"/>
                  </a:lnTo>
                  <a:lnTo>
                    <a:pt x="415467" y="409244"/>
                  </a:lnTo>
                  <a:lnTo>
                    <a:pt x="414337" y="410756"/>
                  </a:lnTo>
                  <a:lnTo>
                    <a:pt x="413956" y="412648"/>
                  </a:lnTo>
                  <a:lnTo>
                    <a:pt x="413194" y="414909"/>
                  </a:lnTo>
                  <a:lnTo>
                    <a:pt x="413575" y="417550"/>
                  </a:lnTo>
                  <a:lnTo>
                    <a:pt x="415467" y="419823"/>
                  </a:lnTo>
                  <a:lnTo>
                    <a:pt x="543941" y="588721"/>
                  </a:lnTo>
                  <a:lnTo>
                    <a:pt x="548132" y="594385"/>
                  </a:lnTo>
                  <a:lnTo>
                    <a:pt x="555244" y="597408"/>
                  </a:lnTo>
                  <a:lnTo>
                    <a:pt x="565911" y="597408"/>
                  </a:lnTo>
                  <a:lnTo>
                    <a:pt x="601091" y="582676"/>
                  </a:lnTo>
                  <a:lnTo>
                    <a:pt x="602371" y="581444"/>
                  </a:lnTo>
                  <a:lnTo>
                    <a:pt x="562736" y="581444"/>
                  </a:lnTo>
                  <a:lnTo>
                    <a:pt x="558545" y="580682"/>
                  </a:lnTo>
                  <a:lnTo>
                    <a:pt x="557022" y="579170"/>
                  </a:lnTo>
                  <a:lnTo>
                    <a:pt x="433349" y="416217"/>
                  </a:lnTo>
                  <a:lnTo>
                    <a:pt x="484631" y="377266"/>
                  </a:lnTo>
                  <a:lnTo>
                    <a:pt x="506295" y="377266"/>
                  </a:lnTo>
                  <a:lnTo>
                    <a:pt x="493267" y="360121"/>
                  </a:lnTo>
                  <a:lnTo>
                    <a:pt x="491870" y="358609"/>
                  </a:lnTo>
                  <a:lnTo>
                    <a:pt x="489966" y="357479"/>
                  </a:lnTo>
                  <a:lnTo>
                    <a:pt x="487679" y="357098"/>
                  </a:lnTo>
                  <a:close/>
                </a:path>
                <a:path w="626744" h="597535">
                  <a:moveTo>
                    <a:pt x="506295" y="377266"/>
                  </a:moveTo>
                  <a:lnTo>
                    <a:pt x="484631" y="377266"/>
                  </a:lnTo>
                  <a:lnTo>
                    <a:pt x="608329" y="539851"/>
                  </a:lnTo>
                  <a:lnTo>
                    <a:pt x="608976" y="544627"/>
                  </a:lnTo>
                  <a:lnTo>
                    <a:pt x="583057" y="575398"/>
                  </a:lnTo>
                  <a:lnTo>
                    <a:pt x="562736" y="581444"/>
                  </a:lnTo>
                  <a:lnTo>
                    <a:pt x="602371" y="581444"/>
                  </a:lnTo>
                  <a:lnTo>
                    <a:pt x="615207" y="569095"/>
                  </a:lnTo>
                  <a:lnTo>
                    <a:pt x="623824" y="554807"/>
                  </a:lnTo>
                  <a:lnTo>
                    <a:pt x="626344" y="541226"/>
                  </a:lnTo>
                  <a:lnTo>
                    <a:pt x="622172" y="529767"/>
                  </a:lnTo>
                  <a:lnTo>
                    <a:pt x="506295" y="377266"/>
                  </a:lnTo>
                  <a:close/>
                </a:path>
                <a:path w="626744" h="597535">
                  <a:moveTo>
                    <a:pt x="327240" y="137287"/>
                  </a:moveTo>
                  <a:lnTo>
                    <a:pt x="305549" y="137287"/>
                  </a:lnTo>
                  <a:lnTo>
                    <a:pt x="350900" y="193484"/>
                  </a:lnTo>
                  <a:lnTo>
                    <a:pt x="345986" y="199898"/>
                  </a:lnTo>
                  <a:lnTo>
                    <a:pt x="343036" y="207632"/>
                  </a:lnTo>
                  <a:lnTo>
                    <a:pt x="343027" y="217195"/>
                  </a:lnTo>
                  <a:lnTo>
                    <a:pt x="345893" y="231520"/>
                  </a:lnTo>
                  <a:lnTo>
                    <a:pt x="353926" y="243514"/>
                  </a:lnTo>
                  <a:lnTo>
                    <a:pt x="365927" y="251619"/>
                  </a:lnTo>
                  <a:lnTo>
                    <a:pt x="380758" y="254596"/>
                  </a:lnTo>
                  <a:lnTo>
                    <a:pt x="393992" y="252133"/>
                  </a:lnTo>
                  <a:lnTo>
                    <a:pt x="405239" y="245354"/>
                  </a:lnTo>
                  <a:lnTo>
                    <a:pt x="410701" y="238633"/>
                  </a:lnTo>
                  <a:lnTo>
                    <a:pt x="380631" y="238633"/>
                  </a:lnTo>
                  <a:lnTo>
                    <a:pt x="372376" y="236951"/>
                  </a:lnTo>
                  <a:lnTo>
                    <a:pt x="365644" y="232362"/>
                  </a:lnTo>
                  <a:lnTo>
                    <a:pt x="361109" y="225549"/>
                  </a:lnTo>
                  <a:lnTo>
                    <a:pt x="359448" y="217195"/>
                  </a:lnTo>
                  <a:lnTo>
                    <a:pt x="359448" y="213372"/>
                  </a:lnTo>
                  <a:lnTo>
                    <a:pt x="360210" y="209931"/>
                  </a:lnTo>
                  <a:lnTo>
                    <a:pt x="361783" y="207124"/>
                  </a:lnTo>
                  <a:lnTo>
                    <a:pt x="364363" y="201891"/>
                  </a:lnTo>
                  <a:lnTo>
                    <a:pt x="369290" y="198069"/>
                  </a:lnTo>
                  <a:lnTo>
                    <a:pt x="374586" y="196545"/>
                  </a:lnTo>
                  <a:lnTo>
                    <a:pt x="378371" y="195770"/>
                  </a:lnTo>
                  <a:lnTo>
                    <a:pt x="428949" y="195770"/>
                  </a:lnTo>
                  <a:lnTo>
                    <a:pt x="432549" y="193484"/>
                  </a:lnTo>
                  <a:lnTo>
                    <a:pt x="437764" y="190093"/>
                  </a:lnTo>
                  <a:lnTo>
                    <a:pt x="407225" y="190093"/>
                  </a:lnTo>
                  <a:lnTo>
                    <a:pt x="402691" y="185572"/>
                  </a:lnTo>
                  <a:lnTo>
                    <a:pt x="398285" y="182930"/>
                  </a:lnTo>
                  <a:lnTo>
                    <a:pt x="364134" y="182930"/>
                  </a:lnTo>
                  <a:lnTo>
                    <a:pt x="327240" y="137287"/>
                  </a:lnTo>
                  <a:close/>
                </a:path>
                <a:path w="626744" h="597535">
                  <a:moveTo>
                    <a:pt x="118833" y="121818"/>
                  </a:moveTo>
                  <a:lnTo>
                    <a:pt x="115811" y="136156"/>
                  </a:lnTo>
                  <a:lnTo>
                    <a:pt x="115061" y="143319"/>
                  </a:lnTo>
                  <a:lnTo>
                    <a:pt x="150583" y="185191"/>
                  </a:lnTo>
                  <a:lnTo>
                    <a:pt x="146050" y="191223"/>
                  </a:lnTo>
                  <a:lnTo>
                    <a:pt x="143889" y="198069"/>
                  </a:lnTo>
                  <a:lnTo>
                    <a:pt x="143901" y="207251"/>
                  </a:lnTo>
                  <a:lnTo>
                    <a:pt x="146717" y="221335"/>
                  </a:lnTo>
                  <a:lnTo>
                    <a:pt x="154747" y="233329"/>
                  </a:lnTo>
                  <a:lnTo>
                    <a:pt x="166747" y="241434"/>
                  </a:lnTo>
                  <a:lnTo>
                    <a:pt x="181584" y="244411"/>
                  </a:lnTo>
                  <a:lnTo>
                    <a:pt x="196136" y="241434"/>
                  </a:lnTo>
                  <a:lnTo>
                    <a:pt x="207892" y="233329"/>
                  </a:lnTo>
                  <a:lnTo>
                    <a:pt x="211025" y="228549"/>
                  </a:lnTo>
                  <a:lnTo>
                    <a:pt x="181597" y="228549"/>
                  </a:lnTo>
                  <a:lnTo>
                    <a:pt x="173336" y="226867"/>
                  </a:lnTo>
                  <a:lnTo>
                    <a:pt x="166604" y="222280"/>
                  </a:lnTo>
                  <a:lnTo>
                    <a:pt x="162073" y="215470"/>
                  </a:lnTo>
                  <a:lnTo>
                    <a:pt x="160438" y="207251"/>
                  </a:lnTo>
                  <a:lnTo>
                    <a:pt x="160415" y="204050"/>
                  </a:lnTo>
                  <a:lnTo>
                    <a:pt x="160781" y="201383"/>
                  </a:lnTo>
                  <a:lnTo>
                    <a:pt x="164185" y="193344"/>
                  </a:lnTo>
                  <a:lnTo>
                    <a:pt x="168351" y="189141"/>
                  </a:lnTo>
                  <a:lnTo>
                    <a:pt x="174028" y="187223"/>
                  </a:lnTo>
                  <a:lnTo>
                    <a:pt x="176301" y="186080"/>
                  </a:lnTo>
                  <a:lnTo>
                    <a:pt x="178561" y="185686"/>
                  </a:lnTo>
                  <a:lnTo>
                    <a:pt x="216219" y="185686"/>
                  </a:lnTo>
                  <a:lnTo>
                    <a:pt x="226100" y="175755"/>
                  </a:lnTo>
                  <a:lnTo>
                    <a:pt x="202742" y="175755"/>
                  </a:lnTo>
                  <a:lnTo>
                    <a:pt x="200229" y="173875"/>
                  </a:lnTo>
                  <a:lnTo>
                    <a:pt x="162686" y="173875"/>
                  </a:lnTo>
                  <a:lnTo>
                    <a:pt x="118833" y="121818"/>
                  </a:lnTo>
                  <a:close/>
                </a:path>
                <a:path w="626744" h="597535">
                  <a:moveTo>
                    <a:pt x="428949" y="195770"/>
                  </a:moveTo>
                  <a:lnTo>
                    <a:pt x="384797" y="195770"/>
                  </a:lnTo>
                  <a:lnTo>
                    <a:pt x="388962" y="196926"/>
                  </a:lnTo>
                  <a:lnTo>
                    <a:pt x="392366" y="199224"/>
                  </a:lnTo>
                  <a:lnTo>
                    <a:pt x="396900" y="202666"/>
                  </a:lnTo>
                  <a:lnTo>
                    <a:pt x="400303" y="207632"/>
                  </a:lnTo>
                  <a:lnTo>
                    <a:pt x="401375" y="213372"/>
                  </a:lnTo>
                  <a:lnTo>
                    <a:pt x="401447" y="217195"/>
                  </a:lnTo>
                  <a:lnTo>
                    <a:pt x="399791" y="225549"/>
                  </a:lnTo>
                  <a:lnTo>
                    <a:pt x="395297" y="232362"/>
                  </a:lnTo>
                  <a:lnTo>
                    <a:pt x="388673" y="236951"/>
                  </a:lnTo>
                  <a:lnTo>
                    <a:pt x="380631" y="238633"/>
                  </a:lnTo>
                  <a:lnTo>
                    <a:pt x="410701" y="238633"/>
                  </a:lnTo>
                  <a:lnTo>
                    <a:pt x="413507" y="235180"/>
                  </a:lnTo>
                  <a:lnTo>
                    <a:pt x="417804" y="222529"/>
                  </a:lnTo>
                  <a:lnTo>
                    <a:pt x="418185" y="220649"/>
                  </a:lnTo>
                  <a:lnTo>
                    <a:pt x="418185" y="212344"/>
                  </a:lnTo>
                  <a:lnTo>
                    <a:pt x="417423" y="207822"/>
                  </a:lnTo>
                  <a:lnTo>
                    <a:pt x="415912" y="204050"/>
                  </a:lnTo>
                  <a:lnTo>
                    <a:pt x="428949" y="195770"/>
                  </a:lnTo>
                  <a:close/>
                </a:path>
                <a:path w="626744" h="597535">
                  <a:moveTo>
                    <a:pt x="216219" y="185686"/>
                  </a:moveTo>
                  <a:lnTo>
                    <a:pt x="184619" y="185686"/>
                  </a:lnTo>
                  <a:lnTo>
                    <a:pt x="188023" y="186461"/>
                  </a:lnTo>
                  <a:lnTo>
                    <a:pt x="190677" y="187985"/>
                  </a:lnTo>
                  <a:lnTo>
                    <a:pt x="202374" y="207251"/>
                  </a:lnTo>
                  <a:lnTo>
                    <a:pt x="200744" y="215470"/>
                  </a:lnTo>
                  <a:lnTo>
                    <a:pt x="196251" y="222280"/>
                  </a:lnTo>
                  <a:lnTo>
                    <a:pt x="189632" y="226867"/>
                  </a:lnTo>
                  <a:lnTo>
                    <a:pt x="181597" y="228549"/>
                  </a:lnTo>
                  <a:lnTo>
                    <a:pt x="211025" y="228549"/>
                  </a:lnTo>
                  <a:lnTo>
                    <a:pt x="215753" y="221335"/>
                  </a:lnTo>
                  <a:lnTo>
                    <a:pt x="218508" y="207251"/>
                  </a:lnTo>
                  <a:lnTo>
                    <a:pt x="218617" y="199898"/>
                  </a:lnTo>
                  <a:lnTo>
                    <a:pt x="216725" y="193484"/>
                  </a:lnTo>
                  <a:lnTo>
                    <a:pt x="214083" y="187833"/>
                  </a:lnTo>
                  <a:lnTo>
                    <a:pt x="216219" y="185686"/>
                  </a:lnTo>
                  <a:close/>
                </a:path>
                <a:path w="626744" h="597535">
                  <a:moveTo>
                    <a:pt x="544829" y="76568"/>
                  </a:moveTo>
                  <a:lnTo>
                    <a:pt x="510413" y="104101"/>
                  </a:lnTo>
                  <a:lnTo>
                    <a:pt x="509650" y="109004"/>
                  </a:lnTo>
                  <a:lnTo>
                    <a:pt x="509656" y="115811"/>
                  </a:lnTo>
                  <a:lnTo>
                    <a:pt x="510413" y="119557"/>
                  </a:lnTo>
                  <a:lnTo>
                    <a:pt x="511556" y="122961"/>
                  </a:lnTo>
                  <a:lnTo>
                    <a:pt x="477138" y="145211"/>
                  </a:lnTo>
                  <a:lnTo>
                    <a:pt x="453010" y="160426"/>
                  </a:lnTo>
                  <a:lnTo>
                    <a:pt x="407225" y="190093"/>
                  </a:lnTo>
                  <a:lnTo>
                    <a:pt x="437764" y="190093"/>
                  </a:lnTo>
                  <a:lnTo>
                    <a:pt x="477107" y="164704"/>
                  </a:lnTo>
                  <a:lnTo>
                    <a:pt x="520572" y="136906"/>
                  </a:lnTo>
                  <a:lnTo>
                    <a:pt x="569226" y="136906"/>
                  </a:lnTo>
                  <a:lnTo>
                    <a:pt x="569991" y="136394"/>
                  </a:lnTo>
                  <a:lnTo>
                    <a:pt x="574191" y="130238"/>
                  </a:lnTo>
                  <a:lnTo>
                    <a:pt x="541019" y="130238"/>
                  </a:lnTo>
                  <a:lnTo>
                    <a:pt x="537591" y="129476"/>
                  </a:lnTo>
                  <a:lnTo>
                    <a:pt x="534923" y="127596"/>
                  </a:lnTo>
                  <a:lnTo>
                    <a:pt x="529970" y="124955"/>
                  </a:lnTo>
                  <a:lnTo>
                    <a:pt x="526541" y="119672"/>
                  </a:lnTo>
                  <a:lnTo>
                    <a:pt x="525779" y="113639"/>
                  </a:lnTo>
                  <a:lnTo>
                    <a:pt x="525800" y="111645"/>
                  </a:lnTo>
                  <a:lnTo>
                    <a:pt x="527250" y="104563"/>
                  </a:lnTo>
                  <a:lnTo>
                    <a:pt x="531256" y="98688"/>
                  </a:lnTo>
                  <a:lnTo>
                    <a:pt x="537192" y="94723"/>
                  </a:lnTo>
                  <a:lnTo>
                    <a:pt x="544448" y="93268"/>
                  </a:lnTo>
                  <a:lnTo>
                    <a:pt x="574341" y="93268"/>
                  </a:lnTo>
                  <a:lnTo>
                    <a:pt x="569991" y="86891"/>
                  </a:lnTo>
                  <a:lnTo>
                    <a:pt x="558690" y="79343"/>
                  </a:lnTo>
                  <a:lnTo>
                    <a:pt x="544829" y="76568"/>
                  </a:lnTo>
                  <a:close/>
                </a:path>
                <a:path w="626744" h="597535">
                  <a:moveTo>
                    <a:pt x="384162" y="179158"/>
                  </a:moveTo>
                  <a:lnTo>
                    <a:pt x="374713" y="179158"/>
                  </a:lnTo>
                  <a:lnTo>
                    <a:pt x="369049" y="180670"/>
                  </a:lnTo>
                  <a:lnTo>
                    <a:pt x="364134" y="182930"/>
                  </a:lnTo>
                  <a:lnTo>
                    <a:pt x="398285" y="182930"/>
                  </a:lnTo>
                  <a:lnTo>
                    <a:pt x="397014" y="182168"/>
                  </a:lnTo>
                  <a:lnTo>
                    <a:pt x="390969" y="180670"/>
                  </a:lnTo>
                  <a:lnTo>
                    <a:pt x="387565" y="179527"/>
                  </a:lnTo>
                  <a:lnTo>
                    <a:pt x="384162" y="179158"/>
                  </a:lnTo>
                  <a:close/>
                </a:path>
                <a:path w="626744" h="597535">
                  <a:moveTo>
                    <a:pt x="288163" y="66382"/>
                  </a:moveTo>
                  <a:lnTo>
                    <a:pt x="273326" y="69358"/>
                  </a:lnTo>
                  <a:lnTo>
                    <a:pt x="261326" y="77460"/>
                  </a:lnTo>
                  <a:lnTo>
                    <a:pt x="253296" y="89453"/>
                  </a:lnTo>
                  <a:lnTo>
                    <a:pt x="250367" y="104101"/>
                  </a:lnTo>
                  <a:lnTo>
                    <a:pt x="250367" y="110883"/>
                  </a:lnTo>
                  <a:lnTo>
                    <a:pt x="252260" y="117297"/>
                  </a:lnTo>
                  <a:lnTo>
                    <a:pt x="255282" y="122961"/>
                  </a:lnTo>
                  <a:lnTo>
                    <a:pt x="202742" y="175755"/>
                  </a:lnTo>
                  <a:lnTo>
                    <a:pt x="226100" y="175755"/>
                  </a:lnTo>
                  <a:lnTo>
                    <a:pt x="266623" y="135026"/>
                  </a:lnTo>
                  <a:lnTo>
                    <a:pt x="325413" y="135026"/>
                  </a:lnTo>
                  <a:lnTo>
                    <a:pt x="318401" y="126352"/>
                  </a:lnTo>
                  <a:lnTo>
                    <a:pt x="319270" y="125196"/>
                  </a:lnTo>
                  <a:lnTo>
                    <a:pt x="284848" y="125196"/>
                  </a:lnTo>
                  <a:lnTo>
                    <a:pt x="267068" y="106438"/>
                  </a:lnTo>
                  <a:lnTo>
                    <a:pt x="267086" y="104101"/>
                  </a:lnTo>
                  <a:lnTo>
                    <a:pt x="268729" y="96000"/>
                  </a:lnTo>
                  <a:lnTo>
                    <a:pt x="273264" y="89325"/>
                  </a:lnTo>
                  <a:lnTo>
                    <a:pt x="279996" y="84831"/>
                  </a:lnTo>
                  <a:lnTo>
                    <a:pt x="288251" y="83185"/>
                  </a:lnTo>
                  <a:lnTo>
                    <a:pt x="318479" y="83185"/>
                  </a:lnTo>
                  <a:lnTo>
                    <a:pt x="314666" y="77460"/>
                  </a:lnTo>
                  <a:lnTo>
                    <a:pt x="302779" y="69358"/>
                  </a:lnTo>
                  <a:lnTo>
                    <a:pt x="288163" y="66382"/>
                  </a:lnTo>
                  <a:close/>
                </a:path>
                <a:path w="626744" h="597535">
                  <a:moveTo>
                    <a:pt x="189522" y="168973"/>
                  </a:moveTo>
                  <a:lnTo>
                    <a:pt x="174777" y="168973"/>
                  </a:lnTo>
                  <a:lnTo>
                    <a:pt x="168351" y="170853"/>
                  </a:lnTo>
                  <a:lnTo>
                    <a:pt x="162686" y="173875"/>
                  </a:lnTo>
                  <a:lnTo>
                    <a:pt x="200229" y="173875"/>
                  </a:lnTo>
                  <a:lnTo>
                    <a:pt x="196697" y="171234"/>
                  </a:lnTo>
                  <a:lnTo>
                    <a:pt x="189522" y="168973"/>
                  </a:lnTo>
                  <a:close/>
                </a:path>
                <a:path w="626744" h="597535">
                  <a:moveTo>
                    <a:pt x="569226" y="136906"/>
                  </a:moveTo>
                  <a:lnTo>
                    <a:pt x="520572" y="136906"/>
                  </a:lnTo>
                  <a:lnTo>
                    <a:pt x="525144" y="141439"/>
                  </a:lnTo>
                  <a:lnTo>
                    <a:pt x="530860" y="144449"/>
                  </a:lnTo>
                  <a:lnTo>
                    <a:pt x="537210" y="145961"/>
                  </a:lnTo>
                  <a:lnTo>
                    <a:pt x="539876" y="146723"/>
                  </a:lnTo>
                  <a:lnTo>
                    <a:pt x="544829" y="146723"/>
                  </a:lnTo>
                  <a:lnTo>
                    <a:pt x="558690" y="143946"/>
                  </a:lnTo>
                  <a:lnTo>
                    <a:pt x="569226" y="136906"/>
                  </a:lnTo>
                  <a:close/>
                </a:path>
                <a:path w="626744" h="597535">
                  <a:moveTo>
                    <a:pt x="325413" y="135026"/>
                  </a:moveTo>
                  <a:lnTo>
                    <a:pt x="266623" y="135026"/>
                  </a:lnTo>
                  <a:lnTo>
                    <a:pt x="272669" y="139179"/>
                  </a:lnTo>
                  <a:lnTo>
                    <a:pt x="280225" y="141820"/>
                  </a:lnTo>
                  <a:lnTo>
                    <a:pt x="294208" y="141820"/>
                  </a:lnTo>
                  <a:lnTo>
                    <a:pt x="300253" y="139928"/>
                  </a:lnTo>
                  <a:lnTo>
                    <a:pt x="305549" y="137287"/>
                  </a:lnTo>
                  <a:lnTo>
                    <a:pt x="327240" y="137287"/>
                  </a:lnTo>
                  <a:lnTo>
                    <a:pt x="325413" y="135026"/>
                  </a:lnTo>
                  <a:close/>
                </a:path>
                <a:path w="626744" h="597535">
                  <a:moveTo>
                    <a:pt x="574341" y="93268"/>
                  </a:moveTo>
                  <a:lnTo>
                    <a:pt x="544448" y="93268"/>
                  </a:lnTo>
                  <a:lnTo>
                    <a:pt x="551765" y="94723"/>
                  </a:lnTo>
                  <a:lnTo>
                    <a:pt x="557831" y="98688"/>
                  </a:lnTo>
                  <a:lnTo>
                    <a:pt x="561969" y="104563"/>
                  </a:lnTo>
                  <a:lnTo>
                    <a:pt x="563498" y="111747"/>
                  </a:lnTo>
                  <a:lnTo>
                    <a:pt x="561969" y="118933"/>
                  </a:lnTo>
                  <a:lnTo>
                    <a:pt x="557831" y="124812"/>
                  </a:lnTo>
                  <a:lnTo>
                    <a:pt x="551765" y="128781"/>
                  </a:lnTo>
                  <a:lnTo>
                    <a:pt x="544448" y="130238"/>
                  </a:lnTo>
                  <a:lnTo>
                    <a:pt x="574191" y="130238"/>
                  </a:lnTo>
                  <a:lnTo>
                    <a:pt x="577601" y="125238"/>
                  </a:lnTo>
                  <a:lnTo>
                    <a:pt x="580389" y="111645"/>
                  </a:lnTo>
                  <a:lnTo>
                    <a:pt x="577601" y="98047"/>
                  </a:lnTo>
                  <a:lnTo>
                    <a:pt x="574341" y="93268"/>
                  </a:lnTo>
                  <a:close/>
                </a:path>
                <a:path w="626744" h="597535">
                  <a:moveTo>
                    <a:pt x="318479" y="83185"/>
                  </a:moveTo>
                  <a:lnTo>
                    <a:pt x="288251" y="83185"/>
                  </a:lnTo>
                  <a:lnTo>
                    <a:pt x="296292" y="84831"/>
                  </a:lnTo>
                  <a:lnTo>
                    <a:pt x="302910" y="89325"/>
                  </a:lnTo>
                  <a:lnTo>
                    <a:pt x="307400" y="96000"/>
                  </a:lnTo>
                  <a:lnTo>
                    <a:pt x="309036" y="104101"/>
                  </a:lnTo>
                  <a:lnTo>
                    <a:pt x="309054" y="107188"/>
                  </a:lnTo>
                  <a:lnTo>
                    <a:pt x="308686" y="110185"/>
                  </a:lnTo>
                  <a:lnTo>
                    <a:pt x="307162" y="112814"/>
                  </a:lnTo>
                  <a:lnTo>
                    <a:pt x="304901" y="118071"/>
                  </a:lnTo>
                  <a:lnTo>
                    <a:pt x="300354" y="121818"/>
                  </a:lnTo>
                  <a:lnTo>
                    <a:pt x="295059" y="123698"/>
                  </a:lnTo>
                  <a:lnTo>
                    <a:pt x="290525" y="125196"/>
                  </a:lnTo>
                  <a:lnTo>
                    <a:pt x="319270" y="125196"/>
                  </a:lnTo>
                  <a:lnTo>
                    <a:pt x="322935" y="120319"/>
                  </a:lnTo>
                  <a:lnTo>
                    <a:pt x="325577" y="112395"/>
                  </a:lnTo>
                  <a:lnTo>
                    <a:pt x="325577" y="104101"/>
                  </a:lnTo>
                  <a:lnTo>
                    <a:pt x="322654" y="89453"/>
                  </a:lnTo>
                  <a:lnTo>
                    <a:pt x="318479" y="83185"/>
                  </a:lnTo>
                  <a:close/>
                </a:path>
                <a:path w="626744" h="597535">
                  <a:moveTo>
                    <a:pt x="68944" y="63131"/>
                  </a:moveTo>
                  <a:lnTo>
                    <a:pt x="47243" y="63131"/>
                  </a:lnTo>
                  <a:lnTo>
                    <a:pt x="68783" y="89065"/>
                  </a:lnTo>
                  <a:lnTo>
                    <a:pt x="71056" y="83058"/>
                  </a:lnTo>
                  <a:lnTo>
                    <a:pt x="73317" y="76657"/>
                  </a:lnTo>
                  <a:lnTo>
                    <a:pt x="75590" y="71031"/>
                  </a:lnTo>
                  <a:lnTo>
                    <a:pt x="68944" y="63131"/>
                  </a:lnTo>
                  <a:close/>
                </a:path>
                <a:path w="626744" h="597535">
                  <a:moveTo>
                    <a:pt x="32880" y="0"/>
                  </a:moveTo>
                  <a:lnTo>
                    <a:pt x="20091" y="2577"/>
                  </a:lnTo>
                  <a:lnTo>
                    <a:pt x="9639" y="9629"/>
                  </a:lnTo>
                  <a:lnTo>
                    <a:pt x="2587" y="20134"/>
                  </a:lnTo>
                  <a:lnTo>
                    <a:pt x="0" y="33070"/>
                  </a:lnTo>
                  <a:lnTo>
                    <a:pt x="2587" y="46066"/>
                  </a:lnTo>
                  <a:lnTo>
                    <a:pt x="9639" y="56702"/>
                  </a:lnTo>
                  <a:lnTo>
                    <a:pt x="20091" y="63885"/>
                  </a:lnTo>
                  <a:lnTo>
                    <a:pt x="32880" y="66522"/>
                  </a:lnTo>
                  <a:lnTo>
                    <a:pt x="38176" y="66522"/>
                  </a:lnTo>
                  <a:lnTo>
                    <a:pt x="43078" y="65392"/>
                  </a:lnTo>
                  <a:lnTo>
                    <a:pt x="47243" y="63131"/>
                  </a:lnTo>
                  <a:lnTo>
                    <a:pt x="68944" y="63131"/>
                  </a:lnTo>
                  <a:lnTo>
                    <a:pt x="60096" y="52616"/>
                  </a:lnTo>
                  <a:lnTo>
                    <a:pt x="62006" y="49568"/>
                  </a:lnTo>
                  <a:lnTo>
                    <a:pt x="23952" y="49568"/>
                  </a:lnTo>
                  <a:lnTo>
                    <a:pt x="16802" y="41757"/>
                  </a:lnTo>
                  <a:lnTo>
                    <a:pt x="16802" y="23876"/>
                  </a:lnTo>
                  <a:lnTo>
                    <a:pt x="23952" y="16802"/>
                  </a:lnTo>
                  <a:lnTo>
                    <a:pt x="61216" y="16802"/>
                  </a:lnTo>
                  <a:lnTo>
                    <a:pt x="56311" y="9629"/>
                  </a:lnTo>
                  <a:lnTo>
                    <a:pt x="45728" y="2577"/>
                  </a:lnTo>
                  <a:lnTo>
                    <a:pt x="32880" y="0"/>
                  </a:lnTo>
                  <a:close/>
                </a:path>
                <a:path w="626744" h="597535">
                  <a:moveTo>
                    <a:pt x="61216" y="16802"/>
                  </a:moveTo>
                  <a:lnTo>
                    <a:pt x="42024" y="16802"/>
                  </a:lnTo>
                  <a:lnTo>
                    <a:pt x="49555" y="23876"/>
                  </a:lnTo>
                  <a:lnTo>
                    <a:pt x="49555" y="34683"/>
                  </a:lnTo>
                  <a:lnTo>
                    <a:pt x="49174" y="36537"/>
                  </a:lnTo>
                  <a:lnTo>
                    <a:pt x="48425" y="38404"/>
                  </a:lnTo>
                  <a:lnTo>
                    <a:pt x="46532" y="43611"/>
                  </a:lnTo>
                  <a:lnTo>
                    <a:pt x="41643" y="48082"/>
                  </a:lnTo>
                  <a:lnTo>
                    <a:pt x="35991" y="49199"/>
                  </a:lnTo>
                  <a:lnTo>
                    <a:pt x="34861" y="49199"/>
                  </a:lnTo>
                  <a:lnTo>
                    <a:pt x="34112" y="49568"/>
                  </a:lnTo>
                  <a:lnTo>
                    <a:pt x="62006" y="49568"/>
                  </a:lnTo>
                  <a:lnTo>
                    <a:pt x="63868" y="46596"/>
                  </a:lnTo>
                  <a:lnTo>
                    <a:pt x="66141" y="40208"/>
                  </a:lnTo>
                  <a:lnTo>
                    <a:pt x="66141" y="33070"/>
                  </a:lnTo>
                  <a:lnTo>
                    <a:pt x="63494" y="20134"/>
                  </a:lnTo>
                  <a:lnTo>
                    <a:pt x="61216" y="16802"/>
                  </a:lnTo>
                  <a:close/>
                </a:path>
              </a:pathLst>
            </a:custGeom>
            <a:solidFill>
              <a:srgbClr val="03522C"/>
            </a:solidFill>
          </p:spPr>
          <p:txBody>
            <a:bodyPr wrap="square" lIns="0" tIns="0" rIns="0" bIns="0" rtlCol="0"/>
            <a:lstStyle/>
            <a:p>
              <a:endParaRPr/>
            </a:p>
          </p:txBody>
        </p:sp>
      </p:grpSp>
      <p:grpSp>
        <p:nvGrpSpPr>
          <p:cNvPr id="38" name="object 38"/>
          <p:cNvGrpSpPr/>
          <p:nvPr/>
        </p:nvGrpSpPr>
        <p:grpSpPr>
          <a:xfrm>
            <a:off x="4742307" y="2639567"/>
            <a:ext cx="817880" cy="3586479"/>
            <a:chOff x="4742307" y="2639567"/>
            <a:chExt cx="817880" cy="3586479"/>
          </a:xfrm>
        </p:grpSpPr>
        <p:sp>
          <p:nvSpPr>
            <p:cNvPr id="39" name="object 39"/>
            <p:cNvSpPr/>
            <p:nvPr/>
          </p:nvSpPr>
          <p:spPr>
            <a:xfrm>
              <a:off x="4742307" y="5640323"/>
              <a:ext cx="817880" cy="585470"/>
            </a:xfrm>
            <a:custGeom>
              <a:avLst/>
              <a:gdLst/>
              <a:ahLst/>
              <a:cxnLst/>
              <a:rect l="l" t="t" r="r" b="b"/>
              <a:pathLst>
                <a:path w="817879" h="585470">
                  <a:moveTo>
                    <a:pt x="815046" y="491820"/>
                  </a:moveTo>
                  <a:lnTo>
                    <a:pt x="797178" y="491820"/>
                  </a:lnTo>
                  <a:lnTo>
                    <a:pt x="787145" y="524217"/>
                  </a:lnTo>
                  <a:lnTo>
                    <a:pt x="434975" y="524217"/>
                  </a:lnTo>
                  <a:lnTo>
                    <a:pt x="434975" y="541578"/>
                  </a:lnTo>
                  <a:lnTo>
                    <a:pt x="796797" y="541578"/>
                  </a:lnTo>
                  <a:lnTo>
                    <a:pt x="800226" y="539267"/>
                  </a:lnTo>
                  <a:lnTo>
                    <a:pt x="801369" y="535406"/>
                  </a:lnTo>
                  <a:lnTo>
                    <a:pt x="815046" y="491820"/>
                  </a:lnTo>
                  <a:close/>
                </a:path>
                <a:path w="817879" h="585470">
                  <a:moveTo>
                    <a:pt x="811402" y="474840"/>
                  </a:moveTo>
                  <a:lnTo>
                    <a:pt x="516000" y="474840"/>
                  </a:lnTo>
                  <a:lnTo>
                    <a:pt x="512063" y="478701"/>
                  </a:lnTo>
                  <a:lnTo>
                    <a:pt x="512063" y="489508"/>
                  </a:lnTo>
                  <a:lnTo>
                    <a:pt x="434975" y="489508"/>
                  </a:lnTo>
                  <a:lnTo>
                    <a:pt x="434975" y="506475"/>
                  </a:lnTo>
                  <a:lnTo>
                    <a:pt x="525144" y="506475"/>
                  </a:lnTo>
                  <a:lnTo>
                    <a:pt x="529081" y="502615"/>
                  </a:lnTo>
                  <a:lnTo>
                    <a:pt x="529081" y="491820"/>
                  </a:lnTo>
                  <a:lnTo>
                    <a:pt x="815046" y="491820"/>
                  </a:lnTo>
                  <a:lnTo>
                    <a:pt x="816863" y="486028"/>
                  </a:lnTo>
                  <a:lnTo>
                    <a:pt x="817626" y="483336"/>
                  </a:lnTo>
                  <a:lnTo>
                    <a:pt x="817244" y="480631"/>
                  </a:lnTo>
                  <a:lnTo>
                    <a:pt x="815720" y="478320"/>
                  </a:lnTo>
                  <a:lnTo>
                    <a:pt x="813815" y="476389"/>
                  </a:lnTo>
                  <a:lnTo>
                    <a:pt x="811402" y="474840"/>
                  </a:lnTo>
                  <a:close/>
                </a:path>
                <a:path w="817879" h="585470">
                  <a:moveTo>
                    <a:pt x="301497" y="474840"/>
                  </a:moveTo>
                  <a:lnTo>
                    <a:pt x="6222" y="474840"/>
                  </a:lnTo>
                  <a:lnTo>
                    <a:pt x="3809" y="476389"/>
                  </a:lnTo>
                  <a:lnTo>
                    <a:pt x="1904" y="478320"/>
                  </a:lnTo>
                  <a:lnTo>
                    <a:pt x="380" y="480631"/>
                  </a:lnTo>
                  <a:lnTo>
                    <a:pt x="0" y="483336"/>
                  </a:lnTo>
                  <a:lnTo>
                    <a:pt x="762" y="486028"/>
                  </a:lnTo>
                  <a:lnTo>
                    <a:pt x="15888" y="534635"/>
                  </a:lnTo>
                  <a:lnTo>
                    <a:pt x="17398" y="539267"/>
                  </a:lnTo>
                  <a:lnTo>
                    <a:pt x="20827" y="541578"/>
                  </a:lnTo>
                  <a:lnTo>
                    <a:pt x="383539" y="541578"/>
                  </a:lnTo>
                  <a:lnTo>
                    <a:pt x="383539" y="524217"/>
                  </a:lnTo>
                  <a:lnTo>
                    <a:pt x="30479" y="524217"/>
                  </a:lnTo>
                  <a:lnTo>
                    <a:pt x="20446" y="491820"/>
                  </a:lnTo>
                  <a:lnTo>
                    <a:pt x="383539" y="491820"/>
                  </a:lnTo>
                  <a:lnTo>
                    <a:pt x="383539" y="489508"/>
                  </a:lnTo>
                  <a:lnTo>
                    <a:pt x="305307" y="489508"/>
                  </a:lnTo>
                  <a:lnTo>
                    <a:pt x="305307" y="478701"/>
                  </a:lnTo>
                  <a:lnTo>
                    <a:pt x="301497" y="474840"/>
                  </a:lnTo>
                  <a:close/>
                </a:path>
                <a:path w="817879" h="585470">
                  <a:moveTo>
                    <a:pt x="383539" y="491820"/>
                  </a:moveTo>
                  <a:lnTo>
                    <a:pt x="288289" y="491820"/>
                  </a:lnTo>
                  <a:lnTo>
                    <a:pt x="288289" y="502615"/>
                  </a:lnTo>
                  <a:lnTo>
                    <a:pt x="292226" y="506475"/>
                  </a:lnTo>
                  <a:lnTo>
                    <a:pt x="383539" y="506475"/>
                  </a:lnTo>
                  <a:lnTo>
                    <a:pt x="383539" y="491820"/>
                  </a:lnTo>
                  <a:close/>
                </a:path>
                <a:path w="817879" h="585470">
                  <a:moveTo>
                    <a:pt x="759840" y="43637"/>
                  </a:moveTo>
                  <a:lnTo>
                    <a:pt x="436498" y="43637"/>
                  </a:lnTo>
                  <a:lnTo>
                    <a:pt x="436498" y="60553"/>
                  </a:lnTo>
                  <a:lnTo>
                    <a:pt x="746759" y="60553"/>
                  </a:lnTo>
                  <a:lnTo>
                    <a:pt x="745235" y="440816"/>
                  </a:lnTo>
                  <a:lnTo>
                    <a:pt x="434975" y="440816"/>
                  </a:lnTo>
                  <a:lnTo>
                    <a:pt x="434975" y="457733"/>
                  </a:lnTo>
                  <a:lnTo>
                    <a:pt x="758316" y="457733"/>
                  </a:lnTo>
                  <a:lnTo>
                    <a:pt x="762126" y="453885"/>
                  </a:lnTo>
                  <a:lnTo>
                    <a:pt x="762159" y="440816"/>
                  </a:lnTo>
                  <a:lnTo>
                    <a:pt x="763618" y="60553"/>
                  </a:lnTo>
                  <a:lnTo>
                    <a:pt x="763651" y="47485"/>
                  </a:lnTo>
                  <a:lnTo>
                    <a:pt x="759840" y="43637"/>
                  </a:lnTo>
                  <a:close/>
                </a:path>
                <a:path w="817879" h="585470">
                  <a:moveTo>
                    <a:pt x="385317" y="43637"/>
                  </a:moveTo>
                  <a:lnTo>
                    <a:pt x="61087" y="43637"/>
                  </a:lnTo>
                  <a:lnTo>
                    <a:pt x="57150" y="47485"/>
                  </a:lnTo>
                  <a:lnTo>
                    <a:pt x="57117" y="60553"/>
                  </a:lnTo>
                  <a:lnTo>
                    <a:pt x="55658" y="440816"/>
                  </a:lnTo>
                  <a:lnTo>
                    <a:pt x="55625" y="453885"/>
                  </a:lnTo>
                  <a:lnTo>
                    <a:pt x="59435" y="457733"/>
                  </a:lnTo>
                  <a:lnTo>
                    <a:pt x="383666" y="457733"/>
                  </a:lnTo>
                  <a:lnTo>
                    <a:pt x="383666" y="440816"/>
                  </a:lnTo>
                  <a:lnTo>
                    <a:pt x="72643" y="440816"/>
                  </a:lnTo>
                  <a:lnTo>
                    <a:pt x="74167" y="60553"/>
                  </a:lnTo>
                  <a:lnTo>
                    <a:pt x="385317" y="60553"/>
                  </a:lnTo>
                  <a:lnTo>
                    <a:pt x="385317" y="43637"/>
                  </a:lnTo>
                  <a:close/>
                </a:path>
                <a:path w="817879" h="585470">
                  <a:moveTo>
                    <a:pt x="414019" y="0"/>
                  </a:moveTo>
                  <a:lnTo>
                    <a:pt x="405002" y="0"/>
                  </a:lnTo>
                  <a:lnTo>
                    <a:pt x="401573" y="3848"/>
                  </a:lnTo>
                  <a:lnTo>
                    <a:pt x="401573" y="581367"/>
                  </a:lnTo>
                  <a:lnTo>
                    <a:pt x="405002" y="585216"/>
                  </a:lnTo>
                  <a:lnTo>
                    <a:pt x="414019" y="585216"/>
                  </a:lnTo>
                  <a:lnTo>
                    <a:pt x="417829" y="581367"/>
                  </a:lnTo>
                  <a:lnTo>
                    <a:pt x="417829" y="3848"/>
                  </a:lnTo>
                  <a:lnTo>
                    <a:pt x="414019" y="0"/>
                  </a:lnTo>
                  <a:close/>
                </a:path>
              </a:pathLst>
            </a:custGeom>
            <a:solidFill>
              <a:srgbClr val="03522C"/>
            </a:solidFill>
          </p:spPr>
          <p:txBody>
            <a:bodyPr wrap="square" lIns="0" tIns="0" rIns="0" bIns="0" rtlCol="0"/>
            <a:lstStyle/>
            <a:p>
              <a:endParaRPr/>
            </a:p>
          </p:txBody>
        </p:sp>
        <p:sp>
          <p:nvSpPr>
            <p:cNvPr id="40" name="object 40"/>
            <p:cNvSpPr/>
            <p:nvPr/>
          </p:nvSpPr>
          <p:spPr>
            <a:xfrm>
              <a:off x="4831080" y="2639567"/>
              <a:ext cx="674370" cy="3424554"/>
            </a:xfrm>
            <a:custGeom>
              <a:avLst/>
              <a:gdLst/>
              <a:ahLst/>
              <a:cxnLst/>
              <a:rect l="l" t="t" r="r" b="b"/>
              <a:pathLst>
                <a:path w="674370" h="3424554">
                  <a:moveTo>
                    <a:pt x="174752" y="3278441"/>
                  </a:moveTo>
                  <a:lnTo>
                    <a:pt x="149987" y="3200743"/>
                  </a:lnTo>
                  <a:lnTo>
                    <a:pt x="122555" y="3278441"/>
                  </a:lnTo>
                  <a:lnTo>
                    <a:pt x="174752" y="3278441"/>
                  </a:lnTo>
                  <a:close/>
                </a:path>
                <a:path w="674370" h="3424554">
                  <a:moveTo>
                    <a:pt x="228092" y="263144"/>
                  </a:moveTo>
                  <a:lnTo>
                    <a:pt x="222758" y="236753"/>
                  </a:lnTo>
                  <a:lnTo>
                    <a:pt x="208229" y="215188"/>
                  </a:lnTo>
                  <a:lnTo>
                    <a:pt x="186664" y="200660"/>
                  </a:lnTo>
                  <a:lnTo>
                    <a:pt x="160274" y="195326"/>
                  </a:lnTo>
                  <a:lnTo>
                    <a:pt x="134112" y="200660"/>
                  </a:lnTo>
                  <a:lnTo>
                    <a:pt x="112712" y="215188"/>
                  </a:lnTo>
                  <a:lnTo>
                    <a:pt x="98259" y="236753"/>
                  </a:lnTo>
                  <a:lnTo>
                    <a:pt x="92964" y="263144"/>
                  </a:lnTo>
                  <a:lnTo>
                    <a:pt x="98259" y="289407"/>
                  </a:lnTo>
                  <a:lnTo>
                    <a:pt x="112712" y="310883"/>
                  </a:lnTo>
                  <a:lnTo>
                    <a:pt x="134112" y="325386"/>
                  </a:lnTo>
                  <a:lnTo>
                    <a:pt x="160274" y="330708"/>
                  </a:lnTo>
                  <a:lnTo>
                    <a:pt x="186664" y="325386"/>
                  </a:lnTo>
                  <a:lnTo>
                    <a:pt x="208229" y="310883"/>
                  </a:lnTo>
                  <a:lnTo>
                    <a:pt x="222758" y="289407"/>
                  </a:lnTo>
                  <a:lnTo>
                    <a:pt x="228092" y="263144"/>
                  </a:lnTo>
                  <a:close/>
                </a:path>
                <a:path w="674370" h="3424554">
                  <a:moveTo>
                    <a:pt x="296418" y="3076956"/>
                  </a:moveTo>
                  <a:lnTo>
                    <a:pt x="221107" y="3076956"/>
                  </a:lnTo>
                  <a:lnTo>
                    <a:pt x="221107" y="3333077"/>
                  </a:lnTo>
                  <a:lnTo>
                    <a:pt x="194056" y="3333077"/>
                  </a:lnTo>
                  <a:lnTo>
                    <a:pt x="181737" y="3295853"/>
                  </a:lnTo>
                  <a:lnTo>
                    <a:pt x="116332" y="3295853"/>
                  </a:lnTo>
                  <a:lnTo>
                    <a:pt x="103251" y="3333077"/>
                  </a:lnTo>
                  <a:lnTo>
                    <a:pt x="76200" y="3333077"/>
                  </a:lnTo>
                  <a:lnTo>
                    <a:pt x="147955" y="3154642"/>
                  </a:lnTo>
                  <a:lnTo>
                    <a:pt x="154432" y="3154642"/>
                  </a:lnTo>
                  <a:lnTo>
                    <a:pt x="221107" y="3333077"/>
                  </a:lnTo>
                  <a:lnTo>
                    <a:pt x="221107" y="3076956"/>
                  </a:lnTo>
                  <a:lnTo>
                    <a:pt x="3048" y="3076956"/>
                  </a:lnTo>
                  <a:lnTo>
                    <a:pt x="1524" y="3078492"/>
                  </a:lnTo>
                  <a:lnTo>
                    <a:pt x="0" y="3422891"/>
                  </a:lnTo>
                  <a:lnTo>
                    <a:pt x="1524" y="3424428"/>
                  </a:lnTo>
                  <a:lnTo>
                    <a:pt x="294894" y="3424428"/>
                  </a:lnTo>
                  <a:lnTo>
                    <a:pt x="295287" y="3333077"/>
                  </a:lnTo>
                  <a:lnTo>
                    <a:pt x="296075" y="3154642"/>
                  </a:lnTo>
                  <a:lnTo>
                    <a:pt x="296418" y="3076956"/>
                  </a:lnTo>
                  <a:close/>
                </a:path>
                <a:path w="674370" h="3424554">
                  <a:moveTo>
                    <a:pt x="518414" y="3199866"/>
                  </a:moveTo>
                  <a:lnTo>
                    <a:pt x="516432" y="3188995"/>
                  </a:lnTo>
                  <a:lnTo>
                    <a:pt x="510540" y="3181273"/>
                  </a:lnTo>
                  <a:lnTo>
                    <a:pt x="500722" y="3176676"/>
                  </a:lnTo>
                  <a:lnTo>
                    <a:pt x="487045" y="3175139"/>
                  </a:lnTo>
                  <a:lnTo>
                    <a:pt x="478790" y="3175139"/>
                  </a:lnTo>
                  <a:lnTo>
                    <a:pt x="465328" y="3175901"/>
                  </a:lnTo>
                  <a:lnTo>
                    <a:pt x="465328" y="3227298"/>
                  </a:lnTo>
                  <a:lnTo>
                    <a:pt x="470281" y="3227679"/>
                  </a:lnTo>
                  <a:lnTo>
                    <a:pt x="476885" y="3228060"/>
                  </a:lnTo>
                  <a:lnTo>
                    <a:pt x="484251" y="3228060"/>
                  </a:lnTo>
                  <a:lnTo>
                    <a:pt x="499071" y="3226320"/>
                  </a:lnTo>
                  <a:lnTo>
                    <a:pt x="509752" y="3221063"/>
                  </a:lnTo>
                  <a:lnTo>
                    <a:pt x="516229" y="3212261"/>
                  </a:lnTo>
                  <a:lnTo>
                    <a:pt x="518414" y="3199866"/>
                  </a:lnTo>
                  <a:close/>
                </a:path>
                <a:path w="674370" h="3424554">
                  <a:moveTo>
                    <a:pt x="527812" y="3278568"/>
                  </a:moveTo>
                  <a:lnTo>
                    <a:pt x="504863" y="3247161"/>
                  </a:lnTo>
                  <a:lnTo>
                    <a:pt x="485013" y="3245142"/>
                  </a:lnTo>
                  <a:lnTo>
                    <a:pt x="465328" y="3245904"/>
                  </a:lnTo>
                  <a:lnTo>
                    <a:pt x="465328" y="3313138"/>
                  </a:lnTo>
                  <a:lnTo>
                    <a:pt x="473710" y="3313912"/>
                  </a:lnTo>
                  <a:lnTo>
                    <a:pt x="479933" y="3314293"/>
                  </a:lnTo>
                  <a:lnTo>
                    <a:pt x="484632" y="3314293"/>
                  </a:lnTo>
                  <a:lnTo>
                    <a:pt x="522287" y="3300946"/>
                  </a:lnTo>
                  <a:lnTo>
                    <a:pt x="527812" y="3278568"/>
                  </a:lnTo>
                  <a:close/>
                </a:path>
                <a:path w="674370" h="3424554">
                  <a:moveTo>
                    <a:pt x="640080" y="3078492"/>
                  </a:moveTo>
                  <a:lnTo>
                    <a:pt x="638556" y="3076956"/>
                  </a:lnTo>
                  <a:lnTo>
                    <a:pt x="553593" y="3076956"/>
                  </a:lnTo>
                  <a:lnTo>
                    <a:pt x="553593" y="3282061"/>
                  </a:lnTo>
                  <a:lnTo>
                    <a:pt x="552488" y="3293224"/>
                  </a:lnTo>
                  <a:lnTo>
                    <a:pt x="527164" y="3325317"/>
                  </a:lnTo>
                  <a:lnTo>
                    <a:pt x="491617" y="3333077"/>
                  </a:lnTo>
                  <a:lnTo>
                    <a:pt x="441325" y="3333077"/>
                  </a:lnTo>
                  <a:lnTo>
                    <a:pt x="441325" y="3157029"/>
                  </a:lnTo>
                  <a:lnTo>
                    <a:pt x="456272" y="3156318"/>
                  </a:lnTo>
                  <a:lnTo>
                    <a:pt x="468985" y="3155848"/>
                  </a:lnTo>
                  <a:lnTo>
                    <a:pt x="479488" y="3155594"/>
                  </a:lnTo>
                  <a:lnTo>
                    <a:pt x="489216" y="3155594"/>
                  </a:lnTo>
                  <a:lnTo>
                    <a:pt x="528193" y="3166618"/>
                  </a:lnTo>
                  <a:lnTo>
                    <a:pt x="542798" y="3206889"/>
                  </a:lnTo>
                  <a:lnTo>
                    <a:pt x="533527" y="3221088"/>
                  </a:lnTo>
                  <a:lnTo>
                    <a:pt x="527431" y="3227984"/>
                  </a:lnTo>
                  <a:lnTo>
                    <a:pt x="520446" y="3232200"/>
                  </a:lnTo>
                  <a:lnTo>
                    <a:pt x="513207" y="3233737"/>
                  </a:lnTo>
                  <a:lnTo>
                    <a:pt x="523074" y="3236709"/>
                  </a:lnTo>
                  <a:lnTo>
                    <a:pt x="551053" y="3264331"/>
                  </a:lnTo>
                  <a:lnTo>
                    <a:pt x="553593" y="3282061"/>
                  </a:lnTo>
                  <a:lnTo>
                    <a:pt x="553593" y="3076956"/>
                  </a:lnTo>
                  <a:lnTo>
                    <a:pt x="346837" y="3076956"/>
                  </a:lnTo>
                  <a:lnTo>
                    <a:pt x="345313" y="3424428"/>
                  </a:lnTo>
                  <a:lnTo>
                    <a:pt x="637032" y="3424428"/>
                  </a:lnTo>
                  <a:lnTo>
                    <a:pt x="638556" y="3422891"/>
                  </a:lnTo>
                  <a:lnTo>
                    <a:pt x="638937" y="3333077"/>
                  </a:lnTo>
                  <a:lnTo>
                    <a:pt x="639724" y="3155505"/>
                  </a:lnTo>
                  <a:lnTo>
                    <a:pt x="640080" y="3078492"/>
                  </a:lnTo>
                  <a:close/>
                </a:path>
                <a:path w="674370" h="3424554">
                  <a:moveTo>
                    <a:pt x="673773" y="146431"/>
                  </a:moveTo>
                  <a:lnTo>
                    <a:pt x="672973" y="130683"/>
                  </a:lnTo>
                  <a:lnTo>
                    <a:pt x="652018" y="118110"/>
                  </a:lnTo>
                  <a:lnTo>
                    <a:pt x="650240" y="110109"/>
                  </a:lnTo>
                  <a:lnTo>
                    <a:pt x="637578" y="80873"/>
                  </a:lnTo>
                  <a:lnTo>
                    <a:pt x="635063" y="76504"/>
                  </a:lnTo>
                  <a:lnTo>
                    <a:pt x="631571" y="70739"/>
                  </a:lnTo>
                  <a:lnTo>
                    <a:pt x="636270" y="46990"/>
                  </a:lnTo>
                  <a:lnTo>
                    <a:pt x="625284" y="35814"/>
                  </a:lnTo>
                  <a:lnTo>
                    <a:pt x="613092" y="25819"/>
                  </a:lnTo>
                  <a:lnTo>
                    <a:pt x="607796" y="22352"/>
                  </a:lnTo>
                  <a:lnTo>
                    <a:pt x="599935" y="17208"/>
                  </a:lnTo>
                  <a:lnTo>
                    <a:pt x="590956" y="12636"/>
                  </a:lnTo>
                  <a:lnTo>
                    <a:pt x="590956" y="145478"/>
                  </a:lnTo>
                  <a:lnTo>
                    <a:pt x="586613" y="170027"/>
                  </a:lnTo>
                  <a:lnTo>
                    <a:pt x="573493" y="190995"/>
                  </a:lnTo>
                  <a:lnTo>
                    <a:pt x="552704" y="205486"/>
                  </a:lnTo>
                  <a:lnTo>
                    <a:pt x="527570" y="211010"/>
                  </a:lnTo>
                  <a:lnTo>
                    <a:pt x="503301" y="206336"/>
                  </a:lnTo>
                  <a:lnTo>
                    <a:pt x="482549" y="192722"/>
                  </a:lnTo>
                  <a:lnTo>
                    <a:pt x="467995" y="171450"/>
                  </a:lnTo>
                  <a:lnTo>
                    <a:pt x="462724" y="146431"/>
                  </a:lnTo>
                  <a:lnTo>
                    <a:pt x="462788" y="145478"/>
                  </a:lnTo>
                  <a:lnTo>
                    <a:pt x="467131" y="121704"/>
                  </a:lnTo>
                  <a:lnTo>
                    <a:pt x="480314" y="100838"/>
                  </a:lnTo>
                  <a:lnTo>
                    <a:pt x="501142" y="86233"/>
                  </a:lnTo>
                  <a:lnTo>
                    <a:pt x="526262" y="80873"/>
                  </a:lnTo>
                  <a:lnTo>
                    <a:pt x="550583" y="85534"/>
                  </a:lnTo>
                  <a:lnTo>
                    <a:pt x="571271" y="99060"/>
                  </a:lnTo>
                  <a:lnTo>
                    <a:pt x="585470" y="120269"/>
                  </a:lnTo>
                  <a:lnTo>
                    <a:pt x="590956" y="145478"/>
                  </a:lnTo>
                  <a:lnTo>
                    <a:pt x="590956" y="12636"/>
                  </a:lnTo>
                  <a:lnTo>
                    <a:pt x="586105" y="10160"/>
                  </a:lnTo>
                  <a:lnTo>
                    <a:pt x="564515" y="22352"/>
                  </a:lnTo>
                  <a:lnTo>
                    <a:pt x="552881" y="19164"/>
                  </a:lnTo>
                  <a:lnTo>
                    <a:pt x="541185" y="17208"/>
                  </a:lnTo>
                  <a:lnTo>
                    <a:pt x="538035" y="17018"/>
                  </a:lnTo>
                  <a:lnTo>
                    <a:pt x="529374" y="16497"/>
                  </a:lnTo>
                  <a:lnTo>
                    <a:pt x="517398" y="17018"/>
                  </a:lnTo>
                  <a:lnTo>
                    <a:pt x="498983" y="0"/>
                  </a:lnTo>
                  <a:lnTo>
                    <a:pt x="461441" y="12839"/>
                  </a:lnTo>
                  <a:lnTo>
                    <a:pt x="441325" y="24892"/>
                  </a:lnTo>
                  <a:lnTo>
                    <a:pt x="441325" y="50546"/>
                  </a:lnTo>
                  <a:lnTo>
                    <a:pt x="432574" y="59220"/>
                  </a:lnTo>
                  <a:lnTo>
                    <a:pt x="424713" y="68478"/>
                  </a:lnTo>
                  <a:lnTo>
                    <a:pt x="417855" y="78320"/>
                  </a:lnTo>
                  <a:lnTo>
                    <a:pt x="412115" y="88773"/>
                  </a:lnTo>
                  <a:lnTo>
                    <a:pt x="388747" y="96393"/>
                  </a:lnTo>
                  <a:lnTo>
                    <a:pt x="384187" y="111366"/>
                  </a:lnTo>
                  <a:lnTo>
                    <a:pt x="381330" y="126885"/>
                  </a:lnTo>
                  <a:lnTo>
                    <a:pt x="380111" y="142875"/>
                  </a:lnTo>
                  <a:lnTo>
                    <a:pt x="380492" y="159258"/>
                  </a:lnTo>
                  <a:lnTo>
                    <a:pt x="401320" y="171450"/>
                  </a:lnTo>
                  <a:lnTo>
                    <a:pt x="402805" y="177838"/>
                  </a:lnTo>
                  <a:lnTo>
                    <a:pt x="404634" y="184327"/>
                  </a:lnTo>
                  <a:lnTo>
                    <a:pt x="406869" y="190792"/>
                  </a:lnTo>
                  <a:lnTo>
                    <a:pt x="409575" y="197104"/>
                  </a:lnTo>
                  <a:lnTo>
                    <a:pt x="413258" y="204724"/>
                  </a:lnTo>
                  <a:lnTo>
                    <a:pt x="416814" y="212344"/>
                  </a:lnTo>
                  <a:lnTo>
                    <a:pt x="421513" y="219202"/>
                  </a:lnTo>
                  <a:lnTo>
                    <a:pt x="415798" y="242951"/>
                  </a:lnTo>
                  <a:lnTo>
                    <a:pt x="426529" y="254419"/>
                  </a:lnTo>
                  <a:lnTo>
                    <a:pt x="438302" y="264464"/>
                  </a:lnTo>
                  <a:lnTo>
                    <a:pt x="450977" y="273151"/>
                  </a:lnTo>
                  <a:lnTo>
                    <a:pt x="464439" y="280543"/>
                  </a:lnTo>
                  <a:lnTo>
                    <a:pt x="485267" y="268224"/>
                  </a:lnTo>
                  <a:lnTo>
                    <a:pt x="498068" y="272135"/>
                  </a:lnTo>
                  <a:lnTo>
                    <a:pt x="511175" y="274561"/>
                  </a:lnTo>
                  <a:lnTo>
                    <a:pt x="524548" y="275539"/>
                  </a:lnTo>
                  <a:lnTo>
                    <a:pt x="538226" y="275082"/>
                  </a:lnTo>
                  <a:lnTo>
                    <a:pt x="556641" y="291719"/>
                  </a:lnTo>
                  <a:lnTo>
                    <a:pt x="598703" y="275678"/>
                  </a:lnTo>
                  <a:lnTo>
                    <a:pt x="599681" y="275082"/>
                  </a:lnTo>
                  <a:lnTo>
                    <a:pt x="605269" y="271754"/>
                  </a:lnTo>
                  <a:lnTo>
                    <a:pt x="610768" y="268224"/>
                  </a:lnTo>
                  <a:lnTo>
                    <a:pt x="611759" y="267589"/>
                  </a:lnTo>
                  <a:lnTo>
                    <a:pt x="611759" y="242951"/>
                  </a:lnTo>
                  <a:lnTo>
                    <a:pt x="621271" y="233273"/>
                  </a:lnTo>
                  <a:lnTo>
                    <a:pt x="629754" y="222631"/>
                  </a:lnTo>
                  <a:lnTo>
                    <a:pt x="637146" y="211239"/>
                  </a:lnTo>
                  <a:lnTo>
                    <a:pt x="637260" y="211010"/>
                  </a:lnTo>
                  <a:lnTo>
                    <a:pt x="643382" y="199263"/>
                  </a:lnTo>
                  <a:lnTo>
                    <a:pt x="666115" y="192024"/>
                  </a:lnTo>
                  <a:lnTo>
                    <a:pt x="670382" y="177355"/>
                  </a:lnTo>
                  <a:lnTo>
                    <a:pt x="672922" y="162077"/>
                  </a:lnTo>
                  <a:lnTo>
                    <a:pt x="673773" y="146431"/>
                  </a:lnTo>
                  <a:close/>
                </a:path>
              </a:pathLst>
            </a:custGeom>
            <a:solidFill>
              <a:srgbClr val="29B974"/>
            </a:solidFill>
          </p:spPr>
          <p:txBody>
            <a:bodyPr wrap="square" lIns="0" tIns="0" rIns="0" bIns="0" rtlCol="0"/>
            <a:lstStyle/>
            <a:p>
              <a:endParaRPr/>
            </a:p>
          </p:txBody>
        </p:sp>
        <p:sp>
          <p:nvSpPr>
            <p:cNvPr id="41" name="object 41"/>
            <p:cNvSpPr/>
            <p:nvPr/>
          </p:nvSpPr>
          <p:spPr>
            <a:xfrm>
              <a:off x="4745736" y="2657347"/>
              <a:ext cx="490855" cy="485140"/>
            </a:xfrm>
            <a:custGeom>
              <a:avLst/>
              <a:gdLst/>
              <a:ahLst/>
              <a:cxnLst/>
              <a:rect l="l" t="t" r="r" b="b"/>
              <a:pathLst>
                <a:path w="490854" h="485139">
                  <a:moveTo>
                    <a:pt x="124014" y="391160"/>
                  </a:moveTo>
                  <a:lnTo>
                    <a:pt x="99060" y="391160"/>
                  </a:lnTo>
                  <a:lnTo>
                    <a:pt x="105673" y="396239"/>
                  </a:lnTo>
                  <a:lnTo>
                    <a:pt x="112537" y="402589"/>
                  </a:lnTo>
                  <a:lnTo>
                    <a:pt x="119616" y="407669"/>
                  </a:lnTo>
                  <a:lnTo>
                    <a:pt x="126873" y="412750"/>
                  </a:lnTo>
                  <a:lnTo>
                    <a:pt x="127508" y="461010"/>
                  </a:lnTo>
                  <a:lnTo>
                    <a:pt x="131825" y="462279"/>
                  </a:lnTo>
                  <a:lnTo>
                    <a:pt x="141807" y="467360"/>
                  </a:lnTo>
                  <a:lnTo>
                    <a:pt x="151193" y="471169"/>
                  </a:lnTo>
                  <a:lnTo>
                    <a:pt x="161416" y="474979"/>
                  </a:lnTo>
                  <a:lnTo>
                    <a:pt x="164544" y="476250"/>
                  </a:lnTo>
                  <a:lnTo>
                    <a:pt x="171767" y="478789"/>
                  </a:lnTo>
                  <a:lnTo>
                    <a:pt x="181562" y="481329"/>
                  </a:lnTo>
                  <a:lnTo>
                    <a:pt x="192404" y="485139"/>
                  </a:lnTo>
                  <a:lnTo>
                    <a:pt x="197103" y="485139"/>
                  </a:lnTo>
                  <a:lnTo>
                    <a:pt x="211302" y="468629"/>
                  </a:lnTo>
                  <a:lnTo>
                    <a:pt x="191262" y="468629"/>
                  </a:lnTo>
                  <a:lnTo>
                    <a:pt x="182469" y="466089"/>
                  </a:lnTo>
                  <a:lnTo>
                    <a:pt x="174640" y="463550"/>
                  </a:lnTo>
                  <a:lnTo>
                    <a:pt x="169027" y="461010"/>
                  </a:lnTo>
                  <a:lnTo>
                    <a:pt x="166877" y="461010"/>
                  </a:lnTo>
                  <a:lnTo>
                    <a:pt x="164772" y="459739"/>
                  </a:lnTo>
                  <a:lnTo>
                    <a:pt x="159273" y="457200"/>
                  </a:lnTo>
                  <a:lnTo>
                    <a:pt x="151608" y="454660"/>
                  </a:lnTo>
                  <a:lnTo>
                    <a:pt x="143001" y="450850"/>
                  </a:lnTo>
                  <a:lnTo>
                    <a:pt x="142621" y="403860"/>
                  </a:lnTo>
                  <a:lnTo>
                    <a:pt x="139064" y="401319"/>
                  </a:lnTo>
                  <a:lnTo>
                    <a:pt x="130550" y="396239"/>
                  </a:lnTo>
                  <a:lnTo>
                    <a:pt x="124014" y="391160"/>
                  </a:lnTo>
                  <a:close/>
                </a:path>
                <a:path w="490854" h="485139">
                  <a:moveTo>
                    <a:pt x="280472" y="447039"/>
                  </a:moveTo>
                  <a:lnTo>
                    <a:pt x="260858" y="447039"/>
                  </a:lnTo>
                  <a:lnTo>
                    <a:pt x="293624" y="485139"/>
                  </a:lnTo>
                  <a:lnTo>
                    <a:pt x="298323" y="485139"/>
                  </a:lnTo>
                  <a:lnTo>
                    <a:pt x="308963" y="481329"/>
                  </a:lnTo>
                  <a:lnTo>
                    <a:pt x="318674" y="478789"/>
                  </a:lnTo>
                  <a:lnTo>
                    <a:pt x="325862" y="476250"/>
                  </a:lnTo>
                  <a:lnTo>
                    <a:pt x="332059" y="473710"/>
                  </a:lnTo>
                  <a:lnTo>
                    <a:pt x="339201" y="471169"/>
                  </a:lnTo>
                  <a:lnTo>
                    <a:pt x="345533" y="468629"/>
                  </a:lnTo>
                  <a:lnTo>
                    <a:pt x="299085" y="468629"/>
                  </a:lnTo>
                  <a:lnTo>
                    <a:pt x="280472" y="447039"/>
                  </a:lnTo>
                  <a:close/>
                </a:path>
                <a:path w="490854" h="485139">
                  <a:moveTo>
                    <a:pt x="226949" y="431800"/>
                  </a:moveTo>
                  <a:lnTo>
                    <a:pt x="223012" y="431800"/>
                  </a:lnTo>
                  <a:lnTo>
                    <a:pt x="191262" y="468629"/>
                  </a:lnTo>
                  <a:lnTo>
                    <a:pt x="211302" y="468629"/>
                  </a:lnTo>
                  <a:lnTo>
                    <a:pt x="229869" y="447039"/>
                  </a:lnTo>
                  <a:lnTo>
                    <a:pt x="280472" y="447039"/>
                  </a:lnTo>
                  <a:lnTo>
                    <a:pt x="268429" y="433069"/>
                  </a:lnTo>
                  <a:lnTo>
                    <a:pt x="239649" y="433069"/>
                  </a:lnTo>
                  <a:lnTo>
                    <a:pt x="226949" y="431800"/>
                  </a:lnTo>
                  <a:close/>
                </a:path>
                <a:path w="490854" h="485139">
                  <a:moveTo>
                    <a:pt x="386206" y="373379"/>
                  </a:moveTo>
                  <a:lnTo>
                    <a:pt x="351663" y="402589"/>
                  </a:lnTo>
                  <a:lnTo>
                    <a:pt x="347725" y="403860"/>
                  </a:lnTo>
                  <a:lnTo>
                    <a:pt x="347344" y="450850"/>
                  </a:lnTo>
                  <a:lnTo>
                    <a:pt x="338955" y="454660"/>
                  </a:lnTo>
                  <a:lnTo>
                    <a:pt x="331374" y="457200"/>
                  </a:lnTo>
                  <a:lnTo>
                    <a:pt x="325842" y="459739"/>
                  </a:lnTo>
                  <a:lnTo>
                    <a:pt x="323596" y="461010"/>
                  </a:lnTo>
                  <a:lnTo>
                    <a:pt x="321480" y="461010"/>
                  </a:lnTo>
                  <a:lnTo>
                    <a:pt x="315912" y="463550"/>
                  </a:lnTo>
                  <a:lnTo>
                    <a:pt x="308058" y="466089"/>
                  </a:lnTo>
                  <a:lnTo>
                    <a:pt x="299085" y="468629"/>
                  </a:lnTo>
                  <a:lnTo>
                    <a:pt x="345533" y="468629"/>
                  </a:lnTo>
                  <a:lnTo>
                    <a:pt x="348700" y="467360"/>
                  </a:lnTo>
                  <a:lnTo>
                    <a:pt x="358901" y="462279"/>
                  </a:lnTo>
                  <a:lnTo>
                    <a:pt x="363219" y="461010"/>
                  </a:lnTo>
                  <a:lnTo>
                    <a:pt x="363600" y="412750"/>
                  </a:lnTo>
                  <a:lnTo>
                    <a:pt x="371004" y="407669"/>
                  </a:lnTo>
                  <a:lnTo>
                    <a:pt x="378158" y="402589"/>
                  </a:lnTo>
                  <a:lnTo>
                    <a:pt x="385050" y="397510"/>
                  </a:lnTo>
                  <a:lnTo>
                    <a:pt x="391667" y="391160"/>
                  </a:lnTo>
                  <a:lnTo>
                    <a:pt x="442648" y="391160"/>
                  </a:lnTo>
                  <a:lnTo>
                    <a:pt x="446276" y="386079"/>
                  </a:lnTo>
                  <a:lnTo>
                    <a:pt x="449461" y="381000"/>
                  </a:lnTo>
                  <a:lnTo>
                    <a:pt x="429894" y="381000"/>
                  </a:lnTo>
                  <a:lnTo>
                    <a:pt x="386206" y="373379"/>
                  </a:lnTo>
                  <a:close/>
                </a:path>
                <a:path w="490854" h="485139">
                  <a:moveTo>
                    <a:pt x="260858" y="447039"/>
                  </a:moveTo>
                  <a:lnTo>
                    <a:pt x="229869" y="447039"/>
                  </a:lnTo>
                  <a:lnTo>
                    <a:pt x="237480" y="448310"/>
                  </a:lnTo>
                  <a:lnTo>
                    <a:pt x="253033" y="448310"/>
                  </a:lnTo>
                  <a:lnTo>
                    <a:pt x="260858" y="447039"/>
                  </a:lnTo>
                  <a:close/>
                </a:path>
                <a:path w="490854" h="485139">
                  <a:moveTo>
                    <a:pt x="267335" y="431800"/>
                  </a:moveTo>
                  <a:lnTo>
                    <a:pt x="263398" y="431800"/>
                  </a:lnTo>
                  <a:lnTo>
                    <a:pt x="251460" y="433069"/>
                  </a:lnTo>
                  <a:lnTo>
                    <a:pt x="268429" y="433069"/>
                  </a:lnTo>
                  <a:lnTo>
                    <a:pt x="267335" y="431800"/>
                  </a:lnTo>
                  <a:close/>
                </a:path>
                <a:path w="490854" h="485139">
                  <a:moveTo>
                    <a:pt x="117855" y="34289"/>
                  </a:moveTo>
                  <a:lnTo>
                    <a:pt x="87884" y="57150"/>
                  </a:lnTo>
                  <a:lnTo>
                    <a:pt x="85429" y="58419"/>
                  </a:lnTo>
                  <a:lnTo>
                    <a:pt x="79676" y="63500"/>
                  </a:lnTo>
                  <a:lnTo>
                    <a:pt x="72185" y="71119"/>
                  </a:lnTo>
                  <a:lnTo>
                    <a:pt x="64515" y="78739"/>
                  </a:lnTo>
                  <a:lnTo>
                    <a:pt x="61213" y="82550"/>
                  </a:lnTo>
                  <a:lnTo>
                    <a:pt x="76326" y="125729"/>
                  </a:lnTo>
                  <a:lnTo>
                    <a:pt x="70891" y="133350"/>
                  </a:lnTo>
                  <a:lnTo>
                    <a:pt x="65801" y="140969"/>
                  </a:lnTo>
                  <a:lnTo>
                    <a:pt x="61021" y="149860"/>
                  </a:lnTo>
                  <a:lnTo>
                    <a:pt x="56514" y="157479"/>
                  </a:lnTo>
                  <a:lnTo>
                    <a:pt x="12573" y="166369"/>
                  </a:lnTo>
                  <a:lnTo>
                    <a:pt x="4681" y="199389"/>
                  </a:lnTo>
                  <a:lnTo>
                    <a:pt x="3937" y="201929"/>
                  </a:lnTo>
                  <a:lnTo>
                    <a:pt x="2444" y="213360"/>
                  </a:lnTo>
                  <a:lnTo>
                    <a:pt x="1258" y="223519"/>
                  </a:lnTo>
                  <a:lnTo>
                    <a:pt x="380" y="233679"/>
                  </a:lnTo>
                  <a:lnTo>
                    <a:pt x="0" y="238760"/>
                  </a:lnTo>
                  <a:lnTo>
                    <a:pt x="36449" y="260350"/>
                  </a:lnTo>
                  <a:lnTo>
                    <a:pt x="37435" y="270510"/>
                  </a:lnTo>
                  <a:lnTo>
                    <a:pt x="38909" y="280669"/>
                  </a:lnTo>
                  <a:lnTo>
                    <a:pt x="40931" y="290829"/>
                  </a:lnTo>
                  <a:lnTo>
                    <a:pt x="43561" y="300989"/>
                  </a:lnTo>
                  <a:lnTo>
                    <a:pt x="16510" y="334010"/>
                  </a:lnTo>
                  <a:lnTo>
                    <a:pt x="33147" y="367029"/>
                  </a:lnTo>
                  <a:lnTo>
                    <a:pt x="34798" y="370839"/>
                  </a:lnTo>
                  <a:lnTo>
                    <a:pt x="38735" y="377189"/>
                  </a:lnTo>
                  <a:lnTo>
                    <a:pt x="44291" y="384810"/>
                  </a:lnTo>
                  <a:lnTo>
                    <a:pt x="50800" y="394969"/>
                  </a:lnTo>
                  <a:lnTo>
                    <a:pt x="53721" y="398779"/>
                  </a:lnTo>
                  <a:lnTo>
                    <a:pt x="99060" y="391160"/>
                  </a:lnTo>
                  <a:lnTo>
                    <a:pt x="124014" y="391160"/>
                  </a:lnTo>
                  <a:lnTo>
                    <a:pt x="122380" y="389889"/>
                  </a:lnTo>
                  <a:lnTo>
                    <a:pt x="114615" y="383539"/>
                  </a:lnTo>
                  <a:lnTo>
                    <a:pt x="112182" y="381000"/>
                  </a:lnTo>
                  <a:lnTo>
                    <a:pt x="60578" y="381000"/>
                  </a:lnTo>
                  <a:lnTo>
                    <a:pt x="55381" y="373379"/>
                  </a:lnTo>
                  <a:lnTo>
                    <a:pt x="51006" y="367029"/>
                  </a:lnTo>
                  <a:lnTo>
                    <a:pt x="47988" y="361950"/>
                  </a:lnTo>
                  <a:lnTo>
                    <a:pt x="46862" y="359410"/>
                  </a:lnTo>
                  <a:lnTo>
                    <a:pt x="45765" y="356869"/>
                  </a:lnTo>
                  <a:lnTo>
                    <a:pt x="42941" y="351789"/>
                  </a:lnTo>
                  <a:lnTo>
                    <a:pt x="39094" y="345439"/>
                  </a:lnTo>
                  <a:lnTo>
                    <a:pt x="34925" y="336550"/>
                  </a:lnTo>
                  <a:lnTo>
                    <a:pt x="61213" y="304800"/>
                  </a:lnTo>
                  <a:lnTo>
                    <a:pt x="60198" y="299719"/>
                  </a:lnTo>
                  <a:lnTo>
                    <a:pt x="57015" y="289560"/>
                  </a:lnTo>
                  <a:lnTo>
                    <a:pt x="54546" y="278129"/>
                  </a:lnTo>
                  <a:lnTo>
                    <a:pt x="52839" y="266700"/>
                  </a:lnTo>
                  <a:lnTo>
                    <a:pt x="51942" y="255269"/>
                  </a:lnTo>
                  <a:lnTo>
                    <a:pt x="51562" y="251460"/>
                  </a:lnTo>
                  <a:lnTo>
                    <a:pt x="16255" y="229869"/>
                  </a:lnTo>
                  <a:lnTo>
                    <a:pt x="17240" y="220979"/>
                  </a:lnTo>
                  <a:lnTo>
                    <a:pt x="19399" y="207010"/>
                  </a:lnTo>
                  <a:lnTo>
                    <a:pt x="20200" y="203200"/>
                  </a:lnTo>
                  <a:lnTo>
                    <a:pt x="21304" y="196850"/>
                  </a:lnTo>
                  <a:lnTo>
                    <a:pt x="23026" y="189229"/>
                  </a:lnTo>
                  <a:lnTo>
                    <a:pt x="25273" y="180339"/>
                  </a:lnTo>
                  <a:lnTo>
                    <a:pt x="67437" y="171450"/>
                  </a:lnTo>
                  <a:lnTo>
                    <a:pt x="69214" y="168910"/>
                  </a:lnTo>
                  <a:lnTo>
                    <a:pt x="91566" y="132079"/>
                  </a:lnTo>
                  <a:lnTo>
                    <a:pt x="94361" y="129539"/>
                  </a:lnTo>
                  <a:lnTo>
                    <a:pt x="79248" y="86360"/>
                  </a:lnTo>
                  <a:lnTo>
                    <a:pt x="85828" y="80010"/>
                  </a:lnTo>
                  <a:lnTo>
                    <a:pt x="91884" y="74929"/>
                  </a:lnTo>
                  <a:lnTo>
                    <a:pt x="96321" y="71119"/>
                  </a:lnTo>
                  <a:lnTo>
                    <a:pt x="98043" y="68579"/>
                  </a:lnTo>
                  <a:lnTo>
                    <a:pt x="99881" y="67310"/>
                  </a:lnTo>
                  <a:lnTo>
                    <a:pt x="104457" y="63500"/>
                  </a:lnTo>
                  <a:lnTo>
                    <a:pt x="110938" y="58419"/>
                  </a:lnTo>
                  <a:lnTo>
                    <a:pt x="118490" y="53339"/>
                  </a:lnTo>
                  <a:lnTo>
                    <a:pt x="151288" y="53339"/>
                  </a:lnTo>
                  <a:lnTo>
                    <a:pt x="117855" y="34289"/>
                  </a:lnTo>
                  <a:close/>
                </a:path>
                <a:path w="490854" h="485139">
                  <a:moveTo>
                    <a:pt x="245363" y="92710"/>
                  </a:moveTo>
                  <a:lnTo>
                    <a:pt x="197053" y="100329"/>
                  </a:lnTo>
                  <a:lnTo>
                    <a:pt x="155021" y="121919"/>
                  </a:lnTo>
                  <a:lnTo>
                    <a:pt x="121828" y="154939"/>
                  </a:lnTo>
                  <a:lnTo>
                    <a:pt x="100035" y="196850"/>
                  </a:lnTo>
                  <a:lnTo>
                    <a:pt x="92201" y="246379"/>
                  </a:lnTo>
                  <a:lnTo>
                    <a:pt x="100035" y="294639"/>
                  </a:lnTo>
                  <a:lnTo>
                    <a:pt x="121828" y="336550"/>
                  </a:lnTo>
                  <a:lnTo>
                    <a:pt x="155021" y="369569"/>
                  </a:lnTo>
                  <a:lnTo>
                    <a:pt x="197053" y="391160"/>
                  </a:lnTo>
                  <a:lnTo>
                    <a:pt x="245363" y="398779"/>
                  </a:lnTo>
                  <a:lnTo>
                    <a:pt x="293860" y="391160"/>
                  </a:lnTo>
                  <a:lnTo>
                    <a:pt x="308735" y="383539"/>
                  </a:lnTo>
                  <a:lnTo>
                    <a:pt x="245363" y="383539"/>
                  </a:lnTo>
                  <a:lnTo>
                    <a:pt x="202020" y="375919"/>
                  </a:lnTo>
                  <a:lnTo>
                    <a:pt x="164340" y="356869"/>
                  </a:lnTo>
                  <a:lnTo>
                    <a:pt x="134602" y="327660"/>
                  </a:lnTo>
                  <a:lnTo>
                    <a:pt x="115088" y="289560"/>
                  </a:lnTo>
                  <a:lnTo>
                    <a:pt x="108076" y="246379"/>
                  </a:lnTo>
                  <a:lnTo>
                    <a:pt x="115088" y="201929"/>
                  </a:lnTo>
                  <a:lnTo>
                    <a:pt x="134602" y="165100"/>
                  </a:lnTo>
                  <a:lnTo>
                    <a:pt x="164340" y="134619"/>
                  </a:lnTo>
                  <a:lnTo>
                    <a:pt x="202020" y="115569"/>
                  </a:lnTo>
                  <a:lnTo>
                    <a:pt x="245363" y="107950"/>
                  </a:lnTo>
                  <a:lnTo>
                    <a:pt x="308735" y="107950"/>
                  </a:lnTo>
                  <a:lnTo>
                    <a:pt x="293860" y="100329"/>
                  </a:lnTo>
                  <a:lnTo>
                    <a:pt x="245363" y="92710"/>
                  </a:lnTo>
                  <a:close/>
                </a:path>
                <a:path w="490854" h="485139">
                  <a:moveTo>
                    <a:pt x="442648" y="391160"/>
                  </a:moveTo>
                  <a:lnTo>
                    <a:pt x="391667" y="391160"/>
                  </a:lnTo>
                  <a:lnTo>
                    <a:pt x="437006" y="398779"/>
                  </a:lnTo>
                  <a:lnTo>
                    <a:pt x="439927" y="394969"/>
                  </a:lnTo>
                  <a:lnTo>
                    <a:pt x="442648" y="391160"/>
                  </a:lnTo>
                  <a:close/>
                </a:path>
                <a:path w="490854" h="485139">
                  <a:moveTo>
                    <a:pt x="308735" y="107950"/>
                  </a:moveTo>
                  <a:lnTo>
                    <a:pt x="245363" y="107950"/>
                  </a:lnTo>
                  <a:lnTo>
                    <a:pt x="288893" y="115569"/>
                  </a:lnTo>
                  <a:lnTo>
                    <a:pt x="326686" y="134619"/>
                  </a:lnTo>
                  <a:lnTo>
                    <a:pt x="356481" y="165100"/>
                  </a:lnTo>
                  <a:lnTo>
                    <a:pt x="376017" y="201929"/>
                  </a:lnTo>
                  <a:lnTo>
                    <a:pt x="383031" y="246379"/>
                  </a:lnTo>
                  <a:lnTo>
                    <a:pt x="376017" y="289560"/>
                  </a:lnTo>
                  <a:lnTo>
                    <a:pt x="356481" y="327660"/>
                  </a:lnTo>
                  <a:lnTo>
                    <a:pt x="326686" y="356869"/>
                  </a:lnTo>
                  <a:lnTo>
                    <a:pt x="288893" y="375919"/>
                  </a:lnTo>
                  <a:lnTo>
                    <a:pt x="245363" y="383539"/>
                  </a:lnTo>
                  <a:lnTo>
                    <a:pt x="308735" y="383539"/>
                  </a:lnTo>
                  <a:lnTo>
                    <a:pt x="336005" y="369569"/>
                  </a:lnTo>
                  <a:lnTo>
                    <a:pt x="369256" y="336550"/>
                  </a:lnTo>
                  <a:lnTo>
                    <a:pt x="391070" y="294639"/>
                  </a:lnTo>
                  <a:lnTo>
                    <a:pt x="398906" y="246379"/>
                  </a:lnTo>
                  <a:lnTo>
                    <a:pt x="391070" y="196850"/>
                  </a:lnTo>
                  <a:lnTo>
                    <a:pt x="369256" y="154939"/>
                  </a:lnTo>
                  <a:lnTo>
                    <a:pt x="336005" y="121919"/>
                  </a:lnTo>
                  <a:lnTo>
                    <a:pt x="308735" y="107950"/>
                  </a:lnTo>
                  <a:close/>
                </a:path>
                <a:path w="490854" h="485139">
                  <a:moveTo>
                    <a:pt x="104521" y="373379"/>
                  </a:moveTo>
                  <a:lnTo>
                    <a:pt x="60578" y="381000"/>
                  </a:lnTo>
                  <a:lnTo>
                    <a:pt x="112182" y="381000"/>
                  </a:lnTo>
                  <a:lnTo>
                    <a:pt x="107314" y="375919"/>
                  </a:lnTo>
                  <a:lnTo>
                    <a:pt x="104521" y="373379"/>
                  </a:lnTo>
                  <a:close/>
                </a:path>
                <a:path w="490854" h="485139">
                  <a:moveTo>
                    <a:pt x="398436" y="53339"/>
                  </a:moveTo>
                  <a:lnTo>
                    <a:pt x="372490" y="53339"/>
                  </a:lnTo>
                  <a:lnTo>
                    <a:pt x="379932" y="58419"/>
                  </a:lnTo>
                  <a:lnTo>
                    <a:pt x="386397" y="63500"/>
                  </a:lnTo>
                  <a:lnTo>
                    <a:pt x="390957" y="67310"/>
                  </a:lnTo>
                  <a:lnTo>
                    <a:pt x="394406" y="71119"/>
                  </a:lnTo>
                  <a:lnTo>
                    <a:pt x="398843" y="74929"/>
                  </a:lnTo>
                  <a:lnTo>
                    <a:pt x="404899" y="80010"/>
                  </a:lnTo>
                  <a:lnTo>
                    <a:pt x="411479" y="86360"/>
                  </a:lnTo>
                  <a:lnTo>
                    <a:pt x="396748" y="129539"/>
                  </a:lnTo>
                  <a:lnTo>
                    <a:pt x="399541" y="132079"/>
                  </a:lnTo>
                  <a:lnTo>
                    <a:pt x="421893" y="168910"/>
                  </a:lnTo>
                  <a:lnTo>
                    <a:pt x="423672" y="172719"/>
                  </a:lnTo>
                  <a:lnTo>
                    <a:pt x="465454" y="180339"/>
                  </a:lnTo>
                  <a:lnTo>
                    <a:pt x="467707" y="189229"/>
                  </a:lnTo>
                  <a:lnTo>
                    <a:pt x="469471" y="196850"/>
                  </a:lnTo>
                  <a:lnTo>
                    <a:pt x="470687" y="203200"/>
                  </a:lnTo>
                  <a:lnTo>
                    <a:pt x="471297" y="205739"/>
                  </a:lnTo>
                  <a:lnTo>
                    <a:pt x="473455" y="218439"/>
                  </a:lnTo>
                  <a:lnTo>
                    <a:pt x="474472" y="229869"/>
                  </a:lnTo>
                  <a:lnTo>
                    <a:pt x="439165" y="251460"/>
                  </a:lnTo>
                  <a:lnTo>
                    <a:pt x="439165" y="255269"/>
                  </a:lnTo>
                  <a:lnTo>
                    <a:pt x="430911" y="300989"/>
                  </a:lnTo>
                  <a:lnTo>
                    <a:pt x="429513" y="304800"/>
                  </a:lnTo>
                  <a:lnTo>
                    <a:pt x="455422" y="336550"/>
                  </a:lnTo>
                  <a:lnTo>
                    <a:pt x="435078" y="373379"/>
                  </a:lnTo>
                  <a:lnTo>
                    <a:pt x="429894" y="381000"/>
                  </a:lnTo>
                  <a:lnTo>
                    <a:pt x="449461" y="381000"/>
                  </a:lnTo>
                  <a:lnTo>
                    <a:pt x="451850" y="377189"/>
                  </a:lnTo>
                  <a:lnTo>
                    <a:pt x="455876" y="370839"/>
                  </a:lnTo>
                  <a:lnTo>
                    <a:pt x="457580" y="367029"/>
                  </a:lnTo>
                  <a:lnTo>
                    <a:pt x="459180" y="364489"/>
                  </a:lnTo>
                  <a:lnTo>
                    <a:pt x="462756" y="358139"/>
                  </a:lnTo>
                  <a:lnTo>
                    <a:pt x="467332" y="349250"/>
                  </a:lnTo>
                  <a:lnTo>
                    <a:pt x="471931" y="339089"/>
                  </a:lnTo>
                  <a:lnTo>
                    <a:pt x="474090" y="334010"/>
                  </a:lnTo>
                  <a:lnTo>
                    <a:pt x="447166" y="300989"/>
                  </a:lnTo>
                  <a:lnTo>
                    <a:pt x="449855" y="290829"/>
                  </a:lnTo>
                  <a:lnTo>
                    <a:pt x="452008" y="280669"/>
                  </a:lnTo>
                  <a:lnTo>
                    <a:pt x="453614" y="270510"/>
                  </a:lnTo>
                  <a:lnTo>
                    <a:pt x="454660" y="260350"/>
                  </a:lnTo>
                  <a:lnTo>
                    <a:pt x="490727" y="238760"/>
                  </a:lnTo>
                  <a:lnTo>
                    <a:pt x="486213" y="199389"/>
                  </a:lnTo>
                  <a:lnTo>
                    <a:pt x="484647" y="191769"/>
                  </a:lnTo>
                  <a:lnTo>
                    <a:pt x="482344" y="181610"/>
                  </a:lnTo>
                  <a:lnTo>
                    <a:pt x="478154" y="166369"/>
                  </a:lnTo>
                  <a:lnTo>
                    <a:pt x="434466" y="158750"/>
                  </a:lnTo>
                  <a:lnTo>
                    <a:pt x="430031" y="149860"/>
                  </a:lnTo>
                  <a:lnTo>
                    <a:pt x="425275" y="142239"/>
                  </a:lnTo>
                  <a:lnTo>
                    <a:pt x="420161" y="133350"/>
                  </a:lnTo>
                  <a:lnTo>
                    <a:pt x="414654" y="125729"/>
                  </a:lnTo>
                  <a:lnTo>
                    <a:pt x="429894" y="82550"/>
                  </a:lnTo>
                  <a:lnTo>
                    <a:pt x="426592" y="78739"/>
                  </a:lnTo>
                  <a:lnTo>
                    <a:pt x="418738" y="71119"/>
                  </a:lnTo>
                  <a:lnTo>
                    <a:pt x="411194" y="64769"/>
                  </a:lnTo>
                  <a:lnTo>
                    <a:pt x="405411" y="59689"/>
                  </a:lnTo>
                  <a:lnTo>
                    <a:pt x="402843" y="57150"/>
                  </a:lnTo>
                  <a:lnTo>
                    <a:pt x="400407" y="54610"/>
                  </a:lnTo>
                  <a:lnTo>
                    <a:pt x="398436" y="53339"/>
                  </a:lnTo>
                  <a:close/>
                </a:path>
                <a:path w="490854" h="485139">
                  <a:moveTo>
                    <a:pt x="151288" y="53339"/>
                  </a:moveTo>
                  <a:lnTo>
                    <a:pt x="118490" y="53339"/>
                  </a:lnTo>
                  <a:lnTo>
                    <a:pt x="161416" y="77469"/>
                  </a:lnTo>
                  <a:lnTo>
                    <a:pt x="164973" y="76200"/>
                  </a:lnTo>
                  <a:lnTo>
                    <a:pt x="173095" y="72389"/>
                  </a:lnTo>
                  <a:lnTo>
                    <a:pt x="197865" y="64769"/>
                  </a:lnTo>
                  <a:lnTo>
                    <a:pt x="202184" y="64769"/>
                  </a:lnTo>
                  <a:lnTo>
                    <a:pt x="204042" y="59689"/>
                  </a:lnTo>
                  <a:lnTo>
                    <a:pt x="162433" y="59689"/>
                  </a:lnTo>
                  <a:lnTo>
                    <a:pt x="151288" y="53339"/>
                  </a:lnTo>
                  <a:close/>
                </a:path>
                <a:path w="490854" h="485139">
                  <a:moveTo>
                    <a:pt x="287641" y="15239"/>
                  </a:moveTo>
                  <a:lnTo>
                    <a:pt x="253698" y="15239"/>
                  </a:lnTo>
                  <a:lnTo>
                    <a:pt x="261812" y="16510"/>
                  </a:lnTo>
                  <a:lnTo>
                    <a:pt x="270890" y="16510"/>
                  </a:lnTo>
                  <a:lnTo>
                    <a:pt x="288925" y="64769"/>
                  </a:lnTo>
                  <a:lnTo>
                    <a:pt x="292862" y="64769"/>
                  </a:lnTo>
                  <a:lnTo>
                    <a:pt x="301398" y="67310"/>
                  </a:lnTo>
                  <a:lnTo>
                    <a:pt x="317900" y="72389"/>
                  </a:lnTo>
                  <a:lnTo>
                    <a:pt x="326009" y="76200"/>
                  </a:lnTo>
                  <a:lnTo>
                    <a:pt x="329691" y="77469"/>
                  </a:lnTo>
                  <a:lnTo>
                    <a:pt x="361228" y="59689"/>
                  </a:lnTo>
                  <a:lnTo>
                    <a:pt x="328549" y="59689"/>
                  </a:lnTo>
                  <a:lnTo>
                    <a:pt x="314848" y="54610"/>
                  </a:lnTo>
                  <a:lnTo>
                    <a:pt x="307885" y="53339"/>
                  </a:lnTo>
                  <a:lnTo>
                    <a:pt x="300863" y="50800"/>
                  </a:lnTo>
                  <a:lnTo>
                    <a:pt x="287641" y="15239"/>
                  </a:lnTo>
                  <a:close/>
                </a:path>
                <a:path w="490854" h="485139">
                  <a:moveTo>
                    <a:pt x="282448" y="1269"/>
                  </a:moveTo>
                  <a:lnTo>
                    <a:pt x="208661" y="1269"/>
                  </a:lnTo>
                  <a:lnTo>
                    <a:pt x="190246" y="50800"/>
                  </a:lnTo>
                  <a:lnTo>
                    <a:pt x="183203" y="52069"/>
                  </a:lnTo>
                  <a:lnTo>
                    <a:pt x="162433" y="59689"/>
                  </a:lnTo>
                  <a:lnTo>
                    <a:pt x="204042" y="59689"/>
                  </a:lnTo>
                  <a:lnTo>
                    <a:pt x="219837" y="16510"/>
                  </a:lnTo>
                  <a:lnTo>
                    <a:pt x="229129" y="16510"/>
                  </a:lnTo>
                  <a:lnTo>
                    <a:pt x="237315" y="15239"/>
                  </a:lnTo>
                  <a:lnTo>
                    <a:pt x="287641" y="15239"/>
                  </a:lnTo>
                  <a:lnTo>
                    <a:pt x="282448" y="1269"/>
                  </a:lnTo>
                  <a:close/>
                </a:path>
                <a:path w="490854" h="485139">
                  <a:moveTo>
                    <a:pt x="373252" y="34289"/>
                  </a:moveTo>
                  <a:lnTo>
                    <a:pt x="328549" y="59689"/>
                  </a:lnTo>
                  <a:lnTo>
                    <a:pt x="361228" y="59689"/>
                  </a:lnTo>
                  <a:lnTo>
                    <a:pt x="372490" y="53339"/>
                  </a:lnTo>
                  <a:lnTo>
                    <a:pt x="398436" y="53339"/>
                  </a:lnTo>
                  <a:lnTo>
                    <a:pt x="394493" y="50800"/>
                  </a:lnTo>
                  <a:lnTo>
                    <a:pt x="386341" y="44450"/>
                  </a:lnTo>
                  <a:lnTo>
                    <a:pt x="377189" y="36829"/>
                  </a:lnTo>
                  <a:lnTo>
                    <a:pt x="373252" y="34289"/>
                  </a:lnTo>
                  <a:close/>
                </a:path>
                <a:path w="490854" h="485139">
                  <a:moveTo>
                    <a:pt x="266580" y="0"/>
                  </a:moveTo>
                  <a:lnTo>
                    <a:pt x="224307" y="0"/>
                  </a:lnTo>
                  <a:lnTo>
                    <a:pt x="213360" y="1269"/>
                  </a:lnTo>
                  <a:lnTo>
                    <a:pt x="277749" y="1269"/>
                  </a:lnTo>
                  <a:lnTo>
                    <a:pt x="266580" y="0"/>
                  </a:lnTo>
                  <a:close/>
                </a:path>
              </a:pathLst>
            </a:custGeom>
            <a:solidFill>
              <a:srgbClr val="03522C"/>
            </a:solidFill>
          </p:spPr>
          <p:txBody>
            <a:bodyPr wrap="square" lIns="0" tIns="0" rIns="0" bIns="0" rtlCol="0"/>
            <a:lstStyle/>
            <a:p>
              <a:endParaRPr/>
            </a:p>
          </p:txBody>
        </p:sp>
      </p:grpSp>
      <p:sp>
        <p:nvSpPr>
          <p:cNvPr id="42" name="object 42"/>
          <p:cNvSpPr txBox="1"/>
          <p:nvPr/>
        </p:nvSpPr>
        <p:spPr>
          <a:xfrm>
            <a:off x="8554973" y="2079498"/>
            <a:ext cx="699770" cy="384175"/>
          </a:xfrm>
          <a:prstGeom prst="rect">
            <a:avLst/>
          </a:prstGeom>
          <a:solidFill>
            <a:srgbClr val="D6EFEA">
              <a:alpha val="59999"/>
            </a:srgbClr>
          </a:solidFill>
          <a:ln w="7619">
            <a:solidFill>
              <a:srgbClr val="29B974"/>
            </a:solidFill>
          </a:ln>
        </p:spPr>
        <p:txBody>
          <a:bodyPr vert="horz" wrap="square" lIns="0" tIns="95885" rIns="0" bIns="0" rtlCol="0">
            <a:spAutoFit/>
          </a:bodyPr>
          <a:lstStyle/>
          <a:p>
            <a:pPr marL="146050">
              <a:lnSpc>
                <a:spcPct val="100000"/>
              </a:lnSpc>
              <a:spcBef>
                <a:spcPts val="755"/>
              </a:spcBef>
            </a:pPr>
            <a:r>
              <a:rPr sz="1200" b="1" spc="-20">
                <a:solidFill>
                  <a:srgbClr val="29B974"/>
                </a:solidFill>
                <a:latin typeface="Trebuchet MS"/>
                <a:cs typeface="Trebuchet MS"/>
              </a:rPr>
              <a:t>Leads</a:t>
            </a:r>
            <a:endParaRPr sz="1200">
              <a:latin typeface="Trebuchet MS"/>
              <a:cs typeface="Trebuchet MS"/>
            </a:endParaRPr>
          </a:p>
        </p:txBody>
      </p:sp>
      <p:sp>
        <p:nvSpPr>
          <p:cNvPr id="43" name="object 43"/>
          <p:cNvSpPr txBox="1"/>
          <p:nvPr/>
        </p:nvSpPr>
        <p:spPr>
          <a:xfrm>
            <a:off x="9441180" y="5216652"/>
            <a:ext cx="2272665" cy="646430"/>
          </a:xfrm>
          <a:prstGeom prst="rect">
            <a:avLst/>
          </a:prstGeom>
          <a:solidFill>
            <a:srgbClr val="FFFFFF"/>
          </a:solidFill>
        </p:spPr>
        <p:txBody>
          <a:bodyPr vert="horz" wrap="square" lIns="0" tIns="95250" rIns="0" bIns="0" rtlCol="0">
            <a:spAutoFit/>
          </a:bodyPr>
          <a:lstStyle/>
          <a:p>
            <a:pPr marL="128270" marR="121285" algn="ctr">
              <a:lnSpc>
                <a:spcPts val="1190"/>
              </a:lnSpc>
              <a:spcBef>
                <a:spcPts val="750"/>
              </a:spcBef>
            </a:pPr>
            <a:r>
              <a:rPr sz="1100" i="1" spc="-10">
                <a:solidFill>
                  <a:srgbClr val="565656"/>
                </a:solidFill>
                <a:latin typeface="Trebuchet MS"/>
                <a:cs typeface="Trebuchet MS"/>
              </a:rPr>
              <a:t>Go-to-</a:t>
            </a:r>
            <a:r>
              <a:rPr sz="1100" i="1">
                <a:solidFill>
                  <a:srgbClr val="565656"/>
                </a:solidFill>
                <a:latin typeface="Trebuchet MS"/>
                <a:cs typeface="Trebuchet MS"/>
              </a:rPr>
              <a:t>Market</a:t>
            </a:r>
            <a:r>
              <a:rPr sz="1100" i="1" spc="-30">
                <a:solidFill>
                  <a:srgbClr val="565656"/>
                </a:solidFill>
                <a:latin typeface="Trebuchet MS"/>
                <a:cs typeface="Trebuchet MS"/>
              </a:rPr>
              <a:t> </a:t>
            </a:r>
            <a:r>
              <a:rPr sz="1100" i="1">
                <a:solidFill>
                  <a:srgbClr val="565656"/>
                </a:solidFill>
                <a:latin typeface="Trebuchet MS"/>
                <a:cs typeface="Trebuchet MS"/>
              </a:rPr>
              <a:t>Strategy</a:t>
            </a:r>
            <a:r>
              <a:rPr sz="1100" i="1" spc="-25">
                <a:solidFill>
                  <a:srgbClr val="565656"/>
                </a:solidFill>
                <a:latin typeface="Trebuchet MS"/>
                <a:cs typeface="Trebuchet MS"/>
              </a:rPr>
              <a:t> </a:t>
            </a:r>
            <a:r>
              <a:rPr sz="1100" i="1">
                <a:solidFill>
                  <a:srgbClr val="565656"/>
                </a:solidFill>
                <a:latin typeface="Trebuchet MS"/>
                <a:cs typeface="Trebuchet MS"/>
              </a:rPr>
              <a:t>based</a:t>
            </a:r>
            <a:r>
              <a:rPr sz="1100" i="1" spc="-5">
                <a:solidFill>
                  <a:srgbClr val="565656"/>
                </a:solidFill>
                <a:latin typeface="Trebuchet MS"/>
                <a:cs typeface="Trebuchet MS"/>
              </a:rPr>
              <a:t> </a:t>
            </a:r>
            <a:r>
              <a:rPr sz="1100" i="1" spc="-25">
                <a:solidFill>
                  <a:srgbClr val="565656"/>
                </a:solidFill>
                <a:latin typeface="Trebuchet MS"/>
                <a:cs typeface="Trebuchet MS"/>
              </a:rPr>
              <a:t>on </a:t>
            </a:r>
            <a:r>
              <a:rPr sz="1100" i="1">
                <a:solidFill>
                  <a:srgbClr val="565656"/>
                </a:solidFill>
                <a:latin typeface="Trebuchet MS"/>
                <a:cs typeface="Trebuchet MS"/>
              </a:rPr>
              <a:t>leads</a:t>
            </a:r>
            <a:r>
              <a:rPr sz="1100" i="1" spc="-25">
                <a:solidFill>
                  <a:srgbClr val="565656"/>
                </a:solidFill>
                <a:latin typeface="Trebuchet MS"/>
                <a:cs typeface="Trebuchet MS"/>
              </a:rPr>
              <a:t> </a:t>
            </a:r>
            <a:r>
              <a:rPr sz="1100" i="1">
                <a:solidFill>
                  <a:srgbClr val="565656"/>
                </a:solidFill>
                <a:latin typeface="Trebuchet MS"/>
                <a:cs typeface="Trebuchet MS"/>
              </a:rPr>
              <a:t>identified</a:t>
            </a:r>
            <a:r>
              <a:rPr sz="1100" i="1" spc="-45">
                <a:solidFill>
                  <a:srgbClr val="565656"/>
                </a:solidFill>
                <a:latin typeface="Trebuchet MS"/>
                <a:cs typeface="Trebuchet MS"/>
              </a:rPr>
              <a:t> </a:t>
            </a:r>
            <a:r>
              <a:rPr sz="1100" i="1">
                <a:solidFill>
                  <a:srgbClr val="565656"/>
                </a:solidFill>
                <a:latin typeface="Trebuchet MS"/>
                <a:cs typeface="Trebuchet MS"/>
              </a:rPr>
              <a:t>from</a:t>
            </a:r>
            <a:r>
              <a:rPr sz="1100" i="1" spc="-35">
                <a:solidFill>
                  <a:srgbClr val="565656"/>
                </a:solidFill>
                <a:latin typeface="Trebuchet MS"/>
                <a:cs typeface="Trebuchet MS"/>
              </a:rPr>
              <a:t> </a:t>
            </a:r>
            <a:r>
              <a:rPr sz="1100" i="1" spc="-20">
                <a:solidFill>
                  <a:srgbClr val="565656"/>
                </a:solidFill>
                <a:latin typeface="Trebuchet MS"/>
                <a:cs typeface="Trebuchet MS"/>
              </a:rPr>
              <a:t>other </a:t>
            </a:r>
            <a:r>
              <a:rPr sz="1100" i="1">
                <a:solidFill>
                  <a:srgbClr val="565656"/>
                </a:solidFill>
                <a:latin typeface="Trebuchet MS"/>
                <a:cs typeface="Trebuchet MS"/>
              </a:rPr>
              <a:t>analytical</a:t>
            </a:r>
            <a:r>
              <a:rPr sz="1100" i="1" spc="-45">
                <a:solidFill>
                  <a:srgbClr val="565656"/>
                </a:solidFill>
                <a:latin typeface="Trebuchet MS"/>
                <a:cs typeface="Trebuchet MS"/>
              </a:rPr>
              <a:t> </a:t>
            </a:r>
            <a:r>
              <a:rPr sz="1100" i="1" spc="-10">
                <a:solidFill>
                  <a:srgbClr val="565656"/>
                </a:solidFill>
                <a:latin typeface="Trebuchet MS"/>
                <a:cs typeface="Trebuchet MS"/>
              </a:rPr>
              <a:t>modules</a:t>
            </a:r>
            <a:endParaRPr sz="1100">
              <a:latin typeface="Trebuchet MS"/>
              <a:cs typeface="Trebuchet MS"/>
            </a:endParaRP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1F1F1"/>
          </a:solidFill>
        </p:spPr>
        <p:txBody>
          <a:bodyPr wrap="square" lIns="0" tIns="0" rIns="0" bIns="0" rtlCol="0"/>
          <a:lstStyle/>
          <a:p>
            <a:endParaRPr/>
          </a:p>
        </p:txBody>
      </p:sp>
      <p:sp>
        <p:nvSpPr>
          <p:cNvPr id="3" name="object 3"/>
          <p:cNvSpPr txBox="1"/>
          <p:nvPr/>
        </p:nvSpPr>
        <p:spPr>
          <a:xfrm>
            <a:off x="11986574" y="3898286"/>
            <a:ext cx="128270" cy="2653665"/>
          </a:xfrm>
          <a:prstGeom prst="rect">
            <a:avLst/>
          </a:prstGeom>
        </p:spPr>
        <p:txBody>
          <a:bodyPr vert="vert270" wrap="square" lIns="0" tIns="6350" rIns="0" bIns="0" rtlCol="0">
            <a:spAutoFit/>
          </a:bodyPr>
          <a:lstStyle/>
          <a:p>
            <a:pPr marL="12700">
              <a:lnSpc>
                <a:spcPct val="100000"/>
              </a:lnSpc>
              <a:spcBef>
                <a:spcPts val="50"/>
              </a:spcBef>
            </a:pPr>
            <a:r>
              <a:rPr sz="700">
                <a:solidFill>
                  <a:srgbClr val="7E7E7E"/>
                </a:solidFill>
                <a:latin typeface="Trebuchet MS"/>
                <a:cs typeface="Trebuchet MS"/>
              </a:rPr>
              <a:t>Copyright</a:t>
            </a:r>
            <a:r>
              <a:rPr sz="700" spc="-25">
                <a:solidFill>
                  <a:srgbClr val="7E7E7E"/>
                </a:solidFill>
                <a:latin typeface="Trebuchet MS"/>
                <a:cs typeface="Trebuchet MS"/>
              </a:rPr>
              <a:t> </a:t>
            </a:r>
            <a:r>
              <a:rPr sz="700">
                <a:solidFill>
                  <a:srgbClr val="7E7E7E"/>
                </a:solidFill>
                <a:latin typeface="Trebuchet MS"/>
                <a:cs typeface="Trebuchet MS"/>
              </a:rPr>
              <a:t>©</a:t>
            </a:r>
            <a:r>
              <a:rPr sz="700" spc="-25">
                <a:solidFill>
                  <a:srgbClr val="7E7E7E"/>
                </a:solidFill>
                <a:latin typeface="Trebuchet MS"/>
                <a:cs typeface="Trebuchet MS"/>
              </a:rPr>
              <a:t> </a:t>
            </a:r>
            <a:r>
              <a:rPr sz="700">
                <a:solidFill>
                  <a:srgbClr val="7E7E7E"/>
                </a:solidFill>
                <a:latin typeface="Trebuchet MS"/>
                <a:cs typeface="Trebuchet MS"/>
              </a:rPr>
              <a:t>2019</a:t>
            </a:r>
            <a:r>
              <a:rPr sz="700" spc="-15">
                <a:solidFill>
                  <a:srgbClr val="7E7E7E"/>
                </a:solidFill>
                <a:latin typeface="Trebuchet MS"/>
                <a:cs typeface="Trebuchet MS"/>
              </a:rPr>
              <a:t> </a:t>
            </a:r>
            <a:r>
              <a:rPr sz="700">
                <a:solidFill>
                  <a:srgbClr val="7E7E7E"/>
                </a:solidFill>
                <a:latin typeface="Trebuchet MS"/>
                <a:cs typeface="Trebuchet MS"/>
              </a:rPr>
              <a:t>by</a:t>
            </a:r>
            <a:r>
              <a:rPr sz="700" spc="-20">
                <a:solidFill>
                  <a:srgbClr val="7E7E7E"/>
                </a:solidFill>
                <a:latin typeface="Trebuchet MS"/>
                <a:cs typeface="Trebuchet MS"/>
              </a:rPr>
              <a:t> </a:t>
            </a:r>
            <a:r>
              <a:rPr sz="700">
                <a:solidFill>
                  <a:srgbClr val="7E7E7E"/>
                </a:solidFill>
                <a:latin typeface="Trebuchet MS"/>
                <a:cs typeface="Trebuchet MS"/>
              </a:rPr>
              <a:t>Boston </a:t>
            </a:r>
            <a:r>
              <a:rPr sz="700" spc="-10">
                <a:solidFill>
                  <a:srgbClr val="7E7E7E"/>
                </a:solidFill>
                <a:latin typeface="Trebuchet MS"/>
                <a:cs typeface="Trebuchet MS"/>
              </a:rPr>
              <a:t>Consulting </a:t>
            </a:r>
            <a:r>
              <a:rPr sz="700">
                <a:solidFill>
                  <a:srgbClr val="7E7E7E"/>
                </a:solidFill>
                <a:latin typeface="Trebuchet MS"/>
                <a:cs typeface="Trebuchet MS"/>
              </a:rPr>
              <a:t>Group.</a:t>
            </a:r>
            <a:r>
              <a:rPr sz="700" spc="-5">
                <a:solidFill>
                  <a:srgbClr val="7E7E7E"/>
                </a:solidFill>
                <a:latin typeface="Trebuchet MS"/>
                <a:cs typeface="Trebuchet MS"/>
              </a:rPr>
              <a:t> </a:t>
            </a:r>
            <a:r>
              <a:rPr sz="700">
                <a:solidFill>
                  <a:srgbClr val="7E7E7E"/>
                </a:solidFill>
                <a:latin typeface="Trebuchet MS"/>
                <a:cs typeface="Trebuchet MS"/>
              </a:rPr>
              <a:t>All</a:t>
            </a:r>
            <a:r>
              <a:rPr sz="700" spc="-5">
                <a:solidFill>
                  <a:srgbClr val="7E7E7E"/>
                </a:solidFill>
                <a:latin typeface="Trebuchet MS"/>
                <a:cs typeface="Trebuchet MS"/>
              </a:rPr>
              <a:t> </a:t>
            </a:r>
            <a:r>
              <a:rPr sz="700">
                <a:solidFill>
                  <a:srgbClr val="7E7E7E"/>
                </a:solidFill>
                <a:latin typeface="Trebuchet MS"/>
                <a:cs typeface="Trebuchet MS"/>
              </a:rPr>
              <a:t>rights</a:t>
            </a:r>
            <a:r>
              <a:rPr sz="700" spc="-25">
                <a:solidFill>
                  <a:srgbClr val="7E7E7E"/>
                </a:solidFill>
                <a:latin typeface="Trebuchet MS"/>
                <a:cs typeface="Trebuchet MS"/>
              </a:rPr>
              <a:t> </a:t>
            </a:r>
            <a:r>
              <a:rPr sz="700" spc="-10">
                <a:solidFill>
                  <a:srgbClr val="7E7E7E"/>
                </a:solidFill>
                <a:latin typeface="Trebuchet MS"/>
                <a:cs typeface="Trebuchet MS"/>
              </a:rPr>
              <a:t>reserved.</a:t>
            </a:r>
            <a:endParaRPr sz="700">
              <a:latin typeface="Trebuchet MS"/>
              <a:cs typeface="Trebuchet MS"/>
            </a:endParaRPr>
          </a:p>
        </p:txBody>
      </p:sp>
      <p:sp>
        <p:nvSpPr>
          <p:cNvPr id="4" name="object 4"/>
          <p:cNvSpPr/>
          <p:nvPr/>
        </p:nvSpPr>
        <p:spPr>
          <a:xfrm>
            <a:off x="4532376" y="1938527"/>
            <a:ext cx="3435350" cy="4229100"/>
          </a:xfrm>
          <a:custGeom>
            <a:avLst/>
            <a:gdLst/>
            <a:ahLst/>
            <a:cxnLst/>
            <a:rect l="l" t="t" r="r" b="b"/>
            <a:pathLst>
              <a:path w="3435350" h="4229100">
                <a:moveTo>
                  <a:pt x="3435096" y="0"/>
                </a:moveTo>
                <a:lnTo>
                  <a:pt x="0" y="0"/>
                </a:lnTo>
                <a:lnTo>
                  <a:pt x="0" y="4229100"/>
                </a:lnTo>
                <a:lnTo>
                  <a:pt x="3435096" y="4229100"/>
                </a:lnTo>
                <a:lnTo>
                  <a:pt x="3435096" y="0"/>
                </a:lnTo>
                <a:close/>
              </a:path>
            </a:pathLst>
          </a:custGeom>
          <a:solidFill>
            <a:srgbClr val="D6EFEA">
              <a:alpha val="59999"/>
            </a:srgbClr>
          </a:solidFill>
        </p:spPr>
        <p:txBody>
          <a:bodyPr wrap="square" lIns="0" tIns="0" rIns="0" bIns="0" rtlCol="0"/>
          <a:lstStyle/>
          <a:p>
            <a:endParaRPr/>
          </a:p>
        </p:txBody>
      </p:sp>
      <p:sp>
        <p:nvSpPr>
          <p:cNvPr id="5" name="object 5"/>
          <p:cNvSpPr txBox="1"/>
          <p:nvPr/>
        </p:nvSpPr>
        <p:spPr>
          <a:xfrm>
            <a:off x="5596128" y="2049779"/>
            <a:ext cx="2272665" cy="1960793"/>
          </a:xfrm>
          <a:prstGeom prst="rect">
            <a:avLst/>
          </a:prstGeom>
          <a:solidFill>
            <a:srgbClr val="FFFFFF"/>
          </a:solidFill>
          <a:ln w="9525">
            <a:solidFill>
              <a:srgbClr val="6F6F6F"/>
            </a:solidFill>
          </a:ln>
        </p:spPr>
        <p:txBody>
          <a:bodyPr vert="horz" wrap="square" lIns="0" tIns="143510" rIns="0" bIns="0" rtlCol="0">
            <a:spAutoFit/>
          </a:bodyPr>
          <a:lstStyle/>
          <a:p>
            <a:pPr marL="548005" marR="67310" indent="-474345">
              <a:lnSpc>
                <a:spcPts val="1510"/>
              </a:lnSpc>
              <a:spcBef>
                <a:spcPts val="1130"/>
              </a:spcBef>
            </a:pPr>
            <a:r>
              <a:rPr sz="1400" b="1">
                <a:solidFill>
                  <a:srgbClr val="565656"/>
                </a:solidFill>
                <a:latin typeface="Trebuchet MS"/>
                <a:cs typeface="Trebuchet MS"/>
              </a:rPr>
              <a:t>Calculate</a:t>
            </a:r>
            <a:r>
              <a:rPr sz="1400" b="1" spc="-55">
                <a:solidFill>
                  <a:srgbClr val="565656"/>
                </a:solidFill>
                <a:latin typeface="Trebuchet MS"/>
                <a:cs typeface="Trebuchet MS"/>
              </a:rPr>
              <a:t> </a:t>
            </a:r>
            <a:r>
              <a:rPr sz="1400" b="1">
                <a:solidFill>
                  <a:srgbClr val="565656"/>
                </a:solidFill>
                <a:latin typeface="Trebuchet MS"/>
                <a:cs typeface="Trebuchet MS"/>
              </a:rPr>
              <a:t>Max</a:t>
            </a:r>
            <a:r>
              <a:rPr sz="1400" b="1" spc="-30">
                <a:solidFill>
                  <a:srgbClr val="565656"/>
                </a:solidFill>
                <a:latin typeface="Trebuchet MS"/>
                <a:cs typeface="Trebuchet MS"/>
              </a:rPr>
              <a:t> </a:t>
            </a:r>
            <a:r>
              <a:rPr sz="1400" b="1">
                <a:solidFill>
                  <a:srgbClr val="565656"/>
                </a:solidFill>
                <a:latin typeface="Trebuchet MS"/>
                <a:cs typeface="Trebuchet MS"/>
              </a:rPr>
              <a:t>Wallet</a:t>
            </a:r>
            <a:r>
              <a:rPr sz="1400" b="1" spc="-55">
                <a:solidFill>
                  <a:srgbClr val="565656"/>
                </a:solidFill>
                <a:latin typeface="Trebuchet MS"/>
                <a:cs typeface="Trebuchet MS"/>
              </a:rPr>
              <a:t> </a:t>
            </a:r>
            <a:r>
              <a:rPr sz="1400" b="1" spc="-20">
                <a:solidFill>
                  <a:srgbClr val="565656"/>
                </a:solidFill>
                <a:latin typeface="Trebuchet MS"/>
                <a:cs typeface="Trebuchet MS"/>
              </a:rPr>
              <a:t>Size </a:t>
            </a:r>
            <a:r>
              <a:rPr sz="1400" b="1">
                <a:solidFill>
                  <a:srgbClr val="565656"/>
                </a:solidFill>
                <a:latin typeface="Trebuchet MS"/>
                <a:cs typeface="Trebuchet MS"/>
              </a:rPr>
              <a:t>per</a:t>
            </a:r>
            <a:r>
              <a:rPr sz="1400" b="1" spc="-20">
                <a:solidFill>
                  <a:srgbClr val="565656"/>
                </a:solidFill>
                <a:latin typeface="Trebuchet MS"/>
                <a:cs typeface="Trebuchet MS"/>
              </a:rPr>
              <a:t> </a:t>
            </a:r>
            <a:r>
              <a:rPr sz="1400" b="1" spc="-10">
                <a:solidFill>
                  <a:srgbClr val="565656"/>
                </a:solidFill>
                <a:latin typeface="Trebuchet MS"/>
                <a:cs typeface="Trebuchet MS"/>
              </a:rPr>
              <a:t>archetype</a:t>
            </a:r>
            <a:endParaRPr sz="1400">
              <a:latin typeface="Trebuchet MS"/>
              <a:cs typeface="Trebuchet MS"/>
            </a:endParaRPr>
          </a:p>
          <a:p>
            <a:pPr marL="346710" marR="46355" indent="-216535">
              <a:lnSpc>
                <a:spcPct val="100000"/>
              </a:lnSpc>
              <a:spcBef>
                <a:spcPts val="595"/>
              </a:spcBef>
              <a:buClr>
                <a:srgbClr val="29B974"/>
              </a:buClr>
              <a:buChar char="•"/>
              <a:tabLst>
                <a:tab pos="346710" algn="l"/>
              </a:tabLst>
            </a:pPr>
            <a:r>
              <a:rPr sz="1100">
                <a:solidFill>
                  <a:srgbClr val="565656"/>
                </a:solidFill>
                <a:latin typeface="Trebuchet MS"/>
                <a:cs typeface="Trebuchet MS"/>
              </a:rPr>
              <a:t>Bucket</a:t>
            </a:r>
            <a:r>
              <a:rPr sz="1100" spc="-30">
                <a:solidFill>
                  <a:srgbClr val="565656"/>
                </a:solidFill>
                <a:latin typeface="Trebuchet MS"/>
                <a:cs typeface="Trebuchet MS"/>
              </a:rPr>
              <a:t> </a:t>
            </a:r>
            <a:r>
              <a:rPr sz="1100">
                <a:solidFill>
                  <a:srgbClr val="565656"/>
                </a:solidFill>
                <a:latin typeface="Trebuchet MS"/>
                <a:cs typeface="Trebuchet MS"/>
              </a:rPr>
              <a:t>customers</a:t>
            </a:r>
            <a:r>
              <a:rPr sz="1100" spc="-15">
                <a:solidFill>
                  <a:srgbClr val="565656"/>
                </a:solidFill>
                <a:latin typeface="Trebuchet MS"/>
                <a:cs typeface="Trebuchet MS"/>
              </a:rPr>
              <a:t> </a:t>
            </a:r>
            <a:r>
              <a:rPr sz="1100">
                <a:solidFill>
                  <a:srgbClr val="565656"/>
                </a:solidFill>
                <a:latin typeface="Trebuchet MS"/>
                <a:cs typeface="Trebuchet MS"/>
              </a:rPr>
              <a:t>from</a:t>
            </a:r>
            <a:r>
              <a:rPr sz="1100" spc="-30">
                <a:solidFill>
                  <a:srgbClr val="565656"/>
                </a:solidFill>
                <a:latin typeface="Trebuchet MS"/>
                <a:cs typeface="Trebuchet MS"/>
              </a:rPr>
              <a:t> </a:t>
            </a:r>
            <a:r>
              <a:rPr sz="1100" spc="-20">
                <a:solidFill>
                  <a:srgbClr val="565656"/>
                </a:solidFill>
                <a:latin typeface="Trebuchet MS"/>
                <a:cs typeface="Trebuchet MS"/>
              </a:rPr>
              <a:t>each </a:t>
            </a:r>
            <a:r>
              <a:rPr sz="1100">
                <a:solidFill>
                  <a:srgbClr val="565656"/>
                </a:solidFill>
                <a:latin typeface="Trebuchet MS"/>
                <a:cs typeface="Trebuchet MS"/>
              </a:rPr>
              <a:t>archetypes</a:t>
            </a:r>
            <a:r>
              <a:rPr sz="1100" spc="-30">
                <a:solidFill>
                  <a:srgbClr val="565656"/>
                </a:solidFill>
                <a:latin typeface="Trebuchet MS"/>
                <a:cs typeface="Trebuchet MS"/>
              </a:rPr>
              <a:t> </a:t>
            </a:r>
            <a:r>
              <a:rPr sz="1100">
                <a:solidFill>
                  <a:srgbClr val="565656"/>
                </a:solidFill>
                <a:latin typeface="Trebuchet MS"/>
                <a:cs typeface="Trebuchet MS"/>
              </a:rPr>
              <a:t>into</a:t>
            </a:r>
            <a:r>
              <a:rPr sz="1100" spc="-25">
                <a:solidFill>
                  <a:srgbClr val="565656"/>
                </a:solidFill>
                <a:latin typeface="Trebuchet MS"/>
                <a:cs typeface="Trebuchet MS"/>
              </a:rPr>
              <a:t> </a:t>
            </a:r>
            <a:r>
              <a:rPr sz="1100">
                <a:solidFill>
                  <a:srgbClr val="565656"/>
                </a:solidFill>
                <a:latin typeface="Trebuchet MS"/>
                <a:cs typeface="Trebuchet MS"/>
              </a:rPr>
              <a:t>deciles</a:t>
            </a:r>
            <a:r>
              <a:rPr sz="1100" spc="-35">
                <a:solidFill>
                  <a:srgbClr val="565656"/>
                </a:solidFill>
                <a:latin typeface="Trebuchet MS"/>
                <a:cs typeface="Trebuchet MS"/>
              </a:rPr>
              <a:t> </a:t>
            </a:r>
            <a:r>
              <a:rPr sz="1100" spc="-10">
                <a:solidFill>
                  <a:srgbClr val="565656"/>
                </a:solidFill>
                <a:latin typeface="Trebuchet MS"/>
                <a:cs typeface="Trebuchet MS"/>
              </a:rPr>
              <a:t>based </a:t>
            </a:r>
            <a:r>
              <a:rPr sz="1100">
                <a:solidFill>
                  <a:srgbClr val="565656"/>
                </a:solidFill>
                <a:latin typeface="Trebuchet MS"/>
                <a:cs typeface="Trebuchet MS"/>
              </a:rPr>
              <a:t>on</a:t>
            </a:r>
            <a:r>
              <a:rPr sz="1100" spc="-10">
                <a:solidFill>
                  <a:srgbClr val="565656"/>
                </a:solidFill>
                <a:latin typeface="Trebuchet MS"/>
                <a:cs typeface="Trebuchet MS"/>
              </a:rPr>
              <a:t> </a:t>
            </a:r>
            <a:r>
              <a:rPr sz="1100">
                <a:solidFill>
                  <a:srgbClr val="565656"/>
                </a:solidFill>
                <a:latin typeface="Trebuchet MS"/>
                <a:cs typeface="Trebuchet MS"/>
              </a:rPr>
              <a:t>their</a:t>
            </a:r>
            <a:r>
              <a:rPr sz="1100" spc="-10">
                <a:solidFill>
                  <a:srgbClr val="565656"/>
                </a:solidFill>
                <a:latin typeface="Trebuchet MS"/>
                <a:cs typeface="Trebuchet MS"/>
              </a:rPr>
              <a:t> </a:t>
            </a:r>
            <a:r>
              <a:rPr lang="en-US" sz="1100" err="1">
                <a:solidFill>
                  <a:srgbClr val="565656"/>
                </a:solidFill>
                <a:latin typeface="Trebuchet MS"/>
                <a:cs typeface="Trebuchet MS"/>
              </a:rPr>
              <a:t>AuM</a:t>
            </a:r>
            <a:r>
              <a:rPr sz="1100" spc="-10">
                <a:solidFill>
                  <a:srgbClr val="565656"/>
                </a:solidFill>
                <a:latin typeface="Trebuchet MS"/>
                <a:cs typeface="Trebuchet MS"/>
              </a:rPr>
              <a:t> </a:t>
            </a:r>
            <a:r>
              <a:rPr sz="1100">
                <a:solidFill>
                  <a:srgbClr val="565656"/>
                </a:solidFill>
                <a:latin typeface="Trebuchet MS"/>
                <a:cs typeface="Trebuchet MS"/>
              </a:rPr>
              <a:t>by</a:t>
            </a:r>
            <a:r>
              <a:rPr sz="1100" spc="-10">
                <a:solidFill>
                  <a:srgbClr val="565656"/>
                </a:solidFill>
                <a:latin typeface="Trebuchet MS"/>
                <a:cs typeface="Trebuchet MS"/>
              </a:rPr>
              <a:t> product </a:t>
            </a:r>
            <a:r>
              <a:rPr sz="1100">
                <a:solidFill>
                  <a:srgbClr val="565656"/>
                </a:solidFill>
                <a:latin typeface="Trebuchet MS"/>
                <a:cs typeface="Trebuchet MS"/>
              </a:rPr>
              <a:t>(CASA,</a:t>
            </a:r>
            <a:r>
              <a:rPr sz="1100" spc="-30">
                <a:solidFill>
                  <a:srgbClr val="565656"/>
                </a:solidFill>
                <a:latin typeface="Trebuchet MS"/>
                <a:cs typeface="Trebuchet MS"/>
              </a:rPr>
              <a:t> </a:t>
            </a:r>
            <a:r>
              <a:rPr sz="1100">
                <a:solidFill>
                  <a:srgbClr val="565656"/>
                </a:solidFill>
                <a:latin typeface="Trebuchet MS"/>
                <a:cs typeface="Trebuchet MS"/>
              </a:rPr>
              <a:t>TD,</a:t>
            </a:r>
            <a:r>
              <a:rPr sz="1100" spc="-15">
                <a:solidFill>
                  <a:srgbClr val="565656"/>
                </a:solidFill>
                <a:latin typeface="Trebuchet MS"/>
                <a:cs typeface="Trebuchet MS"/>
              </a:rPr>
              <a:t> </a:t>
            </a:r>
            <a:r>
              <a:rPr sz="1100">
                <a:solidFill>
                  <a:srgbClr val="565656"/>
                </a:solidFill>
                <a:latin typeface="Trebuchet MS"/>
                <a:cs typeface="Trebuchet MS"/>
              </a:rPr>
              <a:t>Investments,</a:t>
            </a:r>
            <a:r>
              <a:rPr sz="1100" spc="-25">
                <a:solidFill>
                  <a:srgbClr val="565656"/>
                </a:solidFill>
                <a:latin typeface="Trebuchet MS"/>
                <a:cs typeface="Trebuchet MS"/>
              </a:rPr>
              <a:t> </a:t>
            </a:r>
            <a:r>
              <a:rPr sz="1100" spc="-20">
                <a:solidFill>
                  <a:srgbClr val="565656"/>
                </a:solidFill>
                <a:latin typeface="Trebuchet MS"/>
                <a:cs typeface="Trebuchet MS"/>
              </a:rPr>
              <a:t>etc.)</a:t>
            </a:r>
            <a:endParaRPr sz="1100">
              <a:latin typeface="Trebuchet MS"/>
              <a:cs typeface="Trebuchet MS"/>
            </a:endParaRPr>
          </a:p>
          <a:p>
            <a:pPr>
              <a:lnSpc>
                <a:spcPct val="100000"/>
              </a:lnSpc>
              <a:spcBef>
                <a:spcPts val="40"/>
              </a:spcBef>
              <a:buClr>
                <a:srgbClr val="29B974"/>
              </a:buClr>
              <a:buFont typeface="Trebuchet MS"/>
              <a:buChar char="•"/>
            </a:pPr>
            <a:endParaRPr sz="1100">
              <a:latin typeface="Trebuchet MS"/>
              <a:cs typeface="Trebuchet MS"/>
            </a:endParaRPr>
          </a:p>
          <a:p>
            <a:pPr marL="346710" marR="85090" indent="-216535">
              <a:lnSpc>
                <a:spcPct val="100000"/>
              </a:lnSpc>
              <a:buClr>
                <a:srgbClr val="29B974"/>
              </a:buClr>
              <a:buChar char="•"/>
              <a:tabLst>
                <a:tab pos="346710" algn="l"/>
              </a:tabLst>
            </a:pPr>
            <a:r>
              <a:rPr sz="1100">
                <a:solidFill>
                  <a:srgbClr val="565656"/>
                </a:solidFill>
                <a:latin typeface="Trebuchet MS"/>
                <a:cs typeface="Trebuchet MS"/>
              </a:rPr>
              <a:t>Identify</a:t>
            </a:r>
            <a:r>
              <a:rPr sz="1100" spc="-25">
                <a:solidFill>
                  <a:srgbClr val="565656"/>
                </a:solidFill>
                <a:latin typeface="Trebuchet MS"/>
                <a:cs typeface="Trebuchet MS"/>
              </a:rPr>
              <a:t> </a:t>
            </a:r>
            <a:r>
              <a:rPr sz="1100">
                <a:solidFill>
                  <a:srgbClr val="565656"/>
                </a:solidFill>
                <a:latin typeface="Trebuchet MS"/>
                <a:cs typeface="Trebuchet MS"/>
              </a:rPr>
              <a:t>75</a:t>
            </a:r>
            <a:r>
              <a:rPr sz="1100" spc="-25">
                <a:solidFill>
                  <a:srgbClr val="565656"/>
                </a:solidFill>
                <a:latin typeface="Trebuchet MS"/>
                <a:cs typeface="Trebuchet MS"/>
              </a:rPr>
              <a:t> </a:t>
            </a:r>
            <a:r>
              <a:rPr sz="1100">
                <a:solidFill>
                  <a:srgbClr val="565656"/>
                </a:solidFill>
                <a:latin typeface="Trebuchet MS"/>
                <a:cs typeface="Trebuchet MS"/>
              </a:rPr>
              <a:t>percentile</a:t>
            </a:r>
            <a:r>
              <a:rPr sz="1100" spc="-15">
                <a:solidFill>
                  <a:srgbClr val="565656"/>
                </a:solidFill>
                <a:latin typeface="Trebuchet MS"/>
                <a:cs typeface="Trebuchet MS"/>
              </a:rPr>
              <a:t> </a:t>
            </a:r>
            <a:r>
              <a:rPr lang="en-US" sz="1100" err="1">
                <a:solidFill>
                  <a:srgbClr val="565656"/>
                </a:solidFill>
                <a:latin typeface="Trebuchet MS"/>
                <a:cs typeface="Trebuchet MS"/>
              </a:rPr>
              <a:t>AuM</a:t>
            </a:r>
            <a:r>
              <a:rPr sz="1100" spc="-20">
                <a:solidFill>
                  <a:srgbClr val="565656"/>
                </a:solidFill>
                <a:latin typeface="Trebuchet MS"/>
                <a:cs typeface="Trebuchet MS"/>
              </a:rPr>
              <a:t> </a:t>
            </a:r>
            <a:r>
              <a:rPr sz="1100" spc="-25">
                <a:solidFill>
                  <a:srgbClr val="565656"/>
                </a:solidFill>
                <a:latin typeface="Trebuchet MS"/>
                <a:cs typeface="Trebuchet MS"/>
              </a:rPr>
              <a:t>as </a:t>
            </a:r>
            <a:r>
              <a:rPr sz="1100">
                <a:solidFill>
                  <a:srgbClr val="565656"/>
                </a:solidFill>
                <a:latin typeface="Trebuchet MS"/>
                <a:cs typeface="Trebuchet MS"/>
              </a:rPr>
              <a:t>max</a:t>
            </a:r>
            <a:r>
              <a:rPr sz="1100" spc="-15">
                <a:solidFill>
                  <a:srgbClr val="565656"/>
                </a:solidFill>
                <a:latin typeface="Trebuchet MS"/>
                <a:cs typeface="Trebuchet MS"/>
              </a:rPr>
              <a:t> </a:t>
            </a:r>
            <a:r>
              <a:rPr sz="1100">
                <a:solidFill>
                  <a:srgbClr val="565656"/>
                </a:solidFill>
                <a:latin typeface="Trebuchet MS"/>
                <a:cs typeface="Trebuchet MS"/>
              </a:rPr>
              <a:t>wallet</a:t>
            </a:r>
            <a:r>
              <a:rPr sz="1100" spc="-20">
                <a:solidFill>
                  <a:srgbClr val="565656"/>
                </a:solidFill>
                <a:latin typeface="Trebuchet MS"/>
                <a:cs typeface="Trebuchet MS"/>
              </a:rPr>
              <a:t> </a:t>
            </a:r>
            <a:r>
              <a:rPr sz="1100">
                <a:solidFill>
                  <a:srgbClr val="565656"/>
                </a:solidFill>
                <a:latin typeface="Trebuchet MS"/>
                <a:cs typeface="Trebuchet MS"/>
              </a:rPr>
              <a:t>size</a:t>
            </a:r>
            <a:r>
              <a:rPr sz="1100" spc="-5">
                <a:solidFill>
                  <a:srgbClr val="565656"/>
                </a:solidFill>
                <a:latin typeface="Trebuchet MS"/>
                <a:cs typeface="Trebuchet MS"/>
              </a:rPr>
              <a:t> </a:t>
            </a:r>
            <a:r>
              <a:rPr sz="1100">
                <a:solidFill>
                  <a:srgbClr val="565656"/>
                </a:solidFill>
                <a:latin typeface="Trebuchet MS"/>
                <a:cs typeface="Trebuchet MS"/>
              </a:rPr>
              <a:t>for</a:t>
            </a:r>
            <a:r>
              <a:rPr sz="1100" spc="-10">
                <a:solidFill>
                  <a:srgbClr val="565656"/>
                </a:solidFill>
                <a:latin typeface="Trebuchet MS"/>
                <a:cs typeface="Trebuchet MS"/>
              </a:rPr>
              <a:t> </a:t>
            </a:r>
            <a:r>
              <a:rPr sz="1100" spc="-20">
                <a:solidFill>
                  <a:srgbClr val="565656"/>
                </a:solidFill>
                <a:latin typeface="Trebuchet MS"/>
                <a:cs typeface="Trebuchet MS"/>
              </a:rPr>
              <a:t>each </a:t>
            </a:r>
            <a:r>
              <a:rPr sz="1100" spc="-10">
                <a:solidFill>
                  <a:srgbClr val="565656"/>
                </a:solidFill>
                <a:latin typeface="Trebuchet MS"/>
                <a:cs typeface="Trebuchet MS"/>
              </a:rPr>
              <a:t>product</a:t>
            </a:r>
            <a:endParaRPr sz="1100">
              <a:latin typeface="Trebuchet MS"/>
              <a:cs typeface="Trebuchet MS"/>
            </a:endParaRPr>
          </a:p>
        </p:txBody>
      </p:sp>
      <p:grpSp>
        <p:nvGrpSpPr>
          <p:cNvPr id="6" name="object 6"/>
          <p:cNvGrpSpPr/>
          <p:nvPr/>
        </p:nvGrpSpPr>
        <p:grpSpPr>
          <a:xfrm>
            <a:off x="629412" y="1943100"/>
            <a:ext cx="3432175" cy="4229100"/>
            <a:chOff x="629412" y="1943100"/>
            <a:chExt cx="3432175" cy="4229100"/>
          </a:xfrm>
        </p:grpSpPr>
        <p:sp>
          <p:nvSpPr>
            <p:cNvPr id="7" name="object 7"/>
            <p:cNvSpPr/>
            <p:nvPr/>
          </p:nvSpPr>
          <p:spPr>
            <a:xfrm>
              <a:off x="629412" y="1943100"/>
              <a:ext cx="3432175" cy="4229100"/>
            </a:xfrm>
            <a:custGeom>
              <a:avLst/>
              <a:gdLst/>
              <a:ahLst/>
              <a:cxnLst/>
              <a:rect l="l" t="t" r="r" b="b"/>
              <a:pathLst>
                <a:path w="3432175" h="4229100">
                  <a:moveTo>
                    <a:pt x="3432048" y="0"/>
                  </a:moveTo>
                  <a:lnTo>
                    <a:pt x="0" y="0"/>
                  </a:lnTo>
                  <a:lnTo>
                    <a:pt x="0" y="4229100"/>
                  </a:lnTo>
                  <a:lnTo>
                    <a:pt x="3432048" y="4229100"/>
                  </a:lnTo>
                  <a:lnTo>
                    <a:pt x="3432048" y="0"/>
                  </a:lnTo>
                  <a:close/>
                </a:path>
              </a:pathLst>
            </a:custGeom>
            <a:solidFill>
              <a:srgbClr val="D6EFEA">
                <a:alpha val="59999"/>
              </a:srgbClr>
            </a:solidFill>
          </p:spPr>
          <p:txBody>
            <a:bodyPr wrap="square" lIns="0" tIns="0" rIns="0" bIns="0" rtlCol="0"/>
            <a:lstStyle/>
            <a:p>
              <a:endParaRPr/>
            </a:p>
          </p:txBody>
        </p:sp>
        <p:sp>
          <p:nvSpPr>
            <p:cNvPr id="8" name="object 8"/>
            <p:cNvSpPr/>
            <p:nvPr/>
          </p:nvSpPr>
          <p:spPr>
            <a:xfrm>
              <a:off x="1608581" y="2050542"/>
              <a:ext cx="2272665" cy="2094230"/>
            </a:xfrm>
            <a:custGeom>
              <a:avLst/>
              <a:gdLst/>
              <a:ahLst/>
              <a:cxnLst/>
              <a:rect l="l" t="t" r="r" b="b"/>
              <a:pathLst>
                <a:path w="2272665" h="2094229">
                  <a:moveTo>
                    <a:pt x="2272284" y="0"/>
                  </a:moveTo>
                  <a:lnTo>
                    <a:pt x="0" y="0"/>
                  </a:lnTo>
                  <a:lnTo>
                    <a:pt x="0" y="2093975"/>
                  </a:lnTo>
                  <a:lnTo>
                    <a:pt x="2272284" y="2093975"/>
                  </a:lnTo>
                  <a:lnTo>
                    <a:pt x="2272284" y="0"/>
                  </a:lnTo>
                  <a:close/>
                </a:path>
              </a:pathLst>
            </a:custGeom>
            <a:solidFill>
              <a:srgbClr val="FFFFFF"/>
            </a:solidFill>
          </p:spPr>
          <p:txBody>
            <a:bodyPr wrap="square" lIns="0" tIns="0" rIns="0" bIns="0" rtlCol="0"/>
            <a:lstStyle/>
            <a:p>
              <a:endParaRPr/>
            </a:p>
          </p:txBody>
        </p:sp>
        <p:sp>
          <p:nvSpPr>
            <p:cNvPr id="9" name="object 9"/>
            <p:cNvSpPr/>
            <p:nvPr/>
          </p:nvSpPr>
          <p:spPr>
            <a:xfrm>
              <a:off x="1608581" y="2050542"/>
              <a:ext cx="2272665" cy="2094230"/>
            </a:xfrm>
            <a:custGeom>
              <a:avLst/>
              <a:gdLst/>
              <a:ahLst/>
              <a:cxnLst/>
              <a:rect l="l" t="t" r="r" b="b"/>
              <a:pathLst>
                <a:path w="2272665" h="2094229">
                  <a:moveTo>
                    <a:pt x="0" y="2093975"/>
                  </a:moveTo>
                  <a:lnTo>
                    <a:pt x="2272284" y="2093975"/>
                  </a:lnTo>
                  <a:lnTo>
                    <a:pt x="2272284" y="0"/>
                  </a:lnTo>
                  <a:lnTo>
                    <a:pt x="0" y="0"/>
                  </a:lnTo>
                  <a:lnTo>
                    <a:pt x="0" y="2093975"/>
                  </a:lnTo>
                  <a:close/>
                </a:path>
              </a:pathLst>
            </a:custGeom>
            <a:ln w="7620">
              <a:solidFill>
                <a:srgbClr val="565656"/>
              </a:solidFill>
            </a:ln>
          </p:spPr>
          <p:txBody>
            <a:bodyPr wrap="square" lIns="0" tIns="0" rIns="0" bIns="0" rtlCol="0"/>
            <a:lstStyle/>
            <a:p>
              <a:endParaRPr/>
            </a:p>
          </p:txBody>
        </p:sp>
        <p:sp>
          <p:nvSpPr>
            <p:cNvPr id="10" name="object 10"/>
            <p:cNvSpPr/>
            <p:nvPr/>
          </p:nvSpPr>
          <p:spPr>
            <a:xfrm>
              <a:off x="732282" y="2050542"/>
              <a:ext cx="699770" cy="384175"/>
            </a:xfrm>
            <a:custGeom>
              <a:avLst/>
              <a:gdLst/>
              <a:ahLst/>
              <a:cxnLst/>
              <a:rect l="l" t="t" r="r" b="b"/>
              <a:pathLst>
                <a:path w="699769" h="384175">
                  <a:moveTo>
                    <a:pt x="0" y="384048"/>
                  </a:moveTo>
                  <a:lnTo>
                    <a:pt x="699516" y="384048"/>
                  </a:lnTo>
                  <a:lnTo>
                    <a:pt x="699516" y="0"/>
                  </a:lnTo>
                  <a:lnTo>
                    <a:pt x="0" y="0"/>
                  </a:lnTo>
                  <a:lnTo>
                    <a:pt x="0" y="384048"/>
                  </a:lnTo>
                  <a:close/>
                </a:path>
              </a:pathLst>
            </a:custGeom>
            <a:ln w="7620">
              <a:solidFill>
                <a:srgbClr val="29B974"/>
              </a:solidFill>
              <a:prstDash val="dash"/>
            </a:ln>
          </p:spPr>
          <p:txBody>
            <a:bodyPr wrap="square" lIns="0" tIns="0" rIns="0" bIns="0" rtlCol="0"/>
            <a:lstStyle/>
            <a:p>
              <a:endParaRPr/>
            </a:p>
          </p:txBody>
        </p:sp>
        <p:sp>
          <p:nvSpPr>
            <p:cNvPr id="11" name="object 11"/>
            <p:cNvSpPr/>
            <p:nvPr/>
          </p:nvSpPr>
          <p:spPr>
            <a:xfrm>
              <a:off x="2471928" y="4454651"/>
              <a:ext cx="836930" cy="922019"/>
            </a:xfrm>
            <a:custGeom>
              <a:avLst/>
              <a:gdLst/>
              <a:ahLst/>
              <a:cxnLst/>
              <a:rect l="l" t="t" r="r" b="b"/>
              <a:pathLst>
                <a:path w="836929" h="922020">
                  <a:moveTo>
                    <a:pt x="836676" y="0"/>
                  </a:moveTo>
                  <a:lnTo>
                    <a:pt x="0" y="0"/>
                  </a:lnTo>
                  <a:lnTo>
                    <a:pt x="0" y="922020"/>
                  </a:lnTo>
                  <a:lnTo>
                    <a:pt x="836676" y="922020"/>
                  </a:lnTo>
                  <a:lnTo>
                    <a:pt x="836676" y="0"/>
                  </a:lnTo>
                  <a:close/>
                </a:path>
              </a:pathLst>
            </a:custGeom>
            <a:solidFill>
              <a:srgbClr val="E1E1E2"/>
            </a:solidFill>
          </p:spPr>
          <p:txBody>
            <a:bodyPr wrap="square" lIns="0" tIns="0" rIns="0" bIns="0" rtlCol="0"/>
            <a:lstStyle/>
            <a:p>
              <a:endParaRPr/>
            </a:p>
          </p:txBody>
        </p:sp>
        <p:sp>
          <p:nvSpPr>
            <p:cNvPr id="12" name="object 12"/>
            <p:cNvSpPr/>
            <p:nvPr/>
          </p:nvSpPr>
          <p:spPr>
            <a:xfrm>
              <a:off x="2283713" y="4456938"/>
              <a:ext cx="1026160" cy="1156970"/>
            </a:xfrm>
            <a:custGeom>
              <a:avLst/>
              <a:gdLst/>
              <a:ahLst/>
              <a:cxnLst/>
              <a:rect l="l" t="t" r="r" b="b"/>
              <a:pathLst>
                <a:path w="1026160" h="1156970">
                  <a:moveTo>
                    <a:pt x="187452" y="0"/>
                  </a:moveTo>
                  <a:lnTo>
                    <a:pt x="187452" y="918464"/>
                  </a:lnTo>
                </a:path>
                <a:path w="1026160" h="1156970">
                  <a:moveTo>
                    <a:pt x="396240" y="0"/>
                  </a:moveTo>
                  <a:lnTo>
                    <a:pt x="396240" y="918464"/>
                  </a:lnTo>
                </a:path>
                <a:path w="1026160" h="1156970">
                  <a:moveTo>
                    <a:pt x="605028" y="0"/>
                  </a:moveTo>
                  <a:lnTo>
                    <a:pt x="605028" y="918464"/>
                  </a:lnTo>
                </a:path>
                <a:path w="1026160" h="1156970">
                  <a:moveTo>
                    <a:pt x="813816" y="0"/>
                  </a:moveTo>
                  <a:lnTo>
                    <a:pt x="813816" y="918464"/>
                  </a:lnTo>
                </a:path>
                <a:path w="1026160" h="1156970">
                  <a:moveTo>
                    <a:pt x="0" y="1036320"/>
                  </a:moveTo>
                  <a:lnTo>
                    <a:pt x="835406" y="1036320"/>
                  </a:lnTo>
                </a:path>
                <a:path w="1026160" h="1156970">
                  <a:moveTo>
                    <a:pt x="0" y="423672"/>
                  </a:moveTo>
                  <a:lnTo>
                    <a:pt x="835406" y="423672"/>
                  </a:lnTo>
                </a:path>
                <a:path w="1026160" h="1156970">
                  <a:moveTo>
                    <a:pt x="0" y="731519"/>
                  </a:moveTo>
                  <a:lnTo>
                    <a:pt x="835406" y="731519"/>
                  </a:lnTo>
                </a:path>
                <a:path w="1026160" h="1156970">
                  <a:moveTo>
                    <a:pt x="228600" y="1156690"/>
                  </a:moveTo>
                  <a:lnTo>
                    <a:pt x="607060" y="918972"/>
                  </a:lnTo>
                </a:path>
                <a:path w="1026160" h="1156970">
                  <a:moveTo>
                    <a:pt x="19812" y="1156690"/>
                  </a:moveTo>
                  <a:lnTo>
                    <a:pt x="398272" y="918972"/>
                  </a:lnTo>
                </a:path>
                <a:path w="1026160" h="1156970">
                  <a:moveTo>
                    <a:pt x="437388" y="1156690"/>
                  </a:moveTo>
                  <a:lnTo>
                    <a:pt x="815848" y="918972"/>
                  </a:lnTo>
                </a:path>
                <a:path w="1026160" h="1156970">
                  <a:moveTo>
                    <a:pt x="19812" y="850392"/>
                  </a:moveTo>
                  <a:lnTo>
                    <a:pt x="398272" y="612648"/>
                  </a:lnTo>
                </a:path>
                <a:path w="1026160" h="1156970">
                  <a:moveTo>
                    <a:pt x="437388" y="850392"/>
                  </a:moveTo>
                  <a:lnTo>
                    <a:pt x="815848" y="612648"/>
                  </a:lnTo>
                </a:path>
                <a:path w="1026160" h="1156970">
                  <a:moveTo>
                    <a:pt x="19812" y="544068"/>
                  </a:moveTo>
                  <a:lnTo>
                    <a:pt x="398272" y="306324"/>
                  </a:lnTo>
                </a:path>
                <a:path w="1026160" h="1156970">
                  <a:moveTo>
                    <a:pt x="437388" y="544068"/>
                  </a:moveTo>
                  <a:lnTo>
                    <a:pt x="815848" y="306324"/>
                  </a:lnTo>
                </a:path>
                <a:path w="1026160" h="1156970">
                  <a:moveTo>
                    <a:pt x="228600" y="850392"/>
                  </a:moveTo>
                  <a:lnTo>
                    <a:pt x="607060" y="612648"/>
                  </a:lnTo>
                </a:path>
                <a:path w="1026160" h="1156970">
                  <a:moveTo>
                    <a:pt x="228600" y="544068"/>
                  </a:moveTo>
                  <a:lnTo>
                    <a:pt x="607060" y="306324"/>
                  </a:lnTo>
                </a:path>
                <a:path w="1026160" h="1156970">
                  <a:moveTo>
                    <a:pt x="190500" y="306324"/>
                  </a:moveTo>
                  <a:lnTo>
                    <a:pt x="1025906" y="306324"/>
                  </a:lnTo>
                </a:path>
                <a:path w="1026160" h="1156970">
                  <a:moveTo>
                    <a:pt x="190500" y="612648"/>
                  </a:moveTo>
                  <a:lnTo>
                    <a:pt x="1025906" y="612648"/>
                  </a:lnTo>
                </a:path>
                <a:path w="1026160" h="1156970">
                  <a:moveTo>
                    <a:pt x="190500" y="917448"/>
                  </a:moveTo>
                  <a:lnTo>
                    <a:pt x="1025906" y="917448"/>
                  </a:lnTo>
                </a:path>
                <a:path w="1026160" h="1156970">
                  <a:moveTo>
                    <a:pt x="190500" y="6095"/>
                  </a:moveTo>
                  <a:lnTo>
                    <a:pt x="190500" y="920369"/>
                  </a:lnTo>
                </a:path>
              </a:pathLst>
            </a:custGeom>
            <a:ln w="19050">
              <a:solidFill>
                <a:srgbClr val="D9D9D9"/>
              </a:solidFill>
            </a:ln>
          </p:spPr>
          <p:txBody>
            <a:bodyPr wrap="square" lIns="0" tIns="0" rIns="0" bIns="0" rtlCol="0"/>
            <a:lstStyle/>
            <a:p>
              <a:endParaRPr/>
            </a:p>
          </p:txBody>
        </p:sp>
        <p:sp>
          <p:nvSpPr>
            <p:cNvPr id="13" name="object 13"/>
            <p:cNvSpPr/>
            <p:nvPr/>
          </p:nvSpPr>
          <p:spPr>
            <a:xfrm>
              <a:off x="2929890" y="4456938"/>
              <a:ext cx="378460" cy="238125"/>
            </a:xfrm>
            <a:custGeom>
              <a:avLst/>
              <a:gdLst/>
              <a:ahLst/>
              <a:cxnLst/>
              <a:rect l="l" t="t" r="r" b="b"/>
              <a:pathLst>
                <a:path w="378460" h="238125">
                  <a:moveTo>
                    <a:pt x="0" y="237744"/>
                  </a:moveTo>
                  <a:lnTo>
                    <a:pt x="378460" y="0"/>
                  </a:lnTo>
                </a:path>
              </a:pathLst>
            </a:custGeom>
            <a:ln w="19050">
              <a:solidFill>
                <a:srgbClr val="9A9A9A"/>
              </a:solidFill>
            </a:ln>
          </p:spPr>
          <p:txBody>
            <a:bodyPr wrap="square" lIns="0" tIns="0" rIns="0" bIns="0" rtlCol="0"/>
            <a:lstStyle/>
            <a:p>
              <a:endParaRPr/>
            </a:p>
          </p:txBody>
        </p:sp>
        <p:sp>
          <p:nvSpPr>
            <p:cNvPr id="14" name="object 14"/>
            <p:cNvSpPr/>
            <p:nvPr/>
          </p:nvSpPr>
          <p:spPr>
            <a:xfrm>
              <a:off x="2094737" y="5375909"/>
              <a:ext cx="378460" cy="238125"/>
            </a:xfrm>
            <a:custGeom>
              <a:avLst/>
              <a:gdLst/>
              <a:ahLst/>
              <a:cxnLst/>
              <a:rect l="l" t="t" r="r" b="b"/>
              <a:pathLst>
                <a:path w="378460" h="238125">
                  <a:moveTo>
                    <a:pt x="0" y="237718"/>
                  </a:moveTo>
                  <a:lnTo>
                    <a:pt x="378460" y="0"/>
                  </a:lnTo>
                </a:path>
              </a:pathLst>
            </a:custGeom>
            <a:ln w="19050">
              <a:solidFill>
                <a:srgbClr val="D9D9D9"/>
              </a:solidFill>
            </a:ln>
          </p:spPr>
          <p:txBody>
            <a:bodyPr wrap="square" lIns="0" tIns="0" rIns="0" bIns="0" rtlCol="0"/>
            <a:lstStyle/>
            <a:p>
              <a:endParaRPr/>
            </a:p>
          </p:txBody>
        </p:sp>
        <p:sp>
          <p:nvSpPr>
            <p:cNvPr id="15" name="object 15"/>
            <p:cNvSpPr/>
            <p:nvPr/>
          </p:nvSpPr>
          <p:spPr>
            <a:xfrm>
              <a:off x="2929890" y="5375909"/>
              <a:ext cx="378460" cy="238125"/>
            </a:xfrm>
            <a:custGeom>
              <a:avLst/>
              <a:gdLst/>
              <a:ahLst/>
              <a:cxnLst/>
              <a:rect l="l" t="t" r="r" b="b"/>
              <a:pathLst>
                <a:path w="378460" h="238125">
                  <a:moveTo>
                    <a:pt x="0" y="237718"/>
                  </a:moveTo>
                  <a:lnTo>
                    <a:pt x="378460" y="0"/>
                  </a:lnTo>
                </a:path>
              </a:pathLst>
            </a:custGeom>
            <a:ln w="19050">
              <a:solidFill>
                <a:srgbClr val="9A9A9A"/>
              </a:solidFill>
            </a:ln>
          </p:spPr>
          <p:txBody>
            <a:bodyPr wrap="square" lIns="0" tIns="0" rIns="0" bIns="0" rtlCol="0"/>
            <a:lstStyle/>
            <a:p>
              <a:endParaRPr/>
            </a:p>
          </p:txBody>
        </p:sp>
        <p:sp>
          <p:nvSpPr>
            <p:cNvPr id="16" name="object 16"/>
            <p:cNvSpPr/>
            <p:nvPr/>
          </p:nvSpPr>
          <p:spPr>
            <a:xfrm>
              <a:off x="2094737" y="4763261"/>
              <a:ext cx="378460" cy="544195"/>
            </a:xfrm>
            <a:custGeom>
              <a:avLst/>
              <a:gdLst/>
              <a:ahLst/>
              <a:cxnLst/>
              <a:rect l="l" t="t" r="r" b="b"/>
              <a:pathLst>
                <a:path w="378460" h="544195">
                  <a:moveTo>
                    <a:pt x="0" y="544068"/>
                  </a:moveTo>
                  <a:lnTo>
                    <a:pt x="378460" y="306324"/>
                  </a:lnTo>
                </a:path>
                <a:path w="378460" h="544195">
                  <a:moveTo>
                    <a:pt x="0" y="237744"/>
                  </a:moveTo>
                  <a:lnTo>
                    <a:pt x="378460" y="0"/>
                  </a:lnTo>
                </a:path>
              </a:pathLst>
            </a:custGeom>
            <a:ln w="19050">
              <a:solidFill>
                <a:srgbClr val="D9D9D9"/>
              </a:solidFill>
            </a:ln>
          </p:spPr>
          <p:txBody>
            <a:bodyPr wrap="square" lIns="0" tIns="0" rIns="0" bIns="0" rtlCol="0"/>
            <a:lstStyle/>
            <a:p>
              <a:endParaRPr/>
            </a:p>
          </p:txBody>
        </p:sp>
        <p:sp>
          <p:nvSpPr>
            <p:cNvPr id="17" name="object 17"/>
            <p:cNvSpPr/>
            <p:nvPr/>
          </p:nvSpPr>
          <p:spPr>
            <a:xfrm>
              <a:off x="2094737" y="4456938"/>
              <a:ext cx="1215390" cy="1156970"/>
            </a:xfrm>
            <a:custGeom>
              <a:avLst/>
              <a:gdLst/>
              <a:ahLst/>
              <a:cxnLst/>
              <a:rect l="l" t="t" r="r" b="b"/>
              <a:pathLst>
                <a:path w="1215389" h="1156970">
                  <a:moveTo>
                    <a:pt x="835151" y="850392"/>
                  </a:moveTo>
                  <a:lnTo>
                    <a:pt x="1213612" y="612648"/>
                  </a:lnTo>
                </a:path>
                <a:path w="1215389" h="1156970">
                  <a:moveTo>
                    <a:pt x="835151" y="544068"/>
                  </a:moveTo>
                  <a:lnTo>
                    <a:pt x="1213612" y="306324"/>
                  </a:lnTo>
                </a:path>
                <a:path w="1215389" h="1156970">
                  <a:moveTo>
                    <a:pt x="1214627" y="6095"/>
                  </a:moveTo>
                  <a:lnTo>
                    <a:pt x="1214627" y="918337"/>
                  </a:lnTo>
                </a:path>
                <a:path w="1215389" h="1156970">
                  <a:moveTo>
                    <a:pt x="0" y="850392"/>
                  </a:moveTo>
                  <a:lnTo>
                    <a:pt x="835406" y="850392"/>
                  </a:lnTo>
                </a:path>
                <a:path w="1215389" h="1156970">
                  <a:moveTo>
                    <a:pt x="0" y="542544"/>
                  </a:moveTo>
                  <a:lnTo>
                    <a:pt x="835406" y="542544"/>
                  </a:lnTo>
                </a:path>
                <a:path w="1215389" h="1156970">
                  <a:moveTo>
                    <a:pt x="0" y="1156716"/>
                  </a:moveTo>
                  <a:lnTo>
                    <a:pt x="836676" y="1156716"/>
                  </a:lnTo>
                  <a:lnTo>
                    <a:pt x="836676" y="237744"/>
                  </a:lnTo>
                  <a:lnTo>
                    <a:pt x="0" y="237744"/>
                  </a:lnTo>
                  <a:lnTo>
                    <a:pt x="0" y="1156716"/>
                  </a:lnTo>
                  <a:close/>
                </a:path>
                <a:path w="1215389" h="1156970">
                  <a:moveTo>
                    <a:pt x="0" y="237744"/>
                  </a:moveTo>
                  <a:lnTo>
                    <a:pt x="378460" y="0"/>
                  </a:lnTo>
                </a:path>
                <a:path w="1215389" h="1156970">
                  <a:moveTo>
                    <a:pt x="379475" y="0"/>
                  </a:moveTo>
                  <a:lnTo>
                    <a:pt x="1214882" y="0"/>
                  </a:lnTo>
                </a:path>
                <a:path w="1215389" h="1156970">
                  <a:moveTo>
                    <a:pt x="208787" y="237744"/>
                  </a:moveTo>
                  <a:lnTo>
                    <a:pt x="587248" y="0"/>
                  </a:lnTo>
                </a:path>
                <a:path w="1215389" h="1156970">
                  <a:moveTo>
                    <a:pt x="626363" y="237744"/>
                  </a:moveTo>
                  <a:lnTo>
                    <a:pt x="1004824" y="0"/>
                  </a:lnTo>
                </a:path>
                <a:path w="1215389" h="1156970">
                  <a:moveTo>
                    <a:pt x="417575" y="237744"/>
                  </a:moveTo>
                  <a:lnTo>
                    <a:pt x="796036" y="0"/>
                  </a:lnTo>
                </a:path>
                <a:path w="1215389" h="1156970">
                  <a:moveTo>
                    <a:pt x="0" y="237744"/>
                  </a:moveTo>
                  <a:lnTo>
                    <a:pt x="0" y="1156233"/>
                  </a:lnTo>
                </a:path>
                <a:path w="1215389" h="1156970">
                  <a:moveTo>
                    <a:pt x="210312" y="237744"/>
                  </a:moveTo>
                  <a:lnTo>
                    <a:pt x="210312" y="1156233"/>
                  </a:lnTo>
                </a:path>
                <a:path w="1215389" h="1156970">
                  <a:moveTo>
                    <a:pt x="419100" y="237744"/>
                  </a:moveTo>
                  <a:lnTo>
                    <a:pt x="419100" y="1156233"/>
                  </a:lnTo>
                </a:path>
                <a:path w="1215389" h="1156970">
                  <a:moveTo>
                    <a:pt x="627888" y="237744"/>
                  </a:moveTo>
                  <a:lnTo>
                    <a:pt x="627888" y="1156233"/>
                  </a:lnTo>
                </a:path>
                <a:path w="1215389" h="1156970">
                  <a:moveTo>
                    <a:pt x="836676" y="237744"/>
                  </a:moveTo>
                  <a:lnTo>
                    <a:pt x="836676" y="1156233"/>
                  </a:lnTo>
                </a:path>
                <a:path w="1215389" h="1156970">
                  <a:moveTo>
                    <a:pt x="188975" y="118872"/>
                  </a:moveTo>
                  <a:lnTo>
                    <a:pt x="1024382" y="118872"/>
                  </a:lnTo>
                </a:path>
                <a:path w="1215389" h="1156970">
                  <a:moveTo>
                    <a:pt x="1025651" y="124968"/>
                  </a:moveTo>
                  <a:lnTo>
                    <a:pt x="1025651" y="1037209"/>
                  </a:lnTo>
                </a:path>
              </a:pathLst>
            </a:custGeom>
            <a:ln w="19050">
              <a:solidFill>
                <a:srgbClr val="9A9A9A"/>
              </a:solidFill>
            </a:ln>
          </p:spPr>
          <p:txBody>
            <a:bodyPr wrap="square" lIns="0" tIns="0" rIns="0" bIns="0" rtlCol="0"/>
            <a:lstStyle/>
            <a:p>
              <a:endParaRPr/>
            </a:p>
          </p:txBody>
        </p:sp>
        <p:pic>
          <p:nvPicPr>
            <p:cNvPr id="18" name="object 18"/>
            <p:cNvPicPr/>
            <p:nvPr/>
          </p:nvPicPr>
          <p:blipFill>
            <a:blip r:embed="rId4" cstate="print"/>
            <a:stretch>
              <a:fillRect/>
            </a:stretch>
          </p:blipFill>
          <p:spPr>
            <a:xfrm>
              <a:off x="2436876" y="4838700"/>
              <a:ext cx="73151" cy="77724"/>
            </a:xfrm>
            <a:prstGeom prst="rect">
              <a:avLst/>
            </a:prstGeom>
          </p:spPr>
        </p:pic>
        <p:pic>
          <p:nvPicPr>
            <p:cNvPr id="19" name="object 19"/>
            <p:cNvPicPr/>
            <p:nvPr/>
          </p:nvPicPr>
          <p:blipFill>
            <a:blip r:embed="rId5" cstate="print"/>
            <a:stretch>
              <a:fillRect/>
            </a:stretch>
          </p:blipFill>
          <p:spPr>
            <a:xfrm>
              <a:off x="2776728" y="4849367"/>
              <a:ext cx="73152" cy="77724"/>
            </a:xfrm>
            <a:prstGeom prst="rect">
              <a:avLst/>
            </a:prstGeom>
          </p:spPr>
        </p:pic>
        <p:pic>
          <p:nvPicPr>
            <p:cNvPr id="20" name="object 20"/>
            <p:cNvPicPr/>
            <p:nvPr/>
          </p:nvPicPr>
          <p:blipFill>
            <a:blip r:embed="rId4" cstate="print"/>
            <a:stretch>
              <a:fillRect/>
            </a:stretch>
          </p:blipFill>
          <p:spPr>
            <a:xfrm>
              <a:off x="2685288" y="5266944"/>
              <a:ext cx="73151" cy="77724"/>
            </a:xfrm>
            <a:prstGeom prst="rect">
              <a:avLst/>
            </a:prstGeom>
          </p:spPr>
        </p:pic>
        <p:sp>
          <p:nvSpPr>
            <p:cNvPr id="21" name="object 21"/>
            <p:cNvSpPr/>
            <p:nvPr/>
          </p:nvSpPr>
          <p:spPr>
            <a:xfrm>
              <a:off x="801624" y="2587751"/>
              <a:ext cx="559435" cy="550545"/>
            </a:xfrm>
            <a:custGeom>
              <a:avLst/>
              <a:gdLst/>
              <a:ahLst/>
              <a:cxnLst/>
              <a:rect l="l" t="t" r="r" b="b"/>
              <a:pathLst>
                <a:path w="559435" h="550544">
                  <a:moveTo>
                    <a:pt x="112267" y="297942"/>
                  </a:moveTo>
                  <a:lnTo>
                    <a:pt x="83261" y="297942"/>
                  </a:lnTo>
                  <a:lnTo>
                    <a:pt x="116306" y="407543"/>
                  </a:lnTo>
                  <a:lnTo>
                    <a:pt x="99765" y="419308"/>
                  </a:lnTo>
                  <a:lnTo>
                    <a:pt x="86914" y="434990"/>
                  </a:lnTo>
                  <a:lnTo>
                    <a:pt x="78589" y="453745"/>
                  </a:lnTo>
                  <a:lnTo>
                    <a:pt x="75628" y="474725"/>
                  </a:lnTo>
                  <a:lnTo>
                    <a:pt x="81637" y="504140"/>
                  </a:lnTo>
                  <a:lnTo>
                    <a:pt x="97956" y="528113"/>
                  </a:lnTo>
                  <a:lnTo>
                    <a:pt x="122021" y="544252"/>
                  </a:lnTo>
                  <a:lnTo>
                    <a:pt x="151269" y="550163"/>
                  </a:lnTo>
                  <a:lnTo>
                    <a:pt x="177543" y="545453"/>
                  </a:lnTo>
                  <a:lnTo>
                    <a:pt x="199888" y="532479"/>
                  </a:lnTo>
                  <a:lnTo>
                    <a:pt x="216513" y="512980"/>
                  </a:lnTo>
                  <a:lnTo>
                    <a:pt x="225628" y="488696"/>
                  </a:lnTo>
                  <a:lnTo>
                    <a:pt x="480766" y="488696"/>
                  </a:lnTo>
                  <a:lnTo>
                    <a:pt x="483616" y="474725"/>
                  </a:lnTo>
                  <a:lnTo>
                    <a:pt x="481651" y="460756"/>
                  </a:lnTo>
                  <a:lnTo>
                    <a:pt x="225628" y="460756"/>
                  </a:lnTo>
                  <a:lnTo>
                    <a:pt x="216513" y="436471"/>
                  </a:lnTo>
                  <a:lnTo>
                    <a:pt x="199888" y="416972"/>
                  </a:lnTo>
                  <a:lnTo>
                    <a:pt x="177543" y="403998"/>
                  </a:lnTo>
                  <a:lnTo>
                    <a:pt x="151269" y="399288"/>
                  </a:lnTo>
                  <a:lnTo>
                    <a:pt x="143001" y="399288"/>
                  </a:lnTo>
                  <a:lnTo>
                    <a:pt x="112267" y="297942"/>
                  </a:lnTo>
                  <a:close/>
                </a:path>
                <a:path w="559435" h="550544">
                  <a:moveTo>
                    <a:pt x="480766" y="488696"/>
                  </a:moveTo>
                  <a:lnTo>
                    <a:pt x="333679" y="488696"/>
                  </a:lnTo>
                  <a:lnTo>
                    <a:pt x="342794" y="512980"/>
                  </a:lnTo>
                  <a:lnTo>
                    <a:pt x="359419" y="532479"/>
                  </a:lnTo>
                  <a:lnTo>
                    <a:pt x="381764" y="545453"/>
                  </a:lnTo>
                  <a:lnTo>
                    <a:pt x="408038" y="550163"/>
                  </a:lnTo>
                  <a:lnTo>
                    <a:pt x="437276" y="544252"/>
                  </a:lnTo>
                  <a:lnTo>
                    <a:pt x="461319" y="528113"/>
                  </a:lnTo>
                  <a:lnTo>
                    <a:pt x="477616" y="504140"/>
                  </a:lnTo>
                  <a:lnTo>
                    <a:pt x="480766" y="488696"/>
                  </a:lnTo>
                  <a:close/>
                </a:path>
                <a:path w="559435" h="550544">
                  <a:moveTo>
                    <a:pt x="379833" y="129286"/>
                  </a:moveTo>
                  <a:lnTo>
                    <a:pt x="333044" y="129286"/>
                  </a:lnTo>
                  <a:lnTo>
                    <a:pt x="415670" y="190119"/>
                  </a:lnTo>
                  <a:lnTo>
                    <a:pt x="412329" y="197867"/>
                  </a:lnTo>
                  <a:lnTo>
                    <a:pt x="409944" y="205914"/>
                  </a:lnTo>
                  <a:lnTo>
                    <a:pt x="408514" y="214318"/>
                  </a:lnTo>
                  <a:lnTo>
                    <a:pt x="408038" y="223138"/>
                  </a:lnTo>
                  <a:lnTo>
                    <a:pt x="410997" y="244119"/>
                  </a:lnTo>
                  <a:lnTo>
                    <a:pt x="419319" y="262874"/>
                  </a:lnTo>
                  <a:lnTo>
                    <a:pt x="432169" y="278556"/>
                  </a:lnTo>
                  <a:lnTo>
                    <a:pt x="448716" y="290322"/>
                  </a:lnTo>
                  <a:lnTo>
                    <a:pt x="416306" y="399288"/>
                  </a:lnTo>
                  <a:lnTo>
                    <a:pt x="408038" y="399288"/>
                  </a:lnTo>
                  <a:lnTo>
                    <a:pt x="381764" y="403998"/>
                  </a:lnTo>
                  <a:lnTo>
                    <a:pt x="359419" y="416972"/>
                  </a:lnTo>
                  <a:lnTo>
                    <a:pt x="342794" y="436471"/>
                  </a:lnTo>
                  <a:lnTo>
                    <a:pt x="333679" y="460756"/>
                  </a:lnTo>
                  <a:lnTo>
                    <a:pt x="481651" y="460756"/>
                  </a:lnTo>
                  <a:lnTo>
                    <a:pt x="480665" y="453745"/>
                  </a:lnTo>
                  <a:lnTo>
                    <a:pt x="472362" y="434990"/>
                  </a:lnTo>
                  <a:lnTo>
                    <a:pt x="459532" y="419308"/>
                  </a:lnTo>
                  <a:lnTo>
                    <a:pt x="443001" y="407543"/>
                  </a:lnTo>
                  <a:lnTo>
                    <a:pt x="475361" y="297942"/>
                  </a:lnTo>
                  <a:lnTo>
                    <a:pt x="486762" y="297942"/>
                  </a:lnTo>
                  <a:lnTo>
                    <a:pt x="512909" y="292665"/>
                  </a:lnTo>
                  <a:lnTo>
                    <a:pt x="536987" y="276526"/>
                  </a:lnTo>
                  <a:lnTo>
                    <a:pt x="553303" y="252553"/>
                  </a:lnTo>
                  <a:lnTo>
                    <a:pt x="559308" y="223138"/>
                  </a:lnTo>
                  <a:lnTo>
                    <a:pt x="553303" y="193671"/>
                  </a:lnTo>
                  <a:lnTo>
                    <a:pt x="536987" y="169703"/>
                  </a:lnTo>
                  <a:lnTo>
                    <a:pt x="534472" y="168021"/>
                  </a:lnTo>
                  <a:lnTo>
                    <a:pt x="432193" y="168021"/>
                  </a:lnTo>
                  <a:lnTo>
                    <a:pt x="379833" y="129286"/>
                  </a:lnTo>
                  <a:close/>
                </a:path>
                <a:path w="559435" h="550544">
                  <a:moveTo>
                    <a:pt x="75628" y="147700"/>
                  </a:moveTo>
                  <a:lnTo>
                    <a:pt x="46382" y="153594"/>
                  </a:lnTo>
                  <a:lnTo>
                    <a:pt x="22321" y="169703"/>
                  </a:lnTo>
                  <a:lnTo>
                    <a:pt x="6007" y="193671"/>
                  </a:lnTo>
                  <a:lnTo>
                    <a:pt x="0" y="223138"/>
                  </a:lnTo>
                  <a:lnTo>
                    <a:pt x="6007" y="252553"/>
                  </a:lnTo>
                  <a:lnTo>
                    <a:pt x="22321" y="276526"/>
                  </a:lnTo>
                  <a:lnTo>
                    <a:pt x="46382" y="292665"/>
                  </a:lnTo>
                  <a:lnTo>
                    <a:pt x="75628" y="298576"/>
                  </a:lnTo>
                  <a:lnTo>
                    <a:pt x="80721" y="298576"/>
                  </a:lnTo>
                  <a:lnTo>
                    <a:pt x="83261" y="297942"/>
                  </a:lnTo>
                  <a:lnTo>
                    <a:pt x="112267" y="297942"/>
                  </a:lnTo>
                  <a:lnTo>
                    <a:pt x="109956" y="290322"/>
                  </a:lnTo>
                  <a:lnTo>
                    <a:pt x="126870" y="278824"/>
                  </a:lnTo>
                  <a:lnTo>
                    <a:pt x="139909" y="263112"/>
                  </a:lnTo>
                  <a:lnTo>
                    <a:pt x="148300" y="244209"/>
                  </a:lnTo>
                  <a:lnTo>
                    <a:pt x="151269" y="223138"/>
                  </a:lnTo>
                  <a:lnTo>
                    <a:pt x="150803" y="214695"/>
                  </a:lnTo>
                  <a:lnTo>
                    <a:pt x="149442" y="206549"/>
                  </a:lnTo>
                  <a:lnTo>
                    <a:pt x="147245" y="198760"/>
                  </a:lnTo>
                  <a:lnTo>
                    <a:pt x="144272" y="191388"/>
                  </a:lnTo>
                  <a:lnTo>
                    <a:pt x="174830" y="168656"/>
                  </a:lnTo>
                  <a:lnTo>
                    <a:pt x="128384" y="168656"/>
                  </a:lnTo>
                  <a:lnTo>
                    <a:pt x="117103" y="159756"/>
                  </a:lnTo>
                  <a:lnTo>
                    <a:pt x="104392" y="153177"/>
                  </a:lnTo>
                  <a:lnTo>
                    <a:pt x="90488" y="149099"/>
                  </a:lnTo>
                  <a:lnTo>
                    <a:pt x="75628" y="147700"/>
                  </a:lnTo>
                  <a:close/>
                </a:path>
                <a:path w="559435" h="550544">
                  <a:moveTo>
                    <a:pt x="486762" y="297942"/>
                  </a:moveTo>
                  <a:lnTo>
                    <a:pt x="475361" y="297942"/>
                  </a:lnTo>
                  <a:lnTo>
                    <a:pt x="478536" y="298576"/>
                  </a:lnTo>
                  <a:lnTo>
                    <a:pt x="483616" y="298576"/>
                  </a:lnTo>
                  <a:lnTo>
                    <a:pt x="486762" y="297942"/>
                  </a:lnTo>
                  <a:close/>
                </a:path>
                <a:path w="559435" h="550544">
                  <a:moveTo>
                    <a:pt x="279654" y="0"/>
                  </a:moveTo>
                  <a:lnTo>
                    <a:pt x="250140" y="5911"/>
                  </a:lnTo>
                  <a:lnTo>
                    <a:pt x="226109" y="22050"/>
                  </a:lnTo>
                  <a:lnTo>
                    <a:pt x="209943" y="46023"/>
                  </a:lnTo>
                  <a:lnTo>
                    <a:pt x="204025" y="75437"/>
                  </a:lnTo>
                  <a:lnTo>
                    <a:pt x="204491" y="83879"/>
                  </a:lnTo>
                  <a:lnTo>
                    <a:pt x="205851" y="92011"/>
                  </a:lnTo>
                  <a:lnTo>
                    <a:pt x="208043" y="99762"/>
                  </a:lnTo>
                  <a:lnTo>
                    <a:pt x="211010" y="107061"/>
                  </a:lnTo>
                  <a:lnTo>
                    <a:pt x="128384" y="168656"/>
                  </a:lnTo>
                  <a:lnTo>
                    <a:pt x="174830" y="168656"/>
                  </a:lnTo>
                  <a:lnTo>
                    <a:pt x="226898" y="129921"/>
                  </a:lnTo>
                  <a:lnTo>
                    <a:pt x="332247" y="129921"/>
                  </a:lnTo>
                  <a:lnTo>
                    <a:pt x="333044" y="129286"/>
                  </a:lnTo>
                  <a:lnTo>
                    <a:pt x="379833" y="129286"/>
                  </a:lnTo>
                  <a:lnTo>
                    <a:pt x="348932" y="106425"/>
                  </a:lnTo>
                  <a:lnTo>
                    <a:pt x="351532" y="99137"/>
                  </a:lnTo>
                  <a:lnTo>
                    <a:pt x="353536" y="91455"/>
                  </a:lnTo>
                  <a:lnTo>
                    <a:pt x="354826" y="83512"/>
                  </a:lnTo>
                  <a:lnTo>
                    <a:pt x="355282" y="75437"/>
                  </a:lnTo>
                  <a:lnTo>
                    <a:pt x="349364" y="46023"/>
                  </a:lnTo>
                  <a:lnTo>
                    <a:pt x="333198" y="22050"/>
                  </a:lnTo>
                  <a:lnTo>
                    <a:pt x="309167" y="5911"/>
                  </a:lnTo>
                  <a:lnTo>
                    <a:pt x="279654" y="0"/>
                  </a:lnTo>
                  <a:close/>
                </a:path>
                <a:path w="559435" h="550544">
                  <a:moveTo>
                    <a:pt x="483616" y="147700"/>
                  </a:moveTo>
                  <a:lnTo>
                    <a:pt x="469136" y="149099"/>
                  </a:lnTo>
                  <a:lnTo>
                    <a:pt x="455542" y="153098"/>
                  </a:lnTo>
                  <a:lnTo>
                    <a:pt x="443096" y="159488"/>
                  </a:lnTo>
                  <a:lnTo>
                    <a:pt x="432193" y="168021"/>
                  </a:lnTo>
                  <a:lnTo>
                    <a:pt x="534472" y="168021"/>
                  </a:lnTo>
                  <a:lnTo>
                    <a:pt x="512909" y="153594"/>
                  </a:lnTo>
                  <a:lnTo>
                    <a:pt x="483616" y="147700"/>
                  </a:lnTo>
                  <a:close/>
                </a:path>
                <a:path w="559435" h="550544">
                  <a:moveTo>
                    <a:pt x="332247" y="129921"/>
                  </a:moveTo>
                  <a:lnTo>
                    <a:pt x="226898" y="129921"/>
                  </a:lnTo>
                  <a:lnTo>
                    <a:pt x="238180" y="138820"/>
                  </a:lnTo>
                  <a:lnTo>
                    <a:pt x="250894" y="145399"/>
                  </a:lnTo>
                  <a:lnTo>
                    <a:pt x="264799" y="149477"/>
                  </a:lnTo>
                  <a:lnTo>
                    <a:pt x="279654" y="150875"/>
                  </a:lnTo>
                  <a:lnTo>
                    <a:pt x="294875" y="149377"/>
                  </a:lnTo>
                  <a:lnTo>
                    <a:pt x="308968" y="145081"/>
                  </a:lnTo>
                  <a:lnTo>
                    <a:pt x="321752" y="138285"/>
                  </a:lnTo>
                  <a:lnTo>
                    <a:pt x="332247" y="129921"/>
                  </a:lnTo>
                  <a:close/>
                </a:path>
              </a:pathLst>
            </a:custGeom>
            <a:solidFill>
              <a:srgbClr val="29B974"/>
            </a:solidFill>
          </p:spPr>
          <p:txBody>
            <a:bodyPr wrap="square" lIns="0" tIns="0" rIns="0" bIns="0" rtlCol="0"/>
            <a:lstStyle/>
            <a:p>
              <a:endParaRPr/>
            </a:p>
          </p:txBody>
        </p:sp>
      </p:grpSp>
      <p:grpSp>
        <p:nvGrpSpPr>
          <p:cNvPr id="22" name="object 22"/>
          <p:cNvGrpSpPr/>
          <p:nvPr/>
        </p:nvGrpSpPr>
        <p:grpSpPr>
          <a:xfrm>
            <a:off x="8401811" y="1930907"/>
            <a:ext cx="3435350" cy="4229100"/>
            <a:chOff x="8401811" y="1930907"/>
            <a:chExt cx="3435350" cy="4229100"/>
          </a:xfrm>
        </p:grpSpPr>
        <p:sp>
          <p:nvSpPr>
            <p:cNvPr id="23" name="object 23"/>
            <p:cNvSpPr/>
            <p:nvPr/>
          </p:nvSpPr>
          <p:spPr>
            <a:xfrm>
              <a:off x="8401811" y="1930907"/>
              <a:ext cx="3435350" cy="4229100"/>
            </a:xfrm>
            <a:custGeom>
              <a:avLst/>
              <a:gdLst/>
              <a:ahLst/>
              <a:cxnLst/>
              <a:rect l="l" t="t" r="r" b="b"/>
              <a:pathLst>
                <a:path w="3435350" h="4229100">
                  <a:moveTo>
                    <a:pt x="3435096" y="0"/>
                  </a:moveTo>
                  <a:lnTo>
                    <a:pt x="0" y="0"/>
                  </a:lnTo>
                  <a:lnTo>
                    <a:pt x="0" y="4229100"/>
                  </a:lnTo>
                  <a:lnTo>
                    <a:pt x="3435096" y="4229100"/>
                  </a:lnTo>
                  <a:lnTo>
                    <a:pt x="3435096" y="0"/>
                  </a:lnTo>
                  <a:close/>
                </a:path>
              </a:pathLst>
            </a:custGeom>
            <a:solidFill>
              <a:srgbClr val="D6EFEA">
                <a:alpha val="59999"/>
              </a:srgbClr>
            </a:solidFill>
          </p:spPr>
          <p:txBody>
            <a:bodyPr wrap="square" lIns="0" tIns="0" rIns="0" bIns="0" rtlCol="0"/>
            <a:lstStyle/>
            <a:p>
              <a:endParaRPr/>
            </a:p>
          </p:txBody>
        </p:sp>
        <p:sp>
          <p:nvSpPr>
            <p:cNvPr id="24" name="object 24"/>
            <p:cNvSpPr/>
            <p:nvPr/>
          </p:nvSpPr>
          <p:spPr>
            <a:xfrm>
              <a:off x="9441179" y="2049779"/>
              <a:ext cx="2272665" cy="2630805"/>
            </a:xfrm>
            <a:custGeom>
              <a:avLst/>
              <a:gdLst/>
              <a:ahLst/>
              <a:cxnLst/>
              <a:rect l="l" t="t" r="r" b="b"/>
              <a:pathLst>
                <a:path w="2272665" h="2630804">
                  <a:moveTo>
                    <a:pt x="2272283" y="0"/>
                  </a:moveTo>
                  <a:lnTo>
                    <a:pt x="0" y="0"/>
                  </a:lnTo>
                  <a:lnTo>
                    <a:pt x="0" y="2630424"/>
                  </a:lnTo>
                  <a:lnTo>
                    <a:pt x="2272283" y="2630424"/>
                  </a:lnTo>
                  <a:lnTo>
                    <a:pt x="2272283" y="0"/>
                  </a:lnTo>
                  <a:close/>
                </a:path>
              </a:pathLst>
            </a:custGeom>
            <a:solidFill>
              <a:srgbClr val="FFFFFF"/>
            </a:solidFill>
          </p:spPr>
          <p:txBody>
            <a:bodyPr wrap="square" lIns="0" tIns="0" rIns="0" bIns="0" rtlCol="0"/>
            <a:lstStyle/>
            <a:p>
              <a:endParaRPr/>
            </a:p>
          </p:txBody>
        </p:sp>
        <p:sp>
          <p:nvSpPr>
            <p:cNvPr id="25" name="object 25"/>
            <p:cNvSpPr/>
            <p:nvPr/>
          </p:nvSpPr>
          <p:spPr>
            <a:xfrm>
              <a:off x="9441179" y="2049779"/>
              <a:ext cx="2272665" cy="2630805"/>
            </a:xfrm>
            <a:custGeom>
              <a:avLst/>
              <a:gdLst/>
              <a:ahLst/>
              <a:cxnLst/>
              <a:rect l="l" t="t" r="r" b="b"/>
              <a:pathLst>
                <a:path w="2272665" h="2630804">
                  <a:moveTo>
                    <a:pt x="0" y="2630424"/>
                  </a:moveTo>
                  <a:lnTo>
                    <a:pt x="2272283" y="2630424"/>
                  </a:lnTo>
                  <a:lnTo>
                    <a:pt x="2272283" y="0"/>
                  </a:lnTo>
                  <a:lnTo>
                    <a:pt x="0" y="0"/>
                  </a:lnTo>
                  <a:lnTo>
                    <a:pt x="0" y="2630424"/>
                  </a:lnTo>
                  <a:close/>
                </a:path>
              </a:pathLst>
            </a:custGeom>
            <a:ln w="9524">
              <a:solidFill>
                <a:srgbClr val="6F6F6F"/>
              </a:solidFill>
            </a:ln>
          </p:spPr>
          <p:txBody>
            <a:bodyPr wrap="square" lIns="0" tIns="0" rIns="0" bIns="0" rtlCol="0"/>
            <a:lstStyle/>
            <a:p>
              <a:endParaRPr/>
            </a:p>
          </p:txBody>
        </p:sp>
        <p:sp>
          <p:nvSpPr>
            <p:cNvPr id="26" name="object 26"/>
            <p:cNvSpPr/>
            <p:nvPr/>
          </p:nvSpPr>
          <p:spPr>
            <a:xfrm>
              <a:off x="8659367" y="2505455"/>
              <a:ext cx="501650" cy="518159"/>
            </a:xfrm>
            <a:custGeom>
              <a:avLst/>
              <a:gdLst/>
              <a:ahLst/>
              <a:cxnLst/>
              <a:rect l="l" t="t" r="r" b="b"/>
              <a:pathLst>
                <a:path w="501650" h="518160">
                  <a:moveTo>
                    <a:pt x="11175" y="439293"/>
                  </a:moveTo>
                  <a:lnTo>
                    <a:pt x="6476" y="439293"/>
                  </a:lnTo>
                  <a:lnTo>
                    <a:pt x="3301" y="442087"/>
                  </a:lnTo>
                  <a:lnTo>
                    <a:pt x="0" y="445389"/>
                  </a:lnTo>
                  <a:lnTo>
                    <a:pt x="0" y="450469"/>
                  </a:lnTo>
                  <a:lnTo>
                    <a:pt x="2921" y="453263"/>
                  </a:lnTo>
                  <a:lnTo>
                    <a:pt x="37846" y="488950"/>
                  </a:lnTo>
                  <a:lnTo>
                    <a:pt x="39242" y="490728"/>
                  </a:lnTo>
                  <a:lnTo>
                    <a:pt x="41401" y="491490"/>
                  </a:lnTo>
                  <a:lnTo>
                    <a:pt x="46862" y="491490"/>
                  </a:lnTo>
                  <a:lnTo>
                    <a:pt x="49402" y="490093"/>
                  </a:lnTo>
                  <a:lnTo>
                    <a:pt x="50800" y="487553"/>
                  </a:lnTo>
                  <a:lnTo>
                    <a:pt x="74445" y="464439"/>
                  </a:lnTo>
                  <a:lnTo>
                    <a:pt x="36067" y="464439"/>
                  </a:lnTo>
                  <a:lnTo>
                    <a:pt x="14477" y="442468"/>
                  </a:lnTo>
                  <a:lnTo>
                    <a:pt x="11175" y="439293"/>
                  </a:lnTo>
                  <a:close/>
                </a:path>
                <a:path w="501650" h="518160">
                  <a:moveTo>
                    <a:pt x="191388" y="0"/>
                  </a:moveTo>
                  <a:lnTo>
                    <a:pt x="182372" y="0"/>
                  </a:lnTo>
                  <a:lnTo>
                    <a:pt x="178815" y="3556"/>
                  </a:lnTo>
                  <a:lnTo>
                    <a:pt x="178815" y="162814"/>
                  </a:lnTo>
                  <a:lnTo>
                    <a:pt x="38226" y="303403"/>
                  </a:lnTo>
                  <a:lnTo>
                    <a:pt x="36702" y="304800"/>
                  </a:lnTo>
                  <a:lnTo>
                    <a:pt x="36067" y="306705"/>
                  </a:lnTo>
                  <a:lnTo>
                    <a:pt x="36067" y="464439"/>
                  </a:lnTo>
                  <a:lnTo>
                    <a:pt x="51942" y="464439"/>
                  </a:lnTo>
                  <a:lnTo>
                    <a:pt x="51942" y="312039"/>
                  </a:lnTo>
                  <a:lnTo>
                    <a:pt x="192531" y="171577"/>
                  </a:lnTo>
                  <a:lnTo>
                    <a:pt x="193928" y="170053"/>
                  </a:lnTo>
                  <a:lnTo>
                    <a:pt x="194690" y="168275"/>
                  </a:lnTo>
                  <a:lnTo>
                    <a:pt x="194690" y="3556"/>
                  </a:lnTo>
                  <a:lnTo>
                    <a:pt x="191388" y="0"/>
                  </a:lnTo>
                  <a:close/>
                </a:path>
                <a:path w="501650" h="518160">
                  <a:moveTo>
                    <a:pt x="81787" y="439928"/>
                  </a:moveTo>
                  <a:lnTo>
                    <a:pt x="76834" y="439928"/>
                  </a:lnTo>
                  <a:lnTo>
                    <a:pt x="73532" y="443230"/>
                  </a:lnTo>
                  <a:lnTo>
                    <a:pt x="51942" y="464439"/>
                  </a:lnTo>
                  <a:lnTo>
                    <a:pt x="74445" y="464439"/>
                  </a:lnTo>
                  <a:lnTo>
                    <a:pt x="84708" y="454406"/>
                  </a:lnTo>
                  <a:lnTo>
                    <a:pt x="88010" y="451485"/>
                  </a:lnTo>
                  <a:lnTo>
                    <a:pt x="88010" y="446405"/>
                  </a:lnTo>
                  <a:lnTo>
                    <a:pt x="84708" y="443230"/>
                  </a:lnTo>
                  <a:lnTo>
                    <a:pt x="81787" y="439928"/>
                  </a:lnTo>
                  <a:close/>
                </a:path>
                <a:path w="501650" h="518160">
                  <a:moveTo>
                    <a:pt x="211200" y="264795"/>
                  </a:moveTo>
                  <a:lnTo>
                    <a:pt x="206121" y="264795"/>
                  </a:lnTo>
                  <a:lnTo>
                    <a:pt x="202946" y="268097"/>
                  </a:lnTo>
                  <a:lnTo>
                    <a:pt x="199643" y="271018"/>
                  </a:lnTo>
                  <a:lnTo>
                    <a:pt x="199643" y="275971"/>
                  </a:lnTo>
                  <a:lnTo>
                    <a:pt x="202564" y="279273"/>
                  </a:lnTo>
                  <a:lnTo>
                    <a:pt x="237489" y="314960"/>
                  </a:lnTo>
                  <a:lnTo>
                    <a:pt x="239013" y="316357"/>
                  </a:lnTo>
                  <a:lnTo>
                    <a:pt x="241173" y="317119"/>
                  </a:lnTo>
                  <a:lnTo>
                    <a:pt x="245109" y="317119"/>
                  </a:lnTo>
                  <a:lnTo>
                    <a:pt x="247268" y="316357"/>
                  </a:lnTo>
                  <a:lnTo>
                    <a:pt x="248665" y="314960"/>
                  </a:lnTo>
                  <a:lnTo>
                    <a:pt x="273503" y="290830"/>
                  </a:lnTo>
                  <a:lnTo>
                    <a:pt x="236092" y="290830"/>
                  </a:lnTo>
                  <a:lnTo>
                    <a:pt x="214122" y="268097"/>
                  </a:lnTo>
                  <a:lnTo>
                    <a:pt x="211200" y="264795"/>
                  </a:lnTo>
                  <a:close/>
                </a:path>
                <a:path w="501650" h="518160">
                  <a:moveTo>
                    <a:pt x="248411" y="0"/>
                  </a:moveTo>
                  <a:lnTo>
                    <a:pt x="239649" y="0"/>
                  </a:lnTo>
                  <a:lnTo>
                    <a:pt x="236092" y="3556"/>
                  </a:lnTo>
                  <a:lnTo>
                    <a:pt x="236092" y="290830"/>
                  </a:lnTo>
                  <a:lnTo>
                    <a:pt x="273503" y="290830"/>
                  </a:lnTo>
                  <a:lnTo>
                    <a:pt x="274679" y="289687"/>
                  </a:lnTo>
                  <a:lnTo>
                    <a:pt x="251967" y="289687"/>
                  </a:lnTo>
                  <a:lnTo>
                    <a:pt x="251967" y="3556"/>
                  </a:lnTo>
                  <a:lnTo>
                    <a:pt x="248411" y="0"/>
                  </a:lnTo>
                  <a:close/>
                </a:path>
                <a:path w="501650" h="518160">
                  <a:moveTo>
                    <a:pt x="281558" y="265938"/>
                  </a:moveTo>
                  <a:lnTo>
                    <a:pt x="276478" y="265938"/>
                  </a:lnTo>
                  <a:lnTo>
                    <a:pt x="273176" y="268859"/>
                  </a:lnTo>
                  <a:lnTo>
                    <a:pt x="251967" y="289687"/>
                  </a:lnTo>
                  <a:lnTo>
                    <a:pt x="274679" y="289687"/>
                  </a:lnTo>
                  <a:lnTo>
                    <a:pt x="287654" y="277114"/>
                  </a:lnTo>
                  <a:lnTo>
                    <a:pt x="287654" y="272034"/>
                  </a:lnTo>
                  <a:lnTo>
                    <a:pt x="281558" y="265938"/>
                  </a:lnTo>
                  <a:close/>
                </a:path>
                <a:path w="501650" h="518160">
                  <a:moveTo>
                    <a:pt x="424941" y="465963"/>
                  </a:moveTo>
                  <a:lnTo>
                    <a:pt x="419988" y="465963"/>
                  </a:lnTo>
                  <a:lnTo>
                    <a:pt x="416686" y="468757"/>
                  </a:lnTo>
                  <a:lnTo>
                    <a:pt x="413384" y="472059"/>
                  </a:lnTo>
                  <a:lnTo>
                    <a:pt x="413384" y="476758"/>
                  </a:lnTo>
                  <a:lnTo>
                    <a:pt x="416305" y="479933"/>
                  </a:lnTo>
                  <a:lnTo>
                    <a:pt x="451230" y="515620"/>
                  </a:lnTo>
                  <a:lnTo>
                    <a:pt x="452754" y="517398"/>
                  </a:lnTo>
                  <a:lnTo>
                    <a:pt x="454913" y="518160"/>
                  </a:lnTo>
                  <a:lnTo>
                    <a:pt x="460248" y="518160"/>
                  </a:lnTo>
                  <a:lnTo>
                    <a:pt x="462787" y="516382"/>
                  </a:lnTo>
                  <a:lnTo>
                    <a:pt x="464311" y="514223"/>
                  </a:lnTo>
                  <a:lnTo>
                    <a:pt x="487868" y="491109"/>
                  </a:lnTo>
                  <a:lnTo>
                    <a:pt x="449452" y="491109"/>
                  </a:lnTo>
                  <a:lnTo>
                    <a:pt x="427862" y="468757"/>
                  </a:lnTo>
                  <a:lnTo>
                    <a:pt x="424941" y="465963"/>
                  </a:lnTo>
                  <a:close/>
                </a:path>
                <a:path w="501650" h="518160">
                  <a:moveTo>
                    <a:pt x="362584" y="0"/>
                  </a:moveTo>
                  <a:lnTo>
                    <a:pt x="353949" y="0"/>
                  </a:lnTo>
                  <a:lnTo>
                    <a:pt x="350392" y="3556"/>
                  </a:lnTo>
                  <a:lnTo>
                    <a:pt x="350392" y="130810"/>
                  </a:lnTo>
                  <a:lnTo>
                    <a:pt x="351408" y="132588"/>
                  </a:lnTo>
                  <a:lnTo>
                    <a:pt x="352932" y="134366"/>
                  </a:lnTo>
                  <a:lnTo>
                    <a:pt x="449452" y="231648"/>
                  </a:lnTo>
                  <a:lnTo>
                    <a:pt x="449452" y="491109"/>
                  </a:lnTo>
                  <a:lnTo>
                    <a:pt x="487868" y="491109"/>
                  </a:lnTo>
                  <a:lnTo>
                    <a:pt x="488257" y="490728"/>
                  </a:lnTo>
                  <a:lnTo>
                    <a:pt x="465327" y="490728"/>
                  </a:lnTo>
                  <a:lnTo>
                    <a:pt x="465327" y="226314"/>
                  </a:lnTo>
                  <a:lnTo>
                    <a:pt x="464565" y="224536"/>
                  </a:lnTo>
                  <a:lnTo>
                    <a:pt x="463168" y="222631"/>
                  </a:lnTo>
                  <a:lnTo>
                    <a:pt x="366267" y="125349"/>
                  </a:lnTo>
                  <a:lnTo>
                    <a:pt x="366267" y="3556"/>
                  </a:lnTo>
                  <a:lnTo>
                    <a:pt x="362584" y="0"/>
                  </a:lnTo>
                  <a:close/>
                </a:path>
                <a:path w="501650" h="518160">
                  <a:moveTo>
                    <a:pt x="495300" y="466598"/>
                  </a:moveTo>
                  <a:lnTo>
                    <a:pt x="490220" y="466598"/>
                  </a:lnTo>
                  <a:lnTo>
                    <a:pt x="486917" y="469900"/>
                  </a:lnTo>
                  <a:lnTo>
                    <a:pt x="465327" y="490728"/>
                  </a:lnTo>
                  <a:lnTo>
                    <a:pt x="488257" y="490728"/>
                  </a:lnTo>
                  <a:lnTo>
                    <a:pt x="498093" y="481076"/>
                  </a:lnTo>
                  <a:lnTo>
                    <a:pt x="501396" y="478155"/>
                  </a:lnTo>
                  <a:lnTo>
                    <a:pt x="501396" y="473075"/>
                  </a:lnTo>
                  <a:lnTo>
                    <a:pt x="498475" y="469900"/>
                  </a:lnTo>
                  <a:lnTo>
                    <a:pt x="495300" y="466598"/>
                  </a:lnTo>
                  <a:close/>
                </a:path>
                <a:path w="501650" h="518160">
                  <a:moveTo>
                    <a:pt x="338074" y="315341"/>
                  </a:moveTo>
                  <a:lnTo>
                    <a:pt x="333121" y="315341"/>
                  </a:lnTo>
                  <a:lnTo>
                    <a:pt x="330200" y="318516"/>
                  </a:lnTo>
                  <a:lnTo>
                    <a:pt x="326898" y="321437"/>
                  </a:lnTo>
                  <a:lnTo>
                    <a:pt x="326898" y="326517"/>
                  </a:lnTo>
                  <a:lnTo>
                    <a:pt x="329818" y="329692"/>
                  </a:lnTo>
                  <a:lnTo>
                    <a:pt x="364743" y="365379"/>
                  </a:lnTo>
                  <a:lnTo>
                    <a:pt x="366267" y="366776"/>
                  </a:lnTo>
                  <a:lnTo>
                    <a:pt x="368046" y="367538"/>
                  </a:lnTo>
                  <a:lnTo>
                    <a:pt x="370204" y="367919"/>
                  </a:lnTo>
                  <a:lnTo>
                    <a:pt x="372363" y="367919"/>
                  </a:lnTo>
                  <a:lnTo>
                    <a:pt x="374523" y="366776"/>
                  </a:lnTo>
                  <a:lnTo>
                    <a:pt x="375920" y="365379"/>
                  </a:lnTo>
                  <a:lnTo>
                    <a:pt x="401242" y="340868"/>
                  </a:lnTo>
                  <a:lnTo>
                    <a:pt x="362965" y="340868"/>
                  </a:lnTo>
                  <a:lnTo>
                    <a:pt x="341375" y="318516"/>
                  </a:lnTo>
                  <a:lnTo>
                    <a:pt x="338074" y="315341"/>
                  </a:lnTo>
                  <a:close/>
                </a:path>
                <a:path w="501650" h="518160">
                  <a:moveTo>
                    <a:pt x="305688" y="0"/>
                  </a:moveTo>
                  <a:lnTo>
                    <a:pt x="296672" y="0"/>
                  </a:lnTo>
                  <a:lnTo>
                    <a:pt x="293370" y="3556"/>
                  </a:lnTo>
                  <a:lnTo>
                    <a:pt x="293370" y="194183"/>
                  </a:lnTo>
                  <a:lnTo>
                    <a:pt x="294131" y="196342"/>
                  </a:lnTo>
                  <a:lnTo>
                    <a:pt x="295528" y="197866"/>
                  </a:lnTo>
                  <a:lnTo>
                    <a:pt x="362965" y="264795"/>
                  </a:lnTo>
                  <a:lnTo>
                    <a:pt x="362965" y="340868"/>
                  </a:lnTo>
                  <a:lnTo>
                    <a:pt x="401242" y="340868"/>
                  </a:lnTo>
                  <a:lnTo>
                    <a:pt x="401635" y="340487"/>
                  </a:lnTo>
                  <a:lnTo>
                    <a:pt x="378840" y="340487"/>
                  </a:lnTo>
                  <a:lnTo>
                    <a:pt x="378840" y="259461"/>
                  </a:lnTo>
                  <a:lnTo>
                    <a:pt x="377698" y="257683"/>
                  </a:lnTo>
                  <a:lnTo>
                    <a:pt x="376300" y="255778"/>
                  </a:lnTo>
                  <a:lnTo>
                    <a:pt x="309245" y="188849"/>
                  </a:lnTo>
                  <a:lnTo>
                    <a:pt x="309245" y="3556"/>
                  </a:lnTo>
                  <a:lnTo>
                    <a:pt x="305688" y="0"/>
                  </a:lnTo>
                  <a:close/>
                </a:path>
                <a:path w="501650" h="518160">
                  <a:moveTo>
                    <a:pt x="408812" y="316357"/>
                  </a:moveTo>
                  <a:lnTo>
                    <a:pt x="403732" y="316357"/>
                  </a:lnTo>
                  <a:lnTo>
                    <a:pt x="400430" y="319278"/>
                  </a:lnTo>
                  <a:lnTo>
                    <a:pt x="378840" y="340487"/>
                  </a:lnTo>
                  <a:lnTo>
                    <a:pt x="401635" y="340487"/>
                  </a:lnTo>
                  <a:lnTo>
                    <a:pt x="411606" y="330835"/>
                  </a:lnTo>
                  <a:lnTo>
                    <a:pt x="414908" y="327533"/>
                  </a:lnTo>
                  <a:lnTo>
                    <a:pt x="414908" y="322453"/>
                  </a:lnTo>
                  <a:lnTo>
                    <a:pt x="411606" y="319659"/>
                  </a:lnTo>
                  <a:lnTo>
                    <a:pt x="408812" y="316357"/>
                  </a:lnTo>
                  <a:close/>
                </a:path>
              </a:pathLst>
            </a:custGeom>
            <a:solidFill>
              <a:srgbClr val="03522C"/>
            </a:solidFill>
          </p:spPr>
          <p:txBody>
            <a:bodyPr wrap="square" lIns="0" tIns="0" rIns="0" bIns="0" rtlCol="0"/>
            <a:lstStyle/>
            <a:p>
              <a:endParaRPr/>
            </a:p>
          </p:txBody>
        </p:sp>
        <p:sp>
          <p:nvSpPr>
            <p:cNvPr id="27" name="object 27"/>
            <p:cNvSpPr/>
            <p:nvPr/>
          </p:nvSpPr>
          <p:spPr>
            <a:xfrm>
              <a:off x="8610599" y="2848355"/>
              <a:ext cx="600710" cy="381000"/>
            </a:xfrm>
            <a:custGeom>
              <a:avLst/>
              <a:gdLst/>
              <a:ahLst/>
              <a:cxnLst/>
              <a:rect l="l" t="t" r="r" b="b"/>
              <a:pathLst>
                <a:path w="600709" h="381000">
                  <a:moveTo>
                    <a:pt x="292607" y="0"/>
                  </a:moveTo>
                  <a:lnTo>
                    <a:pt x="256343" y="7332"/>
                  </a:lnTo>
                  <a:lnTo>
                    <a:pt x="226710" y="27320"/>
                  </a:lnTo>
                  <a:lnTo>
                    <a:pt x="206722" y="56953"/>
                  </a:lnTo>
                  <a:lnTo>
                    <a:pt x="199390" y="93218"/>
                  </a:lnTo>
                  <a:lnTo>
                    <a:pt x="206722" y="129462"/>
                  </a:lnTo>
                  <a:lnTo>
                    <a:pt x="226710" y="159051"/>
                  </a:lnTo>
                  <a:lnTo>
                    <a:pt x="256343" y="178996"/>
                  </a:lnTo>
                  <a:lnTo>
                    <a:pt x="292607" y="186309"/>
                  </a:lnTo>
                  <a:lnTo>
                    <a:pt x="328945" y="178996"/>
                  </a:lnTo>
                  <a:lnTo>
                    <a:pt x="358616" y="159051"/>
                  </a:lnTo>
                  <a:lnTo>
                    <a:pt x="361309" y="155067"/>
                  </a:lnTo>
                  <a:lnTo>
                    <a:pt x="305307" y="155067"/>
                  </a:lnTo>
                  <a:lnTo>
                    <a:pt x="300386" y="154894"/>
                  </a:lnTo>
                  <a:lnTo>
                    <a:pt x="289941" y="153971"/>
                  </a:lnTo>
                  <a:lnTo>
                    <a:pt x="276447" y="151691"/>
                  </a:lnTo>
                  <a:lnTo>
                    <a:pt x="262381" y="147447"/>
                  </a:lnTo>
                  <a:lnTo>
                    <a:pt x="261366" y="147193"/>
                  </a:lnTo>
                  <a:lnTo>
                    <a:pt x="260603" y="146050"/>
                  </a:lnTo>
                  <a:lnTo>
                    <a:pt x="260603" y="117602"/>
                  </a:lnTo>
                  <a:lnTo>
                    <a:pt x="252708" y="107940"/>
                  </a:lnTo>
                  <a:lnTo>
                    <a:pt x="244967" y="94313"/>
                  </a:lnTo>
                  <a:lnTo>
                    <a:pt x="241012" y="78043"/>
                  </a:lnTo>
                  <a:lnTo>
                    <a:pt x="244475" y="60452"/>
                  </a:lnTo>
                  <a:lnTo>
                    <a:pt x="250648" y="50262"/>
                  </a:lnTo>
                  <a:lnTo>
                    <a:pt x="259857" y="40846"/>
                  </a:lnTo>
                  <a:lnTo>
                    <a:pt x="272710" y="33930"/>
                  </a:lnTo>
                  <a:lnTo>
                    <a:pt x="289814" y="31242"/>
                  </a:lnTo>
                  <a:lnTo>
                    <a:pt x="361263" y="31242"/>
                  </a:lnTo>
                  <a:lnTo>
                    <a:pt x="358616" y="27320"/>
                  </a:lnTo>
                  <a:lnTo>
                    <a:pt x="328945" y="7332"/>
                  </a:lnTo>
                  <a:lnTo>
                    <a:pt x="292607" y="0"/>
                  </a:lnTo>
                  <a:close/>
                </a:path>
                <a:path w="600709" h="381000">
                  <a:moveTo>
                    <a:pt x="308101" y="133477"/>
                  </a:moveTo>
                  <a:lnTo>
                    <a:pt x="308101" y="153670"/>
                  </a:lnTo>
                  <a:lnTo>
                    <a:pt x="307085" y="155067"/>
                  </a:lnTo>
                  <a:lnTo>
                    <a:pt x="361309" y="155067"/>
                  </a:lnTo>
                  <a:lnTo>
                    <a:pt x="375218" y="134493"/>
                  </a:lnTo>
                  <a:lnTo>
                    <a:pt x="319277" y="134493"/>
                  </a:lnTo>
                  <a:lnTo>
                    <a:pt x="308101" y="133477"/>
                  </a:lnTo>
                  <a:close/>
                </a:path>
                <a:path w="600709" h="381000">
                  <a:moveTo>
                    <a:pt x="329692" y="54356"/>
                  </a:moveTo>
                  <a:lnTo>
                    <a:pt x="329056" y="54356"/>
                  </a:lnTo>
                  <a:lnTo>
                    <a:pt x="329438" y="57912"/>
                  </a:lnTo>
                  <a:lnTo>
                    <a:pt x="330073" y="64770"/>
                  </a:lnTo>
                  <a:lnTo>
                    <a:pt x="331597" y="69088"/>
                  </a:lnTo>
                  <a:lnTo>
                    <a:pt x="331850" y="71628"/>
                  </a:lnTo>
                  <a:lnTo>
                    <a:pt x="332613" y="73787"/>
                  </a:lnTo>
                  <a:lnTo>
                    <a:pt x="333375" y="77343"/>
                  </a:lnTo>
                  <a:lnTo>
                    <a:pt x="335152" y="82804"/>
                  </a:lnTo>
                  <a:lnTo>
                    <a:pt x="336550" y="85979"/>
                  </a:lnTo>
                  <a:lnTo>
                    <a:pt x="338074" y="87376"/>
                  </a:lnTo>
                  <a:lnTo>
                    <a:pt x="338327" y="87757"/>
                  </a:lnTo>
                  <a:lnTo>
                    <a:pt x="339090" y="88519"/>
                  </a:lnTo>
                  <a:lnTo>
                    <a:pt x="342392" y="92075"/>
                  </a:lnTo>
                  <a:lnTo>
                    <a:pt x="345185" y="95377"/>
                  </a:lnTo>
                  <a:lnTo>
                    <a:pt x="344170" y="98171"/>
                  </a:lnTo>
                  <a:lnTo>
                    <a:pt x="343789" y="99695"/>
                  </a:lnTo>
                  <a:lnTo>
                    <a:pt x="341629" y="104394"/>
                  </a:lnTo>
                  <a:lnTo>
                    <a:pt x="332994" y="104394"/>
                  </a:lnTo>
                  <a:lnTo>
                    <a:pt x="333755" y="108331"/>
                  </a:lnTo>
                  <a:lnTo>
                    <a:pt x="334009" y="114808"/>
                  </a:lnTo>
                  <a:lnTo>
                    <a:pt x="333845" y="117602"/>
                  </a:lnTo>
                  <a:lnTo>
                    <a:pt x="333755" y="120142"/>
                  </a:lnTo>
                  <a:lnTo>
                    <a:pt x="333375" y="127000"/>
                  </a:lnTo>
                  <a:lnTo>
                    <a:pt x="332994" y="130556"/>
                  </a:lnTo>
                  <a:lnTo>
                    <a:pt x="330073" y="132080"/>
                  </a:lnTo>
                  <a:lnTo>
                    <a:pt x="327532" y="133477"/>
                  </a:lnTo>
                  <a:lnTo>
                    <a:pt x="319277" y="134493"/>
                  </a:lnTo>
                  <a:lnTo>
                    <a:pt x="375218" y="134493"/>
                  </a:lnTo>
                  <a:lnTo>
                    <a:pt x="378618" y="129462"/>
                  </a:lnTo>
                  <a:lnTo>
                    <a:pt x="385952" y="93218"/>
                  </a:lnTo>
                  <a:lnTo>
                    <a:pt x="378618" y="56953"/>
                  </a:lnTo>
                  <a:lnTo>
                    <a:pt x="377122" y="54737"/>
                  </a:lnTo>
                  <a:lnTo>
                    <a:pt x="330453" y="54737"/>
                  </a:lnTo>
                  <a:lnTo>
                    <a:pt x="329692" y="54356"/>
                  </a:lnTo>
                  <a:close/>
                </a:path>
                <a:path w="600709" h="381000">
                  <a:moveTo>
                    <a:pt x="361263" y="31242"/>
                  </a:moveTo>
                  <a:lnTo>
                    <a:pt x="289814" y="31242"/>
                  </a:lnTo>
                  <a:lnTo>
                    <a:pt x="305931" y="32426"/>
                  </a:lnTo>
                  <a:lnTo>
                    <a:pt x="323211" y="37510"/>
                  </a:lnTo>
                  <a:lnTo>
                    <a:pt x="338327" y="38481"/>
                  </a:lnTo>
                  <a:lnTo>
                    <a:pt x="341249" y="38481"/>
                  </a:lnTo>
                  <a:lnTo>
                    <a:pt x="332231" y="48260"/>
                  </a:lnTo>
                  <a:lnTo>
                    <a:pt x="330834" y="54356"/>
                  </a:lnTo>
                  <a:lnTo>
                    <a:pt x="330834" y="54737"/>
                  </a:lnTo>
                  <a:lnTo>
                    <a:pt x="377122" y="54737"/>
                  </a:lnTo>
                  <a:lnTo>
                    <a:pt x="361263" y="31242"/>
                  </a:lnTo>
                  <a:close/>
                </a:path>
                <a:path w="600709" h="381000">
                  <a:moveTo>
                    <a:pt x="507238" y="194945"/>
                  </a:moveTo>
                  <a:lnTo>
                    <a:pt x="470973" y="202271"/>
                  </a:lnTo>
                  <a:lnTo>
                    <a:pt x="441340" y="222218"/>
                  </a:lnTo>
                  <a:lnTo>
                    <a:pt x="421352" y="251737"/>
                  </a:lnTo>
                  <a:lnTo>
                    <a:pt x="414020" y="287782"/>
                  </a:lnTo>
                  <a:lnTo>
                    <a:pt x="421352" y="324046"/>
                  </a:lnTo>
                  <a:lnTo>
                    <a:pt x="441340" y="353679"/>
                  </a:lnTo>
                  <a:lnTo>
                    <a:pt x="470973" y="373667"/>
                  </a:lnTo>
                  <a:lnTo>
                    <a:pt x="507238" y="381000"/>
                  </a:lnTo>
                  <a:lnTo>
                    <a:pt x="543502" y="373667"/>
                  </a:lnTo>
                  <a:lnTo>
                    <a:pt x="573135" y="353679"/>
                  </a:lnTo>
                  <a:lnTo>
                    <a:pt x="575780" y="349758"/>
                  </a:lnTo>
                  <a:lnTo>
                    <a:pt x="492759" y="349758"/>
                  </a:lnTo>
                  <a:lnTo>
                    <a:pt x="491744" y="348615"/>
                  </a:lnTo>
                  <a:lnTo>
                    <a:pt x="491744" y="329565"/>
                  </a:lnTo>
                  <a:lnTo>
                    <a:pt x="480568" y="329565"/>
                  </a:lnTo>
                  <a:lnTo>
                    <a:pt x="471931" y="328168"/>
                  </a:lnTo>
                  <a:lnTo>
                    <a:pt x="469773" y="327025"/>
                  </a:lnTo>
                  <a:lnTo>
                    <a:pt x="466851" y="325628"/>
                  </a:lnTo>
                  <a:lnTo>
                    <a:pt x="466598" y="321691"/>
                  </a:lnTo>
                  <a:lnTo>
                    <a:pt x="466217" y="314833"/>
                  </a:lnTo>
                  <a:lnTo>
                    <a:pt x="466217" y="314071"/>
                  </a:lnTo>
                  <a:lnTo>
                    <a:pt x="465835" y="309753"/>
                  </a:lnTo>
                  <a:lnTo>
                    <a:pt x="466230" y="302771"/>
                  </a:lnTo>
                  <a:lnTo>
                    <a:pt x="466598" y="299339"/>
                  </a:lnTo>
                  <a:lnTo>
                    <a:pt x="458216" y="298958"/>
                  </a:lnTo>
                  <a:lnTo>
                    <a:pt x="456056" y="294640"/>
                  </a:lnTo>
                  <a:lnTo>
                    <a:pt x="455802" y="293243"/>
                  </a:lnTo>
                  <a:lnTo>
                    <a:pt x="454659" y="289941"/>
                  </a:lnTo>
                  <a:lnTo>
                    <a:pt x="457580" y="286766"/>
                  </a:lnTo>
                  <a:lnTo>
                    <a:pt x="461136" y="283083"/>
                  </a:lnTo>
                  <a:lnTo>
                    <a:pt x="461518" y="282829"/>
                  </a:lnTo>
                  <a:lnTo>
                    <a:pt x="461518" y="282448"/>
                  </a:lnTo>
                  <a:lnTo>
                    <a:pt x="466851" y="270510"/>
                  </a:lnTo>
                  <a:lnTo>
                    <a:pt x="467232" y="268732"/>
                  </a:lnTo>
                  <a:lnTo>
                    <a:pt x="467995" y="266192"/>
                  </a:lnTo>
                  <a:lnTo>
                    <a:pt x="468375" y="263652"/>
                  </a:lnTo>
                  <a:lnTo>
                    <a:pt x="469010" y="261874"/>
                  </a:lnTo>
                  <a:lnTo>
                    <a:pt x="469773" y="259334"/>
                  </a:lnTo>
                  <a:lnTo>
                    <a:pt x="470534" y="252603"/>
                  </a:lnTo>
                  <a:lnTo>
                    <a:pt x="470534" y="249301"/>
                  </a:lnTo>
                  <a:lnTo>
                    <a:pt x="469010" y="249301"/>
                  </a:lnTo>
                  <a:lnTo>
                    <a:pt x="469010" y="248920"/>
                  </a:lnTo>
                  <a:lnTo>
                    <a:pt x="467614" y="242824"/>
                  </a:lnTo>
                  <a:lnTo>
                    <a:pt x="458597" y="233172"/>
                  </a:lnTo>
                  <a:lnTo>
                    <a:pt x="461518" y="233172"/>
                  </a:lnTo>
                  <a:lnTo>
                    <a:pt x="476422" y="232368"/>
                  </a:lnTo>
                  <a:lnTo>
                    <a:pt x="493754" y="227474"/>
                  </a:lnTo>
                  <a:lnTo>
                    <a:pt x="510158" y="226314"/>
                  </a:lnTo>
                  <a:lnTo>
                    <a:pt x="575908" y="226314"/>
                  </a:lnTo>
                  <a:lnTo>
                    <a:pt x="573135" y="222218"/>
                  </a:lnTo>
                  <a:lnTo>
                    <a:pt x="543502" y="202271"/>
                  </a:lnTo>
                  <a:lnTo>
                    <a:pt x="507238" y="194945"/>
                  </a:lnTo>
                  <a:close/>
                </a:path>
                <a:path w="600709" h="381000">
                  <a:moveTo>
                    <a:pt x="575908" y="226314"/>
                  </a:moveTo>
                  <a:lnTo>
                    <a:pt x="510158" y="226314"/>
                  </a:lnTo>
                  <a:lnTo>
                    <a:pt x="527262" y="228941"/>
                  </a:lnTo>
                  <a:lnTo>
                    <a:pt x="540115" y="235712"/>
                  </a:lnTo>
                  <a:lnTo>
                    <a:pt x="549324" y="244959"/>
                  </a:lnTo>
                  <a:lnTo>
                    <a:pt x="555498" y="255016"/>
                  </a:lnTo>
                  <a:lnTo>
                    <a:pt x="558940" y="272823"/>
                  </a:lnTo>
                  <a:lnTo>
                    <a:pt x="554942" y="289178"/>
                  </a:lnTo>
                  <a:lnTo>
                    <a:pt x="547157" y="302771"/>
                  </a:lnTo>
                  <a:lnTo>
                    <a:pt x="539242" y="312293"/>
                  </a:lnTo>
                  <a:lnTo>
                    <a:pt x="539242" y="340741"/>
                  </a:lnTo>
                  <a:lnTo>
                    <a:pt x="499566" y="349638"/>
                  </a:lnTo>
                  <a:lnTo>
                    <a:pt x="494665" y="349758"/>
                  </a:lnTo>
                  <a:lnTo>
                    <a:pt x="575780" y="349758"/>
                  </a:lnTo>
                  <a:lnTo>
                    <a:pt x="593123" y="324046"/>
                  </a:lnTo>
                  <a:lnTo>
                    <a:pt x="600455" y="287782"/>
                  </a:lnTo>
                  <a:lnTo>
                    <a:pt x="593123" y="251737"/>
                  </a:lnTo>
                  <a:lnTo>
                    <a:pt x="575908" y="226314"/>
                  </a:lnTo>
                  <a:close/>
                </a:path>
                <a:path w="600709" h="381000">
                  <a:moveTo>
                    <a:pt x="491744" y="328168"/>
                  </a:moveTo>
                  <a:lnTo>
                    <a:pt x="480568" y="329565"/>
                  </a:lnTo>
                  <a:lnTo>
                    <a:pt x="491744" y="329565"/>
                  </a:lnTo>
                  <a:lnTo>
                    <a:pt x="491744" y="328168"/>
                  </a:lnTo>
                  <a:close/>
                </a:path>
                <a:path w="600709" h="381000">
                  <a:moveTo>
                    <a:pt x="470534" y="248920"/>
                  </a:moveTo>
                  <a:lnTo>
                    <a:pt x="470153" y="248920"/>
                  </a:lnTo>
                  <a:lnTo>
                    <a:pt x="469392" y="249301"/>
                  </a:lnTo>
                  <a:lnTo>
                    <a:pt x="470534" y="249301"/>
                  </a:lnTo>
                  <a:lnTo>
                    <a:pt x="470534" y="248920"/>
                  </a:lnTo>
                  <a:close/>
                </a:path>
                <a:path w="600709" h="381000">
                  <a:moveTo>
                    <a:pt x="93218" y="166243"/>
                  </a:moveTo>
                  <a:lnTo>
                    <a:pt x="56953" y="173555"/>
                  </a:lnTo>
                  <a:lnTo>
                    <a:pt x="27320" y="193500"/>
                  </a:lnTo>
                  <a:lnTo>
                    <a:pt x="7332" y="223089"/>
                  </a:lnTo>
                  <a:lnTo>
                    <a:pt x="0" y="259334"/>
                  </a:lnTo>
                  <a:lnTo>
                    <a:pt x="7332" y="295652"/>
                  </a:lnTo>
                  <a:lnTo>
                    <a:pt x="27320" y="325278"/>
                  </a:lnTo>
                  <a:lnTo>
                    <a:pt x="56953" y="345237"/>
                  </a:lnTo>
                  <a:lnTo>
                    <a:pt x="93218" y="352552"/>
                  </a:lnTo>
                  <a:lnTo>
                    <a:pt x="129482" y="345237"/>
                  </a:lnTo>
                  <a:lnTo>
                    <a:pt x="159115" y="325278"/>
                  </a:lnTo>
                  <a:lnTo>
                    <a:pt x="162563" y="320167"/>
                  </a:lnTo>
                  <a:lnTo>
                    <a:pt x="104013" y="320167"/>
                  </a:lnTo>
                  <a:lnTo>
                    <a:pt x="98456" y="319907"/>
                  </a:lnTo>
                  <a:lnTo>
                    <a:pt x="72771" y="311531"/>
                  </a:lnTo>
                  <a:lnTo>
                    <a:pt x="72771" y="310515"/>
                  </a:lnTo>
                  <a:lnTo>
                    <a:pt x="72008" y="297180"/>
                  </a:lnTo>
                  <a:lnTo>
                    <a:pt x="57749" y="289113"/>
                  </a:lnTo>
                  <a:lnTo>
                    <a:pt x="45180" y="275129"/>
                  </a:lnTo>
                  <a:lnTo>
                    <a:pt x="39897" y="254263"/>
                  </a:lnTo>
                  <a:lnTo>
                    <a:pt x="47498" y="225552"/>
                  </a:lnTo>
                  <a:lnTo>
                    <a:pt x="53998" y="215939"/>
                  </a:lnTo>
                  <a:lnTo>
                    <a:pt x="63881" y="207422"/>
                  </a:lnTo>
                  <a:lnTo>
                    <a:pt x="77287" y="201334"/>
                  </a:lnTo>
                  <a:lnTo>
                    <a:pt x="94360" y="199009"/>
                  </a:lnTo>
                  <a:lnTo>
                    <a:pt x="162836" y="199009"/>
                  </a:lnTo>
                  <a:lnTo>
                    <a:pt x="159115" y="193500"/>
                  </a:lnTo>
                  <a:lnTo>
                    <a:pt x="129482" y="173555"/>
                  </a:lnTo>
                  <a:lnTo>
                    <a:pt x="93218" y="166243"/>
                  </a:lnTo>
                  <a:close/>
                </a:path>
                <a:path w="600709" h="381000">
                  <a:moveTo>
                    <a:pt x="109474" y="296799"/>
                  </a:moveTo>
                  <a:lnTo>
                    <a:pt x="109384" y="318849"/>
                  </a:lnTo>
                  <a:lnTo>
                    <a:pt x="108330" y="319786"/>
                  </a:lnTo>
                  <a:lnTo>
                    <a:pt x="106933" y="319786"/>
                  </a:lnTo>
                  <a:lnTo>
                    <a:pt x="105791" y="320167"/>
                  </a:lnTo>
                  <a:lnTo>
                    <a:pt x="162563" y="320167"/>
                  </a:lnTo>
                  <a:lnTo>
                    <a:pt x="177815" y="297561"/>
                  </a:lnTo>
                  <a:lnTo>
                    <a:pt x="128524" y="297561"/>
                  </a:lnTo>
                  <a:lnTo>
                    <a:pt x="117728" y="297180"/>
                  </a:lnTo>
                  <a:lnTo>
                    <a:pt x="112268" y="297180"/>
                  </a:lnTo>
                  <a:lnTo>
                    <a:pt x="109474" y="296799"/>
                  </a:lnTo>
                  <a:close/>
                </a:path>
                <a:path w="600709" h="381000">
                  <a:moveTo>
                    <a:pt x="162836" y="199009"/>
                  </a:moveTo>
                  <a:lnTo>
                    <a:pt x="94360" y="199009"/>
                  </a:lnTo>
                  <a:lnTo>
                    <a:pt x="112797" y="201164"/>
                  </a:lnTo>
                  <a:lnTo>
                    <a:pt x="125269" y="206343"/>
                  </a:lnTo>
                  <a:lnTo>
                    <a:pt x="132097" y="212617"/>
                  </a:lnTo>
                  <a:lnTo>
                    <a:pt x="133603" y="218059"/>
                  </a:lnTo>
                  <a:lnTo>
                    <a:pt x="133223" y="219075"/>
                  </a:lnTo>
                  <a:lnTo>
                    <a:pt x="132460" y="220218"/>
                  </a:lnTo>
                  <a:lnTo>
                    <a:pt x="131699" y="221234"/>
                  </a:lnTo>
                  <a:lnTo>
                    <a:pt x="133275" y="223089"/>
                  </a:lnTo>
                  <a:lnTo>
                    <a:pt x="136398" y="227711"/>
                  </a:lnTo>
                  <a:lnTo>
                    <a:pt x="135763" y="235331"/>
                  </a:lnTo>
                  <a:lnTo>
                    <a:pt x="135763" y="238887"/>
                  </a:lnTo>
                  <a:lnTo>
                    <a:pt x="141858" y="255016"/>
                  </a:lnTo>
                  <a:lnTo>
                    <a:pt x="144018" y="257175"/>
                  </a:lnTo>
                  <a:lnTo>
                    <a:pt x="147574" y="262255"/>
                  </a:lnTo>
                  <a:lnTo>
                    <a:pt x="146176" y="265176"/>
                  </a:lnTo>
                  <a:lnTo>
                    <a:pt x="145415" y="267335"/>
                  </a:lnTo>
                  <a:lnTo>
                    <a:pt x="141858" y="270510"/>
                  </a:lnTo>
                  <a:lnTo>
                    <a:pt x="135000" y="270510"/>
                  </a:lnTo>
                  <a:lnTo>
                    <a:pt x="135381" y="272669"/>
                  </a:lnTo>
                  <a:lnTo>
                    <a:pt x="135381" y="289941"/>
                  </a:lnTo>
                  <a:lnTo>
                    <a:pt x="133857" y="293243"/>
                  </a:lnTo>
                  <a:lnTo>
                    <a:pt x="132460" y="294259"/>
                  </a:lnTo>
                  <a:lnTo>
                    <a:pt x="131445" y="295783"/>
                  </a:lnTo>
                  <a:lnTo>
                    <a:pt x="128524" y="297561"/>
                  </a:lnTo>
                  <a:lnTo>
                    <a:pt x="177815" y="297561"/>
                  </a:lnTo>
                  <a:lnTo>
                    <a:pt x="179103" y="295652"/>
                  </a:lnTo>
                  <a:lnTo>
                    <a:pt x="186435" y="259334"/>
                  </a:lnTo>
                  <a:lnTo>
                    <a:pt x="179103" y="223089"/>
                  </a:lnTo>
                  <a:lnTo>
                    <a:pt x="162836" y="199009"/>
                  </a:lnTo>
                  <a:close/>
                </a:path>
              </a:pathLst>
            </a:custGeom>
            <a:solidFill>
              <a:srgbClr val="29B974"/>
            </a:solidFill>
          </p:spPr>
          <p:txBody>
            <a:bodyPr wrap="square" lIns="0" tIns="0" rIns="0" bIns="0" rtlCol="0"/>
            <a:lstStyle/>
            <a:p>
              <a:endParaRPr/>
            </a:p>
          </p:txBody>
        </p:sp>
        <p:sp>
          <p:nvSpPr>
            <p:cNvPr id="28" name="object 28"/>
            <p:cNvSpPr/>
            <p:nvPr/>
          </p:nvSpPr>
          <p:spPr>
            <a:xfrm>
              <a:off x="8554973" y="2050541"/>
              <a:ext cx="699770" cy="384175"/>
            </a:xfrm>
            <a:custGeom>
              <a:avLst/>
              <a:gdLst/>
              <a:ahLst/>
              <a:cxnLst/>
              <a:rect l="l" t="t" r="r" b="b"/>
              <a:pathLst>
                <a:path w="699770" h="384175">
                  <a:moveTo>
                    <a:pt x="0" y="384048"/>
                  </a:moveTo>
                  <a:lnTo>
                    <a:pt x="699516" y="384048"/>
                  </a:lnTo>
                  <a:lnTo>
                    <a:pt x="699516" y="0"/>
                  </a:lnTo>
                  <a:lnTo>
                    <a:pt x="0" y="0"/>
                  </a:lnTo>
                  <a:lnTo>
                    <a:pt x="0" y="384048"/>
                  </a:lnTo>
                  <a:close/>
                </a:path>
              </a:pathLst>
            </a:custGeom>
            <a:ln w="7620">
              <a:solidFill>
                <a:srgbClr val="29B974"/>
              </a:solidFill>
              <a:prstDash val="dash"/>
            </a:ln>
          </p:spPr>
          <p:txBody>
            <a:bodyPr wrap="square" lIns="0" tIns="0" rIns="0" bIns="0" rtlCol="0"/>
            <a:lstStyle/>
            <a:p>
              <a:endParaRPr/>
            </a:p>
          </p:txBody>
        </p:sp>
        <p:sp>
          <p:nvSpPr>
            <p:cNvPr id="29" name="object 29"/>
            <p:cNvSpPr/>
            <p:nvPr/>
          </p:nvSpPr>
          <p:spPr>
            <a:xfrm>
              <a:off x="9441179" y="5062727"/>
              <a:ext cx="2272665" cy="646430"/>
            </a:xfrm>
            <a:custGeom>
              <a:avLst/>
              <a:gdLst/>
              <a:ahLst/>
              <a:cxnLst/>
              <a:rect l="l" t="t" r="r" b="b"/>
              <a:pathLst>
                <a:path w="2272665" h="646429">
                  <a:moveTo>
                    <a:pt x="2272283" y="0"/>
                  </a:moveTo>
                  <a:lnTo>
                    <a:pt x="0" y="0"/>
                  </a:lnTo>
                  <a:lnTo>
                    <a:pt x="0" y="646176"/>
                  </a:lnTo>
                  <a:lnTo>
                    <a:pt x="2272283" y="646176"/>
                  </a:lnTo>
                  <a:lnTo>
                    <a:pt x="2272283" y="0"/>
                  </a:lnTo>
                  <a:close/>
                </a:path>
              </a:pathLst>
            </a:custGeom>
            <a:solidFill>
              <a:srgbClr val="FFFFFF"/>
            </a:solidFill>
          </p:spPr>
          <p:txBody>
            <a:bodyPr wrap="square" lIns="0" tIns="0" rIns="0" bIns="0" rtlCol="0"/>
            <a:lstStyle/>
            <a:p>
              <a:endParaRPr/>
            </a:p>
          </p:txBody>
        </p:sp>
      </p:grpSp>
      <p:sp>
        <p:nvSpPr>
          <p:cNvPr id="30" name="object 30"/>
          <p:cNvSpPr txBox="1"/>
          <p:nvPr/>
        </p:nvSpPr>
        <p:spPr>
          <a:xfrm>
            <a:off x="4533138" y="1538477"/>
            <a:ext cx="3434079" cy="379730"/>
          </a:xfrm>
          <a:prstGeom prst="rect">
            <a:avLst/>
          </a:prstGeom>
          <a:solidFill>
            <a:srgbClr val="29B974"/>
          </a:solidFill>
          <a:ln w="7619">
            <a:solidFill>
              <a:srgbClr val="FFFFFF"/>
            </a:solidFill>
          </a:ln>
        </p:spPr>
        <p:txBody>
          <a:bodyPr vert="horz" wrap="square" lIns="0" tIns="77470" rIns="0" bIns="0" rtlCol="0">
            <a:spAutoFit/>
          </a:bodyPr>
          <a:lstStyle/>
          <a:p>
            <a:pPr marL="470534">
              <a:lnSpc>
                <a:spcPct val="100000"/>
              </a:lnSpc>
              <a:spcBef>
                <a:spcPts val="610"/>
              </a:spcBef>
            </a:pPr>
            <a:r>
              <a:rPr sz="1400" b="1">
                <a:solidFill>
                  <a:srgbClr val="FFFFFF"/>
                </a:solidFill>
                <a:latin typeface="Trebuchet MS"/>
                <a:cs typeface="Trebuchet MS"/>
              </a:rPr>
              <a:t>Step</a:t>
            </a:r>
            <a:r>
              <a:rPr sz="1400" b="1" spc="-30">
                <a:solidFill>
                  <a:srgbClr val="FFFFFF"/>
                </a:solidFill>
                <a:latin typeface="Trebuchet MS"/>
                <a:cs typeface="Trebuchet MS"/>
              </a:rPr>
              <a:t> </a:t>
            </a:r>
            <a:r>
              <a:rPr sz="1400" b="1">
                <a:solidFill>
                  <a:srgbClr val="FFFFFF"/>
                </a:solidFill>
                <a:latin typeface="Trebuchet MS"/>
                <a:cs typeface="Trebuchet MS"/>
              </a:rPr>
              <a:t>2:</a:t>
            </a:r>
            <a:r>
              <a:rPr sz="1400" b="1" spc="-10">
                <a:solidFill>
                  <a:srgbClr val="FFFFFF"/>
                </a:solidFill>
                <a:latin typeface="Trebuchet MS"/>
                <a:cs typeface="Trebuchet MS"/>
              </a:rPr>
              <a:t> </a:t>
            </a:r>
            <a:r>
              <a:rPr sz="1400" b="1">
                <a:solidFill>
                  <a:srgbClr val="FFFFFF"/>
                </a:solidFill>
                <a:latin typeface="Trebuchet MS"/>
                <a:cs typeface="Trebuchet MS"/>
              </a:rPr>
              <a:t>Wallet</a:t>
            </a:r>
            <a:r>
              <a:rPr sz="1400" b="1" spc="-30">
                <a:solidFill>
                  <a:srgbClr val="FFFFFF"/>
                </a:solidFill>
                <a:latin typeface="Trebuchet MS"/>
                <a:cs typeface="Trebuchet MS"/>
              </a:rPr>
              <a:t> </a:t>
            </a:r>
            <a:r>
              <a:rPr sz="1400" b="1">
                <a:solidFill>
                  <a:srgbClr val="FFFFFF"/>
                </a:solidFill>
                <a:latin typeface="Trebuchet MS"/>
                <a:cs typeface="Trebuchet MS"/>
              </a:rPr>
              <a:t>Size</a:t>
            </a:r>
            <a:r>
              <a:rPr sz="1400" b="1" spc="-40">
                <a:solidFill>
                  <a:srgbClr val="FFFFFF"/>
                </a:solidFill>
                <a:latin typeface="Trebuchet MS"/>
                <a:cs typeface="Trebuchet MS"/>
              </a:rPr>
              <a:t> </a:t>
            </a:r>
            <a:r>
              <a:rPr sz="1400" b="1" spc="-10">
                <a:solidFill>
                  <a:srgbClr val="FFFFFF"/>
                </a:solidFill>
                <a:latin typeface="Trebuchet MS"/>
                <a:cs typeface="Trebuchet MS"/>
              </a:rPr>
              <a:t>Estimation</a:t>
            </a:r>
            <a:endParaRPr sz="1400">
              <a:latin typeface="Trebuchet MS"/>
              <a:cs typeface="Trebuchet MS"/>
            </a:endParaRPr>
          </a:p>
        </p:txBody>
      </p:sp>
      <p:sp>
        <p:nvSpPr>
          <p:cNvPr id="31" name="object 31"/>
          <p:cNvSpPr txBox="1"/>
          <p:nvPr/>
        </p:nvSpPr>
        <p:spPr>
          <a:xfrm>
            <a:off x="4752594" y="2050542"/>
            <a:ext cx="699770" cy="384175"/>
          </a:xfrm>
          <a:prstGeom prst="rect">
            <a:avLst/>
          </a:prstGeom>
          <a:solidFill>
            <a:srgbClr val="D6EFEA">
              <a:alpha val="59999"/>
            </a:srgbClr>
          </a:solidFill>
          <a:ln w="7620">
            <a:solidFill>
              <a:srgbClr val="29B974"/>
            </a:solidFill>
          </a:ln>
        </p:spPr>
        <p:txBody>
          <a:bodyPr vert="horz" wrap="square" lIns="0" tIns="3810" rIns="0" bIns="0" rtlCol="0">
            <a:spAutoFit/>
          </a:bodyPr>
          <a:lstStyle/>
          <a:p>
            <a:pPr marL="203200" marR="121285" indent="-78105">
              <a:lnSpc>
                <a:spcPct val="100000"/>
              </a:lnSpc>
              <a:spcBef>
                <a:spcPts val="30"/>
              </a:spcBef>
            </a:pPr>
            <a:r>
              <a:rPr sz="1200" b="1" spc="-25">
                <a:solidFill>
                  <a:srgbClr val="29B974"/>
                </a:solidFill>
                <a:latin typeface="Trebuchet MS"/>
                <a:cs typeface="Trebuchet MS"/>
              </a:rPr>
              <a:t>Wallet </a:t>
            </a:r>
            <a:r>
              <a:rPr sz="1200" b="1" spc="-20">
                <a:solidFill>
                  <a:srgbClr val="29B974"/>
                </a:solidFill>
                <a:latin typeface="Trebuchet MS"/>
                <a:cs typeface="Trebuchet MS"/>
              </a:rPr>
              <a:t>Size</a:t>
            </a:r>
            <a:endParaRPr sz="1200">
              <a:latin typeface="Trebuchet MS"/>
              <a:cs typeface="Trebuchet MS"/>
            </a:endParaRPr>
          </a:p>
        </p:txBody>
      </p:sp>
      <p:sp>
        <p:nvSpPr>
          <p:cNvPr id="32" name="object 32"/>
          <p:cNvSpPr txBox="1">
            <a:spLocks noGrp="1"/>
          </p:cNvSpPr>
          <p:nvPr>
            <p:ph type="title"/>
          </p:nvPr>
        </p:nvSpPr>
        <p:spPr>
          <a:prstGeom prst="rect">
            <a:avLst/>
          </a:prstGeom>
        </p:spPr>
        <p:txBody>
          <a:bodyPr vert="horz" wrap="square" lIns="0" tIns="286080" rIns="0" bIns="0" rtlCol="0">
            <a:spAutoFit/>
          </a:bodyPr>
          <a:lstStyle/>
          <a:p>
            <a:pPr marL="12700">
              <a:lnSpc>
                <a:spcPct val="100000"/>
              </a:lnSpc>
              <a:spcBef>
                <a:spcPts val="100"/>
              </a:spcBef>
            </a:pPr>
            <a:r>
              <a:rPr sz="2400"/>
              <a:t>Identifying</a:t>
            </a:r>
            <a:r>
              <a:rPr sz="2400" spc="-70"/>
              <a:t> </a:t>
            </a:r>
            <a:r>
              <a:rPr sz="2400"/>
              <a:t>customers</a:t>
            </a:r>
            <a:r>
              <a:rPr sz="2400" spc="-65"/>
              <a:t> </a:t>
            </a:r>
            <a:r>
              <a:rPr sz="2400"/>
              <a:t>with</a:t>
            </a:r>
            <a:r>
              <a:rPr sz="2400" spc="-85"/>
              <a:t> </a:t>
            </a:r>
            <a:r>
              <a:rPr sz="2400" spc="-10"/>
              <a:t>"Wealth</a:t>
            </a:r>
            <a:r>
              <a:rPr sz="2400" spc="-70"/>
              <a:t> </a:t>
            </a:r>
            <a:r>
              <a:rPr sz="2400"/>
              <a:t>Elsewhere"</a:t>
            </a:r>
            <a:r>
              <a:rPr sz="2400" spc="-55"/>
              <a:t> </a:t>
            </a:r>
            <a:r>
              <a:rPr sz="2400"/>
              <a:t>based</a:t>
            </a:r>
            <a:r>
              <a:rPr sz="2400" spc="-75"/>
              <a:t> </a:t>
            </a:r>
            <a:r>
              <a:rPr sz="2400"/>
              <a:t>on</a:t>
            </a:r>
            <a:r>
              <a:rPr sz="2400" spc="-80"/>
              <a:t> </a:t>
            </a:r>
            <a:r>
              <a:rPr sz="2400"/>
              <a:t>advanced</a:t>
            </a:r>
            <a:r>
              <a:rPr sz="2400" spc="-70"/>
              <a:t> </a:t>
            </a:r>
            <a:r>
              <a:rPr sz="2400" spc="-10"/>
              <a:t>analytics</a:t>
            </a:r>
            <a:endParaRPr sz="2400"/>
          </a:p>
        </p:txBody>
      </p:sp>
      <p:grpSp>
        <p:nvGrpSpPr>
          <p:cNvPr id="33" name="object 33"/>
          <p:cNvGrpSpPr/>
          <p:nvPr/>
        </p:nvGrpSpPr>
        <p:grpSpPr>
          <a:xfrm>
            <a:off x="5179885" y="4455985"/>
            <a:ext cx="2442210" cy="1250315"/>
            <a:chOff x="5179885" y="4455985"/>
            <a:chExt cx="2442210" cy="1250315"/>
          </a:xfrm>
        </p:grpSpPr>
        <p:sp>
          <p:nvSpPr>
            <p:cNvPr id="34" name="object 34"/>
            <p:cNvSpPr/>
            <p:nvPr/>
          </p:nvSpPr>
          <p:spPr>
            <a:xfrm>
              <a:off x="5207507" y="4460747"/>
              <a:ext cx="50800" cy="1240790"/>
            </a:xfrm>
            <a:custGeom>
              <a:avLst/>
              <a:gdLst/>
              <a:ahLst/>
              <a:cxnLst/>
              <a:rect l="l" t="t" r="r" b="b"/>
              <a:pathLst>
                <a:path w="50800" h="1240789">
                  <a:moveTo>
                    <a:pt x="0" y="0"/>
                  </a:moveTo>
                  <a:lnTo>
                    <a:pt x="50800" y="0"/>
                  </a:lnTo>
                </a:path>
                <a:path w="50800" h="1240789">
                  <a:moveTo>
                    <a:pt x="0" y="1240536"/>
                  </a:moveTo>
                  <a:lnTo>
                    <a:pt x="50800" y="1240536"/>
                  </a:lnTo>
                </a:path>
                <a:path w="50800" h="1240789">
                  <a:moveTo>
                    <a:pt x="0" y="818388"/>
                  </a:moveTo>
                  <a:lnTo>
                    <a:pt x="50800" y="818388"/>
                  </a:lnTo>
                </a:path>
              </a:pathLst>
            </a:custGeom>
            <a:ln w="9525">
              <a:solidFill>
                <a:srgbClr val="808080"/>
              </a:solidFill>
            </a:ln>
          </p:spPr>
          <p:txBody>
            <a:bodyPr wrap="square" lIns="0" tIns="0" rIns="0" bIns="0" rtlCol="0"/>
            <a:lstStyle/>
            <a:p>
              <a:endParaRPr/>
            </a:p>
          </p:txBody>
        </p:sp>
        <p:sp>
          <p:nvSpPr>
            <p:cNvPr id="35" name="object 35"/>
            <p:cNvSpPr/>
            <p:nvPr/>
          </p:nvSpPr>
          <p:spPr>
            <a:xfrm>
              <a:off x="6941819" y="4872227"/>
              <a:ext cx="146685" cy="829310"/>
            </a:xfrm>
            <a:custGeom>
              <a:avLst/>
              <a:gdLst/>
              <a:ahLst/>
              <a:cxnLst/>
              <a:rect l="l" t="t" r="r" b="b"/>
              <a:pathLst>
                <a:path w="146684" h="829310">
                  <a:moveTo>
                    <a:pt x="146303" y="0"/>
                  </a:moveTo>
                  <a:lnTo>
                    <a:pt x="0" y="0"/>
                  </a:lnTo>
                  <a:lnTo>
                    <a:pt x="0" y="829056"/>
                  </a:lnTo>
                  <a:lnTo>
                    <a:pt x="146303" y="829056"/>
                  </a:lnTo>
                  <a:lnTo>
                    <a:pt x="146303" y="0"/>
                  </a:lnTo>
                  <a:close/>
                </a:path>
              </a:pathLst>
            </a:custGeom>
            <a:solidFill>
              <a:srgbClr val="29B974"/>
            </a:solidFill>
          </p:spPr>
          <p:txBody>
            <a:bodyPr wrap="square" lIns="0" tIns="0" rIns="0" bIns="0" rtlCol="0"/>
            <a:lstStyle/>
            <a:p>
              <a:endParaRPr/>
            </a:p>
          </p:txBody>
        </p:sp>
        <p:sp>
          <p:nvSpPr>
            <p:cNvPr id="36" name="object 36"/>
            <p:cNvSpPr/>
            <p:nvPr/>
          </p:nvSpPr>
          <p:spPr>
            <a:xfrm>
              <a:off x="7176516" y="4509515"/>
              <a:ext cx="381000" cy="1191895"/>
            </a:xfrm>
            <a:custGeom>
              <a:avLst/>
              <a:gdLst/>
              <a:ahLst/>
              <a:cxnLst/>
              <a:rect l="l" t="t" r="r" b="b"/>
              <a:pathLst>
                <a:path w="381000" h="1191895">
                  <a:moveTo>
                    <a:pt x="146304" y="181356"/>
                  </a:moveTo>
                  <a:lnTo>
                    <a:pt x="0" y="181356"/>
                  </a:lnTo>
                  <a:lnTo>
                    <a:pt x="0" y="1191768"/>
                  </a:lnTo>
                  <a:lnTo>
                    <a:pt x="146304" y="1191768"/>
                  </a:lnTo>
                  <a:lnTo>
                    <a:pt x="146304" y="181356"/>
                  </a:lnTo>
                  <a:close/>
                </a:path>
                <a:path w="381000" h="1191895">
                  <a:moveTo>
                    <a:pt x="380987" y="0"/>
                  </a:moveTo>
                  <a:lnTo>
                    <a:pt x="234696" y="0"/>
                  </a:lnTo>
                  <a:lnTo>
                    <a:pt x="234696" y="1191768"/>
                  </a:lnTo>
                  <a:lnTo>
                    <a:pt x="380987" y="1191768"/>
                  </a:lnTo>
                  <a:lnTo>
                    <a:pt x="380987" y="0"/>
                  </a:lnTo>
                  <a:close/>
                </a:path>
              </a:pathLst>
            </a:custGeom>
            <a:solidFill>
              <a:srgbClr val="808080"/>
            </a:solidFill>
          </p:spPr>
          <p:txBody>
            <a:bodyPr wrap="square" lIns="0" tIns="0" rIns="0" bIns="0" rtlCol="0"/>
            <a:lstStyle/>
            <a:p>
              <a:endParaRPr/>
            </a:p>
          </p:txBody>
        </p:sp>
        <p:sp>
          <p:nvSpPr>
            <p:cNvPr id="37" name="object 37"/>
            <p:cNvSpPr/>
            <p:nvPr/>
          </p:nvSpPr>
          <p:spPr>
            <a:xfrm>
              <a:off x="5301996" y="5052059"/>
              <a:ext cx="1551940" cy="649605"/>
            </a:xfrm>
            <a:custGeom>
              <a:avLst/>
              <a:gdLst/>
              <a:ahLst/>
              <a:cxnLst/>
              <a:rect l="l" t="t" r="r" b="b"/>
              <a:pathLst>
                <a:path w="1551940" h="649604">
                  <a:moveTo>
                    <a:pt x="146304" y="624840"/>
                  </a:moveTo>
                  <a:lnTo>
                    <a:pt x="0" y="624840"/>
                  </a:lnTo>
                  <a:lnTo>
                    <a:pt x="0" y="649224"/>
                  </a:lnTo>
                  <a:lnTo>
                    <a:pt x="146304" y="649224"/>
                  </a:lnTo>
                  <a:lnTo>
                    <a:pt x="146304" y="624840"/>
                  </a:lnTo>
                  <a:close/>
                </a:path>
                <a:path w="1551940" h="649604">
                  <a:moveTo>
                    <a:pt x="381000" y="601980"/>
                  </a:moveTo>
                  <a:lnTo>
                    <a:pt x="234696" y="601980"/>
                  </a:lnTo>
                  <a:lnTo>
                    <a:pt x="234696" y="649224"/>
                  </a:lnTo>
                  <a:lnTo>
                    <a:pt x="381000" y="649224"/>
                  </a:lnTo>
                  <a:lnTo>
                    <a:pt x="381000" y="601980"/>
                  </a:lnTo>
                  <a:close/>
                </a:path>
                <a:path w="1551940" h="649604">
                  <a:moveTo>
                    <a:pt x="614172" y="550164"/>
                  </a:moveTo>
                  <a:lnTo>
                    <a:pt x="467868" y="550164"/>
                  </a:lnTo>
                  <a:lnTo>
                    <a:pt x="467868" y="649224"/>
                  </a:lnTo>
                  <a:lnTo>
                    <a:pt x="614172" y="649224"/>
                  </a:lnTo>
                  <a:lnTo>
                    <a:pt x="614172" y="550164"/>
                  </a:lnTo>
                  <a:close/>
                </a:path>
                <a:path w="1551940" h="649604">
                  <a:moveTo>
                    <a:pt x="848868" y="457200"/>
                  </a:moveTo>
                  <a:lnTo>
                    <a:pt x="702564" y="457200"/>
                  </a:lnTo>
                  <a:lnTo>
                    <a:pt x="702564" y="649224"/>
                  </a:lnTo>
                  <a:lnTo>
                    <a:pt x="848868" y="649224"/>
                  </a:lnTo>
                  <a:lnTo>
                    <a:pt x="848868" y="457200"/>
                  </a:lnTo>
                  <a:close/>
                </a:path>
                <a:path w="1551940" h="649604">
                  <a:moveTo>
                    <a:pt x="1083564" y="377952"/>
                  </a:moveTo>
                  <a:lnTo>
                    <a:pt x="937260" y="377952"/>
                  </a:lnTo>
                  <a:lnTo>
                    <a:pt x="937260" y="649224"/>
                  </a:lnTo>
                  <a:lnTo>
                    <a:pt x="1083564" y="649224"/>
                  </a:lnTo>
                  <a:lnTo>
                    <a:pt x="1083564" y="377952"/>
                  </a:lnTo>
                  <a:close/>
                </a:path>
                <a:path w="1551940" h="649604">
                  <a:moveTo>
                    <a:pt x="1318260" y="202692"/>
                  </a:moveTo>
                  <a:lnTo>
                    <a:pt x="1171956" y="202692"/>
                  </a:lnTo>
                  <a:lnTo>
                    <a:pt x="1171956" y="649224"/>
                  </a:lnTo>
                  <a:lnTo>
                    <a:pt x="1318260" y="649224"/>
                  </a:lnTo>
                  <a:lnTo>
                    <a:pt x="1318260" y="202692"/>
                  </a:lnTo>
                  <a:close/>
                </a:path>
                <a:path w="1551940" h="649604">
                  <a:moveTo>
                    <a:pt x="1551432" y="0"/>
                  </a:moveTo>
                  <a:lnTo>
                    <a:pt x="1405128" y="0"/>
                  </a:lnTo>
                  <a:lnTo>
                    <a:pt x="1405128" y="649224"/>
                  </a:lnTo>
                  <a:lnTo>
                    <a:pt x="1551432" y="649224"/>
                  </a:lnTo>
                  <a:lnTo>
                    <a:pt x="1551432" y="0"/>
                  </a:lnTo>
                  <a:close/>
                </a:path>
              </a:pathLst>
            </a:custGeom>
            <a:solidFill>
              <a:srgbClr val="ABA8B3"/>
            </a:solidFill>
          </p:spPr>
          <p:txBody>
            <a:bodyPr wrap="square" lIns="0" tIns="0" rIns="0" bIns="0" rtlCol="0"/>
            <a:lstStyle/>
            <a:p>
              <a:endParaRPr/>
            </a:p>
          </p:txBody>
        </p:sp>
        <p:sp>
          <p:nvSpPr>
            <p:cNvPr id="38" name="object 38"/>
            <p:cNvSpPr/>
            <p:nvPr/>
          </p:nvSpPr>
          <p:spPr>
            <a:xfrm>
              <a:off x="5257799" y="4460747"/>
              <a:ext cx="2344420" cy="1240790"/>
            </a:xfrm>
            <a:custGeom>
              <a:avLst/>
              <a:gdLst/>
              <a:ahLst/>
              <a:cxnLst/>
              <a:rect l="l" t="t" r="r" b="b"/>
              <a:pathLst>
                <a:path w="2344420" h="1240789">
                  <a:moveTo>
                    <a:pt x="0" y="1240536"/>
                  </a:moveTo>
                  <a:lnTo>
                    <a:pt x="0" y="0"/>
                  </a:lnTo>
                </a:path>
                <a:path w="2344420" h="1240789">
                  <a:moveTo>
                    <a:pt x="0" y="1240536"/>
                  </a:moveTo>
                  <a:lnTo>
                    <a:pt x="2343911" y="1240536"/>
                  </a:lnTo>
                </a:path>
              </a:pathLst>
            </a:custGeom>
            <a:ln w="9525">
              <a:solidFill>
                <a:srgbClr val="808080"/>
              </a:solidFill>
            </a:ln>
          </p:spPr>
          <p:txBody>
            <a:bodyPr wrap="square" lIns="0" tIns="0" rIns="0" bIns="0" rtlCol="0"/>
            <a:lstStyle/>
            <a:p>
              <a:endParaRPr/>
            </a:p>
          </p:txBody>
        </p:sp>
        <p:sp>
          <p:nvSpPr>
            <p:cNvPr id="39" name="object 39"/>
            <p:cNvSpPr/>
            <p:nvPr/>
          </p:nvSpPr>
          <p:spPr>
            <a:xfrm>
              <a:off x="5184648" y="4535423"/>
              <a:ext cx="2432685" cy="492759"/>
            </a:xfrm>
            <a:custGeom>
              <a:avLst/>
              <a:gdLst/>
              <a:ahLst/>
              <a:cxnLst/>
              <a:rect l="l" t="t" r="r" b="b"/>
              <a:pathLst>
                <a:path w="2432684" h="492760">
                  <a:moveTo>
                    <a:pt x="146304" y="379476"/>
                  </a:moveTo>
                  <a:lnTo>
                    <a:pt x="0" y="419481"/>
                  </a:lnTo>
                  <a:lnTo>
                    <a:pt x="0" y="477012"/>
                  </a:lnTo>
                  <a:lnTo>
                    <a:pt x="146304" y="437007"/>
                  </a:lnTo>
                  <a:lnTo>
                    <a:pt x="146304" y="379476"/>
                  </a:lnTo>
                  <a:close/>
                </a:path>
                <a:path w="2432684" h="492760">
                  <a:moveTo>
                    <a:pt x="146304" y="198120"/>
                  </a:moveTo>
                  <a:lnTo>
                    <a:pt x="0" y="238125"/>
                  </a:lnTo>
                  <a:lnTo>
                    <a:pt x="0" y="295656"/>
                  </a:lnTo>
                  <a:lnTo>
                    <a:pt x="146304" y="255651"/>
                  </a:lnTo>
                  <a:lnTo>
                    <a:pt x="146304" y="198120"/>
                  </a:lnTo>
                  <a:close/>
                </a:path>
                <a:path w="2432684" h="492760">
                  <a:moveTo>
                    <a:pt x="146304" y="18288"/>
                  </a:moveTo>
                  <a:lnTo>
                    <a:pt x="0" y="57658"/>
                  </a:lnTo>
                  <a:lnTo>
                    <a:pt x="0" y="114300"/>
                  </a:lnTo>
                  <a:lnTo>
                    <a:pt x="146304" y="74930"/>
                  </a:lnTo>
                  <a:lnTo>
                    <a:pt x="146304" y="18288"/>
                  </a:lnTo>
                  <a:close/>
                </a:path>
                <a:path w="2432684" h="492760">
                  <a:moveTo>
                    <a:pt x="1964436" y="362712"/>
                  </a:moveTo>
                  <a:lnTo>
                    <a:pt x="1696212" y="435356"/>
                  </a:lnTo>
                  <a:lnTo>
                    <a:pt x="1696212" y="492252"/>
                  </a:lnTo>
                  <a:lnTo>
                    <a:pt x="1964436" y="419608"/>
                  </a:lnTo>
                  <a:lnTo>
                    <a:pt x="1964436" y="362712"/>
                  </a:lnTo>
                  <a:close/>
                </a:path>
                <a:path w="2432684" h="492760">
                  <a:moveTo>
                    <a:pt x="2197608" y="364236"/>
                  </a:moveTo>
                  <a:lnTo>
                    <a:pt x="1930908" y="435356"/>
                  </a:lnTo>
                  <a:lnTo>
                    <a:pt x="1930908" y="492252"/>
                  </a:lnTo>
                  <a:lnTo>
                    <a:pt x="2197608" y="421132"/>
                  </a:lnTo>
                  <a:lnTo>
                    <a:pt x="2197608" y="364236"/>
                  </a:lnTo>
                  <a:close/>
                </a:path>
                <a:path w="2432684" h="492760">
                  <a:moveTo>
                    <a:pt x="2197608" y="182880"/>
                  </a:moveTo>
                  <a:lnTo>
                    <a:pt x="1930908" y="254000"/>
                  </a:lnTo>
                  <a:lnTo>
                    <a:pt x="1930908" y="310896"/>
                  </a:lnTo>
                  <a:lnTo>
                    <a:pt x="2197608" y="239776"/>
                  </a:lnTo>
                  <a:lnTo>
                    <a:pt x="2197608" y="182880"/>
                  </a:lnTo>
                  <a:close/>
                </a:path>
                <a:path w="2432684" h="492760">
                  <a:moveTo>
                    <a:pt x="2432304" y="362712"/>
                  </a:moveTo>
                  <a:lnTo>
                    <a:pt x="2164080" y="435356"/>
                  </a:lnTo>
                  <a:lnTo>
                    <a:pt x="2164080" y="492252"/>
                  </a:lnTo>
                  <a:lnTo>
                    <a:pt x="2432304" y="419608"/>
                  </a:lnTo>
                  <a:lnTo>
                    <a:pt x="2432304" y="362712"/>
                  </a:lnTo>
                  <a:close/>
                </a:path>
                <a:path w="2432684" h="492760">
                  <a:moveTo>
                    <a:pt x="2432304" y="181356"/>
                  </a:moveTo>
                  <a:lnTo>
                    <a:pt x="2164080" y="254000"/>
                  </a:lnTo>
                  <a:lnTo>
                    <a:pt x="2164080" y="310896"/>
                  </a:lnTo>
                  <a:lnTo>
                    <a:pt x="2432304" y="238252"/>
                  </a:lnTo>
                  <a:lnTo>
                    <a:pt x="2432304" y="181356"/>
                  </a:lnTo>
                  <a:close/>
                </a:path>
                <a:path w="2432684" h="492760">
                  <a:moveTo>
                    <a:pt x="2432304" y="0"/>
                  </a:moveTo>
                  <a:lnTo>
                    <a:pt x="2164080" y="72644"/>
                  </a:lnTo>
                  <a:lnTo>
                    <a:pt x="2164080" y="129540"/>
                  </a:lnTo>
                  <a:lnTo>
                    <a:pt x="2432304" y="56896"/>
                  </a:lnTo>
                  <a:lnTo>
                    <a:pt x="2432304" y="0"/>
                  </a:lnTo>
                  <a:close/>
                </a:path>
              </a:pathLst>
            </a:custGeom>
            <a:solidFill>
              <a:srgbClr val="F1F1F1"/>
            </a:solidFill>
          </p:spPr>
          <p:txBody>
            <a:bodyPr wrap="square" lIns="0" tIns="0" rIns="0" bIns="0" rtlCol="0"/>
            <a:lstStyle/>
            <a:p>
              <a:endParaRPr/>
            </a:p>
          </p:txBody>
        </p:sp>
        <p:sp>
          <p:nvSpPr>
            <p:cNvPr id="40" name="object 40"/>
            <p:cNvSpPr/>
            <p:nvPr/>
          </p:nvSpPr>
          <p:spPr>
            <a:xfrm>
              <a:off x="5184647" y="4535423"/>
              <a:ext cx="2432685" cy="492759"/>
            </a:xfrm>
            <a:custGeom>
              <a:avLst/>
              <a:gdLst/>
              <a:ahLst/>
              <a:cxnLst/>
              <a:rect l="l" t="t" r="r" b="b"/>
              <a:pathLst>
                <a:path w="2432684" h="492760">
                  <a:moveTo>
                    <a:pt x="2164079" y="310895"/>
                  </a:moveTo>
                  <a:lnTo>
                    <a:pt x="2432304" y="237744"/>
                  </a:lnTo>
                </a:path>
                <a:path w="2432684" h="492760">
                  <a:moveTo>
                    <a:pt x="0" y="57912"/>
                  </a:moveTo>
                  <a:lnTo>
                    <a:pt x="146303" y="18287"/>
                  </a:lnTo>
                </a:path>
                <a:path w="2432684" h="492760">
                  <a:moveTo>
                    <a:pt x="2164079" y="73151"/>
                  </a:moveTo>
                  <a:lnTo>
                    <a:pt x="2432304" y="0"/>
                  </a:lnTo>
                </a:path>
                <a:path w="2432684" h="492760">
                  <a:moveTo>
                    <a:pt x="1696211" y="492251"/>
                  </a:moveTo>
                  <a:lnTo>
                    <a:pt x="1964435" y="419100"/>
                  </a:lnTo>
                </a:path>
                <a:path w="2432684" h="492760">
                  <a:moveTo>
                    <a:pt x="0" y="237744"/>
                  </a:moveTo>
                  <a:lnTo>
                    <a:pt x="146303" y="198119"/>
                  </a:lnTo>
                </a:path>
                <a:path w="2432684" h="492760">
                  <a:moveTo>
                    <a:pt x="2164079" y="434339"/>
                  </a:moveTo>
                  <a:lnTo>
                    <a:pt x="2432304" y="362712"/>
                  </a:lnTo>
                </a:path>
                <a:path w="2432684" h="492760">
                  <a:moveTo>
                    <a:pt x="1930907" y="254507"/>
                  </a:moveTo>
                  <a:lnTo>
                    <a:pt x="2197607" y="182880"/>
                  </a:lnTo>
                </a:path>
                <a:path w="2432684" h="492760">
                  <a:moveTo>
                    <a:pt x="2164079" y="254507"/>
                  </a:moveTo>
                  <a:lnTo>
                    <a:pt x="2432304" y="181356"/>
                  </a:lnTo>
                </a:path>
                <a:path w="2432684" h="492760">
                  <a:moveTo>
                    <a:pt x="0" y="419100"/>
                  </a:moveTo>
                  <a:lnTo>
                    <a:pt x="146303" y="379475"/>
                  </a:lnTo>
                </a:path>
                <a:path w="2432684" h="492760">
                  <a:moveTo>
                    <a:pt x="0" y="477012"/>
                  </a:moveTo>
                  <a:lnTo>
                    <a:pt x="146303" y="437388"/>
                  </a:lnTo>
                </a:path>
                <a:path w="2432684" h="492760">
                  <a:moveTo>
                    <a:pt x="2164079" y="492251"/>
                  </a:moveTo>
                  <a:lnTo>
                    <a:pt x="2432304" y="419100"/>
                  </a:lnTo>
                </a:path>
                <a:path w="2432684" h="492760">
                  <a:moveTo>
                    <a:pt x="0" y="295656"/>
                  </a:moveTo>
                  <a:lnTo>
                    <a:pt x="146303" y="256031"/>
                  </a:lnTo>
                </a:path>
                <a:path w="2432684" h="492760">
                  <a:moveTo>
                    <a:pt x="0" y="114300"/>
                  </a:moveTo>
                  <a:lnTo>
                    <a:pt x="146303" y="74675"/>
                  </a:lnTo>
                </a:path>
                <a:path w="2432684" h="492760">
                  <a:moveTo>
                    <a:pt x="2164079" y="129539"/>
                  </a:moveTo>
                  <a:lnTo>
                    <a:pt x="2432304" y="57912"/>
                  </a:lnTo>
                </a:path>
                <a:path w="2432684" h="492760">
                  <a:moveTo>
                    <a:pt x="1930907" y="434339"/>
                  </a:moveTo>
                  <a:lnTo>
                    <a:pt x="2197607" y="364236"/>
                  </a:lnTo>
                </a:path>
                <a:path w="2432684" h="492760">
                  <a:moveTo>
                    <a:pt x="1696211" y="434339"/>
                  </a:moveTo>
                  <a:lnTo>
                    <a:pt x="1964435" y="362712"/>
                  </a:lnTo>
                </a:path>
                <a:path w="2432684" h="492760">
                  <a:moveTo>
                    <a:pt x="1930907" y="310895"/>
                  </a:moveTo>
                  <a:lnTo>
                    <a:pt x="2197607" y="239268"/>
                  </a:lnTo>
                </a:path>
                <a:path w="2432684" h="492760">
                  <a:moveTo>
                    <a:pt x="1930907" y="492251"/>
                  </a:moveTo>
                  <a:lnTo>
                    <a:pt x="2197607" y="420624"/>
                  </a:lnTo>
                </a:path>
              </a:pathLst>
            </a:custGeom>
            <a:ln w="9525">
              <a:solidFill>
                <a:srgbClr val="808080"/>
              </a:solidFill>
            </a:ln>
          </p:spPr>
          <p:txBody>
            <a:bodyPr wrap="square" lIns="0" tIns="0" rIns="0" bIns="0" rtlCol="0"/>
            <a:lstStyle/>
            <a:p>
              <a:endParaRPr/>
            </a:p>
          </p:txBody>
        </p:sp>
      </p:grpSp>
      <p:sp>
        <p:nvSpPr>
          <p:cNvPr id="41" name="object 41"/>
          <p:cNvSpPr txBox="1"/>
          <p:nvPr/>
        </p:nvSpPr>
        <p:spPr>
          <a:xfrm>
            <a:off x="4934458" y="5168265"/>
            <a:ext cx="184150" cy="208279"/>
          </a:xfrm>
          <a:prstGeom prst="rect">
            <a:avLst/>
          </a:prstGeom>
        </p:spPr>
        <p:txBody>
          <a:bodyPr vert="horz" wrap="square" lIns="0" tIns="12700" rIns="0" bIns="0" rtlCol="0">
            <a:spAutoFit/>
          </a:bodyPr>
          <a:lstStyle/>
          <a:p>
            <a:pPr marL="12700">
              <a:lnSpc>
                <a:spcPct val="100000"/>
              </a:lnSpc>
              <a:spcBef>
                <a:spcPts val="100"/>
              </a:spcBef>
            </a:pPr>
            <a:r>
              <a:rPr sz="1200" spc="-25">
                <a:solidFill>
                  <a:srgbClr val="565656"/>
                </a:solidFill>
                <a:latin typeface="Trebuchet MS"/>
                <a:cs typeface="Trebuchet MS"/>
              </a:rPr>
              <a:t>50</a:t>
            </a:r>
            <a:endParaRPr sz="1200">
              <a:latin typeface="Trebuchet MS"/>
              <a:cs typeface="Trebuchet MS"/>
            </a:endParaRPr>
          </a:p>
        </p:txBody>
      </p:sp>
      <p:sp>
        <p:nvSpPr>
          <p:cNvPr id="42" name="object 42"/>
          <p:cNvSpPr txBox="1"/>
          <p:nvPr/>
        </p:nvSpPr>
        <p:spPr>
          <a:xfrm>
            <a:off x="4855209" y="4350511"/>
            <a:ext cx="263525" cy="208279"/>
          </a:xfrm>
          <a:prstGeom prst="rect">
            <a:avLst/>
          </a:prstGeom>
        </p:spPr>
        <p:txBody>
          <a:bodyPr vert="horz" wrap="square" lIns="0" tIns="12700" rIns="0" bIns="0" rtlCol="0">
            <a:spAutoFit/>
          </a:bodyPr>
          <a:lstStyle/>
          <a:p>
            <a:pPr marL="12700">
              <a:lnSpc>
                <a:spcPct val="100000"/>
              </a:lnSpc>
              <a:spcBef>
                <a:spcPts val="100"/>
              </a:spcBef>
            </a:pPr>
            <a:r>
              <a:rPr sz="1200" spc="-25">
                <a:solidFill>
                  <a:srgbClr val="565656"/>
                </a:solidFill>
                <a:latin typeface="Trebuchet MS"/>
                <a:cs typeface="Trebuchet MS"/>
              </a:rPr>
              <a:t>500</a:t>
            </a:r>
            <a:endParaRPr sz="1200">
              <a:latin typeface="Trebuchet MS"/>
              <a:cs typeface="Trebuchet MS"/>
            </a:endParaRPr>
          </a:p>
        </p:txBody>
      </p:sp>
      <p:sp>
        <p:nvSpPr>
          <p:cNvPr id="43" name="object 43"/>
          <p:cNvSpPr txBox="1"/>
          <p:nvPr/>
        </p:nvSpPr>
        <p:spPr>
          <a:xfrm>
            <a:off x="5328284" y="5484977"/>
            <a:ext cx="92075" cy="177800"/>
          </a:xfrm>
          <a:prstGeom prst="rect">
            <a:avLst/>
          </a:prstGeom>
        </p:spPr>
        <p:txBody>
          <a:bodyPr vert="horz" wrap="square" lIns="0" tIns="12065" rIns="0" bIns="0" rtlCol="0">
            <a:spAutoFit/>
          </a:bodyPr>
          <a:lstStyle/>
          <a:p>
            <a:pPr marL="12700">
              <a:lnSpc>
                <a:spcPct val="100000"/>
              </a:lnSpc>
              <a:spcBef>
                <a:spcPts val="95"/>
              </a:spcBef>
            </a:pPr>
            <a:r>
              <a:rPr sz="1000" spc="-50">
                <a:solidFill>
                  <a:srgbClr val="7E7E7E"/>
                </a:solidFill>
                <a:latin typeface="Trebuchet MS"/>
                <a:cs typeface="Trebuchet MS"/>
              </a:rPr>
              <a:t>3</a:t>
            </a:r>
            <a:endParaRPr sz="1000">
              <a:latin typeface="Trebuchet MS"/>
              <a:cs typeface="Trebuchet MS"/>
            </a:endParaRPr>
          </a:p>
        </p:txBody>
      </p:sp>
      <p:sp>
        <p:nvSpPr>
          <p:cNvPr id="44" name="object 44"/>
          <p:cNvSpPr txBox="1"/>
          <p:nvPr/>
        </p:nvSpPr>
        <p:spPr>
          <a:xfrm>
            <a:off x="5763259" y="5410327"/>
            <a:ext cx="160020" cy="177800"/>
          </a:xfrm>
          <a:prstGeom prst="rect">
            <a:avLst/>
          </a:prstGeom>
        </p:spPr>
        <p:txBody>
          <a:bodyPr vert="horz" wrap="square" lIns="0" tIns="12065" rIns="0" bIns="0" rtlCol="0">
            <a:spAutoFit/>
          </a:bodyPr>
          <a:lstStyle/>
          <a:p>
            <a:pPr marL="12700">
              <a:lnSpc>
                <a:spcPct val="100000"/>
              </a:lnSpc>
              <a:spcBef>
                <a:spcPts val="95"/>
              </a:spcBef>
            </a:pPr>
            <a:r>
              <a:rPr sz="1000" spc="-25">
                <a:solidFill>
                  <a:srgbClr val="7E7E7E"/>
                </a:solidFill>
                <a:latin typeface="Trebuchet MS"/>
                <a:cs typeface="Trebuchet MS"/>
              </a:rPr>
              <a:t>12</a:t>
            </a:r>
            <a:endParaRPr sz="1000">
              <a:latin typeface="Trebuchet MS"/>
              <a:cs typeface="Trebuchet MS"/>
            </a:endParaRPr>
          </a:p>
        </p:txBody>
      </p:sp>
      <p:sp>
        <p:nvSpPr>
          <p:cNvPr id="45" name="object 45"/>
          <p:cNvSpPr txBox="1"/>
          <p:nvPr/>
        </p:nvSpPr>
        <p:spPr>
          <a:xfrm>
            <a:off x="6466713" y="5062854"/>
            <a:ext cx="160020" cy="177800"/>
          </a:xfrm>
          <a:prstGeom prst="rect">
            <a:avLst/>
          </a:prstGeom>
        </p:spPr>
        <p:txBody>
          <a:bodyPr vert="horz" wrap="square" lIns="0" tIns="12065" rIns="0" bIns="0" rtlCol="0">
            <a:spAutoFit/>
          </a:bodyPr>
          <a:lstStyle/>
          <a:p>
            <a:pPr marL="12700">
              <a:lnSpc>
                <a:spcPct val="100000"/>
              </a:lnSpc>
              <a:spcBef>
                <a:spcPts val="95"/>
              </a:spcBef>
            </a:pPr>
            <a:r>
              <a:rPr sz="1000" spc="-25">
                <a:solidFill>
                  <a:srgbClr val="7E7E7E"/>
                </a:solidFill>
                <a:latin typeface="Trebuchet MS"/>
                <a:cs typeface="Trebuchet MS"/>
              </a:rPr>
              <a:t>53</a:t>
            </a:r>
            <a:endParaRPr sz="1000">
              <a:latin typeface="Trebuchet MS"/>
              <a:cs typeface="Trebuchet MS"/>
            </a:endParaRPr>
          </a:p>
        </p:txBody>
      </p:sp>
      <p:sp>
        <p:nvSpPr>
          <p:cNvPr id="46" name="object 46"/>
          <p:cNvSpPr txBox="1"/>
          <p:nvPr/>
        </p:nvSpPr>
        <p:spPr>
          <a:xfrm>
            <a:off x="6901688" y="4679950"/>
            <a:ext cx="226695" cy="177800"/>
          </a:xfrm>
          <a:prstGeom prst="rect">
            <a:avLst/>
          </a:prstGeom>
        </p:spPr>
        <p:txBody>
          <a:bodyPr vert="horz" wrap="square" lIns="0" tIns="12065" rIns="0" bIns="0" rtlCol="0">
            <a:spAutoFit/>
          </a:bodyPr>
          <a:lstStyle/>
          <a:p>
            <a:pPr marL="12700">
              <a:lnSpc>
                <a:spcPct val="100000"/>
              </a:lnSpc>
              <a:spcBef>
                <a:spcPts val="95"/>
              </a:spcBef>
            </a:pPr>
            <a:r>
              <a:rPr sz="1000" spc="-25">
                <a:solidFill>
                  <a:srgbClr val="7E7E7E"/>
                </a:solidFill>
                <a:latin typeface="Trebuchet MS"/>
                <a:cs typeface="Trebuchet MS"/>
              </a:rPr>
              <a:t>143</a:t>
            </a:r>
            <a:endParaRPr sz="1000">
              <a:latin typeface="Trebuchet MS"/>
              <a:cs typeface="Trebuchet MS"/>
            </a:endParaRPr>
          </a:p>
        </p:txBody>
      </p:sp>
      <p:sp>
        <p:nvSpPr>
          <p:cNvPr id="47" name="object 47"/>
          <p:cNvSpPr txBox="1"/>
          <p:nvPr/>
        </p:nvSpPr>
        <p:spPr>
          <a:xfrm>
            <a:off x="5563361" y="5461203"/>
            <a:ext cx="92075" cy="177800"/>
          </a:xfrm>
          <a:prstGeom prst="rect">
            <a:avLst/>
          </a:prstGeom>
        </p:spPr>
        <p:txBody>
          <a:bodyPr vert="horz" wrap="square" lIns="0" tIns="12065" rIns="0" bIns="0" rtlCol="0">
            <a:spAutoFit/>
          </a:bodyPr>
          <a:lstStyle/>
          <a:p>
            <a:pPr marL="12700">
              <a:lnSpc>
                <a:spcPct val="100000"/>
              </a:lnSpc>
              <a:spcBef>
                <a:spcPts val="95"/>
              </a:spcBef>
            </a:pPr>
            <a:r>
              <a:rPr sz="1000" spc="-50">
                <a:solidFill>
                  <a:srgbClr val="7E7E7E"/>
                </a:solidFill>
                <a:latin typeface="Trebuchet MS"/>
                <a:cs typeface="Trebuchet MS"/>
              </a:rPr>
              <a:t>6</a:t>
            </a:r>
            <a:endParaRPr sz="1000">
              <a:latin typeface="Trebuchet MS"/>
              <a:cs typeface="Trebuchet MS"/>
            </a:endParaRPr>
          </a:p>
        </p:txBody>
      </p:sp>
      <p:sp>
        <p:nvSpPr>
          <p:cNvPr id="48" name="object 48"/>
          <p:cNvSpPr txBox="1"/>
          <p:nvPr/>
        </p:nvSpPr>
        <p:spPr>
          <a:xfrm>
            <a:off x="6231763" y="5239003"/>
            <a:ext cx="160020" cy="177800"/>
          </a:xfrm>
          <a:prstGeom prst="rect">
            <a:avLst/>
          </a:prstGeom>
        </p:spPr>
        <p:txBody>
          <a:bodyPr vert="horz" wrap="square" lIns="0" tIns="12065" rIns="0" bIns="0" rtlCol="0">
            <a:spAutoFit/>
          </a:bodyPr>
          <a:lstStyle/>
          <a:p>
            <a:pPr marL="12700">
              <a:lnSpc>
                <a:spcPct val="100000"/>
              </a:lnSpc>
              <a:spcBef>
                <a:spcPts val="95"/>
              </a:spcBef>
            </a:pPr>
            <a:r>
              <a:rPr sz="1000" spc="-25">
                <a:solidFill>
                  <a:srgbClr val="7E7E7E"/>
                </a:solidFill>
                <a:latin typeface="Trebuchet MS"/>
                <a:cs typeface="Trebuchet MS"/>
              </a:rPr>
              <a:t>32</a:t>
            </a:r>
            <a:endParaRPr sz="1000">
              <a:latin typeface="Trebuchet MS"/>
              <a:cs typeface="Trebuchet MS"/>
            </a:endParaRPr>
          </a:p>
        </p:txBody>
      </p:sp>
      <p:sp>
        <p:nvSpPr>
          <p:cNvPr id="49" name="object 49"/>
          <p:cNvSpPr txBox="1"/>
          <p:nvPr/>
        </p:nvSpPr>
        <p:spPr>
          <a:xfrm>
            <a:off x="6701790" y="4861052"/>
            <a:ext cx="160020" cy="177800"/>
          </a:xfrm>
          <a:prstGeom prst="rect">
            <a:avLst/>
          </a:prstGeom>
        </p:spPr>
        <p:txBody>
          <a:bodyPr vert="horz" wrap="square" lIns="0" tIns="12065" rIns="0" bIns="0" rtlCol="0">
            <a:spAutoFit/>
          </a:bodyPr>
          <a:lstStyle/>
          <a:p>
            <a:pPr marL="12700">
              <a:lnSpc>
                <a:spcPct val="100000"/>
              </a:lnSpc>
              <a:spcBef>
                <a:spcPts val="95"/>
              </a:spcBef>
            </a:pPr>
            <a:r>
              <a:rPr sz="1000" spc="-25">
                <a:solidFill>
                  <a:srgbClr val="7E7E7E"/>
                </a:solidFill>
                <a:latin typeface="Trebuchet MS"/>
                <a:cs typeface="Trebuchet MS"/>
              </a:rPr>
              <a:t>77</a:t>
            </a:r>
            <a:endParaRPr sz="1000">
              <a:latin typeface="Trebuchet MS"/>
              <a:cs typeface="Trebuchet MS"/>
            </a:endParaRPr>
          </a:p>
        </p:txBody>
      </p:sp>
      <p:sp>
        <p:nvSpPr>
          <p:cNvPr id="50" name="object 50"/>
          <p:cNvSpPr/>
          <p:nvPr/>
        </p:nvSpPr>
        <p:spPr>
          <a:xfrm>
            <a:off x="7123176" y="4497323"/>
            <a:ext cx="251460" cy="167640"/>
          </a:xfrm>
          <a:custGeom>
            <a:avLst/>
            <a:gdLst/>
            <a:ahLst/>
            <a:cxnLst/>
            <a:rect l="l" t="t" r="r" b="b"/>
            <a:pathLst>
              <a:path w="251459" h="167639">
                <a:moveTo>
                  <a:pt x="251459" y="0"/>
                </a:moveTo>
                <a:lnTo>
                  <a:pt x="0" y="0"/>
                </a:lnTo>
                <a:lnTo>
                  <a:pt x="0" y="167639"/>
                </a:lnTo>
                <a:lnTo>
                  <a:pt x="251459" y="167639"/>
                </a:lnTo>
                <a:lnTo>
                  <a:pt x="251459" y="0"/>
                </a:lnTo>
                <a:close/>
              </a:path>
            </a:pathLst>
          </a:custGeom>
          <a:solidFill>
            <a:srgbClr val="F1F1F1"/>
          </a:solidFill>
        </p:spPr>
        <p:txBody>
          <a:bodyPr wrap="square" lIns="0" tIns="0" rIns="0" bIns="0" rtlCol="0"/>
          <a:lstStyle/>
          <a:p>
            <a:endParaRPr/>
          </a:p>
        </p:txBody>
      </p:sp>
      <p:sp>
        <p:nvSpPr>
          <p:cNvPr id="51" name="object 51"/>
          <p:cNvSpPr txBox="1"/>
          <p:nvPr/>
        </p:nvSpPr>
        <p:spPr>
          <a:xfrm>
            <a:off x="7136638" y="4498975"/>
            <a:ext cx="226695" cy="177800"/>
          </a:xfrm>
          <a:prstGeom prst="rect">
            <a:avLst/>
          </a:prstGeom>
        </p:spPr>
        <p:txBody>
          <a:bodyPr vert="horz" wrap="square" lIns="0" tIns="12065" rIns="0" bIns="0" rtlCol="0">
            <a:spAutoFit/>
          </a:bodyPr>
          <a:lstStyle/>
          <a:p>
            <a:pPr marL="12700">
              <a:lnSpc>
                <a:spcPct val="100000"/>
              </a:lnSpc>
              <a:spcBef>
                <a:spcPts val="95"/>
              </a:spcBef>
            </a:pPr>
            <a:r>
              <a:rPr sz="1000" spc="-25">
                <a:solidFill>
                  <a:srgbClr val="7E7E7E"/>
                </a:solidFill>
                <a:latin typeface="Trebuchet MS"/>
                <a:cs typeface="Trebuchet MS"/>
              </a:rPr>
              <a:t>286</a:t>
            </a:r>
            <a:endParaRPr sz="1000">
              <a:latin typeface="Trebuchet MS"/>
              <a:cs typeface="Trebuchet MS"/>
            </a:endParaRPr>
          </a:p>
        </p:txBody>
      </p:sp>
      <p:sp>
        <p:nvSpPr>
          <p:cNvPr id="52" name="object 52"/>
          <p:cNvSpPr txBox="1"/>
          <p:nvPr/>
        </p:nvSpPr>
        <p:spPr>
          <a:xfrm>
            <a:off x="7370191" y="4317872"/>
            <a:ext cx="226695" cy="177800"/>
          </a:xfrm>
          <a:prstGeom prst="rect">
            <a:avLst/>
          </a:prstGeom>
        </p:spPr>
        <p:txBody>
          <a:bodyPr vert="horz" wrap="square" lIns="0" tIns="12065" rIns="0" bIns="0" rtlCol="0">
            <a:spAutoFit/>
          </a:bodyPr>
          <a:lstStyle/>
          <a:p>
            <a:pPr marL="12700">
              <a:lnSpc>
                <a:spcPct val="100000"/>
              </a:lnSpc>
              <a:spcBef>
                <a:spcPts val="95"/>
              </a:spcBef>
            </a:pPr>
            <a:r>
              <a:rPr sz="1000" spc="-25">
                <a:solidFill>
                  <a:srgbClr val="7E7E7E"/>
                </a:solidFill>
                <a:latin typeface="Trebuchet MS"/>
                <a:cs typeface="Trebuchet MS"/>
              </a:rPr>
              <a:t>494</a:t>
            </a:r>
            <a:endParaRPr sz="1000">
              <a:latin typeface="Trebuchet MS"/>
              <a:cs typeface="Trebuchet MS"/>
            </a:endParaRPr>
          </a:p>
        </p:txBody>
      </p:sp>
      <p:sp>
        <p:nvSpPr>
          <p:cNvPr id="53" name="object 53"/>
          <p:cNvSpPr txBox="1"/>
          <p:nvPr/>
        </p:nvSpPr>
        <p:spPr>
          <a:xfrm>
            <a:off x="5998209" y="5316727"/>
            <a:ext cx="160020" cy="177800"/>
          </a:xfrm>
          <a:prstGeom prst="rect">
            <a:avLst/>
          </a:prstGeom>
        </p:spPr>
        <p:txBody>
          <a:bodyPr vert="horz" wrap="square" lIns="0" tIns="12065" rIns="0" bIns="0" rtlCol="0">
            <a:spAutoFit/>
          </a:bodyPr>
          <a:lstStyle/>
          <a:p>
            <a:pPr marL="12700">
              <a:lnSpc>
                <a:spcPct val="100000"/>
              </a:lnSpc>
              <a:spcBef>
                <a:spcPts val="95"/>
              </a:spcBef>
            </a:pPr>
            <a:r>
              <a:rPr sz="1000" spc="-25">
                <a:solidFill>
                  <a:srgbClr val="7E7E7E"/>
                </a:solidFill>
                <a:latin typeface="Trebuchet MS"/>
                <a:cs typeface="Trebuchet MS"/>
              </a:rPr>
              <a:t>23</a:t>
            </a:r>
            <a:endParaRPr sz="1000">
              <a:latin typeface="Trebuchet MS"/>
              <a:cs typeface="Trebuchet MS"/>
            </a:endParaRPr>
          </a:p>
        </p:txBody>
      </p:sp>
      <p:sp>
        <p:nvSpPr>
          <p:cNvPr id="54" name="object 54"/>
          <p:cNvSpPr txBox="1"/>
          <p:nvPr/>
        </p:nvSpPr>
        <p:spPr>
          <a:xfrm>
            <a:off x="5533135" y="4435602"/>
            <a:ext cx="1157605" cy="208279"/>
          </a:xfrm>
          <a:prstGeom prst="rect">
            <a:avLst/>
          </a:prstGeom>
        </p:spPr>
        <p:txBody>
          <a:bodyPr vert="horz" wrap="square" lIns="0" tIns="12700" rIns="0" bIns="0" rtlCol="0">
            <a:spAutoFit/>
          </a:bodyPr>
          <a:lstStyle/>
          <a:p>
            <a:pPr marL="12700">
              <a:lnSpc>
                <a:spcPct val="100000"/>
              </a:lnSpc>
              <a:spcBef>
                <a:spcPts val="100"/>
              </a:spcBef>
            </a:pPr>
            <a:r>
              <a:rPr sz="1200">
                <a:solidFill>
                  <a:srgbClr val="6D6E73"/>
                </a:solidFill>
                <a:latin typeface="Trebuchet MS"/>
                <a:cs typeface="Trebuchet MS"/>
              </a:rPr>
              <a:t>Deciles</a:t>
            </a:r>
            <a:r>
              <a:rPr sz="1200" spc="-45">
                <a:solidFill>
                  <a:srgbClr val="6D6E73"/>
                </a:solidFill>
                <a:latin typeface="Trebuchet MS"/>
                <a:cs typeface="Trebuchet MS"/>
              </a:rPr>
              <a:t> </a:t>
            </a:r>
            <a:r>
              <a:rPr sz="1200">
                <a:solidFill>
                  <a:srgbClr val="6D6E73"/>
                </a:solidFill>
                <a:latin typeface="Trebuchet MS"/>
                <a:cs typeface="Trebuchet MS"/>
              </a:rPr>
              <a:t>based</a:t>
            </a:r>
            <a:r>
              <a:rPr sz="1200" spc="-65">
                <a:solidFill>
                  <a:srgbClr val="6D6E73"/>
                </a:solidFill>
                <a:latin typeface="Trebuchet MS"/>
                <a:cs typeface="Trebuchet MS"/>
              </a:rPr>
              <a:t> </a:t>
            </a:r>
            <a:r>
              <a:rPr sz="1200" spc="-25">
                <a:solidFill>
                  <a:srgbClr val="6D6E73"/>
                </a:solidFill>
                <a:latin typeface="Trebuchet MS"/>
                <a:cs typeface="Trebuchet MS"/>
              </a:rPr>
              <a:t>on</a:t>
            </a:r>
            <a:endParaRPr sz="1200">
              <a:latin typeface="Trebuchet MS"/>
              <a:cs typeface="Trebuchet MS"/>
            </a:endParaRPr>
          </a:p>
        </p:txBody>
      </p:sp>
      <p:sp>
        <p:nvSpPr>
          <p:cNvPr id="55" name="object 55"/>
          <p:cNvSpPr txBox="1"/>
          <p:nvPr/>
        </p:nvSpPr>
        <p:spPr>
          <a:xfrm>
            <a:off x="5479796" y="4618482"/>
            <a:ext cx="1266190" cy="197490"/>
          </a:xfrm>
          <a:prstGeom prst="rect">
            <a:avLst/>
          </a:prstGeom>
        </p:spPr>
        <p:txBody>
          <a:bodyPr vert="horz" wrap="square" lIns="0" tIns="12700" rIns="0" bIns="0" rtlCol="0">
            <a:spAutoFit/>
          </a:bodyPr>
          <a:lstStyle/>
          <a:p>
            <a:pPr marL="12700">
              <a:lnSpc>
                <a:spcPct val="100000"/>
              </a:lnSpc>
              <a:spcBef>
                <a:spcPts val="100"/>
              </a:spcBef>
            </a:pPr>
            <a:r>
              <a:rPr lang="en-US" sz="1200" err="1">
                <a:solidFill>
                  <a:srgbClr val="6D6E73"/>
                </a:solidFill>
                <a:latin typeface="Trebuchet MS"/>
                <a:cs typeface="Trebuchet MS"/>
              </a:rPr>
              <a:t>AuM</a:t>
            </a:r>
            <a:r>
              <a:rPr sz="1200" spc="-15">
                <a:solidFill>
                  <a:srgbClr val="6D6E73"/>
                </a:solidFill>
                <a:latin typeface="Trebuchet MS"/>
                <a:cs typeface="Trebuchet MS"/>
              </a:rPr>
              <a:t> </a:t>
            </a:r>
            <a:r>
              <a:rPr sz="1200">
                <a:solidFill>
                  <a:srgbClr val="6D6E73"/>
                </a:solidFill>
                <a:latin typeface="Trebuchet MS"/>
                <a:cs typeface="Trebuchet MS"/>
              </a:rPr>
              <a:t>for</a:t>
            </a:r>
            <a:r>
              <a:rPr sz="1200" spc="-25">
                <a:solidFill>
                  <a:srgbClr val="6D6E73"/>
                </a:solidFill>
                <a:latin typeface="Trebuchet MS"/>
                <a:cs typeface="Trebuchet MS"/>
              </a:rPr>
              <a:t> </a:t>
            </a:r>
            <a:r>
              <a:rPr sz="1200">
                <a:solidFill>
                  <a:srgbClr val="6D6E73"/>
                </a:solidFill>
                <a:latin typeface="Trebuchet MS"/>
                <a:cs typeface="Trebuchet MS"/>
              </a:rPr>
              <a:t>cluster</a:t>
            </a:r>
            <a:r>
              <a:rPr sz="1200" spc="-35">
                <a:solidFill>
                  <a:srgbClr val="6D6E73"/>
                </a:solidFill>
                <a:latin typeface="Trebuchet MS"/>
                <a:cs typeface="Trebuchet MS"/>
              </a:rPr>
              <a:t> </a:t>
            </a:r>
            <a:r>
              <a:rPr sz="1200" spc="-25">
                <a:solidFill>
                  <a:srgbClr val="6D6E73"/>
                </a:solidFill>
                <a:latin typeface="Trebuchet MS"/>
                <a:cs typeface="Trebuchet MS"/>
              </a:rPr>
              <a:t>#1</a:t>
            </a:r>
            <a:endParaRPr sz="1200">
              <a:latin typeface="Trebuchet MS"/>
              <a:cs typeface="Trebuchet MS"/>
            </a:endParaRPr>
          </a:p>
        </p:txBody>
      </p:sp>
      <p:sp>
        <p:nvSpPr>
          <p:cNvPr id="56" name="object 56"/>
          <p:cNvSpPr txBox="1"/>
          <p:nvPr/>
        </p:nvSpPr>
        <p:spPr>
          <a:xfrm>
            <a:off x="4712519" y="4780770"/>
            <a:ext cx="161583" cy="815975"/>
          </a:xfrm>
          <a:prstGeom prst="rect">
            <a:avLst/>
          </a:prstGeom>
        </p:spPr>
        <p:txBody>
          <a:bodyPr vert="vert270" wrap="square" lIns="0" tIns="5080" rIns="0" bIns="0" rtlCol="0">
            <a:spAutoFit/>
          </a:bodyPr>
          <a:lstStyle/>
          <a:p>
            <a:pPr marL="12700">
              <a:lnSpc>
                <a:spcPct val="100000"/>
              </a:lnSpc>
              <a:spcBef>
                <a:spcPts val="40"/>
              </a:spcBef>
            </a:pPr>
            <a:r>
              <a:rPr lang="en-US" sz="1050" err="1">
                <a:solidFill>
                  <a:srgbClr val="7E7E7E"/>
                </a:solidFill>
                <a:latin typeface="Trebuchet MS"/>
                <a:cs typeface="Trebuchet MS"/>
              </a:rPr>
              <a:t>AuM</a:t>
            </a:r>
            <a:r>
              <a:rPr sz="1050" spc="-30">
                <a:solidFill>
                  <a:srgbClr val="7E7E7E"/>
                </a:solidFill>
                <a:latin typeface="Trebuchet MS"/>
                <a:cs typeface="Trebuchet MS"/>
              </a:rPr>
              <a:t> </a:t>
            </a:r>
            <a:r>
              <a:rPr sz="1050">
                <a:solidFill>
                  <a:srgbClr val="7E7E7E"/>
                </a:solidFill>
                <a:latin typeface="Trebuchet MS"/>
                <a:cs typeface="Trebuchet MS"/>
              </a:rPr>
              <a:t>(IDR</a:t>
            </a:r>
            <a:r>
              <a:rPr sz="1050" spc="-35">
                <a:solidFill>
                  <a:srgbClr val="7E7E7E"/>
                </a:solidFill>
                <a:latin typeface="Trebuchet MS"/>
                <a:cs typeface="Trebuchet MS"/>
              </a:rPr>
              <a:t> </a:t>
            </a:r>
            <a:r>
              <a:rPr sz="1050" spc="-25">
                <a:solidFill>
                  <a:srgbClr val="7E7E7E"/>
                </a:solidFill>
                <a:latin typeface="Trebuchet MS"/>
                <a:cs typeface="Trebuchet MS"/>
              </a:rPr>
              <a:t>Mn)</a:t>
            </a:r>
            <a:endParaRPr sz="1050">
              <a:latin typeface="Trebuchet MS"/>
              <a:cs typeface="Trebuchet MS"/>
            </a:endParaRPr>
          </a:p>
        </p:txBody>
      </p:sp>
      <p:grpSp>
        <p:nvGrpSpPr>
          <p:cNvPr id="57" name="object 57"/>
          <p:cNvGrpSpPr/>
          <p:nvPr/>
        </p:nvGrpSpPr>
        <p:grpSpPr>
          <a:xfrm>
            <a:off x="4870703" y="2604373"/>
            <a:ext cx="481965" cy="425450"/>
            <a:chOff x="4870703" y="2604373"/>
            <a:chExt cx="481965" cy="425450"/>
          </a:xfrm>
        </p:grpSpPr>
        <p:sp>
          <p:nvSpPr>
            <p:cNvPr id="58" name="object 58"/>
            <p:cNvSpPr/>
            <p:nvPr/>
          </p:nvSpPr>
          <p:spPr>
            <a:xfrm>
              <a:off x="4870703" y="2718816"/>
              <a:ext cx="481965" cy="311150"/>
            </a:xfrm>
            <a:custGeom>
              <a:avLst/>
              <a:gdLst/>
              <a:ahLst/>
              <a:cxnLst/>
              <a:rect l="l" t="t" r="r" b="b"/>
              <a:pathLst>
                <a:path w="481964" h="311150">
                  <a:moveTo>
                    <a:pt x="401320" y="0"/>
                  </a:moveTo>
                  <a:lnTo>
                    <a:pt x="87249" y="508"/>
                  </a:lnTo>
                  <a:lnTo>
                    <a:pt x="24765" y="508"/>
                  </a:lnTo>
                  <a:lnTo>
                    <a:pt x="15088" y="2496"/>
                  </a:lnTo>
                  <a:lnTo>
                    <a:pt x="7238" y="7826"/>
                  </a:lnTo>
                  <a:lnTo>
                    <a:pt x="1940" y="15670"/>
                  </a:lnTo>
                  <a:lnTo>
                    <a:pt x="0" y="25146"/>
                  </a:lnTo>
                  <a:lnTo>
                    <a:pt x="0" y="285750"/>
                  </a:lnTo>
                  <a:lnTo>
                    <a:pt x="1936" y="295572"/>
                  </a:lnTo>
                  <a:lnTo>
                    <a:pt x="7207" y="303561"/>
                  </a:lnTo>
                  <a:lnTo>
                    <a:pt x="15001" y="308931"/>
                  </a:lnTo>
                  <a:lnTo>
                    <a:pt x="24511" y="310896"/>
                  </a:lnTo>
                  <a:lnTo>
                    <a:pt x="408178" y="310896"/>
                  </a:lnTo>
                  <a:lnTo>
                    <a:pt x="417726" y="308931"/>
                  </a:lnTo>
                  <a:lnTo>
                    <a:pt x="425608" y="303561"/>
                  </a:lnTo>
                  <a:lnTo>
                    <a:pt x="430966" y="295572"/>
                  </a:lnTo>
                  <a:lnTo>
                    <a:pt x="432943" y="285750"/>
                  </a:lnTo>
                  <a:lnTo>
                    <a:pt x="432943" y="228346"/>
                  </a:lnTo>
                  <a:lnTo>
                    <a:pt x="450469" y="228346"/>
                  </a:lnTo>
                  <a:lnTo>
                    <a:pt x="462563" y="225932"/>
                  </a:lnTo>
                  <a:lnTo>
                    <a:pt x="472455" y="219328"/>
                  </a:lnTo>
                  <a:lnTo>
                    <a:pt x="474351" y="216535"/>
                  </a:lnTo>
                  <a:lnTo>
                    <a:pt x="329311" y="216535"/>
                  </a:lnTo>
                  <a:lnTo>
                    <a:pt x="304547" y="211562"/>
                  </a:lnTo>
                  <a:lnTo>
                    <a:pt x="284368" y="197992"/>
                  </a:lnTo>
                  <a:lnTo>
                    <a:pt x="270785" y="177851"/>
                  </a:lnTo>
                  <a:lnTo>
                    <a:pt x="265811" y="153162"/>
                  </a:lnTo>
                  <a:lnTo>
                    <a:pt x="270785" y="128412"/>
                  </a:lnTo>
                  <a:lnTo>
                    <a:pt x="284368" y="108140"/>
                  </a:lnTo>
                  <a:lnTo>
                    <a:pt x="304547" y="94440"/>
                  </a:lnTo>
                  <a:lnTo>
                    <a:pt x="329311" y="89408"/>
                  </a:lnTo>
                  <a:lnTo>
                    <a:pt x="474715" y="89408"/>
                  </a:lnTo>
                  <a:lnTo>
                    <a:pt x="472455" y="86090"/>
                  </a:lnTo>
                  <a:lnTo>
                    <a:pt x="462563" y="79500"/>
                  </a:lnTo>
                  <a:lnTo>
                    <a:pt x="450469" y="77088"/>
                  </a:lnTo>
                  <a:lnTo>
                    <a:pt x="432943" y="77088"/>
                  </a:lnTo>
                  <a:lnTo>
                    <a:pt x="432943" y="31750"/>
                  </a:lnTo>
                  <a:lnTo>
                    <a:pt x="430430" y="19395"/>
                  </a:lnTo>
                  <a:lnTo>
                    <a:pt x="423608" y="9302"/>
                  </a:lnTo>
                  <a:lnTo>
                    <a:pt x="413547" y="2496"/>
                  </a:lnTo>
                  <a:lnTo>
                    <a:pt x="401320" y="0"/>
                  </a:lnTo>
                  <a:close/>
                </a:path>
                <a:path w="481964" h="311150">
                  <a:moveTo>
                    <a:pt x="474715" y="89408"/>
                  </a:moveTo>
                  <a:lnTo>
                    <a:pt x="450469" y="89408"/>
                  </a:lnTo>
                  <a:lnTo>
                    <a:pt x="457926" y="90900"/>
                  </a:lnTo>
                  <a:lnTo>
                    <a:pt x="463931" y="94964"/>
                  </a:lnTo>
                  <a:lnTo>
                    <a:pt x="467935" y="100980"/>
                  </a:lnTo>
                  <a:lnTo>
                    <a:pt x="469316" y="107950"/>
                  </a:lnTo>
                  <a:lnTo>
                    <a:pt x="469342" y="197992"/>
                  </a:lnTo>
                  <a:lnTo>
                    <a:pt x="467935" y="205176"/>
                  </a:lnTo>
                  <a:lnTo>
                    <a:pt x="463931" y="211137"/>
                  </a:lnTo>
                  <a:lnTo>
                    <a:pt x="457926" y="215098"/>
                  </a:lnTo>
                  <a:lnTo>
                    <a:pt x="450469" y="216535"/>
                  </a:lnTo>
                  <a:lnTo>
                    <a:pt x="474351" y="216535"/>
                  </a:lnTo>
                  <a:lnTo>
                    <a:pt x="479133" y="209486"/>
                  </a:lnTo>
                  <a:lnTo>
                    <a:pt x="481507" y="197738"/>
                  </a:lnTo>
                  <a:lnTo>
                    <a:pt x="481584" y="107950"/>
                  </a:lnTo>
                  <a:lnTo>
                    <a:pt x="479133" y="95894"/>
                  </a:lnTo>
                  <a:lnTo>
                    <a:pt x="474715" y="89408"/>
                  </a:lnTo>
                  <a:close/>
                </a:path>
              </a:pathLst>
            </a:custGeom>
            <a:solidFill>
              <a:srgbClr val="29B974"/>
            </a:solidFill>
          </p:spPr>
          <p:txBody>
            <a:bodyPr wrap="square" lIns="0" tIns="0" rIns="0" bIns="0" rtlCol="0"/>
            <a:lstStyle/>
            <a:p>
              <a:endParaRPr/>
            </a:p>
          </p:txBody>
        </p:sp>
        <p:sp>
          <p:nvSpPr>
            <p:cNvPr id="59" name="object 59"/>
            <p:cNvSpPr/>
            <p:nvPr/>
          </p:nvSpPr>
          <p:spPr>
            <a:xfrm>
              <a:off x="4966715" y="2604373"/>
              <a:ext cx="247015" cy="282575"/>
            </a:xfrm>
            <a:custGeom>
              <a:avLst/>
              <a:gdLst/>
              <a:ahLst/>
              <a:cxnLst/>
              <a:rect l="l" t="t" r="r" b="b"/>
              <a:pathLst>
                <a:path w="247014" h="282575">
                  <a:moveTo>
                    <a:pt x="82915" y="0"/>
                  </a:moveTo>
                  <a:lnTo>
                    <a:pt x="75559" y="2609"/>
                  </a:lnTo>
                  <a:lnTo>
                    <a:pt x="69596" y="8016"/>
                  </a:lnTo>
                  <a:lnTo>
                    <a:pt x="0" y="102377"/>
                  </a:lnTo>
                  <a:lnTo>
                    <a:pt x="15112" y="102377"/>
                  </a:lnTo>
                  <a:lnTo>
                    <a:pt x="79501" y="15128"/>
                  </a:lnTo>
                  <a:lnTo>
                    <a:pt x="80772" y="12969"/>
                  </a:lnTo>
                  <a:lnTo>
                    <a:pt x="83566" y="11572"/>
                  </a:lnTo>
                  <a:lnTo>
                    <a:pt x="108762" y="11572"/>
                  </a:lnTo>
                  <a:lnTo>
                    <a:pt x="98044" y="3698"/>
                  </a:lnTo>
                  <a:lnTo>
                    <a:pt x="90723" y="319"/>
                  </a:lnTo>
                  <a:lnTo>
                    <a:pt x="82915" y="0"/>
                  </a:lnTo>
                  <a:close/>
                </a:path>
                <a:path w="247014" h="282575">
                  <a:moveTo>
                    <a:pt x="108762" y="11572"/>
                  </a:moveTo>
                  <a:lnTo>
                    <a:pt x="87630" y="11572"/>
                  </a:lnTo>
                  <a:lnTo>
                    <a:pt x="89281" y="12080"/>
                  </a:lnTo>
                  <a:lnTo>
                    <a:pt x="90932" y="13223"/>
                  </a:lnTo>
                  <a:lnTo>
                    <a:pt x="211836" y="102123"/>
                  </a:lnTo>
                  <a:lnTo>
                    <a:pt x="232029" y="102123"/>
                  </a:lnTo>
                  <a:lnTo>
                    <a:pt x="108762" y="11572"/>
                  </a:lnTo>
                  <a:close/>
                </a:path>
                <a:path w="247014" h="282575">
                  <a:moveTo>
                    <a:pt x="240030" y="251221"/>
                  </a:moveTo>
                  <a:lnTo>
                    <a:pt x="223012" y="251221"/>
                  </a:lnTo>
                  <a:lnTo>
                    <a:pt x="216154" y="257952"/>
                  </a:lnTo>
                  <a:lnTo>
                    <a:pt x="216154" y="275224"/>
                  </a:lnTo>
                  <a:lnTo>
                    <a:pt x="223012" y="282082"/>
                  </a:lnTo>
                  <a:lnTo>
                    <a:pt x="240030" y="282082"/>
                  </a:lnTo>
                  <a:lnTo>
                    <a:pt x="246887" y="275224"/>
                  </a:lnTo>
                  <a:lnTo>
                    <a:pt x="246887" y="257952"/>
                  </a:lnTo>
                  <a:lnTo>
                    <a:pt x="240030" y="251221"/>
                  </a:lnTo>
                  <a:close/>
                </a:path>
              </a:pathLst>
            </a:custGeom>
            <a:solidFill>
              <a:srgbClr val="03522C"/>
            </a:solidFill>
          </p:spPr>
          <p:txBody>
            <a:bodyPr wrap="square" lIns="0" tIns="0" rIns="0" bIns="0" rtlCol="0"/>
            <a:lstStyle/>
            <a:p>
              <a:endParaRPr/>
            </a:p>
          </p:txBody>
        </p:sp>
      </p:grpSp>
      <p:sp>
        <p:nvSpPr>
          <p:cNvPr id="60" name="object 60"/>
          <p:cNvSpPr txBox="1"/>
          <p:nvPr/>
        </p:nvSpPr>
        <p:spPr>
          <a:xfrm>
            <a:off x="5014086" y="5590743"/>
            <a:ext cx="2587625" cy="492759"/>
          </a:xfrm>
          <a:prstGeom prst="rect">
            <a:avLst/>
          </a:prstGeom>
        </p:spPr>
        <p:txBody>
          <a:bodyPr vert="horz" wrap="square" lIns="0" tIns="12700" rIns="0" bIns="0" rtlCol="0">
            <a:spAutoFit/>
          </a:bodyPr>
          <a:lstStyle/>
          <a:p>
            <a:pPr marL="12700">
              <a:lnSpc>
                <a:spcPts val="1275"/>
              </a:lnSpc>
              <a:spcBef>
                <a:spcPts val="100"/>
              </a:spcBef>
            </a:pPr>
            <a:r>
              <a:rPr sz="1200" spc="-50">
                <a:solidFill>
                  <a:srgbClr val="565656"/>
                </a:solidFill>
                <a:latin typeface="Trebuchet MS"/>
                <a:cs typeface="Trebuchet MS"/>
              </a:rPr>
              <a:t>0</a:t>
            </a:r>
            <a:endParaRPr sz="1200">
              <a:latin typeface="Trebuchet MS"/>
              <a:cs typeface="Trebuchet MS"/>
            </a:endParaRPr>
          </a:p>
          <a:p>
            <a:pPr marL="288290">
              <a:lnSpc>
                <a:spcPts val="1035"/>
              </a:lnSpc>
            </a:pPr>
            <a:r>
              <a:rPr sz="1000">
                <a:solidFill>
                  <a:srgbClr val="565656"/>
                </a:solidFill>
                <a:latin typeface="Trebuchet MS"/>
                <a:cs typeface="Trebuchet MS"/>
              </a:rPr>
              <a:t>D1</a:t>
            </a:r>
            <a:r>
              <a:rPr sz="1000" spc="395">
                <a:solidFill>
                  <a:srgbClr val="565656"/>
                </a:solidFill>
                <a:latin typeface="Trebuchet MS"/>
                <a:cs typeface="Trebuchet MS"/>
              </a:rPr>
              <a:t> </a:t>
            </a:r>
            <a:r>
              <a:rPr sz="1000">
                <a:solidFill>
                  <a:srgbClr val="565656"/>
                </a:solidFill>
                <a:latin typeface="Trebuchet MS"/>
                <a:cs typeface="Trebuchet MS"/>
              </a:rPr>
              <a:t>D2</a:t>
            </a:r>
            <a:r>
              <a:rPr sz="1000" spc="390">
                <a:solidFill>
                  <a:srgbClr val="565656"/>
                </a:solidFill>
                <a:latin typeface="Trebuchet MS"/>
                <a:cs typeface="Trebuchet MS"/>
              </a:rPr>
              <a:t> </a:t>
            </a:r>
            <a:r>
              <a:rPr sz="1000">
                <a:solidFill>
                  <a:srgbClr val="565656"/>
                </a:solidFill>
                <a:latin typeface="Trebuchet MS"/>
                <a:cs typeface="Trebuchet MS"/>
              </a:rPr>
              <a:t>D3</a:t>
            </a:r>
            <a:r>
              <a:rPr sz="1000" spc="395">
                <a:solidFill>
                  <a:srgbClr val="565656"/>
                </a:solidFill>
                <a:latin typeface="Trebuchet MS"/>
                <a:cs typeface="Trebuchet MS"/>
              </a:rPr>
              <a:t> </a:t>
            </a:r>
            <a:r>
              <a:rPr sz="1000">
                <a:solidFill>
                  <a:srgbClr val="565656"/>
                </a:solidFill>
                <a:latin typeface="Trebuchet MS"/>
                <a:cs typeface="Trebuchet MS"/>
              </a:rPr>
              <a:t>D4</a:t>
            </a:r>
            <a:r>
              <a:rPr sz="1000" spc="390">
                <a:solidFill>
                  <a:srgbClr val="565656"/>
                </a:solidFill>
                <a:latin typeface="Trebuchet MS"/>
                <a:cs typeface="Trebuchet MS"/>
              </a:rPr>
              <a:t> </a:t>
            </a:r>
            <a:r>
              <a:rPr sz="1000">
                <a:solidFill>
                  <a:srgbClr val="565656"/>
                </a:solidFill>
                <a:latin typeface="Trebuchet MS"/>
                <a:cs typeface="Trebuchet MS"/>
              </a:rPr>
              <a:t>D5</a:t>
            </a:r>
            <a:r>
              <a:rPr sz="1000" spc="400">
                <a:solidFill>
                  <a:srgbClr val="565656"/>
                </a:solidFill>
                <a:latin typeface="Trebuchet MS"/>
                <a:cs typeface="Trebuchet MS"/>
              </a:rPr>
              <a:t> </a:t>
            </a:r>
            <a:r>
              <a:rPr sz="1000">
                <a:solidFill>
                  <a:srgbClr val="565656"/>
                </a:solidFill>
                <a:latin typeface="Trebuchet MS"/>
                <a:cs typeface="Trebuchet MS"/>
              </a:rPr>
              <a:t>D6</a:t>
            </a:r>
            <a:r>
              <a:rPr sz="1000" spc="395">
                <a:solidFill>
                  <a:srgbClr val="565656"/>
                </a:solidFill>
                <a:latin typeface="Trebuchet MS"/>
                <a:cs typeface="Trebuchet MS"/>
              </a:rPr>
              <a:t> </a:t>
            </a:r>
            <a:r>
              <a:rPr sz="1000">
                <a:solidFill>
                  <a:srgbClr val="565656"/>
                </a:solidFill>
                <a:latin typeface="Trebuchet MS"/>
                <a:cs typeface="Trebuchet MS"/>
              </a:rPr>
              <a:t>D7</a:t>
            </a:r>
            <a:r>
              <a:rPr sz="1000" spc="390">
                <a:solidFill>
                  <a:srgbClr val="565656"/>
                </a:solidFill>
                <a:latin typeface="Trebuchet MS"/>
                <a:cs typeface="Trebuchet MS"/>
              </a:rPr>
              <a:t> </a:t>
            </a:r>
            <a:r>
              <a:rPr sz="1000">
                <a:solidFill>
                  <a:srgbClr val="565656"/>
                </a:solidFill>
                <a:latin typeface="Trebuchet MS"/>
                <a:cs typeface="Trebuchet MS"/>
              </a:rPr>
              <a:t>D8</a:t>
            </a:r>
            <a:r>
              <a:rPr sz="1000" spc="395">
                <a:solidFill>
                  <a:srgbClr val="565656"/>
                </a:solidFill>
                <a:latin typeface="Trebuchet MS"/>
                <a:cs typeface="Trebuchet MS"/>
              </a:rPr>
              <a:t> </a:t>
            </a:r>
            <a:r>
              <a:rPr sz="1000">
                <a:solidFill>
                  <a:srgbClr val="565656"/>
                </a:solidFill>
                <a:latin typeface="Trebuchet MS"/>
                <a:cs typeface="Trebuchet MS"/>
              </a:rPr>
              <a:t>D9</a:t>
            </a:r>
            <a:r>
              <a:rPr sz="1000" spc="130">
                <a:solidFill>
                  <a:srgbClr val="565656"/>
                </a:solidFill>
                <a:latin typeface="Trebuchet MS"/>
                <a:cs typeface="Trebuchet MS"/>
              </a:rPr>
              <a:t> </a:t>
            </a:r>
            <a:r>
              <a:rPr sz="1000" spc="-25">
                <a:solidFill>
                  <a:srgbClr val="565656"/>
                </a:solidFill>
                <a:latin typeface="Trebuchet MS"/>
                <a:cs typeface="Trebuchet MS"/>
              </a:rPr>
              <a:t>D10</a:t>
            </a:r>
            <a:endParaRPr sz="1000">
              <a:latin typeface="Trebuchet MS"/>
              <a:cs typeface="Trebuchet MS"/>
            </a:endParaRPr>
          </a:p>
          <a:p>
            <a:pPr marL="284480">
              <a:lnSpc>
                <a:spcPct val="100000"/>
              </a:lnSpc>
              <a:spcBef>
                <a:spcPts val="45"/>
              </a:spcBef>
            </a:pPr>
            <a:r>
              <a:rPr sz="1100" spc="-10">
                <a:solidFill>
                  <a:srgbClr val="7E7E7E"/>
                </a:solidFill>
                <a:latin typeface="Trebuchet MS"/>
                <a:cs typeface="Trebuchet MS"/>
              </a:rPr>
              <a:t>Deciles</a:t>
            </a:r>
            <a:endParaRPr sz="1100">
              <a:latin typeface="Trebuchet MS"/>
              <a:cs typeface="Trebuchet MS"/>
            </a:endParaRPr>
          </a:p>
        </p:txBody>
      </p:sp>
      <p:graphicFrame>
        <p:nvGraphicFramePr>
          <p:cNvPr id="61" name="object 61"/>
          <p:cNvGraphicFramePr>
            <a:graphicFrameLocks noGrp="1"/>
          </p:cNvGraphicFramePr>
          <p:nvPr/>
        </p:nvGraphicFramePr>
        <p:xfrm>
          <a:off x="626363" y="1534667"/>
          <a:ext cx="3432175" cy="5038725"/>
        </p:xfrm>
        <a:graphic>
          <a:graphicData uri="http://schemas.openxmlformats.org/drawingml/2006/table">
            <a:tbl>
              <a:tblPr firstRow="1" bandRow="1">
                <a:tableStyleId>{2D5ABB26-0587-4C30-8999-92F81FD0307C}</a:tableStyleId>
              </a:tblPr>
              <a:tblGrid>
                <a:gridCol w="3432175">
                  <a:extLst>
                    <a:ext uri="{9D8B030D-6E8A-4147-A177-3AD203B41FA5}">
                      <a16:colId xmlns:a16="http://schemas.microsoft.com/office/drawing/2014/main" val="20000"/>
                    </a:ext>
                  </a:extLst>
                </a:gridCol>
              </a:tblGrid>
              <a:tr h="379095">
                <a:tc>
                  <a:txBody>
                    <a:bodyPr/>
                    <a:lstStyle/>
                    <a:p>
                      <a:pPr algn="ctr">
                        <a:lnSpc>
                          <a:spcPct val="100000"/>
                        </a:lnSpc>
                        <a:spcBef>
                          <a:spcPts val="610"/>
                        </a:spcBef>
                      </a:pPr>
                      <a:r>
                        <a:rPr sz="1400" b="1">
                          <a:solidFill>
                            <a:srgbClr val="FFFFFF"/>
                          </a:solidFill>
                          <a:latin typeface="Trebuchet MS"/>
                          <a:cs typeface="Trebuchet MS"/>
                        </a:rPr>
                        <a:t>Step</a:t>
                      </a:r>
                      <a:r>
                        <a:rPr sz="1400" b="1" spc="-25">
                          <a:solidFill>
                            <a:srgbClr val="FFFFFF"/>
                          </a:solidFill>
                          <a:latin typeface="Trebuchet MS"/>
                          <a:cs typeface="Trebuchet MS"/>
                        </a:rPr>
                        <a:t> </a:t>
                      </a:r>
                      <a:r>
                        <a:rPr sz="1400" b="1">
                          <a:solidFill>
                            <a:srgbClr val="FFFFFF"/>
                          </a:solidFill>
                          <a:latin typeface="Trebuchet MS"/>
                          <a:cs typeface="Trebuchet MS"/>
                        </a:rPr>
                        <a:t>1:</a:t>
                      </a:r>
                      <a:r>
                        <a:rPr sz="1400" b="1" spc="-5">
                          <a:solidFill>
                            <a:srgbClr val="FFFFFF"/>
                          </a:solidFill>
                          <a:latin typeface="Trebuchet MS"/>
                          <a:cs typeface="Trebuchet MS"/>
                        </a:rPr>
                        <a:t> </a:t>
                      </a:r>
                      <a:r>
                        <a:rPr sz="1400" b="1">
                          <a:solidFill>
                            <a:srgbClr val="FFFFFF"/>
                          </a:solidFill>
                          <a:latin typeface="Trebuchet MS"/>
                          <a:cs typeface="Trebuchet MS"/>
                        </a:rPr>
                        <a:t>Customer</a:t>
                      </a:r>
                      <a:r>
                        <a:rPr sz="1400" b="1" spc="-35">
                          <a:solidFill>
                            <a:srgbClr val="FFFFFF"/>
                          </a:solidFill>
                          <a:latin typeface="Trebuchet MS"/>
                          <a:cs typeface="Trebuchet MS"/>
                        </a:rPr>
                        <a:t> </a:t>
                      </a:r>
                      <a:r>
                        <a:rPr sz="1400" b="1" spc="-10">
                          <a:solidFill>
                            <a:srgbClr val="FFFFFF"/>
                          </a:solidFill>
                          <a:latin typeface="Trebuchet MS"/>
                          <a:cs typeface="Trebuchet MS"/>
                        </a:rPr>
                        <a:t>Segmentation</a:t>
                      </a:r>
                      <a:endParaRPr sz="1400">
                        <a:latin typeface="Trebuchet MS"/>
                        <a:cs typeface="Trebuchet MS"/>
                      </a:endParaRPr>
                    </a:p>
                  </a:txBody>
                  <a:tcPr marL="0" marR="0" marT="77470" marB="0">
                    <a:lnL w="9525">
                      <a:solidFill>
                        <a:srgbClr val="FFFFFF"/>
                      </a:solidFill>
                      <a:prstDash val="solid"/>
                    </a:lnL>
                    <a:lnR w="9525">
                      <a:solidFill>
                        <a:srgbClr val="FFFFFF"/>
                      </a:solidFill>
                      <a:prstDash val="solid"/>
                    </a:lnR>
                    <a:lnT w="9525">
                      <a:solidFill>
                        <a:srgbClr val="FFFFFF"/>
                      </a:solidFill>
                      <a:prstDash val="solid"/>
                    </a:lnT>
                    <a:lnB w="9525">
                      <a:solidFill>
                        <a:srgbClr val="FFFFFF"/>
                      </a:solidFill>
                      <a:prstDash val="solid"/>
                    </a:lnB>
                    <a:solidFill>
                      <a:srgbClr val="29B974"/>
                    </a:solidFill>
                  </a:tcPr>
                </a:tc>
                <a:extLst>
                  <a:ext uri="{0D108BD9-81ED-4DB2-BD59-A6C34878D82A}">
                    <a16:rowId xmlns:a16="http://schemas.microsoft.com/office/drawing/2014/main" val="10000"/>
                  </a:ext>
                </a:extLst>
              </a:tr>
              <a:tr h="4280535">
                <a:tc>
                  <a:txBody>
                    <a:bodyPr/>
                    <a:lstStyle/>
                    <a:p>
                      <a:pPr>
                        <a:lnSpc>
                          <a:spcPct val="100000"/>
                        </a:lnSpc>
                        <a:spcBef>
                          <a:spcPts val="5"/>
                        </a:spcBef>
                      </a:pPr>
                      <a:endParaRPr lang="en-US" sz="1400">
                        <a:latin typeface="Times New Roman"/>
                        <a:cs typeface="Times New Roman"/>
                      </a:endParaRPr>
                    </a:p>
                    <a:p>
                      <a:pPr marL="196850">
                        <a:lnSpc>
                          <a:spcPct val="100000"/>
                        </a:lnSpc>
                        <a:tabLst>
                          <a:tab pos="1363980" algn="l"/>
                        </a:tabLst>
                      </a:pPr>
                      <a:r>
                        <a:rPr lang="en-US" sz="1200" b="1" spc="-10">
                          <a:solidFill>
                            <a:srgbClr val="29B974"/>
                          </a:solidFill>
                          <a:latin typeface="Trebuchet MS"/>
                          <a:cs typeface="Trebuchet MS"/>
                        </a:rPr>
                        <a:t>Cluster</a:t>
                      </a:r>
                      <a:r>
                        <a:rPr lang="en-US" sz="1200" b="1">
                          <a:solidFill>
                            <a:srgbClr val="29B974"/>
                          </a:solidFill>
                          <a:latin typeface="Trebuchet MS"/>
                          <a:cs typeface="Trebuchet MS"/>
                        </a:rPr>
                        <a:t>	</a:t>
                      </a:r>
                      <a:r>
                        <a:rPr lang="en-US" sz="1400" b="1">
                          <a:solidFill>
                            <a:srgbClr val="565656"/>
                          </a:solidFill>
                          <a:latin typeface="Trebuchet MS"/>
                          <a:cs typeface="Trebuchet MS"/>
                        </a:rPr>
                        <a:t>Cluster</a:t>
                      </a:r>
                      <a:r>
                        <a:rPr lang="en-US" sz="1400" b="1" spc="-35">
                          <a:solidFill>
                            <a:srgbClr val="565656"/>
                          </a:solidFill>
                          <a:latin typeface="Trebuchet MS"/>
                          <a:cs typeface="Trebuchet MS"/>
                        </a:rPr>
                        <a:t> </a:t>
                      </a:r>
                      <a:r>
                        <a:rPr lang="en-US" sz="1400" b="1" spc="-10">
                          <a:solidFill>
                            <a:srgbClr val="565656"/>
                          </a:solidFill>
                          <a:latin typeface="Trebuchet MS"/>
                          <a:cs typeface="Trebuchet MS"/>
                        </a:rPr>
                        <a:t>customers</a:t>
                      </a:r>
                      <a:endParaRPr lang="en-US" sz="1400">
                        <a:latin typeface="Trebuchet MS"/>
                        <a:cs typeface="Trebuchet MS"/>
                      </a:endParaRPr>
                    </a:p>
                    <a:p>
                      <a:pPr>
                        <a:lnSpc>
                          <a:spcPct val="100000"/>
                        </a:lnSpc>
                        <a:spcBef>
                          <a:spcPts val="85"/>
                        </a:spcBef>
                      </a:pPr>
                      <a:endParaRPr lang="en-US" sz="1400">
                        <a:latin typeface="Times New Roman"/>
                        <a:cs typeface="Times New Roman"/>
                      </a:endParaRPr>
                    </a:p>
                    <a:p>
                      <a:pPr marL="1323975" marR="224154" indent="-216535">
                        <a:lnSpc>
                          <a:spcPct val="100000"/>
                        </a:lnSpc>
                        <a:buClr>
                          <a:srgbClr val="29B974"/>
                        </a:buClr>
                        <a:buChar char="•"/>
                        <a:tabLst>
                          <a:tab pos="1323975" algn="l"/>
                        </a:tabLst>
                      </a:pPr>
                      <a:r>
                        <a:rPr lang="en-US" sz="1100">
                          <a:solidFill>
                            <a:srgbClr val="565656"/>
                          </a:solidFill>
                          <a:latin typeface="Trebuchet MS"/>
                          <a:cs typeface="Trebuchet MS"/>
                        </a:rPr>
                        <a:t>Segregate</a:t>
                      </a:r>
                      <a:r>
                        <a:rPr lang="en-US" sz="1100" spc="-45">
                          <a:solidFill>
                            <a:srgbClr val="565656"/>
                          </a:solidFill>
                          <a:latin typeface="Trebuchet MS"/>
                          <a:cs typeface="Trebuchet MS"/>
                        </a:rPr>
                        <a:t> </a:t>
                      </a:r>
                      <a:r>
                        <a:rPr lang="en-US" sz="1100">
                          <a:solidFill>
                            <a:srgbClr val="565656"/>
                          </a:solidFill>
                          <a:latin typeface="Trebuchet MS"/>
                          <a:cs typeface="Trebuchet MS"/>
                        </a:rPr>
                        <a:t>similar</a:t>
                      </a:r>
                      <a:r>
                        <a:rPr lang="en-US" sz="1100" spc="-30">
                          <a:solidFill>
                            <a:srgbClr val="565656"/>
                          </a:solidFill>
                          <a:latin typeface="Trebuchet MS"/>
                          <a:cs typeface="Trebuchet MS"/>
                        </a:rPr>
                        <a:t> </a:t>
                      </a:r>
                      <a:r>
                        <a:rPr lang="en-US" sz="1100" spc="-10">
                          <a:solidFill>
                            <a:srgbClr val="565656"/>
                          </a:solidFill>
                          <a:latin typeface="Trebuchet MS"/>
                          <a:cs typeface="Trebuchet MS"/>
                        </a:rPr>
                        <a:t>customers </a:t>
                      </a:r>
                      <a:r>
                        <a:rPr lang="en-US" sz="1100">
                          <a:solidFill>
                            <a:srgbClr val="565656"/>
                          </a:solidFill>
                          <a:latin typeface="Trebuchet MS"/>
                          <a:cs typeface="Trebuchet MS"/>
                        </a:rPr>
                        <a:t>into</a:t>
                      </a:r>
                      <a:r>
                        <a:rPr lang="en-US" sz="1100" spc="-25">
                          <a:solidFill>
                            <a:srgbClr val="565656"/>
                          </a:solidFill>
                          <a:latin typeface="Trebuchet MS"/>
                          <a:cs typeface="Trebuchet MS"/>
                        </a:rPr>
                        <a:t> </a:t>
                      </a:r>
                      <a:r>
                        <a:rPr lang="en-US" sz="1100">
                          <a:solidFill>
                            <a:srgbClr val="565656"/>
                          </a:solidFill>
                          <a:latin typeface="Trebuchet MS"/>
                          <a:cs typeface="Trebuchet MS"/>
                        </a:rPr>
                        <a:t>archetypes</a:t>
                      </a:r>
                      <a:r>
                        <a:rPr lang="en-US" sz="1100" spc="-35">
                          <a:solidFill>
                            <a:srgbClr val="565656"/>
                          </a:solidFill>
                          <a:latin typeface="Trebuchet MS"/>
                          <a:cs typeface="Trebuchet MS"/>
                        </a:rPr>
                        <a:t> </a:t>
                      </a:r>
                      <a:r>
                        <a:rPr lang="en-US" sz="1100">
                          <a:solidFill>
                            <a:srgbClr val="565656"/>
                          </a:solidFill>
                          <a:latin typeface="Trebuchet MS"/>
                          <a:cs typeface="Trebuchet MS"/>
                        </a:rPr>
                        <a:t>based</a:t>
                      </a:r>
                      <a:r>
                        <a:rPr lang="en-US" sz="1100" spc="-30">
                          <a:solidFill>
                            <a:srgbClr val="565656"/>
                          </a:solidFill>
                          <a:latin typeface="Trebuchet MS"/>
                          <a:cs typeface="Trebuchet MS"/>
                        </a:rPr>
                        <a:t> </a:t>
                      </a:r>
                      <a:r>
                        <a:rPr lang="en-US" sz="1100" spc="-25">
                          <a:solidFill>
                            <a:srgbClr val="565656"/>
                          </a:solidFill>
                          <a:latin typeface="Trebuchet MS"/>
                          <a:cs typeface="Trebuchet MS"/>
                        </a:rPr>
                        <a:t>on</a:t>
                      </a:r>
                      <a:r>
                        <a:rPr lang="en-US" sz="1100" spc="500">
                          <a:solidFill>
                            <a:srgbClr val="565656"/>
                          </a:solidFill>
                          <a:latin typeface="Trebuchet MS"/>
                          <a:cs typeface="Trebuchet MS"/>
                        </a:rPr>
                        <a:t> </a:t>
                      </a:r>
                      <a:r>
                        <a:rPr lang="en-US" sz="1100">
                          <a:solidFill>
                            <a:srgbClr val="565656"/>
                          </a:solidFill>
                          <a:latin typeface="Trebuchet MS"/>
                          <a:cs typeface="Trebuchet MS"/>
                        </a:rPr>
                        <a:t>their</a:t>
                      </a:r>
                      <a:r>
                        <a:rPr lang="en-US" sz="1100" spc="-30">
                          <a:solidFill>
                            <a:srgbClr val="565656"/>
                          </a:solidFill>
                          <a:latin typeface="Trebuchet MS"/>
                          <a:cs typeface="Trebuchet MS"/>
                        </a:rPr>
                        <a:t> </a:t>
                      </a:r>
                      <a:r>
                        <a:rPr lang="en-US" sz="1100" spc="-10">
                          <a:solidFill>
                            <a:srgbClr val="565656"/>
                          </a:solidFill>
                          <a:latin typeface="Trebuchet MS"/>
                          <a:cs typeface="Trebuchet MS"/>
                        </a:rPr>
                        <a:t>behavioural </a:t>
                      </a:r>
                      <a:r>
                        <a:rPr lang="en-US" sz="1100">
                          <a:solidFill>
                            <a:srgbClr val="565656"/>
                          </a:solidFill>
                          <a:latin typeface="Trebuchet MS"/>
                          <a:cs typeface="Trebuchet MS"/>
                        </a:rPr>
                        <a:t>characteristics</a:t>
                      </a:r>
                      <a:r>
                        <a:rPr lang="en-US" sz="1050" baseline="27777">
                          <a:solidFill>
                            <a:srgbClr val="565656"/>
                          </a:solidFill>
                          <a:latin typeface="Trebuchet MS"/>
                          <a:cs typeface="Trebuchet MS"/>
                        </a:rPr>
                        <a:t>1</a:t>
                      </a:r>
                      <a:r>
                        <a:rPr lang="en-US" sz="1050" spc="142" baseline="27777">
                          <a:solidFill>
                            <a:srgbClr val="565656"/>
                          </a:solidFill>
                          <a:latin typeface="Trebuchet MS"/>
                          <a:cs typeface="Trebuchet MS"/>
                        </a:rPr>
                        <a:t> </a:t>
                      </a:r>
                      <a:r>
                        <a:rPr lang="en-US" sz="1100">
                          <a:solidFill>
                            <a:srgbClr val="565656"/>
                          </a:solidFill>
                          <a:latin typeface="Trebuchet MS"/>
                          <a:cs typeface="Trebuchet MS"/>
                        </a:rPr>
                        <a:t>(i.e.</a:t>
                      </a:r>
                      <a:r>
                        <a:rPr lang="en-US" sz="1100" spc="-55">
                          <a:solidFill>
                            <a:srgbClr val="565656"/>
                          </a:solidFill>
                          <a:latin typeface="Trebuchet MS"/>
                          <a:cs typeface="Trebuchet MS"/>
                        </a:rPr>
                        <a:t> </a:t>
                      </a:r>
                      <a:r>
                        <a:rPr lang="en-US" sz="1100" spc="-10">
                          <a:solidFill>
                            <a:srgbClr val="565656"/>
                          </a:solidFill>
                          <a:latin typeface="Trebuchet MS"/>
                          <a:cs typeface="Trebuchet MS"/>
                        </a:rPr>
                        <a:t>spending </a:t>
                      </a:r>
                      <a:r>
                        <a:rPr lang="en-US" sz="1100">
                          <a:solidFill>
                            <a:srgbClr val="565656"/>
                          </a:solidFill>
                          <a:latin typeface="Trebuchet MS"/>
                          <a:cs typeface="Trebuchet MS"/>
                        </a:rPr>
                        <a:t>pattern,</a:t>
                      </a:r>
                      <a:r>
                        <a:rPr lang="en-US" sz="1100" spc="-35">
                          <a:solidFill>
                            <a:srgbClr val="565656"/>
                          </a:solidFill>
                          <a:latin typeface="Trebuchet MS"/>
                          <a:cs typeface="Trebuchet MS"/>
                        </a:rPr>
                        <a:t> </a:t>
                      </a:r>
                      <a:r>
                        <a:rPr lang="en-US" sz="1100">
                          <a:solidFill>
                            <a:srgbClr val="565656"/>
                          </a:solidFill>
                          <a:latin typeface="Trebuchet MS"/>
                          <a:cs typeface="Trebuchet MS"/>
                        </a:rPr>
                        <a:t>age,</a:t>
                      </a:r>
                      <a:r>
                        <a:rPr lang="en-US" sz="1100" spc="-35">
                          <a:solidFill>
                            <a:srgbClr val="565656"/>
                          </a:solidFill>
                          <a:latin typeface="Trebuchet MS"/>
                          <a:cs typeface="Trebuchet MS"/>
                        </a:rPr>
                        <a:t> </a:t>
                      </a:r>
                      <a:r>
                        <a:rPr lang="en-US" sz="1100" spc="-10">
                          <a:solidFill>
                            <a:srgbClr val="565656"/>
                          </a:solidFill>
                          <a:latin typeface="Trebuchet MS"/>
                          <a:cs typeface="Trebuchet MS"/>
                        </a:rPr>
                        <a:t>income, </a:t>
                      </a:r>
                      <a:r>
                        <a:rPr lang="en-US" sz="1100">
                          <a:solidFill>
                            <a:srgbClr val="565656"/>
                          </a:solidFill>
                          <a:latin typeface="Trebuchet MS"/>
                          <a:cs typeface="Trebuchet MS"/>
                        </a:rPr>
                        <a:t>location,</a:t>
                      </a:r>
                      <a:r>
                        <a:rPr lang="en-US" sz="1100" spc="-50">
                          <a:solidFill>
                            <a:srgbClr val="565656"/>
                          </a:solidFill>
                          <a:latin typeface="Trebuchet MS"/>
                          <a:cs typeface="Trebuchet MS"/>
                        </a:rPr>
                        <a:t> </a:t>
                      </a:r>
                      <a:r>
                        <a:rPr lang="en-US" sz="1100" spc="-10">
                          <a:solidFill>
                            <a:srgbClr val="565656"/>
                          </a:solidFill>
                          <a:latin typeface="Trebuchet MS"/>
                          <a:cs typeface="Trebuchet MS"/>
                        </a:rPr>
                        <a:t>etc.)</a:t>
                      </a:r>
                      <a:endParaRPr lang="en-US" sz="1100">
                        <a:latin typeface="Trebuchet MS"/>
                        <a:cs typeface="Trebuchet MS"/>
                      </a:endParaRPr>
                    </a:p>
                    <a:p>
                      <a:pPr>
                        <a:lnSpc>
                          <a:spcPct val="100000"/>
                        </a:lnSpc>
                        <a:spcBef>
                          <a:spcPts val="55"/>
                        </a:spcBef>
                        <a:buClr>
                          <a:srgbClr val="29B974"/>
                        </a:buClr>
                        <a:buFont typeface="Trebuchet MS"/>
                        <a:buChar char="•"/>
                      </a:pPr>
                      <a:endParaRPr lang="en-US" sz="1100">
                        <a:latin typeface="Times New Roman"/>
                        <a:cs typeface="Times New Roman"/>
                      </a:endParaRPr>
                    </a:p>
                    <a:p>
                      <a:pPr marL="1323975" indent="-215900">
                        <a:lnSpc>
                          <a:spcPct val="100000"/>
                        </a:lnSpc>
                        <a:buClr>
                          <a:srgbClr val="29B974"/>
                        </a:buClr>
                        <a:buChar char="•"/>
                        <a:tabLst>
                          <a:tab pos="1323975" algn="l"/>
                        </a:tabLst>
                      </a:pPr>
                      <a:r>
                        <a:rPr lang="en-US" sz="1100">
                          <a:solidFill>
                            <a:srgbClr val="565656"/>
                          </a:solidFill>
                          <a:latin typeface="Trebuchet MS"/>
                          <a:cs typeface="Trebuchet MS"/>
                        </a:rPr>
                        <a:t>Clustering</a:t>
                      </a:r>
                      <a:r>
                        <a:rPr lang="en-US" sz="1100" spc="-50">
                          <a:solidFill>
                            <a:srgbClr val="565656"/>
                          </a:solidFill>
                          <a:latin typeface="Trebuchet MS"/>
                          <a:cs typeface="Trebuchet MS"/>
                        </a:rPr>
                        <a:t> </a:t>
                      </a:r>
                      <a:r>
                        <a:rPr lang="en-US" sz="1100">
                          <a:solidFill>
                            <a:srgbClr val="565656"/>
                          </a:solidFill>
                          <a:latin typeface="Trebuchet MS"/>
                          <a:cs typeface="Trebuchet MS"/>
                        </a:rPr>
                        <a:t>algorithms:</a:t>
                      </a:r>
                      <a:r>
                        <a:rPr lang="en-US" sz="1100" spc="-65">
                          <a:solidFill>
                            <a:srgbClr val="565656"/>
                          </a:solidFill>
                          <a:latin typeface="Trebuchet MS"/>
                          <a:cs typeface="Trebuchet MS"/>
                        </a:rPr>
                        <a:t> </a:t>
                      </a:r>
                      <a:r>
                        <a:rPr lang="en-US" sz="1100" spc="-25">
                          <a:solidFill>
                            <a:srgbClr val="565656"/>
                          </a:solidFill>
                          <a:latin typeface="Trebuchet MS"/>
                          <a:cs typeface="Trebuchet MS"/>
                        </a:rPr>
                        <a:t>K-</a:t>
                      </a:r>
                      <a:endParaRPr lang="en-US" sz="1100">
                        <a:latin typeface="Trebuchet MS"/>
                        <a:cs typeface="Trebuchet MS"/>
                      </a:endParaRPr>
                    </a:p>
                    <a:p>
                      <a:pPr marR="22225" algn="ctr">
                        <a:lnSpc>
                          <a:spcPct val="100000"/>
                        </a:lnSpc>
                      </a:pPr>
                      <a:r>
                        <a:rPr lang="en-US" sz="1100">
                          <a:solidFill>
                            <a:srgbClr val="565656"/>
                          </a:solidFill>
                          <a:latin typeface="Trebuchet MS"/>
                          <a:cs typeface="Trebuchet MS"/>
                        </a:rPr>
                        <a:t>means,</a:t>
                      </a:r>
                      <a:r>
                        <a:rPr lang="en-US" sz="1100" spc="-30">
                          <a:solidFill>
                            <a:srgbClr val="565656"/>
                          </a:solidFill>
                          <a:latin typeface="Trebuchet MS"/>
                          <a:cs typeface="Trebuchet MS"/>
                        </a:rPr>
                        <a:t> </a:t>
                      </a:r>
                      <a:r>
                        <a:rPr lang="en-US" sz="1100" spc="-25">
                          <a:solidFill>
                            <a:srgbClr val="565656"/>
                          </a:solidFill>
                          <a:latin typeface="Trebuchet MS"/>
                          <a:cs typeface="Trebuchet MS"/>
                        </a:rPr>
                        <a:t>KNN</a:t>
                      </a:r>
                      <a:endParaRPr lang="en-US" sz="1100">
                        <a:latin typeface="Trebuchet MS"/>
                        <a:cs typeface="Trebuchet MS"/>
                      </a:endParaRPr>
                    </a:p>
                    <a:p>
                      <a:pPr>
                        <a:lnSpc>
                          <a:spcPct val="100000"/>
                        </a:lnSpc>
                      </a:pPr>
                      <a:endParaRPr lang="en-US" sz="1100">
                        <a:latin typeface="Times New Roman"/>
                        <a:cs typeface="Times New Roman"/>
                      </a:endParaRPr>
                    </a:p>
                    <a:p>
                      <a:pPr>
                        <a:lnSpc>
                          <a:spcPct val="100000"/>
                        </a:lnSpc>
                        <a:spcBef>
                          <a:spcPts val="520"/>
                        </a:spcBef>
                      </a:pPr>
                      <a:endParaRPr lang="en-US" sz="1100">
                        <a:latin typeface="Times New Roman"/>
                        <a:cs typeface="Times New Roman"/>
                      </a:endParaRPr>
                    </a:p>
                    <a:p>
                      <a:pPr marL="125095" marR="2206625" indent="89535">
                        <a:lnSpc>
                          <a:spcPct val="100000"/>
                        </a:lnSpc>
                        <a:spcBef>
                          <a:spcPts val="5"/>
                        </a:spcBef>
                      </a:pPr>
                      <a:r>
                        <a:rPr lang="en-US" sz="1200">
                          <a:solidFill>
                            <a:srgbClr val="6D6E73"/>
                          </a:solidFill>
                          <a:latin typeface="Trebuchet MS"/>
                          <a:cs typeface="Trebuchet MS"/>
                        </a:rPr>
                        <a:t>XX</a:t>
                      </a:r>
                      <a:r>
                        <a:rPr lang="en-US" sz="1200" spc="-20">
                          <a:solidFill>
                            <a:srgbClr val="6D6E73"/>
                          </a:solidFill>
                          <a:latin typeface="Trebuchet MS"/>
                          <a:cs typeface="Trebuchet MS"/>
                        </a:rPr>
                        <a:t> </a:t>
                      </a:r>
                      <a:r>
                        <a:rPr lang="en-US" sz="1200">
                          <a:solidFill>
                            <a:srgbClr val="6D6E73"/>
                          </a:solidFill>
                          <a:latin typeface="Trebuchet MS"/>
                          <a:cs typeface="Trebuchet MS"/>
                        </a:rPr>
                        <a:t>number</a:t>
                      </a:r>
                      <a:r>
                        <a:rPr lang="en-US" sz="1200" spc="-50">
                          <a:solidFill>
                            <a:srgbClr val="6D6E73"/>
                          </a:solidFill>
                          <a:latin typeface="Trebuchet MS"/>
                          <a:cs typeface="Trebuchet MS"/>
                        </a:rPr>
                        <a:t> </a:t>
                      </a:r>
                      <a:r>
                        <a:rPr lang="en-US" sz="1200" spc="-25">
                          <a:solidFill>
                            <a:srgbClr val="6D6E73"/>
                          </a:solidFill>
                          <a:latin typeface="Trebuchet MS"/>
                          <a:cs typeface="Trebuchet MS"/>
                        </a:rPr>
                        <a:t>of </a:t>
                      </a:r>
                      <a:r>
                        <a:rPr lang="en-US" sz="1200">
                          <a:solidFill>
                            <a:srgbClr val="6D6E73"/>
                          </a:solidFill>
                          <a:latin typeface="Trebuchet MS"/>
                          <a:cs typeface="Trebuchet MS"/>
                        </a:rPr>
                        <a:t>clusters</a:t>
                      </a:r>
                      <a:r>
                        <a:rPr lang="en-US" sz="1200" spc="-50">
                          <a:solidFill>
                            <a:srgbClr val="6D6E73"/>
                          </a:solidFill>
                          <a:latin typeface="Trebuchet MS"/>
                          <a:cs typeface="Trebuchet MS"/>
                        </a:rPr>
                        <a:t> </a:t>
                      </a:r>
                      <a:r>
                        <a:rPr lang="en-US" sz="1200" spc="-10">
                          <a:solidFill>
                            <a:srgbClr val="6D6E73"/>
                          </a:solidFill>
                          <a:latin typeface="Trebuchet MS"/>
                          <a:cs typeface="Trebuchet MS"/>
                        </a:rPr>
                        <a:t>defined</a:t>
                      </a:r>
                      <a:endParaRPr lang="en-US" sz="1200">
                        <a:latin typeface="Trebuchet MS"/>
                        <a:cs typeface="Trebuchet MS"/>
                      </a:endParaRPr>
                    </a:p>
                  </a:txBody>
                  <a:tcPr marL="0" marR="0" marT="635" marB="0">
                    <a:lnT w="9525">
                      <a:solidFill>
                        <a:srgbClr val="FFFFFF"/>
                      </a:solidFill>
                      <a:prstDash val="solid"/>
                    </a:lnT>
                    <a:lnB w="9525">
                      <a:solidFill>
                        <a:srgbClr val="9A9A9A"/>
                      </a:solidFill>
                      <a:prstDash val="solid"/>
                    </a:lnB>
                  </a:tcPr>
                </a:tc>
                <a:extLst>
                  <a:ext uri="{0D108BD9-81ED-4DB2-BD59-A6C34878D82A}">
                    <a16:rowId xmlns:a16="http://schemas.microsoft.com/office/drawing/2014/main" val="10001"/>
                  </a:ext>
                </a:extLst>
              </a:tr>
              <a:tr h="379095">
                <a:tc>
                  <a:txBody>
                    <a:bodyPr/>
                    <a:lstStyle/>
                    <a:p>
                      <a:pPr algn="ctr">
                        <a:lnSpc>
                          <a:spcPct val="100000"/>
                        </a:lnSpc>
                        <a:spcBef>
                          <a:spcPts val="735"/>
                        </a:spcBef>
                      </a:pPr>
                      <a:r>
                        <a:rPr sz="1200">
                          <a:solidFill>
                            <a:srgbClr val="565656"/>
                          </a:solidFill>
                          <a:latin typeface="Trebuchet MS"/>
                          <a:cs typeface="Trebuchet MS"/>
                        </a:rPr>
                        <a:t>Client</a:t>
                      </a:r>
                      <a:r>
                        <a:rPr sz="1200" spc="-45">
                          <a:solidFill>
                            <a:srgbClr val="565656"/>
                          </a:solidFill>
                          <a:latin typeface="Trebuchet MS"/>
                          <a:cs typeface="Trebuchet MS"/>
                        </a:rPr>
                        <a:t> </a:t>
                      </a:r>
                      <a:r>
                        <a:rPr sz="1200">
                          <a:solidFill>
                            <a:srgbClr val="565656"/>
                          </a:solidFill>
                          <a:latin typeface="Trebuchet MS"/>
                          <a:cs typeface="Trebuchet MS"/>
                        </a:rPr>
                        <a:t>profile</a:t>
                      </a:r>
                      <a:r>
                        <a:rPr sz="1200" spc="-40">
                          <a:solidFill>
                            <a:srgbClr val="565656"/>
                          </a:solidFill>
                          <a:latin typeface="Trebuchet MS"/>
                          <a:cs typeface="Trebuchet MS"/>
                        </a:rPr>
                        <a:t> </a:t>
                      </a:r>
                      <a:r>
                        <a:rPr sz="1200">
                          <a:solidFill>
                            <a:srgbClr val="565656"/>
                          </a:solidFill>
                          <a:latin typeface="Trebuchet MS"/>
                          <a:cs typeface="Trebuchet MS"/>
                        </a:rPr>
                        <a:t>and</a:t>
                      </a:r>
                      <a:r>
                        <a:rPr sz="1200" spc="-45">
                          <a:solidFill>
                            <a:srgbClr val="565656"/>
                          </a:solidFill>
                          <a:latin typeface="Trebuchet MS"/>
                          <a:cs typeface="Trebuchet MS"/>
                        </a:rPr>
                        <a:t> </a:t>
                      </a:r>
                      <a:r>
                        <a:rPr sz="1200" spc="-10">
                          <a:solidFill>
                            <a:srgbClr val="565656"/>
                          </a:solidFill>
                          <a:latin typeface="Trebuchet MS"/>
                          <a:cs typeface="Trebuchet MS"/>
                        </a:rPr>
                        <a:t>clusters</a:t>
                      </a:r>
                      <a:endParaRPr sz="1200">
                        <a:latin typeface="Trebuchet MS"/>
                        <a:cs typeface="Trebuchet MS"/>
                      </a:endParaRPr>
                    </a:p>
                  </a:txBody>
                  <a:tcPr marL="0" marR="0" marT="93345" marB="0">
                    <a:lnL w="9525">
                      <a:solidFill>
                        <a:srgbClr val="9A9A9A"/>
                      </a:solidFill>
                      <a:prstDash val="solid"/>
                    </a:lnL>
                    <a:lnR w="9525">
                      <a:solidFill>
                        <a:srgbClr val="9A9A9A"/>
                      </a:solidFill>
                      <a:prstDash val="solid"/>
                    </a:lnR>
                    <a:lnT w="9525">
                      <a:solidFill>
                        <a:srgbClr val="9A9A9A"/>
                      </a:solidFill>
                      <a:prstDash val="solid"/>
                    </a:lnT>
                    <a:lnB w="9525">
                      <a:solidFill>
                        <a:srgbClr val="9A9A9A"/>
                      </a:solidFill>
                      <a:prstDash val="solid"/>
                    </a:lnB>
                  </a:tcPr>
                </a:tc>
                <a:extLst>
                  <a:ext uri="{0D108BD9-81ED-4DB2-BD59-A6C34878D82A}">
                    <a16:rowId xmlns:a16="http://schemas.microsoft.com/office/drawing/2014/main" val="10002"/>
                  </a:ext>
                </a:extLst>
              </a:tr>
            </a:tbl>
          </a:graphicData>
        </a:graphic>
      </p:graphicFrame>
      <p:sp>
        <p:nvSpPr>
          <p:cNvPr id="62" name="object 62"/>
          <p:cNvSpPr txBox="1"/>
          <p:nvPr/>
        </p:nvSpPr>
        <p:spPr>
          <a:xfrm>
            <a:off x="68376" y="6282944"/>
            <a:ext cx="558165" cy="208279"/>
          </a:xfrm>
          <a:prstGeom prst="rect">
            <a:avLst/>
          </a:prstGeom>
        </p:spPr>
        <p:txBody>
          <a:bodyPr vert="horz" wrap="square" lIns="0" tIns="12700" rIns="0" bIns="0" rtlCol="0">
            <a:spAutoFit/>
          </a:bodyPr>
          <a:lstStyle/>
          <a:p>
            <a:pPr marL="12700">
              <a:lnSpc>
                <a:spcPct val="100000"/>
              </a:lnSpc>
              <a:spcBef>
                <a:spcPts val="100"/>
              </a:spcBef>
            </a:pPr>
            <a:r>
              <a:rPr sz="1200" spc="-10">
                <a:solidFill>
                  <a:srgbClr val="565656"/>
                </a:solidFill>
                <a:latin typeface="Trebuchet MS"/>
                <a:cs typeface="Trebuchet MS"/>
              </a:rPr>
              <a:t>Output:</a:t>
            </a:r>
            <a:endParaRPr sz="1200">
              <a:latin typeface="Trebuchet MS"/>
              <a:cs typeface="Trebuchet MS"/>
            </a:endParaRPr>
          </a:p>
        </p:txBody>
      </p:sp>
      <p:sp>
        <p:nvSpPr>
          <p:cNvPr id="63" name="object 63"/>
          <p:cNvSpPr txBox="1"/>
          <p:nvPr/>
        </p:nvSpPr>
        <p:spPr>
          <a:xfrm>
            <a:off x="4533138" y="6198870"/>
            <a:ext cx="3434079" cy="379730"/>
          </a:xfrm>
          <a:prstGeom prst="rect">
            <a:avLst/>
          </a:prstGeom>
          <a:ln w="7619">
            <a:solidFill>
              <a:srgbClr val="9A9A9A"/>
            </a:solidFill>
          </a:ln>
        </p:spPr>
        <p:txBody>
          <a:bodyPr vert="horz" wrap="square" lIns="0" tIns="93345" rIns="0" bIns="0" rtlCol="0">
            <a:spAutoFit/>
          </a:bodyPr>
          <a:lstStyle/>
          <a:p>
            <a:pPr marL="553085">
              <a:lnSpc>
                <a:spcPct val="100000"/>
              </a:lnSpc>
              <a:spcBef>
                <a:spcPts val="735"/>
              </a:spcBef>
            </a:pPr>
            <a:r>
              <a:rPr sz="1200" spc="-10">
                <a:solidFill>
                  <a:srgbClr val="565656"/>
                </a:solidFill>
                <a:latin typeface="Trebuchet MS"/>
                <a:cs typeface="Trebuchet MS"/>
              </a:rPr>
              <a:t>Wallet</a:t>
            </a:r>
            <a:r>
              <a:rPr sz="1200" spc="-35">
                <a:solidFill>
                  <a:srgbClr val="565656"/>
                </a:solidFill>
                <a:latin typeface="Trebuchet MS"/>
                <a:cs typeface="Trebuchet MS"/>
              </a:rPr>
              <a:t> </a:t>
            </a:r>
            <a:r>
              <a:rPr sz="1200">
                <a:solidFill>
                  <a:srgbClr val="565656"/>
                </a:solidFill>
                <a:latin typeface="Trebuchet MS"/>
                <a:cs typeface="Trebuchet MS"/>
              </a:rPr>
              <a:t>estimation</a:t>
            </a:r>
            <a:r>
              <a:rPr sz="1200" spc="-65">
                <a:solidFill>
                  <a:srgbClr val="565656"/>
                </a:solidFill>
                <a:latin typeface="Trebuchet MS"/>
                <a:cs typeface="Trebuchet MS"/>
              </a:rPr>
              <a:t> </a:t>
            </a:r>
            <a:r>
              <a:rPr sz="1200">
                <a:solidFill>
                  <a:srgbClr val="565656"/>
                </a:solidFill>
                <a:latin typeface="Trebuchet MS"/>
                <a:cs typeface="Trebuchet MS"/>
              </a:rPr>
              <a:t>for</a:t>
            </a:r>
            <a:r>
              <a:rPr sz="1200" spc="-15">
                <a:solidFill>
                  <a:srgbClr val="565656"/>
                </a:solidFill>
                <a:latin typeface="Trebuchet MS"/>
                <a:cs typeface="Trebuchet MS"/>
              </a:rPr>
              <a:t> </a:t>
            </a:r>
            <a:r>
              <a:rPr sz="1200">
                <a:solidFill>
                  <a:srgbClr val="565656"/>
                </a:solidFill>
                <a:latin typeface="Trebuchet MS"/>
                <a:cs typeface="Trebuchet MS"/>
              </a:rPr>
              <a:t>each</a:t>
            </a:r>
            <a:r>
              <a:rPr sz="1200" spc="-50">
                <a:solidFill>
                  <a:srgbClr val="565656"/>
                </a:solidFill>
                <a:latin typeface="Trebuchet MS"/>
                <a:cs typeface="Trebuchet MS"/>
              </a:rPr>
              <a:t> </a:t>
            </a:r>
            <a:r>
              <a:rPr sz="1200" spc="-10">
                <a:solidFill>
                  <a:srgbClr val="565656"/>
                </a:solidFill>
                <a:latin typeface="Trebuchet MS"/>
                <a:cs typeface="Trebuchet MS"/>
              </a:rPr>
              <a:t>cluster</a:t>
            </a:r>
            <a:endParaRPr sz="1200">
              <a:latin typeface="Trebuchet MS"/>
              <a:cs typeface="Trebuchet MS"/>
            </a:endParaRPr>
          </a:p>
        </p:txBody>
      </p:sp>
      <p:graphicFrame>
        <p:nvGraphicFramePr>
          <p:cNvPr id="64" name="object 64"/>
          <p:cNvGraphicFramePr>
            <a:graphicFrameLocks noGrp="1"/>
          </p:cNvGraphicFramePr>
          <p:nvPr/>
        </p:nvGraphicFramePr>
        <p:xfrm>
          <a:off x="8398764" y="1534667"/>
          <a:ext cx="3433445" cy="5038725"/>
        </p:xfrm>
        <a:graphic>
          <a:graphicData uri="http://schemas.openxmlformats.org/drawingml/2006/table">
            <a:tbl>
              <a:tblPr firstRow="1" bandRow="1">
                <a:tableStyleId>{2D5ABB26-0587-4C30-8999-92F81FD0307C}</a:tableStyleId>
              </a:tblPr>
              <a:tblGrid>
                <a:gridCol w="3433445">
                  <a:extLst>
                    <a:ext uri="{9D8B030D-6E8A-4147-A177-3AD203B41FA5}">
                      <a16:colId xmlns:a16="http://schemas.microsoft.com/office/drawing/2014/main" val="20000"/>
                    </a:ext>
                  </a:extLst>
                </a:gridCol>
              </a:tblGrid>
              <a:tr h="379095">
                <a:tc>
                  <a:txBody>
                    <a:bodyPr/>
                    <a:lstStyle/>
                    <a:p>
                      <a:pPr marL="669290">
                        <a:lnSpc>
                          <a:spcPct val="100000"/>
                        </a:lnSpc>
                        <a:spcBef>
                          <a:spcPts val="610"/>
                        </a:spcBef>
                      </a:pPr>
                      <a:r>
                        <a:rPr sz="1400" b="1">
                          <a:solidFill>
                            <a:srgbClr val="FFFFFF"/>
                          </a:solidFill>
                          <a:latin typeface="Trebuchet MS"/>
                          <a:cs typeface="Trebuchet MS"/>
                        </a:rPr>
                        <a:t>Step</a:t>
                      </a:r>
                      <a:r>
                        <a:rPr sz="1400" b="1" spc="-25">
                          <a:solidFill>
                            <a:srgbClr val="FFFFFF"/>
                          </a:solidFill>
                          <a:latin typeface="Trebuchet MS"/>
                          <a:cs typeface="Trebuchet MS"/>
                        </a:rPr>
                        <a:t> </a:t>
                      </a:r>
                      <a:r>
                        <a:rPr sz="1400" b="1">
                          <a:solidFill>
                            <a:srgbClr val="FFFFFF"/>
                          </a:solidFill>
                          <a:latin typeface="Trebuchet MS"/>
                          <a:cs typeface="Trebuchet MS"/>
                        </a:rPr>
                        <a:t>3: Leads</a:t>
                      </a:r>
                      <a:r>
                        <a:rPr sz="1400" b="1" spc="-5">
                          <a:solidFill>
                            <a:srgbClr val="FFFFFF"/>
                          </a:solidFill>
                          <a:latin typeface="Trebuchet MS"/>
                          <a:cs typeface="Trebuchet MS"/>
                        </a:rPr>
                        <a:t> </a:t>
                      </a:r>
                      <a:r>
                        <a:rPr sz="1400" b="1" spc="-10">
                          <a:solidFill>
                            <a:srgbClr val="FFFFFF"/>
                          </a:solidFill>
                          <a:latin typeface="Trebuchet MS"/>
                          <a:cs typeface="Trebuchet MS"/>
                        </a:rPr>
                        <a:t>Generation</a:t>
                      </a:r>
                      <a:endParaRPr sz="1400">
                        <a:latin typeface="Trebuchet MS"/>
                        <a:cs typeface="Trebuchet MS"/>
                      </a:endParaRPr>
                    </a:p>
                  </a:txBody>
                  <a:tcPr marL="0" marR="0" marT="77470" marB="0">
                    <a:lnL w="9525">
                      <a:solidFill>
                        <a:srgbClr val="FFFFFF"/>
                      </a:solidFill>
                      <a:prstDash val="solid"/>
                    </a:lnL>
                    <a:lnR w="9525">
                      <a:solidFill>
                        <a:srgbClr val="FFFFFF"/>
                      </a:solidFill>
                      <a:prstDash val="solid"/>
                    </a:lnR>
                    <a:lnT w="9525">
                      <a:solidFill>
                        <a:srgbClr val="FFFFFF"/>
                      </a:solidFill>
                      <a:prstDash val="solid"/>
                    </a:lnT>
                    <a:lnB w="9525">
                      <a:solidFill>
                        <a:srgbClr val="FFFFFF"/>
                      </a:solidFill>
                      <a:prstDash val="solid"/>
                    </a:lnB>
                    <a:solidFill>
                      <a:srgbClr val="29B974"/>
                    </a:solidFill>
                  </a:tcPr>
                </a:tc>
                <a:extLst>
                  <a:ext uri="{0D108BD9-81ED-4DB2-BD59-A6C34878D82A}">
                    <a16:rowId xmlns:a16="http://schemas.microsoft.com/office/drawing/2014/main" val="10000"/>
                  </a:ext>
                </a:extLst>
              </a:tr>
              <a:tr h="4280535">
                <a:tc>
                  <a:txBody>
                    <a:bodyPr/>
                    <a:lstStyle/>
                    <a:p>
                      <a:pPr>
                        <a:lnSpc>
                          <a:spcPct val="100000"/>
                        </a:lnSpc>
                        <a:spcBef>
                          <a:spcPts val="415"/>
                        </a:spcBef>
                      </a:pPr>
                      <a:endParaRPr lang="en-US" sz="1200">
                        <a:latin typeface="Times New Roman"/>
                        <a:cs typeface="Times New Roman"/>
                      </a:endParaRPr>
                    </a:p>
                    <a:p>
                      <a:pPr marL="298450">
                        <a:lnSpc>
                          <a:spcPts val="1285"/>
                        </a:lnSpc>
                      </a:pPr>
                      <a:r>
                        <a:rPr lang="en-US" sz="1200" b="1" spc="-20">
                          <a:solidFill>
                            <a:srgbClr val="29B974"/>
                          </a:solidFill>
                          <a:latin typeface="Trebuchet MS"/>
                          <a:cs typeface="Trebuchet MS"/>
                        </a:rPr>
                        <a:t>Leads</a:t>
                      </a:r>
                      <a:endParaRPr lang="en-US" sz="1200">
                        <a:latin typeface="Trebuchet MS"/>
                        <a:cs typeface="Trebuchet MS"/>
                      </a:endParaRPr>
                    </a:p>
                    <a:p>
                      <a:pPr marL="1128395">
                        <a:lnSpc>
                          <a:spcPts val="1525"/>
                        </a:lnSpc>
                      </a:pPr>
                      <a:r>
                        <a:rPr lang="en-US" sz="1400" b="1">
                          <a:solidFill>
                            <a:srgbClr val="565656"/>
                          </a:solidFill>
                          <a:latin typeface="Trebuchet MS"/>
                          <a:cs typeface="Trebuchet MS"/>
                        </a:rPr>
                        <a:t>Calculate</a:t>
                      </a:r>
                      <a:r>
                        <a:rPr lang="en-US" sz="1400" b="1" spc="-30">
                          <a:solidFill>
                            <a:srgbClr val="565656"/>
                          </a:solidFill>
                          <a:latin typeface="Trebuchet MS"/>
                          <a:cs typeface="Trebuchet MS"/>
                        </a:rPr>
                        <a:t> </a:t>
                      </a:r>
                      <a:r>
                        <a:rPr lang="en-US" sz="1400" b="1">
                          <a:solidFill>
                            <a:srgbClr val="565656"/>
                          </a:solidFill>
                          <a:latin typeface="Trebuchet MS"/>
                          <a:cs typeface="Trebuchet MS"/>
                        </a:rPr>
                        <a:t>Share</a:t>
                      </a:r>
                      <a:r>
                        <a:rPr lang="en-US" sz="1400" b="1" spc="-25">
                          <a:solidFill>
                            <a:srgbClr val="565656"/>
                          </a:solidFill>
                          <a:latin typeface="Trebuchet MS"/>
                          <a:cs typeface="Trebuchet MS"/>
                        </a:rPr>
                        <a:t> </a:t>
                      </a:r>
                      <a:r>
                        <a:rPr lang="en-US" sz="1400" b="1">
                          <a:solidFill>
                            <a:srgbClr val="565656"/>
                          </a:solidFill>
                          <a:latin typeface="Trebuchet MS"/>
                          <a:cs typeface="Trebuchet MS"/>
                        </a:rPr>
                        <a:t>of</a:t>
                      </a:r>
                      <a:r>
                        <a:rPr lang="en-US" sz="1400" b="1" spc="-10">
                          <a:solidFill>
                            <a:srgbClr val="565656"/>
                          </a:solidFill>
                          <a:latin typeface="Trebuchet MS"/>
                          <a:cs typeface="Trebuchet MS"/>
                        </a:rPr>
                        <a:t> Wallet</a:t>
                      </a:r>
                      <a:endParaRPr lang="en-US" sz="1400">
                        <a:latin typeface="Trebuchet MS"/>
                        <a:cs typeface="Trebuchet MS"/>
                      </a:endParaRPr>
                    </a:p>
                    <a:p>
                      <a:pPr marL="1386205" marR="307975" indent="-216535" algn="just">
                        <a:lnSpc>
                          <a:spcPct val="100000"/>
                        </a:lnSpc>
                        <a:spcBef>
                          <a:spcPts val="610"/>
                        </a:spcBef>
                        <a:buClr>
                          <a:srgbClr val="29B974"/>
                        </a:buClr>
                        <a:buChar char="•"/>
                        <a:tabLst>
                          <a:tab pos="1386205" algn="l"/>
                        </a:tabLst>
                      </a:pPr>
                      <a:r>
                        <a:rPr lang="en-US" sz="1200">
                          <a:solidFill>
                            <a:srgbClr val="565656"/>
                          </a:solidFill>
                          <a:latin typeface="Trebuchet MS"/>
                          <a:cs typeface="Trebuchet MS"/>
                        </a:rPr>
                        <a:t>Estimate</a:t>
                      </a:r>
                      <a:r>
                        <a:rPr lang="en-US" sz="1200" spc="-60">
                          <a:solidFill>
                            <a:srgbClr val="565656"/>
                          </a:solidFill>
                          <a:latin typeface="Trebuchet MS"/>
                          <a:cs typeface="Trebuchet MS"/>
                        </a:rPr>
                        <a:t> </a:t>
                      </a:r>
                      <a:r>
                        <a:rPr lang="en-US" sz="1200">
                          <a:solidFill>
                            <a:srgbClr val="565656"/>
                          </a:solidFill>
                          <a:latin typeface="Trebuchet MS"/>
                          <a:cs typeface="Trebuchet MS"/>
                        </a:rPr>
                        <a:t>customer's</a:t>
                      </a:r>
                      <a:r>
                        <a:rPr lang="en-US" sz="1200" spc="-45">
                          <a:solidFill>
                            <a:srgbClr val="565656"/>
                          </a:solidFill>
                          <a:latin typeface="Trebuchet MS"/>
                          <a:cs typeface="Trebuchet MS"/>
                        </a:rPr>
                        <a:t> </a:t>
                      </a:r>
                      <a:r>
                        <a:rPr lang="en-US" sz="1200" spc="-25">
                          <a:solidFill>
                            <a:srgbClr val="565656"/>
                          </a:solidFill>
                          <a:latin typeface="Trebuchet MS"/>
                          <a:cs typeface="Trebuchet MS"/>
                        </a:rPr>
                        <a:t>SoW </a:t>
                      </a:r>
                      <a:r>
                        <a:rPr lang="en-US" sz="1200">
                          <a:solidFill>
                            <a:srgbClr val="565656"/>
                          </a:solidFill>
                          <a:latin typeface="Trebuchet MS"/>
                          <a:cs typeface="Trebuchet MS"/>
                        </a:rPr>
                        <a:t>based</a:t>
                      </a:r>
                      <a:r>
                        <a:rPr lang="en-US" sz="1200" spc="-50">
                          <a:solidFill>
                            <a:srgbClr val="565656"/>
                          </a:solidFill>
                          <a:latin typeface="Trebuchet MS"/>
                          <a:cs typeface="Trebuchet MS"/>
                        </a:rPr>
                        <a:t> </a:t>
                      </a:r>
                      <a:r>
                        <a:rPr lang="en-US" sz="1200">
                          <a:solidFill>
                            <a:srgbClr val="565656"/>
                          </a:solidFill>
                          <a:latin typeface="Trebuchet MS"/>
                          <a:cs typeface="Trebuchet MS"/>
                        </a:rPr>
                        <a:t>on</a:t>
                      </a:r>
                      <a:r>
                        <a:rPr lang="en-US" sz="1200" spc="-5">
                          <a:solidFill>
                            <a:srgbClr val="565656"/>
                          </a:solidFill>
                          <a:latin typeface="Trebuchet MS"/>
                          <a:cs typeface="Trebuchet MS"/>
                        </a:rPr>
                        <a:t> </a:t>
                      </a:r>
                      <a:r>
                        <a:rPr lang="en-US" sz="1200">
                          <a:solidFill>
                            <a:srgbClr val="565656"/>
                          </a:solidFill>
                          <a:latin typeface="Trebuchet MS"/>
                          <a:cs typeface="Trebuchet MS"/>
                        </a:rPr>
                        <a:t>their</a:t>
                      </a:r>
                      <a:r>
                        <a:rPr lang="en-US" sz="1200" spc="-45">
                          <a:solidFill>
                            <a:srgbClr val="565656"/>
                          </a:solidFill>
                          <a:latin typeface="Trebuchet MS"/>
                          <a:cs typeface="Trebuchet MS"/>
                        </a:rPr>
                        <a:t> </a:t>
                      </a:r>
                      <a:r>
                        <a:rPr lang="en-US" sz="1200" spc="-10">
                          <a:solidFill>
                            <a:srgbClr val="565656"/>
                          </a:solidFill>
                          <a:latin typeface="Trebuchet MS"/>
                          <a:cs typeface="Trebuchet MS"/>
                        </a:rPr>
                        <a:t>respective cluster</a:t>
                      </a:r>
                      <a:endParaRPr lang="en-US" sz="1200">
                        <a:latin typeface="Trebuchet MS"/>
                        <a:cs typeface="Trebuchet MS"/>
                      </a:endParaRPr>
                    </a:p>
                    <a:p>
                      <a:pPr>
                        <a:lnSpc>
                          <a:spcPct val="100000"/>
                        </a:lnSpc>
                        <a:spcBef>
                          <a:spcPts val="55"/>
                        </a:spcBef>
                        <a:buClr>
                          <a:srgbClr val="29B974"/>
                        </a:buClr>
                        <a:buFont typeface="Trebuchet MS"/>
                        <a:buChar char="•"/>
                      </a:pPr>
                      <a:endParaRPr lang="en-US" sz="1200">
                        <a:latin typeface="Times New Roman"/>
                        <a:cs typeface="Times New Roman"/>
                      </a:endParaRPr>
                    </a:p>
                    <a:p>
                      <a:pPr marL="1386205" marR="237490" indent="-216535">
                        <a:lnSpc>
                          <a:spcPct val="100000"/>
                        </a:lnSpc>
                        <a:spcBef>
                          <a:spcPts val="5"/>
                        </a:spcBef>
                        <a:buClr>
                          <a:srgbClr val="29B974"/>
                        </a:buClr>
                        <a:buChar char="•"/>
                        <a:tabLst>
                          <a:tab pos="1386205" algn="l"/>
                        </a:tabLst>
                      </a:pPr>
                      <a:r>
                        <a:rPr lang="en-US" sz="1200" spc="-10">
                          <a:solidFill>
                            <a:srgbClr val="565656"/>
                          </a:solidFill>
                          <a:latin typeface="Trebuchet MS"/>
                          <a:cs typeface="Trebuchet MS"/>
                        </a:rPr>
                        <a:t>Prioritize</a:t>
                      </a:r>
                      <a:r>
                        <a:rPr lang="en-US" sz="1200" spc="-40">
                          <a:solidFill>
                            <a:srgbClr val="565656"/>
                          </a:solidFill>
                          <a:latin typeface="Trebuchet MS"/>
                          <a:cs typeface="Trebuchet MS"/>
                        </a:rPr>
                        <a:t> </a:t>
                      </a:r>
                      <a:r>
                        <a:rPr lang="en-US" sz="1200">
                          <a:solidFill>
                            <a:srgbClr val="565656"/>
                          </a:solidFill>
                          <a:latin typeface="Trebuchet MS"/>
                          <a:cs typeface="Trebuchet MS"/>
                        </a:rPr>
                        <a:t>customers</a:t>
                      </a:r>
                      <a:r>
                        <a:rPr lang="en-US" sz="1200" spc="-20">
                          <a:solidFill>
                            <a:srgbClr val="565656"/>
                          </a:solidFill>
                          <a:latin typeface="Trebuchet MS"/>
                          <a:cs typeface="Trebuchet MS"/>
                        </a:rPr>
                        <a:t> based </a:t>
                      </a:r>
                      <a:r>
                        <a:rPr lang="en-US" sz="1200">
                          <a:solidFill>
                            <a:srgbClr val="565656"/>
                          </a:solidFill>
                          <a:latin typeface="Trebuchet MS"/>
                          <a:cs typeface="Trebuchet MS"/>
                        </a:rPr>
                        <a:t>on</a:t>
                      </a:r>
                      <a:r>
                        <a:rPr lang="en-US" sz="1200" spc="-10">
                          <a:solidFill>
                            <a:srgbClr val="565656"/>
                          </a:solidFill>
                          <a:latin typeface="Trebuchet MS"/>
                          <a:cs typeface="Trebuchet MS"/>
                        </a:rPr>
                        <a:t> </a:t>
                      </a:r>
                      <a:r>
                        <a:rPr lang="en-US" sz="1200">
                          <a:solidFill>
                            <a:srgbClr val="565656"/>
                          </a:solidFill>
                          <a:latin typeface="Trebuchet MS"/>
                          <a:cs typeface="Trebuchet MS"/>
                        </a:rPr>
                        <a:t>ability</a:t>
                      </a:r>
                      <a:r>
                        <a:rPr lang="en-US" sz="1200" spc="-50">
                          <a:solidFill>
                            <a:srgbClr val="565656"/>
                          </a:solidFill>
                          <a:latin typeface="Trebuchet MS"/>
                          <a:cs typeface="Trebuchet MS"/>
                        </a:rPr>
                        <a:t> </a:t>
                      </a:r>
                      <a:r>
                        <a:rPr lang="en-US" sz="1200">
                          <a:solidFill>
                            <a:srgbClr val="565656"/>
                          </a:solidFill>
                          <a:latin typeface="Trebuchet MS"/>
                          <a:cs typeface="Trebuchet MS"/>
                        </a:rPr>
                        <a:t>to</a:t>
                      </a:r>
                      <a:r>
                        <a:rPr lang="en-US" sz="1200" spc="-5">
                          <a:solidFill>
                            <a:srgbClr val="565656"/>
                          </a:solidFill>
                          <a:latin typeface="Trebuchet MS"/>
                          <a:cs typeface="Trebuchet MS"/>
                        </a:rPr>
                        <a:t> </a:t>
                      </a:r>
                      <a:r>
                        <a:rPr lang="en-US" sz="1200">
                          <a:solidFill>
                            <a:srgbClr val="565656"/>
                          </a:solidFill>
                          <a:latin typeface="Trebuchet MS"/>
                          <a:cs typeface="Trebuchet MS"/>
                        </a:rPr>
                        <a:t>convert</a:t>
                      </a:r>
                      <a:r>
                        <a:rPr lang="en-US" sz="1200" spc="-30">
                          <a:solidFill>
                            <a:srgbClr val="565656"/>
                          </a:solidFill>
                          <a:latin typeface="Trebuchet MS"/>
                          <a:cs typeface="Trebuchet MS"/>
                        </a:rPr>
                        <a:t> </a:t>
                      </a:r>
                      <a:r>
                        <a:rPr lang="en-US" sz="1200" spc="-20">
                          <a:solidFill>
                            <a:srgbClr val="565656"/>
                          </a:solidFill>
                          <a:latin typeface="Trebuchet MS"/>
                          <a:cs typeface="Trebuchet MS"/>
                        </a:rPr>
                        <a:t>i.e. </a:t>
                      </a:r>
                      <a:r>
                        <a:rPr lang="en-US" sz="1200">
                          <a:solidFill>
                            <a:srgbClr val="565656"/>
                          </a:solidFill>
                          <a:latin typeface="Trebuchet MS"/>
                          <a:cs typeface="Trebuchet MS"/>
                        </a:rPr>
                        <a:t>high</a:t>
                      </a:r>
                      <a:r>
                        <a:rPr lang="en-US" sz="1200" spc="-30">
                          <a:solidFill>
                            <a:srgbClr val="565656"/>
                          </a:solidFill>
                          <a:latin typeface="Trebuchet MS"/>
                          <a:cs typeface="Trebuchet MS"/>
                        </a:rPr>
                        <a:t> </a:t>
                      </a:r>
                      <a:r>
                        <a:rPr lang="en-US" sz="1200">
                          <a:solidFill>
                            <a:srgbClr val="565656"/>
                          </a:solidFill>
                          <a:latin typeface="Trebuchet MS"/>
                          <a:cs typeface="Trebuchet MS"/>
                        </a:rPr>
                        <a:t>%</a:t>
                      </a:r>
                      <a:r>
                        <a:rPr lang="en-US" sz="1200" spc="-10">
                          <a:solidFill>
                            <a:srgbClr val="565656"/>
                          </a:solidFill>
                          <a:latin typeface="Trebuchet MS"/>
                          <a:cs typeface="Trebuchet MS"/>
                        </a:rPr>
                        <a:t> </a:t>
                      </a:r>
                      <a:r>
                        <a:rPr lang="en-US" sz="1200">
                          <a:solidFill>
                            <a:srgbClr val="565656"/>
                          </a:solidFill>
                          <a:latin typeface="Trebuchet MS"/>
                          <a:cs typeface="Trebuchet MS"/>
                        </a:rPr>
                        <a:t>debt</a:t>
                      </a:r>
                      <a:r>
                        <a:rPr lang="en-US" sz="1200" spc="-30">
                          <a:solidFill>
                            <a:srgbClr val="565656"/>
                          </a:solidFill>
                          <a:latin typeface="Trebuchet MS"/>
                          <a:cs typeface="Trebuchet MS"/>
                        </a:rPr>
                        <a:t> </a:t>
                      </a:r>
                      <a:r>
                        <a:rPr lang="en-US" sz="1200">
                          <a:solidFill>
                            <a:srgbClr val="565656"/>
                          </a:solidFill>
                          <a:latin typeface="Trebuchet MS"/>
                          <a:cs typeface="Trebuchet MS"/>
                        </a:rPr>
                        <a:t>from</a:t>
                      </a:r>
                      <a:r>
                        <a:rPr lang="en-US" sz="1200" spc="-20">
                          <a:solidFill>
                            <a:srgbClr val="565656"/>
                          </a:solidFill>
                          <a:latin typeface="Trebuchet MS"/>
                          <a:cs typeface="Trebuchet MS"/>
                        </a:rPr>
                        <a:t> bank, </a:t>
                      </a:r>
                      <a:r>
                        <a:rPr lang="en-US" sz="1200">
                          <a:solidFill>
                            <a:srgbClr val="565656"/>
                          </a:solidFill>
                          <a:latin typeface="Trebuchet MS"/>
                          <a:cs typeface="Trebuchet MS"/>
                        </a:rPr>
                        <a:t>good</a:t>
                      </a:r>
                      <a:r>
                        <a:rPr lang="en-US" sz="1200" spc="-25">
                          <a:solidFill>
                            <a:srgbClr val="565656"/>
                          </a:solidFill>
                          <a:latin typeface="Trebuchet MS"/>
                          <a:cs typeface="Trebuchet MS"/>
                        </a:rPr>
                        <a:t> </a:t>
                      </a:r>
                      <a:r>
                        <a:rPr lang="en-US" sz="1200">
                          <a:solidFill>
                            <a:srgbClr val="565656"/>
                          </a:solidFill>
                          <a:latin typeface="Trebuchet MS"/>
                          <a:cs typeface="Trebuchet MS"/>
                        </a:rPr>
                        <a:t>credit</a:t>
                      </a:r>
                      <a:r>
                        <a:rPr lang="en-US" sz="1200" spc="-30">
                          <a:solidFill>
                            <a:srgbClr val="565656"/>
                          </a:solidFill>
                          <a:latin typeface="Trebuchet MS"/>
                          <a:cs typeface="Trebuchet MS"/>
                        </a:rPr>
                        <a:t> </a:t>
                      </a:r>
                      <a:r>
                        <a:rPr lang="en-US" sz="1200">
                          <a:solidFill>
                            <a:srgbClr val="565656"/>
                          </a:solidFill>
                          <a:latin typeface="Trebuchet MS"/>
                          <a:cs typeface="Trebuchet MS"/>
                        </a:rPr>
                        <a:t>rating,</a:t>
                      </a:r>
                      <a:r>
                        <a:rPr lang="en-US" sz="1200" spc="-55">
                          <a:solidFill>
                            <a:srgbClr val="565656"/>
                          </a:solidFill>
                          <a:latin typeface="Trebuchet MS"/>
                          <a:cs typeface="Trebuchet MS"/>
                        </a:rPr>
                        <a:t> </a:t>
                      </a:r>
                      <a:r>
                        <a:rPr lang="en-US" sz="1200" spc="-20">
                          <a:solidFill>
                            <a:srgbClr val="565656"/>
                          </a:solidFill>
                          <a:latin typeface="Trebuchet MS"/>
                          <a:cs typeface="Trebuchet MS"/>
                        </a:rPr>
                        <a:t>etc.</a:t>
                      </a:r>
                      <a:endParaRPr lang="en-US" sz="1200">
                        <a:latin typeface="Trebuchet MS"/>
                        <a:cs typeface="Trebuchet MS"/>
                      </a:endParaRPr>
                    </a:p>
                    <a:p>
                      <a:pPr>
                        <a:lnSpc>
                          <a:spcPct val="100000"/>
                        </a:lnSpc>
                      </a:pPr>
                      <a:endParaRPr lang="en-US" sz="1200">
                        <a:latin typeface="Times New Roman"/>
                        <a:cs typeface="Times New Roman"/>
                      </a:endParaRPr>
                    </a:p>
                    <a:p>
                      <a:pPr>
                        <a:lnSpc>
                          <a:spcPct val="100000"/>
                        </a:lnSpc>
                      </a:pPr>
                      <a:endParaRPr lang="en-US" sz="1200">
                        <a:latin typeface="Times New Roman"/>
                        <a:cs typeface="Times New Roman"/>
                      </a:endParaRPr>
                    </a:p>
                    <a:p>
                      <a:pPr>
                        <a:lnSpc>
                          <a:spcPct val="100000"/>
                        </a:lnSpc>
                      </a:pPr>
                      <a:endParaRPr lang="en-US" sz="1200">
                        <a:latin typeface="Times New Roman"/>
                        <a:cs typeface="Times New Roman"/>
                      </a:endParaRPr>
                    </a:p>
                    <a:p>
                      <a:pPr>
                        <a:lnSpc>
                          <a:spcPct val="100000"/>
                        </a:lnSpc>
                      </a:pPr>
                      <a:endParaRPr lang="en-US" sz="1200">
                        <a:latin typeface="Times New Roman"/>
                        <a:cs typeface="Times New Roman"/>
                      </a:endParaRPr>
                    </a:p>
                    <a:p>
                      <a:pPr>
                        <a:lnSpc>
                          <a:spcPct val="100000"/>
                        </a:lnSpc>
                      </a:pPr>
                      <a:endParaRPr lang="en-US" sz="1200">
                        <a:latin typeface="Times New Roman"/>
                        <a:cs typeface="Times New Roman"/>
                      </a:endParaRPr>
                    </a:p>
                    <a:p>
                      <a:pPr>
                        <a:lnSpc>
                          <a:spcPct val="100000"/>
                        </a:lnSpc>
                        <a:spcBef>
                          <a:spcPts val="495"/>
                        </a:spcBef>
                      </a:pPr>
                      <a:endParaRPr lang="en-US" sz="1200">
                        <a:latin typeface="Times New Roman"/>
                        <a:cs typeface="Times New Roman"/>
                      </a:endParaRPr>
                    </a:p>
                    <a:p>
                      <a:pPr marL="1123950" marR="201295" indent="40640" algn="just">
                        <a:lnSpc>
                          <a:spcPts val="1190"/>
                        </a:lnSpc>
                      </a:pPr>
                      <a:r>
                        <a:rPr lang="en-US" sz="1100" i="1">
                          <a:solidFill>
                            <a:srgbClr val="565656"/>
                          </a:solidFill>
                          <a:latin typeface="Trebuchet MS"/>
                          <a:cs typeface="Trebuchet MS"/>
                        </a:rPr>
                        <a:t>Target</a:t>
                      </a:r>
                      <a:r>
                        <a:rPr lang="en-US" sz="1100" i="1" spc="-25">
                          <a:solidFill>
                            <a:srgbClr val="565656"/>
                          </a:solidFill>
                          <a:latin typeface="Trebuchet MS"/>
                          <a:cs typeface="Trebuchet MS"/>
                        </a:rPr>
                        <a:t> </a:t>
                      </a:r>
                      <a:r>
                        <a:rPr lang="en-US" sz="1100" i="1">
                          <a:solidFill>
                            <a:srgbClr val="565656"/>
                          </a:solidFill>
                          <a:latin typeface="Trebuchet MS"/>
                          <a:cs typeface="Trebuchet MS"/>
                        </a:rPr>
                        <a:t>AuM</a:t>
                      </a:r>
                      <a:r>
                        <a:rPr lang="en-US" sz="1100" i="1" spc="-30">
                          <a:solidFill>
                            <a:srgbClr val="565656"/>
                          </a:solidFill>
                          <a:latin typeface="Trebuchet MS"/>
                          <a:cs typeface="Trebuchet MS"/>
                        </a:rPr>
                        <a:t> </a:t>
                      </a:r>
                      <a:r>
                        <a:rPr lang="en-US" sz="1100" i="1">
                          <a:solidFill>
                            <a:srgbClr val="565656"/>
                          </a:solidFill>
                          <a:latin typeface="Trebuchet MS"/>
                          <a:cs typeface="Trebuchet MS"/>
                        </a:rPr>
                        <a:t>calculated</a:t>
                      </a:r>
                      <a:r>
                        <a:rPr lang="en-US" sz="1100" i="1" spc="-40">
                          <a:solidFill>
                            <a:srgbClr val="565656"/>
                          </a:solidFill>
                          <a:latin typeface="Trebuchet MS"/>
                          <a:cs typeface="Trebuchet MS"/>
                        </a:rPr>
                        <a:t> </a:t>
                      </a:r>
                      <a:r>
                        <a:rPr lang="en-US" sz="1100" i="1">
                          <a:solidFill>
                            <a:srgbClr val="565656"/>
                          </a:solidFill>
                          <a:latin typeface="Trebuchet MS"/>
                          <a:cs typeface="Trebuchet MS"/>
                        </a:rPr>
                        <a:t>based</a:t>
                      </a:r>
                      <a:r>
                        <a:rPr lang="en-US" sz="1100" i="1" spc="-20">
                          <a:solidFill>
                            <a:srgbClr val="565656"/>
                          </a:solidFill>
                          <a:latin typeface="Trebuchet MS"/>
                          <a:cs typeface="Trebuchet MS"/>
                        </a:rPr>
                        <a:t> </a:t>
                      </a:r>
                      <a:r>
                        <a:rPr lang="en-US" sz="1100" i="1" spc="-25">
                          <a:solidFill>
                            <a:srgbClr val="565656"/>
                          </a:solidFill>
                          <a:latin typeface="Trebuchet MS"/>
                          <a:cs typeface="Trebuchet MS"/>
                        </a:rPr>
                        <a:t>on </a:t>
                      </a:r>
                      <a:r>
                        <a:rPr lang="en-US" sz="1100" i="1">
                          <a:solidFill>
                            <a:srgbClr val="565656"/>
                          </a:solidFill>
                          <a:latin typeface="Trebuchet MS"/>
                          <a:cs typeface="Trebuchet MS"/>
                        </a:rPr>
                        <a:t>internal</a:t>
                      </a:r>
                      <a:r>
                        <a:rPr lang="en-US" sz="1100" i="1" spc="-35">
                          <a:solidFill>
                            <a:srgbClr val="565656"/>
                          </a:solidFill>
                          <a:latin typeface="Trebuchet MS"/>
                          <a:cs typeface="Trebuchet MS"/>
                        </a:rPr>
                        <a:t> </a:t>
                      </a:r>
                      <a:r>
                        <a:rPr lang="en-US" sz="1100" i="1">
                          <a:solidFill>
                            <a:srgbClr val="565656"/>
                          </a:solidFill>
                          <a:latin typeface="Trebuchet MS"/>
                          <a:cs typeface="Trebuchet MS"/>
                        </a:rPr>
                        <a:t>bank</a:t>
                      </a:r>
                      <a:r>
                        <a:rPr lang="en-US" sz="1100" i="1" spc="-30">
                          <a:solidFill>
                            <a:srgbClr val="565656"/>
                          </a:solidFill>
                          <a:latin typeface="Trebuchet MS"/>
                          <a:cs typeface="Trebuchet MS"/>
                        </a:rPr>
                        <a:t> </a:t>
                      </a:r>
                      <a:r>
                        <a:rPr lang="en-US" sz="1100" i="1">
                          <a:solidFill>
                            <a:srgbClr val="565656"/>
                          </a:solidFill>
                          <a:latin typeface="Trebuchet MS"/>
                          <a:cs typeface="Trebuchet MS"/>
                        </a:rPr>
                        <a:t>data</a:t>
                      </a:r>
                      <a:r>
                        <a:rPr lang="en-US" sz="1100" i="1" spc="-30">
                          <a:solidFill>
                            <a:srgbClr val="565656"/>
                          </a:solidFill>
                          <a:latin typeface="Trebuchet MS"/>
                          <a:cs typeface="Trebuchet MS"/>
                        </a:rPr>
                        <a:t> </a:t>
                      </a:r>
                      <a:r>
                        <a:rPr lang="en-US" sz="1100" i="1">
                          <a:solidFill>
                            <a:srgbClr val="565656"/>
                          </a:solidFill>
                          <a:latin typeface="Trebuchet MS"/>
                          <a:cs typeface="Trebuchet MS"/>
                        </a:rPr>
                        <a:t>and</a:t>
                      </a:r>
                      <a:r>
                        <a:rPr lang="en-US" sz="1100" i="1" spc="-30">
                          <a:solidFill>
                            <a:srgbClr val="565656"/>
                          </a:solidFill>
                          <a:latin typeface="Trebuchet MS"/>
                          <a:cs typeface="Trebuchet MS"/>
                        </a:rPr>
                        <a:t> </a:t>
                      </a:r>
                      <a:r>
                        <a:rPr lang="en-US" sz="1100" i="1">
                          <a:solidFill>
                            <a:srgbClr val="565656"/>
                          </a:solidFill>
                          <a:latin typeface="Trebuchet MS"/>
                          <a:cs typeface="Trebuchet MS"/>
                        </a:rPr>
                        <a:t>should</a:t>
                      </a:r>
                      <a:r>
                        <a:rPr lang="en-US" sz="1100" i="1" spc="-20">
                          <a:solidFill>
                            <a:srgbClr val="565656"/>
                          </a:solidFill>
                          <a:latin typeface="Trebuchet MS"/>
                          <a:cs typeface="Trebuchet MS"/>
                        </a:rPr>
                        <a:t> </a:t>
                      </a:r>
                      <a:r>
                        <a:rPr lang="en-US" sz="1100" i="1" spc="-25">
                          <a:solidFill>
                            <a:srgbClr val="565656"/>
                          </a:solidFill>
                          <a:latin typeface="Trebuchet MS"/>
                          <a:cs typeface="Trebuchet MS"/>
                        </a:rPr>
                        <a:t>be </a:t>
                      </a:r>
                      <a:r>
                        <a:rPr lang="en-US" sz="1100" i="1">
                          <a:solidFill>
                            <a:srgbClr val="565656"/>
                          </a:solidFill>
                          <a:latin typeface="Trebuchet MS"/>
                          <a:cs typeface="Trebuchet MS"/>
                        </a:rPr>
                        <a:t>used</a:t>
                      </a:r>
                      <a:r>
                        <a:rPr lang="en-US" sz="1100" i="1" spc="-15">
                          <a:solidFill>
                            <a:srgbClr val="565656"/>
                          </a:solidFill>
                          <a:latin typeface="Trebuchet MS"/>
                          <a:cs typeface="Trebuchet MS"/>
                        </a:rPr>
                        <a:t> </a:t>
                      </a:r>
                      <a:r>
                        <a:rPr lang="en-US" sz="1100" i="1">
                          <a:solidFill>
                            <a:srgbClr val="565656"/>
                          </a:solidFill>
                          <a:latin typeface="Trebuchet MS"/>
                          <a:cs typeface="Trebuchet MS"/>
                        </a:rPr>
                        <a:t>by</a:t>
                      </a:r>
                      <a:r>
                        <a:rPr lang="en-US" sz="1100" i="1" spc="-20">
                          <a:solidFill>
                            <a:srgbClr val="565656"/>
                          </a:solidFill>
                          <a:latin typeface="Trebuchet MS"/>
                          <a:cs typeface="Trebuchet MS"/>
                        </a:rPr>
                        <a:t> </a:t>
                      </a:r>
                      <a:r>
                        <a:rPr lang="en-US" sz="1100" i="1">
                          <a:solidFill>
                            <a:srgbClr val="565656"/>
                          </a:solidFill>
                          <a:latin typeface="Trebuchet MS"/>
                          <a:cs typeface="Trebuchet MS"/>
                        </a:rPr>
                        <a:t>RMs</a:t>
                      </a:r>
                      <a:r>
                        <a:rPr lang="en-US" sz="1100" i="1" spc="-30">
                          <a:solidFill>
                            <a:srgbClr val="565656"/>
                          </a:solidFill>
                          <a:latin typeface="Trebuchet MS"/>
                          <a:cs typeface="Trebuchet MS"/>
                        </a:rPr>
                        <a:t> </a:t>
                      </a:r>
                      <a:r>
                        <a:rPr lang="en-US" sz="1100" i="1">
                          <a:solidFill>
                            <a:srgbClr val="565656"/>
                          </a:solidFill>
                          <a:latin typeface="Trebuchet MS"/>
                          <a:cs typeface="Trebuchet MS"/>
                        </a:rPr>
                        <a:t>as</a:t>
                      </a:r>
                      <a:r>
                        <a:rPr lang="en-US" sz="1100" i="1" spc="-10">
                          <a:solidFill>
                            <a:srgbClr val="565656"/>
                          </a:solidFill>
                          <a:latin typeface="Trebuchet MS"/>
                          <a:cs typeface="Trebuchet MS"/>
                        </a:rPr>
                        <a:t> </a:t>
                      </a:r>
                      <a:r>
                        <a:rPr lang="en-US" sz="1100" i="1">
                          <a:solidFill>
                            <a:srgbClr val="565656"/>
                          </a:solidFill>
                          <a:latin typeface="Trebuchet MS"/>
                          <a:cs typeface="Trebuchet MS"/>
                        </a:rPr>
                        <a:t>directional</a:t>
                      </a:r>
                      <a:r>
                        <a:rPr lang="en-US" sz="1100" i="1" spc="-25">
                          <a:solidFill>
                            <a:srgbClr val="565656"/>
                          </a:solidFill>
                          <a:latin typeface="Trebuchet MS"/>
                          <a:cs typeface="Trebuchet MS"/>
                        </a:rPr>
                        <a:t> </a:t>
                      </a:r>
                      <a:r>
                        <a:rPr lang="en-US" sz="1100" i="1" spc="-10">
                          <a:solidFill>
                            <a:srgbClr val="565656"/>
                          </a:solidFill>
                          <a:latin typeface="Trebuchet MS"/>
                          <a:cs typeface="Trebuchet MS"/>
                        </a:rPr>
                        <a:t>inputs</a:t>
                      </a:r>
                      <a:endParaRPr lang="en-US" sz="1100">
                        <a:latin typeface="Trebuchet MS"/>
                        <a:cs typeface="Trebuchet MS"/>
                      </a:endParaRPr>
                    </a:p>
                  </a:txBody>
                  <a:tcPr marL="0" marR="0" marT="52705" marB="0">
                    <a:lnT w="9525">
                      <a:solidFill>
                        <a:srgbClr val="FFFFFF"/>
                      </a:solidFill>
                      <a:prstDash val="solid"/>
                    </a:lnT>
                    <a:lnB w="9525">
                      <a:solidFill>
                        <a:srgbClr val="9A9A9A"/>
                      </a:solidFill>
                      <a:prstDash val="solid"/>
                    </a:lnB>
                  </a:tcPr>
                </a:tc>
                <a:extLst>
                  <a:ext uri="{0D108BD9-81ED-4DB2-BD59-A6C34878D82A}">
                    <a16:rowId xmlns:a16="http://schemas.microsoft.com/office/drawing/2014/main" val="10001"/>
                  </a:ext>
                </a:extLst>
              </a:tr>
              <a:tr h="379095">
                <a:tc>
                  <a:txBody>
                    <a:bodyPr/>
                    <a:lstStyle/>
                    <a:p>
                      <a:pPr marL="347345">
                        <a:lnSpc>
                          <a:spcPts val="1160"/>
                        </a:lnSpc>
                        <a:spcBef>
                          <a:spcPts val="735"/>
                        </a:spcBef>
                      </a:pPr>
                      <a:r>
                        <a:rPr sz="1200">
                          <a:solidFill>
                            <a:srgbClr val="565656"/>
                          </a:solidFill>
                          <a:latin typeface="Trebuchet MS"/>
                          <a:cs typeface="Trebuchet MS"/>
                        </a:rPr>
                        <a:t>Client</a:t>
                      </a:r>
                      <a:r>
                        <a:rPr sz="1200" spc="-50">
                          <a:solidFill>
                            <a:srgbClr val="565656"/>
                          </a:solidFill>
                          <a:latin typeface="Trebuchet MS"/>
                          <a:cs typeface="Trebuchet MS"/>
                        </a:rPr>
                        <a:t> </a:t>
                      </a:r>
                      <a:r>
                        <a:rPr sz="1200">
                          <a:solidFill>
                            <a:srgbClr val="565656"/>
                          </a:solidFill>
                          <a:latin typeface="Trebuchet MS"/>
                          <a:cs typeface="Trebuchet MS"/>
                        </a:rPr>
                        <a:t>wallet</a:t>
                      </a:r>
                      <a:r>
                        <a:rPr sz="1200" spc="-35">
                          <a:solidFill>
                            <a:srgbClr val="565656"/>
                          </a:solidFill>
                          <a:latin typeface="Trebuchet MS"/>
                          <a:cs typeface="Trebuchet MS"/>
                        </a:rPr>
                        <a:t> </a:t>
                      </a:r>
                      <a:r>
                        <a:rPr sz="1200">
                          <a:solidFill>
                            <a:srgbClr val="565656"/>
                          </a:solidFill>
                          <a:latin typeface="Trebuchet MS"/>
                          <a:cs typeface="Trebuchet MS"/>
                        </a:rPr>
                        <a:t>share</a:t>
                      </a:r>
                      <a:r>
                        <a:rPr sz="1200" spc="-35">
                          <a:solidFill>
                            <a:srgbClr val="565656"/>
                          </a:solidFill>
                          <a:latin typeface="Trebuchet MS"/>
                          <a:cs typeface="Trebuchet MS"/>
                        </a:rPr>
                        <a:t> </a:t>
                      </a:r>
                      <a:r>
                        <a:rPr sz="1200">
                          <a:solidFill>
                            <a:srgbClr val="565656"/>
                          </a:solidFill>
                          <a:latin typeface="Trebuchet MS"/>
                          <a:cs typeface="Trebuchet MS"/>
                        </a:rPr>
                        <a:t>and</a:t>
                      </a:r>
                      <a:r>
                        <a:rPr sz="1200" spc="-35">
                          <a:solidFill>
                            <a:srgbClr val="565656"/>
                          </a:solidFill>
                          <a:latin typeface="Trebuchet MS"/>
                          <a:cs typeface="Trebuchet MS"/>
                        </a:rPr>
                        <a:t> </a:t>
                      </a:r>
                      <a:r>
                        <a:rPr sz="1200">
                          <a:solidFill>
                            <a:srgbClr val="565656"/>
                          </a:solidFill>
                          <a:latin typeface="Trebuchet MS"/>
                          <a:cs typeface="Trebuchet MS"/>
                        </a:rPr>
                        <a:t>prioritized</a:t>
                      </a:r>
                      <a:r>
                        <a:rPr sz="1200" spc="-25">
                          <a:solidFill>
                            <a:srgbClr val="565656"/>
                          </a:solidFill>
                          <a:latin typeface="Trebuchet MS"/>
                          <a:cs typeface="Trebuchet MS"/>
                        </a:rPr>
                        <a:t> </a:t>
                      </a:r>
                      <a:r>
                        <a:rPr sz="1200" spc="-20">
                          <a:solidFill>
                            <a:srgbClr val="565656"/>
                          </a:solidFill>
                          <a:latin typeface="Trebuchet MS"/>
                          <a:cs typeface="Trebuchet MS"/>
                        </a:rPr>
                        <a:t>leads</a:t>
                      </a:r>
                      <a:endParaRPr sz="1200">
                        <a:latin typeface="Trebuchet MS"/>
                        <a:cs typeface="Trebuchet MS"/>
                      </a:endParaRPr>
                    </a:p>
                    <a:p>
                      <a:pPr marR="278765" algn="r">
                        <a:lnSpc>
                          <a:spcPts val="919"/>
                        </a:lnSpc>
                      </a:pPr>
                      <a:r>
                        <a:rPr sz="1000" spc="-50">
                          <a:solidFill>
                            <a:srgbClr val="7E7E7E"/>
                          </a:solidFill>
                          <a:latin typeface="Trebuchet MS"/>
                          <a:cs typeface="Trebuchet MS"/>
                        </a:rPr>
                        <a:t>8</a:t>
                      </a:r>
                      <a:endParaRPr sz="1000">
                        <a:latin typeface="Trebuchet MS"/>
                        <a:cs typeface="Trebuchet MS"/>
                      </a:endParaRPr>
                    </a:p>
                  </a:txBody>
                  <a:tcPr marL="0" marR="0" marT="93345" marB="0">
                    <a:lnL w="9525">
                      <a:solidFill>
                        <a:srgbClr val="9A9A9A"/>
                      </a:solidFill>
                      <a:prstDash val="solid"/>
                    </a:lnL>
                    <a:lnR w="9525">
                      <a:solidFill>
                        <a:srgbClr val="9A9A9A"/>
                      </a:solidFill>
                      <a:prstDash val="solid"/>
                    </a:lnR>
                    <a:lnT w="9525">
                      <a:solidFill>
                        <a:srgbClr val="9A9A9A"/>
                      </a:solidFill>
                      <a:prstDash val="solid"/>
                    </a:lnT>
                    <a:lnB w="9525">
                      <a:solidFill>
                        <a:srgbClr val="9A9A9A"/>
                      </a:solidFill>
                      <a:prstDash val="solid"/>
                    </a:lnB>
                  </a:tcPr>
                </a:tc>
                <a:extLst>
                  <a:ext uri="{0D108BD9-81ED-4DB2-BD59-A6C34878D82A}">
                    <a16:rowId xmlns:a16="http://schemas.microsoft.com/office/drawing/2014/main" val="10002"/>
                  </a:ext>
                </a:extLst>
              </a:tr>
            </a:tbl>
          </a:graphicData>
        </a:graphic>
      </p:graphicFrame>
      <p:sp>
        <p:nvSpPr>
          <p:cNvPr id="65" name="Textfeld 1">
            <a:extLst>
              <a:ext uri="{FF2B5EF4-FFF2-40B4-BE49-F238E27FC236}">
                <a16:creationId xmlns:a16="http://schemas.microsoft.com/office/drawing/2014/main" id="{282285E0-49A6-E447-9313-39A0EE26F092}"/>
              </a:ext>
            </a:extLst>
          </p:cNvPr>
          <p:cNvSpPr txBox="1"/>
          <p:nvPr>
            <p:custDataLst>
              <p:tags r:id="rId1"/>
            </p:custDataLst>
          </p:nvPr>
        </p:nvSpPr>
        <p:spPr>
          <a:xfrm>
            <a:off x="53593" y="53214"/>
            <a:ext cx="2743200" cy="1378839"/>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en-US" sz="1200" b="1">
                <a:solidFill>
                  <a:srgbClr val="575757"/>
                </a:solidFill>
                <a:sym typeface="Trebuchet MS" panose="020B0603020202020204" pitchFamily="34" charset="0"/>
              </a:rPr>
              <a:t>CA 11.Jun.24:
</a:t>
            </a:r>
            <a:r>
              <a:rPr lang="zh-TW" altLang="en-US" sz="1200" b="1">
                <a:solidFill>
                  <a:srgbClr val="575757"/>
                </a:solidFill>
                <a:sym typeface="Trebuchet MS" panose="020B0603020202020204" pitchFamily="34" charset="0"/>
              </a:rPr>
              <a:t>將客戶根據消費習慣、</a:t>
            </a:r>
            <a:r>
              <a:rPr lang="en-US" altLang="zh-TW" sz="1200" b="1">
                <a:solidFill>
                  <a:srgbClr val="575757"/>
                </a:solidFill>
                <a:sym typeface="Trebuchet MS" panose="020B0603020202020204" pitchFamily="34" charset="0"/>
              </a:rPr>
              <a:t>profile</a:t>
            </a:r>
            <a:r>
              <a:rPr lang="zh-TW" altLang="en-US" sz="1200" b="1">
                <a:solidFill>
                  <a:srgbClr val="575757"/>
                </a:solidFill>
                <a:sym typeface="Trebuchet MS" panose="020B0603020202020204" pitchFamily="34" charset="0"/>
              </a:rPr>
              <a:t>分群</a:t>
            </a:r>
            <a:endParaRPr lang="en-US" altLang="zh-TW" sz="1200" b="1">
              <a:solidFill>
                <a:srgbClr val="575757"/>
              </a:solidFill>
              <a:sym typeface="Trebuchet MS" panose="020B0603020202020204" pitchFamily="34" charset="0"/>
            </a:endParaRPr>
          </a:p>
          <a:p>
            <a:pPr>
              <a:lnSpc>
                <a:spcPct val="90000"/>
              </a:lnSpc>
              <a:spcAft>
                <a:spcPts val="600"/>
              </a:spcAft>
            </a:pPr>
            <a:r>
              <a:rPr lang="zh-TW" altLang="en-US" sz="1200" b="1">
                <a:solidFill>
                  <a:srgbClr val="575757"/>
                </a:solidFill>
                <a:sym typeface="Trebuchet MS" panose="020B0603020202020204" pitchFamily="34" charset="0"/>
              </a:rPr>
              <a:t>以各群樣貌推算</a:t>
            </a:r>
            <a:r>
              <a:rPr lang="en-US" altLang="zh-TW" sz="1200" b="1">
                <a:solidFill>
                  <a:srgbClr val="575757"/>
                </a:solidFill>
                <a:sym typeface="Trebuchet MS" panose="020B0603020202020204" pitchFamily="34" charset="0"/>
              </a:rPr>
              <a:t>wallet size</a:t>
            </a:r>
          </a:p>
          <a:p>
            <a:pPr>
              <a:lnSpc>
                <a:spcPct val="90000"/>
              </a:lnSpc>
              <a:spcAft>
                <a:spcPts val="600"/>
              </a:spcAft>
            </a:pPr>
            <a:r>
              <a:rPr lang="en-US" sz="1200" b="1">
                <a:solidFill>
                  <a:srgbClr val="575757"/>
                </a:solidFill>
                <a:sym typeface="Trebuchet MS" panose="020B0603020202020204" pitchFamily="34" charset="0"/>
              </a:rPr>
              <a:t>Prioritize </a:t>
            </a:r>
            <a:r>
              <a:rPr lang="zh-TW" altLang="en-US" sz="1200" b="1">
                <a:solidFill>
                  <a:srgbClr val="575757"/>
                </a:solidFill>
                <a:sym typeface="Trebuchet MS" panose="020B0603020202020204" pitchFamily="34" charset="0"/>
              </a:rPr>
              <a:t>客群</a:t>
            </a:r>
            <a:r>
              <a:rPr lang="en-US" altLang="zh-TW" sz="1200" b="1">
                <a:solidFill>
                  <a:srgbClr val="575757"/>
                </a:solidFill>
                <a:sym typeface="Trebuchet MS" panose="020B0603020202020204" pitchFamily="34" charset="0"/>
              </a:rPr>
              <a:t>based on share of wallet </a:t>
            </a:r>
            <a:r>
              <a:rPr lang="zh-TW" altLang="en-US" sz="1200" b="1">
                <a:solidFill>
                  <a:srgbClr val="575757"/>
                </a:solidFill>
                <a:sym typeface="Trebuchet MS" panose="020B0603020202020204" pitchFamily="34" charset="0"/>
              </a:rPr>
              <a:t>跟 轉換可能性</a:t>
            </a:r>
            <a:r>
              <a:rPr lang="en-US" altLang="zh-TW" sz="1200" b="1">
                <a:solidFill>
                  <a:srgbClr val="575757"/>
                </a:solidFill>
                <a:sym typeface="Trebuchet MS" panose="020B0603020202020204" pitchFamily="34" charset="0"/>
              </a:rPr>
              <a:t>…</a:t>
            </a:r>
          </a:p>
          <a:p>
            <a:pPr>
              <a:lnSpc>
                <a:spcPct val="90000"/>
              </a:lnSpc>
              <a:spcAft>
                <a:spcPts val="600"/>
              </a:spcAft>
            </a:pPr>
            <a:r>
              <a:rPr lang="en-US" sz="1200" b="1">
                <a:solidFill>
                  <a:srgbClr val="575757"/>
                </a:solidFill>
                <a:sym typeface="Trebuchet MS" panose="020B0603020202020204" pitchFamily="34" charset="0"/>
              </a:rPr>
              <a:t>RM/call center</a:t>
            </a:r>
            <a:r>
              <a:rPr lang="zh-TW" altLang="en-US" sz="1200" b="1">
                <a:solidFill>
                  <a:srgbClr val="575757"/>
                </a:solidFill>
                <a:sym typeface="Trebuchet MS" panose="020B0603020202020204" pitchFamily="34" charset="0"/>
              </a:rPr>
              <a:t>承接</a:t>
            </a:r>
            <a:endParaRPr lang="en-US" sz="1200" b="1">
              <a:solidFill>
                <a:srgbClr val="575757"/>
              </a:solidFill>
              <a:sym typeface="Trebuchet MS" panose="020B0603020202020204" pitchFamily="34" charset="0"/>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BA5B236B-CC69-4BB8-B95B-2848CE365675}"/>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352" imgH="469" progId="TCLayout.ActiveDocument.1">
                  <p:embed/>
                </p:oleObj>
              </mc:Choice>
              <mc:Fallback>
                <p:oleObj name="think-cell Slide" r:id="rId5" imgW="352" imgH="469" progId="TCLayout.ActiveDocument.1">
                  <p:embed/>
                  <p:pic>
                    <p:nvPicPr>
                      <p:cNvPr id="4" name="Object 3" hidden="1">
                        <a:extLst>
                          <a:ext uri="{FF2B5EF4-FFF2-40B4-BE49-F238E27FC236}">
                            <a16:creationId xmlns:a16="http://schemas.microsoft.com/office/drawing/2014/main" id="{BA5B236B-CC69-4BB8-B95B-2848CE365675}"/>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a:extLst>
              <a:ext uri="{FF2B5EF4-FFF2-40B4-BE49-F238E27FC236}">
                <a16:creationId xmlns:a16="http://schemas.microsoft.com/office/drawing/2014/main" id="{8FF5C419-0503-4794-93B7-F75F6BECE6BA}"/>
              </a:ext>
            </a:extLst>
          </p:cNvPr>
          <p:cNvSpPr/>
          <p:nvPr>
            <p:custDataLst>
              <p:tags r:id="rId2"/>
            </p:custDataLst>
          </p:nvPr>
        </p:nvSpPr>
        <p:spPr>
          <a:xfrm>
            <a:off x="0" y="0"/>
            <a:ext cx="158750" cy="158750"/>
          </a:xfrm>
          <a:prstGeom prst="rect">
            <a:avLst/>
          </a:prstGeom>
          <a:solidFill>
            <a:schemeClr val="tx2"/>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endParaRPr lang="en-US" sz="2400">
              <a:solidFill>
                <a:srgbClr val="FFFFFF"/>
              </a:solidFill>
              <a:latin typeface="Trebuchet MS" panose="020B0603020202020204" pitchFamily="34" charset="0"/>
              <a:ea typeface="+mj-ea"/>
              <a:cs typeface="+mj-cs"/>
              <a:sym typeface="Trebuchet MS" panose="020B0603020202020204" pitchFamily="34" charset="0"/>
            </a:endParaRPr>
          </a:p>
        </p:txBody>
      </p:sp>
      <p:sp>
        <p:nvSpPr>
          <p:cNvPr id="2" name="Title 1">
            <a:extLst>
              <a:ext uri="{FF2B5EF4-FFF2-40B4-BE49-F238E27FC236}">
                <a16:creationId xmlns:a16="http://schemas.microsoft.com/office/drawing/2014/main" id="{8EDB8CA0-F260-4CD7-8585-E25BFB57EDE9}"/>
              </a:ext>
            </a:extLst>
          </p:cNvPr>
          <p:cNvSpPr>
            <a:spLocks noGrp="1"/>
          </p:cNvSpPr>
          <p:nvPr>
            <p:ph type="title"/>
          </p:nvPr>
        </p:nvSpPr>
        <p:spPr>
          <a:xfrm>
            <a:off x="630000" y="889000"/>
            <a:ext cx="10933200" cy="664797"/>
          </a:xfrm>
        </p:spPr>
        <p:txBody>
          <a:bodyPr vert="horz"/>
          <a:lstStyle/>
          <a:p>
            <a:r>
              <a:rPr lang="en-US">
                <a:solidFill>
                  <a:schemeClr val="tx2"/>
                </a:solidFill>
              </a:rPr>
              <a:t>Step 1:</a:t>
            </a:r>
            <a:r>
              <a:rPr lang="en-US"/>
              <a:t> customers segregated across ~20 micro clusters based on their profile and lifestyle</a:t>
            </a:r>
          </a:p>
        </p:txBody>
      </p:sp>
      <p:sp>
        <p:nvSpPr>
          <p:cNvPr id="8" name="Rectangle 7">
            <a:extLst>
              <a:ext uri="{FF2B5EF4-FFF2-40B4-BE49-F238E27FC236}">
                <a16:creationId xmlns:a16="http://schemas.microsoft.com/office/drawing/2014/main" id="{88E76CB8-7A1E-4017-9A6E-4A0A8C5560BC}"/>
              </a:ext>
            </a:extLst>
          </p:cNvPr>
          <p:cNvSpPr/>
          <p:nvPr/>
        </p:nvSpPr>
        <p:spPr>
          <a:xfrm>
            <a:off x="3014847" y="2049307"/>
            <a:ext cx="2781225" cy="4237193"/>
          </a:xfrm>
          <a:prstGeom prst="rect">
            <a:avLst/>
          </a:prstGeom>
          <a:solidFill>
            <a:schemeClr val="bg1"/>
          </a:solidFill>
          <a:ln w="952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457200" bIns="45720" numCol="1" spcCol="0" rtlCol="0" fromWordArt="0" anchor="t" anchorCtr="0" forceAA="0" compatLnSpc="1">
            <a:prstTxWarp prst="textNoShape">
              <a:avLst/>
            </a:prstTxWarp>
            <a:noAutofit/>
          </a:bodyPr>
          <a:lstStyle/>
          <a:p>
            <a:r>
              <a:rPr lang="en-US" sz="1200" b="1">
                <a:solidFill>
                  <a:schemeClr val="tx1"/>
                </a:solidFill>
              </a:rPr>
              <a:t>LI 1|Young Strugglers</a:t>
            </a:r>
          </a:p>
          <a:p>
            <a:r>
              <a:rPr lang="en-US" sz="1000">
                <a:solidFill>
                  <a:schemeClr val="tx1"/>
                </a:solidFill>
              </a:rPr>
              <a:t>Low cash inflow; low </a:t>
            </a:r>
            <a:r>
              <a:rPr lang="en-US" sz="1000" err="1">
                <a:solidFill>
                  <a:schemeClr val="tx1"/>
                </a:solidFill>
              </a:rPr>
              <a:t>txn</a:t>
            </a:r>
            <a:r>
              <a:rPr lang="en-US" sz="1000">
                <a:solidFill>
                  <a:schemeClr val="tx1"/>
                </a:solidFill>
              </a:rPr>
              <a:t> size</a:t>
            </a:r>
          </a:p>
          <a:p>
            <a:endParaRPr lang="en-US" sz="1000" b="1">
              <a:solidFill>
                <a:schemeClr val="tx1"/>
              </a:solidFill>
            </a:endParaRPr>
          </a:p>
          <a:p>
            <a:r>
              <a:rPr lang="en-US" sz="1200" b="1">
                <a:solidFill>
                  <a:schemeClr val="tx1"/>
                </a:solidFill>
              </a:rPr>
              <a:t>LI 2|Young Emerging</a:t>
            </a:r>
          </a:p>
          <a:p>
            <a:r>
              <a:rPr lang="en-US" sz="1000">
                <a:solidFill>
                  <a:schemeClr val="tx1"/>
                </a:solidFill>
              </a:rPr>
              <a:t>Good cash inflow; Mid-monthly bills</a:t>
            </a:r>
          </a:p>
          <a:p>
            <a:endParaRPr lang="en-US" sz="1000">
              <a:solidFill>
                <a:schemeClr val="tx1"/>
              </a:solidFill>
            </a:endParaRPr>
          </a:p>
          <a:p>
            <a:r>
              <a:rPr lang="en-US" sz="1200" b="1">
                <a:solidFill>
                  <a:schemeClr val="tx1"/>
                </a:solidFill>
              </a:rPr>
              <a:t>LI 3|Young Conservatives</a:t>
            </a:r>
          </a:p>
          <a:p>
            <a:r>
              <a:rPr lang="en-US" sz="1000">
                <a:solidFill>
                  <a:schemeClr val="tx1"/>
                </a:solidFill>
              </a:rPr>
              <a:t>Stays in rich neighborhood;</a:t>
            </a:r>
            <a:br>
              <a:rPr lang="en-US" sz="1000">
                <a:solidFill>
                  <a:schemeClr val="tx1"/>
                </a:solidFill>
              </a:rPr>
            </a:br>
            <a:r>
              <a:rPr lang="en-US" sz="1000">
                <a:solidFill>
                  <a:schemeClr val="tx1"/>
                </a:solidFill>
              </a:rPr>
              <a:t>Low monthly bills &amp; </a:t>
            </a:r>
            <a:r>
              <a:rPr lang="en-US" sz="1000" err="1">
                <a:solidFill>
                  <a:schemeClr val="tx1"/>
                </a:solidFill>
              </a:rPr>
              <a:t>txn</a:t>
            </a:r>
            <a:r>
              <a:rPr lang="en-US" sz="1000">
                <a:solidFill>
                  <a:schemeClr val="tx1"/>
                </a:solidFill>
              </a:rPr>
              <a:t> size</a:t>
            </a:r>
          </a:p>
          <a:p>
            <a:endParaRPr lang="en-US" sz="1000" b="1">
              <a:solidFill>
                <a:schemeClr val="tx1"/>
              </a:solidFill>
            </a:endParaRPr>
          </a:p>
          <a:p>
            <a:r>
              <a:rPr lang="en-US" sz="1200" b="1">
                <a:solidFill>
                  <a:schemeClr val="tx1"/>
                </a:solidFill>
              </a:rPr>
              <a:t>LI 4|Conservatives</a:t>
            </a:r>
          </a:p>
          <a:p>
            <a:r>
              <a:rPr lang="en-US" sz="1000">
                <a:solidFill>
                  <a:schemeClr val="tx1"/>
                </a:solidFill>
              </a:rPr>
              <a:t>High supermarket expenses; </a:t>
            </a:r>
          </a:p>
          <a:p>
            <a:r>
              <a:rPr lang="en-US" sz="1000">
                <a:solidFill>
                  <a:schemeClr val="tx1"/>
                </a:solidFill>
              </a:rPr>
              <a:t>Low PP area;</a:t>
            </a:r>
          </a:p>
          <a:p>
            <a:endParaRPr lang="en-US" sz="1200" b="1">
              <a:solidFill>
                <a:schemeClr val="tx1"/>
              </a:solidFill>
            </a:endParaRPr>
          </a:p>
          <a:p>
            <a:r>
              <a:rPr lang="en-US" sz="1200" b="1">
                <a:solidFill>
                  <a:schemeClr val="tx1"/>
                </a:solidFill>
              </a:rPr>
              <a:t>LI 5|Spenders Young Family</a:t>
            </a:r>
          </a:p>
          <a:p>
            <a:r>
              <a:rPr lang="en-US" sz="1000">
                <a:solidFill>
                  <a:schemeClr val="tx1"/>
                </a:solidFill>
              </a:rPr>
              <a:t>High cash outflow and CC bills,</a:t>
            </a:r>
          </a:p>
          <a:p>
            <a:r>
              <a:rPr lang="en-US" sz="1000">
                <a:solidFill>
                  <a:schemeClr val="tx1"/>
                </a:solidFill>
              </a:rPr>
              <a:t>High PP area</a:t>
            </a:r>
          </a:p>
          <a:p>
            <a:endParaRPr lang="en-US" sz="1200" b="1">
              <a:solidFill>
                <a:schemeClr val="tx1"/>
              </a:solidFill>
            </a:endParaRPr>
          </a:p>
          <a:p>
            <a:r>
              <a:rPr lang="en-US" sz="1200" b="1">
                <a:solidFill>
                  <a:schemeClr val="tx1"/>
                </a:solidFill>
              </a:rPr>
              <a:t>LI 6|Emerging Young Family</a:t>
            </a:r>
          </a:p>
          <a:p>
            <a:r>
              <a:rPr lang="en-US" sz="1000">
                <a:solidFill>
                  <a:schemeClr val="tx1"/>
                </a:solidFill>
              </a:rPr>
              <a:t>Married couples, Highest PP area; </a:t>
            </a:r>
          </a:p>
          <a:p>
            <a:r>
              <a:rPr lang="en-US" sz="1000">
                <a:solidFill>
                  <a:schemeClr val="tx1"/>
                </a:solidFill>
              </a:rPr>
              <a:t>Mid – high cash outflow</a:t>
            </a:r>
          </a:p>
          <a:p>
            <a:endParaRPr lang="en-US" sz="1200" b="1">
              <a:solidFill>
                <a:schemeClr val="tx1"/>
              </a:solidFill>
            </a:endParaRPr>
          </a:p>
          <a:p>
            <a:r>
              <a:rPr lang="en-US" sz="1200" b="1">
                <a:solidFill>
                  <a:schemeClr val="tx1"/>
                </a:solidFill>
              </a:rPr>
              <a:t>LI 7|Senior Savers</a:t>
            </a:r>
          </a:p>
          <a:p>
            <a:r>
              <a:rPr lang="en-US" sz="1050">
                <a:solidFill>
                  <a:schemeClr val="tx1"/>
                </a:solidFill>
              </a:rPr>
              <a:t>60+ </a:t>
            </a:r>
            <a:r>
              <a:rPr lang="en-US" sz="1050" err="1">
                <a:solidFill>
                  <a:schemeClr val="tx1"/>
                </a:solidFill>
              </a:rPr>
              <a:t>yrs</a:t>
            </a:r>
            <a:r>
              <a:rPr lang="en-US" sz="1050">
                <a:solidFill>
                  <a:schemeClr val="tx1"/>
                </a:solidFill>
              </a:rPr>
              <a:t> seniors; Huge cash inflow</a:t>
            </a:r>
          </a:p>
          <a:p>
            <a:endParaRPr lang="en-US" sz="1200" b="1">
              <a:solidFill>
                <a:schemeClr val="tx1"/>
              </a:solidFill>
            </a:endParaRPr>
          </a:p>
        </p:txBody>
      </p:sp>
      <p:sp>
        <p:nvSpPr>
          <p:cNvPr id="9" name="Rectangle 8">
            <a:extLst>
              <a:ext uri="{FF2B5EF4-FFF2-40B4-BE49-F238E27FC236}">
                <a16:creationId xmlns:a16="http://schemas.microsoft.com/office/drawing/2014/main" id="{FEF88B5B-E594-41F3-B725-0A8A749223C5}"/>
              </a:ext>
            </a:extLst>
          </p:cNvPr>
          <p:cNvSpPr/>
          <p:nvPr/>
        </p:nvSpPr>
        <p:spPr>
          <a:xfrm>
            <a:off x="8762701" y="2049307"/>
            <a:ext cx="2781225" cy="4237193"/>
          </a:xfrm>
          <a:prstGeom prst="rect">
            <a:avLst/>
          </a:prstGeom>
          <a:solidFill>
            <a:schemeClr val="bg1"/>
          </a:solidFill>
          <a:ln w="9525" cap="rnd"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457200" bIns="45720" numCol="1" spcCol="0" rtlCol="0" fromWordArt="0" anchor="t" anchorCtr="0" forceAA="0" compatLnSpc="1">
            <a:prstTxWarp prst="textNoShape">
              <a:avLst/>
            </a:prstTxWarp>
            <a:noAutofit/>
          </a:bodyPr>
          <a:lstStyle/>
          <a:p>
            <a:pPr>
              <a:buSzPct val="100000"/>
              <a:buFont typeface="Trebuchet MS" panose="020B0603020202020204" pitchFamily="34" charset="0"/>
              <a:buChar char="​"/>
            </a:pPr>
            <a:r>
              <a:rPr lang="en-US" sz="1200" b="1">
                <a:solidFill>
                  <a:schemeClr val="accent1"/>
                </a:solidFill>
                <a:latin typeface="Trebuchet MS" panose="020B0603020202020204" pitchFamily="34" charset="0"/>
              </a:rPr>
              <a:t>HI 1|Young Emerging Family</a:t>
            </a:r>
          </a:p>
          <a:p>
            <a:pPr>
              <a:buSzPct val="100000"/>
              <a:buFont typeface="Trebuchet MS" panose="020B0603020202020204" pitchFamily="34" charset="0"/>
              <a:buChar char="​"/>
            </a:pPr>
            <a:r>
              <a:rPr lang="en-US" sz="1000">
                <a:solidFill>
                  <a:schemeClr val="tx1">
                    <a:lumMod val="100000"/>
                  </a:schemeClr>
                </a:solidFill>
                <a:latin typeface="Trebuchet MS" panose="020B0603020202020204" pitchFamily="34" charset="0"/>
              </a:rPr>
              <a:t>High purchasing power; High cash </a:t>
            </a:r>
          </a:p>
          <a:p>
            <a:pPr>
              <a:buSzPct val="100000"/>
              <a:buFont typeface="Trebuchet MS" panose="020B0603020202020204" pitchFamily="34" charset="0"/>
              <a:buChar char="​"/>
            </a:pPr>
            <a:r>
              <a:rPr lang="en-US" sz="1000">
                <a:solidFill>
                  <a:schemeClr val="tx1">
                    <a:lumMod val="100000"/>
                  </a:schemeClr>
                </a:solidFill>
                <a:latin typeface="Trebuchet MS" panose="020B0603020202020204" pitchFamily="34" charset="0"/>
              </a:rPr>
              <a:t>outflow</a:t>
            </a:r>
          </a:p>
          <a:p>
            <a:pPr>
              <a:buSzPct val="100000"/>
              <a:buFont typeface="Trebuchet MS" panose="020B0603020202020204" pitchFamily="34" charset="0"/>
              <a:buChar char="​"/>
            </a:pPr>
            <a:endParaRPr lang="en-US" sz="1200">
              <a:solidFill>
                <a:schemeClr val="tx1">
                  <a:lumMod val="100000"/>
                </a:schemeClr>
              </a:solidFill>
              <a:latin typeface="Trebuchet MS" panose="020B0603020202020204" pitchFamily="34" charset="0"/>
            </a:endParaRPr>
          </a:p>
          <a:p>
            <a:pPr>
              <a:buSzPct val="100000"/>
              <a:buFont typeface="Trebuchet MS" panose="020B0603020202020204" pitchFamily="34" charset="0"/>
              <a:buChar char="​"/>
            </a:pPr>
            <a:endParaRPr lang="en-US" sz="1200">
              <a:solidFill>
                <a:schemeClr val="tx1">
                  <a:lumMod val="100000"/>
                </a:schemeClr>
              </a:solidFill>
              <a:latin typeface="Trebuchet MS" panose="020B0603020202020204" pitchFamily="34" charset="0"/>
            </a:endParaRPr>
          </a:p>
          <a:p>
            <a:pPr>
              <a:buSzPct val="100000"/>
              <a:buFont typeface="Trebuchet MS" panose="020B0603020202020204" pitchFamily="34" charset="0"/>
              <a:buChar char="​"/>
            </a:pPr>
            <a:r>
              <a:rPr lang="en-US" sz="1200" b="1">
                <a:solidFill>
                  <a:schemeClr val="accent1"/>
                </a:solidFill>
                <a:latin typeface="Trebuchet MS" panose="020B0603020202020204" pitchFamily="34" charset="0"/>
              </a:rPr>
              <a:t>HI 2|Rich Lifestyle</a:t>
            </a:r>
          </a:p>
          <a:p>
            <a:pPr>
              <a:buSzPct val="100000"/>
              <a:buFont typeface="Trebuchet MS" panose="020B0603020202020204" pitchFamily="34" charset="0"/>
              <a:buChar char="​"/>
            </a:pPr>
            <a:r>
              <a:rPr lang="en-US" sz="1000">
                <a:solidFill>
                  <a:schemeClr val="tx1">
                    <a:lumMod val="100000"/>
                  </a:schemeClr>
                </a:solidFill>
                <a:latin typeface="Trebuchet MS" panose="020B0603020202020204" pitchFamily="34" charset="0"/>
              </a:rPr>
              <a:t>Highest PP area; High monthly bills &amp; </a:t>
            </a:r>
            <a:r>
              <a:rPr lang="en-US" sz="1000" err="1">
                <a:solidFill>
                  <a:schemeClr val="tx1">
                    <a:lumMod val="100000"/>
                  </a:schemeClr>
                </a:solidFill>
                <a:latin typeface="Trebuchet MS" panose="020B0603020202020204" pitchFamily="34" charset="0"/>
              </a:rPr>
              <a:t>txn</a:t>
            </a:r>
            <a:r>
              <a:rPr lang="en-US" sz="1000">
                <a:solidFill>
                  <a:schemeClr val="tx1">
                    <a:lumMod val="100000"/>
                  </a:schemeClr>
                </a:solidFill>
                <a:latin typeface="Trebuchet MS" panose="020B0603020202020204" pitchFamily="34" charset="0"/>
              </a:rPr>
              <a:t> size; High cash outflow; high jewelry expenses</a:t>
            </a:r>
          </a:p>
          <a:p>
            <a:pPr>
              <a:buSzPct val="100000"/>
              <a:buFont typeface="Trebuchet MS" panose="020B0603020202020204" pitchFamily="34" charset="0"/>
              <a:buChar char="​"/>
            </a:pPr>
            <a:endParaRPr lang="en-US" sz="1200">
              <a:solidFill>
                <a:schemeClr val="tx1">
                  <a:lumMod val="100000"/>
                </a:schemeClr>
              </a:solidFill>
              <a:latin typeface="Trebuchet MS" panose="020B0603020202020204" pitchFamily="34" charset="0"/>
            </a:endParaRPr>
          </a:p>
          <a:p>
            <a:pPr>
              <a:buSzPct val="100000"/>
              <a:buFont typeface="Trebuchet MS" panose="020B0603020202020204" pitchFamily="34" charset="0"/>
              <a:buChar char="​"/>
            </a:pPr>
            <a:endParaRPr lang="en-US" sz="1200">
              <a:solidFill>
                <a:schemeClr val="tx1">
                  <a:lumMod val="100000"/>
                </a:schemeClr>
              </a:solidFill>
              <a:latin typeface="Trebuchet MS" panose="020B0603020202020204" pitchFamily="34" charset="0"/>
            </a:endParaRPr>
          </a:p>
          <a:p>
            <a:pPr>
              <a:buSzPct val="100000"/>
              <a:buFont typeface="Trebuchet MS" panose="020B0603020202020204" pitchFamily="34" charset="0"/>
              <a:buChar char="​"/>
            </a:pPr>
            <a:r>
              <a:rPr lang="en-US" sz="1200" b="1">
                <a:solidFill>
                  <a:schemeClr val="accent1"/>
                </a:solidFill>
                <a:latin typeface="Trebuchet MS" panose="020B0603020202020204" pitchFamily="34" charset="0"/>
              </a:rPr>
              <a:t>HI 3|Rich Conservative</a:t>
            </a:r>
          </a:p>
          <a:p>
            <a:pPr>
              <a:buSzPct val="100000"/>
              <a:buFont typeface="Trebuchet MS" panose="020B0603020202020204" pitchFamily="34" charset="0"/>
              <a:buChar char="​"/>
            </a:pPr>
            <a:r>
              <a:rPr lang="en-US" sz="1000">
                <a:solidFill>
                  <a:schemeClr val="tx1">
                    <a:lumMod val="100000"/>
                  </a:schemeClr>
                </a:solidFill>
                <a:latin typeface="Trebuchet MS" panose="020B0603020202020204" pitchFamily="34" charset="0"/>
              </a:rPr>
              <a:t>High cash inflow; High </a:t>
            </a:r>
            <a:r>
              <a:rPr lang="en-US" sz="1000" err="1">
                <a:solidFill>
                  <a:schemeClr val="tx1">
                    <a:lumMod val="100000"/>
                  </a:schemeClr>
                </a:solidFill>
                <a:latin typeface="Trebuchet MS" panose="020B0603020202020204" pitchFamily="34" charset="0"/>
              </a:rPr>
              <a:t>DMI</a:t>
            </a:r>
            <a:r>
              <a:rPr lang="en-US" sz="1000">
                <a:solidFill>
                  <a:schemeClr val="tx1">
                    <a:lumMod val="100000"/>
                  </a:schemeClr>
                </a:solidFill>
                <a:latin typeface="Trebuchet MS" panose="020B0603020202020204" pitchFamily="34" charset="0"/>
              </a:rPr>
              <a:t> expenses</a:t>
            </a:r>
          </a:p>
          <a:p>
            <a:pPr>
              <a:buSzPct val="100000"/>
              <a:buFont typeface="Trebuchet MS" panose="020B0603020202020204" pitchFamily="34" charset="0"/>
              <a:buChar char="​"/>
            </a:pPr>
            <a:endParaRPr lang="en-US" sz="1200">
              <a:solidFill>
                <a:schemeClr val="tx1">
                  <a:lumMod val="100000"/>
                </a:schemeClr>
              </a:solidFill>
              <a:latin typeface="Trebuchet MS" panose="020B0603020202020204" pitchFamily="34" charset="0"/>
            </a:endParaRPr>
          </a:p>
          <a:p>
            <a:pPr>
              <a:buSzPct val="100000"/>
              <a:buFont typeface="Trebuchet MS" panose="020B0603020202020204" pitchFamily="34" charset="0"/>
              <a:buChar char="​"/>
            </a:pPr>
            <a:endParaRPr lang="en-US" sz="1200">
              <a:solidFill>
                <a:schemeClr val="tx1">
                  <a:lumMod val="100000"/>
                </a:schemeClr>
              </a:solidFill>
              <a:latin typeface="Trebuchet MS" panose="020B0603020202020204" pitchFamily="34" charset="0"/>
            </a:endParaRPr>
          </a:p>
          <a:p>
            <a:pPr>
              <a:buSzPct val="100000"/>
              <a:buFont typeface="Trebuchet MS" panose="020B0603020202020204" pitchFamily="34" charset="0"/>
              <a:buChar char="​"/>
            </a:pPr>
            <a:r>
              <a:rPr lang="en-US" sz="1200" b="1">
                <a:solidFill>
                  <a:schemeClr val="accent1"/>
                </a:solidFill>
                <a:latin typeface="Trebuchet MS" panose="020B0603020202020204" pitchFamily="34" charset="0"/>
              </a:rPr>
              <a:t>HI 4|Senior Savers</a:t>
            </a:r>
          </a:p>
          <a:p>
            <a:pPr>
              <a:buSzPct val="100000"/>
              <a:buFont typeface="Trebuchet MS" panose="020B0603020202020204" pitchFamily="34" charset="0"/>
              <a:buChar char="​"/>
            </a:pPr>
            <a:r>
              <a:rPr lang="en-SG" sz="1000">
                <a:solidFill>
                  <a:schemeClr val="tx1">
                    <a:lumMod val="100000"/>
                  </a:schemeClr>
                </a:solidFill>
                <a:latin typeface="Trebuchet MS" panose="020B0603020202020204" pitchFamily="34" charset="0"/>
              </a:rPr>
              <a:t>60+ </a:t>
            </a:r>
            <a:r>
              <a:rPr lang="en-SG" sz="1000" err="1">
                <a:solidFill>
                  <a:schemeClr val="tx1">
                    <a:lumMod val="100000"/>
                  </a:schemeClr>
                </a:solidFill>
                <a:latin typeface="Trebuchet MS" panose="020B0603020202020204" pitchFamily="34" charset="0"/>
              </a:rPr>
              <a:t>yrs</a:t>
            </a:r>
            <a:r>
              <a:rPr lang="en-SG" sz="1000">
                <a:solidFill>
                  <a:schemeClr val="tx1">
                    <a:lumMod val="100000"/>
                  </a:schemeClr>
                </a:solidFill>
                <a:latin typeface="Trebuchet MS" panose="020B0603020202020204" pitchFamily="34" charset="0"/>
              </a:rPr>
              <a:t> senior individuals; High Cash </a:t>
            </a:r>
          </a:p>
          <a:p>
            <a:pPr>
              <a:buSzPct val="100000"/>
              <a:buFont typeface="Trebuchet MS" panose="020B0603020202020204" pitchFamily="34" charset="0"/>
              <a:buChar char="​"/>
            </a:pPr>
            <a:r>
              <a:rPr lang="en-SG" sz="1000">
                <a:solidFill>
                  <a:schemeClr val="tx1">
                    <a:lumMod val="100000"/>
                  </a:schemeClr>
                </a:solidFill>
                <a:latin typeface="Trebuchet MS" panose="020B0603020202020204" pitchFamily="34" charset="0"/>
              </a:rPr>
              <a:t>inflow; Low monthly bills; high supermarket expenses</a:t>
            </a:r>
            <a:endParaRPr lang="en-US" sz="1000">
              <a:solidFill>
                <a:schemeClr val="tx1"/>
              </a:solidFill>
            </a:endParaRPr>
          </a:p>
        </p:txBody>
      </p:sp>
      <p:sp>
        <p:nvSpPr>
          <p:cNvPr id="10" name="Rectangle 9">
            <a:extLst>
              <a:ext uri="{FF2B5EF4-FFF2-40B4-BE49-F238E27FC236}">
                <a16:creationId xmlns:a16="http://schemas.microsoft.com/office/drawing/2014/main" id="{C10B37D7-66BE-4E22-9F27-2B919ED84C5E}"/>
              </a:ext>
            </a:extLst>
          </p:cNvPr>
          <p:cNvSpPr/>
          <p:nvPr/>
        </p:nvSpPr>
        <p:spPr>
          <a:xfrm>
            <a:off x="5888774" y="2049307"/>
            <a:ext cx="2781225" cy="4237193"/>
          </a:xfrm>
          <a:prstGeom prst="rect">
            <a:avLst/>
          </a:prstGeom>
          <a:solidFill>
            <a:schemeClr val="bg1"/>
          </a:solidFill>
          <a:ln w="9525"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457200" bIns="45720" numCol="1" spcCol="0" rtlCol="0" fromWordArt="0" anchor="t" anchorCtr="0" forceAA="0" compatLnSpc="1">
            <a:prstTxWarp prst="textNoShape">
              <a:avLst/>
            </a:prstTxWarp>
            <a:noAutofit/>
          </a:bodyPr>
          <a:lstStyle/>
          <a:p>
            <a:pPr>
              <a:buSzPct val="100000"/>
              <a:buFont typeface="Trebuchet MS" panose="020B0603020202020204" pitchFamily="34" charset="0"/>
              <a:buChar char="​"/>
            </a:pPr>
            <a:r>
              <a:rPr lang="en-US" sz="1200" b="1">
                <a:solidFill>
                  <a:schemeClr val="tx2"/>
                </a:solidFill>
                <a:latin typeface="Trebuchet MS" panose="020B0603020202020204" pitchFamily="34" charset="0"/>
              </a:rPr>
              <a:t>MI 1|Young Stagnant</a:t>
            </a:r>
          </a:p>
          <a:p>
            <a:pPr>
              <a:buSzPct val="100000"/>
              <a:buFont typeface="Trebuchet MS" panose="020B0603020202020204" pitchFamily="34" charset="0"/>
              <a:buChar char="​"/>
            </a:pPr>
            <a:r>
              <a:rPr lang="en-US" sz="1000">
                <a:solidFill>
                  <a:schemeClr val="tx1">
                    <a:lumMod val="100000"/>
                  </a:schemeClr>
                </a:solidFill>
                <a:latin typeface="Trebuchet MS" panose="020B0603020202020204" pitchFamily="34" charset="0"/>
              </a:rPr>
              <a:t>Low cash inflow; Low PP area</a:t>
            </a:r>
          </a:p>
          <a:p>
            <a:pPr>
              <a:buSzPct val="100000"/>
              <a:buFont typeface="Trebuchet MS" panose="020B0603020202020204" pitchFamily="34" charset="0"/>
              <a:buChar char="​"/>
            </a:pPr>
            <a:endParaRPr lang="en-US" sz="1100">
              <a:solidFill>
                <a:schemeClr val="tx1">
                  <a:lumMod val="100000"/>
                </a:schemeClr>
              </a:solidFill>
              <a:latin typeface="Trebuchet MS" panose="020B0603020202020204" pitchFamily="34" charset="0"/>
            </a:endParaRPr>
          </a:p>
          <a:p>
            <a:pPr>
              <a:buSzPct val="100000"/>
              <a:buFont typeface="Trebuchet MS" panose="020B0603020202020204" pitchFamily="34" charset="0"/>
              <a:buChar char="​"/>
            </a:pPr>
            <a:r>
              <a:rPr lang="en-US" sz="1200" b="1">
                <a:solidFill>
                  <a:schemeClr val="tx2"/>
                </a:solidFill>
                <a:latin typeface="Trebuchet MS" panose="020B0603020202020204" pitchFamily="34" charset="0"/>
              </a:rPr>
              <a:t>MI 2|Young Savers</a:t>
            </a:r>
          </a:p>
          <a:p>
            <a:pPr>
              <a:buSzPct val="100000"/>
              <a:buFont typeface="Trebuchet MS" panose="020B0603020202020204" pitchFamily="34" charset="0"/>
              <a:buChar char="​"/>
            </a:pPr>
            <a:r>
              <a:rPr lang="en-US" sz="1000">
                <a:solidFill>
                  <a:schemeClr val="tx1">
                    <a:lumMod val="100000"/>
                  </a:schemeClr>
                </a:solidFill>
                <a:latin typeface="Trebuchet MS" panose="020B0603020202020204" pitchFamily="34" charset="0"/>
              </a:rPr>
              <a:t>Avg. cash inflow; low PP area; high supermarket expenses</a:t>
            </a:r>
          </a:p>
          <a:p>
            <a:pPr>
              <a:buSzPct val="100000"/>
              <a:buFont typeface="Trebuchet MS" panose="020B0603020202020204" pitchFamily="34" charset="0"/>
              <a:buChar char="​"/>
            </a:pPr>
            <a:endParaRPr lang="en-US" sz="1000">
              <a:solidFill>
                <a:schemeClr val="tx1">
                  <a:lumMod val="100000"/>
                </a:schemeClr>
              </a:solidFill>
              <a:latin typeface="Trebuchet MS" panose="020B0603020202020204" pitchFamily="34" charset="0"/>
            </a:endParaRPr>
          </a:p>
          <a:p>
            <a:pPr>
              <a:buSzPct val="100000"/>
              <a:buFont typeface="Trebuchet MS" panose="020B0603020202020204" pitchFamily="34" charset="0"/>
              <a:buChar char="​"/>
            </a:pPr>
            <a:r>
              <a:rPr lang="en-US" sz="1200" b="1">
                <a:solidFill>
                  <a:schemeClr val="tx2"/>
                </a:solidFill>
                <a:latin typeface="Trebuchet MS" panose="020B0603020202020204" pitchFamily="34" charset="0"/>
              </a:rPr>
              <a:t>MI 3|Young Conservative</a:t>
            </a:r>
          </a:p>
          <a:p>
            <a:pPr>
              <a:buSzPct val="100000"/>
              <a:buFont typeface="Trebuchet MS" panose="020B0603020202020204" pitchFamily="34" charset="0"/>
              <a:buChar char="​"/>
            </a:pPr>
            <a:r>
              <a:rPr lang="en-US" sz="1000">
                <a:solidFill>
                  <a:schemeClr val="tx1">
                    <a:lumMod val="100000"/>
                  </a:schemeClr>
                </a:solidFill>
                <a:latin typeface="Trebuchet MS" panose="020B0603020202020204" pitchFamily="34" charset="0"/>
              </a:rPr>
              <a:t>High PP area; low bills &amp; cash inflow</a:t>
            </a:r>
          </a:p>
          <a:p>
            <a:pPr>
              <a:buSzPct val="100000"/>
              <a:buFont typeface="Trebuchet MS" panose="020B0603020202020204" pitchFamily="34" charset="0"/>
              <a:buChar char="​"/>
            </a:pPr>
            <a:endParaRPr lang="en-US" sz="1200" b="1">
              <a:solidFill>
                <a:schemeClr val="tx2"/>
              </a:solidFill>
              <a:latin typeface="Trebuchet MS" panose="020B0603020202020204" pitchFamily="34" charset="0"/>
            </a:endParaRPr>
          </a:p>
          <a:p>
            <a:pPr>
              <a:buSzPct val="100000"/>
              <a:buFont typeface="Trebuchet MS" panose="020B0603020202020204" pitchFamily="34" charset="0"/>
              <a:buChar char="​"/>
            </a:pPr>
            <a:r>
              <a:rPr lang="en-US" sz="1200" b="1">
                <a:solidFill>
                  <a:schemeClr val="tx2"/>
                </a:solidFill>
                <a:latin typeface="Trebuchet MS" panose="020B0603020202020204" pitchFamily="34" charset="0"/>
              </a:rPr>
              <a:t>MI 4|Spenders Young Family</a:t>
            </a:r>
          </a:p>
          <a:p>
            <a:pPr>
              <a:buSzPct val="100000"/>
              <a:buFont typeface="Trebuchet MS" panose="020B0603020202020204" pitchFamily="34" charset="0"/>
              <a:buChar char="​"/>
            </a:pPr>
            <a:r>
              <a:rPr lang="en-US" sz="1000">
                <a:solidFill>
                  <a:schemeClr val="tx1">
                    <a:lumMod val="100000"/>
                  </a:schemeClr>
                </a:solidFill>
                <a:latin typeface="Trebuchet MS" panose="020B0603020202020204" pitchFamily="34" charset="0"/>
              </a:rPr>
              <a:t>High PP area; High monthly </a:t>
            </a:r>
          </a:p>
          <a:p>
            <a:pPr>
              <a:buSzPct val="100000"/>
              <a:buFont typeface="Trebuchet MS" panose="020B0603020202020204" pitchFamily="34" charset="0"/>
              <a:buChar char="​"/>
            </a:pPr>
            <a:r>
              <a:rPr lang="en-US" sz="1000">
                <a:solidFill>
                  <a:schemeClr val="tx1">
                    <a:lumMod val="100000"/>
                  </a:schemeClr>
                </a:solidFill>
                <a:latin typeface="Trebuchet MS" panose="020B0603020202020204" pitchFamily="34" charset="0"/>
              </a:rPr>
              <a:t>bills and cash outflow;</a:t>
            </a:r>
          </a:p>
          <a:p>
            <a:pPr>
              <a:buSzPct val="100000"/>
              <a:buFont typeface="Trebuchet MS" panose="020B0603020202020204" pitchFamily="34" charset="0"/>
              <a:buChar char="​"/>
            </a:pPr>
            <a:endParaRPr lang="en-US" sz="1100">
              <a:solidFill>
                <a:schemeClr val="tx1">
                  <a:lumMod val="100000"/>
                </a:schemeClr>
              </a:solidFill>
              <a:latin typeface="Trebuchet MS" panose="020B0603020202020204" pitchFamily="34" charset="0"/>
            </a:endParaRPr>
          </a:p>
          <a:p>
            <a:pPr>
              <a:buSzPct val="100000"/>
              <a:buFont typeface="Trebuchet MS" panose="020B0603020202020204" pitchFamily="34" charset="0"/>
              <a:buChar char="​"/>
            </a:pPr>
            <a:r>
              <a:rPr lang="en-US" sz="1200" b="1">
                <a:solidFill>
                  <a:schemeClr val="tx2"/>
                </a:solidFill>
                <a:latin typeface="Trebuchet MS" panose="020B0603020202020204" pitchFamily="34" charset="0"/>
              </a:rPr>
              <a:t>MI 5|Elite Location Family</a:t>
            </a:r>
          </a:p>
          <a:p>
            <a:pPr>
              <a:buSzPct val="100000"/>
              <a:buFont typeface="Trebuchet MS" panose="020B0603020202020204" pitchFamily="34" charset="0"/>
              <a:buChar char="​"/>
            </a:pPr>
            <a:r>
              <a:rPr lang="en-US" sz="1000">
                <a:solidFill>
                  <a:schemeClr val="tx1">
                    <a:lumMod val="100000"/>
                  </a:schemeClr>
                </a:solidFill>
                <a:latin typeface="Trebuchet MS" panose="020B0603020202020204" pitchFamily="34" charset="0"/>
              </a:rPr>
              <a:t>Highest PP area; High monthly </a:t>
            </a:r>
            <a:br>
              <a:rPr lang="en-US" sz="1000">
                <a:solidFill>
                  <a:schemeClr val="tx1">
                    <a:lumMod val="100000"/>
                  </a:schemeClr>
                </a:solidFill>
                <a:latin typeface="Trebuchet MS" panose="020B0603020202020204" pitchFamily="34" charset="0"/>
              </a:rPr>
            </a:br>
            <a:r>
              <a:rPr lang="en-US" sz="1000">
                <a:solidFill>
                  <a:schemeClr val="tx1">
                    <a:lumMod val="100000"/>
                  </a:schemeClr>
                </a:solidFill>
                <a:latin typeface="Trebuchet MS" panose="020B0603020202020204" pitchFamily="34" charset="0"/>
              </a:rPr>
              <a:t>bills and </a:t>
            </a:r>
            <a:r>
              <a:rPr lang="en-US" sz="1000" err="1">
                <a:solidFill>
                  <a:schemeClr val="tx1">
                    <a:lumMod val="100000"/>
                  </a:schemeClr>
                </a:solidFill>
                <a:latin typeface="Trebuchet MS" panose="020B0603020202020204" pitchFamily="34" charset="0"/>
              </a:rPr>
              <a:t>txns</a:t>
            </a:r>
            <a:r>
              <a:rPr lang="en-US" sz="1000">
                <a:solidFill>
                  <a:schemeClr val="tx1">
                    <a:lumMod val="100000"/>
                  </a:schemeClr>
                </a:solidFill>
                <a:latin typeface="Trebuchet MS" panose="020B0603020202020204" pitchFamily="34" charset="0"/>
              </a:rPr>
              <a:t>. size; </a:t>
            </a:r>
          </a:p>
          <a:p>
            <a:pPr>
              <a:buSzPct val="100000"/>
              <a:buFont typeface="Trebuchet MS" panose="020B0603020202020204" pitchFamily="34" charset="0"/>
              <a:buChar char="​"/>
            </a:pPr>
            <a:endParaRPr lang="en-US" sz="1100">
              <a:solidFill>
                <a:schemeClr val="tx1">
                  <a:lumMod val="100000"/>
                </a:schemeClr>
              </a:solidFill>
              <a:latin typeface="Trebuchet MS" panose="020B0603020202020204" pitchFamily="34" charset="0"/>
            </a:endParaRPr>
          </a:p>
          <a:p>
            <a:pPr>
              <a:buSzPct val="100000"/>
              <a:buFont typeface="Trebuchet MS" panose="020B0603020202020204" pitchFamily="34" charset="0"/>
              <a:buChar char="​"/>
            </a:pPr>
            <a:r>
              <a:rPr lang="en-US" sz="1200" b="1">
                <a:solidFill>
                  <a:schemeClr val="tx2"/>
                </a:solidFill>
                <a:latin typeface="Trebuchet MS" panose="020B0603020202020204" pitchFamily="34" charset="0"/>
              </a:rPr>
              <a:t>MI 6|Conservative Family</a:t>
            </a:r>
          </a:p>
          <a:p>
            <a:pPr>
              <a:buSzPct val="100000"/>
              <a:buFont typeface="Trebuchet MS" panose="020B0603020202020204" pitchFamily="34" charset="0"/>
              <a:buChar char="​"/>
            </a:pPr>
            <a:r>
              <a:rPr lang="en-US" sz="1000">
                <a:solidFill>
                  <a:schemeClr val="tx1">
                    <a:lumMod val="100000"/>
                  </a:schemeClr>
                </a:solidFill>
                <a:latin typeface="Trebuchet MS" panose="020B0603020202020204" pitchFamily="34" charset="0"/>
              </a:rPr>
              <a:t>50+ </a:t>
            </a:r>
            <a:r>
              <a:rPr lang="en-US" sz="1000" err="1">
                <a:solidFill>
                  <a:schemeClr val="tx1">
                    <a:lumMod val="100000"/>
                  </a:schemeClr>
                </a:solidFill>
                <a:latin typeface="Trebuchet MS" panose="020B0603020202020204" pitchFamily="34" charset="0"/>
              </a:rPr>
              <a:t>yrs</a:t>
            </a:r>
            <a:r>
              <a:rPr lang="en-US" sz="1000">
                <a:solidFill>
                  <a:schemeClr val="tx1">
                    <a:lumMod val="100000"/>
                  </a:schemeClr>
                </a:solidFill>
                <a:latin typeface="Trebuchet MS" panose="020B0603020202020204" pitchFamily="34" charset="0"/>
              </a:rPr>
              <a:t> w/ married family; High cash </a:t>
            </a:r>
          </a:p>
          <a:p>
            <a:pPr>
              <a:buSzPct val="100000"/>
              <a:buFont typeface="Trebuchet MS" panose="020B0603020202020204" pitchFamily="34" charset="0"/>
              <a:buChar char="​"/>
            </a:pPr>
            <a:r>
              <a:rPr lang="en-US" sz="1000">
                <a:solidFill>
                  <a:schemeClr val="tx1">
                    <a:lumMod val="100000"/>
                  </a:schemeClr>
                </a:solidFill>
                <a:latin typeface="Trebuchet MS" panose="020B0603020202020204" pitchFamily="34" charset="0"/>
              </a:rPr>
              <a:t>inflow; Low restaurant expenses</a:t>
            </a:r>
            <a:endParaRPr lang="en-US" sz="1100">
              <a:solidFill>
                <a:schemeClr val="tx1">
                  <a:lumMod val="100000"/>
                </a:schemeClr>
              </a:solidFill>
              <a:latin typeface="Trebuchet MS" panose="020B0603020202020204" pitchFamily="34" charset="0"/>
            </a:endParaRPr>
          </a:p>
          <a:p>
            <a:pPr>
              <a:buSzPct val="100000"/>
              <a:buFont typeface="Trebuchet MS" panose="020B0603020202020204" pitchFamily="34" charset="0"/>
              <a:buChar char="​"/>
            </a:pPr>
            <a:endParaRPr lang="en-US" sz="1200">
              <a:solidFill>
                <a:schemeClr val="tx1">
                  <a:lumMod val="100000"/>
                </a:schemeClr>
              </a:solidFill>
              <a:latin typeface="Trebuchet MS" panose="020B0603020202020204" pitchFamily="34" charset="0"/>
            </a:endParaRPr>
          </a:p>
          <a:p>
            <a:pPr>
              <a:buSzPct val="100000"/>
              <a:buFont typeface="Trebuchet MS" panose="020B0603020202020204" pitchFamily="34" charset="0"/>
              <a:buChar char="​"/>
            </a:pPr>
            <a:r>
              <a:rPr lang="en-US" sz="1200" b="1">
                <a:solidFill>
                  <a:schemeClr val="tx2"/>
                </a:solidFill>
                <a:latin typeface="Trebuchet MS" panose="020B0603020202020204" pitchFamily="34" charset="0"/>
              </a:rPr>
              <a:t>MI 7|Rich Lifestyle</a:t>
            </a:r>
          </a:p>
          <a:p>
            <a:pPr>
              <a:buSzPct val="100000"/>
              <a:buFont typeface="Trebuchet MS" panose="020B0603020202020204" pitchFamily="34" charset="0"/>
              <a:buChar char="​"/>
            </a:pPr>
            <a:r>
              <a:rPr lang="en-US" sz="1000">
                <a:solidFill>
                  <a:schemeClr val="tx1">
                    <a:lumMod val="100000"/>
                  </a:schemeClr>
                </a:solidFill>
                <a:latin typeface="Trebuchet MS" panose="020B0603020202020204" pitchFamily="34" charset="0"/>
              </a:rPr>
              <a:t>High monthly bills, high DB/CC </a:t>
            </a:r>
            <a:r>
              <a:rPr lang="en-US" sz="1000" err="1">
                <a:solidFill>
                  <a:schemeClr val="tx1">
                    <a:lumMod val="100000"/>
                  </a:schemeClr>
                </a:solidFill>
                <a:latin typeface="Trebuchet MS" panose="020B0603020202020204" pitchFamily="34" charset="0"/>
              </a:rPr>
              <a:t>trx</a:t>
            </a:r>
            <a:r>
              <a:rPr lang="en-US" sz="1000">
                <a:solidFill>
                  <a:schemeClr val="tx1">
                    <a:lumMod val="100000"/>
                  </a:schemeClr>
                </a:solidFill>
                <a:latin typeface="Trebuchet MS" panose="020B0603020202020204" pitchFamily="34" charset="0"/>
              </a:rPr>
              <a:t> </a:t>
            </a:r>
          </a:p>
          <a:p>
            <a:pPr>
              <a:buSzPct val="100000"/>
              <a:buFont typeface="Trebuchet MS" panose="020B0603020202020204" pitchFamily="34" charset="0"/>
              <a:buChar char="​"/>
            </a:pPr>
            <a:r>
              <a:rPr lang="en-US" sz="1000">
                <a:solidFill>
                  <a:schemeClr val="tx1">
                    <a:lumMod val="100000"/>
                  </a:schemeClr>
                </a:solidFill>
                <a:latin typeface="Trebuchet MS" panose="020B0603020202020204" pitchFamily="34" charset="0"/>
              </a:rPr>
              <a:t>size; High credit card penetration</a:t>
            </a:r>
            <a:endParaRPr lang="en-US" sz="1000" b="1">
              <a:solidFill>
                <a:schemeClr val="tx1"/>
              </a:solidFill>
            </a:endParaRPr>
          </a:p>
        </p:txBody>
      </p:sp>
      <p:sp>
        <p:nvSpPr>
          <p:cNvPr id="11" name="TextBox 10">
            <a:extLst>
              <a:ext uri="{FF2B5EF4-FFF2-40B4-BE49-F238E27FC236}">
                <a16:creationId xmlns:a16="http://schemas.microsoft.com/office/drawing/2014/main" id="{BEAF9DB1-EAA5-42A1-A1BA-45AA464F59BF}"/>
              </a:ext>
            </a:extLst>
          </p:cNvPr>
          <p:cNvSpPr txBox="1"/>
          <p:nvPr/>
        </p:nvSpPr>
        <p:spPr>
          <a:xfrm>
            <a:off x="3014848" y="1668307"/>
            <a:ext cx="2781224" cy="381000"/>
          </a:xfrm>
          <a:prstGeom prst="rect">
            <a:avLst/>
          </a:prstGeom>
          <a:solidFill>
            <a:srgbClr val="717171"/>
          </a:solidFill>
          <a:ln w="9525" cap="rnd" cmpd="sng" algn="ctr">
            <a:solidFill>
              <a:srgbClr val="71717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noAutofit/>
          </a:bodyPr>
          <a:lstStyle/>
          <a:p>
            <a:pPr algn="ctr"/>
            <a:r>
              <a:rPr lang="en-US" sz="1600">
                <a:solidFill>
                  <a:schemeClr val="bg1"/>
                </a:solidFill>
              </a:rPr>
              <a:t>Low Reported Income</a:t>
            </a:r>
          </a:p>
        </p:txBody>
      </p:sp>
      <p:sp>
        <p:nvSpPr>
          <p:cNvPr id="12" name="TextBox 11">
            <a:extLst>
              <a:ext uri="{FF2B5EF4-FFF2-40B4-BE49-F238E27FC236}">
                <a16:creationId xmlns:a16="http://schemas.microsoft.com/office/drawing/2014/main" id="{C8E02A44-28DF-445E-8A22-7C0B0E83F030}"/>
              </a:ext>
            </a:extLst>
          </p:cNvPr>
          <p:cNvSpPr txBox="1"/>
          <p:nvPr/>
        </p:nvSpPr>
        <p:spPr>
          <a:xfrm>
            <a:off x="5888774" y="1668307"/>
            <a:ext cx="2781224" cy="381000"/>
          </a:xfrm>
          <a:prstGeom prst="rect">
            <a:avLst/>
          </a:prstGeom>
          <a:solidFill>
            <a:schemeClr val="tx2"/>
          </a:solidFill>
          <a:ln w="9525"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noAutofit/>
          </a:bodyPr>
          <a:lstStyle/>
          <a:p>
            <a:pPr algn="ctr"/>
            <a:r>
              <a:rPr lang="en-US" sz="1600">
                <a:solidFill>
                  <a:schemeClr val="bg1"/>
                </a:solidFill>
              </a:rPr>
              <a:t>Mid Reported Income</a:t>
            </a:r>
          </a:p>
        </p:txBody>
      </p:sp>
      <p:sp>
        <p:nvSpPr>
          <p:cNvPr id="13" name="TextBox 12">
            <a:extLst>
              <a:ext uri="{FF2B5EF4-FFF2-40B4-BE49-F238E27FC236}">
                <a16:creationId xmlns:a16="http://schemas.microsoft.com/office/drawing/2014/main" id="{FB987DEF-BFF4-49A4-B4F4-FA14CA3682C4}"/>
              </a:ext>
            </a:extLst>
          </p:cNvPr>
          <p:cNvSpPr txBox="1"/>
          <p:nvPr/>
        </p:nvSpPr>
        <p:spPr>
          <a:xfrm>
            <a:off x="8762700" y="1668307"/>
            <a:ext cx="2781224" cy="381000"/>
          </a:xfrm>
          <a:prstGeom prst="rect">
            <a:avLst/>
          </a:prstGeom>
          <a:solidFill>
            <a:schemeClr val="accent1"/>
          </a:solid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noAutofit/>
          </a:bodyPr>
          <a:lstStyle/>
          <a:p>
            <a:pPr algn="ctr"/>
            <a:r>
              <a:rPr lang="en-US" sz="1600">
                <a:solidFill>
                  <a:schemeClr val="bg1"/>
                </a:solidFill>
              </a:rPr>
              <a:t>High Reported Income</a:t>
            </a:r>
          </a:p>
        </p:txBody>
      </p:sp>
      <p:pic>
        <p:nvPicPr>
          <p:cNvPr id="17" name="Picture 11">
            <a:extLst>
              <a:ext uri="{FF2B5EF4-FFF2-40B4-BE49-F238E27FC236}">
                <a16:creationId xmlns:a16="http://schemas.microsoft.com/office/drawing/2014/main" id="{6DC3B6D5-7864-4E11-BA58-1BE8E95D1387}"/>
              </a:ext>
            </a:extLst>
          </p:cNvPr>
          <p:cNvPicPr>
            <a:picLocks noChangeAspect="1" noChangeArrowheads="1"/>
          </p:cNvPicPr>
          <p:nvPr/>
        </p:nvPicPr>
        <p:blipFill rotWithShape="1">
          <a:blip r:embed="rId7">
            <a:extLst>
              <a:ext uri="{28A0092B-C50C-407E-A947-70E740481C1C}">
                <a14:useLocalDpi xmlns:a14="http://schemas.microsoft.com/office/drawing/2010/main" val="0"/>
              </a:ext>
            </a:extLst>
          </a:blip>
          <a:srcRect l="16666" r="16666"/>
          <a:stretch/>
        </p:blipFill>
        <p:spPr bwMode="auto">
          <a:xfrm>
            <a:off x="5346580" y="2121211"/>
            <a:ext cx="341628" cy="341628"/>
          </a:xfrm>
          <a:prstGeom prst="ellipse">
            <a:avLst/>
          </a:prstGeom>
          <a:grpFill/>
          <a:ln w="19050">
            <a:gradFill flip="none" rotWithShape="1">
              <a:gsLst>
                <a:gs pos="0">
                  <a:schemeClr val="accent5">
                    <a:lumMod val="50000"/>
                  </a:schemeClr>
                </a:gs>
                <a:gs pos="100000">
                  <a:schemeClr val="accent5"/>
                </a:gs>
              </a:gsLst>
              <a:lin ang="2700000" scaled="1"/>
              <a:tileRect/>
            </a:gradFill>
          </a:ln>
        </p:spPr>
      </p:pic>
      <p:pic>
        <p:nvPicPr>
          <p:cNvPr id="18" name="Picture 13">
            <a:extLst>
              <a:ext uri="{FF2B5EF4-FFF2-40B4-BE49-F238E27FC236}">
                <a16:creationId xmlns:a16="http://schemas.microsoft.com/office/drawing/2014/main" id="{051D011C-784A-43D4-ACBE-A5C5DCA73BEC}"/>
              </a:ext>
            </a:extLst>
          </p:cNvPr>
          <p:cNvPicPr>
            <a:picLocks noChangeAspect="1" noChangeArrowheads="1"/>
          </p:cNvPicPr>
          <p:nvPr/>
        </p:nvPicPr>
        <p:blipFill rotWithShape="1">
          <a:blip r:embed="rId8">
            <a:extLst>
              <a:ext uri="{28A0092B-C50C-407E-A947-70E740481C1C}">
                <a14:useLocalDpi xmlns:a14="http://schemas.microsoft.com/office/drawing/2010/main" val="0"/>
              </a:ext>
            </a:extLst>
          </a:blip>
          <a:srcRect l="16694" r="16693"/>
          <a:stretch/>
        </p:blipFill>
        <p:spPr bwMode="auto">
          <a:xfrm>
            <a:off x="5346580" y="2634402"/>
            <a:ext cx="341628" cy="341628"/>
          </a:xfrm>
          <a:prstGeom prst="ellipse">
            <a:avLst/>
          </a:prstGeom>
          <a:grpFill/>
          <a:ln w="19050">
            <a:gradFill flip="none" rotWithShape="1">
              <a:gsLst>
                <a:gs pos="0">
                  <a:schemeClr val="accent5">
                    <a:lumMod val="50000"/>
                  </a:schemeClr>
                </a:gs>
                <a:gs pos="100000">
                  <a:schemeClr val="accent5"/>
                </a:gs>
              </a:gsLst>
              <a:lin ang="2700000" scaled="1"/>
              <a:tileRect/>
            </a:gradFill>
          </a:ln>
        </p:spPr>
      </p:pic>
      <p:pic>
        <p:nvPicPr>
          <p:cNvPr id="19" name="Picture 16">
            <a:extLst>
              <a:ext uri="{FF2B5EF4-FFF2-40B4-BE49-F238E27FC236}">
                <a16:creationId xmlns:a16="http://schemas.microsoft.com/office/drawing/2014/main" id="{26B81970-2DEB-43EE-A2C0-B37F8C5A25C1}"/>
              </a:ext>
            </a:extLst>
          </p:cNvPr>
          <p:cNvPicPr>
            <a:picLocks noChangeAspect="1" noChangeArrowheads="1"/>
          </p:cNvPicPr>
          <p:nvPr/>
        </p:nvPicPr>
        <p:blipFill rotWithShape="1">
          <a:blip r:embed="rId9">
            <a:extLst>
              <a:ext uri="{28A0092B-C50C-407E-A947-70E740481C1C}">
                <a14:useLocalDpi xmlns:a14="http://schemas.microsoft.com/office/drawing/2010/main" val="0"/>
              </a:ext>
            </a:extLst>
          </a:blip>
          <a:srcRect l="13174" r="13174"/>
          <a:stretch/>
        </p:blipFill>
        <p:spPr bwMode="auto">
          <a:xfrm>
            <a:off x="5346580" y="3166758"/>
            <a:ext cx="341628" cy="341628"/>
          </a:xfrm>
          <a:prstGeom prst="ellipse">
            <a:avLst/>
          </a:prstGeom>
          <a:grpFill/>
          <a:ln w="19050">
            <a:gradFill flip="none" rotWithShape="1">
              <a:gsLst>
                <a:gs pos="0">
                  <a:schemeClr val="accent5">
                    <a:lumMod val="50000"/>
                  </a:schemeClr>
                </a:gs>
                <a:gs pos="100000">
                  <a:schemeClr val="accent5"/>
                </a:gs>
              </a:gsLst>
              <a:lin ang="2700000" scaled="1"/>
              <a:tileRect/>
            </a:gradFill>
          </a:ln>
        </p:spPr>
      </p:pic>
      <p:pic>
        <p:nvPicPr>
          <p:cNvPr id="20" name="Picture 19">
            <a:extLst>
              <a:ext uri="{FF2B5EF4-FFF2-40B4-BE49-F238E27FC236}">
                <a16:creationId xmlns:a16="http://schemas.microsoft.com/office/drawing/2014/main" id="{F2EDD7E8-8D51-4662-AEF5-40C3EBDCD14F}"/>
              </a:ext>
            </a:extLst>
          </p:cNvPr>
          <p:cNvPicPr>
            <a:picLocks noChangeAspect="1" noChangeArrowheads="1"/>
          </p:cNvPicPr>
          <p:nvPr/>
        </p:nvPicPr>
        <p:blipFill rotWithShape="1">
          <a:blip r:embed="rId10">
            <a:extLst>
              <a:ext uri="{28A0092B-C50C-407E-A947-70E740481C1C}">
                <a14:useLocalDpi xmlns:a14="http://schemas.microsoft.com/office/drawing/2010/main" val="0"/>
              </a:ext>
            </a:extLst>
          </a:blip>
          <a:srcRect l="47958" t="12363" r="8455" b="16427"/>
          <a:stretch/>
        </p:blipFill>
        <p:spPr bwMode="auto">
          <a:xfrm>
            <a:off x="5346580" y="3766365"/>
            <a:ext cx="341628" cy="341628"/>
          </a:xfrm>
          <a:prstGeom prst="ellipse">
            <a:avLst/>
          </a:prstGeom>
          <a:grpFill/>
          <a:ln w="19050">
            <a:gradFill flip="none" rotWithShape="1">
              <a:gsLst>
                <a:gs pos="0">
                  <a:schemeClr val="accent5">
                    <a:lumMod val="50000"/>
                  </a:schemeClr>
                </a:gs>
                <a:gs pos="100000">
                  <a:schemeClr val="accent5"/>
                </a:gs>
              </a:gsLst>
              <a:lin ang="2700000" scaled="1"/>
              <a:tileRect/>
            </a:gradFill>
          </a:ln>
        </p:spPr>
      </p:pic>
      <p:pic>
        <p:nvPicPr>
          <p:cNvPr id="21" name="Picture 21">
            <a:extLst>
              <a:ext uri="{FF2B5EF4-FFF2-40B4-BE49-F238E27FC236}">
                <a16:creationId xmlns:a16="http://schemas.microsoft.com/office/drawing/2014/main" id="{D4EB7B32-5DDD-4F0B-BD93-A095F3F0B9E0}"/>
              </a:ext>
            </a:extLst>
          </p:cNvPr>
          <p:cNvPicPr>
            <a:picLocks noChangeAspect="1" noChangeArrowheads="1"/>
          </p:cNvPicPr>
          <p:nvPr/>
        </p:nvPicPr>
        <p:blipFill rotWithShape="1">
          <a:blip r:embed="rId11">
            <a:extLst>
              <a:ext uri="{28A0092B-C50C-407E-A947-70E740481C1C}">
                <a14:useLocalDpi xmlns:a14="http://schemas.microsoft.com/office/drawing/2010/main" val="0"/>
              </a:ext>
            </a:extLst>
          </a:blip>
          <a:srcRect l="14300" r="14300"/>
          <a:stretch/>
        </p:blipFill>
        <p:spPr bwMode="auto">
          <a:xfrm>
            <a:off x="5346580" y="4450392"/>
            <a:ext cx="341628" cy="341628"/>
          </a:xfrm>
          <a:prstGeom prst="ellipse">
            <a:avLst/>
          </a:prstGeom>
          <a:grpFill/>
          <a:ln w="19050">
            <a:gradFill flip="none" rotWithShape="1">
              <a:gsLst>
                <a:gs pos="0">
                  <a:schemeClr val="accent5">
                    <a:lumMod val="50000"/>
                  </a:schemeClr>
                </a:gs>
                <a:gs pos="100000">
                  <a:schemeClr val="accent5"/>
                </a:gs>
              </a:gsLst>
              <a:lin ang="2700000" scaled="1"/>
              <a:tileRect/>
            </a:gradFill>
          </a:ln>
        </p:spPr>
      </p:pic>
      <p:pic>
        <p:nvPicPr>
          <p:cNvPr id="22" name="Picture 24">
            <a:extLst>
              <a:ext uri="{FF2B5EF4-FFF2-40B4-BE49-F238E27FC236}">
                <a16:creationId xmlns:a16="http://schemas.microsoft.com/office/drawing/2014/main" id="{0BC4CCDD-B596-4A71-BCA8-2D02167044E2}"/>
              </a:ext>
            </a:extLst>
          </p:cNvPr>
          <p:cNvPicPr>
            <a:picLocks noChangeAspect="1" noChangeArrowheads="1"/>
          </p:cNvPicPr>
          <p:nvPr/>
        </p:nvPicPr>
        <p:blipFill rotWithShape="1">
          <a:blip r:embed="rId12">
            <a:extLst>
              <a:ext uri="{28A0092B-C50C-407E-A947-70E740481C1C}">
                <a14:useLocalDpi xmlns:a14="http://schemas.microsoft.com/office/drawing/2010/main" val="0"/>
              </a:ext>
            </a:extLst>
          </a:blip>
          <a:srcRect l="16650" r="16650"/>
          <a:stretch/>
        </p:blipFill>
        <p:spPr bwMode="auto">
          <a:xfrm>
            <a:off x="5346579" y="5126189"/>
            <a:ext cx="341628" cy="341628"/>
          </a:xfrm>
          <a:prstGeom prst="ellipse">
            <a:avLst/>
          </a:prstGeom>
          <a:grpFill/>
          <a:ln w="19050">
            <a:gradFill flip="none" rotWithShape="1">
              <a:gsLst>
                <a:gs pos="0">
                  <a:schemeClr val="accent5">
                    <a:lumMod val="50000"/>
                  </a:schemeClr>
                </a:gs>
                <a:gs pos="100000">
                  <a:schemeClr val="accent5"/>
                </a:gs>
              </a:gsLst>
              <a:lin ang="2700000" scaled="1"/>
              <a:tileRect/>
            </a:gradFill>
          </a:ln>
        </p:spPr>
      </p:pic>
      <p:pic>
        <p:nvPicPr>
          <p:cNvPr id="23" name="Picture 26">
            <a:extLst>
              <a:ext uri="{FF2B5EF4-FFF2-40B4-BE49-F238E27FC236}">
                <a16:creationId xmlns:a16="http://schemas.microsoft.com/office/drawing/2014/main" id="{D44FD5B3-E44F-46F5-9484-CC01784C07A3}"/>
              </a:ext>
            </a:extLst>
          </p:cNvPr>
          <p:cNvPicPr>
            <a:picLocks noChangeAspect="1" noChangeArrowheads="1"/>
          </p:cNvPicPr>
          <p:nvPr/>
        </p:nvPicPr>
        <p:blipFill rotWithShape="1">
          <a:blip r:embed="rId13">
            <a:extLst>
              <a:ext uri="{28A0092B-C50C-407E-A947-70E740481C1C}">
                <a14:useLocalDpi xmlns:a14="http://schemas.microsoft.com/office/drawing/2010/main" val="0"/>
              </a:ext>
            </a:extLst>
          </a:blip>
          <a:srcRect l="30133" r="19801"/>
          <a:stretch/>
        </p:blipFill>
        <p:spPr bwMode="auto">
          <a:xfrm>
            <a:off x="5346578" y="5756857"/>
            <a:ext cx="341628" cy="341628"/>
          </a:xfrm>
          <a:prstGeom prst="ellipse">
            <a:avLst/>
          </a:prstGeom>
          <a:grpFill/>
          <a:ln w="19050">
            <a:gradFill flip="none" rotWithShape="1">
              <a:gsLst>
                <a:gs pos="0">
                  <a:schemeClr val="accent5">
                    <a:lumMod val="50000"/>
                  </a:schemeClr>
                </a:gs>
                <a:gs pos="100000">
                  <a:schemeClr val="accent5"/>
                </a:gs>
              </a:gsLst>
              <a:lin ang="2700000" scaled="1"/>
              <a:tileRect/>
            </a:gradFill>
          </a:ln>
        </p:spPr>
      </p:pic>
      <p:pic>
        <p:nvPicPr>
          <p:cNvPr id="24" name="Picture 29">
            <a:extLst>
              <a:ext uri="{FF2B5EF4-FFF2-40B4-BE49-F238E27FC236}">
                <a16:creationId xmlns:a16="http://schemas.microsoft.com/office/drawing/2014/main" id="{C9F44164-5802-4FF1-B9E3-7A55108069FB}"/>
              </a:ext>
            </a:extLst>
          </p:cNvPr>
          <p:cNvPicPr>
            <a:picLocks noChangeAspect="1" noChangeArrowheads="1"/>
          </p:cNvPicPr>
          <p:nvPr/>
        </p:nvPicPr>
        <p:blipFill rotWithShape="1">
          <a:blip r:embed="rId14">
            <a:extLst>
              <a:ext uri="{28A0092B-C50C-407E-A947-70E740481C1C}">
                <a14:useLocalDpi xmlns:a14="http://schemas.microsoft.com/office/drawing/2010/main" val="0"/>
              </a:ext>
            </a:extLst>
          </a:blip>
          <a:srcRect l="16666" r="16666"/>
          <a:stretch/>
        </p:blipFill>
        <p:spPr bwMode="auto">
          <a:xfrm>
            <a:off x="8220505" y="2121211"/>
            <a:ext cx="341628" cy="341628"/>
          </a:xfrm>
          <a:prstGeom prst="ellipse">
            <a:avLst/>
          </a:prstGeom>
          <a:grpFill/>
          <a:ln w="19050">
            <a:gradFill flip="none" rotWithShape="1">
              <a:gsLst>
                <a:gs pos="0">
                  <a:schemeClr val="accent2"/>
                </a:gs>
                <a:gs pos="100000">
                  <a:schemeClr val="tx2"/>
                </a:gs>
              </a:gsLst>
              <a:lin ang="2700000" scaled="1"/>
              <a:tileRect/>
            </a:gradFill>
          </a:ln>
        </p:spPr>
      </p:pic>
      <p:pic>
        <p:nvPicPr>
          <p:cNvPr id="25" name="Picture 24">
            <a:extLst>
              <a:ext uri="{FF2B5EF4-FFF2-40B4-BE49-F238E27FC236}">
                <a16:creationId xmlns:a16="http://schemas.microsoft.com/office/drawing/2014/main" id="{843ACE9A-3564-415B-9BFB-1C0007F8B6BA}"/>
              </a:ext>
            </a:extLst>
          </p:cNvPr>
          <p:cNvPicPr>
            <a:picLocks noChangeAspect="1" noChangeArrowheads="1"/>
          </p:cNvPicPr>
          <p:nvPr/>
        </p:nvPicPr>
        <p:blipFill rotWithShape="1">
          <a:blip r:embed="rId15">
            <a:extLst>
              <a:ext uri="{28A0092B-C50C-407E-A947-70E740481C1C}">
                <a14:useLocalDpi xmlns:a14="http://schemas.microsoft.com/office/drawing/2010/main" val="0"/>
              </a:ext>
            </a:extLst>
          </a:blip>
          <a:srcRect l="26465" r="26466"/>
          <a:stretch/>
        </p:blipFill>
        <p:spPr bwMode="auto">
          <a:xfrm>
            <a:off x="8220505" y="2675862"/>
            <a:ext cx="341628" cy="341628"/>
          </a:xfrm>
          <a:prstGeom prst="ellipse">
            <a:avLst/>
          </a:prstGeom>
          <a:grpFill/>
          <a:ln w="19050">
            <a:gradFill flip="none" rotWithShape="1">
              <a:gsLst>
                <a:gs pos="0">
                  <a:schemeClr val="accent2"/>
                </a:gs>
                <a:gs pos="100000">
                  <a:schemeClr val="tx2"/>
                </a:gs>
              </a:gsLst>
              <a:lin ang="2700000" scaled="1"/>
              <a:tileRect/>
            </a:gradFill>
          </a:ln>
        </p:spPr>
      </p:pic>
      <p:pic>
        <p:nvPicPr>
          <p:cNvPr id="26" name="Picture 33">
            <a:extLst>
              <a:ext uri="{FF2B5EF4-FFF2-40B4-BE49-F238E27FC236}">
                <a16:creationId xmlns:a16="http://schemas.microsoft.com/office/drawing/2014/main" id="{71789DD0-29CE-4446-9818-3E20A36A5C2F}"/>
              </a:ext>
            </a:extLst>
          </p:cNvPr>
          <p:cNvPicPr>
            <a:picLocks noChangeAspect="1" noChangeArrowheads="1"/>
          </p:cNvPicPr>
          <p:nvPr/>
        </p:nvPicPr>
        <p:blipFill rotWithShape="1">
          <a:blip r:embed="rId16">
            <a:extLst>
              <a:ext uri="{28A0092B-C50C-407E-A947-70E740481C1C}">
                <a14:useLocalDpi xmlns:a14="http://schemas.microsoft.com/office/drawing/2010/main" val="0"/>
              </a:ext>
            </a:extLst>
          </a:blip>
          <a:srcRect l="16651" r="16651"/>
          <a:stretch/>
        </p:blipFill>
        <p:spPr bwMode="auto">
          <a:xfrm>
            <a:off x="8220505" y="3821063"/>
            <a:ext cx="341628" cy="341628"/>
          </a:xfrm>
          <a:prstGeom prst="ellipse">
            <a:avLst/>
          </a:prstGeom>
          <a:grpFill/>
          <a:ln w="19050">
            <a:gradFill flip="none" rotWithShape="1">
              <a:gsLst>
                <a:gs pos="0">
                  <a:schemeClr val="accent2"/>
                </a:gs>
                <a:gs pos="100000">
                  <a:schemeClr val="tx2"/>
                </a:gs>
              </a:gsLst>
              <a:lin ang="2700000" scaled="1"/>
              <a:tileRect/>
            </a:gradFill>
          </a:ln>
        </p:spPr>
      </p:pic>
      <p:pic>
        <p:nvPicPr>
          <p:cNvPr id="27" name="Picture 36">
            <a:extLst>
              <a:ext uri="{FF2B5EF4-FFF2-40B4-BE49-F238E27FC236}">
                <a16:creationId xmlns:a16="http://schemas.microsoft.com/office/drawing/2014/main" id="{A0504FB7-811E-402B-BF01-4E1DD54ACDDE}"/>
              </a:ext>
            </a:extLst>
          </p:cNvPr>
          <p:cNvPicPr>
            <a:picLocks noChangeAspect="1" noChangeArrowheads="1"/>
          </p:cNvPicPr>
          <p:nvPr/>
        </p:nvPicPr>
        <p:blipFill rotWithShape="1">
          <a:blip r:embed="rId17">
            <a:extLst>
              <a:ext uri="{28A0092B-C50C-407E-A947-70E740481C1C}">
                <a14:useLocalDpi xmlns:a14="http://schemas.microsoft.com/office/drawing/2010/main" val="0"/>
              </a:ext>
            </a:extLst>
          </a:blip>
          <a:srcRect l="25786" r="7546"/>
          <a:stretch/>
        </p:blipFill>
        <p:spPr bwMode="auto">
          <a:xfrm>
            <a:off x="8220505" y="4470964"/>
            <a:ext cx="341628" cy="341628"/>
          </a:xfrm>
          <a:prstGeom prst="ellipse">
            <a:avLst/>
          </a:prstGeom>
          <a:grpFill/>
          <a:ln w="19050">
            <a:gradFill flip="none" rotWithShape="1">
              <a:gsLst>
                <a:gs pos="0">
                  <a:schemeClr val="accent2"/>
                </a:gs>
                <a:gs pos="100000">
                  <a:schemeClr val="tx2"/>
                </a:gs>
              </a:gsLst>
              <a:lin ang="2700000" scaled="1"/>
              <a:tileRect/>
            </a:gradFill>
          </a:ln>
        </p:spPr>
      </p:pic>
      <p:pic>
        <p:nvPicPr>
          <p:cNvPr id="28" name="Picture 38">
            <a:extLst>
              <a:ext uri="{FF2B5EF4-FFF2-40B4-BE49-F238E27FC236}">
                <a16:creationId xmlns:a16="http://schemas.microsoft.com/office/drawing/2014/main" id="{39052881-C80F-407F-8D18-A531B3E6A67E}"/>
              </a:ext>
            </a:extLst>
          </p:cNvPr>
          <p:cNvPicPr>
            <a:picLocks noChangeAspect="1" noChangeArrowheads="1"/>
          </p:cNvPicPr>
          <p:nvPr/>
        </p:nvPicPr>
        <p:blipFill rotWithShape="1">
          <a:blip r:embed="rId18">
            <a:extLst>
              <a:ext uri="{28A0092B-C50C-407E-A947-70E740481C1C}">
                <a14:useLocalDpi xmlns:a14="http://schemas.microsoft.com/office/drawing/2010/main" val="0"/>
              </a:ext>
            </a:extLst>
          </a:blip>
          <a:srcRect l="17447" r="17445"/>
          <a:stretch/>
        </p:blipFill>
        <p:spPr bwMode="auto">
          <a:xfrm>
            <a:off x="8220505" y="5120865"/>
            <a:ext cx="341628" cy="341628"/>
          </a:xfrm>
          <a:prstGeom prst="ellipse">
            <a:avLst/>
          </a:prstGeom>
          <a:grpFill/>
          <a:ln w="19050">
            <a:gradFill flip="none" rotWithShape="1">
              <a:gsLst>
                <a:gs pos="0">
                  <a:schemeClr val="accent2"/>
                </a:gs>
                <a:gs pos="100000">
                  <a:schemeClr val="tx2"/>
                </a:gs>
              </a:gsLst>
              <a:lin ang="2700000" scaled="1"/>
              <a:tileRect/>
            </a:gradFill>
          </a:ln>
        </p:spPr>
      </p:pic>
      <p:pic>
        <p:nvPicPr>
          <p:cNvPr id="29" name="Picture 41">
            <a:extLst>
              <a:ext uri="{FF2B5EF4-FFF2-40B4-BE49-F238E27FC236}">
                <a16:creationId xmlns:a16="http://schemas.microsoft.com/office/drawing/2014/main" id="{1D36956B-CF03-4ED7-80C7-26ABE24DD8A9}"/>
              </a:ext>
            </a:extLst>
          </p:cNvPr>
          <p:cNvPicPr>
            <a:picLocks noChangeAspect="1" noChangeArrowheads="1"/>
          </p:cNvPicPr>
          <p:nvPr/>
        </p:nvPicPr>
        <p:blipFill rotWithShape="1">
          <a:blip r:embed="rId19">
            <a:extLst>
              <a:ext uri="{28A0092B-C50C-407E-A947-70E740481C1C}">
                <a14:useLocalDpi xmlns:a14="http://schemas.microsoft.com/office/drawing/2010/main" val="0"/>
              </a:ext>
            </a:extLst>
          </a:blip>
          <a:srcRect l="23871" r="23871"/>
          <a:stretch/>
        </p:blipFill>
        <p:spPr bwMode="auto">
          <a:xfrm>
            <a:off x="8220505" y="5770765"/>
            <a:ext cx="341628" cy="341628"/>
          </a:xfrm>
          <a:prstGeom prst="ellipse">
            <a:avLst/>
          </a:prstGeom>
          <a:grpFill/>
          <a:ln w="19050">
            <a:gradFill flip="none" rotWithShape="1">
              <a:gsLst>
                <a:gs pos="0">
                  <a:schemeClr val="accent2"/>
                </a:gs>
                <a:gs pos="100000">
                  <a:schemeClr val="tx2"/>
                </a:gs>
              </a:gsLst>
              <a:lin ang="2700000" scaled="1"/>
              <a:tileRect/>
            </a:gradFill>
          </a:ln>
        </p:spPr>
      </p:pic>
      <p:pic>
        <p:nvPicPr>
          <p:cNvPr id="30" name="Picture 24">
            <a:extLst>
              <a:ext uri="{FF2B5EF4-FFF2-40B4-BE49-F238E27FC236}">
                <a16:creationId xmlns:a16="http://schemas.microsoft.com/office/drawing/2014/main" id="{7A4D9082-1F80-4D4D-9E7F-80D57FBC0E06}"/>
              </a:ext>
            </a:extLst>
          </p:cNvPr>
          <p:cNvPicPr>
            <a:picLocks noChangeAspect="1" noChangeArrowheads="1"/>
          </p:cNvPicPr>
          <p:nvPr/>
        </p:nvPicPr>
        <p:blipFill rotWithShape="1">
          <a:blip r:embed="rId12">
            <a:extLst>
              <a:ext uri="{28A0092B-C50C-407E-A947-70E740481C1C}">
                <a14:useLocalDpi xmlns:a14="http://schemas.microsoft.com/office/drawing/2010/main" val="0"/>
              </a:ext>
            </a:extLst>
          </a:blip>
          <a:srcRect l="16650" r="16650"/>
          <a:stretch/>
        </p:blipFill>
        <p:spPr bwMode="auto">
          <a:xfrm>
            <a:off x="11094432" y="2121211"/>
            <a:ext cx="341628" cy="341628"/>
          </a:xfrm>
          <a:prstGeom prst="ellipse">
            <a:avLst/>
          </a:prstGeom>
          <a:grpFill/>
          <a:ln w="19050">
            <a:solidFill>
              <a:schemeClr val="accent1"/>
            </a:solidFill>
          </a:ln>
        </p:spPr>
      </p:pic>
      <p:pic>
        <p:nvPicPr>
          <p:cNvPr id="31" name="Picture 41">
            <a:extLst>
              <a:ext uri="{FF2B5EF4-FFF2-40B4-BE49-F238E27FC236}">
                <a16:creationId xmlns:a16="http://schemas.microsoft.com/office/drawing/2014/main" id="{24B2A655-D886-40D0-A0BB-26423F6D3D6F}"/>
              </a:ext>
            </a:extLst>
          </p:cNvPr>
          <p:cNvPicPr>
            <a:picLocks noChangeAspect="1" noChangeArrowheads="1"/>
          </p:cNvPicPr>
          <p:nvPr/>
        </p:nvPicPr>
        <p:blipFill rotWithShape="1">
          <a:blip r:embed="rId19">
            <a:extLst>
              <a:ext uri="{28A0092B-C50C-407E-A947-70E740481C1C}">
                <a14:useLocalDpi xmlns:a14="http://schemas.microsoft.com/office/drawing/2010/main" val="0"/>
              </a:ext>
            </a:extLst>
          </a:blip>
          <a:srcRect l="23871" r="23871"/>
          <a:stretch/>
        </p:blipFill>
        <p:spPr bwMode="auto">
          <a:xfrm>
            <a:off x="11094432" y="3128793"/>
            <a:ext cx="341628" cy="341628"/>
          </a:xfrm>
          <a:prstGeom prst="ellipse">
            <a:avLst/>
          </a:prstGeom>
          <a:grpFill/>
          <a:ln w="19050">
            <a:solidFill>
              <a:schemeClr val="accent1"/>
            </a:solidFill>
          </a:ln>
        </p:spPr>
      </p:pic>
      <p:pic>
        <p:nvPicPr>
          <p:cNvPr id="32" name="Picture 26">
            <a:extLst>
              <a:ext uri="{FF2B5EF4-FFF2-40B4-BE49-F238E27FC236}">
                <a16:creationId xmlns:a16="http://schemas.microsoft.com/office/drawing/2014/main" id="{1CECCBBD-9CA5-4029-8E0C-D9E98CF0355A}"/>
              </a:ext>
            </a:extLst>
          </p:cNvPr>
          <p:cNvPicPr>
            <a:picLocks noChangeAspect="1" noChangeArrowheads="1"/>
          </p:cNvPicPr>
          <p:nvPr/>
        </p:nvPicPr>
        <p:blipFill rotWithShape="1">
          <a:blip r:embed="rId13">
            <a:extLst>
              <a:ext uri="{28A0092B-C50C-407E-A947-70E740481C1C}">
                <a14:useLocalDpi xmlns:a14="http://schemas.microsoft.com/office/drawing/2010/main" val="0"/>
              </a:ext>
            </a:extLst>
          </a:blip>
          <a:srcRect l="30133" r="19801"/>
          <a:stretch/>
        </p:blipFill>
        <p:spPr bwMode="auto">
          <a:xfrm>
            <a:off x="11094432" y="4833543"/>
            <a:ext cx="341628" cy="341628"/>
          </a:xfrm>
          <a:prstGeom prst="ellipse">
            <a:avLst/>
          </a:prstGeom>
          <a:grpFill/>
          <a:ln w="19050">
            <a:solidFill>
              <a:schemeClr val="accent1"/>
            </a:solidFill>
          </a:ln>
        </p:spPr>
      </p:pic>
      <p:pic>
        <p:nvPicPr>
          <p:cNvPr id="33" name="Picture 44">
            <a:extLst>
              <a:ext uri="{FF2B5EF4-FFF2-40B4-BE49-F238E27FC236}">
                <a16:creationId xmlns:a16="http://schemas.microsoft.com/office/drawing/2014/main" id="{54190141-3CD2-4E5F-B0E4-9DF275713F3F}"/>
              </a:ext>
            </a:extLst>
          </p:cNvPr>
          <p:cNvPicPr>
            <a:picLocks noChangeAspect="1" noChangeArrowheads="1"/>
          </p:cNvPicPr>
          <p:nvPr/>
        </p:nvPicPr>
        <p:blipFill rotWithShape="1">
          <a:blip r:embed="rId20">
            <a:extLst>
              <a:ext uri="{28A0092B-C50C-407E-A947-70E740481C1C}">
                <a14:useLocalDpi xmlns:a14="http://schemas.microsoft.com/office/drawing/2010/main" val="0"/>
              </a:ext>
            </a:extLst>
          </a:blip>
          <a:srcRect/>
          <a:stretch/>
        </p:blipFill>
        <p:spPr bwMode="auto">
          <a:xfrm>
            <a:off x="11094432" y="3978845"/>
            <a:ext cx="341628" cy="341628"/>
          </a:xfrm>
          <a:prstGeom prst="ellipse">
            <a:avLst/>
          </a:prstGeom>
          <a:grpFill/>
          <a:ln w="19050">
            <a:solidFill>
              <a:schemeClr val="accent1"/>
            </a:solidFill>
          </a:ln>
        </p:spPr>
      </p:pic>
      <p:grpSp>
        <p:nvGrpSpPr>
          <p:cNvPr id="36" name="Group 35">
            <a:extLst>
              <a:ext uri="{FF2B5EF4-FFF2-40B4-BE49-F238E27FC236}">
                <a16:creationId xmlns:a16="http://schemas.microsoft.com/office/drawing/2014/main" id="{EABA28A4-2C3E-4CC1-A1FD-1B247CD5548A}"/>
              </a:ext>
            </a:extLst>
          </p:cNvPr>
          <p:cNvGrpSpPr/>
          <p:nvPr/>
        </p:nvGrpSpPr>
        <p:grpSpPr>
          <a:xfrm>
            <a:off x="637914" y="1904272"/>
            <a:ext cx="1993526" cy="4041652"/>
            <a:chOff x="648074" y="1355632"/>
            <a:chExt cx="2095126" cy="4041652"/>
          </a:xfrm>
        </p:grpSpPr>
        <p:sp>
          <p:nvSpPr>
            <p:cNvPr id="34" name="TextBox 33">
              <a:extLst>
                <a:ext uri="{FF2B5EF4-FFF2-40B4-BE49-F238E27FC236}">
                  <a16:creationId xmlns:a16="http://schemas.microsoft.com/office/drawing/2014/main" id="{57382862-81F3-4D91-9C5D-89203E782DC4}"/>
                </a:ext>
              </a:extLst>
            </p:cNvPr>
            <p:cNvSpPr txBox="1"/>
            <p:nvPr/>
          </p:nvSpPr>
          <p:spPr>
            <a:xfrm>
              <a:off x="648074" y="1355632"/>
              <a:ext cx="2095126" cy="95410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1400">
                  <a:solidFill>
                    <a:schemeClr val="tx2"/>
                  </a:solidFill>
                </a:rPr>
                <a:t>Key variables impacting </a:t>
              </a:r>
              <a:r>
                <a:rPr lang="en-US" sz="1400" err="1">
                  <a:solidFill>
                    <a:schemeClr val="tx2"/>
                  </a:solidFill>
                </a:rPr>
                <a:t>AuM</a:t>
              </a:r>
              <a:r>
                <a:rPr lang="en-US" sz="1400">
                  <a:solidFill>
                    <a:schemeClr val="tx2"/>
                  </a:solidFill>
                </a:rPr>
                <a:t> used for customer profiling</a:t>
              </a:r>
              <a:r>
                <a:rPr lang="en-US" sz="1400" baseline="30000">
                  <a:solidFill>
                    <a:schemeClr val="tx2"/>
                  </a:solidFill>
                </a:rPr>
                <a:t>1:</a:t>
              </a:r>
              <a:endParaRPr lang="en-US" sz="1400">
                <a:solidFill>
                  <a:schemeClr val="tx1"/>
                </a:solidFill>
              </a:endParaRPr>
            </a:p>
          </p:txBody>
        </p:sp>
        <p:sp>
          <p:nvSpPr>
            <p:cNvPr id="35" name="TextBox 34">
              <a:extLst>
                <a:ext uri="{FF2B5EF4-FFF2-40B4-BE49-F238E27FC236}">
                  <a16:creationId xmlns:a16="http://schemas.microsoft.com/office/drawing/2014/main" id="{09FE9BB0-C60F-4FFC-A933-7BFCF483151D}"/>
                </a:ext>
              </a:extLst>
            </p:cNvPr>
            <p:cNvSpPr txBox="1"/>
            <p:nvPr/>
          </p:nvSpPr>
          <p:spPr>
            <a:xfrm>
              <a:off x="648074" y="2350296"/>
              <a:ext cx="2095126" cy="3046988"/>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342900" indent="-342900">
                <a:buFont typeface="+mj-lt"/>
                <a:buAutoNum type="arabicPeriod"/>
              </a:pPr>
              <a:r>
                <a:rPr lang="en-US" sz="1200">
                  <a:solidFill>
                    <a:schemeClr val="tx1"/>
                  </a:solidFill>
                </a:rPr>
                <a:t>CASA Transaction Size</a:t>
              </a:r>
            </a:p>
            <a:p>
              <a:pPr marL="342900" indent="-342900">
                <a:buFont typeface="+mj-lt"/>
                <a:buAutoNum type="arabicPeriod"/>
              </a:pPr>
              <a:r>
                <a:rPr lang="en-US" sz="1200">
                  <a:solidFill>
                    <a:schemeClr val="tx1"/>
                  </a:solidFill>
                </a:rPr>
                <a:t>Monthly Cash Inflow</a:t>
              </a:r>
            </a:p>
            <a:p>
              <a:pPr marL="342900" indent="-342900">
                <a:buFont typeface="+mj-lt"/>
                <a:buAutoNum type="arabicPeriod"/>
              </a:pPr>
              <a:r>
                <a:rPr lang="en-US" sz="1200">
                  <a:solidFill>
                    <a:schemeClr val="tx1"/>
                  </a:solidFill>
                </a:rPr>
                <a:t>Credit card limit</a:t>
              </a:r>
            </a:p>
            <a:p>
              <a:pPr marL="342900" indent="-342900">
                <a:buFont typeface="+mj-lt"/>
                <a:buAutoNum type="arabicPeriod"/>
              </a:pPr>
              <a:r>
                <a:rPr lang="en-US" sz="1200">
                  <a:solidFill>
                    <a:schemeClr val="tx1"/>
                  </a:solidFill>
                </a:rPr>
                <a:t>Reported Income</a:t>
              </a:r>
            </a:p>
            <a:p>
              <a:pPr marL="342900" indent="-342900">
                <a:buFont typeface="+mj-lt"/>
                <a:buAutoNum type="arabicPeriod"/>
              </a:pPr>
              <a:r>
                <a:rPr lang="en-US" sz="1200">
                  <a:solidFill>
                    <a:schemeClr val="tx1"/>
                  </a:solidFill>
                </a:rPr>
                <a:t>Credit card bills</a:t>
              </a:r>
            </a:p>
            <a:p>
              <a:pPr marL="342900" indent="-342900">
                <a:buFont typeface="+mj-lt"/>
                <a:buAutoNum type="arabicPeriod"/>
              </a:pPr>
              <a:r>
                <a:rPr lang="en-US" sz="1200">
                  <a:solidFill>
                    <a:schemeClr val="tx1"/>
                  </a:solidFill>
                </a:rPr>
                <a:t>Age</a:t>
              </a:r>
            </a:p>
            <a:p>
              <a:pPr marL="342900" indent="-342900">
                <a:buFont typeface="+mj-lt"/>
                <a:buAutoNum type="arabicPeriod"/>
              </a:pPr>
              <a:r>
                <a:rPr lang="en-US" sz="1200">
                  <a:solidFill>
                    <a:schemeClr val="tx1"/>
                  </a:solidFill>
                </a:rPr>
                <a:t>Total monthly bills and subscriptions</a:t>
              </a:r>
            </a:p>
            <a:p>
              <a:pPr marL="342900" indent="-342900">
                <a:buFont typeface="+mj-lt"/>
                <a:buAutoNum type="arabicPeriod"/>
              </a:pPr>
              <a:r>
                <a:rPr lang="en-US" sz="1200">
                  <a:solidFill>
                    <a:schemeClr val="tx1"/>
                  </a:solidFill>
                </a:rPr>
                <a:t>Expenses across Hospital, Supermarket, Restaurants</a:t>
              </a:r>
            </a:p>
            <a:p>
              <a:pPr marL="342900" indent="-342900">
                <a:buFont typeface="+mj-lt"/>
                <a:buAutoNum type="arabicPeriod"/>
              </a:pPr>
              <a:r>
                <a:rPr lang="en-US" sz="1200">
                  <a:solidFill>
                    <a:schemeClr val="tx1"/>
                  </a:solidFill>
                </a:rPr>
                <a:t>Credit card penetration</a:t>
              </a:r>
            </a:p>
            <a:p>
              <a:pPr marL="342900" indent="-342900">
                <a:buFont typeface="+mj-lt"/>
                <a:buAutoNum type="arabicPeriod"/>
              </a:pPr>
              <a:r>
                <a:rPr lang="en-US" sz="1200">
                  <a:solidFill>
                    <a:schemeClr val="tx1"/>
                  </a:solidFill>
                </a:rPr>
                <a:t>Purchasing Power </a:t>
              </a:r>
              <a:br>
                <a:rPr lang="en-US" sz="1200">
                  <a:solidFill>
                    <a:schemeClr val="tx1"/>
                  </a:solidFill>
                </a:rPr>
              </a:br>
              <a:r>
                <a:rPr lang="en-US" sz="1200">
                  <a:solidFill>
                    <a:schemeClr val="tx1"/>
                  </a:solidFill>
                </a:rPr>
                <a:t>(geo analysis)</a:t>
              </a:r>
              <a:endParaRPr lang="en-US" sz="1400">
                <a:solidFill>
                  <a:schemeClr val="tx1"/>
                </a:solidFill>
              </a:endParaRPr>
            </a:p>
          </p:txBody>
        </p:sp>
      </p:grpSp>
      <p:grpSp>
        <p:nvGrpSpPr>
          <p:cNvPr id="45" name="Group 44">
            <a:extLst>
              <a:ext uri="{FF2B5EF4-FFF2-40B4-BE49-F238E27FC236}">
                <a16:creationId xmlns:a16="http://schemas.microsoft.com/office/drawing/2014/main" id="{AE0B4652-7195-4698-9BAA-8AF2CCA6357D}"/>
              </a:ext>
            </a:extLst>
          </p:cNvPr>
          <p:cNvGrpSpPr/>
          <p:nvPr/>
        </p:nvGrpSpPr>
        <p:grpSpPr>
          <a:xfrm>
            <a:off x="2670058" y="1866843"/>
            <a:ext cx="306171" cy="4079081"/>
            <a:chOff x="5942914" y="2081213"/>
            <a:chExt cx="306171" cy="4079081"/>
          </a:xfrm>
        </p:grpSpPr>
        <p:cxnSp>
          <p:nvCxnSpPr>
            <p:cNvPr id="46" name="Straight Connector 45">
              <a:extLst>
                <a:ext uri="{FF2B5EF4-FFF2-40B4-BE49-F238E27FC236}">
                  <a16:creationId xmlns:a16="http://schemas.microsoft.com/office/drawing/2014/main" id="{24FF64A2-E5DC-4CEB-A4E6-27E88731945A}"/>
                </a:ext>
              </a:extLst>
            </p:cNvPr>
            <p:cNvCxnSpPr/>
            <p:nvPr/>
          </p:nvCxnSpPr>
          <p:spPr>
            <a:xfrm>
              <a:off x="6096000" y="2081213"/>
              <a:ext cx="0" cy="4079081"/>
            </a:xfrm>
            <a:prstGeom prst="line">
              <a:avLst/>
            </a:prstGeom>
            <a:ln w="9525" cap="rnd">
              <a:solidFill>
                <a:schemeClr val="accent5"/>
              </a:solidFill>
              <a:prstDash val="solid"/>
              <a:round/>
              <a:tailEnd type="none"/>
            </a:ln>
          </p:spPr>
          <p:style>
            <a:lnRef idx="1">
              <a:schemeClr val="accent1"/>
            </a:lnRef>
            <a:fillRef idx="0">
              <a:schemeClr val="accent1"/>
            </a:fillRef>
            <a:effectRef idx="0">
              <a:schemeClr val="accent1"/>
            </a:effectRef>
            <a:fontRef idx="minor">
              <a:schemeClr val="tx1"/>
            </a:fontRef>
          </p:style>
        </p:cxnSp>
        <p:grpSp>
          <p:nvGrpSpPr>
            <p:cNvPr id="47" name="Group 46">
              <a:extLst>
                <a:ext uri="{FF2B5EF4-FFF2-40B4-BE49-F238E27FC236}">
                  <a16:creationId xmlns:a16="http://schemas.microsoft.com/office/drawing/2014/main" id="{A193789E-1D69-4A48-9E23-3BA1523284FC}"/>
                </a:ext>
              </a:extLst>
            </p:cNvPr>
            <p:cNvGrpSpPr/>
            <p:nvPr/>
          </p:nvGrpSpPr>
          <p:grpSpPr>
            <a:xfrm>
              <a:off x="5942914" y="3967299"/>
              <a:ext cx="306171" cy="306910"/>
              <a:chOff x="5937564" y="3833745"/>
              <a:chExt cx="306171" cy="306910"/>
            </a:xfrm>
          </p:grpSpPr>
          <p:sp>
            <p:nvSpPr>
              <p:cNvPr id="48" name="Freeform 94">
                <a:extLst>
                  <a:ext uri="{FF2B5EF4-FFF2-40B4-BE49-F238E27FC236}">
                    <a16:creationId xmlns:a16="http://schemas.microsoft.com/office/drawing/2014/main" id="{1B23D802-FB92-4A8B-A95A-DA02555AC60C}"/>
                  </a:ext>
                </a:extLst>
              </p:cNvPr>
              <p:cNvSpPr>
                <a:spLocks/>
              </p:cNvSpPr>
              <p:nvPr/>
            </p:nvSpPr>
            <p:spPr bwMode="gray">
              <a:xfrm>
                <a:off x="5937564" y="3833745"/>
                <a:ext cx="306171" cy="306910"/>
              </a:xfrm>
              <a:custGeom>
                <a:avLst/>
                <a:gdLst>
                  <a:gd name="T0" fmla="*/ 0 w 1052"/>
                  <a:gd name="T1" fmla="*/ 526 h 1052"/>
                  <a:gd name="T2" fmla="*/ 0 w 1052"/>
                  <a:gd name="T3" fmla="*/ 526 h 1052"/>
                  <a:gd name="T4" fmla="*/ 526 w 1052"/>
                  <a:gd name="T5" fmla="*/ 0 h 1052"/>
                  <a:gd name="T6" fmla="*/ 1052 w 1052"/>
                  <a:gd name="T7" fmla="*/ 526 h 1052"/>
                  <a:gd name="T8" fmla="*/ 1052 w 1052"/>
                  <a:gd name="T9" fmla="*/ 526 h 1052"/>
                  <a:gd name="T10" fmla="*/ 526 w 1052"/>
                  <a:gd name="T11" fmla="*/ 1052 h 1052"/>
                  <a:gd name="T12" fmla="*/ 526 w 1052"/>
                  <a:gd name="T13" fmla="*/ 1052 h 1052"/>
                  <a:gd name="T14" fmla="*/ 0 w 1052"/>
                  <a:gd name="T15" fmla="*/ 526 h 10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2" h="1052">
                    <a:moveTo>
                      <a:pt x="0" y="526"/>
                    </a:moveTo>
                    <a:cubicBezTo>
                      <a:pt x="0" y="526"/>
                      <a:pt x="0" y="526"/>
                      <a:pt x="0" y="526"/>
                    </a:cubicBezTo>
                    <a:cubicBezTo>
                      <a:pt x="0" y="236"/>
                      <a:pt x="236" y="0"/>
                      <a:pt x="526" y="0"/>
                    </a:cubicBezTo>
                    <a:cubicBezTo>
                      <a:pt x="817" y="0"/>
                      <a:pt x="1052" y="236"/>
                      <a:pt x="1052" y="526"/>
                    </a:cubicBezTo>
                    <a:cubicBezTo>
                      <a:pt x="1052" y="526"/>
                      <a:pt x="1052" y="526"/>
                      <a:pt x="1052" y="526"/>
                    </a:cubicBezTo>
                    <a:cubicBezTo>
                      <a:pt x="1052" y="817"/>
                      <a:pt x="817" y="1052"/>
                      <a:pt x="526" y="1052"/>
                    </a:cubicBezTo>
                    <a:cubicBezTo>
                      <a:pt x="526" y="1052"/>
                      <a:pt x="526" y="1052"/>
                      <a:pt x="526" y="1052"/>
                    </a:cubicBezTo>
                    <a:cubicBezTo>
                      <a:pt x="236" y="1052"/>
                      <a:pt x="0" y="817"/>
                      <a:pt x="0" y="526"/>
                    </a:cubicBezTo>
                    <a:close/>
                  </a:path>
                </a:pathLst>
              </a:custGeom>
              <a:solidFill>
                <a:schemeClr val="tx2"/>
              </a:solidFill>
              <a:ln>
                <a:solidFill>
                  <a:schemeClr val="tx2"/>
                </a:solidFill>
              </a:ln>
            </p:spPr>
            <p:txBody>
              <a:bodyPr vert="horz" wrap="square" lIns="88641" tIns="44321" rIns="88641" bIns="44321" numCol="1" anchor="t" anchorCtr="0" compatLnSpc="1">
                <a:prstTxWarp prst="textNoShape">
                  <a:avLst/>
                </a:prstTxWarp>
              </a:bodyPr>
              <a:lstStyle/>
              <a:p>
                <a:endParaRPr lang="en-US">
                  <a:solidFill>
                    <a:srgbClr val="6E6F73"/>
                  </a:solidFill>
                </a:endParaRPr>
              </a:p>
            </p:txBody>
          </p:sp>
          <p:sp>
            <p:nvSpPr>
              <p:cNvPr id="49" name="Freeform 95">
                <a:extLst>
                  <a:ext uri="{FF2B5EF4-FFF2-40B4-BE49-F238E27FC236}">
                    <a16:creationId xmlns:a16="http://schemas.microsoft.com/office/drawing/2014/main" id="{366C4014-11A8-428A-9346-FCA6C54282F1}"/>
                  </a:ext>
                </a:extLst>
              </p:cNvPr>
              <p:cNvSpPr>
                <a:spLocks/>
              </p:cNvSpPr>
              <p:nvPr/>
            </p:nvSpPr>
            <p:spPr bwMode="gray">
              <a:xfrm>
                <a:off x="6053995" y="3876005"/>
                <a:ext cx="120251" cy="224731"/>
              </a:xfrm>
              <a:custGeom>
                <a:avLst/>
                <a:gdLst>
                  <a:gd name="T0" fmla="*/ 66 w 976"/>
                  <a:gd name="T1" fmla="*/ 1824 h 1824"/>
                  <a:gd name="T2" fmla="*/ 0 w 976"/>
                  <a:gd name="T3" fmla="*/ 1758 h 1824"/>
                  <a:gd name="T4" fmla="*/ 843 w 976"/>
                  <a:gd name="T5" fmla="*/ 912 h 1824"/>
                  <a:gd name="T6" fmla="*/ 0 w 976"/>
                  <a:gd name="T7" fmla="*/ 66 h 1824"/>
                  <a:gd name="T8" fmla="*/ 66 w 976"/>
                  <a:gd name="T9" fmla="*/ 0 h 1824"/>
                  <a:gd name="T10" fmla="*/ 976 w 976"/>
                  <a:gd name="T11" fmla="*/ 912 h 1824"/>
                  <a:gd name="T12" fmla="*/ 66 w 976"/>
                  <a:gd name="T13" fmla="*/ 1824 h 1824"/>
                </a:gdLst>
                <a:ahLst/>
                <a:cxnLst>
                  <a:cxn ang="0">
                    <a:pos x="T0" y="T1"/>
                  </a:cxn>
                  <a:cxn ang="0">
                    <a:pos x="T2" y="T3"/>
                  </a:cxn>
                  <a:cxn ang="0">
                    <a:pos x="T4" y="T5"/>
                  </a:cxn>
                  <a:cxn ang="0">
                    <a:pos x="T6" y="T7"/>
                  </a:cxn>
                  <a:cxn ang="0">
                    <a:pos x="T8" y="T9"/>
                  </a:cxn>
                  <a:cxn ang="0">
                    <a:pos x="T10" y="T11"/>
                  </a:cxn>
                  <a:cxn ang="0">
                    <a:pos x="T12" y="T13"/>
                  </a:cxn>
                </a:cxnLst>
                <a:rect l="0" t="0" r="r" b="b"/>
                <a:pathLst>
                  <a:path w="976" h="1824">
                    <a:moveTo>
                      <a:pt x="66" y="1824"/>
                    </a:moveTo>
                    <a:lnTo>
                      <a:pt x="0" y="1758"/>
                    </a:lnTo>
                    <a:lnTo>
                      <a:pt x="843" y="912"/>
                    </a:lnTo>
                    <a:lnTo>
                      <a:pt x="0" y="66"/>
                    </a:lnTo>
                    <a:lnTo>
                      <a:pt x="66" y="0"/>
                    </a:lnTo>
                    <a:lnTo>
                      <a:pt x="976" y="912"/>
                    </a:lnTo>
                    <a:lnTo>
                      <a:pt x="66" y="18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8641" tIns="44321" rIns="88641" bIns="44321" numCol="1" anchor="t" anchorCtr="0" compatLnSpc="1">
                <a:prstTxWarp prst="textNoShape">
                  <a:avLst/>
                </a:prstTxWarp>
              </a:bodyPr>
              <a:lstStyle/>
              <a:p>
                <a:endParaRPr lang="en-US">
                  <a:solidFill>
                    <a:srgbClr val="6E6F73"/>
                  </a:solidFill>
                </a:endParaRPr>
              </a:p>
            </p:txBody>
          </p:sp>
        </p:grpSp>
      </p:grpSp>
      <p:pic>
        <p:nvPicPr>
          <p:cNvPr id="38" name="Picture 16">
            <a:extLst>
              <a:ext uri="{FF2B5EF4-FFF2-40B4-BE49-F238E27FC236}">
                <a16:creationId xmlns:a16="http://schemas.microsoft.com/office/drawing/2014/main" id="{60E1A3E6-13D5-496F-95FA-0D2A880E3810}"/>
              </a:ext>
            </a:extLst>
          </p:cNvPr>
          <p:cNvPicPr>
            <a:picLocks noChangeAspect="1" noChangeArrowheads="1"/>
          </p:cNvPicPr>
          <p:nvPr/>
        </p:nvPicPr>
        <p:blipFill rotWithShape="1">
          <a:blip r:embed="rId9">
            <a:extLst>
              <a:ext uri="{28A0092B-C50C-407E-A947-70E740481C1C}">
                <a14:useLocalDpi xmlns:a14="http://schemas.microsoft.com/office/drawing/2010/main" val="0"/>
              </a:ext>
            </a:extLst>
          </a:blip>
          <a:srcRect l="13174" r="13174"/>
          <a:stretch/>
        </p:blipFill>
        <p:spPr bwMode="auto">
          <a:xfrm>
            <a:off x="8220505" y="3271324"/>
            <a:ext cx="341628" cy="341628"/>
          </a:xfrm>
          <a:prstGeom prst="ellipse">
            <a:avLst/>
          </a:prstGeom>
          <a:grpFill/>
          <a:ln w="19050">
            <a:gradFill flip="none" rotWithShape="1">
              <a:gsLst>
                <a:gs pos="0">
                  <a:schemeClr val="accent2"/>
                </a:gs>
                <a:gs pos="100000">
                  <a:schemeClr val="tx2"/>
                </a:gs>
              </a:gsLst>
              <a:lin ang="2700000" scaled="1"/>
              <a:tileRect/>
            </a:gradFill>
          </a:ln>
        </p:spPr>
      </p:pic>
    </p:spTree>
    <p:extLst>
      <p:ext uri="{BB962C8B-B14F-4D97-AF65-F5344CB8AC3E}">
        <p14:creationId xmlns:p14="http://schemas.microsoft.com/office/powerpoint/2010/main" val="230706820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BA5B236B-CC69-4BB8-B95B-2848CE365675}"/>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352" imgH="469" progId="TCLayout.ActiveDocument.1">
                  <p:embed/>
                </p:oleObj>
              </mc:Choice>
              <mc:Fallback>
                <p:oleObj name="think-cell Slide" r:id="rId5" imgW="352" imgH="469" progId="TCLayout.ActiveDocument.1">
                  <p:embed/>
                  <p:pic>
                    <p:nvPicPr>
                      <p:cNvPr id="4" name="Object 3" hidden="1">
                        <a:extLst>
                          <a:ext uri="{FF2B5EF4-FFF2-40B4-BE49-F238E27FC236}">
                            <a16:creationId xmlns:a16="http://schemas.microsoft.com/office/drawing/2014/main" id="{BA5B236B-CC69-4BB8-B95B-2848CE365675}"/>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a:extLst>
              <a:ext uri="{FF2B5EF4-FFF2-40B4-BE49-F238E27FC236}">
                <a16:creationId xmlns:a16="http://schemas.microsoft.com/office/drawing/2014/main" id="{8FF5C419-0503-4794-93B7-F75F6BECE6BA}"/>
              </a:ext>
            </a:extLst>
          </p:cNvPr>
          <p:cNvSpPr/>
          <p:nvPr>
            <p:custDataLst>
              <p:tags r:id="rId2"/>
            </p:custDataLst>
          </p:nvPr>
        </p:nvSpPr>
        <p:spPr>
          <a:xfrm>
            <a:off x="0" y="0"/>
            <a:ext cx="158750" cy="158750"/>
          </a:xfrm>
          <a:prstGeom prst="rect">
            <a:avLst/>
          </a:prstGeom>
          <a:solidFill>
            <a:schemeClr val="tx2"/>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endParaRPr lang="en-US" sz="2400">
              <a:solidFill>
                <a:srgbClr val="FFFFFF"/>
              </a:solidFill>
              <a:latin typeface="Trebuchet MS" panose="020B0603020202020204" pitchFamily="34" charset="0"/>
              <a:ea typeface="+mj-ea"/>
              <a:cs typeface="+mj-cs"/>
              <a:sym typeface="Trebuchet MS" panose="020B0603020202020204" pitchFamily="34" charset="0"/>
            </a:endParaRPr>
          </a:p>
        </p:txBody>
      </p:sp>
      <p:sp>
        <p:nvSpPr>
          <p:cNvPr id="2" name="Title 1">
            <a:extLst>
              <a:ext uri="{FF2B5EF4-FFF2-40B4-BE49-F238E27FC236}">
                <a16:creationId xmlns:a16="http://schemas.microsoft.com/office/drawing/2014/main" id="{8EDB8CA0-F260-4CD7-8585-E25BFB57EDE9}"/>
              </a:ext>
            </a:extLst>
          </p:cNvPr>
          <p:cNvSpPr>
            <a:spLocks noGrp="1"/>
          </p:cNvSpPr>
          <p:nvPr>
            <p:ph type="title"/>
          </p:nvPr>
        </p:nvSpPr>
        <p:spPr/>
        <p:txBody>
          <a:bodyPr/>
          <a:lstStyle/>
          <a:p>
            <a:r>
              <a:rPr lang="en-US"/>
              <a:t>Micro Clusters Detailed characteristics (II/III) - Mid Reported Income </a:t>
            </a:r>
          </a:p>
        </p:txBody>
      </p:sp>
      <p:pic>
        <p:nvPicPr>
          <p:cNvPr id="5" name="BackupStamp">
            <a:extLst>
              <a:ext uri="{FF2B5EF4-FFF2-40B4-BE49-F238E27FC236}">
                <a16:creationId xmlns:a16="http://schemas.microsoft.com/office/drawing/2014/main" id="{D388FFFA-3464-43A6-93DE-04BC08091AE3}"/>
              </a:ext>
            </a:extLst>
          </p:cNvPr>
          <p:cNvPicPr>
            <a:picLocks noChangeAspect="1"/>
          </p:cNvPicPr>
          <p:nvPr/>
        </p:nvPicPr>
        <p:blipFill>
          <a:blip r:embed="rId7"/>
          <a:stretch>
            <a:fillRect/>
          </a:stretch>
        </p:blipFill>
        <p:spPr>
          <a:xfrm>
            <a:off x="5229967" y="1582"/>
            <a:ext cx="1732066" cy="334800"/>
          </a:xfrm>
          <a:prstGeom prst="rect">
            <a:avLst/>
          </a:prstGeom>
        </p:spPr>
      </p:pic>
      <p:graphicFrame>
        <p:nvGraphicFramePr>
          <p:cNvPr id="7" name="Table 6">
            <a:extLst>
              <a:ext uri="{FF2B5EF4-FFF2-40B4-BE49-F238E27FC236}">
                <a16:creationId xmlns:a16="http://schemas.microsoft.com/office/drawing/2014/main" id="{9C109AA4-96F9-46BA-BD5C-0BD23F282F11}"/>
              </a:ext>
            </a:extLst>
          </p:cNvPr>
          <p:cNvGraphicFramePr>
            <a:graphicFrameLocks noGrp="1"/>
          </p:cNvGraphicFramePr>
          <p:nvPr/>
        </p:nvGraphicFramePr>
        <p:xfrm>
          <a:off x="629401" y="1665609"/>
          <a:ext cx="10933202" cy="3962400"/>
        </p:xfrm>
        <a:graphic>
          <a:graphicData uri="http://schemas.openxmlformats.org/drawingml/2006/table">
            <a:tbl>
              <a:tblPr>
                <a:tableStyleId>{2D5ABB26-0587-4C30-8999-92F81FD0307C}</a:tableStyleId>
              </a:tblPr>
              <a:tblGrid>
                <a:gridCol w="1365572">
                  <a:extLst>
                    <a:ext uri="{9D8B030D-6E8A-4147-A177-3AD203B41FA5}">
                      <a16:colId xmlns:a16="http://schemas.microsoft.com/office/drawing/2014/main" val="2639563319"/>
                    </a:ext>
                  </a:extLst>
                </a:gridCol>
                <a:gridCol w="3459450">
                  <a:extLst>
                    <a:ext uri="{9D8B030D-6E8A-4147-A177-3AD203B41FA5}">
                      <a16:colId xmlns:a16="http://schemas.microsoft.com/office/drawing/2014/main" val="562172126"/>
                    </a:ext>
                  </a:extLst>
                </a:gridCol>
                <a:gridCol w="910382">
                  <a:extLst>
                    <a:ext uri="{9D8B030D-6E8A-4147-A177-3AD203B41FA5}">
                      <a16:colId xmlns:a16="http://schemas.microsoft.com/office/drawing/2014/main" val="1185318327"/>
                    </a:ext>
                  </a:extLst>
                </a:gridCol>
                <a:gridCol w="910382">
                  <a:extLst>
                    <a:ext uri="{9D8B030D-6E8A-4147-A177-3AD203B41FA5}">
                      <a16:colId xmlns:a16="http://schemas.microsoft.com/office/drawing/2014/main" val="3660442929"/>
                    </a:ext>
                  </a:extLst>
                </a:gridCol>
                <a:gridCol w="463812">
                  <a:extLst>
                    <a:ext uri="{9D8B030D-6E8A-4147-A177-3AD203B41FA5}">
                      <a16:colId xmlns:a16="http://schemas.microsoft.com/office/drawing/2014/main" val="293128637"/>
                    </a:ext>
                  </a:extLst>
                </a:gridCol>
                <a:gridCol w="910382">
                  <a:extLst>
                    <a:ext uri="{9D8B030D-6E8A-4147-A177-3AD203B41FA5}">
                      <a16:colId xmlns:a16="http://schemas.microsoft.com/office/drawing/2014/main" val="1823916256"/>
                    </a:ext>
                  </a:extLst>
                </a:gridCol>
                <a:gridCol w="910382">
                  <a:extLst>
                    <a:ext uri="{9D8B030D-6E8A-4147-A177-3AD203B41FA5}">
                      <a16:colId xmlns:a16="http://schemas.microsoft.com/office/drawing/2014/main" val="2506292629"/>
                    </a:ext>
                  </a:extLst>
                </a:gridCol>
                <a:gridCol w="910382">
                  <a:extLst>
                    <a:ext uri="{9D8B030D-6E8A-4147-A177-3AD203B41FA5}">
                      <a16:colId xmlns:a16="http://schemas.microsoft.com/office/drawing/2014/main" val="1405034926"/>
                    </a:ext>
                  </a:extLst>
                </a:gridCol>
                <a:gridCol w="1092458">
                  <a:extLst>
                    <a:ext uri="{9D8B030D-6E8A-4147-A177-3AD203B41FA5}">
                      <a16:colId xmlns:a16="http://schemas.microsoft.com/office/drawing/2014/main" val="1681224453"/>
                    </a:ext>
                  </a:extLst>
                </a:gridCol>
              </a:tblGrid>
              <a:tr h="0">
                <a:tc>
                  <a:txBody>
                    <a:bodyPr/>
                    <a:lstStyle/>
                    <a:p>
                      <a:pPr marL="0" lvl="0" indent="0" algn="l" rtl="0" fontAlgn="base" hangingPunct="1">
                        <a:lnSpc>
                          <a:spcPct val="100000"/>
                        </a:lnSpc>
                        <a:spcBef>
                          <a:spcPct val="0"/>
                        </a:spcBef>
                        <a:spcAft>
                          <a:spcPct val="0"/>
                        </a:spcAft>
                      </a:pPr>
                      <a:r>
                        <a:rPr lang="en-SG" sz="1200" b="0" i="0" u="none" strike="noStrike">
                          <a:solidFill>
                            <a:schemeClr val="tx2">
                              <a:lumMod val="100000"/>
                            </a:schemeClr>
                          </a:solidFill>
                          <a:effectLst/>
                          <a:latin typeface="+mn-lt"/>
                        </a:rPr>
                        <a:t>Micro Cluster</a:t>
                      </a:r>
                    </a:p>
                  </a:txBody>
                  <a:tcPr marL="45720" marR="45720" anchor="b">
                    <a:lnT>
                      <a:noFill/>
                    </a:lnT>
                    <a:lnB w="9525" cap="flat" cmpd="sng" algn="ctr">
                      <a:solidFill>
                        <a:srgbClr val="9A9A9A">
                          <a:lumMod val="100000"/>
                        </a:srgbClr>
                      </a:solidFill>
                      <a:prstDash val="solid"/>
                      <a:round/>
                      <a:headEnd type="none" w="med" len="med"/>
                      <a:tailEnd type="none" w="med" len="med"/>
                    </a:lnB>
                  </a:tcPr>
                </a:tc>
                <a:tc>
                  <a:txBody>
                    <a:bodyPr/>
                    <a:lstStyle/>
                    <a:p>
                      <a:pPr marL="0" lvl="0" indent="0" algn="l" rtl="0" fontAlgn="base" hangingPunct="1">
                        <a:lnSpc>
                          <a:spcPct val="100000"/>
                        </a:lnSpc>
                        <a:spcBef>
                          <a:spcPct val="0"/>
                        </a:spcBef>
                        <a:spcAft>
                          <a:spcPct val="0"/>
                        </a:spcAft>
                      </a:pPr>
                      <a:r>
                        <a:rPr lang="en-SG" sz="1200" b="0" i="0" u="none" strike="noStrike">
                          <a:solidFill>
                            <a:schemeClr val="tx2">
                              <a:lumMod val="100000"/>
                            </a:schemeClr>
                          </a:solidFill>
                          <a:effectLst/>
                          <a:latin typeface="+mn-lt"/>
                        </a:rPr>
                        <a:t>Micro Cluster characteristics</a:t>
                      </a:r>
                    </a:p>
                  </a:txBody>
                  <a:tcPr marL="45720" marR="45720" anchor="b">
                    <a:lnT>
                      <a:noFill/>
                    </a:lnT>
                    <a:lnB w="9525" cap="flat" cmpd="sng" algn="ctr">
                      <a:solidFill>
                        <a:srgbClr val="9A9A9A">
                          <a:lumMod val="100000"/>
                        </a:srgbClr>
                      </a:solidFill>
                      <a:prstDash val="solid"/>
                      <a:round/>
                      <a:headEnd type="none" w="med" len="med"/>
                      <a:tailEnd type="none" w="med" len="med"/>
                    </a:lnB>
                  </a:tcPr>
                </a:tc>
                <a:tc>
                  <a:txBody>
                    <a:bodyPr/>
                    <a:lstStyle/>
                    <a:p>
                      <a:pPr marL="0" lvl="0" indent="0" algn="ctr" rtl="0" fontAlgn="base" hangingPunct="1">
                        <a:lnSpc>
                          <a:spcPct val="100000"/>
                        </a:lnSpc>
                        <a:spcBef>
                          <a:spcPct val="0"/>
                        </a:spcBef>
                        <a:spcAft>
                          <a:spcPct val="0"/>
                        </a:spcAft>
                      </a:pPr>
                      <a:r>
                        <a:rPr lang="en-SG" sz="1200" b="0" i="0" u="none" strike="noStrike">
                          <a:solidFill>
                            <a:schemeClr val="tx2">
                              <a:lumMod val="100000"/>
                            </a:schemeClr>
                          </a:solidFill>
                          <a:effectLst/>
                          <a:latin typeface="+mn-lt"/>
                        </a:rPr>
                        <a:t>Cluster Size (% of total </a:t>
                      </a:r>
                      <a:r>
                        <a:rPr lang="en-SG" sz="1200" b="0" i="0" u="none" strike="noStrike" err="1">
                          <a:solidFill>
                            <a:schemeClr val="tx2">
                              <a:lumMod val="100000"/>
                            </a:schemeClr>
                          </a:solidFill>
                          <a:effectLst/>
                          <a:latin typeface="+mn-lt"/>
                        </a:rPr>
                        <a:t>cust</a:t>
                      </a:r>
                      <a:r>
                        <a:rPr lang="en-SG" sz="1200" b="0" i="0" u="none" strike="noStrike">
                          <a:solidFill>
                            <a:schemeClr val="tx2">
                              <a:lumMod val="100000"/>
                            </a:schemeClr>
                          </a:solidFill>
                          <a:effectLst/>
                          <a:latin typeface="+mn-lt"/>
                        </a:rPr>
                        <a:t>.)</a:t>
                      </a:r>
                    </a:p>
                  </a:txBody>
                  <a:tcPr marL="45720" marR="45720" anchor="ctr">
                    <a:lnT>
                      <a:noFill/>
                    </a:lnT>
                    <a:lnB w="9525" cap="flat" cmpd="sng" algn="ctr">
                      <a:solidFill>
                        <a:srgbClr val="9A9A9A">
                          <a:lumMod val="100000"/>
                        </a:srgbClr>
                      </a:solidFill>
                      <a:prstDash val="solid"/>
                      <a:round/>
                      <a:headEnd type="none" w="med" len="med"/>
                      <a:tailEnd type="none" w="med" len="med"/>
                    </a:lnB>
                  </a:tcPr>
                </a:tc>
                <a:tc>
                  <a:txBody>
                    <a:bodyPr/>
                    <a:lstStyle/>
                    <a:p>
                      <a:pPr marL="0" lvl="0" indent="0" algn="ctr" rtl="0" fontAlgn="base" hangingPunct="1">
                        <a:lnSpc>
                          <a:spcPct val="100000"/>
                        </a:lnSpc>
                        <a:spcBef>
                          <a:spcPct val="0"/>
                        </a:spcBef>
                        <a:spcAft>
                          <a:spcPct val="0"/>
                        </a:spcAft>
                      </a:pPr>
                      <a:r>
                        <a:rPr lang="en-SG" sz="1200" b="0" i="0" u="none" strike="noStrike">
                          <a:solidFill>
                            <a:schemeClr val="tx2">
                              <a:lumMod val="100000"/>
                            </a:schemeClr>
                          </a:solidFill>
                          <a:effectLst/>
                          <a:latin typeface="+mn-lt"/>
                        </a:rPr>
                        <a:t>Max Target AuM (Mn IDR)</a:t>
                      </a:r>
                    </a:p>
                  </a:txBody>
                  <a:tcPr marL="45720" marR="45720" anchor="ctr">
                    <a:lnT>
                      <a:noFill/>
                    </a:lnT>
                    <a:lnB w="9525" cap="flat" cmpd="sng" algn="ctr">
                      <a:solidFill>
                        <a:srgbClr val="9A9A9A">
                          <a:lumMod val="100000"/>
                        </a:srgbClr>
                      </a:solidFill>
                      <a:prstDash val="solid"/>
                      <a:round/>
                      <a:headEnd type="none" w="med" len="med"/>
                      <a:tailEnd type="none" w="med" len="med"/>
                    </a:lnB>
                  </a:tcPr>
                </a:tc>
                <a:tc>
                  <a:txBody>
                    <a:bodyPr/>
                    <a:lstStyle/>
                    <a:p>
                      <a:pPr marL="0" lvl="0" indent="0" algn="ctr" rtl="0" fontAlgn="base" hangingPunct="1">
                        <a:lnSpc>
                          <a:spcPct val="100000"/>
                        </a:lnSpc>
                        <a:spcBef>
                          <a:spcPct val="0"/>
                        </a:spcBef>
                        <a:spcAft>
                          <a:spcPct val="0"/>
                        </a:spcAft>
                      </a:pPr>
                      <a:r>
                        <a:rPr lang="en-SG" sz="1200" b="0" i="0" u="none" strike="noStrike">
                          <a:solidFill>
                            <a:schemeClr val="tx2">
                              <a:lumMod val="100000"/>
                            </a:schemeClr>
                          </a:solidFill>
                          <a:effectLst/>
                          <a:latin typeface="+mn-lt"/>
                        </a:rPr>
                        <a:t>Age </a:t>
                      </a:r>
                    </a:p>
                  </a:txBody>
                  <a:tcPr marL="45720" marR="45720" anchor="ctr">
                    <a:lnT>
                      <a:noFill/>
                    </a:lnT>
                    <a:lnB w="9525" cap="flat" cmpd="sng" algn="ctr">
                      <a:solidFill>
                        <a:srgbClr val="9A9A9A">
                          <a:lumMod val="100000"/>
                        </a:srgbClr>
                      </a:solidFill>
                      <a:prstDash val="solid"/>
                      <a:round/>
                      <a:headEnd type="none" w="med" len="med"/>
                      <a:tailEnd type="none" w="med" len="med"/>
                    </a:lnB>
                  </a:tcPr>
                </a:tc>
                <a:tc>
                  <a:txBody>
                    <a:bodyPr/>
                    <a:lstStyle/>
                    <a:p>
                      <a:pPr marL="0" lvl="0" indent="0" algn="ctr" rtl="0" fontAlgn="base" hangingPunct="1">
                        <a:lnSpc>
                          <a:spcPct val="100000"/>
                        </a:lnSpc>
                        <a:spcBef>
                          <a:spcPct val="0"/>
                        </a:spcBef>
                        <a:spcAft>
                          <a:spcPct val="0"/>
                        </a:spcAft>
                      </a:pPr>
                      <a:r>
                        <a:rPr lang="en-SG" sz="1200" b="0" i="0" u="none" strike="noStrike">
                          <a:solidFill>
                            <a:schemeClr val="tx2">
                              <a:lumMod val="100000"/>
                            </a:schemeClr>
                          </a:solidFill>
                          <a:effectLst/>
                          <a:latin typeface="+mn-lt"/>
                        </a:rPr>
                        <a:t>Monthly Cash Inflow (k IDR)</a:t>
                      </a:r>
                    </a:p>
                  </a:txBody>
                  <a:tcPr marL="45720" marR="45720" anchor="ctr">
                    <a:lnT>
                      <a:noFill/>
                    </a:lnT>
                    <a:lnB w="9525" cap="flat" cmpd="sng" algn="ctr">
                      <a:solidFill>
                        <a:srgbClr val="9A9A9A">
                          <a:lumMod val="100000"/>
                        </a:srgbClr>
                      </a:solidFill>
                      <a:prstDash val="solid"/>
                      <a:round/>
                      <a:headEnd type="none" w="med" len="med"/>
                      <a:tailEnd type="none" w="med" len="med"/>
                    </a:lnB>
                  </a:tcPr>
                </a:tc>
                <a:tc>
                  <a:txBody>
                    <a:bodyPr/>
                    <a:lstStyle/>
                    <a:p>
                      <a:pPr marL="0" lvl="0" indent="0" algn="ctr" rtl="0" fontAlgn="base" hangingPunct="1">
                        <a:lnSpc>
                          <a:spcPct val="100000"/>
                        </a:lnSpc>
                        <a:spcBef>
                          <a:spcPct val="0"/>
                        </a:spcBef>
                        <a:spcAft>
                          <a:spcPct val="0"/>
                        </a:spcAft>
                      </a:pPr>
                      <a:r>
                        <a:rPr lang="en-SG" sz="1200" b="0" i="0" u="none" strike="noStrike">
                          <a:solidFill>
                            <a:schemeClr val="tx2">
                              <a:lumMod val="100000"/>
                            </a:schemeClr>
                          </a:solidFill>
                          <a:effectLst/>
                          <a:latin typeface="+mn-lt"/>
                        </a:rPr>
                        <a:t>Transaction Size (Mn IDR)</a:t>
                      </a:r>
                    </a:p>
                  </a:txBody>
                  <a:tcPr marL="45720" marR="45720" anchor="ctr">
                    <a:lnT>
                      <a:noFill/>
                    </a:lnT>
                    <a:lnB w="9525" cap="flat" cmpd="sng" algn="ctr">
                      <a:solidFill>
                        <a:srgbClr val="9A9A9A">
                          <a:lumMod val="100000"/>
                        </a:srgbClr>
                      </a:solidFill>
                      <a:prstDash val="solid"/>
                      <a:round/>
                      <a:headEnd type="none" w="med" len="med"/>
                      <a:tailEnd type="none" w="med" len="med"/>
                    </a:lnB>
                  </a:tcPr>
                </a:tc>
                <a:tc>
                  <a:txBody>
                    <a:bodyPr/>
                    <a:lstStyle/>
                    <a:p>
                      <a:pPr marL="0" lvl="0" indent="0" algn="ctr" rtl="0" fontAlgn="base" hangingPunct="1">
                        <a:lnSpc>
                          <a:spcPct val="100000"/>
                        </a:lnSpc>
                        <a:spcBef>
                          <a:spcPct val="0"/>
                        </a:spcBef>
                        <a:spcAft>
                          <a:spcPct val="0"/>
                        </a:spcAft>
                      </a:pPr>
                      <a:r>
                        <a:rPr lang="en-SG" sz="1200" b="0" i="0" u="none" strike="noStrike">
                          <a:solidFill>
                            <a:schemeClr val="tx2">
                              <a:lumMod val="100000"/>
                            </a:schemeClr>
                          </a:solidFill>
                          <a:effectLst/>
                          <a:latin typeface="+mn-lt"/>
                        </a:rPr>
                        <a:t>Monthly Bills </a:t>
                      </a:r>
                    </a:p>
                    <a:p>
                      <a:pPr marL="0" lvl="0" indent="0" algn="ctr" rtl="0" fontAlgn="base" hangingPunct="1">
                        <a:lnSpc>
                          <a:spcPct val="100000"/>
                        </a:lnSpc>
                        <a:spcBef>
                          <a:spcPct val="0"/>
                        </a:spcBef>
                        <a:spcAft>
                          <a:spcPct val="0"/>
                        </a:spcAft>
                      </a:pPr>
                      <a:r>
                        <a:rPr lang="en-SG" sz="1200" b="0" i="0" u="none" strike="noStrike">
                          <a:solidFill>
                            <a:schemeClr val="tx2">
                              <a:lumMod val="100000"/>
                            </a:schemeClr>
                          </a:solidFill>
                          <a:effectLst/>
                          <a:latin typeface="+mn-lt"/>
                        </a:rPr>
                        <a:t>(Mn IDR)</a:t>
                      </a:r>
                    </a:p>
                  </a:txBody>
                  <a:tcPr marL="45720" marR="45720" anchor="ctr">
                    <a:lnT>
                      <a:noFill/>
                    </a:lnT>
                    <a:lnB w="9525" cap="flat" cmpd="sng" algn="ctr">
                      <a:solidFill>
                        <a:srgbClr val="9A9A9A">
                          <a:lumMod val="100000"/>
                        </a:srgbClr>
                      </a:solidFill>
                      <a:prstDash val="solid"/>
                      <a:round/>
                      <a:headEnd type="none" w="med" len="med"/>
                      <a:tailEnd type="none" w="med" len="med"/>
                    </a:lnB>
                  </a:tcPr>
                </a:tc>
                <a:tc>
                  <a:txBody>
                    <a:bodyPr/>
                    <a:lstStyle/>
                    <a:p>
                      <a:pPr marL="0" lvl="0" indent="0" algn="ctr" rtl="0" fontAlgn="base" hangingPunct="1">
                        <a:lnSpc>
                          <a:spcPct val="100000"/>
                        </a:lnSpc>
                        <a:spcBef>
                          <a:spcPct val="0"/>
                        </a:spcBef>
                        <a:spcAft>
                          <a:spcPct val="0"/>
                        </a:spcAft>
                      </a:pPr>
                      <a:r>
                        <a:rPr lang="en-SG" sz="1200" b="0" i="0" u="none" strike="noStrike">
                          <a:solidFill>
                            <a:schemeClr val="tx2">
                              <a:lumMod val="100000"/>
                            </a:schemeClr>
                          </a:solidFill>
                          <a:effectLst/>
                          <a:latin typeface="+mn-lt"/>
                        </a:rPr>
                        <a:t>Supermarket Expenses (% of total expense)</a:t>
                      </a:r>
                    </a:p>
                  </a:txBody>
                  <a:tcPr marL="45720" marR="45720" anchor="ctr">
                    <a:lnT>
                      <a:noFill/>
                    </a:lnT>
                    <a:lnB w="9525" cap="flat" cmpd="sng" algn="ctr">
                      <a:solidFill>
                        <a:srgbClr val="9A9A9A">
                          <a:lumMod val="100000"/>
                        </a:srgbClr>
                      </a:solidFill>
                      <a:prstDash val="solid"/>
                      <a:round/>
                      <a:headEnd type="none" w="med" len="med"/>
                      <a:tailEnd type="none" w="med" len="med"/>
                    </a:lnB>
                  </a:tcPr>
                </a:tc>
                <a:extLst>
                  <a:ext uri="{0D108BD9-81ED-4DB2-BD59-A6C34878D82A}">
                    <a16:rowId xmlns:a16="http://schemas.microsoft.com/office/drawing/2014/main" val="3083225174"/>
                  </a:ext>
                </a:extLst>
              </a:tr>
              <a:tr h="0">
                <a:tc>
                  <a:txBody>
                    <a:bodyPr/>
                    <a:lstStyle/>
                    <a:p>
                      <a:pPr marL="0" indent="0" algn="l" rtl="0" fontAlgn="auto" hangingPunct="1">
                        <a:lnSpc>
                          <a:spcPct val="100000"/>
                        </a:lnSpc>
                        <a:spcBef>
                          <a:spcPts val="0"/>
                        </a:spcBef>
                        <a:spcAft>
                          <a:spcPts val="0"/>
                        </a:spcAft>
                      </a:pPr>
                      <a:r>
                        <a:rPr lang="ms-MY" sz="1100" b="1" i="0" u="none" strike="noStrike">
                          <a:solidFill>
                            <a:schemeClr val="tx2"/>
                          </a:solidFill>
                          <a:effectLst/>
                          <a:latin typeface="+mn-lt"/>
                        </a:rPr>
                        <a:t>MI 1|Young Stagnant </a:t>
                      </a:r>
                    </a:p>
                  </a:txBody>
                  <a:tcPr marL="45720" marR="45720" anchor="ctr">
                    <a:lnT w="9525">
                      <a:solidFill>
                        <a:srgbClr val="9A9A9A">
                          <a:lumMod val="100000"/>
                        </a:srgbClr>
                      </a:solidFill>
                      <a:prstDash val="solid"/>
                    </a:lnT>
                    <a:lnB w="9525" cap="flat" cmpd="sng" algn="ctr">
                      <a:solidFill>
                        <a:schemeClr val="bg1">
                          <a:lumMod val="75000"/>
                        </a:schemeClr>
                      </a:solidFill>
                      <a:prstDash val="sysDot"/>
                      <a:round/>
                      <a:headEnd type="none" w="med" len="med"/>
                      <a:tailEnd type="none" w="med" len="med"/>
                    </a:lnB>
                  </a:tcPr>
                </a:tc>
                <a:tc>
                  <a:txBody>
                    <a:bodyPr/>
                    <a:lstStyle/>
                    <a:p>
                      <a:pPr marL="0" indent="0" algn="l" rtl="0" fontAlgn="auto" hangingPunct="1">
                        <a:lnSpc>
                          <a:spcPct val="100000"/>
                        </a:lnSpc>
                        <a:spcBef>
                          <a:spcPts val="0"/>
                        </a:spcBef>
                        <a:spcAft>
                          <a:spcPts val="0"/>
                        </a:spcAft>
                      </a:pPr>
                      <a:r>
                        <a:rPr lang="en-US" sz="1100" b="0" i="0" u="none" strike="noStrike">
                          <a:solidFill>
                            <a:schemeClr val="tx1">
                              <a:lumMod val="100000"/>
                            </a:schemeClr>
                          </a:solidFill>
                          <a:effectLst/>
                          <a:latin typeface="+mn-lt"/>
                        </a:rPr>
                        <a:t>Mid income individuals; Low cash inflow compared to peers; stays in low-mid PP area </a:t>
                      </a:r>
                    </a:p>
                  </a:txBody>
                  <a:tcPr marL="45720" marR="45720" anchor="ctr">
                    <a:lnT w="9525">
                      <a:solidFill>
                        <a:srgbClr val="9A9A9A">
                          <a:lumMod val="100000"/>
                        </a:srgbClr>
                      </a:solidFill>
                      <a:prstDash val="solid"/>
                    </a:lnT>
                    <a:lnB w="9525" cap="flat" cmpd="sng" algn="ctr">
                      <a:solidFill>
                        <a:schemeClr val="bg1">
                          <a:lumMod val="75000"/>
                        </a:schemeClr>
                      </a:solidFill>
                      <a:prstDash val="sysDot"/>
                      <a:round/>
                      <a:headEnd type="none" w="med" len="med"/>
                      <a:tailEnd type="none" w="med" len="med"/>
                    </a:lnB>
                  </a:tcPr>
                </a:tc>
                <a:tc>
                  <a:txBody>
                    <a:bodyPr/>
                    <a:lstStyle/>
                    <a:p>
                      <a:pPr marL="0" indent="0" algn="ctr" rtl="0" fontAlgn="auto" hangingPunct="1">
                        <a:lnSpc>
                          <a:spcPct val="100000"/>
                        </a:lnSpc>
                        <a:spcBef>
                          <a:spcPts val="0"/>
                        </a:spcBef>
                        <a:spcAft>
                          <a:spcPts val="0"/>
                        </a:spcAft>
                      </a:pPr>
                      <a:endParaRPr lang="en-SG" sz="1100" b="0" i="0" u="none" strike="noStrike">
                        <a:solidFill>
                          <a:schemeClr val="tx1">
                            <a:lumMod val="100000"/>
                          </a:schemeClr>
                        </a:solidFill>
                        <a:effectLst/>
                        <a:latin typeface="+mn-lt"/>
                      </a:endParaRPr>
                    </a:p>
                  </a:txBody>
                  <a:tcPr marL="45720" marR="45720" anchor="ctr">
                    <a:lnT w="9525">
                      <a:solidFill>
                        <a:srgbClr val="9A9A9A">
                          <a:lumMod val="100000"/>
                        </a:srgbClr>
                      </a:solidFill>
                      <a:prstDash val="solid"/>
                    </a:lnT>
                    <a:lnB w="9525" cap="flat" cmpd="sng" algn="ctr">
                      <a:solidFill>
                        <a:schemeClr val="bg1">
                          <a:lumMod val="75000"/>
                        </a:schemeClr>
                      </a:solidFill>
                      <a:prstDash val="sysDot"/>
                      <a:round/>
                      <a:headEnd type="none" w="med" len="med"/>
                      <a:tailEnd type="none" w="med" len="med"/>
                    </a:lnB>
                  </a:tcPr>
                </a:tc>
                <a:tc>
                  <a:txBody>
                    <a:bodyPr/>
                    <a:lstStyle/>
                    <a:p>
                      <a:pPr algn="ctr" fontAlgn="b"/>
                      <a:endParaRPr lang="en-SG" sz="1100" b="0" i="0" u="none" strike="noStrike">
                        <a:solidFill>
                          <a:schemeClr val="tx1"/>
                        </a:solidFill>
                        <a:effectLst/>
                        <a:latin typeface="+mn-lt"/>
                      </a:endParaRPr>
                    </a:p>
                  </a:txBody>
                  <a:tcPr marL="45720" marR="45720" anchor="ctr">
                    <a:lnT w="9525">
                      <a:solidFill>
                        <a:srgbClr val="9A9A9A">
                          <a:lumMod val="100000"/>
                        </a:srgbClr>
                      </a:solidFill>
                      <a:prstDash val="solid"/>
                    </a:lnT>
                    <a:lnB w="9525" cap="flat" cmpd="sng" algn="ctr">
                      <a:solidFill>
                        <a:schemeClr val="bg1">
                          <a:lumMod val="7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pPr>
                      <a:endParaRPr lang="en-SG" sz="1100" b="0" i="0" u="none" strike="noStrike" kern="1200">
                        <a:solidFill>
                          <a:schemeClr val="tx1">
                            <a:lumMod val="100000"/>
                          </a:schemeClr>
                        </a:solidFill>
                        <a:effectLst/>
                        <a:latin typeface="+mn-lt"/>
                        <a:ea typeface="+mn-ea"/>
                        <a:cs typeface="+mn-cs"/>
                      </a:endParaRPr>
                    </a:p>
                  </a:txBody>
                  <a:tcPr marL="45720" marR="45720" anchor="ctr">
                    <a:lnT w="9525">
                      <a:solidFill>
                        <a:srgbClr val="9A9A9A">
                          <a:lumMod val="100000"/>
                        </a:srgbClr>
                      </a:solidFill>
                      <a:prstDash val="solid"/>
                    </a:lnT>
                    <a:lnB w="9525" cap="flat" cmpd="sng" algn="ctr">
                      <a:solidFill>
                        <a:schemeClr val="bg1">
                          <a:lumMod val="7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pPr>
                      <a:endParaRPr lang="en-SG" sz="1100" b="0" i="0" u="none" strike="noStrike" kern="1200">
                        <a:solidFill>
                          <a:schemeClr val="tx1">
                            <a:lumMod val="100000"/>
                          </a:schemeClr>
                        </a:solidFill>
                        <a:effectLst/>
                        <a:latin typeface="+mn-lt"/>
                        <a:ea typeface="+mn-ea"/>
                        <a:cs typeface="+mn-cs"/>
                      </a:endParaRPr>
                    </a:p>
                  </a:txBody>
                  <a:tcPr marL="45720" marR="45720" anchor="ctr">
                    <a:lnT w="9525">
                      <a:solidFill>
                        <a:srgbClr val="9A9A9A">
                          <a:lumMod val="100000"/>
                        </a:srgbClr>
                      </a:solidFill>
                      <a:prstDash val="solid"/>
                    </a:lnT>
                    <a:lnB w="9525" cap="flat" cmpd="sng" algn="ctr">
                      <a:solidFill>
                        <a:schemeClr val="bg1">
                          <a:lumMod val="7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pPr>
                      <a:endParaRPr lang="en-SG" sz="1100" b="0" i="0" u="none" strike="noStrike" kern="1200">
                        <a:solidFill>
                          <a:schemeClr val="tx1">
                            <a:lumMod val="100000"/>
                          </a:schemeClr>
                        </a:solidFill>
                        <a:effectLst/>
                        <a:latin typeface="+mn-lt"/>
                        <a:ea typeface="+mn-ea"/>
                        <a:cs typeface="+mn-cs"/>
                      </a:endParaRPr>
                    </a:p>
                  </a:txBody>
                  <a:tcPr marL="45720" marR="45720" anchor="ctr">
                    <a:lnT w="9525">
                      <a:solidFill>
                        <a:srgbClr val="9A9A9A">
                          <a:lumMod val="100000"/>
                        </a:srgbClr>
                      </a:solidFill>
                      <a:prstDash val="solid"/>
                    </a:lnT>
                    <a:lnB w="9525" cap="flat" cmpd="sng" algn="ctr">
                      <a:solidFill>
                        <a:schemeClr val="bg1">
                          <a:lumMod val="7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pPr>
                      <a:endParaRPr lang="en-SG" sz="1100" b="0" i="0" u="none" strike="noStrike" kern="1200">
                        <a:solidFill>
                          <a:schemeClr val="tx1">
                            <a:lumMod val="100000"/>
                          </a:schemeClr>
                        </a:solidFill>
                        <a:effectLst/>
                        <a:latin typeface="+mn-lt"/>
                        <a:ea typeface="+mn-ea"/>
                        <a:cs typeface="+mn-cs"/>
                      </a:endParaRPr>
                    </a:p>
                  </a:txBody>
                  <a:tcPr marL="45720" marR="45720" anchor="ctr">
                    <a:lnT w="9525">
                      <a:solidFill>
                        <a:srgbClr val="9A9A9A">
                          <a:lumMod val="100000"/>
                        </a:srgbClr>
                      </a:solidFill>
                      <a:prstDash val="solid"/>
                    </a:lnT>
                    <a:lnB w="9525" cap="flat" cmpd="sng" algn="ctr">
                      <a:solidFill>
                        <a:schemeClr val="bg1">
                          <a:lumMod val="7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pPr>
                      <a:endParaRPr lang="en-SG" sz="1100" b="0" i="0" u="none" strike="noStrike" kern="1200">
                        <a:solidFill>
                          <a:schemeClr val="tx1">
                            <a:lumMod val="100000"/>
                          </a:schemeClr>
                        </a:solidFill>
                        <a:effectLst/>
                        <a:latin typeface="+mn-lt"/>
                        <a:ea typeface="+mn-ea"/>
                        <a:cs typeface="+mn-cs"/>
                      </a:endParaRPr>
                    </a:p>
                  </a:txBody>
                  <a:tcPr marL="45720" marR="45720" anchor="ctr">
                    <a:lnT w="9525">
                      <a:solidFill>
                        <a:srgbClr val="9A9A9A">
                          <a:lumMod val="100000"/>
                        </a:srgbClr>
                      </a:solidFill>
                      <a:prstDash val="solid"/>
                    </a:lnT>
                    <a:lnB w="9525" cap="flat" cmpd="sng" algn="ctr">
                      <a:solidFill>
                        <a:schemeClr val="bg1">
                          <a:lumMod val="75000"/>
                        </a:schemeClr>
                      </a:solidFill>
                      <a:prstDash val="sysDot"/>
                      <a:round/>
                      <a:headEnd type="none" w="med" len="med"/>
                      <a:tailEnd type="none" w="med" len="med"/>
                    </a:lnB>
                  </a:tcPr>
                </a:tc>
                <a:extLst>
                  <a:ext uri="{0D108BD9-81ED-4DB2-BD59-A6C34878D82A}">
                    <a16:rowId xmlns:a16="http://schemas.microsoft.com/office/drawing/2014/main" val="777173761"/>
                  </a:ext>
                </a:extLst>
              </a:tr>
              <a:tr h="0">
                <a:tc>
                  <a:txBody>
                    <a:bodyPr/>
                    <a:lstStyle/>
                    <a:p>
                      <a:pPr marL="0" indent="0" algn="l" rtl="0" fontAlgn="auto" hangingPunct="1">
                        <a:lnSpc>
                          <a:spcPct val="100000"/>
                        </a:lnSpc>
                        <a:spcBef>
                          <a:spcPts val="0"/>
                        </a:spcBef>
                        <a:spcAft>
                          <a:spcPts val="0"/>
                        </a:spcAft>
                      </a:pPr>
                      <a:r>
                        <a:rPr lang="ms-MY" sz="1100" b="1" i="0" u="none" strike="noStrike">
                          <a:solidFill>
                            <a:schemeClr val="tx2"/>
                          </a:solidFill>
                          <a:effectLst/>
                          <a:latin typeface="+mn-lt"/>
                        </a:rPr>
                        <a:t>MI 2|Young Savers </a:t>
                      </a: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l" rtl="0" fontAlgn="auto" hangingPunct="1">
                        <a:lnSpc>
                          <a:spcPct val="100000"/>
                        </a:lnSpc>
                        <a:spcBef>
                          <a:spcPts val="0"/>
                        </a:spcBef>
                        <a:spcAft>
                          <a:spcPts val="0"/>
                        </a:spcAft>
                      </a:pPr>
                      <a:r>
                        <a:rPr lang="en-US" sz="1100" b="0" i="0" u="none" strike="noStrike">
                          <a:solidFill>
                            <a:schemeClr val="tx1">
                              <a:lumMod val="100000"/>
                            </a:schemeClr>
                          </a:solidFill>
                          <a:effectLst/>
                          <a:latin typeface="+mn-lt"/>
                        </a:rPr>
                        <a:t>Mid income individuals; Mid-High cash inflow compared to peers; stays in low PP area</a:t>
                      </a: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ctr" rtl="0" fontAlgn="auto" hangingPunct="1">
                        <a:lnSpc>
                          <a:spcPct val="100000"/>
                        </a:lnSpc>
                        <a:spcBef>
                          <a:spcPts val="0"/>
                        </a:spcBef>
                        <a:spcAft>
                          <a:spcPts val="0"/>
                        </a:spcAft>
                      </a:pPr>
                      <a:endParaRPr lang="en-SG" sz="1100" b="0" i="0" u="none" strike="noStrike">
                        <a:solidFill>
                          <a:schemeClr val="tx1">
                            <a:lumMod val="100000"/>
                          </a:schemeClr>
                        </a:solidFill>
                        <a:effectLst/>
                        <a:latin typeface="+mn-lt"/>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algn="ctr" fontAlgn="b"/>
                      <a:endParaRPr lang="en-SG" sz="1100" b="0" i="0" u="none" strike="noStrike">
                        <a:solidFill>
                          <a:schemeClr val="tx1"/>
                        </a:solidFill>
                        <a:effectLst/>
                        <a:latin typeface="+mn-lt"/>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pPr>
                      <a:endParaRPr lang="en-SG" sz="1100" b="0" i="0" u="none" strike="noStrike" kern="1200">
                        <a:solidFill>
                          <a:schemeClr val="tx1">
                            <a:lumMod val="100000"/>
                          </a:schemeClr>
                        </a:solidFill>
                        <a:effectLst/>
                        <a:latin typeface="+mn-lt"/>
                        <a:ea typeface="+mn-ea"/>
                        <a:cs typeface="+mn-cs"/>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pPr>
                      <a:endParaRPr lang="en-SG" sz="1100" b="0" i="0" u="none" strike="noStrike" kern="1200">
                        <a:solidFill>
                          <a:schemeClr val="tx1">
                            <a:lumMod val="100000"/>
                          </a:schemeClr>
                        </a:solidFill>
                        <a:effectLst/>
                        <a:latin typeface="+mn-lt"/>
                        <a:ea typeface="+mn-ea"/>
                        <a:cs typeface="+mn-cs"/>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pPr>
                      <a:endParaRPr lang="en-SG" sz="1100" b="0" i="0" u="none" strike="noStrike" kern="1200">
                        <a:solidFill>
                          <a:schemeClr val="tx1">
                            <a:lumMod val="100000"/>
                          </a:schemeClr>
                        </a:solidFill>
                        <a:effectLst/>
                        <a:latin typeface="+mn-lt"/>
                        <a:ea typeface="+mn-ea"/>
                        <a:cs typeface="+mn-cs"/>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pPr>
                      <a:endParaRPr lang="en-SG" sz="1100" b="0" i="0" u="none" strike="noStrike" kern="1200">
                        <a:solidFill>
                          <a:schemeClr val="tx1">
                            <a:lumMod val="100000"/>
                          </a:schemeClr>
                        </a:solidFill>
                        <a:effectLst/>
                        <a:latin typeface="+mn-lt"/>
                        <a:ea typeface="+mn-ea"/>
                        <a:cs typeface="+mn-cs"/>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pPr>
                      <a:endParaRPr lang="en-SG" sz="1100" b="0" i="0" u="none" strike="noStrike" kern="1200">
                        <a:solidFill>
                          <a:schemeClr val="tx1">
                            <a:lumMod val="100000"/>
                          </a:schemeClr>
                        </a:solidFill>
                        <a:effectLst/>
                        <a:latin typeface="+mn-lt"/>
                        <a:ea typeface="+mn-ea"/>
                        <a:cs typeface="+mn-cs"/>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extLst>
                  <a:ext uri="{0D108BD9-81ED-4DB2-BD59-A6C34878D82A}">
                    <a16:rowId xmlns:a16="http://schemas.microsoft.com/office/drawing/2014/main" val="2634713501"/>
                  </a:ext>
                </a:extLst>
              </a:tr>
              <a:tr h="0">
                <a:tc>
                  <a:txBody>
                    <a:bodyPr/>
                    <a:lstStyle/>
                    <a:p>
                      <a:pPr marL="0" indent="0" algn="l" rtl="0" fontAlgn="auto" hangingPunct="1">
                        <a:lnSpc>
                          <a:spcPct val="100000"/>
                        </a:lnSpc>
                        <a:spcBef>
                          <a:spcPts val="0"/>
                        </a:spcBef>
                        <a:spcAft>
                          <a:spcPts val="0"/>
                        </a:spcAft>
                      </a:pPr>
                      <a:r>
                        <a:rPr lang="en-SG" sz="1100" b="1" i="0" u="none" strike="noStrike">
                          <a:solidFill>
                            <a:schemeClr val="tx2"/>
                          </a:solidFill>
                          <a:effectLst/>
                          <a:latin typeface="+mn-lt"/>
                        </a:rPr>
                        <a:t>MI 3|Young Conservative </a:t>
                      </a: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l" rtl="0" fontAlgn="auto" hangingPunct="1">
                        <a:lnSpc>
                          <a:spcPct val="100000"/>
                        </a:lnSpc>
                        <a:spcBef>
                          <a:spcPts val="0"/>
                        </a:spcBef>
                        <a:spcAft>
                          <a:spcPts val="0"/>
                        </a:spcAft>
                      </a:pPr>
                      <a:r>
                        <a:rPr lang="en-US" sz="1100" b="0" i="0" u="none" strike="noStrike">
                          <a:solidFill>
                            <a:schemeClr val="tx1">
                              <a:lumMod val="100000"/>
                            </a:schemeClr>
                          </a:solidFill>
                          <a:effectLst/>
                          <a:latin typeface="+mn-lt"/>
                        </a:rPr>
                        <a:t>Mid income young individuals; Residing in highest PP area; low monthly bills &amp; transaction size</a:t>
                      </a: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ctr" rtl="0" fontAlgn="auto" hangingPunct="1">
                        <a:lnSpc>
                          <a:spcPct val="100000"/>
                        </a:lnSpc>
                        <a:spcBef>
                          <a:spcPts val="0"/>
                        </a:spcBef>
                        <a:spcAft>
                          <a:spcPts val="0"/>
                        </a:spcAft>
                      </a:pPr>
                      <a:endParaRPr lang="en-SG" sz="1100" b="0" i="0" u="none" strike="noStrike">
                        <a:solidFill>
                          <a:schemeClr val="tx1">
                            <a:lumMod val="100000"/>
                          </a:schemeClr>
                        </a:solidFill>
                        <a:effectLst/>
                        <a:latin typeface="+mn-lt"/>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algn="ctr" fontAlgn="b"/>
                      <a:endParaRPr lang="en-SG" sz="1100" b="0" i="0" u="none" strike="noStrike">
                        <a:solidFill>
                          <a:schemeClr val="tx1"/>
                        </a:solidFill>
                        <a:effectLst/>
                        <a:latin typeface="+mn-lt"/>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pPr>
                      <a:endParaRPr lang="en-SG" sz="1100" b="0" i="0" u="none" strike="noStrike" kern="1200">
                        <a:solidFill>
                          <a:schemeClr val="tx1">
                            <a:lumMod val="100000"/>
                          </a:schemeClr>
                        </a:solidFill>
                        <a:effectLst/>
                        <a:latin typeface="+mn-lt"/>
                        <a:ea typeface="+mn-ea"/>
                        <a:cs typeface="+mn-cs"/>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pPr>
                      <a:endParaRPr lang="en-SG" sz="1100" b="0" i="0" u="none" strike="noStrike" kern="1200">
                        <a:solidFill>
                          <a:schemeClr val="tx1">
                            <a:lumMod val="100000"/>
                          </a:schemeClr>
                        </a:solidFill>
                        <a:effectLst/>
                        <a:latin typeface="+mn-lt"/>
                        <a:ea typeface="+mn-ea"/>
                        <a:cs typeface="+mn-cs"/>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pPr>
                      <a:endParaRPr lang="en-SG" sz="1100" b="0" i="0" u="none" strike="noStrike" kern="1200">
                        <a:solidFill>
                          <a:schemeClr val="tx1">
                            <a:lumMod val="100000"/>
                          </a:schemeClr>
                        </a:solidFill>
                        <a:effectLst/>
                        <a:latin typeface="+mn-lt"/>
                        <a:ea typeface="+mn-ea"/>
                        <a:cs typeface="+mn-cs"/>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pPr>
                      <a:endParaRPr lang="en-SG" sz="1100" b="0" i="0" u="none" strike="noStrike" kern="1200">
                        <a:solidFill>
                          <a:schemeClr val="tx1">
                            <a:lumMod val="100000"/>
                          </a:schemeClr>
                        </a:solidFill>
                        <a:effectLst/>
                        <a:latin typeface="+mn-lt"/>
                        <a:ea typeface="+mn-ea"/>
                        <a:cs typeface="+mn-cs"/>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pPr>
                      <a:endParaRPr lang="en-SG" sz="1100" b="0" i="0" u="none" strike="noStrike" kern="1200">
                        <a:solidFill>
                          <a:schemeClr val="tx1">
                            <a:lumMod val="100000"/>
                          </a:schemeClr>
                        </a:solidFill>
                        <a:effectLst/>
                        <a:latin typeface="+mn-lt"/>
                        <a:ea typeface="+mn-ea"/>
                        <a:cs typeface="+mn-cs"/>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extLst>
                  <a:ext uri="{0D108BD9-81ED-4DB2-BD59-A6C34878D82A}">
                    <a16:rowId xmlns:a16="http://schemas.microsoft.com/office/drawing/2014/main" val="3533525605"/>
                  </a:ext>
                </a:extLst>
              </a:tr>
              <a:tr h="0">
                <a:tc>
                  <a:txBody>
                    <a:bodyPr/>
                    <a:lstStyle/>
                    <a:p>
                      <a:pPr marL="0" indent="0" algn="l" rtl="0" fontAlgn="auto" hangingPunct="1">
                        <a:lnSpc>
                          <a:spcPct val="100000"/>
                        </a:lnSpc>
                        <a:spcBef>
                          <a:spcPts val="0"/>
                        </a:spcBef>
                        <a:spcAft>
                          <a:spcPts val="0"/>
                        </a:spcAft>
                      </a:pPr>
                      <a:r>
                        <a:rPr lang="en-US" sz="1100" b="1" i="0" u="none" strike="noStrike">
                          <a:solidFill>
                            <a:schemeClr val="tx2"/>
                          </a:solidFill>
                          <a:effectLst/>
                          <a:latin typeface="+mn-lt"/>
                        </a:rPr>
                        <a:t>MI 4|Spenders Young Family</a:t>
                      </a: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l" rtl="0" fontAlgn="auto" hangingPunct="1">
                        <a:lnSpc>
                          <a:spcPct val="100000"/>
                        </a:lnSpc>
                        <a:spcBef>
                          <a:spcPts val="0"/>
                        </a:spcBef>
                        <a:spcAft>
                          <a:spcPts val="0"/>
                        </a:spcAft>
                      </a:pPr>
                      <a:r>
                        <a:rPr lang="en-US" sz="1100" b="0" i="0" u="none" strike="noStrike">
                          <a:solidFill>
                            <a:schemeClr val="tx1">
                              <a:lumMod val="100000"/>
                            </a:schemeClr>
                          </a:solidFill>
                          <a:effectLst/>
                          <a:latin typeface="+mn-lt"/>
                        </a:rPr>
                        <a:t>Mid income individuals; Mid-High PP area; mid income group; High monthly cash outflow ; High monthly bills </a:t>
                      </a: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ctr" rtl="0" fontAlgn="auto" hangingPunct="1">
                        <a:lnSpc>
                          <a:spcPct val="100000"/>
                        </a:lnSpc>
                        <a:spcBef>
                          <a:spcPts val="0"/>
                        </a:spcBef>
                        <a:spcAft>
                          <a:spcPts val="0"/>
                        </a:spcAft>
                      </a:pPr>
                      <a:endParaRPr lang="en-SG" sz="1100" b="0" i="0" u="none" strike="noStrike">
                        <a:solidFill>
                          <a:schemeClr val="tx1">
                            <a:lumMod val="100000"/>
                          </a:schemeClr>
                        </a:solidFill>
                        <a:effectLst/>
                        <a:latin typeface="+mn-lt"/>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algn="ctr" fontAlgn="b"/>
                      <a:endParaRPr lang="en-SG" sz="1100" b="0" i="0" u="none" strike="noStrike">
                        <a:solidFill>
                          <a:schemeClr val="tx1"/>
                        </a:solidFill>
                        <a:effectLst/>
                        <a:latin typeface="+mn-lt"/>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pPr>
                      <a:endParaRPr lang="en-SG" sz="1100" b="0" i="0" u="none" strike="noStrike" kern="1200">
                        <a:solidFill>
                          <a:schemeClr val="tx1">
                            <a:lumMod val="100000"/>
                          </a:schemeClr>
                        </a:solidFill>
                        <a:effectLst/>
                        <a:latin typeface="+mn-lt"/>
                        <a:ea typeface="+mn-ea"/>
                        <a:cs typeface="+mn-cs"/>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pPr>
                      <a:endParaRPr lang="en-SG" sz="1100" b="0" i="0" u="none" strike="noStrike" kern="1200">
                        <a:solidFill>
                          <a:srgbClr val="FF0000"/>
                        </a:solidFill>
                        <a:effectLst/>
                        <a:latin typeface="+mn-lt"/>
                        <a:ea typeface="+mn-ea"/>
                        <a:cs typeface="+mn-cs"/>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pPr>
                      <a:endParaRPr lang="en-SG" sz="1100" b="0" i="0" u="none" strike="noStrike" kern="1200">
                        <a:solidFill>
                          <a:schemeClr val="tx1">
                            <a:lumMod val="100000"/>
                          </a:schemeClr>
                        </a:solidFill>
                        <a:effectLst/>
                        <a:latin typeface="+mn-lt"/>
                        <a:ea typeface="+mn-ea"/>
                        <a:cs typeface="+mn-cs"/>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pPr>
                      <a:endParaRPr lang="en-SG" sz="1100" b="0" i="0" u="none" strike="noStrike" kern="1200">
                        <a:solidFill>
                          <a:schemeClr val="tx1">
                            <a:lumMod val="100000"/>
                          </a:schemeClr>
                        </a:solidFill>
                        <a:effectLst/>
                        <a:latin typeface="+mn-lt"/>
                        <a:ea typeface="+mn-ea"/>
                        <a:cs typeface="+mn-cs"/>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pPr>
                      <a:endParaRPr lang="en-SG" sz="1100" b="0" i="0" u="none" strike="noStrike" kern="1200">
                        <a:solidFill>
                          <a:schemeClr val="tx1">
                            <a:lumMod val="100000"/>
                          </a:schemeClr>
                        </a:solidFill>
                        <a:effectLst/>
                        <a:latin typeface="+mn-lt"/>
                        <a:ea typeface="+mn-ea"/>
                        <a:cs typeface="+mn-cs"/>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extLst>
                  <a:ext uri="{0D108BD9-81ED-4DB2-BD59-A6C34878D82A}">
                    <a16:rowId xmlns:a16="http://schemas.microsoft.com/office/drawing/2014/main" val="556131410"/>
                  </a:ext>
                </a:extLst>
              </a:tr>
              <a:tr h="0">
                <a:tc>
                  <a:txBody>
                    <a:bodyPr/>
                    <a:lstStyle/>
                    <a:p>
                      <a:pPr marL="0" indent="0" algn="l" rtl="0" fontAlgn="auto" hangingPunct="1">
                        <a:lnSpc>
                          <a:spcPct val="100000"/>
                        </a:lnSpc>
                        <a:spcBef>
                          <a:spcPts val="0"/>
                        </a:spcBef>
                        <a:spcAft>
                          <a:spcPts val="0"/>
                        </a:spcAft>
                      </a:pPr>
                      <a:r>
                        <a:rPr lang="en-SG" sz="1100" b="1" i="0" u="none" strike="noStrike">
                          <a:solidFill>
                            <a:schemeClr val="tx2"/>
                          </a:solidFill>
                          <a:effectLst/>
                          <a:latin typeface="+mn-lt"/>
                        </a:rPr>
                        <a:t>MI 5|Elite location Family </a:t>
                      </a: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l" rtl="0" fontAlgn="auto" hangingPunct="1">
                        <a:lnSpc>
                          <a:spcPct val="100000"/>
                        </a:lnSpc>
                        <a:spcBef>
                          <a:spcPts val="0"/>
                        </a:spcBef>
                        <a:spcAft>
                          <a:spcPts val="0"/>
                        </a:spcAft>
                      </a:pPr>
                      <a:r>
                        <a:rPr lang="en-US" sz="1100" b="0" i="0" u="none" strike="noStrike">
                          <a:solidFill>
                            <a:schemeClr val="tx1">
                              <a:lumMod val="100000"/>
                            </a:schemeClr>
                          </a:solidFill>
                          <a:effectLst/>
                          <a:latin typeface="+mn-lt"/>
                        </a:rPr>
                        <a:t>Mid income married individuals; Residing in highest PP area; High monthly bills and transaction size</a:t>
                      </a: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ctr" rtl="0" fontAlgn="auto" hangingPunct="1">
                        <a:lnSpc>
                          <a:spcPct val="100000"/>
                        </a:lnSpc>
                        <a:spcBef>
                          <a:spcPts val="0"/>
                        </a:spcBef>
                        <a:spcAft>
                          <a:spcPts val="0"/>
                        </a:spcAft>
                      </a:pPr>
                      <a:endParaRPr lang="en-SG" sz="1100" b="0" i="0" u="none" strike="noStrike">
                        <a:solidFill>
                          <a:schemeClr val="tx1">
                            <a:lumMod val="100000"/>
                          </a:schemeClr>
                        </a:solidFill>
                        <a:effectLst/>
                        <a:latin typeface="+mn-lt"/>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algn="ctr" fontAlgn="b"/>
                      <a:endParaRPr lang="en-SG" sz="1100" b="0" i="0" u="none" strike="noStrike">
                        <a:solidFill>
                          <a:schemeClr val="tx1"/>
                        </a:solidFill>
                        <a:effectLst/>
                        <a:latin typeface="+mn-lt"/>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pPr>
                      <a:endParaRPr lang="en-SG" sz="1100" b="0" i="0" u="none" strike="noStrike" kern="1200">
                        <a:solidFill>
                          <a:schemeClr val="tx1">
                            <a:lumMod val="100000"/>
                          </a:schemeClr>
                        </a:solidFill>
                        <a:effectLst/>
                        <a:latin typeface="+mn-lt"/>
                        <a:ea typeface="+mn-ea"/>
                        <a:cs typeface="+mn-cs"/>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pPr>
                      <a:endParaRPr lang="en-SG" sz="1100" b="0" i="0" u="none" strike="noStrike" kern="1200">
                        <a:solidFill>
                          <a:schemeClr val="tx1">
                            <a:lumMod val="100000"/>
                          </a:schemeClr>
                        </a:solidFill>
                        <a:effectLst/>
                        <a:latin typeface="+mn-lt"/>
                        <a:ea typeface="+mn-ea"/>
                        <a:cs typeface="+mn-cs"/>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pPr>
                      <a:endParaRPr lang="en-SG" sz="1100" b="0" i="0" u="none" strike="noStrike" kern="1200">
                        <a:solidFill>
                          <a:schemeClr val="tx1">
                            <a:lumMod val="100000"/>
                          </a:schemeClr>
                        </a:solidFill>
                        <a:effectLst/>
                        <a:latin typeface="+mn-lt"/>
                        <a:ea typeface="+mn-ea"/>
                        <a:cs typeface="+mn-cs"/>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pPr>
                      <a:endParaRPr lang="en-SG" sz="1100" b="0" i="0" u="none" strike="noStrike" kern="1200">
                        <a:solidFill>
                          <a:schemeClr val="tx1">
                            <a:lumMod val="100000"/>
                          </a:schemeClr>
                        </a:solidFill>
                        <a:effectLst/>
                        <a:latin typeface="+mn-lt"/>
                        <a:ea typeface="+mn-ea"/>
                        <a:cs typeface="+mn-cs"/>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pPr>
                      <a:endParaRPr lang="en-SG" sz="1100" b="0" i="0" u="none" strike="noStrike" kern="1200">
                        <a:solidFill>
                          <a:schemeClr val="tx1">
                            <a:lumMod val="100000"/>
                          </a:schemeClr>
                        </a:solidFill>
                        <a:effectLst/>
                        <a:latin typeface="+mn-lt"/>
                        <a:ea typeface="+mn-ea"/>
                        <a:cs typeface="+mn-cs"/>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extLst>
                  <a:ext uri="{0D108BD9-81ED-4DB2-BD59-A6C34878D82A}">
                    <a16:rowId xmlns:a16="http://schemas.microsoft.com/office/drawing/2014/main" val="3523658527"/>
                  </a:ext>
                </a:extLst>
              </a:tr>
              <a:tr h="0">
                <a:tc>
                  <a:txBody>
                    <a:bodyPr/>
                    <a:lstStyle/>
                    <a:p>
                      <a:pPr marL="0" indent="0" algn="l" rtl="0" fontAlgn="auto" hangingPunct="1">
                        <a:lnSpc>
                          <a:spcPct val="100000"/>
                        </a:lnSpc>
                        <a:spcBef>
                          <a:spcPts val="0"/>
                        </a:spcBef>
                        <a:spcAft>
                          <a:spcPts val="0"/>
                        </a:spcAft>
                      </a:pPr>
                      <a:r>
                        <a:rPr lang="en-SG" sz="1100" b="1" i="0" u="none" strike="noStrike">
                          <a:solidFill>
                            <a:schemeClr val="tx2"/>
                          </a:solidFill>
                          <a:effectLst/>
                          <a:latin typeface="+mn-lt"/>
                        </a:rPr>
                        <a:t>MI 6|Conversative Family </a:t>
                      </a: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l" rtl="0" fontAlgn="auto" hangingPunct="1">
                        <a:lnSpc>
                          <a:spcPct val="100000"/>
                        </a:lnSpc>
                        <a:spcBef>
                          <a:spcPts val="0"/>
                        </a:spcBef>
                        <a:spcAft>
                          <a:spcPts val="0"/>
                        </a:spcAft>
                      </a:pPr>
                      <a:r>
                        <a:rPr lang="en-US" sz="1100" b="0" i="0" u="none" strike="noStrike">
                          <a:solidFill>
                            <a:schemeClr val="tx1">
                              <a:lumMod val="100000"/>
                            </a:schemeClr>
                          </a:solidFill>
                          <a:effectLst/>
                          <a:latin typeface="+mn-lt"/>
                        </a:rPr>
                        <a:t>Mid income married people; age group 50+; Mid-High monthly cash inflow ; Low restaurant expenses;</a:t>
                      </a: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ctr" rtl="0" fontAlgn="auto" hangingPunct="1">
                        <a:lnSpc>
                          <a:spcPct val="100000"/>
                        </a:lnSpc>
                        <a:spcBef>
                          <a:spcPts val="0"/>
                        </a:spcBef>
                        <a:spcAft>
                          <a:spcPts val="0"/>
                        </a:spcAft>
                      </a:pPr>
                      <a:endParaRPr lang="en-SG" sz="1100" b="0" i="0" u="none" strike="noStrike">
                        <a:solidFill>
                          <a:schemeClr val="tx1">
                            <a:lumMod val="100000"/>
                          </a:schemeClr>
                        </a:solidFill>
                        <a:effectLst/>
                        <a:latin typeface="+mn-lt"/>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algn="ctr" fontAlgn="b"/>
                      <a:endParaRPr lang="en-SG" sz="1100" b="0" i="0" u="none" strike="noStrike">
                        <a:solidFill>
                          <a:schemeClr val="tx1"/>
                        </a:solidFill>
                        <a:effectLst/>
                        <a:latin typeface="+mn-lt"/>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pPr>
                      <a:endParaRPr lang="en-SG" sz="1100" b="0" i="0" u="none" strike="noStrike" kern="1200">
                        <a:solidFill>
                          <a:schemeClr val="tx1">
                            <a:lumMod val="100000"/>
                          </a:schemeClr>
                        </a:solidFill>
                        <a:effectLst/>
                        <a:latin typeface="+mn-lt"/>
                        <a:ea typeface="+mn-ea"/>
                        <a:cs typeface="+mn-cs"/>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pPr>
                      <a:endParaRPr lang="en-SG" sz="1100" b="0" i="0" u="none" strike="noStrike" kern="1200">
                        <a:solidFill>
                          <a:schemeClr val="tx1">
                            <a:lumMod val="100000"/>
                          </a:schemeClr>
                        </a:solidFill>
                        <a:effectLst/>
                        <a:latin typeface="+mn-lt"/>
                        <a:ea typeface="+mn-ea"/>
                        <a:cs typeface="+mn-cs"/>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pPr>
                      <a:endParaRPr lang="en-SG" sz="1100" b="0" i="0" u="none" strike="noStrike" kern="1200">
                        <a:solidFill>
                          <a:schemeClr val="tx1">
                            <a:lumMod val="100000"/>
                          </a:schemeClr>
                        </a:solidFill>
                        <a:effectLst/>
                        <a:latin typeface="+mn-lt"/>
                        <a:ea typeface="+mn-ea"/>
                        <a:cs typeface="+mn-cs"/>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pPr>
                      <a:endParaRPr lang="en-SG" sz="1100" b="0" i="0" u="none" strike="noStrike" kern="1200">
                        <a:solidFill>
                          <a:schemeClr val="tx1">
                            <a:lumMod val="100000"/>
                          </a:schemeClr>
                        </a:solidFill>
                        <a:effectLst/>
                        <a:latin typeface="+mn-lt"/>
                        <a:ea typeface="+mn-ea"/>
                        <a:cs typeface="+mn-cs"/>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pPr>
                      <a:endParaRPr lang="en-SG" sz="1100" b="0" i="0" u="none" strike="noStrike" kern="1200">
                        <a:solidFill>
                          <a:schemeClr val="tx1">
                            <a:lumMod val="100000"/>
                          </a:schemeClr>
                        </a:solidFill>
                        <a:effectLst/>
                        <a:latin typeface="+mn-lt"/>
                        <a:ea typeface="+mn-ea"/>
                        <a:cs typeface="+mn-cs"/>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extLst>
                  <a:ext uri="{0D108BD9-81ED-4DB2-BD59-A6C34878D82A}">
                    <a16:rowId xmlns:a16="http://schemas.microsoft.com/office/drawing/2014/main" val="2731287314"/>
                  </a:ext>
                </a:extLst>
              </a:tr>
              <a:tr h="0">
                <a:tc>
                  <a:txBody>
                    <a:bodyPr/>
                    <a:lstStyle/>
                    <a:p>
                      <a:pPr marL="0" indent="0" algn="l" rtl="0" fontAlgn="auto" hangingPunct="1">
                        <a:lnSpc>
                          <a:spcPct val="100000"/>
                        </a:lnSpc>
                        <a:spcBef>
                          <a:spcPts val="0"/>
                        </a:spcBef>
                        <a:spcAft>
                          <a:spcPts val="0"/>
                        </a:spcAft>
                      </a:pPr>
                      <a:r>
                        <a:rPr lang="en-SG" sz="1100" b="1" i="0" u="none" strike="noStrike">
                          <a:solidFill>
                            <a:schemeClr val="tx2"/>
                          </a:solidFill>
                          <a:effectLst/>
                          <a:latin typeface="+mn-lt"/>
                        </a:rPr>
                        <a:t>MI 7|Rich lifestyle</a:t>
                      </a: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l" rtl="0" fontAlgn="auto" hangingPunct="1">
                        <a:lnSpc>
                          <a:spcPct val="100000"/>
                        </a:lnSpc>
                        <a:spcBef>
                          <a:spcPts val="0"/>
                        </a:spcBef>
                        <a:spcAft>
                          <a:spcPts val="0"/>
                        </a:spcAft>
                      </a:pPr>
                      <a:r>
                        <a:rPr lang="en-US" sz="1100" b="0" i="0" u="none" strike="noStrike">
                          <a:solidFill>
                            <a:schemeClr val="tx1">
                              <a:lumMod val="100000"/>
                            </a:schemeClr>
                          </a:solidFill>
                          <a:effectLst/>
                          <a:latin typeface="+mn-lt"/>
                        </a:rPr>
                        <a:t>Age group 50+ </a:t>
                      </a:r>
                      <a:r>
                        <a:rPr lang="en-US" sz="1100" b="0" i="0" u="none" strike="noStrike" err="1">
                          <a:solidFill>
                            <a:schemeClr val="tx1">
                              <a:lumMod val="100000"/>
                            </a:schemeClr>
                          </a:solidFill>
                          <a:effectLst/>
                          <a:latin typeface="+mn-lt"/>
                        </a:rPr>
                        <a:t>yrs</a:t>
                      </a:r>
                      <a:r>
                        <a:rPr lang="en-US" sz="1100" b="0" i="0" u="none" strike="noStrike">
                          <a:solidFill>
                            <a:schemeClr val="tx1">
                              <a:lumMod val="100000"/>
                            </a:schemeClr>
                          </a:solidFill>
                          <a:effectLst/>
                          <a:latin typeface="+mn-lt"/>
                        </a:rPr>
                        <a:t>; High hospital expenses; High credit card penetration; High transaction (CR/DB) size and high monthly bills compared to peers </a:t>
                      </a: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ctr" rtl="0" fontAlgn="auto" hangingPunct="1">
                        <a:lnSpc>
                          <a:spcPct val="100000"/>
                        </a:lnSpc>
                        <a:spcBef>
                          <a:spcPts val="0"/>
                        </a:spcBef>
                        <a:spcAft>
                          <a:spcPts val="0"/>
                        </a:spcAft>
                      </a:pPr>
                      <a:endParaRPr lang="en-SG" sz="1100" b="0" i="0" u="none" strike="noStrike">
                        <a:solidFill>
                          <a:schemeClr val="tx1">
                            <a:lumMod val="100000"/>
                          </a:schemeClr>
                        </a:solidFill>
                        <a:effectLst/>
                        <a:latin typeface="+mn-lt"/>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algn="ctr" fontAlgn="b"/>
                      <a:endParaRPr lang="en-SG" sz="1100" b="0" i="0" u="none" strike="noStrike">
                        <a:solidFill>
                          <a:schemeClr val="tx1"/>
                        </a:solidFill>
                        <a:effectLst/>
                        <a:latin typeface="+mn-lt"/>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pPr>
                      <a:endParaRPr lang="en-SG" sz="1100" b="0" i="0" u="none" strike="noStrike" kern="1200">
                        <a:solidFill>
                          <a:schemeClr val="tx1">
                            <a:lumMod val="100000"/>
                          </a:schemeClr>
                        </a:solidFill>
                        <a:effectLst/>
                        <a:latin typeface="+mn-lt"/>
                        <a:ea typeface="+mn-ea"/>
                        <a:cs typeface="+mn-cs"/>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pPr>
                      <a:endParaRPr lang="en-SG" sz="1100" b="0" i="0" u="none" strike="noStrike" kern="1200">
                        <a:solidFill>
                          <a:schemeClr val="tx1">
                            <a:lumMod val="100000"/>
                          </a:schemeClr>
                        </a:solidFill>
                        <a:effectLst/>
                        <a:latin typeface="+mn-lt"/>
                        <a:ea typeface="+mn-ea"/>
                        <a:cs typeface="+mn-cs"/>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pPr>
                      <a:endParaRPr lang="en-SG" sz="1100" b="0" i="0" u="none" strike="noStrike" kern="1200">
                        <a:solidFill>
                          <a:schemeClr val="tx1">
                            <a:lumMod val="100000"/>
                          </a:schemeClr>
                        </a:solidFill>
                        <a:effectLst/>
                        <a:latin typeface="+mn-lt"/>
                        <a:ea typeface="+mn-ea"/>
                        <a:cs typeface="+mn-cs"/>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pPr>
                      <a:endParaRPr lang="en-SG" sz="1100" b="0" i="0" u="none" strike="noStrike" kern="1200">
                        <a:solidFill>
                          <a:schemeClr val="tx1">
                            <a:lumMod val="100000"/>
                          </a:schemeClr>
                        </a:solidFill>
                        <a:effectLst/>
                        <a:latin typeface="+mn-lt"/>
                        <a:ea typeface="+mn-ea"/>
                        <a:cs typeface="+mn-cs"/>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pPr>
                      <a:endParaRPr lang="en-SG" sz="1100" b="0" i="0" u="none" strike="noStrike" kern="1200">
                        <a:solidFill>
                          <a:schemeClr val="tx1">
                            <a:lumMod val="100000"/>
                          </a:schemeClr>
                        </a:solidFill>
                        <a:effectLst/>
                        <a:latin typeface="+mn-lt"/>
                        <a:ea typeface="+mn-ea"/>
                        <a:cs typeface="+mn-cs"/>
                      </a:endParaRPr>
                    </a:p>
                  </a:txBody>
                  <a:tcPr marL="45720" marR="45720" anchor="ct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tcPr>
                </a:tc>
                <a:extLst>
                  <a:ext uri="{0D108BD9-81ED-4DB2-BD59-A6C34878D82A}">
                    <a16:rowId xmlns:a16="http://schemas.microsoft.com/office/drawing/2014/main" val="1524126868"/>
                  </a:ext>
                </a:extLst>
              </a:tr>
            </a:tbl>
          </a:graphicData>
        </a:graphic>
      </p:graphicFrame>
      <p:sp>
        <p:nvSpPr>
          <p:cNvPr id="8" name="IllustrativeStamp">
            <a:extLst>
              <a:ext uri="{FF2B5EF4-FFF2-40B4-BE49-F238E27FC236}">
                <a16:creationId xmlns:a16="http://schemas.microsoft.com/office/drawing/2014/main" id="{A1562FE5-516C-4DB2-A695-55C8A989984B}"/>
              </a:ext>
            </a:extLst>
          </p:cNvPr>
          <p:cNvSpPr/>
          <p:nvPr/>
        </p:nvSpPr>
        <p:spPr>
          <a:xfrm>
            <a:off x="10068675" y="1238232"/>
            <a:ext cx="1492954" cy="410045"/>
          </a:xfrm>
          <a:prstGeom prst="rect">
            <a:avLst/>
          </a:prstGeom>
          <a:solidFill>
            <a:schemeClr val="tx2"/>
          </a:solidFill>
          <a:ln w="9525">
            <a:no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l"/>
            <a:r>
              <a:rPr lang="en-US" sz="1200">
                <a:solidFill>
                  <a:schemeClr val="bg1"/>
                </a:solidFill>
                <a:latin typeface="Trebuchet MS" panose="020B0603020202020204" pitchFamily="34" charset="0"/>
              </a:rPr>
              <a:t>Data from 10 selected branches</a:t>
            </a:r>
          </a:p>
        </p:txBody>
      </p:sp>
    </p:spTree>
    <p:extLst>
      <p:ext uri="{BB962C8B-B14F-4D97-AF65-F5344CB8AC3E}">
        <p14:creationId xmlns:p14="http://schemas.microsoft.com/office/powerpoint/2010/main" val="43558712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txBox="1">
            <a:spLocks noGrp="1"/>
          </p:cNvSpPr>
          <p:nvPr>
            <p:ph type="title"/>
          </p:nvPr>
        </p:nvSpPr>
        <p:spPr>
          <a:xfrm>
            <a:off x="617321" y="3712845"/>
            <a:ext cx="10638790" cy="2330450"/>
          </a:xfrm>
          <a:prstGeom prst="rect">
            <a:avLst/>
          </a:prstGeom>
        </p:spPr>
        <p:txBody>
          <a:bodyPr vert="horz" wrap="square" lIns="0" tIns="94615" rIns="0" bIns="0" rtlCol="0">
            <a:spAutoFit/>
          </a:bodyPr>
          <a:lstStyle/>
          <a:p>
            <a:pPr marL="12700" marR="5080">
              <a:lnSpc>
                <a:spcPct val="90000"/>
              </a:lnSpc>
              <a:spcBef>
                <a:spcPts val="745"/>
              </a:spcBef>
            </a:pPr>
            <a:r>
              <a:rPr sz="5400">
                <a:solidFill>
                  <a:srgbClr val="FFFFFF"/>
                </a:solidFill>
              </a:rPr>
              <a:t>3.</a:t>
            </a:r>
            <a:r>
              <a:rPr sz="5400" spc="-105">
                <a:solidFill>
                  <a:srgbClr val="FFFFFF"/>
                </a:solidFill>
              </a:rPr>
              <a:t> </a:t>
            </a:r>
            <a:r>
              <a:rPr sz="5400">
                <a:solidFill>
                  <a:srgbClr val="FFFFFF"/>
                </a:solidFill>
              </a:rPr>
              <a:t>Coverage</a:t>
            </a:r>
            <a:r>
              <a:rPr sz="5400" spc="-90">
                <a:solidFill>
                  <a:srgbClr val="FFFFFF"/>
                </a:solidFill>
              </a:rPr>
              <a:t> </a:t>
            </a:r>
            <a:r>
              <a:rPr sz="5400">
                <a:solidFill>
                  <a:srgbClr val="FFFFFF"/>
                </a:solidFill>
              </a:rPr>
              <a:t>&amp;</a:t>
            </a:r>
            <a:r>
              <a:rPr sz="5400" spc="-105">
                <a:solidFill>
                  <a:srgbClr val="FFFFFF"/>
                </a:solidFill>
              </a:rPr>
              <a:t> </a:t>
            </a:r>
            <a:r>
              <a:rPr sz="5400">
                <a:solidFill>
                  <a:srgbClr val="FFFFFF"/>
                </a:solidFill>
              </a:rPr>
              <a:t>front</a:t>
            </a:r>
            <a:r>
              <a:rPr sz="5400" spc="-90">
                <a:solidFill>
                  <a:srgbClr val="FFFFFF"/>
                </a:solidFill>
              </a:rPr>
              <a:t> </a:t>
            </a:r>
            <a:r>
              <a:rPr sz="5400" spc="-10">
                <a:solidFill>
                  <a:srgbClr val="FFFFFF"/>
                </a:solidFill>
              </a:rPr>
              <a:t>effectiveness: </a:t>
            </a:r>
            <a:r>
              <a:rPr sz="5400">
                <a:solidFill>
                  <a:srgbClr val="FFFFFF"/>
                </a:solidFill>
              </a:rPr>
              <a:t>Lead</a:t>
            </a:r>
            <a:r>
              <a:rPr sz="5400" spc="-245">
                <a:solidFill>
                  <a:srgbClr val="FFFFFF"/>
                </a:solidFill>
              </a:rPr>
              <a:t> </a:t>
            </a:r>
            <a:r>
              <a:rPr sz="5400">
                <a:solidFill>
                  <a:srgbClr val="FFFFFF"/>
                </a:solidFill>
              </a:rPr>
              <a:t>management</a:t>
            </a:r>
            <a:r>
              <a:rPr sz="5400" spc="-245">
                <a:solidFill>
                  <a:srgbClr val="FFFFFF"/>
                </a:solidFill>
              </a:rPr>
              <a:t> </a:t>
            </a:r>
            <a:r>
              <a:rPr sz="5400" spc="-25">
                <a:solidFill>
                  <a:srgbClr val="FFFFFF"/>
                </a:solidFill>
              </a:rPr>
              <a:t>and </a:t>
            </a:r>
            <a:r>
              <a:rPr sz="5400">
                <a:solidFill>
                  <a:srgbClr val="FFFFFF"/>
                </a:solidFill>
              </a:rPr>
              <a:t>prioritization</a:t>
            </a:r>
            <a:r>
              <a:rPr sz="5400" spc="-85">
                <a:solidFill>
                  <a:srgbClr val="FFFFFF"/>
                </a:solidFill>
              </a:rPr>
              <a:t> </a:t>
            </a:r>
            <a:r>
              <a:rPr sz="5400" spc="-10">
                <a:solidFill>
                  <a:srgbClr val="FFFFFF"/>
                </a:solidFill>
              </a:rPr>
              <a:t>approach</a:t>
            </a:r>
            <a:endParaRPr sz="5400"/>
          </a:p>
        </p:txBody>
      </p:sp>
      <p:sp>
        <p:nvSpPr>
          <p:cNvPr id="3" name="object 3"/>
          <p:cNvSpPr txBox="1">
            <a:spLocks noGrp="1"/>
          </p:cNvSpPr>
          <p:nvPr>
            <p:ph type="sldNum" sz="quarter" idx="7"/>
          </p:nvPr>
        </p:nvSpPr>
        <p:spPr>
          <a:prstGeom prst="rect">
            <a:avLst/>
          </a:prstGeom>
        </p:spPr>
        <p:txBody>
          <a:bodyPr vert="horz" wrap="square" lIns="0" tIns="4445" rIns="0" bIns="0" rtlCol="0">
            <a:spAutoFit/>
          </a:bodyPr>
          <a:lstStyle/>
          <a:p>
            <a:pPr marL="38100" marR="0" lvl="0" indent="0" defTabSz="914400" eaLnBrk="1" fontAlgn="auto" latinLnBrk="0" hangingPunct="1">
              <a:lnSpc>
                <a:spcPct val="100000"/>
              </a:lnSpc>
              <a:spcBef>
                <a:spcPts val="35"/>
              </a:spcBef>
              <a:spcAft>
                <a:spcPts val="0"/>
              </a:spcAft>
              <a:buClrTx/>
              <a:buSzTx/>
              <a:buFontTx/>
              <a:buNone/>
              <a:tabLst/>
              <a:defRPr/>
            </a:pPr>
            <a:r>
              <a:rPr kumimoji="0" sz="1000" b="0" i="0" u="none" strike="noStrike" kern="0" cap="none" spc="-25" normalizeH="0" baseline="0" noProof="0">
                <a:ln>
                  <a:noFill/>
                </a:ln>
                <a:solidFill>
                  <a:srgbClr val="FFFFFF"/>
                </a:solidFill>
                <a:effectLst/>
                <a:uLnTx/>
                <a:uFillTx/>
                <a:latin typeface="Trebuchet MS"/>
              </a:rPr>
              <a:t>10</a:t>
            </a: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11986574" y="3898286"/>
            <a:ext cx="128270" cy="2653665"/>
          </a:xfrm>
          <a:prstGeom prst="rect">
            <a:avLst/>
          </a:prstGeom>
        </p:spPr>
        <p:txBody>
          <a:bodyPr vert="vert270" wrap="square" lIns="0" tIns="6350" rIns="0" bIns="0" rtlCol="0">
            <a:spAutoFit/>
          </a:bodyPr>
          <a:lstStyle/>
          <a:p>
            <a:pPr marL="12700" marR="0" lvl="0" indent="0" defTabSz="914400" eaLnBrk="1" fontAlgn="auto" latinLnBrk="0" hangingPunct="1">
              <a:lnSpc>
                <a:spcPct val="100000"/>
              </a:lnSpc>
              <a:spcBef>
                <a:spcPts val="50"/>
              </a:spcBef>
              <a:spcAft>
                <a:spcPts val="0"/>
              </a:spcAft>
              <a:buClrTx/>
              <a:buSzTx/>
              <a:buFontTx/>
              <a:buNone/>
              <a:tabLst/>
              <a:defRPr/>
            </a:pPr>
            <a:r>
              <a:rPr kumimoji="0" sz="700" b="0" i="0" u="none" strike="noStrike" kern="0" cap="none" spc="0" normalizeH="0" baseline="0" noProof="0">
                <a:ln>
                  <a:noFill/>
                </a:ln>
                <a:solidFill>
                  <a:srgbClr val="7E7E7E"/>
                </a:solidFill>
                <a:effectLst/>
                <a:uLnTx/>
                <a:uFillTx/>
                <a:latin typeface="Trebuchet MS"/>
                <a:cs typeface="Trebuchet MS"/>
              </a:rPr>
              <a:t>Copyright</a:t>
            </a:r>
            <a:r>
              <a:rPr kumimoji="0" sz="700" b="0" i="0" u="none" strike="noStrike" kern="0" cap="none" spc="-25" normalizeH="0" baseline="0" noProof="0">
                <a:ln>
                  <a:noFill/>
                </a:ln>
                <a:solidFill>
                  <a:srgbClr val="7E7E7E"/>
                </a:solidFill>
                <a:effectLst/>
                <a:uLnTx/>
                <a:uFillTx/>
                <a:latin typeface="Trebuchet MS"/>
                <a:cs typeface="Trebuchet MS"/>
              </a:rPr>
              <a:t> </a:t>
            </a:r>
            <a:r>
              <a:rPr kumimoji="0" sz="700" b="0" i="0" u="none" strike="noStrike" kern="0" cap="none" spc="0" normalizeH="0" baseline="0" noProof="0">
                <a:ln>
                  <a:noFill/>
                </a:ln>
                <a:solidFill>
                  <a:srgbClr val="7E7E7E"/>
                </a:solidFill>
                <a:effectLst/>
                <a:uLnTx/>
                <a:uFillTx/>
                <a:latin typeface="Trebuchet MS"/>
                <a:cs typeface="Trebuchet MS"/>
              </a:rPr>
              <a:t>©</a:t>
            </a:r>
            <a:r>
              <a:rPr kumimoji="0" sz="700" b="0" i="0" u="none" strike="noStrike" kern="0" cap="none" spc="-25" normalizeH="0" baseline="0" noProof="0">
                <a:ln>
                  <a:noFill/>
                </a:ln>
                <a:solidFill>
                  <a:srgbClr val="7E7E7E"/>
                </a:solidFill>
                <a:effectLst/>
                <a:uLnTx/>
                <a:uFillTx/>
                <a:latin typeface="Trebuchet MS"/>
                <a:cs typeface="Trebuchet MS"/>
              </a:rPr>
              <a:t> </a:t>
            </a:r>
            <a:r>
              <a:rPr kumimoji="0" sz="700" b="0" i="0" u="none" strike="noStrike" kern="0" cap="none" spc="0" normalizeH="0" baseline="0" noProof="0">
                <a:ln>
                  <a:noFill/>
                </a:ln>
                <a:solidFill>
                  <a:srgbClr val="7E7E7E"/>
                </a:solidFill>
                <a:effectLst/>
                <a:uLnTx/>
                <a:uFillTx/>
                <a:latin typeface="Trebuchet MS"/>
                <a:cs typeface="Trebuchet MS"/>
              </a:rPr>
              <a:t>2019</a:t>
            </a:r>
            <a:r>
              <a:rPr kumimoji="0" sz="700" b="0" i="0" u="none" strike="noStrike" kern="0" cap="none" spc="-15" normalizeH="0" baseline="0" noProof="0">
                <a:ln>
                  <a:noFill/>
                </a:ln>
                <a:solidFill>
                  <a:srgbClr val="7E7E7E"/>
                </a:solidFill>
                <a:effectLst/>
                <a:uLnTx/>
                <a:uFillTx/>
                <a:latin typeface="Trebuchet MS"/>
                <a:cs typeface="Trebuchet MS"/>
              </a:rPr>
              <a:t> </a:t>
            </a:r>
            <a:r>
              <a:rPr kumimoji="0" sz="700" b="0" i="0" u="none" strike="noStrike" kern="0" cap="none" spc="0" normalizeH="0" baseline="0" noProof="0">
                <a:ln>
                  <a:noFill/>
                </a:ln>
                <a:solidFill>
                  <a:srgbClr val="7E7E7E"/>
                </a:solidFill>
                <a:effectLst/>
                <a:uLnTx/>
                <a:uFillTx/>
                <a:latin typeface="Trebuchet MS"/>
                <a:cs typeface="Trebuchet MS"/>
              </a:rPr>
              <a:t>by</a:t>
            </a:r>
            <a:r>
              <a:rPr kumimoji="0" sz="700" b="0" i="0" u="none" strike="noStrike" kern="0" cap="none" spc="-20" normalizeH="0" baseline="0" noProof="0">
                <a:ln>
                  <a:noFill/>
                </a:ln>
                <a:solidFill>
                  <a:srgbClr val="7E7E7E"/>
                </a:solidFill>
                <a:effectLst/>
                <a:uLnTx/>
                <a:uFillTx/>
                <a:latin typeface="Trebuchet MS"/>
                <a:cs typeface="Trebuchet MS"/>
              </a:rPr>
              <a:t> </a:t>
            </a:r>
            <a:r>
              <a:rPr kumimoji="0" sz="700" b="0" i="0" u="none" strike="noStrike" kern="0" cap="none" spc="0" normalizeH="0" baseline="0" noProof="0">
                <a:ln>
                  <a:noFill/>
                </a:ln>
                <a:solidFill>
                  <a:srgbClr val="7E7E7E"/>
                </a:solidFill>
                <a:effectLst/>
                <a:uLnTx/>
                <a:uFillTx/>
                <a:latin typeface="Trebuchet MS"/>
                <a:cs typeface="Trebuchet MS"/>
              </a:rPr>
              <a:t>Boston </a:t>
            </a:r>
            <a:r>
              <a:rPr kumimoji="0" sz="700" b="0" i="0" u="none" strike="noStrike" kern="0" cap="none" spc="-10" normalizeH="0" baseline="0" noProof="0">
                <a:ln>
                  <a:noFill/>
                </a:ln>
                <a:solidFill>
                  <a:srgbClr val="7E7E7E"/>
                </a:solidFill>
                <a:effectLst/>
                <a:uLnTx/>
                <a:uFillTx/>
                <a:latin typeface="Trebuchet MS"/>
                <a:cs typeface="Trebuchet MS"/>
              </a:rPr>
              <a:t>Consulting </a:t>
            </a:r>
            <a:r>
              <a:rPr kumimoji="0" sz="700" b="0" i="0" u="none" strike="noStrike" kern="0" cap="none" spc="0" normalizeH="0" baseline="0" noProof="0">
                <a:ln>
                  <a:noFill/>
                </a:ln>
                <a:solidFill>
                  <a:srgbClr val="7E7E7E"/>
                </a:solidFill>
                <a:effectLst/>
                <a:uLnTx/>
                <a:uFillTx/>
                <a:latin typeface="Trebuchet MS"/>
                <a:cs typeface="Trebuchet MS"/>
              </a:rPr>
              <a:t>Group.</a:t>
            </a:r>
            <a:r>
              <a:rPr kumimoji="0" sz="700" b="0" i="0" u="none" strike="noStrike" kern="0" cap="none" spc="-5" normalizeH="0" baseline="0" noProof="0">
                <a:ln>
                  <a:noFill/>
                </a:ln>
                <a:solidFill>
                  <a:srgbClr val="7E7E7E"/>
                </a:solidFill>
                <a:effectLst/>
                <a:uLnTx/>
                <a:uFillTx/>
                <a:latin typeface="Trebuchet MS"/>
                <a:cs typeface="Trebuchet MS"/>
              </a:rPr>
              <a:t> </a:t>
            </a:r>
            <a:r>
              <a:rPr kumimoji="0" sz="700" b="0" i="0" u="none" strike="noStrike" kern="0" cap="none" spc="0" normalizeH="0" baseline="0" noProof="0">
                <a:ln>
                  <a:noFill/>
                </a:ln>
                <a:solidFill>
                  <a:srgbClr val="7E7E7E"/>
                </a:solidFill>
                <a:effectLst/>
                <a:uLnTx/>
                <a:uFillTx/>
                <a:latin typeface="Trebuchet MS"/>
                <a:cs typeface="Trebuchet MS"/>
              </a:rPr>
              <a:t>All</a:t>
            </a:r>
            <a:r>
              <a:rPr kumimoji="0" sz="700" b="0" i="0" u="none" strike="noStrike" kern="0" cap="none" spc="-5" normalizeH="0" baseline="0" noProof="0">
                <a:ln>
                  <a:noFill/>
                </a:ln>
                <a:solidFill>
                  <a:srgbClr val="7E7E7E"/>
                </a:solidFill>
                <a:effectLst/>
                <a:uLnTx/>
                <a:uFillTx/>
                <a:latin typeface="Trebuchet MS"/>
                <a:cs typeface="Trebuchet MS"/>
              </a:rPr>
              <a:t> </a:t>
            </a:r>
            <a:r>
              <a:rPr kumimoji="0" sz="700" b="0" i="0" u="none" strike="noStrike" kern="0" cap="none" spc="0" normalizeH="0" baseline="0" noProof="0">
                <a:ln>
                  <a:noFill/>
                </a:ln>
                <a:solidFill>
                  <a:srgbClr val="7E7E7E"/>
                </a:solidFill>
                <a:effectLst/>
                <a:uLnTx/>
                <a:uFillTx/>
                <a:latin typeface="Trebuchet MS"/>
                <a:cs typeface="Trebuchet MS"/>
              </a:rPr>
              <a:t>rights</a:t>
            </a:r>
            <a:r>
              <a:rPr kumimoji="0" sz="700" b="0" i="0" u="none" strike="noStrike" kern="0" cap="none" spc="-25" normalizeH="0" baseline="0" noProof="0">
                <a:ln>
                  <a:noFill/>
                </a:ln>
                <a:solidFill>
                  <a:srgbClr val="7E7E7E"/>
                </a:solidFill>
                <a:effectLst/>
                <a:uLnTx/>
                <a:uFillTx/>
                <a:latin typeface="Trebuchet MS"/>
                <a:cs typeface="Trebuchet MS"/>
              </a:rPr>
              <a:t> </a:t>
            </a:r>
            <a:r>
              <a:rPr kumimoji="0" sz="700" b="0" i="0" u="none" strike="noStrike" kern="0" cap="none" spc="-10" normalizeH="0" baseline="0" noProof="0">
                <a:ln>
                  <a:noFill/>
                </a:ln>
                <a:solidFill>
                  <a:srgbClr val="7E7E7E"/>
                </a:solidFill>
                <a:effectLst/>
                <a:uLnTx/>
                <a:uFillTx/>
                <a:latin typeface="Trebuchet MS"/>
                <a:cs typeface="Trebuchet MS"/>
              </a:rPr>
              <a:t>reserved.</a:t>
            </a:r>
            <a:endParaRPr kumimoji="0" sz="7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3" name="object 3"/>
          <p:cNvSpPr txBox="1">
            <a:spLocks noGrp="1"/>
          </p:cNvSpPr>
          <p:nvPr>
            <p:ph type="title"/>
          </p:nvPr>
        </p:nvSpPr>
        <p:spPr>
          <a:prstGeom prst="rect">
            <a:avLst/>
          </a:prstGeom>
        </p:spPr>
        <p:txBody>
          <a:bodyPr vert="horz" wrap="square" lIns="0" tIns="286080" rIns="0" bIns="0" rtlCol="0">
            <a:spAutoFit/>
          </a:bodyPr>
          <a:lstStyle/>
          <a:p>
            <a:pPr marL="12700">
              <a:lnSpc>
                <a:spcPct val="100000"/>
              </a:lnSpc>
              <a:spcBef>
                <a:spcPts val="100"/>
              </a:spcBef>
            </a:pPr>
            <a:r>
              <a:rPr sz="2400"/>
              <a:t>Context:</a:t>
            </a:r>
            <a:r>
              <a:rPr sz="2400" spc="-25"/>
              <a:t> </a:t>
            </a:r>
            <a:r>
              <a:rPr sz="2400"/>
              <a:t>From</a:t>
            </a:r>
            <a:r>
              <a:rPr sz="2400" spc="-50"/>
              <a:t> </a:t>
            </a:r>
            <a:r>
              <a:rPr sz="2400"/>
              <a:t>full</a:t>
            </a:r>
            <a:r>
              <a:rPr sz="2400" spc="-25"/>
              <a:t> </a:t>
            </a:r>
            <a:r>
              <a:rPr sz="2400"/>
              <a:t>RM</a:t>
            </a:r>
            <a:r>
              <a:rPr sz="2400" spc="-55"/>
              <a:t> </a:t>
            </a:r>
            <a:r>
              <a:rPr sz="2400" spc="-35"/>
              <a:t>Journey,</a:t>
            </a:r>
            <a:r>
              <a:rPr sz="2400" spc="-5"/>
              <a:t> </a:t>
            </a:r>
            <a:r>
              <a:rPr sz="2400"/>
              <a:t>focus</a:t>
            </a:r>
            <a:r>
              <a:rPr sz="2400" spc="-40"/>
              <a:t> </a:t>
            </a:r>
            <a:r>
              <a:rPr sz="2400"/>
              <a:t>will</a:t>
            </a:r>
            <a:r>
              <a:rPr sz="2400" spc="-35"/>
              <a:t> </a:t>
            </a:r>
            <a:r>
              <a:rPr sz="2400"/>
              <a:t>be</a:t>
            </a:r>
            <a:r>
              <a:rPr sz="2400" spc="-30"/>
              <a:t> </a:t>
            </a:r>
            <a:r>
              <a:rPr sz="2400"/>
              <a:t>on</a:t>
            </a:r>
            <a:r>
              <a:rPr sz="2400" spc="-45"/>
              <a:t> </a:t>
            </a:r>
            <a:r>
              <a:rPr sz="2400"/>
              <a:t>Leads</a:t>
            </a:r>
            <a:r>
              <a:rPr sz="2400" spc="-30"/>
              <a:t> </a:t>
            </a:r>
            <a:r>
              <a:rPr sz="2400" spc="-10"/>
              <a:t>Generation</a:t>
            </a:r>
            <a:endParaRPr sz="2400"/>
          </a:p>
        </p:txBody>
      </p:sp>
      <p:sp>
        <p:nvSpPr>
          <p:cNvPr id="4" name="object 4"/>
          <p:cNvSpPr/>
          <p:nvPr/>
        </p:nvSpPr>
        <p:spPr>
          <a:xfrm>
            <a:off x="629412" y="4154423"/>
            <a:ext cx="2750820" cy="1013460"/>
          </a:xfrm>
          <a:custGeom>
            <a:avLst/>
            <a:gdLst/>
            <a:ahLst/>
            <a:cxnLst/>
            <a:rect l="l" t="t" r="r" b="b"/>
            <a:pathLst>
              <a:path w="2750820" h="1013460">
                <a:moveTo>
                  <a:pt x="2629154" y="0"/>
                </a:moveTo>
                <a:lnTo>
                  <a:pt x="0" y="0"/>
                </a:lnTo>
                <a:lnTo>
                  <a:pt x="0" y="1013459"/>
                </a:lnTo>
                <a:lnTo>
                  <a:pt x="2629154" y="1013459"/>
                </a:lnTo>
                <a:lnTo>
                  <a:pt x="2750820" y="506730"/>
                </a:lnTo>
                <a:lnTo>
                  <a:pt x="2629154" y="0"/>
                </a:lnTo>
                <a:close/>
              </a:path>
            </a:pathLst>
          </a:custGeom>
          <a:solidFill>
            <a:srgbClr val="29B974"/>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5" name="object 5"/>
          <p:cNvSpPr txBox="1"/>
          <p:nvPr/>
        </p:nvSpPr>
        <p:spPr>
          <a:xfrm>
            <a:off x="1207414" y="4589779"/>
            <a:ext cx="1534795" cy="269240"/>
          </a:xfrm>
          <a:prstGeom prst="rect">
            <a:avLst/>
          </a:prstGeom>
        </p:spPr>
        <p:txBody>
          <a:bodyPr vert="horz" wrap="square" lIns="0" tIns="12065" rIns="0" bIns="0" rtlCol="0">
            <a:spAutoFit/>
          </a:bodyPr>
          <a:lstStyle/>
          <a:p>
            <a:pPr marL="12700" marR="0" lvl="0" indent="0" defTabSz="914400" eaLnBrk="1" fontAlgn="auto" latinLnBrk="0" hangingPunct="1">
              <a:lnSpc>
                <a:spcPct val="100000"/>
              </a:lnSpc>
              <a:spcBef>
                <a:spcPts val="95"/>
              </a:spcBef>
              <a:spcAft>
                <a:spcPts val="0"/>
              </a:spcAft>
              <a:buClrTx/>
              <a:buSzTx/>
              <a:buFontTx/>
              <a:buNone/>
              <a:tabLst/>
              <a:defRPr/>
            </a:pPr>
            <a:r>
              <a:rPr kumimoji="0" sz="1600" b="0" i="0" u="none" strike="noStrike" kern="0" cap="none" spc="0" normalizeH="0" baseline="0" noProof="0">
                <a:ln>
                  <a:noFill/>
                </a:ln>
                <a:solidFill>
                  <a:srgbClr val="FFFFFF"/>
                </a:solidFill>
                <a:effectLst/>
                <a:uLnTx/>
                <a:uFillTx/>
                <a:latin typeface="Trebuchet MS"/>
                <a:cs typeface="Trebuchet MS"/>
              </a:rPr>
              <a:t>Lead</a:t>
            </a:r>
            <a:r>
              <a:rPr kumimoji="0" sz="1600" b="0" i="0" u="none" strike="noStrike" kern="0" cap="none" spc="-40" normalizeH="0" baseline="0" noProof="0">
                <a:ln>
                  <a:noFill/>
                </a:ln>
                <a:solidFill>
                  <a:srgbClr val="FFFFFF"/>
                </a:solidFill>
                <a:effectLst/>
                <a:uLnTx/>
                <a:uFillTx/>
                <a:latin typeface="Trebuchet MS"/>
                <a:cs typeface="Trebuchet MS"/>
              </a:rPr>
              <a:t> </a:t>
            </a:r>
            <a:r>
              <a:rPr kumimoji="0" sz="1600" b="0" i="0" u="none" strike="noStrike" kern="0" cap="none" spc="-10" normalizeH="0" baseline="0" noProof="0">
                <a:ln>
                  <a:noFill/>
                </a:ln>
                <a:solidFill>
                  <a:srgbClr val="FFFFFF"/>
                </a:solidFill>
                <a:effectLst/>
                <a:uLnTx/>
                <a:uFillTx/>
                <a:latin typeface="Trebuchet MS"/>
                <a:cs typeface="Trebuchet MS"/>
              </a:rPr>
              <a:t>Generation</a:t>
            </a:r>
            <a:endParaRPr kumimoji="0" sz="16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6" name="object 6"/>
          <p:cNvSpPr txBox="1"/>
          <p:nvPr/>
        </p:nvSpPr>
        <p:spPr>
          <a:xfrm>
            <a:off x="642010" y="5348478"/>
            <a:ext cx="2051685" cy="666115"/>
          </a:xfrm>
          <a:prstGeom prst="rect">
            <a:avLst/>
          </a:prstGeom>
        </p:spPr>
        <p:txBody>
          <a:bodyPr vert="horz" wrap="square" lIns="0" tIns="12700" rIns="0" bIns="0" rtlCol="0">
            <a:spAutoFit/>
          </a:bodyPr>
          <a:lstStyle/>
          <a:p>
            <a:pPr marL="12700" marR="5080" lvl="0" indent="0" algn="just" defTabSz="914400" eaLnBrk="1" fontAlgn="auto" latinLnBrk="0" hangingPunct="1">
              <a:lnSpc>
                <a:spcPct val="100000"/>
              </a:lnSpc>
              <a:spcBef>
                <a:spcPts val="100"/>
              </a:spcBef>
              <a:spcAft>
                <a:spcPts val="0"/>
              </a:spcAft>
              <a:buClrTx/>
              <a:buSzTx/>
              <a:buFontTx/>
              <a:buNone/>
              <a:tabLst/>
              <a:defRPr/>
            </a:pPr>
            <a:r>
              <a:rPr kumimoji="0" sz="1400" b="0" i="0" u="none" strike="noStrike" kern="0" cap="none" spc="0" normalizeH="0" baseline="0" noProof="0">
                <a:ln>
                  <a:noFill/>
                </a:ln>
                <a:solidFill>
                  <a:srgbClr val="565656"/>
                </a:solidFill>
                <a:effectLst/>
                <a:uLnTx/>
                <a:uFillTx/>
                <a:latin typeface="Trebuchet MS"/>
                <a:cs typeface="Trebuchet MS"/>
              </a:rPr>
              <a:t>Identify</a:t>
            </a:r>
            <a:r>
              <a:rPr kumimoji="0" sz="1400" b="0" i="0" u="none" strike="noStrike" kern="0" cap="none" spc="-75" normalizeH="0" baseline="0" noProof="0">
                <a:ln>
                  <a:noFill/>
                </a:ln>
                <a:solidFill>
                  <a:srgbClr val="565656"/>
                </a:solidFill>
                <a:effectLst/>
                <a:uLnTx/>
                <a:uFillTx/>
                <a:latin typeface="Trebuchet MS"/>
                <a:cs typeface="Trebuchet MS"/>
              </a:rPr>
              <a:t> </a:t>
            </a:r>
            <a:r>
              <a:rPr kumimoji="0" sz="1400" b="0" i="0" u="none" strike="noStrike" kern="0" cap="none" spc="0" normalizeH="0" baseline="0" noProof="0">
                <a:ln>
                  <a:noFill/>
                </a:ln>
                <a:solidFill>
                  <a:srgbClr val="565656"/>
                </a:solidFill>
                <a:effectLst/>
                <a:uLnTx/>
                <a:uFillTx/>
                <a:latin typeface="Trebuchet MS"/>
                <a:cs typeface="Trebuchet MS"/>
              </a:rPr>
              <a:t>potential</a:t>
            </a:r>
            <a:r>
              <a:rPr kumimoji="0" sz="1400" b="0" i="0" u="none" strike="noStrike" kern="0" cap="none" spc="-65" normalizeH="0" baseline="0" noProof="0">
                <a:ln>
                  <a:noFill/>
                </a:ln>
                <a:solidFill>
                  <a:srgbClr val="565656"/>
                </a:solidFill>
                <a:effectLst/>
                <a:uLnTx/>
                <a:uFillTx/>
                <a:latin typeface="Trebuchet MS"/>
                <a:cs typeface="Trebuchet MS"/>
              </a:rPr>
              <a:t> </a:t>
            </a:r>
            <a:r>
              <a:rPr kumimoji="0" sz="1400" b="0" i="0" u="none" strike="noStrike" kern="0" cap="none" spc="-10" normalizeH="0" baseline="0" noProof="0">
                <a:ln>
                  <a:noFill/>
                </a:ln>
                <a:solidFill>
                  <a:srgbClr val="565656"/>
                </a:solidFill>
                <a:effectLst/>
                <a:uLnTx/>
                <a:uFillTx/>
                <a:latin typeface="Trebuchet MS"/>
                <a:cs typeface="Trebuchet MS"/>
              </a:rPr>
              <a:t>wealth </a:t>
            </a:r>
            <a:r>
              <a:rPr kumimoji="0" sz="1400" b="0" i="0" u="none" strike="noStrike" kern="0" cap="none" spc="0" normalizeH="0" baseline="0" noProof="0">
                <a:ln>
                  <a:noFill/>
                </a:ln>
                <a:solidFill>
                  <a:srgbClr val="565656"/>
                </a:solidFill>
                <a:effectLst/>
                <a:uLnTx/>
                <a:uFillTx/>
                <a:latin typeface="Trebuchet MS"/>
                <a:cs typeface="Trebuchet MS"/>
              </a:rPr>
              <a:t>customers</a:t>
            </a:r>
            <a:r>
              <a:rPr kumimoji="0" sz="1400" b="0" i="0" u="none" strike="noStrike" kern="0" cap="none" spc="-45" normalizeH="0" baseline="0" noProof="0">
                <a:ln>
                  <a:noFill/>
                </a:ln>
                <a:solidFill>
                  <a:srgbClr val="565656"/>
                </a:solidFill>
                <a:effectLst/>
                <a:uLnTx/>
                <a:uFillTx/>
                <a:latin typeface="Trebuchet MS"/>
                <a:cs typeface="Trebuchet MS"/>
              </a:rPr>
              <a:t> </a:t>
            </a:r>
            <a:r>
              <a:rPr kumimoji="0" sz="1400" b="0" i="0" u="none" strike="noStrike" kern="0" cap="none" spc="0" normalizeH="0" baseline="0" noProof="0">
                <a:ln>
                  <a:noFill/>
                </a:ln>
                <a:solidFill>
                  <a:srgbClr val="565656"/>
                </a:solidFill>
                <a:effectLst/>
                <a:uLnTx/>
                <a:uFillTx/>
                <a:latin typeface="Trebuchet MS"/>
                <a:cs typeface="Trebuchet MS"/>
              </a:rPr>
              <a:t>using</a:t>
            </a:r>
            <a:r>
              <a:rPr kumimoji="0" sz="1400" b="0" i="0" u="none" strike="noStrike" kern="0" cap="none" spc="-35" normalizeH="0" baseline="0" noProof="0">
                <a:ln>
                  <a:noFill/>
                </a:ln>
                <a:solidFill>
                  <a:srgbClr val="565656"/>
                </a:solidFill>
                <a:effectLst/>
                <a:uLnTx/>
                <a:uFillTx/>
                <a:latin typeface="Trebuchet MS"/>
                <a:cs typeface="Trebuchet MS"/>
              </a:rPr>
              <a:t> </a:t>
            </a:r>
            <a:r>
              <a:rPr kumimoji="0" sz="1400" b="0" i="0" u="none" strike="noStrike" kern="0" cap="none" spc="-10" normalizeH="0" baseline="0" noProof="0">
                <a:ln>
                  <a:noFill/>
                </a:ln>
                <a:solidFill>
                  <a:srgbClr val="565656"/>
                </a:solidFill>
                <a:effectLst/>
                <a:uLnTx/>
                <a:uFillTx/>
                <a:latin typeface="Trebuchet MS"/>
                <a:cs typeface="Trebuchet MS"/>
              </a:rPr>
              <a:t>analytics </a:t>
            </a:r>
            <a:r>
              <a:rPr kumimoji="0" sz="1400" b="0" i="0" u="none" strike="noStrike" kern="0" cap="none" spc="0" normalizeH="0" baseline="0" noProof="0">
                <a:ln>
                  <a:noFill/>
                </a:ln>
                <a:solidFill>
                  <a:srgbClr val="565656"/>
                </a:solidFill>
                <a:effectLst/>
                <a:uLnTx/>
                <a:uFillTx/>
                <a:latin typeface="Trebuchet MS"/>
                <a:cs typeface="Trebuchet MS"/>
              </a:rPr>
              <a:t>and</a:t>
            </a:r>
            <a:r>
              <a:rPr kumimoji="0" sz="1400" b="0" i="0" u="none" strike="noStrike" kern="0" cap="none" spc="-25" normalizeH="0" baseline="0" noProof="0">
                <a:ln>
                  <a:noFill/>
                </a:ln>
                <a:solidFill>
                  <a:srgbClr val="565656"/>
                </a:solidFill>
                <a:effectLst/>
                <a:uLnTx/>
                <a:uFillTx/>
                <a:latin typeface="Trebuchet MS"/>
                <a:cs typeface="Trebuchet MS"/>
              </a:rPr>
              <a:t> </a:t>
            </a:r>
            <a:r>
              <a:rPr kumimoji="0" sz="1400" b="0" i="0" u="none" strike="noStrike" kern="0" cap="none" spc="0" normalizeH="0" baseline="0" noProof="0">
                <a:ln>
                  <a:noFill/>
                </a:ln>
                <a:solidFill>
                  <a:srgbClr val="565656"/>
                </a:solidFill>
                <a:effectLst/>
                <a:uLnTx/>
                <a:uFillTx/>
                <a:latin typeface="Trebuchet MS"/>
                <a:cs typeface="Trebuchet MS"/>
              </a:rPr>
              <a:t>referral</a:t>
            </a:r>
            <a:r>
              <a:rPr kumimoji="0" sz="1400" b="0" i="0" u="none" strike="noStrike" kern="0" cap="none" spc="-10" normalizeH="0" baseline="0" noProof="0">
                <a:ln>
                  <a:noFill/>
                </a:ln>
                <a:solidFill>
                  <a:srgbClr val="565656"/>
                </a:solidFill>
                <a:effectLst/>
                <a:uLnTx/>
                <a:uFillTx/>
                <a:latin typeface="Trebuchet MS"/>
                <a:cs typeface="Trebuchet MS"/>
              </a:rPr>
              <a:t> programs</a:t>
            </a:r>
            <a:endParaRPr kumimoji="0" sz="14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7" name="object 7"/>
          <p:cNvSpPr/>
          <p:nvPr/>
        </p:nvSpPr>
        <p:spPr>
          <a:xfrm>
            <a:off x="3357371" y="4154423"/>
            <a:ext cx="2750820" cy="1013460"/>
          </a:xfrm>
          <a:custGeom>
            <a:avLst/>
            <a:gdLst/>
            <a:ahLst/>
            <a:cxnLst/>
            <a:rect l="l" t="t" r="r" b="b"/>
            <a:pathLst>
              <a:path w="2750820" h="1013460">
                <a:moveTo>
                  <a:pt x="2629154" y="0"/>
                </a:moveTo>
                <a:lnTo>
                  <a:pt x="0" y="0"/>
                </a:lnTo>
                <a:lnTo>
                  <a:pt x="121665" y="506730"/>
                </a:lnTo>
                <a:lnTo>
                  <a:pt x="0" y="1013459"/>
                </a:lnTo>
                <a:lnTo>
                  <a:pt x="2629154" y="1013459"/>
                </a:lnTo>
                <a:lnTo>
                  <a:pt x="2750819" y="506730"/>
                </a:lnTo>
                <a:lnTo>
                  <a:pt x="2629154" y="0"/>
                </a:lnTo>
                <a:close/>
              </a:path>
            </a:pathLst>
          </a:custGeom>
          <a:solidFill>
            <a:srgbClr val="29B974"/>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8" name="object 8"/>
          <p:cNvSpPr txBox="1"/>
          <p:nvPr/>
        </p:nvSpPr>
        <p:spPr>
          <a:xfrm>
            <a:off x="3687317" y="4467859"/>
            <a:ext cx="2089150" cy="513080"/>
          </a:xfrm>
          <a:prstGeom prst="rect">
            <a:avLst/>
          </a:prstGeom>
        </p:spPr>
        <p:txBody>
          <a:bodyPr vert="horz" wrap="square" lIns="0" tIns="12065" rIns="0" bIns="0" rtlCol="0">
            <a:spAutoFit/>
          </a:bodyPr>
          <a:lstStyle/>
          <a:p>
            <a:pPr marL="626745" marR="5080" lvl="0" indent="-614680" defTabSz="914400" eaLnBrk="1" fontAlgn="auto" latinLnBrk="0" hangingPunct="1">
              <a:lnSpc>
                <a:spcPct val="100000"/>
              </a:lnSpc>
              <a:spcBef>
                <a:spcPts val="95"/>
              </a:spcBef>
              <a:spcAft>
                <a:spcPts val="0"/>
              </a:spcAft>
              <a:buClrTx/>
              <a:buSzTx/>
              <a:buFontTx/>
              <a:buNone/>
              <a:tabLst/>
              <a:defRPr/>
            </a:pPr>
            <a:r>
              <a:rPr kumimoji="0" sz="1600" b="0" i="0" u="none" strike="noStrike" kern="0" cap="none" spc="0" normalizeH="0" baseline="0" noProof="0">
                <a:ln>
                  <a:noFill/>
                </a:ln>
                <a:solidFill>
                  <a:srgbClr val="FFFFFF"/>
                </a:solidFill>
                <a:effectLst/>
                <a:uLnTx/>
                <a:uFillTx/>
                <a:latin typeface="Trebuchet MS"/>
                <a:cs typeface="Trebuchet MS"/>
              </a:rPr>
              <a:t>Lead</a:t>
            </a:r>
            <a:r>
              <a:rPr kumimoji="0" sz="1600" b="0" i="0" u="none" strike="noStrike" kern="0" cap="none" spc="-40" normalizeH="0" baseline="0" noProof="0">
                <a:ln>
                  <a:noFill/>
                </a:ln>
                <a:solidFill>
                  <a:srgbClr val="FFFFFF"/>
                </a:solidFill>
                <a:effectLst/>
                <a:uLnTx/>
                <a:uFillTx/>
                <a:latin typeface="Trebuchet MS"/>
                <a:cs typeface="Trebuchet MS"/>
              </a:rPr>
              <a:t> </a:t>
            </a:r>
            <a:r>
              <a:rPr kumimoji="0" sz="1600" b="0" i="0" u="none" strike="noStrike" kern="0" cap="none" spc="0" normalizeH="0" baseline="0" noProof="0">
                <a:ln>
                  <a:noFill/>
                </a:ln>
                <a:solidFill>
                  <a:srgbClr val="FFFFFF"/>
                </a:solidFill>
                <a:effectLst/>
                <a:uLnTx/>
                <a:uFillTx/>
                <a:latin typeface="Trebuchet MS"/>
                <a:cs typeface="Trebuchet MS"/>
              </a:rPr>
              <a:t>Filtering</a:t>
            </a:r>
            <a:r>
              <a:rPr kumimoji="0" sz="1600" b="0" i="0" u="none" strike="noStrike" kern="0" cap="none" spc="-30" normalizeH="0" baseline="0" noProof="0">
                <a:ln>
                  <a:noFill/>
                </a:ln>
                <a:solidFill>
                  <a:srgbClr val="FFFFFF"/>
                </a:solidFill>
                <a:effectLst/>
                <a:uLnTx/>
                <a:uFillTx/>
                <a:latin typeface="Trebuchet MS"/>
                <a:cs typeface="Trebuchet MS"/>
              </a:rPr>
              <a:t> </a:t>
            </a:r>
            <a:r>
              <a:rPr kumimoji="0" sz="1600" b="0" i="0" u="none" strike="noStrike" kern="0" cap="none" spc="0" normalizeH="0" baseline="0" noProof="0">
                <a:ln>
                  <a:noFill/>
                </a:ln>
                <a:solidFill>
                  <a:srgbClr val="FFFFFF"/>
                </a:solidFill>
                <a:effectLst/>
                <a:uLnTx/>
                <a:uFillTx/>
                <a:latin typeface="Trebuchet MS"/>
                <a:cs typeface="Trebuchet MS"/>
              </a:rPr>
              <a:t>and</a:t>
            </a:r>
            <a:r>
              <a:rPr kumimoji="0" sz="1600" b="0" i="0" u="none" strike="noStrike" kern="0" cap="none" spc="-50" normalizeH="0" baseline="0" noProof="0">
                <a:ln>
                  <a:noFill/>
                </a:ln>
                <a:solidFill>
                  <a:srgbClr val="FFFFFF"/>
                </a:solidFill>
                <a:effectLst/>
                <a:uLnTx/>
                <a:uFillTx/>
                <a:latin typeface="Trebuchet MS"/>
                <a:cs typeface="Trebuchet MS"/>
              </a:rPr>
              <a:t> </a:t>
            </a:r>
            <a:r>
              <a:rPr kumimoji="0" sz="1600" b="0" i="0" u="none" strike="noStrike" kern="0" cap="none" spc="-25" normalizeH="0" baseline="0" noProof="0">
                <a:ln>
                  <a:noFill/>
                </a:ln>
                <a:solidFill>
                  <a:srgbClr val="FFFFFF"/>
                </a:solidFill>
                <a:effectLst/>
                <a:uLnTx/>
                <a:uFillTx/>
                <a:latin typeface="Trebuchet MS"/>
                <a:cs typeface="Trebuchet MS"/>
              </a:rPr>
              <a:t>Due </a:t>
            </a:r>
            <a:r>
              <a:rPr kumimoji="0" sz="1600" b="0" i="0" u="none" strike="noStrike" kern="0" cap="none" spc="-10" normalizeH="0" baseline="0" noProof="0">
                <a:ln>
                  <a:noFill/>
                </a:ln>
                <a:solidFill>
                  <a:srgbClr val="FFFFFF"/>
                </a:solidFill>
                <a:effectLst/>
                <a:uLnTx/>
                <a:uFillTx/>
                <a:latin typeface="Trebuchet MS"/>
                <a:cs typeface="Trebuchet MS"/>
              </a:rPr>
              <a:t>Diligence</a:t>
            </a:r>
            <a:endParaRPr kumimoji="0" sz="16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9" name="object 9"/>
          <p:cNvSpPr txBox="1"/>
          <p:nvPr/>
        </p:nvSpPr>
        <p:spPr>
          <a:xfrm>
            <a:off x="3369945" y="5348478"/>
            <a:ext cx="2025650" cy="879475"/>
          </a:xfrm>
          <a:prstGeom prst="rect">
            <a:avLst/>
          </a:prstGeom>
        </p:spPr>
        <p:txBody>
          <a:bodyPr vert="horz" wrap="square" lIns="0" tIns="12700" rIns="0" bIns="0" rtlCol="0">
            <a:spAutoFit/>
          </a:bodyPr>
          <a:lstStyle/>
          <a:p>
            <a:pPr marL="12700" marR="5080" lvl="0" indent="0" defTabSz="914400" eaLnBrk="1" fontAlgn="auto" latinLnBrk="0" hangingPunct="1">
              <a:lnSpc>
                <a:spcPct val="100000"/>
              </a:lnSpc>
              <a:spcBef>
                <a:spcPts val="100"/>
              </a:spcBef>
              <a:spcAft>
                <a:spcPts val="0"/>
              </a:spcAft>
              <a:buClrTx/>
              <a:buSzTx/>
              <a:buFontTx/>
              <a:buNone/>
              <a:tabLst/>
              <a:defRPr/>
            </a:pPr>
            <a:r>
              <a:rPr kumimoji="0" sz="1400" b="0" i="0" u="none" strike="noStrike" kern="0" cap="none" spc="0" normalizeH="0" baseline="0" noProof="0">
                <a:ln>
                  <a:noFill/>
                </a:ln>
                <a:solidFill>
                  <a:srgbClr val="565656"/>
                </a:solidFill>
                <a:effectLst/>
                <a:uLnTx/>
                <a:uFillTx/>
                <a:latin typeface="Trebuchet MS"/>
                <a:cs typeface="Trebuchet MS"/>
              </a:rPr>
              <a:t>Filtering</a:t>
            </a:r>
            <a:r>
              <a:rPr kumimoji="0" sz="1400" b="0" i="0" u="none" strike="noStrike" kern="0" cap="none" spc="-15" normalizeH="0" baseline="0" noProof="0">
                <a:ln>
                  <a:noFill/>
                </a:ln>
                <a:solidFill>
                  <a:srgbClr val="565656"/>
                </a:solidFill>
                <a:effectLst/>
                <a:uLnTx/>
                <a:uFillTx/>
                <a:latin typeface="Trebuchet MS"/>
                <a:cs typeface="Trebuchet MS"/>
              </a:rPr>
              <a:t> </a:t>
            </a:r>
            <a:r>
              <a:rPr kumimoji="0" sz="1400" b="0" i="0" u="none" strike="noStrike" kern="0" cap="none" spc="0" normalizeH="0" baseline="0" noProof="0">
                <a:ln>
                  <a:noFill/>
                </a:ln>
                <a:solidFill>
                  <a:srgbClr val="565656"/>
                </a:solidFill>
                <a:effectLst/>
                <a:uLnTx/>
                <a:uFillTx/>
                <a:latin typeface="Trebuchet MS"/>
                <a:cs typeface="Trebuchet MS"/>
              </a:rPr>
              <a:t>out</a:t>
            </a:r>
            <a:r>
              <a:rPr kumimoji="0" sz="1400" b="0" i="0" u="none" strike="noStrike" kern="0" cap="none" spc="-30" normalizeH="0" baseline="0" noProof="0">
                <a:ln>
                  <a:noFill/>
                </a:ln>
                <a:solidFill>
                  <a:srgbClr val="565656"/>
                </a:solidFill>
                <a:effectLst/>
                <a:uLnTx/>
                <a:uFillTx/>
                <a:latin typeface="Trebuchet MS"/>
                <a:cs typeface="Trebuchet MS"/>
              </a:rPr>
              <a:t> </a:t>
            </a:r>
            <a:r>
              <a:rPr kumimoji="0" sz="1400" b="0" i="0" u="none" strike="noStrike" kern="0" cap="none" spc="0" normalizeH="0" baseline="0" noProof="0">
                <a:ln>
                  <a:noFill/>
                </a:ln>
                <a:solidFill>
                  <a:srgbClr val="565656"/>
                </a:solidFill>
                <a:effectLst/>
                <a:uLnTx/>
                <a:uFillTx/>
                <a:latin typeface="Trebuchet MS"/>
                <a:cs typeface="Trebuchet MS"/>
              </a:rPr>
              <a:t>cold</a:t>
            </a:r>
            <a:r>
              <a:rPr kumimoji="0" sz="1400" b="0" i="0" u="none" strike="noStrike" kern="0" cap="none" spc="-40" normalizeH="0" baseline="0" noProof="0">
                <a:ln>
                  <a:noFill/>
                </a:ln>
                <a:solidFill>
                  <a:srgbClr val="565656"/>
                </a:solidFill>
                <a:effectLst/>
                <a:uLnTx/>
                <a:uFillTx/>
                <a:latin typeface="Trebuchet MS"/>
                <a:cs typeface="Trebuchet MS"/>
              </a:rPr>
              <a:t> </a:t>
            </a:r>
            <a:r>
              <a:rPr kumimoji="0" sz="1400" b="0" i="0" u="none" strike="noStrike" kern="0" cap="none" spc="-10" normalizeH="0" baseline="0" noProof="0">
                <a:ln>
                  <a:noFill/>
                </a:ln>
                <a:solidFill>
                  <a:srgbClr val="565656"/>
                </a:solidFill>
                <a:effectLst/>
                <a:uLnTx/>
                <a:uFillTx/>
                <a:latin typeface="Trebuchet MS"/>
                <a:cs typeface="Trebuchet MS"/>
              </a:rPr>
              <a:t>leads </a:t>
            </a:r>
            <a:r>
              <a:rPr kumimoji="0" sz="1400" b="0" i="0" u="none" strike="noStrike" kern="0" cap="none" spc="0" normalizeH="0" baseline="0" noProof="0">
                <a:ln>
                  <a:noFill/>
                </a:ln>
                <a:solidFill>
                  <a:srgbClr val="565656"/>
                </a:solidFill>
                <a:effectLst/>
                <a:uLnTx/>
                <a:uFillTx/>
                <a:latin typeface="Trebuchet MS"/>
                <a:cs typeface="Trebuchet MS"/>
              </a:rPr>
              <a:t>based</a:t>
            </a:r>
            <a:r>
              <a:rPr kumimoji="0" sz="1400" b="0" i="0" u="none" strike="noStrike" kern="0" cap="none" spc="-40" normalizeH="0" baseline="0" noProof="0">
                <a:ln>
                  <a:noFill/>
                </a:ln>
                <a:solidFill>
                  <a:srgbClr val="565656"/>
                </a:solidFill>
                <a:effectLst/>
                <a:uLnTx/>
                <a:uFillTx/>
                <a:latin typeface="Trebuchet MS"/>
                <a:cs typeface="Trebuchet MS"/>
              </a:rPr>
              <a:t> </a:t>
            </a:r>
            <a:r>
              <a:rPr kumimoji="0" sz="1400" b="0" i="0" u="none" strike="noStrike" kern="0" cap="none" spc="0" normalizeH="0" baseline="0" noProof="0">
                <a:ln>
                  <a:noFill/>
                </a:ln>
                <a:solidFill>
                  <a:srgbClr val="565656"/>
                </a:solidFill>
                <a:effectLst/>
                <a:uLnTx/>
                <a:uFillTx/>
                <a:latin typeface="Trebuchet MS"/>
                <a:cs typeface="Trebuchet MS"/>
              </a:rPr>
              <a:t>on</a:t>
            </a:r>
            <a:r>
              <a:rPr kumimoji="0" sz="1400" b="0" i="0" u="none" strike="noStrike" kern="0" cap="none" spc="-25" normalizeH="0" baseline="0" noProof="0">
                <a:ln>
                  <a:noFill/>
                </a:ln>
                <a:solidFill>
                  <a:srgbClr val="565656"/>
                </a:solidFill>
                <a:effectLst/>
                <a:uLnTx/>
                <a:uFillTx/>
                <a:latin typeface="Trebuchet MS"/>
                <a:cs typeface="Trebuchet MS"/>
              </a:rPr>
              <a:t> </a:t>
            </a:r>
            <a:r>
              <a:rPr kumimoji="0" sz="1400" b="0" i="0" u="none" strike="noStrike" kern="0" cap="none" spc="0" normalizeH="0" baseline="0" noProof="0">
                <a:ln>
                  <a:noFill/>
                </a:ln>
                <a:solidFill>
                  <a:srgbClr val="565656"/>
                </a:solidFill>
                <a:effectLst/>
                <a:uLnTx/>
                <a:uFillTx/>
                <a:latin typeface="Trebuchet MS"/>
                <a:cs typeface="Trebuchet MS"/>
              </a:rPr>
              <a:t>internal</a:t>
            </a:r>
            <a:r>
              <a:rPr kumimoji="0" sz="1400" b="0" i="0" u="none" strike="noStrike" kern="0" cap="none" spc="-15" normalizeH="0" baseline="0" noProof="0">
                <a:ln>
                  <a:noFill/>
                </a:ln>
                <a:solidFill>
                  <a:srgbClr val="565656"/>
                </a:solidFill>
                <a:effectLst/>
                <a:uLnTx/>
                <a:uFillTx/>
                <a:latin typeface="Trebuchet MS"/>
                <a:cs typeface="Trebuchet MS"/>
              </a:rPr>
              <a:t> </a:t>
            </a:r>
            <a:r>
              <a:rPr kumimoji="0" sz="1400" b="0" i="0" u="none" strike="noStrike" kern="0" cap="none" spc="-10" normalizeH="0" baseline="0" noProof="0">
                <a:ln>
                  <a:noFill/>
                </a:ln>
                <a:solidFill>
                  <a:srgbClr val="565656"/>
                </a:solidFill>
                <a:effectLst/>
                <a:uLnTx/>
                <a:uFillTx/>
                <a:latin typeface="Trebuchet MS"/>
                <a:cs typeface="Trebuchet MS"/>
              </a:rPr>
              <a:t>CLIENT </a:t>
            </a:r>
            <a:r>
              <a:rPr kumimoji="0" sz="1400" b="0" i="0" u="none" strike="noStrike" kern="0" cap="none" spc="0" normalizeH="0" baseline="0" noProof="0">
                <a:ln>
                  <a:noFill/>
                </a:ln>
                <a:solidFill>
                  <a:srgbClr val="565656"/>
                </a:solidFill>
                <a:effectLst/>
                <a:uLnTx/>
                <a:uFillTx/>
                <a:latin typeface="Trebuchet MS"/>
                <a:cs typeface="Trebuchet MS"/>
              </a:rPr>
              <a:t>and</a:t>
            </a:r>
            <a:r>
              <a:rPr kumimoji="0" sz="1400" b="0" i="0" u="none" strike="noStrike" kern="0" cap="none" spc="-30" normalizeH="0" baseline="0" noProof="0">
                <a:ln>
                  <a:noFill/>
                </a:ln>
                <a:solidFill>
                  <a:srgbClr val="565656"/>
                </a:solidFill>
                <a:effectLst/>
                <a:uLnTx/>
                <a:uFillTx/>
                <a:latin typeface="Trebuchet MS"/>
                <a:cs typeface="Trebuchet MS"/>
              </a:rPr>
              <a:t> </a:t>
            </a:r>
            <a:r>
              <a:rPr kumimoji="0" sz="1400" b="0" i="0" u="none" strike="noStrike" kern="0" cap="none" spc="0" normalizeH="0" baseline="0" noProof="0">
                <a:ln>
                  <a:noFill/>
                </a:ln>
                <a:solidFill>
                  <a:srgbClr val="565656"/>
                </a:solidFill>
                <a:effectLst/>
                <a:uLnTx/>
                <a:uFillTx/>
                <a:latin typeface="Trebuchet MS"/>
                <a:cs typeface="Trebuchet MS"/>
              </a:rPr>
              <a:t>external</a:t>
            </a:r>
            <a:r>
              <a:rPr kumimoji="0" sz="1400" b="0" i="0" u="none" strike="noStrike" kern="0" cap="none" spc="-35" normalizeH="0" baseline="0" noProof="0">
                <a:ln>
                  <a:noFill/>
                </a:ln>
                <a:solidFill>
                  <a:srgbClr val="565656"/>
                </a:solidFill>
                <a:effectLst/>
                <a:uLnTx/>
                <a:uFillTx/>
                <a:latin typeface="Trebuchet MS"/>
                <a:cs typeface="Trebuchet MS"/>
              </a:rPr>
              <a:t> </a:t>
            </a:r>
            <a:r>
              <a:rPr kumimoji="0" sz="1400" b="0" i="0" u="none" strike="noStrike" kern="0" cap="none" spc="-10" normalizeH="0" baseline="0" noProof="0">
                <a:ln>
                  <a:noFill/>
                </a:ln>
                <a:solidFill>
                  <a:srgbClr val="565656"/>
                </a:solidFill>
                <a:effectLst/>
                <a:uLnTx/>
                <a:uFillTx/>
                <a:latin typeface="Trebuchet MS"/>
                <a:cs typeface="Trebuchet MS"/>
              </a:rPr>
              <a:t>public information</a:t>
            </a:r>
            <a:endParaRPr kumimoji="0" sz="14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10" name="object 10"/>
          <p:cNvSpPr/>
          <p:nvPr/>
        </p:nvSpPr>
        <p:spPr>
          <a:xfrm>
            <a:off x="6085332" y="4154423"/>
            <a:ext cx="2750820" cy="1013460"/>
          </a:xfrm>
          <a:custGeom>
            <a:avLst/>
            <a:gdLst/>
            <a:ahLst/>
            <a:cxnLst/>
            <a:rect l="l" t="t" r="r" b="b"/>
            <a:pathLst>
              <a:path w="2750820" h="1013460">
                <a:moveTo>
                  <a:pt x="2629153" y="0"/>
                </a:moveTo>
                <a:lnTo>
                  <a:pt x="0" y="0"/>
                </a:lnTo>
                <a:lnTo>
                  <a:pt x="121665" y="506730"/>
                </a:lnTo>
                <a:lnTo>
                  <a:pt x="0" y="1013459"/>
                </a:lnTo>
                <a:lnTo>
                  <a:pt x="2629153" y="1013459"/>
                </a:lnTo>
                <a:lnTo>
                  <a:pt x="2750819" y="506730"/>
                </a:lnTo>
                <a:lnTo>
                  <a:pt x="2629153" y="0"/>
                </a:lnTo>
                <a:close/>
              </a:path>
            </a:pathLst>
          </a:custGeom>
          <a:solidFill>
            <a:srgbClr val="29B974"/>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11" name="object 11"/>
          <p:cNvSpPr txBox="1"/>
          <p:nvPr/>
        </p:nvSpPr>
        <p:spPr>
          <a:xfrm>
            <a:off x="6692645" y="4467859"/>
            <a:ext cx="1534795" cy="513080"/>
          </a:xfrm>
          <a:prstGeom prst="rect">
            <a:avLst/>
          </a:prstGeom>
        </p:spPr>
        <p:txBody>
          <a:bodyPr vert="horz" wrap="square" lIns="0" tIns="12065" rIns="0" bIns="0" rtlCol="0">
            <a:spAutoFit/>
          </a:bodyPr>
          <a:lstStyle/>
          <a:p>
            <a:pPr marL="469900" marR="5080" lvl="0" indent="-457200" defTabSz="914400" eaLnBrk="1" fontAlgn="auto" latinLnBrk="0" hangingPunct="1">
              <a:lnSpc>
                <a:spcPct val="100000"/>
              </a:lnSpc>
              <a:spcBef>
                <a:spcPts val="95"/>
              </a:spcBef>
              <a:spcAft>
                <a:spcPts val="0"/>
              </a:spcAft>
              <a:buClrTx/>
              <a:buSzTx/>
              <a:buFontTx/>
              <a:buNone/>
              <a:tabLst/>
              <a:defRPr/>
            </a:pPr>
            <a:r>
              <a:rPr kumimoji="0" sz="1600" b="0" i="0" u="none" strike="noStrike" kern="0" cap="none" spc="-10" normalizeH="0" baseline="0" noProof="0">
                <a:ln>
                  <a:noFill/>
                </a:ln>
                <a:solidFill>
                  <a:srgbClr val="FFFFFF"/>
                </a:solidFill>
                <a:effectLst/>
                <a:uLnTx/>
                <a:uFillTx/>
                <a:latin typeface="Trebuchet MS"/>
                <a:cs typeface="Trebuchet MS"/>
              </a:rPr>
              <a:t>Lead</a:t>
            </a:r>
            <a:r>
              <a:rPr kumimoji="0" sz="1600" b="0" i="0" u="none" strike="noStrike" kern="0" cap="none" spc="-85" normalizeH="0" baseline="0" noProof="0">
                <a:ln>
                  <a:noFill/>
                </a:ln>
                <a:solidFill>
                  <a:srgbClr val="FFFFFF"/>
                </a:solidFill>
                <a:effectLst/>
                <a:uLnTx/>
                <a:uFillTx/>
                <a:latin typeface="Trebuchet MS"/>
                <a:cs typeface="Trebuchet MS"/>
              </a:rPr>
              <a:t> </a:t>
            </a:r>
            <a:r>
              <a:rPr kumimoji="0" sz="1600" b="0" i="0" u="none" strike="noStrike" kern="0" cap="none" spc="-10" normalizeH="0" baseline="0" noProof="0">
                <a:ln>
                  <a:noFill/>
                </a:ln>
                <a:solidFill>
                  <a:srgbClr val="FFFFFF"/>
                </a:solidFill>
                <a:effectLst/>
                <a:uLnTx/>
                <a:uFillTx/>
                <a:latin typeface="Trebuchet MS"/>
                <a:cs typeface="Trebuchet MS"/>
              </a:rPr>
              <a:t>Assignment </a:t>
            </a:r>
            <a:r>
              <a:rPr kumimoji="0" sz="1600" b="0" i="0" u="none" strike="noStrike" kern="0" cap="none" spc="0" normalizeH="0" baseline="0" noProof="0">
                <a:ln>
                  <a:noFill/>
                </a:ln>
                <a:solidFill>
                  <a:srgbClr val="FFFFFF"/>
                </a:solidFill>
                <a:effectLst/>
                <a:uLnTx/>
                <a:uFillTx/>
                <a:latin typeface="Trebuchet MS"/>
                <a:cs typeface="Trebuchet MS"/>
              </a:rPr>
              <a:t>to </a:t>
            </a:r>
            <a:r>
              <a:rPr kumimoji="0" lang="en-US" sz="1600" b="0" i="0" u="none" strike="noStrike" kern="0" cap="none" spc="-25" normalizeH="0" baseline="0" noProof="0" err="1">
                <a:ln>
                  <a:noFill/>
                </a:ln>
                <a:solidFill>
                  <a:srgbClr val="FFFFFF"/>
                </a:solidFill>
                <a:effectLst/>
                <a:uLnTx/>
                <a:uFillTx/>
                <a:latin typeface="Trebuchet MS"/>
                <a:cs typeface="Trebuchet MS"/>
              </a:rPr>
              <a:t>RMs</a:t>
            </a:r>
            <a:endParaRPr kumimoji="0" sz="16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12" name="object 12"/>
          <p:cNvSpPr txBox="1"/>
          <p:nvPr/>
        </p:nvSpPr>
        <p:spPr>
          <a:xfrm>
            <a:off x="6097904" y="5348478"/>
            <a:ext cx="1807210" cy="452755"/>
          </a:xfrm>
          <a:prstGeom prst="rect">
            <a:avLst/>
          </a:prstGeom>
        </p:spPr>
        <p:txBody>
          <a:bodyPr vert="horz" wrap="square" lIns="0" tIns="12700" rIns="0" bIns="0" rtlCol="0">
            <a:spAutoFit/>
          </a:bodyPr>
          <a:lstStyle/>
          <a:p>
            <a:pPr marL="12700" marR="5080" lvl="0" indent="0" defTabSz="914400" eaLnBrk="1" fontAlgn="auto" latinLnBrk="0" hangingPunct="1">
              <a:lnSpc>
                <a:spcPct val="100000"/>
              </a:lnSpc>
              <a:spcBef>
                <a:spcPts val="100"/>
              </a:spcBef>
              <a:spcAft>
                <a:spcPts val="0"/>
              </a:spcAft>
              <a:buClrTx/>
              <a:buSzTx/>
              <a:buFontTx/>
              <a:buNone/>
              <a:tabLst/>
              <a:defRPr/>
            </a:pPr>
            <a:r>
              <a:rPr kumimoji="0" sz="1400" b="0" i="0" u="none" strike="noStrike" kern="0" cap="none" spc="0" normalizeH="0" baseline="0" noProof="0">
                <a:ln>
                  <a:noFill/>
                </a:ln>
                <a:solidFill>
                  <a:srgbClr val="565656"/>
                </a:solidFill>
                <a:effectLst/>
                <a:uLnTx/>
                <a:uFillTx/>
                <a:latin typeface="Trebuchet MS"/>
                <a:cs typeface="Trebuchet MS"/>
              </a:rPr>
              <a:t>Assign</a:t>
            </a:r>
            <a:r>
              <a:rPr kumimoji="0" sz="1400" b="0" i="0" u="none" strike="noStrike" kern="0" cap="none" spc="-55" normalizeH="0" baseline="0" noProof="0">
                <a:ln>
                  <a:noFill/>
                </a:ln>
                <a:solidFill>
                  <a:srgbClr val="565656"/>
                </a:solidFill>
                <a:effectLst/>
                <a:uLnTx/>
                <a:uFillTx/>
                <a:latin typeface="Trebuchet MS"/>
                <a:cs typeface="Trebuchet MS"/>
              </a:rPr>
              <a:t> </a:t>
            </a:r>
            <a:r>
              <a:rPr kumimoji="0" sz="1400" b="0" i="0" u="none" strike="noStrike" kern="0" cap="none" spc="0" normalizeH="0" baseline="0" noProof="0">
                <a:ln>
                  <a:noFill/>
                </a:ln>
                <a:solidFill>
                  <a:srgbClr val="565656"/>
                </a:solidFill>
                <a:effectLst/>
                <a:uLnTx/>
                <a:uFillTx/>
                <a:latin typeface="Trebuchet MS"/>
                <a:cs typeface="Trebuchet MS"/>
              </a:rPr>
              <a:t>identified</a:t>
            </a:r>
            <a:r>
              <a:rPr kumimoji="0" sz="1400" b="0" i="0" u="none" strike="noStrike" kern="0" cap="none" spc="-50" normalizeH="0" baseline="0" noProof="0">
                <a:ln>
                  <a:noFill/>
                </a:ln>
                <a:solidFill>
                  <a:srgbClr val="565656"/>
                </a:solidFill>
                <a:effectLst/>
                <a:uLnTx/>
                <a:uFillTx/>
                <a:latin typeface="Trebuchet MS"/>
                <a:cs typeface="Trebuchet MS"/>
              </a:rPr>
              <a:t> </a:t>
            </a:r>
            <a:r>
              <a:rPr kumimoji="0" sz="1400" b="0" i="0" u="none" strike="noStrike" kern="0" cap="none" spc="-20" normalizeH="0" baseline="0" noProof="0">
                <a:ln>
                  <a:noFill/>
                </a:ln>
                <a:solidFill>
                  <a:srgbClr val="565656"/>
                </a:solidFill>
                <a:effectLst/>
                <a:uLnTx/>
                <a:uFillTx/>
                <a:latin typeface="Trebuchet MS"/>
                <a:cs typeface="Trebuchet MS"/>
              </a:rPr>
              <a:t>leads </a:t>
            </a:r>
            <a:r>
              <a:rPr kumimoji="0" sz="1400" b="0" i="0" u="none" strike="noStrike" kern="0" cap="none" spc="0" normalizeH="0" baseline="0" noProof="0">
                <a:ln>
                  <a:noFill/>
                </a:ln>
                <a:solidFill>
                  <a:srgbClr val="565656"/>
                </a:solidFill>
                <a:effectLst/>
                <a:uLnTx/>
                <a:uFillTx/>
                <a:latin typeface="Trebuchet MS"/>
                <a:cs typeface="Trebuchet MS"/>
              </a:rPr>
              <a:t>to</a:t>
            </a:r>
            <a:r>
              <a:rPr kumimoji="0" sz="1400" b="0" i="0" u="none" strike="noStrike" kern="0" cap="none" spc="-5" normalizeH="0" baseline="0" noProof="0">
                <a:ln>
                  <a:noFill/>
                </a:ln>
                <a:solidFill>
                  <a:srgbClr val="565656"/>
                </a:solidFill>
                <a:effectLst/>
                <a:uLnTx/>
                <a:uFillTx/>
                <a:latin typeface="Trebuchet MS"/>
                <a:cs typeface="Trebuchet MS"/>
              </a:rPr>
              <a:t> </a:t>
            </a:r>
            <a:r>
              <a:rPr kumimoji="0" lang="en-US" sz="1400" b="0" i="0" u="none" strike="noStrike" kern="0" cap="none" spc="-25" normalizeH="0" baseline="0" noProof="0" err="1">
                <a:ln>
                  <a:noFill/>
                </a:ln>
                <a:solidFill>
                  <a:srgbClr val="565656"/>
                </a:solidFill>
                <a:effectLst/>
                <a:uLnTx/>
                <a:uFillTx/>
                <a:latin typeface="Trebuchet MS"/>
                <a:cs typeface="Trebuchet MS"/>
              </a:rPr>
              <a:t>RMs</a:t>
            </a:r>
            <a:endParaRPr kumimoji="0" sz="14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13" name="object 13"/>
          <p:cNvSpPr/>
          <p:nvPr/>
        </p:nvSpPr>
        <p:spPr>
          <a:xfrm>
            <a:off x="8813292" y="4154423"/>
            <a:ext cx="2749550" cy="1013460"/>
          </a:xfrm>
          <a:custGeom>
            <a:avLst/>
            <a:gdLst/>
            <a:ahLst/>
            <a:cxnLst/>
            <a:rect l="l" t="t" r="r" b="b"/>
            <a:pathLst>
              <a:path w="2749550" h="1013460">
                <a:moveTo>
                  <a:pt x="2627629" y="0"/>
                </a:moveTo>
                <a:lnTo>
                  <a:pt x="0" y="0"/>
                </a:lnTo>
                <a:lnTo>
                  <a:pt x="121665" y="506730"/>
                </a:lnTo>
                <a:lnTo>
                  <a:pt x="0" y="1013459"/>
                </a:lnTo>
                <a:lnTo>
                  <a:pt x="2627629" y="1013459"/>
                </a:lnTo>
                <a:lnTo>
                  <a:pt x="2749296" y="506730"/>
                </a:lnTo>
                <a:lnTo>
                  <a:pt x="2627629" y="0"/>
                </a:lnTo>
                <a:close/>
              </a:path>
            </a:pathLst>
          </a:custGeom>
          <a:solidFill>
            <a:srgbClr val="29B974"/>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14" name="object 14"/>
          <p:cNvSpPr txBox="1"/>
          <p:nvPr/>
        </p:nvSpPr>
        <p:spPr>
          <a:xfrm>
            <a:off x="9135618" y="4467859"/>
            <a:ext cx="2104390" cy="513080"/>
          </a:xfrm>
          <a:prstGeom prst="rect">
            <a:avLst/>
          </a:prstGeom>
        </p:spPr>
        <p:txBody>
          <a:bodyPr vert="horz" wrap="square" lIns="0" tIns="12065" rIns="0" bIns="0" rtlCol="0">
            <a:spAutoFit/>
          </a:bodyPr>
          <a:lstStyle/>
          <a:p>
            <a:pPr marL="477520" marR="5080" lvl="0" indent="-464820" defTabSz="914400" eaLnBrk="1" fontAlgn="auto" latinLnBrk="0" hangingPunct="1">
              <a:lnSpc>
                <a:spcPct val="100000"/>
              </a:lnSpc>
              <a:spcBef>
                <a:spcPts val="95"/>
              </a:spcBef>
              <a:spcAft>
                <a:spcPts val="0"/>
              </a:spcAft>
              <a:buClrTx/>
              <a:buSzTx/>
              <a:buFontTx/>
              <a:buNone/>
              <a:tabLst/>
              <a:defRPr/>
            </a:pPr>
            <a:r>
              <a:rPr kumimoji="0" sz="1600" b="0" i="0" u="none" strike="noStrike" kern="0" cap="none" spc="0" normalizeH="0" baseline="0" noProof="0">
                <a:ln>
                  <a:noFill/>
                </a:ln>
                <a:solidFill>
                  <a:srgbClr val="FFFFFF"/>
                </a:solidFill>
                <a:effectLst/>
                <a:uLnTx/>
                <a:uFillTx/>
                <a:latin typeface="Trebuchet MS"/>
                <a:cs typeface="Trebuchet MS"/>
              </a:rPr>
              <a:t>Lead</a:t>
            </a:r>
            <a:r>
              <a:rPr kumimoji="0" sz="1600" b="0" i="0" u="none" strike="noStrike" kern="0" cap="none" spc="-45" normalizeH="0" baseline="0" noProof="0">
                <a:ln>
                  <a:noFill/>
                </a:ln>
                <a:solidFill>
                  <a:srgbClr val="FFFFFF"/>
                </a:solidFill>
                <a:effectLst/>
                <a:uLnTx/>
                <a:uFillTx/>
                <a:latin typeface="Trebuchet MS"/>
                <a:cs typeface="Trebuchet MS"/>
              </a:rPr>
              <a:t> </a:t>
            </a:r>
            <a:r>
              <a:rPr kumimoji="0" sz="1600" b="0" i="0" u="none" strike="noStrike" kern="0" cap="none" spc="-10" normalizeH="0" baseline="0" noProof="0">
                <a:ln>
                  <a:noFill/>
                </a:ln>
                <a:solidFill>
                  <a:srgbClr val="FFFFFF"/>
                </a:solidFill>
                <a:effectLst/>
                <a:uLnTx/>
                <a:uFillTx/>
                <a:latin typeface="Trebuchet MS"/>
                <a:cs typeface="Trebuchet MS"/>
              </a:rPr>
              <a:t>Prioritization</a:t>
            </a:r>
            <a:r>
              <a:rPr kumimoji="0" sz="1600" b="0" i="0" u="none" strike="noStrike" kern="0" cap="none" spc="-5" normalizeH="0" baseline="0" noProof="0">
                <a:ln>
                  <a:noFill/>
                </a:ln>
                <a:solidFill>
                  <a:srgbClr val="FFFFFF"/>
                </a:solidFill>
                <a:effectLst/>
                <a:uLnTx/>
                <a:uFillTx/>
                <a:latin typeface="Trebuchet MS"/>
                <a:cs typeface="Trebuchet MS"/>
              </a:rPr>
              <a:t> </a:t>
            </a:r>
            <a:r>
              <a:rPr kumimoji="0" sz="1600" b="0" i="0" u="none" strike="noStrike" kern="0" cap="none" spc="-25" normalizeH="0" baseline="0" noProof="0">
                <a:ln>
                  <a:noFill/>
                </a:ln>
                <a:solidFill>
                  <a:srgbClr val="FFFFFF"/>
                </a:solidFill>
                <a:effectLst/>
                <a:uLnTx/>
                <a:uFillTx/>
                <a:latin typeface="Trebuchet MS"/>
                <a:cs typeface="Trebuchet MS"/>
              </a:rPr>
              <a:t>and </a:t>
            </a:r>
            <a:r>
              <a:rPr kumimoji="0" sz="1600" b="0" i="0" u="none" strike="noStrike" kern="0" cap="none" spc="-10" normalizeH="0" baseline="0" noProof="0">
                <a:ln>
                  <a:noFill/>
                </a:ln>
                <a:solidFill>
                  <a:srgbClr val="FFFFFF"/>
                </a:solidFill>
                <a:effectLst/>
                <a:uLnTx/>
                <a:uFillTx/>
                <a:latin typeface="Trebuchet MS"/>
                <a:cs typeface="Trebuchet MS"/>
              </a:rPr>
              <a:t>Management</a:t>
            </a:r>
            <a:endParaRPr kumimoji="0" sz="16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15" name="object 15"/>
          <p:cNvSpPr txBox="1"/>
          <p:nvPr/>
        </p:nvSpPr>
        <p:spPr>
          <a:xfrm>
            <a:off x="8825865" y="5348478"/>
            <a:ext cx="2126615" cy="666115"/>
          </a:xfrm>
          <a:prstGeom prst="rect">
            <a:avLst/>
          </a:prstGeom>
        </p:spPr>
        <p:txBody>
          <a:bodyPr vert="horz" wrap="square" lIns="0" tIns="12700" rIns="0" bIns="0" rtlCol="0">
            <a:spAutoFit/>
          </a:bodyPr>
          <a:lstStyle/>
          <a:p>
            <a:pPr marL="12700" marR="5080" lvl="0" indent="0" defTabSz="914400" eaLnBrk="1" fontAlgn="auto" latinLnBrk="0" hangingPunct="1">
              <a:lnSpc>
                <a:spcPct val="100000"/>
              </a:lnSpc>
              <a:spcBef>
                <a:spcPts val="100"/>
              </a:spcBef>
              <a:spcAft>
                <a:spcPts val="0"/>
              </a:spcAft>
              <a:buClrTx/>
              <a:buSzTx/>
              <a:buFontTx/>
              <a:buNone/>
              <a:tabLst/>
              <a:defRPr/>
            </a:pPr>
            <a:r>
              <a:rPr kumimoji="0" sz="1400" b="0" i="0" u="none" strike="noStrike" kern="0" cap="none" spc="0" normalizeH="0" baseline="0" noProof="0">
                <a:ln>
                  <a:noFill/>
                </a:ln>
                <a:solidFill>
                  <a:srgbClr val="565656"/>
                </a:solidFill>
                <a:effectLst/>
                <a:uLnTx/>
                <a:uFillTx/>
                <a:latin typeface="Trebuchet MS"/>
                <a:cs typeface="Trebuchet MS"/>
              </a:rPr>
              <a:t>RM</a:t>
            </a:r>
            <a:r>
              <a:rPr kumimoji="0" sz="1400" b="0" i="0" u="none" strike="noStrike" kern="0" cap="none" spc="-45" normalizeH="0" baseline="0" noProof="0">
                <a:ln>
                  <a:noFill/>
                </a:ln>
                <a:solidFill>
                  <a:srgbClr val="565656"/>
                </a:solidFill>
                <a:effectLst/>
                <a:uLnTx/>
                <a:uFillTx/>
                <a:latin typeface="Trebuchet MS"/>
                <a:cs typeface="Trebuchet MS"/>
              </a:rPr>
              <a:t> </a:t>
            </a:r>
            <a:r>
              <a:rPr kumimoji="0" sz="1400" b="0" i="0" u="none" strike="noStrike" kern="0" cap="none" spc="0" normalizeH="0" baseline="0" noProof="0">
                <a:ln>
                  <a:noFill/>
                </a:ln>
                <a:solidFill>
                  <a:srgbClr val="565656"/>
                </a:solidFill>
                <a:effectLst/>
                <a:uLnTx/>
                <a:uFillTx/>
                <a:latin typeface="Trebuchet MS"/>
                <a:cs typeface="Trebuchet MS"/>
              </a:rPr>
              <a:t>to</a:t>
            </a:r>
            <a:r>
              <a:rPr kumimoji="0" sz="1400" b="0" i="0" u="none" strike="noStrike" kern="0" cap="none" spc="-25" normalizeH="0" baseline="0" noProof="0">
                <a:ln>
                  <a:noFill/>
                </a:ln>
                <a:solidFill>
                  <a:srgbClr val="565656"/>
                </a:solidFill>
                <a:effectLst/>
                <a:uLnTx/>
                <a:uFillTx/>
                <a:latin typeface="Trebuchet MS"/>
                <a:cs typeface="Trebuchet MS"/>
              </a:rPr>
              <a:t> </a:t>
            </a:r>
            <a:r>
              <a:rPr kumimoji="0" sz="1400" b="0" i="0" u="none" strike="noStrike" kern="0" cap="none" spc="0" normalizeH="0" baseline="0" noProof="0">
                <a:ln>
                  <a:noFill/>
                </a:ln>
                <a:solidFill>
                  <a:srgbClr val="565656"/>
                </a:solidFill>
                <a:effectLst/>
                <a:uLnTx/>
                <a:uFillTx/>
                <a:latin typeface="Trebuchet MS"/>
                <a:cs typeface="Trebuchet MS"/>
              </a:rPr>
              <a:t>prioritize</a:t>
            </a:r>
            <a:r>
              <a:rPr kumimoji="0" sz="1400" b="0" i="0" u="none" strike="noStrike" kern="0" cap="none" spc="-15" normalizeH="0" baseline="0" noProof="0">
                <a:ln>
                  <a:noFill/>
                </a:ln>
                <a:solidFill>
                  <a:srgbClr val="565656"/>
                </a:solidFill>
                <a:effectLst/>
                <a:uLnTx/>
                <a:uFillTx/>
                <a:latin typeface="Trebuchet MS"/>
                <a:cs typeface="Trebuchet MS"/>
              </a:rPr>
              <a:t> </a:t>
            </a:r>
            <a:r>
              <a:rPr kumimoji="0" sz="1400" b="0" i="0" u="none" strike="noStrike" kern="0" cap="none" spc="-10" normalizeH="0" baseline="0" noProof="0">
                <a:ln>
                  <a:noFill/>
                </a:ln>
                <a:solidFill>
                  <a:srgbClr val="565656"/>
                </a:solidFill>
                <a:effectLst/>
                <a:uLnTx/>
                <a:uFillTx/>
                <a:latin typeface="Trebuchet MS"/>
                <a:cs typeface="Trebuchet MS"/>
              </a:rPr>
              <a:t>provided </a:t>
            </a:r>
            <a:r>
              <a:rPr kumimoji="0" sz="1400" b="0" i="0" u="none" strike="noStrike" kern="0" cap="none" spc="0" normalizeH="0" baseline="0" noProof="0">
                <a:ln>
                  <a:noFill/>
                </a:ln>
                <a:solidFill>
                  <a:srgbClr val="565656"/>
                </a:solidFill>
                <a:effectLst/>
                <a:uLnTx/>
                <a:uFillTx/>
                <a:latin typeface="Trebuchet MS"/>
                <a:cs typeface="Trebuchet MS"/>
              </a:rPr>
              <a:t>leads,</a:t>
            </a:r>
            <a:r>
              <a:rPr kumimoji="0" sz="1400" b="0" i="0" u="none" strike="noStrike" kern="0" cap="none" spc="-30" normalizeH="0" baseline="0" noProof="0">
                <a:ln>
                  <a:noFill/>
                </a:ln>
                <a:solidFill>
                  <a:srgbClr val="565656"/>
                </a:solidFill>
                <a:effectLst/>
                <a:uLnTx/>
                <a:uFillTx/>
                <a:latin typeface="Trebuchet MS"/>
                <a:cs typeface="Trebuchet MS"/>
              </a:rPr>
              <a:t> </a:t>
            </a:r>
            <a:r>
              <a:rPr kumimoji="0" sz="1400" b="0" i="0" u="none" strike="noStrike" kern="0" cap="none" spc="0" normalizeH="0" baseline="0" noProof="0">
                <a:ln>
                  <a:noFill/>
                </a:ln>
                <a:solidFill>
                  <a:srgbClr val="565656"/>
                </a:solidFill>
                <a:effectLst/>
                <a:uLnTx/>
                <a:uFillTx/>
                <a:latin typeface="Trebuchet MS"/>
                <a:cs typeface="Trebuchet MS"/>
              </a:rPr>
              <a:t>process</a:t>
            </a:r>
            <a:r>
              <a:rPr kumimoji="0" sz="1400" b="0" i="0" u="none" strike="noStrike" kern="0" cap="none" spc="-30" normalizeH="0" baseline="0" noProof="0">
                <a:ln>
                  <a:noFill/>
                </a:ln>
                <a:solidFill>
                  <a:srgbClr val="565656"/>
                </a:solidFill>
                <a:effectLst/>
                <a:uLnTx/>
                <a:uFillTx/>
                <a:latin typeface="Trebuchet MS"/>
                <a:cs typeface="Trebuchet MS"/>
              </a:rPr>
              <a:t> </a:t>
            </a:r>
            <a:r>
              <a:rPr kumimoji="0" sz="1400" b="0" i="0" u="none" strike="noStrike" kern="0" cap="none" spc="0" normalizeH="0" baseline="0" noProof="0">
                <a:ln>
                  <a:noFill/>
                </a:ln>
                <a:solidFill>
                  <a:srgbClr val="565656"/>
                </a:solidFill>
                <a:effectLst/>
                <a:uLnTx/>
                <a:uFillTx/>
                <a:latin typeface="Trebuchet MS"/>
                <a:cs typeface="Trebuchet MS"/>
              </a:rPr>
              <a:t>to</a:t>
            </a:r>
            <a:r>
              <a:rPr kumimoji="0" sz="1400" b="0" i="0" u="none" strike="noStrike" kern="0" cap="none" spc="-20" normalizeH="0" baseline="0" noProof="0">
                <a:ln>
                  <a:noFill/>
                </a:ln>
                <a:solidFill>
                  <a:srgbClr val="565656"/>
                </a:solidFill>
                <a:effectLst/>
                <a:uLnTx/>
                <a:uFillTx/>
                <a:latin typeface="Trebuchet MS"/>
                <a:cs typeface="Trebuchet MS"/>
              </a:rPr>
              <a:t> </a:t>
            </a:r>
            <a:r>
              <a:rPr kumimoji="0" sz="1400" b="0" i="0" u="none" strike="noStrike" kern="0" cap="none" spc="0" normalizeH="0" baseline="0" noProof="0">
                <a:ln>
                  <a:noFill/>
                </a:ln>
                <a:solidFill>
                  <a:srgbClr val="565656"/>
                </a:solidFill>
                <a:effectLst/>
                <a:uLnTx/>
                <a:uFillTx/>
                <a:latin typeface="Trebuchet MS"/>
                <a:cs typeface="Trebuchet MS"/>
              </a:rPr>
              <a:t>based</a:t>
            </a:r>
            <a:r>
              <a:rPr kumimoji="0" sz="1400" b="0" i="0" u="none" strike="noStrike" kern="0" cap="none" spc="-25" normalizeH="0" baseline="0" noProof="0">
                <a:ln>
                  <a:noFill/>
                </a:ln>
                <a:solidFill>
                  <a:srgbClr val="565656"/>
                </a:solidFill>
                <a:effectLst/>
                <a:uLnTx/>
                <a:uFillTx/>
                <a:latin typeface="Trebuchet MS"/>
                <a:cs typeface="Trebuchet MS"/>
              </a:rPr>
              <a:t> on </a:t>
            </a:r>
            <a:r>
              <a:rPr kumimoji="0" sz="1400" b="0" i="0" u="none" strike="noStrike" kern="0" cap="none" spc="-10" normalizeH="0" baseline="0" noProof="0">
                <a:ln>
                  <a:noFill/>
                </a:ln>
                <a:solidFill>
                  <a:srgbClr val="565656"/>
                </a:solidFill>
                <a:effectLst/>
                <a:uLnTx/>
                <a:uFillTx/>
                <a:latin typeface="Trebuchet MS"/>
                <a:cs typeface="Trebuchet MS"/>
              </a:rPr>
              <a:t>potential</a:t>
            </a:r>
            <a:endParaRPr kumimoji="0" sz="1400" b="0" i="0" u="none" strike="noStrike" kern="0" cap="none" spc="0" normalizeH="0" baseline="0" noProof="0">
              <a:ln>
                <a:noFill/>
              </a:ln>
              <a:solidFill>
                <a:sysClr val="windowText" lastClr="000000"/>
              </a:solidFill>
              <a:effectLst/>
              <a:uLnTx/>
              <a:uFillTx/>
              <a:latin typeface="Trebuchet MS"/>
              <a:cs typeface="Trebuchet MS"/>
            </a:endParaRPr>
          </a:p>
        </p:txBody>
      </p:sp>
      <p:grpSp>
        <p:nvGrpSpPr>
          <p:cNvPr id="16" name="object 16"/>
          <p:cNvGrpSpPr/>
          <p:nvPr/>
        </p:nvGrpSpPr>
        <p:grpSpPr>
          <a:xfrm>
            <a:off x="591312" y="2781109"/>
            <a:ext cx="11010900" cy="808355"/>
            <a:chOff x="591312" y="2781109"/>
            <a:chExt cx="11010900" cy="808355"/>
          </a:xfrm>
        </p:grpSpPr>
        <p:sp>
          <p:nvSpPr>
            <p:cNvPr id="17" name="object 17"/>
            <p:cNvSpPr/>
            <p:nvPr/>
          </p:nvSpPr>
          <p:spPr>
            <a:xfrm>
              <a:off x="1386840" y="2785872"/>
              <a:ext cx="658495" cy="0"/>
            </a:xfrm>
            <a:custGeom>
              <a:avLst/>
              <a:gdLst/>
              <a:ahLst/>
              <a:cxnLst/>
              <a:rect l="l" t="t" r="r" b="b"/>
              <a:pathLst>
                <a:path w="658494">
                  <a:moveTo>
                    <a:pt x="0" y="0"/>
                  </a:moveTo>
                  <a:lnTo>
                    <a:pt x="657986" y="0"/>
                  </a:lnTo>
                </a:path>
              </a:pathLst>
            </a:custGeom>
            <a:ln w="9525">
              <a:solidFill>
                <a:srgbClr val="6D6E73"/>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18" name="object 18"/>
            <p:cNvSpPr/>
            <p:nvPr/>
          </p:nvSpPr>
          <p:spPr>
            <a:xfrm>
              <a:off x="591312" y="3512820"/>
              <a:ext cx="11010900" cy="76200"/>
            </a:xfrm>
            <a:custGeom>
              <a:avLst/>
              <a:gdLst/>
              <a:ahLst/>
              <a:cxnLst/>
              <a:rect l="l" t="t" r="r" b="b"/>
              <a:pathLst>
                <a:path w="11010900" h="76200">
                  <a:moveTo>
                    <a:pt x="38100" y="0"/>
                  </a:moveTo>
                  <a:lnTo>
                    <a:pt x="23268" y="2988"/>
                  </a:lnTo>
                  <a:lnTo>
                    <a:pt x="11158" y="11144"/>
                  </a:lnTo>
                  <a:lnTo>
                    <a:pt x="2993" y="23252"/>
                  </a:lnTo>
                  <a:lnTo>
                    <a:pt x="0" y="38100"/>
                  </a:lnTo>
                  <a:lnTo>
                    <a:pt x="2993" y="52947"/>
                  </a:lnTo>
                  <a:lnTo>
                    <a:pt x="11158" y="65055"/>
                  </a:lnTo>
                  <a:lnTo>
                    <a:pt x="23268" y="73211"/>
                  </a:lnTo>
                  <a:lnTo>
                    <a:pt x="38100" y="76200"/>
                  </a:lnTo>
                  <a:lnTo>
                    <a:pt x="52931" y="73211"/>
                  </a:lnTo>
                  <a:lnTo>
                    <a:pt x="65041" y="65055"/>
                  </a:lnTo>
                  <a:lnTo>
                    <a:pt x="73206" y="52947"/>
                  </a:lnTo>
                  <a:lnTo>
                    <a:pt x="74919" y="44450"/>
                  </a:lnTo>
                  <a:lnTo>
                    <a:pt x="34594" y="44450"/>
                  </a:lnTo>
                  <a:lnTo>
                    <a:pt x="31750" y="41655"/>
                  </a:lnTo>
                  <a:lnTo>
                    <a:pt x="31750" y="34543"/>
                  </a:lnTo>
                  <a:lnTo>
                    <a:pt x="34594" y="31750"/>
                  </a:lnTo>
                  <a:lnTo>
                    <a:pt x="74919" y="31750"/>
                  </a:lnTo>
                  <a:lnTo>
                    <a:pt x="73206" y="23252"/>
                  </a:lnTo>
                  <a:lnTo>
                    <a:pt x="65041" y="11144"/>
                  </a:lnTo>
                  <a:lnTo>
                    <a:pt x="52931" y="2988"/>
                  </a:lnTo>
                  <a:lnTo>
                    <a:pt x="38100" y="0"/>
                  </a:lnTo>
                  <a:close/>
                </a:path>
                <a:path w="11010900" h="76200">
                  <a:moveTo>
                    <a:pt x="10972800" y="0"/>
                  </a:moveTo>
                  <a:lnTo>
                    <a:pt x="10957952" y="2988"/>
                  </a:lnTo>
                  <a:lnTo>
                    <a:pt x="10945844" y="11144"/>
                  </a:lnTo>
                  <a:lnTo>
                    <a:pt x="10937688" y="23252"/>
                  </a:lnTo>
                  <a:lnTo>
                    <a:pt x="10934700" y="38100"/>
                  </a:lnTo>
                  <a:lnTo>
                    <a:pt x="10937688" y="52947"/>
                  </a:lnTo>
                  <a:lnTo>
                    <a:pt x="10945844" y="65055"/>
                  </a:lnTo>
                  <a:lnTo>
                    <a:pt x="10957952" y="73211"/>
                  </a:lnTo>
                  <a:lnTo>
                    <a:pt x="10972800" y="76200"/>
                  </a:lnTo>
                  <a:lnTo>
                    <a:pt x="10987647" y="73211"/>
                  </a:lnTo>
                  <a:lnTo>
                    <a:pt x="10999755" y="65055"/>
                  </a:lnTo>
                  <a:lnTo>
                    <a:pt x="11007911" y="52947"/>
                  </a:lnTo>
                  <a:lnTo>
                    <a:pt x="11009621" y="44450"/>
                  </a:lnTo>
                  <a:lnTo>
                    <a:pt x="10976356" y="44450"/>
                  </a:lnTo>
                  <a:lnTo>
                    <a:pt x="10979150" y="41655"/>
                  </a:lnTo>
                  <a:lnTo>
                    <a:pt x="10979150" y="34543"/>
                  </a:lnTo>
                  <a:lnTo>
                    <a:pt x="10976356" y="31750"/>
                  </a:lnTo>
                  <a:lnTo>
                    <a:pt x="11009621" y="31750"/>
                  </a:lnTo>
                  <a:lnTo>
                    <a:pt x="11007911" y="23252"/>
                  </a:lnTo>
                  <a:lnTo>
                    <a:pt x="10999755" y="11144"/>
                  </a:lnTo>
                  <a:lnTo>
                    <a:pt x="10987647" y="2988"/>
                  </a:lnTo>
                  <a:lnTo>
                    <a:pt x="10972800" y="0"/>
                  </a:lnTo>
                  <a:close/>
                </a:path>
                <a:path w="11010900" h="76200">
                  <a:moveTo>
                    <a:pt x="74919" y="31750"/>
                  </a:moveTo>
                  <a:lnTo>
                    <a:pt x="34594" y="31750"/>
                  </a:lnTo>
                  <a:lnTo>
                    <a:pt x="31750" y="34543"/>
                  </a:lnTo>
                  <a:lnTo>
                    <a:pt x="31750" y="41655"/>
                  </a:lnTo>
                  <a:lnTo>
                    <a:pt x="34594" y="44450"/>
                  </a:lnTo>
                  <a:lnTo>
                    <a:pt x="74919" y="44450"/>
                  </a:lnTo>
                  <a:lnTo>
                    <a:pt x="76200" y="38100"/>
                  </a:lnTo>
                  <a:lnTo>
                    <a:pt x="74919" y="31750"/>
                  </a:lnTo>
                  <a:close/>
                </a:path>
                <a:path w="11010900" h="76200">
                  <a:moveTo>
                    <a:pt x="10935978" y="31750"/>
                  </a:moveTo>
                  <a:lnTo>
                    <a:pt x="74919" y="31750"/>
                  </a:lnTo>
                  <a:lnTo>
                    <a:pt x="76200" y="38100"/>
                  </a:lnTo>
                  <a:lnTo>
                    <a:pt x="74919" y="44450"/>
                  </a:lnTo>
                  <a:lnTo>
                    <a:pt x="10935978" y="44450"/>
                  </a:lnTo>
                  <a:lnTo>
                    <a:pt x="10934700" y="38100"/>
                  </a:lnTo>
                  <a:lnTo>
                    <a:pt x="10935978" y="31750"/>
                  </a:lnTo>
                  <a:close/>
                </a:path>
                <a:path w="11010900" h="76200">
                  <a:moveTo>
                    <a:pt x="11009621" y="31750"/>
                  </a:moveTo>
                  <a:lnTo>
                    <a:pt x="10976356" y="31750"/>
                  </a:lnTo>
                  <a:lnTo>
                    <a:pt x="10979150" y="34543"/>
                  </a:lnTo>
                  <a:lnTo>
                    <a:pt x="10979150" y="41655"/>
                  </a:lnTo>
                  <a:lnTo>
                    <a:pt x="10976356" y="44450"/>
                  </a:lnTo>
                  <a:lnTo>
                    <a:pt x="11009621" y="44450"/>
                  </a:lnTo>
                  <a:lnTo>
                    <a:pt x="11010900" y="38100"/>
                  </a:lnTo>
                  <a:lnTo>
                    <a:pt x="11009621" y="31750"/>
                  </a:lnTo>
                  <a:close/>
                </a:path>
              </a:pathLst>
            </a:custGeom>
            <a:solidFill>
              <a:srgbClr val="6D6E73"/>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19" name="object 19"/>
            <p:cNvSpPr/>
            <p:nvPr/>
          </p:nvSpPr>
          <p:spPr>
            <a:xfrm>
              <a:off x="1716023" y="2785872"/>
              <a:ext cx="0" cy="765175"/>
            </a:xfrm>
            <a:custGeom>
              <a:avLst/>
              <a:gdLst/>
              <a:ahLst/>
              <a:cxnLst/>
              <a:rect l="l" t="t" r="r" b="b"/>
              <a:pathLst>
                <a:path h="765175">
                  <a:moveTo>
                    <a:pt x="0" y="0"/>
                  </a:moveTo>
                  <a:lnTo>
                    <a:pt x="0" y="765175"/>
                  </a:lnTo>
                </a:path>
              </a:pathLst>
            </a:custGeom>
            <a:ln w="9525">
              <a:solidFill>
                <a:srgbClr val="6D6E73"/>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grpSp>
      <p:sp>
        <p:nvSpPr>
          <p:cNvPr id="20" name="object 20"/>
          <p:cNvSpPr txBox="1"/>
          <p:nvPr/>
        </p:nvSpPr>
        <p:spPr>
          <a:xfrm>
            <a:off x="2144267" y="1891283"/>
            <a:ext cx="658495" cy="798830"/>
          </a:xfrm>
          <a:prstGeom prst="rect">
            <a:avLst/>
          </a:prstGeom>
          <a:solidFill>
            <a:srgbClr val="9A9A9A"/>
          </a:solidFill>
        </p:spPr>
        <p:txBody>
          <a:bodyPr vert="horz" wrap="square" lIns="0" tIns="59055" rIns="0" bIns="0" rtlCol="0">
            <a:spAutoFit/>
          </a:bodyPr>
          <a:lstStyle/>
          <a:p>
            <a:pPr marL="0" marR="0" lvl="0" indent="0" defTabSz="914400" eaLnBrk="1" fontAlgn="auto" latinLnBrk="0" hangingPunct="1">
              <a:lnSpc>
                <a:spcPct val="100000"/>
              </a:lnSpc>
              <a:spcBef>
                <a:spcPts val="465"/>
              </a:spcBef>
              <a:spcAft>
                <a:spcPts val="0"/>
              </a:spcAft>
              <a:buClrTx/>
              <a:buSzTx/>
              <a:buFontTx/>
              <a:buNone/>
              <a:tabLst/>
              <a:defRPr/>
            </a:pPr>
            <a:endParaRPr kumimoji="0" sz="900" b="0" i="0" u="none" strike="noStrike" kern="0" cap="none" spc="0" normalizeH="0" baseline="0" noProof="0">
              <a:ln>
                <a:noFill/>
              </a:ln>
              <a:solidFill>
                <a:sysClr val="windowText" lastClr="000000"/>
              </a:solidFill>
              <a:effectLst/>
              <a:uLnTx/>
              <a:uFillTx/>
              <a:latin typeface="Times New Roman"/>
              <a:cs typeface="Times New Roman"/>
            </a:endParaRPr>
          </a:p>
          <a:p>
            <a:pPr marL="109220" marR="100965" lvl="0" indent="63500" algn="just" defTabSz="914400" eaLnBrk="1" fontAlgn="auto" latinLnBrk="0" hangingPunct="1">
              <a:lnSpc>
                <a:spcPct val="100000"/>
              </a:lnSpc>
              <a:spcBef>
                <a:spcPts val="0"/>
              </a:spcBef>
              <a:spcAft>
                <a:spcPts val="0"/>
              </a:spcAft>
              <a:buClrTx/>
              <a:buSzTx/>
              <a:buFontTx/>
              <a:buNone/>
              <a:tabLst/>
              <a:defRPr/>
            </a:pPr>
            <a:r>
              <a:rPr kumimoji="0" sz="900" b="0" i="1" u="none" strike="noStrike" kern="0" cap="none" spc="-10" normalizeH="0" baseline="0" noProof="0">
                <a:ln>
                  <a:noFill/>
                </a:ln>
                <a:solidFill>
                  <a:srgbClr val="FFFFFF"/>
                </a:solidFill>
                <a:effectLst/>
                <a:uLnTx/>
                <a:uFillTx/>
                <a:latin typeface="Trebuchet MS"/>
                <a:cs typeface="Trebuchet MS"/>
              </a:rPr>
              <a:t>Client action planning</a:t>
            </a:r>
            <a:endParaRPr kumimoji="0" sz="9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21" name="object 21"/>
          <p:cNvSpPr txBox="1"/>
          <p:nvPr/>
        </p:nvSpPr>
        <p:spPr>
          <a:xfrm>
            <a:off x="1386839" y="1891283"/>
            <a:ext cx="658495" cy="798830"/>
          </a:xfrm>
          <a:prstGeom prst="rect">
            <a:avLst/>
          </a:prstGeom>
          <a:solidFill>
            <a:srgbClr val="295E7D"/>
          </a:solidFill>
        </p:spPr>
        <p:txBody>
          <a:bodyPr vert="horz" wrap="square" lIns="0" tIns="127635" rIns="0" bIns="0" rtlCol="0">
            <a:spAutoFit/>
          </a:bodyPr>
          <a:lstStyle/>
          <a:p>
            <a:pPr marL="0" marR="0" lvl="0" indent="0" defTabSz="914400" eaLnBrk="1" fontAlgn="auto" latinLnBrk="0" hangingPunct="1">
              <a:lnSpc>
                <a:spcPct val="100000"/>
              </a:lnSpc>
              <a:spcBef>
                <a:spcPts val="1005"/>
              </a:spcBef>
              <a:spcAft>
                <a:spcPts val="0"/>
              </a:spcAft>
              <a:buClrTx/>
              <a:buSzTx/>
              <a:buFontTx/>
              <a:buNone/>
              <a:tabLst/>
              <a:defRPr/>
            </a:pPr>
            <a:endParaRPr kumimoji="0" sz="900" b="0" i="0" u="none" strike="noStrike" kern="0" cap="none" spc="0" normalizeH="0" baseline="0" noProof="0">
              <a:ln>
                <a:noFill/>
              </a:ln>
              <a:solidFill>
                <a:sysClr val="windowText" lastClr="000000"/>
              </a:solidFill>
              <a:effectLst/>
              <a:uLnTx/>
              <a:uFillTx/>
              <a:latin typeface="Times New Roman"/>
              <a:cs typeface="Times New Roman"/>
            </a:endParaRPr>
          </a:p>
          <a:p>
            <a:pPr marL="51435" marR="42545" lvl="0" indent="133985" defTabSz="914400" eaLnBrk="1" fontAlgn="auto" latinLnBrk="0" hangingPunct="1">
              <a:lnSpc>
                <a:spcPct val="100000"/>
              </a:lnSpc>
              <a:spcBef>
                <a:spcPts val="0"/>
              </a:spcBef>
              <a:spcAft>
                <a:spcPts val="0"/>
              </a:spcAft>
              <a:buClrTx/>
              <a:buSzTx/>
              <a:buFontTx/>
              <a:buNone/>
              <a:tabLst/>
              <a:defRPr/>
            </a:pPr>
            <a:r>
              <a:rPr kumimoji="0" sz="900" b="0" i="1" u="none" strike="noStrike" kern="0" cap="none" spc="-10" normalizeH="0" baseline="0" noProof="0">
                <a:ln>
                  <a:noFill/>
                </a:ln>
                <a:solidFill>
                  <a:srgbClr val="FFFFFF"/>
                </a:solidFill>
                <a:effectLst/>
                <a:uLnTx/>
                <a:uFillTx/>
                <a:latin typeface="Trebuchet MS"/>
                <a:cs typeface="Trebuchet MS"/>
              </a:rPr>
              <a:t>Leads generation</a:t>
            </a:r>
            <a:endParaRPr kumimoji="0" sz="9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22" name="object 22"/>
          <p:cNvSpPr txBox="1"/>
          <p:nvPr/>
        </p:nvSpPr>
        <p:spPr>
          <a:xfrm>
            <a:off x="629412" y="1891283"/>
            <a:ext cx="658495" cy="798830"/>
          </a:xfrm>
          <a:prstGeom prst="rect">
            <a:avLst/>
          </a:prstGeom>
          <a:solidFill>
            <a:srgbClr val="9A9A9A"/>
          </a:solidFill>
        </p:spPr>
        <p:txBody>
          <a:bodyPr vert="horz" wrap="square" lIns="0" tIns="127635" rIns="0" bIns="0" rtlCol="0">
            <a:spAutoFit/>
          </a:bodyPr>
          <a:lstStyle/>
          <a:p>
            <a:pPr marL="0" marR="0" lvl="0" indent="0" defTabSz="914400" eaLnBrk="1" fontAlgn="auto" latinLnBrk="0" hangingPunct="1">
              <a:lnSpc>
                <a:spcPct val="100000"/>
              </a:lnSpc>
              <a:spcBef>
                <a:spcPts val="1005"/>
              </a:spcBef>
              <a:spcAft>
                <a:spcPts val="0"/>
              </a:spcAft>
              <a:buClrTx/>
              <a:buSzTx/>
              <a:buFontTx/>
              <a:buNone/>
              <a:tabLst/>
              <a:defRPr/>
            </a:pPr>
            <a:endParaRPr kumimoji="0" sz="900" b="0" i="0" u="none" strike="noStrike" kern="0" cap="none" spc="0" normalizeH="0" baseline="0" noProof="0">
              <a:ln>
                <a:noFill/>
              </a:ln>
              <a:solidFill>
                <a:sysClr val="windowText" lastClr="000000"/>
              </a:solidFill>
              <a:effectLst/>
              <a:uLnTx/>
              <a:uFillTx/>
              <a:latin typeface="Times New Roman"/>
              <a:cs typeface="Times New Roman"/>
            </a:endParaRPr>
          </a:p>
          <a:p>
            <a:pPr marL="197485" marR="43815" lvl="0" indent="-146685" defTabSz="914400" eaLnBrk="1" fontAlgn="auto" latinLnBrk="0" hangingPunct="1">
              <a:lnSpc>
                <a:spcPct val="100000"/>
              </a:lnSpc>
              <a:spcBef>
                <a:spcPts val="0"/>
              </a:spcBef>
              <a:spcAft>
                <a:spcPts val="0"/>
              </a:spcAft>
              <a:buClrTx/>
              <a:buSzTx/>
              <a:buFontTx/>
              <a:buNone/>
              <a:tabLst/>
              <a:defRPr/>
            </a:pPr>
            <a:r>
              <a:rPr kumimoji="0" sz="900" b="0" i="1" u="none" strike="noStrike" kern="0" cap="none" spc="-10" normalizeH="0" baseline="0" noProof="0">
                <a:ln>
                  <a:noFill/>
                </a:ln>
                <a:solidFill>
                  <a:srgbClr val="FFFFFF"/>
                </a:solidFill>
                <a:effectLst/>
                <a:uLnTx/>
                <a:uFillTx/>
                <a:latin typeface="Trebuchet MS"/>
                <a:cs typeface="Trebuchet MS"/>
              </a:rPr>
              <a:t>Knowledge </a:t>
            </a:r>
            <a:r>
              <a:rPr kumimoji="0" sz="900" b="0" i="1" u="none" strike="noStrike" kern="0" cap="none" spc="-20" normalizeH="0" baseline="0" noProof="0">
                <a:ln>
                  <a:noFill/>
                </a:ln>
                <a:solidFill>
                  <a:srgbClr val="FFFFFF"/>
                </a:solidFill>
                <a:effectLst/>
                <a:uLnTx/>
                <a:uFillTx/>
                <a:latin typeface="Trebuchet MS"/>
                <a:cs typeface="Trebuchet MS"/>
              </a:rPr>
              <a:t>build</a:t>
            </a:r>
            <a:endParaRPr kumimoji="0" sz="9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23" name="object 23"/>
          <p:cNvSpPr txBox="1"/>
          <p:nvPr/>
        </p:nvSpPr>
        <p:spPr>
          <a:xfrm>
            <a:off x="2898648" y="2479548"/>
            <a:ext cx="4038600" cy="210820"/>
          </a:xfrm>
          <a:prstGeom prst="rect">
            <a:avLst/>
          </a:prstGeom>
          <a:solidFill>
            <a:srgbClr val="9A9A9A"/>
          </a:solidFill>
        </p:spPr>
        <p:txBody>
          <a:bodyPr vert="horz" wrap="square" lIns="0" tIns="33655" rIns="0" bIns="0" rtlCol="0">
            <a:spAutoFit/>
          </a:bodyPr>
          <a:lstStyle/>
          <a:p>
            <a:pPr marL="0" marR="0" lvl="0" indent="0" algn="ctr" defTabSz="914400" eaLnBrk="1" fontAlgn="auto" latinLnBrk="0" hangingPunct="1">
              <a:lnSpc>
                <a:spcPct val="100000"/>
              </a:lnSpc>
              <a:spcBef>
                <a:spcPts val="265"/>
              </a:spcBef>
              <a:spcAft>
                <a:spcPts val="0"/>
              </a:spcAft>
              <a:buClrTx/>
              <a:buSzTx/>
              <a:buFontTx/>
              <a:buNone/>
              <a:tabLst/>
              <a:defRPr/>
            </a:pPr>
            <a:r>
              <a:rPr kumimoji="0" sz="900" b="0" i="1" u="none" strike="noStrike" kern="0" cap="none" spc="0" normalizeH="0" baseline="0" noProof="0">
                <a:ln>
                  <a:noFill/>
                </a:ln>
                <a:solidFill>
                  <a:srgbClr val="FFFFFF"/>
                </a:solidFill>
                <a:effectLst/>
                <a:uLnTx/>
                <a:uFillTx/>
                <a:latin typeface="Trebuchet MS"/>
                <a:cs typeface="Trebuchet MS"/>
              </a:rPr>
              <a:t>Compliance</a:t>
            </a:r>
            <a:r>
              <a:rPr kumimoji="0" sz="900" b="0" i="1" u="none" strike="noStrike" kern="0" cap="none" spc="-50" normalizeH="0" baseline="0" noProof="0">
                <a:ln>
                  <a:noFill/>
                </a:ln>
                <a:solidFill>
                  <a:srgbClr val="FFFFFF"/>
                </a:solidFill>
                <a:effectLst/>
                <a:uLnTx/>
                <a:uFillTx/>
                <a:latin typeface="Trebuchet MS"/>
                <a:cs typeface="Trebuchet MS"/>
              </a:rPr>
              <a:t> </a:t>
            </a:r>
            <a:r>
              <a:rPr kumimoji="0" sz="900" b="0" i="1" u="none" strike="noStrike" kern="0" cap="none" spc="-10" normalizeH="0" baseline="0" noProof="0">
                <a:ln>
                  <a:noFill/>
                </a:ln>
                <a:solidFill>
                  <a:srgbClr val="FFFFFF"/>
                </a:solidFill>
                <a:effectLst/>
                <a:uLnTx/>
                <a:uFillTx/>
                <a:latin typeface="Trebuchet MS"/>
                <a:cs typeface="Trebuchet MS"/>
              </a:rPr>
              <a:t>checking</a:t>
            </a:r>
            <a:endParaRPr kumimoji="0" sz="9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24" name="object 24"/>
          <p:cNvSpPr txBox="1"/>
          <p:nvPr/>
        </p:nvSpPr>
        <p:spPr>
          <a:xfrm>
            <a:off x="2898648" y="1891283"/>
            <a:ext cx="1285240" cy="525780"/>
          </a:xfrm>
          <a:prstGeom prst="rect">
            <a:avLst/>
          </a:prstGeom>
          <a:solidFill>
            <a:srgbClr val="9A9A9A"/>
          </a:solidFill>
        </p:spPr>
        <p:txBody>
          <a:bodyPr vert="horz" wrap="square" lIns="0" tIns="123190" rIns="0" bIns="0" rtlCol="0">
            <a:spAutoFit/>
          </a:bodyPr>
          <a:lstStyle/>
          <a:p>
            <a:pPr marL="0" marR="0" lvl="0" indent="0" algn="ctr" defTabSz="914400" eaLnBrk="1" fontAlgn="auto" latinLnBrk="0" hangingPunct="1">
              <a:lnSpc>
                <a:spcPct val="100000"/>
              </a:lnSpc>
              <a:spcBef>
                <a:spcPts val="970"/>
              </a:spcBef>
              <a:spcAft>
                <a:spcPts val="0"/>
              </a:spcAft>
              <a:buClrTx/>
              <a:buSzTx/>
              <a:buFontTx/>
              <a:buNone/>
              <a:tabLst/>
              <a:defRPr/>
            </a:pPr>
            <a:r>
              <a:rPr kumimoji="0" sz="900" b="0" i="1" u="none" strike="noStrike" kern="0" cap="none" spc="0" normalizeH="0" baseline="0" noProof="0">
                <a:ln>
                  <a:noFill/>
                </a:ln>
                <a:solidFill>
                  <a:srgbClr val="FFFFFF"/>
                </a:solidFill>
                <a:effectLst/>
                <a:uLnTx/>
                <a:uFillTx/>
                <a:latin typeface="Trebuchet MS"/>
                <a:cs typeface="Trebuchet MS"/>
              </a:rPr>
              <a:t>Introduction</a:t>
            </a:r>
            <a:r>
              <a:rPr kumimoji="0" sz="900" b="0" i="1" u="none" strike="noStrike" kern="0" cap="none" spc="-50" normalizeH="0" baseline="0" noProof="0">
                <a:ln>
                  <a:noFill/>
                </a:ln>
                <a:solidFill>
                  <a:srgbClr val="FFFFFF"/>
                </a:solidFill>
                <a:effectLst/>
                <a:uLnTx/>
                <a:uFillTx/>
                <a:latin typeface="Trebuchet MS"/>
                <a:cs typeface="Trebuchet MS"/>
              </a:rPr>
              <a:t> &amp;</a:t>
            </a:r>
            <a:endParaRPr kumimoji="0" sz="900" b="0" i="0" u="none" strike="noStrike" kern="0" cap="none" spc="0" normalizeH="0" baseline="0" noProof="0">
              <a:ln>
                <a:noFill/>
              </a:ln>
              <a:solidFill>
                <a:sysClr val="windowText" lastClr="000000"/>
              </a:solidFill>
              <a:effectLst/>
              <a:uLnTx/>
              <a:uFillTx/>
              <a:latin typeface="Trebuchet MS"/>
              <a:cs typeface="Trebuchet MS"/>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sz="900" b="0" i="1" u="none" strike="noStrike" kern="0" cap="none" spc="-10" normalizeH="0" baseline="0" noProof="0">
                <a:ln>
                  <a:noFill/>
                </a:ln>
                <a:solidFill>
                  <a:srgbClr val="FFFFFF"/>
                </a:solidFill>
                <a:effectLst/>
                <a:uLnTx/>
                <a:uFillTx/>
                <a:latin typeface="Trebuchet MS"/>
                <a:cs typeface="Trebuchet MS"/>
              </a:rPr>
              <a:t>onboarding</a:t>
            </a:r>
            <a:endParaRPr kumimoji="0" sz="9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25" name="object 25"/>
          <p:cNvSpPr txBox="1"/>
          <p:nvPr/>
        </p:nvSpPr>
        <p:spPr>
          <a:xfrm>
            <a:off x="4303776" y="1891283"/>
            <a:ext cx="797560" cy="525780"/>
          </a:xfrm>
          <a:prstGeom prst="rect">
            <a:avLst/>
          </a:prstGeom>
          <a:solidFill>
            <a:srgbClr val="9A9A9A"/>
          </a:solidFill>
        </p:spPr>
        <p:txBody>
          <a:bodyPr vert="horz" wrap="square" lIns="0" tIns="60325" rIns="0" bIns="0" rtlCol="0">
            <a:spAutoFit/>
          </a:bodyPr>
          <a:lstStyle/>
          <a:p>
            <a:pPr marL="0" marR="0" lvl="0" indent="0" defTabSz="914400" eaLnBrk="1" fontAlgn="auto" latinLnBrk="0" hangingPunct="1">
              <a:lnSpc>
                <a:spcPct val="100000"/>
              </a:lnSpc>
              <a:spcBef>
                <a:spcPts val="475"/>
              </a:spcBef>
              <a:spcAft>
                <a:spcPts val="0"/>
              </a:spcAft>
              <a:buClrTx/>
              <a:buSzTx/>
              <a:buFontTx/>
              <a:buNone/>
              <a:tabLst/>
              <a:defRPr/>
            </a:pPr>
            <a:endParaRPr kumimoji="0" sz="900" b="0" i="0" u="none" strike="noStrike" kern="0" cap="none" spc="0" normalizeH="0" baseline="0" noProof="0">
              <a:ln>
                <a:noFill/>
              </a:ln>
              <a:solidFill>
                <a:sysClr val="windowText" lastClr="000000"/>
              </a:solidFill>
              <a:effectLst/>
              <a:uLnTx/>
              <a:uFillTx/>
              <a:latin typeface="Times New Roman"/>
              <a:cs typeface="Times New Roman"/>
            </a:endParaRPr>
          </a:p>
          <a:p>
            <a:pPr marL="103505" marR="0" lvl="0" indent="0" defTabSz="914400" eaLnBrk="1" fontAlgn="auto" latinLnBrk="0" hangingPunct="1">
              <a:lnSpc>
                <a:spcPct val="100000"/>
              </a:lnSpc>
              <a:spcBef>
                <a:spcPts val="0"/>
              </a:spcBef>
              <a:spcAft>
                <a:spcPts val="0"/>
              </a:spcAft>
              <a:buClrTx/>
              <a:buSzTx/>
              <a:buFontTx/>
              <a:buNone/>
              <a:tabLst/>
              <a:defRPr/>
            </a:pPr>
            <a:r>
              <a:rPr kumimoji="0" sz="900" b="0" i="1" u="none" strike="noStrike" kern="0" cap="none" spc="-10" normalizeH="0" baseline="0" noProof="0">
                <a:ln>
                  <a:noFill/>
                </a:ln>
                <a:solidFill>
                  <a:srgbClr val="FFFFFF"/>
                </a:solidFill>
                <a:effectLst/>
                <a:uLnTx/>
                <a:uFillTx/>
                <a:latin typeface="Trebuchet MS"/>
                <a:cs typeface="Trebuchet MS"/>
              </a:rPr>
              <a:t>Understand</a:t>
            </a:r>
            <a:endParaRPr kumimoji="0" sz="9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26" name="object 26"/>
          <p:cNvSpPr txBox="1"/>
          <p:nvPr/>
        </p:nvSpPr>
        <p:spPr>
          <a:xfrm>
            <a:off x="5221223" y="1891283"/>
            <a:ext cx="798830" cy="525780"/>
          </a:xfrm>
          <a:prstGeom prst="rect">
            <a:avLst/>
          </a:prstGeom>
          <a:solidFill>
            <a:srgbClr val="9A9A9A"/>
          </a:solidFill>
        </p:spPr>
        <p:txBody>
          <a:bodyPr vert="horz" wrap="square" lIns="0" tIns="60325" rIns="0" bIns="0" rtlCol="0">
            <a:spAutoFit/>
          </a:bodyPr>
          <a:lstStyle/>
          <a:p>
            <a:pPr marL="0" marR="0" lvl="0" indent="0" defTabSz="914400" eaLnBrk="1" fontAlgn="auto" latinLnBrk="0" hangingPunct="1">
              <a:lnSpc>
                <a:spcPct val="100000"/>
              </a:lnSpc>
              <a:spcBef>
                <a:spcPts val="475"/>
              </a:spcBef>
              <a:spcAft>
                <a:spcPts val="0"/>
              </a:spcAft>
              <a:buClrTx/>
              <a:buSzTx/>
              <a:buFontTx/>
              <a:buNone/>
              <a:tabLst/>
              <a:defRPr/>
            </a:pPr>
            <a:endParaRPr kumimoji="0" sz="900" b="0" i="0" u="none" strike="noStrike" kern="0" cap="none" spc="0" normalizeH="0" baseline="0" noProof="0">
              <a:ln>
                <a:noFill/>
              </a:ln>
              <a:solidFill>
                <a:sysClr val="windowText" lastClr="000000"/>
              </a:solidFill>
              <a:effectLst/>
              <a:uLnTx/>
              <a:uFillTx/>
              <a:latin typeface="Times New Roman"/>
              <a:cs typeface="Times New Roman"/>
            </a:endParaRPr>
          </a:p>
          <a:p>
            <a:pPr marL="197485" marR="0" lvl="0" indent="0" defTabSz="914400" eaLnBrk="1" fontAlgn="auto" latinLnBrk="0" hangingPunct="1">
              <a:lnSpc>
                <a:spcPct val="100000"/>
              </a:lnSpc>
              <a:spcBef>
                <a:spcPts val="0"/>
              </a:spcBef>
              <a:spcAft>
                <a:spcPts val="0"/>
              </a:spcAft>
              <a:buClrTx/>
              <a:buSzTx/>
              <a:buFontTx/>
              <a:buNone/>
              <a:tabLst/>
              <a:defRPr/>
            </a:pPr>
            <a:r>
              <a:rPr kumimoji="0" sz="900" b="0" i="1" u="none" strike="noStrike" kern="0" cap="none" spc="-10" normalizeH="0" baseline="0" noProof="0">
                <a:ln>
                  <a:noFill/>
                </a:ln>
                <a:solidFill>
                  <a:srgbClr val="FFFFFF"/>
                </a:solidFill>
                <a:effectLst/>
                <a:uLnTx/>
                <a:uFillTx/>
                <a:latin typeface="Trebuchet MS"/>
                <a:cs typeface="Trebuchet MS"/>
              </a:rPr>
              <a:t>Propose</a:t>
            </a:r>
            <a:endParaRPr kumimoji="0" sz="9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27" name="object 27"/>
          <p:cNvSpPr txBox="1"/>
          <p:nvPr/>
        </p:nvSpPr>
        <p:spPr>
          <a:xfrm>
            <a:off x="6140196" y="1891283"/>
            <a:ext cx="797560" cy="525780"/>
          </a:xfrm>
          <a:prstGeom prst="rect">
            <a:avLst/>
          </a:prstGeom>
          <a:solidFill>
            <a:srgbClr val="9A9A9A"/>
          </a:solidFill>
        </p:spPr>
        <p:txBody>
          <a:bodyPr vert="horz" wrap="square" lIns="0" tIns="123190" rIns="0" bIns="0" rtlCol="0">
            <a:spAutoFit/>
          </a:bodyPr>
          <a:lstStyle/>
          <a:p>
            <a:pPr marL="191135" marR="0" lvl="0" indent="0" defTabSz="914400" eaLnBrk="1" fontAlgn="auto" latinLnBrk="0" hangingPunct="1">
              <a:lnSpc>
                <a:spcPct val="100000"/>
              </a:lnSpc>
              <a:spcBef>
                <a:spcPts val="970"/>
              </a:spcBef>
              <a:spcAft>
                <a:spcPts val="0"/>
              </a:spcAft>
              <a:buClrTx/>
              <a:buSzTx/>
              <a:buFontTx/>
              <a:buNone/>
              <a:tabLst/>
              <a:defRPr/>
            </a:pPr>
            <a:r>
              <a:rPr kumimoji="0" sz="900" b="0" i="1" u="none" strike="noStrike" kern="0" cap="none" spc="0" normalizeH="0" baseline="0" noProof="0">
                <a:ln>
                  <a:noFill/>
                </a:ln>
                <a:solidFill>
                  <a:srgbClr val="FFFFFF"/>
                </a:solidFill>
                <a:effectLst/>
                <a:uLnTx/>
                <a:uFillTx/>
                <a:latin typeface="Trebuchet MS"/>
                <a:cs typeface="Trebuchet MS"/>
              </a:rPr>
              <a:t>Agree</a:t>
            </a:r>
            <a:r>
              <a:rPr kumimoji="0" sz="900" b="0" i="1" u="none" strike="noStrike" kern="0" cap="none" spc="-10" normalizeH="0" baseline="0" noProof="0">
                <a:ln>
                  <a:noFill/>
                </a:ln>
                <a:solidFill>
                  <a:srgbClr val="FFFFFF"/>
                </a:solidFill>
                <a:effectLst/>
                <a:uLnTx/>
                <a:uFillTx/>
                <a:latin typeface="Trebuchet MS"/>
                <a:cs typeface="Trebuchet MS"/>
              </a:rPr>
              <a:t> </a:t>
            </a:r>
            <a:r>
              <a:rPr kumimoji="0" sz="900" b="0" i="1" u="none" strike="noStrike" kern="0" cap="none" spc="-50" normalizeH="0" baseline="0" noProof="0">
                <a:ln>
                  <a:noFill/>
                </a:ln>
                <a:solidFill>
                  <a:srgbClr val="FFFFFF"/>
                </a:solidFill>
                <a:effectLst/>
                <a:uLnTx/>
                <a:uFillTx/>
                <a:latin typeface="Trebuchet MS"/>
                <a:cs typeface="Trebuchet MS"/>
              </a:rPr>
              <a:t>&amp;</a:t>
            </a:r>
            <a:endParaRPr kumimoji="0" sz="900" b="0" i="0" u="none" strike="noStrike" kern="0" cap="none" spc="0" normalizeH="0" baseline="0" noProof="0">
              <a:ln>
                <a:noFill/>
              </a:ln>
              <a:solidFill>
                <a:sysClr val="windowText" lastClr="000000"/>
              </a:solidFill>
              <a:effectLst/>
              <a:uLnTx/>
              <a:uFillTx/>
              <a:latin typeface="Trebuchet MS"/>
              <a:cs typeface="Trebuchet MS"/>
            </a:endParaRPr>
          </a:p>
          <a:p>
            <a:pPr marL="195580" marR="0" lvl="0" indent="0" defTabSz="914400" eaLnBrk="1" fontAlgn="auto" latinLnBrk="0" hangingPunct="1">
              <a:lnSpc>
                <a:spcPct val="100000"/>
              </a:lnSpc>
              <a:spcBef>
                <a:spcPts val="0"/>
              </a:spcBef>
              <a:spcAft>
                <a:spcPts val="0"/>
              </a:spcAft>
              <a:buClrTx/>
              <a:buSzTx/>
              <a:buFontTx/>
              <a:buNone/>
              <a:tabLst/>
              <a:defRPr/>
            </a:pPr>
            <a:r>
              <a:rPr kumimoji="0" sz="900" b="0" i="1" u="none" strike="noStrike" kern="0" cap="none" spc="-10" normalizeH="0" baseline="0" noProof="0">
                <a:ln>
                  <a:noFill/>
                </a:ln>
                <a:solidFill>
                  <a:srgbClr val="FFFFFF"/>
                </a:solidFill>
                <a:effectLst/>
                <a:uLnTx/>
                <a:uFillTx/>
                <a:latin typeface="Trebuchet MS"/>
                <a:cs typeface="Trebuchet MS"/>
              </a:rPr>
              <a:t>execute</a:t>
            </a:r>
            <a:endParaRPr kumimoji="0" sz="9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28" name="object 28"/>
          <p:cNvSpPr txBox="1"/>
          <p:nvPr/>
        </p:nvSpPr>
        <p:spPr>
          <a:xfrm>
            <a:off x="10712195" y="1891283"/>
            <a:ext cx="798830" cy="798830"/>
          </a:xfrm>
          <a:prstGeom prst="rect">
            <a:avLst/>
          </a:prstGeom>
          <a:solidFill>
            <a:srgbClr val="9A9A9A"/>
          </a:solidFill>
        </p:spPr>
        <p:txBody>
          <a:bodyPr vert="horz" wrap="square" lIns="0" tIns="127635" rIns="0" bIns="0" rtlCol="0">
            <a:spAutoFit/>
          </a:bodyPr>
          <a:lstStyle/>
          <a:p>
            <a:pPr marL="0" marR="0" lvl="0" indent="0" defTabSz="914400" eaLnBrk="1" fontAlgn="auto" latinLnBrk="0" hangingPunct="1">
              <a:lnSpc>
                <a:spcPct val="100000"/>
              </a:lnSpc>
              <a:spcBef>
                <a:spcPts val="1005"/>
              </a:spcBef>
              <a:spcAft>
                <a:spcPts val="0"/>
              </a:spcAft>
              <a:buClrTx/>
              <a:buSzTx/>
              <a:buFontTx/>
              <a:buNone/>
              <a:tabLst/>
              <a:defRPr/>
            </a:pPr>
            <a:endParaRPr kumimoji="0" sz="900" b="0" i="0" u="none" strike="noStrike" kern="0" cap="none" spc="0" normalizeH="0" baseline="0" noProof="0">
              <a:ln>
                <a:noFill/>
              </a:ln>
              <a:solidFill>
                <a:sysClr val="windowText" lastClr="000000"/>
              </a:solidFill>
              <a:effectLst/>
              <a:uLnTx/>
              <a:uFillTx/>
              <a:latin typeface="Times New Roman"/>
              <a:cs typeface="Times New Roman"/>
            </a:endParaRPr>
          </a:p>
          <a:p>
            <a:pPr marL="230504" marR="62865" lvl="0" indent="-158750" defTabSz="914400" eaLnBrk="1" fontAlgn="auto" latinLnBrk="0" hangingPunct="1">
              <a:lnSpc>
                <a:spcPct val="100000"/>
              </a:lnSpc>
              <a:spcBef>
                <a:spcPts val="0"/>
              </a:spcBef>
              <a:spcAft>
                <a:spcPts val="0"/>
              </a:spcAft>
              <a:buClrTx/>
              <a:buSzTx/>
              <a:buFontTx/>
              <a:buNone/>
              <a:tabLst/>
              <a:defRPr/>
            </a:pPr>
            <a:r>
              <a:rPr kumimoji="0" sz="900" b="0" i="1" u="none" strike="noStrike" kern="0" cap="none" spc="-10" normalizeH="0" baseline="0" noProof="0">
                <a:ln>
                  <a:noFill/>
                </a:ln>
                <a:solidFill>
                  <a:srgbClr val="FFFFFF"/>
                </a:solidFill>
                <a:effectLst/>
                <a:uLnTx/>
                <a:uFillTx/>
                <a:latin typeface="Trebuchet MS"/>
                <a:cs typeface="Trebuchet MS"/>
              </a:rPr>
              <a:t>Performance mgmt.</a:t>
            </a:r>
            <a:endParaRPr kumimoji="0" sz="9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29" name="object 29"/>
          <p:cNvSpPr txBox="1"/>
          <p:nvPr/>
        </p:nvSpPr>
        <p:spPr>
          <a:xfrm>
            <a:off x="8875776" y="1891283"/>
            <a:ext cx="798830" cy="798830"/>
          </a:xfrm>
          <a:prstGeom prst="rect">
            <a:avLst/>
          </a:prstGeom>
          <a:solidFill>
            <a:srgbClr val="9A9A9A"/>
          </a:solidFill>
        </p:spPr>
        <p:txBody>
          <a:bodyPr vert="horz" wrap="square" lIns="0" tIns="121920" rIns="0" bIns="0" rtlCol="0">
            <a:spAutoFit/>
          </a:bodyPr>
          <a:lstStyle/>
          <a:p>
            <a:pPr marL="81280" marR="71755" lvl="0" indent="0" algn="ctr" defTabSz="914400" eaLnBrk="1" fontAlgn="auto" latinLnBrk="0" hangingPunct="1">
              <a:lnSpc>
                <a:spcPct val="100000"/>
              </a:lnSpc>
              <a:spcBef>
                <a:spcPts val="960"/>
              </a:spcBef>
              <a:spcAft>
                <a:spcPts val="0"/>
              </a:spcAft>
              <a:buClrTx/>
              <a:buSzTx/>
              <a:buFontTx/>
              <a:buNone/>
              <a:tabLst/>
              <a:defRPr/>
            </a:pPr>
            <a:r>
              <a:rPr kumimoji="0" sz="900" b="0" i="1" u="none" strike="noStrike" kern="0" cap="none" spc="0" normalizeH="0" baseline="0" noProof="0">
                <a:ln>
                  <a:noFill/>
                </a:ln>
                <a:solidFill>
                  <a:srgbClr val="FFFFFF"/>
                </a:solidFill>
                <a:effectLst/>
                <a:uLnTx/>
                <a:uFillTx/>
                <a:latin typeface="Trebuchet MS"/>
                <a:cs typeface="Trebuchet MS"/>
              </a:rPr>
              <a:t>Review</a:t>
            </a:r>
            <a:r>
              <a:rPr kumimoji="0" sz="900" b="0" i="1" u="none" strike="noStrike" kern="0" cap="none" spc="-25" normalizeH="0" baseline="0" noProof="0">
                <a:ln>
                  <a:noFill/>
                </a:ln>
                <a:solidFill>
                  <a:srgbClr val="FFFFFF"/>
                </a:solidFill>
                <a:effectLst/>
                <a:uLnTx/>
                <a:uFillTx/>
                <a:latin typeface="Trebuchet MS"/>
                <a:cs typeface="Trebuchet MS"/>
              </a:rPr>
              <a:t> </a:t>
            </a:r>
            <a:r>
              <a:rPr kumimoji="0" sz="900" b="0" i="1" u="none" strike="noStrike" kern="0" cap="none" spc="-20" normalizeH="0" baseline="0" noProof="0">
                <a:ln>
                  <a:noFill/>
                </a:ln>
                <a:solidFill>
                  <a:srgbClr val="FFFFFF"/>
                </a:solidFill>
                <a:effectLst/>
                <a:uLnTx/>
                <a:uFillTx/>
                <a:latin typeface="Trebuchet MS"/>
                <a:cs typeface="Trebuchet MS"/>
              </a:rPr>
              <a:t>prep </a:t>
            </a:r>
            <a:r>
              <a:rPr kumimoji="0" sz="900" b="0" i="1" u="none" strike="noStrike" kern="0" cap="none" spc="0" normalizeH="0" baseline="0" noProof="0">
                <a:ln>
                  <a:noFill/>
                </a:ln>
                <a:solidFill>
                  <a:srgbClr val="FFFFFF"/>
                </a:solidFill>
                <a:effectLst/>
                <a:uLnTx/>
                <a:uFillTx/>
                <a:latin typeface="Trebuchet MS"/>
                <a:cs typeface="Trebuchet MS"/>
              </a:rPr>
              <a:t>and</a:t>
            </a:r>
            <a:r>
              <a:rPr kumimoji="0" sz="900" b="0" i="1" u="none" strike="noStrike" kern="0" cap="none" spc="-10" normalizeH="0" baseline="0" noProof="0">
                <a:ln>
                  <a:noFill/>
                </a:ln>
                <a:solidFill>
                  <a:srgbClr val="FFFFFF"/>
                </a:solidFill>
                <a:effectLst/>
                <a:uLnTx/>
                <a:uFillTx/>
                <a:latin typeface="Trebuchet MS"/>
                <a:cs typeface="Trebuchet MS"/>
              </a:rPr>
              <a:t> client action planning</a:t>
            </a:r>
            <a:endParaRPr kumimoji="0" sz="9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30" name="object 30"/>
          <p:cNvSpPr txBox="1"/>
          <p:nvPr/>
        </p:nvSpPr>
        <p:spPr>
          <a:xfrm>
            <a:off x="9794747" y="1891283"/>
            <a:ext cx="797560" cy="798830"/>
          </a:xfrm>
          <a:prstGeom prst="rect">
            <a:avLst/>
          </a:prstGeom>
          <a:solidFill>
            <a:srgbClr val="9A9A9A"/>
          </a:solidFill>
        </p:spPr>
        <p:txBody>
          <a:bodyPr vert="horz" wrap="square" lIns="0" tIns="127635" rIns="0" bIns="0" rtlCol="0">
            <a:spAutoFit/>
          </a:bodyPr>
          <a:lstStyle/>
          <a:p>
            <a:pPr marL="0" marR="0" lvl="0" indent="0" defTabSz="914400" eaLnBrk="1" fontAlgn="auto" latinLnBrk="0" hangingPunct="1">
              <a:lnSpc>
                <a:spcPct val="100000"/>
              </a:lnSpc>
              <a:spcBef>
                <a:spcPts val="1005"/>
              </a:spcBef>
              <a:spcAft>
                <a:spcPts val="0"/>
              </a:spcAft>
              <a:buClrTx/>
              <a:buSzTx/>
              <a:buFontTx/>
              <a:buNone/>
              <a:tabLst/>
              <a:defRPr/>
            </a:pPr>
            <a:endParaRPr kumimoji="0" sz="900" b="0" i="0" u="none" strike="noStrike" kern="0" cap="none" spc="0" normalizeH="0" baseline="0" noProof="0">
              <a:ln>
                <a:noFill/>
              </a:ln>
              <a:solidFill>
                <a:sysClr val="windowText" lastClr="000000"/>
              </a:solidFill>
              <a:effectLst/>
              <a:uLnTx/>
              <a:uFillTx/>
              <a:latin typeface="Times New Roman"/>
              <a:cs typeface="Times New Roman"/>
            </a:endParaRPr>
          </a:p>
          <a:p>
            <a:pPr marL="250825" marR="72390" lvl="0" indent="-169545" defTabSz="914400" eaLnBrk="1" fontAlgn="auto" latinLnBrk="0" hangingPunct="1">
              <a:lnSpc>
                <a:spcPct val="100000"/>
              </a:lnSpc>
              <a:spcBef>
                <a:spcPts val="0"/>
              </a:spcBef>
              <a:spcAft>
                <a:spcPts val="0"/>
              </a:spcAft>
              <a:buClrTx/>
              <a:buSzTx/>
              <a:buFontTx/>
              <a:buNone/>
              <a:tabLst/>
              <a:defRPr/>
            </a:pPr>
            <a:r>
              <a:rPr kumimoji="0" sz="900" b="0" i="1" u="none" strike="noStrike" kern="0" cap="none" spc="0" normalizeH="0" baseline="0" noProof="0">
                <a:ln>
                  <a:noFill/>
                </a:ln>
                <a:solidFill>
                  <a:srgbClr val="FFFFFF"/>
                </a:solidFill>
                <a:effectLst/>
                <a:uLnTx/>
                <a:uFillTx/>
                <a:latin typeface="Trebuchet MS"/>
                <a:cs typeface="Trebuchet MS"/>
              </a:rPr>
              <a:t>Review</a:t>
            </a:r>
            <a:r>
              <a:rPr kumimoji="0" sz="900" b="0" i="1" u="none" strike="noStrike" kern="0" cap="none" spc="-25" normalizeH="0" baseline="0" noProof="0">
                <a:ln>
                  <a:noFill/>
                </a:ln>
                <a:solidFill>
                  <a:srgbClr val="FFFFFF"/>
                </a:solidFill>
                <a:effectLst/>
                <a:uLnTx/>
                <a:uFillTx/>
                <a:latin typeface="Trebuchet MS"/>
                <a:cs typeface="Trebuchet MS"/>
              </a:rPr>
              <a:t> </a:t>
            </a:r>
            <a:r>
              <a:rPr kumimoji="0" sz="900" b="0" i="1" u="none" strike="noStrike" kern="0" cap="none" spc="-20" normalizeH="0" baseline="0" noProof="0">
                <a:ln>
                  <a:noFill/>
                </a:ln>
                <a:solidFill>
                  <a:srgbClr val="FFFFFF"/>
                </a:solidFill>
                <a:effectLst/>
                <a:uLnTx/>
                <a:uFillTx/>
                <a:latin typeface="Trebuchet MS"/>
                <a:cs typeface="Trebuchet MS"/>
              </a:rPr>
              <a:t>with </a:t>
            </a:r>
            <a:r>
              <a:rPr kumimoji="0" sz="900" b="0" i="1" u="none" strike="noStrike" kern="0" cap="none" spc="-10" normalizeH="0" baseline="0" noProof="0">
                <a:ln>
                  <a:noFill/>
                </a:ln>
                <a:solidFill>
                  <a:srgbClr val="FFFFFF"/>
                </a:solidFill>
                <a:effectLst/>
                <a:uLnTx/>
                <a:uFillTx/>
                <a:latin typeface="Trebuchet MS"/>
                <a:cs typeface="Trebuchet MS"/>
              </a:rPr>
              <a:t>client</a:t>
            </a:r>
            <a:endParaRPr kumimoji="0" sz="9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31" name="object 31"/>
          <p:cNvSpPr txBox="1"/>
          <p:nvPr/>
        </p:nvSpPr>
        <p:spPr>
          <a:xfrm>
            <a:off x="7057643" y="1891283"/>
            <a:ext cx="798830" cy="798830"/>
          </a:xfrm>
          <a:prstGeom prst="rect">
            <a:avLst/>
          </a:prstGeom>
          <a:solidFill>
            <a:srgbClr val="9A9A9A"/>
          </a:solidFill>
        </p:spPr>
        <p:txBody>
          <a:bodyPr vert="horz" wrap="square" lIns="0" tIns="127635" rIns="0" bIns="0" rtlCol="0">
            <a:spAutoFit/>
          </a:bodyPr>
          <a:lstStyle/>
          <a:p>
            <a:pPr marL="0" marR="0" lvl="0" indent="0" defTabSz="914400" eaLnBrk="1" fontAlgn="auto" latinLnBrk="0" hangingPunct="1">
              <a:lnSpc>
                <a:spcPct val="100000"/>
              </a:lnSpc>
              <a:spcBef>
                <a:spcPts val="1005"/>
              </a:spcBef>
              <a:spcAft>
                <a:spcPts val="0"/>
              </a:spcAft>
              <a:buClrTx/>
              <a:buSzTx/>
              <a:buFontTx/>
              <a:buNone/>
              <a:tabLst/>
              <a:defRPr/>
            </a:pPr>
            <a:endParaRPr kumimoji="0" sz="900" b="0" i="0" u="none" strike="noStrike" kern="0" cap="none" spc="0" normalizeH="0" baseline="0" noProof="0">
              <a:ln>
                <a:noFill/>
              </a:ln>
              <a:solidFill>
                <a:sysClr val="windowText" lastClr="000000"/>
              </a:solidFill>
              <a:effectLst/>
              <a:uLnTx/>
              <a:uFillTx/>
              <a:latin typeface="Times New Roman"/>
              <a:cs typeface="Times New Roman"/>
            </a:endParaRPr>
          </a:p>
          <a:p>
            <a:pPr marL="117475" marR="45720" lvl="0" indent="-64135" defTabSz="914400" eaLnBrk="1" fontAlgn="auto" latinLnBrk="0" hangingPunct="1">
              <a:lnSpc>
                <a:spcPct val="100000"/>
              </a:lnSpc>
              <a:spcBef>
                <a:spcPts val="0"/>
              </a:spcBef>
              <a:spcAft>
                <a:spcPts val="0"/>
              </a:spcAft>
              <a:buClrTx/>
              <a:buSzTx/>
              <a:buFontTx/>
              <a:buNone/>
              <a:tabLst/>
              <a:defRPr/>
            </a:pPr>
            <a:r>
              <a:rPr kumimoji="0" sz="900" b="0" i="1" u="none" strike="noStrike" kern="0" cap="none" spc="0" normalizeH="0" baseline="0" noProof="0">
                <a:ln>
                  <a:noFill/>
                </a:ln>
                <a:solidFill>
                  <a:srgbClr val="FFFFFF"/>
                </a:solidFill>
                <a:effectLst/>
                <a:uLnTx/>
                <a:uFillTx/>
                <a:latin typeface="Trebuchet MS"/>
                <a:cs typeface="Trebuchet MS"/>
              </a:rPr>
              <a:t>Risk</a:t>
            </a:r>
            <a:r>
              <a:rPr kumimoji="0" sz="900" b="0" i="1" u="none" strike="noStrike" kern="0" cap="none" spc="-25" normalizeH="0" baseline="0" noProof="0">
                <a:ln>
                  <a:noFill/>
                </a:ln>
                <a:solidFill>
                  <a:srgbClr val="FFFFFF"/>
                </a:solidFill>
                <a:effectLst/>
                <a:uLnTx/>
                <a:uFillTx/>
                <a:latin typeface="Trebuchet MS"/>
                <a:cs typeface="Trebuchet MS"/>
              </a:rPr>
              <a:t> </a:t>
            </a:r>
            <a:r>
              <a:rPr kumimoji="0" sz="900" b="0" i="1" u="none" strike="noStrike" kern="0" cap="none" spc="0" normalizeH="0" baseline="0" noProof="0">
                <a:ln>
                  <a:noFill/>
                </a:ln>
                <a:solidFill>
                  <a:srgbClr val="FFFFFF"/>
                </a:solidFill>
                <a:effectLst/>
                <a:uLnTx/>
                <a:uFillTx/>
                <a:latin typeface="Trebuchet MS"/>
                <a:cs typeface="Trebuchet MS"/>
              </a:rPr>
              <a:t>mgmt.</a:t>
            </a:r>
            <a:r>
              <a:rPr kumimoji="0" sz="900" b="0" i="1" u="none" strike="noStrike" kern="0" cap="none" spc="-20" normalizeH="0" baseline="0" noProof="0">
                <a:ln>
                  <a:noFill/>
                </a:ln>
                <a:solidFill>
                  <a:srgbClr val="FFFFFF"/>
                </a:solidFill>
                <a:effectLst/>
                <a:uLnTx/>
                <a:uFillTx/>
                <a:latin typeface="Trebuchet MS"/>
                <a:cs typeface="Trebuchet MS"/>
              </a:rPr>
              <a:t> </a:t>
            </a:r>
            <a:r>
              <a:rPr kumimoji="0" sz="900" b="0" i="1" u="none" strike="noStrike" kern="0" cap="none" spc="-50" normalizeH="0" baseline="0" noProof="0">
                <a:ln>
                  <a:noFill/>
                </a:ln>
                <a:solidFill>
                  <a:srgbClr val="FFFFFF"/>
                </a:solidFill>
                <a:effectLst/>
                <a:uLnTx/>
                <a:uFillTx/>
                <a:latin typeface="Trebuchet MS"/>
                <a:cs typeface="Trebuchet MS"/>
              </a:rPr>
              <a:t>&amp; </a:t>
            </a:r>
            <a:r>
              <a:rPr kumimoji="0" sz="900" b="0" i="1" u="none" strike="noStrike" kern="0" cap="none" spc="-10" normalizeH="0" baseline="0" noProof="0">
                <a:ln>
                  <a:noFill/>
                </a:ln>
                <a:solidFill>
                  <a:srgbClr val="FFFFFF"/>
                </a:solidFill>
                <a:effectLst/>
                <a:uLnTx/>
                <a:uFillTx/>
                <a:latin typeface="Trebuchet MS"/>
                <a:cs typeface="Trebuchet MS"/>
              </a:rPr>
              <a:t>monitoring</a:t>
            </a:r>
            <a:endParaRPr kumimoji="0" sz="9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32" name="object 32"/>
          <p:cNvSpPr txBox="1"/>
          <p:nvPr/>
        </p:nvSpPr>
        <p:spPr>
          <a:xfrm>
            <a:off x="7958328" y="1891283"/>
            <a:ext cx="797560" cy="605294"/>
          </a:xfrm>
          <a:prstGeom prst="rect">
            <a:avLst/>
          </a:prstGeom>
          <a:solidFill>
            <a:srgbClr val="9A9A9A"/>
          </a:solidFill>
        </p:spPr>
        <p:txBody>
          <a:bodyPr vert="horz" wrap="square" lIns="0" tIns="50800" rIns="0" bIns="0" rtlCol="0">
            <a:spAutoFit/>
          </a:bodyPr>
          <a:lstStyle/>
          <a:p>
            <a:pPr marL="0" marR="0" lvl="0" indent="0" defTabSz="914400" eaLnBrk="1" fontAlgn="auto" latinLnBrk="0" hangingPunct="1">
              <a:lnSpc>
                <a:spcPct val="100000"/>
              </a:lnSpc>
              <a:spcBef>
                <a:spcPts val="400"/>
              </a:spcBef>
              <a:spcAft>
                <a:spcPts val="0"/>
              </a:spcAft>
              <a:buClrTx/>
              <a:buSzTx/>
              <a:buFontTx/>
              <a:buNone/>
              <a:tabLst/>
              <a:defRPr/>
            </a:pPr>
            <a:endParaRPr kumimoji="0" sz="900" b="0" i="0" u="none" strike="noStrike" kern="0" cap="none" spc="0" normalizeH="0" baseline="0" noProof="0">
              <a:ln>
                <a:noFill/>
              </a:ln>
              <a:solidFill>
                <a:sysClr val="windowText" lastClr="000000"/>
              </a:solidFill>
              <a:effectLst/>
              <a:uLnTx/>
              <a:uFillTx/>
              <a:latin typeface="Times New Roman"/>
              <a:cs typeface="Times New Roman"/>
            </a:endParaRPr>
          </a:p>
          <a:p>
            <a:pPr marL="111760" marR="102870" lvl="0" indent="-635" algn="ctr" defTabSz="914400" eaLnBrk="1" fontAlgn="auto" latinLnBrk="0" hangingPunct="1">
              <a:lnSpc>
                <a:spcPct val="100000"/>
              </a:lnSpc>
              <a:spcBef>
                <a:spcPts val="0"/>
              </a:spcBef>
              <a:spcAft>
                <a:spcPts val="0"/>
              </a:spcAft>
              <a:buClrTx/>
              <a:buSzTx/>
              <a:buFontTx/>
              <a:buNone/>
              <a:tabLst/>
              <a:defRPr/>
            </a:pPr>
            <a:r>
              <a:rPr kumimoji="0" lang="en-US" sz="900" b="0" i="1" u="none" strike="noStrike" kern="0" cap="none" spc="-10" normalizeH="0" baseline="0" noProof="0" err="1">
                <a:ln>
                  <a:noFill/>
                </a:ln>
                <a:solidFill>
                  <a:srgbClr val="FFFFFF"/>
                </a:solidFill>
                <a:effectLst/>
                <a:uLnTx/>
                <a:uFillTx/>
                <a:latin typeface="Trebuchet MS"/>
                <a:cs typeface="Trebuchet MS"/>
              </a:rPr>
              <a:t>Commu</a:t>
            </a:r>
            <a:r>
              <a:rPr kumimoji="0" sz="900" b="0" i="1" u="none" strike="noStrike" kern="0" cap="none" spc="-10" normalizeH="0" baseline="0" noProof="0">
                <a:ln>
                  <a:noFill/>
                </a:ln>
                <a:solidFill>
                  <a:srgbClr val="FFFFFF"/>
                </a:solidFill>
                <a:effectLst/>
                <a:uLnTx/>
                <a:uFillTx/>
                <a:latin typeface="Trebuchet MS"/>
                <a:cs typeface="Trebuchet MS"/>
              </a:rPr>
              <a:t>- </a:t>
            </a:r>
            <a:r>
              <a:rPr kumimoji="0" lang="en-US" sz="900" b="0" i="1" u="none" strike="noStrike" kern="0" cap="none" spc="0" normalizeH="0" baseline="0" noProof="0" err="1">
                <a:ln>
                  <a:noFill/>
                </a:ln>
                <a:solidFill>
                  <a:srgbClr val="FFFFFF"/>
                </a:solidFill>
                <a:effectLst/>
                <a:uLnTx/>
                <a:uFillTx/>
                <a:latin typeface="Trebuchet MS"/>
                <a:cs typeface="Trebuchet MS"/>
              </a:rPr>
              <a:t>nication</a:t>
            </a:r>
            <a:r>
              <a:rPr kumimoji="0" sz="900" b="0" i="1" u="none" strike="noStrike" kern="0" cap="none" spc="-25" normalizeH="0" baseline="0" noProof="0">
                <a:ln>
                  <a:noFill/>
                </a:ln>
                <a:solidFill>
                  <a:srgbClr val="FFFFFF"/>
                </a:solidFill>
                <a:effectLst/>
                <a:uLnTx/>
                <a:uFillTx/>
                <a:latin typeface="Trebuchet MS"/>
                <a:cs typeface="Trebuchet MS"/>
              </a:rPr>
              <a:t> </a:t>
            </a:r>
            <a:r>
              <a:rPr kumimoji="0" sz="900" b="0" i="1" u="none" strike="noStrike" kern="0" cap="none" spc="-50" normalizeH="0" baseline="0" noProof="0">
                <a:ln>
                  <a:noFill/>
                </a:ln>
                <a:solidFill>
                  <a:srgbClr val="FFFFFF"/>
                </a:solidFill>
                <a:effectLst/>
                <a:uLnTx/>
                <a:uFillTx/>
                <a:latin typeface="Trebuchet MS"/>
                <a:cs typeface="Trebuchet MS"/>
              </a:rPr>
              <a:t>&amp; </a:t>
            </a:r>
            <a:r>
              <a:rPr kumimoji="0" sz="900" b="0" i="1" u="none" strike="noStrike" kern="0" cap="none" spc="-10" normalizeH="0" baseline="0" noProof="0">
                <a:ln>
                  <a:noFill/>
                </a:ln>
                <a:solidFill>
                  <a:srgbClr val="FFFFFF"/>
                </a:solidFill>
                <a:effectLst/>
                <a:uLnTx/>
                <a:uFillTx/>
                <a:latin typeface="Trebuchet MS"/>
                <a:cs typeface="Trebuchet MS"/>
              </a:rPr>
              <a:t>interaction</a:t>
            </a:r>
            <a:endParaRPr kumimoji="0" sz="900" b="0" i="0" u="none" strike="noStrike" kern="0" cap="none" spc="0" normalizeH="0" baseline="0" noProof="0">
              <a:ln>
                <a:noFill/>
              </a:ln>
              <a:solidFill>
                <a:sysClr val="windowText" lastClr="000000"/>
              </a:solidFill>
              <a:effectLst/>
              <a:uLnTx/>
              <a:uFillTx/>
              <a:latin typeface="Trebuchet MS"/>
              <a:cs typeface="Trebuchet MS"/>
            </a:endParaRPr>
          </a:p>
        </p:txBody>
      </p:sp>
      <p:grpSp>
        <p:nvGrpSpPr>
          <p:cNvPr id="33" name="object 33"/>
          <p:cNvGrpSpPr/>
          <p:nvPr/>
        </p:nvGrpSpPr>
        <p:grpSpPr>
          <a:xfrm>
            <a:off x="1629155" y="3692652"/>
            <a:ext cx="8935720" cy="753110"/>
            <a:chOff x="1629155" y="3692652"/>
            <a:chExt cx="8935720" cy="753110"/>
          </a:xfrm>
        </p:grpSpPr>
        <p:pic>
          <p:nvPicPr>
            <p:cNvPr id="34" name="object 34"/>
            <p:cNvPicPr/>
            <p:nvPr/>
          </p:nvPicPr>
          <p:blipFill>
            <a:blip r:embed="rId3" cstate="print"/>
            <a:stretch>
              <a:fillRect/>
            </a:stretch>
          </p:blipFill>
          <p:spPr>
            <a:xfrm>
              <a:off x="1629155" y="3692652"/>
              <a:ext cx="752856" cy="752856"/>
            </a:xfrm>
            <a:prstGeom prst="rect">
              <a:avLst/>
            </a:prstGeom>
          </p:spPr>
        </p:pic>
        <p:pic>
          <p:nvPicPr>
            <p:cNvPr id="35" name="object 35"/>
            <p:cNvPicPr/>
            <p:nvPr/>
          </p:nvPicPr>
          <p:blipFill>
            <a:blip r:embed="rId4" cstate="print"/>
            <a:stretch>
              <a:fillRect/>
            </a:stretch>
          </p:blipFill>
          <p:spPr>
            <a:xfrm>
              <a:off x="1805685" y="3878580"/>
              <a:ext cx="401574" cy="379475"/>
            </a:xfrm>
            <a:prstGeom prst="rect">
              <a:avLst/>
            </a:prstGeom>
          </p:spPr>
        </p:pic>
        <p:pic>
          <p:nvPicPr>
            <p:cNvPr id="36" name="object 36"/>
            <p:cNvPicPr/>
            <p:nvPr/>
          </p:nvPicPr>
          <p:blipFill>
            <a:blip r:embed="rId5" cstate="print"/>
            <a:stretch>
              <a:fillRect/>
            </a:stretch>
          </p:blipFill>
          <p:spPr>
            <a:xfrm>
              <a:off x="7083552" y="3692652"/>
              <a:ext cx="752855" cy="752856"/>
            </a:xfrm>
            <a:prstGeom prst="rect">
              <a:avLst/>
            </a:prstGeom>
          </p:spPr>
        </p:pic>
        <p:pic>
          <p:nvPicPr>
            <p:cNvPr id="37" name="object 37"/>
            <p:cNvPicPr/>
            <p:nvPr/>
          </p:nvPicPr>
          <p:blipFill>
            <a:blip r:embed="rId6" cstate="print"/>
            <a:stretch>
              <a:fillRect/>
            </a:stretch>
          </p:blipFill>
          <p:spPr>
            <a:xfrm>
              <a:off x="7281671" y="3874008"/>
              <a:ext cx="356616" cy="390144"/>
            </a:xfrm>
            <a:prstGeom prst="rect">
              <a:avLst/>
            </a:prstGeom>
          </p:spPr>
        </p:pic>
        <p:pic>
          <p:nvPicPr>
            <p:cNvPr id="38" name="object 38"/>
            <p:cNvPicPr/>
            <p:nvPr/>
          </p:nvPicPr>
          <p:blipFill>
            <a:blip r:embed="rId7" cstate="print"/>
            <a:stretch>
              <a:fillRect/>
            </a:stretch>
          </p:blipFill>
          <p:spPr>
            <a:xfrm>
              <a:off x="4357116" y="3692652"/>
              <a:ext cx="752856" cy="752856"/>
            </a:xfrm>
            <a:prstGeom prst="rect">
              <a:avLst/>
            </a:prstGeom>
          </p:spPr>
        </p:pic>
        <p:sp>
          <p:nvSpPr>
            <p:cNvPr id="39" name="object 39"/>
            <p:cNvSpPr/>
            <p:nvPr/>
          </p:nvSpPr>
          <p:spPr>
            <a:xfrm>
              <a:off x="4526279" y="3921252"/>
              <a:ext cx="387350" cy="312420"/>
            </a:xfrm>
            <a:custGeom>
              <a:avLst/>
              <a:gdLst/>
              <a:ahLst/>
              <a:cxnLst/>
              <a:rect l="l" t="t" r="r" b="b"/>
              <a:pathLst>
                <a:path w="387350" h="312420">
                  <a:moveTo>
                    <a:pt x="99022" y="67564"/>
                  </a:moveTo>
                  <a:lnTo>
                    <a:pt x="75946" y="67564"/>
                  </a:lnTo>
                  <a:lnTo>
                    <a:pt x="79502" y="78359"/>
                  </a:lnTo>
                  <a:lnTo>
                    <a:pt x="191643" y="251079"/>
                  </a:lnTo>
                  <a:lnTo>
                    <a:pt x="211074" y="304673"/>
                  </a:lnTo>
                  <a:lnTo>
                    <a:pt x="211836" y="305308"/>
                  </a:lnTo>
                  <a:lnTo>
                    <a:pt x="212090" y="305816"/>
                  </a:lnTo>
                  <a:lnTo>
                    <a:pt x="218948" y="312420"/>
                  </a:lnTo>
                  <a:lnTo>
                    <a:pt x="240792" y="312420"/>
                  </a:lnTo>
                  <a:lnTo>
                    <a:pt x="247650" y="305816"/>
                  </a:lnTo>
                  <a:lnTo>
                    <a:pt x="247904" y="305308"/>
                  </a:lnTo>
                  <a:lnTo>
                    <a:pt x="248666" y="304673"/>
                  </a:lnTo>
                  <a:lnTo>
                    <a:pt x="249172" y="303275"/>
                  </a:lnTo>
                  <a:lnTo>
                    <a:pt x="223900" y="303275"/>
                  </a:lnTo>
                  <a:lnTo>
                    <a:pt x="220345" y="300736"/>
                  </a:lnTo>
                  <a:lnTo>
                    <a:pt x="218948" y="299466"/>
                  </a:lnTo>
                  <a:lnTo>
                    <a:pt x="200025" y="246887"/>
                  </a:lnTo>
                  <a:lnTo>
                    <a:pt x="87884" y="74422"/>
                  </a:lnTo>
                  <a:lnTo>
                    <a:pt x="86995" y="71500"/>
                  </a:lnTo>
                  <a:lnTo>
                    <a:pt x="107706" y="71500"/>
                  </a:lnTo>
                  <a:lnTo>
                    <a:pt x="101762" y="69474"/>
                  </a:lnTo>
                  <a:lnTo>
                    <a:pt x="99022" y="67564"/>
                  </a:lnTo>
                  <a:close/>
                </a:path>
                <a:path w="387350" h="312420">
                  <a:moveTo>
                    <a:pt x="381958" y="71755"/>
                  </a:moveTo>
                  <a:lnTo>
                    <a:pt x="372491" y="71755"/>
                  </a:lnTo>
                  <a:lnTo>
                    <a:pt x="371729" y="74422"/>
                  </a:lnTo>
                  <a:lnTo>
                    <a:pt x="260096" y="246506"/>
                  </a:lnTo>
                  <a:lnTo>
                    <a:pt x="259715" y="246887"/>
                  </a:lnTo>
                  <a:lnTo>
                    <a:pt x="240792" y="299466"/>
                  </a:lnTo>
                  <a:lnTo>
                    <a:pt x="239395" y="300736"/>
                  </a:lnTo>
                  <a:lnTo>
                    <a:pt x="235839" y="303275"/>
                  </a:lnTo>
                  <a:lnTo>
                    <a:pt x="249172" y="303275"/>
                  </a:lnTo>
                  <a:lnTo>
                    <a:pt x="268097" y="251079"/>
                  </a:lnTo>
                  <a:lnTo>
                    <a:pt x="380238" y="78231"/>
                  </a:lnTo>
                  <a:lnTo>
                    <a:pt x="381958" y="71755"/>
                  </a:lnTo>
                  <a:close/>
                </a:path>
                <a:path w="387350" h="312420">
                  <a:moveTo>
                    <a:pt x="107706" y="71500"/>
                  </a:moveTo>
                  <a:lnTo>
                    <a:pt x="86995" y="71500"/>
                  </a:lnTo>
                  <a:lnTo>
                    <a:pt x="97464" y="77535"/>
                  </a:lnTo>
                  <a:lnTo>
                    <a:pt x="154876" y="93962"/>
                  </a:lnTo>
                  <a:lnTo>
                    <a:pt x="203549" y="99038"/>
                  </a:lnTo>
                  <a:lnTo>
                    <a:pt x="229743" y="99695"/>
                  </a:lnTo>
                  <a:lnTo>
                    <a:pt x="260131" y="98804"/>
                  </a:lnTo>
                  <a:lnTo>
                    <a:pt x="288925" y="96186"/>
                  </a:lnTo>
                  <a:lnTo>
                    <a:pt x="315432" y="91926"/>
                  </a:lnTo>
                  <a:lnTo>
                    <a:pt x="321505" y="90424"/>
                  </a:lnTo>
                  <a:lnTo>
                    <a:pt x="229743" y="90424"/>
                  </a:lnTo>
                  <a:lnTo>
                    <a:pt x="176002" y="87568"/>
                  </a:lnTo>
                  <a:lnTo>
                    <a:pt x="132810" y="80057"/>
                  </a:lnTo>
                  <a:lnTo>
                    <a:pt x="107706" y="71500"/>
                  </a:lnTo>
                  <a:close/>
                </a:path>
                <a:path w="387350" h="312420">
                  <a:moveTo>
                    <a:pt x="321282" y="9143"/>
                  </a:moveTo>
                  <a:lnTo>
                    <a:pt x="229743" y="9143"/>
                  </a:lnTo>
                  <a:lnTo>
                    <a:pt x="289762" y="12795"/>
                  </a:lnTo>
                  <a:lnTo>
                    <a:pt x="336613" y="22256"/>
                  </a:lnTo>
                  <a:lnTo>
                    <a:pt x="367081" y="35290"/>
                  </a:lnTo>
                  <a:lnTo>
                    <a:pt x="377952" y="49656"/>
                  </a:lnTo>
                  <a:lnTo>
                    <a:pt x="367081" y="64224"/>
                  </a:lnTo>
                  <a:lnTo>
                    <a:pt x="336613" y="77327"/>
                  </a:lnTo>
                  <a:lnTo>
                    <a:pt x="289762" y="86786"/>
                  </a:lnTo>
                  <a:lnTo>
                    <a:pt x="229743" y="90424"/>
                  </a:lnTo>
                  <a:lnTo>
                    <a:pt x="321505" y="90424"/>
                  </a:lnTo>
                  <a:lnTo>
                    <a:pt x="358203" y="79406"/>
                  </a:lnTo>
                  <a:lnTo>
                    <a:pt x="372491" y="71755"/>
                  </a:lnTo>
                  <a:lnTo>
                    <a:pt x="381958" y="71755"/>
                  </a:lnTo>
                  <a:lnTo>
                    <a:pt x="386809" y="53534"/>
                  </a:lnTo>
                  <a:lnTo>
                    <a:pt x="387096" y="52578"/>
                  </a:lnTo>
                  <a:lnTo>
                    <a:pt x="387096" y="49656"/>
                  </a:lnTo>
                  <a:lnTo>
                    <a:pt x="384045" y="39270"/>
                  </a:lnTo>
                  <a:lnTo>
                    <a:pt x="374935" y="29654"/>
                  </a:lnTo>
                  <a:lnTo>
                    <a:pt x="359878" y="21010"/>
                  </a:lnTo>
                  <a:lnTo>
                    <a:pt x="338963" y="13462"/>
                  </a:lnTo>
                  <a:lnTo>
                    <a:pt x="321282" y="9143"/>
                  </a:lnTo>
                  <a:close/>
                </a:path>
                <a:path w="387350" h="312420">
                  <a:moveTo>
                    <a:pt x="46990" y="25018"/>
                  </a:moveTo>
                  <a:lnTo>
                    <a:pt x="28342" y="26816"/>
                  </a:lnTo>
                  <a:lnTo>
                    <a:pt x="13446" y="31781"/>
                  </a:lnTo>
                  <a:lnTo>
                    <a:pt x="3573" y="39270"/>
                  </a:lnTo>
                  <a:lnTo>
                    <a:pt x="0" y="48641"/>
                  </a:lnTo>
                  <a:lnTo>
                    <a:pt x="3573" y="58124"/>
                  </a:lnTo>
                  <a:lnTo>
                    <a:pt x="13446" y="65738"/>
                  </a:lnTo>
                  <a:lnTo>
                    <a:pt x="28342" y="70804"/>
                  </a:lnTo>
                  <a:lnTo>
                    <a:pt x="46990" y="72643"/>
                  </a:lnTo>
                  <a:lnTo>
                    <a:pt x="54979" y="72296"/>
                  </a:lnTo>
                  <a:lnTo>
                    <a:pt x="62515" y="71294"/>
                  </a:lnTo>
                  <a:lnTo>
                    <a:pt x="69528" y="69697"/>
                  </a:lnTo>
                  <a:lnTo>
                    <a:pt x="75946" y="67564"/>
                  </a:lnTo>
                  <a:lnTo>
                    <a:pt x="99022" y="67564"/>
                  </a:lnTo>
                  <a:lnTo>
                    <a:pt x="93195" y="63500"/>
                  </a:lnTo>
                  <a:lnTo>
                    <a:pt x="46990" y="63500"/>
                  </a:lnTo>
                  <a:lnTo>
                    <a:pt x="31164" y="62035"/>
                  </a:lnTo>
                  <a:lnTo>
                    <a:pt x="19256" y="58356"/>
                  </a:lnTo>
                  <a:lnTo>
                    <a:pt x="11753" y="53534"/>
                  </a:lnTo>
                  <a:lnTo>
                    <a:pt x="9144" y="48641"/>
                  </a:lnTo>
                  <a:lnTo>
                    <a:pt x="11753" y="43860"/>
                  </a:lnTo>
                  <a:lnTo>
                    <a:pt x="19256" y="39163"/>
                  </a:lnTo>
                  <a:lnTo>
                    <a:pt x="31164" y="35585"/>
                  </a:lnTo>
                  <a:lnTo>
                    <a:pt x="46990" y="34162"/>
                  </a:lnTo>
                  <a:lnTo>
                    <a:pt x="96437" y="34162"/>
                  </a:lnTo>
                  <a:lnTo>
                    <a:pt x="99448" y="32258"/>
                  </a:lnTo>
                  <a:lnTo>
                    <a:pt x="81534" y="32258"/>
                  </a:lnTo>
                  <a:lnTo>
                    <a:pt x="74350" y="29198"/>
                  </a:lnTo>
                  <a:lnTo>
                    <a:pt x="65976" y="26924"/>
                  </a:lnTo>
                  <a:lnTo>
                    <a:pt x="56745" y="25507"/>
                  </a:lnTo>
                  <a:lnTo>
                    <a:pt x="46990" y="25018"/>
                  </a:lnTo>
                  <a:close/>
                </a:path>
                <a:path w="387350" h="312420">
                  <a:moveTo>
                    <a:pt x="82042" y="54102"/>
                  </a:moveTo>
                  <a:lnTo>
                    <a:pt x="46990" y="63500"/>
                  </a:lnTo>
                  <a:lnTo>
                    <a:pt x="93195" y="63500"/>
                  </a:lnTo>
                  <a:lnTo>
                    <a:pt x="84455" y="57404"/>
                  </a:lnTo>
                  <a:lnTo>
                    <a:pt x="82042" y="54102"/>
                  </a:lnTo>
                  <a:close/>
                </a:path>
                <a:path w="387350" h="312420">
                  <a:moveTo>
                    <a:pt x="96437" y="34162"/>
                  </a:moveTo>
                  <a:lnTo>
                    <a:pt x="46990" y="34162"/>
                  </a:lnTo>
                  <a:lnTo>
                    <a:pt x="56645" y="34657"/>
                  </a:lnTo>
                  <a:lnTo>
                    <a:pt x="65563" y="36115"/>
                  </a:lnTo>
                  <a:lnTo>
                    <a:pt x="73386" y="38502"/>
                  </a:lnTo>
                  <a:lnTo>
                    <a:pt x="79756" y="41783"/>
                  </a:lnTo>
                  <a:lnTo>
                    <a:pt x="82804" y="43942"/>
                  </a:lnTo>
                  <a:lnTo>
                    <a:pt x="85598" y="41021"/>
                  </a:lnTo>
                  <a:lnTo>
                    <a:pt x="96437" y="34162"/>
                  </a:lnTo>
                  <a:close/>
                </a:path>
                <a:path w="387350" h="312420">
                  <a:moveTo>
                    <a:pt x="229743" y="0"/>
                  </a:moveTo>
                  <a:lnTo>
                    <a:pt x="180832" y="2325"/>
                  </a:lnTo>
                  <a:lnTo>
                    <a:pt x="138112" y="8889"/>
                  </a:lnTo>
                  <a:lnTo>
                    <a:pt x="104155" y="19073"/>
                  </a:lnTo>
                  <a:lnTo>
                    <a:pt x="81534" y="32258"/>
                  </a:lnTo>
                  <a:lnTo>
                    <a:pt x="99448" y="32258"/>
                  </a:lnTo>
                  <a:lnTo>
                    <a:pt x="105834" y="28217"/>
                  </a:lnTo>
                  <a:lnTo>
                    <a:pt x="139001" y="18129"/>
                  </a:lnTo>
                  <a:lnTo>
                    <a:pt x="181502" y="11517"/>
                  </a:lnTo>
                  <a:lnTo>
                    <a:pt x="229743" y="9143"/>
                  </a:lnTo>
                  <a:lnTo>
                    <a:pt x="321282" y="9143"/>
                  </a:lnTo>
                  <a:lnTo>
                    <a:pt x="315432" y="7715"/>
                  </a:lnTo>
                  <a:lnTo>
                    <a:pt x="288925" y="3492"/>
                  </a:lnTo>
                  <a:lnTo>
                    <a:pt x="260131" y="888"/>
                  </a:lnTo>
                  <a:lnTo>
                    <a:pt x="229743" y="0"/>
                  </a:lnTo>
                  <a:close/>
                </a:path>
              </a:pathLst>
            </a:custGeom>
            <a:solidFill>
              <a:srgbClr val="1F487C"/>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40" name="object 40"/>
            <p:cNvSpPr/>
            <p:nvPr/>
          </p:nvSpPr>
          <p:spPr>
            <a:xfrm>
              <a:off x="4549139" y="3939540"/>
              <a:ext cx="346075" cy="276225"/>
            </a:xfrm>
            <a:custGeom>
              <a:avLst/>
              <a:gdLst/>
              <a:ahLst/>
              <a:cxnLst/>
              <a:rect l="l" t="t" r="r" b="b"/>
              <a:pathLst>
                <a:path w="346075" h="276225">
                  <a:moveTo>
                    <a:pt x="88392" y="74422"/>
                  </a:moveTo>
                  <a:lnTo>
                    <a:pt x="185547" y="224409"/>
                  </a:lnTo>
                  <a:lnTo>
                    <a:pt x="203962" y="275463"/>
                  </a:lnTo>
                  <a:lnTo>
                    <a:pt x="204597" y="275590"/>
                  </a:lnTo>
                  <a:lnTo>
                    <a:pt x="204977" y="275844"/>
                  </a:lnTo>
                  <a:lnTo>
                    <a:pt x="209423" y="275844"/>
                  </a:lnTo>
                  <a:lnTo>
                    <a:pt x="209804" y="275590"/>
                  </a:lnTo>
                  <a:lnTo>
                    <a:pt x="210438" y="275463"/>
                  </a:lnTo>
                  <a:lnTo>
                    <a:pt x="228854" y="224409"/>
                  </a:lnTo>
                  <a:lnTo>
                    <a:pt x="315487" y="90551"/>
                  </a:lnTo>
                  <a:lnTo>
                    <a:pt x="207137" y="90551"/>
                  </a:lnTo>
                  <a:lnTo>
                    <a:pt x="154908" y="87915"/>
                  </a:lnTo>
                  <a:lnTo>
                    <a:pt x="108585" y="80137"/>
                  </a:lnTo>
                  <a:lnTo>
                    <a:pt x="94614" y="76581"/>
                  </a:lnTo>
                  <a:lnTo>
                    <a:pt x="88392" y="74422"/>
                  </a:lnTo>
                  <a:close/>
                </a:path>
                <a:path w="346075" h="276225">
                  <a:moveTo>
                    <a:pt x="326009" y="74295"/>
                  </a:moveTo>
                  <a:lnTo>
                    <a:pt x="323723" y="75057"/>
                  </a:lnTo>
                  <a:lnTo>
                    <a:pt x="321310" y="75946"/>
                  </a:lnTo>
                  <a:lnTo>
                    <a:pt x="318770" y="76708"/>
                  </a:lnTo>
                  <a:lnTo>
                    <a:pt x="294522" y="82567"/>
                  </a:lnTo>
                  <a:lnTo>
                    <a:pt x="267382" y="86915"/>
                  </a:lnTo>
                  <a:lnTo>
                    <a:pt x="238027" y="89620"/>
                  </a:lnTo>
                  <a:lnTo>
                    <a:pt x="207137" y="90551"/>
                  </a:lnTo>
                  <a:lnTo>
                    <a:pt x="315487" y="90551"/>
                  </a:lnTo>
                  <a:lnTo>
                    <a:pt x="326009" y="74295"/>
                  </a:lnTo>
                  <a:close/>
                </a:path>
                <a:path w="346075" h="276225">
                  <a:moveTo>
                    <a:pt x="207137" y="0"/>
                  </a:moveTo>
                  <a:lnTo>
                    <a:pt x="160623" y="2286"/>
                  </a:lnTo>
                  <a:lnTo>
                    <a:pt x="118490" y="8762"/>
                  </a:lnTo>
                  <a:lnTo>
                    <a:pt x="74217" y="25372"/>
                  </a:lnTo>
                  <a:lnTo>
                    <a:pt x="67690" y="31242"/>
                  </a:lnTo>
                  <a:lnTo>
                    <a:pt x="69469" y="33274"/>
                  </a:lnTo>
                  <a:lnTo>
                    <a:pt x="84014" y="43168"/>
                  </a:lnTo>
                  <a:lnTo>
                    <a:pt x="112395" y="52800"/>
                  </a:lnTo>
                  <a:lnTo>
                    <a:pt x="153729" y="60098"/>
                  </a:lnTo>
                  <a:lnTo>
                    <a:pt x="207137" y="62992"/>
                  </a:lnTo>
                  <a:lnTo>
                    <a:pt x="263534" y="59749"/>
                  </a:lnTo>
                  <a:lnTo>
                    <a:pt x="305514" y="51816"/>
                  </a:lnTo>
                  <a:lnTo>
                    <a:pt x="332849" y="41882"/>
                  </a:lnTo>
                  <a:lnTo>
                    <a:pt x="345313" y="32639"/>
                  </a:lnTo>
                  <a:lnTo>
                    <a:pt x="345948" y="31623"/>
                  </a:lnTo>
                  <a:lnTo>
                    <a:pt x="345694" y="30987"/>
                  </a:lnTo>
                  <a:lnTo>
                    <a:pt x="310896" y="12700"/>
                  </a:lnTo>
                  <a:lnTo>
                    <a:pt x="263445" y="3302"/>
                  </a:lnTo>
                  <a:lnTo>
                    <a:pt x="207137" y="0"/>
                  </a:lnTo>
                  <a:close/>
                </a:path>
                <a:path w="346075" h="276225">
                  <a:moveTo>
                    <a:pt x="24892" y="25018"/>
                  </a:moveTo>
                  <a:lnTo>
                    <a:pt x="15216" y="25423"/>
                  </a:lnTo>
                  <a:lnTo>
                    <a:pt x="7302" y="26543"/>
                  </a:lnTo>
                  <a:lnTo>
                    <a:pt x="1960" y="28233"/>
                  </a:lnTo>
                  <a:lnTo>
                    <a:pt x="0" y="30353"/>
                  </a:lnTo>
                  <a:lnTo>
                    <a:pt x="1960" y="32398"/>
                  </a:lnTo>
                  <a:lnTo>
                    <a:pt x="7302" y="34051"/>
                  </a:lnTo>
                  <a:lnTo>
                    <a:pt x="15216" y="35157"/>
                  </a:lnTo>
                  <a:lnTo>
                    <a:pt x="24892" y="35560"/>
                  </a:lnTo>
                  <a:lnTo>
                    <a:pt x="34567" y="35157"/>
                  </a:lnTo>
                  <a:lnTo>
                    <a:pt x="42481" y="34051"/>
                  </a:lnTo>
                  <a:lnTo>
                    <a:pt x="47823" y="32398"/>
                  </a:lnTo>
                  <a:lnTo>
                    <a:pt x="49784" y="30353"/>
                  </a:lnTo>
                  <a:lnTo>
                    <a:pt x="47823" y="28233"/>
                  </a:lnTo>
                  <a:lnTo>
                    <a:pt x="42481" y="26543"/>
                  </a:lnTo>
                  <a:lnTo>
                    <a:pt x="34567" y="25423"/>
                  </a:lnTo>
                  <a:lnTo>
                    <a:pt x="24892" y="25018"/>
                  </a:lnTo>
                  <a:close/>
                </a:path>
              </a:pathLst>
            </a:custGeom>
            <a:solidFill>
              <a:srgbClr val="4F81BC"/>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pic>
          <p:nvPicPr>
            <p:cNvPr id="41" name="object 41"/>
            <p:cNvPicPr/>
            <p:nvPr/>
          </p:nvPicPr>
          <p:blipFill>
            <a:blip r:embed="rId8" cstate="print"/>
            <a:stretch>
              <a:fillRect/>
            </a:stretch>
          </p:blipFill>
          <p:spPr>
            <a:xfrm>
              <a:off x="9811512" y="3692652"/>
              <a:ext cx="752856" cy="752856"/>
            </a:xfrm>
            <a:prstGeom prst="rect">
              <a:avLst/>
            </a:prstGeom>
          </p:spPr>
        </p:pic>
        <p:sp>
          <p:nvSpPr>
            <p:cNvPr id="42" name="object 42"/>
            <p:cNvSpPr/>
            <p:nvPr/>
          </p:nvSpPr>
          <p:spPr>
            <a:xfrm>
              <a:off x="9991344" y="3960876"/>
              <a:ext cx="288290" cy="265430"/>
            </a:xfrm>
            <a:custGeom>
              <a:avLst/>
              <a:gdLst/>
              <a:ahLst/>
              <a:cxnLst/>
              <a:rect l="l" t="t" r="r" b="b"/>
              <a:pathLst>
                <a:path w="288290" h="265429">
                  <a:moveTo>
                    <a:pt x="75056" y="0"/>
                  </a:moveTo>
                  <a:lnTo>
                    <a:pt x="2031" y="0"/>
                  </a:lnTo>
                  <a:lnTo>
                    <a:pt x="0" y="2031"/>
                  </a:lnTo>
                  <a:lnTo>
                    <a:pt x="0" y="74549"/>
                  </a:lnTo>
                  <a:lnTo>
                    <a:pt x="2031" y="76707"/>
                  </a:lnTo>
                  <a:lnTo>
                    <a:pt x="75056" y="76707"/>
                  </a:lnTo>
                  <a:lnTo>
                    <a:pt x="77215" y="74549"/>
                  </a:lnTo>
                  <a:lnTo>
                    <a:pt x="77215" y="67563"/>
                  </a:lnTo>
                  <a:lnTo>
                    <a:pt x="9144" y="67563"/>
                  </a:lnTo>
                  <a:lnTo>
                    <a:pt x="9144" y="9143"/>
                  </a:lnTo>
                  <a:lnTo>
                    <a:pt x="77215" y="9143"/>
                  </a:lnTo>
                  <a:lnTo>
                    <a:pt x="77215" y="2031"/>
                  </a:lnTo>
                  <a:lnTo>
                    <a:pt x="75056" y="0"/>
                  </a:lnTo>
                  <a:close/>
                </a:path>
                <a:path w="288290" h="265429">
                  <a:moveTo>
                    <a:pt x="77215" y="9143"/>
                  </a:moveTo>
                  <a:lnTo>
                    <a:pt x="67945" y="9143"/>
                  </a:lnTo>
                  <a:lnTo>
                    <a:pt x="67945" y="67563"/>
                  </a:lnTo>
                  <a:lnTo>
                    <a:pt x="77215" y="67563"/>
                  </a:lnTo>
                  <a:lnTo>
                    <a:pt x="77215" y="9143"/>
                  </a:lnTo>
                  <a:close/>
                </a:path>
                <a:path w="288290" h="265429">
                  <a:moveTo>
                    <a:pt x="75056" y="188468"/>
                  </a:moveTo>
                  <a:lnTo>
                    <a:pt x="2031" y="188468"/>
                  </a:lnTo>
                  <a:lnTo>
                    <a:pt x="0" y="190626"/>
                  </a:lnTo>
                  <a:lnTo>
                    <a:pt x="0" y="263144"/>
                  </a:lnTo>
                  <a:lnTo>
                    <a:pt x="2031" y="265175"/>
                  </a:lnTo>
                  <a:lnTo>
                    <a:pt x="75056" y="265175"/>
                  </a:lnTo>
                  <a:lnTo>
                    <a:pt x="77215" y="263144"/>
                  </a:lnTo>
                  <a:lnTo>
                    <a:pt x="77215" y="256031"/>
                  </a:lnTo>
                  <a:lnTo>
                    <a:pt x="9144" y="256031"/>
                  </a:lnTo>
                  <a:lnTo>
                    <a:pt x="9144" y="197612"/>
                  </a:lnTo>
                  <a:lnTo>
                    <a:pt x="77215" y="197612"/>
                  </a:lnTo>
                  <a:lnTo>
                    <a:pt x="77215" y="190626"/>
                  </a:lnTo>
                  <a:lnTo>
                    <a:pt x="75056" y="188468"/>
                  </a:lnTo>
                  <a:close/>
                </a:path>
                <a:path w="288290" h="265429">
                  <a:moveTo>
                    <a:pt x="77215" y="197612"/>
                  </a:moveTo>
                  <a:lnTo>
                    <a:pt x="67945" y="197612"/>
                  </a:lnTo>
                  <a:lnTo>
                    <a:pt x="67945" y="256031"/>
                  </a:lnTo>
                  <a:lnTo>
                    <a:pt x="77215" y="256031"/>
                  </a:lnTo>
                  <a:lnTo>
                    <a:pt x="77215" y="197612"/>
                  </a:lnTo>
                  <a:close/>
                </a:path>
                <a:path w="288290" h="265429">
                  <a:moveTo>
                    <a:pt x="286003" y="33781"/>
                  </a:moveTo>
                  <a:lnTo>
                    <a:pt x="113664" y="33781"/>
                  </a:lnTo>
                  <a:lnTo>
                    <a:pt x="111632" y="35687"/>
                  </a:lnTo>
                  <a:lnTo>
                    <a:pt x="111632" y="40767"/>
                  </a:lnTo>
                  <a:lnTo>
                    <a:pt x="113664" y="42925"/>
                  </a:lnTo>
                  <a:lnTo>
                    <a:pt x="286003" y="42925"/>
                  </a:lnTo>
                  <a:lnTo>
                    <a:pt x="288035" y="40767"/>
                  </a:lnTo>
                  <a:lnTo>
                    <a:pt x="288035" y="35687"/>
                  </a:lnTo>
                  <a:lnTo>
                    <a:pt x="286003" y="33781"/>
                  </a:lnTo>
                  <a:close/>
                </a:path>
                <a:path w="288290" h="265429">
                  <a:moveTo>
                    <a:pt x="286003" y="222250"/>
                  </a:moveTo>
                  <a:lnTo>
                    <a:pt x="113664" y="222250"/>
                  </a:lnTo>
                  <a:lnTo>
                    <a:pt x="111632" y="224409"/>
                  </a:lnTo>
                  <a:lnTo>
                    <a:pt x="111632" y="229362"/>
                  </a:lnTo>
                  <a:lnTo>
                    <a:pt x="113664" y="231394"/>
                  </a:lnTo>
                  <a:lnTo>
                    <a:pt x="286003" y="231394"/>
                  </a:lnTo>
                  <a:lnTo>
                    <a:pt x="288035" y="229362"/>
                  </a:lnTo>
                  <a:lnTo>
                    <a:pt x="288035" y="224409"/>
                  </a:lnTo>
                  <a:lnTo>
                    <a:pt x="286003" y="222250"/>
                  </a:lnTo>
                  <a:close/>
                </a:path>
              </a:pathLst>
            </a:custGeom>
            <a:solidFill>
              <a:srgbClr val="1F487C"/>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43" name="object 43"/>
            <p:cNvSpPr/>
            <p:nvPr/>
          </p:nvSpPr>
          <p:spPr>
            <a:xfrm>
              <a:off x="9991344" y="3910584"/>
              <a:ext cx="393700" cy="220979"/>
            </a:xfrm>
            <a:custGeom>
              <a:avLst/>
              <a:gdLst/>
              <a:ahLst/>
              <a:cxnLst/>
              <a:rect l="l" t="t" r="r" b="b"/>
              <a:pathLst>
                <a:path w="393700" h="220979">
                  <a:moveTo>
                    <a:pt x="74929" y="144018"/>
                  </a:moveTo>
                  <a:lnTo>
                    <a:pt x="2031" y="144018"/>
                  </a:lnTo>
                  <a:lnTo>
                    <a:pt x="0" y="146177"/>
                  </a:lnTo>
                  <a:lnTo>
                    <a:pt x="0" y="218948"/>
                  </a:lnTo>
                  <a:lnTo>
                    <a:pt x="2031" y="220980"/>
                  </a:lnTo>
                  <a:lnTo>
                    <a:pt x="74929" y="220980"/>
                  </a:lnTo>
                  <a:lnTo>
                    <a:pt x="77088" y="218948"/>
                  </a:lnTo>
                  <a:lnTo>
                    <a:pt x="77088" y="146177"/>
                  </a:lnTo>
                  <a:lnTo>
                    <a:pt x="74929" y="144018"/>
                  </a:lnTo>
                  <a:close/>
                </a:path>
                <a:path w="393700" h="220979">
                  <a:moveTo>
                    <a:pt x="347304" y="33274"/>
                  </a:moveTo>
                  <a:lnTo>
                    <a:pt x="311530" y="33274"/>
                  </a:lnTo>
                  <a:lnTo>
                    <a:pt x="339738" y="38959"/>
                  </a:lnTo>
                  <a:lnTo>
                    <a:pt x="362791" y="54467"/>
                  </a:lnTo>
                  <a:lnTo>
                    <a:pt x="378342" y="77475"/>
                  </a:lnTo>
                  <a:lnTo>
                    <a:pt x="384048" y="105664"/>
                  </a:lnTo>
                  <a:lnTo>
                    <a:pt x="378342" y="133778"/>
                  </a:lnTo>
                  <a:lnTo>
                    <a:pt x="362791" y="156749"/>
                  </a:lnTo>
                  <a:lnTo>
                    <a:pt x="339738" y="172243"/>
                  </a:lnTo>
                  <a:lnTo>
                    <a:pt x="311530" y="177927"/>
                  </a:lnTo>
                  <a:lnTo>
                    <a:pt x="113537" y="177927"/>
                  </a:lnTo>
                  <a:lnTo>
                    <a:pt x="111378" y="180086"/>
                  </a:lnTo>
                  <a:lnTo>
                    <a:pt x="111378" y="185039"/>
                  </a:lnTo>
                  <a:lnTo>
                    <a:pt x="113537" y="187071"/>
                  </a:lnTo>
                  <a:lnTo>
                    <a:pt x="311530" y="187071"/>
                  </a:lnTo>
                  <a:lnTo>
                    <a:pt x="343257" y="180655"/>
                  </a:lnTo>
                  <a:lnTo>
                    <a:pt x="369220" y="163179"/>
                  </a:lnTo>
                  <a:lnTo>
                    <a:pt x="386754" y="137296"/>
                  </a:lnTo>
                  <a:lnTo>
                    <a:pt x="393191" y="105664"/>
                  </a:lnTo>
                  <a:lnTo>
                    <a:pt x="386754" y="73957"/>
                  </a:lnTo>
                  <a:lnTo>
                    <a:pt x="369220" y="48037"/>
                  </a:lnTo>
                  <a:lnTo>
                    <a:pt x="347304" y="33274"/>
                  </a:lnTo>
                  <a:close/>
                </a:path>
                <a:path w="393700" h="220979">
                  <a:moveTo>
                    <a:pt x="264540" y="0"/>
                  </a:moveTo>
                  <a:lnTo>
                    <a:pt x="261620" y="0"/>
                  </a:lnTo>
                  <a:lnTo>
                    <a:pt x="236220" y="25527"/>
                  </a:lnTo>
                  <a:lnTo>
                    <a:pt x="235076" y="26416"/>
                  </a:lnTo>
                  <a:lnTo>
                    <a:pt x="234696" y="27432"/>
                  </a:lnTo>
                  <a:lnTo>
                    <a:pt x="234696" y="29972"/>
                  </a:lnTo>
                  <a:lnTo>
                    <a:pt x="235076" y="31242"/>
                  </a:lnTo>
                  <a:lnTo>
                    <a:pt x="236220" y="32004"/>
                  </a:lnTo>
                  <a:lnTo>
                    <a:pt x="260730" y="56515"/>
                  </a:lnTo>
                  <a:lnTo>
                    <a:pt x="262000" y="57023"/>
                  </a:lnTo>
                  <a:lnTo>
                    <a:pt x="264286" y="57023"/>
                  </a:lnTo>
                  <a:lnTo>
                    <a:pt x="265556" y="56515"/>
                  </a:lnTo>
                  <a:lnTo>
                    <a:pt x="266319" y="55753"/>
                  </a:lnTo>
                  <a:lnTo>
                    <a:pt x="267970" y="53848"/>
                  </a:lnTo>
                  <a:lnTo>
                    <a:pt x="267970" y="50927"/>
                  </a:lnTo>
                  <a:lnTo>
                    <a:pt x="250316" y="33274"/>
                  </a:lnTo>
                  <a:lnTo>
                    <a:pt x="347304" y="33274"/>
                  </a:lnTo>
                  <a:lnTo>
                    <a:pt x="343257" y="30547"/>
                  </a:lnTo>
                  <a:lnTo>
                    <a:pt x="311530" y="24130"/>
                  </a:lnTo>
                  <a:lnTo>
                    <a:pt x="250316" y="24130"/>
                  </a:lnTo>
                  <a:lnTo>
                    <a:pt x="266319" y="8255"/>
                  </a:lnTo>
                  <a:lnTo>
                    <a:pt x="267970" y="6477"/>
                  </a:lnTo>
                  <a:lnTo>
                    <a:pt x="267970" y="3556"/>
                  </a:lnTo>
                  <a:lnTo>
                    <a:pt x="266319" y="1651"/>
                  </a:lnTo>
                  <a:lnTo>
                    <a:pt x="264540" y="0"/>
                  </a:lnTo>
                  <a:close/>
                </a:path>
              </a:pathLst>
            </a:custGeom>
            <a:solidFill>
              <a:srgbClr val="4F81BC"/>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grpSp>
      <p:sp>
        <p:nvSpPr>
          <p:cNvPr id="44" name="object 44"/>
          <p:cNvSpPr txBox="1"/>
          <p:nvPr/>
        </p:nvSpPr>
        <p:spPr>
          <a:xfrm>
            <a:off x="1379347" y="1460119"/>
            <a:ext cx="655955" cy="391160"/>
          </a:xfrm>
          <a:prstGeom prst="rect">
            <a:avLst/>
          </a:prstGeom>
        </p:spPr>
        <p:txBody>
          <a:bodyPr vert="horz" wrap="square" lIns="0" tIns="12700" rIns="0" bIns="0" rtlCol="0">
            <a:spAutoFit/>
          </a:bodyPr>
          <a:lstStyle/>
          <a:p>
            <a:pPr marL="133985" marR="5080" lvl="0" indent="-121920" defTabSz="914400" eaLnBrk="1" fontAlgn="auto" latinLnBrk="0" hangingPunct="1">
              <a:lnSpc>
                <a:spcPct val="100000"/>
              </a:lnSpc>
              <a:spcBef>
                <a:spcPts val="100"/>
              </a:spcBef>
              <a:spcAft>
                <a:spcPts val="0"/>
              </a:spcAft>
              <a:buClrTx/>
              <a:buSzTx/>
              <a:buFontTx/>
              <a:buNone/>
              <a:tabLst/>
              <a:defRPr/>
            </a:pPr>
            <a:r>
              <a:rPr kumimoji="0" sz="1200" b="0" i="1" u="none" strike="noStrike" kern="0" cap="none" spc="0" normalizeH="0" baseline="0" noProof="0">
                <a:ln>
                  <a:noFill/>
                </a:ln>
                <a:solidFill>
                  <a:srgbClr val="295E7D"/>
                </a:solidFill>
                <a:effectLst/>
                <a:uLnTx/>
                <a:uFillTx/>
                <a:latin typeface="Trebuchet MS"/>
                <a:cs typeface="Trebuchet MS"/>
              </a:rPr>
              <a:t>Focus</a:t>
            </a:r>
            <a:r>
              <a:rPr kumimoji="0" sz="1200" b="0" i="1" u="none" strike="noStrike" kern="0" cap="none" spc="-35" normalizeH="0" baseline="0" noProof="0">
                <a:ln>
                  <a:noFill/>
                </a:ln>
                <a:solidFill>
                  <a:srgbClr val="295E7D"/>
                </a:solidFill>
                <a:effectLst/>
                <a:uLnTx/>
                <a:uFillTx/>
                <a:latin typeface="Trebuchet MS"/>
                <a:cs typeface="Trebuchet MS"/>
              </a:rPr>
              <a:t> </a:t>
            </a:r>
            <a:r>
              <a:rPr kumimoji="0" sz="1200" b="0" i="1" u="none" strike="noStrike" kern="0" cap="none" spc="-25" normalizeH="0" baseline="0" noProof="0">
                <a:ln>
                  <a:noFill/>
                </a:ln>
                <a:solidFill>
                  <a:srgbClr val="295E7D"/>
                </a:solidFill>
                <a:effectLst/>
                <a:uLnTx/>
                <a:uFillTx/>
                <a:latin typeface="Trebuchet MS"/>
                <a:cs typeface="Trebuchet MS"/>
              </a:rPr>
              <a:t>for </a:t>
            </a:r>
            <a:r>
              <a:rPr kumimoji="0" sz="1200" b="0" i="1" u="none" strike="noStrike" kern="0" cap="none" spc="-10" normalizeH="0" baseline="0" noProof="0">
                <a:ln>
                  <a:noFill/>
                </a:ln>
                <a:solidFill>
                  <a:srgbClr val="295E7D"/>
                </a:solidFill>
                <a:effectLst/>
                <a:uLnTx/>
                <a:uFillTx/>
                <a:latin typeface="Trebuchet MS"/>
                <a:cs typeface="Trebuchet MS"/>
              </a:rPr>
              <a:t>today</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45" name="object 45"/>
          <p:cNvSpPr txBox="1">
            <a:spLocks noGrp="1"/>
          </p:cNvSpPr>
          <p:nvPr>
            <p:ph type="sldNum" sz="quarter" idx="7"/>
          </p:nvPr>
        </p:nvSpPr>
        <p:spPr>
          <a:prstGeom prst="rect">
            <a:avLst/>
          </a:prstGeom>
        </p:spPr>
        <p:txBody>
          <a:bodyPr vert="horz" wrap="square" lIns="0" tIns="4445" rIns="0" bIns="0" rtlCol="0">
            <a:spAutoFit/>
          </a:bodyPr>
          <a:lstStyle/>
          <a:p>
            <a:pPr marL="38100" marR="0" lvl="0" indent="0" defTabSz="914400" eaLnBrk="1" fontAlgn="auto" latinLnBrk="0" hangingPunct="1">
              <a:lnSpc>
                <a:spcPct val="100000"/>
              </a:lnSpc>
              <a:spcBef>
                <a:spcPts val="35"/>
              </a:spcBef>
              <a:spcAft>
                <a:spcPts val="0"/>
              </a:spcAft>
              <a:buClrTx/>
              <a:buSzTx/>
              <a:buFontTx/>
              <a:buNone/>
              <a:tabLst/>
              <a:defRPr/>
            </a:pPr>
            <a:r>
              <a:rPr kumimoji="0" sz="1000" b="0" i="0" u="none" strike="noStrike" kern="0" cap="none" spc="-25" normalizeH="0" baseline="0" noProof="0">
                <a:ln>
                  <a:noFill/>
                </a:ln>
                <a:solidFill>
                  <a:srgbClr val="FFFFFF"/>
                </a:solidFill>
                <a:effectLst/>
                <a:uLnTx/>
                <a:uFillTx/>
                <a:latin typeface="Trebuchet MS"/>
              </a:rPr>
              <a:t>11</a:t>
            </a: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11470640" y="6392062"/>
            <a:ext cx="92710" cy="177800"/>
          </a:xfrm>
          <a:prstGeom prst="rect">
            <a:avLst/>
          </a:prstGeom>
        </p:spPr>
        <p:txBody>
          <a:bodyPr vert="horz" wrap="square" lIns="0" tIns="12065" rIns="0" bIns="0" rtlCol="0">
            <a:spAutoFit/>
          </a:bodyPr>
          <a:lstStyle/>
          <a:p>
            <a:pPr marL="12700" marR="0" lvl="0" indent="0" defTabSz="914400" eaLnBrk="1" fontAlgn="auto" latinLnBrk="0" hangingPunct="1">
              <a:lnSpc>
                <a:spcPct val="100000"/>
              </a:lnSpc>
              <a:spcBef>
                <a:spcPts val="95"/>
              </a:spcBef>
              <a:spcAft>
                <a:spcPts val="0"/>
              </a:spcAft>
              <a:buClrTx/>
              <a:buSzTx/>
              <a:buFontTx/>
              <a:buNone/>
              <a:tabLst/>
              <a:defRPr/>
            </a:pPr>
            <a:r>
              <a:rPr kumimoji="0" sz="1000" b="0" i="0" u="none" strike="noStrike" kern="0" cap="none" spc="-50" normalizeH="0" baseline="0" noProof="0">
                <a:ln>
                  <a:noFill/>
                </a:ln>
                <a:solidFill>
                  <a:srgbClr val="7E7E7E"/>
                </a:solidFill>
                <a:effectLst/>
                <a:uLnTx/>
                <a:uFillTx/>
                <a:latin typeface="Trebuchet MS"/>
                <a:cs typeface="Trebuchet MS"/>
              </a:rPr>
              <a:t>2</a:t>
            </a:r>
            <a:endParaRPr kumimoji="0" sz="10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3" name="object 3"/>
          <p:cNvSpPr txBox="1"/>
          <p:nvPr/>
        </p:nvSpPr>
        <p:spPr>
          <a:xfrm>
            <a:off x="11416283" y="6412483"/>
            <a:ext cx="67310" cy="147320"/>
          </a:xfrm>
          <a:prstGeom prst="rect">
            <a:avLst/>
          </a:prstGeom>
        </p:spPr>
        <p:txBody>
          <a:bodyPr vert="horz" wrap="square" lIns="0" tIns="0" rIns="0" bIns="0" rtlCol="0">
            <a:spAutoFit/>
          </a:bodyPr>
          <a:lstStyle/>
          <a:p>
            <a:pPr marL="0" marR="0" lvl="0" indent="0" defTabSz="914400" eaLnBrk="1" fontAlgn="auto" latinLnBrk="0" hangingPunct="1">
              <a:lnSpc>
                <a:spcPts val="1135"/>
              </a:lnSpc>
              <a:spcBef>
                <a:spcPts val="0"/>
              </a:spcBef>
              <a:spcAft>
                <a:spcPts val="0"/>
              </a:spcAft>
              <a:buClrTx/>
              <a:buSzTx/>
              <a:buFontTx/>
              <a:buNone/>
              <a:tabLst/>
              <a:defRPr/>
            </a:pPr>
            <a:r>
              <a:rPr kumimoji="0" sz="1000" b="0" i="0" u="none" strike="noStrike" kern="0" cap="none" spc="-50" normalizeH="0" baseline="0" noProof="0">
                <a:ln>
                  <a:noFill/>
                </a:ln>
                <a:solidFill>
                  <a:srgbClr val="7E7E7E"/>
                </a:solidFill>
                <a:effectLst/>
                <a:uLnTx/>
                <a:uFillTx/>
                <a:latin typeface="Trebuchet MS"/>
                <a:cs typeface="Trebuchet MS"/>
              </a:rPr>
              <a:t>1</a:t>
            </a:r>
            <a:endParaRPr kumimoji="0" sz="10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4" name="object 4"/>
          <p:cNvSpPr txBox="1"/>
          <p:nvPr/>
        </p:nvSpPr>
        <p:spPr>
          <a:xfrm>
            <a:off x="11986574" y="3898286"/>
            <a:ext cx="128270" cy="2653665"/>
          </a:xfrm>
          <a:prstGeom prst="rect">
            <a:avLst/>
          </a:prstGeom>
        </p:spPr>
        <p:txBody>
          <a:bodyPr vert="vert270" wrap="square" lIns="0" tIns="6350" rIns="0" bIns="0" rtlCol="0">
            <a:spAutoFit/>
          </a:bodyPr>
          <a:lstStyle/>
          <a:p>
            <a:pPr marL="12700" marR="0" lvl="0" indent="0" defTabSz="914400" eaLnBrk="1" fontAlgn="auto" latinLnBrk="0" hangingPunct="1">
              <a:lnSpc>
                <a:spcPct val="100000"/>
              </a:lnSpc>
              <a:spcBef>
                <a:spcPts val="50"/>
              </a:spcBef>
              <a:spcAft>
                <a:spcPts val="0"/>
              </a:spcAft>
              <a:buClrTx/>
              <a:buSzTx/>
              <a:buFontTx/>
              <a:buNone/>
              <a:tabLst/>
              <a:defRPr/>
            </a:pPr>
            <a:r>
              <a:rPr kumimoji="0" sz="700" b="0" i="0" u="none" strike="noStrike" kern="0" cap="none" spc="0" normalizeH="0" baseline="0" noProof="0">
                <a:ln>
                  <a:noFill/>
                </a:ln>
                <a:solidFill>
                  <a:srgbClr val="7E7E7E"/>
                </a:solidFill>
                <a:effectLst/>
                <a:uLnTx/>
                <a:uFillTx/>
                <a:latin typeface="Trebuchet MS"/>
                <a:cs typeface="Trebuchet MS"/>
              </a:rPr>
              <a:t>Copyright</a:t>
            </a:r>
            <a:r>
              <a:rPr kumimoji="0" sz="700" b="0" i="0" u="none" strike="noStrike" kern="0" cap="none" spc="-25" normalizeH="0" baseline="0" noProof="0">
                <a:ln>
                  <a:noFill/>
                </a:ln>
                <a:solidFill>
                  <a:srgbClr val="7E7E7E"/>
                </a:solidFill>
                <a:effectLst/>
                <a:uLnTx/>
                <a:uFillTx/>
                <a:latin typeface="Trebuchet MS"/>
                <a:cs typeface="Trebuchet MS"/>
              </a:rPr>
              <a:t> </a:t>
            </a:r>
            <a:r>
              <a:rPr kumimoji="0" sz="700" b="0" i="0" u="none" strike="noStrike" kern="0" cap="none" spc="0" normalizeH="0" baseline="0" noProof="0">
                <a:ln>
                  <a:noFill/>
                </a:ln>
                <a:solidFill>
                  <a:srgbClr val="7E7E7E"/>
                </a:solidFill>
                <a:effectLst/>
                <a:uLnTx/>
                <a:uFillTx/>
                <a:latin typeface="Trebuchet MS"/>
                <a:cs typeface="Trebuchet MS"/>
              </a:rPr>
              <a:t>©</a:t>
            </a:r>
            <a:r>
              <a:rPr kumimoji="0" sz="700" b="0" i="0" u="none" strike="noStrike" kern="0" cap="none" spc="-25" normalizeH="0" baseline="0" noProof="0">
                <a:ln>
                  <a:noFill/>
                </a:ln>
                <a:solidFill>
                  <a:srgbClr val="7E7E7E"/>
                </a:solidFill>
                <a:effectLst/>
                <a:uLnTx/>
                <a:uFillTx/>
                <a:latin typeface="Trebuchet MS"/>
                <a:cs typeface="Trebuchet MS"/>
              </a:rPr>
              <a:t> </a:t>
            </a:r>
            <a:r>
              <a:rPr kumimoji="0" sz="700" b="0" i="0" u="none" strike="noStrike" kern="0" cap="none" spc="0" normalizeH="0" baseline="0" noProof="0">
                <a:ln>
                  <a:noFill/>
                </a:ln>
                <a:solidFill>
                  <a:srgbClr val="7E7E7E"/>
                </a:solidFill>
                <a:effectLst/>
                <a:uLnTx/>
                <a:uFillTx/>
                <a:latin typeface="Trebuchet MS"/>
                <a:cs typeface="Trebuchet MS"/>
              </a:rPr>
              <a:t>2019</a:t>
            </a:r>
            <a:r>
              <a:rPr kumimoji="0" sz="700" b="0" i="0" u="none" strike="noStrike" kern="0" cap="none" spc="-15" normalizeH="0" baseline="0" noProof="0">
                <a:ln>
                  <a:noFill/>
                </a:ln>
                <a:solidFill>
                  <a:srgbClr val="7E7E7E"/>
                </a:solidFill>
                <a:effectLst/>
                <a:uLnTx/>
                <a:uFillTx/>
                <a:latin typeface="Trebuchet MS"/>
                <a:cs typeface="Trebuchet MS"/>
              </a:rPr>
              <a:t> </a:t>
            </a:r>
            <a:r>
              <a:rPr kumimoji="0" sz="700" b="0" i="0" u="none" strike="noStrike" kern="0" cap="none" spc="0" normalizeH="0" baseline="0" noProof="0">
                <a:ln>
                  <a:noFill/>
                </a:ln>
                <a:solidFill>
                  <a:srgbClr val="7E7E7E"/>
                </a:solidFill>
                <a:effectLst/>
                <a:uLnTx/>
                <a:uFillTx/>
                <a:latin typeface="Trebuchet MS"/>
                <a:cs typeface="Trebuchet MS"/>
              </a:rPr>
              <a:t>by</a:t>
            </a:r>
            <a:r>
              <a:rPr kumimoji="0" sz="700" b="0" i="0" u="none" strike="noStrike" kern="0" cap="none" spc="-20" normalizeH="0" baseline="0" noProof="0">
                <a:ln>
                  <a:noFill/>
                </a:ln>
                <a:solidFill>
                  <a:srgbClr val="7E7E7E"/>
                </a:solidFill>
                <a:effectLst/>
                <a:uLnTx/>
                <a:uFillTx/>
                <a:latin typeface="Trebuchet MS"/>
                <a:cs typeface="Trebuchet MS"/>
              </a:rPr>
              <a:t> </a:t>
            </a:r>
            <a:r>
              <a:rPr kumimoji="0" sz="700" b="0" i="0" u="none" strike="noStrike" kern="0" cap="none" spc="0" normalizeH="0" baseline="0" noProof="0">
                <a:ln>
                  <a:noFill/>
                </a:ln>
                <a:solidFill>
                  <a:srgbClr val="7E7E7E"/>
                </a:solidFill>
                <a:effectLst/>
                <a:uLnTx/>
                <a:uFillTx/>
                <a:latin typeface="Trebuchet MS"/>
                <a:cs typeface="Trebuchet MS"/>
              </a:rPr>
              <a:t>Boston </a:t>
            </a:r>
            <a:r>
              <a:rPr kumimoji="0" sz="700" b="0" i="0" u="none" strike="noStrike" kern="0" cap="none" spc="-10" normalizeH="0" baseline="0" noProof="0">
                <a:ln>
                  <a:noFill/>
                </a:ln>
                <a:solidFill>
                  <a:srgbClr val="7E7E7E"/>
                </a:solidFill>
                <a:effectLst/>
                <a:uLnTx/>
                <a:uFillTx/>
                <a:latin typeface="Trebuchet MS"/>
                <a:cs typeface="Trebuchet MS"/>
              </a:rPr>
              <a:t>Consulting </a:t>
            </a:r>
            <a:r>
              <a:rPr kumimoji="0" sz="700" b="0" i="0" u="none" strike="noStrike" kern="0" cap="none" spc="0" normalizeH="0" baseline="0" noProof="0">
                <a:ln>
                  <a:noFill/>
                </a:ln>
                <a:solidFill>
                  <a:srgbClr val="7E7E7E"/>
                </a:solidFill>
                <a:effectLst/>
                <a:uLnTx/>
                <a:uFillTx/>
                <a:latin typeface="Trebuchet MS"/>
                <a:cs typeface="Trebuchet MS"/>
              </a:rPr>
              <a:t>Group.</a:t>
            </a:r>
            <a:r>
              <a:rPr kumimoji="0" sz="700" b="0" i="0" u="none" strike="noStrike" kern="0" cap="none" spc="-5" normalizeH="0" baseline="0" noProof="0">
                <a:ln>
                  <a:noFill/>
                </a:ln>
                <a:solidFill>
                  <a:srgbClr val="7E7E7E"/>
                </a:solidFill>
                <a:effectLst/>
                <a:uLnTx/>
                <a:uFillTx/>
                <a:latin typeface="Trebuchet MS"/>
                <a:cs typeface="Trebuchet MS"/>
              </a:rPr>
              <a:t> </a:t>
            </a:r>
            <a:r>
              <a:rPr kumimoji="0" sz="700" b="0" i="0" u="none" strike="noStrike" kern="0" cap="none" spc="0" normalizeH="0" baseline="0" noProof="0">
                <a:ln>
                  <a:noFill/>
                </a:ln>
                <a:solidFill>
                  <a:srgbClr val="7E7E7E"/>
                </a:solidFill>
                <a:effectLst/>
                <a:uLnTx/>
                <a:uFillTx/>
                <a:latin typeface="Trebuchet MS"/>
                <a:cs typeface="Trebuchet MS"/>
              </a:rPr>
              <a:t>All</a:t>
            </a:r>
            <a:r>
              <a:rPr kumimoji="0" sz="700" b="0" i="0" u="none" strike="noStrike" kern="0" cap="none" spc="-5" normalizeH="0" baseline="0" noProof="0">
                <a:ln>
                  <a:noFill/>
                </a:ln>
                <a:solidFill>
                  <a:srgbClr val="7E7E7E"/>
                </a:solidFill>
                <a:effectLst/>
                <a:uLnTx/>
                <a:uFillTx/>
                <a:latin typeface="Trebuchet MS"/>
                <a:cs typeface="Trebuchet MS"/>
              </a:rPr>
              <a:t> </a:t>
            </a:r>
            <a:r>
              <a:rPr kumimoji="0" sz="700" b="0" i="0" u="none" strike="noStrike" kern="0" cap="none" spc="0" normalizeH="0" baseline="0" noProof="0">
                <a:ln>
                  <a:noFill/>
                </a:ln>
                <a:solidFill>
                  <a:srgbClr val="7E7E7E"/>
                </a:solidFill>
                <a:effectLst/>
                <a:uLnTx/>
                <a:uFillTx/>
                <a:latin typeface="Trebuchet MS"/>
                <a:cs typeface="Trebuchet MS"/>
              </a:rPr>
              <a:t>rights</a:t>
            </a:r>
            <a:r>
              <a:rPr kumimoji="0" sz="700" b="0" i="0" u="none" strike="noStrike" kern="0" cap="none" spc="-25" normalizeH="0" baseline="0" noProof="0">
                <a:ln>
                  <a:noFill/>
                </a:ln>
                <a:solidFill>
                  <a:srgbClr val="7E7E7E"/>
                </a:solidFill>
                <a:effectLst/>
                <a:uLnTx/>
                <a:uFillTx/>
                <a:latin typeface="Trebuchet MS"/>
                <a:cs typeface="Trebuchet MS"/>
              </a:rPr>
              <a:t> </a:t>
            </a:r>
            <a:r>
              <a:rPr kumimoji="0" sz="700" b="0" i="0" u="none" strike="noStrike" kern="0" cap="none" spc="-10" normalizeH="0" baseline="0" noProof="0">
                <a:ln>
                  <a:noFill/>
                </a:ln>
                <a:solidFill>
                  <a:srgbClr val="7E7E7E"/>
                </a:solidFill>
                <a:effectLst/>
                <a:uLnTx/>
                <a:uFillTx/>
                <a:latin typeface="Trebuchet MS"/>
                <a:cs typeface="Trebuchet MS"/>
              </a:rPr>
              <a:t>reserved.</a:t>
            </a:r>
            <a:endParaRPr kumimoji="0" sz="700" b="0" i="0" u="none" strike="noStrike" kern="0" cap="none" spc="0" normalizeH="0" baseline="0" noProof="0">
              <a:ln>
                <a:noFill/>
              </a:ln>
              <a:solidFill>
                <a:sysClr val="windowText" lastClr="000000"/>
              </a:solidFill>
              <a:effectLst/>
              <a:uLnTx/>
              <a:uFillTx/>
              <a:latin typeface="Trebuchet MS"/>
              <a:cs typeface="Trebuchet MS"/>
            </a:endParaRPr>
          </a:p>
        </p:txBody>
      </p:sp>
      <p:grpSp>
        <p:nvGrpSpPr>
          <p:cNvPr id="5" name="object 5"/>
          <p:cNvGrpSpPr/>
          <p:nvPr/>
        </p:nvGrpSpPr>
        <p:grpSpPr>
          <a:xfrm>
            <a:off x="9960673" y="1987105"/>
            <a:ext cx="1570355" cy="4622800"/>
            <a:chOff x="9960673" y="1987105"/>
            <a:chExt cx="1570355" cy="4622800"/>
          </a:xfrm>
        </p:grpSpPr>
        <p:sp>
          <p:nvSpPr>
            <p:cNvPr id="6" name="object 6"/>
            <p:cNvSpPr/>
            <p:nvPr/>
          </p:nvSpPr>
          <p:spPr>
            <a:xfrm>
              <a:off x="9965435" y="1991867"/>
              <a:ext cx="1560830" cy="4063365"/>
            </a:xfrm>
            <a:custGeom>
              <a:avLst/>
              <a:gdLst/>
              <a:ahLst/>
              <a:cxnLst/>
              <a:rect l="l" t="t" r="r" b="b"/>
              <a:pathLst>
                <a:path w="1560829" h="4063365">
                  <a:moveTo>
                    <a:pt x="1560576" y="0"/>
                  </a:moveTo>
                  <a:lnTo>
                    <a:pt x="0" y="0"/>
                  </a:lnTo>
                  <a:lnTo>
                    <a:pt x="0" y="4062984"/>
                  </a:lnTo>
                  <a:lnTo>
                    <a:pt x="1560576" y="4062984"/>
                  </a:lnTo>
                  <a:lnTo>
                    <a:pt x="1560576" y="0"/>
                  </a:lnTo>
                  <a:close/>
                </a:path>
              </a:pathLst>
            </a:custGeom>
            <a:solidFill>
              <a:srgbClr val="F1F1F1"/>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7" name="object 7"/>
            <p:cNvSpPr/>
            <p:nvPr/>
          </p:nvSpPr>
          <p:spPr>
            <a:xfrm>
              <a:off x="9965435" y="1991867"/>
              <a:ext cx="1560830" cy="4063365"/>
            </a:xfrm>
            <a:custGeom>
              <a:avLst/>
              <a:gdLst/>
              <a:ahLst/>
              <a:cxnLst/>
              <a:rect l="l" t="t" r="r" b="b"/>
              <a:pathLst>
                <a:path w="1560829" h="4063365">
                  <a:moveTo>
                    <a:pt x="0" y="4062984"/>
                  </a:moveTo>
                  <a:lnTo>
                    <a:pt x="1560576" y="4062984"/>
                  </a:lnTo>
                  <a:lnTo>
                    <a:pt x="1560576" y="0"/>
                  </a:lnTo>
                  <a:lnTo>
                    <a:pt x="0" y="0"/>
                  </a:lnTo>
                  <a:lnTo>
                    <a:pt x="0" y="4062984"/>
                  </a:lnTo>
                  <a:close/>
                </a:path>
              </a:pathLst>
            </a:custGeom>
            <a:ln w="9525">
              <a:solidFill>
                <a:srgbClr val="9A9A9A"/>
              </a:solidFill>
              <a:prstDash val="dot"/>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8" name="object 8"/>
            <p:cNvSpPr/>
            <p:nvPr/>
          </p:nvSpPr>
          <p:spPr>
            <a:xfrm>
              <a:off x="9976103" y="6054852"/>
              <a:ext cx="1539240" cy="554990"/>
            </a:xfrm>
            <a:custGeom>
              <a:avLst/>
              <a:gdLst/>
              <a:ahLst/>
              <a:cxnLst/>
              <a:rect l="l" t="t" r="r" b="b"/>
              <a:pathLst>
                <a:path w="1539240" h="554990">
                  <a:moveTo>
                    <a:pt x="1539240" y="0"/>
                  </a:moveTo>
                  <a:lnTo>
                    <a:pt x="0" y="0"/>
                  </a:lnTo>
                  <a:lnTo>
                    <a:pt x="0" y="554736"/>
                  </a:lnTo>
                  <a:lnTo>
                    <a:pt x="1539240" y="554736"/>
                  </a:lnTo>
                  <a:lnTo>
                    <a:pt x="1539240" y="0"/>
                  </a:lnTo>
                  <a:close/>
                </a:path>
              </a:pathLst>
            </a:custGeom>
            <a:solidFill>
              <a:srgbClr val="707070"/>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grpSp>
      <p:sp>
        <p:nvSpPr>
          <p:cNvPr id="9" name="object 9"/>
          <p:cNvSpPr txBox="1"/>
          <p:nvPr/>
        </p:nvSpPr>
        <p:spPr>
          <a:xfrm>
            <a:off x="9981438" y="6039408"/>
            <a:ext cx="1530985" cy="208279"/>
          </a:xfrm>
          <a:prstGeom prst="rect">
            <a:avLst/>
          </a:prstGeom>
        </p:spPr>
        <p:txBody>
          <a:bodyPr vert="horz" wrap="square" lIns="0" tIns="1270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sz="1200" b="0" i="0" u="none" strike="noStrike" kern="0" cap="none" spc="0" normalizeH="0" baseline="0" noProof="0">
                <a:ln>
                  <a:noFill/>
                </a:ln>
                <a:solidFill>
                  <a:srgbClr val="FFFFFF"/>
                </a:solidFill>
                <a:effectLst/>
                <a:uLnTx/>
                <a:uFillTx/>
                <a:latin typeface="Trebuchet MS"/>
                <a:cs typeface="Trebuchet MS"/>
              </a:rPr>
              <a:t>Low</a:t>
            </a:r>
            <a:r>
              <a:rPr kumimoji="0" sz="1200" b="0" i="0" u="none" strike="noStrike" kern="0" cap="none" spc="-15" normalizeH="0" baseline="0" noProof="0">
                <a:ln>
                  <a:noFill/>
                </a:ln>
                <a:solidFill>
                  <a:srgbClr val="FFFFFF"/>
                </a:solidFill>
                <a:effectLst/>
                <a:uLnTx/>
                <a:uFillTx/>
                <a:latin typeface="Trebuchet MS"/>
                <a:cs typeface="Trebuchet MS"/>
              </a:rPr>
              <a:t> </a:t>
            </a:r>
            <a:r>
              <a:rPr kumimoji="0" sz="1200" b="0" i="0" u="none" strike="noStrike" kern="0" cap="none" spc="0" normalizeH="0" baseline="0" noProof="0">
                <a:ln>
                  <a:noFill/>
                </a:ln>
                <a:solidFill>
                  <a:srgbClr val="FFFFFF"/>
                </a:solidFill>
                <a:effectLst/>
                <a:uLnTx/>
                <a:uFillTx/>
                <a:latin typeface="Trebuchet MS"/>
                <a:cs typeface="Trebuchet MS"/>
              </a:rPr>
              <a:t>priority</a:t>
            </a:r>
            <a:r>
              <a:rPr kumimoji="0" sz="1200" b="0" i="0" u="none" strike="noStrike" kern="0" cap="none" spc="-40" normalizeH="0" baseline="0" noProof="0">
                <a:ln>
                  <a:noFill/>
                </a:ln>
                <a:solidFill>
                  <a:srgbClr val="FFFFFF"/>
                </a:solidFill>
                <a:effectLst/>
                <a:uLnTx/>
                <a:uFillTx/>
                <a:latin typeface="Trebuchet MS"/>
                <a:cs typeface="Trebuchet MS"/>
              </a:rPr>
              <a:t> </a:t>
            </a:r>
            <a:r>
              <a:rPr kumimoji="0" sz="1200" b="0" i="0" u="none" strike="noStrike" kern="0" cap="none" spc="0" normalizeH="0" baseline="0" noProof="0">
                <a:ln>
                  <a:noFill/>
                </a:ln>
                <a:solidFill>
                  <a:srgbClr val="FFFFFF"/>
                </a:solidFill>
                <a:effectLst/>
                <a:uLnTx/>
                <a:uFillTx/>
                <a:latin typeface="Trebuchet MS"/>
                <a:cs typeface="Trebuchet MS"/>
              </a:rPr>
              <a:t>–</a:t>
            </a:r>
            <a:r>
              <a:rPr kumimoji="0" sz="1200" b="0" i="0" u="none" strike="noStrike" kern="0" cap="none" spc="-15" normalizeH="0" baseline="0" noProof="0">
                <a:ln>
                  <a:noFill/>
                </a:ln>
                <a:solidFill>
                  <a:srgbClr val="FFFFFF"/>
                </a:solidFill>
                <a:effectLst/>
                <a:uLnTx/>
                <a:uFillTx/>
                <a:latin typeface="Trebuchet MS"/>
                <a:cs typeface="Trebuchet MS"/>
              </a:rPr>
              <a:t> </a:t>
            </a:r>
            <a:r>
              <a:rPr kumimoji="0" sz="1200" b="0" i="0" u="none" strike="noStrike" kern="0" cap="none" spc="-10" normalizeH="0" baseline="0" noProof="0">
                <a:ln>
                  <a:noFill/>
                </a:ln>
                <a:solidFill>
                  <a:srgbClr val="FFFFFF"/>
                </a:solidFill>
                <a:effectLst/>
                <a:uLnTx/>
                <a:uFillTx/>
                <a:latin typeface="Trebuchet MS"/>
                <a:cs typeface="Trebuchet MS"/>
              </a:rPr>
              <a:t>unlikely</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10" name="object 10"/>
          <p:cNvSpPr txBox="1"/>
          <p:nvPr/>
        </p:nvSpPr>
        <p:spPr>
          <a:xfrm>
            <a:off x="10251185" y="6222288"/>
            <a:ext cx="990600" cy="391160"/>
          </a:xfrm>
          <a:prstGeom prst="rect">
            <a:avLst/>
          </a:prstGeom>
        </p:spPr>
        <p:txBody>
          <a:bodyPr vert="horz" wrap="square" lIns="0" tIns="12700" rIns="0" bIns="0" rtlCol="0">
            <a:spAutoFit/>
          </a:bodyPr>
          <a:lstStyle/>
          <a:p>
            <a:pPr marL="12700" marR="5080" lvl="0" indent="115570" defTabSz="914400" eaLnBrk="1" fontAlgn="auto" latinLnBrk="0" hangingPunct="1">
              <a:lnSpc>
                <a:spcPct val="100000"/>
              </a:lnSpc>
              <a:spcBef>
                <a:spcPts val="100"/>
              </a:spcBef>
              <a:spcAft>
                <a:spcPts val="0"/>
              </a:spcAft>
              <a:buClrTx/>
              <a:buSzTx/>
              <a:buFontTx/>
              <a:buNone/>
              <a:tabLst/>
              <a:defRPr/>
            </a:pPr>
            <a:r>
              <a:rPr kumimoji="0" sz="1200" b="0" i="0" u="none" strike="noStrike" kern="0" cap="none" spc="-10" normalizeH="0" baseline="0" noProof="0">
                <a:ln>
                  <a:noFill/>
                </a:ln>
                <a:solidFill>
                  <a:srgbClr val="FFFFFF"/>
                </a:solidFill>
                <a:effectLst/>
                <a:uLnTx/>
                <a:uFillTx/>
                <a:latin typeface="Trebuchet MS"/>
                <a:cs typeface="Trebuchet MS"/>
              </a:rPr>
              <a:t>immediate Affluent/HNW</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11" name="object 11"/>
          <p:cNvSpPr txBox="1">
            <a:spLocks noGrp="1"/>
          </p:cNvSpPr>
          <p:nvPr>
            <p:ph type="title"/>
          </p:nvPr>
        </p:nvSpPr>
        <p:spPr>
          <a:prstGeom prst="rect">
            <a:avLst/>
          </a:prstGeom>
        </p:spPr>
        <p:txBody>
          <a:bodyPr vert="horz" wrap="square" lIns="0" tIns="12700" rIns="0" bIns="0" rtlCol="0">
            <a:spAutoFit/>
          </a:bodyPr>
          <a:lstStyle/>
          <a:p>
            <a:pPr marL="12700">
              <a:lnSpc>
                <a:spcPct val="100000"/>
              </a:lnSpc>
              <a:spcBef>
                <a:spcPts val="100"/>
              </a:spcBef>
            </a:pPr>
            <a:r>
              <a:rPr sz="2400"/>
              <a:t>Lead</a:t>
            </a:r>
            <a:r>
              <a:rPr sz="2400" spc="-90"/>
              <a:t> </a:t>
            </a:r>
            <a:r>
              <a:rPr sz="2400"/>
              <a:t>Generation:</a:t>
            </a:r>
            <a:r>
              <a:rPr sz="2400" spc="-45"/>
              <a:t> </a:t>
            </a:r>
            <a:r>
              <a:rPr sz="2400"/>
              <a:t>Customer</a:t>
            </a:r>
            <a:r>
              <a:rPr sz="2400" spc="-85"/>
              <a:t> </a:t>
            </a:r>
            <a:r>
              <a:rPr sz="2400"/>
              <a:t>archetypes</a:t>
            </a:r>
            <a:r>
              <a:rPr sz="2400" spc="-65"/>
              <a:t> </a:t>
            </a:r>
            <a:r>
              <a:rPr sz="2400"/>
              <a:t>with</a:t>
            </a:r>
            <a:r>
              <a:rPr sz="2400" spc="-85"/>
              <a:t> </a:t>
            </a:r>
            <a:r>
              <a:rPr sz="2400"/>
              <a:t>wealth</a:t>
            </a:r>
            <a:r>
              <a:rPr sz="2400" spc="-70"/>
              <a:t> </a:t>
            </a:r>
            <a:r>
              <a:rPr sz="2400"/>
              <a:t>potential</a:t>
            </a:r>
            <a:r>
              <a:rPr sz="2400" spc="-60"/>
              <a:t> </a:t>
            </a:r>
            <a:r>
              <a:rPr sz="2400"/>
              <a:t>to</a:t>
            </a:r>
            <a:r>
              <a:rPr sz="2400" spc="-85"/>
              <a:t> </a:t>
            </a:r>
            <a:r>
              <a:rPr sz="2400" spc="-10"/>
              <a:t>pursue</a:t>
            </a:r>
            <a:endParaRPr sz="2400"/>
          </a:p>
        </p:txBody>
      </p:sp>
      <p:sp>
        <p:nvSpPr>
          <p:cNvPr id="12" name="object 12"/>
          <p:cNvSpPr txBox="1"/>
          <p:nvPr/>
        </p:nvSpPr>
        <p:spPr>
          <a:xfrm>
            <a:off x="5353939" y="1574418"/>
            <a:ext cx="1373505" cy="269240"/>
          </a:xfrm>
          <a:prstGeom prst="rect">
            <a:avLst/>
          </a:prstGeom>
        </p:spPr>
        <p:txBody>
          <a:bodyPr vert="horz" wrap="square" lIns="0" tIns="12065" rIns="0" bIns="0" rtlCol="0">
            <a:spAutoFit/>
          </a:bodyPr>
          <a:lstStyle/>
          <a:p>
            <a:pPr marL="12700" marR="0" lvl="0" indent="0" defTabSz="914400" eaLnBrk="1" fontAlgn="auto" latinLnBrk="0" hangingPunct="1">
              <a:lnSpc>
                <a:spcPct val="100000"/>
              </a:lnSpc>
              <a:spcBef>
                <a:spcPts val="95"/>
              </a:spcBef>
              <a:spcAft>
                <a:spcPts val="0"/>
              </a:spcAft>
              <a:buClrTx/>
              <a:buSzTx/>
              <a:buFontTx/>
              <a:buNone/>
              <a:tabLst/>
              <a:defRPr/>
            </a:pPr>
            <a:r>
              <a:rPr kumimoji="0" sz="1600" b="0" i="0" u="none" strike="noStrike" kern="0" cap="none" spc="0" normalizeH="0" baseline="0" noProof="0">
                <a:ln>
                  <a:noFill/>
                </a:ln>
                <a:solidFill>
                  <a:srgbClr val="29B974"/>
                </a:solidFill>
                <a:effectLst/>
                <a:uLnTx/>
                <a:uFillTx/>
                <a:latin typeface="Trebuchet MS"/>
                <a:cs typeface="Trebuchet MS"/>
              </a:rPr>
              <a:t>ETB</a:t>
            </a:r>
            <a:r>
              <a:rPr kumimoji="0" sz="1600" b="0" i="0" u="none" strike="noStrike" kern="0" cap="none" spc="-15" normalizeH="0" baseline="0" noProof="0">
                <a:ln>
                  <a:noFill/>
                </a:ln>
                <a:solidFill>
                  <a:srgbClr val="29B974"/>
                </a:solidFill>
                <a:effectLst/>
                <a:uLnTx/>
                <a:uFillTx/>
                <a:latin typeface="Trebuchet MS"/>
                <a:cs typeface="Trebuchet MS"/>
              </a:rPr>
              <a:t> </a:t>
            </a:r>
            <a:r>
              <a:rPr kumimoji="0" sz="1600" b="0" i="0" u="none" strike="noStrike" kern="0" cap="none" spc="-10" normalizeH="0" baseline="0" noProof="0">
                <a:ln>
                  <a:noFill/>
                </a:ln>
                <a:solidFill>
                  <a:srgbClr val="29B974"/>
                </a:solidFill>
                <a:effectLst/>
                <a:uLnTx/>
                <a:uFillTx/>
                <a:latin typeface="Trebuchet MS"/>
                <a:cs typeface="Trebuchet MS"/>
              </a:rPr>
              <a:t>Customers</a:t>
            </a:r>
            <a:endParaRPr kumimoji="0" sz="16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13" name="object 13"/>
          <p:cNvSpPr txBox="1"/>
          <p:nvPr/>
        </p:nvSpPr>
        <p:spPr>
          <a:xfrm>
            <a:off x="10261218" y="1330579"/>
            <a:ext cx="969644" cy="513080"/>
          </a:xfrm>
          <a:prstGeom prst="rect">
            <a:avLst/>
          </a:prstGeom>
        </p:spPr>
        <p:txBody>
          <a:bodyPr vert="horz" wrap="square" lIns="0" tIns="12065" rIns="0" bIns="0" rtlCol="0">
            <a:spAutoFit/>
          </a:bodyPr>
          <a:lstStyle/>
          <a:p>
            <a:pPr marL="3175" marR="0" lvl="0" indent="0" algn="ctr" defTabSz="914400" eaLnBrk="1" fontAlgn="auto" latinLnBrk="0" hangingPunct="1">
              <a:lnSpc>
                <a:spcPct val="100000"/>
              </a:lnSpc>
              <a:spcBef>
                <a:spcPts val="95"/>
              </a:spcBef>
              <a:spcAft>
                <a:spcPts val="0"/>
              </a:spcAft>
              <a:buClrTx/>
              <a:buSzTx/>
              <a:buFontTx/>
              <a:buNone/>
              <a:tabLst/>
              <a:defRPr/>
            </a:pPr>
            <a:r>
              <a:rPr kumimoji="0" lang="en-US" sz="1600" b="0" i="0" u="none" strike="noStrike" kern="0" cap="none" spc="-25" normalizeH="0" baseline="0" noProof="0" err="1">
                <a:ln>
                  <a:noFill/>
                </a:ln>
                <a:solidFill>
                  <a:srgbClr val="295E7D"/>
                </a:solidFill>
                <a:effectLst/>
                <a:uLnTx/>
                <a:uFillTx/>
                <a:latin typeface="Trebuchet MS"/>
                <a:cs typeface="Trebuchet MS"/>
              </a:rPr>
              <a:t>NTB</a:t>
            </a:r>
            <a:endParaRPr kumimoji="0" sz="1600" b="0" i="0" u="none" strike="noStrike" kern="0" cap="none" spc="0" normalizeH="0" baseline="0" noProof="0">
              <a:ln>
                <a:noFill/>
              </a:ln>
              <a:solidFill>
                <a:sysClr val="windowText" lastClr="000000"/>
              </a:solidFill>
              <a:effectLst/>
              <a:uLnTx/>
              <a:uFillTx/>
              <a:latin typeface="Trebuchet MS"/>
              <a:cs typeface="Trebuchet MS"/>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sz="1600" b="0" i="0" u="none" strike="noStrike" kern="0" cap="none" spc="-10" normalizeH="0" baseline="0" noProof="0">
                <a:ln>
                  <a:noFill/>
                </a:ln>
                <a:solidFill>
                  <a:srgbClr val="295E7D"/>
                </a:solidFill>
                <a:effectLst/>
                <a:uLnTx/>
                <a:uFillTx/>
                <a:latin typeface="Trebuchet MS"/>
                <a:cs typeface="Trebuchet MS"/>
              </a:rPr>
              <a:t>Customers</a:t>
            </a:r>
            <a:endParaRPr kumimoji="0" sz="1600" b="0" i="0" u="none" strike="noStrike" kern="0" cap="none" spc="0" normalizeH="0" baseline="0" noProof="0">
              <a:ln>
                <a:noFill/>
              </a:ln>
              <a:solidFill>
                <a:sysClr val="windowText" lastClr="000000"/>
              </a:solidFill>
              <a:effectLst/>
              <a:uLnTx/>
              <a:uFillTx/>
              <a:latin typeface="Trebuchet MS"/>
              <a:cs typeface="Trebuchet MS"/>
            </a:endParaRPr>
          </a:p>
        </p:txBody>
      </p:sp>
      <p:grpSp>
        <p:nvGrpSpPr>
          <p:cNvPr id="14" name="object 14"/>
          <p:cNvGrpSpPr/>
          <p:nvPr/>
        </p:nvGrpSpPr>
        <p:grpSpPr>
          <a:xfrm>
            <a:off x="2241804" y="1894332"/>
            <a:ext cx="7655559" cy="4165600"/>
            <a:chOff x="2241804" y="1894332"/>
            <a:chExt cx="7655559" cy="4165600"/>
          </a:xfrm>
        </p:grpSpPr>
        <p:sp>
          <p:nvSpPr>
            <p:cNvPr id="15" name="object 15"/>
            <p:cNvSpPr/>
            <p:nvPr/>
          </p:nvSpPr>
          <p:spPr>
            <a:xfrm>
              <a:off x="2241804" y="1894332"/>
              <a:ext cx="7597140" cy="76200"/>
            </a:xfrm>
            <a:custGeom>
              <a:avLst/>
              <a:gdLst/>
              <a:ahLst/>
              <a:cxnLst/>
              <a:rect l="l" t="t" r="r" b="b"/>
              <a:pathLst>
                <a:path w="7597140" h="76200">
                  <a:moveTo>
                    <a:pt x="38100" y="0"/>
                  </a:moveTo>
                  <a:lnTo>
                    <a:pt x="23252" y="2988"/>
                  </a:lnTo>
                  <a:lnTo>
                    <a:pt x="11144" y="11144"/>
                  </a:lnTo>
                  <a:lnTo>
                    <a:pt x="2988" y="23252"/>
                  </a:lnTo>
                  <a:lnTo>
                    <a:pt x="0" y="38100"/>
                  </a:lnTo>
                  <a:lnTo>
                    <a:pt x="2988" y="52947"/>
                  </a:lnTo>
                  <a:lnTo>
                    <a:pt x="11144" y="65055"/>
                  </a:lnTo>
                  <a:lnTo>
                    <a:pt x="23252" y="73211"/>
                  </a:lnTo>
                  <a:lnTo>
                    <a:pt x="38100" y="76200"/>
                  </a:lnTo>
                  <a:lnTo>
                    <a:pt x="52947" y="73211"/>
                  </a:lnTo>
                  <a:lnTo>
                    <a:pt x="65055" y="65055"/>
                  </a:lnTo>
                  <a:lnTo>
                    <a:pt x="73211" y="52947"/>
                  </a:lnTo>
                  <a:lnTo>
                    <a:pt x="74921" y="44450"/>
                  </a:lnTo>
                  <a:lnTo>
                    <a:pt x="34543" y="44450"/>
                  </a:lnTo>
                  <a:lnTo>
                    <a:pt x="31750" y="41655"/>
                  </a:lnTo>
                  <a:lnTo>
                    <a:pt x="31750" y="34543"/>
                  </a:lnTo>
                  <a:lnTo>
                    <a:pt x="34543" y="31750"/>
                  </a:lnTo>
                  <a:lnTo>
                    <a:pt x="74921" y="31750"/>
                  </a:lnTo>
                  <a:lnTo>
                    <a:pt x="73211" y="23252"/>
                  </a:lnTo>
                  <a:lnTo>
                    <a:pt x="65055" y="11144"/>
                  </a:lnTo>
                  <a:lnTo>
                    <a:pt x="52947" y="2988"/>
                  </a:lnTo>
                  <a:lnTo>
                    <a:pt x="38100" y="0"/>
                  </a:lnTo>
                  <a:close/>
                </a:path>
                <a:path w="7597140" h="76200">
                  <a:moveTo>
                    <a:pt x="7559040" y="0"/>
                  </a:moveTo>
                  <a:lnTo>
                    <a:pt x="7544192" y="2988"/>
                  </a:lnTo>
                  <a:lnTo>
                    <a:pt x="7532084" y="11144"/>
                  </a:lnTo>
                  <a:lnTo>
                    <a:pt x="7523928" y="23252"/>
                  </a:lnTo>
                  <a:lnTo>
                    <a:pt x="7520940" y="38100"/>
                  </a:lnTo>
                  <a:lnTo>
                    <a:pt x="7523928" y="52947"/>
                  </a:lnTo>
                  <a:lnTo>
                    <a:pt x="7532084" y="65055"/>
                  </a:lnTo>
                  <a:lnTo>
                    <a:pt x="7544192" y="73211"/>
                  </a:lnTo>
                  <a:lnTo>
                    <a:pt x="7559040" y="76200"/>
                  </a:lnTo>
                  <a:lnTo>
                    <a:pt x="7573887" y="73211"/>
                  </a:lnTo>
                  <a:lnTo>
                    <a:pt x="7585995" y="65055"/>
                  </a:lnTo>
                  <a:lnTo>
                    <a:pt x="7594151" y="52947"/>
                  </a:lnTo>
                  <a:lnTo>
                    <a:pt x="7595861" y="44450"/>
                  </a:lnTo>
                  <a:lnTo>
                    <a:pt x="7562596" y="44450"/>
                  </a:lnTo>
                  <a:lnTo>
                    <a:pt x="7565390" y="41655"/>
                  </a:lnTo>
                  <a:lnTo>
                    <a:pt x="7565390" y="34543"/>
                  </a:lnTo>
                  <a:lnTo>
                    <a:pt x="7562596" y="31750"/>
                  </a:lnTo>
                  <a:lnTo>
                    <a:pt x="7595861" y="31750"/>
                  </a:lnTo>
                  <a:lnTo>
                    <a:pt x="7594151" y="23252"/>
                  </a:lnTo>
                  <a:lnTo>
                    <a:pt x="7585995" y="11144"/>
                  </a:lnTo>
                  <a:lnTo>
                    <a:pt x="7573887" y="2988"/>
                  </a:lnTo>
                  <a:lnTo>
                    <a:pt x="7559040" y="0"/>
                  </a:lnTo>
                  <a:close/>
                </a:path>
                <a:path w="7597140" h="76200">
                  <a:moveTo>
                    <a:pt x="74921" y="31750"/>
                  </a:moveTo>
                  <a:lnTo>
                    <a:pt x="34543" y="31750"/>
                  </a:lnTo>
                  <a:lnTo>
                    <a:pt x="31750" y="34543"/>
                  </a:lnTo>
                  <a:lnTo>
                    <a:pt x="31750" y="41655"/>
                  </a:lnTo>
                  <a:lnTo>
                    <a:pt x="34543" y="44450"/>
                  </a:lnTo>
                  <a:lnTo>
                    <a:pt x="74921" y="44450"/>
                  </a:lnTo>
                  <a:lnTo>
                    <a:pt x="76200" y="38100"/>
                  </a:lnTo>
                  <a:lnTo>
                    <a:pt x="74921" y="31750"/>
                  </a:lnTo>
                  <a:close/>
                </a:path>
                <a:path w="7597140" h="76200">
                  <a:moveTo>
                    <a:pt x="7522218" y="31750"/>
                  </a:moveTo>
                  <a:lnTo>
                    <a:pt x="74921" y="31750"/>
                  </a:lnTo>
                  <a:lnTo>
                    <a:pt x="76200" y="38100"/>
                  </a:lnTo>
                  <a:lnTo>
                    <a:pt x="74921" y="44450"/>
                  </a:lnTo>
                  <a:lnTo>
                    <a:pt x="7522218" y="44450"/>
                  </a:lnTo>
                  <a:lnTo>
                    <a:pt x="7520940" y="38100"/>
                  </a:lnTo>
                  <a:lnTo>
                    <a:pt x="7522218" y="31750"/>
                  </a:lnTo>
                  <a:close/>
                </a:path>
                <a:path w="7597140" h="76200">
                  <a:moveTo>
                    <a:pt x="7595861" y="31750"/>
                  </a:moveTo>
                  <a:lnTo>
                    <a:pt x="7562596" y="31750"/>
                  </a:lnTo>
                  <a:lnTo>
                    <a:pt x="7565390" y="34543"/>
                  </a:lnTo>
                  <a:lnTo>
                    <a:pt x="7565390" y="41655"/>
                  </a:lnTo>
                  <a:lnTo>
                    <a:pt x="7562596" y="44450"/>
                  </a:lnTo>
                  <a:lnTo>
                    <a:pt x="7595861" y="44450"/>
                  </a:lnTo>
                  <a:lnTo>
                    <a:pt x="7597140" y="38100"/>
                  </a:lnTo>
                  <a:lnTo>
                    <a:pt x="7595861" y="31750"/>
                  </a:lnTo>
                  <a:close/>
                </a:path>
              </a:pathLst>
            </a:custGeom>
            <a:solidFill>
              <a:srgbClr val="6D6E73"/>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16" name="object 16"/>
            <p:cNvSpPr/>
            <p:nvPr/>
          </p:nvSpPr>
          <p:spPr>
            <a:xfrm>
              <a:off x="8461248" y="1991868"/>
              <a:ext cx="1431290" cy="4063365"/>
            </a:xfrm>
            <a:custGeom>
              <a:avLst/>
              <a:gdLst/>
              <a:ahLst/>
              <a:cxnLst/>
              <a:rect l="l" t="t" r="r" b="b"/>
              <a:pathLst>
                <a:path w="1431290" h="4063365">
                  <a:moveTo>
                    <a:pt x="1431036" y="0"/>
                  </a:moveTo>
                  <a:lnTo>
                    <a:pt x="0" y="0"/>
                  </a:lnTo>
                  <a:lnTo>
                    <a:pt x="0" y="4062984"/>
                  </a:lnTo>
                  <a:lnTo>
                    <a:pt x="1431036" y="4062984"/>
                  </a:lnTo>
                  <a:lnTo>
                    <a:pt x="1431036" y="0"/>
                  </a:lnTo>
                  <a:close/>
                </a:path>
              </a:pathLst>
            </a:custGeom>
            <a:solidFill>
              <a:srgbClr val="F1F1F1"/>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17" name="object 17"/>
            <p:cNvSpPr/>
            <p:nvPr/>
          </p:nvSpPr>
          <p:spPr>
            <a:xfrm>
              <a:off x="8461248" y="1991868"/>
              <a:ext cx="1431290" cy="4063365"/>
            </a:xfrm>
            <a:custGeom>
              <a:avLst/>
              <a:gdLst/>
              <a:ahLst/>
              <a:cxnLst/>
              <a:rect l="l" t="t" r="r" b="b"/>
              <a:pathLst>
                <a:path w="1431290" h="4063365">
                  <a:moveTo>
                    <a:pt x="0" y="4062984"/>
                  </a:moveTo>
                  <a:lnTo>
                    <a:pt x="1431036" y="4062984"/>
                  </a:lnTo>
                  <a:lnTo>
                    <a:pt x="1431036" y="0"/>
                  </a:lnTo>
                  <a:lnTo>
                    <a:pt x="0" y="0"/>
                  </a:lnTo>
                  <a:lnTo>
                    <a:pt x="0" y="4062984"/>
                  </a:lnTo>
                  <a:close/>
                </a:path>
              </a:pathLst>
            </a:custGeom>
            <a:ln w="9525">
              <a:solidFill>
                <a:srgbClr val="9A9A9A"/>
              </a:solidFill>
              <a:prstDash val="dot"/>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grpSp>
      <p:grpSp>
        <p:nvGrpSpPr>
          <p:cNvPr id="18" name="object 18"/>
          <p:cNvGrpSpPr/>
          <p:nvPr/>
        </p:nvGrpSpPr>
        <p:grpSpPr>
          <a:xfrm>
            <a:off x="10032492" y="1894332"/>
            <a:ext cx="1427480" cy="1108075"/>
            <a:chOff x="10032492" y="1894332"/>
            <a:chExt cx="1427480" cy="1108075"/>
          </a:xfrm>
        </p:grpSpPr>
        <p:sp>
          <p:nvSpPr>
            <p:cNvPr id="19" name="object 19"/>
            <p:cNvSpPr/>
            <p:nvPr/>
          </p:nvSpPr>
          <p:spPr>
            <a:xfrm>
              <a:off x="10032492" y="1894332"/>
              <a:ext cx="1427480" cy="76200"/>
            </a:xfrm>
            <a:custGeom>
              <a:avLst/>
              <a:gdLst/>
              <a:ahLst/>
              <a:cxnLst/>
              <a:rect l="l" t="t" r="r" b="b"/>
              <a:pathLst>
                <a:path w="1427479" h="76200">
                  <a:moveTo>
                    <a:pt x="38100" y="0"/>
                  </a:moveTo>
                  <a:lnTo>
                    <a:pt x="23252" y="2988"/>
                  </a:lnTo>
                  <a:lnTo>
                    <a:pt x="11144" y="11144"/>
                  </a:lnTo>
                  <a:lnTo>
                    <a:pt x="2988" y="23252"/>
                  </a:lnTo>
                  <a:lnTo>
                    <a:pt x="0" y="38100"/>
                  </a:lnTo>
                  <a:lnTo>
                    <a:pt x="2988" y="52947"/>
                  </a:lnTo>
                  <a:lnTo>
                    <a:pt x="11144" y="65055"/>
                  </a:lnTo>
                  <a:lnTo>
                    <a:pt x="23252" y="73211"/>
                  </a:lnTo>
                  <a:lnTo>
                    <a:pt x="38100" y="76200"/>
                  </a:lnTo>
                  <a:lnTo>
                    <a:pt x="52947" y="73211"/>
                  </a:lnTo>
                  <a:lnTo>
                    <a:pt x="65055" y="65055"/>
                  </a:lnTo>
                  <a:lnTo>
                    <a:pt x="73211" y="52947"/>
                  </a:lnTo>
                  <a:lnTo>
                    <a:pt x="74921" y="44450"/>
                  </a:lnTo>
                  <a:lnTo>
                    <a:pt x="34543" y="44450"/>
                  </a:lnTo>
                  <a:lnTo>
                    <a:pt x="31750" y="41655"/>
                  </a:lnTo>
                  <a:lnTo>
                    <a:pt x="31750" y="34543"/>
                  </a:lnTo>
                  <a:lnTo>
                    <a:pt x="34543" y="31750"/>
                  </a:lnTo>
                  <a:lnTo>
                    <a:pt x="74921" y="31750"/>
                  </a:lnTo>
                  <a:lnTo>
                    <a:pt x="73211" y="23252"/>
                  </a:lnTo>
                  <a:lnTo>
                    <a:pt x="65055" y="11144"/>
                  </a:lnTo>
                  <a:lnTo>
                    <a:pt x="52947" y="2988"/>
                  </a:lnTo>
                  <a:lnTo>
                    <a:pt x="38100" y="0"/>
                  </a:lnTo>
                  <a:close/>
                </a:path>
                <a:path w="1427479" h="76200">
                  <a:moveTo>
                    <a:pt x="1388999" y="0"/>
                  </a:moveTo>
                  <a:lnTo>
                    <a:pt x="1374151" y="2988"/>
                  </a:lnTo>
                  <a:lnTo>
                    <a:pt x="1362043" y="11144"/>
                  </a:lnTo>
                  <a:lnTo>
                    <a:pt x="1353887" y="23252"/>
                  </a:lnTo>
                  <a:lnTo>
                    <a:pt x="1350899" y="38100"/>
                  </a:lnTo>
                  <a:lnTo>
                    <a:pt x="1353887" y="52947"/>
                  </a:lnTo>
                  <a:lnTo>
                    <a:pt x="1362043" y="65055"/>
                  </a:lnTo>
                  <a:lnTo>
                    <a:pt x="1374151" y="73211"/>
                  </a:lnTo>
                  <a:lnTo>
                    <a:pt x="1388999" y="76200"/>
                  </a:lnTo>
                  <a:lnTo>
                    <a:pt x="1403792" y="73211"/>
                  </a:lnTo>
                  <a:lnTo>
                    <a:pt x="1415907" y="65055"/>
                  </a:lnTo>
                  <a:lnTo>
                    <a:pt x="1424092" y="52947"/>
                  </a:lnTo>
                  <a:lnTo>
                    <a:pt x="1425813" y="44450"/>
                  </a:lnTo>
                  <a:lnTo>
                    <a:pt x="1392427" y="44450"/>
                  </a:lnTo>
                  <a:lnTo>
                    <a:pt x="1395349" y="41655"/>
                  </a:lnTo>
                  <a:lnTo>
                    <a:pt x="1395349" y="34543"/>
                  </a:lnTo>
                  <a:lnTo>
                    <a:pt x="1392427" y="31750"/>
                  </a:lnTo>
                  <a:lnTo>
                    <a:pt x="1425813" y="31750"/>
                  </a:lnTo>
                  <a:lnTo>
                    <a:pt x="1424092" y="23252"/>
                  </a:lnTo>
                  <a:lnTo>
                    <a:pt x="1415907" y="11144"/>
                  </a:lnTo>
                  <a:lnTo>
                    <a:pt x="1403792" y="2988"/>
                  </a:lnTo>
                  <a:lnTo>
                    <a:pt x="1388999" y="0"/>
                  </a:lnTo>
                  <a:close/>
                </a:path>
                <a:path w="1427479" h="76200">
                  <a:moveTo>
                    <a:pt x="74921" y="31750"/>
                  </a:moveTo>
                  <a:lnTo>
                    <a:pt x="34543" y="31750"/>
                  </a:lnTo>
                  <a:lnTo>
                    <a:pt x="31750" y="34543"/>
                  </a:lnTo>
                  <a:lnTo>
                    <a:pt x="31750" y="41655"/>
                  </a:lnTo>
                  <a:lnTo>
                    <a:pt x="34543" y="44450"/>
                  </a:lnTo>
                  <a:lnTo>
                    <a:pt x="74921" y="44450"/>
                  </a:lnTo>
                  <a:lnTo>
                    <a:pt x="76200" y="38100"/>
                  </a:lnTo>
                  <a:lnTo>
                    <a:pt x="74921" y="31750"/>
                  </a:lnTo>
                  <a:close/>
                </a:path>
                <a:path w="1427479" h="76200">
                  <a:moveTo>
                    <a:pt x="1352177" y="31750"/>
                  </a:moveTo>
                  <a:lnTo>
                    <a:pt x="74921" y="31750"/>
                  </a:lnTo>
                  <a:lnTo>
                    <a:pt x="76200" y="38100"/>
                  </a:lnTo>
                  <a:lnTo>
                    <a:pt x="74921" y="44450"/>
                  </a:lnTo>
                  <a:lnTo>
                    <a:pt x="1352177" y="44450"/>
                  </a:lnTo>
                  <a:lnTo>
                    <a:pt x="1350899" y="38100"/>
                  </a:lnTo>
                  <a:lnTo>
                    <a:pt x="1352177" y="31750"/>
                  </a:lnTo>
                  <a:close/>
                </a:path>
                <a:path w="1427479" h="76200">
                  <a:moveTo>
                    <a:pt x="1425813" y="31750"/>
                  </a:moveTo>
                  <a:lnTo>
                    <a:pt x="1392427" y="31750"/>
                  </a:lnTo>
                  <a:lnTo>
                    <a:pt x="1395349" y="34543"/>
                  </a:lnTo>
                  <a:lnTo>
                    <a:pt x="1395349" y="41655"/>
                  </a:lnTo>
                  <a:lnTo>
                    <a:pt x="1392427" y="44450"/>
                  </a:lnTo>
                  <a:lnTo>
                    <a:pt x="1425813" y="44450"/>
                  </a:lnTo>
                  <a:lnTo>
                    <a:pt x="1427099" y="38100"/>
                  </a:lnTo>
                  <a:lnTo>
                    <a:pt x="1425813" y="31750"/>
                  </a:lnTo>
                  <a:close/>
                </a:path>
              </a:pathLst>
            </a:custGeom>
            <a:solidFill>
              <a:srgbClr val="6D6E73"/>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pic>
          <p:nvPicPr>
            <p:cNvPr id="20" name="object 20"/>
            <p:cNvPicPr/>
            <p:nvPr/>
          </p:nvPicPr>
          <p:blipFill>
            <a:blip r:embed="rId3" cstate="print"/>
            <a:stretch>
              <a:fillRect/>
            </a:stretch>
          </p:blipFill>
          <p:spPr>
            <a:xfrm>
              <a:off x="10270236" y="2049780"/>
              <a:ext cx="952500" cy="952500"/>
            </a:xfrm>
            <a:prstGeom prst="rect">
              <a:avLst/>
            </a:prstGeom>
          </p:spPr>
        </p:pic>
        <p:sp>
          <p:nvSpPr>
            <p:cNvPr id="21" name="object 21"/>
            <p:cNvSpPr/>
            <p:nvPr/>
          </p:nvSpPr>
          <p:spPr>
            <a:xfrm>
              <a:off x="10538460" y="2353056"/>
              <a:ext cx="360045" cy="431800"/>
            </a:xfrm>
            <a:custGeom>
              <a:avLst/>
              <a:gdLst/>
              <a:ahLst/>
              <a:cxnLst/>
              <a:rect l="l" t="t" r="r" b="b"/>
              <a:pathLst>
                <a:path w="360045" h="431800">
                  <a:moveTo>
                    <a:pt x="359664" y="0"/>
                  </a:moveTo>
                  <a:lnTo>
                    <a:pt x="259207" y="59436"/>
                  </a:lnTo>
                  <a:lnTo>
                    <a:pt x="346964" y="53848"/>
                  </a:lnTo>
                  <a:lnTo>
                    <a:pt x="359664" y="0"/>
                  </a:lnTo>
                  <a:close/>
                </a:path>
                <a:path w="360045" h="431800">
                  <a:moveTo>
                    <a:pt x="332105" y="116332"/>
                  </a:moveTo>
                  <a:lnTo>
                    <a:pt x="142875" y="128397"/>
                  </a:lnTo>
                  <a:lnTo>
                    <a:pt x="32893" y="193675"/>
                  </a:lnTo>
                  <a:lnTo>
                    <a:pt x="318135" y="175768"/>
                  </a:lnTo>
                  <a:lnTo>
                    <a:pt x="332105" y="116332"/>
                  </a:lnTo>
                  <a:close/>
                </a:path>
                <a:path w="360045" h="431800">
                  <a:moveTo>
                    <a:pt x="274447" y="359791"/>
                  </a:moveTo>
                  <a:lnTo>
                    <a:pt x="116840" y="369697"/>
                  </a:lnTo>
                  <a:lnTo>
                    <a:pt x="130311" y="378460"/>
                  </a:lnTo>
                  <a:lnTo>
                    <a:pt x="144033" y="386651"/>
                  </a:lnTo>
                  <a:lnTo>
                    <a:pt x="192579" y="410360"/>
                  </a:lnTo>
                  <a:lnTo>
                    <a:pt x="235235" y="425394"/>
                  </a:lnTo>
                  <a:lnTo>
                    <a:pt x="257301" y="431292"/>
                  </a:lnTo>
                  <a:lnTo>
                    <a:pt x="274447" y="359791"/>
                  </a:lnTo>
                  <a:close/>
                </a:path>
                <a:path w="360045" h="431800">
                  <a:moveTo>
                    <a:pt x="303275" y="238252"/>
                  </a:moveTo>
                  <a:lnTo>
                    <a:pt x="0" y="257048"/>
                  </a:lnTo>
                  <a:lnTo>
                    <a:pt x="11590" y="271881"/>
                  </a:lnTo>
                  <a:lnTo>
                    <a:pt x="23479" y="286083"/>
                  </a:lnTo>
                  <a:lnTo>
                    <a:pt x="35629" y="299642"/>
                  </a:lnTo>
                  <a:lnTo>
                    <a:pt x="48006" y="312547"/>
                  </a:lnTo>
                  <a:lnTo>
                    <a:pt x="289306" y="297307"/>
                  </a:lnTo>
                  <a:lnTo>
                    <a:pt x="303275" y="238252"/>
                  </a:lnTo>
                  <a:close/>
                </a:path>
              </a:pathLst>
            </a:custGeom>
            <a:solidFill>
              <a:srgbClr val="4F81BC"/>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22" name="object 22"/>
            <p:cNvSpPr/>
            <p:nvPr/>
          </p:nvSpPr>
          <p:spPr>
            <a:xfrm>
              <a:off x="10490569" y="2238756"/>
              <a:ext cx="516255" cy="573405"/>
            </a:xfrm>
            <a:custGeom>
              <a:avLst/>
              <a:gdLst/>
              <a:ahLst/>
              <a:cxnLst/>
              <a:rect l="l" t="t" r="r" b="b"/>
              <a:pathLst>
                <a:path w="516254" h="573405">
                  <a:moveTo>
                    <a:pt x="389901" y="93599"/>
                  </a:moveTo>
                  <a:lnTo>
                    <a:pt x="13092" y="317246"/>
                  </a:lnTo>
                  <a:lnTo>
                    <a:pt x="12203" y="317881"/>
                  </a:lnTo>
                  <a:lnTo>
                    <a:pt x="10679" y="318770"/>
                  </a:lnTo>
                  <a:lnTo>
                    <a:pt x="3643" y="325967"/>
                  </a:lnTo>
                  <a:lnTo>
                    <a:pt x="11" y="335010"/>
                  </a:lnTo>
                  <a:lnTo>
                    <a:pt x="0" y="344791"/>
                  </a:lnTo>
                  <a:lnTo>
                    <a:pt x="3821" y="354203"/>
                  </a:lnTo>
                  <a:lnTo>
                    <a:pt x="33141" y="394819"/>
                  </a:lnTo>
                  <a:lnTo>
                    <a:pt x="63718" y="430911"/>
                  </a:lnTo>
                  <a:lnTo>
                    <a:pt x="96033" y="463097"/>
                  </a:lnTo>
                  <a:lnTo>
                    <a:pt x="130313" y="491617"/>
                  </a:lnTo>
                  <a:lnTo>
                    <a:pt x="169312" y="518217"/>
                  </a:lnTo>
                  <a:lnTo>
                    <a:pt x="210752" y="540591"/>
                  </a:lnTo>
                  <a:lnTo>
                    <a:pt x="254454" y="558607"/>
                  </a:lnTo>
                  <a:lnTo>
                    <a:pt x="300239" y="572135"/>
                  </a:lnTo>
                  <a:lnTo>
                    <a:pt x="300620" y="572135"/>
                  </a:lnTo>
                  <a:lnTo>
                    <a:pt x="302779" y="572770"/>
                  </a:lnTo>
                  <a:lnTo>
                    <a:pt x="304557" y="573024"/>
                  </a:lnTo>
                  <a:lnTo>
                    <a:pt x="306462" y="573024"/>
                  </a:lnTo>
                  <a:lnTo>
                    <a:pt x="315029" y="571569"/>
                  </a:lnTo>
                  <a:lnTo>
                    <a:pt x="322322" y="567483"/>
                  </a:lnTo>
                  <a:lnTo>
                    <a:pt x="327876" y="561183"/>
                  </a:lnTo>
                  <a:lnTo>
                    <a:pt x="328494" y="559689"/>
                  </a:lnTo>
                  <a:lnTo>
                    <a:pt x="304557" y="559689"/>
                  </a:lnTo>
                  <a:lnTo>
                    <a:pt x="303668" y="559308"/>
                  </a:lnTo>
                  <a:lnTo>
                    <a:pt x="303414" y="559308"/>
                  </a:lnTo>
                  <a:lnTo>
                    <a:pt x="257613" y="545719"/>
                  </a:lnTo>
                  <a:lnTo>
                    <a:pt x="215022" y="528097"/>
                  </a:lnTo>
                  <a:lnTo>
                    <a:pt x="175184" y="506479"/>
                  </a:lnTo>
                  <a:lnTo>
                    <a:pt x="138060" y="481076"/>
                  </a:lnTo>
                  <a:lnTo>
                    <a:pt x="103770" y="452260"/>
                  </a:lnTo>
                  <a:lnTo>
                    <a:pt x="71862" y="420100"/>
                  </a:lnTo>
                  <a:lnTo>
                    <a:pt x="42191" y="384867"/>
                  </a:lnTo>
                  <a:lnTo>
                    <a:pt x="14616" y="346837"/>
                  </a:lnTo>
                  <a:lnTo>
                    <a:pt x="10933" y="341249"/>
                  </a:lnTo>
                  <a:lnTo>
                    <a:pt x="12457" y="333375"/>
                  </a:lnTo>
                  <a:lnTo>
                    <a:pt x="18426" y="329438"/>
                  </a:lnTo>
                  <a:lnTo>
                    <a:pt x="19061" y="329057"/>
                  </a:lnTo>
                  <a:lnTo>
                    <a:pt x="19696" y="328803"/>
                  </a:lnTo>
                  <a:lnTo>
                    <a:pt x="397648" y="104140"/>
                  </a:lnTo>
                  <a:lnTo>
                    <a:pt x="394473" y="100965"/>
                  </a:lnTo>
                  <a:lnTo>
                    <a:pt x="392060" y="97282"/>
                  </a:lnTo>
                  <a:lnTo>
                    <a:pt x="389901" y="93599"/>
                  </a:lnTo>
                  <a:close/>
                </a:path>
                <a:path w="516254" h="573405">
                  <a:moveTo>
                    <a:pt x="434859" y="416433"/>
                  </a:moveTo>
                  <a:lnTo>
                    <a:pt x="423937" y="467995"/>
                  </a:lnTo>
                  <a:lnTo>
                    <a:pt x="378090" y="486029"/>
                  </a:lnTo>
                  <a:lnTo>
                    <a:pt x="419619" y="512064"/>
                  </a:lnTo>
                  <a:lnTo>
                    <a:pt x="422794" y="564642"/>
                  </a:lnTo>
                  <a:lnTo>
                    <a:pt x="454934" y="535051"/>
                  </a:lnTo>
                  <a:lnTo>
                    <a:pt x="434478" y="535051"/>
                  </a:lnTo>
                  <a:lnTo>
                    <a:pt x="432700" y="504317"/>
                  </a:lnTo>
                  <a:lnTo>
                    <a:pt x="408189" y="488823"/>
                  </a:lnTo>
                  <a:lnTo>
                    <a:pt x="435748" y="477901"/>
                  </a:lnTo>
                  <a:lnTo>
                    <a:pt x="441971" y="448691"/>
                  </a:lnTo>
                  <a:lnTo>
                    <a:pt x="459174" y="448691"/>
                  </a:lnTo>
                  <a:lnTo>
                    <a:pt x="434859" y="416433"/>
                  </a:lnTo>
                  <a:close/>
                </a:path>
                <a:path w="516254" h="573405">
                  <a:moveTo>
                    <a:pt x="419619" y="121158"/>
                  </a:moveTo>
                  <a:lnTo>
                    <a:pt x="318527" y="550037"/>
                  </a:lnTo>
                  <a:lnTo>
                    <a:pt x="318527" y="550291"/>
                  </a:lnTo>
                  <a:lnTo>
                    <a:pt x="317257" y="555879"/>
                  </a:lnTo>
                  <a:lnTo>
                    <a:pt x="312050" y="559689"/>
                  </a:lnTo>
                  <a:lnTo>
                    <a:pt x="328494" y="559689"/>
                  </a:lnTo>
                  <a:lnTo>
                    <a:pt x="331227" y="553085"/>
                  </a:lnTo>
                  <a:lnTo>
                    <a:pt x="331227" y="552831"/>
                  </a:lnTo>
                  <a:lnTo>
                    <a:pt x="331608" y="552831"/>
                  </a:lnTo>
                  <a:lnTo>
                    <a:pt x="432065" y="125857"/>
                  </a:lnTo>
                  <a:lnTo>
                    <a:pt x="428001" y="124587"/>
                  </a:lnTo>
                  <a:lnTo>
                    <a:pt x="423683" y="123063"/>
                  </a:lnTo>
                  <a:lnTo>
                    <a:pt x="419619" y="121158"/>
                  </a:lnTo>
                  <a:close/>
                </a:path>
                <a:path w="516254" h="573405">
                  <a:moveTo>
                    <a:pt x="502636" y="530733"/>
                  </a:moveTo>
                  <a:lnTo>
                    <a:pt x="459624" y="530733"/>
                  </a:lnTo>
                  <a:lnTo>
                    <a:pt x="508646" y="545719"/>
                  </a:lnTo>
                  <a:lnTo>
                    <a:pt x="502636" y="530733"/>
                  </a:lnTo>
                  <a:close/>
                </a:path>
                <a:path w="516254" h="573405">
                  <a:moveTo>
                    <a:pt x="456195" y="515493"/>
                  </a:moveTo>
                  <a:lnTo>
                    <a:pt x="434478" y="535051"/>
                  </a:lnTo>
                  <a:lnTo>
                    <a:pt x="454934" y="535051"/>
                  </a:lnTo>
                  <a:lnTo>
                    <a:pt x="459624" y="530733"/>
                  </a:lnTo>
                  <a:lnTo>
                    <a:pt x="502636" y="530733"/>
                  </a:lnTo>
                  <a:lnTo>
                    <a:pt x="500039" y="524256"/>
                  </a:lnTo>
                  <a:lnTo>
                    <a:pt x="485405" y="524256"/>
                  </a:lnTo>
                  <a:lnTo>
                    <a:pt x="456195" y="515493"/>
                  </a:lnTo>
                  <a:close/>
                </a:path>
                <a:path w="516254" h="573405">
                  <a:moveTo>
                    <a:pt x="505933" y="471043"/>
                  </a:moveTo>
                  <a:lnTo>
                    <a:pt x="489723" y="471043"/>
                  </a:lnTo>
                  <a:lnTo>
                    <a:pt x="473594" y="495300"/>
                  </a:lnTo>
                  <a:lnTo>
                    <a:pt x="485405" y="524256"/>
                  </a:lnTo>
                  <a:lnTo>
                    <a:pt x="500039" y="524256"/>
                  </a:lnTo>
                  <a:lnTo>
                    <a:pt x="489088" y="496951"/>
                  </a:lnTo>
                  <a:lnTo>
                    <a:pt x="505933" y="471043"/>
                  </a:lnTo>
                  <a:close/>
                </a:path>
                <a:path w="516254" h="573405">
                  <a:moveTo>
                    <a:pt x="459174" y="448691"/>
                  </a:moveTo>
                  <a:lnTo>
                    <a:pt x="441971" y="448691"/>
                  </a:lnTo>
                  <a:lnTo>
                    <a:pt x="460259" y="472694"/>
                  </a:lnTo>
                  <a:lnTo>
                    <a:pt x="489723" y="471043"/>
                  </a:lnTo>
                  <a:lnTo>
                    <a:pt x="505933" y="471043"/>
                  </a:lnTo>
                  <a:lnTo>
                    <a:pt x="513942" y="458724"/>
                  </a:lnTo>
                  <a:lnTo>
                    <a:pt x="466736" y="458724"/>
                  </a:lnTo>
                  <a:lnTo>
                    <a:pt x="459174" y="448691"/>
                  </a:lnTo>
                  <a:close/>
                </a:path>
                <a:path w="516254" h="573405">
                  <a:moveTo>
                    <a:pt x="515758" y="455930"/>
                  </a:moveTo>
                  <a:lnTo>
                    <a:pt x="466736" y="458724"/>
                  </a:lnTo>
                  <a:lnTo>
                    <a:pt x="513942" y="458724"/>
                  </a:lnTo>
                  <a:lnTo>
                    <a:pt x="515758" y="455930"/>
                  </a:lnTo>
                  <a:close/>
                </a:path>
                <a:path w="516254" h="573405">
                  <a:moveTo>
                    <a:pt x="473279" y="364490"/>
                  </a:moveTo>
                  <a:lnTo>
                    <a:pt x="451877" y="364490"/>
                  </a:lnTo>
                  <a:lnTo>
                    <a:pt x="467117" y="386588"/>
                  </a:lnTo>
                  <a:lnTo>
                    <a:pt x="473279" y="364490"/>
                  </a:lnTo>
                  <a:close/>
                </a:path>
                <a:path w="516254" h="573405">
                  <a:moveTo>
                    <a:pt x="432954" y="320040"/>
                  </a:moveTo>
                  <a:lnTo>
                    <a:pt x="441590" y="344297"/>
                  </a:lnTo>
                  <a:lnTo>
                    <a:pt x="426096" y="366395"/>
                  </a:lnTo>
                  <a:lnTo>
                    <a:pt x="451877" y="364490"/>
                  </a:lnTo>
                  <a:lnTo>
                    <a:pt x="473279" y="364490"/>
                  </a:lnTo>
                  <a:lnTo>
                    <a:pt x="474483" y="360172"/>
                  </a:lnTo>
                  <a:lnTo>
                    <a:pt x="498740" y="352044"/>
                  </a:lnTo>
                  <a:lnTo>
                    <a:pt x="477658" y="337439"/>
                  </a:lnTo>
                  <a:lnTo>
                    <a:pt x="477889" y="327533"/>
                  </a:lnTo>
                  <a:lnTo>
                    <a:pt x="457465" y="327533"/>
                  </a:lnTo>
                  <a:lnTo>
                    <a:pt x="432954" y="320040"/>
                  </a:lnTo>
                  <a:close/>
                </a:path>
                <a:path w="516254" h="573405">
                  <a:moveTo>
                    <a:pt x="478293" y="310134"/>
                  </a:moveTo>
                  <a:lnTo>
                    <a:pt x="457465" y="327533"/>
                  </a:lnTo>
                  <a:lnTo>
                    <a:pt x="477889" y="327533"/>
                  </a:lnTo>
                  <a:lnTo>
                    <a:pt x="478293" y="310134"/>
                  </a:lnTo>
                  <a:close/>
                </a:path>
                <a:path w="516254" h="573405">
                  <a:moveTo>
                    <a:pt x="147966" y="167132"/>
                  </a:moveTo>
                  <a:lnTo>
                    <a:pt x="118248" y="167132"/>
                  </a:lnTo>
                  <a:lnTo>
                    <a:pt x="148347" y="190500"/>
                  </a:lnTo>
                  <a:lnTo>
                    <a:pt x="147966" y="167132"/>
                  </a:lnTo>
                  <a:close/>
                </a:path>
                <a:path w="516254" h="573405">
                  <a:moveTo>
                    <a:pt x="131329" y="82042"/>
                  </a:moveTo>
                  <a:lnTo>
                    <a:pt x="110501" y="114300"/>
                  </a:lnTo>
                  <a:lnTo>
                    <a:pt x="73925" y="114681"/>
                  </a:lnTo>
                  <a:lnTo>
                    <a:pt x="95642" y="143891"/>
                  </a:lnTo>
                  <a:lnTo>
                    <a:pt x="83831" y="180848"/>
                  </a:lnTo>
                  <a:lnTo>
                    <a:pt x="118248" y="167132"/>
                  </a:lnTo>
                  <a:lnTo>
                    <a:pt x="147966" y="167132"/>
                  </a:lnTo>
                  <a:lnTo>
                    <a:pt x="147712" y="151638"/>
                  </a:lnTo>
                  <a:lnTo>
                    <a:pt x="177176" y="130556"/>
                  </a:lnTo>
                  <a:lnTo>
                    <a:pt x="142124" y="119380"/>
                  </a:lnTo>
                  <a:lnTo>
                    <a:pt x="131329" y="82042"/>
                  </a:lnTo>
                  <a:close/>
                </a:path>
                <a:path w="516254" h="573405">
                  <a:moveTo>
                    <a:pt x="450607" y="0"/>
                  </a:moveTo>
                  <a:lnTo>
                    <a:pt x="413835" y="13287"/>
                  </a:lnTo>
                  <a:lnTo>
                    <a:pt x="394124" y="65960"/>
                  </a:lnTo>
                  <a:lnTo>
                    <a:pt x="401558" y="86679"/>
                  </a:lnTo>
                  <a:lnTo>
                    <a:pt x="433145" y="111902"/>
                  </a:lnTo>
                  <a:lnTo>
                    <a:pt x="450607" y="114681"/>
                  </a:lnTo>
                  <a:lnTo>
                    <a:pt x="463706" y="113168"/>
                  </a:lnTo>
                  <a:lnTo>
                    <a:pt x="476150" y="108680"/>
                  </a:lnTo>
                  <a:lnTo>
                    <a:pt x="487380" y="101286"/>
                  </a:lnTo>
                  <a:lnTo>
                    <a:pt x="487677" y="100965"/>
                  </a:lnTo>
                  <a:lnTo>
                    <a:pt x="450607" y="100965"/>
                  </a:lnTo>
                  <a:lnTo>
                    <a:pt x="443724" y="100405"/>
                  </a:lnTo>
                  <a:lnTo>
                    <a:pt x="409755" y="72348"/>
                  </a:lnTo>
                  <a:lnTo>
                    <a:pt x="407001" y="55407"/>
                  </a:lnTo>
                  <a:lnTo>
                    <a:pt x="408174" y="46926"/>
                  </a:lnTo>
                  <a:lnTo>
                    <a:pt x="440380" y="14902"/>
                  </a:lnTo>
                  <a:lnTo>
                    <a:pt x="450607" y="13716"/>
                  </a:lnTo>
                  <a:lnTo>
                    <a:pt x="450607" y="0"/>
                  </a:lnTo>
                  <a:close/>
                </a:path>
                <a:path w="516254" h="573405">
                  <a:moveTo>
                    <a:pt x="450607" y="0"/>
                  </a:moveTo>
                  <a:lnTo>
                    <a:pt x="450607" y="13716"/>
                  </a:lnTo>
                  <a:lnTo>
                    <a:pt x="457547" y="14239"/>
                  </a:lnTo>
                  <a:lnTo>
                    <a:pt x="464212" y="15811"/>
                  </a:lnTo>
                  <a:lnTo>
                    <a:pt x="493787" y="50673"/>
                  </a:lnTo>
                  <a:lnTo>
                    <a:pt x="494274" y="59231"/>
                  </a:lnTo>
                  <a:lnTo>
                    <a:pt x="493105" y="67611"/>
                  </a:lnTo>
                  <a:lnTo>
                    <a:pt x="460859" y="99718"/>
                  </a:lnTo>
                  <a:lnTo>
                    <a:pt x="450607" y="100965"/>
                  </a:lnTo>
                  <a:lnTo>
                    <a:pt x="487677" y="100965"/>
                  </a:lnTo>
                  <a:lnTo>
                    <a:pt x="496835" y="91059"/>
                  </a:lnTo>
                  <a:lnTo>
                    <a:pt x="506356" y="70375"/>
                  </a:lnTo>
                  <a:lnTo>
                    <a:pt x="507186" y="48371"/>
                  </a:lnTo>
                  <a:lnTo>
                    <a:pt x="499729" y="27676"/>
                  </a:lnTo>
                  <a:lnTo>
                    <a:pt x="484389" y="10922"/>
                  </a:lnTo>
                  <a:lnTo>
                    <a:pt x="476486" y="6054"/>
                  </a:lnTo>
                  <a:lnTo>
                    <a:pt x="468118" y="2651"/>
                  </a:lnTo>
                  <a:lnTo>
                    <a:pt x="459440" y="652"/>
                  </a:lnTo>
                  <a:lnTo>
                    <a:pt x="450607" y="0"/>
                  </a:lnTo>
                  <a:close/>
                </a:path>
              </a:pathLst>
            </a:custGeom>
            <a:solidFill>
              <a:srgbClr val="1F487C"/>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grpSp>
      <p:sp>
        <p:nvSpPr>
          <p:cNvPr id="23" name="object 23"/>
          <p:cNvSpPr txBox="1"/>
          <p:nvPr/>
        </p:nvSpPr>
        <p:spPr>
          <a:xfrm>
            <a:off x="8468868" y="6054852"/>
            <a:ext cx="1416050" cy="554990"/>
          </a:xfrm>
          <a:prstGeom prst="rect">
            <a:avLst/>
          </a:prstGeom>
          <a:solidFill>
            <a:srgbClr val="707070"/>
          </a:solidFill>
        </p:spPr>
        <p:txBody>
          <a:bodyPr vert="horz" wrap="square" lIns="0" tIns="3175" rIns="0" bIns="0" rtlCol="0">
            <a:spAutoFit/>
          </a:bodyPr>
          <a:lstStyle/>
          <a:p>
            <a:pPr marL="57785" marR="50165" lvl="0" indent="0" algn="ctr" defTabSz="914400" eaLnBrk="1" fontAlgn="auto" latinLnBrk="0" hangingPunct="1">
              <a:lnSpc>
                <a:spcPts val="1440"/>
              </a:lnSpc>
              <a:spcBef>
                <a:spcPts val="25"/>
              </a:spcBef>
              <a:spcAft>
                <a:spcPts val="0"/>
              </a:spcAft>
              <a:buClrTx/>
              <a:buSzTx/>
              <a:buFontTx/>
              <a:buNone/>
              <a:tabLst/>
              <a:defRPr/>
            </a:pPr>
            <a:r>
              <a:rPr kumimoji="0" sz="1200" b="0" i="0" u="none" strike="noStrike" kern="0" cap="none" spc="0" normalizeH="0" baseline="0" noProof="0">
                <a:ln>
                  <a:noFill/>
                </a:ln>
                <a:solidFill>
                  <a:srgbClr val="FFFFFF"/>
                </a:solidFill>
                <a:effectLst/>
                <a:uLnTx/>
                <a:uFillTx/>
                <a:latin typeface="Trebuchet MS"/>
                <a:cs typeface="Trebuchet MS"/>
              </a:rPr>
              <a:t>High</a:t>
            </a:r>
            <a:r>
              <a:rPr kumimoji="0" sz="1200" b="0" i="0" u="none" strike="noStrike" kern="0" cap="none" spc="-30" normalizeH="0" baseline="0" noProof="0">
                <a:ln>
                  <a:noFill/>
                </a:ln>
                <a:solidFill>
                  <a:srgbClr val="FFFFFF"/>
                </a:solidFill>
                <a:effectLst/>
                <a:uLnTx/>
                <a:uFillTx/>
                <a:latin typeface="Trebuchet MS"/>
                <a:cs typeface="Trebuchet MS"/>
              </a:rPr>
              <a:t> </a:t>
            </a:r>
            <a:r>
              <a:rPr kumimoji="0" sz="1200" b="0" i="0" u="none" strike="noStrike" kern="0" cap="none" spc="0" normalizeH="0" baseline="0" noProof="0">
                <a:ln>
                  <a:noFill/>
                </a:ln>
                <a:solidFill>
                  <a:srgbClr val="FFFFFF"/>
                </a:solidFill>
                <a:effectLst/>
                <a:uLnTx/>
                <a:uFillTx/>
                <a:latin typeface="Trebuchet MS"/>
                <a:cs typeface="Trebuchet MS"/>
              </a:rPr>
              <a:t>risk</a:t>
            </a:r>
            <a:r>
              <a:rPr kumimoji="0" sz="1200" b="0" i="0" u="none" strike="noStrike" kern="0" cap="none" spc="-20" normalizeH="0" baseline="0" noProof="0">
                <a:ln>
                  <a:noFill/>
                </a:ln>
                <a:solidFill>
                  <a:srgbClr val="FFFFFF"/>
                </a:solidFill>
                <a:effectLst/>
                <a:uLnTx/>
                <a:uFillTx/>
                <a:latin typeface="Trebuchet MS"/>
                <a:cs typeface="Trebuchet MS"/>
              </a:rPr>
              <a:t> </a:t>
            </a:r>
            <a:r>
              <a:rPr kumimoji="0" sz="1200" b="0" i="0" u="none" strike="noStrike" kern="0" cap="none" spc="0" normalizeH="0" baseline="0" noProof="0">
                <a:ln>
                  <a:noFill/>
                </a:ln>
                <a:solidFill>
                  <a:srgbClr val="FFFFFF"/>
                </a:solidFill>
                <a:effectLst/>
                <a:uLnTx/>
                <a:uFillTx/>
                <a:latin typeface="Trebuchet MS"/>
                <a:cs typeface="Trebuchet MS"/>
              </a:rPr>
              <a:t>to</a:t>
            </a:r>
            <a:r>
              <a:rPr kumimoji="0" sz="1200" b="0" i="0" u="none" strike="noStrike" kern="0" cap="none" spc="-10" normalizeH="0" baseline="0" noProof="0">
                <a:ln>
                  <a:noFill/>
                </a:ln>
                <a:solidFill>
                  <a:srgbClr val="FFFFFF"/>
                </a:solidFill>
                <a:effectLst/>
                <a:uLnTx/>
                <a:uFillTx/>
                <a:latin typeface="Trebuchet MS"/>
                <a:cs typeface="Trebuchet MS"/>
              </a:rPr>
              <a:t> attract </a:t>
            </a:r>
            <a:r>
              <a:rPr kumimoji="0" sz="1200" b="0" i="0" u="none" strike="noStrike" kern="0" cap="none" spc="0" normalizeH="0" baseline="0" noProof="0">
                <a:ln>
                  <a:noFill/>
                </a:ln>
                <a:solidFill>
                  <a:srgbClr val="FFFFFF"/>
                </a:solidFill>
                <a:effectLst/>
                <a:uLnTx/>
                <a:uFillTx/>
                <a:latin typeface="Trebuchet MS"/>
                <a:cs typeface="Trebuchet MS"/>
              </a:rPr>
              <a:t>due</a:t>
            </a:r>
            <a:r>
              <a:rPr kumimoji="0" sz="1200" b="0" i="0" u="none" strike="noStrike" kern="0" cap="none" spc="-30" normalizeH="0" baseline="0" noProof="0">
                <a:ln>
                  <a:noFill/>
                </a:ln>
                <a:solidFill>
                  <a:srgbClr val="FFFFFF"/>
                </a:solidFill>
                <a:effectLst/>
                <a:uLnTx/>
                <a:uFillTx/>
                <a:latin typeface="Trebuchet MS"/>
                <a:cs typeface="Trebuchet MS"/>
              </a:rPr>
              <a:t> </a:t>
            </a:r>
            <a:r>
              <a:rPr kumimoji="0" sz="1200" b="0" i="0" u="none" strike="noStrike" kern="0" cap="none" spc="0" normalizeH="0" baseline="0" noProof="0">
                <a:ln>
                  <a:noFill/>
                </a:ln>
                <a:solidFill>
                  <a:srgbClr val="FFFFFF"/>
                </a:solidFill>
                <a:effectLst/>
                <a:uLnTx/>
                <a:uFillTx/>
                <a:latin typeface="Trebuchet MS"/>
                <a:cs typeface="Trebuchet MS"/>
              </a:rPr>
              <a:t>to</a:t>
            </a:r>
            <a:r>
              <a:rPr kumimoji="0" sz="1200" b="0" i="0" u="none" strike="noStrike" kern="0" cap="none" spc="-5" normalizeH="0" baseline="0" noProof="0">
                <a:ln>
                  <a:noFill/>
                </a:ln>
                <a:solidFill>
                  <a:srgbClr val="FFFFFF"/>
                </a:solidFill>
                <a:effectLst/>
                <a:uLnTx/>
                <a:uFillTx/>
                <a:latin typeface="Trebuchet MS"/>
                <a:cs typeface="Trebuchet MS"/>
              </a:rPr>
              <a:t> </a:t>
            </a:r>
            <a:r>
              <a:rPr kumimoji="0" sz="1200" b="0" i="0" u="none" strike="noStrike" kern="0" cap="none" spc="-10" normalizeH="0" baseline="0" noProof="0">
                <a:ln>
                  <a:noFill/>
                </a:ln>
                <a:solidFill>
                  <a:srgbClr val="FFFFFF"/>
                </a:solidFill>
                <a:effectLst/>
                <a:uLnTx/>
                <a:uFillTx/>
                <a:latin typeface="Trebuchet MS"/>
                <a:cs typeface="Trebuchet MS"/>
              </a:rPr>
              <a:t>potential cannibalization</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p:txBody>
      </p:sp>
      <p:grpSp>
        <p:nvGrpSpPr>
          <p:cNvPr id="24" name="object 24"/>
          <p:cNvGrpSpPr/>
          <p:nvPr/>
        </p:nvGrpSpPr>
        <p:grpSpPr>
          <a:xfrm>
            <a:off x="2084832" y="2049779"/>
            <a:ext cx="7569834" cy="952500"/>
            <a:chOff x="2084832" y="2049779"/>
            <a:chExt cx="7569834" cy="952500"/>
          </a:xfrm>
        </p:grpSpPr>
        <p:pic>
          <p:nvPicPr>
            <p:cNvPr id="25" name="object 25"/>
            <p:cNvPicPr/>
            <p:nvPr/>
          </p:nvPicPr>
          <p:blipFill>
            <a:blip r:embed="rId4" cstate="print"/>
            <a:stretch>
              <a:fillRect/>
            </a:stretch>
          </p:blipFill>
          <p:spPr>
            <a:xfrm>
              <a:off x="2084832" y="2049779"/>
              <a:ext cx="952500" cy="952500"/>
            </a:xfrm>
            <a:prstGeom prst="rect">
              <a:avLst/>
            </a:prstGeom>
          </p:spPr>
        </p:pic>
        <p:sp>
          <p:nvSpPr>
            <p:cNvPr id="26" name="object 26"/>
            <p:cNvSpPr/>
            <p:nvPr/>
          </p:nvSpPr>
          <p:spPr>
            <a:xfrm>
              <a:off x="2392680" y="2282951"/>
              <a:ext cx="429895" cy="340360"/>
            </a:xfrm>
            <a:custGeom>
              <a:avLst/>
              <a:gdLst/>
              <a:ahLst/>
              <a:cxnLst/>
              <a:rect l="l" t="t" r="r" b="b"/>
              <a:pathLst>
                <a:path w="429894" h="340360">
                  <a:moveTo>
                    <a:pt x="70231" y="258318"/>
                  </a:moveTo>
                  <a:lnTo>
                    <a:pt x="0" y="258318"/>
                  </a:lnTo>
                  <a:lnTo>
                    <a:pt x="0" y="272161"/>
                  </a:lnTo>
                  <a:lnTo>
                    <a:pt x="70231" y="272161"/>
                  </a:lnTo>
                  <a:lnTo>
                    <a:pt x="70231" y="258318"/>
                  </a:lnTo>
                  <a:close/>
                </a:path>
                <a:path w="429894" h="340360">
                  <a:moveTo>
                    <a:pt x="345313" y="258572"/>
                  </a:moveTo>
                  <a:lnTo>
                    <a:pt x="256920" y="258572"/>
                  </a:lnTo>
                  <a:lnTo>
                    <a:pt x="256920" y="272288"/>
                  </a:lnTo>
                  <a:lnTo>
                    <a:pt x="337946" y="272288"/>
                  </a:lnTo>
                  <a:lnTo>
                    <a:pt x="338200" y="272542"/>
                  </a:lnTo>
                  <a:lnTo>
                    <a:pt x="338200" y="333628"/>
                  </a:lnTo>
                  <a:lnTo>
                    <a:pt x="344424" y="339851"/>
                  </a:lnTo>
                  <a:lnTo>
                    <a:pt x="423290" y="339851"/>
                  </a:lnTo>
                  <a:lnTo>
                    <a:pt x="429768" y="333628"/>
                  </a:lnTo>
                  <a:lnTo>
                    <a:pt x="429768" y="326136"/>
                  </a:lnTo>
                  <a:lnTo>
                    <a:pt x="352170" y="326136"/>
                  </a:lnTo>
                  <a:lnTo>
                    <a:pt x="351917" y="325882"/>
                  </a:lnTo>
                  <a:lnTo>
                    <a:pt x="351917" y="264795"/>
                  </a:lnTo>
                  <a:lnTo>
                    <a:pt x="345313" y="258572"/>
                  </a:lnTo>
                  <a:close/>
                </a:path>
                <a:path w="429894" h="340360">
                  <a:moveTo>
                    <a:pt x="371982" y="181610"/>
                  </a:moveTo>
                  <a:lnTo>
                    <a:pt x="256920" y="181610"/>
                  </a:lnTo>
                  <a:lnTo>
                    <a:pt x="256920" y="195325"/>
                  </a:lnTo>
                  <a:lnTo>
                    <a:pt x="371982" y="195325"/>
                  </a:lnTo>
                  <a:lnTo>
                    <a:pt x="389262" y="198822"/>
                  </a:lnTo>
                  <a:lnTo>
                    <a:pt x="403256" y="208343"/>
                  </a:lnTo>
                  <a:lnTo>
                    <a:pt x="412630" y="222436"/>
                  </a:lnTo>
                  <a:lnTo>
                    <a:pt x="416051" y="239649"/>
                  </a:lnTo>
                  <a:lnTo>
                    <a:pt x="416051" y="325882"/>
                  </a:lnTo>
                  <a:lnTo>
                    <a:pt x="415797" y="326136"/>
                  </a:lnTo>
                  <a:lnTo>
                    <a:pt x="429768" y="326136"/>
                  </a:lnTo>
                  <a:lnTo>
                    <a:pt x="429768" y="239649"/>
                  </a:lnTo>
                  <a:lnTo>
                    <a:pt x="425203" y="217132"/>
                  </a:lnTo>
                  <a:lnTo>
                    <a:pt x="412781" y="198675"/>
                  </a:lnTo>
                  <a:lnTo>
                    <a:pt x="394406" y="186195"/>
                  </a:lnTo>
                  <a:lnTo>
                    <a:pt x="371982" y="181610"/>
                  </a:lnTo>
                  <a:close/>
                </a:path>
                <a:path w="429894" h="340360">
                  <a:moveTo>
                    <a:pt x="70231" y="181610"/>
                  </a:moveTo>
                  <a:lnTo>
                    <a:pt x="0" y="181610"/>
                  </a:lnTo>
                  <a:lnTo>
                    <a:pt x="0" y="195452"/>
                  </a:lnTo>
                  <a:lnTo>
                    <a:pt x="70231" y="195452"/>
                  </a:lnTo>
                  <a:lnTo>
                    <a:pt x="70231" y="181610"/>
                  </a:lnTo>
                  <a:close/>
                </a:path>
                <a:path w="429894" h="340360">
                  <a:moveTo>
                    <a:pt x="170180" y="68325"/>
                  </a:moveTo>
                  <a:lnTo>
                    <a:pt x="156337" y="68325"/>
                  </a:lnTo>
                  <a:lnTo>
                    <a:pt x="156337" y="92583"/>
                  </a:lnTo>
                  <a:lnTo>
                    <a:pt x="170180" y="92583"/>
                  </a:lnTo>
                  <a:lnTo>
                    <a:pt x="170180" y="68325"/>
                  </a:lnTo>
                  <a:close/>
                </a:path>
                <a:path w="429894" h="340360">
                  <a:moveTo>
                    <a:pt x="267969" y="0"/>
                  </a:moveTo>
                  <a:lnTo>
                    <a:pt x="255835" y="2137"/>
                  </a:lnTo>
                  <a:lnTo>
                    <a:pt x="245475" y="8048"/>
                  </a:lnTo>
                  <a:lnTo>
                    <a:pt x="237662" y="16984"/>
                  </a:lnTo>
                  <a:lnTo>
                    <a:pt x="233171" y="28194"/>
                  </a:lnTo>
                  <a:lnTo>
                    <a:pt x="196342" y="28194"/>
                  </a:lnTo>
                  <a:lnTo>
                    <a:pt x="196342" y="41910"/>
                  </a:lnTo>
                  <a:lnTo>
                    <a:pt x="233171" y="41910"/>
                  </a:lnTo>
                  <a:lnTo>
                    <a:pt x="237662" y="53179"/>
                  </a:lnTo>
                  <a:lnTo>
                    <a:pt x="245475" y="62245"/>
                  </a:lnTo>
                  <a:lnTo>
                    <a:pt x="255835" y="68288"/>
                  </a:lnTo>
                  <a:lnTo>
                    <a:pt x="267969" y="70485"/>
                  </a:lnTo>
                  <a:lnTo>
                    <a:pt x="281590" y="67698"/>
                  </a:lnTo>
                  <a:lnTo>
                    <a:pt x="292734" y="60102"/>
                  </a:lnTo>
                  <a:lnTo>
                    <a:pt x="295047" y="56642"/>
                  </a:lnTo>
                  <a:lnTo>
                    <a:pt x="268224" y="56642"/>
                  </a:lnTo>
                  <a:lnTo>
                    <a:pt x="259794" y="54927"/>
                  </a:lnTo>
                  <a:lnTo>
                    <a:pt x="252888" y="50260"/>
                  </a:lnTo>
                  <a:lnTo>
                    <a:pt x="248221" y="43354"/>
                  </a:lnTo>
                  <a:lnTo>
                    <a:pt x="246506" y="34925"/>
                  </a:lnTo>
                  <a:lnTo>
                    <a:pt x="248221" y="26421"/>
                  </a:lnTo>
                  <a:lnTo>
                    <a:pt x="252888" y="19478"/>
                  </a:lnTo>
                  <a:lnTo>
                    <a:pt x="259794" y="14797"/>
                  </a:lnTo>
                  <a:lnTo>
                    <a:pt x="268224" y="13081"/>
                  </a:lnTo>
                  <a:lnTo>
                    <a:pt x="294588" y="13081"/>
                  </a:lnTo>
                  <a:lnTo>
                    <a:pt x="292734" y="10334"/>
                  </a:lnTo>
                  <a:lnTo>
                    <a:pt x="281590" y="2780"/>
                  </a:lnTo>
                  <a:lnTo>
                    <a:pt x="267969" y="0"/>
                  </a:lnTo>
                  <a:close/>
                </a:path>
                <a:path w="429894" h="340360">
                  <a:moveTo>
                    <a:pt x="294588" y="13081"/>
                  </a:moveTo>
                  <a:lnTo>
                    <a:pt x="268224" y="13081"/>
                  </a:lnTo>
                  <a:lnTo>
                    <a:pt x="276707" y="14797"/>
                  </a:lnTo>
                  <a:lnTo>
                    <a:pt x="283606" y="19478"/>
                  </a:lnTo>
                  <a:lnTo>
                    <a:pt x="288244" y="26421"/>
                  </a:lnTo>
                  <a:lnTo>
                    <a:pt x="289940" y="34925"/>
                  </a:lnTo>
                  <a:lnTo>
                    <a:pt x="288244" y="43354"/>
                  </a:lnTo>
                  <a:lnTo>
                    <a:pt x="283606" y="50260"/>
                  </a:lnTo>
                  <a:lnTo>
                    <a:pt x="276707" y="54927"/>
                  </a:lnTo>
                  <a:lnTo>
                    <a:pt x="268224" y="56642"/>
                  </a:lnTo>
                  <a:lnTo>
                    <a:pt x="295047" y="56642"/>
                  </a:lnTo>
                  <a:lnTo>
                    <a:pt x="300259" y="48839"/>
                  </a:lnTo>
                  <a:lnTo>
                    <a:pt x="303021" y="35051"/>
                  </a:lnTo>
                  <a:lnTo>
                    <a:pt x="300259" y="21484"/>
                  </a:lnTo>
                  <a:lnTo>
                    <a:pt x="294588" y="13081"/>
                  </a:lnTo>
                  <a:close/>
                </a:path>
                <a:path w="429894" h="340360">
                  <a:moveTo>
                    <a:pt x="57657" y="0"/>
                  </a:moveTo>
                  <a:lnTo>
                    <a:pt x="44110" y="2780"/>
                  </a:lnTo>
                  <a:lnTo>
                    <a:pt x="33004" y="10334"/>
                  </a:lnTo>
                  <a:lnTo>
                    <a:pt x="25493" y="21484"/>
                  </a:lnTo>
                  <a:lnTo>
                    <a:pt x="22732" y="35051"/>
                  </a:lnTo>
                  <a:lnTo>
                    <a:pt x="25493" y="48839"/>
                  </a:lnTo>
                  <a:lnTo>
                    <a:pt x="33004" y="60102"/>
                  </a:lnTo>
                  <a:lnTo>
                    <a:pt x="44110" y="67698"/>
                  </a:lnTo>
                  <a:lnTo>
                    <a:pt x="57657" y="70485"/>
                  </a:lnTo>
                  <a:lnTo>
                    <a:pt x="69772" y="68288"/>
                  </a:lnTo>
                  <a:lnTo>
                    <a:pt x="80089" y="62245"/>
                  </a:lnTo>
                  <a:lnTo>
                    <a:pt x="84891" y="56642"/>
                  </a:lnTo>
                  <a:lnTo>
                    <a:pt x="57912" y="56642"/>
                  </a:lnTo>
                  <a:lnTo>
                    <a:pt x="49575" y="54927"/>
                  </a:lnTo>
                  <a:lnTo>
                    <a:pt x="42751" y="50260"/>
                  </a:lnTo>
                  <a:lnTo>
                    <a:pt x="38141" y="43354"/>
                  </a:lnTo>
                  <a:lnTo>
                    <a:pt x="36449" y="34925"/>
                  </a:lnTo>
                  <a:lnTo>
                    <a:pt x="38141" y="26421"/>
                  </a:lnTo>
                  <a:lnTo>
                    <a:pt x="42751" y="19478"/>
                  </a:lnTo>
                  <a:lnTo>
                    <a:pt x="49575" y="14797"/>
                  </a:lnTo>
                  <a:lnTo>
                    <a:pt x="57912" y="13081"/>
                  </a:lnTo>
                  <a:lnTo>
                    <a:pt x="84464" y="13081"/>
                  </a:lnTo>
                  <a:lnTo>
                    <a:pt x="80089" y="8048"/>
                  </a:lnTo>
                  <a:lnTo>
                    <a:pt x="69772" y="2137"/>
                  </a:lnTo>
                  <a:lnTo>
                    <a:pt x="57657" y="0"/>
                  </a:lnTo>
                  <a:close/>
                </a:path>
                <a:path w="429894" h="340360">
                  <a:moveTo>
                    <a:pt x="84464" y="13081"/>
                  </a:moveTo>
                  <a:lnTo>
                    <a:pt x="57912" y="13081"/>
                  </a:lnTo>
                  <a:lnTo>
                    <a:pt x="66174" y="14797"/>
                  </a:lnTo>
                  <a:lnTo>
                    <a:pt x="72961" y="19478"/>
                  </a:lnTo>
                  <a:lnTo>
                    <a:pt x="77557" y="26421"/>
                  </a:lnTo>
                  <a:lnTo>
                    <a:pt x="79247" y="34925"/>
                  </a:lnTo>
                  <a:lnTo>
                    <a:pt x="77557" y="43354"/>
                  </a:lnTo>
                  <a:lnTo>
                    <a:pt x="72961" y="50260"/>
                  </a:lnTo>
                  <a:lnTo>
                    <a:pt x="66174" y="54927"/>
                  </a:lnTo>
                  <a:lnTo>
                    <a:pt x="57912" y="56642"/>
                  </a:lnTo>
                  <a:lnTo>
                    <a:pt x="84891" y="56642"/>
                  </a:lnTo>
                  <a:lnTo>
                    <a:pt x="87858" y="53179"/>
                  </a:lnTo>
                  <a:lnTo>
                    <a:pt x="92328" y="41910"/>
                  </a:lnTo>
                  <a:lnTo>
                    <a:pt x="129539" y="41910"/>
                  </a:lnTo>
                  <a:lnTo>
                    <a:pt x="129539" y="28194"/>
                  </a:lnTo>
                  <a:lnTo>
                    <a:pt x="92328" y="28194"/>
                  </a:lnTo>
                  <a:lnTo>
                    <a:pt x="87858" y="16984"/>
                  </a:lnTo>
                  <a:lnTo>
                    <a:pt x="84464" y="13081"/>
                  </a:lnTo>
                  <a:close/>
                </a:path>
              </a:pathLst>
            </a:custGeom>
            <a:solidFill>
              <a:srgbClr val="1F487C"/>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27" name="object 27"/>
            <p:cNvSpPr/>
            <p:nvPr/>
          </p:nvSpPr>
          <p:spPr>
            <a:xfrm>
              <a:off x="2299716" y="2298191"/>
              <a:ext cx="510540" cy="469900"/>
            </a:xfrm>
            <a:custGeom>
              <a:avLst/>
              <a:gdLst/>
              <a:ahLst/>
              <a:cxnLst/>
              <a:rect l="l" t="t" r="r" b="b"/>
              <a:pathLst>
                <a:path w="510539" h="469900">
                  <a:moveTo>
                    <a:pt x="475233" y="360807"/>
                  </a:moveTo>
                  <a:lnTo>
                    <a:pt x="463294" y="378414"/>
                  </a:lnTo>
                  <a:lnTo>
                    <a:pt x="452008" y="396224"/>
                  </a:lnTo>
                  <a:lnTo>
                    <a:pt x="443605" y="413724"/>
                  </a:lnTo>
                  <a:lnTo>
                    <a:pt x="440308" y="430403"/>
                  </a:lnTo>
                  <a:lnTo>
                    <a:pt x="443087" y="445549"/>
                  </a:lnTo>
                  <a:lnTo>
                    <a:pt x="450627" y="457946"/>
                  </a:lnTo>
                  <a:lnTo>
                    <a:pt x="461740" y="466318"/>
                  </a:lnTo>
                  <a:lnTo>
                    <a:pt x="475233" y="469392"/>
                  </a:lnTo>
                  <a:lnTo>
                    <a:pt x="489001" y="466318"/>
                  </a:lnTo>
                  <a:lnTo>
                    <a:pt x="500221" y="457946"/>
                  </a:lnTo>
                  <a:lnTo>
                    <a:pt x="507773" y="445549"/>
                  </a:lnTo>
                  <a:lnTo>
                    <a:pt x="510539" y="430403"/>
                  </a:lnTo>
                  <a:lnTo>
                    <a:pt x="507202" y="413688"/>
                  </a:lnTo>
                  <a:lnTo>
                    <a:pt x="498697" y="396128"/>
                  </a:lnTo>
                  <a:lnTo>
                    <a:pt x="487287" y="378307"/>
                  </a:lnTo>
                  <a:lnTo>
                    <a:pt x="475233" y="360807"/>
                  </a:lnTo>
                  <a:close/>
                </a:path>
                <a:path w="510539" h="469900">
                  <a:moveTo>
                    <a:pt x="332613" y="130683"/>
                  </a:moveTo>
                  <a:lnTo>
                    <a:pt x="179196" y="130683"/>
                  </a:lnTo>
                  <a:lnTo>
                    <a:pt x="176148" y="133731"/>
                  </a:lnTo>
                  <a:lnTo>
                    <a:pt x="176148" y="288290"/>
                  </a:lnTo>
                  <a:lnTo>
                    <a:pt x="179196" y="291084"/>
                  </a:lnTo>
                  <a:lnTo>
                    <a:pt x="332613" y="291084"/>
                  </a:lnTo>
                  <a:lnTo>
                    <a:pt x="335788" y="288290"/>
                  </a:lnTo>
                  <a:lnTo>
                    <a:pt x="335788" y="133731"/>
                  </a:lnTo>
                  <a:lnTo>
                    <a:pt x="332613" y="130683"/>
                  </a:lnTo>
                  <a:close/>
                </a:path>
                <a:path w="510539" h="469900">
                  <a:moveTo>
                    <a:pt x="76326" y="104394"/>
                  </a:moveTo>
                  <a:lnTo>
                    <a:pt x="3047" y="104394"/>
                  </a:lnTo>
                  <a:lnTo>
                    <a:pt x="0" y="107442"/>
                  </a:lnTo>
                  <a:lnTo>
                    <a:pt x="0" y="315595"/>
                  </a:lnTo>
                  <a:lnTo>
                    <a:pt x="3047" y="318643"/>
                  </a:lnTo>
                  <a:lnTo>
                    <a:pt x="76326" y="318643"/>
                  </a:lnTo>
                  <a:lnTo>
                    <a:pt x="79120" y="315595"/>
                  </a:lnTo>
                  <a:lnTo>
                    <a:pt x="79120" y="107442"/>
                  </a:lnTo>
                  <a:lnTo>
                    <a:pt x="76326" y="104394"/>
                  </a:lnTo>
                  <a:close/>
                </a:path>
                <a:path w="510539" h="469900">
                  <a:moveTo>
                    <a:pt x="275970" y="90550"/>
                  </a:moveTo>
                  <a:lnTo>
                    <a:pt x="235965" y="90550"/>
                  </a:lnTo>
                  <a:lnTo>
                    <a:pt x="235965" y="116840"/>
                  </a:lnTo>
                  <a:lnTo>
                    <a:pt x="275970" y="116840"/>
                  </a:lnTo>
                  <a:lnTo>
                    <a:pt x="275970" y="90550"/>
                  </a:lnTo>
                  <a:close/>
                </a:path>
                <a:path w="510539" h="469900">
                  <a:moveTo>
                    <a:pt x="275970" y="0"/>
                  </a:moveTo>
                  <a:lnTo>
                    <a:pt x="235965" y="0"/>
                  </a:lnTo>
                  <a:lnTo>
                    <a:pt x="235965" y="39370"/>
                  </a:lnTo>
                  <a:lnTo>
                    <a:pt x="275970" y="39370"/>
                  </a:lnTo>
                  <a:lnTo>
                    <a:pt x="275970" y="0"/>
                  </a:lnTo>
                  <a:close/>
                </a:path>
              </a:pathLst>
            </a:custGeom>
            <a:solidFill>
              <a:srgbClr val="4F81BC"/>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pic>
          <p:nvPicPr>
            <p:cNvPr id="28" name="object 28"/>
            <p:cNvPicPr/>
            <p:nvPr/>
          </p:nvPicPr>
          <p:blipFill>
            <a:blip r:embed="rId4" cstate="print"/>
            <a:stretch>
              <a:fillRect/>
            </a:stretch>
          </p:blipFill>
          <p:spPr>
            <a:xfrm>
              <a:off x="3825239" y="2049779"/>
              <a:ext cx="952500" cy="952500"/>
            </a:xfrm>
            <a:prstGeom prst="rect">
              <a:avLst/>
            </a:prstGeom>
          </p:spPr>
        </p:pic>
        <p:sp>
          <p:nvSpPr>
            <p:cNvPr id="29" name="object 29"/>
            <p:cNvSpPr/>
            <p:nvPr/>
          </p:nvSpPr>
          <p:spPr>
            <a:xfrm>
              <a:off x="4016629" y="2331084"/>
              <a:ext cx="568325" cy="387985"/>
            </a:xfrm>
            <a:custGeom>
              <a:avLst/>
              <a:gdLst/>
              <a:ahLst/>
              <a:cxnLst/>
              <a:rect l="l" t="t" r="r" b="b"/>
              <a:pathLst>
                <a:path w="568325" h="387985">
                  <a:moveTo>
                    <a:pt x="195834" y="0"/>
                  </a:moveTo>
                  <a:lnTo>
                    <a:pt x="191516" y="0"/>
                  </a:lnTo>
                  <a:lnTo>
                    <a:pt x="2540" y="189229"/>
                  </a:lnTo>
                  <a:lnTo>
                    <a:pt x="0" y="192024"/>
                  </a:lnTo>
                  <a:lnTo>
                    <a:pt x="0" y="196341"/>
                  </a:lnTo>
                  <a:lnTo>
                    <a:pt x="2540" y="199136"/>
                  </a:lnTo>
                  <a:lnTo>
                    <a:pt x="188722" y="385572"/>
                  </a:lnTo>
                  <a:lnTo>
                    <a:pt x="189865" y="386841"/>
                  </a:lnTo>
                  <a:lnTo>
                    <a:pt x="191770" y="387730"/>
                  </a:lnTo>
                  <a:lnTo>
                    <a:pt x="195199" y="387730"/>
                  </a:lnTo>
                  <a:lnTo>
                    <a:pt x="197104" y="386841"/>
                  </a:lnTo>
                  <a:lnTo>
                    <a:pt x="198247" y="385572"/>
                  </a:lnTo>
                  <a:lnTo>
                    <a:pt x="201041" y="383031"/>
                  </a:lnTo>
                  <a:lnTo>
                    <a:pt x="201041" y="378713"/>
                  </a:lnTo>
                  <a:lnTo>
                    <a:pt x="17018" y="194182"/>
                  </a:lnTo>
                  <a:lnTo>
                    <a:pt x="193675" y="17399"/>
                  </a:lnTo>
                  <a:lnTo>
                    <a:pt x="212806" y="17399"/>
                  </a:lnTo>
                  <a:lnTo>
                    <a:pt x="198247" y="2793"/>
                  </a:lnTo>
                  <a:lnTo>
                    <a:pt x="195834" y="0"/>
                  </a:lnTo>
                  <a:close/>
                </a:path>
                <a:path w="568325" h="387985">
                  <a:moveTo>
                    <a:pt x="212806" y="17399"/>
                  </a:moveTo>
                  <a:lnTo>
                    <a:pt x="193675" y="17399"/>
                  </a:lnTo>
                  <a:lnTo>
                    <a:pt x="229235" y="53086"/>
                  </a:lnTo>
                  <a:lnTo>
                    <a:pt x="90170" y="192024"/>
                  </a:lnTo>
                  <a:lnTo>
                    <a:pt x="90170" y="196341"/>
                  </a:lnTo>
                  <a:lnTo>
                    <a:pt x="279146" y="385572"/>
                  </a:lnTo>
                  <a:lnTo>
                    <a:pt x="280670" y="386841"/>
                  </a:lnTo>
                  <a:lnTo>
                    <a:pt x="282194" y="387730"/>
                  </a:lnTo>
                  <a:lnTo>
                    <a:pt x="286004" y="387730"/>
                  </a:lnTo>
                  <a:lnTo>
                    <a:pt x="287528" y="386841"/>
                  </a:lnTo>
                  <a:lnTo>
                    <a:pt x="289051" y="385572"/>
                  </a:lnTo>
                  <a:lnTo>
                    <a:pt x="291592" y="383031"/>
                  </a:lnTo>
                  <a:lnTo>
                    <a:pt x="291592" y="378713"/>
                  </a:lnTo>
                  <a:lnTo>
                    <a:pt x="289051" y="375919"/>
                  </a:lnTo>
                  <a:lnTo>
                    <a:pt x="107569" y="194182"/>
                  </a:lnTo>
                  <a:lnTo>
                    <a:pt x="257772" y="43561"/>
                  </a:lnTo>
                  <a:lnTo>
                    <a:pt x="238887" y="43561"/>
                  </a:lnTo>
                  <a:lnTo>
                    <a:pt x="212806" y="17399"/>
                  </a:lnTo>
                  <a:close/>
                </a:path>
                <a:path w="568325" h="387985">
                  <a:moveTo>
                    <a:pt x="303475" y="17399"/>
                  </a:moveTo>
                  <a:lnTo>
                    <a:pt x="284099" y="17399"/>
                  </a:lnTo>
                  <a:lnTo>
                    <a:pt x="319786" y="53086"/>
                  </a:lnTo>
                  <a:lnTo>
                    <a:pt x="183387" y="189229"/>
                  </a:lnTo>
                  <a:lnTo>
                    <a:pt x="180975" y="192024"/>
                  </a:lnTo>
                  <a:lnTo>
                    <a:pt x="180975" y="196341"/>
                  </a:lnTo>
                  <a:lnTo>
                    <a:pt x="183387" y="199136"/>
                  </a:lnTo>
                  <a:lnTo>
                    <a:pt x="369950" y="385572"/>
                  </a:lnTo>
                  <a:lnTo>
                    <a:pt x="371094" y="386841"/>
                  </a:lnTo>
                  <a:lnTo>
                    <a:pt x="372999" y="387730"/>
                  </a:lnTo>
                  <a:lnTo>
                    <a:pt x="376428" y="387730"/>
                  </a:lnTo>
                  <a:lnTo>
                    <a:pt x="378333" y="386841"/>
                  </a:lnTo>
                  <a:lnTo>
                    <a:pt x="379475" y="385572"/>
                  </a:lnTo>
                  <a:lnTo>
                    <a:pt x="393173" y="371855"/>
                  </a:lnTo>
                  <a:lnTo>
                    <a:pt x="374142" y="371855"/>
                  </a:lnTo>
                  <a:lnTo>
                    <a:pt x="197612" y="194563"/>
                  </a:lnTo>
                  <a:lnTo>
                    <a:pt x="347429" y="43561"/>
                  </a:lnTo>
                  <a:lnTo>
                    <a:pt x="329311" y="43561"/>
                  </a:lnTo>
                  <a:lnTo>
                    <a:pt x="303475" y="17399"/>
                  </a:lnTo>
                  <a:close/>
                </a:path>
                <a:path w="568325" h="387985">
                  <a:moveTo>
                    <a:pt x="393300" y="16637"/>
                  </a:moveTo>
                  <a:lnTo>
                    <a:pt x="374142" y="16637"/>
                  </a:lnTo>
                  <a:lnTo>
                    <a:pt x="374523" y="16890"/>
                  </a:lnTo>
                  <a:lnTo>
                    <a:pt x="550926" y="194182"/>
                  </a:lnTo>
                  <a:lnTo>
                    <a:pt x="550926" y="194563"/>
                  </a:lnTo>
                  <a:lnTo>
                    <a:pt x="374142" y="371855"/>
                  </a:lnTo>
                  <a:lnTo>
                    <a:pt x="393173" y="371855"/>
                  </a:lnTo>
                  <a:lnTo>
                    <a:pt x="565658" y="199136"/>
                  </a:lnTo>
                  <a:lnTo>
                    <a:pt x="568198" y="196341"/>
                  </a:lnTo>
                  <a:lnTo>
                    <a:pt x="568198" y="192024"/>
                  </a:lnTo>
                  <a:lnTo>
                    <a:pt x="565658" y="189229"/>
                  </a:lnTo>
                  <a:lnTo>
                    <a:pt x="393300" y="16637"/>
                  </a:lnTo>
                  <a:close/>
                </a:path>
                <a:path w="568325" h="387985">
                  <a:moveTo>
                    <a:pt x="286258" y="0"/>
                  </a:moveTo>
                  <a:lnTo>
                    <a:pt x="281940" y="0"/>
                  </a:lnTo>
                  <a:lnTo>
                    <a:pt x="279146" y="2793"/>
                  </a:lnTo>
                  <a:lnTo>
                    <a:pt x="238887" y="43561"/>
                  </a:lnTo>
                  <a:lnTo>
                    <a:pt x="257772" y="43561"/>
                  </a:lnTo>
                  <a:lnTo>
                    <a:pt x="284099" y="17399"/>
                  </a:lnTo>
                  <a:lnTo>
                    <a:pt x="303475" y="17399"/>
                  </a:lnTo>
                  <a:lnTo>
                    <a:pt x="289681" y="3430"/>
                  </a:lnTo>
                  <a:lnTo>
                    <a:pt x="286258" y="0"/>
                  </a:lnTo>
                  <a:close/>
                </a:path>
                <a:path w="568325" h="387985">
                  <a:moveTo>
                    <a:pt x="376428" y="635"/>
                  </a:moveTo>
                  <a:lnTo>
                    <a:pt x="372999" y="635"/>
                  </a:lnTo>
                  <a:lnTo>
                    <a:pt x="371094" y="1524"/>
                  </a:lnTo>
                  <a:lnTo>
                    <a:pt x="369950" y="2793"/>
                  </a:lnTo>
                  <a:lnTo>
                    <a:pt x="329311" y="43561"/>
                  </a:lnTo>
                  <a:lnTo>
                    <a:pt x="347429" y="43561"/>
                  </a:lnTo>
                  <a:lnTo>
                    <a:pt x="374142" y="16637"/>
                  </a:lnTo>
                  <a:lnTo>
                    <a:pt x="393300" y="16637"/>
                  </a:lnTo>
                  <a:lnTo>
                    <a:pt x="379475" y="2793"/>
                  </a:lnTo>
                  <a:lnTo>
                    <a:pt x="378333" y="1524"/>
                  </a:lnTo>
                  <a:lnTo>
                    <a:pt x="376428" y="635"/>
                  </a:lnTo>
                  <a:close/>
                </a:path>
              </a:pathLst>
            </a:custGeom>
            <a:solidFill>
              <a:srgbClr val="1F487C"/>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30" name="object 30"/>
            <p:cNvSpPr/>
            <p:nvPr/>
          </p:nvSpPr>
          <p:spPr>
            <a:xfrm>
              <a:off x="4233672" y="2368295"/>
              <a:ext cx="315595" cy="315595"/>
            </a:xfrm>
            <a:custGeom>
              <a:avLst/>
              <a:gdLst/>
              <a:ahLst/>
              <a:cxnLst/>
              <a:rect l="l" t="t" r="r" b="b"/>
              <a:pathLst>
                <a:path w="315595" h="315594">
                  <a:moveTo>
                    <a:pt x="157352" y="0"/>
                  </a:moveTo>
                  <a:lnTo>
                    <a:pt x="0" y="157352"/>
                  </a:lnTo>
                  <a:lnTo>
                    <a:pt x="157352" y="315467"/>
                  </a:lnTo>
                  <a:lnTo>
                    <a:pt x="315467" y="157352"/>
                  </a:lnTo>
                  <a:lnTo>
                    <a:pt x="157352" y="0"/>
                  </a:lnTo>
                  <a:close/>
                </a:path>
              </a:pathLst>
            </a:custGeom>
            <a:solidFill>
              <a:srgbClr val="4F81BC"/>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pic>
          <p:nvPicPr>
            <p:cNvPr id="31" name="object 31"/>
            <p:cNvPicPr/>
            <p:nvPr/>
          </p:nvPicPr>
          <p:blipFill>
            <a:blip r:embed="rId4" cstate="print"/>
            <a:stretch>
              <a:fillRect/>
            </a:stretch>
          </p:blipFill>
          <p:spPr>
            <a:xfrm>
              <a:off x="5565647" y="2049779"/>
              <a:ext cx="952500" cy="952500"/>
            </a:xfrm>
            <a:prstGeom prst="rect">
              <a:avLst/>
            </a:prstGeom>
          </p:spPr>
        </p:pic>
        <p:sp>
          <p:nvSpPr>
            <p:cNvPr id="32" name="object 32"/>
            <p:cNvSpPr/>
            <p:nvPr/>
          </p:nvSpPr>
          <p:spPr>
            <a:xfrm>
              <a:off x="5731764" y="2304287"/>
              <a:ext cx="619125" cy="441959"/>
            </a:xfrm>
            <a:custGeom>
              <a:avLst/>
              <a:gdLst/>
              <a:ahLst/>
              <a:cxnLst/>
              <a:rect l="l" t="t" r="r" b="b"/>
              <a:pathLst>
                <a:path w="619125" h="441960">
                  <a:moveTo>
                    <a:pt x="615314" y="0"/>
                  </a:moveTo>
                  <a:lnTo>
                    <a:pt x="3428" y="0"/>
                  </a:lnTo>
                  <a:lnTo>
                    <a:pt x="0" y="3048"/>
                  </a:lnTo>
                  <a:lnTo>
                    <a:pt x="0" y="438912"/>
                  </a:lnTo>
                  <a:lnTo>
                    <a:pt x="3428" y="441960"/>
                  </a:lnTo>
                  <a:lnTo>
                    <a:pt x="615314" y="441960"/>
                  </a:lnTo>
                  <a:lnTo>
                    <a:pt x="618744" y="438912"/>
                  </a:lnTo>
                  <a:lnTo>
                    <a:pt x="618744" y="426847"/>
                  </a:lnTo>
                  <a:lnTo>
                    <a:pt x="14350" y="426847"/>
                  </a:lnTo>
                  <a:lnTo>
                    <a:pt x="14350" y="15112"/>
                  </a:lnTo>
                  <a:lnTo>
                    <a:pt x="618744" y="15112"/>
                  </a:lnTo>
                  <a:lnTo>
                    <a:pt x="618744" y="3048"/>
                  </a:lnTo>
                  <a:lnTo>
                    <a:pt x="615314" y="0"/>
                  </a:lnTo>
                  <a:close/>
                </a:path>
                <a:path w="619125" h="441960">
                  <a:moveTo>
                    <a:pt x="618744" y="15112"/>
                  </a:moveTo>
                  <a:lnTo>
                    <a:pt x="604393" y="15112"/>
                  </a:lnTo>
                  <a:lnTo>
                    <a:pt x="604393" y="426847"/>
                  </a:lnTo>
                  <a:lnTo>
                    <a:pt x="618744" y="426847"/>
                  </a:lnTo>
                  <a:lnTo>
                    <a:pt x="618744" y="15112"/>
                  </a:lnTo>
                  <a:close/>
                </a:path>
                <a:path w="619125" h="441960">
                  <a:moveTo>
                    <a:pt x="137922" y="260223"/>
                  </a:moveTo>
                  <a:lnTo>
                    <a:pt x="135127" y="260223"/>
                  </a:lnTo>
                  <a:lnTo>
                    <a:pt x="133476" y="260985"/>
                  </a:lnTo>
                  <a:lnTo>
                    <a:pt x="132461" y="262254"/>
                  </a:lnTo>
                  <a:lnTo>
                    <a:pt x="121538" y="276478"/>
                  </a:lnTo>
                  <a:lnTo>
                    <a:pt x="29337" y="399034"/>
                  </a:lnTo>
                  <a:lnTo>
                    <a:pt x="38862" y="387858"/>
                  </a:lnTo>
                  <a:lnTo>
                    <a:pt x="134874" y="280162"/>
                  </a:lnTo>
                  <a:lnTo>
                    <a:pt x="137540" y="276478"/>
                  </a:lnTo>
                  <a:lnTo>
                    <a:pt x="138557" y="275463"/>
                  </a:lnTo>
                  <a:lnTo>
                    <a:pt x="140208" y="274827"/>
                  </a:lnTo>
                  <a:lnTo>
                    <a:pt x="177604" y="274827"/>
                  </a:lnTo>
                  <a:lnTo>
                    <a:pt x="138557" y="260603"/>
                  </a:lnTo>
                  <a:lnTo>
                    <a:pt x="137922" y="260223"/>
                  </a:lnTo>
                  <a:close/>
                </a:path>
                <a:path w="619125" h="441960">
                  <a:moveTo>
                    <a:pt x="177604" y="274827"/>
                  </a:moveTo>
                  <a:lnTo>
                    <a:pt x="143256" y="274827"/>
                  </a:lnTo>
                  <a:lnTo>
                    <a:pt x="144018" y="275082"/>
                  </a:lnTo>
                  <a:lnTo>
                    <a:pt x="213106" y="307594"/>
                  </a:lnTo>
                  <a:lnTo>
                    <a:pt x="214122" y="307975"/>
                  </a:lnTo>
                  <a:lnTo>
                    <a:pt x="215519" y="308356"/>
                  </a:lnTo>
                  <a:lnTo>
                    <a:pt x="218948" y="308356"/>
                  </a:lnTo>
                  <a:lnTo>
                    <a:pt x="220980" y="307594"/>
                  </a:lnTo>
                  <a:lnTo>
                    <a:pt x="222250" y="305942"/>
                  </a:lnTo>
                  <a:lnTo>
                    <a:pt x="231775" y="295783"/>
                  </a:lnTo>
                  <a:lnTo>
                    <a:pt x="239937" y="287274"/>
                  </a:lnTo>
                  <a:lnTo>
                    <a:pt x="211836" y="287274"/>
                  </a:lnTo>
                  <a:lnTo>
                    <a:pt x="211074" y="287020"/>
                  </a:lnTo>
                  <a:lnTo>
                    <a:pt x="177604" y="274827"/>
                  </a:lnTo>
                  <a:close/>
                </a:path>
                <a:path w="619125" h="441960">
                  <a:moveTo>
                    <a:pt x="337947" y="145796"/>
                  </a:moveTo>
                  <a:lnTo>
                    <a:pt x="335280" y="145796"/>
                  </a:lnTo>
                  <a:lnTo>
                    <a:pt x="333883" y="146558"/>
                  </a:lnTo>
                  <a:lnTo>
                    <a:pt x="332866" y="147574"/>
                  </a:lnTo>
                  <a:lnTo>
                    <a:pt x="327787" y="153924"/>
                  </a:lnTo>
                  <a:lnTo>
                    <a:pt x="315595" y="168910"/>
                  </a:lnTo>
                  <a:lnTo>
                    <a:pt x="231775" y="267335"/>
                  </a:lnTo>
                  <a:lnTo>
                    <a:pt x="216915" y="285241"/>
                  </a:lnTo>
                  <a:lnTo>
                    <a:pt x="216153" y="286638"/>
                  </a:lnTo>
                  <a:lnTo>
                    <a:pt x="214502" y="287274"/>
                  </a:lnTo>
                  <a:lnTo>
                    <a:pt x="239937" y="287274"/>
                  </a:lnTo>
                  <a:lnTo>
                    <a:pt x="315595" y="208407"/>
                  </a:lnTo>
                  <a:lnTo>
                    <a:pt x="327787" y="194945"/>
                  </a:lnTo>
                  <a:lnTo>
                    <a:pt x="338327" y="184023"/>
                  </a:lnTo>
                  <a:lnTo>
                    <a:pt x="339344" y="183007"/>
                  </a:lnTo>
                  <a:lnTo>
                    <a:pt x="340613" y="182372"/>
                  </a:lnTo>
                  <a:lnTo>
                    <a:pt x="399933" y="182372"/>
                  </a:lnTo>
                  <a:lnTo>
                    <a:pt x="339598" y="146558"/>
                  </a:lnTo>
                  <a:lnTo>
                    <a:pt x="338582" y="146176"/>
                  </a:lnTo>
                  <a:lnTo>
                    <a:pt x="337947" y="145796"/>
                  </a:lnTo>
                  <a:close/>
                </a:path>
                <a:path w="619125" h="441960">
                  <a:moveTo>
                    <a:pt x="399933" y="182372"/>
                  </a:moveTo>
                  <a:lnTo>
                    <a:pt x="343026" y="182372"/>
                  </a:lnTo>
                  <a:lnTo>
                    <a:pt x="344043" y="182752"/>
                  </a:lnTo>
                  <a:lnTo>
                    <a:pt x="345059" y="183387"/>
                  </a:lnTo>
                  <a:lnTo>
                    <a:pt x="410463" y="227711"/>
                  </a:lnTo>
                  <a:lnTo>
                    <a:pt x="410845" y="227711"/>
                  </a:lnTo>
                  <a:lnTo>
                    <a:pt x="423037" y="235203"/>
                  </a:lnTo>
                  <a:lnTo>
                    <a:pt x="429513" y="239649"/>
                  </a:lnTo>
                  <a:lnTo>
                    <a:pt x="430530" y="240284"/>
                  </a:lnTo>
                  <a:lnTo>
                    <a:pt x="433832" y="240284"/>
                  </a:lnTo>
                  <a:lnTo>
                    <a:pt x="435228" y="239902"/>
                  </a:lnTo>
                  <a:lnTo>
                    <a:pt x="436245" y="238633"/>
                  </a:lnTo>
                  <a:lnTo>
                    <a:pt x="472232" y="197231"/>
                  </a:lnTo>
                  <a:lnTo>
                    <a:pt x="424688" y="197231"/>
                  </a:lnTo>
                  <a:lnTo>
                    <a:pt x="423037" y="196596"/>
                  </a:lnTo>
                  <a:lnTo>
                    <a:pt x="423037" y="196214"/>
                  </a:lnTo>
                  <a:lnTo>
                    <a:pt x="410845" y="188849"/>
                  </a:lnTo>
                  <a:lnTo>
                    <a:pt x="399933" y="182372"/>
                  </a:lnTo>
                  <a:close/>
                </a:path>
                <a:path w="619125" h="441960">
                  <a:moveTo>
                    <a:pt x="586866" y="42925"/>
                  </a:moveTo>
                  <a:lnTo>
                    <a:pt x="580771" y="42925"/>
                  </a:lnTo>
                  <a:lnTo>
                    <a:pt x="579755" y="43307"/>
                  </a:lnTo>
                  <a:lnTo>
                    <a:pt x="578738" y="43561"/>
                  </a:lnTo>
                  <a:lnTo>
                    <a:pt x="473963" y="87884"/>
                  </a:lnTo>
                  <a:lnTo>
                    <a:pt x="468757" y="89915"/>
                  </a:lnTo>
                  <a:lnTo>
                    <a:pt x="465455" y="91312"/>
                  </a:lnTo>
                  <a:lnTo>
                    <a:pt x="464693" y="96012"/>
                  </a:lnTo>
                  <a:lnTo>
                    <a:pt x="467740" y="98425"/>
                  </a:lnTo>
                  <a:lnTo>
                    <a:pt x="490855" y="115697"/>
                  </a:lnTo>
                  <a:lnTo>
                    <a:pt x="493268" y="117348"/>
                  </a:lnTo>
                  <a:lnTo>
                    <a:pt x="493522" y="120396"/>
                  </a:lnTo>
                  <a:lnTo>
                    <a:pt x="491871" y="122427"/>
                  </a:lnTo>
                  <a:lnTo>
                    <a:pt x="429768" y="195199"/>
                  </a:lnTo>
                  <a:lnTo>
                    <a:pt x="429133" y="196596"/>
                  </a:lnTo>
                  <a:lnTo>
                    <a:pt x="427482" y="197231"/>
                  </a:lnTo>
                  <a:lnTo>
                    <a:pt x="472232" y="197231"/>
                  </a:lnTo>
                  <a:lnTo>
                    <a:pt x="505460" y="159003"/>
                  </a:lnTo>
                  <a:lnTo>
                    <a:pt x="519049" y="144145"/>
                  </a:lnTo>
                  <a:lnTo>
                    <a:pt x="520064" y="143128"/>
                  </a:lnTo>
                  <a:lnTo>
                    <a:pt x="521715" y="142494"/>
                  </a:lnTo>
                  <a:lnTo>
                    <a:pt x="563199" y="142494"/>
                  </a:lnTo>
                  <a:lnTo>
                    <a:pt x="589152" y="52450"/>
                  </a:lnTo>
                  <a:lnTo>
                    <a:pt x="590931" y="47625"/>
                  </a:lnTo>
                  <a:lnTo>
                    <a:pt x="586866" y="42925"/>
                  </a:lnTo>
                  <a:close/>
                </a:path>
                <a:path w="619125" h="441960">
                  <a:moveTo>
                    <a:pt x="563199" y="142494"/>
                  </a:moveTo>
                  <a:lnTo>
                    <a:pt x="524128" y="142494"/>
                  </a:lnTo>
                  <a:lnTo>
                    <a:pt x="525399" y="142748"/>
                  </a:lnTo>
                  <a:lnTo>
                    <a:pt x="526161" y="143510"/>
                  </a:lnTo>
                  <a:lnTo>
                    <a:pt x="549910" y="162813"/>
                  </a:lnTo>
                  <a:lnTo>
                    <a:pt x="550926" y="163829"/>
                  </a:lnTo>
                  <a:lnTo>
                    <a:pt x="552196" y="164084"/>
                  </a:lnTo>
                  <a:lnTo>
                    <a:pt x="555625" y="164084"/>
                  </a:lnTo>
                  <a:lnTo>
                    <a:pt x="557276" y="162813"/>
                  </a:lnTo>
                  <a:lnTo>
                    <a:pt x="558038" y="160400"/>
                  </a:lnTo>
                  <a:lnTo>
                    <a:pt x="563199" y="142494"/>
                  </a:lnTo>
                  <a:close/>
                </a:path>
              </a:pathLst>
            </a:custGeom>
            <a:solidFill>
              <a:srgbClr val="03522C"/>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33" name="object 33"/>
            <p:cNvSpPr/>
            <p:nvPr/>
          </p:nvSpPr>
          <p:spPr>
            <a:xfrm>
              <a:off x="5768340" y="2409443"/>
              <a:ext cx="553720" cy="306705"/>
            </a:xfrm>
            <a:custGeom>
              <a:avLst/>
              <a:gdLst/>
              <a:ahLst/>
              <a:cxnLst/>
              <a:rect l="l" t="t" r="r" b="b"/>
              <a:pathLst>
                <a:path w="553720" h="306705">
                  <a:moveTo>
                    <a:pt x="108712" y="186054"/>
                  </a:moveTo>
                  <a:lnTo>
                    <a:pt x="97282" y="199262"/>
                  </a:lnTo>
                  <a:lnTo>
                    <a:pt x="96900" y="199262"/>
                  </a:lnTo>
                  <a:lnTo>
                    <a:pt x="14224" y="291845"/>
                  </a:lnTo>
                  <a:lnTo>
                    <a:pt x="4699" y="302640"/>
                  </a:lnTo>
                  <a:lnTo>
                    <a:pt x="3429" y="304291"/>
                  </a:lnTo>
                  <a:lnTo>
                    <a:pt x="1650" y="305688"/>
                  </a:lnTo>
                  <a:lnTo>
                    <a:pt x="0" y="306323"/>
                  </a:lnTo>
                  <a:lnTo>
                    <a:pt x="553212" y="306323"/>
                  </a:lnTo>
                  <a:lnTo>
                    <a:pt x="553212" y="217550"/>
                  </a:lnTo>
                  <a:lnTo>
                    <a:pt x="177546" y="217550"/>
                  </a:lnTo>
                  <a:lnTo>
                    <a:pt x="174117" y="216788"/>
                  </a:lnTo>
                  <a:lnTo>
                    <a:pt x="171450" y="215518"/>
                  </a:lnTo>
                  <a:lnTo>
                    <a:pt x="170687" y="215518"/>
                  </a:lnTo>
                  <a:lnTo>
                    <a:pt x="108712" y="186054"/>
                  </a:lnTo>
                  <a:close/>
                </a:path>
                <a:path w="553720" h="306705">
                  <a:moveTo>
                    <a:pt x="307213" y="94868"/>
                  </a:moveTo>
                  <a:lnTo>
                    <a:pt x="290322" y="113156"/>
                  </a:lnTo>
                  <a:lnTo>
                    <a:pt x="206629" y="200278"/>
                  </a:lnTo>
                  <a:lnTo>
                    <a:pt x="193039" y="214756"/>
                  </a:lnTo>
                  <a:lnTo>
                    <a:pt x="186944" y="217550"/>
                  </a:lnTo>
                  <a:lnTo>
                    <a:pt x="553212" y="217550"/>
                  </a:lnTo>
                  <a:lnTo>
                    <a:pt x="553212" y="149605"/>
                  </a:lnTo>
                  <a:lnTo>
                    <a:pt x="392302" y="149605"/>
                  </a:lnTo>
                  <a:lnTo>
                    <a:pt x="388620" y="148589"/>
                  </a:lnTo>
                  <a:lnTo>
                    <a:pt x="385572" y="146557"/>
                  </a:lnTo>
                  <a:lnTo>
                    <a:pt x="385190" y="146557"/>
                  </a:lnTo>
                  <a:lnTo>
                    <a:pt x="384810" y="146176"/>
                  </a:lnTo>
                  <a:lnTo>
                    <a:pt x="379095" y="142239"/>
                  </a:lnTo>
                  <a:lnTo>
                    <a:pt x="368554" y="136143"/>
                  </a:lnTo>
                  <a:lnTo>
                    <a:pt x="367538" y="135762"/>
                  </a:lnTo>
                  <a:lnTo>
                    <a:pt x="366902" y="135127"/>
                  </a:lnTo>
                  <a:lnTo>
                    <a:pt x="365887" y="134365"/>
                  </a:lnTo>
                  <a:lnTo>
                    <a:pt x="307213" y="94868"/>
                  </a:lnTo>
                  <a:close/>
                </a:path>
                <a:path w="553720" h="306705">
                  <a:moveTo>
                    <a:pt x="487807" y="55752"/>
                  </a:moveTo>
                  <a:lnTo>
                    <a:pt x="480060" y="63880"/>
                  </a:lnTo>
                  <a:lnTo>
                    <a:pt x="411225" y="142875"/>
                  </a:lnTo>
                  <a:lnTo>
                    <a:pt x="407543" y="147192"/>
                  </a:lnTo>
                  <a:lnTo>
                    <a:pt x="402082" y="149605"/>
                  </a:lnTo>
                  <a:lnTo>
                    <a:pt x="553212" y="149605"/>
                  </a:lnTo>
                  <a:lnTo>
                    <a:pt x="553212" y="73659"/>
                  </a:lnTo>
                  <a:lnTo>
                    <a:pt x="512572" y="73659"/>
                  </a:lnTo>
                  <a:lnTo>
                    <a:pt x="507873" y="71881"/>
                  </a:lnTo>
                  <a:lnTo>
                    <a:pt x="487807" y="55752"/>
                  </a:lnTo>
                  <a:close/>
                </a:path>
                <a:path w="553720" h="306705">
                  <a:moveTo>
                    <a:pt x="553212" y="0"/>
                  </a:moveTo>
                  <a:lnTo>
                    <a:pt x="536321" y="59054"/>
                  </a:lnTo>
                  <a:lnTo>
                    <a:pt x="533526" y="67944"/>
                  </a:lnTo>
                  <a:lnTo>
                    <a:pt x="526161" y="73659"/>
                  </a:lnTo>
                  <a:lnTo>
                    <a:pt x="553212" y="73659"/>
                  </a:lnTo>
                  <a:lnTo>
                    <a:pt x="553212" y="0"/>
                  </a:lnTo>
                  <a:close/>
                </a:path>
              </a:pathLst>
            </a:custGeom>
            <a:solidFill>
              <a:srgbClr val="29B974"/>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pic>
          <p:nvPicPr>
            <p:cNvPr id="34" name="object 34"/>
            <p:cNvPicPr/>
            <p:nvPr/>
          </p:nvPicPr>
          <p:blipFill>
            <a:blip r:embed="rId4" cstate="print"/>
            <a:stretch>
              <a:fillRect/>
            </a:stretch>
          </p:blipFill>
          <p:spPr>
            <a:xfrm>
              <a:off x="7133844" y="2049779"/>
              <a:ext cx="952500" cy="952500"/>
            </a:xfrm>
            <a:prstGeom prst="rect">
              <a:avLst/>
            </a:prstGeom>
          </p:spPr>
        </p:pic>
        <p:sp>
          <p:nvSpPr>
            <p:cNvPr id="35" name="object 35"/>
            <p:cNvSpPr/>
            <p:nvPr/>
          </p:nvSpPr>
          <p:spPr>
            <a:xfrm>
              <a:off x="7325867" y="2394203"/>
              <a:ext cx="567055" cy="368935"/>
            </a:xfrm>
            <a:custGeom>
              <a:avLst/>
              <a:gdLst/>
              <a:ahLst/>
              <a:cxnLst/>
              <a:rect l="l" t="t" r="r" b="b"/>
              <a:pathLst>
                <a:path w="567054" h="368935">
                  <a:moveTo>
                    <a:pt x="566927" y="137413"/>
                  </a:moveTo>
                  <a:lnTo>
                    <a:pt x="0" y="137413"/>
                  </a:lnTo>
                  <a:lnTo>
                    <a:pt x="0" y="362838"/>
                  </a:lnTo>
                  <a:lnTo>
                    <a:pt x="6223" y="368808"/>
                  </a:lnTo>
                  <a:lnTo>
                    <a:pt x="560704" y="368808"/>
                  </a:lnTo>
                  <a:lnTo>
                    <a:pt x="566927" y="362838"/>
                  </a:lnTo>
                  <a:lnTo>
                    <a:pt x="566927" y="322580"/>
                  </a:lnTo>
                  <a:lnTo>
                    <a:pt x="107060" y="322580"/>
                  </a:lnTo>
                  <a:lnTo>
                    <a:pt x="104266" y="319405"/>
                  </a:lnTo>
                  <a:lnTo>
                    <a:pt x="104266" y="273176"/>
                  </a:lnTo>
                  <a:lnTo>
                    <a:pt x="107060" y="270001"/>
                  </a:lnTo>
                  <a:lnTo>
                    <a:pt x="566927" y="270001"/>
                  </a:lnTo>
                  <a:lnTo>
                    <a:pt x="566927" y="137413"/>
                  </a:lnTo>
                  <a:close/>
                </a:path>
                <a:path w="567054" h="368935">
                  <a:moveTo>
                    <a:pt x="566927" y="270001"/>
                  </a:moveTo>
                  <a:lnTo>
                    <a:pt x="459866" y="270001"/>
                  </a:lnTo>
                  <a:lnTo>
                    <a:pt x="462660" y="273176"/>
                  </a:lnTo>
                  <a:lnTo>
                    <a:pt x="462660" y="319405"/>
                  </a:lnTo>
                  <a:lnTo>
                    <a:pt x="459866" y="322580"/>
                  </a:lnTo>
                  <a:lnTo>
                    <a:pt x="566927" y="322580"/>
                  </a:lnTo>
                  <a:lnTo>
                    <a:pt x="566927" y="270001"/>
                  </a:lnTo>
                  <a:close/>
                </a:path>
                <a:path w="567054" h="368935">
                  <a:moveTo>
                    <a:pt x="121411" y="0"/>
                  </a:moveTo>
                  <a:lnTo>
                    <a:pt x="6223" y="0"/>
                  </a:lnTo>
                  <a:lnTo>
                    <a:pt x="0" y="6223"/>
                  </a:lnTo>
                  <a:lnTo>
                    <a:pt x="0" y="124968"/>
                  </a:lnTo>
                  <a:lnTo>
                    <a:pt x="566927" y="124968"/>
                  </a:lnTo>
                  <a:lnTo>
                    <a:pt x="566927" y="87249"/>
                  </a:lnTo>
                  <a:lnTo>
                    <a:pt x="148716" y="87249"/>
                  </a:lnTo>
                  <a:lnTo>
                    <a:pt x="138181" y="85070"/>
                  </a:lnTo>
                  <a:lnTo>
                    <a:pt x="129492" y="79152"/>
                  </a:lnTo>
                  <a:lnTo>
                    <a:pt x="123588" y="70425"/>
                  </a:lnTo>
                  <a:lnTo>
                    <a:pt x="121411" y="59817"/>
                  </a:lnTo>
                  <a:lnTo>
                    <a:pt x="121411" y="0"/>
                  </a:lnTo>
                  <a:close/>
                </a:path>
                <a:path w="567054" h="368935">
                  <a:moveTo>
                    <a:pt x="390905" y="0"/>
                  </a:moveTo>
                  <a:lnTo>
                    <a:pt x="176022" y="0"/>
                  </a:lnTo>
                  <a:lnTo>
                    <a:pt x="175898" y="59817"/>
                  </a:lnTo>
                  <a:lnTo>
                    <a:pt x="173908" y="70014"/>
                  </a:lnTo>
                  <a:lnTo>
                    <a:pt x="168163" y="78882"/>
                  </a:lnTo>
                  <a:lnTo>
                    <a:pt x="159680" y="84917"/>
                  </a:lnTo>
                  <a:lnTo>
                    <a:pt x="149351" y="87249"/>
                  </a:lnTo>
                  <a:lnTo>
                    <a:pt x="417575" y="87249"/>
                  </a:lnTo>
                  <a:lnTo>
                    <a:pt x="407247" y="84917"/>
                  </a:lnTo>
                  <a:lnTo>
                    <a:pt x="398764" y="78882"/>
                  </a:lnTo>
                  <a:lnTo>
                    <a:pt x="393019" y="70014"/>
                  </a:lnTo>
                  <a:lnTo>
                    <a:pt x="391029" y="59817"/>
                  </a:lnTo>
                  <a:lnTo>
                    <a:pt x="390905" y="0"/>
                  </a:lnTo>
                  <a:close/>
                </a:path>
                <a:path w="567054" h="368935">
                  <a:moveTo>
                    <a:pt x="560704" y="0"/>
                  </a:moveTo>
                  <a:lnTo>
                    <a:pt x="445515" y="0"/>
                  </a:lnTo>
                  <a:lnTo>
                    <a:pt x="445515" y="59817"/>
                  </a:lnTo>
                  <a:lnTo>
                    <a:pt x="443339" y="70425"/>
                  </a:lnTo>
                  <a:lnTo>
                    <a:pt x="437435" y="79152"/>
                  </a:lnTo>
                  <a:lnTo>
                    <a:pt x="428746" y="85070"/>
                  </a:lnTo>
                  <a:lnTo>
                    <a:pt x="418210" y="87249"/>
                  </a:lnTo>
                  <a:lnTo>
                    <a:pt x="566927" y="87249"/>
                  </a:lnTo>
                  <a:lnTo>
                    <a:pt x="566927" y="6223"/>
                  </a:lnTo>
                  <a:lnTo>
                    <a:pt x="560704" y="0"/>
                  </a:lnTo>
                  <a:close/>
                </a:path>
              </a:pathLst>
            </a:custGeom>
            <a:solidFill>
              <a:srgbClr val="4F81BC"/>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36" name="object 36"/>
            <p:cNvSpPr/>
            <p:nvPr/>
          </p:nvSpPr>
          <p:spPr>
            <a:xfrm>
              <a:off x="7461503" y="2275331"/>
              <a:ext cx="295910" cy="192405"/>
            </a:xfrm>
            <a:custGeom>
              <a:avLst/>
              <a:gdLst/>
              <a:ahLst/>
              <a:cxnLst/>
              <a:rect l="l" t="t" r="r" b="b"/>
              <a:pathLst>
                <a:path w="295909" h="192405">
                  <a:moveTo>
                    <a:pt x="230377" y="0"/>
                  </a:moveTo>
                  <a:lnTo>
                    <a:pt x="65277" y="0"/>
                  </a:lnTo>
                  <a:lnTo>
                    <a:pt x="39915" y="5189"/>
                  </a:lnTo>
                  <a:lnTo>
                    <a:pt x="19161" y="19319"/>
                  </a:lnTo>
                  <a:lnTo>
                    <a:pt x="5145" y="40237"/>
                  </a:lnTo>
                  <a:lnTo>
                    <a:pt x="0" y="65785"/>
                  </a:lnTo>
                  <a:lnTo>
                    <a:pt x="0" y="185800"/>
                  </a:lnTo>
                  <a:lnTo>
                    <a:pt x="6223" y="192023"/>
                  </a:lnTo>
                  <a:lnTo>
                    <a:pt x="13970" y="192023"/>
                  </a:lnTo>
                  <a:lnTo>
                    <a:pt x="21336" y="191769"/>
                  </a:lnTo>
                  <a:lnTo>
                    <a:pt x="27177" y="185165"/>
                  </a:lnTo>
                  <a:lnTo>
                    <a:pt x="27177" y="65785"/>
                  </a:lnTo>
                  <a:lnTo>
                    <a:pt x="30166" y="50845"/>
                  </a:lnTo>
                  <a:lnTo>
                    <a:pt x="38322" y="38655"/>
                  </a:lnTo>
                  <a:lnTo>
                    <a:pt x="50430" y="30442"/>
                  </a:lnTo>
                  <a:lnTo>
                    <a:pt x="65277" y="27431"/>
                  </a:lnTo>
                  <a:lnTo>
                    <a:pt x="281930" y="27431"/>
                  </a:lnTo>
                  <a:lnTo>
                    <a:pt x="276494" y="19319"/>
                  </a:lnTo>
                  <a:lnTo>
                    <a:pt x="255740" y="5189"/>
                  </a:lnTo>
                  <a:lnTo>
                    <a:pt x="230377" y="0"/>
                  </a:lnTo>
                  <a:close/>
                </a:path>
                <a:path w="295909" h="192405">
                  <a:moveTo>
                    <a:pt x="281930" y="27431"/>
                  </a:moveTo>
                  <a:lnTo>
                    <a:pt x="230377" y="27431"/>
                  </a:lnTo>
                  <a:lnTo>
                    <a:pt x="245225" y="30442"/>
                  </a:lnTo>
                  <a:lnTo>
                    <a:pt x="257333" y="38655"/>
                  </a:lnTo>
                  <a:lnTo>
                    <a:pt x="265489" y="50845"/>
                  </a:lnTo>
                  <a:lnTo>
                    <a:pt x="268477" y="65785"/>
                  </a:lnTo>
                  <a:lnTo>
                    <a:pt x="268477" y="185165"/>
                  </a:lnTo>
                  <a:lnTo>
                    <a:pt x="274320" y="191769"/>
                  </a:lnTo>
                  <a:lnTo>
                    <a:pt x="281686" y="192023"/>
                  </a:lnTo>
                  <a:lnTo>
                    <a:pt x="289432" y="192023"/>
                  </a:lnTo>
                  <a:lnTo>
                    <a:pt x="295655" y="185800"/>
                  </a:lnTo>
                  <a:lnTo>
                    <a:pt x="295655" y="65785"/>
                  </a:lnTo>
                  <a:lnTo>
                    <a:pt x="290510" y="40237"/>
                  </a:lnTo>
                  <a:lnTo>
                    <a:pt x="281930" y="27431"/>
                  </a:lnTo>
                  <a:close/>
                </a:path>
              </a:pathLst>
            </a:custGeom>
            <a:solidFill>
              <a:srgbClr val="1F487C"/>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pic>
          <p:nvPicPr>
            <p:cNvPr id="37" name="object 37"/>
            <p:cNvPicPr/>
            <p:nvPr/>
          </p:nvPicPr>
          <p:blipFill>
            <a:blip r:embed="rId4" cstate="print"/>
            <a:stretch>
              <a:fillRect/>
            </a:stretch>
          </p:blipFill>
          <p:spPr>
            <a:xfrm>
              <a:off x="8702039" y="2049779"/>
              <a:ext cx="952500" cy="952500"/>
            </a:xfrm>
            <a:prstGeom prst="rect">
              <a:avLst/>
            </a:prstGeom>
          </p:spPr>
        </p:pic>
        <p:sp>
          <p:nvSpPr>
            <p:cNvPr id="38" name="object 38"/>
            <p:cNvSpPr/>
            <p:nvPr/>
          </p:nvSpPr>
          <p:spPr>
            <a:xfrm>
              <a:off x="8894068" y="2266187"/>
              <a:ext cx="567055" cy="518159"/>
            </a:xfrm>
            <a:custGeom>
              <a:avLst/>
              <a:gdLst/>
              <a:ahLst/>
              <a:cxnLst/>
              <a:rect l="l" t="t" r="r" b="b"/>
              <a:pathLst>
                <a:path w="567054" h="518160">
                  <a:moveTo>
                    <a:pt x="438146" y="227711"/>
                  </a:moveTo>
                  <a:lnTo>
                    <a:pt x="430145" y="227711"/>
                  </a:lnTo>
                  <a:lnTo>
                    <a:pt x="427224" y="230759"/>
                  </a:lnTo>
                  <a:lnTo>
                    <a:pt x="427224" y="515112"/>
                  </a:lnTo>
                  <a:lnTo>
                    <a:pt x="430145" y="518160"/>
                  </a:lnTo>
                  <a:lnTo>
                    <a:pt x="438146" y="518160"/>
                  </a:lnTo>
                  <a:lnTo>
                    <a:pt x="441702" y="515112"/>
                  </a:lnTo>
                  <a:lnTo>
                    <a:pt x="441702" y="230759"/>
                  </a:lnTo>
                  <a:lnTo>
                    <a:pt x="438146" y="227711"/>
                  </a:lnTo>
                  <a:close/>
                </a:path>
                <a:path w="567054" h="518160">
                  <a:moveTo>
                    <a:pt x="362835" y="227711"/>
                  </a:moveTo>
                  <a:lnTo>
                    <a:pt x="355850" y="227711"/>
                  </a:lnTo>
                  <a:lnTo>
                    <a:pt x="352802" y="230759"/>
                  </a:lnTo>
                  <a:lnTo>
                    <a:pt x="352802" y="515112"/>
                  </a:lnTo>
                  <a:lnTo>
                    <a:pt x="355850" y="518160"/>
                  </a:lnTo>
                  <a:lnTo>
                    <a:pt x="362835" y="518160"/>
                  </a:lnTo>
                  <a:lnTo>
                    <a:pt x="365883" y="515112"/>
                  </a:lnTo>
                  <a:lnTo>
                    <a:pt x="365883" y="230759"/>
                  </a:lnTo>
                  <a:lnTo>
                    <a:pt x="362835" y="227711"/>
                  </a:lnTo>
                  <a:close/>
                </a:path>
                <a:path w="567054" h="518160">
                  <a:moveTo>
                    <a:pt x="287905" y="227711"/>
                  </a:moveTo>
                  <a:lnTo>
                    <a:pt x="280412" y="227711"/>
                  </a:lnTo>
                  <a:lnTo>
                    <a:pt x="277618" y="230759"/>
                  </a:lnTo>
                  <a:lnTo>
                    <a:pt x="277618" y="515112"/>
                  </a:lnTo>
                  <a:lnTo>
                    <a:pt x="280412" y="518160"/>
                  </a:lnTo>
                  <a:lnTo>
                    <a:pt x="287905" y="518160"/>
                  </a:lnTo>
                  <a:lnTo>
                    <a:pt x="290699" y="515112"/>
                  </a:lnTo>
                  <a:lnTo>
                    <a:pt x="290699" y="230759"/>
                  </a:lnTo>
                  <a:lnTo>
                    <a:pt x="287905" y="227711"/>
                  </a:lnTo>
                  <a:close/>
                </a:path>
                <a:path w="567054" h="518160">
                  <a:moveTo>
                    <a:pt x="213864" y="227711"/>
                  </a:moveTo>
                  <a:lnTo>
                    <a:pt x="206625" y="227711"/>
                  </a:lnTo>
                  <a:lnTo>
                    <a:pt x="203831" y="230759"/>
                  </a:lnTo>
                  <a:lnTo>
                    <a:pt x="203831" y="515112"/>
                  </a:lnTo>
                  <a:lnTo>
                    <a:pt x="206625" y="518160"/>
                  </a:lnTo>
                  <a:lnTo>
                    <a:pt x="213864" y="518160"/>
                  </a:lnTo>
                  <a:lnTo>
                    <a:pt x="216912" y="515112"/>
                  </a:lnTo>
                  <a:lnTo>
                    <a:pt x="216912" y="230759"/>
                  </a:lnTo>
                  <a:lnTo>
                    <a:pt x="213864" y="227711"/>
                  </a:lnTo>
                  <a:close/>
                </a:path>
                <a:path w="567054" h="518160">
                  <a:moveTo>
                    <a:pt x="138934" y="227711"/>
                  </a:moveTo>
                  <a:lnTo>
                    <a:pt x="131822" y="227711"/>
                  </a:lnTo>
                  <a:lnTo>
                    <a:pt x="128647" y="230759"/>
                  </a:lnTo>
                  <a:lnTo>
                    <a:pt x="128647" y="515112"/>
                  </a:lnTo>
                  <a:lnTo>
                    <a:pt x="131822" y="518160"/>
                  </a:lnTo>
                  <a:lnTo>
                    <a:pt x="138934" y="518160"/>
                  </a:lnTo>
                  <a:lnTo>
                    <a:pt x="141728" y="515112"/>
                  </a:lnTo>
                  <a:lnTo>
                    <a:pt x="141728" y="230759"/>
                  </a:lnTo>
                  <a:lnTo>
                    <a:pt x="138934" y="227711"/>
                  </a:lnTo>
                  <a:close/>
                </a:path>
                <a:path w="567054" h="518160">
                  <a:moveTo>
                    <a:pt x="48256" y="190373"/>
                  </a:moveTo>
                  <a:lnTo>
                    <a:pt x="44827" y="192912"/>
                  </a:lnTo>
                  <a:lnTo>
                    <a:pt x="44192" y="196341"/>
                  </a:lnTo>
                  <a:lnTo>
                    <a:pt x="43684" y="200025"/>
                  </a:lnTo>
                  <a:lnTo>
                    <a:pt x="46478" y="203453"/>
                  </a:lnTo>
                  <a:lnTo>
                    <a:pt x="49780" y="204088"/>
                  </a:lnTo>
                  <a:lnTo>
                    <a:pt x="56638" y="204977"/>
                  </a:lnTo>
                  <a:lnTo>
                    <a:pt x="64131" y="205612"/>
                  </a:lnTo>
                  <a:lnTo>
                    <a:pt x="503424" y="205612"/>
                  </a:lnTo>
                  <a:lnTo>
                    <a:pt x="510917" y="204977"/>
                  </a:lnTo>
                  <a:lnTo>
                    <a:pt x="517394" y="204088"/>
                  </a:lnTo>
                  <a:lnTo>
                    <a:pt x="520823" y="203453"/>
                  </a:lnTo>
                  <a:lnTo>
                    <a:pt x="523617" y="200025"/>
                  </a:lnTo>
                  <a:lnTo>
                    <a:pt x="522982" y="196341"/>
                  </a:lnTo>
                  <a:lnTo>
                    <a:pt x="522347" y="192912"/>
                  </a:lnTo>
                  <a:lnTo>
                    <a:pt x="521832" y="192532"/>
                  </a:lnTo>
                  <a:lnTo>
                    <a:pt x="145284" y="192532"/>
                  </a:lnTo>
                  <a:lnTo>
                    <a:pt x="146092" y="191633"/>
                  </a:lnTo>
                  <a:lnTo>
                    <a:pt x="87102" y="191633"/>
                  </a:lnTo>
                  <a:lnTo>
                    <a:pt x="51685" y="191008"/>
                  </a:lnTo>
                  <a:lnTo>
                    <a:pt x="48256" y="190373"/>
                  </a:lnTo>
                  <a:close/>
                </a:path>
                <a:path w="567054" h="518160">
                  <a:moveTo>
                    <a:pt x="523325" y="13081"/>
                  </a:moveTo>
                  <a:lnTo>
                    <a:pt x="420747" y="13081"/>
                  </a:lnTo>
                  <a:lnTo>
                    <a:pt x="402494" y="34833"/>
                  </a:lnTo>
                  <a:lnTo>
                    <a:pt x="399411" y="38608"/>
                  </a:lnTo>
                  <a:lnTo>
                    <a:pt x="396601" y="42308"/>
                  </a:lnTo>
                  <a:lnTo>
                    <a:pt x="393442" y="45974"/>
                  </a:lnTo>
                  <a:lnTo>
                    <a:pt x="383919" y="64355"/>
                  </a:lnTo>
                  <a:lnTo>
                    <a:pt x="378122" y="83772"/>
                  </a:lnTo>
                  <a:lnTo>
                    <a:pt x="376283" y="102997"/>
                  </a:lnTo>
                  <a:lnTo>
                    <a:pt x="376247" y="104159"/>
                  </a:lnTo>
                  <a:lnTo>
                    <a:pt x="378329" y="123951"/>
                  </a:lnTo>
                  <a:lnTo>
                    <a:pt x="393366" y="159760"/>
                  </a:lnTo>
                  <a:lnTo>
                    <a:pt x="421636" y="192532"/>
                  </a:lnTo>
                  <a:lnTo>
                    <a:pt x="521832" y="192532"/>
                  </a:lnTo>
                  <a:lnTo>
                    <a:pt x="520619" y="191633"/>
                  </a:lnTo>
                  <a:lnTo>
                    <a:pt x="480071" y="191633"/>
                  </a:lnTo>
                  <a:lnTo>
                    <a:pt x="442654" y="182197"/>
                  </a:lnTo>
                  <a:lnTo>
                    <a:pt x="410761" y="159736"/>
                  </a:lnTo>
                  <a:lnTo>
                    <a:pt x="391918" y="121285"/>
                  </a:lnTo>
                  <a:lnTo>
                    <a:pt x="389970" y="104159"/>
                  </a:lnTo>
                  <a:lnTo>
                    <a:pt x="389939" y="102997"/>
                  </a:lnTo>
                  <a:lnTo>
                    <a:pt x="391537" y="85851"/>
                  </a:lnTo>
                  <a:lnTo>
                    <a:pt x="417036" y="39036"/>
                  </a:lnTo>
                  <a:lnTo>
                    <a:pt x="465578" y="14604"/>
                  </a:lnTo>
                  <a:lnTo>
                    <a:pt x="525928" y="14604"/>
                  </a:lnTo>
                  <a:lnTo>
                    <a:pt x="523325" y="13081"/>
                  </a:lnTo>
                  <a:close/>
                </a:path>
                <a:path w="567054" h="518160">
                  <a:moveTo>
                    <a:pt x="147451" y="14604"/>
                  </a:moveTo>
                  <a:lnTo>
                    <a:pt x="101723" y="14604"/>
                  </a:lnTo>
                  <a:lnTo>
                    <a:pt x="119772" y="19653"/>
                  </a:lnTo>
                  <a:lnTo>
                    <a:pt x="136013" y="27844"/>
                  </a:lnTo>
                  <a:lnTo>
                    <a:pt x="170541" y="68885"/>
                  </a:lnTo>
                  <a:lnTo>
                    <a:pt x="177306" y="102997"/>
                  </a:lnTo>
                  <a:lnTo>
                    <a:pt x="177272" y="104159"/>
                  </a:lnTo>
                  <a:lnTo>
                    <a:pt x="175256" y="121285"/>
                  </a:lnTo>
                  <a:lnTo>
                    <a:pt x="156412" y="159736"/>
                  </a:lnTo>
                  <a:lnTo>
                    <a:pt x="124519" y="182197"/>
                  </a:lnTo>
                  <a:lnTo>
                    <a:pt x="87102" y="191633"/>
                  </a:lnTo>
                  <a:lnTo>
                    <a:pt x="146092" y="191633"/>
                  </a:lnTo>
                  <a:lnTo>
                    <a:pt x="173567" y="159736"/>
                  </a:lnTo>
                  <a:lnTo>
                    <a:pt x="188591" y="123951"/>
                  </a:lnTo>
                  <a:lnTo>
                    <a:pt x="190672" y="104159"/>
                  </a:lnTo>
                  <a:lnTo>
                    <a:pt x="190636" y="102997"/>
                  </a:lnTo>
                  <a:lnTo>
                    <a:pt x="188797" y="83772"/>
                  </a:lnTo>
                  <a:lnTo>
                    <a:pt x="183001" y="64355"/>
                  </a:lnTo>
                  <a:lnTo>
                    <a:pt x="173478" y="45974"/>
                  </a:lnTo>
                  <a:lnTo>
                    <a:pt x="170303" y="42290"/>
                  </a:lnTo>
                  <a:lnTo>
                    <a:pt x="167509" y="38608"/>
                  </a:lnTo>
                  <a:lnTo>
                    <a:pt x="164715" y="35178"/>
                  </a:lnTo>
                  <a:lnTo>
                    <a:pt x="147451" y="14604"/>
                  </a:lnTo>
                  <a:close/>
                </a:path>
                <a:path w="567054" h="518160">
                  <a:moveTo>
                    <a:pt x="518918" y="190373"/>
                  </a:moveTo>
                  <a:lnTo>
                    <a:pt x="515489" y="191008"/>
                  </a:lnTo>
                  <a:lnTo>
                    <a:pt x="480071" y="191633"/>
                  </a:lnTo>
                  <a:lnTo>
                    <a:pt x="520619" y="191633"/>
                  </a:lnTo>
                  <a:lnTo>
                    <a:pt x="518918" y="190373"/>
                  </a:lnTo>
                  <a:close/>
                </a:path>
                <a:path w="567054" h="518160">
                  <a:moveTo>
                    <a:pt x="482596" y="0"/>
                  </a:moveTo>
                  <a:lnTo>
                    <a:pt x="83308" y="0"/>
                  </a:lnTo>
                  <a:lnTo>
                    <a:pt x="55149" y="6228"/>
                  </a:lnTo>
                  <a:lnTo>
                    <a:pt x="30730" y="20780"/>
                  </a:lnTo>
                  <a:lnTo>
                    <a:pt x="12120" y="42308"/>
                  </a:lnTo>
                  <a:lnTo>
                    <a:pt x="1393" y="69469"/>
                  </a:lnTo>
                  <a:lnTo>
                    <a:pt x="0" y="83190"/>
                  </a:lnTo>
                  <a:lnTo>
                    <a:pt x="1297" y="96662"/>
                  </a:lnTo>
                  <a:lnTo>
                    <a:pt x="20589" y="131947"/>
                  </a:lnTo>
                  <a:lnTo>
                    <a:pt x="57273" y="151002"/>
                  </a:lnTo>
                  <a:lnTo>
                    <a:pt x="80418" y="150564"/>
                  </a:lnTo>
                  <a:lnTo>
                    <a:pt x="100992" y="141874"/>
                  </a:lnTo>
                  <a:lnTo>
                    <a:pt x="105317" y="137667"/>
                  </a:lnTo>
                  <a:lnTo>
                    <a:pt x="59813" y="137667"/>
                  </a:lnTo>
                  <a:lnTo>
                    <a:pt x="48787" y="134433"/>
                  </a:lnTo>
                  <a:lnTo>
                    <a:pt x="17617" y="104159"/>
                  </a:lnTo>
                  <a:lnTo>
                    <a:pt x="13428" y="83190"/>
                  </a:lnTo>
                  <a:lnTo>
                    <a:pt x="14474" y="72262"/>
                  </a:lnTo>
                  <a:lnTo>
                    <a:pt x="26052" y="45644"/>
                  </a:lnTo>
                  <a:lnTo>
                    <a:pt x="46335" y="26003"/>
                  </a:lnTo>
                  <a:lnTo>
                    <a:pt x="72499" y="15077"/>
                  </a:lnTo>
                  <a:lnTo>
                    <a:pt x="101723" y="14604"/>
                  </a:lnTo>
                  <a:lnTo>
                    <a:pt x="147451" y="14604"/>
                  </a:lnTo>
                  <a:lnTo>
                    <a:pt x="146173" y="13081"/>
                  </a:lnTo>
                  <a:lnTo>
                    <a:pt x="523325" y="13081"/>
                  </a:lnTo>
                  <a:lnTo>
                    <a:pt x="511073" y="5907"/>
                  </a:lnTo>
                  <a:lnTo>
                    <a:pt x="482596" y="0"/>
                  </a:lnTo>
                  <a:close/>
                </a:path>
                <a:path w="567054" h="518160">
                  <a:moveTo>
                    <a:pt x="482596" y="49911"/>
                  </a:moveTo>
                  <a:lnTo>
                    <a:pt x="448433" y="70358"/>
                  </a:lnTo>
                  <a:lnTo>
                    <a:pt x="440363" y="96317"/>
                  </a:lnTo>
                  <a:lnTo>
                    <a:pt x="441321" y="105790"/>
                  </a:lnTo>
                  <a:lnTo>
                    <a:pt x="450322" y="126446"/>
                  </a:lnTo>
                  <a:lnTo>
                    <a:pt x="466181" y="141874"/>
                  </a:lnTo>
                  <a:lnTo>
                    <a:pt x="486755" y="150564"/>
                  </a:lnTo>
                  <a:lnTo>
                    <a:pt x="509901" y="151002"/>
                  </a:lnTo>
                  <a:lnTo>
                    <a:pt x="523539" y="146984"/>
                  </a:lnTo>
                  <a:lnTo>
                    <a:pt x="535856" y="140573"/>
                  </a:lnTo>
                  <a:lnTo>
                    <a:pt x="539451" y="137667"/>
                  </a:lnTo>
                  <a:lnTo>
                    <a:pt x="507488" y="137667"/>
                  </a:lnTo>
                  <a:lnTo>
                    <a:pt x="489656" y="137376"/>
                  </a:lnTo>
                  <a:lnTo>
                    <a:pt x="473706" y="130762"/>
                  </a:lnTo>
                  <a:lnTo>
                    <a:pt x="461375" y="118933"/>
                  </a:lnTo>
                  <a:lnTo>
                    <a:pt x="454402" y="102997"/>
                  </a:lnTo>
                  <a:lnTo>
                    <a:pt x="453675" y="96317"/>
                  </a:lnTo>
                  <a:lnTo>
                    <a:pt x="454306" y="89852"/>
                  </a:lnTo>
                  <a:lnTo>
                    <a:pt x="485136" y="62991"/>
                  </a:lnTo>
                  <a:lnTo>
                    <a:pt x="487549" y="59182"/>
                  </a:lnTo>
                  <a:lnTo>
                    <a:pt x="486914" y="55879"/>
                  </a:lnTo>
                  <a:lnTo>
                    <a:pt x="486025" y="52070"/>
                  </a:lnTo>
                  <a:lnTo>
                    <a:pt x="482596" y="49911"/>
                  </a:lnTo>
                  <a:close/>
                </a:path>
                <a:path w="567054" h="518160">
                  <a:moveTo>
                    <a:pt x="84578" y="49911"/>
                  </a:moveTo>
                  <a:lnTo>
                    <a:pt x="81149" y="52070"/>
                  </a:lnTo>
                  <a:lnTo>
                    <a:pt x="80260" y="55879"/>
                  </a:lnTo>
                  <a:lnTo>
                    <a:pt x="79625" y="59182"/>
                  </a:lnTo>
                  <a:lnTo>
                    <a:pt x="82165" y="62991"/>
                  </a:lnTo>
                  <a:lnTo>
                    <a:pt x="85848" y="63626"/>
                  </a:lnTo>
                  <a:lnTo>
                    <a:pt x="92354" y="65545"/>
                  </a:lnTo>
                  <a:lnTo>
                    <a:pt x="113571" y="96317"/>
                  </a:lnTo>
                  <a:lnTo>
                    <a:pt x="112899" y="102997"/>
                  </a:lnTo>
                  <a:lnTo>
                    <a:pt x="105908" y="118933"/>
                  </a:lnTo>
                  <a:lnTo>
                    <a:pt x="93547" y="130762"/>
                  </a:lnTo>
                  <a:lnTo>
                    <a:pt x="77591" y="137376"/>
                  </a:lnTo>
                  <a:lnTo>
                    <a:pt x="59813" y="137667"/>
                  </a:lnTo>
                  <a:lnTo>
                    <a:pt x="105317" y="137667"/>
                  </a:lnTo>
                  <a:lnTo>
                    <a:pt x="116851" y="126446"/>
                  </a:lnTo>
                  <a:lnTo>
                    <a:pt x="125853" y="105790"/>
                  </a:lnTo>
                  <a:lnTo>
                    <a:pt x="126810" y="96317"/>
                  </a:lnTo>
                  <a:lnTo>
                    <a:pt x="125916" y="87169"/>
                  </a:lnTo>
                  <a:lnTo>
                    <a:pt x="97524" y="53070"/>
                  </a:lnTo>
                  <a:lnTo>
                    <a:pt x="88388" y="50546"/>
                  </a:lnTo>
                  <a:lnTo>
                    <a:pt x="84578" y="49911"/>
                  </a:lnTo>
                  <a:close/>
                </a:path>
                <a:path w="567054" h="518160">
                  <a:moveTo>
                    <a:pt x="525928" y="14604"/>
                  </a:moveTo>
                  <a:lnTo>
                    <a:pt x="465578" y="14604"/>
                  </a:lnTo>
                  <a:lnTo>
                    <a:pt x="494795" y="15077"/>
                  </a:lnTo>
                  <a:lnTo>
                    <a:pt x="520918" y="26003"/>
                  </a:lnTo>
                  <a:lnTo>
                    <a:pt x="541087" y="45644"/>
                  </a:lnTo>
                  <a:lnTo>
                    <a:pt x="552446" y="72262"/>
                  </a:lnTo>
                  <a:lnTo>
                    <a:pt x="553497" y="83190"/>
                  </a:lnTo>
                  <a:lnTo>
                    <a:pt x="552493" y="93948"/>
                  </a:lnTo>
                  <a:lnTo>
                    <a:pt x="528538" y="129317"/>
                  </a:lnTo>
                  <a:lnTo>
                    <a:pt x="507488" y="137667"/>
                  </a:lnTo>
                  <a:lnTo>
                    <a:pt x="539451" y="137667"/>
                  </a:lnTo>
                  <a:lnTo>
                    <a:pt x="565622" y="96662"/>
                  </a:lnTo>
                  <a:lnTo>
                    <a:pt x="566920" y="83190"/>
                  </a:lnTo>
                  <a:lnTo>
                    <a:pt x="565527" y="69469"/>
                  </a:lnTo>
                  <a:lnTo>
                    <a:pt x="554694" y="42058"/>
                  </a:lnTo>
                  <a:lnTo>
                    <a:pt x="535824" y="20399"/>
                  </a:lnTo>
                  <a:lnTo>
                    <a:pt x="525928" y="14604"/>
                  </a:lnTo>
                  <a:close/>
                </a:path>
              </a:pathLst>
            </a:custGeom>
            <a:solidFill>
              <a:srgbClr val="1F487C"/>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pic>
          <p:nvPicPr>
            <p:cNvPr id="39" name="object 39"/>
            <p:cNvPicPr/>
            <p:nvPr/>
          </p:nvPicPr>
          <p:blipFill>
            <a:blip r:embed="rId5" cstate="print"/>
            <a:stretch>
              <a:fillRect/>
            </a:stretch>
          </p:blipFill>
          <p:spPr>
            <a:xfrm>
              <a:off x="9069324" y="2292095"/>
              <a:ext cx="216407" cy="153924"/>
            </a:xfrm>
            <a:prstGeom prst="rect">
              <a:avLst/>
            </a:prstGeom>
          </p:spPr>
        </p:pic>
      </p:grpSp>
      <p:grpSp>
        <p:nvGrpSpPr>
          <p:cNvPr id="40" name="object 40"/>
          <p:cNvGrpSpPr/>
          <p:nvPr/>
        </p:nvGrpSpPr>
        <p:grpSpPr>
          <a:xfrm>
            <a:off x="0" y="4311396"/>
            <a:ext cx="1811020" cy="1292860"/>
            <a:chOff x="0" y="4311396"/>
            <a:chExt cx="1811020" cy="1292860"/>
          </a:xfrm>
        </p:grpSpPr>
        <p:sp>
          <p:nvSpPr>
            <p:cNvPr id="41" name="object 41"/>
            <p:cNvSpPr/>
            <p:nvPr/>
          </p:nvSpPr>
          <p:spPr>
            <a:xfrm>
              <a:off x="0" y="4311396"/>
              <a:ext cx="1811020" cy="1292860"/>
            </a:xfrm>
            <a:custGeom>
              <a:avLst/>
              <a:gdLst/>
              <a:ahLst/>
              <a:cxnLst/>
              <a:rect l="l" t="t" r="r" b="b"/>
              <a:pathLst>
                <a:path w="1811020" h="1292860">
                  <a:moveTo>
                    <a:pt x="1164336" y="0"/>
                  </a:moveTo>
                  <a:lnTo>
                    <a:pt x="0" y="0"/>
                  </a:lnTo>
                  <a:lnTo>
                    <a:pt x="0" y="1292351"/>
                  </a:lnTo>
                  <a:lnTo>
                    <a:pt x="1164336" y="1292351"/>
                  </a:lnTo>
                  <a:lnTo>
                    <a:pt x="1212560" y="1290579"/>
                  </a:lnTo>
                  <a:lnTo>
                    <a:pt x="1259822" y="1285345"/>
                  </a:lnTo>
                  <a:lnTo>
                    <a:pt x="1305997" y="1276775"/>
                  </a:lnTo>
                  <a:lnTo>
                    <a:pt x="1350959" y="1264993"/>
                  </a:lnTo>
                  <a:lnTo>
                    <a:pt x="1394583" y="1250124"/>
                  </a:lnTo>
                  <a:lnTo>
                    <a:pt x="1436746" y="1232294"/>
                  </a:lnTo>
                  <a:lnTo>
                    <a:pt x="1477321" y="1211627"/>
                  </a:lnTo>
                  <a:lnTo>
                    <a:pt x="1516184" y="1188248"/>
                  </a:lnTo>
                  <a:lnTo>
                    <a:pt x="1553210" y="1162282"/>
                  </a:lnTo>
                  <a:lnTo>
                    <a:pt x="1588273" y="1133854"/>
                  </a:lnTo>
                  <a:lnTo>
                    <a:pt x="1621250" y="1103090"/>
                  </a:lnTo>
                  <a:lnTo>
                    <a:pt x="1652015" y="1070113"/>
                  </a:lnTo>
                  <a:lnTo>
                    <a:pt x="1680442" y="1035049"/>
                  </a:lnTo>
                  <a:lnTo>
                    <a:pt x="1706408" y="998024"/>
                  </a:lnTo>
                  <a:lnTo>
                    <a:pt x="1729787" y="959161"/>
                  </a:lnTo>
                  <a:lnTo>
                    <a:pt x="1750454" y="918586"/>
                  </a:lnTo>
                  <a:lnTo>
                    <a:pt x="1768284" y="876423"/>
                  </a:lnTo>
                  <a:lnTo>
                    <a:pt x="1783153" y="832799"/>
                  </a:lnTo>
                  <a:lnTo>
                    <a:pt x="1794935" y="787836"/>
                  </a:lnTo>
                  <a:lnTo>
                    <a:pt x="1803505" y="741662"/>
                  </a:lnTo>
                  <a:lnTo>
                    <a:pt x="1808739" y="694400"/>
                  </a:lnTo>
                  <a:lnTo>
                    <a:pt x="1810512" y="646176"/>
                  </a:lnTo>
                  <a:lnTo>
                    <a:pt x="1808739" y="597951"/>
                  </a:lnTo>
                  <a:lnTo>
                    <a:pt x="1803505" y="550689"/>
                  </a:lnTo>
                  <a:lnTo>
                    <a:pt x="1794935" y="504515"/>
                  </a:lnTo>
                  <a:lnTo>
                    <a:pt x="1783153" y="459552"/>
                  </a:lnTo>
                  <a:lnTo>
                    <a:pt x="1768284" y="415928"/>
                  </a:lnTo>
                  <a:lnTo>
                    <a:pt x="1750454" y="373765"/>
                  </a:lnTo>
                  <a:lnTo>
                    <a:pt x="1729787" y="333190"/>
                  </a:lnTo>
                  <a:lnTo>
                    <a:pt x="1706408" y="294327"/>
                  </a:lnTo>
                  <a:lnTo>
                    <a:pt x="1680442" y="257302"/>
                  </a:lnTo>
                  <a:lnTo>
                    <a:pt x="1652015" y="222238"/>
                  </a:lnTo>
                  <a:lnTo>
                    <a:pt x="1621250" y="189261"/>
                  </a:lnTo>
                  <a:lnTo>
                    <a:pt x="1588273" y="158497"/>
                  </a:lnTo>
                  <a:lnTo>
                    <a:pt x="1553210" y="130069"/>
                  </a:lnTo>
                  <a:lnTo>
                    <a:pt x="1516184" y="104103"/>
                  </a:lnTo>
                  <a:lnTo>
                    <a:pt x="1477321" y="80724"/>
                  </a:lnTo>
                  <a:lnTo>
                    <a:pt x="1436746" y="60057"/>
                  </a:lnTo>
                  <a:lnTo>
                    <a:pt x="1394583" y="42227"/>
                  </a:lnTo>
                  <a:lnTo>
                    <a:pt x="1350959" y="27358"/>
                  </a:lnTo>
                  <a:lnTo>
                    <a:pt x="1305997" y="15576"/>
                  </a:lnTo>
                  <a:lnTo>
                    <a:pt x="1259822" y="7006"/>
                  </a:lnTo>
                  <a:lnTo>
                    <a:pt x="1212560" y="1772"/>
                  </a:lnTo>
                  <a:lnTo>
                    <a:pt x="1164336" y="0"/>
                  </a:lnTo>
                  <a:close/>
                </a:path>
              </a:pathLst>
            </a:custGeom>
            <a:solidFill>
              <a:srgbClr val="29B974"/>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42" name="object 42"/>
            <p:cNvSpPr/>
            <p:nvPr/>
          </p:nvSpPr>
          <p:spPr>
            <a:xfrm>
              <a:off x="181317" y="4754880"/>
              <a:ext cx="259079" cy="425450"/>
            </a:xfrm>
            <a:custGeom>
              <a:avLst/>
              <a:gdLst/>
              <a:ahLst/>
              <a:cxnLst/>
              <a:rect l="l" t="t" r="r" b="b"/>
              <a:pathLst>
                <a:path w="259079" h="425450">
                  <a:moveTo>
                    <a:pt x="204952" y="358775"/>
                  </a:moveTo>
                  <a:lnTo>
                    <a:pt x="51422" y="358775"/>
                  </a:lnTo>
                  <a:lnTo>
                    <a:pt x="50939" y="359283"/>
                  </a:lnTo>
                  <a:lnTo>
                    <a:pt x="50444" y="359410"/>
                  </a:lnTo>
                  <a:lnTo>
                    <a:pt x="49961" y="359918"/>
                  </a:lnTo>
                  <a:lnTo>
                    <a:pt x="3418" y="416050"/>
                  </a:lnTo>
                  <a:lnTo>
                    <a:pt x="0" y="420116"/>
                  </a:lnTo>
                  <a:lnTo>
                    <a:pt x="2438" y="425196"/>
                  </a:lnTo>
                  <a:lnTo>
                    <a:pt x="253936" y="425196"/>
                  </a:lnTo>
                  <a:lnTo>
                    <a:pt x="256362" y="420116"/>
                  </a:lnTo>
                  <a:lnTo>
                    <a:pt x="253682" y="416941"/>
                  </a:lnTo>
                  <a:lnTo>
                    <a:pt x="206413" y="359918"/>
                  </a:lnTo>
                  <a:lnTo>
                    <a:pt x="205930" y="359410"/>
                  </a:lnTo>
                  <a:lnTo>
                    <a:pt x="205435" y="359283"/>
                  </a:lnTo>
                  <a:lnTo>
                    <a:pt x="204952" y="358775"/>
                  </a:lnTo>
                  <a:close/>
                </a:path>
                <a:path w="259079" h="425450">
                  <a:moveTo>
                    <a:pt x="224256" y="305816"/>
                  </a:moveTo>
                  <a:lnTo>
                    <a:pt x="32118" y="305816"/>
                  </a:lnTo>
                  <a:lnTo>
                    <a:pt x="30899" y="306959"/>
                  </a:lnTo>
                  <a:lnTo>
                    <a:pt x="30899" y="346964"/>
                  </a:lnTo>
                  <a:lnTo>
                    <a:pt x="32118" y="347980"/>
                  </a:lnTo>
                  <a:lnTo>
                    <a:pt x="224256" y="347980"/>
                  </a:lnTo>
                  <a:lnTo>
                    <a:pt x="225475" y="346964"/>
                  </a:lnTo>
                  <a:lnTo>
                    <a:pt x="225475" y="306959"/>
                  </a:lnTo>
                  <a:lnTo>
                    <a:pt x="224256" y="305816"/>
                  </a:lnTo>
                  <a:close/>
                </a:path>
                <a:path w="259079" h="425450">
                  <a:moveTo>
                    <a:pt x="47358" y="234569"/>
                  </a:moveTo>
                  <a:lnTo>
                    <a:pt x="40108" y="254515"/>
                  </a:lnTo>
                  <a:lnTo>
                    <a:pt x="40779" y="269494"/>
                  </a:lnTo>
                  <a:lnTo>
                    <a:pt x="41365" y="277608"/>
                  </a:lnTo>
                  <a:lnTo>
                    <a:pt x="41973" y="285067"/>
                  </a:lnTo>
                  <a:lnTo>
                    <a:pt x="42533" y="291121"/>
                  </a:lnTo>
                  <a:lnTo>
                    <a:pt x="42976" y="295021"/>
                  </a:lnTo>
                  <a:lnTo>
                    <a:pt x="53695" y="295021"/>
                  </a:lnTo>
                  <a:lnTo>
                    <a:pt x="52351" y="280614"/>
                  </a:lnTo>
                  <a:lnTo>
                    <a:pt x="51325" y="266541"/>
                  </a:lnTo>
                  <a:lnTo>
                    <a:pt x="50754" y="254515"/>
                  </a:lnTo>
                  <a:lnTo>
                    <a:pt x="50774" y="246253"/>
                  </a:lnTo>
                  <a:lnTo>
                    <a:pt x="79563" y="246253"/>
                  </a:lnTo>
                  <a:lnTo>
                    <a:pt x="79540" y="245999"/>
                  </a:lnTo>
                  <a:lnTo>
                    <a:pt x="69148" y="235839"/>
                  </a:lnTo>
                  <a:lnTo>
                    <a:pt x="53949" y="235839"/>
                  </a:lnTo>
                  <a:lnTo>
                    <a:pt x="47358" y="234569"/>
                  </a:lnTo>
                  <a:close/>
                </a:path>
                <a:path w="259079" h="425450">
                  <a:moveTo>
                    <a:pt x="141198" y="149479"/>
                  </a:moveTo>
                  <a:lnTo>
                    <a:pt x="138760" y="149860"/>
                  </a:lnTo>
                  <a:lnTo>
                    <a:pt x="137299" y="151638"/>
                  </a:lnTo>
                  <a:lnTo>
                    <a:pt x="135839" y="153035"/>
                  </a:lnTo>
                  <a:lnTo>
                    <a:pt x="149733" y="180213"/>
                  </a:lnTo>
                  <a:lnTo>
                    <a:pt x="149974" y="180721"/>
                  </a:lnTo>
                  <a:lnTo>
                    <a:pt x="150745" y="181514"/>
                  </a:lnTo>
                  <a:lnTo>
                    <a:pt x="151676" y="182372"/>
                  </a:lnTo>
                  <a:lnTo>
                    <a:pt x="177951" y="215568"/>
                  </a:lnTo>
                  <a:lnTo>
                    <a:pt x="194057" y="245538"/>
                  </a:lnTo>
                  <a:lnTo>
                    <a:pt x="199698" y="271579"/>
                  </a:lnTo>
                  <a:lnTo>
                    <a:pt x="194576" y="292989"/>
                  </a:lnTo>
                  <a:lnTo>
                    <a:pt x="194094" y="293751"/>
                  </a:lnTo>
                  <a:lnTo>
                    <a:pt x="193840" y="294259"/>
                  </a:lnTo>
                  <a:lnTo>
                    <a:pt x="193840" y="295021"/>
                  </a:lnTo>
                  <a:lnTo>
                    <a:pt x="205549" y="295021"/>
                  </a:lnTo>
                  <a:lnTo>
                    <a:pt x="209981" y="279743"/>
                  </a:lnTo>
                  <a:lnTo>
                    <a:pt x="209751" y="262715"/>
                  </a:lnTo>
                  <a:lnTo>
                    <a:pt x="195313" y="223647"/>
                  </a:lnTo>
                  <a:lnTo>
                    <a:pt x="165761" y="182159"/>
                  </a:lnTo>
                  <a:lnTo>
                    <a:pt x="158750" y="174371"/>
                  </a:lnTo>
                  <a:lnTo>
                    <a:pt x="158254" y="173736"/>
                  </a:lnTo>
                  <a:lnTo>
                    <a:pt x="157772" y="173482"/>
                  </a:lnTo>
                  <a:lnTo>
                    <a:pt x="155575" y="170561"/>
                  </a:lnTo>
                  <a:lnTo>
                    <a:pt x="152412" y="165227"/>
                  </a:lnTo>
                  <a:lnTo>
                    <a:pt x="149974" y="160655"/>
                  </a:lnTo>
                  <a:lnTo>
                    <a:pt x="156070" y="159385"/>
                  </a:lnTo>
                  <a:lnTo>
                    <a:pt x="163385" y="156464"/>
                  </a:lnTo>
                  <a:lnTo>
                    <a:pt x="176784" y="150876"/>
                  </a:lnTo>
                  <a:lnTo>
                    <a:pt x="178927" y="150114"/>
                  </a:lnTo>
                  <a:lnTo>
                    <a:pt x="143154" y="150114"/>
                  </a:lnTo>
                  <a:lnTo>
                    <a:pt x="141198" y="149479"/>
                  </a:lnTo>
                  <a:close/>
                </a:path>
                <a:path w="259079" h="425450">
                  <a:moveTo>
                    <a:pt x="79563" y="246253"/>
                  </a:moveTo>
                  <a:lnTo>
                    <a:pt x="50774" y="246253"/>
                  </a:lnTo>
                  <a:lnTo>
                    <a:pt x="55168" y="247015"/>
                  </a:lnTo>
                  <a:lnTo>
                    <a:pt x="63690" y="249682"/>
                  </a:lnTo>
                  <a:lnTo>
                    <a:pt x="74180" y="254000"/>
                  </a:lnTo>
                  <a:lnTo>
                    <a:pt x="76860" y="252984"/>
                  </a:lnTo>
                  <a:lnTo>
                    <a:pt x="79781" y="248666"/>
                  </a:lnTo>
                  <a:lnTo>
                    <a:pt x="79563" y="246253"/>
                  </a:lnTo>
                  <a:close/>
                </a:path>
                <a:path w="259079" h="425450">
                  <a:moveTo>
                    <a:pt x="42494" y="185801"/>
                  </a:moveTo>
                  <a:lnTo>
                    <a:pt x="33786" y="202819"/>
                  </a:lnTo>
                  <a:lnTo>
                    <a:pt x="34731" y="210101"/>
                  </a:lnTo>
                  <a:lnTo>
                    <a:pt x="53949" y="235839"/>
                  </a:lnTo>
                  <a:lnTo>
                    <a:pt x="69148" y="235839"/>
                  </a:lnTo>
                  <a:lnTo>
                    <a:pt x="67009" y="233747"/>
                  </a:lnTo>
                  <a:lnTo>
                    <a:pt x="57084" y="223647"/>
                  </a:lnTo>
                  <a:lnTo>
                    <a:pt x="49444" y="215392"/>
                  </a:lnTo>
                  <a:lnTo>
                    <a:pt x="45656" y="210566"/>
                  </a:lnTo>
                  <a:lnTo>
                    <a:pt x="44932" y="207645"/>
                  </a:lnTo>
                  <a:lnTo>
                    <a:pt x="44437" y="202819"/>
                  </a:lnTo>
                  <a:lnTo>
                    <a:pt x="44437" y="199390"/>
                  </a:lnTo>
                  <a:lnTo>
                    <a:pt x="74880" y="199390"/>
                  </a:lnTo>
                  <a:lnTo>
                    <a:pt x="72749" y="197024"/>
                  </a:lnTo>
                  <a:lnTo>
                    <a:pt x="69495" y="193294"/>
                  </a:lnTo>
                  <a:lnTo>
                    <a:pt x="55410" y="193294"/>
                  </a:lnTo>
                  <a:lnTo>
                    <a:pt x="50533" y="190373"/>
                  </a:lnTo>
                  <a:lnTo>
                    <a:pt x="46634" y="188214"/>
                  </a:lnTo>
                  <a:lnTo>
                    <a:pt x="45173" y="187325"/>
                  </a:lnTo>
                  <a:lnTo>
                    <a:pt x="42494" y="185801"/>
                  </a:lnTo>
                  <a:close/>
                </a:path>
                <a:path w="259079" h="425450">
                  <a:moveTo>
                    <a:pt x="74880" y="199390"/>
                  </a:moveTo>
                  <a:lnTo>
                    <a:pt x="44437" y="199390"/>
                  </a:lnTo>
                  <a:lnTo>
                    <a:pt x="76621" y="218963"/>
                  </a:lnTo>
                  <a:lnTo>
                    <a:pt x="81000" y="221488"/>
                  </a:lnTo>
                  <a:lnTo>
                    <a:pt x="83197" y="222885"/>
                  </a:lnTo>
                  <a:lnTo>
                    <a:pt x="86118" y="222504"/>
                  </a:lnTo>
                  <a:lnTo>
                    <a:pt x="87820" y="220472"/>
                  </a:lnTo>
                  <a:lnTo>
                    <a:pt x="89535" y="218313"/>
                  </a:lnTo>
                  <a:lnTo>
                    <a:pt x="89535" y="215392"/>
                  </a:lnTo>
                  <a:lnTo>
                    <a:pt x="87579" y="213487"/>
                  </a:lnTo>
                  <a:lnTo>
                    <a:pt x="74880" y="199390"/>
                  </a:lnTo>
                  <a:close/>
                </a:path>
                <a:path w="259079" h="425450">
                  <a:moveTo>
                    <a:pt x="39560" y="129032"/>
                  </a:moveTo>
                  <a:lnTo>
                    <a:pt x="32212" y="150114"/>
                  </a:lnTo>
                  <a:lnTo>
                    <a:pt x="32822" y="158198"/>
                  </a:lnTo>
                  <a:lnTo>
                    <a:pt x="55410" y="193294"/>
                  </a:lnTo>
                  <a:lnTo>
                    <a:pt x="69495" y="193294"/>
                  </a:lnTo>
                  <a:lnTo>
                    <a:pt x="59193" y="181483"/>
                  </a:lnTo>
                  <a:lnTo>
                    <a:pt x="49024" y="169195"/>
                  </a:lnTo>
                  <a:lnTo>
                    <a:pt x="44196" y="162306"/>
                  </a:lnTo>
                  <a:lnTo>
                    <a:pt x="43001" y="158198"/>
                  </a:lnTo>
                  <a:lnTo>
                    <a:pt x="42605" y="150876"/>
                  </a:lnTo>
                  <a:lnTo>
                    <a:pt x="42714" y="146050"/>
                  </a:lnTo>
                  <a:lnTo>
                    <a:pt x="42976" y="142875"/>
                  </a:lnTo>
                  <a:lnTo>
                    <a:pt x="59630" y="142875"/>
                  </a:lnTo>
                  <a:lnTo>
                    <a:pt x="53714" y="137795"/>
                  </a:lnTo>
                  <a:lnTo>
                    <a:pt x="46813" y="132286"/>
                  </a:lnTo>
                  <a:lnTo>
                    <a:pt x="43370" y="130049"/>
                  </a:lnTo>
                  <a:lnTo>
                    <a:pt x="41757" y="129540"/>
                  </a:lnTo>
                  <a:lnTo>
                    <a:pt x="39560" y="129032"/>
                  </a:lnTo>
                  <a:close/>
                </a:path>
                <a:path w="259079" h="425450">
                  <a:moveTo>
                    <a:pt x="59630" y="142875"/>
                  </a:moveTo>
                  <a:lnTo>
                    <a:pt x="42976" y="142875"/>
                  </a:lnTo>
                  <a:lnTo>
                    <a:pt x="51645" y="150114"/>
                  </a:lnTo>
                  <a:lnTo>
                    <a:pt x="62747" y="159813"/>
                  </a:lnTo>
                  <a:lnTo>
                    <a:pt x="75773" y="171503"/>
                  </a:lnTo>
                  <a:lnTo>
                    <a:pt x="89280" y="183896"/>
                  </a:lnTo>
                  <a:lnTo>
                    <a:pt x="91236" y="185547"/>
                  </a:lnTo>
                  <a:lnTo>
                    <a:pt x="94157" y="185801"/>
                  </a:lnTo>
                  <a:lnTo>
                    <a:pt x="96354" y="183896"/>
                  </a:lnTo>
                  <a:lnTo>
                    <a:pt x="98298" y="182245"/>
                  </a:lnTo>
                  <a:lnTo>
                    <a:pt x="98793" y="179324"/>
                  </a:lnTo>
                  <a:lnTo>
                    <a:pt x="97332" y="177038"/>
                  </a:lnTo>
                  <a:lnTo>
                    <a:pt x="83542" y="155795"/>
                  </a:lnTo>
                  <a:lnTo>
                    <a:pt x="78831" y="148463"/>
                  </a:lnTo>
                  <a:lnTo>
                    <a:pt x="66128" y="148463"/>
                  </a:lnTo>
                  <a:lnTo>
                    <a:pt x="59630" y="142875"/>
                  </a:lnTo>
                  <a:close/>
                </a:path>
                <a:path w="259079" h="425450">
                  <a:moveTo>
                    <a:pt x="203293" y="148463"/>
                  </a:moveTo>
                  <a:lnTo>
                    <a:pt x="184581" y="148463"/>
                  </a:lnTo>
                  <a:lnTo>
                    <a:pt x="186296" y="148971"/>
                  </a:lnTo>
                  <a:lnTo>
                    <a:pt x="191160" y="152527"/>
                  </a:lnTo>
                  <a:lnTo>
                    <a:pt x="194818" y="155448"/>
                  </a:lnTo>
                  <a:lnTo>
                    <a:pt x="204845" y="162885"/>
                  </a:lnTo>
                  <a:lnTo>
                    <a:pt x="216514" y="169608"/>
                  </a:lnTo>
                  <a:lnTo>
                    <a:pt x="229095" y="173093"/>
                  </a:lnTo>
                  <a:lnTo>
                    <a:pt x="241858" y="170815"/>
                  </a:lnTo>
                  <a:lnTo>
                    <a:pt x="250946" y="162121"/>
                  </a:lnTo>
                  <a:lnTo>
                    <a:pt x="228578" y="162121"/>
                  </a:lnTo>
                  <a:lnTo>
                    <a:pt x="219224" y="158956"/>
                  </a:lnTo>
                  <a:lnTo>
                    <a:pt x="209912" y="153338"/>
                  </a:lnTo>
                  <a:lnTo>
                    <a:pt x="203293" y="148463"/>
                  </a:lnTo>
                  <a:close/>
                </a:path>
                <a:path w="259079" h="425450">
                  <a:moveTo>
                    <a:pt x="141051" y="11430"/>
                  </a:moveTo>
                  <a:lnTo>
                    <a:pt x="129743" y="11430"/>
                  </a:lnTo>
                  <a:lnTo>
                    <a:pt x="129866" y="16160"/>
                  </a:lnTo>
                  <a:lnTo>
                    <a:pt x="129501" y="20574"/>
                  </a:lnTo>
                  <a:lnTo>
                    <a:pt x="128765" y="22987"/>
                  </a:lnTo>
                  <a:lnTo>
                    <a:pt x="128221" y="25527"/>
                  </a:lnTo>
                  <a:lnTo>
                    <a:pt x="127304" y="29337"/>
                  </a:lnTo>
                  <a:lnTo>
                    <a:pt x="125844" y="34925"/>
                  </a:lnTo>
                  <a:lnTo>
                    <a:pt x="132422" y="39116"/>
                  </a:lnTo>
                  <a:lnTo>
                    <a:pt x="134378" y="40259"/>
                  </a:lnTo>
                  <a:lnTo>
                    <a:pt x="138277" y="41529"/>
                  </a:lnTo>
                  <a:lnTo>
                    <a:pt x="145834" y="44196"/>
                  </a:lnTo>
                  <a:lnTo>
                    <a:pt x="182384" y="60452"/>
                  </a:lnTo>
                  <a:lnTo>
                    <a:pt x="191414" y="75692"/>
                  </a:lnTo>
                  <a:lnTo>
                    <a:pt x="192620" y="78105"/>
                  </a:lnTo>
                  <a:lnTo>
                    <a:pt x="195059" y="80010"/>
                  </a:lnTo>
                  <a:lnTo>
                    <a:pt x="196037" y="81280"/>
                  </a:lnTo>
                  <a:lnTo>
                    <a:pt x="198716" y="83185"/>
                  </a:lnTo>
                  <a:lnTo>
                    <a:pt x="238742" y="112611"/>
                  </a:lnTo>
                  <a:lnTo>
                    <a:pt x="248377" y="138826"/>
                  </a:lnTo>
                  <a:lnTo>
                    <a:pt x="246113" y="151782"/>
                  </a:lnTo>
                  <a:lnTo>
                    <a:pt x="237223" y="161036"/>
                  </a:lnTo>
                  <a:lnTo>
                    <a:pt x="228578" y="162121"/>
                  </a:lnTo>
                  <a:lnTo>
                    <a:pt x="250946" y="162121"/>
                  </a:lnTo>
                  <a:lnTo>
                    <a:pt x="255047" y="158198"/>
                  </a:lnTo>
                  <a:lnTo>
                    <a:pt x="259073" y="141414"/>
                  </a:lnTo>
                  <a:lnTo>
                    <a:pt x="257660" y="125202"/>
                  </a:lnTo>
                  <a:lnTo>
                    <a:pt x="228551" y="91100"/>
                  </a:lnTo>
                  <a:lnTo>
                    <a:pt x="207009" y="75946"/>
                  </a:lnTo>
                  <a:lnTo>
                    <a:pt x="202869" y="73025"/>
                  </a:lnTo>
                  <a:lnTo>
                    <a:pt x="201396" y="71501"/>
                  </a:lnTo>
                  <a:lnTo>
                    <a:pt x="200672" y="69850"/>
                  </a:lnTo>
                  <a:lnTo>
                    <a:pt x="199694" y="68199"/>
                  </a:lnTo>
                  <a:lnTo>
                    <a:pt x="162872" y="38752"/>
                  </a:lnTo>
                  <a:lnTo>
                    <a:pt x="144614" y="32512"/>
                  </a:lnTo>
                  <a:lnTo>
                    <a:pt x="139496" y="30607"/>
                  </a:lnTo>
                  <a:lnTo>
                    <a:pt x="138277" y="29845"/>
                  </a:lnTo>
                  <a:lnTo>
                    <a:pt x="138277" y="29337"/>
                  </a:lnTo>
                  <a:lnTo>
                    <a:pt x="138518" y="28321"/>
                  </a:lnTo>
                  <a:lnTo>
                    <a:pt x="138760" y="27686"/>
                  </a:lnTo>
                  <a:lnTo>
                    <a:pt x="139318" y="25273"/>
                  </a:lnTo>
                  <a:lnTo>
                    <a:pt x="139983" y="22574"/>
                  </a:lnTo>
                  <a:lnTo>
                    <a:pt x="140474" y="18415"/>
                  </a:lnTo>
                  <a:lnTo>
                    <a:pt x="141051" y="11430"/>
                  </a:lnTo>
                  <a:close/>
                </a:path>
                <a:path w="259079" h="425450">
                  <a:moveTo>
                    <a:pt x="188480" y="137287"/>
                  </a:moveTo>
                  <a:lnTo>
                    <a:pt x="183603" y="137795"/>
                  </a:lnTo>
                  <a:lnTo>
                    <a:pt x="179959" y="138303"/>
                  </a:lnTo>
                  <a:lnTo>
                    <a:pt x="161587" y="145667"/>
                  </a:lnTo>
                  <a:lnTo>
                    <a:pt x="154300" y="148288"/>
                  </a:lnTo>
                  <a:lnTo>
                    <a:pt x="147653" y="150076"/>
                  </a:lnTo>
                  <a:lnTo>
                    <a:pt x="143154" y="150114"/>
                  </a:lnTo>
                  <a:lnTo>
                    <a:pt x="178927" y="150114"/>
                  </a:lnTo>
                  <a:lnTo>
                    <a:pt x="182143" y="148971"/>
                  </a:lnTo>
                  <a:lnTo>
                    <a:pt x="184581" y="148463"/>
                  </a:lnTo>
                  <a:lnTo>
                    <a:pt x="203293" y="148463"/>
                  </a:lnTo>
                  <a:lnTo>
                    <a:pt x="201396" y="147066"/>
                  </a:lnTo>
                  <a:lnTo>
                    <a:pt x="193598" y="141224"/>
                  </a:lnTo>
                  <a:lnTo>
                    <a:pt x="188480" y="137287"/>
                  </a:lnTo>
                  <a:close/>
                </a:path>
                <a:path w="259079" h="425450">
                  <a:moveTo>
                    <a:pt x="134137" y="0"/>
                  </a:moveTo>
                  <a:lnTo>
                    <a:pt x="132664" y="0"/>
                  </a:lnTo>
                  <a:lnTo>
                    <a:pt x="119278" y="4349"/>
                  </a:lnTo>
                  <a:lnTo>
                    <a:pt x="108200" y="12890"/>
                  </a:lnTo>
                  <a:lnTo>
                    <a:pt x="99705" y="22606"/>
                  </a:lnTo>
                  <a:lnTo>
                    <a:pt x="94157" y="30353"/>
                  </a:lnTo>
                  <a:lnTo>
                    <a:pt x="93433" y="31496"/>
                  </a:lnTo>
                  <a:lnTo>
                    <a:pt x="85560" y="40518"/>
                  </a:lnTo>
                  <a:lnTo>
                    <a:pt x="71402" y="55864"/>
                  </a:lnTo>
                  <a:lnTo>
                    <a:pt x="56925" y="71090"/>
                  </a:lnTo>
                  <a:lnTo>
                    <a:pt x="48094" y="79756"/>
                  </a:lnTo>
                  <a:lnTo>
                    <a:pt x="43409" y="86371"/>
                  </a:lnTo>
                  <a:lnTo>
                    <a:pt x="40940" y="94488"/>
                  </a:lnTo>
                  <a:lnTo>
                    <a:pt x="39977" y="101365"/>
                  </a:lnTo>
                  <a:lnTo>
                    <a:pt x="39814" y="104267"/>
                  </a:lnTo>
                  <a:lnTo>
                    <a:pt x="40199" y="106366"/>
                  </a:lnTo>
                  <a:lnTo>
                    <a:pt x="42891" y="111633"/>
                  </a:lnTo>
                  <a:lnTo>
                    <a:pt x="50197" y="123662"/>
                  </a:lnTo>
                  <a:lnTo>
                    <a:pt x="64427" y="146050"/>
                  </a:lnTo>
                  <a:lnTo>
                    <a:pt x="65151" y="146812"/>
                  </a:lnTo>
                  <a:lnTo>
                    <a:pt x="65646" y="147701"/>
                  </a:lnTo>
                  <a:lnTo>
                    <a:pt x="66128" y="148463"/>
                  </a:lnTo>
                  <a:lnTo>
                    <a:pt x="78831" y="148463"/>
                  </a:lnTo>
                  <a:lnTo>
                    <a:pt x="69089" y="133302"/>
                  </a:lnTo>
                  <a:lnTo>
                    <a:pt x="57058" y="114262"/>
                  </a:lnTo>
                  <a:lnTo>
                    <a:pt x="50533" y="103378"/>
                  </a:lnTo>
                  <a:lnTo>
                    <a:pt x="50774" y="98298"/>
                  </a:lnTo>
                  <a:lnTo>
                    <a:pt x="52476" y="90043"/>
                  </a:lnTo>
                  <a:lnTo>
                    <a:pt x="54914" y="88011"/>
                  </a:lnTo>
                  <a:lnTo>
                    <a:pt x="63952" y="79200"/>
                  </a:lnTo>
                  <a:lnTo>
                    <a:pt x="78927" y="63531"/>
                  </a:lnTo>
                  <a:lnTo>
                    <a:pt x="93716" y="47434"/>
                  </a:lnTo>
                  <a:lnTo>
                    <a:pt x="102933" y="36449"/>
                  </a:lnTo>
                  <a:lnTo>
                    <a:pt x="107110" y="30607"/>
                  </a:lnTo>
                  <a:lnTo>
                    <a:pt x="113137" y="23272"/>
                  </a:lnTo>
                  <a:lnTo>
                    <a:pt x="120857" y="16160"/>
                  </a:lnTo>
                  <a:lnTo>
                    <a:pt x="129743" y="11430"/>
                  </a:lnTo>
                  <a:lnTo>
                    <a:pt x="141051" y="11430"/>
                  </a:lnTo>
                  <a:lnTo>
                    <a:pt x="141439" y="6731"/>
                  </a:lnTo>
                  <a:lnTo>
                    <a:pt x="138277" y="2667"/>
                  </a:lnTo>
                  <a:lnTo>
                    <a:pt x="136817" y="1397"/>
                  </a:lnTo>
                  <a:lnTo>
                    <a:pt x="135597" y="508"/>
                  </a:lnTo>
                  <a:lnTo>
                    <a:pt x="134137" y="0"/>
                  </a:lnTo>
                  <a:close/>
                </a:path>
              </a:pathLst>
            </a:custGeom>
            <a:solidFill>
              <a:srgbClr val="FFFFFF"/>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grpSp>
      <p:sp>
        <p:nvSpPr>
          <p:cNvPr id="43" name="object 43"/>
          <p:cNvSpPr txBox="1"/>
          <p:nvPr/>
        </p:nvSpPr>
        <p:spPr>
          <a:xfrm>
            <a:off x="709980" y="4451984"/>
            <a:ext cx="837565" cy="1000760"/>
          </a:xfrm>
          <a:prstGeom prst="rect">
            <a:avLst/>
          </a:prstGeom>
        </p:spPr>
        <p:txBody>
          <a:bodyPr vert="horz" wrap="square" lIns="0" tIns="12065" rIns="0" bIns="0" rtlCol="0">
            <a:spAutoFit/>
          </a:bodyPr>
          <a:lstStyle/>
          <a:p>
            <a:pPr marL="12700" marR="5080" lvl="0" indent="0" defTabSz="914400" eaLnBrk="1" fontAlgn="auto" latinLnBrk="0" hangingPunct="1">
              <a:lnSpc>
                <a:spcPct val="100000"/>
              </a:lnSpc>
              <a:spcBef>
                <a:spcPts val="95"/>
              </a:spcBef>
              <a:spcAft>
                <a:spcPts val="0"/>
              </a:spcAft>
              <a:buClrTx/>
              <a:buSzTx/>
              <a:buFontTx/>
              <a:buNone/>
              <a:tabLst/>
              <a:defRPr/>
            </a:pPr>
            <a:r>
              <a:rPr kumimoji="0" sz="1600" b="0" i="0" u="none" strike="noStrike" kern="0" cap="none" spc="-10" normalizeH="0" baseline="0" noProof="0">
                <a:ln>
                  <a:noFill/>
                </a:ln>
                <a:solidFill>
                  <a:srgbClr val="FFFFFF"/>
                </a:solidFill>
                <a:effectLst/>
                <a:uLnTx/>
                <a:uFillTx/>
                <a:latin typeface="Trebuchet MS"/>
                <a:cs typeface="Trebuchet MS"/>
              </a:rPr>
              <a:t>Strategy </a:t>
            </a:r>
            <a:r>
              <a:rPr kumimoji="0" sz="1600" b="0" i="0" u="none" strike="noStrike" kern="0" cap="none" spc="-25" normalizeH="0" baseline="0" noProof="0">
                <a:ln>
                  <a:noFill/>
                </a:ln>
                <a:solidFill>
                  <a:srgbClr val="FFFFFF"/>
                </a:solidFill>
                <a:effectLst/>
                <a:uLnTx/>
                <a:uFillTx/>
                <a:latin typeface="Trebuchet MS"/>
                <a:cs typeface="Trebuchet MS"/>
              </a:rPr>
              <a:t>to </a:t>
            </a:r>
            <a:r>
              <a:rPr kumimoji="0" sz="1600" b="0" i="0" u="none" strike="noStrike" kern="0" cap="none" spc="-10" normalizeH="0" baseline="0" noProof="0">
                <a:ln>
                  <a:noFill/>
                </a:ln>
                <a:solidFill>
                  <a:srgbClr val="FFFFFF"/>
                </a:solidFill>
                <a:effectLst/>
                <a:uLnTx/>
                <a:uFillTx/>
                <a:latin typeface="Trebuchet MS"/>
                <a:cs typeface="Trebuchet MS"/>
              </a:rPr>
              <a:t>identify/ attract</a:t>
            </a:r>
            <a:endParaRPr kumimoji="0" sz="16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44" name="object 44"/>
          <p:cNvSpPr txBox="1"/>
          <p:nvPr/>
        </p:nvSpPr>
        <p:spPr>
          <a:xfrm>
            <a:off x="1913635" y="4294758"/>
            <a:ext cx="1402715" cy="756920"/>
          </a:xfrm>
          <a:prstGeom prst="rect">
            <a:avLst/>
          </a:prstGeom>
        </p:spPr>
        <p:txBody>
          <a:bodyPr vert="horz" wrap="square" lIns="0" tIns="12700" rIns="0" bIns="0" rtlCol="0">
            <a:spAutoFit/>
          </a:bodyPr>
          <a:lstStyle/>
          <a:p>
            <a:pPr marL="228600" marR="5080" lvl="0" indent="-216535" defTabSz="914400" eaLnBrk="1" fontAlgn="auto" latinLnBrk="0" hangingPunct="1">
              <a:lnSpc>
                <a:spcPct val="100000"/>
              </a:lnSpc>
              <a:spcBef>
                <a:spcPts val="100"/>
              </a:spcBef>
              <a:spcAft>
                <a:spcPts val="0"/>
              </a:spcAft>
              <a:buClr>
                <a:srgbClr val="005FAE"/>
              </a:buClr>
              <a:buSzTx/>
              <a:buFontTx/>
              <a:buChar char="•"/>
              <a:tabLst>
                <a:tab pos="228600" algn="l"/>
              </a:tabLst>
              <a:defRPr/>
            </a:pPr>
            <a:r>
              <a:rPr kumimoji="0" sz="1200" b="0" i="0" u="none" strike="noStrike" kern="0" cap="none" spc="-10" normalizeH="0" baseline="0" noProof="0">
                <a:ln>
                  <a:noFill/>
                </a:ln>
                <a:solidFill>
                  <a:srgbClr val="03522C"/>
                </a:solidFill>
                <a:effectLst/>
                <a:uLnTx/>
                <a:uFillTx/>
                <a:latin typeface="Trebuchet MS"/>
                <a:cs typeface="Trebuchet MS"/>
              </a:rPr>
              <a:t>Analytics: </a:t>
            </a:r>
            <a:r>
              <a:rPr kumimoji="0" sz="1200" b="0" i="0" u="none" strike="noStrike" kern="0" cap="none" spc="-10" normalizeH="0" baseline="0" noProof="0">
                <a:ln>
                  <a:noFill/>
                </a:ln>
                <a:solidFill>
                  <a:srgbClr val="565656"/>
                </a:solidFill>
                <a:effectLst/>
                <a:uLnTx/>
                <a:uFillTx/>
                <a:latin typeface="Trebuchet MS"/>
                <a:cs typeface="Trebuchet MS"/>
              </a:rPr>
              <a:t>Consistent </a:t>
            </a:r>
            <a:r>
              <a:rPr kumimoji="0" sz="1200" b="0" i="0" u="none" strike="noStrike" kern="0" cap="none" spc="0" normalizeH="0" baseline="0" noProof="0">
                <a:ln>
                  <a:noFill/>
                </a:ln>
                <a:solidFill>
                  <a:srgbClr val="565656"/>
                </a:solidFill>
                <a:effectLst/>
                <a:uLnTx/>
                <a:uFillTx/>
                <a:latin typeface="Trebuchet MS"/>
                <a:cs typeface="Trebuchet MS"/>
              </a:rPr>
              <a:t>outflow</a:t>
            </a:r>
            <a:r>
              <a:rPr kumimoji="0" sz="1200" b="0" i="0" u="none" strike="noStrike" kern="0" cap="none" spc="-30" normalizeH="0" baseline="0" noProof="0">
                <a:ln>
                  <a:noFill/>
                </a:ln>
                <a:solidFill>
                  <a:srgbClr val="565656"/>
                </a:solidFill>
                <a:effectLst/>
                <a:uLnTx/>
                <a:uFillTx/>
                <a:latin typeface="Trebuchet MS"/>
                <a:cs typeface="Trebuchet MS"/>
              </a:rPr>
              <a:t> </a:t>
            </a:r>
            <a:r>
              <a:rPr kumimoji="0" sz="1200" b="0" i="0" u="none" strike="noStrike" kern="0" cap="none" spc="0" normalizeH="0" baseline="0" noProof="0">
                <a:ln>
                  <a:noFill/>
                </a:ln>
                <a:solidFill>
                  <a:srgbClr val="565656"/>
                </a:solidFill>
                <a:effectLst/>
                <a:uLnTx/>
                <a:uFillTx/>
                <a:latin typeface="Trebuchet MS"/>
                <a:cs typeface="Trebuchet MS"/>
              </a:rPr>
              <a:t>of</a:t>
            </a:r>
            <a:r>
              <a:rPr kumimoji="0" sz="1200" b="0" i="0" u="none" strike="noStrike" kern="0" cap="none" spc="-80" normalizeH="0" baseline="0" noProof="0">
                <a:ln>
                  <a:noFill/>
                </a:ln>
                <a:solidFill>
                  <a:srgbClr val="565656"/>
                </a:solidFill>
                <a:effectLst/>
                <a:uLnTx/>
                <a:uFillTx/>
                <a:latin typeface="Trebuchet MS"/>
                <a:cs typeface="Trebuchet MS"/>
              </a:rPr>
              <a:t> </a:t>
            </a:r>
            <a:r>
              <a:rPr kumimoji="0" lang="en-US" sz="1200" b="0" i="0" u="none" strike="noStrike" kern="0" cap="none" spc="-25" normalizeH="0" baseline="0" noProof="0" err="1">
                <a:ln>
                  <a:noFill/>
                </a:ln>
                <a:solidFill>
                  <a:srgbClr val="565656"/>
                </a:solidFill>
                <a:effectLst/>
                <a:uLnTx/>
                <a:uFillTx/>
                <a:latin typeface="Trebuchet MS"/>
                <a:cs typeface="Trebuchet MS"/>
              </a:rPr>
              <a:t>AuM</a:t>
            </a:r>
            <a:r>
              <a:rPr kumimoji="0" sz="1200" b="0" i="0" u="none" strike="noStrike" kern="0" cap="none" spc="-25" normalizeH="0" baseline="0" noProof="0">
                <a:ln>
                  <a:noFill/>
                </a:ln>
                <a:solidFill>
                  <a:srgbClr val="565656"/>
                </a:solidFill>
                <a:effectLst/>
                <a:uLnTx/>
                <a:uFillTx/>
                <a:latin typeface="Trebuchet MS"/>
                <a:cs typeface="Trebuchet MS"/>
              </a:rPr>
              <a:t> </a:t>
            </a:r>
            <a:r>
              <a:rPr kumimoji="0" sz="1200" b="0" i="0" u="none" strike="noStrike" kern="0" cap="none" spc="0" normalizeH="0" baseline="0" noProof="0">
                <a:ln>
                  <a:noFill/>
                </a:ln>
                <a:solidFill>
                  <a:srgbClr val="565656"/>
                </a:solidFill>
                <a:effectLst/>
                <a:uLnTx/>
                <a:uFillTx/>
                <a:latin typeface="Trebuchet MS"/>
                <a:cs typeface="Trebuchet MS"/>
              </a:rPr>
              <a:t>over</a:t>
            </a:r>
            <a:r>
              <a:rPr kumimoji="0" sz="1200" b="0" i="0" u="none" strike="noStrike" kern="0" cap="none" spc="-25" normalizeH="0" baseline="0" noProof="0">
                <a:ln>
                  <a:noFill/>
                </a:ln>
                <a:solidFill>
                  <a:srgbClr val="565656"/>
                </a:solidFill>
                <a:effectLst/>
                <a:uLnTx/>
                <a:uFillTx/>
                <a:latin typeface="Trebuchet MS"/>
                <a:cs typeface="Trebuchet MS"/>
              </a:rPr>
              <a:t> </a:t>
            </a:r>
            <a:r>
              <a:rPr kumimoji="0" sz="1200" b="0" i="0" u="none" strike="noStrike" kern="0" cap="none" spc="0" normalizeH="0" baseline="0" noProof="0">
                <a:ln>
                  <a:noFill/>
                </a:ln>
                <a:solidFill>
                  <a:srgbClr val="565656"/>
                </a:solidFill>
                <a:effectLst/>
                <a:uLnTx/>
                <a:uFillTx/>
                <a:latin typeface="Trebuchet MS"/>
                <a:cs typeface="Trebuchet MS"/>
              </a:rPr>
              <a:t>past</a:t>
            </a:r>
            <a:r>
              <a:rPr kumimoji="0" sz="1200" b="0" i="0" u="none" strike="noStrike" kern="0" cap="none" spc="-25" normalizeH="0" baseline="0" noProof="0">
                <a:ln>
                  <a:noFill/>
                </a:ln>
                <a:solidFill>
                  <a:srgbClr val="565656"/>
                </a:solidFill>
                <a:effectLst/>
                <a:uLnTx/>
                <a:uFillTx/>
                <a:latin typeface="Trebuchet MS"/>
                <a:cs typeface="Trebuchet MS"/>
              </a:rPr>
              <a:t> </a:t>
            </a:r>
            <a:r>
              <a:rPr kumimoji="0" sz="1200" b="0" i="0" u="none" strike="noStrike" kern="0" cap="none" spc="0" normalizeH="0" baseline="0" noProof="0">
                <a:ln>
                  <a:noFill/>
                </a:ln>
                <a:solidFill>
                  <a:srgbClr val="565656"/>
                </a:solidFill>
                <a:effectLst/>
                <a:uLnTx/>
                <a:uFillTx/>
                <a:latin typeface="Trebuchet MS"/>
                <a:cs typeface="Trebuchet MS"/>
              </a:rPr>
              <a:t>3</a:t>
            </a:r>
            <a:r>
              <a:rPr kumimoji="0" sz="1200" b="0" i="0" u="none" strike="noStrike" kern="0" cap="none" spc="-20" normalizeH="0" baseline="0" noProof="0">
                <a:ln>
                  <a:noFill/>
                </a:ln>
                <a:solidFill>
                  <a:srgbClr val="565656"/>
                </a:solidFill>
                <a:effectLst/>
                <a:uLnTx/>
                <a:uFillTx/>
                <a:latin typeface="Trebuchet MS"/>
                <a:cs typeface="Trebuchet MS"/>
              </a:rPr>
              <a:t> </a:t>
            </a:r>
            <a:r>
              <a:rPr kumimoji="0" sz="1200" b="0" i="0" u="none" strike="noStrike" kern="0" cap="none" spc="-10" normalizeH="0" baseline="0" noProof="0">
                <a:ln>
                  <a:noFill/>
                </a:ln>
                <a:solidFill>
                  <a:srgbClr val="565656"/>
                </a:solidFill>
                <a:effectLst/>
                <a:uLnTx/>
                <a:uFillTx/>
                <a:latin typeface="Trebuchet MS"/>
                <a:cs typeface="Trebuchet MS"/>
              </a:rPr>
              <a:t>years</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45" name="object 45"/>
          <p:cNvSpPr txBox="1"/>
          <p:nvPr/>
        </p:nvSpPr>
        <p:spPr>
          <a:xfrm>
            <a:off x="3497707" y="4294758"/>
            <a:ext cx="1562100" cy="1306195"/>
          </a:xfrm>
          <a:prstGeom prst="rect">
            <a:avLst/>
          </a:prstGeom>
        </p:spPr>
        <p:txBody>
          <a:bodyPr vert="horz" wrap="square" lIns="0" tIns="12700" rIns="0" bIns="0" rtlCol="0">
            <a:spAutoFit/>
          </a:bodyPr>
          <a:lstStyle/>
          <a:p>
            <a:pPr marL="229235" marR="5080" lvl="0" indent="-217170" defTabSz="914400" eaLnBrk="1" fontAlgn="auto" latinLnBrk="0" hangingPunct="1">
              <a:lnSpc>
                <a:spcPct val="100000"/>
              </a:lnSpc>
              <a:spcBef>
                <a:spcPts val="100"/>
              </a:spcBef>
              <a:spcAft>
                <a:spcPts val="0"/>
              </a:spcAft>
              <a:buClr>
                <a:srgbClr val="005FAE"/>
              </a:buClr>
              <a:buSzTx/>
              <a:buFontTx/>
              <a:buChar char="•"/>
              <a:tabLst>
                <a:tab pos="229235" algn="l"/>
              </a:tabLst>
              <a:defRPr/>
            </a:pPr>
            <a:r>
              <a:rPr kumimoji="0" sz="1200" b="0" i="0" u="none" strike="noStrike" kern="0" cap="none" spc="0" normalizeH="0" baseline="0" noProof="0">
                <a:ln>
                  <a:noFill/>
                </a:ln>
                <a:solidFill>
                  <a:srgbClr val="03522C"/>
                </a:solidFill>
                <a:effectLst/>
                <a:uLnTx/>
                <a:uFillTx/>
                <a:latin typeface="Trebuchet MS"/>
                <a:cs typeface="Trebuchet MS"/>
              </a:rPr>
              <a:t>Analytics:</a:t>
            </a:r>
            <a:r>
              <a:rPr kumimoji="0" sz="1200" b="0" i="0" u="none" strike="noStrike" kern="0" cap="none" spc="-55" normalizeH="0" baseline="0" noProof="0">
                <a:ln>
                  <a:noFill/>
                </a:ln>
                <a:solidFill>
                  <a:srgbClr val="03522C"/>
                </a:solidFill>
                <a:effectLst/>
                <a:uLnTx/>
                <a:uFillTx/>
                <a:latin typeface="Trebuchet MS"/>
                <a:cs typeface="Trebuchet MS"/>
              </a:rPr>
              <a:t> </a:t>
            </a:r>
            <a:r>
              <a:rPr kumimoji="0" sz="1200" b="0" i="0" u="none" strike="noStrike" kern="0" cap="none" spc="-10" normalizeH="0" baseline="0" noProof="0">
                <a:ln>
                  <a:noFill/>
                </a:ln>
                <a:solidFill>
                  <a:srgbClr val="565656"/>
                </a:solidFill>
                <a:effectLst/>
                <a:uLnTx/>
                <a:uFillTx/>
                <a:latin typeface="Trebuchet MS"/>
                <a:cs typeface="Trebuchet MS"/>
              </a:rPr>
              <a:t>transfers </a:t>
            </a:r>
            <a:r>
              <a:rPr kumimoji="0" sz="1200" b="0" i="0" u="none" strike="noStrike" kern="0" cap="none" spc="0" normalizeH="0" baseline="0" noProof="0">
                <a:ln>
                  <a:noFill/>
                </a:ln>
                <a:solidFill>
                  <a:srgbClr val="565656"/>
                </a:solidFill>
                <a:effectLst/>
                <a:uLnTx/>
                <a:uFillTx/>
                <a:latin typeface="Trebuchet MS"/>
                <a:cs typeface="Trebuchet MS"/>
              </a:rPr>
              <a:t>to</a:t>
            </a:r>
            <a:r>
              <a:rPr kumimoji="0" sz="1200" b="0" i="0" u="none" strike="noStrike" kern="0" cap="none" spc="-10" normalizeH="0" baseline="0" noProof="0">
                <a:ln>
                  <a:noFill/>
                </a:ln>
                <a:solidFill>
                  <a:srgbClr val="565656"/>
                </a:solidFill>
                <a:effectLst/>
                <a:uLnTx/>
                <a:uFillTx/>
                <a:latin typeface="Trebuchet MS"/>
                <a:cs typeface="Trebuchet MS"/>
              </a:rPr>
              <a:t> </a:t>
            </a:r>
            <a:r>
              <a:rPr kumimoji="0" sz="1200" b="0" i="0" u="none" strike="noStrike" kern="0" cap="none" spc="0" normalizeH="0" baseline="0" noProof="0">
                <a:ln>
                  <a:noFill/>
                </a:ln>
                <a:solidFill>
                  <a:srgbClr val="565656"/>
                </a:solidFill>
                <a:effectLst/>
                <a:uLnTx/>
                <a:uFillTx/>
                <a:latin typeface="Trebuchet MS"/>
                <a:cs typeface="Trebuchet MS"/>
              </a:rPr>
              <a:t>other</a:t>
            </a:r>
            <a:r>
              <a:rPr kumimoji="0" sz="1200" b="0" i="0" u="none" strike="noStrike" kern="0" cap="none" spc="-35" normalizeH="0" baseline="0" noProof="0">
                <a:ln>
                  <a:noFill/>
                </a:ln>
                <a:solidFill>
                  <a:srgbClr val="565656"/>
                </a:solidFill>
                <a:effectLst/>
                <a:uLnTx/>
                <a:uFillTx/>
                <a:latin typeface="Trebuchet MS"/>
                <a:cs typeface="Trebuchet MS"/>
              </a:rPr>
              <a:t> </a:t>
            </a:r>
            <a:r>
              <a:rPr kumimoji="0" sz="1200" b="0" i="0" u="none" strike="noStrike" kern="0" cap="none" spc="-20" normalizeH="0" baseline="0" noProof="0">
                <a:ln>
                  <a:noFill/>
                </a:ln>
                <a:solidFill>
                  <a:srgbClr val="565656"/>
                </a:solidFill>
                <a:effectLst/>
                <a:uLnTx/>
                <a:uFillTx/>
                <a:latin typeface="Trebuchet MS"/>
                <a:cs typeface="Trebuchet MS"/>
              </a:rPr>
              <a:t>bank </a:t>
            </a:r>
            <a:r>
              <a:rPr kumimoji="0" sz="1200" b="0" i="0" u="none" strike="noStrike" kern="0" cap="none" spc="0" normalizeH="0" baseline="0" noProof="0">
                <a:ln>
                  <a:noFill/>
                </a:ln>
                <a:solidFill>
                  <a:srgbClr val="565656"/>
                </a:solidFill>
                <a:effectLst/>
                <a:uLnTx/>
                <a:uFillTx/>
                <a:latin typeface="Trebuchet MS"/>
                <a:cs typeface="Trebuchet MS"/>
              </a:rPr>
              <a:t>account</a:t>
            </a:r>
            <a:r>
              <a:rPr kumimoji="0" sz="1200" b="0" i="0" u="none" strike="noStrike" kern="0" cap="none" spc="-45" normalizeH="0" baseline="0" noProof="0">
                <a:ln>
                  <a:noFill/>
                </a:ln>
                <a:solidFill>
                  <a:srgbClr val="565656"/>
                </a:solidFill>
                <a:effectLst/>
                <a:uLnTx/>
                <a:uFillTx/>
                <a:latin typeface="Trebuchet MS"/>
                <a:cs typeface="Trebuchet MS"/>
              </a:rPr>
              <a:t> </a:t>
            </a:r>
            <a:r>
              <a:rPr kumimoji="0" sz="1200" b="0" i="0" u="none" strike="noStrike" kern="0" cap="none" spc="0" normalizeH="0" baseline="0" noProof="0">
                <a:ln>
                  <a:noFill/>
                </a:ln>
                <a:solidFill>
                  <a:srgbClr val="565656"/>
                </a:solidFill>
                <a:effectLst/>
                <a:uLnTx/>
                <a:uFillTx/>
                <a:latin typeface="Trebuchet MS"/>
                <a:cs typeface="Trebuchet MS"/>
              </a:rPr>
              <a:t>with</a:t>
            </a:r>
            <a:r>
              <a:rPr kumimoji="0" sz="1200" b="0" i="0" u="none" strike="noStrike" kern="0" cap="none" spc="-40" normalizeH="0" baseline="0" noProof="0">
                <a:ln>
                  <a:noFill/>
                </a:ln>
                <a:solidFill>
                  <a:srgbClr val="565656"/>
                </a:solidFill>
                <a:effectLst/>
                <a:uLnTx/>
                <a:uFillTx/>
                <a:latin typeface="Trebuchet MS"/>
                <a:cs typeface="Trebuchet MS"/>
              </a:rPr>
              <a:t> </a:t>
            </a:r>
            <a:r>
              <a:rPr kumimoji="0" sz="1200" b="0" i="0" u="none" strike="noStrike" kern="0" cap="none" spc="-20" normalizeH="0" baseline="0" noProof="0">
                <a:ln>
                  <a:noFill/>
                </a:ln>
                <a:solidFill>
                  <a:srgbClr val="565656"/>
                </a:solidFill>
                <a:effectLst/>
                <a:uLnTx/>
                <a:uFillTx/>
                <a:latin typeface="Trebuchet MS"/>
                <a:cs typeface="Trebuchet MS"/>
              </a:rPr>
              <a:t>same </a:t>
            </a:r>
            <a:r>
              <a:rPr kumimoji="0" sz="1200" b="0" i="0" u="none" strike="noStrike" kern="0" cap="none" spc="0" normalizeH="0" baseline="0" noProof="0">
                <a:ln>
                  <a:noFill/>
                </a:ln>
                <a:solidFill>
                  <a:srgbClr val="565656"/>
                </a:solidFill>
                <a:effectLst/>
                <a:uLnTx/>
                <a:uFillTx/>
                <a:latin typeface="Trebuchet MS"/>
                <a:cs typeface="Trebuchet MS"/>
              </a:rPr>
              <a:t>name,</a:t>
            </a:r>
            <a:r>
              <a:rPr kumimoji="0" sz="1200" b="0" i="0" u="none" strike="noStrike" kern="0" cap="none" spc="-10" normalizeH="0" baseline="0" noProof="0">
                <a:ln>
                  <a:noFill/>
                </a:ln>
                <a:solidFill>
                  <a:srgbClr val="565656"/>
                </a:solidFill>
                <a:effectLst/>
                <a:uLnTx/>
                <a:uFillTx/>
                <a:latin typeface="Trebuchet MS"/>
                <a:cs typeface="Trebuchet MS"/>
              </a:rPr>
              <a:t> "look-</a:t>
            </a:r>
            <a:r>
              <a:rPr kumimoji="0" sz="1200" b="0" i="0" u="none" strike="noStrike" kern="0" cap="none" spc="-20" normalizeH="0" baseline="0" noProof="0">
                <a:ln>
                  <a:noFill/>
                </a:ln>
                <a:solidFill>
                  <a:srgbClr val="565656"/>
                </a:solidFill>
                <a:effectLst/>
                <a:uLnTx/>
                <a:uFillTx/>
                <a:latin typeface="Trebuchet MS"/>
                <a:cs typeface="Trebuchet MS"/>
              </a:rPr>
              <a:t>alike </a:t>
            </a:r>
            <a:r>
              <a:rPr kumimoji="0" sz="1200" b="0" i="0" u="none" strike="noStrike" kern="0" cap="none" spc="-10" normalizeH="0" baseline="0" noProof="0">
                <a:ln>
                  <a:noFill/>
                </a:ln>
                <a:solidFill>
                  <a:srgbClr val="565656"/>
                </a:solidFill>
                <a:effectLst/>
                <a:uLnTx/>
                <a:uFillTx/>
                <a:latin typeface="Trebuchet MS"/>
                <a:cs typeface="Trebuchet MS"/>
              </a:rPr>
              <a:t>analysis"</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a:p>
            <a:pPr marL="229235" marR="0" lvl="0" indent="-216535" defTabSz="914400" eaLnBrk="1" fontAlgn="auto" latinLnBrk="0" hangingPunct="1">
              <a:lnSpc>
                <a:spcPct val="100000"/>
              </a:lnSpc>
              <a:spcBef>
                <a:spcPts val="0"/>
              </a:spcBef>
              <a:spcAft>
                <a:spcPts val="0"/>
              </a:spcAft>
              <a:buClr>
                <a:srgbClr val="005FAE"/>
              </a:buClr>
              <a:buSzTx/>
              <a:buFontTx/>
              <a:buChar char="•"/>
              <a:tabLst>
                <a:tab pos="229235" algn="l"/>
              </a:tabLst>
              <a:defRPr/>
            </a:pPr>
            <a:r>
              <a:rPr kumimoji="0" sz="1200" b="0" i="0" u="none" strike="noStrike" kern="0" cap="none" spc="0" normalizeH="0" baseline="0" noProof="0">
                <a:ln>
                  <a:noFill/>
                </a:ln>
                <a:solidFill>
                  <a:srgbClr val="565656"/>
                </a:solidFill>
                <a:effectLst/>
                <a:uLnTx/>
                <a:uFillTx/>
                <a:latin typeface="Trebuchet MS"/>
                <a:cs typeface="Trebuchet MS"/>
              </a:rPr>
              <a:t>Branch</a:t>
            </a:r>
            <a:r>
              <a:rPr kumimoji="0" sz="1200" b="0" i="0" u="none" strike="noStrike" kern="0" cap="none" spc="-40" normalizeH="0" baseline="0" noProof="0">
                <a:ln>
                  <a:noFill/>
                </a:ln>
                <a:solidFill>
                  <a:srgbClr val="565656"/>
                </a:solidFill>
                <a:effectLst/>
                <a:uLnTx/>
                <a:uFillTx/>
                <a:latin typeface="Trebuchet MS"/>
                <a:cs typeface="Trebuchet MS"/>
              </a:rPr>
              <a:t> </a:t>
            </a:r>
            <a:r>
              <a:rPr kumimoji="0" sz="1200" b="0" i="0" u="none" strike="noStrike" kern="0" cap="none" spc="-10" normalizeH="0" baseline="0" noProof="0">
                <a:ln>
                  <a:noFill/>
                </a:ln>
                <a:solidFill>
                  <a:srgbClr val="565656"/>
                </a:solidFill>
                <a:effectLst/>
                <a:uLnTx/>
                <a:uFillTx/>
                <a:latin typeface="Trebuchet MS"/>
                <a:cs typeface="Trebuchet MS"/>
              </a:rPr>
              <a:t>referral</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a:p>
            <a:pPr marL="229235" marR="0" lvl="0" indent="0" defTabSz="914400" eaLnBrk="1" fontAlgn="auto" latinLnBrk="0" hangingPunct="1">
              <a:lnSpc>
                <a:spcPct val="100000"/>
              </a:lnSpc>
              <a:spcBef>
                <a:spcPts val="0"/>
              </a:spcBef>
              <a:spcAft>
                <a:spcPts val="0"/>
              </a:spcAft>
              <a:buClrTx/>
              <a:buSzTx/>
              <a:buFontTx/>
              <a:buNone/>
              <a:tabLst/>
              <a:defRPr/>
            </a:pPr>
            <a:r>
              <a:rPr kumimoji="0" sz="1200" b="0" i="0" u="none" strike="noStrike" kern="0" cap="none" spc="-10" normalizeH="0" baseline="0" noProof="0">
                <a:ln>
                  <a:noFill/>
                </a:ln>
                <a:solidFill>
                  <a:srgbClr val="565656"/>
                </a:solidFill>
                <a:effectLst/>
                <a:uLnTx/>
                <a:uFillTx/>
                <a:latin typeface="Trebuchet MS"/>
                <a:cs typeface="Trebuchet MS"/>
              </a:rPr>
              <a:t>program</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46" name="object 46"/>
          <p:cNvSpPr txBox="1"/>
          <p:nvPr/>
        </p:nvSpPr>
        <p:spPr>
          <a:xfrm>
            <a:off x="5394197" y="4294758"/>
            <a:ext cx="1318895" cy="756920"/>
          </a:xfrm>
          <a:prstGeom prst="rect">
            <a:avLst/>
          </a:prstGeom>
        </p:spPr>
        <p:txBody>
          <a:bodyPr vert="horz" wrap="square" lIns="0" tIns="12700" rIns="0" bIns="0" rtlCol="0">
            <a:spAutoFit/>
          </a:bodyPr>
          <a:lstStyle/>
          <a:p>
            <a:pPr marL="228600" marR="5080" lvl="0" indent="-216535" defTabSz="914400" eaLnBrk="1" fontAlgn="auto" latinLnBrk="0" hangingPunct="1">
              <a:lnSpc>
                <a:spcPct val="100000"/>
              </a:lnSpc>
              <a:spcBef>
                <a:spcPts val="100"/>
              </a:spcBef>
              <a:spcAft>
                <a:spcPts val="0"/>
              </a:spcAft>
              <a:buClr>
                <a:srgbClr val="005FAE"/>
              </a:buClr>
              <a:buSzTx/>
              <a:buFontTx/>
              <a:buChar char="•"/>
              <a:tabLst>
                <a:tab pos="228600" algn="l"/>
              </a:tabLst>
              <a:defRPr/>
            </a:pPr>
            <a:r>
              <a:rPr kumimoji="0" sz="1200" b="0" i="0" u="none" strike="noStrike" kern="0" cap="none" spc="0" normalizeH="0" baseline="0" noProof="0">
                <a:ln>
                  <a:noFill/>
                </a:ln>
                <a:solidFill>
                  <a:srgbClr val="03522C"/>
                </a:solidFill>
                <a:effectLst/>
                <a:uLnTx/>
                <a:uFillTx/>
                <a:latin typeface="Trebuchet MS"/>
                <a:cs typeface="Trebuchet MS"/>
              </a:rPr>
              <a:t>Analytics:</a:t>
            </a:r>
            <a:r>
              <a:rPr kumimoji="0" sz="1200" b="0" i="0" u="none" strike="noStrike" kern="0" cap="none" spc="-55" normalizeH="0" baseline="0" noProof="0">
                <a:ln>
                  <a:noFill/>
                </a:ln>
                <a:solidFill>
                  <a:srgbClr val="03522C"/>
                </a:solidFill>
                <a:effectLst/>
                <a:uLnTx/>
                <a:uFillTx/>
                <a:latin typeface="Trebuchet MS"/>
                <a:cs typeface="Trebuchet MS"/>
              </a:rPr>
              <a:t> </a:t>
            </a:r>
            <a:r>
              <a:rPr kumimoji="0" sz="1200" b="0" i="0" u="none" strike="noStrike" kern="0" cap="none" spc="-20" normalizeH="0" baseline="0" noProof="0">
                <a:ln>
                  <a:noFill/>
                </a:ln>
                <a:solidFill>
                  <a:srgbClr val="565656"/>
                </a:solidFill>
                <a:effectLst/>
                <a:uLnTx/>
                <a:uFillTx/>
                <a:latin typeface="Trebuchet MS"/>
                <a:cs typeface="Trebuchet MS"/>
              </a:rPr>
              <a:t>Spike </a:t>
            </a:r>
            <a:r>
              <a:rPr kumimoji="0" sz="1200" b="0" i="0" u="none" strike="noStrike" kern="0" cap="none" spc="0" normalizeH="0" baseline="0" noProof="0">
                <a:ln>
                  <a:noFill/>
                </a:ln>
                <a:solidFill>
                  <a:srgbClr val="565656"/>
                </a:solidFill>
                <a:effectLst/>
                <a:uLnTx/>
                <a:uFillTx/>
                <a:latin typeface="Trebuchet MS"/>
                <a:cs typeface="Trebuchet MS"/>
              </a:rPr>
              <a:t>in</a:t>
            </a:r>
            <a:r>
              <a:rPr kumimoji="0" sz="1200" b="0" i="0" u="none" strike="noStrike" kern="0" cap="none" spc="-85" normalizeH="0" baseline="0" noProof="0">
                <a:ln>
                  <a:noFill/>
                </a:ln>
                <a:solidFill>
                  <a:srgbClr val="565656"/>
                </a:solidFill>
                <a:effectLst/>
                <a:uLnTx/>
                <a:uFillTx/>
                <a:latin typeface="Trebuchet MS"/>
                <a:cs typeface="Trebuchet MS"/>
              </a:rPr>
              <a:t> </a:t>
            </a:r>
            <a:r>
              <a:rPr kumimoji="0" lang="en-US" sz="1200" b="0" i="0" u="none" strike="noStrike" kern="0" cap="none" spc="-25" normalizeH="0" baseline="0" noProof="0" err="1">
                <a:ln>
                  <a:noFill/>
                </a:ln>
                <a:solidFill>
                  <a:srgbClr val="565656"/>
                </a:solidFill>
                <a:effectLst/>
                <a:uLnTx/>
                <a:uFillTx/>
                <a:latin typeface="Trebuchet MS"/>
                <a:cs typeface="Trebuchet MS"/>
              </a:rPr>
              <a:t>AuM</a:t>
            </a:r>
            <a:r>
              <a:rPr kumimoji="0" sz="1200" b="0" i="0" u="none" strike="noStrike" kern="0" cap="none" spc="-25" normalizeH="0" baseline="0" noProof="0">
                <a:ln>
                  <a:noFill/>
                </a:ln>
                <a:solidFill>
                  <a:srgbClr val="565656"/>
                </a:solidFill>
                <a:effectLst/>
                <a:uLnTx/>
                <a:uFillTx/>
                <a:latin typeface="Trebuchet MS"/>
                <a:cs typeface="Trebuchet MS"/>
              </a:rPr>
              <a:t> </a:t>
            </a:r>
            <a:r>
              <a:rPr kumimoji="0" sz="1200" b="0" i="0" u="none" strike="noStrike" kern="0" cap="none" spc="-10" normalizeH="0" baseline="0" noProof="0">
                <a:ln>
                  <a:noFill/>
                </a:ln>
                <a:solidFill>
                  <a:srgbClr val="565656"/>
                </a:solidFill>
                <a:effectLst/>
                <a:uLnTx/>
                <a:uFillTx/>
                <a:latin typeface="Trebuchet MS"/>
                <a:cs typeface="Trebuchet MS"/>
              </a:rPr>
              <a:t>compared</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a:p>
            <a:pPr marL="228600" marR="0" lvl="0" indent="0" defTabSz="914400" eaLnBrk="1" fontAlgn="auto" latinLnBrk="0" hangingPunct="1">
              <a:lnSpc>
                <a:spcPct val="100000"/>
              </a:lnSpc>
              <a:spcBef>
                <a:spcPts val="0"/>
              </a:spcBef>
              <a:spcAft>
                <a:spcPts val="0"/>
              </a:spcAft>
              <a:buClrTx/>
              <a:buSzTx/>
              <a:buFontTx/>
              <a:buNone/>
              <a:tabLst/>
              <a:defRPr/>
            </a:pPr>
            <a:r>
              <a:rPr kumimoji="0" sz="1200" b="0" i="0" u="none" strike="noStrike" kern="0" cap="none" spc="0" normalizeH="0" baseline="0" noProof="0">
                <a:ln>
                  <a:noFill/>
                </a:ln>
                <a:solidFill>
                  <a:srgbClr val="565656"/>
                </a:solidFill>
                <a:effectLst/>
                <a:uLnTx/>
                <a:uFillTx/>
                <a:latin typeface="Trebuchet MS"/>
                <a:cs typeface="Trebuchet MS"/>
              </a:rPr>
              <a:t>to</a:t>
            </a:r>
            <a:r>
              <a:rPr kumimoji="0" sz="1200" b="0" i="0" u="none" strike="noStrike" kern="0" cap="none" spc="-5" normalizeH="0" baseline="0" noProof="0">
                <a:ln>
                  <a:noFill/>
                </a:ln>
                <a:solidFill>
                  <a:srgbClr val="565656"/>
                </a:solidFill>
                <a:effectLst/>
                <a:uLnTx/>
                <a:uFillTx/>
                <a:latin typeface="Trebuchet MS"/>
                <a:cs typeface="Trebuchet MS"/>
              </a:rPr>
              <a:t> </a:t>
            </a:r>
            <a:r>
              <a:rPr kumimoji="0" sz="1200" b="0" i="0" u="none" strike="noStrike" kern="0" cap="none" spc="0" normalizeH="0" baseline="0" noProof="0">
                <a:ln>
                  <a:noFill/>
                </a:ln>
                <a:solidFill>
                  <a:srgbClr val="565656"/>
                </a:solidFill>
                <a:effectLst/>
                <a:uLnTx/>
                <a:uFillTx/>
                <a:latin typeface="Trebuchet MS"/>
                <a:cs typeface="Trebuchet MS"/>
              </a:rPr>
              <a:t>pre-</a:t>
            </a:r>
            <a:r>
              <a:rPr kumimoji="0" sz="1200" b="0" i="0" u="none" strike="noStrike" kern="0" cap="none" spc="-10" normalizeH="0" baseline="0" noProof="0">
                <a:ln>
                  <a:noFill/>
                </a:ln>
                <a:solidFill>
                  <a:srgbClr val="565656"/>
                </a:solidFill>
                <a:effectLst/>
                <a:uLnTx/>
                <a:uFillTx/>
                <a:latin typeface="Trebuchet MS"/>
                <a:cs typeface="Trebuchet MS"/>
              </a:rPr>
              <a:t>COVID</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47" name="object 47"/>
          <p:cNvSpPr txBox="1"/>
          <p:nvPr/>
        </p:nvSpPr>
        <p:spPr>
          <a:xfrm>
            <a:off x="6962647" y="4294758"/>
            <a:ext cx="1377950" cy="1306195"/>
          </a:xfrm>
          <a:prstGeom prst="rect">
            <a:avLst/>
          </a:prstGeom>
        </p:spPr>
        <p:txBody>
          <a:bodyPr vert="horz" wrap="square" lIns="0" tIns="12700" rIns="0" bIns="0" rtlCol="0">
            <a:spAutoFit/>
          </a:bodyPr>
          <a:lstStyle/>
          <a:p>
            <a:pPr marL="228600" marR="120014" lvl="0" indent="-216535" defTabSz="914400" eaLnBrk="1" fontAlgn="auto" latinLnBrk="0" hangingPunct="1">
              <a:lnSpc>
                <a:spcPct val="100000"/>
              </a:lnSpc>
              <a:spcBef>
                <a:spcPts val="100"/>
              </a:spcBef>
              <a:spcAft>
                <a:spcPts val="0"/>
              </a:spcAft>
              <a:buClr>
                <a:srgbClr val="005FAE"/>
              </a:buClr>
              <a:buSzTx/>
              <a:buFontTx/>
              <a:buChar char="•"/>
              <a:tabLst>
                <a:tab pos="228600" algn="l"/>
              </a:tabLst>
              <a:defRPr/>
            </a:pPr>
            <a:r>
              <a:rPr kumimoji="0" sz="1200" b="0" i="0" u="none" strike="noStrike" kern="0" cap="none" spc="0" normalizeH="0" baseline="0" noProof="0">
                <a:ln>
                  <a:noFill/>
                </a:ln>
                <a:solidFill>
                  <a:srgbClr val="03522C"/>
                </a:solidFill>
                <a:effectLst/>
                <a:uLnTx/>
                <a:uFillTx/>
                <a:latin typeface="Trebuchet MS"/>
                <a:cs typeface="Trebuchet MS"/>
              </a:rPr>
              <a:t>Analytics:</a:t>
            </a:r>
            <a:r>
              <a:rPr kumimoji="0" sz="1200" b="0" i="0" u="none" strike="noStrike" kern="0" cap="none" spc="-55" normalizeH="0" baseline="0" noProof="0">
                <a:ln>
                  <a:noFill/>
                </a:ln>
                <a:solidFill>
                  <a:srgbClr val="03522C"/>
                </a:solidFill>
                <a:effectLst/>
                <a:uLnTx/>
                <a:uFillTx/>
                <a:latin typeface="Trebuchet MS"/>
                <a:cs typeface="Trebuchet MS"/>
              </a:rPr>
              <a:t> </a:t>
            </a:r>
            <a:r>
              <a:rPr kumimoji="0" sz="1200" b="0" i="0" u="none" strike="noStrike" kern="0" cap="none" spc="-20" normalizeH="0" baseline="0" noProof="0">
                <a:ln>
                  <a:noFill/>
                </a:ln>
                <a:solidFill>
                  <a:srgbClr val="565656"/>
                </a:solidFill>
                <a:effectLst/>
                <a:uLnTx/>
                <a:uFillTx/>
                <a:latin typeface="Trebuchet MS"/>
                <a:cs typeface="Trebuchet MS"/>
              </a:rPr>
              <a:t>non- </a:t>
            </a:r>
            <a:r>
              <a:rPr kumimoji="0" sz="1200" b="0" i="0" u="none" strike="noStrike" kern="0" cap="none" spc="-10" normalizeH="0" baseline="0" noProof="0">
                <a:ln>
                  <a:noFill/>
                </a:ln>
                <a:solidFill>
                  <a:srgbClr val="565656"/>
                </a:solidFill>
                <a:effectLst/>
                <a:uLnTx/>
                <a:uFillTx/>
                <a:latin typeface="Trebuchet MS"/>
                <a:cs typeface="Trebuchet MS"/>
              </a:rPr>
              <a:t>wealth customers</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a:p>
            <a:pPr marL="228600" marR="104775" lvl="0" indent="-216535" defTabSz="914400" eaLnBrk="1" fontAlgn="auto" latinLnBrk="0" hangingPunct="1">
              <a:lnSpc>
                <a:spcPct val="100000"/>
              </a:lnSpc>
              <a:spcBef>
                <a:spcPts val="0"/>
              </a:spcBef>
              <a:spcAft>
                <a:spcPts val="0"/>
              </a:spcAft>
              <a:buClr>
                <a:srgbClr val="005FAE"/>
              </a:buClr>
              <a:buSzTx/>
              <a:buFontTx/>
              <a:buChar char="•"/>
              <a:tabLst>
                <a:tab pos="228600" algn="l"/>
              </a:tabLst>
              <a:defRPr/>
            </a:pPr>
            <a:r>
              <a:rPr kumimoji="0" sz="1200" b="0" i="0" u="none" strike="noStrike" kern="0" cap="none" spc="0" normalizeH="0" baseline="0" noProof="0">
                <a:ln>
                  <a:noFill/>
                </a:ln>
                <a:solidFill>
                  <a:srgbClr val="565656"/>
                </a:solidFill>
                <a:effectLst/>
                <a:uLnTx/>
                <a:uFillTx/>
                <a:latin typeface="Trebuchet MS"/>
                <a:cs typeface="Trebuchet MS"/>
              </a:rPr>
              <a:t>Branch</a:t>
            </a:r>
            <a:r>
              <a:rPr kumimoji="0" sz="1200" b="0" i="0" u="none" strike="noStrike" kern="0" cap="none" spc="-60" normalizeH="0" baseline="0" noProof="0">
                <a:ln>
                  <a:noFill/>
                </a:ln>
                <a:solidFill>
                  <a:srgbClr val="565656"/>
                </a:solidFill>
                <a:effectLst/>
                <a:uLnTx/>
                <a:uFillTx/>
                <a:latin typeface="Trebuchet MS"/>
                <a:cs typeface="Trebuchet MS"/>
              </a:rPr>
              <a:t> </a:t>
            </a:r>
            <a:r>
              <a:rPr kumimoji="0" sz="1200" b="0" i="0" u="none" strike="noStrike" kern="0" cap="none" spc="-10" normalizeH="0" baseline="0" noProof="0">
                <a:ln>
                  <a:noFill/>
                </a:ln>
                <a:solidFill>
                  <a:srgbClr val="565656"/>
                </a:solidFill>
                <a:effectLst/>
                <a:uLnTx/>
                <a:uFillTx/>
                <a:latin typeface="Trebuchet MS"/>
                <a:cs typeface="Trebuchet MS"/>
              </a:rPr>
              <a:t>referral program</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a:p>
            <a:pPr marL="228600" marR="0" lvl="0" indent="-215900" defTabSz="914400" eaLnBrk="1" fontAlgn="auto" latinLnBrk="0" hangingPunct="1">
              <a:lnSpc>
                <a:spcPct val="100000"/>
              </a:lnSpc>
              <a:spcBef>
                <a:spcPts val="0"/>
              </a:spcBef>
              <a:spcAft>
                <a:spcPts val="0"/>
              </a:spcAft>
              <a:buClr>
                <a:srgbClr val="005FAE"/>
              </a:buClr>
              <a:buSzTx/>
              <a:buFontTx/>
              <a:buChar char="•"/>
              <a:tabLst>
                <a:tab pos="228600" algn="l"/>
              </a:tabLst>
              <a:defRPr/>
            </a:pPr>
            <a:r>
              <a:rPr kumimoji="0" sz="1200" b="0" i="0" u="none" strike="noStrike" kern="0" cap="none" spc="-10" normalizeH="0" baseline="0" noProof="0">
                <a:ln>
                  <a:noFill/>
                </a:ln>
                <a:solidFill>
                  <a:srgbClr val="565656"/>
                </a:solidFill>
                <a:effectLst/>
                <a:uLnTx/>
                <a:uFillTx/>
                <a:latin typeface="Trebuchet MS"/>
                <a:cs typeface="Trebuchet MS"/>
              </a:rPr>
              <a:t>Corporate</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a:p>
            <a:pPr marL="228600" marR="0" lvl="0" indent="0" defTabSz="914400" eaLnBrk="1" fontAlgn="auto" latinLnBrk="0" hangingPunct="1">
              <a:lnSpc>
                <a:spcPct val="100000"/>
              </a:lnSpc>
              <a:spcBef>
                <a:spcPts val="0"/>
              </a:spcBef>
              <a:spcAft>
                <a:spcPts val="0"/>
              </a:spcAft>
              <a:buClrTx/>
              <a:buSzTx/>
              <a:buFontTx/>
              <a:buNone/>
              <a:tabLst/>
              <a:defRPr/>
            </a:pPr>
            <a:r>
              <a:rPr kumimoji="0" sz="1200" b="0" i="0" u="none" strike="noStrike" kern="0" cap="none" spc="0" normalizeH="0" baseline="0" noProof="0">
                <a:ln>
                  <a:noFill/>
                </a:ln>
                <a:solidFill>
                  <a:srgbClr val="565656"/>
                </a:solidFill>
                <a:effectLst/>
                <a:uLnTx/>
                <a:uFillTx/>
                <a:latin typeface="Trebuchet MS"/>
                <a:cs typeface="Trebuchet MS"/>
              </a:rPr>
              <a:t>referral</a:t>
            </a:r>
            <a:r>
              <a:rPr kumimoji="0" sz="1200" b="0" i="0" u="none" strike="noStrike" kern="0" cap="none" spc="-60" normalizeH="0" baseline="0" noProof="0">
                <a:ln>
                  <a:noFill/>
                </a:ln>
                <a:solidFill>
                  <a:srgbClr val="565656"/>
                </a:solidFill>
                <a:effectLst/>
                <a:uLnTx/>
                <a:uFillTx/>
                <a:latin typeface="Trebuchet MS"/>
                <a:cs typeface="Trebuchet MS"/>
              </a:rPr>
              <a:t> </a:t>
            </a:r>
            <a:r>
              <a:rPr kumimoji="0" sz="1200" b="0" i="0" u="none" strike="noStrike" kern="0" cap="none" spc="-10" normalizeH="0" baseline="0" noProof="0">
                <a:ln>
                  <a:noFill/>
                </a:ln>
                <a:solidFill>
                  <a:srgbClr val="565656"/>
                </a:solidFill>
                <a:effectLst/>
                <a:uLnTx/>
                <a:uFillTx/>
                <a:latin typeface="Trebuchet MS"/>
                <a:cs typeface="Trebuchet MS"/>
              </a:rPr>
              <a:t>program</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48" name="object 48"/>
          <p:cNvSpPr txBox="1"/>
          <p:nvPr/>
        </p:nvSpPr>
        <p:spPr>
          <a:xfrm>
            <a:off x="8543797" y="4294758"/>
            <a:ext cx="1288415" cy="1123315"/>
          </a:xfrm>
          <a:prstGeom prst="rect">
            <a:avLst/>
          </a:prstGeom>
        </p:spPr>
        <p:txBody>
          <a:bodyPr vert="horz" wrap="square" lIns="0" tIns="12700" rIns="0" bIns="0" rtlCol="0">
            <a:spAutoFit/>
          </a:bodyPr>
          <a:lstStyle/>
          <a:p>
            <a:pPr marL="215900" marR="5080" lvl="0" indent="-216535" defTabSz="914400" eaLnBrk="1" fontAlgn="auto" latinLnBrk="0" hangingPunct="1">
              <a:lnSpc>
                <a:spcPct val="100000"/>
              </a:lnSpc>
              <a:spcBef>
                <a:spcPts val="100"/>
              </a:spcBef>
              <a:spcAft>
                <a:spcPts val="0"/>
              </a:spcAft>
              <a:buClr>
                <a:srgbClr val="005FAE"/>
              </a:buClr>
              <a:buSzTx/>
              <a:buFontTx/>
              <a:buChar char="•"/>
              <a:tabLst>
                <a:tab pos="215900" algn="l"/>
              </a:tabLst>
              <a:defRPr/>
            </a:pPr>
            <a:r>
              <a:rPr kumimoji="0" sz="1200" b="0" i="0" u="none" strike="noStrike" kern="0" cap="none" spc="-10" normalizeH="0" baseline="0" noProof="0">
                <a:ln>
                  <a:noFill/>
                </a:ln>
                <a:solidFill>
                  <a:srgbClr val="03522C"/>
                </a:solidFill>
                <a:effectLst/>
                <a:uLnTx/>
                <a:uFillTx/>
                <a:latin typeface="Trebuchet MS"/>
                <a:cs typeface="Trebuchet MS"/>
              </a:rPr>
              <a:t>Analytics: </a:t>
            </a:r>
            <a:r>
              <a:rPr kumimoji="0" sz="1200" b="0" i="0" u="none" strike="noStrike" kern="0" cap="none" spc="0" normalizeH="0" baseline="0" noProof="0">
                <a:ln>
                  <a:noFill/>
                </a:ln>
                <a:solidFill>
                  <a:srgbClr val="565656"/>
                </a:solidFill>
                <a:effectLst/>
                <a:uLnTx/>
                <a:uFillTx/>
                <a:latin typeface="Trebuchet MS"/>
                <a:cs typeface="Trebuchet MS"/>
              </a:rPr>
              <a:t>customers</a:t>
            </a:r>
            <a:r>
              <a:rPr kumimoji="0" sz="1200" b="0" i="0" u="none" strike="noStrike" kern="0" cap="none" spc="-55" normalizeH="0" baseline="0" noProof="0">
                <a:ln>
                  <a:noFill/>
                </a:ln>
                <a:solidFill>
                  <a:srgbClr val="565656"/>
                </a:solidFill>
                <a:effectLst/>
                <a:uLnTx/>
                <a:uFillTx/>
                <a:latin typeface="Trebuchet MS"/>
                <a:cs typeface="Trebuchet MS"/>
              </a:rPr>
              <a:t> </a:t>
            </a:r>
            <a:r>
              <a:rPr kumimoji="0" sz="1200" b="0" i="0" u="none" strike="noStrike" kern="0" cap="none" spc="-20" normalizeH="0" baseline="0" noProof="0">
                <a:ln>
                  <a:noFill/>
                </a:ln>
                <a:solidFill>
                  <a:srgbClr val="565656"/>
                </a:solidFill>
                <a:effectLst/>
                <a:uLnTx/>
                <a:uFillTx/>
                <a:latin typeface="Trebuchet MS"/>
                <a:cs typeface="Trebuchet MS"/>
              </a:rPr>
              <a:t>with </a:t>
            </a:r>
            <a:r>
              <a:rPr kumimoji="0" sz="1200" b="0" i="0" u="none" strike="noStrike" kern="0" cap="none" spc="0" normalizeH="0" baseline="0" noProof="0">
                <a:ln>
                  <a:noFill/>
                </a:ln>
                <a:solidFill>
                  <a:srgbClr val="565656"/>
                </a:solidFill>
                <a:effectLst/>
                <a:uLnTx/>
                <a:uFillTx/>
                <a:latin typeface="Trebuchet MS"/>
                <a:cs typeface="Trebuchet MS"/>
              </a:rPr>
              <a:t>tenure</a:t>
            </a:r>
            <a:r>
              <a:rPr kumimoji="0" sz="1200" b="0" i="0" u="none" strike="noStrike" kern="0" cap="none" spc="-65" normalizeH="0" baseline="0" noProof="0">
                <a:ln>
                  <a:noFill/>
                </a:ln>
                <a:solidFill>
                  <a:srgbClr val="565656"/>
                </a:solidFill>
                <a:effectLst/>
                <a:uLnTx/>
                <a:uFillTx/>
                <a:latin typeface="Trebuchet MS"/>
                <a:cs typeface="Trebuchet MS"/>
              </a:rPr>
              <a:t> </a:t>
            </a:r>
            <a:r>
              <a:rPr kumimoji="0" sz="1200" b="0" i="0" u="none" strike="noStrike" kern="0" cap="none" spc="0" normalizeH="0" baseline="0" noProof="0">
                <a:ln>
                  <a:noFill/>
                </a:ln>
                <a:solidFill>
                  <a:srgbClr val="565656"/>
                </a:solidFill>
                <a:effectLst/>
                <a:uLnTx/>
                <a:uFillTx/>
                <a:latin typeface="Trebuchet MS"/>
                <a:cs typeface="Trebuchet MS"/>
              </a:rPr>
              <a:t>&gt;5</a:t>
            </a:r>
            <a:r>
              <a:rPr kumimoji="0" sz="1200" b="0" i="0" u="none" strike="noStrike" kern="0" cap="none" spc="-15" normalizeH="0" baseline="0" noProof="0">
                <a:ln>
                  <a:noFill/>
                </a:ln>
                <a:solidFill>
                  <a:srgbClr val="565656"/>
                </a:solidFill>
                <a:effectLst/>
                <a:uLnTx/>
                <a:uFillTx/>
                <a:latin typeface="Trebuchet MS"/>
                <a:cs typeface="Trebuchet MS"/>
              </a:rPr>
              <a:t> </a:t>
            </a:r>
            <a:r>
              <a:rPr kumimoji="0" sz="1200" b="0" i="0" u="none" strike="noStrike" kern="0" cap="none" spc="-10" normalizeH="0" baseline="0" noProof="0">
                <a:ln>
                  <a:noFill/>
                </a:ln>
                <a:solidFill>
                  <a:srgbClr val="565656"/>
                </a:solidFill>
                <a:effectLst/>
                <a:uLnTx/>
                <a:uFillTx/>
                <a:latin typeface="Trebuchet MS"/>
                <a:cs typeface="Trebuchet MS"/>
              </a:rPr>
              <a:t>years </a:t>
            </a:r>
            <a:r>
              <a:rPr kumimoji="0" sz="1200" b="0" i="0" u="none" strike="noStrike" kern="0" cap="none" spc="0" normalizeH="0" baseline="0" noProof="0">
                <a:ln>
                  <a:noFill/>
                </a:ln>
                <a:solidFill>
                  <a:srgbClr val="565656"/>
                </a:solidFill>
                <a:effectLst/>
                <a:uLnTx/>
                <a:uFillTx/>
                <a:latin typeface="Trebuchet MS"/>
                <a:cs typeface="Trebuchet MS"/>
              </a:rPr>
              <a:t>and</a:t>
            </a:r>
            <a:r>
              <a:rPr kumimoji="0" sz="1200" b="0" i="0" u="none" strike="noStrike" kern="0" cap="none" spc="-5" normalizeH="0" baseline="0" noProof="0">
                <a:ln>
                  <a:noFill/>
                </a:ln>
                <a:solidFill>
                  <a:srgbClr val="565656"/>
                </a:solidFill>
                <a:effectLst/>
                <a:uLnTx/>
                <a:uFillTx/>
                <a:latin typeface="Trebuchet MS"/>
                <a:cs typeface="Trebuchet MS"/>
              </a:rPr>
              <a:t> </a:t>
            </a:r>
            <a:r>
              <a:rPr kumimoji="0" sz="1200" b="0" i="0" u="none" strike="noStrike" kern="0" cap="none" spc="-10" normalizeH="0" baseline="0" noProof="0">
                <a:ln>
                  <a:noFill/>
                </a:ln>
                <a:solidFill>
                  <a:srgbClr val="565656"/>
                </a:solidFill>
                <a:effectLst/>
                <a:uLnTx/>
                <a:uFillTx/>
                <a:latin typeface="Trebuchet MS"/>
                <a:cs typeface="Trebuchet MS"/>
              </a:rPr>
              <a:t>high</a:t>
            </a:r>
            <a:r>
              <a:rPr kumimoji="0" sz="1200" b="0" i="0" u="none" strike="noStrike" kern="0" cap="none" spc="-75" normalizeH="0" baseline="0" noProof="0">
                <a:ln>
                  <a:noFill/>
                </a:ln>
                <a:solidFill>
                  <a:srgbClr val="565656"/>
                </a:solidFill>
                <a:effectLst/>
                <a:uLnTx/>
                <a:uFillTx/>
                <a:latin typeface="Trebuchet MS"/>
                <a:cs typeface="Trebuchet MS"/>
              </a:rPr>
              <a:t> </a:t>
            </a:r>
            <a:r>
              <a:rPr kumimoji="0" lang="en-US" sz="1200" b="0" i="0" u="none" strike="noStrike" kern="0" cap="none" spc="-25" normalizeH="0" baseline="0" noProof="0" err="1">
                <a:ln>
                  <a:noFill/>
                </a:ln>
                <a:solidFill>
                  <a:srgbClr val="565656"/>
                </a:solidFill>
                <a:effectLst/>
                <a:uLnTx/>
                <a:uFillTx/>
                <a:latin typeface="Trebuchet MS"/>
                <a:cs typeface="Trebuchet MS"/>
              </a:rPr>
              <a:t>AuM</a:t>
            </a:r>
            <a:r>
              <a:rPr kumimoji="0" sz="1200" b="0" i="0" u="none" strike="noStrike" kern="0" cap="none" spc="-25" normalizeH="0" baseline="0" noProof="0">
                <a:ln>
                  <a:noFill/>
                </a:ln>
                <a:solidFill>
                  <a:srgbClr val="565656"/>
                </a:solidFill>
                <a:effectLst/>
                <a:uLnTx/>
                <a:uFillTx/>
                <a:latin typeface="Trebuchet MS"/>
                <a:cs typeface="Trebuchet MS"/>
              </a:rPr>
              <a:t> </a:t>
            </a:r>
            <a:r>
              <a:rPr kumimoji="0" sz="1200" b="0" i="0" u="none" strike="noStrike" kern="0" cap="none" spc="0" normalizeH="0" baseline="0" noProof="0">
                <a:ln>
                  <a:noFill/>
                </a:ln>
                <a:solidFill>
                  <a:srgbClr val="565656"/>
                </a:solidFill>
                <a:effectLst/>
                <a:uLnTx/>
                <a:uFillTx/>
                <a:latin typeface="Trebuchet MS"/>
                <a:cs typeface="Trebuchet MS"/>
              </a:rPr>
              <a:t>(majority</a:t>
            </a:r>
            <a:r>
              <a:rPr kumimoji="0" sz="1200" b="0" i="0" u="none" strike="noStrike" kern="0" cap="none" spc="-65" normalizeH="0" baseline="0" noProof="0">
                <a:ln>
                  <a:noFill/>
                </a:ln>
                <a:solidFill>
                  <a:srgbClr val="565656"/>
                </a:solidFill>
                <a:effectLst/>
                <a:uLnTx/>
                <a:uFillTx/>
                <a:latin typeface="Trebuchet MS"/>
                <a:cs typeface="Trebuchet MS"/>
              </a:rPr>
              <a:t> </a:t>
            </a:r>
            <a:r>
              <a:rPr kumimoji="0" sz="1200" b="0" i="0" u="none" strike="noStrike" kern="0" cap="none" spc="-35" normalizeH="0" baseline="0" noProof="0">
                <a:ln>
                  <a:noFill/>
                </a:ln>
                <a:solidFill>
                  <a:srgbClr val="565656"/>
                </a:solidFill>
                <a:effectLst/>
                <a:uLnTx/>
                <a:uFillTx/>
                <a:latin typeface="Trebuchet MS"/>
                <a:cs typeface="Trebuchet MS"/>
              </a:rPr>
              <a:t>in </a:t>
            </a:r>
            <a:r>
              <a:rPr kumimoji="0" sz="1200" b="0" i="0" u="none" strike="noStrike" kern="0" cap="none" spc="-10" normalizeH="0" baseline="0" noProof="0">
                <a:ln>
                  <a:noFill/>
                </a:ln>
                <a:solidFill>
                  <a:srgbClr val="565656"/>
                </a:solidFill>
                <a:effectLst/>
                <a:uLnTx/>
                <a:uFillTx/>
                <a:latin typeface="Trebuchet MS"/>
                <a:cs typeface="Trebuchet MS"/>
              </a:rPr>
              <a:t>CASA)</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p:txBody>
      </p:sp>
      <p:pic>
        <p:nvPicPr>
          <p:cNvPr id="49" name="object 49"/>
          <p:cNvPicPr/>
          <p:nvPr/>
        </p:nvPicPr>
        <p:blipFill>
          <a:blip r:embed="rId6" cstate="print"/>
          <a:stretch>
            <a:fillRect/>
          </a:stretch>
        </p:blipFill>
        <p:spPr>
          <a:xfrm>
            <a:off x="0" y="3101339"/>
            <a:ext cx="1810512" cy="1089660"/>
          </a:xfrm>
          <a:prstGeom prst="rect">
            <a:avLst/>
          </a:prstGeom>
        </p:spPr>
      </p:pic>
      <p:sp>
        <p:nvSpPr>
          <p:cNvPr id="50" name="object 50"/>
          <p:cNvSpPr txBox="1"/>
          <p:nvPr/>
        </p:nvSpPr>
        <p:spPr>
          <a:xfrm>
            <a:off x="709980" y="3384930"/>
            <a:ext cx="887094" cy="513080"/>
          </a:xfrm>
          <a:prstGeom prst="rect">
            <a:avLst/>
          </a:prstGeom>
        </p:spPr>
        <p:txBody>
          <a:bodyPr vert="horz" wrap="square" lIns="0" tIns="12065" rIns="0" bIns="0" rtlCol="0">
            <a:spAutoFit/>
          </a:bodyPr>
          <a:lstStyle/>
          <a:p>
            <a:pPr marL="12700" marR="5080" lvl="0" indent="0" defTabSz="914400" eaLnBrk="1" fontAlgn="auto" latinLnBrk="0" hangingPunct="1">
              <a:lnSpc>
                <a:spcPct val="100000"/>
              </a:lnSpc>
              <a:spcBef>
                <a:spcPts val="95"/>
              </a:spcBef>
              <a:spcAft>
                <a:spcPts val="0"/>
              </a:spcAft>
              <a:buClrTx/>
              <a:buSzTx/>
              <a:buFontTx/>
              <a:buNone/>
              <a:tabLst/>
              <a:defRPr/>
            </a:pPr>
            <a:r>
              <a:rPr kumimoji="0" sz="1600" b="0" i="0" u="none" strike="noStrike" kern="0" cap="none" spc="-10" normalizeH="0" baseline="0" noProof="0">
                <a:ln>
                  <a:noFill/>
                </a:ln>
                <a:solidFill>
                  <a:srgbClr val="FFFFFF"/>
                </a:solidFill>
                <a:effectLst/>
                <a:uLnTx/>
                <a:uFillTx/>
                <a:latin typeface="Trebuchet MS"/>
                <a:cs typeface="Trebuchet MS"/>
              </a:rPr>
              <a:t>Customer </a:t>
            </a:r>
            <a:r>
              <a:rPr kumimoji="0" sz="1600" b="0" i="0" u="none" strike="noStrike" kern="0" cap="none" spc="-20" normalizeH="0" baseline="0" noProof="0">
                <a:ln>
                  <a:noFill/>
                </a:ln>
                <a:solidFill>
                  <a:srgbClr val="FFFFFF"/>
                </a:solidFill>
                <a:effectLst/>
                <a:uLnTx/>
                <a:uFillTx/>
                <a:latin typeface="Trebuchet MS"/>
                <a:cs typeface="Trebuchet MS"/>
              </a:rPr>
              <a:t>Type</a:t>
            </a:r>
            <a:endParaRPr kumimoji="0" sz="16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51" name="object 51"/>
          <p:cNvSpPr txBox="1"/>
          <p:nvPr/>
        </p:nvSpPr>
        <p:spPr>
          <a:xfrm>
            <a:off x="1838960" y="2944038"/>
            <a:ext cx="1442085" cy="1066800"/>
          </a:xfrm>
          <a:prstGeom prst="rect">
            <a:avLst/>
          </a:prstGeom>
        </p:spPr>
        <p:txBody>
          <a:bodyPr vert="horz" wrap="square" lIns="0" tIns="154305" rIns="0" bIns="0" rtlCol="0">
            <a:spAutoFit/>
          </a:bodyPr>
          <a:lstStyle/>
          <a:p>
            <a:pPr marL="0" marR="0" lvl="0" indent="0" algn="ctr" defTabSz="914400" eaLnBrk="1" fontAlgn="auto" latinLnBrk="0" hangingPunct="1">
              <a:lnSpc>
                <a:spcPct val="100000"/>
              </a:lnSpc>
              <a:spcBef>
                <a:spcPts val="1215"/>
              </a:spcBef>
              <a:spcAft>
                <a:spcPts val="0"/>
              </a:spcAft>
              <a:buClrTx/>
              <a:buSzTx/>
              <a:buFontTx/>
              <a:buNone/>
              <a:tabLst/>
              <a:defRPr/>
            </a:pPr>
            <a:r>
              <a:rPr kumimoji="0" sz="1600" b="0" i="0" u="none" strike="noStrike" kern="0" cap="none" spc="-10" normalizeH="0" baseline="0" noProof="0">
                <a:ln>
                  <a:noFill/>
                </a:ln>
                <a:solidFill>
                  <a:srgbClr val="29B974"/>
                </a:solidFill>
                <a:effectLst/>
                <a:uLnTx/>
                <a:uFillTx/>
                <a:latin typeface="Trebuchet MS"/>
                <a:cs typeface="Trebuchet MS"/>
              </a:rPr>
              <a:t>Leaker</a:t>
            </a:r>
            <a:endParaRPr kumimoji="0" sz="1600" b="0" i="0" u="none" strike="noStrike" kern="0" cap="none" spc="0" normalizeH="0" baseline="0" noProof="0">
              <a:ln>
                <a:noFill/>
              </a:ln>
              <a:solidFill>
                <a:sysClr val="windowText" lastClr="000000"/>
              </a:solidFill>
              <a:effectLst/>
              <a:uLnTx/>
              <a:uFillTx/>
              <a:latin typeface="Trebuchet MS"/>
              <a:cs typeface="Trebuchet MS"/>
            </a:endParaRPr>
          </a:p>
          <a:p>
            <a:pPr marL="12700" marR="5080" lvl="0" indent="635" algn="ctr" defTabSz="914400" eaLnBrk="1" fontAlgn="auto" latinLnBrk="0" hangingPunct="1">
              <a:lnSpc>
                <a:spcPct val="100000"/>
              </a:lnSpc>
              <a:spcBef>
                <a:spcPts val="840"/>
              </a:spcBef>
              <a:spcAft>
                <a:spcPts val="0"/>
              </a:spcAft>
              <a:buClrTx/>
              <a:buSzTx/>
              <a:buFontTx/>
              <a:buNone/>
              <a:tabLst/>
              <a:defRPr/>
            </a:pPr>
            <a:r>
              <a:rPr kumimoji="0" sz="1200" b="0" i="0" u="none" strike="noStrike" kern="0" cap="none" spc="0" normalizeH="0" baseline="0" noProof="0">
                <a:ln>
                  <a:noFill/>
                </a:ln>
                <a:solidFill>
                  <a:srgbClr val="565656"/>
                </a:solidFill>
                <a:effectLst/>
                <a:uLnTx/>
                <a:uFillTx/>
                <a:latin typeface="Trebuchet MS"/>
                <a:cs typeface="Trebuchet MS"/>
              </a:rPr>
              <a:t>Customers</a:t>
            </a:r>
            <a:r>
              <a:rPr kumimoji="0" sz="1200" b="0" i="0" u="none" strike="noStrike" kern="0" cap="none" spc="-50" normalizeH="0" baseline="0" noProof="0">
                <a:ln>
                  <a:noFill/>
                </a:ln>
                <a:solidFill>
                  <a:srgbClr val="565656"/>
                </a:solidFill>
                <a:effectLst/>
                <a:uLnTx/>
                <a:uFillTx/>
                <a:latin typeface="Trebuchet MS"/>
                <a:cs typeface="Trebuchet MS"/>
              </a:rPr>
              <a:t> </a:t>
            </a:r>
            <a:r>
              <a:rPr kumimoji="0" sz="1200" b="0" i="0" u="none" strike="noStrike" kern="0" cap="none" spc="-20" normalizeH="0" baseline="0" noProof="0">
                <a:ln>
                  <a:noFill/>
                </a:ln>
                <a:solidFill>
                  <a:srgbClr val="565656"/>
                </a:solidFill>
                <a:effectLst/>
                <a:uLnTx/>
                <a:uFillTx/>
                <a:latin typeface="Trebuchet MS"/>
                <a:cs typeface="Trebuchet MS"/>
              </a:rPr>
              <a:t>with </a:t>
            </a:r>
            <a:r>
              <a:rPr kumimoji="0" sz="1200" b="0" i="0" u="none" strike="noStrike" kern="0" cap="none" spc="-10" normalizeH="0" baseline="0" noProof="0">
                <a:ln>
                  <a:noFill/>
                </a:ln>
                <a:solidFill>
                  <a:srgbClr val="565656"/>
                </a:solidFill>
                <a:effectLst/>
                <a:uLnTx/>
                <a:uFillTx/>
                <a:latin typeface="Trebuchet MS"/>
                <a:cs typeface="Trebuchet MS"/>
              </a:rPr>
              <a:t>consistent</a:t>
            </a:r>
            <a:r>
              <a:rPr kumimoji="0" sz="1200" b="0" i="0" u="none" strike="noStrike" kern="0" cap="none" spc="-25" normalizeH="0" baseline="0" noProof="0">
                <a:ln>
                  <a:noFill/>
                </a:ln>
                <a:solidFill>
                  <a:srgbClr val="565656"/>
                </a:solidFill>
                <a:effectLst/>
                <a:uLnTx/>
                <a:uFillTx/>
                <a:latin typeface="Trebuchet MS"/>
                <a:cs typeface="Trebuchet MS"/>
              </a:rPr>
              <a:t> </a:t>
            </a:r>
            <a:r>
              <a:rPr kumimoji="0" lang="en-US" sz="1200" b="0" i="0" u="none" strike="noStrike" kern="0" cap="none" spc="-25" normalizeH="0" baseline="0" noProof="0" err="1">
                <a:ln>
                  <a:noFill/>
                </a:ln>
                <a:solidFill>
                  <a:srgbClr val="565656"/>
                </a:solidFill>
                <a:effectLst/>
                <a:uLnTx/>
                <a:uFillTx/>
                <a:latin typeface="Trebuchet MS"/>
                <a:cs typeface="Trebuchet MS"/>
              </a:rPr>
              <a:t>AuM</a:t>
            </a:r>
            <a:r>
              <a:rPr kumimoji="0" sz="1200" b="0" i="0" u="none" strike="noStrike" kern="0" cap="none" spc="-25" normalizeH="0" baseline="0" noProof="0">
                <a:ln>
                  <a:noFill/>
                </a:ln>
                <a:solidFill>
                  <a:srgbClr val="565656"/>
                </a:solidFill>
                <a:effectLst/>
                <a:uLnTx/>
                <a:uFillTx/>
                <a:latin typeface="Trebuchet MS"/>
                <a:cs typeface="Trebuchet MS"/>
              </a:rPr>
              <a:t> </a:t>
            </a:r>
            <a:r>
              <a:rPr kumimoji="0" sz="1200" b="0" i="0" u="none" strike="noStrike" kern="0" cap="none" spc="0" normalizeH="0" baseline="0" noProof="0">
                <a:ln>
                  <a:noFill/>
                </a:ln>
                <a:solidFill>
                  <a:srgbClr val="565656"/>
                </a:solidFill>
                <a:effectLst/>
                <a:uLnTx/>
                <a:uFillTx/>
                <a:latin typeface="Trebuchet MS"/>
                <a:cs typeface="Trebuchet MS"/>
              </a:rPr>
              <a:t>outflow</a:t>
            </a:r>
            <a:r>
              <a:rPr kumimoji="0" sz="1200" b="0" i="0" u="none" strike="noStrike" kern="0" cap="none" spc="-35" normalizeH="0" baseline="0" noProof="0">
                <a:ln>
                  <a:noFill/>
                </a:ln>
                <a:solidFill>
                  <a:srgbClr val="565656"/>
                </a:solidFill>
                <a:effectLst/>
                <a:uLnTx/>
                <a:uFillTx/>
                <a:latin typeface="Trebuchet MS"/>
                <a:cs typeface="Trebuchet MS"/>
              </a:rPr>
              <a:t> </a:t>
            </a:r>
            <a:r>
              <a:rPr kumimoji="0" sz="1200" b="0" i="0" u="none" strike="noStrike" kern="0" cap="none" spc="0" normalizeH="0" baseline="0" noProof="0">
                <a:ln>
                  <a:noFill/>
                </a:ln>
                <a:solidFill>
                  <a:srgbClr val="565656"/>
                </a:solidFill>
                <a:effectLst/>
                <a:uLnTx/>
                <a:uFillTx/>
                <a:latin typeface="Trebuchet MS"/>
                <a:cs typeface="Trebuchet MS"/>
              </a:rPr>
              <a:t>from</a:t>
            </a:r>
            <a:r>
              <a:rPr kumimoji="0" sz="1200" b="0" i="0" u="none" strike="noStrike" kern="0" cap="none" spc="-20" normalizeH="0" baseline="0" noProof="0">
                <a:ln>
                  <a:noFill/>
                </a:ln>
                <a:solidFill>
                  <a:srgbClr val="565656"/>
                </a:solidFill>
                <a:effectLst/>
                <a:uLnTx/>
                <a:uFillTx/>
                <a:latin typeface="Trebuchet MS"/>
                <a:cs typeface="Trebuchet MS"/>
              </a:rPr>
              <a:t> </a:t>
            </a:r>
            <a:r>
              <a:rPr kumimoji="0" sz="1200" b="0" i="0" u="none" strike="noStrike" kern="0" cap="none" spc="-10" normalizeH="0" baseline="0" noProof="0">
                <a:ln>
                  <a:noFill/>
                </a:ln>
                <a:solidFill>
                  <a:srgbClr val="565656"/>
                </a:solidFill>
                <a:effectLst/>
                <a:uLnTx/>
                <a:uFillTx/>
                <a:latin typeface="Trebuchet MS"/>
                <a:cs typeface="Trebuchet MS"/>
              </a:rPr>
              <a:t>CLIENT</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52" name="object 52"/>
          <p:cNvSpPr txBox="1"/>
          <p:nvPr/>
        </p:nvSpPr>
        <p:spPr>
          <a:xfrm>
            <a:off x="3460241" y="2944038"/>
            <a:ext cx="1678939" cy="1066800"/>
          </a:xfrm>
          <a:prstGeom prst="rect">
            <a:avLst/>
          </a:prstGeom>
        </p:spPr>
        <p:txBody>
          <a:bodyPr vert="horz" wrap="square" lIns="0" tIns="154305" rIns="0" bIns="0" rtlCol="0">
            <a:spAutoFit/>
          </a:bodyPr>
          <a:lstStyle/>
          <a:p>
            <a:pPr marL="3175" marR="0" lvl="0" indent="0" algn="ctr" defTabSz="914400" eaLnBrk="1" fontAlgn="auto" latinLnBrk="0" hangingPunct="1">
              <a:lnSpc>
                <a:spcPct val="100000"/>
              </a:lnSpc>
              <a:spcBef>
                <a:spcPts val="1215"/>
              </a:spcBef>
              <a:spcAft>
                <a:spcPts val="0"/>
              </a:spcAft>
              <a:buClrTx/>
              <a:buSzTx/>
              <a:buFontTx/>
              <a:buNone/>
              <a:tabLst/>
              <a:defRPr/>
            </a:pPr>
            <a:r>
              <a:rPr kumimoji="0" sz="1600" b="0" i="0" u="none" strike="noStrike" kern="0" cap="none" spc="-10" normalizeH="0" baseline="0" noProof="0">
                <a:ln>
                  <a:noFill/>
                </a:ln>
                <a:solidFill>
                  <a:srgbClr val="29B974"/>
                </a:solidFill>
                <a:effectLst/>
                <a:uLnTx/>
                <a:uFillTx/>
                <a:latin typeface="Trebuchet MS"/>
                <a:cs typeface="Trebuchet MS"/>
              </a:rPr>
              <a:t>Wealth</a:t>
            </a:r>
            <a:r>
              <a:rPr kumimoji="0" sz="1600" b="0" i="0" u="none" strike="noStrike" kern="0" cap="none" spc="-75" normalizeH="0" baseline="0" noProof="0">
                <a:ln>
                  <a:noFill/>
                </a:ln>
                <a:solidFill>
                  <a:srgbClr val="29B974"/>
                </a:solidFill>
                <a:effectLst/>
                <a:uLnTx/>
                <a:uFillTx/>
                <a:latin typeface="Trebuchet MS"/>
                <a:cs typeface="Trebuchet MS"/>
              </a:rPr>
              <a:t> </a:t>
            </a:r>
            <a:r>
              <a:rPr kumimoji="0" lang="en-US" sz="1600" b="0" i="0" u="none" strike="noStrike" kern="0" cap="none" spc="-10" normalizeH="0" baseline="0" noProof="0" err="1">
                <a:ln>
                  <a:noFill/>
                </a:ln>
                <a:solidFill>
                  <a:srgbClr val="29B974"/>
                </a:solidFill>
                <a:effectLst/>
                <a:uLnTx/>
                <a:uFillTx/>
                <a:latin typeface="Trebuchet MS"/>
                <a:cs typeface="Trebuchet MS"/>
              </a:rPr>
              <a:t>Elsew</a:t>
            </a:r>
            <a:r>
              <a:rPr kumimoji="0" sz="1600" b="0" i="0" u="none" strike="noStrike" kern="0" cap="none" spc="-10" normalizeH="0" baseline="0" noProof="0">
                <a:ln>
                  <a:noFill/>
                </a:ln>
                <a:solidFill>
                  <a:srgbClr val="29B974"/>
                </a:solidFill>
                <a:effectLst/>
                <a:uLnTx/>
                <a:uFillTx/>
                <a:latin typeface="Trebuchet MS"/>
                <a:cs typeface="Trebuchet MS"/>
              </a:rPr>
              <a:t>.</a:t>
            </a:r>
            <a:endParaRPr kumimoji="0" sz="1600" b="0" i="0" u="none" strike="noStrike" kern="0" cap="none" spc="0" normalizeH="0" baseline="0" noProof="0">
              <a:ln>
                <a:noFill/>
              </a:ln>
              <a:solidFill>
                <a:sysClr val="windowText" lastClr="000000"/>
              </a:solidFill>
              <a:effectLst/>
              <a:uLnTx/>
              <a:uFillTx/>
              <a:latin typeface="Trebuchet MS"/>
              <a:cs typeface="Trebuchet MS"/>
            </a:endParaRPr>
          </a:p>
          <a:p>
            <a:pPr marL="12700" marR="5080" lvl="0" indent="635" algn="ctr" defTabSz="914400" eaLnBrk="1" fontAlgn="auto" latinLnBrk="0" hangingPunct="1">
              <a:lnSpc>
                <a:spcPct val="100000"/>
              </a:lnSpc>
              <a:spcBef>
                <a:spcPts val="840"/>
              </a:spcBef>
              <a:spcAft>
                <a:spcPts val="0"/>
              </a:spcAft>
              <a:buClrTx/>
              <a:buSzTx/>
              <a:buFontTx/>
              <a:buNone/>
              <a:tabLst/>
              <a:defRPr/>
            </a:pPr>
            <a:r>
              <a:rPr kumimoji="0" sz="1200" b="0" i="0" u="none" strike="noStrike" kern="0" cap="none" spc="0" normalizeH="0" baseline="0" noProof="0">
                <a:ln>
                  <a:noFill/>
                </a:ln>
                <a:solidFill>
                  <a:srgbClr val="565656"/>
                </a:solidFill>
                <a:effectLst/>
                <a:uLnTx/>
                <a:uFillTx/>
                <a:latin typeface="Trebuchet MS"/>
                <a:cs typeface="Trebuchet MS"/>
              </a:rPr>
              <a:t>High</a:t>
            </a:r>
            <a:r>
              <a:rPr kumimoji="0" sz="1200" b="0" i="0" u="none" strike="noStrike" kern="0" cap="none" spc="-35" normalizeH="0" baseline="0" noProof="0">
                <a:ln>
                  <a:noFill/>
                </a:ln>
                <a:solidFill>
                  <a:srgbClr val="565656"/>
                </a:solidFill>
                <a:effectLst/>
                <a:uLnTx/>
                <a:uFillTx/>
                <a:latin typeface="Trebuchet MS"/>
                <a:cs typeface="Trebuchet MS"/>
              </a:rPr>
              <a:t> </a:t>
            </a:r>
            <a:r>
              <a:rPr kumimoji="0" sz="1200" b="0" i="0" u="none" strike="noStrike" kern="0" cap="none" spc="0" normalizeH="0" baseline="0" noProof="0">
                <a:ln>
                  <a:noFill/>
                </a:ln>
                <a:solidFill>
                  <a:srgbClr val="565656"/>
                </a:solidFill>
                <a:effectLst/>
                <a:uLnTx/>
                <a:uFillTx/>
                <a:latin typeface="Trebuchet MS"/>
                <a:cs typeface="Trebuchet MS"/>
              </a:rPr>
              <a:t>wealth</a:t>
            </a:r>
            <a:r>
              <a:rPr kumimoji="0" sz="1200" b="0" i="0" u="none" strike="noStrike" kern="0" cap="none" spc="-50" normalizeH="0" baseline="0" noProof="0">
                <a:ln>
                  <a:noFill/>
                </a:ln>
                <a:solidFill>
                  <a:srgbClr val="565656"/>
                </a:solidFill>
                <a:effectLst/>
                <a:uLnTx/>
                <a:uFillTx/>
                <a:latin typeface="Trebuchet MS"/>
                <a:cs typeface="Trebuchet MS"/>
              </a:rPr>
              <a:t> </a:t>
            </a:r>
            <a:r>
              <a:rPr kumimoji="0" sz="1200" b="0" i="0" u="none" strike="noStrike" kern="0" cap="none" spc="-10" normalizeH="0" baseline="0" noProof="0">
                <a:ln>
                  <a:noFill/>
                </a:ln>
                <a:solidFill>
                  <a:srgbClr val="565656"/>
                </a:solidFill>
                <a:effectLst/>
                <a:uLnTx/>
                <a:uFillTx/>
                <a:latin typeface="Trebuchet MS"/>
                <a:cs typeface="Trebuchet MS"/>
              </a:rPr>
              <a:t>retail </a:t>
            </a:r>
            <a:r>
              <a:rPr kumimoji="0" sz="1200" b="0" i="0" u="none" strike="noStrike" kern="0" cap="none" spc="0" normalizeH="0" baseline="0" noProof="0">
                <a:ln>
                  <a:noFill/>
                </a:ln>
                <a:solidFill>
                  <a:srgbClr val="565656"/>
                </a:solidFill>
                <a:effectLst/>
                <a:uLnTx/>
                <a:uFillTx/>
                <a:latin typeface="Trebuchet MS"/>
                <a:cs typeface="Trebuchet MS"/>
              </a:rPr>
              <a:t>customers</a:t>
            </a:r>
            <a:r>
              <a:rPr kumimoji="0" sz="1200" b="0" i="0" u="none" strike="noStrike" kern="0" cap="none" spc="-40" normalizeH="0" baseline="0" noProof="0">
                <a:ln>
                  <a:noFill/>
                </a:ln>
                <a:solidFill>
                  <a:srgbClr val="565656"/>
                </a:solidFill>
                <a:effectLst/>
                <a:uLnTx/>
                <a:uFillTx/>
                <a:latin typeface="Trebuchet MS"/>
                <a:cs typeface="Trebuchet MS"/>
              </a:rPr>
              <a:t> </a:t>
            </a:r>
            <a:r>
              <a:rPr kumimoji="0" sz="1200" b="0" i="0" u="none" strike="noStrike" kern="0" cap="none" spc="0" normalizeH="0" baseline="0" noProof="0">
                <a:ln>
                  <a:noFill/>
                </a:ln>
                <a:solidFill>
                  <a:srgbClr val="565656"/>
                </a:solidFill>
                <a:effectLst/>
                <a:uLnTx/>
                <a:uFillTx/>
                <a:latin typeface="Trebuchet MS"/>
                <a:cs typeface="Trebuchet MS"/>
              </a:rPr>
              <a:t>with</a:t>
            </a:r>
            <a:r>
              <a:rPr kumimoji="0" sz="1200" b="0" i="0" u="none" strike="noStrike" kern="0" cap="none" spc="-40" normalizeH="0" baseline="0" noProof="0">
                <a:ln>
                  <a:noFill/>
                </a:ln>
                <a:solidFill>
                  <a:srgbClr val="565656"/>
                </a:solidFill>
                <a:effectLst/>
                <a:uLnTx/>
                <a:uFillTx/>
                <a:latin typeface="Trebuchet MS"/>
                <a:cs typeface="Trebuchet MS"/>
              </a:rPr>
              <a:t> </a:t>
            </a:r>
            <a:r>
              <a:rPr kumimoji="0" sz="1200" b="0" i="0" u="none" strike="noStrike" kern="0" cap="none" spc="0" normalizeH="0" baseline="0" noProof="0">
                <a:ln>
                  <a:noFill/>
                </a:ln>
                <a:solidFill>
                  <a:srgbClr val="565656"/>
                </a:solidFill>
                <a:effectLst/>
                <a:uLnTx/>
                <a:uFillTx/>
                <a:latin typeface="Trebuchet MS"/>
                <a:cs typeface="Trebuchet MS"/>
              </a:rPr>
              <a:t>low</a:t>
            </a:r>
            <a:r>
              <a:rPr kumimoji="0" sz="1200" b="0" i="0" u="none" strike="noStrike" kern="0" cap="none" spc="-15" normalizeH="0" baseline="0" noProof="0">
                <a:ln>
                  <a:noFill/>
                </a:ln>
                <a:solidFill>
                  <a:srgbClr val="565656"/>
                </a:solidFill>
                <a:effectLst/>
                <a:uLnTx/>
                <a:uFillTx/>
                <a:latin typeface="Trebuchet MS"/>
                <a:cs typeface="Trebuchet MS"/>
              </a:rPr>
              <a:t> </a:t>
            </a:r>
            <a:r>
              <a:rPr kumimoji="0" sz="1200" b="0" i="0" u="none" strike="noStrike" kern="0" cap="none" spc="-25" normalizeH="0" baseline="0" noProof="0">
                <a:ln>
                  <a:noFill/>
                </a:ln>
                <a:solidFill>
                  <a:srgbClr val="565656"/>
                </a:solidFill>
                <a:effectLst/>
                <a:uLnTx/>
                <a:uFillTx/>
                <a:latin typeface="Trebuchet MS"/>
                <a:cs typeface="Trebuchet MS"/>
              </a:rPr>
              <a:t>SoW </a:t>
            </a:r>
            <a:r>
              <a:rPr kumimoji="0" sz="1200" b="0" i="0" u="none" strike="noStrike" kern="0" cap="none" spc="0" normalizeH="0" baseline="0" noProof="0">
                <a:ln>
                  <a:noFill/>
                </a:ln>
                <a:solidFill>
                  <a:srgbClr val="565656"/>
                </a:solidFill>
                <a:effectLst/>
                <a:uLnTx/>
                <a:uFillTx/>
                <a:latin typeface="Trebuchet MS"/>
                <a:cs typeface="Trebuchet MS"/>
              </a:rPr>
              <a:t>at</a:t>
            </a:r>
            <a:r>
              <a:rPr kumimoji="0" sz="1200" b="0" i="0" u="none" strike="noStrike" kern="0" cap="none" spc="-25" normalizeH="0" baseline="0" noProof="0">
                <a:ln>
                  <a:noFill/>
                </a:ln>
                <a:solidFill>
                  <a:srgbClr val="565656"/>
                </a:solidFill>
                <a:effectLst/>
                <a:uLnTx/>
                <a:uFillTx/>
                <a:latin typeface="Trebuchet MS"/>
                <a:cs typeface="Trebuchet MS"/>
              </a:rPr>
              <a:t> </a:t>
            </a:r>
            <a:r>
              <a:rPr kumimoji="0" sz="1200" b="0" i="0" u="none" strike="noStrike" kern="0" cap="none" spc="-10" normalizeH="0" baseline="0" noProof="0">
                <a:ln>
                  <a:noFill/>
                </a:ln>
                <a:solidFill>
                  <a:srgbClr val="565656"/>
                </a:solidFill>
                <a:effectLst/>
                <a:uLnTx/>
                <a:uFillTx/>
                <a:latin typeface="Trebuchet MS"/>
                <a:cs typeface="Trebuchet MS"/>
              </a:rPr>
              <a:t>CLIENT</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53" name="object 53"/>
          <p:cNvSpPr txBox="1"/>
          <p:nvPr/>
        </p:nvSpPr>
        <p:spPr>
          <a:xfrm>
            <a:off x="5343905" y="2944038"/>
            <a:ext cx="1394460" cy="1066800"/>
          </a:xfrm>
          <a:prstGeom prst="rect">
            <a:avLst/>
          </a:prstGeom>
        </p:spPr>
        <p:txBody>
          <a:bodyPr vert="horz" wrap="square" lIns="0" tIns="154305" rIns="0" bIns="0" rtlCol="0">
            <a:spAutoFit/>
          </a:bodyPr>
          <a:lstStyle/>
          <a:p>
            <a:pPr marL="0" marR="0" lvl="0" indent="0" algn="ctr" defTabSz="914400" eaLnBrk="1" fontAlgn="auto" latinLnBrk="0" hangingPunct="1">
              <a:lnSpc>
                <a:spcPct val="100000"/>
              </a:lnSpc>
              <a:spcBef>
                <a:spcPts val="1215"/>
              </a:spcBef>
              <a:spcAft>
                <a:spcPts val="0"/>
              </a:spcAft>
              <a:buClrTx/>
              <a:buSzTx/>
              <a:buFontTx/>
              <a:buNone/>
              <a:tabLst/>
              <a:defRPr/>
            </a:pPr>
            <a:r>
              <a:rPr kumimoji="0" sz="1600" b="0" i="0" u="none" strike="noStrike" kern="0" cap="none" spc="-10" normalizeH="0" baseline="0" noProof="0">
                <a:ln>
                  <a:noFill/>
                </a:ln>
                <a:solidFill>
                  <a:srgbClr val="29B974"/>
                </a:solidFill>
                <a:effectLst/>
                <a:uLnTx/>
                <a:uFillTx/>
                <a:latin typeface="Trebuchet MS"/>
                <a:cs typeface="Trebuchet MS"/>
              </a:rPr>
              <a:t>Recent</a:t>
            </a:r>
            <a:endParaRPr kumimoji="0" sz="1600" b="0" i="0" u="none" strike="noStrike" kern="0" cap="none" spc="0" normalizeH="0" baseline="0" noProof="0">
              <a:ln>
                <a:noFill/>
              </a:ln>
              <a:solidFill>
                <a:sysClr val="windowText" lastClr="000000"/>
              </a:solidFill>
              <a:effectLst/>
              <a:uLnTx/>
              <a:uFillTx/>
              <a:latin typeface="Trebuchet MS"/>
              <a:cs typeface="Trebuchet MS"/>
            </a:endParaRPr>
          </a:p>
          <a:p>
            <a:pPr marL="12700" marR="5080" lvl="0" indent="-635" algn="ctr" defTabSz="914400" eaLnBrk="1" fontAlgn="auto" latinLnBrk="0" hangingPunct="1">
              <a:lnSpc>
                <a:spcPct val="100000"/>
              </a:lnSpc>
              <a:spcBef>
                <a:spcPts val="840"/>
              </a:spcBef>
              <a:spcAft>
                <a:spcPts val="0"/>
              </a:spcAft>
              <a:buClrTx/>
              <a:buSzTx/>
              <a:buFontTx/>
              <a:buNone/>
              <a:tabLst/>
              <a:defRPr/>
            </a:pPr>
            <a:r>
              <a:rPr kumimoji="0" sz="1200" b="0" i="0" u="none" strike="noStrike" kern="0" cap="none" spc="0" normalizeH="0" baseline="0" noProof="0">
                <a:ln>
                  <a:noFill/>
                </a:ln>
                <a:solidFill>
                  <a:srgbClr val="565656"/>
                </a:solidFill>
                <a:effectLst/>
                <a:uLnTx/>
                <a:uFillTx/>
                <a:latin typeface="Trebuchet MS"/>
                <a:cs typeface="Trebuchet MS"/>
              </a:rPr>
              <a:t>Customers</a:t>
            </a:r>
            <a:r>
              <a:rPr kumimoji="0" sz="1200" b="0" i="0" u="none" strike="noStrike" kern="0" cap="none" spc="-50" normalizeH="0" baseline="0" noProof="0">
                <a:ln>
                  <a:noFill/>
                </a:ln>
                <a:solidFill>
                  <a:srgbClr val="565656"/>
                </a:solidFill>
                <a:effectLst/>
                <a:uLnTx/>
                <a:uFillTx/>
                <a:latin typeface="Trebuchet MS"/>
                <a:cs typeface="Trebuchet MS"/>
              </a:rPr>
              <a:t> </a:t>
            </a:r>
            <a:r>
              <a:rPr kumimoji="0" sz="1200" b="0" i="0" u="none" strike="noStrike" kern="0" cap="none" spc="-20" normalizeH="0" baseline="0" noProof="0">
                <a:ln>
                  <a:noFill/>
                </a:ln>
                <a:solidFill>
                  <a:srgbClr val="565656"/>
                </a:solidFill>
                <a:effectLst/>
                <a:uLnTx/>
                <a:uFillTx/>
                <a:latin typeface="Trebuchet MS"/>
                <a:cs typeface="Trebuchet MS"/>
              </a:rPr>
              <a:t>with </a:t>
            </a:r>
            <a:r>
              <a:rPr kumimoji="0" sz="1200" b="0" i="0" u="none" strike="noStrike" kern="0" cap="none" spc="0" normalizeH="0" baseline="0" noProof="0">
                <a:ln>
                  <a:noFill/>
                </a:ln>
                <a:solidFill>
                  <a:srgbClr val="565656"/>
                </a:solidFill>
                <a:effectLst/>
                <a:uLnTx/>
                <a:uFillTx/>
                <a:latin typeface="Trebuchet MS"/>
                <a:cs typeface="Trebuchet MS"/>
              </a:rPr>
              <a:t>recent</a:t>
            </a:r>
            <a:r>
              <a:rPr kumimoji="0" sz="1200" b="0" i="0" u="none" strike="noStrike" kern="0" cap="none" spc="-20" normalizeH="0" baseline="0" noProof="0">
                <a:ln>
                  <a:noFill/>
                </a:ln>
                <a:solidFill>
                  <a:srgbClr val="565656"/>
                </a:solidFill>
                <a:effectLst/>
                <a:uLnTx/>
                <a:uFillTx/>
                <a:latin typeface="Trebuchet MS"/>
                <a:cs typeface="Trebuchet MS"/>
              </a:rPr>
              <a:t> </a:t>
            </a:r>
            <a:r>
              <a:rPr kumimoji="0" sz="1200" b="0" i="0" u="none" strike="noStrike" kern="0" cap="none" spc="-10" normalizeH="0" baseline="0" noProof="0">
                <a:ln>
                  <a:noFill/>
                </a:ln>
                <a:solidFill>
                  <a:srgbClr val="565656"/>
                </a:solidFill>
                <a:effectLst/>
                <a:uLnTx/>
                <a:uFillTx/>
                <a:latin typeface="Trebuchet MS"/>
                <a:cs typeface="Trebuchet MS"/>
              </a:rPr>
              <a:t>high</a:t>
            </a:r>
            <a:r>
              <a:rPr kumimoji="0" sz="1200" b="0" i="0" u="none" strike="noStrike" kern="0" cap="none" spc="-75" normalizeH="0" baseline="0" noProof="0">
                <a:ln>
                  <a:noFill/>
                </a:ln>
                <a:solidFill>
                  <a:srgbClr val="565656"/>
                </a:solidFill>
                <a:effectLst/>
                <a:uLnTx/>
                <a:uFillTx/>
                <a:latin typeface="Trebuchet MS"/>
                <a:cs typeface="Trebuchet MS"/>
              </a:rPr>
              <a:t> </a:t>
            </a:r>
            <a:r>
              <a:rPr kumimoji="0" lang="en-US" sz="1200" b="0" i="0" u="none" strike="noStrike" kern="0" cap="none" spc="-25" normalizeH="0" baseline="0" noProof="0" err="1">
                <a:ln>
                  <a:noFill/>
                </a:ln>
                <a:solidFill>
                  <a:srgbClr val="565656"/>
                </a:solidFill>
                <a:effectLst/>
                <a:uLnTx/>
                <a:uFillTx/>
                <a:latin typeface="Trebuchet MS"/>
                <a:cs typeface="Trebuchet MS"/>
              </a:rPr>
              <a:t>AuM</a:t>
            </a:r>
            <a:r>
              <a:rPr kumimoji="0" sz="1200" b="0" i="0" u="none" strike="noStrike" kern="0" cap="none" spc="-25" normalizeH="0" baseline="0" noProof="0">
                <a:ln>
                  <a:noFill/>
                </a:ln>
                <a:solidFill>
                  <a:srgbClr val="565656"/>
                </a:solidFill>
                <a:effectLst/>
                <a:uLnTx/>
                <a:uFillTx/>
                <a:latin typeface="Trebuchet MS"/>
                <a:cs typeface="Trebuchet MS"/>
              </a:rPr>
              <a:t> </a:t>
            </a:r>
            <a:r>
              <a:rPr kumimoji="0" sz="1200" b="0" i="0" u="none" strike="noStrike" kern="0" cap="none" spc="0" normalizeH="0" baseline="0" noProof="0">
                <a:ln>
                  <a:noFill/>
                </a:ln>
                <a:solidFill>
                  <a:srgbClr val="565656"/>
                </a:solidFill>
                <a:effectLst/>
                <a:uLnTx/>
                <a:uFillTx/>
                <a:latin typeface="Trebuchet MS"/>
                <a:cs typeface="Trebuchet MS"/>
              </a:rPr>
              <a:t>inflow</a:t>
            </a:r>
            <a:r>
              <a:rPr kumimoji="0" sz="1200" b="0" i="0" u="none" strike="noStrike" kern="0" cap="none" spc="-40" normalizeH="0" baseline="0" noProof="0">
                <a:ln>
                  <a:noFill/>
                </a:ln>
                <a:solidFill>
                  <a:srgbClr val="565656"/>
                </a:solidFill>
                <a:effectLst/>
                <a:uLnTx/>
                <a:uFillTx/>
                <a:latin typeface="Trebuchet MS"/>
                <a:cs typeface="Trebuchet MS"/>
              </a:rPr>
              <a:t> </a:t>
            </a:r>
            <a:r>
              <a:rPr kumimoji="0" sz="1200" b="0" i="0" u="none" strike="noStrike" kern="0" cap="none" spc="0" normalizeH="0" baseline="0" noProof="0">
                <a:ln>
                  <a:noFill/>
                </a:ln>
                <a:solidFill>
                  <a:srgbClr val="565656"/>
                </a:solidFill>
                <a:effectLst/>
                <a:uLnTx/>
                <a:uFillTx/>
                <a:latin typeface="Trebuchet MS"/>
                <a:cs typeface="Trebuchet MS"/>
              </a:rPr>
              <a:t>due</a:t>
            </a:r>
            <a:r>
              <a:rPr kumimoji="0" sz="1200" b="0" i="0" u="none" strike="noStrike" kern="0" cap="none" spc="-30" normalizeH="0" baseline="0" noProof="0">
                <a:ln>
                  <a:noFill/>
                </a:ln>
                <a:solidFill>
                  <a:srgbClr val="565656"/>
                </a:solidFill>
                <a:effectLst/>
                <a:uLnTx/>
                <a:uFillTx/>
                <a:latin typeface="Trebuchet MS"/>
                <a:cs typeface="Trebuchet MS"/>
              </a:rPr>
              <a:t> </a:t>
            </a:r>
            <a:r>
              <a:rPr kumimoji="0" sz="1200" b="0" i="0" u="none" strike="noStrike" kern="0" cap="none" spc="0" normalizeH="0" baseline="0" noProof="0">
                <a:ln>
                  <a:noFill/>
                </a:ln>
                <a:solidFill>
                  <a:srgbClr val="565656"/>
                </a:solidFill>
                <a:effectLst/>
                <a:uLnTx/>
                <a:uFillTx/>
                <a:latin typeface="Trebuchet MS"/>
                <a:cs typeface="Trebuchet MS"/>
              </a:rPr>
              <a:t>to</a:t>
            </a:r>
            <a:r>
              <a:rPr kumimoji="0" sz="1200" b="0" i="0" u="none" strike="noStrike" kern="0" cap="none" spc="-5" normalizeH="0" baseline="0" noProof="0">
                <a:ln>
                  <a:noFill/>
                </a:ln>
                <a:solidFill>
                  <a:srgbClr val="565656"/>
                </a:solidFill>
                <a:effectLst/>
                <a:uLnTx/>
                <a:uFillTx/>
                <a:latin typeface="Trebuchet MS"/>
                <a:cs typeface="Trebuchet MS"/>
              </a:rPr>
              <a:t> </a:t>
            </a:r>
            <a:r>
              <a:rPr kumimoji="0" sz="1200" b="0" i="0" u="none" strike="noStrike" kern="0" cap="none" spc="-10" normalizeH="0" baseline="0" noProof="0">
                <a:ln>
                  <a:noFill/>
                </a:ln>
                <a:solidFill>
                  <a:srgbClr val="565656"/>
                </a:solidFill>
                <a:effectLst/>
                <a:uLnTx/>
                <a:uFillTx/>
                <a:latin typeface="Trebuchet MS"/>
                <a:cs typeface="Trebuchet MS"/>
              </a:rPr>
              <a:t>COVID</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54" name="object 54"/>
          <p:cNvSpPr txBox="1"/>
          <p:nvPr/>
        </p:nvSpPr>
        <p:spPr>
          <a:xfrm>
            <a:off x="6892543" y="2944038"/>
            <a:ext cx="1432560" cy="1249680"/>
          </a:xfrm>
          <a:prstGeom prst="rect">
            <a:avLst/>
          </a:prstGeom>
        </p:spPr>
        <p:txBody>
          <a:bodyPr vert="horz" wrap="square" lIns="0" tIns="154305" rIns="0" bIns="0" rtlCol="0">
            <a:spAutoFit/>
          </a:bodyPr>
          <a:lstStyle/>
          <a:p>
            <a:pPr marL="635" marR="0" lvl="0" indent="0" algn="ctr" defTabSz="914400" eaLnBrk="1" fontAlgn="auto" latinLnBrk="0" hangingPunct="1">
              <a:lnSpc>
                <a:spcPct val="100000"/>
              </a:lnSpc>
              <a:spcBef>
                <a:spcPts val="1215"/>
              </a:spcBef>
              <a:spcAft>
                <a:spcPts val="0"/>
              </a:spcAft>
              <a:buClrTx/>
              <a:buSzTx/>
              <a:buFontTx/>
              <a:buNone/>
              <a:tabLst/>
              <a:defRPr/>
            </a:pPr>
            <a:r>
              <a:rPr kumimoji="0" sz="1600" b="0" i="0" u="none" strike="noStrike" kern="0" cap="none" spc="-10" normalizeH="0" baseline="0" noProof="0">
                <a:ln>
                  <a:noFill/>
                </a:ln>
                <a:solidFill>
                  <a:srgbClr val="29B974"/>
                </a:solidFill>
                <a:effectLst/>
                <a:uLnTx/>
                <a:uFillTx/>
                <a:latin typeface="Trebuchet MS"/>
                <a:cs typeface="Trebuchet MS"/>
              </a:rPr>
              <a:t>SME/Com/Corp</a:t>
            </a:r>
            <a:endParaRPr kumimoji="0" sz="1600" b="0" i="0" u="none" strike="noStrike" kern="0" cap="none" spc="0" normalizeH="0" baseline="0" noProof="0">
              <a:ln>
                <a:noFill/>
              </a:ln>
              <a:solidFill>
                <a:sysClr val="windowText" lastClr="000000"/>
              </a:solidFill>
              <a:effectLst/>
              <a:uLnTx/>
              <a:uFillTx/>
              <a:latin typeface="Trebuchet MS"/>
              <a:cs typeface="Trebuchet MS"/>
            </a:endParaRPr>
          </a:p>
          <a:p>
            <a:pPr marL="12700" marR="5080" lvl="0" indent="1270" algn="ctr" defTabSz="914400" eaLnBrk="1" fontAlgn="auto" latinLnBrk="0" hangingPunct="1">
              <a:lnSpc>
                <a:spcPct val="100000"/>
              </a:lnSpc>
              <a:spcBef>
                <a:spcPts val="840"/>
              </a:spcBef>
              <a:spcAft>
                <a:spcPts val="0"/>
              </a:spcAft>
              <a:buClrTx/>
              <a:buSzTx/>
              <a:buFontTx/>
              <a:buNone/>
              <a:tabLst/>
              <a:defRPr/>
            </a:pPr>
            <a:r>
              <a:rPr kumimoji="0" sz="1200" b="0" i="0" u="none" strike="noStrike" kern="0" cap="none" spc="0" normalizeH="0" baseline="0" noProof="0">
                <a:ln>
                  <a:noFill/>
                </a:ln>
                <a:solidFill>
                  <a:srgbClr val="565656"/>
                </a:solidFill>
                <a:effectLst/>
                <a:uLnTx/>
                <a:uFillTx/>
                <a:latin typeface="Trebuchet MS"/>
                <a:cs typeface="Trebuchet MS"/>
              </a:rPr>
              <a:t>SME,</a:t>
            </a:r>
            <a:r>
              <a:rPr kumimoji="0" sz="1200" b="0" i="0" u="none" strike="noStrike" kern="0" cap="none" spc="5" normalizeH="0" baseline="0" noProof="0">
                <a:ln>
                  <a:noFill/>
                </a:ln>
                <a:solidFill>
                  <a:srgbClr val="565656"/>
                </a:solidFill>
                <a:effectLst/>
                <a:uLnTx/>
                <a:uFillTx/>
                <a:latin typeface="Trebuchet MS"/>
                <a:cs typeface="Trebuchet MS"/>
              </a:rPr>
              <a:t> </a:t>
            </a:r>
            <a:r>
              <a:rPr kumimoji="0" sz="1200" b="0" i="0" u="none" strike="noStrike" kern="0" cap="none" spc="-10" normalizeH="0" baseline="0" noProof="0">
                <a:ln>
                  <a:noFill/>
                </a:ln>
                <a:solidFill>
                  <a:srgbClr val="565656"/>
                </a:solidFill>
                <a:effectLst/>
                <a:uLnTx/>
                <a:uFillTx/>
                <a:latin typeface="Trebuchet MS"/>
                <a:cs typeface="Trebuchet MS"/>
              </a:rPr>
              <a:t>commercial, </a:t>
            </a:r>
            <a:r>
              <a:rPr kumimoji="0" sz="1200" b="0" i="0" u="none" strike="noStrike" kern="0" cap="none" spc="-25" normalizeH="0" baseline="0" noProof="0">
                <a:ln>
                  <a:noFill/>
                </a:ln>
                <a:solidFill>
                  <a:srgbClr val="565656"/>
                </a:solidFill>
                <a:effectLst/>
                <a:uLnTx/>
                <a:uFillTx/>
                <a:latin typeface="Trebuchet MS"/>
                <a:cs typeface="Trebuchet MS"/>
              </a:rPr>
              <a:t>or </a:t>
            </a:r>
            <a:r>
              <a:rPr kumimoji="0" sz="1200" b="0" i="0" u="none" strike="noStrike" kern="0" cap="none" spc="0" normalizeH="0" baseline="0" noProof="0">
                <a:ln>
                  <a:noFill/>
                </a:ln>
                <a:solidFill>
                  <a:srgbClr val="565656"/>
                </a:solidFill>
                <a:effectLst/>
                <a:uLnTx/>
                <a:uFillTx/>
                <a:latin typeface="Trebuchet MS"/>
                <a:cs typeface="Trebuchet MS"/>
              </a:rPr>
              <a:t>corporate</a:t>
            </a:r>
            <a:r>
              <a:rPr kumimoji="0" sz="1200" b="0" i="0" u="none" strike="noStrike" kern="0" cap="none" spc="-35" normalizeH="0" baseline="0" noProof="0">
                <a:ln>
                  <a:noFill/>
                </a:ln>
                <a:solidFill>
                  <a:srgbClr val="565656"/>
                </a:solidFill>
                <a:effectLst/>
                <a:uLnTx/>
                <a:uFillTx/>
                <a:latin typeface="Trebuchet MS"/>
                <a:cs typeface="Trebuchet MS"/>
              </a:rPr>
              <a:t> </a:t>
            </a:r>
            <a:r>
              <a:rPr kumimoji="0" sz="1200" b="0" i="0" u="none" strike="noStrike" kern="0" cap="none" spc="-10" normalizeH="0" baseline="0" noProof="0">
                <a:ln>
                  <a:noFill/>
                </a:ln>
                <a:solidFill>
                  <a:srgbClr val="565656"/>
                </a:solidFill>
                <a:effectLst/>
                <a:uLnTx/>
                <a:uFillTx/>
                <a:latin typeface="Trebuchet MS"/>
                <a:cs typeface="Trebuchet MS"/>
              </a:rPr>
              <a:t>customers </a:t>
            </a:r>
            <a:r>
              <a:rPr kumimoji="0" sz="1200" b="0" i="0" u="none" strike="noStrike" kern="0" cap="none" spc="0" normalizeH="0" baseline="0" noProof="0">
                <a:ln>
                  <a:noFill/>
                </a:ln>
                <a:solidFill>
                  <a:srgbClr val="565656"/>
                </a:solidFill>
                <a:effectLst/>
                <a:uLnTx/>
                <a:uFillTx/>
                <a:latin typeface="Trebuchet MS"/>
                <a:cs typeface="Trebuchet MS"/>
              </a:rPr>
              <a:t>with</a:t>
            </a:r>
            <a:r>
              <a:rPr kumimoji="0" sz="1200" b="0" i="0" u="none" strike="noStrike" kern="0" cap="none" spc="-30" normalizeH="0" baseline="0" noProof="0">
                <a:ln>
                  <a:noFill/>
                </a:ln>
                <a:solidFill>
                  <a:srgbClr val="565656"/>
                </a:solidFill>
                <a:effectLst/>
                <a:uLnTx/>
                <a:uFillTx/>
                <a:latin typeface="Trebuchet MS"/>
                <a:cs typeface="Trebuchet MS"/>
              </a:rPr>
              <a:t> </a:t>
            </a:r>
            <a:r>
              <a:rPr kumimoji="0" sz="1200" b="0" i="0" u="none" strike="noStrike" kern="0" cap="none" spc="0" normalizeH="0" baseline="0" noProof="0">
                <a:ln>
                  <a:noFill/>
                </a:ln>
                <a:solidFill>
                  <a:srgbClr val="565656"/>
                </a:solidFill>
                <a:effectLst/>
                <a:uLnTx/>
                <a:uFillTx/>
                <a:latin typeface="Trebuchet MS"/>
                <a:cs typeface="Trebuchet MS"/>
              </a:rPr>
              <a:t>no</a:t>
            </a:r>
            <a:r>
              <a:rPr kumimoji="0" sz="1200" b="0" i="0" u="none" strike="noStrike" kern="0" cap="none" spc="-5" normalizeH="0" baseline="0" noProof="0">
                <a:ln>
                  <a:noFill/>
                </a:ln>
                <a:solidFill>
                  <a:srgbClr val="565656"/>
                </a:solidFill>
                <a:effectLst/>
                <a:uLnTx/>
                <a:uFillTx/>
                <a:latin typeface="Trebuchet MS"/>
                <a:cs typeface="Trebuchet MS"/>
              </a:rPr>
              <a:t> </a:t>
            </a:r>
            <a:r>
              <a:rPr kumimoji="0" sz="1200" b="0" i="0" u="none" strike="noStrike" kern="0" cap="none" spc="-10" normalizeH="0" baseline="0" noProof="0">
                <a:ln>
                  <a:noFill/>
                </a:ln>
                <a:solidFill>
                  <a:srgbClr val="565656"/>
                </a:solidFill>
                <a:effectLst/>
                <a:uLnTx/>
                <a:uFillTx/>
                <a:latin typeface="Trebuchet MS"/>
                <a:cs typeface="Trebuchet MS"/>
              </a:rPr>
              <a:t>wealth products</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55" name="object 55"/>
          <p:cNvSpPr txBox="1"/>
          <p:nvPr/>
        </p:nvSpPr>
        <p:spPr>
          <a:xfrm>
            <a:off x="8491981" y="2944038"/>
            <a:ext cx="1384935" cy="1066800"/>
          </a:xfrm>
          <a:prstGeom prst="rect">
            <a:avLst/>
          </a:prstGeom>
        </p:spPr>
        <p:txBody>
          <a:bodyPr vert="horz" wrap="square" lIns="0" tIns="154305" rIns="0" bIns="0" rtlCol="0">
            <a:spAutoFit/>
          </a:bodyPr>
          <a:lstStyle/>
          <a:p>
            <a:pPr marL="406400" marR="0" lvl="0" indent="0" defTabSz="914400" eaLnBrk="1" fontAlgn="auto" latinLnBrk="0" hangingPunct="1">
              <a:lnSpc>
                <a:spcPct val="100000"/>
              </a:lnSpc>
              <a:spcBef>
                <a:spcPts val="1215"/>
              </a:spcBef>
              <a:spcAft>
                <a:spcPts val="0"/>
              </a:spcAft>
              <a:buClrTx/>
              <a:buSzTx/>
              <a:buFontTx/>
              <a:buNone/>
              <a:tabLst/>
              <a:defRPr/>
            </a:pPr>
            <a:r>
              <a:rPr kumimoji="0" lang="en-US" sz="1600" b="0" i="0" u="none" strike="noStrike" kern="0" cap="none" spc="-10" normalizeH="0" baseline="0" noProof="0" err="1">
                <a:ln>
                  <a:noFill/>
                </a:ln>
                <a:solidFill>
                  <a:srgbClr val="29B974"/>
                </a:solidFill>
                <a:effectLst/>
                <a:uLnTx/>
                <a:uFillTx/>
                <a:latin typeface="Trebuchet MS"/>
                <a:cs typeface="Trebuchet MS"/>
              </a:rPr>
              <a:t>Loyals</a:t>
            </a:r>
            <a:endParaRPr kumimoji="0" sz="1600" b="0" i="0" u="none" strike="noStrike" kern="0" cap="none" spc="0" normalizeH="0" baseline="0" noProof="0">
              <a:ln>
                <a:noFill/>
              </a:ln>
              <a:solidFill>
                <a:sysClr val="windowText" lastClr="000000"/>
              </a:solidFill>
              <a:effectLst/>
              <a:uLnTx/>
              <a:uFillTx/>
              <a:latin typeface="Trebuchet MS"/>
              <a:cs typeface="Trebuchet MS"/>
            </a:endParaRPr>
          </a:p>
          <a:p>
            <a:pPr marL="176530" marR="5080" lvl="0" indent="-177165" defTabSz="914400" eaLnBrk="1" fontAlgn="auto" latinLnBrk="0" hangingPunct="1">
              <a:lnSpc>
                <a:spcPct val="100000"/>
              </a:lnSpc>
              <a:spcBef>
                <a:spcPts val="840"/>
              </a:spcBef>
              <a:spcAft>
                <a:spcPts val="0"/>
              </a:spcAft>
              <a:buClrTx/>
              <a:buSzTx/>
              <a:buFontTx/>
              <a:buNone/>
              <a:tabLst/>
              <a:defRPr/>
            </a:pPr>
            <a:r>
              <a:rPr kumimoji="0" sz="1200" b="0" i="0" u="none" strike="noStrike" kern="0" cap="none" spc="0" normalizeH="0" baseline="0" noProof="0">
                <a:ln>
                  <a:noFill/>
                </a:ln>
                <a:solidFill>
                  <a:srgbClr val="565656"/>
                </a:solidFill>
                <a:effectLst/>
                <a:uLnTx/>
                <a:uFillTx/>
                <a:latin typeface="Trebuchet MS"/>
                <a:cs typeface="Trebuchet MS"/>
              </a:rPr>
              <a:t>Longtime</a:t>
            </a:r>
            <a:r>
              <a:rPr kumimoji="0" sz="1200" b="0" i="0" u="none" strike="noStrike" kern="0" cap="none" spc="-50" normalizeH="0" baseline="0" noProof="0">
                <a:ln>
                  <a:noFill/>
                </a:ln>
                <a:solidFill>
                  <a:srgbClr val="565656"/>
                </a:solidFill>
                <a:effectLst/>
                <a:uLnTx/>
                <a:uFillTx/>
                <a:latin typeface="Trebuchet MS"/>
                <a:cs typeface="Trebuchet MS"/>
              </a:rPr>
              <a:t> </a:t>
            </a:r>
            <a:r>
              <a:rPr kumimoji="0" sz="1200" b="0" i="0" u="none" strike="noStrike" kern="0" cap="none" spc="-10" normalizeH="0" baseline="0" noProof="0">
                <a:ln>
                  <a:noFill/>
                </a:ln>
                <a:solidFill>
                  <a:srgbClr val="565656"/>
                </a:solidFill>
                <a:effectLst/>
                <a:uLnTx/>
                <a:uFillTx/>
                <a:latin typeface="Trebuchet MS"/>
                <a:cs typeface="Trebuchet MS"/>
              </a:rPr>
              <a:t>customers </a:t>
            </a:r>
            <a:r>
              <a:rPr kumimoji="0" sz="1200" b="0" i="0" u="none" strike="noStrike" kern="0" cap="none" spc="0" normalizeH="0" baseline="0" noProof="0">
                <a:ln>
                  <a:noFill/>
                </a:ln>
                <a:solidFill>
                  <a:srgbClr val="565656"/>
                </a:solidFill>
                <a:effectLst/>
                <a:uLnTx/>
                <a:uFillTx/>
                <a:latin typeface="Trebuchet MS"/>
                <a:cs typeface="Trebuchet MS"/>
              </a:rPr>
              <a:t>with</a:t>
            </a:r>
            <a:r>
              <a:rPr kumimoji="0" sz="1200" b="0" i="0" u="none" strike="noStrike" kern="0" cap="none" spc="-30" normalizeH="0" baseline="0" noProof="0">
                <a:ln>
                  <a:noFill/>
                </a:ln>
                <a:solidFill>
                  <a:srgbClr val="565656"/>
                </a:solidFill>
                <a:effectLst/>
                <a:uLnTx/>
                <a:uFillTx/>
                <a:latin typeface="Trebuchet MS"/>
                <a:cs typeface="Trebuchet MS"/>
              </a:rPr>
              <a:t> </a:t>
            </a:r>
            <a:r>
              <a:rPr kumimoji="0" sz="1200" b="0" i="0" u="none" strike="noStrike" kern="0" cap="none" spc="0" normalizeH="0" baseline="0" noProof="0">
                <a:ln>
                  <a:noFill/>
                </a:ln>
                <a:solidFill>
                  <a:srgbClr val="565656"/>
                </a:solidFill>
                <a:effectLst/>
                <a:uLnTx/>
                <a:uFillTx/>
                <a:latin typeface="Trebuchet MS"/>
                <a:cs typeface="Trebuchet MS"/>
              </a:rPr>
              <a:t>high</a:t>
            </a:r>
            <a:r>
              <a:rPr kumimoji="0" sz="1200" b="0" i="0" u="none" strike="noStrike" kern="0" cap="none" spc="-25" normalizeH="0" baseline="0" noProof="0">
                <a:ln>
                  <a:noFill/>
                </a:ln>
                <a:solidFill>
                  <a:srgbClr val="565656"/>
                </a:solidFill>
                <a:effectLst/>
                <a:uLnTx/>
                <a:uFillTx/>
                <a:latin typeface="Trebuchet MS"/>
                <a:cs typeface="Trebuchet MS"/>
              </a:rPr>
              <a:t> </a:t>
            </a:r>
            <a:r>
              <a:rPr kumimoji="0" sz="1200" b="0" i="0" u="none" strike="noStrike" kern="0" cap="none" spc="-20" normalizeH="0" baseline="0" noProof="0">
                <a:ln>
                  <a:noFill/>
                </a:ln>
                <a:solidFill>
                  <a:srgbClr val="565656"/>
                </a:solidFill>
                <a:effectLst/>
                <a:uLnTx/>
                <a:uFillTx/>
                <a:latin typeface="Trebuchet MS"/>
                <a:cs typeface="Trebuchet MS"/>
              </a:rPr>
              <a:t>CASA </a:t>
            </a:r>
            <a:r>
              <a:rPr kumimoji="0" sz="1200" b="0" i="0" u="none" strike="noStrike" kern="0" cap="none" spc="0" normalizeH="0" baseline="0" noProof="0">
                <a:ln>
                  <a:noFill/>
                </a:ln>
                <a:solidFill>
                  <a:srgbClr val="565656"/>
                </a:solidFill>
                <a:effectLst/>
                <a:uLnTx/>
                <a:uFillTx/>
                <a:latin typeface="Trebuchet MS"/>
                <a:cs typeface="Trebuchet MS"/>
              </a:rPr>
              <a:t>but</a:t>
            </a:r>
            <a:r>
              <a:rPr kumimoji="0" sz="1200" b="0" i="0" u="none" strike="noStrike" kern="0" cap="none" spc="-30" normalizeH="0" baseline="0" noProof="0">
                <a:ln>
                  <a:noFill/>
                </a:ln>
                <a:solidFill>
                  <a:srgbClr val="565656"/>
                </a:solidFill>
                <a:effectLst/>
                <a:uLnTx/>
                <a:uFillTx/>
                <a:latin typeface="Trebuchet MS"/>
                <a:cs typeface="Trebuchet MS"/>
              </a:rPr>
              <a:t> </a:t>
            </a:r>
            <a:r>
              <a:rPr kumimoji="0" sz="1200" b="0" i="0" u="none" strike="noStrike" kern="0" cap="none" spc="0" normalizeH="0" baseline="0" noProof="0">
                <a:ln>
                  <a:noFill/>
                </a:ln>
                <a:solidFill>
                  <a:srgbClr val="565656"/>
                </a:solidFill>
                <a:effectLst/>
                <a:uLnTx/>
                <a:uFillTx/>
                <a:latin typeface="Trebuchet MS"/>
                <a:cs typeface="Trebuchet MS"/>
              </a:rPr>
              <a:t>no</a:t>
            </a:r>
            <a:r>
              <a:rPr kumimoji="0" sz="1200" b="0" i="0" u="none" strike="noStrike" kern="0" cap="none" spc="-5" normalizeH="0" baseline="0" noProof="0">
                <a:ln>
                  <a:noFill/>
                </a:ln>
                <a:solidFill>
                  <a:srgbClr val="565656"/>
                </a:solidFill>
                <a:effectLst/>
                <a:uLnTx/>
                <a:uFillTx/>
                <a:latin typeface="Trebuchet MS"/>
                <a:cs typeface="Trebuchet MS"/>
              </a:rPr>
              <a:t> </a:t>
            </a:r>
            <a:r>
              <a:rPr kumimoji="0" sz="1200" b="0" i="0" u="none" strike="noStrike" kern="0" cap="none" spc="-10" normalizeH="0" baseline="0" noProof="0">
                <a:ln>
                  <a:noFill/>
                </a:ln>
                <a:solidFill>
                  <a:srgbClr val="565656"/>
                </a:solidFill>
                <a:effectLst/>
                <a:uLnTx/>
                <a:uFillTx/>
                <a:latin typeface="Trebuchet MS"/>
                <a:cs typeface="Trebuchet MS"/>
              </a:rPr>
              <a:t>wealth</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56" name="object 56"/>
          <p:cNvSpPr txBox="1"/>
          <p:nvPr/>
        </p:nvSpPr>
        <p:spPr>
          <a:xfrm>
            <a:off x="10092563" y="3086226"/>
            <a:ext cx="1320800" cy="934719"/>
          </a:xfrm>
          <a:prstGeom prst="rect">
            <a:avLst/>
          </a:prstGeom>
        </p:spPr>
        <p:txBody>
          <a:bodyPr vert="horz" wrap="square" lIns="0" tIns="12065" rIns="0" bIns="0" rtlCol="0">
            <a:spAutoFit/>
          </a:bodyPr>
          <a:lstStyle/>
          <a:p>
            <a:pPr marL="0" marR="5080" lvl="0" indent="0" algn="ctr" defTabSz="914400" eaLnBrk="1" fontAlgn="auto" latinLnBrk="0" hangingPunct="1">
              <a:lnSpc>
                <a:spcPct val="100000"/>
              </a:lnSpc>
              <a:spcBef>
                <a:spcPts val="95"/>
              </a:spcBef>
              <a:spcAft>
                <a:spcPts val="0"/>
              </a:spcAft>
              <a:buClrTx/>
              <a:buSzTx/>
              <a:buFontTx/>
              <a:buNone/>
              <a:tabLst/>
              <a:defRPr/>
            </a:pPr>
            <a:r>
              <a:rPr kumimoji="0" sz="1600" b="0" i="0" u="none" strike="noStrike" kern="0" cap="none" spc="-10" normalizeH="0" baseline="0" noProof="0">
                <a:ln>
                  <a:noFill/>
                </a:ln>
                <a:solidFill>
                  <a:srgbClr val="295E7D"/>
                </a:solidFill>
                <a:effectLst/>
                <a:uLnTx/>
                <a:uFillTx/>
                <a:latin typeface="Trebuchet MS"/>
                <a:cs typeface="Trebuchet MS"/>
              </a:rPr>
              <a:t>Greenfield</a:t>
            </a:r>
            <a:endParaRPr kumimoji="0" sz="1600" b="0" i="0" u="none" strike="noStrike" kern="0" cap="none" spc="0" normalizeH="0" baseline="0" noProof="0">
              <a:ln>
                <a:noFill/>
              </a:ln>
              <a:solidFill>
                <a:sysClr val="windowText" lastClr="000000"/>
              </a:solidFill>
              <a:effectLst/>
              <a:uLnTx/>
              <a:uFillTx/>
              <a:latin typeface="Trebuchet MS"/>
              <a:cs typeface="Trebuchet MS"/>
            </a:endParaRPr>
          </a:p>
          <a:p>
            <a:pPr marL="0" marR="5080" lvl="0" indent="-635" algn="ctr" defTabSz="914400" eaLnBrk="1" fontAlgn="auto" latinLnBrk="0" hangingPunct="1">
              <a:lnSpc>
                <a:spcPct val="100000"/>
              </a:lnSpc>
              <a:spcBef>
                <a:spcPts val="919"/>
              </a:spcBef>
              <a:spcAft>
                <a:spcPts val="0"/>
              </a:spcAft>
              <a:buClrTx/>
              <a:buSzTx/>
              <a:buFontTx/>
              <a:buNone/>
              <a:tabLst/>
              <a:defRPr/>
            </a:pPr>
            <a:r>
              <a:rPr kumimoji="0" sz="1200" b="0" i="0" u="none" strike="noStrike" kern="0" cap="none" spc="0" normalizeH="0" baseline="0" noProof="0">
                <a:ln>
                  <a:noFill/>
                </a:ln>
                <a:solidFill>
                  <a:srgbClr val="565656"/>
                </a:solidFill>
                <a:effectLst/>
                <a:uLnTx/>
                <a:uFillTx/>
                <a:latin typeface="Trebuchet MS"/>
                <a:cs typeface="Trebuchet MS"/>
              </a:rPr>
              <a:t>High</a:t>
            </a:r>
            <a:r>
              <a:rPr kumimoji="0" sz="1200" b="0" i="0" u="none" strike="noStrike" kern="0" cap="none" spc="-40" normalizeH="0" baseline="0" noProof="0">
                <a:ln>
                  <a:noFill/>
                </a:ln>
                <a:solidFill>
                  <a:srgbClr val="565656"/>
                </a:solidFill>
                <a:effectLst/>
                <a:uLnTx/>
                <a:uFillTx/>
                <a:latin typeface="Trebuchet MS"/>
                <a:cs typeface="Trebuchet MS"/>
              </a:rPr>
              <a:t> </a:t>
            </a:r>
            <a:r>
              <a:rPr kumimoji="0" sz="1200" b="0" i="0" u="none" strike="noStrike" kern="0" cap="none" spc="0" normalizeH="0" baseline="0" noProof="0">
                <a:ln>
                  <a:noFill/>
                </a:ln>
                <a:solidFill>
                  <a:srgbClr val="565656"/>
                </a:solidFill>
                <a:effectLst/>
                <a:uLnTx/>
                <a:uFillTx/>
                <a:latin typeface="Trebuchet MS"/>
                <a:cs typeface="Trebuchet MS"/>
              </a:rPr>
              <a:t>potential</a:t>
            </a:r>
            <a:r>
              <a:rPr kumimoji="0" sz="1200" b="0" i="0" u="none" strike="noStrike" kern="0" cap="none" spc="-50" normalizeH="0" baseline="0" noProof="0">
                <a:ln>
                  <a:noFill/>
                </a:ln>
                <a:solidFill>
                  <a:srgbClr val="565656"/>
                </a:solidFill>
                <a:effectLst/>
                <a:uLnTx/>
                <a:uFillTx/>
                <a:latin typeface="Trebuchet MS"/>
                <a:cs typeface="Trebuchet MS"/>
              </a:rPr>
              <a:t> </a:t>
            </a:r>
            <a:r>
              <a:rPr kumimoji="0" sz="1200" b="0" i="0" u="none" strike="noStrike" kern="0" cap="none" spc="-25" normalizeH="0" baseline="0" noProof="0">
                <a:ln>
                  <a:noFill/>
                </a:ln>
                <a:solidFill>
                  <a:srgbClr val="565656"/>
                </a:solidFill>
                <a:effectLst/>
                <a:uLnTx/>
                <a:uFillTx/>
                <a:latin typeface="Trebuchet MS"/>
                <a:cs typeface="Trebuchet MS"/>
              </a:rPr>
              <a:t>for </a:t>
            </a:r>
            <a:r>
              <a:rPr kumimoji="0" sz="1200" b="0" i="0" u="none" strike="noStrike" kern="0" cap="none" spc="0" normalizeH="0" baseline="0" noProof="0">
                <a:ln>
                  <a:noFill/>
                </a:ln>
                <a:solidFill>
                  <a:srgbClr val="565656"/>
                </a:solidFill>
                <a:effectLst/>
                <a:uLnTx/>
                <a:uFillTx/>
                <a:latin typeface="Trebuchet MS"/>
                <a:cs typeface="Trebuchet MS"/>
              </a:rPr>
              <a:t>wealth</a:t>
            </a:r>
            <a:r>
              <a:rPr kumimoji="0" sz="1200" b="0" i="0" u="none" strike="noStrike" kern="0" cap="none" spc="-45" normalizeH="0" baseline="0" noProof="0">
                <a:ln>
                  <a:noFill/>
                </a:ln>
                <a:solidFill>
                  <a:srgbClr val="565656"/>
                </a:solidFill>
                <a:effectLst/>
                <a:uLnTx/>
                <a:uFillTx/>
                <a:latin typeface="Trebuchet MS"/>
                <a:cs typeface="Trebuchet MS"/>
              </a:rPr>
              <a:t> </a:t>
            </a:r>
            <a:r>
              <a:rPr kumimoji="0" sz="1200" b="0" i="0" u="none" strike="noStrike" kern="0" cap="none" spc="0" normalizeH="0" baseline="0" noProof="0">
                <a:ln>
                  <a:noFill/>
                </a:ln>
                <a:solidFill>
                  <a:srgbClr val="565656"/>
                </a:solidFill>
                <a:effectLst/>
                <a:uLnTx/>
                <a:uFillTx/>
                <a:latin typeface="Trebuchet MS"/>
                <a:cs typeface="Trebuchet MS"/>
              </a:rPr>
              <a:t>but</a:t>
            </a:r>
            <a:r>
              <a:rPr kumimoji="0" sz="1200" b="0" i="0" u="none" strike="noStrike" kern="0" cap="none" spc="-30" normalizeH="0" baseline="0" noProof="0">
                <a:ln>
                  <a:noFill/>
                </a:ln>
                <a:solidFill>
                  <a:srgbClr val="565656"/>
                </a:solidFill>
                <a:effectLst/>
                <a:uLnTx/>
                <a:uFillTx/>
                <a:latin typeface="Trebuchet MS"/>
                <a:cs typeface="Trebuchet MS"/>
              </a:rPr>
              <a:t> </a:t>
            </a:r>
            <a:r>
              <a:rPr kumimoji="0" sz="1200" b="0" i="0" u="none" strike="noStrike" kern="0" cap="none" spc="-10" normalizeH="0" baseline="0" noProof="0">
                <a:ln>
                  <a:noFill/>
                </a:ln>
                <a:solidFill>
                  <a:srgbClr val="565656"/>
                </a:solidFill>
                <a:effectLst/>
                <a:uLnTx/>
                <a:uFillTx/>
                <a:latin typeface="Trebuchet MS"/>
                <a:cs typeface="Trebuchet MS"/>
              </a:rPr>
              <a:t>banking </a:t>
            </a:r>
            <a:r>
              <a:rPr kumimoji="0" sz="1200" b="0" i="0" u="none" strike="noStrike" kern="0" cap="none" spc="0" normalizeH="0" baseline="0" noProof="0">
                <a:ln>
                  <a:noFill/>
                </a:ln>
                <a:solidFill>
                  <a:srgbClr val="565656"/>
                </a:solidFill>
                <a:effectLst/>
                <a:uLnTx/>
                <a:uFillTx/>
                <a:latin typeface="Trebuchet MS"/>
                <a:cs typeface="Trebuchet MS"/>
              </a:rPr>
              <a:t>with</a:t>
            </a:r>
            <a:r>
              <a:rPr kumimoji="0" sz="1200" b="0" i="0" u="none" strike="noStrike" kern="0" cap="none" spc="-30" normalizeH="0" baseline="0" noProof="0">
                <a:ln>
                  <a:noFill/>
                </a:ln>
                <a:solidFill>
                  <a:srgbClr val="565656"/>
                </a:solidFill>
                <a:effectLst/>
                <a:uLnTx/>
                <a:uFillTx/>
                <a:latin typeface="Trebuchet MS"/>
                <a:cs typeface="Trebuchet MS"/>
              </a:rPr>
              <a:t> </a:t>
            </a:r>
            <a:r>
              <a:rPr kumimoji="0" sz="1200" b="0" i="0" u="none" strike="noStrike" kern="0" cap="none" spc="-10" normalizeH="0" baseline="0" noProof="0">
                <a:ln>
                  <a:noFill/>
                </a:ln>
                <a:solidFill>
                  <a:srgbClr val="565656"/>
                </a:solidFill>
                <a:effectLst/>
                <a:uLnTx/>
                <a:uFillTx/>
                <a:latin typeface="Trebuchet MS"/>
                <a:cs typeface="Trebuchet MS"/>
              </a:rPr>
              <a:t>others</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57" name="object 57"/>
          <p:cNvSpPr txBox="1"/>
          <p:nvPr/>
        </p:nvSpPr>
        <p:spPr>
          <a:xfrm>
            <a:off x="10058145" y="4294758"/>
            <a:ext cx="1405890" cy="1703705"/>
          </a:xfrm>
          <a:prstGeom prst="rect">
            <a:avLst/>
          </a:prstGeom>
        </p:spPr>
        <p:txBody>
          <a:bodyPr vert="horz" wrap="square" lIns="0" tIns="12700" rIns="0" bIns="0" rtlCol="0">
            <a:spAutoFit/>
          </a:bodyPr>
          <a:lstStyle/>
          <a:p>
            <a:pPr marL="216535" marR="60325" lvl="0" indent="-217170" defTabSz="914400" eaLnBrk="1" fontAlgn="auto" latinLnBrk="0" hangingPunct="1">
              <a:lnSpc>
                <a:spcPct val="100000"/>
              </a:lnSpc>
              <a:spcBef>
                <a:spcPts val="100"/>
              </a:spcBef>
              <a:spcAft>
                <a:spcPts val="0"/>
              </a:spcAft>
              <a:buClr>
                <a:srgbClr val="005FAE"/>
              </a:buClr>
              <a:buSzTx/>
              <a:buFontTx/>
              <a:buChar char="•"/>
              <a:tabLst>
                <a:tab pos="216535" algn="l"/>
              </a:tabLst>
              <a:defRPr/>
            </a:pPr>
            <a:r>
              <a:rPr kumimoji="0" sz="1200" b="0" i="0" u="none" strike="noStrike" kern="0" cap="none" spc="-10" normalizeH="0" baseline="0" noProof="0">
                <a:ln>
                  <a:noFill/>
                </a:ln>
                <a:solidFill>
                  <a:srgbClr val="565656"/>
                </a:solidFill>
                <a:effectLst/>
                <a:uLnTx/>
                <a:uFillTx/>
                <a:latin typeface="Trebuchet MS"/>
                <a:cs typeface="Trebuchet MS"/>
              </a:rPr>
              <a:t>Referral </a:t>
            </a:r>
            <a:r>
              <a:rPr kumimoji="0" sz="1200" b="0" i="0" u="none" strike="noStrike" kern="0" cap="none" spc="0" normalizeH="0" baseline="0" noProof="0">
                <a:ln>
                  <a:noFill/>
                </a:ln>
                <a:solidFill>
                  <a:srgbClr val="565656"/>
                </a:solidFill>
                <a:effectLst/>
                <a:uLnTx/>
                <a:uFillTx/>
                <a:latin typeface="Trebuchet MS"/>
                <a:cs typeface="Trebuchet MS"/>
              </a:rPr>
              <a:t>programs</a:t>
            </a:r>
            <a:r>
              <a:rPr kumimoji="0" sz="1200" b="0" i="0" u="none" strike="noStrike" kern="0" cap="none" spc="-60" normalizeH="0" baseline="0" noProof="0">
                <a:ln>
                  <a:noFill/>
                </a:ln>
                <a:solidFill>
                  <a:srgbClr val="565656"/>
                </a:solidFill>
                <a:effectLst/>
                <a:uLnTx/>
                <a:uFillTx/>
                <a:latin typeface="Trebuchet MS"/>
                <a:cs typeface="Trebuchet MS"/>
              </a:rPr>
              <a:t> </a:t>
            </a:r>
            <a:r>
              <a:rPr kumimoji="0" sz="1200" b="0" i="0" u="none" strike="noStrike" kern="0" cap="none" spc="-20" normalizeH="0" baseline="0" noProof="0">
                <a:ln>
                  <a:noFill/>
                </a:ln>
                <a:solidFill>
                  <a:srgbClr val="565656"/>
                </a:solidFill>
                <a:effectLst/>
                <a:uLnTx/>
                <a:uFillTx/>
                <a:latin typeface="Trebuchet MS"/>
                <a:cs typeface="Trebuchet MS"/>
              </a:rPr>
              <a:t>(i.e. </a:t>
            </a:r>
            <a:r>
              <a:rPr kumimoji="0" sz="1200" b="0" i="0" u="none" strike="noStrike" kern="0" cap="none" spc="0" normalizeH="0" baseline="0" noProof="0">
                <a:ln>
                  <a:noFill/>
                </a:ln>
                <a:solidFill>
                  <a:srgbClr val="565656"/>
                </a:solidFill>
                <a:effectLst/>
                <a:uLnTx/>
                <a:uFillTx/>
                <a:latin typeface="Trebuchet MS"/>
                <a:cs typeface="Trebuchet MS"/>
              </a:rPr>
              <a:t>member</a:t>
            </a:r>
            <a:r>
              <a:rPr kumimoji="0" sz="1200" b="0" i="0" u="none" strike="noStrike" kern="0" cap="none" spc="-35" normalizeH="0" baseline="0" noProof="0">
                <a:ln>
                  <a:noFill/>
                </a:ln>
                <a:solidFill>
                  <a:srgbClr val="565656"/>
                </a:solidFill>
                <a:effectLst/>
                <a:uLnTx/>
                <a:uFillTx/>
                <a:latin typeface="Trebuchet MS"/>
                <a:cs typeface="Trebuchet MS"/>
              </a:rPr>
              <a:t> </a:t>
            </a:r>
            <a:r>
              <a:rPr kumimoji="0" sz="1200" b="0" i="0" u="none" strike="noStrike" kern="0" cap="none" spc="-25" normalizeH="0" baseline="0" noProof="0">
                <a:ln>
                  <a:noFill/>
                </a:ln>
                <a:solidFill>
                  <a:srgbClr val="565656"/>
                </a:solidFill>
                <a:effectLst/>
                <a:uLnTx/>
                <a:uFillTx/>
                <a:latin typeface="Trebuchet MS"/>
                <a:cs typeface="Trebuchet MS"/>
              </a:rPr>
              <a:t>get member,</a:t>
            </a:r>
            <a:r>
              <a:rPr kumimoji="0" sz="1200" b="0" i="0" u="none" strike="noStrike" kern="0" cap="none" spc="-40" normalizeH="0" baseline="0" noProof="0">
                <a:ln>
                  <a:noFill/>
                </a:ln>
                <a:solidFill>
                  <a:srgbClr val="565656"/>
                </a:solidFill>
                <a:effectLst/>
                <a:uLnTx/>
                <a:uFillTx/>
                <a:latin typeface="Trebuchet MS"/>
                <a:cs typeface="Trebuchet MS"/>
              </a:rPr>
              <a:t> </a:t>
            </a:r>
            <a:r>
              <a:rPr kumimoji="0" sz="1200" b="0" i="0" u="none" strike="noStrike" kern="0" cap="none" spc="-10" normalizeH="0" baseline="0" noProof="0">
                <a:ln>
                  <a:noFill/>
                </a:ln>
                <a:solidFill>
                  <a:srgbClr val="565656"/>
                </a:solidFill>
                <a:effectLst/>
                <a:uLnTx/>
                <a:uFillTx/>
                <a:latin typeface="Trebuchet MS"/>
                <a:cs typeface="Trebuchet MS"/>
              </a:rPr>
              <a:t>CLIENT </a:t>
            </a:r>
            <a:r>
              <a:rPr kumimoji="0" sz="1200" b="0" i="0" u="none" strike="noStrike" kern="0" cap="none" spc="0" normalizeH="0" baseline="0" noProof="0">
                <a:ln>
                  <a:noFill/>
                </a:ln>
                <a:solidFill>
                  <a:srgbClr val="565656"/>
                </a:solidFill>
                <a:effectLst/>
                <a:uLnTx/>
                <a:uFillTx/>
                <a:latin typeface="Trebuchet MS"/>
                <a:cs typeface="Trebuchet MS"/>
              </a:rPr>
              <a:t>staff</a:t>
            </a:r>
            <a:r>
              <a:rPr kumimoji="0" sz="1200" b="0" i="0" u="none" strike="noStrike" kern="0" cap="none" spc="-40" normalizeH="0" baseline="0" noProof="0">
                <a:ln>
                  <a:noFill/>
                </a:ln>
                <a:solidFill>
                  <a:srgbClr val="565656"/>
                </a:solidFill>
                <a:effectLst/>
                <a:uLnTx/>
                <a:uFillTx/>
                <a:latin typeface="Trebuchet MS"/>
                <a:cs typeface="Trebuchet MS"/>
              </a:rPr>
              <a:t> </a:t>
            </a:r>
            <a:r>
              <a:rPr kumimoji="0" sz="1200" b="0" i="0" u="none" strike="noStrike" kern="0" cap="none" spc="-10" normalizeH="0" baseline="0" noProof="0">
                <a:ln>
                  <a:noFill/>
                </a:ln>
                <a:solidFill>
                  <a:srgbClr val="565656"/>
                </a:solidFill>
                <a:effectLst/>
                <a:uLnTx/>
                <a:uFillTx/>
                <a:latin typeface="Trebuchet MS"/>
                <a:cs typeface="Trebuchet MS"/>
              </a:rPr>
              <a:t>referral)</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a:p>
            <a:pPr marL="216535" marR="0" lvl="0" indent="-216535" defTabSz="914400" eaLnBrk="1" fontAlgn="auto" latinLnBrk="0" hangingPunct="1">
              <a:lnSpc>
                <a:spcPct val="100000"/>
              </a:lnSpc>
              <a:spcBef>
                <a:spcPts val="0"/>
              </a:spcBef>
              <a:spcAft>
                <a:spcPts val="0"/>
              </a:spcAft>
              <a:buClr>
                <a:srgbClr val="005FAE"/>
              </a:buClr>
              <a:buSzTx/>
              <a:buFontTx/>
              <a:buChar char="•"/>
              <a:tabLst>
                <a:tab pos="216535" algn="l"/>
              </a:tabLst>
              <a:defRPr/>
            </a:pPr>
            <a:r>
              <a:rPr kumimoji="0" sz="1200" b="0" i="0" u="none" strike="noStrike" kern="0" cap="none" spc="0" normalizeH="0" baseline="0" noProof="0">
                <a:ln>
                  <a:noFill/>
                </a:ln>
                <a:solidFill>
                  <a:srgbClr val="565656"/>
                </a:solidFill>
                <a:effectLst/>
                <a:uLnTx/>
                <a:uFillTx/>
                <a:latin typeface="Trebuchet MS"/>
                <a:cs typeface="Trebuchet MS"/>
              </a:rPr>
              <a:t>Purchase</a:t>
            </a:r>
            <a:r>
              <a:rPr kumimoji="0" sz="1200" b="0" i="0" u="none" strike="noStrike" kern="0" cap="none" spc="-50" normalizeH="0" baseline="0" noProof="0">
                <a:ln>
                  <a:noFill/>
                </a:ln>
                <a:solidFill>
                  <a:srgbClr val="565656"/>
                </a:solidFill>
                <a:effectLst/>
                <a:uLnTx/>
                <a:uFillTx/>
                <a:latin typeface="Trebuchet MS"/>
                <a:cs typeface="Trebuchet MS"/>
              </a:rPr>
              <a:t> </a:t>
            </a:r>
            <a:r>
              <a:rPr kumimoji="0" sz="1200" b="0" i="0" u="none" strike="noStrike" kern="0" cap="none" spc="-10" normalizeH="0" baseline="0" noProof="0">
                <a:ln>
                  <a:noFill/>
                </a:ln>
                <a:solidFill>
                  <a:srgbClr val="565656"/>
                </a:solidFill>
                <a:effectLst/>
                <a:uLnTx/>
                <a:uFillTx/>
                <a:latin typeface="Trebuchet MS"/>
                <a:cs typeface="Trebuchet MS"/>
              </a:rPr>
              <a:t>leads</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a:p>
            <a:pPr marL="216535" marR="5080" lvl="0" indent="-217170" defTabSz="914400" eaLnBrk="1" fontAlgn="auto" latinLnBrk="0" hangingPunct="1">
              <a:lnSpc>
                <a:spcPct val="100000"/>
              </a:lnSpc>
              <a:spcBef>
                <a:spcPts val="0"/>
              </a:spcBef>
              <a:spcAft>
                <a:spcPts val="0"/>
              </a:spcAft>
              <a:buClr>
                <a:srgbClr val="005FAE"/>
              </a:buClr>
              <a:buSzTx/>
              <a:buFontTx/>
              <a:buChar char="•"/>
              <a:tabLst>
                <a:tab pos="216535" algn="l"/>
              </a:tabLst>
              <a:defRPr/>
            </a:pPr>
            <a:r>
              <a:rPr kumimoji="0" sz="1200" b="0" i="0" u="none" strike="noStrike" kern="0" cap="none" spc="-10" normalizeH="0" baseline="0" noProof="0">
                <a:ln>
                  <a:noFill/>
                </a:ln>
                <a:solidFill>
                  <a:srgbClr val="565656"/>
                </a:solidFill>
                <a:effectLst/>
                <a:uLnTx/>
                <a:uFillTx/>
                <a:latin typeface="Trebuchet MS"/>
                <a:cs typeface="Trebuchet MS"/>
              </a:rPr>
              <a:t>Partnerships</a:t>
            </a:r>
            <a:r>
              <a:rPr kumimoji="0" sz="1200" b="0" i="0" u="none" strike="noStrike" kern="0" cap="none" spc="-15" normalizeH="0" baseline="0" noProof="0">
                <a:ln>
                  <a:noFill/>
                </a:ln>
                <a:solidFill>
                  <a:srgbClr val="565656"/>
                </a:solidFill>
                <a:effectLst/>
                <a:uLnTx/>
                <a:uFillTx/>
                <a:latin typeface="Trebuchet MS"/>
                <a:cs typeface="Trebuchet MS"/>
              </a:rPr>
              <a:t> </a:t>
            </a:r>
            <a:r>
              <a:rPr kumimoji="0" sz="1200" b="0" i="0" u="none" strike="noStrike" kern="0" cap="none" spc="-20" normalizeH="0" baseline="0" noProof="0">
                <a:ln>
                  <a:noFill/>
                </a:ln>
                <a:solidFill>
                  <a:srgbClr val="565656"/>
                </a:solidFill>
                <a:effectLst/>
                <a:uLnTx/>
                <a:uFillTx/>
                <a:latin typeface="Trebuchet MS"/>
                <a:cs typeface="Trebuchet MS"/>
              </a:rPr>
              <a:t>(i.e. </a:t>
            </a:r>
            <a:r>
              <a:rPr kumimoji="0" sz="1200" b="0" i="0" u="none" strike="noStrike" kern="0" cap="none" spc="0" normalizeH="0" baseline="0" noProof="0">
                <a:ln>
                  <a:noFill/>
                </a:ln>
                <a:solidFill>
                  <a:srgbClr val="565656"/>
                </a:solidFill>
                <a:effectLst/>
                <a:uLnTx/>
                <a:uFillTx/>
                <a:latin typeface="Trebuchet MS"/>
                <a:cs typeface="Trebuchet MS"/>
              </a:rPr>
              <a:t>e-</a:t>
            </a:r>
            <a:r>
              <a:rPr kumimoji="0" sz="1200" b="0" i="0" u="none" strike="noStrike" kern="0" cap="none" spc="-10" normalizeH="0" baseline="0" noProof="0">
                <a:ln>
                  <a:noFill/>
                </a:ln>
                <a:solidFill>
                  <a:srgbClr val="565656"/>
                </a:solidFill>
                <a:effectLst/>
                <a:uLnTx/>
                <a:uFillTx/>
                <a:latin typeface="Trebuchet MS"/>
                <a:cs typeface="Trebuchet MS"/>
              </a:rPr>
              <a:t>commerce)</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a:p>
            <a:pPr marL="0" marR="20320" lvl="0" indent="0" algn="ctr" defTabSz="914400" eaLnBrk="1" fontAlgn="auto" latinLnBrk="0" hangingPunct="1">
              <a:lnSpc>
                <a:spcPct val="100000"/>
              </a:lnSpc>
              <a:spcBef>
                <a:spcPts val="254"/>
              </a:spcBef>
              <a:spcAft>
                <a:spcPts val="0"/>
              </a:spcAft>
              <a:buClrTx/>
              <a:buSzTx/>
              <a:buFontTx/>
              <a:buNone/>
              <a:tabLst/>
              <a:defRPr/>
            </a:pPr>
            <a:r>
              <a:rPr kumimoji="0" sz="1200" b="0" i="0" u="none" strike="noStrike" kern="0" cap="none" spc="-25" normalizeH="0" baseline="0" noProof="0">
                <a:ln>
                  <a:noFill/>
                </a:ln>
                <a:solidFill>
                  <a:srgbClr val="565656"/>
                </a:solidFill>
                <a:effectLst/>
                <a:uLnTx/>
                <a:uFillTx/>
                <a:latin typeface="Trebuchet MS"/>
                <a:cs typeface="Trebuchet MS"/>
              </a:rPr>
              <a:t>TBD</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58" name="object 58"/>
          <p:cNvSpPr/>
          <p:nvPr/>
        </p:nvSpPr>
        <p:spPr>
          <a:xfrm>
            <a:off x="0" y="5722620"/>
            <a:ext cx="1811020" cy="350520"/>
          </a:xfrm>
          <a:custGeom>
            <a:avLst/>
            <a:gdLst/>
            <a:ahLst/>
            <a:cxnLst/>
            <a:rect l="l" t="t" r="r" b="b"/>
            <a:pathLst>
              <a:path w="1811020" h="350520">
                <a:moveTo>
                  <a:pt x="1635252" y="0"/>
                </a:moveTo>
                <a:lnTo>
                  <a:pt x="0" y="0"/>
                </a:lnTo>
                <a:lnTo>
                  <a:pt x="0" y="350519"/>
                </a:lnTo>
                <a:lnTo>
                  <a:pt x="1635252" y="350519"/>
                </a:lnTo>
                <a:lnTo>
                  <a:pt x="1681836" y="344259"/>
                </a:lnTo>
                <a:lnTo>
                  <a:pt x="1723700" y="326593"/>
                </a:lnTo>
                <a:lnTo>
                  <a:pt x="1759172" y="299189"/>
                </a:lnTo>
                <a:lnTo>
                  <a:pt x="1786579" y="263719"/>
                </a:lnTo>
                <a:lnTo>
                  <a:pt x="1804250" y="221853"/>
                </a:lnTo>
                <a:lnTo>
                  <a:pt x="1810512" y="175259"/>
                </a:lnTo>
                <a:lnTo>
                  <a:pt x="1804250" y="128666"/>
                </a:lnTo>
                <a:lnTo>
                  <a:pt x="1786579" y="86800"/>
                </a:lnTo>
                <a:lnTo>
                  <a:pt x="1759172" y="51330"/>
                </a:lnTo>
                <a:lnTo>
                  <a:pt x="1723700" y="23926"/>
                </a:lnTo>
                <a:lnTo>
                  <a:pt x="1681836" y="6260"/>
                </a:lnTo>
                <a:lnTo>
                  <a:pt x="1635252" y="0"/>
                </a:lnTo>
                <a:close/>
              </a:path>
            </a:pathLst>
          </a:custGeom>
          <a:solidFill>
            <a:srgbClr val="29B974"/>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59" name="object 59"/>
          <p:cNvSpPr txBox="1"/>
          <p:nvPr/>
        </p:nvSpPr>
        <p:spPr>
          <a:xfrm>
            <a:off x="2413507" y="5790082"/>
            <a:ext cx="294005" cy="208279"/>
          </a:xfrm>
          <a:prstGeom prst="rect">
            <a:avLst/>
          </a:prstGeom>
        </p:spPr>
        <p:txBody>
          <a:bodyPr vert="horz" wrap="square" lIns="0" tIns="1270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sz="1200" b="0" i="0" u="none" strike="noStrike" kern="0" cap="none" spc="-25" normalizeH="0" baseline="0" noProof="0">
                <a:ln>
                  <a:noFill/>
                </a:ln>
                <a:solidFill>
                  <a:srgbClr val="565656"/>
                </a:solidFill>
                <a:effectLst/>
                <a:uLnTx/>
                <a:uFillTx/>
                <a:latin typeface="Trebuchet MS"/>
                <a:cs typeface="Trebuchet MS"/>
              </a:rPr>
              <a:t>TBD</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60" name="object 60"/>
          <p:cNvSpPr txBox="1"/>
          <p:nvPr/>
        </p:nvSpPr>
        <p:spPr>
          <a:xfrm>
            <a:off x="4153661" y="5790082"/>
            <a:ext cx="294005" cy="208279"/>
          </a:xfrm>
          <a:prstGeom prst="rect">
            <a:avLst/>
          </a:prstGeom>
        </p:spPr>
        <p:txBody>
          <a:bodyPr vert="horz" wrap="square" lIns="0" tIns="1270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sz="1200" b="0" i="0" u="none" strike="noStrike" kern="0" cap="none" spc="-25" normalizeH="0" baseline="0" noProof="0">
                <a:ln>
                  <a:noFill/>
                </a:ln>
                <a:solidFill>
                  <a:srgbClr val="565656"/>
                </a:solidFill>
                <a:effectLst/>
                <a:uLnTx/>
                <a:uFillTx/>
                <a:latin typeface="Trebuchet MS"/>
                <a:cs typeface="Trebuchet MS"/>
              </a:rPr>
              <a:t>TBD</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61" name="object 61"/>
          <p:cNvSpPr txBox="1"/>
          <p:nvPr/>
        </p:nvSpPr>
        <p:spPr>
          <a:xfrm>
            <a:off x="5894070" y="5790082"/>
            <a:ext cx="294005" cy="208279"/>
          </a:xfrm>
          <a:prstGeom prst="rect">
            <a:avLst/>
          </a:prstGeom>
        </p:spPr>
        <p:txBody>
          <a:bodyPr vert="horz" wrap="square" lIns="0" tIns="1270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sz="1200" b="0" i="0" u="none" strike="noStrike" kern="0" cap="none" spc="-25" normalizeH="0" baseline="0" noProof="0">
                <a:ln>
                  <a:noFill/>
                </a:ln>
                <a:solidFill>
                  <a:srgbClr val="565656"/>
                </a:solidFill>
                <a:effectLst/>
                <a:uLnTx/>
                <a:uFillTx/>
                <a:latin typeface="Trebuchet MS"/>
                <a:cs typeface="Trebuchet MS"/>
              </a:rPr>
              <a:t>TBD</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62" name="object 62"/>
          <p:cNvSpPr txBox="1"/>
          <p:nvPr/>
        </p:nvSpPr>
        <p:spPr>
          <a:xfrm>
            <a:off x="7462519" y="5790082"/>
            <a:ext cx="294005" cy="208279"/>
          </a:xfrm>
          <a:prstGeom prst="rect">
            <a:avLst/>
          </a:prstGeom>
        </p:spPr>
        <p:txBody>
          <a:bodyPr vert="horz" wrap="square" lIns="0" tIns="1270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sz="1200" b="0" i="0" u="none" strike="noStrike" kern="0" cap="none" spc="-25" normalizeH="0" baseline="0" noProof="0">
                <a:ln>
                  <a:noFill/>
                </a:ln>
                <a:solidFill>
                  <a:srgbClr val="565656"/>
                </a:solidFill>
                <a:effectLst/>
                <a:uLnTx/>
                <a:uFillTx/>
                <a:latin typeface="Trebuchet MS"/>
                <a:cs typeface="Trebuchet MS"/>
              </a:rPr>
              <a:t>TBD</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63" name="object 63"/>
          <p:cNvSpPr txBox="1"/>
          <p:nvPr/>
        </p:nvSpPr>
        <p:spPr>
          <a:xfrm>
            <a:off x="9044051" y="5790082"/>
            <a:ext cx="281305" cy="208279"/>
          </a:xfrm>
          <a:prstGeom prst="rect">
            <a:avLst/>
          </a:prstGeom>
        </p:spPr>
        <p:txBody>
          <a:bodyPr vert="horz" wrap="square" lIns="0" tIns="12700" rIns="0" bIns="0" rtlCol="0">
            <a:spAutoFit/>
          </a:bodyPr>
          <a:lstStyle/>
          <a:p>
            <a:pPr marL="0" marR="0" lvl="0" indent="0" defTabSz="914400" eaLnBrk="1" fontAlgn="auto" latinLnBrk="0" hangingPunct="1">
              <a:lnSpc>
                <a:spcPct val="100000"/>
              </a:lnSpc>
              <a:spcBef>
                <a:spcPts val="100"/>
              </a:spcBef>
              <a:spcAft>
                <a:spcPts val="0"/>
              </a:spcAft>
              <a:buClrTx/>
              <a:buSzTx/>
              <a:buFontTx/>
              <a:buNone/>
              <a:tabLst/>
              <a:defRPr/>
            </a:pPr>
            <a:r>
              <a:rPr kumimoji="0" sz="1200" b="0" i="0" u="none" strike="noStrike" kern="0" cap="none" spc="-25" normalizeH="0" baseline="0" noProof="0">
                <a:ln>
                  <a:noFill/>
                </a:ln>
                <a:solidFill>
                  <a:srgbClr val="565656"/>
                </a:solidFill>
                <a:effectLst/>
                <a:uLnTx/>
                <a:uFillTx/>
                <a:latin typeface="Trebuchet MS"/>
                <a:cs typeface="Trebuchet MS"/>
              </a:rPr>
              <a:t>TBD</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64" name="object 64"/>
          <p:cNvSpPr txBox="1"/>
          <p:nvPr/>
        </p:nvSpPr>
        <p:spPr>
          <a:xfrm>
            <a:off x="155854" y="5758992"/>
            <a:ext cx="1362710" cy="269240"/>
          </a:xfrm>
          <a:prstGeom prst="rect">
            <a:avLst/>
          </a:prstGeom>
        </p:spPr>
        <p:txBody>
          <a:bodyPr vert="horz" wrap="square" lIns="0" tIns="12065" rIns="0" bIns="0" rtlCol="0">
            <a:spAutoFit/>
          </a:bodyPr>
          <a:lstStyle/>
          <a:p>
            <a:pPr marL="12700" marR="0" lvl="0" indent="0" defTabSz="914400" eaLnBrk="1" fontAlgn="auto" latinLnBrk="0" hangingPunct="1">
              <a:lnSpc>
                <a:spcPct val="100000"/>
              </a:lnSpc>
              <a:spcBef>
                <a:spcPts val="95"/>
              </a:spcBef>
              <a:spcAft>
                <a:spcPts val="0"/>
              </a:spcAft>
              <a:buClrTx/>
              <a:buSzTx/>
              <a:buFontTx/>
              <a:buNone/>
              <a:tabLst/>
              <a:defRPr/>
            </a:pPr>
            <a:r>
              <a:rPr kumimoji="0" sz="1600" b="0" i="0" u="none" strike="noStrike" kern="0" cap="none" spc="0" normalizeH="0" baseline="0" noProof="0">
                <a:ln>
                  <a:noFill/>
                </a:ln>
                <a:solidFill>
                  <a:srgbClr val="FFFFFF"/>
                </a:solidFill>
                <a:effectLst/>
                <a:uLnTx/>
                <a:uFillTx/>
                <a:latin typeface="Trebuchet MS"/>
                <a:cs typeface="Trebuchet MS"/>
              </a:rPr>
              <a:t>#</a:t>
            </a:r>
            <a:r>
              <a:rPr kumimoji="0" sz="1600" b="0" i="0" u="none" strike="noStrike" kern="0" cap="none" spc="-20" normalizeH="0" baseline="0" noProof="0">
                <a:ln>
                  <a:noFill/>
                </a:ln>
                <a:solidFill>
                  <a:srgbClr val="FFFFFF"/>
                </a:solidFill>
                <a:effectLst/>
                <a:uLnTx/>
                <a:uFillTx/>
                <a:latin typeface="Trebuchet MS"/>
                <a:cs typeface="Trebuchet MS"/>
              </a:rPr>
              <a:t> </a:t>
            </a:r>
            <a:r>
              <a:rPr kumimoji="0" sz="1600" b="0" i="0" u="none" strike="noStrike" kern="0" cap="none" spc="0" normalizeH="0" baseline="0" noProof="0">
                <a:ln>
                  <a:noFill/>
                </a:ln>
                <a:solidFill>
                  <a:srgbClr val="FFFFFF"/>
                </a:solidFill>
                <a:effectLst/>
                <a:uLnTx/>
                <a:uFillTx/>
                <a:latin typeface="Trebuchet MS"/>
                <a:cs typeface="Trebuchet MS"/>
              </a:rPr>
              <a:t>of</a:t>
            </a:r>
            <a:r>
              <a:rPr kumimoji="0" sz="1600" b="0" i="0" u="none" strike="noStrike" kern="0" cap="none" spc="5" normalizeH="0" baseline="0" noProof="0">
                <a:ln>
                  <a:noFill/>
                </a:ln>
                <a:solidFill>
                  <a:srgbClr val="FFFFFF"/>
                </a:solidFill>
                <a:effectLst/>
                <a:uLnTx/>
                <a:uFillTx/>
                <a:latin typeface="Trebuchet MS"/>
                <a:cs typeface="Trebuchet MS"/>
              </a:rPr>
              <a:t> </a:t>
            </a:r>
            <a:r>
              <a:rPr kumimoji="0" sz="1600" b="0" i="0" u="none" strike="noStrike" kern="0" cap="none" spc="-10" normalizeH="0" baseline="0" noProof="0">
                <a:ln>
                  <a:noFill/>
                </a:ln>
                <a:solidFill>
                  <a:srgbClr val="FFFFFF"/>
                </a:solidFill>
                <a:effectLst/>
                <a:uLnTx/>
                <a:uFillTx/>
                <a:latin typeface="Trebuchet MS"/>
                <a:cs typeface="Trebuchet MS"/>
              </a:rPr>
              <a:t>customers</a:t>
            </a:r>
            <a:endParaRPr kumimoji="0" sz="16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65" name="object 65"/>
          <p:cNvSpPr txBox="1"/>
          <p:nvPr/>
        </p:nvSpPr>
        <p:spPr>
          <a:xfrm>
            <a:off x="617321" y="6512762"/>
            <a:ext cx="969010" cy="147955"/>
          </a:xfrm>
          <a:prstGeom prst="rect">
            <a:avLst/>
          </a:prstGeom>
        </p:spPr>
        <p:txBody>
          <a:bodyPr vert="horz" wrap="square" lIns="0" tIns="1270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sz="800" b="0" i="0" u="none" strike="noStrike" kern="0" cap="none" spc="0" normalizeH="0" baseline="0" noProof="0">
                <a:ln>
                  <a:noFill/>
                </a:ln>
                <a:solidFill>
                  <a:srgbClr val="565656"/>
                </a:solidFill>
                <a:effectLst/>
                <a:uLnTx/>
                <a:uFillTx/>
                <a:latin typeface="Trebuchet MS"/>
                <a:cs typeface="Trebuchet MS"/>
              </a:rPr>
              <a:t>Source:</a:t>
            </a:r>
            <a:r>
              <a:rPr kumimoji="0" sz="800" b="0" i="0" u="none" strike="noStrike" kern="0" cap="none" spc="-30" normalizeH="0" baseline="0" noProof="0">
                <a:ln>
                  <a:noFill/>
                </a:ln>
                <a:solidFill>
                  <a:srgbClr val="565656"/>
                </a:solidFill>
                <a:effectLst/>
                <a:uLnTx/>
                <a:uFillTx/>
                <a:latin typeface="Trebuchet MS"/>
                <a:cs typeface="Trebuchet MS"/>
              </a:rPr>
              <a:t> </a:t>
            </a:r>
            <a:r>
              <a:rPr kumimoji="0" sz="800" b="0" i="0" u="none" strike="noStrike" kern="0" cap="none" spc="0" normalizeH="0" baseline="0" noProof="0">
                <a:ln>
                  <a:noFill/>
                </a:ln>
                <a:solidFill>
                  <a:srgbClr val="565656"/>
                </a:solidFill>
                <a:effectLst/>
                <a:uLnTx/>
                <a:uFillTx/>
                <a:latin typeface="Trebuchet MS"/>
                <a:cs typeface="Trebuchet MS"/>
              </a:rPr>
              <a:t>BCG</a:t>
            </a:r>
            <a:r>
              <a:rPr kumimoji="0" sz="800" b="0" i="0" u="none" strike="noStrike" kern="0" cap="none" spc="-45" normalizeH="0" baseline="0" noProof="0">
                <a:ln>
                  <a:noFill/>
                </a:ln>
                <a:solidFill>
                  <a:srgbClr val="565656"/>
                </a:solidFill>
                <a:effectLst/>
                <a:uLnTx/>
                <a:uFillTx/>
                <a:latin typeface="Trebuchet MS"/>
                <a:cs typeface="Trebuchet MS"/>
              </a:rPr>
              <a:t> </a:t>
            </a:r>
            <a:r>
              <a:rPr kumimoji="0" sz="800" b="0" i="0" u="none" strike="noStrike" kern="0" cap="none" spc="-10" normalizeH="0" baseline="0" noProof="0">
                <a:ln>
                  <a:noFill/>
                </a:ln>
                <a:solidFill>
                  <a:srgbClr val="565656"/>
                </a:solidFill>
                <a:effectLst/>
                <a:uLnTx/>
                <a:uFillTx/>
                <a:latin typeface="Trebuchet MS"/>
                <a:cs typeface="Trebuchet MS"/>
              </a:rPr>
              <a:t>analysis</a:t>
            </a:r>
            <a:endParaRPr kumimoji="0" sz="800" b="0" i="0" u="none" strike="noStrike" kern="0" cap="none" spc="0" normalizeH="0" baseline="0" noProof="0">
              <a:ln>
                <a:noFill/>
              </a:ln>
              <a:solidFill>
                <a:sysClr val="windowText" lastClr="000000"/>
              </a:solidFill>
              <a:effectLst/>
              <a:uLnTx/>
              <a:uFillTx/>
              <a:latin typeface="Trebuchet MS"/>
              <a:cs typeface="Trebuchet MS"/>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0" y="0"/>
            <a:ext cx="12192000" cy="6858000"/>
            <a:chOff x="0" y="0"/>
            <a:chExt cx="12192000" cy="6858000"/>
          </a:xfrm>
        </p:grpSpPr>
        <p:pic>
          <p:nvPicPr>
            <p:cNvPr id="3" name="object 3"/>
            <p:cNvPicPr/>
            <p:nvPr/>
          </p:nvPicPr>
          <p:blipFill>
            <a:blip r:embed="rId3" cstate="print"/>
            <a:stretch>
              <a:fillRect/>
            </a:stretch>
          </p:blipFill>
          <p:spPr>
            <a:xfrm>
              <a:off x="0" y="0"/>
              <a:ext cx="12192000" cy="6858000"/>
            </a:xfrm>
            <a:prstGeom prst="rect">
              <a:avLst/>
            </a:prstGeom>
          </p:spPr>
        </p:pic>
        <p:pic>
          <p:nvPicPr>
            <p:cNvPr id="4" name="object 4"/>
            <p:cNvPicPr/>
            <p:nvPr/>
          </p:nvPicPr>
          <p:blipFill>
            <a:blip r:embed="rId4" cstate="print"/>
            <a:stretch>
              <a:fillRect/>
            </a:stretch>
          </p:blipFill>
          <p:spPr>
            <a:xfrm>
              <a:off x="7165847" y="0"/>
              <a:ext cx="416051" cy="6857998"/>
            </a:xfrm>
            <a:prstGeom prst="rect">
              <a:avLst/>
            </a:prstGeom>
          </p:spPr>
        </p:pic>
        <p:sp>
          <p:nvSpPr>
            <p:cNvPr id="5" name="object 5"/>
            <p:cNvSpPr/>
            <p:nvPr/>
          </p:nvSpPr>
          <p:spPr>
            <a:xfrm>
              <a:off x="0" y="0"/>
              <a:ext cx="7172325" cy="6858000"/>
            </a:xfrm>
            <a:custGeom>
              <a:avLst/>
              <a:gdLst/>
              <a:ahLst/>
              <a:cxnLst/>
              <a:rect l="l" t="t" r="r" b="b"/>
              <a:pathLst>
                <a:path w="7172325" h="6858000">
                  <a:moveTo>
                    <a:pt x="7171944" y="0"/>
                  </a:moveTo>
                  <a:lnTo>
                    <a:pt x="0" y="0"/>
                  </a:lnTo>
                  <a:lnTo>
                    <a:pt x="0" y="6858000"/>
                  </a:lnTo>
                  <a:lnTo>
                    <a:pt x="7171944" y="6858000"/>
                  </a:lnTo>
                  <a:lnTo>
                    <a:pt x="7171944" y="0"/>
                  </a:lnTo>
                  <a:close/>
                </a:path>
              </a:pathLst>
            </a:custGeom>
            <a:solidFill>
              <a:srgbClr val="FFFFFF"/>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grpSp>
      <p:sp>
        <p:nvSpPr>
          <p:cNvPr id="6" name="object 6"/>
          <p:cNvSpPr txBox="1"/>
          <p:nvPr/>
        </p:nvSpPr>
        <p:spPr>
          <a:xfrm>
            <a:off x="11403583" y="6392062"/>
            <a:ext cx="160020" cy="177800"/>
          </a:xfrm>
          <a:prstGeom prst="rect">
            <a:avLst/>
          </a:prstGeom>
        </p:spPr>
        <p:txBody>
          <a:bodyPr vert="horz" wrap="square" lIns="0" tIns="12065" rIns="0" bIns="0" rtlCol="0">
            <a:spAutoFit/>
          </a:bodyPr>
          <a:lstStyle/>
          <a:p>
            <a:pPr marL="12700" marR="0" lvl="0" indent="0" defTabSz="914400" eaLnBrk="1" fontAlgn="auto" latinLnBrk="0" hangingPunct="1">
              <a:lnSpc>
                <a:spcPct val="100000"/>
              </a:lnSpc>
              <a:spcBef>
                <a:spcPts val="95"/>
              </a:spcBef>
              <a:spcAft>
                <a:spcPts val="0"/>
              </a:spcAft>
              <a:buClrTx/>
              <a:buSzTx/>
              <a:buFontTx/>
              <a:buNone/>
              <a:tabLst/>
              <a:defRPr/>
            </a:pPr>
            <a:r>
              <a:rPr kumimoji="0" sz="1000" b="0" i="0" u="none" strike="noStrike" kern="0" cap="none" spc="-25" normalizeH="0" baseline="0" noProof="0">
                <a:ln>
                  <a:noFill/>
                </a:ln>
                <a:solidFill>
                  <a:srgbClr val="FFFFFF"/>
                </a:solidFill>
                <a:effectLst/>
                <a:uLnTx/>
                <a:uFillTx/>
                <a:latin typeface="Trebuchet MS"/>
                <a:cs typeface="Trebuchet MS"/>
              </a:rPr>
              <a:t>13</a:t>
            </a:r>
            <a:endParaRPr kumimoji="0" sz="10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7" name="object 7"/>
          <p:cNvSpPr txBox="1"/>
          <p:nvPr/>
        </p:nvSpPr>
        <p:spPr>
          <a:xfrm>
            <a:off x="11986574" y="3898286"/>
            <a:ext cx="128270" cy="2653665"/>
          </a:xfrm>
          <a:prstGeom prst="rect">
            <a:avLst/>
          </a:prstGeom>
        </p:spPr>
        <p:txBody>
          <a:bodyPr vert="vert270" wrap="square" lIns="0" tIns="6350" rIns="0" bIns="0" rtlCol="0">
            <a:spAutoFit/>
          </a:bodyPr>
          <a:lstStyle/>
          <a:p>
            <a:pPr marL="12700" marR="0" lvl="0" indent="0" defTabSz="914400" eaLnBrk="1" fontAlgn="auto" latinLnBrk="0" hangingPunct="1">
              <a:lnSpc>
                <a:spcPct val="100000"/>
              </a:lnSpc>
              <a:spcBef>
                <a:spcPts val="50"/>
              </a:spcBef>
              <a:spcAft>
                <a:spcPts val="0"/>
              </a:spcAft>
              <a:buClrTx/>
              <a:buSzTx/>
              <a:buFontTx/>
              <a:buNone/>
              <a:tabLst/>
              <a:defRPr/>
            </a:pPr>
            <a:r>
              <a:rPr kumimoji="0" sz="700" b="0" i="0" u="none" strike="noStrike" kern="0" cap="none" spc="0" normalizeH="0" baseline="0" noProof="0">
                <a:ln>
                  <a:noFill/>
                </a:ln>
                <a:solidFill>
                  <a:srgbClr val="FFFFFF"/>
                </a:solidFill>
                <a:effectLst/>
                <a:uLnTx/>
                <a:uFillTx/>
                <a:latin typeface="Trebuchet MS"/>
                <a:cs typeface="Trebuchet MS"/>
              </a:rPr>
              <a:t>Copyright</a:t>
            </a:r>
            <a:r>
              <a:rPr kumimoji="0" sz="700" b="0" i="0" u="none" strike="noStrike" kern="0" cap="none" spc="-25" normalizeH="0" baseline="0" noProof="0">
                <a:ln>
                  <a:noFill/>
                </a:ln>
                <a:solidFill>
                  <a:srgbClr val="FFFFFF"/>
                </a:solidFill>
                <a:effectLst/>
                <a:uLnTx/>
                <a:uFillTx/>
                <a:latin typeface="Trebuchet MS"/>
                <a:cs typeface="Trebuchet MS"/>
              </a:rPr>
              <a:t> </a:t>
            </a:r>
            <a:r>
              <a:rPr kumimoji="0" sz="700" b="0" i="0" u="none" strike="noStrike" kern="0" cap="none" spc="0" normalizeH="0" baseline="0" noProof="0">
                <a:ln>
                  <a:noFill/>
                </a:ln>
                <a:solidFill>
                  <a:srgbClr val="FFFFFF"/>
                </a:solidFill>
                <a:effectLst/>
                <a:uLnTx/>
                <a:uFillTx/>
                <a:latin typeface="Trebuchet MS"/>
                <a:cs typeface="Trebuchet MS"/>
              </a:rPr>
              <a:t>©</a:t>
            </a:r>
            <a:r>
              <a:rPr kumimoji="0" sz="700" b="0" i="0" u="none" strike="noStrike" kern="0" cap="none" spc="-25" normalizeH="0" baseline="0" noProof="0">
                <a:ln>
                  <a:noFill/>
                </a:ln>
                <a:solidFill>
                  <a:srgbClr val="FFFFFF"/>
                </a:solidFill>
                <a:effectLst/>
                <a:uLnTx/>
                <a:uFillTx/>
                <a:latin typeface="Trebuchet MS"/>
                <a:cs typeface="Trebuchet MS"/>
              </a:rPr>
              <a:t> </a:t>
            </a:r>
            <a:r>
              <a:rPr kumimoji="0" sz="700" b="0" i="0" u="none" strike="noStrike" kern="0" cap="none" spc="0" normalizeH="0" baseline="0" noProof="0">
                <a:ln>
                  <a:noFill/>
                </a:ln>
                <a:solidFill>
                  <a:srgbClr val="FFFFFF"/>
                </a:solidFill>
                <a:effectLst/>
                <a:uLnTx/>
                <a:uFillTx/>
                <a:latin typeface="Trebuchet MS"/>
                <a:cs typeface="Trebuchet MS"/>
              </a:rPr>
              <a:t>2019</a:t>
            </a:r>
            <a:r>
              <a:rPr kumimoji="0" sz="700" b="0" i="0" u="none" strike="noStrike" kern="0" cap="none" spc="-15" normalizeH="0" baseline="0" noProof="0">
                <a:ln>
                  <a:noFill/>
                </a:ln>
                <a:solidFill>
                  <a:srgbClr val="FFFFFF"/>
                </a:solidFill>
                <a:effectLst/>
                <a:uLnTx/>
                <a:uFillTx/>
                <a:latin typeface="Trebuchet MS"/>
                <a:cs typeface="Trebuchet MS"/>
              </a:rPr>
              <a:t> </a:t>
            </a:r>
            <a:r>
              <a:rPr kumimoji="0" sz="700" b="0" i="0" u="none" strike="noStrike" kern="0" cap="none" spc="0" normalizeH="0" baseline="0" noProof="0">
                <a:ln>
                  <a:noFill/>
                </a:ln>
                <a:solidFill>
                  <a:srgbClr val="FFFFFF"/>
                </a:solidFill>
                <a:effectLst/>
                <a:uLnTx/>
                <a:uFillTx/>
                <a:latin typeface="Trebuchet MS"/>
                <a:cs typeface="Trebuchet MS"/>
              </a:rPr>
              <a:t>by</a:t>
            </a:r>
            <a:r>
              <a:rPr kumimoji="0" sz="700" b="0" i="0" u="none" strike="noStrike" kern="0" cap="none" spc="-20" normalizeH="0" baseline="0" noProof="0">
                <a:ln>
                  <a:noFill/>
                </a:ln>
                <a:solidFill>
                  <a:srgbClr val="FFFFFF"/>
                </a:solidFill>
                <a:effectLst/>
                <a:uLnTx/>
                <a:uFillTx/>
                <a:latin typeface="Trebuchet MS"/>
                <a:cs typeface="Trebuchet MS"/>
              </a:rPr>
              <a:t> </a:t>
            </a:r>
            <a:r>
              <a:rPr kumimoji="0" sz="700" b="0" i="0" u="none" strike="noStrike" kern="0" cap="none" spc="0" normalizeH="0" baseline="0" noProof="0">
                <a:ln>
                  <a:noFill/>
                </a:ln>
                <a:solidFill>
                  <a:srgbClr val="FFFFFF"/>
                </a:solidFill>
                <a:effectLst/>
                <a:uLnTx/>
                <a:uFillTx/>
                <a:latin typeface="Trebuchet MS"/>
                <a:cs typeface="Trebuchet MS"/>
              </a:rPr>
              <a:t>Boston </a:t>
            </a:r>
            <a:r>
              <a:rPr kumimoji="0" sz="700" b="0" i="0" u="none" strike="noStrike" kern="0" cap="none" spc="-10" normalizeH="0" baseline="0" noProof="0">
                <a:ln>
                  <a:noFill/>
                </a:ln>
                <a:solidFill>
                  <a:srgbClr val="FFFFFF"/>
                </a:solidFill>
                <a:effectLst/>
                <a:uLnTx/>
                <a:uFillTx/>
                <a:latin typeface="Trebuchet MS"/>
                <a:cs typeface="Trebuchet MS"/>
              </a:rPr>
              <a:t>Consulting </a:t>
            </a:r>
            <a:r>
              <a:rPr kumimoji="0" sz="700" b="0" i="0" u="none" strike="noStrike" kern="0" cap="none" spc="0" normalizeH="0" baseline="0" noProof="0">
                <a:ln>
                  <a:noFill/>
                </a:ln>
                <a:solidFill>
                  <a:srgbClr val="FFFFFF"/>
                </a:solidFill>
                <a:effectLst/>
                <a:uLnTx/>
                <a:uFillTx/>
                <a:latin typeface="Trebuchet MS"/>
                <a:cs typeface="Trebuchet MS"/>
              </a:rPr>
              <a:t>Group.</a:t>
            </a:r>
            <a:r>
              <a:rPr kumimoji="0" sz="700" b="0" i="0" u="none" strike="noStrike" kern="0" cap="none" spc="-5" normalizeH="0" baseline="0" noProof="0">
                <a:ln>
                  <a:noFill/>
                </a:ln>
                <a:solidFill>
                  <a:srgbClr val="FFFFFF"/>
                </a:solidFill>
                <a:effectLst/>
                <a:uLnTx/>
                <a:uFillTx/>
                <a:latin typeface="Trebuchet MS"/>
                <a:cs typeface="Trebuchet MS"/>
              </a:rPr>
              <a:t> </a:t>
            </a:r>
            <a:r>
              <a:rPr kumimoji="0" sz="700" b="0" i="0" u="none" strike="noStrike" kern="0" cap="none" spc="0" normalizeH="0" baseline="0" noProof="0">
                <a:ln>
                  <a:noFill/>
                </a:ln>
                <a:solidFill>
                  <a:srgbClr val="FFFFFF"/>
                </a:solidFill>
                <a:effectLst/>
                <a:uLnTx/>
                <a:uFillTx/>
                <a:latin typeface="Trebuchet MS"/>
                <a:cs typeface="Trebuchet MS"/>
              </a:rPr>
              <a:t>All</a:t>
            </a:r>
            <a:r>
              <a:rPr kumimoji="0" sz="700" b="0" i="0" u="none" strike="noStrike" kern="0" cap="none" spc="-5" normalizeH="0" baseline="0" noProof="0">
                <a:ln>
                  <a:noFill/>
                </a:ln>
                <a:solidFill>
                  <a:srgbClr val="FFFFFF"/>
                </a:solidFill>
                <a:effectLst/>
                <a:uLnTx/>
                <a:uFillTx/>
                <a:latin typeface="Trebuchet MS"/>
                <a:cs typeface="Trebuchet MS"/>
              </a:rPr>
              <a:t> </a:t>
            </a:r>
            <a:r>
              <a:rPr kumimoji="0" sz="700" b="0" i="0" u="none" strike="noStrike" kern="0" cap="none" spc="0" normalizeH="0" baseline="0" noProof="0">
                <a:ln>
                  <a:noFill/>
                </a:ln>
                <a:solidFill>
                  <a:srgbClr val="FFFFFF"/>
                </a:solidFill>
                <a:effectLst/>
                <a:uLnTx/>
                <a:uFillTx/>
                <a:latin typeface="Trebuchet MS"/>
                <a:cs typeface="Trebuchet MS"/>
              </a:rPr>
              <a:t>rights</a:t>
            </a:r>
            <a:r>
              <a:rPr kumimoji="0" sz="700" b="0" i="0" u="none" strike="noStrike" kern="0" cap="none" spc="-25" normalizeH="0" baseline="0" noProof="0">
                <a:ln>
                  <a:noFill/>
                </a:ln>
                <a:solidFill>
                  <a:srgbClr val="FFFFFF"/>
                </a:solidFill>
                <a:effectLst/>
                <a:uLnTx/>
                <a:uFillTx/>
                <a:latin typeface="Trebuchet MS"/>
                <a:cs typeface="Trebuchet MS"/>
              </a:rPr>
              <a:t> </a:t>
            </a:r>
            <a:r>
              <a:rPr kumimoji="0" sz="700" b="0" i="0" u="none" strike="noStrike" kern="0" cap="none" spc="-10" normalizeH="0" baseline="0" noProof="0">
                <a:ln>
                  <a:noFill/>
                </a:ln>
                <a:solidFill>
                  <a:srgbClr val="FFFFFF"/>
                </a:solidFill>
                <a:effectLst/>
                <a:uLnTx/>
                <a:uFillTx/>
                <a:latin typeface="Trebuchet MS"/>
                <a:cs typeface="Trebuchet MS"/>
              </a:rPr>
              <a:t>reserved.</a:t>
            </a:r>
            <a:endParaRPr kumimoji="0" sz="7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8" name="object 8"/>
          <p:cNvSpPr txBox="1">
            <a:spLocks noGrp="1"/>
          </p:cNvSpPr>
          <p:nvPr>
            <p:ph type="title"/>
          </p:nvPr>
        </p:nvSpPr>
        <p:spPr>
          <a:xfrm>
            <a:off x="617321" y="564641"/>
            <a:ext cx="5958205" cy="720725"/>
          </a:xfrm>
          <a:prstGeom prst="rect">
            <a:avLst/>
          </a:prstGeom>
        </p:spPr>
        <p:txBody>
          <a:bodyPr vert="horz" wrap="square" lIns="0" tIns="53975" rIns="0" bIns="0" rtlCol="0">
            <a:spAutoFit/>
          </a:bodyPr>
          <a:lstStyle/>
          <a:p>
            <a:pPr marL="12700" marR="5080">
              <a:lnSpc>
                <a:spcPts val="2590"/>
              </a:lnSpc>
              <a:spcBef>
                <a:spcPts val="425"/>
              </a:spcBef>
            </a:pPr>
            <a:r>
              <a:rPr sz="2400"/>
              <a:t>Lead</a:t>
            </a:r>
            <a:r>
              <a:rPr sz="2400" spc="-85"/>
              <a:t> </a:t>
            </a:r>
            <a:r>
              <a:rPr sz="2400"/>
              <a:t>filtering:</a:t>
            </a:r>
            <a:r>
              <a:rPr sz="2400" spc="-55"/>
              <a:t> </a:t>
            </a:r>
            <a:r>
              <a:rPr sz="2400"/>
              <a:t>Multiple</a:t>
            </a:r>
            <a:r>
              <a:rPr sz="2400" spc="-75"/>
              <a:t> </a:t>
            </a:r>
            <a:r>
              <a:rPr sz="2400"/>
              <a:t>filters</a:t>
            </a:r>
            <a:r>
              <a:rPr sz="2400" spc="-65"/>
              <a:t> </a:t>
            </a:r>
            <a:r>
              <a:rPr sz="2400"/>
              <a:t>to</a:t>
            </a:r>
            <a:r>
              <a:rPr sz="2400" spc="-80"/>
              <a:t> </a:t>
            </a:r>
            <a:r>
              <a:rPr sz="2400"/>
              <a:t>ensure</a:t>
            </a:r>
            <a:r>
              <a:rPr sz="2400" spc="-70"/>
              <a:t> </a:t>
            </a:r>
            <a:r>
              <a:rPr sz="2400" spc="-25"/>
              <a:t>RM </a:t>
            </a:r>
            <a:r>
              <a:rPr sz="2400"/>
              <a:t>receives</a:t>
            </a:r>
            <a:r>
              <a:rPr sz="2400" spc="-90"/>
              <a:t> </a:t>
            </a:r>
            <a:r>
              <a:rPr sz="2400"/>
              <a:t>relevant</a:t>
            </a:r>
            <a:r>
              <a:rPr sz="2400" spc="-90"/>
              <a:t> </a:t>
            </a:r>
            <a:r>
              <a:rPr sz="2400" spc="-10"/>
              <a:t>leads</a:t>
            </a:r>
            <a:endParaRPr sz="2400"/>
          </a:p>
        </p:txBody>
      </p:sp>
      <p:sp>
        <p:nvSpPr>
          <p:cNvPr id="9" name="object 9"/>
          <p:cNvSpPr/>
          <p:nvPr/>
        </p:nvSpPr>
        <p:spPr>
          <a:xfrm>
            <a:off x="7613904" y="3555491"/>
            <a:ext cx="306705" cy="306705"/>
          </a:xfrm>
          <a:custGeom>
            <a:avLst/>
            <a:gdLst/>
            <a:ahLst/>
            <a:cxnLst/>
            <a:rect l="l" t="t" r="r" b="b"/>
            <a:pathLst>
              <a:path w="306704" h="306704">
                <a:moveTo>
                  <a:pt x="153162" y="0"/>
                </a:moveTo>
                <a:lnTo>
                  <a:pt x="104753" y="7808"/>
                </a:lnTo>
                <a:lnTo>
                  <a:pt x="62709" y="29553"/>
                </a:lnTo>
                <a:lnTo>
                  <a:pt x="29553" y="62709"/>
                </a:lnTo>
                <a:lnTo>
                  <a:pt x="7808" y="104753"/>
                </a:lnTo>
                <a:lnTo>
                  <a:pt x="0" y="153162"/>
                </a:lnTo>
                <a:lnTo>
                  <a:pt x="7808" y="201570"/>
                </a:lnTo>
                <a:lnTo>
                  <a:pt x="29553" y="243614"/>
                </a:lnTo>
                <a:lnTo>
                  <a:pt x="62709" y="276770"/>
                </a:lnTo>
                <a:lnTo>
                  <a:pt x="104753" y="298515"/>
                </a:lnTo>
                <a:lnTo>
                  <a:pt x="153162" y="306324"/>
                </a:lnTo>
                <a:lnTo>
                  <a:pt x="201570" y="298515"/>
                </a:lnTo>
                <a:lnTo>
                  <a:pt x="243614" y="276770"/>
                </a:lnTo>
                <a:lnTo>
                  <a:pt x="276770" y="243614"/>
                </a:lnTo>
                <a:lnTo>
                  <a:pt x="298515" y="201570"/>
                </a:lnTo>
                <a:lnTo>
                  <a:pt x="306324" y="153162"/>
                </a:lnTo>
                <a:lnTo>
                  <a:pt x="298515" y="104753"/>
                </a:lnTo>
                <a:lnTo>
                  <a:pt x="276770" y="62709"/>
                </a:lnTo>
                <a:lnTo>
                  <a:pt x="243614" y="29553"/>
                </a:lnTo>
                <a:lnTo>
                  <a:pt x="201570" y="7808"/>
                </a:lnTo>
                <a:lnTo>
                  <a:pt x="153162" y="0"/>
                </a:lnTo>
                <a:close/>
              </a:path>
            </a:pathLst>
          </a:custGeom>
          <a:solidFill>
            <a:srgbClr val="FFFFFF"/>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10" name="object 10"/>
          <p:cNvSpPr txBox="1"/>
          <p:nvPr/>
        </p:nvSpPr>
        <p:spPr>
          <a:xfrm>
            <a:off x="7702422" y="3370833"/>
            <a:ext cx="3512820" cy="666115"/>
          </a:xfrm>
          <a:prstGeom prst="rect">
            <a:avLst/>
          </a:prstGeom>
        </p:spPr>
        <p:txBody>
          <a:bodyPr vert="horz" wrap="square" lIns="0" tIns="13335" rIns="0" bIns="0" rtlCol="0">
            <a:spAutoFit/>
          </a:bodyPr>
          <a:lstStyle/>
          <a:p>
            <a:pPr marL="12700" marR="5080" lvl="0" indent="353060" defTabSz="914400" eaLnBrk="1" fontAlgn="auto" latinLnBrk="0" hangingPunct="1">
              <a:lnSpc>
                <a:spcPct val="100000"/>
              </a:lnSpc>
              <a:spcBef>
                <a:spcPts val="105"/>
              </a:spcBef>
              <a:spcAft>
                <a:spcPts val="0"/>
              </a:spcAft>
              <a:buClrTx/>
              <a:buSzTx/>
              <a:buFontTx/>
              <a:buNone/>
              <a:tabLst>
                <a:tab pos="365760" algn="l"/>
              </a:tabLst>
              <a:defRPr/>
            </a:pPr>
            <a:r>
              <a:rPr kumimoji="0" sz="1400" b="0" i="0" u="none" strike="noStrike" kern="0" cap="none" spc="0" normalizeH="0" baseline="0" noProof="0">
                <a:ln>
                  <a:noFill/>
                </a:ln>
                <a:solidFill>
                  <a:srgbClr val="D3DF33"/>
                </a:solidFill>
                <a:effectLst/>
                <a:uLnTx/>
                <a:uFillTx/>
                <a:latin typeface="Trebuchet MS"/>
                <a:cs typeface="Trebuchet MS"/>
              </a:rPr>
              <a:t>(If</a:t>
            </a:r>
            <a:r>
              <a:rPr kumimoji="0" sz="1400" b="0" i="0" u="none" strike="noStrike" kern="0" cap="none" spc="-35" normalizeH="0" baseline="0" noProof="0">
                <a:ln>
                  <a:noFill/>
                </a:ln>
                <a:solidFill>
                  <a:srgbClr val="D3DF33"/>
                </a:solidFill>
                <a:effectLst/>
                <a:uLnTx/>
                <a:uFillTx/>
                <a:latin typeface="Trebuchet MS"/>
                <a:cs typeface="Trebuchet MS"/>
              </a:rPr>
              <a:t> </a:t>
            </a:r>
            <a:r>
              <a:rPr kumimoji="0" sz="1400" b="0" i="0" u="none" strike="noStrike" kern="0" cap="none" spc="0" normalizeH="0" baseline="0" noProof="0">
                <a:ln>
                  <a:noFill/>
                </a:ln>
                <a:solidFill>
                  <a:srgbClr val="D3DF33"/>
                </a:solidFill>
                <a:effectLst/>
                <a:uLnTx/>
                <a:uFillTx/>
                <a:latin typeface="Trebuchet MS"/>
                <a:cs typeface="Trebuchet MS"/>
              </a:rPr>
              <a:t>identified</a:t>
            </a:r>
            <a:r>
              <a:rPr kumimoji="0" sz="1400" b="0" i="0" u="none" strike="noStrike" kern="0" cap="none" spc="-30" normalizeH="0" baseline="0" noProof="0">
                <a:ln>
                  <a:noFill/>
                </a:ln>
                <a:solidFill>
                  <a:srgbClr val="D3DF33"/>
                </a:solidFill>
                <a:effectLst/>
                <a:uLnTx/>
                <a:uFillTx/>
                <a:latin typeface="Trebuchet MS"/>
                <a:cs typeface="Trebuchet MS"/>
              </a:rPr>
              <a:t> </a:t>
            </a:r>
            <a:r>
              <a:rPr kumimoji="0" sz="1400" b="0" i="0" u="none" strike="noStrike" kern="0" cap="none" spc="0" normalizeH="0" baseline="0" noProof="0">
                <a:ln>
                  <a:noFill/>
                </a:ln>
                <a:solidFill>
                  <a:srgbClr val="D3DF33"/>
                </a:solidFill>
                <a:effectLst/>
                <a:uLnTx/>
                <a:uFillTx/>
                <a:latin typeface="Trebuchet MS"/>
                <a:cs typeface="Trebuchet MS"/>
              </a:rPr>
              <a:t>lead</a:t>
            </a:r>
            <a:r>
              <a:rPr kumimoji="0" sz="1400" b="0" i="0" u="none" strike="noStrike" kern="0" cap="none" spc="-30" normalizeH="0" baseline="0" noProof="0">
                <a:ln>
                  <a:noFill/>
                </a:ln>
                <a:solidFill>
                  <a:srgbClr val="D3DF33"/>
                </a:solidFill>
                <a:effectLst/>
                <a:uLnTx/>
                <a:uFillTx/>
                <a:latin typeface="Trebuchet MS"/>
                <a:cs typeface="Trebuchet MS"/>
              </a:rPr>
              <a:t> </a:t>
            </a:r>
            <a:r>
              <a:rPr kumimoji="0" sz="1400" b="0" i="0" u="none" strike="noStrike" kern="0" cap="none" spc="0" normalizeH="0" baseline="0" noProof="0">
                <a:ln>
                  <a:noFill/>
                </a:ln>
                <a:solidFill>
                  <a:srgbClr val="D3DF33"/>
                </a:solidFill>
                <a:effectLst/>
                <a:uLnTx/>
                <a:uFillTx/>
                <a:latin typeface="Trebuchet MS"/>
                <a:cs typeface="Trebuchet MS"/>
              </a:rPr>
              <a:t>is</a:t>
            </a:r>
            <a:r>
              <a:rPr kumimoji="0" sz="1400" b="0" i="0" u="none" strike="noStrike" kern="0" cap="none" spc="-15" normalizeH="0" baseline="0" noProof="0">
                <a:ln>
                  <a:noFill/>
                </a:ln>
                <a:solidFill>
                  <a:srgbClr val="D3DF33"/>
                </a:solidFill>
                <a:effectLst/>
                <a:uLnTx/>
                <a:uFillTx/>
                <a:latin typeface="Trebuchet MS"/>
                <a:cs typeface="Trebuchet MS"/>
              </a:rPr>
              <a:t> </a:t>
            </a:r>
            <a:r>
              <a:rPr kumimoji="0" sz="1400" b="0" i="0" u="none" strike="noStrike" kern="0" cap="none" spc="0" normalizeH="0" baseline="0" noProof="0">
                <a:ln>
                  <a:noFill/>
                </a:ln>
                <a:solidFill>
                  <a:srgbClr val="D3DF33"/>
                </a:solidFill>
                <a:effectLst/>
                <a:uLnTx/>
                <a:uFillTx/>
                <a:latin typeface="Trebuchet MS"/>
                <a:cs typeface="Trebuchet MS"/>
              </a:rPr>
              <a:t>ETB)</a:t>
            </a:r>
            <a:r>
              <a:rPr kumimoji="0" sz="1400" b="0" i="0" u="none" strike="noStrike" kern="0" cap="none" spc="-20" normalizeH="0" baseline="0" noProof="0">
                <a:ln>
                  <a:noFill/>
                </a:ln>
                <a:solidFill>
                  <a:srgbClr val="D3DF33"/>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set</a:t>
            </a:r>
            <a:r>
              <a:rPr kumimoji="0" sz="1400" b="0" i="0" u="none" strike="noStrike" kern="0" cap="none" spc="-20"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D3DF33"/>
                </a:solidFill>
                <a:effectLst/>
                <a:uLnTx/>
                <a:uFillTx/>
                <a:latin typeface="Trebuchet MS"/>
                <a:cs typeface="Trebuchet MS"/>
              </a:rPr>
              <a:t>rules</a:t>
            </a:r>
            <a:r>
              <a:rPr kumimoji="0" sz="1400" b="0" i="0" u="none" strike="noStrike" kern="0" cap="none" spc="-30" normalizeH="0" baseline="0" noProof="0">
                <a:ln>
                  <a:noFill/>
                </a:ln>
                <a:solidFill>
                  <a:srgbClr val="D3DF33"/>
                </a:solidFill>
                <a:effectLst/>
                <a:uLnTx/>
                <a:uFillTx/>
                <a:latin typeface="Trebuchet MS"/>
                <a:cs typeface="Trebuchet MS"/>
              </a:rPr>
              <a:t> </a:t>
            </a:r>
            <a:r>
              <a:rPr kumimoji="0" sz="1400" b="0" i="0" u="none" strike="noStrike" kern="0" cap="none" spc="-25" normalizeH="0" baseline="0" noProof="0">
                <a:ln>
                  <a:noFill/>
                </a:ln>
                <a:solidFill>
                  <a:srgbClr val="D3DF33"/>
                </a:solidFill>
                <a:effectLst/>
                <a:uLnTx/>
                <a:uFillTx/>
                <a:latin typeface="Trebuchet MS"/>
                <a:cs typeface="Trebuchet MS"/>
              </a:rPr>
              <a:t>and </a:t>
            </a:r>
            <a:r>
              <a:rPr kumimoji="0" sz="1400" b="0" i="0" u="none" strike="noStrike" kern="0" cap="none" spc="-50" normalizeH="0" baseline="0" noProof="0">
                <a:ln>
                  <a:noFill/>
                </a:ln>
                <a:solidFill>
                  <a:srgbClr val="29B974"/>
                </a:solidFill>
                <a:effectLst/>
                <a:uLnTx/>
                <a:uFillTx/>
                <a:latin typeface="Trebuchet MS"/>
                <a:cs typeface="Trebuchet MS"/>
              </a:rPr>
              <a:t>C</a:t>
            </a:r>
            <a:r>
              <a:rPr kumimoji="0" sz="1400" b="0" i="0" u="none" strike="noStrike" kern="0" cap="none" spc="0" normalizeH="0" baseline="0" noProof="0">
                <a:ln>
                  <a:noFill/>
                </a:ln>
                <a:solidFill>
                  <a:srgbClr val="29B974"/>
                </a:solidFill>
                <a:effectLst/>
                <a:uLnTx/>
                <a:uFillTx/>
                <a:latin typeface="Trebuchet MS"/>
                <a:cs typeface="Trebuchet MS"/>
              </a:rPr>
              <a:t>	</a:t>
            </a:r>
            <a:r>
              <a:rPr kumimoji="0" sz="1400" b="0" i="0" u="none" strike="noStrike" kern="0" cap="none" spc="0" normalizeH="0" baseline="0" noProof="0">
                <a:ln>
                  <a:noFill/>
                </a:ln>
                <a:solidFill>
                  <a:srgbClr val="D3DF33"/>
                </a:solidFill>
                <a:effectLst/>
                <a:uLnTx/>
                <a:uFillTx/>
                <a:latin typeface="Trebuchet MS"/>
                <a:cs typeface="Trebuchet MS"/>
              </a:rPr>
              <a:t>existing</a:t>
            </a:r>
            <a:r>
              <a:rPr kumimoji="0" sz="1400" b="0" i="0" u="none" strike="noStrike" kern="0" cap="none" spc="-40" normalizeH="0" baseline="0" noProof="0">
                <a:ln>
                  <a:noFill/>
                </a:ln>
                <a:solidFill>
                  <a:srgbClr val="D3DF33"/>
                </a:solidFill>
                <a:effectLst/>
                <a:uLnTx/>
                <a:uFillTx/>
                <a:latin typeface="Trebuchet MS"/>
                <a:cs typeface="Trebuchet MS"/>
              </a:rPr>
              <a:t> </a:t>
            </a:r>
            <a:r>
              <a:rPr kumimoji="0" sz="1400" b="0" i="0" u="none" strike="noStrike" kern="0" cap="none" spc="0" normalizeH="0" baseline="0" noProof="0">
                <a:ln>
                  <a:noFill/>
                </a:ln>
                <a:solidFill>
                  <a:srgbClr val="D3DF33"/>
                </a:solidFill>
                <a:effectLst/>
                <a:uLnTx/>
                <a:uFillTx/>
                <a:latin typeface="Trebuchet MS"/>
                <a:cs typeface="Trebuchet MS"/>
              </a:rPr>
              <a:t>customer</a:t>
            </a:r>
            <a:r>
              <a:rPr kumimoji="0" sz="1400" b="0" i="0" u="none" strike="noStrike" kern="0" cap="none" spc="-50" normalizeH="0" baseline="0" noProof="0">
                <a:ln>
                  <a:noFill/>
                </a:ln>
                <a:solidFill>
                  <a:srgbClr val="D3DF33"/>
                </a:solidFill>
                <a:effectLst/>
                <a:uLnTx/>
                <a:uFillTx/>
                <a:latin typeface="Trebuchet MS"/>
                <a:cs typeface="Trebuchet MS"/>
              </a:rPr>
              <a:t> </a:t>
            </a:r>
            <a:r>
              <a:rPr kumimoji="0" sz="1400" b="0" i="0" u="none" strike="noStrike" kern="0" cap="none" spc="0" normalizeH="0" baseline="0" noProof="0">
                <a:ln>
                  <a:noFill/>
                </a:ln>
                <a:solidFill>
                  <a:srgbClr val="D3DF33"/>
                </a:solidFill>
                <a:effectLst/>
                <a:uLnTx/>
                <a:uFillTx/>
                <a:latin typeface="Trebuchet MS"/>
                <a:cs typeface="Trebuchet MS"/>
              </a:rPr>
              <a:t>information</a:t>
            </a:r>
            <a:r>
              <a:rPr kumimoji="0" sz="1400" b="0" i="0" u="none" strike="noStrike" kern="0" cap="none" spc="-20" normalizeH="0" baseline="0" noProof="0">
                <a:ln>
                  <a:noFill/>
                </a:ln>
                <a:solidFill>
                  <a:srgbClr val="D3DF33"/>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to</a:t>
            </a:r>
            <a:r>
              <a:rPr kumimoji="0" sz="1400" b="0" i="0" u="none" strike="noStrike" kern="0" cap="none" spc="-25"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flag</a:t>
            </a:r>
            <a:r>
              <a:rPr kumimoji="0" sz="1400" b="0" i="0" u="none" strike="noStrike" kern="0" cap="none" spc="-35" normalizeH="0" baseline="0" noProof="0">
                <a:ln>
                  <a:noFill/>
                </a:ln>
                <a:solidFill>
                  <a:srgbClr val="FFFFFF"/>
                </a:solidFill>
                <a:effectLst/>
                <a:uLnTx/>
                <a:uFillTx/>
                <a:latin typeface="Trebuchet MS"/>
                <a:cs typeface="Trebuchet MS"/>
              </a:rPr>
              <a:t> </a:t>
            </a:r>
            <a:r>
              <a:rPr kumimoji="0" sz="1400" b="0" i="0" u="none" strike="noStrike" kern="0" cap="none" spc="-25" normalizeH="0" baseline="0" noProof="0">
                <a:ln>
                  <a:noFill/>
                </a:ln>
                <a:solidFill>
                  <a:srgbClr val="FFFFFF"/>
                </a:solidFill>
                <a:effectLst/>
                <a:uLnTx/>
                <a:uFillTx/>
                <a:latin typeface="Trebuchet MS"/>
                <a:cs typeface="Trebuchet MS"/>
              </a:rPr>
              <a:t>if</a:t>
            </a:r>
            <a:endParaRPr kumimoji="0" sz="1400" b="0" i="0" u="none" strike="noStrike" kern="0" cap="none" spc="0" normalizeH="0" baseline="0" noProof="0">
              <a:ln>
                <a:noFill/>
              </a:ln>
              <a:solidFill>
                <a:sysClr val="windowText" lastClr="000000"/>
              </a:solidFill>
              <a:effectLst/>
              <a:uLnTx/>
              <a:uFillTx/>
              <a:latin typeface="Trebuchet MS"/>
              <a:cs typeface="Trebuchet MS"/>
            </a:endParaRPr>
          </a:p>
          <a:p>
            <a:pPr marL="365760" marR="0" lvl="0" indent="0" defTabSz="914400" eaLnBrk="1" fontAlgn="auto" latinLnBrk="0" hangingPunct="1">
              <a:lnSpc>
                <a:spcPct val="100000"/>
              </a:lnSpc>
              <a:spcBef>
                <a:spcPts val="0"/>
              </a:spcBef>
              <a:spcAft>
                <a:spcPts val="0"/>
              </a:spcAft>
              <a:buClrTx/>
              <a:buSzTx/>
              <a:buFontTx/>
              <a:buNone/>
              <a:tabLst/>
              <a:defRPr/>
            </a:pPr>
            <a:r>
              <a:rPr kumimoji="0" sz="1400" b="0" i="0" u="none" strike="noStrike" kern="0" cap="none" spc="0" normalizeH="0" baseline="0" noProof="0">
                <a:ln>
                  <a:noFill/>
                </a:ln>
                <a:solidFill>
                  <a:srgbClr val="FFFFFF"/>
                </a:solidFill>
                <a:effectLst/>
                <a:uLnTx/>
                <a:uFillTx/>
                <a:latin typeface="Trebuchet MS"/>
                <a:cs typeface="Trebuchet MS"/>
              </a:rPr>
              <a:t>lead</a:t>
            </a:r>
            <a:r>
              <a:rPr kumimoji="0" sz="1400" b="0" i="0" u="none" strike="noStrike" kern="0" cap="none" spc="-35"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is</a:t>
            </a:r>
            <a:r>
              <a:rPr kumimoji="0" sz="1400" b="0" i="0" u="none" strike="noStrike" kern="0" cap="none" spc="-10"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valid</a:t>
            </a:r>
            <a:r>
              <a:rPr kumimoji="0" sz="1400" b="0" i="0" u="none" strike="noStrike" kern="0" cap="none" spc="-15"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to</a:t>
            </a:r>
            <a:r>
              <a:rPr kumimoji="0" sz="1400" b="0" i="0" u="none" strike="noStrike" kern="0" cap="none" spc="-10"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be</a:t>
            </a:r>
            <a:r>
              <a:rPr kumimoji="0" sz="1400" b="0" i="0" u="none" strike="noStrike" kern="0" cap="none" spc="-10"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acted</a:t>
            </a:r>
            <a:r>
              <a:rPr kumimoji="0" sz="1400" b="0" i="0" u="none" strike="noStrike" kern="0" cap="none" spc="-30" normalizeH="0" baseline="0" noProof="0">
                <a:ln>
                  <a:noFill/>
                </a:ln>
                <a:solidFill>
                  <a:srgbClr val="FFFFFF"/>
                </a:solidFill>
                <a:effectLst/>
                <a:uLnTx/>
                <a:uFillTx/>
                <a:latin typeface="Trebuchet MS"/>
                <a:cs typeface="Trebuchet MS"/>
              </a:rPr>
              <a:t> </a:t>
            </a:r>
            <a:r>
              <a:rPr kumimoji="0" sz="1400" b="0" i="0" u="none" strike="noStrike" kern="0" cap="none" spc="-20" normalizeH="0" baseline="0" noProof="0">
                <a:ln>
                  <a:noFill/>
                </a:ln>
                <a:solidFill>
                  <a:srgbClr val="FFFFFF"/>
                </a:solidFill>
                <a:effectLst/>
                <a:uLnTx/>
                <a:uFillTx/>
                <a:latin typeface="Trebuchet MS"/>
                <a:cs typeface="Trebuchet MS"/>
              </a:rPr>
              <a:t>upon</a:t>
            </a:r>
            <a:endParaRPr kumimoji="0" sz="14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11" name="object 11"/>
          <p:cNvSpPr/>
          <p:nvPr/>
        </p:nvSpPr>
        <p:spPr>
          <a:xfrm>
            <a:off x="7613904" y="5433059"/>
            <a:ext cx="306705" cy="306705"/>
          </a:xfrm>
          <a:custGeom>
            <a:avLst/>
            <a:gdLst/>
            <a:ahLst/>
            <a:cxnLst/>
            <a:rect l="l" t="t" r="r" b="b"/>
            <a:pathLst>
              <a:path w="306704" h="306704">
                <a:moveTo>
                  <a:pt x="153162" y="0"/>
                </a:moveTo>
                <a:lnTo>
                  <a:pt x="104753" y="7808"/>
                </a:lnTo>
                <a:lnTo>
                  <a:pt x="62709" y="29553"/>
                </a:lnTo>
                <a:lnTo>
                  <a:pt x="29553" y="62709"/>
                </a:lnTo>
                <a:lnTo>
                  <a:pt x="7808" y="104753"/>
                </a:lnTo>
                <a:lnTo>
                  <a:pt x="0" y="153161"/>
                </a:lnTo>
                <a:lnTo>
                  <a:pt x="7808" y="201575"/>
                </a:lnTo>
                <a:lnTo>
                  <a:pt x="29553" y="243619"/>
                </a:lnTo>
                <a:lnTo>
                  <a:pt x="62709" y="276774"/>
                </a:lnTo>
                <a:lnTo>
                  <a:pt x="104753" y="298516"/>
                </a:lnTo>
                <a:lnTo>
                  <a:pt x="153162" y="306323"/>
                </a:lnTo>
                <a:lnTo>
                  <a:pt x="201570" y="298516"/>
                </a:lnTo>
                <a:lnTo>
                  <a:pt x="243614" y="276774"/>
                </a:lnTo>
                <a:lnTo>
                  <a:pt x="276770" y="243619"/>
                </a:lnTo>
                <a:lnTo>
                  <a:pt x="298515" y="201575"/>
                </a:lnTo>
                <a:lnTo>
                  <a:pt x="306324" y="153161"/>
                </a:lnTo>
                <a:lnTo>
                  <a:pt x="298515" y="104753"/>
                </a:lnTo>
                <a:lnTo>
                  <a:pt x="276770" y="62709"/>
                </a:lnTo>
                <a:lnTo>
                  <a:pt x="243614" y="29553"/>
                </a:lnTo>
                <a:lnTo>
                  <a:pt x="201570" y="7808"/>
                </a:lnTo>
                <a:lnTo>
                  <a:pt x="153162" y="0"/>
                </a:lnTo>
                <a:close/>
              </a:path>
            </a:pathLst>
          </a:custGeom>
          <a:solidFill>
            <a:srgbClr val="FFFFFF"/>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12" name="object 12"/>
          <p:cNvSpPr txBox="1"/>
          <p:nvPr/>
        </p:nvSpPr>
        <p:spPr>
          <a:xfrm>
            <a:off x="7706614" y="5248402"/>
            <a:ext cx="3820795" cy="666750"/>
          </a:xfrm>
          <a:prstGeom prst="rect">
            <a:avLst/>
          </a:prstGeom>
        </p:spPr>
        <p:txBody>
          <a:bodyPr vert="horz" wrap="square" lIns="0" tIns="12700" rIns="0" bIns="0" rtlCol="0">
            <a:spAutoFit/>
          </a:bodyPr>
          <a:lstStyle/>
          <a:p>
            <a:pPr marL="12700" marR="5080" lvl="0" indent="349250" defTabSz="914400" eaLnBrk="1" fontAlgn="auto" latinLnBrk="0" hangingPunct="1">
              <a:lnSpc>
                <a:spcPct val="100000"/>
              </a:lnSpc>
              <a:spcBef>
                <a:spcPts val="100"/>
              </a:spcBef>
              <a:spcAft>
                <a:spcPts val="0"/>
              </a:spcAft>
              <a:buClrTx/>
              <a:buSzTx/>
              <a:buFontTx/>
              <a:buNone/>
              <a:tabLst>
                <a:tab pos="361950" algn="l"/>
              </a:tabLst>
              <a:defRPr/>
            </a:pPr>
            <a:r>
              <a:rPr kumimoji="0" sz="1400" b="0" i="0" u="none" strike="noStrike" kern="0" cap="none" spc="0" normalizeH="0" baseline="0" noProof="0">
                <a:ln>
                  <a:noFill/>
                </a:ln>
                <a:solidFill>
                  <a:srgbClr val="D3DF33"/>
                </a:solidFill>
                <a:effectLst/>
                <a:uLnTx/>
                <a:uFillTx/>
                <a:latin typeface="Trebuchet MS"/>
                <a:cs typeface="Trebuchet MS"/>
              </a:rPr>
              <a:t>RM</a:t>
            </a:r>
            <a:r>
              <a:rPr kumimoji="0" sz="1400" b="0" i="0" u="none" strike="noStrike" kern="0" cap="none" spc="-30" normalizeH="0" baseline="0" noProof="0">
                <a:ln>
                  <a:noFill/>
                </a:ln>
                <a:solidFill>
                  <a:srgbClr val="D3DF33"/>
                </a:solidFill>
                <a:effectLst/>
                <a:uLnTx/>
                <a:uFillTx/>
                <a:latin typeface="Trebuchet MS"/>
                <a:cs typeface="Trebuchet MS"/>
              </a:rPr>
              <a:t> </a:t>
            </a:r>
            <a:r>
              <a:rPr kumimoji="0" sz="1400" b="0" i="0" u="none" strike="noStrike" kern="0" cap="none" spc="0" normalizeH="0" baseline="0" noProof="0">
                <a:ln>
                  <a:noFill/>
                </a:ln>
                <a:solidFill>
                  <a:srgbClr val="D3DF33"/>
                </a:solidFill>
                <a:effectLst/>
                <a:uLnTx/>
                <a:uFillTx/>
                <a:latin typeface="Trebuchet MS"/>
                <a:cs typeface="Trebuchet MS"/>
              </a:rPr>
              <a:t>supervisor</a:t>
            </a:r>
            <a:r>
              <a:rPr kumimoji="0" sz="1400" b="0" i="0" u="none" strike="noStrike" kern="0" cap="none" spc="-10" normalizeH="0" baseline="0" noProof="0">
                <a:ln>
                  <a:noFill/>
                </a:ln>
                <a:solidFill>
                  <a:srgbClr val="D3DF33"/>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to</a:t>
            </a:r>
            <a:r>
              <a:rPr kumimoji="0" sz="1400" b="0" i="0" u="none" strike="noStrike" kern="0" cap="none" spc="-15"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have</a:t>
            </a:r>
            <a:r>
              <a:rPr kumimoji="0" sz="1400" b="0" i="0" u="none" strike="noStrike" kern="0" cap="none" spc="-10"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final</a:t>
            </a:r>
            <a:r>
              <a:rPr kumimoji="0" sz="1400" b="0" i="0" u="none" strike="noStrike" kern="0" cap="none" spc="-10"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say</a:t>
            </a:r>
            <a:r>
              <a:rPr kumimoji="0" sz="1400" b="0" i="0" u="none" strike="noStrike" kern="0" cap="none" spc="-10"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on</a:t>
            </a:r>
            <a:r>
              <a:rPr kumimoji="0" sz="1400" b="0" i="0" u="none" strike="noStrike" kern="0" cap="none" spc="-25"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if</a:t>
            </a:r>
            <a:r>
              <a:rPr kumimoji="0" sz="1400" b="0" i="0" u="none" strike="noStrike" kern="0" cap="none" spc="-10"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lead</a:t>
            </a:r>
            <a:r>
              <a:rPr kumimoji="0" sz="1400" b="0" i="0" u="none" strike="noStrike" kern="0" cap="none" spc="-30" normalizeH="0" baseline="0" noProof="0">
                <a:ln>
                  <a:noFill/>
                </a:ln>
                <a:solidFill>
                  <a:srgbClr val="FFFFFF"/>
                </a:solidFill>
                <a:effectLst/>
                <a:uLnTx/>
                <a:uFillTx/>
                <a:latin typeface="Trebuchet MS"/>
                <a:cs typeface="Trebuchet MS"/>
              </a:rPr>
              <a:t> </a:t>
            </a:r>
            <a:r>
              <a:rPr kumimoji="0" sz="1400" b="0" i="0" u="none" strike="noStrike" kern="0" cap="none" spc="-25" normalizeH="0" baseline="0" noProof="0">
                <a:ln>
                  <a:noFill/>
                </a:ln>
                <a:solidFill>
                  <a:srgbClr val="FFFFFF"/>
                </a:solidFill>
                <a:effectLst/>
                <a:uLnTx/>
                <a:uFillTx/>
                <a:latin typeface="Trebuchet MS"/>
                <a:cs typeface="Trebuchet MS"/>
              </a:rPr>
              <a:t>is </a:t>
            </a:r>
            <a:r>
              <a:rPr kumimoji="0" sz="1400" b="0" i="0" u="none" strike="noStrike" kern="0" cap="none" spc="-50" normalizeH="0" baseline="0" noProof="0">
                <a:ln>
                  <a:noFill/>
                </a:ln>
                <a:solidFill>
                  <a:srgbClr val="29B974"/>
                </a:solidFill>
                <a:effectLst/>
                <a:uLnTx/>
                <a:uFillTx/>
                <a:latin typeface="Trebuchet MS"/>
                <a:cs typeface="Trebuchet MS"/>
              </a:rPr>
              <a:t>E</a:t>
            </a:r>
            <a:r>
              <a:rPr kumimoji="0" sz="1400" b="0" i="0" u="none" strike="noStrike" kern="0" cap="none" spc="0" normalizeH="0" baseline="0" noProof="0">
                <a:ln>
                  <a:noFill/>
                </a:ln>
                <a:solidFill>
                  <a:srgbClr val="29B974"/>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valid</a:t>
            </a:r>
            <a:r>
              <a:rPr kumimoji="0" sz="1400" b="0" i="0" u="none" strike="noStrike" kern="0" cap="none" spc="-20"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to</a:t>
            </a:r>
            <a:r>
              <a:rPr kumimoji="0" sz="1400" b="0" i="0" u="none" strike="noStrike" kern="0" cap="none" spc="-15"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be</a:t>
            </a:r>
            <a:r>
              <a:rPr kumimoji="0" sz="1400" b="0" i="0" u="none" strike="noStrike" kern="0" cap="none" spc="-15"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acted</a:t>
            </a:r>
            <a:r>
              <a:rPr kumimoji="0" sz="1400" b="0" i="0" u="none" strike="noStrike" kern="0" cap="none" spc="-35"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upon,</a:t>
            </a:r>
            <a:r>
              <a:rPr kumimoji="0" sz="1400" b="0" i="0" u="none" strike="noStrike" kern="0" cap="none" spc="-40"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use</a:t>
            </a:r>
            <a:r>
              <a:rPr kumimoji="0" sz="1400" b="0" i="0" u="none" strike="noStrike" kern="0" cap="none" spc="-10" normalizeH="0" baseline="0" noProof="0">
                <a:ln>
                  <a:noFill/>
                </a:ln>
                <a:solidFill>
                  <a:srgbClr val="FFFFFF"/>
                </a:solidFill>
                <a:effectLst/>
                <a:uLnTx/>
                <a:uFillTx/>
                <a:latin typeface="Trebuchet MS"/>
                <a:cs typeface="Trebuchet MS"/>
              </a:rPr>
              <a:t> </a:t>
            </a:r>
            <a:r>
              <a:rPr kumimoji="0" sz="1400" b="0" i="0" u="none" strike="noStrike" kern="0" cap="none" spc="-10" normalizeH="0" baseline="0" noProof="0">
                <a:ln>
                  <a:noFill/>
                </a:ln>
                <a:solidFill>
                  <a:srgbClr val="D3DF33"/>
                </a:solidFill>
                <a:effectLst/>
                <a:uLnTx/>
                <a:uFillTx/>
                <a:latin typeface="Trebuchet MS"/>
                <a:cs typeface="Trebuchet MS"/>
              </a:rPr>
              <a:t>qualitative</a:t>
            </a:r>
            <a:endParaRPr kumimoji="0" sz="1400" b="0" i="0" u="none" strike="noStrike" kern="0" cap="none" spc="0" normalizeH="0" baseline="0" noProof="0">
              <a:ln>
                <a:noFill/>
              </a:ln>
              <a:solidFill>
                <a:sysClr val="windowText" lastClr="000000"/>
              </a:solidFill>
              <a:effectLst/>
              <a:uLnTx/>
              <a:uFillTx/>
              <a:latin typeface="Trebuchet MS"/>
              <a:cs typeface="Trebuchet MS"/>
            </a:endParaRPr>
          </a:p>
          <a:p>
            <a:pPr marL="361950" marR="0" lvl="0" indent="0" defTabSz="914400" eaLnBrk="1" fontAlgn="auto" latinLnBrk="0" hangingPunct="1">
              <a:lnSpc>
                <a:spcPct val="100000"/>
              </a:lnSpc>
              <a:spcBef>
                <a:spcPts val="5"/>
              </a:spcBef>
              <a:spcAft>
                <a:spcPts val="0"/>
              </a:spcAft>
              <a:buClrTx/>
              <a:buSzTx/>
              <a:buFontTx/>
              <a:buNone/>
              <a:tabLst/>
              <a:defRPr/>
            </a:pPr>
            <a:r>
              <a:rPr kumimoji="0" sz="1400" b="0" i="0" u="none" strike="noStrike" kern="0" cap="none" spc="0" normalizeH="0" baseline="0" noProof="0">
                <a:ln>
                  <a:noFill/>
                </a:ln>
                <a:solidFill>
                  <a:srgbClr val="D3DF33"/>
                </a:solidFill>
                <a:effectLst/>
                <a:uLnTx/>
                <a:uFillTx/>
                <a:latin typeface="Trebuchet MS"/>
                <a:cs typeface="Trebuchet MS"/>
              </a:rPr>
              <a:t>branch</a:t>
            </a:r>
            <a:r>
              <a:rPr kumimoji="0" sz="1400" b="0" i="0" u="none" strike="noStrike" kern="0" cap="none" spc="-30" normalizeH="0" baseline="0" noProof="0">
                <a:ln>
                  <a:noFill/>
                </a:ln>
                <a:solidFill>
                  <a:srgbClr val="D3DF33"/>
                </a:solidFill>
                <a:effectLst/>
                <a:uLnTx/>
                <a:uFillTx/>
                <a:latin typeface="Trebuchet MS"/>
                <a:cs typeface="Trebuchet MS"/>
              </a:rPr>
              <a:t> </a:t>
            </a:r>
            <a:r>
              <a:rPr kumimoji="0" sz="1400" b="0" i="0" u="none" strike="noStrike" kern="0" cap="none" spc="0" normalizeH="0" baseline="0" noProof="0">
                <a:ln>
                  <a:noFill/>
                </a:ln>
                <a:solidFill>
                  <a:srgbClr val="D3DF33"/>
                </a:solidFill>
                <a:effectLst/>
                <a:uLnTx/>
                <a:uFillTx/>
                <a:latin typeface="Trebuchet MS"/>
                <a:cs typeface="Trebuchet MS"/>
              </a:rPr>
              <a:t>knowledge</a:t>
            </a:r>
            <a:r>
              <a:rPr kumimoji="0" sz="1400" b="0" i="0" u="none" strike="noStrike" kern="0" cap="none" spc="-70" normalizeH="0" baseline="0" noProof="0">
                <a:ln>
                  <a:noFill/>
                </a:ln>
                <a:solidFill>
                  <a:srgbClr val="D3DF33"/>
                </a:solidFill>
                <a:effectLst/>
                <a:uLnTx/>
                <a:uFillTx/>
                <a:latin typeface="Trebuchet MS"/>
                <a:cs typeface="Trebuchet MS"/>
              </a:rPr>
              <a:t> </a:t>
            </a:r>
            <a:r>
              <a:rPr kumimoji="0" sz="1400" b="0" i="0" u="none" strike="noStrike" kern="0" cap="none" spc="0" normalizeH="0" baseline="0" noProof="0">
                <a:ln>
                  <a:noFill/>
                </a:ln>
                <a:solidFill>
                  <a:srgbClr val="D3DF33"/>
                </a:solidFill>
                <a:effectLst/>
                <a:uLnTx/>
                <a:uFillTx/>
                <a:latin typeface="Trebuchet MS"/>
                <a:cs typeface="Trebuchet MS"/>
              </a:rPr>
              <a:t>"smell</a:t>
            </a:r>
            <a:r>
              <a:rPr kumimoji="0" sz="1400" b="0" i="0" u="none" strike="noStrike" kern="0" cap="none" spc="-45" normalizeH="0" baseline="0" noProof="0">
                <a:ln>
                  <a:noFill/>
                </a:ln>
                <a:solidFill>
                  <a:srgbClr val="D3DF33"/>
                </a:solidFill>
                <a:effectLst/>
                <a:uLnTx/>
                <a:uFillTx/>
                <a:latin typeface="Trebuchet MS"/>
                <a:cs typeface="Trebuchet MS"/>
              </a:rPr>
              <a:t> </a:t>
            </a:r>
            <a:r>
              <a:rPr kumimoji="0" sz="1400" b="0" i="0" u="none" strike="noStrike" kern="0" cap="none" spc="-20" normalizeH="0" baseline="0" noProof="0">
                <a:ln>
                  <a:noFill/>
                </a:ln>
                <a:solidFill>
                  <a:srgbClr val="D3DF33"/>
                </a:solidFill>
                <a:effectLst/>
                <a:uLnTx/>
                <a:uFillTx/>
                <a:latin typeface="Trebuchet MS"/>
                <a:cs typeface="Trebuchet MS"/>
              </a:rPr>
              <a:t>test"</a:t>
            </a:r>
            <a:endParaRPr kumimoji="0" sz="14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13" name="object 13"/>
          <p:cNvSpPr/>
          <p:nvPr/>
        </p:nvSpPr>
        <p:spPr>
          <a:xfrm>
            <a:off x="7613904" y="4494276"/>
            <a:ext cx="306705" cy="306705"/>
          </a:xfrm>
          <a:custGeom>
            <a:avLst/>
            <a:gdLst/>
            <a:ahLst/>
            <a:cxnLst/>
            <a:rect l="l" t="t" r="r" b="b"/>
            <a:pathLst>
              <a:path w="306704" h="306704">
                <a:moveTo>
                  <a:pt x="153162" y="0"/>
                </a:moveTo>
                <a:lnTo>
                  <a:pt x="104753" y="7808"/>
                </a:lnTo>
                <a:lnTo>
                  <a:pt x="62709" y="29553"/>
                </a:lnTo>
                <a:lnTo>
                  <a:pt x="29553" y="62709"/>
                </a:lnTo>
                <a:lnTo>
                  <a:pt x="7808" y="104753"/>
                </a:lnTo>
                <a:lnTo>
                  <a:pt x="0" y="153162"/>
                </a:lnTo>
                <a:lnTo>
                  <a:pt x="7808" y="201570"/>
                </a:lnTo>
                <a:lnTo>
                  <a:pt x="29553" y="243614"/>
                </a:lnTo>
                <a:lnTo>
                  <a:pt x="62709" y="276770"/>
                </a:lnTo>
                <a:lnTo>
                  <a:pt x="104753" y="298515"/>
                </a:lnTo>
                <a:lnTo>
                  <a:pt x="153162" y="306324"/>
                </a:lnTo>
                <a:lnTo>
                  <a:pt x="201570" y="298515"/>
                </a:lnTo>
                <a:lnTo>
                  <a:pt x="243614" y="276770"/>
                </a:lnTo>
                <a:lnTo>
                  <a:pt x="276770" y="243614"/>
                </a:lnTo>
                <a:lnTo>
                  <a:pt x="298515" y="201570"/>
                </a:lnTo>
                <a:lnTo>
                  <a:pt x="306324" y="153162"/>
                </a:lnTo>
                <a:lnTo>
                  <a:pt x="298515" y="104753"/>
                </a:lnTo>
                <a:lnTo>
                  <a:pt x="276770" y="62709"/>
                </a:lnTo>
                <a:lnTo>
                  <a:pt x="243614" y="29553"/>
                </a:lnTo>
                <a:lnTo>
                  <a:pt x="201570" y="7808"/>
                </a:lnTo>
                <a:lnTo>
                  <a:pt x="153162" y="0"/>
                </a:lnTo>
                <a:close/>
              </a:path>
            </a:pathLst>
          </a:custGeom>
          <a:solidFill>
            <a:srgbClr val="FFFFFF"/>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14" name="object 14"/>
          <p:cNvSpPr txBox="1"/>
          <p:nvPr/>
        </p:nvSpPr>
        <p:spPr>
          <a:xfrm>
            <a:off x="7700898" y="4309617"/>
            <a:ext cx="3632835" cy="666115"/>
          </a:xfrm>
          <a:prstGeom prst="rect">
            <a:avLst/>
          </a:prstGeom>
        </p:spPr>
        <p:txBody>
          <a:bodyPr vert="horz" wrap="square" lIns="0" tIns="12700" rIns="0" bIns="0" rtlCol="0">
            <a:spAutoFit/>
          </a:bodyPr>
          <a:lstStyle/>
          <a:p>
            <a:pPr marL="12700" marR="5080" lvl="0" indent="354965" defTabSz="914400" eaLnBrk="1" fontAlgn="auto" latinLnBrk="0" hangingPunct="1">
              <a:lnSpc>
                <a:spcPct val="100000"/>
              </a:lnSpc>
              <a:spcBef>
                <a:spcPts val="100"/>
              </a:spcBef>
              <a:spcAft>
                <a:spcPts val="0"/>
              </a:spcAft>
              <a:buClrTx/>
              <a:buSzTx/>
              <a:buFontTx/>
              <a:buNone/>
              <a:tabLst>
                <a:tab pos="367665" algn="l"/>
              </a:tabLst>
              <a:defRPr/>
            </a:pPr>
            <a:r>
              <a:rPr kumimoji="0" sz="1400" b="0" i="0" u="none" strike="noStrike" kern="0" cap="none" spc="0" normalizeH="0" baseline="0" noProof="0">
                <a:ln>
                  <a:noFill/>
                </a:ln>
                <a:solidFill>
                  <a:srgbClr val="FFFFFF"/>
                </a:solidFill>
                <a:effectLst/>
                <a:uLnTx/>
                <a:uFillTx/>
                <a:latin typeface="Trebuchet MS"/>
                <a:cs typeface="Trebuchet MS"/>
              </a:rPr>
              <a:t>Back</a:t>
            </a:r>
            <a:r>
              <a:rPr kumimoji="0" sz="1400" b="0" i="0" u="none" strike="noStrike" kern="0" cap="none" spc="-35"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office</a:t>
            </a:r>
            <a:r>
              <a:rPr kumimoji="0" sz="1400" b="0" i="0" u="none" strike="noStrike" kern="0" cap="none" spc="-35"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to</a:t>
            </a:r>
            <a:r>
              <a:rPr kumimoji="0" sz="1400" b="0" i="0" u="none" strike="noStrike" kern="0" cap="none" spc="-35"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conduct</a:t>
            </a:r>
            <a:r>
              <a:rPr kumimoji="0" sz="1400" b="0" i="0" u="none" strike="noStrike" kern="0" cap="none" spc="-50"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D3DF33"/>
                </a:solidFill>
                <a:effectLst/>
                <a:uLnTx/>
                <a:uFillTx/>
                <a:latin typeface="Trebuchet MS"/>
                <a:cs typeface="Trebuchet MS"/>
              </a:rPr>
              <a:t>due</a:t>
            </a:r>
            <a:r>
              <a:rPr kumimoji="0" sz="1400" b="0" i="0" u="none" strike="noStrike" kern="0" cap="none" spc="-30" normalizeH="0" baseline="0" noProof="0">
                <a:ln>
                  <a:noFill/>
                </a:ln>
                <a:solidFill>
                  <a:srgbClr val="D3DF33"/>
                </a:solidFill>
                <a:effectLst/>
                <a:uLnTx/>
                <a:uFillTx/>
                <a:latin typeface="Trebuchet MS"/>
                <a:cs typeface="Trebuchet MS"/>
              </a:rPr>
              <a:t> </a:t>
            </a:r>
            <a:r>
              <a:rPr kumimoji="0" sz="1400" b="0" i="0" u="none" strike="noStrike" kern="0" cap="none" spc="0" normalizeH="0" baseline="0" noProof="0">
                <a:ln>
                  <a:noFill/>
                </a:ln>
                <a:solidFill>
                  <a:srgbClr val="D3DF33"/>
                </a:solidFill>
                <a:effectLst/>
                <a:uLnTx/>
                <a:uFillTx/>
                <a:latin typeface="Trebuchet MS"/>
                <a:cs typeface="Trebuchet MS"/>
              </a:rPr>
              <a:t>diligence</a:t>
            </a:r>
            <a:r>
              <a:rPr kumimoji="0" sz="1400" b="0" i="0" u="none" strike="noStrike" kern="0" cap="none" spc="-40" normalizeH="0" baseline="0" noProof="0">
                <a:ln>
                  <a:noFill/>
                </a:ln>
                <a:solidFill>
                  <a:srgbClr val="D3DF33"/>
                </a:solidFill>
                <a:effectLst/>
                <a:uLnTx/>
                <a:uFillTx/>
                <a:latin typeface="Trebuchet MS"/>
                <a:cs typeface="Trebuchet MS"/>
              </a:rPr>
              <a:t> </a:t>
            </a:r>
            <a:r>
              <a:rPr kumimoji="0" sz="1400" b="0" i="0" u="none" strike="noStrike" kern="0" cap="none" spc="-25" normalizeH="0" baseline="0" noProof="0">
                <a:ln>
                  <a:noFill/>
                </a:ln>
                <a:solidFill>
                  <a:srgbClr val="D3DF33"/>
                </a:solidFill>
                <a:effectLst/>
                <a:uLnTx/>
                <a:uFillTx/>
                <a:latin typeface="Trebuchet MS"/>
                <a:cs typeface="Trebuchet MS"/>
              </a:rPr>
              <a:t>via </a:t>
            </a:r>
            <a:r>
              <a:rPr kumimoji="0" sz="1400" b="0" i="0" u="none" strike="noStrike" kern="0" cap="none" spc="-50" normalizeH="0" baseline="0" noProof="0">
                <a:ln>
                  <a:noFill/>
                </a:ln>
                <a:solidFill>
                  <a:srgbClr val="29B974"/>
                </a:solidFill>
                <a:effectLst/>
                <a:uLnTx/>
                <a:uFillTx/>
                <a:latin typeface="Trebuchet MS"/>
                <a:cs typeface="Trebuchet MS"/>
              </a:rPr>
              <a:t>D</a:t>
            </a:r>
            <a:r>
              <a:rPr kumimoji="0" sz="1400" b="0" i="0" u="none" strike="noStrike" kern="0" cap="none" spc="0" normalizeH="0" baseline="0" noProof="0">
                <a:ln>
                  <a:noFill/>
                </a:ln>
                <a:solidFill>
                  <a:srgbClr val="29B974"/>
                </a:solidFill>
                <a:effectLst/>
                <a:uLnTx/>
                <a:uFillTx/>
                <a:latin typeface="Trebuchet MS"/>
                <a:cs typeface="Trebuchet MS"/>
              </a:rPr>
              <a:t>	</a:t>
            </a:r>
            <a:r>
              <a:rPr kumimoji="0" sz="1400" b="0" i="0" u="none" strike="noStrike" kern="0" cap="none" spc="0" normalizeH="0" baseline="0" noProof="0">
                <a:ln>
                  <a:noFill/>
                </a:ln>
                <a:solidFill>
                  <a:srgbClr val="D3DF33"/>
                </a:solidFill>
                <a:effectLst/>
                <a:uLnTx/>
                <a:uFillTx/>
                <a:latin typeface="Trebuchet MS"/>
                <a:cs typeface="Trebuchet MS"/>
              </a:rPr>
              <a:t>press</a:t>
            </a:r>
            <a:r>
              <a:rPr kumimoji="0" sz="1400" b="0" i="0" u="none" strike="noStrike" kern="0" cap="none" spc="-35" normalizeH="0" baseline="0" noProof="0">
                <a:ln>
                  <a:noFill/>
                </a:ln>
                <a:solidFill>
                  <a:srgbClr val="D3DF33"/>
                </a:solidFill>
                <a:effectLst/>
                <a:uLnTx/>
                <a:uFillTx/>
                <a:latin typeface="Trebuchet MS"/>
                <a:cs typeface="Trebuchet MS"/>
              </a:rPr>
              <a:t> </a:t>
            </a:r>
            <a:r>
              <a:rPr kumimoji="0" sz="1400" b="0" i="0" u="none" strike="noStrike" kern="0" cap="none" spc="0" normalizeH="0" baseline="0" noProof="0">
                <a:ln>
                  <a:noFill/>
                </a:ln>
                <a:solidFill>
                  <a:srgbClr val="D3DF33"/>
                </a:solidFill>
                <a:effectLst/>
                <a:uLnTx/>
                <a:uFillTx/>
                <a:latin typeface="Trebuchet MS"/>
                <a:cs typeface="Trebuchet MS"/>
              </a:rPr>
              <a:t>search</a:t>
            </a:r>
            <a:r>
              <a:rPr kumimoji="0" sz="1400" b="0" i="0" u="none" strike="noStrike" kern="0" cap="none" spc="-30" normalizeH="0" baseline="0" noProof="0">
                <a:ln>
                  <a:noFill/>
                </a:ln>
                <a:solidFill>
                  <a:srgbClr val="D3DF33"/>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of</a:t>
            </a:r>
            <a:r>
              <a:rPr kumimoji="0" sz="1400" b="0" i="0" u="none" strike="noStrike" kern="0" cap="none" spc="-20"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publicly</a:t>
            </a:r>
            <a:r>
              <a:rPr kumimoji="0" sz="1400" b="0" i="0" u="none" strike="noStrike" kern="0" cap="none" spc="-30"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available</a:t>
            </a:r>
            <a:r>
              <a:rPr kumimoji="0" sz="1400" b="0" i="0" u="none" strike="noStrike" kern="0" cap="none" spc="-45"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info</a:t>
            </a:r>
            <a:r>
              <a:rPr kumimoji="0" sz="1400" b="0" i="0" u="none" strike="noStrike" kern="0" cap="none" spc="-35" normalizeH="0" baseline="0" noProof="0">
                <a:ln>
                  <a:noFill/>
                </a:ln>
                <a:solidFill>
                  <a:srgbClr val="FFFFFF"/>
                </a:solidFill>
                <a:effectLst/>
                <a:uLnTx/>
                <a:uFillTx/>
                <a:latin typeface="Trebuchet MS"/>
                <a:cs typeface="Trebuchet MS"/>
              </a:rPr>
              <a:t> </a:t>
            </a:r>
            <a:r>
              <a:rPr kumimoji="0" sz="1400" b="0" i="0" u="none" strike="noStrike" kern="0" cap="none" spc="-25" normalizeH="0" baseline="0" noProof="0">
                <a:ln>
                  <a:noFill/>
                </a:ln>
                <a:solidFill>
                  <a:srgbClr val="FFFFFF"/>
                </a:solidFill>
                <a:effectLst/>
                <a:uLnTx/>
                <a:uFillTx/>
                <a:latin typeface="Trebuchet MS"/>
                <a:cs typeface="Trebuchet MS"/>
              </a:rPr>
              <a:t>on</a:t>
            </a:r>
            <a:endParaRPr kumimoji="0" sz="1400" b="0" i="0" u="none" strike="noStrike" kern="0" cap="none" spc="0" normalizeH="0" baseline="0" noProof="0">
              <a:ln>
                <a:noFill/>
              </a:ln>
              <a:solidFill>
                <a:sysClr val="windowText" lastClr="000000"/>
              </a:solidFill>
              <a:effectLst/>
              <a:uLnTx/>
              <a:uFillTx/>
              <a:latin typeface="Trebuchet MS"/>
              <a:cs typeface="Trebuchet MS"/>
            </a:endParaRPr>
          </a:p>
          <a:p>
            <a:pPr marL="367665" marR="0" lvl="0" indent="0" defTabSz="914400" eaLnBrk="1" fontAlgn="auto" latinLnBrk="0" hangingPunct="1">
              <a:lnSpc>
                <a:spcPct val="100000"/>
              </a:lnSpc>
              <a:spcBef>
                <a:spcPts val="0"/>
              </a:spcBef>
              <a:spcAft>
                <a:spcPts val="0"/>
              </a:spcAft>
              <a:buClrTx/>
              <a:buSzTx/>
              <a:buFontTx/>
              <a:buNone/>
              <a:tabLst/>
              <a:defRPr/>
            </a:pPr>
            <a:r>
              <a:rPr kumimoji="0" sz="1400" b="0" i="0" u="none" strike="noStrike" kern="0" cap="none" spc="0" normalizeH="0" baseline="0" noProof="0">
                <a:ln>
                  <a:noFill/>
                </a:ln>
                <a:solidFill>
                  <a:srgbClr val="FFFFFF"/>
                </a:solidFill>
                <a:effectLst/>
                <a:uLnTx/>
                <a:uFillTx/>
                <a:latin typeface="Trebuchet MS"/>
                <a:cs typeface="Trebuchet MS"/>
              </a:rPr>
              <a:t>potential</a:t>
            </a:r>
            <a:r>
              <a:rPr kumimoji="0" sz="1400" b="0" i="0" u="none" strike="noStrike" kern="0" cap="none" spc="-85" normalizeH="0" baseline="0" noProof="0">
                <a:ln>
                  <a:noFill/>
                </a:ln>
                <a:solidFill>
                  <a:srgbClr val="FFFFFF"/>
                </a:solidFill>
                <a:effectLst/>
                <a:uLnTx/>
                <a:uFillTx/>
                <a:latin typeface="Trebuchet MS"/>
                <a:cs typeface="Trebuchet MS"/>
              </a:rPr>
              <a:t> </a:t>
            </a:r>
            <a:r>
              <a:rPr kumimoji="0" sz="1400" b="0" i="0" u="none" strike="noStrike" kern="0" cap="none" spc="-20" normalizeH="0" baseline="0" noProof="0">
                <a:ln>
                  <a:noFill/>
                </a:ln>
                <a:solidFill>
                  <a:srgbClr val="FFFFFF"/>
                </a:solidFill>
                <a:effectLst/>
                <a:uLnTx/>
                <a:uFillTx/>
                <a:latin typeface="Trebuchet MS"/>
                <a:cs typeface="Trebuchet MS"/>
              </a:rPr>
              <a:t>lead</a:t>
            </a:r>
            <a:endParaRPr kumimoji="0" sz="14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15" name="object 15"/>
          <p:cNvSpPr txBox="1"/>
          <p:nvPr/>
        </p:nvSpPr>
        <p:spPr>
          <a:xfrm>
            <a:off x="8055991" y="2325370"/>
            <a:ext cx="3380740" cy="879475"/>
          </a:xfrm>
          <a:prstGeom prst="rect">
            <a:avLst/>
          </a:prstGeom>
        </p:spPr>
        <p:txBody>
          <a:bodyPr vert="horz" wrap="square" lIns="0" tIns="13335" rIns="0" bIns="0" rtlCol="0">
            <a:spAutoFit/>
          </a:bodyPr>
          <a:lstStyle/>
          <a:p>
            <a:pPr marL="12700" marR="5080" lvl="0" indent="0" defTabSz="914400" eaLnBrk="1" fontAlgn="auto" latinLnBrk="0" hangingPunct="1">
              <a:lnSpc>
                <a:spcPct val="100000"/>
              </a:lnSpc>
              <a:spcBef>
                <a:spcPts val="105"/>
              </a:spcBef>
              <a:spcAft>
                <a:spcPts val="0"/>
              </a:spcAft>
              <a:buClrTx/>
              <a:buSzTx/>
              <a:buFontTx/>
              <a:buNone/>
              <a:tabLst/>
              <a:defRPr/>
            </a:pPr>
            <a:r>
              <a:rPr kumimoji="0" sz="1400" b="0" i="0" u="none" strike="noStrike" kern="0" cap="none" spc="0" normalizeH="0" baseline="0" noProof="0">
                <a:ln>
                  <a:noFill/>
                </a:ln>
                <a:solidFill>
                  <a:srgbClr val="D3DF33"/>
                </a:solidFill>
                <a:effectLst/>
                <a:uLnTx/>
                <a:uFillTx/>
                <a:latin typeface="Trebuchet MS"/>
                <a:cs typeface="Trebuchet MS"/>
              </a:rPr>
              <a:t>Referral</a:t>
            </a:r>
            <a:r>
              <a:rPr kumimoji="0" sz="1400" b="0" i="0" u="none" strike="noStrike" kern="0" cap="none" spc="-40" normalizeH="0" baseline="0" noProof="0">
                <a:ln>
                  <a:noFill/>
                </a:ln>
                <a:solidFill>
                  <a:srgbClr val="D3DF33"/>
                </a:solidFill>
                <a:effectLst/>
                <a:uLnTx/>
                <a:uFillTx/>
                <a:latin typeface="Trebuchet MS"/>
                <a:cs typeface="Trebuchet MS"/>
              </a:rPr>
              <a:t> </a:t>
            </a:r>
            <a:r>
              <a:rPr kumimoji="0" sz="1400" b="0" i="0" u="none" strike="noStrike" kern="0" cap="none" spc="0" normalizeH="0" baseline="0" noProof="0">
                <a:ln>
                  <a:noFill/>
                </a:ln>
                <a:solidFill>
                  <a:srgbClr val="D3DF33"/>
                </a:solidFill>
                <a:effectLst/>
                <a:uLnTx/>
                <a:uFillTx/>
                <a:latin typeface="Trebuchet MS"/>
                <a:cs typeface="Trebuchet MS"/>
              </a:rPr>
              <a:t>programs</a:t>
            </a:r>
            <a:r>
              <a:rPr kumimoji="0" sz="1400" b="0" i="0" u="none" strike="noStrike" kern="0" cap="none" spc="-45" normalizeH="0" baseline="0" noProof="0">
                <a:ln>
                  <a:noFill/>
                </a:ln>
                <a:solidFill>
                  <a:srgbClr val="D3DF33"/>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across</a:t>
            </a:r>
            <a:r>
              <a:rPr kumimoji="0" sz="1400" b="0" i="0" u="none" strike="noStrike" kern="0" cap="none" spc="-45"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different</a:t>
            </a:r>
            <a:r>
              <a:rPr kumimoji="0" sz="1400" b="0" i="0" u="none" strike="noStrike" kern="0" cap="none" spc="-65" normalizeH="0" baseline="0" noProof="0">
                <a:ln>
                  <a:noFill/>
                </a:ln>
                <a:solidFill>
                  <a:srgbClr val="FFFFFF"/>
                </a:solidFill>
                <a:effectLst/>
                <a:uLnTx/>
                <a:uFillTx/>
                <a:latin typeface="Trebuchet MS"/>
                <a:cs typeface="Trebuchet MS"/>
              </a:rPr>
              <a:t> </a:t>
            </a:r>
            <a:r>
              <a:rPr kumimoji="0" sz="1400" b="0" i="0" u="none" strike="noStrike" kern="0" cap="none" spc="-25" normalizeH="0" baseline="0" noProof="0">
                <a:ln>
                  <a:noFill/>
                </a:ln>
                <a:solidFill>
                  <a:srgbClr val="FFFFFF"/>
                </a:solidFill>
                <a:effectLst/>
                <a:uLnTx/>
                <a:uFillTx/>
                <a:latin typeface="Trebuchet MS"/>
                <a:cs typeface="Trebuchet MS"/>
              </a:rPr>
              <a:t>BUs </a:t>
            </a:r>
            <a:r>
              <a:rPr kumimoji="0" sz="1400" b="0" i="0" u="none" strike="noStrike" kern="0" cap="none" spc="0" normalizeH="0" baseline="0" noProof="0">
                <a:ln>
                  <a:noFill/>
                </a:ln>
                <a:solidFill>
                  <a:srgbClr val="FFFFFF"/>
                </a:solidFill>
                <a:effectLst/>
                <a:uLnTx/>
                <a:uFillTx/>
                <a:latin typeface="Trebuchet MS"/>
                <a:cs typeface="Trebuchet MS"/>
              </a:rPr>
              <a:t>(i.e.,</a:t>
            </a:r>
            <a:r>
              <a:rPr kumimoji="0" sz="1400" b="0" i="0" u="none" strike="noStrike" kern="0" cap="none" spc="-50"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Corporate</a:t>
            </a:r>
            <a:r>
              <a:rPr kumimoji="0" sz="1400" b="0" i="0" u="none" strike="noStrike" kern="0" cap="none" spc="-35"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and</a:t>
            </a:r>
            <a:r>
              <a:rPr kumimoji="0" sz="1400" b="0" i="0" u="none" strike="noStrike" kern="0" cap="none" spc="-35"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SME),</a:t>
            </a:r>
            <a:r>
              <a:rPr kumimoji="0" sz="1400" b="0" i="0" u="none" strike="noStrike" kern="0" cap="none" spc="-50"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branch,</a:t>
            </a:r>
            <a:r>
              <a:rPr kumimoji="0" sz="1400" b="0" i="0" u="none" strike="noStrike" kern="0" cap="none" spc="-35" normalizeH="0" baseline="0" noProof="0">
                <a:ln>
                  <a:noFill/>
                </a:ln>
                <a:solidFill>
                  <a:srgbClr val="FFFFFF"/>
                </a:solidFill>
                <a:effectLst/>
                <a:uLnTx/>
                <a:uFillTx/>
                <a:latin typeface="Trebuchet MS"/>
                <a:cs typeface="Trebuchet MS"/>
              </a:rPr>
              <a:t> </a:t>
            </a:r>
            <a:r>
              <a:rPr kumimoji="0" sz="1400" b="0" i="0" u="none" strike="noStrike" kern="0" cap="none" spc="-25" normalizeH="0" baseline="0" noProof="0">
                <a:ln>
                  <a:noFill/>
                </a:ln>
                <a:solidFill>
                  <a:srgbClr val="FFFFFF"/>
                </a:solidFill>
                <a:effectLst/>
                <a:uLnTx/>
                <a:uFillTx/>
                <a:latin typeface="Trebuchet MS"/>
                <a:cs typeface="Trebuchet MS"/>
              </a:rPr>
              <a:t>and </a:t>
            </a:r>
            <a:r>
              <a:rPr kumimoji="0" sz="1400" b="0" i="0" u="none" strike="noStrike" kern="0" cap="none" spc="0" normalizeH="0" baseline="0" noProof="0">
                <a:ln>
                  <a:noFill/>
                </a:ln>
                <a:solidFill>
                  <a:srgbClr val="FFFFFF"/>
                </a:solidFill>
                <a:effectLst/>
                <a:uLnTx/>
                <a:uFillTx/>
                <a:latin typeface="Trebuchet MS"/>
                <a:cs typeface="Trebuchet MS"/>
              </a:rPr>
              <a:t>member</a:t>
            </a:r>
            <a:r>
              <a:rPr kumimoji="0" sz="1400" b="0" i="0" u="none" strike="noStrike" kern="0" cap="none" spc="-20"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get</a:t>
            </a:r>
            <a:r>
              <a:rPr kumimoji="0" sz="1400" b="0" i="0" u="none" strike="noStrike" kern="0" cap="none" spc="-30"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member</a:t>
            </a:r>
            <a:r>
              <a:rPr kumimoji="0" sz="1400" b="0" i="0" u="none" strike="noStrike" kern="0" cap="none" spc="-30"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to</a:t>
            </a:r>
            <a:r>
              <a:rPr kumimoji="0" sz="1400" b="0" i="0" u="none" strike="noStrike" kern="0" cap="none" spc="-15"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identify</a:t>
            </a:r>
            <a:r>
              <a:rPr kumimoji="0" sz="1400" b="0" i="0" u="none" strike="noStrike" kern="0" cap="none" spc="-25"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both</a:t>
            </a:r>
            <a:r>
              <a:rPr kumimoji="0" sz="1400" b="0" i="0" u="none" strike="noStrike" kern="0" cap="none" spc="-30" normalizeH="0" baseline="0" noProof="0">
                <a:ln>
                  <a:noFill/>
                </a:ln>
                <a:solidFill>
                  <a:srgbClr val="FFFFFF"/>
                </a:solidFill>
                <a:effectLst/>
                <a:uLnTx/>
                <a:uFillTx/>
                <a:latin typeface="Trebuchet MS"/>
                <a:cs typeface="Trebuchet MS"/>
              </a:rPr>
              <a:t> </a:t>
            </a:r>
            <a:r>
              <a:rPr kumimoji="0" lang="en-US" sz="1400" b="0" i="0" u="none" strike="noStrike" kern="0" cap="none" spc="-25" normalizeH="0" baseline="0" noProof="0" err="1">
                <a:ln>
                  <a:noFill/>
                </a:ln>
                <a:solidFill>
                  <a:srgbClr val="FFFFFF"/>
                </a:solidFill>
                <a:effectLst/>
                <a:uLnTx/>
                <a:uFillTx/>
                <a:latin typeface="Trebuchet MS"/>
                <a:cs typeface="Trebuchet MS"/>
              </a:rPr>
              <a:t>NTB</a:t>
            </a:r>
            <a:r>
              <a:rPr kumimoji="0" sz="1400" b="0" i="0" u="none" strike="noStrike" kern="0" cap="none" spc="-25"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and</a:t>
            </a:r>
            <a:r>
              <a:rPr kumimoji="0" sz="1400" b="0" i="0" u="none" strike="noStrike" kern="0" cap="none" spc="-25"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ETB</a:t>
            </a:r>
            <a:r>
              <a:rPr kumimoji="0" sz="1400" b="0" i="0" u="none" strike="noStrike" kern="0" cap="none" spc="-40"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potential</a:t>
            </a:r>
            <a:r>
              <a:rPr kumimoji="0" sz="1400" b="0" i="0" u="none" strike="noStrike" kern="0" cap="none" spc="-30" normalizeH="0" baseline="0" noProof="0">
                <a:ln>
                  <a:noFill/>
                </a:ln>
                <a:solidFill>
                  <a:srgbClr val="FFFFFF"/>
                </a:solidFill>
                <a:effectLst/>
                <a:uLnTx/>
                <a:uFillTx/>
                <a:latin typeface="Trebuchet MS"/>
                <a:cs typeface="Trebuchet MS"/>
              </a:rPr>
              <a:t> </a:t>
            </a:r>
            <a:r>
              <a:rPr kumimoji="0" sz="1400" b="0" i="0" u="none" strike="noStrike" kern="0" cap="none" spc="-10" normalizeH="0" baseline="0" noProof="0">
                <a:ln>
                  <a:noFill/>
                </a:ln>
                <a:solidFill>
                  <a:srgbClr val="FFFFFF"/>
                </a:solidFill>
                <a:effectLst/>
                <a:uLnTx/>
                <a:uFillTx/>
                <a:latin typeface="Trebuchet MS"/>
                <a:cs typeface="Trebuchet MS"/>
              </a:rPr>
              <a:t>clients</a:t>
            </a:r>
            <a:endParaRPr kumimoji="0" sz="14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16" name="object 16"/>
          <p:cNvSpPr/>
          <p:nvPr/>
        </p:nvSpPr>
        <p:spPr>
          <a:xfrm>
            <a:off x="7613904" y="2616707"/>
            <a:ext cx="306705" cy="307975"/>
          </a:xfrm>
          <a:custGeom>
            <a:avLst/>
            <a:gdLst/>
            <a:ahLst/>
            <a:cxnLst/>
            <a:rect l="l" t="t" r="r" b="b"/>
            <a:pathLst>
              <a:path w="306704" h="307975">
                <a:moveTo>
                  <a:pt x="153162" y="0"/>
                </a:moveTo>
                <a:lnTo>
                  <a:pt x="104753" y="7851"/>
                </a:lnTo>
                <a:lnTo>
                  <a:pt x="62709" y="29711"/>
                </a:lnTo>
                <a:lnTo>
                  <a:pt x="29553" y="63038"/>
                </a:lnTo>
                <a:lnTo>
                  <a:pt x="7808" y="105290"/>
                </a:lnTo>
                <a:lnTo>
                  <a:pt x="0" y="153924"/>
                </a:lnTo>
                <a:lnTo>
                  <a:pt x="7808" y="202557"/>
                </a:lnTo>
                <a:lnTo>
                  <a:pt x="29553" y="244809"/>
                </a:lnTo>
                <a:lnTo>
                  <a:pt x="62709" y="278136"/>
                </a:lnTo>
                <a:lnTo>
                  <a:pt x="104753" y="299996"/>
                </a:lnTo>
                <a:lnTo>
                  <a:pt x="153162" y="307847"/>
                </a:lnTo>
                <a:lnTo>
                  <a:pt x="201570" y="299996"/>
                </a:lnTo>
                <a:lnTo>
                  <a:pt x="243614" y="278136"/>
                </a:lnTo>
                <a:lnTo>
                  <a:pt x="276770" y="244809"/>
                </a:lnTo>
                <a:lnTo>
                  <a:pt x="298515" y="202557"/>
                </a:lnTo>
                <a:lnTo>
                  <a:pt x="306324" y="153924"/>
                </a:lnTo>
                <a:lnTo>
                  <a:pt x="298515" y="105290"/>
                </a:lnTo>
                <a:lnTo>
                  <a:pt x="276770" y="63038"/>
                </a:lnTo>
                <a:lnTo>
                  <a:pt x="243614" y="29711"/>
                </a:lnTo>
                <a:lnTo>
                  <a:pt x="201570" y="7851"/>
                </a:lnTo>
                <a:lnTo>
                  <a:pt x="153162" y="0"/>
                </a:lnTo>
                <a:close/>
              </a:path>
            </a:pathLst>
          </a:custGeom>
          <a:solidFill>
            <a:srgbClr val="FFFFFF"/>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17" name="object 17"/>
          <p:cNvSpPr txBox="1"/>
          <p:nvPr/>
        </p:nvSpPr>
        <p:spPr>
          <a:xfrm>
            <a:off x="7705470" y="2645410"/>
            <a:ext cx="126364" cy="239395"/>
          </a:xfrm>
          <a:prstGeom prst="rect">
            <a:avLst/>
          </a:prstGeom>
        </p:spPr>
        <p:txBody>
          <a:bodyPr vert="horz" wrap="square" lIns="0" tIns="13335" rIns="0" bIns="0" rtlCol="0">
            <a:spAutoFit/>
          </a:bodyPr>
          <a:lstStyle/>
          <a:p>
            <a:pPr marL="12700" marR="0" lvl="0" indent="0" defTabSz="914400" eaLnBrk="1" fontAlgn="auto" latinLnBrk="0" hangingPunct="1">
              <a:lnSpc>
                <a:spcPct val="100000"/>
              </a:lnSpc>
              <a:spcBef>
                <a:spcPts val="105"/>
              </a:spcBef>
              <a:spcAft>
                <a:spcPts val="0"/>
              </a:spcAft>
              <a:buClrTx/>
              <a:buSzTx/>
              <a:buFontTx/>
              <a:buNone/>
              <a:tabLst/>
              <a:defRPr/>
            </a:pPr>
            <a:r>
              <a:rPr kumimoji="0" sz="1400" b="0" i="0" u="none" strike="noStrike" kern="0" cap="none" spc="-50" normalizeH="0" baseline="0" noProof="0">
                <a:ln>
                  <a:noFill/>
                </a:ln>
                <a:solidFill>
                  <a:srgbClr val="29B974"/>
                </a:solidFill>
                <a:effectLst/>
                <a:uLnTx/>
                <a:uFillTx/>
                <a:latin typeface="Trebuchet MS"/>
                <a:cs typeface="Trebuchet MS"/>
              </a:rPr>
              <a:t>B</a:t>
            </a:r>
            <a:endParaRPr kumimoji="0" sz="14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18" name="object 18"/>
          <p:cNvSpPr/>
          <p:nvPr/>
        </p:nvSpPr>
        <p:spPr>
          <a:xfrm>
            <a:off x="7613904" y="1677923"/>
            <a:ext cx="306705" cy="307975"/>
          </a:xfrm>
          <a:custGeom>
            <a:avLst/>
            <a:gdLst/>
            <a:ahLst/>
            <a:cxnLst/>
            <a:rect l="l" t="t" r="r" b="b"/>
            <a:pathLst>
              <a:path w="306704" h="307975">
                <a:moveTo>
                  <a:pt x="153162" y="0"/>
                </a:moveTo>
                <a:lnTo>
                  <a:pt x="104753" y="7851"/>
                </a:lnTo>
                <a:lnTo>
                  <a:pt x="62709" y="29711"/>
                </a:lnTo>
                <a:lnTo>
                  <a:pt x="29553" y="63038"/>
                </a:lnTo>
                <a:lnTo>
                  <a:pt x="7808" y="105290"/>
                </a:lnTo>
                <a:lnTo>
                  <a:pt x="0" y="153924"/>
                </a:lnTo>
                <a:lnTo>
                  <a:pt x="7808" y="202557"/>
                </a:lnTo>
                <a:lnTo>
                  <a:pt x="29553" y="244809"/>
                </a:lnTo>
                <a:lnTo>
                  <a:pt x="62709" y="278136"/>
                </a:lnTo>
                <a:lnTo>
                  <a:pt x="104753" y="299996"/>
                </a:lnTo>
                <a:lnTo>
                  <a:pt x="153162" y="307848"/>
                </a:lnTo>
                <a:lnTo>
                  <a:pt x="201570" y="299996"/>
                </a:lnTo>
                <a:lnTo>
                  <a:pt x="243614" y="278136"/>
                </a:lnTo>
                <a:lnTo>
                  <a:pt x="276770" y="244809"/>
                </a:lnTo>
                <a:lnTo>
                  <a:pt x="298515" y="202557"/>
                </a:lnTo>
                <a:lnTo>
                  <a:pt x="306324" y="153924"/>
                </a:lnTo>
                <a:lnTo>
                  <a:pt x="298515" y="105290"/>
                </a:lnTo>
                <a:lnTo>
                  <a:pt x="276770" y="63038"/>
                </a:lnTo>
                <a:lnTo>
                  <a:pt x="243614" y="29711"/>
                </a:lnTo>
                <a:lnTo>
                  <a:pt x="201570" y="7851"/>
                </a:lnTo>
                <a:lnTo>
                  <a:pt x="153162" y="0"/>
                </a:lnTo>
                <a:close/>
              </a:path>
            </a:pathLst>
          </a:custGeom>
          <a:solidFill>
            <a:srgbClr val="FFFFFF"/>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19" name="object 19"/>
          <p:cNvSpPr txBox="1"/>
          <p:nvPr/>
        </p:nvSpPr>
        <p:spPr>
          <a:xfrm>
            <a:off x="7702042" y="1493265"/>
            <a:ext cx="3716020" cy="666115"/>
          </a:xfrm>
          <a:prstGeom prst="rect">
            <a:avLst/>
          </a:prstGeom>
        </p:spPr>
        <p:txBody>
          <a:bodyPr vert="horz" wrap="square" lIns="0" tIns="13335" rIns="0" bIns="0" rtlCol="0">
            <a:spAutoFit/>
          </a:bodyPr>
          <a:lstStyle/>
          <a:p>
            <a:pPr marL="12700" marR="5080" lvl="0" indent="353695" defTabSz="914400" eaLnBrk="1" fontAlgn="auto" latinLnBrk="0" hangingPunct="1">
              <a:lnSpc>
                <a:spcPct val="100000"/>
              </a:lnSpc>
              <a:spcBef>
                <a:spcPts val="105"/>
              </a:spcBef>
              <a:spcAft>
                <a:spcPts val="0"/>
              </a:spcAft>
              <a:buClrTx/>
              <a:buSzTx/>
              <a:buFontTx/>
              <a:buNone/>
              <a:tabLst>
                <a:tab pos="366395" algn="l"/>
              </a:tabLst>
              <a:defRPr/>
            </a:pPr>
            <a:r>
              <a:rPr kumimoji="0" sz="1400" b="0" i="0" u="none" strike="noStrike" kern="0" cap="none" spc="0" normalizeH="0" baseline="0" noProof="0">
                <a:ln>
                  <a:noFill/>
                </a:ln>
                <a:solidFill>
                  <a:srgbClr val="FFFFFF"/>
                </a:solidFill>
                <a:effectLst/>
                <a:uLnTx/>
                <a:uFillTx/>
                <a:latin typeface="Trebuchet MS"/>
                <a:cs typeface="Trebuchet MS"/>
              </a:rPr>
              <a:t>From</a:t>
            </a:r>
            <a:r>
              <a:rPr kumimoji="0" sz="1400" b="0" i="0" u="none" strike="noStrike" kern="0" cap="none" spc="-15"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D3DF33"/>
                </a:solidFill>
                <a:effectLst/>
                <a:uLnTx/>
                <a:uFillTx/>
                <a:latin typeface="Trebuchet MS"/>
                <a:cs typeface="Trebuchet MS"/>
              </a:rPr>
              <a:t>ETB</a:t>
            </a:r>
            <a:r>
              <a:rPr kumimoji="0" sz="1400" b="0" i="0" u="none" strike="noStrike" kern="0" cap="none" spc="-40" normalizeH="0" baseline="0" noProof="0">
                <a:ln>
                  <a:noFill/>
                </a:ln>
                <a:solidFill>
                  <a:srgbClr val="D3DF33"/>
                </a:solidFill>
                <a:effectLst/>
                <a:uLnTx/>
                <a:uFillTx/>
                <a:latin typeface="Trebuchet MS"/>
                <a:cs typeface="Trebuchet MS"/>
              </a:rPr>
              <a:t> </a:t>
            </a:r>
            <a:r>
              <a:rPr kumimoji="0" sz="1400" b="0" i="0" u="none" strike="noStrike" kern="0" cap="none" spc="0" normalizeH="0" baseline="0" noProof="0">
                <a:ln>
                  <a:noFill/>
                </a:ln>
                <a:solidFill>
                  <a:srgbClr val="D3DF33"/>
                </a:solidFill>
                <a:effectLst/>
                <a:uLnTx/>
                <a:uFillTx/>
                <a:latin typeface="Trebuchet MS"/>
                <a:cs typeface="Trebuchet MS"/>
              </a:rPr>
              <a:t>database,</a:t>
            </a:r>
            <a:r>
              <a:rPr kumimoji="0" sz="1400" b="0" i="0" u="none" strike="noStrike" kern="0" cap="none" spc="-20" normalizeH="0" baseline="0" noProof="0">
                <a:ln>
                  <a:noFill/>
                </a:ln>
                <a:solidFill>
                  <a:srgbClr val="D3DF33"/>
                </a:solidFill>
                <a:effectLst/>
                <a:uLnTx/>
                <a:uFillTx/>
                <a:latin typeface="Trebuchet MS"/>
                <a:cs typeface="Trebuchet MS"/>
              </a:rPr>
              <a:t> </a:t>
            </a:r>
            <a:r>
              <a:rPr kumimoji="0" sz="1400" b="0" i="0" u="none" strike="noStrike" kern="0" cap="none" spc="0" normalizeH="0" baseline="0" noProof="0">
                <a:ln>
                  <a:noFill/>
                </a:ln>
                <a:solidFill>
                  <a:srgbClr val="D3DF33"/>
                </a:solidFill>
                <a:effectLst/>
                <a:uLnTx/>
                <a:uFillTx/>
                <a:latin typeface="Trebuchet MS"/>
                <a:cs typeface="Trebuchet MS"/>
              </a:rPr>
              <a:t>data</a:t>
            </a:r>
            <a:r>
              <a:rPr kumimoji="0" sz="1400" b="0" i="0" u="none" strike="noStrike" kern="0" cap="none" spc="-25" normalizeH="0" baseline="0" noProof="0">
                <a:ln>
                  <a:noFill/>
                </a:ln>
                <a:solidFill>
                  <a:srgbClr val="D3DF33"/>
                </a:solidFill>
                <a:effectLst/>
                <a:uLnTx/>
                <a:uFillTx/>
                <a:latin typeface="Trebuchet MS"/>
                <a:cs typeface="Trebuchet MS"/>
              </a:rPr>
              <a:t> </a:t>
            </a:r>
            <a:r>
              <a:rPr kumimoji="0" sz="1400" b="0" i="0" u="none" strike="noStrike" kern="0" cap="none" spc="0" normalizeH="0" baseline="0" noProof="0">
                <a:ln>
                  <a:noFill/>
                </a:ln>
                <a:solidFill>
                  <a:srgbClr val="D3DF33"/>
                </a:solidFill>
                <a:effectLst/>
                <a:uLnTx/>
                <a:uFillTx/>
                <a:latin typeface="Trebuchet MS"/>
                <a:cs typeface="Trebuchet MS"/>
              </a:rPr>
              <a:t>analytics</a:t>
            </a:r>
            <a:r>
              <a:rPr kumimoji="0" sz="1400" b="0" i="0" u="none" strike="noStrike" kern="0" cap="none" spc="-35" normalizeH="0" baseline="0" noProof="0">
                <a:ln>
                  <a:noFill/>
                </a:ln>
                <a:solidFill>
                  <a:srgbClr val="D3DF33"/>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to</a:t>
            </a:r>
            <a:r>
              <a:rPr kumimoji="0" sz="1400" b="0" i="0" u="none" strike="noStrike" kern="0" cap="none" spc="-25" normalizeH="0" baseline="0" noProof="0">
                <a:ln>
                  <a:noFill/>
                </a:ln>
                <a:solidFill>
                  <a:srgbClr val="FFFFFF"/>
                </a:solidFill>
                <a:effectLst/>
                <a:uLnTx/>
                <a:uFillTx/>
                <a:latin typeface="Trebuchet MS"/>
                <a:cs typeface="Trebuchet MS"/>
              </a:rPr>
              <a:t> </a:t>
            </a:r>
            <a:r>
              <a:rPr kumimoji="0" sz="1400" b="0" i="0" u="none" strike="noStrike" kern="0" cap="none" spc="-20" normalizeH="0" baseline="0" noProof="0">
                <a:ln>
                  <a:noFill/>
                </a:ln>
                <a:solidFill>
                  <a:srgbClr val="FFFFFF"/>
                </a:solidFill>
                <a:effectLst/>
                <a:uLnTx/>
                <a:uFillTx/>
                <a:latin typeface="Trebuchet MS"/>
                <a:cs typeface="Trebuchet MS"/>
              </a:rPr>
              <a:t>flag </a:t>
            </a:r>
            <a:r>
              <a:rPr kumimoji="0" sz="1400" b="0" i="0" u="none" strike="noStrike" kern="0" cap="none" spc="-50" normalizeH="0" baseline="0" noProof="0">
                <a:ln>
                  <a:noFill/>
                </a:ln>
                <a:solidFill>
                  <a:srgbClr val="29B974"/>
                </a:solidFill>
                <a:effectLst/>
                <a:uLnTx/>
                <a:uFillTx/>
                <a:latin typeface="Trebuchet MS"/>
                <a:cs typeface="Trebuchet MS"/>
              </a:rPr>
              <a:t>A</a:t>
            </a:r>
            <a:r>
              <a:rPr kumimoji="0" sz="1400" b="0" i="0" u="none" strike="noStrike" kern="0" cap="none" spc="0" normalizeH="0" baseline="0" noProof="0">
                <a:ln>
                  <a:noFill/>
                </a:ln>
                <a:solidFill>
                  <a:srgbClr val="29B974"/>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and</a:t>
            </a:r>
            <a:r>
              <a:rPr kumimoji="0" sz="1400" b="0" i="0" u="none" strike="noStrike" kern="0" cap="none" spc="-35"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identify</a:t>
            </a:r>
            <a:r>
              <a:rPr kumimoji="0" sz="1400" b="0" i="0" u="none" strike="noStrike" kern="0" cap="none" spc="-45"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high</a:t>
            </a:r>
            <a:r>
              <a:rPr kumimoji="0" sz="1400" b="0" i="0" u="none" strike="noStrike" kern="0" cap="none" spc="-45"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wealth</a:t>
            </a:r>
            <a:r>
              <a:rPr kumimoji="0" sz="1400" b="0" i="0" u="none" strike="noStrike" kern="0" cap="none" spc="-55"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potential</a:t>
            </a:r>
            <a:r>
              <a:rPr kumimoji="0" sz="1400" b="0" i="0" u="none" strike="noStrike" kern="0" cap="none" spc="-40" normalizeH="0" baseline="0" noProof="0">
                <a:ln>
                  <a:noFill/>
                </a:ln>
                <a:solidFill>
                  <a:srgbClr val="FFFFFF"/>
                </a:solidFill>
                <a:effectLst/>
                <a:uLnTx/>
                <a:uFillTx/>
                <a:latin typeface="Trebuchet MS"/>
                <a:cs typeface="Trebuchet MS"/>
              </a:rPr>
              <a:t> </a:t>
            </a:r>
            <a:r>
              <a:rPr kumimoji="0" sz="1400" b="0" i="0" u="none" strike="noStrike" kern="0" cap="none" spc="-10" normalizeH="0" baseline="0" noProof="0">
                <a:ln>
                  <a:noFill/>
                </a:ln>
                <a:solidFill>
                  <a:srgbClr val="FFFFFF"/>
                </a:solidFill>
                <a:effectLst/>
                <a:uLnTx/>
                <a:uFillTx/>
                <a:latin typeface="Trebuchet MS"/>
                <a:cs typeface="Trebuchet MS"/>
              </a:rPr>
              <a:t>clients</a:t>
            </a:r>
            <a:endParaRPr kumimoji="0" sz="1400" b="0" i="0" u="none" strike="noStrike" kern="0" cap="none" spc="0" normalizeH="0" baseline="0" noProof="0">
              <a:ln>
                <a:noFill/>
              </a:ln>
              <a:solidFill>
                <a:sysClr val="windowText" lastClr="000000"/>
              </a:solidFill>
              <a:effectLst/>
              <a:uLnTx/>
              <a:uFillTx/>
              <a:latin typeface="Trebuchet MS"/>
              <a:cs typeface="Trebuchet MS"/>
            </a:endParaRPr>
          </a:p>
          <a:p>
            <a:pPr marL="366395" marR="0" lvl="0" indent="0" defTabSz="914400" eaLnBrk="1" fontAlgn="auto" latinLnBrk="0" hangingPunct="1">
              <a:lnSpc>
                <a:spcPct val="100000"/>
              </a:lnSpc>
              <a:spcBef>
                <a:spcPts val="0"/>
              </a:spcBef>
              <a:spcAft>
                <a:spcPts val="0"/>
              </a:spcAft>
              <a:buClrTx/>
              <a:buSzTx/>
              <a:buFontTx/>
              <a:buNone/>
              <a:tabLst/>
              <a:defRPr/>
            </a:pPr>
            <a:r>
              <a:rPr kumimoji="0" sz="1400" b="0" i="0" u="none" strike="noStrike" kern="0" cap="none" spc="0" normalizeH="0" baseline="0" noProof="0">
                <a:ln>
                  <a:noFill/>
                </a:ln>
                <a:solidFill>
                  <a:srgbClr val="FFFFFF"/>
                </a:solidFill>
                <a:effectLst/>
                <a:uLnTx/>
                <a:uFillTx/>
                <a:latin typeface="Trebuchet MS"/>
                <a:cs typeface="Trebuchet MS"/>
              </a:rPr>
              <a:t>based</a:t>
            </a:r>
            <a:r>
              <a:rPr kumimoji="0" sz="1400" b="0" i="0" u="none" strike="noStrike" kern="0" cap="none" spc="-25"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on</a:t>
            </a:r>
            <a:r>
              <a:rPr kumimoji="0" sz="1400" b="0" i="0" u="none" strike="noStrike" kern="0" cap="none" spc="-10"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set</a:t>
            </a:r>
            <a:r>
              <a:rPr kumimoji="0" sz="1400" b="0" i="0" u="none" strike="noStrike" kern="0" cap="none" spc="-20" normalizeH="0" baseline="0" noProof="0">
                <a:ln>
                  <a:noFill/>
                </a:ln>
                <a:solidFill>
                  <a:srgbClr val="FFFFFF"/>
                </a:solidFill>
                <a:effectLst/>
                <a:uLnTx/>
                <a:uFillTx/>
                <a:latin typeface="Trebuchet MS"/>
                <a:cs typeface="Trebuchet MS"/>
              </a:rPr>
              <a:t> </a:t>
            </a:r>
            <a:r>
              <a:rPr kumimoji="0" sz="1400" b="0" i="0" u="none" strike="noStrike" kern="0" cap="none" spc="0" normalizeH="0" baseline="0" noProof="0">
                <a:ln>
                  <a:noFill/>
                </a:ln>
                <a:solidFill>
                  <a:srgbClr val="FFFFFF"/>
                </a:solidFill>
                <a:effectLst/>
                <a:uLnTx/>
                <a:uFillTx/>
                <a:latin typeface="Trebuchet MS"/>
                <a:cs typeface="Trebuchet MS"/>
              </a:rPr>
              <a:t>customer</a:t>
            </a:r>
            <a:r>
              <a:rPr kumimoji="0" sz="1400" b="0" i="0" u="none" strike="noStrike" kern="0" cap="none" spc="-45" normalizeH="0" baseline="0" noProof="0">
                <a:ln>
                  <a:noFill/>
                </a:ln>
                <a:solidFill>
                  <a:srgbClr val="FFFFFF"/>
                </a:solidFill>
                <a:effectLst/>
                <a:uLnTx/>
                <a:uFillTx/>
                <a:latin typeface="Trebuchet MS"/>
                <a:cs typeface="Trebuchet MS"/>
              </a:rPr>
              <a:t> </a:t>
            </a:r>
            <a:r>
              <a:rPr kumimoji="0" sz="1400" b="0" i="0" u="none" strike="noStrike" kern="0" cap="none" spc="-10" normalizeH="0" baseline="0" noProof="0">
                <a:ln>
                  <a:noFill/>
                </a:ln>
                <a:solidFill>
                  <a:srgbClr val="FFFFFF"/>
                </a:solidFill>
                <a:effectLst/>
                <a:uLnTx/>
                <a:uFillTx/>
                <a:latin typeface="Trebuchet MS"/>
                <a:cs typeface="Trebuchet MS"/>
              </a:rPr>
              <a:t>archetypes</a:t>
            </a:r>
            <a:endParaRPr kumimoji="0" sz="1400" b="0" i="0" u="none" strike="noStrike" kern="0" cap="none" spc="0" normalizeH="0" baseline="0" noProof="0">
              <a:ln>
                <a:noFill/>
              </a:ln>
              <a:solidFill>
                <a:sysClr val="windowText" lastClr="000000"/>
              </a:solidFill>
              <a:effectLst/>
              <a:uLnTx/>
              <a:uFillTx/>
              <a:latin typeface="Trebuchet MS"/>
              <a:cs typeface="Trebuchet MS"/>
            </a:endParaRPr>
          </a:p>
        </p:txBody>
      </p:sp>
      <p:grpSp>
        <p:nvGrpSpPr>
          <p:cNvPr id="20" name="object 20"/>
          <p:cNvGrpSpPr/>
          <p:nvPr/>
        </p:nvGrpSpPr>
        <p:grpSpPr>
          <a:xfrm>
            <a:off x="2461260" y="2243137"/>
            <a:ext cx="9061450" cy="3625850"/>
            <a:chOff x="2461260" y="2243137"/>
            <a:chExt cx="9061450" cy="3625850"/>
          </a:xfrm>
        </p:grpSpPr>
        <p:sp>
          <p:nvSpPr>
            <p:cNvPr id="21" name="object 21"/>
            <p:cNvSpPr/>
            <p:nvPr/>
          </p:nvSpPr>
          <p:spPr>
            <a:xfrm>
              <a:off x="7613904" y="2247900"/>
              <a:ext cx="3903979" cy="2923540"/>
            </a:xfrm>
            <a:custGeom>
              <a:avLst/>
              <a:gdLst/>
              <a:ahLst/>
              <a:cxnLst/>
              <a:rect l="l" t="t" r="r" b="b"/>
              <a:pathLst>
                <a:path w="3903979" h="2923540">
                  <a:moveTo>
                    <a:pt x="0" y="0"/>
                  </a:moveTo>
                  <a:lnTo>
                    <a:pt x="3903599" y="0"/>
                  </a:lnTo>
                </a:path>
                <a:path w="3903979" h="2923540">
                  <a:moveTo>
                    <a:pt x="0" y="1045463"/>
                  </a:moveTo>
                  <a:lnTo>
                    <a:pt x="3903599" y="1045463"/>
                  </a:lnTo>
                </a:path>
                <a:path w="3903979" h="2923540">
                  <a:moveTo>
                    <a:pt x="0" y="1876044"/>
                  </a:moveTo>
                  <a:lnTo>
                    <a:pt x="3903599" y="1876044"/>
                  </a:lnTo>
                </a:path>
                <a:path w="3903979" h="2923540">
                  <a:moveTo>
                    <a:pt x="0" y="2923032"/>
                  </a:moveTo>
                  <a:lnTo>
                    <a:pt x="3903599" y="2923032"/>
                  </a:lnTo>
                </a:path>
              </a:pathLst>
            </a:custGeom>
            <a:ln w="9525">
              <a:solidFill>
                <a:srgbClr val="FFFFFF"/>
              </a:solidFill>
              <a:prstDash val="dot"/>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pic>
          <p:nvPicPr>
            <p:cNvPr id="22" name="object 22"/>
            <p:cNvPicPr/>
            <p:nvPr/>
          </p:nvPicPr>
          <p:blipFill>
            <a:blip r:embed="rId5" cstate="print"/>
            <a:stretch>
              <a:fillRect/>
            </a:stretch>
          </p:blipFill>
          <p:spPr>
            <a:xfrm>
              <a:off x="6871716" y="3380219"/>
              <a:ext cx="652284" cy="652284"/>
            </a:xfrm>
            <a:prstGeom prst="rect">
              <a:avLst/>
            </a:prstGeom>
          </p:spPr>
        </p:pic>
        <p:sp>
          <p:nvSpPr>
            <p:cNvPr id="23" name="object 23"/>
            <p:cNvSpPr/>
            <p:nvPr/>
          </p:nvSpPr>
          <p:spPr>
            <a:xfrm>
              <a:off x="6886956" y="3433572"/>
              <a:ext cx="550545" cy="550545"/>
            </a:xfrm>
            <a:custGeom>
              <a:avLst/>
              <a:gdLst/>
              <a:ahLst/>
              <a:cxnLst/>
              <a:rect l="l" t="t" r="r" b="b"/>
              <a:pathLst>
                <a:path w="550545" h="550545">
                  <a:moveTo>
                    <a:pt x="275082" y="0"/>
                  </a:moveTo>
                  <a:lnTo>
                    <a:pt x="225643" y="4432"/>
                  </a:lnTo>
                  <a:lnTo>
                    <a:pt x="179109" y="17213"/>
                  </a:lnTo>
                  <a:lnTo>
                    <a:pt x="136256" y="37563"/>
                  </a:lnTo>
                  <a:lnTo>
                    <a:pt x="97863" y="64706"/>
                  </a:lnTo>
                  <a:lnTo>
                    <a:pt x="64706" y="97863"/>
                  </a:lnTo>
                  <a:lnTo>
                    <a:pt x="37563" y="136256"/>
                  </a:lnTo>
                  <a:lnTo>
                    <a:pt x="17213" y="179109"/>
                  </a:lnTo>
                  <a:lnTo>
                    <a:pt x="4432" y="225643"/>
                  </a:lnTo>
                  <a:lnTo>
                    <a:pt x="0" y="275081"/>
                  </a:lnTo>
                  <a:lnTo>
                    <a:pt x="4432" y="324520"/>
                  </a:lnTo>
                  <a:lnTo>
                    <a:pt x="17213" y="371054"/>
                  </a:lnTo>
                  <a:lnTo>
                    <a:pt x="37563" y="413907"/>
                  </a:lnTo>
                  <a:lnTo>
                    <a:pt x="64706" y="452300"/>
                  </a:lnTo>
                  <a:lnTo>
                    <a:pt x="97863" y="485457"/>
                  </a:lnTo>
                  <a:lnTo>
                    <a:pt x="136256" y="512600"/>
                  </a:lnTo>
                  <a:lnTo>
                    <a:pt x="179109" y="532950"/>
                  </a:lnTo>
                  <a:lnTo>
                    <a:pt x="225643" y="545731"/>
                  </a:lnTo>
                  <a:lnTo>
                    <a:pt x="275082" y="550163"/>
                  </a:lnTo>
                  <a:lnTo>
                    <a:pt x="324520" y="545731"/>
                  </a:lnTo>
                  <a:lnTo>
                    <a:pt x="371054" y="532950"/>
                  </a:lnTo>
                  <a:lnTo>
                    <a:pt x="413907" y="512600"/>
                  </a:lnTo>
                  <a:lnTo>
                    <a:pt x="452300" y="485457"/>
                  </a:lnTo>
                  <a:lnTo>
                    <a:pt x="485457" y="452300"/>
                  </a:lnTo>
                  <a:lnTo>
                    <a:pt x="512600" y="413907"/>
                  </a:lnTo>
                  <a:lnTo>
                    <a:pt x="532950" y="371054"/>
                  </a:lnTo>
                  <a:lnTo>
                    <a:pt x="545731" y="324520"/>
                  </a:lnTo>
                  <a:lnTo>
                    <a:pt x="550164" y="275081"/>
                  </a:lnTo>
                  <a:lnTo>
                    <a:pt x="545731" y="225643"/>
                  </a:lnTo>
                  <a:lnTo>
                    <a:pt x="532950" y="179109"/>
                  </a:lnTo>
                  <a:lnTo>
                    <a:pt x="512600" y="136256"/>
                  </a:lnTo>
                  <a:lnTo>
                    <a:pt x="485457" y="97863"/>
                  </a:lnTo>
                  <a:lnTo>
                    <a:pt x="452300" y="64706"/>
                  </a:lnTo>
                  <a:lnTo>
                    <a:pt x="413907" y="37563"/>
                  </a:lnTo>
                  <a:lnTo>
                    <a:pt x="371054" y="17213"/>
                  </a:lnTo>
                  <a:lnTo>
                    <a:pt x="324520" y="4432"/>
                  </a:lnTo>
                  <a:lnTo>
                    <a:pt x="275082" y="0"/>
                  </a:lnTo>
                  <a:close/>
                </a:path>
              </a:pathLst>
            </a:custGeom>
            <a:solidFill>
              <a:srgbClr val="FFFFFF"/>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24" name="object 24"/>
            <p:cNvSpPr/>
            <p:nvPr/>
          </p:nvSpPr>
          <p:spPr>
            <a:xfrm>
              <a:off x="2461260" y="3531120"/>
              <a:ext cx="4826635" cy="2338070"/>
            </a:xfrm>
            <a:custGeom>
              <a:avLst/>
              <a:gdLst/>
              <a:ahLst/>
              <a:cxnLst/>
              <a:rect l="l" t="t" r="r" b="b"/>
              <a:pathLst>
                <a:path w="4826634" h="2338070">
                  <a:moveTo>
                    <a:pt x="2083308" y="1754111"/>
                  </a:moveTo>
                  <a:lnTo>
                    <a:pt x="569976" y="1754111"/>
                  </a:lnTo>
                  <a:lnTo>
                    <a:pt x="825233" y="2337803"/>
                  </a:lnTo>
                  <a:lnTo>
                    <a:pt x="1835277" y="2337803"/>
                  </a:lnTo>
                  <a:lnTo>
                    <a:pt x="2083308" y="1754111"/>
                  </a:lnTo>
                  <a:close/>
                </a:path>
                <a:path w="4826634" h="2338070">
                  <a:moveTo>
                    <a:pt x="2356104" y="1074407"/>
                  </a:moveTo>
                  <a:lnTo>
                    <a:pt x="295656" y="1074407"/>
                  </a:lnTo>
                  <a:lnTo>
                    <a:pt x="547243" y="1676387"/>
                  </a:lnTo>
                  <a:lnTo>
                    <a:pt x="2104517" y="1676387"/>
                  </a:lnTo>
                  <a:lnTo>
                    <a:pt x="2356104" y="1074407"/>
                  </a:lnTo>
                  <a:close/>
                </a:path>
                <a:path w="4826634" h="2338070">
                  <a:moveTo>
                    <a:pt x="2630424" y="412991"/>
                  </a:moveTo>
                  <a:lnTo>
                    <a:pt x="0" y="412991"/>
                  </a:lnTo>
                  <a:lnTo>
                    <a:pt x="251714" y="996683"/>
                  </a:lnTo>
                  <a:lnTo>
                    <a:pt x="2382393" y="996683"/>
                  </a:lnTo>
                  <a:lnTo>
                    <a:pt x="2630424" y="412991"/>
                  </a:lnTo>
                  <a:close/>
                </a:path>
                <a:path w="4826634" h="2338070">
                  <a:moveTo>
                    <a:pt x="4826508" y="178295"/>
                  </a:moveTo>
                  <a:lnTo>
                    <a:pt x="4803902" y="158864"/>
                  </a:lnTo>
                  <a:lnTo>
                    <a:pt x="4649216" y="0"/>
                  </a:lnTo>
                  <a:lnTo>
                    <a:pt x="4629912" y="22720"/>
                  </a:lnTo>
                  <a:lnTo>
                    <a:pt x="4784598" y="178295"/>
                  </a:lnTo>
                  <a:lnTo>
                    <a:pt x="4629912" y="337172"/>
                  </a:lnTo>
                  <a:lnTo>
                    <a:pt x="4649216" y="356603"/>
                  </a:lnTo>
                  <a:lnTo>
                    <a:pt x="4826508" y="178295"/>
                  </a:lnTo>
                  <a:close/>
                </a:path>
              </a:pathLst>
            </a:custGeom>
            <a:solidFill>
              <a:srgbClr val="29B974"/>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grpSp>
      <p:sp>
        <p:nvSpPr>
          <p:cNvPr id="25" name="object 25"/>
          <p:cNvSpPr txBox="1"/>
          <p:nvPr/>
        </p:nvSpPr>
        <p:spPr>
          <a:xfrm>
            <a:off x="2790570" y="4036567"/>
            <a:ext cx="939800" cy="391160"/>
          </a:xfrm>
          <a:prstGeom prst="rect">
            <a:avLst/>
          </a:prstGeom>
        </p:spPr>
        <p:txBody>
          <a:bodyPr vert="horz" wrap="square" lIns="0" tIns="12700" rIns="0" bIns="0" rtlCol="0">
            <a:spAutoFit/>
          </a:bodyPr>
          <a:lstStyle/>
          <a:p>
            <a:pPr marL="12700" marR="5080" lvl="0" indent="0" defTabSz="914400" eaLnBrk="1" fontAlgn="auto" latinLnBrk="0" hangingPunct="1">
              <a:lnSpc>
                <a:spcPct val="100000"/>
              </a:lnSpc>
              <a:spcBef>
                <a:spcPts val="100"/>
              </a:spcBef>
              <a:spcAft>
                <a:spcPts val="0"/>
              </a:spcAft>
              <a:buClrTx/>
              <a:buSzTx/>
              <a:buFontTx/>
              <a:buNone/>
              <a:tabLst/>
              <a:defRPr/>
            </a:pPr>
            <a:r>
              <a:rPr kumimoji="0" sz="1200" b="0" i="0" u="none" strike="noStrike" kern="0" cap="none" spc="0" normalizeH="0" baseline="0" noProof="0">
                <a:ln>
                  <a:noFill/>
                </a:ln>
                <a:solidFill>
                  <a:srgbClr val="FFFFFF"/>
                </a:solidFill>
                <a:effectLst/>
                <a:uLnTx/>
                <a:uFillTx/>
                <a:latin typeface="Trebuchet MS"/>
                <a:cs typeface="Trebuchet MS"/>
              </a:rPr>
              <a:t>Back</a:t>
            </a:r>
            <a:r>
              <a:rPr kumimoji="0" sz="1200" b="0" i="0" u="none" strike="noStrike" kern="0" cap="none" spc="-30" normalizeH="0" baseline="0" noProof="0">
                <a:ln>
                  <a:noFill/>
                </a:ln>
                <a:solidFill>
                  <a:srgbClr val="FFFFFF"/>
                </a:solidFill>
                <a:effectLst/>
                <a:uLnTx/>
                <a:uFillTx/>
                <a:latin typeface="Trebuchet MS"/>
                <a:cs typeface="Trebuchet MS"/>
              </a:rPr>
              <a:t> </a:t>
            </a:r>
            <a:r>
              <a:rPr kumimoji="0" sz="1200" b="0" i="0" u="none" strike="noStrike" kern="0" cap="none" spc="-10" normalizeH="0" baseline="0" noProof="0">
                <a:ln>
                  <a:noFill/>
                </a:ln>
                <a:solidFill>
                  <a:srgbClr val="FFFFFF"/>
                </a:solidFill>
                <a:effectLst/>
                <a:uLnTx/>
                <a:uFillTx/>
                <a:latin typeface="Trebuchet MS"/>
                <a:cs typeface="Trebuchet MS"/>
              </a:rPr>
              <a:t>office </a:t>
            </a:r>
            <a:r>
              <a:rPr kumimoji="0" sz="1200" b="0" i="0" u="none" strike="noStrike" kern="0" cap="none" spc="0" normalizeH="0" baseline="0" noProof="0">
                <a:ln>
                  <a:noFill/>
                </a:ln>
                <a:solidFill>
                  <a:srgbClr val="FFFFFF"/>
                </a:solidFill>
                <a:effectLst/>
                <a:uLnTx/>
                <a:uFillTx/>
                <a:latin typeface="Trebuchet MS"/>
                <a:cs typeface="Trebuchet MS"/>
              </a:rPr>
              <a:t>due</a:t>
            </a:r>
            <a:r>
              <a:rPr kumimoji="0" sz="1200" b="0" i="0" u="none" strike="noStrike" kern="0" cap="none" spc="-25" normalizeH="0" baseline="0" noProof="0">
                <a:ln>
                  <a:noFill/>
                </a:ln>
                <a:solidFill>
                  <a:srgbClr val="FFFFFF"/>
                </a:solidFill>
                <a:effectLst/>
                <a:uLnTx/>
                <a:uFillTx/>
                <a:latin typeface="Trebuchet MS"/>
                <a:cs typeface="Trebuchet MS"/>
              </a:rPr>
              <a:t> </a:t>
            </a:r>
            <a:r>
              <a:rPr kumimoji="0" sz="1200" b="0" i="0" u="none" strike="noStrike" kern="0" cap="none" spc="-10" normalizeH="0" baseline="0" noProof="0">
                <a:ln>
                  <a:noFill/>
                </a:ln>
                <a:solidFill>
                  <a:srgbClr val="FFFFFF"/>
                </a:solidFill>
                <a:effectLst/>
                <a:uLnTx/>
                <a:uFillTx/>
                <a:latin typeface="Trebuchet MS"/>
                <a:cs typeface="Trebuchet MS"/>
              </a:rPr>
              <a:t>diligence</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26" name="object 26"/>
          <p:cNvSpPr txBox="1"/>
          <p:nvPr/>
        </p:nvSpPr>
        <p:spPr>
          <a:xfrm>
            <a:off x="3049270" y="4707128"/>
            <a:ext cx="962025" cy="391160"/>
          </a:xfrm>
          <a:prstGeom prst="rect">
            <a:avLst/>
          </a:prstGeom>
        </p:spPr>
        <p:txBody>
          <a:bodyPr vert="horz" wrap="square" lIns="0" tIns="1270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sz="1200" b="0" i="0" u="none" strike="noStrike" kern="0" cap="none" spc="0" normalizeH="0" baseline="0" noProof="0">
                <a:ln>
                  <a:noFill/>
                </a:ln>
                <a:solidFill>
                  <a:srgbClr val="FFFFFF"/>
                </a:solidFill>
                <a:effectLst/>
                <a:uLnTx/>
                <a:uFillTx/>
                <a:latin typeface="Trebuchet MS"/>
                <a:cs typeface="Trebuchet MS"/>
              </a:rPr>
              <a:t>RM</a:t>
            </a:r>
            <a:r>
              <a:rPr kumimoji="0" sz="1200" b="0" i="0" u="none" strike="noStrike" kern="0" cap="none" spc="-30" normalizeH="0" baseline="0" noProof="0">
                <a:ln>
                  <a:noFill/>
                </a:ln>
                <a:solidFill>
                  <a:srgbClr val="FFFFFF"/>
                </a:solidFill>
                <a:effectLst/>
                <a:uLnTx/>
                <a:uFillTx/>
                <a:latin typeface="Trebuchet MS"/>
                <a:cs typeface="Trebuchet MS"/>
              </a:rPr>
              <a:t> </a:t>
            </a:r>
            <a:r>
              <a:rPr kumimoji="0" sz="1200" b="0" i="0" u="none" strike="noStrike" kern="0" cap="none" spc="-10" normalizeH="0" baseline="0" noProof="0">
                <a:ln>
                  <a:noFill/>
                </a:ln>
                <a:solidFill>
                  <a:srgbClr val="FFFFFF"/>
                </a:solidFill>
                <a:effectLst/>
                <a:uLnTx/>
                <a:uFillTx/>
                <a:latin typeface="Trebuchet MS"/>
                <a:cs typeface="Trebuchet MS"/>
              </a:rPr>
              <a:t>supervisor</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a:p>
            <a:pPr marL="12700" marR="0" lvl="0" indent="0" defTabSz="914400" eaLnBrk="1" fontAlgn="auto" latinLnBrk="0" hangingPunct="1">
              <a:lnSpc>
                <a:spcPct val="100000"/>
              </a:lnSpc>
              <a:spcBef>
                <a:spcPts val="0"/>
              </a:spcBef>
              <a:spcAft>
                <a:spcPts val="0"/>
              </a:spcAft>
              <a:buClrTx/>
              <a:buSzTx/>
              <a:buFontTx/>
              <a:buNone/>
              <a:tabLst/>
              <a:defRPr/>
            </a:pPr>
            <a:r>
              <a:rPr kumimoji="0" sz="1200" b="0" i="0" u="none" strike="noStrike" kern="0" cap="none" spc="0" normalizeH="0" baseline="0" noProof="0">
                <a:ln>
                  <a:noFill/>
                </a:ln>
                <a:solidFill>
                  <a:srgbClr val="FFFFFF"/>
                </a:solidFill>
                <a:effectLst/>
                <a:uLnTx/>
                <a:uFillTx/>
                <a:latin typeface="Trebuchet MS"/>
                <a:cs typeface="Trebuchet MS"/>
              </a:rPr>
              <a:t>“smell</a:t>
            </a:r>
            <a:r>
              <a:rPr kumimoji="0" sz="1200" b="0" i="0" u="none" strike="noStrike" kern="0" cap="none" spc="-35" normalizeH="0" baseline="0" noProof="0">
                <a:ln>
                  <a:noFill/>
                </a:ln>
                <a:solidFill>
                  <a:srgbClr val="FFFFFF"/>
                </a:solidFill>
                <a:effectLst/>
                <a:uLnTx/>
                <a:uFillTx/>
                <a:latin typeface="Trebuchet MS"/>
                <a:cs typeface="Trebuchet MS"/>
              </a:rPr>
              <a:t> </a:t>
            </a:r>
            <a:r>
              <a:rPr kumimoji="0" sz="1200" b="0" i="0" u="none" strike="noStrike" kern="0" cap="none" spc="-10" normalizeH="0" baseline="0" noProof="0">
                <a:ln>
                  <a:noFill/>
                </a:ln>
                <a:solidFill>
                  <a:srgbClr val="FFFFFF"/>
                </a:solidFill>
                <a:effectLst/>
                <a:uLnTx/>
                <a:uFillTx/>
                <a:latin typeface="Trebuchet MS"/>
                <a:cs typeface="Trebuchet MS"/>
              </a:rPr>
              <a:t>test”</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27" name="object 27"/>
          <p:cNvSpPr txBox="1"/>
          <p:nvPr/>
        </p:nvSpPr>
        <p:spPr>
          <a:xfrm>
            <a:off x="3277361" y="5468518"/>
            <a:ext cx="221615" cy="208915"/>
          </a:xfrm>
          <a:prstGeom prst="rect">
            <a:avLst/>
          </a:prstGeom>
        </p:spPr>
        <p:txBody>
          <a:bodyPr vert="horz" wrap="square" lIns="0" tIns="1270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sz="1200" b="0" i="0" u="none" strike="noStrike" kern="0" cap="none" spc="-25" normalizeH="0" baseline="0" noProof="0">
                <a:ln>
                  <a:noFill/>
                </a:ln>
                <a:solidFill>
                  <a:srgbClr val="FFFFFF"/>
                </a:solidFill>
                <a:effectLst/>
                <a:uLnTx/>
                <a:uFillTx/>
                <a:latin typeface="Trebuchet MS"/>
                <a:cs typeface="Trebuchet MS"/>
              </a:rPr>
              <a:t>RM</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p:txBody>
      </p:sp>
      <p:grpSp>
        <p:nvGrpSpPr>
          <p:cNvPr id="28" name="object 28"/>
          <p:cNvGrpSpPr/>
          <p:nvPr/>
        </p:nvGrpSpPr>
        <p:grpSpPr>
          <a:xfrm>
            <a:off x="2394013" y="4064317"/>
            <a:ext cx="316230" cy="316230"/>
            <a:chOff x="2394013" y="4064317"/>
            <a:chExt cx="316230" cy="316230"/>
          </a:xfrm>
        </p:grpSpPr>
        <p:sp>
          <p:nvSpPr>
            <p:cNvPr id="29" name="object 29"/>
            <p:cNvSpPr/>
            <p:nvPr/>
          </p:nvSpPr>
          <p:spPr>
            <a:xfrm>
              <a:off x="2398776" y="4069079"/>
              <a:ext cx="306705" cy="306705"/>
            </a:xfrm>
            <a:custGeom>
              <a:avLst/>
              <a:gdLst/>
              <a:ahLst/>
              <a:cxnLst/>
              <a:rect l="l" t="t" r="r" b="b"/>
              <a:pathLst>
                <a:path w="306705" h="306704">
                  <a:moveTo>
                    <a:pt x="153162" y="0"/>
                  </a:moveTo>
                  <a:lnTo>
                    <a:pt x="104753" y="7808"/>
                  </a:lnTo>
                  <a:lnTo>
                    <a:pt x="62709" y="29553"/>
                  </a:lnTo>
                  <a:lnTo>
                    <a:pt x="29553" y="62709"/>
                  </a:lnTo>
                  <a:lnTo>
                    <a:pt x="7808" y="104753"/>
                  </a:lnTo>
                  <a:lnTo>
                    <a:pt x="0" y="153162"/>
                  </a:lnTo>
                  <a:lnTo>
                    <a:pt x="7808" y="201570"/>
                  </a:lnTo>
                  <a:lnTo>
                    <a:pt x="29553" y="243614"/>
                  </a:lnTo>
                  <a:lnTo>
                    <a:pt x="62709" y="276770"/>
                  </a:lnTo>
                  <a:lnTo>
                    <a:pt x="104753" y="298515"/>
                  </a:lnTo>
                  <a:lnTo>
                    <a:pt x="153162" y="306324"/>
                  </a:lnTo>
                  <a:lnTo>
                    <a:pt x="201570" y="298515"/>
                  </a:lnTo>
                  <a:lnTo>
                    <a:pt x="243614" y="276770"/>
                  </a:lnTo>
                  <a:lnTo>
                    <a:pt x="276770" y="243614"/>
                  </a:lnTo>
                  <a:lnTo>
                    <a:pt x="298515" y="201570"/>
                  </a:lnTo>
                  <a:lnTo>
                    <a:pt x="306324" y="153162"/>
                  </a:lnTo>
                  <a:lnTo>
                    <a:pt x="298515" y="104753"/>
                  </a:lnTo>
                  <a:lnTo>
                    <a:pt x="276770" y="62709"/>
                  </a:lnTo>
                  <a:lnTo>
                    <a:pt x="243614" y="29553"/>
                  </a:lnTo>
                  <a:lnTo>
                    <a:pt x="201570" y="7808"/>
                  </a:lnTo>
                  <a:lnTo>
                    <a:pt x="153162" y="0"/>
                  </a:lnTo>
                  <a:close/>
                </a:path>
              </a:pathLst>
            </a:custGeom>
            <a:solidFill>
              <a:srgbClr val="187955"/>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30" name="object 30"/>
            <p:cNvSpPr/>
            <p:nvPr/>
          </p:nvSpPr>
          <p:spPr>
            <a:xfrm>
              <a:off x="2398776" y="4069079"/>
              <a:ext cx="306705" cy="306705"/>
            </a:xfrm>
            <a:custGeom>
              <a:avLst/>
              <a:gdLst/>
              <a:ahLst/>
              <a:cxnLst/>
              <a:rect l="l" t="t" r="r" b="b"/>
              <a:pathLst>
                <a:path w="306705" h="306704">
                  <a:moveTo>
                    <a:pt x="0" y="153162"/>
                  </a:moveTo>
                  <a:lnTo>
                    <a:pt x="7808" y="104753"/>
                  </a:lnTo>
                  <a:lnTo>
                    <a:pt x="29553" y="62709"/>
                  </a:lnTo>
                  <a:lnTo>
                    <a:pt x="62709" y="29553"/>
                  </a:lnTo>
                  <a:lnTo>
                    <a:pt x="104753" y="7808"/>
                  </a:lnTo>
                  <a:lnTo>
                    <a:pt x="153162" y="0"/>
                  </a:lnTo>
                  <a:lnTo>
                    <a:pt x="201570" y="7808"/>
                  </a:lnTo>
                  <a:lnTo>
                    <a:pt x="243614" y="29553"/>
                  </a:lnTo>
                  <a:lnTo>
                    <a:pt x="276770" y="62709"/>
                  </a:lnTo>
                  <a:lnTo>
                    <a:pt x="298515" y="104753"/>
                  </a:lnTo>
                  <a:lnTo>
                    <a:pt x="306324" y="153162"/>
                  </a:lnTo>
                  <a:lnTo>
                    <a:pt x="298515" y="201570"/>
                  </a:lnTo>
                  <a:lnTo>
                    <a:pt x="276770" y="243614"/>
                  </a:lnTo>
                  <a:lnTo>
                    <a:pt x="243614" y="276770"/>
                  </a:lnTo>
                  <a:lnTo>
                    <a:pt x="201570" y="298515"/>
                  </a:lnTo>
                  <a:lnTo>
                    <a:pt x="153162" y="306324"/>
                  </a:lnTo>
                  <a:lnTo>
                    <a:pt x="104753" y="298515"/>
                  </a:lnTo>
                  <a:lnTo>
                    <a:pt x="62709" y="276770"/>
                  </a:lnTo>
                  <a:lnTo>
                    <a:pt x="29553" y="243614"/>
                  </a:lnTo>
                  <a:lnTo>
                    <a:pt x="7808" y="201570"/>
                  </a:lnTo>
                  <a:lnTo>
                    <a:pt x="0" y="153162"/>
                  </a:lnTo>
                  <a:close/>
                </a:path>
              </a:pathLst>
            </a:custGeom>
            <a:ln w="9525">
              <a:solidFill>
                <a:srgbClr val="FFFFFF"/>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grpSp>
      <p:sp>
        <p:nvSpPr>
          <p:cNvPr id="31" name="object 31"/>
          <p:cNvSpPr txBox="1"/>
          <p:nvPr/>
        </p:nvSpPr>
        <p:spPr>
          <a:xfrm>
            <a:off x="2492120" y="4114038"/>
            <a:ext cx="119380" cy="208279"/>
          </a:xfrm>
          <a:prstGeom prst="rect">
            <a:avLst/>
          </a:prstGeom>
        </p:spPr>
        <p:txBody>
          <a:bodyPr vert="horz" wrap="square" lIns="0" tIns="1270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sz="1200" b="0" i="0" u="none" strike="noStrike" kern="0" cap="none" spc="-50" normalizeH="0" baseline="0" noProof="0">
                <a:ln>
                  <a:noFill/>
                </a:ln>
                <a:solidFill>
                  <a:srgbClr val="FFFFFF"/>
                </a:solidFill>
                <a:effectLst/>
                <a:uLnTx/>
                <a:uFillTx/>
                <a:latin typeface="Trebuchet MS"/>
                <a:cs typeface="Trebuchet MS"/>
              </a:rPr>
              <a:t>D</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p:txBody>
      </p:sp>
      <p:grpSp>
        <p:nvGrpSpPr>
          <p:cNvPr id="32" name="object 32"/>
          <p:cNvGrpSpPr/>
          <p:nvPr/>
        </p:nvGrpSpPr>
        <p:grpSpPr>
          <a:xfrm>
            <a:off x="2688145" y="4742497"/>
            <a:ext cx="317500" cy="317500"/>
            <a:chOff x="2688145" y="4742497"/>
            <a:chExt cx="317500" cy="317500"/>
          </a:xfrm>
        </p:grpSpPr>
        <p:sp>
          <p:nvSpPr>
            <p:cNvPr id="33" name="object 33"/>
            <p:cNvSpPr/>
            <p:nvPr/>
          </p:nvSpPr>
          <p:spPr>
            <a:xfrm>
              <a:off x="2692907" y="4747259"/>
              <a:ext cx="307975" cy="307975"/>
            </a:xfrm>
            <a:custGeom>
              <a:avLst/>
              <a:gdLst/>
              <a:ahLst/>
              <a:cxnLst/>
              <a:rect l="l" t="t" r="r" b="b"/>
              <a:pathLst>
                <a:path w="307975" h="307975">
                  <a:moveTo>
                    <a:pt x="153924" y="0"/>
                  </a:moveTo>
                  <a:lnTo>
                    <a:pt x="105290" y="7851"/>
                  </a:lnTo>
                  <a:lnTo>
                    <a:pt x="63038" y="29711"/>
                  </a:lnTo>
                  <a:lnTo>
                    <a:pt x="29711" y="63038"/>
                  </a:lnTo>
                  <a:lnTo>
                    <a:pt x="7851" y="105290"/>
                  </a:lnTo>
                  <a:lnTo>
                    <a:pt x="0" y="153923"/>
                  </a:lnTo>
                  <a:lnTo>
                    <a:pt x="7851" y="202557"/>
                  </a:lnTo>
                  <a:lnTo>
                    <a:pt x="29711" y="244809"/>
                  </a:lnTo>
                  <a:lnTo>
                    <a:pt x="63038" y="278136"/>
                  </a:lnTo>
                  <a:lnTo>
                    <a:pt x="105290" y="299996"/>
                  </a:lnTo>
                  <a:lnTo>
                    <a:pt x="153924" y="307847"/>
                  </a:lnTo>
                  <a:lnTo>
                    <a:pt x="202557" y="299996"/>
                  </a:lnTo>
                  <a:lnTo>
                    <a:pt x="244809" y="278136"/>
                  </a:lnTo>
                  <a:lnTo>
                    <a:pt x="278136" y="244809"/>
                  </a:lnTo>
                  <a:lnTo>
                    <a:pt x="299996" y="202557"/>
                  </a:lnTo>
                  <a:lnTo>
                    <a:pt x="307848" y="153923"/>
                  </a:lnTo>
                  <a:lnTo>
                    <a:pt x="299996" y="105290"/>
                  </a:lnTo>
                  <a:lnTo>
                    <a:pt x="278136" y="63038"/>
                  </a:lnTo>
                  <a:lnTo>
                    <a:pt x="244809" y="29711"/>
                  </a:lnTo>
                  <a:lnTo>
                    <a:pt x="202557" y="7851"/>
                  </a:lnTo>
                  <a:lnTo>
                    <a:pt x="153924" y="0"/>
                  </a:lnTo>
                  <a:close/>
                </a:path>
              </a:pathLst>
            </a:custGeom>
            <a:solidFill>
              <a:srgbClr val="187955"/>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34" name="object 34"/>
            <p:cNvSpPr/>
            <p:nvPr/>
          </p:nvSpPr>
          <p:spPr>
            <a:xfrm>
              <a:off x="2692907" y="4747259"/>
              <a:ext cx="307975" cy="307975"/>
            </a:xfrm>
            <a:custGeom>
              <a:avLst/>
              <a:gdLst/>
              <a:ahLst/>
              <a:cxnLst/>
              <a:rect l="l" t="t" r="r" b="b"/>
              <a:pathLst>
                <a:path w="307975" h="307975">
                  <a:moveTo>
                    <a:pt x="0" y="153923"/>
                  </a:moveTo>
                  <a:lnTo>
                    <a:pt x="7851" y="105290"/>
                  </a:lnTo>
                  <a:lnTo>
                    <a:pt x="29711" y="63038"/>
                  </a:lnTo>
                  <a:lnTo>
                    <a:pt x="63038" y="29711"/>
                  </a:lnTo>
                  <a:lnTo>
                    <a:pt x="105290" y="7851"/>
                  </a:lnTo>
                  <a:lnTo>
                    <a:pt x="153924" y="0"/>
                  </a:lnTo>
                  <a:lnTo>
                    <a:pt x="202557" y="7851"/>
                  </a:lnTo>
                  <a:lnTo>
                    <a:pt x="244809" y="29711"/>
                  </a:lnTo>
                  <a:lnTo>
                    <a:pt x="278136" y="63038"/>
                  </a:lnTo>
                  <a:lnTo>
                    <a:pt x="299996" y="105290"/>
                  </a:lnTo>
                  <a:lnTo>
                    <a:pt x="307848" y="153923"/>
                  </a:lnTo>
                  <a:lnTo>
                    <a:pt x="299996" y="202557"/>
                  </a:lnTo>
                  <a:lnTo>
                    <a:pt x="278136" y="244809"/>
                  </a:lnTo>
                  <a:lnTo>
                    <a:pt x="244809" y="278136"/>
                  </a:lnTo>
                  <a:lnTo>
                    <a:pt x="202557" y="299996"/>
                  </a:lnTo>
                  <a:lnTo>
                    <a:pt x="153924" y="307847"/>
                  </a:lnTo>
                  <a:lnTo>
                    <a:pt x="105290" y="299996"/>
                  </a:lnTo>
                  <a:lnTo>
                    <a:pt x="63038" y="278136"/>
                  </a:lnTo>
                  <a:lnTo>
                    <a:pt x="29711" y="244809"/>
                  </a:lnTo>
                  <a:lnTo>
                    <a:pt x="7851" y="202557"/>
                  </a:lnTo>
                  <a:lnTo>
                    <a:pt x="0" y="153923"/>
                  </a:lnTo>
                  <a:close/>
                </a:path>
              </a:pathLst>
            </a:custGeom>
            <a:ln w="9525">
              <a:solidFill>
                <a:srgbClr val="FFFFFF"/>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grpSp>
      <p:sp>
        <p:nvSpPr>
          <p:cNvPr id="35" name="object 35"/>
          <p:cNvSpPr txBox="1"/>
          <p:nvPr/>
        </p:nvSpPr>
        <p:spPr>
          <a:xfrm>
            <a:off x="2793873" y="4793742"/>
            <a:ext cx="107314" cy="208279"/>
          </a:xfrm>
          <a:prstGeom prst="rect">
            <a:avLst/>
          </a:prstGeom>
        </p:spPr>
        <p:txBody>
          <a:bodyPr vert="horz" wrap="square" lIns="0" tIns="1270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sz="1200" b="0" i="0" u="none" strike="noStrike" kern="0" cap="none" spc="-50" normalizeH="0" baseline="0" noProof="0">
                <a:ln>
                  <a:noFill/>
                </a:ln>
                <a:solidFill>
                  <a:srgbClr val="FFFFFF"/>
                </a:solidFill>
                <a:effectLst/>
                <a:uLnTx/>
                <a:uFillTx/>
                <a:latin typeface="Trebuchet MS"/>
                <a:cs typeface="Trebuchet MS"/>
              </a:rPr>
              <a:t>E</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p:txBody>
      </p:sp>
      <p:grpSp>
        <p:nvGrpSpPr>
          <p:cNvPr id="36" name="object 36"/>
          <p:cNvGrpSpPr/>
          <p:nvPr/>
        </p:nvGrpSpPr>
        <p:grpSpPr>
          <a:xfrm>
            <a:off x="2183892" y="3264408"/>
            <a:ext cx="3203575" cy="2476500"/>
            <a:chOff x="2183892" y="3264408"/>
            <a:chExt cx="3203575" cy="2476500"/>
          </a:xfrm>
        </p:grpSpPr>
        <p:pic>
          <p:nvPicPr>
            <p:cNvPr id="37" name="object 37"/>
            <p:cNvPicPr/>
            <p:nvPr/>
          </p:nvPicPr>
          <p:blipFill>
            <a:blip r:embed="rId6" cstate="print"/>
            <a:stretch>
              <a:fillRect/>
            </a:stretch>
          </p:blipFill>
          <p:spPr>
            <a:xfrm>
              <a:off x="3979164" y="5428488"/>
              <a:ext cx="294259" cy="312420"/>
            </a:xfrm>
            <a:prstGeom prst="rect">
              <a:avLst/>
            </a:prstGeom>
          </p:spPr>
        </p:pic>
        <p:sp>
          <p:nvSpPr>
            <p:cNvPr id="38" name="object 38"/>
            <p:cNvSpPr/>
            <p:nvPr/>
          </p:nvSpPr>
          <p:spPr>
            <a:xfrm>
              <a:off x="4231513" y="4064507"/>
              <a:ext cx="556895" cy="986155"/>
            </a:xfrm>
            <a:custGeom>
              <a:avLst/>
              <a:gdLst/>
              <a:ahLst/>
              <a:cxnLst/>
              <a:rect l="l" t="t" r="r" b="b"/>
              <a:pathLst>
                <a:path w="556895" h="986154">
                  <a:moveTo>
                    <a:pt x="150495" y="986028"/>
                  </a:moveTo>
                  <a:lnTo>
                    <a:pt x="119380" y="938784"/>
                  </a:lnTo>
                  <a:lnTo>
                    <a:pt x="93726" y="938784"/>
                  </a:lnTo>
                  <a:lnTo>
                    <a:pt x="110363" y="912241"/>
                  </a:lnTo>
                  <a:lnTo>
                    <a:pt x="61493" y="917448"/>
                  </a:lnTo>
                  <a:lnTo>
                    <a:pt x="26301" y="934834"/>
                  </a:lnTo>
                  <a:lnTo>
                    <a:pt x="6350" y="967486"/>
                  </a:lnTo>
                  <a:lnTo>
                    <a:pt x="0" y="983107"/>
                  </a:lnTo>
                  <a:lnTo>
                    <a:pt x="1778" y="986028"/>
                  </a:lnTo>
                  <a:lnTo>
                    <a:pt x="150495" y="986028"/>
                  </a:lnTo>
                  <a:close/>
                </a:path>
                <a:path w="556895" h="986154">
                  <a:moveTo>
                    <a:pt x="180213" y="929132"/>
                  </a:moveTo>
                  <a:lnTo>
                    <a:pt x="179705" y="927862"/>
                  </a:lnTo>
                  <a:lnTo>
                    <a:pt x="178816" y="927735"/>
                  </a:lnTo>
                  <a:lnTo>
                    <a:pt x="175514" y="926846"/>
                  </a:lnTo>
                  <a:lnTo>
                    <a:pt x="168783" y="925449"/>
                  </a:lnTo>
                  <a:lnTo>
                    <a:pt x="158115" y="925449"/>
                  </a:lnTo>
                  <a:lnTo>
                    <a:pt x="151003" y="926846"/>
                  </a:lnTo>
                  <a:lnTo>
                    <a:pt x="147574" y="927735"/>
                  </a:lnTo>
                  <a:lnTo>
                    <a:pt x="146685" y="927862"/>
                  </a:lnTo>
                  <a:lnTo>
                    <a:pt x="146050" y="929132"/>
                  </a:lnTo>
                  <a:lnTo>
                    <a:pt x="146685" y="930148"/>
                  </a:lnTo>
                  <a:lnTo>
                    <a:pt x="155956" y="947801"/>
                  </a:lnTo>
                  <a:lnTo>
                    <a:pt x="156210" y="948436"/>
                  </a:lnTo>
                  <a:lnTo>
                    <a:pt x="156019" y="948817"/>
                  </a:lnTo>
                  <a:lnTo>
                    <a:pt x="155956" y="986028"/>
                  </a:lnTo>
                  <a:lnTo>
                    <a:pt x="170307" y="986028"/>
                  </a:lnTo>
                  <a:lnTo>
                    <a:pt x="170307" y="948817"/>
                  </a:lnTo>
                  <a:lnTo>
                    <a:pt x="170053" y="948436"/>
                  </a:lnTo>
                  <a:lnTo>
                    <a:pt x="170053" y="947801"/>
                  </a:lnTo>
                  <a:lnTo>
                    <a:pt x="170434" y="947293"/>
                  </a:lnTo>
                  <a:lnTo>
                    <a:pt x="179705" y="930148"/>
                  </a:lnTo>
                  <a:lnTo>
                    <a:pt x="180213" y="929132"/>
                  </a:lnTo>
                  <a:close/>
                </a:path>
                <a:path w="556895" h="986154">
                  <a:moveTo>
                    <a:pt x="244475" y="815213"/>
                  </a:moveTo>
                  <a:lnTo>
                    <a:pt x="241554" y="816610"/>
                  </a:lnTo>
                  <a:lnTo>
                    <a:pt x="238252" y="817880"/>
                  </a:lnTo>
                  <a:lnTo>
                    <a:pt x="234823" y="818642"/>
                  </a:lnTo>
                  <a:lnTo>
                    <a:pt x="233426" y="821309"/>
                  </a:lnTo>
                  <a:lnTo>
                    <a:pt x="231394" y="823849"/>
                  </a:lnTo>
                  <a:lnTo>
                    <a:pt x="227965" y="825373"/>
                  </a:lnTo>
                  <a:lnTo>
                    <a:pt x="227203" y="826008"/>
                  </a:lnTo>
                  <a:lnTo>
                    <a:pt x="226568" y="826643"/>
                  </a:lnTo>
                  <a:lnTo>
                    <a:pt x="220116" y="842251"/>
                  </a:lnTo>
                  <a:lnTo>
                    <a:pt x="213093" y="857973"/>
                  </a:lnTo>
                  <a:lnTo>
                    <a:pt x="183603" y="890435"/>
                  </a:lnTo>
                  <a:lnTo>
                    <a:pt x="163195" y="897509"/>
                  </a:lnTo>
                  <a:lnTo>
                    <a:pt x="153606" y="895451"/>
                  </a:lnTo>
                  <a:lnTo>
                    <a:pt x="143662" y="890905"/>
                  </a:lnTo>
                  <a:lnTo>
                    <a:pt x="142621" y="890435"/>
                  </a:lnTo>
                  <a:lnTo>
                    <a:pt x="113169" y="857973"/>
                  </a:lnTo>
                  <a:lnTo>
                    <a:pt x="100203" y="827532"/>
                  </a:lnTo>
                  <a:lnTo>
                    <a:pt x="99695" y="826516"/>
                  </a:lnTo>
                  <a:lnTo>
                    <a:pt x="98806" y="825627"/>
                  </a:lnTo>
                  <a:lnTo>
                    <a:pt x="97663" y="825246"/>
                  </a:lnTo>
                  <a:lnTo>
                    <a:pt x="92964" y="823468"/>
                  </a:lnTo>
                  <a:lnTo>
                    <a:pt x="90678" y="817372"/>
                  </a:lnTo>
                  <a:lnTo>
                    <a:pt x="89535" y="812419"/>
                  </a:lnTo>
                  <a:lnTo>
                    <a:pt x="87249" y="812419"/>
                  </a:lnTo>
                  <a:lnTo>
                    <a:pt x="86487" y="812165"/>
                  </a:lnTo>
                  <a:lnTo>
                    <a:pt x="85979" y="812038"/>
                  </a:lnTo>
                  <a:lnTo>
                    <a:pt x="85598" y="812038"/>
                  </a:lnTo>
                  <a:lnTo>
                    <a:pt x="85344" y="811784"/>
                  </a:lnTo>
                  <a:lnTo>
                    <a:pt x="81407" y="808228"/>
                  </a:lnTo>
                  <a:lnTo>
                    <a:pt x="81026" y="807720"/>
                  </a:lnTo>
                  <a:lnTo>
                    <a:pt x="81673" y="813231"/>
                  </a:lnTo>
                  <a:lnTo>
                    <a:pt x="83604" y="820127"/>
                  </a:lnTo>
                  <a:lnTo>
                    <a:pt x="87325" y="826858"/>
                  </a:lnTo>
                  <a:lnTo>
                    <a:pt x="93345" y="831850"/>
                  </a:lnTo>
                  <a:lnTo>
                    <a:pt x="98132" y="843610"/>
                  </a:lnTo>
                  <a:lnTo>
                    <a:pt x="105168" y="859663"/>
                  </a:lnTo>
                  <a:lnTo>
                    <a:pt x="112788" y="874966"/>
                  </a:lnTo>
                  <a:lnTo>
                    <a:pt x="119380" y="884428"/>
                  </a:lnTo>
                  <a:lnTo>
                    <a:pt x="119634" y="884555"/>
                  </a:lnTo>
                  <a:lnTo>
                    <a:pt x="119888" y="884809"/>
                  </a:lnTo>
                  <a:lnTo>
                    <a:pt x="120142" y="884936"/>
                  </a:lnTo>
                  <a:lnTo>
                    <a:pt x="120142" y="909955"/>
                  </a:lnTo>
                  <a:lnTo>
                    <a:pt x="122301" y="911733"/>
                  </a:lnTo>
                  <a:lnTo>
                    <a:pt x="124980" y="913917"/>
                  </a:lnTo>
                  <a:lnTo>
                    <a:pt x="128143" y="916559"/>
                  </a:lnTo>
                  <a:lnTo>
                    <a:pt x="128143" y="890905"/>
                  </a:lnTo>
                  <a:lnTo>
                    <a:pt x="136499" y="896175"/>
                  </a:lnTo>
                  <a:lnTo>
                    <a:pt x="145605" y="900785"/>
                  </a:lnTo>
                  <a:lnTo>
                    <a:pt x="154800" y="904113"/>
                  </a:lnTo>
                  <a:lnTo>
                    <a:pt x="163195" y="905383"/>
                  </a:lnTo>
                  <a:lnTo>
                    <a:pt x="171488" y="904113"/>
                  </a:lnTo>
                  <a:lnTo>
                    <a:pt x="180619" y="900772"/>
                  </a:lnTo>
                  <a:lnTo>
                    <a:pt x="187045" y="897509"/>
                  </a:lnTo>
                  <a:lnTo>
                    <a:pt x="189776" y="896124"/>
                  </a:lnTo>
                  <a:lnTo>
                    <a:pt x="197993" y="891032"/>
                  </a:lnTo>
                  <a:lnTo>
                    <a:pt x="197993" y="916432"/>
                  </a:lnTo>
                  <a:lnTo>
                    <a:pt x="201041" y="913892"/>
                  </a:lnTo>
                  <a:lnTo>
                    <a:pt x="203708" y="911733"/>
                  </a:lnTo>
                  <a:lnTo>
                    <a:pt x="205867" y="909955"/>
                  </a:lnTo>
                  <a:lnTo>
                    <a:pt x="205867" y="891032"/>
                  </a:lnTo>
                  <a:lnTo>
                    <a:pt x="205867" y="885190"/>
                  </a:lnTo>
                  <a:lnTo>
                    <a:pt x="228219" y="843318"/>
                  </a:lnTo>
                  <a:lnTo>
                    <a:pt x="233045" y="831723"/>
                  </a:lnTo>
                  <a:lnTo>
                    <a:pt x="240665" y="827151"/>
                  </a:lnTo>
                  <a:lnTo>
                    <a:pt x="243332" y="819912"/>
                  </a:lnTo>
                  <a:lnTo>
                    <a:pt x="244475" y="815213"/>
                  </a:lnTo>
                  <a:close/>
                </a:path>
                <a:path w="556895" h="986154">
                  <a:moveTo>
                    <a:pt x="249301" y="802894"/>
                  </a:moveTo>
                  <a:lnTo>
                    <a:pt x="244602" y="796036"/>
                  </a:lnTo>
                  <a:lnTo>
                    <a:pt x="243078" y="789559"/>
                  </a:lnTo>
                  <a:lnTo>
                    <a:pt x="243459" y="785241"/>
                  </a:lnTo>
                  <a:lnTo>
                    <a:pt x="243967" y="780415"/>
                  </a:lnTo>
                  <a:lnTo>
                    <a:pt x="243840" y="770001"/>
                  </a:lnTo>
                  <a:lnTo>
                    <a:pt x="240385" y="752348"/>
                  </a:lnTo>
                  <a:lnTo>
                    <a:pt x="237667" y="738416"/>
                  </a:lnTo>
                  <a:lnTo>
                    <a:pt x="220687" y="712622"/>
                  </a:lnTo>
                  <a:lnTo>
                    <a:pt x="195186" y="695236"/>
                  </a:lnTo>
                  <a:lnTo>
                    <a:pt x="163449" y="688848"/>
                  </a:lnTo>
                  <a:lnTo>
                    <a:pt x="131749" y="695236"/>
                  </a:lnTo>
                  <a:lnTo>
                    <a:pt x="106248" y="712622"/>
                  </a:lnTo>
                  <a:lnTo>
                    <a:pt x="89242" y="738416"/>
                  </a:lnTo>
                  <a:lnTo>
                    <a:pt x="83058" y="770001"/>
                  </a:lnTo>
                  <a:lnTo>
                    <a:pt x="83350" y="778891"/>
                  </a:lnTo>
                  <a:lnTo>
                    <a:pt x="84201" y="788568"/>
                  </a:lnTo>
                  <a:lnTo>
                    <a:pt x="84328" y="789559"/>
                  </a:lnTo>
                  <a:lnTo>
                    <a:pt x="85674" y="798029"/>
                  </a:lnTo>
                  <a:lnTo>
                    <a:pt x="87630" y="803402"/>
                  </a:lnTo>
                  <a:lnTo>
                    <a:pt x="92710" y="801255"/>
                  </a:lnTo>
                  <a:lnTo>
                    <a:pt x="97929" y="788568"/>
                  </a:lnTo>
                  <a:lnTo>
                    <a:pt x="105930" y="771702"/>
                  </a:lnTo>
                  <a:lnTo>
                    <a:pt x="119380" y="757047"/>
                  </a:lnTo>
                  <a:lnTo>
                    <a:pt x="121666" y="755396"/>
                  </a:lnTo>
                  <a:lnTo>
                    <a:pt x="127127" y="752348"/>
                  </a:lnTo>
                  <a:lnTo>
                    <a:pt x="162242" y="760590"/>
                  </a:lnTo>
                  <a:lnTo>
                    <a:pt x="191274" y="779233"/>
                  </a:lnTo>
                  <a:lnTo>
                    <a:pt x="224663" y="810006"/>
                  </a:lnTo>
                  <a:lnTo>
                    <a:pt x="231876" y="810780"/>
                  </a:lnTo>
                  <a:lnTo>
                    <a:pt x="239979" y="808126"/>
                  </a:lnTo>
                  <a:lnTo>
                    <a:pt x="246570" y="804633"/>
                  </a:lnTo>
                  <a:lnTo>
                    <a:pt x="249301" y="802894"/>
                  </a:lnTo>
                  <a:close/>
                </a:path>
                <a:path w="556895" h="986154">
                  <a:moveTo>
                    <a:pt x="325882" y="983107"/>
                  </a:moveTo>
                  <a:lnTo>
                    <a:pt x="299466" y="934834"/>
                  </a:lnTo>
                  <a:lnTo>
                    <a:pt x="264490" y="917448"/>
                  </a:lnTo>
                  <a:lnTo>
                    <a:pt x="223380" y="912507"/>
                  </a:lnTo>
                  <a:lnTo>
                    <a:pt x="215900" y="912241"/>
                  </a:lnTo>
                  <a:lnTo>
                    <a:pt x="232410" y="938784"/>
                  </a:lnTo>
                  <a:lnTo>
                    <a:pt x="206883" y="938784"/>
                  </a:lnTo>
                  <a:lnTo>
                    <a:pt x="175768" y="986028"/>
                  </a:lnTo>
                  <a:lnTo>
                    <a:pt x="324104" y="986028"/>
                  </a:lnTo>
                  <a:lnTo>
                    <a:pt x="325882" y="983107"/>
                  </a:lnTo>
                  <a:close/>
                </a:path>
                <a:path w="556895" h="986154">
                  <a:moveTo>
                    <a:pt x="406527" y="158242"/>
                  </a:moveTo>
                  <a:lnTo>
                    <a:pt x="405638" y="157353"/>
                  </a:lnTo>
                  <a:lnTo>
                    <a:pt x="371983" y="157353"/>
                  </a:lnTo>
                  <a:lnTo>
                    <a:pt x="371348" y="158242"/>
                  </a:lnTo>
                  <a:lnTo>
                    <a:pt x="371348" y="205994"/>
                  </a:lnTo>
                  <a:lnTo>
                    <a:pt x="371983" y="206756"/>
                  </a:lnTo>
                  <a:lnTo>
                    <a:pt x="405638" y="206756"/>
                  </a:lnTo>
                  <a:lnTo>
                    <a:pt x="406527" y="205994"/>
                  </a:lnTo>
                  <a:lnTo>
                    <a:pt x="406527" y="158242"/>
                  </a:lnTo>
                  <a:close/>
                </a:path>
                <a:path w="556895" h="986154">
                  <a:moveTo>
                    <a:pt x="406527" y="99441"/>
                  </a:moveTo>
                  <a:lnTo>
                    <a:pt x="405638" y="98806"/>
                  </a:lnTo>
                  <a:lnTo>
                    <a:pt x="371983" y="98806"/>
                  </a:lnTo>
                  <a:lnTo>
                    <a:pt x="371348" y="99441"/>
                  </a:lnTo>
                  <a:lnTo>
                    <a:pt x="371348" y="146812"/>
                  </a:lnTo>
                  <a:lnTo>
                    <a:pt x="371983" y="147701"/>
                  </a:lnTo>
                  <a:lnTo>
                    <a:pt x="405638" y="147701"/>
                  </a:lnTo>
                  <a:lnTo>
                    <a:pt x="406527" y="146812"/>
                  </a:lnTo>
                  <a:lnTo>
                    <a:pt x="406527" y="99441"/>
                  </a:lnTo>
                  <a:close/>
                </a:path>
                <a:path w="556895" h="986154">
                  <a:moveTo>
                    <a:pt x="406527" y="40259"/>
                  </a:moveTo>
                  <a:lnTo>
                    <a:pt x="405638" y="39370"/>
                  </a:lnTo>
                  <a:lnTo>
                    <a:pt x="371983" y="39370"/>
                  </a:lnTo>
                  <a:lnTo>
                    <a:pt x="371348" y="40259"/>
                  </a:lnTo>
                  <a:lnTo>
                    <a:pt x="371348" y="88011"/>
                  </a:lnTo>
                  <a:lnTo>
                    <a:pt x="371983" y="88773"/>
                  </a:lnTo>
                  <a:lnTo>
                    <a:pt x="405638" y="88773"/>
                  </a:lnTo>
                  <a:lnTo>
                    <a:pt x="406527" y="88011"/>
                  </a:lnTo>
                  <a:lnTo>
                    <a:pt x="406527" y="40259"/>
                  </a:lnTo>
                  <a:close/>
                </a:path>
                <a:path w="556895" h="986154">
                  <a:moveTo>
                    <a:pt x="433324" y="237109"/>
                  </a:moveTo>
                  <a:lnTo>
                    <a:pt x="432562" y="236474"/>
                  </a:lnTo>
                  <a:lnTo>
                    <a:pt x="390017" y="236474"/>
                  </a:lnTo>
                  <a:lnTo>
                    <a:pt x="389255" y="237109"/>
                  </a:lnTo>
                  <a:lnTo>
                    <a:pt x="389255" y="296799"/>
                  </a:lnTo>
                  <a:lnTo>
                    <a:pt x="390017" y="297434"/>
                  </a:lnTo>
                  <a:lnTo>
                    <a:pt x="432562" y="297434"/>
                  </a:lnTo>
                  <a:lnTo>
                    <a:pt x="433324" y="296799"/>
                  </a:lnTo>
                  <a:lnTo>
                    <a:pt x="433324" y="237109"/>
                  </a:lnTo>
                  <a:close/>
                </a:path>
                <a:path w="556895" h="986154">
                  <a:moveTo>
                    <a:pt x="454533" y="158242"/>
                  </a:moveTo>
                  <a:lnTo>
                    <a:pt x="453644" y="157353"/>
                  </a:lnTo>
                  <a:lnTo>
                    <a:pt x="419862" y="157353"/>
                  </a:lnTo>
                  <a:lnTo>
                    <a:pt x="418846" y="158242"/>
                  </a:lnTo>
                  <a:lnTo>
                    <a:pt x="418846" y="205994"/>
                  </a:lnTo>
                  <a:lnTo>
                    <a:pt x="419862" y="206756"/>
                  </a:lnTo>
                  <a:lnTo>
                    <a:pt x="453644" y="206756"/>
                  </a:lnTo>
                  <a:lnTo>
                    <a:pt x="454533" y="205994"/>
                  </a:lnTo>
                  <a:lnTo>
                    <a:pt x="454533" y="158242"/>
                  </a:lnTo>
                  <a:close/>
                </a:path>
                <a:path w="556895" h="986154">
                  <a:moveTo>
                    <a:pt x="454533" y="99441"/>
                  </a:moveTo>
                  <a:lnTo>
                    <a:pt x="453644" y="98806"/>
                  </a:lnTo>
                  <a:lnTo>
                    <a:pt x="419862" y="98806"/>
                  </a:lnTo>
                  <a:lnTo>
                    <a:pt x="418846" y="99441"/>
                  </a:lnTo>
                  <a:lnTo>
                    <a:pt x="418846" y="146812"/>
                  </a:lnTo>
                  <a:lnTo>
                    <a:pt x="419862" y="147701"/>
                  </a:lnTo>
                  <a:lnTo>
                    <a:pt x="453644" y="147701"/>
                  </a:lnTo>
                  <a:lnTo>
                    <a:pt x="454533" y="146812"/>
                  </a:lnTo>
                  <a:lnTo>
                    <a:pt x="454533" y="99441"/>
                  </a:lnTo>
                  <a:close/>
                </a:path>
                <a:path w="556895" h="986154">
                  <a:moveTo>
                    <a:pt x="454533" y="40259"/>
                  </a:moveTo>
                  <a:lnTo>
                    <a:pt x="453644" y="39370"/>
                  </a:lnTo>
                  <a:lnTo>
                    <a:pt x="419862" y="39370"/>
                  </a:lnTo>
                  <a:lnTo>
                    <a:pt x="418846" y="40259"/>
                  </a:lnTo>
                  <a:lnTo>
                    <a:pt x="418846" y="88011"/>
                  </a:lnTo>
                  <a:lnTo>
                    <a:pt x="419862" y="88773"/>
                  </a:lnTo>
                  <a:lnTo>
                    <a:pt x="453644" y="88773"/>
                  </a:lnTo>
                  <a:lnTo>
                    <a:pt x="454533" y="88011"/>
                  </a:lnTo>
                  <a:lnTo>
                    <a:pt x="454533" y="40259"/>
                  </a:lnTo>
                  <a:close/>
                </a:path>
                <a:path w="556895" h="986154">
                  <a:moveTo>
                    <a:pt x="484124" y="237109"/>
                  </a:moveTo>
                  <a:lnTo>
                    <a:pt x="483362" y="236474"/>
                  </a:lnTo>
                  <a:lnTo>
                    <a:pt x="441198" y="236474"/>
                  </a:lnTo>
                  <a:lnTo>
                    <a:pt x="440436" y="237109"/>
                  </a:lnTo>
                  <a:lnTo>
                    <a:pt x="440436" y="296799"/>
                  </a:lnTo>
                  <a:lnTo>
                    <a:pt x="441198" y="297434"/>
                  </a:lnTo>
                  <a:lnTo>
                    <a:pt x="483362" y="297434"/>
                  </a:lnTo>
                  <a:lnTo>
                    <a:pt x="484124" y="296799"/>
                  </a:lnTo>
                  <a:lnTo>
                    <a:pt x="484124" y="237109"/>
                  </a:lnTo>
                  <a:close/>
                </a:path>
                <a:path w="556895" h="986154">
                  <a:moveTo>
                    <a:pt x="502158" y="158242"/>
                  </a:moveTo>
                  <a:lnTo>
                    <a:pt x="501396" y="157353"/>
                  </a:lnTo>
                  <a:lnTo>
                    <a:pt x="467741" y="157353"/>
                  </a:lnTo>
                  <a:lnTo>
                    <a:pt x="466852" y="158242"/>
                  </a:lnTo>
                  <a:lnTo>
                    <a:pt x="466852" y="205994"/>
                  </a:lnTo>
                  <a:lnTo>
                    <a:pt x="467741" y="206756"/>
                  </a:lnTo>
                  <a:lnTo>
                    <a:pt x="501396" y="206756"/>
                  </a:lnTo>
                  <a:lnTo>
                    <a:pt x="502158" y="205994"/>
                  </a:lnTo>
                  <a:lnTo>
                    <a:pt x="502158" y="158242"/>
                  </a:lnTo>
                  <a:close/>
                </a:path>
                <a:path w="556895" h="986154">
                  <a:moveTo>
                    <a:pt x="502158" y="99441"/>
                  </a:moveTo>
                  <a:lnTo>
                    <a:pt x="501396" y="98806"/>
                  </a:lnTo>
                  <a:lnTo>
                    <a:pt x="467741" y="98806"/>
                  </a:lnTo>
                  <a:lnTo>
                    <a:pt x="466852" y="99441"/>
                  </a:lnTo>
                  <a:lnTo>
                    <a:pt x="466852" y="146812"/>
                  </a:lnTo>
                  <a:lnTo>
                    <a:pt x="467741" y="147701"/>
                  </a:lnTo>
                  <a:lnTo>
                    <a:pt x="501396" y="147701"/>
                  </a:lnTo>
                  <a:lnTo>
                    <a:pt x="502158" y="146812"/>
                  </a:lnTo>
                  <a:lnTo>
                    <a:pt x="502158" y="99441"/>
                  </a:lnTo>
                  <a:close/>
                </a:path>
                <a:path w="556895" h="986154">
                  <a:moveTo>
                    <a:pt x="502158" y="40259"/>
                  </a:moveTo>
                  <a:lnTo>
                    <a:pt x="501396" y="39370"/>
                  </a:lnTo>
                  <a:lnTo>
                    <a:pt x="467741" y="39370"/>
                  </a:lnTo>
                  <a:lnTo>
                    <a:pt x="466852" y="40259"/>
                  </a:lnTo>
                  <a:lnTo>
                    <a:pt x="466852" y="88011"/>
                  </a:lnTo>
                  <a:lnTo>
                    <a:pt x="467741" y="88773"/>
                  </a:lnTo>
                  <a:lnTo>
                    <a:pt x="501396" y="88773"/>
                  </a:lnTo>
                  <a:lnTo>
                    <a:pt x="502158" y="88011"/>
                  </a:lnTo>
                  <a:lnTo>
                    <a:pt x="502158" y="40259"/>
                  </a:lnTo>
                  <a:close/>
                </a:path>
                <a:path w="556895" h="986154">
                  <a:moveTo>
                    <a:pt x="540131" y="14605"/>
                  </a:moveTo>
                  <a:lnTo>
                    <a:pt x="538353" y="12827"/>
                  </a:lnTo>
                  <a:lnTo>
                    <a:pt x="524764" y="12827"/>
                  </a:lnTo>
                  <a:lnTo>
                    <a:pt x="524497" y="12446"/>
                  </a:lnTo>
                  <a:lnTo>
                    <a:pt x="521271" y="7620"/>
                  </a:lnTo>
                  <a:lnTo>
                    <a:pt x="517271" y="1651"/>
                  </a:lnTo>
                  <a:lnTo>
                    <a:pt x="516636" y="508"/>
                  </a:lnTo>
                  <a:lnTo>
                    <a:pt x="515747" y="152"/>
                  </a:lnTo>
                  <a:lnTo>
                    <a:pt x="515747" y="12446"/>
                  </a:lnTo>
                  <a:lnTo>
                    <a:pt x="357759" y="12446"/>
                  </a:lnTo>
                  <a:lnTo>
                    <a:pt x="360934" y="7620"/>
                  </a:lnTo>
                  <a:lnTo>
                    <a:pt x="512445" y="7620"/>
                  </a:lnTo>
                  <a:lnTo>
                    <a:pt x="515747" y="12446"/>
                  </a:lnTo>
                  <a:lnTo>
                    <a:pt x="515747" y="152"/>
                  </a:lnTo>
                  <a:lnTo>
                    <a:pt x="515366" y="0"/>
                  </a:lnTo>
                  <a:lnTo>
                    <a:pt x="357378" y="0"/>
                  </a:lnTo>
                  <a:lnTo>
                    <a:pt x="356108" y="508"/>
                  </a:lnTo>
                  <a:lnTo>
                    <a:pt x="347853" y="12827"/>
                  </a:lnTo>
                  <a:lnTo>
                    <a:pt x="334264" y="12827"/>
                  </a:lnTo>
                  <a:lnTo>
                    <a:pt x="332486" y="14605"/>
                  </a:lnTo>
                  <a:lnTo>
                    <a:pt x="332486" y="30226"/>
                  </a:lnTo>
                  <a:lnTo>
                    <a:pt x="334264" y="32131"/>
                  </a:lnTo>
                  <a:lnTo>
                    <a:pt x="338455" y="32131"/>
                  </a:lnTo>
                  <a:lnTo>
                    <a:pt x="338455" y="297434"/>
                  </a:lnTo>
                  <a:lnTo>
                    <a:pt x="346329" y="297434"/>
                  </a:lnTo>
                  <a:lnTo>
                    <a:pt x="346329" y="25908"/>
                  </a:lnTo>
                  <a:lnTo>
                    <a:pt x="344551" y="24130"/>
                  </a:lnTo>
                  <a:lnTo>
                    <a:pt x="340487" y="24130"/>
                  </a:lnTo>
                  <a:lnTo>
                    <a:pt x="340487" y="20701"/>
                  </a:lnTo>
                  <a:lnTo>
                    <a:pt x="532130" y="20701"/>
                  </a:lnTo>
                  <a:lnTo>
                    <a:pt x="532130" y="24130"/>
                  </a:lnTo>
                  <a:lnTo>
                    <a:pt x="528066" y="24130"/>
                  </a:lnTo>
                  <a:lnTo>
                    <a:pt x="526288" y="25908"/>
                  </a:lnTo>
                  <a:lnTo>
                    <a:pt x="526288" y="297434"/>
                  </a:lnTo>
                  <a:lnTo>
                    <a:pt x="534162" y="297434"/>
                  </a:lnTo>
                  <a:lnTo>
                    <a:pt x="534162" y="32131"/>
                  </a:lnTo>
                  <a:lnTo>
                    <a:pt x="538353" y="32131"/>
                  </a:lnTo>
                  <a:lnTo>
                    <a:pt x="540131" y="30226"/>
                  </a:lnTo>
                  <a:lnTo>
                    <a:pt x="540131" y="20701"/>
                  </a:lnTo>
                  <a:lnTo>
                    <a:pt x="540131" y="14605"/>
                  </a:lnTo>
                  <a:close/>
                </a:path>
                <a:path w="556895" h="986154">
                  <a:moveTo>
                    <a:pt x="556895" y="316230"/>
                  </a:moveTo>
                  <a:lnTo>
                    <a:pt x="555117" y="314452"/>
                  </a:lnTo>
                  <a:lnTo>
                    <a:pt x="541528" y="314452"/>
                  </a:lnTo>
                  <a:lnTo>
                    <a:pt x="541528" y="307086"/>
                  </a:lnTo>
                  <a:lnTo>
                    <a:pt x="539750" y="305435"/>
                  </a:lnTo>
                  <a:lnTo>
                    <a:pt x="332994" y="305435"/>
                  </a:lnTo>
                  <a:lnTo>
                    <a:pt x="331216" y="307086"/>
                  </a:lnTo>
                  <a:lnTo>
                    <a:pt x="331216" y="314452"/>
                  </a:lnTo>
                  <a:lnTo>
                    <a:pt x="317881" y="314452"/>
                  </a:lnTo>
                  <a:lnTo>
                    <a:pt x="316103" y="316230"/>
                  </a:lnTo>
                  <a:lnTo>
                    <a:pt x="316103" y="335153"/>
                  </a:lnTo>
                  <a:lnTo>
                    <a:pt x="317881" y="336804"/>
                  </a:lnTo>
                  <a:lnTo>
                    <a:pt x="555117" y="336804"/>
                  </a:lnTo>
                  <a:lnTo>
                    <a:pt x="556895" y="335153"/>
                  </a:lnTo>
                  <a:lnTo>
                    <a:pt x="556895" y="316230"/>
                  </a:lnTo>
                  <a:close/>
                </a:path>
              </a:pathLst>
            </a:custGeom>
            <a:solidFill>
              <a:srgbClr val="FFFFFF"/>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39" name="object 39"/>
            <p:cNvSpPr/>
            <p:nvPr/>
          </p:nvSpPr>
          <p:spPr>
            <a:xfrm>
              <a:off x="2183892" y="3264408"/>
              <a:ext cx="3203575" cy="601980"/>
            </a:xfrm>
            <a:custGeom>
              <a:avLst/>
              <a:gdLst/>
              <a:ahLst/>
              <a:cxnLst/>
              <a:rect l="l" t="t" r="r" b="b"/>
              <a:pathLst>
                <a:path w="3203575" h="601979">
                  <a:moveTo>
                    <a:pt x="3203447" y="0"/>
                  </a:moveTo>
                  <a:lnTo>
                    <a:pt x="0" y="0"/>
                  </a:lnTo>
                  <a:lnTo>
                    <a:pt x="251713" y="601979"/>
                  </a:lnTo>
                  <a:lnTo>
                    <a:pt x="2955290" y="601979"/>
                  </a:lnTo>
                  <a:lnTo>
                    <a:pt x="3203447" y="0"/>
                  </a:lnTo>
                  <a:close/>
                </a:path>
              </a:pathLst>
            </a:custGeom>
            <a:solidFill>
              <a:srgbClr val="29B974"/>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grpSp>
      <p:sp>
        <p:nvSpPr>
          <p:cNvPr id="40" name="object 40"/>
          <p:cNvSpPr txBox="1"/>
          <p:nvPr/>
        </p:nvSpPr>
        <p:spPr>
          <a:xfrm>
            <a:off x="2543682" y="3365703"/>
            <a:ext cx="1800225" cy="391795"/>
          </a:xfrm>
          <a:prstGeom prst="rect">
            <a:avLst/>
          </a:prstGeom>
        </p:spPr>
        <p:txBody>
          <a:bodyPr vert="horz" wrap="square" lIns="0" tIns="1270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sz="1200" b="0" i="0" u="none" strike="noStrike" kern="0" cap="none" spc="0" normalizeH="0" baseline="0" noProof="0">
                <a:ln>
                  <a:noFill/>
                </a:ln>
                <a:solidFill>
                  <a:srgbClr val="FFFFFF"/>
                </a:solidFill>
                <a:effectLst/>
                <a:uLnTx/>
                <a:uFillTx/>
                <a:latin typeface="Trebuchet MS"/>
                <a:cs typeface="Trebuchet MS"/>
              </a:rPr>
              <a:t>Initial</a:t>
            </a:r>
            <a:r>
              <a:rPr kumimoji="0" sz="1200" b="0" i="0" u="none" strike="noStrike" kern="0" cap="none" spc="-40" normalizeH="0" baseline="0" noProof="0">
                <a:ln>
                  <a:noFill/>
                </a:ln>
                <a:solidFill>
                  <a:srgbClr val="FFFFFF"/>
                </a:solidFill>
                <a:effectLst/>
                <a:uLnTx/>
                <a:uFillTx/>
                <a:latin typeface="Trebuchet MS"/>
                <a:cs typeface="Trebuchet MS"/>
              </a:rPr>
              <a:t> </a:t>
            </a:r>
            <a:r>
              <a:rPr kumimoji="0" sz="1200" b="0" i="0" u="none" strike="noStrike" kern="0" cap="none" spc="0" normalizeH="0" baseline="0" noProof="0">
                <a:ln>
                  <a:noFill/>
                </a:ln>
                <a:solidFill>
                  <a:srgbClr val="FFFFFF"/>
                </a:solidFill>
                <a:effectLst/>
                <a:uLnTx/>
                <a:uFillTx/>
                <a:latin typeface="Trebuchet MS"/>
                <a:cs typeface="Trebuchet MS"/>
              </a:rPr>
              <a:t>automated</a:t>
            </a:r>
            <a:r>
              <a:rPr kumimoji="0" sz="1200" b="0" i="0" u="none" strike="noStrike" kern="0" cap="none" spc="-55" normalizeH="0" baseline="0" noProof="0">
                <a:ln>
                  <a:noFill/>
                </a:ln>
                <a:solidFill>
                  <a:srgbClr val="FFFFFF"/>
                </a:solidFill>
                <a:effectLst/>
                <a:uLnTx/>
                <a:uFillTx/>
                <a:latin typeface="Trebuchet MS"/>
                <a:cs typeface="Trebuchet MS"/>
              </a:rPr>
              <a:t> </a:t>
            </a:r>
            <a:r>
              <a:rPr kumimoji="0" sz="1200" b="0" i="0" u="none" strike="noStrike" kern="0" cap="none" spc="-10" normalizeH="0" baseline="0" noProof="0">
                <a:ln>
                  <a:noFill/>
                </a:ln>
                <a:solidFill>
                  <a:srgbClr val="FFFFFF"/>
                </a:solidFill>
                <a:effectLst/>
                <a:uLnTx/>
                <a:uFillTx/>
                <a:latin typeface="Trebuchet MS"/>
                <a:cs typeface="Trebuchet MS"/>
              </a:rPr>
              <a:t>filtering</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a:p>
            <a:pPr marL="12700" marR="0" lvl="0" indent="0" defTabSz="914400" eaLnBrk="1" fontAlgn="auto" latinLnBrk="0" hangingPunct="1">
              <a:lnSpc>
                <a:spcPct val="100000"/>
              </a:lnSpc>
              <a:spcBef>
                <a:spcPts val="5"/>
              </a:spcBef>
              <a:spcAft>
                <a:spcPts val="0"/>
              </a:spcAft>
              <a:buClrTx/>
              <a:buSzTx/>
              <a:buFontTx/>
              <a:buNone/>
              <a:tabLst/>
              <a:defRPr/>
            </a:pPr>
            <a:r>
              <a:rPr kumimoji="0" sz="1200" b="0" i="0" u="none" strike="noStrike" kern="0" cap="none" spc="0" normalizeH="0" baseline="0" noProof="0">
                <a:ln>
                  <a:noFill/>
                </a:ln>
                <a:solidFill>
                  <a:srgbClr val="FFFFFF"/>
                </a:solidFill>
                <a:effectLst/>
                <a:uLnTx/>
                <a:uFillTx/>
                <a:latin typeface="Trebuchet MS"/>
                <a:cs typeface="Trebuchet MS"/>
              </a:rPr>
              <a:t>with</a:t>
            </a:r>
            <a:r>
              <a:rPr kumimoji="0" sz="1200" b="0" i="0" u="none" strike="noStrike" kern="0" cap="none" spc="-30" normalizeH="0" baseline="0" noProof="0">
                <a:ln>
                  <a:noFill/>
                </a:ln>
                <a:solidFill>
                  <a:srgbClr val="FFFFFF"/>
                </a:solidFill>
                <a:effectLst/>
                <a:uLnTx/>
                <a:uFillTx/>
                <a:latin typeface="Trebuchet MS"/>
                <a:cs typeface="Trebuchet MS"/>
              </a:rPr>
              <a:t> </a:t>
            </a:r>
            <a:r>
              <a:rPr kumimoji="0" sz="1200" b="0" i="0" u="none" strike="noStrike" kern="0" cap="none" spc="0" normalizeH="0" baseline="0" noProof="0">
                <a:ln>
                  <a:noFill/>
                </a:ln>
                <a:solidFill>
                  <a:srgbClr val="FFFFFF"/>
                </a:solidFill>
                <a:effectLst/>
                <a:uLnTx/>
                <a:uFillTx/>
                <a:latin typeface="Trebuchet MS"/>
                <a:cs typeface="Trebuchet MS"/>
              </a:rPr>
              <a:t>ETB</a:t>
            </a:r>
            <a:r>
              <a:rPr kumimoji="0" sz="1200" b="0" i="0" u="none" strike="noStrike" kern="0" cap="none" spc="-15" normalizeH="0" baseline="0" noProof="0">
                <a:ln>
                  <a:noFill/>
                </a:ln>
                <a:solidFill>
                  <a:srgbClr val="FFFFFF"/>
                </a:solidFill>
                <a:effectLst/>
                <a:uLnTx/>
                <a:uFillTx/>
                <a:latin typeface="Trebuchet MS"/>
                <a:cs typeface="Trebuchet MS"/>
              </a:rPr>
              <a:t> </a:t>
            </a:r>
            <a:r>
              <a:rPr kumimoji="0" sz="1200" b="0" i="0" u="none" strike="noStrike" kern="0" cap="none" spc="-20" normalizeH="0" baseline="0" noProof="0">
                <a:ln>
                  <a:noFill/>
                </a:ln>
                <a:solidFill>
                  <a:srgbClr val="FFFFFF"/>
                </a:solidFill>
                <a:effectLst/>
                <a:uLnTx/>
                <a:uFillTx/>
                <a:latin typeface="Trebuchet MS"/>
                <a:cs typeface="Trebuchet MS"/>
              </a:rPr>
              <a:t>data</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p:txBody>
      </p:sp>
      <p:grpSp>
        <p:nvGrpSpPr>
          <p:cNvPr id="41" name="object 41"/>
          <p:cNvGrpSpPr/>
          <p:nvPr/>
        </p:nvGrpSpPr>
        <p:grpSpPr>
          <a:xfrm>
            <a:off x="2116645" y="3402901"/>
            <a:ext cx="316230" cy="316230"/>
            <a:chOff x="2116645" y="3402901"/>
            <a:chExt cx="316230" cy="316230"/>
          </a:xfrm>
        </p:grpSpPr>
        <p:sp>
          <p:nvSpPr>
            <p:cNvPr id="42" name="object 42"/>
            <p:cNvSpPr/>
            <p:nvPr/>
          </p:nvSpPr>
          <p:spPr>
            <a:xfrm>
              <a:off x="2121407" y="3407664"/>
              <a:ext cx="306705" cy="306705"/>
            </a:xfrm>
            <a:custGeom>
              <a:avLst/>
              <a:gdLst/>
              <a:ahLst/>
              <a:cxnLst/>
              <a:rect l="l" t="t" r="r" b="b"/>
              <a:pathLst>
                <a:path w="306705" h="306704">
                  <a:moveTo>
                    <a:pt x="153162" y="0"/>
                  </a:moveTo>
                  <a:lnTo>
                    <a:pt x="104753" y="7808"/>
                  </a:lnTo>
                  <a:lnTo>
                    <a:pt x="62709" y="29553"/>
                  </a:lnTo>
                  <a:lnTo>
                    <a:pt x="29553" y="62709"/>
                  </a:lnTo>
                  <a:lnTo>
                    <a:pt x="7808" y="104753"/>
                  </a:lnTo>
                  <a:lnTo>
                    <a:pt x="0" y="153162"/>
                  </a:lnTo>
                  <a:lnTo>
                    <a:pt x="7808" y="201570"/>
                  </a:lnTo>
                  <a:lnTo>
                    <a:pt x="29553" y="243614"/>
                  </a:lnTo>
                  <a:lnTo>
                    <a:pt x="62709" y="276770"/>
                  </a:lnTo>
                  <a:lnTo>
                    <a:pt x="104753" y="298515"/>
                  </a:lnTo>
                  <a:lnTo>
                    <a:pt x="153162" y="306324"/>
                  </a:lnTo>
                  <a:lnTo>
                    <a:pt x="201570" y="298515"/>
                  </a:lnTo>
                  <a:lnTo>
                    <a:pt x="243614" y="276770"/>
                  </a:lnTo>
                  <a:lnTo>
                    <a:pt x="276770" y="243614"/>
                  </a:lnTo>
                  <a:lnTo>
                    <a:pt x="298515" y="201570"/>
                  </a:lnTo>
                  <a:lnTo>
                    <a:pt x="306324" y="153162"/>
                  </a:lnTo>
                  <a:lnTo>
                    <a:pt x="298515" y="104753"/>
                  </a:lnTo>
                  <a:lnTo>
                    <a:pt x="276770" y="62709"/>
                  </a:lnTo>
                  <a:lnTo>
                    <a:pt x="243614" y="29553"/>
                  </a:lnTo>
                  <a:lnTo>
                    <a:pt x="201570" y="7808"/>
                  </a:lnTo>
                  <a:lnTo>
                    <a:pt x="153162" y="0"/>
                  </a:lnTo>
                  <a:close/>
                </a:path>
              </a:pathLst>
            </a:custGeom>
            <a:solidFill>
              <a:srgbClr val="187955"/>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43" name="object 43"/>
            <p:cNvSpPr/>
            <p:nvPr/>
          </p:nvSpPr>
          <p:spPr>
            <a:xfrm>
              <a:off x="2121407" y="3407664"/>
              <a:ext cx="306705" cy="306705"/>
            </a:xfrm>
            <a:custGeom>
              <a:avLst/>
              <a:gdLst/>
              <a:ahLst/>
              <a:cxnLst/>
              <a:rect l="l" t="t" r="r" b="b"/>
              <a:pathLst>
                <a:path w="306705" h="306704">
                  <a:moveTo>
                    <a:pt x="0" y="153162"/>
                  </a:moveTo>
                  <a:lnTo>
                    <a:pt x="7808" y="104753"/>
                  </a:lnTo>
                  <a:lnTo>
                    <a:pt x="29553" y="62709"/>
                  </a:lnTo>
                  <a:lnTo>
                    <a:pt x="62709" y="29553"/>
                  </a:lnTo>
                  <a:lnTo>
                    <a:pt x="104753" y="7808"/>
                  </a:lnTo>
                  <a:lnTo>
                    <a:pt x="153162" y="0"/>
                  </a:lnTo>
                  <a:lnTo>
                    <a:pt x="201570" y="7808"/>
                  </a:lnTo>
                  <a:lnTo>
                    <a:pt x="243614" y="29553"/>
                  </a:lnTo>
                  <a:lnTo>
                    <a:pt x="276770" y="62709"/>
                  </a:lnTo>
                  <a:lnTo>
                    <a:pt x="298515" y="104753"/>
                  </a:lnTo>
                  <a:lnTo>
                    <a:pt x="306324" y="153162"/>
                  </a:lnTo>
                  <a:lnTo>
                    <a:pt x="298515" y="201570"/>
                  </a:lnTo>
                  <a:lnTo>
                    <a:pt x="276770" y="243614"/>
                  </a:lnTo>
                  <a:lnTo>
                    <a:pt x="243614" y="276770"/>
                  </a:lnTo>
                  <a:lnTo>
                    <a:pt x="201570" y="298515"/>
                  </a:lnTo>
                  <a:lnTo>
                    <a:pt x="153162" y="306324"/>
                  </a:lnTo>
                  <a:lnTo>
                    <a:pt x="104753" y="298515"/>
                  </a:lnTo>
                  <a:lnTo>
                    <a:pt x="62709" y="276770"/>
                  </a:lnTo>
                  <a:lnTo>
                    <a:pt x="29553" y="243614"/>
                  </a:lnTo>
                  <a:lnTo>
                    <a:pt x="7808" y="201570"/>
                  </a:lnTo>
                  <a:lnTo>
                    <a:pt x="0" y="153162"/>
                  </a:lnTo>
                  <a:close/>
                </a:path>
              </a:pathLst>
            </a:custGeom>
            <a:ln w="9525">
              <a:solidFill>
                <a:srgbClr val="FFFFFF"/>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grpSp>
      <p:sp>
        <p:nvSpPr>
          <p:cNvPr id="44" name="object 44"/>
          <p:cNvSpPr txBox="1"/>
          <p:nvPr/>
        </p:nvSpPr>
        <p:spPr>
          <a:xfrm>
            <a:off x="2216276" y="3452876"/>
            <a:ext cx="116839" cy="208279"/>
          </a:xfrm>
          <a:prstGeom prst="rect">
            <a:avLst/>
          </a:prstGeom>
        </p:spPr>
        <p:txBody>
          <a:bodyPr vert="horz" wrap="square" lIns="0" tIns="1270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sz="1200" b="0" i="0" u="none" strike="noStrike" kern="0" cap="none" spc="-50" normalizeH="0" baseline="0" noProof="0">
                <a:ln>
                  <a:noFill/>
                </a:ln>
                <a:solidFill>
                  <a:srgbClr val="FFFFFF"/>
                </a:solidFill>
                <a:effectLst/>
                <a:uLnTx/>
                <a:uFillTx/>
                <a:latin typeface="Trebuchet MS"/>
                <a:cs typeface="Trebuchet MS"/>
              </a:rPr>
              <a:t>C</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p:txBody>
      </p:sp>
      <p:grpSp>
        <p:nvGrpSpPr>
          <p:cNvPr id="45" name="object 45"/>
          <p:cNvGrpSpPr/>
          <p:nvPr/>
        </p:nvGrpSpPr>
        <p:grpSpPr>
          <a:xfrm>
            <a:off x="1863851" y="1821179"/>
            <a:ext cx="4924425" cy="4062095"/>
            <a:chOff x="1863851" y="1821179"/>
            <a:chExt cx="4924425" cy="4062095"/>
          </a:xfrm>
        </p:grpSpPr>
        <p:sp>
          <p:nvSpPr>
            <p:cNvPr id="46" name="object 46"/>
            <p:cNvSpPr/>
            <p:nvPr/>
          </p:nvSpPr>
          <p:spPr>
            <a:xfrm>
              <a:off x="4773167" y="3439667"/>
              <a:ext cx="379730" cy="251460"/>
            </a:xfrm>
            <a:custGeom>
              <a:avLst/>
              <a:gdLst/>
              <a:ahLst/>
              <a:cxnLst/>
              <a:rect l="l" t="t" r="r" b="b"/>
              <a:pathLst>
                <a:path w="379729" h="251460">
                  <a:moveTo>
                    <a:pt x="60896" y="204470"/>
                  </a:moveTo>
                  <a:lnTo>
                    <a:pt x="49530" y="204470"/>
                  </a:lnTo>
                  <a:lnTo>
                    <a:pt x="53848" y="208280"/>
                  </a:lnTo>
                  <a:lnTo>
                    <a:pt x="58420" y="212090"/>
                  </a:lnTo>
                  <a:lnTo>
                    <a:pt x="63246" y="215900"/>
                  </a:lnTo>
                  <a:lnTo>
                    <a:pt x="63627" y="238760"/>
                  </a:lnTo>
                  <a:lnTo>
                    <a:pt x="72262" y="243840"/>
                  </a:lnTo>
                  <a:lnTo>
                    <a:pt x="80264" y="246380"/>
                  </a:lnTo>
                  <a:lnTo>
                    <a:pt x="80645" y="246380"/>
                  </a:lnTo>
                  <a:lnTo>
                    <a:pt x="80899" y="247650"/>
                  </a:lnTo>
                  <a:lnTo>
                    <a:pt x="88900" y="250190"/>
                  </a:lnTo>
                  <a:lnTo>
                    <a:pt x="98425" y="251460"/>
                  </a:lnTo>
                  <a:lnTo>
                    <a:pt x="104978" y="243840"/>
                  </a:lnTo>
                  <a:lnTo>
                    <a:pt x="95504" y="243840"/>
                  </a:lnTo>
                  <a:lnTo>
                    <a:pt x="89535" y="241300"/>
                  </a:lnTo>
                  <a:lnTo>
                    <a:pt x="83312" y="240030"/>
                  </a:lnTo>
                  <a:lnTo>
                    <a:pt x="77089" y="237490"/>
                  </a:lnTo>
                  <a:lnTo>
                    <a:pt x="71374" y="234950"/>
                  </a:lnTo>
                  <a:lnTo>
                    <a:pt x="71120" y="210820"/>
                  </a:lnTo>
                  <a:lnTo>
                    <a:pt x="69342" y="209550"/>
                  </a:lnTo>
                  <a:lnTo>
                    <a:pt x="63627" y="207010"/>
                  </a:lnTo>
                  <a:lnTo>
                    <a:pt x="60896" y="204470"/>
                  </a:lnTo>
                  <a:close/>
                </a:path>
                <a:path w="379729" h="251460">
                  <a:moveTo>
                    <a:pt x="139903" y="232410"/>
                  </a:moveTo>
                  <a:lnTo>
                    <a:pt x="130302" y="232410"/>
                  </a:lnTo>
                  <a:lnTo>
                    <a:pt x="146558" y="251460"/>
                  </a:lnTo>
                  <a:lnTo>
                    <a:pt x="148971" y="251460"/>
                  </a:lnTo>
                  <a:lnTo>
                    <a:pt x="155956" y="250190"/>
                  </a:lnTo>
                  <a:lnTo>
                    <a:pt x="163830" y="247650"/>
                  </a:lnTo>
                  <a:lnTo>
                    <a:pt x="164211" y="246380"/>
                  </a:lnTo>
                  <a:lnTo>
                    <a:pt x="164592" y="246380"/>
                  </a:lnTo>
                  <a:lnTo>
                    <a:pt x="172593" y="243840"/>
                  </a:lnTo>
                  <a:lnTo>
                    <a:pt x="149352" y="243840"/>
                  </a:lnTo>
                  <a:lnTo>
                    <a:pt x="139903" y="232410"/>
                  </a:lnTo>
                  <a:close/>
                </a:path>
                <a:path w="379729" h="251460">
                  <a:moveTo>
                    <a:pt x="116459" y="224790"/>
                  </a:moveTo>
                  <a:lnTo>
                    <a:pt x="111379" y="224790"/>
                  </a:lnTo>
                  <a:lnTo>
                    <a:pt x="95504" y="243840"/>
                  </a:lnTo>
                  <a:lnTo>
                    <a:pt x="104978" y="243840"/>
                  </a:lnTo>
                  <a:lnTo>
                    <a:pt x="114808" y="232410"/>
                  </a:lnTo>
                  <a:lnTo>
                    <a:pt x="139903" y="232410"/>
                  </a:lnTo>
                  <a:lnTo>
                    <a:pt x="134653" y="226060"/>
                  </a:lnTo>
                  <a:lnTo>
                    <a:pt x="119761" y="226060"/>
                  </a:lnTo>
                  <a:lnTo>
                    <a:pt x="116459" y="224790"/>
                  </a:lnTo>
                  <a:close/>
                </a:path>
                <a:path w="379729" h="251460">
                  <a:moveTo>
                    <a:pt x="192912" y="195580"/>
                  </a:moveTo>
                  <a:lnTo>
                    <a:pt x="191516" y="198120"/>
                  </a:lnTo>
                  <a:lnTo>
                    <a:pt x="186690" y="201930"/>
                  </a:lnTo>
                  <a:lnTo>
                    <a:pt x="181483" y="207010"/>
                  </a:lnTo>
                  <a:lnTo>
                    <a:pt x="175641" y="210820"/>
                  </a:lnTo>
                  <a:lnTo>
                    <a:pt x="173609" y="210820"/>
                  </a:lnTo>
                  <a:lnTo>
                    <a:pt x="173482" y="234950"/>
                  </a:lnTo>
                  <a:lnTo>
                    <a:pt x="167894" y="237490"/>
                  </a:lnTo>
                  <a:lnTo>
                    <a:pt x="161798" y="240030"/>
                  </a:lnTo>
                  <a:lnTo>
                    <a:pt x="161544" y="240030"/>
                  </a:lnTo>
                  <a:lnTo>
                    <a:pt x="155448" y="241300"/>
                  </a:lnTo>
                  <a:lnTo>
                    <a:pt x="149352" y="243840"/>
                  </a:lnTo>
                  <a:lnTo>
                    <a:pt x="172593" y="243840"/>
                  </a:lnTo>
                  <a:lnTo>
                    <a:pt x="179197" y="240030"/>
                  </a:lnTo>
                  <a:lnTo>
                    <a:pt x="181356" y="238760"/>
                  </a:lnTo>
                  <a:lnTo>
                    <a:pt x="181610" y="215900"/>
                  </a:lnTo>
                  <a:lnTo>
                    <a:pt x="186562" y="212090"/>
                  </a:lnTo>
                  <a:lnTo>
                    <a:pt x="191262" y="208280"/>
                  </a:lnTo>
                  <a:lnTo>
                    <a:pt x="195580" y="204470"/>
                  </a:lnTo>
                  <a:lnTo>
                    <a:pt x="221310" y="204470"/>
                  </a:lnTo>
                  <a:lnTo>
                    <a:pt x="223901" y="200660"/>
                  </a:lnTo>
                  <a:lnTo>
                    <a:pt x="224620" y="199390"/>
                  </a:lnTo>
                  <a:lnTo>
                    <a:pt x="214757" y="199390"/>
                  </a:lnTo>
                  <a:lnTo>
                    <a:pt x="192912" y="195580"/>
                  </a:lnTo>
                  <a:close/>
                </a:path>
                <a:path w="379729" h="251460">
                  <a:moveTo>
                    <a:pt x="130302" y="232410"/>
                  </a:moveTo>
                  <a:lnTo>
                    <a:pt x="114808" y="232410"/>
                  </a:lnTo>
                  <a:lnTo>
                    <a:pt x="119887" y="233680"/>
                  </a:lnTo>
                  <a:lnTo>
                    <a:pt x="125095" y="233680"/>
                  </a:lnTo>
                  <a:lnTo>
                    <a:pt x="130302" y="232410"/>
                  </a:lnTo>
                  <a:close/>
                </a:path>
                <a:path w="379729" h="251460">
                  <a:moveTo>
                    <a:pt x="133604" y="224790"/>
                  </a:moveTo>
                  <a:lnTo>
                    <a:pt x="128524" y="224790"/>
                  </a:lnTo>
                  <a:lnTo>
                    <a:pt x="125603" y="226060"/>
                  </a:lnTo>
                  <a:lnTo>
                    <a:pt x="134653" y="226060"/>
                  </a:lnTo>
                  <a:lnTo>
                    <a:pt x="133604" y="224790"/>
                  </a:lnTo>
                  <a:close/>
                </a:path>
                <a:path w="379729" h="251460">
                  <a:moveTo>
                    <a:pt x="58801" y="26670"/>
                  </a:moveTo>
                  <a:lnTo>
                    <a:pt x="56769" y="27939"/>
                  </a:lnTo>
                  <a:lnTo>
                    <a:pt x="50800" y="31750"/>
                  </a:lnTo>
                  <a:lnTo>
                    <a:pt x="44323" y="36830"/>
                  </a:lnTo>
                  <a:lnTo>
                    <a:pt x="43942" y="36830"/>
                  </a:lnTo>
                  <a:lnTo>
                    <a:pt x="43815" y="38100"/>
                  </a:lnTo>
                  <a:lnTo>
                    <a:pt x="37084" y="43180"/>
                  </a:lnTo>
                  <a:lnTo>
                    <a:pt x="32258" y="48260"/>
                  </a:lnTo>
                  <a:lnTo>
                    <a:pt x="30607" y="50800"/>
                  </a:lnTo>
                  <a:lnTo>
                    <a:pt x="38227" y="72389"/>
                  </a:lnTo>
                  <a:lnTo>
                    <a:pt x="34417" y="77470"/>
                  </a:lnTo>
                  <a:lnTo>
                    <a:pt x="31242" y="82550"/>
                  </a:lnTo>
                  <a:lnTo>
                    <a:pt x="28321" y="87630"/>
                  </a:lnTo>
                  <a:lnTo>
                    <a:pt x="6350" y="92710"/>
                  </a:lnTo>
                  <a:lnTo>
                    <a:pt x="5715" y="93980"/>
                  </a:lnTo>
                  <a:lnTo>
                    <a:pt x="3556" y="101600"/>
                  </a:lnTo>
                  <a:lnTo>
                    <a:pt x="2159" y="110489"/>
                  </a:lnTo>
                  <a:lnTo>
                    <a:pt x="508" y="119380"/>
                  </a:lnTo>
                  <a:lnTo>
                    <a:pt x="0" y="128270"/>
                  </a:lnTo>
                  <a:lnTo>
                    <a:pt x="18161" y="139700"/>
                  </a:lnTo>
                  <a:lnTo>
                    <a:pt x="18796" y="146050"/>
                  </a:lnTo>
                  <a:lnTo>
                    <a:pt x="19812" y="152400"/>
                  </a:lnTo>
                  <a:lnTo>
                    <a:pt x="21844" y="160020"/>
                  </a:lnTo>
                  <a:lnTo>
                    <a:pt x="8255" y="176530"/>
                  </a:lnTo>
                  <a:lnTo>
                    <a:pt x="9144" y="179070"/>
                  </a:lnTo>
                  <a:lnTo>
                    <a:pt x="12065" y="185420"/>
                  </a:lnTo>
                  <a:lnTo>
                    <a:pt x="16383" y="193040"/>
                  </a:lnTo>
                  <a:lnTo>
                    <a:pt x="16764" y="193040"/>
                  </a:lnTo>
                  <a:lnTo>
                    <a:pt x="20955" y="200660"/>
                  </a:lnTo>
                  <a:lnTo>
                    <a:pt x="25400" y="207010"/>
                  </a:lnTo>
                  <a:lnTo>
                    <a:pt x="26924" y="208280"/>
                  </a:lnTo>
                  <a:lnTo>
                    <a:pt x="49530" y="204470"/>
                  </a:lnTo>
                  <a:lnTo>
                    <a:pt x="60896" y="204470"/>
                  </a:lnTo>
                  <a:lnTo>
                    <a:pt x="58166" y="201930"/>
                  </a:lnTo>
                  <a:lnTo>
                    <a:pt x="55943" y="199390"/>
                  </a:lnTo>
                  <a:lnTo>
                    <a:pt x="30226" y="199390"/>
                  </a:lnTo>
                  <a:lnTo>
                    <a:pt x="26543" y="194310"/>
                  </a:lnTo>
                  <a:lnTo>
                    <a:pt x="23368" y="189230"/>
                  </a:lnTo>
                  <a:lnTo>
                    <a:pt x="17399" y="177800"/>
                  </a:lnTo>
                  <a:lnTo>
                    <a:pt x="30607" y="161289"/>
                  </a:lnTo>
                  <a:lnTo>
                    <a:pt x="29972" y="158750"/>
                  </a:lnTo>
                  <a:lnTo>
                    <a:pt x="27686" y="152400"/>
                  </a:lnTo>
                  <a:lnTo>
                    <a:pt x="26289" y="144780"/>
                  </a:lnTo>
                  <a:lnTo>
                    <a:pt x="25908" y="137160"/>
                  </a:lnTo>
                  <a:lnTo>
                    <a:pt x="25654" y="134620"/>
                  </a:lnTo>
                  <a:lnTo>
                    <a:pt x="8001" y="124460"/>
                  </a:lnTo>
                  <a:lnTo>
                    <a:pt x="8509" y="118110"/>
                  </a:lnTo>
                  <a:lnTo>
                    <a:pt x="9779" y="111760"/>
                  </a:lnTo>
                  <a:lnTo>
                    <a:pt x="10922" y="105410"/>
                  </a:lnTo>
                  <a:lnTo>
                    <a:pt x="12573" y="99060"/>
                  </a:lnTo>
                  <a:lnTo>
                    <a:pt x="33655" y="95250"/>
                  </a:lnTo>
                  <a:lnTo>
                    <a:pt x="34544" y="92710"/>
                  </a:lnTo>
                  <a:lnTo>
                    <a:pt x="37592" y="86360"/>
                  </a:lnTo>
                  <a:lnTo>
                    <a:pt x="41275" y="81280"/>
                  </a:lnTo>
                  <a:lnTo>
                    <a:pt x="45720" y="74930"/>
                  </a:lnTo>
                  <a:lnTo>
                    <a:pt x="47117" y="73660"/>
                  </a:lnTo>
                  <a:lnTo>
                    <a:pt x="39624" y="52070"/>
                  </a:lnTo>
                  <a:lnTo>
                    <a:pt x="43942" y="48260"/>
                  </a:lnTo>
                  <a:lnTo>
                    <a:pt x="49022" y="43180"/>
                  </a:lnTo>
                  <a:lnTo>
                    <a:pt x="53975" y="39370"/>
                  </a:lnTo>
                  <a:lnTo>
                    <a:pt x="59055" y="35560"/>
                  </a:lnTo>
                  <a:lnTo>
                    <a:pt x="74447" y="35560"/>
                  </a:lnTo>
                  <a:lnTo>
                    <a:pt x="58801" y="26670"/>
                  </a:lnTo>
                  <a:close/>
                </a:path>
                <a:path w="379729" h="251460">
                  <a:moveTo>
                    <a:pt x="122682" y="54610"/>
                  </a:moveTo>
                  <a:lnTo>
                    <a:pt x="92874" y="60960"/>
                  </a:lnTo>
                  <a:lnTo>
                    <a:pt x="68532" y="77470"/>
                  </a:lnTo>
                  <a:lnTo>
                    <a:pt x="52119" y="101600"/>
                  </a:lnTo>
                  <a:lnTo>
                    <a:pt x="46101" y="132080"/>
                  </a:lnTo>
                  <a:lnTo>
                    <a:pt x="52119" y="161289"/>
                  </a:lnTo>
                  <a:lnTo>
                    <a:pt x="68532" y="186690"/>
                  </a:lnTo>
                  <a:lnTo>
                    <a:pt x="92874" y="203200"/>
                  </a:lnTo>
                  <a:lnTo>
                    <a:pt x="122682" y="208280"/>
                  </a:lnTo>
                  <a:lnTo>
                    <a:pt x="152489" y="203200"/>
                  </a:lnTo>
                  <a:lnTo>
                    <a:pt x="156234" y="200660"/>
                  </a:lnTo>
                  <a:lnTo>
                    <a:pt x="122682" y="200660"/>
                  </a:lnTo>
                  <a:lnTo>
                    <a:pt x="96000" y="195580"/>
                  </a:lnTo>
                  <a:lnTo>
                    <a:pt x="74199" y="180340"/>
                  </a:lnTo>
                  <a:lnTo>
                    <a:pt x="59495" y="158750"/>
                  </a:lnTo>
                  <a:lnTo>
                    <a:pt x="54102" y="132080"/>
                  </a:lnTo>
                  <a:lnTo>
                    <a:pt x="59495" y="105410"/>
                  </a:lnTo>
                  <a:lnTo>
                    <a:pt x="74199" y="82550"/>
                  </a:lnTo>
                  <a:lnTo>
                    <a:pt x="96000" y="68580"/>
                  </a:lnTo>
                  <a:lnTo>
                    <a:pt x="122682" y="63500"/>
                  </a:lnTo>
                  <a:lnTo>
                    <a:pt x="156234" y="63500"/>
                  </a:lnTo>
                  <a:lnTo>
                    <a:pt x="152489" y="60960"/>
                  </a:lnTo>
                  <a:lnTo>
                    <a:pt x="122682" y="54610"/>
                  </a:lnTo>
                  <a:close/>
                </a:path>
                <a:path w="379729" h="251460">
                  <a:moveTo>
                    <a:pt x="221310" y="204470"/>
                  </a:moveTo>
                  <a:lnTo>
                    <a:pt x="195580" y="204470"/>
                  </a:lnTo>
                  <a:lnTo>
                    <a:pt x="218186" y="208280"/>
                  </a:lnTo>
                  <a:lnTo>
                    <a:pt x="219583" y="207010"/>
                  </a:lnTo>
                  <a:lnTo>
                    <a:pt x="221310" y="204470"/>
                  </a:lnTo>
                  <a:close/>
                </a:path>
                <a:path w="379729" h="251460">
                  <a:moveTo>
                    <a:pt x="156234" y="63500"/>
                  </a:moveTo>
                  <a:lnTo>
                    <a:pt x="122682" y="63500"/>
                  </a:lnTo>
                  <a:lnTo>
                    <a:pt x="149363" y="68580"/>
                  </a:lnTo>
                  <a:lnTo>
                    <a:pt x="171164" y="82550"/>
                  </a:lnTo>
                  <a:lnTo>
                    <a:pt x="185868" y="105410"/>
                  </a:lnTo>
                  <a:lnTo>
                    <a:pt x="191262" y="132080"/>
                  </a:lnTo>
                  <a:lnTo>
                    <a:pt x="185868" y="158750"/>
                  </a:lnTo>
                  <a:lnTo>
                    <a:pt x="171164" y="180340"/>
                  </a:lnTo>
                  <a:lnTo>
                    <a:pt x="149363" y="195580"/>
                  </a:lnTo>
                  <a:lnTo>
                    <a:pt x="122682" y="200660"/>
                  </a:lnTo>
                  <a:lnTo>
                    <a:pt x="156234" y="200660"/>
                  </a:lnTo>
                  <a:lnTo>
                    <a:pt x="176831" y="186690"/>
                  </a:lnTo>
                  <a:lnTo>
                    <a:pt x="193244" y="161289"/>
                  </a:lnTo>
                  <a:lnTo>
                    <a:pt x="199262" y="132080"/>
                  </a:lnTo>
                  <a:lnTo>
                    <a:pt x="193244" y="101600"/>
                  </a:lnTo>
                  <a:lnTo>
                    <a:pt x="176831" y="77470"/>
                  </a:lnTo>
                  <a:lnTo>
                    <a:pt x="156234" y="63500"/>
                  </a:lnTo>
                  <a:close/>
                </a:path>
                <a:path w="379729" h="251460">
                  <a:moveTo>
                    <a:pt x="52197" y="195580"/>
                  </a:moveTo>
                  <a:lnTo>
                    <a:pt x="30226" y="199390"/>
                  </a:lnTo>
                  <a:lnTo>
                    <a:pt x="55943" y="199390"/>
                  </a:lnTo>
                  <a:lnTo>
                    <a:pt x="53721" y="196850"/>
                  </a:lnTo>
                  <a:lnTo>
                    <a:pt x="52197" y="195580"/>
                  </a:lnTo>
                  <a:close/>
                </a:path>
                <a:path w="379729" h="251460">
                  <a:moveTo>
                    <a:pt x="199421" y="35560"/>
                  </a:moveTo>
                  <a:lnTo>
                    <a:pt x="186055" y="35560"/>
                  </a:lnTo>
                  <a:lnTo>
                    <a:pt x="196215" y="43180"/>
                  </a:lnTo>
                  <a:lnTo>
                    <a:pt x="201295" y="48260"/>
                  </a:lnTo>
                  <a:lnTo>
                    <a:pt x="205612" y="52070"/>
                  </a:lnTo>
                  <a:lnTo>
                    <a:pt x="198247" y="73660"/>
                  </a:lnTo>
                  <a:lnTo>
                    <a:pt x="199644" y="74930"/>
                  </a:lnTo>
                  <a:lnTo>
                    <a:pt x="203962" y="81280"/>
                  </a:lnTo>
                  <a:lnTo>
                    <a:pt x="207772" y="86360"/>
                  </a:lnTo>
                  <a:lnTo>
                    <a:pt x="210820" y="93980"/>
                  </a:lnTo>
                  <a:lnTo>
                    <a:pt x="211709" y="95250"/>
                  </a:lnTo>
                  <a:lnTo>
                    <a:pt x="232537" y="99060"/>
                  </a:lnTo>
                  <a:lnTo>
                    <a:pt x="234061" y="105410"/>
                  </a:lnTo>
                  <a:lnTo>
                    <a:pt x="235204" y="111760"/>
                  </a:lnTo>
                  <a:lnTo>
                    <a:pt x="236474" y="118110"/>
                  </a:lnTo>
                  <a:lnTo>
                    <a:pt x="236982" y="124460"/>
                  </a:lnTo>
                  <a:lnTo>
                    <a:pt x="219329" y="134620"/>
                  </a:lnTo>
                  <a:lnTo>
                    <a:pt x="219265" y="138430"/>
                  </a:lnTo>
                  <a:lnTo>
                    <a:pt x="218948" y="144780"/>
                  </a:lnTo>
                  <a:lnTo>
                    <a:pt x="217551" y="152400"/>
                  </a:lnTo>
                  <a:lnTo>
                    <a:pt x="215392" y="160020"/>
                  </a:lnTo>
                  <a:lnTo>
                    <a:pt x="214630" y="161289"/>
                  </a:lnTo>
                  <a:lnTo>
                    <a:pt x="227457" y="177800"/>
                  </a:lnTo>
                  <a:lnTo>
                    <a:pt x="224917" y="182880"/>
                  </a:lnTo>
                  <a:lnTo>
                    <a:pt x="221615" y="189230"/>
                  </a:lnTo>
                  <a:lnTo>
                    <a:pt x="214757" y="199390"/>
                  </a:lnTo>
                  <a:lnTo>
                    <a:pt x="224620" y="199390"/>
                  </a:lnTo>
                  <a:lnTo>
                    <a:pt x="228219" y="193040"/>
                  </a:lnTo>
                  <a:lnTo>
                    <a:pt x="228600" y="193040"/>
                  </a:lnTo>
                  <a:lnTo>
                    <a:pt x="232791" y="185420"/>
                  </a:lnTo>
                  <a:lnTo>
                    <a:pt x="235585" y="179070"/>
                  </a:lnTo>
                  <a:lnTo>
                    <a:pt x="236728" y="176530"/>
                  </a:lnTo>
                  <a:lnTo>
                    <a:pt x="223139" y="160020"/>
                  </a:lnTo>
                  <a:lnTo>
                    <a:pt x="225171" y="153670"/>
                  </a:lnTo>
                  <a:lnTo>
                    <a:pt x="226441" y="146050"/>
                  </a:lnTo>
                  <a:lnTo>
                    <a:pt x="226949" y="139700"/>
                  </a:lnTo>
                  <a:lnTo>
                    <a:pt x="244983" y="128270"/>
                  </a:lnTo>
                  <a:lnTo>
                    <a:pt x="216916" y="87630"/>
                  </a:lnTo>
                  <a:lnTo>
                    <a:pt x="214249" y="82550"/>
                  </a:lnTo>
                  <a:lnTo>
                    <a:pt x="210947" y="77470"/>
                  </a:lnTo>
                  <a:lnTo>
                    <a:pt x="207137" y="72389"/>
                  </a:lnTo>
                  <a:lnTo>
                    <a:pt x="214757" y="50800"/>
                  </a:lnTo>
                  <a:lnTo>
                    <a:pt x="213106" y="48260"/>
                  </a:lnTo>
                  <a:lnTo>
                    <a:pt x="208026" y="43180"/>
                  </a:lnTo>
                  <a:lnTo>
                    <a:pt x="201549" y="38100"/>
                  </a:lnTo>
                  <a:lnTo>
                    <a:pt x="201168" y="36830"/>
                  </a:lnTo>
                  <a:lnTo>
                    <a:pt x="199421" y="35560"/>
                  </a:lnTo>
                  <a:close/>
                </a:path>
                <a:path w="379729" h="251460">
                  <a:moveTo>
                    <a:pt x="122555" y="97789"/>
                  </a:moveTo>
                  <a:lnTo>
                    <a:pt x="109327" y="100330"/>
                  </a:lnTo>
                  <a:lnTo>
                    <a:pt x="98552" y="107950"/>
                  </a:lnTo>
                  <a:lnTo>
                    <a:pt x="91301" y="119380"/>
                  </a:lnTo>
                  <a:lnTo>
                    <a:pt x="88646" y="132080"/>
                  </a:lnTo>
                  <a:lnTo>
                    <a:pt x="91301" y="144780"/>
                  </a:lnTo>
                  <a:lnTo>
                    <a:pt x="98552" y="156210"/>
                  </a:lnTo>
                  <a:lnTo>
                    <a:pt x="109327" y="162560"/>
                  </a:lnTo>
                  <a:lnTo>
                    <a:pt x="122555" y="165100"/>
                  </a:lnTo>
                  <a:lnTo>
                    <a:pt x="135709" y="162560"/>
                  </a:lnTo>
                  <a:lnTo>
                    <a:pt x="146446" y="156210"/>
                  </a:lnTo>
                  <a:lnTo>
                    <a:pt x="153683" y="144780"/>
                  </a:lnTo>
                  <a:lnTo>
                    <a:pt x="156337" y="132080"/>
                  </a:lnTo>
                  <a:lnTo>
                    <a:pt x="153683" y="119380"/>
                  </a:lnTo>
                  <a:lnTo>
                    <a:pt x="146446" y="107950"/>
                  </a:lnTo>
                  <a:lnTo>
                    <a:pt x="135709" y="100330"/>
                  </a:lnTo>
                  <a:lnTo>
                    <a:pt x="122555" y="97789"/>
                  </a:lnTo>
                  <a:close/>
                </a:path>
                <a:path w="379729" h="251460">
                  <a:moveTo>
                    <a:pt x="348361" y="134620"/>
                  </a:moveTo>
                  <a:lnTo>
                    <a:pt x="284988" y="134620"/>
                  </a:lnTo>
                  <a:lnTo>
                    <a:pt x="291439" y="137160"/>
                  </a:lnTo>
                  <a:lnTo>
                    <a:pt x="298021" y="138430"/>
                  </a:lnTo>
                  <a:lnTo>
                    <a:pt x="311531" y="138430"/>
                  </a:lnTo>
                  <a:lnTo>
                    <a:pt x="320802" y="146050"/>
                  </a:lnTo>
                  <a:lnTo>
                    <a:pt x="325247" y="146050"/>
                  </a:lnTo>
                  <a:lnTo>
                    <a:pt x="330327" y="143510"/>
                  </a:lnTo>
                  <a:lnTo>
                    <a:pt x="335026" y="142239"/>
                  </a:lnTo>
                  <a:lnTo>
                    <a:pt x="339725" y="139700"/>
                  </a:lnTo>
                  <a:lnTo>
                    <a:pt x="348361" y="134620"/>
                  </a:lnTo>
                  <a:close/>
                </a:path>
                <a:path w="379729" h="251460">
                  <a:moveTo>
                    <a:pt x="291846" y="0"/>
                  </a:moveTo>
                  <a:lnTo>
                    <a:pt x="281813" y="2539"/>
                  </a:lnTo>
                  <a:lnTo>
                    <a:pt x="276733" y="5080"/>
                  </a:lnTo>
                  <a:lnTo>
                    <a:pt x="271907" y="7620"/>
                  </a:lnTo>
                  <a:lnTo>
                    <a:pt x="266954" y="10160"/>
                  </a:lnTo>
                  <a:lnTo>
                    <a:pt x="263017" y="12700"/>
                  </a:lnTo>
                  <a:lnTo>
                    <a:pt x="263017" y="25400"/>
                  </a:lnTo>
                  <a:lnTo>
                    <a:pt x="256921" y="31750"/>
                  </a:lnTo>
                  <a:lnTo>
                    <a:pt x="251841" y="38100"/>
                  </a:lnTo>
                  <a:lnTo>
                    <a:pt x="248412" y="44450"/>
                  </a:lnTo>
                  <a:lnTo>
                    <a:pt x="236601" y="48260"/>
                  </a:lnTo>
                  <a:lnTo>
                    <a:pt x="234358" y="55880"/>
                  </a:lnTo>
                  <a:lnTo>
                    <a:pt x="232949" y="63500"/>
                  </a:lnTo>
                  <a:lnTo>
                    <a:pt x="232350" y="72389"/>
                  </a:lnTo>
                  <a:lnTo>
                    <a:pt x="232537" y="80010"/>
                  </a:lnTo>
                  <a:lnTo>
                    <a:pt x="242951" y="86360"/>
                  </a:lnTo>
                  <a:lnTo>
                    <a:pt x="243840" y="90170"/>
                  </a:lnTo>
                  <a:lnTo>
                    <a:pt x="245110" y="95250"/>
                  </a:lnTo>
                  <a:lnTo>
                    <a:pt x="247142" y="99060"/>
                  </a:lnTo>
                  <a:lnTo>
                    <a:pt x="250698" y="106680"/>
                  </a:lnTo>
                  <a:lnTo>
                    <a:pt x="253111" y="110489"/>
                  </a:lnTo>
                  <a:lnTo>
                    <a:pt x="250190" y="121920"/>
                  </a:lnTo>
                  <a:lnTo>
                    <a:pt x="255589" y="128270"/>
                  </a:lnTo>
                  <a:lnTo>
                    <a:pt x="261477" y="133350"/>
                  </a:lnTo>
                  <a:lnTo>
                    <a:pt x="267817" y="137160"/>
                  </a:lnTo>
                  <a:lnTo>
                    <a:pt x="274574" y="140970"/>
                  </a:lnTo>
                  <a:lnTo>
                    <a:pt x="284988" y="134620"/>
                  </a:lnTo>
                  <a:lnTo>
                    <a:pt x="348361" y="134620"/>
                  </a:lnTo>
                  <a:lnTo>
                    <a:pt x="348361" y="121920"/>
                  </a:lnTo>
                  <a:lnTo>
                    <a:pt x="353145" y="116839"/>
                  </a:lnTo>
                  <a:lnTo>
                    <a:pt x="357393" y="111760"/>
                  </a:lnTo>
                  <a:lnTo>
                    <a:pt x="361094" y="106680"/>
                  </a:lnTo>
                  <a:lnTo>
                    <a:pt x="306357" y="106680"/>
                  </a:lnTo>
                  <a:lnTo>
                    <a:pt x="294211" y="104139"/>
                  </a:lnTo>
                  <a:lnTo>
                    <a:pt x="283803" y="96520"/>
                  </a:lnTo>
                  <a:lnTo>
                    <a:pt x="276479" y="86360"/>
                  </a:lnTo>
                  <a:lnTo>
                    <a:pt x="273845" y="73660"/>
                  </a:lnTo>
                  <a:lnTo>
                    <a:pt x="276082" y="60960"/>
                  </a:lnTo>
                  <a:lnTo>
                    <a:pt x="282676" y="50800"/>
                  </a:lnTo>
                  <a:lnTo>
                    <a:pt x="293116" y="43180"/>
                  </a:lnTo>
                  <a:lnTo>
                    <a:pt x="297180" y="41910"/>
                  </a:lnTo>
                  <a:lnTo>
                    <a:pt x="301498" y="40639"/>
                  </a:lnTo>
                  <a:lnTo>
                    <a:pt x="361251" y="40639"/>
                  </a:lnTo>
                  <a:lnTo>
                    <a:pt x="360680" y="39370"/>
                  </a:lnTo>
                  <a:lnTo>
                    <a:pt x="358267" y="35560"/>
                  </a:lnTo>
                  <a:lnTo>
                    <a:pt x="360680" y="24130"/>
                  </a:lnTo>
                  <a:lnTo>
                    <a:pt x="355179" y="19050"/>
                  </a:lnTo>
                  <a:lnTo>
                    <a:pt x="349059" y="13970"/>
                  </a:lnTo>
                  <a:lnTo>
                    <a:pt x="345761" y="11430"/>
                  </a:lnTo>
                  <a:lnTo>
                    <a:pt x="324739" y="11430"/>
                  </a:lnTo>
                  <a:lnTo>
                    <a:pt x="316992" y="8889"/>
                  </a:lnTo>
                  <a:lnTo>
                    <a:pt x="301117" y="8889"/>
                  </a:lnTo>
                  <a:lnTo>
                    <a:pt x="291846" y="0"/>
                  </a:lnTo>
                  <a:close/>
                </a:path>
                <a:path w="379729" h="251460">
                  <a:moveTo>
                    <a:pt x="361251" y="40639"/>
                  </a:moveTo>
                  <a:lnTo>
                    <a:pt x="305689" y="40639"/>
                  </a:lnTo>
                  <a:lnTo>
                    <a:pt x="314902" y="41910"/>
                  </a:lnTo>
                  <a:lnTo>
                    <a:pt x="323294" y="45720"/>
                  </a:lnTo>
                  <a:lnTo>
                    <a:pt x="330281" y="52070"/>
                  </a:lnTo>
                  <a:lnTo>
                    <a:pt x="335280" y="60960"/>
                  </a:lnTo>
                  <a:lnTo>
                    <a:pt x="338042" y="73660"/>
                  </a:lnTo>
                  <a:lnTo>
                    <a:pt x="335851" y="85089"/>
                  </a:lnTo>
                  <a:lnTo>
                    <a:pt x="329279" y="96520"/>
                  </a:lnTo>
                  <a:lnTo>
                    <a:pt x="318897" y="102870"/>
                  </a:lnTo>
                  <a:lnTo>
                    <a:pt x="306357" y="106680"/>
                  </a:lnTo>
                  <a:lnTo>
                    <a:pt x="361094" y="106680"/>
                  </a:lnTo>
                  <a:lnTo>
                    <a:pt x="364236" y="100330"/>
                  </a:lnTo>
                  <a:lnTo>
                    <a:pt x="375666" y="96520"/>
                  </a:lnTo>
                  <a:lnTo>
                    <a:pt x="377791" y="88900"/>
                  </a:lnTo>
                  <a:lnTo>
                    <a:pt x="379047" y="81280"/>
                  </a:lnTo>
                  <a:lnTo>
                    <a:pt x="379399" y="74930"/>
                  </a:lnTo>
                  <a:lnTo>
                    <a:pt x="379407" y="72389"/>
                  </a:lnTo>
                  <a:lnTo>
                    <a:pt x="379095" y="66039"/>
                  </a:lnTo>
                  <a:lnTo>
                    <a:pt x="368554" y="59689"/>
                  </a:lnTo>
                  <a:lnTo>
                    <a:pt x="367665" y="55880"/>
                  </a:lnTo>
                  <a:lnTo>
                    <a:pt x="366268" y="52070"/>
                  </a:lnTo>
                  <a:lnTo>
                    <a:pt x="362966" y="44450"/>
                  </a:lnTo>
                  <a:lnTo>
                    <a:pt x="361251" y="40639"/>
                  </a:lnTo>
                  <a:close/>
                </a:path>
                <a:path w="379729" h="251460">
                  <a:moveTo>
                    <a:pt x="74447" y="35560"/>
                  </a:moveTo>
                  <a:lnTo>
                    <a:pt x="59055" y="35560"/>
                  </a:lnTo>
                  <a:lnTo>
                    <a:pt x="80518" y="48260"/>
                  </a:lnTo>
                  <a:lnTo>
                    <a:pt x="82423" y="46989"/>
                  </a:lnTo>
                  <a:lnTo>
                    <a:pt x="87757" y="44450"/>
                  </a:lnTo>
                  <a:lnTo>
                    <a:pt x="98806" y="41910"/>
                  </a:lnTo>
                  <a:lnTo>
                    <a:pt x="100965" y="40639"/>
                  </a:lnTo>
                  <a:lnTo>
                    <a:pt x="101451" y="39370"/>
                  </a:lnTo>
                  <a:lnTo>
                    <a:pt x="81153" y="39370"/>
                  </a:lnTo>
                  <a:lnTo>
                    <a:pt x="74447" y="35560"/>
                  </a:lnTo>
                  <a:close/>
                </a:path>
                <a:path w="379729" h="251460">
                  <a:moveTo>
                    <a:pt x="143409" y="16510"/>
                  </a:moveTo>
                  <a:lnTo>
                    <a:pt x="129286" y="16510"/>
                  </a:lnTo>
                  <a:lnTo>
                    <a:pt x="135382" y="17780"/>
                  </a:lnTo>
                  <a:lnTo>
                    <a:pt x="144272" y="40639"/>
                  </a:lnTo>
                  <a:lnTo>
                    <a:pt x="146177" y="41910"/>
                  </a:lnTo>
                  <a:lnTo>
                    <a:pt x="152019" y="43180"/>
                  </a:lnTo>
                  <a:lnTo>
                    <a:pt x="157480" y="44450"/>
                  </a:lnTo>
                  <a:lnTo>
                    <a:pt x="162814" y="46989"/>
                  </a:lnTo>
                  <a:lnTo>
                    <a:pt x="164592" y="48260"/>
                  </a:lnTo>
                  <a:lnTo>
                    <a:pt x="179616" y="39370"/>
                  </a:lnTo>
                  <a:lnTo>
                    <a:pt x="164084" y="39370"/>
                  </a:lnTo>
                  <a:lnTo>
                    <a:pt x="159512" y="36830"/>
                  </a:lnTo>
                  <a:lnTo>
                    <a:pt x="150241" y="34289"/>
                  </a:lnTo>
                  <a:lnTo>
                    <a:pt x="143409" y="16510"/>
                  </a:lnTo>
                  <a:close/>
                </a:path>
                <a:path w="379729" h="251460">
                  <a:moveTo>
                    <a:pt x="140970" y="10160"/>
                  </a:moveTo>
                  <a:lnTo>
                    <a:pt x="104267" y="10160"/>
                  </a:lnTo>
                  <a:lnTo>
                    <a:pt x="94996" y="34289"/>
                  </a:lnTo>
                  <a:lnTo>
                    <a:pt x="85598" y="36830"/>
                  </a:lnTo>
                  <a:lnTo>
                    <a:pt x="81153" y="39370"/>
                  </a:lnTo>
                  <a:lnTo>
                    <a:pt x="101451" y="39370"/>
                  </a:lnTo>
                  <a:lnTo>
                    <a:pt x="109728" y="17780"/>
                  </a:lnTo>
                  <a:lnTo>
                    <a:pt x="116078" y="16510"/>
                  </a:lnTo>
                  <a:lnTo>
                    <a:pt x="143409" y="16510"/>
                  </a:lnTo>
                  <a:lnTo>
                    <a:pt x="140970" y="10160"/>
                  </a:lnTo>
                  <a:close/>
                </a:path>
                <a:path w="379729" h="251460">
                  <a:moveTo>
                    <a:pt x="186436" y="26670"/>
                  </a:moveTo>
                  <a:lnTo>
                    <a:pt x="164084" y="39370"/>
                  </a:lnTo>
                  <a:lnTo>
                    <a:pt x="179616" y="39370"/>
                  </a:lnTo>
                  <a:lnTo>
                    <a:pt x="186055" y="35560"/>
                  </a:lnTo>
                  <a:lnTo>
                    <a:pt x="199421" y="35560"/>
                  </a:lnTo>
                  <a:lnTo>
                    <a:pt x="194564" y="31750"/>
                  </a:lnTo>
                  <a:lnTo>
                    <a:pt x="188341" y="27939"/>
                  </a:lnTo>
                  <a:lnTo>
                    <a:pt x="186436" y="26670"/>
                  </a:lnTo>
                  <a:close/>
                </a:path>
                <a:path w="379729" h="251460">
                  <a:moveTo>
                    <a:pt x="335534" y="6350"/>
                  </a:moveTo>
                  <a:lnTo>
                    <a:pt x="324739" y="11430"/>
                  </a:lnTo>
                  <a:lnTo>
                    <a:pt x="345761" y="11430"/>
                  </a:lnTo>
                  <a:lnTo>
                    <a:pt x="342463" y="8889"/>
                  </a:lnTo>
                  <a:lnTo>
                    <a:pt x="335534" y="6350"/>
                  </a:lnTo>
                  <a:close/>
                </a:path>
                <a:path w="379729" h="251460">
                  <a:moveTo>
                    <a:pt x="131445" y="8889"/>
                  </a:moveTo>
                  <a:lnTo>
                    <a:pt x="113792" y="8889"/>
                  </a:lnTo>
                  <a:lnTo>
                    <a:pt x="106553" y="10160"/>
                  </a:lnTo>
                  <a:lnTo>
                    <a:pt x="138684" y="10160"/>
                  </a:lnTo>
                  <a:lnTo>
                    <a:pt x="131445" y="8889"/>
                  </a:lnTo>
                  <a:close/>
                </a:path>
              </a:pathLst>
            </a:custGeom>
            <a:solidFill>
              <a:srgbClr val="FFFFFF"/>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47" name="object 47"/>
            <p:cNvSpPr/>
            <p:nvPr/>
          </p:nvSpPr>
          <p:spPr>
            <a:xfrm>
              <a:off x="3694175" y="3264407"/>
              <a:ext cx="1090295" cy="2614295"/>
            </a:xfrm>
            <a:custGeom>
              <a:avLst/>
              <a:gdLst/>
              <a:ahLst/>
              <a:cxnLst/>
              <a:rect l="l" t="t" r="r" b="b"/>
              <a:pathLst>
                <a:path w="1090295" h="2614295">
                  <a:moveTo>
                    <a:pt x="1090295" y="0"/>
                  </a:moveTo>
                  <a:lnTo>
                    <a:pt x="842772" y="602106"/>
                  </a:lnTo>
                </a:path>
                <a:path w="1090295" h="2614295">
                  <a:moveTo>
                    <a:pt x="794638" y="670559"/>
                  </a:moveTo>
                  <a:lnTo>
                    <a:pt x="547115" y="1272666"/>
                  </a:lnTo>
                </a:path>
                <a:path w="1090295" h="2614295">
                  <a:moveTo>
                    <a:pt x="521843" y="1341119"/>
                  </a:moveTo>
                  <a:lnTo>
                    <a:pt x="274320" y="1943227"/>
                  </a:lnTo>
                </a:path>
                <a:path w="1090295" h="2614295">
                  <a:moveTo>
                    <a:pt x="247523" y="2011679"/>
                  </a:moveTo>
                  <a:lnTo>
                    <a:pt x="0" y="2613723"/>
                  </a:lnTo>
                </a:path>
              </a:pathLst>
            </a:custGeom>
            <a:ln w="9525">
              <a:solidFill>
                <a:srgbClr val="FFFFFF"/>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48" name="object 48"/>
            <p:cNvSpPr/>
            <p:nvPr/>
          </p:nvSpPr>
          <p:spPr>
            <a:xfrm>
              <a:off x="1863851" y="1821179"/>
              <a:ext cx="4924425" cy="76200"/>
            </a:xfrm>
            <a:custGeom>
              <a:avLst/>
              <a:gdLst/>
              <a:ahLst/>
              <a:cxnLst/>
              <a:rect l="l" t="t" r="r" b="b"/>
              <a:pathLst>
                <a:path w="4924425" h="76200">
                  <a:moveTo>
                    <a:pt x="38100" y="0"/>
                  </a:moveTo>
                  <a:lnTo>
                    <a:pt x="23252" y="2988"/>
                  </a:lnTo>
                  <a:lnTo>
                    <a:pt x="11144" y="11144"/>
                  </a:lnTo>
                  <a:lnTo>
                    <a:pt x="2988" y="23252"/>
                  </a:lnTo>
                  <a:lnTo>
                    <a:pt x="0" y="38100"/>
                  </a:lnTo>
                  <a:lnTo>
                    <a:pt x="2988" y="52947"/>
                  </a:lnTo>
                  <a:lnTo>
                    <a:pt x="11144" y="65055"/>
                  </a:lnTo>
                  <a:lnTo>
                    <a:pt x="23252" y="73211"/>
                  </a:lnTo>
                  <a:lnTo>
                    <a:pt x="38100" y="76200"/>
                  </a:lnTo>
                  <a:lnTo>
                    <a:pt x="52947" y="73211"/>
                  </a:lnTo>
                  <a:lnTo>
                    <a:pt x="65055" y="65055"/>
                  </a:lnTo>
                  <a:lnTo>
                    <a:pt x="73211" y="52947"/>
                  </a:lnTo>
                  <a:lnTo>
                    <a:pt x="74921" y="44450"/>
                  </a:lnTo>
                  <a:lnTo>
                    <a:pt x="34543" y="44450"/>
                  </a:lnTo>
                  <a:lnTo>
                    <a:pt x="31750" y="41656"/>
                  </a:lnTo>
                  <a:lnTo>
                    <a:pt x="31750" y="34544"/>
                  </a:lnTo>
                  <a:lnTo>
                    <a:pt x="34543" y="31750"/>
                  </a:lnTo>
                  <a:lnTo>
                    <a:pt x="74921" y="31750"/>
                  </a:lnTo>
                  <a:lnTo>
                    <a:pt x="73211" y="23252"/>
                  </a:lnTo>
                  <a:lnTo>
                    <a:pt x="65055" y="11144"/>
                  </a:lnTo>
                  <a:lnTo>
                    <a:pt x="52947" y="2988"/>
                  </a:lnTo>
                  <a:lnTo>
                    <a:pt x="38100" y="0"/>
                  </a:lnTo>
                  <a:close/>
                </a:path>
                <a:path w="4924425" h="76200">
                  <a:moveTo>
                    <a:pt x="4886198" y="0"/>
                  </a:moveTo>
                  <a:lnTo>
                    <a:pt x="4871350" y="2988"/>
                  </a:lnTo>
                  <a:lnTo>
                    <a:pt x="4859242" y="11144"/>
                  </a:lnTo>
                  <a:lnTo>
                    <a:pt x="4851086" y="23252"/>
                  </a:lnTo>
                  <a:lnTo>
                    <a:pt x="4848098" y="38100"/>
                  </a:lnTo>
                  <a:lnTo>
                    <a:pt x="4851086" y="52947"/>
                  </a:lnTo>
                  <a:lnTo>
                    <a:pt x="4859242" y="65055"/>
                  </a:lnTo>
                  <a:lnTo>
                    <a:pt x="4871350" y="73211"/>
                  </a:lnTo>
                  <a:lnTo>
                    <a:pt x="4886198" y="76200"/>
                  </a:lnTo>
                  <a:lnTo>
                    <a:pt x="4901045" y="73211"/>
                  </a:lnTo>
                  <a:lnTo>
                    <a:pt x="4913153" y="65055"/>
                  </a:lnTo>
                  <a:lnTo>
                    <a:pt x="4921309" y="52947"/>
                  </a:lnTo>
                  <a:lnTo>
                    <a:pt x="4923019" y="44450"/>
                  </a:lnTo>
                  <a:lnTo>
                    <a:pt x="4889754" y="44450"/>
                  </a:lnTo>
                  <a:lnTo>
                    <a:pt x="4892548" y="41656"/>
                  </a:lnTo>
                  <a:lnTo>
                    <a:pt x="4892548" y="34544"/>
                  </a:lnTo>
                  <a:lnTo>
                    <a:pt x="4889754" y="31750"/>
                  </a:lnTo>
                  <a:lnTo>
                    <a:pt x="4923019" y="31750"/>
                  </a:lnTo>
                  <a:lnTo>
                    <a:pt x="4921309" y="23252"/>
                  </a:lnTo>
                  <a:lnTo>
                    <a:pt x="4913153" y="11144"/>
                  </a:lnTo>
                  <a:lnTo>
                    <a:pt x="4901045" y="2988"/>
                  </a:lnTo>
                  <a:lnTo>
                    <a:pt x="4886198" y="0"/>
                  </a:lnTo>
                  <a:close/>
                </a:path>
                <a:path w="4924425" h="76200">
                  <a:moveTo>
                    <a:pt x="74921" y="31750"/>
                  </a:moveTo>
                  <a:lnTo>
                    <a:pt x="34543" y="31750"/>
                  </a:lnTo>
                  <a:lnTo>
                    <a:pt x="31750" y="34544"/>
                  </a:lnTo>
                  <a:lnTo>
                    <a:pt x="31750" y="41656"/>
                  </a:lnTo>
                  <a:lnTo>
                    <a:pt x="34543" y="44450"/>
                  </a:lnTo>
                  <a:lnTo>
                    <a:pt x="74921" y="44450"/>
                  </a:lnTo>
                  <a:lnTo>
                    <a:pt x="76200" y="38100"/>
                  </a:lnTo>
                  <a:lnTo>
                    <a:pt x="74921" y="31750"/>
                  </a:lnTo>
                  <a:close/>
                </a:path>
                <a:path w="4924425" h="76200">
                  <a:moveTo>
                    <a:pt x="4849376" y="31750"/>
                  </a:moveTo>
                  <a:lnTo>
                    <a:pt x="74921" y="31750"/>
                  </a:lnTo>
                  <a:lnTo>
                    <a:pt x="76200" y="38100"/>
                  </a:lnTo>
                  <a:lnTo>
                    <a:pt x="74921" y="44450"/>
                  </a:lnTo>
                  <a:lnTo>
                    <a:pt x="4849376" y="44450"/>
                  </a:lnTo>
                  <a:lnTo>
                    <a:pt x="4848098" y="38100"/>
                  </a:lnTo>
                  <a:lnTo>
                    <a:pt x="4849376" y="31750"/>
                  </a:lnTo>
                  <a:close/>
                </a:path>
                <a:path w="4924425" h="76200">
                  <a:moveTo>
                    <a:pt x="4923019" y="31750"/>
                  </a:moveTo>
                  <a:lnTo>
                    <a:pt x="4889754" y="31750"/>
                  </a:lnTo>
                  <a:lnTo>
                    <a:pt x="4892548" y="34544"/>
                  </a:lnTo>
                  <a:lnTo>
                    <a:pt x="4892548" y="41656"/>
                  </a:lnTo>
                  <a:lnTo>
                    <a:pt x="4889754" y="44450"/>
                  </a:lnTo>
                  <a:lnTo>
                    <a:pt x="4923019" y="44450"/>
                  </a:lnTo>
                  <a:lnTo>
                    <a:pt x="4924298" y="38100"/>
                  </a:lnTo>
                  <a:lnTo>
                    <a:pt x="4923019" y="31750"/>
                  </a:lnTo>
                  <a:close/>
                </a:path>
              </a:pathLst>
            </a:custGeom>
            <a:solidFill>
              <a:srgbClr val="6D6E73"/>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49" name="object 49"/>
            <p:cNvSpPr/>
            <p:nvPr/>
          </p:nvSpPr>
          <p:spPr>
            <a:xfrm>
              <a:off x="1901951" y="2164079"/>
              <a:ext cx="2377440" cy="579120"/>
            </a:xfrm>
            <a:custGeom>
              <a:avLst/>
              <a:gdLst/>
              <a:ahLst/>
              <a:cxnLst/>
              <a:rect l="l" t="t" r="r" b="b"/>
              <a:pathLst>
                <a:path w="2377440" h="579119">
                  <a:moveTo>
                    <a:pt x="0" y="289560"/>
                  </a:moveTo>
                  <a:lnTo>
                    <a:pt x="3790" y="242598"/>
                  </a:lnTo>
                  <a:lnTo>
                    <a:pt x="14764" y="198046"/>
                  </a:lnTo>
                  <a:lnTo>
                    <a:pt x="32325" y="156502"/>
                  </a:lnTo>
                  <a:lnTo>
                    <a:pt x="55875" y="118561"/>
                  </a:lnTo>
                  <a:lnTo>
                    <a:pt x="84820" y="84820"/>
                  </a:lnTo>
                  <a:lnTo>
                    <a:pt x="118561" y="55875"/>
                  </a:lnTo>
                  <a:lnTo>
                    <a:pt x="156502" y="32325"/>
                  </a:lnTo>
                  <a:lnTo>
                    <a:pt x="198046" y="14764"/>
                  </a:lnTo>
                  <a:lnTo>
                    <a:pt x="242598" y="3790"/>
                  </a:lnTo>
                  <a:lnTo>
                    <a:pt x="289560" y="0"/>
                  </a:lnTo>
                  <a:lnTo>
                    <a:pt x="853440" y="0"/>
                  </a:lnTo>
                  <a:lnTo>
                    <a:pt x="900401" y="3790"/>
                  </a:lnTo>
                  <a:lnTo>
                    <a:pt x="944953" y="14764"/>
                  </a:lnTo>
                  <a:lnTo>
                    <a:pt x="986497" y="32325"/>
                  </a:lnTo>
                  <a:lnTo>
                    <a:pt x="1024438" y="55875"/>
                  </a:lnTo>
                  <a:lnTo>
                    <a:pt x="1058179" y="84820"/>
                  </a:lnTo>
                  <a:lnTo>
                    <a:pt x="1087124" y="118561"/>
                  </a:lnTo>
                  <a:lnTo>
                    <a:pt x="1110674" y="156502"/>
                  </a:lnTo>
                  <a:lnTo>
                    <a:pt x="1128235" y="198046"/>
                  </a:lnTo>
                  <a:lnTo>
                    <a:pt x="1139209" y="242598"/>
                  </a:lnTo>
                  <a:lnTo>
                    <a:pt x="1143000" y="289560"/>
                  </a:lnTo>
                  <a:lnTo>
                    <a:pt x="1139209" y="336521"/>
                  </a:lnTo>
                  <a:lnTo>
                    <a:pt x="1128235" y="381073"/>
                  </a:lnTo>
                  <a:lnTo>
                    <a:pt x="1110674" y="422617"/>
                  </a:lnTo>
                  <a:lnTo>
                    <a:pt x="1087124" y="460558"/>
                  </a:lnTo>
                  <a:lnTo>
                    <a:pt x="1058179" y="494299"/>
                  </a:lnTo>
                  <a:lnTo>
                    <a:pt x="1024438" y="523244"/>
                  </a:lnTo>
                  <a:lnTo>
                    <a:pt x="986497" y="546794"/>
                  </a:lnTo>
                  <a:lnTo>
                    <a:pt x="944953" y="564355"/>
                  </a:lnTo>
                  <a:lnTo>
                    <a:pt x="900401" y="575329"/>
                  </a:lnTo>
                  <a:lnTo>
                    <a:pt x="853440" y="579120"/>
                  </a:lnTo>
                  <a:lnTo>
                    <a:pt x="289560" y="579120"/>
                  </a:lnTo>
                  <a:lnTo>
                    <a:pt x="242598" y="575329"/>
                  </a:lnTo>
                  <a:lnTo>
                    <a:pt x="198046" y="564355"/>
                  </a:lnTo>
                  <a:lnTo>
                    <a:pt x="156502" y="546794"/>
                  </a:lnTo>
                  <a:lnTo>
                    <a:pt x="118561" y="523244"/>
                  </a:lnTo>
                  <a:lnTo>
                    <a:pt x="84820" y="494299"/>
                  </a:lnTo>
                  <a:lnTo>
                    <a:pt x="55875" y="460558"/>
                  </a:lnTo>
                  <a:lnTo>
                    <a:pt x="32325" y="422617"/>
                  </a:lnTo>
                  <a:lnTo>
                    <a:pt x="14764" y="381073"/>
                  </a:lnTo>
                  <a:lnTo>
                    <a:pt x="3790" y="336521"/>
                  </a:lnTo>
                  <a:lnTo>
                    <a:pt x="0" y="289560"/>
                  </a:lnTo>
                  <a:close/>
                </a:path>
                <a:path w="2377440" h="579119">
                  <a:moveTo>
                    <a:pt x="1234440" y="289560"/>
                  </a:moveTo>
                  <a:lnTo>
                    <a:pt x="1238230" y="242598"/>
                  </a:lnTo>
                  <a:lnTo>
                    <a:pt x="1249204" y="198046"/>
                  </a:lnTo>
                  <a:lnTo>
                    <a:pt x="1266765" y="156502"/>
                  </a:lnTo>
                  <a:lnTo>
                    <a:pt x="1290315" y="118561"/>
                  </a:lnTo>
                  <a:lnTo>
                    <a:pt x="1319260" y="84820"/>
                  </a:lnTo>
                  <a:lnTo>
                    <a:pt x="1353001" y="55875"/>
                  </a:lnTo>
                  <a:lnTo>
                    <a:pt x="1390942" y="32325"/>
                  </a:lnTo>
                  <a:lnTo>
                    <a:pt x="1432486" y="14764"/>
                  </a:lnTo>
                  <a:lnTo>
                    <a:pt x="1477038" y="3790"/>
                  </a:lnTo>
                  <a:lnTo>
                    <a:pt x="1524000" y="0"/>
                  </a:lnTo>
                  <a:lnTo>
                    <a:pt x="2087880" y="0"/>
                  </a:lnTo>
                  <a:lnTo>
                    <a:pt x="2134841" y="3790"/>
                  </a:lnTo>
                  <a:lnTo>
                    <a:pt x="2179393" y="14764"/>
                  </a:lnTo>
                  <a:lnTo>
                    <a:pt x="2220937" y="32325"/>
                  </a:lnTo>
                  <a:lnTo>
                    <a:pt x="2258878" y="55875"/>
                  </a:lnTo>
                  <a:lnTo>
                    <a:pt x="2292619" y="84820"/>
                  </a:lnTo>
                  <a:lnTo>
                    <a:pt x="2321564" y="118561"/>
                  </a:lnTo>
                  <a:lnTo>
                    <a:pt x="2345114" y="156502"/>
                  </a:lnTo>
                  <a:lnTo>
                    <a:pt x="2362675" y="198046"/>
                  </a:lnTo>
                  <a:lnTo>
                    <a:pt x="2373649" y="242598"/>
                  </a:lnTo>
                  <a:lnTo>
                    <a:pt x="2377440" y="289560"/>
                  </a:lnTo>
                  <a:lnTo>
                    <a:pt x="2373649" y="336521"/>
                  </a:lnTo>
                  <a:lnTo>
                    <a:pt x="2362675" y="381073"/>
                  </a:lnTo>
                  <a:lnTo>
                    <a:pt x="2345114" y="422617"/>
                  </a:lnTo>
                  <a:lnTo>
                    <a:pt x="2321564" y="460558"/>
                  </a:lnTo>
                  <a:lnTo>
                    <a:pt x="2292619" y="494299"/>
                  </a:lnTo>
                  <a:lnTo>
                    <a:pt x="2258878" y="523244"/>
                  </a:lnTo>
                  <a:lnTo>
                    <a:pt x="2220937" y="546794"/>
                  </a:lnTo>
                  <a:lnTo>
                    <a:pt x="2179393" y="564355"/>
                  </a:lnTo>
                  <a:lnTo>
                    <a:pt x="2134841" y="575329"/>
                  </a:lnTo>
                  <a:lnTo>
                    <a:pt x="2087880" y="579120"/>
                  </a:lnTo>
                  <a:lnTo>
                    <a:pt x="1524000" y="579120"/>
                  </a:lnTo>
                  <a:lnTo>
                    <a:pt x="1477038" y="575329"/>
                  </a:lnTo>
                  <a:lnTo>
                    <a:pt x="1432486" y="564355"/>
                  </a:lnTo>
                  <a:lnTo>
                    <a:pt x="1390942" y="546794"/>
                  </a:lnTo>
                  <a:lnTo>
                    <a:pt x="1353001" y="523244"/>
                  </a:lnTo>
                  <a:lnTo>
                    <a:pt x="1319260" y="494299"/>
                  </a:lnTo>
                  <a:lnTo>
                    <a:pt x="1290315" y="460558"/>
                  </a:lnTo>
                  <a:lnTo>
                    <a:pt x="1266765" y="422617"/>
                  </a:lnTo>
                  <a:lnTo>
                    <a:pt x="1249204" y="381073"/>
                  </a:lnTo>
                  <a:lnTo>
                    <a:pt x="1238230" y="336521"/>
                  </a:lnTo>
                  <a:lnTo>
                    <a:pt x="1234440" y="289560"/>
                  </a:lnTo>
                  <a:close/>
                </a:path>
              </a:pathLst>
            </a:custGeom>
            <a:ln w="9525">
              <a:solidFill>
                <a:srgbClr val="295E7D"/>
              </a:solidFill>
              <a:prstDash val="dot"/>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grpSp>
      <p:sp>
        <p:nvSpPr>
          <p:cNvPr id="50" name="object 50"/>
          <p:cNvSpPr txBox="1"/>
          <p:nvPr/>
        </p:nvSpPr>
        <p:spPr>
          <a:xfrm>
            <a:off x="3311397" y="2253488"/>
            <a:ext cx="799465" cy="208279"/>
          </a:xfrm>
          <a:prstGeom prst="rect">
            <a:avLst/>
          </a:prstGeom>
        </p:spPr>
        <p:txBody>
          <a:bodyPr vert="horz" wrap="square" lIns="0" tIns="1270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sz="1200" b="0" i="0" u="none" strike="noStrike" kern="0" cap="none" spc="-35" normalizeH="0" baseline="0" noProof="0">
                <a:ln>
                  <a:noFill/>
                </a:ln>
                <a:solidFill>
                  <a:srgbClr val="565656"/>
                </a:solidFill>
                <a:effectLst/>
                <a:uLnTx/>
                <a:uFillTx/>
                <a:latin typeface="Trebuchet MS"/>
                <a:cs typeface="Trebuchet MS"/>
              </a:rPr>
              <a:t>Member</a:t>
            </a:r>
            <a:r>
              <a:rPr kumimoji="0" sz="1200" b="0" i="0" u="none" strike="noStrike" kern="0" cap="none" spc="-45" normalizeH="0" baseline="0" noProof="0">
                <a:ln>
                  <a:noFill/>
                </a:ln>
                <a:solidFill>
                  <a:srgbClr val="565656"/>
                </a:solidFill>
                <a:effectLst/>
                <a:uLnTx/>
                <a:uFillTx/>
                <a:latin typeface="Trebuchet MS"/>
                <a:cs typeface="Trebuchet MS"/>
              </a:rPr>
              <a:t> </a:t>
            </a:r>
            <a:r>
              <a:rPr kumimoji="0" sz="1200" b="0" i="0" u="none" strike="noStrike" kern="0" cap="none" spc="-25" normalizeH="0" baseline="0" noProof="0">
                <a:ln>
                  <a:noFill/>
                </a:ln>
                <a:solidFill>
                  <a:srgbClr val="565656"/>
                </a:solidFill>
                <a:effectLst/>
                <a:uLnTx/>
                <a:uFillTx/>
                <a:latin typeface="Trebuchet MS"/>
                <a:cs typeface="Trebuchet MS"/>
              </a:rPr>
              <a:t>get</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51" name="object 51"/>
          <p:cNvSpPr txBox="1"/>
          <p:nvPr/>
        </p:nvSpPr>
        <p:spPr>
          <a:xfrm>
            <a:off x="3427221" y="2436367"/>
            <a:ext cx="568325" cy="208279"/>
          </a:xfrm>
          <a:prstGeom prst="rect">
            <a:avLst/>
          </a:prstGeom>
        </p:spPr>
        <p:txBody>
          <a:bodyPr vert="horz" wrap="square" lIns="0" tIns="1270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sz="1200" b="0" i="0" u="none" strike="noStrike" kern="0" cap="none" spc="-25" normalizeH="0" baseline="0" noProof="0">
                <a:ln>
                  <a:noFill/>
                </a:ln>
                <a:solidFill>
                  <a:srgbClr val="565656"/>
                </a:solidFill>
                <a:effectLst/>
                <a:uLnTx/>
                <a:uFillTx/>
                <a:latin typeface="Trebuchet MS"/>
                <a:cs typeface="Trebuchet MS"/>
              </a:rPr>
              <a:t>member</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p:txBody>
      </p:sp>
      <p:grpSp>
        <p:nvGrpSpPr>
          <p:cNvPr id="52" name="object 52"/>
          <p:cNvGrpSpPr/>
          <p:nvPr/>
        </p:nvGrpSpPr>
        <p:grpSpPr>
          <a:xfrm>
            <a:off x="662749" y="2159317"/>
            <a:ext cx="6092190" cy="588645"/>
            <a:chOff x="662749" y="2159317"/>
            <a:chExt cx="6092190" cy="588645"/>
          </a:xfrm>
        </p:grpSpPr>
        <p:sp>
          <p:nvSpPr>
            <p:cNvPr id="53" name="object 53"/>
            <p:cNvSpPr/>
            <p:nvPr/>
          </p:nvSpPr>
          <p:spPr>
            <a:xfrm>
              <a:off x="4372356" y="2164079"/>
              <a:ext cx="2377440" cy="579120"/>
            </a:xfrm>
            <a:custGeom>
              <a:avLst/>
              <a:gdLst/>
              <a:ahLst/>
              <a:cxnLst/>
              <a:rect l="l" t="t" r="r" b="b"/>
              <a:pathLst>
                <a:path w="2377440" h="579119">
                  <a:moveTo>
                    <a:pt x="0" y="289560"/>
                  </a:moveTo>
                  <a:lnTo>
                    <a:pt x="3790" y="242598"/>
                  </a:lnTo>
                  <a:lnTo>
                    <a:pt x="14764" y="198046"/>
                  </a:lnTo>
                  <a:lnTo>
                    <a:pt x="32325" y="156502"/>
                  </a:lnTo>
                  <a:lnTo>
                    <a:pt x="55875" y="118561"/>
                  </a:lnTo>
                  <a:lnTo>
                    <a:pt x="84820" y="84820"/>
                  </a:lnTo>
                  <a:lnTo>
                    <a:pt x="118561" y="55875"/>
                  </a:lnTo>
                  <a:lnTo>
                    <a:pt x="156502" y="32325"/>
                  </a:lnTo>
                  <a:lnTo>
                    <a:pt x="198046" y="14764"/>
                  </a:lnTo>
                  <a:lnTo>
                    <a:pt x="242598" y="3790"/>
                  </a:lnTo>
                  <a:lnTo>
                    <a:pt x="289560" y="0"/>
                  </a:lnTo>
                  <a:lnTo>
                    <a:pt x="853440" y="0"/>
                  </a:lnTo>
                  <a:lnTo>
                    <a:pt x="900401" y="3790"/>
                  </a:lnTo>
                  <a:lnTo>
                    <a:pt x="944953" y="14764"/>
                  </a:lnTo>
                  <a:lnTo>
                    <a:pt x="986497" y="32325"/>
                  </a:lnTo>
                  <a:lnTo>
                    <a:pt x="1024438" y="55875"/>
                  </a:lnTo>
                  <a:lnTo>
                    <a:pt x="1058179" y="84820"/>
                  </a:lnTo>
                  <a:lnTo>
                    <a:pt x="1087124" y="118561"/>
                  </a:lnTo>
                  <a:lnTo>
                    <a:pt x="1110674" y="156502"/>
                  </a:lnTo>
                  <a:lnTo>
                    <a:pt x="1128235" y="198046"/>
                  </a:lnTo>
                  <a:lnTo>
                    <a:pt x="1139209" y="242598"/>
                  </a:lnTo>
                  <a:lnTo>
                    <a:pt x="1143000" y="289560"/>
                  </a:lnTo>
                  <a:lnTo>
                    <a:pt x="1139209" y="336521"/>
                  </a:lnTo>
                  <a:lnTo>
                    <a:pt x="1128235" y="381073"/>
                  </a:lnTo>
                  <a:lnTo>
                    <a:pt x="1110674" y="422617"/>
                  </a:lnTo>
                  <a:lnTo>
                    <a:pt x="1087124" y="460558"/>
                  </a:lnTo>
                  <a:lnTo>
                    <a:pt x="1058179" y="494299"/>
                  </a:lnTo>
                  <a:lnTo>
                    <a:pt x="1024438" y="523244"/>
                  </a:lnTo>
                  <a:lnTo>
                    <a:pt x="986497" y="546794"/>
                  </a:lnTo>
                  <a:lnTo>
                    <a:pt x="944953" y="564355"/>
                  </a:lnTo>
                  <a:lnTo>
                    <a:pt x="900401" y="575329"/>
                  </a:lnTo>
                  <a:lnTo>
                    <a:pt x="853440" y="579120"/>
                  </a:lnTo>
                  <a:lnTo>
                    <a:pt x="289560" y="579120"/>
                  </a:lnTo>
                  <a:lnTo>
                    <a:pt x="242598" y="575329"/>
                  </a:lnTo>
                  <a:lnTo>
                    <a:pt x="198046" y="564355"/>
                  </a:lnTo>
                  <a:lnTo>
                    <a:pt x="156502" y="546794"/>
                  </a:lnTo>
                  <a:lnTo>
                    <a:pt x="118561" y="523244"/>
                  </a:lnTo>
                  <a:lnTo>
                    <a:pt x="84820" y="494299"/>
                  </a:lnTo>
                  <a:lnTo>
                    <a:pt x="55875" y="460558"/>
                  </a:lnTo>
                  <a:lnTo>
                    <a:pt x="32325" y="422617"/>
                  </a:lnTo>
                  <a:lnTo>
                    <a:pt x="14764" y="381073"/>
                  </a:lnTo>
                  <a:lnTo>
                    <a:pt x="3790" y="336521"/>
                  </a:lnTo>
                  <a:lnTo>
                    <a:pt x="0" y="289560"/>
                  </a:lnTo>
                  <a:close/>
                </a:path>
                <a:path w="2377440" h="579119">
                  <a:moveTo>
                    <a:pt x="1234440" y="289560"/>
                  </a:moveTo>
                  <a:lnTo>
                    <a:pt x="1238230" y="242598"/>
                  </a:lnTo>
                  <a:lnTo>
                    <a:pt x="1249204" y="198046"/>
                  </a:lnTo>
                  <a:lnTo>
                    <a:pt x="1266765" y="156502"/>
                  </a:lnTo>
                  <a:lnTo>
                    <a:pt x="1290315" y="118561"/>
                  </a:lnTo>
                  <a:lnTo>
                    <a:pt x="1319260" y="84820"/>
                  </a:lnTo>
                  <a:lnTo>
                    <a:pt x="1353001" y="55875"/>
                  </a:lnTo>
                  <a:lnTo>
                    <a:pt x="1390942" y="32325"/>
                  </a:lnTo>
                  <a:lnTo>
                    <a:pt x="1432486" y="14764"/>
                  </a:lnTo>
                  <a:lnTo>
                    <a:pt x="1477038" y="3790"/>
                  </a:lnTo>
                  <a:lnTo>
                    <a:pt x="1524000" y="0"/>
                  </a:lnTo>
                  <a:lnTo>
                    <a:pt x="2087880" y="0"/>
                  </a:lnTo>
                  <a:lnTo>
                    <a:pt x="2134841" y="3790"/>
                  </a:lnTo>
                  <a:lnTo>
                    <a:pt x="2179393" y="14764"/>
                  </a:lnTo>
                  <a:lnTo>
                    <a:pt x="2220937" y="32325"/>
                  </a:lnTo>
                  <a:lnTo>
                    <a:pt x="2258878" y="55875"/>
                  </a:lnTo>
                  <a:lnTo>
                    <a:pt x="2292619" y="84820"/>
                  </a:lnTo>
                  <a:lnTo>
                    <a:pt x="2321564" y="118561"/>
                  </a:lnTo>
                  <a:lnTo>
                    <a:pt x="2345114" y="156502"/>
                  </a:lnTo>
                  <a:lnTo>
                    <a:pt x="2362675" y="198046"/>
                  </a:lnTo>
                  <a:lnTo>
                    <a:pt x="2373649" y="242598"/>
                  </a:lnTo>
                  <a:lnTo>
                    <a:pt x="2377440" y="289560"/>
                  </a:lnTo>
                  <a:lnTo>
                    <a:pt x="2373649" y="336521"/>
                  </a:lnTo>
                  <a:lnTo>
                    <a:pt x="2362675" y="381073"/>
                  </a:lnTo>
                  <a:lnTo>
                    <a:pt x="2345114" y="422617"/>
                  </a:lnTo>
                  <a:lnTo>
                    <a:pt x="2321564" y="460558"/>
                  </a:lnTo>
                  <a:lnTo>
                    <a:pt x="2292619" y="494299"/>
                  </a:lnTo>
                  <a:lnTo>
                    <a:pt x="2258878" y="523244"/>
                  </a:lnTo>
                  <a:lnTo>
                    <a:pt x="2220937" y="546794"/>
                  </a:lnTo>
                  <a:lnTo>
                    <a:pt x="2179393" y="564355"/>
                  </a:lnTo>
                  <a:lnTo>
                    <a:pt x="2134841" y="575329"/>
                  </a:lnTo>
                  <a:lnTo>
                    <a:pt x="2087880" y="579120"/>
                  </a:lnTo>
                  <a:lnTo>
                    <a:pt x="1524000" y="579120"/>
                  </a:lnTo>
                  <a:lnTo>
                    <a:pt x="1477038" y="575329"/>
                  </a:lnTo>
                  <a:lnTo>
                    <a:pt x="1432486" y="564355"/>
                  </a:lnTo>
                  <a:lnTo>
                    <a:pt x="1390942" y="546794"/>
                  </a:lnTo>
                  <a:lnTo>
                    <a:pt x="1353001" y="523244"/>
                  </a:lnTo>
                  <a:lnTo>
                    <a:pt x="1319260" y="494299"/>
                  </a:lnTo>
                  <a:lnTo>
                    <a:pt x="1290315" y="460558"/>
                  </a:lnTo>
                  <a:lnTo>
                    <a:pt x="1266765" y="422617"/>
                  </a:lnTo>
                  <a:lnTo>
                    <a:pt x="1249204" y="381073"/>
                  </a:lnTo>
                  <a:lnTo>
                    <a:pt x="1238230" y="336521"/>
                  </a:lnTo>
                  <a:lnTo>
                    <a:pt x="1234440" y="289560"/>
                  </a:lnTo>
                  <a:close/>
                </a:path>
              </a:pathLst>
            </a:custGeom>
            <a:ln w="9525">
              <a:solidFill>
                <a:srgbClr val="295E7D"/>
              </a:solidFill>
              <a:prstDash val="dot"/>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54" name="object 54"/>
            <p:cNvSpPr/>
            <p:nvPr/>
          </p:nvSpPr>
          <p:spPr>
            <a:xfrm>
              <a:off x="667512" y="2164079"/>
              <a:ext cx="1143000" cy="579120"/>
            </a:xfrm>
            <a:custGeom>
              <a:avLst/>
              <a:gdLst/>
              <a:ahLst/>
              <a:cxnLst/>
              <a:rect l="l" t="t" r="r" b="b"/>
              <a:pathLst>
                <a:path w="1143000" h="579119">
                  <a:moveTo>
                    <a:pt x="0" y="289560"/>
                  </a:moveTo>
                  <a:lnTo>
                    <a:pt x="3789" y="242598"/>
                  </a:lnTo>
                  <a:lnTo>
                    <a:pt x="14762" y="198046"/>
                  </a:lnTo>
                  <a:lnTo>
                    <a:pt x="32320" y="156502"/>
                  </a:lnTo>
                  <a:lnTo>
                    <a:pt x="55868" y="118561"/>
                  </a:lnTo>
                  <a:lnTo>
                    <a:pt x="84810" y="84820"/>
                  </a:lnTo>
                  <a:lnTo>
                    <a:pt x="118550" y="55875"/>
                  </a:lnTo>
                  <a:lnTo>
                    <a:pt x="156491" y="32325"/>
                  </a:lnTo>
                  <a:lnTo>
                    <a:pt x="198037" y="14764"/>
                  </a:lnTo>
                  <a:lnTo>
                    <a:pt x="242592" y="3790"/>
                  </a:lnTo>
                  <a:lnTo>
                    <a:pt x="289559" y="0"/>
                  </a:lnTo>
                  <a:lnTo>
                    <a:pt x="853440" y="0"/>
                  </a:lnTo>
                  <a:lnTo>
                    <a:pt x="900401" y="3790"/>
                  </a:lnTo>
                  <a:lnTo>
                    <a:pt x="944953" y="14764"/>
                  </a:lnTo>
                  <a:lnTo>
                    <a:pt x="986497" y="32325"/>
                  </a:lnTo>
                  <a:lnTo>
                    <a:pt x="1024438" y="55875"/>
                  </a:lnTo>
                  <a:lnTo>
                    <a:pt x="1058179" y="84820"/>
                  </a:lnTo>
                  <a:lnTo>
                    <a:pt x="1087124" y="118561"/>
                  </a:lnTo>
                  <a:lnTo>
                    <a:pt x="1110674" y="156502"/>
                  </a:lnTo>
                  <a:lnTo>
                    <a:pt x="1128235" y="198046"/>
                  </a:lnTo>
                  <a:lnTo>
                    <a:pt x="1139209" y="242598"/>
                  </a:lnTo>
                  <a:lnTo>
                    <a:pt x="1143000" y="289560"/>
                  </a:lnTo>
                  <a:lnTo>
                    <a:pt x="1139209" y="336521"/>
                  </a:lnTo>
                  <a:lnTo>
                    <a:pt x="1128235" y="381073"/>
                  </a:lnTo>
                  <a:lnTo>
                    <a:pt x="1110674" y="422617"/>
                  </a:lnTo>
                  <a:lnTo>
                    <a:pt x="1087124" y="460558"/>
                  </a:lnTo>
                  <a:lnTo>
                    <a:pt x="1058179" y="494299"/>
                  </a:lnTo>
                  <a:lnTo>
                    <a:pt x="1024438" y="523244"/>
                  </a:lnTo>
                  <a:lnTo>
                    <a:pt x="986497" y="546794"/>
                  </a:lnTo>
                  <a:lnTo>
                    <a:pt x="944953" y="564355"/>
                  </a:lnTo>
                  <a:lnTo>
                    <a:pt x="900401" y="575329"/>
                  </a:lnTo>
                  <a:lnTo>
                    <a:pt x="853440" y="579120"/>
                  </a:lnTo>
                  <a:lnTo>
                    <a:pt x="289559" y="579120"/>
                  </a:lnTo>
                  <a:lnTo>
                    <a:pt x="242592" y="575329"/>
                  </a:lnTo>
                  <a:lnTo>
                    <a:pt x="198037" y="564355"/>
                  </a:lnTo>
                  <a:lnTo>
                    <a:pt x="156491" y="546794"/>
                  </a:lnTo>
                  <a:lnTo>
                    <a:pt x="118550" y="523244"/>
                  </a:lnTo>
                  <a:lnTo>
                    <a:pt x="84810" y="494299"/>
                  </a:lnTo>
                  <a:lnTo>
                    <a:pt x="55868" y="460558"/>
                  </a:lnTo>
                  <a:lnTo>
                    <a:pt x="32320" y="422617"/>
                  </a:lnTo>
                  <a:lnTo>
                    <a:pt x="14762" y="381073"/>
                  </a:lnTo>
                  <a:lnTo>
                    <a:pt x="3789" y="336521"/>
                  </a:lnTo>
                  <a:lnTo>
                    <a:pt x="0" y="289560"/>
                  </a:lnTo>
                  <a:close/>
                </a:path>
              </a:pathLst>
            </a:custGeom>
            <a:ln w="9524">
              <a:solidFill>
                <a:srgbClr val="EF7E30"/>
              </a:solidFill>
              <a:prstDash val="dot"/>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grpSp>
      <p:sp>
        <p:nvSpPr>
          <p:cNvPr id="55" name="object 55"/>
          <p:cNvSpPr txBox="1"/>
          <p:nvPr/>
        </p:nvSpPr>
        <p:spPr>
          <a:xfrm>
            <a:off x="926388" y="2162047"/>
            <a:ext cx="627380" cy="574040"/>
          </a:xfrm>
          <a:prstGeom prst="rect">
            <a:avLst/>
          </a:prstGeom>
        </p:spPr>
        <p:txBody>
          <a:bodyPr vert="horz" wrap="square" lIns="0" tIns="12700" rIns="0" bIns="0" rtlCol="0">
            <a:spAutoFit/>
          </a:bodyPr>
          <a:lstStyle/>
          <a:p>
            <a:pPr marL="0" marR="0" lvl="0" indent="0" algn="ctr" defTabSz="914400" eaLnBrk="1" fontAlgn="auto" latinLnBrk="0" hangingPunct="1">
              <a:lnSpc>
                <a:spcPct val="100000"/>
              </a:lnSpc>
              <a:spcBef>
                <a:spcPts val="100"/>
              </a:spcBef>
              <a:spcAft>
                <a:spcPts val="0"/>
              </a:spcAft>
              <a:buClrTx/>
              <a:buSzTx/>
              <a:buFontTx/>
              <a:buNone/>
              <a:tabLst/>
              <a:defRPr/>
            </a:pPr>
            <a:r>
              <a:rPr kumimoji="0" sz="1200" b="0" i="0" u="none" strike="noStrike" kern="0" cap="none" spc="-25" normalizeH="0" baseline="0" noProof="0">
                <a:ln>
                  <a:noFill/>
                </a:ln>
                <a:solidFill>
                  <a:srgbClr val="565656"/>
                </a:solidFill>
                <a:effectLst/>
                <a:uLnTx/>
                <a:uFillTx/>
                <a:latin typeface="Trebuchet MS"/>
                <a:cs typeface="Trebuchet MS"/>
              </a:rPr>
              <a:t>ETB</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a:p>
            <a:pPr marL="12700" marR="5080" lvl="0" indent="0" algn="ctr" defTabSz="914400" eaLnBrk="1" fontAlgn="auto" latinLnBrk="0" hangingPunct="1">
              <a:lnSpc>
                <a:spcPct val="100000"/>
              </a:lnSpc>
              <a:spcBef>
                <a:spcPts val="0"/>
              </a:spcBef>
              <a:spcAft>
                <a:spcPts val="0"/>
              </a:spcAft>
              <a:buClrTx/>
              <a:buSzTx/>
              <a:buFontTx/>
              <a:buNone/>
              <a:tabLst/>
              <a:defRPr/>
            </a:pPr>
            <a:r>
              <a:rPr kumimoji="0" sz="1200" b="0" i="0" u="none" strike="noStrike" kern="0" cap="none" spc="-40" normalizeH="0" baseline="0" noProof="0">
                <a:ln>
                  <a:noFill/>
                </a:ln>
                <a:solidFill>
                  <a:srgbClr val="565656"/>
                </a:solidFill>
                <a:effectLst/>
                <a:uLnTx/>
                <a:uFillTx/>
                <a:latin typeface="Trebuchet MS"/>
                <a:cs typeface="Trebuchet MS"/>
              </a:rPr>
              <a:t>customer </a:t>
            </a:r>
            <a:r>
              <a:rPr kumimoji="0" sz="1200" b="0" i="0" u="heavy" strike="noStrike" kern="0" cap="none" spc="-20" normalizeH="0" baseline="0" noProof="0">
                <a:ln>
                  <a:noFill/>
                </a:ln>
                <a:solidFill>
                  <a:srgbClr val="565656"/>
                </a:solidFill>
                <a:effectLst/>
                <a:uLnTx/>
                <a:uFill>
                  <a:solidFill>
                    <a:srgbClr val="EF7E30"/>
                  </a:solidFill>
                </a:uFill>
                <a:latin typeface="Trebuchet MS"/>
                <a:cs typeface="Trebuchet MS"/>
              </a:rPr>
              <a:t>data</a:t>
            </a:r>
            <a:r>
              <a:rPr kumimoji="0" sz="1200" b="0" i="0" u="none" strike="noStrike" kern="0" cap="none" spc="-20" normalizeH="0" baseline="0" noProof="0">
                <a:ln>
                  <a:noFill/>
                </a:ln>
                <a:solidFill>
                  <a:srgbClr val="565656"/>
                </a:solidFill>
                <a:effectLst/>
                <a:uLnTx/>
                <a:uFillTx/>
                <a:latin typeface="Trebuchet MS"/>
                <a:cs typeface="Trebuchet MS"/>
              </a:rPr>
              <a:t>base</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p:txBody>
      </p:sp>
      <p:grpSp>
        <p:nvGrpSpPr>
          <p:cNvPr id="56" name="object 56"/>
          <p:cNvGrpSpPr/>
          <p:nvPr/>
        </p:nvGrpSpPr>
        <p:grpSpPr>
          <a:xfrm>
            <a:off x="624649" y="2005393"/>
            <a:ext cx="5571490" cy="1087755"/>
            <a:chOff x="624649" y="2005393"/>
            <a:chExt cx="5571490" cy="1087755"/>
          </a:xfrm>
        </p:grpSpPr>
        <p:sp>
          <p:nvSpPr>
            <p:cNvPr id="57" name="object 57"/>
            <p:cNvSpPr/>
            <p:nvPr/>
          </p:nvSpPr>
          <p:spPr>
            <a:xfrm>
              <a:off x="2458339" y="2734182"/>
              <a:ext cx="2502535" cy="358140"/>
            </a:xfrm>
            <a:custGeom>
              <a:avLst/>
              <a:gdLst/>
              <a:ahLst/>
              <a:cxnLst/>
              <a:rect l="l" t="t" r="r" b="b"/>
              <a:pathLst>
                <a:path w="2502535" h="358139">
                  <a:moveTo>
                    <a:pt x="2502408" y="7112"/>
                  </a:moveTo>
                  <a:lnTo>
                    <a:pt x="2495423" y="0"/>
                  </a:lnTo>
                  <a:lnTo>
                    <a:pt x="2477770" y="0"/>
                  </a:lnTo>
                  <a:lnTo>
                    <a:pt x="2470658" y="7112"/>
                  </a:lnTo>
                  <a:lnTo>
                    <a:pt x="2470658" y="170942"/>
                  </a:lnTo>
                  <a:lnTo>
                    <a:pt x="1267460" y="170942"/>
                  </a:lnTo>
                  <a:lnTo>
                    <a:pt x="1267460" y="7112"/>
                  </a:lnTo>
                  <a:lnTo>
                    <a:pt x="1260348" y="0"/>
                  </a:lnTo>
                  <a:lnTo>
                    <a:pt x="1242822" y="0"/>
                  </a:lnTo>
                  <a:lnTo>
                    <a:pt x="1235710" y="7112"/>
                  </a:lnTo>
                  <a:lnTo>
                    <a:pt x="1235710" y="170942"/>
                  </a:lnTo>
                  <a:lnTo>
                    <a:pt x="581787" y="170942"/>
                  </a:lnTo>
                  <a:lnTo>
                    <a:pt x="564896" y="170942"/>
                  </a:lnTo>
                  <a:lnTo>
                    <a:pt x="31750" y="170942"/>
                  </a:lnTo>
                  <a:lnTo>
                    <a:pt x="31750" y="7112"/>
                  </a:lnTo>
                  <a:lnTo>
                    <a:pt x="24638" y="0"/>
                  </a:lnTo>
                  <a:lnTo>
                    <a:pt x="7112" y="0"/>
                  </a:lnTo>
                  <a:lnTo>
                    <a:pt x="0" y="7112"/>
                  </a:lnTo>
                  <a:lnTo>
                    <a:pt x="0" y="195580"/>
                  </a:lnTo>
                  <a:lnTo>
                    <a:pt x="7112" y="202692"/>
                  </a:lnTo>
                  <a:lnTo>
                    <a:pt x="557149" y="202692"/>
                  </a:lnTo>
                  <a:lnTo>
                    <a:pt x="557149" y="262382"/>
                  </a:lnTo>
                  <a:lnTo>
                    <a:pt x="526034" y="262382"/>
                  </a:lnTo>
                  <a:lnTo>
                    <a:pt x="525399" y="262382"/>
                  </a:lnTo>
                  <a:lnTo>
                    <a:pt x="573024" y="357632"/>
                  </a:lnTo>
                  <a:lnTo>
                    <a:pt x="573341" y="356997"/>
                  </a:lnTo>
                  <a:lnTo>
                    <a:pt x="573659" y="357632"/>
                  </a:lnTo>
                  <a:lnTo>
                    <a:pt x="605409" y="294132"/>
                  </a:lnTo>
                  <a:lnTo>
                    <a:pt x="621284" y="262382"/>
                  </a:lnTo>
                  <a:lnTo>
                    <a:pt x="620649" y="262382"/>
                  </a:lnTo>
                  <a:lnTo>
                    <a:pt x="589534" y="262382"/>
                  </a:lnTo>
                  <a:lnTo>
                    <a:pt x="589534" y="202692"/>
                  </a:lnTo>
                  <a:lnTo>
                    <a:pt x="1260348" y="202692"/>
                  </a:lnTo>
                  <a:lnTo>
                    <a:pt x="2495423" y="202692"/>
                  </a:lnTo>
                  <a:lnTo>
                    <a:pt x="2502408" y="195580"/>
                  </a:lnTo>
                  <a:lnTo>
                    <a:pt x="2502408" y="170942"/>
                  </a:lnTo>
                  <a:lnTo>
                    <a:pt x="2502408" y="7112"/>
                  </a:lnTo>
                  <a:close/>
                </a:path>
              </a:pathLst>
            </a:custGeom>
            <a:solidFill>
              <a:srgbClr val="295E7D"/>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58" name="object 58"/>
            <p:cNvSpPr/>
            <p:nvPr/>
          </p:nvSpPr>
          <p:spPr>
            <a:xfrm>
              <a:off x="1223899" y="2728086"/>
              <a:ext cx="1856105" cy="365125"/>
            </a:xfrm>
            <a:custGeom>
              <a:avLst/>
              <a:gdLst/>
              <a:ahLst/>
              <a:cxnLst/>
              <a:rect l="l" t="t" r="r" b="b"/>
              <a:pathLst>
                <a:path w="1856105" h="365125">
                  <a:moveTo>
                    <a:pt x="1792224" y="269748"/>
                  </a:moveTo>
                  <a:lnTo>
                    <a:pt x="1760474" y="269748"/>
                  </a:lnTo>
                  <a:lnTo>
                    <a:pt x="1808099" y="364998"/>
                  </a:lnTo>
                  <a:lnTo>
                    <a:pt x="1839849" y="301498"/>
                  </a:lnTo>
                  <a:lnTo>
                    <a:pt x="1799336" y="301498"/>
                  </a:lnTo>
                  <a:lnTo>
                    <a:pt x="1792224" y="294513"/>
                  </a:lnTo>
                  <a:lnTo>
                    <a:pt x="1792224" y="269748"/>
                  </a:lnTo>
                  <a:close/>
                </a:path>
                <a:path w="1856105" h="365125">
                  <a:moveTo>
                    <a:pt x="1792224" y="195199"/>
                  </a:moveTo>
                  <a:lnTo>
                    <a:pt x="1792224" y="294513"/>
                  </a:lnTo>
                  <a:lnTo>
                    <a:pt x="1799336" y="301498"/>
                  </a:lnTo>
                  <a:lnTo>
                    <a:pt x="1816862" y="301498"/>
                  </a:lnTo>
                  <a:lnTo>
                    <a:pt x="1823974" y="294513"/>
                  </a:lnTo>
                  <a:lnTo>
                    <a:pt x="1823974" y="211074"/>
                  </a:lnTo>
                  <a:lnTo>
                    <a:pt x="1808099" y="211074"/>
                  </a:lnTo>
                  <a:lnTo>
                    <a:pt x="1792224" y="195199"/>
                  </a:lnTo>
                  <a:close/>
                </a:path>
                <a:path w="1856105" h="365125">
                  <a:moveTo>
                    <a:pt x="1855724" y="269748"/>
                  </a:moveTo>
                  <a:lnTo>
                    <a:pt x="1823974" y="269748"/>
                  </a:lnTo>
                  <a:lnTo>
                    <a:pt x="1823974" y="294513"/>
                  </a:lnTo>
                  <a:lnTo>
                    <a:pt x="1816862" y="301498"/>
                  </a:lnTo>
                  <a:lnTo>
                    <a:pt x="1839849" y="301498"/>
                  </a:lnTo>
                  <a:lnTo>
                    <a:pt x="1855724" y="269748"/>
                  </a:lnTo>
                  <a:close/>
                </a:path>
                <a:path w="1856105" h="365125">
                  <a:moveTo>
                    <a:pt x="24637" y="0"/>
                  </a:moveTo>
                  <a:lnTo>
                    <a:pt x="7112" y="0"/>
                  </a:lnTo>
                  <a:lnTo>
                    <a:pt x="0" y="7112"/>
                  </a:lnTo>
                  <a:lnTo>
                    <a:pt x="0" y="203962"/>
                  </a:lnTo>
                  <a:lnTo>
                    <a:pt x="7112" y="211074"/>
                  </a:lnTo>
                  <a:lnTo>
                    <a:pt x="1792224" y="211074"/>
                  </a:lnTo>
                  <a:lnTo>
                    <a:pt x="1792224" y="195199"/>
                  </a:lnTo>
                  <a:lnTo>
                    <a:pt x="31750" y="195199"/>
                  </a:lnTo>
                  <a:lnTo>
                    <a:pt x="15875" y="179324"/>
                  </a:lnTo>
                  <a:lnTo>
                    <a:pt x="31750" y="179324"/>
                  </a:lnTo>
                  <a:lnTo>
                    <a:pt x="31750" y="7112"/>
                  </a:lnTo>
                  <a:lnTo>
                    <a:pt x="24637" y="0"/>
                  </a:lnTo>
                  <a:close/>
                </a:path>
                <a:path w="1856105" h="365125">
                  <a:moveTo>
                    <a:pt x="1816862" y="179324"/>
                  </a:moveTo>
                  <a:lnTo>
                    <a:pt x="31750" y="179324"/>
                  </a:lnTo>
                  <a:lnTo>
                    <a:pt x="31750" y="195199"/>
                  </a:lnTo>
                  <a:lnTo>
                    <a:pt x="1792224" y="195199"/>
                  </a:lnTo>
                  <a:lnTo>
                    <a:pt x="1808099" y="211074"/>
                  </a:lnTo>
                  <a:lnTo>
                    <a:pt x="1823974" y="211074"/>
                  </a:lnTo>
                  <a:lnTo>
                    <a:pt x="1823974" y="186436"/>
                  </a:lnTo>
                  <a:lnTo>
                    <a:pt x="1816862" y="179324"/>
                  </a:lnTo>
                  <a:close/>
                </a:path>
                <a:path w="1856105" h="365125">
                  <a:moveTo>
                    <a:pt x="31750" y="179324"/>
                  </a:moveTo>
                  <a:lnTo>
                    <a:pt x="15875" y="179324"/>
                  </a:lnTo>
                  <a:lnTo>
                    <a:pt x="31750" y="195199"/>
                  </a:lnTo>
                  <a:lnTo>
                    <a:pt x="31750" y="179324"/>
                  </a:lnTo>
                  <a:close/>
                </a:path>
              </a:pathLst>
            </a:custGeom>
            <a:solidFill>
              <a:srgbClr val="EF7E30"/>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pic>
          <p:nvPicPr>
            <p:cNvPr id="59" name="object 59"/>
            <p:cNvPicPr/>
            <p:nvPr/>
          </p:nvPicPr>
          <p:blipFill>
            <a:blip r:embed="rId7" cstate="print"/>
            <a:stretch>
              <a:fillRect/>
            </a:stretch>
          </p:blipFill>
          <p:spPr>
            <a:xfrm>
              <a:off x="2984372" y="2734182"/>
              <a:ext cx="3211449" cy="357631"/>
            </a:xfrm>
            <a:prstGeom prst="rect">
              <a:avLst/>
            </a:prstGeom>
          </p:spPr>
        </p:pic>
        <p:sp>
          <p:nvSpPr>
            <p:cNvPr id="60" name="object 60"/>
            <p:cNvSpPr/>
            <p:nvPr/>
          </p:nvSpPr>
          <p:spPr>
            <a:xfrm>
              <a:off x="629412" y="2010155"/>
              <a:ext cx="307975" cy="306705"/>
            </a:xfrm>
            <a:custGeom>
              <a:avLst/>
              <a:gdLst/>
              <a:ahLst/>
              <a:cxnLst/>
              <a:rect l="l" t="t" r="r" b="b"/>
              <a:pathLst>
                <a:path w="307975" h="306705">
                  <a:moveTo>
                    <a:pt x="153923" y="0"/>
                  </a:moveTo>
                  <a:lnTo>
                    <a:pt x="105270" y="7808"/>
                  </a:lnTo>
                  <a:lnTo>
                    <a:pt x="63016" y="29553"/>
                  </a:lnTo>
                  <a:lnTo>
                    <a:pt x="29697" y="62709"/>
                  </a:lnTo>
                  <a:lnTo>
                    <a:pt x="7846" y="104753"/>
                  </a:lnTo>
                  <a:lnTo>
                    <a:pt x="0" y="153162"/>
                  </a:lnTo>
                  <a:lnTo>
                    <a:pt x="7846" y="201570"/>
                  </a:lnTo>
                  <a:lnTo>
                    <a:pt x="29697" y="243614"/>
                  </a:lnTo>
                  <a:lnTo>
                    <a:pt x="63016" y="276770"/>
                  </a:lnTo>
                  <a:lnTo>
                    <a:pt x="105270" y="298515"/>
                  </a:lnTo>
                  <a:lnTo>
                    <a:pt x="153923" y="306324"/>
                  </a:lnTo>
                  <a:lnTo>
                    <a:pt x="202577" y="298515"/>
                  </a:lnTo>
                  <a:lnTo>
                    <a:pt x="244831" y="276770"/>
                  </a:lnTo>
                  <a:lnTo>
                    <a:pt x="278150" y="243614"/>
                  </a:lnTo>
                  <a:lnTo>
                    <a:pt x="300001" y="201570"/>
                  </a:lnTo>
                  <a:lnTo>
                    <a:pt x="307847" y="153162"/>
                  </a:lnTo>
                  <a:lnTo>
                    <a:pt x="300001" y="104753"/>
                  </a:lnTo>
                  <a:lnTo>
                    <a:pt x="278150" y="62709"/>
                  </a:lnTo>
                  <a:lnTo>
                    <a:pt x="244831" y="29553"/>
                  </a:lnTo>
                  <a:lnTo>
                    <a:pt x="202577" y="7808"/>
                  </a:lnTo>
                  <a:lnTo>
                    <a:pt x="153923" y="0"/>
                  </a:lnTo>
                  <a:close/>
                </a:path>
              </a:pathLst>
            </a:custGeom>
            <a:solidFill>
              <a:srgbClr val="187955"/>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61" name="object 61"/>
            <p:cNvSpPr/>
            <p:nvPr/>
          </p:nvSpPr>
          <p:spPr>
            <a:xfrm>
              <a:off x="629412" y="2010155"/>
              <a:ext cx="307975" cy="306705"/>
            </a:xfrm>
            <a:custGeom>
              <a:avLst/>
              <a:gdLst/>
              <a:ahLst/>
              <a:cxnLst/>
              <a:rect l="l" t="t" r="r" b="b"/>
              <a:pathLst>
                <a:path w="307975" h="306705">
                  <a:moveTo>
                    <a:pt x="0" y="153162"/>
                  </a:moveTo>
                  <a:lnTo>
                    <a:pt x="7846" y="104753"/>
                  </a:lnTo>
                  <a:lnTo>
                    <a:pt x="29697" y="62709"/>
                  </a:lnTo>
                  <a:lnTo>
                    <a:pt x="63016" y="29553"/>
                  </a:lnTo>
                  <a:lnTo>
                    <a:pt x="105270" y="7808"/>
                  </a:lnTo>
                  <a:lnTo>
                    <a:pt x="153923" y="0"/>
                  </a:lnTo>
                  <a:lnTo>
                    <a:pt x="202577" y="7808"/>
                  </a:lnTo>
                  <a:lnTo>
                    <a:pt x="244831" y="29553"/>
                  </a:lnTo>
                  <a:lnTo>
                    <a:pt x="278150" y="62709"/>
                  </a:lnTo>
                  <a:lnTo>
                    <a:pt x="300001" y="104753"/>
                  </a:lnTo>
                  <a:lnTo>
                    <a:pt x="307847" y="153162"/>
                  </a:lnTo>
                  <a:lnTo>
                    <a:pt x="300001" y="201570"/>
                  </a:lnTo>
                  <a:lnTo>
                    <a:pt x="278150" y="243614"/>
                  </a:lnTo>
                  <a:lnTo>
                    <a:pt x="244831" y="276770"/>
                  </a:lnTo>
                  <a:lnTo>
                    <a:pt x="202577" y="298515"/>
                  </a:lnTo>
                  <a:lnTo>
                    <a:pt x="153923" y="306324"/>
                  </a:lnTo>
                  <a:lnTo>
                    <a:pt x="105270" y="298515"/>
                  </a:lnTo>
                  <a:lnTo>
                    <a:pt x="63016" y="276770"/>
                  </a:lnTo>
                  <a:lnTo>
                    <a:pt x="29697" y="243614"/>
                  </a:lnTo>
                  <a:lnTo>
                    <a:pt x="7846" y="201570"/>
                  </a:lnTo>
                  <a:lnTo>
                    <a:pt x="0" y="153162"/>
                  </a:lnTo>
                  <a:close/>
                </a:path>
              </a:pathLst>
            </a:custGeom>
            <a:ln w="9525">
              <a:solidFill>
                <a:srgbClr val="FFFFFF"/>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grpSp>
      <p:sp>
        <p:nvSpPr>
          <p:cNvPr id="62" name="object 62"/>
          <p:cNvSpPr txBox="1"/>
          <p:nvPr/>
        </p:nvSpPr>
        <p:spPr>
          <a:xfrm>
            <a:off x="2181098" y="2344928"/>
            <a:ext cx="531495" cy="391160"/>
          </a:xfrm>
          <a:prstGeom prst="rect">
            <a:avLst/>
          </a:prstGeom>
        </p:spPr>
        <p:txBody>
          <a:bodyPr vert="horz" wrap="square" lIns="0" tIns="12700" rIns="0" bIns="0" rtlCol="0">
            <a:spAutoFit/>
          </a:bodyPr>
          <a:lstStyle/>
          <a:p>
            <a:pPr marL="70485" marR="0" lvl="0" indent="0" defTabSz="914400" eaLnBrk="1" fontAlgn="auto" latinLnBrk="0" hangingPunct="1">
              <a:lnSpc>
                <a:spcPct val="100000"/>
              </a:lnSpc>
              <a:spcBef>
                <a:spcPts val="100"/>
              </a:spcBef>
              <a:spcAft>
                <a:spcPts val="0"/>
              </a:spcAft>
              <a:buClrTx/>
              <a:buSzTx/>
              <a:buFontTx/>
              <a:buNone/>
              <a:tabLst/>
              <a:defRPr/>
            </a:pPr>
            <a:r>
              <a:rPr kumimoji="0" sz="1200" b="0" i="0" u="none" strike="noStrike" kern="0" cap="none" spc="-20" normalizeH="0" baseline="0" noProof="0">
                <a:ln>
                  <a:noFill/>
                </a:ln>
                <a:solidFill>
                  <a:srgbClr val="565656"/>
                </a:solidFill>
                <a:effectLst/>
                <a:uLnTx/>
                <a:uFillTx/>
                <a:latin typeface="Trebuchet MS"/>
                <a:cs typeface="Trebuchet MS"/>
              </a:rPr>
              <a:t>Branch</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a:p>
            <a:pPr marL="12700" marR="0" lvl="0" indent="0" defTabSz="914400" eaLnBrk="1" fontAlgn="auto" latinLnBrk="0" hangingPunct="1">
              <a:lnSpc>
                <a:spcPct val="100000"/>
              </a:lnSpc>
              <a:spcBef>
                <a:spcPts val="0"/>
              </a:spcBef>
              <a:spcAft>
                <a:spcPts val="0"/>
              </a:spcAft>
              <a:buClrTx/>
              <a:buSzTx/>
              <a:buFontTx/>
              <a:buNone/>
              <a:tabLst>
                <a:tab pos="336550" algn="l"/>
              </a:tabLst>
              <a:defRPr/>
            </a:pPr>
            <a:r>
              <a:rPr kumimoji="0" sz="1200" b="0" i="0" u="heavy" strike="noStrike" kern="0" cap="none" spc="0" normalizeH="0" baseline="0" noProof="0">
                <a:ln>
                  <a:noFill/>
                </a:ln>
                <a:solidFill>
                  <a:srgbClr val="565656"/>
                </a:solidFill>
                <a:effectLst/>
                <a:uLnTx/>
                <a:uFill>
                  <a:solidFill>
                    <a:srgbClr val="295E7D"/>
                  </a:solidFill>
                </a:uFill>
                <a:latin typeface="Trebuchet MS"/>
                <a:cs typeface="Trebuchet MS"/>
              </a:rPr>
              <a:t>	</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63" name="object 63"/>
          <p:cNvSpPr txBox="1"/>
          <p:nvPr/>
        </p:nvSpPr>
        <p:spPr>
          <a:xfrm>
            <a:off x="4609338" y="2344928"/>
            <a:ext cx="674370" cy="391160"/>
          </a:xfrm>
          <a:prstGeom prst="rect">
            <a:avLst/>
          </a:prstGeom>
        </p:spPr>
        <p:txBody>
          <a:bodyPr vert="horz" wrap="square" lIns="0" tIns="1270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sz="1200" b="0" i="0" u="none" strike="noStrike" kern="0" cap="none" spc="-30" normalizeH="0" baseline="0" noProof="0">
                <a:ln>
                  <a:noFill/>
                </a:ln>
                <a:solidFill>
                  <a:srgbClr val="565656"/>
                </a:solidFill>
                <a:effectLst/>
                <a:uLnTx/>
                <a:uFillTx/>
                <a:latin typeface="Trebuchet MS"/>
                <a:cs typeface="Trebuchet MS"/>
              </a:rPr>
              <a:t>Corporate</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a:p>
            <a:pPr marL="45720" marR="0" lvl="0" indent="0" defTabSz="914400" eaLnBrk="1" fontAlgn="auto" latinLnBrk="0" hangingPunct="1">
              <a:lnSpc>
                <a:spcPct val="100000"/>
              </a:lnSpc>
              <a:spcBef>
                <a:spcPts val="0"/>
              </a:spcBef>
              <a:spcAft>
                <a:spcPts val="0"/>
              </a:spcAft>
              <a:buClrTx/>
              <a:buSzTx/>
              <a:buFontTx/>
              <a:buNone/>
              <a:tabLst>
                <a:tab pos="369570" algn="l"/>
              </a:tabLst>
              <a:defRPr/>
            </a:pPr>
            <a:r>
              <a:rPr kumimoji="0" sz="1200" b="0" i="0" u="heavy" strike="noStrike" kern="0" cap="none" spc="0" normalizeH="0" baseline="0" noProof="0">
                <a:ln>
                  <a:noFill/>
                </a:ln>
                <a:solidFill>
                  <a:srgbClr val="565656"/>
                </a:solidFill>
                <a:effectLst/>
                <a:uLnTx/>
                <a:uFill>
                  <a:solidFill>
                    <a:srgbClr val="295E7D"/>
                  </a:solidFill>
                </a:uFill>
                <a:latin typeface="Trebuchet MS"/>
                <a:cs typeface="Trebuchet MS"/>
              </a:rPr>
              <a:t>	</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64" name="object 64"/>
          <p:cNvSpPr txBox="1"/>
          <p:nvPr/>
        </p:nvSpPr>
        <p:spPr>
          <a:xfrm>
            <a:off x="5884417" y="2344928"/>
            <a:ext cx="436245" cy="391160"/>
          </a:xfrm>
          <a:prstGeom prst="rect">
            <a:avLst/>
          </a:prstGeom>
        </p:spPr>
        <p:txBody>
          <a:bodyPr vert="horz" wrap="square" lIns="0" tIns="12700" rIns="0" bIns="0" rtlCol="0">
            <a:spAutoFit/>
          </a:bodyPr>
          <a:lstStyle/>
          <a:p>
            <a:pPr marL="168910" marR="0" lvl="0" indent="0" defTabSz="914400" eaLnBrk="1" fontAlgn="auto" latinLnBrk="0" hangingPunct="1">
              <a:lnSpc>
                <a:spcPct val="100000"/>
              </a:lnSpc>
              <a:spcBef>
                <a:spcPts val="100"/>
              </a:spcBef>
              <a:spcAft>
                <a:spcPts val="0"/>
              </a:spcAft>
              <a:buClrTx/>
              <a:buSzTx/>
              <a:buFontTx/>
              <a:buNone/>
              <a:tabLst/>
              <a:defRPr/>
            </a:pPr>
            <a:r>
              <a:rPr kumimoji="0" sz="1200" b="0" i="0" u="none" strike="noStrike" kern="0" cap="none" spc="-25" normalizeH="0" baseline="0" noProof="0">
                <a:ln>
                  <a:noFill/>
                </a:ln>
                <a:solidFill>
                  <a:srgbClr val="565656"/>
                </a:solidFill>
                <a:effectLst/>
                <a:uLnTx/>
                <a:uFillTx/>
                <a:latin typeface="Trebuchet MS"/>
                <a:cs typeface="Trebuchet MS"/>
              </a:rPr>
              <a:t>SME</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a:p>
            <a:pPr marL="12700" marR="0" lvl="0" indent="0" defTabSz="914400" eaLnBrk="1" fontAlgn="auto" latinLnBrk="0" hangingPunct="1">
              <a:lnSpc>
                <a:spcPct val="100000"/>
              </a:lnSpc>
              <a:spcBef>
                <a:spcPts val="0"/>
              </a:spcBef>
              <a:spcAft>
                <a:spcPts val="0"/>
              </a:spcAft>
              <a:buClrTx/>
              <a:buSzTx/>
              <a:buFontTx/>
              <a:buNone/>
              <a:tabLst>
                <a:tab pos="336550" algn="l"/>
              </a:tabLst>
              <a:defRPr/>
            </a:pPr>
            <a:r>
              <a:rPr kumimoji="0" sz="1200" b="0" i="0" u="heavy" strike="noStrike" kern="0" cap="none" spc="0" normalizeH="0" baseline="0" noProof="0">
                <a:ln>
                  <a:noFill/>
                </a:ln>
                <a:solidFill>
                  <a:srgbClr val="565656"/>
                </a:solidFill>
                <a:effectLst/>
                <a:uLnTx/>
                <a:uFill>
                  <a:solidFill>
                    <a:srgbClr val="295E7D"/>
                  </a:solidFill>
                </a:uFill>
                <a:latin typeface="Trebuchet MS"/>
                <a:cs typeface="Trebuchet MS"/>
              </a:rPr>
              <a:t>	</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65" name="object 65"/>
          <p:cNvSpPr txBox="1"/>
          <p:nvPr/>
        </p:nvSpPr>
        <p:spPr>
          <a:xfrm>
            <a:off x="3406394" y="2527808"/>
            <a:ext cx="349885" cy="208279"/>
          </a:xfrm>
          <a:prstGeom prst="rect">
            <a:avLst/>
          </a:prstGeom>
        </p:spPr>
        <p:txBody>
          <a:bodyPr vert="horz" wrap="square" lIns="0" tIns="1270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tab pos="336550" algn="l"/>
              </a:tabLst>
              <a:defRPr/>
            </a:pPr>
            <a:r>
              <a:rPr kumimoji="0" sz="1200" b="0" i="0" u="heavy" strike="noStrike" kern="0" cap="none" spc="0" normalizeH="0" baseline="0" noProof="0">
                <a:ln>
                  <a:noFill/>
                </a:ln>
                <a:solidFill>
                  <a:srgbClr val="565656"/>
                </a:solidFill>
                <a:effectLst/>
                <a:uLnTx/>
                <a:uFill>
                  <a:solidFill>
                    <a:srgbClr val="295E7D"/>
                  </a:solidFill>
                </a:uFill>
                <a:latin typeface="Trebuchet MS"/>
                <a:cs typeface="Trebuchet MS"/>
              </a:rPr>
              <a:t>	</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66" name="object 66"/>
          <p:cNvSpPr txBox="1"/>
          <p:nvPr/>
        </p:nvSpPr>
        <p:spPr>
          <a:xfrm>
            <a:off x="725525" y="2055367"/>
            <a:ext cx="115570" cy="208279"/>
          </a:xfrm>
          <a:prstGeom prst="rect">
            <a:avLst/>
          </a:prstGeom>
        </p:spPr>
        <p:txBody>
          <a:bodyPr vert="horz" wrap="square" lIns="0" tIns="1270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sz="1200" b="0" i="0" u="none" strike="noStrike" kern="0" cap="none" spc="-50" normalizeH="0" baseline="0" noProof="0">
                <a:ln>
                  <a:noFill/>
                </a:ln>
                <a:solidFill>
                  <a:srgbClr val="FFFFFF"/>
                </a:solidFill>
                <a:effectLst/>
                <a:uLnTx/>
                <a:uFillTx/>
                <a:latin typeface="Trebuchet MS"/>
                <a:cs typeface="Trebuchet MS"/>
              </a:rPr>
              <a:t>A</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67" name="object 67"/>
          <p:cNvSpPr/>
          <p:nvPr/>
        </p:nvSpPr>
        <p:spPr>
          <a:xfrm>
            <a:off x="3710940" y="1664207"/>
            <a:ext cx="1525905" cy="390525"/>
          </a:xfrm>
          <a:custGeom>
            <a:avLst/>
            <a:gdLst/>
            <a:ahLst/>
            <a:cxnLst/>
            <a:rect l="l" t="t" r="r" b="b"/>
            <a:pathLst>
              <a:path w="1525904" h="390525">
                <a:moveTo>
                  <a:pt x="1330452" y="0"/>
                </a:moveTo>
                <a:lnTo>
                  <a:pt x="195072" y="0"/>
                </a:lnTo>
                <a:lnTo>
                  <a:pt x="150356" y="5154"/>
                </a:lnTo>
                <a:lnTo>
                  <a:pt x="109301" y="19834"/>
                </a:lnTo>
                <a:lnTo>
                  <a:pt x="73080" y="42867"/>
                </a:lnTo>
                <a:lnTo>
                  <a:pt x="42867" y="73080"/>
                </a:lnTo>
                <a:lnTo>
                  <a:pt x="19834" y="109301"/>
                </a:lnTo>
                <a:lnTo>
                  <a:pt x="5154" y="150356"/>
                </a:lnTo>
                <a:lnTo>
                  <a:pt x="0" y="195071"/>
                </a:lnTo>
                <a:lnTo>
                  <a:pt x="5154" y="239787"/>
                </a:lnTo>
                <a:lnTo>
                  <a:pt x="19834" y="280842"/>
                </a:lnTo>
                <a:lnTo>
                  <a:pt x="42867" y="317063"/>
                </a:lnTo>
                <a:lnTo>
                  <a:pt x="73080" y="347276"/>
                </a:lnTo>
                <a:lnTo>
                  <a:pt x="109301" y="370309"/>
                </a:lnTo>
                <a:lnTo>
                  <a:pt x="150356" y="384989"/>
                </a:lnTo>
                <a:lnTo>
                  <a:pt x="195072" y="390143"/>
                </a:lnTo>
                <a:lnTo>
                  <a:pt x="1330452" y="390143"/>
                </a:lnTo>
                <a:lnTo>
                  <a:pt x="1375167" y="384989"/>
                </a:lnTo>
                <a:lnTo>
                  <a:pt x="1416222" y="370309"/>
                </a:lnTo>
                <a:lnTo>
                  <a:pt x="1452443" y="347276"/>
                </a:lnTo>
                <a:lnTo>
                  <a:pt x="1482656" y="317063"/>
                </a:lnTo>
                <a:lnTo>
                  <a:pt x="1505689" y="280842"/>
                </a:lnTo>
                <a:lnTo>
                  <a:pt x="1520369" y="239787"/>
                </a:lnTo>
                <a:lnTo>
                  <a:pt x="1525524" y="195071"/>
                </a:lnTo>
                <a:lnTo>
                  <a:pt x="1520369" y="150356"/>
                </a:lnTo>
                <a:lnTo>
                  <a:pt x="1505689" y="109301"/>
                </a:lnTo>
                <a:lnTo>
                  <a:pt x="1482656" y="73080"/>
                </a:lnTo>
                <a:lnTo>
                  <a:pt x="1452443" y="42867"/>
                </a:lnTo>
                <a:lnTo>
                  <a:pt x="1416222" y="19834"/>
                </a:lnTo>
                <a:lnTo>
                  <a:pt x="1375167" y="5154"/>
                </a:lnTo>
                <a:lnTo>
                  <a:pt x="1330452" y="0"/>
                </a:lnTo>
                <a:close/>
              </a:path>
            </a:pathLst>
          </a:custGeom>
          <a:solidFill>
            <a:srgbClr val="FFFFFF"/>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68" name="object 68"/>
          <p:cNvSpPr txBox="1"/>
          <p:nvPr/>
        </p:nvSpPr>
        <p:spPr>
          <a:xfrm>
            <a:off x="3849370" y="1751203"/>
            <a:ext cx="1247775" cy="208279"/>
          </a:xfrm>
          <a:prstGeom prst="rect">
            <a:avLst/>
          </a:prstGeom>
        </p:spPr>
        <p:txBody>
          <a:bodyPr vert="horz" wrap="square" lIns="0" tIns="1270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sz="1200" b="0" i="0" u="none" strike="noStrike" kern="0" cap="none" spc="-10" normalizeH="0" baseline="0" noProof="0">
                <a:ln>
                  <a:noFill/>
                </a:ln>
                <a:solidFill>
                  <a:srgbClr val="565656"/>
                </a:solidFill>
                <a:effectLst/>
                <a:uLnTx/>
                <a:uFillTx/>
                <a:latin typeface="Trebuchet MS"/>
                <a:cs typeface="Trebuchet MS"/>
              </a:rPr>
              <a:t>Referral</a:t>
            </a:r>
            <a:r>
              <a:rPr kumimoji="0" sz="1200" b="0" i="0" u="none" strike="noStrike" kern="0" cap="none" spc="-35" normalizeH="0" baseline="0" noProof="0">
                <a:ln>
                  <a:noFill/>
                </a:ln>
                <a:solidFill>
                  <a:srgbClr val="565656"/>
                </a:solidFill>
                <a:effectLst/>
                <a:uLnTx/>
                <a:uFillTx/>
                <a:latin typeface="Trebuchet MS"/>
                <a:cs typeface="Trebuchet MS"/>
              </a:rPr>
              <a:t> </a:t>
            </a:r>
            <a:r>
              <a:rPr kumimoji="0" sz="1200" b="0" i="0" u="none" strike="noStrike" kern="0" cap="none" spc="-10" normalizeH="0" baseline="0" noProof="0">
                <a:ln>
                  <a:noFill/>
                </a:ln>
                <a:solidFill>
                  <a:srgbClr val="565656"/>
                </a:solidFill>
                <a:effectLst/>
                <a:uLnTx/>
                <a:uFillTx/>
                <a:latin typeface="Trebuchet MS"/>
                <a:cs typeface="Trebuchet MS"/>
              </a:rPr>
              <a:t>programs</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p:txBody>
      </p:sp>
      <p:grpSp>
        <p:nvGrpSpPr>
          <p:cNvPr id="69" name="object 69"/>
          <p:cNvGrpSpPr/>
          <p:nvPr/>
        </p:nvGrpSpPr>
        <p:grpSpPr>
          <a:xfrm>
            <a:off x="3410521" y="1720405"/>
            <a:ext cx="316230" cy="317500"/>
            <a:chOff x="3410521" y="1720405"/>
            <a:chExt cx="316230" cy="317500"/>
          </a:xfrm>
        </p:grpSpPr>
        <p:sp>
          <p:nvSpPr>
            <p:cNvPr id="70" name="object 70"/>
            <p:cNvSpPr/>
            <p:nvPr/>
          </p:nvSpPr>
          <p:spPr>
            <a:xfrm>
              <a:off x="3415284" y="1725167"/>
              <a:ext cx="306705" cy="307975"/>
            </a:xfrm>
            <a:custGeom>
              <a:avLst/>
              <a:gdLst/>
              <a:ahLst/>
              <a:cxnLst/>
              <a:rect l="l" t="t" r="r" b="b"/>
              <a:pathLst>
                <a:path w="306704" h="307975">
                  <a:moveTo>
                    <a:pt x="153162" y="0"/>
                  </a:moveTo>
                  <a:lnTo>
                    <a:pt x="104753" y="7851"/>
                  </a:lnTo>
                  <a:lnTo>
                    <a:pt x="62709" y="29711"/>
                  </a:lnTo>
                  <a:lnTo>
                    <a:pt x="29553" y="63038"/>
                  </a:lnTo>
                  <a:lnTo>
                    <a:pt x="7808" y="105290"/>
                  </a:lnTo>
                  <a:lnTo>
                    <a:pt x="0" y="153924"/>
                  </a:lnTo>
                  <a:lnTo>
                    <a:pt x="7808" y="202557"/>
                  </a:lnTo>
                  <a:lnTo>
                    <a:pt x="29553" y="244809"/>
                  </a:lnTo>
                  <a:lnTo>
                    <a:pt x="62709" y="278136"/>
                  </a:lnTo>
                  <a:lnTo>
                    <a:pt x="104753" y="299996"/>
                  </a:lnTo>
                  <a:lnTo>
                    <a:pt x="153162" y="307848"/>
                  </a:lnTo>
                  <a:lnTo>
                    <a:pt x="201570" y="299996"/>
                  </a:lnTo>
                  <a:lnTo>
                    <a:pt x="243614" y="278136"/>
                  </a:lnTo>
                  <a:lnTo>
                    <a:pt x="276770" y="244809"/>
                  </a:lnTo>
                  <a:lnTo>
                    <a:pt x="298515" y="202557"/>
                  </a:lnTo>
                  <a:lnTo>
                    <a:pt x="306324" y="153924"/>
                  </a:lnTo>
                  <a:lnTo>
                    <a:pt x="298515" y="105290"/>
                  </a:lnTo>
                  <a:lnTo>
                    <a:pt x="276770" y="63038"/>
                  </a:lnTo>
                  <a:lnTo>
                    <a:pt x="243614" y="29711"/>
                  </a:lnTo>
                  <a:lnTo>
                    <a:pt x="201570" y="7851"/>
                  </a:lnTo>
                  <a:lnTo>
                    <a:pt x="153162" y="0"/>
                  </a:lnTo>
                  <a:close/>
                </a:path>
              </a:pathLst>
            </a:custGeom>
            <a:solidFill>
              <a:srgbClr val="187955"/>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71" name="object 71"/>
            <p:cNvSpPr/>
            <p:nvPr/>
          </p:nvSpPr>
          <p:spPr>
            <a:xfrm>
              <a:off x="3415284" y="1725167"/>
              <a:ext cx="306705" cy="307975"/>
            </a:xfrm>
            <a:custGeom>
              <a:avLst/>
              <a:gdLst/>
              <a:ahLst/>
              <a:cxnLst/>
              <a:rect l="l" t="t" r="r" b="b"/>
              <a:pathLst>
                <a:path w="306704" h="307975">
                  <a:moveTo>
                    <a:pt x="0" y="153924"/>
                  </a:moveTo>
                  <a:lnTo>
                    <a:pt x="7808" y="105290"/>
                  </a:lnTo>
                  <a:lnTo>
                    <a:pt x="29553" y="63038"/>
                  </a:lnTo>
                  <a:lnTo>
                    <a:pt x="62709" y="29711"/>
                  </a:lnTo>
                  <a:lnTo>
                    <a:pt x="104753" y="7851"/>
                  </a:lnTo>
                  <a:lnTo>
                    <a:pt x="153162" y="0"/>
                  </a:lnTo>
                  <a:lnTo>
                    <a:pt x="201570" y="7851"/>
                  </a:lnTo>
                  <a:lnTo>
                    <a:pt x="243614" y="29711"/>
                  </a:lnTo>
                  <a:lnTo>
                    <a:pt x="276770" y="63038"/>
                  </a:lnTo>
                  <a:lnTo>
                    <a:pt x="298515" y="105290"/>
                  </a:lnTo>
                  <a:lnTo>
                    <a:pt x="306324" y="153924"/>
                  </a:lnTo>
                  <a:lnTo>
                    <a:pt x="298515" y="202557"/>
                  </a:lnTo>
                  <a:lnTo>
                    <a:pt x="276770" y="244809"/>
                  </a:lnTo>
                  <a:lnTo>
                    <a:pt x="243614" y="278136"/>
                  </a:lnTo>
                  <a:lnTo>
                    <a:pt x="201570" y="299996"/>
                  </a:lnTo>
                  <a:lnTo>
                    <a:pt x="153162" y="307848"/>
                  </a:lnTo>
                  <a:lnTo>
                    <a:pt x="104753" y="299996"/>
                  </a:lnTo>
                  <a:lnTo>
                    <a:pt x="62709" y="278136"/>
                  </a:lnTo>
                  <a:lnTo>
                    <a:pt x="29553" y="244809"/>
                  </a:lnTo>
                  <a:lnTo>
                    <a:pt x="7808" y="202557"/>
                  </a:lnTo>
                  <a:lnTo>
                    <a:pt x="0" y="153924"/>
                  </a:lnTo>
                  <a:close/>
                </a:path>
              </a:pathLst>
            </a:custGeom>
            <a:ln w="9525">
              <a:solidFill>
                <a:srgbClr val="FFFFFF"/>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grpSp>
      <p:sp>
        <p:nvSpPr>
          <p:cNvPr id="72" name="object 72"/>
          <p:cNvSpPr txBox="1"/>
          <p:nvPr/>
        </p:nvSpPr>
        <p:spPr>
          <a:xfrm>
            <a:off x="3512565" y="1770634"/>
            <a:ext cx="111760" cy="208279"/>
          </a:xfrm>
          <a:prstGeom prst="rect">
            <a:avLst/>
          </a:prstGeom>
        </p:spPr>
        <p:txBody>
          <a:bodyPr vert="horz" wrap="square" lIns="0" tIns="1270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sz="1200" b="0" i="0" u="none" strike="noStrike" kern="0" cap="none" spc="-50" normalizeH="0" baseline="0" noProof="0">
                <a:ln>
                  <a:noFill/>
                </a:ln>
                <a:solidFill>
                  <a:srgbClr val="FFFFFF"/>
                </a:solidFill>
                <a:effectLst/>
                <a:uLnTx/>
                <a:uFillTx/>
                <a:latin typeface="Trebuchet MS"/>
                <a:cs typeface="Trebuchet MS"/>
              </a:rPr>
              <a:t>B</a:t>
            </a:r>
            <a:endParaRPr kumimoji="0" sz="1200" b="0" i="0" u="none" strike="noStrike" kern="0" cap="none" spc="0" normalizeH="0" baseline="0" noProof="0">
              <a:ln>
                <a:noFill/>
              </a:ln>
              <a:solidFill>
                <a:sysClr val="windowText" lastClr="000000"/>
              </a:solidFill>
              <a:effectLst/>
              <a:uLnTx/>
              <a:uFillTx/>
              <a:latin typeface="Trebuchet MS"/>
              <a:cs typeface="Trebuchet MS"/>
            </a:endParaRPr>
          </a:p>
        </p:txBody>
      </p:sp>
      <p:grpSp>
        <p:nvGrpSpPr>
          <p:cNvPr id="73" name="object 73"/>
          <p:cNvGrpSpPr/>
          <p:nvPr/>
        </p:nvGrpSpPr>
        <p:grpSpPr>
          <a:xfrm>
            <a:off x="653986" y="2150554"/>
            <a:ext cx="6111240" cy="607695"/>
            <a:chOff x="653986" y="2150554"/>
            <a:chExt cx="6111240" cy="607695"/>
          </a:xfrm>
        </p:grpSpPr>
        <p:sp>
          <p:nvSpPr>
            <p:cNvPr id="74" name="object 74"/>
            <p:cNvSpPr/>
            <p:nvPr/>
          </p:nvSpPr>
          <p:spPr>
            <a:xfrm>
              <a:off x="1902713" y="2164842"/>
              <a:ext cx="4848225" cy="579120"/>
            </a:xfrm>
            <a:custGeom>
              <a:avLst/>
              <a:gdLst/>
              <a:ahLst/>
              <a:cxnLst/>
              <a:rect l="l" t="t" r="r" b="b"/>
              <a:pathLst>
                <a:path w="4848225" h="579119">
                  <a:moveTo>
                    <a:pt x="4558284" y="0"/>
                  </a:moveTo>
                  <a:lnTo>
                    <a:pt x="4605105" y="3768"/>
                  </a:lnTo>
                  <a:lnTo>
                    <a:pt x="4649541" y="14681"/>
                  </a:lnTo>
                  <a:lnTo>
                    <a:pt x="4690997" y="32146"/>
                  </a:lnTo>
                  <a:lnTo>
                    <a:pt x="4728880" y="55575"/>
                  </a:lnTo>
                  <a:lnTo>
                    <a:pt x="4762595" y="84375"/>
                  </a:lnTo>
                  <a:lnTo>
                    <a:pt x="4791547" y="117957"/>
                  </a:lnTo>
                  <a:lnTo>
                    <a:pt x="4815142" y="155730"/>
                  </a:lnTo>
                  <a:lnTo>
                    <a:pt x="4832786" y="197103"/>
                  </a:lnTo>
                  <a:lnTo>
                    <a:pt x="4843885" y="241487"/>
                  </a:lnTo>
                  <a:lnTo>
                    <a:pt x="4847844" y="288290"/>
                  </a:lnTo>
                </a:path>
                <a:path w="4848225" h="579119">
                  <a:moveTo>
                    <a:pt x="3994404" y="579120"/>
                  </a:moveTo>
                  <a:lnTo>
                    <a:pt x="3947582" y="575351"/>
                  </a:lnTo>
                  <a:lnTo>
                    <a:pt x="3903146" y="564438"/>
                  </a:lnTo>
                  <a:lnTo>
                    <a:pt x="3861690" y="546973"/>
                  </a:lnTo>
                  <a:lnTo>
                    <a:pt x="3823807" y="523544"/>
                  </a:lnTo>
                  <a:lnTo>
                    <a:pt x="3790092" y="494744"/>
                  </a:lnTo>
                  <a:lnTo>
                    <a:pt x="3761140" y="461162"/>
                  </a:lnTo>
                  <a:lnTo>
                    <a:pt x="3737545" y="423389"/>
                  </a:lnTo>
                  <a:lnTo>
                    <a:pt x="3719901" y="382016"/>
                  </a:lnTo>
                  <a:lnTo>
                    <a:pt x="3708802" y="337632"/>
                  </a:lnTo>
                  <a:lnTo>
                    <a:pt x="3704844" y="290830"/>
                  </a:lnTo>
                </a:path>
                <a:path w="4848225" h="579119">
                  <a:moveTo>
                    <a:pt x="3323844" y="0"/>
                  </a:moveTo>
                  <a:lnTo>
                    <a:pt x="3370665" y="3768"/>
                  </a:lnTo>
                  <a:lnTo>
                    <a:pt x="3415101" y="14681"/>
                  </a:lnTo>
                  <a:lnTo>
                    <a:pt x="3456557" y="32146"/>
                  </a:lnTo>
                  <a:lnTo>
                    <a:pt x="3494440" y="55575"/>
                  </a:lnTo>
                  <a:lnTo>
                    <a:pt x="3528155" y="84375"/>
                  </a:lnTo>
                  <a:lnTo>
                    <a:pt x="3557107" y="117957"/>
                  </a:lnTo>
                  <a:lnTo>
                    <a:pt x="3580702" y="155730"/>
                  </a:lnTo>
                  <a:lnTo>
                    <a:pt x="3598346" y="197103"/>
                  </a:lnTo>
                  <a:lnTo>
                    <a:pt x="3609445" y="241487"/>
                  </a:lnTo>
                  <a:lnTo>
                    <a:pt x="3613404" y="288290"/>
                  </a:lnTo>
                </a:path>
                <a:path w="4848225" h="579119">
                  <a:moveTo>
                    <a:pt x="2759202" y="579120"/>
                  </a:moveTo>
                  <a:lnTo>
                    <a:pt x="2712494" y="575351"/>
                  </a:lnTo>
                  <a:lnTo>
                    <a:pt x="2668170" y="564438"/>
                  </a:lnTo>
                  <a:lnTo>
                    <a:pt x="2626820" y="546973"/>
                  </a:lnTo>
                  <a:lnTo>
                    <a:pt x="2589038" y="523544"/>
                  </a:lnTo>
                  <a:lnTo>
                    <a:pt x="2555414" y="494744"/>
                  </a:lnTo>
                  <a:lnTo>
                    <a:pt x="2526542" y="461162"/>
                  </a:lnTo>
                  <a:lnTo>
                    <a:pt x="2503012" y="423389"/>
                  </a:lnTo>
                  <a:lnTo>
                    <a:pt x="2485418" y="382016"/>
                  </a:lnTo>
                  <a:lnTo>
                    <a:pt x="2474351" y="337632"/>
                  </a:lnTo>
                  <a:lnTo>
                    <a:pt x="2470404" y="290830"/>
                  </a:lnTo>
                </a:path>
                <a:path w="4848225" h="579119">
                  <a:moveTo>
                    <a:pt x="2088641" y="0"/>
                  </a:moveTo>
                  <a:lnTo>
                    <a:pt x="2135349" y="3768"/>
                  </a:lnTo>
                  <a:lnTo>
                    <a:pt x="2179673" y="14681"/>
                  </a:lnTo>
                  <a:lnTo>
                    <a:pt x="2221023" y="32146"/>
                  </a:lnTo>
                  <a:lnTo>
                    <a:pt x="2258805" y="55575"/>
                  </a:lnTo>
                  <a:lnTo>
                    <a:pt x="2292429" y="84375"/>
                  </a:lnTo>
                  <a:lnTo>
                    <a:pt x="2321301" y="117957"/>
                  </a:lnTo>
                  <a:lnTo>
                    <a:pt x="2344831" y="155730"/>
                  </a:lnTo>
                  <a:lnTo>
                    <a:pt x="2362425" y="197103"/>
                  </a:lnTo>
                  <a:lnTo>
                    <a:pt x="2373492" y="241487"/>
                  </a:lnTo>
                  <a:lnTo>
                    <a:pt x="2377440" y="288290"/>
                  </a:lnTo>
                </a:path>
                <a:path w="4848225" h="579119">
                  <a:moveTo>
                    <a:pt x="1524000" y="579120"/>
                  </a:moveTo>
                  <a:lnTo>
                    <a:pt x="1477178" y="575351"/>
                  </a:lnTo>
                  <a:lnTo>
                    <a:pt x="1432742" y="564438"/>
                  </a:lnTo>
                  <a:lnTo>
                    <a:pt x="1391286" y="546973"/>
                  </a:lnTo>
                  <a:lnTo>
                    <a:pt x="1353403" y="523544"/>
                  </a:lnTo>
                  <a:lnTo>
                    <a:pt x="1319688" y="494744"/>
                  </a:lnTo>
                  <a:lnTo>
                    <a:pt x="1290736" y="461162"/>
                  </a:lnTo>
                  <a:lnTo>
                    <a:pt x="1267141" y="423389"/>
                  </a:lnTo>
                  <a:lnTo>
                    <a:pt x="1249497" y="382016"/>
                  </a:lnTo>
                  <a:lnTo>
                    <a:pt x="1238398" y="337632"/>
                  </a:lnTo>
                  <a:lnTo>
                    <a:pt x="1234440" y="290830"/>
                  </a:lnTo>
                </a:path>
                <a:path w="4848225" h="579119">
                  <a:moveTo>
                    <a:pt x="853440" y="0"/>
                  </a:moveTo>
                  <a:lnTo>
                    <a:pt x="900261" y="3768"/>
                  </a:lnTo>
                  <a:lnTo>
                    <a:pt x="944697" y="14681"/>
                  </a:lnTo>
                  <a:lnTo>
                    <a:pt x="986153" y="32146"/>
                  </a:lnTo>
                  <a:lnTo>
                    <a:pt x="1024036" y="55575"/>
                  </a:lnTo>
                  <a:lnTo>
                    <a:pt x="1057751" y="84375"/>
                  </a:lnTo>
                  <a:lnTo>
                    <a:pt x="1086703" y="117957"/>
                  </a:lnTo>
                  <a:lnTo>
                    <a:pt x="1110298" y="155730"/>
                  </a:lnTo>
                  <a:lnTo>
                    <a:pt x="1127942" y="197103"/>
                  </a:lnTo>
                  <a:lnTo>
                    <a:pt x="1139041" y="241487"/>
                  </a:lnTo>
                  <a:lnTo>
                    <a:pt x="1143000" y="288290"/>
                  </a:lnTo>
                </a:path>
                <a:path w="4848225" h="579119">
                  <a:moveTo>
                    <a:pt x="289560" y="579120"/>
                  </a:moveTo>
                  <a:lnTo>
                    <a:pt x="242738" y="575351"/>
                  </a:lnTo>
                  <a:lnTo>
                    <a:pt x="198302" y="564438"/>
                  </a:lnTo>
                  <a:lnTo>
                    <a:pt x="156846" y="546973"/>
                  </a:lnTo>
                  <a:lnTo>
                    <a:pt x="118963" y="523544"/>
                  </a:lnTo>
                  <a:lnTo>
                    <a:pt x="85248" y="494744"/>
                  </a:lnTo>
                  <a:lnTo>
                    <a:pt x="56296" y="461162"/>
                  </a:lnTo>
                  <a:lnTo>
                    <a:pt x="32701" y="423389"/>
                  </a:lnTo>
                  <a:lnTo>
                    <a:pt x="15057" y="382016"/>
                  </a:lnTo>
                  <a:lnTo>
                    <a:pt x="3958" y="337632"/>
                  </a:lnTo>
                  <a:lnTo>
                    <a:pt x="0" y="290830"/>
                  </a:lnTo>
                </a:path>
              </a:pathLst>
            </a:custGeom>
            <a:ln w="28575">
              <a:solidFill>
                <a:srgbClr val="295E7D"/>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75" name="object 75"/>
            <p:cNvSpPr/>
            <p:nvPr/>
          </p:nvSpPr>
          <p:spPr>
            <a:xfrm>
              <a:off x="668273" y="2164842"/>
              <a:ext cx="1143000" cy="579120"/>
            </a:xfrm>
            <a:custGeom>
              <a:avLst/>
              <a:gdLst/>
              <a:ahLst/>
              <a:cxnLst/>
              <a:rect l="l" t="t" r="r" b="b"/>
              <a:pathLst>
                <a:path w="1143000" h="579119">
                  <a:moveTo>
                    <a:pt x="853439" y="0"/>
                  </a:moveTo>
                  <a:lnTo>
                    <a:pt x="900261" y="3768"/>
                  </a:lnTo>
                  <a:lnTo>
                    <a:pt x="944697" y="14681"/>
                  </a:lnTo>
                  <a:lnTo>
                    <a:pt x="986153" y="32146"/>
                  </a:lnTo>
                  <a:lnTo>
                    <a:pt x="1024036" y="55575"/>
                  </a:lnTo>
                  <a:lnTo>
                    <a:pt x="1057751" y="84375"/>
                  </a:lnTo>
                  <a:lnTo>
                    <a:pt x="1086703" y="117957"/>
                  </a:lnTo>
                  <a:lnTo>
                    <a:pt x="1110298" y="155730"/>
                  </a:lnTo>
                  <a:lnTo>
                    <a:pt x="1127942" y="197103"/>
                  </a:lnTo>
                  <a:lnTo>
                    <a:pt x="1139041" y="241487"/>
                  </a:lnTo>
                  <a:lnTo>
                    <a:pt x="1143000" y="288290"/>
                  </a:lnTo>
                </a:path>
                <a:path w="1143000" h="579119">
                  <a:moveTo>
                    <a:pt x="288798" y="579120"/>
                  </a:moveTo>
                  <a:lnTo>
                    <a:pt x="242088" y="575351"/>
                  </a:lnTo>
                  <a:lnTo>
                    <a:pt x="197765" y="564438"/>
                  </a:lnTo>
                  <a:lnTo>
                    <a:pt x="156418" y="546973"/>
                  </a:lnTo>
                  <a:lnTo>
                    <a:pt x="118639" y="523544"/>
                  </a:lnTo>
                  <a:lnTo>
                    <a:pt x="85020" y="494744"/>
                  </a:lnTo>
                  <a:lnTo>
                    <a:pt x="56150" y="461162"/>
                  </a:lnTo>
                  <a:lnTo>
                    <a:pt x="32623" y="423389"/>
                  </a:lnTo>
                  <a:lnTo>
                    <a:pt x="15027" y="382016"/>
                  </a:lnTo>
                  <a:lnTo>
                    <a:pt x="3956" y="337632"/>
                  </a:lnTo>
                  <a:lnTo>
                    <a:pt x="0" y="290830"/>
                  </a:lnTo>
                </a:path>
              </a:pathLst>
            </a:custGeom>
            <a:ln w="28575">
              <a:solidFill>
                <a:srgbClr val="EF7E30"/>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grpSp>
      <p:sp>
        <p:nvSpPr>
          <p:cNvPr id="76" name="object 76"/>
          <p:cNvSpPr txBox="1"/>
          <p:nvPr/>
        </p:nvSpPr>
        <p:spPr>
          <a:xfrm>
            <a:off x="4565396" y="232409"/>
            <a:ext cx="3075940" cy="239395"/>
          </a:xfrm>
          <a:prstGeom prst="rect">
            <a:avLst/>
          </a:prstGeom>
        </p:spPr>
        <p:txBody>
          <a:bodyPr vert="horz" wrap="square" lIns="0" tIns="1270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sz="1400" b="0" i="0" u="none" strike="noStrike" kern="0" cap="none" spc="-10" normalizeH="0" baseline="0" noProof="0">
                <a:ln>
                  <a:noFill/>
                </a:ln>
                <a:solidFill>
                  <a:srgbClr val="FF0000"/>
                </a:solidFill>
                <a:effectLst/>
                <a:uLnTx/>
                <a:uFillTx/>
                <a:latin typeface="Trebuchet MS"/>
                <a:cs typeface="Trebuchet MS"/>
              </a:rPr>
              <a:t>PRELIMINARY</a:t>
            </a:r>
            <a:r>
              <a:rPr kumimoji="0" sz="1400" b="0" i="0" u="none" strike="noStrike" kern="0" cap="none" spc="-65" normalizeH="0" baseline="0" noProof="0">
                <a:ln>
                  <a:noFill/>
                </a:ln>
                <a:solidFill>
                  <a:srgbClr val="FF0000"/>
                </a:solidFill>
                <a:effectLst/>
                <a:uLnTx/>
                <a:uFillTx/>
                <a:latin typeface="Trebuchet MS"/>
                <a:cs typeface="Trebuchet MS"/>
              </a:rPr>
              <a:t> </a:t>
            </a:r>
            <a:r>
              <a:rPr kumimoji="0" sz="1400" b="0" i="0" u="none" strike="noStrike" kern="0" cap="none" spc="0" normalizeH="0" baseline="0" noProof="0">
                <a:ln>
                  <a:noFill/>
                </a:ln>
                <a:solidFill>
                  <a:srgbClr val="FF0000"/>
                </a:solidFill>
                <a:effectLst/>
                <a:uLnTx/>
                <a:uFillTx/>
                <a:latin typeface="Trebuchet MS"/>
                <a:cs typeface="Trebuchet MS"/>
              </a:rPr>
              <a:t>–</a:t>
            </a:r>
            <a:r>
              <a:rPr kumimoji="0" sz="1400" b="0" i="0" u="none" strike="noStrike" kern="0" cap="none" spc="-15" normalizeH="0" baseline="0" noProof="0">
                <a:ln>
                  <a:noFill/>
                </a:ln>
                <a:solidFill>
                  <a:srgbClr val="FF0000"/>
                </a:solidFill>
                <a:effectLst/>
                <a:uLnTx/>
                <a:uFillTx/>
                <a:latin typeface="Trebuchet MS"/>
                <a:cs typeface="Trebuchet MS"/>
              </a:rPr>
              <a:t> </a:t>
            </a:r>
            <a:r>
              <a:rPr kumimoji="0" sz="1400" b="0" i="0" u="none" strike="noStrike" kern="0" cap="none" spc="0" normalizeH="0" baseline="0" noProof="0">
                <a:ln>
                  <a:noFill/>
                </a:ln>
                <a:solidFill>
                  <a:srgbClr val="FF0000"/>
                </a:solidFill>
                <a:effectLst/>
                <a:uLnTx/>
                <a:uFillTx/>
                <a:latin typeface="Trebuchet MS"/>
                <a:cs typeface="Trebuchet MS"/>
              </a:rPr>
              <a:t>DRAFT</a:t>
            </a:r>
            <a:r>
              <a:rPr kumimoji="0" sz="1400" b="0" i="0" u="none" strike="noStrike" kern="0" cap="none" spc="-35" normalizeH="0" baseline="0" noProof="0">
                <a:ln>
                  <a:noFill/>
                </a:ln>
                <a:solidFill>
                  <a:srgbClr val="FF0000"/>
                </a:solidFill>
                <a:effectLst/>
                <a:uLnTx/>
                <a:uFillTx/>
                <a:latin typeface="Trebuchet MS"/>
                <a:cs typeface="Trebuchet MS"/>
              </a:rPr>
              <a:t> </a:t>
            </a:r>
            <a:r>
              <a:rPr kumimoji="0" sz="1400" b="0" i="0" u="none" strike="noStrike" kern="0" cap="none" spc="0" normalizeH="0" baseline="0" noProof="0">
                <a:ln>
                  <a:noFill/>
                </a:ln>
                <a:solidFill>
                  <a:srgbClr val="FF0000"/>
                </a:solidFill>
                <a:effectLst/>
                <a:uLnTx/>
                <a:uFillTx/>
                <a:latin typeface="Trebuchet MS"/>
                <a:cs typeface="Trebuchet MS"/>
              </a:rPr>
              <a:t>FOR</a:t>
            </a:r>
            <a:r>
              <a:rPr kumimoji="0" sz="1400" b="0" i="0" u="none" strike="noStrike" kern="0" cap="none" spc="-10" normalizeH="0" baseline="0" noProof="0">
                <a:ln>
                  <a:noFill/>
                </a:ln>
                <a:solidFill>
                  <a:srgbClr val="FF0000"/>
                </a:solidFill>
                <a:effectLst/>
                <a:uLnTx/>
                <a:uFillTx/>
                <a:latin typeface="Trebuchet MS"/>
                <a:cs typeface="Trebuchet MS"/>
              </a:rPr>
              <a:t> DISCUSSION</a:t>
            </a:r>
            <a:endParaRPr kumimoji="0" sz="14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77" name="object 77"/>
          <p:cNvSpPr txBox="1"/>
          <p:nvPr/>
        </p:nvSpPr>
        <p:spPr>
          <a:xfrm>
            <a:off x="617321" y="6512762"/>
            <a:ext cx="1602105" cy="147955"/>
          </a:xfrm>
          <a:prstGeom prst="rect">
            <a:avLst/>
          </a:prstGeom>
        </p:spPr>
        <p:txBody>
          <a:bodyPr vert="horz" wrap="square" lIns="0" tIns="1270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sz="800" b="0" i="0" u="none" strike="noStrike" kern="0" cap="none" spc="0" normalizeH="0" baseline="0" noProof="0">
                <a:ln>
                  <a:noFill/>
                </a:ln>
                <a:solidFill>
                  <a:srgbClr val="565656"/>
                </a:solidFill>
                <a:effectLst/>
                <a:uLnTx/>
                <a:uFillTx/>
                <a:latin typeface="Trebuchet MS"/>
                <a:cs typeface="Trebuchet MS"/>
              </a:rPr>
              <a:t>Source:</a:t>
            </a:r>
            <a:r>
              <a:rPr kumimoji="0" sz="800" b="0" i="0" u="none" strike="noStrike" kern="0" cap="none" spc="-30" normalizeH="0" baseline="0" noProof="0">
                <a:ln>
                  <a:noFill/>
                </a:ln>
                <a:solidFill>
                  <a:srgbClr val="565656"/>
                </a:solidFill>
                <a:effectLst/>
                <a:uLnTx/>
                <a:uFillTx/>
                <a:latin typeface="Trebuchet MS"/>
                <a:cs typeface="Trebuchet MS"/>
              </a:rPr>
              <a:t> </a:t>
            </a:r>
            <a:r>
              <a:rPr kumimoji="0" sz="800" b="0" i="0" u="none" strike="noStrike" kern="0" cap="none" spc="0" normalizeH="0" baseline="0" noProof="0">
                <a:ln>
                  <a:noFill/>
                </a:ln>
                <a:solidFill>
                  <a:srgbClr val="565656"/>
                </a:solidFill>
                <a:effectLst/>
                <a:uLnTx/>
                <a:uFillTx/>
                <a:latin typeface="Trebuchet MS"/>
                <a:cs typeface="Trebuchet MS"/>
              </a:rPr>
              <a:t>CLIENT</a:t>
            </a:r>
            <a:r>
              <a:rPr kumimoji="0" sz="800" b="0" i="0" u="none" strike="noStrike" kern="0" cap="none" spc="-50" normalizeH="0" baseline="0" noProof="0">
                <a:ln>
                  <a:noFill/>
                </a:ln>
                <a:solidFill>
                  <a:srgbClr val="565656"/>
                </a:solidFill>
                <a:effectLst/>
                <a:uLnTx/>
                <a:uFillTx/>
                <a:latin typeface="Trebuchet MS"/>
                <a:cs typeface="Trebuchet MS"/>
              </a:rPr>
              <a:t> </a:t>
            </a:r>
            <a:r>
              <a:rPr kumimoji="0" sz="800" b="0" i="0" u="none" strike="noStrike" kern="0" cap="none" spc="0" normalizeH="0" baseline="0" noProof="0">
                <a:ln>
                  <a:noFill/>
                </a:ln>
                <a:solidFill>
                  <a:srgbClr val="565656"/>
                </a:solidFill>
                <a:effectLst/>
                <a:uLnTx/>
                <a:uFillTx/>
                <a:latin typeface="Trebuchet MS"/>
                <a:cs typeface="Trebuchet MS"/>
              </a:rPr>
              <a:t>Data,</a:t>
            </a:r>
            <a:r>
              <a:rPr kumimoji="0" sz="800" b="0" i="0" u="none" strike="noStrike" kern="0" cap="none" spc="-30" normalizeH="0" baseline="0" noProof="0">
                <a:ln>
                  <a:noFill/>
                </a:ln>
                <a:solidFill>
                  <a:srgbClr val="565656"/>
                </a:solidFill>
                <a:effectLst/>
                <a:uLnTx/>
                <a:uFillTx/>
                <a:latin typeface="Trebuchet MS"/>
                <a:cs typeface="Trebuchet MS"/>
              </a:rPr>
              <a:t> </a:t>
            </a:r>
            <a:r>
              <a:rPr kumimoji="0" sz="800" b="0" i="0" u="none" strike="noStrike" kern="0" cap="none" spc="0" normalizeH="0" baseline="0" noProof="0">
                <a:ln>
                  <a:noFill/>
                </a:ln>
                <a:solidFill>
                  <a:srgbClr val="565656"/>
                </a:solidFill>
                <a:effectLst/>
                <a:uLnTx/>
                <a:uFillTx/>
                <a:latin typeface="Trebuchet MS"/>
                <a:cs typeface="Trebuchet MS"/>
              </a:rPr>
              <a:t>BCG</a:t>
            </a:r>
            <a:r>
              <a:rPr kumimoji="0" sz="800" b="0" i="0" u="none" strike="noStrike" kern="0" cap="none" spc="-35" normalizeH="0" baseline="0" noProof="0">
                <a:ln>
                  <a:noFill/>
                </a:ln>
                <a:solidFill>
                  <a:srgbClr val="565656"/>
                </a:solidFill>
                <a:effectLst/>
                <a:uLnTx/>
                <a:uFillTx/>
                <a:latin typeface="Trebuchet MS"/>
                <a:cs typeface="Trebuchet MS"/>
              </a:rPr>
              <a:t> </a:t>
            </a:r>
            <a:r>
              <a:rPr kumimoji="0" sz="800" b="0" i="0" u="none" strike="noStrike" kern="0" cap="none" spc="-10" normalizeH="0" baseline="0" noProof="0">
                <a:ln>
                  <a:noFill/>
                </a:ln>
                <a:solidFill>
                  <a:srgbClr val="565656"/>
                </a:solidFill>
                <a:effectLst/>
                <a:uLnTx/>
                <a:uFillTx/>
                <a:latin typeface="Trebuchet MS"/>
                <a:cs typeface="Trebuchet MS"/>
              </a:rPr>
              <a:t>Analysis</a:t>
            </a:r>
            <a:endParaRPr kumimoji="0" sz="800" b="0" i="0" u="none" strike="noStrike" kern="0" cap="none" spc="0" normalizeH="0" baseline="0" noProof="0">
              <a:ln>
                <a:noFill/>
              </a:ln>
              <a:solidFill>
                <a:sysClr val="windowText" lastClr="000000"/>
              </a:solidFill>
              <a:effectLst/>
              <a:uLnTx/>
              <a:uFillTx/>
              <a:latin typeface="Trebuchet MS"/>
              <a:cs typeface="Trebuchet MS"/>
            </a:endParaRP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591921" y="6378651"/>
            <a:ext cx="10996930" cy="271548"/>
          </a:xfrm>
          <a:prstGeom prst="rect">
            <a:avLst/>
          </a:prstGeom>
        </p:spPr>
        <p:txBody>
          <a:bodyPr vert="horz" wrap="square" lIns="0" tIns="33019" rIns="0" bIns="0" rtlCol="0">
            <a:spAutoFit/>
          </a:bodyPr>
          <a:lstStyle/>
          <a:p>
            <a:pPr marL="38100" marR="30480" lvl="0" indent="0" defTabSz="914400" eaLnBrk="1" fontAlgn="auto" latinLnBrk="0" hangingPunct="1">
              <a:lnSpc>
                <a:spcPct val="86400"/>
              </a:lnSpc>
              <a:spcBef>
                <a:spcPts val="259"/>
              </a:spcBef>
              <a:spcAft>
                <a:spcPts val="0"/>
              </a:spcAft>
              <a:buClrTx/>
              <a:buSzTx/>
              <a:buFontTx/>
              <a:buNone/>
              <a:tabLst/>
              <a:defRPr/>
            </a:pPr>
            <a:r>
              <a:rPr kumimoji="0" sz="800" b="0" i="0" u="none" strike="noStrike" kern="0" cap="none" spc="0" normalizeH="0" baseline="0" noProof="0">
                <a:ln>
                  <a:noFill/>
                </a:ln>
                <a:solidFill>
                  <a:srgbClr val="565656"/>
                </a:solidFill>
                <a:effectLst/>
                <a:uLnTx/>
                <a:uFillTx/>
                <a:latin typeface="Trebuchet MS"/>
                <a:cs typeface="Trebuchet MS"/>
              </a:rPr>
              <a:t>1.</a:t>
            </a:r>
            <a:r>
              <a:rPr kumimoji="0" sz="800" b="0" i="0" u="none" strike="noStrike" kern="0" cap="none" spc="-15" normalizeH="0" baseline="0" noProof="0">
                <a:ln>
                  <a:noFill/>
                </a:ln>
                <a:solidFill>
                  <a:srgbClr val="565656"/>
                </a:solidFill>
                <a:effectLst/>
                <a:uLnTx/>
                <a:uFillTx/>
                <a:latin typeface="Trebuchet MS"/>
                <a:cs typeface="Trebuchet MS"/>
              </a:rPr>
              <a:t> </a:t>
            </a:r>
            <a:r>
              <a:rPr kumimoji="0" sz="800" b="0" i="0" u="none" strike="noStrike" kern="0" cap="none" spc="0" normalizeH="0" baseline="0" noProof="0">
                <a:ln>
                  <a:noFill/>
                </a:ln>
                <a:solidFill>
                  <a:srgbClr val="565656"/>
                </a:solidFill>
                <a:effectLst/>
                <a:uLnTx/>
                <a:uFillTx/>
                <a:latin typeface="Trebuchet MS"/>
                <a:cs typeface="Trebuchet MS"/>
              </a:rPr>
              <a:t>.g.</a:t>
            </a:r>
            <a:r>
              <a:rPr kumimoji="0" sz="800" b="0" i="0" u="none" strike="noStrike" kern="0" cap="none" spc="-20" normalizeH="0" baseline="0" noProof="0">
                <a:ln>
                  <a:noFill/>
                </a:ln>
                <a:solidFill>
                  <a:srgbClr val="565656"/>
                </a:solidFill>
                <a:effectLst/>
                <a:uLnTx/>
                <a:uFillTx/>
                <a:latin typeface="Trebuchet MS"/>
                <a:cs typeface="Trebuchet MS"/>
              </a:rPr>
              <a:t> </a:t>
            </a:r>
            <a:r>
              <a:rPr kumimoji="0" sz="800" b="0" i="0" u="none" strike="noStrike" kern="0" cap="none" spc="0" normalizeH="0" baseline="0" noProof="0">
                <a:ln>
                  <a:noFill/>
                </a:ln>
                <a:solidFill>
                  <a:srgbClr val="565656"/>
                </a:solidFill>
                <a:effectLst/>
                <a:uLnTx/>
                <a:uFillTx/>
                <a:latin typeface="Trebuchet MS"/>
                <a:cs typeface="Trebuchet MS"/>
              </a:rPr>
              <a:t>birthday,</a:t>
            </a:r>
            <a:r>
              <a:rPr kumimoji="0" sz="800" b="0" i="0" u="none" strike="noStrike" kern="0" cap="none" spc="-10" normalizeH="0" baseline="0" noProof="0">
                <a:ln>
                  <a:noFill/>
                </a:ln>
                <a:solidFill>
                  <a:srgbClr val="565656"/>
                </a:solidFill>
                <a:effectLst/>
                <a:uLnTx/>
                <a:uFillTx/>
                <a:latin typeface="Trebuchet MS"/>
                <a:cs typeface="Trebuchet MS"/>
              </a:rPr>
              <a:t> </a:t>
            </a:r>
            <a:r>
              <a:rPr kumimoji="0" sz="800" b="0" i="0" u="none" strike="noStrike" kern="0" cap="none" spc="0" normalizeH="0" baseline="0" noProof="0">
                <a:ln>
                  <a:noFill/>
                </a:ln>
                <a:solidFill>
                  <a:srgbClr val="565656"/>
                </a:solidFill>
                <a:effectLst/>
                <a:uLnTx/>
                <a:uFillTx/>
                <a:latin typeface="Trebuchet MS"/>
                <a:cs typeface="Trebuchet MS"/>
              </a:rPr>
              <a:t>anniversary</a:t>
            </a:r>
            <a:r>
              <a:rPr kumimoji="0" sz="800" b="0" i="0" u="none" strike="noStrike" kern="0" cap="none" spc="210" normalizeH="0" baseline="0" noProof="0">
                <a:ln>
                  <a:noFill/>
                </a:ln>
                <a:solidFill>
                  <a:srgbClr val="565656"/>
                </a:solidFill>
                <a:effectLst/>
                <a:uLnTx/>
                <a:uFillTx/>
                <a:latin typeface="Trebuchet MS"/>
                <a:cs typeface="Trebuchet MS"/>
              </a:rPr>
              <a:t> </a:t>
            </a:r>
            <a:r>
              <a:rPr kumimoji="0" sz="800" b="0" i="0" u="none" strike="noStrike" kern="0" cap="none" spc="0" normalizeH="0" baseline="0" noProof="0">
                <a:ln>
                  <a:noFill/>
                </a:ln>
                <a:solidFill>
                  <a:srgbClr val="565656"/>
                </a:solidFill>
                <a:effectLst/>
                <a:uLnTx/>
                <a:uFillTx/>
                <a:latin typeface="Trebuchet MS"/>
                <a:cs typeface="Trebuchet MS"/>
              </a:rPr>
              <a:t>2.</a:t>
            </a:r>
            <a:r>
              <a:rPr kumimoji="0" sz="800" b="0" i="0" u="none" strike="noStrike" kern="0" cap="none" spc="-15" normalizeH="0" baseline="0" noProof="0">
                <a:ln>
                  <a:noFill/>
                </a:ln>
                <a:solidFill>
                  <a:srgbClr val="565656"/>
                </a:solidFill>
                <a:effectLst/>
                <a:uLnTx/>
                <a:uFillTx/>
                <a:latin typeface="Trebuchet MS"/>
                <a:cs typeface="Trebuchet MS"/>
              </a:rPr>
              <a:t> </a:t>
            </a:r>
            <a:r>
              <a:rPr kumimoji="0" sz="800" b="0" i="0" u="none" strike="noStrike" kern="0" cap="none" spc="0" normalizeH="0" baseline="0" noProof="0">
                <a:ln>
                  <a:noFill/>
                </a:ln>
                <a:solidFill>
                  <a:srgbClr val="565656"/>
                </a:solidFill>
                <a:effectLst/>
                <a:uLnTx/>
                <a:uFillTx/>
                <a:latin typeface="Trebuchet MS"/>
                <a:cs typeface="Trebuchet MS"/>
              </a:rPr>
              <a:t>e.g.,</a:t>
            </a:r>
            <a:r>
              <a:rPr kumimoji="0" sz="800" b="0" i="0" u="none" strike="noStrike" kern="0" cap="none" spc="-35" normalizeH="0" baseline="0" noProof="0">
                <a:ln>
                  <a:noFill/>
                </a:ln>
                <a:solidFill>
                  <a:srgbClr val="565656"/>
                </a:solidFill>
                <a:effectLst/>
                <a:uLnTx/>
                <a:uFillTx/>
                <a:latin typeface="Trebuchet MS"/>
                <a:cs typeface="Trebuchet MS"/>
              </a:rPr>
              <a:t> </a:t>
            </a:r>
            <a:r>
              <a:rPr kumimoji="0" sz="800" b="0" i="0" u="none" strike="noStrike" kern="0" cap="none" spc="0" normalizeH="0" baseline="0" noProof="0">
                <a:ln>
                  <a:noFill/>
                </a:ln>
                <a:solidFill>
                  <a:srgbClr val="565656"/>
                </a:solidFill>
                <a:effectLst/>
                <a:uLnTx/>
                <a:uFillTx/>
                <a:latin typeface="Trebuchet MS"/>
                <a:cs typeface="Trebuchet MS"/>
              </a:rPr>
              <a:t>market</a:t>
            </a:r>
            <a:r>
              <a:rPr kumimoji="0" sz="800" b="0" i="0" u="none" strike="noStrike" kern="0" cap="none" spc="-35" normalizeH="0" baseline="0" noProof="0">
                <a:ln>
                  <a:noFill/>
                </a:ln>
                <a:solidFill>
                  <a:srgbClr val="565656"/>
                </a:solidFill>
                <a:effectLst/>
                <a:uLnTx/>
                <a:uFillTx/>
                <a:latin typeface="Trebuchet MS"/>
                <a:cs typeface="Trebuchet MS"/>
              </a:rPr>
              <a:t> </a:t>
            </a:r>
            <a:r>
              <a:rPr kumimoji="0" sz="800" b="0" i="0" u="none" strike="noStrike" kern="0" cap="none" spc="0" normalizeH="0" baseline="0" noProof="0">
                <a:ln>
                  <a:noFill/>
                </a:ln>
                <a:solidFill>
                  <a:srgbClr val="565656"/>
                </a:solidFill>
                <a:effectLst/>
                <a:uLnTx/>
                <a:uFillTx/>
                <a:latin typeface="Trebuchet MS"/>
                <a:cs typeface="Trebuchet MS"/>
              </a:rPr>
              <a:t>driven</a:t>
            </a:r>
            <a:r>
              <a:rPr kumimoji="0" sz="800" b="0" i="0" u="none" strike="noStrike" kern="0" cap="none" spc="-35" normalizeH="0" baseline="0" noProof="0">
                <a:ln>
                  <a:noFill/>
                </a:ln>
                <a:solidFill>
                  <a:srgbClr val="565656"/>
                </a:solidFill>
                <a:effectLst/>
                <a:uLnTx/>
                <a:uFillTx/>
                <a:latin typeface="Trebuchet MS"/>
                <a:cs typeface="Trebuchet MS"/>
              </a:rPr>
              <a:t> </a:t>
            </a:r>
            <a:r>
              <a:rPr kumimoji="0" sz="800" b="0" i="0" u="none" strike="noStrike" kern="0" cap="none" spc="0" normalizeH="0" baseline="0" noProof="0">
                <a:ln>
                  <a:noFill/>
                </a:ln>
                <a:solidFill>
                  <a:srgbClr val="565656"/>
                </a:solidFill>
                <a:effectLst/>
                <a:uLnTx/>
                <a:uFillTx/>
                <a:latin typeface="Trebuchet MS"/>
                <a:cs typeface="Trebuchet MS"/>
              </a:rPr>
              <a:t>events,</a:t>
            </a:r>
            <a:r>
              <a:rPr kumimoji="0" sz="800" b="0" i="0" u="none" strike="noStrike" kern="0" cap="none" spc="-55" normalizeH="0" baseline="0" noProof="0">
                <a:ln>
                  <a:noFill/>
                </a:ln>
                <a:solidFill>
                  <a:srgbClr val="565656"/>
                </a:solidFill>
                <a:effectLst/>
                <a:uLnTx/>
                <a:uFillTx/>
                <a:latin typeface="Trebuchet MS"/>
                <a:cs typeface="Trebuchet MS"/>
              </a:rPr>
              <a:t> </a:t>
            </a:r>
            <a:r>
              <a:rPr kumimoji="0" sz="800" b="0" i="0" u="none" strike="noStrike" kern="0" cap="none" spc="0" normalizeH="0" baseline="0" noProof="0">
                <a:ln>
                  <a:noFill/>
                </a:ln>
                <a:solidFill>
                  <a:srgbClr val="565656"/>
                </a:solidFill>
                <a:effectLst/>
                <a:uLnTx/>
                <a:uFillTx/>
                <a:latin typeface="Trebuchet MS"/>
                <a:cs typeface="Trebuchet MS"/>
              </a:rPr>
              <a:t>portfolio</a:t>
            </a:r>
            <a:r>
              <a:rPr kumimoji="0" sz="800" b="0" i="0" u="none" strike="noStrike" kern="0" cap="none" spc="-40" normalizeH="0" baseline="0" noProof="0">
                <a:ln>
                  <a:noFill/>
                </a:ln>
                <a:solidFill>
                  <a:srgbClr val="565656"/>
                </a:solidFill>
                <a:effectLst/>
                <a:uLnTx/>
                <a:uFillTx/>
                <a:latin typeface="Trebuchet MS"/>
                <a:cs typeface="Trebuchet MS"/>
              </a:rPr>
              <a:t> </a:t>
            </a:r>
            <a:r>
              <a:rPr kumimoji="0" sz="800" b="0" i="0" u="none" strike="noStrike" kern="0" cap="none" spc="0" normalizeH="0" baseline="0" noProof="0">
                <a:ln>
                  <a:noFill/>
                </a:ln>
                <a:solidFill>
                  <a:srgbClr val="565656"/>
                </a:solidFill>
                <a:effectLst/>
                <a:uLnTx/>
                <a:uFillTx/>
                <a:latin typeface="Trebuchet MS"/>
                <a:cs typeface="Trebuchet MS"/>
              </a:rPr>
              <a:t>related</a:t>
            </a:r>
            <a:r>
              <a:rPr kumimoji="0" sz="800" b="0" i="0" u="none" strike="noStrike" kern="0" cap="none" spc="-40" normalizeH="0" baseline="0" noProof="0">
                <a:ln>
                  <a:noFill/>
                </a:ln>
                <a:solidFill>
                  <a:srgbClr val="565656"/>
                </a:solidFill>
                <a:effectLst/>
                <a:uLnTx/>
                <a:uFillTx/>
                <a:latin typeface="Trebuchet MS"/>
                <a:cs typeface="Trebuchet MS"/>
              </a:rPr>
              <a:t> </a:t>
            </a:r>
            <a:r>
              <a:rPr kumimoji="0" sz="800" b="0" i="0" u="none" strike="noStrike" kern="0" cap="none" spc="0" normalizeH="0" baseline="0" noProof="0">
                <a:ln>
                  <a:noFill/>
                </a:ln>
                <a:solidFill>
                  <a:srgbClr val="565656"/>
                </a:solidFill>
                <a:effectLst/>
                <a:uLnTx/>
                <a:uFillTx/>
                <a:latin typeface="Trebuchet MS"/>
                <a:cs typeface="Trebuchet MS"/>
              </a:rPr>
              <a:t>threshold</a:t>
            </a:r>
            <a:r>
              <a:rPr kumimoji="0" sz="800" b="0" i="0" u="none" strike="noStrike" kern="0" cap="none" spc="-55" normalizeH="0" baseline="0" noProof="0">
                <a:ln>
                  <a:noFill/>
                </a:ln>
                <a:solidFill>
                  <a:srgbClr val="565656"/>
                </a:solidFill>
                <a:effectLst/>
                <a:uLnTx/>
                <a:uFillTx/>
                <a:latin typeface="Trebuchet MS"/>
                <a:cs typeface="Trebuchet MS"/>
              </a:rPr>
              <a:t> </a:t>
            </a:r>
            <a:r>
              <a:rPr kumimoji="0" sz="800" b="0" i="0" u="none" strike="noStrike" kern="0" cap="none" spc="0" normalizeH="0" baseline="0" noProof="0">
                <a:ln>
                  <a:noFill/>
                </a:ln>
                <a:solidFill>
                  <a:srgbClr val="565656"/>
                </a:solidFill>
                <a:effectLst/>
                <a:uLnTx/>
                <a:uFillTx/>
                <a:latin typeface="Trebuchet MS"/>
                <a:cs typeface="Trebuchet MS"/>
              </a:rPr>
              <a:t>passed</a:t>
            </a:r>
            <a:r>
              <a:rPr kumimoji="0" sz="800" b="0" i="0" u="none" strike="noStrike" kern="0" cap="none" spc="250" normalizeH="0" baseline="0" noProof="0">
                <a:ln>
                  <a:noFill/>
                </a:ln>
                <a:solidFill>
                  <a:srgbClr val="565656"/>
                </a:solidFill>
                <a:effectLst/>
                <a:uLnTx/>
                <a:uFillTx/>
                <a:latin typeface="Trebuchet MS"/>
                <a:cs typeface="Trebuchet MS"/>
              </a:rPr>
              <a:t> </a:t>
            </a:r>
            <a:r>
              <a:rPr kumimoji="0" sz="800" b="0" i="0" u="none" strike="noStrike" kern="0" cap="none" spc="0" normalizeH="0" baseline="0" noProof="0">
                <a:ln>
                  <a:noFill/>
                </a:ln>
                <a:solidFill>
                  <a:srgbClr val="565656"/>
                </a:solidFill>
                <a:effectLst/>
                <a:uLnTx/>
                <a:uFillTx/>
                <a:latin typeface="Trebuchet MS"/>
                <a:cs typeface="Trebuchet MS"/>
              </a:rPr>
              <a:t>3.</a:t>
            </a:r>
            <a:r>
              <a:rPr kumimoji="0" sz="800" b="0" i="0" u="none" strike="noStrike" kern="0" cap="none" spc="-10" normalizeH="0" baseline="0" noProof="0">
                <a:ln>
                  <a:noFill/>
                </a:ln>
                <a:solidFill>
                  <a:srgbClr val="565656"/>
                </a:solidFill>
                <a:effectLst/>
                <a:uLnTx/>
                <a:uFillTx/>
                <a:latin typeface="Trebuchet MS"/>
                <a:cs typeface="Trebuchet MS"/>
              </a:rPr>
              <a:t> </a:t>
            </a:r>
            <a:r>
              <a:rPr kumimoji="0" sz="800" b="0" i="0" u="none" strike="noStrike" kern="0" cap="none" spc="0" normalizeH="0" baseline="0" noProof="0">
                <a:ln>
                  <a:noFill/>
                </a:ln>
                <a:solidFill>
                  <a:srgbClr val="565656"/>
                </a:solidFill>
                <a:effectLst/>
                <a:uLnTx/>
                <a:uFillTx/>
                <a:latin typeface="Trebuchet MS"/>
                <a:cs typeface="Trebuchet MS"/>
              </a:rPr>
              <a:t>Should</a:t>
            </a:r>
            <a:r>
              <a:rPr kumimoji="0" sz="800" b="0" i="0" u="none" strike="noStrike" kern="0" cap="none" spc="-30" normalizeH="0" baseline="0" noProof="0">
                <a:ln>
                  <a:noFill/>
                </a:ln>
                <a:solidFill>
                  <a:srgbClr val="565656"/>
                </a:solidFill>
                <a:effectLst/>
                <a:uLnTx/>
                <a:uFillTx/>
                <a:latin typeface="Trebuchet MS"/>
                <a:cs typeface="Trebuchet MS"/>
              </a:rPr>
              <a:t> </a:t>
            </a:r>
            <a:r>
              <a:rPr kumimoji="0" sz="800" b="0" i="0" u="none" strike="noStrike" kern="0" cap="none" spc="0" normalizeH="0" baseline="0" noProof="0">
                <a:ln>
                  <a:noFill/>
                </a:ln>
                <a:solidFill>
                  <a:srgbClr val="565656"/>
                </a:solidFill>
                <a:effectLst/>
                <a:uLnTx/>
                <a:uFillTx/>
                <a:latin typeface="Trebuchet MS"/>
                <a:cs typeface="Trebuchet MS"/>
              </a:rPr>
              <a:t>adhere</a:t>
            </a:r>
            <a:r>
              <a:rPr kumimoji="0" sz="800" b="0" i="0" u="none" strike="noStrike" kern="0" cap="none" spc="-20" normalizeH="0" baseline="0" noProof="0">
                <a:ln>
                  <a:noFill/>
                </a:ln>
                <a:solidFill>
                  <a:srgbClr val="565656"/>
                </a:solidFill>
                <a:effectLst/>
                <a:uLnTx/>
                <a:uFillTx/>
                <a:latin typeface="Trebuchet MS"/>
                <a:cs typeface="Trebuchet MS"/>
              </a:rPr>
              <a:t> </a:t>
            </a:r>
            <a:r>
              <a:rPr kumimoji="0" sz="800" b="0" i="0" u="none" strike="noStrike" kern="0" cap="none" spc="0" normalizeH="0" baseline="0" noProof="0">
                <a:ln>
                  <a:noFill/>
                </a:ln>
                <a:solidFill>
                  <a:srgbClr val="565656"/>
                </a:solidFill>
                <a:effectLst/>
                <a:uLnTx/>
                <a:uFillTx/>
                <a:latin typeface="Trebuchet MS"/>
                <a:cs typeface="Trebuchet MS"/>
              </a:rPr>
              <a:t>to</a:t>
            </a:r>
            <a:r>
              <a:rPr kumimoji="0" sz="800" b="0" i="0" u="none" strike="noStrike" kern="0" cap="none" spc="-35" normalizeH="0" baseline="0" noProof="0">
                <a:ln>
                  <a:noFill/>
                </a:ln>
                <a:solidFill>
                  <a:srgbClr val="565656"/>
                </a:solidFill>
                <a:effectLst/>
                <a:uLnTx/>
                <a:uFillTx/>
                <a:latin typeface="Trebuchet MS"/>
                <a:cs typeface="Trebuchet MS"/>
              </a:rPr>
              <a:t> </a:t>
            </a:r>
            <a:r>
              <a:rPr kumimoji="0" sz="800" b="0" i="0" u="none" strike="noStrike" kern="0" cap="none" spc="0" normalizeH="0" baseline="0" noProof="0">
                <a:ln>
                  <a:noFill/>
                </a:ln>
                <a:solidFill>
                  <a:srgbClr val="565656"/>
                </a:solidFill>
                <a:effectLst/>
                <a:uLnTx/>
                <a:uFillTx/>
                <a:latin typeface="Trebuchet MS"/>
                <a:cs typeface="Trebuchet MS"/>
              </a:rPr>
              <a:t>CIO</a:t>
            </a:r>
            <a:r>
              <a:rPr kumimoji="0" sz="800" b="0" i="0" u="none" strike="noStrike" kern="0" cap="none" spc="-25" normalizeH="0" baseline="0" noProof="0">
                <a:ln>
                  <a:noFill/>
                </a:ln>
                <a:solidFill>
                  <a:srgbClr val="565656"/>
                </a:solidFill>
                <a:effectLst/>
                <a:uLnTx/>
                <a:uFillTx/>
                <a:latin typeface="Trebuchet MS"/>
                <a:cs typeface="Trebuchet MS"/>
              </a:rPr>
              <a:t> </a:t>
            </a:r>
            <a:r>
              <a:rPr kumimoji="0" sz="800" b="0" i="0" u="none" strike="noStrike" kern="0" cap="none" spc="0" normalizeH="0" baseline="0" noProof="0">
                <a:ln>
                  <a:noFill/>
                </a:ln>
                <a:solidFill>
                  <a:srgbClr val="565656"/>
                </a:solidFill>
                <a:effectLst/>
                <a:uLnTx/>
                <a:uFillTx/>
                <a:latin typeface="Trebuchet MS"/>
                <a:cs typeface="Trebuchet MS"/>
              </a:rPr>
              <a:t>strategy</a:t>
            </a:r>
            <a:r>
              <a:rPr kumimoji="0" sz="800" b="0" i="0" u="none" strike="noStrike" kern="0" cap="none" spc="-40" normalizeH="0" baseline="0" noProof="0">
                <a:ln>
                  <a:noFill/>
                </a:ln>
                <a:solidFill>
                  <a:srgbClr val="565656"/>
                </a:solidFill>
                <a:effectLst/>
                <a:uLnTx/>
                <a:uFillTx/>
                <a:latin typeface="Trebuchet MS"/>
                <a:cs typeface="Trebuchet MS"/>
              </a:rPr>
              <a:t> </a:t>
            </a:r>
            <a:r>
              <a:rPr kumimoji="0" sz="800" b="0" i="0" u="none" strike="noStrike" kern="0" cap="none" spc="0" normalizeH="0" baseline="0" noProof="0">
                <a:ln>
                  <a:noFill/>
                </a:ln>
                <a:solidFill>
                  <a:srgbClr val="565656"/>
                </a:solidFill>
                <a:effectLst/>
                <a:uLnTx/>
                <a:uFillTx/>
                <a:latin typeface="Trebuchet MS"/>
                <a:cs typeface="Trebuchet MS"/>
              </a:rPr>
              <a:t>of</a:t>
            </a:r>
            <a:r>
              <a:rPr kumimoji="0" sz="800" b="0" i="0" u="none" strike="noStrike" kern="0" cap="none" spc="-25" normalizeH="0" baseline="0" noProof="0">
                <a:ln>
                  <a:noFill/>
                </a:ln>
                <a:solidFill>
                  <a:srgbClr val="565656"/>
                </a:solidFill>
                <a:effectLst/>
                <a:uLnTx/>
                <a:uFillTx/>
                <a:latin typeface="Trebuchet MS"/>
                <a:cs typeface="Trebuchet MS"/>
              </a:rPr>
              <a:t> </a:t>
            </a:r>
            <a:r>
              <a:rPr kumimoji="0" sz="800" b="0" i="0" u="none" strike="noStrike" kern="0" cap="none" spc="0" normalizeH="0" baseline="0" noProof="0">
                <a:ln>
                  <a:noFill/>
                </a:ln>
                <a:solidFill>
                  <a:srgbClr val="565656"/>
                </a:solidFill>
                <a:effectLst/>
                <a:uLnTx/>
                <a:uFillTx/>
                <a:latin typeface="Trebuchet MS"/>
                <a:cs typeface="Trebuchet MS"/>
              </a:rPr>
              <a:t>minimum</a:t>
            </a:r>
            <a:r>
              <a:rPr kumimoji="0" sz="800" b="0" i="0" u="none" strike="noStrike" kern="0" cap="none" spc="-55" normalizeH="0" baseline="0" noProof="0">
                <a:ln>
                  <a:noFill/>
                </a:ln>
                <a:solidFill>
                  <a:srgbClr val="565656"/>
                </a:solidFill>
                <a:effectLst/>
                <a:uLnTx/>
                <a:uFillTx/>
                <a:latin typeface="Trebuchet MS"/>
                <a:cs typeface="Trebuchet MS"/>
              </a:rPr>
              <a:t> </a:t>
            </a:r>
            <a:r>
              <a:rPr kumimoji="0" sz="800" b="0" i="0" u="none" strike="noStrike" kern="0" cap="none" spc="0" normalizeH="0" baseline="0" noProof="0">
                <a:ln>
                  <a:noFill/>
                </a:ln>
                <a:solidFill>
                  <a:srgbClr val="565656"/>
                </a:solidFill>
                <a:effectLst/>
                <a:uLnTx/>
                <a:uFillTx/>
                <a:latin typeface="Trebuchet MS"/>
                <a:cs typeface="Trebuchet MS"/>
              </a:rPr>
              <a:t>no.</a:t>
            </a:r>
            <a:r>
              <a:rPr kumimoji="0" sz="800" b="0" i="0" u="none" strike="noStrike" kern="0" cap="none" spc="-35" normalizeH="0" baseline="0" noProof="0">
                <a:ln>
                  <a:noFill/>
                </a:ln>
                <a:solidFill>
                  <a:srgbClr val="565656"/>
                </a:solidFill>
                <a:effectLst/>
                <a:uLnTx/>
                <a:uFillTx/>
                <a:latin typeface="Trebuchet MS"/>
                <a:cs typeface="Trebuchet MS"/>
              </a:rPr>
              <a:t> </a:t>
            </a:r>
            <a:r>
              <a:rPr kumimoji="0" sz="800" b="0" i="0" u="none" strike="noStrike" kern="0" cap="none" spc="0" normalizeH="0" baseline="0" noProof="0">
                <a:ln>
                  <a:noFill/>
                </a:ln>
                <a:solidFill>
                  <a:srgbClr val="565656"/>
                </a:solidFill>
                <a:effectLst/>
                <a:uLnTx/>
                <a:uFillTx/>
                <a:latin typeface="Trebuchet MS"/>
                <a:cs typeface="Trebuchet MS"/>
              </a:rPr>
              <a:t>of</a:t>
            </a:r>
            <a:r>
              <a:rPr kumimoji="0" sz="800" b="0" i="0" u="none" strike="noStrike" kern="0" cap="none" spc="-25" normalizeH="0" baseline="0" noProof="0">
                <a:ln>
                  <a:noFill/>
                </a:ln>
                <a:solidFill>
                  <a:srgbClr val="565656"/>
                </a:solidFill>
                <a:effectLst/>
                <a:uLnTx/>
                <a:uFillTx/>
                <a:latin typeface="Trebuchet MS"/>
                <a:cs typeface="Trebuchet MS"/>
              </a:rPr>
              <a:t> </a:t>
            </a:r>
            <a:r>
              <a:rPr kumimoji="0" sz="800" b="0" i="0" u="none" strike="noStrike" kern="0" cap="none" spc="0" normalizeH="0" baseline="0" noProof="0">
                <a:ln>
                  <a:noFill/>
                </a:ln>
                <a:solidFill>
                  <a:srgbClr val="565656"/>
                </a:solidFill>
                <a:effectLst/>
                <a:uLnTx/>
                <a:uFillTx/>
                <a:latin typeface="Trebuchet MS"/>
                <a:cs typeface="Trebuchet MS"/>
              </a:rPr>
              <a:t>contacts</a:t>
            </a:r>
            <a:r>
              <a:rPr kumimoji="0" sz="800" b="0" i="0" u="none" strike="noStrike" kern="0" cap="none" spc="-40" normalizeH="0" baseline="0" noProof="0">
                <a:ln>
                  <a:noFill/>
                </a:ln>
                <a:solidFill>
                  <a:srgbClr val="565656"/>
                </a:solidFill>
                <a:effectLst/>
                <a:uLnTx/>
                <a:uFillTx/>
                <a:latin typeface="Trebuchet MS"/>
                <a:cs typeface="Trebuchet MS"/>
              </a:rPr>
              <a:t> </a:t>
            </a:r>
            <a:r>
              <a:rPr kumimoji="0" sz="800" b="0" i="0" u="none" strike="noStrike" kern="0" cap="none" spc="0" normalizeH="0" baseline="0" noProof="0">
                <a:ln>
                  <a:noFill/>
                </a:ln>
                <a:solidFill>
                  <a:srgbClr val="565656"/>
                </a:solidFill>
                <a:effectLst/>
                <a:uLnTx/>
                <a:uFillTx/>
                <a:latin typeface="Trebuchet MS"/>
                <a:cs typeface="Trebuchet MS"/>
              </a:rPr>
              <a:t>per</a:t>
            </a:r>
            <a:r>
              <a:rPr kumimoji="0" sz="800" b="0" i="0" u="none" strike="noStrike" kern="0" cap="none" spc="-20" normalizeH="0" baseline="0" noProof="0">
                <a:ln>
                  <a:noFill/>
                </a:ln>
                <a:solidFill>
                  <a:srgbClr val="565656"/>
                </a:solidFill>
                <a:effectLst/>
                <a:uLnTx/>
                <a:uFillTx/>
                <a:latin typeface="Trebuchet MS"/>
                <a:cs typeface="Trebuchet MS"/>
              </a:rPr>
              <a:t> </a:t>
            </a:r>
            <a:r>
              <a:rPr kumimoji="0" sz="800" b="0" i="0" u="none" strike="noStrike" kern="0" cap="none" spc="0" normalizeH="0" baseline="0" noProof="0">
                <a:ln>
                  <a:noFill/>
                </a:ln>
                <a:solidFill>
                  <a:srgbClr val="565656"/>
                </a:solidFill>
                <a:effectLst/>
                <a:uLnTx/>
                <a:uFillTx/>
                <a:latin typeface="Trebuchet MS"/>
                <a:cs typeface="Trebuchet MS"/>
              </a:rPr>
              <a:t>year,</a:t>
            </a:r>
            <a:r>
              <a:rPr kumimoji="0" sz="800" b="0" i="0" u="none" strike="noStrike" kern="0" cap="none" spc="-15" normalizeH="0" baseline="0" noProof="0">
                <a:ln>
                  <a:noFill/>
                </a:ln>
                <a:solidFill>
                  <a:srgbClr val="565656"/>
                </a:solidFill>
                <a:effectLst/>
                <a:uLnTx/>
                <a:uFillTx/>
                <a:latin typeface="Trebuchet MS"/>
                <a:cs typeface="Trebuchet MS"/>
              </a:rPr>
              <a:t> </a:t>
            </a:r>
            <a:r>
              <a:rPr kumimoji="0" sz="800" b="0" i="0" u="none" strike="noStrike" kern="0" cap="none" spc="-10" normalizeH="0" baseline="0" noProof="0">
                <a:ln>
                  <a:noFill/>
                </a:ln>
                <a:solidFill>
                  <a:srgbClr val="565656"/>
                </a:solidFill>
                <a:effectLst/>
                <a:uLnTx/>
                <a:uFillTx/>
                <a:latin typeface="Trebuchet MS"/>
                <a:cs typeface="Trebuchet MS"/>
              </a:rPr>
              <a:t>depending</a:t>
            </a:r>
            <a:r>
              <a:rPr kumimoji="0" sz="800" b="0" i="0" u="none" strike="noStrike" kern="0" cap="none" spc="-35" normalizeH="0" baseline="0" noProof="0">
                <a:ln>
                  <a:noFill/>
                </a:ln>
                <a:solidFill>
                  <a:srgbClr val="565656"/>
                </a:solidFill>
                <a:effectLst/>
                <a:uLnTx/>
                <a:uFillTx/>
                <a:latin typeface="Trebuchet MS"/>
                <a:cs typeface="Trebuchet MS"/>
              </a:rPr>
              <a:t> </a:t>
            </a:r>
            <a:r>
              <a:rPr kumimoji="0" sz="800" b="0" i="0" u="none" strike="noStrike" kern="0" cap="none" spc="0" normalizeH="0" baseline="0" noProof="0">
                <a:ln>
                  <a:noFill/>
                </a:ln>
                <a:solidFill>
                  <a:srgbClr val="565656"/>
                </a:solidFill>
                <a:effectLst/>
                <a:uLnTx/>
                <a:uFillTx/>
                <a:latin typeface="Trebuchet MS"/>
                <a:cs typeface="Trebuchet MS"/>
              </a:rPr>
              <a:t>on</a:t>
            </a:r>
            <a:r>
              <a:rPr kumimoji="0" sz="800" b="0" i="0" u="none" strike="noStrike" kern="0" cap="none" spc="15" normalizeH="0" baseline="0" noProof="0">
                <a:ln>
                  <a:noFill/>
                </a:ln>
                <a:solidFill>
                  <a:srgbClr val="565656"/>
                </a:solidFill>
                <a:effectLst/>
                <a:uLnTx/>
                <a:uFillTx/>
                <a:latin typeface="Trebuchet MS"/>
                <a:cs typeface="Trebuchet MS"/>
              </a:rPr>
              <a:t> </a:t>
            </a:r>
            <a:r>
              <a:rPr kumimoji="0" lang="en-US" sz="800" b="0" i="0" u="none" strike="noStrike" kern="0" cap="none" spc="0" normalizeH="0" baseline="0" noProof="0" err="1">
                <a:ln>
                  <a:noFill/>
                </a:ln>
                <a:solidFill>
                  <a:srgbClr val="565656"/>
                </a:solidFill>
                <a:effectLst/>
                <a:uLnTx/>
                <a:uFillTx/>
                <a:latin typeface="Trebuchet MS"/>
                <a:cs typeface="Trebuchet MS"/>
              </a:rPr>
              <a:t>Aff</a:t>
            </a:r>
            <a:r>
              <a:rPr kumimoji="0" sz="800" b="0" i="0" u="none" strike="noStrike" kern="0" cap="none" spc="0" normalizeH="0" baseline="0" noProof="0">
                <a:ln>
                  <a:noFill/>
                </a:ln>
                <a:solidFill>
                  <a:srgbClr val="565656"/>
                </a:solidFill>
                <a:effectLst/>
                <a:uLnTx/>
                <a:uFillTx/>
                <a:latin typeface="Trebuchet MS"/>
                <a:cs typeface="Trebuchet MS"/>
              </a:rPr>
              <a:t>/HNW</a:t>
            </a:r>
            <a:r>
              <a:rPr kumimoji="0" sz="800" b="0" i="0" u="none" strike="noStrike" kern="0" cap="none" spc="-15" normalizeH="0" baseline="0" noProof="0">
                <a:ln>
                  <a:noFill/>
                </a:ln>
                <a:solidFill>
                  <a:srgbClr val="565656"/>
                </a:solidFill>
                <a:effectLst/>
                <a:uLnTx/>
                <a:uFillTx/>
                <a:latin typeface="Trebuchet MS"/>
                <a:cs typeface="Trebuchet MS"/>
              </a:rPr>
              <a:t> </a:t>
            </a:r>
            <a:r>
              <a:rPr kumimoji="0" sz="800" b="0" i="0" u="none" strike="noStrike" kern="0" cap="none" spc="0" normalizeH="0" baseline="0" noProof="0">
                <a:ln>
                  <a:noFill/>
                </a:ln>
                <a:solidFill>
                  <a:srgbClr val="565656"/>
                </a:solidFill>
                <a:effectLst/>
                <a:uLnTx/>
                <a:uFillTx/>
                <a:latin typeface="Trebuchet MS"/>
                <a:cs typeface="Trebuchet MS"/>
              </a:rPr>
              <a:t>4.</a:t>
            </a:r>
            <a:r>
              <a:rPr kumimoji="0" sz="800" b="0" i="0" u="none" strike="noStrike" kern="0" cap="none" spc="-10" normalizeH="0" baseline="0" noProof="0">
                <a:ln>
                  <a:noFill/>
                </a:ln>
                <a:solidFill>
                  <a:srgbClr val="565656"/>
                </a:solidFill>
                <a:effectLst/>
                <a:uLnTx/>
                <a:uFillTx/>
                <a:latin typeface="Trebuchet MS"/>
                <a:cs typeface="Trebuchet MS"/>
              </a:rPr>
              <a:t> </a:t>
            </a:r>
            <a:r>
              <a:rPr kumimoji="0" sz="800" b="0" i="0" u="none" strike="noStrike" kern="0" cap="none" spc="0" normalizeH="0" baseline="0" noProof="0">
                <a:ln>
                  <a:noFill/>
                </a:ln>
                <a:solidFill>
                  <a:srgbClr val="565656"/>
                </a:solidFill>
                <a:effectLst/>
                <a:uLnTx/>
                <a:uFillTx/>
                <a:latin typeface="Trebuchet MS"/>
                <a:cs typeface="Trebuchet MS"/>
              </a:rPr>
              <a:t>i.e.</a:t>
            </a:r>
            <a:r>
              <a:rPr kumimoji="0" sz="800" b="0" i="0" u="none" strike="noStrike" kern="0" cap="none" spc="-25" normalizeH="0" baseline="0" noProof="0">
                <a:ln>
                  <a:noFill/>
                </a:ln>
                <a:solidFill>
                  <a:srgbClr val="565656"/>
                </a:solidFill>
                <a:effectLst/>
                <a:uLnTx/>
                <a:uFillTx/>
                <a:latin typeface="Trebuchet MS"/>
                <a:cs typeface="Trebuchet MS"/>
              </a:rPr>
              <a:t> </a:t>
            </a:r>
            <a:r>
              <a:rPr kumimoji="0" lang="en-US" sz="800" b="0" i="0" u="none" strike="noStrike" kern="0" cap="none" spc="0" normalizeH="0" baseline="0" noProof="0" err="1">
                <a:ln>
                  <a:noFill/>
                </a:ln>
                <a:solidFill>
                  <a:srgbClr val="565656"/>
                </a:solidFill>
                <a:effectLst/>
                <a:uLnTx/>
                <a:uFillTx/>
                <a:latin typeface="Trebuchet MS"/>
                <a:cs typeface="Trebuchet MS"/>
              </a:rPr>
              <a:t>AuM</a:t>
            </a:r>
            <a:r>
              <a:rPr kumimoji="0" sz="800" b="0" i="0" u="none" strike="noStrike" kern="0" cap="none" spc="0" normalizeH="0" baseline="0" noProof="0">
                <a:ln>
                  <a:noFill/>
                </a:ln>
                <a:solidFill>
                  <a:srgbClr val="565656"/>
                </a:solidFill>
                <a:effectLst/>
                <a:uLnTx/>
                <a:uFillTx/>
                <a:latin typeface="Trebuchet MS"/>
                <a:cs typeface="Trebuchet MS"/>
              </a:rPr>
              <a:t>,</a:t>
            </a:r>
            <a:r>
              <a:rPr kumimoji="0" sz="800" b="0" i="0" u="none" strike="noStrike" kern="0" cap="none" spc="-35" normalizeH="0" baseline="0" noProof="0">
                <a:ln>
                  <a:noFill/>
                </a:ln>
                <a:solidFill>
                  <a:srgbClr val="565656"/>
                </a:solidFill>
                <a:effectLst/>
                <a:uLnTx/>
                <a:uFillTx/>
                <a:latin typeface="Trebuchet MS"/>
                <a:cs typeface="Trebuchet MS"/>
              </a:rPr>
              <a:t> </a:t>
            </a:r>
            <a:r>
              <a:rPr kumimoji="0" sz="800" b="0" i="0" u="none" strike="noStrike" kern="0" cap="none" spc="0" normalizeH="0" baseline="0" noProof="0">
                <a:ln>
                  <a:noFill/>
                </a:ln>
                <a:solidFill>
                  <a:srgbClr val="565656"/>
                </a:solidFill>
                <a:effectLst/>
                <a:uLnTx/>
                <a:uFillTx/>
                <a:latin typeface="Trebuchet MS"/>
                <a:cs typeface="Trebuchet MS"/>
              </a:rPr>
              <a:t>product</a:t>
            </a:r>
            <a:r>
              <a:rPr kumimoji="0" sz="800" b="0" i="0" u="none" strike="noStrike" kern="0" cap="none" spc="-20" normalizeH="0" baseline="0" noProof="0">
                <a:ln>
                  <a:noFill/>
                </a:ln>
                <a:solidFill>
                  <a:srgbClr val="565656"/>
                </a:solidFill>
                <a:effectLst/>
                <a:uLnTx/>
                <a:uFillTx/>
                <a:latin typeface="Trebuchet MS"/>
                <a:cs typeface="Trebuchet MS"/>
              </a:rPr>
              <a:t> </a:t>
            </a:r>
            <a:r>
              <a:rPr kumimoji="0" sz="800" b="0" i="0" u="none" strike="noStrike" kern="0" cap="none" spc="0" normalizeH="0" baseline="0" noProof="0">
                <a:ln>
                  <a:noFill/>
                </a:ln>
                <a:solidFill>
                  <a:srgbClr val="565656"/>
                </a:solidFill>
                <a:effectLst/>
                <a:uLnTx/>
                <a:uFillTx/>
                <a:latin typeface="Trebuchet MS"/>
                <a:cs typeface="Trebuchet MS"/>
              </a:rPr>
              <a:t>holding,</a:t>
            </a:r>
            <a:r>
              <a:rPr kumimoji="0" sz="800" b="0" i="0" u="none" strike="noStrike" kern="0" cap="none" spc="-45" normalizeH="0" baseline="0" noProof="0">
                <a:ln>
                  <a:noFill/>
                </a:ln>
                <a:solidFill>
                  <a:srgbClr val="565656"/>
                </a:solidFill>
                <a:effectLst/>
                <a:uLnTx/>
                <a:uFillTx/>
                <a:latin typeface="Trebuchet MS"/>
                <a:cs typeface="Trebuchet MS"/>
              </a:rPr>
              <a:t> </a:t>
            </a:r>
            <a:r>
              <a:rPr kumimoji="0" sz="800" b="0" i="0" u="none" strike="noStrike" kern="0" cap="none" spc="-10" normalizeH="0" baseline="0" noProof="0">
                <a:ln>
                  <a:noFill/>
                </a:ln>
                <a:solidFill>
                  <a:srgbClr val="565656"/>
                </a:solidFill>
                <a:effectLst/>
                <a:uLnTx/>
                <a:uFillTx/>
                <a:latin typeface="Trebuchet MS"/>
                <a:cs typeface="Trebuchet MS"/>
              </a:rPr>
              <a:t>occupation,</a:t>
            </a:r>
            <a:r>
              <a:rPr kumimoji="0" sz="800" b="0" i="0" u="none" strike="noStrike" kern="0" cap="none" spc="-35" normalizeH="0" baseline="0" noProof="0">
                <a:ln>
                  <a:noFill/>
                </a:ln>
                <a:solidFill>
                  <a:srgbClr val="565656"/>
                </a:solidFill>
                <a:effectLst/>
                <a:uLnTx/>
                <a:uFillTx/>
                <a:latin typeface="Trebuchet MS"/>
                <a:cs typeface="Trebuchet MS"/>
              </a:rPr>
              <a:t> </a:t>
            </a:r>
            <a:r>
              <a:rPr kumimoji="0" sz="800" b="0" i="0" u="none" strike="noStrike" kern="0" cap="none" spc="-10" normalizeH="0" baseline="0" noProof="0">
                <a:ln>
                  <a:noFill/>
                </a:ln>
                <a:solidFill>
                  <a:srgbClr val="565656"/>
                </a:solidFill>
                <a:effectLst/>
                <a:uLnTx/>
                <a:uFillTx/>
                <a:latin typeface="Trebuchet MS"/>
                <a:cs typeface="Trebuchet MS"/>
              </a:rPr>
              <a:t>etc.</a:t>
            </a:r>
            <a:r>
              <a:rPr kumimoji="0" sz="1500" b="0" i="0" u="none" strike="noStrike" kern="0" cap="none" spc="-15" normalizeH="0" baseline="-5555" noProof="0">
                <a:ln>
                  <a:noFill/>
                </a:ln>
                <a:solidFill>
                  <a:srgbClr val="7E7E7E"/>
                </a:solidFill>
                <a:effectLst/>
                <a:uLnTx/>
                <a:uFillTx/>
                <a:latin typeface="Trebuchet MS"/>
                <a:cs typeface="Trebuchet MS"/>
              </a:rPr>
              <a:t>14 </a:t>
            </a:r>
            <a:r>
              <a:rPr kumimoji="0" sz="800" b="0" i="0" u="none" strike="noStrike" kern="0" cap="none" spc="0" normalizeH="0" baseline="0" noProof="0">
                <a:ln>
                  <a:noFill/>
                </a:ln>
                <a:solidFill>
                  <a:srgbClr val="565656"/>
                </a:solidFill>
                <a:effectLst/>
                <a:uLnTx/>
                <a:uFillTx/>
                <a:latin typeface="Trebuchet MS"/>
                <a:cs typeface="Trebuchet MS"/>
              </a:rPr>
              <a:t>Source:</a:t>
            </a:r>
            <a:r>
              <a:rPr kumimoji="0" sz="800" b="0" i="0" u="none" strike="noStrike" kern="0" cap="none" spc="-30" normalizeH="0" baseline="0" noProof="0">
                <a:ln>
                  <a:noFill/>
                </a:ln>
                <a:solidFill>
                  <a:srgbClr val="565656"/>
                </a:solidFill>
                <a:effectLst/>
                <a:uLnTx/>
                <a:uFillTx/>
                <a:latin typeface="Trebuchet MS"/>
                <a:cs typeface="Trebuchet MS"/>
              </a:rPr>
              <a:t> </a:t>
            </a:r>
            <a:r>
              <a:rPr kumimoji="0" sz="800" b="0" i="0" u="none" strike="noStrike" kern="0" cap="none" spc="0" normalizeH="0" baseline="0" noProof="0">
                <a:ln>
                  <a:noFill/>
                </a:ln>
                <a:solidFill>
                  <a:srgbClr val="565656"/>
                </a:solidFill>
                <a:effectLst/>
                <a:uLnTx/>
                <a:uFillTx/>
                <a:latin typeface="Trebuchet MS"/>
                <a:cs typeface="Trebuchet MS"/>
              </a:rPr>
              <a:t>BCG</a:t>
            </a:r>
            <a:r>
              <a:rPr kumimoji="0" sz="800" b="0" i="0" u="none" strike="noStrike" kern="0" cap="none" spc="-45" normalizeH="0" baseline="0" noProof="0">
                <a:ln>
                  <a:noFill/>
                </a:ln>
                <a:solidFill>
                  <a:srgbClr val="565656"/>
                </a:solidFill>
                <a:effectLst/>
                <a:uLnTx/>
                <a:uFillTx/>
                <a:latin typeface="Trebuchet MS"/>
                <a:cs typeface="Trebuchet MS"/>
              </a:rPr>
              <a:t> </a:t>
            </a:r>
            <a:r>
              <a:rPr kumimoji="0" sz="800" b="0" i="0" u="none" strike="noStrike" kern="0" cap="none" spc="-10" normalizeH="0" baseline="0" noProof="0">
                <a:ln>
                  <a:noFill/>
                </a:ln>
                <a:solidFill>
                  <a:srgbClr val="565656"/>
                </a:solidFill>
                <a:effectLst/>
                <a:uLnTx/>
                <a:uFillTx/>
                <a:latin typeface="Trebuchet MS"/>
                <a:cs typeface="Trebuchet MS"/>
              </a:rPr>
              <a:t>analysis</a:t>
            </a:r>
            <a:endParaRPr kumimoji="0" sz="8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3" name="object 3"/>
          <p:cNvSpPr txBox="1"/>
          <p:nvPr/>
        </p:nvSpPr>
        <p:spPr>
          <a:xfrm>
            <a:off x="11986574" y="3898286"/>
            <a:ext cx="128270" cy="2653665"/>
          </a:xfrm>
          <a:prstGeom prst="rect">
            <a:avLst/>
          </a:prstGeom>
        </p:spPr>
        <p:txBody>
          <a:bodyPr vert="vert270" wrap="square" lIns="0" tIns="6350" rIns="0" bIns="0" rtlCol="0">
            <a:spAutoFit/>
          </a:bodyPr>
          <a:lstStyle/>
          <a:p>
            <a:pPr marL="12700" marR="0" lvl="0" indent="0" defTabSz="914400" eaLnBrk="1" fontAlgn="auto" latinLnBrk="0" hangingPunct="1">
              <a:lnSpc>
                <a:spcPct val="100000"/>
              </a:lnSpc>
              <a:spcBef>
                <a:spcPts val="50"/>
              </a:spcBef>
              <a:spcAft>
                <a:spcPts val="0"/>
              </a:spcAft>
              <a:buClrTx/>
              <a:buSzTx/>
              <a:buFontTx/>
              <a:buNone/>
              <a:tabLst/>
              <a:defRPr/>
            </a:pPr>
            <a:r>
              <a:rPr kumimoji="0" sz="700" b="0" i="0" u="none" strike="noStrike" kern="0" cap="none" spc="0" normalizeH="0" baseline="0" noProof="0">
                <a:ln>
                  <a:noFill/>
                </a:ln>
                <a:solidFill>
                  <a:srgbClr val="7E7E7E"/>
                </a:solidFill>
                <a:effectLst/>
                <a:uLnTx/>
                <a:uFillTx/>
                <a:latin typeface="Trebuchet MS"/>
                <a:cs typeface="Trebuchet MS"/>
              </a:rPr>
              <a:t>Copyright</a:t>
            </a:r>
            <a:r>
              <a:rPr kumimoji="0" sz="700" b="0" i="0" u="none" strike="noStrike" kern="0" cap="none" spc="-25" normalizeH="0" baseline="0" noProof="0">
                <a:ln>
                  <a:noFill/>
                </a:ln>
                <a:solidFill>
                  <a:srgbClr val="7E7E7E"/>
                </a:solidFill>
                <a:effectLst/>
                <a:uLnTx/>
                <a:uFillTx/>
                <a:latin typeface="Trebuchet MS"/>
                <a:cs typeface="Trebuchet MS"/>
              </a:rPr>
              <a:t> </a:t>
            </a:r>
            <a:r>
              <a:rPr kumimoji="0" sz="700" b="0" i="0" u="none" strike="noStrike" kern="0" cap="none" spc="0" normalizeH="0" baseline="0" noProof="0">
                <a:ln>
                  <a:noFill/>
                </a:ln>
                <a:solidFill>
                  <a:srgbClr val="7E7E7E"/>
                </a:solidFill>
                <a:effectLst/>
                <a:uLnTx/>
                <a:uFillTx/>
                <a:latin typeface="Trebuchet MS"/>
                <a:cs typeface="Trebuchet MS"/>
              </a:rPr>
              <a:t>©</a:t>
            </a:r>
            <a:r>
              <a:rPr kumimoji="0" sz="700" b="0" i="0" u="none" strike="noStrike" kern="0" cap="none" spc="-25" normalizeH="0" baseline="0" noProof="0">
                <a:ln>
                  <a:noFill/>
                </a:ln>
                <a:solidFill>
                  <a:srgbClr val="7E7E7E"/>
                </a:solidFill>
                <a:effectLst/>
                <a:uLnTx/>
                <a:uFillTx/>
                <a:latin typeface="Trebuchet MS"/>
                <a:cs typeface="Trebuchet MS"/>
              </a:rPr>
              <a:t> </a:t>
            </a:r>
            <a:r>
              <a:rPr kumimoji="0" sz="700" b="0" i="0" u="none" strike="noStrike" kern="0" cap="none" spc="0" normalizeH="0" baseline="0" noProof="0">
                <a:ln>
                  <a:noFill/>
                </a:ln>
                <a:solidFill>
                  <a:srgbClr val="7E7E7E"/>
                </a:solidFill>
                <a:effectLst/>
                <a:uLnTx/>
                <a:uFillTx/>
                <a:latin typeface="Trebuchet MS"/>
                <a:cs typeface="Trebuchet MS"/>
              </a:rPr>
              <a:t>2019</a:t>
            </a:r>
            <a:r>
              <a:rPr kumimoji="0" sz="700" b="0" i="0" u="none" strike="noStrike" kern="0" cap="none" spc="-15" normalizeH="0" baseline="0" noProof="0">
                <a:ln>
                  <a:noFill/>
                </a:ln>
                <a:solidFill>
                  <a:srgbClr val="7E7E7E"/>
                </a:solidFill>
                <a:effectLst/>
                <a:uLnTx/>
                <a:uFillTx/>
                <a:latin typeface="Trebuchet MS"/>
                <a:cs typeface="Trebuchet MS"/>
              </a:rPr>
              <a:t> </a:t>
            </a:r>
            <a:r>
              <a:rPr kumimoji="0" sz="700" b="0" i="0" u="none" strike="noStrike" kern="0" cap="none" spc="0" normalizeH="0" baseline="0" noProof="0">
                <a:ln>
                  <a:noFill/>
                </a:ln>
                <a:solidFill>
                  <a:srgbClr val="7E7E7E"/>
                </a:solidFill>
                <a:effectLst/>
                <a:uLnTx/>
                <a:uFillTx/>
                <a:latin typeface="Trebuchet MS"/>
                <a:cs typeface="Trebuchet MS"/>
              </a:rPr>
              <a:t>by</a:t>
            </a:r>
            <a:r>
              <a:rPr kumimoji="0" sz="700" b="0" i="0" u="none" strike="noStrike" kern="0" cap="none" spc="-20" normalizeH="0" baseline="0" noProof="0">
                <a:ln>
                  <a:noFill/>
                </a:ln>
                <a:solidFill>
                  <a:srgbClr val="7E7E7E"/>
                </a:solidFill>
                <a:effectLst/>
                <a:uLnTx/>
                <a:uFillTx/>
                <a:latin typeface="Trebuchet MS"/>
                <a:cs typeface="Trebuchet MS"/>
              </a:rPr>
              <a:t> </a:t>
            </a:r>
            <a:r>
              <a:rPr kumimoji="0" sz="700" b="0" i="0" u="none" strike="noStrike" kern="0" cap="none" spc="0" normalizeH="0" baseline="0" noProof="0">
                <a:ln>
                  <a:noFill/>
                </a:ln>
                <a:solidFill>
                  <a:srgbClr val="7E7E7E"/>
                </a:solidFill>
                <a:effectLst/>
                <a:uLnTx/>
                <a:uFillTx/>
                <a:latin typeface="Trebuchet MS"/>
                <a:cs typeface="Trebuchet MS"/>
              </a:rPr>
              <a:t>Boston </a:t>
            </a:r>
            <a:r>
              <a:rPr kumimoji="0" sz="700" b="0" i="0" u="none" strike="noStrike" kern="0" cap="none" spc="-10" normalizeH="0" baseline="0" noProof="0">
                <a:ln>
                  <a:noFill/>
                </a:ln>
                <a:solidFill>
                  <a:srgbClr val="7E7E7E"/>
                </a:solidFill>
                <a:effectLst/>
                <a:uLnTx/>
                <a:uFillTx/>
                <a:latin typeface="Trebuchet MS"/>
                <a:cs typeface="Trebuchet MS"/>
              </a:rPr>
              <a:t>Consulting </a:t>
            </a:r>
            <a:r>
              <a:rPr kumimoji="0" sz="700" b="0" i="0" u="none" strike="noStrike" kern="0" cap="none" spc="0" normalizeH="0" baseline="0" noProof="0">
                <a:ln>
                  <a:noFill/>
                </a:ln>
                <a:solidFill>
                  <a:srgbClr val="7E7E7E"/>
                </a:solidFill>
                <a:effectLst/>
                <a:uLnTx/>
                <a:uFillTx/>
                <a:latin typeface="Trebuchet MS"/>
                <a:cs typeface="Trebuchet MS"/>
              </a:rPr>
              <a:t>Group.</a:t>
            </a:r>
            <a:r>
              <a:rPr kumimoji="0" sz="700" b="0" i="0" u="none" strike="noStrike" kern="0" cap="none" spc="-5" normalizeH="0" baseline="0" noProof="0">
                <a:ln>
                  <a:noFill/>
                </a:ln>
                <a:solidFill>
                  <a:srgbClr val="7E7E7E"/>
                </a:solidFill>
                <a:effectLst/>
                <a:uLnTx/>
                <a:uFillTx/>
                <a:latin typeface="Trebuchet MS"/>
                <a:cs typeface="Trebuchet MS"/>
              </a:rPr>
              <a:t> </a:t>
            </a:r>
            <a:r>
              <a:rPr kumimoji="0" sz="700" b="0" i="0" u="none" strike="noStrike" kern="0" cap="none" spc="0" normalizeH="0" baseline="0" noProof="0">
                <a:ln>
                  <a:noFill/>
                </a:ln>
                <a:solidFill>
                  <a:srgbClr val="7E7E7E"/>
                </a:solidFill>
                <a:effectLst/>
                <a:uLnTx/>
                <a:uFillTx/>
                <a:latin typeface="Trebuchet MS"/>
                <a:cs typeface="Trebuchet MS"/>
              </a:rPr>
              <a:t>All</a:t>
            </a:r>
            <a:r>
              <a:rPr kumimoji="0" sz="700" b="0" i="0" u="none" strike="noStrike" kern="0" cap="none" spc="-5" normalizeH="0" baseline="0" noProof="0">
                <a:ln>
                  <a:noFill/>
                </a:ln>
                <a:solidFill>
                  <a:srgbClr val="7E7E7E"/>
                </a:solidFill>
                <a:effectLst/>
                <a:uLnTx/>
                <a:uFillTx/>
                <a:latin typeface="Trebuchet MS"/>
                <a:cs typeface="Trebuchet MS"/>
              </a:rPr>
              <a:t> </a:t>
            </a:r>
            <a:r>
              <a:rPr kumimoji="0" sz="700" b="0" i="0" u="none" strike="noStrike" kern="0" cap="none" spc="0" normalizeH="0" baseline="0" noProof="0">
                <a:ln>
                  <a:noFill/>
                </a:ln>
                <a:solidFill>
                  <a:srgbClr val="7E7E7E"/>
                </a:solidFill>
                <a:effectLst/>
                <a:uLnTx/>
                <a:uFillTx/>
                <a:latin typeface="Trebuchet MS"/>
                <a:cs typeface="Trebuchet MS"/>
              </a:rPr>
              <a:t>rights</a:t>
            </a:r>
            <a:r>
              <a:rPr kumimoji="0" sz="700" b="0" i="0" u="none" strike="noStrike" kern="0" cap="none" spc="-25" normalizeH="0" baseline="0" noProof="0">
                <a:ln>
                  <a:noFill/>
                </a:ln>
                <a:solidFill>
                  <a:srgbClr val="7E7E7E"/>
                </a:solidFill>
                <a:effectLst/>
                <a:uLnTx/>
                <a:uFillTx/>
                <a:latin typeface="Trebuchet MS"/>
                <a:cs typeface="Trebuchet MS"/>
              </a:rPr>
              <a:t> </a:t>
            </a:r>
            <a:r>
              <a:rPr kumimoji="0" sz="700" b="0" i="0" u="none" strike="noStrike" kern="0" cap="none" spc="-10" normalizeH="0" baseline="0" noProof="0">
                <a:ln>
                  <a:noFill/>
                </a:ln>
                <a:solidFill>
                  <a:srgbClr val="7E7E7E"/>
                </a:solidFill>
                <a:effectLst/>
                <a:uLnTx/>
                <a:uFillTx/>
                <a:latin typeface="Trebuchet MS"/>
                <a:cs typeface="Trebuchet MS"/>
              </a:rPr>
              <a:t>reserved.</a:t>
            </a:r>
            <a:endParaRPr kumimoji="0" sz="7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4" name="object 4"/>
          <p:cNvSpPr txBox="1">
            <a:spLocks noGrp="1"/>
          </p:cNvSpPr>
          <p:nvPr>
            <p:ph type="title"/>
          </p:nvPr>
        </p:nvSpPr>
        <p:spPr>
          <a:xfrm>
            <a:off x="617321" y="830402"/>
            <a:ext cx="9043670" cy="721360"/>
          </a:xfrm>
          <a:prstGeom prst="rect">
            <a:avLst/>
          </a:prstGeom>
        </p:spPr>
        <p:txBody>
          <a:bodyPr vert="horz" wrap="square" lIns="0" tIns="12700" rIns="0" bIns="0" rtlCol="0">
            <a:spAutoFit/>
          </a:bodyPr>
          <a:lstStyle/>
          <a:p>
            <a:pPr marL="12700">
              <a:lnSpc>
                <a:spcPts val="2735"/>
              </a:lnSpc>
              <a:spcBef>
                <a:spcPts val="100"/>
              </a:spcBef>
            </a:pPr>
            <a:r>
              <a:rPr sz="2400"/>
              <a:t>Lead</a:t>
            </a:r>
            <a:r>
              <a:rPr sz="2400" spc="-55"/>
              <a:t> </a:t>
            </a:r>
            <a:r>
              <a:rPr sz="2400" spc="-10"/>
              <a:t>Prioritization:</a:t>
            </a:r>
            <a:r>
              <a:rPr sz="2400" spc="-20"/>
              <a:t> </a:t>
            </a:r>
            <a:r>
              <a:rPr sz="2400"/>
              <a:t>RM</a:t>
            </a:r>
            <a:r>
              <a:rPr sz="2400" spc="-60"/>
              <a:t> </a:t>
            </a:r>
            <a:r>
              <a:rPr sz="2400"/>
              <a:t>to</a:t>
            </a:r>
            <a:r>
              <a:rPr sz="2400" spc="-55"/>
              <a:t> </a:t>
            </a:r>
            <a:r>
              <a:rPr sz="2400"/>
              <a:t>view</a:t>
            </a:r>
            <a:r>
              <a:rPr sz="2400" spc="-50"/>
              <a:t> </a:t>
            </a:r>
            <a:r>
              <a:rPr sz="2400"/>
              <a:t>prioritized</a:t>
            </a:r>
            <a:r>
              <a:rPr sz="2400" spc="-30"/>
              <a:t> </a:t>
            </a:r>
            <a:r>
              <a:rPr sz="2400"/>
              <a:t>list</a:t>
            </a:r>
            <a:r>
              <a:rPr sz="2400" spc="-40"/>
              <a:t> </a:t>
            </a:r>
            <a:r>
              <a:rPr sz="2400"/>
              <a:t>of</a:t>
            </a:r>
            <a:r>
              <a:rPr sz="2400" spc="-45"/>
              <a:t> </a:t>
            </a:r>
            <a:r>
              <a:rPr sz="2400"/>
              <a:t>leads</a:t>
            </a:r>
            <a:r>
              <a:rPr sz="2400" spc="-35"/>
              <a:t> </a:t>
            </a:r>
            <a:r>
              <a:rPr sz="2400"/>
              <a:t>and</a:t>
            </a:r>
            <a:r>
              <a:rPr sz="2400" spc="-50"/>
              <a:t> </a:t>
            </a:r>
            <a:r>
              <a:rPr sz="2400" spc="-10"/>
              <a:t>clients</a:t>
            </a:r>
            <a:endParaRPr sz="2400"/>
          </a:p>
          <a:p>
            <a:pPr marL="12700">
              <a:lnSpc>
                <a:spcPts val="2735"/>
              </a:lnSpc>
            </a:pPr>
            <a:r>
              <a:rPr sz="2400"/>
              <a:t>from</a:t>
            </a:r>
            <a:r>
              <a:rPr sz="2400" spc="-20"/>
              <a:t> </a:t>
            </a:r>
            <a:r>
              <a:rPr sz="2400" spc="-10"/>
              <a:t>workbench</a:t>
            </a:r>
            <a:endParaRPr sz="2400"/>
          </a:p>
        </p:txBody>
      </p:sp>
      <p:sp>
        <p:nvSpPr>
          <p:cNvPr id="5" name="object 5"/>
          <p:cNvSpPr txBox="1"/>
          <p:nvPr/>
        </p:nvSpPr>
        <p:spPr>
          <a:xfrm>
            <a:off x="617321" y="1711832"/>
            <a:ext cx="5728970" cy="513080"/>
          </a:xfrm>
          <a:prstGeom prst="rect">
            <a:avLst/>
          </a:prstGeom>
        </p:spPr>
        <p:txBody>
          <a:bodyPr vert="horz" wrap="square" lIns="0" tIns="12065" rIns="0" bIns="0" rtlCol="0">
            <a:spAutoFit/>
          </a:bodyPr>
          <a:lstStyle/>
          <a:p>
            <a:pPr marL="12700" marR="5080" lvl="0" indent="0" defTabSz="914400" eaLnBrk="1" fontAlgn="auto" latinLnBrk="0" hangingPunct="1">
              <a:lnSpc>
                <a:spcPct val="100000"/>
              </a:lnSpc>
              <a:spcBef>
                <a:spcPts val="95"/>
              </a:spcBef>
              <a:spcAft>
                <a:spcPts val="0"/>
              </a:spcAft>
              <a:buClrTx/>
              <a:buSzTx/>
              <a:buFontTx/>
              <a:buNone/>
              <a:tabLst/>
              <a:defRPr/>
            </a:pPr>
            <a:r>
              <a:rPr kumimoji="0" sz="1600" b="0" i="0" u="none" strike="noStrike" kern="0" cap="none" spc="0" normalizeH="0" baseline="0" noProof="0">
                <a:ln>
                  <a:noFill/>
                </a:ln>
                <a:solidFill>
                  <a:srgbClr val="295E7D"/>
                </a:solidFill>
                <a:effectLst/>
                <a:uLnTx/>
                <a:uFillTx/>
                <a:latin typeface="Trebuchet MS"/>
                <a:cs typeface="Trebuchet MS"/>
              </a:rPr>
              <a:t>Example</a:t>
            </a:r>
            <a:r>
              <a:rPr kumimoji="0" sz="1600" b="0" i="0" u="none" strike="noStrike" kern="0" cap="none" spc="-25" normalizeH="0" baseline="0" noProof="0">
                <a:ln>
                  <a:noFill/>
                </a:ln>
                <a:solidFill>
                  <a:srgbClr val="295E7D"/>
                </a:solidFill>
                <a:effectLst/>
                <a:uLnTx/>
                <a:uFillTx/>
                <a:latin typeface="Trebuchet MS"/>
                <a:cs typeface="Trebuchet MS"/>
              </a:rPr>
              <a:t> </a:t>
            </a:r>
            <a:r>
              <a:rPr kumimoji="0" sz="1600" b="0" i="0" u="none" strike="noStrike" kern="0" cap="none" spc="0" normalizeH="0" baseline="0" noProof="0">
                <a:ln>
                  <a:noFill/>
                </a:ln>
                <a:solidFill>
                  <a:srgbClr val="295E7D"/>
                </a:solidFill>
                <a:effectLst/>
                <a:uLnTx/>
                <a:uFillTx/>
                <a:latin typeface="Trebuchet MS"/>
                <a:cs typeface="Trebuchet MS"/>
              </a:rPr>
              <a:t>RM</a:t>
            </a:r>
            <a:r>
              <a:rPr kumimoji="0" sz="1600" b="0" i="0" u="none" strike="noStrike" kern="0" cap="none" spc="-25" normalizeH="0" baseline="0" noProof="0">
                <a:ln>
                  <a:noFill/>
                </a:ln>
                <a:solidFill>
                  <a:srgbClr val="295E7D"/>
                </a:solidFill>
                <a:effectLst/>
                <a:uLnTx/>
                <a:uFillTx/>
                <a:latin typeface="Trebuchet MS"/>
                <a:cs typeface="Trebuchet MS"/>
              </a:rPr>
              <a:t> </a:t>
            </a:r>
            <a:r>
              <a:rPr kumimoji="0" sz="1600" b="0" i="0" u="none" strike="noStrike" kern="0" cap="none" spc="0" normalizeH="0" baseline="0" noProof="0">
                <a:ln>
                  <a:noFill/>
                </a:ln>
                <a:solidFill>
                  <a:srgbClr val="295E7D"/>
                </a:solidFill>
                <a:effectLst/>
                <a:uLnTx/>
                <a:uFillTx/>
                <a:latin typeface="Trebuchet MS"/>
                <a:cs typeface="Trebuchet MS"/>
              </a:rPr>
              <a:t>workbench</a:t>
            </a:r>
            <a:r>
              <a:rPr kumimoji="0" sz="1600" b="0" i="0" u="none" strike="noStrike" kern="0" cap="none" spc="0" normalizeH="0" baseline="0" noProof="0">
                <a:ln>
                  <a:noFill/>
                </a:ln>
                <a:solidFill>
                  <a:srgbClr val="005FAE"/>
                </a:solidFill>
                <a:effectLst/>
                <a:uLnTx/>
                <a:uFillTx/>
                <a:latin typeface="Trebuchet MS"/>
                <a:cs typeface="Trebuchet MS"/>
              </a:rPr>
              <a:t>:</a:t>
            </a:r>
            <a:r>
              <a:rPr kumimoji="0" sz="1600" b="0" i="0" u="none" strike="noStrike" kern="0" cap="none" spc="-20" normalizeH="0" baseline="0" noProof="0">
                <a:ln>
                  <a:noFill/>
                </a:ln>
                <a:solidFill>
                  <a:srgbClr val="005FAE"/>
                </a:solidFill>
                <a:effectLst/>
                <a:uLnTx/>
                <a:uFillTx/>
                <a:latin typeface="Trebuchet MS"/>
                <a:cs typeface="Trebuchet MS"/>
              </a:rPr>
              <a:t> </a:t>
            </a:r>
            <a:r>
              <a:rPr kumimoji="0" sz="1600" b="0" i="0" u="none" strike="noStrike" kern="0" cap="none" spc="0" normalizeH="0" baseline="0" noProof="0">
                <a:ln>
                  <a:noFill/>
                </a:ln>
                <a:solidFill>
                  <a:srgbClr val="005FAE"/>
                </a:solidFill>
                <a:effectLst/>
                <a:uLnTx/>
                <a:uFillTx/>
                <a:latin typeface="Trebuchet MS"/>
                <a:cs typeface="Trebuchet MS"/>
              </a:rPr>
              <a:t>List</a:t>
            </a:r>
            <a:r>
              <a:rPr kumimoji="0" sz="1600" b="0" i="0" u="none" strike="noStrike" kern="0" cap="none" spc="-25" normalizeH="0" baseline="0" noProof="0">
                <a:ln>
                  <a:noFill/>
                </a:ln>
                <a:solidFill>
                  <a:srgbClr val="005FAE"/>
                </a:solidFill>
                <a:effectLst/>
                <a:uLnTx/>
                <a:uFillTx/>
                <a:latin typeface="Trebuchet MS"/>
                <a:cs typeface="Trebuchet MS"/>
              </a:rPr>
              <a:t> </a:t>
            </a:r>
            <a:r>
              <a:rPr kumimoji="0" sz="1600" b="0" i="0" u="none" strike="noStrike" kern="0" cap="none" spc="0" normalizeH="0" baseline="0" noProof="0">
                <a:ln>
                  <a:noFill/>
                </a:ln>
                <a:solidFill>
                  <a:srgbClr val="005FAE"/>
                </a:solidFill>
                <a:effectLst/>
                <a:uLnTx/>
                <a:uFillTx/>
                <a:latin typeface="Trebuchet MS"/>
                <a:cs typeface="Trebuchet MS"/>
              </a:rPr>
              <a:t>of</a:t>
            </a:r>
            <a:r>
              <a:rPr kumimoji="0" sz="1600" b="0" i="0" u="none" strike="noStrike" kern="0" cap="none" spc="-25" normalizeH="0" baseline="0" noProof="0">
                <a:ln>
                  <a:noFill/>
                </a:ln>
                <a:solidFill>
                  <a:srgbClr val="005FAE"/>
                </a:solidFill>
                <a:effectLst/>
                <a:uLnTx/>
                <a:uFillTx/>
                <a:latin typeface="Trebuchet MS"/>
                <a:cs typeface="Trebuchet MS"/>
              </a:rPr>
              <a:t> </a:t>
            </a:r>
            <a:r>
              <a:rPr kumimoji="0" sz="1600" b="0" i="0" u="none" strike="noStrike" kern="0" cap="none" spc="0" normalizeH="0" baseline="0" noProof="0">
                <a:ln>
                  <a:noFill/>
                </a:ln>
                <a:solidFill>
                  <a:srgbClr val="005FAE"/>
                </a:solidFill>
                <a:effectLst/>
                <a:uLnTx/>
                <a:uFillTx/>
                <a:latin typeface="Trebuchet MS"/>
                <a:cs typeface="Trebuchet MS"/>
              </a:rPr>
              <a:t>clients</a:t>
            </a:r>
            <a:r>
              <a:rPr kumimoji="0" sz="1600" b="0" i="0" u="none" strike="noStrike" kern="0" cap="none" spc="-35" normalizeH="0" baseline="0" noProof="0">
                <a:ln>
                  <a:noFill/>
                </a:ln>
                <a:solidFill>
                  <a:srgbClr val="005FAE"/>
                </a:solidFill>
                <a:effectLst/>
                <a:uLnTx/>
                <a:uFillTx/>
                <a:latin typeface="Trebuchet MS"/>
                <a:cs typeface="Trebuchet MS"/>
              </a:rPr>
              <a:t> </a:t>
            </a:r>
            <a:r>
              <a:rPr kumimoji="0" sz="1600" b="0" i="0" u="none" strike="noStrike" kern="0" cap="none" spc="0" normalizeH="0" baseline="0" noProof="0">
                <a:ln>
                  <a:noFill/>
                </a:ln>
                <a:solidFill>
                  <a:srgbClr val="005FAE"/>
                </a:solidFill>
                <a:effectLst/>
                <a:uLnTx/>
                <a:uFillTx/>
                <a:latin typeface="Trebuchet MS"/>
                <a:cs typeface="Trebuchet MS"/>
              </a:rPr>
              <a:t>viewed</a:t>
            </a:r>
            <a:r>
              <a:rPr kumimoji="0" sz="1600" b="0" i="0" u="none" strike="noStrike" kern="0" cap="none" spc="-25" normalizeH="0" baseline="0" noProof="0">
                <a:ln>
                  <a:noFill/>
                </a:ln>
                <a:solidFill>
                  <a:srgbClr val="005FAE"/>
                </a:solidFill>
                <a:effectLst/>
                <a:uLnTx/>
                <a:uFillTx/>
                <a:latin typeface="Trebuchet MS"/>
                <a:cs typeface="Trebuchet MS"/>
              </a:rPr>
              <a:t> </a:t>
            </a:r>
            <a:r>
              <a:rPr kumimoji="0" sz="1600" b="0" i="0" u="none" strike="noStrike" kern="0" cap="none" spc="0" normalizeH="0" baseline="0" noProof="0">
                <a:ln>
                  <a:noFill/>
                </a:ln>
                <a:solidFill>
                  <a:srgbClr val="005FAE"/>
                </a:solidFill>
                <a:effectLst/>
                <a:uLnTx/>
                <a:uFillTx/>
                <a:latin typeface="Trebuchet MS"/>
                <a:cs typeface="Trebuchet MS"/>
              </a:rPr>
              <a:t>by</a:t>
            </a:r>
            <a:r>
              <a:rPr kumimoji="0" sz="1600" b="0" i="0" u="none" strike="noStrike" kern="0" cap="none" spc="-45" normalizeH="0" baseline="0" noProof="0">
                <a:ln>
                  <a:noFill/>
                </a:ln>
                <a:solidFill>
                  <a:srgbClr val="005FAE"/>
                </a:solidFill>
                <a:effectLst/>
                <a:uLnTx/>
                <a:uFillTx/>
                <a:latin typeface="Trebuchet MS"/>
                <a:cs typeface="Trebuchet MS"/>
              </a:rPr>
              <a:t> </a:t>
            </a:r>
            <a:r>
              <a:rPr kumimoji="0" sz="1600" b="0" i="0" u="none" strike="noStrike" kern="0" cap="none" spc="0" normalizeH="0" baseline="0" noProof="0">
                <a:ln>
                  <a:noFill/>
                </a:ln>
                <a:solidFill>
                  <a:srgbClr val="005FAE"/>
                </a:solidFill>
                <a:effectLst/>
                <a:uLnTx/>
                <a:uFillTx/>
                <a:latin typeface="Trebuchet MS"/>
                <a:cs typeface="Trebuchet MS"/>
              </a:rPr>
              <a:t>RM</a:t>
            </a:r>
            <a:r>
              <a:rPr kumimoji="0" sz="1600" b="0" i="0" u="none" strike="noStrike" kern="0" cap="none" spc="-25" normalizeH="0" baseline="0" noProof="0">
                <a:ln>
                  <a:noFill/>
                </a:ln>
                <a:solidFill>
                  <a:srgbClr val="005FAE"/>
                </a:solidFill>
                <a:effectLst/>
                <a:uLnTx/>
                <a:uFillTx/>
                <a:latin typeface="Trebuchet MS"/>
                <a:cs typeface="Trebuchet MS"/>
              </a:rPr>
              <a:t> </a:t>
            </a:r>
            <a:r>
              <a:rPr kumimoji="0" sz="1600" b="0" i="0" u="none" strike="noStrike" kern="0" cap="none" spc="0" normalizeH="0" baseline="0" noProof="0">
                <a:ln>
                  <a:noFill/>
                </a:ln>
                <a:solidFill>
                  <a:srgbClr val="005FAE"/>
                </a:solidFill>
                <a:effectLst/>
                <a:uLnTx/>
                <a:uFillTx/>
                <a:latin typeface="Trebuchet MS"/>
                <a:cs typeface="Trebuchet MS"/>
              </a:rPr>
              <a:t>to</a:t>
            </a:r>
            <a:r>
              <a:rPr kumimoji="0" sz="1600" b="0" i="0" u="none" strike="noStrike" kern="0" cap="none" spc="-25" normalizeH="0" baseline="0" noProof="0">
                <a:ln>
                  <a:noFill/>
                </a:ln>
                <a:solidFill>
                  <a:srgbClr val="005FAE"/>
                </a:solidFill>
                <a:effectLst/>
                <a:uLnTx/>
                <a:uFillTx/>
                <a:latin typeface="Trebuchet MS"/>
                <a:cs typeface="Trebuchet MS"/>
              </a:rPr>
              <a:t> be </a:t>
            </a:r>
            <a:r>
              <a:rPr kumimoji="0" sz="1600" b="0" i="0" u="none" strike="noStrike" kern="0" cap="none" spc="0" normalizeH="0" baseline="0" noProof="0">
                <a:ln>
                  <a:noFill/>
                </a:ln>
                <a:solidFill>
                  <a:srgbClr val="005FAE"/>
                </a:solidFill>
                <a:effectLst/>
                <a:uLnTx/>
                <a:uFillTx/>
                <a:latin typeface="Trebuchet MS"/>
                <a:cs typeface="Trebuchet MS"/>
              </a:rPr>
              <a:t>prioritized</a:t>
            </a:r>
            <a:r>
              <a:rPr kumimoji="0" sz="1600" b="0" i="0" u="none" strike="noStrike" kern="0" cap="none" spc="-15" normalizeH="0" baseline="0" noProof="0">
                <a:ln>
                  <a:noFill/>
                </a:ln>
                <a:solidFill>
                  <a:srgbClr val="005FAE"/>
                </a:solidFill>
                <a:effectLst/>
                <a:uLnTx/>
                <a:uFillTx/>
                <a:latin typeface="Trebuchet MS"/>
                <a:cs typeface="Trebuchet MS"/>
              </a:rPr>
              <a:t> </a:t>
            </a:r>
            <a:r>
              <a:rPr kumimoji="0" sz="1600" b="0" i="0" u="none" strike="noStrike" kern="0" cap="none" spc="0" normalizeH="0" baseline="0" noProof="0">
                <a:ln>
                  <a:noFill/>
                </a:ln>
                <a:solidFill>
                  <a:srgbClr val="005FAE"/>
                </a:solidFill>
                <a:effectLst/>
                <a:uLnTx/>
                <a:uFillTx/>
                <a:latin typeface="Trebuchet MS"/>
                <a:cs typeface="Trebuchet MS"/>
              </a:rPr>
              <a:t>based</a:t>
            </a:r>
            <a:r>
              <a:rPr kumimoji="0" sz="1600" b="0" i="0" u="none" strike="noStrike" kern="0" cap="none" spc="-55" normalizeH="0" baseline="0" noProof="0">
                <a:ln>
                  <a:noFill/>
                </a:ln>
                <a:solidFill>
                  <a:srgbClr val="005FAE"/>
                </a:solidFill>
                <a:effectLst/>
                <a:uLnTx/>
                <a:uFillTx/>
                <a:latin typeface="Trebuchet MS"/>
                <a:cs typeface="Trebuchet MS"/>
              </a:rPr>
              <a:t> </a:t>
            </a:r>
            <a:r>
              <a:rPr kumimoji="0" sz="1600" b="0" i="0" u="none" strike="noStrike" kern="0" cap="none" spc="0" normalizeH="0" baseline="0" noProof="0">
                <a:ln>
                  <a:noFill/>
                </a:ln>
                <a:solidFill>
                  <a:srgbClr val="005FAE"/>
                </a:solidFill>
                <a:effectLst/>
                <a:uLnTx/>
                <a:uFillTx/>
                <a:latin typeface="Trebuchet MS"/>
                <a:cs typeface="Trebuchet MS"/>
              </a:rPr>
              <a:t>on</a:t>
            </a:r>
            <a:r>
              <a:rPr kumimoji="0" sz="1600" b="0" i="0" u="none" strike="noStrike" kern="0" cap="none" spc="-30" normalizeH="0" baseline="0" noProof="0">
                <a:ln>
                  <a:noFill/>
                </a:ln>
                <a:solidFill>
                  <a:srgbClr val="005FAE"/>
                </a:solidFill>
                <a:effectLst/>
                <a:uLnTx/>
                <a:uFillTx/>
                <a:latin typeface="Trebuchet MS"/>
                <a:cs typeface="Trebuchet MS"/>
              </a:rPr>
              <a:t> </a:t>
            </a:r>
            <a:r>
              <a:rPr kumimoji="0" sz="1600" b="0" i="0" u="none" strike="noStrike" kern="0" cap="none" spc="0" normalizeH="0" baseline="0" noProof="0">
                <a:ln>
                  <a:noFill/>
                </a:ln>
                <a:solidFill>
                  <a:srgbClr val="005FAE"/>
                </a:solidFill>
                <a:effectLst/>
                <a:uLnTx/>
                <a:uFillTx/>
                <a:latin typeface="Trebuchet MS"/>
                <a:cs typeface="Trebuchet MS"/>
              </a:rPr>
              <a:t>set</a:t>
            </a:r>
            <a:r>
              <a:rPr kumimoji="0" sz="1600" b="0" i="0" u="none" strike="noStrike" kern="0" cap="none" spc="-50" normalizeH="0" baseline="0" noProof="0">
                <a:ln>
                  <a:noFill/>
                </a:ln>
                <a:solidFill>
                  <a:srgbClr val="005FAE"/>
                </a:solidFill>
                <a:effectLst/>
                <a:uLnTx/>
                <a:uFillTx/>
                <a:latin typeface="Trebuchet MS"/>
                <a:cs typeface="Trebuchet MS"/>
              </a:rPr>
              <a:t> </a:t>
            </a:r>
            <a:r>
              <a:rPr kumimoji="0" sz="1600" b="0" i="0" u="none" strike="noStrike" kern="0" cap="none" spc="0" normalizeH="0" baseline="0" noProof="0">
                <a:ln>
                  <a:noFill/>
                </a:ln>
                <a:solidFill>
                  <a:srgbClr val="005FAE"/>
                </a:solidFill>
                <a:effectLst/>
                <a:uLnTx/>
                <a:uFillTx/>
                <a:latin typeface="Trebuchet MS"/>
                <a:cs typeface="Trebuchet MS"/>
              </a:rPr>
              <a:t>rules</a:t>
            </a:r>
            <a:r>
              <a:rPr kumimoji="0" sz="1600" b="0" i="0" u="none" strike="noStrike" kern="0" cap="none" spc="-30" normalizeH="0" baseline="0" noProof="0">
                <a:ln>
                  <a:noFill/>
                </a:ln>
                <a:solidFill>
                  <a:srgbClr val="005FAE"/>
                </a:solidFill>
                <a:effectLst/>
                <a:uLnTx/>
                <a:uFillTx/>
                <a:latin typeface="Trebuchet MS"/>
                <a:cs typeface="Trebuchet MS"/>
              </a:rPr>
              <a:t> </a:t>
            </a:r>
            <a:r>
              <a:rPr kumimoji="0" sz="1600" b="0" i="0" u="none" strike="noStrike" kern="0" cap="none" spc="0" normalizeH="0" baseline="0" noProof="0">
                <a:ln>
                  <a:noFill/>
                </a:ln>
                <a:solidFill>
                  <a:srgbClr val="005FAE"/>
                </a:solidFill>
                <a:effectLst/>
                <a:uLnTx/>
                <a:uFillTx/>
                <a:latin typeface="Trebuchet MS"/>
                <a:cs typeface="Trebuchet MS"/>
              </a:rPr>
              <a:t>suggesting</a:t>
            </a:r>
            <a:r>
              <a:rPr kumimoji="0" sz="1600" b="0" i="0" u="none" strike="noStrike" kern="0" cap="none" spc="-55" normalizeH="0" baseline="0" noProof="0">
                <a:ln>
                  <a:noFill/>
                </a:ln>
                <a:solidFill>
                  <a:srgbClr val="005FAE"/>
                </a:solidFill>
                <a:effectLst/>
                <a:uLnTx/>
                <a:uFillTx/>
                <a:latin typeface="Trebuchet MS"/>
                <a:cs typeface="Trebuchet MS"/>
              </a:rPr>
              <a:t> </a:t>
            </a:r>
            <a:r>
              <a:rPr kumimoji="0" sz="1600" b="0" i="0" u="none" strike="noStrike" kern="0" cap="none" spc="0" normalizeH="0" baseline="0" noProof="0">
                <a:ln>
                  <a:noFill/>
                </a:ln>
                <a:solidFill>
                  <a:srgbClr val="005FAE"/>
                </a:solidFill>
                <a:effectLst/>
                <a:uLnTx/>
                <a:uFillTx/>
                <a:latin typeface="Trebuchet MS"/>
                <a:cs typeface="Trebuchet MS"/>
              </a:rPr>
              <a:t>which</a:t>
            </a:r>
            <a:r>
              <a:rPr kumimoji="0" sz="1600" b="0" i="0" u="none" strike="noStrike" kern="0" cap="none" spc="-40" normalizeH="0" baseline="0" noProof="0">
                <a:ln>
                  <a:noFill/>
                </a:ln>
                <a:solidFill>
                  <a:srgbClr val="005FAE"/>
                </a:solidFill>
                <a:effectLst/>
                <a:uLnTx/>
                <a:uFillTx/>
                <a:latin typeface="Trebuchet MS"/>
                <a:cs typeface="Trebuchet MS"/>
              </a:rPr>
              <a:t> </a:t>
            </a:r>
            <a:r>
              <a:rPr kumimoji="0" sz="1600" b="0" i="0" u="none" strike="noStrike" kern="0" cap="none" spc="0" normalizeH="0" baseline="0" noProof="0">
                <a:ln>
                  <a:noFill/>
                </a:ln>
                <a:solidFill>
                  <a:srgbClr val="005FAE"/>
                </a:solidFill>
                <a:effectLst/>
                <a:uLnTx/>
                <a:uFillTx/>
                <a:latin typeface="Trebuchet MS"/>
                <a:cs typeface="Trebuchet MS"/>
              </a:rPr>
              <a:t>to</a:t>
            </a:r>
            <a:r>
              <a:rPr kumimoji="0" sz="1600" b="0" i="0" u="none" strike="noStrike" kern="0" cap="none" spc="-45" normalizeH="0" baseline="0" noProof="0">
                <a:ln>
                  <a:noFill/>
                </a:ln>
                <a:solidFill>
                  <a:srgbClr val="005FAE"/>
                </a:solidFill>
                <a:effectLst/>
                <a:uLnTx/>
                <a:uFillTx/>
                <a:latin typeface="Trebuchet MS"/>
                <a:cs typeface="Trebuchet MS"/>
              </a:rPr>
              <a:t> </a:t>
            </a:r>
            <a:r>
              <a:rPr kumimoji="0" sz="1600" b="0" i="0" u="none" strike="noStrike" kern="0" cap="none" spc="0" normalizeH="0" baseline="0" noProof="0">
                <a:ln>
                  <a:noFill/>
                </a:ln>
                <a:solidFill>
                  <a:srgbClr val="005FAE"/>
                </a:solidFill>
                <a:effectLst/>
                <a:uLnTx/>
                <a:uFillTx/>
                <a:latin typeface="Trebuchet MS"/>
                <a:cs typeface="Trebuchet MS"/>
              </a:rPr>
              <a:t>contact</a:t>
            </a:r>
            <a:r>
              <a:rPr kumimoji="0" sz="1600" b="0" i="0" u="none" strike="noStrike" kern="0" cap="none" spc="-35" normalizeH="0" baseline="0" noProof="0">
                <a:ln>
                  <a:noFill/>
                </a:ln>
                <a:solidFill>
                  <a:srgbClr val="005FAE"/>
                </a:solidFill>
                <a:effectLst/>
                <a:uLnTx/>
                <a:uFillTx/>
                <a:latin typeface="Trebuchet MS"/>
                <a:cs typeface="Trebuchet MS"/>
              </a:rPr>
              <a:t> </a:t>
            </a:r>
            <a:r>
              <a:rPr kumimoji="0" sz="1600" b="0" i="0" u="none" strike="noStrike" kern="0" cap="none" spc="-10" normalizeH="0" baseline="0" noProof="0">
                <a:ln>
                  <a:noFill/>
                </a:ln>
                <a:solidFill>
                  <a:srgbClr val="005FAE"/>
                </a:solidFill>
                <a:effectLst/>
                <a:uLnTx/>
                <a:uFillTx/>
                <a:latin typeface="Trebuchet MS"/>
                <a:cs typeface="Trebuchet MS"/>
              </a:rPr>
              <a:t>first</a:t>
            </a:r>
            <a:endParaRPr kumimoji="0" sz="16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6" name="object 6"/>
          <p:cNvSpPr txBox="1"/>
          <p:nvPr/>
        </p:nvSpPr>
        <p:spPr>
          <a:xfrm>
            <a:off x="7511922" y="1711832"/>
            <a:ext cx="3784600" cy="513080"/>
          </a:xfrm>
          <a:prstGeom prst="rect">
            <a:avLst/>
          </a:prstGeom>
        </p:spPr>
        <p:txBody>
          <a:bodyPr vert="horz" wrap="square" lIns="0" tIns="12065" rIns="0" bIns="0" rtlCol="0">
            <a:spAutoFit/>
          </a:bodyPr>
          <a:lstStyle/>
          <a:p>
            <a:pPr marL="12700" marR="5080" lvl="0" indent="0" defTabSz="914400" eaLnBrk="1" fontAlgn="auto" latinLnBrk="0" hangingPunct="1">
              <a:lnSpc>
                <a:spcPct val="100000"/>
              </a:lnSpc>
              <a:spcBef>
                <a:spcPts val="95"/>
              </a:spcBef>
              <a:spcAft>
                <a:spcPts val="0"/>
              </a:spcAft>
              <a:buClrTx/>
              <a:buSzTx/>
              <a:buFontTx/>
              <a:buNone/>
              <a:tabLst/>
              <a:defRPr/>
            </a:pPr>
            <a:r>
              <a:rPr kumimoji="0" sz="1600" b="0" i="0" u="none" strike="noStrike" kern="0" cap="none" spc="0" normalizeH="0" baseline="0" noProof="0">
                <a:ln>
                  <a:noFill/>
                </a:ln>
                <a:solidFill>
                  <a:srgbClr val="005FAE"/>
                </a:solidFill>
                <a:effectLst/>
                <a:uLnTx/>
                <a:uFillTx/>
                <a:latin typeface="Trebuchet MS"/>
                <a:cs typeface="Trebuchet MS"/>
              </a:rPr>
              <a:t>Customer</a:t>
            </a:r>
            <a:r>
              <a:rPr kumimoji="0" sz="1600" b="0" i="0" u="none" strike="noStrike" kern="0" cap="none" spc="-45" normalizeH="0" baseline="0" noProof="0">
                <a:ln>
                  <a:noFill/>
                </a:ln>
                <a:solidFill>
                  <a:srgbClr val="005FAE"/>
                </a:solidFill>
                <a:effectLst/>
                <a:uLnTx/>
                <a:uFillTx/>
                <a:latin typeface="Trebuchet MS"/>
                <a:cs typeface="Trebuchet MS"/>
              </a:rPr>
              <a:t> </a:t>
            </a:r>
            <a:r>
              <a:rPr kumimoji="0" sz="1600" b="0" i="0" u="none" strike="noStrike" kern="0" cap="none" spc="0" normalizeH="0" baseline="0" noProof="0">
                <a:ln>
                  <a:noFill/>
                </a:ln>
                <a:solidFill>
                  <a:srgbClr val="005FAE"/>
                </a:solidFill>
                <a:effectLst/>
                <a:uLnTx/>
                <a:uFillTx/>
                <a:latin typeface="Trebuchet MS"/>
                <a:cs typeface="Trebuchet MS"/>
              </a:rPr>
              <a:t>contact</a:t>
            </a:r>
            <a:r>
              <a:rPr kumimoji="0" sz="1600" b="0" i="0" u="none" strike="noStrike" kern="0" cap="none" spc="-50" normalizeH="0" baseline="0" noProof="0">
                <a:ln>
                  <a:noFill/>
                </a:ln>
                <a:solidFill>
                  <a:srgbClr val="005FAE"/>
                </a:solidFill>
                <a:effectLst/>
                <a:uLnTx/>
                <a:uFillTx/>
                <a:latin typeface="Trebuchet MS"/>
                <a:cs typeface="Trebuchet MS"/>
              </a:rPr>
              <a:t> </a:t>
            </a:r>
            <a:r>
              <a:rPr kumimoji="0" sz="1600" b="0" i="0" u="none" strike="noStrike" kern="0" cap="none" spc="0" normalizeH="0" baseline="0" noProof="0">
                <a:ln>
                  <a:noFill/>
                </a:ln>
                <a:solidFill>
                  <a:srgbClr val="005FAE"/>
                </a:solidFill>
                <a:effectLst/>
                <a:uLnTx/>
                <a:uFillTx/>
                <a:latin typeface="Trebuchet MS"/>
                <a:cs typeface="Trebuchet MS"/>
              </a:rPr>
              <a:t>to</a:t>
            </a:r>
            <a:r>
              <a:rPr kumimoji="0" sz="1600" b="0" i="0" u="none" strike="noStrike" kern="0" cap="none" spc="-45" normalizeH="0" baseline="0" noProof="0">
                <a:ln>
                  <a:noFill/>
                </a:ln>
                <a:solidFill>
                  <a:srgbClr val="005FAE"/>
                </a:solidFill>
                <a:effectLst/>
                <a:uLnTx/>
                <a:uFillTx/>
                <a:latin typeface="Trebuchet MS"/>
                <a:cs typeface="Trebuchet MS"/>
              </a:rPr>
              <a:t> </a:t>
            </a:r>
            <a:r>
              <a:rPr kumimoji="0" sz="1600" b="0" i="0" u="none" strike="noStrike" kern="0" cap="none" spc="0" normalizeH="0" baseline="0" noProof="0">
                <a:ln>
                  <a:noFill/>
                </a:ln>
                <a:solidFill>
                  <a:srgbClr val="005FAE"/>
                </a:solidFill>
                <a:effectLst/>
                <a:uLnTx/>
                <a:uFillTx/>
                <a:latin typeface="Trebuchet MS"/>
                <a:cs typeface="Trebuchet MS"/>
              </a:rPr>
              <a:t>be</a:t>
            </a:r>
            <a:r>
              <a:rPr kumimoji="0" sz="1600" b="0" i="0" u="none" strike="noStrike" kern="0" cap="none" spc="-60" normalizeH="0" baseline="0" noProof="0">
                <a:ln>
                  <a:noFill/>
                </a:ln>
                <a:solidFill>
                  <a:srgbClr val="005FAE"/>
                </a:solidFill>
                <a:effectLst/>
                <a:uLnTx/>
                <a:uFillTx/>
                <a:latin typeface="Trebuchet MS"/>
                <a:cs typeface="Trebuchet MS"/>
              </a:rPr>
              <a:t> </a:t>
            </a:r>
            <a:r>
              <a:rPr kumimoji="0" sz="1600" b="0" i="0" u="none" strike="noStrike" kern="0" cap="none" spc="0" normalizeH="0" baseline="0" noProof="0">
                <a:ln>
                  <a:noFill/>
                </a:ln>
                <a:solidFill>
                  <a:srgbClr val="005FAE"/>
                </a:solidFill>
                <a:effectLst/>
                <a:uLnTx/>
                <a:uFillTx/>
                <a:latin typeface="Trebuchet MS"/>
                <a:cs typeface="Trebuchet MS"/>
              </a:rPr>
              <a:t>prioritized</a:t>
            </a:r>
            <a:r>
              <a:rPr kumimoji="0" sz="1600" b="0" i="0" u="none" strike="noStrike" kern="0" cap="none" spc="-25" normalizeH="0" baseline="0" noProof="0">
                <a:ln>
                  <a:noFill/>
                </a:ln>
                <a:solidFill>
                  <a:srgbClr val="005FAE"/>
                </a:solidFill>
                <a:effectLst/>
                <a:uLnTx/>
                <a:uFillTx/>
                <a:latin typeface="Trebuchet MS"/>
                <a:cs typeface="Trebuchet MS"/>
              </a:rPr>
              <a:t> </a:t>
            </a:r>
            <a:r>
              <a:rPr kumimoji="0" sz="1600" b="0" i="0" u="none" strike="noStrike" kern="0" cap="none" spc="-10" normalizeH="0" baseline="0" noProof="0">
                <a:ln>
                  <a:noFill/>
                </a:ln>
                <a:solidFill>
                  <a:srgbClr val="005FAE"/>
                </a:solidFill>
                <a:effectLst/>
                <a:uLnTx/>
                <a:uFillTx/>
                <a:latin typeface="Trebuchet MS"/>
                <a:cs typeface="Trebuchet MS"/>
              </a:rPr>
              <a:t>based </a:t>
            </a:r>
            <a:r>
              <a:rPr kumimoji="0" sz="1600" b="0" i="0" u="none" strike="noStrike" kern="0" cap="none" spc="0" normalizeH="0" baseline="0" noProof="0">
                <a:ln>
                  <a:noFill/>
                </a:ln>
                <a:solidFill>
                  <a:srgbClr val="005FAE"/>
                </a:solidFill>
                <a:effectLst/>
                <a:uLnTx/>
                <a:uFillTx/>
                <a:latin typeface="Trebuchet MS"/>
                <a:cs typeface="Trebuchet MS"/>
              </a:rPr>
              <a:t>on</a:t>
            </a:r>
            <a:r>
              <a:rPr kumimoji="0" sz="1600" b="0" i="0" u="none" strike="noStrike" kern="0" cap="none" spc="-15" normalizeH="0" baseline="0" noProof="0">
                <a:ln>
                  <a:noFill/>
                </a:ln>
                <a:solidFill>
                  <a:srgbClr val="005FAE"/>
                </a:solidFill>
                <a:effectLst/>
                <a:uLnTx/>
                <a:uFillTx/>
                <a:latin typeface="Trebuchet MS"/>
                <a:cs typeface="Trebuchet MS"/>
              </a:rPr>
              <a:t> </a:t>
            </a:r>
            <a:r>
              <a:rPr kumimoji="0" sz="1600" b="0" i="0" u="none" strike="noStrike" kern="0" cap="none" spc="0" normalizeH="0" baseline="0" noProof="0">
                <a:ln>
                  <a:noFill/>
                </a:ln>
                <a:solidFill>
                  <a:srgbClr val="005FAE"/>
                </a:solidFill>
                <a:effectLst/>
                <a:uLnTx/>
                <a:uFillTx/>
                <a:latin typeface="Trebuchet MS"/>
                <a:cs typeface="Trebuchet MS"/>
              </a:rPr>
              <a:t>set</a:t>
            </a:r>
            <a:r>
              <a:rPr kumimoji="0" sz="1600" b="0" i="0" u="none" strike="noStrike" kern="0" cap="none" spc="-10" normalizeH="0" baseline="0" noProof="0">
                <a:ln>
                  <a:noFill/>
                </a:ln>
                <a:solidFill>
                  <a:srgbClr val="005FAE"/>
                </a:solidFill>
                <a:effectLst/>
                <a:uLnTx/>
                <a:uFillTx/>
                <a:latin typeface="Trebuchet MS"/>
                <a:cs typeface="Trebuchet MS"/>
              </a:rPr>
              <a:t> </a:t>
            </a:r>
            <a:r>
              <a:rPr kumimoji="0" sz="1600" b="0" i="0" u="none" strike="noStrike" kern="0" cap="none" spc="-20" normalizeH="0" baseline="0" noProof="0">
                <a:ln>
                  <a:noFill/>
                </a:ln>
                <a:solidFill>
                  <a:srgbClr val="005FAE"/>
                </a:solidFill>
                <a:effectLst/>
                <a:uLnTx/>
                <a:uFillTx/>
                <a:latin typeface="Trebuchet MS"/>
                <a:cs typeface="Trebuchet MS"/>
              </a:rPr>
              <a:t>order</a:t>
            </a:r>
            <a:endParaRPr kumimoji="0" sz="1600" b="0" i="0" u="none" strike="noStrike" kern="0" cap="none" spc="0" normalizeH="0" baseline="0" noProof="0">
              <a:ln>
                <a:noFill/>
              </a:ln>
              <a:solidFill>
                <a:sysClr val="windowText" lastClr="000000"/>
              </a:solidFill>
              <a:effectLst/>
              <a:uLnTx/>
              <a:uFillTx/>
              <a:latin typeface="Trebuchet MS"/>
              <a:cs typeface="Trebuchet MS"/>
            </a:endParaRPr>
          </a:p>
        </p:txBody>
      </p:sp>
      <p:sp>
        <p:nvSpPr>
          <p:cNvPr id="7" name="object 7"/>
          <p:cNvSpPr/>
          <p:nvPr/>
        </p:nvSpPr>
        <p:spPr>
          <a:xfrm>
            <a:off x="5562600" y="2665476"/>
            <a:ext cx="1225550" cy="190500"/>
          </a:xfrm>
          <a:custGeom>
            <a:avLst/>
            <a:gdLst/>
            <a:ahLst/>
            <a:cxnLst/>
            <a:rect l="l" t="t" r="r" b="b"/>
            <a:pathLst>
              <a:path w="1225550" h="190500">
                <a:moveTo>
                  <a:pt x="1225296" y="0"/>
                </a:moveTo>
                <a:lnTo>
                  <a:pt x="0" y="0"/>
                </a:lnTo>
                <a:lnTo>
                  <a:pt x="0" y="190500"/>
                </a:lnTo>
                <a:lnTo>
                  <a:pt x="1225296" y="190500"/>
                </a:lnTo>
                <a:lnTo>
                  <a:pt x="1225296" y="0"/>
                </a:lnTo>
                <a:close/>
              </a:path>
            </a:pathLst>
          </a:custGeom>
          <a:solidFill>
            <a:srgbClr val="29B974"/>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graphicFrame>
        <p:nvGraphicFramePr>
          <p:cNvPr id="8" name="object 8"/>
          <p:cNvGraphicFramePr>
            <a:graphicFrameLocks noGrp="1"/>
          </p:cNvGraphicFramePr>
          <p:nvPr/>
        </p:nvGraphicFramePr>
        <p:xfrm>
          <a:off x="628942" y="2665476"/>
          <a:ext cx="6467472" cy="3188970"/>
        </p:xfrm>
        <a:graphic>
          <a:graphicData uri="http://schemas.openxmlformats.org/drawingml/2006/table">
            <a:tbl>
              <a:tblPr firstRow="1" bandRow="1">
                <a:tableStyleId>{2D5ABB26-0587-4C30-8999-92F81FD0307C}</a:tableStyleId>
              </a:tblPr>
              <a:tblGrid>
                <a:gridCol w="706755">
                  <a:extLst>
                    <a:ext uri="{9D8B030D-6E8A-4147-A177-3AD203B41FA5}">
                      <a16:colId xmlns:a16="http://schemas.microsoft.com/office/drawing/2014/main" val="20000"/>
                    </a:ext>
                  </a:extLst>
                </a:gridCol>
                <a:gridCol w="1115059">
                  <a:extLst>
                    <a:ext uri="{9D8B030D-6E8A-4147-A177-3AD203B41FA5}">
                      <a16:colId xmlns:a16="http://schemas.microsoft.com/office/drawing/2014/main" val="20001"/>
                    </a:ext>
                  </a:extLst>
                </a:gridCol>
                <a:gridCol w="555625">
                  <a:extLst>
                    <a:ext uri="{9D8B030D-6E8A-4147-A177-3AD203B41FA5}">
                      <a16:colId xmlns:a16="http://schemas.microsoft.com/office/drawing/2014/main" val="20002"/>
                    </a:ext>
                  </a:extLst>
                </a:gridCol>
                <a:gridCol w="730250">
                  <a:extLst>
                    <a:ext uri="{9D8B030D-6E8A-4147-A177-3AD203B41FA5}">
                      <a16:colId xmlns:a16="http://schemas.microsoft.com/office/drawing/2014/main" val="20003"/>
                    </a:ext>
                  </a:extLst>
                </a:gridCol>
                <a:gridCol w="820419">
                  <a:extLst>
                    <a:ext uri="{9D8B030D-6E8A-4147-A177-3AD203B41FA5}">
                      <a16:colId xmlns:a16="http://schemas.microsoft.com/office/drawing/2014/main" val="20004"/>
                    </a:ext>
                  </a:extLst>
                </a:gridCol>
                <a:gridCol w="1007110">
                  <a:extLst>
                    <a:ext uri="{9D8B030D-6E8A-4147-A177-3AD203B41FA5}">
                      <a16:colId xmlns:a16="http://schemas.microsoft.com/office/drawing/2014/main" val="20005"/>
                    </a:ext>
                  </a:extLst>
                </a:gridCol>
                <a:gridCol w="989329">
                  <a:extLst>
                    <a:ext uri="{9D8B030D-6E8A-4147-A177-3AD203B41FA5}">
                      <a16:colId xmlns:a16="http://schemas.microsoft.com/office/drawing/2014/main" val="20006"/>
                    </a:ext>
                  </a:extLst>
                </a:gridCol>
                <a:gridCol w="542925">
                  <a:extLst>
                    <a:ext uri="{9D8B030D-6E8A-4147-A177-3AD203B41FA5}">
                      <a16:colId xmlns:a16="http://schemas.microsoft.com/office/drawing/2014/main" val="20007"/>
                    </a:ext>
                  </a:extLst>
                </a:gridCol>
              </a:tblGrid>
              <a:tr h="891540">
                <a:tc>
                  <a:txBody>
                    <a:bodyPr/>
                    <a:lstStyle/>
                    <a:p>
                      <a:pPr>
                        <a:lnSpc>
                          <a:spcPct val="100000"/>
                        </a:lnSpc>
                      </a:pPr>
                      <a:endParaRPr sz="1200">
                        <a:latin typeface="Times New Roman"/>
                        <a:cs typeface="Times New Roman"/>
                      </a:endParaRPr>
                    </a:p>
                    <a:p>
                      <a:pPr>
                        <a:lnSpc>
                          <a:spcPct val="100000"/>
                        </a:lnSpc>
                        <a:spcBef>
                          <a:spcPts val="990"/>
                        </a:spcBef>
                      </a:pPr>
                      <a:endParaRPr sz="1200">
                        <a:latin typeface="Times New Roman"/>
                        <a:cs typeface="Times New Roman"/>
                      </a:endParaRPr>
                    </a:p>
                    <a:p>
                      <a:pPr marL="91440">
                        <a:lnSpc>
                          <a:spcPct val="100000"/>
                        </a:lnSpc>
                      </a:pPr>
                      <a:r>
                        <a:rPr sz="1200" spc="-10">
                          <a:solidFill>
                            <a:srgbClr val="29B974"/>
                          </a:solidFill>
                          <a:latin typeface="Trebuchet MS"/>
                          <a:cs typeface="Trebuchet MS"/>
                        </a:rPr>
                        <a:t>Cust.</a:t>
                      </a:r>
                      <a:endParaRPr sz="1200">
                        <a:latin typeface="Trebuchet MS"/>
                        <a:cs typeface="Trebuchet MS"/>
                      </a:endParaRPr>
                    </a:p>
                    <a:p>
                      <a:pPr marL="91440">
                        <a:lnSpc>
                          <a:spcPct val="100000"/>
                        </a:lnSpc>
                      </a:pPr>
                      <a:r>
                        <a:rPr sz="1200" spc="-20">
                          <a:solidFill>
                            <a:srgbClr val="29B974"/>
                          </a:solidFill>
                          <a:latin typeface="Trebuchet MS"/>
                          <a:cs typeface="Trebuchet MS"/>
                        </a:rPr>
                        <a:t>Name</a:t>
                      </a:r>
                      <a:endParaRPr sz="1200">
                        <a:latin typeface="Trebuchet MS"/>
                        <a:cs typeface="Trebuchet MS"/>
                      </a:endParaRPr>
                    </a:p>
                  </a:txBody>
                  <a:tcPr marL="0" marR="0" marT="0" marB="0">
                    <a:lnB w="9525">
                      <a:solidFill>
                        <a:srgbClr val="9A9A9A"/>
                      </a:solidFill>
                      <a:prstDash val="solid"/>
                    </a:lnB>
                  </a:tcPr>
                </a:tc>
                <a:tc>
                  <a:txBody>
                    <a:bodyPr/>
                    <a:lstStyle/>
                    <a:p>
                      <a:pPr>
                        <a:lnSpc>
                          <a:spcPct val="100000"/>
                        </a:lnSpc>
                      </a:pPr>
                      <a:endParaRPr sz="1200">
                        <a:latin typeface="Times New Roman"/>
                        <a:cs typeface="Times New Roman"/>
                      </a:endParaRPr>
                    </a:p>
                    <a:p>
                      <a:pPr>
                        <a:lnSpc>
                          <a:spcPct val="100000"/>
                        </a:lnSpc>
                        <a:spcBef>
                          <a:spcPts val="990"/>
                        </a:spcBef>
                      </a:pPr>
                      <a:endParaRPr sz="1200">
                        <a:latin typeface="Times New Roman"/>
                        <a:cs typeface="Times New Roman"/>
                      </a:endParaRPr>
                    </a:p>
                    <a:p>
                      <a:pPr marL="32384" algn="ctr">
                        <a:lnSpc>
                          <a:spcPct val="100000"/>
                        </a:lnSpc>
                      </a:pPr>
                      <a:r>
                        <a:rPr sz="1200" spc="-10">
                          <a:solidFill>
                            <a:srgbClr val="29B974"/>
                          </a:solidFill>
                          <a:latin typeface="Trebuchet MS"/>
                          <a:cs typeface="Trebuchet MS"/>
                        </a:rPr>
                        <a:t>Alerts/</a:t>
                      </a:r>
                      <a:endParaRPr sz="1200">
                        <a:latin typeface="Trebuchet MS"/>
                        <a:cs typeface="Trebuchet MS"/>
                      </a:endParaRPr>
                    </a:p>
                    <a:p>
                      <a:pPr marL="31750" algn="ctr">
                        <a:lnSpc>
                          <a:spcPct val="100000"/>
                        </a:lnSpc>
                      </a:pPr>
                      <a:r>
                        <a:rPr sz="1200" spc="-10">
                          <a:solidFill>
                            <a:srgbClr val="29B974"/>
                          </a:solidFill>
                          <a:latin typeface="Trebuchet MS"/>
                          <a:cs typeface="Trebuchet MS"/>
                        </a:rPr>
                        <a:t>notifications</a:t>
                      </a:r>
                      <a:endParaRPr sz="1200">
                        <a:latin typeface="Trebuchet MS"/>
                        <a:cs typeface="Trebuchet MS"/>
                      </a:endParaRPr>
                    </a:p>
                  </a:txBody>
                  <a:tcPr marL="0" marR="0" marT="0" marB="0">
                    <a:lnB w="9525">
                      <a:solidFill>
                        <a:srgbClr val="9A9A9A"/>
                      </a:solidFill>
                      <a:prstDash val="solid"/>
                    </a:lnB>
                  </a:tcPr>
                </a:tc>
                <a:tc>
                  <a:txBody>
                    <a:bodyPr/>
                    <a:lstStyle/>
                    <a:p>
                      <a:pPr>
                        <a:lnSpc>
                          <a:spcPct val="100000"/>
                        </a:lnSpc>
                      </a:pPr>
                      <a:endParaRPr lang="en-US" sz="1200">
                        <a:latin typeface="Times New Roman"/>
                        <a:cs typeface="Times New Roman"/>
                      </a:endParaRPr>
                    </a:p>
                    <a:p>
                      <a:pPr>
                        <a:lnSpc>
                          <a:spcPct val="100000"/>
                        </a:lnSpc>
                        <a:spcBef>
                          <a:spcPts val="990"/>
                        </a:spcBef>
                      </a:pPr>
                      <a:endParaRPr lang="en-US" sz="1200">
                        <a:latin typeface="Times New Roman"/>
                        <a:cs typeface="Times New Roman"/>
                      </a:endParaRPr>
                    </a:p>
                    <a:p>
                      <a:pPr marL="113030">
                        <a:lnSpc>
                          <a:spcPct val="100000"/>
                        </a:lnSpc>
                      </a:pPr>
                      <a:r>
                        <a:rPr lang="en-US" sz="1200" spc="-20">
                          <a:solidFill>
                            <a:srgbClr val="29B974"/>
                          </a:solidFill>
                          <a:latin typeface="Trebuchet MS"/>
                          <a:cs typeface="Trebuchet MS"/>
                        </a:rPr>
                        <a:t>ETB/</a:t>
                      </a:r>
                      <a:endParaRPr lang="en-US" sz="1200">
                        <a:latin typeface="Trebuchet MS"/>
                        <a:cs typeface="Trebuchet MS"/>
                      </a:endParaRPr>
                    </a:p>
                    <a:p>
                      <a:pPr marL="144780">
                        <a:lnSpc>
                          <a:spcPct val="100000"/>
                        </a:lnSpc>
                      </a:pPr>
                      <a:r>
                        <a:rPr lang="en-US" sz="1200" spc="-25">
                          <a:solidFill>
                            <a:srgbClr val="29B974"/>
                          </a:solidFill>
                          <a:latin typeface="Trebuchet MS"/>
                          <a:cs typeface="Trebuchet MS"/>
                        </a:rPr>
                        <a:t>NTB</a:t>
                      </a:r>
                      <a:endParaRPr lang="en-US" sz="1200">
                        <a:latin typeface="Trebuchet MS"/>
                        <a:cs typeface="Trebuchet MS"/>
                      </a:endParaRPr>
                    </a:p>
                  </a:txBody>
                  <a:tcPr marL="0" marR="0" marT="0" marB="0">
                    <a:lnB w="9525">
                      <a:solidFill>
                        <a:srgbClr val="9A9A9A"/>
                      </a:solidFill>
                      <a:prstDash val="solid"/>
                    </a:lnB>
                  </a:tcPr>
                </a:tc>
                <a:tc>
                  <a:txBody>
                    <a:bodyPr/>
                    <a:lstStyle/>
                    <a:p>
                      <a:pPr marL="104775" marR="97155" indent="2540" algn="ctr">
                        <a:lnSpc>
                          <a:spcPct val="100000"/>
                        </a:lnSpc>
                        <a:spcBef>
                          <a:spcPts val="869"/>
                        </a:spcBef>
                      </a:pPr>
                      <a:r>
                        <a:rPr sz="1200" spc="-20">
                          <a:solidFill>
                            <a:srgbClr val="29B974"/>
                          </a:solidFill>
                          <a:latin typeface="Trebuchet MS"/>
                          <a:cs typeface="Trebuchet MS"/>
                        </a:rPr>
                        <a:t>Time </a:t>
                      </a:r>
                      <a:r>
                        <a:rPr sz="1200" spc="-10">
                          <a:solidFill>
                            <a:srgbClr val="29B974"/>
                          </a:solidFill>
                          <a:latin typeface="Trebuchet MS"/>
                          <a:cs typeface="Trebuchet MS"/>
                        </a:rPr>
                        <a:t>since </a:t>
                      </a:r>
                      <a:r>
                        <a:rPr sz="1200" spc="-20">
                          <a:solidFill>
                            <a:srgbClr val="29B974"/>
                          </a:solidFill>
                          <a:latin typeface="Trebuchet MS"/>
                          <a:cs typeface="Trebuchet MS"/>
                        </a:rPr>
                        <a:t>last </a:t>
                      </a:r>
                      <a:r>
                        <a:rPr sz="1200" spc="-10">
                          <a:solidFill>
                            <a:srgbClr val="29B974"/>
                          </a:solidFill>
                          <a:latin typeface="Trebuchet MS"/>
                          <a:cs typeface="Trebuchet MS"/>
                        </a:rPr>
                        <a:t>contact</a:t>
                      </a:r>
                      <a:endParaRPr sz="1200">
                        <a:latin typeface="Trebuchet MS"/>
                        <a:cs typeface="Trebuchet MS"/>
                      </a:endParaRPr>
                    </a:p>
                  </a:txBody>
                  <a:tcPr marL="0" marR="0" marT="110489" marB="0">
                    <a:lnB w="9525">
                      <a:solidFill>
                        <a:srgbClr val="9A9A9A"/>
                      </a:solidFill>
                      <a:prstDash val="solid"/>
                    </a:lnB>
                  </a:tcPr>
                </a:tc>
                <a:tc>
                  <a:txBody>
                    <a:bodyPr/>
                    <a:lstStyle/>
                    <a:p>
                      <a:pPr>
                        <a:lnSpc>
                          <a:spcPct val="100000"/>
                        </a:lnSpc>
                      </a:pPr>
                      <a:endParaRPr sz="1200">
                        <a:latin typeface="Times New Roman"/>
                        <a:cs typeface="Times New Roman"/>
                      </a:endParaRPr>
                    </a:p>
                    <a:p>
                      <a:pPr>
                        <a:lnSpc>
                          <a:spcPct val="100000"/>
                        </a:lnSpc>
                        <a:spcBef>
                          <a:spcPts val="990"/>
                        </a:spcBef>
                      </a:pPr>
                      <a:endParaRPr sz="1200">
                        <a:latin typeface="Times New Roman"/>
                        <a:cs typeface="Times New Roman"/>
                      </a:endParaRPr>
                    </a:p>
                    <a:p>
                      <a:pPr marL="176530">
                        <a:lnSpc>
                          <a:spcPct val="100000"/>
                        </a:lnSpc>
                      </a:pPr>
                      <a:r>
                        <a:rPr sz="1200" spc="-10">
                          <a:solidFill>
                            <a:srgbClr val="29B974"/>
                          </a:solidFill>
                          <a:latin typeface="Trebuchet MS"/>
                          <a:cs typeface="Trebuchet MS"/>
                        </a:rPr>
                        <a:t>Wealth</a:t>
                      </a:r>
                      <a:endParaRPr sz="1200">
                        <a:latin typeface="Trebuchet MS"/>
                        <a:cs typeface="Trebuchet MS"/>
                      </a:endParaRPr>
                    </a:p>
                    <a:p>
                      <a:pPr marL="104775">
                        <a:lnSpc>
                          <a:spcPct val="100000"/>
                        </a:lnSpc>
                      </a:pPr>
                      <a:r>
                        <a:rPr sz="1200" spc="-10">
                          <a:solidFill>
                            <a:srgbClr val="29B974"/>
                          </a:solidFill>
                          <a:latin typeface="Trebuchet MS"/>
                          <a:cs typeface="Trebuchet MS"/>
                        </a:rPr>
                        <a:t>Potential</a:t>
                      </a:r>
                      <a:endParaRPr sz="1200">
                        <a:latin typeface="Trebuchet MS"/>
                        <a:cs typeface="Trebuchet MS"/>
                      </a:endParaRPr>
                    </a:p>
                  </a:txBody>
                  <a:tcPr marL="0" marR="0" marT="0" marB="0">
                    <a:lnB w="9525">
                      <a:solidFill>
                        <a:srgbClr val="9A9A9A"/>
                      </a:solidFill>
                      <a:prstDash val="solid"/>
                    </a:lnB>
                  </a:tcPr>
                </a:tc>
                <a:tc>
                  <a:txBody>
                    <a:bodyPr/>
                    <a:lstStyle/>
                    <a:p>
                      <a:pPr>
                        <a:lnSpc>
                          <a:spcPct val="100000"/>
                        </a:lnSpc>
                        <a:spcBef>
                          <a:spcPts val="930"/>
                        </a:spcBef>
                      </a:pPr>
                      <a:endParaRPr sz="1200">
                        <a:latin typeface="Times New Roman"/>
                        <a:cs typeface="Times New Roman"/>
                      </a:endParaRPr>
                    </a:p>
                    <a:p>
                      <a:pPr marL="97790" marR="170815" algn="ctr">
                        <a:lnSpc>
                          <a:spcPct val="100000"/>
                        </a:lnSpc>
                      </a:pPr>
                      <a:r>
                        <a:rPr sz="1200" spc="-10">
                          <a:solidFill>
                            <a:srgbClr val="29B974"/>
                          </a:solidFill>
                          <a:latin typeface="Trebuchet MS"/>
                          <a:cs typeface="Trebuchet MS"/>
                        </a:rPr>
                        <a:t>Likelihood </a:t>
                      </a:r>
                      <a:r>
                        <a:rPr sz="1200" spc="-25">
                          <a:solidFill>
                            <a:srgbClr val="29B974"/>
                          </a:solidFill>
                          <a:latin typeface="Trebuchet MS"/>
                          <a:cs typeface="Trebuchet MS"/>
                        </a:rPr>
                        <a:t>of </a:t>
                      </a:r>
                      <a:r>
                        <a:rPr sz="1200" spc="-10">
                          <a:solidFill>
                            <a:srgbClr val="29B974"/>
                          </a:solidFill>
                          <a:latin typeface="Trebuchet MS"/>
                          <a:cs typeface="Trebuchet MS"/>
                        </a:rPr>
                        <a:t>conversion</a:t>
                      </a:r>
                      <a:endParaRPr sz="1200">
                        <a:latin typeface="Trebuchet MS"/>
                        <a:cs typeface="Trebuchet MS"/>
                      </a:endParaRPr>
                    </a:p>
                  </a:txBody>
                  <a:tcPr marL="0" marR="0" marT="118110" marB="0">
                    <a:lnB w="9525">
                      <a:solidFill>
                        <a:srgbClr val="9A9A9A"/>
                      </a:solidFill>
                      <a:prstDash val="solid"/>
                    </a:lnB>
                  </a:tcPr>
                </a:tc>
                <a:tc>
                  <a:txBody>
                    <a:bodyPr/>
                    <a:lstStyle/>
                    <a:p>
                      <a:pPr marL="245110">
                        <a:lnSpc>
                          <a:spcPts val="1440"/>
                        </a:lnSpc>
                      </a:pPr>
                      <a:r>
                        <a:rPr sz="1200" spc="-10">
                          <a:solidFill>
                            <a:srgbClr val="FFFFFF"/>
                          </a:solidFill>
                          <a:latin typeface="Trebuchet MS"/>
                          <a:cs typeface="Trebuchet MS"/>
                        </a:rPr>
                        <a:t>Illustrative</a:t>
                      </a:r>
                      <a:endParaRPr sz="1200">
                        <a:latin typeface="Trebuchet MS"/>
                        <a:cs typeface="Trebuchet MS"/>
                      </a:endParaRPr>
                    </a:p>
                    <a:p>
                      <a:pPr marR="57785">
                        <a:lnSpc>
                          <a:spcPct val="100000"/>
                        </a:lnSpc>
                      </a:pPr>
                      <a:endParaRPr sz="1200">
                        <a:latin typeface="Times New Roman"/>
                        <a:cs typeface="Times New Roman"/>
                      </a:endParaRPr>
                    </a:p>
                    <a:p>
                      <a:pPr marR="57785">
                        <a:lnSpc>
                          <a:spcPct val="100000"/>
                        </a:lnSpc>
                        <a:spcBef>
                          <a:spcPts val="990"/>
                        </a:spcBef>
                      </a:pPr>
                      <a:endParaRPr sz="1200">
                        <a:latin typeface="Times New Roman"/>
                        <a:cs typeface="Times New Roman"/>
                      </a:endParaRPr>
                    </a:p>
                    <a:p>
                      <a:pPr marL="29209" marR="57785">
                        <a:lnSpc>
                          <a:spcPct val="100000"/>
                        </a:lnSpc>
                      </a:pPr>
                      <a:r>
                        <a:rPr sz="1200" spc="-10">
                          <a:solidFill>
                            <a:srgbClr val="29B974"/>
                          </a:solidFill>
                          <a:latin typeface="Trebuchet MS"/>
                          <a:cs typeface="Trebuchet MS"/>
                        </a:rPr>
                        <a:t>Occupation</a:t>
                      </a:r>
                      <a:endParaRPr sz="1200">
                        <a:latin typeface="Trebuchet MS"/>
                        <a:cs typeface="Trebuchet MS"/>
                      </a:endParaRPr>
                    </a:p>
                  </a:txBody>
                  <a:tcPr marL="0" marR="0" marT="0" marB="0">
                    <a:lnB w="9525">
                      <a:solidFill>
                        <a:srgbClr val="9A9A9A"/>
                      </a:solidFill>
                      <a:prstDash val="solid"/>
                    </a:lnB>
                  </a:tcPr>
                </a:tc>
                <a:tc>
                  <a:txBody>
                    <a:bodyPr/>
                    <a:lstStyle/>
                    <a:p>
                      <a:pPr>
                        <a:lnSpc>
                          <a:spcPct val="100000"/>
                        </a:lnSpc>
                      </a:pPr>
                      <a:endParaRPr lang="en-US" sz="1200">
                        <a:latin typeface="Times New Roman"/>
                        <a:cs typeface="Times New Roman"/>
                      </a:endParaRPr>
                    </a:p>
                    <a:p>
                      <a:pPr>
                        <a:lnSpc>
                          <a:spcPct val="100000"/>
                        </a:lnSpc>
                        <a:spcBef>
                          <a:spcPts val="990"/>
                        </a:spcBef>
                      </a:pPr>
                      <a:endParaRPr lang="en-US" sz="1200">
                        <a:latin typeface="Times New Roman"/>
                        <a:cs typeface="Times New Roman"/>
                      </a:endParaRPr>
                    </a:p>
                    <a:p>
                      <a:pPr marL="127000">
                        <a:lnSpc>
                          <a:spcPct val="100000"/>
                        </a:lnSpc>
                      </a:pPr>
                      <a:r>
                        <a:rPr lang="en-US" sz="1200" spc="-25">
                          <a:solidFill>
                            <a:srgbClr val="29B974"/>
                          </a:solidFill>
                          <a:latin typeface="Trebuchet MS"/>
                          <a:cs typeface="Trebuchet MS"/>
                        </a:rPr>
                        <a:t>AuM</a:t>
                      </a:r>
                      <a:endParaRPr lang="en-US" sz="1200">
                        <a:latin typeface="Trebuchet MS"/>
                        <a:cs typeface="Trebuchet MS"/>
                      </a:endParaRPr>
                    </a:p>
                    <a:p>
                      <a:pPr marL="99695">
                        <a:lnSpc>
                          <a:spcPct val="100000"/>
                        </a:lnSpc>
                      </a:pPr>
                      <a:r>
                        <a:rPr lang="en-US" sz="1200" spc="-10">
                          <a:solidFill>
                            <a:srgbClr val="29B974"/>
                          </a:solidFill>
                          <a:latin typeface="Trebuchet MS"/>
                          <a:cs typeface="Trebuchet MS"/>
                        </a:rPr>
                        <a:t>(IDR)</a:t>
                      </a:r>
                      <a:endParaRPr lang="en-US" sz="1200">
                        <a:latin typeface="Trebuchet MS"/>
                        <a:cs typeface="Trebuchet MS"/>
                      </a:endParaRPr>
                    </a:p>
                  </a:txBody>
                  <a:tcPr marL="0" marR="0" marT="0" marB="0">
                    <a:lnB w="9525">
                      <a:solidFill>
                        <a:srgbClr val="9A9A9A"/>
                      </a:solidFill>
                      <a:prstDash val="solid"/>
                    </a:lnB>
                  </a:tcPr>
                </a:tc>
                <a:extLst>
                  <a:ext uri="{0D108BD9-81ED-4DB2-BD59-A6C34878D82A}">
                    <a16:rowId xmlns:a16="http://schemas.microsoft.com/office/drawing/2014/main" val="10000"/>
                  </a:ext>
                </a:extLst>
              </a:tr>
              <a:tr h="666115">
                <a:tc>
                  <a:txBody>
                    <a:bodyPr/>
                    <a:lstStyle/>
                    <a:p>
                      <a:pPr>
                        <a:lnSpc>
                          <a:spcPct val="100000"/>
                        </a:lnSpc>
                        <a:spcBef>
                          <a:spcPts val="390"/>
                        </a:spcBef>
                      </a:pPr>
                      <a:endParaRPr sz="1200">
                        <a:latin typeface="Times New Roman"/>
                        <a:cs typeface="Times New Roman"/>
                      </a:endParaRPr>
                    </a:p>
                    <a:p>
                      <a:pPr marL="91440">
                        <a:lnSpc>
                          <a:spcPct val="100000"/>
                        </a:lnSpc>
                      </a:pPr>
                      <a:r>
                        <a:rPr sz="1200" b="1" spc="-25">
                          <a:solidFill>
                            <a:srgbClr val="565656"/>
                          </a:solidFill>
                          <a:latin typeface="Trebuchet MS"/>
                          <a:cs typeface="Trebuchet MS"/>
                        </a:rPr>
                        <a:t>Moh</a:t>
                      </a:r>
                      <a:endParaRPr sz="1200">
                        <a:latin typeface="Trebuchet MS"/>
                        <a:cs typeface="Trebuchet MS"/>
                      </a:endParaRPr>
                    </a:p>
                  </a:txBody>
                  <a:tcPr marL="0" marR="0" marT="49530" marB="0">
                    <a:lnT w="9525">
                      <a:solidFill>
                        <a:srgbClr val="9A9A9A"/>
                      </a:solidFill>
                      <a:prstDash val="solid"/>
                    </a:lnT>
                  </a:tcPr>
                </a:tc>
                <a:tc>
                  <a:txBody>
                    <a:bodyPr/>
                    <a:lstStyle/>
                    <a:p>
                      <a:pPr marL="206375" marR="167640" indent="1270" algn="ctr">
                        <a:lnSpc>
                          <a:spcPct val="100000"/>
                        </a:lnSpc>
                        <a:spcBef>
                          <a:spcPts val="330"/>
                        </a:spcBef>
                      </a:pPr>
                      <a:r>
                        <a:rPr sz="1200">
                          <a:solidFill>
                            <a:srgbClr val="C00000"/>
                          </a:solidFill>
                          <a:latin typeface="Trebuchet MS"/>
                          <a:cs typeface="Trebuchet MS"/>
                        </a:rPr>
                        <a:t>Risk</a:t>
                      </a:r>
                      <a:r>
                        <a:rPr sz="1200" spc="-30">
                          <a:solidFill>
                            <a:srgbClr val="C00000"/>
                          </a:solidFill>
                          <a:latin typeface="Trebuchet MS"/>
                          <a:cs typeface="Trebuchet MS"/>
                        </a:rPr>
                        <a:t> </a:t>
                      </a:r>
                      <a:r>
                        <a:rPr sz="1200" spc="-10">
                          <a:solidFill>
                            <a:srgbClr val="C00000"/>
                          </a:solidFill>
                          <a:latin typeface="Trebuchet MS"/>
                          <a:cs typeface="Trebuchet MS"/>
                        </a:rPr>
                        <a:t>alert– immediate action</a:t>
                      </a:r>
                      <a:endParaRPr sz="1200">
                        <a:latin typeface="Trebuchet MS"/>
                        <a:cs typeface="Trebuchet MS"/>
                      </a:endParaRPr>
                    </a:p>
                  </a:txBody>
                  <a:tcPr marL="0" marR="0" marT="41910" marB="0">
                    <a:lnT w="9525">
                      <a:solidFill>
                        <a:srgbClr val="9A9A9A"/>
                      </a:solidFill>
                      <a:prstDash val="solid"/>
                    </a:lnT>
                  </a:tcPr>
                </a:tc>
                <a:tc>
                  <a:txBody>
                    <a:bodyPr/>
                    <a:lstStyle/>
                    <a:p>
                      <a:pPr>
                        <a:lnSpc>
                          <a:spcPct val="100000"/>
                        </a:lnSpc>
                        <a:spcBef>
                          <a:spcPts val="390"/>
                        </a:spcBef>
                      </a:pPr>
                      <a:endParaRPr sz="1200">
                        <a:latin typeface="Times New Roman"/>
                        <a:cs typeface="Times New Roman"/>
                      </a:endParaRPr>
                    </a:p>
                    <a:p>
                      <a:pPr marL="6985" algn="ctr">
                        <a:lnSpc>
                          <a:spcPct val="100000"/>
                        </a:lnSpc>
                      </a:pPr>
                      <a:r>
                        <a:rPr sz="1200" spc="-25">
                          <a:solidFill>
                            <a:srgbClr val="C00000"/>
                          </a:solidFill>
                          <a:latin typeface="Trebuchet MS"/>
                          <a:cs typeface="Trebuchet MS"/>
                        </a:rPr>
                        <a:t>ETB</a:t>
                      </a:r>
                      <a:endParaRPr sz="1200">
                        <a:latin typeface="Trebuchet MS"/>
                        <a:cs typeface="Trebuchet MS"/>
                      </a:endParaRPr>
                    </a:p>
                  </a:txBody>
                  <a:tcPr marL="0" marR="0" marT="49530" marB="0">
                    <a:lnT w="9525">
                      <a:solidFill>
                        <a:srgbClr val="9A9A9A"/>
                      </a:solidFill>
                      <a:prstDash val="solid"/>
                    </a:lnT>
                  </a:tcPr>
                </a:tc>
                <a:tc>
                  <a:txBody>
                    <a:bodyPr/>
                    <a:lstStyle/>
                    <a:p>
                      <a:pPr>
                        <a:lnSpc>
                          <a:spcPct val="100000"/>
                        </a:lnSpc>
                        <a:spcBef>
                          <a:spcPts val="390"/>
                        </a:spcBef>
                      </a:pPr>
                      <a:endParaRPr sz="1200">
                        <a:latin typeface="Times New Roman"/>
                        <a:cs typeface="Times New Roman"/>
                      </a:endParaRPr>
                    </a:p>
                    <a:p>
                      <a:pPr marL="635" algn="ctr">
                        <a:lnSpc>
                          <a:spcPct val="100000"/>
                        </a:lnSpc>
                      </a:pPr>
                      <a:r>
                        <a:rPr sz="1200">
                          <a:solidFill>
                            <a:srgbClr val="565656"/>
                          </a:solidFill>
                          <a:latin typeface="Trebuchet MS"/>
                          <a:cs typeface="Trebuchet MS"/>
                        </a:rPr>
                        <a:t>8</a:t>
                      </a:r>
                      <a:r>
                        <a:rPr sz="1200" spc="-10">
                          <a:solidFill>
                            <a:srgbClr val="565656"/>
                          </a:solidFill>
                          <a:latin typeface="Trebuchet MS"/>
                          <a:cs typeface="Trebuchet MS"/>
                        </a:rPr>
                        <a:t> </a:t>
                      </a:r>
                      <a:r>
                        <a:rPr sz="1200" spc="-20">
                          <a:solidFill>
                            <a:srgbClr val="565656"/>
                          </a:solidFill>
                          <a:latin typeface="Trebuchet MS"/>
                          <a:cs typeface="Trebuchet MS"/>
                        </a:rPr>
                        <a:t>mos.</a:t>
                      </a:r>
                      <a:endParaRPr sz="1200">
                        <a:latin typeface="Trebuchet MS"/>
                        <a:cs typeface="Trebuchet MS"/>
                      </a:endParaRPr>
                    </a:p>
                  </a:txBody>
                  <a:tcPr marL="0" marR="0" marT="49530" marB="0">
                    <a:lnT w="9525">
                      <a:solidFill>
                        <a:srgbClr val="9A9A9A"/>
                      </a:solidFill>
                      <a:prstDash val="solid"/>
                    </a:lnT>
                  </a:tcPr>
                </a:tc>
                <a:tc>
                  <a:txBody>
                    <a:bodyPr/>
                    <a:lstStyle/>
                    <a:p>
                      <a:pPr>
                        <a:lnSpc>
                          <a:spcPct val="100000"/>
                        </a:lnSpc>
                        <a:spcBef>
                          <a:spcPts val="390"/>
                        </a:spcBef>
                      </a:pPr>
                      <a:endParaRPr sz="1200">
                        <a:latin typeface="Times New Roman"/>
                        <a:cs typeface="Times New Roman"/>
                      </a:endParaRPr>
                    </a:p>
                    <a:p>
                      <a:pPr marL="6985" algn="ctr">
                        <a:lnSpc>
                          <a:spcPct val="100000"/>
                        </a:lnSpc>
                      </a:pPr>
                      <a:r>
                        <a:rPr sz="1200" spc="-25">
                          <a:solidFill>
                            <a:srgbClr val="00AF50"/>
                          </a:solidFill>
                          <a:latin typeface="Trebuchet MS"/>
                          <a:cs typeface="Trebuchet MS"/>
                        </a:rPr>
                        <a:t>Hi</a:t>
                      </a:r>
                      <a:endParaRPr sz="1200">
                        <a:latin typeface="Trebuchet MS"/>
                        <a:cs typeface="Trebuchet MS"/>
                      </a:endParaRPr>
                    </a:p>
                  </a:txBody>
                  <a:tcPr marL="0" marR="0" marT="49530" marB="0">
                    <a:lnT w="9525">
                      <a:solidFill>
                        <a:srgbClr val="9A9A9A"/>
                      </a:solidFill>
                      <a:prstDash val="solid"/>
                    </a:lnT>
                  </a:tcPr>
                </a:tc>
                <a:tc>
                  <a:txBody>
                    <a:bodyPr/>
                    <a:lstStyle/>
                    <a:p>
                      <a:pPr>
                        <a:lnSpc>
                          <a:spcPct val="100000"/>
                        </a:lnSpc>
                        <a:spcBef>
                          <a:spcPts val="390"/>
                        </a:spcBef>
                      </a:pPr>
                      <a:endParaRPr sz="1200">
                        <a:latin typeface="Times New Roman"/>
                        <a:cs typeface="Times New Roman"/>
                      </a:endParaRPr>
                    </a:p>
                    <a:p>
                      <a:pPr marL="389890">
                        <a:lnSpc>
                          <a:spcPct val="100000"/>
                        </a:lnSpc>
                      </a:pPr>
                      <a:r>
                        <a:rPr sz="1200" spc="-25">
                          <a:solidFill>
                            <a:srgbClr val="00AF50"/>
                          </a:solidFill>
                          <a:latin typeface="Trebuchet MS"/>
                          <a:cs typeface="Trebuchet MS"/>
                        </a:rPr>
                        <a:t>Hi</a:t>
                      </a:r>
                      <a:endParaRPr sz="1200">
                        <a:latin typeface="Trebuchet MS"/>
                        <a:cs typeface="Trebuchet MS"/>
                      </a:endParaRPr>
                    </a:p>
                  </a:txBody>
                  <a:tcPr marL="0" marR="0" marT="49530" marB="0">
                    <a:lnT w="9525">
                      <a:solidFill>
                        <a:srgbClr val="9A9A9A"/>
                      </a:solidFill>
                      <a:prstDash val="solid"/>
                    </a:lnT>
                  </a:tcPr>
                </a:tc>
                <a:tc>
                  <a:txBody>
                    <a:bodyPr/>
                    <a:lstStyle/>
                    <a:p>
                      <a:pPr marL="195580" marR="281940" indent="-60960">
                        <a:lnSpc>
                          <a:spcPct val="100000"/>
                        </a:lnSpc>
                        <a:spcBef>
                          <a:spcPts val="1050"/>
                        </a:spcBef>
                      </a:pPr>
                      <a:r>
                        <a:rPr sz="1200" spc="-10">
                          <a:solidFill>
                            <a:srgbClr val="565656"/>
                          </a:solidFill>
                          <a:latin typeface="Trebuchet MS"/>
                          <a:cs typeface="Trebuchet MS"/>
                        </a:rPr>
                        <a:t>Business Owner</a:t>
                      </a:r>
                      <a:endParaRPr sz="1200">
                        <a:latin typeface="Trebuchet MS"/>
                        <a:cs typeface="Trebuchet MS"/>
                      </a:endParaRPr>
                    </a:p>
                  </a:txBody>
                  <a:tcPr marL="0" marR="0" marT="133350" marB="0">
                    <a:lnT w="9525">
                      <a:solidFill>
                        <a:srgbClr val="9A9A9A"/>
                      </a:solidFill>
                      <a:prstDash val="solid"/>
                    </a:lnT>
                  </a:tcPr>
                </a:tc>
                <a:tc>
                  <a:txBody>
                    <a:bodyPr/>
                    <a:lstStyle/>
                    <a:p>
                      <a:pPr>
                        <a:lnSpc>
                          <a:spcPct val="100000"/>
                        </a:lnSpc>
                        <a:spcBef>
                          <a:spcPts val="390"/>
                        </a:spcBef>
                      </a:pPr>
                      <a:endParaRPr sz="1200">
                        <a:latin typeface="Times New Roman"/>
                        <a:cs typeface="Times New Roman"/>
                      </a:endParaRPr>
                    </a:p>
                    <a:p>
                      <a:pPr algn="ctr">
                        <a:lnSpc>
                          <a:spcPct val="100000"/>
                        </a:lnSpc>
                      </a:pPr>
                      <a:r>
                        <a:rPr sz="1200" spc="-50">
                          <a:solidFill>
                            <a:srgbClr val="565656"/>
                          </a:solidFill>
                          <a:latin typeface="Trebuchet MS"/>
                          <a:cs typeface="Trebuchet MS"/>
                        </a:rPr>
                        <a:t>…</a:t>
                      </a:r>
                      <a:endParaRPr sz="1200">
                        <a:latin typeface="Trebuchet MS"/>
                        <a:cs typeface="Trebuchet MS"/>
                      </a:endParaRPr>
                    </a:p>
                  </a:txBody>
                  <a:tcPr marL="0" marR="0" marT="49530" marB="0">
                    <a:lnT w="9525">
                      <a:solidFill>
                        <a:srgbClr val="9A9A9A"/>
                      </a:solidFill>
                      <a:prstDash val="solid"/>
                    </a:lnT>
                  </a:tcPr>
                </a:tc>
                <a:extLst>
                  <a:ext uri="{0D108BD9-81ED-4DB2-BD59-A6C34878D82A}">
                    <a16:rowId xmlns:a16="http://schemas.microsoft.com/office/drawing/2014/main" val="10001"/>
                  </a:ext>
                </a:extLst>
              </a:tr>
              <a:tr h="322580">
                <a:tc>
                  <a:txBody>
                    <a:bodyPr/>
                    <a:lstStyle/>
                    <a:p>
                      <a:pPr marL="91440">
                        <a:lnSpc>
                          <a:spcPct val="100000"/>
                        </a:lnSpc>
                        <a:spcBef>
                          <a:spcPts val="500"/>
                        </a:spcBef>
                      </a:pPr>
                      <a:r>
                        <a:rPr sz="1200" b="1" spc="-20">
                          <a:solidFill>
                            <a:srgbClr val="565656"/>
                          </a:solidFill>
                          <a:latin typeface="Trebuchet MS"/>
                          <a:cs typeface="Trebuchet MS"/>
                        </a:rPr>
                        <a:t>Arif</a:t>
                      </a:r>
                      <a:endParaRPr sz="1200">
                        <a:latin typeface="Trebuchet MS"/>
                        <a:cs typeface="Trebuchet MS"/>
                      </a:endParaRPr>
                    </a:p>
                  </a:txBody>
                  <a:tcPr marL="0" marR="0" marT="63500" marB="0"/>
                </a:tc>
                <a:tc>
                  <a:txBody>
                    <a:bodyPr/>
                    <a:lstStyle/>
                    <a:p>
                      <a:pPr marL="32384" algn="ctr">
                        <a:lnSpc>
                          <a:spcPct val="100000"/>
                        </a:lnSpc>
                        <a:spcBef>
                          <a:spcPts val="500"/>
                        </a:spcBef>
                      </a:pPr>
                      <a:r>
                        <a:rPr sz="1200" spc="-10">
                          <a:solidFill>
                            <a:srgbClr val="565656"/>
                          </a:solidFill>
                          <a:latin typeface="Trebuchet MS"/>
                          <a:cs typeface="Trebuchet MS"/>
                        </a:rPr>
                        <a:t>Birthday</a:t>
                      </a:r>
                      <a:endParaRPr sz="1200">
                        <a:latin typeface="Trebuchet MS"/>
                        <a:cs typeface="Trebuchet MS"/>
                      </a:endParaRPr>
                    </a:p>
                  </a:txBody>
                  <a:tcPr marL="0" marR="0" marT="63500" marB="0"/>
                </a:tc>
                <a:tc>
                  <a:txBody>
                    <a:bodyPr/>
                    <a:lstStyle/>
                    <a:p>
                      <a:pPr marL="6985" algn="ctr">
                        <a:lnSpc>
                          <a:spcPct val="100000"/>
                        </a:lnSpc>
                        <a:spcBef>
                          <a:spcPts val="500"/>
                        </a:spcBef>
                      </a:pPr>
                      <a:r>
                        <a:rPr sz="1200" spc="-25">
                          <a:solidFill>
                            <a:srgbClr val="565656"/>
                          </a:solidFill>
                          <a:latin typeface="Trebuchet MS"/>
                          <a:cs typeface="Trebuchet MS"/>
                        </a:rPr>
                        <a:t>ETB</a:t>
                      </a:r>
                      <a:endParaRPr sz="1200">
                        <a:latin typeface="Trebuchet MS"/>
                        <a:cs typeface="Trebuchet MS"/>
                      </a:endParaRPr>
                    </a:p>
                  </a:txBody>
                  <a:tcPr marL="0" marR="0" marT="63500" marB="0"/>
                </a:tc>
                <a:tc>
                  <a:txBody>
                    <a:bodyPr/>
                    <a:lstStyle/>
                    <a:p>
                      <a:pPr marL="635" algn="ctr">
                        <a:lnSpc>
                          <a:spcPct val="100000"/>
                        </a:lnSpc>
                        <a:spcBef>
                          <a:spcPts val="500"/>
                        </a:spcBef>
                      </a:pPr>
                      <a:r>
                        <a:rPr sz="1200">
                          <a:solidFill>
                            <a:srgbClr val="565656"/>
                          </a:solidFill>
                          <a:latin typeface="Trebuchet MS"/>
                          <a:cs typeface="Trebuchet MS"/>
                        </a:rPr>
                        <a:t>6</a:t>
                      </a:r>
                      <a:r>
                        <a:rPr sz="1200" spc="-10">
                          <a:solidFill>
                            <a:srgbClr val="565656"/>
                          </a:solidFill>
                          <a:latin typeface="Trebuchet MS"/>
                          <a:cs typeface="Trebuchet MS"/>
                        </a:rPr>
                        <a:t> </a:t>
                      </a:r>
                      <a:r>
                        <a:rPr sz="1200" spc="-20">
                          <a:solidFill>
                            <a:srgbClr val="565656"/>
                          </a:solidFill>
                          <a:latin typeface="Trebuchet MS"/>
                          <a:cs typeface="Trebuchet MS"/>
                        </a:rPr>
                        <a:t>mos.</a:t>
                      </a:r>
                      <a:endParaRPr sz="1200">
                        <a:latin typeface="Trebuchet MS"/>
                        <a:cs typeface="Trebuchet MS"/>
                      </a:endParaRPr>
                    </a:p>
                  </a:txBody>
                  <a:tcPr marL="0" marR="0" marT="63500" marB="0"/>
                </a:tc>
                <a:tc>
                  <a:txBody>
                    <a:bodyPr/>
                    <a:lstStyle/>
                    <a:p>
                      <a:pPr marL="6985" algn="ctr">
                        <a:lnSpc>
                          <a:spcPct val="100000"/>
                        </a:lnSpc>
                        <a:spcBef>
                          <a:spcPts val="500"/>
                        </a:spcBef>
                      </a:pPr>
                      <a:r>
                        <a:rPr sz="1200" spc="-25">
                          <a:solidFill>
                            <a:srgbClr val="00AF50"/>
                          </a:solidFill>
                          <a:latin typeface="Trebuchet MS"/>
                          <a:cs typeface="Trebuchet MS"/>
                        </a:rPr>
                        <a:t>Hi</a:t>
                      </a:r>
                      <a:endParaRPr sz="1200">
                        <a:latin typeface="Trebuchet MS"/>
                        <a:cs typeface="Trebuchet MS"/>
                      </a:endParaRPr>
                    </a:p>
                  </a:txBody>
                  <a:tcPr marL="0" marR="0" marT="63500" marB="0"/>
                </a:tc>
                <a:tc>
                  <a:txBody>
                    <a:bodyPr/>
                    <a:lstStyle/>
                    <a:p>
                      <a:pPr marL="389890">
                        <a:lnSpc>
                          <a:spcPct val="100000"/>
                        </a:lnSpc>
                        <a:spcBef>
                          <a:spcPts val="500"/>
                        </a:spcBef>
                      </a:pPr>
                      <a:r>
                        <a:rPr sz="1200" spc="-25">
                          <a:solidFill>
                            <a:srgbClr val="00AF50"/>
                          </a:solidFill>
                          <a:latin typeface="Trebuchet MS"/>
                          <a:cs typeface="Trebuchet MS"/>
                        </a:rPr>
                        <a:t>Hi</a:t>
                      </a:r>
                      <a:endParaRPr sz="1200">
                        <a:latin typeface="Trebuchet MS"/>
                        <a:cs typeface="Trebuchet MS"/>
                      </a:endParaRPr>
                    </a:p>
                  </a:txBody>
                  <a:tcPr marL="0" marR="0" marT="63500" marB="0"/>
                </a:tc>
                <a:tc>
                  <a:txBody>
                    <a:bodyPr/>
                    <a:lstStyle/>
                    <a:p>
                      <a:pPr marR="147955" algn="ctr">
                        <a:lnSpc>
                          <a:spcPct val="100000"/>
                        </a:lnSpc>
                        <a:spcBef>
                          <a:spcPts val="500"/>
                        </a:spcBef>
                      </a:pPr>
                      <a:r>
                        <a:rPr sz="1200" spc="-10">
                          <a:solidFill>
                            <a:srgbClr val="565656"/>
                          </a:solidFill>
                          <a:latin typeface="Trebuchet MS"/>
                          <a:cs typeface="Trebuchet MS"/>
                        </a:rPr>
                        <a:t>Professional</a:t>
                      </a:r>
                      <a:endParaRPr sz="1200">
                        <a:latin typeface="Trebuchet MS"/>
                        <a:cs typeface="Trebuchet MS"/>
                      </a:endParaRPr>
                    </a:p>
                  </a:txBody>
                  <a:tcPr marL="0" marR="0" marT="63500" marB="0"/>
                </a:tc>
                <a:tc>
                  <a:txBody>
                    <a:bodyPr/>
                    <a:lstStyle/>
                    <a:p>
                      <a:pPr algn="ctr">
                        <a:lnSpc>
                          <a:spcPct val="100000"/>
                        </a:lnSpc>
                        <a:spcBef>
                          <a:spcPts val="500"/>
                        </a:spcBef>
                      </a:pPr>
                      <a:r>
                        <a:rPr sz="1200" spc="-50">
                          <a:solidFill>
                            <a:srgbClr val="565656"/>
                          </a:solidFill>
                          <a:latin typeface="Trebuchet MS"/>
                          <a:cs typeface="Trebuchet MS"/>
                        </a:rPr>
                        <a:t>…</a:t>
                      </a:r>
                      <a:endParaRPr sz="1200">
                        <a:latin typeface="Trebuchet MS"/>
                        <a:cs typeface="Trebuchet MS"/>
                      </a:endParaRPr>
                    </a:p>
                  </a:txBody>
                  <a:tcPr marL="0" marR="0" marT="63500" marB="0"/>
                </a:tc>
                <a:extLst>
                  <a:ext uri="{0D108BD9-81ED-4DB2-BD59-A6C34878D82A}">
                    <a16:rowId xmlns:a16="http://schemas.microsoft.com/office/drawing/2014/main" val="10002"/>
                  </a:ext>
                </a:extLst>
              </a:tr>
              <a:tr h="688340">
                <a:tc>
                  <a:txBody>
                    <a:bodyPr/>
                    <a:lstStyle/>
                    <a:p>
                      <a:pPr>
                        <a:lnSpc>
                          <a:spcPct val="100000"/>
                        </a:lnSpc>
                        <a:spcBef>
                          <a:spcPts val="560"/>
                        </a:spcBef>
                      </a:pPr>
                      <a:endParaRPr sz="1200">
                        <a:latin typeface="Times New Roman"/>
                        <a:cs typeface="Times New Roman"/>
                      </a:endParaRPr>
                    </a:p>
                    <a:p>
                      <a:pPr marL="91440">
                        <a:lnSpc>
                          <a:spcPct val="100000"/>
                        </a:lnSpc>
                      </a:pPr>
                      <a:r>
                        <a:rPr sz="1200" b="1" spc="-10">
                          <a:solidFill>
                            <a:srgbClr val="565656"/>
                          </a:solidFill>
                          <a:latin typeface="Trebuchet MS"/>
                          <a:cs typeface="Trebuchet MS"/>
                        </a:rPr>
                        <a:t>Wahyu</a:t>
                      </a:r>
                      <a:endParaRPr sz="1200">
                        <a:latin typeface="Trebuchet MS"/>
                        <a:cs typeface="Trebuchet MS"/>
                      </a:endParaRPr>
                    </a:p>
                  </a:txBody>
                  <a:tcPr marL="0" marR="0" marT="71120" marB="0"/>
                </a:tc>
                <a:tc>
                  <a:txBody>
                    <a:bodyPr/>
                    <a:lstStyle/>
                    <a:p>
                      <a:pPr marL="244475" marR="205740" indent="8890" algn="just">
                        <a:lnSpc>
                          <a:spcPct val="100000"/>
                        </a:lnSpc>
                        <a:spcBef>
                          <a:spcPts val="500"/>
                        </a:spcBef>
                      </a:pPr>
                      <a:r>
                        <a:rPr sz="1200" spc="-10">
                          <a:solidFill>
                            <a:srgbClr val="565656"/>
                          </a:solidFill>
                          <a:latin typeface="Trebuchet MS"/>
                          <a:cs typeface="Trebuchet MS"/>
                        </a:rPr>
                        <a:t>Indicated </a:t>
                      </a:r>
                      <a:r>
                        <a:rPr sz="1200">
                          <a:solidFill>
                            <a:srgbClr val="565656"/>
                          </a:solidFill>
                          <a:latin typeface="Trebuchet MS"/>
                          <a:cs typeface="Trebuchet MS"/>
                        </a:rPr>
                        <a:t>interest</a:t>
                      </a:r>
                      <a:r>
                        <a:rPr sz="1200" spc="-65">
                          <a:solidFill>
                            <a:srgbClr val="565656"/>
                          </a:solidFill>
                          <a:latin typeface="Trebuchet MS"/>
                          <a:cs typeface="Trebuchet MS"/>
                        </a:rPr>
                        <a:t> </a:t>
                      </a:r>
                      <a:r>
                        <a:rPr sz="1200" spc="-50">
                          <a:solidFill>
                            <a:srgbClr val="565656"/>
                          </a:solidFill>
                          <a:latin typeface="Trebuchet MS"/>
                          <a:cs typeface="Trebuchet MS"/>
                        </a:rPr>
                        <a:t>6 </a:t>
                      </a:r>
                      <a:r>
                        <a:rPr sz="1200">
                          <a:solidFill>
                            <a:srgbClr val="565656"/>
                          </a:solidFill>
                          <a:latin typeface="Trebuchet MS"/>
                          <a:cs typeface="Trebuchet MS"/>
                        </a:rPr>
                        <a:t>mos.</a:t>
                      </a:r>
                      <a:r>
                        <a:rPr sz="1200" spc="-25">
                          <a:solidFill>
                            <a:srgbClr val="565656"/>
                          </a:solidFill>
                          <a:latin typeface="Trebuchet MS"/>
                          <a:cs typeface="Trebuchet MS"/>
                        </a:rPr>
                        <a:t> ago</a:t>
                      </a:r>
                      <a:endParaRPr sz="1200">
                        <a:latin typeface="Trebuchet MS"/>
                        <a:cs typeface="Trebuchet MS"/>
                      </a:endParaRPr>
                    </a:p>
                  </a:txBody>
                  <a:tcPr marL="0" marR="0" marT="63500" marB="0"/>
                </a:tc>
                <a:tc>
                  <a:txBody>
                    <a:bodyPr/>
                    <a:lstStyle/>
                    <a:p>
                      <a:pPr>
                        <a:lnSpc>
                          <a:spcPct val="100000"/>
                        </a:lnSpc>
                        <a:spcBef>
                          <a:spcPts val="560"/>
                        </a:spcBef>
                      </a:pPr>
                      <a:endParaRPr lang="en-US" sz="1200">
                        <a:latin typeface="Times New Roman"/>
                        <a:cs typeface="Times New Roman"/>
                      </a:endParaRPr>
                    </a:p>
                    <a:p>
                      <a:pPr marL="6985" algn="ctr">
                        <a:lnSpc>
                          <a:spcPct val="100000"/>
                        </a:lnSpc>
                      </a:pPr>
                      <a:r>
                        <a:rPr lang="en-US" sz="1200" spc="-25">
                          <a:solidFill>
                            <a:srgbClr val="565656"/>
                          </a:solidFill>
                          <a:latin typeface="Trebuchet MS"/>
                          <a:cs typeface="Trebuchet MS"/>
                        </a:rPr>
                        <a:t>NTB</a:t>
                      </a:r>
                      <a:endParaRPr lang="en-US" sz="1200">
                        <a:latin typeface="Trebuchet MS"/>
                        <a:cs typeface="Trebuchet MS"/>
                      </a:endParaRPr>
                    </a:p>
                  </a:txBody>
                  <a:tcPr marL="0" marR="0" marT="71120" marB="0"/>
                </a:tc>
                <a:tc>
                  <a:txBody>
                    <a:bodyPr/>
                    <a:lstStyle/>
                    <a:p>
                      <a:pPr>
                        <a:lnSpc>
                          <a:spcPct val="100000"/>
                        </a:lnSpc>
                        <a:spcBef>
                          <a:spcPts val="560"/>
                        </a:spcBef>
                      </a:pPr>
                      <a:endParaRPr sz="1200">
                        <a:latin typeface="Times New Roman"/>
                        <a:cs typeface="Times New Roman"/>
                      </a:endParaRPr>
                    </a:p>
                    <a:p>
                      <a:pPr marL="635" algn="ctr">
                        <a:lnSpc>
                          <a:spcPct val="100000"/>
                        </a:lnSpc>
                      </a:pPr>
                      <a:r>
                        <a:rPr sz="1200">
                          <a:solidFill>
                            <a:srgbClr val="565656"/>
                          </a:solidFill>
                          <a:latin typeface="Trebuchet MS"/>
                          <a:cs typeface="Trebuchet MS"/>
                        </a:rPr>
                        <a:t>4</a:t>
                      </a:r>
                      <a:r>
                        <a:rPr sz="1200" spc="-10">
                          <a:solidFill>
                            <a:srgbClr val="565656"/>
                          </a:solidFill>
                          <a:latin typeface="Trebuchet MS"/>
                          <a:cs typeface="Trebuchet MS"/>
                        </a:rPr>
                        <a:t> </a:t>
                      </a:r>
                      <a:r>
                        <a:rPr sz="1200" spc="-20">
                          <a:solidFill>
                            <a:srgbClr val="565656"/>
                          </a:solidFill>
                          <a:latin typeface="Trebuchet MS"/>
                          <a:cs typeface="Trebuchet MS"/>
                        </a:rPr>
                        <a:t>mos.</a:t>
                      </a:r>
                      <a:endParaRPr sz="1200">
                        <a:latin typeface="Trebuchet MS"/>
                        <a:cs typeface="Trebuchet MS"/>
                      </a:endParaRPr>
                    </a:p>
                  </a:txBody>
                  <a:tcPr marL="0" marR="0" marT="71120" marB="0"/>
                </a:tc>
                <a:tc>
                  <a:txBody>
                    <a:bodyPr/>
                    <a:lstStyle/>
                    <a:p>
                      <a:pPr>
                        <a:lnSpc>
                          <a:spcPct val="100000"/>
                        </a:lnSpc>
                        <a:spcBef>
                          <a:spcPts val="560"/>
                        </a:spcBef>
                      </a:pPr>
                      <a:endParaRPr sz="1200">
                        <a:latin typeface="Times New Roman"/>
                        <a:cs typeface="Times New Roman"/>
                      </a:endParaRPr>
                    </a:p>
                    <a:p>
                      <a:pPr marL="7620" algn="ctr">
                        <a:lnSpc>
                          <a:spcPct val="100000"/>
                        </a:lnSpc>
                      </a:pPr>
                      <a:r>
                        <a:rPr sz="1200" spc="-25">
                          <a:solidFill>
                            <a:srgbClr val="EF7E30"/>
                          </a:solidFill>
                          <a:latin typeface="Trebuchet MS"/>
                          <a:cs typeface="Trebuchet MS"/>
                        </a:rPr>
                        <a:t>Med</a:t>
                      </a:r>
                      <a:endParaRPr sz="1200">
                        <a:latin typeface="Trebuchet MS"/>
                        <a:cs typeface="Trebuchet MS"/>
                      </a:endParaRPr>
                    </a:p>
                  </a:txBody>
                  <a:tcPr marL="0" marR="0" marT="71120" marB="0"/>
                </a:tc>
                <a:tc>
                  <a:txBody>
                    <a:bodyPr/>
                    <a:lstStyle/>
                    <a:p>
                      <a:pPr>
                        <a:lnSpc>
                          <a:spcPct val="100000"/>
                        </a:lnSpc>
                        <a:spcBef>
                          <a:spcPts val="560"/>
                        </a:spcBef>
                      </a:pPr>
                      <a:endParaRPr sz="1200">
                        <a:latin typeface="Times New Roman"/>
                        <a:cs typeface="Times New Roman"/>
                      </a:endParaRPr>
                    </a:p>
                    <a:p>
                      <a:pPr marL="389890">
                        <a:lnSpc>
                          <a:spcPct val="100000"/>
                        </a:lnSpc>
                      </a:pPr>
                      <a:r>
                        <a:rPr sz="1200" spc="-25">
                          <a:solidFill>
                            <a:srgbClr val="00AF50"/>
                          </a:solidFill>
                          <a:latin typeface="Trebuchet MS"/>
                          <a:cs typeface="Trebuchet MS"/>
                        </a:rPr>
                        <a:t>Hi</a:t>
                      </a:r>
                      <a:endParaRPr sz="1200">
                        <a:latin typeface="Trebuchet MS"/>
                        <a:cs typeface="Trebuchet MS"/>
                      </a:endParaRPr>
                    </a:p>
                  </a:txBody>
                  <a:tcPr marL="0" marR="0" marT="71120" marB="0"/>
                </a:tc>
                <a:tc>
                  <a:txBody>
                    <a:bodyPr/>
                    <a:lstStyle/>
                    <a:p>
                      <a:pPr marL="195580" marR="281940" indent="-60960">
                        <a:lnSpc>
                          <a:spcPct val="100000"/>
                        </a:lnSpc>
                        <a:spcBef>
                          <a:spcPts val="1220"/>
                        </a:spcBef>
                      </a:pPr>
                      <a:r>
                        <a:rPr sz="1200" spc="-10">
                          <a:solidFill>
                            <a:srgbClr val="565656"/>
                          </a:solidFill>
                          <a:latin typeface="Trebuchet MS"/>
                          <a:cs typeface="Trebuchet MS"/>
                        </a:rPr>
                        <a:t>Business Owner</a:t>
                      </a:r>
                      <a:endParaRPr sz="1200">
                        <a:latin typeface="Trebuchet MS"/>
                        <a:cs typeface="Trebuchet MS"/>
                      </a:endParaRPr>
                    </a:p>
                  </a:txBody>
                  <a:tcPr marL="0" marR="0" marT="154940" marB="0"/>
                </a:tc>
                <a:tc>
                  <a:txBody>
                    <a:bodyPr/>
                    <a:lstStyle/>
                    <a:p>
                      <a:pPr>
                        <a:lnSpc>
                          <a:spcPct val="100000"/>
                        </a:lnSpc>
                        <a:spcBef>
                          <a:spcPts val="560"/>
                        </a:spcBef>
                      </a:pPr>
                      <a:endParaRPr sz="1200">
                        <a:latin typeface="Times New Roman"/>
                        <a:cs typeface="Times New Roman"/>
                      </a:endParaRPr>
                    </a:p>
                    <a:p>
                      <a:pPr algn="ctr">
                        <a:lnSpc>
                          <a:spcPct val="100000"/>
                        </a:lnSpc>
                      </a:pPr>
                      <a:r>
                        <a:rPr sz="1200" spc="-50">
                          <a:solidFill>
                            <a:srgbClr val="565656"/>
                          </a:solidFill>
                          <a:latin typeface="Trebuchet MS"/>
                          <a:cs typeface="Trebuchet MS"/>
                        </a:rPr>
                        <a:t>…</a:t>
                      </a:r>
                      <a:endParaRPr sz="1200">
                        <a:latin typeface="Trebuchet MS"/>
                        <a:cs typeface="Trebuchet MS"/>
                      </a:endParaRPr>
                    </a:p>
                  </a:txBody>
                  <a:tcPr marL="0" marR="0" marT="71120" marB="0"/>
                </a:tc>
                <a:extLst>
                  <a:ext uri="{0D108BD9-81ED-4DB2-BD59-A6C34878D82A}">
                    <a16:rowId xmlns:a16="http://schemas.microsoft.com/office/drawing/2014/main" val="10003"/>
                  </a:ext>
                </a:extLst>
              </a:tr>
              <a:tr h="346710">
                <a:tc>
                  <a:txBody>
                    <a:bodyPr/>
                    <a:lstStyle/>
                    <a:p>
                      <a:pPr marL="91440">
                        <a:lnSpc>
                          <a:spcPct val="100000"/>
                        </a:lnSpc>
                        <a:spcBef>
                          <a:spcPts val="500"/>
                        </a:spcBef>
                      </a:pPr>
                      <a:r>
                        <a:rPr lang="en-US" sz="1200" b="1" spc="-10">
                          <a:solidFill>
                            <a:srgbClr val="565656"/>
                          </a:solidFill>
                          <a:latin typeface="Trebuchet MS"/>
                          <a:cs typeface="Trebuchet MS"/>
                        </a:rPr>
                        <a:t>Cahya</a:t>
                      </a:r>
                      <a:endParaRPr lang="en-US" sz="1200">
                        <a:latin typeface="Trebuchet MS"/>
                        <a:cs typeface="Trebuchet MS"/>
                      </a:endParaRPr>
                    </a:p>
                  </a:txBody>
                  <a:tcPr marL="0" marR="0" marT="63500" marB="0"/>
                </a:tc>
                <a:tc>
                  <a:txBody>
                    <a:bodyPr/>
                    <a:lstStyle/>
                    <a:p>
                      <a:pPr marL="31115" algn="ctr">
                        <a:lnSpc>
                          <a:spcPct val="100000"/>
                        </a:lnSpc>
                        <a:spcBef>
                          <a:spcPts val="500"/>
                        </a:spcBef>
                      </a:pPr>
                      <a:r>
                        <a:rPr sz="1200" spc="-20">
                          <a:solidFill>
                            <a:srgbClr val="565656"/>
                          </a:solidFill>
                          <a:latin typeface="Trebuchet MS"/>
                          <a:cs typeface="Trebuchet MS"/>
                        </a:rPr>
                        <a:t>None</a:t>
                      </a:r>
                      <a:endParaRPr sz="1200">
                        <a:latin typeface="Trebuchet MS"/>
                        <a:cs typeface="Trebuchet MS"/>
                      </a:endParaRPr>
                    </a:p>
                  </a:txBody>
                  <a:tcPr marL="0" marR="0" marT="63500" marB="0"/>
                </a:tc>
                <a:tc>
                  <a:txBody>
                    <a:bodyPr/>
                    <a:lstStyle/>
                    <a:p>
                      <a:pPr marL="6985" algn="ctr">
                        <a:lnSpc>
                          <a:spcPct val="100000"/>
                        </a:lnSpc>
                        <a:spcBef>
                          <a:spcPts val="500"/>
                        </a:spcBef>
                      </a:pPr>
                      <a:r>
                        <a:rPr sz="1200" spc="-25">
                          <a:solidFill>
                            <a:srgbClr val="565656"/>
                          </a:solidFill>
                          <a:latin typeface="Trebuchet MS"/>
                          <a:cs typeface="Trebuchet MS"/>
                        </a:rPr>
                        <a:t>ETB</a:t>
                      </a:r>
                      <a:endParaRPr sz="1200">
                        <a:latin typeface="Trebuchet MS"/>
                        <a:cs typeface="Trebuchet MS"/>
                      </a:endParaRPr>
                    </a:p>
                  </a:txBody>
                  <a:tcPr marL="0" marR="0" marT="63500" marB="0"/>
                </a:tc>
                <a:tc>
                  <a:txBody>
                    <a:bodyPr/>
                    <a:lstStyle/>
                    <a:p>
                      <a:pPr marL="635" algn="ctr">
                        <a:lnSpc>
                          <a:spcPct val="100000"/>
                        </a:lnSpc>
                        <a:spcBef>
                          <a:spcPts val="500"/>
                        </a:spcBef>
                      </a:pPr>
                      <a:r>
                        <a:rPr sz="1200">
                          <a:solidFill>
                            <a:srgbClr val="565656"/>
                          </a:solidFill>
                          <a:latin typeface="Trebuchet MS"/>
                          <a:cs typeface="Trebuchet MS"/>
                        </a:rPr>
                        <a:t>2</a:t>
                      </a:r>
                      <a:r>
                        <a:rPr sz="1200" spc="-10">
                          <a:solidFill>
                            <a:srgbClr val="565656"/>
                          </a:solidFill>
                          <a:latin typeface="Trebuchet MS"/>
                          <a:cs typeface="Trebuchet MS"/>
                        </a:rPr>
                        <a:t> </a:t>
                      </a:r>
                      <a:r>
                        <a:rPr sz="1200" spc="-20">
                          <a:solidFill>
                            <a:srgbClr val="565656"/>
                          </a:solidFill>
                          <a:latin typeface="Trebuchet MS"/>
                          <a:cs typeface="Trebuchet MS"/>
                        </a:rPr>
                        <a:t>mos.</a:t>
                      </a:r>
                      <a:endParaRPr sz="1200">
                        <a:latin typeface="Trebuchet MS"/>
                        <a:cs typeface="Trebuchet MS"/>
                      </a:endParaRPr>
                    </a:p>
                  </a:txBody>
                  <a:tcPr marL="0" marR="0" marT="63500" marB="0"/>
                </a:tc>
                <a:tc>
                  <a:txBody>
                    <a:bodyPr/>
                    <a:lstStyle/>
                    <a:p>
                      <a:pPr marL="7620" algn="ctr">
                        <a:lnSpc>
                          <a:spcPct val="100000"/>
                        </a:lnSpc>
                        <a:spcBef>
                          <a:spcPts val="500"/>
                        </a:spcBef>
                      </a:pPr>
                      <a:r>
                        <a:rPr sz="1200" spc="-25">
                          <a:solidFill>
                            <a:srgbClr val="EF7E30"/>
                          </a:solidFill>
                          <a:latin typeface="Trebuchet MS"/>
                          <a:cs typeface="Trebuchet MS"/>
                        </a:rPr>
                        <a:t>Med</a:t>
                      </a:r>
                      <a:endParaRPr sz="1200">
                        <a:latin typeface="Trebuchet MS"/>
                        <a:cs typeface="Trebuchet MS"/>
                      </a:endParaRPr>
                    </a:p>
                  </a:txBody>
                  <a:tcPr marL="0" marR="0" marT="63500" marB="0"/>
                </a:tc>
                <a:tc>
                  <a:txBody>
                    <a:bodyPr/>
                    <a:lstStyle/>
                    <a:p>
                      <a:pPr marL="382270">
                        <a:lnSpc>
                          <a:spcPct val="100000"/>
                        </a:lnSpc>
                        <a:spcBef>
                          <a:spcPts val="500"/>
                        </a:spcBef>
                      </a:pPr>
                      <a:r>
                        <a:rPr sz="1200" spc="-25">
                          <a:solidFill>
                            <a:srgbClr val="295E7D"/>
                          </a:solidFill>
                          <a:latin typeface="Trebuchet MS"/>
                          <a:cs typeface="Trebuchet MS"/>
                        </a:rPr>
                        <a:t>Lo</a:t>
                      </a:r>
                      <a:endParaRPr sz="1200">
                        <a:latin typeface="Trebuchet MS"/>
                        <a:cs typeface="Trebuchet MS"/>
                      </a:endParaRPr>
                    </a:p>
                  </a:txBody>
                  <a:tcPr marL="0" marR="0" marT="63500" marB="0"/>
                </a:tc>
                <a:tc>
                  <a:txBody>
                    <a:bodyPr/>
                    <a:lstStyle/>
                    <a:p>
                      <a:pPr marR="147955" algn="ctr">
                        <a:lnSpc>
                          <a:spcPct val="100000"/>
                        </a:lnSpc>
                        <a:spcBef>
                          <a:spcPts val="500"/>
                        </a:spcBef>
                      </a:pPr>
                      <a:r>
                        <a:rPr sz="1200" spc="-10">
                          <a:solidFill>
                            <a:srgbClr val="565656"/>
                          </a:solidFill>
                          <a:latin typeface="Trebuchet MS"/>
                          <a:cs typeface="Trebuchet MS"/>
                        </a:rPr>
                        <a:t>Professional</a:t>
                      </a:r>
                      <a:endParaRPr sz="1200">
                        <a:latin typeface="Trebuchet MS"/>
                        <a:cs typeface="Trebuchet MS"/>
                      </a:endParaRPr>
                    </a:p>
                  </a:txBody>
                  <a:tcPr marL="0" marR="0" marT="63500" marB="0"/>
                </a:tc>
                <a:tc>
                  <a:txBody>
                    <a:bodyPr/>
                    <a:lstStyle/>
                    <a:p>
                      <a:pPr algn="ctr">
                        <a:lnSpc>
                          <a:spcPct val="100000"/>
                        </a:lnSpc>
                        <a:spcBef>
                          <a:spcPts val="500"/>
                        </a:spcBef>
                      </a:pPr>
                      <a:r>
                        <a:rPr sz="1200" spc="-50">
                          <a:solidFill>
                            <a:srgbClr val="565656"/>
                          </a:solidFill>
                          <a:latin typeface="Trebuchet MS"/>
                          <a:cs typeface="Trebuchet MS"/>
                        </a:rPr>
                        <a:t>…</a:t>
                      </a:r>
                      <a:endParaRPr sz="1200">
                        <a:latin typeface="Trebuchet MS"/>
                        <a:cs typeface="Trebuchet MS"/>
                      </a:endParaRPr>
                    </a:p>
                  </a:txBody>
                  <a:tcPr marL="0" marR="0" marT="63500" marB="0"/>
                </a:tc>
                <a:extLst>
                  <a:ext uri="{0D108BD9-81ED-4DB2-BD59-A6C34878D82A}">
                    <a16:rowId xmlns:a16="http://schemas.microsoft.com/office/drawing/2014/main" val="10004"/>
                  </a:ext>
                </a:extLst>
              </a:tr>
              <a:tr h="273685">
                <a:tc>
                  <a:txBody>
                    <a:bodyPr/>
                    <a:lstStyle/>
                    <a:p>
                      <a:pPr marL="91440">
                        <a:lnSpc>
                          <a:spcPts val="1365"/>
                        </a:lnSpc>
                        <a:spcBef>
                          <a:spcPts val="690"/>
                        </a:spcBef>
                      </a:pPr>
                      <a:r>
                        <a:rPr sz="1200" b="1" spc="-50">
                          <a:solidFill>
                            <a:srgbClr val="565656"/>
                          </a:solidFill>
                          <a:latin typeface="Trebuchet MS"/>
                          <a:cs typeface="Trebuchet MS"/>
                        </a:rPr>
                        <a:t>…</a:t>
                      </a:r>
                      <a:endParaRPr sz="1200">
                        <a:latin typeface="Trebuchet MS"/>
                        <a:cs typeface="Trebuchet MS"/>
                      </a:endParaRPr>
                    </a:p>
                  </a:txBody>
                  <a:tcPr marL="0" marR="0" marT="87630" marB="0"/>
                </a:tc>
                <a:tc>
                  <a:txBody>
                    <a:bodyPr/>
                    <a:lstStyle/>
                    <a:p>
                      <a:pPr marL="31115" algn="ctr">
                        <a:lnSpc>
                          <a:spcPts val="1365"/>
                        </a:lnSpc>
                        <a:spcBef>
                          <a:spcPts val="690"/>
                        </a:spcBef>
                      </a:pPr>
                      <a:r>
                        <a:rPr sz="1200" spc="-50">
                          <a:solidFill>
                            <a:srgbClr val="565656"/>
                          </a:solidFill>
                          <a:latin typeface="Trebuchet MS"/>
                          <a:cs typeface="Trebuchet MS"/>
                        </a:rPr>
                        <a:t>…</a:t>
                      </a:r>
                      <a:endParaRPr sz="1200">
                        <a:latin typeface="Trebuchet MS"/>
                        <a:cs typeface="Trebuchet MS"/>
                      </a:endParaRPr>
                    </a:p>
                  </a:txBody>
                  <a:tcPr marL="0" marR="0" marT="87630" marB="0"/>
                </a:tc>
                <a:tc>
                  <a:txBody>
                    <a:bodyPr/>
                    <a:lstStyle/>
                    <a:p>
                      <a:pPr marL="8255" algn="ctr">
                        <a:lnSpc>
                          <a:spcPts val="1365"/>
                        </a:lnSpc>
                        <a:spcBef>
                          <a:spcPts val="690"/>
                        </a:spcBef>
                      </a:pPr>
                      <a:r>
                        <a:rPr sz="1200" spc="-50">
                          <a:solidFill>
                            <a:srgbClr val="565656"/>
                          </a:solidFill>
                          <a:latin typeface="Trebuchet MS"/>
                          <a:cs typeface="Trebuchet MS"/>
                        </a:rPr>
                        <a:t>…</a:t>
                      </a:r>
                      <a:endParaRPr sz="1200">
                        <a:latin typeface="Trebuchet MS"/>
                        <a:cs typeface="Trebuchet MS"/>
                      </a:endParaRPr>
                    </a:p>
                  </a:txBody>
                  <a:tcPr marL="0" marR="0" marT="87630" marB="0"/>
                </a:tc>
                <a:tc>
                  <a:txBody>
                    <a:bodyPr/>
                    <a:lstStyle/>
                    <a:p>
                      <a:pPr marL="3175" algn="ctr">
                        <a:lnSpc>
                          <a:spcPts val="1365"/>
                        </a:lnSpc>
                        <a:spcBef>
                          <a:spcPts val="690"/>
                        </a:spcBef>
                      </a:pPr>
                      <a:r>
                        <a:rPr sz="1200" b="1" spc="-50">
                          <a:solidFill>
                            <a:srgbClr val="565656"/>
                          </a:solidFill>
                          <a:latin typeface="Trebuchet MS"/>
                          <a:cs typeface="Trebuchet MS"/>
                        </a:rPr>
                        <a:t>…</a:t>
                      </a:r>
                      <a:endParaRPr sz="1200">
                        <a:latin typeface="Trebuchet MS"/>
                        <a:cs typeface="Trebuchet MS"/>
                      </a:endParaRPr>
                    </a:p>
                  </a:txBody>
                  <a:tcPr marL="0" marR="0" marT="87630" marB="0"/>
                </a:tc>
                <a:tc>
                  <a:txBody>
                    <a:bodyPr/>
                    <a:lstStyle/>
                    <a:p>
                      <a:pPr marL="7620" algn="ctr">
                        <a:lnSpc>
                          <a:spcPts val="1365"/>
                        </a:lnSpc>
                        <a:spcBef>
                          <a:spcPts val="690"/>
                        </a:spcBef>
                      </a:pPr>
                      <a:r>
                        <a:rPr sz="1200" b="1" spc="-50">
                          <a:solidFill>
                            <a:srgbClr val="565656"/>
                          </a:solidFill>
                          <a:latin typeface="Trebuchet MS"/>
                          <a:cs typeface="Trebuchet MS"/>
                        </a:rPr>
                        <a:t>…</a:t>
                      </a:r>
                      <a:endParaRPr sz="1200">
                        <a:latin typeface="Trebuchet MS"/>
                        <a:cs typeface="Trebuchet MS"/>
                      </a:endParaRPr>
                    </a:p>
                  </a:txBody>
                  <a:tcPr marL="0" marR="0" marT="87630" marB="0"/>
                </a:tc>
                <a:tc>
                  <a:txBody>
                    <a:bodyPr/>
                    <a:lstStyle/>
                    <a:p>
                      <a:pPr marL="407034">
                        <a:lnSpc>
                          <a:spcPts val="1365"/>
                        </a:lnSpc>
                        <a:spcBef>
                          <a:spcPts val="690"/>
                        </a:spcBef>
                      </a:pPr>
                      <a:r>
                        <a:rPr sz="1200" b="1" spc="-50">
                          <a:solidFill>
                            <a:srgbClr val="565656"/>
                          </a:solidFill>
                          <a:latin typeface="Trebuchet MS"/>
                          <a:cs typeface="Trebuchet MS"/>
                        </a:rPr>
                        <a:t>…</a:t>
                      </a:r>
                      <a:endParaRPr sz="1200">
                        <a:latin typeface="Trebuchet MS"/>
                        <a:cs typeface="Trebuchet MS"/>
                      </a:endParaRPr>
                    </a:p>
                  </a:txBody>
                  <a:tcPr marL="0" marR="0" marT="87630" marB="0"/>
                </a:tc>
                <a:tc>
                  <a:txBody>
                    <a:bodyPr/>
                    <a:lstStyle/>
                    <a:p>
                      <a:pPr marR="148590" algn="ctr">
                        <a:lnSpc>
                          <a:spcPts val="1365"/>
                        </a:lnSpc>
                        <a:spcBef>
                          <a:spcPts val="690"/>
                        </a:spcBef>
                      </a:pPr>
                      <a:r>
                        <a:rPr sz="1200" b="1" spc="-50">
                          <a:solidFill>
                            <a:srgbClr val="565656"/>
                          </a:solidFill>
                          <a:latin typeface="Trebuchet MS"/>
                          <a:cs typeface="Trebuchet MS"/>
                        </a:rPr>
                        <a:t>…</a:t>
                      </a:r>
                      <a:endParaRPr sz="1200">
                        <a:latin typeface="Trebuchet MS"/>
                        <a:cs typeface="Trebuchet MS"/>
                      </a:endParaRPr>
                    </a:p>
                  </a:txBody>
                  <a:tcPr marL="0" marR="0" marT="87630" marB="0"/>
                </a:tc>
                <a:tc>
                  <a:txBody>
                    <a:bodyPr/>
                    <a:lstStyle/>
                    <a:p>
                      <a:pPr algn="ctr">
                        <a:lnSpc>
                          <a:spcPts val="1365"/>
                        </a:lnSpc>
                        <a:spcBef>
                          <a:spcPts val="690"/>
                        </a:spcBef>
                      </a:pPr>
                      <a:r>
                        <a:rPr sz="1200" b="1" spc="-50">
                          <a:solidFill>
                            <a:srgbClr val="565656"/>
                          </a:solidFill>
                          <a:latin typeface="Trebuchet MS"/>
                          <a:cs typeface="Trebuchet MS"/>
                        </a:rPr>
                        <a:t>…</a:t>
                      </a:r>
                      <a:endParaRPr sz="1200">
                        <a:latin typeface="Trebuchet MS"/>
                        <a:cs typeface="Trebuchet MS"/>
                      </a:endParaRPr>
                    </a:p>
                  </a:txBody>
                  <a:tcPr marL="0" marR="0" marT="87630" marB="0"/>
                </a:tc>
                <a:extLst>
                  <a:ext uri="{0D108BD9-81ED-4DB2-BD59-A6C34878D82A}">
                    <a16:rowId xmlns:a16="http://schemas.microsoft.com/office/drawing/2014/main" val="10005"/>
                  </a:ext>
                </a:extLst>
              </a:tr>
            </a:tbl>
          </a:graphicData>
        </a:graphic>
      </p:graphicFrame>
      <p:grpSp>
        <p:nvGrpSpPr>
          <p:cNvPr id="9" name="object 9"/>
          <p:cNvGrpSpPr/>
          <p:nvPr/>
        </p:nvGrpSpPr>
        <p:grpSpPr>
          <a:xfrm>
            <a:off x="7089457" y="2154935"/>
            <a:ext cx="316230" cy="4006850"/>
            <a:chOff x="7089457" y="2154935"/>
            <a:chExt cx="316230" cy="4006850"/>
          </a:xfrm>
        </p:grpSpPr>
        <p:sp>
          <p:nvSpPr>
            <p:cNvPr id="10" name="object 10"/>
            <p:cNvSpPr/>
            <p:nvPr/>
          </p:nvSpPr>
          <p:spPr>
            <a:xfrm>
              <a:off x="7246619" y="2154935"/>
              <a:ext cx="0" cy="4006850"/>
            </a:xfrm>
            <a:custGeom>
              <a:avLst/>
              <a:gdLst/>
              <a:ahLst/>
              <a:cxnLst/>
              <a:rect l="l" t="t" r="r" b="b"/>
              <a:pathLst>
                <a:path h="4006850">
                  <a:moveTo>
                    <a:pt x="0" y="0"/>
                  </a:moveTo>
                  <a:lnTo>
                    <a:pt x="0" y="4006468"/>
                  </a:lnTo>
                </a:path>
              </a:pathLst>
            </a:custGeom>
            <a:ln w="9525">
              <a:solidFill>
                <a:srgbClr val="6D6E73"/>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11" name="object 11"/>
            <p:cNvSpPr/>
            <p:nvPr/>
          </p:nvSpPr>
          <p:spPr>
            <a:xfrm>
              <a:off x="7094219" y="4003547"/>
              <a:ext cx="306705" cy="307975"/>
            </a:xfrm>
            <a:custGeom>
              <a:avLst/>
              <a:gdLst/>
              <a:ahLst/>
              <a:cxnLst/>
              <a:rect l="l" t="t" r="r" b="b"/>
              <a:pathLst>
                <a:path w="306704" h="307975">
                  <a:moveTo>
                    <a:pt x="153161" y="0"/>
                  </a:moveTo>
                  <a:lnTo>
                    <a:pt x="104802" y="7863"/>
                  </a:lnTo>
                  <a:lnTo>
                    <a:pt x="62764" y="29748"/>
                  </a:lnTo>
                  <a:lnTo>
                    <a:pt x="29589" y="63093"/>
                  </a:lnTo>
                  <a:lnTo>
                    <a:pt x="7821" y="105338"/>
                  </a:lnTo>
                  <a:lnTo>
                    <a:pt x="0" y="153924"/>
                  </a:lnTo>
                  <a:lnTo>
                    <a:pt x="7821" y="202655"/>
                  </a:lnTo>
                  <a:lnTo>
                    <a:pt x="29589" y="244918"/>
                  </a:lnTo>
                  <a:lnTo>
                    <a:pt x="62764" y="278209"/>
                  </a:lnTo>
                  <a:lnTo>
                    <a:pt x="104802" y="300020"/>
                  </a:lnTo>
                  <a:lnTo>
                    <a:pt x="153161" y="307847"/>
                  </a:lnTo>
                  <a:lnTo>
                    <a:pt x="201619" y="300020"/>
                  </a:lnTo>
                  <a:lnTo>
                    <a:pt x="243669" y="278209"/>
                  </a:lnTo>
                  <a:lnTo>
                    <a:pt x="276807" y="244918"/>
                  </a:lnTo>
                  <a:lnTo>
                    <a:pt x="298527" y="202655"/>
                  </a:lnTo>
                  <a:lnTo>
                    <a:pt x="306324" y="153924"/>
                  </a:lnTo>
                  <a:lnTo>
                    <a:pt x="298527" y="105338"/>
                  </a:lnTo>
                  <a:lnTo>
                    <a:pt x="276807" y="63093"/>
                  </a:lnTo>
                  <a:lnTo>
                    <a:pt x="243669" y="29748"/>
                  </a:lnTo>
                  <a:lnTo>
                    <a:pt x="201619" y="7863"/>
                  </a:lnTo>
                  <a:lnTo>
                    <a:pt x="153161" y="0"/>
                  </a:lnTo>
                  <a:close/>
                </a:path>
              </a:pathLst>
            </a:custGeom>
            <a:solidFill>
              <a:srgbClr val="29B974"/>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12" name="object 12"/>
            <p:cNvSpPr/>
            <p:nvPr/>
          </p:nvSpPr>
          <p:spPr>
            <a:xfrm>
              <a:off x="7094219" y="4003547"/>
              <a:ext cx="306705" cy="307975"/>
            </a:xfrm>
            <a:custGeom>
              <a:avLst/>
              <a:gdLst/>
              <a:ahLst/>
              <a:cxnLst/>
              <a:rect l="l" t="t" r="r" b="b"/>
              <a:pathLst>
                <a:path w="306704" h="307975">
                  <a:moveTo>
                    <a:pt x="0" y="153924"/>
                  </a:moveTo>
                  <a:lnTo>
                    <a:pt x="7821" y="105338"/>
                  </a:lnTo>
                  <a:lnTo>
                    <a:pt x="29589" y="63093"/>
                  </a:lnTo>
                  <a:lnTo>
                    <a:pt x="62764" y="29748"/>
                  </a:lnTo>
                  <a:lnTo>
                    <a:pt x="104802" y="7863"/>
                  </a:lnTo>
                  <a:lnTo>
                    <a:pt x="153161" y="0"/>
                  </a:lnTo>
                  <a:lnTo>
                    <a:pt x="201619" y="7863"/>
                  </a:lnTo>
                  <a:lnTo>
                    <a:pt x="243669" y="29748"/>
                  </a:lnTo>
                  <a:lnTo>
                    <a:pt x="276807" y="63093"/>
                  </a:lnTo>
                  <a:lnTo>
                    <a:pt x="298527" y="105338"/>
                  </a:lnTo>
                  <a:lnTo>
                    <a:pt x="306324" y="153924"/>
                  </a:lnTo>
                  <a:lnTo>
                    <a:pt x="298527" y="202655"/>
                  </a:lnTo>
                  <a:lnTo>
                    <a:pt x="276807" y="244918"/>
                  </a:lnTo>
                  <a:lnTo>
                    <a:pt x="243669" y="278209"/>
                  </a:lnTo>
                  <a:lnTo>
                    <a:pt x="201619" y="300020"/>
                  </a:lnTo>
                  <a:lnTo>
                    <a:pt x="153161" y="307847"/>
                  </a:lnTo>
                  <a:lnTo>
                    <a:pt x="104802" y="300020"/>
                  </a:lnTo>
                  <a:lnTo>
                    <a:pt x="62764" y="278209"/>
                  </a:lnTo>
                  <a:lnTo>
                    <a:pt x="29589" y="244918"/>
                  </a:lnTo>
                  <a:lnTo>
                    <a:pt x="7821" y="202655"/>
                  </a:lnTo>
                  <a:lnTo>
                    <a:pt x="0" y="153924"/>
                  </a:lnTo>
                  <a:close/>
                </a:path>
              </a:pathLst>
            </a:custGeom>
            <a:ln w="9524">
              <a:solidFill>
                <a:srgbClr val="29B974"/>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pic>
          <p:nvPicPr>
            <p:cNvPr id="13" name="object 13"/>
            <p:cNvPicPr/>
            <p:nvPr/>
          </p:nvPicPr>
          <p:blipFill>
            <a:blip r:embed="rId3" cstate="print"/>
            <a:stretch>
              <a:fillRect/>
            </a:stretch>
          </p:blipFill>
          <p:spPr>
            <a:xfrm>
              <a:off x="7210043" y="4046219"/>
              <a:ext cx="120396" cy="224028"/>
            </a:xfrm>
            <a:prstGeom prst="rect">
              <a:avLst/>
            </a:prstGeom>
          </p:spPr>
        </p:pic>
      </p:grpSp>
      <p:pic>
        <p:nvPicPr>
          <p:cNvPr id="14" name="object 14"/>
          <p:cNvPicPr/>
          <p:nvPr/>
        </p:nvPicPr>
        <p:blipFill>
          <a:blip r:embed="rId4" cstate="print"/>
          <a:stretch>
            <a:fillRect/>
          </a:stretch>
        </p:blipFill>
        <p:spPr>
          <a:xfrm>
            <a:off x="1301496" y="3589020"/>
            <a:ext cx="214884" cy="214883"/>
          </a:xfrm>
          <a:prstGeom prst="rect">
            <a:avLst/>
          </a:prstGeom>
        </p:spPr>
      </p:pic>
      <p:sp>
        <p:nvSpPr>
          <p:cNvPr id="15" name="object 15"/>
          <p:cNvSpPr txBox="1"/>
          <p:nvPr/>
        </p:nvSpPr>
        <p:spPr>
          <a:xfrm>
            <a:off x="8165845" y="2470531"/>
            <a:ext cx="3429635" cy="3524250"/>
          </a:xfrm>
          <a:prstGeom prst="rect">
            <a:avLst/>
          </a:prstGeom>
        </p:spPr>
        <p:txBody>
          <a:bodyPr vert="horz" wrap="square" lIns="0" tIns="13335" rIns="0" bIns="0" rtlCol="0">
            <a:spAutoFit/>
          </a:bodyPr>
          <a:lstStyle/>
          <a:p>
            <a:pPr marL="113030" marR="499745" lvl="0" indent="0" defTabSz="914400" eaLnBrk="1" fontAlgn="auto" latinLnBrk="0" hangingPunct="1">
              <a:lnSpc>
                <a:spcPct val="100000"/>
              </a:lnSpc>
              <a:spcBef>
                <a:spcPts val="105"/>
              </a:spcBef>
              <a:spcAft>
                <a:spcPts val="0"/>
              </a:spcAft>
              <a:buClrTx/>
              <a:buSzTx/>
              <a:buFontTx/>
              <a:buNone/>
              <a:tabLst/>
              <a:defRPr/>
            </a:pPr>
            <a:r>
              <a:rPr kumimoji="0" sz="1400" b="0" i="0" u="none" strike="noStrike" kern="0" cap="none" spc="0" normalizeH="0" baseline="0" noProof="0">
                <a:ln>
                  <a:noFill/>
                </a:ln>
                <a:solidFill>
                  <a:srgbClr val="565656"/>
                </a:solidFill>
                <a:effectLst/>
                <a:uLnTx/>
                <a:uFillTx/>
                <a:latin typeface="Trebuchet MS"/>
                <a:cs typeface="Trebuchet MS"/>
              </a:rPr>
              <a:t>Client</a:t>
            </a:r>
            <a:r>
              <a:rPr kumimoji="0" sz="1400" b="0" i="0" u="none" strike="noStrike" kern="0" cap="none" spc="-35" normalizeH="0" baseline="0" noProof="0">
                <a:ln>
                  <a:noFill/>
                </a:ln>
                <a:solidFill>
                  <a:srgbClr val="565656"/>
                </a:solidFill>
                <a:effectLst/>
                <a:uLnTx/>
                <a:uFillTx/>
                <a:latin typeface="Trebuchet MS"/>
                <a:cs typeface="Trebuchet MS"/>
              </a:rPr>
              <a:t> </a:t>
            </a:r>
            <a:r>
              <a:rPr kumimoji="0" sz="1400" b="0" i="0" u="none" strike="noStrike" kern="0" cap="none" spc="0" normalizeH="0" baseline="0" noProof="0">
                <a:ln>
                  <a:noFill/>
                </a:ln>
                <a:solidFill>
                  <a:srgbClr val="565656"/>
                </a:solidFill>
                <a:effectLst/>
                <a:uLnTx/>
                <a:uFillTx/>
                <a:latin typeface="Trebuchet MS"/>
                <a:cs typeface="Trebuchet MS"/>
              </a:rPr>
              <a:t>requests</a:t>
            </a:r>
            <a:r>
              <a:rPr kumimoji="0" sz="1400" b="0" i="0" u="none" strike="noStrike" kern="0" cap="none" spc="-40" normalizeH="0" baseline="0" noProof="0">
                <a:ln>
                  <a:noFill/>
                </a:ln>
                <a:solidFill>
                  <a:srgbClr val="565656"/>
                </a:solidFill>
                <a:effectLst/>
                <a:uLnTx/>
                <a:uFillTx/>
                <a:latin typeface="Trebuchet MS"/>
                <a:cs typeface="Trebuchet MS"/>
              </a:rPr>
              <a:t> </a:t>
            </a:r>
            <a:r>
              <a:rPr kumimoji="0" sz="1400" b="0" i="0" u="none" strike="noStrike" kern="0" cap="none" spc="0" normalizeH="0" baseline="0" noProof="0">
                <a:ln>
                  <a:noFill/>
                </a:ln>
                <a:solidFill>
                  <a:srgbClr val="565656"/>
                </a:solidFill>
                <a:effectLst/>
                <a:uLnTx/>
                <a:uFillTx/>
                <a:latin typeface="Trebuchet MS"/>
                <a:cs typeface="Trebuchet MS"/>
              </a:rPr>
              <a:t>contact</a:t>
            </a:r>
            <a:r>
              <a:rPr kumimoji="0" sz="1400" b="0" i="0" u="none" strike="noStrike" kern="0" cap="none" spc="-40" normalizeH="0" baseline="0" noProof="0">
                <a:ln>
                  <a:noFill/>
                </a:ln>
                <a:solidFill>
                  <a:srgbClr val="565656"/>
                </a:solidFill>
                <a:effectLst/>
                <a:uLnTx/>
                <a:uFillTx/>
                <a:latin typeface="Trebuchet MS"/>
                <a:cs typeface="Trebuchet MS"/>
              </a:rPr>
              <a:t> </a:t>
            </a:r>
            <a:r>
              <a:rPr kumimoji="0" sz="1400" b="0" i="0" u="none" strike="noStrike" kern="0" cap="none" spc="0" normalizeH="0" baseline="0" noProof="0">
                <a:ln>
                  <a:noFill/>
                </a:ln>
                <a:solidFill>
                  <a:srgbClr val="565656"/>
                </a:solidFill>
                <a:effectLst/>
                <a:uLnTx/>
                <a:uFillTx/>
                <a:latin typeface="Trebuchet MS"/>
                <a:cs typeface="Trebuchet MS"/>
              </a:rPr>
              <a:t>(incl.</a:t>
            </a:r>
            <a:r>
              <a:rPr kumimoji="0" sz="1400" b="0" i="0" u="none" strike="noStrike" kern="0" cap="none" spc="-40" normalizeH="0" baseline="0" noProof="0">
                <a:ln>
                  <a:noFill/>
                </a:ln>
                <a:solidFill>
                  <a:srgbClr val="565656"/>
                </a:solidFill>
                <a:effectLst/>
                <a:uLnTx/>
                <a:uFillTx/>
                <a:latin typeface="Trebuchet MS"/>
                <a:cs typeface="Trebuchet MS"/>
              </a:rPr>
              <a:t> </a:t>
            </a:r>
            <a:r>
              <a:rPr kumimoji="0" sz="1400" b="0" i="0" u="none" strike="noStrike" kern="0" cap="none" spc="-20" normalizeH="0" baseline="0" noProof="0">
                <a:ln>
                  <a:noFill/>
                </a:ln>
                <a:solidFill>
                  <a:srgbClr val="565656"/>
                </a:solidFill>
                <a:effectLst/>
                <a:uLnTx/>
                <a:uFillTx/>
                <a:latin typeface="Trebuchet MS"/>
                <a:cs typeface="Trebuchet MS"/>
              </a:rPr>
              <a:t>time- </a:t>
            </a:r>
            <a:r>
              <a:rPr kumimoji="0" sz="1400" b="0" i="0" u="none" strike="noStrike" kern="0" cap="none" spc="0" normalizeH="0" baseline="0" noProof="0">
                <a:ln>
                  <a:noFill/>
                </a:ln>
                <a:solidFill>
                  <a:srgbClr val="565656"/>
                </a:solidFill>
                <a:effectLst/>
                <a:uLnTx/>
                <a:uFillTx/>
                <a:latin typeface="Trebuchet MS"/>
                <a:cs typeface="Trebuchet MS"/>
              </a:rPr>
              <a:t>sensitive</a:t>
            </a:r>
            <a:r>
              <a:rPr kumimoji="0" sz="1400" b="0" i="0" u="none" strike="noStrike" kern="0" cap="none" spc="-30" normalizeH="0" baseline="0" noProof="0">
                <a:ln>
                  <a:noFill/>
                </a:ln>
                <a:solidFill>
                  <a:srgbClr val="565656"/>
                </a:solidFill>
                <a:effectLst/>
                <a:uLnTx/>
                <a:uFillTx/>
                <a:latin typeface="Trebuchet MS"/>
                <a:cs typeface="Trebuchet MS"/>
              </a:rPr>
              <a:t> </a:t>
            </a:r>
            <a:r>
              <a:rPr kumimoji="0" sz="1400" b="0" i="0" u="none" strike="noStrike" kern="0" cap="none" spc="-10" normalizeH="0" baseline="0" noProof="0">
                <a:ln>
                  <a:noFill/>
                </a:ln>
                <a:solidFill>
                  <a:srgbClr val="565656"/>
                </a:solidFill>
                <a:effectLst/>
                <a:uLnTx/>
                <a:uFillTx/>
                <a:latin typeface="Trebuchet MS"/>
                <a:cs typeface="Trebuchet MS"/>
              </a:rPr>
              <a:t>referrals)</a:t>
            </a:r>
            <a:endParaRPr kumimoji="0" sz="1400" b="0" i="0" u="none" strike="noStrike" kern="0" cap="none" spc="0" normalizeH="0" baseline="0" noProof="0">
              <a:ln>
                <a:noFill/>
              </a:ln>
              <a:solidFill>
                <a:sysClr val="windowText" lastClr="000000"/>
              </a:solidFill>
              <a:effectLst/>
              <a:uLnTx/>
              <a:uFillTx/>
              <a:latin typeface="Trebuchet MS"/>
              <a:cs typeface="Trebuchet MS"/>
            </a:endParaRPr>
          </a:p>
          <a:p>
            <a:pPr marL="0" marR="0" lvl="0" indent="0" defTabSz="914400" eaLnBrk="1" fontAlgn="auto" latinLnBrk="0" hangingPunct="1">
              <a:lnSpc>
                <a:spcPct val="100000"/>
              </a:lnSpc>
              <a:spcBef>
                <a:spcPts val="430"/>
              </a:spcBef>
              <a:spcAft>
                <a:spcPts val="0"/>
              </a:spcAft>
              <a:buClrTx/>
              <a:buSzTx/>
              <a:buFontTx/>
              <a:buNone/>
              <a:tabLst/>
              <a:defRPr/>
            </a:pPr>
            <a:endParaRPr kumimoji="0" sz="1400" b="0" i="0" u="none" strike="noStrike" kern="0" cap="none" spc="0" normalizeH="0" baseline="0" noProof="0">
              <a:ln>
                <a:noFill/>
              </a:ln>
              <a:solidFill>
                <a:sysClr val="windowText" lastClr="000000"/>
              </a:solidFill>
              <a:effectLst/>
              <a:uLnTx/>
              <a:uFillTx/>
              <a:latin typeface="Trebuchet MS"/>
              <a:cs typeface="Trebuchet MS"/>
            </a:endParaRPr>
          </a:p>
          <a:p>
            <a:pPr marL="101600" marR="0" lvl="0" indent="0" defTabSz="914400" eaLnBrk="1" fontAlgn="auto" latinLnBrk="0" hangingPunct="1">
              <a:lnSpc>
                <a:spcPct val="100000"/>
              </a:lnSpc>
              <a:spcBef>
                <a:spcPts val="0"/>
              </a:spcBef>
              <a:spcAft>
                <a:spcPts val="0"/>
              </a:spcAft>
              <a:buClrTx/>
              <a:buSzTx/>
              <a:buFontTx/>
              <a:buNone/>
              <a:tabLst/>
              <a:defRPr/>
            </a:pPr>
            <a:r>
              <a:rPr kumimoji="0" sz="1400" b="0" i="0" u="none" strike="noStrike" kern="0" cap="none" spc="0" normalizeH="0" baseline="0" noProof="0">
                <a:ln>
                  <a:noFill/>
                </a:ln>
                <a:solidFill>
                  <a:srgbClr val="565656"/>
                </a:solidFill>
                <a:effectLst/>
                <a:uLnTx/>
                <a:uFillTx/>
                <a:latin typeface="Trebuchet MS"/>
                <a:cs typeface="Trebuchet MS"/>
              </a:rPr>
              <a:t>Notification</a:t>
            </a:r>
            <a:r>
              <a:rPr kumimoji="0" sz="1400" b="0" i="0" u="none" strike="noStrike" kern="0" cap="none" spc="-65" normalizeH="0" baseline="0" noProof="0">
                <a:ln>
                  <a:noFill/>
                </a:ln>
                <a:solidFill>
                  <a:srgbClr val="565656"/>
                </a:solidFill>
                <a:effectLst/>
                <a:uLnTx/>
                <a:uFillTx/>
                <a:latin typeface="Trebuchet MS"/>
                <a:cs typeface="Trebuchet MS"/>
              </a:rPr>
              <a:t> </a:t>
            </a:r>
            <a:r>
              <a:rPr kumimoji="0" sz="1400" b="0" i="0" u="none" strike="noStrike" kern="0" cap="none" spc="0" normalizeH="0" baseline="0" noProof="0">
                <a:ln>
                  <a:noFill/>
                </a:ln>
                <a:solidFill>
                  <a:srgbClr val="565656"/>
                </a:solidFill>
                <a:effectLst/>
                <a:uLnTx/>
                <a:uFillTx/>
                <a:latin typeface="Trebuchet MS"/>
                <a:cs typeface="Trebuchet MS"/>
              </a:rPr>
              <a:t>on</a:t>
            </a:r>
            <a:r>
              <a:rPr kumimoji="0" sz="1400" b="0" i="0" u="none" strike="noStrike" kern="0" cap="none" spc="-45" normalizeH="0" baseline="0" noProof="0">
                <a:ln>
                  <a:noFill/>
                </a:ln>
                <a:solidFill>
                  <a:srgbClr val="565656"/>
                </a:solidFill>
                <a:effectLst/>
                <a:uLnTx/>
                <a:uFillTx/>
                <a:latin typeface="Trebuchet MS"/>
                <a:cs typeface="Trebuchet MS"/>
              </a:rPr>
              <a:t> </a:t>
            </a:r>
            <a:r>
              <a:rPr kumimoji="0" sz="1400" b="0" i="0" u="none" strike="noStrike" kern="0" cap="none" spc="0" normalizeH="0" baseline="0" noProof="0">
                <a:ln>
                  <a:noFill/>
                </a:ln>
                <a:solidFill>
                  <a:srgbClr val="565656"/>
                </a:solidFill>
                <a:effectLst/>
                <a:uLnTx/>
                <a:uFillTx/>
                <a:latin typeface="Trebuchet MS"/>
                <a:cs typeface="Trebuchet MS"/>
              </a:rPr>
              <a:t>customer</a:t>
            </a:r>
            <a:r>
              <a:rPr kumimoji="0" sz="1400" b="0" i="0" u="none" strike="noStrike" kern="0" cap="none" spc="-50" normalizeH="0" baseline="0" noProof="0">
                <a:ln>
                  <a:noFill/>
                </a:ln>
                <a:solidFill>
                  <a:srgbClr val="565656"/>
                </a:solidFill>
                <a:effectLst/>
                <a:uLnTx/>
                <a:uFillTx/>
                <a:latin typeface="Trebuchet MS"/>
                <a:cs typeface="Trebuchet MS"/>
              </a:rPr>
              <a:t> </a:t>
            </a:r>
            <a:r>
              <a:rPr kumimoji="0" sz="1400" b="0" i="0" u="none" strike="noStrike" kern="0" cap="none" spc="-10" normalizeH="0" baseline="0" noProof="0">
                <a:ln>
                  <a:noFill/>
                </a:ln>
                <a:solidFill>
                  <a:srgbClr val="565656"/>
                </a:solidFill>
                <a:effectLst/>
                <a:uLnTx/>
                <a:uFillTx/>
                <a:latin typeface="Trebuchet MS"/>
                <a:cs typeface="Trebuchet MS"/>
              </a:rPr>
              <a:t>events</a:t>
            </a:r>
            <a:r>
              <a:rPr kumimoji="0" sz="1350" b="0" i="0" u="none" strike="noStrike" kern="0" cap="none" spc="-15" normalizeH="0" baseline="24691" noProof="0">
                <a:ln>
                  <a:noFill/>
                </a:ln>
                <a:solidFill>
                  <a:srgbClr val="565656"/>
                </a:solidFill>
                <a:effectLst/>
                <a:uLnTx/>
                <a:uFillTx/>
                <a:latin typeface="Trebuchet MS"/>
                <a:cs typeface="Trebuchet MS"/>
              </a:rPr>
              <a:t>1</a:t>
            </a:r>
            <a:endParaRPr kumimoji="0" sz="1350" b="0" i="0" u="none" strike="noStrike" kern="0" cap="none" spc="0" normalizeH="0" baseline="24691" noProof="0">
              <a:ln>
                <a:noFill/>
              </a:ln>
              <a:solidFill>
                <a:sysClr val="windowText" lastClr="000000"/>
              </a:solidFill>
              <a:effectLst/>
              <a:uLnTx/>
              <a:uFillTx/>
              <a:latin typeface="Trebuchet MS"/>
              <a:cs typeface="Trebuchet MS"/>
            </a:endParaRPr>
          </a:p>
          <a:p>
            <a:pPr marL="101600" marR="81280" lvl="0" indent="0" defTabSz="914400" eaLnBrk="1" fontAlgn="auto" latinLnBrk="0" hangingPunct="1">
              <a:lnSpc>
                <a:spcPct val="100000"/>
              </a:lnSpc>
              <a:spcBef>
                <a:spcPts val="1475"/>
              </a:spcBef>
              <a:spcAft>
                <a:spcPts val="0"/>
              </a:spcAft>
              <a:buClrTx/>
              <a:buSzTx/>
              <a:buFontTx/>
              <a:buNone/>
              <a:tabLst/>
              <a:defRPr/>
            </a:pPr>
            <a:r>
              <a:rPr kumimoji="0" sz="1400" b="0" i="0" u="none" strike="noStrike" kern="0" cap="none" spc="0" normalizeH="0" baseline="0" noProof="0">
                <a:ln>
                  <a:noFill/>
                </a:ln>
                <a:solidFill>
                  <a:srgbClr val="565656"/>
                </a:solidFill>
                <a:effectLst/>
                <a:uLnTx/>
                <a:uFillTx/>
                <a:latin typeface="Trebuchet MS"/>
                <a:cs typeface="Trebuchet MS"/>
              </a:rPr>
              <a:t>Alerts</a:t>
            </a:r>
            <a:r>
              <a:rPr kumimoji="0" sz="1400" b="0" i="0" u="none" strike="noStrike" kern="0" cap="none" spc="-40" normalizeH="0" baseline="0" noProof="0">
                <a:ln>
                  <a:noFill/>
                </a:ln>
                <a:solidFill>
                  <a:srgbClr val="565656"/>
                </a:solidFill>
                <a:effectLst/>
                <a:uLnTx/>
                <a:uFillTx/>
                <a:latin typeface="Trebuchet MS"/>
                <a:cs typeface="Trebuchet MS"/>
              </a:rPr>
              <a:t> </a:t>
            </a:r>
            <a:r>
              <a:rPr kumimoji="0" sz="1400" b="0" i="0" u="none" strike="noStrike" kern="0" cap="none" spc="0" normalizeH="0" baseline="0" noProof="0">
                <a:ln>
                  <a:noFill/>
                </a:ln>
                <a:solidFill>
                  <a:srgbClr val="565656"/>
                </a:solidFill>
                <a:effectLst/>
                <a:uLnTx/>
                <a:uFillTx/>
                <a:latin typeface="Trebuchet MS"/>
                <a:cs typeface="Trebuchet MS"/>
              </a:rPr>
              <a:t>requiring</a:t>
            </a:r>
            <a:r>
              <a:rPr kumimoji="0" sz="1400" b="0" i="0" u="none" strike="noStrike" kern="0" cap="none" spc="-30" normalizeH="0" baseline="0" noProof="0">
                <a:ln>
                  <a:noFill/>
                </a:ln>
                <a:solidFill>
                  <a:srgbClr val="565656"/>
                </a:solidFill>
                <a:effectLst/>
                <a:uLnTx/>
                <a:uFillTx/>
                <a:latin typeface="Trebuchet MS"/>
                <a:cs typeface="Trebuchet MS"/>
              </a:rPr>
              <a:t> </a:t>
            </a:r>
            <a:r>
              <a:rPr kumimoji="0" sz="1400" b="0" i="0" u="none" strike="noStrike" kern="0" cap="none" spc="0" normalizeH="0" baseline="0" noProof="0">
                <a:ln>
                  <a:noFill/>
                </a:ln>
                <a:solidFill>
                  <a:srgbClr val="565656"/>
                </a:solidFill>
                <a:effectLst/>
                <a:uLnTx/>
                <a:uFillTx/>
                <a:latin typeface="Trebuchet MS"/>
                <a:cs typeface="Trebuchet MS"/>
              </a:rPr>
              <a:t>immediate</a:t>
            </a:r>
            <a:r>
              <a:rPr kumimoji="0" sz="1400" b="0" i="0" u="none" strike="noStrike" kern="0" cap="none" spc="-30" normalizeH="0" baseline="0" noProof="0">
                <a:ln>
                  <a:noFill/>
                </a:ln>
                <a:solidFill>
                  <a:srgbClr val="565656"/>
                </a:solidFill>
                <a:effectLst/>
                <a:uLnTx/>
                <a:uFillTx/>
                <a:latin typeface="Trebuchet MS"/>
                <a:cs typeface="Trebuchet MS"/>
              </a:rPr>
              <a:t> </a:t>
            </a:r>
            <a:r>
              <a:rPr kumimoji="0" sz="1400" b="0" i="0" u="none" strike="noStrike" kern="0" cap="none" spc="0" normalizeH="0" baseline="0" noProof="0">
                <a:ln>
                  <a:noFill/>
                </a:ln>
                <a:solidFill>
                  <a:srgbClr val="565656"/>
                </a:solidFill>
                <a:effectLst/>
                <a:uLnTx/>
                <a:uFillTx/>
                <a:latin typeface="Trebuchet MS"/>
                <a:cs typeface="Trebuchet MS"/>
              </a:rPr>
              <a:t>actions</a:t>
            </a:r>
            <a:r>
              <a:rPr kumimoji="0" sz="1400" b="0" i="0" u="none" strike="noStrike" kern="0" cap="none" spc="-45" normalizeH="0" baseline="0" noProof="0">
                <a:ln>
                  <a:noFill/>
                </a:ln>
                <a:solidFill>
                  <a:srgbClr val="565656"/>
                </a:solidFill>
                <a:effectLst/>
                <a:uLnTx/>
                <a:uFillTx/>
                <a:latin typeface="Trebuchet MS"/>
                <a:cs typeface="Trebuchet MS"/>
              </a:rPr>
              <a:t> </a:t>
            </a:r>
            <a:r>
              <a:rPr kumimoji="0" sz="1400" b="0" i="0" u="none" strike="noStrike" kern="0" cap="none" spc="-10" normalizeH="0" baseline="0" noProof="0">
                <a:ln>
                  <a:noFill/>
                </a:ln>
                <a:solidFill>
                  <a:srgbClr val="565656"/>
                </a:solidFill>
                <a:effectLst/>
                <a:uLnTx/>
                <a:uFillTx/>
                <a:latin typeface="Trebuchet MS"/>
                <a:cs typeface="Trebuchet MS"/>
              </a:rPr>
              <a:t>(incl. </a:t>
            </a:r>
            <a:r>
              <a:rPr kumimoji="0" sz="1400" b="0" i="0" u="none" strike="noStrike" kern="0" cap="none" spc="0" normalizeH="0" baseline="0" noProof="0">
                <a:ln>
                  <a:noFill/>
                </a:ln>
                <a:solidFill>
                  <a:srgbClr val="565656"/>
                </a:solidFill>
                <a:effectLst/>
                <a:uLnTx/>
                <a:uFillTx/>
                <a:latin typeface="Trebuchet MS"/>
                <a:cs typeface="Trebuchet MS"/>
              </a:rPr>
              <a:t>clients</a:t>
            </a:r>
            <a:r>
              <a:rPr kumimoji="0" sz="1400" b="0" i="0" u="none" strike="noStrike" kern="0" cap="none" spc="-60" normalizeH="0" baseline="0" noProof="0">
                <a:ln>
                  <a:noFill/>
                </a:ln>
                <a:solidFill>
                  <a:srgbClr val="565656"/>
                </a:solidFill>
                <a:effectLst/>
                <a:uLnTx/>
                <a:uFillTx/>
                <a:latin typeface="Trebuchet MS"/>
                <a:cs typeface="Trebuchet MS"/>
              </a:rPr>
              <a:t> </a:t>
            </a:r>
            <a:r>
              <a:rPr kumimoji="0" sz="1400" b="0" i="0" u="none" strike="noStrike" kern="0" cap="none" spc="0" normalizeH="0" baseline="0" noProof="0">
                <a:ln>
                  <a:noFill/>
                </a:ln>
                <a:solidFill>
                  <a:srgbClr val="565656"/>
                </a:solidFill>
                <a:effectLst/>
                <a:uLnTx/>
                <a:uFillTx/>
                <a:latin typeface="Trebuchet MS"/>
                <a:cs typeface="Trebuchet MS"/>
              </a:rPr>
              <a:t>with</a:t>
            </a:r>
            <a:r>
              <a:rPr kumimoji="0" sz="1400" b="0" i="0" u="none" strike="noStrike" kern="0" cap="none" spc="-30" normalizeH="0" baseline="0" noProof="0">
                <a:ln>
                  <a:noFill/>
                </a:ln>
                <a:solidFill>
                  <a:srgbClr val="565656"/>
                </a:solidFill>
                <a:effectLst/>
                <a:uLnTx/>
                <a:uFillTx/>
                <a:latin typeface="Trebuchet MS"/>
                <a:cs typeface="Trebuchet MS"/>
              </a:rPr>
              <a:t> </a:t>
            </a:r>
            <a:r>
              <a:rPr kumimoji="0" sz="1400" b="0" i="0" u="none" strike="noStrike" kern="0" cap="none" spc="0" normalizeH="0" baseline="0" noProof="0">
                <a:ln>
                  <a:noFill/>
                </a:ln>
                <a:solidFill>
                  <a:srgbClr val="565656"/>
                </a:solidFill>
                <a:effectLst/>
                <a:uLnTx/>
                <a:uFillTx/>
                <a:latin typeface="Trebuchet MS"/>
                <a:cs typeface="Trebuchet MS"/>
              </a:rPr>
              <a:t>retention</a:t>
            </a:r>
            <a:r>
              <a:rPr kumimoji="0" sz="1400" b="0" i="0" u="none" strike="noStrike" kern="0" cap="none" spc="-40" normalizeH="0" baseline="0" noProof="0">
                <a:ln>
                  <a:noFill/>
                </a:ln>
                <a:solidFill>
                  <a:srgbClr val="565656"/>
                </a:solidFill>
                <a:effectLst/>
                <a:uLnTx/>
                <a:uFillTx/>
                <a:latin typeface="Trebuchet MS"/>
                <a:cs typeface="Trebuchet MS"/>
              </a:rPr>
              <a:t> </a:t>
            </a:r>
            <a:r>
              <a:rPr kumimoji="0" sz="1400" b="0" i="0" u="none" strike="noStrike" kern="0" cap="none" spc="-10" normalizeH="0" baseline="0" noProof="0">
                <a:ln>
                  <a:noFill/>
                </a:ln>
                <a:solidFill>
                  <a:srgbClr val="565656"/>
                </a:solidFill>
                <a:effectLst/>
                <a:uLnTx/>
                <a:uFillTx/>
                <a:latin typeface="Trebuchet MS"/>
                <a:cs typeface="Trebuchet MS"/>
              </a:rPr>
              <a:t>risk)</a:t>
            </a:r>
            <a:r>
              <a:rPr kumimoji="0" sz="1350" b="0" i="0" u="none" strike="noStrike" kern="0" cap="none" spc="-15" normalizeH="0" baseline="24691" noProof="0">
                <a:ln>
                  <a:noFill/>
                </a:ln>
                <a:solidFill>
                  <a:srgbClr val="565656"/>
                </a:solidFill>
                <a:effectLst/>
                <a:uLnTx/>
                <a:uFillTx/>
                <a:latin typeface="Trebuchet MS"/>
                <a:cs typeface="Trebuchet MS"/>
              </a:rPr>
              <a:t>2</a:t>
            </a:r>
            <a:endParaRPr kumimoji="0" sz="1350" b="0" i="0" u="none" strike="noStrike" kern="0" cap="none" spc="0" normalizeH="0" baseline="24691" noProof="0">
              <a:ln>
                <a:noFill/>
              </a:ln>
              <a:solidFill>
                <a:sysClr val="windowText" lastClr="000000"/>
              </a:solidFill>
              <a:effectLst/>
              <a:uLnTx/>
              <a:uFillTx/>
              <a:latin typeface="Trebuchet MS"/>
              <a:cs typeface="Trebuchet MS"/>
            </a:endParaRPr>
          </a:p>
          <a:p>
            <a:pPr marL="101600" marR="187960" lvl="0" indent="0" defTabSz="914400" eaLnBrk="1" fontAlgn="auto" latinLnBrk="0" hangingPunct="1">
              <a:lnSpc>
                <a:spcPct val="100000"/>
              </a:lnSpc>
              <a:spcBef>
                <a:spcPts val="670"/>
              </a:spcBef>
              <a:spcAft>
                <a:spcPts val="0"/>
              </a:spcAft>
              <a:buClrTx/>
              <a:buSzTx/>
              <a:buFontTx/>
              <a:buNone/>
              <a:tabLst/>
              <a:defRPr/>
            </a:pPr>
            <a:r>
              <a:rPr kumimoji="0" sz="1400" b="0" i="0" u="none" strike="noStrike" kern="0" cap="none" spc="0" normalizeH="0" baseline="0" noProof="0">
                <a:ln>
                  <a:noFill/>
                </a:ln>
                <a:solidFill>
                  <a:srgbClr val="565656"/>
                </a:solidFill>
                <a:effectLst/>
                <a:uLnTx/>
                <a:uFillTx/>
                <a:latin typeface="Trebuchet MS"/>
                <a:cs typeface="Trebuchet MS"/>
              </a:rPr>
              <a:t>Notification</a:t>
            </a:r>
            <a:r>
              <a:rPr kumimoji="0" sz="1400" b="0" i="0" u="none" strike="noStrike" kern="0" cap="none" spc="-55" normalizeH="0" baseline="0" noProof="0">
                <a:ln>
                  <a:noFill/>
                </a:ln>
                <a:solidFill>
                  <a:srgbClr val="565656"/>
                </a:solidFill>
                <a:effectLst/>
                <a:uLnTx/>
                <a:uFillTx/>
                <a:latin typeface="Trebuchet MS"/>
                <a:cs typeface="Trebuchet MS"/>
              </a:rPr>
              <a:t> </a:t>
            </a:r>
            <a:r>
              <a:rPr kumimoji="0" sz="1400" b="0" i="0" u="none" strike="noStrike" kern="0" cap="none" spc="0" normalizeH="0" baseline="0" noProof="0">
                <a:ln>
                  <a:noFill/>
                </a:ln>
                <a:solidFill>
                  <a:srgbClr val="565656"/>
                </a:solidFill>
                <a:effectLst/>
                <a:uLnTx/>
                <a:uFillTx/>
                <a:latin typeface="Trebuchet MS"/>
                <a:cs typeface="Trebuchet MS"/>
              </a:rPr>
              <a:t>of</a:t>
            </a:r>
            <a:r>
              <a:rPr kumimoji="0" sz="1400" b="0" i="0" u="none" strike="noStrike" kern="0" cap="none" spc="-30" normalizeH="0" baseline="0" noProof="0">
                <a:ln>
                  <a:noFill/>
                </a:ln>
                <a:solidFill>
                  <a:srgbClr val="565656"/>
                </a:solidFill>
                <a:effectLst/>
                <a:uLnTx/>
                <a:uFillTx/>
                <a:latin typeface="Trebuchet MS"/>
                <a:cs typeface="Trebuchet MS"/>
              </a:rPr>
              <a:t> </a:t>
            </a:r>
            <a:r>
              <a:rPr kumimoji="0" sz="1400" b="0" i="0" u="none" strike="noStrike" kern="0" cap="none" spc="0" normalizeH="0" baseline="0" noProof="0">
                <a:ln>
                  <a:noFill/>
                </a:ln>
                <a:solidFill>
                  <a:srgbClr val="565656"/>
                </a:solidFill>
                <a:effectLst/>
                <a:uLnTx/>
                <a:uFillTx/>
                <a:latin typeface="Trebuchet MS"/>
                <a:cs typeface="Trebuchet MS"/>
              </a:rPr>
              <a:t>customer</a:t>
            </a:r>
            <a:r>
              <a:rPr kumimoji="0" sz="1400" b="0" i="0" u="none" strike="noStrike" kern="0" cap="none" spc="-55" normalizeH="0" baseline="0" noProof="0">
                <a:ln>
                  <a:noFill/>
                </a:ln>
                <a:solidFill>
                  <a:srgbClr val="565656"/>
                </a:solidFill>
                <a:effectLst/>
                <a:uLnTx/>
                <a:uFillTx/>
                <a:latin typeface="Trebuchet MS"/>
                <a:cs typeface="Trebuchet MS"/>
              </a:rPr>
              <a:t> </a:t>
            </a:r>
            <a:r>
              <a:rPr kumimoji="0" sz="1400" b="0" i="0" u="none" strike="noStrike" kern="0" cap="none" spc="0" normalizeH="0" baseline="0" noProof="0">
                <a:ln>
                  <a:noFill/>
                </a:ln>
                <a:solidFill>
                  <a:srgbClr val="565656"/>
                </a:solidFill>
                <a:effectLst/>
                <a:uLnTx/>
                <a:uFillTx/>
                <a:latin typeface="Trebuchet MS"/>
                <a:cs typeface="Trebuchet MS"/>
              </a:rPr>
              <a:t>interest</a:t>
            </a:r>
            <a:r>
              <a:rPr kumimoji="0" sz="1400" b="0" i="0" u="none" strike="noStrike" kern="0" cap="none" spc="-35" normalizeH="0" baseline="0" noProof="0">
                <a:ln>
                  <a:noFill/>
                </a:ln>
                <a:solidFill>
                  <a:srgbClr val="565656"/>
                </a:solidFill>
                <a:effectLst/>
                <a:uLnTx/>
                <a:uFillTx/>
                <a:latin typeface="Trebuchet MS"/>
                <a:cs typeface="Trebuchet MS"/>
              </a:rPr>
              <a:t> </a:t>
            </a:r>
            <a:r>
              <a:rPr kumimoji="0" sz="1400" b="0" i="0" u="none" strike="noStrike" kern="0" cap="none" spc="-20" normalizeH="0" baseline="0" noProof="0">
                <a:ln>
                  <a:noFill/>
                </a:ln>
                <a:solidFill>
                  <a:srgbClr val="565656"/>
                </a:solidFill>
                <a:effectLst/>
                <a:uLnTx/>
                <a:uFillTx/>
                <a:latin typeface="Trebuchet MS"/>
                <a:cs typeface="Trebuchet MS"/>
              </a:rPr>
              <a:t>based </a:t>
            </a:r>
            <a:r>
              <a:rPr kumimoji="0" sz="1400" b="0" i="0" u="none" strike="noStrike" kern="0" cap="none" spc="0" normalizeH="0" baseline="0" noProof="0">
                <a:ln>
                  <a:noFill/>
                </a:ln>
                <a:solidFill>
                  <a:srgbClr val="565656"/>
                </a:solidFill>
                <a:effectLst/>
                <a:uLnTx/>
                <a:uFillTx/>
                <a:latin typeface="Trebuchet MS"/>
                <a:cs typeface="Trebuchet MS"/>
              </a:rPr>
              <a:t>on</a:t>
            </a:r>
            <a:r>
              <a:rPr kumimoji="0" sz="1400" b="0" i="0" u="none" strike="noStrike" kern="0" cap="none" spc="-35" normalizeH="0" baseline="0" noProof="0">
                <a:ln>
                  <a:noFill/>
                </a:ln>
                <a:solidFill>
                  <a:srgbClr val="565656"/>
                </a:solidFill>
                <a:effectLst/>
                <a:uLnTx/>
                <a:uFillTx/>
                <a:latin typeface="Trebuchet MS"/>
                <a:cs typeface="Trebuchet MS"/>
              </a:rPr>
              <a:t> </a:t>
            </a:r>
            <a:r>
              <a:rPr kumimoji="0" sz="1400" b="0" i="0" u="none" strike="noStrike" kern="0" cap="none" spc="0" normalizeH="0" baseline="0" noProof="0">
                <a:ln>
                  <a:noFill/>
                </a:ln>
                <a:solidFill>
                  <a:srgbClr val="565656"/>
                </a:solidFill>
                <a:effectLst/>
                <a:uLnTx/>
                <a:uFillTx/>
                <a:latin typeface="Trebuchet MS"/>
                <a:cs typeface="Trebuchet MS"/>
              </a:rPr>
              <a:t>previous</a:t>
            </a:r>
            <a:r>
              <a:rPr kumimoji="0" sz="1400" b="0" i="0" u="none" strike="noStrike" kern="0" cap="none" spc="-15" normalizeH="0" baseline="0" noProof="0">
                <a:ln>
                  <a:noFill/>
                </a:ln>
                <a:solidFill>
                  <a:srgbClr val="565656"/>
                </a:solidFill>
                <a:effectLst/>
                <a:uLnTx/>
                <a:uFillTx/>
                <a:latin typeface="Trebuchet MS"/>
                <a:cs typeface="Trebuchet MS"/>
              </a:rPr>
              <a:t> </a:t>
            </a:r>
            <a:r>
              <a:rPr kumimoji="0" sz="1400" b="0" i="0" u="none" strike="noStrike" kern="0" cap="none" spc="-10" normalizeH="0" baseline="0" noProof="0">
                <a:ln>
                  <a:noFill/>
                </a:ln>
                <a:solidFill>
                  <a:srgbClr val="565656"/>
                </a:solidFill>
                <a:effectLst/>
                <a:uLnTx/>
                <a:uFillTx/>
                <a:latin typeface="Trebuchet MS"/>
                <a:cs typeface="Trebuchet MS"/>
              </a:rPr>
              <a:t>interaction</a:t>
            </a:r>
            <a:endParaRPr kumimoji="0" sz="1400" b="0" i="0" u="none" strike="noStrike" kern="0" cap="none" spc="0" normalizeH="0" baseline="0" noProof="0">
              <a:ln>
                <a:noFill/>
              </a:ln>
              <a:solidFill>
                <a:sysClr val="windowText" lastClr="000000"/>
              </a:solidFill>
              <a:effectLst/>
              <a:uLnTx/>
              <a:uFillTx/>
              <a:latin typeface="Trebuchet MS"/>
              <a:cs typeface="Trebuchet MS"/>
            </a:endParaRPr>
          </a:p>
          <a:p>
            <a:pPr marL="0" marR="0" lvl="0" indent="0" defTabSz="914400" eaLnBrk="1" fontAlgn="auto" latinLnBrk="0" hangingPunct="1">
              <a:lnSpc>
                <a:spcPct val="100000"/>
              </a:lnSpc>
              <a:spcBef>
                <a:spcPts val="35"/>
              </a:spcBef>
              <a:spcAft>
                <a:spcPts val="0"/>
              </a:spcAft>
              <a:buClrTx/>
              <a:buSzTx/>
              <a:buFontTx/>
              <a:buNone/>
              <a:tabLst/>
              <a:defRPr/>
            </a:pPr>
            <a:endParaRPr kumimoji="0" sz="1400" b="0" i="0" u="none" strike="noStrike" kern="0" cap="none" spc="0" normalizeH="0" baseline="0" noProof="0">
              <a:ln>
                <a:noFill/>
              </a:ln>
              <a:solidFill>
                <a:sysClr val="windowText" lastClr="000000"/>
              </a:solidFill>
              <a:effectLst/>
              <a:uLnTx/>
              <a:uFillTx/>
              <a:latin typeface="Trebuchet MS"/>
              <a:cs typeface="Trebuchet MS"/>
            </a:endParaRPr>
          </a:p>
          <a:p>
            <a:pPr marL="101600" marR="0" lvl="0" indent="0" defTabSz="914400" eaLnBrk="1" fontAlgn="auto" latinLnBrk="0" hangingPunct="1">
              <a:lnSpc>
                <a:spcPct val="100000"/>
              </a:lnSpc>
              <a:spcBef>
                <a:spcPts val="0"/>
              </a:spcBef>
              <a:spcAft>
                <a:spcPts val="0"/>
              </a:spcAft>
              <a:buClrTx/>
              <a:buSzTx/>
              <a:buFontTx/>
              <a:buNone/>
              <a:tabLst/>
              <a:defRPr/>
            </a:pPr>
            <a:r>
              <a:rPr kumimoji="0" sz="1400" b="0" i="0" u="none" strike="noStrike" kern="0" cap="none" spc="-10" normalizeH="0" baseline="0" noProof="0">
                <a:ln>
                  <a:noFill/>
                </a:ln>
                <a:solidFill>
                  <a:srgbClr val="565656"/>
                </a:solidFill>
                <a:effectLst/>
                <a:uLnTx/>
                <a:uFillTx/>
                <a:latin typeface="Trebuchet MS"/>
                <a:cs typeface="Trebuchet MS"/>
              </a:rPr>
              <a:t>Periodic</a:t>
            </a:r>
            <a:r>
              <a:rPr kumimoji="0" sz="1400" b="0" i="0" u="none" strike="noStrike" kern="0" cap="none" spc="-50" normalizeH="0" baseline="0" noProof="0">
                <a:ln>
                  <a:noFill/>
                </a:ln>
                <a:solidFill>
                  <a:srgbClr val="565656"/>
                </a:solidFill>
                <a:effectLst/>
                <a:uLnTx/>
                <a:uFillTx/>
                <a:latin typeface="Trebuchet MS"/>
                <a:cs typeface="Trebuchet MS"/>
              </a:rPr>
              <a:t> </a:t>
            </a:r>
            <a:r>
              <a:rPr kumimoji="0" sz="1400" b="0" i="0" u="none" strike="noStrike" kern="0" cap="none" spc="-10" normalizeH="0" baseline="0" noProof="0">
                <a:ln>
                  <a:noFill/>
                </a:ln>
                <a:solidFill>
                  <a:srgbClr val="565656"/>
                </a:solidFill>
                <a:effectLst/>
                <a:uLnTx/>
                <a:uFillTx/>
                <a:latin typeface="Trebuchet MS"/>
                <a:cs typeface="Trebuchet MS"/>
              </a:rPr>
              <a:t>review</a:t>
            </a:r>
            <a:r>
              <a:rPr kumimoji="0" sz="1350" b="0" i="0" u="none" strike="noStrike" kern="0" cap="none" spc="-15" normalizeH="0" baseline="24691" noProof="0">
                <a:ln>
                  <a:noFill/>
                </a:ln>
                <a:solidFill>
                  <a:srgbClr val="565656"/>
                </a:solidFill>
                <a:effectLst/>
                <a:uLnTx/>
                <a:uFillTx/>
                <a:latin typeface="Trebuchet MS"/>
                <a:cs typeface="Trebuchet MS"/>
              </a:rPr>
              <a:t>3</a:t>
            </a:r>
            <a:endParaRPr kumimoji="0" sz="1350" b="0" i="0" u="none" strike="noStrike" kern="0" cap="none" spc="0" normalizeH="0" baseline="24691" noProof="0">
              <a:ln>
                <a:noFill/>
              </a:ln>
              <a:solidFill>
                <a:sysClr val="windowText" lastClr="000000"/>
              </a:solidFill>
              <a:effectLst/>
              <a:uLnTx/>
              <a:uFillTx/>
              <a:latin typeface="Trebuchet MS"/>
              <a:cs typeface="Trebuchet MS"/>
            </a:endParaRPr>
          </a:p>
          <a:p>
            <a:pPr marL="101600" marR="327025" lvl="0" indent="0" defTabSz="914400" eaLnBrk="1" fontAlgn="auto" latinLnBrk="0" hangingPunct="1">
              <a:lnSpc>
                <a:spcPct val="100000"/>
              </a:lnSpc>
              <a:spcBef>
                <a:spcPts val="1620"/>
              </a:spcBef>
              <a:spcAft>
                <a:spcPts val="0"/>
              </a:spcAft>
              <a:buClrTx/>
              <a:buSzTx/>
              <a:buFontTx/>
              <a:buNone/>
              <a:tabLst/>
              <a:defRPr/>
            </a:pPr>
            <a:r>
              <a:rPr kumimoji="0" sz="1400" b="0" i="0" u="none" strike="noStrike" kern="0" cap="none" spc="0" normalizeH="0" baseline="0" noProof="0">
                <a:ln>
                  <a:noFill/>
                </a:ln>
                <a:solidFill>
                  <a:srgbClr val="565656"/>
                </a:solidFill>
                <a:effectLst/>
                <a:uLnTx/>
                <a:uFillTx/>
                <a:latin typeface="Trebuchet MS"/>
                <a:cs typeface="Trebuchet MS"/>
              </a:rPr>
              <a:t>Upsell/x-sell</a:t>
            </a:r>
            <a:r>
              <a:rPr kumimoji="0" sz="1400" b="0" i="0" u="none" strike="noStrike" kern="0" cap="none" spc="-30" normalizeH="0" baseline="0" noProof="0">
                <a:ln>
                  <a:noFill/>
                </a:ln>
                <a:solidFill>
                  <a:srgbClr val="565656"/>
                </a:solidFill>
                <a:effectLst/>
                <a:uLnTx/>
                <a:uFillTx/>
                <a:latin typeface="Trebuchet MS"/>
                <a:cs typeface="Trebuchet MS"/>
              </a:rPr>
              <a:t> </a:t>
            </a:r>
            <a:r>
              <a:rPr kumimoji="0" sz="1400" b="0" i="0" u="none" strike="noStrike" kern="0" cap="none" spc="0" normalizeH="0" baseline="0" noProof="0">
                <a:ln>
                  <a:noFill/>
                </a:ln>
                <a:solidFill>
                  <a:srgbClr val="565656"/>
                </a:solidFill>
                <a:effectLst/>
                <a:uLnTx/>
                <a:uFillTx/>
                <a:latin typeface="Trebuchet MS"/>
                <a:cs typeface="Trebuchet MS"/>
              </a:rPr>
              <a:t>discussion</a:t>
            </a:r>
            <a:r>
              <a:rPr kumimoji="0" sz="1400" b="0" i="0" u="none" strike="noStrike" kern="0" cap="none" spc="-55" normalizeH="0" baseline="0" noProof="0">
                <a:ln>
                  <a:noFill/>
                </a:ln>
                <a:solidFill>
                  <a:srgbClr val="565656"/>
                </a:solidFill>
                <a:effectLst/>
                <a:uLnTx/>
                <a:uFillTx/>
                <a:latin typeface="Trebuchet MS"/>
                <a:cs typeface="Trebuchet MS"/>
              </a:rPr>
              <a:t> </a:t>
            </a:r>
            <a:r>
              <a:rPr kumimoji="0" sz="1400" b="0" i="0" u="none" strike="noStrike" kern="0" cap="none" spc="0" normalizeH="0" baseline="0" noProof="0">
                <a:ln>
                  <a:noFill/>
                </a:ln>
                <a:solidFill>
                  <a:srgbClr val="565656"/>
                </a:solidFill>
                <a:effectLst/>
                <a:uLnTx/>
                <a:uFillTx/>
                <a:latin typeface="Trebuchet MS"/>
                <a:cs typeface="Trebuchet MS"/>
              </a:rPr>
              <a:t>based</a:t>
            </a:r>
            <a:r>
              <a:rPr kumimoji="0" sz="1400" b="0" i="0" u="none" strike="noStrike" kern="0" cap="none" spc="-20" normalizeH="0" baseline="0" noProof="0">
                <a:ln>
                  <a:noFill/>
                </a:ln>
                <a:solidFill>
                  <a:srgbClr val="565656"/>
                </a:solidFill>
                <a:effectLst/>
                <a:uLnTx/>
                <a:uFillTx/>
                <a:latin typeface="Trebuchet MS"/>
                <a:cs typeface="Trebuchet MS"/>
              </a:rPr>
              <a:t> </a:t>
            </a:r>
            <a:r>
              <a:rPr kumimoji="0" sz="1400" b="0" i="0" u="none" strike="noStrike" kern="0" cap="none" spc="0" normalizeH="0" baseline="0" noProof="0">
                <a:ln>
                  <a:noFill/>
                </a:ln>
                <a:solidFill>
                  <a:srgbClr val="565656"/>
                </a:solidFill>
                <a:effectLst/>
                <a:uLnTx/>
                <a:uFillTx/>
                <a:latin typeface="Trebuchet MS"/>
                <a:cs typeface="Trebuchet MS"/>
              </a:rPr>
              <a:t>on</a:t>
            </a:r>
            <a:r>
              <a:rPr kumimoji="0" sz="1400" b="0" i="0" u="none" strike="noStrike" kern="0" cap="none" spc="-30" normalizeH="0" baseline="0" noProof="0">
                <a:ln>
                  <a:noFill/>
                </a:ln>
                <a:solidFill>
                  <a:srgbClr val="565656"/>
                </a:solidFill>
                <a:effectLst/>
                <a:uLnTx/>
                <a:uFillTx/>
                <a:latin typeface="Trebuchet MS"/>
                <a:cs typeface="Trebuchet MS"/>
              </a:rPr>
              <a:t> </a:t>
            </a:r>
            <a:r>
              <a:rPr kumimoji="0" sz="1400" b="0" i="0" u="none" strike="noStrike" kern="0" cap="none" spc="-25" normalizeH="0" baseline="0" noProof="0">
                <a:ln>
                  <a:noFill/>
                </a:ln>
                <a:solidFill>
                  <a:srgbClr val="565656"/>
                </a:solidFill>
                <a:effectLst/>
                <a:uLnTx/>
                <a:uFillTx/>
                <a:latin typeface="Trebuchet MS"/>
                <a:cs typeface="Trebuchet MS"/>
              </a:rPr>
              <a:t>new </a:t>
            </a:r>
            <a:r>
              <a:rPr kumimoji="0" sz="1400" b="0" i="0" u="none" strike="noStrike" kern="0" cap="none" spc="0" normalizeH="0" baseline="0" noProof="0">
                <a:ln>
                  <a:noFill/>
                </a:ln>
                <a:solidFill>
                  <a:srgbClr val="565656"/>
                </a:solidFill>
                <a:effectLst/>
                <a:uLnTx/>
                <a:uFillTx/>
                <a:latin typeface="Trebuchet MS"/>
                <a:cs typeface="Trebuchet MS"/>
              </a:rPr>
              <a:t>product</a:t>
            </a:r>
            <a:r>
              <a:rPr kumimoji="0" sz="1400" b="0" i="0" u="none" strike="noStrike" kern="0" cap="none" spc="-50" normalizeH="0" baseline="0" noProof="0">
                <a:ln>
                  <a:noFill/>
                </a:ln>
                <a:solidFill>
                  <a:srgbClr val="565656"/>
                </a:solidFill>
                <a:effectLst/>
                <a:uLnTx/>
                <a:uFillTx/>
                <a:latin typeface="Trebuchet MS"/>
                <a:cs typeface="Trebuchet MS"/>
              </a:rPr>
              <a:t> </a:t>
            </a:r>
            <a:r>
              <a:rPr kumimoji="0" sz="1400" b="0" i="0" u="none" strike="noStrike" kern="0" cap="none" spc="-10" normalizeH="0" baseline="0" noProof="0">
                <a:ln>
                  <a:noFill/>
                </a:ln>
                <a:solidFill>
                  <a:srgbClr val="565656"/>
                </a:solidFill>
                <a:effectLst/>
                <a:uLnTx/>
                <a:uFillTx/>
                <a:latin typeface="Trebuchet MS"/>
                <a:cs typeface="Trebuchet MS"/>
              </a:rPr>
              <a:t>release</a:t>
            </a:r>
            <a:endParaRPr kumimoji="0" sz="1400" b="0" i="0" u="none" strike="noStrike" kern="0" cap="none" spc="0" normalizeH="0" baseline="0" noProof="0">
              <a:ln>
                <a:noFill/>
              </a:ln>
              <a:solidFill>
                <a:sysClr val="windowText" lastClr="000000"/>
              </a:solidFill>
              <a:effectLst/>
              <a:uLnTx/>
              <a:uFillTx/>
              <a:latin typeface="Trebuchet MS"/>
              <a:cs typeface="Trebuchet MS"/>
            </a:endParaRPr>
          </a:p>
          <a:p>
            <a:pPr marL="101600" marR="0" lvl="0" indent="0" defTabSz="914400" eaLnBrk="1" fontAlgn="auto" latinLnBrk="0" hangingPunct="1">
              <a:lnSpc>
                <a:spcPct val="100000"/>
              </a:lnSpc>
              <a:spcBef>
                <a:spcPts val="1580"/>
              </a:spcBef>
              <a:spcAft>
                <a:spcPts val="0"/>
              </a:spcAft>
              <a:buClrTx/>
              <a:buSzTx/>
              <a:buFontTx/>
              <a:buNone/>
              <a:tabLst/>
              <a:defRPr/>
            </a:pPr>
            <a:r>
              <a:rPr kumimoji="0" sz="1400" b="0" i="0" u="none" strike="noStrike" kern="0" cap="none" spc="0" normalizeH="0" baseline="0" noProof="0">
                <a:ln>
                  <a:noFill/>
                </a:ln>
                <a:solidFill>
                  <a:srgbClr val="565656"/>
                </a:solidFill>
                <a:effectLst/>
                <a:uLnTx/>
                <a:uFillTx/>
                <a:latin typeface="Trebuchet MS"/>
                <a:cs typeface="Trebuchet MS"/>
              </a:rPr>
              <a:t>RM</a:t>
            </a:r>
            <a:r>
              <a:rPr kumimoji="0" sz="1400" b="0" i="0" u="none" strike="noStrike" kern="0" cap="none" spc="-35" normalizeH="0" baseline="0" noProof="0">
                <a:ln>
                  <a:noFill/>
                </a:ln>
                <a:solidFill>
                  <a:srgbClr val="565656"/>
                </a:solidFill>
                <a:effectLst/>
                <a:uLnTx/>
                <a:uFillTx/>
                <a:latin typeface="Trebuchet MS"/>
                <a:cs typeface="Trebuchet MS"/>
              </a:rPr>
              <a:t> </a:t>
            </a:r>
            <a:r>
              <a:rPr kumimoji="0" sz="1400" b="0" i="0" u="none" strike="noStrike" kern="0" cap="none" spc="0" normalizeH="0" baseline="0" noProof="0">
                <a:ln>
                  <a:noFill/>
                </a:ln>
                <a:solidFill>
                  <a:srgbClr val="565656"/>
                </a:solidFill>
                <a:effectLst/>
                <a:uLnTx/>
                <a:uFillTx/>
                <a:latin typeface="Trebuchet MS"/>
                <a:cs typeface="Trebuchet MS"/>
              </a:rPr>
              <a:t>judgment</a:t>
            </a:r>
            <a:r>
              <a:rPr kumimoji="0" sz="1400" b="0" i="0" u="none" strike="noStrike" kern="0" cap="none" spc="-40" normalizeH="0" baseline="0" noProof="0">
                <a:ln>
                  <a:noFill/>
                </a:ln>
                <a:solidFill>
                  <a:srgbClr val="565656"/>
                </a:solidFill>
                <a:effectLst/>
                <a:uLnTx/>
                <a:uFillTx/>
                <a:latin typeface="Trebuchet MS"/>
                <a:cs typeface="Trebuchet MS"/>
              </a:rPr>
              <a:t> </a:t>
            </a:r>
            <a:r>
              <a:rPr kumimoji="0" sz="1400" b="0" i="0" u="none" strike="noStrike" kern="0" cap="none" spc="0" normalizeH="0" baseline="0" noProof="0">
                <a:ln>
                  <a:noFill/>
                </a:ln>
                <a:solidFill>
                  <a:srgbClr val="565656"/>
                </a:solidFill>
                <a:effectLst/>
                <a:uLnTx/>
                <a:uFillTx/>
                <a:latin typeface="Trebuchet MS"/>
                <a:cs typeface="Trebuchet MS"/>
              </a:rPr>
              <a:t>to</a:t>
            </a:r>
            <a:r>
              <a:rPr kumimoji="0" sz="1400" b="0" i="0" u="none" strike="noStrike" kern="0" cap="none" spc="-20" normalizeH="0" baseline="0" noProof="0">
                <a:ln>
                  <a:noFill/>
                </a:ln>
                <a:solidFill>
                  <a:srgbClr val="565656"/>
                </a:solidFill>
                <a:effectLst/>
                <a:uLnTx/>
                <a:uFillTx/>
                <a:latin typeface="Trebuchet MS"/>
                <a:cs typeface="Trebuchet MS"/>
              </a:rPr>
              <a:t> </a:t>
            </a:r>
            <a:r>
              <a:rPr kumimoji="0" sz="1400" b="0" i="0" u="none" strike="noStrike" kern="0" cap="none" spc="0" normalizeH="0" baseline="0" noProof="0">
                <a:ln>
                  <a:noFill/>
                </a:ln>
                <a:solidFill>
                  <a:srgbClr val="565656"/>
                </a:solidFill>
                <a:effectLst/>
                <a:uLnTx/>
                <a:uFillTx/>
                <a:latin typeface="Trebuchet MS"/>
                <a:cs typeface="Trebuchet MS"/>
              </a:rPr>
              <a:t>build</a:t>
            </a:r>
            <a:r>
              <a:rPr kumimoji="0" sz="1400" b="0" i="0" u="none" strike="noStrike" kern="0" cap="none" spc="-40" normalizeH="0" baseline="0" noProof="0">
                <a:ln>
                  <a:noFill/>
                </a:ln>
                <a:solidFill>
                  <a:srgbClr val="565656"/>
                </a:solidFill>
                <a:effectLst/>
                <a:uLnTx/>
                <a:uFillTx/>
                <a:latin typeface="Trebuchet MS"/>
                <a:cs typeface="Trebuchet MS"/>
              </a:rPr>
              <a:t> </a:t>
            </a:r>
            <a:r>
              <a:rPr kumimoji="0" sz="1400" b="0" i="0" u="none" strike="noStrike" kern="0" cap="none" spc="-10" normalizeH="0" baseline="0" noProof="0">
                <a:ln>
                  <a:noFill/>
                </a:ln>
                <a:solidFill>
                  <a:srgbClr val="565656"/>
                </a:solidFill>
                <a:effectLst/>
                <a:uLnTx/>
                <a:uFillTx/>
                <a:latin typeface="Trebuchet MS"/>
                <a:cs typeface="Trebuchet MS"/>
              </a:rPr>
              <a:t>relationship</a:t>
            </a:r>
            <a:r>
              <a:rPr kumimoji="0" sz="1350" b="0" i="0" u="none" strike="noStrike" kern="0" cap="none" spc="-15" normalizeH="0" baseline="24691" noProof="0">
                <a:ln>
                  <a:noFill/>
                </a:ln>
                <a:solidFill>
                  <a:srgbClr val="565656"/>
                </a:solidFill>
                <a:effectLst/>
                <a:uLnTx/>
                <a:uFillTx/>
                <a:latin typeface="Trebuchet MS"/>
                <a:cs typeface="Trebuchet MS"/>
              </a:rPr>
              <a:t>4</a:t>
            </a:r>
            <a:endParaRPr kumimoji="0" sz="1350" b="0" i="0" u="none" strike="noStrike" kern="0" cap="none" spc="0" normalizeH="0" baseline="24691" noProof="0">
              <a:ln>
                <a:noFill/>
              </a:ln>
              <a:solidFill>
                <a:sysClr val="windowText" lastClr="000000"/>
              </a:solidFill>
              <a:effectLst/>
              <a:uLnTx/>
              <a:uFillTx/>
              <a:latin typeface="Trebuchet MS"/>
              <a:cs typeface="Trebuchet MS"/>
            </a:endParaRPr>
          </a:p>
        </p:txBody>
      </p:sp>
      <p:grpSp>
        <p:nvGrpSpPr>
          <p:cNvPr id="16" name="object 16"/>
          <p:cNvGrpSpPr/>
          <p:nvPr/>
        </p:nvGrpSpPr>
        <p:grpSpPr>
          <a:xfrm>
            <a:off x="7523988" y="2462783"/>
            <a:ext cx="523240" cy="3702050"/>
            <a:chOff x="7523988" y="2462783"/>
            <a:chExt cx="523240" cy="3702050"/>
          </a:xfrm>
        </p:grpSpPr>
        <p:sp>
          <p:nvSpPr>
            <p:cNvPr id="17" name="object 17"/>
            <p:cNvSpPr/>
            <p:nvPr/>
          </p:nvSpPr>
          <p:spPr>
            <a:xfrm>
              <a:off x="7523988" y="2462783"/>
              <a:ext cx="523240" cy="3702050"/>
            </a:xfrm>
            <a:custGeom>
              <a:avLst/>
              <a:gdLst/>
              <a:ahLst/>
              <a:cxnLst/>
              <a:rect l="l" t="t" r="r" b="b"/>
              <a:pathLst>
                <a:path w="523240" h="3702050">
                  <a:moveTo>
                    <a:pt x="522732" y="3142488"/>
                  </a:moveTo>
                  <a:lnTo>
                    <a:pt x="261366" y="3205238"/>
                  </a:lnTo>
                  <a:lnTo>
                    <a:pt x="0" y="3142488"/>
                  </a:lnTo>
                  <a:lnTo>
                    <a:pt x="0" y="3639045"/>
                  </a:lnTo>
                  <a:lnTo>
                    <a:pt x="261366" y="3701796"/>
                  </a:lnTo>
                  <a:lnTo>
                    <a:pt x="522732" y="3639045"/>
                  </a:lnTo>
                  <a:lnTo>
                    <a:pt x="522732" y="3142488"/>
                  </a:lnTo>
                  <a:close/>
                </a:path>
                <a:path w="523240" h="3702050">
                  <a:moveTo>
                    <a:pt x="522732" y="2618232"/>
                  </a:moveTo>
                  <a:lnTo>
                    <a:pt x="261366" y="2680970"/>
                  </a:lnTo>
                  <a:lnTo>
                    <a:pt x="0" y="2618232"/>
                  </a:lnTo>
                  <a:lnTo>
                    <a:pt x="0" y="3116326"/>
                  </a:lnTo>
                  <a:lnTo>
                    <a:pt x="261366" y="3179064"/>
                  </a:lnTo>
                  <a:lnTo>
                    <a:pt x="522732" y="3116326"/>
                  </a:lnTo>
                  <a:lnTo>
                    <a:pt x="522732" y="2618232"/>
                  </a:lnTo>
                  <a:close/>
                </a:path>
                <a:path w="523240" h="3702050">
                  <a:moveTo>
                    <a:pt x="522732" y="2095500"/>
                  </a:moveTo>
                  <a:lnTo>
                    <a:pt x="261366" y="2158238"/>
                  </a:lnTo>
                  <a:lnTo>
                    <a:pt x="0" y="2095500"/>
                  </a:lnTo>
                  <a:lnTo>
                    <a:pt x="0" y="2592070"/>
                  </a:lnTo>
                  <a:lnTo>
                    <a:pt x="261366" y="2654808"/>
                  </a:lnTo>
                  <a:lnTo>
                    <a:pt x="522732" y="2592070"/>
                  </a:lnTo>
                  <a:lnTo>
                    <a:pt x="522732" y="2095500"/>
                  </a:lnTo>
                  <a:close/>
                </a:path>
                <a:path w="523240" h="3702050">
                  <a:moveTo>
                    <a:pt x="522732" y="1046988"/>
                  </a:moveTo>
                  <a:lnTo>
                    <a:pt x="261366" y="1109726"/>
                  </a:lnTo>
                  <a:lnTo>
                    <a:pt x="0" y="1046988"/>
                  </a:lnTo>
                  <a:lnTo>
                    <a:pt x="0" y="1545082"/>
                  </a:lnTo>
                  <a:lnTo>
                    <a:pt x="261366" y="1607820"/>
                  </a:lnTo>
                  <a:lnTo>
                    <a:pt x="522732" y="1545082"/>
                  </a:lnTo>
                  <a:lnTo>
                    <a:pt x="522732" y="1046988"/>
                  </a:lnTo>
                  <a:close/>
                </a:path>
                <a:path w="523240" h="3702050">
                  <a:moveTo>
                    <a:pt x="522732" y="524256"/>
                  </a:moveTo>
                  <a:lnTo>
                    <a:pt x="261366" y="586994"/>
                  </a:lnTo>
                  <a:lnTo>
                    <a:pt x="0" y="524256"/>
                  </a:lnTo>
                  <a:lnTo>
                    <a:pt x="0" y="1020826"/>
                  </a:lnTo>
                  <a:lnTo>
                    <a:pt x="261366" y="1083564"/>
                  </a:lnTo>
                  <a:lnTo>
                    <a:pt x="522732" y="1020826"/>
                  </a:lnTo>
                  <a:lnTo>
                    <a:pt x="522732" y="524256"/>
                  </a:lnTo>
                  <a:close/>
                </a:path>
                <a:path w="523240" h="3702050">
                  <a:moveTo>
                    <a:pt x="522732" y="0"/>
                  </a:moveTo>
                  <a:lnTo>
                    <a:pt x="0" y="0"/>
                  </a:lnTo>
                  <a:lnTo>
                    <a:pt x="0" y="496570"/>
                  </a:lnTo>
                  <a:lnTo>
                    <a:pt x="261366" y="559308"/>
                  </a:lnTo>
                  <a:lnTo>
                    <a:pt x="522732" y="496570"/>
                  </a:lnTo>
                  <a:lnTo>
                    <a:pt x="522732" y="0"/>
                  </a:lnTo>
                  <a:close/>
                </a:path>
              </a:pathLst>
            </a:custGeom>
            <a:solidFill>
              <a:srgbClr val="29B974"/>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pic>
          <p:nvPicPr>
            <p:cNvPr id="18" name="object 18"/>
            <p:cNvPicPr/>
            <p:nvPr/>
          </p:nvPicPr>
          <p:blipFill>
            <a:blip r:embed="rId5" cstate="print"/>
            <a:stretch>
              <a:fillRect/>
            </a:stretch>
          </p:blipFill>
          <p:spPr>
            <a:xfrm>
              <a:off x="7583678" y="2513329"/>
              <a:ext cx="383540" cy="383540"/>
            </a:xfrm>
            <a:prstGeom prst="rect">
              <a:avLst/>
            </a:prstGeom>
          </p:spPr>
        </p:pic>
        <p:pic>
          <p:nvPicPr>
            <p:cNvPr id="19" name="object 19"/>
            <p:cNvPicPr/>
            <p:nvPr/>
          </p:nvPicPr>
          <p:blipFill>
            <a:blip r:embed="rId6" cstate="print"/>
            <a:stretch>
              <a:fillRect/>
            </a:stretch>
          </p:blipFill>
          <p:spPr>
            <a:xfrm>
              <a:off x="7677912" y="2644139"/>
              <a:ext cx="193548" cy="131063"/>
            </a:xfrm>
            <a:prstGeom prst="rect">
              <a:avLst/>
            </a:prstGeom>
          </p:spPr>
        </p:pic>
        <p:pic>
          <p:nvPicPr>
            <p:cNvPr id="20" name="object 20"/>
            <p:cNvPicPr/>
            <p:nvPr/>
          </p:nvPicPr>
          <p:blipFill>
            <a:blip r:embed="rId7" cstate="print"/>
            <a:stretch>
              <a:fillRect/>
            </a:stretch>
          </p:blipFill>
          <p:spPr>
            <a:xfrm>
              <a:off x="7583678" y="3598417"/>
              <a:ext cx="383540" cy="383540"/>
            </a:xfrm>
            <a:prstGeom prst="rect">
              <a:avLst/>
            </a:prstGeom>
          </p:spPr>
        </p:pic>
        <p:pic>
          <p:nvPicPr>
            <p:cNvPr id="21" name="object 21"/>
            <p:cNvPicPr/>
            <p:nvPr/>
          </p:nvPicPr>
          <p:blipFill>
            <a:blip r:embed="rId8" cstate="print"/>
            <a:stretch>
              <a:fillRect/>
            </a:stretch>
          </p:blipFill>
          <p:spPr>
            <a:xfrm>
              <a:off x="7674864" y="3703319"/>
              <a:ext cx="199643" cy="173736"/>
            </a:xfrm>
            <a:prstGeom prst="rect">
              <a:avLst/>
            </a:prstGeom>
          </p:spPr>
        </p:pic>
        <p:sp>
          <p:nvSpPr>
            <p:cNvPr id="22" name="object 22"/>
            <p:cNvSpPr/>
            <p:nvPr/>
          </p:nvSpPr>
          <p:spPr>
            <a:xfrm>
              <a:off x="7523988" y="4034027"/>
              <a:ext cx="523240" cy="559435"/>
            </a:xfrm>
            <a:custGeom>
              <a:avLst/>
              <a:gdLst/>
              <a:ahLst/>
              <a:cxnLst/>
              <a:rect l="l" t="t" r="r" b="b"/>
              <a:pathLst>
                <a:path w="523240" h="559435">
                  <a:moveTo>
                    <a:pt x="522731" y="0"/>
                  </a:moveTo>
                  <a:lnTo>
                    <a:pt x="261365" y="62738"/>
                  </a:lnTo>
                  <a:lnTo>
                    <a:pt x="0" y="0"/>
                  </a:lnTo>
                  <a:lnTo>
                    <a:pt x="0" y="496570"/>
                  </a:lnTo>
                  <a:lnTo>
                    <a:pt x="261365" y="559308"/>
                  </a:lnTo>
                  <a:lnTo>
                    <a:pt x="522731" y="496570"/>
                  </a:lnTo>
                  <a:lnTo>
                    <a:pt x="522731" y="0"/>
                  </a:lnTo>
                  <a:close/>
                </a:path>
              </a:pathLst>
            </a:custGeom>
            <a:solidFill>
              <a:srgbClr val="29B974"/>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pic>
          <p:nvPicPr>
            <p:cNvPr id="23" name="object 23"/>
            <p:cNvPicPr/>
            <p:nvPr/>
          </p:nvPicPr>
          <p:blipFill>
            <a:blip r:embed="rId5" cstate="print"/>
            <a:stretch>
              <a:fillRect/>
            </a:stretch>
          </p:blipFill>
          <p:spPr>
            <a:xfrm>
              <a:off x="7583678" y="4646929"/>
              <a:ext cx="383540" cy="383539"/>
            </a:xfrm>
            <a:prstGeom prst="rect">
              <a:avLst/>
            </a:prstGeom>
          </p:spPr>
        </p:pic>
        <p:pic>
          <p:nvPicPr>
            <p:cNvPr id="24" name="object 24"/>
            <p:cNvPicPr/>
            <p:nvPr/>
          </p:nvPicPr>
          <p:blipFill>
            <a:blip r:embed="rId9" cstate="print"/>
            <a:stretch>
              <a:fillRect/>
            </a:stretch>
          </p:blipFill>
          <p:spPr>
            <a:xfrm>
              <a:off x="7727569" y="4733544"/>
              <a:ext cx="94233" cy="207263"/>
            </a:xfrm>
            <a:prstGeom prst="rect">
              <a:avLst/>
            </a:prstGeom>
          </p:spPr>
        </p:pic>
        <p:pic>
          <p:nvPicPr>
            <p:cNvPr id="25" name="object 25"/>
            <p:cNvPicPr/>
            <p:nvPr/>
          </p:nvPicPr>
          <p:blipFill>
            <a:blip r:embed="rId10" cstate="print"/>
            <a:stretch>
              <a:fillRect/>
            </a:stretch>
          </p:blipFill>
          <p:spPr>
            <a:xfrm>
              <a:off x="7583678" y="5169661"/>
              <a:ext cx="383540" cy="383540"/>
            </a:xfrm>
            <a:prstGeom prst="rect">
              <a:avLst/>
            </a:prstGeom>
          </p:spPr>
        </p:pic>
        <p:pic>
          <p:nvPicPr>
            <p:cNvPr id="26" name="object 26"/>
            <p:cNvPicPr/>
            <p:nvPr/>
          </p:nvPicPr>
          <p:blipFill>
            <a:blip r:embed="rId11" cstate="print"/>
            <a:stretch>
              <a:fillRect/>
            </a:stretch>
          </p:blipFill>
          <p:spPr>
            <a:xfrm>
              <a:off x="7687056" y="5311139"/>
              <a:ext cx="176784" cy="140207"/>
            </a:xfrm>
            <a:prstGeom prst="rect">
              <a:avLst/>
            </a:prstGeom>
          </p:spPr>
        </p:pic>
        <p:pic>
          <p:nvPicPr>
            <p:cNvPr id="27" name="object 27"/>
            <p:cNvPicPr/>
            <p:nvPr/>
          </p:nvPicPr>
          <p:blipFill>
            <a:blip r:embed="rId12" cstate="print"/>
            <a:stretch>
              <a:fillRect/>
            </a:stretch>
          </p:blipFill>
          <p:spPr>
            <a:xfrm>
              <a:off x="7583678" y="5693930"/>
              <a:ext cx="383540" cy="383514"/>
            </a:xfrm>
            <a:prstGeom prst="rect">
              <a:avLst/>
            </a:prstGeom>
          </p:spPr>
        </p:pic>
        <p:pic>
          <p:nvPicPr>
            <p:cNvPr id="28" name="object 28"/>
            <p:cNvPicPr/>
            <p:nvPr/>
          </p:nvPicPr>
          <p:blipFill>
            <a:blip r:embed="rId13" cstate="print"/>
            <a:stretch>
              <a:fillRect/>
            </a:stretch>
          </p:blipFill>
          <p:spPr>
            <a:xfrm>
              <a:off x="7670292" y="5811012"/>
              <a:ext cx="208787" cy="149351"/>
            </a:xfrm>
            <a:prstGeom prst="rect">
              <a:avLst/>
            </a:prstGeom>
          </p:spPr>
        </p:pic>
        <p:pic>
          <p:nvPicPr>
            <p:cNvPr id="29" name="object 29"/>
            <p:cNvPicPr/>
            <p:nvPr/>
          </p:nvPicPr>
          <p:blipFill>
            <a:blip r:embed="rId14" cstate="print"/>
            <a:stretch>
              <a:fillRect/>
            </a:stretch>
          </p:blipFill>
          <p:spPr>
            <a:xfrm>
              <a:off x="7583678" y="4122673"/>
              <a:ext cx="383540" cy="383539"/>
            </a:xfrm>
            <a:prstGeom prst="rect">
              <a:avLst/>
            </a:prstGeom>
          </p:spPr>
        </p:pic>
        <p:pic>
          <p:nvPicPr>
            <p:cNvPr id="30" name="object 30"/>
            <p:cNvPicPr/>
            <p:nvPr/>
          </p:nvPicPr>
          <p:blipFill>
            <a:blip r:embed="rId15" cstate="print"/>
            <a:stretch>
              <a:fillRect/>
            </a:stretch>
          </p:blipFill>
          <p:spPr>
            <a:xfrm>
              <a:off x="7697724" y="4209288"/>
              <a:ext cx="153924" cy="208787"/>
            </a:xfrm>
            <a:prstGeom prst="rect">
              <a:avLst/>
            </a:prstGeom>
          </p:spPr>
        </p:pic>
        <p:pic>
          <p:nvPicPr>
            <p:cNvPr id="31" name="object 31"/>
            <p:cNvPicPr/>
            <p:nvPr/>
          </p:nvPicPr>
          <p:blipFill>
            <a:blip r:embed="rId14" cstate="print"/>
            <a:stretch>
              <a:fillRect/>
            </a:stretch>
          </p:blipFill>
          <p:spPr>
            <a:xfrm>
              <a:off x="7583678" y="3075685"/>
              <a:ext cx="383540" cy="383539"/>
            </a:xfrm>
            <a:prstGeom prst="rect">
              <a:avLst/>
            </a:prstGeom>
          </p:spPr>
        </p:pic>
        <p:pic>
          <p:nvPicPr>
            <p:cNvPr id="32" name="object 32"/>
            <p:cNvPicPr/>
            <p:nvPr/>
          </p:nvPicPr>
          <p:blipFill>
            <a:blip r:embed="rId16" cstate="print"/>
            <a:stretch>
              <a:fillRect/>
            </a:stretch>
          </p:blipFill>
          <p:spPr>
            <a:xfrm>
              <a:off x="7667244" y="3157727"/>
              <a:ext cx="216407" cy="216408"/>
            </a:xfrm>
            <a:prstGeom prst="rect">
              <a:avLst/>
            </a:prstGeom>
          </p:spPr>
        </p:pic>
      </p:gr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2AB11627-26D7-8855-AEF0-F8C83D93D4B8}"/>
              </a:ext>
            </a:extLst>
          </p:cNvPr>
          <p:cNvGraphicFramePr>
            <a:graphicFrameLocks noChangeAspect="1"/>
          </p:cNvGraphicFramePr>
          <p:nvPr>
            <p:custDataLst>
              <p:tags r:id="rId1"/>
            </p:custDataLst>
            <p:extLst>
              <p:ext uri="{D42A27DB-BD31-4B8C-83A1-F6EECF244321}">
                <p14:modId xmlns:p14="http://schemas.microsoft.com/office/powerpoint/2010/main" val="206798312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04" imgH="405" progId="TCLayout.ActiveDocument.1">
                  <p:embed/>
                </p:oleObj>
              </mc:Choice>
              <mc:Fallback>
                <p:oleObj name="think-cell Slide" r:id="rId4" imgW="404" imgH="405" progId="TCLayout.ActiveDocument.1">
                  <p:embed/>
                  <p:pic>
                    <p:nvPicPr>
                      <p:cNvPr id="5" name="think-cell data - do not delete" hidden="1">
                        <a:extLst>
                          <a:ext uri="{FF2B5EF4-FFF2-40B4-BE49-F238E27FC236}">
                            <a16:creationId xmlns:a16="http://schemas.microsoft.com/office/drawing/2014/main" id="{2AB11627-26D7-8855-AEF0-F8C83D93D4B8}"/>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01FDBBCE-39A6-1DF0-B687-C5CA1894018C}"/>
              </a:ext>
            </a:extLst>
          </p:cNvPr>
          <p:cNvSpPr>
            <a:spLocks noGrp="1"/>
          </p:cNvSpPr>
          <p:nvPr>
            <p:ph type="title"/>
          </p:nvPr>
        </p:nvSpPr>
        <p:spPr/>
        <p:txBody>
          <a:bodyPr vert="horz"/>
          <a:lstStyle/>
          <a:p>
            <a:r>
              <a:rPr lang="en-US"/>
              <a:t>European Retail Bank</a:t>
            </a:r>
          </a:p>
        </p:txBody>
      </p:sp>
    </p:spTree>
    <p:extLst>
      <p:ext uri="{BB962C8B-B14F-4D97-AF65-F5344CB8AC3E}">
        <p14:creationId xmlns:p14="http://schemas.microsoft.com/office/powerpoint/2010/main" val="422866616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630000" y="622800"/>
            <a:ext cx="6254496" cy="664797"/>
          </a:xfrm>
        </p:spPr>
        <p:txBody>
          <a:bodyPr vert="horz"/>
          <a:lstStyle/>
          <a:p>
            <a:r>
              <a:rPr lang="en-US"/>
              <a:t>Segmentation Journey: Towards Hyper-personalization at a European Retail Bank</a:t>
            </a:r>
          </a:p>
        </p:txBody>
      </p:sp>
      <p:sp>
        <p:nvSpPr>
          <p:cNvPr id="7" name="ee4pContent1"/>
          <p:cNvSpPr txBox="1"/>
          <p:nvPr/>
        </p:nvSpPr>
        <p:spPr>
          <a:xfrm>
            <a:off x="630000" y="2379600"/>
            <a:ext cx="3129813" cy="855213"/>
          </a:xfrm>
          <a:prstGeom prst="rect">
            <a:avLst/>
          </a:prstGeom>
        </p:spPr>
        <p:txBody>
          <a:bodyPr vert="horz" lIns="0" tIns="0" rIns="0" bIns="0" rtlCol="0" anchor="t">
            <a:noAutofit/>
          </a:bodyPr>
          <a:lstStyle>
            <a:lvl1pPr lvl="0" indent="0">
              <a:lnSpc>
                <a:spcPct val="110000"/>
              </a:lnSpc>
              <a:spcBef>
                <a:spcPts val="600"/>
              </a:spcBef>
              <a:spcAft>
                <a:spcPts val="300"/>
              </a:spcAft>
              <a:buFont typeface="Arial" panose="020B0604020202020204" pitchFamily="34" charset="0"/>
              <a:buChar char="​"/>
              <a:defRPr lang="en-US" sz="1200">
                <a:latin typeface="Trebuchet MS" panose="020B0603020202020204" pitchFamily="34" charset="0"/>
                <a:sym typeface="Trebuchet MS" panose="020B0603020202020204" pitchFamily="34" charset="0"/>
              </a:defRPr>
            </a:lvl1pPr>
            <a:lvl2pPr marL="284400" lvl="1" indent="-172800">
              <a:lnSpc>
                <a:spcPct val="90000"/>
              </a:lnSpc>
              <a:spcBef>
                <a:spcPts val="0"/>
              </a:spcBef>
              <a:spcAft>
                <a:spcPts val="300"/>
              </a:spcAft>
              <a:buClr>
                <a:schemeClr val="tx2"/>
              </a:buClr>
              <a:buFont typeface="Arial" panose="020B0604020202020204" pitchFamily="34" charset="0"/>
              <a:buChar char="•"/>
              <a:defRPr lang="en-US" sz="1200">
                <a:latin typeface="Trebuchet MS" panose="020B0603020202020204" pitchFamily="34" charset="0"/>
                <a:sym typeface="Trebuchet MS" panose="020B0603020202020204" pitchFamily="34" charset="0"/>
              </a:defRPr>
            </a:lvl2pPr>
            <a:lvl3pPr marL="511200" lvl="2" indent="-165600">
              <a:lnSpc>
                <a:spcPct val="90000"/>
              </a:lnSpc>
              <a:spcBef>
                <a:spcPts val="0"/>
              </a:spcBef>
              <a:spcAft>
                <a:spcPts val="300"/>
              </a:spcAft>
              <a:buClr>
                <a:schemeClr val="tx2"/>
              </a:buClr>
              <a:buFont typeface="Trebuchet MS" panose="020B0603020202020204" pitchFamily="34" charset="0"/>
              <a:buChar char="–"/>
              <a:defRPr lang="en-US" sz="1200">
                <a:latin typeface="Trebuchet MS" panose="020B0603020202020204" pitchFamily="34" charset="0"/>
                <a:sym typeface="Trebuchet MS" panose="020B0603020202020204" pitchFamily="34" charset="0"/>
              </a:defRPr>
            </a:lvl3pPr>
            <a:lvl4pPr marL="0" lvl="3" indent="0">
              <a:lnSpc>
                <a:spcPct val="110000"/>
              </a:lnSpc>
              <a:spcBef>
                <a:spcPts val="300"/>
              </a:spcBef>
              <a:spcAft>
                <a:spcPts val="300"/>
              </a:spcAft>
              <a:buClr>
                <a:schemeClr val="tx2"/>
              </a:buClr>
              <a:buFont typeface="Arial" panose="020B0604020202020204" pitchFamily="34" charset="0"/>
              <a:buChar char="​"/>
              <a:defRPr lang="en-US" sz="1600">
                <a:solidFill>
                  <a:schemeClr val="tx2"/>
                </a:solidFill>
                <a:latin typeface="Trebuchet MS" panose="020B0603020202020204" pitchFamily="34" charset="0"/>
                <a:sym typeface="Trebuchet MS" panose="020B0603020202020204" pitchFamily="34" charset="0"/>
              </a:defRPr>
            </a:lvl4pPr>
            <a:lvl5pPr marL="0" lvl="4" indent="0">
              <a:lnSpc>
                <a:spcPct val="100000"/>
              </a:lnSpc>
              <a:spcBef>
                <a:spcPts val="0"/>
              </a:spcBef>
              <a:spcAft>
                <a:spcPts val="300"/>
              </a:spcAft>
              <a:buClrTx/>
              <a:buFont typeface="Arial" panose="020B0604020202020204" pitchFamily="34" charset="0"/>
              <a:buChar char="​"/>
              <a:defRPr lang="en-US" sz="1600" b="1" smtClean="0">
                <a:latin typeface="Trebuchet MS" panose="020B0603020202020204" pitchFamily="34" charset="0"/>
                <a:sym typeface="Trebuchet MS" panose="020B0603020202020204" pitchFamily="34" charset="0"/>
              </a:defRPr>
            </a:lvl5pPr>
            <a:lvl6pPr marL="269875" lvl="5" indent="-152400">
              <a:lnSpc>
                <a:spcPct val="90000"/>
              </a:lnSpc>
              <a:spcBef>
                <a:spcPts val="0"/>
              </a:spcBef>
              <a:spcAft>
                <a:spcPts val="600"/>
              </a:spcAft>
              <a:buClr>
                <a:schemeClr val="tx2"/>
              </a:buClr>
              <a:buFont typeface="Arial" panose="020B0604020202020204" pitchFamily="34" charset="0"/>
              <a:buChar char="•"/>
              <a:defRPr lang="en-US" sz="1600" smtClean="0">
                <a:latin typeface="Trebuchet MS" panose="020B0603020202020204" pitchFamily="34" charset="0"/>
                <a:sym typeface="Trebuchet MS" panose="020B0603020202020204" pitchFamily="34" charset="0"/>
              </a:defRPr>
            </a:lvl6pPr>
            <a:lvl7pPr marL="0" lvl="6" indent="0">
              <a:lnSpc>
                <a:spcPct val="90000"/>
              </a:lnSpc>
              <a:spcBef>
                <a:spcPts val="900"/>
              </a:spcBef>
              <a:spcAft>
                <a:spcPts val="900"/>
              </a:spcAft>
              <a:buFont typeface="Arial" panose="020B0604020202020204" pitchFamily="34" charset="0"/>
              <a:buChar char="​"/>
              <a:defRPr lang="en-US" sz="4400" baseline="0" smtClean="0">
                <a:latin typeface="Trebuchet MS" panose="020B0603020202020204" pitchFamily="34" charset="0"/>
                <a:sym typeface="Trebuchet MS" panose="020B0603020202020204" pitchFamily="34" charset="0"/>
              </a:defRPr>
            </a:lvl7pPr>
            <a:lvl8pPr marL="0" lvl="7" indent="0">
              <a:lnSpc>
                <a:spcPct val="90000"/>
              </a:lnSpc>
              <a:spcBef>
                <a:spcPts val="900"/>
              </a:spcBef>
              <a:spcAft>
                <a:spcPts val="0"/>
              </a:spcAft>
              <a:buFont typeface="Arial" panose="020B0604020202020204" pitchFamily="34" charset="0"/>
              <a:buChar char="​"/>
              <a:defRPr lang="en-US" sz="5400" baseline="0" smtClean="0">
                <a:solidFill>
                  <a:schemeClr val="tx2"/>
                </a:solidFill>
                <a:latin typeface="Trebuchet MS" panose="020B0603020202020204" pitchFamily="34" charset="0"/>
                <a:sym typeface="Trebuchet MS" panose="020B0603020202020204" pitchFamily="34" charset="0"/>
              </a:defRPr>
            </a:lvl8pPr>
            <a:lvl9pPr marL="0" lvl="8" indent="0">
              <a:lnSpc>
                <a:spcPct val="100000"/>
              </a:lnSpc>
              <a:spcBef>
                <a:spcPts val="0"/>
              </a:spcBef>
              <a:spcAft>
                <a:spcPts val="900"/>
              </a:spcAft>
              <a:buFont typeface="Arial" panose="020B0604020202020204" pitchFamily="34" charset="0"/>
              <a:buChar char="​"/>
              <a:defRPr lang="en-US" sz="2400" baseline="0" dirty="0">
                <a:solidFill>
                  <a:schemeClr val="tx2"/>
                </a:solidFill>
                <a:latin typeface="Trebuchet MS" panose="020B0603020202020204" pitchFamily="34" charset="0"/>
                <a:sym typeface="Trebuchet MS" panose="020B0603020202020204" pitchFamily="34" charset="0"/>
              </a:defRPr>
            </a:lvl9pPr>
          </a:lstStyle>
          <a:p>
            <a:pPr marL="0" marR="0" lvl="0" indent="0" algn="l" defTabSz="914400" rtl="0" eaLnBrk="1" fontAlgn="auto" latinLnBrk="0" hangingPunct="1">
              <a:lnSpc>
                <a:spcPct val="100000"/>
              </a:lnSpc>
              <a:spcBef>
                <a:spcPts val="0"/>
              </a:spcBef>
              <a:spcAft>
                <a:spcPts val="0"/>
              </a:spcAft>
              <a:buClrTx/>
              <a:buSzPct val="100000"/>
              <a:buFont typeface="Trebuchet MS" panose="020B0603020202020204" pitchFamily="34" charset="0"/>
              <a:buChar char="​"/>
              <a:tabLst/>
              <a:defRPr/>
            </a:pPr>
            <a:r>
              <a:rPr kumimoji="0" lang="en-US" sz="1200" b="0" i="0" u="none" strike="noStrike" kern="1200" cap="none" spc="0" normalizeH="0" baseline="0" noProof="0">
                <a:ln>
                  <a:noFill/>
                </a:ln>
                <a:solidFill>
                  <a:srgbClr val="575757">
                    <a:lumMod val="100000"/>
                  </a:srgbClr>
                </a:solidFill>
                <a:effectLst/>
                <a:uLnTx/>
                <a:uFillTx/>
                <a:latin typeface="Trebuchet MS"/>
                <a:ea typeface="+mn-ea"/>
                <a:cs typeface="+mn-cs"/>
                <a:sym typeface="Trebuchet MS" panose="020B0603020202020204" pitchFamily="34" charset="0"/>
              </a:rPr>
              <a:t>A European bank with 3M retail customers who wanted to leverage a novel data-driven customer segmentation approach to develop personalized and omnichannel sales &amp; service</a:t>
            </a:r>
          </a:p>
          <a:p>
            <a:pPr marL="0" marR="0" lvl="0" indent="0" algn="l" defTabSz="914400" rtl="0" eaLnBrk="1" fontAlgn="auto" latinLnBrk="0" hangingPunct="1">
              <a:lnSpc>
                <a:spcPct val="100000"/>
              </a:lnSpc>
              <a:spcBef>
                <a:spcPts val="0"/>
              </a:spcBef>
              <a:spcAft>
                <a:spcPts val="0"/>
              </a:spcAft>
              <a:buClrTx/>
              <a:buSzPct val="100000"/>
              <a:buFont typeface="Arial" panose="020B0604020202020204" pitchFamily="34" charset="0"/>
              <a:buNone/>
              <a:tabLst/>
              <a:defRPr/>
            </a:pPr>
            <a:endParaRPr kumimoji="0" lang="en-US" sz="1200" b="0" i="0" u="none" strike="noStrike" kern="1200" cap="none" spc="0" normalizeH="0" baseline="0" noProof="0">
              <a:ln>
                <a:noFill/>
              </a:ln>
              <a:solidFill>
                <a:srgbClr val="575757">
                  <a:lumMod val="100000"/>
                </a:srgbClr>
              </a:solidFill>
              <a:effectLst/>
              <a:uLnTx/>
              <a:uFillTx/>
              <a:latin typeface="Trebuchet MS" panose="020B0603020202020204" pitchFamily="34" charset="0"/>
              <a:ea typeface="+mn-ea"/>
              <a:cs typeface="+mn-cs"/>
              <a:sym typeface="Trebuchet MS" panose="020B0603020202020204" pitchFamily="34" charset="0"/>
            </a:endParaRPr>
          </a:p>
        </p:txBody>
      </p:sp>
      <p:sp>
        <p:nvSpPr>
          <p:cNvPr id="8" name="ee4pContent2"/>
          <p:cNvSpPr txBox="1"/>
          <p:nvPr/>
        </p:nvSpPr>
        <p:spPr>
          <a:xfrm>
            <a:off x="4263992" y="2379600"/>
            <a:ext cx="3362358" cy="3488400"/>
          </a:xfrm>
          <a:prstGeom prst="rect">
            <a:avLst/>
          </a:prstGeom>
        </p:spPr>
        <p:txBody>
          <a:bodyPr vert="horz" lIns="0" tIns="0" rIns="0" bIns="0" rtlCol="0">
            <a:noAutofit/>
          </a:bodyPr>
          <a:lstStyle>
            <a:defPPr>
              <a:defRPr lang="en-US"/>
            </a:defPPr>
            <a:lvl1pPr lvl="0" indent="0">
              <a:lnSpc>
                <a:spcPct val="100000"/>
              </a:lnSpc>
              <a:spcBef>
                <a:spcPts val="0"/>
              </a:spcBef>
              <a:spcAft>
                <a:spcPts val="0"/>
              </a:spcAft>
              <a:buSzPct val="100000"/>
              <a:buFont typeface="Trebuchet MS" panose="020B0603020202020204" pitchFamily="34" charset="0"/>
              <a:buChar char="​"/>
              <a:defRPr sz="1200">
                <a:solidFill>
                  <a:schemeClr val="tx1">
                    <a:lumMod val="100000"/>
                  </a:schemeClr>
                </a:solidFill>
                <a:latin typeface="Trebuchet MS" panose="020B0603020202020204" pitchFamily="34" charset="0"/>
              </a:defRPr>
            </a:lvl1pPr>
            <a:lvl2pPr marL="284400" lvl="1" indent="-172800">
              <a:lnSpc>
                <a:spcPct val="90000"/>
              </a:lnSpc>
              <a:spcBef>
                <a:spcPts val="0"/>
              </a:spcBef>
              <a:spcAft>
                <a:spcPts val="300"/>
              </a:spcAft>
              <a:buClr>
                <a:schemeClr val="tx2"/>
              </a:buClr>
              <a:buFont typeface="Arial" panose="020B0604020202020204" pitchFamily="34" charset="0"/>
              <a:buChar char="•"/>
              <a:defRPr sz="1200">
                <a:latin typeface="Trebuchet MS" panose="020B0603020202020204" pitchFamily="34" charset="0"/>
              </a:defRPr>
            </a:lvl2pPr>
            <a:lvl3pPr marL="511200" lvl="2" indent="-165600">
              <a:lnSpc>
                <a:spcPct val="90000"/>
              </a:lnSpc>
              <a:spcBef>
                <a:spcPts val="0"/>
              </a:spcBef>
              <a:spcAft>
                <a:spcPts val="300"/>
              </a:spcAft>
              <a:buClr>
                <a:schemeClr val="tx2"/>
              </a:buClr>
              <a:buFont typeface="Trebuchet MS" panose="020B0603020202020204" pitchFamily="34" charset="0"/>
              <a:buChar char="–"/>
              <a:defRPr sz="1200">
                <a:latin typeface="Trebuchet MS" panose="020B0603020202020204" pitchFamily="34" charset="0"/>
              </a:defRPr>
            </a:lvl3pPr>
            <a:lvl4pPr marL="0" lvl="3" indent="0">
              <a:lnSpc>
                <a:spcPct val="110000"/>
              </a:lnSpc>
              <a:spcBef>
                <a:spcPts val="300"/>
              </a:spcBef>
              <a:spcAft>
                <a:spcPts val="300"/>
              </a:spcAft>
              <a:buClr>
                <a:schemeClr val="tx2"/>
              </a:buClr>
              <a:buFont typeface="Arial" panose="020B0604020202020204" pitchFamily="34" charset="0"/>
              <a:buChar char="​"/>
              <a:defRPr sz="1600">
                <a:solidFill>
                  <a:schemeClr val="tx2"/>
                </a:solidFill>
                <a:latin typeface="Trebuchet MS" panose="020B0603020202020204" pitchFamily="34" charset="0"/>
              </a:defRPr>
            </a:lvl4pPr>
            <a:lvl5pPr marL="0" lvl="4" indent="0">
              <a:lnSpc>
                <a:spcPct val="100000"/>
              </a:lnSpc>
              <a:spcBef>
                <a:spcPts val="0"/>
              </a:spcBef>
              <a:spcAft>
                <a:spcPts val="300"/>
              </a:spcAft>
              <a:buClrTx/>
              <a:buFont typeface="Arial" panose="020B0604020202020204" pitchFamily="34" charset="0"/>
              <a:buChar char="​"/>
              <a:defRPr sz="1600" b="1">
                <a:latin typeface="Trebuchet MS" panose="020B0603020202020204" pitchFamily="34" charset="0"/>
              </a:defRPr>
            </a:lvl5pPr>
            <a:lvl6pPr marL="269875" lvl="5" indent="-152400">
              <a:lnSpc>
                <a:spcPct val="90000"/>
              </a:lnSpc>
              <a:spcBef>
                <a:spcPts val="0"/>
              </a:spcBef>
              <a:spcAft>
                <a:spcPts val="600"/>
              </a:spcAft>
              <a:buClr>
                <a:schemeClr val="tx2"/>
              </a:buClr>
              <a:buFont typeface="Arial" panose="020B0604020202020204" pitchFamily="34" charset="0"/>
              <a:buChar char="•"/>
              <a:defRPr sz="1600">
                <a:latin typeface="Trebuchet MS" panose="020B0603020202020204" pitchFamily="34" charset="0"/>
              </a:defRPr>
            </a:lvl6pPr>
            <a:lvl7pPr marL="0" lvl="6" indent="0">
              <a:lnSpc>
                <a:spcPct val="90000"/>
              </a:lnSpc>
              <a:spcBef>
                <a:spcPts val="900"/>
              </a:spcBef>
              <a:spcAft>
                <a:spcPts val="900"/>
              </a:spcAft>
              <a:buFont typeface="Arial" panose="020B0604020202020204" pitchFamily="34" charset="0"/>
              <a:buChar char="​"/>
              <a:defRPr sz="4400" baseline="0">
                <a:latin typeface="Trebuchet MS" panose="020B0603020202020204" pitchFamily="34" charset="0"/>
              </a:defRPr>
            </a:lvl7pPr>
            <a:lvl8pPr marL="0" lvl="7" indent="0">
              <a:lnSpc>
                <a:spcPct val="90000"/>
              </a:lnSpc>
              <a:spcBef>
                <a:spcPts val="900"/>
              </a:spcBef>
              <a:spcAft>
                <a:spcPts val="0"/>
              </a:spcAft>
              <a:buFont typeface="Arial" panose="020B0604020202020204" pitchFamily="34" charset="0"/>
              <a:buChar char="​"/>
              <a:defRPr sz="5400" baseline="0">
                <a:solidFill>
                  <a:schemeClr val="tx2"/>
                </a:solidFill>
                <a:latin typeface="Trebuchet MS" panose="020B0603020202020204" pitchFamily="34" charset="0"/>
              </a:defRPr>
            </a:lvl8pPr>
            <a:lvl9pPr marL="0" lvl="8" indent="0">
              <a:lnSpc>
                <a:spcPct val="100000"/>
              </a:lnSpc>
              <a:spcBef>
                <a:spcPts val="0"/>
              </a:spcBef>
              <a:spcAft>
                <a:spcPts val="900"/>
              </a:spcAft>
              <a:buFont typeface="Arial" panose="020B0604020202020204" pitchFamily="34" charset="0"/>
              <a:buChar char="​"/>
              <a:defRPr sz="2400" baseline="0">
                <a:solidFill>
                  <a:schemeClr val="tx2"/>
                </a:solidFill>
                <a:latin typeface="Trebuchet MS" panose="020B0603020202020204" pitchFamily="34" charset="0"/>
              </a:defRPr>
            </a:lvl9pPr>
          </a:lstStyle>
          <a:p>
            <a:pPr marL="111600" marR="0" lvl="1" indent="0" algn="l" defTabSz="914400" rtl="0" eaLnBrk="1" fontAlgn="auto" latinLnBrk="0" hangingPunct="1">
              <a:lnSpc>
                <a:spcPct val="90000"/>
              </a:lnSpc>
              <a:spcBef>
                <a:spcPts val="0"/>
              </a:spcBef>
              <a:spcAft>
                <a:spcPts val="300"/>
              </a:spcAft>
              <a:buClr>
                <a:srgbClr val="29BA74"/>
              </a:buClr>
              <a:buSzTx/>
              <a:buFont typeface="Arial" panose="020B0604020202020204" pitchFamily="34" charset="0"/>
              <a:buNone/>
              <a:tabLst/>
              <a:defRPr/>
            </a:pPr>
            <a:r>
              <a:rPr kumimoji="0" lang="en-US" sz="1200" b="0" i="0" u="none" strike="noStrike" kern="1200" cap="none" spc="0" normalizeH="0" baseline="0" noProof="0">
                <a:ln>
                  <a:noFill/>
                </a:ln>
                <a:solidFill>
                  <a:srgbClr val="575757"/>
                </a:solidFill>
                <a:effectLst/>
                <a:uLnTx/>
                <a:uFillTx/>
                <a:latin typeface="Trebuchet MS" panose="020B0603020202020204" pitchFamily="34" charset="0"/>
                <a:ea typeface="+mn-ea"/>
                <a:cs typeface="+mn-cs"/>
              </a:rPr>
              <a:t>Developed data driven segmentation </a:t>
            </a:r>
            <a:r>
              <a:rPr kumimoji="0" lang="en-US" sz="1200" b="0" i="0" u="none" strike="noStrike" kern="1200" cap="none" spc="0" normalizeH="0" baseline="0" noProof="0">
                <a:ln>
                  <a:noFill/>
                </a:ln>
                <a:solidFill>
                  <a:srgbClr val="29BA74"/>
                </a:solidFill>
                <a:effectLst/>
                <a:uLnTx/>
                <a:uFillTx/>
                <a:latin typeface="Trebuchet MS" panose="020B0603020202020204" pitchFamily="34" charset="0"/>
                <a:ea typeface="+mn-ea"/>
                <a:cs typeface="+mn-cs"/>
              </a:rPr>
              <a:t>(customer pathways) </a:t>
            </a:r>
            <a:r>
              <a:rPr kumimoji="0" lang="en-US" sz="1200" b="0" i="0" u="none" strike="noStrike" kern="1200" cap="none" spc="0" normalizeH="0" baseline="0" noProof="0">
                <a:ln>
                  <a:noFill/>
                </a:ln>
                <a:solidFill>
                  <a:srgbClr val="575757"/>
                </a:solidFill>
                <a:effectLst/>
                <a:uLnTx/>
                <a:uFillTx/>
                <a:latin typeface="Trebuchet MS" panose="020B0603020202020204" pitchFamily="34" charset="0"/>
                <a:ea typeface="+mn-ea"/>
                <a:cs typeface="+mn-cs"/>
              </a:rPr>
              <a:t>based on bank's internal data</a:t>
            </a:r>
          </a:p>
          <a:p>
            <a:pPr marL="324000" marR="0" lvl="1" indent="-216000" algn="l" defTabSz="914400" rtl="0" eaLnBrk="1" fontAlgn="auto" latinLnBrk="0" hangingPunct="1">
              <a:lnSpc>
                <a:spcPct val="100000"/>
              </a:lnSpc>
              <a:spcBef>
                <a:spcPts val="0"/>
              </a:spcBef>
              <a:spcAft>
                <a:spcPts val="0"/>
              </a:spcAft>
              <a:buClr>
                <a:srgbClr val="29BA74"/>
              </a:buClr>
              <a:buSzTx/>
              <a:buFont typeface="Trebuchet MS" panose="020B0603020202020204" pitchFamily="34" charset="0"/>
              <a:buChar char="•"/>
              <a:tabLst/>
              <a:defRPr/>
            </a:pPr>
            <a:r>
              <a:rPr kumimoji="0" lang="en-US" sz="1200" b="0" i="0" u="none" strike="noStrike" kern="1200" cap="none" spc="0" normalizeH="0" baseline="0" noProof="0">
                <a:ln>
                  <a:noFill/>
                </a:ln>
                <a:solidFill>
                  <a:srgbClr val="575757"/>
                </a:solidFill>
                <a:effectLst/>
                <a:uLnTx/>
                <a:uFillTx/>
                <a:latin typeface="Trebuchet MS" panose="020B0603020202020204" pitchFamily="34" charset="0"/>
                <a:ea typeface="+mn-ea"/>
                <a:cs typeface="+mn-cs"/>
              </a:rPr>
              <a:t>Identified most likely strategic development paths for customers over their lifetime by looking at the breadth and depth of customer relationships</a:t>
            </a:r>
          </a:p>
          <a:p>
            <a:pPr marL="108000" marR="0" lvl="1" indent="0" algn="l" defTabSz="914400" rtl="0" eaLnBrk="1" fontAlgn="auto" latinLnBrk="0" hangingPunct="1">
              <a:lnSpc>
                <a:spcPct val="100000"/>
              </a:lnSpc>
              <a:spcBef>
                <a:spcPts val="0"/>
              </a:spcBef>
              <a:spcAft>
                <a:spcPts val="0"/>
              </a:spcAft>
              <a:buClr>
                <a:srgbClr val="29BA74"/>
              </a:buClr>
              <a:buSzTx/>
              <a:buFont typeface="Arial" panose="020B0604020202020204" pitchFamily="34" charset="0"/>
              <a:buNone/>
              <a:tabLst/>
              <a:defRPr/>
            </a:pPr>
            <a:endParaRPr kumimoji="0" lang="en-US" sz="1200" b="0" i="0" u="none" strike="noStrike" kern="1200" cap="none" spc="0" normalizeH="0" baseline="0" noProof="0">
              <a:ln>
                <a:noFill/>
              </a:ln>
              <a:solidFill>
                <a:srgbClr val="575757"/>
              </a:solidFill>
              <a:effectLst/>
              <a:uLnTx/>
              <a:uFillTx/>
              <a:latin typeface="Trebuchet MS" panose="020B0603020202020204" pitchFamily="34" charset="0"/>
              <a:ea typeface="+mn-ea"/>
              <a:cs typeface="+mn-cs"/>
            </a:endParaRPr>
          </a:p>
          <a:p>
            <a:pPr marL="111600" marR="0" lvl="1" indent="0" algn="l" defTabSz="914400" rtl="0" eaLnBrk="1" fontAlgn="auto" latinLnBrk="0" hangingPunct="1">
              <a:lnSpc>
                <a:spcPct val="90000"/>
              </a:lnSpc>
              <a:spcBef>
                <a:spcPts val="0"/>
              </a:spcBef>
              <a:spcAft>
                <a:spcPts val="300"/>
              </a:spcAft>
              <a:buClr>
                <a:srgbClr val="29BA74"/>
              </a:buClr>
              <a:buSzTx/>
              <a:buFont typeface="Arial" panose="020B0604020202020204" pitchFamily="34" charset="0"/>
              <a:buNone/>
              <a:tabLst/>
              <a:defRPr/>
            </a:pPr>
            <a:r>
              <a:rPr kumimoji="0" lang="en-US" sz="1200" b="0" i="0" u="none" strike="noStrike" kern="1200" cap="none" spc="0" normalizeH="0" baseline="0" noProof="0">
                <a:ln>
                  <a:noFill/>
                </a:ln>
                <a:solidFill>
                  <a:srgbClr val="575757"/>
                </a:solidFill>
                <a:effectLst/>
                <a:uLnTx/>
                <a:uFillTx/>
                <a:latin typeface="Trebuchet MS" panose="020B0603020202020204" pitchFamily="34" charset="0"/>
                <a:ea typeface="+mn-ea"/>
                <a:cs typeface="+mn-cs"/>
              </a:rPr>
              <a:t>Created </a:t>
            </a:r>
            <a:r>
              <a:rPr kumimoji="0" lang="en-US" sz="1200" b="0" i="0" u="none" strike="noStrike" kern="1200" cap="none" spc="0" normalizeH="0" baseline="0" noProof="0">
                <a:ln>
                  <a:noFill/>
                </a:ln>
                <a:solidFill>
                  <a:srgbClr val="29BA74"/>
                </a:solidFill>
                <a:effectLst/>
                <a:uLnTx/>
                <a:uFillTx/>
                <a:latin typeface="Trebuchet MS" panose="020B0603020202020204" pitchFamily="34" charset="0"/>
                <a:ea typeface="+mn-ea"/>
                <a:cs typeface="+mn-cs"/>
              </a:rPr>
              <a:t>need-based behavioral segmentation</a:t>
            </a:r>
          </a:p>
          <a:p>
            <a:pPr marL="324000" marR="0" lvl="1" indent="-216000" algn="l" defTabSz="914400" rtl="0" eaLnBrk="1" fontAlgn="auto" latinLnBrk="0" hangingPunct="1">
              <a:lnSpc>
                <a:spcPct val="100000"/>
              </a:lnSpc>
              <a:spcBef>
                <a:spcPts val="0"/>
              </a:spcBef>
              <a:spcAft>
                <a:spcPts val="0"/>
              </a:spcAft>
              <a:buClr>
                <a:srgbClr val="29BA74"/>
              </a:buClr>
              <a:buSzTx/>
              <a:buFont typeface="Trebuchet MS" panose="020B0603020202020204" pitchFamily="34" charset="0"/>
              <a:buChar char="•"/>
              <a:tabLst/>
              <a:defRPr/>
            </a:pPr>
            <a:r>
              <a:rPr kumimoji="0" lang="en-US" sz="1200" b="0" i="0" u="none" strike="noStrike" kern="1200" cap="none" spc="0" normalizeH="0" baseline="0" noProof="0">
                <a:ln>
                  <a:noFill/>
                </a:ln>
                <a:solidFill>
                  <a:srgbClr val="575757"/>
                </a:solidFill>
                <a:effectLst/>
                <a:uLnTx/>
                <a:uFillTx/>
                <a:latin typeface="Trebuchet MS" panose="020B0603020202020204" pitchFamily="34" charset="0"/>
                <a:ea typeface="+mn-ea"/>
                <a:cs typeface="+mn-cs"/>
              </a:rPr>
              <a:t>Created need-based segments based on trade-offs of customers' purchase criteria</a:t>
            </a:r>
          </a:p>
          <a:p>
            <a:pPr marL="324000" marR="0" lvl="1" indent="-216000" algn="l" defTabSz="914400" rtl="0" eaLnBrk="1" fontAlgn="auto" latinLnBrk="0" hangingPunct="1">
              <a:lnSpc>
                <a:spcPct val="100000"/>
              </a:lnSpc>
              <a:spcBef>
                <a:spcPts val="0"/>
              </a:spcBef>
              <a:spcAft>
                <a:spcPts val="0"/>
              </a:spcAft>
              <a:buClr>
                <a:srgbClr val="29BA74"/>
              </a:buClr>
              <a:buSzTx/>
              <a:buFont typeface="Trebuchet MS" panose="020B0603020202020204" pitchFamily="34" charset="0"/>
              <a:buChar char="•"/>
              <a:tabLst/>
              <a:defRPr/>
            </a:pPr>
            <a:r>
              <a:rPr kumimoji="0" lang="en-US" sz="1200" b="0" i="0" u="none" strike="noStrike" kern="1200" cap="none" spc="0" normalizeH="0" baseline="0" noProof="0">
                <a:ln>
                  <a:noFill/>
                </a:ln>
                <a:solidFill>
                  <a:srgbClr val="575757"/>
                </a:solidFill>
                <a:effectLst/>
                <a:uLnTx/>
                <a:uFillTx/>
                <a:latin typeface="Trebuchet MS" panose="020B0603020202020204" pitchFamily="34" charset="0"/>
                <a:ea typeface="+mn-ea"/>
                <a:cs typeface="+mn-cs"/>
              </a:rPr>
              <a:t>Analyzed segments in the context of daily banking, mortgages, and investments</a:t>
            </a:r>
          </a:p>
          <a:p>
            <a:pPr marL="324000" marR="0" lvl="1" indent="-216000" algn="l" defTabSz="914400" rtl="0" eaLnBrk="1" fontAlgn="auto" latinLnBrk="0" hangingPunct="1">
              <a:lnSpc>
                <a:spcPct val="100000"/>
              </a:lnSpc>
              <a:spcBef>
                <a:spcPts val="0"/>
              </a:spcBef>
              <a:spcAft>
                <a:spcPts val="0"/>
              </a:spcAft>
              <a:buClr>
                <a:srgbClr val="29BA74"/>
              </a:buClr>
              <a:buSzTx/>
              <a:buFont typeface="Trebuchet MS" panose="020B0603020202020204" pitchFamily="34" charset="0"/>
              <a:buChar char="•"/>
              <a:tabLst/>
              <a:defRPr/>
            </a:pPr>
            <a:r>
              <a:rPr kumimoji="0" lang="en-US" sz="1200" b="0" i="0" u="none" strike="noStrike" kern="1200" cap="none" spc="0" normalizeH="0" baseline="0" noProof="0">
                <a:ln>
                  <a:noFill/>
                </a:ln>
                <a:solidFill>
                  <a:srgbClr val="575757"/>
                </a:solidFill>
                <a:effectLst/>
                <a:uLnTx/>
                <a:uFillTx/>
                <a:latin typeface="Trebuchet MS" panose="020B0603020202020204" pitchFamily="34" charset="0"/>
                <a:ea typeface="+mn-ea"/>
                <a:cs typeface="+mn-cs"/>
              </a:rPr>
              <a:t>Created a predictive model from CRM data to identify segment for all bank's customers</a:t>
            </a:r>
          </a:p>
          <a:p>
            <a:pPr marL="111600" marR="0" lvl="1" indent="0" algn="l" defTabSz="914400" rtl="0" eaLnBrk="1" fontAlgn="auto" latinLnBrk="0" hangingPunct="1">
              <a:lnSpc>
                <a:spcPct val="90000"/>
              </a:lnSpc>
              <a:spcBef>
                <a:spcPts val="0"/>
              </a:spcBef>
              <a:spcAft>
                <a:spcPts val="300"/>
              </a:spcAft>
              <a:buClr>
                <a:srgbClr val="29BA74"/>
              </a:buClr>
              <a:buSzTx/>
              <a:buFont typeface="Arial" panose="020B0604020202020204" pitchFamily="34" charset="0"/>
              <a:buNone/>
              <a:tabLst/>
              <a:defRPr/>
            </a:pPr>
            <a:endParaRPr kumimoji="0" lang="en-US" sz="1200" b="0" i="0" u="none" strike="noStrike" kern="1200" cap="none" spc="0" normalizeH="0" baseline="0" noProof="0">
              <a:ln>
                <a:noFill/>
              </a:ln>
              <a:solidFill>
                <a:srgbClr val="575757"/>
              </a:solidFill>
              <a:effectLst/>
              <a:uLnTx/>
              <a:uFillTx/>
              <a:latin typeface="Trebuchet MS" panose="020B0603020202020204" pitchFamily="34" charset="0"/>
              <a:ea typeface="+mn-ea"/>
              <a:cs typeface="+mn-cs"/>
            </a:endParaRPr>
          </a:p>
          <a:p>
            <a:pPr marL="111600" marR="0" lvl="1" indent="0" algn="l" defTabSz="914400" rtl="0" eaLnBrk="1" fontAlgn="auto" latinLnBrk="0" hangingPunct="1">
              <a:lnSpc>
                <a:spcPct val="90000"/>
              </a:lnSpc>
              <a:spcBef>
                <a:spcPts val="0"/>
              </a:spcBef>
              <a:spcAft>
                <a:spcPts val="300"/>
              </a:spcAft>
              <a:buClr>
                <a:srgbClr val="29BA74"/>
              </a:buClr>
              <a:buSzTx/>
              <a:buFont typeface="Arial" panose="020B0604020202020204" pitchFamily="34" charset="0"/>
              <a:buNone/>
              <a:tabLst/>
              <a:defRPr/>
            </a:pPr>
            <a:r>
              <a:rPr kumimoji="0" lang="en-US" sz="1200" b="0" i="0" u="none" strike="noStrike" kern="1200" cap="none" spc="0" normalizeH="0" baseline="0" noProof="0">
                <a:ln>
                  <a:noFill/>
                </a:ln>
                <a:solidFill>
                  <a:srgbClr val="575757"/>
                </a:solidFill>
                <a:effectLst/>
                <a:uLnTx/>
                <a:uFillTx/>
                <a:latin typeface="Trebuchet MS" panose="020B0603020202020204" pitchFamily="34" charset="0"/>
                <a:ea typeface="+mn-ea"/>
                <a:cs typeface="+mn-cs"/>
              </a:rPr>
              <a:t>Set up the first steps for hyper-personalization</a:t>
            </a:r>
          </a:p>
          <a:p>
            <a:pPr marL="284400" marR="0" lvl="1" indent="-172800" algn="l" defTabSz="914400" rtl="0" eaLnBrk="1" fontAlgn="auto" latinLnBrk="0" hangingPunct="1">
              <a:lnSpc>
                <a:spcPct val="90000"/>
              </a:lnSpc>
              <a:spcBef>
                <a:spcPts val="0"/>
              </a:spcBef>
              <a:spcAft>
                <a:spcPts val="300"/>
              </a:spcAft>
              <a:buClr>
                <a:srgbClr val="29BA74"/>
              </a:buClr>
              <a:buSzTx/>
              <a:buFont typeface="Arial" panose="020B0604020202020204" pitchFamily="34" charset="0"/>
              <a:buChar char="•"/>
              <a:tabLst/>
              <a:defRPr/>
            </a:pPr>
            <a:r>
              <a:rPr kumimoji="0" lang="en-US" sz="1200" b="0" i="0" u="none" strike="noStrike" kern="1200" cap="none" spc="0" normalizeH="0" baseline="0" noProof="0">
                <a:ln>
                  <a:noFill/>
                </a:ln>
                <a:solidFill>
                  <a:srgbClr val="575757"/>
                </a:solidFill>
                <a:effectLst/>
                <a:uLnTx/>
                <a:uFillTx/>
                <a:latin typeface="Trebuchet MS" panose="020B0603020202020204" pitchFamily="34" charset="0"/>
                <a:ea typeface="+mn-ea"/>
                <a:cs typeface="+mn-cs"/>
              </a:rPr>
              <a:t>Designed a target architecture to optimally combine in-house machine learning models &amp; </a:t>
            </a:r>
            <a:r>
              <a:rPr kumimoji="0" lang="en-US" sz="1200" b="0" i="0" u="none" strike="noStrike" kern="1200" cap="none" spc="0" normalizeH="0" baseline="0" noProof="0" err="1">
                <a:ln>
                  <a:noFill/>
                </a:ln>
                <a:solidFill>
                  <a:srgbClr val="575757"/>
                </a:solidFill>
                <a:effectLst/>
                <a:uLnTx/>
                <a:uFillTx/>
                <a:latin typeface="Trebuchet MS" panose="020B0603020202020204" pitchFamily="34" charset="0"/>
                <a:ea typeface="+mn-ea"/>
                <a:cs typeface="+mn-cs"/>
              </a:rPr>
              <a:t>PEGA</a:t>
            </a:r>
            <a:r>
              <a:rPr kumimoji="0" lang="en-US" sz="1200" b="0" i="0" u="none" strike="noStrike" kern="1200" cap="none" spc="0" normalizeH="0" baseline="0" noProof="0">
                <a:ln>
                  <a:noFill/>
                </a:ln>
                <a:solidFill>
                  <a:srgbClr val="575757"/>
                </a:solidFill>
                <a:effectLst/>
                <a:uLnTx/>
                <a:uFillTx/>
                <a:latin typeface="Trebuchet MS" panose="020B0603020202020204" pitchFamily="34" charset="0"/>
                <a:ea typeface="+mn-ea"/>
                <a:cs typeface="+mn-cs"/>
              </a:rPr>
              <a:t> CDH system capabilities</a:t>
            </a:r>
          </a:p>
          <a:p>
            <a:pPr marL="284400" marR="0" lvl="1" indent="-172800" algn="l" defTabSz="914400" rtl="0" eaLnBrk="1" fontAlgn="auto" latinLnBrk="0" hangingPunct="1">
              <a:lnSpc>
                <a:spcPct val="90000"/>
              </a:lnSpc>
              <a:spcBef>
                <a:spcPts val="0"/>
              </a:spcBef>
              <a:spcAft>
                <a:spcPts val="300"/>
              </a:spcAft>
              <a:buClr>
                <a:srgbClr val="29BA74"/>
              </a:buClr>
              <a:buSzTx/>
              <a:buFont typeface="Arial" panose="020B0604020202020204" pitchFamily="34" charset="0"/>
              <a:buChar char="•"/>
              <a:tabLst/>
              <a:defRPr/>
            </a:pPr>
            <a:r>
              <a:rPr kumimoji="0" lang="en-US" sz="1200" b="0" i="0" u="none" strike="noStrike" kern="1200" cap="none" spc="0" normalizeH="0" baseline="0" noProof="0">
                <a:ln>
                  <a:noFill/>
                </a:ln>
                <a:solidFill>
                  <a:srgbClr val="575757"/>
                </a:solidFill>
                <a:effectLst/>
                <a:uLnTx/>
                <a:uFillTx/>
                <a:latin typeface="Trebuchet MS" panose="020B0603020202020204" pitchFamily="34" charset="0"/>
                <a:ea typeface="+mn-ea"/>
                <a:cs typeface="+mn-cs"/>
              </a:rPr>
              <a:t>Defined a roadmap for expanding Customer 360 DNA</a:t>
            </a:r>
          </a:p>
          <a:p>
            <a:pPr marL="284400" marR="0" lvl="1" indent="-172800" algn="l" defTabSz="914400" rtl="0" eaLnBrk="1" fontAlgn="auto" latinLnBrk="0" hangingPunct="1">
              <a:lnSpc>
                <a:spcPct val="90000"/>
              </a:lnSpc>
              <a:spcBef>
                <a:spcPts val="0"/>
              </a:spcBef>
              <a:spcAft>
                <a:spcPts val="300"/>
              </a:spcAft>
              <a:buClr>
                <a:srgbClr val="29BA74"/>
              </a:buClr>
              <a:buSzTx/>
              <a:buFont typeface="Arial" panose="020B0604020202020204" pitchFamily="34" charset="0"/>
              <a:buChar char="•"/>
              <a:tabLst/>
              <a:defRPr/>
            </a:pPr>
            <a:r>
              <a:rPr kumimoji="0" lang="en-US" sz="1200" b="0" i="0" u="none" strike="noStrike" kern="1200" cap="none" spc="0" normalizeH="0" baseline="0" noProof="0">
                <a:ln>
                  <a:noFill/>
                </a:ln>
                <a:solidFill>
                  <a:srgbClr val="575757"/>
                </a:solidFill>
                <a:effectLst/>
                <a:uLnTx/>
                <a:uFillTx/>
                <a:latin typeface="Trebuchet MS" panose="020B0603020202020204" pitchFamily="34" charset="0"/>
                <a:ea typeface="+mn-ea"/>
                <a:cs typeface="+mn-cs"/>
              </a:rPr>
              <a:t>Identified 3rd party channel acquisition opportunities in paid media and </a:t>
            </a:r>
            <a:r>
              <a:rPr kumimoji="0" lang="en-US" sz="1200" b="0" i="0" u="none" strike="noStrike" kern="1200" cap="none" spc="0" normalizeH="0" baseline="0" noProof="0" err="1">
                <a:ln>
                  <a:noFill/>
                </a:ln>
                <a:solidFill>
                  <a:srgbClr val="575757"/>
                </a:solidFill>
                <a:effectLst/>
                <a:uLnTx/>
                <a:uFillTx/>
                <a:latin typeface="Trebuchet MS" panose="020B0603020202020204" pitchFamily="34" charset="0"/>
                <a:ea typeface="+mn-ea"/>
                <a:cs typeface="+mn-cs"/>
              </a:rPr>
              <a:t>UX</a:t>
            </a:r>
            <a:r>
              <a:rPr kumimoji="0" lang="en-US" sz="1200" b="0" i="0" u="none" strike="noStrike" kern="1200" cap="none" spc="0" normalizeH="0" baseline="0" noProof="0">
                <a:ln>
                  <a:noFill/>
                </a:ln>
                <a:solidFill>
                  <a:srgbClr val="575757"/>
                </a:solidFill>
                <a:effectLst/>
                <a:uLnTx/>
                <a:uFillTx/>
                <a:latin typeface="Trebuchet MS" panose="020B0603020202020204" pitchFamily="34" charset="0"/>
                <a:ea typeface="+mn-ea"/>
                <a:cs typeface="+mn-cs"/>
              </a:rPr>
              <a:t>/CRO</a:t>
            </a:r>
          </a:p>
          <a:p>
            <a:pPr marL="284400" marR="0" lvl="1" indent="-172800" algn="l" defTabSz="914400" rtl="0" eaLnBrk="1" fontAlgn="auto" latinLnBrk="0" hangingPunct="1">
              <a:lnSpc>
                <a:spcPct val="90000"/>
              </a:lnSpc>
              <a:spcBef>
                <a:spcPts val="0"/>
              </a:spcBef>
              <a:spcAft>
                <a:spcPts val="300"/>
              </a:spcAft>
              <a:buClr>
                <a:srgbClr val="29BA74"/>
              </a:buClr>
              <a:buSzTx/>
              <a:buFont typeface="Arial" panose="020B0604020202020204" pitchFamily="34" charset="0"/>
              <a:buChar char="•"/>
              <a:tabLst/>
              <a:defRPr/>
            </a:pPr>
            <a:endParaRPr kumimoji="0" lang="en-US" sz="1200" b="0" i="0" u="none" strike="noStrike" kern="1200" cap="none" spc="0" normalizeH="0" baseline="0" noProof="0">
              <a:ln>
                <a:noFill/>
              </a:ln>
              <a:solidFill>
                <a:srgbClr val="575757"/>
              </a:solidFill>
              <a:effectLst/>
              <a:uLnTx/>
              <a:uFillTx/>
              <a:latin typeface="Trebuchet MS" panose="020B0603020202020204" pitchFamily="34" charset="0"/>
              <a:ea typeface="+mn-ea"/>
              <a:cs typeface="+mn-cs"/>
            </a:endParaRPr>
          </a:p>
          <a:p>
            <a:pPr marL="284400" marR="0" lvl="1" indent="-172800" algn="l" defTabSz="914400" rtl="0" eaLnBrk="1" fontAlgn="auto" latinLnBrk="0" hangingPunct="1">
              <a:lnSpc>
                <a:spcPct val="90000"/>
              </a:lnSpc>
              <a:spcBef>
                <a:spcPts val="0"/>
              </a:spcBef>
              <a:spcAft>
                <a:spcPts val="300"/>
              </a:spcAft>
              <a:buClr>
                <a:srgbClr val="29BA74"/>
              </a:buClr>
              <a:buSzTx/>
              <a:buFont typeface="Arial" panose="020B0604020202020204" pitchFamily="34" charset="0"/>
              <a:buChar char="•"/>
              <a:tabLst/>
              <a:defRPr/>
            </a:pPr>
            <a:endParaRPr kumimoji="0" lang="en-US" sz="1200" b="0" i="0" u="none" strike="noStrike" kern="1200" cap="none" spc="0" normalizeH="0" baseline="0" noProof="0">
              <a:ln>
                <a:noFill/>
              </a:ln>
              <a:solidFill>
                <a:srgbClr val="575757"/>
              </a:solidFill>
              <a:effectLst/>
              <a:uLnTx/>
              <a:uFillTx/>
              <a:latin typeface="Trebuchet MS" panose="020B0603020202020204" pitchFamily="34" charset="0"/>
              <a:ea typeface="+mn-ea"/>
              <a:cs typeface="+mn-cs"/>
            </a:endParaRPr>
          </a:p>
        </p:txBody>
      </p:sp>
      <p:sp>
        <p:nvSpPr>
          <p:cNvPr id="10" name="ee4pHeader1"/>
          <p:cNvSpPr txBox="1"/>
          <p:nvPr/>
        </p:nvSpPr>
        <p:spPr>
          <a:xfrm>
            <a:off x="630000" y="1920338"/>
            <a:ext cx="3128441" cy="354430"/>
          </a:xfrm>
          <a:prstGeom prst="rect">
            <a:avLst/>
          </a:prstGeom>
          <a:noFill/>
        </p:spPr>
        <p:txBody>
          <a:bodyPr wrap="square" lIns="0" tIns="0" rIns="0" bIns="0" rtlCol="0" anchor="b"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9BA74"/>
                </a:solidFill>
                <a:effectLst/>
                <a:uLnTx/>
                <a:uFillTx/>
                <a:latin typeface="Trebuchet MS"/>
                <a:ea typeface="+mn-ea"/>
                <a:cs typeface="+mn-cs"/>
              </a:rPr>
              <a:t>Our client </a:t>
            </a:r>
          </a:p>
        </p:txBody>
      </p:sp>
      <p:sp>
        <p:nvSpPr>
          <p:cNvPr id="11" name="ee4pHeader2"/>
          <p:cNvSpPr txBox="1"/>
          <p:nvPr/>
        </p:nvSpPr>
        <p:spPr>
          <a:xfrm>
            <a:off x="4372956" y="1920338"/>
            <a:ext cx="3128441" cy="354430"/>
          </a:xfrm>
          <a:prstGeom prst="rect">
            <a:avLst/>
          </a:prstGeom>
          <a:noFill/>
        </p:spPr>
        <p:txBody>
          <a:bodyPr wrap="square" lIns="0" tIns="0" rIns="0" bIns="0" rtlCol="0" anchor="b"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9BA74"/>
                </a:solidFill>
                <a:effectLst/>
                <a:uLnTx/>
                <a:uFillTx/>
                <a:latin typeface="Trebuchet MS"/>
                <a:ea typeface="+mn-ea"/>
                <a:cs typeface="+mn-cs"/>
              </a:rPr>
              <a:t>What BCG did</a:t>
            </a:r>
          </a:p>
        </p:txBody>
      </p:sp>
      <p:sp>
        <p:nvSpPr>
          <p:cNvPr id="65" name="ee4pContent1"/>
          <p:cNvSpPr txBox="1"/>
          <p:nvPr/>
        </p:nvSpPr>
        <p:spPr>
          <a:xfrm>
            <a:off x="535731" y="3807702"/>
            <a:ext cx="3129813" cy="1942842"/>
          </a:xfrm>
          <a:prstGeom prst="rect">
            <a:avLst/>
          </a:prstGeom>
        </p:spPr>
        <p:txBody>
          <a:bodyPr vert="horz" lIns="0" tIns="0" rIns="0" bIns="0" rtlCol="0">
            <a:noAutofit/>
          </a:bodyPr>
          <a:lstStyle>
            <a:lvl1pPr lvl="0" indent="0">
              <a:lnSpc>
                <a:spcPct val="110000"/>
              </a:lnSpc>
              <a:spcBef>
                <a:spcPts val="600"/>
              </a:spcBef>
              <a:spcAft>
                <a:spcPts val="300"/>
              </a:spcAft>
              <a:buFont typeface="Arial" panose="020B0604020202020204" pitchFamily="34" charset="0"/>
              <a:buChar char="​"/>
              <a:defRPr lang="en-US" sz="1200">
                <a:latin typeface="Trebuchet MS" panose="020B0603020202020204" pitchFamily="34" charset="0"/>
                <a:sym typeface="Trebuchet MS" panose="020B0603020202020204" pitchFamily="34" charset="0"/>
              </a:defRPr>
            </a:lvl1pPr>
            <a:lvl2pPr marL="284400" lvl="1" indent="-172800">
              <a:lnSpc>
                <a:spcPct val="90000"/>
              </a:lnSpc>
              <a:spcBef>
                <a:spcPts val="0"/>
              </a:spcBef>
              <a:spcAft>
                <a:spcPts val="300"/>
              </a:spcAft>
              <a:buClr>
                <a:schemeClr val="tx2"/>
              </a:buClr>
              <a:buFont typeface="Arial" panose="020B0604020202020204" pitchFamily="34" charset="0"/>
              <a:buChar char="•"/>
              <a:defRPr lang="en-US" sz="1200">
                <a:latin typeface="Trebuchet MS" panose="020B0603020202020204" pitchFamily="34" charset="0"/>
                <a:sym typeface="Trebuchet MS" panose="020B0603020202020204" pitchFamily="34" charset="0"/>
              </a:defRPr>
            </a:lvl2pPr>
            <a:lvl3pPr marL="511200" lvl="2" indent="-165600">
              <a:lnSpc>
                <a:spcPct val="90000"/>
              </a:lnSpc>
              <a:spcBef>
                <a:spcPts val="0"/>
              </a:spcBef>
              <a:spcAft>
                <a:spcPts val="300"/>
              </a:spcAft>
              <a:buClr>
                <a:schemeClr val="tx2"/>
              </a:buClr>
              <a:buFont typeface="Trebuchet MS" panose="020B0603020202020204" pitchFamily="34" charset="0"/>
              <a:buChar char="–"/>
              <a:defRPr lang="en-US" sz="1200">
                <a:latin typeface="Trebuchet MS" panose="020B0603020202020204" pitchFamily="34" charset="0"/>
                <a:sym typeface="Trebuchet MS" panose="020B0603020202020204" pitchFamily="34" charset="0"/>
              </a:defRPr>
            </a:lvl3pPr>
            <a:lvl4pPr marL="0" lvl="3" indent="0">
              <a:lnSpc>
                <a:spcPct val="110000"/>
              </a:lnSpc>
              <a:spcBef>
                <a:spcPts val="300"/>
              </a:spcBef>
              <a:spcAft>
                <a:spcPts val="300"/>
              </a:spcAft>
              <a:buClr>
                <a:schemeClr val="tx2"/>
              </a:buClr>
              <a:buFont typeface="Arial" panose="020B0604020202020204" pitchFamily="34" charset="0"/>
              <a:buChar char="​"/>
              <a:defRPr lang="en-US" sz="1600">
                <a:solidFill>
                  <a:schemeClr val="tx2"/>
                </a:solidFill>
                <a:latin typeface="Trebuchet MS" panose="020B0603020202020204" pitchFamily="34" charset="0"/>
                <a:sym typeface="Trebuchet MS" panose="020B0603020202020204" pitchFamily="34" charset="0"/>
              </a:defRPr>
            </a:lvl4pPr>
            <a:lvl5pPr marL="0" lvl="4" indent="0">
              <a:lnSpc>
                <a:spcPct val="100000"/>
              </a:lnSpc>
              <a:spcBef>
                <a:spcPts val="0"/>
              </a:spcBef>
              <a:spcAft>
                <a:spcPts val="300"/>
              </a:spcAft>
              <a:buClrTx/>
              <a:buFont typeface="Arial" panose="020B0604020202020204" pitchFamily="34" charset="0"/>
              <a:buChar char="​"/>
              <a:defRPr lang="en-US" sz="1600" b="1" smtClean="0">
                <a:latin typeface="Trebuchet MS" panose="020B0603020202020204" pitchFamily="34" charset="0"/>
                <a:sym typeface="Trebuchet MS" panose="020B0603020202020204" pitchFamily="34" charset="0"/>
              </a:defRPr>
            </a:lvl5pPr>
            <a:lvl6pPr marL="269875" lvl="5" indent="-152400">
              <a:lnSpc>
                <a:spcPct val="90000"/>
              </a:lnSpc>
              <a:spcBef>
                <a:spcPts val="0"/>
              </a:spcBef>
              <a:spcAft>
                <a:spcPts val="600"/>
              </a:spcAft>
              <a:buClr>
                <a:schemeClr val="tx2"/>
              </a:buClr>
              <a:buFont typeface="Arial" panose="020B0604020202020204" pitchFamily="34" charset="0"/>
              <a:buChar char="•"/>
              <a:defRPr lang="en-US" sz="1600" smtClean="0">
                <a:latin typeface="Trebuchet MS" panose="020B0603020202020204" pitchFamily="34" charset="0"/>
                <a:sym typeface="Trebuchet MS" panose="020B0603020202020204" pitchFamily="34" charset="0"/>
              </a:defRPr>
            </a:lvl6pPr>
            <a:lvl7pPr marL="0" lvl="6" indent="0">
              <a:lnSpc>
                <a:spcPct val="90000"/>
              </a:lnSpc>
              <a:spcBef>
                <a:spcPts val="900"/>
              </a:spcBef>
              <a:spcAft>
                <a:spcPts val="900"/>
              </a:spcAft>
              <a:buFont typeface="Arial" panose="020B0604020202020204" pitchFamily="34" charset="0"/>
              <a:buChar char="​"/>
              <a:defRPr lang="en-US" sz="4400" baseline="0" smtClean="0">
                <a:latin typeface="Trebuchet MS" panose="020B0603020202020204" pitchFamily="34" charset="0"/>
                <a:sym typeface="Trebuchet MS" panose="020B0603020202020204" pitchFamily="34" charset="0"/>
              </a:defRPr>
            </a:lvl7pPr>
            <a:lvl8pPr marL="0" lvl="7" indent="0">
              <a:lnSpc>
                <a:spcPct val="90000"/>
              </a:lnSpc>
              <a:spcBef>
                <a:spcPts val="900"/>
              </a:spcBef>
              <a:spcAft>
                <a:spcPts val="0"/>
              </a:spcAft>
              <a:buFont typeface="Arial" panose="020B0604020202020204" pitchFamily="34" charset="0"/>
              <a:buChar char="​"/>
              <a:defRPr lang="en-US" sz="5400" baseline="0" smtClean="0">
                <a:solidFill>
                  <a:schemeClr val="tx2"/>
                </a:solidFill>
                <a:latin typeface="Trebuchet MS" panose="020B0603020202020204" pitchFamily="34" charset="0"/>
                <a:sym typeface="Trebuchet MS" panose="020B0603020202020204" pitchFamily="34" charset="0"/>
              </a:defRPr>
            </a:lvl8pPr>
            <a:lvl9pPr marL="0" lvl="8" indent="0">
              <a:lnSpc>
                <a:spcPct val="100000"/>
              </a:lnSpc>
              <a:spcBef>
                <a:spcPts val="0"/>
              </a:spcBef>
              <a:spcAft>
                <a:spcPts val="900"/>
              </a:spcAft>
              <a:buFont typeface="Arial" panose="020B0604020202020204" pitchFamily="34" charset="0"/>
              <a:buChar char="​"/>
              <a:defRPr lang="en-US" sz="2400" baseline="0" dirty="0">
                <a:solidFill>
                  <a:schemeClr val="tx2"/>
                </a:solidFill>
                <a:latin typeface="Trebuchet MS" panose="020B0603020202020204" pitchFamily="34" charset="0"/>
                <a:sym typeface="Trebuchet MS" panose="020B0603020202020204" pitchFamily="34" charset="0"/>
              </a:defRPr>
            </a:lvl9pPr>
          </a:lstStyle>
          <a:p>
            <a:pPr marL="108000" marR="0" lvl="1" indent="0" algn="l" defTabSz="914400" rtl="0" eaLnBrk="1" fontAlgn="auto" latinLnBrk="0" hangingPunct="1">
              <a:lnSpc>
                <a:spcPct val="100000"/>
              </a:lnSpc>
              <a:spcBef>
                <a:spcPts val="0"/>
              </a:spcBef>
              <a:spcAft>
                <a:spcPts val="0"/>
              </a:spcAft>
              <a:buClr>
                <a:srgbClr val="29BA74"/>
              </a:buClr>
              <a:buSzPct val="100000"/>
              <a:buFont typeface="Arial" panose="020B0604020202020204" pitchFamily="34" charset="0"/>
              <a:buNone/>
              <a:tabLst/>
              <a:defRPr/>
            </a:pPr>
            <a:r>
              <a:rPr kumimoji="0" lang="en-US" sz="1200" b="0" i="0" u="none" strike="noStrike" kern="1200" cap="none" spc="0" normalizeH="0" baseline="0" noProof="0">
                <a:ln>
                  <a:noFill/>
                </a:ln>
                <a:solidFill>
                  <a:srgbClr val="575757">
                    <a:lumMod val="100000"/>
                  </a:srgbClr>
                </a:solidFill>
                <a:effectLst/>
                <a:uLnTx/>
                <a:uFillTx/>
                <a:latin typeface="Trebuchet MS" panose="020B0603020202020204" pitchFamily="34" charset="0"/>
                <a:ea typeface="+mn-ea"/>
                <a:cs typeface="+mn-cs"/>
                <a:sym typeface="+mn-lt"/>
              </a:rPr>
              <a:t>The novel customer segmentation approach represents an important pillar of the ambitious overall personalization transformation of the retail business. </a:t>
            </a:r>
          </a:p>
          <a:p>
            <a:pPr marL="108000" marR="0" lvl="1" indent="0" algn="l" defTabSz="914400" rtl="0" eaLnBrk="1" fontAlgn="auto" latinLnBrk="0" hangingPunct="1">
              <a:lnSpc>
                <a:spcPct val="100000"/>
              </a:lnSpc>
              <a:spcBef>
                <a:spcPts val="0"/>
              </a:spcBef>
              <a:spcAft>
                <a:spcPts val="0"/>
              </a:spcAft>
              <a:buClr>
                <a:srgbClr val="29BA74"/>
              </a:buClr>
              <a:buSzPct val="100000"/>
              <a:buFont typeface="Arial" panose="020B0604020202020204" pitchFamily="34" charset="0"/>
              <a:buNone/>
              <a:tabLst/>
              <a:defRPr/>
            </a:pPr>
            <a:endParaRPr kumimoji="0" lang="en-US" sz="1200" b="0" i="0" u="none" strike="noStrike" kern="1200" cap="none" spc="0" normalizeH="0" baseline="0" noProof="0">
              <a:ln>
                <a:noFill/>
              </a:ln>
              <a:solidFill>
                <a:srgbClr val="575757">
                  <a:lumMod val="100000"/>
                </a:srgbClr>
              </a:solidFill>
              <a:effectLst/>
              <a:uLnTx/>
              <a:uFillTx/>
              <a:latin typeface="Trebuchet MS" panose="020B0603020202020204" pitchFamily="34" charset="0"/>
              <a:ea typeface="+mn-ea"/>
              <a:cs typeface="+mn-cs"/>
              <a:sym typeface="+mn-lt"/>
            </a:endParaRPr>
          </a:p>
          <a:p>
            <a:pPr marL="108000" marR="0" lvl="1" indent="0" algn="l" defTabSz="914400" rtl="0" eaLnBrk="1" fontAlgn="auto" latinLnBrk="0" hangingPunct="1">
              <a:lnSpc>
                <a:spcPct val="100000"/>
              </a:lnSpc>
              <a:spcBef>
                <a:spcPts val="0"/>
              </a:spcBef>
              <a:spcAft>
                <a:spcPts val="0"/>
              </a:spcAft>
              <a:buClr>
                <a:srgbClr val="29BA74"/>
              </a:buClr>
              <a:buSzPct val="100000"/>
              <a:buFont typeface="Arial" panose="020B0604020202020204" pitchFamily="34" charset="0"/>
              <a:buNone/>
              <a:tabLst/>
              <a:defRPr/>
            </a:pPr>
            <a:r>
              <a:rPr kumimoji="0" lang="en-US" sz="1200" b="0" i="0" u="none" strike="noStrike" kern="1200" cap="none" spc="0" normalizeH="0" baseline="0" noProof="0">
                <a:ln>
                  <a:noFill/>
                </a:ln>
                <a:solidFill>
                  <a:srgbClr val="575757">
                    <a:lumMod val="100000"/>
                  </a:srgbClr>
                </a:solidFill>
                <a:effectLst/>
                <a:uLnTx/>
                <a:uFillTx/>
                <a:latin typeface="Trebuchet MS" panose="020B0603020202020204" pitchFamily="34" charset="0"/>
                <a:ea typeface="+mn-ea"/>
                <a:cs typeface="+mn-cs"/>
                <a:sym typeface="+mn-lt"/>
              </a:rPr>
              <a:t>This project aimed to develop more granular, data-driven customer segmentation, while boosting data science, digital sales, &amp; marketing capabilities and complementing the capabilities of the newly acquired customer relationship management tool </a:t>
            </a:r>
            <a:r>
              <a:rPr kumimoji="0" lang="en-US" sz="1200" b="0" i="0" u="none" strike="noStrike" kern="1200" cap="none" spc="0" normalizeH="0" baseline="0" noProof="0" err="1">
                <a:ln>
                  <a:noFill/>
                </a:ln>
                <a:solidFill>
                  <a:srgbClr val="575757">
                    <a:lumMod val="100000"/>
                  </a:srgbClr>
                </a:solidFill>
                <a:effectLst/>
                <a:uLnTx/>
                <a:uFillTx/>
                <a:latin typeface="Trebuchet MS" panose="020B0603020202020204" pitchFamily="34" charset="0"/>
                <a:ea typeface="+mn-ea"/>
                <a:cs typeface="+mn-cs"/>
                <a:sym typeface="+mn-lt"/>
              </a:rPr>
              <a:t>PEGA</a:t>
            </a:r>
            <a:r>
              <a:rPr kumimoji="0" lang="en-US" sz="1200" b="0" i="0" u="none" strike="noStrike" kern="1200" cap="none" spc="0" normalizeH="0" baseline="0" noProof="0">
                <a:ln>
                  <a:noFill/>
                </a:ln>
                <a:solidFill>
                  <a:srgbClr val="575757">
                    <a:lumMod val="100000"/>
                  </a:srgbClr>
                </a:solidFill>
                <a:effectLst/>
                <a:uLnTx/>
                <a:uFillTx/>
                <a:latin typeface="Trebuchet MS" panose="020B0603020202020204" pitchFamily="34" charset="0"/>
                <a:ea typeface="+mn-ea"/>
                <a:cs typeface="+mn-cs"/>
                <a:sym typeface="+mn-lt"/>
              </a:rPr>
              <a:t> Customer Decision Hub (CDH)</a:t>
            </a:r>
          </a:p>
          <a:p>
            <a:pPr marL="108000" marR="0" lvl="1" indent="0" algn="l" defTabSz="914400" rtl="0" eaLnBrk="1" fontAlgn="auto" latinLnBrk="0" hangingPunct="1">
              <a:lnSpc>
                <a:spcPct val="100000"/>
              </a:lnSpc>
              <a:spcBef>
                <a:spcPts val="0"/>
              </a:spcBef>
              <a:spcAft>
                <a:spcPts val="0"/>
              </a:spcAft>
              <a:buClr>
                <a:srgbClr val="29BA74"/>
              </a:buClr>
              <a:buSzPct val="100000"/>
              <a:buFont typeface="Arial" panose="020B0604020202020204" pitchFamily="34" charset="0"/>
              <a:buNone/>
              <a:tabLst/>
              <a:defRPr/>
            </a:pPr>
            <a:endParaRPr kumimoji="0" lang="en-US" sz="1200" b="0" i="0" u="none" strike="noStrike" kern="1200" cap="none" spc="0" normalizeH="0" baseline="0" noProof="0">
              <a:ln>
                <a:noFill/>
              </a:ln>
              <a:solidFill>
                <a:srgbClr val="575757"/>
              </a:solidFill>
              <a:effectLst/>
              <a:uLnTx/>
              <a:uFillTx/>
              <a:latin typeface="Trebuchet MS" panose="020B0603020202020204" pitchFamily="34" charset="0"/>
              <a:ea typeface="+mn-ea"/>
              <a:cs typeface="+mn-cs"/>
              <a:sym typeface="+mn-lt"/>
            </a:endParaRPr>
          </a:p>
        </p:txBody>
      </p:sp>
      <p:sp>
        <p:nvSpPr>
          <p:cNvPr id="66" name="ee4pHeader1"/>
          <p:cNvSpPr txBox="1"/>
          <p:nvPr/>
        </p:nvSpPr>
        <p:spPr>
          <a:xfrm>
            <a:off x="620574" y="3400844"/>
            <a:ext cx="3128441" cy="302026"/>
          </a:xfrm>
          <a:prstGeom prst="rect">
            <a:avLst/>
          </a:prstGeom>
          <a:noFill/>
        </p:spPr>
        <p:txBody>
          <a:bodyPr wrap="square" lIns="0" tIns="0" rIns="0" bIns="0" rtlCol="0" anchor="b"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9BA74"/>
                </a:solidFill>
                <a:effectLst/>
                <a:uLnTx/>
                <a:uFillTx/>
                <a:latin typeface="Trebuchet MS"/>
                <a:ea typeface="+mn-ea"/>
                <a:cs typeface="+mn-cs"/>
              </a:rPr>
              <a:t>Context</a:t>
            </a:r>
          </a:p>
        </p:txBody>
      </p:sp>
      <p:grpSp>
        <p:nvGrpSpPr>
          <p:cNvPr id="67" name="Group 66"/>
          <p:cNvGrpSpPr>
            <a:grpSpLocks/>
          </p:cNvGrpSpPr>
          <p:nvPr/>
        </p:nvGrpSpPr>
        <p:grpSpPr>
          <a:xfrm>
            <a:off x="9475496" y="498770"/>
            <a:ext cx="1315518" cy="1316736"/>
            <a:chOff x="5273801" y="2606040"/>
            <a:chExt cx="1644397" cy="1645920"/>
          </a:xfrm>
        </p:grpSpPr>
        <p:sp>
          <p:nvSpPr>
            <p:cNvPr id="68" name="AutoShape 119"/>
            <p:cNvSpPr>
              <a:spLocks noChangeAspect="1" noChangeArrowheads="1" noTextEdit="1"/>
            </p:cNvSpPr>
            <p:nvPr/>
          </p:nvSpPr>
          <p:spPr bwMode="auto">
            <a:xfrm>
              <a:off x="5273801" y="2606040"/>
              <a:ext cx="1644397" cy="1645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69" name="Freeform 121"/>
            <p:cNvSpPr>
              <a:spLocks/>
            </p:cNvSpPr>
            <p:nvPr/>
          </p:nvSpPr>
          <p:spPr bwMode="auto">
            <a:xfrm>
              <a:off x="6436614" y="3427476"/>
              <a:ext cx="291084" cy="211455"/>
            </a:xfrm>
            <a:custGeom>
              <a:avLst/>
              <a:gdLst>
                <a:gd name="T0" fmla="*/ 163 w 408"/>
                <a:gd name="T1" fmla="*/ 36 h 296"/>
                <a:gd name="T2" fmla="*/ 0 w 408"/>
                <a:gd name="T3" fmla="*/ 188 h 296"/>
                <a:gd name="T4" fmla="*/ 209 w 408"/>
                <a:gd name="T5" fmla="*/ 139 h 296"/>
                <a:gd name="T6" fmla="*/ 19 w 408"/>
                <a:gd name="T7" fmla="*/ 230 h 296"/>
                <a:gd name="T8" fmla="*/ 235 w 408"/>
                <a:gd name="T9" fmla="*/ 273 h 296"/>
                <a:gd name="T10" fmla="*/ 408 w 408"/>
                <a:gd name="T11" fmla="*/ 90 h 296"/>
                <a:gd name="T12" fmla="*/ 163 w 408"/>
                <a:gd name="T13" fmla="*/ 36 h 296"/>
              </a:gdLst>
              <a:ahLst/>
              <a:cxnLst>
                <a:cxn ang="0">
                  <a:pos x="T0" y="T1"/>
                </a:cxn>
                <a:cxn ang="0">
                  <a:pos x="T2" y="T3"/>
                </a:cxn>
                <a:cxn ang="0">
                  <a:pos x="T4" y="T5"/>
                </a:cxn>
                <a:cxn ang="0">
                  <a:pos x="T6" y="T7"/>
                </a:cxn>
                <a:cxn ang="0">
                  <a:pos x="T8" y="T9"/>
                </a:cxn>
                <a:cxn ang="0">
                  <a:pos x="T10" y="T11"/>
                </a:cxn>
                <a:cxn ang="0">
                  <a:pos x="T12" y="T13"/>
                </a:cxn>
              </a:cxnLst>
              <a:rect l="0" t="0" r="r" b="b"/>
              <a:pathLst>
                <a:path w="408" h="296">
                  <a:moveTo>
                    <a:pt x="163" y="36"/>
                  </a:moveTo>
                  <a:cubicBezTo>
                    <a:pt x="87" y="58"/>
                    <a:pt x="25" y="142"/>
                    <a:pt x="0" y="188"/>
                  </a:cubicBezTo>
                  <a:cubicBezTo>
                    <a:pt x="0" y="188"/>
                    <a:pt x="198" y="113"/>
                    <a:pt x="209" y="139"/>
                  </a:cubicBezTo>
                  <a:cubicBezTo>
                    <a:pt x="220" y="166"/>
                    <a:pt x="19" y="230"/>
                    <a:pt x="19" y="230"/>
                  </a:cubicBezTo>
                  <a:cubicBezTo>
                    <a:pt x="66" y="254"/>
                    <a:pt x="160" y="296"/>
                    <a:pt x="235" y="273"/>
                  </a:cubicBezTo>
                  <a:cubicBezTo>
                    <a:pt x="350" y="238"/>
                    <a:pt x="408" y="90"/>
                    <a:pt x="408" y="90"/>
                  </a:cubicBezTo>
                  <a:cubicBezTo>
                    <a:pt x="408" y="90"/>
                    <a:pt x="279" y="0"/>
                    <a:pt x="163" y="3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70" name="Freeform 122"/>
            <p:cNvSpPr>
              <a:spLocks/>
            </p:cNvSpPr>
            <p:nvPr/>
          </p:nvSpPr>
          <p:spPr bwMode="auto">
            <a:xfrm>
              <a:off x="6535674" y="3247644"/>
              <a:ext cx="160020" cy="164973"/>
            </a:xfrm>
            <a:custGeom>
              <a:avLst/>
              <a:gdLst>
                <a:gd name="T0" fmla="*/ 104 w 224"/>
                <a:gd name="T1" fmla="*/ 105 h 231"/>
                <a:gd name="T2" fmla="*/ 31 w 224"/>
                <a:gd name="T3" fmla="*/ 231 h 231"/>
                <a:gd name="T4" fmla="*/ 170 w 224"/>
                <a:gd name="T5" fmla="*/ 171 h 231"/>
                <a:gd name="T6" fmla="*/ 199 w 224"/>
                <a:gd name="T7" fmla="*/ 1 h 231"/>
                <a:gd name="T8" fmla="*/ 38 w 224"/>
                <a:gd name="T9" fmla="*/ 65 h 231"/>
                <a:gd name="T10" fmla="*/ 3 w 224"/>
                <a:gd name="T11" fmla="*/ 215 h 231"/>
                <a:gd name="T12" fmla="*/ 104 w 224"/>
                <a:gd name="T13" fmla="*/ 105 h 231"/>
              </a:gdLst>
              <a:ahLst/>
              <a:cxnLst>
                <a:cxn ang="0">
                  <a:pos x="T0" y="T1"/>
                </a:cxn>
                <a:cxn ang="0">
                  <a:pos x="T2" y="T3"/>
                </a:cxn>
                <a:cxn ang="0">
                  <a:pos x="T4" y="T5"/>
                </a:cxn>
                <a:cxn ang="0">
                  <a:pos x="T6" y="T7"/>
                </a:cxn>
                <a:cxn ang="0">
                  <a:pos x="T8" y="T9"/>
                </a:cxn>
                <a:cxn ang="0">
                  <a:pos x="T10" y="T11"/>
                </a:cxn>
                <a:cxn ang="0">
                  <a:pos x="T12" y="T13"/>
                </a:cxn>
              </a:cxnLst>
              <a:rect l="0" t="0" r="r" b="b"/>
              <a:pathLst>
                <a:path w="224" h="231">
                  <a:moveTo>
                    <a:pt x="104" y="105"/>
                  </a:moveTo>
                  <a:cubicBezTo>
                    <a:pt x="121" y="116"/>
                    <a:pt x="31" y="231"/>
                    <a:pt x="31" y="231"/>
                  </a:cubicBezTo>
                  <a:cubicBezTo>
                    <a:pt x="67" y="226"/>
                    <a:pt x="137" y="214"/>
                    <a:pt x="170" y="171"/>
                  </a:cubicBezTo>
                  <a:cubicBezTo>
                    <a:pt x="224" y="107"/>
                    <a:pt x="199" y="1"/>
                    <a:pt x="199" y="1"/>
                  </a:cubicBezTo>
                  <a:cubicBezTo>
                    <a:pt x="199" y="1"/>
                    <a:pt x="90" y="0"/>
                    <a:pt x="38" y="65"/>
                  </a:cubicBezTo>
                  <a:cubicBezTo>
                    <a:pt x="3" y="107"/>
                    <a:pt x="0" y="178"/>
                    <a:pt x="3" y="215"/>
                  </a:cubicBezTo>
                  <a:cubicBezTo>
                    <a:pt x="3" y="215"/>
                    <a:pt x="87" y="94"/>
                    <a:pt x="104" y="10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71" name="Freeform 123"/>
            <p:cNvSpPr>
              <a:spLocks/>
            </p:cNvSpPr>
            <p:nvPr/>
          </p:nvSpPr>
          <p:spPr bwMode="auto">
            <a:xfrm>
              <a:off x="6219444" y="2809113"/>
              <a:ext cx="147066" cy="194310"/>
            </a:xfrm>
            <a:custGeom>
              <a:avLst/>
              <a:gdLst>
                <a:gd name="T0" fmla="*/ 94 w 206"/>
                <a:gd name="T1" fmla="*/ 129 h 272"/>
                <a:gd name="T2" fmla="*/ 68 w 206"/>
                <a:gd name="T3" fmla="*/ 272 h 272"/>
                <a:gd name="T4" fmla="*/ 180 w 206"/>
                <a:gd name="T5" fmla="*/ 169 h 272"/>
                <a:gd name="T6" fmla="*/ 148 w 206"/>
                <a:gd name="T7" fmla="*/ 0 h 272"/>
                <a:gd name="T8" fmla="*/ 18 w 206"/>
                <a:gd name="T9" fmla="*/ 114 h 272"/>
                <a:gd name="T10" fmla="*/ 37 w 206"/>
                <a:gd name="T11" fmla="*/ 266 h 272"/>
                <a:gd name="T12" fmla="*/ 94 w 206"/>
                <a:gd name="T13" fmla="*/ 129 h 272"/>
              </a:gdLst>
              <a:ahLst/>
              <a:cxnLst>
                <a:cxn ang="0">
                  <a:pos x="T0" y="T1"/>
                </a:cxn>
                <a:cxn ang="0">
                  <a:pos x="T2" y="T3"/>
                </a:cxn>
                <a:cxn ang="0">
                  <a:pos x="T4" y="T5"/>
                </a:cxn>
                <a:cxn ang="0">
                  <a:pos x="T6" y="T7"/>
                </a:cxn>
                <a:cxn ang="0">
                  <a:pos x="T8" y="T9"/>
                </a:cxn>
                <a:cxn ang="0">
                  <a:pos x="T10" y="T11"/>
                </a:cxn>
                <a:cxn ang="0">
                  <a:pos x="T12" y="T13"/>
                </a:cxn>
              </a:cxnLst>
              <a:rect l="0" t="0" r="r" b="b"/>
              <a:pathLst>
                <a:path w="206" h="272">
                  <a:moveTo>
                    <a:pt x="94" y="129"/>
                  </a:moveTo>
                  <a:cubicBezTo>
                    <a:pt x="114" y="134"/>
                    <a:pt x="68" y="272"/>
                    <a:pt x="68" y="272"/>
                  </a:cubicBezTo>
                  <a:cubicBezTo>
                    <a:pt x="101" y="255"/>
                    <a:pt x="161" y="220"/>
                    <a:pt x="180" y="169"/>
                  </a:cubicBezTo>
                  <a:cubicBezTo>
                    <a:pt x="206" y="90"/>
                    <a:pt x="148" y="0"/>
                    <a:pt x="148" y="0"/>
                  </a:cubicBezTo>
                  <a:cubicBezTo>
                    <a:pt x="148" y="0"/>
                    <a:pt x="45" y="36"/>
                    <a:pt x="18" y="114"/>
                  </a:cubicBezTo>
                  <a:cubicBezTo>
                    <a:pt x="0" y="165"/>
                    <a:pt x="22" y="232"/>
                    <a:pt x="37" y="266"/>
                  </a:cubicBezTo>
                  <a:cubicBezTo>
                    <a:pt x="37" y="266"/>
                    <a:pt x="75" y="125"/>
                    <a:pt x="94" y="12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72" name="Freeform 124"/>
            <p:cNvSpPr>
              <a:spLocks/>
            </p:cNvSpPr>
            <p:nvPr/>
          </p:nvSpPr>
          <p:spPr bwMode="auto">
            <a:xfrm>
              <a:off x="5467349" y="3427476"/>
              <a:ext cx="291846" cy="211455"/>
            </a:xfrm>
            <a:custGeom>
              <a:avLst/>
              <a:gdLst>
                <a:gd name="T0" fmla="*/ 198 w 409"/>
                <a:gd name="T1" fmla="*/ 139 h 296"/>
                <a:gd name="T2" fmla="*/ 409 w 409"/>
                <a:gd name="T3" fmla="*/ 188 h 296"/>
                <a:gd name="T4" fmla="*/ 245 w 409"/>
                <a:gd name="T5" fmla="*/ 36 h 296"/>
                <a:gd name="T6" fmla="*/ 0 w 409"/>
                <a:gd name="T7" fmla="*/ 90 h 296"/>
                <a:gd name="T8" fmla="*/ 174 w 409"/>
                <a:gd name="T9" fmla="*/ 273 h 296"/>
                <a:gd name="T10" fmla="*/ 390 w 409"/>
                <a:gd name="T11" fmla="*/ 230 h 296"/>
                <a:gd name="T12" fmla="*/ 198 w 409"/>
                <a:gd name="T13" fmla="*/ 139 h 296"/>
              </a:gdLst>
              <a:ahLst/>
              <a:cxnLst>
                <a:cxn ang="0">
                  <a:pos x="T0" y="T1"/>
                </a:cxn>
                <a:cxn ang="0">
                  <a:pos x="T2" y="T3"/>
                </a:cxn>
                <a:cxn ang="0">
                  <a:pos x="T4" y="T5"/>
                </a:cxn>
                <a:cxn ang="0">
                  <a:pos x="T6" y="T7"/>
                </a:cxn>
                <a:cxn ang="0">
                  <a:pos x="T8" y="T9"/>
                </a:cxn>
                <a:cxn ang="0">
                  <a:pos x="T10" y="T11"/>
                </a:cxn>
                <a:cxn ang="0">
                  <a:pos x="T12" y="T13"/>
                </a:cxn>
              </a:cxnLst>
              <a:rect l="0" t="0" r="r" b="b"/>
              <a:pathLst>
                <a:path w="409" h="296">
                  <a:moveTo>
                    <a:pt x="198" y="139"/>
                  </a:moveTo>
                  <a:cubicBezTo>
                    <a:pt x="211" y="113"/>
                    <a:pt x="409" y="188"/>
                    <a:pt x="409" y="188"/>
                  </a:cubicBezTo>
                  <a:cubicBezTo>
                    <a:pt x="383" y="142"/>
                    <a:pt x="320" y="58"/>
                    <a:pt x="245" y="36"/>
                  </a:cubicBezTo>
                  <a:cubicBezTo>
                    <a:pt x="130" y="0"/>
                    <a:pt x="0" y="90"/>
                    <a:pt x="0" y="90"/>
                  </a:cubicBezTo>
                  <a:cubicBezTo>
                    <a:pt x="0" y="90"/>
                    <a:pt x="58" y="238"/>
                    <a:pt x="174" y="273"/>
                  </a:cubicBezTo>
                  <a:cubicBezTo>
                    <a:pt x="249" y="296"/>
                    <a:pt x="342" y="254"/>
                    <a:pt x="390" y="230"/>
                  </a:cubicBezTo>
                  <a:cubicBezTo>
                    <a:pt x="390" y="230"/>
                    <a:pt x="187" y="166"/>
                    <a:pt x="198" y="13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73" name="Freeform 125"/>
            <p:cNvSpPr>
              <a:spLocks/>
            </p:cNvSpPr>
            <p:nvPr/>
          </p:nvSpPr>
          <p:spPr bwMode="auto">
            <a:xfrm>
              <a:off x="5492114" y="3247644"/>
              <a:ext cx="156972" cy="164973"/>
            </a:xfrm>
            <a:custGeom>
              <a:avLst/>
              <a:gdLst>
                <a:gd name="T0" fmla="*/ 190 w 220"/>
                <a:gd name="T1" fmla="*/ 231 h 231"/>
                <a:gd name="T2" fmla="*/ 118 w 220"/>
                <a:gd name="T3" fmla="*/ 105 h 231"/>
                <a:gd name="T4" fmla="*/ 218 w 220"/>
                <a:gd name="T5" fmla="*/ 215 h 231"/>
                <a:gd name="T6" fmla="*/ 183 w 220"/>
                <a:gd name="T7" fmla="*/ 65 h 231"/>
                <a:gd name="T8" fmla="*/ 25 w 220"/>
                <a:gd name="T9" fmla="*/ 1 h 231"/>
                <a:gd name="T10" fmla="*/ 52 w 220"/>
                <a:gd name="T11" fmla="*/ 171 h 231"/>
                <a:gd name="T12" fmla="*/ 190 w 220"/>
                <a:gd name="T13" fmla="*/ 231 h 231"/>
              </a:gdLst>
              <a:ahLst/>
              <a:cxnLst>
                <a:cxn ang="0">
                  <a:pos x="T0" y="T1"/>
                </a:cxn>
                <a:cxn ang="0">
                  <a:pos x="T2" y="T3"/>
                </a:cxn>
                <a:cxn ang="0">
                  <a:pos x="T4" y="T5"/>
                </a:cxn>
                <a:cxn ang="0">
                  <a:pos x="T6" y="T7"/>
                </a:cxn>
                <a:cxn ang="0">
                  <a:pos x="T8" y="T9"/>
                </a:cxn>
                <a:cxn ang="0">
                  <a:pos x="T10" y="T11"/>
                </a:cxn>
                <a:cxn ang="0">
                  <a:pos x="T12" y="T13"/>
                </a:cxn>
              </a:cxnLst>
              <a:rect l="0" t="0" r="r" b="b"/>
              <a:pathLst>
                <a:path w="220" h="231">
                  <a:moveTo>
                    <a:pt x="190" y="231"/>
                  </a:moveTo>
                  <a:cubicBezTo>
                    <a:pt x="190" y="231"/>
                    <a:pt x="101" y="116"/>
                    <a:pt x="118" y="105"/>
                  </a:cubicBezTo>
                  <a:cubicBezTo>
                    <a:pt x="135" y="94"/>
                    <a:pt x="218" y="215"/>
                    <a:pt x="218" y="215"/>
                  </a:cubicBezTo>
                  <a:cubicBezTo>
                    <a:pt x="220" y="178"/>
                    <a:pt x="217" y="107"/>
                    <a:pt x="183" y="65"/>
                  </a:cubicBezTo>
                  <a:cubicBezTo>
                    <a:pt x="132" y="0"/>
                    <a:pt x="25" y="1"/>
                    <a:pt x="25" y="1"/>
                  </a:cubicBezTo>
                  <a:cubicBezTo>
                    <a:pt x="25" y="1"/>
                    <a:pt x="0" y="107"/>
                    <a:pt x="52" y="171"/>
                  </a:cubicBezTo>
                  <a:cubicBezTo>
                    <a:pt x="86" y="214"/>
                    <a:pt x="155" y="226"/>
                    <a:pt x="190" y="2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74" name="Freeform 126"/>
            <p:cNvSpPr>
              <a:spLocks/>
            </p:cNvSpPr>
            <p:nvPr/>
          </p:nvSpPr>
          <p:spPr bwMode="auto">
            <a:xfrm>
              <a:off x="5828537" y="2809113"/>
              <a:ext cx="146685" cy="194310"/>
            </a:xfrm>
            <a:custGeom>
              <a:avLst/>
              <a:gdLst>
                <a:gd name="T0" fmla="*/ 138 w 206"/>
                <a:gd name="T1" fmla="*/ 272 h 272"/>
                <a:gd name="T2" fmla="*/ 112 w 206"/>
                <a:gd name="T3" fmla="*/ 129 h 272"/>
                <a:gd name="T4" fmla="*/ 170 w 206"/>
                <a:gd name="T5" fmla="*/ 266 h 272"/>
                <a:gd name="T6" fmla="*/ 189 w 206"/>
                <a:gd name="T7" fmla="*/ 114 h 272"/>
                <a:gd name="T8" fmla="*/ 60 w 206"/>
                <a:gd name="T9" fmla="*/ 0 h 272"/>
                <a:gd name="T10" fmla="*/ 27 w 206"/>
                <a:gd name="T11" fmla="*/ 169 h 272"/>
                <a:gd name="T12" fmla="*/ 138 w 206"/>
                <a:gd name="T13" fmla="*/ 272 h 272"/>
              </a:gdLst>
              <a:ahLst/>
              <a:cxnLst>
                <a:cxn ang="0">
                  <a:pos x="T0" y="T1"/>
                </a:cxn>
                <a:cxn ang="0">
                  <a:pos x="T2" y="T3"/>
                </a:cxn>
                <a:cxn ang="0">
                  <a:pos x="T4" y="T5"/>
                </a:cxn>
                <a:cxn ang="0">
                  <a:pos x="T6" y="T7"/>
                </a:cxn>
                <a:cxn ang="0">
                  <a:pos x="T8" y="T9"/>
                </a:cxn>
                <a:cxn ang="0">
                  <a:pos x="T10" y="T11"/>
                </a:cxn>
                <a:cxn ang="0">
                  <a:pos x="T12" y="T13"/>
                </a:cxn>
              </a:cxnLst>
              <a:rect l="0" t="0" r="r" b="b"/>
              <a:pathLst>
                <a:path w="206" h="272">
                  <a:moveTo>
                    <a:pt x="138" y="272"/>
                  </a:moveTo>
                  <a:cubicBezTo>
                    <a:pt x="138" y="272"/>
                    <a:pt x="92" y="134"/>
                    <a:pt x="112" y="129"/>
                  </a:cubicBezTo>
                  <a:cubicBezTo>
                    <a:pt x="131" y="125"/>
                    <a:pt x="170" y="266"/>
                    <a:pt x="170" y="266"/>
                  </a:cubicBezTo>
                  <a:cubicBezTo>
                    <a:pt x="185" y="232"/>
                    <a:pt x="206" y="165"/>
                    <a:pt x="189" y="114"/>
                  </a:cubicBezTo>
                  <a:cubicBezTo>
                    <a:pt x="162" y="36"/>
                    <a:pt x="60" y="0"/>
                    <a:pt x="60" y="0"/>
                  </a:cubicBezTo>
                  <a:cubicBezTo>
                    <a:pt x="60" y="0"/>
                    <a:pt x="0" y="90"/>
                    <a:pt x="27" y="169"/>
                  </a:cubicBezTo>
                  <a:cubicBezTo>
                    <a:pt x="44" y="220"/>
                    <a:pt x="106" y="255"/>
                    <a:pt x="138" y="27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75" name="Freeform 127"/>
            <p:cNvSpPr>
              <a:spLocks/>
            </p:cNvSpPr>
            <p:nvPr/>
          </p:nvSpPr>
          <p:spPr bwMode="auto">
            <a:xfrm>
              <a:off x="5639180" y="3614166"/>
              <a:ext cx="265557" cy="209931"/>
            </a:xfrm>
            <a:custGeom>
              <a:avLst/>
              <a:gdLst>
                <a:gd name="T0" fmla="*/ 236 w 372"/>
                <a:gd name="T1" fmla="*/ 183 h 294"/>
                <a:gd name="T2" fmla="*/ 219 w 372"/>
                <a:gd name="T3" fmla="*/ 185 h 294"/>
                <a:gd name="T4" fmla="*/ 166 w 372"/>
                <a:gd name="T5" fmla="*/ 149 h 294"/>
                <a:gd name="T6" fmla="*/ 165 w 372"/>
                <a:gd name="T7" fmla="*/ 146 h 294"/>
                <a:gd name="T8" fmla="*/ 164 w 372"/>
                <a:gd name="T9" fmla="*/ 142 h 294"/>
                <a:gd name="T10" fmla="*/ 192 w 372"/>
                <a:gd name="T11" fmla="*/ 81 h 294"/>
                <a:gd name="T12" fmla="*/ 194 w 372"/>
                <a:gd name="T13" fmla="*/ 79 h 294"/>
                <a:gd name="T14" fmla="*/ 326 w 372"/>
                <a:gd name="T15" fmla="*/ 25 h 294"/>
                <a:gd name="T16" fmla="*/ 161 w 372"/>
                <a:gd name="T17" fmla="*/ 21 h 294"/>
                <a:gd name="T18" fmla="*/ 0 w 372"/>
                <a:gd name="T19" fmla="*/ 213 h 294"/>
                <a:gd name="T20" fmla="*/ 248 w 372"/>
                <a:gd name="T21" fmla="*/ 251 h 294"/>
                <a:gd name="T22" fmla="*/ 372 w 372"/>
                <a:gd name="T23" fmla="*/ 138 h 294"/>
                <a:gd name="T24" fmla="*/ 236 w 372"/>
                <a:gd name="T25" fmla="*/ 183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2" h="294">
                  <a:moveTo>
                    <a:pt x="236" y="183"/>
                  </a:moveTo>
                  <a:cubicBezTo>
                    <a:pt x="230" y="185"/>
                    <a:pt x="225" y="185"/>
                    <a:pt x="219" y="185"/>
                  </a:cubicBezTo>
                  <a:cubicBezTo>
                    <a:pt x="196" y="185"/>
                    <a:pt x="175" y="171"/>
                    <a:pt x="166" y="149"/>
                  </a:cubicBezTo>
                  <a:cubicBezTo>
                    <a:pt x="165" y="146"/>
                    <a:pt x="165" y="146"/>
                    <a:pt x="165" y="146"/>
                  </a:cubicBezTo>
                  <a:cubicBezTo>
                    <a:pt x="164" y="142"/>
                    <a:pt x="164" y="142"/>
                    <a:pt x="164" y="142"/>
                  </a:cubicBezTo>
                  <a:cubicBezTo>
                    <a:pt x="159" y="118"/>
                    <a:pt x="170" y="93"/>
                    <a:pt x="192" y="81"/>
                  </a:cubicBezTo>
                  <a:cubicBezTo>
                    <a:pt x="194" y="79"/>
                    <a:pt x="194" y="79"/>
                    <a:pt x="194" y="79"/>
                  </a:cubicBezTo>
                  <a:cubicBezTo>
                    <a:pt x="326" y="25"/>
                    <a:pt x="326" y="25"/>
                    <a:pt x="326" y="25"/>
                  </a:cubicBezTo>
                  <a:cubicBezTo>
                    <a:pt x="278" y="10"/>
                    <a:pt x="217" y="0"/>
                    <a:pt x="161" y="21"/>
                  </a:cubicBezTo>
                  <a:cubicBezTo>
                    <a:pt x="49" y="63"/>
                    <a:pt x="0" y="213"/>
                    <a:pt x="0" y="213"/>
                  </a:cubicBezTo>
                  <a:cubicBezTo>
                    <a:pt x="0" y="213"/>
                    <a:pt x="135" y="294"/>
                    <a:pt x="248" y="251"/>
                  </a:cubicBezTo>
                  <a:cubicBezTo>
                    <a:pt x="305" y="230"/>
                    <a:pt x="346" y="181"/>
                    <a:pt x="372" y="138"/>
                  </a:cubicBezTo>
                  <a:lnTo>
                    <a:pt x="236" y="18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76" name="Freeform 128"/>
            <p:cNvSpPr>
              <a:spLocks/>
            </p:cNvSpPr>
            <p:nvPr/>
          </p:nvSpPr>
          <p:spPr bwMode="auto">
            <a:xfrm>
              <a:off x="5786246" y="3080385"/>
              <a:ext cx="630174" cy="872871"/>
            </a:xfrm>
            <a:custGeom>
              <a:avLst/>
              <a:gdLst>
                <a:gd name="T0" fmla="*/ 585 w 883"/>
                <a:gd name="T1" fmla="*/ 795 h 1222"/>
                <a:gd name="T2" fmla="*/ 867 w 883"/>
                <a:gd name="T3" fmla="*/ 888 h 1222"/>
                <a:gd name="T4" fmla="*/ 882 w 883"/>
                <a:gd name="T5" fmla="*/ 880 h 1222"/>
                <a:gd name="T6" fmla="*/ 875 w 883"/>
                <a:gd name="T7" fmla="*/ 866 h 1222"/>
                <a:gd name="T8" fmla="*/ 612 w 883"/>
                <a:gd name="T9" fmla="*/ 755 h 1222"/>
                <a:gd name="T10" fmla="*/ 804 w 883"/>
                <a:gd name="T11" fmla="*/ 469 h 1222"/>
                <a:gd name="T12" fmla="*/ 798 w 883"/>
                <a:gd name="T13" fmla="*/ 445 h 1222"/>
                <a:gd name="T14" fmla="*/ 774 w 883"/>
                <a:gd name="T15" fmla="*/ 448 h 1222"/>
                <a:gd name="T16" fmla="*/ 481 w 883"/>
                <a:gd name="T17" fmla="*/ 818 h 1222"/>
                <a:gd name="T18" fmla="*/ 470 w 883"/>
                <a:gd name="T19" fmla="*/ 542 h 1222"/>
                <a:gd name="T20" fmla="*/ 823 w 883"/>
                <a:gd name="T21" fmla="*/ 20 h 1222"/>
                <a:gd name="T22" fmla="*/ 821 w 883"/>
                <a:gd name="T23" fmla="*/ 5 h 1222"/>
                <a:gd name="T24" fmla="*/ 805 w 883"/>
                <a:gd name="T25" fmla="*/ 6 h 1222"/>
                <a:gd name="T26" fmla="*/ 466 w 883"/>
                <a:gd name="T27" fmla="*/ 432 h 1222"/>
                <a:gd name="T28" fmla="*/ 452 w 883"/>
                <a:gd name="T29" fmla="*/ 88 h 1222"/>
                <a:gd name="T30" fmla="*/ 434 w 883"/>
                <a:gd name="T31" fmla="*/ 70 h 1222"/>
                <a:gd name="T32" fmla="*/ 415 w 883"/>
                <a:gd name="T33" fmla="*/ 88 h 1222"/>
                <a:gd name="T34" fmla="*/ 402 w 883"/>
                <a:gd name="T35" fmla="*/ 430 h 1222"/>
                <a:gd name="T36" fmla="*/ 64 w 883"/>
                <a:gd name="T37" fmla="*/ 6 h 1222"/>
                <a:gd name="T38" fmla="*/ 48 w 883"/>
                <a:gd name="T39" fmla="*/ 5 h 1222"/>
                <a:gd name="T40" fmla="*/ 46 w 883"/>
                <a:gd name="T41" fmla="*/ 20 h 1222"/>
                <a:gd name="T42" fmla="*/ 397 w 883"/>
                <a:gd name="T43" fmla="*/ 540 h 1222"/>
                <a:gd name="T44" fmla="*/ 387 w 883"/>
                <a:gd name="T45" fmla="*/ 812 h 1222"/>
                <a:gd name="T46" fmla="*/ 98 w 883"/>
                <a:gd name="T47" fmla="*/ 448 h 1222"/>
                <a:gd name="T48" fmla="*/ 74 w 883"/>
                <a:gd name="T49" fmla="*/ 445 h 1222"/>
                <a:gd name="T50" fmla="*/ 68 w 883"/>
                <a:gd name="T51" fmla="*/ 469 h 1222"/>
                <a:gd name="T52" fmla="*/ 263 w 883"/>
                <a:gd name="T53" fmla="*/ 760 h 1222"/>
                <a:gd name="T54" fmla="*/ 8 w 883"/>
                <a:gd name="T55" fmla="*/ 866 h 1222"/>
                <a:gd name="T56" fmla="*/ 1 w 883"/>
                <a:gd name="T57" fmla="*/ 880 h 1222"/>
                <a:gd name="T58" fmla="*/ 16 w 883"/>
                <a:gd name="T59" fmla="*/ 888 h 1222"/>
                <a:gd name="T60" fmla="*/ 289 w 883"/>
                <a:gd name="T61" fmla="*/ 798 h 1222"/>
                <a:gd name="T62" fmla="*/ 382 w 883"/>
                <a:gd name="T63" fmla="*/ 936 h 1222"/>
                <a:gd name="T64" fmla="*/ 376 w 883"/>
                <a:gd name="T65" fmla="*/ 1106 h 1222"/>
                <a:gd name="T66" fmla="*/ 373 w 883"/>
                <a:gd name="T67" fmla="*/ 1158 h 1222"/>
                <a:gd name="T68" fmla="*/ 373 w 883"/>
                <a:gd name="T69" fmla="*/ 1158 h 1222"/>
                <a:gd name="T70" fmla="*/ 373 w 883"/>
                <a:gd name="T71" fmla="*/ 1163 h 1222"/>
                <a:gd name="T72" fmla="*/ 436 w 883"/>
                <a:gd name="T73" fmla="*/ 1222 h 1222"/>
                <a:gd name="T74" fmla="*/ 495 w 883"/>
                <a:gd name="T75" fmla="*/ 1158 h 1222"/>
                <a:gd name="T76" fmla="*/ 486 w 883"/>
                <a:gd name="T77" fmla="*/ 942 h 1222"/>
                <a:gd name="T78" fmla="*/ 585 w 883"/>
                <a:gd name="T79" fmla="*/ 795 h 1222"/>
                <a:gd name="T80" fmla="*/ 585 w 883"/>
                <a:gd name="T81" fmla="*/ 795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83" h="1222">
                  <a:moveTo>
                    <a:pt x="585" y="795"/>
                  </a:moveTo>
                  <a:cubicBezTo>
                    <a:pt x="867" y="888"/>
                    <a:pt x="867" y="888"/>
                    <a:pt x="867" y="888"/>
                  </a:cubicBezTo>
                  <a:cubicBezTo>
                    <a:pt x="872" y="890"/>
                    <a:pt x="879" y="886"/>
                    <a:pt x="882" y="880"/>
                  </a:cubicBezTo>
                  <a:cubicBezTo>
                    <a:pt x="883" y="874"/>
                    <a:pt x="880" y="869"/>
                    <a:pt x="875" y="866"/>
                  </a:cubicBezTo>
                  <a:cubicBezTo>
                    <a:pt x="612" y="755"/>
                    <a:pt x="612" y="755"/>
                    <a:pt x="612" y="755"/>
                  </a:cubicBezTo>
                  <a:cubicBezTo>
                    <a:pt x="804" y="469"/>
                    <a:pt x="804" y="469"/>
                    <a:pt x="804" y="469"/>
                  </a:cubicBezTo>
                  <a:cubicBezTo>
                    <a:pt x="810" y="462"/>
                    <a:pt x="808" y="450"/>
                    <a:pt x="798" y="445"/>
                  </a:cubicBezTo>
                  <a:cubicBezTo>
                    <a:pt x="791" y="439"/>
                    <a:pt x="780" y="440"/>
                    <a:pt x="774" y="448"/>
                  </a:cubicBezTo>
                  <a:cubicBezTo>
                    <a:pt x="481" y="818"/>
                    <a:pt x="481" y="818"/>
                    <a:pt x="481" y="818"/>
                  </a:cubicBezTo>
                  <a:cubicBezTo>
                    <a:pt x="470" y="542"/>
                    <a:pt x="470" y="542"/>
                    <a:pt x="470" y="542"/>
                  </a:cubicBezTo>
                  <a:cubicBezTo>
                    <a:pt x="823" y="20"/>
                    <a:pt x="823" y="20"/>
                    <a:pt x="823" y="20"/>
                  </a:cubicBezTo>
                  <a:cubicBezTo>
                    <a:pt x="826" y="15"/>
                    <a:pt x="826" y="8"/>
                    <a:pt x="821" y="5"/>
                  </a:cubicBezTo>
                  <a:cubicBezTo>
                    <a:pt x="816" y="0"/>
                    <a:pt x="809" y="1"/>
                    <a:pt x="805" y="6"/>
                  </a:cubicBezTo>
                  <a:cubicBezTo>
                    <a:pt x="466" y="432"/>
                    <a:pt x="466" y="432"/>
                    <a:pt x="466" y="432"/>
                  </a:cubicBezTo>
                  <a:cubicBezTo>
                    <a:pt x="452" y="88"/>
                    <a:pt x="452" y="88"/>
                    <a:pt x="452" y="88"/>
                  </a:cubicBezTo>
                  <a:cubicBezTo>
                    <a:pt x="451" y="78"/>
                    <a:pt x="444" y="70"/>
                    <a:pt x="434" y="70"/>
                  </a:cubicBezTo>
                  <a:cubicBezTo>
                    <a:pt x="424" y="69"/>
                    <a:pt x="416" y="77"/>
                    <a:pt x="415" y="88"/>
                  </a:cubicBezTo>
                  <a:cubicBezTo>
                    <a:pt x="402" y="430"/>
                    <a:pt x="402" y="430"/>
                    <a:pt x="402" y="430"/>
                  </a:cubicBezTo>
                  <a:cubicBezTo>
                    <a:pt x="64" y="6"/>
                    <a:pt x="64" y="6"/>
                    <a:pt x="64" y="6"/>
                  </a:cubicBezTo>
                  <a:cubicBezTo>
                    <a:pt x="60" y="1"/>
                    <a:pt x="53" y="0"/>
                    <a:pt x="48" y="5"/>
                  </a:cubicBezTo>
                  <a:cubicBezTo>
                    <a:pt x="43" y="8"/>
                    <a:pt x="43" y="15"/>
                    <a:pt x="46" y="20"/>
                  </a:cubicBezTo>
                  <a:cubicBezTo>
                    <a:pt x="397" y="540"/>
                    <a:pt x="397" y="540"/>
                    <a:pt x="397" y="540"/>
                  </a:cubicBezTo>
                  <a:cubicBezTo>
                    <a:pt x="387" y="812"/>
                    <a:pt x="387" y="812"/>
                    <a:pt x="387" y="812"/>
                  </a:cubicBezTo>
                  <a:cubicBezTo>
                    <a:pt x="98" y="448"/>
                    <a:pt x="98" y="448"/>
                    <a:pt x="98" y="448"/>
                  </a:cubicBezTo>
                  <a:cubicBezTo>
                    <a:pt x="92" y="440"/>
                    <a:pt x="82" y="439"/>
                    <a:pt x="74" y="445"/>
                  </a:cubicBezTo>
                  <a:cubicBezTo>
                    <a:pt x="65" y="450"/>
                    <a:pt x="63" y="462"/>
                    <a:pt x="68" y="469"/>
                  </a:cubicBezTo>
                  <a:cubicBezTo>
                    <a:pt x="263" y="760"/>
                    <a:pt x="263" y="760"/>
                    <a:pt x="263" y="760"/>
                  </a:cubicBezTo>
                  <a:cubicBezTo>
                    <a:pt x="8" y="866"/>
                    <a:pt x="8" y="866"/>
                    <a:pt x="8" y="866"/>
                  </a:cubicBezTo>
                  <a:cubicBezTo>
                    <a:pt x="3" y="869"/>
                    <a:pt x="0" y="874"/>
                    <a:pt x="1" y="880"/>
                  </a:cubicBezTo>
                  <a:cubicBezTo>
                    <a:pt x="4" y="886"/>
                    <a:pt x="10" y="890"/>
                    <a:pt x="16" y="888"/>
                  </a:cubicBezTo>
                  <a:cubicBezTo>
                    <a:pt x="289" y="798"/>
                    <a:pt x="289" y="798"/>
                    <a:pt x="289" y="798"/>
                  </a:cubicBezTo>
                  <a:cubicBezTo>
                    <a:pt x="382" y="936"/>
                    <a:pt x="382" y="936"/>
                    <a:pt x="382" y="936"/>
                  </a:cubicBezTo>
                  <a:cubicBezTo>
                    <a:pt x="376" y="1106"/>
                    <a:pt x="376" y="1106"/>
                    <a:pt x="376" y="1106"/>
                  </a:cubicBezTo>
                  <a:cubicBezTo>
                    <a:pt x="373" y="1158"/>
                    <a:pt x="373" y="1158"/>
                    <a:pt x="373" y="1158"/>
                  </a:cubicBezTo>
                  <a:cubicBezTo>
                    <a:pt x="373" y="1158"/>
                    <a:pt x="373" y="1158"/>
                    <a:pt x="373" y="1158"/>
                  </a:cubicBezTo>
                  <a:cubicBezTo>
                    <a:pt x="373" y="1160"/>
                    <a:pt x="373" y="1162"/>
                    <a:pt x="373" y="1163"/>
                  </a:cubicBezTo>
                  <a:cubicBezTo>
                    <a:pt x="375" y="1197"/>
                    <a:pt x="403" y="1222"/>
                    <a:pt x="436" y="1222"/>
                  </a:cubicBezTo>
                  <a:cubicBezTo>
                    <a:pt x="470" y="1220"/>
                    <a:pt x="496" y="1192"/>
                    <a:pt x="495" y="1158"/>
                  </a:cubicBezTo>
                  <a:cubicBezTo>
                    <a:pt x="486" y="942"/>
                    <a:pt x="486" y="942"/>
                    <a:pt x="486" y="942"/>
                  </a:cubicBezTo>
                  <a:cubicBezTo>
                    <a:pt x="585" y="795"/>
                    <a:pt x="585" y="795"/>
                    <a:pt x="585" y="795"/>
                  </a:cubicBezTo>
                  <a:cubicBezTo>
                    <a:pt x="585" y="795"/>
                    <a:pt x="585" y="795"/>
                    <a:pt x="585" y="79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77" name="Freeform 129"/>
            <p:cNvSpPr>
              <a:spLocks/>
            </p:cNvSpPr>
            <p:nvPr/>
          </p:nvSpPr>
          <p:spPr bwMode="auto">
            <a:xfrm>
              <a:off x="5461634" y="3607689"/>
              <a:ext cx="51435" cy="51435"/>
            </a:xfrm>
            <a:custGeom>
              <a:avLst/>
              <a:gdLst>
                <a:gd name="T0" fmla="*/ 72 w 72"/>
                <a:gd name="T1" fmla="*/ 36 h 72"/>
                <a:gd name="T2" fmla="*/ 35 w 72"/>
                <a:gd name="T3" fmla="*/ 72 h 72"/>
                <a:gd name="T4" fmla="*/ 0 w 72"/>
                <a:gd name="T5" fmla="*/ 36 h 72"/>
                <a:gd name="T6" fmla="*/ 35 w 72"/>
                <a:gd name="T7" fmla="*/ 0 h 72"/>
                <a:gd name="T8" fmla="*/ 72 w 72"/>
                <a:gd name="T9" fmla="*/ 36 h 72"/>
              </a:gdLst>
              <a:ahLst/>
              <a:cxnLst>
                <a:cxn ang="0">
                  <a:pos x="T0" y="T1"/>
                </a:cxn>
                <a:cxn ang="0">
                  <a:pos x="T2" y="T3"/>
                </a:cxn>
                <a:cxn ang="0">
                  <a:pos x="T4" y="T5"/>
                </a:cxn>
                <a:cxn ang="0">
                  <a:pos x="T6" y="T7"/>
                </a:cxn>
                <a:cxn ang="0">
                  <a:pos x="T8" y="T9"/>
                </a:cxn>
              </a:cxnLst>
              <a:rect l="0" t="0" r="r" b="b"/>
              <a:pathLst>
                <a:path w="72" h="72">
                  <a:moveTo>
                    <a:pt x="72" y="36"/>
                  </a:moveTo>
                  <a:cubicBezTo>
                    <a:pt x="72" y="55"/>
                    <a:pt x="56" y="72"/>
                    <a:pt x="35" y="72"/>
                  </a:cubicBezTo>
                  <a:cubicBezTo>
                    <a:pt x="16" y="72"/>
                    <a:pt x="0" y="55"/>
                    <a:pt x="0" y="36"/>
                  </a:cubicBezTo>
                  <a:cubicBezTo>
                    <a:pt x="0" y="16"/>
                    <a:pt x="16" y="0"/>
                    <a:pt x="35" y="0"/>
                  </a:cubicBezTo>
                  <a:cubicBezTo>
                    <a:pt x="56" y="0"/>
                    <a:pt x="72" y="16"/>
                    <a:pt x="72" y="3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78" name="Freeform 130"/>
            <p:cNvSpPr>
              <a:spLocks/>
            </p:cNvSpPr>
            <p:nvPr/>
          </p:nvSpPr>
          <p:spPr bwMode="auto">
            <a:xfrm>
              <a:off x="5466587" y="3385566"/>
              <a:ext cx="51435" cy="51435"/>
            </a:xfrm>
            <a:custGeom>
              <a:avLst/>
              <a:gdLst>
                <a:gd name="T0" fmla="*/ 72 w 72"/>
                <a:gd name="T1" fmla="*/ 36 h 72"/>
                <a:gd name="T2" fmla="*/ 35 w 72"/>
                <a:gd name="T3" fmla="*/ 72 h 72"/>
                <a:gd name="T4" fmla="*/ 0 w 72"/>
                <a:gd name="T5" fmla="*/ 36 h 72"/>
                <a:gd name="T6" fmla="*/ 35 w 72"/>
                <a:gd name="T7" fmla="*/ 0 h 72"/>
                <a:gd name="T8" fmla="*/ 72 w 72"/>
                <a:gd name="T9" fmla="*/ 36 h 72"/>
              </a:gdLst>
              <a:ahLst/>
              <a:cxnLst>
                <a:cxn ang="0">
                  <a:pos x="T0" y="T1"/>
                </a:cxn>
                <a:cxn ang="0">
                  <a:pos x="T2" y="T3"/>
                </a:cxn>
                <a:cxn ang="0">
                  <a:pos x="T4" y="T5"/>
                </a:cxn>
                <a:cxn ang="0">
                  <a:pos x="T6" y="T7"/>
                </a:cxn>
                <a:cxn ang="0">
                  <a:pos x="T8" y="T9"/>
                </a:cxn>
              </a:cxnLst>
              <a:rect l="0" t="0" r="r" b="b"/>
              <a:pathLst>
                <a:path w="72" h="72">
                  <a:moveTo>
                    <a:pt x="72" y="36"/>
                  </a:moveTo>
                  <a:cubicBezTo>
                    <a:pt x="72" y="55"/>
                    <a:pt x="56" y="72"/>
                    <a:pt x="35" y="72"/>
                  </a:cubicBezTo>
                  <a:cubicBezTo>
                    <a:pt x="16" y="72"/>
                    <a:pt x="0" y="55"/>
                    <a:pt x="0" y="36"/>
                  </a:cubicBezTo>
                  <a:cubicBezTo>
                    <a:pt x="0" y="16"/>
                    <a:pt x="16" y="0"/>
                    <a:pt x="35" y="0"/>
                  </a:cubicBezTo>
                  <a:cubicBezTo>
                    <a:pt x="56" y="0"/>
                    <a:pt x="72" y="16"/>
                    <a:pt x="72" y="3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79" name="Oval 131"/>
            <p:cNvSpPr>
              <a:spLocks noChangeArrowheads="1"/>
            </p:cNvSpPr>
            <p:nvPr/>
          </p:nvSpPr>
          <p:spPr bwMode="auto">
            <a:xfrm>
              <a:off x="5527166" y="3099816"/>
              <a:ext cx="51435" cy="5143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80" name="Oval 132"/>
            <p:cNvSpPr>
              <a:spLocks noChangeArrowheads="1"/>
            </p:cNvSpPr>
            <p:nvPr/>
          </p:nvSpPr>
          <p:spPr bwMode="auto">
            <a:xfrm>
              <a:off x="5620511" y="3073908"/>
              <a:ext cx="51435" cy="5143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81" name="Freeform 133"/>
            <p:cNvSpPr>
              <a:spLocks/>
            </p:cNvSpPr>
            <p:nvPr/>
          </p:nvSpPr>
          <p:spPr bwMode="auto">
            <a:xfrm>
              <a:off x="5700521" y="2868930"/>
              <a:ext cx="51435" cy="51435"/>
            </a:xfrm>
            <a:custGeom>
              <a:avLst/>
              <a:gdLst>
                <a:gd name="T0" fmla="*/ 72 w 72"/>
                <a:gd name="T1" fmla="*/ 36 h 72"/>
                <a:gd name="T2" fmla="*/ 35 w 72"/>
                <a:gd name="T3" fmla="*/ 72 h 72"/>
                <a:gd name="T4" fmla="*/ 0 w 72"/>
                <a:gd name="T5" fmla="*/ 36 h 72"/>
                <a:gd name="T6" fmla="*/ 35 w 72"/>
                <a:gd name="T7" fmla="*/ 0 h 72"/>
                <a:gd name="T8" fmla="*/ 72 w 72"/>
                <a:gd name="T9" fmla="*/ 36 h 72"/>
              </a:gdLst>
              <a:ahLst/>
              <a:cxnLst>
                <a:cxn ang="0">
                  <a:pos x="T0" y="T1"/>
                </a:cxn>
                <a:cxn ang="0">
                  <a:pos x="T2" y="T3"/>
                </a:cxn>
                <a:cxn ang="0">
                  <a:pos x="T4" y="T5"/>
                </a:cxn>
                <a:cxn ang="0">
                  <a:pos x="T6" y="T7"/>
                </a:cxn>
                <a:cxn ang="0">
                  <a:pos x="T8" y="T9"/>
                </a:cxn>
              </a:cxnLst>
              <a:rect l="0" t="0" r="r" b="b"/>
              <a:pathLst>
                <a:path w="72" h="72">
                  <a:moveTo>
                    <a:pt x="72" y="36"/>
                  </a:moveTo>
                  <a:cubicBezTo>
                    <a:pt x="72" y="55"/>
                    <a:pt x="56" y="72"/>
                    <a:pt x="35" y="72"/>
                  </a:cubicBezTo>
                  <a:cubicBezTo>
                    <a:pt x="16" y="72"/>
                    <a:pt x="0" y="55"/>
                    <a:pt x="0" y="36"/>
                  </a:cubicBezTo>
                  <a:cubicBezTo>
                    <a:pt x="0" y="16"/>
                    <a:pt x="16" y="0"/>
                    <a:pt x="35" y="0"/>
                  </a:cubicBezTo>
                  <a:cubicBezTo>
                    <a:pt x="56" y="0"/>
                    <a:pt x="72" y="16"/>
                    <a:pt x="72" y="3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82" name="Oval 134"/>
            <p:cNvSpPr>
              <a:spLocks noChangeArrowheads="1"/>
            </p:cNvSpPr>
            <p:nvPr/>
          </p:nvSpPr>
          <p:spPr bwMode="auto">
            <a:xfrm>
              <a:off x="5584316" y="3156204"/>
              <a:ext cx="51435" cy="5143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83" name="Freeform 135"/>
            <p:cNvSpPr>
              <a:spLocks/>
            </p:cNvSpPr>
            <p:nvPr/>
          </p:nvSpPr>
          <p:spPr bwMode="auto">
            <a:xfrm>
              <a:off x="5468492" y="3704844"/>
              <a:ext cx="51435" cy="51435"/>
            </a:xfrm>
            <a:custGeom>
              <a:avLst/>
              <a:gdLst>
                <a:gd name="T0" fmla="*/ 72 w 72"/>
                <a:gd name="T1" fmla="*/ 36 h 72"/>
                <a:gd name="T2" fmla="*/ 36 w 72"/>
                <a:gd name="T3" fmla="*/ 72 h 72"/>
                <a:gd name="T4" fmla="*/ 0 w 72"/>
                <a:gd name="T5" fmla="*/ 36 h 72"/>
                <a:gd name="T6" fmla="*/ 36 w 72"/>
                <a:gd name="T7" fmla="*/ 0 h 72"/>
                <a:gd name="T8" fmla="*/ 72 w 72"/>
                <a:gd name="T9" fmla="*/ 36 h 72"/>
              </a:gdLst>
              <a:ahLst/>
              <a:cxnLst>
                <a:cxn ang="0">
                  <a:pos x="T0" y="T1"/>
                </a:cxn>
                <a:cxn ang="0">
                  <a:pos x="T2" y="T3"/>
                </a:cxn>
                <a:cxn ang="0">
                  <a:pos x="T4" y="T5"/>
                </a:cxn>
                <a:cxn ang="0">
                  <a:pos x="T6" y="T7"/>
                </a:cxn>
                <a:cxn ang="0">
                  <a:pos x="T8" y="T9"/>
                </a:cxn>
              </a:cxnLst>
              <a:rect l="0" t="0" r="r" b="b"/>
              <a:pathLst>
                <a:path w="72" h="72">
                  <a:moveTo>
                    <a:pt x="72" y="36"/>
                  </a:moveTo>
                  <a:cubicBezTo>
                    <a:pt x="72" y="55"/>
                    <a:pt x="56" y="72"/>
                    <a:pt x="36" y="72"/>
                  </a:cubicBezTo>
                  <a:cubicBezTo>
                    <a:pt x="17" y="72"/>
                    <a:pt x="0" y="55"/>
                    <a:pt x="0" y="36"/>
                  </a:cubicBezTo>
                  <a:cubicBezTo>
                    <a:pt x="0" y="15"/>
                    <a:pt x="17" y="0"/>
                    <a:pt x="36" y="0"/>
                  </a:cubicBezTo>
                  <a:cubicBezTo>
                    <a:pt x="56" y="0"/>
                    <a:pt x="72" y="15"/>
                    <a:pt x="72" y="3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84" name="Freeform 136"/>
            <p:cNvSpPr>
              <a:spLocks/>
            </p:cNvSpPr>
            <p:nvPr/>
          </p:nvSpPr>
          <p:spPr bwMode="auto">
            <a:xfrm>
              <a:off x="5545835" y="3661029"/>
              <a:ext cx="51435" cy="51435"/>
            </a:xfrm>
            <a:custGeom>
              <a:avLst/>
              <a:gdLst>
                <a:gd name="T0" fmla="*/ 72 w 72"/>
                <a:gd name="T1" fmla="*/ 36 h 72"/>
                <a:gd name="T2" fmla="*/ 36 w 72"/>
                <a:gd name="T3" fmla="*/ 72 h 72"/>
                <a:gd name="T4" fmla="*/ 0 w 72"/>
                <a:gd name="T5" fmla="*/ 36 h 72"/>
                <a:gd name="T6" fmla="*/ 36 w 72"/>
                <a:gd name="T7" fmla="*/ 0 h 72"/>
                <a:gd name="T8" fmla="*/ 72 w 72"/>
                <a:gd name="T9" fmla="*/ 36 h 72"/>
              </a:gdLst>
              <a:ahLst/>
              <a:cxnLst>
                <a:cxn ang="0">
                  <a:pos x="T0" y="T1"/>
                </a:cxn>
                <a:cxn ang="0">
                  <a:pos x="T2" y="T3"/>
                </a:cxn>
                <a:cxn ang="0">
                  <a:pos x="T4" y="T5"/>
                </a:cxn>
                <a:cxn ang="0">
                  <a:pos x="T6" y="T7"/>
                </a:cxn>
                <a:cxn ang="0">
                  <a:pos x="T8" y="T9"/>
                </a:cxn>
              </a:cxnLst>
              <a:rect l="0" t="0" r="r" b="b"/>
              <a:pathLst>
                <a:path w="72" h="72">
                  <a:moveTo>
                    <a:pt x="72" y="36"/>
                  </a:moveTo>
                  <a:cubicBezTo>
                    <a:pt x="72" y="55"/>
                    <a:pt x="56" y="72"/>
                    <a:pt x="36" y="72"/>
                  </a:cubicBezTo>
                  <a:cubicBezTo>
                    <a:pt x="17" y="72"/>
                    <a:pt x="0" y="55"/>
                    <a:pt x="0" y="36"/>
                  </a:cubicBezTo>
                  <a:cubicBezTo>
                    <a:pt x="0" y="15"/>
                    <a:pt x="17" y="0"/>
                    <a:pt x="36" y="0"/>
                  </a:cubicBezTo>
                  <a:cubicBezTo>
                    <a:pt x="56" y="0"/>
                    <a:pt x="72" y="15"/>
                    <a:pt x="72" y="3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85" name="Oval 137"/>
            <p:cNvSpPr>
              <a:spLocks noChangeArrowheads="1"/>
            </p:cNvSpPr>
            <p:nvPr/>
          </p:nvSpPr>
          <p:spPr bwMode="auto">
            <a:xfrm>
              <a:off x="5570600" y="3017520"/>
              <a:ext cx="51435" cy="5143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86" name="Freeform 138"/>
            <p:cNvSpPr>
              <a:spLocks/>
            </p:cNvSpPr>
            <p:nvPr/>
          </p:nvSpPr>
          <p:spPr bwMode="auto">
            <a:xfrm>
              <a:off x="5772530" y="2886075"/>
              <a:ext cx="51435" cy="51435"/>
            </a:xfrm>
            <a:custGeom>
              <a:avLst/>
              <a:gdLst>
                <a:gd name="T0" fmla="*/ 72 w 72"/>
                <a:gd name="T1" fmla="*/ 36 h 72"/>
                <a:gd name="T2" fmla="*/ 35 w 72"/>
                <a:gd name="T3" fmla="*/ 72 h 72"/>
                <a:gd name="T4" fmla="*/ 0 w 72"/>
                <a:gd name="T5" fmla="*/ 36 h 72"/>
                <a:gd name="T6" fmla="*/ 35 w 72"/>
                <a:gd name="T7" fmla="*/ 0 h 72"/>
                <a:gd name="T8" fmla="*/ 72 w 72"/>
                <a:gd name="T9" fmla="*/ 36 h 72"/>
              </a:gdLst>
              <a:ahLst/>
              <a:cxnLst>
                <a:cxn ang="0">
                  <a:pos x="T0" y="T1"/>
                </a:cxn>
                <a:cxn ang="0">
                  <a:pos x="T2" y="T3"/>
                </a:cxn>
                <a:cxn ang="0">
                  <a:pos x="T4" y="T5"/>
                </a:cxn>
                <a:cxn ang="0">
                  <a:pos x="T6" y="T7"/>
                </a:cxn>
                <a:cxn ang="0">
                  <a:pos x="T8" y="T9"/>
                </a:cxn>
              </a:cxnLst>
              <a:rect l="0" t="0" r="r" b="b"/>
              <a:pathLst>
                <a:path w="72" h="72">
                  <a:moveTo>
                    <a:pt x="72" y="36"/>
                  </a:moveTo>
                  <a:cubicBezTo>
                    <a:pt x="72" y="56"/>
                    <a:pt x="56" y="72"/>
                    <a:pt x="35" y="72"/>
                  </a:cubicBezTo>
                  <a:cubicBezTo>
                    <a:pt x="16" y="72"/>
                    <a:pt x="0" y="56"/>
                    <a:pt x="0" y="36"/>
                  </a:cubicBezTo>
                  <a:cubicBezTo>
                    <a:pt x="0" y="16"/>
                    <a:pt x="16" y="0"/>
                    <a:pt x="35" y="0"/>
                  </a:cubicBezTo>
                  <a:cubicBezTo>
                    <a:pt x="56" y="0"/>
                    <a:pt x="72" y="16"/>
                    <a:pt x="72" y="3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87" name="Freeform 139"/>
            <p:cNvSpPr>
              <a:spLocks/>
            </p:cNvSpPr>
            <p:nvPr/>
          </p:nvSpPr>
          <p:spPr bwMode="auto">
            <a:xfrm>
              <a:off x="5943980" y="2776728"/>
              <a:ext cx="51435" cy="51435"/>
            </a:xfrm>
            <a:custGeom>
              <a:avLst/>
              <a:gdLst>
                <a:gd name="T0" fmla="*/ 72 w 72"/>
                <a:gd name="T1" fmla="*/ 36 h 72"/>
                <a:gd name="T2" fmla="*/ 35 w 72"/>
                <a:gd name="T3" fmla="*/ 72 h 72"/>
                <a:gd name="T4" fmla="*/ 0 w 72"/>
                <a:gd name="T5" fmla="*/ 36 h 72"/>
                <a:gd name="T6" fmla="*/ 35 w 72"/>
                <a:gd name="T7" fmla="*/ 0 h 72"/>
                <a:gd name="T8" fmla="*/ 72 w 72"/>
                <a:gd name="T9" fmla="*/ 36 h 72"/>
              </a:gdLst>
              <a:ahLst/>
              <a:cxnLst>
                <a:cxn ang="0">
                  <a:pos x="T0" y="T1"/>
                </a:cxn>
                <a:cxn ang="0">
                  <a:pos x="T2" y="T3"/>
                </a:cxn>
                <a:cxn ang="0">
                  <a:pos x="T4" y="T5"/>
                </a:cxn>
                <a:cxn ang="0">
                  <a:pos x="T6" y="T7"/>
                </a:cxn>
                <a:cxn ang="0">
                  <a:pos x="T8" y="T9"/>
                </a:cxn>
              </a:cxnLst>
              <a:rect l="0" t="0" r="r" b="b"/>
              <a:pathLst>
                <a:path w="72" h="72">
                  <a:moveTo>
                    <a:pt x="72" y="36"/>
                  </a:moveTo>
                  <a:cubicBezTo>
                    <a:pt x="72" y="55"/>
                    <a:pt x="56" y="72"/>
                    <a:pt x="35" y="72"/>
                  </a:cubicBezTo>
                  <a:cubicBezTo>
                    <a:pt x="16" y="72"/>
                    <a:pt x="0" y="55"/>
                    <a:pt x="0" y="36"/>
                  </a:cubicBezTo>
                  <a:cubicBezTo>
                    <a:pt x="0" y="16"/>
                    <a:pt x="16" y="0"/>
                    <a:pt x="35" y="0"/>
                  </a:cubicBezTo>
                  <a:cubicBezTo>
                    <a:pt x="56" y="0"/>
                    <a:pt x="72" y="16"/>
                    <a:pt x="72" y="3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88" name="Freeform 140"/>
            <p:cNvSpPr>
              <a:spLocks/>
            </p:cNvSpPr>
            <p:nvPr/>
          </p:nvSpPr>
          <p:spPr bwMode="auto">
            <a:xfrm>
              <a:off x="5988176" y="2854071"/>
              <a:ext cx="51435" cy="51435"/>
            </a:xfrm>
            <a:custGeom>
              <a:avLst/>
              <a:gdLst>
                <a:gd name="T0" fmla="*/ 72 w 72"/>
                <a:gd name="T1" fmla="*/ 36 h 72"/>
                <a:gd name="T2" fmla="*/ 35 w 72"/>
                <a:gd name="T3" fmla="*/ 72 h 72"/>
                <a:gd name="T4" fmla="*/ 0 w 72"/>
                <a:gd name="T5" fmla="*/ 36 h 72"/>
                <a:gd name="T6" fmla="*/ 35 w 72"/>
                <a:gd name="T7" fmla="*/ 0 h 72"/>
                <a:gd name="T8" fmla="*/ 72 w 72"/>
                <a:gd name="T9" fmla="*/ 36 h 72"/>
              </a:gdLst>
              <a:ahLst/>
              <a:cxnLst>
                <a:cxn ang="0">
                  <a:pos x="T0" y="T1"/>
                </a:cxn>
                <a:cxn ang="0">
                  <a:pos x="T2" y="T3"/>
                </a:cxn>
                <a:cxn ang="0">
                  <a:pos x="T4" y="T5"/>
                </a:cxn>
                <a:cxn ang="0">
                  <a:pos x="T6" y="T7"/>
                </a:cxn>
                <a:cxn ang="0">
                  <a:pos x="T8" y="T9"/>
                </a:cxn>
              </a:cxnLst>
              <a:rect l="0" t="0" r="r" b="b"/>
              <a:pathLst>
                <a:path w="72" h="72">
                  <a:moveTo>
                    <a:pt x="72" y="36"/>
                  </a:moveTo>
                  <a:cubicBezTo>
                    <a:pt x="72" y="55"/>
                    <a:pt x="56" y="72"/>
                    <a:pt x="35" y="72"/>
                  </a:cubicBezTo>
                  <a:cubicBezTo>
                    <a:pt x="16" y="72"/>
                    <a:pt x="0" y="55"/>
                    <a:pt x="0" y="36"/>
                  </a:cubicBezTo>
                  <a:cubicBezTo>
                    <a:pt x="0" y="16"/>
                    <a:pt x="16" y="0"/>
                    <a:pt x="35" y="0"/>
                  </a:cubicBezTo>
                  <a:cubicBezTo>
                    <a:pt x="56" y="0"/>
                    <a:pt x="72" y="16"/>
                    <a:pt x="72" y="3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89" name="Oval 141"/>
            <p:cNvSpPr>
              <a:spLocks noChangeArrowheads="1"/>
            </p:cNvSpPr>
            <p:nvPr/>
          </p:nvSpPr>
          <p:spPr bwMode="auto">
            <a:xfrm>
              <a:off x="6020180" y="2788920"/>
              <a:ext cx="51435" cy="5143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90" name="Freeform 142"/>
            <p:cNvSpPr>
              <a:spLocks/>
            </p:cNvSpPr>
            <p:nvPr/>
          </p:nvSpPr>
          <p:spPr bwMode="auto">
            <a:xfrm>
              <a:off x="6680454" y="3607689"/>
              <a:ext cx="51435" cy="51435"/>
            </a:xfrm>
            <a:custGeom>
              <a:avLst/>
              <a:gdLst>
                <a:gd name="T0" fmla="*/ 0 w 72"/>
                <a:gd name="T1" fmla="*/ 36 h 72"/>
                <a:gd name="T2" fmla="*/ 37 w 72"/>
                <a:gd name="T3" fmla="*/ 72 h 72"/>
                <a:gd name="T4" fmla="*/ 72 w 72"/>
                <a:gd name="T5" fmla="*/ 36 h 72"/>
                <a:gd name="T6" fmla="*/ 37 w 72"/>
                <a:gd name="T7" fmla="*/ 0 h 72"/>
                <a:gd name="T8" fmla="*/ 0 w 72"/>
                <a:gd name="T9" fmla="*/ 36 h 72"/>
              </a:gdLst>
              <a:ahLst/>
              <a:cxnLst>
                <a:cxn ang="0">
                  <a:pos x="T0" y="T1"/>
                </a:cxn>
                <a:cxn ang="0">
                  <a:pos x="T2" y="T3"/>
                </a:cxn>
                <a:cxn ang="0">
                  <a:pos x="T4" y="T5"/>
                </a:cxn>
                <a:cxn ang="0">
                  <a:pos x="T6" y="T7"/>
                </a:cxn>
                <a:cxn ang="0">
                  <a:pos x="T8" y="T9"/>
                </a:cxn>
              </a:cxnLst>
              <a:rect l="0" t="0" r="r" b="b"/>
              <a:pathLst>
                <a:path w="72" h="72">
                  <a:moveTo>
                    <a:pt x="0" y="36"/>
                  </a:moveTo>
                  <a:cubicBezTo>
                    <a:pt x="0" y="55"/>
                    <a:pt x="16" y="72"/>
                    <a:pt x="37" y="72"/>
                  </a:cubicBezTo>
                  <a:cubicBezTo>
                    <a:pt x="56" y="72"/>
                    <a:pt x="72" y="55"/>
                    <a:pt x="72" y="36"/>
                  </a:cubicBezTo>
                  <a:cubicBezTo>
                    <a:pt x="72" y="16"/>
                    <a:pt x="56" y="0"/>
                    <a:pt x="37" y="0"/>
                  </a:cubicBezTo>
                  <a:cubicBezTo>
                    <a:pt x="16" y="0"/>
                    <a:pt x="0" y="16"/>
                    <a:pt x="0" y="3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91" name="Freeform 143"/>
            <p:cNvSpPr>
              <a:spLocks/>
            </p:cNvSpPr>
            <p:nvPr/>
          </p:nvSpPr>
          <p:spPr bwMode="auto">
            <a:xfrm>
              <a:off x="6675501" y="3385566"/>
              <a:ext cx="51435" cy="51435"/>
            </a:xfrm>
            <a:custGeom>
              <a:avLst/>
              <a:gdLst>
                <a:gd name="T0" fmla="*/ 0 w 72"/>
                <a:gd name="T1" fmla="*/ 36 h 72"/>
                <a:gd name="T2" fmla="*/ 37 w 72"/>
                <a:gd name="T3" fmla="*/ 72 h 72"/>
                <a:gd name="T4" fmla="*/ 72 w 72"/>
                <a:gd name="T5" fmla="*/ 36 h 72"/>
                <a:gd name="T6" fmla="*/ 37 w 72"/>
                <a:gd name="T7" fmla="*/ 0 h 72"/>
                <a:gd name="T8" fmla="*/ 0 w 72"/>
                <a:gd name="T9" fmla="*/ 36 h 72"/>
              </a:gdLst>
              <a:ahLst/>
              <a:cxnLst>
                <a:cxn ang="0">
                  <a:pos x="T0" y="T1"/>
                </a:cxn>
                <a:cxn ang="0">
                  <a:pos x="T2" y="T3"/>
                </a:cxn>
                <a:cxn ang="0">
                  <a:pos x="T4" y="T5"/>
                </a:cxn>
                <a:cxn ang="0">
                  <a:pos x="T6" y="T7"/>
                </a:cxn>
                <a:cxn ang="0">
                  <a:pos x="T8" y="T9"/>
                </a:cxn>
              </a:cxnLst>
              <a:rect l="0" t="0" r="r" b="b"/>
              <a:pathLst>
                <a:path w="72" h="72">
                  <a:moveTo>
                    <a:pt x="0" y="36"/>
                  </a:moveTo>
                  <a:cubicBezTo>
                    <a:pt x="0" y="55"/>
                    <a:pt x="16" y="72"/>
                    <a:pt x="37" y="72"/>
                  </a:cubicBezTo>
                  <a:cubicBezTo>
                    <a:pt x="56" y="72"/>
                    <a:pt x="72" y="55"/>
                    <a:pt x="72" y="36"/>
                  </a:cubicBezTo>
                  <a:cubicBezTo>
                    <a:pt x="72" y="16"/>
                    <a:pt x="56" y="0"/>
                    <a:pt x="37" y="0"/>
                  </a:cubicBezTo>
                  <a:cubicBezTo>
                    <a:pt x="16" y="0"/>
                    <a:pt x="0" y="16"/>
                    <a:pt x="0" y="3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92" name="Oval 144"/>
            <p:cNvSpPr>
              <a:spLocks noChangeArrowheads="1"/>
            </p:cNvSpPr>
            <p:nvPr/>
          </p:nvSpPr>
          <p:spPr bwMode="auto">
            <a:xfrm>
              <a:off x="6614922" y="3099816"/>
              <a:ext cx="51435" cy="5143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93" name="Oval 145"/>
            <p:cNvSpPr>
              <a:spLocks noChangeArrowheads="1"/>
            </p:cNvSpPr>
            <p:nvPr/>
          </p:nvSpPr>
          <p:spPr bwMode="auto">
            <a:xfrm>
              <a:off x="6521577" y="3073908"/>
              <a:ext cx="51054" cy="5143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94" name="Freeform 146"/>
            <p:cNvSpPr>
              <a:spLocks/>
            </p:cNvSpPr>
            <p:nvPr/>
          </p:nvSpPr>
          <p:spPr bwMode="auto">
            <a:xfrm>
              <a:off x="6441567" y="2868930"/>
              <a:ext cx="51435" cy="51435"/>
            </a:xfrm>
            <a:custGeom>
              <a:avLst/>
              <a:gdLst>
                <a:gd name="T0" fmla="*/ 0 w 72"/>
                <a:gd name="T1" fmla="*/ 36 h 72"/>
                <a:gd name="T2" fmla="*/ 37 w 72"/>
                <a:gd name="T3" fmla="*/ 72 h 72"/>
                <a:gd name="T4" fmla="*/ 72 w 72"/>
                <a:gd name="T5" fmla="*/ 36 h 72"/>
                <a:gd name="T6" fmla="*/ 37 w 72"/>
                <a:gd name="T7" fmla="*/ 0 h 72"/>
                <a:gd name="T8" fmla="*/ 0 w 72"/>
                <a:gd name="T9" fmla="*/ 36 h 72"/>
              </a:gdLst>
              <a:ahLst/>
              <a:cxnLst>
                <a:cxn ang="0">
                  <a:pos x="T0" y="T1"/>
                </a:cxn>
                <a:cxn ang="0">
                  <a:pos x="T2" y="T3"/>
                </a:cxn>
                <a:cxn ang="0">
                  <a:pos x="T4" y="T5"/>
                </a:cxn>
                <a:cxn ang="0">
                  <a:pos x="T6" y="T7"/>
                </a:cxn>
                <a:cxn ang="0">
                  <a:pos x="T8" y="T9"/>
                </a:cxn>
              </a:cxnLst>
              <a:rect l="0" t="0" r="r" b="b"/>
              <a:pathLst>
                <a:path w="72" h="72">
                  <a:moveTo>
                    <a:pt x="0" y="36"/>
                  </a:moveTo>
                  <a:cubicBezTo>
                    <a:pt x="0" y="55"/>
                    <a:pt x="16" y="72"/>
                    <a:pt x="37" y="72"/>
                  </a:cubicBezTo>
                  <a:cubicBezTo>
                    <a:pt x="56" y="72"/>
                    <a:pt x="72" y="55"/>
                    <a:pt x="72" y="36"/>
                  </a:cubicBezTo>
                  <a:cubicBezTo>
                    <a:pt x="72" y="16"/>
                    <a:pt x="56" y="0"/>
                    <a:pt x="37" y="0"/>
                  </a:cubicBezTo>
                  <a:cubicBezTo>
                    <a:pt x="16" y="0"/>
                    <a:pt x="0" y="16"/>
                    <a:pt x="0" y="3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95" name="Oval 147"/>
            <p:cNvSpPr>
              <a:spLocks noChangeArrowheads="1"/>
            </p:cNvSpPr>
            <p:nvPr/>
          </p:nvSpPr>
          <p:spPr bwMode="auto">
            <a:xfrm>
              <a:off x="6557772" y="3156204"/>
              <a:ext cx="51435" cy="5143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96" name="Freeform 148"/>
            <p:cNvSpPr>
              <a:spLocks/>
            </p:cNvSpPr>
            <p:nvPr/>
          </p:nvSpPr>
          <p:spPr bwMode="auto">
            <a:xfrm>
              <a:off x="6673596" y="3704844"/>
              <a:ext cx="51054" cy="51435"/>
            </a:xfrm>
            <a:custGeom>
              <a:avLst/>
              <a:gdLst>
                <a:gd name="T0" fmla="*/ 0 w 72"/>
                <a:gd name="T1" fmla="*/ 36 h 72"/>
                <a:gd name="T2" fmla="*/ 36 w 72"/>
                <a:gd name="T3" fmla="*/ 72 h 72"/>
                <a:gd name="T4" fmla="*/ 72 w 72"/>
                <a:gd name="T5" fmla="*/ 36 h 72"/>
                <a:gd name="T6" fmla="*/ 36 w 72"/>
                <a:gd name="T7" fmla="*/ 0 h 72"/>
                <a:gd name="T8" fmla="*/ 0 w 72"/>
                <a:gd name="T9" fmla="*/ 36 h 72"/>
              </a:gdLst>
              <a:ahLst/>
              <a:cxnLst>
                <a:cxn ang="0">
                  <a:pos x="T0" y="T1"/>
                </a:cxn>
                <a:cxn ang="0">
                  <a:pos x="T2" y="T3"/>
                </a:cxn>
                <a:cxn ang="0">
                  <a:pos x="T4" y="T5"/>
                </a:cxn>
                <a:cxn ang="0">
                  <a:pos x="T6" y="T7"/>
                </a:cxn>
                <a:cxn ang="0">
                  <a:pos x="T8" y="T9"/>
                </a:cxn>
              </a:cxnLst>
              <a:rect l="0" t="0" r="r" b="b"/>
              <a:pathLst>
                <a:path w="72" h="72">
                  <a:moveTo>
                    <a:pt x="0" y="36"/>
                  </a:moveTo>
                  <a:cubicBezTo>
                    <a:pt x="0" y="55"/>
                    <a:pt x="16" y="72"/>
                    <a:pt x="36" y="72"/>
                  </a:cubicBezTo>
                  <a:cubicBezTo>
                    <a:pt x="55" y="72"/>
                    <a:pt x="72" y="55"/>
                    <a:pt x="72" y="36"/>
                  </a:cubicBezTo>
                  <a:cubicBezTo>
                    <a:pt x="72" y="15"/>
                    <a:pt x="55" y="0"/>
                    <a:pt x="36" y="0"/>
                  </a:cubicBezTo>
                  <a:cubicBezTo>
                    <a:pt x="16" y="0"/>
                    <a:pt x="0" y="15"/>
                    <a:pt x="0" y="3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97" name="Freeform 149"/>
            <p:cNvSpPr>
              <a:spLocks/>
            </p:cNvSpPr>
            <p:nvPr/>
          </p:nvSpPr>
          <p:spPr bwMode="auto">
            <a:xfrm>
              <a:off x="6596253" y="3661029"/>
              <a:ext cx="51435" cy="51435"/>
            </a:xfrm>
            <a:custGeom>
              <a:avLst/>
              <a:gdLst>
                <a:gd name="T0" fmla="*/ 0 w 72"/>
                <a:gd name="T1" fmla="*/ 36 h 72"/>
                <a:gd name="T2" fmla="*/ 36 w 72"/>
                <a:gd name="T3" fmla="*/ 72 h 72"/>
                <a:gd name="T4" fmla="*/ 72 w 72"/>
                <a:gd name="T5" fmla="*/ 36 h 72"/>
                <a:gd name="T6" fmla="*/ 36 w 72"/>
                <a:gd name="T7" fmla="*/ 0 h 72"/>
                <a:gd name="T8" fmla="*/ 0 w 72"/>
                <a:gd name="T9" fmla="*/ 36 h 72"/>
              </a:gdLst>
              <a:ahLst/>
              <a:cxnLst>
                <a:cxn ang="0">
                  <a:pos x="T0" y="T1"/>
                </a:cxn>
                <a:cxn ang="0">
                  <a:pos x="T2" y="T3"/>
                </a:cxn>
                <a:cxn ang="0">
                  <a:pos x="T4" y="T5"/>
                </a:cxn>
                <a:cxn ang="0">
                  <a:pos x="T6" y="T7"/>
                </a:cxn>
                <a:cxn ang="0">
                  <a:pos x="T8" y="T9"/>
                </a:cxn>
              </a:cxnLst>
              <a:rect l="0" t="0" r="r" b="b"/>
              <a:pathLst>
                <a:path w="72" h="72">
                  <a:moveTo>
                    <a:pt x="0" y="36"/>
                  </a:moveTo>
                  <a:cubicBezTo>
                    <a:pt x="0" y="55"/>
                    <a:pt x="16" y="72"/>
                    <a:pt x="36" y="72"/>
                  </a:cubicBezTo>
                  <a:cubicBezTo>
                    <a:pt x="55" y="72"/>
                    <a:pt x="72" y="55"/>
                    <a:pt x="72" y="36"/>
                  </a:cubicBezTo>
                  <a:cubicBezTo>
                    <a:pt x="72" y="15"/>
                    <a:pt x="55" y="0"/>
                    <a:pt x="36" y="0"/>
                  </a:cubicBezTo>
                  <a:cubicBezTo>
                    <a:pt x="16" y="0"/>
                    <a:pt x="0" y="15"/>
                    <a:pt x="0" y="3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98" name="Oval 150"/>
            <p:cNvSpPr>
              <a:spLocks noChangeArrowheads="1"/>
            </p:cNvSpPr>
            <p:nvPr/>
          </p:nvSpPr>
          <p:spPr bwMode="auto">
            <a:xfrm>
              <a:off x="6571488" y="3017520"/>
              <a:ext cx="51435" cy="5143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99" name="Freeform 151"/>
            <p:cNvSpPr>
              <a:spLocks/>
            </p:cNvSpPr>
            <p:nvPr/>
          </p:nvSpPr>
          <p:spPr bwMode="auto">
            <a:xfrm>
              <a:off x="6369558" y="2886075"/>
              <a:ext cx="51054" cy="51435"/>
            </a:xfrm>
            <a:custGeom>
              <a:avLst/>
              <a:gdLst>
                <a:gd name="T0" fmla="*/ 0 w 72"/>
                <a:gd name="T1" fmla="*/ 36 h 72"/>
                <a:gd name="T2" fmla="*/ 37 w 72"/>
                <a:gd name="T3" fmla="*/ 72 h 72"/>
                <a:gd name="T4" fmla="*/ 72 w 72"/>
                <a:gd name="T5" fmla="*/ 36 h 72"/>
                <a:gd name="T6" fmla="*/ 37 w 72"/>
                <a:gd name="T7" fmla="*/ 0 h 72"/>
                <a:gd name="T8" fmla="*/ 0 w 72"/>
                <a:gd name="T9" fmla="*/ 36 h 72"/>
              </a:gdLst>
              <a:ahLst/>
              <a:cxnLst>
                <a:cxn ang="0">
                  <a:pos x="T0" y="T1"/>
                </a:cxn>
                <a:cxn ang="0">
                  <a:pos x="T2" y="T3"/>
                </a:cxn>
                <a:cxn ang="0">
                  <a:pos x="T4" y="T5"/>
                </a:cxn>
                <a:cxn ang="0">
                  <a:pos x="T6" y="T7"/>
                </a:cxn>
                <a:cxn ang="0">
                  <a:pos x="T8" y="T9"/>
                </a:cxn>
              </a:cxnLst>
              <a:rect l="0" t="0" r="r" b="b"/>
              <a:pathLst>
                <a:path w="72" h="72">
                  <a:moveTo>
                    <a:pt x="0" y="36"/>
                  </a:moveTo>
                  <a:cubicBezTo>
                    <a:pt x="0" y="56"/>
                    <a:pt x="16" y="72"/>
                    <a:pt x="37" y="72"/>
                  </a:cubicBezTo>
                  <a:cubicBezTo>
                    <a:pt x="56" y="72"/>
                    <a:pt x="72" y="56"/>
                    <a:pt x="72" y="36"/>
                  </a:cubicBezTo>
                  <a:cubicBezTo>
                    <a:pt x="72" y="16"/>
                    <a:pt x="56" y="0"/>
                    <a:pt x="37" y="0"/>
                  </a:cubicBezTo>
                  <a:cubicBezTo>
                    <a:pt x="16" y="0"/>
                    <a:pt x="0" y="16"/>
                    <a:pt x="0" y="3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100" name="Freeform 152"/>
            <p:cNvSpPr>
              <a:spLocks/>
            </p:cNvSpPr>
            <p:nvPr/>
          </p:nvSpPr>
          <p:spPr bwMode="auto">
            <a:xfrm>
              <a:off x="6198108" y="2776728"/>
              <a:ext cx="51435" cy="51435"/>
            </a:xfrm>
            <a:custGeom>
              <a:avLst/>
              <a:gdLst>
                <a:gd name="T0" fmla="*/ 0 w 72"/>
                <a:gd name="T1" fmla="*/ 36 h 72"/>
                <a:gd name="T2" fmla="*/ 37 w 72"/>
                <a:gd name="T3" fmla="*/ 72 h 72"/>
                <a:gd name="T4" fmla="*/ 72 w 72"/>
                <a:gd name="T5" fmla="*/ 36 h 72"/>
                <a:gd name="T6" fmla="*/ 37 w 72"/>
                <a:gd name="T7" fmla="*/ 0 h 72"/>
                <a:gd name="T8" fmla="*/ 0 w 72"/>
                <a:gd name="T9" fmla="*/ 36 h 72"/>
              </a:gdLst>
              <a:ahLst/>
              <a:cxnLst>
                <a:cxn ang="0">
                  <a:pos x="T0" y="T1"/>
                </a:cxn>
                <a:cxn ang="0">
                  <a:pos x="T2" y="T3"/>
                </a:cxn>
                <a:cxn ang="0">
                  <a:pos x="T4" y="T5"/>
                </a:cxn>
                <a:cxn ang="0">
                  <a:pos x="T6" y="T7"/>
                </a:cxn>
                <a:cxn ang="0">
                  <a:pos x="T8" y="T9"/>
                </a:cxn>
              </a:cxnLst>
              <a:rect l="0" t="0" r="r" b="b"/>
              <a:pathLst>
                <a:path w="72" h="72">
                  <a:moveTo>
                    <a:pt x="0" y="36"/>
                  </a:moveTo>
                  <a:cubicBezTo>
                    <a:pt x="0" y="55"/>
                    <a:pt x="16" y="72"/>
                    <a:pt x="37" y="72"/>
                  </a:cubicBezTo>
                  <a:cubicBezTo>
                    <a:pt x="56" y="72"/>
                    <a:pt x="72" y="55"/>
                    <a:pt x="72" y="36"/>
                  </a:cubicBezTo>
                  <a:cubicBezTo>
                    <a:pt x="72" y="16"/>
                    <a:pt x="56" y="0"/>
                    <a:pt x="37" y="0"/>
                  </a:cubicBezTo>
                  <a:cubicBezTo>
                    <a:pt x="16" y="0"/>
                    <a:pt x="0" y="16"/>
                    <a:pt x="0" y="3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101" name="Freeform 153"/>
            <p:cNvSpPr>
              <a:spLocks/>
            </p:cNvSpPr>
            <p:nvPr/>
          </p:nvSpPr>
          <p:spPr bwMode="auto">
            <a:xfrm>
              <a:off x="6153912" y="2854071"/>
              <a:ext cx="51435" cy="51435"/>
            </a:xfrm>
            <a:custGeom>
              <a:avLst/>
              <a:gdLst>
                <a:gd name="T0" fmla="*/ 0 w 72"/>
                <a:gd name="T1" fmla="*/ 36 h 72"/>
                <a:gd name="T2" fmla="*/ 37 w 72"/>
                <a:gd name="T3" fmla="*/ 72 h 72"/>
                <a:gd name="T4" fmla="*/ 72 w 72"/>
                <a:gd name="T5" fmla="*/ 36 h 72"/>
                <a:gd name="T6" fmla="*/ 37 w 72"/>
                <a:gd name="T7" fmla="*/ 0 h 72"/>
                <a:gd name="T8" fmla="*/ 0 w 72"/>
                <a:gd name="T9" fmla="*/ 36 h 72"/>
              </a:gdLst>
              <a:ahLst/>
              <a:cxnLst>
                <a:cxn ang="0">
                  <a:pos x="T0" y="T1"/>
                </a:cxn>
                <a:cxn ang="0">
                  <a:pos x="T2" y="T3"/>
                </a:cxn>
                <a:cxn ang="0">
                  <a:pos x="T4" y="T5"/>
                </a:cxn>
                <a:cxn ang="0">
                  <a:pos x="T6" y="T7"/>
                </a:cxn>
                <a:cxn ang="0">
                  <a:pos x="T8" y="T9"/>
                </a:cxn>
              </a:cxnLst>
              <a:rect l="0" t="0" r="r" b="b"/>
              <a:pathLst>
                <a:path w="72" h="72">
                  <a:moveTo>
                    <a:pt x="0" y="36"/>
                  </a:moveTo>
                  <a:cubicBezTo>
                    <a:pt x="0" y="55"/>
                    <a:pt x="16" y="72"/>
                    <a:pt x="37" y="72"/>
                  </a:cubicBezTo>
                  <a:cubicBezTo>
                    <a:pt x="56" y="72"/>
                    <a:pt x="72" y="55"/>
                    <a:pt x="72" y="36"/>
                  </a:cubicBezTo>
                  <a:cubicBezTo>
                    <a:pt x="72" y="16"/>
                    <a:pt x="56" y="0"/>
                    <a:pt x="37" y="0"/>
                  </a:cubicBezTo>
                  <a:cubicBezTo>
                    <a:pt x="16" y="0"/>
                    <a:pt x="0" y="16"/>
                    <a:pt x="0" y="3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102" name="Oval 154"/>
            <p:cNvSpPr>
              <a:spLocks noChangeArrowheads="1"/>
            </p:cNvSpPr>
            <p:nvPr/>
          </p:nvSpPr>
          <p:spPr bwMode="auto">
            <a:xfrm>
              <a:off x="6121527" y="2788920"/>
              <a:ext cx="51435" cy="5143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103" name="Freeform 155"/>
            <p:cNvSpPr>
              <a:spLocks/>
            </p:cNvSpPr>
            <p:nvPr/>
          </p:nvSpPr>
          <p:spPr bwMode="auto">
            <a:xfrm>
              <a:off x="5677661" y="3228975"/>
              <a:ext cx="291846" cy="315087"/>
            </a:xfrm>
            <a:custGeom>
              <a:avLst/>
              <a:gdLst>
                <a:gd name="T0" fmla="*/ 288 w 409"/>
                <a:gd name="T1" fmla="*/ 441 h 441"/>
                <a:gd name="T2" fmla="*/ 184 w 409"/>
                <a:gd name="T3" fmla="*/ 286 h 441"/>
                <a:gd name="T4" fmla="*/ 174 w 409"/>
                <a:gd name="T5" fmla="*/ 240 h 441"/>
                <a:gd name="T6" fmla="*/ 202 w 409"/>
                <a:gd name="T7" fmla="*/ 200 h 441"/>
                <a:gd name="T8" fmla="*/ 236 w 409"/>
                <a:gd name="T9" fmla="*/ 189 h 441"/>
                <a:gd name="T10" fmla="*/ 285 w 409"/>
                <a:gd name="T11" fmla="*/ 213 h 441"/>
                <a:gd name="T12" fmla="*/ 405 w 409"/>
                <a:gd name="T13" fmla="*/ 364 h 441"/>
                <a:gd name="T14" fmla="*/ 352 w 409"/>
                <a:gd name="T15" fmla="*/ 134 h 441"/>
                <a:gd name="T16" fmla="*/ 55 w 409"/>
                <a:gd name="T17" fmla="*/ 0 h 441"/>
                <a:gd name="T18" fmla="*/ 93 w 409"/>
                <a:gd name="T19" fmla="*/ 323 h 441"/>
                <a:gd name="T20" fmla="*/ 288 w 409"/>
                <a:gd name="T21" fmla="*/ 441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9" h="441">
                  <a:moveTo>
                    <a:pt x="288" y="441"/>
                  </a:moveTo>
                  <a:cubicBezTo>
                    <a:pt x="184" y="286"/>
                    <a:pt x="184" y="286"/>
                    <a:pt x="184" y="286"/>
                  </a:cubicBezTo>
                  <a:cubicBezTo>
                    <a:pt x="175" y="273"/>
                    <a:pt x="171" y="256"/>
                    <a:pt x="174" y="240"/>
                  </a:cubicBezTo>
                  <a:cubicBezTo>
                    <a:pt x="178" y="224"/>
                    <a:pt x="187" y="209"/>
                    <a:pt x="202" y="200"/>
                  </a:cubicBezTo>
                  <a:cubicBezTo>
                    <a:pt x="212" y="193"/>
                    <a:pt x="224" y="189"/>
                    <a:pt x="236" y="189"/>
                  </a:cubicBezTo>
                  <a:cubicBezTo>
                    <a:pt x="255" y="189"/>
                    <a:pt x="273" y="198"/>
                    <a:pt x="285" y="213"/>
                  </a:cubicBezTo>
                  <a:cubicBezTo>
                    <a:pt x="405" y="364"/>
                    <a:pt x="405" y="364"/>
                    <a:pt x="405" y="364"/>
                  </a:cubicBezTo>
                  <a:cubicBezTo>
                    <a:pt x="409" y="296"/>
                    <a:pt x="403" y="204"/>
                    <a:pt x="352" y="134"/>
                  </a:cubicBezTo>
                  <a:cubicBezTo>
                    <a:pt x="259" y="8"/>
                    <a:pt x="55" y="0"/>
                    <a:pt x="55" y="0"/>
                  </a:cubicBezTo>
                  <a:cubicBezTo>
                    <a:pt x="55" y="0"/>
                    <a:pt x="0" y="197"/>
                    <a:pt x="93" y="323"/>
                  </a:cubicBezTo>
                  <a:cubicBezTo>
                    <a:pt x="142" y="390"/>
                    <a:pt x="223" y="424"/>
                    <a:pt x="288" y="44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104" name="Freeform 156"/>
            <p:cNvSpPr>
              <a:spLocks/>
            </p:cNvSpPr>
            <p:nvPr/>
          </p:nvSpPr>
          <p:spPr bwMode="auto">
            <a:xfrm>
              <a:off x="5696330" y="2956179"/>
              <a:ext cx="224028" cy="240030"/>
            </a:xfrm>
            <a:custGeom>
              <a:avLst/>
              <a:gdLst>
                <a:gd name="T0" fmla="*/ 215 w 314"/>
                <a:gd name="T1" fmla="*/ 336 h 336"/>
                <a:gd name="T2" fmla="*/ 135 w 314"/>
                <a:gd name="T3" fmla="*/ 218 h 336"/>
                <a:gd name="T4" fmla="*/ 135 w 314"/>
                <a:gd name="T5" fmla="*/ 217 h 336"/>
                <a:gd name="T6" fmla="*/ 146 w 314"/>
                <a:gd name="T7" fmla="*/ 145 h 336"/>
                <a:gd name="T8" fmla="*/ 182 w 314"/>
                <a:gd name="T9" fmla="*/ 132 h 336"/>
                <a:gd name="T10" fmla="*/ 225 w 314"/>
                <a:gd name="T11" fmla="*/ 153 h 336"/>
                <a:gd name="T12" fmla="*/ 313 w 314"/>
                <a:gd name="T13" fmla="*/ 263 h 336"/>
                <a:gd name="T14" fmla="*/ 271 w 314"/>
                <a:gd name="T15" fmla="*/ 102 h 336"/>
                <a:gd name="T16" fmla="*/ 42 w 314"/>
                <a:gd name="T17" fmla="*/ 0 h 336"/>
                <a:gd name="T18" fmla="*/ 73 w 314"/>
                <a:gd name="T19" fmla="*/ 248 h 336"/>
                <a:gd name="T20" fmla="*/ 215 w 314"/>
                <a:gd name="T21" fmla="*/ 336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4" h="336">
                  <a:moveTo>
                    <a:pt x="215" y="336"/>
                  </a:moveTo>
                  <a:cubicBezTo>
                    <a:pt x="135" y="218"/>
                    <a:pt x="135" y="218"/>
                    <a:pt x="135" y="218"/>
                  </a:cubicBezTo>
                  <a:cubicBezTo>
                    <a:pt x="135" y="217"/>
                    <a:pt x="135" y="217"/>
                    <a:pt x="135" y="217"/>
                  </a:cubicBezTo>
                  <a:cubicBezTo>
                    <a:pt x="120" y="193"/>
                    <a:pt x="124" y="163"/>
                    <a:pt x="146" y="145"/>
                  </a:cubicBezTo>
                  <a:cubicBezTo>
                    <a:pt x="155" y="136"/>
                    <a:pt x="168" y="132"/>
                    <a:pt x="182" y="132"/>
                  </a:cubicBezTo>
                  <a:cubicBezTo>
                    <a:pt x="198" y="132"/>
                    <a:pt x="214" y="139"/>
                    <a:pt x="225" y="153"/>
                  </a:cubicBezTo>
                  <a:cubicBezTo>
                    <a:pt x="313" y="263"/>
                    <a:pt x="313" y="263"/>
                    <a:pt x="313" y="263"/>
                  </a:cubicBezTo>
                  <a:cubicBezTo>
                    <a:pt x="314" y="213"/>
                    <a:pt x="307" y="151"/>
                    <a:pt x="271" y="102"/>
                  </a:cubicBezTo>
                  <a:cubicBezTo>
                    <a:pt x="199" y="5"/>
                    <a:pt x="42" y="0"/>
                    <a:pt x="42" y="0"/>
                  </a:cubicBezTo>
                  <a:cubicBezTo>
                    <a:pt x="42" y="0"/>
                    <a:pt x="0" y="151"/>
                    <a:pt x="73" y="248"/>
                  </a:cubicBezTo>
                  <a:cubicBezTo>
                    <a:pt x="108" y="298"/>
                    <a:pt x="167" y="323"/>
                    <a:pt x="215" y="33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105" name="Freeform 157"/>
            <p:cNvSpPr>
              <a:spLocks/>
            </p:cNvSpPr>
            <p:nvPr/>
          </p:nvSpPr>
          <p:spPr bwMode="auto">
            <a:xfrm>
              <a:off x="6272403" y="2956179"/>
              <a:ext cx="224028" cy="240030"/>
            </a:xfrm>
            <a:custGeom>
              <a:avLst/>
              <a:gdLst>
                <a:gd name="T0" fmla="*/ 90 w 314"/>
                <a:gd name="T1" fmla="*/ 153 h 336"/>
                <a:gd name="T2" fmla="*/ 133 w 314"/>
                <a:gd name="T3" fmla="*/ 132 h 336"/>
                <a:gd name="T4" fmla="*/ 169 w 314"/>
                <a:gd name="T5" fmla="*/ 145 h 336"/>
                <a:gd name="T6" fmla="*/ 180 w 314"/>
                <a:gd name="T7" fmla="*/ 217 h 336"/>
                <a:gd name="T8" fmla="*/ 179 w 314"/>
                <a:gd name="T9" fmla="*/ 218 h 336"/>
                <a:gd name="T10" fmla="*/ 99 w 314"/>
                <a:gd name="T11" fmla="*/ 336 h 336"/>
                <a:gd name="T12" fmla="*/ 242 w 314"/>
                <a:gd name="T13" fmla="*/ 248 h 336"/>
                <a:gd name="T14" fmla="*/ 273 w 314"/>
                <a:gd name="T15" fmla="*/ 0 h 336"/>
                <a:gd name="T16" fmla="*/ 43 w 314"/>
                <a:gd name="T17" fmla="*/ 102 h 336"/>
                <a:gd name="T18" fmla="*/ 1 w 314"/>
                <a:gd name="T19" fmla="*/ 264 h 336"/>
                <a:gd name="T20" fmla="*/ 90 w 314"/>
                <a:gd name="T21" fmla="*/ 153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4" h="336">
                  <a:moveTo>
                    <a:pt x="90" y="153"/>
                  </a:moveTo>
                  <a:cubicBezTo>
                    <a:pt x="100" y="139"/>
                    <a:pt x="116" y="132"/>
                    <a:pt x="133" y="132"/>
                  </a:cubicBezTo>
                  <a:cubicBezTo>
                    <a:pt x="146" y="132"/>
                    <a:pt x="159" y="136"/>
                    <a:pt x="169" y="145"/>
                  </a:cubicBezTo>
                  <a:cubicBezTo>
                    <a:pt x="190" y="163"/>
                    <a:pt x="195" y="193"/>
                    <a:pt x="180" y="217"/>
                  </a:cubicBezTo>
                  <a:cubicBezTo>
                    <a:pt x="179" y="218"/>
                    <a:pt x="179" y="218"/>
                    <a:pt x="179" y="218"/>
                  </a:cubicBezTo>
                  <a:cubicBezTo>
                    <a:pt x="99" y="336"/>
                    <a:pt x="99" y="336"/>
                    <a:pt x="99" y="336"/>
                  </a:cubicBezTo>
                  <a:cubicBezTo>
                    <a:pt x="148" y="323"/>
                    <a:pt x="206" y="298"/>
                    <a:pt x="242" y="248"/>
                  </a:cubicBezTo>
                  <a:cubicBezTo>
                    <a:pt x="314" y="151"/>
                    <a:pt x="273" y="0"/>
                    <a:pt x="273" y="0"/>
                  </a:cubicBezTo>
                  <a:cubicBezTo>
                    <a:pt x="273" y="0"/>
                    <a:pt x="115" y="5"/>
                    <a:pt x="43" y="102"/>
                  </a:cubicBezTo>
                  <a:cubicBezTo>
                    <a:pt x="7" y="151"/>
                    <a:pt x="0" y="213"/>
                    <a:pt x="1" y="264"/>
                  </a:cubicBezTo>
                  <a:lnTo>
                    <a:pt x="90" y="15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106" name="Freeform 158"/>
            <p:cNvSpPr>
              <a:spLocks/>
            </p:cNvSpPr>
            <p:nvPr/>
          </p:nvSpPr>
          <p:spPr bwMode="auto">
            <a:xfrm>
              <a:off x="5974079" y="2894076"/>
              <a:ext cx="244602" cy="383667"/>
            </a:xfrm>
            <a:custGeom>
              <a:avLst/>
              <a:gdLst>
                <a:gd name="T0" fmla="*/ 109 w 343"/>
                <a:gd name="T1" fmla="*/ 346 h 537"/>
                <a:gd name="T2" fmla="*/ 169 w 343"/>
                <a:gd name="T3" fmla="*/ 287 h 537"/>
                <a:gd name="T4" fmla="*/ 174 w 343"/>
                <a:gd name="T5" fmla="*/ 287 h 537"/>
                <a:gd name="T6" fmla="*/ 233 w 343"/>
                <a:gd name="T7" fmla="*/ 343 h 537"/>
                <a:gd name="T8" fmla="*/ 233 w 343"/>
                <a:gd name="T9" fmla="*/ 345 h 537"/>
                <a:gd name="T10" fmla="*/ 241 w 343"/>
                <a:gd name="T11" fmla="*/ 537 h 537"/>
                <a:gd name="T12" fmla="*/ 343 w 343"/>
                <a:gd name="T13" fmla="*/ 303 h 537"/>
                <a:gd name="T14" fmla="*/ 171 w 343"/>
                <a:gd name="T15" fmla="*/ 0 h 537"/>
                <a:gd name="T16" fmla="*/ 0 w 343"/>
                <a:gd name="T17" fmla="*/ 303 h 537"/>
                <a:gd name="T18" fmla="*/ 101 w 343"/>
                <a:gd name="T19" fmla="*/ 536 h 537"/>
                <a:gd name="T20" fmla="*/ 109 w 343"/>
                <a:gd name="T21" fmla="*/ 346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3" h="537">
                  <a:moveTo>
                    <a:pt x="109" y="346"/>
                  </a:moveTo>
                  <a:cubicBezTo>
                    <a:pt x="110" y="313"/>
                    <a:pt x="137" y="287"/>
                    <a:pt x="169" y="287"/>
                  </a:cubicBezTo>
                  <a:cubicBezTo>
                    <a:pt x="171" y="287"/>
                    <a:pt x="172" y="287"/>
                    <a:pt x="174" y="287"/>
                  </a:cubicBezTo>
                  <a:cubicBezTo>
                    <a:pt x="204" y="289"/>
                    <a:pt x="229" y="312"/>
                    <a:pt x="233" y="343"/>
                  </a:cubicBezTo>
                  <a:cubicBezTo>
                    <a:pt x="233" y="345"/>
                    <a:pt x="233" y="345"/>
                    <a:pt x="233" y="345"/>
                  </a:cubicBezTo>
                  <a:cubicBezTo>
                    <a:pt x="241" y="537"/>
                    <a:pt x="241" y="537"/>
                    <a:pt x="241" y="537"/>
                  </a:cubicBezTo>
                  <a:cubicBezTo>
                    <a:pt x="288" y="481"/>
                    <a:pt x="343" y="397"/>
                    <a:pt x="343" y="303"/>
                  </a:cubicBezTo>
                  <a:cubicBezTo>
                    <a:pt x="343" y="136"/>
                    <a:pt x="171" y="0"/>
                    <a:pt x="171" y="0"/>
                  </a:cubicBezTo>
                  <a:cubicBezTo>
                    <a:pt x="171" y="0"/>
                    <a:pt x="0" y="136"/>
                    <a:pt x="0" y="303"/>
                  </a:cubicBezTo>
                  <a:cubicBezTo>
                    <a:pt x="0" y="397"/>
                    <a:pt x="54" y="480"/>
                    <a:pt x="101" y="536"/>
                  </a:cubicBezTo>
                  <a:lnTo>
                    <a:pt x="109" y="34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107" name="Freeform 159"/>
            <p:cNvSpPr>
              <a:spLocks/>
            </p:cNvSpPr>
            <p:nvPr/>
          </p:nvSpPr>
          <p:spPr bwMode="auto">
            <a:xfrm>
              <a:off x="6226683" y="3228975"/>
              <a:ext cx="292608" cy="315849"/>
            </a:xfrm>
            <a:custGeom>
              <a:avLst/>
              <a:gdLst>
                <a:gd name="T0" fmla="*/ 355 w 410"/>
                <a:gd name="T1" fmla="*/ 0 h 442"/>
                <a:gd name="T2" fmla="*/ 57 w 410"/>
                <a:gd name="T3" fmla="*/ 134 h 442"/>
                <a:gd name="T4" fmla="*/ 4 w 410"/>
                <a:gd name="T5" fmla="*/ 362 h 442"/>
                <a:gd name="T6" fmla="*/ 123 w 410"/>
                <a:gd name="T7" fmla="*/ 213 h 442"/>
                <a:gd name="T8" fmla="*/ 171 w 410"/>
                <a:gd name="T9" fmla="*/ 189 h 442"/>
                <a:gd name="T10" fmla="*/ 206 w 410"/>
                <a:gd name="T11" fmla="*/ 200 h 442"/>
                <a:gd name="T12" fmla="*/ 233 w 410"/>
                <a:gd name="T13" fmla="*/ 240 h 442"/>
                <a:gd name="T14" fmla="*/ 223 w 410"/>
                <a:gd name="T15" fmla="*/ 286 h 442"/>
                <a:gd name="T16" fmla="*/ 118 w 410"/>
                <a:gd name="T17" fmla="*/ 442 h 442"/>
                <a:gd name="T18" fmla="*/ 317 w 410"/>
                <a:gd name="T19" fmla="*/ 323 h 442"/>
                <a:gd name="T20" fmla="*/ 355 w 410"/>
                <a:gd name="T21" fmla="*/ 0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0" h="442">
                  <a:moveTo>
                    <a:pt x="355" y="0"/>
                  </a:moveTo>
                  <a:cubicBezTo>
                    <a:pt x="355" y="0"/>
                    <a:pt x="150" y="8"/>
                    <a:pt x="57" y="134"/>
                  </a:cubicBezTo>
                  <a:cubicBezTo>
                    <a:pt x="7" y="204"/>
                    <a:pt x="0" y="294"/>
                    <a:pt x="4" y="362"/>
                  </a:cubicBezTo>
                  <a:cubicBezTo>
                    <a:pt x="123" y="213"/>
                    <a:pt x="123" y="213"/>
                    <a:pt x="123" y="213"/>
                  </a:cubicBezTo>
                  <a:cubicBezTo>
                    <a:pt x="134" y="198"/>
                    <a:pt x="152" y="189"/>
                    <a:pt x="171" y="189"/>
                  </a:cubicBezTo>
                  <a:cubicBezTo>
                    <a:pt x="183" y="189"/>
                    <a:pt x="196" y="193"/>
                    <a:pt x="206" y="200"/>
                  </a:cubicBezTo>
                  <a:cubicBezTo>
                    <a:pt x="220" y="209"/>
                    <a:pt x="230" y="224"/>
                    <a:pt x="233" y="240"/>
                  </a:cubicBezTo>
                  <a:cubicBezTo>
                    <a:pt x="236" y="256"/>
                    <a:pt x="232" y="273"/>
                    <a:pt x="223" y="286"/>
                  </a:cubicBezTo>
                  <a:cubicBezTo>
                    <a:pt x="118" y="442"/>
                    <a:pt x="118" y="442"/>
                    <a:pt x="118" y="442"/>
                  </a:cubicBezTo>
                  <a:cubicBezTo>
                    <a:pt x="184" y="425"/>
                    <a:pt x="267" y="391"/>
                    <a:pt x="317" y="323"/>
                  </a:cubicBezTo>
                  <a:cubicBezTo>
                    <a:pt x="410" y="197"/>
                    <a:pt x="355" y="0"/>
                    <a:pt x="35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108" name="Freeform 160"/>
            <p:cNvSpPr>
              <a:spLocks/>
            </p:cNvSpPr>
            <p:nvPr/>
          </p:nvSpPr>
          <p:spPr bwMode="auto">
            <a:xfrm>
              <a:off x="6297930" y="3614166"/>
              <a:ext cx="267843" cy="209931"/>
            </a:xfrm>
            <a:custGeom>
              <a:avLst/>
              <a:gdLst>
                <a:gd name="T0" fmla="*/ 212 w 375"/>
                <a:gd name="T1" fmla="*/ 21 h 294"/>
                <a:gd name="T2" fmla="*/ 47 w 375"/>
                <a:gd name="T3" fmla="*/ 25 h 294"/>
                <a:gd name="T4" fmla="*/ 176 w 375"/>
                <a:gd name="T5" fmla="*/ 79 h 294"/>
                <a:gd name="T6" fmla="*/ 208 w 375"/>
                <a:gd name="T7" fmla="*/ 142 h 294"/>
                <a:gd name="T8" fmla="*/ 207 w 375"/>
                <a:gd name="T9" fmla="*/ 146 h 294"/>
                <a:gd name="T10" fmla="*/ 205 w 375"/>
                <a:gd name="T11" fmla="*/ 149 h 294"/>
                <a:gd name="T12" fmla="*/ 153 w 375"/>
                <a:gd name="T13" fmla="*/ 185 h 294"/>
                <a:gd name="T14" fmla="*/ 136 w 375"/>
                <a:gd name="T15" fmla="*/ 183 h 294"/>
                <a:gd name="T16" fmla="*/ 0 w 375"/>
                <a:gd name="T17" fmla="*/ 138 h 294"/>
                <a:gd name="T18" fmla="*/ 126 w 375"/>
                <a:gd name="T19" fmla="*/ 251 h 294"/>
                <a:gd name="T20" fmla="*/ 375 w 375"/>
                <a:gd name="T21" fmla="*/ 213 h 294"/>
                <a:gd name="T22" fmla="*/ 212 w 375"/>
                <a:gd name="T23" fmla="*/ 21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5" h="294">
                  <a:moveTo>
                    <a:pt x="212" y="21"/>
                  </a:moveTo>
                  <a:cubicBezTo>
                    <a:pt x="156" y="0"/>
                    <a:pt x="95" y="10"/>
                    <a:pt x="47" y="25"/>
                  </a:cubicBezTo>
                  <a:cubicBezTo>
                    <a:pt x="176" y="79"/>
                    <a:pt x="176" y="79"/>
                    <a:pt x="176" y="79"/>
                  </a:cubicBezTo>
                  <a:cubicBezTo>
                    <a:pt x="200" y="90"/>
                    <a:pt x="213" y="116"/>
                    <a:pt x="208" y="142"/>
                  </a:cubicBezTo>
                  <a:cubicBezTo>
                    <a:pt x="207" y="146"/>
                    <a:pt x="207" y="146"/>
                    <a:pt x="207" y="146"/>
                  </a:cubicBezTo>
                  <a:cubicBezTo>
                    <a:pt x="205" y="149"/>
                    <a:pt x="205" y="149"/>
                    <a:pt x="205" y="149"/>
                  </a:cubicBezTo>
                  <a:cubicBezTo>
                    <a:pt x="197" y="171"/>
                    <a:pt x="176" y="185"/>
                    <a:pt x="153" y="185"/>
                  </a:cubicBezTo>
                  <a:cubicBezTo>
                    <a:pt x="147" y="185"/>
                    <a:pt x="141" y="185"/>
                    <a:pt x="136" y="183"/>
                  </a:cubicBezTo>
                  <a:cubicBezTo>
                    <a:pt x="0" y="138"/>
                    <a:pt x="0" y="138"/>
                    <a:pt x="0" y="138"/>
                  </a:cubicBezTo>
                  <a:cubicBezTo>
                    <a:pt x="27" y="181"/>
                    <a:pt x="68" y="230"/>
                    <a:pt x="126" y="251"/>
                  </a:cubicBezTo>
                  <a:cubicBezTo>
                    <a:pt x="240" y="294"/>
                    <a:pt x="375" y="213"/>
                    <a:pt x="375" y="213"/>
                  </a:cubicBezTo>
                  <a:cubicBezTo>
                    <a:pt x="375" y="213"/>
                    <a:pt x="327" y="63"/>
                    <a:pt x="212" y="2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109" name="Freeform 161"/>
            <p:cNvSpPr>
              <a:spLocks/>
            </p:cNvSpPr>
            <p:nvPr/>
          </p:nvSpPr>
          <p:spPr bwMode="auto">
            <a:xfrm>
              <a:off x="5558408" y="3826383"/>
              <a:ext cx="466344" cy="250698"/>
            </a:xfrm>
            <a:custGeom>
              <a:avLst/>
              <a:gdLst>
                <a:gd name="T0" fmla="*/ 653 w 653"/>
                <a:gd name="T1" fmla="*/ 0 h 351"/>
                <a:gd name="T2" fmla="*/ 269 w 653"/>
                <a:gd name="T3" fmla="*/ 187 h 351"/>
                <a:gd name="T4" fmla="*/ 22 w 653"/>
                <a:gd name="T5" fmla="*/ 307 h 351"/>
                <a:gd name="T6" fmla="*/ 0 w 653"/>
                <a:gd name="T7" fmla="*/ 329 h 351"/>
                <a:gd name="T8" fmla="*/ 22 w 653"/>
                <a:gd name="T9" fmla="*/ 351 h 351"/>
                <a:gd name="T10" fmla="*/ 295 w 653"/>
                <a:gd name="T11" fmla="*/ 223 h 351"/>
                <a:gd name="T12" fmla="*/ 652 w 653"/>
                <a:gd name="T13" fmla="*/ 45 h 351"/>
                <a:gd name="T14" fmla="*/ 653 w 653"/>
                <a:gd name="T15" fmla="*/ 0 h 3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3" h="351">
                  <a:moveTo>
                    <a:pt x="653" y="0"/>
                  </a:moveTo>
                  <a:cubicBezTo>
                    <a:pt x="496" y="27"/>
                    <a:pt x="372" y="114"/>
                    <a:pt x="269" y="187"/>
                  </a:cubicBezTo>
                  <a:cubicBezTo>
                    <a:pt x="178" y="251"/>
                    <a:pt x="99" y="307"/>
                    <a:pt x="22" y="307"/>
                  </a:cubicBezTo>
                  <a:cubicBezTo>
                    <a:pt x="9" y="307"/>
                    <a:pt x="0" y="317"/>
                    <a:pt x="0" y="329"/>
                  </a:cubicBezTo>
                  <a:cubicBezTo>
                    <a:pt x="0" y="341"/>
                    <a:pt x="9" y="351"/>
                    <a:pt x="22" y="351"/>
                  </a:cubicBezTo>
                  <a:cubicBezTo>
                    <a:pt x="113" y="351"/>
                    <a:pt x="197" y="292"/>
                    <a:pt x="295" y="223"/>
                  </a:cubicBezTo>
                  <a:cubicBezTo>
                    <a:pt x="396" y="151"/>
                    <a:pt x="509" y="72"/>
                    <a:pt x="652" y="45"/>
                  </a:cubicBezTo>
                  <a:lnTo>
                    <a:pt x="65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110" name="Freeform 162"/>
            <p:cNvSpPr>
              <a:spLocks/>
            </p:cNvSpPr>
            <p:nvPr/>
          </p:nvSpPr>
          <p:spPr bwMode="auto">
            <a:xfrm>
              <a:off x="6167247" y="3826383"/>
              <a:ext cx="467487" cy="250698"/>
            </a:xfrm>
            <a:custGeom>
              <a:avLst/>
              <a:gdLst>
                <a:gd name="T0" fmla="*/ 633 w 655"/>
                <a:gd name="T1" fmla="*/ 307 h 351"/>
                <a:gd name="T2" fmla="*/ 386 w 655"/>
                <a:gd name="T3" fmla="*/ 187 h 351"/>
                <a:gd name="T4" fmla="*/ 0 w 655"/>
                <a:gd name="T5" fmla="*/ 0 h 351"/>
                <a:gd name="T6" fmla="*/ 2 w 655"/>
                <a:gd name="T7" fmla="*/ 44 h 351"/>
                <a:gd name="T8" fmla="*/ 360 w 655"/>
                <a:gd name="T9" fmla="*/ 223 h 351"/>
                <a:gd name="T10" fmla="*/ 633 w 655"/>
                <a:gd name="T11" fmla="*/ 351 h 351"/>
                <a:gd name="T12" fmla="*/ 655 w 655"/>
                <a:gd name="T13" fmla="*/ 329 h 351"/>
                <a:gd name="T14" fmla="*/ 633 w 655"/>
                <a:gd name="T15" fmla="*/ 307 h 3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5" h="351">
                  <a:moveTo>
                    <a:pt x="633" y="307"/>
                  </a:moveTo>
                  <a:cubicBezTo>
                    <a:pt x="556" y="307"/>
                    <a:pt x="477" y="251"/>
                    <a:pt x="386" y="187"/>
                  </a:cubicBezTo>
                  <a:cubicBezTo>
                    <a:pt x="283" y="114"/>
                    <a:pt x="159" y="27"/>
                    <a:pt x="0" y="0"/>
                  </a:cubicBezTo>
                  <a:cubicBezTo>
                    <a:pt x="2" y="44"/>
                    <a:pt x="2" y="44"/>
                    <a:pt x="2" y="44"/>
                  </a:cubicBezTo>
                  <a:cubicBezTo>
                    <a:pt x="145" y="71"/>
                    <a:pt x="258" y="151"/>
                    <a:pt x="360" y="223"/>
                  </a:cubicBezTo>
                  <a:cubicBezTo>
                    <a:pt x="458" y="292"/>
                    <a:pt x="542" y="351"/>
                    <a:pt x="633" y="351"/>
                  </a:cubicBezTo>
                  <a:cubicBezTo>
                    <a:pt x="646" y="351"/>
                    <a:pt x="655" y="341"/>
                    <a:pt x="655" y="329"/>
                  </a:cubicBezTo>
                  <a:cubicBezTo>
                    <a:pt x="655" y="317"/>
                    <a:pt x="646" y="307"/>
                    <a:pt x="633" y="30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graphicFrame>
        <p:nvGraphicFramePr>
          <p:cNvPr id="113" name="Object 112" hidden="1"/>
          <p:cNvGraphicFramePr>
            <a:graphicFrameLocks noChangeAspect="1"/>
          </p:cNvGraphicFramePr>
          <p:nvPr>
            <p:custDataLst>
              <p:tags r:id="rId1"/>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113" name="Object 11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88" y="1588"/>
                        <a:ext cx="1587" cy="15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60" name="ee4pContent3">
            <a:extLst>
              <a:ext uri="{FF2B5EF4-FFF2-40B4-BE49-F238E27FC236}">
                <a16:creationId xmlns:a16="http://schemas.microsoft.com/office/drawing/2014/main" id="{B5F6FF66-45A8-92F6-13DB-885FDBAD29BE}"/>
              </a:ext>
            </a:extLst>
          </p:cNvPr>
          <p:cNvSpPr txBox="1"/>
          <p:nvPr/>
        </p:nvSpPr>
        <p:spPr>
          <a:xfrm>
            <a:off x="8571651" y="2506380"/>
            <a:ext cx="3239350" cy="3877985"/>
          </a:xfrm>
          <a:prstGeom prst="rect">
            <a:avLst/>
          </a:prstGeom>
        </p:spPr>
        <p:txBody>
          <a:bodyPr vert="horz" wrap="square" lIns="0" tIns="0" rIns="0" bIns="0" rtlCol="0">
            <a:spAutoFit/>
          </a:bodyPr>
          <a:lstStyle>
            <a:lvl1pPr lvl="0" indent="0">
              <a:lnSpc>
                <a:spcPct val="110000"/>
              </a:lnSpc>
              <a:spcBef>
                <a:spcPts val="600"/>
              </a:spcBef>
              <a:spcAft>
                <a:spcPts val="300"/>
              </a:spcAft>
              <a:buFont typeface="Arial" panose="020B0604020202020204" pitchFamily="34" charset="0"/>
              <a:buChar char="​"/>
              <a:defRPr lang="en-US" sz="1200">
                <a:latin typeface="Trebuchet MS" panose="020B0603020202020204" pitchFamily="34" charset="0"/>
                <a:sym typeface="Trebuchet MS" panose="020B0603020202020204" pitchFamily="34" charset="0"/>
              </a:defRPr>
            </a:lvl1pPr>
            <a:lvl2pPr marL="284400" lvl="1" indent="-172800">
              <a:lnSpc>
                <a:spcPct val="90000"/>
              </a:lnSpc>
              <a:spcBef>
                <a:spcPts val="0"/>
              </a:spcBef>
              <a:spcAft>
                <a:spcPts val="300"/>
              </a:spcAft>
              <a:buClr>
                <a:schemeClr val="tx2"/>
              </a:buClr>
              <a:buFont typeface="Arial" panose="020B0604020202020204" pitchFamily="34" charset="0"/>
              <a:buChar char="•"/>
              <a:defRPr lang="en-US" sz="1200">
                <a:latin typeface="Trebuchet MS" panose="020B0603020202020204" pitchFamily="34" charset="0"/>
                <a:sym typeface="Trebuchet MS" panose="020B0603020202020204" pitchFamily="34" charset="0"/>
              </a:defRPr>
            </a:lvl2pPr>
            <a:lvl3pPr marL="511200" lvl="2" indent="-165600">
              <a:lnSpc>
                <a:spcPct val="90000"/>
              </a:lnSpc>
              <a:spcBef>
                <a:spcPts val="0"/>
              </a:spcBef>
              <a:spcAft>
                <a:spcPts val="300"/>
              </a:spcAft>
              <a:buClr>
                <a:schemeClr val="tx2"/>
              </a:buClr>
              <a:buFont typeface="Trebuchet MS" panose="020B0603020202020204" pitchFamily="34" charset="0"/>
              <a:buChar char="–"/>
              <a:defRPr lang="en-US" sz="1200">
                <a:latin typeface="Trebuchet MS" panose="020B0603020202020204" pitchFamily="34" charset="0"/>
                <a:sym typeface="Trebuchet MS" panose="020B0603020202020204" pitchFamily="34" charset="0"/>
              </a:defRPr>
            </a:lvl3pPr>
            <a:lvl4pPr marL="0" lvl="3" indent="0">
              <a:lnSpc>
                <a:spcPct val="110000"/>
              </a:lnSpc>
              <a:spcBef>
                <a:spcPts val="300"/>
              </a:spcBef>
              <a:spcAft>
                <a:spcPts val="300"/>
              </a:spcAft>
              <a:buClr>
                <a:schemeClr val="tx2"/>
              </a:buClr>
              <a:buFont typeface="Arial" panose="020B0604020202020204" pitchFamily="34" charset="0"/>
              <a:buChar char="​"/>
              <a:defRPr lang="en-US" sz="1600">
                <a:solidFill>
                  <a:schemeClr val="tx2"/>
                </a:solidFill>
                <a:latin typeface="Trebuchet MS" panose="020B0603020202020204" pitchFamily="34" charset="0"/>
                <a:sym typeface="Trebuchet MS" panose="020B0603020202020204" pitchFamily="34" charset="0"/>
              </a:defRPr>
            </a:lvl4pPr>
            <a:lvl5pPr marL="0" lvl="4" indent="0">
              <a:lnSpc>
                <a:spcPct val="100000"/>
              </a:lnSpc>
              <a:spcBef>
                <a:spcPts val="0"/>
              </a:spcBef>
              <a:spcAft>
                <a:spcPts val="300"/>
              </a:spcAft>
              <a:buClrTx/>
              <a:buFont typeface="Arial" panose="020B0604020202020204" pitchFamily="34" charset="0"/>
              <a:buChar char="​"/>
              <a:defRPr lang="en-US" sz="1600" b="1" smtClean="0">
                <a:latin typeface="Trebuchet MS" panose="020B0603020202020204" pitchFamily="34" charset="0"/>
                <a:sym typeface="Trebuchet MS" panose="020B0603020202020204" pitchFamily="34" charset="0"/>
              </a:defRPr>
            </a:lvl5pPr>
            <a:lvl6pPr marL="269875" lvl="5" indent="-152400">
              <a:lnSpc>
                <a:spcPct val="90000"/>
              </a:lnSpc>
              <a:spcBef>
                <a:spcPts val="0"/>
              </a:spcBef>
              <a:spcAft>
                <a:spcPts val="600"/>
              </a:spcAft>
              <a:buClr>
                <a:schemeClr val="tx2"/>
              </a:buClr>
              <a:buFont typeface="Arial" panose="020B0604020202020204" pitchFamily="34" charset="0"/>
              <a:buChar char="•"/>
              <a:defRPr lang="en-US" sz="1600" smtClean="0">
                <a:latin typeface="Trebuchet MS" panose="020B0603020202020204" pitchFamily="34" charset="0"/>
                <a:sym typeface="Trebuchet MS" panose="020B0603020202020204" pitchFamily="34" charset="0"/>
              </a:defRPr>
            </a:lvl6pPr>
            <a:lvl7pPr marL="0" lvl="6" indent="0">
              <a:lnSpc>
                <a:spcPct val="90000"/>
              </a:lnSpc>
              <a:spcBef>
                <a:spcPts val="900"/>
              </a:spcBef>
              <a:spcAft>
                <a:spcPts val="900"/>
              </a:spcAft>
              <a:buFont typeface="Arial" panose="020B0604020202020204" pitchFamily="34" charset="0"/>
              <a:buChar char="​"/>
              <a:defRPr lang="en-US" sz="4400" baseline="0" smtClean="0">
                <a:latin typeface="Trebuchet MS" panose="020B0603020202020204" pitchFamily="34" charset="0"/>
                <a:sym typeface="Trebuchet MS" panose="020B0603020202020204" pitchFamily="34" charset="0"/>
              </a:defRPr>
            </a:lvl7pPr>
            <a:lvl8pPr marL="0" lvl="7" indent="0">
              <a:lnSpc>
                <a:spcPct val="90000"/>
              </a:lnSpc>
              <a:spcBef>
                <a:spcPts val="900"/>
              </a:spcBef>
              <a:spcAft>
                <a:spcPts val="0"/>
              </a:spcAft>
              <a:buFont typeface="Arial" panose="020B0604020202020204" pitchFamily="34" charset="0"/>
              <a:buChar char="​"/>
              <a:defRPr lang="en-US" sz="5400" baseline="0" smtClean="0">
                <a:solidFill>
                  <a:schemeClr val="tx2"/>
                </a:solidFill>
                <a:latin typeface="Trebuchet MS" panose="020B0603020202020204" pitchFamily="34" charset="0"/>
                <a:sym typeface="Trebuchet MS" panose="020B0603020202020204" pitchFamily="34" charset="0"/>
              </a:defRPr>
            </a:lvl8pPr>
            <a:lvl9pPr marL="0" lvl="8" indent="0">
              <a:lnSpc>
                <a:spcPct val="100000"/>
              </a:lnSpc>
              <a:spcBef>
                <a:spcPts val="0"/>
              </a:spcBef>
              <a:spcAft>
                <a:spcPts val="900"/>
              </a:spcAft>
              <a:buFont typeface="Arial" panose="020B0604020202020204" pitchFamily="34" charset="0"/>
              <a:buChar char="​"/>
              <a:defRPr lang="en-US" sz="2400" baseline="0" dirty="0">
                <a:solidFill>
                  <a:schemeClr val="tx2"/>
                </a:solidFill>
                <a:latin typeface="Trebuchet MS" panose="020B0603020202020204" pitchFamily="34" charset="0"/>
                <a:sym typeface="Trebuchet MS" panose="020B0603020202020204" pitchFamily="34" charset="0"/>
              </a:defRPr>
            </a:lvl9pPr>
          </a:lstStyle>
          <a:p>
            <a:pPr marL="108000" marR="0" lvl="1" indent="0" algn="l" defTabSz="914400" rtl="0" eaLnBrk="1" fontAlgn="auto" latinLnBrk="0" hangingPunct="1">
              <a:lnSpc>
                <a:spcPct val="100000"/>
              </a:lnSpc>
              <a:spcBef>
                <a:spcPts val="0"/>
              </a:spcBef>
              <a:spcAft>
                <a:spcPts val="0"/>
              </a:spcAft>
              <a:buClr>
                <a:prstClr val="white"/>
              </a:buClr>
              <a:buSzPct val="100000"/>
              <a:buFont typeface="Arial" panose="020B0604020202020204" pitchFamily="34" charset="0"/>
              <a:buNone/>
              <a:tabLst/>
              <a:defRPr/>
            </a:pPr>
            <a:endParaRPr kumimoji="0" lang="en-US" sz="1400" b="1" i="0" u="none" strike="noStrike" kern="1200" cap="none" spc="0" normalizeH="0" baseline="0" noProof="0">
              <a:ln>
                <a:noFill/>
              </a:ln>
              <a:solidFill>
                <a:srgbClr val="D4DF33"/>
              </a:solidFill>
              <a:effectLst/>
              <a:uLnTx/>
              <a:uFillTx/>
              <a:latin typeface="Trebuchet MS" panose="020B0603020202020204" pitchFamily="34" charset="0"/>
              <a:ea typeface="+mn-ea"/>
              <a:cs typeface="+mn-cs"/>
              <a:sym typeface="Trebuchet MS" panose="020B0603020202020204" pitchFamily="34" charset="0"/>
            </a:endParaRPr>
          </a:p>
          <a:p>
            <a:pPr marL="279450" marR="0" lvl="1" indent="-171450" algn="l" defTabSz="914400" rtl="0" eaLnBrk="1" fontAlgn="auto" latinLnBrk="0" hangingPunct="1">
              <a:lnSpc>
                <a:spcPct val="100000"/>
              </a:lnSpc>
              <a:spcBef>
                <a:spcPts val="0"/>
              </a:spcBef>
              <a:spcAft>
                <a:spcPts val="0"/>
              </a:spcAft>
              <a:buClr>
                <a:prstClr val="white"/>
              </a:buClr>
              <a:buSzPct val="100000"/>
              <a:buFont typeface="Arial" panose="020B0604020202020204" pitchFamily="34" charset="0"/>
              <a:buChar char="•"/>
              <a:tabLst/>
              <a:defRPr/>
            </a:pPr>
            <a:r>
              <a:rPr kumimoji="0" lang="en-US" sz="1400" b="1" i="0" u="none" strike="noStrike" kern="1200" cap="none" spc="0" normalizeH="0" baseline="0" noProof="0">
                <a:ln>
                  <a:noFill/>
                </a:ln>
                <a:solidFill>
                  <a:srgbClr val="D4DF33"/>
                </a:solidFill>
                <a:effectLst/>
                <a:uLnTx/>
                <a:uFillTx/>
                <a:latin typeface="Trebuchet MS" panose="020B0603020202020204" pitchFamily="34" charset="0"/>
                <a:ea typeface="+mn-ea"/>
                <a:cs typeface="+mn-cs"/>
                <a:sym typeface="Trebuchet MS" panose="020B0603020202020204" pitchFamily="34" charset="0"/>
              </a:rPr>
              <a:t>Identified top-down 90M EUR p.a. value impact from hyper-personalization by 2025 </a:t>
            </a:r>
            <a:r>
              <a:rPr kumimoji="0" lang="en-US" sz="1400" b="0" i="0" u="none" strike="noStrike" kern="1200" cap="none" spc="0" normalizeH="0" baseline="0" noProof="0">
                <a:ln>
                  <a:noFill/>
                </a:ln>
                <a:solidFill>
                  <a:prstClr val="white"/>
                </a:solidFill>
                <a:effectLst/>
                <a:uLnTx/>
                <a:uFillTx/>
                <a:latin typeface="Trebuchet MS" panose="020B0603020202020204" pitchFamily="34" charset="0"/>
                <a:ea typeface="+mn-ea"/>
                <a:cs typeface="+mn-cs"/>
                <a:sym typeface="Trebuchet MS" panose="020B0603020202020204" pitchFamily="34" charset="0"/>
              </a:rPr>
              <a:t>when working at scale</a:t>
            </a:r>
          </a:p>
          <a:p>
            <a:pPr marL="108000" marR="0" lvl="1" indent="0" algn="l" defTabSz="914400" rtl="0" eaLnBrk="1" fontAlgn="auto" latinLnBrk="0" hangingPunct="1">
              <a:lnSpc>
                <a:spcPct val="100000"/>
              </a:lnSpc>
              <a:spcBef>
                <a:spcPts val="0"/>
              </a:spcBef>
              <a:spcAft>
                <a:spcPts val="0"/>
              </a:spcAft>
              <a:buClr>
                <a:prstClr val="white"/>
              </a:buClr>
              <a:buSzPct val="100000"/>
              <a:buFont typeface="Arial" panose="020B0604020202020204" pitchFamily="34" charset="0"/>
              <a:buNone/>
              <a:tabLst/>
              <a:defRPr/>
            </a:pPr>
            <a:endParaRPr kumimoji="0" lang="en-US" sz="1400" b="0" i="0" u="none" strike="noStrike" kern="1200" cap="none" spc="0" normalizeH="0" baseline="0" noProof="0">
              <a:ln>
                <a:noFill/>
              </a:ln>
              <a:solidFill>
                <a:prstClr val="white"/>
              </a:solidFill>
              <a:effectLst/>
              <a:uLnTx/>
              <a:uFillTx/>
              <a:latin typeface="Trebuchet MS" panose="020B0603020202020204" pitchFamily="34" charset="0"/>
              <a:ea typeface="+mn-ea"/>
              <a:cs typeface="+mn-cs"/>
              <a:sym typeface="Trebuchet MS" panose="020B0603020202020204" pitchFamily="34" charset="0"/>
            </a:endParaRPr>
          </a:p>
          <a:p>
            <a:pPr marL="279450" marR="0" lvl="1" indent="-171450" algn="l" defTabSz="914400" rtl="0" eaLnBrk="1" fontAlgn="auto" latinLnBrk="0" hangingPunct="1">
              <a:lnSpc>
                <a:spcPct val="100000"/>
              </a:lnSpc>
              <a:spcBef>
                <a:spcPts val="0"/>
              </a:spcBef>
              <a:spcAft>
                <a:spcPts val="0"/>
              </a:spcAft>
              <a:buClr>
                <a:prstClr val="white"/>
              </a:buClr>
              <a:buSzPct val="100000"/>
              <a:buFont typeface="Arial" panose="020B0604020202020204" pitchFamily="34" charset="0"/>
              <a:buChar char="•"/>
              <a:tabLst/>
              <a:defRPr/>
            </a:pPr>
            <a:r>
              <a:rPr kumimoji="0" lang="en-US" sz="1400" b="1" i="0" u="none" strike="noStrike" kern="1200" cap="none" spc="0" normalizeH="0" baseline="0" noProof="0">
                <a:ln>
                  <a:noFill/>
                </a:ln>
                <a:solidFill>
                  <a:srgbClr val="D4DF33"/>
                </a:solidFill>
                <a:effectLst/>
                <a:uLnTx/>
                <a:uFillTx/>
                <a:latin typeface="Trebuchet MS" panose="020B0603020202020204" pitchFamily="34" charset="0"/>
                <a:ea typeface="+mn-ea"/>
                <a:cs typeface="+mn-cs"/>
                <a:sym typeface="Trebuchet MS" panose="020B0603020202020204" pitchFamily="34" charset="0"/>
              </a:rPr>
              <a:t>Realized +80% higher conversions in pilot </a:t>
            </a:r>
            <a:r>
              <a:rPr kumimoji="0" lang="en-US" sz="1400" b="0" i="0" u="none" strike="noStrike" kern="1200" cap="none" spc="0" normalizeH="0" baseline="0" noProof="0">
                <a:ln>
                  <a:noFill/>
                </a:ln>
                <a:solidFill>
                  <a:prstClr val="white"/>
                </a:solidFill>
                <a:effectLst/>
                <a:uLnTx/>
                <a:uFillTx/>
                <a:latin typeface="Trebuchet MS" panose="020B0603020202020204" pitchFamily="34" charset="0"/>
                <a:ea typeface="+mn-ea"/>
                <a:cs typeface="+mn-cs"/>
                <a:sym typeface="Trebuchet MS" panose="020B0603020202020204" pitchFamily="34" charset="0"/>
              </a:rPr>
              <a:t>in assisted channels, resulting from higher quality of leads and simplified tools</a:t>
            </a:r>
          </a:p>
          <a:p>
            <a:pPr marL="279450" marR="0" lvl="1" indent="-171450" algn="l" defTabSz="914400" rtl="0" eaLnBrk="1" fontAlgn="auto" latinLnBrk="0" hangingPunct="1">
              <a:lnSpc>
                <a:spcPct val="100000"/>
              </a:lnSpc>
              <a:spcBef>
                <a:spcPts val="0"/>
              </a:spcBef>
              <a:spcAft>
                <a:spcPts val="0"/>
              </a:spcAft>
              <a:buClr>
                <a:prstClr val="white"/>
              </a:buClr>
              <a:buSzPct val="100000"/>
              <a:buFont typeface="Arial" panose="020B0604020202020204" pitchFamily="34" charset="0"/>
              <a:buChar char="•"/>
              <a:tabLst/>
              <a:defRPr/>
            </a:pPr>
            <a:endParaRPr kumimoji="0" lang="en-US" sz="1400" b="0" i="0" u="none" strike="noStrike" kern="1200" cap="none" spc="0" normalizeH="0" baseline="0" noProof="0">
              <a:ln>
                <a:noFill/>
              </a:ln>
              <a:solidFill>
                <a:prstClr val="white"/>
              </a:solidFill>
              <a:effectLst/>
              <a:uLnTx/>
              <a:uFillTx/>
              <a:latin typeface="Trebuchet MS" panose="020B0603020202020204" pitchFamily="34" charset="0"/>
              <a:ea typeface="+mn-ea"/>
              <a:cs typeface="+mn-cs"/>
              <a:sym typeface="Trebuchet MS" panose="020B0603020202020204" pitchFamily="34" charset="0"/>
            </a:endParaRPr>
          </a:p>
          <a:p>
            <a:pPr marL="279450" marR="0" lvl="1" indent="-171450" algn="l" defTabSz="914400" rtl="0" eaLnBrk="1" fontAlgn="auto" latinLnBrk="0" hangingPunct="1">
              <a:lnSpc>
                <a:spcPct val="100000"/>
              </a:lnSpc>
              <a:spcBef>
                <a:spcPts val="0"/>
              </a:spcBef>
              <a:spcAft>
                <a:spcPts val="0"/>
              </a:spcAft>
              <a:buClr>
                <a:prstClr val="white"/>
              </a:buClr>
              <a:buSzPct val="100000"/>
              <a:buFont typeface="Arial" panose="020B0604020202020204" pitchFamily="34" charset="0"/>
              <a:buChar char="•"/>
              <a:tabLst/>
              <a:defRPr/>
            </a:pPr>
            <a:r>
              <a:rPr kumimoji="0" lang="en-US" sz="1400" b="1" i="0" u="none" strike="noStrike" kern="1200" cap="none" spc="0" normalizeH="0" baseline="0" noProof="0">
                <a:ln>
                  <a:noFill/>
                </a:ln>
                <a:solidFill>
                  <a:srgbClr val="D4DF33"/>
                </a:solidFill>
                <a:effectLst/>
                <a:uLnTx/>
                <a:uFillTx/>
                <a:latin typeface="Trebuchet MS" panose="020B0603020202020204" pitchFamily="34" charset="0"/>
                <a:ea typeface="+mn-ea"/>
                <a:cs typeface="+mn-cs"/>
                <a:sym typeface="Trebuchet MS" panose="020B0603020202020204" pitchFamily="34" charset="0"/>
              </a:rPr>
              <a:t>Identified quick wins for 3</a:t>
            </a:r>
            <a:r>
              <a:rPr kumimoji="0" lang="en-US" sz="1400" b="1" i="0" u="none" strike="noStrike" kern="1200" cap="none" spc="0" normalizeH="0" baseline="30000" noProof="0">
                <a:ln>
                  <a:noFill/>
                </a:ln>
                <a:solidFill>
                  <a:srgbClr val="D4DF33"/>
                </a:solidFill>
                <a:effectLst/>
                <a:uLnTx/>
                <a:uFillTx/>
                <a:latin typeface="Trebuchet MS" panose="020B0603020202020204" pitchFamily="34" charset="0"/>
                <a:ea typeface="+mn-ea"/>
                <a:cs typeface="+mn-cs"/>
                <a:sym typeface="Trebuchet MS" panose="020B0603020202020204" pitchFamily="34" charset="0"/>
              </a:rPr>
              <a:t>rd</a:t>
            </a:r>
            <a:r>
              <a:rPr kumimoji="0" lang="en-US" sz="1400" b="1" i="0" u="none" strike="noStrike" kern="1200" cap="none" spc="0" normalizeH="0" baseline="0" noProof="0">
                <a:ln>
                  <a:noFill/>
                </a:ln>
                <a:solidFill>
                  <a:srgbClr val="D4DF33"/>
                </a:solidFill>
                <a:effectLst/>
                <a:uLnTx/>
                <a:uFillTx/>
                <a:latin typeface="Trebuchet MS" panose="020B0603020202020204" pitchFamily="34" charset="0"/>
                <a:ea typeface="+mn-ea"/>
                <a:cs typeface="+mn-cs"/>
                <a:sym typeface="Trebuchet MS" panose="020B0603020202020204" pitchFamily="34" charset="0"/>
              </a:rPr>
              <a:t> party channels: </a:t>
            </a:r>
            <a:r>
              <a:rPr kumimoji="0" lang="en-US" sz="1400" b="0" i="0" u="none" strike="noStrike" kern="1200" cap="none" spc="0" normalizeH="0" baseline="0" noProof="0">
                <a:ln>
                  <a:noFill/>
                </a:ln>
                <a:solidFill>
                  <a:prstClr val="white"/>
                </a:solidFill>
                <a:effectLst/>
                <a:uLnTx/>
                <a:uFillTx/>
                <a:latin typeface="Trebuchet MS" panose="020B0603020202020204" pitchFamily="34" charset="0"/>
                <a:ea typeface="+mn-ea"/>
                <a:cs typeface="+mn-cs"/>
                <a:sym typeface="Trebuchet MS" panose="020B0603020202020204" pitchFamily="34" charset="0"/>
              </a:rPr>
              <a:t>Initial focus on 5 quick wins to seize a substantial part of the &gt;30M Euro impact for 3</a:t>
            </a:r>
            <a:r>
              <a:rPr kumimoji="0" lang="en-US" sz="1400" b="0" i="0" u="none" strike="noStrike" kern="1200" cap="none" spc="0" normalizeH="0" baseline="30000" noProof="0">
                <a:ln>
                  <a:noFill/>
                </a:ln>
                <a:solidFill>
                  <a:prstClr val="white"/>
                </a:solidFill>
                <a:effectLst/>
                <a:uLnTx/>
                <a:uFillTx/>
                <a:latin typeface="Trebuchet MS" panose="020B0603020202020204" pitchFamily="34" charset="0"/>
                <a:ea typeface="+mn-ea"/>
                <a:cs typeface="+mn-cs"/>
                <a:sym typeface="Trebuchet MS" panose="020B0603020202020204" pitchFamily="34" charset="0"/>
              </a:rPr>
              <a:t>rd</a:t>
            </a:r>
            <a:r>
              <a:rPr kumimoji="0" lang="en-US" sz="1400" b="0" i="0" u="none" strike="noStrike" kern="1200" cap="none" spc="0" normalizeH="0" baseline="0" noProof="0">
                <a:ln>
                  <a:noFill/>
                </a:ln>
                <a:solidFill>
                  <a:prstClr val="white"/>
                </a:solidFill>
                <a:effectLst/>
                <a:uLnTx/>
                <a:uFillTx/>
                <a:latin typeface="Trebuchet MS" panose="020B0603020202020204" pitchFamily="34" charset="0"/>
                <a:ea typeface="+mn-ea"/>
                <a:cs typeface="+mn-cs"/>
                <a:sym typeface="Trebuchet MS" panose="020B0603020202020204" pitchFamily="34" charset="0"/>
              </a:rPr>
              <a:t> party channel improvements </a:t>
            </a:r>
          </a:p>
          <a:p>
            <a:pPr marL="108000" marR="0" lvl="1" indent="0" algn="l" defTabSz="914400" rtl="0" eaLnBrk="1" fontAlgn="auto" latinLnBrk="0" hangingPunct="1">
              <a:lnSpc>
                <a:spcPct val="100000"/>
              </a:lnSpc>
              <a:spcBef>
                <a:spcPts val="0"/>
              </a:spcBef>
              <a:spcAft>
                <a:spcPts val="0"/>
              </a:spcAft>
              <a:buClr>
                <a:prstClr val="white"/>
              </a:buClr>
              <a:buSzPct val="100000"/>
              <a:buFont typeface="Arial" panose="020B0604020202020204" pitchFamily="34" charset="0"/>
              <a:buNone/>
              <a:tabLst/>
              <a:defRPr/>
            </a:pPr>
            <a:endParaRPr kumimoji="0" lang="en-US" sz="1400" b="0" i="0" u="none" strike="noStrike" kern="1200" cap="none" spc="0" normalizeH="0" baseline="0" noProof="0">
              <a:ln>
                <a:noFill/>
              </a:ln>
              <a:solidFill>
                <a:prstClr val="white"/>
              </a:solidFill>
              <a:effectLst/>
              <a:uLnTx/>
              <a:uFillTx/>
              <a:latin typeface="Trebuchet MS" panose="020B0603020202020204" pitchFamily="34" charset="0"/>
              <a:ea typeface="+mn-ea"/>
              <a:cs typeface="+mn-cs"/>
              <a:sym typeface="Trebuchet MS" panose="020B0603020202020204" pitchFamily="34" charset="0"/>
            </a:endParaRPr>
          </a:p>
          <a:p>
            <a:pPr marL="108000" marR="0" lvl="1" indent="0" algn="l" defTabSz="914400" rtl="0" eaLnBrk="1" fontAlgn="auto" latinLnBrk="0" hangingPunct="1">
              <a:lnSpc>
                <a:spcPct val="100000"/>
              </a:lnSpc>
              <a:spcBef>
                <a:spcPts val="0"/>
              </a:spcBef>
              <a:spcAft>
                <a:spcPts val="0"/>
              </a:spcAft>
              <a:buClr>
                <a:prstClr val="white"/>
              </a:buClr>
              <a:buSzPct val="100000"/>
              <a:buFont typeface="Arial" panose="020B0604020202020204" pitchFamily="34" charset="0"/>
              <a:buNone/>
              <a:tabLst/>
              <a:defRPr/>
            </a:pPr>
            <a:r>
              <a:rPr kumimoji="0" lang="en-US" sz="1400" b="0" i="0" u="none" strike="noStrike" kern="1200" cap="none" spc="0" normalizeH="0" baseline="0" noProof="0">
                <a:ln>
                  <a:noFill/>
                </a:ln>
                <a:solidFill>
                  <a:prstClr val="white"/>
                </a:solidFill>
                <a:effectLst/>
                <a:uLnTx/>
                <a:uFillTx/>
                <a:latin typeface="Trebuchet MS" panose="020B0603020202020204" pitchFamily="34" charset="0"/>
                <a:ea typeface="+mn-ea"/>
                <a:cs typeface="+mn-cs"/>
                <a:sym typeface="Trebuchet MS" panose="020B0603020202020204" pitchFamily="34" charset="0"/>
              </a:rPr>
              <a:t> </a:t>
            </a:r>
            <a:endParaRPr kumimoji="0" lang="de-DE" sz="1400" b="0" i="0" u="none" strike="noStrike" kern="1200" cap="none" spc="0" normalizeH="0" baseline="0" noProof="0">
              <a:ln>
                <a:noFill/>
              </a:ln>
              <a:solidFill>
                <a:prstClr val="white"/>
              </a:solidFill>
              <a:effectLst/>
              <a:uLnTx/>
              <a:uFillTx/>
              <a:latin typeface="Trebuchet MS" panose="020B0603020202020204" pitchFamily="34" charset="0"/>
              <a:ea typeface="+mn-ea"/>
              <a:cs typeface="+mn-cs"/>
              <a:sym typeface="Trebuchet MS" panose="020B0603020202020204" pitchFamily="34" charset="0"/>
            </a:endParaRPr>
          </a:p>
        </p:txBody>
      </p:sp>
      <p:sp>
        <p:nvSpPr>
          <p:cNvPr id="61" name="ee4pHeader3">
            <a:extLst>
              <a:ext uri="{FF2B5EF4-FFF2-40B4-BE49-F238E27FC236}">
                <a16:creationId xmlns:a16="http://schemas.microsoft.com/office/drawing/2014/main" id="{F7F24E68-180E-BCEF-DEB9-0C0503527D71}"/>
              </a:ext>
            </a:extLst>
          </p:cNvPr>
          <p:cNvSpPr txBox="1"/>
          <p:nvPr/>
        </p:nvSpPr>
        <p:spPr>
          <a:xfrm>
            <a:off x="8571650" y="1899426"/>
            <a:ext cx="3239349" cy="354430"/>
          </a:xfrm>
          <a:prstGeom prst="rect">
            <a:avLst/>
          </a:prstGeom>
          <a:noFill/>
        </p:spPr>
        <p:txBody>
          <a:bodyPr wrap="square" lIns="0" tIns="0" rIns="0" bIns="0" rtlCol="0" anchor="b"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2000" b="0" i="0" u="none" strike="noStrike" kern="1200" cap="none" spc="0" normalizeH="0" baseline="0" noProof="0">
                <a:ln>
                  <a:noFill/>
                </a:ln>
                <a:solidFill>
                  <a:srgbClr val="D4DF33"/>
                </a:solidFill>
                <a:effectLst/>
                <a:uLnTx/>
                <a:uFillTx/>
                <a:latin typeface="Trebuchet MS"/>
                <a:ea typeface="+mn-ea"/>
                <a:cs typeface="+mn-cs"/>
              </a:rPr>
              <a:t>Results after first 6-months</a:t>
            </a:r>
          </a:p>
        </p:txBody>
      </p:sp>
    </p:spTree>
    <p:extLst>
      <p:ext uri="{BB962C8B-B14F-4D97-AF65-F5344CB8AC3E}">
        <p14:creationId xmlns:p14="http://schemas.microsoft.com/office/powerpoint/2010/main" val="3322121215"/>
      </p:ext>
    </p:extLst>
  </p:cSld>
  <p:clrMapOvr>
    <a:masterClrMapping/>
  </p:clrMapOvr>
  <mc:AlternateContent xmlns:mc="http://schemas.openxmlformats.org/markup-compatibility/2006" xmlns:p14="http://schemas.microsoft.com/office/powerpoint/2010/main">
    <mc:Choice Requires="p14">
      <p:transition p14:dur="250"/>
    </mc:Choice>
    <mc:Fallback xmlns="">
      <p:transition/>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08B415D2-9156-4BC6-A9FB-DDEC435DDF10}"/>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606" imgH="608" progId="TCLayout.ActiveDocument.1">
                  <p:embed/>
                </p:oleObj>
              </mc:Choice>
              <mc:Fallback>
                <p:oleObj name="think-cell Slide" r:id="rId4" imgW="606" imgH="608" progId="TCLayout.ActiveDocument.1">
                  <p:embed/>
                  <p:pic>
                    <p:nvPicPr>
                      <p:cNvPr id="3" name="Object 2" hidden="1">
                        <a:extLst>
                          <a:ext uri="{FF2B5EF4-FFF2-40B4-BE49-F238E27FC236}">
                            <a16:creationId xmlns:a16="http://schemas.microsoft.com/office/drawing/2014/main" id="{08B415D2-9156-4BC6-A9FB-DDEC435DDF10}"/>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88B2CE7A-77F6-471E-A3FD-3E1EE4EF6BE3}"/>
              </a:ext>
            </a:extLst>
          </p:cNvPr>
          <p:cNvSpPr>
            <a:spLocks noGrp="1"/>
          </p:cNvSpPr>
          <p:nvPr>
            <p:ph type="title"/>
          </p:nvPr>
        </p:nvSpPr>
        <p:spPr>
          <a:xfrm>
            <a:off x="629999" y="622800"/>
            <a:ext cx="11061991" cy="470898"/>
          </a:xfrm>
        </p:spPr>
        <p:txBody>
          <a:bodyPr vert="horz"/>
          <a:lstStyle/>
          <a:p>
            <a:r>
              <a:rPr lang="en-US"/>
              <a:t>A step-by-step sophistication of customer segmentation</a:t>
            </a:r>
          </a:p>
        </p:txBody>
      </p:sp>
      <p:sp>
        <p:nvSpPr>
          <p:cNvPr id="34" name="TextBox 33">
            <a:extLst>
              <a:ext uri="{FF2B5EF4-FFF2-40B4-BE49-F238E27FC236}">
                <a16:creationId xmlns:a16="http://schemas.microsoft.com/office/drawing/2014/main" id="{F73A7691-7322-4E2B-A503-9EB2C279D2F4}"/>
              </a:ext>
            </a:extLst>
          </p:cNvPr>
          <p:cNvSpPr txBox="1"/>
          <p:nvPr/>
        </p:nvSpPr>
        <p:spPr>
          <a:xfrm>
            <a:off x="3260927" y="3445171"/>
            <a:ext cx="2666546" cy="809620"/>
          </a:xfrm>
          <a:prstGeom prst="rect">
            <a:avLst/>
          </a:prstGeom>
          <a:noFill/>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txBody>
          <a:bodyPr wrap="square" lIns="93761" tIns="92285" rIns="93761" bIns="92285" rtlCol="0" anchor="t">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fi-FI" sz="2025" b="0" i="0" u="none" strike="noStrike" kern="1200" cap="none" spc="0" normalizeH="0" baseline="0" noProof="0">
                <a:ln>
                  <a:noFill/>
                </a:ln>
                <a:solidFill>
                  <a:srgbClr val="29BA74"/>
                </a:solidFill>
                <a:effectLst/>
                <a:uLnTx/>
                <a:uFillTx/>
                <a:latin typeface="OP Chevin Pro Light"/>
                <a:ea typeface="+mn-ea"/>
                <a:cs typeface="+mn-cs"/>
              </a:rPr>
              <a:t>Leveraging data-driven customer pathways</a:t>
            </a:r>
            <a:endParaRPr kumimoji="0" lang="fi-FI" sz="2025" b="0" i="1" u="none" strike="noStrike" kern="1200" cap="none" spc="0" normalizeH="0" baseline="0" noProof="0">
              <a:ln>
                <a:noFill/>
              </a:ln>
              <a:solidFill>
                <a:srgbClr val="29BA74"/>
              </a:solidFill>
              <a:effectLst/>
              <a:uLnTx/>
              <a:uFillTx/>
              <a:latin typeface="OP Chevin Pro Light"/>
              <a:ea typeface="+mn-ea"/>
              <a:cs typeface="+mn-cs"/>
            </a:endParaRPr>
          </a:p>
        </p:txBody>
      </p:sp>
      <p:sp>
        <p:nvSpPr>
          <p:cNvPr id="35" name="TextBox 34">
            <a:extLst>
              <a:ext uri="{FF2B5EF4-FFF2-40B4-BE49-F238E27FC236}">
                <a16:creationId xmlns:a16="http://schemas.microsoft.com/office/drawing/2014/main" id="{A9FBFDC6-A257-4FEC-8995-47B08DE25F75}"/>
              </a:ext>
            </a:extLst>
          </p:cNvPr>
          <p:cNvSpPr txBox="1"/>
          <p:nvPr/>
        </p:nvSpPr>
        <p:spPr>
          <a:xfrm>
            <a:off x="82193" y="3289359"/>
            <a:ext cx="2598187" cy="1432868"/>
          </a:xfrm>
          <a:prstGeom prst="rect">
            <a:avLst/>
          </a:prstGeom>
          <a:noFill/>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txBody>
          <a:bodyPr wrap="square" lIns="93761" tIns="92285" rIns="93761" bIns="92285" rtlCol="0" anchor="t">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fi-FI" sz="2025" b="0" i="0" u="none" strike="noStrike" kern="1200" cap="none" spc="0" normalizeH="0" baseline="0" noProof="0">
                <a:ln>
                  <a:noFill/>
                </a:ln>
                <a:solidFill>
                  <a:srgbClr val="29BA74"/>
                </a:solidFill>
                <a:effectLst/>
                <a:uLnTx/>
                <a:uFillTx/>
                <a:latin typeface="OP Chevin Pro Light"/>
                <a:ea typeface="+mn-ea"/>
                <a:cs typeface="+mn-cs"/>
              </a:rPr>
              <a:t>Starting point: current customer value  </a:t>
            </a:r>
          </a:p>
          <a:p>
            <a:pPr marL="0" marR="0" lvl="0" indent="0" algn="ctr" defTabSz="685800" rtl="0" eaLnBrk="1" fontAlgn="auto" latinLnBrk="0" hangingPunct="1">
              <a:lnSpc>
                <a:spcPct val="100000"/>
              </a:lnSpc>
              <a:spcBef>
                <a:spcPts val="0"/>
              </a:spcBef>
              <a:spcAft>
                <a:spcPts val="0"/>
              </a:spcAft>
              <a:buClrTx/>
              <a:buSzTx/>
              <a:buFontTx/>
              <a:buNone/>
              <a:tabLst/>
              <a:defRPr/>
            </a:pPr>
            <a:r>
              <a:rPr kumimoji="0" lang="fi-FI" sz="2025" b="0" i="0" u="none" strike="noStrike" kern="1200" cap="none" spc="0" normalizeH="0" baseline="0" noProof="0">
                <a:ln>
                  <a:noFill/>
                </a:ln>
                <a:solidFill>
                  <a:srgbClr val="29BA74"/>
                </a:solidFill>
                <a:effectLst/>
                <a:uLnTx/>
                <a:uFillTx/>
                <a:latin typeface="OP Chevin Pro Light"/>
                <a:ea typeface="+mn-ea"/>
                <a:cs typeface="+mn-cs"/>
              </a:rPr>
              <a:t>value-based </a:t>
            </a:r>
          </a:p>
          <a:p>
            <a:pPr marL="0" marR="0" lvl="0" indent="0" algn="ctr" defTabSz="685800" rtl="0" eaLnBrk="1" fontAlgn="auto" latinLnBrk="0" hangingPunct="1">
              <a:lnSpc>
                <a:spcPct val="100000"/>
              </a:lnSpc>
              <a:spcBef>
                <a:spcPts val="0"/>
              </a:spcBef>
              <a:spcAft>
                <a:spcPts val="0"/>
              </a:spcAft>
              <a:buClrTx/>
              <a:buSzTx/>
              <a:buFontTx/>
              <a:buNone/>
              <a:tabLst/>
              <a:defRPr/>
            </a:pPr>
            <a:r>
              <a:rPr kumimoji="0" lang="fi-FI" sz="2025" b="0" i="0" u="none" strike="noStrike" kern="1200" cap="none" spc="0" normalizeH="0" baseline="0" noProof="0">
                <a:ln>
                  <a:noFill/>
                </a:ln>
                <a:solidFill>
                  <a:srgbClr val="29BA74"/>
                </a:solidFill>
                <a:effectLst/>
                <a:uLnTx/>
                <a:uFillTx/>
                <a:latin typeface="OP Chevin Pro Light"/>
                <a:ea typeface="+mn-ea"/>
                <a:cs typeface="+mn-cs"/>
              </a:rPr>
              <a:t>segmentation</a:t>
            </a:r>
            <a:endParaRPr kumimoji="0" lang="fi-FI" sz="2025" b="0" i="1" u="none" strike="noStrike" kern="1200" cap="none" spc="0" normalizeH="0" baseline="0" noProof="0">
              <a:ln>
                <a:noFill/>
              </a:ln>
              <a:solidFill>
                <a:srgbClr val="29BA74"/>
              </a:solidFill>
              <a:effectLst/>
              <a:uLnTx/>
              <a:uFillTx/>
              <a:latin typeface="OP Chevin Pro Light"/>
              <a:ea typeface="+mn-ea"/>
              <a:cs typeface="+mn-cs"/>
            </a:endParaRPr>
          </a:p>
        </p:txBody>
      </p:sp>
      <p:sp>
        <p:nvSpPr>
          <p:cNvPr id="36" name="TextBox 35">
            <a:extLst>
              <a:ext uri="{FF2B5EF4-FFF2-40B4-BE49-F238E27FC236}">
                <a16:creationId xmlns:a16="http://schemas.microsoft.com/office/drawing/2014/main" id="{E044D79B-FE4A-48DE-97F4-BD9E1D2F71E8}"/>
              </a:ext>
            </a:extLst>
          </p:cNvPr>
          <p:cNvSpPr txBox="1"/>
          <p:nvPr/>
        </p:nvSpPr>
        <p:spPr>
          <a:xfrm>
            <a:off x="6056734" y="3445171"/>
            <a:ext cx="3293745" cy="809620"/>
          </a:xfrm>
          <a:prstGeom prst="rect">
            <a:avLst/>
          </a:prstGeom>
          <a:noFill/>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txBody>
          <a:bodyPr wrap="square" lIns="93761" tIns="92285" rIns="93761" bIns="92285" rtlCol="0" anchor="t">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fi-FI" sz="2025" b="0" i="0" u="none" strike="noStrike" kern="1200" cap="none" spc="0" normalizeH="0" baseline="0" noProof="0">
                <a:ln>
                  <a:noFill/>
                </a:ln>
                <a:solidFill>
                  <a:srgbClr val="29BA74"/>
                </a:solidFill>
                <a:effectLst/>
                <a:uLnTx/>
                <a:uFillTx/>
                <a:latin typeface="OP Chevin Pro Light"/>
                <a:ea typeface="+mn-ea"/>
                <a:cs typeface="+mn-cs"/>
              </a:rPr>
              <a:t>Employing a need-based segmentation approach</a:t>
            </a:r>
            <a:endParaRPr kumimoji="0" lang="fi-FI" sz="2025" b="0" i="1" u="none" strike="noStrike" kern="1200" cap="none" spc="0" normalizeH="0" baseline="0" noProof="0">
              <a:ln>
                <a:noFill/>
              </a:ln>
              <a:solidFill>
                <a:srgbClr val="29BA74"/>
              </a:solidFill>
              <a:effectLst/>
              <a:uLnTx/>
              <a:uFillTx/>
              <a:latin typeface="OP Chevin Pro Light"/>
              <a:ea typeface="+mn-ea"/>
              <a:cs typeface="+mn-cs"/>
            </a:endParaRPr>
          </a:p>
        </p:txBody>
      </p:sp>
      <p:sp>
        <p:nvSpPr>
          <p:cNvPr id="37" name="Trapezoid 36">
            <a:extLst>
              <a:ext uri="{FF2B5EF4-FFF2-40B4-BE49-F238E27FC236}">
                <a16:creationId xmlns:a16="http://schemas.microsoft.com/office/drawing/2014/main" id="{CF0210D2-ED94-4524-A9B1-AC5C99B3AF3F}"/>
              </a:ext>
            </a:extLst>
          </p:cNvPr>
          <p:cNvSpPr/>
          <p:nvPr/>
        </p:nvSpPr>
        <p:spPr>
          <a:xfrm rot="16200000">
            <a:off x="5628751" y="-1842402"/>
            <a:ext cx="1132719" cy="9002945"/>
          </a:xfrm>
          <a:prstGeom prst="trapezoid">
            <a:avLst>
              <a:gd name="adj" fmla="val 28784"/>
            </a:avLst>
          </a:prstGeom>
          <a:solidFill>
            <a:srgbClr val="C8C8C8"/>
          </a:solidFill>
          <a:ln>
            <a:noFill/>
          </a:ln>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lIns="93761" tIns="46880" rIns="93761" bIns="4688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799480" rtl="0" eaLnBrk="1" fontAlgn="auto" latinLnBrk="0" hangingPunct="1">
              <a:lnSpc>
                <a:spcPct val="100000"/>
              </a:lnSpc>
              <a:spcBef>
                <a:spcPts val="0"/>
              </a:spcBef>
              <a:spcAft>
                <a:spcPts val="0"/>
              </a:spcAft>
              <a:buClrTx/>
              <a:buSzTx/>
              <a:buFontTx/>
              <a:buNone/>
              <a:tabLst/>
              <a:defRPr/>
            </a:pPr>
            <a:endParaRPr kumimoji="0" lang="fi-FI" sz="1418" b="0" i="0" u="none" strike="noStrike" kern="1200" cap="none" spc="0" normalizeH="0" baseline="0" noProof="0">
              <a:ln>
                <a:noFill/>
              </a:ln>
              <a:solidFill>
                <a:prstClr val="white"/>
              </a:solidFill>
              <a:effectLst/>
              <a:uLnTx/>
              <a:uFillTx/>
              <a:latin typeface="OP Chevin Pro Light"/>
              <a:ea typeface="+mn-ea"/>
              <a:cs typeface="+mn-cs"/>
            </a:endParaRPr>
          </a:p>
        </p:txBody>
      </p:sp>
      <p:pic>
        <p:nvPicPr>
          <p:cNvPr id="38" name="Picture 2">
            <a:extLst>
              <a:ext uri="{FF2B5EF4-FFF2-40B4-BE49-F238E27FC236}">
                <a16:creationId xmlns:a16="http://schemas.microsoft.com/office/drawing/2014/main" id="{FE066325-CC5F-4E81-85F8-7CE5FBA7F5A3}"/>
              </a:ext>
            </a:extLst>
          </p:cNvPr>
          <p:cNvPicPr>
            <a:picLocks noChangeAspect="1" noChangeArrowheads="1"/>
          </p:cNvPicPr>
          <p:nvPr/>
        </p:nvPicPr>
        <p:blipFill rotWithShape="1">
          <a:blip r:embed="rId6" cstate="screen">
            <a:extLst>
              <a:ext uri="{28A0092B-C50C-407E-A947-70E740481C1C}">
                <a14:useLocalDpi xmlns:a14="http://schemas.microsoft.com/office/drawing/2010/main"/>
              </a:ext>
            </a:extLst>
          </a:blip>
          <a:srcRect/>
          <a:stretch/>
        </p:blipFill>
        <p:spPr bwMode="auto">
          <a:xfrm>
            <a:off x="10024725" y="2107797"/>
            <a:ext cx="1043842" cy="1094148"/>
          </a:xfrm>
          <a:prstGeom prst="ellipse">
            <a:avLst/>
          </a:prstGeom>
          <a:grpFill/>
          <a:ln w="28575">
            <a:solidFill>
              <a:schemeClr val="accent1"/>
            </a:solidFill>
          </a:ln>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pic>
      <p:sp>
        <p:nvSpPr>
          <p:cNvPr id="39" name="TextBox 38">
            <a:extLst>
              <a:ext uri="{FF2B5EF4-FFF2-40B4-BE49-F238E27FC236}">
                <a16:creationId xmlns:a16="http://schemas.microsoft.com/office/drawing/2014/main" id="{B07D8CF2-9244-4C30-9FF7-C658CECF2EC8}"/>
              </a:ext>
            </a:extLst>
          </p:cNvPr>
          <p:cNvSpPr txBox="1"/>
          <p:nvPr/>
        </p:nvSpPr>
        <p:spPr>
          <a:xfrm>
            <a:off x="9275252" y="3445171"/>
            <a:ext cx="2666546" cy="809620"/>
          </a:xfrm>
          <a:prstGeom prst="rect">
            <a:avLst/>
          </a:prstGeom>
          <a:noFill/>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txBody>
          <a:bodyPr wrap="square" lIns="93761" tIns="92285" rIns="93761" bIns="92285" rtlCol="0" anchor="t">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AU" sz="2025" b="0" i="0" u="none" strike="noStrike" kern="1200" cap="none" spc="0" normalizeH="0" baseline="0" noProof="0">
                <a:ln>
                  <a:noFill/>
                </a:ln>
                <a:solidFill>
                  <a:srgbClr val="29BA74"/>
                </a:solidFill>
                <a:effectLst/>
                <a:uLnTx/>
                <a:uFillTx/>
                <a:latin typeface="OP Chevin Pro Light"/>
                <a:ea typeface="+mn-ea"/>
                <a:cs typeface="+mn-cs"/>
              </a:rPr>
              <a:t>Towards hyper-personalization</a:t>
            </a:r>
          </a:p>
        </p:txBody>
      </p:sp>
      <p:pic>
        <p:nvPicPr>
          <p:cNvPr id="40" name="Picture 2">
            <a:extLst>
              <a:ext uri="{FF2B5EF4-FFF2-40B4-BE49-F238E27FC236}">
                <a16:creationId xmlns:a16="http://schemas.microsoft.com/office/drawing/2014/main" id="{18F4B72E-76B7-44BE-9CA3-E9E9B17A481B}"/>
              </a:ext>
            </a:extLst>
          </p:cNvPr>
          <p:cNvPicPr>
            <a:picLocks noChangeAspect="1" noChangeArrowheads="1"/>
          </p:cNvPicPr>
          <p:nvPr/>
        </p:nvPicPr>
        <p:blipFill rotWithShape="1">
          <a:blip r:embed="rId7" cstate="email">
            <a:extLst>
              <a:ext uri="{BEBA8EAE-BF5A-486C-A8C5-ECC9F3942E4B}">
                <a14:imgProps xmlns:a14="http://schemas.microsoft.com/office/drawing/2010/main">
                  <a14:imgLayer r:embed="rId8">
                    <a14:imgEffect>
                      <a14:artisticPaintBrush trans="40000" brushSize="7"/>
                    </a14:imgEffect>
                  </a14:imgLayer>
                </a14:imgProps>
              </a:ext>
              <a:ext uri="{28A0092B-C50C-407E-A947-70E740481C1C}">
                <a14:useLocalDpi xmlns:a14="http://schemas.microsoft.com/office/drawing/2010/main"/>
              </a:ext>
            </a:extLst>
          </a:blip>
          <a:srcRect l="13748" b="26586"/>
          <a:stretch/>
        </p:blipFill>
        <p:spPr bwMode="auto">
          <a:xfrm>
            <a:off x="7138496" y="2107797"/>
            <a:ext cx="1043842" cy="1094148"/>
          </a:xfrm>
          <a:prstGeom prst="ellipse">
            <a:avLst/>
          </a:prstGeom>
          <a:grpFill/>
          <a:ln w="28575">
            <a:solidFill>
              <a:schemeClr val="accent1"/>
            </a:solidFill>
          </a:ln>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pic>
      <p:pic>
        <p:nvPicPr>
          <p:cNvPr id="41" name="Picture 2">
            <a:extLst>
              <a:ext uri="{FF2B5EF4-FFF2-40B4-BE49-F238E27FC236}">
                <a16:creationId xmlns:a16="http://schemas.microsoft.com/office/drawing/2014/main" id="{BB855124-BB9C-45D2-B54B-7EE4E4015D91}"/>
              </a:ext>
            </a:extLst>
          </p:cNvPr>
          <p:cNvPicPr>
            <a:picLocks noChangeAspect="1" noChangeArrowheads="1"/>
          </p:cNvPicPr>
          <p:nvPr/>
        </p:nvPicPr>
        <p:blipFill rotWithShape="1">
          <a:blip r:embed="rId9" cstate="email">
            <a:extLst>
              <a:ext uri="{BEBA8EAE-BF5A-486C-A8C5-ECC9F3942E4B}">
                <a14:imgProps xmlns:a14="http://schemas.microsoft.com/office/drawing/2010/main">
                  <a14:imgLayer r:embed="rId8">
                    <a14:imgEffect>
                      <a14:artisticWatercolorSponge/>
                    </a14:imgEffect>
                  </a14:imgLayer>
                </a14:imgProps>
              </a:ext>
              <a:ext uri="{28A0092B-C50C-407E-A947-70E740481C1C}">
                <a14:useLocalDpi xmlns:a14="http://schemas.microsoft.com/office/drawing/2010/main"/>
              </a:ext>
            </a:extLst>
          </a:blip>
          <a:srcRect l="14634" b="23730"/>
          <a:stretch/>
        </p:blipFill>
        <p:spPr bwMode="auto">
          <a:xfrm>
            <a:off x="3880424" y="2107797"/>
            <a:ext cx="1043842" cy="1094148"/>
          </a:xfrm>
          <a:prstGeom prst="ellipse">
            <a:avLst/>
          </a:prstGeom>
          <a:grpFill/>
          <a:ln w="28575">
            <a:solidFill>
              <a:schemeClr val="accent1"/>
            </a:solidFill>
          </a:ln>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pic>
      <p:grpSp>
        <p:nvGrpSpPr>
          <p:cNvPr id="42" name="Group 41">
            <a:extLst>
              <a:ext uri="{FF2B5EF4-FFF2-40B4-BE49-F238E27FC236}">
                <a16:creationId xmlns:a16="http://schemas.microsoft.com/office/drawing/2014/main" id="{29B3FE02-2324-47F2-8AA1-E129D3D0E514}"/>
              </a:ext>
            </a:extLst>
          </p:cNvPr>
          <p:cNvGrpSpPr/>
          <p:nvPr/>
        </p:nvGrpSpPr>
        <p:grpSpPr>
          <a:xfrm>
            <a:off x="823484" y="2001829"/>
            <a:ext cx="1239152" cy="1323267"/>
            <a:chOff x="962708" y="889335"/>
            <a:chExt cx="1526710" cy="1548230"/>
          </a:xfrm>
        </p:grpSpPr>
        <p:grpSp>
          <p:nvGrpSpPr>
            <p:cNvPr id="43" name="Group 42">
              <a:extLst>
                <a:ext uri="{FF2B5EF4-FFF2-40B4-BE49-F238E27FC236}">
                  <a16:creationId xmlns:a16="http://schemas.microsoft.com/office/drawing/2014/main" id="{EEE4670B-904A-4C77-854D-C5BED73F2E4B}"/>
                </a:ext>
              </a:extLst>
            </p:cNvPr>
            <p:cNvGrpSpPr/>
            <p:nvPr/>
          </p:nvGrpSpPr>
          <p:grpSpPr>
            <a:xfrm>
              <a:off x="1087199" y="1014534"/>
              <a:ext cx="1280161" cy="1423031"/>
              <a:chOff x="641241" y="1333124"/>
              <a:chExt cx="1280161" cy="1423031"/>
            </a:xfrm>
          </p:grpSpPr>
          <p:sp>
            <p:nvSpPr>
              <p:cNvPr id="48" name="Oval 47">
                <a:extLst>
                  <a:ext uri="{FF2B5EF4-FFF2-40B4-BE49-F238E27FC236}">
                    <a16:creationId xmlns:a16="http://schemas.microsoft.com/office/drawing/2014/main" id="{42A98A9B-A849-4050-B2E8-645D65305B3F}"/>
                  </a:ext>
                </a:extLst>
              </p:cNvPr>
              <p:cNvSpPr>
                <a:spLocks noChangeAspect="1"/>
              </p:cNvSpPr>
              <p:nvPr/>
            </p:nvSpPr>
            <p:spPr>
              <a:xfrm>
                <a:off x="641241" y="1333124"/>
                <a:ext cx="1280160" cy="1280160"/>
              </a:xfrm>
              <a:prstGeom prst="ellipse">
                <a:avLst/>
              </a:prstGeom>
              <a:solidFill>
                <a:srgbClr val="F2F2F2"/>
              </a:solidFill>
              <a:ln w="52388" cap="rnd">
                <a:gradFill flip="none" rotWithShape="1">
                  <a:gsLst>
                    <a:gs pos="0">
                      <a:schemeClr val="accent5">
                        <a:lumMod val="98000"/>
                      </a:schemeClr>
                    </a:gs>
                    <a:gs pos="100000">
                      <a:schemeClr val="bg1">
                        <a:lumMod val="75000"/>
                      </a:schemeClr>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102870" tIns="102870" rIns="102870" bIns="102870"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fi-FI" sz="900" b="0" i="0" u="none" strike="noStrike" kern="0" cap="none" spc="0" normalizeH="0" baseline="0" noProof="0">
                  <a:ln>
                    <a:noFill/>
                  </a:ln>
                  <a:solidFill>
                    <a:prstClr val="white">
                      <a:lumMod val="50000"/>
                    </a:prstClr>
                  </a:solidFill>
                  <a:effectLst/>
                  <a:uLnTx/>
                  <a:uFillTx/>
                  <a:latin typeface="OP Chevin Pro Light"/>
                  <a:ea typeface="+mn-ea"/>
                  <a:cs typeface="+mn-cs"/>
                </a:endParaRPr>
              </a:p>
            </p:txBody>
          </p:sp>
          <p:grpSp>
            <p:nvGrpSpPr>
              <p:cNvPr id="49" name="Group 48">
                <a:extLst>
                  <a:ext uri="{FF2B5EF4-FFF2-40B4-BE49-F238E27FC236}">
                    <a16:creationId xmlns:a16="http://schemas.microsoft.com/office/drawing/2014/main" id="{E9B40695-3D64-48C9-B245-41C2D5B6C634}"/>
                  </a:ext>
                </a:extLst>
              </p:cNvPr>
              <p:cNvGrpSpPr/>
              <p:nvPr/>
            </p:nvGrpSpPr>
            <p:grpSpPr>
              <a:xfrm>
                <a:off x="641241" y="1333124"/>
                <a:ext cx="1280161" cy="1423031"/>
                <a:chOff x="852518" y="1567077"/>
                <a:chExt cx="1828799" cy="2032902"/>
              </a:xfrm>
            </p:grpSpPr>
            <p:grpSp>
              <p:nvGrpSpPr>
                <p:cNvPr id="50" name="Group 33">
                  <a:extLst>
                    <a:ext uri="{FF2B5EF4-FFF2-40B4-BE49-F238E27FC236}">
                      <a16:creationId xmlns:a16="http://schemas.microsoft.com/office/drawing/2014/main" id="{4CA257D8-572A-4B8C-9CBC-5374FAEBEFB0}"/>
                    </a:ext>
                  </a:extLst>
                </p:cNvPr>
                <p:cNvGrpSpPr/>
                <p:nvPr/>
              </p:nvGrpSpPr>
              <p:grpSpPr>
                <a:xfrm>
                  <a:off x="852518" y="1567077"/>
                  <a:ext cx="1828799" cy="1828800"/>
                  <a:chOff x="533400" y="2857500"/>
                  <a:chExt cx="1603246" cy="1603248"/>
                </a:xfrm>
              </p:grpSpPr>
              <p:pic>
                <p:nvPicPr>
                  <p:cNvPr id="52" name="Picture 2">
                    <a:extLst>
                      <a:ext uri="{FF2B5EF4-FFF2-40B4-BE49-F238E27FC236}">
                        <a16:creationId xmlns:a16="http://schemas.microsoft.com/office/drawing/2014/main" id="{1B3562C3-FDA3-4ED5-B569-1FE0A4EF38EB}"/>
                      </a:ext>
                    </a:extLst>
                  </p:cNvPr>
                  <p:cNvPicPr>
                    <a:picLocks noChangeArrowheads="1"/>
                  </p:cNvPicPr>
                  <p:nvPr/>
                </p:nvPicPr>
                <p:blipFill rotWithShape="1">
                  <a:blip r:embed="rId10" cstate="email">
                    <a:duotone>
                      <a:schemeClr val="bg2">
                        <a:shade val="45000"/>
                        <a:satMod val="135000"/>
                      </a:schemeClr>
                      <a:prstClr val="white"/>
                    </a:duotone>
                    <a:extLst>
                      <a:ext uri="{BEBA8EAE-BF5A-486C-A8C5-ECC9F3942E4B}">
                        <a14:imgProps xmlns:a14="http://schemas.microsoft.com/office/drawing/2010/main">
                          <a14:imgLayer r:embed="rId11">
                            <a14:imgEffect>
                              <a14:artisticMarker/>
                            </a14:imgEffect>
                          </a14:imgLayer>
                        </a14:imgProps>
                      </a:ext>
                      <a:ext uri="{28A0092B-C50C-407E-A947-70E740481C1C}">
                        <a14:useLocalDpi xmlns:a14="http://schemas.microsoft.com/office/drawing/2010/main"/>
                      </a:ext>
                    </a:extLst>
                  </a:blip>
                  <a:srcRect/>
                  <a:stretch/>
                </p:blipFill>
                <p:spPr bwMode="auto">
                  <a:xfrm>
                    <a:off x="533400" y="3037050"/>
                    <a:ext cx="1600199" cy="1241103"/>
                  </a:xfrm>
                  <a:prstGeom prst="ellipse">
                    <a:avLst/>
                  </a:prstGeom>
                  <a:ln w="57150">
                    <a:noFill/>
                    <a:miter lim="800000"/>
                    <a:headEnd/>
                    <a:tailEn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a:solidFill>
                          <a:srgbClr val="D9D9D9"/>
                        </a:solidFill>
                        <a:miter lim="800000"/>
                        <a:headEnd/>
                        <a:tailEnd/>
                      </a14:hiddenLine>
                    </a:ex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pic>
              <p:sp>
                <p:nvSpPr>
                  <p:cNvPr id="53" name="Oval 52">
                    <a:extLst>
                      <a:ext uri="{FF2B5EF4-FFF2-40B4-BE49-F238E27FC236}">
                        <a16:creationId xmlns:a16="http://schemas.microsoft.com/office/drawing/2014/main" id="{B9583191-B141-4C1F-94A2-EE10571FDD6D}"/>
                      </a:ext>
                    </a:extLst>
                  </p:cNvPr>
                  <p:cNvSpPr>
                    <a:spLocks noChangeAspect="1"/>
                  </p:cNvSpPr>
                  <p:nvPr/>
                </p:nvSpPr>
                <p:spPr>
                  <a:xfrm>
                    <a:off x="533401" y="2857500"/>
                    <a:ext cx="1603245" cy="1603248"/>
                  </a:xfrm>
                  <a:prstGeom prst="ellipse">
                    <a:avLst/>
                  </a:prstGeom>
                  <a:solidFill>
                    <a:schemeClr val="bg1">
                      <a:lumMod val="95000"/>
                    </a:schemeClr>
                  </a:solidFill>
                  <a:ln w="14288" cap="flat" cmpd="sng" algn="ctr">
                    <a:solidFill>
                      <a:srgbClr val="29BA74"/>
                    </a:solidFill>
                    <a:prstDash val="solid"/>
                    <a:round/>
                    <a:headEnd type="none" w="med" len="med"/>
                    <a:tailEnd type="none" w="med" len="med"/>
                  </a:ln>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style>
                  <a:lnRef idx="1">
                    <a:schemeClr val="accent1"/>
                  </a:lnRef>
                  <a:fillRef idx="3">
                    <a:schemeClr val="accent1"/>
                  </a:fillRef>
                  <a:effectRef idx="2">
                    <a:schemeClr val="accent1"/>
                  </a:effectRef>
                  <a:fontRef idx="minor">
                    <a:schemeClr val="lt1"/>
                  </a:fontRef>
                </p:style>
                <p:txBody>
                  <a:bodyPr lIns="137160" tIns="68580" rIns="137160" bIns="68580" rtlCol="0" anchor="ctr"/>
                  <a:lstStyle/>
                  <a:p>
                    <a:pPr marL="0" marR="0" lvl="0" indent="0" algn="ctr" defTabSz="799480" rtl="0" eaLnBrk="1" fontAlgn="auto" latinLnBrk="0" hangingPunct="1">
                      <a:lnSpc>
                        <a:spcPct val="100000"/>
                      </a:lnSpc>
                      <a:spcBef>
                        <a:spcPts val="0"/>
                      </a:spcBef>
                      <a:spcAft>
                        <a:spcPts val="0"/>
                      </a:spcAft>
                      <a:buClrTx/>
                      <a:buSzTx/>
                      <a:buFontTx/>
                      <a:buNone/>
                      <a:tabLst/>
                      <a:defRPr/>
                    </a:pPr>
                    <a:endParaRPr kumimoji="0" lang="fi-FI" sz="1418" b="0" i="0" u="none" strike="noStrike" kern="1200" cap="none" spc="0" normalizeH="0" baseline="0" noProof="0">
                      <a:ln>
                        <a:noFill/>
                      </a:ln>
                      <a:solidFill>
                        <a:prstClr val="white"/>
                      </a:solidFill>
                      <a:effectLst/>
                      <a:uLnTx/>
                      <a:uFillTx/>
                      <a:latin typeface="OP Chevin Pro Light"/>
                      <a:ea typeface="+mn-ea"/>
                      <a:cs typeface="+mn-cs"/>
                    </a:endParaRPr>
                  </a:p>
                </p:txBody>
              </p:sp>
            </p:grpSp>
            <p:sp>
              <p:nvSpPr>
                <p:cNvPr id="51" name="TextBox 50">
                  <a:extLst>
                    <a:ext uri="{FF2B5EF4-FFF2-40B4-BE49-F238E27FC236}">
                      <a16:creationId xmlns:a16="http://schemas.microsoft.com/office/drawing/2014/main" id="{299A8AD4-25D1-468B-9F76-78F5CB2E09F7}"/>
                    </a:ext>
                  </a:extLst>
                </p:cNvPr>
                <p:cNvSpPr txBox="1"/>
                <p:nvPr/>
              </p:nvSpPr>
              <p:spPr>
                <a:xfrm>
                  <a:off x="1467491" y="2205148"/>
                  <a:ext cx="949326" cy="1394831"/>
                </a:xfrm>
                <a:prstGeom prst="rect">
                  <a:avLst/>
                </a:prstGeom>
                <a:noFill/>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txBody>
                <a:bodyPr wrap="none" lIns="93761" tIns="46880" rIns="93761" bIns="46880" rtlCol="0">
                  <a:spAutoFit/>
                </a:bodyPr>
                <a:lstStyle/>
                <a:p>
                  <a:pPr marL="0" marR="0" lvl="0" indent="0" algn="l" defTabSz="799480" rtl="0" eaLnBrk="1" fontAlgn="auto" latinLnBrk="0" hangingPunct="1">
                    <a:lnSpc>
                      <a:spcPct val="100000"/>
                    </a:lnSpc>
                    <a:spcBef>
                      <a:spcPts val="0"/>
                    </a:spcBef>
                    <a:spcAft>
                      <a:spcPts val="0"/>
                    </a:spcAft>
                    <a:buClrTx/>
                    <a:buSzTx/>
                    <a:buFontTx/>
                    <a:buNone/>
                    <a:tabLst/>
                    <a:defRPr/>
                  </a:pPr>
                  <a:r>
                    <a:rPr kumimoji="0" lang="fi-FI" sz="3000" b="0" i="0" u="none" strike="noStrike" kern="1200" cap="none" spc="0" normalizeH="0" baseline="0" noProof="0">
                      <a:ln>
                        <a:noFill/>
                      </a:ln>
                      <a:solidFill>
                        <a:prstClr val="white">
                          <a:lumMod val="65000"/>
                        </a:prstClr>
                      </a:solidFill>
                      <a:effectLst/>
                      <a:uLnTx/>
                      <a:uFillTx/>
                      <a:latin typeface="OP Chevin Pro Light"/>
                      <a:ea typeface="+mn-ea"/>
                      <a:cs typeface="+mn-cs"/>
                    </a:rPr>
                    <a:t>?</a:t>
                  </a:r>
                </a:p>
              </p:txBody>
            </p:sp>
          </p:grpSp>
        </p:grpSp>
        <p:grpSp>
          <p:nvGrpSpPr>
            <p:cNvPr id="44" name="Group 4">
              <a:extLst>
                <a:ext uri="{FF2B5EF4-FFF2-40B4-BE49-F238E27FC236}">
                  <a16:creationId xmlns:a16="http://schemas.microsoft.com/office/drawing/2014/main" id="{2702DCF6-EC26-42DF-9E38-5E3B5DD00F27}"/>
                </a:ext>
              </a:extLst>
            </p:cNvPr>
            <p:cNvGrpSpPr>
              <a:grpSpLocks noChangeAspect="1"/>
            </p:cNvGrpSpPr>
            <p:nvPr/>
          </p:nvGrpSpPr>
          <p:grpSpPr bwMode="auto">
            <a:xfrm>
              <a:off x="962708" y="889335"/>
              <a:ext cx="1526710" cy="1528125"/>
              <a:chOff x="1682" y="0"/>
              <a:chExt cx="4316" cy="4320"/>
            </a:xfrm>
          </p:grpSpPr>
          <p:sp>
            <p:nvSpPr>
              <p:cNvPr id="45" name="AutoShape 3">
                <a:extLst>
                  <a:ext uri="{FF2B5EF4-FFF2-40B4-BE49-F238E27FC236}">
                    <a16:creationId xmlns:a16="http://schemas.microsoft.com/office/drawing/2014/main" id="{945FC9C7-F86C-484A-A6E4-E0FA8C269B74}"/>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02870" tIns="51435" rIns="102870" bIns="51435"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fi-FI" sz="1350" b="0" i="0" u="none" strike="noStrike" kern="1200" cap="none" spc="0" normalizeH="0" baseline="0" noProof="0">
                  <a:ln>
                    <a:noFill/>
                  </a:ln>
                  <a:solidFill>
                    <a:srgbClr val="000000"/>
                  </a:solidFill>
                  <a:effectLst/>
                  <a:uLnTx/>
                  <a:uFillTx/>
                  <a:latin typeface="OP Chevin Pro Light"/>
                  <a:ea typeface="+mn-ea"/>
                  <a:cs typeface="+mn-cs"/>
                </a:endParaRPr>
              </a:p>
            </p:txBody>
          </p:sp>
          <p:sp>
            <p:nvSpPr>
              <p:cNvPr id="46" name="Freeform 5">
                <a:extLst>
                  <a:ext uri="{FF2B5EF4-FFF2-40B4-BE49-F238E27FC236}">
                    <a16:creationId xmlns:a16="http://schemas.microsoft.com/office/drawing/2014/main" id="{6A5C5FE8-D2C5-4C7E-BE0C-99B3EC358BD9}"/>
                  </a:ext>
                </a:extLst>
              </p:cNvPr>
              <p:cNvSpPr>
                <a:spLocks/>
              </p:cNvSpPr>
              <p:nvPr/>
            </p:nvSpPr>
            <p:spPr bwMode="auto">
              <a:xfrm>
                <a:off x="3261" y="1500"/>
                <a:ext cx="1813" cy="2102"/>
              </a:xfrm>
              <a:custGeom>
                <a:avLst/>
                <a:gdLst>
                  <a:gd name="T0" fmla="*/ 903 w 968"/>
                  <a:gd name="T1" fmla="*/ 333 h 1121"/>
                  <a:gd name="T2" fmla="*/ 837 w 968"/>
                  <a:gd name="T3" fmla="*/ 227 h 1121"/>
                  <a:gd name="T4" fmla="*/ 829 w 968"/>
                  <a:gd name="T5" fmla="*/ 131 h 1121"/>
                  <a:gd name="T6" fmla="*/ 827 w 968"/>
                  <a:gd name="T7" fmla="*/ 72 h 1121"/>
                  <a:gd name="T8" fmla="*/ 815 w 968"/>
                  <a:gd name="T9" fmla="*/ 0 h 1121"/>
                  <a:gd name="T10" fmla="*/ 778 w 968"/>
                  <a:gd name="T11" fmla="*/ 39 h 1121"/>
                  <a:gd name="T12" fmla="*/ 783 w 968"/>
                  <a:gd name="T13" fmla="*/ 75 h 1121"/>
                  <a:gd name="T14" fmla="*/ 785 w 968"/>
                  <a:gd name="T15" fmla="*/ 132 h 1121"/>
                  <a:gd name="T16" fmla="*/ 796 w 968"/>
                  <a:gd name="T17" fmla="*/ 244 h 1121"/>
                  <a:gd name="T18" fmla="*/ 872 w 968"/>
                  <a:gd name="T19" fmla="*/ 364 h 1121"/>
                  <a:gd name="T20" fmla="*/ 915 w 968"/>
                  <a:gd name="T21" fmla="*/ 430 h 1121"/>
                  <a:gd name="T22" fmla="*/ 795 w 968"/>
                  <a:gd name="T23" fmla="*/ 461 h 1121"/>
                  <a:gd name="T24" fmla="*/ 778 w 968"/>
                  <a:gd name="T25" fmla="*/ 467 h 1121"/>
                  <a:gd name="T26" fmla="*/ 771 w 968"/>
                  <a:gd name="T27" fmla="*/ 484 h 1121"/>
                  <a:gd name="T28" fmla="*/ 776 w 968"/>
                  <a:gd name="T29" fmla="*/ 622 h 1121"/>
                  <a:gd name="T30" fmla="*/ 758 w 968"/>
                  <a:gd name="T31" fmla="*/ 775 h 1121"/>
                  <a:gd name="T32" fmla="*/ 624 w 968"/>
                  <a:gd name="T33" fmla="*/ 793 h 1121"/>
                  <a:gd name="T34" fmla="*/ 618 w 968"/>
                  <a:gd name="T35" fmla="*/ 793 h 1121"/>
                  <a:gd name="T36" fmla="*/ 482 w 968"/>
                  <a:gd name="T37" fmla="*/ 786 h 1121"/>
                  <a:gd name="T38" fmla="*/ 464 w 968"/>
                  <a:gd name="T39" fmla="*/ 789 h 1121"/>
                  <a:gd name="T40" fmla="*/ 454 w 968"/>
                  <a:gd name="T41" fmla="*/ 807 h 1121"/>
                  <a:gd name="T42" fmla="*/ 454 w 968"/>
                  <a:gd name="T43" fmla="*/ 1077 h 1121"/>
                  <a:gd name="T44" fmla="*/ 44 w 968"/>
                  <a:gd name="T45" fmla="*/ 1000 h 1121"/>
                  <a:gd name="T46" fmla="*/ 44 w 968"/>
                  <a:gd name="T47" fmla="*/ 749 h 1121"/>
                  <a:gd name="T48" fmla="*/ 0 w 968"/>
                  <a:gd name="T49" fmla="*/ 720 h 1121"/>
                  <a:gd name="T50" fmla="*/ 0 w 968"/>
                  <a:gd name="T51" fmla="*/ 1012 h 1121"/>
                  <a:gd name="T52" fmla="*/ 11 w 968"/>
                  <a:gd name="T53" fmla="*/ 1031 h 1121"/>
                  <a:gd name="T54" fmla="*/ 435 w 968"/>
                  <a:gd name="T55" fmla="*/ 1121 h 1121"/>
                  <a:gd name="T56" fmla="*/ 477 w 968"/>
                  <a:gd name="T57" fmla="*/ 1120 h 1121"/>
                  <a:gd name="T58" fmla="*/ 498 w 968"/>
                  <a:gd name="T59" fmla="*/ 1098 h 1121"/>
                  <a:gd name="T60" fmla="*/ 498 w 968"/>
                  <a:gd name="T61" fmla="*/ 832 h 1121"/>
                  <a:gd name="T62" fmla="*/ 612 w 968"/>
                  <a:gd name="T63" fmla="*/ 837 h 1121"/>
                  <a:gd name="T64" fmla="*/ 789 w 968"/>
                  <a:gd name="T65" fmla="*/ 806 h 1121"/>
                  <a:gd name="T66" fmla="*/ 820 w 968"/>
                  <a:gd name="T67" fmla="*/ 621 h 1121"/>
                  <a:gd name="T68" fmla="*/ 817 w 968"/>
                  <a:gd name="T69" fmla="*/ 506 h 1121"/>
                  <a:gd name="T70" fmla="*/ 956 w 968"/>
                  <a:gd name="T71" fmla="*/ 446 h 1121"/>
                  <a:gd name="T72" fmla="*/ 903 w 968"/>
                  <a:gd name="T73" fmla="*/ 333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68" h="1121">
                    <a:moveTo>
                      <a:pt x="903" y="333"/>
                    </a:moveTo>
                    <a:cubicBezTo>
                      <a:pt x="874" y="304"/>
                      <a:pt x="850" y="259"/>
                      <a:pt x="837" y="227"/>
                    </a:cubicBezTo>
                    <a:cubicBezTo>
                      <a:pt x="831" y="214"/>
                      <a:pt x="830" y="166"/>
                      <a:pt x="829" y="131"/>
                    </a:cubicBezTo>
                    <a:cubicBezTo>
                      <a:pt x="829" y="109"/>
                      <a:pt x="828" y="88"/>
                      <a:pt x="827" y="72"/>
                    </a:cubicBezTo>
                    <a:cubicBezTo>
                      <a:pt x="825" y="52"/>
                      <a:pt x="820" y="25"/>
                      <a:pt x="815" y="0"/>
                    </a:cubicBezTo>
                    <a:cubicBezTo>
                      <a:pt x="804" y="13"/>
                      <a:pt x="792" y="26"/>
                      <a:pt x="778" y="39"/>
                    </a:cubicBezTo>
                    <a:cubicBezTo>
                      <a:pt x="780" y="53"/>
                      <a:pt x="782" y="65"/>
                      <a:pt x="783" y="75"/>
                    </a:cubicBezTo>
                    <a:cubicBezTo>
                      <a:pt x="784" y="90"/>
                      <a:pt x="785" y="111"/>
                      <a:pt x="785" y="132"/>
                    </a:cubicBezTo>
                    <a:cubicBezTo>
                      <a:pt x="787" y="187"/>
                      <a:pt x="788" y="224"/>
                      <a:pt x="796" y="244"/>
                    </a:cubicBezTo>
                    <a:cubicBezTo>
                      <a:pt x="803" y="261"/>
                      <a:pt x="830" y="322"/>
                      <a:pt x="872" y="364"/>
                    </a:cubicBezTo>
                    <a:cubicBezTo>
                      <a:pt x="901" y="393"/>
                      <a:pt x="914" y="421"/>
                      <a:pt x="915" y="430"/>
                    </a:cubicBezTo>
                    <a:cubicBezTo>
                      <a:pt x="908" y="440"/>
                      <a:pt x="874" y="469"/>
                      <a:pt x="795" y="461"/>
                    </a:cubicBezTo>
                    <a:cubicBezTo>
                      <a:pt x="789" y="460"/>
                      <a:pt x="782" y="462"/>
                      <a:pt x="778" y="467"/>
                    </a:cubicBezTo>
                    <a:cubicBezTo>
                      <a:pt x="773" y="471"/>
                      <a:pt x="771" y="478"/>
                      <a:pt x="771" y="484"/>
                    </a:cubicBezTo>
                    <a:cubicBezTo>
                      <a:pt x="771" y="485"/>
                      <a:pt x="776" y="551"/>
                      <a:pt x="776" y="622"/>
                    </a:cubicBezTo>
                    <a:cubicBezTo>
                      <a:pt x="776" y="753"/>
                      <a:pt x="760" y="773"/>
                      <a:pt x="758" y="775"/>
                    </a:cubicBezTo>
                    <a:cubicBezTo>
                      <a:pt x="756" y="777"/>
                      <a:pt x="737" y="793"/>
                      <a:pt x="624" y="793"/>
                    </a:cubicBezTo>
                    <a:cubicBezTo>
                      <a:pt x="622" y="793"/>
                      <a:pt x="620" y="793"/>
                      <a:pt x="618" y="793"/>
                    </a:cubicBezTo>
                    <a:cubicBezTo>
                      <a:pt x="552" y="793"/>
                      <a:pt x="491" y="788"/>
                      <a:pt x="482" y="786"/>
                    </a:cubicBezTo>
                    <a:cubicBezTo>
                      <a:pt x="476" y="784"/>
                      <a:pt x="469" y="785"/>
                      <a:pt x="464" y="789"/>
                    </a:cubicBezTo>
                    <a:cubicBezTo>
                      <a:pt x="458" y="793"/>
                      <a:pt x="454" y="800"/>
                      <a:pt x="454" y="807"/>
                    </a:cubicBezTo>
                    <a:cubicBezTo>
                      <a:pt x="454" y="1077"/>
                      <a:pt x="454" y="1077"/>
                      <a:pt x="454" y="1077"/>
                    </a:cubicBezTo>
                    <a:cubicBezTo>
                      <a:pt x="388" y="1078"/>
                      <a:pt x="178" y="1074"/>
                      <a:pt x="44" y="1000"/>
                    </a:cubicBezTo>
                    <a:cubicBezTo>
                      <a:pt x="44" y="749"/>
                      <a:pt x="44" y="749"/>
                      <a:pt x="44" y="749"/>
                    </a:cubicBezTo>
                    <a:cubicBezTo>
                      <a:pt x="31" y="743"/>
                      <a:pt x="17" y="733"/>
                      <a:pt x="0" y="720"/>
                    </a:cubicBezTo>
                    <a:cubicBezTo>
                      <a:pt x="0" y="1012"/>
                      <a:pt x="0" y="1012"/>
                      <a:pt x="0" y="1012"/>
                    </a:cubicBezTo>
                    <a:cubicBezTo>
                      <a:pt x="0" y="1020"/>
                      <a:pt x="4" y="1027"/>
                      <a:pt x="11" y="1031"/>
                    </a:cubicBezTo>
                    <a:cubicBezTo>
                      <a:pt x="144" y="1111"/>
                      <a:pt x="347" y="1121"/>
                      <a:pt x="435" y="1121"/>
                    </a:cubicBezTo>
                    <a:cubicBezTo>
                      <a:pt x="459" y="1121"/>
                      <a:pt x="475" y="1120"/>
                      <a:pt x="477" y="1120"/>
                    </a:cubicBezTo>
                    <a:cubicBezTo>
                      <a:pt x="489" y="1119"/>
                      <a:pt x="498" y="1110"/>
                      <a:pt x="498" y="1098"/>
                    </a:cubicBezTo>
                    <a:cubicBezTo>
                      <a:pt x="498" y="832"/>
                      <a:pt x="498" y="832"/>
                      <a:pt x="498" y="832"/>
                    </a:cubicBezTo>
                    <a:cubicBezTo>
                      <a:pt x="529" y="835"/>
                      <a:pt x="576" y="837"/>
                      <a:pt x="612" y="837"/>
                    </a:cubicBezTo>
                    <a:cubicBezTo>
                      <a:pt x="742" y="839"/>
                      <a:pt x="776" y="820"/>
                      <a:pt x="789" y="806"/>
                    </a:cubicBezTo>
                    <a:cubicBezTo>
                      <a:pt x="804" y="791"/>
                      <a:pt x="821" y="757"/>
                      <a:pt x="820" y="621"/>
                    </a:cubicBezTo>
                    <a:cubicBezTo>
                      <a:pt x="820" y="576"/>
                      <a:pt x="818" y="532"/>
                      <a:pt x="817" y="506"/>
                    </a:cubicBezTo>
                    <a:cubicBezTo>
                      <a:pt x="908" y="508"/>
                      <a:pt x="948" y="464"/>
                      <a:pt x="956" y="446"/>
                    </a:cubicBezTo>
                    <a:cubicBezTo>
                      <a:pt x="968" y="417"/>
                      <a:pt x="937" y="367"/>
                      <a:pt x="903" y="333"/>
                    </a:cubicBezTo>
                    <a:close/>
                  </a:path>
                </a:pathLst>
              </a:custGeom>
              <a:solidFill>
                <a:srgbClr val="6E6F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2870" tIns="51435" rIns="102870" bIns="51435"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fi-FI" sz="1350" b="0" i="0" u="none" strike="noStrike" kern="1200" cap="none" spc="0" normalizeH="0" baseline="0" noProof="0">
                  <a:ln>
                    <a:noFill/>
                  </a:ln>
                  <a:solidFill>
                    <a:srgbClr val="000000"/>
                  </a:solidFill>
                  <a:effectLst/>
                  <a:uLnTx/>
                  <a:uFillTx/>
                  <a:latin typeface="OP Chevin Pro Light"/>
                  <a:ea typeface="+mn-ea"/>
                  <a:cs typeface="+mn-cs"/>
                </a:endParaRPr>
              </a:p>
            </p:txBody>
          </p:sp>
          <p:sp>
            <p:nvSpPr>
              <p:cNvPr id="47" name="Freeform 6">
                <a:extLst>
                  <a:ext uri="{FF2B5EF4-FFF2-40B4-BE49-F238E27FC236}">
                    <a16:creationId xmlns:a16="http://schemas.microsoft.com/office/drawing/2014/main" id="{B9C9097C-0B7B-44F8-A665-2A490F332ADD}"/>
                  </a:ext>
                </a:extLst>
              </p:cNvPr>
              <p:cNvSpPr>
                <a:spLocks/>
              </p:cNvSpPr>
              <p:nvPr/>
            </p:nvSpPr>
            <p:spPr bwMode="auto">
              <a:xfrm>
                <a:off x="2450" y="701"/>
                <a:ext cx="2373" cy="2170"/>
              </a:xfrm>
              <a:custGeom>
                <a:avLst/>
                <a:gdLst>
                  <a:gd name="T0" fmla="*/ 1266 w 1267"/>
                  <a:gd name="T1" fmla="*/ 272 h 1157"/>
                  <a:gd name="T2" fmla="*/ 802 w 1267"/>
                  <a:gd name="T3" fmla="*/ 18 h 1157"/>
                  <a:gd name="T4" fmla="*/ 226 w 1267"/>
                  <a:gd name="T5" fmla="*/ 303 h 1157"/>
                  <a:gd name="T6" fmla="*/ 514 w 1267"/>
                  <a:gd name="T7" fmla="*/ 1141 h 1157"/>
                  <a:gd name="T8" fmla="*/ 524 w 1267"/>
                  <a:gd name="T9" fmla="*/ 697 h 1157"/>
                  <a:gd name="T10" fmla="*/ 933 w 1267"/>
                  <a:gd name="T11" fmla="*/ 577 h 1157"/>
                  <a:gd name="T12" fmla="*/ 870 w 1267"/>
                  <a:gd name="T13" fmla="*/ 639 h 1157"/>
                  <a:gd name="T14" fmla="*/ 878 w 1267"/>
                  <a:gd name="T15" fmla="*/ 653 h 1157"/>
                  <a:gd name="T16" fmla="*/ 1212 w 1267"/>
                  <a:gd name="T17" fmla="*/ 401 h 1157"/>
                  <a:gd name="T18" fmla="*/ 1212 w 1267"/>
                  <a:gd name="T19" fmla="*/ 401 h 1157"/>
                  <a:gd name="T20" fmla="*/ 1266 w 1267"/>
                  <a:gd name="T21" fmla="*/ 281 h 1157"/>
                  <a:gd name="T22" fmla="*/ 1266 w 1267"/>
                  <a:gd name="T23" fmla="*/ 272 h 1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67" h="1157">
                    <a:moveTo>
                      <a:pt x="1266" y="272"/>
                    </a:moveTo>
                    <a:cubicBezTo>
                      <a:pt x="1267" y="197"/>
                      <a:pt x="1145" y="39"/>
                      <a:pt x="802" y="18"/>
                    </a:cubicBezTo>
                    <a:cubicBezTo>
                      <a:pt x="501" y="0"/>
                      <a:pt x="306" y="149"/>
                      <a:pt x="226" y="303"/>
                    </a:cubicBezTo>
                    <a:cubicBezTo>
                      <a:pt x="0" y="737"/>
                      <a:pt x="477" y="1157"/>
                      <a:pt x="514" y="1141"/>
                    </a:cubicBezTo>
                    <a:cubicBezTo>
                      <a:pt x="568" y="1117"/>
                      <a:pt x="346" y="874"/>
                      <a:pt x="524" y="697"/>
                    </a:cubicBezTo>
                    <a:cubicBezTo>
                      <a:pt x="524" y="697"/>
                      <a:pt x="736" y="658"/>
                      <a:pt x="933" y="577"/>
                    </a:cubicBezTo>
                    <a:cubicBezTo>
                      <a:pt x="921" y="594"/>
                      <a:pt x="901" y="615"/>
                      <a:pt x="870" y="639"/>
                    </a:cubicBezTo>
                    <a:cubicBezTo>
                      <a:pt x="862" y="645"/>
                      <a:pt x="870" y="657"/>
                      <a:pt x="878" y="653"/>
                    </a:cubicBezTo>
                    <a:cubicBezTo>
                      <a:pt x="979" y="601"/>
                      <a:pt x="1162" y="469"/>
                      <a:pt x="1212" y="401"/>
                    </a:cubicBezTo>
                    <a:cubicBezTo>
                      <a:pt x="1212" y="401"/>
                      <a:pt x="1212" y="401"/>
                      <a:pt x="1212" y="401"/>
                    </a:cubicBezTo>
                    <a:cubicBezTo>
                      <a:pt x="1243" y="364"/>
                      <a:pt x="1263" y="324"/>
                      <a:pt x="1266" y="281"/>
                    </a:cubicBezTo>
                    <a:lnTo>
                      <a:pt x="1266" y="272"/>
                    </a:lnTo>
                    <a:close/>
                  </a:path>
                </a:pathLst>
              </a:custGeom>
              <a:solidFill>
                <a:srgbClr val="9A9A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2870" tIns="51435" rIns="102870" bIns="51435"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fi-FI" sz="1350" b="0" i="0" u="none" strike="noStrike" kern="1200" cap="none" spc="0" normalizeH="0" baseline="0" noProof="0">
                  <a:ln>
                    <a:noFill/>
                  </a:ln>
                  <a:solidFill>
                    <a:srgbClr val="000000"/>
                  </a:solidFill>
                  <a:effectLst/>
                  <a:uLnTx/>
                  <a:uFillTx/>
                  <a:latin typeface="OP Chevin Pro Light"/>
                  <a:ea typeface="+mn-ea"/>
                  <a:cs typeface="+mn-cs"/>
                </a:endParaRPr>
              </a:p>
            </p:txBody>
          </p:sp>
        </p:grpSp>
      </p:grpSp>
      <p:sp>
        <p:nvSpPr>
          <p:cNvPr id="67" name="TextBox 66">
            <a:extLst>
              <a:ext uri="{FF2B5EF4-FFF2-40B4-BE49-F238E27FC236}">
                <a16:creationId xmlns:a16="http://schemas.microsoft.com/office/drawing/2014/main" id="{D0884899-642A-4E69-B627-08F7B2DAC164}"/>
              </a:ext>
            </a:extLst>
          </p:cNvPr>
          <p:cNvSpPr txBox="1"/>
          <p:nvPr/>
        </p:nvSpPr>
        <p:spPr>
          <a:xfrm>
            <a:off x="251460" y="4963230"/>
            <a:ext cx="1589013" cy="1125184"/>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2000" b="0" i="0" u="none" strike="noStrike" kern="1200" cap="none" spc="0" normalizeH="0" baseline="0" noProof="0">
                <a:ln>
                  <a:noFill/>
                </a:ln>
                <a:solidFill>
                  <a:srgbClr val="29BA74"/>
                </a:solidFill>
                <a:effectLst/>
                <a:uLnTx/>
                <a:uFillTx/>
                <a:latin typeface="Trebuchet MS"/>
                <a:ea typeface="+mn-ea"/>
                <a:cs typeface="+mn-cs"/>
              </a:rPr>
              <a:t>BCG support</a:t>
            </a:r>
          </a:p>
        </p:txBody>
      </p:sp>
      <p:sp>
        <p:nvSpPr>
          <p:cNvPr id="71" name="TextBox 70">
            <a:extLst>
              <a:ext uri="{FF2B5EF4-FFF2-40B4-BE49-F238E27FC236}">
                <a16:creationId xmlns:a16="http://schemas.microsoft.com/office/drawing/2014/main" id="{79999411-ACFE-46EE-B0E2-7FD1589E5791}"/>
              </a:ext>
            </a:extLst>
          </p:cNvPr>
          <p:cNvSpPr txBox="1"/>
          <p:nvPr/>
        </p:nvSpPr>
        <p:spPr>
          <a:xfrm>
            <a:off x="3714859" y="1565979"/>
            <a:ext cx="5662930" cy="179285"/>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29BA74"/>
                </a:solidFill>
                <a:effectLst/>
                <a:uLnTx/>
                <a:uFillTx/>
                <a:latin typeface="Trebuchet MS"/>
                <a:ea typeface="+mn-ea"/>
                <a:cs typeface="+mn-cs"/>
              </a:rPr>
              <a:t>Depth of customer understanding in segmentation</a:t>
            </a:r>
          </a:p>
        </p:txBody>
      </p:sp>
      <p:grpSp>
        <p:nvGrpSpPr>
          <p:cNvPr id="6" name="Group 5">
            <a:extLst>
              <a:ext uri="{FF2B5EF4-FFF2-40B4-BE49-F238E27FC236}">
                <a16:creationId xmlns:a16="http://schemas.microsoft.com/office/drawing/2014/main" id="{8F3933B1-1C57-49D5-91A2-3CBA78706EC6}"/>
              </a:ext>
            </a:extLst>
          </p:cNvPr>
          <p:cNvGrpSpPr/>
          <p:nvPr/>
        </p:nvGrpSpPr>
        <p:grpSpPr>
          <a:xfrm>
            <a:off x="3359609" y="4955527"/>
            <a:ext cx="2264783" cy="836381"/>
            <a:chOff x="3359609" y="4947824"/>
            <a:chExt cx="2264783" cy="836381"/>
          </a:xfrm>
        </p:grpSpPr>
        <p:sp>
          <p:nvSpPr>
            <p:cNvPr id="59" name="Rectangle 58">
              <a:extLst>
                <a:ext uri="{FF2B5EF4-FFF2-40B4-BE49-F238E27FC236}">
                  <a16:creationId xmlns:a16="http://schemas.microsoft.com/office/drawing/2014/main" id="{A12E57F4-58C2-4ECC-9144-F5209ADA2873}"/>
                </a:ext>
              </a:extLst>
            </p:cNvPr>
            <p:cNvSpPr/>
            <p:nvPr/>
          </p:nvSpPr>
          <p:spPr>
            <a:xfrm>
              <a:off x="3557992" y="5121265"/>
              <a:ext cx="2066400" cy="662940"/>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2000" b="0" i="0" u="none" strike="noStrike" kern="1200" cap="none" spc="0" normalizeH="0" baseline="0" noProof="0">
                  <a:ln>
                    <a:noFill/>
                  </a:ln>
                  <a:solidFill>
                    <a:srgbClr val="FFFFFF"/>
                  </a:solidFill>
                  <a:effectLst/>
                  <a:uLnTx/>
                  <a:uFillTx/>
                  <a:latin typeface="Trebuchet MS"/>
                  <a:ea typeface="+mn-ea"/>
                  <a:cs typeface="+mn-cs"/>
                </a:rPr>
                <a:t>Jan-Apr 2022</a:t>
              </a:r>
            </a:p>
          </p:txBody>
        </p:sp>
        <p:sp>
          <p:nvSpPr>
            <p:cNvPr id="33" name="Oval 20">
              <a:extLst>
                <a:ext uri="{FF2B5EF4-FFF2-40B4-BE49-F238E27FC236}">
                  <a16:creationId xmlns:a16="http://schemas.microsoft.com/office/drawing/2014/main" id="{731BF8A0-CF65-492C-93C0-28AADF7F64D8}"/>
                </a:ext>
              </a:extLst>
            </p:cNvPr>
            <p:cNvSpPr>
              <a:spLocks noChangeAspect="1" noChangeArrowheads="1"/>
            </p:cNvSpPr>
            <p:nvPr/>
          </p:nvSpPr>
          <p:spPr bwMode="auto">
            <a:xfrm>
              <a:off x="3359609" y="4947824"/>
              <a:ext cx="432000" cy="432000"/>
            </a:xfrm>
            <a:prstGeom prst="ellipse">
              <a:avLst/>
            </a:prstGeom>
            <a:solidFill>
              <a:srgbClr val="FFFFFF"/>
            </a:solidFill>
            <a:ln w="9525" cap="flat" cmpd="sng" algn="ctr">
              <a:solidFill>
                <a:srgbClr val="29BA74"/>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9BA74"/>
                  </a:solidFill>
                  <a:effectLst/>
                  <a:uLnTx/>
                  <a:uFillTx/>
                  <a:latin typeface="Trebuchet MS"/>
                  <a:ea typeface="+mn-ea"/>
                  <a:cs typeface="+mn-cs"/>
                </a:rPr>
                <a:t>A</a:t>
              </a:r>
              <a:endParaRPr kumimoji="0" lang="en-US" sz="1000" b="0" i="0" u="none" strike="noStrike" kern="1200" cap="none" spc="0" normalizeH="0" baseline="0" noProof="0">
                <a:ln>
                  <a:noFill/>
                </a:ln>
                <a:solidFill>
                  <a:srgbClr val="29BA74"/>
                </a:solidFill>
                <a:effectLst/>
                <a:uLnTx/>
                <a:uFillTx/>
                <a:latin typeface="Trebuchet MS"/>
                <a:ea typeface="+mn-ea"/>
                <a:cs typeface="+mn-cs"/>
              </a:endParaRPr>
            </a:p>
          </p:txBody>
        </p:sp>
      </p:grpSp>
      <p:grpSp>
        <p:nvGrpSpPr>
          <p:cNvPr id="5" name="Group 4">
            <a:extLst>
              <a:ext uri="{FF2B5EF4-FFF2-40B4-BE49-F238E27FC236}">
                <a16:creationId xmlns:a16="http://schemas.microsoft.com/office/drawing/2014/main" id="{876B7068-50E4-4D93-B6FA-4EE4D577FF9B}"/>
              </a:ext>
            </a:extLst>
          </p:cNvPr>
          <p:cNvGrpSpPr/>
          <p:nvPr/>
        </p:nvGrpSpPr>
        <p:grpSpPr>
          <a:xfrm>
            <a:off x="6345040" y="4963230"/>
            <a:ext cx="2268098" cy="820975"/>
            <a:chOff x="6479662" y="4963230"/>
            <a:chExt cx="2268098" cy="820975"/>
          </a:xfrm>
        </p:grpSpPr>
        <p:sp>
          <p:nvSpPr>
            <p:cNvPr id="62" name="Rectangle 61">
              <a:extLst>
                <a:ext uri="{FF2B5EF4-FFF2-40B4-BE49-F238E27FC236}">
                  <a16:creationId xmlns:a16="http://schemas.microsoft.com/office/drawing/2014/main" id="{E74A9106-9ACA-49A9-8883-43DA6554D11F}"/>
                </a:ext>
              </a:extLst>
            </p:cNvPr>
            <p:cNvSpPr/>
            <p:nvPr/>
          </p:nvSpPr>
          <p:spPr>
            <a:xfrm>
              <a:off x="6680946" y="5121265"/>
              <a:ext cx="2066814" cy="662940"/>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2000" b="0" i="0" u="none" strike="noStrike" kern="1200" cap="none" spc="0" normalizeH="0" baseline="0" noProof="0">
                  <a:ln>
                    <a:noFill/>
                  </a:ln>
                  <a:solidFill>
                    <a:srgbClr val="FFFFFF"/>
                  </a:solidFill>
                  <a:effectLst/>
                  <a:uLnTx/>
                  <a:uFillTx/>
                  <a:latin typeface="Trebuchet MS"/>
                  <a:ea typeface="+mn-ea"/>
                  <a:cs typeface="+mn-cs"/>
                </a:rPr>
                <a:t>March-May 2022</a:t>
              </a:r>
            </a:p>
          </p:txBody>
        </p:sp>
        <p:sp>
          <p:nvSpPr>
            <p:cNvPr id="54" name="Oval 20">
              <a:extLst>
                <a:ext uri="{FF2B5EF4-FFF2-40B4-BE49-F238E27FC236}">
                  <a16:creationId xmlns:a16="http://schemas.microsoft.com/office/drawing/2014/main" id="{070F8D1D-5581-46FC-8FDD-406D643EA573}"/>
                </a:ext>
              </a:extLst>
            </p:cNvPr>
            <p:cNvSpPr>
              <a:spLocks noChangeAspect="1" noChangeArrowheads="1"/>
            </p:cNvSpPr>
            <p:nvPr/>
          </p:nvSpPr>
          <p:spPr bwMode="auto">
            <a:xfrm>
              <a:off x="6479662" y="4963230"/>
              <a:ext cx="432000" cy="432000"/>
            </a:xfrm>
            <a:prstGeom prst="ellipse">
              <a:avLst/>
            </a:prstGeom>
            <a:solidFill>
              <a:srgbClr val="FFFFFF"/>
            </a:solidFill>
            <a:ln w="9525" cap="flat" cmpd="sng" algn="ctr">
              <a:solidFill>
                <a:srgbClr val="29BA74"/>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9BA74"/>
                  </a:solidFill>
                  <a:effectLst/>
                  <a:uLnTx/>
                  <a:uFillTx/>
                  <a:latin typeface="Trebuchet MS"/>
                  <a:ea typeface="+mn-ea"/>
                  <a:cs typeface="+mn-cs"/>
                </a:rPr>
                <a:t>B</a:t>
              </a:r>
            </a:p>
          </p:txBody>
        </p:sp>
      </p:grpSp>
      <p:grpSp>
        <p:nvGrpSpPr>
          <p:cNvPr id="4" name="Group 3">
            <a:extLst>
              <a:ext uri="{FF2B5EF4-FFF2-40B4-BE49-F238E27FC236}">
                <a16:creationId xmlns:a16="http://schemas.microsoft.com/office/drawing/2014/main" id="{0F83F705-E783-4D17-8EDC-285349598152}"/>
              </a:ext>
            </a:extLst>
          </p:cNvPr>
          <p:cNvGrpSpPr/>
          <p:nvPr/>
        </p:nvGrpSpPr>
        <p:grpSpPr>
          <a:xfrm>
            <a:off x="9333787" y="4909307"/>
            <a:ext cx="2231207" cy="874898"/>
            <a:chOff x="9333787" y="4909307"/>
            <a:chExt cx="2231207" cy="874898"/>
          </a:xfrm>
        </p:grpSpPr>
        <p:sp>
          <p:nvSpPr>
            <p:cNvPr id="63" name="Rectangle 62">
              <a:extLst>
                <a:ext uri="{FF2B5EF4-FFF2-40B4-BE49-F238E27FC236}">
                  <a16:creationId xmlns:a16="http://schemas.microsoft.com/office/drawing/2014/main" id="{6D641A25-4B0E-4BD3-BF72-CA8CD621B712}"/>
                </a:ext>
              </a:extLst>
            </p:cNvPr>
            <p:cNvSpPr/>
            <p:nvPr/>
          </p:nvSpPr>
          <p:spPr>
            <a:xfrm>
              <a:off x="9498180" y="5121265"/>
              <a:ext cx="2066814" cy="662940"/>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2000" b="0" i="0" u="none" strike="noStrike" kern="1200" cap="none" spc="0" normalizeH="0" baseline="0" noProof="0">
                  <a:ln>
                    <a:noFill/>
                  </a:ln>
                  <a:solidFill>
                    <a:srgbClr val="FFFFFF"/>
                  </a:solidFill>
                  <a:effectLst/>
                  <a:uLnTx/>
                  <a:uFillTx/>
                  <a:latin typeface="Trebuchet MS"/>
                  <a:ea typeface="+mn-ea"/>
                  <a:cs typeface="+mn-cs"/>
                </a:rPr>
                <a:t>May-June 2022</a:t>
              </a:r>
            </a:p>
          </p:txBody>
        </p:sp>
        <p:sp>
          <p:nvSpPr>
            <p:cNvPr id="55" name="Oval 20">
              <a:extLst>
                <a:ext uri="{FF2B5EF4-FFF2-40B4-BE49-F238E27FC236}">
                  <a16:creationId xmlns:a16="http://schemas.microsoft.com/office/drawing/2014/main" id="{6FA184CE-5188-49DB-BADA-1DEBFC076783}"/>
                </a:ext>
              </a:extLst>
            </p:cNvPr>
            <p:cNvSpPr>
              <a:spLocks noChangeAspect="1" noChangeArrowheads="1"/>
            </p:cNvSpPr>
            <p:nvPr/>
          </p:nvSpPr>
          <p:spPr bwMode="auto">
            <a:xfrm>
              <a:off x="9333787" y="4909307"/>
              <a:ext cx="432000" cy="432000"/>
            </a:xfrm>
            <a:prstGeom prst="ellipse">
              <a:avLst/>
            </a:prstGeom>
            <a:solidFill>
              <a:srgbClr val="FFFFFF"/>
            </a:solidFill>
            <a:ln w="9525" cap="flat" cmpd="sng" algn="ctr">
              <a:solidFill>
                <a:srgbClr val="29BA74"/>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9BA74"/>
                  </a:solidFill>
                  <a:effectLst/>
                  <a:uLnTx/>
                  <a:uFillTx/>
                  <a:latin typeface="Trebuchet MS"/>
                  <a:ea typeface="+mn-ea"/>
                  <a:cs typeface="+mn-cs"/>
                </a:rPr>
                <a:t>C</a:t>
              </a:r>
              <a:endParaRPr kumimoji="0" lang="en-US" sz="1000" b="0" i="0" u="none" strike="noStrike" kern="1200" cap="none" spc="0" normalizeH="0" baseline="0" noProof="0">
                <a:ln>
                  <a:noFill/>
                </a:ln>
                <a:solidFill>
                  <a:srgbClr val="29BA74"/>
                </a:solidFill>
                <a:effectLst/>
                <a:uLnTx/>
                <a:uFillTx/>
                <a:latin typeface="Trebuchet MS"/>
                <a:ea typeface="+mn-ea"/>
                <a:cs typeface="+mn-cs"/>
              </a:endParaRPr>
            </a:p>
          </p:txBody>
        </p:sp>
      </p:grpSp>
      <p:pic>
        <p:nvPicPr>
          <p:cNvPr id="2052" name="Picture 4">
            <a:extLst>
              <a:ext uri="{FF2B5EF4-FFF2-40B4-BE49-F238E27FC236}">
                <a16:creationId xmlns:a16="http://schemas.microsoft.com/office/drawing/2014/main" id="{25F20390-A7C1-4EBA-8496-1ACA32089B41}"/>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225272" y="4857041"/>
            <a:ext cx="959493" cy="644378"/>
          </a:xfrm>
          <a:prstGeom prst="rect">
            <a:avLst/>
          </a:prstGeom>
          <a:noFill/>
          <a:extLst>
            <a:ext uri="{909E8E84-426E-40DD-AFC4-6F175D3DCCD1}">
              <a14:hiddenFill xmlns:a14="http://schemas.microsoft.com/office/drawing/2010/main">
                <a:solidFill>
                  <a:srgbClr val="FFFFFF"/>
                </a:solidFill>
              </a14:hiddenFill>
            </a:ext>
          </a:extLst>
        </p:spPr>
      </p:pic>
      <p:pic>
        <p:nvPicPr>
          <p:cNvPr id="56" name="Picture 55">
            <a:extLst>
              <a:ext uri="{FF2B5EF4-FFF2-40B4-BE49-F238E27FC236}">
                <a16:creationId xmlns:a16="http://schemas.microsoft.com/office/drawing/2014/main" id="{3F826EB1-8D80-489B-9AC5-1D7B68C4C7CA}"/>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1990299" y="5341300"/>
            <a:ext cx="1484216" cy="642658"/>
          </a:xfrm>
          <a:prstGeom prst="rect">
            <a:avLst/>
          </a:prstGeom>
        </p:spPr>
      </p:pic>
    </p:spTree>
    <p:extLst>
      <p:ext uri="{BB962C8B-B14F-4D97-AF65-F5344CB8AC3E}">
        <p14:creationId xmlns:p14="http://schemas.microsoft.com/office/powerpoint/2010/main" val="284322494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5" imgW="0" imgH="0" progId="TCLayout.ActiveDocument.1">
                  <p:embed/>
                </p:oleObj>
              </mc:Choice>
              <mc:Fallback>
                <p:oleObj name="think-cell Slide" r:id="rId5" imgW="0" imgH="0" progId="TCLayout.ActiveDocument.1">
                  <p:embed/>
                  <p:pic>
                    <p:nvPicPr>
                      <p:cNvPr id="5" name="Object 4" hidden="1"/>
                      <p:cNvPicPr/>
                      <p:nvPr/>
                    </p:nvPicPr>
                    <p:blipFill>
                      <a:blip r:embed="rId6"/>
                      <a:stretch>
                        <a:fillRect/>
                      </a:stretch>
                    </p:blipFill>
                    <p:spPr>
                      <a:xfrm>
                        <a:off x="2118" y="2118"/>
                        <a:ext cx="2117" cy="2117"/>
                      </a:xfrm>
                      <a:prstGeom prst="rect">
                        <a:avLst/>
                      </a:prstGeom>
                    </p:spPr>
                  </p:pic>
                </p:oleObj>
              </mc:Fallback>
            </mc:AlternateContent>
          </a:graphicData>
        </a:graphic>
      </p:graphicFrame>
      <p:sp>
        <p:nvSpPr>
          <p:cNvPr id="41" name="Rectangle 40" hidden="1"/>
          <p:cNvSpPr/>
          <p:nvPr>
            <p:custDataLst>
              <p:tags r:id="rId2"/>
            </p:custDataLst>
          </p:nvPr>
        </p:nvSpPr>
        <p:spPr>
          <a:xfrm>
            <a:off x="0" y="0"/>
            <a:ext cx="211667" cy="211667"/>
          </a:xfrm>
          <a:prstGeom prst="rect">
            <a:avLst/>
          </a:prstGeom>
          <a:solidFill>
            <a:schemeClr val="tx1"/>
          </a:solidFill>
          <a:ln w="9525" cap="rnd" cmpd="sng" algn="ctr">
            <a:solidFill>
              <a:schemeClr val="tx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rebuchet MS" panose="020B0603020202020204" pitchFamily="34" charset="0"/>
              <a:ea typeface="+mn-ea"/>
              <a:cs typeface="+mn-cs"/>
              <a:sym typeface="Trebuchet MS" panose="020B0603020202020204" pitchFamily="34" charset="0"/>
            </a:endParaRPr>
          </a:p>
        </p:txBody>
      </p:sp>
      <p:sp>
        <p:nvSpPr>
          <p:cNvPr id="4" name="Title 3"/>
          <p:cNvSpPr>
            <a:spLocks noGrp="1"/>
          </p:cNvSpPr>
          <p:nvPr>
            <p:ph type="title"/>
          </p:nvPr>
        </p:nvSpPr>
        <p:spPr/>
        <p:txBody>
          <a:bodyPr vert="horz"/>
          <a:lstStyle/>
          <a:p>
            <a:r>
              <a:rPr lang="en-US"/>
              <a:t>Case team contacts (1/2)</a:t>
            </a:r>
          </a:p>
        </p:txBody>
      </p:sp>
      <p:sp>
        <p:nvSpPr>
          <p:cNvPr id="55" name="ColumnHeader"/>
          <p:cNvSpPr txBox="1"/>
          <p:nvPr/>
        </p:nvSpPr>
        <p:spPr>
          <a:xfrm>
            <a:off x="732520" y="3887494"/>
            <a:ext cx="4708160" cy="320084"/>
          </a:xfrm>
          <a:prstGeom prst="rect">
            <a:avLst/>
          </a:prstGeom>
          <a:noFill/>
          <a:ln w="9525" algn="ctr">
            <a:noFill/>
            <a:miter lim="800000"/>
            <a:headEnd type="none" w="lg" len="lg"/>
            <a:tailEnd type="none" w="lg"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25400" dir="5400000" sx="99000" sy="99000" algn="ctr" rotWithShape="0">
                    <a:srgbClr val="177B57"/>
                  </a:outerShdw>
                </a:effectLst>
              </a14:hiddenEffects>
            </a:ext>
          </a:extLst>
        </p:spPr>
        <p:txBody>
          <a:bodyPr vert="horz" wrap="square" lIns="0" tIns="0" rIns="0" bIns="0" anchor="b"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29BA74">
                    <a:lumMod val="100000"/>
                  </a:srgbClr>
                </a:solidFill>
                <a:effectLst/>
                <a:uLnTx/>
                <a:uFillTx/>
                <a:latin typeface="Trebuchet MS" panose="020B0603020202020204" pitchFamily="34" charset="0"/>
                <a:ea typeface="+mn-ea"/>
                <a:cs typeface="Arial" panose="020B0604020202020204" pitchFamily="34" charset="0"/>
              </a:rPr>
              <a:t>Customer pathways</a:t>
            </a:r>
          </a:p>
        </p:txBody>
      </p:sp>
      <p:sp>
        <p:nvSpPr>
          <p:cNvPr id="32" name="ColumnHeader"/>
          <p:cNvSpPr txBox="1"/>
          <p:nvPr/>
        </p:nvSpPr>
        <p:spPr>
          <a:xfrm>
            <a:off x="594475" y="1193416"/>
            <a:ext cx="7118649" cy="257369"/>
          </a:xfrm>
          <a:prstGeom prst="rect">
            <a:avLst/>
          </a:prstGeom>
          <a:noFill/>
          <a:ln w="9525" algn="ctr">
            <a:noFill/>
            <a:miter lim="800000"/>
            <a:headEnd type="none" w="lg" len="lg"/>
            <a:tailEnd type="none" w="lg"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25400" dir="5400000" sx="99000" sy="99000" algn="ctr" rotWithShape="0">
                    <a:srgbClr val="177B57"/>
                  </a:outerShdw>
                </a:effectLst>
              </a14:hiddenEffects>
            </a:ext>
          </a:extLst>
        </p:spPr>
        <p:txBody>
          <a:bodyPr vert="horz" wrap="square" lIns="0" tIns="0" rIns="0" bIns="0" anchor="b"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29BA74">
                    <a:lumMod val="100000"/>
                  </a:srgbClr>
                </a:solidFill>
                <a:effectLst/>
                <a:uLnTx/>
                <a:uFillTx/>
                <a:latin typeface="Trebuchet MS" panose="020B0603020202020204" pitchFamily="34" charset="0"/>
                <a:ea typeface="+mn-ea"/>
                <a:cs typeface="Arial" panose="020B0604020202020204" pitchFamily="34" charset="0"/>
              </a:rPr>
              <a:t>Case leadership</a:t>
            </a:r>
          </a:p>
        </p:txBody>
      </p:sp>
      <p:cxnSp>
        <p:nvCxnSpPr>
          <p:cNvPr id="8" name="Straight Connector 7"/>
          <p:cNvCxnSpPr>
            <a:cxnSpLocks/>
          </p:cNvCxnSpPr>
          <p:nvPr/>
        </p:nvCxnSpPr>
        <p:spPr>
          <a:xfrm>
            <a:off x="594476" y="1507999"/>
            <a:ext cx="10657724" cy="0"/>
          </a:xfrm>
          <a:prstGeom prst="line">
            <a:avLst/>
          </a:prstGeom>
          <a:ln w="9525" cap="rnd" cmpd="sng" algn="ctr">
            <a:solidFill>
              <a:srgbClr val="29BA74"/>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17" name="Picture 16"/>
          <p:cNvPicPr>
            <a:picLocks noChangeAspect="1"/>
          </p:cNvPicPr>
          <p:nvPr/>
        </p:nvPicPr>
        <p:blipFill>
          <a:blip r:embed="rId7"/>
          <a:srcRect l="2902" r="2902"/>
          <a:stretch/>
        </p:blipFill>
        <p:spPr>
          <a:xfrm>
            <a:off x="1089136" y="4522388"/>
            <a:ext cx="1034684" cy="1034684"/>
          </a:xfrm>
          <a:prstGeom prst="ellipse">
            <a:avLst/>
          </a:prstGeom>
          <a:grpFill/>
          <a:ln w="23813">
            <a:gradFill flip="none" rotWithShape="1">
              <a:gsLst>
                <a:gs pos="0">
                  <a:schemeClr val="accent2"/>
                </a:gs>
                <a:gs pos="100000">
                  <a:schemeClr val="tx2"/>
                </a:gs>
              </a:gsLst>
              <a:lin ang="2700000" scaled="1"/>
            </a:gradFill>
          </a:ln>
        </p:spPr>
      </p:pic>
      <p:sp>
        <p:nvSpPr>
          <p:cNvPr id="66" name="TextBox 65"/>
          <p:cNvSpPr txBox="1"/>
          <p:nvPr/>
        </p:nvSpPr>
        <p:spPr>
          <a:xfrm>
            <a:off x="551657" y="5601532"/>
            <a:ext cx="2109641" cy="792525"/>
          </a:xfrm>
          <a:prstGeom prst="rect">
            <a:avLst/>
          </a:prstGeom>
          <a:noFill/>
        </p:spPr>
        <p:txBody>
          <a:bodyPr wrap="square" lIns="137160" tIns="68580" rIns="137160" bIns="68580" rtlCol="0">
            <a:spAutoFit/>
          </a:bodyPr>
          <a:lstStyle/>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a:ln>
                  <a:noFill/>
                </a:ln>
                <a:solidFill>
                  <a:srgbClr val="575757"/>
                </a:solidFill>
                <a:effectLst/>
                <a:uLnTx/>
                <a:uFillTx/>
                <a:latin typeface="Trebuchet MS"/>
                <a:ea typeface="+mn-ea"/>
                <a:cs typeface="+mn-cs"/>
              </a:rPr>
              <a:t>Lotta Nyberg</a:t>
            </a:r>
          </a:p>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a:ln>
                  <a:noFill/>
                </a:ln>
                <a:solidFill>
                  <a:srgbClr val="6E6F73"/>
                </a:solidFill>
                <a:effectLst/>
                <a:uLnTx/>
                <a:uFillTx/>
                <a:latin typeface="Trebuchet MS"/>
                <a:ea typeface="+mn-ea"/>
                <a:cs typeface="+mn-cs"/>
              </a:rPr>
              <a:t>Consultant</a:t>
            </a:r>
          </a:p>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a:ln>
                  <a:noFill/>
                </a:ln>
                <a:solidFill>
                  <a:srgbClr val="6E6F73"/>
                </a:solidFill>
                <a:effectLst/>
                <a:uLnTx/>
                <a:uFillTx/>
                <a:latin typeface="Trebuchet MS"/>
                <a:ea typeface="+mn-ea"/>
                <a:cs typeface="+mn-cs"/>
              </a:rPr>
              <a:t>Helsinki</a:t>
            </a:r>
          </a:p>
        </p:txBody>
      </p:sp>
      <p:pic>
        <p:nvPicPr>
          <p:cNvPr id="18" name="Picture 17"/>
          <p:cNvPicPr>
            <a:picLocks noChangeAspect="1"/>
          </p:cNvPicPr>
          <p:nvPr/>
        </p:nvPicPr>
        <p:blipFill>
          <a:blip r:embed="rId8">
            <a:extLst>
              <a:ext uri="{28A0092B-C50C-407E-A947-70E740481C1C}">
                <a14:useLocalDpi xmlns:a14="http://schemas.microsoft.com/office/drawing/2010/main" val="0"/>
              </a:ext>
            </a:extLst>
          </a:blip>
          <a:srcRect l="1139" r="1139"/>
          <a:stretch>
            <a:fillRect/>
          </a:stretch>
        </p:blipFill>
        <p:spPr>
          <a:xfrm>
            <a:off x="1201882" y="1718925"/>
            <a:ext cx="1034684" cy="1034684"/>
          </a:xfrm>
          <a:prstGeom prst="ellipse">
            <a:avLst/>
          </a:prstGeom>
          <a:grpFill/>
          <a:ln w="23813">
            <a:gradFill flip="none" rotWithShape="1">
              <a:gsLst>
                <a:gs pos="0">
                  <a:schemeClr val="accent2"/>
                </a:gs>
                <a:gs pos="100000">
                  <a:schemeClr val="tx2"/>
                </a:gs>
              </a:gsLst>
              <a:lin ang="2700000" scaled="1"/>
            </a:gradFill>
          </a:ln>
        </p:spPr>
      </p:pic>
      <p:sp>
        <p:nvSpPr>
          <p:cNvPr id="49" name="TextBox 48"/>
          <p:cNvSpPr txBox="1"/>
          <p:nvPr/>
        </p:nvSpPr>
        <p:spPr>
          <a:xfrm>
            <a:off x="641761" y="2793007"/>
            <a:ext cx="2154926" cy="1567737"/>
          </a:xfrm>
          <a:prstGeom prst="rect">
            <a:avLst/>
          </a:prstGeom>
          <a:noFill/>
        </p:spPr>
        <p:txBody>
          <a:bodyPr wrap="square" lIns="137160" tIns="68580" rIns="137160" bIns="68580" rtlCol="0">
            <a:spAutoFit/>
          </a:bodyPr>
          <a:lstStyle/>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err="1">
                <a:ln>
                  <a:noFill/>
                </a:ln>
                <a:solidFill>
                  <a:srgbClr val="575757"/>
                </a:solidFill>
                <a:effectLst/>
                <a:uLnTx/>
                <a:uFillTx/>
                <a:latin typeface="Trebuchet MS"/>
                <a:ea typeface="+mn-ea"/>
                <a:cs typeface="+mn-cs"/>
              </a:rPr>
              <a:t>Roope</a:t>
            </a:r>
            <a:r>
              <a:rPr kumimoji="0" lang="en-US" sz="1750" b="0" i="0" u="none" strike="noStrike" kern="1200" cap="none" spc="0" normalizeH="0" baseline="0" noProof="0">
                <a:ln>
                  <a:noFill/>
                </a:ln>
                <a:solidFill>
                  <a:srgbClr val="575757"/>
                </a:solidFill>
                <a:effectLst/>
                <a:uLnTx/>
                <a:uFillTx/>
                <a:latin typeface="Trebuchet MS"/>
                <a:ea typeface="+mn-ea"/>
                <a:cs typeface="+mn-cs"/>
              </a:rPr>
              <a:t> </a:t>
            </a:r>
            <a:r>
              <a:rPr kumimoji="0" lang="en-US" sz="1750" b="0" i="0" u="none" strike="noStrike" kern="1200" cap="none" spc="0" normalizeH="0" baseline="0" noProof="0" err="1">
                <a:ln>
                  <a:noFill/>
                </a:ln>
                <a:solidFill>
                  <a:srgbClr val="575757"/>
                </a:solidFill>
                <a:effectLst/>
                <a:uLnTx/>
                <a:uFillTx/>
                <a:latin typeface="Trebuchet MS"/>
                <a:ea typeface="+mn-ea"/>
                <a:cs typeface="+mn-cs"/>
              </a:rPr>
              <a:t>Talasmaa</a:t>
            </a:r>
            <a:endParaRPr kumimoji="0" lang="en-US" sz="1750" b="0" i="0" u="none" strike="noStrike" kern="1200" cap="none" spc="0" normalizeH="0" baseline="0" noProof="0">
              <a:ln>
                <a:noFill/>
              </a:ln>
              <a:solidFill>
                <a:srgbClr val="575757"/>
              </a:solidFill>
              <a:effectLst/>
              <a:uLnTx/>
              <a:uFillTx/>
              <a:latin typeface="Trebuchet MS"/>
              <a:ea typeface="+mn-ea"/>
              <a:cs typeface="+mn-cs"/>
            </a:endParaRPr>
          </a:p>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a:ln>
                  <a:noFill/>
                </a:ln>
                <a:solidFill>
                  <a:srgbClr val="7F7F7F"/>
                </a:solidFill>
                <a:effectLst/>
                <a:uLnTx/>
                <a:uFillTx/>
                <a:latin typeface="Trebuchet MS"/>
                <a:ea typeface="+mn-ea"/>
                <a:cs typeface="+mn-cs"/>
              </a:rPr>
              <a:t>Managing Director and Partner</a:t>
            </a:r>
          </a:p>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a:ln>
                  <a:noFill/>
                </a:ln>
                <a:solidFill>
                  <a:srgbClr val="7F7F7F"/>
                </a:solidFill>
                <a:effectLst/>
                <a:uLnTx/>
                <a:uFillTx/>
                <a:latin typeface="Trebuchet MS"/>
                <a:ea typeface="+mn-ea"/>
                <a:cs typeface="+mn-cs"/>
              </a:rPr>
              <a:t>Helsinki</a:t>
            </a:r>
          </a:p>
        </p:txBody>
      </p:sp>
      <p:sp>
        <p:nvSpPr>
          <p:cNvPr id="47" name="TextBox 46"/>
          <p:cNvSpPr txBox="1"/>
          <p:nvPr/>
        </p:nvSpPr>
        <p:spPr>
          <a:xfrm>
            <a:off x="2804776" y="2793007"/>
            <a:ext cx="2297015" cy="984885"/>
          </a:xfrm>
          <a:prstGeom prst="rect">
            <a:avLst/>
          </a:prstGeom>
          <a:noFill/>
        </p:spPr>
        <p:txBody>
          <a:bodyPr wrap="square" lIns="137160" tIns="68580" rIns="137160" bIns="68580" rtlCol="0">
            <a:spAutoFit/>
          </a:bodyPr>
          <a:lstStyle/>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a:ln>
                  <a:noFill/>
                </a:ln>
                <a:solidFill>
                  <a:srgbClr val="575757"/>
                </a:solidFill>
                <a:effectLst/>
                <a:uLnTx/>
                <a:uFillTx/>
                <a:latin typeface="Trebuchet MS"/>
                <a:ea typeface="+mn-ea"/>
                <a:cs typeface="+mn-cs"/>
              </a:rPr>
              <a:t>Michael </a:t>
            </a:r>
            <a:r>
              <a:rPr kumimoji="0" lang="en-US" sz="1750" b="0" i="0" u="none" strike="noStrike" kern="1200" cap="none" spc="0" normalizeH="0" baseline="0" noProof="0" err="1">
                <a:ln>
                  <a:noFill/>
                </a:ln>
                <a:solidFill>
                  <a:srgbClr val="575757"/>
                </a:solidFill>
                <a:effectLst/>
                <a:uLnTx/>
                <a:uFillTx/>
                <a:latin typeface="Trebuchet MS"/>
                <a:ea typeface="+mn-ea"/>
                <a:cs typeface="+mn-cs"/>
              </a:rPr>
              <a:t>Widowitz</a:t>
            </a:r>
            <a:endParaRPr kumimoji="0" lang="en-US" sz="1750" b="0" i="0" u="none" strike="noStrike" kern="1200" cap="none" spc="0" normalizeH="0" baseline="0" noProof="0">
              <a:ln>
                <a:noFill/>
              </a:ln>
              <a:solidFill>
                <a:srgbClr val="575757"/>
              </a:solidFill>
              <a:effectLst/>
              <a:uLnTx/>
              <a:uFillTx/>
              <a:latin typeface="Trebuchet MS"/>
              <a:ea typeface="+mn-ea"/>
              <a:cs typeface="+mn-cs"/>
            </a:endParaRPr>
          </a:p>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a:ln>
                  <a:noFill/>
                </a:ln>
                <a:solidFill>
                  <a:srgbClr val="6E6F73"/>
                </a:solidFill>
                <a:effectLst/>
                <a:uLnTx/>
                <a:uFillTx/>
                <a:latin typeface="Trebuchet MS"/>
                <a:ea typeface="+mn-ea"/>
                <a:cs typeface="+mn-cs"/>
              </a:rPr>
              <a:t>Managing Director and Partner</a:t>
            </a:r>
          </a:p>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a:ln>
                  <a:noFill/>
                </a:ln>
                <a:solidFill>
                  <a:srgbClr val="6E6F73"/>
                </a:solidFill>
                <a:effectLst/>
                <a:uLnTx/>
                <a:uFillTx/>
                <a:latin typeface="Trebuchet MS"/>
                <a:ea typeface="+mn-ea"/>
                <a:cs typeface="+mn-cs"/>
              </a:rPr>
              <a:t>Vienna</a:t>
            </a:r>
          </a:p>
        </p:txBody>
      </p:sp>
      <p:pic>
        <p:nvPicPr>
          <p:cNvPr id="22" name="Picture 21"/>
          <p:cNvPicPr>
            <a:picLocks noChangeAspect="1"/>
          </p:cNvPicPr>
          <p:nvPr/>
        </p:nvPicPr>
        <p:blipFill>
          <a:blip r:embed="rId9"/>
          <a:srcRect t="132" b="132"/>
          <a:stretch/>
        </p:blipFill>
        <p:spPr>
          <a:xfrm>
            <a:off x="7710262" y="1718925"/>
            <a:ext cx="1034684" cy="1034684"/>
          </a:xfrm>
          <a:prstGeom prst="ellipse">
            <a:avLst/>
          </a:prstGeom>
          <a:grpFill/>
          <a:ln w="23813">
            <a:gradFill flip="none" rotWithShape="1">
              <a:gsLst>
                <a:gs pos="0">
                  <a:schemeClr val="accent2"/>
                </a:gs>
                <a:gs pos="100000">
                  <a:schemeClr val="tx2"/>
                </a:gs>
              </a:gsLst>
              <a:lin ang="2700000" scaled="1"/>
            </a:gradFill>
          </a:ln>
        </p:spPr>
      </p:pic>
      <p:sp>
        <p:nvSpPr>
          <p:cNvPr id="72" name="TextBox 71"/>
          <p:cNvSpPr txBox="1"/>
          <p:nvPr/>
        </p:nvSpPr>
        <p:spPr>
          <a:xfrm>
            <a:off x="7105310" y="2793007"/>
            <a:ext cx="2237656" cy="792525"/>
          </a:xfrm>
          <a:prstGeom prst="rect">
            <a:avLst/>
          </a:prstGeom>
          <a:noFill/>
        </p:spPr>
        <p:txBody>
          <a:bodyPr wrap="square" lIns="137160" tIns="68580" rIns="137160" bIns="68580" rtlCol="0">
            <a:spAutoFit/>
          </a:bodyPr>
          <a:lstStyle/>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a:ln>
                  <a:noFill/>
                </a:ln>
                <a:solidFill>
                  <a:srgbClr val="575757"/>
                </a:solidFill>
                <a:effectLst/>
                <a:uLnTx/>
                <a:uFillTx/>
                <a:latin typeface="Trebuchet MS"/>
                <a:ea typeface="+mn-ea"/>
                <a:cs typeface="+mn-cs"/>
              </a:rPr>
              <a:t>Henri </a:t>
            </a:r>
            <a:r>
              <a:rPr kumimoji="0" lang="en-US" sz="1750" b="0" i="0" u="none" strike="noStrike" kern="1200" cap="none" spc="0" normalizeH="0" baseline="0" noProof="0" err="1">
                <a:ln>
                  <a:noFill/>
                </a:ln>
                <a:solidFill>
                  <a:srgbClr val="575757"/>
                </a:solidFill>
                <a:effectLst/>
                <a:uLnTx/>
                <a:uFillTx/>
                <a:latin typeface="Trebuchet MS"/>
                <a:ea typeface="+mn-ea"/>
                <a:cs typeface="+mn-cs"/>
              </a:rPr>
              <a:t>Kotiaho</a:t>
            </a:r>
            <a:endParaRPr kumimoji="0" lang="en-US" sz="1750" b="0" i="0" u="none" strike="noStrike" kern="1200" cap="none" spc="0" normalizeH="0" baseline="0" noProof="0">
              <a:ln>
                <a:noFill/>
              </a:ln>
              <a:solidFill>
                <a:srgbClr val="575757"/>
              </a:solidFill>
              <a:effectLst/>
              <a:uLnTx/>
              <a:uFillTx/>
              <a:latin typeface="Trebuchet MS"/>
              <a:ea typeface="+mn-ea"/>
              <a:cs typeface="+mn-cs"/>
            </a:endParaRPr>
          </a:p>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a:ln>
                  <a:noFill/>
                </a:ln>
                <a:solidFill>
                  <a:srgbClr val="6E6F73"/>
                </a:solidFill>
                <a:effectLst/>
                <a:uLnTx/>
                <a:uFillTx/>
                <a:latin typeface="Trebuchet MS"/>
                <a:ea typeface="+mn-ea"/>
                <a:cs typeface="+mn-cs"/>
              </a:rPr>
              <a:t>Principal</a:t>
            </a:r>
          </a:p>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a:ln>
                  <a:noFill/>
                </a:ln>
                <a:solidFill>
                  <a:srgbClr val="6E6F73"/>
                </a:solidFill>
                <a:effectLst/>
                <a:uLnTx/>
                <a:uFillTx/>
                <a:latin typeface="Trebuchet MS"/>
                <a:ea typeface="+mn-ea"/>
                <a:cs typeface="+mn-cs"/>
              </a:rPr>
              <a:t>Helsinki</a:t>
            </a:r>
          </a:p>
        </p:txBody>
      </p:sp>
      <p:pic>
        <p:nvPicPr>
          <p:cNvPr id="50" name="Picture 4" descr="profile pic">
            <a:extLst>
              <a:ext uri="{FF2B5EF4-FFF2-40B4-BE49-F238E27FC236}">
                <a16:creationId xmlns:a16="http://schemas.microsoft.com/office/drawing/2014/main" id="{30817502-68C6-45E9-9AA5-D51D1CC0EF8E}"/>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364444" y="1698336"/>
            <a:ext cx="1055378" cy="1034684"/>
          </a:xfrm>
          <a:prstGeom prst="ellipse">
            <a:avLst/>
          </a:prstGeom>
          <a:grpFill/>
          <a:ln w="19050">
            <a:gradFill flip="none" rotWithShape="1">
              <a:gsLst>
                <a:gs pos="0">
                  <a:schemeClr val="accent2"/>
                </a:gs>
                <a:gs pos="100000">
                  <a:schemeClr val="tx2"/>
                </a:gs>
              </a:gsLst>
              <a:lin ang="2700000" scaled="1"/>
              <a:tileRect/>
            </a:gradFill>
          </a:ln>
        </p:spPr>
      </p:pic>
      <p:pic>
        <p:nvPicPr>
          <p:cNvPr id="51" name="Picture 6" descr="profile pic">
            <a:extLst>
              <a:ext uri="{FF2B5EF4-FFF2-40B4-BE49-F238E27FC236}">
                <a16:creationId xmlns:a16="http://schemas.microsoft.com/office/drawing/2014/main" id="{3FA33EFD-F749-44E9-BB2A-E1F1821EFD1D}"/>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872824" y="1695762"/>
            <a:ext cx="1034684" cy="1034684"/>
          </a:xfrm>
          <a:prstGeom prst="ellipse">
            <a:avLst/>
          </a:prstGeom>
          <a:grpFill/>
          <a:ln w="19050">
            <a:gradFill flip="none" rotWithShape="1">
              <a:gsLst>
                <a:gs pos="0">
                  <a:schemeClr val="accent2"/>
                </a:gs>
                <a:gs pos="100000">
                  <a:schemeClr val="tx2"/>
                </a:gs>
              </a:gsLst>
              <a:lin ang="2700000" scaled="1"/>
              <a:tileRect/>
            </a:gradFill>
          </a:ln>
        </p:spPr>
      </p:pic>
      <p:sp>
        <p:nvSpPr>
          <p:cNvPr id="52" name="TextBox 51">
            <a:extLst>
              <a:ext uri="{FF2B5EF4-FFF2-40B4-BE49-F238E27FC236}">
                <a16:creationId xmlns:a16="http://schemas.microsoft.com/office/drawing/2014/main" id="{4B2C3793-713E-4D9A-87B0-238886CA536C}"/>
              </a:ext>
            </a:extLst>
          </p:cNvPr>
          <p:cNvSpPr txBox="1"/>
          <p:nvPr/>
        </p:nvSpPr>
        <p:spPr>
          <a:xfrm>
            <a:off x="9342966" y="2793007"/>
            <a:ext cx="2237656" cy="984885"/>
          </a:xfrm>
          <a:prstGeom prst="rect">
            <a:avLst/>
          </a:prstGeom>
          <a:noFill/>
        </p:spPr>
        <p:txBody>
          <a:bodyPr wrap="square" lIns="137160" tIns="68580" rIns="137160" bIns="68580" rtlCol="0">
            <a:spAutoFit/>
          </a:bodyPr>
          <a:lstStyle/>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err="1">
                <a:ln>
                  <a:noFill/>
                </a:ln>
                <a:solidFill>
                  <a:srgbClr val="575757"/>
                </a:solidFill>
                <a:effectLst/>
                <a:uLnTx/>
                <a:uFillTx/>
                <a:latin typeface="Trebuchet MS"/>
                <a:ea typeface="+mn-ea"/>
                <a:cs typeface="+mn-cs"/>
              </a:rPr>
              <a:t>Rafal</a:t>
            </a:r>
            <a:r>
              <a:rPr kumimoji="0" lang="en-US" sz="1750" b="0" i="0" u="none" strike="noStrike" kern="1200" cap="none" spc="0" normalizeH="0" baseline="0" noProof="0">
                <a:ln>
                  <a:noFill/>
                </a:ln>
                <a:solidFill>
                  <a:srgbClr val="575757"/>
                </a:solidFill>
                <a:effectLst/>
                <a:uLnTx/>
                <a:uFillTx/>
                <a:latin typeface="Trebuchet MS"/>
                <a:ea typeface="+mn-ea"/>
                <a:cs typeface="+mn-cs"/>
              </a:rPr>
              <a:t> </a:t>
            </a:r>
            <a:r>
              <a:rPr kumimoji="0" lang="en-US" sz="1750" b="0" i="0" u="none" strike="noStrike" kern="1200" cap="none" spc="0" normalizeH="0" baseline="0" noProof="0" err="1">
                <a:ln>
                  <a:noFill/>
                </a:ln>
                <a:solidFill>
                  <a:srgbClr val="575757"/>
                </a:solidFill>
                <a:effectLst/>
                <a:uLnTx/>
                <a:uFillTx/>
                <a:latin typeface="Trebuchet MS"/>
                <a:ea typeface="+mn-ea"/>
                <a:cs typeface="+mn-cs"/>
              </a:rPr>
              <a:t>Cegiela</a:t>
            </a:r>
            <a:endParaRPr kumimoji="0" lang="en-US" sz="1750" b="0" i="0" u="none" strike="noStrike" kern="1200" cap="none" spc="0" normalizeH="0" baseline="0" noProof="0">
              <a:ln>
                <a:noFill/>
              </a:ln>
              <a:solidFill>
                <a:srgbClr val="575757"/>
              </a:solidFill>
              <a:effectLst/>
              <a:uLnTx/>
              <a:uFillTx/>
              <a:latin typeface="Trebuchet MS"/>
              <a:ea typeface="+mn-ea"/>
              <a:cs typeface="+mn-cs"/>
            </a:endParaRPr>
          </a:p>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a:ln>
                  <a:noFill/>
                </a:ln>
                <a:solidFill>
                  <a:srgbClr val="6E6F73"/>
                </a:solidFill>
                <a:effectLst/>
                <a:uLnTx/>
                <a:uFillTx/>
                <a:latin typeface="Trebuchet MS"/>
                <a:ea typeface="+mn-ea"/>
                <a:cs typeface="+mn-cs"/>
              </a:rPr>
              <a:t>Associate Director, Data Science</a:t>
            </a:r>
          </a:p>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a:ln>
                  <a:noFill/>
                </a:ln>
                <a:solidFill>
                  <a:srgbClr val="6E6F73"/>
                </a:solidFill>
                <a:effectLst/>
                <a:uLnTx/>
                <a:uFillTx/>
                <a:latin typeface="Trebuchet MS"/>
                <a:ea typeface="+mn-ea"/>
                <a:cs typeface="+mn-cs"/>
              </a:rPr>
              <a:t>Warsaw</a:t>
            </a:r>
          </a:p>
        </p:txBody>
      </p:sp>
      <p:sp>
        <p:nvSpPr>
          <p:cNvPr id="54" name="TextBox 53">
            <a:extLst>
              <a:ext uri="{FF2B5EF4-FFF2-40B4-BE49-F238E27FC236}">
                <a16:creationId xmlns:a16="http://schemas.microsoft.com/office/drawing/2014/main" id="{FD06DEF6-5D13-42A2-8742-68917DBF70C7}"/>
              </a:ext>
            </a:extLst>
          </p:cNvPr>
          <p:cNvSpPr txBox="1"/>
          <p:nvPr/>
        </p:nvSpPr>
        <p:spPr>
          <a:xfrm>
            <a:off x="2741633" y="5601532"/>
            <a:ext cx="2109641" cy="984885"/>
          </a:xfrm>
          <a:prstGeom prst="rect">
            <a:avLst/>
          </a:prstGeom>
          <a:noFill/>
        </p:spPr>
        <p:txBody>
          <a:bodyPr wrap="square" lIns="137160" tIns="68580" rIns="137160" bIns="68580" rtlCol="0">
            <a:spAutoFit/>
          </a:bodyPr>
          <a:lstStyle/>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a:ln>
                  <a:noFill/>
                </a:ln>
                <a:solidFill>
                  <a:srgbClr val="575757"/>
                </a:solidFill>
                <a:effectLst/>
                <a:uLnTx/>
                <a:uFillTx/>
                <a:latin typeface="Trebuchet MS"/>
                <a:ea typeface="+mn-ea"/>
                <a:cs typeface="+mn-cs"/>
              </a:rPr>
              <a:t>Max </a:t>
            </a:r>
            <a:r>
              <a:rPr kumimoji="0" lang="en-US" sz="1750" b="0" i="0" u="none" strike="noStrike" kern="1200" cap="none" spc="0" normalizeH="0" baseline="0" noProof="0" err="1">
                <a:ln>
                  <a:noFill/>
                </a:ln>
                <a:solidFill>
                  <a:srgbClr val="575757"/>
                </a:solidFill>
                <a:effectLst/>
                <a:uLnTx/>
                <a:uFillTx/>
                <a:latin typeface="Trebuchet MS"/>
                <a:ea typeface="+mn-ea"/>
                <a:cs typeface="+mn-cs"/>
              </a:rPr>
              <a:t>Lueddemann</a:t>
            </a:r>
            <a:endParaRPr kumimoji="0" lang="en-US" sz="1750" b="0" i="0" u="none" strike="noStrike" kern="1200" cap="none" spc="0" normalizeH="0" baseline="0" noProof="0">
              <a:ln>
                <a:noFill/>
              </a:ln>
              <a:solidFill>
                <a:srgbClr val="575757"/>
              </a:solidFill>
              <a:effectLst/>
              <a:uLnTx/>
              <a:uFillTx/>
              <a:latin typeface="Trebuchet MS"/>
              <a:ea typeface="+mn-ea"/>
              <a:cs typeface="+mn-cs"/>
            </a:endParaRPr>
          </a:p>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a:ln>
                  <a:noFill/>
                </a:ln>
                <a:solidFill>
                  <a:srgbClr val="6E6F73"/>
                </a:solidFill>
                <a:effectLst/>
                <a:uLnTx/>
                <a:uFillTx/>
                <a:latin typeface="Trebuchet MS"/>
                <a:ea typeface="+mn-ea"/>
                <a:cs typeface="+mn-cs"/>
              </a:rPr>
              <a:t>Gamma Senior Data Scientist</a:t>
            </a:r>
          </a:p>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a:ln>
                  <a:noFill/>
                </a:ln>
                <a:solidFill>
                  <a:srgbClr val="6E6F73"/>
                </a:solidFill>
                <a:effectLst/>
                <a:uLnTx/>
                <a:uFillTx/>
                <a:latin typeface="Trebuchet MS"/>
                <a:ea typeface="+mn-ea"/>
                <a:cs typeface="+mn-cs"/>
              </a:rPr>
              <a:t>Berlin</a:t>
            </a:r>
          </a:p>
        </p:txBody>
      </p:sp>
      <p:sp>
        <p:nvSpPr>
          <p:cNvPr id="58" name="TextBox 57">
            <a:extLst>
              <a:ext uri="{FF2B5EF4-FFF2-40B4-BE49-F238E27FC236}">
                <a16:creationId xmlns:a16="http://schemas.microsoft.com/office/drawing/2014/main" id="{FB3FDF2B-1B1F-4FA9-AC31-AAEC7452EACD}"/>
              </a:ext>
            </a:extLst>
          </p:cNvPr>
          <p:cNvSpPr txBox="1"/>
          <p:nvPr/>
        </p:nvSpPr>
        <p:spPr>
          <a:xfrm>
            <a:off x="4655237" y="5601532"/>
            <a:ext cx="2109641" cy="792525"/>
          </a:xfrm>
          <a:prstGeom prst="rect">
            <a:avLst/>
          </a:prstGeom>
          <a:noFill/>
        </p:spPr>
        <p:txBody>
          <a:bodyPr wrap="square" lIns="137160" tIns="68580" rIns="137160" bIns="68580" rtlCol="0">
            <a:spAutoFit/>
          </a:bodyPr>
          <a:lstStyle/>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a:ln>
                  <a:noFill/>
                </a:ln>
                <a:solidFill>
                  <a:srgbClr val="575757"/>
                </a:solidFill>
                <a:effectLst/>
                <a:uLnTx/>
                <a:uFillTx/>
                <a:latin typeface="Trebuchet MS"/>
                <a:ea typeface="+mn-ea"/>
                <a:cs typeface="+mn-cs"/>
              </a:rPr>
              <a:t>Linda Hong</a:t>
            </a:r>
          </a:p>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a:ln>
                  <a:noFill/>
                </a:ln>
                <a:solidFill>
                  <a:srgbClr val="6E6F73"/>
                </a:solidFill>
                <a:effectLst/>
                <a:uLnTx/>
                <a:uFillTx/>
                <a:latin typeface="Trebuchet MS"/>
                <a:ea typeface="+mn-ea"/>
                <a:cs typeface="+mn-cs"/>
              </a:rPr>
              <a:t>Gamma Data Scientist</a:t>
            </a:r>
          </a:p>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a:ln>
                  <a:noFill/>
                </a:ln>
                <a:solidFill>
                  <a:srgbClr val="6E6F73"/>
                </a:solidFill>
                <a:effectLst/>
                <a:uLnTx/>
                <a:uFillTx/>
                <a:latin typeface="Trebuchet MS"/>
                <a:ea typeface="+mn-ea"/>
                <a:cs typeface="+mn-cs"/>
              </a:rPr>
              <a:t>Berlin</a:t>
            </a:r>
          </a:p>
        </p:txBody>
      </p:sp>
      <p:sp>
        <p:nvSpPr>
          <p:cNvPr id="59" name="ColumnHeader">
            <a:extLst>
              <a:ext uri="{FF2B5EF4-FFF2-40B4-BE49-F238E27FC236}">
                <a16:creationId xmlns:a16="http://schemas.microsoft.com/office/drawing/2014/main" id="{E56802A4-04B4-42E6-922C-BEBAD7F12A58}"/>
              </a:ext>
            </a:extLst>
          </p:cNvPr>
          <p:cNvSpPr txBox="1"/>
          <p:nvPr/>
        </p:nvSpPr>
        <p:spPr>
          <a:xfrm>
            <a:off x="7165288" y="3887494"/>
            <a:ext cx="4708160" cy="320084"/>
          </a:xfrm>
          <a:prstGeom prst="rect">
            <a:avLst/>
          </a:prstGeom>
          <a:noFill/>
          <a:ln w="9525" algn="ctr">
            <a:noFill/>
            <a:miter lim="800000"/>
            <a:headEnd type="none" w="lg" len="lg"/>
            <a:tailEnd type="none" w="lg"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25400" dir="5400000" sx="99000" sy="99000" algn="ctr" rotWithShape="0">
                    <a:srgbClr val="177B57"/>
                  </a:outerShdw>
                </a:effectLst>
              </a14:hiddenEffects>
            </a:ext>
          </a:extLst>
        </p:spPr>
        <p:txBody>
          <a:bodyPr vert="horz" wrap="square" lIns="0" tIns="0" rIns="0" bIns="0" anchor="b"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29BA74">
                    <a:lumMod val="100000"/>
                  </a:srgbClr>
                </a:solidFill>
                <a:effectLst/>
                <a:uLnTx/>
                <a:uFillTx/>
                <a:latin typeface="Trebuchet MS" panose="020B0603020202020204" pitchFamily="34" charset="0"/>
                <a:ea typeface="+mn-ea"/>
                <a:cs typeface="Arial" panose="020B0604020202020204" pitchFamily="34" charset="0"/>
              </a:rPr>
              <a:t>Need-based segments</a:t>
            </a:r>
          </a:p>
        </p:txBody>
      </p:sp>
      <p:cxnSp>
        <p:nvCxnSpPr>
          <p:cNvPr id="60" name="Straight Connector 59">
            <a:extLst>
              <a:ext uri="{FF2B5EF4-FFF2-40B4-BE49-F238E27FC236}">
                <a16:creationId xmlns:a16="http://schemas.microsoft.com/office/drawing/2014/main" id="{5FB185A4-99E3-46AF-A93F-482F565FB6C3}"/>
              </a:ext>
            </a:extLst>
          </p:cNvPr>
          <p:cNvCxnSpPr>
            <a:cxnSpLocks/>
          </p:cNvCxnSpPr>
          <p:nvPr/>
        </p:nvCxnSpPr>
        <p:spPr>
          <a:xfrm>
            <a:off x="7165288" y="4253341"/>
            <a:ext cx="4046426" cy="0"/>
          </a:xfrm>
          <a:prstGeom prst="line">
            <a:avLst/>
          </a:prstGeom>
          <a:ln w="9525" cap="rnd" cmpd="sng" algn="ctr">
            <a:solidFill>
              <a:srgbClr val="29BA74"/>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F466083C-9660-43D3-8511-E31351BE45AE}"/>
              </a:ext>
            </a:extLst>
          </p:cNvPr>
          <p:cNvSpPr txBox="1"/>
          <p:nvPr/>
        </p:nvSpPr>
        <p:spPr>
          <a:xfrm>
            <a:off x="6992432" y="5601532"/>
            <a:ext cx="2109641" cy="792525"/>
          </a:xfrm>
          <a:prstGeom prst="rect">
            <a:avLst/>
          </a:prstGeom>
          <a:noFill/>
        </p:spPr>
        <p:txBody>
          <a:bodyPr wrap="square" lIns="137160" tIns="68580" rIns="137160" bIns="68580" rtlCol="0">
            <a:spAutoFit/>
          </a:bodyPr>
          <a:lstStyle/>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a:ln>
                  <a:noFill/>
                </a:ln>
                <a:solidFill>
                  <a:srgbClr val="575757"/>
                </a:solidFill>
                <a:effectLst/>
                <a:uLnTx/>
                <a:uFillTx/>
                <a:latin typeface="Trebuchet MS"/>
                <a:ea typeface="+mn-ea"/>
                <a:cs typeface="+mn-cs"/>
              </a:rPr>
              <a:t>Lauri </a:t>
            </a:r>
            <a:r>
              <a:rPr kumimoji="0" lang="en-US" sz="1750" b="0" i="0" u="none" strike="noStrike" kern="1200" cap="none" spc="0" normalizeH="0" baseline="0" noProof="0" err="1">
                <a:ln>
                  <a:noFill/>
                </a:ln>
                <a:solidFill>
                  <a:srgbClr val="575757"/>
                </a:solidFill>
                <a:effectLst/>
                <a:uLnTx/>
                <a:uFillTx/>
                <a:latin typeface="Trebuchet MS"/>
                <a:ea typeface="+mn-ea"/>
                <a:cs typeface="+mn-cs"/>
              </a:rPr>
              <a:t>Hänninen</a:t>
            </a:r>
            <a:endParaRPr kumimoji="0" lang="en-US" sz="1750" b="0" i="0" u="none" strike="noStrike" kern="1200" cap="none" spc="0" normalizeH="0" baseline="0" noProof="0">
              <a:ln>
                <a:noFill/>
              </a:ln>
              <a:solidFill>
                <a:srgbClr val="575757"/>
              </a:solidFill>
              <a:effectLst/>
              <a:uLnTx/>
              <a:uFillTx/>
              <a:latin typeface="Trebuchet MS"/>
              <a:ea typeface="+mn-ea"/>
              <a:cs typeface="+mn-cs"/>
            </a:endParaRPr>
          </a:p>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a:ln>
                  <a:noFill/>
                </a:ln>
                <a:solidFill>
                  <a:srgbClr val="6E6F73"/>
                </a:solidFill>
                <a:effectLst/>
                <a:uLnTx/>
                <a:uFillTx/>
                <a:latin typeface="Trebuchet MS"/>
                <a:ea typeface="+mn-ea"/>
                <a:cs typeface="+mn-cs"/>
              </a:rPr>
              <a:t>Associate</a:t>
            </a:r>
          </a:p>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a:ln>
                  <a:noFill/>
                </a:ln>
                <a:solidFill>
                  <a:srgbClr val="6E6F73"/>
                </a:solidFill>
                <a:effectLst/>
                <a:uLnTx/>
                <a:uFillTx/>
                <a:latin typeface="Trebuchet MS"/>
                <a:ea typeface="+mn-ea"/>
                <a:cs typeface="+mn-cs"/>
              </a:rPr>
              <a:t>Helsinki</a:t>
            </a:r>
          </a:p>
        </p:txBody>
      </p:sp>
      <p:sp>
        <p:nvSpPr>
          <p:cNvPr id="73" name="TextBox 72">
            <a:extLst>
              <a:ext uri="{FF2B5EF4-FFF2-40B4-BE49-F238E27FC236}">
                <a16:creationId xmlns:a16="http://schemas.microsoft.com/office/drawing/2014/main" id="{287C3ED9-053B-4500-A834-361A5BD08118}"/>
              </a:ext>
            </a:extLst>
          </p:cNvPr>
          <p:cNvSpPr txBox="1"/>
          <p:nvPr/>
        </p:nvSpPr>
        <p:spPr>
          <a:xfrm>
            <a:off x="9102073" y="5601532"/>
            <a:ext cx="2109641" cy="984885"/>
          </a:xfrm>
          <a:prstGeom prst="rect">
            <a:avLst/>
          </a:prstGeom>
          <a:noFill/>
          <a:extLst>
            <a:ext uri="{909E8E84-426E-40DD-AFC4-6F175D3DCCD1}">
              <a14:hiddenFill xmlns:a14="http://schemas.microsoft.com/office/drawing/2010/main">
                <a:solidFill>
                  <a:srgbClr val="FFFFFF"/>
                </a:solidFill>
              </a14:hiddenFill>
            </a:ext>
          </a:extLst>
        </p:spPr>
        <p:txBody>
          <a:bodyPr wrap="square" lIns="137160" tIns="68580" rIns="137160" bIns="68580" rtlCol="0">
            <a:spAutoFit/>
          </a:bodyPr>
          <a:lstStyle/>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a:ln>
                  <a:noFill/>
                </a:ln>
                <a:solidFill>
                  <a:srgbClr val="575757"/>
                </a:solidFill>
                <a:effectLst/>
                <a:uLnTx/>
                <a:uFillTx/>
                <a:latin typeface="Trebuchet MS"/>
                <a:ea typeface="+mn-ea"/>
                <a:cs typeface="+mn-cs"/>
              </a:rPr>
              <a:t>Tomas </a:t>
            </a:r>
            <a:r>
              <a:rPr kumimoji="0" lang="en-US" sz="1750" b="0" i="0" u="none" strike="noStrike" kern="1200" cap="none" spc="0" normalizeH="0" baseline="0" noProof="0" err="1">
                <a:ln>
                  <a:noFill/>
                </a:ln>
                <a:solidFill>
                  <a:srgbClr val="575757"/>
                </a:solidFill>
                <a:effectLst/>
                <a:uLnTx/>
                <a:uFillTx/>
                <a:latin typeface="Trebuchet MS"/>
                <a:ea typeface="+mn-ea"/>
                <a:cs typeface="+mn-cs"/>
              </a:rPr>
              <a:t>Andor</a:t>
            </a:r>
            <a:endParaRPr kumimoji="0" lang="en-US" sz="1750" b="0" i="0" u="none" strike="noStrike" kern="1200" cap="none" spc="0" normalizeH="0" baseline="0" noProof="0">
              <a:ln>
                <a:noFill/>
              </a:ln>
              <a:solidFill>
                <a:srgbClr val="575757"/>
              </a:solidFill>
              <a:effectLst/>
              <a:uLnTx/>
              <a:uFillTx/>
              <a:latin typeface="Trebuchet MS"/>
              <a:ea typeface="+mn-ea"/>
              <a:cs typeface="+mn-cs"/>
            </a:endParaRPr>
          </a:p>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a:ln>
                  <a:noFill/>
                </a:ln>
                <a:solidFill>
                  <a:srgbClr val="6E6F73"/>
                </a:solidFill>
                <a:effectLst/>
                <a:uLnTx/>
                <a:uFillTx/>
                <a:latin typeface="Trebuchet MS"/>
                <a:ea typeface="+mn-ea"/>
                <a:cs typeface="+mn-cs"/>
              </a:rPr>
              <a:t>Associate Director, Customer Centricity</a:t>
            </a:r>
          </a:p>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a:ln>
                  <a:noFill/>
                </a:ln>
                <a:solidFill>
                  <a:srgbClr val="6E6F73"/>
                </a:solidFill>
                <a:effectLst/>
                <a:uLnTx/>
                <a:uFillTx/>
                <a:latin typeface="Trebuchet MS"/>
                <a:ea typeface="+mn-ea"/>
                <a:cs typeface="+mn-cs"/>
              </a:rPr>
              <a:t>Hamburg</a:t>
            </a:r>
          </a:p>
        </p:txBody>
      </p:sp>
      <p:pic>
        <p:nvPicPr>
          <p:cNvPr id="1026" name="Picture 2" descr="high-res profile pic">
            <a:extLst>
              <a:ext uri="{FF2B5EF4-FFF2-40B4-BE49-F238E27FC236}">
                <a16:creationId xmlns:a16="http://schemas.microsoft.com/office/drawing/2014/main" id="{71A474C5-BCF6-4427-9E3A-EE1252FC6B2A}"/>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224287" y="4564327"/>
            <a:ext cx="1097392" cy="1034684"/>
          </a:xfrm>
          <a:prstGeom prst="ellipse">
            <a:avLst/>
          </a:prstGeom>
          <a:grpFill/>
          <a:ln w="23813">
            <a:gradFill flip="none" rotWithShape="1">
              <a:gsLst>
                <a:gs pos="0">
                  <a:schemeClr val="accent2"/>
                </a:gs>
                <a:gs pos="100000">
                  <a:schemeClr val="tx2"/>
                </a:gs>
              </a:gsLst>
              <a:lin ang="2700000" scaled="1"/>
            </a:gradFill>
          </a:ln>
        </p:spPr>
      </p:pic>
      <p:pic>
        <p:nvPicPr>
          <p:cNvPr id="1028" name="Picture 4" descr="high-res profile pic">
            <a:extLst>
              <a:ext uri="{FF2B5EF4-FFF2-40B4-BE49-F238E27FC236}">
                <a16:creationId xmlns:a16="http://schemas.microsoft.com/office/drawing/2014/main" id="{DDA98712-E2E5-43AA-8BEA-A9225949CC98}"/>
              </a:ext>
            </a:extLst>
          </p:cNvPr>
          <p:cNvPicPr>
            <a:picLocks noChangeAspect="1" noChangeArrowheads="1"/>
          </p:cNvPicPr>
          <p:nvPr/>
        </p:nvPicPr>
        <p:blipFill rotWithShape="1">
          <a:blip r:embed="rId13">
            <a:extLst>
              <a:ext uri="{28A0092B-C50C-407E-A947-70E740481C1C}">
                <a14:useLocalDpi xmlns:a14="http://schemas.microsoft.com/office/drawing/2010/main" val="0"/>
              </a:ext>
            </a:extLst>
          </a:blip>
          <a:srcRect b="11650"/>
          <a:stretch/>
        </p:blipFill>
        <p:spPr bwMode="auto">
          <a:xfrm>
            <a:off x="5201391" y="4504654"/>
            <a:ext cx="1062467" cy="1151010"/>
          </a:xfrm>
          <a:prstGeom prst="ellipse">
            <a:avLst/>
          </a:prstGeom>
          <a:grpFill/>
          <a:ln w="23813">
            <a:gradFill flip="none" rotWithShape="1">
              <a:gsLst>
                <a:gs pos="0">
                  <a:schemeClr val="accent2"/>
                </a:gs>
                <a:gs pos="100000">
                  <a:schemeClr val="tx2"/>
                </a:gs>
              </a:gsLst>
              <a:lin ang="2700000" scaled="1"/>
            </a:gradFill>
          </a:ln>
        </p:spPr>
      </p:pic>
      <p:pic>
        <p:nvPicPr>
          <p:cNvPr id="1030" name="Picture 6" descr="high-res profile pic">
            <a:extLst>
              <a:ext uri="{FF2B5EF4-FFF2-40B4-BE49-F238E27FC236}">
                <a16:creationId xmlns:a16="http://schemas.microsoft.com/office/drawing/2014/main" id="{72A0C29E-A3DD-4BFF-B62C-6C3B56F28674}"/>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576446" y="4548306"/>
            <a:ext cx="1062466" cy="1034684"/>
          </a:xfrm>
          <a:prstGeom prst="ellipse">
            <a:avLst/>
          </a:prstGeom>
          <a:grpFill/>
          <a:ln w="23813">
            <a:gradFill flip="none" rotWithShape="1">
              <a:gsLst>
                <a:gs pos="0">
                  <a:schemeClr val="accent2"/>
                </a:gs>
                <a:gs pos="100000">
                  <a:schemeClr val="tx2"/>
                </a:gs>
              </a:gsLst>
              <a:lin ang="2700000" scaled="1"/>
            </a:gradFill>
          </a:ln>
        </p:spPr>
      </p:pic>
      <p:pic>
        <p:nvPicPr>
          <p:cNvPr id="1032" name="Picture 8" descr="high-res profile pic">
            <a:extLst>
              <a:ext uri="{FF2B5EF4-FFF2-40B4-BE49-F238E27FC236}">
                <a16:creationId xmlns:a16="http://schemas.microsoft.com/office/drawing/2014/main" id="{5E48971B-EADB-4541-8AF2-E2B6D50F8D81}"/>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9628879" y="4548306"/>
            <a:ext cx="1042928" cy="1034684"/>
          </a:xfrm>
          <a:prstGeom prst="ellipse">
            <a:avLst/>
          </a:prstGeom>
          <a:grpFill/>
          <a:ln w="23813">
            <a:gradFill flip="none" rotWithShape="1">
              <a:gsLst>
                <a:gs pos="0">
                  <a:schemeClr val="accent2"/>
                </a:gs>
                <a:gs pos="100000">
                  <a:schemeClr val="tx2"/>
                </a:gs>
              </a:gsLst>
              <a:lin ang="2700000" scaled="1"/>
            </a:gradFill>
          </a:ln>
        </p:spPr>
      </p:pic>
      <p:cxnSp>
        <p:nvCxnSpPr>
          <p:cNvPr id="82" name="Straight Connector 81">
            <a:extLst>
              <a:ext uri="{FF2B5EF4-FFF2-40B4-BE49-F238E27FC236}">
                <a16:creationId xmlns:a16="http://schemas.microsoft.com/office/drawing/2014/main" id="{B4A1AFEB-672F-4539-B1FD-069468044E6B}"/>
              </a:ext>
            </a:extLst>
          </p:cNvPr>
          <p:cNvCxnSpPr>
            <a:cxnSpLocks/>
          </p:cNvCxnSpPr>
          <p:nvPr/>
        </p:nvCxnSpPr>
        <p:spPr>
          <a:xfrm>
            <a:off x="641761" y="4253341"/>
            <a:ext cx="5924139" cy="0"/>
          </a:xfrm>
          <a:prstGeom prst="line">
            <a:avLst/>
          </a:prstGeom>
          <a:ln w="9525" cap="rnd" cmpd="sng" algn="ctr">
            <a:solidFill>
              <a:srgbClr val="29BA74"/>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5" name="TextBox 84">
            <a:extLst>
              <a:ext uri="{FF2B5EF4-FFF2-40B4-BE49-F238E27FC236}">
                <a16:creationId xmlns:a16="http://schemas.microsoft.com/office/drawing/2014/main" id="{3B6A2C87-DE72-420A-8B91-3A55A293FD10}"/>
              </a:ext>
            </a:extLst>
          </p:cNvPr>
          <p:cNvSpPr txBox="1"/>
          <p:nvPr/>
        </p:nvSpPr>
        <p:spPr>
          <a:xfrm>
            <a:off x="4881687" y="2793007"/>
            <a:ext cx="2297015" cy="984885"/>
          </a:xfrm>
          <a:prstGeom prst="rect">
            <a:avLst/>
          </a:prstGeom>
          <a:noFill/>
        </p:spPr>
        <p:txBody>
          <a:bodyPr wrap="square" lIns="137160" tIns="68580" rIns="137160" bIns="68580" rtlCol="0">
            <a:spAutoFit/>
          </a:bodyPr>
          <a:lstStyle/>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a:ln>
                  <a:noFill/>
                </a:ln>
                <a:solidFill>
                  <a:srgbClr val="575757"/>
                </a:solidFill>
                <a:effectLst/>
                <a:uLnTx/>
                <a:uFillTx/>
                <a:latin typeface="Trebuchet MS"/>
                <a:ea typeface="+mn-ea"/>
                <a:cs typeface="+mn-cs"/>
              </a:rPr>
              <a:t>Javier </a:t>
            </a:r>
            <a:r>
              <a:rPr kumimoji="0" lang="en-US" sz="1750" b="0" i="0" u="none" strike="noStrike" kern="1200" cap="none" spc="0" normalizeH="0" baseline="0" noProof="0" err="1">
                <a:ln>
                  <a:noFill/>
                </a:ln>
                <a:solidFill>
                  <a:srgbClr val="575757"/>
                </a:solidFill>
                <a:effectLst/>
                <a:uLnTx/>
                <a:uFillTx/>
                <a:latin typeface="Trebuchet MS"/>
                <a:ea typeface="+mn-ea"/>
                <a:cs typeface="+mn-cs"/>
              </a:rPr>
              <a:t>Moiño</a:t>
            </a:r>
            <a:endParaRPr kumimoji="0" lang="en-US" sz="1750" b="0" i="0" u="none" strike="noStrike" kern="1200" cap="none" spc="0" normalizeH="0" baseline="0" noProof="0">
              <a:ln>
                <a:noFill/>
              </a:ln>
              <a:solidFill>
                <a:srgbClr val="575757"/>
              </a:solidFill>
              <a:effectLst/>
              <a:uLnTx/>
              <a:uFillTx/>
              <a:latin typeface="Trebuchet MS"/>
              <a:ea typeface="+mn-ea"/>
              <a:cs typeface="+mn-cs"/>
            </a:endParaRPr>
          </a:p>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a:ln>
                  <a:noFill/>
                </a:ln>
                <a:solidFill>
                  <a:srgbClr val="6E6F73"/>
                </a:solidFill>
                <a:effectLst/>
                <a:uLnTx/>
                <a:uFillTx/>
                <a:latin typeface="Trebuchet MS"/>
                <a:ea typeface="+mn-ea"/>
                <a:cs typeface="+mn-cs"/>
              </a:rPr>
              <a:t>Managing Director and Partner</a:t>
            </a:r>
          </a:p>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a:ln>
                  <a:noFill/>
                </a:ln>
                <a:solidFill>
                  <a:srgbClr val="6E6F73"/>
                </a:solidFill>
                <a:effectLst/>
                <a:uLnTx/>
                <a:uFillTx/>
                <a:latin typeface="Trebuchet MS"/>
                <a:ea typeface="+mn-ea"/>
                <a:cs typeface="+mn-cs"/>
              </a:rPr>
              <a:t>Madrid</a:t>
            </a:r>
          </a:p>
        </p:txBody>
      </p:sp>
      <p:pic>
        <p:nvPicPr>
          <p:cNvPr id="1038" name="Picture 14" descr="high-res profile pic">
            <a:extLst>
              <a:ext uri="{FF2B5EF4-FFF2-40B4-BE49-F238E27FC236}">
                <a16:creationId xmlns:a16="http://schemas.microsoft.com/office/drawing/2014/main" id="{8B0F741E-B691-4CEF-8C2F-B0A83707B9D4}"/>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547700" y="1735442"/>
            <a:ext cx="1034684" cy="1034684"/>
          </a:xfrm>
          <a:prstGeom prst="ellipse">
            <a:avLst/>
          </a:prstGeom>
          <a:grpFill/>
          <a:ln w="19050">
            <a:gradFill flip="none" rotWithShape="1">
              <a:gsLst>
                <a:gs pos="0">
                  <a:schemeClr val="accent2"/>
                </a:gs>
                <a:gs pos="100000">
                  <a:schemeClr val="tx2"/>
                </a:gs>
              </a:gsLst>
              <a:lin ang="2700000" scaled="1"/>
              <a:tileRect/>
            </a:gradFill>
          </a:ln>
        </p:spPr>
      </p:pic>
    </p:spTree>
    <p:extLst>
      <p:ext uri="{BB962C8B-B14F-4D97-AF65-F5344CB8AC3E}">
        <p14:creationId xmlns:p14="http://schemas.microsoft.com/office/powerpoint/2010/main" val="315043306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5" imgW="0" imgH="0" progId="TCLayout.ActiveDocument.1">
                  <p:embed/>
                </p:oleObj>
              </mc:Choice>
              <mc:Fallback>
                <p:oleObj name="think-cell Slide" r:id="rId5" imgW="0" imgH="0" progId="TCLayout.ActiveDocument.1">
                  <p:embed/>
                  <p:pic>
                    <p:nvPicPr>
                      <p:cNvPr id="5" name="Object 4" hidden="1"/>
                      <p:cNvPicPr/>
                      <p:nvPr/>
                    </p:nvPicPr>
                    <p:blipFill>
                      <a:blip r:embed="rId6"/>
                      <a:stretch>
                        <a:fillRect/>
                      </a:stretch>
                    </p:blipFill>
                    <p:spPr>
                      <a:xfrm>
                        <a:off x="2118" y="2118"/>
                        <a:ext cx="2117" cy="2117"/>
                      </a:xfrm>
                      <a:prstGeom prst="rect">
                        <a:avLst/>
                      </a:prstGeom>
                    </p:spPr>
                  </p:pic>
                </p:oleObj>
              </mc:Fallback>
            </mc:AlternateContent>
          </a:graphicData>
        </a:graphic>
      </p:graphicFrame>
      <p:sp>
        <p:nvSpPr>
          <p:cNvPr id="41" name="Rectangle 40" hidden="1"/>
          <p:cNvSpPr/>
          <p:nvPr>
            <p:custDataLst>
              <p:tags r:id="rId2"/>
            </p:custDataLst>
          </p:nvPr>
        </p:nvSpPr>
        <p:spPr>
          <a:xfrm>
            <a:off x="0" y="0"/>
            <a:ext cx="211667" cy="211667"/>
          </a:xfrm>
          <a:prstGeom prst="rect">
            <a:avLst/>
          </a:prstGeom>
          <a:solidFill>
            <a:schemeClr val="tx1"/>
          </a:solidFill>
          <a:ln w="9525" cap="rnd" cmpd="sng" algn="ctr">
            <a:solidFill>
              <a:schemeClr val="tx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rebuchet MS" panose="020B0603020202020204" pitchFamily="34" charset="0"/>
              <a:ea typeface="+mn-ea"/>
              <a:cs typeface="+mn-cs"/>
              <a:sym typeface="Trebuchet MS" panose="020B0603020202020204" pitchFamily="34" charset="0"/>
            </a:endParaRPr>
          </a:p>
        </p:txBody>
      </p:sp>
      <p:sp>
        <p:nvSpPr>
          <p:cNvPr id="4" name="Title 3"/>
          <p:cNvSpPr>
            <a:spLocks noGrp="1"/>
          </p:cNvSpPr>
          <p:nvPr>
            <p:ph type="title"/>
          </p:nvPr>
        </p:nvSpPr>
        <p:spPr/>
        <p:txBody>
          <a:bodyPr vert="horz"/>
          <a:lstStyle/>
          <a:p>
            <a:r>
              <a:rPr lang="en-US"/>
              <a:t>Case team contacts (2/2)</a:t>
            </a:r>
          </a:p>
        </p:txBody>
      </p:sp>
      <p:sp>
        <p:nvSpPr>
          <p:cNvPr id="55" name="ColumnHeader"/>
          <p:cNvSpPr txBox="1"/>
          <p:nvPr/>
        </p:nvSpPr>
        <p:spPr>
          <a:xfrm>
            <a:off x="732520" y="3887494"/>
            <a:ext cx="6469126" cy="320084"/>
          </a:xfrm>
          <a:prstGeom prst="rect">
            <a:avLst/>
          </a:prstGeom>
          <a:noFill/>
          <a:ln w="9525" algn="ctr">
            <a:noFill/>
            <a:miter lim="800000"/>
            <a:headEnd type="none" w="lg" len="lg"/>
            <a:tailEnd type="none" w="lg"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25400" dir="5400000" sx="99000" sy="99000" algn="ctr" rotWithShape="0">
                    <a:srgbClr val="177B57"/>
                  </a:outerShdw>
                </a:effectLst>
              </a14:hiddenEffects>
            </a:ext>
          </a:extLst>
        </p:spPr>
        <p:txBody>
          <a:bodyPr vert="horz" wrap="square" lIns="0" tIns="0" rIns="0" bIns="0" anchor="b"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29BA74">
                    <a:lumMod val="100000"/>
                  </a:srgbClr>
                </a:solidFill>
                <a:effectLst/>
                <a:uLnTx/>
                <a:uFillTx/>
                <a:latin typeface="Trebuchet MS" panose="020B0603020202020204" pitchFamily="34" charset="0"/>
                <a:ea typeface="+mn-ea"/>
                <a:cs typeface="Arial" panose="020B0604020202020204" pitchFamily="34" charset="0"/>
              </a:rPr>
              <a:t>Hyper-personalization – digital acquisition in 3</a:t>
            </a:r>
            <a:r>
              <a:rPr kumimoji="0" lang="en-US" sz="1800" b="0" i="0" u="none" strike="noStrike" kern="1200" cap="none" spc="0" normalizeH="0" baseline="30000" noProof="0">
                <a:ln>
                  <a:noFill/>
                </a:ln>
                <a:solidFill>
                  <a:srgbClr val="29BA74">
                    <a:lumMod val="100000"/>
                  </a:srgbClr>
                </a:solidFill>
                <a:effectLst/>
                <a:uLnTx/>
                <a:uFillTx/>
                <a:latin typeface="Trebuchet MS" panose="020B0603020202020204" pitchFamily="34" charset="0"/>
                <a:ea typeface="+mn-ea"/>
                <a:cs typeface="Arial" panose="020B0604020202020204" pitchFamily="34" charset="0"/>
              </a:rPr>
              <a:t>rd</a:t>
            </a:r>
            <a:r>
              <a:rPr kumimoji="0" lang="en-US" sz="1800" b="0" i="0" u="none" strike="noStrike" kern="1200" cap="none" spc="0" normalizeH="0" baseline="0" noProof="0">
                <a:ln>
                  <a:noFill/>
                </a:ln>
                <a:solidFill>
                  <a:srgbClr val="29BA74">
                    <a:lumMod val="100000"/>
                  </a:srgbClr>
                </a:solidFill>
                <a:effectLst/>
                <a:uLnTx/>
                <a:uFillTx/>
                <a:latin typeface="Trebuchet MS" panose="020B0603020202020204" pitchFamily="34" charset="0"/>
                <a:ea typeface="+mn-ea"/>
                <a:cs typeface="Arial" panose="020B0604020202020204" pitchFamily="34" charset="0"/>
              </a:rPr>
              <a:t> party channels</a:t>
            </a:r>
          </a:p>
        </p:txBody>
      </p:sp>
      <p:sp>
        <p:nvSpPr>
          <p:cNvPr id="32" name="ColumnHeader"/>
          <p:cNvSpPr txBox="1"/>
          <p:nvPr/>
        </p:nvSpPr>
        <p:spPr>
          <a:xfrm>
            <a:off x="594475" y="1193416"/>
            <a:ext cx="7118649" cy="257369"/>
          </a:xfrm>
          <a:prstGeom prst="rect">
            <a:avLst/>
          </a:prstGeom>
          <a:noFill/>
          <a:ln w="9525" algn="ctr">
            <a:noFill/>
            <a:miter lim="800000"/>
            <a:headEnd type="none" w="lg" len="lg"/>
            <a:tailEnd type="none" w="lg"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25400" dir="5400000" sx="99000" sy="99000" algn="ctr" rotWithShape="0">
                    <a:srgbClr val="177B57"/>
                  </a:outerShdw>
                </a:effectLst>
              </a14:hiddenEffects>
            </a:ext>
          </a:extLst>
        </p:spPr>
        <p:txBody>
          <a:bodyPr vert="horz" wrap="square" lIns="0" tIns="0" rIns="0" bIns="0" anchor="b"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29BA74">
                    <a:lumMod val="100000"/>
                  </a:srgbClr>
                </a:solidFill>
                <a:effectLst/>
                <a:uLnTx/>
                <a:uFillTx/>
                <a:latin typeface="Trebuchet MS" panose="020B0603020202020204" pitchFamily="34" charset="0"/>
                <a:ea typeface="+mn-ea"/>
                <a:cs typeface="Arial" panose="020B0604020202020204" pitchFamily="34" charset="0"/>
              </a:rPr>
              <a:t>Hyper-personalization – Customer DNA and model architecture</a:t>
            </a:r>
          </a:p>
        </p:txBody>
      </p:sp>
      <p:cxnSp>
        <p:nvCxnSpPr>
          <p:cNvPr id="8" name="Straight Connector 7"/>
          <p:cNvCxnSpPr>
            <a:cxnSpLocks/>
          </p:cNvCxnSpPr>
          <p:nvPr/>
        </p:nvCxnSpPr>
        <p:spPr>
          <a:xfrm>
            <a:off x="594476" y="1507999"/>
            <a:ext cx="10632324" cy="0"/>
          </a:xfrm>
          <a:prstGeom prst="line">
            <a:avLst/>
          </a:prstGeom>
          <a:ln w="9525" cap="rnd" cmpd="sng" algn="ctr">
            <a:solidFill>
              <a:srgbClr val="29BA74"/>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2050" name="Picture 2" descr="high-res profile pic">
            <a:extLst>
              <a:ext uri="{FF2B5EF4-FFF2-40B4-BE49-F238E27FC236}">
                <a16:creationId xmlns:a16="http://schemas.microsoft.com/office/drawing/2014/main" id="{060B4928-5FBB-44D5-9917-D32E626DF140}"/>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666" y="4522388"/>
            <a:ext cx="1058588" cy="1034684"/>
          </a:xfrm>
          <a:prstGeom prst="ellipse">
            <a:avLst/>
          </a:prstGeom>
          <a:grpFill/>
          <a:ln w="23813">
            <a:gradFill flip="none" rotWithShape="1">
              <a:gsLst>
                <a:gs pos="0">
                  <a:schemeClr val="accent2"/>
                </a:gs>
                <a:gs pos="100000">
                  <a:schemeClr val="tx2"/>
                </a:gs>
              </a:gsLst>
              <a:lin ang="2700000" scaled="1"/>
            </a:gradFill>
          </a:ln>
        </p:spPr>
      </p:pic>
      <p:sp>
        <p:nvSpPr>
          <p:cNvPr id="66" name="TextBox 65"/>
          <p:cNvSpPr txBox="1"/>
          <p:nvPr/>
        </p:nvSpPr>
        <p:spPr>
          <a:xfrm>
            <a:off x="1490187" y="5601532"/>
            <a:ext cx="2109641" cy="792525"/>
          </a:xfrm>
          <a:prstGeom prst="rect">
            <a:avLst/>
          </a:prstGeom>
          <a:noFill/>
        </p:spPr>
        <p:txBody>
          <a:bodyPr wrap="square" lIns="137160" tIns="68580" rIns="137160" bIns="68580" rtlCol="0">
            <a:spAutoFit/>
          </a:bodyPr>
          <a:lstStyle/>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a:ln>
                  <a:noFill/>
                </a:ln>
                <a:solidFill>
                  <a:srgbClr val="575757"/>
                </a:solidFill>
                <a:effectLst/>
                <a:uLnTx/>
                <a:uFillTx/>
                <a:latin typeface="Trebuchet MS"/>
                <a:ea typeface="+mn-ea"/>
                <a:cs typeface="+mn-cs"/>
              </a:rPr>
              <a:t>Alberto </a:t>
            </a:r>
            <a:r>
              <a:rPr kumimoji="0" lang="en-US" sz="1750" b="0" i="0" u="none" strike="noStrike" kern="1200" cap="none" spc="0" normalizeH="0" baseline="0" noProof="0" err="1">
                <a:ln>
                  <a:noFill/>
                </a:ln>
                <a:solidFill>
                  <a:srgbClr val="575757"/>
                </a:solidFill>
                <a:effectLst/>
                <a:uLnTx/>
                <a:uFillTx/>
                <a:latin typeface="Trebuchet MS"/>
                <a:ea typeface="+mn-ea"/>
                <a:cs typeface="+mn-cs"/>
              </a:rPr>
              <a:t>Poncela</a:t>
            </a:r>
            <a:r>
              <a:rPr kumimoji="0" lang="en-US" sz="1750" b="0" i="0" u="none" strike="noStrike" kern="1200" cap="none" spc="0" normalizeH="0" baseline="0" noProof="0">
                <a:ln>
                  <a:noFill/>
                </a:ln>
                <a:solidFill>
                  <a:srgbClr val="575757"/>
                </a:solidFill>
                <a:effectLst/>
                <a:uLnTx/>
                <a:uFillTx/>
                <a:latin typeface="Trebuchet MS"/>
                <a:ea typeface="+mn-ea"/>
                <a:cs typeface="+mn-cs"/>
              </a:rPr>
              <a:t> </a:t>
            </a:r>
          </a:p>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a:ln>
                  <a:noFill/>
                </a:ln>
                <a:solidFill>
                  <a:srgbClr val="6E6F73"/>
                </a:solidFill>
                <a:effectLst/>
                <a:uLnTx/>
                <a:uFillTx/>
                <a:latin typeface="Trebuchet MS"/>
                <a:ea typeface="+mn-ea"/>
                <a:cs typeface="+mn-cs"/>
              </a:rPr>
              <a:t>Project leader </a:t>
            </a:r>
          </a:p>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a:ln>
                  <a:noFill/>
                </a:ln>
                <a:solidFill>
                  <a:srgbClr val="6E6F73"/>
                </a:solidFill>
                <a:effectLst/>
                <a:uLnTx/>
                <a:uFillTx/>
                <a:latin typeface="Trebuchet MS"/>
                <a:ea typeface="+mn-ea"/>
                <a:cs typeface="+mn-cs"/>
              </a:rPr>
              <a:t>Madrid</a:t>
            </a:r>
          </a:p>
        </p:txBody>
      </p:sp>
      <p:sp>
        <p:nvSpPr>
          <p:cNvPr id="54" name="TextBox 53">
            <a:extLst>
              <a:ext uri="{FF2B5EF4-FFF2-40B4-BE49-F238E27FC236}">
                <a16:creationId xmlns:a16="http://schemas.microsoft.com/office/drawing/2014/main" id="{FD06DEF6-5D13-42A2-8742-68917DBF70C7}"/>
              </a:ext>
            </a:extLst>
          </p:cNvPr>
          <p:cNvSpPr txBox="1"/>
          <p:nvPr/>
        </p:nvSpPr>
        <p:spPr>
          <a:xfrm>
            <a:off x="3795348" y="5601532"/>
            <a:ext cx="2109641" cy="1177245"/>
          </a:xfrm>
          <a:prstGeom prst="rect">
            <a:avLst/>
          </a:prstGeom>
          <a:noFill/>
        </p:spPr>
        <p:txBody>
          <a:bodyPr wrap="square" lIns="137160" tIns="68580" rIns="137160" bIns="68580" rtlCol="0">
            <a:spAutoFit/>
          </a:bodyPr>
          <a:lstStyle/>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a:ln>
                  <a:noFill/>
                </a:ln>
                <a:solidFill>
                  <a:srgbClr val="575757"/>
                </a:solidFill>
                <a:effectLst/>
                <a:uLnTx/>
                <a:uFillTx/>
                <a:latin typeface="Trebuchet MS"/>
                <a:ea typeface="+mn-ea"/>
                <a:cs typeface="+mn-cs"/>
              </a:rPr>
              <a:t>Jose-Luis Casas</a:t>
            </a:r>
          </a:p>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a:ln>
                  <a:noFill/>
                </a:ln>
                <a:solidFill>
                  <a:srgbClr val="6E6F73"/>
                </a:solidFill>
                <a:effectLst/>
                <a:uLnTx/>
                <a:uFillTx/>
                <a:latin typeface="Trebuchet MS"/>
                <a:ea typeface="+mn-ea"/>
                <a:cs typeface="+mn-cs"/>
              </a:rPr>
              <a:t>Associate Director, Personalization and Digital Marketing</a:t>
            </a:r>
          </a:p>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a:ln>
                  <a:noFill/>
                </a:ln>
                <a:solidFill>
                  <a:srgbClr val="6E6F73"/>
                </a:solidFill>
                <a:effectLst/>
                <a:uLnTx/>
                <a:uFillTx/>
                <a:latin typeface="Trebuchet MS"/>
                <a:ea typeface="+mn-ea"/>
                <a:cs typeface="+mn-cs"/>
              </a:rPr>
              <a:t>Madrid</a:t>
            </a:r>
          </a:p>
        </p:txBody>
      </p:sp>
      <p:sp>
        <p:nvSpPr>
          <p:cNvPr id="58" name="TextBox 57">
            <a:extLst>
              <a:ext uri="{FF2B5EF4-FFF2-40B4-BE49-F238E27FC236}">
                <a16:creationId xmlns:a16="http://schemas.microsoft.com/office/drawing/2014/main" id="{FB3FDF2B-1B1F-4FA9-AC31-AAEC7452EACD}"/>
              </a:ext>
            </a:extLst>
          </p:cNvPr>
          <p:cNvSpPr txBox="1"/>
          <p:nvPr/>
        </p:nvSpPr>
        <p:spPr>
          <a:xfrm>
            <a:off x="5987590" y="5601532"/>
            <a:ext cx="2109641" cy="1177245"/>
          </a:xfrm>
          <a:prstGeom prst="rect">
            <a:avLst/>
          </a:prstGeom>
          <a:noFill/>
        </p:spPr>
        <p:txBody>
          <a:bodyPr wrap="square" lIns="137160" tIns="68580" rIns="137160" bIns="68580" rtlCol="0">
            <a:spAutoFit/>
          </a:bodyPr>
          <a:lstStyle/>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err="1">
                <a:ln>
                  <a:noFill/>
                </a:ln>
                <a:solidFill>
                  <a:srgbClr val="575757"/>
                </a:solidFill>
                <a:effectLst/>
                <a:uLnTx/>
                <a:uFillTx/>
                <a:latin typeface="Trebuchet MS"/>
                <a:ea typeface="+mn-ea"/>
                <a:cs typeface="+mn-cs"/>
              </a:rPr>
              <a:t>Zigor</a:t>
            </a:r>
            <a:r>
              <a:rPr kumimoji="0" lang="en-US" sz="1750" b="0" i="0" u="none" strike="noStrike" kern="1200" cap="none" spc="0" normalizeH="0" baseline="0" noProof="0">
                <a:ln>
                  <a:noFill/>
                </a:ln>
                <a:solidFill>
                  <a:srgbClr val="575757"/>
                </a:solidFill>
                <a:effectLst/>
                <a:uLnTx/>
                <a:uFillTx/>
                <a:latin typeface="Trebuchet MS"/>
                <a:ea typeface="+mn-ea"/>
                <a:cs typeface="+mn-cs"/>
              </a:rPr>
              <a:t> </a:t>
            </a:r>
            <a:r>
              <a:rPr kumimoji="0" lang="en-US" sz="1750" b="0" i="0" u="none" strike="noStrike" kern="1200" cap="none" spc="0" normalizeH="0" baseline="0" noProof="0" err="1">
                <a:ln>
                  <a:noFill/>
                </a:ln>
                <a:solidFill>
                  <a:srgbClr val="575757"/>
                </a:solidFill>
                <a:effectLst/>
                <a:uLnTx/>
                <a:uFillTx/>
                <a:latin typeface="Trebuchet MS"/>
                <a:ea typeface="+mn-ea"/>
                <a:cs typeface="+mn-cs"/>
              </a:rPr>
              <a:t>Lapera</a:t>
            </a:r>
            <a:endParaRPr kumimoji="0" lang="en-US" sz="1750" b="0" i="0" u="none" strike="noStrike" kern="1200" cap="none" spc="0" normalizeH="0" baseline="0" noProof="0">
              <a:ln>
                <a:noFill/>
              </a:ln>
              <a:solidFill>
                <a:srgbClr val="575757"/>
              </a:solidFill>
              <a:effectLst/>
              <a:uLnTx/>
              <a:uFillTx/>
              <a:latin typeface="Trebuchet MS"/>
              <a:ea typeface="+mn-ea"/>
              <a:cs typeface="+mn-cs"/>
            </a:endParaRPr>
          </a:p>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a:ln>
                  <a:noFill/>
                </a:ln>
                <a:solidFill>
                  <a:srgbClr val="6E6F73"/>
                </a:solidFill>
                <a:effectLst/>
                <a:uLnTx/>
                <a:uFillTx/>
                <a:latin typeface="Trebuchet MS"/>
                <a:ea typeface="+mn-ea"/>
                <a:cs typeface="+mn-cs"/>
              </a:rPr>
              <a:t>Associate Director, Personalization and Digital Marketing</a:t>
            </a:r>
          </a:p>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a:ln>
                  <a:noFill/>
                </a:ln>
                <a:solidFill>
                  <a:srgbClr val="6E6F73"/>
                </a:solidFill>
                <a:effectLst/>
                <a:uLnTx/>
                <a:uFillTx/>
                <a:latin typeface="Trebuchet MS"/>
                <a:ea typeface="+mn-ea"/>
                <a:cs typeface="+mn-cs"/>
              </a:rPr>
              <a:t>Madrid</a:t>
            </a:r>
          </a:p>
        </p:txBody>
      </p:sp>
      <p:sp>
        <p:nvSpPr>
          <p:cNvPr id="67" name="TextBox 66">
            <a:extLst>
              <a:ext uri="{FF2B5EF4-FFF2-40B4-BE49-F238E27FC236}">
                <a16:creationId xmlns:a16="http://schemas.microsoft.com/office/drawing/2014/main" id="{F466083C-9660-43D3-8511-E31351BE45AE}"/>
              </a:ext>
            </a:extLst>
          </p:cNvPr>
          <p:cNvSpPr txBox="1"/>
          <p:nvPr/>
        </p:nvSpPr>
        <p:spPr>
          <a:xfrm>
            <a:off x="8070718" y="5601532"/>
            <a:ext cx="2109641" cy="792525"/>
          </a:xfrm>
          <a:prstGeom prst="rect">
            <a:avLst/>
          </a:prstGeom>
          <a:noFill/>
        </p:spPr>
        <p:txBody>
          <a:bodyPr wrap="square" lIns="137160" tIns="68580" rIns="137160" bIns="68580" rtlCol="0">
            <a:spAutoFit/>
          </a:bodyPr>
          <a:lstStyle/>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a:ln>
                  <a:noFill/>
                </a:ln>
                <a:solidFill>
                  <a:srgbClr val="575757"/>
                </a:solidFill>
                <a:effectLst/>
                <a:uLnTx/>
                <a:uFillTx/>
                <a:latin typeface="Trebuchet MS"/>
                <a:ea typeface="+mn-ea"/>
                <a:cs typeface="+mn-cs"/>
              </a:rPr>
              <a:t>Javier </a:t>
            </a:r>
            <a:r>
              <a:rPr kumimoji="0" lang="en-US" sz="1750" b="0" i="0" u="none" strike="noStrike" kern="1200" cap="none" spc="0" normalizeH="0" baseline="0" noProof="0" err="1">
                <a:ln>
                  <a:noFill/>
                </a:ln>
                <a:solidFill>
                  <a:srgbClr val="575757"/>
                </a:solidFill>
                <a:effectLst/>
                <a:uLnTx/>
                <a:uFillTx/>
                <a:latin typeface="Trebuchet MS"/>
                <a:ea typeface="+mn-ea"/>
                <a:cs typeface="+mn-cs"/>
              </a:rPr>
              <a:t>Uriarte</a:t>
            </a:r>
            <a:endParaRPr kumimoji="0" lang="en-US" sz="1750" b="0" i="0" u="none" strike="noStrike" kern="1200" cap="none" spc="0" normalizeH="0" baseline="0" noProof="0">
              <a:ln>
                <a:noFill/>
              </a:ln>
              <a:solidFill>
                <a:srgbClr val="575757"/>
              </a:solidFill>
              <a:effectLst/>
              <a:uLnTx/>
              <a:uFillTx/>
              <a:latin typeface="Trebuchet MS"/>
              <a:ea typeface="+mn-ea"/>
              <a:cs typeface="+mn-cs"/>
            </a:endParaRPr>
          </a:p>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a:ln>
                  <a:noFill/>
                </a:ln>
                <a:solidFill>
                  <a:srgbClr val="6E6F73"/>
                </a:solidFill>
                <a:effectLst/>
                <a:uLnTx/>
                <a:uFillTx/>
                <a:latin typeface="Trebuchet MS"/>
                <a:ea typeface="+mn-ea"/>
                <a:cs typeface="+mn-cs"/>
              </a:rPr>
              <a:t>Consultant</a:t>
            </a:r>
          </a:p>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a:ln>
                  <a:noFill/>
                </a:ln>
                <a:solidFill>
                  <a:srgbClr val="6E6F73"/>
                </a:solidFill>
                <a:effectLst/>
                <a:uLnTx/>
                <a:uFillTx/>
                <a:latin typeface="Trebuchet MS"/>
                <a:ea typeface="+mn-ea"/>
                <a:cs typeface="+mn-cs"/>
              </a:rPr>
              <a:t>Madrid</a:t>
            </a:r>
          </a:p>
        </p:txBody>
      </p:sp>
      <p:sp>
        <p:nvSpPr>
          <p:cNvPr id="77" name="TextBox 76">
            <a:extLst>
              <a:ext uri="{FF2B5EF4-FFF2-40B4-BE49-F238E27FC236}">
                <a16:creationId xmlns:a16="http://schemas.microsoft.com/office/drawing/2014/main" id="{E82CF1BA-2FDD-4403-872D-C5F651FE5498}"/>
              </a:ext>
            </a:extLst>
          </p:cNvPr>
          <p:cNvSpPr txBox="1"/>
          <p:nvPr/>
        </p:nvSpPr>
        <p:spPr>
          <a:xfrm>
            <a:off x="3799301" y="2793007"/>
            <a:ext cx="2109641" cy="984885"/>
          </a:xfrm>
          <a:prstGeom prst="rect">
            <a:avLst/>
          </a:prstGeom>
          <a:noFill/>
        </p:spPr>
        <p:txBody>
          <a:bodyPr wrap="square" lIns="137160" tIns="68580" rIns="137160" bIns="68580" rtlCol="0">
            <a:spAutoFit/>
          </a:bodyPr>
          <a:lstStyle/>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a:ln>
                  <a:noFill/>
                </a:ln>
                <a:solidFill>
                  <a:srgbClr val="575757"/>
                </a:solidFill>
                <a:effectLst/>
                <a:uLnTx/>
                <a:uFillTx/>
                <a:latin typeface="Trebuchet MS"/>
                <a:ea typeface="+mn-ea"/>
                <a:cs typeface="+mn-cs"/>
              </a:rPr>
              <a:t>Thomas </a:t>
            </a:r>
            <a:r>
              <a:rPr kumimoji="0" lang="en-US" sz="1750" b="0" i="0" u="none" strike="noStrike" kern="1200" cap="none" spc="0" normalizeH="0" baseline="0" noProof="0" err="1">
                <a:ln>
                  <a:noFill/>
                </a:ln>
                <a:solidFill>
                  <a:srgbClr val="575757"/>
                </a:solidFill>
                <a:effectLst/>
                <a:uLnTx/>
                <a:uFillTx/>
                <a:latin typeface="Trebuchet MS"/>
                <a:ea typeface="+mn-ea"/>
                <a:cs typeface="+mn-cs"/>
              </a:rPr>
              <a:t>Wiatowski</a:t>
            </a:r>
            <a:endParaRPr kumimoji="0" lang="en-US" sz="1750" b="0" i="0" u="none" strike="noStrike" kern="1200" cap="none" spc="0" normalizeH="0" baseline="0" noProof="0">
              <a:ln>
                <a:noFill/>
              </a:ln>
              <a:solidFill>
                <a:srgbClr val="575757"/>
              </a:solidFill>
              <a:effectLst/>
              <a:uLnTx/>
              <a:uFillTx/>
              <a:latin typeface="Trebuchet MS"/>
              <a:ea typeface="+mn-ea"/>
              <a:cs typeface="+mn-cs"/>
            </a:endParaRPr>
          </a:p>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a:ln>
                  <a:noFill/>
                </a:ln>
                <a:solidFill>
                  <a:srgbClr val="6E6F73"/>
                </a:solidFill>
                <a:effectLst/>
                <a:uLnTx/>
                <a:uFillTx/>
                <a:latin typeface="Trebuchet MS"/>
                <a:ea typeface="+mn-ea"/>
                <a:cs typeface="+mn-cs"/>
              </a:rPr>
              <a:t>Gamma Senior Data Scientist</a:t>
            </a:r>
          </a:p>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a:ln>
                  <a:noFill/>
                </a:ln>
                <a:solidFill>
                  <a:srgbClr val="6E6F73"/>
                </a:solidFill>
                <a:effectLst/>
                <a:uLnTx/>
                <a:uFillTx/>
                <a:latin typeface="Trebuchet MS"/>
                <a:ea typeface="+mn-ea"/>
                <a:cs typeface="+mn-cs"/>
              </a:rPr>
              <a:t>Zurich</a:t>
            </a:r>
          </a:p>
        </p:txBody>
      </p:sp>
      <p:sp>
        <p:nvSpPr>
          <p:cNvPr id="79" name="TextBox 78">
            <a:extLst>
              <a:ext uri="{FF2B5EF4-FFF2-40B4-BE49-F238E27FC236}">
                <a16:creationId xmlns:a16="http://schemas.microsoft.com/office/drawing/2014/main" id="{8126F8CF-C24A-4DD4-982E-62F83D46D476}"/>
              </a:ext>
            </a:extLst>
          </p:cNvPr>
          <p:cNvSpPr txBox="1"/>
          <p:nvPr/>
        </p:nvSpPr>
        <p:spPr>
          <a:xfrm>
            <a:off x="6372971" y="2824339"/>
            <a:ext cx="2109641" cy="792525"/>
          </a:xfrm>
          <a:prstGeom prst="rect">
            <a:avLst/>
          </a:prstGeom>
          <a:noFill/>
        </p:spPr>
        <p:txBody>
          <a:bodyPr wrap="square" lIns="137160" tIns="68580" rIns="137160" bIns="68580" rtlCol="0">
            <a:spAutoFit/>
          </a:bodyPr>
          <a:lstStyle/>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a:ln>
                  <a:noFill/>
                </a:ln>
                <a:solidFill>
                  <a:srgbClr val="575757"/>
                </a:solidFill>
                <a:effectLst/>
                <a:uLnTx/>
                <a:uFillTx/>
                <a:latin typeface="Trebuchet MS"/>
                <a:ea typeface="+mn-ea"/>
                <a:cs typeface="+mn-cs"/>
              </a:rPr>
              <a:t>Stanislas Gal</a:t>
            </a:r>
          </a:p>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a:ln>
                  <a:noFill/>
                </a:ln>
                <a:solidFill>
                  <a:srgbClr val="6E6F73"/>
                </a:solidFill>
                <a:effectLst/>
                <a:uLnTx/>
                <a:uFillTx/>
                <a:latin typeface="Trebuchet MS"/>
                <a:ea typeface="+mn-ea"/>
                <a:cs typeface="+mn-cs"/>
              </a:rPr>
              <a:t>Gamma Data Scientist</a:t>
            </a:r>
          </a:p>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a:ln>
                  <a:noFill/>
                </a:ln>
                <a:solidFill>
                  <a:srgbClr val="6E6F73"/>
                </a:solidFill>
                <a:effectLst/>
                <a:uLnTx/>
                <a:uFillTx/>
                <a:latin typeface="Trebuchet MS"/>
                <a:ea typeface="+mn-ea"/>
                <a:cs typeface="+mn-cs"/>
              </a:rPr>
              <a:t>Zurich</a:t>
            </a:r>
          </a:p>
        </p:txBody>
      </p:sp>
      <p:pic>
        <p:nvPicPr>
          <p:cNvPr id="1034" name="Picture 10" descr="high-res profile pic">
            <a:extLst>
              <a:ext uri="{FF2B5EF4-FFF2-40B4-BE49-F238E27FC236}">
                <a16:creationId xmlns:a16="http://schemas.microsoft.com/office/drawing/2014/main" id="{DE87E9CC-416D-4631-96F7-1F56629A4D9E}"/>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332827" y="1711027"/>
            <a:ext cx="1042588" cy="1034684"/>
          </a:xfrm>
          <a:prstGeom prst="ellipse">
            <a:avLst/>
          </a:prstGeom>
          <a:grpFill/>
          <a:ln w="23813">
            <a:gradFill flip="none" rotWithShape="1">
              <a:gsLst>
                <a:gs pos="0">
                  <a:schemeClr val="accent2"/>
                </a:gs>
                <a:gs pos="100000">
                  <a:schemeClr val="tx2"/>
                </a:gs>
              </a:gsLst>
              <a:lin ang="2700000" scaled="1"/>
            </a:gradFill>
          </a:ln>
        </p:spPr>
      </p:pic>
      <p:pic>
        <p:nvPicPr>
          <p:cNvPr id="1036" name="Picture 12" descr="high-res profile pic">
            <a:extLst>
              <a:ext uri="{FF2B5EF4-FFF2-40B4-BE49-F238E27FC236}">
                <a16:creationId xmlns:a16="http://schemas.microsoft.com/office/drawing/2014/main" id="{48A2F732-61CA-46E1-A3AE-6FA5148E9C15}"/>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881084" y="1726980"/>
            <a:ext cx="1021990" cy="1034684"/>
          </a:xfrm>
          <a:prstGeom prst="ellipse">
            <a:avLst/>
          </a:prstGeom>
          <a:grpFill/>
          <a:ln w="23813">
            <a:gradFill flip="none" rotWithShape="1">
              <a:gsLst>
                <a:gs pos="0">
                  <a:schemeClr val="accent2"/>
                </a:gs>
                <a:gs pos="100000">
                  <a:schemeClr val="tx2"/>
                </a:gs>
              </a:gsLst>
              <a:lin ang="2700000" scaled="1"/>
            </a:gradFill>
          </a:ln>
        </p:spPr>
      </p:pic>
      <p:cxnSp>
        <p:nvCxnSpPr>
          <p:cNvPr id="82" name="Straight Connector 81">
            <a:extLst>
              <a:ext uri="{FF2B5EF4-FFF2-40B4-BE49-F238E27FC236}">
                <a16:creationId xmlns:a16="http://schemas.microsoft.com/office/drawing/2014/main" id="{B4A1AFEB-672F-4539-B1FD-069468044E6B}"/>
              </a:ext>
            </a:extLst>
          </p:cNvPr>
          <p:cNvCxnSpPr>
            <a:cxnSpLocks/>
          </p:cNvCxnSpPr>
          <p:nvPr/>
        </p:nvCxnSpPr>
        <p:spPr>
          <a:xfrm>
            <a:off x="641761" y="4253341"/>
            <a:ext cx="10585039" cy="0"/>
          </a:xfrm>
          <a:prstGeom prst="line">
            <a:avLst/>
          </a:prstGeom>
          <a:ln w="9525" cap="rnd" cmpd="sng" algn="ctr">
            <a:solidFill>
              <a:srgbClr val="29BA74"/>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2052" name="Picture 4" descr="high-res profile pic">
            <a:extLst>
              <a:ext uri="{FF2B5EF4-FFF2-40B4-BE49-F238E27FC236}">
                <a16:creationId xmlns:a16="http://schemas.microsoft.com/office/drawing/2014/main" id="{FB561B23-34D3-47CA-B465-41353795BF56}"/>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332827" y="4545557"/>
            <a:ext cx="1034684" cy="1034684"/>
          </a:xfrm>
          <a:prstGeom prst="ellipse">
            <a:avLst/>
          </a:prstGeom>
          <a:grpFill/>
          <a:ln w="23813">
            <a:gradFill flip="none" rotWithShape="1">
              <a:gsLst>
                <a:gs pos="0">
                  <a:schemeClr val="accent2"/>
                </a:gs>
                <a:gs pos="100000">
                  <a:schemeClr val="tx2"/>
                </a:gs>
              </a:gsLst>
              <a:lin ang="2700000" scaled="1"/>
            </a:gradFill>
          </a:ln>
        </p:spPr>
      </p:pic>
      <p:pic>
        <p:nvPicPr>
          <p:cNvPr id="2054" name="Picture 6" descr="high-res profile pic">
            <a:extLst>
              <a:ext uri="{FF2B5EF4-FFF2-40B4-BE49-F238E27FC236}">
                <a16:creationId xmlns:a16="http://schemas.microsoft.com/office/drawing/2014/main" id="{9BE15F5C-A5B2-4C8F-BD5D-73E476ED6B41}"/>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525068" y="4522388"/>
            <a:ext cx="1034684" cy="1034684"/>
          </a:xfrm>
          <a:prstGeom prst="ellipse">
            <a:avLst/>
          </a:prstGeom>
          <a:grpFill/>
          <a:ln w="23813">
            <a:gradFill flip="none" rotWithShape="1">
              <a:gsLst>
                <a:gs pos="0">
                  <a:schemeClr val="accent2"/>
                </a:gs>
                <a:gs pos="100000">
                  <a:schemeClr val="tx2"/>
                </a:gs>
              </a:gsLst>
              <a:lin ang="2700000" scaled="1"/>
            </a:gradFill>
          </a:ln>
        </p:spPr>
      </p:pic>
      <p:pic>
        <p:nvPicPr>
          <p:cNvPr id="2056" name="Picture 8" descr="high-res profile pic">
            <a:extLst>
              <a:ext uri="{FF2B5EF4-FFF2-40B4-BE49-F238E27FC236}">
                <a16:creationId xmlns:a16="http://schemas.microsoft.com/office/drawing/2014/main" id="{0B44EF86-5839-4549-9E9E-E7BB2F7AC061}"/>
              </a:ext>
            </a:extLst>
          </p:cNvPr>
          <p:cNvPicPr>
            <a:picLocks noChangeAspect="1" noChangeArrowheads="1"/>
          </p:cNvPicPr>
          <p:nvPr/>
        </p:nvPicPr>
        <p:blipFill rotWithShape="1">
          <a:blip r:embed="rId12">
            <a:extLst>
              <a:ext uri="{28A0092B-C50C-407E-A947-70E740481C1C}">
                <a14:useLocalDpi xmlns:a14="http://schemas.microsoft.com/office/drawing/2010/main" val="0"/>
              </a:ext>
            </a:extLst>
          </a:blip>
          <a:srcRect b="10237"/>
          <a:stretch/>
        </p:blipFill>
        <p:spPr bwMode="auto">
          <a:xfrm>
            <a:off x="8717310" y="4544764"/>
            <a:ext cx="1019534" cy="1034684"/>
          </a:xfrm>
          <a:prstGeom prst="ellipse">
            <a:avLst/>
          </a:prstGeom>
          <a:grpFill/>
          <a:ln w="23813">
            <a:gradFill flip="none" rotWithShape="1">
              <a:gsLst>
                <a:gs pos="0">
                  <a:schemeClr val="accent2"/>
                </a:gs>
                <a:gs pos="100000">
                  <a:schemeClr val="tx2"/>
                </a:gs>
              </a:gsLst>
              <a:lin ang="2700000" scaled="1"/>
            </a:gradFill>
          </a:ln>
        </p:spPr>
      </p:pic>
    </p:spTree>
    <p:extLst>
      <p:ext uri="{BB962C8B-B14F-4D97-AF65-F5344CB8AC3E}">
        <p14:creationId xmlns:p14="http://schemas.microsoft.com/office/powerpoint/2010/main" val="36292074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Object 14" hidden="1"/>
          <p:cNvGraphicFramePr>
            <a:graphicFrameLocks noChangeAspect="1"/>
          </p:cNvGraphicFramePr>
          <p:nvPr>
            <p:custDataLst>
              <p:tags r:id="rId1"/>
            </p:custDataLst>
          </p:nvPr>
        </p:nvGraphicFramePr>
        <p:xfrm>
          <a:off x="1589" y="1589"/>
          <a:ext cx="1587" cy="1587"/>
        </p:xfrm>
        <a:graphic>
          <a:graphicData uri="http://schemas.openxmlformats.org/presentationml/2006/ole">
            <mc:AlternateContent xmlns:mc="http://schemas.openxmlformats.org/markup-compatibility/2006">
              <mc:Choice xmlns:v="urn:schemas-microsoft-com:vml" Requires="v">
                <p:oleObj name="think-cell Slide" r:id="rId16" imgW="270" imgH="270" progId="TCLayout.ActiveDocument.1">
                  <p:embed/>
                </p:oleObj>
              </mc:Choice>
              <mc:Fallback>
                <p:oleObj name="think-cell Slide" r:id="rId16" imgW="270" imgH="270" progId="TCLayout.ActiveDocument.1">
                  <p:embed/>
                  <p:pic>
                    <p:nvPicPr>
                      <p:cNvPr id="15" name="Object 14" hidden="1"/>
                      <p:cNvPicPr/>
                      <p:nvPr/>
                    </p:nvPicPr>
                    <p:blipFill>
                      <a:blip r:embed="rId17"/>
                      <a:stretch>
                        <a:fillRect/>
                      </a:stretch>
                    </p:blipFill>
                    <p:spPr>
                      <a:xfrm>
                        <a:off x="1589" y="1589"/>
                        <a:ext cx="1587" cy="1587"/>
                      </a:xfrm>
                      <a:prstGeom prst="rect">
                        <a:avLst/>
                      </a:prstGeom>
                    </p:spPr>
                  </p:pic>
                </p:oleObj>
              </mc:Fallback>
            </mc:AlternateContent>
          </a:graphicData>
        </a:graphic>
      </p:graphicFrame>
      <p:sp>
        <p:nvSpPr>
          <p:cNvPr id="5" name="Rectangle 4" hidden="1">
            <a:extLst>
              <a:ext uri="{FF2B5EF4-FFF2-40B4-BE49-F238E27FC236}">
                <a16:creationId xmlns:a16="http://schemas.microsoft.com/office/drawing/2014/main" id="{B985BA38-C927-409E-9DFD-55AEF960ACD2}"/>
              </a:ext>
            </a:extLst>
          </p:cNvPr>
          <p:cNvSpPr/>
          <p:nvPr>
            <p:custDataLst>
              <p:tags r:id="rId2"/>
            </p:custDataLst>
          </p:nvPr>
        </p:nvSpPr>
        <p:spPr>
          <a:xfrm>
            <a:off x="1" y="1"/>
            <a:ext cx="158751" cy="158751"/>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FFFFFF"/>
              </a:solidFill>
              <a:effectLst/>
              <a:uLnTx/>
              <a:uFillTx/>
              <a:latin typeface="Trebuchet MS" panose="020B0603020202020204" pitchFamily="34" charset="0"/>
              <a:ea typeface="+mn-ea"/>
              <a:cs typeface="+mn-cs"/>
              <a:sym typeface="Trebuchet MS" panose="020B0603020202020204" pitchFamily="34" charset="0"/>
            </a:endParaRPr>
          </a:p>
        </p:txBody>
      </p:sp>
      <p:sp>
        <p:nvSpPr>
          <p:cNvPr id="4" name="Rectangle 3" hidden="1">
            <a:extLst>
              <a:ext uri="{FF2B5EF4-FFF2-40B4-BE49-F238E27FC236}">
                <a16:creationId xmlns:a16="http://schemas.microsoft.com/office/drawing/2014/main" id="{24250499-F407-4349-89B7-6C51155F9D47}"/>
              </a:ext>
            </a:extLst>
          </p:cNvPr>
          <p:cNvSpPr/>
          <p:nvPr>
            <p:custDataLst>
              <p:tags r:id="rId3"/>
            </p:custDataLst>
          </p:nvPr>
        </p:nvSpPr>
        <p:spPr>
          <a:xfrm>
            <a:off x="1" y="1"/>
            <a:ext cx="158751" cy="158751"/>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rebuchet MS" panose="020B0603020202020204" pitchFamily="34" charset="0"/>
              <a:ea typeface="+mn-ea"/>
              <a:cs typeface="+mn-cs"/>
              <a:sym typeface="Trebuchet MS" panose="020B0603020202020204" pitchFamily="34" charset="0"/>
            </a:endParaRPr>
          </a:p>
        </p:txBody>
      </p:sp>
      <p:sp>
        <p:nvSpPr>
          <p:cNvPr id="14" name="Rectangle 13" hidden="1"/>
          <p:cNvSpPr/>
          <p:nvPr>
            <p:custDataLst>
              <p:tags r:id="rId4"/>
            </p:custDataLst>
          </p:nvPr>
        </p:nvSpPr>
        <p:spPr bwMode="gray">
          <a:xfrm>
            <a:off x="1" y="1"/>
            <a:ext cx="158751" cy="158751"/>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ct val="0"/>
              </a:spcBef>
              <a:spcAft>
                <a:spcPct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Trebuchet MS" panose="020B0603020202020204" pitchFamily="34" charset="0"/>
              <a:ea typeface="+mn-ea"/>
              <a:cs typeface="+mn-cs"/>
              <a:sym typeface="Trebuchet MS" panose="020B0603020202020204" pitchFamily="34" charset="0"/>
            </a:endParaRPr>
          </a:p>
        </p:txBody>
      </p:sp>
      <p:sp>
        <p:nvSpPr>
          <p:cNvPr id="150" name="Title 6">
            <a:extLst>
              <a:ext uri="{FF2B5EF4-FFF2-40B4-BE49-F238E27FC236}">
                <a16:creationId xmlns:a16="http://schemas.microsoft.com/office/drawing/2014/main" id="{8185A1B7-2B9F-4C07-857C-2EB337B66606}"/>
              </a:ext>
            </a:extLst>
          </p:cNvPr>
          <p:cNvSpPr>
            <a:spLocks noGrp="1"/>
          </p:cNvSpPr>
          <p:nvPr>
            <p:ph type="title"/>
          </p:nvPr>
        </p:nvSpPr>
        <p:spPr>
          <a:xfrm>
            <a:off x="630000" y="622800"/>
            <a:ext cx="10933200" cy="470898"/>
          </a:xfrm>
          <a:prstGeom prst="rect">
            <a:avLst/>
          </a:prstGeom>
        </p:spPr>
        <p:txBody>
          <a:bodyPr vert="horz">
            <a:spAutoFit/>
          </a:bodyPr>
          <a:lstStyle/>
          <a:p>
            <a:r>
              <a:rPr lang="en-US">
                <a:solidFill>
                  <a:schemeClr val="tx2"/>
                </a:solidFill>
              </a:rPr>
              <a:t>Our journey started with customer pathways</a:t>
            </a:r>
          </a:p>
        </p:txBody>
      </p:sp>
      <p:sp>
        <p:nvSpPr>
          <p:cNvPr id="3" name="TextBox 2">
            <a:extLst>
              <a:ext uri="{FF2B5EF4-FFF2-40B4-BE49-F238E27FC236}">
                <a16:creationId xmlns:a16="http://schemas.microsoft.com/office/drawing/2014/main" id="{0DA02855-E829-4AAC-A3FD-5CB3B2C81F47}"/>
              </a:ext>
            </a:extLst>
          </p:cNvPr>
          <p:cNvSpPr txBox="1"/>
          <p:nvPr/>
        </p:nvSpPr>
        <p:spPr>
          <a:xfrm>
            <a:off x="599067" y="4135535"/>
            <a:ext cx="3511409" cy="1754326"/>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575757"/>
                </a:solidFill>
                <a:effectLst/>
                <a:uLnTx/>
                <a:uFillTx/>
                <a:latin typeface="Trebuchet MS"/>
                <a:ea typeface="+mn-ea"/>
                <a:cs typeface="+mn-cs"/>
              </a:rPr>
              <a:t>Across the entire customer base, we identified 12 </a:t>
            </a:r>
            <a:r>
              <a:rPr kumimoji="0" lang="en-US" sz="1800" b="0" i="0" u="none" strike="noStrike" kern="1200" cap="none" spc="0" normalizeH="0" baseline="0" noProof="0" err="1">
                <a:ln>
                  <a:noFill/>
                </a:ln>
                <a:solidFill>
                  <a:srgbClr val="575757"/>
                </a:solidFill>
                <a:effectLst/>
                <a:uLnTx/>
                <a:uFillTx/>
                <a:latin typeface="Trebuchet MS"/>
                <a:ea typeface="+mn-ea"/>
                <a:cs typeface="+mn-cs"/>
              </a:rPr>
              <a:t>strate-gically</a:t>
            </a:r>
            <a:r>
              <a:rPr kumimoji="0" lang="en-US" sz="1800" b="0" i="0" u="none" strike="noStrike" kern="1200" cap="none" spc="0" normalizeH="0" baseline="0" noProof="0">
                <a:ln>
                  <a:noFill/>
                </a:ln>
                <a:solidFill>
                  <a:srgbClr val="575757"/>
                </a:solidFill>
                <a:effectLst/>
                <a:uLnTx/>
                <a:uFillTx/>
                <a:latin typeface="Trebuchet MS"/>
                <a:ea typeface="+mn-ea"/>
                <a:cs typeface="+mn-cs"/>
              </a:rPr>
              <a:t> important </a:t>
            </a:r>
            <a:r>
              <a:rPr kumimoji="0" lang="en-US" sz="1800" b="0" i="0" u="none" strike="noStrike" kern="1200" cap="none" spc="0" normalizeH="0" baseline="0" noProof="0">
                <a:ln>
                  <a:noFill/>
                </a:ln>
                <a:solidFill>
                  <a:srgbClr val="29BA74"/>
                </a:solidFill>
                <a:effectLst/>
                <a:uLnTx/>
                <a:uFillTx/>
                <a:latin typeface="Trebuchet MS"/>
                <a:ea typeface="+mn-ea"/>
                <a:cs typeface="+mn-cs"/>
              </a:rPr>
              <a:t>customer pathways </a:t>
            </a:r>
            <a:r>
              <a:rPr kumimoji="0" lang="en-US" sz="1800" b="0" i="0" u="none" strike="noStrike" kern="1200" cap="none" spc="0" normalizeH="0" baseline="0" noProof="0">
                <a:ln>
                  <a:noFill/>
                </a:ln>
                <a:solidFill>
                  <a:srgbClr val="575757"/>
                </a:solidFill>
                <a:effectLst/>
                <a:uLnTx/>
                <a:uFillTx/>
                <a:latin typeface="Trebuchet MS"/>
                <a:ea typeface="+mn-ea"/>
                <a:cs typeface="+mn-cs"/>
              </a:rPr>
              <a:t>based on product coverage and how actively customers use bank services ... </a:t>
            </a:r>
          </a:p>
        </p:txBody>
      </p:sp>
      <p:pic>
        <p:nvPicPr>
          <p:cNvPr id="53" name="Picture 52">
            <a:extLst>
              <a:ext uri="{FF2B5EF4-FFF2-40B4-BE49-F238E27FC236}">
                <a16:creationId xmlns:a16="http://schemas.microsoft.com/office/drawing/2014/main" id="{1944172C-CDE3-4E41-958E-B40507CD7767}"/>
              </a:ext>
            </a:extLst>
          </p:cNvPr>
          <p:cNvPicPr>
            <a:picLocks noChangeAspect="1"/>
          </p:cNvPicPr>
          <p:nvPr>
            <p:custDataLst>
              <p:tags r:id="rId5"/>
            </p:custDataLst>
          </p:nvPr>
        </p:nvPicPr>
        <p:blipFill>
          <a:blip r:embed="rId18"/>
          <a:stretch>
            <a:fillRect/>
          </a:stretch>
        </p:blipFill>
        <p:spPr>
          <a:xfrm>
            <a:off x="8312299" y="1898303"/>
            <a:ext cx="3456000" cy="1944000"/>
          </a:xfrm>
          <a:prstGeom prst="rect">
            <a:avLst/>
          </a:prstGeom>
          <a:ln w="9525" cap="flat" cmpd="sng" algn="ctr">
            <a:solidFill>
              <a:srgbClr val="9A9A9A"/>
            </a:solidFill>
            <a:prstDash val="solid"/>
            <a:round/>
            <a:headEnd type="none" w="med" len="med"/>
            <a:tailEnd type="none" w="med" len="med"/>
          </a:ln>
          <a:effectLst>
            <a:outerShdw blurRad="50800" dist="38100" dir="2700000" algn="tl" rotWithShape="0">
              <a:prstClr val="black">
                <a:alpha val="40000"/>
              </a:prstClr>
            </a:outerShdw>
          </a:effectLst>
        </p:spPr>
      </p:pic>
      <p:pic>
        <p:nvPicPr>
          <p:cNvPr id="97" name="Picture 96">
            <a:extLst>
              <a:ext uri="{FF2B5EF4-FFF2-40B4-BE49-F238E27FC236}">
                <a16:creationId xmlns:a16="http://schemas.microsoft.com/office/drawing/2014/main" id="{F4E5B862-1636-4FCB-B7DC-57D7DCEFFEE7}"/>
              </a:ext>
            </a:extLst>
          </p:cNvPr>
          <p:cNvPicPr>
            <a:picLocks noChangeAspect="1"/>
          </p:cNvPicPr>
          <p:nvPr>
            <p:custDataLst>
              <p:tags r:id="rId6"/>
            </p:custDataLst>
          </p:nvPr>
        </p:nvPicPr>
        <p:blipFill>
          <a:blip r:embed="rId19"/>
          <a:stretch>
            <a:fillRect/>
          </a:stretch>
        </p:blipFill>
        <p:spPr>
          <a:xfrm>
            <a:off x="627582" y="1898303"/>
            <a:ext cx="3454379" cy="1943088"/>
          </a:xfrm>
          <a:prstGeom prst="rect">
            <a:avLst/>
          </a:prstGeom>
          <a:ln w="9525" cap="flat" cmpd="sng" algn="ctr">
            <a:solidFill>
              <a:srgbClr val="9A9A9A"/>
            </a:solidFill>
            <a:prstDash val="solid"/>
            <a:round/>
            <a:headEnd type="none" w="med" len="med"/>
            <a:tailEnd type="none" w="med" len="med"/>
          </a:ln>
          <a:effectLst>
            <a:outerShdw blurRad="50800" dist="38100" dir="2700000" algn="tl" rotWithShape="0">
              <a:prstClr val="black">
                <a:alpha val="40000"/>
              </a:prstClr>
            </a:outerShdw>
          </a:effectLst>
        </p:spPr>
      </p:pic>
      <p:sp>
        <p:nvSpPr>
          <p:cNvPr id="94" name="TextBox 93">
            <a:extLst>
              <a:ext uri="{FF2B5EF4-FFF2-40B4-BE49-F238E27FC236}">
                <a16:creationId xmlns:a16="http://schemas.microsoft.com/office/drawing/2014/main" id="{E32B0836-1786-455C-8B30-FD6ADF8ABCA7}"/>
              </a:ext>
            </a:extLst>
          </p:cNvPr>
          <p:cNvSpPr txBox="1"/>
          <p:nvPr/>
        </p:nvSpPr>
        <p:spPr>
          <a:xfrm>
            <a:off x="4558405" y="4135535"/>
            <a:ext cx="3377154" cy="1200329"/>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575757"/>
                </a:solidFill>
                <a:effectLst/>
                <a:uLnTx/>
                <a:uFillTx/>
                <a:latin typeface="Trebuchet MS"/>
                <a:ea typeface="+mn-ea"/>
                <a:cs typeface="+mn-cs"/>
              </a:rPr>
              <a:t>... Based on data-driven analysis of </a:t>
            </a:r>
            <a:r>
              <a:rPr kumimoji="0" lang="en-US" sz="1800" b="0" i="0" u="none" strike="noStrike" kern="1200" cap="none" spc="0" normalizeH="0" baseline="0" noProof="0">
                <a:ln>
                  <a:noFill/>
                </a:ln>
                <a:solidFill>
                  <a:srgbClr val="29BA74"/>
                </a:solidFill>
                <a:effectLst/>
                <a:uLnTx/>
                <a:uFillTx/>
                <a:latin typeface="Trebuchet MS"/>
                <a:ea typeface="+mn-ea"/>
                <a:cs typeface="+mn-cs"/>
              </a:rPr>
              <a:t>customer cluster footprints </a:t>
            </a:r>
            <a:r>
              <a:rPr kumimoji="0" lang="en-US" sz="1800" b="0" i="0" u="none" strike="noStrike" kern="1200" cap="none" spc="0" normalizeH="0" baseline="0" noProof="0">
                <a:ln>
                  <a:noFill/>
                </a:ln>
                <a:solidFill>
                  <a:srgbClr val="575757"/>
                </a:solidFill>
                <a:effectLst/>
                <a:uLnTx/>
                <a:uFillTx/>
                <a:latin typeface="Trebuchet MS"/>
                <a:ea typeface="+mn-ea"/>
                <a:cs typeface="+mn-cs"/>
              </a:rPr>
              <a:t>and historical pathways.</a:t>
            </a:r>
          </a:p>
        </p:txBody>
      </p:sp>
      <p:sp>
        <p:nvSpPr>
          <p:cNvPr id="95" name="TextBox 94">
            <a:extLst>
              <a:ext uri="{FF2B5EF4-FFF2-40B4-BE49-F238E27FC236}">
                <a16:creationId xmlns:a16="http://schemas.microsoft.com/office/drawing/2014/main" id="{2414CA6E-BC43-4E06-AA1B-829DAE8137C8}"/>
              </a:ext>
            </a:extLst>
          </p:cNvPr>
          <p:cNvSpPr txBox="1"/>
          <p:nvPr/>
        </p:nvSpPr>
        <p:spPr>
          <a:xfrm>
            <a:off x="8383488" y="4135535"/>
            <a:ext cx="3312000" cy="2031325"/>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143996" marR="0" lvl="1" indent="0" algn="l" defTabSz="914400" rtl="0" eaLnBrk="1" fontAlgn="auto" latinLnBrk="0" hangingPunct="1">
              <a:lnSpc>
                <a:spcPct val="100000"/>
              </a:lnSpc>
              <a:spcBef>
                <a:spcPts val="0"/>
              </a:spcBef>
              <a:spcAft>
                <a:spcPts val="0"/>
              </a:spcAft>
              <a:buClr>
                <a:srgbClr val="FF6A10"/>
              </a:buClr>
              <a:buSzTx/>
              <a:buFontTx/>
              <a:buNone/>
              <a:tabLst/>
              <a:defRPr/>
            </a:pPr>
            <a:r>
              <a:rPr kumimoji="0" lang="en-US" sz="1800" b="0" i="0" u="none" strike="noStrike" kern="1200" cap="none" spc="0" normalizeH="0" baseline="0" noProof="0">
                <a:ln>
                  <a:noFill/>
                </a:ln>
                <a:solidFill>
                  <a:srgbClr val="575757"/>
                </a:solidFill>
                <a:effectLst/>
                <a:uLnTx/>
                <a:uFillTx/>
                <a:latin typeface="Trebuchet MS"/>
                <a:ea typeface="+mn-ea"/>
                <a:cs typeface="+mn-cs"/>
              </a:rPr>
              <a:t>The pathways allowed to draw new </a:t>
            </a:r>
            <a:r>
              <a:rPr kumimoji="0" lang="en-US" sz="1800" b="0" i="0" u="none" strike="noStrike" kern="1200" cap="none" spc="0" normalizeH="0" baseline="0" noProof="0">
                <a:ln>
                  <a:noFill/>
                </a:ln>
                <a:solidFill>
                  <a:srgbClr val="29BA74"/>
                </a:solidFill>
                <a:effectLst/>
                <a:uLnTx/>
                <a:uFillTx/>
                <a:latin typeface="Trebuchet MS"/>
                <a:ea typeface="+mn-ea"/>
                <a:cs typeface="+mn-cs"/>
              </a:rPr>
              <a:t>business &amp; marketing relevant con-</a:t>
            </a:r>
            <a:r>
              <a:rPr kumimoji="0" lang="en-US" sz="1800" b="0" i="0" u="none" strike="noStrike" kern="1200" cap="none" spc="0" normalizeH="0" baseline="0" noProof="0" err="1">
                <a:ln>
                  <a:noFill/>
                </a:ln>
                <a:solidFill>
                  <a:srgbClr val="29BA74"/>
                </a:solidFill>
                <a:effectLst/>
                <a:uLnTx/>
                <a:uFillTx/>
                <a:latin typeface="Trebuchet MS"/>
                <a:ea typeface="+mn-ea"/>
                <a:cs typeface="+mn-cs"/>
              </a:rPr>
              <a:t>clusions</a:t>
            </a:r>
            <a:r>
              <a:rPr kumimoji="0" lang="en-US" sz="1800" b="0" i="0" u="none" strike="noStrike" kern="1200" cap="none" spc="0" normalizeH="0" baseline="0" noProof="0">
                <a:ln>
                  <a:noFill/>
                </a:ln>
                <a:solidFill>
                  <a:srgbClr val="29BA74"/>
                </a:solidFill>
                <a:effectLst/>
                <a:uLnTx/>
                <a:uFillTx/>
                <a:latin typeface="Trebuchet MS"/>
                <a:ea typeface="+mn-ea"/>
                <a:cs typeface="+mn-cs"/>
              </a:rPr>
              <a:t>, </a:t>
            </a:r>
            <a:r>
              <a:rPr kumimoji="0" lang="en-US" sz="1800" b="0" i="0" u="none" strike="noStrike" kern="1200" cap="none" spc="0" normalizeH="0" baseline="0" noProof="0">
                <a:ln>
                  <a:noFill/>
                </a:ln>
                <a:solidFill>
                  <a:srgbClr val="575757"/>
                </a:solidFill>
                <a:effectLst/>
                <a:uLnTx/>
                <a:uFillTx/>
                <a:latin typeface="Trebuchet MS"/>
                <a:ea typeface="+mn-ea"/>
                <a:cs typeface="+mn-cs"/>
              </a:rPr>
              <a:t>such as high activity being best predictor for becoming an investment customer</a:t>
            </a:r>
          </a:p>
        </p:txBody>
      </p:sp>
      <p:pic>
        <p:nvPicPr>
          <p:cNvPr id="6" name="Picture 5">
            <a:extLst>
              <a:ext uri="{FF2B5EF4-FFF2-40B4-BE49-F238E27FC236}">
                <a16:creationId xmlns:a16="http://schemas.microsoft.com/office/drawing/2014/main" id="{0639F494-7832-4149-A28E-1EA480E530C5}"/>
              </a:ext>
            </a:extLst>
          </p:cNvPr>
          <p:cNvPicPr>
            <a:picLocks noChangeAspect="1"/>
          </p:cNvPicPr>
          <p:nvPr/>
        </p:nvPicPr>
        <p:blipFill>
          <a:blip r:embed="rId20"/>
          <a:stretch>
            <a:fillRect/>
          </a:stretch>
        </p:blipFill>
        <p:spPr>
          <a:xfrm>
            <a:off x="4406233" y="1898303"/>
            <a:ext cx="3705983" cy="1943088"/>
          </a:xfrm>
          <a:prstGeom prst="rect">
            <a:avLst/>
          </a:prstGeom>
          <a:ln w="9525" cap="flat" cmpd="sng" algn="ctr">
            <a:solidFill>
              <a:srgbClr val="9A9A9A"/>
            </a:solidFill>
            <a:prstDash val="solid"/>
            <a:round/>
            <a:headEnd type="none" w="med" len="med"/>
            <a:tailEnd type="none" w="med" len="med"/>
          </a:ln>
          <a:effectLst>
            <a:outerShdw blurRad="50800" dist="38100" dir="2700000" algn="tl" rotWithShape="0">
              <a:prstClr val="black">
                <a:alpha val="40000"/>
              </a:prstClr>
            </a:outerShdw>
          </a:effectLst>
        </p:spPr>
      </p:pic>
      <p:sp>
        <p:nvSpPr>
          <p:cNvPr id="35" name="Oval 20">
            <a:extLst>
              <a:ext uri="{FF2B5EF4-FFF2-40B4-BE49-F238E27FC236}">
                <a16:creationId xmlns:a16="http://schemas.microsoft.com/office/drawing/2014/main" id="{CE23B59B-28C1-474D-82D9-3539229BC24D}"/>
              </a:ext>
            </a:extLst>
          </p:cNvPr>
          <p:cNvSpPr>
            <a:spLocks noChangeAspect="1" noChangeArrowheads="1"/>
          </p:cNvSpPr>
          <p:nvPr/>
        </p:nvSpPr>
        <p:spPr bwMode="auto">
          <a:xfrm>
            <a:off x="11614350" y="190800"/>
            <a:ext cx="432000" cy="432000"/>
          </a:xfrm>
          <a:prstGeom prst="ellipse">
            <a:avLst/>
          </a:prstGeom>
          <a:solidFill>
            <a:srgbClr val="FFFFFF"/>
          </a:solidFill>
          <a:ln w="9525" cap="flat" cmpd="sng" algn="ctr">
            <a:solidFill>
              <a:srgbClr val="29BA74"/>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9BA74"/>
                </a:solidFill>
                <a:effectLst/>
                <a:uLnTx/>
                <a:uFillTx/>
                <a:latin typeface="Trebuchet MS"/>
                <a:ea typeface="+mn-ea"/>
                <a:cs typeface="+mn-cs"/>
              </a:rPr>
              <a:t>A</a:t>
            </a:r>
            <a:endParaRPr kumimoji="0" lang="en-US" sz="1000" b="0" i="0" u="none" strike="noStrike" kern="1200" cap="none" spc="0" normalizeH="0" baseline="0" noProof="0">
              <a:ln>
                <a:noFill/>
              </a:ln>
              <a:solidFill>
                <a:srgbClr val="29BA74"/>
              </a:solidFill>
              <a:effectLst/>
              <a:uLnTx/>
              <a:uFillTx/>
              <a:latin typeface="Trebuchet MS"/>
              <a:ea typeface="+mn-ea"/>
              <a:cs typeface="+mn-cs"/>
            </a:endParaRPr>
          </a:p>
        </p:txBody>
      </p:sp>
      <p:grpSp>
        <p:nvGrpSpPr>
          <p:cNvPr id="36" name="Group 35">
            <a:extLst>
              <a:ext uri="{FF2B5EF4-FFF2-40B4-BE49-F238E27FC236}">
                <a16:creationId xmlns:a16="http://schemas.microsoft.com/office/drawing/2014/main" id="{46727590-0F63-3A82-192A-689AB69834D4}"/>
              </a:ext>
            </a:extLst>
          </p:cNvPr>
          <p:cNvGrpSpPr/>
          <p:nvPr/>
        </p:nvGrpSpPr>
        <p:grpSpPr>
          <a:xfrm>
            <a:off x="3681555" y="1447055"/>
            <a:ext cx="720000" cy="720000"/>
            <a:chOff x="-1338512" y="919137"/>
            <a:chExt cx="720000" cy="720000"/>
          </a:xfrm>
        </p:grpSpPr>
        <p:sp>
          <p:nvSpPr>
            <p:cNvPr id="37" name="Oval 36">
              <a:extLst>
                <a:ext uri="{FF2B5EF4-FFF2-40B4-BE49-F238E27FC236}">
                  <a16:creationId xmlns:a16="http://schemas.microsoft.com/office/drawing/2014/main" id="{985CC421-528D-F03F-CADC-E500773D5240}"/>
                </a:ext>
              </a:extLst>
            </p:cNvPr>
            <p:cNvSpPr/>
            <p:nvPr>
              <p:custDataLst>
                <p:tags r:id="rId13"/>
              </p:custDataLst>
            </p:nvPr>
          </p:nvSpPr>
          <p:spPr>
            <a:xfrm>
              <a:off x="-1338512" y="919137"/>
              <a:ext cx="720000" cy="720000"/>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lumMod val="50000"/>
                  </a:prstClr>
                </a:solidFill>
                <a:effectLst/>
                <a:uLnTx/>
                <a:uFillTx/>
                <a:latin typeface="Trebuchet MS"/>
                <a:ea typeface="+mn-ea"/>
                <a:cs typeface="+mn-cs"/>
              </a:endParaRPr>
            </a:p>
          </p:txBody>
        </p:sp>
        <p:grpSp>
          <p:nvGrpSpPr>
            <p:cNvPr id="38" name="Group 37">
              <a:extLst>
                <a:ext uri="{FF2B5EF4-FFF2-40B4-BE49-F238E27FC236}">
                  <a16:creationId xmlns:a16="http://schemas.microsoft.com/office/drawing/2014/main" id="{7C9F97DB-BA59-A15B-9436-9BEABB5D31CA}"/>
                </a:ext>
              </a:extLst>
            </p:cNvPr>
            <p:cNvGrpSpPr>
              <a:grpSpLocks noChangeAspect="1"/>
            </p:cNvGrpSpPr>
            <p:nvPr/>
          </p:nvGrpSpPr>
          <p:grpSpPr>
            <a:xfrm>
              <a:off x="-1237781" y="1024578"/>
              <a:ext cx="515974" cy="515974"/>
              <a:chOff x="5273675" y="2606675"/>
              <a:chExt cx="1644650" cy="1644650"/>
            </a:xfrm>
          </p:grpSpPr>
          <p:sp>
            <p:nvSpPr>
              <p:cNvPr id="39" name="AutoShape 3">
                <a:extLst>
                  <a:ext uri="{FF2B5EF4-FFF2-40B4-BE49-F238E27FC236}">
                    <a16:creationId xmlns:a16="http://schemas.microsoft.com/office/drawing/2014/main" id="{CA3A6EC5-9B54-295F-7550-D30766BB28B7}"/>
                  </a:ext>
                </a:extLst>
              </p:cNvPr>
              <p:cNvSpPr>
                <a:spLocks noChangeAspect="1" noChangeArrowheads="1" noTextEdit="1"/>
              </p:cNvSpPr>
              <p:nvPr/>
            </p:nvSpPr>
            <p:spPr bwMode="auto">
              <a:xfrm>
                <a:off x="5273675" y="2606675"/>
                <a:ext cx="1644650"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nvGrpSpPr>
              <p:cNvPr id="40" name="Group 39">
                <a:extLst>
                  <a:ext uri="{FF2B5EF4-FFF2-40B4-BE49-F238E27FC236}">
                    <a16:creationId xmlns:a16="http://schemas.microsoft.com/office/drawing/2014/main" id="{AC580863-BC53-550C-516F-063F9746333B}"/>
                  </a:ext>
                </a:extLst>
              </p:cNvPr>
              <p:cNvGrpSpPr/>
              <p:nvPr/>
            </p:nvGrpSpPr>
            <p:grpSpPr>
              <a:xfrm>
                <a:off x="5646738" y="2776538"/>
                <a:ext cx="898525" cy="1304925"/>
                <a:chOff x="5646738" y="2776538"/>
                <a:chExt cx="898525" cy="1304925"/>
              </a:xfrm>
            </p:grpSpPr>
            <p:sp>
              <p:nvSpPr>
                <p:cNvPr id="41" name="Freeform 5">
                  <a:extLst>
                    <a:ext uri="{FF2B5EF4-FFF2-40B4-BE49-F238E27FC236}">
                      <a16:creationId xmlns:a16="http://schemas.microsoft.com/office/drawing/2014/main" id="{8F37436D-D85D-8BA1-4D6A-88493545FE24}"/>
                    </a:ext>
                  </a:extLst>
                </p:cNvPr>
                <p:cNvSpPr>
                  <a:spLocks/>
                </p:cNvSpPr>
                <p:nvPr/>
              </p:nvSpPr>
              <p:spPr bwMode="auto">
                <a:xfrm>
                  <a:off x="5646738" y="2890838"/>
                  <a:ext cx="898525" cy="1190625"/>
                </a:xfrm>
                <a:custGeom>
                  <a:avLst/>
                  <a:gdLst>
                    <a:gd name="T0" fmla="*/ 22 w 1258"/>
                    <a:gd name="T1" fmla="*/ 1670 h 1670"/>
                    <a:gd name="T2" fmla="*/ 1236 w 1258"/>
                    <a:gd name="T3" fmla="*/ 1670 h 1670"/>
                    <a:gd name="T4" fmla="*/ 1258 w 1258"/>
                    <a:gd name="T5" fmla="*/ 1648 h 1670"/>
                    <a:gd name="T6" fmla="*/ 1258 w 1258"/>
                    <a:gd name="T7" fmla="*/ 22 h 1670"/>
                    <a:gd name="T8" fmla="*/ 1236 w 1258"/>
                    <a:gd name="T9" fmla="*/ 0 h 1670"/>
                    <a:gd name="T10" fmla="*/ 876 w 1258"/>
                    <a:gd name="T11" fmla="*/ 0 h 1670"/>
                    <a:gd name="T12" fmla="*/ 876 w 1258"/>
                    <a:gd name="T13" fmla="*/ 44 h 1670"/>
                    <a:gd name="T14" fmla="*/ 1214 w 1258"/>
                    <a:gd name="T15" fmla="*/ 44 h 1670"/>
                    <a:gd name="T16" fmla="*/ 1214 w 1258"/>
                    <a:gd name="T17" fmla="*/ 1626 h 1670"/>
                    <a:gd name="T18" fmla="*/ 44 w 1258"/>
                    <a:gd name="T19" fmla="*/ 1626 h 1670"/>
                    <a:gd name="T20" fmla="*/ 44 w 1258"/>
                    <a:gd name="T21" fmla="*/ 44 h 1670"/>
                    <a:gd name="T22" fmla="*/ 382 w 1258"/>
                    <a:gd name="T23" fmla="*/ 44 h 1670"/>
                    <a:gd name="T24" fmla="*/ 382 w 1258"/>
                    <a:gd name="T25" fmla="*/ 0 h 1670"/>
                    <a:gd name="T26" fmla="*/ 22 w 1258"/>
                    <a:gd name="T27" fmla="*/ 0 h 1670"/>
                    <a:gd name="T28" fmla="*/ 0 w 1258"/>
                    <a:gd name="T29" fmla="*/ 22 h 1670"/>
                    <a:gd name="T30" fmla="*/ 0 w 1258"/>
                    <a:gd name="T31" fmla="*/ 1648 h 1670"/>
                    <a:gd name="T32" fmla="*/ 22 w 1258"/>
                    <a:gd name="T33" fmla="*/ 1670 h 1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58" h="1670">
                      <a:moveTo>
                        <a:pt x="22" y="1670"/>
                      </a:moveTo>
                      <a:cubicBezTo>
                        <a:pt x="1236" y="1670"/>
                        <a:pt x="1236" y="1670"/>
                        <a:pt x="1236" y="1670"/>
                      </a:cubicBezTo>
                      <a:cubicBezTo>
                        <a:pt x="1249" y="1670"/>
                        <a:pt x="1258" y="1661"/>
                        <a:pt x="1258" y="1648"/>
                      </a:cubicBezTo>
                      <a:cubicBezTo>
                        <a:pt x="1258" y="22"/>
                        <a:pt x="1258" y="22"/>
                        <a:pt x="1258" y="22"/>
                      </a:cubicBezTo>
                      <a:cubicBezTo>
                        <a:pt x="1258" y="10"/>
                        <a:pt x="1249" y="0"/>
                        <a:pt x="1236" y="0"/>
                      </a:cubicBezTo>
                      <a:cubicBezTo>
                        <a:pt x="876" y="0"/>
                        <a:pt x="876" y="0"/>
                        <a:pt x="876" y="0"/>
                      </a:cubicBezTo>
                      <a:cubicBezTo>
                        <a:pt x="876" y="44"/>
                        <a:pt x="876" y="44"/>
                        <a:pt x="876" y="44"/>
                      </a:cubicBezTo>
                      <a:cubicBezTo>
                        <a:pt x="1214" y="44"/>
                        <a:pt x="1214" y="44"/>
                        <a:pt x="1214" y="44"/>
                      </a:cubicBezTo>
                      <a:cubicBezTo>
                        <a:pt x="1214" y="1626"/>
                        <a:pt x="1214" y="1626"/>
                        <a:pt x="1214" y="1626"/>
                      </a:cubicBezTo>
                      <a:cubicBezTo>
                        <a:pt x="44" y="1626"/>
                        <a:pt x="44" y="1626"/>
                        <a:pt x="44" y="1626"/>
                      </a:cubicBezTo>
                      <a:cubicBezTo>
                        <a:pt x="44" y="44"/>
                        <a:pt x="44" y="44"/>
                        <a:pt x="44" y="44"/>
                      </a:cubicBezTo>
                      <a:cubicBezTo>
                        <a:pt x="382" y="44"/>
                        <a:pt x="382" y="44"/>
                        <a:pt x="382" y="44"/>
                      </a:cubicBezTo>
                      <a:cubicBezTo>
                        <a:pt x="382" y="0"/>
                        <a:pt x="382" y="0"/>
                        <a:pt x="382" y="0"/>
                      </a:cubicBezTo>
                      <a:cubicBezTo>
                        <a:pt x="22" y="0"/>
                        <a:pt x="22" y="0"/>
                        <a:pt x="22" y="0"/>
                      </a:cubicBezTo>
                      <a:cubicBezTo>
                        <a:pt x="9" y="0"/>
                        <a:pt x="0" y="10"/>
                        <a:pt x="0" y="22"/>
                      </a:cubicBezTo>
                      <a:cubicBezTo>
                        <a:pt x="0" y="1648"/>
                        <a:pt x="0" y="1648"/>
                        <a:pt x="0" y="1648"/>
                      </a:cubicBezTo>
                      <a:cubicBezTo>
                        <a:pt x="0" y="1661"/>
                        <a:pt x="9" y="1670"/>
                        <a:pt x="22" y="167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42" name="Freeform 29">
                  <a:extLst>
                    <a:ext uri="{FF2B5EF4-FFF2-40B4-BE49-F238E27FC236}">
                      <a16:creationId xmlns:a16="http://schemas.microsoft.com/office/drawing/2014/main" id="{49ED5008-564F-3C91-2722-8D658683DCDB}"/>
                    </a:ext>
                  </a:extLst>
                </p:cNvPr>
                <p:cNvSpPr>
                  <a:spLocks/>
                </p:cNvSpPr>
                <p:nvPr/>
              </p:nvSpPr>
              <p:spPr bwMode="auto">
                <a:xfrm>
                  <a:off x="5795963" y="2776538"/>
                  <a:ext cx="600075" cy="1093787"/>
                </a:xfrm>
                <a:custGeom>
                  <a:avLst/>
                  <a:gdLst>
                    <a:gd name="connsiteX0" fmla="*/ 296727 w 600075"/>
                    <a:gd name="connsiteY0" fmla="*/ 1044575 h 1093787"/>
                    <a:gd name="connsiteX1" fmla="*/ 584335 w 600075"/>
                    <a:gd name="connsiteY1" fmla="*/ 1044575 h 1093787"/>
                    <a:gd name="connsiteX2" fmla="*/ 600075 w 600075"/>
                    <a:gd name="connsiteY2" fmla="*/ 1060450 h 1093787"/>
                    <a:gd name="connsiteX3" fmla="*/ 584335 w 600075"/>
                    <a:gd name="connsiteY3" fmla="*/ 1076325 h 1093787"/>
                    <a:gd name="connsiteX4" fmla="*/ 296727 w 600075"/>
                    <a:gd name="connsiteY4" fmla="*/ 1076325 h 1093787"/>
                    <a:gd name="connsiteX5" fmla="*/ 280987 w 600075"/>
                    <a:gd name="connsiteY5" fmla="*/ 1060450 h 1093787"/>
                    <a:gd name="connsiteX6" fmla="*/ 296727 w 600075"/>
                    <a:gd name="connsiteY6" fmla="*/ 1044575 h 1093787"/>
                    <a:gd name="connsiteX7" fmla="*/ 31750 w 600075"/>
                    <a:gd name="connsiteY7" fmla="*/ 971550 h 1093787"/>
                    <a:gd name="connsiteX8" fmla="*/ 31750 w 600075"/>
                    <a:gd name="connsiteY8" fmla="*/ 1062038 h 1093787"/>
                    <a:gd name="connsiteX9" fmla="*/ 122238 w 600075"/>
                    <a:gd name="connsiteY9" fmla="*/ 1062038 h 1093787"/>
                    <a:gd name="connsiteX10" fmla="*/ 122238 w 600075"/>
                    <a:gd name="connsiteY10" fmla="*/ 971550 h 1093787"/>
                    <a:gd name="connsiteX11" fmla="*/ 296727 w 600075"/>
                    <a:gd name="connsiteY11" fmla="*/ 958850 h 1093787"/>
                    <a:gd name="connsiteX12" fmla="*/ 584335 w 600075"/>
                    <a:gd name="connsiteY12" fmla="*/ 958850 h 1093787"/>
                    <a:gd name="connsiteX13" fmla="*/ 600075 w 600075"/>
                    <a:gd name="connsiteY13" fmla="*/ 974725 h 1093787"/>
                    <a:gd name="connsiteX14" fmla="*/ 584335 w 600075"/>
                    <a:gd name="connsiteY14" fmla="*/ 990600 h 1093787"/>
                    <a:gd name="connsiteX15" fmla="*/ 296727 w 600075"/>
                    <a:gd name="connsiteY15" fmla="*/ 990600 h 1093787"/>
                    <a:gd name="connsiteX16" fmla="*/ 280987 w 600075"/>
                    <a:gd name="connsiteY16" fmla="*/ 974725 h 1093787"/>
                    <a:gd name="connsiteX17" fmla="*/ 296727 w 600075"/>
                    <a:gd name="connsiteY17" fmla="*/ 958850 h 1093787"/>
                    <a:gd name="connsiteX18" fmla="*/ 15668 w 600075"/>
                    <a:gd name="connsiteY18" fmla="*/ 941387 h 1093787"/>
                    <a:gd name="connsiteX19" fmla="*/ 136733 w 600075"/>
                    <a:gd name="connsiteY19" fmla="*/ 941387 h 1093787"/>
                    <a:gd name="connsiteX20" fmla="*/ 152400 w 600075"/>
                    <a:gd name="connsiteY20" fmla="*/ 957054 h 1093787"/>
                    <a:gd name="connsiteX21" fmla="*/ 152400 w 600075"/>
                    <a:gd name="connsiteY21" fmla="*/ 1078120 h 1093787"/>
                    <a:gd name="connsiteX22" fmla="*/ 136733 w 600075"/>
                    <a:gd name="connsiteY22" fmla="*/ 1093787 h 1093787"/>
                    <a:gd name="connsiteX23" fmla="*/ 15668 w 600075"/>
                    <a:gd name="connsiteY23" fmla="*/ 1093787 h 1093787"/>
                    <a:gd name="connsiteX24" fmla="*/ 0 w 600075"/>
                    <a:gd name="connsiteY24" fmla="*/ 1078120 h 1093787"/>
                    <a:gd name="connsiteX25" fmla="*/ 0 w 600075"/>
                    <a:gd name="connsiteY25" fmla="*/ 957054 h 1093787"/>
                    <a:gd name="connsiteX26" fmla="*/ 15668 w 600075"/>
                    <a:gd name="connsiteY26" fmla="*/ 941387 h 1093787"/>
                    <a:gd name="connsiteX27" fmla="*/ 296727 w 600075"/>
                    <a:gd name="connsiteY27" fmla="*/ 766762 h 1093787"/>
                    <a:gd name="connsiteX28" fmla="*/ 584335 w 600075"/>
                    <a:gd name="connsiteY28" fmla="*/ 766762 h 1093787"/>
                    <a:gd name="connsiteX29" fmla="*/ 600075 w 600075"/>
                    <a:gd name="connsiteY29" fmla="*/ 782637 h 1093787"/>
                    <a:gd name="connsiteX30" fmla="*/ 584335 w 600075"/>
                    <a:gd name="connsiteY30" fmla="*/ 798512 h 1093787"/>
                    <a:gd name="connsiteX31" fmla="*/ 296727 w 600075"/>
                    <a:gd name="connsiteY31" fmla="*/ 798512 h 1093787"/>
                    <a:gd name="connsiteX32" fmla="*/ 280987 w 600075"/>
                    <a:gd name="connsiteY32" fmla="*/ 782637 h 1093787"/>
                    <a:gd name="connsiteX33" fmla="*/ 296727 w 600075"/>
                    <a:gd name="connsiteY33" fmla="*/ 766762 h 1093787"/>
                    <a:gd name="connsiteX34" fmla="*/ 31750 w 600075"/>
                    <a:gd name="connsiteY34" fmla="*/ 695325 h 1093787"/>
                    <a:gd name="connsiteX35" fmla="*/ 31750 w 600075"/>
                    <a:gd name="connsiteY35" fmla="*/ 785813 h 1093787"/>
                    <a:gd name="connsiteX36" fmla="*/ 122238 w 600075"/>
                    <a:gd name="connsiteY36" fmla="*/ 785813 h 1093787"/>
                    <a:gd name="connsiteX37" fmla="*/ 122238 w 600075"/>
                    <a:gd name="connsiteY37" fmla="*/ 695325 h 1093787"/>
                    <a:gd name="connsiteX38" fmla="*/ 296727 w 600075"/>
                    <a:gd name="connsiteY38" fmla="*/ 681037 h 1093787"/>
                    <a:gd name="connsiteX39" fmla="*/ 584335 w 600075"/>
                    <a:gd name="connsiteY39" fmla="*/ 681037 h 1093787"/>
                    <a:gd name="connsiteX40" fmla="*/ 600075 w 600075"/>
                    <a:gd name="connsiteY40" fmla="*/ 696912 h 1093787"/>
                    <a:gd name="connsiteX41" fmla="*/ 584335 w 600075"/>
                    <a:gd name="connsiteY41" fmla="*/ 712787 h 1093787"/>
                    <a:gd name="connsiteX42" fmla="*/ 296727 w 600075"/>
                    <a:gd name="connsiteY42" fmla="*/ 712787 h 1093787"/>
                    <a:gd name="connsiteX43" fmla="*/ 280987 w 600075"/>
                    <a:gd name="connsiteY43" fmla="*/ 696912 h 1093787"/>
                    <a:gd name="connsiteX44" fmla="*/ 296727 w 600075"/>
                    <a:gd name="connsiteY44" fmla="*/ 681037 h 1093787"/>
                    <a:gd name="connsiteX45" fmla="*/ 15668 w 600075"/>
                    <a:gd name="connsiteY45" fmla="*/ 663575 h 1093787"/>
                    <a:gd name="connsiteX46" fmla="*/ 136733 w 600075"/>
                    <a:gd name="connsiteY46" fmla="*/ 663575 h 1093787"/>
                    <a:gd name="connsiteX47" fmla="*/ 152400 w 600075"/>
                    <a:gd name="connsiteY47" fmla="*/ 679242 h 1093787"/>
                    <a:gd name="connsiteX48" fmla="*/ 152400 w 600075"/>
                    <a:gd name="connsiteY48" fmla="*/ 800308 h 1093787"/>
                    <a:gd name="connsiteX49" fmla="*/ 136733 w 600075"/>
                    <a:gd name="connsiteY49" fmla="*/ 815975 h 1093787"/>
                    <a:gd name="connsiteX50" fmla="*/ 15668 w 600075"/>
                    <a:gd name="connsiteY50" fmla="*/ 815975 h 1093787"/>
                    <a:gd name="connsiteX51" fmla="*/ 0 w 600075"/>
                    <a:gd name="connsiteY51" fmla="*/ 800308 h 1093787"/>
                    <a:gd name="connsiteX52" fmla="*/ 0 w 600075"/>
                    <a:gd name="connsiteY52" fmla="*/ 679242 h 1093787"/>
                    <a:gd name="connsiteX53" fmla="*/ 15668 w 600075"/>
                    <a:gd name="connsiteY53" fmla="*/ 663575 h 1093787"/>
                    <a:gd name="connsiteX54" fmla="*/ 296727 w 600075"/>
                    <a:gd name="connsiteY54" fmla="*/ 485775 h 1093787"/>
                    <a:gd name="connsiteX55" fmla="*/ 584335 w 600075"/>
                    <a:gd name="connsiteY55" fmla="*/ 485775 h 1093787"/>
                    <a:gd name="connsiteX56" fmla="*/ 600075 w 600075"/>
                    <a:gd name="connsiteY56" fmla="*/ 501650 h 1093787"/>
                    <a:gd name="connsiteX57" fmla="*/ 584335 w 600075"/>
                    <a:gd name="connsiteY57" fmla="*/ 517525 h 1093787"/>
                    <a:gd name="connsiteX58" fmla="*/ 296727 w 600075"/>
                    <a:gd name="connsiteY58" fmla="*/ 517525 h 1093787"/>
                    <a:gd name="connsiteX59" fmla="*/ 280987 w 600075"/>
                    <a:gd name="connsiteY59" fmla="*/ 501650 h 1093787"/>
                    <a:gd name="connsiteX60" fmla="*/ 296727 w 600075"/>
                    <a:gd name="connsiteY60" fmla="*/ 485775 h 1093787"/>
                    <a:gd name="connsiteX61" fmla="*/ 31750 w 600075"/>
                    <a:gd name="connsiteY61" fmla="*/ 412750 h 1093787"/>
                    <a:gd name="connsiteX62" fmla="*/ 31750 w 600075"/>
                    <a:gd name="connsiteY62" fmla="*/ 503238 h 1093787"/>
                    <a:gd name="connsiteX63" fmla="*/ 122238 w 600075"/>
                    <a:gd name="connsiteY63" fmla="*/ 503238 h 1093787"/>
                    <a:gd name="connsiteX64" fmla="*/ 122238 w 600075"/>
                    <a:gd name="connsiteY64" fmla="*/ 412750 h 1093787"/>
                    <a:gd name="connsiteX65" fmla="*/ 296727 w 600075"/>
                    <a:gd name="connsiteY65" fmla="*/ 400050 h 1093787"/>
                    <a:gd name="connsiteX66" fmla="*/ 584335 w 600075"/>
                    <a:gd name="connsiteY66" fmla="*/ 400050 h 1093787"/>
                    <a:gd name="connsiteX67" fmla="*/ 600075 w 600075"/>
                    <a:gd name="connsiteY67" fmla="*/ 415925 h 1093787"/>
                    <a:gd name="connsiteX68" fmla="*/ 584335 w 600075"/>
                    <a:gd name="connsiteY68" fmla="*/ 431800 h 1093787"/>
                    <a:gd name="connsiteX69" fmla="*/ 296727 w 600075"/>
                    <a:gd name="connsiteY69" fmla="*/ 431800 h 1093787"/>
                    <a:gd name="connsiteX70" fmla="*/ 280987 w 600075"/>
                    <a:gd name="connsiteY70" fmla="*/ 415925 h 1093787"/>
                    <a:gd name="connsiteX71" fmla="*/ 296727 w 600075"/>
                    <a:gd name="connsiteY71" fmla="*/ 400050 h 1093787"/>
                    <a:gd name="connsiteX72" fmla="*/ 15668 w 600075"/>
                    <a:gd name="connsiteY72" fmla="*/ 382587 h 1093787"/>
                    <a:gd name="connsiteX73" fmla="*/ 136733 w 600075"/>
                    <a:gd name="connsiteY73" fmla="*/ 382587 h 1093787"/>
                    <a:gd name="connsiteX74" fmla="*/ 152400 w 600075"/>
                    <a:gd name="connsiteY74" fmla="*/ 398182 h 1093787"/>
                    <a:gd name="connsiteX75" fmla="*/ 152400 w 600075"/>
                    <a:gd name="connsiteY75" fmla="*/ 519393 h 1093787"/>
                    <a:gd name="connsiteX76" fmla="*/ 136733 w 600075"/>
                    <a:gd name="connsiteY76" fmla="*/ 534987 h 1093787"/>
                    <a:gd name="connsiteX77" fmla="*/ 15668 w 600075"/>
                    <a:gd name="connsiteY77" fmla="*/ 534987 h 1093787"/>
                    <a:gd name="connsiteX78" fmla="*/ 0 w 600075"/>
                    <a:gd name="connsiteY78" fmla="*/ 519393 h 1093787"/>
                    <a:gd name="connsiteX79" fmla="*/ 0 w 600075"/>
                    <a:gd name="connsiteY79" fmla="*/ 398182 h 1093787"/>
                    <a:gd name="connsiteX80" fmla="*/ 15668 w 600075"/>
                    <a:gd name="connsiteY80" fmla="*/ 382587 h 1093787"/>
                    <a:gd name="connsiteX81" fmla="*/ 301266 w 600075"/>
                    <a:gd name="connsiteY81" fmla="*/ 31750 h 1093787"/>
                    <a:gd name="connsiteX82" fmla="*/ 279758 w 600075"/>
                    <a:gd name="connsiteY82" fmla="*/ 36027 h 1093787"/>
                    <a:gd name="connsiteX83" fmla="*/ 246062 w 600075"/>
                    <a:gd name="connsiteY83" fmla="*/ 66675 h 1093787"/>
                    <a:gd name="connsiteX84" fmla="*/ 357187 w 600075"/>
                    <a:gd name="connsiteY84" fmla="*/ 66675 h 1093787"/>
                    <a:gd name="connsiteX85" fmla="*/ 323491 w 600075"/>
                    <a:gd name="connsiteY85" fmla="*/ 36027 h 1093787"/>
                    <a:gd name="connsiteX86" fmla="*/ 301266 w 600075"/>
                    <a:gd name="connsiteY86" fmla="*/ 31750 h 1093787"/>
                    <a:gd name="connsiteX87" fmla="*/ 300832 w 600075"/>
                    <a:gd name="connsiteY87" fmla="*/ 0 h 1093787"/>
                    <a:gd name="connsiteX88" fmla="*/ 373818 w 600075"/>
                    <a:gd name="connsiteY88" fmla="*/ 35602 h 1093787"/>
                    <a:gd name="connsiteX89" fmla="*/ 390275 w 600075"/>
                    <a:gd name="connsiteY89" fmla="*/ 66220 h 1093787"/>
                    <a:gd name="connsiteX90" fmla="*/ 439648 w 600075"/>
                    <a:gd name="connsiteY90" fmla="*/ 66220 h 1093787"/>
                    <a:gd name="connsiteX91" fmla="*/ 446088 w 600075"/>
                    <a:gd name="connsiteY91" fmla="*/ 73340 h 1093787"/>
                    <a:gd name="connsiteX92" fmla="*/ 446088 w 600075"/>
                    <a:gd name="connsiteY92" fmla="*/ 113927 h 1093787"/>
                    <a:gd name="connsiteX93" fmla="*/ 446088 w 600075"/>
                    <a:gd name="connsiteY93" fmla="*/ 145256 h 1093787"/>
                    <a:gd name="connsiteX94" fmla="*/ 446088 w 600075"/>
                    <a:gd name="connsiteY94" fmla="*/ 178010 h 1093787"/>
                    <a:gd name="connsiteX95" fmla="*/ 431062 w 600075"/>
                    <a:gd name="connsiteY95" fmla="*/ 193675 h 1093787"/>
                    <a:gd name="connsiteX96" fmla="*/ 171317 w 600075"/>
                    <a:gd name="connsiteY96" fmla="*/ 193675 h 1093787"/>
                    <a:gd name="connsiteX97" fmla="*/ 155575 w 600075"/>
                    <a:gd name="connsiteY97" fmla="*/ 178010 h 1093787"/>
                    <a:gd name="connsiteX98" fmla="*/ 155575 w 600075"/>
                    <a:gd name="connsiteY98" fmla="*/ 145256 h 1093787"/>
                    <a:gd name="connsiteX99" fmla="*/ 155575 w 600075"/>
                    <a:gd name="connsiteY99" fmla="*/ 113927 h 1093787"/>
                    <a:gd name="connsiteX100" fmla="*/ 155575 w 600075"/>
                    <a:gd name="connsiteY100" fmla="*/ 73340 h 1093787"/>
                    <a:gd name="connsiteX101" fmla="*/ 162731 w 600075"/>
                    <a:gd name="connsiteY101" fmla="*/ 66220 h 1093787"/>
                    <a:gd name="connsiteX102" fmla="*/ 212104 w 600075"/>
                    <a:gd name="connsiteY102" fmla="*/ 66220 h 1093787"/>
                    <a:gd name="connsiteX103" fmla="*/ 227846 w 600075"/>
                    <a:gd name="connsiteY103" fmla="*/ 35602 h 1093787"/>
                    <a:gd name="connsiteX104" fmla="*/ 300832 w 600075"/>
                    <a:gd name="connsiteY104" fmla="*/ 0 h 1093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00075" h="1093787">
                      <a:moveTo>
                        <a:pt x="296727" y="1044575"/>
                      </a:moveTo>
                      <a:cubicBezTo>
                        <a:pt x="296727" y="1044575"/>
                        <a:pt x="296727" y="1044575"/>
                        <a:pt x="584335" y="1044575"/>
                      </a:cubicBezTo>
                      <a:cubicBezTo>
                        <a:pt x="592921" y="1044575"/>
                        <a:pt x="600075" y="1051791"/>
                        <a:pt x="600075" y="1060450"/>
                      </a:cubicBezTo>
                      <a:cubicBezTo>
                        <a:pt x="600075" y="1069109"/>
                        <a:pt x="592921" y="1076325"/>
                        <a:pt x="584335" y="1076325"/>
                      </a:cubicBezTo>
                      <a:cubicBezTo>
                        <a:pt x="584335" y="1076325"/>
                        <a:pt x="584335" y="1076325"/>
                        <a:pt x="296727" y="1076325"/>
                      </a:cubicBezTo>
                      <a:cubicBezTo>
                        <a:pt x="288142" y="1076325"/>
                        <a:pt x="280987" y="1069109"/>
                        <a:pt x="280987" y="1060450"/>
                      </a:cubicBezTo>
                      <a:cubicBezTo>
                        <a:pt x="280987" y="1051791"/>
                        <a:pt x="288142" y="1044575"/>
                        <a:pt x="296727" y="1044575"/>
                      </a:cubicBezTo>
                      <a:close/>
                      <a:moveTo>
                        <a:pt x="31750" y="971550"/>
                      </a:moveTo>
                      <a:lnTo>
                        <a:pt x="31750" y="1062038"/>
                      </a:lnTo>
                      <a:lnTo>
                        <a:pt x="122238" y="1062038"/>
                      </a:lnTo>
                      <a:lnTo>
                        <a:pt x="122238" y="971550"/>
                      </a:lnTo>
                      <a:close/>
                      <a:moveTo>
                        <a:pt x="296727" y="958850"/>
                      </a:moveTo>
                      <a:cubicBezTo>
                        <a:pt x="296727" y="958850"/>
                        <a:pt x="296727" y="958850"/>
                        <a:pt x="584335" y="958850"/>
                      </a:cubicBezTo>
                      <a:cubicBezTo>
                        <a:pt x="592921" y="958850"/>
                        <a:pt x="600075" y="966066"/>
                        <a:pt x="600075" y="974725"/>
                      </a:cubicBezTo>
                      <a:cubicBezTo>
                        <a:pt x="600075" y="983384"/>
                        <a:pt x="592921" y="990600"/>
                        <a:pt x="584335" y="990600"/>
                      </a:cubicBezTo>
                      <a:cubicBezTo>
                        <a:pt x="584335" y="990600"/>
                        <a:pt x="584335" y="990600"/>
                        <a:pt x="296727" y="990600"/>
                      </a:cubicBezTo>
                      <a:cubicBezTo>
                        <a:pt x="288142" y="990600"/>
                        <a:pt x="280987" y="983384"/>
                        <a:pt x="280987" y="974725"/>
                      </a:cubicBezTo>
                      <a:cubicBezTo>
                        <a:pt x="280987" y="966066"/>
                        <a:pt x="288142" y="958850"/>
                        <a:pt x="296727" y="958850"/>
                      </a:cubicBezTo>
                      <a:close/>
                      <a:moveTo>
                        <a:pt x="15668" y="941387"/>
                      </a:moveTo>
                      <a:cubicBezTo>
                        <a:pt x="15668" y="941387"/>
                        <a:pt x="15668" y="941387"/>
                        <a:pt x="136733" y="941387"/>
                      </a:cubicBezTo>
                      <a:cubicBezTo>
                        <a:pt x="145991" y="941387"/>
                        <a:pt x="152400" y="948509"/>
                        <a:pt x="152400" y="957054"/>
                      </a:cubicBezTo>
                      <a:cubicBezTo>
                        <a:pt x="152400" y="957054"/>
                        <a:pt x="152400" y="957054"/>
                        <a:pt x="152400" y="1078120"/>
                      </a:cubicBezTo>
                      <a:cubicBezTo>
                        <a:pt x="152400" y="1086666"/>
                        <a:pt x="145991" y="1093787"/>
                        <a:pt x="136733" y="1093787"/>
                      </a:cubicBezTo>
                      <a:cubicBezTo>
                        <a:pt x="136733" y="1093787"/>
                        <a:pt x="136733" y="1093787"/>
                        <a:pt x="15668" y="1093787"/>
                      </a:cubicBezTo>
                      <a:cubicBezTo>
                        <a:pt x="7122" y="1093787"/>
                        <a:pt x="0" y="1086666"/>
                        <a:pt x="0" y="1078120"/>
                      </a:cubicBezTo>
                      <a:cubicBezTo>
                        <a:pt x="0" y="1078120"/>
                        <a:pt x="0" y="1078120"/>
                        <a:pt x="0" y="957054"/>
                      </a:cubicBezTo>
                      <a:cubicBezTo>
                        <a:pt x="0" y="948509"/>
                        <a:pt x="7122" y="941387"/>
                        <a:pt x="15668" y="941387"/>
                      </a:cubicBezTo>
                      <a:close/>
                      <a:moveTo>
                        <a:pt x="296727" y="766762"/>
                      </a:moveTo>
                      <a:cubicBezTo>
                        <a:pt x="296727" y="766762"/>
                        <a:pt x="296727" y="766762"/>
                        <a:pt x="584335" y="766762"/>
                      </a:cubicBezTo>
                      <a:cubicBezTo>
                        <a:pt x="592921" y="766762"/>
                        <a:pt x="600075" y="773978"/>
                        <a:pt x="600075" y="782637"/>
                      </a:cubicBezTo>
                      <a:cubicBezTo>
                        <a:pt x="600075" y="791296"/>
                        <a:pt x="592921" y="798512"/>
                        <a:pt x="584335" y="798512"/>
                      </a:cubicBezTo>
                      <a:cubicBezTo>
                        <a:pt x="584335" y="798512"/>
                        <a:pt x="584335" y="798512"/>
                        <a:pt x="296727" y="798512"/>
                      </a:cubicBezTo>
                      <a:cubicBezTo>
                        <a:pt x="288142" y="798512"/>
                        <a:pt x="280987" y="791296"/>
                        <a:pt x="280987" y="782637"/>
                      </a:cubicBezTo>
                      <a:cubicBezTo>
                        <a:pt x="280987" y="773978"/>
                        <a:pt x="288142" y="766762"/>
                        <a:pt x="296727" y="766762"/>
                      </a:cubicBezTo>
                      <a:close/>
                      <a:moveTo>
                        <a:pt x="31750" y="695325"/>
                      </a:moveTo>
                      <a:lnTo>
                        <a:pt x="31750" y="785813"/>
                      </a:lnTo>
                      <a:lnTo>
                        <a:pt x="122238" y="785813"/>
                      </a:lnTo>
                      <a:lnTo>
                        <a:pt x="122238" y="695325"/>
                      </a:lnTo>
                      <a:close/>
                      <a:moveTo>
                        <a:pt x="296727" y="681037"/>
                      </a:moveTo>
                      <a:cubicBezTo>
                        <a:pt x="296727" y="681037"/>
                        <a:pt x="296727" y="681037"/>
                        <a:pt x="584335" y="681037"/>
                      </a:cubicBezTo>
                      <a:cubicBezTo>
                        <a:pt x="592921" y="681037"/>
                        <a:pt x="600075" y="688253"/>
                        <a:pt x="600075" y="696912"/>
                      </a:cubicBezTo>
                      <a:cubicBezTo>
                        <a:pt x="600075" y="705571"/>
                        <a:pt x="592921" y="712787"/>
                        <a:pt x="584335" y="712787"/>
                      </a:cubicBezTo>
                      <a:cubicBezTo>
                        <a:pt x="584335" y="712787"/>
                        <a:pt x="584335" y="712787"/>
                        <a:pt x="296727" y="712787"/>
                      </a:cubicBezTo>
                      <a:cubicBezTo>
                        <a:pt x="288142" y="712787"/>
                        <a:pt x="280987" y="705571"/>
                        <a:pt x="280987" y="696912"/>
                      </a:cubicBezTo>
                      <a:cubicBezTo>
                        <a:pt x="280987" y="688253"/>
                        <a:pt x="288142" y="681037"/>
                        <a:pt x="296727" y="681037"/>
                      </a:cubicBezTo>
                      <a:close/>
                      <a:moveTo>
                        <a:pt x="15668" y="663575"/>
                      </a:moveTo>
                      <a:cubicBezTo>
                        <a:pt x="15668" y="663575"/>
                        <a:pt x="15668" y="663575"/>
                        <a:pt x="136733" y="663575"/>
                      </a:cubicBezTo>
                      <a:cubicBezTo>
                        <a:pt x="145991" y="663575"/>
                        <a:pt x="152400" y="670697"/>
                        <a:pt x="152400" y="679242"/>
                      </a:cubicBezTo>
                      <a:cubicBezTo>
                        <a:pt x="152400" y="679242"/>
                        <a:pt x="152400" y="679242"/>
                        <a:pt x="152400" y="800308"/>
                      </a:cubicBezTo>
                      <a:cubicBezTo>
                        <a:pt x="152400" y="808854"/>
                        <a:pt x="145991" y="815975"/>
                        <a:pt x="136733" y="815975"/>
                      </a:cubicBezTo>
                      <a:cubicBezTo>
                        <a:pt x="136733" y="815975"/>
                        <a:pt x="136733" y="815975"/>
                        <a:pt x="15668" y="815975"/>
                      </a:cubicBezTo>
                      <a:cubicBezTo>
                        <a:pt x="7122" y="815975"/>
                        <a:pt x="0" y="808854"/>
                        <a:pt x="0" y="800308"/>
                      </a:cubicBezTo>
                      <a:cubicBezTo>
                        <a:pt x="0" y="800308"/>
                        <a:pt x="0" y="800308"/>
                        <a:pt x="0" y="679242"/>
                      </a:cubicBezTo>
                      <a:cubicBezTo>
                        <a:pt x="0" y="670697"/>
                        <a:pt x="7122" y="663575"/>
                        <a:pt x="15668" y="663575"/>
                      </a:cubicBezTo>
                      <a:close/>
                      <a:moveTo>
                        <a:pt x="296727" y="485775"/>
                      </a:moveTo>
                      <a:cubicBezTo>
                        <a:pt x="296727" y="485775"/>
                        <a:pt x="296727" y="485775"/>
                        <a:pt x="584335" y="485775"/>
                      </a:cubicBezTo>
                      <a:cubicBezTo>
                        <a:pt x="592921" y="485775"/>
                        <a:pt x="600075" y="492991"/>
                        <a:pt x="600075" y="501650"/>
                      </a:cubicBezTo>
                      <a:cubicBezTo>
                        <a:pt x="600075" y="511031"/>
                        <a:pt x="592921" y="517525"/>
                        <a:pt x="584335" y="517525"/>
                      </a:cubicBezTo>
                      <a:cubicBezTo>
                        <a:pt x="584335" y="517525"/>
                        <a:pt x="584335" y="517525"/>
                        <a:pt x="296727" y="517525"/>
                      </a:cubicBezTo>
                      <a:cubicBezTo>
                        <a:pt x="288142" y="517525"/>
                        <a:pt x="280987" y="511031"/>
                        <a:pt x="280987" y="501650"/>
                      </a:cubicBezTo>
                      <a:cubicBezTo>
                        <a:pt x="280987" y="492991"/>
                        <a:pt x="288142" y="485775"/>
                        <a:pt x="296727" y="485775"/>
                      </a:cubicBezTo>
                      <a:close/>
                      <a:moveTo>
                        <a:pt x="31750" y="412750"/>
                      </a:moveTo>
                      <a:lnTo>
                        <a:pt x="31750" y="503238"/>
                      </a:lnTo>
                      <a:lnTo>
                        <a:pt x="122238" y="503238"/>
                      </a:lnTo>
                      <a:lnTo>
                        <a:pt x="122238" y="412750"/>
                      </a:lnTo>
                      <a:close/>
                      <a:moveTo>
                        <a:pt x="296727" y="400050"/>
                      </a:moveTo>
                      <a:cubicBezTo>
                        <a:pt x="296727" y="400050"/>
                        <a:pt x="296727" y="400050"/>
                        <a:pt x="584335" y="400050"/>
                      </a:cubicBezTo>
                      <a:cubicBezTo>
                        <a:pt x="592921" y="400050"/>
                        <a:pt x="600075" y="406544"/>
                        <a:pt x="600075" y="415925"/>
                      </a:cubicBezTo>
                      <a:cubicBezTo>
                        <a:pt x="600075" y="424584"/>
                        <a:pt x="592921" y="431800"/>
                        <a:pt x="584335" y="431800"/>
                      </a:cubicBezTo>
                      <a:cubicBezTo>
                        <a:pt x="584335" y="431800"/>
                        <a:pt x="584335" y="431800"/>
                        <a:pt x="296727" y="431800"/>
                      </a:cubicBezTo>
                      <a:cubicBezTo>
                        <a:pt x="288142" y="431800"/>
                        <a:pt x="280987" y="424584"/>
                        <a:pt x="280987" y="415925"/>
                      </a:cubicBezTo>
                      <a:cubicBezTo>
                        <a:pt x="280987" y="406544"/>
                        <a:pt x="288142" y="400050"/>
                        <a:pt x="296727" y="400050"/>
                      </a:cubicBezTo>
                      <a:close/>
                      <a:moveTo>
                        <a:pt x="15668" y="382587"/>
                      </a:moveTo>
                      <a:cubicBezTo>
                        <a:pt x="15668" y="382587"/>
                        <a:pt x="15668" y="382587"/>
                        <a:pt x="136733" y="382587"/>
                      </a:cubicBezTo>
                      <a:cubicBezTo>
                        <a:pt x="145991" y="382587"/>
                        <a:pt x="152400" y="389675"/>
                        <a:pt x="152400" y="398182"/>
                      </a:cubicBezTo>
                      <a:cubicBezTo>
                        <a:pt x="152400" y="398182"/>
                        <a:pt x="152400" y="398182"/>
                        <a:pt x="152400" y="519393"/>
                      </a:cubicBezTo>
                      <a:cubicBezTo>
                        <a:pt x="152400" y="527899"/>
                        <a:pt x="145991" y="534987"/>
                        <a:pt x="136733" y="534987"/>
                      </a:cubicBezTo>
                      <a:cubicBezTo>
                        <a:pt x="136733" y="534987"/>
                        <a:pt x="136733" y="534987"/>
                        <a:pt x="15668" y="534987"/>
                      </a:cubicBezTo>
                      <a:cubicBezTo>
                        <a:pt x="7122" y="534987"/>
                        <a:pt x="0" y="527899"/>
                        <a:pt x="0" y="519393"/>
                      </a:cubicBezTo>
                      <a:cubicBezTo>
                        <a:pt x="0" y="519393"/>
                        <a:pt x="0" y="519393"/>
                        <a:pt x="0" y="398182"/>
                      </a:cubicBezTo>
                      <a:cubicBezTo>
                        <a:pt x="0" y="389675"/>
                        <a:pt x="7122" y="382587"/>
                        <a:pt x="15668" y="382587"/>
                      </a:cubicBezTo>
                      <a:close/>
                      <a:moveTo>
                        <a:pt x="301266" y="31750"/>
                      </a:moveTo>
                      <a:cubicBezTo>
                        <a:pt x="294097" y="31750"/>
                        <a:pt x="286211" y="33176"/>
                        <a:pt x="279758" y="36027"/>
                      </a:cubicBezTo>
                      <a:cubicBezTo>
                        <a:pt x="264703" y="41016"/>
                        <a:pt x="252515" y="52420"/>
                        <a:pt x="246062" y="66675"/>
                      </a:cubicBezTo>
                      <a:cubicBezTo>
                        <a:pt x="246062" y="66675"/>
                        <a:pt x="246062" y="66675"/>
                        <a:pt x="357187" y="66675"/>
                      </a:cubicBezTo>
                      <a:cubicBezTo>
                        <a:pt x="350018" y="52420"/>
                        <a:pt x="337830" y="41016"/>
                        <a:pt x="323491" y="36027"/>
                      </a:cubicBezTo>
                      <a:cubicBezTo>
                        <a:pt x="316322" y="33176"/>
                        <a:pt x="309153" y="31750"/>
                        <a:pt x="301266" y="31750"/>
                      </a:cubicBezTo>
                      <a:close/>
                      <a:moveTo>
                        <a:pt x="300832" y="0"/>
                      </a:moveTo>
                      <a:cubicBezTo>
                        <a:pt x="330885" y="0"/>
                        <a:pt x="356645" y="13529"/>
                        <a:pt x="373818" y="35602"/>
                      </a:cubicBezTo>
                      <a:cubicBezTo>
                        <a:pt x="380973" y="44147"/>
                        <a:pt x="386698" y="54827"/>
                        <a:pt x="390275" y="66220"/>
                      </a:cubicBezTo>
                      <a:cubicBezTo>
                        <a:pt x="390275" y="66220"/>
                        <a:pt x="390275" y="66220"/>
                        <a:pt x="439648" y="66220"/>
                      </a:cubicBezTo>
                      <a:cubicBezTo>
                        <a:pt x="443226" y="66220"/>
                        <a:pt x="446088" y="69068"/>
                        <a:pt x="446088" y="73340"/>
                      </a:cubicBezTo>
                      <a:cubicBezTo>
                        <a:pt x="446088" y="73340"/>
                        <a:pt x="446088" y="73340"/>
                        <a:pt x="446088" y="113927"/>
                      </a:cubicBezTo>
                      <a:cubicBezTo>
                        <a:pt x="446088" y="113927"/>
                        <a:pt x="446088" y="113927"/>
                        <a:pt x="446088" y="145256"/>
                      </a:cubicBezTo>
                      <a:cubicBezTo>
                        <a:pt x="446088" y="145256"/>
                        <a:pt x="446088" y="145256"/>
                        <a:pt x="446088" y="178010"/>
                      </a:cubicBezTo>
                      <a:cubicBezTo>
                        <a:pt x="446088" y="186555"/>
                        <a:pt x="439648" y="193675"/>
                        <a:pt x="431062" y="193675"/>
                      </a:cubicBezTo>
                      <a:lnTo>
                        <a:pt x="171317" y="193675"/>
                      </a:lnTo>
                      <a:cubicBezTo>
                        <a:pt x="162731" y="193675"/>
                        <a:pt x="155575" y="186555"/>
                        <a:pt x="155575" y="178010"/>
                      </a:cubicBezTo>
                      <a:cubicBezTo>
                        <a:pt x="155575" y="178010"/>
                        <a:pt x="155575" y="178010"/>
                        <a:pt x="155575" y="145256"/>
                      </a:cubicBezTo>
                      <a:cubicBezTo>
                        <a:pt x="155575" y="145256"/>
                        <a:pt x="155575" y="145256"/>
                        <a:pt x="155575" y="113927"/>
                      </a:cubicBezTo>
                      <a:cubicBezTo>
                        <a:pt x="155575" y="113927"/>
                        <a:pt x="155575" y="113927"/>
                        <a:pt x="155575" y="73340"/>
                      </a:cubicBezTo>
                      <a:cubicBezTo>
                        <a:pt x="155575" y="69068"/>
                        <a:pt x="159153" y="66220"/>
                        <a:pt x="162731" y="66220"/>
                      </a:cubicBezTo>
                      <a:cubicBezTo>
                        <a:pt x="162731" y="66220"/>
                        <a:pt x="162731" y="66220"/>
                        <a:pt x="212104" y="66220"/>
                      </a:cubicBezTo>
                      <a:cubicBezTo>
                        <a:pt x="215681" y="54827"/>
                        <a:pt x="220690" y="44147"/>
                        <a:pt x="227846" y="35602"/>
                      </a:cubicBezTo>
                      <a:cubicBezTo>
                        <a:pt x="245019" y="13529"/>
                        <a:pt x="271494" y="0"/>
                        <a:pt x="300832"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grpSp>
      </p:grpSp>
      <p:grpSp>
        <p:nvGrpSpPr>
          <p:cNvPr id="43" name="Group 42">
            <a:extLst>
              <a:ext uri="{FF2B5EF4-FFF2-40B4-BE49-F238E27FC236}">
                <a16:creationId xmlns:a16="http://schemas.microsoft.com/office/drawing/2014/main" id="{7BBBAE7F-D817-A839-E91D-4B3D74AAB6EE}"/>
              </a:ext>
            </a:extLst>
          </p:cNvPr>
          <p:cNvGrpSpPr/>
          <p:nvPr/>
        </p:nvGrpSpPr>
        <p:grpSpPr>
          <a:xfrm>
            <a:off x="7526405" y="1447055"/>
            <a:ext cx="720000" cy="720000"/>
            <a:chOff x="5772024" y="1984163"/>
            <a:chExt cx="646578" cy="646578"/>
          </a:xfrm>
        </p:grpSpPr>
        <p:sp>
          <p:nvSpPr>
            <p:cNvPr id="44" name="Oval 43">
              <a:extLst>
                <a:ext uri="{FF2B5EF4-FFF2-40B4-BE49-F238E27FC236}">
                  <a16:creationId xmlns:a16="http://schemas.microsoft.com/office/drawing/2014/main" id="{EBE52F9B-E5D2-5097-C254-014E7CBAA766}"/>
                </a:ext>
              </a:extLst>
            </p:cNvPr>
            <p:cNvSpPr/>
            <p:nvPr>
              <p:custDataLst>
                <p:tags r:id="rId12"/>
              </p:custDataLst>
            </p:nvPr>
          </p:nvSpPr>
          <p:spPr>
            <a:xfrm>
              <a:off x="5772024" y="1984163"/>
              <a:ext cx="646578" cy="646578"/>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lumMod val="50000"/>
                  </a:prstClr>
                </a:solidFill>
                <a:effectLst/>
                <a:uLnTx/>
                <a:uFillTx/>
                <a:latin typeface="Trebuchet MS"/>
                <a:ea typeface="+mn-ea"/>
                <a:cs typeface="+mn-cs"/>
              </a:endParaRPr>
            </a:p>
          </p:txBody>
        </p:sp>
        <p:grpSp>
          <p:nvGrpSpPr>
            <p:cNvPr id="45" name="Group 44">
              <a:extLst>
                <a:ext uri="{FF2B5EF4-FFF2-40B4-BE49-F238E27FC236}">
                  <a16:creationId xmlns:a16="http://schemas.microsoft.com/office/drawing/2014/main" id="{392CE6DE-164D-7A13-5174-9C877EE12934}"/>
                </a:ext>
              </a:extLst>
            </p:cNvPr>
            <p:cNvGrpSpPr>
              <a:grpSpLocks noChangeAspect="1"/>
            </p:cNvGrpSpPr>
            <p:nvPr/>
          </p:nvGrpSpPr>
          <p:grpSpPr>
            <a:xfrm>
              <a:off x="5866713" y="2078852"/>
              <a:ext cx="457200" cy="457200"/>
              <a:chOff x="7324950" y="3200401"/>
              <a:chExt cx="457200" cy="457200"/>
            </a:xfrm>
          </p:grpSpPr>
          <p:sp>
            <p:nvSpPr>
              <p:cNvPr id="46" name="AutoShape 7">
                <a:extLst>
                  <a:ext uri="{FF2B5EF4-FFF2-40B4-BE49-F238E27FC236}">
                    <a16:creationId xmlns:a16="http://schemas.microsoft.com/office/drawing/2014/main" id="{A46CED4C-A78D-74CD-D90D-7151CAA0EEDF}"/>
                  </a:ext>
                </a:extLst>
              </p:cNvPr>
              <p:cNvSpPr>
                <a:spLocks noChangeAspect="1" noChangeArrowheads="1" noTextEdit="1"/>
              </p:cNvSpPr>
              <p:nvPr/>
            </p:nvSpPr>
            <p:spPr bwMode="auto">
              <a:xfrm>
                <a:off x="7324950" y="3200401"/>
                <a:ext cx="457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47" name="Freeform 9">
                <a:extLst>
                  <a:ext uri="{FF2B5EF4-FFF2-40B4-BE49-F238E27FC236}">
                    <a16:creationId xmlns:a16="http://schemas.microsoft.com/office/drawing/2014/main" id="{F6947FD3-CB98-302C-8D5C-AF43EEC59380}"/>
                  </a:ext>
                </a:extLst>
              </p:cNvPr>
              <p:cNvSpPr>
                <a:spLocks noEditPoints="1"/>
              </p:cNvSpPr>
              <p:nvPr/>
            </p:nvSpPr>
            <p:spPr bwMode="auto">
              <a:xfrm>
                <a:off x="7348811" y="3227918"/>
                <a:ext cx="410056" cy="402744"/>
              </a:xfrm>
              <a:custGeom>
                <a:avLst/>
                <a:gdLst>
                  <a:gd name="T0" fmla="*/ 154 w 896"/>
                  <a:gd name="T1" fmla="*/ 248 h 880"/>
                  <a:gd name="T2" fmla="*/ 177 w 896"/>
                  <a:gd name="T3" fmla="*/ 237 h 880"/>
                  <a:gd name="T4" fmla="*/ 725 w 896"/>
                  <a:gd name="T5" fmla="*/ 237 h 880"/>
                  <a:gd name="T6" fmla="*/ 749 w 896"/>
                  <a:gd name="T7" fmla="*/ 248 h 880"/>
                  <a:gd name="T8" fmla="*/ 738 w 896"/>
                  <a:gd name="T9" fmla="*/ 412 h 880"/>
                  <a:gd name="T10" fmla="*/ 708 w 896"/>
                  <a:gd name="T11" fmla="*/ 406 h 880"/>
                  <a:gd name="T12" fmla="*/ 707 w 896"/>
                  <a:gd name="T13" fmla="*/ 269 h 880"/>
                  <a:gd name="T14" fmla="*/ 196 w 896"/>
                  <a:gd name="T15" fmla="*/ 269 h 880"/>
                  <a:gd name="T16" fmla="*/ 196 w 896"/>
                  <a:gd name="T17" fmla="*/ 313 h 880"/>
                  <a:gd name="T18" fmla="*/ 290 w 896"/>
                  <a:gd name="T19" fmla="*/ 500 h 880"/>
                  <a:gd name="T20" fmla="*/ 451 w 896"/>
                  <a:gd name="T21" fmla="*/ 535 h 880"/>
                  <a:gd name="T22" fmla="*/ 500 w 896"/>
                  <a:gd name="T23" fmla="*/ 569 h 880"/>
                  <a:gd name="T24" fmla="*/ 451 w 896"/>
                  <a:gd name="T25" fmla="*/ 603 h 880"/>
                  <a:gd name="T26" fmla="*/ 309 w 896"/>
                  <a:gd name="T27" fmla="*/ 542 h 880"/>
                  <a:gd name="T28" fmla="*/ 451 w 896"/>
                  <a:gd name="T29" fmla="*/ 653 h 880"/>
                  <a:gd name="T30" fmla="*/ 634 w 896"/>
                  <a:gd name="T31" fmla="*/ 447 h 880"/>
                  <a:gd name="T32" fmla="*/ 662 w 896"/>
                  <a:gd name="T33" fmla="*/ 417 h 880"/>
                  <a:gd name="T34" fmla="*/ 687 w 896"/>
                  <a:gd name="T35" fmla="*/ 405 h 880"/>
                  <a:gd name="T36" fmla="*/ 582 w 896"/>
                  <a:gd name="T37" fmla="*/ 609 h 880"/>
                  <a:gd name="T38" fmla="*/ 578 w 896"/>
                  <a:gd name="T39" fmla="*/ 662 h 880"/>
                  <a:gd name="T40" fmla="*/ 560 w 896"/>
                  <a:gd name="T41" fmla="*/ 627 h 880"/>
                  <a:gd name="T42" fmla="*/ 342 w 896"/>
                  <a:gd name="T43" fmla="*/ 627 h 880"/>
                  <a:gd name="T44" fmla="*/ 324 w 896"/>
                  <a:gd name="T45" fmla="*/ 662 h 880"/>
                  <a:gd name="T46" fmla="*/ 321 w 896"/>
                  <a:gd name="T47" fmla="*/ 609 h 880"/>
                  <a:gd name="T48" fmla="*/ 195 w 896"/>
                  <a:gd name="T49" fmla="*/ 406 h 880"/>
                  <a:gd name="T50" fmla="*/ 165 w 896"/>
                  <a:gd name="T51" fmla="*/ 412 h 880"/>
                  <a:gd name="T52" fmla="*/ 682 w 896"/>
                  <a:gd name="T53" fmla="*/ 283 h 880"/>
                  <a:gd name="T54" fmla="*/ 215 w 896"/>
                  <a:gd name="T55" fmla="*/ 283 h 880"/>
                  <a:gd name="T56" fmla="*/ 319 w 896"/>
                  <a:gd name="T57" fmla="*/ 245 h 880"/>
                  <a:gd name="T58" fmla="*/ 626 w 896"/>
                  <a:gd name="T59" fmla="*/ 400 h 880"/>
                  <a:gd name="T60" fmla="*/ 682 w 896"/>
                  <a:gd name="T61" fmla="*/ 389 h 880"/>
                  <a:gd name="T62" fmla="*/ 681 w 896"/>
                  <a:gd name="T63" fmla="*/ 328 h 880"/>
                  <a:gd name="T64" fmla="*/ 894 w 896"/>
                  <a:gd name="T65" fmla="*/ 865 h 880"/>
                  <a:gd name="T66" fmla="*/ 593 w 896"/>
                  <a:gd name="T67" fmla="*/ 675 h 880"/>
                  <a:gd name="T68" fmla="*/ 445 w 896"/>
                  <a:gd name="T69" fmla="*/ 791 h 880"/>
                  <a:gd name="T70" fmla="*/ 111 w 896"/>
                  <a:gd name="T71" fmla="*/ 708 h 880"/>
                  <a:gd name="T72" fmla="*/ 12 w 896"/>
                  <a:gd name="T73" fmla="*/ 880 h 880"/>
                  <a:gd name="T74" fmla="*/ 894 w 896"/>
                  <a:gd name="T75" fmla="*/ 865 h 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96" h="880">
                    <a:moveTo>
                      <a:pt x="154" y="400"/>
                    </a:moveTo>
                    <a:cubicBezTo>
                      <a:pt x="154" y="248"/>
                      <a:pt x="154" y="248"/>
                      <a:pt x="154" y="248"/>
                    </a:cubicBezTo>
                    <a:cubicBezTo>
                      <a:pt x="154" y="242"/>
                      <a:pt x="159" y="237"/>
                      <a:pt x="165" y="237"/>
                    </a:cubicBezTo>
                    <a:cubicBezTo>
                      <a:pt x="177" y="237"/>
                      <a:pt x="177" y="237"/>
                      <a:pt x="177" y="237"/>
                    </a:cubicBezTo>
                    <a:cubicBezTo>
                      <a:pt x="202" y="102"/>
                      <a:pt x="315" y="0"/>
                      <a:pt x="451" y="0"/>
                    </a:cubicBezTo>
                    <a:cubicBezTo>
                      <a:pt x="587" y="0"/>
                      <a:pt x="701" y="102"/>
                      <a:pt x="725" y="237"/>
                    </a:cubicBezTo>
                    <a:cubicBezTo>
                      <a:pt x="738" y="237"/>
                      <a:pt x="738" y="237"/>
                      <a:pt x="738" y="237"/>
                    </a:cubicBezTo>
                    <a:cubicBezTo>
                      <a:pt x="744" y="237"/>
                      <a:pt x="749" y="242"/>
                      <a:pt x="749" y="248"/>
                    </a:cubicBezTo>
                    <a:cubicBezTo>
                      <a:pt x="749" y="400"/>
                      <a:pt x="749" y="400"/>
                      <a:pt x="749" y="400"/>
                    </a:cubicBezTo>
                    <a:cubicBezTo>
                      <a:pt x="749" y="406"/>
                      <a:pt x="744" y="412"/>
                      <a:pt x="738" y="412"/>
                    </a:cubicBezTo>
                    <a:cubicBezTo>
                      <a:pt x="718" y="412"/>
                      <a:pt x="718" y="412"/>
                      <a:pt x="718" y="412"/>
                    </a:cubicBezTo>
                    <a:cubicBezTo>
                      <a:pt x="713" y="412"/>
                      <a:pt x="710" y="409"/>
                      <a:pt x="708" y="406"/>
                    </a:cubicBezTo>
                    <a:cubicBezTo>
                      <a:pt x="707" y="404"/>
                      <a:pt x="707" y="402"/>
                      <a:pt x="707" y="400"/>
                    </a:cubicBezTo>
                    <a:cubicBezTo>
                      <a:pt x="707" y="400"/>
                      <a:pt x="707" y="277"/>
                      <a:pt x="707" y="269"/>
                    </a:cubicBezTo>
                    <a:cubicBezTo>
                      <a:pt x="696" y="131"/>
                      <a:pt x="585" y="23"/>
                      <a:pt x="451" y="23"/>
                    </a:cubicBezTo>
                    <a:cubicBezTo>
                      <a:pt x="317" y="23"/>
                      <a:pt x="207" y="131"/>
                      <a:pt x="196" y="269"/>
                    </a:cubicBezTo>
                    <a:cubicBezTo>
                      <a:pt x="196" y="277"/>
                      <a:pt x="195" y="284"/>
                      <a:pt x="195" y="292"/>
                    </a:cubicBezTo>
                    <a:cubicBezTo>
                      <a:pt x="195" y="299"/>
                      <a:pt x="196" y="307"/>
                      <a:pt x="196" y="313"/>
                    </a:cubicBezTo>
                    <a:cubicBezTo>
                      <a:pt x="199" y="346"/>
                      <a:pt x="207" y="377"/>
                      <a:pt x="219" y="405"/>
                    </a:cubicBezTo>
                    <a:cubicBezTo>
                      <a:pt x="236" y="442"/>
                      <a:pt x="260" y="475"/>
                      <a:pt x="290" y="500"/>
                    </a:cubicBezTo>
                    <a:cubicBezTo>
                      <a:pt x="323" y="529"/>
                      <a:pt x="363" y="548"/>
                      <a:pt x="406" y="557"/>
                    </a:cubicBezTo>
                    <a:cubicBezTo>
                      <a:pt x="413" y="544"/>
                      <a:pt x="431" y="535"/>
                      <a:pt x="451" y="535"/>
                    </a:cubicBezTo>
                    <a:cubicBezTo>
                      <a:pt x="472" y="535"/>
                      <a:pt x="489" y="544"/>
                      <a:pt x="496" y="557"/>
                    </a:cubicBezTo>
                    <a:cubicBezTo>
                      <a:pt x="499" y="560"/>
                      <a:pt x="500" y="564"/>
                      <a:pt x="500" y="569"/>
                    </a:cubicBezTo>
                    <a:cubicBezTo>
                      <a:pt x="500" y="572"/>
                      <a:pt x="499" y="576"/>
                      <a:pt x="497" y="579"/>
                    </a:cubicBezTo>
                    <a:cubicBezTo>
                      <a:pt x="491" y="593"/>
                      <a:pt x="473" y="603"/>
                      <a:pt x="451" y="603"/>
                    </a:cubicBezTo>
                    <a:cubicBezTo>
                      <a:pt x="430" y="603"/>
                      <a:pt x="411" y="593"/>
                      <a:pt x="405" y="579"/>
                    </a:cubicBezTo>
                    <a:cubicBezTo>
                      <a:pt x="371" y="573"/>
                      <a:pt x="338" y="560"/>
                      <a:pt x="309" y="542"/>
                    </a:cubicBezTo>
                    <a:cubicBezTo>
                      <a:pt x="321" y="569"/>
                      <a:pt x="333" y="591"/>
                      <a:pt x="340" y="597"/>
                    </a:cubicBezTo>
                    <a:cubicBezTo>
                      <a:pt x="362" y="617"/>
                      <a:pt x="419" y="653"/>
                      <a:pt x="451" y="653"/>
                    </a:cubicBezTo>
                    <a:cubicBezTo>
                      <a:pt x="483" y="653"/>
                      <a:pt x="541" y="617"/>
                      <a:pt x="563" y="597"/>
                    </a:cubicBezTo>
                    <a:cubicBezTo>
                      <a:pt x="577" y="585"/>
                      <a:pt x="614" y="498"/>
                      <a:pt x="634" y="447"/>
                    </a:cubicBezTo>
                    <a:cubicBezTo>
                      <a:pt x="635" y="445"/>
                      <a:pt x="637" y="443"/>
                      <a:pt x="639" y="442"/>
                    </a:cubicBezTo>
                    <a:cubicBezTo>
                      <a:pt x="651" y="436"/>
                      <a:pt x="658" y="426"/>
                      <a:pt x="662" y="417"/>
                    </a:cubicBezTo>
                    <a:cubicBezTo>
                      <a:pt x="662" y="417"/>
                      <a:pt x="662" y="417"/>
                      <a:pt x="687" y="404"/>
                    </a:cubicBezTo>
                    <a:cubicBezTo>
                      <a:pt x="687" y="405"/>
                      <a:pt x="687" y="405"/>
                      <a:pt x="687" y="405"/>
                    </a:cubicBezTo>
                    <a:cubicBezTo>
                      <a:pt x="686" y="416"/>
                      <a:pt x="679" y="444"/>
                      <a:pt x="653" y="459"/>
                    </a:cubicBezTo>
                    <a:cubicBezTo>
                      <a:pt x="642" y="487"/>
                      <a:pt x="604" y="581"/>
                      <a:pt x="582" y="609"/>
                    </a:cubicBezTo>
                    <a:cubicBezTo>
                      <a:pt x="582" y="657"/>
                      <a:pt x="582" y="657"/>
                      <a:pt x="582" y="657"/>
                    </a:cubicBezTo>
                    <a:cubicBezTo>
                      <a:pt x="578" y="662"/>
                      <a:pt x="578" y="662"/>
                      <a:pt x="578" y="662"/>
                    </a:cubicBezTo>
                    <a:cubicBezTo>
                      <a:pt x="577" y="663"/>
                      <a:pt x="571" y="671"/>
                      <a:pt x="560" y="682"/>
                    </a:cubicBezTo>
                    <a:cubicBezTo>
                      <a:pt x="560" y="627"/>
                      <a:pt x="560" y="627"/>
                      <a:pt x="560" y="627"/>
                    </a:cubicBezTo>
                    <a:cubicBezTo>
                      <a:pt x="531" y="649"/>
                      <a:pt x="483" y="675"/>
                      <a:pt x="451" y="675"/>
                    </a:cubicBezTo>
                    <a:cubicBezTo>
                      <a:pt x="419" y="675"/>
                      <a:pt x="372" y="649"/>
                      <a:pt x="342" y="627"/>
                    </a:cubicBezTo>
                    <a:cubicBezTo>
                      <a:pt x="342" y="682"/>
                      <a:pt x="342" y="682"/>
                      <a:pt x="342" y="682"/>
                    </a:cubicBezTo>
                    <a:cubicBezTo>
                      <a:pt x="331" y="671"/>
                      <a:pt x="325" y="663"/>
                      <a:pt x="324" y="662"/>
                    </a:cubicBezTo>
                    <a:cubicBezTo>
                      <a:pt x="321" y="657"/>
                      <a:pt x="321" y="657"/>
                      <a:pt x="321" y="657"/>
                    </a:cubicBezTo>
                    <a:cubicBezTo>
                      <a:pt x="321" y="609"/>
                      <a:pt x="321" y="609"/>
                      <a:pt x="321" y="609"/>
                    </a:cubicBezTo>
                    <a:cubicBezTo>
                      <a:pt x="307" y="592"/>
                      <a:pt x="288" y="552"/>
                      <a:pt x="273" y="515"/>
                    </a:cubicBezTo>
                    <a:cubicBezTo>
                      <a:pt x="239" y="486"/>
                      <a:pt x="212" y="448"/>
                      <a:pt x="195" y="406"/>
                    </a:cubicBezTo>
                    <a:cubicBezTo>
                      <a:pt x="193" y="409"/>
                      <a:pt x="189" y="412"/>
                      <a:pt x="185" y="412"/>
                    </a:cubicBezTo>
                    <a:cubicBezTo>
                      <a:pt x="165" y="412"/>
                      <a:pt x="165" y="412"/>
                      <a:pt x="165" y="412"/>
                    </a:cubicBezTo>
                    <a:cubicBezTo>
                      <a:pt x="159" y="412"/>
                      <a:pt x="154" y="406"/>
                      <a:pt x="154" y="400"/>
                    </a:cubicBezTo>
                    <a:close/>
                    <a:moveTo>
                      <a:pt x="682" y="283"/>
                    </a:moveTo>
                    <a:cubicBezTo>
                      <a:pt x="682" y="152"/>
                      <a:pt x="581" y="46"/>
                      <a:pt x="448" y="46"/>
                    </a:cubicBezTo>
                    <a:cubicBezTo>
                      <a:pt x="316" y="46"/>
                      <a:pt x="215" y="152"/>
                      <a:pt x="215" y="283"/>
                    </a:cubicBezTo>
                    <a:cubicBezTo>
                      <a:pt x="215" y="312"/>
                      <a:pt x="219" y="370"/>
                      <a:pt x="228" y="381"/>
                    </a:cubicBezTo>
                    <a:cubicBezTo>
                      <a:pt x="250" y="402"/>
                      <a:pt x="253" y="290"/>
                      <a:pt x="319" y="245"/>
                    </a:cubicBezTo>
                    <a:cubicBezTo>
                      <a:pt x="327" y="241"/>
                      <a:pt x="342" y="232"/>
                      <a:pt x="342" y="232"/>
                    </a:cubicBezTo>
                    <a:cubicBezTo>
                      <a:pt x="488" y="232"/>
                      <a:pt x="600" y="386"/>
                      <a:pt x="626" y="400"/>
                    </a:cubicBezTo>
                    <a:cubicBezTo>
                      <a:pt x="636" y="406"/>
                      <a:pt x="649" y="403"/>
                      <a:pt x="662" y="398"/>
                    </a:cubicBezTo>
                    <a:cubicBezTo>
                      <a:pt x="669" y="396"/>
                      <a:pt x="676" y="392"/>
                      <a:pt x="682" y="389"/>
                    </a:cubicBezTo>
                    <a:cubicBezTo>
                      <a:pt x="691" y="384"/>
                      <a:pt x="698" y="379"/>
                      <a:pt x="698" y="379"/>
                    </a:cubicBezTo>
                    <a:cubicBezTo>
                      <a:pt x="684" y="360"/>
                      <a:pt x="680" y="341"/>
                      <a:pt x="681" y="328"/>
                    </a:cubicBezTo>
                    <a:cubicBezTo>
                      <a:pt x="682" y="313"/>
                      <a:pt x="682" y="299"/>
                      <a:pt x="682" y="283"/>
                    </a:cubicBezTo>
                    <a:close/>
                    <a:moveTo>
                      <a:pt x="894" y="865"/>
                    </a:moveTo>
                    <a:cubicBezTo>
                      <a:pt x="880" y="829"/>
                      <a:pt x="840" y="733"/>
                      <a:pt x="786" y="708"/>
                    </a:cubicBezTo>
                    <a:cubicBezTo>
                      <a:pt x="718" y="677"/>
                      <a:pt x="593" y="675"/>
                      <a:pt x="593" y="675"/>
                    </a:cubicBezTo>
                    <a:cubicBezTo>
                      <a:pt x="593" y="675"/>
                      <a:pt x="513" y="742"/>
                      <a:pt x="451" y="791"/>
                    </a:cubicBezTo>
                    <a:cubicBezTo>
                      <a:pt x="450" y="793"/>
                      <a:pt x="447" y="793"/>
                      <a:pt x="445" y="791"/>
                    </a:cubicBezTo>
                    <a:cubicBezTo>
                      <a:pt x="400" y="755"/>
                      <a:pt x="303" y="675"/>
                      <a:pt x="303" y="675"/>
                    </a:cubicBezTo>
                    <a:cubicBezTo>
                      <a:pt x="303" y="675"/>
                      <a:pt x="178" y="677"/>
                      <a:pt x="111" y="708"/>
                    </a:cubicBezTo>
                    <a:cubicBezTo>
                      <a:pt x="56" y="733"/>
                      <a:pt x="16" y="829"/>
                      <a:pt x="2" y="865"/>
                    </a:cubicBezTo>
                    <a:cubicBezTo>
                      <a:pt x="0" y="873"/>
                      <a:pt x="5" y="880"/>
                      <a:pt x="12" y="880"/>
                    </a:cubicBezTo>
                    <a:cubicBezTo>
                      <a:pt x="884" y="880"/>
                      <a:pt x="884" y="880"/>
                      <a:pt x="884" y="880"/>
                    </a:cubicBezTo>
                    <a:cubicBezTo>
                      <a:pt x="891" y="880"/>
                      <a:pt x="896" y="873"/>
                      <a:pt x="894" y="865"/>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grpSp>
      <p:grpSp>
        <p:nvGrpSpPr>
          <p:cNvPr id="48" name="Group 47">
            <a:extLst>
              <a:ext uri="{FF2B5EF4-FFF2-40B4-BE49-F238E27FC236}">
                <a16:creationId xmlns:a16="http://schemas.microsoft.com/office/drawing/2014/main" id="{CE2C38B7-878A-DDC0-D09B-4C37DB75CED2}"/>
              </a:ext>
            </a:extLst>
          </p:cNvPr>
          <p:cNvGrpSpPr/>
          <p:nvPr/>
        </p:nvGrpSpPr>
        <p:grpSpPr>
          <a:xfrm>
            <a:off x="11371255" y="1447055"/>
            <a:ext cx="720000" cy="720000"/>
            <a:chOff x="6351188" y="919137"/>
            <a:chExt cx="720000" cy="720000"/>
          </a:xfrm>
        </p:grpSpPr>
        <p:sp>
          <p:nvSpPr>
            <p:cNvPr id="49" name="Oval 48">
              <a:extLst>
                <a:ext uri="{FF2B5EF4-FFF2-40B4-BE49-F238E27FC236}">
                  <a16:creationId xmlns:a16="http://schemas.microsoft.com/office/drawing/2014/main" id="{CEAD95E1-1C6F-4C3E-AA6E-E6FC3B954F6F}"/>
                </a:ext>
              </a:extLst>
            </p:cNvPr>
            <p:cNvSpPr/>
            <p:nvPr>
              <p:custDataLst>
                <p:tags r:id="rId11"/>
              </p:custDataLst>
            </p:nvPr>
          </p:nvSpPr>
          <p:spPr>
            <a:xfrm>
              <a:off x="6351188" y="919137"/>
              <a:ext cx="720000" cy="720000"/>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lumMod val="50000"/>
                  </a:prstClr>
                </a:solidFill>
                <a:effectLst/>
                <a:uLnTx/>
                <a:uFillTx/>
                <a:latin typeface="Trebuchet MS"/>
                <a:ea typeface="+mn-ea"/>
                <a:cs typeface="+mn-cs"/>
              </a:endParaRPr>
            </a:p>
          </p:txBody>
        </p:sp>
        <p:sp>
          <p:nvSpPr>
            <p:cNvPr id="50" name="Freeform 17">
              <a:extLst>
                <a:ext uri="{FF2B5EF4-FFF2-40B4-BE49-F238E27FC236}">
                  <a16:creationId xmlns:a16="http://schemas.microsoft.com/office/drawing/2014/main" id="{35F10CC0-1E74-5658-3477-C51BECF3D984}"/>
                </a:ext>
              </a:extLst>
            </p:cNvPr>
            <p:cNvSpPr>
              <a:spLocks noEditPoints="1"/>
            </p:cNvSpPr>
            <p:nvPr/>
          </p:nvSpPr>
          <p:spPr bwMode="auto">
            <a:xfrm>
              <a:off x="6448813" y="1110835"/>
              <a:ext cx="517064" cy="325185"/>
            </a:xfrm>
            <a:custGeom>
              <a:avLst/>
              <a:gdLst>
                <a:gd name="T0" fmla="*/ 738 w 886"/>
                <a:gd name="T1" fmla="*/ 209 h 558"/>
                <a:gd name="T2" fmla="*/ 554 w 886"/>
                <a:gd name="T3" fmla="*/ 370 h 558"/>
                <a:gd name="T4" fmla="*/ 412 w 886"/>
                <a:gd name="T5" fmla="*/ 276 h 558"/>
                <a:gd name="T6" fmla="*/ 327 w 886"/>
                <a:gd name="T7" fmla="*/ 337 h 558"/>
                <a:gd name="T8" fmla="*/ 226 w 886"/>
                <a:gd name="T9" fmla="*/ 446 h 558"/>
                <a:gd name="T10" fmla="*/ 53 w 886"/>
                <a:gd name="T11" fmla="*/ 508 h 558"/>
                <a:gd name="T12" fmla="*/ 23 w 886"/>
                <a:gd name="T13" fmla="*/ 515 h 558"/>
                <a:gd name="T14" fmla="*/ 47 w 886"/>
                <a:gd name="T15" fmla="*/ 558 h 558"/>
                <a:gd name="T16" fmla="*/ 863 w 886"/>
                <a:gd name="T17" fmla="*/ 534 h 558"/>
                <a:gd name="T18" fmla="*/ 855 w 886"/>
                <a:gd name="T19" fmla="*/ 116 h 558"/>
                <a:gd name="T20" fmla="*/ 879 w 886"/>
                <a:gd name="T21" fmla="*/ 10 h 558"/>
                <a:gd name="T22" fmla="*/ 780 w 886"/>
                <a:gd name="T23" fmla="*/ 63 h 558"/>
                <a:gd name="T24" fmla="*/ 701 w 886"/>
                <a:gd name="T25" fmla="*/ 109 h 558"/>
                <a:gd name="T26" fmla="*/ 703 w 886"/>
                <a:gd name="T27" fmla="*/ 124 h 558"/>
                <a:gd name="T28" fmla="*/ 580 w 886"/>
                <a:gd name="T29" fmla="*/ 223 h 558"/>
                <a:gd name="T30" fmla="*/ 520 w 886"/>
                <a:gd name="T31" fmla="*/ 229 h 558"/>
                <a:gd name="T32" fmla="*/ 519 w 886"/>
                <a:gd name="T33" fmla="*/ 230 h 558"/>
                <a:gd name="T34" fmla="*/ 427 w 886"/>
                <a:gd name="T35" fmla="*/ 184 h 558"/>
                <a:gd name="T36" fmla="*/ 375 w 886"/>
                <a:gd name="T37" fmla="*/ 130 h 558"/>
                <a:gd name="T38" fmla="*/ 327 w 886"/>
                <a:gd name="T39" fmla="*/ 202 h 558"/>
                <a:gd name="T40" fmla="*/ 328 w 886"/>
                <a:gd name="T41" fmla="*/ 204 h 558"/>
                <a:gd name="T42" fmla="*/ 226 w 886"/>
                <a:gd name="T43" fmla="*/ 293 h 558"/>
                <a:gd name="T44" fmla="*/ 174 w 886"/>
                <a:gd name="T45" fmla="*/ 348 h 558"/>
                <a:gd name="T46" fmla="*/ 174 w 886"/>
                <a:gd name="T47" fmla="*/ 349 h 558"/>
                <a:gd name="T48" fmla="*/ 5 w 886"/>
                <a:gd name="T49" fmla="*/ 456 h 558"/>
                <a:gd name="T50" fmla="*/ 32 w 886"/>
                <a:gd name="T51" fmla="*/ 465 h 558"/>
                <a:gd name="T52" fmla="*/ 226 w 886"/>
                <a:gd name="T53" fmla="*/ 398 h 558"/>
                <a:gd name="T54" fmla="*/ 273 w 886"/>
                <a:gd name="T55" fmla="*/ 323 h 558"/>
                <a:gd name="T56" fmla="*/ 375 w 886"/>
                <a:gd name="T57" fmla="*/ 234 h 558"/>
                <a:gd name="T58" fmla="*/ 502 w 886"/>
                <a:gd name="T59" fmla="*/ 265 h 558"/>
                <a:gd name="T60" fmla="*/ 501 w 886"/>
                <a:gd name="T61" fmla="*/ 267 h 558"/>
                <a:gd name="T62" fmla="*/ 554 w 886"/>
                <a:gd name="T63" fmla="*/ 321 h 558"/>
                <a:gd name="T64" fmla="*/ 605 w 886"/>
                <a:gd name="T65" fmla="*/ 256 h 558"/>
                <a:gd name="T66" fmla="*/ 605 w 886"/>
                <a:gd name="T67" fmla="*/ 254 h 558"/>
                <a:gd name="T68" fmla="*/ 754 w 886"/>
                <a:gd name="T69" fmla="*/ 162 h 558"/>
                <a:gd name="T70" fmla="*/ 805 w 886"/>
                <a:gd name="T71" fmla="*/ 96 h 558"/>
                <a:gd name="T72" fmla="*/ 876 w 886"/>
                <a:gd name="T73" fmla="*/ 37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86" h="558">
                  <a:moveTo>
                    <a:pt x="754" y="211"/>
                  </a:moveTo>
                  <a:cubicBezTo>
                    <a:pt x="749" y="211"/>
                    <a:pt x="744" y="210"/>
                    <a:pt x="738" y="209"/>
                  </a:cubicBezTo>
                  <a:cubicBezTo>
                    <a:pt x="655" y="276"/>
                    <a:pt x="655" y="276"/>
                    <a:pt x="655" y="276"/>
                  </a:cubicBezTo>
                  <a:cubicBezTo>
                    <a:pt x="652" y="328"/>
                    <a:pt x="608" y="370"/>
                    <a:pt x="554" y="370"/>
                  </a:cubicBezTo>
                  <a:cubicBezTo>
                    <a:pt x="509" y="370"/>
                    <a:pt x="470" y="339"/>
                    <a:pt x="457" y="298"/>
                  </a:cubicBezTo>
                  <a:cubicBezTo>
                    <a:pt x="412" y="276"/>
                    <a:pt x="412" y="276"/>
                    <a:pt x="412" y="276"/>
                  </a:cubicBezTo>
                  <a:cubicBezTo>
                    <a:pt x="400" y="280"/>
                    <a:pt x="388" y="283"/>
                    <a:pt x="376" y="283"/>
                  </a:cubicBezTo>
                  <a:cubicBezTo>
                    <a:pt x="327" y="337"/>
                    <a:pt x="327" y="337"/>
                    <a:pt x="327" y="337"/>
                  </a:cubicBezTo>
                  <a:cubicBezTo>
                    <a:pt x="327" y="340"/>
                    <a:pt x="327" y="343"/>
                    <a:pt x="327" y="346"/>
                  </a:cubicBezTo>
                  <a:cubicBezTo>
                    <a:pt x="327" y="401"/>
                    <a:pt x="282" y="446"/>
                    <a:pt x="226" y="446"/>
                  </a:cubicBezTo>
                  <a:cubicBezTo>
                    <a:pt x="214" y="446"/>
                    <a:pt x="202" y="444"/>
                    <a:pt x="191" y="440"/>
                  </a:cubicBezTo>
                  <a:cubicBezTo>
                    <a:pt x="53" y="508"/>
                    <a:pt x="53" y="508"/>
                    <a:pt x="53" y="508"/>
                  </a:cubicBezTo>
                  <a:cubicBezTo>
                    <a:pt x="44" y="513"/>
                    <a:pt x="33" y="515"/>
                    <a:pt x="23" y="515"/>
                  </a:cubicBezTo>
                  <a:cubicBezTo>
                    <a:pt x="23" y="515"/>
                    <a:pt x="23" y="515"/>
                    <a:pt x="23" y="515"/>
                  </a:cubicBezTo>
                  <a:cubicBezTo>
                    <a:pt x="23" y="534"/>
                    <a:pt x="23" y="534"/>
                    <a:pt x="23" y="534"/>
                  </a:cubicBezTo>
                  <a:cubicBezTo>
                    <a:pt x="23" y="547"/>
                    <a:pt x="34" y="558"/>
                    <a:pt x="47" y="558"/>
                  </a:cubicBezTo>
                  <a:cubicBezTo>
                    <a:pt x="839" y="558"/>
                    <a:pt x="839" y="558"/>
                    <a:pt x="839" y="558"/>
                  </a:cubicBezTo>
                  <a:cubicBezTo>
                    <a:pt x="852" y="558"/>
                    <a:pt x="863" y="547"/>
                    <a:pt x="863" y="534"/>
                  </a:cubicBezTo>
                  <a:cubicBezTo>
                    <a:pt x="863" y="110"/>
                    <a:pt x="863" y="110"/>
                    <a:pt x="863" y="110"/>
                  </a:cubicBezTo>
                  <a:cubicBezTo>
                    <a:pt x="855" y="116"/>
                    <a:pt x="855" y="116"/>
                    <a:pt x="855" y="116"/>
                  </a:cubicBezTo>
                  <a:cubicBezTo>
                    <a:pt x="852" y="169"/>
                    <a:pt x="808" y="211"/>
                    <a:pt x="754" y="211"/>
                  </a:cubicBezTo>
                  <a:close/>
                  <a:moveTo>
                    <a:pt x="879" y="10"/>
                  </a:moveTo>
                  <a:cubicBezTo>
                    <a:pt x="872" y="1"/>
                    <a:pt x="859" y="0"/>
                    <a:pt x="851" y="6"/>
                  </a:cubicBezTo>
                  <a:cubicBezTo>
                    <a:pt x="780" y="63"/>
                    <a:pt x="780" y="63"/>
                    <a:pt x="780" y="63"/>
                  </a:cubicBezTo>
                  <a:cubicBezTo>
                    <a:pt x="772" y="59"/>
                    <a:pt x="763" y="56"/>
                    <a:pt x="754" y="56"/>
                  </a:cubicBezTo>
                  <a:cubicBezTo>
                    <a:pt x="725" y="56"/>
                    <a:pt x="701" y="80"/>
                    <a:pt x="701" y="109"/>
                  </a:cubicBezTo>
                  <a:cubicBezTo>
                    <a:pt x="701" y="113"/>
                    <a:pt x="702" y="117"/>
                    <a:pt x="703" y="122"/>
                  </a:cubicBezTo>
                  <a:cubicBezTo>
                    <a:pt x="703" y="124"/>
                    <a:pt x="703" y="124"/>
                    <a:pt x="703" y="124"/>
                  </a:cubicBezTo>
                  <a:cubicBezTo>
                    <a:pt x="703" y="124"/>
                    <a:pt x="703" y="124"/>
                    <a:pt x="703" y="124"/>
                  </a:cubicBezTo>
                  <a:cubicBezTo>
                    <a:pt x="580" y="223"/>
                    <a:pt x="580" y="223"/>
                    <a:pt x="580" y="223"/>
                  </a:cubicBezTo>
                  <a:cubicBezTo>
                    <a:pt x="572" y="219"/>
                    <a:pt x="564" y="217"/>
                    <a:pt x="554" y="217"/>
                  </a:cubicBezTo>
                  <a:cubicBezTo>
                    <a:pt x="542" y="217"/>
                    <a:pt x="530" y="221"/>
                    <a:pt x="520" y="229"/>
                  </a:cubicBezTo>
                  <a:cubicBezTo>
                    <a:pt x="519" y="229"/>
                    <a:pt x="519" y="229"/>
                    <a:pt x="519" y="229"/>
                  </a:cubicBezTo>
                  <a:cubicBezTo>
                    <a:pt x="519" y="230"/>
                    <a:pt x="519" y="230"/>
                    <a:pt x="519" y="230"/>
                  </a:cubicBezTo>
                  <a:cubicBezTo>
                    <a:pt x="427" y="185"/>
                    <a:pt x="427" y="185"/>
                    <a:pt x="427" y="185"/>
                  </a:cubicBezTo>
                  <a:cubicBezTo>
                    <a:pt x="427" y="184"/>
                    <a:pt x="427" y="184"/>
                    <a:pt x="427" y="184"/>
                  </a:cubicBezTo>
                  <a:cubicBezTo>
                    <a:pt x="427" y="182"/>
                    <a:pt x="427" y="182"/>
                    <a:pt x="427" y="182"/>
                  </a:cubicBezTo>
                  <a:cubicBezTo>
                    <a:pt x="427" y="153"/>
                    <a:pt x="404" y="130"/>
                    <a:pt x="375" y="130"/>
                  </a:cubicBezTo>
                  <a:cubicBezTo>
                    <a:pt x="346" y="130"/>
                    <a:pt x="323" y="153"/>
                    <a:pt x="323" y="182"/>
                  </a:cubicBezTo>
                  <a:cubicBezTo>
                    <a:pt x="323" y="189"/>
                    <a:pt x="324" y="195"/>
                    <a:pt x="327" y="202"/>
                  </a:cubicBezTo>
                  <a:cubicBezTo>
                    <a:pt x="328" y="204"/>
                    <a:pt x="328" y="204"/>
                    <a:pt x="328" y="204"/>
                  </a:cubicBezTo>
                  <a:cubicBezTo>
                    <a:pt x="328" y="204"/>
                    <a:pt x="328" y="204"/>
                    <a:pt x="328" y="204"/>
                  </a:cubicBezTo>
                  <a:cubicBezTo>
                    <a:pt x="244" y="297"/>
                    <a:pt x="244" y="297"/>
                    <a:pt x="244" y="297"/>
                  </a:cubicBezTo>
                  <a:cubicBezTo>
                    <a:pt x="238" y="294"/>
                    <a:pt x="233" y="293"/>
                    <a:pt x="226" y="293"/>
                  </a:cubicBezTo>
                  <a:cubicBezTo>
                    <a:pt x="197" y="293"/>
                    <a:pt x="174" y="317"/>
                    <a:pt x="174" y="346"/>
                  </a:cubicBezTo>
                  <a:cubicBezTo>
                    <a:pt x="174" y="348"/>
                    <a:pt x="174" y="348"/>
                    <a:pt x="174" y="348"/>
                  </a:cubicBezTo>
                  <a:cubicBezTo>
                    <a:pt x="174" y="349"/>
                    <a:pt x="174" y="349"/>
                    <a:pt x="174" y="349"/>
                  </a:cubicBezTo>
                  <a:cubicBezTo>
                    <a:pt x="174" y="349"/>
                    <a:pt x="174" y="349"/>
                    <a:pt x="174" y="349"/>
                  </a:cubicBezTo>
                  <a:cubicBezTo>
                    <a:pt x="14" y="429"/>
                    <a:pt x="14" y="429"/>
                    <a:pt x="14" y="429"/>
                  </a:cubicBezTo>
                  <a:cubicBezTo>
                    <a:pt x="4" y="434"/>
                    <a:pt x="0" y="446"/>
                    <a:pt x="5" y="456"/>
                  </a:cubicBezTo>
                  <a:cubicBezTo>
                    <a:pt x="9" y="463"/>
                    <a:pt x="16" y="467"/>
                    <a:pt x="23" y="467"/>
                  </a:cubicBezTo>
                  <a:cubicBezTo>
                    <a:pt x="26" y="467"/>
                    <a:pt x="29" y="466"/>
                    <a:pt x="32" y="465"/>
                  </a:cubicBezTo>
                  <a:cubicBezTo>
                    <a:pt x="192" y="385"/>
                    <a:pt x="192" y="385"/>
                    <a:pt x="192" y="385"/>
                  </a:cubicBezTo>
                  <a:cubicBezTo>
                    <a:pt x="201" y="393"/>
                    <a:pt x="214" y="398"/>
                    <a:pt x="226" y="398"/>
                  </a:cubicBezTo>
                  <a:cubicBezTo>
                    <a:pt x="255" y="398"/>
                    <a:pt x="278" y="374"/>
                    <a:pt x="278" y="346"/>
                  </a:cubicBezTo>
                  <a:cubicBezTo>
                    <a:pt x="278" y="338"/>
                    <a:pt x="277" y="331"/>
                    <a:pt x="273" y="323"/>
                  </a:cubicBezTo>
                  <a:cubicBezTo>
                    <a:pt x="358" y="231"/>
                    <a:pt x="358" y="231"/>
                    <a:pt x="358" y="231"/>
                  </a:cubicBezTo>
                  <a:cubicBezTo>
                    <a:pt x="363" y="233"/>
                    <a:pt x="369" y="234"/>
                    <a:pt x="375" y="234"/>
                  </a:cubicBezTo>
                  <a:cubicBezTo>
                    <a:pt x="388" y="234"/>
                    <a:pt x="400" y="229"/>
                    <a:pt x="410" y="221"/>
                  </a:cubicBezTo>
                  <a:cubicBezTo>
                    <a:pt x="502" y="265"/>
                    <a:pt x="502" y="265"/>
                    <a:pt x="502" y="265"/>
                  </a:cubicBezTo>
                  <a:cubicBezTo>
                    <a:pt x="502" y="265"/>
                    <a:pt x="501" y="266"/>
                    <a:pt x="501" y="266"/>
                  </a:cubicBezTo>
                  <a:cubicBezTo>
                    <a:pt x="501" y="267"/>
                    <a:pt x="501" y="267"/>
                    <a:pt x="501" y="267"/>
                  </a:cubicBezTo>
                  <a:cubicBezTo>
                    <a:pt x="501" y="269"/>
                    <a:pt x="501" y="269"/>
                    <a:pt x="501" y="269"/>
                  </a:cubicBezTo>
                  <a:cubicBezTo>
                    <a:pt x="501" y="298"/>
                    <a:pt x="525" y="321"/>
                    <a:pt x="554" y="321"/>
                  </a:cubicBezTo>
                  <a:cubicBezTo>
                    <a:pt x="583" y="321"/>
                    <a:pt x="607" y="298"/>
                    <a:pt x="607" y="269"/>
                  </a:cubicBezTo>
                  <a:cubicBezTo>
                    <a:pt x="607" y="263"/>
                    <a:pt x="606" y="259"/>
                    <a:pt x="605" y="256"/>
                  </a:cubicBezTo>
                  <a:cubicBezTo>
                    <a:pt x="605" y="255"/>
                    <a:pt x="605" y="255"/>
                    <a:pt x="605" y="255"/>
                  </a:cubicBezTo>
                  <a:cubicBezTo>
                    <a:pt x="605" y="254"/>
                    <a:pt x="605" y="254"/>
                    <a:pt x="605" y="254"/>
                  </a:cubicBezTo>
                  <a:cubicBezTo>
                    <a:pt x="728" y="155"/>
                    <a:pt x="728" y="155"/>
                    <a:pt x="728" y="155"/>
                  </a:cubicBezTo>
                  <a:cubicBezTo>
                    <a:pt x="736" y="160"/>
                    <a:pt x="745" y="162"/>
                    <a:pt x="754" y="162"/>
                  </a:cubicBezTo>
                  <a:cubicBezTo>
                    <a:pt x="783" y="162"/>
                    <a:pt x="807" y="138"/>
                    <a:pt x="807" y="109"/>
                  </a:cubicBezTo>
                  <a:cubicBezTo>
                    <a:pt x="807" y="104"/>
                    <a:pt x="806" y="98"/>
                    <a:pt x="805" y="96"/>
                  </a:cubicBezTo>
                  <a:cubicBezTo>
                    <a:pt x="805" y="95"/>
                    <a:pt x="805" y="95"/>
                    <a:pt x="805" y="94"/>
                  </a:cubicBezTo>
                  <a:cubicBezTo>
                    <a:pt x="876" y="37"/>
                    <a:pt x="876" y="37"/>
                    <a:pt x="876" y="37"/>
                  </a:cubicBezTo>
                  <a:cubicBezTo>
                    <a:pt x="884" y="31"/>
                    <a:pt x="886" y="18"/>
                    <a:pt x="879" y="1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2296" tIns="41148" rIns="82296" bIns="41148"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grpSp>
        <p:nvGrpSpPr>
          <p:cNvPr id="74" name="Group 73">
            <a:extLst>
              <a:ext uri="{FF2B5EF4-FFF2-40B4-BE49-F238E27FC236}">
                <a16:creationId xmlns:a16="http://schemas.microsoft.com/office/drawing/2014/main" id="{2B2E4EA8-B595-B510-1611-9254EE5B6266}"/>
              </a:ext>
            </a:extLst>
          </p:cNvPr>
          <p:cNvGrpSpPr/>
          <p:nvPr/>
        </p:nvGrpSpPr>
        <p:grpSpPr>
          <a:xfrm>
            <a:off x="3681556" y="1447055"/>
            <a:ext cx="720000" cy="720000"/>
            <a:chOff x="1890463" y="1748712"/>
            <a:chExt cx="720000" cy="720000"/>
          </a:xfrm>
        </p:grpSpPr>
        <p:sp>
          <p:nvSpPr>
            <p:cNvPr id="75" name="Oval 74">
              <a:extLst>
                <a:ext uri="{FF2B5EF4-FFF2-40B4-BE49-F238E27FC236}">
                  <a16:creationId xmlns:a16="http://schemas.microsoft.com/office/drawing/2014/main" id="{0AAE2AD0-012D-94B8-8278-D1B312F8E42C}"/>
                </a:ext>
              </a:extLst>
            </p:cNvPr>
            <p:cNvSpPr/>
            <p:nvPr>
              <p:custDataLst>
                <p:tags r:id="rId10"/>
              </p:custDataLst>
            </p:nvPr>
          </p:nvSpPr>
          <p:spPr>
            <a:xfrm>
              <a:off x="1890463" y="1748712"/>
              <a:ext cx="720000" cy="720000"/>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lumMod val="50000"/>
                  </a:prstClr>
                </a:solidFill>
                <a:effectLst/>
                <a:uLnTx/>
                <a:uFillTx/>
                <a:latin typeface="Trebuchet MS"/>
                <a:ea typeface="+mn-ea"/>
                <a:cs typeface="+mn-cs"/>
              </a:endParaRPr>
            </a:p>
          </p:txBody>
        </p:sp>
        <p:grpSp>
          <p:nvGrpSpPr>
            <p:cNvPr id="76" name="bcgIcons_OpportunityMapping">
              <a:extLst>
                <a:ext uri="{FF2B5EF4-FFF2-40B4-BE49-F238E27FC236}">
                  <a16:creationId xmlns:a16="http://schemas.microsoft.com/office/drawing/2014/main" id="{689717E0-4C55-DB00-D520-89E3065ADB57}"/>
                </a:ext>
              </a:extLst>
            </p:cNvPr>
            <p:cNvGrpSpPr>
              <a:grpSpLocks noChangeAspect="1"/>
            </p:cNvGrpSpPr>
            <p:nvPr/>
          </p:nvGrpSpPr>
          <p:grpSpPr bwMode="auto">
            <a:xfrm>
              <a:off x="1999038" y="1867690"/>
              <a:ext cx="507527" cy="507997"/>
              <a:chOff x="1682" y="0"/>
              <a:chExt cx="4316" cy="4320"/>
            </a:xfrm>
          </p:grpSpPr>
          <p:sp>
            <p:nvSpPr>
              <p:cNvPr id="77" name="AutoShape 13">
                <a:extLst>
                  <a:ext uri="{FF2B5EF4-FFF2-40B4-BE49-F238E27FC236}">
                    <a16:creationId xmlns:a16="http://schemas.microsoft.com/office/drawing/2014/main" id="{8812CA63-40EE-1346-EDB9-CC46442DDD0E}"/>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78" name="Freeform 15">
                <a:extLst>
                  <a:ext uri="{FF2B5EF4-FFF2-40B4-BE49-F238E27FC236}">
                    <a16:creationId xmlns:a16="http://schemas.microsoft.com/office/drawing/2014/main" id="{B70D2912-9DEF-31D8-8DCF-3DFF9B617F88}"/>
                  </a:ext>
                </a:extLst>
              </p:cNvPr>
              <p:cNvSpPr>
                <a:spLocks noEditPoints="1"/>
              </p:cNvSpPr>
              <p:nvPr/>
            </p:nvSpPr>
            <p:spPr bwMode="auto">
              <a:xfrm>
                <a:off x="2604" y="877"/>
                <a:ext cx="2493" cy="1855"/>
              </a:xfrm>
              <a:custGeom>
                <a:avLst/>
                <a:gdLst>
                  <a:gd name="T0" fmla="*/ 300 w 1331"/>
                  <a:gd name="T1" fmla="*/ 3 h 989"/>
                  <a:gd name="T2" fmla="*/ 0 w 1331"/>
                  <a:gd name="T3" fmla="*/ 310 h 989"/>
                  <a:gd name="T4" fmla="*/ 294 w 1331"/>
                  <a:gd name="T5" fmla="*/ 984 h 989"/>
                  <a:gd name="T6" fmla="*/ 306 w 1331"/>
                  <a:gd name="T7" fmla="*/ 984 h 989"/>
                  <a:gd name="T8" fmla="*/ 597 w 1331"/>
                  <a:gd name="T9" fmla="*/ 310 h 989"/>
                  <a:gd name="T10" fmla="*/ 300 w 1331"/>
                  <a:gd name="T11" fmla="*/ 3 h 989"/>
                  <a:gd name="T12" fmla="*/ 419 w 1331"/>
                  <a:gd name="T13" fmla="*/ 226 h 989"/>
                  <a:gd name="T14" fmla="*/ 364 w 1331"/>
                  <a:gd name="T15" fmla="*/ 279 h 989"/>
                  <a:gd name="T16" fmla="*/ 362 w 1331"/>
                  <a:gd name="T17" fmla="*/ 284 h 989"/>
                  <a:gd name="T18" fmla="*/ 374 w 1331"/>
                  <a:gd name="T19" fmla="*/ 359 h 989"/>
                  <a:gd name="T20" fmla="*/ 367 w 1331"/>
                  <a:gd name="T21" fmla="*/ 364 h 989"/>
                  <a:gd name="T22" fmla="*/ 300 w 1331"/>
                  <a:gd name="T23" fmla="*/ 328 h 989"/>
                  <a:gd name="T24" fmla="*/ 295 w 1331"/>
                  <a:gd name="T25" fmla="*/ 328 h 989"/>
                  <a:gd name="T26" fmla="*/ 228 w 1331"/>
                  <a:gd name="T27" fmla="*/ 363 h 989"/>
                  <a:gd name="T28" fmla="*/ 220 w 1331"/>
                  <a:gd name="T29" fmla="*/ 357 h 989"/>
                  <a:gd name="T30" fmla="*/ 234 w 1331"/>
                  <a:gd name="T31" fmla="*/ 282 h 989"/>
                  <a:gd name="T32" fmla="*/ 232 w 1331"/>
                  <a:gd name="T33" fmla="*/ 277 h 989"/>
                  <a:gd name="T34" fmla="*/ 179 w 1331"/>
                  <a:gd name="T35" fmla="*/ 224 h 989"/>
                  <a:gd name="T36" fmla="*/ 182 w 1331"/>
                  <a:gd name="T37" fmla="*/ 215 h 989"/>
                  <a:gd name="T38" fmla="*/ 256 w 1331"/>
                  <a:gd name="T39" fmla="*/ 204 h 989"/>
                  <a:gd name="T40" fmla="*/ 261 w 1331"/>
                  <a:gd name="T41" fmla="*/ 202 h 989"/>
                  <a:gd name="T42" fmla="*/ 295 w 1331"/>
                  <a:gd name="T43" fmla="*/ 134 h 989"/>
                  <a:gd name="T44" fmla="*/ 304 w 1331"/>
                  <a:gd name="T45" fmla="*/ 134 h 989"/>
                  <a:gd name="T46" fmla="*/ 337 w 1331"/>
                  <a:gd name="T47" fmla="*/ 202 h 989"/>
                  <a:gd name="T48" fmla="*/ 341 w 1331"/>
                  <a:gd name="T49" fmla="*/ 206 h 989"/>
                  <a:gd name="T50" fmla="*/ 416 w 1331"/>
                  <a:gd name="T51" fmla="*/ 217 h 989"/>
                  <a:gd name="T52" fmla="*/ 419 w 1331"/>
                  <a:gd name="T53" fmla="*/ 226 h 989"/>
                  <a:gd name="T54" fmla="*/ 1146 w 1331"/>
                  <a:gd name="T55" fmla="*/ 0 h 989"/>
                  <a:gd name="T56" fmla="*/ 958 w 1331"/>
                  <a:gd name="T57" fmla="*/ 192 h 989"/>
                  <a:gd name="T58" fmla="*/ 1142 w 1331"/>
                  <a:gd name="T59" fmla="*/ 613 h 989"/>
                  <a:gd name="T60" fmla="*/ 1149 w 1331"/>
                  <a:gd name="T61" fmla="*/ 613 h 989"/>
                  <a:gd name="T62" fmla="*/ 1331 w 1331"/>
                  <a:gd name="T63" fmla="*/ 192 h 989"/>
                  <a:gd name="T64" fmla="*/ 1146 w 1331"/>
                  <a:gd name="T65" fmla="*/ 0 h 989"/>
                  <a:gd name="T66" fmla="*/ 1220 w 1331"/>
                  <a:gd name="T67" fmla="*/ 155 h 989"/>
                  <a:gd name="T68" fmla="*/ 1186 w 1331"/>
                  <a:gd name="T69" fmla="*/ 188 h 989"/>
                  <a:gd name="T70" fmla="*/ 1185 w 1331"/>
                  <a:gd name="T71" fmla="*/ 191 h 989"/>
                  <a:gd name="T72" fmla="*/ 1192 w 1331"/>
                  <a:gd name="T73" fmla="*/ 238 h 989"/>
                  <a:gd name="T74" fmla="*/ 1187 w 1331"/>
                  <a:gd name="T75" fmla="*/ 241 h 989"/>
                  <a:gd name="T76" fmla="*/ 1146 w 1331"/>
                  <a:gd name="T77" fmla="*/ 219 h 989"/>
                  <a:gd name="T78" fmla="*/ 1143 w 1331"/>
                  <a:gd name="T79" fmla="*/ 218 h 989"/>
                  <a:gd name="T80" fmla="*/ 1101 w 1331"/>
                  <a:gd name="T81" fmla="*/ 240 h 989"/>
                  <a:gd name="T82" fmla="*/ 1096 w 1331"/>
                  <a:gd name="T83" fmla="*/ 237 h 989"/>
                  <a:gd name="T84" fmla="*/ 1104 w 1331"/>
                  <a:gd name="T85" fmla="*/ 190 h 989"/>
                  <a:gd name="T86" fmla="*/ 1103 w 1331"/>
                  <a:gd name="T87" fmla="*/ 187 h 989"/>
                  <a:gd name="T88" fmla="*/ 1070 w 1331"/>
                  <a:gd name="T89" fmla="*/ 153 h 989"/>
                  <a:gd name="T90" fmla="*/ 1072 w 1331"/>
                  <a:gd name="T91" fmla="*/ 148 h 989"/>
                  <a:gd name="T92" fmla="*/ 1118 w 1331"/>
                  <a:gd name="T93" fmla="*/ 141 h 989"/>
                  <a:gd name="T94" fmla="*/ 1121 w 1331"/>
                  <a:gd name="T95" fmla="*/ 139 h 989"/>
                  <a:gd name="T96" fmla="*/ 1142 w 1331"/>
                  <a:gd name="T97" fmla="*/ 97 h 989"/>
                  <a:gd name="T98" fmla="*/ 1149 w 1331"/>
                  <a:gd name="T99" fmla="*/ 97 h 989"/>
                  <a:gd name="T100" fmla="*/ 1169 w 1331"/>
                  <a:gd name="T101" fmla="*/ 140 h 989"/>
                  <a:gd name="T102" fmla="*/ 1171 w 1331"/>
                  <a:gd name="T103" fmla="*/ 142 h 989"/>
                  <a:gd name="T104" fmla="*/ 1218 w 1331"/>
                  <a:gd name="T105" fmla="*/ 149 h 989"/>
                  <a:gd name="T106" fmla="*/ 1220 w 1331"/>
                  <a:gd name="T107" fmla="*/ 155 h 9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31" h="989">
                    <a:moveTo>
                      <a:pt x="300" y="3"/>
                    </a:moveTo>
                    <a:cubicBezTo>
                      <a:pt x="134" y="3"/>
                      <a:pt x="0" y="142"/>
                      <a:pt x="0" y="310"/>
                    </a:cubicBezTo>
                    <a:cubicBezTo>
                      <a:pt x="0" y="465"/>
                      <a:pt x="251" y="910"/>
                      <a:pt x="294" y="984"/>
                    </a:cubicBezTo>
                    <a:cubicBezTo>
                      <a:pt x="296" y="989"/>
                      <a:pt x="303" y="989"/>
                      <a:pt x="306" y="984"/>
                    </a:cubicBezTo>
                    <a:cubicBezTo>
                      <a:pt x="348" y="910"/>
                      <a:pt x="597" y="465"/>
                      <a:pt x="597" y="310"/>
                    </a:cubicBezTo>
                    <a:cubicBezTo>
                      <a:pt x="597" y="142"/>
                      <a:pt x="466" y="3"/>
                      <a:pt x="300" y="3"/>
                    </a:cubicBezTo>
                    <a:close/>
                    <a:moveTo>
                      <a:pt x="419" y="226"/>
                    </a:moveTo>
                    <a:cubicBezTo>
                      <a:pt x="364" y="279"/>
                      <a:pt x="364" y="279"/>
                      <a:pt x="364" y="279"/>
                    </a:cubicBezTo>
                    <a:cubicBezTo>
                      <a:pt x="363" y="280"/>
                      <a:pt x="362" y="282"/>
                      <a:pt x="362" y="284"/>
                    </a:cubicBezTo>
                    <a:cubicBezTo>
                      <a:pt x="374" y="359"/>
                      <a:pt x="374" y="359"/>
                      <a:pt x="374" y="359"/>
                    </a:cubicBezTo>
                    <a:cubicBezTo>
                      <a:pt x="375" y="363"/>
                      <a:pt x="371" y="366"/>
                      <a:pt x="367" y="364"/>
                    </a:cubicBezTo>
                    <a:cubicBezTo>
                      <a:pt x="300" y="328"/>
                      <a:pt x="300" y="328"/>
                      <a:pt x="300" y="328"/>
                    </a:cubicBezTo>
                    <a:cubicBezTo>
                      <a:pt x="298" y="327"/>
                      <a:pt x="297" y="327"/>
                      <a:pt x="295" y="328"/>
                    </a:cubicBezTo>
                    <a:cubicBezTo>
                      <a:pt x="228" y="363"/>
                      <a:pt x="228" y="363"/>
                      <a:pt x="228" y="363"/>
                    </a:cubicBezTo>
                    <a:cubicBezTo>
                      <a:pt x="224" y="365"/>
                      <a:pt x="219" y="361"/>
                      <a:pt x="220" y="357"/>
                    </a:cubicBezTo>
                    <a:cubicBezTo>
                      <a:pt x="234" y="282"/>
                      <a:pt x="234" y="282"/>
                      <a:pt x="234" y="282"/>
                    </a:cubicBezTo>
                    <a:cubicBezTo>
                      <a:pt x="234" y="280"/>
                      <a:pt x="234" y="278"/>
                      <a:pt x="232" y="277"/>
                    </a:cubicBezTo>
                    <a:cubicBezTo>
                      <a:pt x="179" y="224"/>
                      <a:pt x="179" y="224"/>
                      <a:pt x="179" y="224"/>
                    </a:cubicBezTo>
                    <a:cubicBezTo>
                      <a:pt x="176" y="221"/>
                      <a:pt x="177" y="215"/>
                      <a:pt x="182" y="215"/>
                    </a:cubicBezTo>
                    <a:cubicBezTo>
                      <a:pt x="256" y="204"/>
                      <a:pt x="256" y="204"/>
                      <a:pt x="256" y="204"/>
                    </a:cubicBezTo>
                    <a:cubicBezTo>
                      <a:pt x="258" y="204"/>
                      <a:pt x="260" y="203"/>
                      <a:pt x="261" y="202"/>
                    </a:cubicBezTo>
                    <a:cubicBezTo>
                      <a:pt x="295" y="134"/>
                      <a:pt x="295" y="134"/>
                      <a:pt x="295" y="134"/>
                    </a:cubicBezTo>
                    <a:cubicBezTo>
                      <a:pt x="297" y="130"/>
                      <a:pt x="302" y="130"/>
                      <a:pt x="304" y="134"/>
                    </a:cubicBezTo>
                    <a:cubicBezTo>
                      <a:pt x="337" y="202"/>
                      <a:pt x="337" y="202"/>
                      <a:pt x="337" y="202"/>
                    </a:cubicBezTo>
                    <a:cubicBezTo>
                      <a:pt x="338" y="204"/>
                      <a:pt x="339" y="205"/>
                      <a:pt x="341" y="206"/>
                    </a:cubicBezTo>
                    <a:cubicBezTo>
                      <a:pt x="416" y="217"/>
                      <a:pt x="416" y="217"/>
                      <a:pt x="416" y="217"/>
                    </a:cubicBezTo>
                    <a:cubicBezTo>
                      <a:pt x="420" y="218"/>
                      <a:pt x="422" y="223"/>
                      <a:pt x="419" y="226"/>
                    </a:cubicBezTo>
                    <a:close/>
                    <a:moveTo>
                      <a:pt x="1146" y="0"/>
                    </a:moveTo>
                    <a:cubicBezTo>
                      <a:pt x="1042" y="0"/>
                      <a:pt x="958" y="87"/>
                      <a:pt x="958" y="192"/>
                    </a:cubicBezTo>
                    <a:cubicBezTo>
                      <a:pt x="958" y="289"/>
                      <a:pt x="1115" y="567"/>
                      <a:pt x="1142" y="613"/>
                    </a:cubicBezTo>
                    <a:cubicBezTo>
                      <a:pt x="1144" y="616"/>
                      <a:pt x="1148" y="616"/>
                      <a:pt x="1149" y="613"/>
                    </a:cubicBezTo>
                    <a:cubicBezTo>
                      <a:pt x="1176" y="567"/>
                      <a:pt x="1331" y="289"/>
                      <a:pt x="1331" y="192"/>
                    </a:cubicBezTo>
                    <a:cubicBezTo>
                      <a:pt x="1331" y="87"/>
                      <a:pt x="1249" y="0"/>
                      <a:pt x="1146" y="0"/>
                    </a:cubicBezTo>
                    <a:close/>
                    <a:moveTo>
                      <a:pt x="1220" y="155"/>
                    </a:moveTo>
                    <a:cubicBezTo>
                      <a:pt x="1186" y="188"/>
                      <a:pt x="1186" y="188"/>
                      <a:pt x="1186" y="188"/>
                    </a:cubicBezTo>
                    <a:cubicBezTo>
                      <a:pt x="1185" y="188"/>
                      <a:pt x="1185" y="190"/>
                      <a:pt x="1185" y="191"/>
                    </a:cubicBezTo>
                    <a:cubicBezTo>
                      <a:pt x="1192" y="238"/>
                      <a:pt x="1192" y="238"/>
                      <a:pt x="1192" y="238"/>
                    </a:cubicBezTo>
                    <a:cubicBezTo>
                      <a:pt x="1193" y="240"/>
                      <a:pt x="1190" y="242"/>
                      <a:pt x="1187" y="241"/>
                    </a:cubicBezTo>
                    <a:cubicBezTo>
                      <a:pt x="1146" y="219"/>
                      <a:pt x="1146" y="219"/>
                      <a:pt x="1146" y="219"/>
                    </a:cubicBezTo>
                    <a:cubicBezTo>
                      <a:pt x="1145" y="218"/>
                      <a:pt x="1144" y="218"/>
                      <a:pt x="1143" y="218"/>
                    </a:cubicBezTo>
                    <a:cubicBezTo>
                      <a:pt x="1101" y="240"/>
                      <a:pt x="1101" y="240"/>
                      <a:pt x="1101" y="240"/>
                    </a:cubicBezTo>
                    <a:cubicBezTo>
                      <a:pt x="1098" y="241"/>
                      <a:pt x="1095" y="239"/>
                      <a:pt x="1096" y="237"/>
                    </a:cubicBezTo>
                    <a:cubicBezTo>
                      <a:pt x="1104" y="190"/>
                      <a:pt x="1104" y="190"/>
                      <a:pt x="1104" y="190"/>
                    </a:cubicBezTo>
                    <a:cubicBezTo>
                      <a:pt x="1104" y="189"/>
                      <a:pt x="1104" y="188"/>
                      <a:pt x="1103" y="187"/>
                    </a:cubicBezTo>
                    <a:cubicBezTo>
                      <a:pt x="1070" y="153"/>
                      <a:pt x="1070" y="153"/>
                      <a:pt x="1070" y="153"/>
                    </a:cubicBezTo>
                    <a:cubicBezTo>
                      <a:pt x="1068" y="151"/>
                      <a:pt x="1069" y="148"/>
                      <a:pt x="1072" y="148"/>
                    </a:cubicBezTo>
                    <a:cubicBezTo>
                      <a:pt x="1118" y="141"/>
                      <a:pt x="1118" y="141"/>
                      <a:pt x="1118" y="141"/>
                    </a:cubicBezTo>
                    <a:cubicBezTo>
                      <a:pt x="1120" y="141"/>
                      <a:pt x="1121" y="141"/>
                      <a:pt x="1121" y="139"/>
                    </a:cubicBezTo>
                    <a:cubicBezTo>
                      <a:pt x="1142" y="97"/>
                      <a:pt x="1142" y="97"/>
                      <a:pt x="1142" y="97"/>
                    </a:cubicBezTo>
                    <a:cubicBezTo>
                      <a:pt x="1144" y="95"/>
                      <a:pt x="1147" y="95"/>
                      <a:pt x="1149" y="97"/>
                    </a:cubicBezTo>
                    <a:cubicBezTo>
                      <a:pt x="1169" y="140"/>
                      <a:pt x="1169" y="140"/>
                      <a:pt x="1169" y="140"/>
                    </a:cubicBezTo>
                    <a:cubicBezTo>
                      <a:pt x="1169" y="141"/>
                      <a:pt x="1170" y="142"/>
                      <a:pt x="1171" y="142"/>
                    </a:cubicBezTo>
                    <a:cubicBezTo>
                      <a:pt x="1218" y="149"/>
                      <a:pt x="1218" y="149"/>
                      <a:pt x="1218" y="149"/>
                    </a:cubicBezTo>
                    <a:cubicBezTo>
                      <a:pt x="1221" y="150"/>
                      <a:pt x="1222" y="153"/>
                      <a:pt x="1220" y="155"/>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79" name="Freeform 16">
                <a:extLst>
                  <a:ext uri="{FF2B5EF4-FFF2-40B4-BE49-F238E27FC236}">
                    <a16:creationId xmlns:a16="http://schemas.microsoft.com/office/drawing/2014/main" id="{45A7F873-9941-7D68-7FEC-182D604CA646}"/>
                  </a:ext>
                </a:extLst>
              </p:cNvPr>
              <p:cNvSpPr>
                <a:spLocks noEditPoints="1"/>
              </p:cNvSpPr>
              <p:nvPr/>
            </p:nvSpPr>
            <p:spPr bwMode="auto">
              <a:xfrm>
                <a:off x="1864" y="712"/>
                <a:ext cx="3956" cy="2665"/>
              </a:xfrm>
              <a:custGeom>
                <a:avLst/>
                <a:gdLst>
                  <a:gd name="T0" fmla="*/ 663 w 2112"/>
                  <a:gd name="T1" fmla="*/ 1199 h 1421"/>
                  <a:gd name="T2" fmla="*/ 469 w 2112"/>
                  <a:gd name="T3" fmla="*/ 844 h 1421"/>
                  <a:gd name="T4" fmla="*/ 695 w 2112"/>
                  <a:gd name="T5" fmla="*/ 0 h 1421"/>
                  <a:gd name="T6" fmla="*/ 920 w 2112"/>
                  <a:gd name="T7" fmla="*/ 844 h 1421"/>
                  <a:gd name="T8" fmla="*/ 727 w 2112"/>
                  <a:gd name="T9" fmla="*/ 1199 h 1421"/>
                  <a:gd name="T10" fmla="*/ 695 w 2112"/>
                  <a:gd name="T11" fmla="*/ 1218 h 1421"/>
                  <a:gd name="T12" fmla="*/ 352 w 2112"/>
                  <a:gd name="T13" fmla="*/ 395 h 1421"/>
                  <a:gd name="T14" fmla="*/ 662 w 2112"/>
                  <a:gd name="T15" fmla="*/ 1110 h 1421"/>
                  <a:gd name="T16" fmla="*/ 728 w 2112"/>
                  <a:gd name="T17" fmla="*/ 1110 h 1421"/>
                  <a:gd name="T18" fmla="*/ 1036 w 2112"/>
                  <a:gd name="T19" fmla="*/ 395 h 1421"/>
                  <a:gd name="T20" fmla="*/ 1344 w 2112"/>
                  <a:gd name="T21" fmla="*/ 593 h 1421"/>
                  <a:gd name="T22" fmla="*/ 1081 w 2112"/>
                  <a:gd name="T23" fmla="*/ 587 h 1421"/>
                  <a:gd name="T24" fmla="*/ 1364 w 2112"/>
                  <a:gd name="T25" fmla="*/ 631 h 1421"/>
                  <a:gd name="T26" fmla="*/ 2110 w 2112"/>
                  <a:gd name="T27" fmla="*/ 1377 h 1421"/>
                  <a:gd name="T28" fmla="*/ 1876 w 2112"/>
                  <a:gd name="T29" fmla="*/ 587 h 1421"/>
                  <a:gd name="T30" fmla="*/ 1736 w 2112"/>
                  <a:gd name="T31" fmla="*/ 592 h 1421"/>
                  <a:gd name="T32" fmla="*/ 1876 w 2112"/>
                  <a:gd name="T33" fmla="*/ 631 h 1421"/>
                  <a:gd name="T34" fmla="*/ 2064 w 2112"/>
                  <a:gd name="T35" fmla="*/ 1377 h 1421"/>
                  <a:gd name="T36" fmla="*/ 232 w 2112"/>
                  <a:gd name="T37" fmla="*/ 631 h 1421"/>
                  <a:gd name="T38" fmla="*/ 324 w 2112"/>
                  <a:gd name="T39" fmla="*/ 631 h 1421"/>
                  <a:gd name="T40" fmla="*/ 236 w 2112"/>
                  <a:gd name="T41" fmla="*/ 587 h 1421"/>
                  <a:gd name="T42" fmla="*/ 2 w 2112"/>
                  <a:gd name="T43" fmla="*/ 1377 h 1421"/>
                  <a:gd name="T44" fmla="*/ 45 w 2112"/>
                  <a:gd name="T45" fmla="*/ 1421 h 1421"/>
                  <a:gd name="T46" fmla="*/ 2104 w 2112"/>
                  <a:gd name="T47" fmla="*/ 1405 h 1421"/>
                  <a:gd name="T48" fmla="*/ 1541 w 2112"/>
                  <a:gd name="T49" fmla="*/ 826 h 1421"/>
                  <a:gd name="T50" fmla="*/ 1487 w 2112"/>
                  <a:gd name="T51" fmla="*/ 765 h 1421"/>
                  <a:gd name="T52" fmla="*/ 1276 w 2112"/>
                  <a:gd name="T53" fmla="*/ 270 h 1421"/>
                  <a:gd name="T54" fmla="*/ 1804 w 2112"/>
                  <a:gd name="T55" fmla="*/ 270 h 1421"/>
                  <a:gd name="T56" fmla="*/ 1594 w 2112"/>
                  <a:gd name="T57" fmla="*/ 765 h 1421"/>
                  <a:gd name="T58" fmla="*/ 1541 w 2112"/>
                  <a:gd name="T59" fmla="*/ 826 h 1421"/>
                  <a:gd name="T60" fmla="*/ 1541 w 2112"/>
                  <a:gd name="T61" fmla="*/ 44 h 1421"/>
                  <a:gd name="T62" fmla="*/ 1423 w 2112"/>
                  <a:gd name="T63" fmla="*/ 553 h 1421"/>
                  <a:gd name="T64" fmla="*/ 1541 w 2112"/>
                  <a:gd name="T65" fmla="*/ 770 h 1421"/>
                  <a:gd name="T66" fmla="*/ 1658 w 2112"/>
                  <a:gd name="T67" fmla="*/ 553 h 1421"/>
                  <a:gd name="T68" fmla="*/ 1541 w 2112"/>
                  <a:gd name="T69" fmla="*/ 44 h 1421"/>
                  <a:gd name="T70" fmla="*/ 1195 w 2112"/>
                  <a:gd name="T71" fmla="*/ 908 h 1421"/>
                  <a:gd name="T72" fmla="*/ 1195 w 2112"/>
                  <a:gd name="T73" fmla="*/ 826 h 1421"/>
                  <a:gd name="T74" fmla="*/ 1449 w 2112"/>
                  <a:gd name="T75" fmla="*/ 787 h 1421"/>
                  <a:gd name="T76" fmla="*/ 1195 w 2112"/>
                  <a:gd name="T77" fmla="*/ 782 h 1421"/>
                  <a:gd name="T78" fmla="*/ 1195 w 2112"/>
                  <a:gd name="T79" fmla="*/ 952 h 1421"/>
                  <a:gd name="T80" fmla="*/ 1659 w 2112"/>
                  <a:gd name="T81" fmla="*/ 1063 h 1421"/>
                  <a:gd name="T82" fmla="*/ 793 w 2112"/>
                  <a:gd name="T83" fmla="*/ 1174 h 1421"/>
                  <a:gd name="T84" fmla="*/ 1548 w 2112"/>
                  <a:gd name="T85" fmla="*/ 1218 h 1421"/>
                  <a:gd name="T86" fmla="*/ 1548 w 2112"/>
                  <a:gd name="T87" fmla="*/ 908 h 1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2" h="1421">
                    <a:moveTo>
                      <a:pt x="695" y="1218"/>
                    </a:moveTo>
                    <a:cubicBezTo>
                      <a:pt x="681" y="1218"/>
                      <a:pt x="669" y="1211"/>
                      <a:pt x="663" y="1199"/>
                    </a:cubicBezTo>
                    <a:cubicBezTo>
                      <a:pt x="624" y="1132"/>
                      <a:pt x="624" y="1132"/>
                      <a:pt x="624" y="1132"/>
                    </a:cubicBezTo>
                    <a:cubicBezTo>
                      <a:pt x="623" y="1131"/>
                      <a:pt x="545" y="997"/>
                      <a:pt x="469" y="844"/>
                    </a:cubicBezTo>
                    <a:cubicBezTo>
                      <a:pt x="360" y="627"/>
                      <a:pt x="308" y="480"/>
                      <a:pt x="308" y="395"/>
                    </a:cubicBezTo>
                    <a:cubicBezTo>
                      <a:pt x="308" y="177"/>
                      <a:pt x="481" y="0"/>
                      <a:pt x="695" y="0"/>
                    </a:cubicBezTo>
                    <a:cubicBezTo>
                      <a:pt x="907" y="0"/>
                      <a:pt x="1080" y="177"/>
                      <a:pt x="1080" y="395"/>
                    </a:cubicBezTo>
                    <a:cubicBezTo>
                      <a:pt x="1080" y="480"/>
                      <a:pt x="1027" y="627"/>
                      <a:pt x="920" y="844"/>
                    </a:cubicBezTo>
                    <a:cubicBezTo>
                      <a:pt x="844" y="997"/>
                      <a:pt x="767" y="1131"/>
                      <a:pt x="766" y="1132"/>
                    </a:cubicBezTo>
                    <a:cubicBezTo>
                      <a:pt x="727" y="1199"/>
                      <a:pt x="727" y="1199"/>
                      <a:pt x="727" y="1199"/>
                    </a:cubicBezTo>
                    <a:cubicBezTo>
                      <a:pt x="721" y="1211"/>
                      <a:pt x="709" y="1218"/>
                      <a:pt x="695" y="1218"/>
                    </a:cubicBezTo>
                    <a:cubicBezTo>
                      <a:pt x="695" y="1218"/>
                      <a:pt x="695" y="1218"/>
                      <a:pt x="695" y="1218"/>
                    </a:cubicBezTo>
                    <a:close/>
                    <a:moveTo>
                      <a:pt x="695" y="44"/>
                    </a:moveTo>
                    <a:cubicBezTo>
                      <a:pt x="506" y="44"/>
                      <a:pt x="352" y="202"/>
                      <a:pt x="352" y="395"/>
                    </a:cubicBezTo>
                    <a:cubicBezTo>
                      <a:pt x="352" y="473"/>
                      <a:pt x="403" y="614"/>
                      <a:pt x="508" y="825"/>
                    </a:cubicBezTo>
                    <a:cubicBezTo>
                      <a:pt x="584" y="976"/>
                      <a:pt x="661" y="1109"/>
                      <a:pt x="662" y="1110"/>
                    </a:cubicBezTo>
                    <a:cubicBezTo>
                      <a:pt x="695" y="1167"/>
                      <a:pt x="695" y="1167"/>
                      <a:pt x="695" y="1167"/>
                    </a:cubicBezTo>
                    <a:cubicBezTo>
                      <a:pt x="728" y="1110"/>
                      <a:pt x="728" y="1110"/>
                      <a:pt x="728" y="1110"/>
                    </a:cubicBezTo>
                    <a:cubicBezTo>
                      <a:pt x="729" y="1109"/>
                      <a:pt x="805" y="976"/>
                      <a:pt x="880" y="825"/>
                    </a:cubicBezTo>
                    <a:cubicBezTo>
                      <a:pt x="985" y="614"/>
                      <a:pt x="1036" y="473"/>
                      <a:pt x="1036" y="395"/>
                    </a:cubicBezTo>
                    <a:cubicBezTo>
                      <a:pt x="1036" y="202"/>
                      <a:pt x="883" y="44"/>
                      <a:pt x="695" y="44"/>
                    </a:cubicBezTo>
                    <a:close/>
                    <a:moveTo>
                      <a:pt x="1344" y="593"/>
                    </a:moveTo>
                    <a:cubicBezTo>
                      <a:pt x="1343" y="591"/>
                      <a:pt x="1343" y="589"/>
                      <a:pt x="1342" y="587"/>
                    </a:cubicBezTo>
                    <a:cubicBezTo>
                      <a:pt x="1081" y="587"/>
                      <a:pt x="1081" y="587"/>
                      <a:pt x="1081" y="587"/>
                    </a:cubicBezTo>
                    <a:cubicBezTo>
                      <a:pt x="1076" y="601"/>
                      <a:pt x="1070" y="616"/>
                      <a:pt x="1064" y="631"/>
                    </a:cubicBezTo>
                    <a:cubicBezTo>
                      <a:pt x="1364" y="631"/>
                      <a:pt x="1364" y="631"/>
                      <a:pt x="1364" y="631"/>
                    </a:cubicBezTo>
                    <a:cubicBezTo>
                      <a:pt x="1357" y="619"/>
                      <a:pt x="1351" y="606"/>
                      <a:pt x="1344" y="593"/>
                    </a:cubicBezTo>
                    <a:close/>
                    <a:moveTo>
                      <a:pt x="2110" y="1377"/>
                    </a:moveTo>
                    <a:cubicBezTo>
                      <a:pt x="1921" y="615"/>
                      <a:pt x="1921" y="615"/>
                      <a:pt x="1921" y="615"/>
                    </a:cubicBezTo>
                    <a:cubicBezTo>
                      <a:pt x="1916" y="596"/>
                      <a:pt x="1894" y="587"/>
                      <a:pt x="1876" y="587"/>
                    </a:cubicBezTo>
                    <a:cubicBezTo>
                      <a:pt x="1739" y="587"/>
                      <a:pt x="1739" y="587"/>
                      <a:pt x="1739" y="587"/>
                    </a:cubicBezTo>
                    <a:cubicBezTo>
                      <a:pt x="1738" y="589"/>
                      <a:pt x="1737" y="591"/>
                      <a:pt x="1736" y="592"/>
                    </a:cubicBezTo>
                    <a:cubicBezTo>
                      <a:pt x="1730" y="605"/>
                      <a:pt x="1723" y="618"/>
                      <a:pt x="1717" y="631"/>
                    </a:cubicBezTo>
                    <a:cubicBezTo>
                      <a:pt x="1876" y="631"/>
                      <a:pt x="1876" y="631"/>
                      <a:pt x="1876" y="631"/>
                    </a:cubicBezTo>
                    <a:cubicBezTo>
                      <a:pt x="1877" y="631"/>
                      <a:pt x="1879" y="631"/>
                      <a:pt x="1880" y="631"/>
                    </a:cubicBezTo>
                    <a:cubicBezTo>
                      <a:pt x="2064" y="1377"/>
                      <a:pt x="2064" y="1377"/>
                      <a:pt x="2064" y="1377"/>
                    </a:cubicBezTo>
                    <a:cubicBezTo>
                      <a:pt x="48" y="1377"/>
                      <a:pt x="48" y="1377"/>
                      <a:pt x="48" y="1377"/>
                    </a:cubicBezTo>
                    <a:cubicBezTo>
                      <a:pt x="232" y="631"/>
                      <a:pt x="232" y="631"/>
                      <a:pt x="232" y="631"/>
                    </a:cubicBezTo>
                    <a:cubicBezTo>
                      <a:pt x="233" y="631"/>
                      <a:pt x="235" y="631"/>
                      <a:pt x="236" y="631"/>
                    </a:cubicBezTo>
                    <a:cubicBezTo>
                      <a:pt x="324" y="631"/>
                      <a:pt x="324" y="631"/>
                      <a:pt x="324" y="631"/>
                    </a:cubicBezTo>
                    <a:cubicBezTo>
                      <a:pt x="318" y="616"/>
                      <a:pt x="312" y="601"/>
                      <a:pt x="307" y="587"/>
                    </a:cubicBezTo>
                    <a:cubicBezTo>
                      <a:pt x="236" y="587"/>
                      <a:pt x="236" y="587"/>
                      <a:pt x="236" y="587"/>
                    </a:cubicBezTo>
                    <a:cubicBezTo>
                      <a:pt x="218" y="587"/>
                      <a:pt x="196" y="596"/>
                      <a:pt x="191" y="615"/>
                    </a:cubicBezTo>
                    <a:cubicBezTo>
                      <a:pt x="2" y="1377"/>
                      <a:pt x="2" y="1377"/>
                      <a:pt x="2" y="1377"/>
                    </a:cubicBezTo>
                    <a:cubicBezTo>
                      <a:pt x="0" y="1387"/>
                      <a:pt x="2" y="1397"/>
                      <a:pt x="8" y="1405"/>
                    </a:cubicBezTo>
                    <a:cubicBezTo>
                      <a:pt x="16" y="1415"/>
                      <a:pt x="30" y="1421"/>
                      <a:pt x="45" y="1421"/>
                    </a:cubicBezTo>
                    <a:cubicBezTo>
                      <a:pt x="2067" y="1421"/>
                      <a:pt x="2067" y="1421"/>
                      <a:pt x="2067" y="1421"/>
                    </a:cubicBezTo>
                    <a:cubicBezTo>
                      <a:pt x="2082" y="1421"/>
                      <a:pt x="2096" y="1415"/>
                      <a:pt x="2104" y="1405"/>
                    </a:cubicBezTo>
                    <a:cubicBezTo>
                      <a:pt x="2110" y="1397"/>
                      <a:pt x="2112" y="1387"/>
                      <a:pt x="2110" y="1377"/>
                    </a:cubicBezTo>
                    <a:close/>
                    <a:moveTo>
                      <a:pt x="1541" y="826"/>
                    </a:moveTo>
                    <a:cubicBezTo>
                      <a:pt x="1529" y="826"/>
                      <a:pt x="1519" y="819"/>
                      <a:pt x="1513" y="810"/>
                    </a:cubicBezTo>
                    <a:cubicBezTo>
                      <a:pt x="1487" y="765"/>
                      <a:pt x="1487" y="765"/>
                      <a:pt x="1487" y="765"/>
                    </a:cubicBezTo>
                    <a:cubicBezTo>
                      <a:pt x="1487" y="764"/>
                      <a:pt x="1435" y="675"/>
                      <a:pt x="1384" y="573"/>
                    </a:cubicBezTo>
                    <a:cubicBezTo>
                      <a:pt x="1310" y="425"/>
                      <a:pt x="1276" y="329"/>
                      <a:pt x="1276" y="270"/>
                    </a:cubicBezTo>
                    <a:cubicBezTo>
                      <a:pt x="1276" y="122"/>
                      <a:pt x="1395" y="0"/>
                      <a:pt x="1541" y="0"/>
                    </a:cubicBezTo>
                    <a:cubicBezTo>
                      <a:pt x="1686" y="0"/>
                      <a:pt x="1804" y="122"/>
                      <a:pt x="1804" y="270"/>
                    </a:cubicBezTo>
                    <a:cubicBezTo>
                      <a:pt x="1804" y="329"/>
                      <a:pt x="1770" y="425"/>
                      <a:pt x="1697" y="573"/>
                    </a:cubicBezTo>
                    <a:cubicBezTo>
                      <a:pt x="1647" y="675"/>
                      <a:pt x="1595" y="764"/>
                      <a:pt x="1594" y="765"/>
                    </a:cubicBezTo>
                    <a:cubicBezTo>
                      <a:pt x="1569" y="809"/>
                      <a:pt x="1569" y="809"/>
                      <a:pt x="1569" y="809"/>
                    </a:cubicBezTo>
                    <a:cubicBezTo>
                      <a:pt x="1563" y="819"/>
                      <a:pt x="1552" y="826"/>
                      <a:pt x="1541" y="826"/>
                    </a:cubicBezTo>
                    <a:cubicBezTo>
                      <a:pt x="1541" y="826"/>
                      <a:pt x="1541" y="826"/>
                      <a:pt x="1541" y="826"/>
                    </a:cubicBezTo>
                    <a:close/>
                    <a:moveTo>
                      <a:pt x="1541" y="44"/>
                    </a:moveTo>
                    <a:cubicBezTo>
                      <a:pt x="1419" y="44"/>
                      <a:pt x="1320" y="146"/>
                      <a:pt x="1320" y="270"/>
                    </a:cubicBezTo>
                    <a:cubicBezTo>
                      <a:pt x="1320" y="321"/>
                      <a:pt x="1354" y="416"/>
                      <a:pt x="1423" y="553"/>
                    </a:cubicBezTo>
                    <a:cubicBezTo>
                      <a:pt x="1474" y="655"/>
                      <a:pt x="1525" y="742"/>
                      <a:pt x="1525" y="743"/>
                    </a:cubicBezTo>
                    <a:cubicBezTo>
                      <a:pt x="1541" y="770"/>
                      <a:pt x="1541" y="770"/>
                      <a:pt x="1541" y="770"/>
                    </a:cubicBezTo>
                    <a:cubicBezTo>
                      <a:pt x="1556" y="743"/>
                      <a:pt x="1556" y="743"/>
                      <a:pt x="1556" y="743"/>
                    </a:cubicBezTo>
                    <a:cubicBezTo>
                      <a:pt x="1557" y="742"/>
                      <a:pt x="1607" y="655"/>
                      <a:pt x="1658" y="553"/>
                    </a:cubicBezTo>
                    <a:cubicBezTo>
                      <a:pt x="1726" y="416"/>
                      <a:pt x="1760" y="321"/>
                      <a:pt x="1760" y="270"/>
                    </a:cubicBezTo>
                    <a:cubicBezTo>
                      <a:pt x="1760" y="146"/>
                      <a:pt x="1662" y="44"/>
                      <a:pt x="1541" y="44"/>
                    </a:cubicBezTo>
                    <a:close/>
                    <a:moveTo>
                      <a:pt x="1548" y="908"/>
                    </a:moveTo>
                    <a:cubicBezTo>
                      <a:pt x="1195" y="908"/>
                      <a:pt x="1195" y="908"/>
                      <a:pt x="1195" y="908"/>
                    </a:cubicBezTo>
                    <a:cubicBezTo>
                      <a:pt x="1172" y="908"/>
                      <a:pt x="1154" y="889"/>
                      <a:pt x="1154" y="867"/>
                    </a:cubicBezTo>
                    <a:cubicBezTo>
                      <a:pt x="1154" y="844"/>
                      <a:pt x="1172" y="826"/>
                      <a:pt x="1195" y="826"/>
                    </a:cubicBezTo>
                    <a:cubicBezTo>
                      <a:pt x="1471" y="826"/>
                      <a:pt x="1471" y="826"/>
                      <a:pt x="1471" y="826"/>
                    </a:cubicBezTo>
                    <a:cubicBezTo>
                      <a:pt x="1449" y="787"/>
                      <a:pt x="1449" y="787"/>
                      <a:pt x="1449" y="787"/>
                    </a:cubicBezTo>
                    <a:cubicBezTo>
                      <a:pt x="1449" y="787"/>
                      <a:pt x="1448" y="785"/>
                      <a:pt x="1446" y="782"/>
                    </a:cubicBezTo>
                    <a:cubicBezTo>
                      <a:pt x="1195" y="782"/>
                      <a:pt x="1195" y="782"/>
                      <a:pt x="1195" y="782"/>
                    </a:cubicBezTo>
                    <a:cubicBezTo>
                      <a:pt x="1148" y="782"/>
                      <a:pt x="1110" y="820"/>
                      <a:pt x="1110" y="867"/>
                    </a:cubicBezTo>
                    <a:cubicBezTo>
                      <a:pt x="1110" y="914"/>
                      <a:pt x="1148" y="952"/>
                      <a:pt x="1195" y="952"/>
                    </a:cubicBezTo>
                    <a:cubicBezTo>
                      <a:pt x="1548" y="952"/>
                      <a:pt x="1548" y="952"/>
                      <a:pt x="1548" y="952"/>
                    </a:cubicBezTo>
                    <a:cubicBezTo>
                      <a:pt x="1609" y="952"/>
                      <a:pt x="1659" y="1002"/>
                      <a:pt x="1659" y="1063"/>
                    </a:cubicBezTo>
                    <a:cubicBezTo>
                      <a:pt x="1659" y="1124"/>
                      <a:pt x="1609" y="1174"/>
                      <a:pt x="1548" y="1174"/>
                    </a:cubicBezTo>
                    <a:cubicBezTo>
                      <a:pt x="793" y="1174"/>
                      <a:pt x="793" y="1174"/>
                      <a:pt x="793" y="1174"/>
                    </a:cubicBezTo>
                    <a:cubicBezTo>
                      <a:pt x="767" y="1218"/>
                      <a:pt x="767" y="1218"/>
                      <a:pt x="767" y="1218"/>
                    </a:cubicBezTo>
                    <a:cubicBezTo>
                      <a:pt x="1548" y="1218"/>
                      <a:pt x="1548" y="1218"/>
                      <a:pt x="1548" y="1218"/>
                    </a:cubicBezTo>
                    <a:cubicBezTo>
                      <a:pt x="1633" y="1218"/>
                      <a:pt x="1703" y="1148"/>
                      <a:pt x="1703" y="1063"/>
                    </a:cubicBezTo>
                    <a:cubicBezTo>
                      <a:pt x="1703" y="977"/>
                      <a:pt x="1633" y="908"/>
                      <a:pt x="1548" y="90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grpSp>
      <p:grpSp>
        <p:nvGrpSpPr>
          <p:cNvPr id="80" name="Group 79">
            <a:extLst>
              <a:ext uri="{FF2B5EF4-FFF2-40B4-BE49-F238E27FC236}">
                <a16:creationId xmlns:a16="http://schemas.microsoft.com/office/drawing/2014/main" id="{6A5C256B-981E-E695-4FF4-E8C7F3F18CE2}"/>
              </a:ext>
            </a:extLst>
          </p:cNvPr>
          <p:cNvGrpSpPr/>
          <p:nvPr/>
        </p:nvGrpSpPr>
        <p:grpSpPr>
          <a:xfrm>
            <a:off x="7526406" y="1447055"/>
            <a:ext cx="720000" cy="720000"/>
            <a:chOff x="5735313" y="1748712"/>
            <a:chExt cx="720000" cy="720000"/>
          </a:xfrm>
        </p:grpSpPr>
        <p:grpSp>
          <p:nvGrpSpPr>
            <p:cNvPr id="81" name="Group 80">
              <a:extLst>
                <a:ext uri="{FF2B5EF4-FFF2-40B4-BE49-F238E27FC236}">
                  <a16:creationId xmlns:a16="http://schemas.microsoft.com/office/drawing/2014/main" id="{C78BA142-05EA-967C-7666-65F157067D62}"/>
                </a:ext>
              </a:extLst>
            </p:cNvPr>
            <p:cNvGrpSpPr/>
            <p:nvPr/>
          </p:nvGrpSpPr>
          <p:grpSpPr>
            <a:xfrm>
              <a:off x="5735313" y="1748712"/>
              <a:ext cx="720000" cy="720000"/>
              <a:chOff x="5772024" y="1984163"/>
              <a:chExt cx="646578" cy="646578"/>
            </a:xfrm>
          </p:grpSpPr>
          <p:sp>
            <p:nvSpPr>
              <p:cNvPr id="108" name="Oval 107">
                <a:extLst>
                  <a:ext uri="{FF2B5EF4-FFF2-40B4-BE49-F238E27FC236}">
                    <a16:creationId xmlns:a16="http://schemas.microsoft.com/office/drawing/2014/main" id="{032F6B6F-74A2-0F33-011C-ABA592823659}"/>
                  </a:ext>
                </a:extLst>
              </p:cNvPr>
              <p:cNvSpPr/>
              <p:nvPr>
                <p:custDataLst>
                  <p:tags r:id="rId9"/>
                </p:custDataLst>
              </p:nvPr>
            </p:nvSpPr>
            <p:spPr>
              <a:xfrm>
                <a:off x="5772024" y="1984163"/>
                <a:ext cx="646578" cy="646578"/>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lumMod val="50000"/>
                    </a:prstClr>
                  </a:solidFill>
                  <a:effectLst/>
                  <a:uLnTx/>
                  <a:uFillTx/>
                  <a:latin typeface="Trebuchet MS"/>
                  <a:ea typeface="+mn-ea"/>
                  <a:cs typeface="+mn-cs"/>
                </a:endParaRPr>
              </a:p>
            </p:txBody>
          </p:sp>
          <p:sp>
            <p:nvSpPr>
              <p:cNvPr id="109" name="AutoShape 7">
                <a:extLst>
                  <a:ext uri="{FF2B5EF4-FFF2-40B4-BE49-F238E27FC236}">
                    <a16:creationId xmlns:a16="http://schemas.microsoft.com/office/drawing/2014/main" id="{A207470E-4116-9D7A-D9D3-9A4807D3D297}"/>
                  </a:ext>
                </a:extLst>
              </p:cNvPr>
              <p:cNvSpPr>
                <a:spLocks noChangeAspect="1" noChangeArrowheads="1" noTextEdit="1"/>
              </p:cNvSpPr>
              <p:nvPr/>
            </p:nvSpPr>
            <p:spPr bwMode="auto">
              <a:xfrm>
                <a:off x="5866713" y="2078852"/>
                <a:ext cx="457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grpSp>
          <p:nvGrpSpPr>
            <p:cNvPr id="96" name="Group 95">
              <a:extLst>
                <a:ext uri="{FF2B5EF4-FFF2-40B4-BE49-F238E27FC236}">
                  <a16:creationId xmlns:a16="http://schemas.microsoft.com/office/drawing/2014/main" id="{427AE385-791B-EA44-6A7A-90803C1FFD0E}"/>
                </a:ext>
              </a:extLst>
            </p:cNvPr>
            <p:cNvGrpSpPr>
              <a:grpSpLocks noChangeAspect="1"/>
            </p:cNvGrpSpPr>
            <p:nvPr/>
          </p:nvGrpSpPr>
          <p:grpSpPr>
            <a:xfrm>
              <a:off x="5883176" y="1892511"/>
              <a:ext cx="432000" cy="432400"/>
              <a:chOff x="5273801" y="2606040"/>
              <a:chExt cx="1644396" cy="1645920"/>
            </a:xfrm>
          </p:grpSpPr>
          <p:sp>
            <p:nvSpPr>
              <p:cNvPr id="99" name="AutoShape 33">
                <a:extLst>
                  <a:ext uri="{FF2B5EF4-FFF2-40B4-BE49-F238E27FC236}">
                    <a16:creationId xmlns:a16="http://schemas.microsoft.com/office/drawing/2014/main" id="{CA647A93-50C0-3127-9734-EC884C6357B1}"/>
                  </a:ext>
                </a:extLst>
              </p:cNvPr>
              <p:cNvSpPr>
                <a:spLocks noChangeAspect="1" noChangeArrowheads="1" noTextEdit="1"/>
              </p:cNvSpPr>
              <p:nvPr/>
            </p:nvSpPr>
            <p:spPr bwMode="auto">
              <a:xfrm>
                <a:off x="5273801" y="2606040"/>
                <a:ext cx="1644396" cy="1645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nvGrpSpPr>
              <p:cNvPr id="102" name="Group 101">
                <a:extLst>
                  <a:ext uri="{FF2B5EF4-FFF2-40B4-BE49-F238E27FC236}">
                    <a16:creationId xmlns:a16="http://schemas.microsoft.com/office/drawing/2014/main" id="{A810A101-291A-DF60-A496-6FF1D68AAF3B}"/>
                  </a:ext>
                </a:extLst>
              </p:cNvPr>
              <p:cNvGrpSpPr/>
              <p:nvPr/>
            </p:nvGrpSpPr>
            <p:grpSpPr>
              <a:xfrm>
                <a:off x="5445632" y="2775204"/>
                <a:ext cx="1301877" cy="1306068"/>
                <a:chOff x="5445632" y="2775204"/>
                <a:chExt cx="1301877" cy="1306068"/>
              </a:xfrm>
            </p:grpSpPr>
            <p:sp>
              <p:nvSpPr>
                <p:cNvPr id="106" name="Freeform 35">
                  <a:extLst>
                    <a:ext uri="{FF2B5EF4-FFF2-40B4-BE49-F238E27FC236}">
                      <a16:creationId xmlns:a16="http://schemas.microsoft.com/office/drawing/2014/main" id="{7AA53388-B956-A0F2-ED93-DA16D0C3E0B4}"/>
                    </a:ext>
                  </a:extLst>
                </p:cNvPr>
                <p:cNvSpPr>
                  <a:spLocks noEditPoints="1"/>
                </p:cNvSpPr>
                <p:nvPr/>
              </p:nvSpPr>
              <p:spPr bwMode="auto">
                <a:xfrm>
                  <a:off x="5445632" y="2775204"/>
                  <a:ext cx="1301877" cy="1306068"/>
                </a:xfrm>
                <a:custGeom>
                  <a:avLst/>
                  <a:gdLst>
                    <a:gd name="T0" fmla="*/ 236 w 1824"/>
                    <a:gd name="T1" fmla="*/ 118 h 1828"/>
                    <a:gd name="T2" fmla="*/ 118 w 1824"/>
                    <a:gd name="T3" fmla="*/ 191 h 1828"/>
                    <a:gd name="T4" fmla="*/ 414 w 1824"/>
                    <a:gd name="T5" fmla="*/ 22 h 1828"/>
                    <a:gd name="T6" fmla="*/ 458 w 1824"/>
                    <a:gd name="T7" fmla="*/ 22 h 1828"/>
                    <a:gd name="T8" fmla="*/ 753 w 1824"/>
                    <a:gd name="T9" fmla="*/ 0 h 1828"/>
                    <a:gd name="T10" fmla="*/ 680 w 1824"/>
                    <a:gd name="T11" fmla="*/ 118 h 1828"/>
                    <a:gd name="T12" fmla="*/ 1071 w 1824"/>
                    <a:gd name="T13" fmla="*/ 0 h 1828"/>
                    <a:gd name="T14" fmla="*/ 1093 w 1824"/>
                    <a:gd name="T15" fmla="*/ 213 h 1828"/>
                    <a:gd name="T16" fmla="*/ 1366 w 1824"/>
                    <a:gd name="T17" fmla="*/ 22 h 1828"/>
                    <a:gd name="T18" fmla="*/ 1410 w 1824"/>
                    <a:gd name="T19" fmla="*/ 22 h 1828"/>
                    <a:gd name="T20" fmla="*/ 1706 w 1824"/>
                    <a:gd name="T21" fmla="*/ 0 h 1828"/>
                    <a:gd name="T22" fmla="*/ 1632 w 1824"/>
                    <a:gd name="T23" fmla="*/ 118 h 1828"/>
                    <a:gd name="T24" fmla="*/ 118 w 1824"/>
                    <a:gd name="T25" fmla="*/ 319 h 1828"/>
                    <a:gd name="T26" fmla="*/ 140 w 1824"/>
                    <a:gd name="T27" fmla="*/ 532 h 1828"/>
                    <a:gd name="T28" fmla="*/ 953 w 1824"/>
                    <a:gd name="T29" fmla="*/ 436 h 1828"/>
                    <a:gd name="T30" fmla="*/ 1071 w 1824"/>
                    <a:gd name="T31" fmla="*/ 363 h 1828"/>
                    <a:gd name="T32" fmla="*/ 1071 w 1824"/>
                    <a:gd name="T33" fmla="*/ 363 h 1828"/>
                    <a:gd name="T34" fmla="*/ 1388 w 1824"/>
                    <a:gd name="T35" fmla="*/ 554 h 1828"/>
                    <a:gd name="T36" fmla="*/ 1706 w 1824"/>
                    <a:gd name="T37" fmla="*/ 554 h 1828"/>
                    <a:gd name="T38" fmla="*/ 1706 w 1824"/>
                    <a:gd name="T39" fmla="*/ 554 h 1828"/>
                    <a:gd name="T40" fmla="*/ 1780 w 1824"/>
                    <a:gd name="T41" fmla="*/ 436 h 1828"/>
                    <a:gd name="T42" fmla="*/ 118 w 1824"/>
                    <a:gd name="T43" fmla="*/ 637 h 1828"/>
                    <a:gd name="T44" fmla="*/ 44 w 1824"/>
                    <a:gd name="T45" fmla="*/ 755 h 1828"/>
                    <a:gd name="T46" fmla="*/ 1071 w 1824"/>
                    <a:gd name="T47" fmla="*/ 872 h 1828"/>
                    <a:gd name="T48" fmla="*/ 1071 w 1824"/>
                    <a:gd name="T49" fmla="*/ 872 h 1828"/>
                    <a:gd name="T50" fmla="*/ 1144 w 1824"/>
                    <a:gd name="T51" fmla="*/ 755 h 1828"/>
                    <a:gd name="T52" fmla="*/ 1388 w 1824"/>
                    <a:gd name="T53" fmla="*/ 637 h 1828"/>
                    <a:gd name="T54" fmla="*/ 1315 w 1824"/>
                    <a:gd name="T55" fmla="*/ 755 h 1828"/>
                    <a:gd name="T56" fmla="*/ 1706 w 1824"/>
                    <a:gd name="T57" fmla="*/ 637 h 1828"/>
                    <a:gd name="T58" fmla="*/ 1728 w 1824"/>
                    <a:gd name="T59" fmla="*/ 850 h 1828"/>
                    <a:gd name="T60" fmla="*/ 96 w 1824"/>
                    <a:gd name="T61" fmla="*/ 978 h 1828"/>
                    <a:gd name="T62" fmla="*/ 140 w 1824"/>
                    <a:gd name="T63" fmla="*/ 978 h 1828"/>
                    <a:gd name="T64" fmla="*/ 436 w 1824"/>
                    <a:gd name="T65" fmla="*/ 956 h 1828"/>
                    <a:gd name="T66" fmla="*/ 362 w 1824"/>
                    <a:gd name="T67" fmla="*/ 1073 h 1828"/>
                    <a:gd name="T68" fmla="*/ 753 w 1824"/>
                    <a:gd name="T69" fmla="*/ 956 h 1828"/>
                    <a:gd name="T70" fmla="*/ 775 w 1824"/>
                    <a:gd name="T71" fmla="*/ 1169 h 1828"/>
                    <a:gd name="T72" fmla="*/ 1049 w 1824"/>
                    <a:gd name="T73" fmla="*/ 978 h 1828"/>
                    <a:gd name="T74" fmla="*/ 1093 w 1824"/>
                    <a:gd name="T75" fmla="*/ 978 h 1828"/>
                    <a:gd name="T76" fmla="*/ 1388 w 1824"/>
                    <a:gd name="T77" fmla="*/ 956 h 1828"/>
                    <a:gd name="T78" fmla="*/ 1315 w 1824"/>
                    <a:gd name="T79" fmla="*/ 1073 h 1828"/>
                    <a:gd name="T80" fmla="*/ 1706 w 1824"/>
                    <a:gd name="T81" fmla="*/ 956 h 1828"/>
                    <a:gd name="T82" fmla="*/ 1728 w 1824"/>
                    <a:gd name="T83" fmla="*/ 1169 h 1828"/>
                    <a:gd name="T84" fmla="*/ 0 w 1824"/>
                    <a:gd name="T85" fmla="*/ 1392 h 1828"/>
                    <a:gd name="T86" fmla="*/ 118 w 1824"/>
                    <a:gd name="T87" fmla="*/ 1318 h 1828"/>
                    <a:gd name="T88" fmla="*/ 118 w 1824"/>
                    <a:gd name="T89" fmla="*/ 1318 h 1828"/>
                    <a:gd name="T90" fmla="*/ 436 w 1824"/>
                    <a:gd name="T91" fmla="*/ 1509 h 1828"/>
                    <a:gd name="T92" fmla="*/ 753 w 1824"/>
                    <a:gd name="T93" fmla="*/ 1509 h 1828"/>
                    <a:gd name="T94" fmla="*/ 753 w 1824"/>
                    <a:gd name="T95" fmla="*/ 1509 h 1828"/>
                    <a:gd name="T96" fmla="*/ 827 w 1824"/>
                    <a:gd name="T97" fmla="*/ 1392 h 1828"/>
                    <a:gd name="T98" fmla="*/ 1706 w 1824"/>
                    <a:gd name="T99" fmla="*/ 1274 h 1828"/>
                    <a:gd name="T100" fmla="*/ 1632 w 1824"/>
                    <a:gd name="T101" fmla="*/ 1392 h 1828"/>
                    <a:gd name="T102" fmla="*/ 118 w 1824"/>
                    <a:gd name="T103" fmla="*/ 1828 h 1828"/>
                    <a:gd name="T104" fmla="*/ 118 w 1824"/>
                    <a:gd name="T105" fmla="*/ 1828 h 1828"/>
                    <a:gd name="T106" fmla="*/ 192 w 1824"/>
                    <a:gd name="T107" fmla="*/ 1710 h 1828"/>
                    <a:gd name="T108" fmla="*/ 414 w 1824"/>
                    <a:gd name="T109" fmla="*/ 1806 h 1828"/>
                    <a:gd name="T110" fmla="*/ 436 w 1824"/>
                    <a:gd name="T111" fmla="*/ 1593 h 1828"/>
                    <a:gd name="T112" fmla="*/ 871 w 1824"/>
                    <a:gd name="T113" fmla="*/ 1710 h 1828"/>
                    <a:gd name="T114" fmla="*/ 753 w 1824"/>
                    <a:gd name="T115" fmla="*/ 1784 h 1828"/>
                    <a:gd name="T116" fmla="*/ 1588 w 1824"/>
                    <a:gd name="T117" fmla="*/ 1710 h 1828"/>
                    <a:gd name="T118" fmla="*/ 1706 w 1824"/>
                    <a:gd name="T119" fmla="*/ 1637 h 1828"/>
                    <a:gd name="T120" fmla="*/ 1706 w 1824"/>
                    <a:gd name="T121" fmla="*/ 1637 h 1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24" h="1828">
                      <a:moveTo>
                        <a:pt x="118" y="235"/>
                      </a:moveTo>
                      <a:cubicBezTo>
                        <a:pt x="53" y="235"/>
                        <a:pt x="0" y="183"/>
                        <a:pt x="0" y="118"/>
                      </a:cubicBezTo>
                      <a:cubicBezTo>
                        <a:pt x="0" y="53"/>
                        <a:pt x="53" y="0"/>
                        <a:pt x="118" y="0"/>
                      </a:cubicBezTo>
                      <a:cubicBezTo>
                        <a:pt x="183" y="0"/>
                        <a:pt x="236" y="53"/>
                        <a:pt x="236" y="118"/>
                      </a:cubicBezTo>
                      <a:cubicBezTo>
                        <a:pt x="236" y="183"/>
                        <a:pt x="183" y="235"/>
                        <a:pt x="118" y="235"/>
                      </a:cubicBezTo>
                      <a:close/>
                      <a:moveTo>
                        <a:pt x="118" y="44"/>
                      </a:moveTo>
                      <a:cubicBezTo>
                        <a:pt x="77" y="44"/>
                        <a:pt x="44" y="77"/>
                        <a:pt x="44" y="118"/>
                      </a:cubicBezTo>
                      <a:cubicBezTo>
                        <a:pt x="44" y="158"/>
                        <a:pt x="77" y="191"/>
                        <a:pt x="118" y="191"/>
                      </a:cubicBezTo>
                      <a:cubicBezTo>
                        <a:pt x="159" y="191"/>
                        <a:pt x="192" y="158"/>
                        <a:pt x="192" y="118"/>
                      </a:cubicBezTo>
                      <a:cubicBezTo>
                        <a:pt x="192" y="77"/>
                        <a:pt x="159" y="44"/>
                        <a:pt x="118" y="44"/>
                      </a:cubicBezTo>
                      <a:close/>
                      <a:moveTo>
                        <a:pt x="436" y="0"/>
                      </a:moveTo>
                      <a:cubicBezTo>
                        <a:pt x="424" y="0"/>
                        <a:pt x="414" y="10"/>
                        <a:pt x="414" y="22"/>
                      </a:cubicBezTo>
                      <a:cubicBezTo>
                        <a:pt x="414" y="213"/>
                        <a:pt x="414" y="213"/>
                        <a:pt x="414" y="213"/>
                      </a:cubicBezTo>
                      <a:cubicBezTo>
                        <a:pt x="414" y="225"/>
                        <a:pt x="424" y="235"/>
                        <a:pt x="436" y="235"/>
                      </a:cubicBezTo>
                      <a:cubicBezTo>
                        <a:pt x="448" y="235"/>
                        <a:pt x="458" y="225"/>
                        <a:pt x="458" y="213"/>
                      </a:cubicBezTo>
                      <a:cubicBezTo>
                        <a:pt x="458" y="22"/>
                        <a:pt x="458" y="22"/>
                        <a:pt x="458" y="22"/>
                      </a:cubicBezTo>
                      <a:cubicBezTo>
                        <a:pt x="458" y="10"/>
                        <a:pt x="448" y="0"/>
                        <a:pt x="436" y="0"/>
                      </a:cubicBezTo>
                      <a:close/>
                      <a:moveTo>
                        <a:pt x="753" y="235"/>
                      </a:moveTo>
                      <a:cubicBezTo>
                        <a:pt x="688" y="235"/>
                        <a:pt x="636" y="183"/>
                        <a:pt x="636" y="118"/>
                      </a:cubicBezTo>
                      <a:cubicBezTo>
                        <a:pt x="636" y="53"/>
                        <a:pt x="688" y="0"/>
                        <a:pt x="753" y="0"/>
                      </a:cubicBezTo>
                      <a:cubicBezTo>
                        <a:pt x="818" y="0"/>
                        <a:pt x="871" y="53"/>
                        <a:pt x="871" y="118"/>
                      </a:cubicBezTo>
                      <a:cubicBezTo>
                        <a:pt x="871" y="183"/>
                        <a:pt x="818" y="235"/>
                        <a:pt x="753" y="235"/>
                      </a:cubicBezTo>
                      <a:close/>
                      <a:moveTo>
                        <a:pt x="753" y="44"/>
                      </a:moveTo>
                      <a:cubicBezTo>
                        <a:pt x="713" y="44"/>
                        <a:pt x="680" y="77"/>
                        <a:pt x="680" y="118"/>
                      </a:cubicBezTo>
                      <a:cubicBezTo>
                        <a:pt x="680" y="158"/>
                        <a:pt x="713" y="191"/>
                        <a:pt x="753" y="191"/>
                      </a:cubicBezTo>
                      <a:cubicBezTo>
                        <a:pt x="794" y="191"/>
                        <a:pt x="827" y="158"/>
                        <a:pt x="827" y="118"/>
                      </a:cubicBezTo>
                      <a:cubicBezTo>
                        <a:pt x="827" y="77"/>
                        <a:pt x="794" y="44"/>
                        <a:pt x="753" y="44"/>
                      </a:cubicBezTo>
                      <a:close/>
                      <a:moveTo>
                        <a:pt x="1071" y="0"/>
                      </a:moveTo>
                      <a:cubicBezTo>
                        <a:pt x="1059" y="0"/>
                        <a:pt x="1049" y="10"/>
                        <a:pt x="1049" y="22"/>
                      </a:cubicBezTo>
                      <a:cubicBezTo>
                        <a:pt x="1049" y="213"/>
                        <a:pt x="1049" y="213"/>
                        <a:pt x="1049" y="213"/>
                      </a:cubicBezTo>
                      <a:cubicBezTo>
                        <a:pt x="1049" y="225"/>
                        <a:pt x="1059" y="235"/>
                        <a:pt x="1071" y="235"/>
                      </a:cubicBezTo>
                      <a:cubicBezTo>
                        <a:pt x="1083" y="235"/>
                        <a:pt x="1093" y="225"/>
                        <a:pt x="1093" y="213"/>
                      </a:cubicBezTo>
                      <a:cubicBezTo>
                        <a:pt x="1093" y="22"/>
                        <a:pt x="1093" y="22"/>
                        <a:pt x="1093" y="22"/>
                      </a:cubicBezTo>
                      <a:cubicBezTo>
                        <a:pt x="1093" y="10"/>
                        <a:pt x="1083" y="0"/>
                        <a:pt x="1071" y="0"/>
                      </a:cubicBezTo>
                      <a:close/>
                      <a:moveTo>
                        <a:pt x="1388" y="0"/>
                      </a:moveTo>
                      <a:cubicBezTo>
                        <a:pt x="1376" y="0"/>
                        <a:pt x="1366" y="10"/>
                        <a:pt x="1366" y="22"/>
                      </a:cubicBezTo>
                      <a:cubicBezTo>
                        <a:pt x="1366" y="213"/>
                        <a:pt x="1366" y="213"/>
                        <a:pt x="1366" y="213"/>
                      </a:cubicBezTo>
                      <a:cubicBezTo>
                        <a:pt x="1366" y="225"/>
                        <a:pt x="1376" y="235"/>
                        <a:pt x="1388" y="235"/>
                      </a:cubicBezTo>
                      <a:cubicBezTo>
                        <a:pt x="1400" y="235"/>
                        <a:pt x="1410" y="225"/>
                        <a:pt x="1410" y="213"/>
                      </a:cubicBezTo>
                      <a:cubicBezTo>
                        <a:pt x="1410" y="22"/>
                        <a:pt x="1410" y="22"/>
                        <a:pt x="1410" y="22"/>
                      </a:cubicBezTo>
                      <a:cubicBezTo>
                        <a:pt x="1410" y="10"/>
                        <a:pt x="1400" y="0"/>
                        <a:pt x="1388" y="0"/>
                      </a:cubicBezTo>
                      <a:close/>
                      <a:moveTo>
                        <a:pt x="1706" y="235"/>
                      </a:moveTo>
                      <a:cubicBezTo>
                        <a:pt x="1641" y="235"/>
                        <a:pt x="1588" y="183"/>
                        <a:pt x="1588" y="118"/>
                      </a:cubicBezTo>
                      <a:cubicBezTo>
                        <a:pt x="1588" y="53"/>
                        <a:pt x="1641" y="0"/>
                        <a:pt x="1706" y="0"/>
                      </a:cubicBezTo>
                      <a:cubicBezTo>
                        <a:pt x="1771" y="0"/>
                        <a:pt x="1824" y="53"/>
                        <a:pt x="1824" y="118"/>
                      </a:cubicBezTo>
                      <a:cubicBezTo>
                        <a:pt x="1824" y="183"/>
                        <a:pt x="1771" y="235"/>
                        <a:pt x="1706" y="235"/>
                      </a:cubicBezTo>
                      <a:close/>
                      <a:moveTo>
                        <a:pt x="1706" y="44"/>
                      </a:moveTo>
                      <a:cubicBezTo>
                        <a:pt x="1665" y="44"/>
                        <a:pt x="1632" y="77"/>
                        <a:pt x="1632" y="118"/>
                      </a:cubicBezTo>
                      <a:cubicBezTo>
                        <a:pt x="1632" y="158"/>
                        <a:pt x="1665" y="191"/>
                        <a:pt x="1706" y="191"/>
                      </a:cubicBezTo>
                      <a:cubicBezTo>
                        <a:pt x="1747" y="191"/>
                        <a:pt x="1780" y="158"/>
                        <a:pt x="1780" y="118"/>
                      </a:cubicBezTo>
                      <a:cubicBezTo>
                        <a:pt x="1780" y="77"/>
                        <a:pt x="1747" y="44"/>
                        <a:pt x="1706" y="44"/>
                      </a:cubicBezTo>
                      <a:close/>
                      <a:moveTo>
                        <a:pt x="118" y="319"/>
                      </a:moveTo>
                      <a:cubicBezTo>
                        <a:pt x="106" y="319"/>
                        <a:pt x="96" y="328"/>
                        <a:pt x="96" y="341"/>
                      </a:cubicBezTo>
                      <a:cubicBezTo>
                        <a:pt x="96" y="532"/>
                        <a:pt x="96" y="532"/>
                        <a:pt x="96" y="532"/>
                      </a:cubicBezTo>
                      <a:cubicBezTo>
                        <a:pt x="96" y="544"/>
                        <a:pt x="106" y="554"/>
                        <a:pt x="118" y="554"/>
                      </a:cubicBezTo>
                      <a:cubicBezTo>
                        <a:pt x="130" y="554"/>
                        <a:pt x="140" y="544"/>
                        <a:pt x="140" y="532"/>
                      </a:cubicBezTo>
                      <a:cubicBezTo>
                        <a:pt x="140" y="341"/>
                        <a:pt x="140" y="341"/>
                        <a:pt x="140" y="341"/>
                      </a:cubicBezTo>
                      <a:cubicBezTo>
                        <a:pt x="140" y="328"/>
                        <a:pt x="130" y="319"/>
                        <a:pt x="118" y="319"/>
                      </a:cubicBezTo>
                      <a:close/>
                      <a:moveTo>
                        <a:pt x="1071" y="554"/>
                      </a:moveTo>
                      <a:cubicBezTo>
                        <a:pt x="1006" y="554"/>
                        <a:pt x="953" y="501"/>
                        <a:pt x="953" y="436"/>
                      </a:cubicBezTo>
                      <a:cubicBezTo>
                        <a:pt x="953" y="371"/>
                        <a:pt x="1006" y="319"/>
                        <a:pt x="1071" y="319"/>
                      </a:cubicBezTo>
                      <a:cubicBezTo>
                        <a:pt x="1136" y="319"/>
                        <a:pt x="1188" y="371"/>
                        <a:pt x="1188" y="436"/>
                      </a:cubicBezTo>
                      <a:cubicBezTo>
                        <a:pt x="1188" y="501"/>
                        <a:pt x="1136" y="554"/>
                        <a:pt x="1071" y="554"/>
                      </a:cubicBezTo>
                      <a:close/>
                      <a:moveTo>
                        <a:pt x="1071" y="363"/>
                      </a:moveTo>
                      <a:cubicBezTo>
                        <a:pt x="1030" y="363"/>
                        <a:pt x="997" y="396"/>
                        <a:pt x="997" y="436"/>
                      </a:cubicBezTo>
                      <a:cubicBezTo>
                        <a:pt x="997" y="477"/>
                        <a:pt x="1030" y="510"/>
                        <a:pt x="1071" y="510"/>
                      </a:cubicBezTo>
                      <a:cubicBezTo>
                        <a:pt x="1111" y="510"/>
                        <a:pt x="1144" y="477"/>
                        <a:pt x="1144" y="436"/>
                      </a:cubicBezTo>
                      <a:cubicBezTo>
                        <a:pt x="1144" y="396"/>
                        <a:pt x="1111" y="363"/>
                        <a:pt x="1071" y="363"/>
                      </a:cubicBezTo>
                      <a:close/>
                      <a:moveTo>
                        <a:pt x="1388" y="319"/>
                      </a:moveTo>
                      <a:cubicBezTo>
                        <a:pt x="1376" y="319"/>
                        <a:pt x="1366" y="328"/>
                        <a:pt x="1366" y="341"/>
                      </a:cubicBezTo>
                      <a:cubicBezTo>
                        <a:pt x="1366" y="532"/>
                        <a:pt x="1366" y="532"/>
                        <a:pt x="1366" y="532"/>
                      </a:cubicBezTo>
                      <a:cubicBezTo>
                        <a:pt x="1366" y="544"/>
                        <a:pt x="1376" y="554"/>
                        <a:pt x="1388" y="554"/>
                      </a:cubicBezTo>
                      <a:cubicBezTo>
                        <a:pt x="1400" y="554"/>
                        <a:pt x="1410" y="544"/>
                        <a:pt x="1410" y="532"/>
                      </a:cubicBezTo>
                      <a:cubicBezTo>
                        <a:pt x="1410" y="341"/>
                        <a:pt x="1410" y="341"/>
                        <a:pt x="1410" y="341"/>
                      </a:cubicBezTo>
                      <a:cubicBezTo>
                        <a:pt x="1410" y="328"/>
                        <a:pt x="1400" y="319"/>
                        <a:pt x="1388" y="319"/>
                      </a:cubicBezTo>
                      <a:close/>
                      <a:moveTo>
                        <a:pt x="1706" y="554"/>
                      </a:moveTo>
                      <a:cubicBezTo>
                        <a:pt x="1641" y="554"/>
                        <a:pt x="1588" y="501"/>
                        <a:pt x="1588" y="436"/>
                      </a:cubicBezTo>
                      <a:cubicBezTo>
                        <a:pt x="1588" y="371"/>
                        <a:pt x="1641" y="319"/>
                        <a:pt x="1706" y="319"/>
                      </a:cubicBezTo>
                      <a:cubicBezTo>
                        <a:pt x="1771" y="319"/>
                        <a:pt x="1824" y="371"/>
                        <a:pt x="1824" y="436"/>
                      </a:cubicBezTo>
                      <a:cubicBezTo>
                        <a:pt x="1824" y="501"/>
                        <a:pt x="1771" y="554"/>
                        <a:pt x="1706" y="554"/>
                      </a:cubicBezTo>
                      <a:close/>
                      <a:moveTo>
                        <a:pt x="1706" y="363"/>
                      </a:moveTo>
                      <a:cubicBezTo>
                        <a:pt x="1665" y="363"/>
                        <a:pt x="1632" y="396"/>
                        <a:pt x="1632" y="436"/>
                      </a:cubicBezTo>
                      <a:cubicBezTo>
                        <a:pt x="1632" y="477"/>
                        <a:pt x="1665" y="510"/>
                        <a:pt x="1706" y="510"/>
                      </a:cubicBezTo>
                      <a:cubicBezTo>
                        <a:pt x="1747" y="510"/>
                        <a:pt x="1780" y="477"/>
                        <a:pt x="1780" y="436"/>
                      </a:cubicBezTo>
                      <a:cubicBezTo>
                        <a:pt x="1780" y="396"/>
                        <a:pt x="1747" y="363"/>
                        <a:pt x="1706" y="363"/>
                      </a:cubicBezTo>
                      <a:close/>
                      <a:moveTo>
                        <a:pt x="118" y="872"/>
                      </a:moveTo>
                      <a:cubicBezTo>
                        <a:pt x="53" y="872"/>
                        <a:pt x="0" y="820"/>
                        <a:pt x="0" y="755"/>
                      </a:cubicBezTo>
                      <a:cubicBezTo>
                        <a:pt x="0" y="690"/>
                        <a:pt x="53" y="637"/>
                        <a:pt x="118" y="637"/>
                      </a:cubicBezTo>
                      <a:cubicBezTo>
                        <a:pt x="183" y="637"/>
                        <a:pt x="236" y="690"/>
                        <a:pt x="236" y="755"/>
                      </a:cubicBezTo>
                      <a:cubicBezTo>
                        <a:pt x="236" y="820"/>
                        <a:pt x="183" y="872"/>
                        <a:pt x="118" y="872"/>
                      </a:cubicBezTo>
                      <a:close/>
                      <a:moveTo>
                        <a:pt x="118" y="681"/>
                      </a:moveTo>
                      <a:cubicBezTo>
                        <a:pt x="77" y="681"/>
                        <a:pt x="44" y="714"/>
                        <a:pt x="44" y="755"/>
                      </a:cubicBezTo>
                      <a:cubicBezTo>
                        <a:pt x="44" y="795"/>
                        <a:pt x="77" y="828"/>
                        <a:pt x="118" y="828"/>
                      </a:cubicBezTo>
                      <a:cubicBezTo>
                        <a:pt x="159" y="828"/>
                        <a:pt x="192" y="795"/>
                        <a:pt x="192" y="755"/>
                      </a:cubicBezTo>
                      <a:cubicBezTo>
                        <a:pt x="192" y="714"/>
                        <a:pt x="159" y="681"/>
                        <a:pt x="118" y="681"/>
                      </a:cubicBezTo>
                      <a:close/>
                      <a:moveTo>
                        <a:pt x="1071" y="872"/>
                      </a:moveTo>
                      <a:cubicBezTo>
                        <a:pt x="1006" y="872"/>
                        <a:pt x="953" y="820"/>
                        <a:pt x="953" y="755"/>
                      </a:cubicBezTo>
                      <a:cubicBezTo>
                        <a:pt x="953" y="690"/>
                        <a:pt x="1006" y="637"/>
                        <a:pt x="1071" y="637"/>
                      </a:cubicBezTo>
                      <a:cubicBezTo>
                        <a:pt x="1136" y="637"/>
                        <a:pt x="1188" y="690"/>
                        <a:pt x="1188" y="755"/>
                      </a:cubicBezTo>
                      <a:cubicBezTo>
                        <a:pt x="1188" y="820"/>
                        <a:pt x="1136" y="872"/>
                        <a:pt x="1071" y="872"/>
                      </a:cubicBezTo>
                      <a:close/>
                      <a:moveTo>
                        <a:pt x="1071" y="681"/>
                      </a:moveTo>
                      <a:cubicBezTo>
                        <a:pt x="1030" y="681"/>
                        <a:pt x="997" y="714"/>
                        <a:pt x="997" y="755"/>
                      </a:cubicBezTo>
                      <a:cubicBezTo>
                        <a:pt x="997" y="795"/>
                        <a:pt x="1030" y="828"/>
                        <a:pt x="1071" y="828"/>
                      </a:cubicBezTo>
                      <a:cubicBezTo>
                        <a:pt x="1111" y="828"/>
                        <a:pt x="1144" y="795"/>
                        <a:pt x="1144" y="755"/>
                      </a:cubicBezTo>
                      <a:cubicBezTo>
                        <a:pt x="1144" y="714"/>
                        <a:pt x="1111" y="681"/>
                        <a:pt x="1071" y="681"/>
                      </a:cubicBezTo>
                      <a:close/>
                      <a:moveTo>
                        <a:pt x="1388" y="872"/>
                      </a:moveTo>
                      <a:cubicBezTo>
                        <a:pt x="1323" y="872"/>
                        <a:pt x="1271" y="820"/>
                        <a:pt x="1271" y="755"/>
                      </a:cubicBezTo>
                      <a:cubicBezTo>
                        <a:pt x="1271" y="690"/>
                        <a:pt x="1323" y="637"/>
                        <a:pt x="1388" y="637"/>
                      </a:cubicBezTo>
                      <a:cubicBezTo>
                        <a:pt x="1453" y="637"/>
                        <a:pt x="1506" y="690"/>
                        <a:pt x="1506" y="755"/>
                      </a:cubicBezTo>
                      <a:cubicBezTo>
                        <a:pt x="1506" y="820"/>
                        <a:pt x="1453" y="872"/>
                        <a:pt x="1388" y="872"/>
                      </a:cubicBezTo>
                      <a:close/>
                      <a:moveTo>
                        <a:pt x="1388" y="681"/>
                      </a:moveTo>
                      <a:cubicBezTo>
                        <a:pt x="1348" y="681"/>
                        <a:pt x="1315" y="714"/>
                        <a:pt x="1315" y="755"/>
                      </a:cubicBezTo>
                      <a:cubicBezTo>
                        <a:pt x="1315" y="795"/>
                        <a:pt x="1348" y="828"/>
                        <a:pt x="1388" y="828"/>
                      </a:cubicBezTo>
                      <a:cubicBezTo>
                        <a:pt x="1429" y="828"/>
                        <a:pt x="1462" y="795"/>
                        <a:pt x="1462" y="755"/>
                      </a:cubicBezTo>
                      <a:cubicBezTo>
                        <a:pt x="1462" y="714"/>
                        <a:pt x="1429" y="681"/>
                        <a:pt x="1388" y="681"/>
                      </a:cubicBezTo>
                      <a:close/>
                      <a:moveTo>
                        <a:pt x="1706" y="637"/>
                      </a:moveTo>
                      <a:cubicBezTo>
                        <a:pt x="1694" y="637"/>
                        <a:pt x="1684" y="647"/>
                        <a:pt x="1684" y="659"/>
                      </a:cubicBezTo>
                      <a:cubicBezTo>
                        <a:pt x="1684" y="850"/>
                        <a:pt x="1684" y="850"/>
                        <a:pt x="1684" y="850"/>
                      </a:cubicBezTo>
                      <a:cubicBezTo>
                        <a:pt x="1684" y="863"/>
                        <a:pt x="1694" y="872"/>
                        <a:pt x="1706" y="872"/>
                      </a:cubicBezTo>
                      <a:cubicBezTo>
                        <a:pt x="1718" y="872"/>
                        <a:pt x="1728" y="863"/>
                        <a:pt x="1728" y="850"/>
                      </a:cubicBezTo>
                      <a:cubicBezTo>
                        <a:pt x="1728" y="659"/>
                        <a:pt x="1728" y="659"/>
                        <a:pt x="1728" y="659"/>
                      </a:cubicBezTo>
                      <a:cubicBezTo>
                        <a:pt x="1728" y="647"/>
                        <a:pt x="1718" y="637"/>
                        <a:pt x="1706" y="637"/>
                      </a:cubicBezTo>
                      <a:close/>
                      <a:moveTo>
                        <a:pt x="118" y="956"/>
                      </a:moveTo>
                      <a:cubicBezTo>
                        <a:pt x="106" y="956"/>
                        <a:pt x="96" y="965"/>
                        <a:pt x="96" y="978"/>
                      </a:cubicBezTo>
                      <a:cubicBezTo>
                        <a:pt x="96" y="1169"/>
                        <a:pt x="96" y="1169"/>
                        <a:pt x="96" y="1169"/>
                      </a:cubicBezTo>
                      <a:cubicBezTo>
                        <a:pt x="96" y="1181"/>
                        <a:pt x="106" y="1191"/>
                        <a:pt x="118" y="1191"/>
                      </a:cubicBezTo>
                      <a:cubicBezTo>
                        <a:pt x="130" y="1191"/>
                        <a:pt x="140" y="1181"/>
                        <a:pt x="140" y="1169"/>
                      </a:cubicBezTo>
                      <a:cubicBezTo>
                        <a:pt x="140" y="978"/>
                        <a:pt x="140" y="978"/>
                        <a:pt x="140" y="978"/>
                      </a:cubicBezTo>
                      <a:cubicBezTo>
                        <a:pt x="140" y="965"/>
                        <a:pt x="130" y="956"/>
                        <a:pt x="118" y="956"/>
                      </a:cubicBezTo>
                      <a:close/>
                      <a:moveTo>
                        <a:pt x="436" y="1191"/>
                      </a:moveTo>
                      <a:cubicBezTo>
                        <a:pt x="371" y="1191"/>
                        <a:pt x="318" y="1138"/>
                        <a:pt x="318" y="1073"/>
                      </a:cubicBezTo>
                      <a:cubicBezTo>
                        <a:pt x="318" y="1008"/>
                        <a:pt x="371" y="956"/>
                        <a:pt x="436" y="956"/>
                      </a:cubicBezTo>
                      <a:cubicBezTo>
                        <a:pt x="501" y="956"/>
                        <a:pt x="553" y="1008"/>
                        <a:pt x="553" y="1073"/>
                      </a:cubicBezTo>
                      <a:cubicBezTo>
                        <a:pt x="553" y="1138"/>
                        <a:pt x="501" y="1191"/>
                        <a:pt x="436" y="1191"/>
                      </a:cubicBezTo>
                      <a:close/>
                      <a:moveTo>
                        <a:pt x="436" y="1000"/>
                      </a:moveTo>
                      <a:cubicBezTo>
                        <a:pt x="395" y="1000"/>
                        <a:pt x="362" y="1033"/>
                        <a:pt x="362" y="1073"/>
                      </a:cubicBezTo>
                      <a:cubicBezTo>
                        <a:pt x="362" y="1114"/>
                        <a:pt x="395" y="1147"/>
                        <a:pt x="436" y="1147"/>
                      </a:cubicBezTo>
                      <a:cubicBezTo>
                        <a:pt x="476" y="1147"/>
                        <a:pt x="509" y="1114"/>
                        <a:pt x="509" y="1073"/>
                      </a:cubicBezTo>
                      <a:cubicBezTo>
                        <a:pt x="509" y="1033"/>
                        <a:pt x="476" y="1000"/>
                        <a:pt x="436" y="1000"/>
                      </a:cubicBezTo>
                      <a:close/>
                      <a:moveTo>
                        <a:pt x="753" y="956"/>
                      </a:moveTo>
                      <a:cubicBezTo>
                        <a:pt x="741" y="956"/>
                        <a:pt x="731" y="965"/>
                        <a:pt x="731" y="978"/>
                      </a:cubicBezTo>
                      <a:cubicBezTo>
                        <a:pt x="731" y="1169"/>
                        <a:pt x="731" y="1169"/>
                        <a:pt x="731" y="1169"/>
                      </a:cubicBezTo>
                      <a:cubicBezTo>
                        <a:pt x="731" y="1181"/>
                        <a:pt x="741" y="1191"/>
                        <a:pt x="753" y="1191"/>
                      </a:cubicBezTo>
                      <a:cubicBezTo>
                        <a:pt x="765" y="1191"/>
                        <a:pt x="775" y="1181"/>
                        <a:pt x="775" y="1169"/>
                      </a:cubicBezTo>
                      <a:cubicBezTo>
                        <a:pt x="775" y="978"/>
                        <a:pt x="775" y="978"/>
                        <a:pt x="775" y="978"/>
                      </a:cubicBezTo>
                      <a:cubicBezTo>
                        <a:pt x="775" y="965"/>
                        <a:pt x="765" y="956"/>
                        <a:pt x="753" y="956"/>
                      </a:cubicBezTo>
                      <a:close/>
                      <a:moveTo>
                        <a:pt x="1071" y="956"/>
                      </a:moveTo>
                      <a:cubicBezTo>
                        <a:pt x="1059" y="956"/>
                        <a:pt x="1049" y="965"/>
                        <a:pt x="1049" y="978"/>
                      </a:cubicBezTo>
                      <a:cubicBezTo>
                        <a:pt x="1049" y="1169"/>
                        <a:pt x="1049" y="1169"/>
                        <a:pt x="1049" y="1169"/>
                      </a:cubicBezTo>
                      <a:cubicBezTo>
                        <a:pt x="1049" y="1181"/>
                        <a:pt x="1059" y="1191"/>
                        <a:pt x="1071" y="1191"/>
                      </a:cubicBezTo>
                      <a:cubicBezTo>
                        <a:pt x="1083" y="1191"/>
                        <a:pt x="1093" y="1181"/>
                        <a:pt x="1093" y="1169"/>
                      </a:cubicBezTo>
                      <a:cubicBezTo>
                        <a:pt x="1093" y="978"/>
                        <a:pt x="1093" y="978"/>
                        <a:pt x="1093" y="978"/>
                      </a:cubicBezTo>
                      <a:cubicBezTo>
                        <a:pt x="1093" y="965"/>
                        <a:pt x="1083" y="956"/>
                        <a:pt x="1071" y="956"/>
                      </a:cubicBezTo>
                      <a:close/>
                      <a:moveTo>
                        <a:pt x="1388" y="1191"/>
                      </a:moveTo>
                      <a:cubicBezTo>
                        <a:pt x="1323" y="1191"/>
                        <a:pt x="1271" y="1138"/>
                        <a:pt x="1271" y="1073"/>
                      </a:cubicBezTo>
                      <a:cubicBezTo>
                        <a:pt x="1271" y="1008"/>
                        <a:pt x="1323" y="956"/>
                        <a:pt x="1388" y="956"/>
                      </a:cubicBezTo>
                      <a:cubicBezTo>
                        <a:pt x="1453" y="956"/>
                        <a:pt x="1506" y="1008"/>
                        <a:pt x="1506" y="1073"/>
                      </a:cubicBezTo>
                      <a:cubicBezTo>
                        <a:pt x="1506" y="1138"/>
                        <a:pt x="1453" y="1191"/>
                        <a:pt x="1388" y="1191"/>
                      </a:cubicBezTo>
                      <a:close/>
                      <a:moveTo>
                        <a:pt x="1388" y="1000"/>
                      </a:moveTo>
                      <a:cubicBezTo>
                        <a:pt x="1348" y="1000"/>
                        <a:pt x="1315" y="1033"/>
                        <a:pt x="1315" y="1073"/>
                      </a:cubicBezTo>
                      <a:cubicBezTo>
                        <a:pt x="1315" y="1114"/>
                        <a:pt x="1348" y="1147"/>
                        <a:pt x="1388" y="1147"/>
                      </a:cubicBezTo>
                      <a:cubicBezTo>
                        <a:pt x="1429" y="1147"/>
                        <a:pt x="1462" y="1114"/>
                        <a:pt x="1462" y="1073"/>
                      </a:cubicBezTo>
                      <a:cubicBezTo>
                        <a:pt x="1462" y="1033"/>
                        <a:pt x="1429" y="1000"/>
                        <a:pt x="1388" y="1000"/>
                      </a:cubicBezTo>
                      <a:close/>
                      <a:moveTo>
                        <a:pt x="1706" y="956"/>
                      </a:moveTo>
                      <a:cubicBezTo>
                        <a:pt x="1694" y="956"/>
                        <a:pt x="1684" y="965"/>
                        <a:pt x="1684" y="978"/>
                      </a:cubicBezTo>
                      <a:cubicBezTo>
                        <a:pt x="1684" y="1169"/>
                        <a:pt x="1684" y="1169"/>
                        <a:pt x="1684" y="1169"/>
                      </a:cubicBezTo>
                      <a:cubicBezTo>
                        <a:pt x="1684" y="1181"/>
                        <a:pt x="1694" y="1191"/>
                        <a:pt x="1706" y="1191"/>
                      </a:cubicBezTo>
                      <a:cubicBezTo>
                        <a:pt x="1718" y="1191"/>
                        <a:pt x="1728" y="1181"/>
                        <a:pt x="1728" y="1169"/>
                      </a:cubicBezTo>
                      <a:cubicBezTo>
                        <a:pt x="1728" y="978"/>
                        <a:pt x="1728" y="978"/>
                        <a:pt x="1728" y="978"/>
                      </a:cubicBezTo>
                      <a:cubicBezTo>
                        <a:pt x="1728" y="965"/>
                        <a:pt x="1718" y="956"/>
                        <a:pt x="1706" y="956"/>
                      </a:cubicBezTo>
                      <a:close/>
                      <a:moveTo>
                        <a:pt x="118" y="1509"/>
                      </a:moveTo>
                      <a:cubicBezTo>
                        <a:pt x="53" y="1509"/>
                        <a:pt x="0" y="1457"/>
                        <a:pt x="0" y="1392"/>
                      </a:cubicBezTo>
                      <a:cubicBezTo>
                        <a:pt x="0" y="1327"/>
                        <a:pt x="53" y="1274"/>
                        <a:pt x="118" y="1274"/>
                      </a:cubicBezTo>
                      <a:cubicBezTo>
                        <a:pt x="183" y="1274"/>
                        <a:pt x="236" y="1327"/>
                        <a:pt x="236" y="1392"/>
                      </a:cubicBezTo>
                      <a:cubicBezTo>
                        <a:pt x="236" y="1457"/>
                        <a:pt x="183" y="1509"/>
                        <a:pt x="118" y="1509"/>
                      </a:cubicBezTo>
                      <a:close/>
                      <a:moveTo>
                        <a:pt x="118" y="1318"/>
                      </a:moveTo>
                      <a:cubicBezTo>
                        <a:pt x="77" y="1318"/>
                        <a:pt x="44" y="1351"/>
                        <a:pt x="44" y="1392"/>
                      </a:cubicBezTo>
                      <a:cubicBezTo>
                        <a:pt x="44" y="1432"/>
                        <a:pt x="77" y="1465"/>
                        <a:pt x="118" y="1465"/>
                      </a:cubicBezTo>
                      <a:cubicBezTo>
                        <a:pt x="159" y="1465"/>
                        <a:pt x="192" y="1432"/>
                        <a:pt x="192" y="1392"/>
                      </a:cubicBezTo>
                      <a:cubicBezTo>
                        <a:pt x="192" y="1351"/>
                        <a:pt x="159" y="1318"/>
                        <a:pt x="118" y="1318"/>
                      </a:cubicBezTo>
                      <a:close/>
                      <a:moveTo>
                        <a:pt x="436" y="1274"/>
                      </a:moveTo>
                      <a:cubicBezTo>
                        <a:pt x="424" y="1274"/>
                        <a:pt x="414" y="1284"/>
                        <a:pt x="414" y="1296"/>
                      </a:cubicBezTo>
                      <a:cubicBezTo>
                        <a:pt x="414" y="1487"/>
                        <a:pt x="414" y="1487"/>
                        <a:pt x="414" y="1487"/>
                      </a:cubicBezTo>
                      <a:cubicBezTo>
                        <a:pt x="414" y="1500"/>
                        <a:pt x="424" y="1509"/>
                        <a:pt x="436" y="1509"/>
                      </a:cubicBezTo>
                      <a:cubicBezTo>
                        <a:pt x="448" y="1509"/>
                        <a:pt x="458" y="1500"/>
                        <a:pt x="458" y="1487"/>
                      </a:cubicBezTo>
                      <a:cubicBezTo>
                        <a:pt x="458" y="1296"/>
                        <a:pt x="458" y="1296"/>
                        <a:pt x="458" y="1296"/>
                      </a:cubicBezTo>
                      <a:cubicBezTo>
                        <a:pt x="458" y="1284"/>
                        <a:pt x="448" y="1274"/>
                        <a:pt x="436" y="1274"/>
                      </a:cubicBezTo>
                      <a:close/>
                      <a:moveTo>
                        <a:pt x="753" y="1509"/>
                      </a:moveTo>
                      <a:cubicBezTo>
                        <a:pt x="688" y="1509"/>
                        <a:pt x="636" y="1457"/>
                        <a:pt x="636" y="1392"/>
                      </a:cubicBezTo>
                      <a:cubicBezTo>
                        <a:pt x="636" y="1327"/>
                        <a:pt x="688" y="1274"/>
                        <a:pt x="753" y="1274"/>
                      </a:cubicBezTo>
                      <a:cubicBezTo>
                        <a:pt x="818" y="1274"/>
                        <a:pt x="871" y="1327"/>
                        <a:pt x="871" y="1392"/>
                      </a:cubicBezTo>
                      <a:cubicBezTo>
                        <a:pt x="871" y="1457"/>
                        <a:pt x="818" y="1509"/>
                        <a:pt x="753" y="1509"/>
                      </a:cubicBezTo>
                      <a:close/>
                      <a:moveTo>
                        <a:pt x="753" y="1318"/>
                      </a:moveTo>
                      <a:cubicBezTo>
                        <a:pt x="713" y="1318"/>
                        <a:pt x="680" y="1351"/>
                        <a:pt x="680" y="1392"/>
                      </a:cubicBezTo>
                      <a:cubicBezTo>
                        <a:pt x="680" y="1432"/>
                        <a:pt x="713" y="1465"/>
                        <a:pt x="753" y="1465"/>
                      </a:cubicBezTo>
                      <a:cubicBezTo>
                        <a:pt x="794" y="1465"/>
                        <a:pt x="827" y="1432"/>
                        <a:pt x="827" y="1392"/>
                      </a:cubicBezTo>
                      <a:cubicBezTo>
                        <a:pt x="827" y="1351"/>
                        <a:pt x="794" y="1318"/>
                        <a:pt x="753" y="1318"/>
                      </a:cubicBezTo>
                      <a:close/>
                      <a:moveTo>
                        <a:pt x="1706" y="1509"/>
                      </a:moveTo>
                      <a:cubicBezTo>
                        <a:pt x="1641" y="1509"/>
                        <a:pt x="1588" y="1457"/>
                        <a:pt x="1588" y="1392"/>
                      </a:cubicBezTo>
                      <a:cubicBezTo>
                        <a:pt x="1588" y="1327"/>
                        <a:pt x="1641" y="1274"/>
                        <a:pt x="1706" y="1274"/>
                      </a:cubicBezTo>
                      <a:cubicBezTo>
                        <a:pt x="1771" y="1274"/>
                        <a:pt x="1824" y="1327"/>
                        <a:pt x="1824" y="1392"/>
                      </a:cubicBezTo>
                      <a:cubicBezTo>
                        <a:pt x="1824" y="1457"/>
                        <a:pt x="1771" y="1509"/>
                        <a:pt x="1706" y="1509"/>
                      </a:cubicBezTo>
                      <a:close/>
                      <a:moveTo>
                        <a:pt x="1706" y="1318"/>
                      </a:moveTo>
                      <a:cubicBezTo>
                        <a:pt x="1665" y="1318"/>
                        <a:pt x="1632" y="1351"/>
                        <a:pt x="1632" y="1392"/>
                      </a:cubicBezTo>
                      <a:cubicBezTo>
                        <a:pt x="1632" y="1432"/>
                        <a:pt x="1665" y="1465"/>
                        <a:pt x="1706" y="1465"/>
                      </a:cubicBezTo>
                      <a:cubicBezTo>
                        <a:pt x="1747" y="1465"/>
                        <a:pt x="1780" y="1432"/>
                        <a:pt x="1780" y="1392"/>
                      </a:cubicBezTo>
                      <a:cubicBezTo>
                        <a:pt x="1780" y="1351"/>
                        <a:pt x="1747" y="1318"/>
                        <a:pt x="1706" y="1318"/>
                      </a:cubicBezTo>
                      <a:close/>
                      <a:moveTo>
                        <a:pt x="118" y="1828"/>
                      </a:moveTo>
                      <a:cubicBezTo>
                        <a:pt x="53" y="1828"/>
                        <a:pt x="0" y="1775"/>
                        <a:pt x="0" y="1710"/>
                      </a:cubicBezTo>
                      <a:cubicBezTo>
                        <a:pt x="0" y="1645"/>
                        <a:pt x="53" y="1593"/>
                        <a:pt x="118" y="1593"/>
                      </a:cubicBezTo>
                      <a:cubicBezTo>
                        <a:pt x="183" y="1593"/>
                        <a:pt x="236" y="1645"/>
                        <a:pt x="236" y="1710"/>
                      </a:cubicBezTo>
                      <a:cubicBezTo>
                        <a:pt x="236" y="1775"/>
                        <a:pt x="183" y="1828"/>
                        <a:pt x="118" y="1828"/>
                      </a:cubicBezTo>
                      <a:close/>
                      <a:moveTo>
                        <a:pt x="118" y="1637"/>
                      </a:moveTo>
                      <a:cubicBezTo>
                        <a:pt x="77" y="1637"/>
                        <a:pt x="44" y="1670"/>
                        <a:pt x="44" y="1710"/>
                      </a:cubicBezTo>
                      <a:cubicBezTo>
                        <a:pt x="44" y="1751"/>
                        <a:pt x="77" y="1784"/>
                        <a:pt x="118" y="1784"/>
                      </a:cubicBezTo>
                      <a:cubicBezTo>
                        <a:pt x="159" y="1784"/>
                        <a:pt x="192" y="1751"/>
                        <a:pt x="192" y="1710"/>
                      </a:cubicBezTo>
                      <a:cubicBezTo>
                        <a:pt x="192" y="1670"/>
                        <a:pt x="159" y="1637"/>
                        <a:pt x="118" y="1637"/>
                      </a:cubicBezTo>
                      <a:close/>
                      <a:moveTo>
                        <a:pt x="436" y="1593"/>
                      </a:moveTo>
                      <a:cubicBezTo>
                        <a:pt x="424" y="1593"/>
                        <a:pt x="414" y="1603"/>
                        <a:pt x="414" y="1615"/>
                      </a:cubicBezTo>
                      <a:cubicBezTo>
                        <a:pt x="414" y="1806"/>
                        <a:pt x="414" y="1806"/>
                        <a:pt x="414" y="1806"/>
                      </a:cubicBezTo>
                      <a:cubicBezTo>
                        <a:pt x="414" y="1818"/>
                        <a:pt x="424" y="1828"/>
                        <a:pt x="436" y="1828"/>
                      </a:cubicBezTo>
                      <a:cubicBezTo>
                        <a:pt x="448" y="1828"/>
                        <a:pt x="458" y="1818"/>
                        <a:pt x="458" y="1806"/>
                      </a:cubicBezTo>
                      <a:cubicBezTo>
                        <a:pt x="458" y="1615"/>
                        <a:pt x="458" y="1615"/>
                        <a:pt x="458" y="1615"/>
                      </a:cubicBezTo>
                      <a:cubicBezTo>
                        <a:pt x="458" y="1603"/>
                        <a:pt x="448" y="1593"/>
                        <a:pt x="436" y="1593"/>
                      </a:cubicBezTo>
                      <a:close/>
                      <a:moveTo>
                        <a:pt x="753" y="1828"/>
                      </a:moveTo>
                      <a:cubicBezTo>
                        <a:pt x="688" y="1828"/>
                        <a:pt x="636" y="1775"/>
                        <a:pt x="636" y="1710"/>
                      </a:cubicBezTo>
                      <a:cubicBezTo>
                        <a:pt x="636" y="1645"/>
                        <a:pt x="688" y="1593"/>
                        <a:pt x="753" y="1593"/>
                      </a:cubicBezTo>
                      <a:cubicBezTo>
                        <a:pt x="818" y="1593"/>
                        <a:pt x="871" y="1645"/>
                        <a:pt x="871" y="1710"/>
                      </a:cubicBezTo>
                      <a:cubicBezTo>
                        <a:pt x="871" y="1775"/>
                        <a:pt x="818" y="1828"/>
                        <a:pt x="753" y="1828"/>
                      </a:cubicBezTo>
                      <a:close/>
                      <a:moveTo>
                        <a:pt x="753" y="1637"/>
                      </a:moveTo>
                      <a:cubicBezTo>
                        <a:pt x="713" y="1637"/>
                        <a:pt x="680" y="1670"/>
                        <a:pt x="680" y="1710"/>
                      </a:cubicBezTo>
                      <a:cubicBezTo>
                        <a:pt x="680" y="1751"/>
                        <a:pt x="713" y="1784"/>
                        <a:pt x="753" y="1784"/>
                      </a:cubicBezTo>
                      <a:cubicBezTo>
                        <a:pt x="794" y="1784"/>
                        <a:pt x="827" y="1751"/>
                        <a:pt x="827" y="1710"/>
                      </a:cubicBezTo>
                      <a:cubicBezTo>
                        <a:pt x="827" y="1670"/>
                        <a:pt x="794" y="1637"/>
                        <a:pt x="753" y="1637"/>
                      </a:cubicBezTo>
                      <a:close/>
                      <a:moveTo>
                        <a:pt x="1706" y="1828"/>
                      </a:moveTo>
                      <a:cubicBezTo>
                        <a:pt x="1641" y="1828"/>
                        <a:pt x="1588" y="1775"/>
                        <a:pt x="1588" y="1710"/>
                      </a:cubicBezTo>
                      <a:cubicBezTo>
                        <a:pt x="1588" y="1645"/>
                        <a:pt x="1641" y="1593"/>
                        <a:pt x="1706" y="1593"/>
                      </a:cubicBezTo>
                      <a:cubicBezTo>
                        <a:pt x="1771" y="1593"/>
                        <a:pt x="1824" y="1645"/>
                        <a:pt x="1824" y="1710"/>
                      </a:cubicBezTo>
                      <a:cubicBezTo>
                        <a:pt x="1824" y="1775"/>
                        <a:pt x="1771" y="1828"/>
                        <a:pt x="1706" y="1828"/>
                      </a:cubicBezTo>
                      <a:close/>
                      <a:moveTo>
                        <a:pt x="1706" y="1637"/>
                      </a:moveTo>
                      <a:cubicBezTo>
                        <a:pt x="1665" y="1637"/>
                        <a:pt x="1632" y="1670"/>
                        <a:pt x="1632" y="1710"/>
                      </a:cubicBezTo>
                      <a:cubicBezTo>
                        <a:pt x="1632" y="1751"/>
                        <a:pt x="1665" y="1784"/>
                        <a:pt x="1706" y="1784"/>
                      </a:cubicBezTo>
                      <a:cubicBezTo>
                        <a:pt x="1747" y="1784"/>
                        <a:pt x="1780" y="1751"/>
                        <a:pt x="1780" y="1710"/>
                      </a:cubicBezTo>
                      <a:cubicBezTo>
                        <a:pt x="1780" y="1670"/>
                        <a:pt x="1747" y="1637"/>
                        <a:pt x="1706" y="163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107" name="Freeform 36">
                  <a:extLst>
                    <a:ext uri="{FF2B5EF4-FFF2-40B4-BE49-F238E27FC236}">
                      <a16:creationId xmlns:a16="http://schemas.microsoft.com/office/drawing/2014/main" id="{E3178BC7-D441-C1F9-2D60-577DA67AFDF9}"/>
                    </a:ext>
                  </a:extLst>
                </p:cNvPr>
                <p:cNvSpPr>
                  <a:spLocks noEditPoints="1"/>
                </p:cNvSpPr>
                <p:nvPr/>
              </p:nvSpPr>
              <p:spPr bwMode="auto">
                <a:xfrm>
                  <a:off x="5666231" y="2983230"/>
                  <a:ext cx="854583" cy="1092327"/>
                </a:xfrm>
                <a:custGeom>
                  <a:avLst/>
                  <a:gdLst>
                    <a:gd name="T0" fmla="*/ 511 w 1197"/>
                    <a:gd name="T1" fmla="*/ 220 h 1529"/>
                    <a:gd name="T2" fmla="*/ 473 w 1197"/>
                    <a:gd name="T3" fmla="*/ 132 h 1529"/>
                    <a:gd name="T4" fmla="*/ 388 w 1197"/>
                    <a:gd name="T5" fmla="*/ 18 h 1529"/>
                    <a:gd name="T6" fmla="*/ 259 w 1197"/>
                    <a:gd name="T7" fmla="*/ 31 h 1529"/>
                    <a:gd name="T8" fmla="*/ 168 w 1197"/>
                    <a:gd name="T9" fmla="*/ 17 h 1529"/>
                    <a:gd name="T10" fmla="*/ 117 w 1197"/>
                    <a:gd name="T11" fmla="*/ 94 h 1529"/>
                    <a:gd name="T12" fmla="*/ 19 w 1197"/>
                    <a:gd name="T13" fmla="*/ 179 h 1529"/>
                    <a:gd name="T14" fmla="*/ 42 w 1197"/>
                    <a:gd name="T15" fmla="*/ 320 h 1529"/>
                    <a:gd name="T16" fmla="*/ 80 w 1197"/>
                    <a:gd name="T17" fmla="*/ 409 h 1529"/>
                    <a:gd name="T18" fmla="*/ 160 w 1197"/>
                    <a:gd name="T19" fmla="*/ 524 h 1529"/>
                    <a:gd name="T20" fmla="*/ 298 w 1197"/>
                    <a:gd name="T21" fmla="*/ 513 h 1529"/>
                    <a:gd name="T22" fmla="*/ 386 w 1197"/>
                    <a:gd name="T23" fmla="*/ 528 h 1529"/>
                    <a:gd name="T24" fmla="*/ 436 w 1197"/>
                    <a:gd name="T25" fmla="*/ 453 h 1529"/>
                    <a:gd name="T26" fmla="*/ 538 w 1197"/>
                    <a:gd name="T27" fmla="*/ 359 h 1529"/>
                    <a:gd name="T28" fmla="*/ 325 w 1197"/>
                    <a:gd name="T29" fmla="*/ 384 h 1529"/>
                    <a:gd name="T30" fmla="*/ 229 w 1197"/>
                    <a:gd name="T31" fmla="*/ 161 h 1529"/>
                    <a:gd name="T32" fmla="*/ 325 w 1197"/>
                    <a:gd name="T33" fmla="*/ 384 h 1529"/>
                    <a:gd name="T34" fmla="*/ 1154 w 1197"/>
                    <a:gd name="T35" fmla="*/ 1204 h 1529"/>
                    <a:gd name="T36" fmla="*/ 1116 w 1197"/>
                    <a:gd name="T37" fmla="*/ 1116 h 1529"/>
                    <a:gd name="T38" fmla="*/ 1031 w 1197"/>
                    <a:gd name="T39" fmla="*/ 1003 h 1529"/>
                    <a:gd name="T40" fmla="*/ 902 w 1197"/>
                    <a:gd name="T41" fmla="*/ 1015 h 1529"/>
                    <a:gd name="T42" fmla="*/ 811 w 1197"/>
                    <a:gd name="T43" fmla="*/ 1001 h 1529"/>
                    <a:gd name="T44" fmla="*/ 760 w 1197"/>
                    <a:gd name="T45" fmla="*/ 1078 h 1529"/>
                    <a:gd name="T46" fmla="*/ 662 w 1197"/>
                    <a:gd name="T47" fmla="*/ 1164 h 1529"/>
                    <a:gd name="T48" fmla="*/ 685 w 1197"/>
                    <a:gd name="T49" fmla="*/ 1305 h 1529"/>
                    <a:gd name="T50" fmla="*/ 723 w 1197"/>
                    <a:gd name="T51" fmla="*/ 1393 h 1529"/>
                    <a:gd name="T52" fmla="*/ 803 w 1197"/>
                    <a:gd name="T53" fmla="*/ 1508 h 1529"/>
                    <a:gd name="T54" fmla="*/ 941 w 1197"/>
                    <a:gd name="T55" fmla="*/ 1498 h 1529"/>
                    <a:gd name="T56" fmla="*/ 1029 w 1197"/>
                    <a:gd name="T57" fmla="*/ 1512 h 1529"/>
                    <a:gd name="T58" fmla="*/ 1079 w 1197"/>
                    <a:gd name="T59" fmla="*/ 1438 h 1529"/>
                    <a:gd name="T60" fmla="*/ 1181 w 1197"/>
                    <a:gd name="T61" fmla="*/ 1343 h 1529"/>
                    <a:gd name="T62" fmla="*/ 968 w 1197"/>
                    <a:gd name="T63" fmla="*/ 1368 h 1529"/>
                    <a:gd name="T64" fmla="*/ 872 w 1197"/>
                    <a:gd name="T65" fmla="*/ 1145 h 1529"/>
                    <a:gd name="T66" fmla="*/ 968 w 1197"/>
                    <a:gd name="T67" fmla="*/ 1368 h 1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97" h="1529">
                      <a:moveTo>
                        <a:pt x="550" y="244"/>
                      </a:moveTo>
                      <a:cubicBezTo>
                        <a:pt x="511" y="220"/>
                        <a:pt x="511" y="220"/>
                        <a:pt x="511" y="220"/>
                      </a:cubicBezTo>
                      <a:cubicBezTo>
                        <a:pt x="508" y="205"/>
                        <a:pt x="503" y="191"/>
                        <a:pt x="497" y="176"/>
                      </a:cubicBezTo>
                      <a:cubicBezTo>
                        <a:pt x="491" y="161"/>
                        <a:pt x="482" y="146"/>
                        <a:pt x="473" y="132"/>
                      </a:cubicBezTo>
                      <a:cubicBezTo>
                        <a:pt x="482" y="87"/>
                        <a:pt x="482" y="87"/>
                        <a:pt x="482" y="87"/>
                      </a:cubicBezTo>
                      <a:cubicBezTo>
                        <a:pt x="456" y="58"/>
                        <a:pt x="423" y="34"/>
                        <a:pt x="388" y="18"/>
                      </a:cubicBezTo>
                      <a:cubicBezTo>
                        <a:pt x="348" y="41"/>
                        <a:pt x="348" y="41"/>
                        <a:pt x="348" y="41"/>
                      </a:cubicBezTo>
                      <a:cubicBezTo>
                        <a:pt x="319" y="32"/>
                        <a:pt x="289" y="29"/>
                        <a:pt x="259" y="31"/>
                      </a:cubicBezTo>
                      <a:cubicBezTo>
                        <a:pt x="225" y="0"/>
                        <a:pt x="225" y="0"/>
                        <a:pt x="225" y="0"/>
                      </a:cubicBezTo>
                      <a:cubicBezTo>
                        <a:pt x="206" y="4"/>
                        <a:pt x="187" y="9"/>
                        <a:pt x="168" y="17"/>
                      </a:cubicBezTo>
                      <a:cubicBezTo>
                        <a:pt x="150" y="25"/>
                        <a:pt x="132" y="35"/>
                        <a:pt x="117" y="46"/>
                      </a:cubicBezTo>
                      <a:cubicBezTo>
                        <a:pt x="117" y="94"/>
                        <a:pt x="117" y="94"/>
                        <a:pt x="117" y="94"/>
                      </a:cubicBezTo>
                      <a:cubicBezTo>
                        <a:pt x="94" y="115"/>
                        <a:pt x="75" y="138"/>
                        <a:pt x="62" y="165"/>
                      </a:cubicBezTo>
                      <a:cubicBezTo>
                        <a:pt x="19" y="179"/>
                        <a:pt x="19" y="179"/>
                        <a:pt x="19" y="179"/>
                      </a:cubicBezTo>
                      <a:cubicBezTo>
                        <a:pt x="5" y="216"/>
                        <a:pt x="0" y="256"/>
                        <a:pt x="3" y="297"/>
                      </a:cubicBezTo>
                      <a:cubicBezTo>
                        <a:pt x="42" y="320"/>
                        <a:pt x="42" y="320"/>
                        <a:pt x="42" y="320"/>
                      </a:cubicBezTo>
                      <a:cubicBezTo>
                        <a:pt x="45" y="336"/>
                        <a:pt x="50" y="352"/>
                        <a:pt x="58" y="368"/>
                      </a:cubicBezTo>
                      <a:cubicBezTo>
                        <a:pt x="64" y="382"/>
                        <a:pt x="71" y="396"/>
                        <a:pt x="80" y="409"/>
                      </a:cubicBezTo>
                      <a:cubicBezTo>
                        <a:pt x="69" y="453"/>
                        <a:pt x="69" y="453"/>
                        <a:pt x="69" y="453"/>
                      </a:cubicBezTo>
                      <a:cubicBezTo>
                        <a:pt x="95" y="484"/>
                        <a:pt x="126" y="507"/>
                        <a:pt x="160" y="524"/>
                      </a:cubicBezTo>
                      <a:cubicBezTo>
                        <a:pt x="199" y="501"/>
                        <a:pt x="199" y="501"/>
                        <a:pt x="199" y="501"/>
                      </a:cubicBezTo>
                      <a:cubicBezTo>
                        <a:pt x="231" y="512"/>
                        <a:pt x="264" y="516"/>
                        <a:pt x="298" y="513"/>
                      </a:cubicBezTo>
                      <a:cubicBezTo>
                        <a:pt x="333" y="545"/>
                        <a:pt x="333" y="545"/>
                        <a:pt x="333" y="545"/>
                      </a:cubicBezTo>
                      <a:cubicBezTo>
                        <a:pt x="350" y="540"/>
                        <a:pt x="368" y="535"/>
                        <a:pt x="386" y="528"/>
                      </a:cubicBezTo>
                      <a:cubicBezTo>
                        <a:pt x="403" y="520"/>
                        <a:pt x="420" y="510"/>
                        <a:pt x="436" y="499"/>
                      </a:cubicBezTo>
                      <a:cubicBezTo>
                        <a:pt x="436" y="453"/>
                        <a:pt x="436" y="453"/>
                        <a:pt x="436" y="453"/>
                      </a:cubicBezTo>
                      <a:cubicBezTo>
                        <a:pt x="461" y="430"/>
                        <a:pt x="481" y="402"/>
                        <a:pt x="495" y="372"/>
                      </a:cubicBezTo>
                      <a:cubicBezTo>
                        <a:pt x="538" y="359"/>
                        <a:pt x="538" y="359"/>
                        <a:pt x="538" y="359"/>
                      </a:cubicBezTo>
                      <a:cubicBezTo>
                        <a:pt x="550" y="322"/>
                        <a:pt x="554" y="283"/>
                        <a:pt x="550" y="244"/>
                      </a:cubicBezTo>
                      <a:close/>
                      <a:moveTo>
                        <a:pt x="325" y="384"/>
                      </a:moveTo>
                      <a:cubicBezTo>
                        <a:pt x="264" y="411"/>
                        <a:pt x="193" y="382"/>
                        <a:pt x="167" y="320"/>
                      </a:cubicBezTo>
                      <a:cubicBezTo>
                        <a:pt x="140" y="258"/>
                        <a:pt x="168" y="187"/>
                        <a:pt x="229" y="161"/>
                      </a:cubicBezTo>
                      <a:cubicBezTo>
                        <a:pt x="290" y="134"/>
                        <a:pt x="361" y="163"/>
                        <a:pt x="387" y="224"/>
                      </a:cubicBezTo>
                      <a:cubicBezTo>
                        <a:pt x="414" y="285"/>
                        <a:pt x="386" y="358"/>
                        <a:pt x="325" y="384"/>
                      </a:cubicBezTo>
                      <a:close/>
                      <a:moveTo>
                        <a:pt x="1193" y="1228"/>
                      </a:moveTo>
                      <a:cubicBezTo>
                        <a:pt x="1154" y="1204"/>
                        <a:pt x="1154" y="1204"/>
                        <a:pt x="1154" y="1204"/>
                      </a:cubicBezTo>
                      <a:cubicBezTo>
                        <a:pt x="1151" y="1190"/>
                        <a:pt x="1146" y="1175"/>
                        <a:pt x="1140" y="1160"/>
                      </a:cubicBezTo>
                      <a:cubicBezTo>
                        <a:pt x="1134" y="1145"/>
                        <a:pt x="1125" y="1130"/>
                        <a:pt x="1116" y="1116"/>
                      </a:cubicBezTo>
                      <a:cubicBezTo>
                        <a:pt x="1125" y="1072"/>
                        <a:pt x="1125" y="1072"/>
                        <a:pt x="1125" y="1072"/>
                      </a:cubicBezTo>
                      <a:cubicBezTo>
                        <a:pt x="1099" y="1042"/>
                        <a:pt x="1066" y="1018"/>
                        <a:pt x="1031" y="1003"/>
                      </a:cubicBezTo>
                      <a:cubicBezTo>
                        <a:pt x="991" y="1026"/>
                        <a:pt x="991" y="1026"/>
                        <a:pt x="991" y="1026"/>
                      </a:cubicBezTo>
                      <a:cubicBezTo>
                        <a:pt x="962" y="1016"/>
                        <a:pt x="932" y="1013"/>
                        <a:pt x="902" y="1015"/>
                      </a:cubicBezTo>
                      <a:cubicBezTo>
                        <a:pt x="868" y="984"/>
                        <a:pt x="868" y="984"/>
                        <a:pt x="868" y="984"/>
                      </a:cubicBezTo>
                      <a:cubicBezTo>
                        <a:pt x="849" y="988"/>
                        <a:pt x="830" y="993"/>
                        <a:pt x="811" y="1001"/>
                      </a:cubicBezTo>
                      <a:cubicBezTo>
                        <a:pt x="793" y="1010"/>
                        <a:pt x="775" y="1019"/>
                        <a:pt x="760" y="1031"/>
                      </a:cubicBezTo>
                      <a:cubicBezTo>
                        <a:pt x="760" y="1078"/>
                        <a:pt x="760" y="1078"/>
                        <a:pt x="760" y="1078"/>
                      </a:cubicBezTo>
                      <a:cubicBezTo>
                        <a:pt x="737" y="1099"/>
                        <a:pt x="718" y="1123"/>
                        <a:pt x="705" y="1150"/>
                      </a:cubicBezTo>
                      <a:cubicBezTo>
                        <a:pt x="662" y="1164"/>
                        <a:pt x="662" y="1164"/>
                        <a:pt x="662" y="1164"/>
                      </a:cubicBezTo>
                      <a:cubicBezTo>
                        <a:pt x="648" y="1201"/>
                        <a:pt x="643" y="1240"/>
                        <a:pt x="646" y="1282"/>
                      </a:cubicBezTo>
                      <a:cubicBezTo>
                        <a:pt x="685" y="1305"/>
                        <a:pt x="685" y="1305"/>
                        <a:pt x="685" y="1305"/>
                      </a:cubicBezTo>
                      <a:cubicBezTo>
                        <a:pt x="688" y="1320"/>
                        <a:pt x="693" y="1337"/>
                        <a:pt x="701" y="1352"/>
                      </a:cubicBezTo>
                      <a:cubicBezTo>
                        <a:pt x="707" y="1367"/>
                        <a:pt x="714" y="1381"/>
                        <a:pt x="723" y="1393"/>
                      </a:cubicBezTo>
                      <a:cubicBezTo>
                        <a:pt x="712" y="1438"/>
                        <a:pt x="712" y="1438"/>
                        <a:pt x="712" y="1438"/>
                      </a:cubicBezTo>
                      <a:cubicBezTo>
                        <a:pt x="738" y="1468"/>
                        <a:pt x="769" y="1491"/>
                        <a:pt x="803" y="1508"/>
                      </a:cubicBezTo>
                      <a:cubicBezTo>
                        <a:pt x="842" y="1485"/>
                        <a:pt x="842" y="1485"/>
                        <a:pt x="842" y="1485"/>
                      </a:cubicBezTo>
                      <a:cubicBezTo>
                        <a:pt x="874" y="1496"/>
                        <a:pt x="907" y="1500"/>
                        <a:pt x="941" y="1498"/>
                      </a:cubicBezTo>
                      <a:cubicBezTo>
                        <a:pt x="976" y="1529"/>
                        <a:pt x="976" y="1529"/>
                        <a:pt x="976" y="1529"/>
                      </a:cubicBezTo>
                      <a:cubicBezTo>
                        <a:pt x="993" y="1525"/>
                        <a:pt x="1011" y="1519"/>
                        <a:pt x="1029" y="1512"/>
                      </a:cubicBezTo>
                      <a:cubicBezTo>
                        <a:pt x="1046" y="1504"/>
                        <a:pt x="1063" y="1494"/>
                        <a:pt x="1079" y="1484"/>
                      </a:cubicBezTo>
                      <a:cubicBezTo>
                        <a:pt x="1079" y="1438"/>
                        <a:pt x="1079" y="1438"/>
                        <a:pt x="1079" y="1438"/>
                      </a:cubicBezTo>
                      <a:cubicBezTo>
                        <a:pt x="1104" y="1415"/>
                        <a:pt x="1124" y="1387"/>
                        <a:pt x="1138" y="1356"/>
                      </a:cubicBezTo>
                      <a:cubicBezTo>
                        <a:pt x="1181" y="1343"/>
                        <a:pt x="1181" y="1343"/>
                        <a:pt x="1181" y="1343"/>
                      </a:cubicBezTo>
                      <a:cubicBezTo>
                        <a:pt x="1193" y="1307"/>
                        <a:pt x="1197" y="1267"/>
                        <a:pt x="1193" y="1228"/>
                      </a:cubicBezTo>
                      <a:close/>
                      <a:moveTo>
                        <a:pt x="968" y="1368"/>
                      </a:moveTo>
                      <a:cubicBezTo>
                        <a:pt x="907" y="1395"/>
                        <a:pt x="836" y="1366"/>
                        <a:pt x="810" y="1305"/>
                      </a:cubicBezTo>
                      <a:cubicBezTo>
                        <a:pt x="783" y="1243"/>
                        <a:pt x="811" y="1171"/>
                        <a:pt x="872" y="1145"/>
                      </a:cubicBezTo>
                      <a:cubicBezTo>
                        <a:pt x="933" y="1118"/>
                        <a:pt x="1004" y="1147"/>
                        <a:pt x="1030" y="1208"/>
                      </a:cubicBezTo>
                      <a:cubicBezTo>
                        <a:pt x="1057" y="1270"/>
                        <a:pt x="1029" y="1342"/>
                        <a:pt x="968" y="1368"/>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grpSp>
      </p:grpSp>
      <p:grpSp>
        <p:nvGrpSpPr>
          <p:cNvPr id="110" name="Group 109">
            <a:extLst>
              <a:ext uri="{FF2B5EF4-FFF2-40B4-BE49-F238E27FC236}">
                <a16:creationId xmlns:a16="http://schemas.microsoft.com/office/drawing/2014/main" id="{33E9E1EC-547F-AD7F-EC06-88CB7926B0AE}"/>
              </a:ext>
            </a:extLst>
          </p:cNvPr>
          <p:cNvGrpSpPr/>
          <p:nvPr/>
        </p:nvGrpSpPr>
        <p:grpSpPr>
          <a:xfrm>
            <a:off x="11371256" y="1447055"/>
            <a:ext cx="720000" cy="720000"/>
            <a:chOff x="9580163" y="1748712"/>
            <a:chExt cx="720000" cy="720000"/>
          </a:xfrm>
        </p:grpSpPr>
        <p:sp>
          <p:nvSpPr>
            <p:cNvPr id="111" name="Oval 110">
              <a:extLst>
                <a:ext uri="{FF2B5EF4-FFF2-40B4-BE49-F238E27FC236}">
                  <a16:creationId xmlns:a16="http://schemas.microsoft.com/office/drawing/2014/main" id="{AACFAA7E-0FB8-4B36-F765-4424A374275D}"/>
                </a:ext>
              </a:extLst>
            </p:cNvPr>
            <p:cNvSpPr/>
            <p:nvPr>
              <p:custDataLst>
                <p:tags r:id="rId8"/>
              </p:custDataLst>
            </p:nvPr>
          </p:nvSpPr>
          <p:spPr>
            <a:xfrm>
              <a:off x="9580163" y="1748712"/>
              <a:ext cx="720000" cy="720000"/>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lumMod val="50000"/>
                  </a:prstClr>
                </a:solidFill>
                <a:effectLst/>
                <a:uLnTx/>
                <a:uFillTx/>
                <a:latin typeface="Trebuchet MS"/>
                <a:ea typeface="+mn-ea"/>
                <a:cs typeface="+mn-cs"/>
              </a:endParaRPr>
            </a:p>
          </p:txBody>
        </p:sp>
        <p:grpSp>
          <p:nvGrpSpPr>
            <p:cNvPr id="112" name="bcgIcons_Target">
              <a:extLst>
                <a:ext uri="{FF2B5EF4-FFF2-40B4-BE49-F238E27FC236}">
                  <a16:creationId xmlns:a16="http://schemas.microsoft.com/office/drawing/2014/main" id="{914F5BD8-20F4-AA1C-4D07-DAEA76F3E480}"/>
                </a:ext>
              </a:extLst>
            </p:cNvPr>
            <p:cNvGrpSpPr>
              <a:grpSpLocks noChangeAspect="1"/>
            </p:cNvGrpSpPr>
            <p:nvPr/>
          </p:nvGrpSpPr>
          <p:grpSpPr bwMode="auto">
            <a:xfrm>
              <a:off x="9666038" y="1866237"/>
              <a:ext cx="553678" cy="554191"/>
              <a:chOff x="1682" y="0"/>
              <a:chExt cx="4316" cy="4320"/>
            </a:xfrm>
          </p:grpSpPr>
          <p:sp>
            <p:nvSpPr>
              <p:cNvPr id="113" name="AutoShape 23">
                <a:extLst>
                  <a:ext uri="{FF2B5EF4-FFF2-40B4-BE49-F238E27FC236}">
                    <a16:creationId xmlns:a16="http://schemas.microsoft.com/office/drawing/2014/main" id="{50933FC1-24AC-60CB-CA14-362BDD5029C2}"/>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114" name="Freeform 25">
                <a:extLst>
                  <a:ext uri="{FF2B5EF4-FFF2-40B4-BE49-F238E27FC236}">
                    <a16:creationId xmlns:a16="http://schemas.microsoft.com/office/drawing/2014/main" id="{CCC76F7B-5177-6B8A-0752-2606CBF0AA8C}"/>
                  </a:ext>
                </a:extLst>
              </p:cNvPr>
              <p:cNvSpPr>
                <a:spLocks noEditPoints="1"/>
              </p:cNvSpPr>
              <p:nvPr/>
            </p:nvSpPr>
            <p:spPr bwMode="auto">
              <a:xfrm>
                <a:off x="3782" y="838"/>
                <a:ext cx="1832" cy="1367"/>
              </a:xfrm>
              <a:custGeom>
                <a:avLst/>
                <a:gdLst>
                  <a:gd name="T0" fmla="*/ 25 w 978"/>
                  <a:gd name="T1" fmla="*/ 729 h 729"/>
                  <a:gd name="T2" fmla="*/ 7 w 978"/>
                  <a:gd name="T3" fmla="*/ 719 h 729"/>
                  <a:gd name="T4" fmla="*/ 13 w 978"/>
                  <a:gd name="T5" fmla="*/ 689 h 729"/>
                  <a:gd name="T6" fmla="*/ 888 w 978"/>
                  <a:gd name="T7" fmla="*/ 86 h 729"/>
                  <a:gd name="T8" fmla="*/ 919 w 978"/>
                  <a:gd name="T9" fmla="*/ 91 h 729"/>
                  <a:gd name="T10" fmla="*/ 913 w 978"/>
                  <a:gd name="T11" fmla="*/ 122 h 729"/>
                  <a:gd name="T12" fmla="*/ 38 w 978"/>
                  <a:gd name="T13" fmla="*/ 725 h 729"/>
                  <a:gd name="T14" fmla="*/ 25 w 978"/>
                  <a:gd name="T15" fmla="*/ 729 h 729"/>
                  <a:gd name="T16" fmla="*/ 578 w 978"/>
                  <a:gd name="T17" fmla="*/ 254 h 729"/>
                  <a:gd name="T18" fmla="*/ 586 w 978"/>
                  <a:gd name="T19" fmla="*/ 258 h 729"/>
                  <a:gd name="T20" fmla="*/ 825 w 978"/>
                  <a:gd name="T21" fmla="*/ 93 h 729"/>
                  <a:gd name="T22" fmla="*/ 826 w 978"/>
                  <a:gd name="T23" fmla="*/ 91 h 729"/>
                  <a:gd name="T24" fmla="*/ 849 w 978"/>
                  <a:gd name="T25" fmla="*/ 8 h 729"/>
                  <a:gd name="T26" fmla="*/ 841 w 978"/>
                  <a:gd name="T27" fmla="*/ 3 h 729"/>
                  <a:gd name="T28" fmla="*/ 602 w 978"/>
                  <a:gd name="T29" fmla="*/ 166 h 729"/>
                  <a:gd name="T30" fmla="*/ 599 w 978"/>
                  <a:gd name="T31" fmla="*/ 171 h 729"/>
                  <a:gd name="T32" fmla="*/ 578 w 978"/>
                  <a:gd name="T33" fmla="*/ 254 h 729"/>
                  <a:gd name="T34" fmla="*/ 646 w 978"/>
                  <a:gd name="T35" fmla="*/ 352 h 729"/>
                  <a:gd name="T36" fmla="*/ 730 w 978"/>
                  <a:gd name="T37" fmla="*/ 362 h 729"/>
                  <a:gd name="T38" fmla="*/ 736 w 978"/>
                  <a:gd name="T39" fmla="*/ 361 h 729"/>
                  <a:gd name="T40" fmla="*/ 974 w 978"/>
                  <a:gd name="T41" fmla="*/ 196 h 729"/>
                  <a:gd name="T42" fmla="*/ 972 w 978"/>
                  <a:gd name="T43" fmla="*/ 187 h 729"/>
                  <a:gd name="T44" fmla="*/ 886 w 978"/>
                  <a:gd name="T45" fmla="*/ 179 h 729"/>
                  <a:gd name="T46" fmla="*/ 884 w 978"/>
                  <a:gd name="T47" fmla="*/ 179 h 729"/>
                  <a:gd name="T48" fmla="*/ 644 w 978"/>
                  <a:gd name="T49" fmla="*/ 343 h 729"/>
                  <a:gd name="T50" fmla="*/ 646 w 978"/>
                  <a:gd name="T51" fmla="*/ 352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78" h="729">
                    <a:moveTo>
                      <a:pt x="25" y="729"/>
                    </a:moveTo>
                    <a:cubicBezTo>
                      <a:pt x="18" y="729"/>
                      <a:pt x="11" y="726"/>
                      <a:pt x="7" y="719"/>
                    </a:cubicBezTo>
                    <a:cubicBezTo>
                      <a:pt x="0" y="709"/>
                      <a:pt x="3" y="696"/>
                      <a:pt x="13" y="689"/>
                    </a:cubicBezTo>
                    <a:cubicBezTo>
                      <a:pt x="888" y="86"/>
                      <a:pt x="888" y="86"/>
                      <a:pt x="888" y="86"/>
                    </a:cubicBezTo>
                    <a:cubicBezTo>
                      <a:pt x="898" y="79"/>
                      <a:pt x="912" y="81"/>
                      <a:pt x="919" y="91"/>
                    </a:cubicBezTo>
                    <a:cubicBezTo>
                      <a:pt x="926" y="101"/>
                      <a:pt x="923" y="115"/>
                      <a:pt x="913" y="122"/>
                    </a:cubicBezTo>
                    <a:cubicBezTo>
                      <a:pt x="38" y="725"/>
                      <a:pt x="38" y="725"/>
                      <a:pt x="38" y="725"/>
                    </a:cubicBezTo>
                    <a:cubicBezTo>
                      <a:pt x="34" y="728"/>
                      <a:pt x="30" y="729"/>
                      <a:pt x="25" y="729"/>
                    </a:cubicBezTo>
                    <a:close/>
                    <a:moveTo>
                      <a:pt x="578" y="254"/>
                    </a:moveTo>
                    <a:cubicBezTo>
                      <a:pt x="577" y="258"/>
                      <a:pt x="582" y="259"/>
                      <a:pt x="586" y="258"/>
                    </a:cubicBezTo>
                    <a:cubicBezTo>
                      <a:pt x="586" y="258"/>
                      <a:pt x="586" y="258"/>
                      <a:pt x="825" y="93"/>
                    </a:cubicBezTo>
                    <a:cubicBezTo>
                      <a:pt x="826" y="93"/>
                      <a:pt x="826" y="93"/>
                      <a:pt x="826" y="91"/>
                    </a:cubicBezTo>
                    <a:cubicBezTo>
                      <a:pt x="826" y="91"/>
                      <a:pt x="826" y="91"/>
                      <a:pt x="849" y="8"/>
                    </a:cubicBezTo>
                    <a:cubicBezTo>
                      <a:pt x="850" y="3"/>
                      <a:pt x="845" y="0"/>
                      <a:pt x="841" y="3"/>
                    </a:cubicBezTo>
                    <a:cubicBezTo>
                      <a:pt x="841" y="3"/>
                      <a:pt x="841" y="3"/>
                      <a:pt x="602" y="166"/>
                    </a:cubicBezTo>
                    <a:cubicBezTo>
                      <a:pt x="601" y="168"/>
                      <a:pt x="601" y="168"/>
                      <a:pt x="599" y="171"/>
                    </a:cubicBezTo>
                    <a:cubicBezTo>
                      <a:pt x="599" y="171"/>
                      <a:pt x="599" y="171"/>
                      <a:pt x="578" y="254"/>
                    </a:cubicBezTo>
                    <a:close/>
                    <a:moveTo>
                      <a:pt x="646" y="352"/>
                    </a:moveTo>
                    <a:cubicBezTo>
                      <a:pt x="730" y="362"/>
                      <a:pt x="730" y="362"/>
                      <a:pt x="730" y="362"/>
                    </a:cubicBezTo>
                    <a:cubicBezTo>
                      <a:pt x="734" y="361"/>
                      <a:pt x="734" y="361"/>
                      <a:pt x="736" y="361"/>
                    </a:cubicBezTo>
                    <a:cubicBezTo>
                      <a:pt x="974" y="196"/>
                      <a:pt x="974" y="196"/>
                      <a:pt x="974" y="196"/>
                    </a:cubicBezTo>
                    <a:cubicBezTo>
                      <a:pt x="978" y="194"/>
                      <a:pt x="978" y="187"/>
                      <a:pt x="972" y="187"/>
                    </a:cubicBezTo>
                    <a:cubicBezTo>
                      <a:pt x="886" y="179"/>
                      <a:pt x="886" y="179"/>
                      <a:pt x="886" y="179"/>
                    </a:cubicBezTo>
                    <a:cubicBezTo>
                      <a:pt x="884" y="177"/>
                      <a:pt x="884" y="177"/>
                      <a:pt x="884" y="179"/>
                    </a:cubicBezTo>
                    <a:cubicBezTo>
                      <a:pt x="644" y="343"/>
                      <a:pt x="644" y="343"/>
                      <a:pt x="644" y="343"/>
                    </a:cubicBezTo>
                    <a:cubicBezTo>
                      <a:pt x="642" y="347"/>
                      <a:pt x="642" y="351"/>
                      <a:pt x="646" y="35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115" name="Freeform 26">
                <a:extLst>
                  <a:ext uri="{FF2B5EF4-FFF2-40B4-BE49-F238E27FC236}">
                    <a16:creationId xmlns:a16="http://schemas.microsoft.com/office/drawing/2014/main" id="{54FFF7B4-835F-D09C-7A78-558985D558C9}"/>
                  </a:ext>
                </a:extLst>
              </p:cNvPr>
              <p:cNvSpPr>
                <a:spLocks noEditPoints="1"/>
              </p:cNvSpPr>
              <p:nvPr/>
            </p:nvSpPr>
            <p:spPr bwMode="auto">
              <a:xfrm>
                <a:off x="2373" y="558"/>
                <a:ext cx="2814" cy="2816"/>
              </a:xfrm>
              <a:custGeom>
                <a:avLst/>
                <a:gdLst>
                  <a:gd name="T0" fmla="*/ 1016 w 1502"/>
                  <a:gd name="T1" fmla="*/ 662 h 1502"/>
                  <a:gd name="T2" fmla="*/ 1030 w 1502"/>
                  <a:gd name="T3" fmla="*/ 751 h 1502"/>
                  <a:gd name="T4" fmla="*/ 751 w 1502"/>
                  <a:gd name="T5" fmla="*/ 1030 h 1502"/>
                  <a:gd name="T6" fmla="*/ 472 w 1502"/>
                  <a:gd name="T7" fmla="*/ 751 h 1502"/>
                  <a:gd name="T8" fmla="*/ 751 w 1502"/>
                  <a:gd name="T9" fmla="*/ 472 h 1502"/>
                  <a:gd name="T10" fmla="*/ 929 w 1502"/>
                  <a:gd name="T11" fmla="*/ 536 h 1502"/>
                  <a:gd name="T12" fmla="*/ 819 w 1502"/>
                  <a:gd name="T13" fmla="*/ 611 h 1502"/>
                  <a:gd name="T14" fmla="*/ 751 w 1502"/>
                  <a:gd name="T15" fmla="*/ 596 h 1502"/>
                  <a:gd name="T16" fmla="*/ 596 w 1502"/>
                  <a:gd name="T17" fmla="*/ 751 h 1502"/>
                  <a:gd name="T18" fmla="*/ 751 w 1502"/>
                  <a:gd name="T19" fmla="*/ 906 h 1502"/>
                  <a:gd name="T20" fmla="*/ 906 w 1502"/>
                  <a:gd name="T21" fmla="*/ 751 h 1502"/>
                  <a:gd name="T22" fmla="*/ 906 w 1502"/>
                  <a:gd name="T23" fmla="*/ 738 h 1502"/>
                  <a:gd name="T24" fmla="*/ 1016 w 1502"/>
                  <a:gd name="T25" fmla="*/ 662 h 1502"/>
                  <a:gd name="T26" fmla="*/ 1107 w 1502"/>
                  <a:gd name="T27" fmla="*/ 599 h 1502"/>
                  <a:gd name="T28" fmla="*/ 1138 w 1502"/>
                  <a:gd name="T29" fmla="*/ 751 h 1502"/>
                  <a:gd name="T30" fmla="*/ 751 w 1502"/>
                  <a:gd name="T31" fmla="*/ 1138 h 1502"/>
                  <a:gd name="T32" fmla="*/ 364 w 1502"/>
                  <a:gd name="T33" fmla="*/ 751 h 1502"/>
                  <a:gd name="T34" fmla="*/ 751 w 1502"/>
                  <a:gd name="T35" fmla="*/ 364 h 1502"/>
                  <a:gd name="T36" fmla="*/ 1020 w 1502"/>
                  <a:gd name="T37" fmla="*/ 473 h 1502"/>
                  <a:gd name="T38" fmla="*/ 1124 w 1502"/>
                  <a:gd name="T39" fmla="*/ 401 h 1502"/>
                  <a:gd name="T40" fmla="*/ 751 w 1502"/>
                  <a:gd name="T41" fmla="*/ 240 h 1502"/>
                  <a:gd name="T42" fmla="*/ 240 w 1502"/>
                  <a:gd name="T43" fmla="*/ 751 h 1502"/>
                  <a:gd name="T44" fmla="*/ 751 w 1502"/>
                  <a:gd name="T45" fmla="*/ 1262 h 1502"/>
                  <a:gd name="T46" fmla="*/ 1262 w 1502"/>
                  <a:gd name="T47" fmla="*/ 751 h 1502"/>
                  <a:gd name="T48" fmla="*/ 1211 w 1502"/>
                  <a:gd name="T49" fmla="*/ 528 h 1502"/>
                  <a:gd name="T50" fmla="*/ 1107 w 1502"/>
                  <a:gd name="T51" fmla="*/ 599 h 1502"/>
                  <a:gd name="T52" fmla="*/ 1333 w 1502"/>
                  <a:gd name="T53" fmla="*/ 443 h 1502"/>
                  <a:gd name="T54" fmla="*/ 1307 w 1502"/>
                  <a:gd name="T55" fmla="*/ 461 h 1502"/>
                  <a:gd name="T56" fmla="*/ 1378 w 1502"/>
                  <a:gd name="T57" fmla="*/ 751 h 1502"/>
                  <a:gd name="T58" fmla="*/ 751 w 1502"/>
                  <a:gd name="T59" fmla="*/ 1378 h 1502"/>
                  <a:gd name="T60" fmla="*/ 124 w 1502"/>
                  <a:gd name="T61" fmla="*/ 751 h 1502"/>
                  <a:gd name="T62" fmla="*/ 751 w 1502"/>
                  <a:gd name="T63" fmla="*/ 124 h 1502"/>
                  <a:gd name="T64" fmla="*/ 1220 w 1502"/>
                  <a:gd name="T65" fmla="*/ 335 h 1502"/>
                  <a:gd name="T66" fmla="*/ 1246 w 1502"/>
                  <a:gd name="T67" fmla="*/ 317 h 1502"/>
                  <a:gd name="T68" fmla="*/ 1273 w 1502"/>
                  <a:gd name="T69" fmla="*/ 211 h 1502"/>
                  <a:gd name="T70" fmla="*/ 751 w 1502"/>
                  <a:gd name="T71" fmla="*/ 0 h 1502"/>
                  <a:gd name="T72" fmla="*/ 0 w 1502"/>
                  <a:gd name="T73" fmla="*/ 751 h 1502"/>
                  <a:gd name="T74" fmla="*/ 751 w 1502"/>
                  <a:gd name="T75" fmla="*/ 1502 h 1502"/>
                  <a:gd name="T76" fmla="*/ 1502 w 1502"/>
                  <a:gd name="T77" fmla="*/ 751 h 1502"/>
                  <a:gd name="T78" fmla="*/ 1442 w 1502"/>
                  <a:gd name="T79" fmla="*/ 456 h 1502"/>
                  <a:gd name="T80" fmla="*/ 1333 w 1502"/>
                  <a:gd name="T81" fmla="*/ 443 h 1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02" h="1502">
                    <a:moveTo>
                      <a:pt x="1016" y="662"/>
                    </a:moveTo>
                    <a:cubicBezTo>
                      <a:pt x="1025" y="690"/>
                      <a:pt x="1030" y="720"/>
                      <a:pt x="1030" y="751"/>
                    </a:cubicBezTo>
                    <a:cubicBezTo>
                      <a:pt x="1030" y="905"/>
                      <a:pt x="905" y="1030"/>
                      <a:pt x="751" y="1030"/>
                    </a:cubicBezTo>
                    <a:cubicBezTo>
                      <a:pt x="597" y="1030"/>
                      <a:pt x="472" y="905"/>
                      <a:pt x="472" y="751"/>
                    </a:cubicBezTo>
                    <a:cubicBezTo>
                      <a:pt x="472" y="597"/>
                      <a:pt x="597" y="472"/>
                      <a:pt x="751" y="472"/>
                    </a:cubicBezTo>
                    <a:cubicBezTo>
                      <a:pt x="818" y="472"/>
                      <a:pt x="880" y="496"/>
                      <a:pt x="929" y="536"/>
                    </a:cubicBezTo>
                    <a:cubicBezTo>
                      <a:pt x="819" y="611"/>
                      <a:pt x="819" y="611"/>
                      <a:pt x="819" y="611"/>
                    </a:cubicBezTo>
                    <a:cubicBezTo>
                      <a:pt x="798" y="601"/>
                      <a:pt x="775" y="596"/>
                      <a:pt x="751" y="596"/>
                    </a:cubicBezTo>
                    <a:cubicBezTo>
                      <a:pt x="665" y="596"/>
                      <a:pt x="596" y="665"/>
                      <a:pt x="596" y="751"/>
                    </a:cubicBezTo>
                    <a:cubicBezTo>
                      <a:pt x="596" y="836"/>
                      <a:pt x="665" y="906"/>
                      <a:pt x="751" y="906"/>
                    </a:cubicBezTo>
                    <a:cubicBezTo>
                      <a:pt x="837" y="906"/>
                      <a:pt x="906" y="836"/>
                      <a:pt x="906" y="751"/>
                    </a:cubicBezTo>
                    <a:cubicBezTo>
                      <a:pt x="906" y="746"/>
                      <a:pt x="906" y="742"/>
                      <a:pt x="906" y="738"/>
                    </a:cubicBezTo>
                    <a:lnTo>
                      <a:pt x="1016" y="662"/>
                    </a:lnTo>
                    <a:close/>
                    <a:moveTo>
                      <a:pt x="1107" y="599"/>
                    </a:moveTo>
                    <a:cubicBezTo>
                      <a:pt x="1127" y="646"/>
                      <a:pt x="1138" y="697"/>
                      <a:pt x="1138" y="751"/>
                    </a:cubicBezTo>
                    <a:cubicBezTo>
                      <a:pt x="1138" y="964"/>
                      <a:pt x="964" y="1138"/>
                      <a:pt x="751" y="1138"/>
                    </a:cubicBezTo>
                    <a:cubicBezTo>
                      <a:pt x="537" y="1138"/>
                      <a:pt x="364" y="964"/>
                      <a:pt x="364" y="751"/>
                    </a:cubicBezTo>
                    <a:cubicBezTo>
                      <a:pt x="364" y="537"/>
                      <a:pt x="537" y="364"/>
                      <a:pt x="751" y="364"/>
                    </a:cubicBezTo>
                    <a:cubicBezTo>
                      <a:pt x="855" y="364"/>
                      <a:pt x="950" y="405"/>
                      <a:pt x="1020" y="473"/>
                    </a:cubicBezTo>
                    <a:cubicBezTo>
                      <a:pt x="1124" y="401"/>
                      <a:pt x="1124" y="401"/>
                      <a:pt x="1124" y="401"/>
                    </a:cubicBezTo>
                    <a:cubicBezTo>
                      <a:pt x="1030" y="302"/>
                      <a:pt x="898" y="240"/>
                      <a:pt x="751" y="240"/>
                    </a:cubicBezTo>
                    <a:cubicBezTo>
                      <a:pt x="469" y="240"/>
                      <a:pt x="240" y="469"/>
                      <a:pt x="240" y="751"/>
                    </a:cubicBezTo>
                    <a:cubicBezTo>
                      <a:pt x="240" y="1033"/>
                      <a:pt x="469" y="1262"/>
                      <a:pt x="751" y="1262"/>
                    </a:cubicBezTo>
                    <a:cubicBezTo>
                      <a:pt x="1033" y="1262"/>
                      <a:pt x="1262" y="1033"/>
                      <a:pt x="1262" y="751"/>
                    </a:cubicBezTo>
                    <a:cubicBezTo>
                      <a:pt x="1262" y="671"/>
                      <a:pt x="1244" y="595"/>
                      <a:pt x="1211" y="528"/>
                    </a:cubicBezTo>
                    <a:lnTo>
                      <a:pt x="1107" y="599"/>
                    </a:lnTo>
                    <a:close/>
                    <a:moveTo>
                      <a:pt x="1333" y="443"/>
                    </a:moveTo>
                    <a:cubicBezTo>
                      <a:pt x="1307" y="461"/>
                      <a:pt x="1307" y="461"/>
                      <a:pt x="1307" y="461"/>
                    </a:cubicBezTo>
                    <a:cubicBezTo>
                      <a:pt x="1352" y="548"/>
                      <a:pt x="1378" y="646"/>
                      <a:pt x="1378" y="751"/>
                    </a:cubicBezTo>
                    <a:cubicBezTo>
                      <a:pt x="1378" y="1097"/>
                      <a:pt x="1097" y="1378"/>
                      <a:pt x="751" y="1378"/>
                    </a:cubicBezTo>
                    <a:cubicBezTo>
                      <a:pt x="405" y="1378"/>
                      <a:pt x="124" y="1097"/>
                      <a:pt x="124" y="751"/>
                    </a:cubicBezTo>
                    <a:cubicBezTo>
                      <a:pt x="124" y="405"/>
                      <a:pt x="405" y="124"/>
                      <a:pt x="751" y="124"/>
                    </a:cubicBezTo>
                    <a:cubicBezTo>
                      <a:pt x="937" y="124"/>
                      <a:pt x="1105" y="205"/>
                      <a:pt x="1220" y="335"/>
                    </a:cubicBezTo>
                    <a:cubicBezTo>
                      <a:pt x="1246" y="317"/>
                      <a:pt x="1246" y="317"/>
                      <a:pt x="1246" y="317"/>
                    </a:cubicBezTo>
                    <a:cubicBezTo>
                      <a:pt x="1273" y="211"/>
                      <a:pt x="1273" y="211"/>
                      <a:pt x="1273" y="211"/>
                    </a:cubicBezTo>
                    <a:cubicBezTo>
                      <a:pt x="1138" y="80"/>
                      <a:pt x="954" y="0"/>
                      <a:pt x="751" y="0"/>
                    </a:cubicBezTo>
                    <a:cubicBezTo>
                      <a:pt x="337" y="0"/>
                      <a:pt x="0" y="337"/>
                      <a:pt x="0" y="751"/>
                    </a:cubicBezTo>
                    <a:cubicBezTo>
                      <a:pt x="0" y="1165"/>
                      <a:pt x="337" y="1502"/>
                      <a:pt x="751" y="1502"/>
                    </a:cubicBezTo>
                    <a:cubicBezTo>
                      <a:pt x="1165" y="1502"/>
                      <a:pt x="1502" y="1165"/>
                      <a:pt x="1502" y="751"/>
                    </a:cubicBezTo>
                    <a:cubicBezTo>
                      <a:pt x="1502" y="646"/>
                      <a:pt x="1480" y="547"/>
                      <a:pt x="1442" y="456"/>
                    </a:cubicBezTo>
                    <a:lnTo>
                      <a:pt x="1333" y="44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grpSp>
      <p:sp>
        <p:nvSpPr>
          <p:cNvPr id="51" name="TextBox 50">
            <a:extLst>
              <a:ext uri="{FF2B5EF4-FFF2-40B4-BE49-F238E27FC236}">
                <a16:creationId xmlns:a16="http://schemas.microsoft.com/office/drawing/2014/main" id="{7979A6C3-D648-43A3-887C-D7250602F9CD}"/>
              </a:ext>
            </a:extLst>
          </p:cNvPr>
          <p:cNvSpPr txBox="1"/>
          <p:nvPr/>
        </p:nvSpPr>
        <p:spPr>
          <a:xfrm>
            <a:off x="5472579" y="202961"/>
            <a:ext cx="6073197" cy="401816"/>
          </a:xfrm>
          <a:prstGeom prst="rect">
            <a:avLst/>
          </a:prstGeom>
          <a:noFill/>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txBody>
          <a:bodyPr wrap="square" lIns="93761" tIns="92285" rIns="93761" bIns="92285" rtlCol="0" anchor="t">
            <a:spAutoFit/>
          </a:bodyPr>
          <a:lstStyle/>
          <a:p>
            <a:pPr marL="0" marR="0" lvl="0" indent="0" algn="r" defTabSz="685800" rtl="0" eaLnBrk="1" fontAlgn="auto" latinLnBrk="0" hangingPunct="1">
              <a:lnSpc>
                <a:spcPct val="100000"/>
              </a:lnSpc>
              <a:spcBef>
                <a:spcPts val="0"/>
              </a:spcBef>
              <a:spcAft>
                <a:spcPts val="0"/>
              </a:spcAft>
              <a:buClrTx/>
              <a:buSzTx/>
              <a:buFontTx/>
              <a:buNone/>
              <a:tabLst/>
              <a:defRPr/>
            </a:pPr>
            <a:r>
              <a:rPr kumimoji="0" lang="fi-FI" sz="1400" b="0" i="0" u="none" strike="noStrike" kern="1200" cap="none" spc="0" normalizeH="0" baseline="0" noProof="0">
                <a:ln>
                  <a:noFill/>
                </a:ln>
                <a:solidFill>
                  <a:srgbClr val="29BA74"/>
                </a:solidFill>
                <a:effectLst/>
                <a:uLnTx/>
                <a:uFillTx/>
                <a:latin typeface="OP Chevin Pro Light"/>
                <a:ea typeface="+mn-ea"/>
                <a:cs typeface="+mn-cs"/>
              </a:rPr>
              <a:t>Leveraging data-driven customer pathways</a:t>
            </a:r>
            <a:endParaRPr kumimoji="0" lang="fi-FI" sz="1400" b="0" i="1" u="none" strike="noStrike" kern="1200" cap="none" spc="0" normalizeH="0" baseline="0" noProof="0">
              <a:ln>
                <a:noFill/>
              </a:ln>
              <a:solidFill>
                <a:srgbClr val="29BA74"/>
              </a:solidFill>
              <a:effectLst/>
              <a:uLnTx/>
              <a:uFillTx/>
              <a:latin typeface="OP Chevin Pro Light"/>
              <a:ea typeface="+mn-ea"/>
              <a:cs typeface="+mn-cs"/>
            </a:endParaRPr>
          </a:p>
        </p:txBody>
      </p:sp>
      <p:sp>
        <p:nvSpPr>
          <p:cNvPr id="2" name="Textfeld 1">
            <a:extLst>
              <a:ext uri="{FF2B5EF4-FFF2-40B4-BE49-F238E27FC236}">
                <a16:creationId xmlns:a16="http://schemas.microsoft.com/office/drawing/2014/main" id="{217F1456-C252-2364-C1D5-2F520F20BB2C}"/>
              </a:ext>
            </a:extLst>
          </p:cNvPr>
          <p:cNvSpPr txBox="1"/>
          <p:nvPr>
            <p:custDataLst>
              <p:tags r:id="rId7"/>
            </p:custDataLst>
          </p:nvPr>
        </p:nvSpPr>
        <p:spPr>
          <a:xfrm>
            <a:off x="0" y="27838"/>
            <a:ext cx="2743200" cy="483209"/>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marL="0" marR="0" lvl="0" indent="0" algn="l" defTabSz="914400" rtl="0" eaLnBrk="1" fontAlgn="auto" latinLnBrk="0" hangingPunct="1">
              <a:lnSpc>
                <a:spcPct val="90000"/>
              </a:lnSpc>
              <a:spcBef>
                <a:spcPts val="0"/>
              </a:spcBef>
              <a:spcAft>
                <a:spcPts val="600"/>
              </a:spcAft>
              <a:buClrTx/>
              <a:buSzTx/>
              <a:buFontTx/>
              <a:buNone/>
              <a:tabLst/>
              <a:defRPr/>
            </a:pPr>
            <a:r>
              <a:rPr kumimoji="0" lang="zh-TW" altLang="en-US" sz="1200" b="1" i="0" u="none" strike="noStrike" kern="1200" cap="none" spc="0" normalizeH="0" baseline="0" noProof="0">
                <a:ln>
                  <a:noFill/>
                </a:ln>
                <a:solidFill>
                  <a:srgbClr val="575757"/>
                </a:solidFill>
                <a:effectLst/>
                <a:uLnTx/>
                <a:uFillTx/>
                <a:latin typeface="Trebuchet MS"/>
                <a:ea typeface="+mn-ea"/>
                <a:cs typeface="+mn-cs"/>
                <a:sym typeface="Trebuchet MS" panose="020B0603020202020204" pitchFamily="34" charset="0"/>
              </a:rPr>
              <a:t>從</a:t>
            </a:r>
            <a:r>
              <a:rPr kumimoji="0" lang="en-US" altLang="zh-TW" sz="1200" b="1" i="0" u="none" strike="noStrike" kern="1200" cap="none" spc="0" normalizeH="0" baseline="0" noProof="0">
                <a:ln>
                  <a:noFill/>
                </a:ln>
                <a:solidFill>
                  <a:srgbClr val="575757"/>
                </a:solidFill>
                <a:effectLst/>
                <a:uLnTx/>
                <a:uFillTx/>
                <a:latin typeface="Trebuchet MS"/>
                <a:ea typeface="+mn-ea"/>
                <a:cs typeface="+mn-cs"/>
                <a:sym typeface="Trebuchet MS" panose="020B0603020202020204" pitchFamily="34" charset="0"/>
              </a:rPr>
              <a:t>customer pathway</a:t>
            </a:r>
            <a:r>
              <a:rPr kumimoji="0" lang="zh-TW" altLang="en-US" sz="1200" b="1" i="0" u="none" strike="noStrike" kern="1200" cap="none" spc="0" normalizeH="0" baseline="0" noProof="0">
                <a:ln>
                  <a:noFill/>
                </a:ln>
                <a:solidFill>
                  <a:srgbClr val="575757"/>
                </a:solidFill>
                <a:effectLst/>
                <a:uLnTx/>
                <a:uFillTx/>
                <a:latin typeface="Trebuchet MS"/>
                <a:ea typeface="+mn-ea"/>
                <a:cs typeface="+mn-cs"/>
                <a:sym typeface="Trebuchet MS" panose="020B0603020202020204" pitchFamily="34" charset="0"/>
              </a:rPr>
              <a:t>開始</a:t>
            </a:r>
            <a:endParaRPr kumimoji="0" lang="en-US" altLang="zh-TW" sz="1200" b="1" i="0" u="none" strike="noStrike" kern="1200" cap="none" spc="0" normalizeH="0" baseline="0" noProof="0">
              <a:ln>
                <a:noFill/>
              </a:ln>
              <a:solidFill>
                <a:srgbClr val="575757"/>
              </a:solidFill>
              <a:effectLst/>
              <a:uLnTx/>
              <a:uFillTx/>
              <a:latin typeface="Trebuchet MS"/>
              <a:ea typeface="+mn-ea"/>
              <a:cs typeface="+mn-cs"/>
              <a:sym typeface="Trebuchet MS" panose="020B0603020202020204" pitchFamily="34" charset="0"/>
            </a:endParaRPr>
          </a:p>
          <a:p>
            <a:pPr marL="0" marR="0" lvl="0" indent="0" algn="l" defTabSz="914400" rtl="0" eaLnBrk="1" fontAlgn="auto" latinLnBrk="0" hangingPunct="1">
              <a:lnSpc>
                <a:spcPct val="90000"/>
              </a:lnSpc>
              <a:spcBef>
                <a:spcPts val="0"/>
              </a:spcBef>
              <a:spcAft>
                <a:spcPts val="600"/>
              </a:spcAft>
              <a:buClrTx/>
              <a:buSzTx/>
              <a:buFontTx/>
              <a:buNone/>
              <a:tabLst/>
              <a:defRPr/>
            </a:pPr>
            <a:endParaRPr kumimoji="0" lang="en-US" sz="1200" b="1" i="0" u="none" strike="noStrike" kern="1200" cap="none" spc="0" normalizeH="0" baseline="0" noProof="0">
              <a:ln>
                <a:noFill/>
              </a:ln>
              <a:solidFill>
                <a:srgbClr val="575757"/>
              </a:solidFill>
              <a:effectLst/>
              <a:uLnTx/>
              <a:uFillTx/>
              <a:latin typeface="Trebuchet MS"/>
              <a:ea typeface="+mn-ea"/>
              <a:cs typeface="+mn-cs"/>
              <a:sym typeface="Trebuchet MS" panose="020B0603020202020204" pitchFamily="34" charset="0"/>
            </a:endParaRPr>
          </a:p>
        </p:txBody>
      </p:sp>
    </p:spTree>
    <p:extLst>
      <p:ext uri="{BB962C8B-B14F-4D97-AF65-F5344CB8AC3E}">
        <p14:creationId xmlns:p14="http://schemas.microsoft.com/office/powerpoint/2010/main" val="226685165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Object 14" hidden="1"/>
          <p:cNvGraphicFramePr>
            <a:graphicFrameLocks noChangeAspect="1"/>
          </p:cNvGraphicFramePr>
          <p:nvPr>
            <p:custDataLst>
              <p:tags r:id="rId1"/>
            </p:custDataLst>
          </p:nvPr>
        </p:nvGraphicFramePr>
        <p:xfrm>
          <a:off x="1589" y="1589"/>
          <a:ext cx="1587" cy="1587"/>
        </p:xfrm>
        <a:graphic>
          <a:graphicData uri="http://schemas.openxmlformats.org/presentationml/2006/ole">
            <mc:AlternateContent xmlns:mc="http://schemas.openxmlformats.org/markup-compatibility/2006">
              <mc:Choice xmlns:v="urn:schemas-microsoft-com:vml" Requires="v">
                <p:oleObj name="think-cell Slide" r:id="rId13" imgW="270" imgH="270" progId="TCLayout.ActiveDocument.1">
                  <p:embed/>
                </p:oleObj>
              </mc:Choice>
              <mc:Fallback>
                <p:oleObj name="think-cell Slide" r:id="rId13" imgW="270" imgH="270" progId="TCLayout.ActiveDocument.1">
                  <p:embed/>
                  <p:pic>
                    <p:nvPicPr>
                      <p:cNvPr id="15" name="Object 14" hidden="1"/>
                      <p:cNvPicPr/>
                      <p:nvPr/>
                    </p:nvPicPr>
                    <p:blipFill>
                      <a:blip r:embed="rId14"/>
                      <a:stretch>
                        <a:fillRect/>
                      </a:stretch>
                    </p:blipFill>
                    <p:spPr>
                      <a:xfrm>
                        <a:off x="1589" y="1589"/>
                        <a:ext cx="1587" cy="1587"/>
                      </a:xfrm>
                      <a:prstGeom prst="rect">
                        <a:avLst/>
                      </a:prstGeom>
                    </p:spPr>
                  </p:pic>
                </p:oleObj>
              </mc:Fallback>
            </mc:AlternateContent>
          </a:graphicData>
        </a:graphic>
      </p:graphicFrame>
      <p:pic>
        <p:nvPicPr>
          <p:cNvPr id="24" name="Picture 23">
            <a:extLst>
              <a:ext uri="{FF2B5EF4-FFF2-40B4-BE49-F238E27FC236}">
                <a16:creationId xmlns:a16="http://schemas.microsoft.com/office/drawing/2014/main" id="{F92177D2-0A9E-844A-80A7-059B40B8D59C}"/>
              </a:ext>
            </a:extLst>
          </p:cNvPr>
          <p:cNvPicPr>
            <a:picLocks noChangeAspect="1"/>
          </p:cNvPicPr>
          <p:nvPr>
            <p:custDataLst>
              <p:tags r:id="rId2"/>
            </p:custDataLst>
          </p:nvPr>
        </p:nvPicPr>
        <p:blipFill>
          <a:blip r:embed="rId15"/>
          <a:stretch>
            <a:fillRect/>
          </a:stretch>
        </p:blipFill>
        <p:spPr>
          <a:xfrm>
            <a:off x="621927" y="2185433"/>
            <a:ext cx="3488160" cy="1962090"/>
          </a:xfrm>
          <a:prstGeom prst="rect">
            <a:avLst/>
          </a:prstGeom>
          <a:ln w="9525" cap="flat" cmpd="sng" algn="ctr">
            <a:solidFill>
              <a:srgbClr val="9A9A9A"/>
            </a:solidFill>
            <a:prstDash val="solid"/>
            <a:round/>
            <a:headEnd type="none" w="med" len="med"/>
            <a:tailEnd type="none" w="med" len="med"/>
          </a:ln>
          <a:effectLst>
            <a:outerShdw blurRad="50800" dist="38100" dir="2700000" algn="tl" rotWithShape="0">
              <a:prstClr val="black">
                <a:alpha val="40000"/>
              </a:prstClr>
            </a:outerShdw>
          </a:effectLst>
        </p:spPr>
      </p:pic>
      <p:pic>
        <p:nvPicPr>
          <p:cNvPr id="45" name="Picture 44">
            <a:extLst>
              <a:ext uri="{FF2B5EF4-FFF2-40B4-BE49-F238E27FC236}">
                <a16:creationId xmlns:a16="http://schemas.microsoft.com/office/drawing/2014/main" id="{67E13FCE-943A-4B09-BCE3-BE1B02A944E5}"/>
              </a:ext>
            </a:extLst>
          </p:cNvPr>
          <p:cNvPicPr>
            <a:picLocks noChangeAspect="1"/>
          </p:cNvPicPr>
          <p:nvPr>
            <p:custDataLst>
              <p:tags r:id="rId3"/>
            </p:custDataLst>
          </p:nvPr>
        </p:nvPicPr>
        <p:blipFill>
          <a:blip r:embed="rId16"/>
          <a:stretch>
            <a:fillRect/>
          </a:stretch>
        </p:blipFill>
        <p:spPr>
          <a:xfrm>
            <a:off x="8306644" y="2185433"/>
            <a:ext cx="3488400" cy="1962225"/>
          </a:xfrm>
          <a:prstGeom prst="rect">
            <a:avLst/>
          </a:prstGeom>
          <a:ln w="9525" cap="flat" cmpd="sng" algn="ctr">
            <a:solidFill>
              <a:srgbClr val="9A9A9A"/>
            </a:solidFill>
            <a:prstDash val="solid"/>
            <a:round/>
            <a:headEnd type="none" w="med" len="med"/>
            <a:tailEnd type="none" w="med" len="med"/>
          </a:ln>
          <a:effectLst>
            <a:outerShdw blurRad="50800" dist="38100" dir="2700000" algn="tl" rotWithShape="0">
              <a:prstClr val="black">
                <a:alpha val="40000"/>
              </a:prstClr>
            </a:outerShdw>
          </a:effectLst>
        </p:spPr>
      </p:pic>
      <p:pic>
        <p:nvPicPr>
          <p:cNvPr id="26" name="Picture 25">
            <a:extLst>
              <a:ext uri="{FF2B5EF4-FFF2-40B4-BE49-F238E27FC236}">
                <a16:creationId xmlns:a16="http://schemas.microsoft.com/office/drawing/2014/main" id="{15E19080-713E-E9F2-A532-5090FFFDE7E3}"/>
              </a:ext>
            </a:extLst>
          </p:cNvPr>
          <p:cNvPicPr>
            <a:picLocks noChangeAspect="1"/>
          </p:cNvPicPr>
          <p:nvPr>
            <p:custDataLst>
              <p:tags r:id="rId4"/>
            </p:custDataLst>
          </p:nvPr>
        </p:nvPicPr>
        <p:blipFill>
          <a:blip r:embed="rId17"/>
          <a:stretch>
            <a:fillRect/>
          </a:stretch>
        </p:blipFill>
        <p:spPr>
          <a:xfrm>
            <a:off x="4464286" y="2185433"/>
            <a:ext cx="3488160" cy="1962090"/>
          </a:xfrm>
          <a:prstGeom prst="rect">
            <a:avLst/>
          </a:prstGeom>
          <a:ln w="9525" cap="flat" cmpd="sng" algn="ctr">
            <a:solidFill>
              <a:srgbClr val="9A9A9A"/>
            </a:solidFill>
            <a:prstDash val="solid"/>
            <a:round/>
            <a:headEnd type="none" w="med" len="med"/>
            <a:tailEnd type="none" w="med" len="med"/>
          </a:ln>
          <a:effectLst>
            <a:outerShdw blurRad="50800" dist="38100" dir="2700000" algn="tl" rotWithShape="0">
              <a:prstClr val="black">
                <a:alpha val="40000"/>
              </a:prstClr>
            </a:outerShdw>
          </a:effectLst>
        </p:spPr>
      </p:pic>
      <p:sp>
        <p:nvSpPr>
          <p:cNvPr id="5" name="Rectangle 4" hidden="1">
            <a:extLst>
              <a:ext uri="{FF2B5EF4-FFF2-40B4-BE49-F238E27FC236}">
                <a16:creationId xmlns:a16="http://schemas.microsoft.com/office/drawing/2014/main" id="{B985BA38-C927-409E-9DFD-55AEF960ACD2}"/>
              </a:ext>
            </a:extLst>
          </p:cNvPr>
          <p:cNvSpPr/>
          <p:nvPr>
            <p:custDataLst>
              <p:tags r:id="rId5"/>
            </p:custDataLst>
          </p:nvPr>
        </p:nvSpPr>
        <p:spPr>
          <a:xfrm>
            <a:off x="1" y="1"/>
            <a:ext cx="158751" cy="158751"/>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FFFFFF"/>
              </a:solidFill>
              <a:effectLst/>
              <a:uLnTx/>
              <a:uFillTx/>
              <a:latin typeface="Trebuchet MS" panose="020B0603020202020204" pitchFamily="34" charset="0"/>
              <a:ea typeface="+mn-ea"/>
              <a:cs typeface="+mn-cs"/>
              <a:sym typeface="Trebuchet MS" panose="020B0603020202020204" pitchFamily="34" charset="0"/>
            </a:endParaRPr>
          </a:p>
        </p:txBody>
      </p:sp>
      <p:sp>
        <p:nvSpPr>
          <p:cNvPr id="4" name="Rectangle 3" hidden="1">
            <a:extLst>
              <a:ext uri="{FF2B5EF4-FFF2-40B4-BE49-F238E27FC236}">
                <a16:creationId xmlns:a16="http://schemas.microsoft.com/office/drawing/2014/main" id="{24250499-F407-4349-89B7-6C51155F9D47}"/>
              </a:ext>
            </a:extLst>
          </p:cNvPr>
          <p:cNvSpPr/>
          <p:nvPr>
            <p:custDataLst>
              <p:tags r:id="rId6"/>
            </p:custDataLst>
          </p:nvPr>
        </p:nvSpPr>
        <p:spPr>
          <a:xfrm>
            <a:off x="1" y="1"/>
            <a:ext cx="158751" cy="158751"/>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rebuchet MS" panose="020B0603020202020204" pitchFamily="34" charset="0"/>
              <a:ea typeface="+mn-ea"/>
              <a:cs typeface="+mn-cs"/>
              <a:sym typeface="Trebuchet MS" panose="020B0603020202020204" pitchFamily="34" charset="0"/>
            </a:endParaRPr>
          </a:p>
        </p:txBody>
      </p:sp>
      <p:sp>
        <p:nvSpPr>
          <p:cNvPr id="14" name="Rectangle 13" hidden="1"/>
          <p:cNvSpPr/>
          <p:nvPr>
            <p:custDataLst>
              <p:tags r:id="rId7"/>
            </p:custDataLst>
          </p:nvPr>
        </p:nvSpPr>
        <p:spPr bwMode="gray">
          <a:xfrm>
            <a:off x="1" y="1"/>
            <a:ext cx="158751" cy="158751"/>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ct val="0"/>
              </a:spcBef>
              <a:spcAft>
                <a:spcPct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Trebuchet MS" panose="020B0603020202020204" pitchFamily="34" charset="0"/>
              <a:ea typeface="+mn-ea"/>
              <a:cs typeface="+mn-cs"/>
              <a:sym typeface="Trebuchet MS" panose="020B0603020202020204" pitchFamily="34" charset="0"/>
            </a:endParaRPr>
          </a:p>
        </p:txBody>
      </p:sp>
      <p:sp>
        <p:nvSpPr>
          <p:cNvPr id="150" name="Title 6">
            <a:extLst>
              <a:ext uri="{FF2B5EF4-FFF2-40B4-BE49-F238E27FC236}">
                <a16:creationId xmlns:a16="http://schemas.microsoft.com/office/drawing/2014/main" id="{8185A1B7-2B9F-4C07-857C-2EB337B66606}"/>
              </a:ext>
            </a:extLst>
          </p:cNvPr>
          <p:cNvSpPr>
            <a:spLocks noGrp="1"/>
          </p:cNvSpPr>
          <p:nvPr>
            <p:ph type="title"/>
          </p:nvPr>
        </p:nvSpPr>
        <p:spPr>
          <a:xfrm>
            <a:off x="630000" y="622800"/>
            <a:ext cx="10933200" cy="941796"/>
          </a:xfrm>
        </p:spPr>
        <p:txBody>
          <a:bodyPr vert="horz"/>
          <a:lstStyle/>
          <a:p>
            <a:r>
              <a:rPr lang="en-US">
                <a:solidFill>
                  <a:srgbClr val="575757"/>
                </a:solidFill>
              </a:rPr>
              <a:t>Customer pathways were </a:t>
            </a:r>
            <a:r>
              <a:rPr lang="en-US">
                <a:solidFill>
                  <a:srgbClr val="29BA74"/>
                </a:solidFill>
              </a:rPr>
              <a:t>value-proven through a</a:t>
            </a:r>
            <a:br>
              <a:rPr lang="en-US">
                <a:solidFill>
                  <a:srgbClr val="29BA74"/>
                </a:solidFill>
              </a:rPr>
            </a:br>
            <a:r>
              <a:rPr lang="en-US">
                <a:solidFill>
                  <a:srgbClr val="29BA74"/>
                </a:solidFill>
              </a:rPr>
              <a:t>next-best-offer (</a:t>
            </a:r>
            <a:r>
              <a:rPr lang="en-US" err="1">
                <a:solidFill>
                  <a:srgbClr val="29BA74"/>
                </a:solidFill>
              </a:rPr>
              <a:t>NBO</a:t>
            </a:r>
            <a:r>
              <a:rPr lang="en-US">
                <a:solidFill>
                  <a:srgbClr val="29BA74"/>
                </a:solidFill>
              </a:rPr>
              <a:t>) model pilot </a:t>
            </a:r>
            <a:r>
              <a:rPr lang="en-US">
                <a:solidFill>
                  <a:schemeClr val="tx1"/>
                </a:solidFill>
              </a:rPr>
              <a:t>in assisted channels</a:t>
            </a:r>
          </a:p>
        </p:txBody>
      </p:sp>
      <p:sp>
        <p:nvSpPr>
          <p:cNvPr id="3" name="TextBox 2">
            <a:extLst>
              <a:ext uri="{FF2B5EF4-FFF2-40B4-BE49-F238E27FC236}">
                <a16:creationId xmlns:a16="http://schemas.microsoft.com/office/drawing/2014/main" id="{0DA02855-E829-4AAC-A3FD-5CB3B2C81F47}"/>
              </a:ext>
            </a:extLst>
          </p:cNvPr>
          <p:cNvSpPr txBox="1"/>
          <p:nvPr/>
        </p:nvSpPr>
        <p:spPr>
          <a:xfrm>
            <a:off x="599067" y="4416192"/>
            <a:ext cx="3511409" cy="1477328"/>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575757"/>
                </a:solidFill>
                <a:effectLst/>
                <a:uLnTx/>
                <a:uFillTx/>
                <a:latin typeface="Trebuchet MS"/>
                <a:ea typeface="+mn-ea"/>
                <a:cs typeface="+mn-cs"/>
              </a:rPr>
              <a:t>We implemented a </a:t>
            </a:r>
            <a:r>
              <a:rPr kumimoji="0" lang="en-US" sz="1800" b="0" i="0" u="none" strike="noStrike" kern="1200" cap="none" spc="0" normalizeH="0" baseline="0" noProof="0">
                <a:ln>
                  <a:noFill/>
                </a:ln>
                <a:solidFill>
                  <a:srgbClr val="29BA74"/>
                </a:solidFill>
                <a:effectLst/>
                <a:uLnTx/>
                <a:uFillTx/>
                <a:latin typeface="Trebuchet MS"/>
                <a:ea typeface="+mn-ea"/>
                <a:cs typeface="+mn-cs"/>
              </a:rPr>
              <a:t>novel next-best-offer propensity model </a:t>
            </a:r>
            <a:r>
              <a:rPr kumimoji="0" lang="en-US" sz="1800" b="0" i="0" u="none" strike="noStrike" kern="1200" cap="none" spc="0" normalizeH="0" baseline="0" noProof="0">
                <a:ln>
                  <a:noFill/>
                </a:ln>
                <a:solidFill>
                  <a:srgbClr val="575757"/>
                </a:solidFill>
                <a:effectLst/>
                <a:uLnTx/>
                <a:uFillTx/>
                <a:latin typeface="Trebuchet MS"/>
                <a:ea typeface="+mn-ea"/>
                <a:cs typeface="+mn-cs"/>
              </a:rPr>
              <a:t>for investment products, fueled with the insights derived from customer pathways... </a:t>
            </a:r>
          </a:p>
        </p:txBody>
      </p:sp>
      <p:sp>
        <p:nvSpPr>
          <p:cNvPr id="94" name="TextBox 93">
            <a:extLst>
              <a:ext uri="{FF2B5EF4-FFF2-40B4-BE49-F238E27FC236}">
                <a16:creationId xmlns:a16="http://schemas.microsoft.com/office/drawing/2014/main" id="{E32B0836-1786-455C-8B30-FD6ADF8ABCA7}"/>
              </a:ext>
            </a:extLst>
          </p:cNvPr>
          <p:cNvSpPr txBox="1"/>
          <p:nvPr/>
        </p:nvSpPr>
        <p:spPr>
          <a:xfrm>
            <a:off x="4558405" y="4416192"/>
            <a:ext cx="3377154" cy="1200329"/>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575757"/>
                </a:solidFill>
                <a:effectLst/>
                <a:uLnTx/>
                <a:uFillTx/>
                <a:latin typeface="Trebuchet MS"/>
                <a:ea typeface="+mn-ea"/>
                <a:cs typeface="+mn-cs"/>
              </a:rPr>
              <a:t>... and </a:t>
            </a:r>
            <a:r>
              <a:rPr kumimoji="0" lang="en-US" sz="1800" b="0" i="0" u="none" strike="noStrike" kern="1200" cap="none" spc="0" normalizeH="0" baseline="0" noProof="0">
                <a:ln>
                  <a:noFill/>
                </a:ln>
                <a:solidFill>
                  <a:srgbClr val="29BA74"/>
                </a:solidFill>
                <a:effectLst/>
                <a:uLnTx/>
                <a:uFillTx/>
                <a:latin typeface="Trebuchet MS"/>
                <a:ea typeface="+mn-ea"/>
                <a:cs typeface="+mn-cs"/>
              </a:rPr>
              <a:t>A/B tested </a:t>
            </a:r>
            <a:r>
              <a:rPr kumimoji="0" lang="en-US" sz="1800" b="0" i="0" u="none" strike="noStrike" kern="1200" cap="none" spc="0" normalizeH="0" baseline="0" noProof="0">
                <a:ln>
                  <a:noFill/>
                </a:ln>
                <a:solidFill>
                  <a:srgbClr val="575757"/>
                </a:solidFill>
                <a:effectLst/>
                <a:uLnTx/>
                <a:uFillTx/>
                <a:latin typeface="Trebuchet MS"/>
                <a:ea typeface="+mn-ea"/>
                <a:cs typeface="+mn-cs"/>
              </a:rPr>
              <a:t>the model results with &gt;30 advisors over a period of 3 weeks, calling customers leads. </a:t>
            </a:r>
          </a:p>
        </p:txBody>
      </p:sp>
      <p:sp>
        <p:nvSpPr>
          <p:cNvPr id="95" name="TextBox 94">
            <a:extLst>
              <a:ext uri="{FF2B5EF4-FFF2-40B4-BE49-F238E27FC236}">
                <a16:creationId xmlns:a16="http://schemas.microsoft.com/office/drawing/2014/main" id="{2414CA6E-BC43-4E06-AA1B-829DAE8137C8}"/>
              </a:ext>
            </a:extLst>
          </p:cNvPr>
          <p:cNvSpPr txBox="1"/>
          <p:nvPr/>
        </p:nvSpPr>
        <p:spPr>
          <a:xfrm>
            <a:off x="8383488" y="4416192"/>
            <a:ext cx="3312000" cy="1754326"/>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143996" marR="0" lvl="1" indent="0" algn="l" defTabSz="914400" rtl="0" eaLnBrk="1" fontAlgn="auto" latinLnBrk="0" hangingPunct="1">
              <a:lnSpc>
                <a:spcPct val="100000"/>
              </a:lnSpc>
              <a:spcBef>
                <a:spcPts val="0"/>
              </a:spcBef>
              <a:spcAft>
                <a:spcPts val="0"/>
              </a:spcAft>
              <a:buClr>
                <a:srgbClr val="FF6A10"/>
              </a:buClr>
              <a:buSzTx/>
              <a:buFontTx/>
              <a:buNone/>
              <a:tabLst/>
              <a:defRPr/>
            </a:pPr>
            <a:r>
              <a:rPr kumimoji="0" lang="en-US" sz="1800" b="0" i="0" u="none" strike="noStrike" kern="1200" cap="none" spc="0" normalizeH="0" baseline="0" noProof="0">
                <a:ln>
                  <a:noFill/>
                </a:ln>
                <a:solidFill>
                  <a:srgbClr val="6E6E6E"/>
                </a:solidFill>
                <a:effectLst/>
                <a:uLnTx/>
                <a:uFillTx/>
                <a:latin typeface="Trebuchet MS"/>
                <a:ea typeface="+mn-ea"/>
                <a:cs typeface="+mn-cs"/>
              </a:rPr>
              <a:t>The results </a:t>
            </a:r>
            <a:r>
              <a:rPr kumimoji="0" lang="en-US" sz="1800" b="0" i="0" u="none" strike="noStrike" kern="1200" cap="none" spc="0" normalizeH="0" baseline="0" noProof="0">
                <a:ln>
                  <a:noFill/>
                </a:ln>
                <a:solidFill>
                  <a:srgbClr val="575757"/>
                </a:solidFill>
                <a:effectLst/>
                <a:uLnTx/>
                <a:uFillTx/>
                <a:latin typeface="Trebuchet MS"/>
                <a:ea typeface="+mn-ea"/>
                <a:cs typeface="+mn-cs"/>
              </a:rPr>
              <a:t>showed strong foundations for further scaling wi</a:t>
            </a:r>
            <a:r>
              <a:rPr kumimoji="0" lang="en-US" sz="1800" b="0" i="0" u="none" strike="noStrike" kern="1200" cap="none" spc="0" normalizeH="0" baseline="0" noProof="0">
                <a:ln>
                  <a:noFill/>
                </a:ln>
                <a:solidFill>
                  <a:srgbClr val="6E6E6E"/>
                </a:solidFill>
                <a:effectLst/>
                <a:uLnTx/>
                <a:uFillTx/>
                <a:latin typeface="Trebuchet MS"/>
                <a:ea typeface="+mn-ea"/>
                <a:cs typeface="+mn-cs"/>
              </a:rPr>
              <a:t>th </a:t>
            </a:r>
            <a:r>
              <a:rPr kumimoji="0" lang="en-US" sz="1800" b="0" i="0" u="none" strike="noStrike" kern="1200" cap="none" spc="0" normalizeH="0" baseline="0" noProof="0">
                <a:ln>
                  <a:noFill/>
                </a:ln>
                <a:solidFill>
                  <a:srgbClr val="29BA74"/>
                </a:solidFill>
                <a:effectLst/>
                <a:uLnTx/>
                <a:uFillTx/>
                <a:latin typeface="Trebuchet MS"/>
                <a:ea typeface="+mn-ea"/>
                <a:cs typeface="+mn-cs"/>
              </a:rPr>
              <a:t>+80% uplift in the conversation to appointment conversion rate.</a:t>
            </a:r>
          </a:p>
        </p:txBody>
      </p:sp>
      <p:grpSp>
        <p:nvGrpSpPr>
          <p:cNvPr id="27" name="Group 26">
            <a:extLst>
              <a:ext uri="{FF2B5EF4-FFF2-40B4-BE49-F238E27FC236}">
                <a16:creationId xmlns:a16="http://schemas.microsoft.com/office/drawing/2014/main" id="{F63BD1C5-AADC-CCD8-2638-58998D671C10}"/>
              </a:ext>
            </a:extLst>
          </p:cNvPr>
          <p:cNvGrpSpPr/>
          <p:nvPr/>
        </p:nvGrpSpPr>
        <p:grpSpPr>
          <a:xfrm>
            <a:off x="3681555" y="1727712"/>
            <a:ext cx="720000" cy="720000"/>
            <a:chOff x="-1338512" y="919137"/>
            <a:chExt cx="720000" cy="720000"/>
          </a:xfrm>
        </p:grpSpPr>
        <p:sp>
          <p:nvSpPr>
            <p:cNvPr id="28" name="Oval 27">
              <a:extLst>
                <a:ext uri="{FF2B5EF4-FFF2-40B4-BE49-F238E27FC236}">
                  <a16:creationId xmlns:a16="http://schemas.microsoft.com/office/drawing/2014/main" id="{4C53C2F7-1365-4141-E9D7-57FCDB2CC1BB}"/>
                </a:ext>
              </a:extLst>
            </p:cNvPr>
            <p:cNvSpPr/>
            <p:nvPr>
              <p:custDataLst>
                <p:tags r:id="rId10"/>
              </p:custDataLst>
            </p:nvPr>
          </p:nvSpPr>
          <p:spPr>
            <a:xfrm>
              <a:off x="-1338512" y="919137"/>
              <a:ext cx="720000" cy="720000"/>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lumMod val="50000"/>
                  </a:prstClr>
                </a:solidFill>
                <a:effectLst/>
                <a:uLnTx/>
                <a:uFillTx/>
                <a:latin typeface="Trebuchet MS"/>
                <a:ea typeface="+mn-ea"/>
                <a:cs typeface="+mn-cs"/>
              </a:endParaRPr>
            </a:p>
          </p:txBody>
        </p:sp>
        <p:grpSp>
          <p:nvGrpSpPr>
            <p:cNvPr id="29" name="Group 28">
              <a:extLst>
                <a:ext uri="{FF2B5EF4-FFF2-40B4-BE49-F238E27FC236}">
                  <a16:creationId xmlns:a16="http://schemas.microsoft.com/office/drawing/2014/main" id="{98506B40-17C8-30D5-8A9A-00D5AE094D74}"/>
                </a:ext>
              </a:extLst>
            </p:cNvPr>
            <p:cNvGrpSpPr>
              <a:grpSpLocks noChangeAspect="1"/>
            </p:cNvGrpSpPr>
            <p:nvPr/>
          </p:nvGrpSpPr>
          <p:grpSpPr>
            <a:xfrm>
              <a:off x="-1237781" y="1024578"/>
              <a:ext cx="515974" cy="515974"/>
              <a:chOff x="5273675" y="2606675"/>
              <a:chExt cx="1644650" cy="1644650"/>
            </a:xfrm>
          </p:grpSpPr>
          <p:sp>
            <p:nvSpPr>
              <p:cNvPr id="30" name="AutoShape 3">
                <a:extLst>
                  <a:ext uri="{FF2B5EF4-FFF2-40B4-BE49-F238E27FC236}">
                    <a16:creationId xmlns:a16="http://schemas.microsoft.com/office/drawing/2014/main" id="{5D365D16-9020-2B13-0AEB-A3B6FC7E1151}"/>
                  </a:ext>
                </a:extLst>
              </p:cNvPr>
              <p:cNvSpPr>
                <a:spLocks noChangeAspect="1" noChangeArrowheads="1" noTextEdit="1"/>
              </p:cNvSpPr>
              <p:nvPr/>
            </p:nvSpPr>
            <p:spPr bwMode="auto">
              <a:xfrm>
                <a:off x="5273675" y="2606675"/>
                <a:ext cx="1644650"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nvGrpSpPr>
              <p:cNvPr id="31" name="Group 30">
                <a:extLst>
                  <a:ext uri="{FF2B5EF4-FFF2-40B4-BE49-F238E27FC236}">
                    <a16:creationId xmlns:a16="http://schemas.microsoft.com/office/drawing/2014/main" id="{4457FDC5-3635-0597-E10C-C74F272536F1}"/>
                  </a:ext>
                </a:extLst>
              </p:cNvPr>
              <p:cNvGrpSpPr/>
              <p:nvPr/>
            </p:nvGrpSpPr>
            <p:grpSpPr>
              <a:xfrm>
                <a:off x="5646738" y="2776538"/>
                <a:ext cx="898525" cy="1304925"/>
                <a:chOff x="5646738" y="2776538"/>
                <a:chExt cx="898525" cy="1304925"/>
              </a:xfrm>
            </p:grpSpPr>
            <p:sp>
              <p:nvSpPr>
                <p:cNvPr id="32" name="Freeform 5">
                  <a:extLst>
                    <a:ext uri="{FF2B5EF4-FFF2-40B4-BE49-F238E27FC236}">
                      <a16:creationId xmlns:a16="http://schemas.microsoft.com/office/drawing/2014/main" id="{F4333345-4BA1-5EB9-97FA-04A47871A866}"/>
                    </a:ext>
                  </a:extLst>
                </p:cNvPr>
                <p:cNvSpPr>
                  <a:spLocks/>
                </p:cNvSpPr>
                <p:nvPr/>
              </p:nvSpPr>
              <p:spPr bwMode="auto">
                <a:xfrm>
                  <a:off x="5646738" y="2890838"/>
                  <a:ext cx="898525" cy="1190625"/>
                </a:xfrm>
                <a:custGeom>
                  <a:avLst/>
                  <a:gdLst>
                    <a:gd name="T0" fmla="*/ 22 w 1258"/>
                    <a:gd name="T1" fmla="*/ 1670 h 1670"/>
                    <a:gd name="T2" fmla="*/ 1236 w 1258"/>
                    <a:gd name="T3" fmla="*/ 1670 h 1670"/>
                    <a:gd name="T4" fmla="*/ 1258 w 1258"/>
                    <a:gd name="T5" fmla="*/ 1648 h 1670"/>
                    <a:gd name="T6" fmla="*/ 1258 w 1258"/>
                    <a:gd name="T7" fmla="*/ 22 h 1670"/>
                    <a:gd name="T8" fmla="*/ 1236 w 1258"/>
                    <a:gd name="T9" fmla="*/ 0 h 1670"/>
                    <a:gd name="T10" fmla="*/ 876 w 1258"/>
                    <a:gd name="T11" fmla="*/ 0 h 1670"/>
                    <a:gd name="T12" fmla="*/ 876 w 1258"/>
                    <a:gd name="T13" fmla="*/ 44 h 1670"/>
                    <a:gd name="T14" fmla="*/ 1214 w 1258"/>
                    <a:gd name="T15" fmla="*/ 44 h 1670"/>
                    <a:gd name="T16" fmla="*/ 1214 w 1258"/>
                    <a:gd name="T17" fmla="*/ 1626 h 1670"/>
                    <a:gd name="T18" fmla="*/ 44 w 1258"/>
                    <a:gd name="T19" fmla="*/ 1626 h 1670"/>
                    <a:gd name="T20" fmla="*/ 44 w 1258"/>
                    <a:gd name="T21" fmla="*/ 44 h 1670"/>
                    <a:gd name="T22" fmla="*/ 382 w 1258"/>
                    <a:gd name="T23" fmla="*/ 44 h 1670"/>
                    <a:gd name="T24" fmla="*/ 382 w 1258"/>
                    <a:gd name="T25" fmla="*/ 0 h 1670"/>
                    <a:gd name="T26" fmla="*/ 22 w 1258"/>
                    <a:gd name="T27" fmla="*/ 0 h 1670"/>
                    <a:gd name="T28" fmla="*/ 0 w 1258"/>
                    <a:gd name="T29" fmla="*/ 22 h 1670"/>
                    <a:gd name="T30" fmla="*/ 0 w 1258"/>
                    <a:gd name="T31" fmla="*/ 1648 h 1670"/>
                    <a:gd name="T32" fmla="*/ 22 w 1258"/>
                    <a:gd name="T33" fmla="*/ 1670 h 1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58" h="1670">
                      <a:moveTo>
                        <a:pt x="22" y="1670"/>
                      </a:moveTo>
                      <a:cubicBezTo>
                        <a:pt x="1236" y="1670"/>
                        <a:pt x="1236" y="1670"/>
                        <a:pt x="1236" y="1670"/>
                      </a:cubicBezTo>
                      <a:cubicBezTo>
                        <a:pt x="1249" y="1670"/>
                        <a:pt x="1258" y="1661"/>
                        <a:pt x="1258" y="1648"/>
                      </a:cubicBezTo>
                      <a:cubicBezTo>
                        <a:pt x="1258" y="22"/>
                        <a:pt x="1258" y="22"/>
                        <a:pt x="1258" y="22"/>
                      </a:cubicBezTo>
                      <a:cubicBezTo>
                        <a:pt x="1258" y="10"/>
                        <a:pt x="1249" y="0"/>
                        <a:pt x="1236" y="0"/>
                      </a:cubicBezTo>
                      <a:cubicBezTo>
                        <a:pt x="876" y="0"/>
                        <a:pt x="876" y="0"/>
                        <a:pt x="876" y="0"/>
                      </a:cubicBezTo>
                      <a:cubicBezTo>
                        <a:pt x="876" y="44"/>
                        <a:pt x="876" y="44"/>
                        <a:pt x="876" y="44"/>
                      </a:cubicBezTo>
                      <a:cubicBezTo>
                        <a:pt x="1214" y="44"/>
                        <a:pt x="1214" y="44"/>
                        <a:pt x="1214" y="44"/>
                      </a:cubicBezTo>
                      <a:cubicBezTo>
                        <a:pt x="1214" y="1626"/>
                        <a:pt x="1214" y="1626"/>
                        <a:pt x="1214" y="1626"/>
                      </a:cubicBezTo>
                      <a:cubicBezTo>
                        <a:pt x="44" y="1626"/>
                        <a:pt x="44" y="1626"/>
                        <a:pt x="44" y="1626"/>
                      </a:cubicBezTo>
                      <a:cubicBezTo>
                        <a:pt x="44" y="44"/>
                        <a:pt x="44" y="44"/>
                        <a:pt x="44" y="44"/>
                      </a:cubicBezTo>
                      <a:cubicBezTo>
                        <a:pt x="382" y="44"/>
                        <a:pt x="382" y="44"/>
                        <a:pt x="382" y="44"/>
                      </a:cubicBezTo>
                      <a:cubicBezTo>
                        <a:pt x="382" y="0"/>
                        <a:pt x="382" y="0"/>
                        <a:pt x="382" y="0"/>
                      </a:cubicBezTo>
                      <a:cubicBezTo>
                        <a:pt x="22" y="0"/>
                        <a:pt x="22" y="0"/>
                        <a:pt x="22" y="0"/>
                      </a:cubicBezTo>
                      <a:cubicBezTo>
                        <a:pt x="9" y="0"/>
                        <a:pt x="0" y="10"/>
                        <a:pt x="0" y="22"/>
                      </a:cubicBezTo>
                      <a:cubicBezTo>
                        <a:pt x="0" y="1648"/>
                        <a:pt x="0" y="1648"/>
                        <a:pt x="0" y="1648"/>
                      </a:cubicBezTo>
                      <a:cubicBezTo>
                        <a:pt x="0" y="1661"/>
                        <a:pt x="9" y="1670"/>
                        <a:pt x="22" y="167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33" name="Freeform 29">
                  <a:extLst>
                    <a:ext uri="{FF2B5EF4-FFF2-40B4-BE49-F238E27FC236}">
                      <a16:creationId xmlns:a16="http://schemas.microsoft.com/office/drawing/2014/main" id="{5FDC7BE3-4B87-3F48-3A63-E112FC1A990C}"/>
                    </a:ext>
                  </a:extLst>
                </p:cNvPr>
                <p:cNvSpPr>
                  <a:spLocks/>
                </p:cNvSpPr>
                <p:nvPr/>
              </p:nvSpPr>
              <p:spPr bwMode="auto">
                <a:xfrm>
                  <a:off x="5795963" y="2776538"/>
                  <a:ext cx="600075" cy="1093787"/>
                </a:xfrm>
                <a:custGeom>
                  <a:avLst/>
                  <a:gdLst>
                    <a:gd name="connsiteX0" fmla="*/ 296727 w 600075"/>
                    <a:gd name="connsiteY0" fmla="*/ 1044575 h 1093787"/>
                    <a:gd name="connsiteX1" fmla="*/ 584335 w 600075"/>
                    <a:gd name="connsiteY1" fmla="*/ 1044575 h 1093787"/>
                    <a:gd name="connsiteX2" fmla="*/ 600075 w 600075"/>
                    <a:gd name="connsiteY2" fmla="*/ 1060450 h 1093787"/>
                    <a:gd name="connsiteX3" fmla="*/ 584335 w 600075"/>
                    <a:gd name="connsiteY3" fmla="*/ 1076325 h 1093787"/>
                    <a:gd name="connsiteX4" fmla="*/ 296727 w 600075"/>
                    <a:gd name="connsiteY4" fmla="*/ 1076325 h 1093787"/>
                    <a:gd name="connsiteX5" fmla="*/ 280987 w 600075"/>
                    <a:gd name="connsiteY5" fmla="*/ 1060450 h 1093787"/>
                    <a:gd name="connsiteX6" fmla="*/ 296727 w 600075"/>
                    <a:gd name="connsiteY6" fmla="*/ 1044575 h 1093787"/>
                    <a:gd name="connsiteX7" fmla="*/ 31750 w 600075"/>
                    <a:gd name="connsiteY7" fmla="*/ 971550 h 1093787"/>
                    <a:gd name="connsiteX8" fmla="*/ 31750 w 600075"/>
                    <a:gd name="connsiteY8" fmla="*/ 1062038 h 1093787"/>
                    <a:gd name="connsiteX9" fmla="*/ 122238 w 600075"/>
                    <a:gd name="connsiteY9" fmla="*/ 1062038 h 1093787"/>
                    <a:gd name="connsiteX10" fmla="*/ 122238 w 600075"/>
                    <a:gd name="connsiteY10" fmla="*/ 971550 h 1093787"/>
                    <a:gd name="connsiteX11" fmla="*/ 296727 w 600075"/>
                    <a:gd name="connsiteY11" fmla="*/ 958850 h 1093787"/>
                    <a:gd name="connsiteX12" fmla="*/ 584335 w 600075"/>
                    <a:gd name="connsiteY12" fmla="*/ 958850 h 1093787"/>
                    <a:gd name="connsiteX13" fmla="*/ 600075 w 600075"/>
                    <a:gd name="connsiteY13" fmla="*/ 974725 h 1093787"/>
                    <a:gd name="connsiteX14" fmla="*/ 584335 w 600075"/>
                    <a:gd name="connsiteY14" fmla="*/ 990600 h 1093787"/>
                    <a:gd name="connsiteX15" fmla="*/ 296727 w 600075"/>
                    <a:gd name="connsiteY15" fmla="*/ 990600 h 1093787"/>
                    <a:gd name="connsiteX16" fmla="*/ 280987 w 600075"/>
                    <a:gd name="connsiteY16" fmla="*/ 974725 h 1093787"/>
                    <a:gd name="connsiteX17" fmla="*/ 296727 w 600075"/>
                    <a:gd name="connsiteY17" fmla="*/ 958850 h 1093787"/>
                    <a:gd name="connsiteX18" fmla="*/ 15668 w 600075"/>
                    <a:gd name="connsiteY18" fmla="*/ 941387 h 1093787"/>
                    <a:gd name="connsiteX19" fmla="*/ 136733 w 600075"/>
                    <a:gd name="connsiteY19" fmla="*/ 941387 h 1093787"/>
                    <a:gd name="connsiteX20" fmla="*/ 152400 w 600075"/>
                    <a:gd name="connsiteY20" fmla="*/ 957054 h 1093787"/>
                    <a:gd name="connsiteX21" fmla="*/ 152400 w 600075"/>
                    <a:gd name="connsiteY21" fmla="*/ 1078120 h 1093787"/>
                    <a:gd name="connsiteX22" fmla="*/ 136733 w 600075"/>
                    <a:gd name="connsiteY22" fmla="*/ 1093787 h 1093787"/>
                    <a:gd name="connsiteX23" fmla="*/ 15668 w 600075"/>
                    <a:gd name="connsiteY23" fmla="*/ 1093787 h 1093787"/>
                    <a:gd name="connsiteX24" fmla="*/ 0 w 600075"/>
                    <a:gd name="connsiteY24" fmla="*/ 1078120 h 1093787"/>
                    <a:gd name="connsiteX25" fmla="*/ 0 w 600075"/>
                    <a:gd name="connsiteY25" fmla="*/ 957054 h 1093787"/>
                    <a:gd name="connsiteX26" fmla="*/ 15668 w 600075"/>
                    <a:gd name="connsiteY26" fmla="*/ 941387 h 1093787"/>
                    <a:gd name="connsiteX27" fmla="*/ 296727 w 600075"/>
                    <a:gd name="connsiteY27" fmla="*/ 766762 h 1093787"/>
                    <a:gd name="connsiteX28" fmla="*/ 584335 w 600075"/>
                    <a:gd name="connsiteY28" fmla="*/ 766762 h 1093787"/>
                    <a:gd name="connsiteX29" fmla="*/ 600075 w 600075"/>
                    <a:gd name="connsiteY29" fmla="*/ 782637 h 1093787"/>
                    <a:gd name="connsiteX30" fmla="*/ 584335 w 600075"/>
                    <a:gd name="connsiteY30" fmla="*/ 798512 h 1093787"/>
                    <a:gd name="connsiteX31" fmla="*/ 296727 w 600075"/>
                    <a:gd name="connsiteY31" fmla="*/ 798512 h 1093787"/>
                    <a:gd name="connsiteX32" fmla="*/ 280987 w 600075"/>
                    <a:gd name="connsiteY32" fmla="*/ 782637 h 1093787"/>
                    <a:gd name="connsiteX33" fmla="*/ 296727 w 600075"/>
                    <a:gd name="connsiteY33" fmla="*/ 766762 h 1093787"/>
                    <a:gd name="connsiteX34" fmla="*/ 31750 w 600075"/>
                    <a:gd name="connsiteY34" fmla="*/ 695325 h 1093787"/>
                    <a:gd name="connsiteX35" fmla="*/ 31750 w 600075"/>
                    <a:gd name="connsiteY35" fmla="*/ 785813 h 1093787"/>
                    <a:gd name="connsiteX36" fmla="*/ 122238 w 600075"/>
                    <a:gd name="connsiteY36" fmla="*/ 785813 h 1093787"/>
                    <a:gd name="connsiteX37" fmla="*/ 122238 w 600075"/>
                    <a:gd name="connsiteY37" fmla="*/ 695325 h 1093787"/>
                    <a:gd name="connsiteX38" fmla="*/ 296727 w 600075"/>
                    <a:gd name="connsiteY38" fmla="*/ 681037 h 1093787"/>
                    <a:gd name="connsiteX39" fmla="*/ 584335 w 600075"/>
                    <a:gd name="connsiteY39" fmla="*/ 681037 h 1093787"/>
                    <a:gd name="connsiteX40" fmla="*/ 600075 w 600075"/>
                    <a:gd name="connsiteY40" fmla="*/ 696912 h 1093787"/>
                    <a:gd name="connsiteX41" fmla="*/ 584335 w 600075"/>
                    <a:gd name="connsiteY41" fmla="*/ 712787 h 1093787"/>
                    <a:gd name="connsiteX42" fmla="*/ 296727 w 600075"/>
                    <a:gd name="connsiteY42" fmla="*/ 712787 h 1093787"/>
                    <a:gd name="connsiteX43" fmla="*/ 280987 w 600075"/>
                    <a:gd name="connsiteY43" fmla="*/ 696912 h 1093787"/>
                    <a:gd name="connsiteX44" fmla="*/ 296727 w 600075"/>
                    <a:gd name="connsiteY44" fmla="*/ 681037 h 1093787"/>
                    <a:gd name="connsiteX45" fmla="*/ 15668 w 600075"/>
                    <a:gd name="connsiteY45" fmla="*/ 663575 h 1093787"/>
                    <a:gd name="connsiteX46" fmla="*/ 136733 w 600075"/>
                    <a:gd name="connsiteY46" fmla="*/ 663575 h 1093787"/>
                    <a:gd name="connsiteX47" fmla="*/ 152400 w 600075"/>
                    <a:gd name="connsiteY47" fmla="*/ 679242 h 1093787"/>
                    <a:gd name="connsiteX48" fmla="*/ 152400 w 600075"/>
                    <a:gd name="connsiteY48" fmla="*/ 800308 h 1093787"/>
                    <a:gd name="connsiteX49" fmla="*/ 136733 w 600075"/>
                    <a:gd name="connsiteY49" fmla="*/ 815975 h 1093787"/>
                    <a:gd name="connsiteX50" fmla="*/ 15668 w 600075"/>
                    <a:gd name="connsiteY50" fmla="*/ 815975 h 1093787"/>
                    <a:gd name="connsiteX51" fmla="*/ 0 w 600075"/>
                    <a:gd name="connsiteY51" fmla="*/ 800308 h 1093787"/>
                    <a:gd name="connsiteX52" fmla="*/ 0 w 600075"/>
                    <a:gd name="connsiteY52" fmla="*/ 679242 h 1093787"/>
                    <a:gd name="connsiteX53" fmla="*/ 15668 w 600075"/>
                    <a:gd name="connsiteY53" fmla="*/ 663575 h 1093787"/>
                    <a:gd name="connsiteX54" fmla="*/ 296727 w 600075"/>
                    <a:gd name="connsiteY54" fmla="*/ 485775 h 1093787"/>
                    <a:gd name="connsiteX55" fmla="*/ 584335 w 600075"/>
                    <a:gd name="connsiteY55" fmla="*/ 485775 h 1093787"/>
                    <a:gd name="connsiteX56" fmla="*/ 600075 w 600075"/>
                    <a:gd name="connsiteY56" fmla="*/ 501650 h 1093787"/>
                    <a:gd name="connsiteX57" fmla="*/ 584335 w 600075"/>
                    <a:gd name="connsiteY57" fmla="*/ 517525 h 1093787"/>
                    <a:gd name="connsiteX58" fmla="*/ 296727 w 600075"/>
                    <a:gd name="connsiteY58" fmla="*/ 517525 h 1093787"/>
                    <a:gd name="connsiteX59" fmla="*/ 280987 w 600075"/>
                    <a:gd name="connsiteY59" fmla="*/ 501650 h 1093787"/>
                    <a:gd name="connsiteX60" fmla="*/ 296727 w 600075"/>
                    <a:gd name="connsiteY60" fmla="*/ 485775 h 1093787"/>
                    <a:gd name="connsiteX61" fmla="*/ 31750 w 600075"/>
                    <a:gd name="connsiteY61" fmla="*/ 412750 h 1093787"/>
                    <a:gd name="connsiteX62" fmla="*/ 31750 w 600075"/>
                    <a:gd name="connsiteY62" fmla="*/ 503238 h 1093787"/>
                    <a:gd name="connsiteX63" fmla="*/ 122238 w 600075"/>
                    <a:gd name="connsiteY63" fmla="*/ 503238 h 1093787"/>
                    <a:gd name="connsiteX64" fmla="*/ 122238 w 600075"/>
                    <a:gd name="connsiteY64" fmla="*/ 412750 h 1093787"/>
                    <a:gd name="connsiteX65" fmla="*/ 296727 w 600075"/>
                    <a:gd name="connsiteY65" fmla="*/ 400050 h 1093787"/>
                    <a:gd name="connsiteX66" fmla="*/ 584335 w 600075"/>
                    <a:gd name="connsiteY66" fmla="*/ 400050 h 1093787"/>
                    <a:gd name="connsiteX67" fmla="*/ 600075 w 600075"/>
                    <a:gd name="connsiteY67" fmla="*/ 415925 h 1093787"/>
                    <a:gd name="connsiteX68" fmla="*/ 584335 w 600075"/>
                    <a:gd name="connsiteY68" fmla="*/ 431800 h 1093787"/>
                    <a:gd name="connsiteX69" fmla="*/ 296727 w 600075"/>
                    <a:gd name="connsiteY69" fmla="*/ 431800 h 1093787"/>
                    <a:gd name="connsiteX70" fmla="*/ 280987 w 600075"/>
                    <a:gd name="connsiteY70" fmla="*/ 415925 h 1093787"/>
                    <a:gd name="connsiteX71" fmla="*/ 296727 w 600075"/>
                    <a:gd name="connsiteY71" fmla="*/ 400050 h 1093787"/>
                    <a:gd name="connsiteX72" fmla="*/ 15668 w 600075"/>
                    <a:gd name="connsiteY72" fmla="*/ 382587 h 1093787"/>
                    <a:gd name="connsiteX73" fmla="*/ 136733 w 600075"/>
                    <a:gd name="connsiteY73" fmla="*/ 382587 h 1093787"/>
                    <a:gd name="connsiteX74" fmla="*/ 152400 w 600075"/>
                    <a:gd name="connsiteY74" fmla="*/ 398182 h 1093787"/>
                    <a:gd name="connsiteX75" fmla="*/ 152400 w 600075"/>
                    <a:gd name="connsiteY75" fmla="*/ 519393 h 1093787"/>
                    <a:gd name="connsiteX76" fmla="*/ 136733 w 600075"/>
                    <a:gd name="connsiteY76" fmla="*/ 534987 h 1093787"/>
                    <a:gd name="connsiteX77" fmla="*/ 15668 w 600075"/>
                    <a:gd name="connsiteY77" fmla="*/ 534987 h 1093787"/>
                    <a:gd name="connsiteX78" fmla="*/ 0 w 600075"/>
                    <a:gd name="connsiteY78" fmla="*/ 519393 h 1093787"/>
                    <a:gd name="connsiteX79" fmla="*/ 0 w 600075"/>
                    <a:gd name="connsiteY79" fmla="*/ 398182 h 1093787"/>
                    <a:gd name="connsiteX80" fmla="*/ 15668 w 600075"/>
                    <a:gd name="connsiteY80" fmla="*/ 382587 h 1093787"/>
                    <a:gd name="connsiteX81" fmla="*/ 301266 w 600075"/>
                    <a:gd name="connsiteY81" fmla="*/ 31750 h 1093787"/>
                    <a:gd name="connsiteX82" fmla="*/ 279758 w 600075"/>
                    <a:gd name="connsiteY82" fmla="*/ 36027 h 1093787"/>
                    <a:gd name="connsiteX83" fmla="*/ 246062 w 600075"/>
                    <a:gd name="connsiteY83" fmla="*/ 66675 h 1093787"/>
                    <a:gd name="connsiteX84" fmla="*/ 357187 w 600075"/>
                    <a:gd name="connsiteY84" fmla="*/ 66675 h 1093787"/>
                    <a:gd name="connsiteX85" fmla="*/ 323491 w 600075"/>
                    <a:gd name="connsiteY85" fmla="*/ 36027 h 1093787"/>
                    <a:gd name="connsiteX86" fmla="*/ 301266 w 600075"/>
                    <a:gd name="connsiteY86" fmla="*/ 31750 h 1093787"/>
                    <a:gd name="connsiteX87" fmla="*/ 300832 w 600075"/>
                    <a:gd name="connsiteY87" fmla="*/ 0 h 1093787"/>
                    <a:gd name="connsiteX88" fmla="*/ 373818 w 600075"/>
                    <a:gd name="connsiteY88" fmla="*/ 35602 h 1093787"/>
                    <a:gd name="connsiteX89" fmla="*/ 390275 w 600075"/>
                    <a:gd name="connsiteY89" fmla="*/ 66220 h 1093787"/>
                    <a:gd name="connsiteX90" fmla="*/ 439648 w 600075"/>
                    <a:gd name="connsiteY90" fmla="*/ 66220 h 1093787"/>
                    <a:gd name="connsiteX91" fmla="*/ 446088 w 600075"/>
                    <a:gd name="connsiteY91" fmla="*/ 73340 h 1093787"/>
                    <a:gd name="connsiteX92" fmla="*/ 446088 w 600075"/>
                    <a:gd name="connsiteY92" fmla="*/ 113927 h 1093787"/>
                    <a:gd name="connsiteX93" fmla="*/ 446088 w 600075"/>
                    <a:gd name="connsiteY93" fmla="*/ 145256 h 1093787"/>
                    <a:gd name="connsiteX94" fmla="*/ 446088 w 600075"/>
                    <a:gd name="connsiteY94" fmla="*/ 178010 h 1093787"/>
                    <a:gd name="connsiteX95" fmla="*/ 431062 w 600075"/>
                    <a:gd name="connsiteY95" fmla="*/ 193675 h 1093787"/>
                    <a:gd name="connsiteX96" fmla="*/ 171317 w 600075"/>
                    <a:gd name="connsiteY96" fmla="*/ 193675 h 1093787"/>
                    <a:gd name="connsiteX97" fmla="*/ 155575 w 600075"/>
                    <a:gd name="connsiteY97" fmla="*/ 178010 h 1093787"/>
                    <a:gd name="connsiteX98" fmla="*/ 155575 w 600075"/>
                    <a:gd name="connsiteY98" fmla="*/ 145256 h 1093787"/>
                    <a:gd name="connsiteX99" fmla="*/ 155575 w 600075"/>
                    <a:gd name="connsiteY99" fmla="*/ 113927 h 1093787"/>
                    <a:gd name="connsiteX100" fmla="*/ 155575 w 600075"/>
                    <a:gd name="connsiteY100" fmla="*/ 73340 h 1093787"/>
                    <a:gd name="connsiteX101" fmla="*/ 162731 w 600075"/>
                    <a:gd name="connsiteY101" fmla="*/ 66220 h 1093787"/>
                    <a:gd name="connsiteX102" fmla="*/ 212104 w 600075"/>
                    <a:gd name="connsiteY102" fmla="*/ 66220 h 1093787"/>
                    <a:gd name="connsiteX103" fmla="*/ 227846 w 600075"/>
                    <a:gd name="connsiteY103" fmla="*/ 35602 h 1093787"/>
                    <a:gd name="connsiteX104" fmla="*/ 300832 w 600075"/>
                    <a:gd name="connsiteY104" fmla="*/ 0 h 1093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00075" h="1093787">
                      <a:moveTo>
                        <a:pt x="296727" y="1044575"/>
                      </a:moveTo>
                      <a:cubicBezTo>
                        <a:pt x="296727" y="1044575"/>
                        <a:pt x="296727" y="1044575"/>
                        <a:pt x="584335" y="1044575"/>
                      </a:cubicBezTo>
                      <a:cubicBezTo>
                        <a:pt x="592921" y="1044575"/>
                        <a:pt x="600075" y="1051791"/>
                        <a:pt x="600075" y="1060450"/>
                      </a:cubicBezTo>
                      <a:cubicBezTo>
                        <a:pt x="600075" y="1069109"/>
                        <a:pt x="592921" y="1076325"/>
                        <a:pt x="584335" y="1076325"/>
                      </a:cubicBezTo>
                      <a:cubicBezTo>
                        <a:pt x="584335" y="1076325"/>
                        <a:pt x="584335" y="1076325"/>
                        <a:pt x="296727" y="1076325"/>
                      </a:cubicBezTo>
                      <a:cubicBezTo>
                        <a:pt x="288142" y="1076325"/>
                        <a:pt x="280987" y="1069109"/>
                        <a:pt x="280987" y="1060450"/>
                      </a:cubicBezTo>
                      <a:cubicBezTo>
                        <a:pt x="280987" y="1051791"/>
                        <a:pt x="288142" y="1044575"/>
                        <a:pt x="296727" y="1044575"/>
                      </a:cubicBezTo>
                      <a:close/>
                      <a:moveTo>
                        <a:pt x="31750" y="971550"/>
                      </a:moveTo>
                      <a:lnTo>
                        <a:pt x="31750" y="1062038"/>
                      </a:lnTo>
                      <a:lnTo>
                        <a:pt x="122238" y="1062038"/>
                      </a:lnTo>
                      <a:lnTo>
                        <a:pt x="122238" y="971550"/>
                      </a:lnTo>
                      <a:close/>
                      <a:moveTo>
                        <a:pt x="296727" y="958850"/>
                      </a:moveTo>
                      <a:cubicBezTo>
                        <a:pt x="296727" y="958850"/>
                        <a:pt x="296727" y="958850"/>
                        <a:pt x="584335" y="958850"/>
                      </a:cubicBezTo>
                      <a:cubicBezTo>
                        <a:pt x="592921" y="958850"/>
                        <a:pt x="600075" y="966066"/>
                        <a:pt x="600075" y="974725"/>
                      </a:cubicBezTo>
                      <a:cubicBezTo>
                        <a:pt x="600075" y="983384"/>
                        <a:pt x="592921" y="990600"/>
                        <a:pt x="584335" y="990600"/>
                      </a:cubicBezTo>
                      <a:cubicBezTo>
                        <a:pt x="584335" y="990600"/>
                        <a:pt x="584335" y="990600"/>
                        <a:pt x="296727" y="990600"/>
                      </a:cubicBezTo>
                      <a:cubicBezTo>
                        <a:pt x="288142" y="990600"/>
                        <a:pt x="280987" y="983384"/>
                        <a:pt x="280987" y="974725"/>
                      </a:cubicBezTo>
                      <a:cubicBezTo>
                        <a:pt x="280987" y="966066"/>
                        <a:pt x="288142" y="958850"/>
                        <a:pt x="296727" y="958850"/>
                      </a:cubicBezTo>
                      <a:close/>
                      <a:moveTo>
                        <a:pt x="15668" y="941387"/>
                      </a:moveTo>
                      <a:cubicBezTo>
                        <a:pt x="15668" y="941387"/>
                        <a:pt x="15668" y="941387"/>
                        <a:pt x="136733" y="941387"/>
                      </a:cubicBezTo>
                      <a:cubicBezTo>
                        <a:pt x="145991" y="941387"/>
                        <a:pt x="152400" y="948509"/>
                        <a:pt x="152400" y="957054"/>
                      </a:cubicBezTo>
                      <a:cubicBezTo>
                        <a:pt x="152400" y="957054"/>
                        <a:pt x="152400" y="957054"/>
                        <a:pt x="152400" y="1078120"/>
                      </a:cubicBezTo>
                      <a:cubicBezTo>
                        <a:pt x="152400" y="1086666"/>
                        <a:pt x="145991" y="1093787"/>
                        <a:pt x="136733" y="1093787"/>
                      </a:cubicBezTo>
                      <a:cubicBezTo>
                        <a:pt x="136733" y="1093787"/>
                        <a:pt x="136733" y="1093787"/>
                        <a:pt x="15668" y="1093787"/>
                      </a:cubicBezTo>
                      <a:cubicBezTo>
                        <a:pt x="7122" y="1093787"/>
                        <a:pt x="0" y="1086666"/>
                        <a:pt x="0" y="1078120"/>
                      </a:cubicBezTo>
                      <a:cubicBezTo>
                        <a:pt x="0" y="1078120"/>
                        <a:pt x="0" y="1078120"/>
                        <a:pt x="0" y="957054"/>
                      </a:cubicBezTo>
                      <a:cubicBezTo>
                        <a:pt x="0" y="948509"/>
                        <a:pt x="7122" y="941387"/>
                        <a:pt x="15668" y="941387"/>
                      </a:cubicBezTo>
                      <a:close/>
                      <a:moveTo>
                        <a:pt x="296727" y="766762"/>
                      </a:moveTo>
                      <a:cubicBezTo>
                        <a:pt x="296727" y="766762"/>
                        <a:pt x="296727" y="766762"/>
                        <a:pt x="584335" y="766762"/>
                      </a:cubicBezTo>
                      <a:cubicBezTo>
                        <a:pt x="592921" y="766762"/>
                        <a:pt x="600075" y="773978"/>
                        <a:pt x="600075" y="782637"/>
                      </a:cubicBezTo>
                      <a:cubicBezTo>
                        <a:pt x="600075" y="791296"/>
                        <a:pt x="592921" y="798512"/>
                        <a:pt x="584335" y="798512"/>
                      </a:cubicBezTo>
                      <a:cubicBezTo>
                        <a:pt x="584335" y="798512"/>
                        <a:pt x="584335" y="798512"/>
                        <a:pt x="296727" y="798512"/>
                      </a:cubicBezTo>
                      <a:cubicBezTo>
                        <a:pt x="288142" y="798512"/>
                        <a:pt x="280987" y="791296"/>
                        <a:pt x="280987" y="782637"/>
                      </a:cubicBezTo>
                      <a:cubicBezTo>
                        <a:pt x="280987" y="773978"/>
                        <a:pt x="288142" y="766762"/>
                        <a:pt x="296727" y="766762"/>
                      </a:cubicBezTo>
                      <a:close/>
                      <a:moveTo>
                        <a:pt x="31750" y="695325"/>
                      </a:moveTo>
                      <a:lnTo>
                        <a:pt x="31750" y="785813"/>
                      </a:lnTo>
                      <a:lnTo>
                        <a:pt x="122238" y="785813"/>
                      </a:lnTo>
                      <a:lnTo>
                        <a:pt x="122238" y="695325"/>
                      </a:lnTo>
                      <a:close/>
                      <a:moveTo>
                        <a:pt x="296727" y="681037"/>
                      </a:moveTo>
                      <a:cubicBezTo>
                        <a:pt x="296727" y="681037"/>
                        <a:pt x="296727" y="681037"/>
                        <a:pt x="584335" y="681037"/>
                      </a:cubicBezTo>
                      <a:cubicBezTo>
                        <a:pt x="592921" y="681037"/>
                        <a:pt x="600075" y="688253"/>
                        <a:pt x="600075" y="696912"/>
                      </a:cubicBezTo>
                      <a:cubicBezTo>
                        <a:pt x="600075" y="705571"/>
                        <a:pt x="592921" y="712787"/>
                        <a:pt x="584335" y="712787"/>
                      </a:cubicBezTo>
                      <a:cubicBezTo>
                        <a:pt x="584335" y="712787"/>
                        <a:pt x="584335" y="712787"/>
                        <a:pt x="296727" y="712787"/>
                      </a:cubicBezTo>
                      <a:cubicBezTo>
                        <a:pt x="288142" y="712787"/>
                        <a:pt x="280987" y="705571"/>
                        <a:pt x="280987" y="696912"/>
                      </a:cubicBezTo>
                      <a:cubicBezTo>
                        <a:pt x="280987" y="688253"/>
                        <a:pt x="288142" y="681037"/>
                        <a:pt x="296727" y="681037"/>
                      </a:cubicBezTo>
                      <a:close/>
                      <a:moveTo>
                        <a:pt x="15668" y="663575"/>
                      </a:moveTo>
                      <a:cubicBezTo>
                        <a:pt x="15668" y="663575"/>
                        <a:pt x="15668" y="663575"/>
                        <a:pt x="136733" y="663575"/>
                      </a:cubicBezTo>
                      <a:cubicBezTo>
                        <a:pt x="145991" y="663575"/>
                        <a:pt x="152400" y="670697"/>
                        <a:pt x="152400" y="679242"/>
                      </a:cubicBezTo>
                      <a:cubicBezTo>
                        <a:pt x="152400" y="679242"/>
                        <a:pt x="152400" y="679242"/>
                        <a:pt x="152400" y="800308"/>
                      </a:cubicBezTo>
                      <a:cubicBezTo>
                        <a:pt x="152400" y="808854"/>
                        <a:pt x="145991" y="815975"/>
                        <a:pt x="136733" y="815975"/>
                      </a:cubicBezTo>
                      <a:cubicBezTo>
                        <a:pt x="136733" y="815975"/>
                        <a:pt x="136733" y="815975"/>
                        <a:pt x="15668" y="815975"/>
                      </a:cubicBezTo>
                      <a:cubicBezTo>
                        <a:pt x="7122" y="815975"/>
                        <a:pt x="0" y="808854"/>
                        <a:pt x="0" y="800308"/>
                      </a:cubicBezTo>
                      <a:cubicBezTo>
                        <a:pt x="0" y="800308"/>
                        <a:pt x="0" y="800308"/>
                        <a:pt x="0" y="679242"/>
                      </a:cubicBezTo>
                      <a:cubicBezTo>
                        <a:pt x="0" y="670697"/>
                        <a:pt x="7122" y="663575"/>
                        <a:pt x="15668" y="663575"/>
                      </a:cubicBezTo>
                      <a:close/>
                      <a:moveTo>
                        <a:pt x="296727" y="485775"/>
                      </a:moveTo>
                      <a:cubicBezTo>
                        <a:pt x="296727" y="485775"/>
                        <a:pt x="296727" y="485775"/>
                        <a:pt x="584335" y="485775"/>
                      </a:cubicBezTo>
                      <a:cubicBezTo>
                        <a:pt x="592921" y="485775"/>
                        <a:pt x="600075" y="492991"/>
                        <a:pt x="600075" y="501650"/>
                      </a:cubicBezTo>
                      <a:cubicBezTo>
                        <a:pt x="600075" y="511031"/>
                        <a:pt x="592921" y="517525"/>
                        <a:pt x="584335" y="517525"/>
                      </a:cubicBezTo>
                      <a:cubicBezTo>
                        <a:pt x="584335" y="517525"/>
                        <a:pt x="584335" y="517525"/>
                        <a:pt x="296727" y="517525"/>
                      </a:cubicBezTo>
                      <a:cubicBezTo>
                        <a:pt x="288142" y="517525"/>
                        <a:pt x="280987" y="511031"/>
                        <a:pt x="280987" y="501650"/>
                      </a:cubicBezTo>
                      <a:cubicBezTo>
                        <a:pt x="280987" y="492991"/>
                        <a:pt x="288142" y="485775"/>
                        <a:pt x="296727" y="485775"/>
                      </a:cubicBezTo>
                      <a:close/>
                      <a:moveTo>
                        <a:pt x="31750" y="412750"/>
                      </a:moveTo>
                      <a:lnTo>
                        <a:pt x="31750" y="503238"/>
                      </a:lnTo>
                      <a:lnTo>
                        <a:pt x="122238" y="503238"/>
                      </a:lnTo>
                      <a:lnTo>
                        <a:pt x="122238" y="412750"/>
                      </a:lnTo>
                      <a:close/>
                      <a:moveTo>
                        <a:pt x="296727" y="400050"/>
                      </a:moveTo>
                      <a:cubicBezTo>
                        <a:pt x="296727" y="400050"/>
                        <a:pt x="296727" y="400050"/>
                        <a:pt x="584335" y="400050"/>
                      </a:cubicBezTo>
                      <a:cubicBezTo>
                        <a:pt x="592921" y="400050"/>
                        <a:pt x="600075" y="406544"/>
                        <a:pt x="600075" y="415925"/>
                      </a:cubicBezTo>
                      <a:cubicBezTo>
                        <a:pt x="600075" y="424584"/>
                        <a:pt x="592921" y="431800"/>
                        <a:pt x="584335" y="431800"/>
                      </a:cubicBezTo>
                      <a:cubicBezTo>
                        <a:pt x="584335" y="431800"/>
                        <a:pt x="584335" y="431800"/>
                        <a:pt x="296727" y="431800"/>
                      </a:cubicBezTo>
                      <a:cubicBezTo>
                        <a:pt x="288142" y="431800"/>
                        <a:pt x="280987" y="424584"/>
                        <a:pt x="280987" y="415925"/>
                      </a:cubicBezTo>
                      <a:cubicBezTo>
                        <a:pt x="280987" y="406544"/>
                        <a:pt x="288142" y="400050"/>
                        <a:pt x="296727" y="400050"/>
                      </a:cubicBezTo>
                      <a:close/>
                      <a:moveTo>
                        <a:pt x="15668" y="382587"/>
                      </a:moveTo>
                      <a:cubicBezTo>
                        <a:pt x="15668" y="382587"/>
                        <a:pt x="15668" y="382587"/>
                        <a:pt x="136733" y="382587"/>
                      </a:cubicBezTo>
                      <a:cubicBezTo>
                        <a:pt x="145991" y="382587"/>
                        <a:pt x="152400" y="389675"/>
                        <a:pt x="152400" y="398182"/>
                      </a:cubicBezTo>
                      <a:cubicBezTo>
                        <a:pt x="152400" y="398182"/>
                        <a:pt x="152400" y="398182"/>
                        <a:pt x="152400" y="519393"/>
                      </a:cubicBezTo>
                      <a:cubicBezTo>
                        <a:pt x="152400" y="527899"/>
                        <a:pt x="145991" y="534987"/>
                        <a:pt x="136733" y="534987"/>
                      </a:cubicBezTo>
                      <a:cubicBezTo>
                        <a:pt x="136733" y="534987"/>
                        <a:pt x="136733" y="534987"/>
                        <a:pt x="15668" y="534987"/>
                      </a:cubicBezTo>
                      <a:cubicBezTo>
                        <a:pt x="7122" y="534987"/>
                        <a:pt x="0" y="527899"/>
                        <a:pt x="0" y="519393"/>
                      </a:cubicBezTo>
                      <a:cubicBezTo>
                        <a:pt x="0" y="519393"/>
                        <a:pt x="0" y="519393"/>
                        <a:pt x="0" y="398182"/>
                      </a:cubicBezTo>
                      <a:cubicBezTo>
                        <a:pt x="0" y="389675"/>
                        <a:pt x="7122" y="382587"/>
                        <a:pt x="15668" y="382587"/>
                      </a:cubicBezTo>
                      <a:close/>
                      <a:moveTo>
                        <a:pt x="301266" y="31750"/>
                      </a:moveTo>
                      <a:cubicBezTo>
                        <a:pt x="294097" y="31750"/>
                        <a:pt x="286211" y="33176"/>
                        <a:pt x="279758" y="36027"/>
                      </a:cubicBezTo>
                      <a:cubicBezTo>
                        <a:pt x="264703" y="41016"/>
                        <a:pt x="252515" y="52420"/>
                        <a:pt x="246062" y="66675"/>
                      </a:cubicBezTo>
                      <a:cubicBezTo>
                        <a:pt x="246062" y="66675"/>
                        <a:pt x="246062" y="66675"/>
                        <a:pt x="357187" y="66675"/>
                      </a:cubicBezTo>
                      <a:cubicBezTo>
                        <a:pt x="350018" y="52420"/>
                        <a:pt x="337830" y="41016"/>
                        <a:pt x="323491" y="36027"/>
                      </a:cubicBezTo>
                      <a:cubicBezTo>
                        <a:pt x="316322" y="33176"/>
                        <a:pt x="309153" y="31750"/>
                        <a:pt x="301266" y="31750"/>
                      </a:cubicBezTo>
                      <a:close/>
                      <a:moveTo>
                        <a:pt x="300832" y="0"/>
                      </a:moveTo>
                      <a:cubicBezTo>
                        <a:pt x="330885" y="0"/>
                        <a:pt x="356645" y="13529"/>
                        <a:pt x="373818" y="35602"/>
                      </a:cubicBezTo>
                      <a:cubicBezTo>
                        <a:pt x="380973" y="44147"/>
                        <a:pt x="386698" y="54827"/>
                        <a:pt x="390275" y="66220"/>
                      </a:cubicBezTo>
                      <a:cubicBezTo>
                        <a:pt x="390275" y="66220"/>
                        <a:pt x="390275" y="66220"/>
                        <a:pt x="439648" y="66220"/>
                      </a:cubicBezTo>
                      <a:cubicBezTo>
                        <a:pt x="443226" y="66220"/>
                        <a:pt x="446088" y="69068"/>
                        <a:pt x="446088" y="73340"/>
                      </a:cubicBezTo>
                      <a:cubicBezTo>
                        <a:pt x="446088" y="73340"/>
                        <a:pt x="446088" y="73340"/>
                        <a:pt x="446088" y="113927"/>
                      </a:cubicBezTo>
                      <a:cubicBezTo>
                        <a:pt x="446088" y="113927"/>
                        <a:pt x="446088" y="113927"/>
                        <a:pt x="446088" y="145256"/>
                      </a:cubicBezTo>
                      <a:cubicBezTo>
                        <a:pt x="446088" y="145256"/>
                        <a:pt x="446088" y="145256"/>
                        <a:pt x="446088" y="178010"/>
                      </a:cubicBezTo>
                      <a:cubicBezTo>
                        <a:pt x="446088" y="186555"/>
                        <a:pt x="439648" y="193675"/>
                        <a:pt x="431062" y="193675"/>
                      </a:cubicBezTo>
                      <a:lnTo>
                        <a:pt x="171317" y="193675"/>
                      </a:lnTo>
                      <a:cubicBezTo>
                        <a:pt x="162731" y="193675"/>
                        <a:pt x="155575" y="186555"/>
                        <a:pt x="155575" y="178010"/>
                      </a:cubicBezTo>
                      <a:cubicBezTo>
                        <a:pt x="155575" y="178010"/>
                        <a:pt x="155575" y="178010"/>
                        <a:pt x="155575" y="145256"/>
                      </a:cubicBezTo>
                      <a:cubicBezTo>
                        <a:pt x="155575" y="145256"/>
                        <a:pt x="155575" y="145256"/>
                        <a:pt x="155575" y="113927"/>
                      </a:cubicBezTo>
                      <a:cubicBezTo>
                        <a:pt x="155575" y="113927"/>
                        <a:pt x="155575" y="113927"/>
                        <a:pt x="155575" y="73340"/>
                      </a:cubicBezTo>
                      <a:cubicBezTo>
                        <a:pt x="155575" y="69068"/>
                        <a:pt x="159153" y="66220"/>
                        <a:pt x="162731" y="66220"/>
                      </a:cubicBezTo>
                      <a:cubicBezTo>
                        <a:pt x="162731" y="66220"/>
                        <a:pt x="162731" y="66220"/>
                        <a:pt x="212104" y="66220"/>
                      </a:cubicBezTo>
                      <a:cubicBezTo>
                        <a:pt x="215681" y="54827"/>
                        <a:pt x="220690" y="44147"/>
                        <a:pt x="227846" y="35602"/>
                      </a:cubicBezTo>
                      <a:cubicBezTo>
                        <a:pt x="245019" y="13529"/>
                        <a:pt x="271494" y="0"/>
                        <a:pt x="300832"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grpSp>
      </p:grpSp>
      <p:grpSp>
        <p:nvGrpSpPr>
          <p:cNvPr id="34" name="Group 33">
            <a:extLst>
              <a:ext uri="{FF2B5EF4-FFF2-40B4-BE49-F238E27FC236}">
                <a16:creationId xmlns:a16="http://schemas.microsoft.com/office/drawing/2014/main" id="{89138D87-1215-70E5-E1AD-68E93F20F33C}"/>
              </a:ext>
            </a:extLst>
          </p:cNvPr>
          <p:cNvGrpSpPr/>
          <p:nvPr/>
        </p:nvGrpSpPr>
        <p:grpSpPr>
          <a:xfrm>
            <a:off x="7526405" y="1727712"/>
            <a:ext cx="720000" cy="720000"/>
            <a:chOff x="5772024" y="1984163"/>
            <a:chExt cx="646578" cy="646578"/>
          </a:xfrm>
        </p:grpSpPr>
        <p:sp>
          <p:nvSpPr>
            <p:cNvPr id="36" name="Oval 35">
              <a:extLst>
                <a:ext uri="{FF2B5EF4-FFF2-40B4-BE49-F238E27FC236}">
                  <a16:creationId xmlns:a16="http://schemas.microsoft.com/office/drawing/2014/main" id="{7AF431ED-2039-71EF-092A-1A56D04AEF9B}"/>
                </a:ext>
              </a:extLst>
            </p:cNvPr>
            <p:cNvSpPr/>
            <p:nvPr>
              <p:custDataLst>
                <p:tags r:id="rId9"/>
              </p:custDataLst>
            </p:nvPr>
          </p:nvSpPr>
          <p:spPr>
            <a:xfrm>
              <a:off x="5772024" y="1984163"/>
              <a:ext cx="646578" cy="646578"/>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lumMod val="50000"/>
                  </a:prstClr>
                </a:solidFill>
                <a:effectLst/>
                <a:uLnTx/>
                <a:uFillTx/>
                <a:latin typeface="Trebuchet MS"/>
                <a:ea typeface="+mn-ea"/>
                <a:cs typeface="+mn-cs"/>
              </a:endParaRPr>
            </a:p>
          </p:txBody>
        </p:sp>
        <p:grpSp>
          <p:nvGrpSpPr>
            <p:cNvPr id="37" name="Group 36">
              <a:extLst>
                <a:ext uri="{FF2B5EF4-FFF2-40B4-BE49-F238E27FC236}">
                  <a16:creationId xmlns:a16="http://schemas.microsoft.com/office/drawing/2014/main" id="{FF68193F-69BD-BE48-549B-9338E7FCD366}"/>
                </a:ext>
              </a:extLst>
            </p:cNvPr>
            <p:cNvGrpSpPr>
              <a:grpSpLocks noChangeAspect="1"/>
            </p:cNvGrpSpPr>
            <p:nvPr/>
          </p:nvGrpSpPr>
          <p:grpSpPr>
            <a:xfrm>
              <a:off x="5866713" y="2078852"/>
              <a:ext cx="457200" cy="457200"/>
              <a:chOff x="7324950" y="3200401"/>
              <a:chExt cx="457200" cy="457200"/>
            </a:xfrm>
          </p:grpSpPr>
          <p:sp>
            <p:nvSpPr>
              <p:cNvPr id="38" name="AutoShape 7">
                <a:extLst>
                  <a:ext uri="{FF2B5EF4-FFF2-40B4-BE49-F238E27FC236}">
                    <a16:creationId xmlns:a16="http://schemas.microsoft.com/office/drawing/2014/main" id="{49F3729B-831A-E94E-507E-C5E48474CEA4}"/>
                  </a:ext>
                </a:extLst>
              </p:cNvPr>
              <p:cNvSpPr>
                <a:spLocks noChangeAspect="1" noChangeArrowheads="1" noTextEdit="1"/>
              </p:cNvSpPr>
              <p:nvPr/>
            </p:nvSpPr>
            <p:spPr bwMode="auto">
              <a:xfrm>
                <a:off x="7324950" y="3200401"/>
                <a:ext cx="457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39" name="Freeform 9">
                <a:extLst>
                  <a:ext uri="{FF2B5EF4-FFF2-40B4-BE49-F238E27FC236}">
                    <a16:creationId xmlns:a16="http://schemas.microsoft.com/office/drawing/2014/main" id="{725B9C98-3542-64E9-9B34-4AE54410B008}"/>
                  </a:ext>
                </a:extLst>
              </p:cNvPr>
              <p:cNvSpPr>
                <a:spLocks noEditPoints="1"/>
              </p:cNvSpPr>
              <p:nvPr/>
            </p:nvSpPr>
            <p:spPr bwMode="auto">
              <a:xfrm>
                <a:off x="7348811" y="3227918"/>
                <a:ext cx="410056" cy="402744"/>
              </a:xfrm>
              <a:custGeom>
                <a:avLst/>
                <a:gdLst>
                  <a:gd name="T0" fmla="*/ 154 w 896"/>
                  <a:gd name="T1" fmla="*/ 248 h 880"/>
                  <a:gd name="T2" fmla="*/ 177 w 896"/>
                  <a:gd name="T3" fmla="*/ 237 h 880"/>
                  <a:gd name="T4" fmla="*/ 725 w 896"/>
                  <a:gd name="T5" fmla="*/ 237 h 880"/>
                  <a:gd name="T6" fmla="*/ 749 w 896"/>
                  <a:gd name="T7" fmla="*/ 248 h 880"/>
                  <a:gd name="T8" fmla="*/ 738 w 896"/>
                  <a:gd name="T9" fmla="*/ 412 h 880"/>
                  <a:gd name="T10" fmla="*/ 708 w 896"/>
                  <a:gd name="T11" fmla="*/ 406 h 880"/>
                  <a:gd name="T12" fmla="*/ 707 w 896"/>
                  <a:gd name="T13" fmla="*/ 269 h 880"/>
                  <a:gd name="T14" fmla="*/ 196 w 896"/>
                  <a:gd name="T15" fmla="*/ 269 h 880"/>
                  <a:gd name="T16" fmla="*/ 196 w 896"/>
                  <a:gd name="T17" fmla="*/ 313 h 880"/>
                  <a:gd name="T18" fmla="*/ 290 w 896"/>
                  <a:gd name="T19" fmla="*/ 500 h 880"/>
                  <a:gd name="T20" fmla="*/ 451 w 896"/>
                  <a:gd name="T21" fmla="*/ 535 h 880"/>
                  <a:gd name="T22" fmla="*/ 500 w 896"/>
                  <a:gd name="T23" fmla="*/ 569 h 880"/>
                  <a:gd name="T24" fmla="*/ 451 w 896"/>
                  <a:gd name="T25" fmla="*/ 603 h 880"/>
                  <a:gd name="T26" fmla="*/ 309 w 896"/>
                  <a:gd name="T27" fmla="*/ 542 h 880"/>
                  <a:gd name="T28" fmla="*/ 451 w 896"/>
                  <a:gd name="T29" fmla="*/ 653 h 880"/>
                  <a:gd name="T30" fmla="*/ 634 w 896"/>
                  <a:gd name="T31" fmla="*/ 447 h 880"/>
                  <a:gd name="T32" fmla="*/ 662 w 896"/>
                  <a:gd name="T33" fmla="*/ 417 h 880"/>
                  <a:gd name="T34" fmla="*/ 687 w 896"/>
                  <a:gd name="T35" fmla="*/ 405 h 880"/>
                  <a:gd name="T36" fmla="*/ 582 w 896"/>
                  <a:gd name="T37" fmla="*/ 609 h 880"/>
                  <a:gd name="T38" fmla="*/ 578 w 896"/>
                  <a:gd name="T39" fmla="*/ 662 h 880"/>
                  <a:gd name="T40" fmla="*/ 560 w 896"/>
                  <a:gd name="T41" fmla="*/ 627 h 880"/>
                  <a:gd name="T42" fmla="*/ 342 w 896"/>
                  <a:gd name="T43" fmla="*/ 627 h 880"/>
                  <a:gd name="T44" fmla="*/ 324 w 896"/>
                  <a:gd name="T45" fmla="*/ 662 h 880"/>
                  <a:gd name="T46" fmla="*/ 321 w 896"/>
                  <a:gd name="T47" fmla="*/ 609 h 880"/>
                  <a:gd name="T48" fmla="*/ 195 w 896"/>
                  <a:gd name="T49" fmla="*/ 406 h 880"/>
                  <a:gd name="T50" fmla="*/ 165 w 896"/>
                  <a:gd name="T51" fmla="*/ 412 h 880"/>
                  <a:gd name="T52" fmla="*/ 682 w 896"/>
                  <a:gd name="T53" fmla="*/ 283 h 880"/>
                  <a:gd name="T54" fmla="*/ 215 w 896"/>
                  <a:gd name="T55" fmla="*/ 283 h 880"/>
                  <a:gd name="T56" fmla="*/ 319 w 896"/>
                  <a:gd name="T57" fmla="*/ 245 h 880"/>
                  <a:gd name="T58" fmla="*/ 626 w 896"/>
                  <a:gd name="T59" fmla="*/ 400 h 880"/>
                  <a:gd name="T60" fmla="*/ 682 w 896"/>
                  <a:gd name="T61" fmla="*/ 389 h 880"/>
                  <a:gd name="T62" fmla="*/ 681 w 896"/>
                  <a:gd name="T63" fmla="*/ 328 h 880"/>
                  <a:gd name="T64" fmla="*/ 894 w 896"/>
                  <a:gd name="T65" fmla="*/ 865 h 880"/>
                  <a:gd name="T66" fmla="*/ 593 w 896"/>
                  <a:gd name="T67" fmla="*/ 675 h 880"/>
                  <a:gd name="T68" fmla="*/ 445 w 896"/>
                  <a:gd name="T69" fmla="*/ 791 h 880"/>
                  <a:gd name="T70" fmla="*/ 111 w 896"/>
                  <a:gd name="T71" fmla="*/ 708 h 880"/>
                  <a:gd name="T72" fmla="*/ 12 w 896"/>
                  <a:gd name="T73" fmla="*/ 880 h 880"/>
                  <a:gd name="T74" fmla="*/ 894 w 896"/>
                  <a:gd name="T75" fmla="*/ 865 h 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96" h="880">
                    <a:moveTo>
                      <a:pt x="154" y="400"/>
                    </a:moveTo>
                    <a:cubicBezTo>
                      <a:pt x="154" y="248"/>
                      <a:pt x="154" y="248"/>
                      <a:pt x="154" y="248"/>
                    </a:cubicBezTo>
                    <a:cubicBezTo>
                      <a:pt x="154" y="242"/>
                      <a:pt x="159" y="237"/>
                      <a:pt x="165" y="237"/>
                    </a:cubicBezTo>
                    <a:cubicBezTo>
                      <a:pt x="177" y="237"/>
                      <a:pt x="177" y="237"/>
                      <a:pt x="177" y="237"/>
                    </a:cubicBezTo>
                    <a:cubicBezTo>
                      <a:pt x="202" y="102"/>
                      <a:pt x="315" y="0"/>
                      <a:pt x="451" y="0"/>
                    </a:cubicBezTo>
                    <a:cubicBezTo>
                      <a:pt x="587" y="0"/>
                      <a:pt x="701" y="102"/>
                      <a:pt x="725" y="237"/>
                    </a:cubicBezTo>
                    <a:cubicBezTo>
                      <a:pt x="738" y="237"/>
                      <a:pt x="738" y="237"/>
                      <a:pt x="738" y="237"/>
                    </a:cubicBezTo>
                    <a:cubicBezTo>
                      <a:pt x="744" y="237"/>
                      <a:pt x="749" y="242"/>
                      <a:pt x="749" y="248"/>
                    </a:cubicBezTo>
                    <a:cubicBezTo>
                      <a:pt x="749" y="400"/>
                      <a:pt x="749" y="400"/>
                      <a:pt x="749" y="400"/>
                    </a:cubicBezTo>
                    <a:cubicBezTo>
                      <a:pt x="749" y="406"/>
                      <a:pt x="744" y="412"/>
                      <a:pt x="738" y="412"/>
                    </a:cubicBezTo>
                    <a:cubicBezTo>
                      <a:pt x="718" y="412"/>
                      <a:pt x="718" y="412"/>
                      <a:pt x="718" y="412"/>
                    </a:cubicBezTo>
                    <a:cubicBezTo>
                      <a:pt x="713" y="412"/>
                      <a:pt x="710" y="409"/>
                      <a:pt x="708" y="406"/>
                    </a:cubicBezTo>
                    <a:cubicBezTo>
                      <a:pt x="707" y="404"/>
                      <a:pt x="707" y="402"/>
                      <a:pt x="707" y="400"/>
                    </a:cubicBezTo>
                    <a:cubicBezTo>
                      <a:pt x="707" y="400"/>
                      <a:pt x="707" y="277"/>
                      <a:pt x="707" y="269"/>
                    </a:cubicBezTo>
                    <a:cubicBezTo>
                      <a:pt x="696" y="131"/>
                      <a:pt x="585" y="23"/>
                      <a:pt x="451" y="23"/>
                    </a:cubicBezTo>
                    <a:cubicBezTo>
                      <a:pt x="317" y="23"/>
                      <a:pt x="207" y="131"/>
                      <a:pt x="196" y="269"/>
                    </a:cubicBezTo>
                    <a:cubicBezTo>
                      <a:pt x="196" y="277"/>
                      <a:pt x="195" y="284"/>
                      <a:pt x="195" y="292"/>
                    </a:cubicBezTo>
                    <a:cubicBezTo>
                      <a:pt x="195" y="299"/>
                      <a:pt x="196" y="307"/>
                      <a:pt x="196" y="313"/>
                    </a:cubicBezTo>
                    <a:cubicBezTo>
                      <a:pt x="199" y="346"/>
                      <a:pt x="207" y="377"/>
                      <a:pt x="219" y="405"/>
                    </a:cubicBezTo>
                    <a:cubicBezTo>
                      <a:pt x="236" y="442"/>
                      <a:pt x="260" y="475"/>
                      <a:pt x="290" y="500"/>
                    </a:cubicBezTo>
                    <a:cubicBezTo>
                      <a:pt x="323" y="529"/>
                      <a:pt x="363" y="548"/>
                      <a:pt x="406" y="557"/>
                    </a:cubicBezTo>
                    <a:cubicBezTo>
                      <a:pt x="413" y="544"/>
                      <a:pt x="431" y="535"/>
                      <a:pt x="451" y="535"/>
                    </a:cubicBezTo>
                    <a:cubicBezTo>
                      <a:pt x="472" y="535"/>
                      <a:pt x="489" y="544"/>
                      <a:pt x="496" y="557"/>
                    </a:cubicBezTo>
                    <a:cubicBezTo>
                      <a:pt x="499" y="560"/>
                      <a:pt x="500" y="564"/>
                      <a:pt x="500" y="569"/>
                    </a:cubicBezTo>
                    <a:cubicBezTo>
                      <a:pt x="500" y="572"/>
                      <a:pt x="499" y="576"/>
                      <a:pt x="497" y="579"/>
                    </a:cubicBezTo>
                    <a:cubicBezTo>
                      <a:pt x="491" y="593"/>
                      <a:pt x="473" y="603"/>
                      <a:pt x="451" y="603"/>
                    </a:cubicBezTo>
                    <a:cubicBezTo>
                      <a:pt x="430" y="603"/>
                      <a:pt x="411" y="593"/>
                      <a:pt x="405" y="579"/>
                    </a:cubicBezTo>
                    <a:cubicBezTo>
                      <a:pt x="371" y="573"/>
                      <a:pt x="338" y="560"/>
                      <a:pt x="309" y="542"/>
                    </a:cubicBezTo>
                    <a:cubicBezTo>
                      <a:pt x="321" y="569"/>
                      <a:pt x="333" y="591"/>
                      <a:pt x="340" y="597"/>
                    </a:cubicBezTo>
                    <a:cubicBezTo>
                      <a:pt x="362" y="617"/>
                      <a:pt x="419" y="653"/>
                      <a:pt x="451" y="653"/>
                    </a:cubicBezTo>
                    <a:cubicBezTo>
                      <a:pt x="483" y="653"/>
                      <a:pt x="541" y="617"/>
                      <a:pt x="563" y="597"/>
                    </a:cubicBezTo>
                    <a:cubicBezTo>
                      <a:pt x="577" y="585"/>
                      <a:pt x="614" y="498"/>
                      <a:pt x="634" y="447"/>
                    </a:cubicBezTo>
                    <a:cubicBezTo>
                      <a:pt x="635" y="445"/>
                      <a:pt x="637" y="443"/>
                      <a:pt x="639" y="442"/>
                    </a:cubicBezTo>
                    <a:cubicBezTo>
                      <a:pt x="651" y="436"/>
                      <a:pt x="658" y="426"/>
                      <a:pt x="662" y="417"/>
                    </a:cubicBezTo>
                    <a:cubicBezTo>
                      <a:pt x="662" y="417"/>
                      <a:pt x="662" y="417"/>
                      <a:pt x="687" y="404"/>
                    </a:cubicBezTo>
                    <a:cubicBezTo>
                      <a:pt x="687" y="405"/>
                      <a:pt x="687" y="405"/>
                      <a:pt x="687" y="405"/>
                    </a:cubicBezTo>
                    <a:cubicBezTo>
                      <a:pt x="686" y="416"/>
                      <a:pt x="679" y="444"/>
                      <a:pt x="653" y="459"/>
                    </a:cubicBezTo>
                    <a:cubicBezTo>
                      <a:pt x="642" y="487"/>
                      <a:pt x="604" y="581"/>
                      <a:pt x="582" y="609"/>
                    </a:cubicBezTo>
                    <a:cubicBezTo>
                      <a:pt x="582" y="657"/>
                      <a:pt x="582" y="657"/>
                      <a:pt x="582" y="657"/>
                    </a:cubicBezTo>
                    <a:cubicBezTo>
                      <a:pt x="578" y="662"/>
                      <a:pt x="578" y="662"/>
                      <a:pt x="578" y="662"/>
                    </a:cubicBezTo>
                    <a:cubicBezTo>
                      <a:pt x="577" y="663"/>
                      <a:pt x="571" y="671"/>
                      <a:pt x="560" y="682"/>
                    </a:cubicBezTo>
                    <a:cubicBezTo>
                      <a:pt x="560" y="627"/>
                      <a:pt x="560" y="627"/>
                      <a:pt x="560" y="627"/>
                    </a:cubicBezTo>
                    <a:cubicBezTo>
                      <a:pt x="531" y="649"/>
                      <a:pt x="483" y="675"/>
                      <a:pt x="451" y="675"/>
                    </a:cubicBezTo>
                    <a:cubicBezTo>
                      <a:pt x="419" y="675"/>
                      <a:pt x="372" y="649"/>
                      <a:pt x="342" y="627"/>
                    </a:cubicBezTo>
                    <a:cubicBezTo>
                      <a:pt x="342" y="682"/>
                      <a:pt x="342" y="682"/>
                      <a:pt x="342" y="682"/>
                    </a:cubicBezTo>
                    <a:cubicBezTo>
                      <a:pt x="331" y="671"/>
                      <a:pt x="325" y="663"/>
                      <a:pt x="324" y="662"/>
                    </a:cubicBezTo>
                    <a:cubicBezTo>
                      <a:pt x="321" y="657"/>
                      <a:pt x="321" y="657"/>
                      <a:pt x="321" y="657"/>
                    </a:cubicBezTo>
                    <a:cubicBezTo>
                      <a:pt x="321" y="609"/>
                      <a:pt x="321" y="609"/>
                      <a:pt x="321" y="609"/>
                    </a:cubicBezTo>
                    <a:cubicBezTo>
                      <a:pt x="307" y="592"/>
                      <a:pt x="288" y="552"/>
                      <a:pt x="273" y="515"/>
                    </a:cubicBezTo>
                    <a:cubicBezTo>
                      <a:pt x="239" y="486"/>
                      <a:pt x="212" y="448"/>
                      <a:pt x="195" y="406"/>
                    </a:cubicBezTo>
                    <a:cubicBezTo>
                      <a:pt x="193" y="409"/>
                      <a:pt x="189" y="412"/>
                      <a:pt x="185" y="412"/>
                    </a:cubicBezTo>
                    <a:cubicBezTo>
                      <a:pt x="165" y="412"/>
                      <a:pt x="165" y="412"/>
                      <a:pt x="165" y="412"/>
                    </a:cubicBezTo>
                    <a:cubicBezTo>
                      <a:pt x="159" y="412"/>
                      <a:pt x="154" y="406"/>
                      <a:pt x="154" y="400"/>
                    </a:cubicBezTo>
                    <a:close/>
                    <a:moveTo>
                      <a:pt x="682" y="283"/>
                    </a:moveTo>
                    <a:cubicBezTo>
                      <a:pt x="682" y="152"/>
                      <a:pt x="581" y="46"/>
                      <a:pt x="448" y="46"/>
                    </a:cubicBezTo>
                    <a:cubicBezTo>
                      <a:pt x="316" y="46"/>
                      <a:pt x="215" y="152"/>
                      <a:pt x="215" y="283"/>
                    </a:cubicBezTo>
                    <a:cubicBezTo>
                      <a:pt x="215" y="312"/>
                      <a:pt x="219" y="370"/>
                      <a:pt x="228" y="381"/>
                    </a:cubicBezTo>
                    <a:cubicBezTo>
                      <a:pt x="250" y="402"/>
                      <a:pt x="253" y="290"/>
                      <a:pt x="319" y="245"/>
                    </a:cubicBezTo>
                    <a:cubicBezTo>
                      <a:pt x="327" y="241"/>
                      <a:pt x="342" y="232"/>
                      <a:pt x="342" y="232"/>
                    </a:cubicBezTo>
                    <a:cubicBezTo>
                      <a:pt x="488" y="232"/>
                      <a:pt x="600" y="386"/>
                      <a:pt x="626" y="400"/>
                    </a:cubicBezTo>
                    <a:cubicBezTo>
                      <a:pt x="636" y="406"/>
                      <a:pt x="649" y="403"/>
                      <a:pt x="662" y="398"/>
                    </a:cubicBezTo>
                    <a:cubicBezTo>
                      <a:pt x="669" y="396"/>
                      <a:pt x="676" y="392"/>
                      <a:pt x="682" y="389"/>
                    </a:cubicBezTo>
                    <a:cubicBezTo>
                      <a:pt x="691" y="384"/>
                      <a:pt x="698" y="379"/>
                      <a:pt x="698" y="379"/>
                    </a:cubicBezTo>
                    <a:cubicBezTo>
                      <a:pt x="684" y="360"/>
                      <a:pt x="680" y="341"/>
                      <a:pt x="681" y="328"/>
                    </a:cubicBezTo>
                    <a:cubicBezTo>
                      <a:pt x="682" y="313"/>
                      <a:pt x="682" y="299"/>
                      <a:pt x="682" y="283"/>
                    </a:cubicBezTo>
                    <a:close/>
                    <a:moveTo>
                      <a:pt x="894" y="865"/>
                    </a:moveTo>
                    <a:cubicBezTo>
                      <a:pt x="880" y="829"/>
                      <a:pt x="840" y="733"/>
                      <a:pt x="786" y="708"/>
                    </a:cubicBezTo>
                    <a:cubicBezTo>
                      <a:pt x="718" y="677"/>
                      <a:pt x="593" y="675"/>
                      <a:pt x="593" y="675"/>
                    </a:cubicBezTo>
                    <a:cubicBezTo>
                      <a:pt x="593" y="675"/>
                      <a:pt x="513" y="742"/>
                      <a:pt x="451" y="791"/>
                    </a:cubicBezTo>
                    <a:cubicBezTo>
                      <a:pt x="450" y="793"/>
                      <a:pt x="447" y="793"/>
                      <a:pt x="445" y="791"/>
                    </a:cubicBezTo>
                    <a:cubicBezTo>
                      <a:pt x="400" y="755"/>
                      <a:pt x="303" y="675"/>
                      <a:pt x="303" y="675"/>
                    </a:cubicBezTo>
                    <a:cubicBezTo>
                      <a:pt x="303" y="675"/>
                      <a:pt x="178" y="677"/>
                      <a:pt x="111" y="708"/>
                    </a:cubicBezTo>
                    <a:cubicBezTo>
                      <a:pt x="56" y="733"/>
                      <a:pt x="16" y="829"/>
                      <a:pt x="2" y="865"/>
                    </a:cubicBezTo>
                    <a:cubicBezTo>
                      <a:pt x="0" y="873"/>
                      <a:pt x="5" y="880"/>
                      <a:pt x="12" y="880"/>
                    </a:cubicBezTo>
                    <a:cubicBezTo>
                      <a:pt x="884" y="880"/>
                      <a:pt x="884" y="880"/>
                      <a:pt x="884" y="880"/>
                    </a:cubicBezTo>
                    <a:cubicBezTo>
                      <a:pt x="891" y="880"/>
                      <a:pt x="896" y="873"/>
                      <a:pt x="894" y="865"/>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grpSp>
      <p:grpSp>
        <p:nvGrpSpPr>
          <p:cNvPr id="40" name="Group 39">
            <a:extLst>
              <a:ext uri="{FF2B5EF4-FFF2-40B4-BE49-F238E27FC236}">
                <a16:creationId xmlns:a16="http://schemas.microsoft.com/office/drawing/2014/main" id="{D065C915-2DC5-8115-8297-C72ECC529EFD}"/>
              </a:ext>
            </a:extLst>
          </p:cNvPr>
          <p:cNvGrpSpPr/>
          <p:nvPr/>
        </p:nvGrpSpPr>
        <p:grpSpPr>
          <a:xfrm>
            <a:off x="11371255" y="1727712"/>
            <a:ext cx="720000" cy="720000"/>
            <a:chOff x="6351188" y="919137"/>
            <a:chExt cx="720000" cy="720000"/>
          </a:xfrm>
        </p:grpSpPr>
        <p:sp>
          <p:nvSpPr>
            <p:cNvPr id="41" name="Oval 40">
              <a:extLst>
                <a:ext uri="{FF2B5EF4-FFF2-40B4-BE49-F238E27FC236}">
                  <a16:creationId xmlns:a16="http://schemas.microsoft.com/office/drawing/2014/main" id="{E12757FF-9EBF-FBC0-E15F-C59615DFE3EA}"/>
                </a:ext>
              </a:extLst>
            </p:cNvPr>
            <p:cNvSpPr/>
            <p:nvPr>
              <p:custDataLst>
                <p:tags r:id="rId8"/>
              </p:custDataLst>
            </p:nvPr>
          </p:nvSpPr>
          <p:spPr>
            <a:xfrm>
              <a:off x="6351188" y="919137"/>
              <a:ext cx="720000" cy="720000"/>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lumMod val="50000"/>
                  </a:prstClr>
                </a:solidFill>
                <a:effectLst/>
                <a:uLnTx/>
                <a:uFillTx/>
                <a:latin typeface="Trebuchet MS"/>
                <a:ea typeface="+mn-ea"/>
                <a:cs typeface="+mn-cs"/>
              </a:endParaRPr>
            </a:p>
          </p:txBody>
        </p:sp>
        <p:sp>
          <p:nvSpPr>
            <p:cNvPr id="42" name="Freeform 17">
              <a:extLst>
                <a:ext uri="{FF2B5EF4-FFF2-40B4-BE49-F238E27FC236}">
                  <a16:creationId xmlns:a16="http://schemas.microsoft.com/office/drawing/2014/main" id="{34366D99-82B2-420E-CE7C-05340DD10BBE}"/>
                </a:ext>
              </a:extLst>
            </p:cNvPr>
            <p:cNvSpPr>
              <a:spLocks noEditPoints="1"/>
            </p:cNvSpPr>
            <p:nvPr/>
          </p:nvSpPr>
          <p:spPr bwMode="auto">
            <a:xfrm>
              <a:off x="6448813" y="1110835"/>
              <a:ext cx="517064" cy="325185"/>
            </a:xfrm>
            <a:custGeom>
              <a:avLst/>
              <a:gdLst>
                <a:gd name="T0" fmla="*/ 738 w 886"/>
                <a:gd name="T1" fmla="*/ 209 h 558"/>
                <a:gd name="T2" fmla="*/ 554 w 886"/>
                <a:gd name="T3" fmla="*/ 370 h 558"/>
                <a:gd name="T4" fmla="*/ 412 w 886"/>
                <a:gd name="T5" fmla="*/ 276 h 558"/>
                <a:gd name="T6" fmla="*/ 327 w 886"/>
                <a:gd name="T7" fmla="*/ 337 h 558"/>
                <a:gd name="T8" fmla="*/ 226 w 886"/>
                <a:gd name="T9" fmla="*/ 446 h 558"/>
                <a:gd name="T10" fmla="*/ 53 w 886"/>
                <a:gd name="T11" fmla="*/ 508 h 558"/>
                <a:gd name="T12" fmla="*/ 23 w 886"/>
                <a:gd name="T13" fmla="*/ 515 h 558"/>
                <a:gd name="T14" fmla="*/ 47 w 886"/>
                <a:gd name="T15" fmla="*/ 558 h 558"/>
                <a:gd name="T16" fmla="*/ 863 w 886"/>
                <a:gd name="T17" fmla="*/ 534 h 558"/>
                <a:gd name="T18" fmla="*/ 855 w 886"/>
                <a:gd name="T19" fmla="*/ 116 h 558"/>
                <a:gd name="T20" fmla="*/ 879 w 886"/>
                <a:gd name="T21" fmla="*/ 10 h 558"/>
                <a:gd name="T22" fmla="*/ 780 w 886"/>
                <a:gd name="T23" fmla="*/ 63 h 558"/>
                <a:gd name="T24" fmla="*/ 701 w 886"/>
                <a:gd name="T25" fmla="*/ 109 h 558"/>
                <a:gd name="T26" fmla="*/ 703 w 886"/>
                <a:gd name="T27" fmla="*/ 124 h 558"/>
                <a:gd name="T28" fmla="*/ 580 w 886"/>
                <a:gd name="T29" fmla="*/ 223 h 558"/>
                <a:gd name="T30" fmla="*/ 520 w 886"/>
                <a:gd name="T31" fmla="*/ 229 h 558"/>
                <a:gd name="T32" fmla="*/ 519 w 886"/>
                <a:gd name="T33" fmla="*/ 230 h 558"/>
                <a:gd name="T34" fmla="*/ 427 w 886"/>
                <a:gd name="T35" fmla="*/ 184 h 558"/>
                <a:gd name="T36" fmla="*/ 375 w 886"/>
                <a:gd name="T37" fmla="*/ 130 h 558"/>
                <a:gd name="T38" fmla="*/ 327 w 886"/>
                <a:gd name="T39" fmla="*/ 202 h 558"/>
                <a:gd name="T40" fmla="*/ 328 w 886"/>
                <a:gd name="T41" fmla="*/ 204 h 558"/>
                <a:gd name="T42" fmla="*/ 226 w 886"/>
                <a:gd name="T43" fmla="*/ 293 h 558"/>
                <a:gd name="T44" fmla="*/ 174 w 886"/>
                <a:gd name="T45" fmla="*/ 348 h 558"/>
                <a:gd name="T46" fmla="*/ 174 w 886"/>
                <a:gd name="T47" fmla="*/ 349 h 558"/>
                <a:gd name="T48" fmla="*/ 5 w 886"/>
                <a:gd name="T49" fmla="*/ 456 h 558"/>
                <a:gd name="T50" fmla="*/ 32 w 886"/>
                <a:gd name="T51" fmla="*/ 465 h 558"/>
                <a:gd name="T52" fmla="*/ 226 w 886"/>
                <a:gd name="T53" fmla="*/ 398 h 558"/>
                <a:gd name="T54" fmla="*/ 273 w 886"/>
                <a:gd name="T55" fmla="*/ 323 h 558"/>
                <a:gd name="T56" fmla="*/ 375 w 886"/>
                <a:gd name="T57" fmla="*/ 234 h 558"/>
                <a:gd name="T58" fmla="*/ 502 w 886"/>
                <a:gd name="T59" fmla="*/ 265 h 558"/>
                <a:gd name="T60" fmla="*/ 501 w 886"/>
                <a:gd name="T61" fmla="*/ 267 h 558"/>
                <a:gd name="T62" fmla="*/ 554 w 886"/>
                <a:gd name="T63" fmla="*/ 321 h 558"/>
                <a:gd name="T64" fmla="*/ 605 w 886"/>
                <a:gd name="T65" fmla="*/ 256 h 558"/>
                <a:gd name="T66" fmla="*/ 605 w 886"/>
                <a:gd name="T67" fmla="*/ 254 h 558"/>
                <a:gd name="T68" fmla="*/ 754 w 886"/>
                <a:gd name="T69" fmla="*/ 162 h 558"/>
                <a:gd name="T70" fmla="*/ 805 w 886"/>
                <a:gd name="T71" fmla="*/ 96 h 558"/>
                <a:gd name="T72" fmla="*/ 876 w 886"/>
                <a:gd name="T73" fmla="*/ 37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86" h="558">
                  <a:moveTo>
                    <a:pt x="754" y="211"/>
                  </a:moveTo>
                  <a:cubicBezTo>
                    <a:pt x="749" y="211"/>
                    <a:pt x="744" y="210"/>
                    <a:pt x="738" y="209"/>
                  </a:cubicBezTo>
                  <a:cubicBezTo>
                    <a:pt x="655" y="276"/>
                    <a:pt x="655" y="276"/>
                    <a:pt x="655" y="276"/>
                  </a:cubicBezTo>
                  <a:cubicBezTo>
                    <a:pt x="652" y="328"/>
                    <a:pt x="608" y="370"/>
                    <a:pt x="554" y="370"/>
                  </a:cubicBezTo>
                  <a:cubicBezTo>
                    <a:pt x="509" y="370"/>
                    <a:pt x="470" y="339"/>
                    <a:pt x="457" y="298"/>
                  </a:cubicBezTo>
                  <a:cubicBezTo>
                    <a:pt x="412" y="276"/>
                    <a:pt x="412" y="276"/>
                    <a:pt x="412" y="276"/>
                  </a:cubicBezTo>
                  <a:cubicBezTo>
                    <a:pt x="400" y="280"/>
                    <a:pt x="388" y="283"/>
                    <a:pt x="376" y="283"/>
                  </a:cubicBezTo>
                  <a:cubicBezTo>
                    <a:pt x="327" y="337"/>
                    <a:pt x="327" y="337"/>
                    <a:pt x="327" y="337"/>
                  </a:cubicBezTo>
                  <a:cubicBezTo>
                    <a:pt x="327" y="340"/>
                    <a:pt x="327" y="343"/>
                    <a:pt x="327" y="346"/>
                  </a:cubicBezTo>
                  <a:cubicBezTo>
                    <a:pt x="327" y="401"/>
                    <a:pt x="282" y="446"/>
                    <a:pt x="226" y="446"/>
                  </a:cubicBezTo>
                  <a:cubicBezTo>
                    <a:pt x="214" y="446"/>
                    <a:pt x="202" y="444"/>
                    <a:pt x="191" y="440"/>
                  </a:cubicBezTo>
                  <a:cubicBezTo>
                    <a:pt x="53" y="508"/>
                    <a:pt x="53" y="508"/>
                    <a:pt x="53" y="508"/>
                  </a:cubicBezTo>
                  <a:cubicBezTo>
                    <a:pt x="44" y="513"/>
                    <a:pt x="33" y="515"/>
                    <a:pt x="23" y="515"/>
                  </a:cubicBezTo>
                  <a:cubicBezTo>
                    <a:pt x="23" y="515"/>
                    <a:pt x="23" y="515"/>
                    <a:pt x="23" y="515"/>
                  </a:cubicBezTo>
                  <a:cubicBezTo>
                    <a:pt x="23" y="534"/>
                    <a:pt x="23" y="534"/>
                    <a:pt x="23" y="534"/>
                  </a:cubicBezTo>
                  <a:cubicBezTo>
                    <a:pt x="23" y="547"/>
                    <a:pt x="34" y="558"/>
                    <a:pt x="47" y="558"/>
                  </a:cubicBezTo>
                  <a:cubicBezTo>
                    <a:pt x="839" y="558"/>
                    <a:pt x="839" y="558"/>
                    <a:pt x="839" y="558"/>
                  </a:cubicBezTo>
                  <a:cubicBezTo>
                    <a:pt x="852" y="558"/>
                    <a:pt x="863" y="547"/>
                    <a:pt x="863" y="534"/>
                  </a:cubicBezTo>
                  <a:cubicBezTo>
                    <a:pt x="863" y="110"/>
                    <a:pt x="863" y="110"/>
                    <a:pt x="863" y="110"/>
                  </a:cubicBezTo>
                  <a:cubicBezTo>
                    <a:pt x="855" y="116"/>
                    <a:pt x="855" y="116"/>
                    <a:pt x="855" y="116"/>
                  </a:cubicBezTo>
                  <a:cubicBezTo>
                    <a:pt x="852" y="169"/>
                    <a:pt x="808" y="211"/>
                    <a:pt x="754" y="211"/>
                  </a:cubicBezTo>
                  <a:close/>
                  <a:moveTo>
                    <a:pt x="879" y="10"/>
                  </a:moveTo>
                  <a:cubicBezTo>
                    <a:pt x="872" y="1"/>
                    <a:pt x="859" y="0"/>
                    <a:pt x="851" y="6"/>
                  </a:cubicBezTo>
                  <a:cubicBezTo>
                    <a:pt x="780" y="63"/>
                    <a:pt x="780" y="63"/>
                    <a:pt x="780" y="63"/>
                  </a:cubicBezTo>
                  <a:cubicBezTo>
                    <a:pt x="772" y="59"/>
                    <a:pt x="763" y="56"/>
                    <a:pt x="754" y="56"/>
                  </a:cubicBezTo>
                  <a:cubicBezTo>
                    <a:pt x="725" y="56"/>
                    <a:pt x="701" y="80"/>
                    <a:pt x="701" y="109"/>
                  </a:cubicBezTo>
                  <a:cubicBezTo>
                    <a:pt x="701" y="113"/>
                    <a:pt x="702" y="117"/>
                    <a:pt x="703" y="122"/>
                  </a:cubicBezTo>
                  <a:cubicBezTo>
                    <a:pt x="703" y="124"/>
                    <a:pt x="703" y="124"/>
                    <a:pt x="703" y="124"/>
                  </a:cubicBezTo>
                  <a:cubicBezTo>
                    <a:pt x="703" y="124"/>
                    <a:pt x="703" y="124"/>
                    <a:pt x="703" y="124"/>
                  </a:cubicBezTo>
                  <a:cubicBezTo>
                    <a:pt x="580" y="223"/>
                    <a:pt x="580" y="223"/>
                    <a:pt x="580" y="223"/>
                  </a:cubicBezTo>
                  <a:cubicBezTo>
                    <a:pt x="572" y="219"/>
                    <a:pt x="564" y="217"/>
                    <a:pt x="554" y="217"/>
                  </a:cubicBezTo>
                  <a:cubicBezTo>
                    <a:pt x="542" y="217"/>
                    <a:pt x="530" y="221"/>
                    <a:pt x="520" y="229"/>
                  </a:cubicBezTo>
                  <a:cubicBezTo>
                    <a:pt x="519" y="229"/>
                    <a:pt x="519" y="229"/>
                    <a:pt x="519" y="229"/>
                  </a:cubicBezTo>
                  <a:cubicBezTo>
                    <a:pt x="519" y="230"/>
                    <a:pt x="519" y="230"/>
                    <a:pt x="519" y="230"/>
                  </a:cubicBezTo>
                  <a:cubicBezTo>
                    <a:pt x="427" y="185"/>
                    <a:pt x="427" y="185"/>
                    <a:pt x="427" y="185"/>
                  </a:cubicBezTo>
                  <a:cubicBezTo>
                    <a:pt x="427" y="184"/>
                    <a:pt x="427" y="184"/>
                    <a:pt x="427" y="184"/>
                  </a:cubicBezTo>
                  <a:cubicBezTo>
                    <a:pt x="427" y="182"/>
                    <a:pt x="427" y="182"/>
                    <a:pt x="427" y="182"/>
                  </a:cubicBezTo>
                  <a:cubicBezTo>
                    <a:pt x="427" y="153"/>
                    <a:pt x="404" y="130"/>
                    <a:pt x="375" y="130"/>
                  </a:cubicBezTo>
                  <a:cubicBezTo>
                    <a:pt x="346" y="130"/>
                    <a:pt x="323" y="153"/>
                    <a:pt x="323" y="182"/>
                  </a:cubicBezTo>
                  <a:cubicBezTo>
                    <a:pt x="323" y="189"/>
                    <a:pt x="324" y="195"/>
                    <a:pt x="327" y="202"/>
                  </a:cubicBezTo>
                  <a:cubicBezTo>
                    <a:pt x="328" y="204"/>
                    <a:pt x="328" y="204"/>
                    <a:pt x="328" y="204"/>
                  </a:cubicBezTo>
                  <a:cubicBezTo>
                    <a:pt x="328" y="204"/>
                    <a:pt x="328" y="204"/>
                    <a:pt x="328" y="204"/>
                  </a:cubicBezTo>
                  <a:cubicBezTo>
                    <a:pt x="244" y="297"/>
                    <a:pt x="244" y="297"/>
                    <a:pt x="244" y="297"/>
                  </a:cubicBezTo>
                  <a:cubicBezTo>
                    <a:pt x="238" y="294"/>
                    <a:pt x="233" y="293"/>
                    <a:pt x="226" y="293"/>
                  </a:cubicBezTo>
                  <a:cubicBezTo>
                    <a:pt x="197" y="293"/>
                    <a:pt x="174" y="317"/>
                    <a:pt x="174" y="346"/>
                  </a:cubicBezTo>
                  <a:cubicBezTo>
                    <a:pt x="174" y="348"/>
                    <a:pt x="174" y="348"/>
                    <a:pt x="174" y="348"/>
                  </a:cubicBezTo>
                  <a:cubicBezTo>
                    <a:pt x="174" y="349"/>
                    <a:pt x="174" y="349"/>
                    <a:pt x="174" y="349"/>
                  </a:cubicBezTo>
                  <a:cubicBezTo>
                    <a:pt x="174" y="349"/>
                    <a:pt x="174" y="349"/>
                    <a:pt x="174" y="349"/>
                  </a:cubicBezTo>
                  <a:cubicBezTo>
                    <a:pt x="14" y="429"/>
                    <a:pt x="14" y="429"/>
                    <a:pt x="14" y="429"/>
                  </a:cubicBezTo>
                  <a:cubicBezTo>
                    <a:pt x="4" y="434"/>
                    <a:pt x="0" y="446"/>
                    <a:pt x="5" y="456"/>
                  </a:cubicBezTo>
                  <a:cubicBezTo>
                    <a:pt x="9" y="463"/>
                    <a:pt x="16" y="467"/>
                    <a:pt x="23" y="467"/>
                  </a:cubicBezTo>
                  <a:cubicBezTo>
                    <a:pt x="26" y="467"/>
                    <a:pt x="29" y="466"/>
                    <a:pt x="32" y="465"/>
                  </a:cubicBezTo>
                  <a:cubicBezTo>
                    <a:pt x="192" y="385"/>
                    <a:pt x="192" y="385"/>
                    <a:pt x="192" y="385"/>
                  </a:cubicBezTo>
                  <a:cubicBezTo>
                    <a:pt x="201" y="393"/>
                    <a:pt x="214" y="398"/>
                    <a:pt x="226" y="398"/>
                  </a:cubicBezTo>
                  <a:cubicBezTo>
                    <a:pt x="255" y="398"/>
                    <a:pt x="278" y="374"/>
                    <a:pt x="278" y="346"/>
                  </a:cubicBezTo>
                  <a:cubicBezTo>
                    <a:pt x="278" y="338"/>
                    <a:pt x="277" y="331"/>
                    <a:pt x="273" y="323"/>
                  </a:cubicBezTo>
                  <a:cubicBezTo>
                    <a:pt x="358" y="231"/>
                    <a:pt x="358" y="231"/>
                    <a:pt x="358" y="231"/>
                  </a:cubicBezTo>
                  <a:cubicBezTo>
                    <a:pt x="363" y="233"/>
                    <a:pt x="369" y="234"/>
                    <a:pt x="375" y="234"/>
                  </a:cubicBezTo>
                  <a:cubicBezTo>
                    <a:pt x="388" y="234"/>
                    <a:pt x="400" y="229"/>
                    <a:pt x="410" y="221"/>
                  </a:cubicBezTo>
                  <a:cubicBezTo>
                    <a:pt x="502" y="265"/>
                    <a:pt x="502" y="265"/>
                    <a:pt x="502" y="265"/>
                  </a:cubicBezTo>
                  <a:cubicBezTo>
                    <a:pt x="502" y="265"/>
                    <a:pt x="501" y="266"/>
                    <a:pt x="501" y="266"/>
                  </a:cubicBezTo>
                  <a:cubicBezTo>
                    <a:pt x="501" y="267"/>
                    <a:pt x="501" y="267"/>
                    <a:pt x="501" y="267"/>
                  </a:cubicBezTo>
                  <a:cubicBezTo>
                    <a:pt x="501" y="269"/>
                    <a:pt x="501" y="269"/>
                    <a:pt x="501" y="269"/>
                  </a:cubicBezTo>
                  <a:cubicBezTo>
                    <a:pt x="501" y="298"/>
                    <a:pt x="525" y="321"/>
                    <a:pt x="554" y="321"/>
                  </a:cubicBezTo>
                  <a:cubicBezTo>
                    <a:pt x="583" y="321"/>
                    <a:pt x="607" y="298"/>
                    <a:pt x="607" y="269"/>
                  </a:cubicBezTo>
                  <a:cubicBezTo>
                    <a:pt x="607" y="263"/>
                    <a:pt x="606" y="259"/>
                    <a:pt x="605" y="256"/>
                  </a:cubicBezTo>
                  <a:cubicBezTo>
                    <a:pt x="605" y="255"/>
                    <a:pt x="605" y="255"/>
                    <a:pt x="605" y="255"/>
                  </a:cubicBezTo>
                  <a:cubicBezTo>
                    <a:pt x="605" y="254"/>
                    <a:pt x="605" y="254"/>
                    <a:pt x="605" y="254"/>
                  </a:cubicBezTo>
                  <a:cubicBezTo>
                    <a:pt x="728" y="155"/>
                    <a:pt x="728" y="155"/>
                    <a:pt x="728" y="155"/>
                  </a:cubicBezTo>
                  <a:cubicBezTo>
                    <a:pt x="736" y="160"/>
                    <a:pt x="745" y="162"/>
                    <a:pt x="754" y="162"/>
                  </a:cubicBezTo>
                  <a:cubicBezTo>
                    <a:pt x="783" y="162"/>
                    <a:pt x="807" y="138"/>
                    <a:pt x="807" y="109"/>
                  </a:cubicBezTo>
                  <a:cubicBezTo>
                    <a:pt x="807" y="104"/>
                    <a:pt x="806" y="98"/>
                    <a:pt x="805" y="96"/>
                  </a:cubicBezTo>
                  <a:cubicBezTo>
                    <a:pt x="805" y="95"/>
                    <a:pt x="805" y="95"/>
                    <a:pt x="805" y="94"/>
                  </a:cubicBezTo>
                  <a:cubicBezTo>
                    <a:pt x="876" y="37"/>
                    <a:pt x="876" y="37"/>
                    <a:pt x="876" y="37"/>
                  </a:cubicBezTo>
                  <a:cubicBezTo>
                    <a:pt x="884" y="31"/>
                    <a:pt x="886" y="18"/>
                    <a:pt x="879" y="1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2296" tIns="41148" rIns="82296" bIns="41148"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sp>
        <p:nvSpPr>
          <p:cNvPr id="43" name="Oval 20">
            <a:extLst>
              <a:ext uri="{FF2B5EF4-FFF2-40B4-BE49-F238E27FC236}">
                <a16:creationId xmlns:a16="http://schemas.microsoft.com/office/drawing/2014/main" id="{EF2A6D00-42FD-4CC7-9617-BA49518D04B5}"/>
              </a:ext>
            </a:extLst>
          </p:cNvPr>
          <p:cNvSpPr>
            <a:spLocks noChangeAspect="1" noChangeArrowheads="1"/>
          </p:cNvSpPr>
          <p:nvPr/>
        </p:nvSpPr>
        <p:spPr bwMode="auto">
          <a:xfrm>
            <a:off x="11614350" y="190800"/>
            <a:ext cx="432000" cy="432000"/>
          </a:xfrm>
          <a:prstGeom prst="ellipse">
            <a:avLst/>
          </a:prstGeom>
          <a:solidFill>
            <a:srgbClr val="FFFFFF"/>
          </a:solidFill>
          <a:ln w="9525" cap="flat" cmpd="sng" algn="ctr">
            <a:solidFill>
              <a:srgbClr val="29BA74"/>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9BA74"/>
                </a:solidFill>
                <a:effectLst/>
                <a:uLnTx/>
                <a:uFillTx/>
                <a:latin typeface="Trebuchet MS"/>
                <a:ea typeface="+mn-ea"/>
                <a:cs typeface="+mn-cs"/>
              </a:rPr>
              <a:t>A</a:t>
            </a:r>
            <a:endParaRPr kumimoji="0" lang="en-US" sz="1000" b="0" i="0" u="none" strike="noStrike" kern="1200" cap="none" spc="0" normalizeH="0" baseline="0" noProof="0">
              <a:ln>
                <a:noFill/>
              </a:ln>
              <a:solidFill>
                <a:srgbClr val="29BA74"/>
              </a:solidFill>
              <a:effectLst/>
              <a:uLnTx/>
              <a:uFillTx/>
              <a:latin typeface="Trebuchet MS"/>
              <a:ea typeface="+mn-ea"/>
              <a:cs typeface="+mn-cs"/>
            </a:endParaRPr>
          </a:p>
        </p:txBody>
      </p:sp>
      <p:sp>
        <p:nvSpPr>
          <p:cNvPr id="44" name="TextBox 43">
            <a:extLst>
              <a:ext uri="{FF2B5EF4-FFF2-40B4-BE49-F238E27FC236}">
                <a16:creationId xmlns:a16="http://schemas.microsoft.com/office/drawing/2014/main" id="{1409A0DD-5BFC-41D9-8F74-18FE867D4BDF}"/>
              </a:ext>
            </a:extLst>
          </p:cNvPr>
          <p:cNvSpPr txBox="1"/>
          <p:nvPr/>
        </p:nvSpPr>
        <p:spPr>
          <a:xfrm>
            <a:off x="5472579" y="202961"/>
            <a:ext cx="6073197" cy="401816"/>
          </a:xfrm>
          <a:prstGeom prst="rect">
            <a:avLst/>
          </a:prstGeom>
          <a:noFill/>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txBody>
          <a:bodyPr wrap="square" lIns="93761" tIns="92285" rIns="93761" bIns="92285" rtlCol="0" anchor="t">
            <a:spAutoFit/>
          </a:bodyPr>
          <a:lstStyle/>
          <a:p>
            <a:pPr marL="0" marR="0" lvl="0" indent="0" algn="r" defTabSz="685800" rtl="0" eaLnBrk="1" fontAlgn="auto" latinLnBrk="0" hangingPunct="1">
              <a:lnSpc>
                <a:spcPct val="100000"/>
              </a:lnSpc>
              <a:spcBef>
                <a:spcPts val="0"/>
              </a:spcBef>
              <a:spcAft>
                <a:spcPts val="0"/>
              </a:spcAft>
              <a:buClrTx/>
              <a:buSzTx/>
              <a:buFontTx/>
              <a:buNone/>
              <a:tabLst/>
              <a:defRPr/>
            </a:pPr>
            <a:r>
              <a:rPr kumimoji="0" lang="fi-FI" sz="1400" b="0" i="0" u="none" strike="noStrike" kern="1200" cap="none" spc="0" normalizeH="0" baseline="0" noProof="0">
                <a:ln>
                  <a:noFill/>
                </a:ln>
                <a:solidFill>
                  <a:srgbClr val="29BA74"/>
                </a:solidFill>
                <a:effectLst/>
                <a:uLnTx/>
                <a:uFillTx/>
                <a:latin typeface="OP Chevin Pro Light"/>
                <a:ea typeface="+mn-ea"/>
                <a:cs typeface="+mn-cs"/>
              </a:rPr>
              <a:t>Leveraging data-driven customer pathways</a:t>
            </a:r>
            <a:endParaRPr kumimoji="0" lang="fi-FI" sz="1400" b="0" i="1" u="none" strike="noStrike" kern="1200" cap="none" spc="0" normalizeH="0" baseline="0" noProof="0">
              <a:ln>
                <a:noFill/>
              </a:ln>
              <a:solidFill>
                <a:srgbClr val="29BA74"/>
              </a:solidFill>
              <a:effectLst/>
              <a:uLnTx/>
              <a:uFillTx/>
              <a:latin typeface="OP Chevin Pro Light"/>
              <a:ea typeface="+mn-ea"/>
              <a:cs typeface="+mn-cs"/>
            </a:endParaRPr>
          </a:p>
        </p:txBody>
      </p:sp>
    </p:spTree>
    <p:extLst>
      <p:ext uri="{BB962C8B-B14F-4D97-AF65-F5344CB8AC3E}">
        <p14:creationId xmlns:p14="http://schemas.microsoft.com/office/powerpoint/2010/main" val="33740057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Object 14" hidden="1"/>
          <p:cNvGraphicFramePr>
            <a:graphicFrameLocks noChangeAspect="1"/>
          </p:cNvGraphicFramePr>
          <p:nvPr>
            <p:custDataLst>
              <p:tags r:id="rId1"/>
            </p:custDataLst>
          </p:nvPr>
        </p:nvGraphicFramePr>
        <p:xfrm>
          <a:off x="1589" y="1589"/>
          <a:ext cx="1587" cy="1587"/>
        </p:xfrm>
        <a:graphic>
          <a:graphicData uri="http://schemas.openxmlformats.org/presentationml/2006/ole">
            <mc:AlternateContent xmlns:mc="http://schemas.openxmlformats.org/markup-compatibility/2006">
              <mc:Choice xmlns:v="urn:schemas-microsoft-com:vml" Requires="v">
                <p:oleObj name="think-cell Slide" r:id="rId19" imgW="270" imgH="270" progId="TCLayout.ActiveDocument.1">
                  <p:embed/>
                </p:oleObj>
              </mc:Choice>
              <mc:Fallback>
                <p:oleObj name="think-cell Slide" r:id="rId19" imgW="270" imgH="270" progId="TCLayout.ActiveDocument.1">
                  <p:embed/>
                  <p:pic>
                    <p:nvPicPr>
                      <p:cNvPr id="15" name="Object 14" hidden="1"/>
                      <p:cNvPicPr/>
                      <p:nvPr/>
                    </p:nvPicPr>
                    <p:blipFill>
                      <a:blip r:embed="rId20"/>
                      <a:stretch>
                        <a:fillRect/>
                      </a:stretch>
                    </p:blipFill>
                    <p:spPr>
                      <a:xfrm>
                        <a:off x="1589" y="1589"/>
                        <a:ext cx="1587" cy="1587"/>
                      </a:xfrm>
                      <a:prstGeom prst="rect">
                        <a:avLst/>
                      </a:prstGeom>
                    </p:spPr>
                  </p:pic>
                </p:oleObj>
              </mc:Fallback>
            </mc:AlternateContent>
          </a:graphicData>
        </a:graphic>
      </p:graphicFrame>
      <p:sp>
        <p:nvSpPr>
          <p:cNvPr id="28" name="Rectangle 27">
            <a:extLst>
              <a:ext uri="{FF2B5EF4-FFF2-40B4-BE49-F238E27FC236}">
                <a16:creationId xmlns:a16="http://schemas.microsoft.com/office/drawing/2014/main" id="{9AF8B782-008A-40CE-BB23-796A3E1F45A3}"/>
              </a:ext>
            </a:extLst>
          </p:cNvPr>
          <p:cNvSpPr/>
          <p:nvPr/>
        </p:nvSpPr>
        <p:spPr>
          <a:xfrm>
            <a:off x="6092825" y="2189001"/>
            <a:ext cx="2824163" cy="3053979"/>
          </a:xfrm>
          <a:prstGeom prst="rect">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FFFFFF"/>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6E6E6E"/>
                </a:solidFill>
                <a:effectLst/>
                <a:uLnTx/>
                <a:uFillTx/>
                <a:latin typeface="Trebuchet MS"/>
                <a:ea typeface="+mn-ea"/>
                <a:cs typeface="+mn-cs"/>
              </a:rPr>
              <a:t>Pilot period</a:t>
            </a:r>
          </a:p>
        </p:txBody>
      </p:sp>
      <p:cxnSp>
        <p:nvCxnSpPr>
          <p:cNvPr id="40" name="Straight Connector 39">
            <a:extLst>
              <a:ext uri="{FF2B5EF4-FFF2-40B4-BE49-F238E27FC236}">
                <a16:creationId xmlns:a16="http://schemas.microsoft.com/office/drawing/2014/main" id="{3B78E7BB-B631-44EC-BA92-6C2169AEAF47}"/>
              </a:ext>
            </a:extLst>
          </p:cNvPr>
          <p:cNvCxnSpPr>
            <a:cxnSpLocks/>
          </p:cNvCxnSpPr>
          <p:nvPr/>
        </p:nvCxnSpPr>
        <p:spPr>
          <a:xfrm>
            <a:off x="6097588" y="2282825"/>
            <a:ext cx="0" cy="2962971"/>
          </a:xfrm>
          <a:prstGeom prst="line">
            <a:avLst/>
          </a:prstGeom>
          <a:ln w="9525" cap="flat" cmpd="sng" algn="ctr">
            <a:solidFill>
              <a:schemeClr val="bg2"/>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 name="Rectangle 4" hidden="1">
            <a:extLst>
              <a:ext uri="{FF2B5EF4-FFF2-40B4-BE49-F238E27FC236}">
                <a16:creationId xmlns:a16="http://schemas.microsoft.com/office/drawing/2014/main" id="{B985BA38-C927-409E-9DFD-55AEF960ACD2}"/>
              </a:ext>
            </a:extLst>
          </p:cNvPr>
          <p:cNvSpPr/>
          <p:nvPr>
            <p:custDataLst>
              <p:tags r:id="rId2"/>
            </p:custDataLst>
          </p:nvPr>
        </p:nvSpPr>
        <p:spPr>
          <a:xfrm>
            <a:off x="2" y="2"/>
            <a:ext cx="158751" cy="158751"/>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FFFFFF"/>
              </a:solidFill>
              <a:effectLst/>
              <a:uLnTx/>
              <a:uFillTx/>
              <a:latin typeface="Trebuchet MS" panose="020B0603020202020204" pitchFamily="34" charset="0"/>
              <a:ea typeface="+mn-ea"/>
              <a:cs typeface="+mn-cs"/>
              <a:sym typeface="Trebuchet MS" panose="020B0603020202020204" pitchFamily="34" charset="0"/>
            </a:endParaRPr>
          </a:p>
        </p:txBody>
      </p:sp>
      <p:sp>
        <p:nvSpPr>
          <p:cNvPr id="4" name="Rectangle 3" hidden="1">
            <a:extLst>
              <a:ext uri="{FF2B5EF4-FFF2-40B4-BE49-F238E27FC236}">
                <a16:creationId xmlns:a16="http://schemas.microsoft.com/office/drawing/2014/main" id="{24250499-F407-4349-89B7-6C51155F9D47}"/>
              </a:ext>
            </a:extLst>
          </p:cNvPr>
          <p:cNvSpPr/>
          <p:nvPr>
            <p:custDataLst>
              <p:tags r:id="rId3"/>
            </p:custDataLst>
          </p:nvPr>
        </p:nvSpPr>
        <p:spPr>
          <a:xfrm>
            <a:off x="2" y="2"/>
            <a:ext cx="158751" cy="158751"/>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rebuchet MS" panose="020B0603020202020204" pitchFamily="34" charset="0"/>
              <a:ea typeface="+mn-ea"/>
              <a:cs typeface="+mn-cs"/>
              <a:sym typeface="Trebuchet MS" panose="020B0603020202020204" pitchFamily="34" charset="0"/>
            </a:endParaRPr>
          </a:p>
        </p:txBody>
      </p:sp>
      <p:sp>
        <p:nvSpPr>
          <p:cNvPr id="14" name="Rectangle 13" hidden="1"/>
          <p:cNvSpPr/>
          <p:nvPr>
            <p:custDataLst>
              <p:tags r:id="rId4"/>
            </p:custDataLst>
          </p:nvPr>
        </p:nvSpPr>
        <p:spPr bwMode="gray">
          <a:xfrm>
            <a:off x="2" y="2"/>
            <a:ext cx="158751" cy="158751"/>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ct val="0"/>
              </a:spcBef>
              <a:spcAft>
                <a:spcPct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Trebuchet MS" panose="020B0603020202020204" pitchFamily="34" charset="0"/>
              <a:ea typeface="+mn-ea"/>
              <a:cs typeface="+mn-cs"/>
              <a:sym typeface="Trebuchet MS" panose="020B0603020202020204" pitchFamily="34" charset="0"/>
            </a:endParaRPr>
          </a:p>
        </p:txBody>
      </p:sp>
      <p:graphicFrame>
        <p:nvGraphicFramePr>
          <p:cNvPr id="36" name="Chart 35">
            <a:extLst>
              <a:ext uri="{FF2B5EF4-FFF2-40B4-BE49-F238E27FC236}">
                <a16:creationId xmlns:a16="http://schemas.microsoft.com/office/drawing/2014/main" id="{A25CB97D-FB90-40BF-B955-EAE256DA9C4C}"/>
              </a:ext>
            </a:extLst>
          </p:cNvPr>
          <p:cNvGraphicFramePr/>
          <p:nvPr>
            <p:custDataLst>
              <p:tags r:id="rId5"/>
            </p:custDataLst>
          </p:nvPr>
        </p:nvGraphicFramePr>
        <p:xfrm>
          <a:off x="795338" y="2471738"/>
          <a:ext cx="8178800" cy="3016250"/>
        </p:xfrm>
        <a:graphic>
          <a:graphicData uri="http://schemas.openxmlformats.org/drawingml/2006/chart">
            <c:chart xmlns:c="http://schemas.openxmlformats.org/drawingml/2006/chart" xmlns:r="http://schemas.openxmlformats.org/officeDocument/2006/relationships" r:id="rId21"/>
          </a:graphicData>
        </a:graphic>
      </p:graphicFrame>
      <p:sp>
        <p:nvSpPr>
          <p:cNvPr id="31" name="Text Placeholder 2">
            <a:extLst>
              <a:ext uri="{FF2B5EF4-FFF2-40B4-BE49-F238E27FC236}">
                <a16:creationId xmlns:a16="http://schemas.microsoft.com/office/drawing/2014/main" id="{5FE4DD11-D38E-4A0A-9928-771F754D7683}"/>
              </a:ext>
            </a:extLst>
          </p:cNvPr>
          <p:cNvSpPr>
            <a:spLocks noGrp="1"/>
          </p:cNvSpPr>
          <p:nvPr>
            <p:custDataLst>
              <p:tags r:id="rId6"/>
            </p:custDataLst>
          </p:nvPr>
        </p:nvSpPr>
        <p:spPr bwMode="gray">
          <a:xfrm>
            <a:off x="7991475" y="5538788"/>
            <a:ext cx="860425" cy="150813"/>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269875" indent="-269875" algn="l" defTabSz="685800" rtl="0" eaLnBrk="1" latinLnBrk="0" hangingPunct="1">
              <a:lnSpc>
                <a:spcPct val="90000"/>
              </a:lnSpc>
              <a:spcBef>
                <a:spcPts val="750"/>
              </a:spcBef>
              <a:buClr>
                <a:schemeClr val="accent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1pPr>
            <a:lvl2pPr marL="539750" indent="-269875"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2pPr>
            <a:lvl3pPr marL="80645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3pPr>
            <a:lvl4pPr marL="1079500" indent="-27305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4pPr>
            <a:lvl5pPr marL="134620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5pPr>
            <a:lvl6pPr marL="161290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6pPr>
            <a:lvl7pPr marL="1885950" indent="-27305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7pPr>
            <a:lvl8pPr marL="215265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8pPr>
            <a:lvl9pPr marL="241935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9pPr>
          </a:lstStyle>
          <a:p>
            <a:pPr marL="0" marR="0" lvl="0" indent="0" algn="r" defTabSz="685800" rtl="0" eaLnBrk="1" fontAlgn="auto" latinLnBrk="0" hangingPunct="1">
              <a:lnSpc>
                <a:spcPct val="90000"/>
              </a:lnSpc>
              <a:spcBef>
                <a:spcPct val="0"/>
              </a:spcBef>
              <a:spcAft>
                <a:spcPct val="0"/>
              </a:spcAft>
              <a:buClr>
                <a:srgbClr val="03522D"/>
              </a:buClr>
              <a:buSzTx/>
              <a:buFont typeface="Arial" panose="020B0604020202020204" pitchFamily="34" charset="0"/>
              <a:buNone/>
              <a:tabLst/>
              <a:defRPr/>
            </a:pPr>
            <a:r>
              <a:rPr kumimoji="0" lang="en-US" altLang="en-US" sz="1100" b="0" i="0" u="none" strike="noStrike" kern="1200" cap="none" spc="0" normalizeH="0" baseline="0" noProof="0">
                <a:ln>
                  <a:noFill/>
                </a:ln>
                <a:solidFill>
                  <a:srgbClr val="575757"/>
                </a:solidFill>
                <a:effectLst/>
                <a:uLnTx/>
                <a:uFillTx/>
                <a:latin typeface="Trebuchet MS"/>
                <a:ea typeface="+mn-ea"/>
                <a:cs typeface="+mn-cs"/>
              </a:rPr>
              <a:t>Week number</a:t>
            </a:r>
            <a:endParaRPr kumimoji="0" lang="en-US" sz="1100" b="0" i="0" u="none" strike="noStrike" kern="1200" cap="none" spc="0" normalizeH="0" baseline="0" noProof="0">
              <a:ln>
                <a:noFill/>
              </a:ln>
              <a:solidFill>
                <a:srgbClr val="575757"/>
              </a:solidFill>
              <a:effectLst/>
              <a:uLnTx/>
              <a:uFillTx/>
              <a:latin typeface="Trebuchet MS"/>
              <a:ea typeface="+mn-ea"/>
              <a:cs typeface="+mn-cs"/>
            </a:endParaRPr>
          </a:p>
        </p:txBody>
      </p:sp>
      <p:sp>
        <p:nvSpPr>
          <p:cNvPr id="30" name="Text Placeholder 2">
            <a:extLst>
              <a:ext uri="{FF2B5EF4-FFF2-40B4-BE49-F238E27FC236}">
                <a16:creationId xmlns:a16="http://schemas.microsoft.com/office/drawing/2014/main" id="{4FEF6416-5F79-4B4C-97F5-A3BC57C112E8}"/>
              </a:ext>
            </a:extLst>
          </p:cNvPr>
          <p:cNvSpPr>
            <a:spLocks noGrp="1"/>
          </p:cNvSpPr>
          <p:nvPr>
            <p:custDataLst>
              <p:tags r:id="rId7"/>
            </p:custDataLst>
          </p:nvPr>
        </p:nvSpPr>
        <p:spPr bwMode="gray">
          <a:xfrm>
            <a:off x="887413" y="2265364"/>
            <a:ext cx="3570288" cy="150813"/>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b" anchorCtr="0">
            <a:noAutofit/>
          </a:bodyPr>
          <a:lstStyle>
            <a:lvl1pPr marL="269875" indent="-269875" algn="l" defTabSz="685800" rtl="0" eaLnBrk="1" latinLnBrk="0" hangingPunct="1">
              <a:lnSpc>
                <a:spcPct val="90000"/>
              </a:lnSpc>
              <a:spcBef>
                <a:spcPts val="750"/>
              </a:spcBef>
              <a:buClr>
                <a:schemeClr val="accent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1pPr>
            <a:lvl2pPr marL="539750" indent="-269875"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2pPr>
            <a:lvl3pPr marL="80645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3pPr>
            <a:lvl4pPr marL="1079500" indent="-27305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4pPr>
            <a:lvl5pPr marL="134620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5pPr>
            <a:lvl6pPr marL="161290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6pPr>
            <a:lvl7pPr marL="1885950" indent="-27305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7pPr>
            <a:lvl8pPr marL="215265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8pPr>
            <a:lvl9pPr marL="241935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9pPr>
          </a:lstStyle>
          <a:p>
            <a:pPr marL="0" marR="0" lvl="0" indent="0" algn="l" defTabSz="685800" rtl="0" eaLnBrk="1" fontAlgn="auto" latinLnBrk="0" hangingPunct="1">
              <a:lnSpc>
                <a:spcPct val="90000"/>
              </a:lnSpc>
              <a:spcBef>
                <a:spcPct val="0"/>
              </a:spcBef>
              <a:spcAft>
                <a:spcPct val="0"/>
              </a:spcAft>
              <a:buClr>
                <a:srgbClr val="03522D"/>
              </a:buClr>
              <a:buSzTx/>
              <a:buFont typeface="Arial" panose="020B0604020202020204" pitchFamily="34" charset="0"/>
              <a:buNone/>
              <a:tabLst/>
              <a:defRPr/>
            </a:pPr>
            <a:r>
              <a:rPr kumimoji="0" lang="en-US" sz="1100" b="0" i="0" u="none" strike="noStrike" kern="1200" cap="none" spc="0" normalizeH="0" baseline="0" noProof="0">
                <a:ln>
                  <a:noFill/>
                </a:ln>
                <a:solidFill>
                  <a:srgbClr val="575757"/>
                </a:solidFill>
                <a:effectLst/>
                <a:uLnTx/>
                <a:uFillTx/>
                <a:latin typeface="Trebuchet MS"/>
                <a:ea typeface="+mn-ea"/>
                <a:cs typeface="+mn-cs"/>
              </a:rPr>
              <a:t>Appointment conversion, indexed 2-week rolling average</a:t>
            </a:r>
          </a:p>
        </p:txBody>
      </p:sp>
      <p:cxnSp>
        <p:nvCxnSpPr>
          <p:cNvPr id="32" name="Straight Connector 31">
            <a:extLst>
              <a:ext uri="{FF2B5EF4-FFF2-40B4-BE49-F238E27FC236}">
                <a16:creationId xmlns:a16="http://schemas.microsoft.com/office/drawing/2014/main" id="{5A55A799-0CAC-4E8A-A0FB-EFF810C7ADC7}"/>
              </a:ext>
            </a:extLst>
          </p:cNvPr>
          <p:cNvCxnSpPr/>
          <p:nvPr>
            <p:custDataLst>
              <p:tags r:id="rId8"/>
            </p:custDataLst>
          </p:nvPr>
        </p:nvCxnSpPr>
        <p:spPr bwMode="gray">
          <a:xfrm>
            <a:off x="9066214" y="4373563"/>
            <a:ext cx="231775" cy="0"/>
          </a:xfrm>
          <a:prstGeom prst="line">
            <a:avLst/>
          </a:prstGeom>
          <a:ln w="38100" cap="rnd" cmpd="sng" algn="ctr">
            <a:solidFill>
              <a:schemeClr val="tx2"/>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63" name="Straight Connector 62">
            <a:extLst>
              <a:ext uri="{FF2B5EF4-FFF2-40B4-BE49-F238E27FC236}">
                <a16:creationId xmlns:a16="http://schemas.microsoft.com/office/drawing/2014/main" id="{B1D922CE-6B36-4C87-A95C-995C2CC925DA}"/>
              </a:ext>
            </a:extLst>
          </p:cNvPr>
          <p:cNvCxnSpPr/>
          <p:nvPr>
            <p:custDataLst>
              <p:tags r:id="rId9"/>
            </p:custDataLst>
          </p:nvPr>
        </p:nvCxnSpPr>
        <p:spPr bwMode="gray">
          <a:xfrm>
            <a:off x="9066214" y="4583113"/>
            <a:ext cx="231775" cy="0"/>
          </a:xfrm>
          <a:prstGeom prst="line">
            <a:avLst/>
          </a:prstGeom>
          <a:ln w="38100" cap="rnd"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2" name="Straight Connector 11">
            <a:extLst>
              <a:ext uri="{FF2B5EF4-FFF2-40B4-BE49-F238E27FC236}">
                <a16:creationId xmlns:a16="http://schemas.microsoft.com/office/drawing/2014/main" id="{CD7016A8-A0BA-449D-99D3-48091327F3B5}"/>
              </a:ext>
            </a:extLst>
          </p:cNvPr>
          <p:cNvCxnSpPr/>
          <p:nvPr>
            <p:custDataLst>
              <p:tags r:id="rId10"/>
            </p:custDataLst>
          </p:nvPr>
        </p:nvCxnSpPr>
        <p:spPr bwMode="gray">
          <a:xfrm>
            <a:off x="9066214" y="4792663"/>
            <a:ext cx="231775" cy="0"/>
          </a:xfrm>
          <a:prstGeom prst="line">
            <a:avLst/>
          </a:prstGeom>
          <a:ln w="38100" cap="rnd" cmpd="sng" algn="ctr">
            <a:solidFill>
              <a:srgbClr val="9A9A9A"/>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70" name="Rectangle 69">
            <a:extLst>
              <a:ext uri="{FF2B5EF4-FFF2-40B4-BE49-F238E27FC236}">
                <a16:creationId xmlns:a16="http://schemas.microsoft.com/office/drawing/2014/main" id="{7E3BC70A-5D2C-483B-9D20-6E857FD9D4BD}"/>
              </a:ext>
            </a:extLst>
          </p:cNvPr>
          <p:cNvSpPr/>
          <p:nvPr>
            <p:custDataLst>
              <p:tags r:id="rId11"/>
            </p:custDataLst>
          </p:nvPr>
        </p:nvSpPr>
        <p:spPr bwMode="auto">
          <a:xfrm>
            <a:off x="9150350" y="4551363"/>
            <a:ext cx="63500" cy="63500"/>
          </a:xfrm>
          <a:prstGeom prst="rect">
            <a:avLst/>
          </a:prstGeom>
          <a:solidFill>
            <a:schemeClr val="tx1"/>
          </a:solidFill>
          <a:ln w="9525" cap="rnd" cmpd="sng" algn="ctr">
            <a:solidFill>
              <a:schemeClr val="tx1"/>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Trebuchet MS"/>
              <a:ea typeface="+mn-ea"/>
              <a:cs typeface="+mn-cs"/>
            </a:endParaRPr>
          </a:p>
        </p:txBody>
      </p:sp>
      <p:sp>
        <p:nvSpPr>
          <p:cNvPr id="35" name="Oval 34">
            <a:extLst>
              <a:ext uri="{FF2B5EF4-FFF2-40B4-BE49-F238E27FC236}">
                <a16:creationId xmlns:a16="http://schemas.microsoft.com/office/drawing/2014/main" id="{3B99DB13-F45E-4F27-8EB1-69FFE72055B1}"/>
              </a:ext>
            </a:extLst>
          </p:cNvPr>
          <p:cNvSpPr/>
          <p:nvPr>
            <p:custDataLst>
              <p:tags r:id="rId12"/>
            </p:custDataLst>
          </p:nvPr>
        </p:nvSpPr>
        <p:spPr bwMode="auto">
          <a:xfrm>
            <a:off x="9150350" y="4341813"/>
            <a:ext cx="63500" cy="63500"/>
          </a:xfrm>
          <a:prstGeom prst="ellipse">
            <a:avLst/>
          </a:prstGeom>
          <a:solidFill>
            <a:schemeClr val="tx2"/>
          </a:solidFill>
          <a:ln w="9525" cap="rnd" cmpd="sng" algn="ctr">
            <a:solidFill>
              <a:schemeClr val="tx2"/>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Trebuchet MS"/>
              <a:ea typeface="+mn-ea"/>
              <a:cs typeface="+mn-cs"/>
            </a:endParaRPr>
          </a:p>
        </p:txBody>
      </p:sp>
      <p:sp>
        <p:nvSpPr>
          <p:cNvPr id="13" name="Isosceles Triangle 12">
            <a:extLst>
              <a:ext uri="{FF2B5EF4-FFF2-40B4-BE49-F238E27FC236}">
                <a16:creationId xmlns:a16="http://schemas.microsoft.com/office/drawing/2014/main" id="{0E8C7081-EB9F-44E0-A0CE-62024C93D597}"/>
              </a:ext>
            </a:extLst>
          </p:cNvPr>
          <p:cNvSpPr/>
          <p:nvPr>
            <p:custDataLst>
              <p:tags r:id="rId13"/>
            </p:custDataLst>
          </p:nvPr>
        </p:nvSpPr>
        <p:spPr bwMode="auto">
          <a:xfrm>
            <a:off x="9150350" y="4760913"/>
            <a:ext cx="63500" cy="63500"/>
          </a:xfrm>
          <a:prstGeom prst="triangle">
            <a:avLst/>
          </a:prstGeom>
          <a:solidFill>
            <a:srgbClr val="9A9A9A"/>
          </a:solidFill>
          <a:ln w="9525" cap="rnd" cmpd="sng" algn="ctr">
            <a:solidFill>
              <a:srgbClr val="9A9A9A"/>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Trebuchet MS"/>
              <a:ea typeface="+mn-ea"/>
              <a:cs typeface="+mn-cs"/>
            </a:endParaRPr>
          </a:p>
        </p:txBody>
      </p:sp>
      <p:sp>
        <p:nvSpPr>
          <p:cNvPr id="42" name="Text Placeholder 2">
            <a:extLst>
              <a:ext uri="{FF2B5EF4-FFF2-40B4-BE49-F238E27FC236}">
                <a16:creationId xmlns:a16="http://schemas.microsoft.com/office/drawing/2014/main" id="{05250F3E-BFFA-48D7-91C7-0988BD79844E}"/>
              </a:ext>
            </a:extLst>
          </p:cNvPr>
          <p:cNvSpPr>
            <a:spLocks noGrp="1"/>
          </p:cNvSpPr>
          <p:nvPr>
            <p:custDataLst>
              <p:tags r:id="rId14"/>
            </p:custDataLst>
          </p:nvPr>
        </p:nvSpPr>
        <p:spPr bwMode="gray">
          <a:xfrm>
            <a:off x="9367839" y="4727576"/>
            <a:ext cx="568325" cy="301625"/>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269875" indent="-269875" algn="l" defTabSz="685800" rtl="0" eaLnBrk="1" latinLnBrk="0" hangingPunct="1">
              <a:lnSpc>
                <a:spcPct val="90000"/>
              </a:lnSpc>
              <a:spcBef>
                <a:spcPts val="750"/>
              </a:spcBef>
              <a:buClr>
                <a:schemeClr val="accent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1pPr>
            <a:lvl2pPr marL="539750" indent="-269875"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2pPr>
            <a:lvl3pPr marL="80645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3pPr>
            <a:lvl4pPr marL="1079500" indent="-27305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4pPr>
            <a:lvl5pPr marL="134620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5pPr>
            <a:lvl6pPr marL="161290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6pPr>
            <a:lvl7pPr marL="1885950" indent="-27305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7pPr>
            <a:lvl8pPr marL="215265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8pPr>
            <a:lvl9pPr marL="241935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9pPr>
          </a:lstStyle>
          <a:p>
            <a:pPr marL="0" marR="0" lvl="0" indent="0" algn="l" defTabSz="685800" rtl="0" eaLnBrk="1" fontAlgn="auto" latinLnBrk="0" hangingPunct="1">
              <a:lnSpc>
                <a:spcPct val="90000"/>
              </a:lnSpc>
              <a:spcBef>
                <a:spcPct val="0"/>
              </a:spcBef>
              <a:spcAft>
                <a:spcPct val="0"/>
              </a:spcAft>
              <a:buClr>
                <a:srgbClr val="03522D"/>
              </a:buClr>
              <a:buSzTx/>
              <a:buFont typeface="Arial" panose="020B0604020202020204" pitchFamily="34" charset="0"/>
              <a:buNone/>
              <a:tabLst/>
              <a:defRPr/>
            </a:pPr>
            <a:r>
              <a:rPr kumimoji="0" lang="en-US" altLang="en-US" sz="1100" b="0" i="0" u="none" strike="noStrike" kern="1200" cap="none" spc="0" normalizeH="0" baseline="0" noProof="0">
                <a:ln>
                  <a:noFill/>
                </a:ln>
                <a:solidFill>
                  <a:srgbClr val="575757"/>
                </a:solidFill>
                <a:effectLst/>
                <a:uLnTx/>
                <a:uFillTx/>
                <a:latin typeface="Trebuchet MS"/>
                <a:ea typeface="+mn-ea"/>
                <a:cs typeface="+mn-cs"/>
              </a:rPr>
              <a:t>Baseline</a:t>
            </a:r>
            <a:r>
              <a:rPr kumimoji="0" lang="en-US" altLang="en-US" sz="1100" b="0" i="0" u="none" strike="noStrike" kern="1200" cap="none" spc="0" normalizeH="0" baseline="30000" noProof="0">
                <a:ln>
                  <a:noFill/>
                </a:ln>
                <a:solidFill>
                  <a:srgbClr val="575757"/>
                </a:solidFill>
                <a:effectLst/>
                <a:uLnTx/>
                <a:uFillTx/>
                <a:latin typeface="Trebuchet MS"/>
                <a:ea typeface="+mn-ea"/>
                <a:cs typeface="+mn-cs"/>
              </a:rPr>
              <a:t>1</a:t>
            </a:r>
            <a:endParaRPr kumimoji="0" lang="en-US" sz="1100" b="0" i="0" u="none" strike="noStrike" kern="1200" cap="none" spc="0" normalizeH="0" baseline="30000" noProof="0">
              <a:ln>
                <a:noFill/>
              </a:ln>
              <a:solidFill>
                <a:srgbClr val="575757"/>
              </a:solidFill>
              <a:effectLst/>
              <a:uLnTx/>
              <a:uFillTx/>
              <a:latin typeface="Trebuchet MS"/>
              <a:ea typeface="+mn-ea"/>
              <a:cs typeface="+mn-cs"/>
            </a:endParaRPr>
          </a:p>
          <a:p>
            <a:pPr marL="0" marR="0" lvl="0" indent="0" algn="l" defTabSz="685800" rtl="0" eaLnBrk="1" fontAlgn="auto" latinLnBrk="0" hangingPunct="1">
              <a:lnSpc>
                <a:spcPct val="90000"/>
              </a:lnSpc>
              <a:spcBef>
                <a:spcPct val="0"/>
              </a:spcBef>
              <a:spcAft>
                <a:spcPct val="0"/>
              </a:spcAft>
              <a:buClr>
                <a:srgbClr val="03522D"/>
              </a:buClr>
              <a:buSzTx/>
              <a:buFont typeface="Arial" panose="020B0604020202020204" pitchFamily="34" charset="0"/>
              <a:buNone/>
              <a:tabLst/>
              <a:defRPr/>
            </a:pPr>
            <a:endParaRPr kumimoji="0" lang="en-US" sz="1100" b="0" i="0" u="none" strike="noStrike" kern="1200" cap="none" spc="0" normalizeH="0" baseline="0" noProof="0">
              <a:ln>
                <a:noFill/>
              </a:ln>
              <a:solidFill>
                <a:srgbClr val="575757"/>
              </a:solidFill>
              <a:effectLst/>
              <a:uLnTx/>
              <a:uFillTx/>
              <a:latin typeface="Trebuchet MS"/>
              <a:ea typeface="+mn-ea"/>
              <a:cs typeface="+mn-cs"/>
            </a:endParaRPr>
          </a:p>
        </p:txBody>
      </p:sp>
      <p:sp>
        <p:nvSpPr>
          <p:cNvPr id="37" name="Text Placeholder 2">
            <a:extLst>
              <a:ext uri="{FF2B5EF4-FFF2-40B4-BE49-F238E27FC236}">
                <a16:creationId xmlns:a16="http://schemas.microsoft.com/office/drawing/2014/main" id="{3AC26FD6-EB85-4F97-8052-B645620974E6}"/>
              </a:ext>
            </a:extLst>
          </p:cNvPr>
          <p:cNvSpPr>
            <a:spLocks noGrp="1"/>
          </p:cNvSpPr>
          <p:nvPr>
            <p:custDataLst>
              <p:tags r:id="rId15"/>
            </p:custDataLst>
          </p:nvPr>
        </p:nvSpPr>
        <p:spPr bwMode="gray">
          <a:xfrm>
            <a:off x="9367838" y="4308476"/>
            <a:ext cx="2409825" cy="150813"/>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269875" indent="-269875" algn="l" defTabSz="685800" rtl="0" eaLnBrk="1" latinLnBrk="0" hangingPunct="1">
              <a:lnSpc>
                <a:spcPct val="90000"/>
              </a:lnSpc>
              <a:spcBef>
                <a:spcPts val="750"/>
              </a:spcBef>
              <a:buClr>
                <a:schemeClr val="accent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1pPr>
            <a:lvl2pPr marL="539750" indent="-269875"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2pPr>
            <a:lvl3pPr marL="80645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3pPr>
            <a:lvl4pPr marL="1079500" indent="-27305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4pPr>
            <a:lvl5pPr marL="134620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5pPr>
            <a:lvl6pPr marL="161290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6pPr>
            <a:lvl7pPr marL="1885950" indent="-27305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7pPr>
            <a:lvl8pPr marL="215265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8pPr>
            <a:lvl9pPr marL="241935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9pPr>
          </a:lstStyle>
          <a:p>
            <a:pPr marL="0" marR="0" lvl="0" indent="0" algn="l" defTabSz="685800" rtl="0" eaLnBrk="1" fontAlgn="auto" latinLnBrk="0" hangingPunct="1">
              <a:lnSpc>
                <a:spcPct val="90000"/>
              </a:lnSpc>
              <a:spcBef>
                <a:spcPct val="0"/>
              </a:spcBef>
              <a:spcAft>
                <a:spcPct val="0"/>
              </a:spcAft>
              <a:buClr>
                <a:srgbClr val="03522D"/>
              </a:buClr>
              <a:buSzTx/>
              <a:buFont typeface="Arial" panose="020B0604020202020204" pitchFamily="34" charset="0"/>
              <a:buNone/>
              <a:tabLst/>
              <a:defRPr/>
            </a:pPr>
            <a:fld id="{76B98795-7F43-4BF2-8D49-E9BBBAE0F722}" type="datetime'''''''Tes''''''t'''' ''''''''g''''r''o''''''u''''''p'''">
              <a:rPr kumimoji="0" lang="en-US" altLang="en-US" sz="1100" b="0" i="0" u="none" strike="noStrike" kern="1200" cap="none" spc="0" normalizeH="0" baseline="0" noProof="0" smtClean="0">
                <a:ln>
                  <a:noFill/>
                </a:ln>
                <a:solidFill>
                  <a:srgbClr val="575757"/>
                </a:solidFill>
                <a:effectLst/>
                <a:uLnTx/>
                <a:uFillTx/>
                <a:latin typeface="Trebuchet MS"/>
                <a:ea typeface="+mn-ea"/>
                <a:cs typeface="+mn-cs"/>
              </a:rPr>
              <a:pPr marL="0" marR="0" lvl="0" indent="0" algn="l" defTabSz="685800" rtl="0" eaLnBrk="1" fontAlgn="auto" latinLnBrk="0" hangingPunct="1">
                <a:lnSpc>
                  <a:spcPct val="90000"/>
                </a:lnSpc>
                <a:spcBef>
                  <a:spcPct val="0"/>
                </a:spcBef>
                <a:spcAft>
                  <a:spcPct val="0"/>
                </a:spcAft>
                <a:buClr>
                  <a:srgbClr val="03522D"/>
                </a:buClr>
                <a:buSzTx/>
                <a:buFont typeface="Arial" panose="020B0604020202020204" pitchFamily="34" charset="0"/>
                <a:buNone/>
                <a:tabLst/>
                <a:defRPr/>
              </a:pPr>
              <a:t>Test group</a:t>
            </a:fld>
            <a:r>
              <a:rPr kumimoji="0" lang="en-US" altLang="en-US" sz="1100" b="0" i="0" u="none" strike="noStrike" kern="1200" cap="none" spc="0" normalizeH="0" baseline="0" noProof="0">
                <a:ln>
                  <a:noFill/>
                </a:ln>
                <a:solidFill>
                  <a:srgbClr val="575757"/>
                </a:solidFill>
                <a:effectLst/>
                <a:uLnTx/>
                <a:uFillTx/>
                <a:latin typeface="Trebuchet MS"/>
                <a:ea typeface="+mn-ea"/>
                <a:cs typeface="+mn-cs"/>
              </a:rPr>
              <a:t> (new models, new process)</a:t>
            </a:r>
            <a:endParaRPr kumimoji="0" lang="en-US" sz="1100" b="0" i="0" u="none" strike="noStrike" kern="1200" cap="none" spc="0" normalizeH="0" baseline="0" noProof="0">
              <a:ln>
                <a:noFill/>
              </a:ln>
              <a:solidFill>
                <a:srgbClr val="575757"/>
              </a:solidFill>
              <a:effectLst/>
              <a:uLnTx/>
              <a:uFillTx/>
              <a:latin typeface="Trebuchet MS"/>
              <a:ea typeface="+mn-ea"/>
              <a:cs typeface="+mn-cs"/>
            </a:endParaRPr>
          </a:p>
        </p:txBody>
      </p:sp>
      <p:sp>
        <p:nvSpPr>
          <p:cNvPr id="68" name="Text Placeholder 2">
            <a:extLst>
              <a:ext uri="{FF2B5EF4-FFF2-40B4-BE49-F238E27FC236}">
                <a16:creationId xmlns:a16="http://schemas.microsoft.com/office/drawing/2014/main" id="{76F606C2-DBC8-47EA-AB9B-63F4023FC5FE}"/>
              </a:ext>
            </a:extLst>
          </p:cNvPr>
          <p:cNvSpPr>
            <a:spLocks noGrp="1"/>
          </p:cNvSpPr>
          <p:nvPr>
            <p:custDataLst>
              <p:tags r:id="rId16"/>
            </p:custDataLst>
          </p:nvPr>
        </p:nvSpPr>
        <p:spPr bwMode="gray">
          <a:xfrm>
            <a:off x="9367838" y="4518026"/>
            <a:ext cx="2538413" cy="150813"/>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269875" indent="-269875" algn="l" defTabSz="685800" rtl="0" eaLnBrk="1" latinLnBrk="0" hangingPunct="1">
              <a:lnSpc>
                <a:spcPct val="90000"/>
              </a:lnSpc>
              <a:spcBef>
                <a:spcPts val="750"/>
              </a:spcBef>
              <a:buClr>
                <a:schemeClr val="accent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1pPr>
            <a:lvl2pPr marL="539750" indent="-269875"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2pPr>
            <a:lvl3pPr marL="80645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3pPr>
            <a:lvl4pPr marL="1079500" indent="-27305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4pPr>
            <a:lvl5pPr marL="134620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5pPr>
            <a:lvl6pPr marL="161290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6pPr>
            <a:lvl7pPr marL="1885950" indent="-27305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7pPr>
            <a:lvl8pPr marL="215265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8pPr>
            <a:lvl9pPr marL="2419350" indent="-266700" algn="l" defTabSz="685800" rtl="0" eaLnBrk="1" latinLnBrk="0" hangingPunct="1">
              <a:lnSpc>
                <a:spcPct val="90000"/>
              </a:lnSpc>
              <a:spcBef>
                <a:spcPts val="375"/>
              </a:spcBef>
              <a:buClr>
                <a:schemeClr val="tx1"/>
              </a:buClr>
              <a:buFont typeface="Arial" panose="020B0604020202020204" pitchFamily="34" charset="0"/>
              <a:buChar char="•"/>
              <a:defRPr sz="1800" kern="1200">
                <a:solidFill>
                  <a:schemeClr val="tx1"/>
                </a:solidFill>
                <a:latin typeface="OP Chevin Pro Light" panose="020F0303030000060003" pitchFamily="34" charset="0"/>
                <a:ea typeface="+mn-ea"/>
                <a:cs typeface="+mn-cs"/>
              </a:defRPr>
            </a:lvl9pPr>
          </a:lstStyle>
          <a:p>
            <a:pPr marL="0" marR="0" lvl="0" indent="0" algn="l" defTabSz="685800" rtl="0" eaLnBrk="1" fontAlgn="auto" latinLnBrk="0" hangingPunct="1">
              <a:lnSpc>
                <a:spcPct val="90000"/>
              </a:lnSpc>
              <a:spcBef>
                <a:spcPct val="0"/>
              </a:spcBef>
              <a:spcAft>
                <a:spcPct val="0"/>
              </a:spcAft>
              <a:buClr>
                <a:srgbClr val="03522D"/>
              </a:buClr>
              <a:buSzTx/>
              <a:buFont typeface="Arial" panose="020B0604020202020204" pitchFamily="34" charset="0"/>
              <a:buNone/>
              <a:tabLst/>
              <a:defRPr/>
            </a:pPr>
            <a:fld id="{C4E428CD-8B05-4960-81C0-5ECF624D94BF}" type="datetime'''''C''''''''o''n''tr''ol'' ''''''g''''ro''''u''p'">
              <a:rPr kumimoji="0" lang="en-US" altLang="en-US" sz="1100" b="0" i="0" u="none" strike="noStrike" kern="1200" cap="none" spc="0" normalizeH="0" baseline="0" noProof="0" smtClean="0">
                <a:ln>
                  <a:noFill/>
                </a:ln>
                <a:solidFill>
                  <a:srgbClr val="575757"/>
                </a:solidFill>
                <a:effectLst/>
                <a:uLnTx/>
                <a:uFillTx/>
                <a:latin typeface="Trebuchet MS"/>
                <a:ea typeface="+mn-ea"/>
                <a:cs typeface="+mn-cs"/>
              </a:rPr>
              <a:pPr marL="0" marR="0" lvl="0" indent="0" algn="l" defTabSz="685800" rtl="0" eaLnBrk="1" fontAlgn="auto" latinLnBrk="0" hangingPunct="1">
                <a:lnSpc>
                  <a:spcPct val="90000"/>
                </a:lnSpc>
                <a:spcBef>
                  <a:spcPct val="0"/>
                </a:spcBef>
                <a:spcAft>
                  <a:spcPct val="0"/>
                </a:spcAft>
                <a:buClr>
                  <a:srgbClr val="03522D"/>
                </a:buClr>
                <a:buSzTx/>
                <a:buFont typeface="Arial" panose="020B0604020202020204" pitchFamily="34" charset="0"/>
                <a:buNone/>
                <a:tabLst/>
                <a:defRPr/>
              </a:pPr>
              <a:t>Control group</a:t>
            </a:fld>
            <a:r>
              <a:rPr kumimoji="0" lang="en-US" altLang="en-US" sz="1100" b="0" i="0" u="none" strike="noStrike" kern="1200" cap="none" spc="0" normalizeH="0" baseline="0" noProof="0">
                <a:ln>
                  <a:noFill/>
                </a:ln>
                <a:solidFill>
                  <a:srgbClr val="575757"/>
                </a:solidFill>
                <a:effectLst/>
                <a:uLnTx/>
                <a:uFillTx/>
                <a:latin typeface="Trebuchet MS"/>
                <a:ea typeface="+mn-ea"/>
                <a:cs typeface="+mn-cs"/>
              </a:rPr>
              <a:t> (old models, new process)</a:t>
            </a:r>
            <a:endParaRPr kumimoji="0" lang="en-US" sz="1100" b="0" i="0" u="none" strike="noStrike" kern="1200" cap="none" spc="0" normalizeH="0" baseline="0" noProof="0">
              <a:ln>
                <a:noFill/>
              </a:ln>
              <a:solidFill>
                <a:srgbClr val="575757"/>
              </a:solidFill>
              <a:effectLst/>
              <a:uLnTx/>
              <a:uFillTx/>
              <a:latin typeface="Trebuchet MS"/>
              <a:ea typeface="+mn-ea"/>
              <a:cs typeface="+mn-cs"/>
            </a:endParaRPr>
          </a:p>
        </p:txBody>
      </p:sp>
      <p:sp>
        <p:nvSpPr>
          <p:cNvPr id="39" name="TextBox 38">
            <a:extLst>
              <a:ext uri="{FF2B5EF4-FFF2-40B4-BE49-F238E27FC236}">
                <a16:creationId xmlns:a16="http://schemas.microsoft.com/office/drawing/2014/main" id="{7312E20C-4CD2-4F66-8ADE-52F46F7CD5F3}"/>
              </a:ext>
            </a:extLst>
          </p:cNvPr>
          <p:cNvSpPr txBox="1"/>
          <p:nvPr/>
        </p:nvSpPr>
        <p:spPr>
          <a:xfrm>
            <a:off x="681006" y="1702410"/>
            <a:ext cx="5814062"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9BA74"/>
                </a:solidFill>
                <a:effectLst/>
                <a:uLnTx/>
                <a:uFillTx/>
                <a:latin typeface="Trebuchet MS"/>
                <a:ea typeface="+mn-ea"/>
                <a:cs typeface="+mn-cs"/>
              </a:rPr>
              <a:t>Answered call-to-appointment rate</a:t>
            </a:r>
          </a:p>
        </p:txBody>
      </p:sp>
      <p:sp>
        <p:nvSpPr>
          <p:cNvPr id="57" name="ee4pFootnotes">
            <a:extLst>
              <a:ext uri="{FF2B5EF4-FFF2-40B4-BE49-F238E27FC236}">
                <a16:creationId xmlns:a16="http://schemas.microsoft.com/office/drawing/2014/main" id="{ACB1782A-0F84-4D49-81BA-0DF10595238B}"/>
              </a:ext>
            </a:extLst>
          </p:cNvPr>
          <p:cNvSpPr>
            <a:spLocks noChangeArrowheads="1"/>
          </p:cNvSpPr>
          <p:nvPr/>
        </p:nvSpPr>
        <p:spPr bwMode="auto">
          <a:xfrm>
            <a:off x="681006" y="6230474"/>
            <a:ext cx="10672793" cy="443391"/>
          </a:xfrm>
          <a:prstGeom prst="rect">
            <a:avLst/>
          </a:prstGeom>
          <a:noFill/>
          <a:ln w="9525" algn="ctr">
            <a:noFill/>
            <a:miter lim="800000"/>
            <a:headEnd type="none" w="lg" len="lg"/>
            <a:tailEnd type="none" w="lg" len="lg"/>
          </a:ln>
        </p:spPr>
        <p:txBody>
          <a:bodyPr vert="horz" wrap="square" lIns="0" tIns="0" rIns="0" bIns="0" anchor="b" anchorCtr="0">
            <a:spAutoFit/>
          </a:bodyPr>
          <a:lstStyle/>
          <a:p>
            <a:pPr marL="228600" marR="0" lvl="0" indent="-228600" algn="l" defTabSz="914400" rtl="0" eaLnBrk="1" fontAlgn="auto" latinLnBrk="0" hangingPunct="1">
              <a:lnSpc>
                <a:spcPct val="90000"/>
              </a:lnSpc>
              <a:spcBef>
                <a:spcPts val="0"/>
              </a:spcBef>
              <a:spcAft>
                <a:spcPts val="0"/>
              </a:spcAft>
              <a:buClrTx/>
              <a:buSzTx/>
              <a:buFontTx/>
              <a:buAutoNum type="arabicPeriod"/>
              <a:tabLst/>
              <a:defRPr/>
            </a:pPr>
            <a:r>
              <a:rPr kumimoji="0" lang="en-US" sz="1067" b="0" i="0" u="none" strike="noStrike" kern="1200" cap="none" spc="0" normalizeH="0" baseline="0" noProof="0">
                <a:ln>
                  <a:noFill/>
                </a:ln>
                <a:solidFill>
                  <a:prstClr val="white">
                    <a:lumMod val="50000"/>
                  </a:prstClr>
                </a:solidFill>
                <a:effectLst/>
                <a:uLnTx/>
                <a:uFillTx/>
                <a:latin typeface="Trebuchet MS"/>
                <a:ea typeface="+mn-ea"/>
                <a:cs typeface="+mn-cs"/>
                <a:sym typeface="+mn-lt"/>
              </a:rPr>
              <a:t>Average conversion from conversation to appointment for advisors before the pilot period.</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67" b="0" i="0" u="none" strike="noStrike" kern="1200" cap="none" spc="0" normalizeH="0" baseline="0" noProof="0">
                <a:ln>
                  <a:noFill/>
                </a:ln>
                <a:solidFill>
                  <a:prstClr val="white">
                    <a:lumMod val="50000"/>
                  </a:prstClr>
                </a:solidFill>
                <a:effectLst/>
                <a:uLnTx/>
                <a:uFillTx/>
                <a:latin typeface="Trebuchet MS"/>
                <a:ea typeface="+mn-ea"/>
                <a:cs typeface="+mn-cs"/>
                <a:sym typeface="+mn-lt"/>
              </a:rPr>
              <a:t>Note:  Before the pilot: Advisors mostly reached out to customers who already have investment products (up-selling). During the pilot: Advisors contacted only customers that do not yet invest (cross-selling).</a:t>
            </a:r>
          </a:p>
        </p:txBody>
      </p:sp>
      <p:cxnSp>
        <p:nvCxnSpPr>
          <p:cNvPr id="29" name="Straight Connector 28">
            <a:extLst>
              <a:ext uri="{FF2B5EF4-FFF2-40B4-BE49-F238E27FC236}">
                <a16:creationId xmlns:a16="http://schemas.microsoft.com/office/drawing/2014/main" id="{A878DC6F-1011-495E-A2B2-754AB51C0FB0}"/>
              </a:ext>
            </a:extLst>
          </p:cNvPr>
          <p:cNvCxnSpPr>
            <a:cxnSpLocks/>
          </p:cNvCxnSpPr>
          <p:nvPr/>
        </p:nvCxnSpPr>
        <p:spPr>
          <a:xfrm>
            <a:off x="5213350" y="3134590"/>
            <a:ext cx="3703638" cy="0"/>
          </a:xfrm>
          <a:prstGeom prst="line">
            <a:avLst/>
          </a:prstGeom>
          <a:ln w="9525" cap="rnd" cmpd="sng" algn="ctr">
            <a:solidFill>
              <a:srgbClr val="29BA74"/>
            </a:solidFill>
            <a:prstDash val="dash"/>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 name="Straight Arrow Connector 32">
            <a:extLst>
              <a:ext uri="{FF2B5EF4-FFF2-40B4-BE49-F238E27FC236}">
                <a16:creationId xmlns:a16="http://schemas.microsoft.com/office/drawing/2014/main" id="{B15A0BBC-7714-4FF6-9ECE-FD1BF065E9FB}"/>
              </a:ext>
            </a:extLst>
          </p:cNvPr>
          <p:cNvCxnSpPr>
            <a:cxnSpLocks/>
          </p:cNvCxnSpPr>
          <p:nvPr/>
        </p:nvCxnSpPr>
        <p:spPr>
          <a:xfrm>
            <a:off x="5557838" y="3168269"/>
            <a:ext cx="0" cy="1057275"/>
          </a:xfrm>
          <a:prstGeom prst="straightConnector1">
            <a:avLst/>
          </a:prstGeom>
          <a:ln w="9525" cap="rnd">
            <a:solidFill>
              <a:schemeClr val="tx1">
                <a:lumMod val="60000"/>
                <a:lumOff val="40000"/>
              </a:schemeClr>
            </a:solidFill>
            <a:prstDash val="solid"/>
            <a:round/>
            <a:headEnd type="triangle"/>
            <a:tailEnd type="triangle"/>
          </a:ln>
        </p:spPr>
        <p:style>
          <a:lnRef idx="1">
            <a:schemeClr val="accent1"/>
          </a:lnRef>
          <a:fillRef idx="0">
            <a:schemeClr val="accent1"/>
          </a:fillRef>
          <a:effectRef idx="0">
            <a:schemeClr val="accent1"/>
          </a:effectRef>
          <a:fontRef idx="minor">
            <a:schemeClr val="tx1"/>
          </a:fontRef>
        </p:style>
      </p:cxnSp>
      <p:sp>
        <p:nvSpPr>
          <p:cNvPr id="34" name="Oval 33">
            <a:extLst>
              <a:ext uri="{FF2B5EF4-FFF2-40B4-BE49-F238E27FC236}">
                <a16:creationId xmlns:a16="http://schemas.microsoft.com/office/drawing/2014/main" id="{53ED99A3-CD41-41E3-BEFC-A2CE75F6F752}"/>
              </a:ext>
            </a:extLst>
          </p:cNvPr>
          <p:cNvSpPr/>
          <p:nvPr/>
        </p:nvSpPr>
        <p:spPr>
          <a:xfrm>
            <a:off x="5289842" y="3389943"/>
            <a:ext cx="539638" cy="539735"/>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r>
              <a:rPr kumimoji="0" lang="en-US" sz="1800" b="0" i="0" u="none" strike="noStrike" kern="0" cap="none" spc="0" normalizeH="0" baseline="0" noProof="0">
                <a:ln>
                  <a:noFill/>
                </a:ln>
                <a:solidFill>
                  <a:srgbClr val="29BA74"/>
                </a:solidFill>
                <a:effectLst/>
                <a:uLnTx/>
                <a:uFillTx/>
                <a:latin typeface="Trebuchet MS"/>
                <a:ea typeface="+mn-ea"/>
                <a:cs typeface="+mn-cs"/>
              </a:rPr>
              <a:t>80%</a:t>
            </a:r>
          </a:p>
        </p:txBody>
      </p:sp>
      <p:sp>
        <p:nvSpPr>
          <p:cNvPr id="8" name="TextBox 7">
            <a:extLst>
              <a:ext uri="{FF2B5EF4-FFF2-40B4-BE49-F238E27FC236}">
                <a16:creationId xmlns:a16="http://schemas.microsoft.com/office/drawing/2014/main" id="{5EAA1569-A6B8-42D1-9B10-DEF1539EE4EE}"/>
              </a:ext>
            </a:extLst>
          </p:cNvPr>
          <p:cNvSpPr txBox="1"/>
          <p:nvPr/>
        </p:nvSpPr>
        <p:spPr>
          <a:xfrm>
            <a:off x="3413156" y="3431570"/>
            <a:ext cx="1808132" cy="502573"/>
          </a:xfrm>
          <a:prstGeom prst="rect">
            <a:avLst/>
          </a:prstGeom>
          <a:noFill/>
          <a:extLst>
            <a:ext uri="{909E8E84-426E-40DD-AFC4-6F175D3DCCD1}">
              <a14:hiddenFill xmlns:a14="http://schemas.microsoft.com/office/drawing/2010/main">
                <a:solidFill>
                  <a:srgbClr val="FF6A10"/>
                </a:solidFill>
              </a14:hiddenFill>
            </a:ext>
          </a:extLst>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a:ln>
                  <a:noFill/>
                </a:ln>
                <a:solidFill>
                  <a:srgbClr val="29BA74"/>
                </a:solidFill>
                <a:effectLst/>
                <a:uLnTx/>
                <a:uFillTx/>
                <a:latin typeface="Trebuchet MS"/>
                <a:ea typeface="+mn-ea"/>
                <a:cs typeface="+mn-cs"/>
              </a:rPr>
              <a:t>Test group uplift to pre-pilot baseline</a:t>
            </a:r>
          </a:p>
        </p:txBody>
      </p:sp>
      <p:cxnSp>
        <p:nvCxnSpPr>
          <p:cNvPr id="47" name="Straight Arrow Connector 46">
            <a:extLst>
              <a:ext uri="{FF2B5EF4-FFF2-40B4-BE49-F238E27FC236}">
                <a16:creationId xmlns:a16="http://schemas.microsoft.com/office/drawing/2014/main" id="{76D54197-B6DB-49DE-938B-20A7D6576382}"/>
              </a:ext>
            </a:extLst>
          </p:cNvPr>
          <p:cNvCxnSpPr>
            <a:cxnSpLocks/>
          </p:cNvCxnSpPr>
          <p:nvPr/>
        </p:nvCxnSpPr>
        <p:spPr>
          <a:xfrm>
            <a:off x="8826057" y="3147518"/>
            <a:ext cx="0" cy="1284954"/>
          </a:xfrm>
          <a:prstGeom prst="straightConnector1">
            <a:avLst/>
          </a:prstGeom>
          <a:ln w="9525" cap="rnd">
            <a:solidFill>
              <a:schemeClr val="tx1">
                <a:lumMod val="60000"/>
                <a:lumOff val="40000"/>
              </a:schemeClr>
            </a:solidFill>
            <a:prstDash val="solid"/>
            <a:round/>
            <a:headEnd type="triangle"/>
            <a:tailEnd type="triangle"/>
          </a:ln>
        </p:spPr>
        <p:style>
          <a:lnRef idx="1">
            <a:schemeClr val="accent1"/>
          </a:lnRef>
          <a:fillRef idx="0">
            <a:schemeClr val="accent1"/>
          </a:fillRef>
          <a:effectRef idx="0">
            <a:schemeClr val="accent1"/>
          </a:effectRef>
          <a:fontRef idx="minor">
            <a:schemeClr val="tx1"/>
          </a:fontRef>
        </p:style>
      </p:cxnSp>
      <p:sp>
        <p:nvSpPr>
          <p:cNvPr id="48" name="Oval 47">
            <a:extLst>
              <a:ext uri="{FF2B5EF4-FFF2-40B4-BE49-F238E27FC236}">
                <a16:creationId xmlns:a16="http://schemas.microsoft.com/office/drawing/2014/main" id="{6CD6C3D8-57D5-43F0-831C-8D0B694A4B9D}"/>
              </a:ext>
            </a:extLst>
          </p:cNvPr>
          <p:cNvSpPr/>
          <p:nvPr/>
        </p:nvSpPr>
        <p:spPr>
          <a:xfrm>
            <a:off x="8569437" y="3497159"/>
            <a:ext cx="539638" cy="539735"/>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r>
              <a:rPr kumimoji="0" lang="en-US" sz="1800" b="0" i="0" u="none" strike="noStrike" kern="0" cap="none" spc="0" normalizeH="0" baseline="0" noProof="0">
                <a:ln>
                  <a:noFill/>
                </a:ln>
                <a:solidFill>
                  <a:srgbClr val="29BA74"/>
                </a:solidFill>
                <a:effectLst/>
                <a:uLnTx/>
                <a:uFillTx/>
                <a:latin typeface="Trebuchet MS"/>
                <a:ea typeface="+mn-ea"/>
                <a:cs typeface="+mn-cs"/>
              </a:rPr>
              <a:t>85%</a:t>
            </a:r>
          </a:p>
        </p:txBody>
      </p:sp>
      <p:sp>
        <p:nvSpPr>
          <p:cNvPr id="52" name="TextBox 51">
            <a:extLst>
              <a:ext uri="{FF2B5EF4-FFF2-40B4-BE49-F238E27FC236}">
                <a16:creationId xmlns:a16="http://schemas.microsoft.com/office/drawing/2014/main" id="{574D7401-57A0-4DB7-81F0-5F37BA59831C}"/>
              </a:ext>
            </a:extLst>
          </p:cNvPr>
          <p:cNvSpPr txBox="1"/>
          <p:nvPr/>
        </p:nvSpPr>
        <p:spPr>
          <a:xfrm>
            <a:off x="9152108" y="3512065"/>
            <a:ext cx="2402418" cy="502573"/>
          </a:xfrm>
          <a:prstGeom prst="rect">
            <a:avLst/>
          </a:prstGeom>
          <a:noFill/>
          <a:extLst>
            <a:ext uri="{909E8E84-426E-40DD-AFC4-6F175D3DCCD1}">
              <a14:hiddenFill xmlns:a14="http://schemas.microsoft.com/office/drawing/2010/main">
                <a:solidFill>
                  <a:srgbClr val="FF6A10"/>
                </a:solidFill>
              </a14:hiddenFill>
            </a:ext>
          </a:extLst>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333" b="0" i="0" u="none" strike="noStrike" kern="1200" cap="none" spc="0" normalizeH="0" baseline="0" noProof="0">
                <a:ln>
                  <a:noFill/>
                </a:ln>
                <a:solidFill>
                  <a:srgbClr val="29BA74"/>
                </a:solidFill>
                <a:effectLst/>
                <a:uLnTx/>
                <a:uFillTx/>
                <a:latin typeface="Trebuchet MS"/>
                <a:ea typeface="+mn-ea"/>
                <a:cs typeface="+mn-cs"/>
              </a:rPr>
              <a:t>Test group uplift to control group during pilot</a:t>
            </a:r>
          </a:p>
        </p:txBody>
      </p:sp>
      <p:sp>
        <p:nvSpPr>
          <p:cNvPr id="101" name="Title 100">
            <a:extLst>
              <a:ext uri="{FF2B5EF4-FFF2-40B4-BE49-F238E27FC236}">
                <a16:creationId xmlns:a16="http://schemas.microsoft.com/office/drawing/2014/main" id="{929CE394-9AA0-454C-BAE4-E63031A425A3}"/>
              </a:ext>
            </a:extLst>
          </p:cNvPr>
          <p:cNvSpPr>
            <a:spLocks noGrp="1"/>
          </p:cNvSpPr>
          <p:nvPr>
            <p:ph type="title"/>
          </p:nvPr>
        </p:nvSpPr>
        <p:spPr>
          <a:xfrm>
            <a:off x="630000" y="622800"/>
            <a:ext cx="10933200" cy="941796"/>
          </a:xfrm>
        </p:spPr>
        <p:txBody>
          <a:bodyPr vert="horz"/>
          <a:lstStyle/>
          <a:p>
            <a:r>
              <a:rPr lang="en-US"/>
              <a:t>Test group conversion rate increased by &gt;80%</a:t>
            </a:r>
            <a:br>
              <a:rPr lang="en-US"/>
            </a:br>
            <a:endParaRPr lang="en-US"/>
          </a:p>
        </p:txBody>
      </p:sp>
      <p:sp>
        <p:nvSpPr>
          <p:cNvPr id="121" name="Oval 20">
            <a:extLst>
              <a:ext uri="{FF2B5EF4-FFF2-40B4-BE49-F238E27FC236}">
                <a16:creationId xmlns:a16="http://schemas.microsoft.com/office/drawing/2014/main" id="{74969FD3-DF8C-400F-A841-F448D9B9BC59}"/>
              </a:ext>
            </a:extLst>
          </p:cNvPr>
          <p:cNvSpPr>
            <a:spLocks noChangeAspect="1" noChangeArrowheads="1"/>
          </p:cNvSpPr>
          <p:nvPr/>
        </p:nvSpPr>
        <p:spPr bwMode="auto">
          <a:xfrm>
            <a:off x="11614350" y="190800"/>
            <a:ext cx="432000" cy="432000"/>
          </a:xfrm>
          <a:prstGeom prst="ellipse">
            <a:avLst/>
          </a:prstGeom>
          <a:solidFill>
            <a:srgbClr val="FFFFFF"/>
          </a:solidFill>
          <a:ln w="9525" cap="flat" cmpd="sng" algn="ctr">
            <a:solidFill>
              <a:srgbClr val="29BA74"/>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9BA74"/>
                </a:solidFill>
                <a:effectLst/>
                <a:uLnTx/>
                <a:uFillTx/>
                <a:latin typeface="Trebuchet MS"/>
                <a:ea typeface="+mn-ea"/>
                <a:cs typeface="+mn-cs"/>
              </a:rPr>
              <a:t>A</a:t>
            </a:r>
            <a:endParaRPr kumimoji="0" lang="en-US" sz="1000" b="0" i="0" u="none" strike="noStrike" kern="1200" cap="none" spc="0" normalizeH="0" baseline="0" noProof="0">
              <a:ln>
                <a:noFill/>
              </a:ln>
              <a:solidFill>
                <a:srgbClr val="29BA74"/>
              </a:solidFill>
              <a:effectLst/>
              <a:uLnTx/>
              <a:uFillTx/>
              <a:latin typeface="Trebuchet MS"/>
              <a:ea typeface="+mn-ea"/>
              <a:cs typeface="+mn-cs"/>
            </a:endParaRPr>
          </a:p>
        </p:txBody>
      </p:sp>
      <p:sp>
        <p:nvSpPr>
          <p:cNvPr id="122" name="TextBox 121">
            <a:extLst>
              <a:ext uri="{FF2B5EF4-FFF2-40B4-BE49-F238E27FC236}">
                <a16:creationId xmlns:a16="http://schemas.microsoft.com/office/drawing/2014/main" id="{B5AC3579-9F7C-4393-A9DA-054E5AEC5B12}"/>
              </a:ext>
            </a:extLst>
          </p:cNvPr>
          <p:cNvSpPr txBox="1"/>
          <p:nvPr/>
        </p:nvSpPr>
        <p:spPr>
          <a:xfrm>
            <a:off x="5472579" y="202961"/>
            <a:ext cx="6073197" cy="401816"/>
          </a:xfrm>
          <a:prstGeom prst="rect">
            <a:avLst/>
          </a:prstGeom>
          <a:noFill/>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txBody>
          <a:bodyPr wrap="square" lIns="93761" tIns="92285" rIns="93761" bIns="92285" rtlCol="0" anchor="t">
            <a:spAutoFit/>
          </a:bodyPr>
          <a:lstStyle/>
          <a:p>
            <a:pPr marL="0" marR="0" lvl="0" indent="0" algn="r" defTabSz="685800" rtl="0" eaLnBrk="1" fontAlgn="auto" latinLnBrk="0" hangingPunct="1">
              <a:lnSpc>
                <a:spcPct val="100000"/>
              </a:lnSpc>
              <a:spcBef>
                <a:spcPts val="0"/>
              </a:spcBef>
              <a:spcAft>
                <a:spcPts val="0"/>
              </a:spcAft>
              <a:buClrTx/>
              <a:buSzTx/>
              <a:buFontTx/>
              <a:buNone/>
              <a:tabLst/>
              <a:defRPr/>
            </a:pPr>
            <a:r>
              <a:rPr kumimoji="0" lang="fi-FI" sz="1400" b="0" i="0" u="none" strike="noStrike" kern="1200" cap="none" spc="0" normalizeH="0" baseline="0" noProof="0">
                <a:ln>
                  <a:noFill/>
                </a:ln>
                <a:solidFill>
                  <a:srgbClr val="29BA74"/>
                </a:solidFill>
                <a:effectLst/>
                <a:uLnTx/>
                <a:uFillTx/>
                <a:latin typeface="OP Chevin Pro Light"/>
                <a:ea typeface="+mn-ea"/>
                <a:cs typeface="+mn-cs"/>
              </a:rPr>
              <a:t>Leveraging data-driven customer pathways</a:t>
            </a:r>
            <a:endParaRPr kumimoji="0" lang="fi-FI" sz="1400" b="0" i="1" u="none" strike="noStrike" kern="1200" cap="none" spc="0" normalizeH="0" baseline="0" noProof="0">
              <a:ln>
                <a:noFill/>
              </a:ln>
              <a:solidFill>
                <a:srgbClr val="29BA74"/>
              </a:solidFill>
              <a:effectLst/>
              <a:uLnTx/>
              <a:uFillTx/>
              <a:latin typeface="OP Chevin Pro Light"/>
              <a:ea typeface="+mn-ea"/>
              <a:cs typeface="+mn-cs"/>
            </a:endParaRPr>
          </a:p>
        </p:txBody>
      </p:sp>
    </p:spTree>
    <p:extLst>
      <p:ext uri="{BB962C8B-B14F-4D97-AF65-F5344CB8AC3E}">
        <p14:creationId xmlns:p14="http://schemas.microsoft.com/office/powerpoint/2010/main" val="75848751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Object 14" hidden="1"/>
          <p:cNvGraphicFramePr>
            <a:graphicFrameLocks noChangeAspect="1"/>
          </p:cNvGraphicFramePr>
          <p:nvPr>
            <p:custDataLst>
              <p:tags r:id="rId1"/>
            </p:custDataLst>
          </p:nvPr>
        </p:nvGraphicFramePr>
        <p:xfrm>
          <a:off x="1589" y="1589"/>
          <a:ext cx="1587" cy="1587"/>
        </p:xfrm>
        <a:graphic>
          <a:graphicData uri="http://schemas.openxmlformats.org/presentationml/2006/ole">
            <mc:AlternateContent xmlns:mc="http://schemas.openxmlformats.org/markup-compatibility/2006">
              <mc:Choice xmlns:v="urn:schemas-microsoft-com:vml" Requires="v">
                <p:oleObj name="think-cell Slide" r:id="rId13" imgW="270" imgH="270" progId="TCLayout.ActiveDocument.1">
                  <p:embed/>
                </p:oleObj>
              </mc:Choice>
              <mc:Fallback>
                <p:oleObj name="think-cell Slide" r:id="rId13" imgW="270" imgH="270" progId="TCLayout.ActiveDocument.1">
                  <p:embed/>
                  <p:pic>
                    <p:nvPicPr>
                      <p:cNvPr id="15" name="Object 14" hidden="1"/>
                      <p:cNvPicPr/>
                      <p:nvPr/>
                    </p:nvPicPr>
                    <p:blipFill>
                      <a:blip r:embed="rId14"/>
                      <a:stretch>
                        <a:fillRect/>
                      </a:stretch>
                    </p:blipFill>
                    <p:spPr>
                      <a:xfrm>
                        <a:off x="1589" y="1589"/>
                        <a:ext cx="1587" cy="1587"/>
                      </a:xfrm>
                      <a:prstGeom prst="rect">
                        <a:avLst/>
                      </a:prstGeom>
                    </p:spPr>
                  </p:pic>
                </p:oleObj>
              </mc:Fallback>
            </mc:AlternateContent>
          </a:graphicData>
        </a:graphic>
      </p:graphicFrame>
      <p:pic>
        <p:nvPicPr>
          <p:cNvPr id="43" name="Picture 42">
            <a:extLst>
              <a:ext uri="{FF2B5EF4-FFF2-40B4-BE49-F238E27FC236}">
                <a16:creationId xmlns:a16="http://schemas.microsoft.com/office/drawing/2014/main" id="{4B0F312F-80A4-334C-703F-FA6323FC7A9E}"/>
              </a:ext>
            </a:extLst>
          </p:cNvPr>
          <p:cNvPicPr>
            <a:picLocks noChangeAspect="1"/>
          </p:cNvPicPr>
          <p:nvPr>
            <p:custDataLst>
              <p:tags r:id="rId2"/>
            </p:custDataLst>
          </p:nvPr>
        </p:nvPicPr>
        <p:blipFill>
          <a:blip r:embed="rId15"/>
          <a:stretch>
            <a:fillRect/>
          </a:stretch>
        </p:blipFill>
        <p:spPr>
          <a:xfrm>
            <a:off x="621927" y="1895349"/>
            <a:ext cx="3497586" cy="1967392"/>
          </a:xfrm>
          <a:prstGeom prst="rect">
            <a:avLst/>
          </a:prstGeom>
          <a:ln w="9525" cap="flat" cmpd="sng" algn="ctr">
            <a:solidFill>
              <a:srgbClr val="9A9A9A"/>
            </a:solidFill>
            <a:prstDash val="solid"/>
            <a:round/>
            <a:headEnd type="none" w="med" len="med"/>
            <a:tailEnd type="none" w="med" len="med"/>
          </a:ln>
          <a:effectLst>
            <a:outerShdw blurRad="50800" dist="38100" dir="2700000" algn="tl" rotWithShape="0">
              <a:prstClr val="black">
                <a:alpha val="40000"/>
              </a:prstClr>
            </a:outerShdw>
          </a:effectLst>
        </p:spPr>
      </p:pic>
      <p:pic>
        <p:nvPicPr>
          <p:cNvPr id="44" name="Picture 43">
            <a:extLst>
              <a:ext uri="{FF2B5EF4-FFF2-40B4-BE49-F238E27FC236}">
                <a16:creationId xmlns:a16="http://schemas.microsoft.com/office/drawing/2014/main" id="{1939F911-B138-EC26-DA8E-012B230EB630}"/>
              </a:ext>
            </a:extLst>
          </p:cNvPr>
          <p:cNvPicPr>
            <a:picLocks noChangeAspect="1"/>
          </p:cNvPicPr>
          <p:nvPr>
            <p:custDataLst>
              <p:tags r:id="rId3"/>
            </p:custDataLst>
          </p:nvPr>
        </p:nvPicPr>
        <p:blipFill>
          <a:blip r:embed="rId16"/>
          <a:stretch>
            <a:fillRect/>
          </a:stretch>
        </p:blipFill>
        <p:spPr>
          <a:xfrm>
            <a:off x="8306644" y="1895349"/>
            <a:ext cx="3497586" cy="1967392"/>
          </a:xfrm>
          <a:prstGeom prst="rect">
            <a:avLst/>
          </a:prstGeom>
          <a:ln w="9525" cap="flat" cmpd="sng" algn="ctr">
            <a:solidFill>
              <a:srgbClr val="9A9A9A"/>
            </a:solidFill>
            <a:prstDash val="solid"/>
            <a:round/>
            <a:headEnd type="none" w="med" len="med"/>
            <a:tailEnd type="none" w="med" len="med"/>
          </a:ln>
          <a:effectLst>
            <a:outerShdw blurRad="50800" dist="38100" dir="2700000" algn="tl" rotWithShape="0">
              <a:prstClr val="black">
                <a:alpha val="40000"/>
              </a:prstClr>
            </a:outerShdw>
          </a:effectLst>
        </p:spPr>
      </p:pic>
      <p:pic>
        <p:nvPicPr>
          <p:cNvPr id="37" name="Picture 36">
            <a:extLst>
              <a:ext uri="{FF2B5EF4-FFF2-40B4-BE49-F238E27FC236}">
                <a16:creationId xmlns:a16="http://schemas.microsoft.com/office/drawing/2014/main" id="{EC4D7840-FD93-4155-B77B-BE6545C06BEF}"/>
              </a:ext>
            </a:extLst>
          </p:cNvPr>
          <p:cNvPicPr>
            <a:picLocks noChangeAspect="1"/>
          </p:cNvPicPr>
          <p:nvPr>
            <p:custDataLst>
              <p:tags r:id="rId4"/>
            </p:custDataLst>
          </p:nvPr>
        </p:nvPicPr>
        <p:blipFill>
          <a:blip r:embed="rId17"/>
          <a:stretch>
            <a:fillRect/>
          </a:stretch>
        </p:blipFill>
        <p:spPr>
          <a:xfrm>
            <a:off x="4464286" y="1895349"/>
            <a:ext cx="3492000" cy="1964250"/>
          </a:xfrm>
          <a:prstGeom prst="rect">
            <a:avLst/>
          </a:prstGeom>
          <a:ln w="9525" cap="flat" cmpd="sng" algn="ctr">
            <a:solidFill>
              <a:srgbClr val="9A9A9A"/>
            </a:solidFill>
            <a:prstDash val="solid"/>
            <a:round/>
            <a:headEnd type="none" w="med" len="med"/>
            <a:tailEnd type="none" w="med" len="med"/>
          </a:ln>
          <a:effectLst>
            <a:outerShdw blurRad="50800" dist="38100" dir="2700000" algn="tl" rotWithShape="0">
              <a:prstClr val="black">
                <a:alpha val="40000"/>
              </a:prstClr>
            </a:outerShdw>
          </a:effectLst>
        </p:spPr>
      </p:pic>
      <p:sp>
        <p:nvSpPr>
          <p:cNvPr id="5" name="Rectangle 4" hidden="1">
            <a:extLst>
              <a:ext uri="{FF2B5EF4-FFF2-40B4-BE49-F238E27FC236}">
                <a16:creationId xmlns:a16="http://schemas.microsoft.com/office/drawing/2014/main" id="{B985BA38-C927-409E-9DFD-55AEF960ACD2}"/>
              </a:ext>
            </a:extLst>
          </p:cNvPr>
          <p:cNvSpPr/>
          <p:nvPr>
            <p:custDataLst>
              <p:tags r:id="rId5"/>
            </p:custDataLst>
          </p:nvPr>
        </p:nvSpPr>
        <p:spPr>
          <a:xfrm>
            <a:off x="1" y="1"/>
            <a:ext cx="158751" cy="158751"/>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FFFFFF"/>
              </a:solidFill>
              <a:effectLst/>
              <a:uLnTx/>
              <a:uFillTx/>
              <a:latin typeface="Trebuchet MS" panose="020B0603020202020204" pitchFamily="34" charset="0"/>
              <a:ea typeface="+mn-ea"/>
              <a:cs typeface="+mn-cs"/>
              <a:sym typeface="Trebuchet MS" panose="020B0603020202020204" pitchFamily="34" charset="0"/>
            </a:endParaRPr>
          </a:p>
        </p:txBody>
      </p:sp>
      <p:sp>
        <p:nvSpPr>
          <p:cNvPr id="4" name="Rectangle 3" hidden="1">
            <a:extLst>
              <a:ext uri="{FF2B5EF4-FFF2-40B4-BE49-F238E27FC236}">
                <a16:creationId xmlns:a16="http://schemas.microsoft.com/office/drawing/2014/main" id="{24250499-F407-4349-89B7-6C51155F9D47}"/>
              </a:ext>
            </a:extLst>
          </p:cNvPr>
          <p:cNvSpPr/>
          <p:nvPr>
            <p:custDataLst>
              <p:tags r:id="rId6"/>
            </p:custDataLst>
          </p:nvPr>
        </p:nvSpPr>
        <p:spPr>
          <a:xfrm>
            <a:off x="1" y="1"/>
            <a:ext cx="158751" cy="158751"/>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rebuchet MS" panose="020B0603020202020204" pitchFamily="34" charset="0"/>
              <a:ea typeface="+mn-ea"/>
              <a:cs typeface="+mn-cs"/>
              <a:sym typeface="Trebuchet MS" panose="020B0603020202020204" pitchFamily="34" charset="0"/>
            </a:endParaRPr>
          </a:p>
        </p:txBody>
      </p:sp>
      <p:sp>
        <p:nvSpPr>
          <p:cNvPr id="14" name="Rectangle 13" hidden="1"/>
          <p:cNvSpPr/>
          <p:nvPr>
            <p:custDataLst>
              <p:tags r:id="rId7"/>
            </p:custDataLst>
          </p:nvPr>
        </p:nvSpPr>
        <p:spPr bwMode="gray">
          <a:xfrm>
            <a:off x="1" y="1"/>
            <a:ext cx="158751" cy="158751"/>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ct val="0"/>
              </a:spcBef>
              <a:spcAft>
                <a:spcPct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Trebuchet MS" panose="020B0603020202020204" pitchFamily="34" charset="0"/>
              <a:ea typeface="+mn-ea"/>
              <a:cs typeface="+mn-cs"/>
              <a:sym typeface="Trebuchet MS" panose="020B0603020202020204" pitchFamily="34" charset="0"/>
            </a:endParaRPr>
          </a:p>
        </p:txBody>
      </p:sp>
      <p:sp>
        <p:nvSpPr>
          <p:cNvPr id="150" name="Title 6">
            <a:extLst>
              <a:ext uri="{FF2B5EF4-FFF2-40B4-BE49-F238E27FC236}">
                <a16:creationId xmlns:a16="http://schemas.microsoft.com/office/drawing/2014/main" id="{8185A1B7-2B9F-4C07-857C-2EB337B66606}"/>
              </a:ext>
            </a:extLst>
          </p:cNvPr>
          <p:cNvSpPr>
            <a:spLocks noGrp="1"/>
          </p:cNvSpPr>
          <p:nvPr>
            <p:ph type="title"/>
          </p:nvPr>
        </p:nvSpPr>
        <p:spPr>
          <a:xfrm>
            <a:off x="630000" y="622800"/>
            <a:ext cx="10933200" cy="941796"/>
          </a:xfrm>
        </p:spPr>
        <p:txBody>
          <a:bodyPr vert="horz"/>
          <a:lstStyle/>
          <a:p>
            <a:r>
              <a:rPr lang="en-US">
                <a:solidFill>
                  <a:srgbClr val="575757"/>
                </a:solidFill>
              </a:rPr>
              <a:t>Data clustering allocated the client’s customer base into </a:t>
            </a:r>
            <a:r>
              <a:rPr lang="en-US">
                <a:solidFill>
                  <a:srgbClr val="29BA74"/>
                </a:solidFill>
              </a:rPr>
              <a:t>6 need-based segments based on need trade-offs</a:t>
            </a:r>
          </a:p>
        </p:txBody>
      </p:sp>
      <p:sp>
        <p:nvSpPr>
          <p:cNvPr id="3" name="TextBox 2">
            <a:extLst>
              <a:ext uri="{FF2B5EF4-FFF2-40B4-BE49-F238E27FC236}">
                <a16:creationId xmlns:a16="http://schemas.microsoft.com/office/drawing/2014/main" id="{0DA02855-E829-4AAC-A3FD-5CB3B2C81F47}"/>
              </a:ext>
            </a:extLst>
          </p:cNvPr>
          <p:cNvSpPr txBox="1"/>
          <p:nvPr/>
        </p:nvSpPr>
        <p:spPr>
          <a:xfrm>
            <a:off x="599067" y="4135535"/>
            <a:ext cx="3511409" cy="2031325"/>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575757"/>
                </a:solidFill>
                <a:effectLst/>
                <a:uLnTx/>
                <a:uFillTx/>
                <a:latin typeface="Trebuchet MS"/>
                <a:ea typeface="+mn-ea"/>
                <a:cs typeface="+mn-cs"/>
              </a:rPr>
              <a:t>Across client's market, we </a:t>
            </a:r>
            <a:r>
              <a:rPr kumimoji="0" lang="en-US" sz="1800" b="0" i="0" u="none" strike="noStrike" kern="1200" cap="none" spc="0" normalizeH="0" baseline="0" noProof="0">
                <a:ln>
                  <a:noFill/>
                </a:ln>
                <a:solidFill>
                  <a:srgbClr val="29BA74"/>
                </a:solidFill>
                <a:effectLst/>
                <a:uLnTx/>
                <a:uFillTx/>
                <a:latin typeface="Trebuchet MS"/>
                <a:ea typeface="+mn-ea"/>
                <a:cs typeface="+mn-cs"/>
              </a:rPr>
              <a:t>surveyed banking customers</a:t>
            </a:r>
            <a:r>
              <a:rPr kumimoji="0" lang="en-US" sz="1800" b="0" i="0" u="none" strike="noStrike" kern="1200" cap="none" spc="0" normalizeH="0" baseline="0" noProof="0">
                <a:ln>
                  <a:noFill/>
                </a:ln>
                <a:solidFill>
                  <a:srgbClr val="575757"/>
                </a:solidFill>
                <a:effectLst/>
                <a:uLnTx/>
                <a:uFillTx/>
                <a:latin typeface="Trebuchet MS"/>
                <a:ea typeface="+mn-ea"/>
                <a:cs typeface="+mn-cs"/>
              </a:rPr>
              <a:t> to learn about their </a:t>
            </a:r>
            <a:r>
              <a:rPr kumimoji="0" lang="en-US" sz="1800" b="0" i="0" u="none" strike="noStrike" kern="1200" cap="none" spc="0" normalizeH="0" baseline="0" noProof="0">
                <a:ln>
                  <a:noFill/>
                </a:ln>
                <a:solidFill>
                  <a:srgbClr val="29BA74"/>
                </a:solidFill>
                <a:effectLst/>
                <a:uLnTx/>
                <a:uFillTx/>
                <a:latin typeface="Trebuchet MS"/>
                <a:ea typeface="+mn-ea"/>
                <a:cs typeface="+mn-cs"/>
              </a:rPr>
              <a:t>purchase criteria</a:t>
            </a:r>
            <a:r>
              <a:rPr kumimoji="0" lang="en-US" sz="1800" b="0" i="0" u="none" strike="noStrike" kern="1200" cap="none" spc="0" normalizeH="0" baseline="0" noProof="0">
                <a:ln>
                  <a:noFill/>
                </a:ln>
                <a:solidFill>
                  <a:srgbClr val="575757"/>
                </a:solidFill>
                <a:effectLst/>
                <a:uLnTx/>
                <a:uFillTx/>
                <a:latin typeface="Trebuchet MS"/>
                <a:ea typeface="+mn-ea"/>
                <a:cs typeface="+mn-cs"/>
              </a:rPr>
              <a:t> and trade-offs they make in daily banking, mortgages, &amp; investment contexts.</a:t>
            </a:r>
          </a:p>
        </p:txBody>
      </p:sp>
      <p:sp>
        <p:nvSpPr>
          <p:cNvPr id="94" name="TextBox 93">
            <a:extLst>
              <a:ext uri="{FF2B5EF4-FFF2-40B4-BE49-F238E27FC236}">
                <a16:creationId xmlns:a16="http://schemas.microsoft.com/office/drawing/2014/main" id="{E32B0836-1786-455C-8B30-FD6ADF8ABCA7}"/>
              </a:ext>
            </a:extLst>
          </p:cNvPr>
          <p:cNvSpPr txBox="1"/>
          <p:nvPr/>
        </p:nvSpPr>
        <p:spPr>
          <a:xfrm>
            <a:off x="4558405" y="4135535"/>
            <a:ext cx="3377154" cy="1754326"/>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575757"/>
                </a:solidFill>
                <a:effectLst/>
                <a:uLnTx/>
                <a:uFillTx/>
                <a:latin typeface="Trebuchet MS"/>
                <a:ea typeface="+mn-ea"/>
                <a:cs typeface="+mn-cs"/>
              </a:rPr>
              <a:t>Through data clustering,</a:t>
            </a:r>
            <a:r>
              <a:rPr kumimoji="0" lang="en-US" sz="1800" b="0" i="0" u="none" strike="noStrike" kern="1200" cap="none" spc="0" normalizeH="0" baseline="0" noProof="0">
                <a:ln>
                  <a:noFill/>
                </a:ln>
                <a:solidFill>
                  <a:srgbClr val="29BA74"/>
                </a:solidFill>
                <a:effectLst/>
                <a:uLnTx/>
                <a:uFillTx/>
                <a:latin typeface="Trebuchet MS"/>
                <a:ea typeface="+mn-ea"/>
                <a:cs typeface="+mn-cs"/>
              </a:rPr>
              <a:t> we identified 6 need-based segments </a:t>
            </a:r>
            <a:r>
              <a:rPr kumimoji="0" lang="en-US" sz="1800" b="0" i="0" u="none" strike="noStrike" kern="1200" cap="none" spc="0" normalizeH="0" baseline="0" noProof="0">
                <a:ln>
                  <a:noFill/>
                </a:ln>
                <a:solidFill>
                  <a:srgbClr val="575757"/>
                </a:solidFill>
                <a:effectLst/>
                <a:uLnTx/>
                <a:uFillTx/>
                <a:latin typeface="Trebuchet MS"/>
                <a:ea typeface="+mn-ea"/>
                <a:cs typeface="+mn-cs"/>
              </a:rPr>
              <a:t>from that survey</a:t>
            </a:r>
            <a:r>
              <a:rPr kumimoji="0" lang="en-US" sz="1800" b="0" i="0" u="none" strike="noStrike" kern="1200" cap="none" spc="0" normalizeH="0" baseline="0" noProof="0">
                <a:ln>
                  <a:noFill/>
                </a:ln>
                <a:solidFill>
                  <a:srgbClr val="6E6E6E"/>
                </a:solidFill>
                <a:effectLst/>
                <a:uLnTx/>
                <a:uFillTx/>
                <a:latin typeface="Trebuchet MS"/>
                <a:ea typeface="+mn-ea"/>
                <a:cs typeface="+mn-cs"/>
              </a:rPr>
              <a:t>, and analyzed the segments’ growth &amp; financial opportunities.</a:t>
            </a:r>
          </a:p>
        </p:txBody>
      </p:sp>
      <p:sp>
        <p:nvSpPr>
          <p:cNvPr id="95" name="TextBox 94">
            <a:extLst>
              <a:ext uri="{FF2B5EF4-FFF2-40B4-BE49-F238E27FC236}">
                <a16:creationId xmlns:a16="http://schemas.microsoft.com/office/drawing/2014/main" id="{2414CA6E-BC43-4E06-AA1B-829DAE8137C8}"/>
              </a:ext>
            </a:extLst>
          </p:cNvPr>
          <p:cNvSpPr txBox="1"/>
          <p:nvPr/>
        </p:nvSpPr>
        <p:spPr>
          <a:xfrm>
            <a:off x="8383488" y="4135535"/>
            <a:ext cx="3312000" cy="2308324"/>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143996" marR="0" lvl="1" indent="0" algn="l" defTabSz="914400" rtl="0" eaLnBrk="1" fontAlgn="auto" latinLnBrk="0" hangingPunct="1">
              <a:lnSpc>
                <a:spcPct val="100000"/>
              </a:lnSpc>
              <a:spcBef>
                <a:spcPts val="0"/>
              </a:spcBef>
              <a:spcAft>
                <a:spcPts val="0"/>
              </a:spcAft>
              <a:buClr>
                <a:srgbClr val="FF6A10"/>
              </a:buClr>
              <a:buSzTx/>
              <a:buFontTx/>
              <a:buNone/>
              <a:tabLst/>
              <a:defRPr/>
            </a:pPr>
            <a:r>
              <a:rPr kumimoji="0" lang="en-US" sz="1800" b="0" i="0" u="none" strike="noStrike" kern="1200" cap="none" spc="0" normalizeH="0" baseline="0" noProof="0">
                <a:ln>
                  <a:noFill/>
                </a:ln>
                <a:solidFill>
                  <a:srgbClr val="6E6E6E"/>
                </a:solidFill>
                <a:effectLst/>
                <a:uLnTx/>
                <a:uFillTx/>
                <a:latin typeface="Trebuchet MS"/>
                <a:ea typeface="+mn-ea"/>
                <a:cs typeface="+mn-cs"/>
              </a:rPr>
              <a:t>Refining the market-wide insights with additional </a:t>
            </a:r>
            <a:r>
              <a:rPr kumimoji="0" lang="en-US" sz="1800" b="0" i="0" u="none" strike="noStrike" kern="1200" cap="none" spc="0" normalizeH="0" baseline="0" noProof="0">
                <a:ln>
                  <a:noFill/>
                </a:ln>
                <a:solidFill>
                  <a:srgbClr val="29BA74"/>
                </a:solidFill>
                <a:effectLst/>
                <a:uLnTx/>
                <a:uFillTx/>
                <a:latin typeface="Trebuchet MS"/>
                <a:ea typeface="+mn-ea"/>
                <a:cs typeface="+mn-cs"/>
              </a:rPr>
              <a:t>bank-internal survey results </a:t>
            </a:r>
            <a:r>
              <a:rPr kumimoji="0" lang="en-US" sz="1800" b="0" i="0" u="none" strike="noStrike" kern="1200" cap="none" spc="0" normalizeH="0" baseline="0" noProof="0">
                <a:ln>
                  <a:noFill/>
                </a:ln>
                <a:solidFill>
                  <a:srgbClr val="6E6E6E"/>
                </a:solidFill>
                <a:effectLst/>
                <a:uLnTx/>
                <a:uFillTx/>
                <a:latin typeface="Trebuchet MS"/>
                <a:ea typeface="+mn-ea"/>
                <a:cs typeface="+mn-cs"/>
              </a:rPr>
              <a:t>enabled us to build a predictive model to allocate the entire customer base to need-segments in a data-driven manner.</a:t>
            </a:r>
            <a:endParaRPr kumimoji="0" lang="en-US" sz="1800" b="0" i="0" u="none" strike="noStrike" kern="1200" cap="none" spc="0" normalizeH="0" baseline="0" noProof="0">
              <a:ln>
                <a:noFill/>
              </a:ln>
              <a:solidFill>
                <a:srgbClr val="29BA74"/>
              </a:solidFill>
              <a:effectLst/>
              <a:uLnTx/>
              <a:uFillTx/>
              <a:latin typeface="Trebuchet MS"/>
              <a:ea typeface="+mn-ea"/>
              <a:cs typeface="+mn-cs"/>
            </a:endParaRPr>
          </a:p>
        </p:txBody>
      </p:sp>
      <p:sp>
        <p:nvSpPr>
          <p:cNvPr id="35" name="Oval 20">
            <a:extLst>
              <a:ext uri="{FF2B5EF4-FFF2-40B4-BE49-F238E27FC236}">
                <a16:creationId xmlns:a16="http://schemas.microsoft.com/office/drawing/2014/main" id="{CE23B59B-28C1-474D-82D9-3539229BC24D}"/>
              </a:ext>
            </a:extLst>
          </p:cNvPr>
          <p:cNvSpPr>
            <a:spLocks noChangeAspect="1" noChangeArrowheads="1"/>
          </p:cNvSpPr>
          <p:nvPr/>
        </p:nvSpPr>
        <p:spPr bwMode="auto">
          <a:xfrm>
            <a:off x="11614350" y="190800"/>
            <a:ext cx="432000" cy="432000"/>
          </a:xfrm>
          <a:prstGeom prst="ellipse">
            <a:avLst/>
          </a:prstGeom>
          <a:solidFill>
            <a:srgbClr val="FFFFFF"/>
          </a:solidFill>
          <a:ln w="9525" cap="flat" cmpd="sng" algn="ctr">
            <a:solidFill>
              <a:srgbClr val="29BA74"/>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9BA74"/>
                </a:solidFill>
                <a:effectLst/>
                <a:uLnTx/>
                <a:uFillTx/>
                <a:latin typeface="Trebuchet MS"/>
                <a:ea typeface="+mn-ea"/>
                <a:cs typeface="+mn-cs"/>
              </a:rPr>
              <a:t>B</a:t>
            </a:r>
            <a:endParaRPr kumimoji="0" lang="en-US" sz="1000" b="0" i="0" u="none" strike="noStrike" kern="1200" cap="none" spc="0" normalizeH="0" baseline="0" noProof="0">
              <a:ln>
                <a:noFill/>
              </a:ln>
              <a:solidFill>
                <a:srgbClr val="29BA74"/>
              </a:solidFill>
              <a:effectLst/>
              <a:uLnTx/>
              <a:uFillTx/>
              <a:latin typeface="Trebuchet MS"/>
              <a:ea typeface="+mn-ea"/>
              <a:cs typeface="+mn-cs"/>
            </a:endParaRPr>
          </a:p>
        </p:txBody>
      </p:sp>
      <p:grpSp>
        <p:nvGrpSpPr>
          <p:cNvPr id="72" name="Group 71">
            <a:extLst>
              <a:ext uri="{FF2B5EF4-FFF2-40B4-BE49-F238E27FC236}">
                <a16:creationId xmlns:a16="http://schemas.microsoft.com/office/drawing/2014/main" id="{1A9DC96B-00B8-0951-A1A0-B0B6F0B06FCD}"/>
              </a:ext>
            </a:extLst>
          </p:cNvPr>
          <p:cNvGrpSpPr/>
          <p:nvPr/>
        </p:nvGrpSpPr>
        <p:grpSpPr>
          <a:xfrm>
            <a:off x="7526406" y="1560179"/>
            <a:ext cx="720000" cy="720000"/>
            <a:chOff x="3517249" y="1118945"/>
            <a:chExt cx="720000" cy="720000"/>
          </a:xfrm>
        </p:grpSpPr>
        <p:sp>
          <p:nvSpPr>
            <p:cNvPr id="73" name="Oval 72">
              <a:extLst>
                <a:ext uri="{FF2B5EF4-FFF2-40B4-BE49-F238E27FC236}">
                  <a16:creationId xmlns:a16="http://schemas.microsoft.com/office/drawing/2014/main" id="{A3125594-9512-6CDB-C0A4-11D12B7B33C6}"/>
                </a:ext>
              </a:extLst>
            </p:cNvPr>
            <p:cNvSpPr/>
            <p:nvPr>
              <p:custDataLst>
                <p:tags r:id="rId10"/>
              </p:custDataLst>
            </p:nvPr>
          </p:nvSpPr>
          <p:spPr>
            <a:xfrm>
              <a:off x="3517249" y="1118945"/>
              <a:ext cx="720000" cy="720000"/>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lumMod val="50000"/>
                  </a:prstClr>
                </a:solidFill>
                <a:effectLst/>
                <a:uLnTx/>
                <a:uFillTx/>
                <a:latin typeface="Trebuchet MS"/>
                <a:ea typeface="+mn-ea"/>
                <a:cs typeface="+mn-cs"/>
              </a:endParaRPr>
            </a:p>
          </p:txBody>
        </p:sp>
        <p:grpSp>
          <p:nvGrpSpPr>
            <p:cNvPr id="74" name="Group 73">
              <a:extLst>
                <a:ext uri="{FF2B5EF4-FFF2-40B4-BE49-F238E27FC236}">
                  <a16:creationId xmlns:a16="http://schemas.microsoft.com/office/drawing/2014/main" id="{71E9ED0E-DD0A-ECC6-AA51-8512E8D57014}"/>
                </a:ext>
              </a:extLst>
            </p:cNvPr>
            <p:cNvGrpSpPr>
              <a:grpSpLocks noChangeAspect="1"/>
            </p:cNvGrpSpPr>
            <p:nvPr/>
          </p:nvGrpSpPr>
          <p:grpSpPr>
            <a:xfrm>
              <a:off x="3566799" y="1216424"/>
              <a:ext cx="586100" cy="586100"/>
              <a:chOff x="5314277" y="2606039"/>
              <a:chExt cx="1644396" cy="1644396"/>
            </a:xfrm>
          </p:grpSpPr>
          <p:sp>
            <p:nvSpPr>
              <p:cNvPr id="75" name="AutoShape 3">
                <a:extLst>
                  <a:ext uri="{FF2B5EF4-FFF2-40B4-BE49-F238E27FC236}">
                    <a16:creationId xmlns:a16="http://schemas.microsoft.com/office/drawing/2014/main" id="{24179E6A-C9E9-D61F-378E-1D3FE67A7619}"/>
                  </a:ext>
                </a:extLst>
              </p:cNvPr>
              <p:cNvSpPr>
                <a:spLocks noChangeAspect="1" noChangeArrowheads="1" noTextEdit="1"/>
              </p:cNvSpPr>
              <p:nvPr/>
            </p:nvSpPr>
            <p:spPr bwMode="auto">
              <a:xfrm>
                <a:off x="5314277" y="2606039"/>
                <a:ext cx="1644396" cy="1644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575757"/>
                  </a:solidFill>
                  <a:effectLst/>
                  <a:uLnTx/>
                  <a:uFillTx/>
                  <a:latin typeface="Trebuchet MS"/>
                  <a:ea typeface="+mn-ea"/>
                  <a:cs typeface="+mn-cs"/>
                </a:endParaRPr>
              </a:p>
            </p:txBody>
          </p:sp>
          <p:grpSp>
            <p:nvGrpSpPr>
              <p:cNvPr id="76" name="Group 75">
                <a:extLst>
                  <a:ext uri="{FF2B5EF4-FFF2-40B4-BE49-F238E27FC236}">
                    <a16:creationId xmlns:a16="http://schemas.microsoft.com/office/drawing/2014/main" id="{4F66C759-68F8-9C83-53B8-50BB23D561DB}"/>
                  </a:ext>
                </a:extLst>
              </p:cNvPr>
              <p:cNvGrpSpPr/>
              <p:nvPr/>
            </p:nvGrpSpPr>
            <p:grpSpPr>
              <a:xfrm>
                <a:off x="5383323" y="2775876"/>
                <a:ext cx="1304723" cy="1304723"/>
                <a:chOff x="5383323" y="2775876"/>
                <a:chExt cx="1304723" cy="1304723"/>
              </a:xfrm>
            </p:grpSpPr>
            <p:sp>
              <p:nvSpPr>
                <p:cNvPr id="77" name="Freeform 5">
                  <a:extLst>
                    <a:ext uri="{FF2B5EF4-FFF2-40B4-BE49-F238E27FC236}">
                      <a16:creationId xmlns:a16="http://schemas.microsoft.com/office/drawing/2014/main" id="{DE313B15-508B-5EF5-8386-F150C573D194}"/>
                    </a:ext>
                  </a:extLst>
                </p:cNvPr>
                <p:cNvSpPr>
                  <a:spLocks noEditPoints="1"/>
                </p:cNvSpPr>
                <p:nvPr/>
              </p:nvSpPr>
              <p:spPr bwMode="auto">
                <a:xfrm>
                  <a:off x="5383323" y="2775876"/>
                  <a:ext cx="1304723" cy="1304723"/>
                </a:xfrm>
                <a:custGeom>
                  <a:avLst/>
                  <a:gdLst>
                    <a:gd name="T0" fmla="*/ 1665 w 1827"/>
                    <a:gd name="T1" fmla="*/ 1147 h 1828"/>
                    <a:gd name="T2" fmla="*/ 1675 w 1827"/>
                    <a:gd name="T3" fmla="*/ 1370 h 1828"/>
                    <a:gd name="T4" fmla="*/ 1329 w 1827"/>
                    <a:gd name="T5" fmla="*/ 1536 h 1828"/>
                    <a:gd name="T6" fmla="*/ 1306 w 1827"/>
                    <a:gd name="T7" fmla="*/ 1828 h 1828"/>
                    <a:gd name="T8" fmla="*/ 729 w 1827"/>
                    <a:gd name="T9" fmla="*/ 1727 h 1828"/>
                    <a:gd name="T10" fmla="*/ 714 w 1827"/>
                    <a:gd name="T11" fmla="*/ 1419 h 1828"/>
                    <a:gd name="T12" fmla="*/ 720 w 1827"/>
                    <a:gd name="T13" fmla="*/ 1423 h 1828"/>
                    <a:gd name="T14" fmla="*/ 762 w 1827"/>
                    <a:gd name="T15" fmla="*/ 1689 h 1828"/>
                    <a:gd name="T16" fmla="*/ 1282 w 1827"/>
                    <a:gd name="T17" fmla="*/ 1510 h 1828"/>
                    <a:gd name="T18" fmla="*/ 1309 w 1827"/>
                    <a:gd name="T19" fmla="*/ 1486 h 1828"/>
                    <a:gd name="T20" fmla="*/ 1627 w 1827"/>
                    <a:gd name="T21" fmla="*/ 1366 h 1828"/>
                    <a:gd name="T22" fmla="*/ 1615 w 1827"/>
                    <a:gd name="T23" fmla="*/ 1124 h 1828"/>
                    <a:gd name="T24" fmla="*/ 1641 w 1827"/>
                    <a:gd name="T25" fmla="*/ 1098 h 1828"/>
                    <a:gd name="T26" fmla="*/ 1715 w 1827"/>
                    <a:gd name="T27" fmla="*/ 986 h 1828"/>
                    <a:gd name="T28" fmla="*/ 1628 w 1827"/>
                    <a:gd name="T29" fmla="*/ 829 h 1828"/>
                    <a:gd name="T30" fmla="*/ 1604 w 1827"/>
                    <a:gd name="T31" fmla="*/ 671 h 1828"/>
                    <a:gd name="T32" fmla="*/ 1635 w 1827"/>
                    <a:gd name="T33" fmla="*/ 530 h 1828"/>
                    <a:gd name="T34" fmla="*/ 1664 w 1827"/>
                    <a:gd name="T35" fmla="*/ 753 h 1828"/>
                    <a:gd name="T36" fmla="*/ 1737 w 1827"/>
                    <a:gd name="T37" fmla="*/ 940 h 1828"/>
                    <a:gd name="T38" fmla="*/ 1816 w 1827"/>
                    <a:gd name="T39" fmla="*/ 1073 h 1828"/>
                    <a:gd name="T40" fmla="*/ 690 w 1827"/>
                    <a:gd name="T41" fmla="*/ 48 h 1828"/>
                    <a:gd name="T42" fmla="*/ 656 w 1827"/>
                    <a:gd name="T43" fmla="*/ 56 h 1828"/>
                    <a:gd name="T44" fmla="*/ 655 w 1827"/>
                    <a:gd name="T45" fmla="*/ 56 h 1828"/>
                    <a:gd name="T46" fmla="*/ 654 w 1827"/>
                    <a:gd name="T47" fmla="*/ 57 h 1828"/>
                    <a:gd name="T48" fmla="*/ 591 w 1827"/>
                    <a:gd name="T49" fmla="*/ 103 h 1828"/>
                    <a:gd name="T50" fmla="*/ 590 w 1827"/>
                    <a:gd name="T51" fmla="*/ 104 h 1828"/>
                    <a:gd name="T52" fmla="*/ 540 w 1827"/>
                    <a:gd name="T53" fmla="*/ 145 h 1828"/>
                    <a:gd name="T54" fmla="*/ 499 w 1827"/>
                    <a:gd name="T55" fmla="*/ 125 h 1828"/>
                    <a:gd name="T56" fmla="*/ 485 w 1827"/>
                    <a:gd name="T57" fmla="*/ 108 h 1828"/>
                    <a:gd name="T58" fmla="*/ 228 w 1827"/>
                    <a:gd name="T59" fmla="*/ 161 h 1828"/>
                    <a:gd name="T60" fmla="*/ 535 w 1827"/>
                    <a:gd name="T61" fmla="*/ 543 h 1828"/>
                    <a:gd name="T62" fmla="*/ 537 w 1827"/>
                    <a:gd name="T63" fmla="*/ 543 h 1828"/>
                    <a:gd name="T64" fmla="*/ 849 w 1827"/>
                    <a:gd name="T65" fmla="*/ 193 h 1828"/>
                    <a:gd name="T66" fmla="*/ 705 w 1827"/>
                    <a:gd name="T67" fmla="*/ 47 h 1828"/>
                    <a:gd name="T68" fmla="*/ 897 w 1827"/>
                    <a:gd name="T69" fmla="*/ 192 h 1828"/>
                    <a:gd name="T70" fmla="*/ 558 w 1827"/>
                    <a:gd name="T71" fmla="*/ 585 h 1828"/>
                    <a:gd name="T72" fmla="*/ 536 w 1827"/>
                    <a:gd name="T73" fmla="*/ 596 h 1828"/>
                    <a:gd name="T74" fmla="*/ 514 w 1827"/>
                    <a:gd name="T75" fmla="*/ 585 h 1828"/>
                    <a:gd name="T76" fmla="*/ 522 w 1827"/>
                    <a:gd name="T77" fmla="*/ 78 h 1828"/>
                    <a:gd name="T78" fmla="*/ 538 w 1827"/>
                    <a:gd name="T79" fmla="*/ 98 h 1828"/>
                    <a:gd name="T80" fmla="*/ 553 w 1827"/>
                    <a:gd name="T81" fmla="*/ 75 h 1828"/>
                    <a:gd name="T82" fmla="*/ 638 w 1827"/>
                    <a:gd name="T83" fmla="*/ 12 h 1828"/>
                    <a:gd name="T84" fmla="*/ 640 w 1827"/>
                    <a:gd name="T85" fmla="*/ 12 h 1828"/>
                    <a:gd name="T86" fmla="*/ 705 w 1827"/>
                    <a:gd name="T87" fmla="*/ 0 h 1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27" h="1828">
                      <a:moveTo>
                        <a:pt x="1816" y="1073"/>
                      </a:moveTo>
                      <a:cubicBezTo>
                        <a:pt x="1810" y="1092"/>
                        <a:pt x="1780" y="1148"/>
                        <a:pt x="1665" y="1147"/>
                      </a:cubicBezTo>
                      <a:cubicBezTo>
                        <a:pt x="1670" y="1195"/>
                        <a:pt x="1679" y="1295"/>
                        <a:pt x="1675" y="1359"/>
                      </a:cubicBezTo>
                      <a:cubicBezTo>
                        <a:pt x="1675" y="1370"/>
                        <a:pt x="1675" y="1370"/>
                        <a:pt x="1675" y="1370"/>
                      </a:cubicBezTo>
                      <a:cubicBezTo>
                        <a:pt x="1669" y="1457"/>
                        <a:pt x="1666" y="1505"/>
                        <a:pt x="1633" y="1522"/>
                      </a:cubicBezTo>
                      <a:cubicBezTo>
                        <a:pt x="1607" y="1535"/>
                        <a:pt x="1498" y="1556"/>
                        <a:pt x="1329" y="1536"/>
                      </a:cubicBezTo>
                      <a:cubicBezTo>
                        <a:pt x="1329" y="1804"/>
                        <a:pt x="1329" y="1804"/>
                        <a:pt x="1329" y="1804"/>
                      </a:cubicBezTo>
                      <a:cubicBezTo>
                        <a:pt x="1329" y="1817"/>
                        <a:pt x="1319" y="1828"/>
                        <a:pt x="1306" y="1828"/>
                      </a:cubicBezTo>
                      <a:cubicBezTo>
                        <a:pt x="1305" y="1828"/>
                        <a:pt x="1305" y="1828"/>
                        <a:pt x="1304" y="1828"/>
                      </a:cubicBezTo>
                      <a:cubicBezTo>
                        <a:pt x="1280" y="1828"/>
                        <a:pt x="970" y="1826"/>
                        <a:pt x="729" y="1727"/>
                      </a:cubicBezTo>
                      <a:cubicBezTo>
                        <a:pt x="720" y="1724"/>
                        <a:pt x="714" y="1715"/>
                        <a:pt x="714" y="1705"/>
                      </a:cubicBezTo>
                      <a:cubicBezTo>
                        <a:pt x="714" y="1419"/>
                        <a:pt x="714" y="1419"/>
                        <a:pt x="714" y="1419"/>
                      </a:cubicBezTo>
                      <a:cubicBezTo>
                        <a:pt x="714" y="1419"/>
                        <a:pt x="714" y="1418"/>
                        <a:pt x="714" y="1418"/>
                      </a:cubicBezTo>
                      <a:cubicBezTo>
                        <a:pt x="716" y="1420"/>
                        <a:pt x="718" y="1421"/>
                        <a:pt x="720" y="1423"/>
                      </a:cubicBezTo>
                      <a:cubicBezTo>
                        <a:pt x="726" y="1429"/>
                        <a:pt x="745" y="1444"/>
                        <a:pt x="762" y="1454"/>
                      </a:cubicBezTo>
                      <a:cubicBezTo>
                        <a:pt x="762" y="1689"/>
                        <a:pt x="762" y="1689"/>
                        <a:pt x="762" y="1689"/>
                      </a:cubicBezTo>
                      <a:cubicBezTo>
                        <a:pt x="959" y="1766"/>
                        <a:pt x="1205" y="1778"/>
                        <a:pt x="1282" y="1780"/>
                      </a:cubicBezTo>
                      <a:cubicBezTo>
                        <a:pt x="1282" y="1510"/>
                        <a:pt x="1282" y="1510"/>
                        <a:pt x="1282" y="1510"/>
                      </a:cubicBezTo>
                      <a:cubicBezTo>
                        <a:pt x="1282" y="1503"/>
                        <a:pt x="1285" y="1496"/>
                        <a:pt x="1290" y="1492"/>
                      </a:cubicBezTo>
                      <a:cubicBezTo>
                        <a:pt x="1295" y="1487"/>
                        <a:pt x="1302" y="1485"/>
                        <a:pt x="1309" y="1486"/>
                      </a:cubicBezTo>
                      <a:cubicBezTo>
                        <a:pt x="1484" y="1510"/>
                        <a:pt x="1595" y="1488"/>
                        <a:pt x="1611" y="1480"/>
                      </a:cubicBezTo>
                      <a:cubicBezTo>
                        <a:pt x="1620" y="1473"/>
                        <a:pt x="1624" y="1416"/>
                        <a:pt x="1627" y="1366"/>
                      </a:cubicBezTo>
                      <a:cubicBezTo>
                        <a:pt x="1628" y="1355"/>
                        <a:pt x="1628" y="1355"/>
                        <a:pt x="1628" y="1355"/>
                      </a:cubicBezTo>
                      <a:cubicBezTo>
                        <a:pt x="1633" y="1276"/>
                        <a:pt x="1615" y="1126"/>
                        <a:pt x="1615" y="1124"/>
                      </a:cubicBezTo>
                      <a:cubicBezTo>
                        <a:pt x="1614" y="1117"/>
                        <a:pt x="1617" y="1110"/>
                        <a:pt x="1622" y="1105"/>
                      </a:cubicBezTo>
                      <a:cubicBezTo>
                        <a:pt x="1627" y="1100"/>
                        <a:pt x="1634" y="1097"/>
                        <a:pt x="1641" y="1098"/>
                      </a:cubicBezTo>
                      <a:cubicBezTo>
                        <a:pt x="1723" y="1105"/>
                        <a:pt x="1762" y="1082"/>
                        <a:pt x="1771" y="1059"/>
                      </a:cubicBezTo>
                      <a:cubicBezTo>
                        <a:pt x="1769" y="1045"/>
                        <a:pt x="1733" y="1005"/>
                        <a:pt x="1715" y="986"/>
                      </a:cubicBezTo>
                      <a:cubicBezTo>
                        <a:pt x="1711" y="981"/>
                        <a:pt x="1706" y="976"/>
                        <a:pt x="1702" y="972"/>
                      </a:cubicBezTo>
                      <a:cubicBezTo>
                        <a:pt x="1671" y="937"/>
                        <a:pt x="1645" y="875"/>
                        <a:pt x="1628" y="829"/>
                      </a:cubicBezTo>
                      <a:cubicBezTo>
                        <a:pt x="1622" y="811"/>
                        <a:pt x="1620" y="786"/>
                        <a:pt x="1617" y="756"/>
                      </a:cubicBezTo>
                      <a:cubicBezTo>
                        <a:pt x="1615" y="727"/>
                        <a:pt x="1612" y="694"/>
                        <a:pt x="1604" y="671"/>
                      </a:cubicBezTo>
                      <a:cubicBezTo>
                        <a:pt x="1591" y="629"/>
                        <a:pt x="1588" y="560"/>
                        <a:pt x="1587" y="533"/>
                      </a:cubicBezTo>
                      <a:cubicBezTo>
                        <a:pt x="1607" y="532"/>
                        <a:pt x="1622" y="531"/>
                        <a:pt x="1635" y="530"/>
                      </a:cubicBezTo>
                      <a:cubicBezTo>
                        <a:pt x="1635" y="553"/>
                        <a:pt x="1637" y="620"/>
                        <a:pt x="1649" y="656"/>
                      </a:cubicBezTo>
                      <a:cubicBezTo>
                        <a:pt x="1659" y="685"/>
                        <a:pt x="1662" y="721"/>
                        <a:pt x="1664" y="753"/>
                      </a:cubicBezTo>
                      <a:cubicBezTo>
                        <a:pt x="1666" y="776"/>
                        <a:pt x="1668" y="801"/>
                        <a:pt x="1673" y="814"/>
                      </a:cubicBezTo>
                      <a:cubicBezTo>
                        <a:pt x="1694" y="873"/>
                        <a:pt x="1717" y="918"/>
                        <a:pt x="1737" y="940"/>
                      </a:cubicBezTo>
                      <a:cubicBezTo>
                        <a:pt x="1741" y="944"/>
                        <a:pt x="1745" y="949"/>
                        <a:pt x="1750" y="954"/>
                      </a:cubicBezTo>
                      <a:cubicBezTo>
                        <a:pt x="1797" y="1005"/>
                        <a:pt x="1827" y="1041"/>
                        <a:pt x="1816" y="1073"/>
                      </a:cubicBezTo>
                      <a:close/>
                      <a:moveTo>
                        <a:pt x="705" y="47"/>
                      </a:moveTo>
                      <a:cubicBezTo>
                        <a:pt x="700" y="47"/>
                        <a:pt x="695" y="48"/>
                        <a:pt x="690" y="48"/>
                      </a:cubicBezTo>
                      <a:cubicBezTo>
                        <a:pt x="689" y="48"/>
                        <a:pt x="689" y="48"/>
                        <a:pt x="689" y="48"/>
                      </a:cubicBezTo>
                      <a:cubicBezTo>
                        <a:pt x="678" y="49"/>
                        <a:pt x="667" y="52"/>
                        <a:pt x="656" y="56"/>
                      </a:cubicBezTo>
                      <a:cubicBezTo>
                        <a:pt x="656" y="56"/>
                        <a:pt x="656" y="56"/>
                        <a:pt x="656" y="56"/>
                      </a:cubicBezTo>
                      <a:cubicBezTo>
                        <a:pt x="655" y="56"/>
                        <a:pt x="655" y="56"/>
                        <a:pt x="655" y="56"/>
                      </a:cubicBezTo>
                      <a:cubicBezTo>
                        <a:pt x="655" y="56"/>
                        <a:pt x="655" y="56"/>
                        <a:pt x="655" y="56"/>
                      </a:cubicBezTo>
                      <a:cubicBezTo>
                        <a:pt x="655" y="56"/>
                        <a:pt x="655" y="56"/>
                        <a:pt x="654" y="57"/>
                      </a:cubicBezTo>
                      <a:cubicBezTo>
                        <a:pt x="654" y="57"/>
                        <a:pt x="654" y="57"/>
                        <a:pt x="654" y="57"/>
                      </a:cubicBezTo>
                      <a:cubicBezTo>
                        <a:pt x="629" y="66"/>
                        <a:pt x="608" y="82"/>
                        <a:pt x="591" y="103"/>
                      </a:cubicBezTo>
                      <a:cubicBezTo>
                        <a:pt x="591" y="103"/>
                        <a:pt x="591" y="103"/>
                        <a:pt x="591" y="103"/>
                      </a:cubicBezTo>
                      <a:cubicBezTo>
                        <a:pt x="591" y="104"/>
                        <a:pt x="591" y="104"/>
                        <a:pt x="590" y="104"/>
                      </a:cubicBezTo>
                      <a:cubicBezTo>
                        <a:pt x="586" y="110"/>
                        <a:pt x="583" y="115"/>
                        <a:pt x="579" y="121"/>
                      </a:cubicBezTo>
                      <a:cubicBezTo>
                        <a:pt x="571" y="135"/>
                        <a:pt x="557" y="144"/>
                        <a:pt x="540" y="145"/>
                      </a:cubicBezTo>
                      <a:cubicBezTo>
                        <a:pt x="540" y="145"/>
                        <a:pt x="539" y="145"/>
                        <a:pt x="538" y="145"/>
                      </a:cubicBezTo>
                      <a:cubicBezTo>
                        <a:pt x="523" y="145"/>
                        <a:pt x="508" y="138"/>
                        <a:pt x="499" y="125"/>
                      </a:cubicBezTo>
                      <a:cubicBezTo>
                        <a:pt x="497" y="122"/>
                        <a:pt x="495" y="119"/>
                        <a:pt x="493" y="117"/>
                      </a:cubicBezTo>
                      <a:cubicBezTo>
                        <a:pt x="490" y="114"/>
                        <a:pt x="487" y="111"/>
                        <a:pt x="485" y="108"/>
                      </a:cubicBezTo>
                      <a:cubicBezTo>
                        <a:pt x="445" y="58"/>
                        <a:pt x="400" y="48"/>
                        <a:pt x="370" y="48"/>
                      </a:cubicBezTo>
                      <a:cubicBezTo>
                        <a:pt x="303" y="48"/>
                        <a:pt x="244" y="95"/>
                        <a:pt x="228" y="161"/>
                      </a:cubicBezTo>
                      <a:cubicBezTo>
                        <a:pt x="215" y="212"/>
                        <a:pt x="229" y="269"/>
                        <a:pt x="267" y="327"/>
                      </a:cubicBezTo>
                      <a:cubicBezTo>
                        <a:pt x="319" y="404"/>
                        <a:pt x="409" y="476"/>
                        <a:pt x="535" y="543"/>
                      </a:cubicBezTo>
                      <a:cubicBezTo>
                        <a:pt x="536" y="543"/>
                        <a:pt x="536" y="543"/>
                        <a:pt x="536" y="543"/>
                      </a:cubicBezTo>
                      <a:cubicBezTo>
                        <a:pt x="536" y="543"/>
                        <a:pt x="537" y="543"/>
                        <a:pt x="537" y="543"/>
                      </a:cubicBezTo>
                      <a:cubicBezTo>
                        <a:pt x="738" y="437"/>
                        <a:pt x="851" y="311"/>
                        <a:pt x="849" y="195"/>
                      </a:cubicBezTo>
                      <a:cubicBezTo>
                        <a:pt x="849" y="195"/>
                        <a:pt x="849" y="194"/>
                        <a:pt x="849" y="193"/>
                      </a:cubicBezTo>
                      <a:cubicBezTo>
                        <a:pt x="849" y="193"/>
                        <a:pt x="849" y="192"/>
                        <a:pt x="849" y="192"/>
                      </a:cubicBezTo>
                      <a:cubicBezTo>
                        <a:pt x="849" y="112"/>
                        <a:pt x="785" y="47"/>
                        <a:pt x="705" y="47"/>
                      </a:cubicBezTo>
                      <a:moveTo>
                        <a:pt x="705" y="0"/>
                      </a:moveTo>
                      <a:cubicBezTo>
                        <a:pt x="811" y="0"/>
                        <a:pt x="897" y="86"/>
                        <a:pt x="897" y="192"/>
                      </a:cubicBezTo>
                      <a:cubicBezTo>
                        <a:pt x="897" y="192"/>
                        <a:pt x="897" y="193"/>
                        <a:pt x="897" y="194"/>
                      </a:cubicBezTo>
                      <a:cubicBezTo>
                        <a:pt x="899" y="307"/>
                        <a:pt x="813" y="451"/>
                        <a:pt x="558" y="585"/>
                      </a:cubicBezTo>
                      <a:cubicBezTo>
                        <a:pt x="557" y="586"/>
                        <a:pt x="556" y="587"/>
                        <a:pt x="554" y="587"/>
                      </a:cubicBezTo>
                      <a:cubicBezTo>
                        <a:pt x="536" y="596"/>
                        <a:pt x="536" y="596"/>
                        <a:pt x="536" y="596"/>
                      </a:cubicBezTo>
                      <a:cubicBezTo>
                        <a:pt x="518" y="587"/>
                        <a:pt x="518" y="587"/>
                        <a:pt x="518" y="587"/>
                      </a:cubicBezTo>
                      <a:cubicBezTo>
                        <a:pt x="517" y="587"/>
                        <a:pt x="515" y="586"/>
                        <a:pt x="514" y="585"/>
                      </a:cubicBezTo>
                      <a:cubicBezTo>
                        <a:pt x="0" y="315"/>
                        <a:pt x="174" y="0"/>
                        <a:pt x="370" y="0"/>
                      </a:cubicBezTo>
                      <a:cubicBezTo>
                        <a:pt x="423" y="0"/>
                        <a:pt x="478" y="24"/>
                        <a:pt x="522" y="78"/>
                      </a:cubicBezTo>
                      <a:cubicBezTo>
                        <a:pt x="523" y="80"/>
                        <a:pt x="525" y="82"/>
                        <a:pt x="527" y="83"/>
                      </a:cubicBezTo>
                      <a:cubicBezTo>
                        <a:pt x="531" y="88"/>
                        <a:pt x="535" y="93"/>
                        <a:pt x="538" y="98"/>
                      </a:cubicBezTo>
                      <a:cubicBezTo>
                        <a:pt x="542" y="90"/>
                        <a:pt x="547" y="83"/>
                        <a:pt x="553" y="75"/>
                      </a:cubicBezTo>
                      <a:cubicBezTo>
                        <a:pt x="553" y="75"/>
                        <a:pt x="553" y="75"/>
                        <a:pt x="553" y="75"/>
                      </a:cubicBezTo>
                      <a:cubicBezTo>
                        <a:pt x="553" y="75"/>
                        <a:pt x="554" y="74"/>
                        <a:pt x="554" y="74"/>
                      </a:cubicBezTo>
                      <a:cubicBezTo>
                        <a:pt x="576" y="46"/>
                        <a:pt x="604" y="25"/>
                        <a:pt x="638" y="12"/>
                      </a:cubicBezTo>
                      <a:cubicBezTo>
                        <a:pt x="638" y="12"/>
                        <a:pt x="638" y="12"/>
                        <a:pt x="638" y="12"/>
                      </a:cubicBezTo>
                      <a:cubicBezTo>
                        <a:pt x="639" y="12"/>
                        <a:pt x="639" y="12"/>
                        <a:pt x="640" y="12"/>
                      </a:cubicBezTo>
                      <a:cubicBezTo>
                        <a:pt x="654" y="6"/>
                        <a:pt x="670" y="3"/>
                        <a:pt x="685" y="1"/>
                      </a:cubicBezTo>
                      <a:cubicBezTo>
                        <a:pt x="691" y="0"/>
                        <a:pt x="698" y="0"/>
                        <a:pt x="705" y="0"/>
                      </a:cubicBezTo>
                      <a:close/>
                    </a:path>
                  </a:pathLst>
                </a:custGeom>
                <a:solidFill>
                  <a:schemeClr val="tx2"/>
                </a:solidFill>
                <a:ln>
                  <a:noFill/>
                </a:ln>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575757"/>
                    </a:solidFill>
                    <a:effectLst/>
                    <a:uLnTx/>
                    <a:uFillTx/>
                    <a:latin typeface="Trebuchet MS"/>
                    <a:ea typeface="+mn-ea"/>
                    <a:cs typeface="+mn-cs"/>
                  </a:endParaRPr>
                </a:p>
              </p:txBody>
            </p:sp>
            <p:sp>
              <p:nvSpPr>
                <p:cNvPr id="78" name="Freeform 6">
                  <a:extLst>
                    <a:ext uri="{FF2B5EF4-FFF2-40B4-BE49-F238E27FC236}">
                      <a16:creationId xmlns:a16="http://schemas.microsoft.com/office/drawing/2014/main" id="{44BE7070-AAFE-42EF-6FF2-2E8DBA8FDB30}"/>
                    </a:ext>
                  </a:extLst>
                </p:cNvPr>
                <p:cNvSpPr>
                  <a:spLocks/>
                </p:cNvSpPr>
                <p:nvPr/>
              </p:nvSpPr>
              <p:spPr bwMode="auto">
                <a:xfrm>
                  <a:off x="5622998" y="2901269"/>
                  <a:ext cx="1026954" cy="868228"/>
                </a:xfrm>
                <a:custGeom>
                  <a:avLst/>
                  <a:gdLst>
                    <a:gd name="T0" fmla="*/ 1306 w 1439"/>
                    <a:gd name="T1" fmla="*/ 301 h 1217"/>
                    <a:gd name="T2" fmla="*/ 1302 w 1439"/>
                    <a:gd name="T3" fmla="*/ 306 h 1217"/>
                    <a:gd name="T4" fmla="*/ 877 w 1439"/>
                    <a:gd name="T5" fmla="*/ 403 h 1217"/>
                    <a:gd name="T6" fmla="*/ 732 w 1439"/>
                    <a:gd name="T7" fmla="*/ 725 h 1217"/>
                    <a:gd name="T8" fmla="*/ 629 w 1439"/>
                    <a:gd name="T9" fmla="*/ 734 h 1217"/>
                    <a:gd name="T10" fmla="*/ 624 w 1439"/>
                    <a:gd name="T11" fmla="*/ 729 h 1217"/>
                    <a:gd name="T12" fmla="*/ 426 w 1439"/>
                    <a:gd name="T13" fmla="*/ 557 h 1217"/>
                    <a:gd name="T14" fmla="*/ 425 w 1439"/>
                    <a:gd name="T15" fmla="*/ 931 h 1217"/>
                    <a:gd name="T16" fmla="*/ 426 w 1439"/>
                    <a:gd name="T17" fmla="*/ 933 h 1217"/>
                    <a:gd name="T18" fmla="*/ 426 w 1439"/>
                    <a:gd name="T19" fmla="*/ 1209 h 1217"/>
                    <a:gd name="T20" fmla="*/ 416 w 1439"/>
                    <a:gd name="T21" fmla="*/ 1213 h 1217"/>
                    <a:gd name="T22" fmla="*/ 128 w 1439"/>
                    <a:gd name="T23" fmla="*/ 437 h 1217"/>
                    <a:gd name="T24" fmla="*/ 156 w 1439"/>
                    <a:gd name="T25" fmla="*/ 452 h 1217"/>
                    <a:gd name="T26" fmla="*/ 163 w 1439"/>
                    <a:gd name="T27" fmla="*/ 456 h 1217"/>
                    <a:gd name="T28" fmla="*/ 180 w 1439"/>
                    <a:gd name="T29" fmla="*/ 463 h 1217"/>
                    <a:gd name="T30" fmla="*/ 200 w 1439"/>
                    <a:gd name="T31" fmla="*/ 468 h 1217"/>
                    <a:gd name="T32" fmla="*/ 220 w 1439"/>
                    <a:gd name="T33" fmla="*/ 463 h 1217"/>
                    <a:gd name="T34" fmla="*/ 237 w 1439"/>
                    <a:gd name="T35" fmla="*/ 456 h 1217"/>
                    <a:gd name="T36" fmla="*/ 244 w 1439"/>
                    <a:gd name="T37" fmla="*/ 452 h 1217"/>
                    <a:gd name="T38" fmla="*/ 608 w 1439"/>
                    <a:gd name="T39" fmla="*/ 20 h 1217"/>
                    <a:gd name="T40" fmla="*/ 608 w 1439"/>
                    <a:gd name="T41" fmla="*/ 17 h 1217"/>
                    <a:gd name="T42" fmla="*/ 608 w 1439"/>
                    <a:gd name="T43" fmla="*/ 14 h 1217"/>
                    <a:gd name="T44" fmla="*/ 759 w 1439"/>
                    <a:gd name="T45" fmla="*/ 0 h 1217"/>
                    <a:gd name="T46" fmla="*/ 1399 w 1439"/>
                    <a:gd name="T47" fmla="*/ 95 h 1217"/>
                    <a:gd name="T48" fmla="*/ 1306 w 1439"/>
                    <a:gd name="T49" fmla="*/ 301 h 1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39" h="1217">
                      <a:moveTo>
                        <a:pt x="1306" y="301"/>
                      </a:moveTo>
                      <a:cubicBezTo>
                        <a:pt x="1305" y="303"/>
                        <a:pt x="1304" y="305"/>
                        <a:pt x="1302" y="306"/>
                      </a:cubicBezTo>
                      <a:cubicBezTo>
                        <a:pt x="1260" y="320"/>
                        <a:pt x="1031" y="292"/>
                        <a:pt x="877" y="403"/>
                      </a:cubicBezTo>
                      <a:cubicBezTo>
                        <a:pt x="794" y="462"/>
                        <a:pt x="732" y="559"/>
                        <a:pt x="732" y="725"/>
                      </a:cubicBezTo>
                      <a:cubicBezTo>
                        <a:pt x="732" y="748"/>
                        <a:pt x="649" y="737"/>
                        <a:pt x="629" y="734"/>
                      </a:cubicBezTo>
                      <a:cubicBezTo>
                        <a:pt x="627" y="734"/>
                        <a:pt x="625" y="732"/>
                        <a:pt x="624" y="729"/>
                      </a:cubicBezTo>
                      <a:cubicBezTo>
                        <a:pt x="619" y="695"/>
                        <a:pt x="581" y="476"/>
                        <a:pt x="426" y="557"/>
                      </a:cubicBezTo>
                      <a:cubicBezTo>
                        <a:pt x="281" y="632"/>
                        <a:pt x="416" y="910"/>
                        <a:pt x="425" y="931"/>
                      </a:cubicBezTo>
                      <a:cubicBezTo>
                        <a:pt x="426" y="932"/>
                        <a:pt x="426" y="932"/>
                        <a:pt x="426" y="933"/>
                      </a:cubicBezTo>
                      <a:cubicBezTo>
                        <a:pt x="426" y="1209"/>
                        <a:pt x="426" y="1209"/>
                        <a:pt x="426" y="1209"/>
                      </a:cubicBezTo>
                      <a:cubicBezTo>
                        <a:pt x="426" y="1214"/>
                        <a:pt x="420" y="1217"/>
                        <a:pt x="416" y="1213"/>
                      </a:cubicBezTo>
                      <a:cubicBezTo>
                        <a:pt x="351" y="1153"/>
                        <a:pt x="0" y="803"/>
                        <a:pt x="128" y="437"/>
                      </a:cubicBezTo>
                      <a:cubicBezTo>
                        <a:pt x="137" y="442"/>
                        <a:pt x="147" y="447"/>
                        <a:pt x="156" y="452"/>
                      </a:cubicBezTo>
                      <a:cubicBezTo>
                        <a:pt x="159" y="454"/>
                        <a:pt x="161" y="455"/>
                        <a:pt x="163" y="456"/>
                      </a:cubicBezTo>
                      <a:cubicBezTo>
                        <a:pt x="180" y="463"/>
                        <a:pt x="180" y="463"/>
                        <a:pt x="180" y="463"/>
                      </a:cubicBezTo>
                      <a:cubicBezTo>
                        <a:pt x="186" y="466"/>
                        <a:pt x="193" y="468"/>
                        <a:pt x="200" y="468"/>
                      </a:cubicBezTo>
                      <a:cubicBezTo>
                        <a:pt x="207" y="468"/>
                        <a:pt x="214" y="466"/>
                        <a:pt x="220" y="463"/>
                      </a:cubicBezTo>
                      <a:cubicBezTo>
                        <a:pt x="237" y="456"/>
                        <a:pt x="237" y="456"/>
                        <a:pt x="237" y="456"/>
                      </a:cubicBezTo>
                      <a:cubicBezTo>
                        <a:pt x="239" y="455"/>
                        <a:pt x="242" y="453"/>
                        <a:pt x="244" y="452"/>
                      </a:cubicBezTo>
                      <a:cubicBezTo>
                        <a:pt x="563" y="284"/>
                        <a:pt x="609" y="110"/>
                        <a:pt x="608" y="20"/>
                      </a:cubicBezTo>
                      <a:cubicBezTo>
                        <a:pt x="608" y="19"/>
                        <a:pt x="608" y="18"/>
                        <a:pt x="608" y="17"/>
                      </a:cubicBezTo>
                      <a:cubicBezTo>
                        <a:pt x="608" y="16"/>
                        <a:pt x="608" y="15"/>
                        <a:pt x="608" y="14"/>
                      </a:cubicBezTo>
                      <a:cubicBezTo>
                        <a:pt x="654" y="5"/>
                        <a:pt x="704" y="0"/>
                        <a:pt x="759" y="0"/>
                      </a:cubicBezTo>
                      <a:cubicBezTo>
                        <a:pt x="1158" y="0"/>
                        <a:pt x="1028" y="102"/>
                        <a:pt x="1399" y="95"/>
                      </a:cubicBezTo>
                      <a:cubicBezTo>
                        <a:pt x="1439" y="95"/>
                        <a:pt x="1325" y="219"/>
                        <a:pt x="1306" y="301"/>
                      </a:cubicBezTo>
                      <a:close/>
                    </a:path>
                  </a:pathLst>
                </a:custGeom>
                <a:solidFill>
                  <a:schemeClr val="accent2"/>
                </a:solidFill>
                <a:ln>
                  <a:noFill/>
                </a:ln>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575757"/>
                    </a:solidFill>
                    <a:effectLst/>
                    <a:uLnTx/>
                    <a:uFillTx/>
                    <a:latin typeface="Trebuchet MS"/>
                    <a:ea typeface="+mn-ea"/>
                    <a:cs typeface="+mn-cs"/>
                  </a:endParaRPr>
                </a:p>
              </p:txBody>
            </p:sp>
          </p:grpSp>
        </p:grpSp>
      </p:grpSp>
      <p:grpSp>
        <p:nvGrpSpPr>
          <p:cNvPr id="79" name="Group 78">
            <a:extLst>
              <a:ext uri="{FF2B5EF4-FFF2-40B4-BE49-F238E27FC236}">
                <a16:creationId xmlns:a16="http://schemas.microsoft.com/office/drawing/2014/main" id="{F105959D-B5A5-DE4A-434F-7D3AB49EA184}"/>
              </a:ext>
            </a:extLst>
          </p:cNvPr>
          <p:cNvGrpSpPr/>
          <p:nvPr/>
        </p:nvGrpSpPr>
        <p:grpSpPr>
          <a:xfrm>
            <a:off x="11371256" y="1560179"/>
            <a:ext cx="720000" cy="720000"/>
            <a:chOff x="11206949" y="1118945"/>
            <a:chExt cx="720000" cy="720000"/>
          </a:xfrm>
        </p:grpSpPr>
        <p:sp>
          <p:nvSpPr>
            <p:cNvPr id="80" name="Oval 79">
              <a:extLst>
                <a:ext uri="{FF2B5EF4-FFF2-40B4-BE49-F238E27FC236}">
                  <a16:creationId xmlns:a16="http://schemas.microsoft.com/office/drawing/2014/main" id="{4459E615-EB1E-D7A5-4AF9-8BD36452927A}"/>
                </a:ext>
              </a:extLst>
            </p:cNvPr>
            <p:cNvSpPr/>
            <p:nvPr>
              <p:custDataLst>
                <p:tags r:id="rId9"/>
              </p:custDataLst>
            </p:nvPr>
          </p:nvSpPr>
          <p:spPr>
            <a:xfrm>
              <a:off x="11206949" y="1118945"/>
              <a:ext cx="720000" cy="720000"/>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lumMod val="50000"/>
                  </a:prstClr>
                </a:solidFill>
                <a:effectLst/>
                <a:uLnTx/>
                <a:uFillTx/>
                <a:latin typeface="Trebuchet MS"/>
                <a:ea typeface="+mn-ea"/>
                <a:cs typeface="+mn-cs"/>
              </a:endParaRPr>
            </a:p>
          </p:txBody>
        </p:sp>
        <p:grpSp>
          <p:nvGrpSpPr>
            <p:cNvPr id="81" name="Group 80">
              <a:extLst>
                <a:ext uri="{FF2B5EF4-FFF2-40B4-BE49-F238E27FC236}">
                  <a16:creationId xmlns:a16="http://schemas.microsoft.com/office/drawing/2014/main" id="{8BEEFC22-64CB-B5E0-985C-F73C0302C150}"/>
                </a:ext>
              </a:extLst>
            </p:cNvPr>
            <p:cNvGrpSpPr>
              <a:grpSpLocks noChangeAspect="1"/>
            </p:cNvGrpSpPr>
            <p:nvPr/>
          </p:nvGrpSpPr>
          <p:grpSpPr>
            <a:xfrm>
              <a:off x="11300451" y="1239467"/>
              <a:ext cx="532994" cy="533488"/>
              <a:chOff x="5273801" y="2606040"/>
              <a:chExt cx="1644396" cy="1645920"/>
            </a:xfrm>
          </p:grpSpPr>
          <p:sp>
            <p:nvSpPr>
              <p:cNvPr id="82" name="AutoShape 23">
                <a:extLst>
                  <a:ext uri="{FF2B5EF4-FFF2-40B4-BE49-F238E27FC236}">
                    <a16:creationId xmlns:a16="http://schemas.microsoft.com/office/drawing/2014/main" id="{F99105D0-25CC-8E48-315D-3D5D33AF74BA}"/>
                  </a:ext>
                </a:extLst>
              </p:cNvPr>
              <p:cNvSpPr>
                <a:spLocks noChangeAspect="1" noChangeArrowheads="1" noTextEdit="1"/>
              </p:cNvSpPr>
              <p:nvPr/>
            </p:nvSpPr>
            <p:spPr bwMode="auto">
              <a:xfrm>
                <a:off x="5273801" y="2606040"/>
                <a:ext cx="1644396" cy="1645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nvGrpSpPr>
              <p:cNvPr id="83" name="Group 82">
                <a:extLst>
                  <a:ext uri="{FF2B5EF4-FFF2-40B4-BE49-F238E27FC236}">
                    <a16:creationId xmlns:a16="http://schemas.microsoft.com/office/drawing/2014/main" id="{184BE642-E94F-2836-329F-C44E756D6BBD}"/>
                  </a:ext>
                </a:extLst>
              </p:cNvPr>
              <p:cNvGrpSpPr/>
              <p:nvPr/>
            </p:nvGrpSpPr>
            <p:grpSpPr>
              <a:xfrm>
                <a:off x="5343905" y="2928366"/>
                <a:ext cx="1505712" cy="995553"/>
                <a:chOff x="5343905" y="2928366"/>
                <a:chExt cx="1505712" cy="995553"/>
              </a:xfrm>
            </p:grpSpPr>
            <p:sp>
              <p:nvSpPr>
                <p:cNvPr id="84" name="Freeform 25">
                  <a:extLst>
                    <a:ext uri="{FF2B5EF4-FFF2-40B4-BE49-F238E27FC236}">
                      <a16:creationId xmlns:a16="http://schemas.microsoft.com/office/drawing/2014/main" id="{9873273C-8850-D87B-63A2-FE9444DA0A1C}"/>
                    </a:ext>
                  </a:extLst>
                </p:cNvPr>
                <p:cNvSpPr>
                  <a:spLocks noEditPoints="1"/>
                </p:cNvSpPr>
                <p:nvPr/>
              </p:nvSpPr>
              <p:spPr bwMode="auto">
                <a:xfrm>
                  <a:off x="5696330" y="2928366"/>
                  <a:ext cx="1153287" cy="654177"/>
                </a:xfrm>
                <a:custGeom>
                  <a:avLst/>
                  <a:gdLst>
                    <a:gd name="T0" fmla="*/ 1610 w 1616"/>
                    <a:gd name="T1" fmla="*/ 362 h 916"/>
                    <a:gd name="T2" fmla="*/ 1552 w 1616"/>
                    <a:gd name="T3" fmla="*/ 327 h 916"/>
                    <a:gd name="T4" fmla="*/ 1530 w 1616"/>
                    <a:gd name="T5" fmla="*/ 261 h 916"/>
                    <a:gd name="T6" fmla="*/ 1495 w 1616"/>
                    <a:gd name="T7" fmla="*/ 196 h 916"/>
                    <a:gd name="T8" fmla="*/ 1508 w 1616"/>
                    <a:gd name="T9" fmla="*/ 130 h 916"/>
                    <a:gd name="T10" fmla="*/ 1369 w 1616"/>
                    <a:gd name="T11" fmla="*/ 28 h 916"/>
                    <a:gd name="T12" fmla="*/ 1309 w 1616"/>
                    <a:gd name="T13" fmla="*/ 62 h 916"/>
                    <a:gd name="T14" fmla="*/ 1178 w 1616"/>
                    <a:gd name="T15" fmla="*/ 47 h 916"/>
                    <a:gd name="T16" fmla="*/ 1127 w 1616"/>
                    <a:gd name="T17" fmla="*/ 0 h 916"/>
                    <a:gd name="T18" fmla="*/ 1043 w 1616"/>
                    <a:gd name="T19" fmla="*/ 26 h 916"/>
                    <a:gd name="T20" fmla="*/ 967 w 1616"/>
                    <a:gd name="T21" fmla="*/ 69 h 916"/>
                    <a:gd name="T22" fmla="*/ 967 w 1616"/>
                    <a:gd name="T23" fmla="*/ 140 h 916"/>
                    <a:gd name="T24" fmla="*/ 886 w 1616"/>
                    <a:gd name="T25" fmla="*/ 246 h 916"/>
                    <a:gd name="T26" fmla="*/ 821 w 1616"/>
                    <a:gd name="T27" fmla="*/ 267 h 916"/>
                    <a:gd name="T28" fmla="*/ 798 w 1616"/>
                    <a:gd name="T29" fmla="*/ 441 h 916"/>
                    <a:gd name="T30" fmla="*/ 856 w 1616"/>
                    <a:gd name="T31" fmla="*/ 475 h 916"/>
                    <a:gd name="T32" fmla="*/ 879 w 1616"/>
                    <a:gd name="T33" fmla="*/ 546 h 916"/>
                    <a:gd name="T34" fmla="*/ 912 w 1616"/>
                    <a:gd name="T35" fmla="*/ 607 h 916"/>
                    <a:gd name="T36" fmla="*/ 896 w 1616"/>
                    <a:gd name="T37" fmla="*/ 673 h 916"/>
                    <a:gd name="T38" fmla="*/ 1031 w 1616"/>
                    <a:gd name="T39" fmla="*/ 777 h 916"/>
                    <a:gd name="T40" fmla="*/ 1089 w 1616"/>
                    <a:gd name="T41" fmla="*/ 743 h 916"/>
                    <a:gd name="T42" fmla="*/ 1236 w 1616"/>
                    <a:gd name="T43" fmla="*/ 762 h 916"/>
                    <a:gd name="T44" fmla="*/ 1287 w 1616"/>
                    <a:gd name="T45" fmla="*/ 808 h 916"/>
                    <a:gd name="T46" fmla="*/ 1366 w 1616"/>
                    <a:gd name="T47" fmla="*/ 783 h 916"/>
                    <a:gd name="T48" fmla="*/ 1440 w 1616"/>
                    <a:gd name="T49" fmla="*/ 741 h 916"/>
                    <a:gd name="T50" fmla="*/ 1440 w 1616"/>
                    <a:gd name="T51" fmla="*/ 673 h 916"/>
                    <a:gd name="T52" fmla="*/ 1528 w 1616"/>
                    <a:gd name="T53" fmla="*/ 552 h 916"/>
                    <a:gd name="T54" fmla="*/ 1591 w 1616"/>
                    <a:gd name="T55" fmla="*/ 532 h 916"/>
                    <a:gd name="T56" fmla="*/ 1610 w 1616"/>
                    <a:gd name="T57" fmla="*/ 362 h 916"/>
                    <a:gd name="T58" fmla="*/ 1276 w 1616"/>
                    <a:gd name="T59" fmla="*/ 569 h 916"/>
                    <a:gd name="T60" fmla="*/ 1041 w 1616"/>
                    <a:gd name="T61" fmla="*/ 475 h 916"/>
                    <a:gd name="T62" fmla="*/ 1133 w 1616"/>
                    <a:gd name="T63" fmla="*/ 239 h 916"/>
                    <a:gd name="T64" fmla="*/ 1367 w 1616"/>
                    <a:gd name="T65" fmla="*/ 333 h 916"/>
                    <a:gd name="T66" fmla="*/ 1276 w 1616"/>
                    <a:gd name="T67" fmla="*/ 569 h 916"/>
                    <a:gd name="T68" fmla="*/ 187 w 1616"/>
                    <a:gd name="T69" fmla="*/ 916 h 916"/>
                    <a:gd name="T70" fmla="*/ 0 w 1616"/>
                    <a:gd name="T71" fmla="*/ 729 h 916"/>
                    <a:gd name="T72" fmla="*/ 187 w 1616"/>
                    <a:gd name="T73" fmla="*/ 541 h 916"/>
                    <a:gd name="T74" fmla="*/ 375 w 1616"/>
                    <a:gd name="T75" fmla="*/ 729 h 916"/>
                    <a:gd name="T76" fmla="*/ 187 w 1616"/>
                    <a:gd name="T77" fmla="*/ 916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16" h="916">
                      <a:moveTo>
                        <a:pt x="1610" y="362"/>
                      </a:moveTo>
                      <a:cubicBezTo>
                        <a:pt x="1552" y="327"/>
                        <a:pt x="1552" y="327"/>
                        <a:pt x="1552" y="327"/>
                      </a:cubicBezTo>
                      <a:cubicBezTo>
                        <a:pt x="1547" y="305"/>
                        <a:pt x="1539" y="283"/>
                        <a:pt x="1530" y="261"/>
                      </a:cubicBezTo>
                      <a:cubicBezTo>
                        <a:pt x="1521" y="239"/>
                        <a:pt x="1508" y="217"/>
                        <a:pt x="1495" y="196"/>
                      </a:cubicBezTo>
                      <a:cubicBezTo>
                        <a:pt x="1508" y="130"/>
                        <a:pt x="1508" y="130"/>
                        <a:pt x="1508" y="130"/>
                      </a:cubicBezTo>
                      <a:cubicBezTo>
                        <a:pt x="1470" y="87"/>
                        <a:pt x="1421" y="51"/>
                        <a:pt x="1369" y="28"/>
                      </a:cubicBezTo>
                      <a:cubicBezTo>
                        <a:pt x="1309" y="62"/>
                        <a:pt x="1309" y="62"/>
                        <a:pt x="1309" y="62"/>
                      </a:cubicBezTo>
                      <a:cubicBezTo>
                        <a:pt x="1266" y="48"/>
                        <a:pt x="1223" y="43"/>
                        <a:pt x="1178" y="47"/>
                      </a:cubicBezTo>
                      <a:cubicBezTo>
                        <a:pt x="1127" y="0"/>
                        <a:pt x="1127" y="0"/>
                        <a:pt x="1127" y="0"/>
                      </a:cubicBezTo>
                      <a:cubicBezTo>
                        <a:pt x="1099" y="6"/>
                        <a:pt x="1071" y="13"/>
                        <a:pt x="1043" y="26"/>
                      </a:cubicBezTo>
                      <a:cubicBezTo>
                        <a:pt x="1016" y="38"/>
                        <a:pt x="989" y="53"/>
                        <a:pt x="967" y="69"/>
                      </a:cubicBezTo>
                      <a:cubicBezTo>
                        <a:pt x="967" y="140"/>
                        <a:pt x="967" y="140"/>
                        <a:pt x="967" y="140"/>
                      </a:cubicBezTo>
                      <a:cubicBezTo>
                        <a:pt x="933" y="171"/>
                        <a:pt x="905" y="206"/>
                        <a:pt x="886" y="246"/>
                      </a:cubicBezTo>
                      <a:cubicBezTo>
                        <a:pt x="821" y="267"/>
                        <a:pt x="821" y="267"/>
                        <a:pt x="821" y="267"/>
                      </a:cubicBezTo>
                      <a:cubicBezTo>
                        <a:pt x="801" y="321"/>
                        <a:pt x="794" y="380"/>
                        <a:pt x="798" y="441"/>
                      </a:cubicBezTo>
                      <a:cubicBezTo>
                        <a:pt x="856" y="475"/>
                        <a:pt x="856" y="475"/>
                        <a:pt x="856" y="475"/>
                      </a:cubicBezTo>
                      <a:cubicBezTo>
                        <a:pt x="861" y="498"/>
                        <a:pt x="868" y="523"/>
                        <a:pt x="879" y="546"/>
                      </a:cubicBezTo>
                      <a:cubicBezTo>
                        <a:pt x="889" y="567"/>
                        <a:pt x="899" y="588"/>
                        <a:pt x="912" y="607"/>
                      </a:cubicBezTo>
                      <a:cubicBezTo>
                        <a:pt x="896" y="673"/>
                        <a:pt x="896" y="673"/>
                        <a:pt x="896" y="673"/>
                      </a:cubicBezTo>
                      <a:cubicBezTo>
                        <a:pt x="934" y="718"/>
                        <a:pt x="980" y="752"/>
                        <a:pt x="1031" y="777"/>
                      </a:cubicBezTo>
                      <a:cubicBezTo>
                        <a:pt x="1089" y="743"/>
                        <a:pt x="1089" y="743"/>
                        <a:pt x="1089" y="743"/>
                      </a:cubicBezTo>
                      <a:cubicBezTo>
                        <a:pt x="1136" y="760"/>
                        <a:pt x="1185" y="766"/>
                        <a:pt x="1236" y="762"/>
                      </a:cubicBezTo>
                      <a:cubicBezTo>
                        <a:pt x="1287" y="808"/>
                        <a:pt x="1287" y="808"/>
                        <a:pt x="1287" y="808"/>
                      </a:cubicBezTo>
                      <a:cubicBezTo>
                        <a:pt x="1312" y="802"/>
                        <a:pt x="1340" y="794"/>
                        <a:pt x="1366" y="783"/>
                      </a:cubicBezTo>
                      <a:cubicBezTo>
                        <a:pt x="1392" y="771"/>
                        <a:pt x="1416" y="757"/>
                        <a:pt x="1440" y="741"/>
                      </a:cubicBezTo>
                      <a:cubicBezTo>
                        <a:pt x="1440" y="673"/>
                        <a:pt x="1440" y="673"/>
                        <a:pt x="1440" y="673"/>
                      </a:cubicBezTo>
                      <a:cubicBezTo>
                        <a:pt x="1477" y="639"/>
                        <a:pt x="1507" y="597"/>
                        <a:pt x="1528" y="552"/>
                      </a:cubicBezTo>
                      <a:cubicBezTo>
                        <a:pt x="1591" y="532"/>
                        <a:pt x="1591" y="532"/>
                        <a:pt x="1591" y="532"/>
                      </a:cubicBezTo>
                      <a:cubicBezTo>
                        <a:pt x="1610" y="479"/>
                        <a:pt x="1616" y="420"/>
                        <a:pt x="1610" y="362"/>
                      </a:cubicBezTo>
                      <a:close/>
                      <a:moveTo>
                        <a:pt x="1276" y="569"/>
                      </a:moveTo>
                      <a:cubicBezTo>
                        <a:pt x="1185" y="610"/>
                        <a:pt x="1080" y="566"/>
                        <a:pt x="1041" y="475"/>
                      </a:cubicBezTo>
                      <a:cubicBezTo>
                        <a:pt x="1002" y="383"/>
                        <a:pt x="1043" y="278"/>
                        <a:pt x="1133" y="239"/>
                      </a:cubicBezTo>
                      <a:cubicBezTo>
                        <a:pt x="1224" y="199"/>
                        <a:pt x="1330" y="242"/>
                        <a:pt x="1367" y="333"/>
                      </a:cubicBezTo>
                      <a:cubicBezTo>
                        <a:pt x="1407" y="424"/>
                        <a:pt x="1366" y="531"/>
                        <a:pt x="1276" y="569"/>
                      </a:cubicBezTo>
                      <a:close/>
                      <a:moveTo>
                        <a:pt x="187" y="916"/>
                      </a:moveTo>
                      <a:cubicBezTo>
                        <a:pt x="84" y="916"/>
                        <a:pt x="0" y="832"/>
                        <a:pt x="0" y="729"/>
                      </a:cubicBezTo>
                      <a:cubicBezTo>
                        <a:pt x="0" y="625"/>
                        <a:pt x="84" y="541"/>
                        <a:pt x="187" y="541"/>
                      </a:cubicBezTo>
                      <a:cubicBezTo>
                        <a:pt x="291" y="541"/>
                        <a:pt x="375" y="625"/>
                        <a:pt x="375" y="729"/>
                      </a:cubicBezTo>
                      <a:cubicBezTo>
                        <a:pt x="375" y="832"/>
                        <a:pt x="291" y="916"/>
                        <a:pt x="187" y="916"/>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85" name="Freeform 26">
                  <a:extLst>
                    <a:ext uri="{FF2B5EF4-FFF2-40B4-BE49-F238E27FC236}">
                      <a16:creationId xmlns:a16="http://schemas.microsoft.com/office/drawing/2014/main" id="{61CC5BB5-5034-AF66-2052-2059BD591020}"/>
                    </a:ext>
                  </a:extLst>
                </p:cNvPr>
                <p:cNvSpPr>
                  <a:spLocks noEditPoints="1"/>
                </p:cNvSpPr>
                <p:nvPr/>
              </p:nvSpPr>
              <p:spPr bwMode="auto">
                <a:xfrm>
                  <a:off x="5343905" y="2961132"/>
                  <a:ext cx="971931" cy="962787"/>
                </a:xfrm>
                <a:custGeom>
                  <a:avLst/>
                  <a:gdLst>
                    <a:gd name="T0" fmla="*/ 638 w 1362"/>
                    <a:gd name="T1" fmla="*/ 1242 h 1348"/>
                    <a:gd name="T2" fmla="*/ 448 w 1362"/>
                    <a:gd name="T3" fmla="*/ 1319 h 1348"/>
                    <a:gd name="T4" fmla="*/ 352 w 1362"/>
                    <a:gd name="T5" fmla="*/ 1146 h 1348"/>
                    <a:gd name="T6" fmla="*/ 141 w 1362"/>
                    <a:gd name="T7" fmla="*/ 1095 h 1348"/>
                    <a:gd name="T8" fmla="*/ 46 w 1362"/>
                    <a:gd name="T9" fmla="*/ 928 h 1348"/>
                    <a:gd name="T10" fmla="*/ 0 w 1362"/>
                    <a:gd name="T11" fmla="*/ 664 h 1348"/>
                    <a:gd name="T12" fmla="*/ 32 w 1362"/>
                    <a:gd name="T13" fmla="*/ 474 h 1348"/>
                    <a:gd name="T14" fmla="*/ 212 w 1362"/>
                    <a:gd name="T15" fmla="*/ 351 h 1348"/>
                    <a:gd name="T16" fmla="*/ 244 w 1362"/>
                    <a:gd name="T17" fmla="*/ 159 h 1348"/>
                    <a:gd name="T18" fmla="*/ 451 w 1362"/>
                    <a:gd name="T19" fmla="*/ 167 h 1348"/>
                    <a:gd name="T20" fmla="*/ 592 w 1362"/>
                    <a:gd name="T21" fmla="*/ 5 h 1348"/>
                    <a:gd name="T22" fmla="*/ 784 w 1362"/>
                    <a:gd name="T23" fmla="*/ 6 h 1348"/>
                    <a:gd name="T24" fmla="*/ 1036 w 1362"/>
                    <a:gd name="T25" fmla="*/ 98 h 1348"/>
                    <a:gd name="T26" fmla="*/ 1184 w 1362"/>
                    <a:gd name="T27" fmla="*/ 220 h 1348"/>
                    <a:gd name="T28" fmla="*/ 1206 w 1362"/>
                    <a:gd name="T29" fmla="*/ 440 h 1348"/>
                    <a:gd name="T30" fmla="*/ 1351 w 1362"/>
                    <a:gd name="T31" fmla="*/ 562 h 1348"/>
                    <a:gd name="T32" fmla="*/ 1262 w 1362"/>
                    <a:gd name="T33" fmla="*/ 724 h 1348"/>
                    <a:gd name="T34" fmla="*/ 1310 w 1362"/>
                    <a:gd name="T35" fmla="*/ 940 h 1348"/>
                    <a:gd name="T36" fmla="*/ 1213 w 1362"/>
                    <a:gd name="T37" fmla="*/ 1106 h 1348"/>
                    <a:gd name="T38" fmla="*/ 1008 w 1362"/>
                    <a:gd name="T39" fmla="*/ 1278 h 1348"/>
                    <a:gd name="T40" fmla="*/ 828 w 1362"/>
                    <a:gd name="T41" fmla="*/ 1345 h 1348"/>
                    <a:gd name="T42" fmla="*/ 830 w 1362"/>
                    <a:gd name="T43" fmla="*/ 1299 h 1348"/>
                    <a:gd name="T44" fmla="*/ 965 w 1362"/>
                    <a:gd name="T45" fmla="*/ 1122 h 1348"/>
                    <a:gd name="T46" fmla="*/ 1072 w 1362"/>
                    <a:gd name="T47" fmla="*/ 1038 h 1348"/>
                    <a:gd name="T48" fmla="*/ 1264 w 1362"/>
                    <a:gd name="T49" fmla="*/ 935 h 1348"/>
                    <a:gd name="T50" fmla="*/ 1219 w 1362"/>
                    <a:gd name="T51" fmla="*/ 710 h 1348"/>
                    <a:gd name="T52" fmla="*/ 1308 w 1362"/>
                    <a:gd name="T53" fmla="*/ 570 h 1348"/>
                    <a:gd name="T54" fmla="*/ 1171 w 1362"/>
                    <a:gd name="T55" fmla="*/ 469 h 1348"/>
                    <a:gd name="T56" fmla="*/ 1142 w 1362"/>
                    <a:gd name="T57" fmla="*/ 241 h 1348"/>
                    <a:gd name="T58" fmla="*/ 915 w 1362"/>
                    <a:gd name="T59" fmla="*/ 217 h 1348"/>
                    <a:gd name="T60" fmla="*/ 802 w 1362"/>
                    <a:gd name="T61" fmla="*/ 179 h 1348"/>
                    <a:gd name="T62" fmla="*/ 610 w 1362"/>
                    <a:gd name="T63" fmla="*/ 47 h 1348"/>
                    <a:gd name="T64" fmla="*/ 458 w 1362"/>
                    <a:gd name="T65" fmla="*/ 212 h 1348"/>
                    <a:gd name="T66" fmla="*/ 272 w 1362"/>
                    <a:gd name="T67" fmla="*/ 192 h 1348"/>
                    <a:gd name="T68" fmla="*/ 254 w 1362"/>
                    <a:gd name="T69" fmla="*/ 369 h 1348"/>
                    <a:gd name="T70" fmla="*/ 70 w 1362"/>
                    <a:gd name="T71" fmla="*/ 500 h 1348"/>
                    <a:gd name="T72" fmla="*/ 143 w 1362"/>
                    <a:gd name="T73" fmla="*/ 698 h 1348"/>
                    <a:gd name="T74" fmla="*/ 170 w 1362"/>
                    <a:gd name="T75" fmla="*/ 846 h 1348"/>
                    <a:gd name="T76" fmla="*/ 168 w 1362"/>
                    <a:gd name="T77" fmla="*/ 1058 h 1348"/>
                    <a:gd name="T78" fmla="*/ 386 w 1362"/>
                    <a:gd name="T79" fmla="*/ 1115 h 1348"/>
                    <a:gd name="T80" fmla="*/ 463 w 1362"/>
                    <a:gd name="T81" fmla="*/ 1278 h 1348"/>
                    <a:gd name="T82" fmla="*/ 630 w 1362"/>
                    <a:gd name="T83" fmla="*/ 1198 h 1348"/>
                    <a:gd name="T84" fmla="*/ 742 w 1362"/>
                    <a:gd name="T85" fmla="*/ 1197 h 1348"/>
                    <a:gd name="T86" fmla="*/ 681 w 1362"/>
                    <a:gd name="T87" fmla="*/ 257 h 1348"/>
                    <a:gd name="T88" fmla="*/ 681 w 1362"/>
                    <a:gd name="T89" fmla="*/ 301 h 1348"/>
                    <a:gd name="T90" fmla="*/ 1063 w 1362"/>
                    <a:gd name="T91" fmla="*/ 683 h 1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62" h="1348">
                      <a:moveTo>
                        <a:pt x="815" y="1348"/>
                      </a:moveTo>
                      <a:cubicBezTo>
                        <a:pt x="724" y="1242"/>
                        <a:pt x="724" y="1242"/>
                        <a:pt x="724" y="1242"/>
                      </a:cubicBezTo>
                      <a:cubicBezTo>
                        <a:pt x="695" y="1244"/>
                        <a:pt x="666" y="1244"/>
                        <a:pt x="638" y="1242"/>
                      </a:cubicBezTo>
                      <a:cubicBezTo>
                        <a:pt x="547" y="1348"/>
                        <a:pt x="547" y="1348"/>
                        <a:pt x="547" y="1348"/>
                      </a:cubicBezTo>
                      <a:cubicBezTo>
                        <a:pt x="534" y="1345"/>
                        <a:pt x="534" y="1345"/>
                        <a:pt x="534" y="1345"/>
                      </a:cubicBezTo>
                      <a:cubicBezTo>
                        <a:pt x="494" y="1336"/>
                        <a:pt x="450" y="1320"/>
                        <a:pt x="448" y="1319"/>
                      </a:cubicBezTo>
                      <a:cubicBezTo>
                        <a:pt x="446" y="1318"/>
                        <a:pt x="402" y="1302"/>
                        <a:pt x="366" y="1284"/>
                      </a:cubicBezTo>
                      <a:cubicBezTo>
                        <a:pt x="354" y="1278"/>
                        <a:pt x="354" y="1278"/>
                        <a:pt x="354" y="1278"/>
                      </a:cubicBezTo>
                      <a:cubicBezTo>
                        <a:pt x="352" y="1146"/>
                        <a:pt x="352" y="1146"/>
                        <a:pt x="352" y="1146"/>
                      </a:cubicBezTo>
                      <a:cubicBezTo>
                        <a:pt x="325" y="1128"/>
                        <a:pt x="299" y="1107"/>
                        <a:pt x="275" y="1085"/>
                      </a:cubicBezTo>
                      <a:cubicBezTo>
                        <a:pt x="149" y="1105"/>
                        <a:pt x="149" y="1105"/>
                        <a:pt x="149" y="1105"/>
                      </a:cubicBezTo>
                      <a:cubicBezTo>
                        <a:pt x="141" y="1095"/>
                        <a:pt x="141" y="1095"/>
                        <a:pt x="141" y="1095"/>
                      </a:cubicBezTo>
                      <a:cubicBezTo>
                        <a:pt x="116" y="1062"/>
                        <a:pt x="93" y="1022"/>
                        <a:pt x="92" y="1020"/>
                      </a:cubicBezTo>
                      <a:cubicBezTo>
                        <a:pt x="91" y="1018"/>
                        <a:pt x="67" y="977"/>
                        <a:pt x="51" y="940"/>
                      </a:cubicBezTo>
                      <a:cubicBezTo>
                        <a:pt x="46" y="928"/>
                        <a:pt x="46" y="928"/>
                        <a:pt x="46" y="928"/>
                      </a:cubicBezTo>
                      <a:cubicBezTo>
                        <a:pt x="121" y="836"/>
                        <a:pt x="121" y="836"/>
                        <a:pt x="121" y="836"/>
                      </a:cubicBezTo>
                      <a:cubicBezTo>
                        <a:pt x="110" y="799"/>
                        <a:pt x="104" y="762"/>
                        <a:pt x="101" y="724"/>
                      </a:cubicBezTo>
                      <a:cubicBezTo>
                        <a:pt x="0" y="664"/>
                        <a:pt x="0" y="664"/>
                        <a:pt x="0" y="664"/>
                      </a:cubicBezTo>
                      <a:cubicBezTo>
                        <a:pt x="1" y="650"/>
                        <a:pt x="1" y="650"/>
                        <a:pt x="1" y="650"/>
                      </a:cubicBezTo>
                      <a:cubicBezTo>
                        <a:pt x="3" y="610"/>
                        <a:pt x="11" y="564"/>
                        <a:pt x="11" y="562"/>
                      </a:cubicBezTo>
                      <a:cubicBezTo>
                        <a:pt x="12" y="560"/>
                        <a:pt x="20" y="513"/>
                        <a:pt x="32" y="474"/>
                      </a:cubicBezTo>
                      <a:cubicBezTo>
                        <a:pt x="35" y="462"/>
                        <a:pt x="35" y="462"/>
                        <a:pt x="35" y="462"/>
                      </a:cubicBezTo>
                      <a:cubicBezTo>
                        <a:pt x="157" y="439"/>
                        <a:pt x="157" y="439"/>
                        <a:pt x="157" y="439"/>
                      </a:cubicBezTo>
                      <a:cubicBezTo>
                        <a:pt x="173" y="408"/>
                        <a:pt x="191" y="378"/>
                        <a:pt x="212" y="351"/>
                      </a:cubicBezTo>
                      <a:cubicBezTo>
                        <a:pt x="170" y="230"/>
                        <a:pt x="170" y="230"/>
                        <a:pt x="170" y="230"/>
                      </a:cubicBezTo>
                      <a:cubicBezTo>
                        <a:pt x="179" y="220"/>
                        <a:pt x="179" y="220"/>
                        <a:pt x="179" y="220"/>
                      </a:cubicBezTo>
                      <a:cubicBezTo>
                        <a:pt x="206" y="190"/>
                        <a:pt x="243" y="160"/>
                        <a:pt x="244" y="159"/>
                      </a:cubicBezTo>
                      <a:cubicBezTo>
                        <a:pt x="246" y="157"/>
                        <a:pt x="282" y="127"/>
                        <a:pt x="316" y="105"/>
                      </a:cubicBezTo>
                      <a:cubicBezTo>
                        <a:pt x="327" y="98"/>
                        <a:pt x="327" y="98"/>
                        <a:pt x="327" y="98"/>
                      </a:cubicBezTo>
                      <a:cubicBezTo>
                        <a:pt x="451" y="167"/>
                        <a:pt x="451" y="167"/>
                        <a:pt x="451" y="167"/>
                      </a:cubicBezTo>
                      <a:cubicBezTo>
                        <a:pt x="476" y="157"/>
                        <a:pt x="502" y="148"/>
                        <a:pt x="528" y="142"/>
                      </a:cubicBezTo>
                      <a:cubicBezTo>
                        <a:pt x="579" y="6"/>
                        <a:pt x="579" y="6"/>
                        <a:pt x="579" y="6"/>
                      </a:cubicBezTo>
                      <a:cubicBezTo>
                        <a:pt x="592" y="5"/>
                        <a:pt x="592" y="5"/>
                        <a:pt x="592" y="5"/>
                      </a:cubicBezTo>
                      <a:cubicBezTo>
                        <a:pt x="632" y="0"/>
                        <a:pt x="679" y="0"/>
                        <a:pt x="681" y="0"/>
                      </a:cubicBezTo>
                      <a:cubicBezTo>
                        <a:pt x="683" y="0"/>
                        <a:pt x="730" y="0"/>
                        <a:pt x="771" y="5"/>
                      </a:cubicBezTo>
                      <a:cubicBezTo>
                        <a:pt x="784" y="6"/>
                        <a:pt x="784" y="6"/>
                        <a:pt x="784" y="6"/>
                      </a:cubicBezTo>
                      <a:cubicBezTo>
                        <a:pt x="835" y="142"/>
                        <a:pt x="835" y="142"/>
                        <a:pt x="835" y="142"/>
                      </a:cubicBezTo>
                      <a:cubicBezTo>
                        <a:pt x="861" y="149"/>
                        <a:pt x="887" y="157"/>
                        <a:pt x="912" y="168"/>
                      </a:cubicBezTo>
                      <a:cubicBezTo>
                        <a:pt x="1036" y="98"/>
                        <a:pt x="1036" y="98"/>
                        <a:pt x="1036" y="98"/>
                      </a:cubicBezTo>
                      <a:cubicBezTo>
                        <a:pt x="1047" y="105"/>
                        <a:pt x="1047" y="105"/>
                        <a:pt x="1047" y="105"/>
                      </a:cubicBezTo>
                      <a:cubicBezTo>
                        <a:pt x="1081" y="128"/>
                        <a:pt x="1117" y="158"/>
                        <a:pt x="1118" y="159"/>
                      </a:cubicBezTo>
                      <a:cubicBezTo>
                        <a:pt x="1120" y="160"/>
                        <a:pt x="1156" y="191"/>
                        <a:pt x="1184" y="220"/>
                      </a:cubicBezTo>
                      <a:cubicBezTo>
                        <a:pt x="1193" y="230"/>
                        <a:pt x="1193" y="230"/>
                        <a:pt x="1193" y="230"/>
                      </a:cubicBezTo>
                      <a:cubicBezTo>
                        <a:pt x="1151" y="351"/>
                        <a:pt x="1151" y="351"/>
                        <a:pt x="1151" y="351"/>
                      </a:cubicBezTo>
                      <a:cubicBezTo>
                        <a:pt x="1172" y="379"/>
                        <a:pt x="1190" y="408"/>
                        <a:pt x="1206" y="440"/>
                      </a:cubicBezTo>
                      <a:cubicBezTo>
                        <a:pt x="1327" y="462"/>
                        <a:pt x="1327" y="462"/>
                        <a:pt x="1327" y="462"/>
                      </a:cubicBezTo>
                      <a:cubicBezTo>
                        <a:pt x="1331" y="475"/>
                        <a:pt x="1331" y="475"/>
                        <a:pt x="1331" y="475"/>
                      </a:cubicBezTo>
                      <a:cubicBezTo>
                        <a:pt x="1342" y="514"/>
                        <a:pt x="1351" y="560"/>
                        <a:pt x="1351" y="562"/>
                      </a:cubicBezTo>
                      <a:cubicBezTo>
                        <a:pt x="1351" y="564"/>
                        <a:pt x="1359" y="611"/>
                        <a:pt x="1362" y="651"/>
                      </a:cubicBezTo>
                      <a:cubicBezTo>
                        <a:pt x="1362" y="664"/>
                        <a:pt x="1362" y="664"/>
                        <a:pt x="1362" y="664"/>
                      </a:cubicBezTo>
                      <a:cubicBezTo>
                        <a:pt x="1262" y="724"/>
                        <a:pt x="1262" y="724"/>
                        <a:pt x="1262" y="724"/>
                      </a:cubicBezTo>
                      <a:cubicBezTo>
                        <a:pt x="1259" y="762"/>
                        <a:pt x="1252" y="800"/>
                        <a:pt x="1241" y="837"/>
                      </a:cubicBezTo>
                      <a:cubicBezTo>
                        <a:pt x="1316" y="928"/>
                        <a:pt x="1316" y="928"/>
                        <a:pt x="1316" y="928"/>
                      </a:cubicBezTo>
                      <a:cubicBezTo>
                        <a:pt x="1310" y="940"/>
                        <a:pt x="1310" y="940"/>
                        <a:pt x="1310" y="940"/>
                      </a:cubicBezTo>
                      <a:cubicBezTo>
                        <a:pt x="1294" y="978"/>
                        <a:pt x="1271" y="1019"/>
                        <a:pt x="1270" y="1020"/>
                      </a:cubicBezTo>
                      <a:cubicBezTo>
                        <a:pt x="1269" y="1022"/>
                        <a:pt x="1245" y="1063"/>
                        <a:pt x="1221" y="1095"/>
                      </a:cubicBezTo>
                      <a:cubicBezTo>
                        <a:pt x="1213" y="1106"/>
                        <a:pt x="1213" y="1106"/>
                        <a:pt x="1213" y="1106"/>
                      </a:cubicBezTo>
                      <a:cubicBezTo>
                        <a:pt x="1087" y="1085"/>
                        <a:pt x="1087" y="1085"/>
                        <a:pt x="1087" y="1085"/>
                      </a:cubicBezTo>
                      <a:cubicBezTo>
                        <a:pt x="1063" y="1108"/>
                        <a:pt x="1037" y="1128"/>
                        <a:pt x="1009" y="1147"/>
                      </a:cubicBezTo>
                      <a:cubicBezTo>
                        <a:pt x="1008" y="1278"/>
                        <a:pt x="1008" y="1278"/>
                        <a:pt x="1008" y="1278"/>
                      </a:cubicBezTo>
                      <a:cubicBezTo>
                        <a:pt x="996" y="1284"/>
                        <a:pt x="996" y="1284"/>
                        <a:pt x="996" y="1284"/>
                      </a:cubicBezTo>
                      <a:cubicBezTo>
                        <a:pt x="959" y="1302"/>
                        <a:pt x="915" y="1319"/>
                        <a:pt x="913" y="1319"/>
                      </a:cubicBezTo>
                      <a:cubicBezTo>
                        <a:pt x="911" y="1320"/>
                        <a:pt x="867" y="1336"/>
                        <a:pt x="828" y="1345"/>
                      </a:cubicBezTo>
                      <a:lnTo>
                        <a:pt x="815" y="1348"/>
                      </a:lnTo>
                      <a:close/>
                      <a:moveTo>
                        <a:pt x="742" y="1197"/>
                      </a:moveTo>
                      <a:cubicBezTo>
                        <a:pt x="830" y="1299"/>
                        <a:pt x="830" y="1299"/>
                        <a:pt x="830" y="1299"/>
                      </a:cubicBezTo>
                      <a:cubicBezTo>
                        <a:pt x="864" y="1290"/>
                        <a:pt x="898" y="1278"/>
                        <a:pt x="898" y="1278"/>
                      </a:cubicBezTo>
                      <a:cubicBezTo>
                        <a:pt x="899" y="1278"/>
                        <a:pt x="933" y="1265"/>
                        <a:pt x="964" y="1251"/>
                      </a:cubicBezTo>
                      <a:cubicBezTo>
                        <a:pt x="965" y="1122"/>
                        <a:pt x="965" y="1122"/>
                        <a:pt x="965" y="1122"/>
                      </a:cubicBezTo>
                      <a:cubicBezTo>
                        <a:pt x="976" y="1116"/>
                        <a:pt x="976" y="1116"/>
                        <a:pt x="976" y="1116"/>
                      </a:cubicBezTo>
                      <a:cubicBezTo>
                        <a:pt x="1008" y="1096"/>
                        <a:pt x="1037" y="1072"/>
                        <a:pt x="1064" y="1046"/>
                      </a:cubicBezTo>
                      <a:cubicBezTo>
                        <a:pt x="1072" y="1038"/>
                        <a:pt x="1072" y="1038"/>
                        <a:pt x="1072" y="1038"/>
                      </a:cubicBezTo>
                      <a:cubicBezTo>
                        <a:pt x="1193" y="1058"/>
                        <a:pt x="1193" y="1058"/>
                        <a:pt x="1193" y="1058"/>
                      </a:cubicBezTo>
                      <a:cubicBezTo>
                        <a:pt x="1213" y="1030"/>
                        <a:pt x="1232" y="999"/>
                        <a:pt x="1232" y="998"/>
                      </a:cubicBezTo>
                      <a:cubicBezTo>
                        <a:pt x="1232" y="998"/>
                        <a:pt x="1250" y="967"/>
                        <a:pt x="1264" y="935"/>
                      </a:cubicBezTo>
                      <a:cubicBezTo>
                        <a:pt x="1192" y="847"/>
                        <a:pt x="1192" y="847"/>
                        <a:pt x="1192" y="847"/>
                      </a:cubicBezTo>
                      <a:cubicBezTo>
                        <a:pt x="1196" y="835"/>
                        <a:pt x="1196" y="835"/>
                        <a:pt x="1196" y="835"/>
                      </a:cubicBezTo>
                      <a:cubicBezTo>
                        <a:pt x="1209" y="795"/>
                        <a:pt x="1217" y="753"/>
                        <a:pt x="1219" y="710"/>
                      </a:cubicBezTo>
                      <a:cubicBezTo>
                        <a:pt x="1219" y="698"/>
                        <a:pt x="1219" y="698"/>
                        <a:pt x="1219" y="698"/>
                      </a:cubicBezTo>
                      <a:cubicBezTo>
                        <a:pt x="1317" y="640"/>
                        <a:pt x="1317" y="640"/>
                        <a:pt x="1317" y="640"/>
                      </a:cubicBezTo>
                      <a:cubicBezTo>
                        <a:pt x="1314" y="606"/>
                        <a:pt x="1308" y="570"/>
                        <a:pt x="1308" y="570"/>
                      </a:cubicBezTo>
                      <a:cubicBezTo>
                        <a:pt x="1307" y="569"/>
                        <a:pt x="1301" y="534"/>
                        <a:pt x="1292" y="501"/>
                      </a:cubicBezTo>
                      <a:cubicBezTo>
                        <a:pt x="1176" y="479"/>
                        <a:pt x="1176" y="479"/>
                        <a:pt x="1176" y="479"/>
                      </a:cubicBezTo>
                      <a:cubicBezTo>
                        <a:pt x="1171" y="469"/>
                        <a:pt x="1171" y="469"/>
                        <a:pt x="1171" y="469"/>
                      </a:cubicBezTo>
                      <a:cubicBezTo>
                        <a:pt x="1154" y="433"/>
                        <a:pt x="1133" y="400"/>
                        <a:pt x="1109" y="369"/>
                      </a:cubicBezTo>
                      <a:cubicBezTo>
                        <a:pt x="1101" y="359"/>
                        <a:pt x="1101" y="359"/>
                        <a:pt x="1101" y="359"/>
                      </a:cubicBezTo>
                      <a:cubicBezTo>
                        <a:pt x="1142" y="241"/>
                        <a:pt x="1142" y="241"/>
                        <a:pt x="1142" y="241"/>
                      </a:cubicBezTo>
                      <a:cubicBezTo>
                        <a:pt x="1118" y="216"/>
                        <a:pt x="1090" y="193"/>
                        <a:pt x="1090" y="193"/>
                      </a:cubicBezTo>
                      <a:cubicBezTo>
                        <a:pt x="1090" y="193"/>
                        <a:pt x="1062" y="169"/>
                        <a:pt x="1034" y="150"/>
                      </a:cubicBezTo>
                      <a:cubicBezTo>
                        <a:pt x="915" y="217"/>
                        <a:pt x="915" y="217"/>
                        <a:pt x="915" y="217"/>
                      </a:cubicBezTo>
                      <a:cubicBezTo>
                        <a:pt x="905" y="212"/>
                        <a:pt x="905" y="212"/>
                        <a:pt x="905" y="212"/>
                      </a:cubicBezTo>
                      <a:cubicBezTo>
                        <a:pt x="875" y="199"/>
                        <a:pt x="845" y="189"/>
                        <a:pt x="813" y="182"/>
                      </a:cubicBezTo>
                      <a:cubicBezTo>
                        <a:pt x="802" y="179"/>
                        <a:pt x="802" y="179"/>
                        <a:pt x="802" y="179"/>
                      </a:cubicBezTo>
                      <a:cubicBezTo>
                        <a:pt x="752" y="47"/>
                        <a:pt x="752" y="47"/>
                        <a:pt x="752" y="47"/>
                      </a:cubicBezTo>
                      <a:cubicBezTo>
                        <a:pt x="718" y="44"/>
                        <a:pt x="682" y="44"/>
                        <a:pt x="681" y="44"/>
                      </a:cubicBezTo>
                      <a:cubicBezTo>
                        <a:pt x="681" y="44"/>
                        <a:pt x="645" y="44"/>
                        <a:pt x="610" y="47"/>
                      </a:cubicBezTo>
                      <a:cubicBezTo>
                        <a:pt x="561" y="179"/>
                        <a:pt x="561" y="179"/>
                        <a:pt x="561" y="179"/>
                      </a:cubicBezTo>
                      <a:cubicBezTo>
                        <a:pt x="549" y="182"/>
                        <a:pt x="549" y="182"/>
                        <a:pt x="549" y="182"/>
                      </a:cubicBezTo>
                      <a:cubicBezTo>
                        <a:pt x="518" y="189"/>
                        <a:pt x="488" y="199"/>
                        <a:pt x="458" y="212"/>
                      </a:cubicBezTo>
                      <a:cubicBezTo>
                        <a:pt x="448" y="217"/>
                        <a:pt x="448" y="217"/>
                        <a:pt x="448" y="217"/>
                      </a:cubicBezTo>
                      <a:cubicBezTo>
                        <a:pt x="329" y="149"/>
                        <a:pt x="329" y="149"/>
                        <a:pt x="329" y="149"/>
                      </a:cubicBezTo>
                      <a:cubicBezTo>
                        <a:pt x="300" y="169"/>
                        <a:pt x="273" y="192"/>
                        <a:pt x="272" y="192"/>
                      </a:cubicBezTo>
                      <a:cubicBezTo>
                        <a:pt x="272" y="193"/>
                        <a:pt x="244" y="216"/>
                        <a:pt x="220" y="241"/>
                      </a:cubicBezTo>
                      <a:cubicBezTo>
                        <a:pt x="262" y="359"/>
                        <a:pt x="262" y="359"/>
                        <a:pt x="262" y="359"/>
                      </a:cubicBezTo>
                      <a:cubicBezTo>
                        <a:pt x="254" y="369"/>
                        <a:pt x="254" y="369"/>
                        <a:pt x="254" y="369"/>
                      </a:cubicBezTo>
                      <a:cubicBezTo>
                        <a:pt x="229" y="399"/>
                        <a:pt x="209" y="433"/>
                        <a:pt x="192" y="468"/>
                      </a:cubicBezTo>
                      <a:cubicBezTo>
                        <a:pt x="187" y="478"/>
                        <a:pt x="187" y="478"/>
                        <a:pt x="187" y="478"/>
                      </a:cubicBezTo>
                      <a:cubicBezTo>
                        <a:pt x="70" y="500"/>
                        <a:pt x="70" y="500"/>
                        <a:pt x="70" y="500"/>
                      </a:cubicBezTo>
                      <a:cubicBezTo>
                        <a:pt x="61" y="533"/>
                        <a:pt x="55" y="569"/>
                        <a:pt x="55" y="569"/>
                      </a:cubicBezTo>
                      <a:cubicBezTo>
                        <a:pt x="55" y="570"/>
                        <a:pt x="48" y="605"/>
                        <a:pt x="45" y="640"/>
                      </a:cubicBezTo>
                      <a:cubicBezTo>
                        <a:pt x="143" y="698"/>
                        <a:pt x="143" y="698"/>
                        <a:pt x="143" y="698"/>
                      </a:cubicBezTo>
                      <a:cubicBezTo>
                        <a:pt x="144" y="709"/>
                        <a:pt x="144" y="709"/>
                        <a:pt x="144" y="709"/>
                      </a:cubicBezTo>
                      <a:cubicBezTo>
                        <a:pt x="146" y="752"/>
                        <a:pt x="154" y="794"/>
                        <a:pt x="167" y="834"/>
                      </a:cubicBezTo>
                      <a:cubicBezTo>
                        <a:pt x="170" y="846"/>
                        <a:pt x="170" y="846"/>
                        <a:pt x="170" y="846"/>
                      </a:cubicBezTo>
                      <a:cubicBezTo>
                        <a:pt x="97" y="935"/>
                        <a:pt x="97" y="935"/>
                        <a:pt x="97" y="935"/>
                      </a:cubicBezTo>
                      <a:cubicBezTo>
                        <a:pt x="112" y="966"/>
                        <a:pt x="130" y="997"/>
                        <a:pt x="130" y="998"/>
                      </a:cubicBezTo>
                      <a:cubicBezTo>
                        <a:pt x="130" y="998"/>
                        <a:pt x="148" y="1029"/>
                        <a:pt x="168" y="1058"/>
                      </a:cubicBezTo>
                      <a:cubicBezTo>
                        <a:pt x="290" y="1038"/>
                        <a:pt x="290" y="1038"/>
                        <a:pt x="290" y="1038"/>
                      </a:cubicBezTo>
                      <a:cubicBezTo>
                        <a:pt x="298" y="1045"/>
                        <a:pt x="298" y="1045"/>
                        <a:pt x="298" y="1045"/>
                      </a:cubicBezTo>
                      <a:cubicBezTo>
                        <a:pt x="324" y="1072"/>
                        <a:pt x="354" y="1095"/>
                        <a:pt x="386" y="1115"/>
                      </a:cubicBezTo>
                      <a:cubicBezTo>
                        <a:pt x="396" y="1121"/>
                        <a:pt x="396" y="1121"/>
                        <a:pt x="396" y="1121"/>
                      </a:cubicBezTo>
                      <a:cubicBezTo>
                        <a:pt x="397" y="1250"/>
                        <a:pt x="397" y="1250"/>
                        <a:pt x="397" y="1250"/>
                      </a:cubicBezTo>
                      <a:cubicBezTo>
                        <a:pt x="429" y="1265"/>
                        <a:pt x="463" y="1278"/>
                        <a:pt x="463" y="1278"/>
                      </a:cubicBezTo>
                      <a:cubicBezTo>
                        <a:pt x="463" y="1278"/>
                        <a:pt x="498" y="1290"/>
                        <a:pt x="531" y="1299"/>
                      </a:cubicBezTo>
                      <a:cubicBezTo>
                        <a:pt x="619" y="1197"/>
                        <a:pt x="619" y="1197"/>
                        <a:pt x="619" y="1197"/>
                      </a:cubicBezTo>
                      <a:cubicBezTo>
                        <a:pt x="630" y="1198"/>
                        <a:pt x="630" y="1198"/>
                        <a:pt x="630" y="1198"/>
                      </a:cubicBezTo>
                      <a:cubicBezTo>
                        <a:pt x="647" y="1199"/>
                        <a:pt x="665" y="1200"/>
                        <a:pt x="681" y="1200"/>
                      </a:cubicBezTo>
                      <a:cubicBezTo>
                        <a:pt x="698" y="1200"/>
                        <a:pt x="714" y="1199"/>
                        <a:pt x="731" y="1198"/>
                      </a:cubicBezTo>
                      <a:lnTo>
                        <a:pt x="742" y="1197"/>
                      </a:lnTo>
                      <a:close/>
                      <a:moveTo>
                        <a:pt x="681" y="1108"/>
                      </a:moveTo>
                      <a:cubicBezTo>
                        <a:pt x="447" y="1108"/>
                        <a:pt x="256" y="917"/>
                        <a:pt x="256" y="683"/>
                      </a:cubicBezTo>
                      <a:cubicBezTo>
                        <a:pt x="256" y="448"/>
                        <a:pt x="447" y="257"/>
                        <a:pt x="681" y="257"/>
                      </a:cubicBezTo>
                      <a:cubicBezTo>
                        <a:pt x="916" y="257"/>
                        <a:pt x="1107" y="448"/>
                        <a:pt x="1107" y="683"/>
                      </a:cubicBezTo>
                      <a:cubicBezTo>
                        <a:pt x="1107" y="917"/>
                        <a:pt x="916" y="1108"/>
                        <a:pt x="681" y="1108"/>
                      </a:cubicBezTo>
                      <a:close/>
                      <a:moveTo>
                        <a:pt x="681" y="301"/>
                      </a:moveTo>
                      <a:cubicBezTo>
                        <a:pt x="471" y="301"/>
                        <a:pt x="300" y="473"/>
                        <a:pt x="300" y="683"/>
                      </a:cubicBezTo>
                      <a:cubicBezTo>
                        <a:pt x="300" y="893"/>
                        <a:pt x="471" y="1064"/>
                        <a:pt x="681" y="1064"/>
                      </a:cubicBezTo>
                      <a:cubicBezTo>
                        <a:pt x="892" y="1064"/>
                        <a:pt x="1063" y="893"/>
                        <a:pt x="1063" y="683"/>
                      </a:cubicBezTo>
                      <a:cubicBezTo>
                        <a:pt x="1063" y="473"/>
                        <a:pt x="892" y="301"/>
                        <a:pt x="681" y="30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grpSp>
      </p:grpSp>
      <p:grpSp>
        <p:nvGrpSpPr>
          <p:cNvPr id="64" name="Group 63">
            <a:extLst>
              <a:ext uri="{FF2B5EF4-FFF2-40B4-BE49-F238E27FC236}">
                <a16:creationId xmlns:a16="http://schemas.microsoft.com/office/drawing/2014/main" id="{F010AA2A-2446-0C34-9454-7082E2C2EEFF}"/>
              </a:ext>
            </a:extLst>
          </p:cNvPr>
          <p:cNvGrpSpPr/>
          <p:nvPr/>
        </p:nvGrpSpPr>
        <p:grpSpPr>
          <a:xfrm>
            <a:off x="3681556" y="1560179"/>
            <a:ext cx="720000" cy="720000"/>
            <a:chOff x="1890463" y="1748712"/>
            <a:chExt cx="720000" cy="720000"/>
          </a:xfrm>
        </p:grpSpPr>
        <p:grpSp>
          <p:nvGrpSpPr>
            <p:cNvPr id="65" name="Group 64">
              <a:extLst>
                <a:ext uri="{FF2B5EF4-FFF2-40B4-BE49-F238E27FC236}">
                  <a16:creationId xmlns:a16="http://schemas.microsoft.com/office/drawing/2014/main" id="{23E9A6C0-4B06-F4F3-91E2-1CA23A8F4384}"/>
                </a:ext>
              </a:extLst>
            </p:cNvPr>
            <p:cNvGrpSpPr/>
            <p:nvPr/>
          </p:nvGrpSpPr>
          <p:grpSpPr>
            <a:xfrm>
              <a:off x="1890463" y="1748712"/>
              <a:ext cx="720000" cy="720000"/>
              <a:chOff x="5772024" y="1984163"/>
              <a:chExt cx="646578" cy="646578"/>
            </a:xfrm>
          </p:grpSpPr>
          <p:sp>
            <p:nvSpPr>
              <p:cNvPr id="70" name="Oval 69">
                <a:extLst>
                  <a:ext uri="{FF2B5EF4-FFF2-40B4-BE49-F238E27FC236}">
                    <a16:creationId xmlns:a16="http://schemas.microsoft.com/office/drawing/2014/main" id="{4F4C10F8-4B2A-A79F-4231-01E5CD2A416A}"/>
                  </a:ext>
                </a:extLst>
              </p:cNvPr>
              <p:cNvSpPr/>
              <p:nvPr>
                <p:custDataLst>
                  <p:tags r:id="rId8"/>
                </p:custDataLst>
              </p:nvPr>
            </p:nvSpPr>
            <p:spPr>
              <a:xfrm>
                <a:off x="5772024" y="1984163"/>
                <a:ext cx="646578" cy="646578"/>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lumMod val="50000"/>
                    </a:prstClr>
                  </a:solidFill>
                  <a:effectLst/>
                  <a:uLnTx/>
                  <a:uFillTx/>
                  <a:latin typeface="Trebuchet MS"/>
                  <a:ea typeface="+mn-ea"/>
                  <a:cs typeface="+mn-cs"/>
                </a:endParaRPr>
              </a:p>
            </p:txBody>
          </p:sp>
          <p:sp>
            <p:nvSpPr>
              <p:cNvPr id="71" name="AutoShape 7">
                <a:extLst>
                  <a:ext uri="{FF2B5EF4-FFF2-40B4-BE49-F238E27FC236}">
                    <a16:creationId xmlns:a16="http://schemas.microsoft.com/office/drawing/2014/main" id="{11F52140-36F2-5720-B00B-6A19C2304745}"/>
                  </a:ext>
                </a:extLst>
              </p:cNvPr>
              <p:cNvSpPr>
                <a:spLocks noChangeAspect="1" noChangeArrowheads="1" noTextEdit="1"/>
              </p:cNvSpPr>
              <p:nvPr/>
            </p:nvSpPr>
            <p:spPr bwMode="auto">
              <a:xfrm>
                <a:off x="5866713" y="2078852"/>
                <a:ext cx="457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grpSp>
          <p:nvGrpSpPr>
            <p:cNvPr id="66" name="bcgIcons_OnlineSurvey">
              <a:extLst>
                <a:ext uri="{FF2B5EF4-FFF2-40B4-BE49-F238E27FC236}">
                  <a16:creationId xmlns:a16="http://schemas.microsoft.com/office/drawing/2014/main" id="{6CD64467-85EE-7F01-A572-46809CBEA84F}"/>
                </a:ext>
              </a:extLst>
            </p:cNvPr>
            <p:cNvGrpSpPr>
              <a:grpSpLocks noChangeAspect="1"/>
            </p:cNvGrpSpPr>
            <p:nvPr/>
          </p:nvGrpSpPr>
          <p:grpSpPr bwMode="auto">
            <a:xfrm>
              <a:off x="1978678" y="1855997"/>
              <a:ext cx="554664" cy="555178"/>
              <a:chOff x="1682" y="0"/>
              <a:chExt cx="4316" cy="4320"/>
            </a:xfrm>
          </p:grpSpPr>
          <p:sp>
            <p:nvSpPr>
              <p:cNvPr id="67" name="AutoShape 8">
                <a:extLst>
                  <a:ext uri="{FF2B5EF4-FFF2-40B4-BE49-F238E27FC236}">
                    <a16:creationId xmlns:a16="http://schemas.microsoft.com/office/drawing/2014/main" id="{6C796040-083B-77C4-1CC6-956432DF718B}"/>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68" name="Freeform 10">
                <a:extLst>
                  <a:ext uri="{FF2B5EF4-FFF2-40B4-BE49-F238E27FC236}">
                    <a16:creationId xmlns:a16="http://schemas.microsoft.com/office/drawing/2014/main" id="{03AC7123-E843-6761-5CCB-E309FB4D49FF}"/>
                  </a:ext>
                </a:extLst>
              </p:cNvPr>
              <p:cNvSpPr>
                <a:spLocks noEditPoints="1"/>
              </p:cNvSpPr>
              <p:nvPr/>
            </p:nvSpPr>
            <p:spPr bwMode="auto">
              <a:xfrm>
                <a:off x="2085" y="720"/>
                <a:ext cx="3510" cy="2876"/>
              </a:xfrm>
              <a:custGeom>
                <a:avLst/>
                <a:gdLst>
                  <a:gd name="T0" fmla="*/ 1327 w 1874"/>
                  <a:gd name="T1" fmla="*/ 1534 h 1534"/>
                  <a:gd name="T2" fmla="*/ 547 w 1874"/>
                  <a:gd name="T3" fmla="*/ 1534 h 1534"/>
                  <a:gd name="T4" fmla="*/ 525 w 1874"/>
                  <a:gd name="T5" fmla="*/ 1512 h 1534"/>
                  <a:gd name="T6" fmla="*/ 525 w 1874"/>
                  <a:gd name="T7" fmla="*/ 1436 h 1534"/>
                  <a:gd name="T8" fmla="*/ 547 w 1874"/>
                  <a:gd name="T9" fmla="*/ 1414 h 1534"/>
                  <a:gd name="T10" fmla="*/ 753 w 1874"/>
                  <a:gd name="T11" fmla="*/ 1414 h 1534"/>
                  <a:gd name="T12" fmla="*/ 753 w 1874"/>
                  <a:gd name="T13" fmla="*/ 1366 h 1534"/>
                  <a:gd name="T14" fmla="*/ 775 w 1874"/>
                  <a:gd name="T15" fmla="*/ 1344 h 1534"/>
                  <a:gd name="T16" fmla="*/ 797 w 1874"/>
                  <a:gd name="T17" fmla="*/ 1366 h 1534"/>
                  <a:gd name="T18" fmla="*/ 797 w 1874"/>
                  <a:gd name="T19" fmla="*/ 1436 h 1534"/>
                  <a:gd name="T20" fmla="*/ 775 w 1874"/>
                  <a:gd name="T21" fmla="*/ 1458 h 1534"/>
                  <a:gd name="T22" fmla="*/ 569 w 1874"/>
                  <a:gd name="T23" fmla="*/ 1458 h 1534"/>
                  <a:gd name="T24" fmla="*/ 569 w 1874"/>
                  <a:gd name="T25" fmla="*/ 1490 h 1534"/>
                  <a:gd name="T26" fmla="*/ 1305 w 1874"/>
                  <a:gd name="T27" fmla="*/ 1490 h 1534"/>
                  <a:gd name="T28" fmla="*/ 1305 w 1874"/>
                  <a:gd name="T29" fmla="*/ 1458 h 1534"/>
                  <a:gd name="T30" fmla="*/ 1101 w 1874"/>
                  <a:gd name="T31" fmla="*/ 1458 h 1534"/>
                  <a:gd name="T32" fmla="*/ 1079 w 1874"/>
                  <a:gd name="T33" fmla="*/ 1436 h 1534"/>
                  <a:gd name="T34" fmla="*/ 1079 w 1874"/>
                  <a:gd name="T35" fmla="*/ 1366 h 1534"/>
                  <a:gd name="T36" fmla="*/ 1101 w 1874"/>
                  <a:gd name="T37" fmla="*/ 1344 h 1534"/>
                  <a:gd name="T38" fmla="*/ 1123 w 1874"/>
                  <a:gd name="T39" fmla="*/ 1366 h 1534"/>
                  <a:gd name="T40" fmla="*/ 1123 w 1874"/>
                  <a:gd name="T41" fmla="*/ 1414 h 1534"/>
                  <a:gd name="T42" fmla="*/ 1327 w 1874"/>
                  <a:gd name="T43" fmla="*/ 1414 h 1534"/>
                  <a:gd name="T44" fmla="*/ 1349 w 1874"/>
                  <a:gd name="T45" fmla="*/ 1436 h 1534"/>
                  <a:gd name="T46" fmla="*/ 1349 w 1874"/>
                  <a:gd name="T47" fmla="*/ 1512 h 1534"/>
                  <a:gd name="T48" fmla="*/ 1327 w 1874"/>
                  <a:gd name="T49" fmla="*/ 1534 h 1534"/>
                  <a:gd name="T50" fmla="*/ 1874 w 1874"/>
                  <a:gd name="T51" fmla="*/ 22 h 1534"/>
                  <a:gd name="T52" fmla="*/ 1874 w 1874"/>
                  <a:gd name="T53" fmla="*/ 1284 h 1534"/>
                  <a:gd name="T54" fmla="*/ 1852 w 1874"/>
                  <a:gd name="T55" fmla="*/ 1306 h 1534"/>
                  <a:gd name="T56" fmla="*/ 22 w 1874"/>
                  <a:gd name="T57" fmla="*/ 1306 h 1534"/>
                  <a:gd name="T58" fmla="*/ 0 w 1874"/>
                  <a:gd name="T59" fmla="*/ 1284 h 1534"/>
                  <a:gd name="T60" fmla="*/ 0 w 1874"/>
                  <a:gd name="T61" fmla="*/ 22 h 1534"/>
                  <a:gd name="T62" fmla="*/ 22 w 1874"/>
                  <a:gd name="T63" fmla="*/ 0 h 1534"/>
                  <a:gd name="T64" fmla="*/ 1852 w 1874"/>
                  <a:gd name="T65" fmla="*/ 0 h 1534"/>
                  <a:gd name="T66" fmla="*/ 1874 w 1874"/>
                  <a:gd name="T67" fmla="*/ 22 h 1534"/>
                  <a:gd name="T68" fmla="*/ 44 w 1874"/>
                  <a:gd name="T69" fmla="*/ 44 h 1534"/>
                  <a:gd name="T70" fmla="*/ 44 w 1874"/>
                  <a:gd name="T71" fmla="*/ 1091 h 1534"/>
                  <a:gd name="T72" fmla="*/ 1830 w 1874"/>
                  <a:gd name="T73" fmla="*/ 1091 h 1534"/>
                  <a:gd name="T74" fmla="*/ 1830 w 1874"/>
                  <a:gd name="T75" fmla="*/ 44 h 1534"/>
                  <a:gd name="T76" fmla="*/ 44 w 1874"/>
                  <a:gd name="T77" fmla="*/ 44 h 1534"/>
                  <a:gd name="T78" fmla="*/ 1830 w 1874"/>
                  <a:gd name="T79" fmla="*/ 1262 h 1534"/>
                  <a:gd name="T80" fmla="*/ 1830 w 1874"/>
                  <a:gd name="T81" fmla="*/ 1135 h 1534"/>
                  <a:gd name="T82" fmla="*/ 44 w 1874"/>
                  <a:gd name="T83" fmla="*/ 1135 h 1534"/>
                  <a:gd name="T84" fmla="*/ 44 w 1874"/>
                  <a:gd name="T85" fmla="*/ 1262 h 1534"/>
                  <a:gd name="T86" fmla="*/ 1830 w 1874"/>
                  <a:gd name="T87" fmla="*/ 1262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74" h="1534">
                    <a:moveTo>
                      <a:pt x="1327" y="1534"/>
                    </a:moveTo>
                    <a:cubicBezTo>
                      <a:pt x="547" y="1534"/>
                      <a:pt x="547" y="1534"/>
                      <a:pt x="547" y="1534"/>
                    </a:cubicBezTo>
                    <a:cubicBezTo>
                      <a:pt x="535" y="1534"/>
                      <a:pt x="525" y="1524"/>
                      <a:pt x="525" y="1512"/>
                    </a:cubicBezTo>
                    <a:cubicBezTo>
                      <a:pt x="525" y="1436"/>
                      <a:pt x="525" y="1436"/>
                      <a:pt x="525" y="1436"/>
                    </a:cubicBezTo>
                    <a:cubicBezTo>
                      <a:pt x="525" y="1424"/>
                      <a:pt x="535" y="1414"/>
                      <a:pt x="547" y="1414"/>
                    </a:cubicBezTo>
                    <a:cubicBezTo>
                      <a:pt x="753" y="1414"/>
                      <a:pt x="753" y="1414"/>
                      <a:pt x="753" y="1414"/>
                    </a:cubicBezTo>
                    <a:cubicBezTo>
                      <a:pt x="753" y="1366"/>
                      <a:pt x="753" y="1366"/>
                      <a:pt x="753" y="1366"/>
                    </a:cubicBezTo>
                    <a:cubicBezTo>
                      <a:pt x="753" y="1354"/>
                      <a:pt x="763" y="1344"/>
                      <a:pt x="775" y="1344"/>
                    </a:cubicBezTo>
                    <a:cubicBezTo>
                      <a:pt x="787" y="1344"/>
                      <a:pt x="797" y="1354"/>
                      <a:pt x="797" y="1366"/>
                    </a:cubicBezTo>
                    <a:cubicBezTo>
                      <a:pt x="797" y="1436"/>
                      <a:pt x="797" y="1436"/>
                      <a:pt x="797" y="1436"/>
                    </a:cubicBezTo>
                    <a:cubicBezTo>
                      <a:pt x="797" y="1448"/>
                      <a:pt x="787" y="1458"/>
                      <a:pt x="775" y="1458"/>
                    </a:cubicBezTo>
                    <a:cubicBezTo>
                      <a:pt x="569" y="1458"/>
                      <a:pt x="569" y="1458"/>
                      <a:pt x="569" y="1458"/>
                    </a:cubicBezTo>
                    <a:cubicBezTo>
                      <a:pt x="569" y="1490"/>
                      <a:pt x="569" y="1490"/>
                      <a:pt x="569" y="1490"/>
                    </a:cubicBezTo>
                    <a:cubicBezTo>
                      <a:pt x="1305" y="1490"/>
                      <a:pt x="1305" y="1490"/>
                      <a:pt x="1305" y="1490"/>
                    </a:cubicBezTo>
                    <a:cubicBezTo>
                      <a:pt x="1305" y="1458"/>
                      <a:pt x="1305" y="1458"/>
                      <a:pt x="1305" y="1458"/>
                    </a:cubicBezTo>
                    <a:cubicBezTo>
                      <a:pt x="1101" y="1458"/>
                      <a:pt x="1101" y="1458"/>
                      <a:pt x="1101" y="1458"/>
                    </a:cubicBezTo>
                    <a:cubicBezTo>
                      <a:pt x="1089" y="1458"/>
                      <a:pt x="1079" y="1448"/>
                      <a:pt x="1079" y="1436"/>
                    </a:cubicBezTo>
                    <a:cubicBezTo>
                      <a:pt x="1079" y="1366"/>
                      <a:pt x="1079" y="1366"/>
                      <a:pt x="1079" y="1366"/>
                    </a:cubicBezTo>
                    <a:cubicBezTo>
                      <a:pt x="1079" y="1354"/>
                      <a:pt x="1089" y="1344"/>
                      <a:pt x="1101" y="1344"/>
                    </a:cubicBezTo>
                    <a:cubicBezTo>
                      <a:pt x="1114" y="1344"/>
                      <a:pt x="1123" y="1354"/>
                      <a:pt x="1123" y="1366"/>
                    </a:cubicBezTo>
                    <a:cubicBezTo>
                      <a:pt x="1123" y="1414"/>
                      <a:pt x="1123" y="1414"/>
                      <a:pt x="1123" y="1414"/>
                    </a:cubicBezTo>
                    <a:cubicBezTo>
                      <a:pt x="1327" y="1414"/>
                      <a:pt x="1327" y="1414"/>
                      <a:pt x="1327" y="1414"/>
                    </a:cubicBezTo>
                    <a:cubicBezTo>
                      <a:pt x="1339" y="1414"/>
                      <a:pt x="1349" y="1424"/>
                      <a:pt x="1349" y="1436"/>
                    </a:cubicBezTo>
                    <a:cubicBezTo>
                      <a:pt x="1349" y="1512"/>
                      <a:pt x="1349" y="1512"/>
                      <a:pt x="1349" y="1512"/>
                    </a:cubicBezTo>
                    <a:cubicBezTo>
                      <a:pt x="1349" y="1524"/>
                      <a:pt x="1339" y="1534"/>
                      <a:pt x="1327" y="1534"/>
                    </a:cubicBezTo>
                    <a:close/>
                    <a:moveTo>
                      <a:pt x="1874" y="22"/>
                    </a:moveTo>
                    <a:cubicBezTo>
                      <a:pt x="1874" y="1284"/>
                      <a:pt x="1874" y="1284"/>
                      <a:pt x="1874" y="1284"/>
                    </a:cubicBezTo>
                    <a:cubicBezTo>
                      <a:pt x="1874" y="1296"/>
                      <a:pt x="1864" y="1306"/>
                      <a:pt x="1852" y="1306"/>
                    </a:cubicBezTo>
                    <a:cubicBezTo>
                      <a:pt x="22" y="1306"/>
                      <a:pt x="22" y="1306"/>
                      <a:pt x="22" y="1306"/>
                    </a:cubicBezTo>
                    <a:cubicBezTo>
                      <a:pt x="10" y="1306"/>
                      <a:pt x="0" y="1296"/>
                      <a:pt x="0" y="1284"/>
                    </a:cubicBezTo>
                    <a:cubicBezTo>
                      <a:pt x="0" y="22"/>
                      <a:pt x="0" y="22"/>
                      <a:pt x="0" y="22"/>
                    </a:cubicBezTo>
                    <a:cubicBezTo>
                      <a:pt x="0" y="10"/>
                      <a:pt x="10" y="0"/>
                      <a:pt x="22" y="0"/>
                    </a:cubicBezTo>
                    <a:cubicBezTo>
                      <a:pt x="1852" y="0"/>
                      <a:pt x="1852" y="0"/>
                      <a:pt x="1852" y="0"/>
                    </a:cubicBezTo>
                    <a:cubicBezTo>
                      <a:pt x="1864" y="0"/>
                      <a:pt x="1874" y="10"/>
                      <a:pt x="1874" y="22"/>
                    </a:cubicBezTo>
                    <a:close/>
                    <a:moveTo>
                      <a:pt x="44" y="44"/>
                    </a:moveTo>
                    <a:cubicBezTo>
                      <a:pt x="44" y="1091"/>
                      <a:pt x="44" y="1091"/>
                      <a:pt x="44" y="1091"/>
                    </a:cubicBezTo>
                    <a:cubicBezTo>
                      <a:pt x="1830" y="1091"/>
                      <a:pt x="1830" y="1091"/>
                      <a:pt x="1830" y="1091"/>
                    </a:cubicBezTo>
                    <a:cubicBezTo>
                      <a:pt x="1830" y="44"/>
                      <a:pt x="1830" y="44"/>
                      <a:pt x="1830" y="44"/>
                    </a:cubicBezTo>
                    <a:lnTo>
                      <a:pt x="44" y="44"/>
                    </a:lnTo>
                    <a:close/>
                    <a:moveTo>
                      <a:pt x="1830" y="1262"/>
                    </a:moveTo>
                    <a:cubicBezTo>
                      <a:pt x="1830" y="1135"/>
                      <a:pt x="1830" y="1135"/>
                      <a:pt x="1830" y="1135"/>
                    </a:cubicBezTo>
                    <a:cubicBezTo>
                      <a:pt x="44" y="1135"/>
                      <a:pt x="44" y="1135"/>
                      <a:pt x="44" y="1135"/>
                    </a:cubicBezTo>
                    <a:cubicBezTo>
                      <a:pt x="44" y="1262"/>
                      <a:pt x="44" y="1262"/>
                      <a:pt x="44" y="1262"/>
                    </a:cubicBezTo>
                    <a:lnTo>
                      <a:pt x="1830" y="126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69" name="Freeform 11">
                <a:extLst>
                  <a:ext uri="{FF2B5EF4-FFF2-40B4-BE49-F238E27FC236}">
                    <a16:creationId xmlns:a16="http://schemas.microsoft.com/office/drawing/2014/main" id="{DB87791B-F980-C36B-1DB8-AA4C7F9FB52C}"/>
                  </a:ext>
                </a:extLst>
              </p:cNvPr>
              <p:cNvSpPr>
                <a:spLocks noEditPoints="1"/>
              </p:cNvSpPr>
              <p:nvPr/>
            </p:nvSpPr>
            <p:spPr bwMode="auto">
              <a:xfrm>
                <a:off x="2261" y="906"/>
                <a:ext cx="3158" cy="2148"/>
              </a:xfrm>
              <a:custGeom>
                <a:avLst/>
                <a:gdLst>
                  <a:gd name="T0" fmla="*/ 799 w 1686"/>
                  <a:gd name="T1" fmla="*/ 1102 h 1146"/>
                  <a:gd name="T2" fmla="*/ 843 w 1686"/>
                  <a:gd name="T3" fmla="*/ 1057 h 1146"/>
                  <a:gd name="T4" fmla="*/ 887 w 1686"/>
                  <a:gd name="T5" fmla="*/ 1102 h 1146"/>
                  <a:gd name="T6" fmla="*/ 843 w 1686"/>
                  <a:gd name="T7" fmla="*/ 1146 h 1146"/>
                  <a:gd name="T8" fmla="*/ 799 w 1686"/>
                  <a:gd name="T9" fmla="*/ 1102 h 1146"/>
                  <a:gd name="T10" fmla="*/ 327 w 1686"/>
                  <a:gd name="T11" fmla="*/ 518 h 1146"/>
                  <a:gd name="T12" fmla="*/ 325 w 1686"/>
                  <a:gd name="T13" fmla="*/ 518 h 1146"/>
                  <a:gd name="T14" fmla="*/ 303 w 1686"/>
                  <a:gd name="T15" fmla="*/ 505 h 1146"/>
                  <a:gd name="T16" fmla="*/ 254 w 1686"/>
                  <a:gd name="T17" fmla="*/ 436 h 1146"/>
                  <a:gd name="T18" fmla="*/ 261 w 1686"/>
                  <a:gd name="T19" fmla="*/ 394 h 1146"/>
                  <a:gd name="T20" fmla="*/ 303 w 1686"/>
                  <a:gd name="T21" fmla="*/ 401 h 1146"/>
                  <a:gd name="T22" fmla="*/ 330 w 1686"/>
                  <a:gd name="T23" fmla="*/ 440 h 1146"/>
                  <a:gd name="T24" fmla="*/ 415 w 1686"/>
                  <a:gd name="T25" fmla="*/ 347 h 1146"/>
                  <a:gd name="T26" fmla="*/ 215 w 1686"/>
                  <a:gd name="T27" fmla="*/ 347 h 1146"/>
                  <a:gd name="T28" fmla="*/ 215 w 1686"/>
                  <a:gd name="T29" fmla="*/ 574 h 1146"/>
                  <a:gd name="T30" fmla="*/ 441 w 1686"/>
                  <a:gd name="T31" fmla="*/ 574 h 1146"/>
                  <a:gd name="T32" fmla="*/ 441 w 1686"/>
                  <a:gd name="T33" fmla="*/ 407 h 1146"/>
                  <a:gd name="T34" fmla="*/ 350 w 1686"/>
                  <a:gd name="T35" fmla="*/ 508 h 1146"/>
                  <a:gd name="T36" fmla="*/ 327 w 1686"/>
                  <a:gd name="T37" fmla="*/ 518 h 1146"/>
                  <a:gd name="T38" fmla="*/ 1686 w 1686"/>
                  <a:gd name="T39" fmla="*/ 10 h 1146"/>
                  <a:gd name="T40" fmla="*/ 1686 w 1686"/>
                  <a:gd name="T41" fmla="*/ 926 h 1146"/>
                  <a:gd name="T42" fmla="*/ 1676 w 1686"/>
                  <a:gd name="T43" fmla="*/ 936 h 1146"/>
                  <a:gd name="T44" fmla="*/ 10 w 1686"/>
                  <a:gd name="T45" fmla="*/ 936 h 1146"/>
                  <a:gd name="T46" fmla="*/ 0 w 1686"/>
                  <a:gd name="T47" fmla="*/ 926 h 1146"/>
                  <a:gd name="T48" fmla="*/ 0 w 1686"/>
                  <a:gd name="T49" fmla="*/ 10 h 1146"/>
                  <a:gd name="T50" fmla="*/ 10 w 1686"/>
                  <a:gd name="T51" fmla="*/ 0 h 1146"/>
                  <a:gd name="T52" fmla="*/ 1676 w 1686"/>
                  <a:gd name="T53" fmla="*/ 0 h 1146"/>
                  <a:gd name="T54" fmla="*/ 1686 w 1686"/>
                  <a:gd name="T55" fmla="*/ 10 h 1146"/>
                  <a:gd name="T56" fmla="*/ 555 w 1686"/>
                  <a:gd name="T57" fmla="*/ 238 h 1146"/>
                  <a:gd name="T58" fmla="*/ 512 w 1686"/>
                  <a:gd name="T59" fmla="*/ 240 h 1146"/>
                  <a:gd name="T60" fmla="*/ 469 w 1686"/>
                  <a:gd name="T61" fmla="*/ 287 h 1146"/>
                  <a:gd name="T62" fmla="*/ 185 w 1686"/>
                  <a:gd name="T63" fmla="*/ 287 h 1146"/>
                  <a:gd name="T64" fmla="*/ 155 w 1686"/>
                  <a:gd name="T65" fmla="*/ 317 h 1146"/>
                  <a:gd name="T66" fmla="*/ 155 w 1686"/>
                  <a:gd name="T67" fmla="*/ 604 h 1146"/>
                  <a:gd name="T68" fmla="*/ 185 w 1686"/>
                  <a:gd name="T69" fmla="*/ 634 h 1146"/>
                  <a:gd name="T70" fmla="*/ 471 w 1686"/>
                  <a:gd name="T71" fmla="*/ 634 h 1146"/>
                  <a:gd name="T72" fmla="*/ 501 w 1686"/>
                  <a:gd name="T73" fmla="*/ 604 h 1146"/>
                  <a:gd name="T74" fmla="*/ 501 w 1686"/>
                  <a:gd name="T75" fmla="*/ 341 h 1146"/>
                  <a:gd name="T76" fmla="*/ 557 w 1686"/>
                  <a:gd name="T77" fmla="*/ 280 h 1146"/>
                  <a:gd name="T78" fmla="*/ 555 w 1686"/>
                  <a:gd name="T79" fmla="*/ 238 h 1146"/>
                  <a:gd name="T80" fmla="*/ 1531 w 1686"/>
                  <a:gd name="T81" fmla="*/ 562 h 1146"/>
                  <a:gd name="T82" fmla="*/ 1501 w 1686"/>
                  <a:gd name="T83" fmla="*/ 532 h 1146"/>
                  <a:gd name="T84" fmla="*/ 691 w 1686"/>
                  <a:gd name="T85" fmla="*/ 532 h 1146"/>
                  <a:gd name="T86" fmla="*/ 661 w 1686"/>
                  <a:gd name="T87" fmla="*/ 562 h 1146"/>
                  <a:gd name="T88" fmla="*/ 691 w 1686"/>
                  <a:gd name="T89" fmla="*/ 592 h 1146"/>
                  <a:gd name="T90" fmla="*/ 1501 w 1686"/>
                  <a:gd name="T91" fmla="*/ 592 h 1146"/>
                  <a:gd name="T92" fmla="*/ 1531 w 1686"/>
                  <a:gd name="T93" fmla="*/ 562 h 1146"/>
                  <a:gd name="T94" fmla="*/ 1531 w 1686"/>
                  <a:gd name="T95" fmla="*/ 358 h 1146"/>
                  <a:gd name="T96" fmla="*/ 1501 w 1686"/>
                  <a:gd name="T97" fmla="*/ 328 h 1146"/>
                  <a:gd name="T98" fmla="*/ 691 w 1686"/>
                  <a:gd name="T99" fmla="*/ 328 h 1146"/>
                  <a:gd name="T100" fmla="*/ 661 w 1686"/>
                  <a:gd name="T101" fmla="*/ 358 h 1146"/>
                  <a:gd name="T102" fmla="*/ 691 w 1686"/>
                  <a:gd name="T103" fmla="*/ 388 h 1146"/>
                  <a:gd name="T104" fmla="*/ 1501 w 1686"/>
                  <a:gd name="T105" fmla="*/ 388 h 1146"/>
                  <a:gd name="T106" fmla="*/ 1531 w 1686"/>
                  <a:gd name="T107" fmla="*/ 358 h 1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86" h="1146">
                    <a:moveTo>
                      <a:pt x="799" y="1102"/>
                    </a:moveTo>
                    <a:cubicBezTo>
                      <a:pt x="799" y="1077"/>
                      <a:pt x="818" y="1057"/>
                      <a:pt x="843" y="1057"/>
                    </a:cubicBezTo>
                    <a:cubicBezTo>
                      <a:pt x="868" y="1057"/>
                      <a:pt x="887" y="1077"/>
                      <a:pt x="887" y="1102"/>
                    </a:cubicBezTo>
                    <a:cubicBezTo>
                      <a:pt x="887" y="1126"/>
                      <a:pt x="868" y="1146"/>
                      <a:pt x="843" y="1146"/>
                    </a:cubicBezTo>
                    <a:cubicBezTo>
                      <a:pt x="818" y="1146"/>
                      <a:pt x="799" y="1126"/>
                      <a:pt x="799" y="1102"/>
                    </a:cubicBezTo>
                    <a:close/>
                    <a:moveTo>
                      <a:pt x="327" y="518"/>
                    </a:moveTo>
                    <a:cubicBezTo>
                      <a:pt x="327" y="518"/>
                      <a:pt x="326" y="518"/>
                      <a:pt x="325" y="518"/>
                    </a:cubicBezTo>
                    <a:cubicBezTo>
                      <a:pt x="316" y="517"/>
                      <a:pt x="308" y="513"/>
                      <a:pt x="303" y="505"/>
                    </a:cubicBezTo>
                    <a:cubicBezTo>
                      <a:pt x="254" y="436"/>
                      <a:pt x="254" y="436"/>
                      <a:pt x="254" y="436"/>
                    </a:cubicBezTo>
                    <a:cubicBezTo>
                      <a:pt x="245" y="422"/>
                      <a:pt x="248" y="404"/>
                      <a:pt x="261" y="394"/>
                    </a:cubicBezTo>
                    <a:cubicBezTo>
                      <a:pt x="275" y="385"/>
                      <a:pt x="294" y="388"/>
                      <a:pt x="303" y="401"/>
                    </a:cubicBezTo>
                    <a:cubicBezTo>
                      <a:pt x="330" y="440"/>
                      <a:pt x="330" y="440"/>
                      <a:pt x="330" y="440"/>
                    </a:cubicBezTo>
                    <a:cubicBezTo>
                      <a:pt x="415" y="347"/>
                      <a:pt x="415" y="347"/>
                      <a:pt x="415" y="347"/>
                    </a:cubicBezTo>
                    <a:cubicBezTo>
                      <a:pt x="215" y="347"/>
                      <a:pt x="215" y="347"/>
                      <a:pt x="215" y="347"/>
                    </a:cubicBezTo>
                    <a:cubicBezTo>
                      <a:pt x="215" y="574"/>
                      <a:pt x="215" y="574"/>
                      <a:pt x="215" y="574"/>
                    </a:cubicBezTo>
                    <a:cubicBezTo>
                      <a:pt x="441" y="574"/>
                      <a:pt x="441" y="574"/>
                      <a:pt x="441" y="574"/>
                    </a:cubicBezTo>
                    <a:cubicBezTo>
                      <a:pt x="441" y="407"/>
                      <a:pt x="441" y="407"/>
                      <a:pt x="441" y="407"/>
                    </a:cubicBezTo>
                    <a:cubicBezTo>
                      <a:pt x="350" y="508"/>
                      <a:pt x="350" y="508"/>
                      <a:pt x="350" y="508"/>
                    </a:cubicBezTo>
                    <a:cubicBezTo>
                      <a:pt x="344" y="514"/>
                      <a:pt x="336" y="518"/>
                      <a:pt x="327" y="518"/>
                    </a:cubicBezTo>
                    <a:close/>
                    <a:moveTo>
                      <a:pt x="1686" y="10"/>
                    </a:moveTo>
                    <a:cubicBezTo>
                      <a:pt x="1686" y="926"/>
                      <a:pt x="1686" y="926"/>
                      <a:pt x="1686" y="926"/>
                    </a:cubicBezTo>
                    <a:cubicBezTo>
                      <a:pt x="1686" y="932"/>
                      <a:pt x="1681" y="936"/>
                      <a:pt x="1676" y="936"/>
                    </a:cubicBezTo>
                    <a:cubicBezTo>
                      <a:pt x="10" y="936"/>
                      <a:pt x="10" y="936"/>
                      <a:pt x="10" y="936"/>
                    </a:cubicBezTo>
                    <a:cubicBezTo>
                      <a:pt x="5" y="936"/>
                      <a:pt x="0" y="932"/>
                      <a:pt x="0" y="926"/>
                    </a:cubicBezTo>
                    <a:cubicBezTo>
                      <a:pt x="0" y="10"/>
                      <a:pt x="0" y="10"/>
                      <a:pt x="0" y="10"/>
                    </a:cubicBezTo>
                    <a:cubicBezTo>
                      <a:pt x="0" y="4"/>
                      <a:pt x="5" y="0"/>
                      <a:pt x="10" y="0"/>
                    </a:cubicBezTo>
                    <a:cubicBezTo>
                      <a:pt x="1676" y="0"/>
                      <a:pt x="1676" y="0"/>
                      <a:pt x="1676" y="0"/>
                    </a:cubicBezTo>
                    <a:cubicBezTo>
                      <a:pt x="1681" y="0"/>
                      <a:pt x="1686" y="4"/>
                      <a:pt x="1686" y="10"/>
                    </a:cubicBezTo>
                    <a:close/>
                    <a:moveTo>
                      <a:pt x="555" y="238"/>
                    </a:moveTo>
                    <a:cubicBezTo>
                      <a:pt x="543" y="227"/>
                      <a:pt x="524" y="228"/>
                      <a:pt x="512" y="240"/>
                    </a:cubicBezTo>
                    <a:cubicBezTo>
                      <a:pt x="469" y="287"/>
                      <a:pt x="469" y="287"/>
                      <a:pt x="469" y="287"/>
                    </a:cubicBezTo>
                    <a:cubicBezTo>
                      <a:pt x="185" y="287"/>
                      <a:pt x="185" y="287"/>
                      <a:pt x="185" y="287"/>
                    </a:cubicBezTo>
                    <a:cubicBezTo>
                      <a:pt x="168" y="287"/>
                      <a:pt x="155" y="301"/>
                      <a:pt x="155" y="317"/>
                    </a:cubicBezTo>
                    <a:cubicBezTo>
                      <a:pt x="155" y="604"/>
                      <a:pt x="155" y="604"/>
                      <a:pt x="155" y="604"/>
                    </a:cubicBezTo>
                    <a:cubicBezTo>
                      <a:pt x="155" y="620"/>
                      <a:pt x="168" y="634"/>
                      <a:pt x="185" y="634"/>
                    </a:cubicBezTo>
                    <a:cubicBezTo>
                      <a:pt x="471" y="634"/>
                      <a:pt x="471" y="634"/>
                      <a:pt x="471" y="634"/>
                    </a:cubicBezTo>
                    <a:cubicBezTo>
                      <a:pt x="488" y="634"/>
                      <a:pt x="501" y="620"/>
                      <a:pt x="501" y="604"/>
                    </a:cubicBezTo>
                    <a:cubicBezTo>
                      <a:pt x="501" y="341"/>
                      <a:pt x="501" y="341"/>
                      <a:pt x="501" y="341"/>
                    </a:cubicBezTo>
                    <a:cubicBezTo>
                      <a:pt x="557" y="280"/>
                      <a:pt x="557" y="280"/>
                      <a:pt x="557" y="280"/>
                    </a:cubicBezTo>
                    <a:cubicBezTo>
                      <a:pt x="568" y="268"/>
                      <a:pt x="567" y="249"/>
                      <a:pt x="555" y="238"/>
                    </a:cubicBezTo>
                    <a:close/>
                    <a:moveTo>
                      <a:pt x="1531" y="562"/>
                    </a:moveTo>
                    <a:cubicBezTo>
                      <a:pt x="1531" y="545"/>
                      <a:pt x="1518" y="532"/>
                      <a:pt x="1501" y="532"/>
                    </a:cubicBezTo>
                    <a:cubicBezTo>
                      <a:pt x="691" y="532"/>
                      <a:pt x="691" y="532"/>
                      <a:pt x="691" y="532"/>
                    </a:cubicBezTo>
                    <a:cubicBezTo>
                      <a:pt x="674" y="532"/>
                      <a:pt x="661" y="545"/>
                      <a:pt x="661" y="562"/>
                    </a:cubicBezTo>
                    <a:cubicBezTo>
                      <a:pt x="661" y="579"/>
                      <a:pt x="674" y="592"/>
                      <a:pt x="691" y="592"/>
                    </a:cubicBezTo>
                    <a:cubicBezTo>
                      <a:pt x="1501" y="592"/>
                      <a:pt x="1501" y="592"/>
                      <a:pt x="1501" y="592"/>
                    </a:cubicBezTo>
                    <a:cubicBezTo>
                      <a:pt x="1518" y="592"/>
                      <a:pt x="1531" y="579"/>
                      <a:pt x="1531" y="562"/>
                    </a:cubicBezTo>
                    <a:close/>
                    <a:moveTo>
                      <a:pt x="1531" y="358"/>
                    </a:moveTo>
                    <a:cubicBezTo>
                      <a:pt x="1531" y="341"/>
                      <a:pt x="1518" y="328"/>
                      <a:pt x="1501" y="328"/>
                    </a:cubicBezTo>
                    <a:cubicBezTo>
                      <a:pt x="691" y="328"/>
                      <a:pt x="691" y="328"/>
                      <a:pt x="691" y="328"/>
                    </a:cubicBezTo>
                    <a:cubicBezTo>
                      <a:pt x="674" y="328"/>
                      <a:pt x="661" y="341"/>
                      <a:pt x="661" y="358"/>
                    </a:cubicBezTo>
                    <a:cubicBezTo>
                      <a:pt x="661" y="375"/>
                      <a:pt x="674" y="388"/>
                      <a:pt x="691" y="388"/>
                    </a:cubicBezTo>
                    <a:cubicBezTo>
                      <a:pt x="1501" y="388"/>
                      <a:pt x="1501" y="388"/>
                      <a:pt x="1501" y="388"/>
                    </a:cubicBezTo>
                    <a:cubicBezTo>
                      <a:pt x="1518" y="388"/>
                      <a:pt x="1531" y="375"/>
                      <a:pt x="1531" y="358"/>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grpSp>
      <p:sp>
        <p:nvSpPr>
          <p:cNvPr id="36" name="TextBox 35">
            <a:extLst>
              <a:ext uri="{FF2B5EF4-FFF2-40B4-BE49-F238E27FC236}">
                <a16:creationId xmlns:a16="http://schemas.microsoft.com/office/drawing/2014/main" id="{7A3FBD35-86E9-40D7-8439-44CB28240AB3}"/>
              </a:ext>
            </a:extLst>
          </p:cNvPr>
          <p:cNvSpPr txBox="1"/>
          <p:nvPr/>
        </p:nvSpPr>
        <p:spPr>
          <a:xfrm>
            <a:off x="5472579" y="202961"/>
            <a:ext cx="6073197" cy="401816"/>
          </a:xfrm>
          <a:prstGeom prst="rect">
            <a:avLst/>
          </a:prstGeom>
          <a:noFill/>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txBody>
          <a:bodyPr wrap="square" lIns="93761" tIns="92285" rIns="93761" bIns="92285" rtlCol="0" anchor="t">
            <a:spAutoFit/>
          </a:bodyPr>
          <a:lstStyle/>
          <a:p>
            <a:pPr marL="0" marR="0" lvl="0" indent="0" algn="r" defTabSz="6858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29BA74"/>
                </a:solidFill>
                <a:effectLst/>
                <a:uLnTx/>
                <a:uFillTx/>
                <a:latin typeface="OP Chevin Pro Light"/>
                <a:ea typeface="+mn-ea"/>
                <a:cs typeface="+mn-cs"/>
              </a:rPr>
              <a:t>Employing a need-based segmentation approach</a:t>
            </a:r>
          </a:p>
        </p:txBody>
      </p:sp>
    </p:spTree>
    <p:extLst>
      <p:ext uri="{BB962C8B-B14F-4D97-AF65-F5344CB8AC3E}">
        <p14:creationId xmlns:p14="http://schemas.microsoft.com/office/powerpoint/2010/main" val="314720329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8395DFDE-7B9D-4958-920B-E28AFFE5F5A7}"/>
              </a:ext>
            </a:extLst>
          </p:cNvPr>
          <p:cNvGraphicFramePr>
            <a:graphicFrameLocks noChangeAspect="1"/>
          </p:cNvGraphicFramePr>
          <p:nvPr>
            <p:custDataLst>
              <p:tags r:id="rId1"/>
            </p:custDataLst>
          </p:nvPr>
        </p:nvGraphicFramePr>
        <p:xfrm>
          <a:off x="1589" y="1589"/>
          <a:ext cx="1588" cy="1588"/>
        </p:xfrm>
        <a:graphic>
          <a:graphicData uri="http://schemas.openxmlformats.org/presentationml/2006/ole">
            <mc:AlternateContent xmlns:mc="http://schemas.openxmlformats.org/markup-compatibility/2006">
              <mc:Choice xmlns:v="urn:schemas-microsoft-com:vml" Requires="v">
                <p:oleObj name="think-cell Slide" r:id="rId4" imgW="395" imgH="396" progId="TCLayout.ActiveDocument.1">
                  <p:embed/>
                </p:oleObj>
              </mc:Choice>
              <mc:Fallback>
                <p:oleObj name="think-cell Slide" r:id="rId4" imgW="395" imgH="396" progId="TCLayout.ActiveDocument.1">
                  <p:embed/>
                  <p:pic>
                    <p:nvPicPr>
                      <p:cNvPr id="4" name="Object 3" hidden="1">
                        <a:extLst>
                          <a:ext uri="{FF2B5EF4-FFF2-40B4-BE49-F238E27FC236}">
                            <a16:creationId xmlns:a16="http://schemas.microsoft.com/office/drawing/2014/main" id="{8395DFDE-7B9D-4958-920B-E28AFFE5F5A7}"/>
                          </a:ext>
                        </a:extLst>
                      </p:cNvPr>
                      <p:cNvPicPr/>
                      <p:nvPr/>
                    </p:nvPicPr>
                    <p:blipFill>
                      <a:blip r:embed="rId5"/>
                      <a:stretch>
                        <a:fillRect/>
                      </a:stretch>
                    </p:blipFill>
                    <p:spPr>
                      <a:xfrm>
                        <a:off x="1589" y="1589"/>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18F41BBB-9A5A-4FDC-B310-568E27D60FCE}"/>
              </a:ext>
            </a:extLst>
          </p:cNvPr>
          <p:cNvSpPr>
            <a:spLocks noGrp="1"/>
          </p:cNvSpPr>
          <p:nvPr>
            <p:ph type="title"/>
          </p:nvPr>
        </p:nvSpPr>
        <p:spPr>
          <a:xfrm>
            <a:off x="630000" y="622800"/>
            <a:ext cx="10933350" cy="332399"/>
          </a:xfrm>
        </p:spPr>
        <p:txBody>
          <a:bodyPr vert="horz"/>
          <a:lstStyle/>
          <a:p>
            <a:r>
              <a:rPr lang="en-US"/>
              <a:t>Six need-based segments identified, each with different need emphases</a:t>
            </a:r>
          </a:p>
        </p:txBody>
      </p:sp>
      <p:grpSp>
        <p:nvGrpSpPr>
          <p:cNvPr id="46" name="Group 45">
            <a:extLst>
              <a:ext uri="{FF2B5EF4-FFF2-40B4-BE49-F238E27FC236}">
                <a16:creationId xmlns:a16="http://schemas.microsoft.com/office/drawing/2014/main" id="{9B59A9B2-B05C-4EDD-ABDE-FC9BAEC8CCE9}"/>
              </a:ext>
            </a:extLst>
          </p:cNvPr>
          <p:cNvGrpSpPr/>
          <p:nvPr/>
        </p:nvGrpSpPr>
        <p:grpSpPr>
          <a:xfrm>
            <a:off x="2672628" y="1798321"/>
            <a:ext cx="2400000" cy="1781240"/>
            <a:chOff x="2103531" y="1341120"/>
            <a:chExt cx="1800000" cy="1335930"/>
          </a:xfrm>
        </p:grpSpPr>
        <p:sp>
          <p:nvSpPr>
            <p:cNvPr id="7" name="Rectangle 6">
              <a:extLst>
                <a:ext uri="{FF2B5EF4-FFF2-40B4-BE49-F238E27FC236}">
                  <a16:creationId xmlns:a16="http://schemas.microsoft.com/office/drawing/2014/main" id="{811EF168-6DB7-4C1C-B961-DD3304C73A26}"/>
                </a:ext>
              </a:extLst>
            </p:cNvPr>
            <p:cNvSpPr/>
            <p:nvPr/>
          </p:nvSpPr>
          <p:spPr>
            <a:xfrm>
              <a:off x="2103531" y="1341120"/>
              <a:ext cx="1800000" cy="1335930"/>
            </a:xfrm>
            <a:prstGeom prst="rect">
              <a:avLst/>
            </a:prstGeom>
            <a:solidFill>
              <a:srgbClr val="F2F2F2"/>
            </a:solidFill>
            <a:ln w="5080"/>
          </p:spPr>
          <p:style>
            <a:lnRef idx="1">
              <a:schemeClr val="accent4"/>
            </a:lnRef>
            <a:fillRef idx="2">
              <a:schemeClr val="accent4"/>
            </a:fillRef>
            <a:effectRef idx="1">
              <a:schemeClr val="accent4"/>
            </a:effectRef>
            <a:fontRef idx="minor">
              <a:schemeClr val="dk1"/>
            </a:fontRef>
          </p:style>
          <p:txBody>
            <a:bodyPr lIns="97536" tIns="48768" rIns="97536" bIns="48768"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575757"/>
                </a:solidFill>
                <a:effectLst/>
                <a:uLnTx/>
                <a:uFillTx/>
                <a:latin typeface="Trebuchet MS"/>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9BA74"/>
                  </a:solidFill>
                  <a:effectLst/>
                  <a:uLnTx/>
                  <a:uFillTx/>
                  <a:latin typeface="Trebuchet MS"/>
                  <a:ea typeface="+mn-ea"/>
                  <a:cs typeface="+mn-cs"/>
                </a:rPr>
                <a:t>Digital &amp; Convenient</a:t>
              </a:r>
            </a:p>
          </p:txBody>
        </p:sp>
        <p:sp>
          <p:nvSpPr>
            <p:cNvPr id="31" name="TextBox 30">
              <a:extLst>
                <a:ext uri="{FF2B5EF4-FFF2-40B4-BE49-F238E27FC236}">
                  <a16:creationId xmlns:a16="http://schemas.microsoft.com/office/drawing/2014/main" id="{0E0C6970-55E5-40D7-921B-2E98C6384348}"/>
                </a:ext>
              </a:extLst>
            </p:cNvPr>
            <p:cNvSpPr txBox="1"/>
            <p:nvPr/>
          </p:nvSpPr>
          <p:spPr>
            <a:xfrm>
              <a:off x="2103531" y="1849048"/>
              <a:ext cx="1800000" cy="766363"/>
            </a:xfrm>
            <a:prstGeom prst="rect">
              <a:avLst/>
            </a:prstGeom>
            <a:noFill/>
          </p:spPr>
          <p:txBody>
            <a:bodyPr wrap="square" lIns="97536" tIns="48768" rIns="97536" bIns="48768"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575757"/>
                  </a:solidFill>
                  <a:effectLst/>
                  <a:uLnTx/>
                  <a:uFillTx/>
                  <a:latin typeface="Trebuchet MS"/>
                  <a:ea typeface="+mn-ea"/>
                  <a:cs typeface="+mn-cs"/>
                </a:rPr>
                <a:t>A strong preference for digital and convenience - Customers looking for a simple and easy-to-use mobile solution from a domestic bank</a:t>
              </a:r>
            </a:p>
          </p:txBody>
        </p:sp>
      </p:grpSp>
      <p:grpSp>
        <p:nvGrpSpPr>
          <p:cNvPr id="49" name="Group 48">
            <a:extLst>
              <a:ext uri="{FF2B5EF4-FFF2-40B4-BE49-F238E27FC236}">
                <a16:creationId xmlns:a16="http://schemas.microsoft.com/office/drawing/2014/main" id="{3A3FC3EB-CC23-4A32-A1CB-9E62E5041E6F}"/>
              </a:ext>
            </a:extLst>
          </p:cNvPr>
          <p:cNvGrpSpPr/>
          <p:nvPr/>
        </p:nvGrpSpPr>
        <p:grpSpPr>
          <a:xfrm>
            <a:off x="2664670" y="3651225"/>
            <a:ext cx="2407959" cy="1781240"/>
            <a:chOff x="2097562" y="2837478"/>
            <a:chExt cx="1805969" cy="1335930"/>
          </a:xfrm>
        </p:grpSpPr>
        <p:sp>
          <p:nvSpPr>
            <p:cNvPr id="6" name="Rectangle 5">
              <a:extLst>
                <a:ext uri="{FF2B5EF4-FFF2-40B4-BE49-F238E27FC236}">
                  <a16:creationId xmlns:a16="http://schemas.microsoft.com/office/drawing/2014/main" id="{90210A4A-1F53-43E8-8EAF-89731ED8FA05}"/>
                </a:ext>
              </a:extLst>
            </p:cNvPr>
            <p:cNvSpPr/>
            <p:nvPr/>
          </p:nvSpPr>
          <p:spPr>
            <a:xfrm>
              <a:off x="2103531" y="2837478"/>
              <a:ext cx="1800000" cy="1335930"/>
            </a:xfrm>
            <a:prstGeom prst="rect">
              <a:avLst/>
            </a:prstGeom>
            <a:solidFill>
              <a:srgbClr val="F2F2F2"/>
            </a:solidFill>
            <a:ln w="5080"/>
          </p:spPr>
          <p:style>
            <a:lnRef idx="1">
              <a:schemeClr val="accent4"/>
            </a:lnRef>
            <a:fillRef idx="2">
              <a:schemeClr val="accent4"/>
            </a:fillRef>
            <a:effectRef idx="1">
              <a:schemeClr val="accent4"/>
            </a:effectRef>
            <a:fontRef idx="minor">
              <a:schemeClr val="dk1"/>
            </a:fontRef>
          </p:style>
          <p:txBody>
            <a:bodyPr lIns="97536" tIns="48768" rIns="97536" bIns="48768"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9BA74"/>
                  </a:solidFill>
                  <a:effectLst/>
                  <a:uLnTx/>
                  <a:uFillTx/>
                  <a:latin typeface="Trebuchet MS"/>
                  <a:ea typeface="+mn-ea"/>
                  <a:cs typeface="+mn-cs"/>
                </a:rPr>
                <a:t>Digital &amp; Comprehensive</a:t>
              </a:r>
            </a:p>
          </p:txBody>
        </p:sp>
        <p:sp>
          <p:nvSpPr>
            <p:cNvPr id="32" name="TextBox 31">
              <a:extLst>
                <a:ext uri="{FF2B5EF4-FFF2-40B4-BE49-F238E27FC236}">
                  <a16:creationId xmlns:a16="http://schemas.microsoft.com/office/drawing/2014/main" id="{AD213757-A3BE-43C5-B6F2-855706E54611}"/>
                </a:ext>
              </a:extLst>
            </p:cNvPr>
            <p:cNvSpPr txBox="1"/>
            <p:nvPr/>
          </p:nvSpPr>
          <p:spPr>
            <a:xfrm>
              <a:off x="2097562" y="3307202"/>
              <a:ext cx="1799999" cy="627864"/>
            </a:xfrm>
            <a:prstGeom prst="rect">
              <a:avLst/>
            </a:prstGeom>
            <a:noFill/>
          </p:spPr>
          <p:txBody>
            <a:bodyPr wrap="square" lIns="97536" tIns="48768" rIns="97536" bIns="48768"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575757"/>
                  </a:solidFill>
                  <a:effectLst/>
                  <a:uLnTx/>
                  <a:uFillTx/>
                  <a:latin typeface="Trebuchet MS"/>
                  <a:ea typeface="+mn-ea"/>
                  <a:cs typeface="+mn-cs"/>
                </a:rPr>
                <a:t>A strong need for digital services, having all activities in one bank, and wide choice of customer channels</a:t>
              </a:r>
            </a:p>
          </p:txBody>
        </p:sp>
      </p:grpSp>
      <p:grpSp>
        <p:nvGrpSpPr>
          <p:cNvPr id="47" name="Group 46">
            <a:extLst>
              <a:ext uri="{FF2B5EF4-FFF2-40B4-BE49-F238E27FC236}">
                <a16:creationId xmlns:a16="http://schemas.microsoft.com/office/drawing/2014/main" id="{FB4A6EAD-0840-41CC-B3B3-54BBBA93B4B7}"/>
              </a:ext>
            </a:extLst>
          </p:cNvPr>
          <p:cNvGrpSpPr/>
          <p:nvPr/>
        </p:nvGrpSpPr>
        <p:grpSpPr>
          <a:xfrm>
            <a:off x="5149659" y="1798320"/>
            <a:ext cx="2400000" cy="1781239"/>
            <a:chOff x="4014645" y="1341120"/>
            <a:chExt cx="1800000" cy="1335930"/>
          </a:xfrm>
        </p:grpSpPr>
        <p:sp>
          <p:nvSpPr>
            <p:cNvPr id="11" name="Rectangle 10">
              <a:extLst>
                <a:ext uri="{FF2B5EF4-FFF2-40B4-BE49-F238E27FC236}">
                  <a16:creationId xmlns:a16="http://schemas.microsoft.com/office/drawing/2014/main" id="{ECCA7DED-A2B6-4C66-BDB1-871F7B10EFC6}"/>
                </a:ext>
              </a:extLst>
            </p:cNvPr>
            <p:cNvSpPr/>
            <p:nvPr/>
          </p:nvSpPr>
          <p:spPr>
            <a:xfrm>
              <a:off x="4014645" y="1341120"/>
              <a:ext cx="1800000" cy="1335930"/>
            </a:xfrm>
            <a:prstGeom prst="rect">
              <a:avLst/>
            </a:prstGeom>
            <a:solidFill>
              <a:srgbClr val="F2F2F2"/>
            </a:solidFill>
            <a:ln w="5080"/>
          </p:spPr>
          <p:style>
            <a:lnRef idx="1">
              <a:schemeClr val="accent4"/>
            </a:lnRef>
            <a:fillRef idx="2">
              <a:schemeClr val="accent4"/>
            </a:fillRef>
            <a:effectRef idx="1">
              <a:schemeClr val="accent4"/>
            </a:effectRef>
            <a:fontRef idx="minor">
              <a:schemeClr val="dk1"/>
            </a:fontRef>
          </p:style>
          <p:txBody>
            <a:bodyPr lIns="97536" tIns="48768" rIns="97536" bIns="48768"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575757"/>
                </a:solidFill>
                <a:effectLst/>
                <a:uLnTx/>
                <a:uFillTx/>
                <a:latin typeface="Trebuchet MS"/>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600" b="0" i="0" u="none" strike="noStrike" kern="1200" cap="none" spc="0" normalizeH="0" baseline="0" noProof="0">
                  <a:ln>
                    <a:noFill/>
                  </a:ln>
                  <a:solidFill>
                    <a:srgbClr val="29BA74"/>
                  </a:solidFill>
                  <a:effectLst/>
                  <a:uLnTx/>
                  <a:uFillTx/>
                  <a:latin typeface="Trebuchet MS"/>
                  <a:ea typeface="+mn-ea"/>
                  <a:cs typeface="+mn-cs"/>
                </a:rPr>
                <a:t>Unengaged</a:t>
              </a:r>
              <a:endParaRPr kumimoji="0" lang="en-US" sz="1600" b="0" i="0" u="none" strike="noStrike" kern="1200" cap="none" spc="0" normalizeH="0" baseline="0" noProof="0">
                <a:ln>
                  <a:noFill/>
                </a:ln>
                <a:solidFill>
                  <a:srgbClr val="29BA74"/>
                </a:solidFill>
                <a:effectLst/>
                <a:uLnTx/>
                <a:uFillTx/>
                <a:latin typeface="Trebuchet MS"/>
                <a:ea typeface="+mn-ea"/>
                <a:cs typeface="+mn-cs"/>
              </a:endParaRPr>
            </a:p>
          </p:txBody>
        </p:sp>
        <p:sp>
          <p:nvSpPr>
            <p:cNvPr id="33" name="TextBox 32">
              <a:extLst>
                <a:ext uri="{FF2B5EF4-FFF2-40B4-BE49-F238E27FC236}">
                  <a16:creationId xmlns:a16="http://schemas.microsoft.com/office/drawing/2014/main" id="{87B4FB23-E8BF-42C7-9F2D-CAFBD2348E6C}"/>
                </a:ext>
              </a:extLst>
            </p:cNvPr>
            <p:cNvSpPr txBox="1"/>
            <p:nvPr/>
          </p:nvSpPr>
          <p:spPr>
            <a:xfrm>
              <a:off x="4014646" y="1845018"/>
              <a:ext cx="1778818" cy="766364"/>
            </a:xfrm>
            <a:prstGeom prst="rect">
              <a:avLst/>
            </a:prstGeom>
            <a:noFill/>
          </p:spPr>
          <p:txBody>
            <a:bodyPr wrap="square" lIns="97536" tIns="48768" rIns="97536" bIns="48768"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575757"/>
                  </a:solidFill>
                  <a:effectLst/>
                  <a:uLnTx/>
                  <a:uFillTx/>
                  <a:latin typeface="Trebuchet MS"/>
                  <a:ea typeface="+mn-ea"/>
                  <a:cs typeface="+mn-cs"/>
                </a:rPr>
                <a:t>Bank is just a function – Customers who do not emphasize any specific needs more than average. Usually new customers</a:t>
              </a:r>
            </a:p>
          </p:txBody>
        </p:sp>
      </p:grpSp>
      <p:grpSp>
        <p:nvGrpSpPr>
          <p:cNvPr id="50" name="Group 49">
            <a:extLst>
              <a:ext uri="{FF2B5EF4-FFF2-40B4-BE49-F238E27FC236}">
                <a16:creationId xmlns:a16="http://schemas.microsoft.com/office/drawing/2014/main" id="{66D18EA4-4F2D-4BB1-9881-205D0A13A74A}"/>
              </a:ext>
            </a:extLst>
          </p:cNvPr>
          <p:cNvGrpSpPr/>
          <p:nvPr/>
        </p:nvGrpSpPr>
        <p:grpSpPr>
          <a:xfrm>
            <a:off x="5145680" y="3651224"/>
            <a:ext cx="2407961" cy="1781240"/>
            <a:chOff x="4008675" y="2837478"/>
            <a:chExt cx="1805971" cy="1335930"/>
          </a:xfrm>
        </p:grpSpPr>
        <p:sp>
          <p:nvSpPr>
            <p:cNvPr id="8" name="Rectangle 7">
              <a:extLst>
                <a:ext uri="{FF2B5EF4-FFF2-40B4-BE49-F238E27FC236}">
                  <a16:creationId xmlns:a16="http://schemas.microsoft.com/office/drawing/2014/main" id="{3525ADEA-C6DD-4547-8ABB-189902B3FBA0}"/>
                </a:ext>
              </a:extLst>
            </p:cNvPr>
            <p:cNvSpPr/>
            <p:nvPr/>
          </p:nvSpPr>
          <p:spPr>
            <a:xfrm>
              <a:off x="4014645" y="2837478"/>
              <a:ext cx="1800000" cy="1335930"/>
            </a:xfrm>
            <a:prstGeom prst="rect">
              <a:avLst/>
            </a:prstGeom>
            <a:solidFill>
              <a:srgbClr val="F2F2F2"/>
            </a:solidFill>
            <a:ln w="5080"/>
          </p:spPr>
          <p:style>
            <a:lnRef idx="1">
              <a:schemeClr val="accent4"/>
            </a:lnRef>
            <a:fillRef idx="2">
              <a:schemeClr val="accent4"/>
            </a:fillRef>
            <a:effectRef idx="1">
              <a:schemeClr val="accent4"/>
            </a:effectRef>
            <a:fontRef idx="minor">
              <a:schemeClr val="dk1"/>
            </a:fontRef>
          </p:style>
          <p:txBody>
            <a:bodyPr lIns="97536" tIns="48768" rIns="97536" bIns="48768"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575757"/>
                </a:solidFill>
                <a:effectLst/>
                <a:uLnTx/>
                <a:uFillTx/>
                <a:latin typeface="Trebuchet MS"/>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9BA74"/>
                  </a:solidFill>
                  <a:effectLst/>
                  <a:uLnTx/>
                  <a:uFillTx/>
                  <a:latin typeface="Trebuchet MS"/>
                  <a:ea typeface="+mn-ea"/>
                  <a:cs typeface="+mn-cs"/>
                </a:rPr>
                <a:t>Cost optimization</a:t>
              </a:r>
            </a:p>
          </p:txBody>
        </p:sp>
        <p:sp>
          <p:nvSpPr>
            <p:cNvPr id="34" name="TextBox 33">
              <a:extLst>
                <a:ext uri="{FF2B5EF4-FFF2-40B4-BE49-F238E27FC236}">
                  <a16:creationId xmlns:a16="http://schemas.microsoft.com/office/drawing/2014/main" id="{50A51803-AA00-407A-95E7-4B8E6E6BE35A}"/>
                </a:ext>
              </a:extLst>
            </p:cNvPr>
            <p:cNvSpPr txBox="1"/>
            <p:nvPr/>
          </p:nvSpPr>
          <p:spPr>
            <a:xfrm>
              <a:off x="4008675" y="3307202"/>
              <a:ext cx="1805971" cy="627864"/>
            </a:xfrm>
            <a:prstGeom prst="rect">
              <a:avLst/>
            </a:prstGeom>
            <a:noFill/>
          </p:spPr>
          <p:txBody>
            <a:bodyPr wrap="square" lIns="97536" tIns="48768" rIns="97536" bIns="48768"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575757"/>
                  </a:solidFill>
                  <a:effectLst/>
                  <a:uLnTx/>
                  <a:uFillTx/>
                  <a:latin typeface="Trebuchet MS"/>
                  <a:ea typeface="+mn-ea"/>
                  <a:cs typeface="+mn-cs"/>
                </a:rPr>
                <a:t>Minimizing the costs – Customers prefer low costs over different needs more than other segments. </a:t>
              </a:r>
            </a:p>
          </p:txBody>
        </p:sp>
      </p:grpSp>
      <p:grpSp>
        <p:nvGrpSpPr>
          <p:cNvPr id="48" name="Group 47">
            <a:extLst>
              <a:ext uri="{FF2B5EF4-FFF2-40B4-BE49-F238E27FC236}">
                <a16:creationId xmlns:a16="http://schemas.microsoft.com/office/drawing/2014/main" id="{E22700FE-B37C-47DA-ABEE-C0FE308FEACA}"/>
              </a:ext>
            </a:extLst>
          </p:cNvPr>
          <p:cNvGrpSpPr/>
          <p:nvPr/>
        </p:nvGrpSpPr>
        <p:grpSpPr>
          <a:xfrm>
            <a:off x="7626692" y="1798320"/>
            <a:ext cx="2400001" cy="1781241"/>
            <a:chOff x="5925758" y="1341120"/>
            <a:chExt cx="1800001" cy="1335930"/>
          </a:xfrm>
        </p:grpSpPr>
        <p:sp>
          <p:nvSpPr>
            <p:cNvPr id="10" name="Rectangle 9">
              <a:extLst>
                <a:ext uri="{FF2B5EF4-FFF2-40B4-BE49-F238E27FC236}">
                  <a16:creationId xmlns:a16="http://schemas.microsoft.com/office/drawing/2014/main" id="{EF46D79B-6133-47EB-8AE4-FC2624F8FA63}"/>
                </a:ext>
              </a:extLst>
            </p:cNvPr>
            <p:cNvSpPr/>
            <p:nvPr/>
          </p:nvSpPr>
          <p:spPr>
            <a:xfrm>
              <a:off x="5925759" y="1341120"/>
              <a:ext cx="1800000" cy="1335930"/>
            </a:xfrm>
            <a:prstGeom prst="rect">
              <a:avLst/>
            </a:prstGeom>
            <a:solidFill>
              <a:srgbClr val="F2F2F2"/>
            </a:solidFill>
            <a:ln w="5080"/>
          </p:spPr>
          <p:style>
            <a:lnRef idx="1">
              <a:schemeClr val="accent4"/>
            </a:lnRef>
            <a:fillRef idx="2">
              <a:schemeClr val="accent4"/>
            </a:fillRef>
            <a:effectRef idx="1">
              <a:schemeClr val="accent4"/>
            </a:effectRef>
            <a:fontRef idx="minor">
              <a:schemeClr val="dk1"/>
            </a:fontRef>
          </p:style>
          <p:txBody>
            <a:bodyPr lIns="97536" tIns="48768" rIns="97536" bIns="48768"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575757"/>
                </a:solidFill>
                <a:effectLst/>
                <a:uLnTx/>
                <a:uFillTx/>
                <a:latin typeface="Trebuchet MS"/>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9BA74"/>
                  </a:solidFill>
                  <a:effectLst/>
                  <a:uLnTx/>
                  <a:uFillTx/>
                  <a:latin typeface="Trebuchet MS"/>
                  <a:ea typeface="+mn-ea"/>
                  <a:cs typeface="+mn-cs"/>
                </a:rPr>
                <a:t>Personal service</a:t>
              </a:r>
            </a:p>
          </p:txBody>
        </p:sp>
        <p:sp>
          <p:nvSpPr>
            <p:cNvPr id="35" name="TextBox 34">
              <a:extLst>
                <a:ext uri="{FF2B5EF4-FFF2-40B4-BE49-F238E27FC236}">
                  <a16:creationId xmlns:a16="http://schemas.microsoft.com/office/drawing/2014/main" id="{51F02168-5665-4D6D-B265-006D3751CBDD}"/>
                </a:ext>
              </a:extLst>
            </p:cNvPr>
            <p:cNvSpPr txBox="1"/>
            <p:nvPr/>
          </p:nvSpPr>
          <p:spPr>
            <a:xfrm>
              <a:off x="5925758" y="1845018"/>
              <a:ext cx="1799999" cy="627864"/>
            </a:xfrm>
            <a:prstGeom prst="rect">
              <a:avLst/>
            </a:prstGeom>
            <a:noFill/>
          </p:spPr>
          <p:txBody>
            <a:bodyPr wrap="square" lIns="97536" tIns="48768" rIns="97536" bIns="48768"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575757"/>
                  </a:solidFill>
                  <a:effectLst/>
                  <a:uLnTx/>
                  <a:uFillTx/>
                  <a:latin typeface="Trebuchet MS"/>
                  <a:ea typeface="+mn-ea"/>
                  <a:cs typeface="+mn-cs"/>
                </a:rPr>
                <a:t>Preference for personal service with a physical branch – Customers needing personal services, typically face-to-face </a:t>
              </a:r>
            </a:p>
          </p:txBody>
        </p:sp>
      </p:grpSp>
      <p:grpSp>
        <p:nvGrpSpPr>
          <p:cNvPr id="51" name="Group 50">
            <a:extLst>
              <a:ext uri="{FF2B5EF4-FFF2-40B4-BE49-F238E27FC236}">
                <a16:creationId xmlns:a16="http://schemas.microsoft.com/office/drawing/2014/main" id="{7C439D2A-AEA1-4400-92F2-3EA5F10C7947}"/>
              </a:ext>
            </a:extLst>
          </p:cNvPr>
          <p:cNvGrpSpPr/>
          <p:nvPr/>
        </p:nvGrpSpPr>
        <p:grpSpPr>
          <a:xfrm>
            <a:off x="7626692" y="3651225"/>
            <a:ext cx="2400001" cy="1781240"/>
            <a:chOff x="5925758" y="2837478"/>
            <a:chExt cx="1800001" cy="1335930"/>
          </a:xfrm>
        </p:grpSpPr>
        <p:sp>
          <p:nvSpPr>
            <p:cNvPr id="9" name="Rectangle 8">
              <a:extLst>
                <a:ext uri="{FF2B5EF4-FFF2-40B4-BE49-F238E27FC236}">
                  <a16:creationId xmlns:a16="http://schemas.microsoft.com/office/drawing/2014/main" id="{C444A770-1BB3-4BB8-8E16-ADAAEF255782}"/>
                </a:ext>
              </a:extLst>
            </p:cNvPr>
            <p:cNvSpPr/>
            <p:nvPr/>
          </p:nvSpPr>
          <p:spPr>
            <a:xfrm>
              <a:off x="5925759" y="2837478"/>
              <a:ext cx="1800000" cy="1335930"/>
            </a:xfrm>
            <a:prstGeom prst="rect">
              <a:avLst/>
            </a:prstGeom>
            <a:solidFill>
              <a:srgbClr val="F2F2F2"/>
            </a:solidFill>
            <a:ln w="5080"/>
          </p:spPr>
          <p:style>
            <a:lnRef idx="1">
              <a:schemeClr val="accent4"/>
            </a:lnRef>
            <a:fillRef idx="2">
              <a:schemeClr val="accent4"/>
            </a:fillRef>
            <a:effectRef idx="1">
              <a:schemeClr val="accent4"/>
            </a:effectRef>
            <a:fontRef idx="minor">
              <a:schemeClr val="dk1"/>
            </a:fontRef>
          </p:style>
          <p:txBody>
            <a:bodyPr lIns="97536" tIns="48768" rIns="97536" bIns="48768"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575757"/>
                </a:solidFill>
                <a:effectLst/>
                <a:uLnTx/>
                <a:uFillTx/>
                <a:latin typeface="Trebuchet MS"/>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9BA74"/>
                  </a:solidFill>
                  <a:effectLst/>
                  <a:uLnTx/>
                  <a:uFillTx/>
                  <a:latin typeface="Trebuchet MS"/>
                  <a:ea typeface="+mn-ea"/>
                  <a:cs typeface="+mn-cs"/>
                </a:rPr>
                <a:t>Advisory services</a:t>
              </a:r>
            </a:p>
          </p:txBody>
        </p:sp>
        <p:sp>
          <p:nvSpPr>
            <p:cNvPr id="36" name="TextBox 35">
              <a:extLst>
                <a:ext uri="{FF2B5EF4-FFF2-40B4-BE49-F238E27FC236}">
                  <a16:creationId xmlns:a16="http://schemas.microsoft.com/office/drawing/2014/main" id="{CB3E4A33-D7F5-488E-855A-22A910D64386}"/>
                </a:ext>
              </a:extLst>
            </p:cNvPr>
            <p:cNvSpPr txBox="1"/>
            <p:nvPr/>
          </p:nvSpPr>
          <p:spPr>
            <a:xfrm>
              <a:off x="5925758" y="3307202"/>
              <a:ext cx="1799999" cy="627864"/>
            </a:xfrm>
            <a:prstGeom prst="rect">
              <a:avLst/>
            </a:prstGeom>
            <a:noFill/>
          </p:spPr>
          <p:txBody>
            <a:bodyPr wrap="square" lIns="97536" tIns="48768" rIns="97536" bIns="48768"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575757"/>
                  </a:solidFill>
                  <a:effectLst/>
                  <a:uLnTx/>
                  <a:uFillTx/>
                  <a:latin typeface="Trebuchet MS"/>
                  <a:ea typeface="+mn-ea"/>
                  <a:cs typeface="+mn-cs"/>
                </a:rPr>
                <a:t>Preferring personal service with a skilled advisor -Customers want a competent advisor who helps secure wealth</a:t>
              </a:r>
            </a:p>
          </p:txBody>
        </p:sp>
      </p:grpSp>
      <p:sp>
        <p:nvSpPr>
          <p:cNvPr id="56" name="TextBox 55">
            <a:extLst>
              <a:ext uri="{FF2B5EF4-FFF2-40B4-BE49-F238E27FC236}">
                <a16:creationId xmlns:a16="http://schemas.microsoft.com/office/drawing/2014/main" id="{1751C1EE-8690-4B06-990D-625E6BA48227}"/>
              </a:ext>
            </a:extLst>
          </p:cNvPr>
          <p:cNvSpPr txBox="1"/>
          <p:nvPr/>
        </p:nvSpPr>
        <p:spPr>
          <a:xfrm>
            <a:off x="7972734" y="5616041"/>
            <a:ext cx="2129245" cy="391628"/>
          </a:xfrm>
          <a:prstGeom prst="rect">
            <a:avLst/>
          </a:prstGeom>
          <a:noFill/>
        </p:spPr>
        <p:txBody>
          <a:bodyPr wrap="square" lIns="97536" tIns="72000" rIns="97536" bIns="7200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575757"/>
                </a:solidFill>
                <a:effectLst/>
                <a:uLnTx/>
                <a:uFillTx/>
                <a:latin typeface="Trebuchet MS"/>
                <a:ea typeface="+mn-ea"/>
                <a:cs typeface="Arial" pitchFamily="34" charset="0"/>
              </a:rPr>
              <a:t>Personal Service</a:t>
            </a:r>
          </a:p>
        </p:txBody>
      </p:sp>
      <p:sp>
        <p:nvSpPr>
          <p:cNvPr id="57" name="Rectangle 56">
            <a:extLst>
              <a:ext uri="{FF2B5EF4-FFF2-40B4-BE49-F238E27FC236}">
                <a16:creationId xmlns:a16="http://schemas.microsoft.com/office/drawing/2014/main" id="{E32054CA-C748-4BEF-9034-F735F569E2D7}"/>
              </a:ext>
            </a:extLst>
          </p:cNvPr>
          <p:cNvSpPr/>
          <p:nvPr/>
        </p:nvSpPr>
        <p:spPr>
          <a:xfrm>
            <a:off x="1111733" y="1866890"/>
            <a:ext cx="1262620" cy="313756"/>
          </a:xfrm>
          <a:prstGeom prst="rect">
            <a:avLst/>
          </a:prstGeom>
          <a:no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0"/>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575757"/>
                </a:solidFill>
                <a:effectLst/>
                <a:uLnTx/>
                <a:uFillTx/>
                <a:latin typeface="Trebuchet MS"/>
                <a:ea typeface="+mn-ea"/>
                <a:cs typeface="Arial" pitchFamily="34" charset="0"/>
              </a:rPr>
              <a:t>Brand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575757"/>
                </a:solidFill>
                <a:effectLst/>
                <a:uLnTx/>
                <a:uFillTx/>
                <a:latin typeface="Trebuchet MS"/>
                <a:ea typeface="+mn-ea"/>
                <a:cs typeface="Arial" pitchFamily="34" charset="0"/>
              </a:rPr>
              <a:t>Importance</a:t>
            </a:r>
          </a:p>
        </p:txBody>
      </p:sp>
      <p:sp>
        <p:nvSpPr>
          <p:cNvPr id="58" name="TextBox 57">
            <a:extLst>
              <a:ext uri="{FF2B5EF4-FFF2-40B4-BE49-F238E27FC236}">
                <a16:creationId xmlns:a16="http://schemas.microsoft.com/office/drawing/2014/main" id="{99CB674C-95DC-46C0-9858-0F87AA252BAA}"/>
              </a:ext>
            </a:extLst>
          </p:cNvPr>
          <p:cNvSpPr txBox="1"/>
          <p:nvPr/>
        </p:nvSpPr>
        <p:spPr>
          <a:xfrm>
            <a:off x="2374352" y="5551601"/>
            <a:ext cx="2129245" cy="637849"/>
          </a:xfrm>
          <a:prstGeom prst="rect">
            <a:avLst/>
          </a:prstGeom>
          <a:noFill/>
        </p:spPr>
        <p:txBody>
          <a:bodyPr wrap="square" lIns="97536" tIns="72000" rIns="97536" bIns="7200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575757"/>
                </a:solidFill>
                <a:effectLst/>
                <a:uLnTx/>
                <a:uFillTx/>
                <a:latin typeface="Trebuchet MS"/>
                <a:ea typeface="+mn-ea"/>
                <a:cs typeface="Arial" pitchFamily="34" charset="0"/>
              </a:rPr>
              <a:t>Do it yourself</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575757"/>
                </a:solidFill>
                <a:effectLst/>
                <a:uLnTx/>
                <a:uFillTx/>
                <a:latin typeface="Trebuchet MS"/>
                <a:ea typeface="+mn-ea"/>
                <a:cs typeface="Arial" pitchFamily="34" charset="0"/>
              </a:rPr>
              <a:t>(DIY)</a:t>
            </a:r>
          </a:p>
        </p:txBody>
      </p:sp>
      <p:sp>
        <p:nvSpPr>
          <p:cNvPr id="59" name="Rectangle 58">
            <a:extLst>
              <a:ext uri="{FF2B5EF4-FFF2-40B4-BE49-F238E27FC236}">
                <a16:creationId xmlns:a16="http://schemas.microsoft.com/office/drawing/2014/main" id="{3DDFB24E-75EB-43E0-8BB4-08BE03D4356D}"/>
              </a:ext>
            </a:extLst>
          </p:cNvPr>
          <p:cNvSpPr/>
          <p:nvPr/>
        </p:nvSpPr>
        <p:spPr>
          <a:xfrm>
            <a:off x="1111734" y="4986405"/>
            <a:ext cx="1262620" cy="313756"/>
          </a:xfrm>
          <a:prstGeom prst="rect">
            <a:avLst/>
          </a:prstGeom>
          <a:no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0"/>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575757"/>
                </a:solidFill>
                <a:effectLst/>
                <a:uLnTx/>
                <a:uFillTx/>
                <a:latin typeface="Trebuchet MS"/>
                <a:ea typeface="+mn-ea"/>
                <a:cs typeface="Arial" pitchFamily="34" charset="0"/>
              </a:rPr>
              <a:t>Offering</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575757"/>
                </a:solidFill>
                <a:effectLst/>
                <a:uLnTx/>
                <a:uFillTx/>
                <a:latin typeface="Trebuchet MS"/>
                <a:ea typeface="+mn-ea"/>
                <a:cs typeface="Arial" pitchFamily="34" charset="0"/>
              </a:rPr>
              <a:t>Importance</a:t>
            </a:r>
          </a:p>
        </p:txBody>
      </p:sp>
      <p:sp>
        <p:nvSpPr>
          <p:cNvPr id="13" name="Arrow: Left-Right 12">
            <a:extLst>
              <a:ext uri="{FF2B5EF4-FFF2-40B4-BE49-F238E27FC236}">
                <a16:creationId xmlns:a16="http://schemas.microsoft.com/office/drawing/2014/main" id="{0F3071AD-5A8D-4CA8-A0E3-707D0F50594F}"/>
              </a:ext>
            </a:extLst>
          </p:cNvPr>
          <p:cNvSpPr/>
          <p:nvPr/>
        </p:nvSpPr>
        <p:spPr>
          <a:xfrm>
            <a:off x="2698535" y="5466708"/>
            <a:ext cx="7296000" cy="108723"/>
          </a:xfrm>
          <a:prstGeom prst="leftRightArrow">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Trebuchet MS"/>
              <a:ea typeface="+mn-ea"/>
              <a:cs typeface="+mn-cs"/>
            </a:endParaRPr>
          </a:p>
        </p:txBody>
      </p:sp>
      <p:sp>
        <p:nvSpPr>
          <p:cNvPr id="41" name="Arrow: Left-Right 40">
            <a:extLst>
              <a:ext uri="{FF2B5EF4-FFF2-40B4-BE49-F238E27FC236}">
                <a16:creationId xmlns:a16="http://schemas.microsoft.com/office/drawing/2014/main" id="{620344DB-65B7-4F2C-A90F-8B75E0616E01}"/>
              </a:ext>
            </a:extLst>
          </p:cNvPr>
          <p:cNvSpPr/>
          <p:nvPr/>
        </p:nvSpPr>
        <p:spPr>
          <a:xfrm rot="5400000">
            <a:off x="796760" y="3572079"/>
            <a:ext cx="3600000" cy="108723"/>
          </a:xfrm>
          <a:prstGeom prst="leftRightArrow">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Trebuchet MS"/>
              <a:ea typeface="+mn-ea"/>
              <a:cs typeface="+mn-cs"/>
            </a:endParaRPr>
          </a:p>
        </p:txBody>
      </p:sp>
      <p:sp>
        <p:nvSpPr>
          <p:cNvPr id="37" name="ee4pFootnotes">
            <a:extLst>
              <a:ext uri="{FF2B5EF4-FFF2-40B4-BE49-F238E27FC236}">
                <a16:creationId xmlns:a16="http://schemas.microsoft.com/office/drawing/2014/main" id="{11A8B910-529A-4BE4-9C6E-F01E71B2B878}"/>
              </a:ext>
            </a:extLst>
          </p:cNvPr>
          <p:cNvSpPr>
            <a:spLocks noChangeArrowheads="1"/>
          </p:cNvSpPr>
          <p:nvPr/>
        </p:nvSpPr>
        <p:spPr bwMode="auto">
          <a:xfrm>
            <a:off x="681006" y="6526068"/>
            <a:ext cx="10672793" cy="147797"/>
          </a:xfrm>
          <a:prstGeom prst="rect">
            <a:avLst/>
          </a:prstGeom>
          <a:noFill/>
          <a:ln w="9525" algn="ctr">
            <a:noFill/>
            <a:miter lim="800000"/>
            <a:headEnd type="none" w="lg" len="lg"/>
            <a:tailEnd type="none" w="lg" len="lg"/>
          </a:ln>
        </p:spPr>
        <p:txBody>
          <a:bodyPr vert="horz" wrap="square" lIns="0" tIns="0" rIns="0" bIns="0" anchor="b" anchorCtr="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67" b="0" i="0" u="none" strike="noStrike" kern="1200" cap="none" spc="0" normalizeH="0" baseline="0" noProof="0">
                <a:ln>
                  <a:noFill/>
                </a:ln>
                <a:solidFill>
                  <a:prstClr val="white">
                    <a:lumMod val="50000"/>
                  </a:prstClr>
                </a:solidFill>
                <a:effectLst/>
                <a:uLnTx/>
                <a:uFillTx/>
                <a:latin typeface="Trebuchet MS"/>
                <a:ea typeface="+mn-ea"/>
                <a:cs typeface="+mn-cs"/>
              </a:rPr>
              <a:t>Source: BCG customer survey 2022 (N=2,025)</a:t>
            </a:r>
          </a:p>
        </p:txBody>
      </p:sp>
      <p:sp>
        <p:nvSpPr>
          <p:cNvPr id="30" name="Oval 20">
            <a:extLst>
              <a:ext uri="{FF2B5EF4-FFF2-40B4-BE49-F238E27FC236}">
                <a16:creationId xmlns:a16="http://schemas.microsoft.com/office/drawing/2014/main" id="{3B87C45B-CA05-4BFA-8759-B3F74B8CD688}"/>
              </a:ext>
            </a:extLst>
          </p:cNvPr>
          <p:cNvSpPr>
            <a:spLocks noChangeAspect="1" noChangeArrowheads="1"/>
          </p:cNvSpPr>
          <p:nvPr/>
        </p:nvSpPr>
        <p:spPr bwMode="auto">
          <a:xfrm>
            <a:off x="11614350" y="190800"/>
            <a:ext cx="432000" cy="432000"/>
          </a:xfrm>
          <a:prstGeom prst="ellipse">
            <a:avLst/>
          </a:prstGeom>
          <a:solidFill>
            <a:srgbClr val="FFFFFF"/>
          </a:solidFill>
          <a:ln w="9525" cap="flat" cmpd="sng" algn="ctr">
            <a:solidFill>
              <a:srgbClr val="29BA74"/>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9BA74"/>
                </a:solidFill>
                <a:effectLst/>
                <a:uLnTx/>
                <a:uFillTx/>
                <a:latin typeface="Trebuchet MS"/>
                <a:ea typeface="+mn-ea"/>
                <a:cs typeface="+mn-cs"/>
              </a:rPr>
              <a:t>B</a:t>
            </a:r>
            <a:endParaRPr kumimoji="0" lang="en-US" sz="1000" b="0" i="0" u="none" strike="noStrike" kern="1200" cap="none" spc="0" normalizeH="0" baseline="0" noProof="0">
              <a:ln>
                <a:noFill/>
              </a:ln>
              <a:solidFill>
                <a:srgbClr val="29BA74"/>
              </a:solidFill>
              <a:effectLst/>
              <a:uLnTx/>
              <a:uFillTx/>
              <a:latin typeface="Trebuchet MS"/>
              <a:ea typeface="+mn-ea"/>
              <a:cs typeface="+mn-cs"/>
            </a:endParaRPr>
          </a:p>
        </p:txBody>
      </p:sp>
      <p:sp>
        <p:nvSpPr>
          <p:cNvPr id="38" name="TextBox 37">
            <a:extLst>
              <a:ext uri="{FF2B5EF4-FFF2-40B4-BE49-F238E27FC236}">
                <a16:creationId xmlns:a16="http://schemas.microsoft.com/office/drawing/2014/main" id="{751CDDEB-883A-4038-9D0E-94EF76DA5E41}"/>
              </a:ext>
            </a:extLst>
          </p:cNvPr>
          <p:cNvSpPr txBox="1"/>
          <p:nvPr/>
        </p:nvSpPr>
        <p:spPr>
          <a:xfrm>
            <a:off x="5472579" y="202961"/>
            <a:ext cx="6073197" cy="401816"/>
          </a:xfrm>
          <a:prstGeom prst="rect">
            <a:avLst/>
          </a:prstGeom>
          <a:noFill/>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txBody>
          <a:bodyPr wrap="square" lIns="93761" tIns="92285" rIns="93761" bIns="92285" rtlCol="0" anchor="t">
            <a:spAutoFit/>
          </a:bodyPr>
          <a:lstStyle/>
          <a:p>
            <a:pPr marL="0" marR="0" lvl="0" indent="0" algn="r" defTabSz="6858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29BA74"/>
                </a:solidFill>
                <a:effectLst/>
                <a:uLnTx/>
                <a:uFillTx/>
                <a:latin typeface="OP Chevin Pro Light"/>
                <a:ea typeface="+mn-ea"/>
                <a:cs typeface="+mn-cs"/>
              </a:rPr>
              <a:t>Employing a need-based segmentation approach</a:t>
            </a:r>
          </a:p>
        </p:txBody>
      </p:sp>
    </p:spTree>
    <p:extLst>
      <p:ext uri="{BB962C8B-B14F-4D97-AF65-F5344CB8AC3E}">
        <p14:creationId xmlns:p14="http://schemas.microsoft.com/office/powerpoint/2010/main" val="59909826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Object 14" hidden="1"/>
          <p:cNvGraphicFramePr>
            <a:graphicFrameLocks noChangeAspect="1"/>
          </p:cNvGraphicFramePr>
          <p:nvPr>
            <p:custDataLst>
              <p:tags r:id="rId1"/>
            </p:custDataLst>
          </p:nvPr>
        </p:nvGraphicFramePr>
        <p:xfrm>
          <a:off x="1589" y="1589"/>
          <a:ext cx="1587" cy="1587"/>
        </p:xfrm>
        <a:graphic>
          <a:graphicData uri="http://schemas.openxmlformats.org/presentationml/2006/ole">
            <mc:AlternateContent xmlns:mc="http://schemas.openxmlformats.org/markup-compatibility/2006">
              <mc:Choice xmlns:v="urn:schemas-microsoft-com:vml" Requires="v">
                <p:oleObj name="think-cell Slide" r:id="rId12" imgW="270" imgH="270" progId="TCLayout.ActiveDocument.1">
                  <p:embed/>
                </p:oleObj>
              </mc:Choice>
              <mc:Fallback>
                <p:oleObj name="think-cell Slide" r:id="rId12" imgW="270" imgH="270" progId="TCLayout.ActiveDocument.1">
                  <p:embed/>
                  <p:pic>
                    <p:nvPicPr>
                      <p:cNvPr id="15" name="Object 14" hidden="1"/>
                      <p:cNvPicPr/>
                      <p:nvPr/>
                    </p:nvPicPr>
                    <p:blipFill>
                      <a:blip r:embed="rId13"/>
                      <a:stretch>
                        <a:fillRect/>
                      </a:stretch>
                    </p:blipFill>
                    <p:spPr>
                      <a:xfrm>
                        <a:off x="1589" y="1589"/>
                        <a:ext cx="1587" cy="1587"/>
                      </a:xfrm>
                      <a:prstGeom prst="rect">
                        <a:avLst/>
                      </a:prstGeom>
                    </p:spPr>
                  </p:pic>
                </p:oleObj>
              </mc:Fallback>
            </mc:AlternateContent>
          </a:graphicData>
        </a:graphic>
      </p:graphicFrame>
      <p:pic>
        <p:nvPicPr>
          <p:cNvPr id="38" name="Picture 37">
            <a:extLst>
              <a:ext uri="{FF2B5EF4-FFF2-40B4-BE49-F238E27FC236}">
                <a16:creationId xmlns:a16="http://schemas.microsoft.com/office/drawing/2014/main" id="{3ED1152D-E7D3-4BF0-83BE-D5CEDBC8F29B}"/>
              </a:ext>
            </a:extLst>
          </p:cNvPr>
          <p:cNvPicPr>
            <a:picLocks noChangeAspect="1"/>
          </p:cNvPicPr>
          <p:nvPr>
            <p:custDataLst>
              <p:tags r:id="rId2"/>
            </p:custDataLst>
          </p:nvPr>
        </p:nvPicPr>
        <p:blipFill>
          <a:blip r:embed="rId14"/>
          <a:stretch>
            <a:fillRect/>
          </a:stretch>
        </p:blipFill>
        <p:spPr>
          <a:xfrm>
            <a:off x="4461480" y="1890946"/>
            <a:ext cx="3484800" cy="1960200"/>
          </a:xfrm>
          <a:prstGeom prst="rect">
            <a:avLst/>
          </a:prstGeom>
          <a:ln w="9525" cap="flat" cmpd="sng" algn="ctr">
            <a:solidFill>
              <a:srgbClr val="9A9A9A"/>
            </a:solidFill>
            <a:prstDash val="solid"/>
            <a:round/>
            <a:headEnd type="none" w="med" len="med"/>
            <a:tailEnd type="none" w="med" len="med"/>
          </a:ln>
          <a:effectLst>
            <a:outerShdw blurRad="50800" dist="38100" dir="2700000" algn="tl" rotWithShape="0">
              <a:prstClr val="black">
                <a:alpha val="40000"/>
              </a:prstClr>
            </a:outerShdw>
          </a:effectLst>
        </p:spPr>
      </p:pic>
      <p:pic>
        <p:nvPicPr>
          <p:cNvPr id="37" name="Picture 36">
            <a:extLst>
              <a:ext uri="{FF2B5EF4-FFF2-40B4-BE49-F238E27FC236}">
                <a16:creationId xmlns:a16="http://schemas.microsoft.com/office/drawing/2014/main" id="{95708AC7-3F6F-4289-B560-68AC4FB0B8BE}"/>
              </a:ext>
            </a:extLst>
          </p:cNvPr>
          <p:cNvPicPr>
            <a:picLocks noChangeAspect="1"/>
          </p:cNvPicPr>
          <p:nvPr>
            <p:custDataLst>
              <p:tags r:id="rId3"/>
            </p:custDataLst>
          </p:nvPr>
        </p:nvPicPr>
        <p:blipFill>
          <a:blip r:embed="rId15"/>
          <a:stretch>
            <a:fillRect/>
          </a:stretch>
        </p:blipFill>
        <p:spPr>
          <a:xfrm>
            <a:off x="8336230" y="1881519"/>
            <a:ext cx="3484800" cy="1960200"/>
          </a:xfrm>
          <a:prstGeom prst="rect">
            <a:avLst/>
          </a:prstGeom>
          <a:ln w="9525" cap="flat" cmpd="sng" algn="ctr">
            <a:solidFill>
              <a:srgbClr val="9A9A9A"/>
            </a:solidFill>
            <a:prstDash val="solid"/>
            <a:round/>
            <a:headEnd type="none" w="med" len="med"/>
            <a:tailEnd type="none" w="med" len="med"/>
          </a:ln>
          <a:effectLst>
            <a:outerShdw blurRad="50800" dist="38100" dir="2700000" algn="tl" rotWithShape="0">
              <a:prstClr val="black">
                <a:alpha val="40000"/>
              </a:prstClr>
            </a:outerShdw>
          </a:effectLst>
        </p:spPr>
      </p:pic>
      <p:sp>
        <p:nvSpPr>
          <p:cNvPr id="5" name="Rectangle 4" hidden="1">
            <a:extLst>
              <a:ext uri="{FF2B5EF4-FFF2-40B4-BE49-F238E27FC236}">
                <a16:creationId xmlns:a16="http://schemas.microsoft.com/office/drawing/2014/main" id="{B985BA38-C927-409E-9DFD-55AEF960ACD2}"/>
              </a:ext>
            </a:extLst>
          </p:cNvPr>
          <p:cNvSpPr/>
          <p:nvPr>
            <p:custDataLst>
              <p:tags r:id="rId4"/>
            </p:custDataLst>
          </p:nvPr>
        </p:nvSpPr>
        <p:spPr>
          <a:xfrm>
            <a:off x="1" y="1"/>
            <a:ext cx="158751" cy="158751"/>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FFFFFF"/>
              </a:solidFill>
              <a:effectLst/>
              <a:uLnTx/>
              <a:uFillTx/>
              <a:latin typeface="Trebuchet MS" panose="020B0603020202020204" pitchFamily="34" charset="0"/>
              <a:ea typeface="+mn-ea"/>
              <a:cs typeface="+mn-cs"/>
              <a:sym typeface="Trebuchet MS" panose="020B0603020202020204" pitchFamily="34" charset="0"/>
            </a:endParaRPr>
          </a:p>
        </p:txBody>
      </p:sp>
      <p:sp>
        <p:nvSpPr>
          <p:cNvPr id="4" name="Rectangle 3" hidden="1">
            <a:extLst>
              <a:ext uri="{FF2B5EF4-FFF2-40B4-BE49-F238E27FC236}">
                <a16:creationId xmlns:a16="http://schemas.microsoft.com/office/drawing/2014/main" id="{24250499-F407-4349-89B7-6C51155F9D47}"/>
              </a:ext>
            </a:extLst>
          </p:cNvPr>
          <p:cNvSpPr/>
          <p:nvPr>
            <p:custDataLst>
              <p:tags r:id="rId5"/>
            </p:custDataLst>
          </p:nvPr>
        </p:nvSpPr>
        <p:spPr>
          <a:xfrm>
            <a:off x="1" y="1"/>
            <a:ext cx="158751" cy="158751"/>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rebuchet MS" panose="020B0603020202020204" pitchFamily="34" charset="0"/>
              <a:ea typeface="+mn-ea"/>
              <a:cs typeface="+mn-cs"/>
              <a:sym typeface="Trebuchet MS" panose="020B0603020202020204" pitchFamily="34" charset="0"/>
            </a:endParaRPr>
          </a:p>
        </p:txBody>
      </p:sp>
      <p:sp>
        <p:nvSpPr>
          <p:cNvPr id="14" name="Rectangle 13" hidden="1"/>
          <p:cNvSpPr/>
          <p:nvPr>
            <p:custDataLst>
              <p:tags r:id="rId6"/>
            </p:custDataLst>
          </p:nvPr>
        </p:nvSpPr>
        <p:spPr bwMode="gray">
          <a:xfrm>
            <a:off x="1" y="1"/>
            <a:ext cx="158751" cy="158751"/>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ct val="0"/>
              </a:spcBef>
              <a:spcAft>
                <a:spcPct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Trebuchet MS" panose="020B0603020202020204" pitchFamily="34" charset="0"/>
              <a:ea typeface="+mn-ea"/>
              <a:cs typeface="+mn-cs"/>
              <a:sym typeface="Trebuchet MS" panose="020B0603020202020204" pitchFamily="34" charset="0"/>
            </a:endParaRPr>
          </a:p>
        </p:txBody>
      </p:sp>
      <p:sp>
        <p:nvSpPr>
          <p:cNvPr id="150" name="Title 6">
            <a:extLst>
              <a:ext uri="{FF2B5EF4-FFF2-40B4-BE49-F238E27FC236}">
                <a16:creationId xmlns:a16="http://schemas.microsoft.com/office/drawing/2014/main" id="{8185A1B7-2B9F-4C07-857C-2EB337B66606}"/>
              </a:ext>
            </a:extLst>
          </p:cNvPr>
          <p:cNvSpPr>
            <a:spLocks noGrp="1"/>
          </p:cNvSpPr>
          <p:nvPr>
            <p:ph type="title"/>
          </p:nvPr>
        </p:nvSpPr>
        <p:spPr>
          <a:xfrm>
            <a:off x="630000" y="622800"/>
            <a:ext cx="10933200" cy="941796"/>
          </a:xfrm>
        </p:spPr>
        <p:txBody>
          <a:bodyPr vert="horz"/>
          <a:lstStyle/>
          <a:p>
            <a:r>
              <a:rPr lang="en-US">
                <a:solidFill>
                  <a:srgbClr val="575757"/>
                </a:solidFill>
              </a:rPr>
              <a:t>As next step, we complemented segmentations with a </a:t>
            </a:r>
            <a:r>
              <a:rPr lang="en-US">
                <a:solidFill>
                  <a:srgbClr val="29BA74"/>
                </a:solidFill>
              </a:rPr>
              <a:t>360 Customer DNA view</a:t>
            </a:r>
          </a:p>
        </p:txBody>
      </p:sp>
      <p:sp>
        <p:nvSpPr>
          <p:cNvPr id="3" name="TextBox 2">
            <a:extLst>
              <a:ext uri="{FF2B5EF4-FFF2-40B4-BE49-F238E27FC236}">
                <a16:creationId xmlns:a16="http://schemas.microsoft.com/office/drawing/2014/main" id="{0DA02855-E829-4AAC-A3FD-5CB3B2C81F47}"/>
              </a:ext>
            </a:extLst>
          </p:cNvPr>
          <p:cNvSpPr txBox="1"/>
          <p:nvPr/>
        </p:nvSpPr>
        <p:spPr>
          <a:xfrm>
            <a:off x="599067" y="4135535"/>
            <a:ext cx="3511409" cy="1754326"/>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6E6E6E"/>
                </a:solidFill>
                <a:effectLst/>
                <a:uLnTx/>
                <a:uFillTx/>
                <a:latin typeface="Trebuchet MS"/>
                <a:ea typeface="+mn-ea"/>
                <a:cs typeface="+mn-cs"/>
              </a:rPr>
              <a:t>We leveraged BCG's </a:t>
            </a:r>
            <a:r>
              <a:rPr kumimoji="0" lang="en-US" sz="1800" b="0" i="0" u="none" strike="noStrike" kern="1200" cap="none" spc="0" normalizeH="0" baseline="0" noProof="0">
                <a:ln>
                  <a:noFill/>
                </a:ln>
                <a:solidFill>
                  <a:srgbClr val="575757"/>
                </a:solidFill>
                <a:effectLst/>
                <a:uLnTx/>
                <a:uFillTx/>
                <a:latin typeface="Trebuchet MS"/>
                <a:ea typeface="+mn-ea"/>
                <a:cs typeface="+mn-cs"/>
              </a:rPr>
              <a:t>industry knowledge &amp; personalization case experience</a:t>
            </a:r>
            <a:r>
              <a:rPr kumimoji="0" lang="en-US" sz="1800" b="0" i="0" u="none" strike="noStrike" kern="1200" cap="none" spc="0" normalizeH="0" baseline="0" noProof="0">
                <a:ln>
                  <a:noFill/>
                </a:ln>
                <a:solidFill>
                  <a:srgbClr val="6E6E6E"/>
                </a:solidFill>
                <a:effectLst/>
                <a:uLnTx/>
                <a:uFillTx/>
                <a:latin typeface="Trebuchet MS"/>
                <a:ea typeface="+mn-ea"/>
                <a:cs typeface="+mn-cs"/>
              </a:rPr>
              <a:t> in form of our proven </a:t>
            </a:r>
            <a:r>
              <a:rPr kumimoji="0" lang="en-US" sz="1800" b="0" i="0" u="none" strike="noStrike" kern="1200" cap="none" spc="0" normalizeH="0" baseline="0" noProof="0">
                <a:ln>
                  <a:noFill/>
                </a:ln>
                <a:solidFill>
                  <a:srgbClr val="29BA74"/>
                </a:solidFill>
                <a:effectLst/>
                <a:uLnTx/>
                <a:uFillTx/>
                <a:latin typeface="Trebuchet MS"/>
                <a:ea typeface="+mn-ea"/>
                <a:cs typeface="+mn-cs"/>
              </a:rPr>
              <a:t>retail banking customer 360 DNA </a:t>
            </a:r>
            <a:r>
              <a:rPr kumimoji="0" lang="en-US" sz="1800" b="0" i="0" u="none" strike="noStrike" kern="1200" cap="none" spc="0" normalizeH="0" baseline="0" noProof="0">
                <a:ln>
                  <a:noFill/>
                </a:ln>
                <a:solidFill>
                  <a:srgbClr val="6E6E6E"/>
                </a:solidFill>
                <a:effectLst/>
                <a:uLnTx/>
                <a:uFillTx/>
                <a:latin typeface="Trebuchet MS"/>
                <a:ea typeface="+mn-ea"/>
                <a:cs typeface="+mn-cs"/>
              </a:rPr>
              <a:t>with &gt;20.000 customer  features. </a:t>
            </a:r>
          </a:p>
        </p:txBody>
      </p:sp>
      <p:sp>
        <p:nvSpPr>
          <p:cNvPr id="94" name="TextBox 93">
            <a:extLst>
              <a:ext uri="{FF2B5EF4-FFF2-40B4-BE49-F238E27FC236}">
                <a16:creationId xmlns:a16="http://schemas.microsoft.com/office/drawing/2014/main" id="{E32B0836-1786-455C-8B30-FD6ADF8ABCA7}"/>
              </a:ext>
            </a:extLst>
          </p:cNvPr>
          <p:cNvSpPr txBox="1"/>
          <p:nvPr/>
        </p:nvSpPr>
        <p:spPr>
          <a:xfrm>
            <a:off x="4558405" y="4135535"/>
            <a:ext cx="3377154" cy="1477328"/>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575757"/>
                </a:solidFill>
                <a:effectLst/>
                <a:uLnTx/>
                <a:uFillTx/>
                <a:latin typeface="Trebuchet MS"/>
                <a:ea typeface="+mn-ea"/>
                <a:cs typeface="+mn-cs"/>
              </a:rPr>
              <a:t>The features were grouped by our client’s business domains and </a:t>
            </a:r>
            <a:r>
              <a:rPr kumimoji="0" lang="en-US" sz="1800" b="0" i="0" u="none" strike="noStrike" kern="1200" cap="none" spc="0" normalizeH="0" baseline="0" noProof="0">
                <a:ln>
                  <a:noFill/>
                </a:ln>
                <a:solidFill>
                  <a:srgbClr val="29BA74"/>
                </a:solidFill>
                <a:effectLst/>
                <a:uLnTx/>
                <a:uFillTx/>
                <a:latin typeface="Trebuchet MS"/>
                <a:ea typeface="+mn-ea"/>
                <a:cs typeface="+mn-cs"/>
              </a:rPr>
              <a:t>prioritized </a:t>
            </a:r>
            <a:r>
              <a:rPr kumimoji="0" lang="en-US" sz="1800" b="0" i="0" u="none" strike="noStrike" kern="1200" cap="none" spc="0" normalizeH="0" baseline="0" noProof="0">
                <a:ln>
                  <a:noFill/>
                </a:ln>
                <a:solidFill>
                  <a:srgbClr val="575757"/>
                </a:solidFill>
                <a:effectLst/>
                <a:uLnTx/>
                <a:uFillTx/>
                <a:latin typeface="Trebuchet MS"/>
                <a:ea typeface="+mn-ea"/>
                <a:cs typeface="+mn-cs"/>
              </a:rPr>
              <a:t>to maximize the impact.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95" name="TextBox 94">
            <a:extLst>
              <a:ext uri="{FF2B5EF4-FFF2-40B4-BE49-F238E27FC236}">
                <a16:creationId xmlns:a16="http://schemas.microsoft.com/office/drawing/2014/main" id="{2414CA6E-BC43-4E06-AA1B-829DAE8137C8}"/>
              </a:ext>
            </a:extLst>
          </p:cNvPr>
          <p:cNvSpPr txBox="1"/>
          <p:nvPr/>
        </p:nvSpPr>
        <p:spPr>
          <a:xfrm>
            <a:off x="8383488" y="4135535"/>
            <a:ext cx="3312000" cy="2031325"/>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575757"/>
                </a:solidFill>
                <a:effectLst/>
                <a:uLnTx/>
                <a:uFillTx/>
                <a:latin typeface="Trebuchet MS"/>
                <a:ea typeface="+mn-ea"/>
                <a:cs typeface="+mn-cs"/>
              </a:rPr>
              <a:t>A detailed roadmap, </a:t>
            </a:r>
            <a:r>
              <a:rPr kumimoji="0" lang="en-US" sz="1800" b="0" i="0" u="none" strike="noStrike" kern="1200" cap="none" spc="0" normalizeH="0" baseline="0" noProof="0">
                <a:ln>
                  <a:noFill/>
                </a:ln>
                <a:solidFill>
                  <a:srgbClr val="29BA74"/>
                </a:solidFill>
                <a:effectLst/>
                <a:uLnTx/>
                <a:uFillTx/>
                <a:latin typeface="Trebuchet MS"/>
                <a:ea typeface="+mn-ea"/>
                <a:cs typeface="+mn-cs"/>
              </a:rPr>
              <a:t>synchronized with existing data &amp; platform plans</a:t>
            </a:r>
            <a:r>
              <a:rPr kumimoji="0" lang="en-US" sz="1800" b="0" i="0" u="none" strike="noStrike" kern="1200" cap="none" spc="0" normalizeH="0" baseline="0" noProof="0">
                <a:ln>
                  <a:noFill/>
                </a:ln>
                <a:solidFill>
                  <a:srgbClr val="575757"/>
                </a:solidFill>
                <a:effectLst/>
                <a:uLnTx/>
                <a:uFillTx/>
                <a:latin typeface="Trebuchet MS"/>
                <a:ea typeface="+mn-ea"/>
                <a:cs typeface="+mn-cs"/>
              </a:rPr>
              <a:t>, supports the ongoing implementation efforts.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35" name="Oval 20">
            <a:extLst>
              <a:ext uri="{FF2B5EF4-FFF2-40B4-BE49-F238E27FC236}">
                <a16:creationId xmlns:a16="http://schemas.microsoft.com/office/drawing/2014/main" id="{CE23B59B-28C1-474D-82D9-3539229BC24D}"/>
              </a:ext>
            </a:extLst>
          </p:cNvPr>
          <p:cNvSpPr>
            <a:spLocks noChangeAspect="1" noChangeArrowheads="1"/>
          </p:cNvSpPr>
          <p:nvPr/>
        </p:nvSpPr>
        <p:spPr bwMode="auto">
          <a:xfrm>
            <a:off x="11614350" y="190800"/>
            <a:ext cx="432000" cy="432000"/>
          </a:xfrm>
          <a:prstGeom prst="ellipse">
            <a:avLst/>
          </a:prstGeom>
          <a:solidFill>
            <a:srgbClr val="FFFFFF"/>
          </a:solidFill>
          <a:ln w="9525" cap="flat" cmpd="sng" algn="ctr">
            <a:solidFill>
              <a:srgbClr val="29BA74"/>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9BA74"/>
                </a:solidFill>
                <a:effectLst/>
                <a:uLnTx/>
                <a:uFillTx/>
                <a:latin typeface="Trebuchet MS"/>
                <a:ea typeface="+mn-ea"/>
                <a:cs typeface="+mn-cs"/>
              </a:rPr>
              <a:t>C</a:t>
            </a:r>
            <a:endParaRPr kumimoji="0" lang="en-US" sz="1000" b="0" i="0" u="none" strike="noStrike" kern="1200" cap="none" spc="0" normalizeH="0" baseline="0" noProof="0">
              <a:ln>
                <a:noFill/>
              </a:ln>
              <a:solidFill>
                <a:srgbClr val="29BA74"/>
              </a:solidFill>
              <a:effectLst/>
              <a:uLnTx/>
              <a:uFillTx/>
              <a:latin typeface="Trebuchet MS"/>
              <a:ea typeface="+mn-ea"/>
              <a:cs typeface="+mn-cs"/>
            </a:endParaRPr>
          </a:p>
        </p:txBody>
      </p:sp>
      <p:pic>
        <p:nvPicPr>
          <p:cNvPr id="6" name="Picture 5">
            <a:extLst>
              <a:ext uri="{FF2B5EF4-FFF2-40B4-BE49-F238E27FC236}">
                <a16:creationId xmlns:a16="http://schemas.microsoft.com/office/drawing/2014/main" id="{5778D3B6-77EF-4500-ADE1-1BFADDD97151}"/>
              </a:ext>
            </a:extLst>
          </p:cNvPr>
          <p:cNvPicPr>
            <a:picLocks noChangeAspect="1"/>
          </p:cNvPicPr>
          <p:nvPr/>
        </p:nvPicPr>
        <p:blipFill>
          <a:blip r:embed="rId16"/>
          <a:stretch>
            <a:fillRect/>
          </a:stretch>
        </p:blipFill>
        <p:spPr>
          <a:xfrm>
            <a:off x="688875" y="1890946"/>
            <a:ext cx="3153824" cy="1960200"/>
          </a:xfrm>
          <a:prstGeom prst="rect">
            <a:avLst/>
          </a:prstGeom>
          <a:ln w="9525" cap="flat" cmpd="sng" algn="ctr">
            <a:solidFill>
              <a:srgbClr val="9A9A9A"/>
            </a:solidFill>
            <a:prstDash val="solid"/>
            <a:round/>
            <a:headEnd type="none" w="med" len="med"/>
            <a:tailEnd type="none" w="med" len="med"/>
          </a:ln>
          <a:effectLst>
            <a:outerShdw blurRad="50800" dist="38100" dir="2700000" algn="tl" rotWithShape="0">
              <a:prstClr val="black">
                <a:alpha val="40000"/>
              </a:prstClr>
            </a:outerShdw>
          </a:effectLst>
        </p:spPr>
      </p:pic>
      <p:pic>
        <p:nvPicPr>
          <p:cNvPr id="48" name="Picture 47">
            <a:extLst>
              <a:ext uri="{FF2B5EF4-FFF2-40B4-BE49-F238E27FC236}">
                <a16:creationId xmlns:a16="http://schemas.microsoft.com/office/drawing/2014/main" id="{37AE8C6B-6D77-04FE-9875-026FD34C128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6078" y="1748787"/>
            <a:ext cx="1027590" cy="444941"/>
          </a:xfrm>
          <a:prstGeom prst="rect">
            <a:avLst/>
          </a:prstGeom>
        </p:spPr>
      </p:pic>
      <p:grpSp>
        <p:nvGrpSpPr>
          <p:cNvPr id="56" name="Group 55">
            <a:extLst>
              <a:ext uri="{FF2B5EF4-FFF2-40B4-BE49-F238E27FC236}">
                <a16:creationId xmlns:a16="http://schemas.microsoft.com/office/drawing/2014/main" id="{0ECE370F-00DC-FE21-501C-A4B2F457A6FC}"/>
              </a:ext>
            </a:extLst>
          </p:cNvPr>
          <p:cNvGrpSpPr/>
          <p:nvPr/>
        </p:nvGrpSpPr>
        <p:grpSpPr>
          <a:xfrm>
            <a:off x="11371256" y="1569606"/>
            <a:ext cx="720000" cy="720000"/>
            <a:chOff x="11206949" y="1118945"/>
            <a:chExt cx="720000" cy="720000"/>
          </a:xfrm>
        </p:grpSpPr>
        <p:sp>
          <p:nvSpPr>
            <p:cNvPr id="57" name="Oval 56">
              <a:extLst>
                <a:ext uri="{FF2B5EF4-FFF2-40B4-BE49-F238E27FC236}">
                  <a16:creationId xmlns:a16="http://schemas.microsoft.com/office/drawing/2014/main" id="{F5CFBA67-A859-84F3-2D2C-9FBE5CE9C4A4}"/>
                </a:ext>
              </a:extLst>
            </p:cNvPr>
            <p:cNvSpPr/>
            <p:nvPr>
              <p:custDataLst>
                <p:tags r:id="rId9"/>
              </p:custDataLst>
            </p:nvPr>
          </p:nvSpPr>
          <p:spPr>
            <a:xfrm>
              <a:off x="11206949" y="1118945"/>
              <a:ext cx="720000" cy="720000"/>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lumMod val="50000"/>
                  </a:prstClr>
                </a:solidFill>
                <a:effectLst/>
                <a:uLnTx/>
                <a:uFillTx/>
                <a:latin typeface="Trebuchet MS"/>
                <a:ea typeface="+mn-ea"/>
                <a:cs typeface="+mn-cs"/>
              </a:endParaRPr>
            </a:p>
          </p:txBody>
        </p:sp>
        <p:grpSp>
          <p:nvGrpSpPr>
            <p:cNvPr id="58" name="Group 57">
              <a:extLst>
                <a:ext uri="{FF2B5EF4-FFF2-40B4-BE49-F238E27FC236}">
                  <a16:creationId xmlns:a16="http://schemas.microsoft.com/office/drawing/2014/main" id="{FB60E512-9103-BD1B-91C3-5CCDC6571231}"/>
                </a:ext>
              </a:extLst>
            </p:cNvPr>
            <p:cNvGrpSpPr>
              <a:grpSpLocks noChangeAspect="1"/>
            </p:cNvGrpSpPr>
            <p:nvPr/>
          </p:nvGrpSpPr>
          <p:grpSpPr>
            <a:xfrm>
              <a:off x="11300451" y="1239467"/>
              <a:ext cx="532994" cy="533488"/>
              <a:chOff x="5273801" y="2606040"/>
              <a:chExt cx="1644396" cy="1645920"/>
            </a:xfrm>
          </p:grpSpPr>
          <p:sp>
            <p:nvSpPr>
              <p:cNvPr id="59" name="AutoShape 23">
                <a:extLst>
                  <a:ext uri="{FF2B5EF4-FFF2-40B4-BE49-F238E27FC236}">
                    <a16:creationId xmlns:a16="http://schemas.microsoft.com/office/drawing/2014/main" id="{F859E6B8-8AF3-8077-6210-177C14D6BBAB}"/>
                  </a:ext>
                </a:extLst>
              </p:cNvPr>
              <p:cNvSpPr>
                <a:spLocks noChangeAspect="1" noChangeArrowheads="1" noTextEdit="1"/>
              </p:cNvSpPr>
              <p:nvPr/>
            </p:nvSpPr>
            <p:spPr bwMode="auto">
              <a:xfrm>
                <a:off x="5273801" y="2606040"/>
                <a:ext cx="1644396" cy="1645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nvGrpSpPr>
              <p:cNvPr id="60" name="Group 59">
                <a:extLst>
                  <a:ext uri="{FF2B5EF4-FFF2-40B4-BE49-F238E27FC236}">
                    <a16:creationId xmlns:a16="http://schemas.microsoft.com/office/drawing/2014/main" id="{2FCC5771-139A-3D7F-C793-BFDA47203655}"/>
                  </a:ext>
                </a:extLst>
              </p:cNvPr>
              <p:cNvGrpSpPr/>
              <p:nvPr/>
            </p:nvGrpSpPr>
            <p:grpSpPr>
              <a:xfrm>
                <a:off x="5343905" y="2928366"/>
                <a:ext cx="1505712" cy="995553"/>
                <a:chOff x="5343905" y="2928366"/>
                <a:chExt cx="1505712" cy="995553"/>
              </a:xfrm>
            </p:grpSpPr>
            <p:sp>
              <p:nvSpPr>
                <p:cNvPr id="61" name="Freeform 25">
                  <a:extLst>
                    <a:ext uri="{FF2B5EF4-FFF2-40B4-BE49-F238E27FC236}">
                      <a16:creationId xmlns:a16="http://schemas.microsoft.com/office/drawing/2014/main" id="{2D7A5BB3-CDA7-4A63-13FA-D48D09208696}"/>
                    </a:ext>
                  </a:extLst>
                </p:cNvPr>
                <p:cNvSpPr>
                  <a:spLocks noEditPoints="1"/>
                </p:cNvSpPr>
                <p:nvPr/>
              </p:nvSpPr>
              <p:spPr bwMode="auto">
                <a:xfrm>
                  <a:off x="5696330" y="2928366"/>
                  <a:ext cx="1153287" cy="654177"/>
                </a:xfrm>
                <a:custGeom>
                  <a:avLst/>
                  <a:gdLst>
                    <a:gd name="T0" fmla="*/ 1610 w 1616"/>
                    <a:gd name="T1" fmla="*/ 362 h 916"/>
                    <a:gd name="T2" fmla="*/ 1552 w 1616"/>
                    <a:gd name="T3" fmla="*/ 327 h 916"/>
                    <a:gd name="T4" fmla="*/ 1530 w 1616"/>
                    <a:gd name="T5" fmla="*/ 261 h 916"/>
                    <a:gd name="T6" fmla="*/ 1495 w 1616"/>
                    <a:gd name="T7" fmla="*/ 196 h 916"/>
                    <a:gd name="T8" fmla="*/ 1508 w 1616"/>
                    <a:gd name="T9" fmla="*/ 130 h 916"/>
                    <a:gd name="T10" fmla="*/ 1369 w 1616"/>
                    <a:gd name="T11" fmla="*/ 28 h 916"/>
                    <a:gd name="T12" fmla="*/ 1309 w 1616"/>
                    <a:gd name="T13" fmla="*/ 62 h 916"/>
                    <a:gd name="T14" fmla="*/ 1178 w 1616"/>
                    <a:gd name="T15" fmla="*/ 47 h 916"/>
                    <a:gd name="T16" fmla="*/ 1127 w 1616"/>
                    <a:gd name="T17" fmla="*/ 0 h 916"/>
                    <a:gd name="T18" fmla="*/ 1043 w 1616"/>
                    <a:gd name="T19" fmla="*/ 26 h 916"/>
                    <a:gd name="T20" fmla="*/ 967 w 1616"/>
                    <a:gd name="T21" fmla="*/ 69 h 916"/>
                    <a:gd name="T22" fmla="*/ 967 w 1616"/>
                    <a:gd name="T23" fmla="*/ 140 h 916"/>
                    <a:gd name="T24" fmla="*/ 886 w 1616"/>
                    <a:gd name="T25" fmla="*/ 246 h 916"/>
                    <a:gd name="T26" fmla="*/ 821 w 1616"/>
                    <a:gd name="T27" fmla="*/ 267 h 916"/>
                    <a:gd name="T28" fmla="*/ 798 w 1616"/>
                    <a:gd name="T29" fmla="*/ 441 h 916"/>
                    <a:gd name="T30" fmla="*/ 856 w 1616"/>
                    <a:gd name="T31" fmla="*/ 475 h 916"/>
                    <a:gd name="T32" fmla="*/ 879 w 1616"/>
                    <a:gd name="T33" fmla="*/ 546 h 916"/>
                    <a:gd name="T34" fmla="*/ 912 w 1616"/>
                    <a:gd name="T35" fmla="*/ 607 h 916"/>
                    <a:gd name="T36" fmla="*/ 896 w 1616"/>
                    <a:gd name="T37" fmla="*/ 673 h 916"/>
                    <a:gd name="T38" fmla="*/ 1031 w 1616"/>
                    <a:gd name="T39" fmla="*/ 777 h 916"/>
                    <a:gd name="T40" fmla="*/ 1089 w 1616"/>
                    <a:gd name="T41" fmla="*/ 743 h 916"/>
                    <a:gd name="T42" fmla="*/ 1236 w 1616"/>
                    <a:gd name="T43" fmla="*/ 762 h 916"/>
                    <a:gd name="T44" fmla="*/ 1287 w 1616"/>
                    <a:gd name="T45" fmla="*/ 808 h 916"/>
                    <a:gd name="T46" fmla="*/ 1366 w 1616"/>
                    <a:gd name="T47" fmla="*/ 783 h 916"/>
                    <a:gd name="T48" fmla="*/ 1440 w 1616"/>
                    <a:gd name="T49" fmla="*/ 741 h 916"/>
                    <a:gd name="T50" fmla="*/ 1440 w 1616"/>
                    <a:gd name="T51" fmla="*/ 673 h 916"/>
                    <a:gd name="T52" fmla="*/ 1528 w 1616"/>
                    <a:gd name="T53" fmla="*/ 552 h 916"/>
                    <a:gd name="T54" fmla="*/ 1591 w 1616"/>
                    <a:gd name="T55" fmla="*/ 532 h 916"/>
                    <a:gd name="T56" fmla="*/ 1610 w 1616"/>
                    <a:gd name="T57" fmla="*/ 362 h 916"/>
                    <a:gd name="T58" fmla="*/ 1276 w 1616"/>
                    <a:gd name="T59" fmla="*/ 569 h 916"/>
                    <a:gd name="T60" fmla="*/ 1041 w 1616"/>
                    <a:gd name="T61" fmla="*/ 475 h 916"/>
                    <a:gd name="T62" fmla="*/ 1133 w 1616"/>
                    <a:gd name="T63" fmla="*/ 239 h 916"/>
                    <a:gd name="T64" fmla="*/ 1367 w 1616"/>
                    <a:gd name="T65" fmla="*/ 333 h 916"/>
                    <a:gd name="T66" fmla="*/ 1276 w 1616"/>
                    <a:gd name="T67" fmla="*/ 569 h 916"/>
                    <a:gd name="T68" fmla="*/ 187 w 1616"/>
                    <a:gd name="T69" fmla="*/ 916 h 916"/>
                    <a:gd name="T70" fmla="*/ 0 w 1616"/>
                    <a:gd name="T71" fmla="*/ 729 h 916"/>
                    <a:gd name="T72" fmla="*/ 187 w 1616"/>
                    <a:gd name="T73" fmla="*/ 541 h 916"/>
                    <a:gd name="T74" fmla="*/ 375 w 1616"/>
                    <a:gd name="T75" fmla="*/ 729 h 916"/>
                    <a:gd name="T76" fmla="*/ 187 w 1616"/>
                    <a:gd name="T77" fmla="*/ 916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16" h="916">
                      <a:moveTo>
                        <a:pt x="1610" y="362"/>
                      </a:moveTo>
                      <a:cubicBezTo>
                        <a:pt x="1552" y="327"/>
                        <a:pt x="1552" y="327"/>
                        <a:pt x="1552" y="327"/>
                      </a:cubicBezTo>
                      <a:cubicBezTo>
                        <a:pt x="1547" y="305"/>
                        <a:pt x="1539" y="283"/>
                        <a:pt x="1530" y="261"/>
                      </a:cubicBezTo>
                      <a:cubicBezTo>
                        <a:pt x="1521" y="239"/>
                        <a:pt x="1508" y="217"/>
                        <a:pt x="1495" y="196"/>
                      </a:cubicBezTo>
                      <a:cubicBezTo>
                        <a:pt x="1508" y="130"/>
                        <a:pt x="1508" y="130"/>
                        <a:pt x="1508" y="130"/>
                      </a:cubicBezTo>
                      <a:cubicBezTo>
                        <a:pt x="1470" y="87"/>
                        <a:pt x="1421" y="51"/>
                        <a:pt x="1369" y="28"/>
                      </a:cubicBezTo>
                      <a:cubicBezTo>
                        <a:pt x="1309" y="62"/>
                        <a:pt x="1309" y="62"/>
                        <a:pt x="1309" y="62"/>
                      </a:cubicBezTo>
                      <a:cubicBezTo>
                        <a:pt x="1266" y="48"/>
                        <a:pt x="1223" y="43"/>
                        <a:pt x="1178" y="47"/>
                      </a:cubicBezTo>
                      <a:cubicBezTo>
                        <a:pt x="1127" y="0"/>
                        <a:pt x="1127" y="0"/>
                        <a:pt x="1127" y="0"/>
                      </a:cubicBezTo>
                      <a:cubicBezTo>
                        <a:pt x="1099" y="6"/>
                        <a:pt x="1071" y="13"/>
                        <a:pt x="1043" y="26"/>
                      </a:cubicBezTo>
                      <a:cubicBezTo>
                        <a:pt x="1016" y="38"/>
                        <a:pt x="989" y="53"/>
                        <a:pt x="967" y="69"/>
                      </a:cubicBezTo>
                      <a:cubicBezTo>
                        <a:pt x="967" y="140"/>
                        <a:pt x="967" y="140"/>
                        <a:pt x="967" y="140"/>
                      </a:cubicBezTo>
                      <a:cubicBezTo>
                        <a:pt x="933" y="171"/>
                        <a:pt x="905" y="206"/>
                        <a:pt x="886" y="246"/>
                      </a:cubicBezTo>
                      <a:cubicBezTo>
                        <a:pt x="821" y="267"/>
                        <a:pt x="821" y="267"/>
                        <a:pt x="821" y="267"/>
                      </a:cubicBezTo>
                      <a:cubicBezTo>
                        <a:pt x="801" y="321"/>
                        <a:pt x="794" y="380"/>
                        <a:pt x="798" y="441"/>
                      </a:cubicBezTo>
                      <a:cubicBezTo>
                        <a:pt x="856" y="475"/>
                        <a:pt x="856" y="475"/>
                        <a:pt x="856" y="475"/>
                      </a:cubicBezTo>
                      <a:cubicBezTo>
                        <a:pt x="861" y="498"/>
                        <a:pt x="868" y="523"/>
                        <a:pt x="879" y="546"/>
                      </a:cubicBezTo>
                      <a:cubicBezTo>
                        <a:pt x="889" y="567"/>
                        <a:pt x="899" y="588"/>
                        <a:pt x="912" y="607"/>
                      </a:cubicBezTo>
                      <a:cubicBezTo>
                        <a:pt x="896" y="673"/>
                        <a:pt x="896" y="673"/>
                        <a:pt x="896" y="673"/>
                      </a:cubicBezTo>
                      <a:cubicBezTo>
                        <a:pt x="934" y="718"/>
                        <a:pt x="980" y="752"/>
                        <a:pt x="1031" y="777"/>
                      </a:cubicBezTo>
                      <a:cubicBezTo>
                        <a:pt x="1089" y="743"/>
                        <a:pt x="1089" y="743"/>
                        <a:pt x="1089" y="743"/>
                      </a:cubicBezTo>
                      <a:cubicBezTo>
                        <a:pt x="1136" y="760"/>
                        <a:pt x="1185" y="766"/>
                        <a:pt x="1236" y="762"/>
                      </a:cubicBezTo>
                      <a:cubicBezTo>
                        <a:pt x="1287" y="808"/>
                        <a:pt x="1287" y="808"/>
                        <a:pt x="1287" y="808"/>
                      </a:cubicBezTo>
                      <a:cubicBezTo>
                        <a:pt x="1312" y="802"/>
                        <a:pt x="1340" y="794"/>
                        <a:pt x="1366" y="783"/>
                      </a:cubicBezTo>
                      <a:cubicBezTo>
                        <a:pt x="1392" y="771"/>
                        <a:pt x="1416" y="757"/>
                        <a:pt x="1440" y="741"/>
                      </a:cubicBezTo>
                      <a:cubicBezTo>
                        <a:pt x="1440" y="673"/>
                        <a:pt x="1440" y="673"/>
                        <a:pt x="1440" y="673"/>
                      </a:cubicBezTo>
                      <a:cubicBezTo>
                        <a:pt x="1477" y="639"/>
                        <a:pt x="1507" y="597"/>
                        <a:pt x="1528" y="552"/>
                      </a:cubicBezTo>
                      <a:cubicBezTo>
                        <a:pt x="1591" y="532"/>
                        <a:pt x="1591" y="532"/>
                        <a:pt x="1591" y="532"/>
                      </a:cubicBezTo>
                      <a:cubicBezTo>
                        <a:pt x="1610" y="479"/>
                        <a:pt x="1616" y="420"/>
                        <a:pt x="1610" y="362"/>
                      </a:cubicBezTo>
                      <a:close/>
                      <a:moveTo>
                        <a:pt x="1276" y="569"/>
                      </a:moveTo>
                      <a:cubicBezTo>
                        <a:pt x="1185" y="610"/>
                        <a:pt x="1080" y="566"/>
                        <a:pt x="1041" y="475"/>
                      </a:cubicBezTo>
                      <a:cubicBezTo>
                        <a:pt x="1002" y="383"/>
                        <a:pt x="1043" y="278"/>
                        <a:pt x="1133" y="239"/>
                      </a:cubicBezTo>
                      <a:cubicBezTo>
                        <a:pt x="1224" y="199"/>
                        <a:pt x="1330" y="242"/>
                        <a:pt x="1367" y="333"/>
                      </a:cubicBezTo>
                      <a:cubicBezTo>
                        <a:pt x="1407" y="424"/>
                        <a:pt x="1366" y="531"/>
                        <a:pt x="1276" y="569"/>
                      </a:cubicBezTo>
                      <a:close/>
                      <a:moveTo>
                        <a:pt x="187" y="916"/>
                      </a:moveTo>
                      <a:cubicBezTo>
                        <a:pt x="84" y="916"/>
                        <a:pt x="0" y="832"/>
                        <a:pt x="0" y="729"/>
                      </a:cubicBezTo>
                      <a:cubicBezTo>
                        <a:pt x="0" y="625"/>
                        <a:pt x="84" y="541"/>
                        <a:pt x="187" y="541"/>
                      </a:cubicBezTo>
                      <a:cubicBezTo>
                        <a:pt x="291" y="541"/>
                        <a:pt x="375" y="625"/>
                        <a:pt x="375" y="729"/>
                      </a:cubicBezTo>
                      <a:cubicBezTo>
                        <a:pt x="375" y="832"/>
                        <a:pt x="291" y="916"/>
                        <a:pt x="187" y="916"/>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62" name="Freeform 26">
                  <a:extLst>
                    <a:ext uri="{FF2B5EF4-FFF2-40B4-BE49-F238E27FC236}">
                      <a16:creationId xmlns:a16="http://schemas.microsoft.com/office/drawing/2014/main" id="{B2773EAC-2C45-0CD6-C566-19BDAA663E61}"/>
                    </a:ext>
                  </a:extLst>
                </p:cNvPr>
                <p:cNvSpPr>
                  <a:spLocks noEditPoints="1"/>
                </p:cNvSpPr>
                <p:nvPr/>
              </p:nvSpPr>
              <p:spPr bwMode="auto">
                <a:xfrm>
                  <a:off x="5343905" y="2961132"/>
                  <a:ext cx="971931" cy="962787"/>
                </a:xfrm>
                <a:custGeom>
                  <a:avLst/>
                  <a:gdLst>
                    <a:gd name="T0" fmla="*/ 638 w 1362"/>
                    <a:gd name="T1" fmla="*/ 1242 h 1348"/>
                    <a:gd name="T2" fmla="*/ 448 w 1362"/>
                    <a:gd name="T3" fmla="*/ 1319 h 1348"/>
                    <a:gd name="T4" fmla="*/ 352 w 1362"/>
                    <a:gd name="T5" fmla="*/ 1146 h 1348"/>
                    <a:gd name="T6" fmla="*/ 141 w 1362"/>
                    <a:gd name="T7" fmla="*/ 1095 h 1348"/>
                    <a:gd name="T8" fmla="*/ 46 w 1362"/>
                    <a:gd name="T9" fmla="*/ 928 h 1348"/>
                    <a:gd name="T10" fmla="*/ 0 w 1362"/>
                    <a:gd name="T11" fmla="*/ 664 h 1348"/>
                    <a:gd name="T12" fmla="*/ 32 w 1362"/>
                    <a:gd name="T13" fmla="*/ 474 h 1348"/>
                    <a:gd name="T14" fmla="*/ 212 w 1362"/>
                    <a:gd name="T15" fmla="*/ 351 h 1348"/>
                    <a:gd name="T16" fmla="*/ 244 w 1362"/>
                    <a:gd name="T17" fmla="*/ 159 h 1348"/>
                    <a:gd name="T18" fmla="*/ 451 w 1362"/>
                    <a:gd name="T19" fmla="*/ 167 h 1348"/>
                    <a:gd name="T20" fmla="*/ 592 w 1362"/>
                    <a:gd name="T21" fmla="*/ 5 h 1348"/>
                    <a:gd name="T22" fmla="*/ 784 w 1362"/>
                    <a:gd name="T23" fmla="*/ 6 h 1348"/>
                    <a:gd name="T24" fmla="*/ 1036 w 1362"/>
                    <a:gd name="T25" fmla="*/ 98 h 1348"/>
                    <a:gd name="T26" fmla="*/ 1184 w 1362"/>
                    <a:gd name="T27" fmla="*/ 220 h 1348"/>
                    <a:gd name="T28" fmla="*/ 1206 w 1362"/>
                    <a:gd name="T29" fmla="*/ 440 h 1348"/>
                    <a:gd name="T30" fmla="*/ 1351 w 1362"/>
                    <a:gd name="T31" fmla="*/ 562 h 1348"/>
                    <a:gd name="T32" fmla="*/ 1262 w 1362"/>
                    <a:gd name="T33" fmla="*/ 724 h 1348"/>
                    <a:gd name="T34" fmla="*/ 1310 w 1362"/>
                    <a:gd name="T35" fmla="*/ 940 h 1348"/>
                    <a:gd name="T36" fmla="*/ 1213 w 1362"/>
                    <a:gd name="T37" fmla="*/ 1106 h 1348"/>
                    <a:gd name="T38" fmla="*/ 1008 w 1362"/>
                    <a:gd name="T39" fmla="*/ 1278 h 1348"/>
                    <a:gd name="T40" fmla="*/ 828 w 1362"/>
                    <a:gd name="T41" fmla="*/ 1345 h 1348"/>
                    <a:gd name="T42" fmla="*/ 830 w 1362"/>
                    <a:gd name="T43" fmla="*/ 1299 h 1348"/>
                    <a:gd name="T44" fmla="*/ 965 w 1362"/>
                    <a:gd name="T45" fmla="*/ 1122 h 1348"/>
                    <a:gd name="T46" fmla="*/ 1072 w 1362"/>
                    <a:gd name="T47" fmla="*/ 1038 h 1348"/>
                    <a:gd name="T48" fmla="*/ 1264 w 1362"/>
                    <a:gd name="T49" fmla="*/ 935 h 1348"/>
                    <a:gd name="T50" fmla="*/ 1219 w 1362"/>
                    <a:gd name="T51" fmla="*/ 710 h 1348"/>
                    <a:gd name="T52" fmla="*/ 1308 w 1362"/>
                    <a:gd name="T53" fmla="*/ 570 h 1348"/>
                    <a:gd name="T54" fmla="*/ 1171 w 1362"/>
                    <a:gd name="T55" fmla="*/ 469 h 1348"/>
                    <a:gd name="T56" fmla="*/ 1142 w 1362"/>
                    <a:gd name="T57" fmla="*/ 241 h 1348"/>
                    <a:gd name="T58" fmla="*/ 915 w 1362"/>
                    <a:gd name="T59" fmla="*/ 217 h 1348"/>
                    <a:gd name="T60" fmla="*/ 802 w 1362"/>
                    <a:gd name="T61" fmla="*/ 179 h 1348"/>
                    <a:gd name="T62" fmla="*/ 610 w 1362"/>
                    <a:gd name="T63" fmla="*/ 47 h 1348"/>
                    <a:gd name="T64" fmla="*/ 458 w 1362"/>
                    <a:gd name="T65" fmla="*/ 212 h 1348"/>
                    <a:gd name="T66" fmla="*/ 272 w 1362"/>
                    <a:gd name="T67" fmla="*/ 192 h 1348"/>
                    <a:gd name="T68" fmla="*/ 254 w 1362"/>
                    <a:gd name="T69" fmla="*/ 369 h 1348"/>
                    <a:gd name="T70" fmla="*/ 70 w 1362"/>
                    <a:gd name="T71" fmla="*/ 500 h 1348"/>
                    <a:gd name="T72" fmla="*/ 143 w 1362"/>
                    <a:gd name="T73" fmla="*/ 698 h 1348"/>
                    <a:gd name="T74" fmla="*/ 170 w 1362"/>
                    <a:gd name="T75" fmla="*/ 846 h 1348"/>
                    <a:gd name="T76" fmla="*/ 168 w 1362"/>
                    <a:gd name="T77" fmla="*/ 1058 h 1348"/>
                    <a:gd name="T78" fmla="*/ 386 w 1362"/>
                    <a:gd name="T79" fmla="*/ 1115 h 1348"/>
                    <a:gd name="T80" fmla="*/ 463 w 1362"/>
                    <a:gd name="T81" fmla="*/ 1278 h 1348"/>
                    <a:gd name="T82" fmla="*/ 630 w 1362"/>
                    <a:gd name="T83" fmla="*/ 1198 h 1348"/>
                    <a:gd name="T84" fmla="*/ 742 w 1362"/>
                    <a:gd name="T85" fmla="*/ 1197 h 1348"/>
                    <a:gd name="T86" fmla="*/ 681 w 1362"/>
                    <a:gd name="T87" fmla="*/ 257 h 1348"/>
                    <a:gd name="T88" fmla="*/ 681 w 1362"/>
                    <a:gd name="T89" fmla="*/ 301 h 1348"/>
                    <a:gd name="T90" fmla="*/ 1063 w 1362"/>
                    <a:gd name="T91" fmla="*/ 683 h 1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62" h="1348">
                      <a:moveTo>
                        <a:pt x="815" y="1348"/>
                      </a:moveTo>
                      <a:cubicBezTo>
                        <a:pt x="724" y="1242"/>
                        <a:pt x="724" y="1242"/>
                        <a:pt x="724" y="1242"/>
                      </a:cubicBezTo>
                      <a:cubicBezTo>
                        <a:pt x="695" y="1244"/>
                        <a:pt x="666" y="1244"/>
                        <a:pt x="638" y="1242"/>
                      </a:cubicBezTo>
                      <a:cubicBezTo>
                        <a:pt x="547" y="1348"/>
                        <a:pt x="547" y="1348"/>
                        <a:pt x="547" y="1348"/>
                      </a:cubicBezTo>
                      <a:cubicBezTo>
                        <a:pt x="534" y="1345"/>
                        <a:pt x="534" y="1345"/>
                        <a:pt x="534" y="1345"/>
                      </a:cubicBezTo>
                      <a:cubicBezTo>
                        <a:pt x="494" y="1336"/>
                        <a:pt x="450" y="1320"/>
                        <a:pt x="448" y="1319"/>
                      </a:cubicBezTo>
                      <a:cubicBezTo>
                        <a:pt x="446" y="1318"/>
                        <a:pt x="402" y="1302"/>
                        <a:pt x="366" y="1284"/>
                      </a:cubicBezTo>
                      <a:cubicBezTo>
                        <a:pt x="354" y="1278"/>
                        <a:pt x="354" y="1278"/>
                        <a:pt x="354" y="1278"/>
                      </a:cubicBezTo>
                      <a:cubicBezTo>
                        <a:pt x="352" y="1146"/>
                        <a:pt x="352" y="1146"/>
                        <a:pt x="352" y="1146"/>
                      </a:cubicBezTo>
                      <a:cubicBezTo>
                        <a:pt x="325" y="1128"/>
                        <a:pt x="299" y="1107"/>
                        <a:pt x="275" y="1085"/>
                      </a:cubicBezTo>
                      <a:cubicBezTo>
                        <a:pt x="149" y="1105"/>
                        <a:pt x="149" y="1105"/>
                        <a:pt x="149" y="1105"/>
                      </a:cubicBezTo>
                      <a:cubicBezTo>
                        <a:pt x="141" y="1095"/>
                        <a:pt x="141" y="1095"/>
                        <a:pt x="141" y="1095"/>
                      </a:cubicBezTo>
                      <a:cubicBezTo>
                        <a:pt x="116" y="1062"/>
                        <a:pt x="93" y="1022"/>
                        <a:pt x="92" y="1020"/>
                      </a:cubicBezTo>
                      <a:cubicBezTo>
                        <a:pt x="91" y="1018"/>
                        <a:pt x="67" y="977"/>
                        <a:pt x="51" y="940"/>
                      </a:cubicBezTo>
                      <a:cubicBezTo>
                        <a:pt x="46" y="928"/>
                        <a:pt x="46" y="928"/>
                        <a:pt x="46" y="928"/>
                      </a:cubicBezTo>
                      <a:cubicBezTo>
                        <a:pt x="121" y="836"/>
                        <a:pt x="121" y="836"/>
                        <a:pt x="121" y="836"/>
                      </a:cubicBezTo>
                      <a:cubicBezTo>
                        <a:pt x="110" y="799"/>
                        <a:pt x="104" y="762"/>
                        <a:pt x="101" y="724"/>
                      </a:cubicBezTo>
                      <a:cubicBezTo>
                        <a:pt x="0" y="664"/>
                        <a:pt x="0" y="664"/>
                        <a:pt x="0" y="664"/>
                      </a:cubicBezTo>
                      <a:cubicBezTo>
                        <a:pt x="1" y="650"/>
                        <a:pt x="1" y="650"/>
                        <a:pt x="1" y="650"/>
                      </a:cubicBezTo>
                      <a:cubicBezTo>
                        <a:pt x="3" y="610"/>
                        <a:pt x="11" y="564"/>
                        <a:pt x="11" y="562"/>
                      </a:cubicBezTo>
                      <a:cubicBezTo>
                        <a:pt x="12" y="560"/>
                        <a:pt x="20" y="513"/>
                        <a:pt x="32" y="474"/>
                      </a:cubicBezTo>
                      <a:cubicBezTo>
                        <a:pt x="35" y="462"/>
                        <a:pt x="35" y="462"/>
                        <a:pt x="35" y="462"/>
                      </a:cubicBezTo>
                      <a:cubicBezTo>
                        <a:pt x="157" y="439"/>
                        <a:pt x="157" y="439"/>
                        <a:pt x="157" y="439"/>
                      </a:cubicBezTo>
                      <a:cubicBezTo>
                        <a:pt x="173" y="408"/>
                        <a:pt x="191" y="378"/>
                        <a:pt x="212" y="351"/>
                      </a:cubicBezTo>
                      <a:cubicBezTo>
                        <a:pt x="170" y="230"/>
                        <a:pt x="170" y="230"/>
                        <a:pt x="170" y="230"/>
                      </a:cubicBezTo>
                      <a:cubicBezTo>
                        <a:pt x="179" y="220"/>
                        <a:pt x="179" y="220"/>
                        <a:pt x="179" y="220"/>
                      </a:cubicBezTo>
                      <a:cubicBezTo>
                        <a:pt x="206" y="190"/>
                        <a:pt x="243" y="160"/>
                        <a:pt x="244" y="159"/>
                      </a:cubicBezTo>
                      <a:cubicBezTo>
                        <a:pt x="246" y="157"/>
                        <a:pt x="282" y="127"/>
                        <a:pt x="316" y="105"/>
                      </a:cubicBezTo>
                      <a:cubicBezTo>
                        <a:pt x="327" y="98"/>
                        <a:pt x="327" y="98"/>
                        <a:pt x="327" y="98"/>
                      </a:cubicBezTo>
                      <a:cubicBezTo>
                        <a:pt x="451" y="167"/>
                        <a:pt x="451" y="167"/>
                        <a:pt x="451" y="167"/>
                      </a:cubicBezTo>
                      <a:cubicBezTo>
                        <a:pt x="476" y="157"/>
                        <a:pt x="502" y="148"/>
                        <a:pt x="528" y="142"/>
                      </a:cubicBezTo>
                      <a:cubicBezTo>
                        <a:pt x="579" y="6"/>
                        <a:pt x="579" y="6"/>
                        <a:pt x="579" y="6"/>
                      </a:cubicBezTo>
                      <a:cubicBezTo>
                        <a:pt x="592" y="5"/>
                        <a:pt x="592" y="5"/>
                        <a:pt x="592" y="5"/>
                      </a:cubicBezTo>
                      <a:cubicBezTo>
                        <a:pt x="632" y="0"/>
                        <a:pt x="679" y="0"/>
                        <a:pt x="681" y="0"/>
                      </a:cubicBezTo>
                      <a:cubicBezTo>
                        <a:pt x="683" y="0"/>
                        <a:pt x="730" y="0"/>
                        <a:pt x="771" y="5"/>
                      </a:cubicBezTo>
                      <a:cubicBezTo>
                        <a:pt x="784" y="6"/>
                        <a:pt x="784" y="6"/>
                        <a:pt x="784" y="6"/>
                      </a:cubicBezTo>
                      <a:cubicBezTo>
                        <a:pt x="835" y="142"/>
                        <a:pt x="835" y="142"/>
                        <a:pt x="835" y="142"/>
                      </a:cubicBezTo>
                      <a:cubicBezTo>
                        <a:pt x="861" y="149"/>
                        <a:pt x="887" y="157"/>
                        <a:pt x="912" y="168"/>
                      </a:cubicBezTo>
                      <a:cubicBezTo>
                        <a:pt x="1036" y="98"/>
                        <a:pt x="1036" y="98"/>
                        <a:pt x="1036" y="98"/>
                      </a:cubicBezTo>
                      <a:cubicBezTo>
                        <a:pt x="1047" y="105"/>
                        <a:pt x="1047" y="105"/>
                        <a:pt x="1047" y="105"/>
                      </a:cubicBezTo>
                      <a:cubicBezTo>
                        <a:pt x="1081" y="128"/>
                        <a:pt x="1117" y="158"/>
                        <a:pt x="1118" y="159"/>
                      </a:cubicBezTo>
                      <a:cubicBezTo>
                        <a:pt x="1120" y="160"/>
                        <a:pt x="1156" y="191"/>
                        <a:pt x="1184" y="220"/>
                      </a:cubicBezTo>
                      <a:cubicBezTo>
                        <a:pt x="1193" y="230"/>
                        <a:pt x="1193" y="230"/>
                        <a:pt x="1193" y="230"/>
                      </a:cubicBezTo>
                      <a:cubicBezTo>
                        <a:pt x="1151" y="351"/>
                        <a:pt x="1151" y="351"/>
                        <a:pt x="1151" y="351"/>
                      </a:cubicBezTo>
                      <a:cubicBezTo>
                        <a:pt x="1172" y="379"/>
                        <a:pt x="1190" y="408"/>
                        <a:pt x="1206" y="440"/>
                      </a:cubicBezTo>
                      <a:cubicBezTo>
                        <a:pt x="1327" y="462"/>
                        <a:pt x="1327" y="462"/>
                        <a:pt x="1327" y="462"/>
                      </a:cubicBezTo>
                      <a:cubicBezTo>
                        <a:pt x="1331" y="475"/>
                        <a:pt x="1331" y="475"/>
                        <a:pt x="1331" y="475"/>
                      </a:cubicBezTo>
                      <a:cubicBezTo>
                        <a:pt x="1342" y="514"/>
                        <a:pt x="1351" y="560"/>
                        <a:pt x="1351" y="562"/>
                      </a:cubicBezTo>
                      <a:cubicBezTo>
                        <a:pt x="1351" y="564"/>
                        <a:pt x="1359" y="611"/>
                        <a:pt x="1362" y="651"/>
                      </a:cubicBezTo>
                      <a:cubicBezTo>
                        <a:pt x="1362" y="664"/>
                        <a:pt x="1362" y="664"/>
                        <a:pt x="1362" y="664"/>
                      </a:cubicBezTo>
                      <a:cubicBezTo>
                        <a:pt x="1262" y="724"/>
                        <a:pt x="1262" y="724"/>
                        <a:pt x="1262" y="724"/>
                      </a:cubicBezTo>
                      <a:cubicBezTo>
                        <a:pt x="1259" y="762"/>
                        <a:pt x="1252" y="800"/>
                        <a:pt x="1241" y="837"/>
                      </a:cubicBezTo>
                      <a:cubicBezTo>
                        <a:pt x="1316" y="928"/>
                        <a:pt x="1316" y="928"/>
                        <a:pt x="1316" y="928"/>
                      </a:cubicBezTo>
                      <a:cubicBezTo>
                        <a:pt x="1310" y="940"/>
                        <a:pt x="1310" y="940"/>
                        <a:pt x="1310" y="940"/>
                      </a:cubicBezTo>
                      <a:cubicBezTo>
                        <a:pt x="1294" y="978"/>
                        <a:pt x="1271" y="1019"/>
                        <a:pt x="1270" y="1020"/>
                      </a:cubicBezTo>
                      <a:cubicBezTo>
                        <a:pt x="1269" y="1022"/>
                        <a:pt x="1245" y="1063"/>
                        <a:pt x="1221" y="1095"/>
                      </a:cubicBezTo>
                      <a:cubicBezTo>
                        <a:pt x="1213" y="1106"/>
                        <a:pt x="1213" y="1106"/>
                        <a:pt x="1213" y="1106"/>
                      </a:cubicBezTo>
                      <a:cubicBezTo>
                        <a:pt x="1087" y="1085"/>
                        <a:pt x="1087" y="1085"/>
                        <a:pt x="1087" y="1085"/>
                      </a:cubicBezTo>
                      <a:cubicBezTo>
                        <a:pt x="1063" y="1108"/>
                        <a:pt x="1037" y="1128"/>
                        <a:pt x="1009" y="1147"/>
                      </a:cubicBezTo>
                      <a:cubicBezTo>
                        <a:pt x="1008" y="1278"/>
                        <a:pt x="1008" y="1278"/>
                        <a:pt x="1008" y="1278"/>
                      </a:cubicBezTo>
                      <a:cubicBezTo>
                        <a:pt x="996" y="1284"/>
                        <a:pt x="996" y="1284"/>
                        <a:pt x="996" y="1284"/>
                      </a:cubicBezTo>
                      <a:cubicBezTo>
                        <a:pt x="959" y="1302"/>
                        <a:pt x="915" y="1319"/>
                        <a:pt x="913" y="1319"/>
                      </a:cubicBezTo>
                      <a:cubicBezTo>
                        <a:pt x="911" y="1320"/>
                        <a:pt x="867" y="1336"/>
                        <a:pt x="828" y="1345"/>
                      </a:cubicBezTo>
                      <a:lnTo>
                        <a:pt x="815" y="1348"/>
                      </a:lnTo>
                      <a:close/>
                      <a:moveTo>
                        <a:pt x="742" y="1197"/>
                      </a:moveTo>
                      <a:cubicBezTo>
                        <a:pt x="830" y="1299"/>
                        <a:pt x="830" y="1299"/>
                        <a:pt x="830" y="1299"/>
                      </a:cubicBezTo>
                      <a:cubicBezTo>
                        <a:pt x="864" y="1290"/>
                        <a:pt x="898" y="1278"/>
                        <a:pt x="898" y="1278"/>
                      </a:cubicBezTo>
                      <a:cubicBezTo>
                        <a:pt x="899" y="1278"/>
                        <a:pt x="933" y="1265"/>
                        <a:pt x="964" y="1251"/>
                      </a:cubicBezTo>
                      <a:cubicBezTo>
                        <a:pt x="965" y="1122"/>
                        <a:pt x="965" y="1122"/>
                        <a:pt x="965" y="1122"/>
                      </a:cubicBezTo>
                      <a:cubicBezTo>
                        <a:pt x="976" y="1116"/>
                        <a:pt x="976" y="1116"/>
                        <a:pt x="976" y="1116"/>
                      </a:cubicBezTo>
                      <a:cubicBezTo>
                        <a:pt x="1008" y="1096"/>
                        <a:pt x="1037" y="1072"/>
                        <a:pt x="1064" y="1046"/>
                      </a:cubicBezTo>
                      <a:cubicBezTo>
                        <a:pt x="1072" y="1038"/>
                        <a:pt x="1072" y="1038"/>
                        <a:pt x="1072" y="1038"/>
                      </a:cubicBezTo>
                      <a:cubicBezTo>
                        <a:pt x="1193" y="1058"/>
                        <a:pt x="1193" y="1058"/>
                        <a:pt x="1193" y="1058"/>
                      </a:cubicBezTo>
                      <a:cubicBezTo>
                        <a:pt x="1213" y="1030"/>
                        <a:pt x="1232" y="999"/>
                        <a:pt x="1232" y="998"/>
                      </a:cubicBezTo>
                      <a:cubicBezTo>
                        <a:pt x="1232" y="998"/>
                        <a:pt x="1250" y="967"/>
                        <a:pt x="1264" y="935"/>
                      </a:cubicBezTo>
                      <a:cubicBezTo>
                        <a:pt x="1192" y="847"/>
                        <a:pt x="1192" y="847"/>
                        <a:pt x="1192" y="847"/>
                      </a:cubicBezTo>
                      <a:cubicBezTo>
                        <a:pt x="1196" y="835"/>
                        <a:pt x="1196" y="835"/>
                        <a:pt x="1196" y="835"/>
                      </a:cubicBezTo>
                      <a:cubicBezTo>
                        <a:pt x="1209" y="795"/>
                        <a:pt x="1217" y="753"/>
                        <a:pt x="1219" y="710"/>
                      </a:cubicBezTo>
                      <a:cubicBezTo>
                        <a:pt x="1219" y="698"/>
                        <a:pt x="1219" y="698"/>
                        <a:pt x="1219" y="698"/>
                      </a:cubicBezTo>
                      <a:cubicBezTo>
                        <a:pt x="1317" y="640"/>
                        <a:pt x="1317" y="640"/>
                        <a:pt x="1317" y="640"/>
                      </a:cubicBezTo>
                      <a:cubicBezTo>
                        <a:pt x="1314" y="606"/>
                        <a:pt x="1308" y="570"/>
                        <a:pt x="1308" y="570"/>
                      </a:cubicBezTo>
                      <a:cubicBezTo>
                        <a:pt x="1307" y="569"/>
                        <a:pt x="1301" y="534"/>
                        <a:pt x="1292" y="501"/>
                      </a:cubicBezTo>
                      <a:cubicBezTo>
                        <a:pt x="1176" y="479"/>
                        <a:pt x="1176" y="479"/>
                        <a:pt x="1176" y="479"/>
                      </a:cubicBezTo>
                      <a:cubicBezTo>
                        <a:pt x="1171" y="469"/>
                        <a:pt x="1171" y="469"/>
                        <a:pt x="1171" y="469"/>
                      </a:cubicBezTo>
                      <a:cubicBezTo>
                        <a:pt x="1154" y="433"/>
                        <a:pt x="1133" y="400"/>
                        <a:pt x="1109" y="369"/>
                      </a:cubicBezTo>
                      <a:cubicBezTo>
                        <a:pt x="1101" y="359"/>
                        <a:pt x="1101" y="359"/>
                        <a:pt x="1101" y="359"/>
                      </a:cubicBezTo>
                      <a:cubicBezTo>
                        <a:pt x="1142" y="241"/>
                        <a:pt x="1142" y="241"/>
                        <a:pt x="1142" y="241"/>
                      </a:cubicBezTo>
                      <a:cubicBezTo>
                        <a:pt x="1118" y="216"/>
                        <a:pt x="1090" y="193"/>
                        <a:pt x="1090" y="193"/>
                      </a:cubicBezTo>
                      <a:cubicBezTo>
                        <a:pt x="1090" y="193"/>
                        <a:pt x="1062" y="169"/>
                        <a:pt x="1034" y="150"/>
                      </a:cubicBezTo>
                      <a:cubicBezTo>
                        <a:pt x="915" y="217"/>
                        <a:pt x="915" y="217"/>
                        <a:pt x="915" y="217"/>
                      </a:cubicBezTo>
                      <a:cubicBezTo>
                        <a:pt x="905" y="212"/>
                        <a:pt x="905" y="212"/>
                        <a:pt x="905" y="212"/>
                      </a:cubicBezTo>
                      <a:cubicBezTo>
                        <a:pt x="875" y="199"/>
                        <a:pt x="845" y="189"/>
                        <a:pt x="813" y="182"/>
                      </a:cubicBezTo>
                      <a:cubicBezTo>
                        <a:pt x="802" y="179"/>
                        <a:pt x="802" y="179"/>
                        <a:pt x="802" y="179"/>
                      </a:cubicBezTo>
                      <a:cubicBezTo>
                        <a:pt x="752" y="47"/>
                        <a:pt x="752" y="47"/>
                        <a:pt x="752" y="47"/>
                      </a:cubicBezTo>
                      <a:cubicBezTo>
                        <a:pt x="718" y="44"/>
                        <a:pt x="682" y="44"/>
                        <a:pt x="681" y="44"/>
                      </a:cubicBezTo>
                      <a:cubicBezTo>
                        <a:pt x="681" y="44"/>
                        <a:pt x="645" y="44"/>
                        <a:pt x="610" y="47"/>
                      </a:cubicBezTo>
                      <a:cubicBezTo>
                        <a:pt x="561" y="179"/>
                        <a:pt x="561" y="179"/>
                        <a:pt x="561" y="179"/>
                      </a:cubicBezTo>
                      <a:cubicBezTo>
                        <a:pt x="549" y="182"/>
                        <a:pt x="549" y="182"/>
                        <a:pt x="549" y="182"/>
                      </a:cubicBezTo>
                      <a:cubicBezTo>
                        <a:pt x="518" y="189"/>
                        <a:pt x="488" y="199"/>
                        <a:pt x="458" y="212"/>
                      </a:cubicBezTo>
                      <a:cubicBezTo>
                        <a:pt x="448" y="217"/>
                        <a:pt x="448" y="217"/>
                        <a:pt x="448" y="217"/>
                      </a:cubicBezTo>
                      <a:cubicBezTo>
                        <a:pt x="329" y="149"/>
                        <a:pt x="329" y="149"/>
                        <a:pt x="329" y="149"/>
                      </a:cubicBezTo>
                      <a:cubicBezTo>
                        <a:pt x="300" y="169"/>
                        <a:pt x="273" y="192"/>
                        <a:pt x="272" y="192"/>
                      </a:cubicBezTo>
                      <a:cubicBezTo>
                        <a:pt x="272" y="193"/>
                        <a:pt x="244" y="216"/>
                        <a:pt x="220" y="241"/>
                      </a:cubicBezTo>
                      <a:cubicBezTo>
                        <a:pt x="262" y="359"/>
                        <a:pt x="262" y="359"/>
                        <a:pt x="262" y="359"/>
                      </a:cubicBezTo>
                      <a:cubicBezTo>
                        <a:pt x="254" y="369"/>
                        <a:pt x="254" y="369"/>
                        <a:pt x="254" y="369"/>
                      </a:cubicBezTo>
                      <a:cubicBezTo>
                        <a:pt x="229" y="399"/>
                        <a:pt x="209" y="433"/>
                        <a:pt x="192" y="468"/>
                      </a:cubicBezTo>
                      <a:cubicBezTo>
                        <a:pt x="187" y="478"/>
                        <a:pt x="187" y="478"/>
                        <a:pt x="187" y="478"/>
                      </a:cubicBezTo>
                      <a:cubicBezTo>
                        <a:pt x="70" y="500"/>
                        <a:pt x="70" y="500"/>
                        <a:pt x="70" y="500"/>
                      </a:cubicBezTo>
                      <a:cubicBezTo>
                        <a:pt x="61" y="533"/>
                        <a:pt x="55" y="569"/>
                        <a:pt x="55" y="569"/>
                      </a:cubicBezTo>
                      <a:cubicBezTo>
                        <a:pt x="55" y="570"/>
                        <a:pt x="48" y="605"/>
                        <a:pt x="45" y="640"/>
                      </a:cubicBezTo>
                      <a:cubicBezTo>
                        <a:pt x="143" y="698"/>
                        <a:pt x="143" y="698"/>
                        <a:pt x="143" y="698"/>
                      </a:cubicBezTo>
                      <a:cubicBezTo>
                        <a:pt x="144" y="709"/>
                        <a:pt x="144" y="709"/>
                        <a:pt x="144" y="709"/>
                      </a:cubicBezTo>
                      <a:cubicBezTo>
                        <a:pt x="146" y="752"/>
                        <a:pt x="154" y="794"/>
                        <a:pt x="167" y="834"/>
                      </a:cubicBezTo>
                      <a:cubicBezTo>
                        <a:pt x="170" y="846"/>
                        <a:pt x="170" y="846"/>
                        <a:pt x="170" y="846"/>
                      </a:cubicBezTo>
                      <a:cubicBezTo>
                        <a:pt x="97" y="935"/>
                        <a:pt x="97" y="935"/>
                        <a:pt x="97" y="935"/>
                      </a:cubicBezTo>
                      <a:cubicBezTo>
                        <a:pt x="112" y="966"/>
                        <a:pt x="130" y="997"/>
                        <a:pt x="130" y="998"/>
                      </a:cubicBezTo>
                      <a:cubicBezTo>
                        <a:pt x="130" y="998"/>
                        <a:pt x="148" y="1029"/>
                        <a:pt x="168" y="1058"/>
                      </a:cubicBezTo>
                      <a:cubicBezTo>
                        <a:pt x="290" y="1038"/>
                        <a:pt x="290" y="1038"/>
                        <a:pt x="290" y="1038"/>
                      </a:cubicBezTo>
                      <a:cubicBezTo>
                        <a:pt x="298" y="1045"/>
                        <a:pt x="298" y="1045"/>
                        <a:pt x="298" y="1045"/>
                      </a:cubicBezTo>
                      <a:cubicBezTo>
                        <a:pt x="324" y="1072"/>
                        <a:pt x="354" y="1095"/>
                        <a:pt x="386" y="1115"/>
                      </a:cubicBezTo>
                      <a:cubicBezTo>
                        <a:pt x="396" y="1121"/>
                        <a:pt x="396" y="1121"/>
                        <a:pt x="396" y="1121"/>
                      </a:cubicBezTo>
                      <a:cubicBezTo>
                        <a:pt x="397" y="1250"/>
                        <a:pt x="397" y="1250"/>
                        <a:pt x="397" y="1250"/>
                      </a:cubicBezTo>
                      <a:cubicBezTo>
                        <a:pt x="429" y="1265"/>
                        <a:pt x="463" y="1278"/>
                        <a:pt x="463" y="1278"/>
                      </a:cubicBezTo>
                      <a:cubicBezTo>
                        <a:pt x="463" y="1278"/>
                        <a:pt x="498" y="1290"/>
                        <a:pt x="531" y="1299"/>
                      </a:cubicBezTo>
                      <a:cubicBezTo>
                        <a:pt x="619" y="1197"/>
                        <a:pt x="619" y="1197"/>
                        <a:pt x="619" y="1197"/>
                      </a:cubicBezTo>
                      <a:cubicBezTo>
                        <a:pt x="630" y="1198"/>
                        <a:pt x="630" y="1198"/>
                        <a:pt x="630" y="1198"/>
                      </a:cubicBezTo>
                      <a:cubicBezTo>
                        <a:pt x="647" y="1199"/>
                        <a:pt x="665" y="1200"/>
                        <a:pt x="681" y="1200"/>
                      </a:cubicBezTo>
                      <a:cubicBezTo>
                        <a:pt x="698" y="1200"/>
                        <a:pt x="714" y="1199"/>
                        <a:pt x="731" y="1198"/>
                      </a:cubicBezTo>
                      <a:lnTo>
                        <a:pt x="742" y="1197"/>
                      </a:lnTo>
                      <a:close/>
                      <a:moveTo>
                        <a:pt x="681" y="1108"/>
                      </a:moveTo>
                      <a:cubicBezTo>
                        <a:pt x="447" y="1108"/>
                        <a:pt x="256" y="917"/>
                        <a:pt x="256" y="683"/>
                      </a:cubicBezTo>
                      <a:cubicBezTo>
                        <a:pt x="256" y="448"/>
                        <a:pt x="447" y="257"/>
                        <a:pt x="681" y="257"/>
                      </a:cubicBezTo>
                      <a:cubicBezTo>
                        <a:pt x="916" y="257"/>
                        <a:pt x="1107" y="448"/>
                        <a:pt x="1107" y="683"/>
                      </a:cubicBezTo>
                      <a:cubicBezTo>
                        <a:pt x="1107" y="917"/>
                        <a:pt x="916" y="1108"/>
                        <a:pt x="681" y="1108"/>
                      </a:cubicBezTo>
                      <a:close/>
                      <a:moveTo>
                        <a:pt x="681" y="301"/>
                      </a:moveTo>
                      <a:cubicBezTo>
                        <a:pt x="471" y="301"/>
                        <a:pt x="300" y="473"/>
                        <a:pt x="300" y="683"/>
                      </a:cubicBezTo>
                      <a:cubicBezTo>
                        <a:pt x="300" y="893"/>
                        <a:pt x="471" y="1064"/>
                        <a:pt x="681" y="1064"/>
                      </a:cubicBezTo>
                      <a:cubicBezTo>
                        <a:pt x="892" y="1064"/>
                        <a:pt x="1063" y="893"/>
                        <a:pt x="1063" y="683"/>
                      </a:cubicBezTo>
                      <a:cubicBezTo>
                        <a:pt x="1063" y="473"/>
                        <a:pt x="892" y="301"/>
                        <a:pt x="681" y="30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grpSp>
      </p:grpSp>
      <p:grpSp>
        <p:nvGrpSpPr>
          <p:cNvPr id="93" name="Group 92">
            <a:extLst>
              <a:ext uri="{FF2B5EF4-FFF2-40B4-BE49-F238E27FC236}">
                <a16:creationId xmlns:a16="http://schemas.microsoft.com/office/drawing/2014/main" id="{5F6FCDC2-5412-9DC5-E307-2BA6166AB41F}"/>
              </a:ext>
            </a:extLst>
          </p:cNvPr>
          <p:cNvGrpSpPr/>
          <p:nvPr/>
        </p:nvGrpSpPr>
        <p:grpSpPr>
          <a:xfrm>
            <a:off x="3681556" y="1569605"/>
            <a:ext cx="720000" cy="720000"/>
            <a:chOff x="1890463" y="1589321"/>
            <a:chExt cx="720000" cy="720000"/>
          </a:xfrm>
        </p:grpSpPr>
        <p:sp>
          <p:nvSpPr>
            <p:cNvPr id="96" name="Oval 95">
              <a:extLst>
                <a:ext uri="{FF2B5EF4-FFF2-40B4-BE49-F238E27FC236}">
                  <a16:creationId xmlns:a16="http://schemas.microsoft.com/office/drawing/2014/main" id="{98AB0807-6E2B-C4AA-1491-ED827F6145D1}"/>
                </a:ext>
              </a:extLst>
            </p:cNvPr>
            <p:cNvSpPr/>
            <p:nvPr>
              <p:custDataLst>
                <p:tags r:id="rId8"/>
              </p:custDataLst>
            </p:nvPr>
          </p:nvSpPr>
          <p:spPr>
            <a:xfrm>
              <a:off x="1890463" y="1589321"/>
              <a:ext cx="720000" cy="720000"/>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lumMod val="50000"/>
                  </a:prstClr>
                </a:solidFill>
                <a:effectLst/>
                <a:uLnTx/>
                <a:uFillTx/>
                <a:latin typeface="Trebuchet MS"/>
                <a:ea typeface="+mn-ea"/>
                <a:cs typeface="+mn-cs"/>
              </a:endParaRPr>
            </a:p>
          </p:txBody>
        </p:sp>
        <p:grpSp>
          <p:nvGrpSpPr>
            <p:cNvPr id="97" name="Group 96">
              <a:extLst>
                <a:ext uri="{FF2B5EF4-FFF2-40B4-BE49-F238E27FC236}">
                  <a16:creationId xmlns:a16="http://schemas.microsoft.com/office/drawing/2014/main" id="{02C9DD06-554B-4228-405B-E6DA4538CF03}"/>
                </a:ext>
              </a:extLst>
            </p:cNvPr>
            <p:cNvGrpSpPr>
              <a:grpSpLocks noChangeAspect="1"/>
            </p:cNvGrpSpPr>
            <p:nvPr/>
          </p:nvGrpSpPr>
          <p:grpSpPr>
            <a:xfrm>
              <a:off x="1972284" y="1651534"/>
              <a:ext cx="585040" cy="584476"/>
              <a:chOff x="5273675" y="2606675"/>
              <a:chExt cx="1646238" cy="1644650"/>
            </a:xfrm>
          </p:grpSpPr>
          <p:sp>
            <p:nvSpPr>
              <p:cNvPr id="98" name="AutoShape 3">
                <a:extLst>
                  <a:ext uri="{FF2B5EF4-FFF2-40B4-BE49-F238E27FC236}">
                    <a16:creationId xmlns:a16="http://schemas.microsoft.com/office/drawing/2014/main" id="{4ABB5DC8-2DAF-4532-B70F-1B984A51281A}"/>
                  </a:ext>
                </a:extLst>
              </p:cNvPr>
              <p:cNvSpPr>
                <a:spLocks noChangeAspect="1" noChangeArrowheads="1" noTextEdit="1"/>
              </p:cNvSpPr>
              <p:nvPr/>
            </p:nvSpPr>
            <p:spPr bwMode="auto">
              <a:xfrm>
                <a:off x="5273675"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nvGrpSpPr>
              <p:cNvPr id="99" name="Group 98">
                <a:extLst>
                  <a:ext uri="{FF2B5EF4-FFF2-40B4-BE49-F238E27FC236}">
                    <a16:creationId xmlns:a16="http://schemas.microsoft.com/office/drawing/2014/main" id="{14B2120F-043E-94C0-2DE5-F257C2A5BBAB}"/>
                  </a:ext>
                </a:extLst>
              </p:cNvPr>
              <p:cNvGrpSpPr/>
              <p:nvPr/>
            </p:nvGrpSpPr>
            <p:grpSpPr>
              <a:xfrm>
                <a:off x="5403692" y="2736691"/>
                <a:ext cx="1386206" cy="1386047"/>
                <a:chOff x="5403692" y="2736691"/>
                <a:chExt cx="1386206" cy="1386047"/>
              </a:xfrm>
            </p:grpSpPr>
            <p:sp>
              <p:nvSpPr>
                <p:cNvPr id="100" name="Freeform 99">
                  <a:extLst>
                    <a:ext uri="{FF2B5EF4-FFF2-40B4-BE49-F238E27FC236}">
                      <a16:creationId xmlns:a16="http://schemas.microsoft.com/office/drawing/2014/main" id="{F39CDFCE-E419-A4B8-D19F-A86FDB052002}"/>
                    </a:ext>
                  </a:extLst>
                </p:cNvPr>
                <p:cNvSpPr>
                  <a:spLocks/>
                </p:cNvSpPr>
                <p:nvPr/>
              </p:nvSpPr>
              <p:spPr bwMode="auto">
                <a:xfrm>
                  <a:off x="5559425" y="2892424"/>
                  <a:ext cx="1076325" cy="1074738"/>
                </a:xfrm>
                <a:custGeom>
                  <a:avLst/>
                  <a:gdLst>
                    <a:gd name="connsiteX0" fmla="*/ 172708 w 1076325"/>
                    <a:gd name="connsiteY0" fmla="*/ 952336 h 1074738"/>
                    <a:gd name="connsiteX1" fmla="*/ 183563 w 1076325"/>
                    <a:gd name="connsiteY1" fmla="*/ 956606 h 1074738"/>
                    <a:gd name="connsiteX2" fmla="*/ 260350 w 1076325"/>
                    <a:gd name="connsiteY2" fmla="*/ 1032751 h 1074738"/>
                    <a:gd name="connsiteX3" fmla="*/ 258197 w 1076325"/>
                    <a:gd name="connsiteY3" fmla="*/ 1074738 h 1074738"/>
                    <a:gd name="connsiteX4" fmla="*/ 161316 w 1076325"/>
                    <a:gd name="connsiteY4" fmla="*/ 978667 h 1074738"/>
                    <a:gd name="connsiteX5" fmla="*/ 161316 w 1076325"/>
                    <a:gd name="connsiteY5" fmla="*/ 956606 h 1074738"/>
                    <a:gd name="connsiteX6" fmla="*/ 172708 w 1076325"/>
                    <a:gd name="connsiteY6" fmla="*/ 952336 h 1074738"/>
                    <a:gd name="connsiteX7" fmla="*/ 255786 w 1076325"/>
                    <a:gd name="connsiteY7" fmla="*/ 872972 h 1074738"/>
                    <a:gd name="connsiteX8" fmla="*/ 258763 w 1076325"/>
                    <a:gd name="connsiteY8" fmla="*/ 915988 h 1074738"/>
                    <a:gd name="connsiteX9" fmla="*/ 241647 w 1076325"/>
                    <a:gd name="connsiteY9" fmla="*/ 899499 h 1074738"/>
                    <a:gd name="connsiteX10" fmla="*/ 241647 w 1076325"/>
                    <a:gd name="connsiteY10" fmla="*/ 877274 h 1074738"/>
                    <a:gd name="connsiteX11" fmla="*/ 255786 w 1076325"/>
                    <a:gd name="connsiteY11" fmla="*/ 872972 h 1074738"/>
                    <a:gd name="connsiteX12" fmla="*/ 158750 w 1076325"/>
                    <a:gd name="connsiteY12" fmla="*/ 817563 h 1074738"/>
                    <a:gd name="connsiteX13" fmla="*/ 201766 w 1076325"/>
                    <a:gd name="connsiteY13" fmla="*/ 820315 h 1074738"/>
                    <a:gd name="connsiteX14" fmla="*/ 197464 w 1076325"/>
                    <a:gd name="connsiteY14" fmla="*/ 833386 h 1074738"/>
                    <a:gd name="connsiteX15" fmla="*/ 186710 w 1076325"/>
                    <a:gd name="connsiteY15" fmla="*/ 838201 h 1074738"/>
                    <a:gd name="connsiteX16" fmla="*/ 175239 w 1076325"/>
                    <a:gd name="connsiteY16" fmla="*/ 833386 h 1074738"/>
                    <a:gd name="connsiteX17" fmla="*/ 41986 w 1076325"/>
                    <a:gd name="connsiteY17" fmla="*/ 814388 h 1074738"/>
                    <a:gd name="connsiteX18" fmla="*/ 118132 w 1076325"/>
                    <a:gd name="connsiteY18" fmla="*/ 891063 h 1074738"/>
                    <a:gd name="connsiteX19" fmla="*/ 118132 w 1076325"/>
                    <a:gd name="connsiteY19" fmla="*/ 913277 h 1074738"/>
                    <a:gd name="connsiteX20" fmla="*/ 106745 w 1076325"/>
                    <a:gd name="connsiteY20" fmla="*/ 917576 h 1074738"/>
                    <a:gd name="connsiteX21" fmla="*/ 96071 w 1076325"/>
                    <a:gd name="connsiteY21" fmla="*/ 913277 h 1074738"/>
                    <a:gd name="connsiteX22" fmla="*/ 0 w 1076325"/>
                    <a:gd name="connsiteY22" fmla="*/ 816538 h 1074738"/>
                    <a:gd name="connsiteX23" fmla="*/ 41986 w 1076325"/>
                    <a:gd name="connsiteY23" fmla="*/ 814388 h 1074738"/>
                    <a:gd name="connsiteX24" fmla="*/ 412161 w 1076325"/>
                    <a:gd name="connsiteY24" fmla="*/ 712807 h 1074738"/>
                    <a:gd name="connsiteX25" fmla="*/ 423409 w 1076325"/>
                    <a:gd name="connsiteY25" fmla="*/ 717630 h 1074738"/>
                    <a:gd name="connsiteX26" fmla="*/ 444501 w 1076325"/>
                    <a:gd name="connsiteY26" fmla="*/ 739775 h 1074738"/>
                    <a:gd name="connsiteX27" fmla="*/ 399506 w 1076325"/>
                    <a:gd name="connsiteY27" fmla="*/ 737632 h 1074738"/>
                    <a:gd name="connsiteX28" fmla="*/ 400912 w 1076325"/>
                    <a:gd name="connsiteY28" fmla="*/ 717630 h 1074738"/>
                    <a:gd name="connsiteX29" fmla="*/ 412161 w 1076325"/>
                    <a:gd name="connsiteY29" fmla="*/ 712807 h 1074738"/>
                    <a:gd name="connsiteX30" fmla="*/ 490406 w 1076325"/>
                    <a:gd name="connsiteY30" fmla="*/ 633434 h 1074738"/>
                    <a:gd name="connsiteX31" fmla="*/ 501809 w 1076325"/>
                    <a:gd name="connsiteY31" fmla="*/ 638259 h 1074738"/>
                    <a:gd name="connsiteX32" fmla="*/ 601663 w 1076325"/>
                    <a:gd name="connsiteY32" fmla="*/ 736916 h 1074738"/>
                    <a:gd name="connsiteX33" fmla="*/ 559997 w 1076325"/>
                    <a:gd name="connsiteY33" fmla="*/ 739775 h 1074738"/>
                    <a:gd name="connsiteX34" fmla="*/ 479540 w 1076325"/>
                    <a:gd name="connsiteY34" fmla="*/ 660421 h 1074738"/>
                    <a:gd name="connsiteX35" fmla="*/ 479540 w 1076325"/>
                    <a:gd name="connsiteY35" fmla="*/ 638259 h 1074738"/>
                    <a:gd name="connsiteX36" fmla="*/ 490406 w 1076325"/>
                    <a:gd name="connsiteY36" fmla="*/ 633434 h 1074738"/>
                    <a:gd name="connsiteX37" fmla="*/ 334963 w 1076325"/>
                    <a:gd name="connsiteY37" fmla="*/ 630238 h 1074738"/>
                    <a:gd name="connsiteX38" fmla="*/ 357108 w 1076325"/>
                    <a:gd name="connsiteY38" fmla="*/ 651950 h 1074738"/>
                    <a:gd name="connsiteX39" fmla="*/ 357108 w 1076325"/>
                    <a:gd name="connsiteY39" fmla="*/ 675109 h 1074738"/>
                    <a:gd name="connsiteX40" fmla="*/ 345678 w 1076325"/>
                    <a:gd name="connsiteY40" fmla="*/ 679451 h 1074738"/>
                    <a:gd name="connsiteX41" fmla="*/ 337106 w 1076325"/>
                    <a:gd name="connsiteY41" fmla="*/ 676556 h 1074738"/>
                    <a:gd name="connsiteX42" fmla="*/ 334963 w 1076325"/>
                    <a:gd name="connsiteY42" fmla="*/ 630238 h 1074738"/>
                    <a:gd name="connsiteX43" fmla="*/ 571127 w 1076325"/>
                    <a:gd name="connsiteY43" fmla="*/ 553882 h 1074738"/>
                    <a:gd name="connsiteX44" fmla="*/ 581954 w 1076325"/>
                    <a:gd name="connsiteY44" fmla="*/ 558176 h 1074738"/>
                    <a:gd name="connsiteX45" fmla="*/ 714376 w 1076325"/>
                    <a:gd name="connsiteY45" fmla="*/ 690598 h 1074738"/>
                    <a:gd name="connsiteX46" fmla="*/ 705070 w 1076325"/>
                    <a:gd name="connsiteY46" fmla="*/ 703483 h 1074738"/>
                    <a:gd name="connsiteX47" fmla="*/ 692186 w 1076325"/>
                    <a:gd name="connsiteY47" fmla="*/ 712788 h 1074738"/>
                    <a:gd name="connsiteX48" fmla="*/ 559764 w 1076325"/>
                    <a:gd name="connsiteY48" fmla="*/ 580366 h 1074738"/>
                    <a:gd name="connsiteX49" fmla="*/ 559764 w 1076325"/>
                    <a:gd name="connsiteY49" fmla="*/ 558176 h 1074738"/>
                    <a:gd name="connsiteX50" fmla="*/ 571127 w 1076325"/>
                    <a:gd name="connsiteY50" fmla="*/ 553882 h 1074738"/>
                    <a:gd name="connsiteX51" fmla="*/ 650660 w 1076325"/>
                    <a:gd name="connsiteY51" fmla="*/ 474672 h 1074738"/>
                    <a:gd name="connsiteX52" fmla="*/ 662009 w 1076325"/>
                    <a:gd name="connsiteY52" fmla="*/ 479461 h 1074738"/>
                    <a:gd name="connsiteX53" fmla="*/ 741363 w 1076325"/>
                    <a:gd name="connsiteY53" fmla="*/ 558924 h 1074738"/>
                    <a:gd name="connsiteX54" fmla="*/ 738503 w 1076325"/>
                    <a:gd name="connsiteY54" fmla="*/ 600075 h 1074738"/>
                    <a:gd name="connsiteX55" fmla="*/ 639847 w 1076325"/>
                    <a:gd name="connsiteY55" fmla="*/ 501455 h 1074738"/>
                    <a:gd name="connsiteX56" fmla="*/ 639847 w 1076325"/>
                    <a:gd name="connsiteY56" fmla="*/ 479461 h 1074738"/>
                    <a:gd name="connsiteX57" fmla="*/ 650660 w 1076325"/>
                    <a:gd name="connsiteY57" fmla="*/ 474672 h 1074738"/>
                    <a:gd name="connsiteX58" fmla="*/ 337822 w 1076325"/>
                    <a:gd name="connsiteY58" fmla="*/ 473075 h 1074738"/>
                    <a:gd name="connsiteX59" fmla="*/ 436479 w 1076325"/>
                    <a:gd name="connsiteY59" fmla="*/ 572810 h 1074738"/>
                    <a:gd name="connsiteX60" fmla="*/ 436479 w 1076325"/>
                    <a:gd name="connsiteY60" fmla="*/ 595053 h 1074738"/>
                    <a:gd name="connsiteX61" fmla="*/ 425755 w 1076325"/>
                    <a:gd name="connsiteY61" fmla="*/ 600075 h 1074738"/>
                    <a:gd name="connsiteX62" fmla="*/ 414317 w 1076325"/>
                    <a:gd name="connsiteY62" fmla="*/ 595053 h 1074738"/>
                    <a:gd name="connsiteX63" fmla="*/ 334963 w 1076325"/>
                    <a:gd name="connsiteY63" fmla="*/ 514691 h 1074738"/>
                    <a:gd name="connsiteX64" fmla="*/ 337822 w 1076325"/>
                    <a:gd name="connsiteY64" fmla="*/ 473075 h 1074738"/>
                    <a:gd name="connsiteX65" fmla="*/ 728951 w 1076325"/>
                    <a:gd name="connsiteY65" fmla="*/ 395242 h 1074738"/>
                    <a:gd name="connsiteX66" fmla="*/ 739220 w 1076325"/>
                    <a:gd name="connsiteY66" fmla="*/ 398054 h 1074738"/>
                    <a:gd name="connsiteX67" fmla="*/ 741363 w 1076325"/>
                    <a:gd name="connsiteY67" fmla="*/ 444500 h 1074738"/>
                    <a:gd name="connsiteX68" fmla="*/ 719217 w 1076325"/>
                    <a:gd name="connsiteY68" fmla="*/ 422729 h 1074738"/>
                    <a:gd name="connsiteX69" fmla="*/ 719217 w 1076325"/>
                    <a:gd name="connsiteY69" fmla="*/ 399506 h 1074738"/>
                    <a:gd name="connsiteX70" fmla="*/ 728951 w 1076325"/>
                    <a:gd name="connsiteY70" fmla="*/ 395242 h 1074738"/>
                    <a:gd name="connsiteX71" fmla="*/ 384139 w 1076325"/>
                    <a:gd name="connsiteY71" fmla="*/ 361950 h 1074738"/>
                    <a:gd name="connsiteX72" fmla="*/ 516561 w 1076325"/>
                    <a:gd name="connsiteY72" fmla="*/ 494242 h 1074738"/>
                    <a:gd name="connsiteX73" fmla="*/ 516561 w 1076325"/>
                    <a:gd name="connsiteY73" fmla="*/ 516410 h 1074738"/>
                    <a:gd name="connsiteX74" fmla="*/ 505109 w 1076325"/>
                    <a:gd name="connsiteY74" fmla="*/ 520700 h 1074738"/>
                    <a:gd name="connsiteX75" fmla="*/ 494372 w 1076325"/>
                    <a:gd name="connsiteY75" fmla="*/ 516410 h 1074738"/>
                    <a:gd name="connsiteX76" fmla="*/ 361950 w 1076325"/>
                    <a:gd name="connsiteY76" fmla="*/ 384118 h 1074738"/>
                    <a:gd name="connsiteX77" fmla="*/ 371255 w 1076325"/>
                    <a:gd name="connsiteY77" fmla="*/ 371246 h 1074738"/>
                    <a:gd name="connsiteX78" fmla="*/ 384139 w 1076325"/>
                    <a:gd name="connsiteY78" fmla="*/ 361950 h 1074738"/>
                    <a:gd name="connsiteX79" fmla="*/ 631825 w 1076325"/>
                    <a:gd name="connsiteY79" fmla="*/ 334963 h 1074738"/>
                    <a:gd name="connsiteX80" fmla="*/ 676819 w 1076325"/>
                    <a:gd name="connsiteY80" fmla="*/ 337023 h 1074738"/>
                    <a:gd name="connsiteX81" fmla="*/ 675413 w 1076325"/>
                    <a:gd name="connsiteY81" fmla="*/ 356244 h 1074738"/>
                    <a:gd name="connsiteX82" fmla="*/ 664165 w 1076325"/>
                    <a:gd name="connsiteY82" fmla="*/ 360363 h 1074738"/>
                    <a:gd name="connsiteX83" fmla="*/ 652916 w 1076325"/>
                    <a:gd name="connsiteY83" fmla="*/ 356244 h 1074738"/>
                    <a:gd name="connsiteX84" fmla="*/ 631825 w 1076325"/>
                    <a:gd name="connsiteY84" fmla="*/ 334963 h 1074738"/>
                    <a:gd name="connsiteX85" fmla="*/ 515814 w 1076325"/>
                    <a:gd name="connsiteY85" fmla="*/ 334963 h 1074738"/>
                    <a:gd name="connsiteX86" fmla="*/ 595277 w 1076325"/>
                    <a:gd name="connsiteY86" fmla="*/ 414200 h 1074738"/>
                    <a:gd name="connsiteX87" fmla="*/ 595277 w 1076325"/>
                    <a:gd name="connsiteY87" fmla="*/ 436329 h 1074738"/>
                    <a:gd name="connsiteX88" fmla="*/ 584635 w 1076325"/>
                    <a:gd name="connsiteY88" fmla="*/ 441326 h 1074738"/>
                    <a:gd name="connsiteX89" fmla="*/ 573283 w 1076325"/>
                    <a:gd name="connsiteY89" fmla="*/ 436329 h 1074738"/>
                    <a:gd name="connsiteX90" fmla="*/ 474663 w 1076325"/>
                    <a:gd name="connsiteY90" fmla="*/ 337819 h 1074738"/>
                    <a:gd name="connsiteX91" fmla="*/ 515814 w 1076325"/>
                    <a:gd name="connsiteY91" fmla="*/ 334963 h 1074738"/>
                    <a:gd name="connsiteX92" fmla="*/ 889704 w 1076325"/>
                    <a:gd name="connsiteY92" fmla="*/ 236513 h 1074738"/>
                    <a:gd name="connsiteX93" fmla="*/ 901085 w 1076325"/>
                    <a:gd name="connsiteY93" fmla="*/ 241201 h 1074738"/>
                    <a:gd name="connsiteX94" fmla="*/ 917575 w 1076325"/>
                    <a:gd name="connsiteY94" fmla="*/ 257175 h 1074738"/>
                    <a:gd name="connsiteX95" fmla="*/ 874559 w 1076325"/>
                    <a:gd name="connsiteY95" fmla="*/ 254397 h 1074738"/>
                    <a:gd name="connsiteX96" fmla="*/ 878860 w 1076325"/>
                    <a:gd name="connsiteY96" fmla="*/ 241201 h 1074738"/>
                    <a:gd name="connsiteX97" fmla="*/ 889704 w 1076325"/>
                    <a:gd name="connsiteY97" fmla="*/ 236513 h 1074738"/>
                    <a:gd name="connsiteX98" fmla="*/ 817563 w 1076325"/>
                    <a:gd name="connsiteY98" fmla="*/ 158750 h 1074738"/>
                    <a:gd name="connsiteX99" fmla="*/ 834678 w 1076325"/>
                    <a:gd name="connsiteY99" fmla="*/ 175510 h 1074738"/>
                    <a:gd name="connsiteX100" fmla="*/ 834678 w 1076325"/>
                    <a:gd name="connsiteY100" fmla="*/ 198099 h 1074738"/>
                    <a:gd name="connsiteX101" fmla="*/ 823516 w 1076325"/>
                    <a:gd name="connsiteY101" fmla="*/ 203200 h 1074738"/>
                    <a:gd name="connsiteX102" fmla="*/ 820539 w 1076325"/>
                    <a:gd name="connsiteY102" fmla="*/ 202471 h 1074738"/>
                    <a:gd name="connsiteX103" fmla="*/ 817563 w 1076325"/>
                    <a:gd name="connsiteY103" fmla="*/ 158750 h 1074738"/>
                    <a:gd name="connsiteX104" fmla="*/ 969491 w 1076325"/>
                    <a:gd name="connsiteY104" fmla="*/ 157010 h 1074738"/>
                    <a:gd name="connsiteX105" fmla="*/ 980254 w 1076325"/>
                    <a:gd name="connsiteY105" fmla="*/ 161316 h 1074738"/>
                    <a:gd name="connsiteX106" fmla="*/ 1076325 w 1076325"/>
                    <a:gd name="connsiteY106" fmla="*/ 258197 h 1074738"/>
                    <a:gd name="connsiteX107" fmla="*/ 1033627 w 1076325"/>
                    <a:gd name="connsiteY107" fmla="*/ 260350 h 1074738"/>
                    <a:gd name="connsiteX108" fmla="*/ 958193 w 1076325"/>
                    <a:gd name="connsiteY108" fmla="*/ 183563 h 1074738"/>
                    <a:gd name="connsiteX109" fmla="*/ 958193 w 1076325"/>
                    <a:gd name="connsiteY109" fmla="*/ 161316 h 1074738"/>
                    <a:gd name="connsiteX110" fmla="*/ 969491 w 1076325"/>
                    <a:gd name="connsiteY110" fmla="*/ 157010 h 1074738"/>
                    <a:gd name="connsiteX111" fmla="*/ 818128 w 1076325"/>
                    <a:gd name="connsiteY111" fmla="*/ 0 h 1074738"/>
                    <a:gd name="connsiteX112" fmla="*/ 915009 w 1076325"/>
                    <a:gd name="connsiteY112" fmla="*/ 95942 h 1074738"/>
                    <a:gd name="connsiteX113" fmla="*/ 915009 w 1076325"/>
                    <a:gd name="connsiteY113" fmla="*/ 117974 h 1074738"/>
                    <a:gd name="connsiteX114" fmla="*/ 903526 w 1076325"/>
                    <a:gd name="connsiteY114" fmla="*/ 122238 h 1074738"/>
                    <a:gd name="connsiteX115" fmla="*/ 892762 w 1076325"/>
                    <a:gd name="connsiteY115" fmla="*/ 117974 h 1074738"/>
                    <a:gd name="connsiteX116" fmla="*/ 815975 w 1076325"/>
                    <a:gd name="connsiteY116" fmla="*/ 41930 h 1074738"/>
                    <a:gd name="connsiteX117" fmla="*/ 818128 w 1076325"/>
                    <a:gd name="connsiteY117" fmla="*/ 0 h 1074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076325" h="1074738">
                      <a:moveTo>
                        <a:pt x="172708" y="952336"/>
                      </a:moveTo>
                      <a:cubicBezTo>
                        <a:pt x="176745" y="952336"/>
                        <a:pt x="180692" y="953760"/>
                        <a:pt x="183563" y="956606"/>
                      </a:cubicBezTo>
                      <a:cubicBezTo>
                        <a:pt x="183563" y="956606"/>
                        <a:pt x="183563" y="956606"/>
                        <a:pt x="260350" y="1032751"/>
                      </a:cubicBezTo>
                      <a:cubicBezTo>
                        <a:pt x="259632" y="1046984"/>
                        <a:pt x="258914" y="1061217"/>
                        <a:pt x="258197" y="1074738"/>
                      </a:cubicBezTo>
                      <a:cubicBezTo>
                        <a:pt x="258197" y="1074738"/>
                        <a:pt x="258197" y="1074738"/>
                        <a:pt x="161316" y="978667"/>
                      </a:cubicBezTo>
                      <a:cubicBezTo>
                        <a:pt x="155575" y="972974"/>
                        <a:pt x="155575" y="963011"/>
                        <a:pt x="161316" y="956606"/>
                      </a:cubicBezTo>
                      <a:cubicBezTo>
                        <a:pt x="164545" y="953760"/>
                        <a:pt x="168672" y="952336"/>
                        <a:pt x="172708" y="952336"/>
                      </a:cubicBezTo>
                      <a:close/>
                      <a:moveTo>
                        <a:pt x="255786" y="872972"/>
                      </a:moveTo>
                      <a:cubicBezTo>
                        <a:pt x="257274" y="887311"/>
                        <a:pt x="258019" y="901649"/>
                        <a:pt x="258763" y="915988"/>
                      </a:cubicBezTo>
                      <a:lnTo>
                        <a:pt x="241647" y="899499"/>
                      </a:lnTo>
                      <a:cubicBezTo>
                        <a:pt x="234950" y="893046"/>
                        <a:pt x="234950" y="883009"/>
                        <a:pt x="241647" y="877274"/>
                      </a:cubicBezTo>
                      <a:cubicBezTo>
                        <a:pt x="245368" y="872972"/>
                        <a:pt x="251321" y="871538"/>
                        <a:pt x="255786" y="872972"/>
                      </a:cubicBezTo>
                      <a:close/>
                      <a:moveTo>
                        <a:pt x="158750" y="817563"/>
                      </a:moveTo>
                      <a:cubicBezTo>
                        <a:pt x="173088" y="818251"/>
                        <a:pt x="187427" y="818939"/>
                        <a:pt x="201766" y="820315"/>
                      </a:cubicBezTo>
                      <a:cubicBezTo>
                        <a:pt x="203200" y="824442"/>
                        <a:pt x="201766" y="829946"/>
                        <a:pt x="197464" y="833386"/>
                      </a:cubicBezTo>
                      <a:cubicBezTo>
                        <a:pt x="194597" y="836825"/>
                        <a:pt x="190295" y="838201"/>
                        <a:pt x="186710" y="838201"/>
                      </a:cubicBezTo>
                      <a:cubicBezTo>
                        <a:pt x="182409" y="838201"/>
                        <a:pt x="178107" y="836825"/>
                        <a:pt x="175239" y="833386"/>
                      </a:cubicBezTo>
                      <a:close/>
                      <a:moveTo>
                        <a:pt x="41986" y="814388"/>
                      </a:moveTo>
                      <a:lnTo>
                        <a:pt x="118132" y="891063"/>
                      </a:lnTo>
                      <a:cubicBezTo>
                        <a:pt x="123825" y="896795"/>
                        <a:pt x="123825" y="906827"/>
                        <a:pt x="118132" y="913277"/>
                      </a:cubicBezTo>
                      <a:cubicBezTo>
                        <a:pt x="114573" y="916143"/>
                        <a:pt x="111015" y="917576"/>
                        <a:pt x="106745" y="917576"/>
                      </a:cubicBezTo>
                      <a:cubicBezTo>
                        <a:pt x="103187" y="917576"/>
                        <a:pt x="98917" y="916143"/>
                        <a:pt x="96071" y="913277"/>
                      </a:cubicBezTo>
                      <a:cubicBezTo>
                        <a:pt x="96071" y="913277"/>
                        <a:pt x="96071" y="913277"/>
                        <a:pt x="0" y="816538"/>
                      </a:cubicBezTo>
                      <a:cubicBezTo>
                        <a:pt x="13521" y="815821"/>
                        <a:pt x="27754" y="815105"/>
                        <a:pt x="41986" y="814388"/>
                      </a:cubicBezTo>
                      <a:close/>
                      <a:moveTo>
                        <a:pt x="412161" y="712807"/>
                      </a:moveTo>
                      <a:cubicBezTo>
                        <a:pt x="416203" y="712808"/>
                        <a:pt x="420246" y="714415"/>
                        <a:pt x="423409" y="717630"/>
                      </a:cubicBezTo>
                      <a:cubicBezTo>
                        <a:pt x="423409" y="717630"/>
                        <a:pt x="423409" y="717630"/>
                        <a:pt x="444501" y="739775"/>
                      </a:cubicBezTo>
                      <a:cubicBezTo>
                        <a:pt x="429737" y="739061"/>
                        <a:pt x="414270" y="738346"/>
                        <a:pt x="399506" y="737632"/>
                      </a:cubicBezTo>
                      <a:cubicBezTo>
                        <a:pt x="395288" y="731203"/>
                        <a:pt x="395991" y="723345"/>
                        <a:pt x="400912" y="717630"/>
                      </a:cubicBezTo>
                      <a:cubicBezTo>
                        <a:pt x="404076" y="714415"/>
                        <a:pt x="408118" y="712808"/>
                        <a:pt x="412161" y="712807"/>
                      </a:cubicBezTo>
                      <a:close/>
                      <a:moveTo>
                        <a:pt x="490406" y="633434"/>
                      </a:moveTo>
                      <a:cubicBezTo>
                        <a:pt x="494446" y="633434"/>
                        <a:pt x="498577" y="635042"/>
                        <a:pt x="501809" y="638259"/>
                      </a:cubicBezTo>
                      <a:cubicBezTo>
                        <a:pt x="501809" y="638259"/>
                        <a:pt x="501809" y="638259"/>
                        <a:pt x="601663" y="736916"/>
                      </a:cubicBezTo>
                      <a:cubicBezTo>
                        <a:pt x="588014" y="738345"/>
                        <a:pt x="574365" y="739775"/>
                        <a:pt x="559997" y="739775"/>
                      </a:cubicBezTo>
                      <a:cubicBezTo>
                        <a:pt x="559997" y="739775"/>
                        <a:pt x="559997" y="739775"/>
                        <a:pt x="479540" y="660421"/>
                      </a:cubicBezTo>
                      <a:cubicBezTo>
                        <a:pt x="473075" y="653987"/>
                        <a:pt x="473075" y="643978"/>
                        <a:pt x="479540" y="638259"/>
                      </a:cubicBezTo>
                      <a:cubicBezTo>
                        <a:pt x="482414" y="635042"/>
                        <a:pt x="486365" y="633434"/>
                        <a:pt x="490406" y="633434"/>
                      </a:cubicBezTo>
                      <a:close/>
                      <a:moveTo>
                        <a:pt x="334963" y="630238"/>
                      </a:moveTo>
                      <a:lnTo>
                        <a:pt x="357108" y="651950"/>
                      </a:lnTo>
                      <a:cubicBezTo>
                        <a:pt x="363538" y="658463"/>
                        <a:pt x="363538" y="668595"/>
                        <a:pt x="357108" y="675109"/>
                      </a:cubicBezTo>
                      <a:cubicBezTo>
                        <a:pt x="354251" y="678004"/>
                        <a:pt x="349965" y="679451"/>
                        <a:pt x="345678" y="679451"/>
                      </a:cubicBezTo>
                      <a:cubicBezTo>
                        <a:pt x="342821" y="679451"/>
                        <a:pt x="339963" y="678727"/>
                        <a:pt x="337106" y="676556"/>
                      </a:cubicBezTo>
                      <a:cubicBezTo>
                        <a:pt x="336392" y="661358"/>
                        <a:pt x="335677" y="645436"/>
                        <a:pt x="334963" y="630238"/>
                      </a:cubicBezTo>
                      <a:close/>
                      <a:moveTo>
                        <a:pt x="571127" y="553882"/>
                      </a:moveTo>
                      <a:cubicBezTo>
                        <a:pt x="575154" y="553882"/>
                        <a:pt x="579091" y="555313"/>
                        <a:pt x="581954" y="558176"/>
                      </a:cubicBezTo>
                      <a:cubicBezTo>
                        <a:pt x="581954" y="558176"/>
                        <a:pt x="581954" y="558176"/>
                        <a:pt x="714376" y="690598"/>
                      </a:cubicBezTo>
                      <a:cubicBezTo>
                        <a:pt x="711513" y="695609"/>
                        <a:pt x="708649" y="699904"/>
                        <a:pt x="705070" y="703483"/>
                      </a:cubicBezTo>
                      <a:cubicBezTo>
                        <a:pt x="701491" y="707062"/>
                        <a:pt x="697197" y="709925"/>
                        <a:pt x="692186" y="712788"/>
                      </a:cubicBezTo>
                      <a:cubicBezTo>
                        <a:pt x="692186" y="712788"/>
                        <a:pt x="692186" y="712788"/>
                        <a:pt x="559764" y="580366"/>
                      </a:cubicBezTo>
                      <a:cubicBezTo>
                        <a:pt x="554038" y="574640"/>
                        <a:pt x="554038" y="564619"/>
                        <a:pt x="559764" y="558176"/>
                      </a:cubicBezTo>
                      <a:cubicBezTo>
                        <a:pt x="562985" y="555313"/>
                        <a:pt x="567101" y="553882"/>
                        <a:pt x="571127" y="553882"/>
                      </a:cubicBezTo>
                      <a:close/>
                      <a:moveTo>
                        <a:pt x="650660" y="474672"/>
                      </a:moveTo>
                      <a:cubicBezTo>
                        <a:pt x="654681" y="474671"/>
                        <a:pt x="658792" y="476268"/>
                        <a:pt x="662009" y="479461"/>
                      </a:cubicBezTo>
                      <a:cubicBezTo>
                        <a:pt x="662009" y="479461"/>
                        <a:pt x="662009" y="479461"/>
                        <a:pt x="741363" y="558924"/>
                      </a:cubicBezTo>
                      <a:cubicBezTo>
                        <a:pt x="741363" y="573114"/>
                        <a:pt x="739933" y="586595"/>
                        <a:pt x="738503" y="600075"/>
                      </a:cubicBezTo>
                      <a:cubicBezTo>
                        <a:pt x="738503" y="600075"/>
                        <a:pt x="738503" y="600075"/>
                        <a:pt x="639847" y="501455"/>
                      </a:cubicBezTo>
                      <a:cubicBezTo>
                        <a:pt x="633413" y="495070"/>
                        <a:pt x="633413" y="485137"/>
                        <a:pt x="639847" y="479461"/>
                      </a:cubicBezTo>
                      <a:cubicBezTo>
                        <a:pt x="642707" y="476268"/>
                        <a:pt x="646639" y="474671"/>
                        <a:pt x="650660" y="474672"/>
                      </a:cubicBezTo>
                      <a:close/>
                      <a:moveTo>
                        <a:pt x="337822" y="473075"/>
                      </a:moveTo>
                      <a:cubicBezTo>
                        <a:pt x="337822" y="473075"/>
                        <a:pt x="337822" y="473075"/>
                        <a:pt x="436479" y="572810"/>
                      </a:cubicBezTo>
                      <a:cubicBezTo>
                        <a:pt x="442913" y="579267"/>
                        <a:pt x="442913" y="589312"/>
                        <a:pt x="436479" y="595053"/>
                      </a:cubicBezTo>
                      <a:cubicBezTo>
                        <a:pt x="433619" y="597923"/>
                        <a:pt x="429330" y="600075"/>
                        <a:pt x="425755" y="600075"/>
                      </a:cubicBezTo>
                      <a:cubicBezTo>
                        <a:pt x="421466" y="600075"/>
                        <a:pt x="417891" y="597923"/>
                        <a:pt x="414317" y="595053"/>
                      </a:cubicBezTo>
                      <a:cubicBezTo>
                        <a:pt x="414317" y="595053"/>
                        <a:pt x="414317" y="595053"/>
                        <a:pt x="334963" y="514691"/>
                      </a:cubicBezTo>
                      <a:cubicBezTo>
                        <a:pt x="334963" y="500341"/>
                        <a:pt x="336393" y="486708"/>
                        <a:pt x="337822" y="473075"/>
                      </a:cubicBezTo>
                      <a:close/>
                      <a:moveTo>
                        <a:pt x="728951" y="395242"/>
                      </a:moveTo>
                      <a:cubicBezTo>
                        <a:pt x="732433" y="394970"/>
                        <a:pt x="736005" y="395877"/>
                        <a:pt x="739220" y="398054"/>
                      </a:cubicBezTo>
                      <a:cubicBezTo>
                        <a:pt x="739934" y="413294"/>
                        <a:pt x="740648" y="429260"/>
                        <a:pt x="741363" y="444500"/>
                      </a:cubicBezTo>
                      <a:lnTo>
                        <a:pt x="719217" y="422729"/>
                      </a:lnTo>
                      <a:cubicBezTo>
                        <a:pt x="712788" y="416197"/>
                        <a:pt x="712788" y="406037"/>
                        <a:pt x="719217" y="399506"/>
                      </a:cubicBezTo>
                      <a:cubicBezTo>
                        <a:pt x="722075" y="396966"/>
                        <a:pt x="725468" y="395514"/>
                        <a:pt x="728951" y="395242"/>
                      </a:cubicBezTo>
                      <a:close/>
                      <a:moveTo>
                        <a:pt x="384139" y="361950"/>
                      </a:moveTo>
                      <a:cubicBezTo>
                        <a:pt x="384139" y="361950"/>
                        <a:pt x="384139" y="361950"/>
                        <a:pt x="516561" y="494242"/>
                      </a:cubicBezTo>
                      <a:cubicBezTo>
                        <a:pt x="522288" y="499963"/>
                        <a:pt x="522288" y="509974"/>
                        <a:pt x="516561" y="516410"/>
                      </a:cubicBezTo>
                      <a:cubicBezTo>
                        <a:pt x="512982" y="519270"/>
                        <a:pt x="509403" y="520700"/>
                        <a:pt x="505109" y="520700"/>
                      </a:cubicBezTo>
                      <a:cubicBezTo>
                        <a:pt x="501530" y="520700"/>
                        <a:pt x="497235" y="519270"/>
                        <a:pt x="494372" y="516410"/>
                      </a:cubicBezTo>
                      <a:cubicBezTo>
                        <a:pt x="494372" y="516410"/>
                        <a:pt x="494372" y="516410"/>
                        <a:pt x="361950" y="384118"/>
                      </a:cubicBezTo>
                      <a:cubicBezTo>
                        <a:pt x="364813" y="379112"/>
                        <a:pt x="367676" y="374822"/>
                        <a:pt x="371255" y="371246"/>
                      </a:cubicBezTo>
                      <a:cubicBezTo>
                        <a:pt x="374834" y="367671"/>
                        <a:pt x="379129" y="364810"/>
                        <a:pt x="384139" y="361950"/>
                      </a:cubicBezTo>
                      <a:close/>
                      <a:moveTo>
                        <a:pt x="631825" y="334963"/>
                      </a:moveTo>
                      <a:cubicBezTo>
                        <a:pt x="646589" y="335650"/>
                        <a:pt x="662056" y="336336"/>
                        <a:pt x="676819" y="337023"/>
                      </a:cubicBezTo>
                      <a:cubicBezTo>
                        <a:pt x="681038" y="343201"/>
                        <a:pt x="680335" y="350752"/>
                        <a:pt x="675413" y="356244"/>
                      </a:cubicBezTo>
                      <a:cubicBezTo>
                        <a:pt x="671898" y="358990"/>
                        <a:pt x="668383" y="360363"/>
                        <a:pt x="664165" y="360363"/>
                      </a:cubicBezTo>
                      <a:cubicBezTo>
                        <a:pt x="659946" y="360363"/>
                        <a:pt x="656431" y="358990"/>
                        <a:pt x="652916" y="356244"/>
                      </a:cubicBezTo>
                      <a:cubicBezTo>
                        <a:pt x="652916" y="356244"/>
                        <a:pt x="652916" y="356244"/>
                        <a:pt x="631825" y="334963"/>
                      </a:cubicBezTo>
                      <a:close/>
                      <a:moveTo>
                        <a:pt x="515814" y="334963"/>
                      </a:moveTo>
                      <a:cubicBezTo>
                        <a:pt x="515814" y="334963"/>
                        <a:pt x="515814" y="334963"/>
                        <a:pt x="595277" y="414200"/>
                      </a:cubicBezTo>
                      <a:cubicBezTo>
                        <a:pt x="601663" y="420625"/>
                        <a:pt x="601663" y="430618"/>
                        <a:pt x="595277" y="436329"/>
                      </a:cubicBezTo>
                      <a:cubicBezTo>
                        <a:pt x="592439" y="439898"/>
                        <a:pt x="588182" y="441326"/>
                        <a:pt x="584635" y="441326"/>
                      </a:cubicBezTo>
                      <a:cubicBezTo>
                        <a:pt x="580378" y="441326"/>
                        <a:pt x="576121" y="439898"/>
                        <a:pt x="573283" y="436329"/>
                      </a:cubicBezTo>
                      <a:cubicBezTo>
                        <a:pt x="573283" y="436329"/>
                        <a:pt x="573283" y="436329"/>
                        <a:pt x="474663" y="337819"/>
                      </a:cubicBezTo>
                      <a:cubicBezTo>
                        <a:pt x="488143" y="336391"/>
                        <a:pt x="501624" y="334963"/>
                        <a:pt x="515814" y="334963"/>
                      </a:cubicBezTo>
                      <a:close/>
                      <a:moveTo>
                        <a:pt x="889704" y="236513"/>
                      </a:moveTo>
                      <a:cubicBezTo>
                        <a:pt x="893737" y="236513"/>
                        <a:pt x="897859" y="238076"/>
                        <a:pt x="901085" y="241201"/>
                      </a:cubicBezTo>
                      <a:cubicBezTo>
                        <a:pt x="901085" y="241201"/>
                        <a:pt x="901085" y="241201"/>
                        <a:pt x="917575" y="257175"/>
                      </a:cubicBezTo>
                      <a:cubicBezTo>
                        <a:pt x="903236" y="256481"/>
                        <a:pt x="888897" y="255786"/>
                        <a:pt x="874559" y="254397"/>
                      </a:cubicBezTo>
                      <a:cubicBezTo>
                        <a:pt x="873125" y="250230"/>
                        <a:pt x="874559" y="244674"/>
                        <a:pt x="878860" y="241201"/>
                      </a:cubicBezTo>
                      <a:cubicBezTo>
                        <a:pt x="881728" y="238076"/>
                        <a:pt x="885671" y="236513"/>
                        <a:pt x="889704" y="236513"/>
                      </a:cubicBezTo>
                      <a:close/>
                      <a:moveTo>
                        <a:pt x="817563" y="158750"/>
                      </a:moveTo>
                      <a:lnTo>
                        <a:pt x="834678" y="175510"/>
                      </a:lnTo>
                      <a:cubicBezTo>
                        <a:pt x="841376" y="182068"/>
                        <a:pt x="841376" y="192270"/>
                        <a:pt x="834678" y="198099"/>
                      </a:cubicBezTo>
                      <a:cubicBezTo>
                        <a:pt x="831702" y="201014"/>
                        <a:pt x="827237" y="203200"/>
                        <a:pt x="823516" y="203200"/>
                      </a:cubicBezTo>
                      <a:cubicBezTo>
                        <a:pt x="822028" y="203200"/>
                        <a:pt x="821284" y="202471"/>
                        <a:pt x="820539" y="202471"/>
                      </a:cubicBezTo>
                      <a:cubicBezTo>
                        <a:pt x="819051" y="187898"/>
                        <a:pt x="818307" y="173324"/>
                        <a:pt x="817563" y="158750"/>
                      </a:cubicBezTo>
                      <a:close/>
                      <a:moveTo>
                        <a:pt x="969491" y="157010"/>
                      </a:moveTo>
                      <a:cubicBezTo>
                        <a:pt x="973494" y="157010"/>
                        <a:pt x="977408" y="158446"/>
                        <a:pt x="980254" y="161316"/>
                      </a:cubicBezTo>
                      <a:cubicBezTo>
                        <a:pt x="980254" y="161316"/>
                        <a:pt x="980254" y="161316"/>
                        <a:pt x="1076325" y="258197"/>
                      </a:cubicBezTo>
                      <a:cubicBezTo>
                        <a:pt x="1062804" y="258915"/>
                        <a:pt x="1048571" y="259632"/>
                        <a:pt x="1033627" y="260350"/>
                      </a:cubicBezTo>
                      <a:cubicBezTo>
                        <a:pt x="1033627" y="260350"/>
                        <a:pt x="1033627" y="260350"/>
                        <a:pt x="958193" y="183563"/>
                      </a:cubicBezTo>
                      <a:cubicBezTo>
                        <a:pt x="952500" y="177822"/>
                        <a:pt x="952500" y="167775"/>
                        <a:pt x="958193" y="161316"/>
                      </a:cubicBezTo>
                      <a:cubicBezTo>
                        <a:pt x="961396" y="158446"/>
                        <a:pt x="965488" y="157010"/>
                        <a:pt x="969491" y="157010"/>
                      </a:cubicBezTo>
                      <a:close/>
                      <a:moveTo>
                        <a:pt x="818128" y="0"/>
                      </a:moveTo>
                      <a:lnTo>
                        <a:pt x="915009" y="95942"/>
                      </a:lnTo>
                      <a:cubicBezTo>
                        <a:pt x="920750" y="101628"/>
                        <a:pt x="920750" y="111578"/>
                        <a:pt x="915009" y="117974"/>
                      </a:cubicBezTo>
                      <a:cubicBezTo>
                        <a:pt x="911420" y="120816"/>
                        <a:pt x="907832" y="122238"/>
                        <a:pt x="903526" y="122238"/>
                      </a:cubicBezTo>
                      <a:cubicBezTo>
                        <a:pt x="899938" y="122238"/>
                        <a:pt x="895632" y="120816"/>
                        <a:pt x="892762" y="117974"/>
                      </a:cubicBezTo>
                      <a:cubicBezTo>
                        <a:pt x="892762" y="117974"/>
                        <a:pt x="892762" y="117974"/>
                        <a:pt x="815975" y="41930"/>
                      </a:cubicBezTo>
                      <a:cubicBezTo>
                        <a:pt x="816692" y="27717"/>
                        <a:pt x="817410" y="13503"/>
                        <a:pt x="818128"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101" name="Freeform 100">
                  <a:extLst>
                    <a:ext uri="{FF2B5EF4-FFF2-40B4-BE49-F238E27FC236}">
                      <a16:creationId xmlns:a16="http://schemas.microsoft.com/office/drawing/2014/main" id="{EA281365-B8C8-7A21-EB7F-7F79AB60FC22}"/>
                    </a:ext>
                  </a:extLst>
                </p:cNvPr>
                <p:cNvSpPr>
                  <a:spLocks/>
                </p:cNvSpPr>
                <p:nvPr/>
              </p:nvSpPr>
              <p:spPr bwMode="auto">
                <a:xfrm>
                  <a:off x="5403692" y="2736691"/>
                  <a:ext cx="1386206" cy="1386047"/>
                </a:xfrm>
                <a:custGeom>
                  <a:avLst/>
                  <a:gdLst>
                    <a:gd name="connsiteX0" fmla="*/ 439725 w 1386206"/>
                    <a:gd name="connsiteY0" fmla="*/ 982822 h 1386047"/>
                    <a:gd name="connsiteX1" fmla="*/ 455316 w 1386206"/>
                    <a:gd name="connsiteY1" fmla="*/ 983538 h 1386047"/>
                    <a:gd name="connsiteX2" fmla="*/ 470908 w 1386206"/>
                    <a:gd name="connsiteY2" fmla="*/ 984971 h 1386047"/>
                    <a:gd name="connsiteX3" fmla="*/ 470908 w 1386206"/>
                    <a:gd name="connsiteY3" fmla="*/ 989268 h 1386047"/>
                    <a:gd name="connsiteX4" fmla="*/ 471616 w 1386206"/>
                    <a:gd name="connsiteY4" fmla="*/ 992133 h 1386047"/>
                    <a:gd name="connsiteX5" fmla="*/ 472325 w 1386206"/>
                    <a:gd name="connsiteY5" fmla="*/ 1006457 h 1386047"/>
                    <a:gd name="connsiteX6" fmla="*/ 472325 w 1386206"/>
                    <a:gd name="connsiteY6" fmla="*/ 1009322 h 1386047"/>
                    <a:gd name="connsiteX7" fmla="*/ 473034 w 1386206"/>
                    <a:gd name="connsiteY7" fmla="*/ 1022930 h 1386047"/>
                    <a:gd name="connsiteX8" fmla="*/ 473743 w 1386206"/>
                    <a:gd name="connsiteY8" fmla="*/ 1025795 h 1386047"/>
                    <a:gd name="connsiteX9" fmla="*/ 474451 w 1386206"/>
                    <a:gd name="connsiteY9" fmla="*/ 1040119 h 1386047"/>
                    <a:gd name="connsiteX10" fmla="*/ 474451 w 1386206"/>
                    <a:gd name="connsiteY10" fmla="*/ 1042267 h 1386047"/>
                    <a:gd name="connsiteX11" fmla="*/ 475160 w 1386206"/>
                    <a:gd name="connsiteY11" fmla="*/ 1056592 h 1386047"/>
                    <a:gd name="connsiteX12" fmla="*/ 475160 w 1386206"/>
                    <a:gd name="connsiteY12" fmla="*/ 1058740 h 1386047"/>
                    <a:gd name="connsiteX13" fmla="*/ 475869 w 1386206"/>
                    <a:gd name="connsiteY13" fmla="*/ 1073064 h 1386047"/>
                    <a:gd name="connsiteX14" fmla="*/ 475869 w 1386206"/>
                    <a:gd name="connsiteY14" fmla="*/ 1074497 h 1386047"/>
                    <a:gd name="connsiteX15" fmla="*/ 476577 w 1386206"/>
                    <a:gd name="connsiteY15" fmla="*/ 1089537 h 1386047"/>
                    <a:gd name="connsiteX16" fmla="*/ 477286 w 1386206"/>
                    <a:gd name="connsiteY16" fmla="*/ 1104577 h 1386047"/>
                    <a:gd name="connsiteX17" fmla="*/ 477286 w 1386206"/>
                    <a:gd name="connsiteY17" fmla="*/ 1105294 h 1386047"/>
                    <a:gd name="connsiteX18" fmla="*/ 477286 w 1386206"/>
                    <a:gd name="connsiteY18" fmla="*/ 1119618 h 1386047"/>
                    <a:gd name="connsiteX19" fmla="*/ 477995 w 1386206"/>
                    <a:gd name="connsiteY19" fmla="*/ 1121050 h 1386047"/>
                    <a:gd name="connsiteX20" fmla="*/ 477995 w 1386206"/>
                    <a:gd name="connsiteY20" fmla="*/ 1135374 h 1386047"/>
                    <a:gd name="connsiteX21" fmla="*/ 477995 w 1386206"/>
                    <a:gd name="connsiteY21" fmla="*/ 1136807 h 1386047"/>
                    <a:gd name="connsiteX22" fmla="*/ 477995 w 1386206"/>
                    <a:gd name="connsiteY22" fmla="*/ 1150415 h 1386047"/>
                    <a:gd name="connsiteX23" fmla="*/ 477995 w 1386206"/>
                    <a:gd name="connsiteY23" fmla="*/ 1151847 h 1386047"/>
                    <a:gd name="connsiteX24" fmla="*/ 477995 w 1386206"/>
                    <a:gd name="connsiteY24" fmla="*/ 1165455 h 1386047"/>
                    <a:gd name="connsiteX25" fmla="*/ 477995 w 1386206"/>
                    <a:gd name="connsiteY25" fmla="*/ 1166888 h 1386047"/>
                    <a:gd name="connsiteX26" fmla="*/ 477995 w 1386206"/>
                    <a:gd name="connsiteY26" fmla="*/ 1179779 h 1386047"/>
                    <a:gd name="connsiteX27" fmla="*/ 477995 w 1386206"/>
                    <a:gd name="connsiteY27" fmla="*/ 1181928 h 1386047"/>
                    <a:gd name="connsiteX28" fmla="*/ 477995 w 1386206"/>
                    <a:gd name="connsiteY28" fmla="*/ 1194103 h 1386047"/>
                    <a:gd name="connsiteX29" fmla="*/ 477286 w 1386206"/>
                    <a:gd name="connsiteY29" fmla="*/ 1195536 h 1386047"/>
                    <a:gd name="connsiteX30" fmla="*/ 477286 w 1386206"/>
                    <a:gd name="connsiteY30" fmla="*/ 1208428 h 1386047"/>
                    <a:gd name="connsiteX31" fmla="*/ 477286 w 1386206"/>
                    <a:gd name="connsiteY31" fmla="*/ 1209860 h 1386047"/>
                    <a:gd name="connsiteX32" fmla="*/ 476577 w 1386206"/>
                    <a:gd name="connsiteY32" fmla="*/ 1222036 h 1386047"/>
                    <a:gd name="connsiteX33" fmla="*/ 476577 w 1386206"/>
                    <a:gd name="connsiteY33" fmla="*/ 1222752 h 1386047"/>
                    <a:gd name="connsiteX34" fmla="*/ 475160 w 1386206"/>
                    <a:gd name="connsiteY34" fmla="*/ 1234927 h 1386047"/>
                    <a:gd name="connsiteX35" fmla="*/ 475160 w 1386206"/>
                    <a:gd name="connsiteY35" fmla="*/ 1235643 h 1386047"/>
                    <a:gd name="connsiteX36" fmla="*/ 474451 w 1386206"/>
                    <a:gd name="connsiteY36" fmla="*/ 1247819 h 1386047"/>
                    <a:gd name="connsiteX37" fmla="*/ 473743 w 1386206"/>
                    <a:gd name="connsiteY37" fmla="*/ 1249251 h 1386047"/>
                    <a:gd name="connsiteX38" fmla="*/ 473034 w 1386206"/>
                    <a:gd name="connsiteY38" fmla="*/ 1259995 h 1386047"/>
                    <a:gd name="connsiteX39" fmla="*/ 472325 w 1386206"/>
                    <a:gd name="connsiteY39" fmla="*/ 1261427 h 1386047"/>
                    <a:gd name="connsiteX40" fmla="*/ 470908 w 1386206"/>
                    <a:gd name="connsiteY40" fmla="*/ 1272170 h 1386047"/>
                    <a:gd name="connsiteX41" fmla="*/ 470908 w 1386206"/>
                    <a:gd name="connsiteY41" fmla="*/ 1274319 h 1386047"/>
                    <a:gd name="connsiteX42" fmla="*/ 468782 w 1386206"/>
                    <a:gd name="connsiteY42" fmla="*/ 1284346 h 1386047"/>
                    <a:gd name="connsiteX43" fmla="*/ 468782 w 1386206"/>
                    <a:gd name="connsiteY43" fmla="*/ 1285778 h 1386047"/>
                    <a:gd name="connsiteX44" fmla="*/ 466655 w 1386206"/>
                    <a:gd name="connsiteY44" fmla="*/ 1295805 h 1386047"/>
                    <a:gd name="connsiteX45" fmla="*/ 466655 w 1386206"/>
                    <a:gd name="connsiteY45" fmla="*/ 1297237 h 1386047"/>
                    <a:gd name="connsiteX46" fmla="*/ 464529 w 1386206"/>
                    <a:gd name="connsiteY46" fmla="*/ 1306548 h 1386047"/>
                    <a:gd name="connsiteX47" fmla="*/ 463821 w 1386206"/>
                    <a:gd name="connsiteY47" fmla="*/ 1307980 h 1386047"/>
                    <a:gd name="connsiteX48" fmla="*/ 461695 w 1386206"/>
                    <a:gd name="connsiteY48" fmla="*/ 1317291 h 1386047"/>
                    <a:gd name="connsiteX49" fmla="*/ 460986 w 1386206"/>
                    <a:gd name="connsiteY49" fmla="*/ 1318007 h 1386047"/>
                    <a:gd name="connsiteX50" fmla="*/ 458151 w 1386206"/>
                    <a:gd name="connsiteY50" fmla="*/ 1327318 h 1386047"/>
                    <a:gd name="connsiteX51" fmla="*/ 458151 w 1386206"/>
                    <a:gd name="connsiteY51" fmla="*/ 1328034 h 1386047"/>
                    <a:gd name="connsiteX52" fmla="*/ 454607 w 1386206"/>
                    <a:gd name="connsiteY52" fmla="*/ 1336629 h 1386047"/>
                    <a:gd name="connsiteX53" fmla="*/ 454607 w 1386206"/>
                    <a:gd name="connsiteY53" fmla="*/ 1337345 h 1386047"/>
                    <a:gd name="connsiteX54" fmla="*/ 451064 w 1386206"/>
                    <a:gd name="connsiteY54" fmla="*/ 1345223 h 1386047"/>
                    <a:gd name="connsiteX55" fmla="*/ 450355 w 1386206"/>
                    <a:gd name="connsiteY55" fmla="*/ 1345940 h 1386047"/>
                    <a:gd name="connsiteX56" fmla="*/ 446812 w 1386206"/>
                    <a:gd name="connsiteY56" fmla="*/ 1353818 h 1386047"/>
                    <a:gd name="connsiteX57" fmla="*/ 446103 w 1386206"/>
                    <a:gd name="connsiteY57" fmla="*/ 1354534 h 1386047"/>
                    <a:gd name="connsiteX58" fmla="*/ 442559 w 1386206"/>
                    <a:gd name="connsiteY58" fmla="*/ 1361696 h 1386047"/>
                    <a:gd name="connsiteX59" fmla="*/ 441851 w 1386206"/>
                    <a:gd name="connsiteY59" fmla="*/ 1362412 h 1386047"/>
                    <a:gd name="connsiteX60" fmla="*/ 437599 w 1386206"/>
                    <a:gd name="connsiteY60" fmla="*/ 1368858 h 1386047"/>
                    <a:gd name="connsiteX61" fmla="*/ 436890 w 1386206"/>
                    <a:gd name="connsiteY61" fmla="*/ 1369574 h 1386047"/>
                    <a:gd name="connsiteX62" fmla="*/ 426968 w 1386206"/>
                    <a:gd name="connsiteY62" fmla="*/ 1381750 h 1386047"/>
                    <a:gd name="connsiteX63" fmla="*/ 415629 w 1386206"/>
                    <a:gd name="connsiteY63" fmla="*/ 1386047 h 1386047"/>
                    <a:gd name="connsiteX64" fmla="*/ 404998 w 1386206"/>
                    <a:gd name="connsiteY64" fmla="*/ 1381750 h 1386047"/>
                    <a:gd name="connsiteX65" fmla="*/ 404998 w 1386206"/>
                    <a:gd name="connsiteY65" fmla="*/ 1358831 h 1386047"/>
                    <a:gd name="connsiteX66" fmla="*/ 414920 w 1386206"/>
                    <a:gd name="connsiteY66" fmla="*/ 1346656 h 1386047"/>
                    <a:gd name="connsiteX67" fmla="*/ 418464 w 1386206"/>
                    <a:gd name="connsiteY67" fmla="*/ 1340210 h 1386047"/>
                    <a:gd name="connsiteX68" fmla="*/ 422007 w 1386206"/>
                    <a:gd name="connsiteY68" fmla="*/ 1333048 h 1386047"/>
                    <a:gd name="connsiteX69" fmla="*/ 422716 w 1386206"/>
                    <a:gd name="connsiteY69" fmla="*/ 1333048 h 1386047"/>
                    <a:gd name="connsiteX70" fmla="*/ 425551 w 1386206"/>
                    <a:gd name="connsiteY70" fmla="*/ 1325886 h 1386047"/>
                    <a:gd name="connsiteX71" fmla="*/ 426259 w 1386206"/>
                    <a:gd name="connsiteY71" fmla="*/ 1324453 h 1386047"/>
                    <a:gd name="connsiteX72" fmla="*/ 428385 w 1386206"/>
                    <a:gd name="connsiteY72" fmla="*/ 1317291 h 1386047"/>
                    <a:gd name="connsiteX73" fmla="*/ 429094 w 1386206"/>
                    <a:gd name="connsiteY73" fmla="*/ 1316575 h 1386047"/>
                    <a:gd name="connsiteX74" fmla="*/ 431929 w 1386206"/>
                    <a:gd name="connsiteY74" fmla="*/ 1308697 h 1386047"/>
                    <a:gd name="connsiteX75" fmla="*/ 431929 w 1386206"/>
                    <a:gd name="connsiteY75" fmla="*/ 1307264 h 1386047"/>
                    <a:gd name="connsiteX76" fmla="*/ 434055 w 1386206"/>
                    <a:gd name="connsiteY76" fmla="*/ 1298670 h 1386047"/>
                    <a:gd name="connsiteX77" fmla="*/ 434764 w 1386206"/>
                    <a:gd name="connsiteY77" fmla="*/ 1297954 h 1386047"/>
                    <a:gd name="connsiteX78" fmla="*/ 436890 w 1386206"/>
                    <a:gd name="connsiteY78" fmla="*/ 1288643 h 1386047"/>
                    <a:gd name="connsiteX79" fmla="*/ 436890 w 1386206"/>
                    <a:gd name="connsiteY79" fmla="*/ 1287927 h 1386047"/>
                    <a:gd name="connsiteX80" fmla="*/ 440433 w 1386206"/>
                    <a:gd name="connsiteY80" fmla="*/ 1267873 h 1386047"/>
                    <a:gd name="connsiteX81" fmla="*/ 440433 w 1386206"/>
                    <a:gd name="connsiteY81" fmla="*/ 1267157 h 1386047"/>
                    <a:gd name="connsiteX82" fmla="*/ 441851 w 1386206"/>
                    <a:gd name="connsiteY82" fmla="*/ 1259278 h 1386047"/>
                    <a:gd name="connsiteX83" fmla="*/ 441851 w 1386206"/>
                    <a:gd name="connsiteY83" fmla="*/ 1257130 h 1386047"/>
                    <a:gd name="connsiteX84" fmla="*/ 441851 w 1386206"/>
                    <a:gd name="connsiteY84" fmla="*/ 1255697 h 1386047"/>
                    <a:gd name="connsiteX85" fmla="*/ 443268 w 1386206"/>
                    <a:gd name="connsiteY85" fmla="*/ 1245670 h 1386047"/>
                    <a:gd name="connsiteX86" fmla="*/ 443268 w 1386206"/>
                    <a:gd name="connsiteY86" fmla="*/ 1244238 h 1386047"/>
                    <a:gd name="connsiteX87" fmla="*/ 443977 w 1386206"/>
                    <a:gd name="connsiteY87" fmla="*/ 1233495 h 1386047"/>
                    <a:gd name="connsiteX88" fmla="*/ 444686 w 1386206"/>
                    <a:gd name="connsiteY88" fmla="*/ 1232062 h 1386047"/>
                    <a:gd name="connsiteX89" fmla="*/ 445394 w 1386206"/>
                    <a:gd name="connsiteY89" fmla="*/ 1221319 h 1386047"/>
                    <a:gd name="connsiteX90" fmla="*/ 445394 w 1386206"/>
                    <a:gd name="connsiteY90" fmla="*/ 1219887 h 1386047"/>
                    <a:gd name="connsiteX91" fmla="*/ 445394 w 1386206"/>
                    <a:gd name="connsiteY91" fmla="*/ 1218455 h 1386047"/>
                    <a:gd name="connsiteX92" fmla="*/ 446103 w 1386206"/>
                    <a:gd name="connsiteY92" fmla="*/ 1208428 h 1386047"/>
                    <a:gd name="connsiteX93" fmla="*/ 446103 w 1386206"/>
                    <a:gd name="connsiteY93" fmla="*/ 1206995 h 1386047"/>
                    <a:gd name="connsiteX94" fmla="*/ 446103 w 1386206"/>
                    <a:gd name="connsiteY94" fmla="*/ 1194820 h 1386047"/>
                    <a:gd name="connsiteX95" fmla="*/ 446103 w 1386206"/>
                    <a:gd name="connsiteY95" fmla="*/ 1194103 h 1386047"/>
                    <a:gd name="connsiteX96" fmla="*/ 446812 w 1386206"/>
                    <a:gd name="connsiteY96" fmla="*/ 1168320 h 1386047"/>
                    <a:gd name="connsiteX97" fmla="*/ 446812 w 1386206"/>
                    <a:gd name="connsiteY97" fmla="*/ 1167604 h 1386047"/>
                    <a:gd name="connsiteX98" fmla="*/ 446812 w 1386206"/>
                    <a:gd name="connsiteY98" fmla="*/ 1154712 h 1386047"/>
                    <a:gd name="connsiteX99" fmla="*/ 446812 w 1386206"/>
                    <a:gd name="connsiteY99" fmla="*/ 1153280 h 1386047"/>
                    <a:gd name="connsiteX100" fmla="*/ 446812 w 1386206"/>
                    <a:gd name="connsiteY100" fmla="*/ 1140388 h 1386047"/>
                    <a:gd name="connsiteX101" fmla="*/ 446812 w 1386206"/>
                    <a:gd name="connsiteY101" fmla="*/ 1138955 h 1386047"/>
                    <a:gd name="connsiteX102" fmla="*/ 446812 w 1386206"/>
                    <a:gd name="connsiteY102" fmla="*/ 1126064 h 1386047"/>
                    <a:gd name="connsiteX103" fmla="*/ 446812 w 1386206"/>
                    <a:gd name="connsiteY103" fmla="*/ 1124631 h 1386047"/>
                    <a:gd name="connsiteX104" fmla="*/ 446103 w 1386206"/>
                    <a:gd name="connsiteY104" fmla="*/ 1111740 h 1386047"/>
                    <a:gd name="connsiteX105" fmla="*/ 446103 w 1386206"/>
                    <a:gd name="connsiteY105" fmla="*/ 1109591 h 1386047"/>
                    <a:gd name="connsiteX106" fmla="*/ 446103 w 1386206"/>
                    <a:gd name="connsiteY106" fmla="*/ 1103861 h 1386047"/>
                    <a:gd name="connsiteX107" fmla="*/ 445394 w 1386206"/>
                    <a:gd name="connsiteY107" fmla="*/ 1096699 h 1386047"/>
                    <a:gd name="connsiteX108" fmla="*/ 445394 w 1386206"/>
                    <a:gd name="connsiteY108" fmla="*/ 1095267 h 1386047"/>
                    <a:gd name="connsiteX109" fmla="*/ 445394 w 1386206"/>
                    <a:gd name="connsiteY109" fmla="*/ 1081659 h 1386047"/>
                    <a:gd name="connsiteX110" fmla="*/ 444686 w 1386206"/>
                    <a:gd name="connsiteY110" fmla="*/ 1080226 h 1386047"/>
                    <a:gd name="connsiteX111" fmla="*/ 443977 w 1386206"/>
                    <a:gd name="connsiteY111" fmla="*/ 1057308 h 1386047"/>
                    <a:gd name="connsiteX112" fmla="*/ 443268 w 1386206"/>
                    <a:gd name="connsiteY112" fmla="*/ 1051578 h 1386047"/>
                    <a:gd name="connsiteX113" fmla="*/ 443268 w 1386206"/>
                    <a:gd name="connsiteY113" fmla="*/ 1050862 h 1386047"/>
                    <a:gd name="connsiteX114" fmla="*/ 442559 w 1386206"/>
                    <a:gd name="connsiteY114" fmla="*/ 1036538 h 1386047"/>
                    <a:gd name="connsiteX115" fmla="*/ 442559 w 1386206"/>
                    <a:gd name="connsiteY115" fmla="*/ 1035105 h 1386047"/>
                    <a:gd name="connsiteX116" fmla="*/ 441851 w 1386206"/>
                    <a:gd name="connsiteY116" fmla="*/ 1021497 h 1386047"/>
                    <a:gd name="connsiteX117" fmla="*/ 441851 w 1386206"/>
                    <a:gd name="connsiteY117" fmla="*/ 1019349 h 1386047"/>
                    <a:gd name="connsiteX118" fmla="*/ 441142 w 1386206"/>
                    <a:gd name="connsiteY118" fmla="*/ 1005741 h 1386047"/>
                    <a:gd name="connsiteX119" fmla="*/ 440433 w 1386206"/>
                    <a:gd name="connsiteY119" fmla="*/ 1003592 h 1386047"/>
                    <a:gd name="connsiteX120" fmla="*/ 439725 w 1386206"/>
                    <a:gd name="connsiteY120" fmla="*/ 989984 h 1386047"/>
                    <a:gd name="connsiteX121" fmla="*/ 439725 w 1386206"/>
                    <a:gd name="connsiteY121" fmla="*/ 987836 h 1386047"/>
                    <a:gd name="connsiteX122" fmla="*/ 439725 w 1386206"/>
                    <a:gd name="connsiteY122" fmla="*/ 982822 h 1386047"/>
                    <a:gd name="connsiteX123" fmla="*/ 922715 w 1386206"/>
                    <a:gd name="connsiteY123" fmla="*/ 500222 h 1386047"/>
                    <a:gd name="connsiteX124" fmla="*/ 939153 w 1386206"/>
                    <a:gd name="connsiteY124" fmla="*/ 501647 h 1386047"/>
                    <a:gd name="connsiteX125" fmla="*/ 954163 w 1386206"/>
                    <a:gd name="connsiteY125" fmla="*/ 502359 h 1386047"/>
                    <a:gd name="connsiteX126" fmla="*/ 955592 w 1386206"/>
                    <a:gd name="connsiteY126" fmla="*/ 523727 h 1386047"/>
                    <a:gd name="connsiteX127" fmla="*/ 956307 w 1386206"/>
                    <a:gd name="connsiteY127" fmla="*/ 542247 h 1386047"/>
                    <a:gd name="connsiteX128" fmla="*/ 959166 w 1386206"/>
                    <a:gd name="connsiteY128" fmla="*/ 596380 h 1386047"/>
                    <a:gd name="connsiteX129" fmla="*/ 960595 w 1386206"/>
                    <a:gd name="connsiteY129" fmla="*/ 631994 h 1386047"/>
                    <a:gd name="connsiteX130" fmla="*/ 960595 w 1386206"/>
                    <a:gd name="connsiteY130" fmla="*/ 665471 h 1386047"/>
                    <a:gd name="connsiteX131" fmla="*/ 960595 w 1386206"/>
                    <a:gd name="connsiteY131" fmla="*/ 675443 h 1386047"/>
                    <a:gd name="connsiteX132" fmla="*/ 907705 w 1386206"/>
                    <a:gd name="connsiteY132" fmla="*/ 899811 h 1386047"/>
                    <a:gd name="connsiteX133" fmla="*/ 904131 w 1386206"/>
                    <a:gd name="connsiteY133" fmla="*/ 903373 h 1386047"/>
                    <a:gd name="connsiteX134" fmla="*/ 523181 w 1386206"/>
                    <a:gd name="connsiteY134" fmla="*/ 954657 h 1386047"/>
                    <a:gd name="connsiteX135" fmla="*/ 500309 w 1386206"/>
                    <a:gd name="connsiteY135" fmla="*/ 953232 h 1386047"/>
                    <a:gd name="connsiteX136" fmla="*/ 468861 w 1386206"/>
                    <a:gd name="connsiteY136" fmla="*/ 951095 h 1386047"/>
                    <a:gd name="connsiteX137" fmla="*/ 442416 w 1386206"/>
                    <a:gd name="connsiteY137" fmla="*/ 948959 h 1386047"/>
                    <a:gd name="connsiteX138" fmla="*/ 440987 w 1386206"/>
                    <a:gd name="connsiteY138" fmla="*/ 948959 h 1386047"/>
                    <a:gd name="connsiteX139" fmla="*/ 436699 w 1386206"/>
                    <a:gd name="connsiteY139" fmla="*/ 948959 h 1386047"/>
                    <a:gd name="connsiteX140" fmla="*/ 424548 w 1386206"/>
                    <a:gd name="connsiteY140" fmla="*/ 948246 h 1386047"/>
                    <a:gd name="connsiteX141" fmla="*/ 424548 w 1386206"/>
                    <a:gd name="connsiteY141" fmla="*/ 947534 h 1386047"/>
                    <a:gd name="connsiteX142" fmla="*/ 422404 w 1386206"/>
                    <a:gd name="connsiteY142" fmla="*/ 947534 h 1386047"/>
                    <a:gd name="connsiteX143" fmla="*/ 417401 w 1386206"/>
                    <a:gd name="connsiteY143" fmla="*/ 947534 h 1386047"/>
                    <a:gd name="connsiteX144" fmla="*/ 415971 w 1386206"/>
                    <a:gd name="connsiteY144" fmla="*/ 947534 h 1386047"/>
                    <a:gd name="connsiteX145" fmla="*/ 405250 w 1386206"/>
                    <a:gd name="connsiteY145" fmla="*/ 946822 h 1386047"/>
                    <a:gd name="connsiteX146" fmla="*/ 400962 w 1386206"/>
                    <a:gd name="connsiteY146" fmla="*/ 946109 h 1386047"/>
                    <a:gd name="connsiteX147" fmla="*/ 399533 w 1386206"/>
                    <a:gd name="connsiteY147" fmla="*/ 946109 h 1386047"/>
                    <a:gd name="connsiteX148" fmla="*/ 398818 w 1386206"/>
                    <a:gd name="connsiteY148" fmla="*/ 946109 h 1386047"/>
                    <a:gd name="connsiteX149" fmla="*/ 398103 w 1386206"/>
                    <a:gd name="connsiteY149" fmla="*/ 946109 h 1386047"/>
                    <a:gd name="connsiteX150" fmla="*/ 396674 w 1386206"/>
                    <a:gd name="connsiteY150" fmla="*/ 946109 h 1386047"/>
                    <a:gd name="connsiteX151" fmla="*/ 393815 w 1386206"/>
                    <a:gd name="connsiteY151" fmla="*/ 946109 h 1386047"/>
                    <a:gd name="connsiteX152" fmla="*/ 390956 w 1386206"/>
                    <a:gd name="connsiteY152" fmla="*/ 945397 h 1386047"/>
                    <a:gd name="connsiteX153" fmla="*/ 381664 w 1386206"/>
                    <a:gd name="connsiteY153" fmla="*/ 945397 h 1386047"/>
                    <a:gd name="connsiteX154" fmla="*/ 376661 w 1386206"/>
                    <a:gd name="connsiteY154" fmla="*/ 944685 h 1386047"/>
                    <a:gd name="connsiteX155" fmla="*/ 374517 w 1386206"/>
                    <a:gd name="connsiteY155" fmla="*/ 944685 h 1386047"/>
                    <a:gd name="connsiteX156" fmla="*/ 369514 w 1386206"/>
                    <a:gd name="connsiteY156" fmla="*/ 943973 h 1386047"/>
                    <a:gd name="connsiteX157" fmla="*/ 368085 w 1386206"/>
                    <a:gd name="connsiteY157" fmla="*/ 943973 h 1386047"/>
                    <a:gd name="connsiteX158" fmla="*/ 353790 w 1386206"/>
                    <a:gd name="connsiteY158" fmla="*/ 943260 h 1386047"/>
                    <a:gd name="connsiteX159" fmla="*/ 350931 w 1386206"/>
                    <a:gd name="connsiteY159" fmla="*/ 943260 h 1386047"/>
                    <a:gd name="connsiteX160" fmla="*/ 350216 w 1386206"/>
                    <a:gd name="connsiteY160" fmla="*/ 943260 h 1386047"/>
                    <a:gd name="connsiteX161" fmla="*/ 348787 w 1386206"/>
                    <a:gd name="connsiteY161" fmla="*/ 943260 h 1386047"/>
                    <a:gd name="connsiteX162" fmla="*/ 334492 w 1386206"/>
                    <a:gd name="connsiteY162" fmla="*/ 942548 h 1386047"/>
                    <a:gd name="connsiteX163" fmla="*/ 333778 w 1386206"/>
                    <a:gd name="connsiteY163" fmla="*/ 942548 h 1386047"/>
                    <a:gd name="connsiteX164" fmla="*/ 328060 w 1386206"/>
                    <a:gd name="connsiteY164" fmla="*/ 941836 h 1386047"/>
                    <a:gd name="connsiteX165" fmla="*/ 304474 w 1386206"/>
                    <a:gd name="connsiteY165" fmla="*/ 941123 h 1386047"/>
                    <a:gd name="connsiteX166" fmla="*/ 304474 w 1386206"/>
                    <a:gd name="connsiteY166" fmla="*/ 940411 h 1386047"/>
                    <a:gd name="connsiteX167" fmla="*/ 290179 w 1386206"/>
                    <a:gd name="connsiteY167" fmla="*/ 940411 h 1386047"/>
                    <a:gd name="connsiteX168" fmla="*/ 288750 w 1386206"/>
                    <a:gd name="connsiteY168" fmla="*/ 940411 h 1386047"/>
                    <a:gd name="connsiteX169" fmla="*/ 281602 w 1386206"/>
                    <a:gd name="connsiteY169" fmla="*/ 939699 h 1386047"/>
                    <a:gd name="connsiteX170" fmla="*/ 275885 w 1386206"/>
                    <a:gd name="connsiteY170" fmla="*/ 939699 h 1386047"/>
                    <a:gd name="connsiteX171" fmla="*/ 273740 w 1386206"/>
                    <a:gd name="connsiteY171" fmla="*/ 939699 h 1386047"/>
                    <a:gd name="connsiteX172" fmla="*/ 260875 w 1386206"/>
                    <a:gd name="connsiteY172" fmla="*/ 938987 h 1386047"/>
                    <a:gd name="connsiteX173" fmla="*/ 259446 w 1386206"/>
                    <a:gd name="connsiteY173" fmla="*/ 938987 h 1386047"/>
                    <a:gd name="connsiteX174" fmla="*/ 246581 w 1386206"/>
                    <a:gd name="connsiteY174" fmla="*/ 938987 h 1386047"/>
                    <a:gd name="connsiteX175" fmla="*/ 245151 w 1386206"/>
                    <a:gd name="connsiteY175" fmla="*/ 938987 h 1386047"/>
                    <a:gd name="connsiteX176" fmla="*/ 232286 w 1386206"/>
                    <a:gd name="connsiteY176" fmla="*/ 938987 h 1386047"/>
                    <a:gd name="connsiteX177" fmla="*/ 230857 w 1386206"/>
                    <a:gd name="connsiteY177" fmla="*/ 938987 h 1386047"/>
                    <a:gd name="connsiteX178" fmla="*/ 217992 w 1386206"/>
                    <a:gd name="connsiteY178" fmla="*/ 938987 h 1386047"/>
                    <a:gd name="connsiteX179" fmla="*/ 217277 w 1386206"/>
                    <a:gd name="connsiteY179" fmla="*/ 938987 h 1386047"/>
                    <a:gd name="connsiteX180" fmla="*/ 191547 w 1386206"/>
                    <a:gd name="connsiteY180" fmla="*/ 939699 h 1386047"/>
                    <a:gd name="connsiteX181" fmla="*/ 190832 w 1386206"/>
                    <a:gd name="connsiteY181" fmla="*/ 939699 h 1386047"/>
                    <a:gd name="connsiteX182" fmla="*/ 178681 w 1386206"/>
                    <a:gd name="connsiteY182" fmla="*/ 939699 h 1386047"/>
                    <a:gd name="connsiteX183" fmla="*/ 177252 w 1386206"/>
                    <a:gd name="connsiteY183" fmla="*/ 939699 h 1386047"/>
                    <a:gd name="connsiteX184" fmla="*/ 167246 w 1386206"/>
                    <a:gd name="connsiteY184" fmla="*/ 940411 h 1386047"/>
                    <a:gd name="connsiteX185" fmla="*/ 165816 w 1386206"/>
                    <a:gd name="connsiteY185" fmla="*/ 940411 h 1386047"/>
                    <a:gd name="connsiteX186" fmla="*/ 164387 w 1386206"/>
                    <a:gd name="connsiteY186" fmla="*/ 940411 h 1386047"/>
                    <a:gd name="connsiteX187" fmla="*/ 153666 w 1386206"/>
                    <a:gd name="connsiteY187" fmla="*/ 941123 h 1386047"/>
                    <a:gd name="connsiteX188" fmla="*/ 152236 w 1386206"/>
                    <a:gd name="connsiteY188" fmla="*/ 941836 h 1386047"/>
                    <a:gd name="connsiteX189" fmla="*/ 141516 w 1386206"/>
                    <a:gd name="connsiteY189" fmla="*/ 942548 h 1386047"/>
                    <a:gd name="connsiteX190" fmla="*/ 140086 w 1386206"/>
                    <a:gd name="connsiteY190" fmla="*/ 942548 h 1386047"/>
                    <a:gd name="connsiteX191" fmla="*/ 130080 w 1386206"/>
                    <a:gd name="connsiteY191" fmla="*/ 943973 h 1386047"/>
                    <a:gd name="connsiteX192" fmla="*/ 128650 w 1386206"/>
                    <a:gd name="connsiteY192" fmla="*/ 943973 h 1386047"/>
                    <a:gd name="connsiteX193" fmla="*/ 126506 w 1386206"/>
                    <a:gd name="connsiteY193" fmla="*/ 943973 h 1386047"/>
                    <a:gd name="connsiteX194" fmla="*/ 118644 w 1386206"/>
                    <a:gd name="connsiteY194" fmla="*/ 945397 h 1386047"/>
                    <a:gd name="connsiteX195" fmla="*/ 117929 w 1386206"/>
                    <a:gd name="connsiteY195" fmla="*/ 945397 h 1386047"/>
                    <a:gd name="connsiteX196" fmla="*/ 107209 w 1386206"/>
                    <a:gd name="connsiteY196" fmla="*/ 947534 h 1386047"/>
                    <a:gd name="connsiteX197" fmla="*/ 97917 w 1386206"/>
                    <a:gd name="connsiteY197" fmla="*/ 948959 h 1386047"/>
                    <a:gd name="connsiteX198" fmla="*/ 97202 w 1386206"/>
                    <a:gd name="connsiteY198" fmla="*/ 948959 h 1386047"/>
                    <a:gd name="connsiteX199" fmla="*/ 87911 w 1386206"/>
                    <a:gd name="connsiteY199" fmla="*/ 951095 h 1386047"/>
                    <a:gd name="connsiteX200" fmla="*/ 87196 w 1386206"/>
                    <a:gd name="connsiteY200" fmla="*/ 951808 h 1386047"/>
                    <a:gd name="connsiteX201" fmla="*/ 78619 w 1386206"/>
                    <a:gd name="connsiteY201" fmla="*/ 953945 h 1386047"/>
                    <a:gd name="connsiteX202" fmla="*/ 77190 w 1386206"/>
                    <a:gd name="connsiteY202" fmla="*/ 953945 h 1386047"/>
                    <a:gd name="connsiteX203" fmla="*/ 69328 w 1386206"/>
                    <a:gd name="connsiteY203" fmla="*/ 956794 h 1386047"/>
                    <a:gd name="connsiteX204" fmla="*/ 68613 w 1386206"/>
                    <a:gd name="connsiteY204" fmla="*/ 957506 h 1386047"/>
                    <a:gd name="connsiteX205" fmla="*/ 61466 w 1386206"/>
                    <a:gd name="connsiteY205" fmla="*/ 959643 h 1386047"/>
                    <a:gd name="connsiteX206" fmla="*/ 60036 w 1386206"/>
                    <a:gd name="connsiteY206" fmla="*/ 960355 h 1386047"/>
                    <a:gd name="connsiteX207" fmla="*/ 52889 w 1386206"/>
                    <a:gd name="connsiteY207" fmla="*/ 963204 h 1386047"/>
                    <a:gd name="connsiteX208" fmla="*/ 52889 w 1386206"/>
                    <a:gd name="connsiteY208" fmla="*/ 963916 h 1386047"/>
                    <a:gd name="connsiteX209" fmla="*/ 45742 w 1386206"/>
                    <a:gd name="connsiteY209" fmla="*/ 967478 h 1386047"/>
                    <a:gd name="connsiteX210" fmla="*/ 39309 w 1386206"/>
                    <a:gd name="connsiteY210" fmla="*/ 971039 h 1386047"/>
                    <a:gd name="connsiteX211" fmla="*/ 27159 w 1386206"/>
                    <a:gd name="connsiteY211" fmla="*/ 981011 h 1386047"/>
                    <a:gd name="connsiteX212" fmla="*/ 15723 w 1386206"/>
                    <a:gd name="connsiteY212" fmla="*/ 985997 h 1386047"/>
                    <a:gd name="connsiteX213" fmla="*/ 4288 w 1386206"/>
                    <a:gd name="connsiteY213" fmla="*/ 981011 h 1386047"/>
                    <a:gd name="connsiteX214" fmla="*/ 4288 w 1386206"/>
                    <a:gd name="connsiteY214" fmla="*/ 958930 h 1386047"/>
                    <a:gd name="connsiteX215" fmla="*/ 16438 w 1386206"/>
                    <a:gd name="connsiteY215" fmla="*/ 948959 h 1386047"/>
                    <a:gd name="connsiteX216" fmla="*/ 17153 w 1386206"/>
                    <a:gd name="connsiteY216" fmla="*/ 948246 h 1386047"/>
                    <a:gd name="connsiteX217" fmla="*/ 23585 w 1386206"/>
                    <a:gd name="connsiteY217" fmla="*/ 943973 h 1386047"/>
                    <a:gd name="connsiteX218" fmla="*/ 24300 w 1386206"/>
                    <a:gd name="connsiteY218" fmla="*/ 943260 h 1386047"/>
                    <a:gd name="connsiteX219" fmla="*/ 31447 w 1386206"/>
                    <a:gd name="connsiteY219" fmla="*/ 939699 h 1386047"/>
                    <a:gd name="connsiteX220" fmla="*/ 32162 w 1386206"/>
                    <a:gd name="connsiteY220" fmla="*/ 938987 h 1386047"/>
                    <a:gd name="connsiteX221" fmla="*/ 40024 w 1386206"/>
                    <a:gd name="connsiteY221" fmla="*/ 935425 h 1386047"/>
                    <a:gd name="connsiteX222" fmla="*/ 40739 w 1386206"/>
                    <a:gd name="connsiteY222" fmla="*/ 934713 h 1386047"/>
                    <a:gd name="connsiteX223" fmla="*/ 48601 w 1386206"/>
                    <a:gd name="connsiteY223" fmla="*/ 931152 h 1386047"/>
                    <a:gd name="connsiteX224" fmla="*/ 49315 w 1386206"/>
                    <a:gd name="connsiteY224" fmla="*/ 931152 h 1386047"/>
                    <a:gd name="connsiteX225" fmla="*/ 57892 w 1386206"/>
                    <a:gd name="connsiteY225" fmla="*/ 927590 h 1386047"/>
                    <a:gd name="connsiteX226" fmla="*/ 58607 w 1386206"/>
                    <a:gd name="connsiteY226" fmla="*/ 927590 h 1386047"/>
                    <a:gd name="connsiteX227" fmla="*/ 67184 w 1386206"/>
                    <a:gd name="connsiteY227" fmla="*/ 924741 h 1386047"/>
                    <a:gd name="connsiteX228" fmla="*/ 68613 w 1386206"/>
                    <a:gd name="connsiteY228" fmla="*/ 924029 h 1386047"/>
                    <a:gd name="connsiteX229" fmla="*/ 77905 w 1386206"/>
                    <a:gd name="connsiteY229" fmla="*/ 921892 h 1386047"/>
                    <a:gd name="connsiteX230" fmla="*/ 79334 w 1386206"/>
                    <a:gd name="connsiteY230" fmla="*/ 921180 h 1386047"/>
                    <a:gd name="connsiteX231" fmla="*/ 88626 w 1386206"/>
                    <a:gd name="connsiteY231" fmla="*/ 919043 h 1386047"/>
                    <a:gd name="connsiteX232" fmla="*/ 90770 w 1386206"/>
                    <a:gd name="connsiteY232" fmla="*/ 919043 h 1386047"/>
                    <a:gd name="connsiteX233" fmla="*/ 100061 w 1386206"/>
                    <a:gd name="connsiteY233" fmla="*/ 916906 h 1386047"/>
                    <a:gd name="connsiteX234" fmla="*/ 102205 w 1386206"/>
                    <a:gd name="connsiteY234" fmla="*/ 916194 h 1386047"/>
                    <a:gd name="connsiteX235" fmla="*/ 111497 w 1386206"/>
                    <a:gd name="connsiteY235" fmla="*/ 914769 h 1386047"/>
                    <a:gd name="connsiteX236" fmla="*/ 113641 w 1386206"/>
                    <a:gd name="connsiteY236" fmla="*/ 914769 h 1386047"/>
                    <a:gd name="connsiteX237" fmla="*/ 123647 w 1386206"/>
                    <a:gd name="connsiteY237" fmla="*/ 913345 h 1386047"/>
                    <a:gd name="connsiteX238" fmla="*/ 125791 w 1386206"/>
                    <a:gd name="connsiteY238" fmla="*/ 912632 h 1386047"/>
                    <a:gd name="connsiteX239" fmla="*/ 136512 w 1386206"/>
                    <a:gd name="connsiteY239" fmla="*/ 911920 h 1386047"/>
                    <a:gd name="connsiteX240" fmla="*/ 138657 w 1386206"/>
                    <a:gd name="connsiteY240" fmla="*/ 911208 h 1386047"/>
                    <a:gd name="connsiteX241" fmla="*/ 149378 w 1386206"/>
                    <a:gd name="connsiteY241" fmla="*/ 910495 h 1386047"/>
                    <a:gd name="connsiteX242" fmla="*/ 150807 w 1386206"/>
                    <a:gd name="connsiteY242" fmla="*/ 910495 h 1386047"/>
                    <a:gd name="connsiteX243" fmla="*/ 162243 w 1386206"/>
                    <a:gd name="connsiteY243" fmla="*/ 909071 h 1386047"/>
                    <a:gd name="connsiteX244" fmla="*/ 163672 w 1386206"/>
                    <a:gd name="connsiteY244" fmla="*/ 909071 h 1386047"/>
                    <a:gd name="connsiteX245" fmla="*/ 175108 w 1386206"/>
                    <a:gd name="connsiteY245" fmla="*/ 908359 h 1386047"/>
                    <a:gd name="connsiteX246" fmla="*/ 177252 w 1386206"/>
                    <a:gd name="connsiteY246" fmla="*/ 908359 h 1386047"/>
                    <a:gd name="connsiteX247" fmla="*/ 189402 w 1386206"/>
                    <a:gd name="connsiteY247" fmla="*/ 908359 h 1386047"/>
                    <a:gd name="connsiteX248" fmla="*/ 191547 w 1386206"/>
                    <a:gd name="connsiteY248" fmla="*/ 907646 h 1386047"/>
                    <a:gd name="connsiteX249" fmla="*/ 202982 w 1386206"/>
                    <a:gd name="connsiteY249" fmla="*/ 907646 h 1386047"/>
                    <a:gd name="connsiteX250" fmla="*/ 206556 w 1386206"/>
                    <a:gd name="connsiteY250" fmla="*/ 907646 h 1386047"/>
                    <a:gd name="connsiteX251" fmla="*/ 217992 w 1386206"/>
                    <a:gd name="connsiteY251" fmla="*/ 907646 h 1386047"/>
                    <a:gd name="connsiteX252" fmla="*/ 220850 w 1386206"/>
                    <a:gd name="connsiteY252" fmla="*/ 907646 h 1386047"/>
                    <a:gd name="connsiteX253" fmla="*/ 233001 w 1386206"/>
                    <a:gd name="connsiteY253" fmla="*/ 907646 h 1386047"/>
                    <a:gd name="connsiteX254" fmla="*/ 235860 w 1386206"/>
                    <a:gd name="connsiteY254" fmla="*/ 907646 h 1386047"/>
                    <a:gd name="connsiteX255" fmla="*/ 248010 w 1386206"/>
                    <a:gd name="connsiteY255" fmla="*/ 907646 h 1386047"/>
                    <a:gd name="connsiteX256" fmla="*/ 251584 w 1386206"/>
                    <a:gd name="connsiteY256" fmla="*/ 907646 h 1386047"/>
                    <a:gd name="connsiteX257" fmla="*/ 263734 w 1386206"/>
                    <a:gd name="connsiteY257" fmla="*/ 907646 h 1386047"/>
                    <a:gd name="connsiteX258" fmla="*/ 266593 w 1386206"/>
                    <a:gd name="connsiteY258" fmla="*/ 908359 h 1386047"/>
                    <a:gd name="connsiteX259" fmla="*/ 279458 w 1386206"/>
                    <a:gd name="connsiteY259" fmla="*/ 908359 h 1386047"/>
                    <a:gd name="connsiteX260" fmla="*/ 282317 w 1386206"/>
                    <a:gd name="connsiteY260" fmla="*/ 908359 h 1386047"/>
                    <a:gd name="connsiteX261" fmla="*/ 294467 w 1386206"/>
                    <a:gd name="connsiteY261" fmla="*/ 909071 h 1386047"/>
                    <a:gd name="connsiteX262" fmla="*/ 297326 w 1386206"/>
                    <a:gd name="connsiteY262" fmla="*/ 909071 h 1386047"/>
                    <a:gd name="connsiteX263" fmla="*/ 310192 w 1386206"/>
                    <a:gd name="connsiteY263" fmla="*/ 909783 h 1386047"/>
                    <a:gd name="connsiteX264" fmla="*/ 313050 w 1386206"/>
                    <a:gd name="connsiteY264" fmla="*/ 909783 h 1386047"/>
                    <a:gd name="connsiteX265" fmla="*/ 325916 w 1386206"/>
                    <a:gd name="connsiteY265" fmla="*/ 910495 h 1386047"/>
                    <a:gd name="connsiteX266" fmla="*/ 329489 w 1386206"/>
                    <a:gd name="connsiteY266" fmla="*/ 910495 h 1386047"/>
                    <a:gd name="connsiteX267" fmla="*/ 342354 w 1386206"/>
                    <a:gd name="connsiteY267" fmla="*/ 911208 h 1386047"/>
                    <a:gd name="connsiteX268" fmla="*/ 345928 w 1386206"/>
                    <a:gd name="connsiteY268" fmla="*/ 911208 h 1386047"/>
                    <a:gd name="connsiteX269" fmla="*/ 358793 w 1386206"/>
                    <a:gd name="connsiteY269" fmla="*/ 911920 h 1386047"/>
                    <a:gd name="connsiteX270" fmla="*/ 363081 w 1386206"/>
                    <a:gd name="connsiteY270" fmla="*/ 912632 h 1386047"/>
                    <a:gd name="connsiteX271" fmla="*/ 375232 w 1386206"/>
                    <a:gd name="connsiteY271" fmla="*/ 913345 h 1386047"/>
                    <a:gd name="connsiteX272" fmla="*/ 378091 w 1386206"/>
                    <a:gd name="connsiteY272" fmla="*/ 913345 h 1386047"/>
                    <a:gd name="connsiteX273" fmla="*/ 403106 w 1386206"/>
                    <a:gd name="connsiteY273" fmla="*/ 914769 h 1386047"/>
                    <a:gd name="connsiteX274" fmla="*/ 419545 w 1386206"/>
                    <a:gd name="connsiteY274" fmla="*/ 916194 h 1386047"/>
                    <a:gd name="connsiteX275" fmla="*/ 420975 w 1386206"/>
                    <a:gd name="connsiteY275" fmla="*/ 916194 h 1386047"/>
                    <a:gd name="connsiteX276" fmla="*/ 422404 w 1386206"/>
                    <a:gd name="connsiteY276" fmla="*/ 916194 h 1386047"/>
                    <a:gd name="connsiteX277" fmla="*/ 423833 w 1386206"/>
                    <a:gd name="connsiteY277" fmla="*/ 916194 h 1386047"/>
                    <a:gd name="connsiteX278" fmla="*/ 434554 w 1386206"/>
                    <a:gd name="connsiteY278" fmla="*/ 916906 h 1386047"/>
                    <a:gd name="connsiteX279" fmla="*/ 438843 w 1386206"/>
                    <a:gd name="connsiteY279" fmla="*/ 917618 h 1386047"/>
                    <a:gd name="connsiteX280" fmla="*/ 440987 w 1386206"/>
                    <a:gd name="connsiteY280" fmla="*/ 917618 h 1386047"/>
                    <a:gd name="connsiteX281" fmla="*/ 444561 w 1386206"/>
                    <a:gd name="connsiteY281" fmla="*/ 917618 h 1386047"/>
                    <a:gd name="connsiteX282" fmla="*/ 466717 w 1386206"/>
                    <a:gd name="connsiteY282" fmla="*/ 919043 h 1386047"/>
                    <a:gd name="connsiteX283" fmla="*/ 488159 w 1386206"/>
                    <a:gd name="connsiteY283" fmla="*/ 920467 h 1386047"/>
                    <a:gd name="connsiteX284" fmla="*/ 498165 w 1386206"/>
                    <a:gd name="connsiteY284" fmla="*/ 921180 h 1386047"/>
                    <a:gd name="connsiteX285" fmla="*/ 499595 w 1386206"/>
                    <a:gd name="connsiteY285" fmla="*/ 921892 h 1386047"/>
                    <a:gd name="connsiteX286" fmla="*/ 518178 w 1386206"/>
                    <a:gd name="connsiteY286" fmla="*/ 922604 h 1386047"/>
                    <a:gd name="connsiteX287" fmla="*/ 520322 w 1386206"/>
                    <a:gd name="connsiteY287" fmla="*/ 922604 h 1386047"/>
                    <a:gd name="connsiteX288" fmla="*/ 522466 w 1386206"/>
                    <a:gd name="connsiteY288" fmla="*/ 923316 h 1386047"/>
                    <a:gd name="connsiteX289" fmla="*/ 549626 w 1386206"/>
                    <a:gd name="connsiteY289" fmla="*/ 924741 h 1386047"/>
                    <a:gd name="connsiteX290" fmla="*/ 551055 w 1386206"/>
                    <a:gd name="connsiteY290" fmla="*/ 924741 h 1386047"/>
                    <a:gd name="connsiteX291" fmla="*/ 565350 w 1386206"/>
                    <a:gd name="connsiteY291" fmla="*/ 925453 h 1386047"/>
                    <a:gd name="connsiteX292" fmla="*/ 566779 w 1386206"/>
                    <a:gd name="connsiteY292" fmla="*/ 925453 h 1386047"/>
                    <a:gd name="connsiteX293" fmla="*/ 568209 w 1386206"/>
                    <a:gd name="connsiteY293" fmla="*/ 925453 h 1386047"/>
                    <a:gd name="connsiteX294" fmla="*/ 571782 w 1386206"/>
                    <a:gd name="connsiteY294" fmla="*/ 925453 h 1386047"/>
                    <a:gd name="connsiteX295" fmla="*/ 584647 w 1386206"/>
                    <a:gd name="connsiteY295" fmla="*/ 926166 h 1386047"/>
                    <a:gd name="connsiteX296" fmla="*/ 586792 w 1386206"/>
                    <a:gd name="connsiteY296" fmla="*/ 926166 h 1386047"/>
                    <a:gd name="connsiteX297" fmla="*/ 632534 w 1386206"/>
                    <a:gd name="connsiteY297" fmla="*/ 928302 h 1386047"/>
                    <a:gd name="connsiteX298" fmla="*/ 744747 w 1386206"/>
                    <a:gd name="connsiteY298" fmla="*/ 925453 h 1386047"/>
                    <a:gd name="connsiteX299" fmla="*/ 784771 w 1386206"/>
                    <a:gd name="connsiteY299" fmla="*/ 920467 h 1386047"/>
                    <a:gd name="connsiteX300" fmla="*/ 860533 w 1386206"/>
                    <a:gd name="connsiteY300" fmla="*/ 896962 h 1386047"/>
                    <a:gd name="connsiteX301" fmla="*/ 869824 w 1386206"/>
                    <a:gd name="connsiteY301" fmla="*/ 891264 h 1386047"/>
                    <a:gd name="connsiteX302" fmla="*/ 881975 w 1386206"/>
                    <a:gd name="connsiteY302" fmla="*/ 881292 h 1386047"/>
                    <a:gd name="connsiteX303" fmla="*/ 891981 w 1386206"/>
                    <a:gd name="connsiteY303" fmla="*/ 869183 h 1386047"/>
                    <a:gd name="connsiteX304" fmla="*/ 914853 w 1386206"/>
                    <a:gd name="connsiteY304" fmla="*/ 815762 h 1386047"/>
                    <a:gd name="connsiteX305" fmla="*/ 921285 w 1386206"/>
                    <a:gd name="connsiteY305" fmla="*/ 784422 h 1386047"/>
                    <a:gd name="connsiteX306" fmla="*/ 926288 w 1386206"/>
                    <a:gd name="connsiteY306" fmla="*/ 744534 h 1386047"/>
                    <a:gd name="connsiteX307" fmla="*/ 929147 w 1386206"/>
                    <a:gd name="connsiteY307" fmla="*/ 632706 h 1386047"/>
                    <a:gd name="connsiteX308" fmla="*/ 927003 w 1386206"/>
                    <a:gd name="connsiteY308" fmla="*/ 587120 h 1386047"/>
                    <a:gd name="connsiteX309" fmla="*/ 923429 w 1386206"/>
                    <a:gd name="connsiteY309" fmla="*/ 514468 h 1386047"/>
                    <a:gd name="connsiteX310" fmla="*/ 923429 w 1386206"/>
                    <a:gd name="connsiteY310" fmla="*/ 513755 h 1386047"/>
                    <a:gd name="connsiteX311" fmla="*/ 922715 w 1386206"/>
                    <a:gd name="connsiteY311" fmla="*/ 500222 h 1386047"/>
                    <a:gd name="connsiteX312" fmla="*/ 1370508 w 1386206"/>
                    <a:gd name="connsiteY312" fmla="*/ 400228 h 1386047"/>
                    <a:gd name="connsiteX313" fmla="*/ 1381925 w 1386206"/>
                    <a:gd name="connsiteY313" fmla="*/ 405046 h 1386047"/>
                    <a:gd name="connsiteX314" fmla="*/ 1381925 w 1386206"/>
                    <a:gd name="connsiteY314" fmla="*/ 427174 h 1386047"/>
                    <a:gd name="connsiteX315" fmla="*/ 1369794 w 1386206"/>
                    <a:gd name="connsiteY315" fmla="*/ 437167 h 1386047"/>
                    <a:gd name="connsiteX316" fmla="*/ 1369081 w 1386206"/>
                    <a:gd name="connsiteY316" fmla="*/ 437881 h 1386047"/>
                    <a:gd name="connsiteX317" fmla="*/ 1362659 w 1386206"/>
                    <a:gd name="connsiteY317" fmla="*/ 442164 h 1386047"/>
                    <a:gd name="connsiteX318" fmla="*/ 1361945 w 1386206"/>
                    <a:gd name="connsiteY318" fmla="*/ 442877 h 1386047"/>
                    <a:gd name="connsiteX319" fmla="*/ 1354810 w 1386206"/>
                    <a:gd name="connsiteY319" fmla="*/ 446446 h 1386047"/>
                    <a:gd name="connsiteX320" fmla="*/ 1354096 w 1386206"/>
                    <a:gd name="connsiteY320" fmla="*/ 447160 h 1386047"/>
                    <a:gd name="connsiteX321" fmla="*/ 1346247 w 1386206"/>
                    <a:gd name="connsiteY321" fmla="*/ 450729 h 1386047"/>
                    <a:gd name="connsiteX322" fmla="*/ 1345534 w 1386206"/>
                    <a:gd name="connsiteY322" fmla="*/ 451443 h 1386047"/>
                    <a:gd name="connsiteX323" fmla="*/ 1336971 w 1386206"/>
                    <a:gd name="connsiteY323" fmla="*/ 455012 h 1386047"/>
                    <a:gd name="connsiteX324" fmla="*/ 1327695 w 1386206"/>
                    <a:gd name="connsiteY324" fmla="*/ 458581 h 1386047"/>
                    <a:gd name="connsiteX325" fmla="*/ 1318419 w 1386206"/>
                    <a:gd name="connsiteY325" fmla="*/ 461436 h 1386047"/>
                    <a:gd name="connsiteX326" fmla="*/ 1317705 w 1386206"/>
                    <a:gd name="connsiteY326" fmla="*/ 461436 h 1386047"/>
                    <a:gd name="connsiteX327" fmla="*/ 1308429 w 1386206"/>
                    <a:gd name="connsiteY327" fmla="*/ 464291 h 1386047"/>
                    <a:gd name="connsiteX328" fmla="*/ 1307002 w 1386206"/>
                    <a:gd name="connsiteY328" fmla="*/ 465005 h 1386047"/>
                    <a:gd name="connsiteX329" fmla="*/ 1297726 w 1386206"/>
                    <a:gd name="connsiteY329" fmla="*/ 467147 h 1386047"/>
                    <a:gd name="connsiteX330" fmla="*/ 1296299 w 1386206"/>
                    <a:gd name="connsiteY330" fmla="*/ 467147 h 1386047"/>
                    <a:gd name="connsiteX331" fmla="*/ 1286309 w 1386206"/>
                    <a:gd name="connsiteY331" fmla="*/ 469288 h 1386047"/>
                    <a:gd name="connsiteX332" fmla="*/ 1284882 w 1386206"/>
                    <a:gd name="connsiteY332" fmla="*/ 469288 h 1386047"/>
                    <a:gd name="connsiteX333" fmla="*/ 1274179 w 1386206"/>
                    <a:gd name="connsiteY333" fmla="*/ 471429 h 1386047"/>
                    <a:gd name="connsiteX334" fmla="*/ 1273465 w 1386206"/>
                    <a:gd name="connsiteY334" fmla="*/ 471429 h 1386047"/>
                    <a:gd name="connsiteX335" fmla="*/ 1262048 w 1386206"/>
                    <a:gd name="connsiteY335" fmla="*/ 472857 h 1386047"/>
                    <a:gd name="connsiteX336" fmla="*/ 1261335 w 1386206"/>
                    <a:gd name="connsiteY336" fmla="*/ 473571 h 1386047"/>
                    <a:gd name="connsiteX337" fmla="*/ 1249205 w 1386206"/>
                    <a:gd name="connsiteY337" fmla="*/ 474998 h 1386047"/>
                    <a:gd name="connsiteX338" fmla="*/ 1209959 w 1386206"/>
                    <a:gd name="connsiteY338" fmla="*/ 477853 h 1386047"/>
                    <a:gd name="connsiteX339" fmla="*/ 1209246 w 1386206"/>
                    <a:gd name="connsiteY339" fmla="*/ 477853 h 1386047"/>
                    <a:gd name="connsiteX340" fmla="*/ 1196402 w 1386206"/>
                    <a:gd name="connsiteY340" fmla="*/ 477853 h 1386047"/>
                    <a:gd name="connsiteX341" fmla="*/ 1195688 w 1386206"/>
                    <a:gd name="connsiteY341" fmla="*/ 477853 h 1386047"/>
                    <a:gd name="connsiteX342" fmla="*/ 1182131 w 1386206"/>
                    <a:gd name="connsiteY342" fmla="*/ 478567 h 1386047"/>
                    <a:gd name="connsiteX343" fmla="*/ 1181417 w 1386206"/>
                    <a:gd name="connsiteY343" fmla="*/ 478567 h 1386047"/>
                    <a:gd name="connsiteX344" fmla="*/ 1167860 w 1386206"/>
                    <a:gd name="connsiteY344" fmla="*/ 478567 h 1386047"/>
                    <a:gd name="connsiteX345" fmla="*/ 1166433 w 1386206"/>
                    <a:gd name="connsiteY345" fmla="*/ 478567 h 1386047"/>
                    <a:gd name="connsiteX346" fmla="*/ 1152875 w 1386206"/>
                    <a:gd name="connsiteY346" fmla="*/ 478567 h 1386047"/>
                    <a:gd name="connsiteX347" fmla="*/ 1151448 w 1386206"/>
                    <a:gd name="connsiteY347" fmla="*/ 478567 h 1386047"/>
                    <a:gd name="connsiteX348" fmla="*/ 1137891 w 1386206"/>
                    <a:gd name="connsiteY348" fmla="*/ 478567 h 1386047"/>
                    <a:gd name="connsiteX349" fmla="*/ 1136464 w 1386206"/>
                    <a:gd name="connsiteY349" fmla="*/ 478567 h 1386047"/>
                    <a:gd name="connsiteX350" fmla="*/ 1122193 w 1386206"/>
                    <a:gd name="connsiteY350" fmla="*/ 478567 h 1386047"/>
                    <a:gd name="connsiteX351" fmla="*/ 1121479 w 1386206"/>
                    <a:gd name="connsiteY351" fmla="*/ 478567 h 1386047"/>
                    <a:gd name="connsiteX352" fmla="*/ 1058687 w 1386206"/>
                    <a:gd name="connsiteY352" fmla="*/ 475712 h 1386047"/>
                    <a:gd name="connsiteX353" fmla="*/ 1042989 w 1386206"/>
                    <a:gd name="connsiteY353" fmla="*/ 474998 h 1386047"/>
                    <a:gd name="connsiteX354" fmla="*/ 1042275 w 1386206"/>
                    <a:gd name="connsiteY354" fmla="*/ 474998 h 1386047"/>
                    <a:gd name="connsiteX355" fmla="*/ 1026577 w 1386206"/>
                    <a:gd name="connsiteY355" fmla="*/ 473571 h 1386047"/>
                    <a:gd name="connsiteX356" fmla="*/ 1025150 w 1386206"/>
                    <a:gd name="connsiteY356" fmla="*/ 473571 h 1386047"/>
                    <a:gd name="connsiteX357" fmla="*/ 1010165 w 1386206"/>
                    <a:gd name="connsiteY357" fmla="*/ 472857 h 1386047"/>
                    <a:gd name="connsiteX358" fmla="*/ 1008738 w 1386206"/>
                    <a:gd name="connsiteY358" fmla="*/ 472857 h 1386047"/>
                    <a:gd name="connsiteX359" fmla="*/ 1007311 w 1386206"/>
                    <a:gd name="connsiteY359" fmla="*/ 472857 h 1386047"/>
                    <a:gd name="connsiteX360" fmla="*/ 993040 w 1386206"/>
                    <a:gd name="connsiteY360" fmla="*/ 471429 h 1386047"/>
                    <a:gd name="connsiteX361" fmla="*/ 992327 w 1386206"/>
                    <a:gd name="connsiteY361" fmla="*/ 471429 h 1386047"/>
                    <a:gd name="connsiteX362" fmla="*/ 983764 w 1386206"/>
                    <a:gd name="connsiteY362" fmla="*/ 471429 h 1386047"/>
                    <a:gd name="connsiteX363" fmla="*/ 975915 w 1386206"/>
                    <a:gd name="connsiteY363" fmla="*/ 470715 h 1386047"/>
                    <a:gd name="connsiteX364" fmla="*/ 952368 w 1386206"/>
                    <a:gd name="connsiteY364" fmla="*/ 469288 h 1386047"/>
                    <a:gd name="connsiteX365" fmla="*/ 942378 w 1386206"/>
                    <a:gd name="connsiteY365" fmla="*/ 468574 h 1386047"/>
                    <a:gd name="connsiteX366" fmla="*/ 920258 w 1386206"/>
                    <a:gd name="connsiteY366" fmla="*/ 467147 h 1386047"/>
                    <a:gd name="connsiteX367" fmla="*/ 888861 w 1386206"/>
                    <a:gd name="connsiteY367" fmla="*/ 465005 h 1386047"/>
                    <a:gd name="connsiteX368" fmla="*/ 866741 w 1386206"/>
                    <a:gd name="connsiteY368" fmla="*/ 463578 h 1386047"/>
                    <a:gd name="connsiteX369" fmla="*/ 800381 w 1386206"/>
                    <a:gd name="connsiteY369" fmla="*/ 460009 h 1386047"/>
                    <a:gd name="connsiteX370" fmla="*/ 754714 w 1386206"/>
                    <a:gd name="connsiteY370" fmla="*/ 457867 h 1386047"/>
                    <a:gd name="connsiteX371" fmla="*/ 642687 w 1386206"/>
                    <a:gd name="connsiteY371" fmla="*/ 460722 h 1386047"/>
                    <a:gd name="connsiteX372" fmla="*/ 602728 w 1386206"/>
                    <a:gd name="connsiteY372" fmla="*/ 465719 h 1386047"/>
                    <a:gd name="connsiteX373" fmla="*/ 526378 w 1386206"/>
                    <a:gd name="connsiteY373" fmla="*/ 489274 h 1386047"/>
                    <a:gd name="connsiteX374" fmla="*/ 517816 w 1386206"/>
                    <a:gd name="connsiteY374" fmla="*/ 494985 h 1386047"/>
                    <a:gd name="connsiteX375" fmla="*/ 505685 w 1386206"/>
                    <a:gd name="connsiteY375" fmla="*/ 504978 h 1386047"/>
                    <a:gd name="connsiteX376" fmla="*/ 495696 w 1386206"/>
                    <a:gd name="connsiteY376" fmla="*/ 517112 h 1386047"/>
                    <a:gd name="connsiteX377" fmla="*/ 472862 w 1386206"/>
                    <a:gd name="connsiteY377" fmla="*/ 570647 h 1386047"/>
                    <a:gd name="connsiteX378" fmla="*/ 469294 w 1386206"/>
                    <a:gd name="connsiteY378" fmla="*/ 585637 h 1386047"/>
                    <a:gd name="connsiteX379" fmla="*/ 467867 w 1386206"/>
                    <a:gd name="connsiteY379" fmla="*/ 594202 h 1386047"/>
                    <a:gd name="connsiteX380" fmla="*/ 466440 w 1386206"/>
                    <a:gd name="connsiteY380" fmla="*/ 602054 h 1386047"/>
                    <a:gd name="connsiteX381" fmla="*/ 461445 w 1386206"/>
                    <a:gd name="connsiteY381" fmla="*/ 642026 h 1386047"/>
                    <a:gd name="connsiteX382" fmla="*/ 458591 w 1386206"/>
                    <a:gd name="connsiteY382" fmla="*/ 754092 h 1386047"/>
                    <a:gd name="connsiteX383" fmla="*/ 460732 w 1386206"/>
                    <a:gd name="connsiteY383" fmla="*/ 799775 h 1386047"/>
                    <a:gd name="connsiteX384" fmla="*/ 464299 w 1386206"/>
                    <a:gd name="connsiteY384" fmla="*/ 872582 h 1386047"/>
                    <a:gd name="connsiteX385" fmla="*/ 464299 w 1386206"/>
                    <a:gd name="connsiteY385" fmla="*/ 873296 h 1386047"/>
                    <a:gd name="connsiteX386" fmla="*/ 465726 w 1386206"/>
                    <a:gd name="connsiteY386" fmla="*/ 887572 h 1386047"/>
                    <a:gd name="connsiteX387" fmla="*/ 462872 w 1386206"/>
                    <a:gd name="connsiteY387" fmla="*/ 887572 h 1386047"/>
                    <a:gd name="connsiteX388" fmla="*/ 433617 w 1386206"/>
                    <a:gd name="connsiteY388" fmla="*/ 885431 h 1386047"/>
                    <a:gd name="connsiteX389" fmla="*/ 430049 w 1386206"/>
                    <a:gd name="connsiteY389" fmla="*/ 824044 h 1386047"/>
                    <a:gd name="connsiteX390" fmla="*/ 427195 w 1386206"/>
                    <a:gd name="connsiteY390" fmla="*/ 733392 h 1386047"/>
                    <a:gd name="connsiteX391" fmla="*/ 427195 w 1386206"/>
                    <a:gd name="connsiteY391" fmla="*/ 721258 h 1386047"/>
                    <a:gd name="connsiteX392" fmla="*/ 427195 w 1386206"/>
                    <a:gd name="connsiteY392" fmla="*/ 711265 h 1386047"/>
                    <a:gd name="connsiteX393" fmla="*/ 427195 w 1386206"/>
                    <a:gd name="connsiteY393" fmla="*/ 701271 h 1386047"/>
                    <a:gd name="connsiteX394" fmla="*/ 483565 w 1386206"/>
                    <a:gd name="connsiteY394" fmla="*/ 482850 h 1386047"/>
                    <a:gd name="connsiteX395" fmla="*/ 680505 w 1386206"/>
                    <a:gd name="connsiteY395" fmla="*/ 427174 h 1386047"/>
                    <a:gd name="connsiteX396" fmla="*/ 681218 w 1386206"/>
                    <a:gd name="connsiteY396" fmla="*/ 427174 h 1386047"/>
                    <a:gd name="connsiteX397" fmla="*/ 694062 w 1386206"/>
                    <a:gd name="connsiteY397" fmla="*/ 426460 h 1386047"/>
                    <a:gd name="connsiteX398" fmla="*/ 697630 w 1386206"/>
                    <a:gd name="connsiteY398" fmla="*/ 426460 h 1386047"/>
                    <a:gd name="connsiteX399" fmla="*/ 863174 w 1386206"/>
                    <a:gd name="connsiteY399" fmla="*/ 431457 h 1386047"/>
                    <a:gd name="connsiteX400" fmla="*/ 886721 w 1386206"/>
                    <a:gd name="connsiteY400" fmla="*/ 432884 h 1386047"/>
                    <a:gd name="connsiteX401" fmla="*/ 918117 w 1386206"/>
                    <a:gd name="connsiteY401" fmla="*/ 435026 h 1386047"/>
                    <a:gd name="connsiteX402" fmla="*/ 944519 w 1386206"/>
                    <a:gd name="connsiteY402" fmla="*/ 437167 h 1386047"/>
                    <a:gd name="connsiteX403" fmla="*/ 950227 w 1386206"/>
                    <a:gd name="connsiteY403" fmla="*/ 437167 h 1386047"/>
                    <a:gd name="connsiteX404" fmla="*/ 980910 w 1386206"/>
                    <a:gd name="connsiteY404" fmla="*/ 439308 h 1386047"/>
                    <a:gd name="connsiteX405" fmla="*/ 981623 w 1386206"/>
                    <a:gd name="connsiteY405" fmla="*/ 439308 h 1386047"/>
                    <a:gd name="connsiteX406" fmla="*/ 986618 w 1386206"/>
                    <a:gd name="connsiteY406" fmla="*/ 440022 h 1386047"/>
                    <a:gd name="connsiteX407" fmla="*/ 993040 w 1386206"/>
                    <a:gd name="connsiteY407" fmla="*/ 440022 h 1386047"/>
                    <a:gd name="connsiteX408" fmla="*/ 1003743 w 1386206"/>
                    <a:gd name="connsiteY408" fmla="*/ 440736 h 1386047"/>
                    <a:gd name="connsiteX409" fmla="*/ 1005171 w 1386206"/>
                    <a:gd name="connsiteY409" fmla="*/ 440736 h 1386047"/>
                    <a:gd name="connsiteX410" fmla="*/ 1008025 w 1386206"/>
                    <a:gd name="connsiteY410" fmla="*/ 441450 h 1386047"/>
                    <a:gd name="connsiteX411" fmla="*/ 1020155 w 1386206"/>
                    <a:gd name="connsiteY411" fmla="*/ 442164 h 1386047"/>
                    <a:gd name="connsiteX412" fmla="*/ 1023723 w 1386206"/>
                    <a:gd name="connsiteY412" fmla="*/ 442164 h 1386047"/>
                    <a:gd name="connsiteX413" fmla="*/ 1035853 w 1386206"/>
                    <a:gd name="connsiteY413" fmla="*/ 442877 h 1386047"/>
                    <a:gd name="connsiteX414" fmla="*/ 1038707 w 1386206"/>
                    <a:gd name="connsiteY414" fmla="*/ 442877 h 1386047"/>
                    <a:gd name="connsiteX415" fmla="*/ 1051551 w 1386206"/>
                    <a:gd name="connsiteY415" fmla="*/ 443591 h 1386047"/>
                    <a:gd name="connsiteX416" fmla="*/ 1053692 w 1386206"/>
                    <a:gd name="connsiteY416" fmla="*/ 444305 h 1386047"/>
                    <a:gd name="connsiteX417" fmla="*/ 1058687 w 1386206"/>
                    <a:gd name="connsiteY417" fmla="*/ 444305 h 1386047"/>
                    <a:gd name="connsiteX418" fmla="*/ 1067249 w 1386206"/>
                    <a:gd name="connsiteY418" fmla="*/ 445019 h 1386047"/>
                    <a:gd name="connsiteX419" fmla="*/ 1081520 w 1386206"/>
                    <a:gd name="connsiteY419" fmla="*/ 445019 h 1386047"/>
                    <a:gd name="connsiteX420" fmla="*/ 1082947 w 1386206"/>
                    <a:gd name="connsiteY420" fmla="*/ 445733 h 1386047"/>
                    <a:gd name="connsiteX421" fmla="*/ 1096505 w 1386206"/>
                    <a:gd name="connsiteY421" fmla="*/ 445733 h 1386047"/>
                    <a:gd name="connsiteX422" fmla="*/ 1097932 w 1386206"/>
                    <a:gd name="connsiteY422" fmla="*/ 445733 h 1386047"/>
                    <a:gd name="connsiteX423" fmla="*/ 1105068 w 1386206"/>
                    <a:gd name="connsiteY423" fmla="*/ 446446 h 1386047"/>
                    <a:gd name="connsiteX424" fmla="*/ 1110776 w 1386206"/>
                    <a:gd name="connsiteY424" fmla="*/ 446446 h 1386047"/>
                    <a:gd name="connsiteX425" fmla="*/ 1112917 w 1386206"/>
                    <a:gd name="connsiteY425" fmla="*/ 446446 h 1386047"/>
                    <a:gd name="connsiteX426" fmla="*/ 1125760 w 1386206"/>
                    <a:gd name="connsiteY426" fmla="*/ 447160 h 1386047"/>
                    <a:gd name="connsiteX427" fmla="*/ 1127188 w 1386206"/>
                    <a:gd name="connsiteY427" fmla="*/ 447160 h 1386047"/>
                    <a:gd name="connsiteX428" fmla="*/ 1140031 w 1386206"/>
                    <a:gd name="connsiteY428" fmla="*/ 447160 h 1386047"/>
                    <a:gd name="connsiteX429" fmla="*/ 1141459 w 1386206"/>
                    <a:gd name="connsiteY429" fmla="*/ 447160 h 1386047"/>
                    <a:gd name="connsiteX430" fmla="*/ 1154302 w 1386206"/>
                    <a:gd name="connsiteY430" fmla="*/ 447160 h 1386047"/>
                    <a:gd name="connsiteX431" fmla="*/ 1155730 w 1386206"/>
                    <a:gd name="connsiteY431" fmla="*/ 447160 h 1386047"/>
                    <a:gd name="connsiteX432" fmla="*/ 1168573 w 1386206"/>
                    <a:gd name="connsiteY432" fmla="*/ 447160 h 1386047"/>
                    <a:gd name="connsiteX433" fmla="*/ 1169287 w 1386206"/>
                    <a:gd name="connsiteY433" fmla="*/ 447160 h 1386047"/>
                    <a:gd name="connsiteX434" fmla="*/ 1194975 w 1386206"/>
                    <a:gd name="connsiteY434" fmla="*/ 446446 h 1386047"/>
                    <a:gd name="connsiteX435" fmla="*/ 1195688 w 1386206"/>
                    <a:gd name="connsiteY435" fmla="*/ 446446 h 1386047"/>
                    <a:gd name="connsiteX436" fmla="*/ 1207819 w 1386206"/>
                    <a:gd name="connsiteY436" fmla="*/ 446446 h 1386047"/>
                    <a:gd name="connsiteX437" fmla="*/ 1209246 w 1386206"/>
                    <a:gd name="connsiteY437" fmla="*/ 446446 h 1386047"/>
                    <a:gd name="connsiteX438" fmla="*/ 1219235 w 1386206"/>
                    <a:gd name="connsiteY438" fmla="*/ 445733 h 1386047"/>
                    <a:gd name="connsiteX439" fmla="*/ 1220663 w 1386206"/>
                    <a:gd name="connsiteY439" fmla="*/ 445733 h 1386047"/>
                    <a:gd name="connsiteX440" fmla="*/ 1222090 w 1386206"/>
                    <a:gd name="connsiteY440" fmla="*/ 445733 h 1386047"/>
                    <a:gd name="connsiteX441" fmla="*/ 1232793 w 1386206"/>
                    <a:gd name="connsiteY441" fmla="*/ 445019 h 1386047"/>
                    <a:gd name="connsiteX442" fmla="*/ 1234220 w 1386206"/>
                    <a:gd name="connsiteY442" fmla="*/ 444305 h 1386047"/>
                    <a:gd name="connsiteX443" fmla="*/ 1244923 w 1386206"/>
                    <a:gd name="connsiteY443" fmla="*/ 443591 h 1386047"/>
                    <a:gd name="connsiteX444" fmla="*/ 1246350 w 1386206"/>
                    <a:gd name="connsiteY444" fmla="*/ 443591 h 1386047"/>
                    <a:gd name="connsiteX445" fmla="*/ 1257054 w 1386206"/>
                    <a:gd name="connsiteY445" fmla="*/ 442164 h 1386047"/>
                    <a:gd name="connsiteX446" fmla="*/ 1257767 w 1386206"/>
                    <a:gd name="connsiteY446" fmla="*/ 442164 h 1386047"/>
                    <a:gd name="connsiteX447" fmla="*/ 1259908 w 1386206"/>
                    <a:gd name="connsiteY447" fmla="*/ 442164 h 1386047"/>
                    <a:gd name="connsiteX448" fmla="*/ 1267757 w 1386206"/>
                    <a:gd name="connsiteY448" fmla="*/ 440736 h 1386047"/>
                    <a:gd name="connsiteX449" fmla="*/ 1268470 w 1386206"/>
                    <a:gd name="connsiteY449" fmla="*/ 440736 h 1386047"/>
                    <a:gd name="connsiteX450" fmla="*/ 1288450 w 1386206"/>
                    <a:gd name="connsiteY450" fmla="*/ 437167 h 1386047"/>
                    <a:gd name="connsiteX451" fmla="*/ 1289163 w 1386206"/>
                    <a:gd name="connsiteY451" fmla="*/ 437167 h 1386047"/>
                    <a:gd name="connsiteX452" fmla="*/ 1298439 w 1386206"/>
                    <a:gd name="connsiteY452" fmla="*/ 435026 h 1386047"/>
                    <a:gd name="connsiteX453" fmla="*/ 1299153 w 1386206"/>
                    <a:gd name="connsiteY453" fmla="*/ 434312 h 1386047"/>
                    <a:gd name="connsiteX454" fmla="*/ 1307716 w 1386206"/>
                    <a:gd name="connsiteY454" fmla="*/ 432171 h 1386047"/>
                    <a:gd name="connsiteX455" fmla="*/ 1309143 w 1386206"/>
                    <a:gd name="connsiteY455" fmla="*/ 432171 h 1386047"/>
                    <a:gd name="connsiteX456" fmla="*/ 1316992 w 1386206"/>
                    <a:gd name="connsiteY456" fmla="*/ 429315 h 1386047"/>
                    <a:gd name="connsiteX457" fmla="*/ 1317705 w 1386206"/>
                    <a:gd name="connsiteY457" fmla="*/ 428602 h 1386047"/>
                    <a:gd name="connsiteX458" fmla="*/ 1324841 w 1386206"/>
                    <a:gd name="connsiteY458" fmla="*/ 426460 h 1386047"/>
                    <a:gd name="connsiteX459" fmla="*/ 1326268 w 1386206"/>
                    <a:gd name="connsiteY459" fmla="*/ 425746 h 1386047"/>
                    <a:gd name="connsiteX460" fmla="*/ 1333403 w 1386206"/>
                    <a:gd name="connsiteY460" fmla="*/ 422891 h 1386047"/>
                    <a:gd name="connsiteX461" fmla="*/ 1333403 w 1386206"/>
                    <a:gd name="connsiteY461" fmla="*/ 422177 h 1386047"/>
                    <a:gd name="connsiteX462" fmla="*/ 1340539 w 1386206"/>
                    <a:gd name="connsiteY462" fmla="*/ 418608 h 1386047"/>
                    <a:gd name="connsiteX463" fmla="*/ 1346961 w 1386206"/>
                    <a:gd name="connsiteY463" fmla="*/ 415039 h 1386047"/>
                    <a:gd name="connsiteX464" fmla="*/ 1359091 w 1386206"/>
                    <a:gd name="connsiteY464" fmla="*/ 405046 h 1386047"/>
                    <a:gd name="connsiteX465" fmla="*/ 1370508 w 1386206"/>
                    <a:gd name="connsiteY465" fmla="*/ 400228 h 1386047"/>
                    <a:gd name="connsiteX466" fmla="*/ 971731 w 1386206"/>
                    <a:gd name="connsiteY466" fmla="*/ 0 h 1386047"/>
                    <a:gd name="connsiteX467" fmla="*/ 982664 w 1386206"/>
                    <a:gd name="connsiteY467" fmla="*/ 4284 h 1386047"/>
                    <a:gd name="connsiteX468" fmla="*/ 982664 w 1386206"/>
                    <a:gd name="connsiteY468" fmla="*/ 27130 h 1386047"/>
                    <a:gd name="connsiteX469" fmla="*/ 972544 w 1386206"/>
                    <a:gd name="connsiteY469" fmla="*/ 39268 h 1386047"/>
                    <a:gd name="connsiteX470" fmla="*/ 968929 w 1386206"/>
                    <a:gd name="connsiteY470" fmla="*/ 45693 h 1386047"/>
                    <a:gd name="connsiteX471" fmla="*/ 965315 w 1386206"/>
                    <a:gd name="connsiteY471" fmla="*/ 52833 h 1386047"/>
                    <a:gd name="connsiteX472" fmla="*/ 964592 w 1386206"/>
                    <a:gd name="connsiteY472" fmla="*/ 52833 h 1386047"/>
                    <a:gd name="connsiteX473" fmla="*/ 961701 w 1386206"/>
                    <a:gd name="connsiteY473" fmla="*/ 59972 h 1386047"/>
                    <a:gd name="connsiteX474" fmla="*/ 960978 w 1386206"/>
                    <a:gd name="connsiteY474" fmla="*/ 61400 h 1386047"/>
                    <a:gd name="connsiteX475" fmla="*/ 958809 w 1386206"/>
                    <a:gd name="connsiteY475" fmla="*/ 68540 h 1386047"/>
                    <a:gd name="connsiteX476" fmla="*/ 958086 w 1386206"/>
                    <a:gd name="connsiteY476" fmla="*/ 69254 h 1386047"/>
                    <a:gd name="connsiteX477" fmla="*/ 955195 w 1386206"/>
                    <a:gd name="connsiteY477" fmla="*/ 77107 h 1386047"/>
                    <a:gd name="connsiteX478" fmla="*/ 955195 w 1386206"/>
                    <a:gd name="connsiteY478" fmla="*/ 78535 h 1386047"/>
                    <a:gd name="connsiteX479" fmla="*/ 953026 w 1386206"/>
                    <a:gd name="connsiteY479" fmla="*/ 87103 h 1386047"/>
                    <a:gd name="connsiteX480" fmla="*/ 952303 w 1386206"/>
                    <a:gd name="connsiteY480" fmla="*/ 87817 h 1386047"/>
                    <a:gd name="connsiteX481" fmla="*/ 950135 w 1386206"/>
                    <a:gd name="connsiteY481" fmla="*/ 97098 h 1386047"/>
                    <a:gd name="connsiteX482" fmla="*/ 950135 w 1386206"/>
                    <a:gd name="connsiteY482" fmla="*/ 97812 h 1386047"/>
                    <a:gd name="connsiteX483" fmla="*/ 946520 w 1386206"/>
                    <a:gd name="connsiteY483" fmla="*/ 117803 h 1386047"/>
                    <a:gd name="connsiteX484" fmla="*/ 946520 w 1386206"/>
                    <a:gd name="connsiteY484" fmla="*/ 118517 h 1386047"/>
                    <a:gd name="connsiteX485" fmla="*/ 945074 w 1386206"/>
                    <a:gd name="connsiteY485" fmla="*/ 126370 h 1386047"/>
                    <a:gd name="connsiteX486" fmla="*/ 945074 w 1386206"/>
                    <a:gd name="connsiteY486" fmla="*/ 128512 h 1386047"/>
                    <a:gd name="connsiteX487" fmla="*/ 945074 w 1386206"/>
                    <a:gd name="connsiteY487" fmla="*/ 129940 h 1386047"/>
                    <a:gd name="connsiteX488" fmla="*/ 943629 w 1386206"/>
                    <a:gd name="connsiteY488" fmla="*/ 139935 h 1386047"/>
                    <a:gd name="connsiteX489" fmla="*/ 943629 w 1386206"/>
                    <a:gd name="connsiteY489" fmla="*/ 141363 h 1386047"/>
                    <a:gd name="connsiteX490" fmla="*/ 942906 w 1386206"/>
                    <a:gd name="connsiteY490" fmla="*/ 152073 h 1386047"/>
                    <a:gd name="connsiteX491" fmla="*/ 942183 w 1386206"/>
                    <a:gd name="connsiteY491" fmla="*/ 153501 h 1386047"/>
                    <a:gd name="connsiteX492" fmla="*/ 941460 w 1386206"/>
                    <a:gd name="connsiteY492" fmla="*/ 164210 h 1386047"/>
                    <a:gd name="connsiteX493" fmla="*/ 941460 w 1386206"/>
                    <a:gd name="connsiteY493" fmla="*/ 165638 h 1386047"/>
                    <a:gd name="connsiteX494" fmla="*/ 941460 w 1386206"/>
                    <a:gd name="connsiteY494" fmla="*/ 167066 h 1386047"/>
                    <a:gd name="connsiteX495" fmla="*/ 940737 w 1386206"/>
                    <a:gd name="connsiteY495" fmla="*/ 177061 h 1386047"/>
                    <a:gd name="connsiteX496" fmla="*/ 940737 w 1386206"/>
                    <a:gd name="connsiteY496" fmla="*/ 178489 h 1386047"/>
                    <a:gd name="connsiteX497" fmla="*/ 940737 w 1386206"/>
                    <a:gd name="connsiteY497" fmla="*/ 190626 h 1386047"/>
                    <a:gd name="connsiteX498" fmla="*/ 940737 w 1386206"/>
                    <a:gd name="connsiteY498" fmla="*/ 191340 h 1386047"/>
                    <a:gd name="connsiteX499" fmla="*/ 940014 w 1386206"/>
                    <a:gd name="connsiteY499" fmla="*/ 217043 h 1386047"/>
                    <a:gd name="connsiteX500" fmla="*/ 940014 w 1386206"/>
                    <a:gd name="connsiteY500" fmla="*/ 217757 h 1386047"/>
                    <a:gd name="connsiteX501" fmla="*/ 940014 w 1386206"/>
                    <a:gd name="connsiteY501" fmla="*/ 230608 h 1386047"/>
                    <a:gd name="connsiteX502" fmla="*/ 940014 w 1386206"/>
                    <a:gd name="connsiteY502" fmla="*/ 232036 h 1386047"/>
                    <a:gd name="connsiteX503" fmla="*/ 940014 w 1386206"/>
                    <a:gd name="connsiteY503" fmla="*/ 244887 h 1386047"/>
                    <a:gd name="connsiteX504" fmla="*/ 940014 w 1386206"/>
                    <a:gd name="connsiteY504" fmla="*/ 246315 h 1386047"/>
                    <a:gd name="connsiteX505" fmla="*/ 940014 w 1386206"/>
                    <a:gd name="connsiteY505" fmla="*/ 259166 h 1386047"/>
                    <a:gd name="connsiteX506" fmla="*/ 940014 w 1386206"/>
                    <a:gd name="connsiteY506" fmla="*/ 260594 h 1386047"/>
                    <a:gd name="connsiteX507" fmla="*/ 940737 w 1386206"/>
                    <a:gd name="connsiteY507" fmla="*/ 273445 h 1386047"/>
                    <a:gd name="connsiteX508" fmla="*/ 940737 w 1386206"/>
                    <a:gd name="connsiteY508" fmla="*/ 275587 h 1386047"/>
                    <a:gd name="connsiteX509" fmla="*/ 940737 w 1386206"/>
                    <a:gd name="connsiteY509" fmla="*/ 281299 h 1386047"/>
                    <a:gd name="connsiteX510" fmla="*/ 941460 w 1386206"/>
                    <a:gd name="connsiteY510" fmla="*/ 288438 h 1386047"/>
                    <a:gd name="connsiteX511" fmla="*/ 941460 w 1386206"/>
                    <a:gd name="connsiteY511" fmla="*/ 289866 h 1386047"/>
                    <a:gd name="connsiteX512" fmla="*/ 941460 w 1386206"/>
                    <a:gd name="connsiteY512" fmla="*/ 303431 h 1386047"/>
                    <a:gd name="connsiteX513" fmla="*/ 942183 w 1386206"/>
                    <a:gd name="connsiteY513" fmla="*/ 304859 h 1386047"/>
                    <a:gd name="connsiteX514" fmla="*/ 942906 w 1386206"/>
                    <a:gd name="connsiteY514" fmla="*/ 327706 h 1386047"/>
                    <a:gd name="connsiteX515" fmla="*/ 943629 w 1386206"/>
                    <a:gd name="connsiteY515" fmla="*/ 333417 h 1386047"/>
                    <a:gd name="connsiteX516" fmla="*/ 943629 w 1386206"/>
                    <a:gd name="connsiteY516" fmla="*/ 334131 h 1386047"/>
                    <a:gd name="connsiteX517" fmla="*/ 944351 w 1386206"/>
                    <a:gd name="connsiteY517" fmla="*/ 348411 h 1386047"/>
                    <a:gd name="connsiteX518" fmla="*/ 944351 w 1386206"/>
                    <a:gd name="connsiteY518" fmla="*/ 349838 h 1386047"/>
                    <a:gd name="connsiteX519" fmla="*/ 945074 w 1386206"/>
                    <a:gd name="connsiteY519" fmla="*/ 363404 h 1386047"/>
                    <a:gd name="connsiteX520" fmla="*/ 945074 w 1386206"/>
                    <a:gd name="connsiteY520" fmla="*/ 365545 h 1386047"/>
                    <a:gd name="connsiteX521" fmla="*/ 945797 w 1386206"/>
                    <a:gd name="connsiteY521" fmla="*/ 379111 h 1386047"/>
                    <a:gd name="connsiteX522" fmla="*/ 946520 w 1386206"/>
                    <a:gd name="connsiteY522" fmla="*/ 381253 h 1386047"/>
                    <a:gd name="connsiteX523" fmla="*/ 947243 w 1386206"/>
                    <a:gd name="connsiteY523" fmla="*/ 394818 h 1386047"/>
                    <a:gd name="connsiteX524" fmla="*/ 947243 w 1386206"/>
                    <a:gd name="connsiteY524" fmla="*/ 396960 h 1386047"/>
                    <a:gd name="connsiteX525" fmla="*/ 947966 w 1386206"/>
                    <a:gd name="connsiteY525" fmla="*/ 403385 h 1386047"/>
                    <a:gd name="connsiteX526" fmla="*/ 946520 w 1386206"/>
                    <a:gd name="connsiteY526" fmla="*/ 403385 h 1386047"/>
                    <a:gd name="connsiteX527" fmla="*/ 915436 w 1386206"/>
                    <a:gd name="connsiteY527" fmla="*/ 401243 h 1386047"/>
                    <a:gd name="connsiteX528" fmla="*/ 915436 w 1386206"/>
                    <a:gd name="connsiteY528" fmla="*/ 395532 h 1386047"/>
                    <a:gd name="connsiteX529" fmla="*/ 914713 w 1386206"/>
                    <a:gd name="connsiteY529" fmla="*/ 392676 h 1386047"/>
                    <a:gd name="connsiteX530" fmla="*/ 913990 w 1386206"/>
                    <a:gd name="connsiteY530" fmla="*/ 378397 h 1386047"/>
                    <a:gd name="connsiteX531" fmla="*/ 913990 w 1386206"/>
                    <a:gd name="connsiteY531" fmla="*/ 375541 h 1386047"/>
                    <a:gd name="connsiteX532" fmla="*/ 913267 w 1386206"/>
                    <a:gd name="connsiteY532" fmla="*/ 361976 h 1386047"/>
                    <a:gd name="connsiteX533" fmla="*/ 912545 w 1386206"/>
                    <a:gd name="connsiteY533" fmla="*/ 359120 h 1386047"/>
                    <a:gd name="connsiteX534" fmla="*/ 911822 w 1386206"/>
                    <a:gd name="connsiteY534" fmla="*/ 344841 h 1386047"/>
                    <a:gd name="connsiteX535" fmla="*/ 911822 w 1386206"/>
                    <a:gd name="connsiteY535" fmla="*/ 342699 h 1386047"/>
                    <a:gd name="connsiteX536" fmla="*/ 911099 w 1386206"/>
                    <a:gd name="connsiteY536" fmla="*/ 328420 h 1386047"/>
                    <a:gd name="connsiteX537" fmla="*/ 911099 w 1386206"/>
                    <a:gd name="connsiteY537" fmla="*/ 326278 h 1386047"/>
                    <a:gd name="connsiteX538" fmla="*/ 910376 w 1386206"/>
                    <a:gd name="connsiteY538" fmla="*/ 311999 h 1386047"/>
                    <a:gd name="connsiteX539" fmla="*/ 910376 w 1386206"/>
                    <a:gd name="connsiteY539" fmla="*/ 310571 h 1386047"/>
                    <a:gd name="connsiteX540" fmla="*/ 909653 w 1386206"/>
                    <a:gd name="connsiteY540" fmla="*/ 295578 h 1386047"/>
                    <a:gd name="connsiteX541" fmla="*/ 908930 w 1386206"/>
                    <a:gd name="connsiteY541" fmla="*/ 280585 h 1386047"/>
                    <a:gd name="connsiteX542" fmla="*/ 908930 w 1386206"/>
                    <a:gd name="connsiteY542" fmla="*/ 279871 h 1386047"/>
                    <a:gd name="connsiteX543" fmla="*/ 908930 w 1386206"/>
                    <a:gd name="connsiteY543" fmla="*/ 265592 h 1386047"/>
                    <a:gd name="connsiteX544" fmla="*/ 908207 w 1386206"/>
                    <a:gd name="connsiteY544" fmla="*/ 264164 h 1386047"/>
                    <a:gd name="connsiteX545" fmla="*/ 908207 w 1386206"/>
                    <a:gd name="connsiteY545" fmla="*/ 249885 h 1386047"/>
                    <a:gd name="connsiteX546" fmla="*/ 908207 w 1386206"/>
                    <a:gd name="connsiteY546" fmla="*/ 248457 h 1386047"/>
                    <a:gd name="connsiteX547" fmla="*/ 908207 w 1386206"/>
                    <a:gd name="connsiteY547" fmla="*/ 234892 h 1386047"/>
                    <a:gd name="connsiteX548" fmla="*/ 908207 w 1386206"/>
                    <a:gd name="connsiteY548" fmla="*/ 233464 h 1386047"/>
                    <a:gd name="connsiteX549" fmla="*/ 908207 w 1386206"/>
                    <a:gd name="connsiteY549" fmla="*/ 219898 h 1386047"/>
                    <a:gd name="connsiteX550" fmla="*/ 908207 w 1386206"/>
                    <a:gd name="connsiteY550" fmla="*/ 218471 h 1386047"/>
                    <a:gd name="connsiteX551" fmla="*/ 908207 w 1386206"/>
                    <a:gd name="connsiteY551" fmla="*/ 205619 h 1386047"/>
                    <a:gd name="connsiteX552" fmla="*/ 908207 w 1386206"/>
                    <a:gd name="connsiteY552" fmla="*/ 203477 h 1386047"/>
                    <a:gd name="connsiteX553" fmla="*/ 908207 w 1386206"/>
                    <a:gd name="connsiteY553" fmla="*/ 191340 h 1386047"/>
                    <a:gd name="connsiteX554" fmla="*/ 908930 w 1386206"/>
                    <a:gd name="connsiteY554" fmla="*/ 189912 h 1386047"/>
                    <a:gd name="connsiteX555" fmla="*/ 908930 w 1386206"/>
                    <a:gd name="connsiteY555" fmla="*/ 177061 h 1386047"/>
                    <a:gd name="connsiteX556" fmla="*/ 908930 w 1386206"/>
                    <a:gd name="connsiteY556" fmla="*/ 175633 h 1386047"/>
                    <a:gd name="connsiteX557" fmla="*/ 909653 w 1386206"/>
                    <a:gd name="connsiteY557" fmla="*/ 163496 h 1386047"/>
                    <a:gd name="connsiteX558" fmla="*/ 909653 w 1386206"/>
                    <a:gd name="connsiteY558" fmla="*/ 162782 h 1386047"/>
                    <a:gd name="connsiteX559" fmla="*/ 911099 w 1386206"/>
                    <a:gd name="connsiteY559" fmla="*/ 150645 h 1386047"/>
                    <a:gd name="connsiteX560" fmla="*/ 911099 w 1386206"/>
                    <a:gd name="connsiteY560" fmla="*/ 149931 h 1386047"/>
                    <a:gd name="connsiteX561" fmla="*/ 911822 w 1386206"/>
                    <a:gd name="connsiteY561" fmla="*/ 137794 h 1386047"/>
                    <a:gd name="connsiteX562" fmla="*/ 912545 w 1386206"/>
                    <a:gd name="connsiteY562" fmla="*/ 136366 h 1386047"/>
                    <a:gd name="connsiteX563" fmla="*/ 913267 w 1386206"/>
                    <a:gd name="connsiteY563" fmla="*/ 125656 h 1386047"/>
                    <a:gd name="connsiteX564" fmla="*/ 913990 w 1386206"/>
                    <a:gd name="connsiteY564" fmla="*/ 124228 h 1386047"/>
                    <a:gd name="connsiteX565" fmla="*/ 915436 w 1386206"/>
                    <a:gd name="connsiteY565" fmla="*/ 113519 h 1386047"/>
                    <a:gd name="connsiteX566" fmla="*/ 915436 w 1386206"/>
                    <a:gd name="connsiteY566" fmla="*/ 111377 h 1386047"/>
                    <a:gd name="connsiteX567" fmla="*/ 917605 w 1386206"/>
                    <a:gd name="connsiteY567" fmla="*/ 101382 h 1386047"/>
                    <a:gd name="connsiteX568" fmla="*/ 917605 w 1386206"/>
                    <a:gd name="connsiteY568" fmla="*/ 99954 h 1386047"/>
                    <a:gd name="connsiteX569" fmla="*/ 919773 w 1386206"/>
                    <a:gd name="connsiteY569" fmla="*/ 89958 h 1386047"/>
                    <a:gd name="connsiteX570" fmla="*/ 919773 w 1386206"/>
                    <a:gd name="connsiteY570" fmla="*/ 88531 h 1386047"/>
                    <a:gd name="connsiteX571" fmla="*/ 921942 w 1386206"/>
                    <a:gd name="connsiteY571" fmla="*/ 79249 h 1386047"/>
                    <a:gd name="connsiteX572" fmla="*/ 922665 w 1386206"/>
                    <a:gd name="connsiteY572" fmla="*/ 77821 h 1386047"/>
                    <a:gd name="connsiteX573" fmla="*/ 924834 w 1386206"/>
                    <a:gd name="connsiteY573" fmla="*/ 68540 h 1386047"/>
                    <a:gd name="connsiteX574" fmla="*/ 925556 w 1386206"/>
                    <a:gd name="connsiteY574" fmla="*/ 67826 h 1386047"/>
                    <a:gd name="connsiteX575" fmla="*/ 928448 w 1386206"/>
                    <a:gd name="connsiteY575" fmla="*/ 58544 h 1386047"/>
                    <a:gd name="connsiteX576" fmla="*/ 928448 w 1386206"/>
                    <a:gd name="connsiteY576" fmla="*/ 57830 h 1386047"/>
                    <a:gd name="connsiteX577" fmla="*/ 932062 w 1386206"/>
                    <a:gd name="connsiteY577" fmla="*/ 49263 h 1386047"/>
                    <a:gd name="connsiteX578" fmla="*/ 932062 w 1386206"/>
                    <a:gd name="connsiteY578" fmla="*/ 48549 h 1386047"/>
                    <a:gd name="connsiteX579" fmla="*/ 935677 w 1386206"/>
                    <a:gd name="connsiteY579" fmla="*/ 40696 h 1386047"/>
                    <a:gd name="connsiteX580" fmla="*/ 936400 w 1386206"/>
                    <a:gd name="connsiteY580" fmla="*/ 39982 h 1386047"/>
                    <a:gd name="connsiteX581" fmla="*/ 940014 w 1386206"/>
                    <a:gd name="connsiteY581" fmla="*/ 32128 h 1386047"/>
                    <a:gd name="connsiteX582" fmla="*/ 940737 w 1386206"/>
                    <a:gd name="connsiteY582" fmla="*/ 31414 h 1386047"/>
                    <a:gd name="connsiteX583" fmla="*/ 944351 w 1386206"/>
                    <a:gd name="connsiteY583" fmla="*/ 24275 h 1386047"/>
                    <a:gd name="connsiteX584" fmla="*/ 945074 w 1386206"/>
                    <a:gd name="connsiteY584" fmla="*/ 23561 h 1386047"/>
                    <a:gd name="connsiteX585" fmla="*/ 949412 w 1386206"/>
                    <a:gd name="connsiteY585" fmla="*/ 17135 h 1386047"/>
                    <a:gd name="connsiteX586" fmla="*/ 950135 w 1386206"/>
                    <a:gd name="connsiteY586" fmla="*/ 16421 h 1386047"/>
                    <a:gd name="connsiteX587" fmla="*/ 960255 w 1386206"/>
                    <a:gd name="connsiteY587" fmla="*/ 4284 h 1386047"/>
                    <a:gd name="connsiteX588" fmla="*/ 971731 w 1386206"/>
                    <a:gd name="connsiteY588" fmla="*/ 0 h 138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Lst>
                  <a:rect l="l" t="t" r="r" b="b"/>
                  <a:pathLst>
                    <a:path w="1386206" h="1386047">
                      <a:moveTo>
                        <a:pt x="439725" y="982822"/>
                      </a:moveTo>
                      <a:cubicBezTo>
                        <a:pt x="444686" y="982822"/>
                        <a:pt x="450355" y="983538"/>
                        <a:pt x="455316" y="983538"/>
                      </a:cubicBezTo>
                      <a:cubicBezTo>
                        <a:pt x="460277" y="984255"/>
                        <a:pt x="465947" y="984255"/>
                        <a:pt x="470908" y="984971"/>
                      </a:cubicBezTo>
                      <a:cubicBezTo>
                        <a:pt x="470908" y="986403"/>
                        <a:pt x="470908" y="987836"/>
                        <a:pt x="470908" y="989268"/>
                      </a:cubicBezTo>
                      <a:cubicBezTo>
                        <a:pt x="470908" y="989984"/>
                        <a:pt x="470908" y="991417"/>
                        <a:pt x="471616" y="992133"/>
                      </a:cubicBezTo>
                      <a:cubicBezTo>
                        <a:pt x="471616" y="997146"/>
                        <a:pt x="471616" y="1001444"/>
                        <a:pt x="472325" y="1006457"/>
                      </a:cubicBezTo>
                      <a:cubicBezTo>
                        <a:pt x="472325" y="1007173"/>
                        <a:pt x="472325" y="1007889"/>
                        <a:pt x="472325" y="1009322"/>
                      </a:cubicBezTo>
                      <a:cubicBezTo>
                        <a:pt x="472325" y="1013619"/>
                        <a:pt x="473034" y="1018633"/>
                        <a:pt x="473034" y="1022930"/>
                      </a:cubicBezTo>
                      <a:cubicBezTo>
                        <a:pt x="473034" y="1024362"/>
                        <a:pt x="473034" y="1025078"/>
                        <a:pt x="473743" y="1025795"/>
                      </a:cubicBezTo>
                      <a:cubicBezTo>
                        <a:pt x="473743" y="1030808"/>
                        <a:pt x="473743" y="1035105"/>
                        <a:pt x="474451" y="1040119"/>
                      </a:cubicBezTo>
                      <a:cubicBezTo>
                        <a:pt x="474451" y="1040835"/>
                        <a:pt x="474451" y="1041551"/>
                        <a:pt x="474451" y="1042267"/>
                      </a:cubicBezTo>
                      <a:cubicBezTo>
                        <a:pt x="474451" y="1047281"/>
                        <a:pt x="475160" y="1051578"/>
                        <a:pt x="475160" y="1056592"/>
                      </a:cubicBezTo>
                      <a:cubicBezTo>
                        <a:pt x="475160" y="1057308"/>
                        <a:pt x="475160" y="1058024"/>
                        <a:pt x="475160" y="1058740"/>
                      </a:cubicBezTo>
                      <a:cubicBezTo>
                        <a:pt x="475160" y="1063037"/>
                        <a:pt x="475869" y="1068051"/>
                        <a:pt x="475869" y="1073064"/>
                      </a:cubicBezTo>
                      <a:cubicBezTo>
                        <a:pt x="475869" y="1073781"/>
                        <a:pt x="475869" y="1073781"/>
                        <a:pt x="475869" y="1074497"/>
                      </a:cubicBezTo>
                      <a:cubicBezTo>
                        <a:pt x="475869" y="1079510"/>
                        <a:pt x="476577" y="1084524"/>
                        <a:pt x="476577" y="1089537"/>
                      </a:cubicBezTo>
                      <a:cubicBezTo>
                        <a:pt x="476577" y="1094551"/>
                        <a:pt x="477286" y="1099564"/>
                        <a:pt x="477286" y="1104577"/>
                      </a:cubicBezTo>
                      <a:cubicBezTo>
                        <a:pt x="477286" y="1105294"/>
                        <a:pt x="477286" y="1105294"/>
                        <a:pt x="477286" y="1105294"/>
                      </a:cubicBezTo>
                      <a:cubicBezTo>
                        <a:pt x="477286" y="1110307"/>
                        <a:pt x="477286" y="1115321"/>
                        <a:pt x="477286" y="1119618"/>
                      </a:cubicBezTo>
                      <a:cubicBezTo>
                        <a:pt x="477995" y="1120334"/>
                        <a:pt x="477995" y="1121050"/>
                        <a:pt x="477995" y="1121050"/>
                      </a:cubicBezTo>
                      <a:cubicBezTo>
                        <a:pt x="477995" y="1126064"/>
                        <a:pt x="477995" y="1130361"/>
                        <a:pt x="477995" y="1135374"/>
                      </a:cubicBezTo>
                      <a:cubicBezTo>
                        <a:pt x="477995" y="1135374"/>
                        <a:pt x="477995" y="1136091"/>
                        <a:pt x="477995" y="1136807"/>
                      </a:cubicBezTo>
                      <a:cubicBezTo>
                        <a:pt x="477995" y="1141104"/>
                        <a:pt x="477995" y="1146118"/>
                        <a:pt x="477995" y="1150415"/>
                      </a:cubicBezTo>
                      <a:cubicBezTo>
                        <a:pt x="477995" y="1151131"/>
                        <a:pt x="477995" y="1151847"/>
                        <a:pt x="477995" y="1151847"/>
                      </a:cubicBezTo>
                      <a:cubicBezTo>
                        <a:pt x="477995" y="1156861"/>
                        <a:pt x="477995" y="1161158"/>
                        <a:pt x="477995" y="1165455"/>
                      </a:cubicBezTo>
                      <a:cubicBezTo>
                        <a:pt x="477995" y="1165455"/>
                        <a:pt x="477995" y="1166171"/>
                        <a:pt x="477995" y="1166888"/>
                      </a:cubicBezTo>
                      <a:cubicBezTo>
                        <a:pt x="477995" y="1171185"/>
                        <a:pt x="477995" y="1175482"/>
                        <a:pt x="477995" y="1179779"/>
                      </a:cubicBezTo>
                      <a:cubicBezTo>
                        <a:pt x="477995" y="1180495"/>
                        <a:pt x="477995" y="1181212"/>
                        <a:pt x="477995" y="1181928"/>
                      </a:cubicBezTo>
                      <a:cubicBezTo>
                        <a:pt x="477995" y="1186225"/>
                        <a:pt x="477995" y="1189806"/>
                        <a:pt x="477995" y="1194103"/>
                      </a:cubicBezTo>
                      <a:cubicBezTo>
                        <a:pt x="477286" y="1194820"/>
                        <a:pt x="477286" y="1195536"/>
                        <a:pt x="477286" y="1195536"/>
                      </a:cubicBezTo>
                      <a:cubicBezTo>
                        <a:pt x="477286" y="1199833"/>
                        <a:pt x="477286" y="1204130"/>
                        <a:pt x="477286" y="1208428"/>
                      </a:cubicBezTo>
                      <a:cubicBezTo>
                        <a:pt x="477286" y="1209144"/>
                        <a:pt x="477286" y="1209144"/>
                        <a:pt x="477286" y="1209860"/>
                      </a:cubicBezTo>
                      <a:cubicBezTo>
                        <a:pt x="476577" y="1214157"/>
                        <a:pt x="476577" y="1218455"/>
                        <a:pt x="476577" y="1222036"/>
                      </a:cubicBezTo>
                      <a:cubicBezTo>
                        <a:pt x="476577" y="1222752"/>
                        <a:pt x="476577" y="1222752"/>
                        <a:pt x="476577" y="1222752"/>
                      </a:cubicBezTo>
                      <a:cubicBezTo>
                        <a:pt x="475869" y="1227049"/>
                        <a:pt x="475869" y="1231346"/>
                        <a:pt x="475160" y="1234927"/>
                      </a:cubicBezTo>
                      <a:cubicBezTo>
                        <a:pt x="475160" y="1235643"/>
                        <a:pt x="475160" y="1235643"/>
                        <a:pt x="475160" y="1235643"/>
                      </a:cubicBezTo>
                      <a:cubicBezTo>
                        <a:pt x="475160" y="1239941"/>
                        <a:pt x="474451" y="1244238"/>
                        <a:pt x="474451" y="1247819"/>
                      </a:cubicBezTo>
                      <a:cubicBezTo>
                        <a:pt x="474451" y="1248535"/>
                        <a:pt x="474451" y="1248535"/>
                        <a:pt x="473743" y="1249251"/>
                      </a:cubicBezTo>
                      <a:cubicBezTo>
                        <a:pt x="473743" y="1252832"/>
                        <a:pt x="473034" y="1256414"/>
                        <a:pt x="473034" y="1259995"/>
                      </a:cubicBezTo>
                      <a:cubicBezTo>
                        <a:pt x="473034" y="1260711"/>
                        <a:pt x="472325" y="1261427"/>
                        <a:pt x="472325" y="1261427"/>
                      </a:cubicBezTo>
                      <a:cubicBezTo>
                        <a:pt x="472325" y="1265008"/>
                        <a:pt x="471616" y="1268589"/>
                        <a:pt x="470908" y="1272170"/>
                      </a:cubicBezTo>
                      <a:cubicBezTo>
                        <a:pt x="470908" y="1272886"/>
                        <a:pt x="470908" y="1273603"/>
                        <a:pt x="470908" y="1274319"/>
                      </a:cubicBezTo>
                      <a:cubicBezTo>
                        <a:pt x="470199" y="1277184"/>
                        <a:pt x="469490" y="1280765"/>
                        <a:pt x="468782" y="1284346"/>
                      </a:cubicBezTo>
                      <a:cubicBezTo>
                        <a:pt x="468782" y="1285062"/>
                        <a:pt x="468782" y="1285062"/>
                        <a:pt x="468782" y="1285778"/>
                      </a:cubicBezTo>
                      <a:cubicBezTo>
                        <a:pt x="468073" y="1289359"/>
                        <a:pt x="467364" y="1292224"/>
                        <a:pt x="466655" y="1295805"/>
                      </a:cubicBezTo>
                      <a:cubicBezTo>
                        <a:pt x="466655" y="1295805"/>
                        <a:pt x="466655" y="1296521"/>
                        <a:pt x="466655" y="1297237"/>
                      </a:cubicBezTo>
                      <a:cubicBezTo>
                        <a:pt x="465947" y="1300102"/>
                        <a:pt x="465238" y="1303683"/>
                        <a:pt x="464529" y="1306548"/>
                      </a:cubicBezTo>
                      <a:cubicBezTo>
                        <a:pt x="463821" y="1307264"/>
                        <a:pt x="463821" y="1307264"/>
                        <a:pt x="463821" y="1307980"/>
                      </a:cubicBezTo>
                      <a:cubicBezTo>
                        <a:pt x="463112" y="1310845"/>
                        <a:pt x="462403" y="1314426"/>
                        <a:pt x="461695" y="1317291"/>
                      </a:cubicBezTo>
                      <a:cubicBezTo>
                        <a:pt x="460986" y="1317291"/>
                        <a:pt x="460986" y="1318007"/>
                        <a:pt x="460986" y="1318007"/>
                      </a:cubicBezTo>
                      <a:cubicBezTo>
                        <a:pt x="460277" y="1321588"/>
                        <a:pt x="458860" y="1324453"/>
                        <a:pt x="458151" y="1327318"/>
                      </a:cubicBezTo>
                      <a:cubicBezTo>
                        <a:pt x="458151" y="1327318"/>
                        <a:pt x="458151" y="1327318"/>
                        <a:pt x="458151" y="1328034"/>
                      </a:cubicBezTo>
                      <a:cubicBezTo>
                        <a:pt x="456734" y="1330899"/>
                        <a:pt x="456025" y="1333764"/>
                        <a:pt x="454607" y="1336629"/>
                      </a:cubicBezTo>
                      <a:cubicBezTo>
                        <a:pt x="454607" y="1336629"/>
                        <a:pt x="454607" y="1336629"/>
                        <a:pt x="454607" y="1337345"/>
                      </a:cubicBezTo>
                      <a:cubicBezTo>
                        <a:pt x="453190" y="1339494"/>
                        <a:pt x="452481" y="1342358"/>
                        <a:pt x="451064" y="1345223"/>
                      </a:cubicBezTo>
                      <a:cubicBezTo>
                        <a:pt x="451064" y="1345223"/>
                        <a:pt x="450355" y="1345940"/>
                        <a:pt x="450355" y="1345940"/>
                      </a:cubicBezTo>
                      <a:cubicBezTo>
                        <a:pt x="449647" y="1348804"/>
                        <a:pt x="448229" y="1350953"/>
                        <a:pt x="446812" y="1353818"/>
                      </a:cubicBezTo>
                      <a:cubicBezTo>
                        <a:pt x="446812" y="1353818"/>
                        <a:pt x="446103" y="1354534"/>
                        <a:pt x="446103" y="1354534"/>
                      </a:cubicBezTo>
                      <a:cubicBezTo>
                        <a:pt x="444686" y="1356683"/>
                        <a:pt x="443977" y="1359547"/>
                        <a:pt x="442559" y="1361696"/>
                      </a:cubicBezTo>
                      <a:cubicBezTo>
                        <a:pt x="441851" y="1361696"/>
                        <a:pt x="441851" y="1362412"/>
                        <a:pt x="441851" y="1362412"/>
                      </a:cubicBezTo>
                      <a:cubicBezTo>
                        <a:pt x="440433" y="1364561"/>
                        <a:pt x="439016" y="1366710"/>
                        <a:pt x="437599" y="1368858"/>
                      </a:cubicBezTo>
                      <a:cubicBezTo>
                        <a:pt x="436890" y="1368858"/>
                        <a:pt x="436890" y="1369574"/>
                        <a:pt x="436890" y="1369574"/>
                      </a:cubicBezTo>
                      <a:cubicBezTo>
                        <a:pt x="434055" y="1373872"/>
                        <a:pt x="430511" y="1377453"/>
                        <a:pt x="426968" y="1381750"/>
                      </a:cubicBezTo>
                      <a:cubicBezTo>
                        <a:pt x="423424" y="1384615"/>
                        <a:pt x="419881" y="1386047"/>
                        <a:pt x="415629" y="1386047"/>
                      </a:cubicBezTo>
                      <a:cubicBezTo>
                        <a:pt x="412085" y="1386047"/>
                        <a:pt x="407833" y="1384615"/>
                        <a:pt x="404998" y="1381750"/>
                      </a:cubicBezTo>
                      <a:cubicBezTo>
                        <a:pt x="398620" y="1375304"/>
                        <a:pt x="398620" y="1365277"/>
                        <a:pt x="404998" y="1358831"/>
                      </a:cubicBezTo>
                      <a:cubicBezTo>
                        <a:pt x="408542" y="1355250"/>
                        <a:pt x="411376" y="1351669"/>
                        <a:pt x="414920" y="1346656"/>
                      </a:cubicBezTo>
                      <a:cubicBezTo>
                        <a:pt x="416337" y="1344507"/>
                        <a:pt x="417046" y="1342358"/>
                        <a:pt x="418464" y="1340210"/>
                      </a:cubicBezTo>
                      <a:cubicBezTo>
                        <a:pt x="419881" y="1338061"/>
                        <a:pt x="421298" y="1335913"/>
                        <a:pt x="422007" y="1333048"/>
                      </a:cubicBezTo>
                      <a:cubicBezTo>
                        <a:pt x="422007" y="1333048"/>
                        <a:pt x="422716" y="1333048"/>
                        <a:pt x="422716" y="1333048"/>
                      </a:cubicBezTo>
                      <a:cubicBezTo>
                        <a:pt x="423424" y="1330183"/>
                        <a:pt x="424842" y="1328034"/>
                        <a:pt x="425551" y="1325886"/>
                      </a:cubicBezTo>
                      <a:cubicBezTo>
                        <a:pt x="425551" y="1325169"/>
                        <a:pt x="425551" y="1325169"/>
                        <a:pt x="426259" y="1324453"/>
                      </a:cubicBezTo>
                      <a:cubicBezTo>
                        <a:pt x="426968" y="1322305"/>
                        <a:pt x="427677" y="1320156"/>
                        <a:pt x="428385" y="1317291"/>
                      </a:cubicBezTo>
                      <a:cubicBezTo>
                        <a:pt x="429094" y="1317291"/>
                        <a:pt x="429094" y="1316575"/>
                        <a:pt x="429094" y="1316575"/>
                      </a:cubicBezTo>
                      <a:cubicBezTo>
                        <a:pt x="429803" y="1313710"/>
                        <a:pt x="430511" y="1310845"/>
                        <a:pt x="431929" y="1308697"/>
                      </a:cubicBezTo>
                      <a:cubicBezTo>
                        <a:pt x="431929" y="1307980"/>
                        <a:pt x="431929" y="1307980"/>
                        <a:pt x="431929" y="1307264"/>
                      </a:cubicBezTo>
                      <a:cubicBezTo>
                        <a:pt x="432638" y="1304399"/>
                        <a:pt x="433346" y="1301535"/>
                        <a:pt x="434055" y="1298670"/>
                      </a:cubicBezTo>
                      <a:cubicBezTo>
                        <a:pt x="434055" y="1298670"/>
                        <a:pt x="434055" y="1297954"/>
                        <a:pt x="434764" y="1297954"/>
                      </a:cubicBezTo>
                      <a:cubicBezTo>
                        <a:pt x="435472" y="1295089"/>
                        <a:pt x="436181" y="1292224"/>
                        <a:pt x="436890" y="1288643"/>
                      </a:cubicBezTo>
                      <a:cubicBezTo>
                        <a:pt x="436890" y="1288643"/>
                        <a:pt x="436890" y="1288643"/>
                        <a:pt x="436890" y="1287927"/>
                      </a:cubicBezTo>
                      <a:cubicBezTo>
                        <a:pt x="438307" y="1281481"/>
                        <a:pt x="439016" y="1275035"/>
                        <a:pt x="440433" y="1267873"/>
                      </a:cubicBezTo>
                      <a:cubicBezTo>
                        <a:pt x="440433" y="1267873"/>
                        <a:pt x="440433" y="1267873"/>
                        <a:pt x="440433" y="1267157"/>
                      </a:cubicBezTo>
                      <a:cubicBezTo>
                        <a:pt x="441142" y="1265008"/>
                        <a:pt x="441142" y="1262143"/>
                        <a:pt x="441851" y="1259278"/>
                      </a:cubicBezTo>
                      <a:cubicBezTo>
                        <a:pt x="441851" y="1258562"/>
                        <a:pt x="441851" y="1257846"/>
                        <a:pt x="441851" y="1257130"/>
                      </a:cubicBezTo>
                      <a:cubicBezTo>
                        <a:pt x="441851" y="1256414"/>
                        <a:pt x="441851" y="1256414"/>
                        <a:pt x="441851" y="1255697"/>
                      </a:cubicBezTo>
                      <a:cubicBezTo>
                        <a:pt x="442559" y="1252832"/>
                        <a:pt x="442559" y="1249251"/>
                        <a:pt x="443268" y="1245670"/>
                      </a:cubicBezTo>
                      <a:cubicBezTo>
                        <a:pt x="443268" y="1244954"/>
                        <a:pt x="443268" y="1244954"/>
                        <a:pt x="443268" y="1244238"/>
                      </a:cubicBezTo>
                      <a:cubicBezTo>
                        <a:pt x="443977" y="1240657"/>
                        <a:pt x="443977" y="1237076"/>
                        <a:pt x="443977" y="1233495"/>
                      </a:cubicBezTo>
                      <a:cubicBezTo>
                        <a:pt x="443977" y="1232779"/>
                        <a:pt x="444686" y="1232779"/>
                        <a:pt x="444686" y="1232062"/>
                      </a:cubicBezTo>
                      <a:cubicBezTo>
                        <a:pt x="444686" y="1228481"/>
                        <a:pt x="444686" y="1224900"/>
                        <a:pt x="445394" y="1221319"/>
                      </a:cubicBezTo>
                      <a:cubicBezTo>
                        <a:pt x="445394" y="1220603"/>
                        <a:pt x="445394" y="1219887"/>
                        <a:pt x="445394" y="1219887"/>
                      </a:cubicBezTo>
                      <a:cubicBezTo>
                        <a:pt x="445394" y="1219171"/>
                        <a:pt x="445394" y="1218455"/>
                        <a:pt x="445394" y="1218455"/>
                      </a:cubicBezTo>
                      <a:cubicBezTo>
                        <a:pt x="445394" y="1214873"/>
                        <a:pt x="445394" y="1211292"/>
                        <a:pt x="446103" y="1208428"/>
                      </a:cubicBezTo>
                      <a:cubicBezTo>
                        <a:pt x="446103" y="1207711"/>
                        <a:pt x="446103" y="1206995"/>
                        <a:pt x="446103" y="1206995"/>
                      </a:cubicBezTo>
                      <a:cubicBezTo>
                        <a:pt x="446103" y="1202698"/>
                        <a:pt x="446103" y="1199117"/>
                        <a:pt x="446103" y="1194820"/>
                      </a:cubicBezTo>
                      <a:cubicBezTo>
                        <a:pt x="446103" y="1194820"/>
                        <a:pt x="446103" y="1194103"/>
                        <a:pt x="446103" y="1194103"/>
                      </a:cubicBezTo>
                      <a:cubicBezTo>
                        <a:pt x="446812" y="1185509"/>
                        <a:pt x="446812" y="1176914"/>
                        <a:pt x="446812" y="1168320"/>
                      </a:cubicBezTo>
                      <a:cubicBezTo>
                        <a:pt x="446812" y="1167604"/>
                        <a:pt x="446812" y="1167604"/>
                        <a:pt x="446812" y="1167604"/>
                      </a:cubicBezTo>
                      <a:cubicBezTo>
                        <a:pt x="446812" y="1163307"/>
                        <a:pt x="446812" y="1159009"/>
                        <a:pt x="446812" y="1154712"/>
                      </a:cubicBezTo>
                      <a:cubicBezTo>
                        <a:pt x="446812" y="1153996"/>
                        <a:pt x="446812" y="1153996"/>
                        <a:pt x="446812" y="1153280"/>
                      </a:cubicBezTo>
                      <a:cubicBezTo>
                        <a:pt x="446812" y="1148982"/>
                        <a:pt x="446812" y="1144685"/>
                        <a:pt x="446812" y="1140388"/>
                      </a:cubicBezTo>
                      <a:cubicBezTo>
                        <a:pt x="446812" y="1139672"/>
                        <a:pt x="446812" y="1139672"/>
                        <a:pt x="446812" y="1138955"/>
                      </a:cubicBezTo>
                      <a:cubicBezTo>
                        <a:pt x="446812" y="1134658"/>
                        <a:pt x="446812" y="1130361"/>
                        <a:pt x="446812" y="1126064"/>
                      </a:cubicBezTo>
                      <a:cubicBezTo>
                        <a:pt x="446812" y="1125347"/>
                        <a:pt x="446812" y="1125347"/>
                        <a:pt x="446812" y="1124631"/>
                      </a:cubicBezTo>
                      <a:cubicBezTo>
                        <a:pt x="446103" y="1120334"/>
                        <a:pt x="446103" y="1116037"/>
                        <a:pt x="446103" y="1111740"/>
                      </a:cubicBezTo>
                      <a:cubicBezTo>
                        <a:pt x="446103" y="1111023"/>
                        <a:pt x="446103" y="1110307"/>
                        <a:pt x="446103" y="1109591"/>
                      </a:cubicBezTo>
                      <a:cubicBezTo>
                        <a:pt x="446103" y="1108158"/>
                        <a:pt x="446103" y="1106010"/>
                        <a:pt x="446103" y="1103861"/>
                      </a:cubicBezTo>
                      <a:cubicBezTo>
                        <a:pt x="446103" y="1101713"/>
                        <a:pt x="446103" y="1098848"/>
                        <a:pt x="445394" y="1096699"/>
                      </a:cubicBezTo>
                      <a:cubicBezTo>
                        <a:pt x="445394" y="1095983"/>
                        <a:pt x="445394" y="1095267"/>
                        <a:pt x="445394" y="1095267"/>
                      </a:cubicBezTo>
                      <a:cubicBezTo>
                        <a:pt x="445394" y="1090253"/>
                        <a:pt x="445394" y="1085956"/>
                        <a:pt x="445394" y="1081659"/>
                      </a:cubicBezTo>
                      <a:cubicBezTo>
                        <a:pt x="444686" y="1080943"/>
                        <a:pt x="444686" y="1080943"/>
                        <a:pt x="444686" y="1080226"/>
                      </a:cubicBezTo>
                      <a:cubicBezTo>
                        <a:pt x="444686" y="1073064"/>
                        <a:pt x="443977" y="1065186"/>
                        <a:pt x="443977" y="1057308"/>
                      </a:cubicBezTo>
                      <a:cubicBezTo>
                        <a:pt x="443977" y="1055159"/>
                        <a:pt x="443977" y="1053010"/>
                        <a:pt x="443268" y="1051578"/>
                      </a:cubicBezTo>
                      <a:cubicBezTo>
                        <a:pt x="443268" y="1050862"/>
                        <a:pt x="443268" y="1050862"/>
                        <a:pt x="443268" y="1050862"/>
                      </a:cubicBezTo>
                      <a:cubicBezTo>
                        <a:pt x="443268" y="1045848"/>
                        <a:pt x="443268" y="1040835"/>
                        <a:pt x="442559" y="1036538"/>
                      </a:cubicBezTo>
                      <a:cubicBezTo>
                        <a:pt x="442559" y="1035822"/>
                        <a:pt x="442559" y="1035105"/>
                        <a:pt x="442559" y="1035105"/>
                      </a:cubicBezTo>
                      <a:cubicBezTo>
                        <a:pt x="442559" y="1030092"/>
                        <a:pt x="441851" y="1025795"/>
                        <a:pt x="441851" y="1021497"/>
                      </a:cubicBezTo>
                      <a:cubicBezTo>
                        <a:pt x="441851" y="1020781"/>
                        <a:pt x="441851" y="1020065"/>
                        <a:pt x="441851" y="1019349"/>
                      </a:cubicBezTo>
                      <a:cubicBezTo>
                        <a:pt x="441142" y="1014335"/>
                        <a:pt x="441142" y="1010038"/>
                        <a:pt x="441142" y="1005741"/>
                      </a:cubicBezTo>
                      <a:cubicBezTo>
                        <a:pt x="441142" y="1005025"/>
                        <a:pt x="441142" y="1004308"/>
                        <a:pt x="440433" y="1003592"/>
                      </a:cubicBezTo>
                      <a:cubicBezTo>
                        <a:pt x="440433" y="998579"/>
                        <a:pt x="440433" y="994281"/>
                        <a:pt x="439725" y="989984"/>
                      </a:cubicBezTo>
                      <a:cubicBezTo>
                        <a:pt x="439725" y="989268"/>
                        <a:pt x="439725" y="988552"/>
                        <a:pt x="439725" y="987836"/>
                      </a:cubicBezTo>
                      <a:cubicBezTo>
                        <a:pt x="439725" y="986403"/>
                        <a:pt x="439725" y="984255"/>
                        <a:pt x="439725" y="982822"/>
                      </a:cubicBezTo>
                      <a:close/>
                      <a:moveTo>
                        <a:pt x="922715" y="500222"/>
                      </a:moveTo>
                      <a:cubicBezTo>
                        <a:pt x="928432" y="500934"/>
                        <a:pt x="934150" y="500934"/>
                        <a:pt x="939153" y="501647"/>
                      </a:cubicBezTo>
                      <a:cubicBezTo>
                        <a:pt x="944156" y="501647"/>
                        <a:pt x="949160" y="502359"/>
                        <a:pt x="954163" y="502359"/>
                      </a:cubicBezTo>
                      <a:cubicBezTo>
                        <a:pt x="954163" y="509482"/>
                        <a:pt x="954877" y="516605"/>
                        <a:pt x="955592" y="523727"/>
                      </a:cubicBezTo>
                      <a:cubicBezTo>
                        <a:pt x="955592" y="530138"/>
                        <a:pt x="956307" y="535836"/>
                        <a:pt x="956307" y="542247"/>
                      </a:cubicBezTo>
                      <a:cubicBezTo>
                        <a:pt x="957736" y="560766"/>
                        <a:pt x="958451" y="578573"/>
                        <a:pt x="959166" y="596380"/>
                      </a:cubicBezTo>
                      <a:cubicBezTo>
                        <a:pt x="959880" y="608489"/>
                        <a:pt x="959880" y="620597"/>
                        <a:pt x="960595" y="631994"/>
                      </a:cubicBezTo>
                      <a:cubicBezTo>
                        <a:pt x="960595" y="643390"/>
                        <a:pt x="960595" y="654787"/>
                        <a:pt x="960595" y="665471"/>
                      </a:cubicBezTo>
                      <a:cubicBezTo>
                        <a:pt x="960595" y="669033"/>
                        <a:pt x="960595" y="672594"/>
                        <a:pt x="960595" y="675443"/>
                      </a:cubicBezTo>
                      <a:cubicBezTo>
                        <a:pt x="959880" y="775162"/>
                        <a:pt x="947730" y="856362"/>
                        <a:pt x="907705" y="899811"/>
                      </a:cubicBezTo>
                      <a:cubicBezTo>
                        <a:pt x="906275" y="901236"/>
                        <a:pt x="905561" y="902660"/>
                        <a:pt x="904131" y="903373"/>
                      </a:cubicBezTo>
                      <a:cubicBezTo>
                        <a:pt x="841235" y="966053"/>
                        <a:pt x="691857" y="964629"/>
                        <a:pt x="523181" y="954657"/>
                      </a:cubicBezTo>
                      <a:cubicBezTo>
                        <a:pt x="515319" y="953945"/>
                        <a:pt x="507457" y="953232"/>
                        <a:pt x="500309" y="953232"/>
                      </a:cubicBezTo>
                      <a:cubicBezTo>
                        <a:pt x="489588" y="952520"/>
                        <a:pt x="478868" y="951808"/>
                        <a:pt x="468861" y="951095"/>
                      </a:cubicBezTo>
                      <a:cubicBezTo>
                        <a:pt x="460285" y="950383"/>
                        <a:pt x="450993" y="949671"/>
                        <a:pt x="442416" y="948959"/>
                      </a:cubicBezTo>
                      <a:cubicBezTo>
                        <a:pt x="442416" y="948959"/>
                        <a:pt x="441702" y="948959"/>
                        <a:pt x="440987" y="948959"/>
                      </a:cubicBezTo>
                      <a:cubicBezTo>
                        <a:pt x="439557" y="948959"/>
                        <a:pt x="438128" y="948959"/>
                        <a:pt x="436699" y="948959"/>
                      </a:cubicBezTo>
                      <a:cubicBezTo>
                        <a:pt x="433125" y="948246"/>
                        <a:pt x="428837" y="948246"/>
                        <a:pt x="424548" y="948246"/>
                      </a:cubicBezTo>
                      <a:cubicBezTo>
                        <a:pt x="424548" y="947534"/>
                        <a:pt x="424548" y="947534"/>
                        <a:pt x="424548" y="947534"/>
                      </a:cubicBezTo>
                      <a:cubicBezTo>
                        <a:pt x="423833" y="947534"/>
                        <a:pt x="423119" y="947534"/>
                        <a:pt x="422404" y="947534"/>
                      </a:cubicBezTo>
                      <a:cubicBezTo>
                        <a:pt x="420260" y="947534"/>
                        <a:pt x="418830" y="947534"/>
                        <a:pt x="417401" y="947534"/>
                      </a:cubicBezTo>
                      <a:cubicBezTo>
                        <a:pt x="416686" y="947534"/>
                        <a:pt x="416686" y="947534"/>
                        <a:pt x="415971" y="947534"/>
                      </a:cubicBezTo>
                      <a:cubicBezTo>
                        <a:pt x="412398" y="946822"/>
                        <a:pt x="408824" y="946822"/>
                        <a:pt x="405250" y="946822"/>
                      </a:cubicBezTo>
                      <a:cubicBezTo>
                        <a:pt x="403821" y="946822"/>
                        <a:pt x="402392" y="946109"/>
                        <a:pt x="400962" y="946109"/>
                      </a:cubicBezTo>
                      <a:cubicBezTo>
                        <a:pt x="400247" y="946109"/>
                        <a:pt x="400247" y="946109"/>
                        <a:pt x="399533" y="946109"/>
                      </a:cubicBezTo>
                      <a:cubicBezTo>
                        <a:pt x="399533" y="946109"/>
                        <a:pt x="398818" y="946109"/>
                        <a:pt x="398818" y="946109"/>
                      </a:cubicBezTo>
                      <a:cubicBezTo>
                        <a:pt x="398818" y="946109"/>
                        <a:pt x="398103" y="946109"/>
                        <a:pt x="398103" y="946109"/>
                      </a:cubicBezTo>
                      <a:cubicBezTo>
                        <a:pt x="397388" y="946109"/>
                        <a:pt x="397388" y="946109"/>
                        <a:pt x="396674" y="946109"/>
                      </a:cubicBezTo>
                      <a:cubicBezTo>
                        <a:pt x="395244" y="946109"/>
                        <a:pt x="394530" y="946109"/>
                        <a:pt x="393815" y="946109"/>
                      </a:cubicBezTo>
                      <a:cubicBezTo>
                        <a:pt x="393100" y="946109"/>
                        <a:pt x="392385" y="945397"/>
                        <a:pt x="390956" y="945397"/>
                      </a:cubicBezTo>
                      <a:cubicBezTo>
                        <a:pt x="388097" y="945397"/>
                        <a:pt x="385238" y="945397"/>
                        <a:pt x="381664" y="945397"/>
                      </a:cubicBezTo>
                      <a:cubicBezTo>
                        <a:pt x="380235" y="944685"/>
                        <a:pt x="378806" y="944685"/>
                        <a:pt x="376661" y="944685"/>
                      </a:cubicBezTo>
                      <a:cubicBezTo>
                        <a:pt x="375947" y="944685"/>
                        <a:pt x="375232" y="944685"/>
                        <a:pt x="374517" y="944685"/>
                      </a:cubicBezTo>
                      <a:cubicBezTo>
                        <a:pt x="373088" y="944685"/>
                        <a:pt x="370943" y="944685"/>
                        <a:pt x="369514" y="943973"/>
                      </a:cubicBezTo>
                      <a:cubicBezTo>
                        <a:pt x="368799" y="943973"/>
                        <a:pt x="368085" y="943973"/>
                        <a:pt x="368085" y="943973"/>
                      </a:cubicBezTo>
                      <a:cubicBezTo>
                        <a:pt x="363081" y="943973"/>
                        <a:pt x="358793" y="943973"/>
                        <a:pt x="353790" y="943260"/>
                      </a:cubicBezTo>
                      <a:cubicBezTo>
                        <a:pt x="353075" y="943260"/>
                        <a:pt x="352361" y="943260"/>
                        <a:pt x="350931" y="943260"/>
                      </a:cubicBezTo>
                      <a:cubicBezTo>
                        <a:pt x="350931" y="943260"/>
                        <a:pt x="350931" y="943260"/>
                        <a:pt x="350216" y="943260"/>
                      </a:cubicBezTo>
                      <a:cubicBezTo>
                        <a:pt x="350216" y="943260"/>
                        <a:pt x="349502" y="943260"/>
                        <a:pt x="348787" y="943260"/>
                      </a:cubicBezTo>
                      <a:cubicBezTo>
                        <a:pt x="344499" y="942548"/>
                        <a:pt x="339495" y="942548"/>
                        <a:pt x="334492" y="942548"/>
                      </a:cubicBezTo>
                      <a:cubicBezTo>
                        <a:pt x="334492" y="942548"/>
                        <a:pt x="334492" y="942548"/>
                        <a:pt x="333778" y="942548"/>
                      </a:cubicBezTo>
                      <a:cubicBezTo>
                        <a:pt x="332348" y="941836"/>
                        <a:pt x="330204" y="941836"/>
                        <a:pt x="328060" y="941836"/>
                      </a:cubicBezTo>
                      <a:cubicBezTo>
                        <a:pt x="320198" y="941836"/>
                        <a:pt x="312336" y="941123"/>
                        <a:pt x="304474" y="941123"/>
                      </a:cubicBezTo>
                      <a:cubicBezTo>
                        <a:pt x="304474" y="941123"/>
                        <a:pt x="304474" y="941123"/>
                        <a:pt x="304474" y="940411"/>
                      </a:cubicBezTo>
                      <a:cubicBezTo>
                        <a:pt x="299471" y="940411"/>
                        <a:pt x="295182" y="940411"/>
                        <a:pt x="290179" y="940411"/>
                      </a:cubicBezTo>
                      <a:cubicBezTo>
                        <a:pt x="289464" y="940411"/>
                        <a:pt x="289464" y="940411"/>
                        <a:pt x="288750" y="940411"/>
                      </a:cubicBezTo>
                      <a:cubicBezTo>
                        <a:pt x="286605" y="939699"/>
                        <a:pt x="283747" y="939699"/>
                        <a:pt x="281602" y="939699"/>
                      </a:cubicBezTo>
                      <a:cubicBezTo>
                        <a:pt x="279458" y="939699"/>
                        <a:pt x="277314" y="939699"/>
                        <a:pt x="275885" y="939699"/>
                      </a:cubicBezTo>
                      <a:cubicBezTo>
                        <a:pt x="275170" y="939699"/>
                        <a:pt x="274455" y="939699"/>
                        <a:pt x="273740" y="939699"/>
                      </a:cubicBezTo>
                      <a:cubicBezTo>
                        <a:pt x="269452" y="939699"/>
                        <a:pt x="265164" y="939699"/>
                        <a:pt x="260875" y="938987"/>
                      </a:cubicBezTo>
                      <a:cubicBezTo>
                        <a:pt x="260161" y="938987"/>
                        <a:pt x="260161" y="938987"/>
                        <a:pt x="259446" y="938987"/>
                      </a:cubicBezTo>
                      <a:cubicBezTo>
                        <a:pt x="255157" y="938987"/>
                        <a:pt x="250869" y="938987"/>
                        <a:pt x="246581" y="938987"/>
                      </a:cubicBezTo>
                      <a:cubicBezTo>
                        <a:pt x="245866" y="938987"/>
                        <a:pt x="245151" y="938987"/>
                        <a:pt x="245151" y="938987"/>
                      </a:cubicBezTo>
                      <a:cubicBezTo>
                        <a:pt x="240863" y="938987"/>
                        <a:pt x="236574" y="938987"/>
                        <a:pt x="232286" y="938987"/>
                      </a:cubicBezTo>
                      <a:cubicBezTo>
                        <a:pt x="231571" y="938987"/>
                        <a:pt x="231571" y="938987"/>
                        <a:pt x="230857" y="938987"/>
                      </a:cubicBezTo>
                      <a:cubicBezTo>
                        <a:pt x="226568" y="938987"/>
                        <a:pt x="222280" y="938987"/>
                        <a:pt x="217992" y="938987"/>
                      </a:cubicBezTo>
                      <a:cubicBezTo>
                        <a:pt x="217992" y="938987"/>
                        <a:pt x="217992" y="938987"/>
                        <a:pt x="217277" y="938987"/>
                      </a:cubicBezTo>
                      <a:cubicBezTo>
                        <a:pt x="208700" y="938987"/>
                        <a:pt x="200123" y="938987"/>
                        <a:pt x="191547" y="939699"/>
                      </a:cubicBezTo>
                      <a:cubicBezTo>
                        <a:pt x="191547" y="939699"/>
                        <a:pt x="190832" y="939699"/>
                        <a:pt x="190832" y="939699"/>
                      </a:cubicBezTo>
                      <a:cubicBezTo>
                        <a:pt x="186543" y="939699"/>
                        <a:pt x="182970" y="939699"/>
                        <a:pt x="178681" y="939699"/>
                      </a:cubicBezTo>
                      <a:cubicBezTo>
                        <a:pt x="178681" y="939699"/>
                        <a:pt x="177967" y="939699"/>
                        <a:pt x="177252" y="939699"/>
                      </a:cubicBezTo>
                      <a:cubicBezTo>
                        <a:pt x="174393" y="940411"/>
                        <a:pt x="170819" y="940411"/>
                        <a:pt x="167246" y="940411"/>
                      </a:cubicBezTo>
                      <a:cubicBezTo>
                        <a:pt x="167246" y="940411"/>
                        <a:pt x="166531" y="940411"/>
                        <a:pt x="165816" y="940411"/>
                      </a:cubicBezTo>
                      <a:cubicBezTo>
                        <a:pt x="165816" y="940411"/>
                        <a:pt x="165102" y="940411"/>
                        <a:pt x="164387" y="940411"/>
                      </a:cubicBezTo>
                      <a:cubicBezTo>
                        <a:pt x="160813" y="941123"/>
                        <a:pt x="157240" y="941123"/>
                        <a:pt x="153666" y="941123"/>
                      </a:cubicBezTo>
                      <a:cubicBezTo>
                        <a:pt x="152951" y="941123"/>
                        <a:pt x="152951" y="941836"/>
                        <a:pt x="152236" y="941836"/>
                      </a:cubicBezTo>
                      <a:cubicBezTo>
                        <a:pt x="148663" y="941836"/>
                        <a:pt x="145089" y="941836"/>
                        <a:pt x="141516" y="942548"/>
                      </a:cubicBezTo>
                      <a:cubicBezTo>
                        <a:pt x="140801" y="942548"/>
                        <a:pt x="140801" y="942548"/>
                        <a:pt x="140086" y="942548"/>
                      </a:cubicBezTo>
                      <a:cubicBezTo>
                        <a:pt x="136512" y="943260"/>
                        <a:pt x="132939" y="943260"/>
                        <a:pt x="130080" y="943973"/>
                      </a:cubicBezTo>
                      <a:cubicBezTo>
                        <a:pt x="129365" y="943973"/>
                        <a:pt x="129365" y="943973"/>
                        <a:pt x="128650" y="943973"/>
                      </a:cubicBezTo>
                      <a:cubicBezTo>
                        <a:pt x="127936" y="943973"/>
                        <a:pt x="127221" y="943973"/>
                        <a:pt x="126506" y="943973"/>
                      </a:cubicBezTo>
                      <a:cubicBezTo>
                        <a:pt x="123647" y="944685"/>
                        <a:pt x="120788" y="944685"/>
                        <a:pt x="118644" y="945397"/>
                      </a:cubicBezTo>
                      <a:cubicBezTo>
                        <a:pt x="117929" y="945397"/>
                        <a:pt x="117929" y="945397"/>
                        <a:pt x="117929" y="945397"/>
                      </a:cubicBezTo>
                      <a:cubicBezTo>
                        <a:pt x="114356" y="946109"/>
                        <a:pt x="110782" y="946822"/>
                        <a:pt x="107209" y="947534"/>
                      </a:cubicBezTo>
                      <a:cubicBezTo>
                        <a:pt x="104350" y="947534"/>
                        <a:pt x="100776" y="948246"/>
                        <a:pt x="97917" y="948959"/>
                      </a:cubicBezTo>
                      <a:cubicBezTo>
                        <a:pt x="97202" y="948959"/>
                        <a:pt x="97202" y="948959"/>
                        <a:pt x="97202" y="948959"/>
                      </a:cubicBezTo>
                      <a:cubicBezTo>
                        <a:pt x="93629" y="949671"/>
                        <a:pt x="90770" y="950383"/>
                        <a:pt x="87911" y="951095"/>
                      </a:cubicBezTo>
                      <a:cubicBezTo>
                        <a:pt x="87911" y="951808"/>
                        <a:pt x="87196" y="951808"/>
                        <a:pt x="87196" y="951808"/>
                      </a:cubicBezTo>
                      <a:cubicBezTo>
                        <a:pt x="84337" y="952520"/>
                        <a:pt x="81478" y="953232"/>
                        <a:pt x="78619" y="953945"/>
                      </a:cubicBezTo>
                      <a:cubicBezTo>
                        <a:pt x="77905" y="953945"/>
                        <a:pt x="77905" y="953945"/>
                        <a:pt x="77190" y="953945"/>
                      </a:cubicBezTo>
                      <a:cubicBezTo>
                        <a:pt x="75046" y="955369"/>
                        <a:pt x="72187" y="956081"/>
                        <a:pt x="69328" y="956794"/>
                      </a:cubicBezTo>
                      <a:cubicBezTo>
                        <a:pt x="69328" y="956794"/>
                        <a:pt x="68613" y="956794"/>
                        <a:pt x="68613" y="957506"/>
                      </a:cubicBezTo>
                      <a:cubicBezTo>
                        <a:pt x="65754" y="958218"/>
                        <a:pt x="63610" y="958930"/>
                        <a:pt x="61466" y="959643"/>
                      </a:cubicBezTo>
                      <a:cubicBezTo>
                        <a:pt x="60751" y="960355"/>
                        <a:pt x="60751" y="960355"/>
                        <a:pt x="60036" y="960355"/>
                      </a:cubicBezTo>
                      <a:cubicBezTo>
                        <a:pt x="57892" y="961067"/>
                        <a:pt x="55748" y="962492"/>
                        <a:pt x="52889" y="963204"/>
                      </a:cubicBezTo>
                      <a:cubicBezTo>
                        <a:pt x="52889" y="963204"/>
                        <a:pt x="52889" y="963916"/>
                        <a:pt x="52889" y="963916"/>
                      </a:cubicBezTo>
                      <a:cubicBezTo>
                        <a:pt x="50030" y="964629"/>
                        <a:pt x="47886" y="966053"/>
                        <a:pt x="45742" y="967478"/>
                      </a:cubicBezTo>
                      <a:cubicBezTo>
                        <a:pt x="43598" y="968902"/>
                        <a:pt x="41453" y="969615"/>
                        <a:pt x="39309" y="971039"/>
                      </a:cubicBezTo>
                      <a:cubicBezTo>
                        <a:pt x="34306" y="974601"/>
                        <a:pt x="30733" y="977450"/>
                        <a:pt x="27159" y="981011"/>
                      </a:cubicBezTo>
                      <a:cubicBezTo>
                        <a:pt x="23585" y="984573"/>
                        <a:pt x="20012" y="985997"/>
                        <a:pt x="15723" y="985997"/>
                      </a:cubicBezTo>
                      <a:cubicBezTo>
                        <a:pt x="11435" y="985997"/>
                        <a:pt x="7861" y="984573"/>
                        <a:pt x="4288" y="981011"/>
                      </a:cubicBezTo>
                      <a:cubicBezTo>
                        <a:pt x="-1430" y="975313"/>
                        <a:pt x="-1430" y="965341"/>
                        <a:pt x="4288" y="958930"/>
                      </a:cubicBezTo>
                      <a:cubicBezTo>
                        <a:pt x="8576" y="955369"/>
                        <a:pt x="12150" y="951808"/>
                        <a:pt x="16438" y="948959"/>
                      </a:cubicBezTo>
                      <a:cubicBezTo>
                        <a:pt x="16438" y="948959"/>
                        <a:pt x="17153" y="948959"/>
                        <a:pt x="17153" y="948246"/>
                      </a:cubicBezTo>
                      <a:cubicBezTo>
                        <a:pt x="19297" y="946822"/>
                        <a:pt x="21441" y="945397"/>
                        <a:pt x="23585" y="943973"/>
                      </a:cubicBezTo>
                      <a:cubicBezTo>
                        <a:pt x="23585" y="943973"/>
                        <a:pt x="24300" y="943973"/>
                        <a:pt x="24300" y="943260"/>
                      </a:cubicBezTo>
                      <a:cubicBezTo>
                        <a:pt x="26444" y="941836"/>
                        <a:pt x="29303" y="941123"/>
                        <a:pt x="31447" y="939699"/>
                      </a:cubicBezTo>
                      <a:cubicBezTo>
                        <a:pt x="31447" y="939699"/>
                        <a:pt x="32162" y="938987"/>
                        <a:pt x="32162" y="938987"/>
                      </a:cubicBezTo>
                      <a:cubicBezTo>
                        <a:pt x="35021" y="937562"/>
                        <a:pt x="37165" y="936138"/>
                        <a:pt x="40024" y="935425"/>
                      </a:cubicBezTo>
                      <a:cubicBezTo>
                        <a:pt x="40024" y="935425"/>
                        <a:pt x="40739" y="934713"/>
                        <a:pt x="40739" y="934713"/>
                      </a:cubicBezTo>
                      <a:cubicBezTo>
                        <a:pt x="43598" y="933288"/>
                        <a:pt x="46457" y="932576"/>
                        <a:pt x="48601" y="931152"/>
                      </a:cubicBezTo>
                      <a:cubicBezTo>
                        <a:pt x="49315" y="931152"/>
                        <a:pt x="49315" y="931152"/>
                        <a:pt x="49315" y="931152"/>
                      </a:cubicBezTo>
                      <a:cubicBezTo>
                        <a:pt x="52174" y="929727"/>
                        <a:pt x="55033" y="929015"/>
                        <a:pt x="57892" y="927590"/>
                      </a:cubicBezTo>
                      <a:cubicBezTo>
                        <a:pt x="57892" y="927590"/>
                        <a:pt x="58607" y="927590"/>
                        <a:pt x="58607" y="927590"/>
                      </a:cubicBezTo>
                      <a:cubicBezTo>
                        <a:pt x="61466" y="926878"/>
                        <a:pt x="64325" y="925453"/>
                        <a:pt x="67184" y="924741"/>
                      </a:cubicBezTo>
                      <a:cubicBezTo>
                        <a:pt x="67898" y="924741"/>
                        <a:pt x="68613" y="924741"/>
                        <a:pt x="68613" y="924029"/>
                      </a:cubicBezTo>
                      <a:cubicBezTo>
                        <a:pt x="71472" y="923316"/>
                        <a:pt x="75046" y="922604"/>
                        <a:pt x="77905" y="921892"/>
                      </a:cubicBezTo>
                      <a:cubicBezTo>
                        <a:pt x="78619" y="921892"/>
                        <a:pt x="78619" y="921892"/>
                        <a:pt x="79334" y="921180"/>
                      </a:cubicBezTo>
                      <a:cubicBezTo>
                        <a:pt x="82193" y="920467"/>
                        <a:pt x="85767" y="919755"/>
                        <a:pt x="88626" y="919043"/>
                      </a:cubicBezTo>
                      <a:cubicBezTo>
                        <a:pt x="89340" y="919043"/>
                        <a:pt x="90055" y="919043"/>
                        <a:pt x="90770" y="919043"/>
                      </a:cubicBezTo>
                      <a:cubicBezTo>
                        <a:pt x="93629" y="918331"/>
                        <a:pt x="96488" y="917618"/>
                        <a:pt x="100061" y="916906"/>
                      </a:cubicBezTo>
                      <a:cubicBezTo>
                        <a:pt x="100776" y="916906"/>
                        <a:pt x="101491" y="916906"/>
                        <a:pt x="102205" y="916194"/>
                      </a:cubicBezTo>
                      <a:cubicBezTo>
                        <a:pt x="105064" y="916194"/>
                        <a:pt x="108638" y="915481"/>
                        <a:pt x="111497" y="914769"/>
                      </a:cubicBezTo>
                      <a:cubicBezTo>
                        <a:pt x="112212" y="914769"/>
                        <a:pt x="112926" y="914769"/>
                        <a:pt x="113641" y="914769"/>
                      </a:cubicBezTo>
                      <a:cubicBezTo>
                        <a:pt x="117215" y="914057"/>
                        <a:pt x="120074" y="913345"/>
                        <a:pt x="123647" y="913345"/>
                      </a:cubicBezTo>
                      <a:cubicBezTo>
                        <a:pt x="124362" y="913345"/>
                        <a:pt x="125077" y="912632"/>
                        <a:pt x="125791" y="912632"/>
                      </a:cubicBezTo>
                      <a:cubicBezTo>
                        <a:pt x="129365" y="912632"/>
                        <a:pt x="132939" y="911920"/>
                        <a:pt x="136512" y="911920"/>
                      </a:cubicBezTo>
                      <a:cubicBezTo>
                        <a:pt x="137227" y="911208"/>
                        <a:pt x="137942" y="911208"/>
                        <a:pt x="138657" y="911208"/>
                      </a:cubicBezTo>
                      <a:cubicBezTo>
                        <a:pt x="142230" y="911208"/>
                        <a:pt x="145804" y="910495"/>
                        <a:pt x="149378" y="910495"/>
                      </a:cubicBezTo>
                      <a:cubicBezTo>
                        <a:pt x="150092" y="910495"/>
                        <a:pt x="150807" y="910495"/>
                        <a:pt x="150807" y="910495"/>
                      </a:cubicBezTo>
                      <a:cubicBezTo>
                        <a:pt x="155095" y="909783"/>
                        <a:pt x="158669" y="909783"/>
                        <a:pt x="162243" y="909071"/>
                      </a:cubicBezTo>
                      <a:cubicBezTo>
                        <a:pt x="162957" y="909071"/>
                        <a:pt x="162957" y="909071"/>
                        <a:pt x="163672" y="909071"/>
                      </a:cubicBezTo>
                      <a:cubicBezTo>
                        <a:pt x="167960" y="909071"/>
                        <a:pt x="171534" y="909071"/>
                        <a:pt x="175108" y="908359"/>
                      </a:cubicBezTo>
                      <a:cubicBezTo>
                        <a:pt x="175823" y="908359"/>
                        <a:pt x="176537" y="908359"/>
                        <a:pt x="177252" y="908359"/>
                      </a:cubicBezTo>
                      <a:cubicBezTo>
                        <a:pt x="181540" y="908359"/>
                        <a:pt x="185114" y="908359"/>
                        <a:pt x="189402" y="908359"/>
                      </a:cubicBezTo>
                      <a:cubicBezTo>
                        <a:pt x="190117" y="908359"/>
                        <a:pt x="190832" y="908359"/>
                        <a:pt x="191547" y="907646"/>
                      </a:cubicBezTo>
                      <a:cubicBezTo>
                        <a:pt x="195835" y="907646"/>
                        <a:pt x="199409" y="907646"/>
                        <a:pt x="202982" y="907646"/>
                      </a:cubicBezTo>
                      <a:cubicBezTo>
                        <a:pt x="204412" y="907646"/>
                        <a:pt x="205126" y="907646"/>
                        <a:pt x="206556" y="907646"/>
                      </a:cubicBezTo>
                      <a:cubicBezTo>
                        <a:pt x="210129" y="907646"/>
                        <a:pt x="213703" y="907646"/>
                        <a:pt x="217992" y="907646"/>
                      </a:cubicBezTo>
                      <a:cubicBezTo>
                        <a:pt x="218706" y="907646"/>
                        <a:pt x="220136" y="907646"/>
                        <a:pt x="220850" y="907646"/>
                      </a:cubicBezTo>
                      <a:cubicBezTo>
                        <a:pt x="225139" y="907646"/>
                        <a:pt x="228712" y="907646"/>
                        <a:pt x="233001" y="907646"/>
                      </a:cubicBezTo>
                      <a:cubicBezTo>
                        <a:pt x="233716" y="907646"/>
                        <a:pt x="235145" y="907646"/>
                        <a:pt x="235860" y="907646"/>
                      </a:cubicBezTo>
                      <a:cubicBezTo>
                        <a:pt x="240148" y="907646"/>
                        <a:pt x="243722" y="907646"/>
                        <a:pt x="248010" y="907646"/>
                      </a:cubicBezTo>
                      <a:cubicBezTo>
                        <a:pt x="249440" y="907646"/>
                        <a:pt x="250154" y="907646"/>
                        <a:pt x="251584" y="907646"/>
                      </a:cubicBezTo>
                      <a:cubicBezTo>
                        <a:pt x="255157" y="907646"/>
                        <a:pt x="259446" y="907646"/>
                        <a:pt x="263734" y="907646"/>
                      </a:cubicBezTo>
                      <a:cubicBezTo>
                        <a:pt x="264449" y="907646"/>
                        <a:pt x="265878" y="908359"/>
                        <a:pt x="266593" y="908359"/>
                      </a:cubicBezTo>
                      <a:cubicBezTo>
                        <a:pt x="270881" y="908359"/>
                        <a:pt x="275170" y="908359"/>
                        <a:pt x="279458" y="908359"/>
                      </a:cubicBezTo>
                      <a:cubicBezTo>
                        <a:pt x="280173" y="908359"/>
                        <a:pt x="280888" y="908359"/>
                        <a:pt x="282317" y="908359"/>
                      </a:cubicBezTo>
                      <a:cubicBezTo>
                        <a:pt x="285891" y="908359"/>
                        <a:pt x="290179" y="909071"/>
                        <a:pt x="294467" y="909071"/>
                      </a:cubicBezTo>
                      <a:cubicBezTo>
                        <a:pt x="295182" y="909071"/>
                        <a:pt x="296612" y="909071"/>
                        <a:pt x="297326" y="909071"/>
                      </a:cubicBezTo>
                      <a:cubicBezTo>
                        <a:pt x="301615" y="909071"/>
                        <a:pt x="305903" y="909071"/>
                        <a:pt x="310192" y="909783"/>
                      </a:cubicBezTo>
                      <a:cubicBezTo>
                        <a:pt x="310906" y="909783"/>
                        <a:pt x="311621" y="909783"/>
                        <a:pt x="313050" y="909783"/>
                      </a:cubicBezTo>
                      <a:cubicBezTo>
                        <a:pt x="317339" y="909783"/>
                        <a:pt x="321627" y="910495"/>
                        <a:pt x="325916" y="910495"/>
                      </a:cubicBezTo>
                      <a:cubicBezTo>
                        <a:pt x="327345" y="910495"/>
                        <a:pt x="328060" y="910495"/>
                        <a:pt x="329489" y="910495"/>
                      </a:cubicBezTo>
                      <a:cubicBezTo>
                        <a:pt x="333778" y="910495"/>
                        <a:pt x="338066" y="911208"/>
                        <a:pt x="342354" y="911208"/>
                      </a:cubicBezTo>
                      <a:cubicBezTo>
                        <a:pt x="343784" y="911208"/>
                        <a:pt x="344499" y="911208"/>
                        <a:pt x="345928" y="911208"/>
                      </a:cubicBezTo>
                      <a:cubicBezTo>
                        <a:pt x="350216" y="911920"/>
                        <a:pt x="354505" y="911920"/>
                        <a:pt x="358793" y="911920"/>
                      </a:cubicBezTo>
                      <a:cubicBezTo>
                        <a:pt x="360223" y="912632"/>
                        <a:pt x="361652" y="912632"/>
                        <a:pt x="363081" y="912632"/>
                      </a:cubicBezTo>
                      <a:cubicBezTo>
                        <a:pt x="367370" y="912632"/>
                        <a:pt x="370943" y="912632"/>
                        <a:pt x="375232" y="913345"/>
                      </a:cubicBezTo>
                      <a:cubicBezTo>
                        <a:pt x="376661" y="913345"/>
                        <a:pt x="377376" y="913345"/>
                        <a:pt x="378091" y="913345"/>
                      </a:cubicBezTo>
                      <a:cubicBezTo>
                        <a:pt x="386668" y="914057"/>
                        <a:pt x="394530" y="914769"/>
                        <a:pt x="403106" y="914769"/>
                      </a:cubicBezTo>
                      <a:cubicBezTo>
                        <a:pt x="408824" y="915481"/>
                        <a:pt x="413827" y="915481"/>
                        <a:pt x="419545" y="916194"/>
                      </a:cubicBezTo>
                      <a:cubicBezTo>
                        <a:pt x="420260" y="916194"/>
                        <a:pt x="420260" y="916194"/>
                        <a:pt x="420975" y="916194"/>
                      </a:cubicBezTo>
                      <a:cubicBezTo>
                        <a:pt x="421689" y="916194"/>
                        <a:pt x="421689" y="916194"/>
                        <a:pt x="422404" y="916194"/>
                      </a:cubicBezTo>
                      <a:cubicBezTo>
                        <a:pt x="423119" y="916194"/>
                        <a:pt x="423833" y="916194"/>
                        <a:pt x="423833" y="916194"/>
                      </a:cubicBezTo>
                      <a:cubicBezTo>
                        <a:pt x="427407" y="916906"/>
                        <a:pt x="430981" y="916906"/>
                        <a:pt x="434554" y="916906"/>
                      </a:cubicBezTo>
                      <a:cubicBezTo>
                        <a:pt x="435984" y="917618"/>
                        <a:pt x="437413" y="917618"/>
                        <a:pt x="438843" y="917618"/>
                      </a:cubicBezTo>
                      <a:cubicBezTo>
                        <a:pt x="439557" y="917618"/>
                        <a:pt x="440272" y="917618"/>
                        <a:pt x="440987" y="917618"/>
                      </a:cubicBezTo>
                      <a:cubicBezTo>
                        <a:pt x="441702" y="917618"/>
                        <a:pt x="443131" y="917618"/>
                        <a:pt x="444561" y="917618"/>
                      </a:cubicBezTo>
                      <a:cubicBezTo>
                        <a:pt x="451708" y="918331"/>
                        <a:pt x="459570" y="919043"/>
                        <a:pt x="466717" y="919043"/>
                      </a:cubicBezTo>
                      <a:cubicBezTo>
                        <a:pt x="473864" y="919755"/>
                        <a:pt x="481012" y="920467"/>
                        <a:pt x="488159" y="920467"/>
                      </a:cubicBezTo>
                      <a:cubicBezTo>
                        <a:pt x="491733" y="921180"/>
                        <a:pt x="494592" y="921180"/>
                        <a:pt x="498165" y="921180"/>
                      </a:cubicBezTo>
                      <a:cubicBezTo>
                        <a:pt x="498880" y="921180"/>
                        <a:pt x="498880" y="921180"/>
                        <a:pt x="499595" y="921892"/>
                      </a:cubicBezTo>
                      <a:cubicBezTo>
                        <a:pt x="506027" y="921892"/>
                        <a:pt x="511745" y="922604"/>
                        <a:pt x="518178" y="922604"/>
                      </a:cubicBezTo>
                      <a:cubicBezTo>
                        <a:pt x="518892" y="922604"/>
                        <a:pt x="519607" y="922604"/>
                        <a:pt x="520322" y="922604"/>
                      </a:cubicBezTo>
                      <a:cubicBezTo>
                        <a:pt x="521037" y="922604"/>
                        <a:pt x="521751" y="922604"/>
                        <a:pt x="522466" y="923316"/>
                      </a:cubicBezTo>
                      <a:cubicBezTo>
                        <a:pt x="531757" y="923316"/>
                        <a:pt x="541049" y="924029"/>
                        <a:pt x="549626" y="924741"/>
                      </a:cubicBezTo>
                      <a:cubicBezTo>
                        <a:pt x="550340" y="924741"/>
                        <a:pt x="550340" y="924741"/>
                        <a:pt x="551055" y="924741"/>
                      </a:cubicBezTo>
                      <a:cubicBezTo>
                        <a:pt x="555344" y="924741"/>
                        <a:pt x="560347" y="925453"/>
                        <a:pt x="565350" y="925453"/>
                      </a:cubicBezTo>
                      <a:cubicBezTo>
                        <a:pt x="566064" y="925453"/>
                        <a:pt x="566779" y="925453"/>
                        <a:pt x="566779" y="925453"/>
                      </a:cubicBezTo>
                      <a:cubicBezTo>
                        <a:pt x="567494" y="925453"/>
                        <a:pt x="567494" y="925453"/>
                        <a:pt x="568209" y="925453"/>
                      </a:cubicBezTo>
                      <a:cubicBezTo>
                        <a:pt x="568923" y="925453"/>
                        <a:pt x="570353" y="925453"/>
                        <a:pt x="571782" y="925453"/>
                      </a:cubicBezTo>
                      <a:cubicBezTo>
                        <a:pt x="576071" y="926166"/>
                        <a:pt x="580359" y="926166"/>
                        <a:pt x="584647" y="926166"/>
                      </a:cubicBezTo>
                      <a:cubicBezTo>
                        <a:pt x="585362" y="926166"/>
                        <a:pt x="586077" y="926166"/>
                        <a:pt x="586792" y="926166"/>
                      </a:cubicBezTo>
                      <a:cubicBezTo>
                        <a:pt x="601801" y="926878"/>
                        <a:pt x="617525" y="927590"/>
                        <a:pt x="632534" y="928302"/>
                      </a:cubicBezTo>
                      <a:cubicBezTo>
                        <a:pt x="672559" y="929015"/>
                        <a:pt x="710440" y="928302"/>
                        <a:pt x="744747" y="925453"/>
                      </a:cubicBezTo>
                      <a:cubicBezTo>
                        <a:pt x="759041" y="924029"/>
                        <a:pt x="771906" y="922604"/>
                        <a:pt x="784771" y="920467"/>
                      </a:cubicBezTo>
                      <a:cubicBezTo>
                        <a:pt x="814790" y="916194"/>
                        <a:pt x="840520" y="908359"/>
                        <a:pt x="860533" y="896962"/>
                      </a:cubicBezTo>
                      <a:cubicBezTo>
                        <a:pt x="864106" y="895538"/>
                        <a:pt x="866965" y="893401"/>
                        <a:pt x="869824" y="891264"/>
                      </a:cubicBezTo>
                      <a:cubicBezTo>
                        <a:pt x="874113" y="888415"/>
                        <a:pt x="878401" y="884853"/>
                        <a:pt x="881975" y="881292"/>
                      </a:cubicBezTo>
                      <a:cubicBezTo>
                        <a:pt x="885548" y="877731"/>
                        <a:pt x="889122" y="873457"/>
                        <a:pt x="891981" y="869183"/>
                      </a:cubicBezTo>
                      <a:cubicBezTo>
                        <a:pt x="901987" y="854938"/>
                        <a:pt x="909135" y="837131"/>
                        <a:pt x="914853" y="815762"/>
                      </a:cubicBezTo>
                      <a:cubicBezTo>
                        <a:pt x="917711" y="805790"/>
                        <a:pt x="919856" y="795818"/>
                        <a:pt x="921285" y="784422"/>
                      </a:cubicBezTo>
                      <a:cubicBezTo>
                        <a:pt x="923429" y="771601"/>
                        <a:pt x="924859" y="758780"/>
                        <a:pt x="926288" y="744534"/>
                      </a:cubicBezTo>
                      <a:cubicBezTo>
                        <a:pt x="929147" y="710345"/>
                        <a:pt x="929862" y="672594"/>
                        <a:pt x="929147" y="632706"/>
                      </a:cubicBezTo>
                      <a:cubicBezTo>
                        <a:pt x="928432" y="617748"/>
                        <a:pt x="927718" y="602078"/>
                        <a:pt x="927003" y="587120"/>
                      </a:cubicBezTo>
                      <a:cubicBezTo>
                        <a:pt x="926288" y="562903"/>
                        <a:pt x="924859" y="538685"/>
                        <a:pt x="923429" y="514468"/>
                      </a:cubicBezTo>
                      <a:cubicBezTo>
                        <a:pt x="923429" y="514468"/>
                        <a:pt x="923429" y="514468"/>
                        <a:pt x="923429" y="513755"/>
                      </a:cubicBezTo>
                      <a:cubicBezTo>
                        <a:pt x="922715" y="509482"/>
                        <a:pt x="922715" y="505208"/>
                        <a:pt x="922715" y="500222"/>
                      </a:cubicBezTo>
                      <a:close/>
                      <a:moveTo>
                        <a:pt x="1370508" y="400228"/>
                      </a:moveTo>
                      <a:cubicBezTo>
                        <a:pt x="1374611" y="400228"/>
                        <a:pt x="1378714" y="401834"/>
                        <a:pt x="1381925" y="405046"/>
                      </a:cubicBezTo>
                      <a:cubicBezTo>
                        <a:pt x="1387633" y="410757"/>
                        <a:pt x="1387633" y="420750"/>
                        <a:pt x="1381925" y="427174"/>
                      </a:cubicBezTo>
                      <a:cubicBezTo>
                        <a:pt x="1377644" y="430743"/>
                        <a:pt x="1374076" y="434312"/>
                        <a:pt x="1369794" y="437167"/>
                      </a:cubicBezTo>
                      <a:cubicBezTo>
                        <a:pt x="1369794" y="437167"/>
                        <a:pt x="1369081" y="437167"/>
                        <a:pt x="1369081" y="437881"/>
                      </a:cubicBezTo>
                      <a:cubicBezTo>
                        <a:pt x="1366940" y="439308"/>
                        <a:pt x="1364800" y="440736"/>
                        <a:pt x="1362659" y="442164"/>
                      </a:cubicBezTo>
                      <a:cubicBezTo>
                        <a:pt x="1362659" y="442164"/>
                        <a:pt x="1361945" y="442164"/>
                        <a:pt x="1361945" y="442877"/>
                      </a:cubicBezTo>
                      <a:cubicBezTo>
                        <a:pt x="1359805" y="444305"/>
                        <a:pt x="1356951" y="445019"/>
                        <a:pt x="1354810" y="446446"/>
                      </a:cubicBezTo>
                      <a:cubicBezTo>
                        <a:pt x="1354810" y="446446"/>
                        <a:pt x="1354096" y="447160"/>
                        <a:pt x="1354096" y="447160"/>
                      </a:cubicBezTo>
                      <a:cubicBezTo>
                        <a:pt x="1351242" y="448588"/>
                        <a:pt x="1349102" y="450015"/>
                        <a:pt x="1346247" y="450729"/>
                      </a:cubicBezTo>
                      <a:cubicBezTo>
                        <a:pt x="1346247" y="450729"/>
                        <a:pt x="1345534" y="451443"/>
                        <a:pt x="1345534" y="451443"/>
                      </a:cubicBezTo>
                      <a:cubicBezTo>
                        <a:pt x="1342680" y="452871"/>
                        <a:pt x="1339825" y="453584"/>
                        <a:pt x="1336971" y="455012"/>
                      </a:cubicBezTo>
                      <a:cubicBezTo>
                        <a:pt x="1334117" y="456440"/>
                        <a:pt x="1331263" y="457153"/>
                        <a:pt x="1327695" y="458581"/>
                      </a:cubicBezTo>
                      <a:cubicBezTo>
                        <a:pt x="1324841" y="459295"/>
                        <a:pt x="1321987" y="460722"/>
                        <a:pt x="1318419" y="461436"/>
                      </a:cubicBezTo>
                      <a:cubicBezTo>
                        <a:pt x="1318419" y="461436"/>
                        <a:pt x="1317705" y="461436"/>
                        <a:pt x="1317705" y="461436"/>
                      </a:cubicBezTo>
                      <a:cubicBezTo>
                        <a:pt x="1314851" y="462864"/>
                        <a:pt x="1311283" y="463578"/>
                        <a:pt x="1308429" y="464291"/>
                      </a:cubicBezTo>
                      <a:cubicBezTo>
                        <a:pt x="1307716" y="464291"/>
                        <a:pt x="1307716" y="464291"/>
                        <a:pt x="1307002" y="465005"/>
                      </a:cubicBezTo>
                      <a:cubicBezTo>
                        <a:pt x="1304148" y="465719"/>
                        <a:pt x="1300580" y="466433"/>
                        <a:pt x="1297726" y="467147"/>
                      </a:cubicBezTo>
                      <a:cubicBezTo>
                        <a:pt x="1297012" y="467147"/>
                        <a:pt x="1296299" y="467147"/>
                        <a:pt x="1296299" y="467147"/>
                      </a:cubicBezTo>
                      <a:cubicBezTo>
                        <a:pt x="1292731" y="467860"/>
                        <a:pt x="1289877" y="468574"/>
                        <a:pt x="1286309" y="469288"/>
                      </a:cubicBezTo>
                      <a:cubicBezTo>
                        <a:pt x="1285596" y="469288"/>
                        <a:pt x="1285596" y="469288"/>
                        <a:pt x="1284882" y="469288"/>
                      </a:cubicBezTo>
                      <a:cubicBezTo>
                        <a:pt x="1281314" y="470002"/>
                        <a:pt x="1277747" y="470715"/>
                        <a:pt x="1274179" y="471429"/>
                      </a:cubicBezTo>
                      <a:cubicBezTo>
                        <a:pt x="1274179" y="471429"/>
                        <a:pt x="1273465" y="471429"/>
                        <a:pt x="1273465" y="471429"/>
                      </a:cubicBezTo>
                      <a:cubicBezTo>
                        <a:pt x="1269898" y="472143"/>
                        <a:pt x="1265616" y="472857"/>
                        <a:pt x="1262048" y="472857"/>
                      </a:cubicBezTo>
                      <a:cubicBezTo>
                        <a:pt x="1262048" y="472857"/>
                        <a:pt x="1261335" y="473571"/>
                        <a:pt x="1261335" y="473571"/>
                      </a:cubicBezTo>
                      <a:cubicBezTo>
                        <a:pt x="1257054" y="473571"/>
                        <a:pt x="1253486" y="474284"/>
                        <a:pt x="1249205" y="474998"/>
                      </a:cubicBezTo>
                      <a:cubicBezTo>
                        <a:pt x="1236361" y="475712"/>
                        <a:pt x="1223517" y="477140"/>
                        <a:pt x="1209959" y="477853"/>
                      </a:cubicBezTo>
                      <a:cubicBezTo>
                        <a:pt x="1209959" y="477853"/>
                        <a:pt x="1209959" y="477853"/>
                        <a:pt x="1209246" y="477853"/>
                      </a:cubicBezTo>
                      <a:cubicBezTo>
                        <a:pt x="1204964" y="477853"/>
                        <a:pt x="1200683" y="477853"/>
                        <a:pt x="1196402" y="477853"/>
                      </a:cubicBezTo>
                      <a:cubicBezTo>
                        <a:pt x="1195688" y="477853"/>
                        <a:pt x="1195688" y="477853"/>
                        <a:pt x="1195688" y="477853"/>
                      </a:cubicBezTo>
                      <a:cubicBezTo>
                        <a:pt x="1191407" y="478567"/>
                        <a:pt x="1186412" y="478567"/>
                        <a:pt x="1182131" y="478567"/>
                      </a:cubicBezTo>
                      <a:cubicBezTo>
                        <a:pt x="1182131" y="478567"/>
                        <a:pt x="1181417" y="478567"/>
                        <a:pt x="1181417" y="478567"/>
                      </a:cubicBezTo>
                      <a:cubicBezTo>
                        <a:pt x="1176422" y="478567"/>
                        <a:pt x="1172141" y="478567"/>
                        <a:pt x="1167860" y="478567"/>
                      </a:cubicBezTo>
                      <a:cubicBezTo>
                        <a:pt x="1167146" y="478567"/>
                        <a:pt x="1167146" y="478567"/>
                        <a:pt x="1166433" y="478567"/>
                      </a:cubicBezTo>
                      <a:cubicBezTo>
                        <a:pt x="1162151" y="478567"/>
                        <a:pt x="1157157" y="478567"/>
                        <a:pt x="1152875" y="478567"/>
                      </a:cubicBezTo>
                      <a:cubicBezTo>
                        <a:pt x="1152162" y="478567"/>
                        <a:pt x="1152162" y="478567"/>
                        <a:pt x="1151448" y="478567"/>
                      </a:cubicBezTo>
                      <a:cubicBezTo>
                        <a:pt x="1147167" y="478567"/>
                        <a:pt x="1142172" y="478567"/>
                        <a:pt x="1137891" y="478567"/>
                      </a:cubicBezTo>
                      <a:cubicBezTo>
                        <a:pt x="1137177" y="478567"/>
                        <a:pt x="1137177" y="478567"/>
                        <a:pt x="1136464" y="478567"/>
                      </a:cubicBezTo>
                      <a:cubicBezTo>
                        <a:pt x="1132182" y="478567"/>
                        <a:pt x="1127188" y="478567"/>
                        <a:pt x="1122193" y="478567"/>
                      </a:cubicBezTo>
                      <a:cubicBezTo>
                        <a:pt x="1122193" y="478567"/>
                        <a:pt x="1122193" y="478567"/>
                        <a:pt x="1121479" y="478567"/>
                      </a:cubicBezTo>
                      <a:cubicBezTo>
                        <a:pt x="1101500" y="477853"/>
                        <a:pt x="1080807" y="477140"/>
                        <a:pt x="1058687" y="475712"/>
                      </a:cubicBezTo>
                      <a:cubicBezTo>
                        <a:pt x="1053692" y="475712"/>
                        <a:pt x="1047984" y="474998"/>
                        <a:pt x="1042989" y="474998"/>
                      </a:cubicBezTo>
                      <a:cubicBezTo>
                        <a:pt x="1042989" y="474998"/>
                        <a:pt x="1042275" y="474998"/>
                        <a:pt x="1042275" y="474998"/>
                      </a:cubicBezTo>
                      <a:cubicBezTo>
                        <a:pt x="1036567" y="474284"/>
                        <a:pt x="1031572" y="474284"/>
                        <a:pt x="1026577" y="473571"/>
                      </a:cubicBezTo>
                      <a:cubicBezTo>
                        <a:pt x="1025863" y="473571"/>
                        <a:pt x="1025863" y="473571"/>
                        <a:pt x="1025150" y="473571"/>
                      </a:cubicBezTo>
                      <a:cubicBezTo>
                        <a:pt x="1020155" y="473571"/>
                        <a:pt x="1015160" y="472857"/>
                        <a:pt x="1010165" y="472857"/>
                      </a:cubicBezTo>
                      <a:cubicBezTo>
                        <a:pt x="1009452" y="472857"/>
                        <a:pt x="1009452" y="472857"/>
                        <a:pt x="1008738" y="472857"/>
                      </a:cubicBezTo>
                      <a:cubicBezTo>
                        <a:pt x="1008025" y="472857"/>
                        <a:pt x="1008025" y="472857"/>
                        <a:pt x="1007311" y="472857"/>
                      </a:cubicBezTo>
                      <a:cubicBezTo>
                        <a:pt x="1003030" y="472143"/>
                        <a:pt x="998035" y="472143"/>
                        <a:pt x="993040" y="471429"/>
                      </a:cubicBezTo>
                      <a:cubicBezTo>
                        <a:pt x="993040" y="471429"/>
                        <a:pt x="992327" y="471429"/>
                        <a:pt x="992327" y="471429"/>
                      </a:cubicBezTo>
                      <a:cubicBezTo>
                        <a:pt x="989472" y="471429"/>
                        <a:pt x="986618" y="471429"/>
                        <a:pt x="983764" y="471429"/>
                      </a:cubicBezTo>
                      <a:cubicBezTo>
                        <a:pt x="980910" y="470715"/>
                        <a:pt x="978769" y="470715"/>
                        <a:pt x="975915" y="470715"/>
                      </a:cubicBezTo>
                      <a:cubicBezTo>
                        <a:pt x="968066" y="470002"/>
                        <a:pt x="960217" y="469288"/>
                        <a:pt x="952368" y="469288"/>
                      </a:cubicBezTo>
                      <a:cubicBezTo>
                        <a:pt x="948800" y="468574"/>
                        <a:pt x="945232" y="468574"/>
                        <a:pt x="942378" y="468574"/>
                      </a:cubicBezTo>
                      <a:cubicBezTo>
                        <a:pt x="935243" y="467860"/>
                        <a:pt x="927394" y="467147"/>
                        <a:pt x="920258" y="467147"/>
                      </a:cubicBezTo>
                      <a:cubicBezTo>
                        <a:pt x="910268" y="466433"/>
                        <a:pt x="899565" y="465719"/>
                        <a:pt x="888861" y="465005"/>
                      </a:cubicBezTo>
                      <a:cubicBezTo>
                        <a:pt x="881726" y="464291"/>
                        <a:pt x="873877" y="463578"/>
                        <a:pt x="866741" y="463578"/>
                      </a:cubicBezTo>
                      <a:cubicBezTo>
                        <a:pt x="844621" y="462150"/>
                        <a:pt x="822501" y="460722"/>
                        <a:pt x="800381" y="460009"/>
                      </a:cubicBezTo>
                      <a:cubicBezTo>
                        <a:pt x="785397" y="459295"/>
                        <a:pt x="769699" y="458581"/>
                        <a:pt x="754714" y="457867"/>
                      </a:cubicBezTo>
                      <a:cubicBezTo>
                        <a:pt x="714755" y="457153"/>
                        <a:pt x="676937" y="457867"/>
                        <a:pt x="642687" y="460722"/>
                      </a:cubicBezTo>
                      <a:cubicBezTo>
                        <a:pt x="628416" y="462150"/>
                        <a:pt x="615572" y="463578"/>
                        <a:pt x="602728" y="465719"/>
                      </a:cubicBezTo>
                      <a:cubicBezTo>
                        <a:pt x="572045" y="470002"/>
                        <a:pt x="546358" y="477853"/>
                        <a:pt x="526378" y="489274"/>
                      </a:cubicBezTo>
                      <a:cubicBezTo>
                        <a:pt x="523524" y="491416"/>
                        <a:pt x="520670" y="492843"/>
                        <a:pt x="517816" y="494985"/>
                      </a:cubicBezTo>
                      <a:cubicBezTo>
                        <a:pt x="513534" y="497840"/>
                        <a:pt x="509253" y="501409"/>
                        <a:pt x="505685" y="504978"/>
                      </a:cubicBezTo>
                      <a:cubicBezTo>
                        <a:pt x="502117" y="508547"/>
                        <a:pt x="498550" y="512829"/>
                        <a:pt x="495696" y="517112"/>
                      </a:cubicBezTo>
                      <a:cubicBezTo>
                        <a:pt x="485706" y="531388"/>
                        <a:pt x="478570" y="549233"/>
                        <a:pt x="472862" y="570647"/>
                      </a:cubicBezTo>
                      <a:cubicBezTo>
                        <a:pt x="471435" y="575643"/>
                        <a:pt x="470008" y="580640"/>
                        <a:pt x="469294" y="585637"/>
                      </a:cubicBezTo>
                      <a:cubicBezTo>
                        <a:pt x="468581" y="588492"/>
                        <a:pt x="467867" y="591347"/>
                        <a:pt x="467867" y="594202"/>
                      </a:cubicBezTo>
                      <a:cubicBezTo>
                        <a:pt x="467154" y="596344"/>
                        <a:pt x="466440" y="599199"/>
                        <a:pt x="466440" y="602054"/>
                      </a:cubicBezTo>
                      <a:cubicBezTo>
                        <a:pt x="464299" y="614902"/>
                        <a:pt x="462872" y="627751"/>
                        <a:pt x="461445" y="642026"/>
                      </a:cubicBezTo>
                      <a:cubicBezTo>
                        <a:pt x="458591" y="676289"/>
                        <a:pt x="457877" y="714120"/>
                        <a:pt x="458591" y="754092"/>
                      </a:cubicBezTo>
                      <a:cubicBezTo>
                        <a:pt x="459304" y="769082"/>
                        <a:pt x="460018" y="784786"/>
                        <a:pt x="460732" y="799775"/>
                      </a:cubicBezTo>
                      <a:cubicBezTo>
                        <a:pt x="461445" y="824044"/>
                        <a:pt x="462872" y="848313"/>
                        <a:pt x="464299" y="872582"/>
                      </a:cubicBezTo>
                      <a:cubicBezTo>
                        <a:pt x="464299" y="872582"/>
                        <a:pt x="464299" y="872582"/>
                        <a:pt x="464299" y="873296"/>
                      </a:cubicBezTo>
                      <a:cubicBezTo>
                        <a:pt x="465013" y="878293"/>
                        <a:pt x="465013" y="883289"/>
                        <a:pt x="465726" y="887572"/>
                      </a:cubicBezTo>
                      <a:cubicBezTo>
                        <a:pt x="464299" y="887572"/>
                        <a:pt x="463586" y="887572"/>
                        <a:pt x="462872" y="887572"/>
                      </a:cubicBezTo>
                      <a:cubicBezTo>
                        <a:pt x="453596" y="886858"/>
                        <a:pt x="443606" y="886145"/>
                        <a:pt x="433617" y="885431"/>
                      </a:cubicBezTo>
                      <a:cubicBezTo>
                        <a:pt x="432190" y="864731"/>
                        <a:pt x="431476" y="844031"/>
                        <a:pt x="430049" y="824044"/>
                      </a:cubicBezTo>
                      <a:cubicBezTo>
                        <a:pt x="428622" y="792637"/>
                        <a:pt x="427195" y="762658"/>
                        <a:pt x="427195" y="733392"/>
                      </a:cubicBezTo>
                      <a:cubicBezTo>
                        <a:pt x="427195" y="729110"/>
                        <a:pt x="427195" y="724827"/>
                        <a:pt x="427195" y="721258"/>
                      </a:cubicBezTo>
                      <a:cubicBezTo>
                        <a:pt x="427195" y="717689"/>
                        <a:pt x="427195" y="714120"/>
                        <a:pt x="427195" y="711265"/>
                      </a:cubicBezTo>
                      <a:cubicBezTo>
                        <a:pt x="427195" y="707696"/>
                        <a:pt x="427195" y="704840"/>
                        <a:pt x="427195" y="701271"/>
                      </a:cubicBezTo>
                      <a:cubicBezTo>
                        <a:pt x="428622" y="603481"/>
                        <a:pt x="442179" y="524250"/>
                        <a:pt x="483565" y="482850"/>
                      </a:cubicBezTo>
                      <a:cubicBezTo>
                        <a:pt x="522097" y="444305"/>
                        <a:pt x="592738" y="430029"/>
                        <a:pt x="680505" y="427174"/>
                      </a:cubicBezTo>
                      <a:cubicBezTo>
                        <a:pt x="681218" y="427174"/>
                        <a:pt x="681218" y="427174"/>
                        <a:pt x="681218" y="427174"/>
                      </a:cubicBezTo>
                      <a:cubicBezTo>
                        <a:pt x="685500" y="426460"/>
                        <a:pt x="689781" y="426460"/>
                        <a:pt x="694062" y="426460"/>
                      </a:cubicBezTo>
                      <a:cubicBezTo>
                        <a:pt x="695489" y="426460"/>
                        <a:pt x="696203" y="426460"/>
                        <a:pt x="697630" y="426460"/>
                      </a:cubicBezTo>
                      <a:cubicBezTo>
                        <a:pt x="749006" y="425746"/>
                        <a:pt x="804663" y="427888"/>
                        <a:pt x="863174" y="431457"/>
                      </a:cubicBezTo>
                      <a:cubicBezTo>
                        <a:pt x="871023" y="432171"/>
                        <a:pt x="878872" y="432884"/>
                        <a:pt x="886721" y="432884"/>
                      </a:cubicBezTo>
                      <a:cubicBezTo>
                        <a:pt x="897424" y="433598"/>
                        <a:pt x="908127" y="434312"/>
                        <a:pt x="918117" y="435026"/>
                      </a:cubicBezTo>
                      <a:cubicBezTo>
                        <a:pt x="926680" y="435739"/>
                        <a:pt x="935956" y="436453"/>
                        <a:pt x="944519" y="437167"/>
                      </a:cubicBezTo>
                      <a:cubicBezTo>
                        <a:pt x="945946" y="437167"/>
                        <a:pt x="948087" y="437167"/>
                        <a:pt x="950227" y="437167"/>
                      </a:cubicBezTo>
                      <a:cubicBezTo>
                        <a:pt x="960217" y="437881"/>
                        <a:pt x="970920" y="438595"/>
                        <a:pt x="980910" y="439308"/>
                      </a:cubicBezTo>
                      <a:cubicBezTo>
                        <a:pt x="980910" y="439308"/>
                        <a:pt x="981623" y="439308"/>
                        <a:pt x="981623" y="439308"/>
                      </a:cubicBezTo>
                      <a:cubicBezTo>
                        <a:pt x="983050" y="439308"/>
                        <a:pt x="985191" y="440022"/>
                        <a:pt x="986618" y="440022"/>
                      </a:cubicBezTo>
                      <a:cubicBezTo>
                        <a:pt x="988759" y="440022"/>
                        <a:pt x="990900" y="440022"/>
                        <a:pt x="993040" y="440022"/>
                      </a:cubicBezTo>
                      <a:cubicBezTo>
                        <a:pt x="996608" y="440736"/>
                        <a:pt x="1000176" y="440736"/>
                        <a:pt x="1003743" y="440736"/>
                      </a:cubicBezTo>
                      <a:cubicBezTo>
                        <a:pt x="1004457" y="440736"/>
                        <a:pt x="1004457" y="440736"/>
                        <a:pt x="1005171" y="440736"/>
                      </a:cubicBezTo>
                      <a:cubicBezTo>
                        <a:pt x="1005884" y="441450"/>
                        <a:pt x="1007311" y="441450"/>
                        <a:pt x="1008025" y="441450"/>
                      </a:cubicBezTo>
                      <a:cubicBezTo>
                        <a:pt x="1012306" y="441450"/>
                        <a:pt x="1015874" y="441450"/>
                        <a:pt x="1020155" y="442164"/>
                      </a:cubicBezTo>
                      <a:cubicBezTo>
                        <a:pt x="1020869" y="442164"/>
                        <a:pt x="1022296" y="442164"/>
                        <a:pt x="1023723" y="442164"/>
                      </a:cubicBezTo>
                      <a:cubicBezTo>
                        <a:pt x="1027291" y="442164"/>
                        <a:pt x="1031572" y="442877"/>
                        <a:pt x="1035853" y="442877"/>
                      </a:cubicBezTo>
                      <a:cubicBezTo>
                        <a:pt x="1036567" y="442877"/>
                        <a:pt x="1037994" y="442877"/>
                        <a:pt x="1038707" y="442877"/>
                      </a:cubicBezTo>
                      <a:cubicBezTo>
                        <a:pt x="1042989" y="443591"/>
                        <a:pt x="1047270" y="443591"/>
                        <a:pt x="1051551" y="443591"/>
                      </a:cubicBezTo>
                      <a:cubicBezTo>
                        <a:pt x="1052265" y="443591"/>
                        <a:pt x="1052978" y="443591"/>
                        <a:pt x="1053692" y="444305"/>
                      </a:cubicBezTo>
                      <a:cubicBezTo>
                        <a:pt x="1055119" y="444305"/>
                        <a:pt x="1057260" y="444305"/>
                        <a:pt x="1058687" y="444305"/>
                      </a:cubicBezTo>
                      <a:cubicBezTo>
                        <a:pt x="1061541" y="444305"/>
                        <a:pt x="1064395" y="444305"/>
                        <a:pt x="1067249" y="445019"/>
                      </a:cubicBezTo>
                      <a:cubicBezTo>
                        <a:pt x="1072244" y="445019"/>
                        <a:pt x="1076526" y="445019"/>
                        <a:pt x="1081520" y="445019"/>
                      </a:cubicBezTo>
                      <a:cubicBezTo>
                        <a:pt x="1081520" y="445019"/>
                        <a:pt x="1082234" y="445019"/>
                        <a:pt x="1082947" y="445733"/>
                      </a:cubicBezTo>
                      <a:cubicBezTo>
                        <a:pt x="1087229" y="445733"/>
                        <a:pt x="1091510" y="445733"/>
                        <a:pt x="1096505" y="445733"/>
                      </a:cubicBezTo>
                      <a:cubicBezTo>
                        <a:pt x="1096505" y="445733"/>
                        <a:pt x="1097218" y="445733"/>
                        <a:pt x="1097932" y="445733"/>
                      </a:cubicBezTo>
                      <a:cubicBezTo>
                        <a:pt x="1100073" y="446446"/>
                        <a:pt x="1102927" y="446446"/>
                        <a:pt x="1105068" y="446446"/>
                      </a:cubicBezTo>
                      <a:cubicBezTo>
                        <a:pt x="1107208" y="446446"/>
                        <a:pt x="1108635" y="446446"/>
                        <a:pt x="1110776" y="446446"/>
                      </a:cubicBezTo>
                      <a:cubicBezTo>
                        <a:pt x="1111489" y="446446"/>
                        <a:pt x="1112203" y="446446"/>
                        <a:pt x="1112917" y="446446"/>
                      </a:cubicBezTo>
                      <a:cubicBezTo>
                        <a:pt x="1117198" y="446446"/>
                        <a:pt x="1121479" y="446446"/>
                        <a:pt x="1125760" y="447160"/>
                      </a:cubicBezTo>
                      <a:cubicBezTo>
                        <a:pt x="1126474" y="447160"/>
                        <a:pt x="1126474" y="447160"/>
                        <a:pt x="1127188" y="447160"/>
                      </a:cubicBezTo>
                      <a:cubicBezTo>
                        <a:pt x="1131469" y="447160"/>
                        <a:pt x="1135750" y="447160"/>
                        <a:pt x="1140031" y="447160"/>
                      </a:cubicBezTo>
                      <a:cubicBezTo>
                        <a:pt x="1140745" y="447160"/>
                        <a:pt x="1141459" y="447160"/>
                        <a:pt x="1141459" y="447160"/>
                      </a:cubicBezTo>
                      <a:cubicBezTo>
                        <a:pt x="1145740" y="447160"/>
                        <a:pt x="1150021" y="447160"/>
                        <a:pt x="1154302" y="447160"/>
                      </a:cubicBezTo>
                      <a:cubicBezTo>
                        <a:pt x="1155016" y="447160"/>
                        <a:pt x="1155016" y="447160"/>
                        <a:pt x="1155730" y="447160"/>
                      </a:cubicBezTo>
                      <a:cubicBezTo>
                        <a:pt x="1160011" y="447160"/>
                        <a:pt x="1164292" y="447160"/>
                        <a:pt x="1168573" y="447160"/>
                      </a:cubicBezTo>
                      <a:cubicBezTo>
                        <a:pt x="1168573" y="447160"/>
                        <a:pt x="1168573" y="447160"/>
                        <a:pt x="1169287" y="447160"/>
                      </a:cubicBezTo>
                      <a:cubicBezTo>
                        <a:pt x="1177850" y="447160"/>
                        <a:pt x="1186412" y="447160"/>
                        <a:pt x="1194975" y="446446"/>
                      </a:cubicBezTo>
                      <a:cubicBezTo>
                        <a:pt x="1195688" y="446446"/>
                        <a:pt x="1195688" y="446446"/>
                        <a:pt x="1195688" y="446446"/>
                      </a:cubicBezTo>
                      <a:cubicBezTo>
                        <a:pt x="1199970" y="446446"/>
                        <a:pt x="1203537" y="446446"/>
                        <a:pt x="1207819" y="446446"/>
                      </a:cubicBezTo>
                      <a:cubicBezTo>
                        <a:pt x="1208532" y="446446"/>
                        <a:pt x="1208532" y="446446"/>
                        <a:pt x="1209246" y="446446"/>
                      </a:cubicBezTo>
                      <a:cubicBezTo>
                        <a:pt x="1212100" y="445733"/>
                        <a:pt x="1215668" y="445733"/>
                        <a:pt x="1219235" y="445733"/>
                      </a:cubicBezTo>
                      <a:cubicBezTo>
                        <a:pt x="1219235" y="445733"/>
                        <a:pt x="1219949" y="445733"/>
                        <a:pt x="1220663" y="445733"/>
                      </a:cubicBezTo>
                      <a:cubicBezTo>
                        <a:pt x="1220663" y="445733"/>
                        <a:pt x="1221376" y="445733"/>
                        <a:pt x="1222090" y="445733"/>
                      </a:cubicBezTo>
                      <a:cubicBezTo>
                        <a:pt x="1225657" y="445019"/>
                        <a:pt x="1229225" y="445019"/>
                        <a:pt x="1232793" y="445019"/>
                      </a:cubicBezTo>
                      <a:cubicBezTo>
                        <a:pt x="1233506" y="445019"/>
                        <a:pt x="1233506" y="444305"/>
                        <a:pt x="1234220" y="444305"/>
                      </a:cubicBezTo>
                      <a:cubicBezTo>
                        <a:pt x="1237788" y="444305"/>
                        <a:pt x="1241356" y="444305"/>
                        <a:pt x="1244923" y="443591"/>
                      </a:cubicBezTo>
                      <a:cubicBezTo>
                        <a:pt x="1245637" y="443591"/>
                        <a:pt x="1245637" y="443591"/>
                        <a:pt x="1246350" y="443591"/>
                      </a:cubicBezTo>
                      <a:cubicBezTo>
                        <a:pt x="1249918" y="442877"/>
                        <a:pt x="1253486" y="442877"/>
                        <a:pt x="1257054" y="442164"/>
                      </a:cubicBezTo>
                      <a:cubicBezTo>
                        <a:pt x="1257054" y="442164"/>
                        <a:pt x="1257054" y="442164"/>
                        <a:pt x="1257767" y="442164"/>
                      </a:cubicBezTo>
                      <a:cubicBezTo>
                        <a:pt x="1258481" y="442164"/>
                        <a:pt x="1259194" y="442164"/>
                        <a:pt x="1259908" y="442164"/>
                      </a:cubicBezTo>
                      <a:cubicBezTo>
                        <a:pt x="1262762" y="441450"/>
                        <a:pt x="1265616" y="441450"/>
                        <a:pt x="1267757" y="440736"/>
                      </a:cubicBezTo>
                      <a:cubicBezTo>
                        <a:pt x="1268470" y="440736"/>
                        <a:pt x="1268470" y="440736"/>
                        <a:pt x="1268470" y="440736"/>
                      </a:cubicBezTo>
                      <a:cubicBezTo>
                        <a:pt x="1275606" y="439308"/>
                        <a:pt x="1282028" y="438595"/>
                        <a:pt x="1288450" y="437167"/>
                      </a:cubicBezTo>
                      <a:cubicBezTo>
                        <a:pt x="1289163" y="437167"/>
                        <a:pt x="1289163" y="437167"/>
                        <a:pt x="1289163" y="437167"/>
                      </a:cubicBezTo>
                      <a:cubicBezTo>
                        <a:pt x="1292731" y="436453"/>
                        <a:pt x="1295585" y="435739"/>
                        <a:pt x="1298439" y="435026"/>
                      </a:cubicBezTo>
                      <a:cubicBezTo>
                        <a:pt x="1298439" y="434312"/>
                        <a:pt x="1299153" y="434312"/>
                        <a:pt x="1299153" y="434312"/>
                      </a:cubicBezTo>
                      <a:cubicBezTo>
                        <a:pt x="1302007" y="433598"/>
                        <a:pt x="1304861" y="432884"/>
                        <a:pt x="1307716" y="432171"/>
                      </a:cubicBezTo>
                      <a:cubicBezTo>
                        <a:pt x="1308429" y="432171"/>
                        <a:pt x="1308429" y="432171"/>
                        <a:pt x="1309143" y="432171"/>
                      </a:cubicBezTo>
                      <a:cubicBezTo>
                        <a:pt x="1311283" y="430743"/>
                        <a:pt x="1314138" y="430029"/>
                        <a:pt x="1316992" y="429315"/>
                      </a:cubicBezTo>
                      <a:cubicBezTo>
                        <a:pt x="1316992" y="429315"/>
                        <a:pt x="1317705" y="429315"/>
                        <a:pt x="1317705" y="428602"/>
                      </a:cubicBezTo>
                      <a:cubicBezTo>
                        <a:pt x="1320560" y="427888"/>
                        <a:pt x="1322700" y="427174"/>
                        <a:pt x="1324841" y="426460"/>
                      </a:cubicBezTo>
                      <a:cubicBezTo>
                        <a:pt x="1325554" y="425746"/>
                        <a:pt x="1325554" y="425746"/>
                        <a:pt x="1326268" y="425746"/>
                      </a:cubicBezTo>
                      <a:cubicBezTo>
                        <a:pt x="1328409" y="425033"/>
                        <a:pt x="1330549" y="423605"/>
                        <a:pt x="1333403" y="422891"/>
                      </a:cubicBezTo>
                      <a:cubicBezTo>
                        <a:pt x="1333403" y="422891"/>
                        <a:pt x="1333403" y="422177"/>
                        <a:pt x="1333403" y="422177"/>
                      </a:cubicBezTo>
                      <a:cubicBezTo>
                        <a:pt x="1336258" y="421464"/>
                        <a:pt x="1338398" y="420036"/>
                        <a:pt x="1340539" y="418608"/>
                      </a:cubicBezTo>
                      <a:cubicBezTo>
                        <a:pt x="1342680" y="417181"/>
                        <a:pt x="1344820" y="416467"/>
                        <a:pt x="1346961" y="415039"/>
                      </a:cubicBezTo>
                      <a:cubicBezTo>
                        <a:pt x="1351956" y="411470"/>
                        <a:pt x="1355523" y="408615"/>
                        <a:pt x="1359091" y="405046"/>
                      </a:cubicBezTo>
                      <a:cubicBezTo>
                        <a:pt x="1362302" y="401834"/>
                        <a:pt x="1366405" y="400228"/>
                        <a:pt x="1370508" y="400228"/>
                      </a:cubicBezTo>
                      <a:close/>
                      <a:moveTo>
                        <a:pt x="971731" y="0"/>
                      </a:moveTo>
                      <a:cubicBezTo>
                        <a:pt x="975797" y="0"/>
                        <a:pt x="979773" y="1428"/>
                        <a:pt x="982664" y="4284"/>
                      </a:cubicBezTo>
                      <a:cubicBezTo>
                        <a:pt x="989170" y="10709"/>
                        <a:pt x="989170" y="20705"/>
                        <a:pt x="982664" y="27130"/>
                      </a:cubicBezTo>
                      <a:cubicBezTo>
                        <a:pt x="979050" y="30700"/>
                        <a:pt x="976158" y="34270"/>
                        <a:pt x="972544" y="39268"/>
                      </a:cubicBezTo>
                      <a:cubicBezTo>
                        <a:pt x="971098" y="41409"/>
                        <a:pt x="970375" y="43551"/>
                        <a:pt x="968929" y="45693"/>
                      </a:cubicBezTo>
                      <a:cubicBezTo>
                        <a:pt x="967484" y="47835"/>
                        <a:pt x="966038" y="49977"/>
                        <a:pt x="965315" y="52833"/>
                      </a:cubicBezTo>
                      <a:cubicBezTo>
                        <a:pt x="965315" y="52833"/>
                        <a:pt x="964592" y="52833"/>
                        <a:pt x="964592" y="52833"/>
                      </a:cubicBezTo>
                      <a:cubicBezTo>
                        <a:pt x="963869" y="55689"/>
                        <a:pt x="962424" y="57830"/>
                        <a:pt x="961701" y="59972"/>
                      </a:cubicBezTo>
                      <a:cubicBezTo>
                        <a:pt x="961701" y="60686"/>
                        <a:pt x="961701" y="60686"/>
                        <a:pt x="960978" y="61400"/>
                      </a:cubicBezTo>
                      <a:cubicBezTo>
                        <a:pt x="960255" y="63542"/>
                        <a:pt x="959532" y="65684"/>
                        <a:pt x="958809" y="68540"/>
                      </a:cubicBezTo>
                      <a:cubicBezTo>
                        <a:pt x="958086" y="68540"/>
                        <a:pt x="958086" y="69254"/>
                        <a:pt x="958086" y="69254"/>
                      </a:cubicBezTo>
                      <a:cubicBezTo>
                        <a:pt x="957363" y="72110"/>
                        <a:pt x="956640" y="74965"/>
                        <a:pt x="955195" y="77107"/>
                      </a:cubicBezTo>
                      <a:cubicBezTo>
                        <a:pt x="955195" y="77821"/>
                        <a:pt x="955195" y="77821"/>
                        <a:pt x="955195" y="78535"/>
                      </a:cubicBezTo>
                      <a:cubicBezTo>
                        <a:pt x="954472" y="81391"/>
                        <a:pt x="953749" y="84247"/>
                        <a:pt x="953026" y="87103"/>
                      </a:cubicBezTo>
                      <a:cubicBezTo>
                        <a:pt x="953026" y="87103"/>
                        <a:pt x="953026" y="87817"/>
                        <a:pt x="952303" y="87817"/>
                      </a:cubicBezTo>
                      <a:cubicBezTo>
                        <a:pt x="951580" y="90672"/>
                        <a:pt x="950857" y="93528"/>
                        <a:pt x="950135" y="97098"/>
                      </a:cubicBezTo>
                      <a:cubicBezTo>
                        <a:pt x="950135" y="97098"/>
                        <a:pt x="950135" y="97098"/>
                        <a:pt x="950135" y="97812"/>
                      </a:cubicBezTo>
                      <a:cubicBezTo>
                        <a:pt x="948689" y="104238"/>
                        <a:pt x="947966" y="110663"/>
                        <a:pt x="946520" y="117803"/>
                      </a:cubicBezTo>
                      <a:cubicBezTo>
                        <a:pt x="946520" y="117803"/>
                        <a:pt x="946520" y="117803"/>
                        <a:pt x="946520" y="118517"/>
                      </a:cubicBezTo>
                      <a:cubicBezTo>
                        <a:pt x="945797" y="120659"/>
                        <a:pt x="945797" y="123514"/>
                        <a:pt x="945074" y="126370"/>
                      </a:cubicBezTo>
                      <a:cubicBezTo>
                        <a:pt x="945074" y="127084"/>
                        <a:pt x="945074" y="127798"/>
                        <a:pt x="945074" y="128512"/>
                      </a:cubicBezTo>
                      <a:cubicBezTo>
                        <a:pt x="945074" y="129226"/>
                        <a:pt x="945074" y="129226"/>
                        <a:pt x="945074" y="129940"/>
                      </a:cubicBezTo>
                      <a:cubicBezTo>
                        <a:pt x="944351" y="132796"/>
                        <a:pt x="944351" y="136366"/>
                        <a:pt x="943629" y="139935"/>
                      </a:cubicBezTo>
                      <a:cubicBezTo>
                        <a:pt x="943629" y="140649"/>
                        <a:pt x="943629" y="140649"/>
                        <a:pt x="943629" y="141363"/>
                      </a:cubicBezTo>
                      <a:cubicBezTo>
                        <a:pt x="942906" y="144933"/>
                        <a:pt x="942906" y="148503"/>
                        <a:pt x="942906" y="152073"/>
                      </a:cubicBezTo>
                      <a:cubicBezTo>
                        <a:pt x="942906" y="152787"/>
                        <a:pt x="942183" y="152787"/>
                        <a:pt x="942183" y="153501"/>
                      </a:cubicBezTo>
                      <a:cubicBezTo>
                        <a:pt x="942183" y="157070"/>
                        <a:pt x="942183" y="160640"/>
                        <a:pt x="941460" y="164210"/>
                      </a:cubicBezTo>
                      <a:cubicBezTo>
                        <a:pt x="941460" y="164924"/>
                        <a:pt x="941460" y="165638"/>
                        <a:pt x="941460" y="165638"/>
                      </a:cubicBezTo>
                      <a:cubicBezTo>
                        <a:pt x="941460" y="166352"/>
                        <a:pt x="941460" y="167066"/>
                        <a:pt x="941460" y="167066"/>
                      </a:cubicBezTo>
                      <a:cubicBezTo>
                        <a:pt x="941460" y="170636"/>
                        <a:pt x="941460" y="174205"/>
                        <a:pt x="940737" y="177061"/>
                      </a:cubicBezTo>
                      <a:cubicBezTo>
                        <a:pt x="940737" y="177775"/>
                        <a:pt x="940737" y="178489"/>
                        <a:pt x="940737" y="178489"/>
                      </a:cubicBezTo>
                      <a:cubicBezTo>
                        <a:pt x="940737" y="182773"/>
                        <a:pt x="940737" y="186343"/>
                        <a:pt x="940737" y="190626"/>
                      </a:cubicBezTo>
                      <a:cubicBezTo>
                        <a:pt x="940737" y="190626"/>
                        <a:pt x="940737" y="191340"/>
                        <a:pt x="940737" y="191340"/>
                      </a:cubicBezTo>
                      <a:cubicBezTo>
                        <a:pt x="940014" y="199908"/>
                        <a:pt x="940014" y="208475"/>
                        <a:pt x="940014" y="217043"/>
                      </a:cubicBezTo>
                      <a:cubicBezTo>
                        <a:pt x="940014" y="217757"/>
                        <a:pt x="940014" y="217757"/>
                        <a:pt x="940014" y="217757"/>
                      </a:cubicBezTo>
                      <a:cubicBezTo>
                        <a:pt x="940014" y="222040"/>
                        <a:pt x="940014" y="226324"/>
                        <a:pt x="940014" y="230608"/>
                      </a:cubicBezTo>
                      <a:cubicBezTo>
                        <a:pt x="940014" y="231322"/>
                        <a:pt x="940014" y="231322"/>
                        <a:pt x="940014" y="232036"/>
                      </a:cubicBezTo>
                      <a:cubicBezTo>
                        <a:pt x="940014" y="236319"/>
                        <a:pt x="940014" y="240603"/>
                        <a:pt x="940014" y="244887"/>
                      </a:cubicBezTo>
                      <a:cubicBezTo>
                        <a:pt x="940014" y="244887"/>
                        <a:pt x="940014" y="245601"/>
                        <a:pt x="940014" y="246315"/>
                      </a:cubicBezTo>
                      <a:cubicBezTo>
                        <a:pt x="940014" y="250599"/>
                        <a:pt x="940014" y="254882"/>
                        <a:pt x="940014" y="259166"/>
                      </a:cubicBezTo>
                      <a:cubicBezTo>
                        <a:pt x="940014" y="259880"/>
                        <a:pt x="940014" y="259880"/>
                        <a:pt x="940014" y="260594"/>
                      </a:cubicBezTo>
                      <a:cubicBezTo>
                        <a:pt x="940737" y="264878"/>
                        <a:pt x="940737" y="269161"/>
                        <a:pt x="940737" y="273445"/>
                      </a:cubicBezTo>
                      <a:cubicBezTo>
                        <a:pt x="940737" y="274159"/>
                        <a:pt x="940737" y="274873"/>
                        <a:pt x="940737" y="275587"/>
                      </a:cubicBezTo>
                      <a:cubicBezTo>
                        <a:pt x="940737" y="277015"/>
                        <a:pt x="940737" y="279157"/>
                        <a:pt x="940737" y="281299"/>
                      </a:cubicBezTo>
                      <a:cubicBezTo>
                        <a:pt x="940737" y="283441"/>
                        <a:pt x="940737" y="286296"/>
                        <a:pt x="941460" y="288438"/>
                      </a:cubicBezTo>
                      <a:cubicBezTo>
                        <a:pt x="941460" y="289152"/>
                        <a:pt x="941460" y="289866"/>
                        <a:pt x="941460" y="289866"/>
                      </a:cubicBezTo>
                      <a:cubicBezTo>
                        <a:pt x="941460" y="294864"/>
                        <a:pt x="941460" y="299148"/>
                        <a:pt x="941460" y="303431"/>
                      </a:cubicBezTo>
                      <a:cubicBezTo>
                        <a:pt x="942183" y="304145"/>
                        <a:pt x="942183" y="304145"/>
                        <a:pt x="942183" y="304859"/>
                      </a:cubicBezTo>
                      <a:cubicBezTo>
                        <a:pt x="942183" y="311999"/>
                        <a:pt x="942906" y="319852"/>
                        <a:pt x="942906" y="327706"/>
                      </a:cubicBezTo>
                      <a:cubicBezTo>
                        <a:pt x="942906" y="329848"/>
                        <a:pt x="942906" y="331990"/>
                        <a:pt x="943629" y="333417"/>
                      </a:cubicBezTo>
                      <a:cubicBezTo>
                        <a:pt x="943629" y="334131"/>
                        <a:pt x="943629" y="334131"/>
                        <a:pt x="943629" y="334131"/>
                      </a:cubicBezTo>
                      <a:cubicBezTo>
                        <a:pt x="943629" y="339129"/>
                        <a:pt x="943629" y="344127"/>
                        <a:pt x="944351" y="348411"/>
                      </a:cubicBezTo>
                      <a:cubicBezTo>
                        <a:pt x="944351" y="349124"/>
                        <a:pt x="944351" y="349838"/>
                        <a:pt x="944351" y="349838"/>
                      </a:cubicBezTo>
                      <a:cubicBezTo>
                        <a:pt x="944351" y="354836"/>
                        <a:pt x="945074" y="359120"/>
                        <a:pt x="945074" y="363404"/>
                      </a:cubicBezTo>
                      <a:cubicBezTo>
                        <a:pt x="945074" y="364118"/>
                        <a:pt x="945074" y="364832"/>
                        <a:pt x="945074" y="365545"/>
                      </a:cubicBezTo>
                      <a:cubicBezTo>
                        <a:pt x="945797" y="370543"/>
                        <a:pt x="945797" y="374827"/>
                        <a:pt x="945797" y="379111"/>
                      </a:cubicBezTo>
                      <a:cubicBezTo>
                        <a:pt x="945797" y="379825"/>
                        <a:pt x="945797" y="380539"/>
                        <a:pt x="946520" y="381253"/>
                      </a:cubicBezTo>
                      <a:cubicBezTo>
                        <a:pt x="946520" y="386250"/>
                        <a:pt x="946520" y="390534"/>
                        <a:pt x="947243" y="394818"/>
                      </a:cubicBezTo>
                      <a:cubicBezTo>
                        <a:pt x="947243" y="395532"/>
                        <a:pt x="947243" y="396246"/>
                        <a:pt x="947243" y="396960"/>
                      </a:cubicBezTo>
                      <a:cubicBezTo>
                        <a:pt x="947243" y="399101"/>
                        <a:pt x="947243" y="401243"/>
                        <a:pt x="947966" y="403385"/>
                      </a:cubicBezTo>
                      <a:cubicBezTo>
                        <a:pt x="947243" y="403385"/>
                        <a:pt x="946520" y="403385"/>
                        <a:pt x="946520" y="403385"/>
                      </a:cubicBezTo>
                      <a:cubicBezTo>
                        <a:pt x="936400" y="402671"/>
                        <a:pt x="925556" y="401957"/>
                        <a:pt x="915436" y="401243"/>
                      </a:cubicBezTo>
                      <a:cubicBezTo>
                        <a:pt x="915436" y="399101"/>
                        <a:pt x="915436" y="397673"/>
                        <a:pt x="915436" y="395532"/>
                      </a:cubicBezTo>
                      <a:cubicBezTo>
                        <a:pt x="915436" y="394818"/>
                        <a:pt x="915436" y="393390"/>
                        <a:pt x="914713" y="392676"/>
                      </a:cubicBezTo>
                      <a:cubicBezTo>
                        <a:pt x="914713" y="387678"/>
                        <a:pt x="914713" y="383394"/>
                        <a:pt x="913990" y="378397"/>
                      </a:cubicBezTo>
                      <a:cubicBezTo>
                        <a:pt x="913990" y="377683"/>
                        <a:pt x="913990" y="376969"/>
                        <a:pt x="913990" y="375541"/>
                      </a:cubicBezTo>
                      <a:cubicBezTo>
                        <a:pt x="913990" y="371257"/>
                        <a:pt x="913267" y="366259"/>
                        <a:pt x="913267" y="361976"/>
                      </a:cubicBezTo>
                      <a:cubicBezTo>
                        <a:pt x="913267" y="360548"/>
                        <a:pt x="913267" y="359834"/>
                        <a:pt x="912545" y="359120"/>
                      </a:cubicBezTo>
                      <a:cubicBezTo>
                        <a:pt x="912545" y="354122"/>
                        <a:pt x="912545" y="349838"/>
                        <a:pt x="911822" y="344841"/>
                      </a:cubicBezTo>
                      <a:cubicBezTo>
                        <a:pt x="911822" y="344127"/>
                        <a:pt x="911822" y="343413"/>
                        <a:pt x="911822" y="342699"/>
                      </a:cubicBezTo>
                      <a:cubicBezTo>
                        <a:pt x="911822" y="337701"/>
                        <a:pt x="911099" y="333417"/>
                        <a:pt x="911099" y="328420"/>
                      </a:cubicBezTo>
                      <a:cubicBezTo>
                        <a:pt x="911099" y="327706"/>
                        <a:pt x="911099" y="326992"/>
                        <a:pt x="911099" y="326278"/>
                      </a:cubicBezTo>
                      <a:cubicBezTo>
                        <a:pt x="911099" y="321994"/>
                        <a:pt x="910376" y="316996"/>
                        <a:pt x="910376" y="311999"/>
                      </a:cubicBezTo>
                      <a:cubicBezTo>
                        <a:pt x="910376" y="311285"/>
                        <a:pt x="910376" y="311285"/>
                        <a:pt x="910376" y="310571"/>
                      </a:cubicBezTo>
                      <a:cubicBezTo>
                        <a:pt x="910376" y="305573"/>
                        <a:pt x="909653" y="300575"/>
                        <a:pt x="909653" y="295578"/>
                      </a:cubicBezTo>
                      <a:cubicBezTo>
                        <a:pt x="909653" y="290580"/>
                        <a:pt x="908930" y="285582"/>
                        <a:pt x="908930" y="280585"/>
                      </a:cubicBezTo>
                      <a:cubicBezTo>
                        <a:pt x="908930" y="279871"/>
                        <a:pt x="908930" y="279871"/>
                        <a:pt x="908930" y="279871"/>
                      </a:cubicBezTo>
                      <a:cubicBezTo>
                        <a:pt x="908930" y="274873"/>
                        <a:pt x="908930" y="269875"/>
                        <a:pt x="908930" y="265592"/>
                      </a:cubicBezTo>
                      <a:cubicBezTo>
                        <a:pt x="908207" y="264878"/>
                        <a:pt x="908207" y="264164"/>
                        <a:pt x="908207" y="264164"/>
                      </a:cubicBezTo>
                      <a:cubicBezTo>
                        <a:pt x="908207" y="259166"/>
                        <a:pt x="908207" y="254882"/>
                        <a:pt x="908207" y="249885"/>
                      </a:cubicBezTo>
                      <a:cubicBezTo>
                        <a:pt x="908207" y="249885"/>
                        <a:pt x="908207" y="249171"/>
                        <a:pt x="908207" y="248457"/>
                      </a:cubicBezTo>
                      <a:cubicBezTo>
                        <a:pt x="908207" y="244173"/>
                        <a:pt x="908207" y="239175"/>
                        <a:pt x="908207" y="234892"/>
                      </a:cubicBezTo>
                      <a:cubicBezTo>
                        <a:pt x="908207" y="234178"/>
                        <a:pt x="908207" y="233464"/>
                        <a:pt x="908207" y="233464"/>
                      </a:cubicBezTo>
                      <a:cubicBezTo>
                        <a:pt x="908207" y="228466"/>
                        <a:pt x="908207" y="224182"/>
                        <a:pt x="908207" y="219898"/>
                      </a:cubicBezTo>
                      <a:cubicBezTo>
                        <a:pt x="908207" y="219898"/>
                        <a:pt x="908207" y="219185"/>
                        <a:pt x="908207" y="218471"/>
                      </a:cubicBezTo>
                      <a:cubicBezTo>
                        <a:pt x="908207" y="214187"/>
                        <a:pt x="908207" y="209903"/>
                        <a:pt x="908207" y="205619"/>
                      </a:cubicBezTo>
                      <a:cubicBezTo>
                        <a:pt x="908207" y="204905"/>
                        <a:pt x="908207" y="204191"/>
                        <a:pt x="908207" y="203477"/>
                      </a:cubicBezTo>
                      <a:cubicBezTo>
                        <a:pt x="908207" y="199194"/>
                        <a:pt x="908207" y="195624"/>
                        <a:pt x="908207" y="191340"/>
                      </a:cubicBezTo>
                      <a:cubicBezTo>
                        <a:pt x="908930" y="190626"/>
                        <a:pt x="908930" y="189912"/>
                        <a:pt x="908930" y="189912"/>
                      </a:cubicBezTo>
                      <a:cubicBezTo>
                        <a:pt x="908930" y="185629"/>
                        <a:pt x="908930" y="181345"/>
                        <a:pt x="908930" y="177061"/>
                      </a:cubicBezTo>
                      <a:cubicBezTo>
                        <a:pt x="908930" y="176347"/>
                        <a:pt x="908930" y="176347"/>
                        <a:pt x="908930" y="175633"/>
                      </a:cubicBezTo>
                      <a:cubicBezTo>
                        <a:pt x="909653" y="171349"/>
                        <a:pt x="909653" y="167066"/>
                        <a:pt x="909653" y="163496"/>
                      </a:cubicBezTo>
                      <a:cubicBezTo>
                        <a:pt x="909653" y="162782"/>
                        <a:pt x="909653" y="162782"/>
                        <a:pt x="909653" y="162782"/>
                      </a:cubicBezTo>
                      <a:cubicBezTo>
                        <a:pt x="910376" y="158498"/>
                        <a:pt x="910376" y="154215"/>
                        <a:pt x="911099" y="150645"/>
                      </a:cubicBezTo>
                      <a:cubicBezTo>
                        <a:pt x="911099" y="149931"/>
                        <a:pt x="911099" y="149931"/>
                        <a:pt x="911099" y="149931"/>
                      </a:cubicBezTo>
                      <a:cubicBezTo>
                        <a:pt x="911099" y="145647"/>
                        <a:pt x="911822" y="141363"/>
                        <a:pt x="911822" y="137794"/>
                      </a:cubicBezTo>
                      <a:cubicBezTo>
                        <a:pt x="911822" y="137080"/>
                        <a:pt x="911822" y="137080"/>
                        <a:pt x="912545" y="136366"/>
                      </a:cubicBezTo>
                      <a:cubicBezTo>
                        <a:pt x="912545" y="132796"/>
                        <a:pt x="913267" y="129226"/>
                        <a:pt x="913267" y="125656"/>
                      </a:cubicBezTo>
                      <a:cubicBezTo>
                        <a:pt x="913267" y="124942"/>
                        <a:pt x="913990" y="124228"/>
                        <a:pt x="913990" y="124228"/>
                      </a:cubicBezTo>
                      <a:cubicBezTo>
                        <a:pt x="913990" y="120659"/>
                        <a:pt x="914713" y="117089"/>
                        <a:pt x="915436" y="113519"/>
                      </a:cubicBezTo>
                      <a:cubicBezTo>
                        <a:pt x="915436" y="112805"/>
                        <a:pt x="915436" y="112091"/>
                        <a:pt x="915436" y="111377"/>
                      </a:cubicBezTo>
                      <a:cubicBezTo>
                        <a:pt x="916159" y="108521"/>
                        <a:pt x="916882" y="104952"/>
                        <a:pt x="917605" y="101382"/>
                      </a:cubicBezTo>
                      <a:cubicBezTo>
                        <a:pt x="917605" y="100668"/>
                        <a:pt x="917605" y="100668"/>
                        <a:pt x="917605" y="99954"/>
                      </a:cubicBezTo>
                      <a:cubicBezTo>
                        <a:pt x="918328" y="96384"/>
                        <a:pt x="919051" y="93528"/>
                        <a:pt x="919773" y="89958"/>
                      </a:cubicBezTo>
                      <a:cubicBezTo>
                        <a:pt x="919773" y="89958"/>
                        <a:pt x="919773" y="89245"/>
                        <a:pt x="919773" y="88531"/>
                      </a:cubicBezTo>
                      <a:cubicBezTo>
                        <a:pt x="920496" y="85675"/>
                        <a:pt x="921219" y="82105"/>
                        <a:pt x="921942" y="79249"/>
                      </a:cubicBezTo>
                      <a:cubicBezTo>
                        <a:pt x="922665" y="78535"/>
                        <a:pt x="922665" y="78535"/>
                        <a:pt x="922665" y="77821"/>
                      </a:cubicBezTo>
                      <a:cubicBezTo>
                        <a:pt x="923388" y="74965"/>
                        <a:pt x="924111" y="71396"/>
                        <a:pt x="924834" y="68540"/>
                      </a:cubicBezTo>
                      <a:cubicBezTo>
                        <a:pt x="925556" y="68540"/>
                        <a:pt x="925556" y="67826"/>
                        <a:pt x="925556" y="67826"/>
                      </a:cubicBezTo>
                      <a:cubicBezTo>
                        <a:pt x="926279" y="64256"/>
                        <a:pt x="927725" y="61400"/>
                        <a:pt x="928448" y="58544"/>
                      </a:cubicBezTo>
                      <a:cubicBezTo>
                        <a:pt x="928448" y="58544"/>
                        <a:pt x="928448" y="58544"/>
                        <a:pt x="928448" y="57830"/>
                      </a:cubicBezTo>
                      <a:cubicBezTo>
                        <a:pt x="929894" y="54975"/>
                        <a:pt x="930617" y="52119"/>
                        <a:pt x="932062" y="49263"/>
                      </a:cubicBezTo>
                      <a:cubicBezTo>
                        <a:pt x="932062" y="49263"/>
                        <a:pt x="932062" y="49263"/>
                        <a:pt x="932062" y="48549"/>
                      </a:cubicBezTo>
                      <a:cubicBezTo>
                        <a:pt x="933508" y="46407"/>
                        <a:pt x="934231" y="43551"/>
                        <a:pt x="935677" y="40696"/>
                      </a:cubicBezTo>
                      <a:cubicBezTo>
                        <a:pt x="935677" y="40696"/>
                        <a:pt x="936400" y="39982"/>
                        <a:pt x="936400" y="39982"/>
                      </a:cubicBezTo>
                      <a:cubicBezTo>
                        <a:pt x="937123" y="37126"/>
                        <a:pt x="938568" y="34984"/>
                        <a:pt x="940014" y="32128"/>
                      </a:cubicBezTo>
                      <a:cubicBezTo>
                        <a:pt x="940014" y="32128"/>
                        <a:pt x="940737" y="31414"/>
                        <a:pt x="940737" y="31414"/>
                      </a:cubicBezTo>
                      <a:cubicBezTo>
                        <a:pt x="942183" y="29272"/>
                        <a:pt x="942906" y="26416"/>
                        <a:pt x="944351" y="24275"/>
                      </a:cubicBezTo>
                      <a:cubicBezTo>
                        <a:pt x="945074" y="24275"/>
                        <a:pt x="945074" y="23561"/>
                        <a:pt x="945074" y="23561"/>
                      </a:cubicBezTo>
                      <a:cubicBezTo>
                        <a:pt x="946520" y="21419"/>
                        <a:pt x="947966" y="19277"/>
                        <a:pt x="949412" y="17135"/>
                      </a:cubicBezTo>
                      <a:cubicBezTo>
                        <a:pt x="950135" y="17135"/>
                        <a:pt x="950135" y="16421"/>
                        <a:pt x="950135" y="16421"/>
                      </a:cubicBezTo>
                      <a:cubicBezTo>
                        <a:pt x="953026" y="12137"/>
                        <a:pt x="956640" y="8568"/>
                        <a:pt x="960255" y="4284"/>
                      </a:cubicBezTo>
                      <a:cubicBezTo>
                        <a:pt x="963508" y="1428"/>
                        <a:pt x="967664" y="0"/>
                        <a:pt x="971731"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grpSp>
      </p:grpSp>
      <p:grpSp>
        <p:nvGrpSpPr>
          <p:cNvPr id="102" name="Group 101">
            <a:extLst>
              <a:ext uri="{FF2B5EF4-FFF2-40B4-BE49-F238E27FC236}">
                <a16:creationId xmlns:a16="http://schemas.microsoft.com/office/drawing/2014/main" id="{4A55201A-9E6A-500D-D5A2-F346AFCE45E7}"/>
              </a:ext>
            </a:extLst>
          </p:cNvPr>
          <p:cNvGrpSpPr/>
          <p:nvPr/>
        </p:nvGrpSpPr>
        <p:grpSpPr>
          <a:xfrm>
            <a:off x="7526406" y="1569605"/>
            <a:ext cx="720000" cy="720000"/>
            <a:chOff x="5735313" y="1589321"/>
            <a:chExt cx="720000" cy="720000"/>
          </a:xfrm>
        </p:grpSpPr>
        <p:sp>
          <p:nvSpPr>
            <p:cNvPr id="103" name="Oval 102">
              <a:extLst>
                <a:ext uri="{FF2B5EF4-FFF2-40B4-BE49-F238E27FC236}">
                  <a16:creationId xmlns:a16="http://schemas.microsoft.com/office/drawing/2014/main" id="{5537C3FB-BEE6-6E88-29B4-704E29DB3D73}"/>
                </a:ext>
              </a:extLst>
            </p:cNvPr>
            <p:cNvSpPr/>
            <p:nvPr>
              <p:custDataLst>
                <p:tags r:id="rId7"/>
              </p:custDataLst>
            </p:nvPr>
          </p:nvSpPr>
          <p:spPr>
            <a:xfrm>
              <a:off x="5735313" y="1589321"/>
              <a:ext cx="720000" cy="720000"/>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lumMod val="50000"/>
                  </a:prstClr>
                </a:solidFill>
                <a:effectLst/>
                <a:uLnTx/>
                <a:uFillTx/>
                <a:latin typeface="Trebuchet MS"/>
                <a:ea typeface="+mn-ea"/>
                <a:cs typeface="+mn-cs"/>
              </a:endParaRPr>
            </a:p>
          </p:txBody>
        </p:sp>
        <p:sp>
          <p:nvSpPr>
            <p:cNvPr id="104" name="AutoShape 7">
              <a:extLst>
                <a:ext uri="{FF2B5EF4-FFF2-40B4-BE49-F238E27FC236}">
                  <a16:creationId xmlns:a16="http://schemas.microsoft.com/office/drawing/2014/main" id="{5BEB8F8B-F5AE-22DA-3981-18183C98FA60}"/>
                </a:ext>
              </a:extLst>
            </p:cNvPr>
            <p:cNvSpPr>
              <a:spLocks noChangeAspect="1" noChangeArrowheads="1" noTextEdit="1"/>
            </p:cNvSpPr>
            <p:nvPr/>
          </p:nvSpPr>
          <p:spPr bwMode="auto">
            <a:xfrm>
              <a:off x="5840754" y="1694762"/>
              <a:ext cx="509117" cy="5091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nvGrpSpPr>
            <p:cNvPr id="105" name="bcgIcons_Prioritization">
              <a:extLst>
                <a:ext uri="{FF2B5EF4-FFF2-40B4-BE49-F238E27FC236}">
                  <a16:creationId xmlns:a16="http://schemas.microsoft.com/office/drawing/2014/main" id="{66085A5C-9352-20E2-85E3-A0038AB6B13A}"/>
                </a:ext>
              </a:extLst>
            </p:cNvPr>
            <p:cNvGrpSpPr>
              <a:grpSpLocks noChangeAspect="1"/>
            </p:cNvGrpSpPr>
            <p:nvPr/>
          </p:nvGrpSpPr>
          <p:grpSpPr bwMode="auto">
            <a:xfrm>
              <a:off x="5856079" y="1684068"/>
              <a:ext cx="549463" cy="549972"/>
              <a:chOff x="1682" y="0"/>
              <a:chExt cx="4316" cy="4320"/>
            </a:xfrm>
          </p:grpSpPr>
          <p:sp>
            <p:nvSpPr>
              <p:cNvPr id="106" name="AutoShape 3">
                <a:extLst>
                  <a:ext uri="{FF2B5EF4-FFF2-40B4-BE49-F238E27FC236}">
                    <a16:creationId xmlns:a16="http://schemas.microsoft.com/office/drawing/2014/main" id="{764E1996-3BAB-09CA-65FC-2C5B6FBCA6BC}"/>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107" name="Freeform 5">
                <a:extLst>
                  <a:ext uri="{FF2B5EF4-FFF2-40B4-BE49-F238E27FC236}">
                    <a16:creationId xmlns:a16="http://schemas.microsoft.com/office/drawing/2014/main" id="{8C32E1D1-9E4E-4568-AB34-4BC79895BF37}"/>
                  </a:ext>
                </a:extLst>
              </p:cNvPr>
              <p:cNvSpPr>
                <a:spLocks noEditPoints="1"/>
              </p:cNvSpPr>
              <p:nvPr/>
            </p:nvSpPr>
            <p:spPr bwMode="auto">
              <a:xfrm>
                <a:off x="2074" y="1183"/>
                <a:ext cx="2587" cy="2400"/>
              </a:xfrm>
              <a:custGeom>
                <a:avLst/>
                <a:gdLst>
                  <a:gd name="T0" fmla="*/ 348 w 1381"/>
                  <a:gd name="T1" fmla="*/ 370 h 1280"/>
                  <a:gd name="T2" fmla="*/ 22 w 1381"/>
                  <a:gd name="T3" fmla="*/ 370 h 1280"/>
                  <a:gd name="T4" fmla="*/ 0 w 1381"/>
                  <a:gd name="T5" fmla="*/ 348 h 1280"/>
                  <a:gd name="T6" fmla="*/ 0 w 1381"/>
                  <a:gd name="T7" fmla="*/ 22 h 1280"/>
                  <a:gd name="T8" fmla="*/ 22 w 1381"/>
                  <a:gd name="T9" fmla="*/ 0 h 1280"/>
                  <a:gd name="T10" fmla="*/ 348 w 1381"/>
                  <a:gd name="T11" fmla="*/ 0 h 1280"/>
                  <a:gd name="T12" fmla="*/ 370 w 1381"/>
                  <a:gd name="T13" fmla="*/ 22 h 1280"/>
                  <a:gd name="T14" fmla="*/ 370 w 1381"/>
                  <a:gd name="T15" fmla="*/ 348 h 1280"/>
                  <a:gd name="T16" fmla="*/ 348 w 1381"/>
                  <a:gd name="T17" fmla="*/ 370 h 1280"/>
                  <a:gd name="T18" fmla="*/ 44 w 1381"/>
                  <a:gd name="T19" fmla="*/ 326 h 1280"/>
                  <a:gd name="T20" fmla="*/ 326 w 1381"/>
                  <a:gd name="T21" fmla="*/ 326 h 1280"/>
                  <a:gd name="T22" fmla="*/ 326 w 1381"/>
                  <a:gd name="T23" fmla="*/ 44 h 1280"/>
                  <a:gd name="T24" fmla="*/ 44 w 1381"/>
                  <a:gd name="T25" fmla="*/ 44 h 1280"/>
                  <a:gd name="T26" fmla="*/ 44 w 1381"/>
                  <a:gd name="T27" fmla="*/ 326 h 1280"/>
                  <a:gd name="T28" fmla="*/ 348 w 1381"/>
                  <a:gd name="T29" fmla="*/ 1280 h 1280"/>
                  <a:gd name="T30" fmla="*/ 22 w 1381"/>
                  <a:gd name="T31" fmla="*/ 1280 h 1280"/>
                  <a:gd name="T32" fmla="*/ 0 w 1381"/>
                  <a:gd name="T33" fmla="*/ 1258 h 1280"/>
                  <a:gd name="T34" fmla="*/ 0 w 1381"/>
                  <a:gd name="T35" fmla="*/ 932 h 1280"/>
                  <a:gd name="T36" fmla="*/ 22 w 1381"/>
                  <a:gd name="T37" fmla="*/ 910 h 1280"/>
                  <a:gd name="T38" fmla="*/ 348 w 1381"/>
                  <a:gd name="T39" fmla="*/ 910 h 1280"/>
                  <a:gd name="T40" fmla="*/ 370 w 1381"/>
                  <a:gd name="T41" fmla="*/ 932 h 1280"/>
                  <a:gd name="T42" fmla="*/ 370 w 1381"/>
                  <a:gd name="T43" fmla="*/ 1258 h 1280"/>
                  <a:gd name="T44" fmla="*/ 348 w 1381"/>
                  <a:gd name="T45" fmla="*/ 1280 h 1280"/>
                  <a:gd name="T46" fmla="*/ 44 w 1381"/>
                  <a:gd name="T47" fmla="*/ 1236 h 1280"/>
                  <a:gd name="T48" fmla="*/ 326 w 1381"/>
                  <a:gd name="T49" fmla="*/ 1236 h 1280"/>
                  <a:gd name="T50" fmla="*/ 326 w 1381"/>
                  <a:gd name="T51" fmla="*/ 954 h 1280"/>
                  <a:gd name="T52" fmla="*/ 44 w 1381"/>
                  <a:gd name="T53" fmla="*/ 954 h 1280"/>
                  <a:gd name="T54" fmla="*/ 44 w 1381"/>
                  <a:gd name="T55" fmla="*/ 1236 h 1280"/>
                  <a:gd name="T56" fmla="*/ 1381 w 1381"/>
                  <a:gd name="T57" fmla="*/ 185 h 1280"/>
                  <a:gd name="T58" fmla="*/ 1359 w 1381"/>
                  <a:gd name="T59" fmla="*/ 163 h 1280"/>
                  <a:gd name="T60" fmla="*/ 557 w 1381"/>
                  <a:gd name="T61" fmla="*/ 163 h 1280"/>
                  <a:gd name="T62" fmla="*/ 535 w 1381"/>
                  <a:gd name="T63" fmla="*/ 185 h 1280"/>
                  <a:gd name="T64" fmla="*/ 557 w 1381"/>
                  <a:gd name="T65" fmla="*/ 207 h 1280"/>
                  <a:gd name="T66" fmla="*/ 1359 w 1381"/>
                  <a:gd name="T67" fmla="*/ 207 h 1280"/>
                  <a:gd name="T68" fmla="*/ 1381 w 1381"/>
                  <a:gd name="T69" fmla="*/ 185 h 1280"/>
                  <a:gd name="T70" fmla="*/ 1381 w 1381"/>
                  <a:gd name="T71" fmla="*/ 1095 h 1280"/>
                  <a:gd name="T72" fmla="*/ 1359 w 1381"/>
                  <a:gd name="T73" fmla="*/ 1073 h 1280"/>
                  <a:gd name="T74" fmla="*/ 557 w 1381"/>
                  <a:gd name="T75" fmla="*/ 1073 h 1280"/>
                  <a:gd name="T76" fmla="*/ 535 w 1381"/>
                  <a:gd name="T77" fmla="*/ 1095 h 1280"/>
                  <a:gd name="T78" fmla="*/ 557 w 1381"/>
                  <a:gd name="T79" fmla="*/ 1117 h 1280"/>
                  <a:gd name="T80" fmla="*/ 1359 w 1381"/>
                  <a:gd name="T81" fmla="*/ 1117 h 1280"/>
                  <a:gd name="T82" fmla="*/ 1381 w 1381"/>
                  <a:gd name="T83" fmla="*/ 1095 h 1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81" h="1280">
                    <a:moveTo>
                      <a:pt x="348" y="370"/>
                    </a:moveTo>
                    <a:cubicBezTo>
                      <a:pt x="22" y="370"/>
                      <a:pt x="22" y="370"/>
                      <a:pt x="22" y="370"/>
                    </a:cubicBezTo>
                    <a:cubicBezTo>
                      <a:pt x="10" y="370"/>
                      <a:pt x="0" y="360"/>
                      <a:pt x="0" y="348"/>
                    </a:cubicBezTo>
                    <a:cubicBezTo>
                      <a:pt x="0" y="22"/>
                      <a:pt x="0" y="22"/>
                      <a:pt x="0" y="22"/>
                    </a:cubicBezTo>
                    <a:cubicBezTo>
                      <a:pt x="0" y="10"/>
                      <a:pt x="10" y="0"/>
                      <a:pt x="22" y="0"/>
                    </a:cubicBezTo>
                    <a:cubicBezTo>
                      <a:pt x="348" y="0"/>
                      <a:pt x="348" y="0"/>
                      <a:pt x="348" y="0"/>
                    </a:cubicBezTo>
                    <a:cubicBezTo>
                      <a:pt x="360" y="0"/>
                      <a:pt x="370" y="10"/>
                      <a:pt x="370" y="22"/>
                    </a:cubicBezTo>
                    <a:cubicBezTo>
                      <a:pt x="370" y="348"/>
                      <a:pt x="370" y="348"/>
                      <a:pt x="370" y="348"/>
                    </a:cubicBezTo>
                    <a:cubicBezTo>
                      <a:pt x="370" y="360"/>
                      <a:pt x="360" y="370"/>
                      <a:pt x="348" y="370"/>
                    </a:cubicBezTo>
                    <a:close/>
                    <a:moveTo>
                      <a:pt x="44" y="326"/>
                    </a:moveTo>
                    <a:cubicBezTo>
                      <a:pt x="326" y="326"/>
                      <a:pt x="326" y="326"/>
                      <a:pt x="326" y="326"/>
                    </a:cubicBezTo>
                    <a:cubicBezTo>
                      <a:pt x="326" y="44"/>
                      <a:pt x="326" y="44"/>
                      <a:pt x="326" y="44"/>
                    </a:cubicBezTo>
                    <a:cubicBezTo>
                      <a:pt x="44" y="44"/>
                      <a:pt x="44" y="44"/>
                      <a:pt x="44" y="44"/>
                    </a:cubicBezTo>
                    <a:lnTo>
                      <a:pt x="44" y="326"/>
                    </a:lnTo>
                    <a:close/>
                    <a:moveTo>
                      <a:pt x="348" y="1280"/>
                    </a:moveTo>
                    <a:cubicBezTo>
                      <a:pt x="22" y="1280"/>
                      <a:pt x="22" y="1280"/>
                      <a:pt x="22" y="1280"/>
                    </a:cubicBezTo>
                    <a:cubicBezTo>
                      <a:pt x="10" y="1280"/>
                      <a:pt x="0" y="1270"/>
                      <a:pt x="0" y="1258"/>
                    </a:cubicBezTo>
                    <a:cubicBezTo>
                      <a:pt x="0" y="932"/>
                      <a:pt x="0" y="932"/>
                      <a:pt x="0" y="932"/>
                    </a:cubicBezTo>
                    <a:cubicBezTo>
                      <a:pt x="0" y="920"/>
                      <a:pt x="10" y="910"/>
                      <a:pt x="22" y="910"/>
                    </a:cubicBezTo>
                    <a:cubicBezTo>
                      <a:pt x="348" y="910"/>
                      <a:pt x="348" y="910"/>
                      <a:pt x="348" y="910"/>
                    </a:cubicBezTo>
                    <a:cubicBezTo>
                      <a:pt x="360" y="910"/>
                      <a:pt x="370" y="920"/>
                      <a:pt x="370" y="932"/>
                    </a:cubicBezTo>
                    <a:cubicBezTo>
                      <a:pt x="370" y="1258"/>
                      <a:pt x="370" y="1258"/>
                      <a:pt x="370" y="1258"/>
                    </a:cubicBezTo>
                    <a:cubicBezTo>
                      <a:pt x="370" y="1270"/>
                      <a:pt x="360" y="1280"/>
                      <a:pt x="348" y="1280"/>
                    </a:cubicBezTo>
                    <a:close/>
                    <a:moveTo>
                      <a:pt x="44" y="1236"/>
                    </a:moveTo>
                    <a:cubicBezTo>
                      <a:pt x="326" y="1236"/>
                      <a:pt x="326" y="1236"/>
                      <a:pt x="326" y="1236"/>
                    </a:cubicBezTo>
                    <a:cubicBezTo>
                      <a:pt x="326" y="954"/>
                      <a:pt x="326" y="954"/>
                      <a:pt x="326" y="954"/>
                    </a:cubicBezTo>
                    <a:cubicBezTo>
                      <a:pt x="44" y="954"/>
                      <a:pt x="44" y="954"/>
                      <a:pt x="44" y="954"/>
                    </a:cubicBezTo>
                    <a:lnTo>
                      <a:pt x="44" y="1236"/>
                    </a:lnTo>
                    <a:close/>
                    <a:moveTo>
                      <a:pt x="1381" y="185"/>
                    </a:moveTo>
                    <a:cubicBezTo>
                      <a:pt x="1381" y="172"/>
                      <a:pt x="1371" y="163"/>
                      <a:pt x="1359" y="163"/>
                    </a:cubicBezTo>
                    <a:cubicBezTo>
                      <a:pt x="557" y="163"/>
                      <a:pt x="557" y="163"/>
                      <a:pt x="557" y="163"/>
                    </a:cubicBezTo>
                    <a:cubicBezTo>
                      <a:pt x="545" y="163"/>
                      <a:pt x="535" y="172"/>
                      <a:pt x="535" y="185"/>
                    </a:cubicBezTo>
                    <a:cubicBezTo>
                      <a:pt x="535" y="197"/>
                      <a:pt x="545" y="207"/>
                      <a:pt x="557" y="207"/>
                    </a:cubicBezTo>
                    <a:cubicBezTo>
                      <a:pt x="1359" y="207"/>
                      <a:pt x="1359" y="207"/>
                      <a:pt x="1359" y="207"/>
                    </a:cubicBezTo>
                    <a:cubicBezTo>
                      <a:pt x="1371" y="207"/>
                      <a:pt x="1381" y="197"/>
                      <a:pt x="1381" y="185"/>
                    </a:cubicBezTo>
                    <a:close/>
                    <a:moveTo>
                      <a:pt x="1381" y="1095"/>
                    </a:moveTo>
                    <a:cubicBezTo>
                      <a:pt x="1381" y="1083"/>
                      <a:pt x="1371" y="1073"/>
                      <a:pt x="1359" y="1073"/>
                    </a:cubicBezTo>
                    <a:cubicBezTo>
                      <a:pt x="557" y="1073"/>
                      <a:pt x="557" y="1073"/>
                      <a:pt x="557" y="1073"/>
                    </a:cubicBezTo>
                    <a:cubicBezTo>
                      <a:pt x="545" y="1073"/>
                      <a:pt x="535" y="1083"/>
                      <a:pt x="535" y="1095"/>
                    </a:cubicBezTo>
                    <a:cubicBezTo>
                      <a:pt x="535" y="1107"/>
                      <a:pt x="545" y="1117"/>
                      <a:pt x="557" y="1117"/>
                    </a:cubicBezTo>
                    <a:cubicBezTo>
                      <a:pt x="1359" y="1117"/>
                      <a:pt x="1359" y="1117"/>
                      <a:pt x="1359" y="1117"/>
                    </a:cubicBezTo>
                    <a:cubicBezTo>
                      <a:pt x="1371" y="1117"/>
                      <a:pt x="1381" y="1107"/>
                      <a:pt x="1381" y="109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108" name="Freeform 6">
                <a:extLst>
                  <a:ext uri="{FF2B5EF4-FFF2-40B4-BE49-F238E27FC236}">
                    <a16:creationId xmlns:a16="http://schemas.microsoft.com/office/drawing/2014/main" id="{8C74357C-32EE-42FF-FE25-8FE52702C361}"/>
                  </a:ext>
                </a:extLst>
              </p:cNvPr>
              <p:cNvSpPr>
                <a:spLocks noEditPoints="1"/>
              </p:cNvSpPr>
              <p:nvPr/>
            </p:nvSpPr>
            <p:spPr bwMode="auto">
              <a:xfrm>
                <a:off x="2074" y="737"/>
                <a:ext cx="3536" cy="1993"/>
              </a:xfrm>
              <a:custGeom>
                <a:avLst/>
                <a:gdLst>
                  <a:gd name="T0" fmla="*/ 370 w 1888"/>
                  <a:gd name="T1" fmla="*/ 715 h 1063"/>
                  <a:gd name="T2" fmla="*/ 370 w 1888"/>
                  <a:gd name="T3" fmla="*/ 1041 h 1063"/>
                  <a:gd name="T4" fmla="*/ 348 w 1888"/>
                  <a:gd name="T5" fmla="*/ 1063 h 1063"/>
                  <a:gd name="T6" fmla="*/ 22 w 1888"/>
                  <a:gd name="T7" fmla="*/ 1063 h 1063"/>
                  <a:gd name="T8" fmla="*/ 0 w 1888"/>
                  <a:gd name="T9" fmla="*/ 1041 h 1063"/>
                  <a:gd name="T10" fmla="*/ 0 w 1888"/>
                  <a:gd name="T11" fmla="*/ 715 h 1063"/>
                  <a:gd name="T12" fmla="*/ 22 w 1888"/>
                  <a:gd name="T13" fmla="*/ 693 h 1063"/>
                  <a:gd name="T14" fmla="*/ 348 w 1888"/>
                  <a:gd name="T15" fmla="*/ 693 h 1063"/>
                  <a:gd name="T16" fmla="*/ 370 w 1888"/>
                  <a:gd name="T17" fmla="*/ 715 h 1063"/>
                  <a:gd name="T18" fmla="*/ 1496 w 1888"/>
                  <a:gd name="T19" fmla="*/ 116 h 1063"/>
                  <a:gd name="T20" fmla="*/ 1202 w 1888"/>
                  <a:gd name="T21" fmla="*/ 116 h 1063"/>
                  <a:gd name="T22" fmla="*/ 1279 w 1888"/>
                  <a:gd name="T23" fmla="*/ 40 h 1063"/>
                  <a:gd name="T24" fmla="*/ 1279 w 1888"/>
                  <a:gd name="T25" fmla="*/ 8 h 1063"/>
                  <a:gd name="T26" fmla="*/ 1248 w 1888"/>
                  <a:gd name="T27" fmla="*/ 8 h 1063"/>
                  <a:gd name="T28" fmla="*/ 1134 w 1888"/>
                  <a:gd name="T29" fmla="*/ 123 h 1063"/>
                  <a:gd name="T30" fmla="*/ 1127 w 1888"/>
                  <a:gd name="T31" fmla="*/ 138 h 1063"/>
                  <a:gd name="T32" fmla="*/ 1134 w 1888"/>
                  <a:gd name="T33" fmla="*/ 154 h 1063"/>
                  <a:gd name="T34" fmla="*/ 1248 w 1888"/>
                  <a:gd name="T35" fmla="*/ 268 h 1063"/>
                  <a:gd name="T36" fmla="*/ 1263 w 1888"/>
                  <a:gd name="T37" fmla="*/ 274 h 1063"/>
                  <a:gd name="T38" fmla="*/ 1279 w 1888"/>
                  <a:gd name="T39" fmla="*/ 268 h 1063"/>
                  <a:gd name="T40" fmla="*/ 1279 w 1888"/>
                  <a:gd name="T41" fmla="*/ 237 h 1063"/>
                  <a:gd name="T42" fmla="*/ 1202 w 1888"/>
                  <a:gd name="T43" fmla="*/ 160 h 1063"/>
                  <a:gd name="T44" fmla="*/ 1496 w 1888"/>
                  <a:gd name="T45" fmla="*/ 160 h 1063"/>
                  <a:gd name="T46" fmla="*/ 1844 w 1888"/>
                  <a:gd name="T47" fmla="*/ 508 h 1063"/>
                  <a:gd name="T48" fmla="*/ 1496 w 1888"/>
                  <a:gd name="T49" fmla="*/ 856 h 1063"/>
                  <a:gd name="T50" fmla="*/ 557 w 1888"/>
                  <a:gd name="T51" fmla="*/ 856 h 1063"/>
                  <a:gd name="T52" fmla="*/ 535 w 1888"/>
                  <a:gd name="T53" fmla="*/ 878 h 1063"/>
                  <a:gd name="T54" fmla="*/ 557 w 1888"/>
                  <a:gd name="T55" fmla="*/ 900 h 1063"/>
                  <a:gd name="T56" fmla="*/ 1496 w 1888"/>
                  <a:gd name="T57" fmla="*/ 900 h 1063"/>
                  <a:gd name="T58" fmla="*/ 1888 w 1888"/>
                  <a:gd name="T59" fmla="*/ 508 h 1063"/>
                  <a:gd name="T60" fmla="*/ 1496 w 1888"/>
                  <a:gd name="T61" fmla="*/ 116 h 10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888" h="1063">
                    <a:moveTo>
                      <a:pt x="370" y="715"/>
                    </a:moveTo>
                    <a:cubicBezTo>
                      <a:pt x="370" y="1041"/>
                      <a:pt x="370" y="1041"/>
                      <a:pt x="370" y="1041"/>
                    </a:cubicBezTo>
                    <a:cubicBezTo>
                      <a:pt x="370" y="1053"/>
                      <a:pt x="360" y="1063"/>
                      <a:pt x="348" y="1063"/>
                    </a:cubicBezTo>
                    <a:cubicBezTo>
                      <a:pt x="22" y="1063"/>
                      <a:pt x="22" y="1063"/>
                      <a:pt x="22" y="1063"/>
                    </a:cubicBezTo>
                    <a:cubicBezTo>
                      <a:pt x="10" y="1063"/>
                      <a:pt x="0" y="1053"/>
                      <a:pt x="0" y="1041"/>
                    </a:cubicBezTo>
                    <a:cubicBezTo>
                      <a:pt x="0" y="715"/>
                      <a:pt x="0" y="715"/>
                      <a:pt x="0" y="715"/>
                    </a:cubicBezTo>
                    <a:cubicBezTo>
                      <a:pt x="0" y="703"/>
                      <a:pt x="10" y="693"/>
                      <a:pt x="22" y="693"/>
                    </a:cubicBezTo>
                    <a:cubicBezTo>
                      <a:pt x="348" y="693"/>
                      <a:pt x="348" y="693"/>
                      <a:pt x="348" y="693"/>
                    </a:cubicBezTo>
                    <a:cubicBezTo>
                      <a:pt x="360" y="693"/>
                      <a:pt x="370" y="703"/>
                      <a:pt x="370" y="715"/>
                    </a:cubicBezTo>
                    <a:close/>
                    <a:moveTo>
                      <a:pt x="1496" y="116"/>
                    </a:moveTo>
                    <a:cubicBezTo>
                      <a:pt x="1202" y="116"/>
                      <a:pt x="1202" y="116"/>
                      <a:pt x="1202" y="116"/>
                    </a:cubicBezTo>
                    <a:cubicBezTo>
                      <a:pt x="1279" y="40"/>
                      <a:pt x="1279" y="40"/>
                      <a:pt x="1279" y="40"/>
                    </a:cubicBezTo>
                    <a:cubicBezTo>
                      <a:pt x="1287" y="31"/>
                      <a:pt x="1287" y="17"/>
                      <a:pt x="1279" y="8"/>
                    </a:cubicBezTo>
                    <a:cubicBezTo>
                      <a:pt x="1270" y="0"/>
                      <a:pt x="1256" y="0"/>
                      <a:pt x="1248" y="8"/>
                    </a:cubicBezTo>
                    <a:cubicBezTo>
                      <a:pt x="1134" y="123"/>
                      <a:pt x="1134" y="123"/>
                      <a:pt x="1134" y="123"/>
                    </a:cubicBezTo>
                    <a:cubicBezTo>
                      <a:pt x="1129" y="127"/>
                      <a:pt x="1127" y="132"/>
                      <a:pt x="1127" y="138"/>
                    </a:cubicBezTo>
                    <a:cubicBezTo>
                      <a:pt x="1127" y="144"/>
                      <a:pt x="1129" y="150"/>
                      <a:pt x="1134" y="154"/>
                    </a:cubicBezTo>
                    <a:cubicBezTo>
                      <a:pt x="1248" y="268"/>
                      <a:pt x="1248" y="268"/>
                      <a:pt x="1248" y="268"/>
                    </a:cubicBezTo>
                    <a:cubicBezTo>
                      <a:pt x="1252" y="272"/>
                      <a:pt x="1258" y="274"/>
                      <a:pt x="1263" y="274"/>
                    </a:cubicBezTo>
                    <a:cubicBezTo>
                      <a:pt x="1269" y="274"/>
                      <a:pt x="1275" y="272"/>
                      <a:pt x="1279" y="268"/>
                    </a:cubicBezTo>
                    <a:cubicBezTo>
                      <a:pt x="1287" y="259"/>
                      <a:pt x="1287" y="245"/>
                      <a:pt x="1279" y="237"/>
                    </a:cubicBezTo>
                    <a:cubicBezTo>
                      <a:pt x="1202" y="160"/>
                      <a:pt x="1202" y="160"/>
                      <a:pt x="1202" y="160"/>
                    </a:cubicBezTo>
                    <a:cubicBezTo>
                      <a:pt x="1496" y="160"/>
                      <a:pt x="1496" y="160"/>
                      <a:pt x="1496" y="160"/>
                    </a:cubicBezTo>
                    <a:cubicBezTo>
                      <a:pt x="1688" y="160"/>
                      <a:pt x="1844" y="316"/>
                      <a:pt x="1844" y="508"/>
                    </a:cubicBezTo>
                    <a:cubicBezTo>
                      <a:pt x="1844" y="700"/>
                      <a:pt x="1688" y="856"/>
                      <a:pt x="1496" y="856"/>
                    </a:cubicBezTo>
                    <a:cubicBezTo>
                      <a:pt x="557" y="856"/>
                      <a:pt x="557" y="856"/>
                      <a:pt x="557" y="856"/>
                    </a:cubicBezTo>
                    <a:cubicBezTo>
                      <a:pt x="545" y="856"/>
                      <a:pt x="535" y="866"/>
                      <a:pt x="535" y="878"/>
                    </a:cubicBezTo>
                    <a:cubicBezTo>
                      <a:pt x="535" y="890"/>
                      <a:pt x="545" y="900"/>
                      <a:pt x="557" y="900"/>
                    </a:cubicBezTo>
                    <a:cubicBezTo>
                      <a:pt x="1496" y="900"/>
                      <a:pt x="1496" y="900"/>
                      <a:pt x="1496" y="900"/>
                    </a:cubicBezTo>
                    <a:cubicBezTo>
                      <a:pt x="1712" y="900"/>
                      <a:pt x="1888" y="724"/>
                      <a:pt x="1888" y="508"/>
                    </a:cubicBezTo>
                    <a:cubicBezTo>
                      <a:pt x="1888" y="292"/>
                      <a:pt x="1712" y="116"/>
                      <a:pt x="1496" y="116"/>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grpSp>
      <p:sp>
        <p:nvSpPr>
          <p:cNvPr id="36" name="TextBox 35">
            <a:extLst>
              <a:ext uri="{FF2B5EF4-FFF2-40B4-BE49-F238E27FC236}">
                <a16:creationId xmlns:a16="http://schemas.microsoft.com/office/drawing/2014/main" id="{2C816A03-EB19-4A4B-9CE7-2B2107725952}"/>
              </a:ext>
            </a:extLst>
          </p:cNvPr>
          <p:cNvSpPr txBox="1"/>
          <p:nvPr/>
        </p:nvSpPr>
        <p:spPr>
          <a:xfrm>
            <a:off x="5472579" y="202961"/>
            <a:ext cx="6073197" cy="401816"/>
          </a:xfrm>
          <a:prstGeom prst="rect">
            <a:avLst/>
          </a:prstGeom>
          <a:noFill/>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txBody>
          <a:bodyPr wrap="square" lIns="93761" tIns="92285" rIns="93761" bIns="92285" rtlCol="0" anchor="t">
            <a:spAutoFit/>
          </a:bodyPr>
          <a:lstStyle/>
          <a:p>
            <a:pPr marL="0" marR="0" lvl="0" indent="0" algn="r" defTabSz="6858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29BA74"/>
                </a:solidFill>
                <a:effectLst/>
                <a:uLnTx/>
                <a:uFillTx/>
                <a:latin typeface="OP Chevin Pro Light"/>
                <a:ea typeface="+mn-ea"/>
                <a:cs typeface="+mn-cs"/>
              </a:rPr>
              <a:t>Towards hyper-personalization</a:t>
            </a:r>
          </a:p>
        </p:txBody>
      </p:sp>
    </p:spTree>
    <p:extLst>
      <p:ext uri="{BB962C8B-B14F-4D97-AF65-F5344CB8AC3E}">
        <p14:creationId xmlns:p14="http://schemas.microsoft.com/office/powerpoint/2010/main" val="17527835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0" name="think-cell data - do not delete" hidden="1">
            <a:extLst>
              <a:ext uri="{FF2B5EF4-FFF2-40B4-BE49-F238E27FC236}">
                <a16:creationId xmlns:a16="http://schemas.microsoft.com/office/drawing/2014/main" id="{588A533E-0C68-BB1E-402C-9CD4913FAAE4}"/>
              </a:ext>
            </a:extLst>
          </p:cNvPr>
          <p:cNvGraphicFramePr>
            <a:graphicFrameLocks noChangeAspect="1"/>
          </p:cNvGraphicFramePr>
          <p:nvPr>
            <p:custDataLst>
              <p:tags r:id="rId1"/>
            </p:custDataLst>
            <p:extLst>
              <p:ext uri="{D42A27DB-BD31-4B8C-83A1-F6EECF244321}">
                <p14:modId xmlns:p14="http://schemas.microsoft.com/office/powerpoint/2010/main" val="90722240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4" imgW="404" imgH="405" progId="TCLayout.ActiveDocument.1">
                  <p:embed/>
                </p:oleObj>
              </mc:Choice>
              <mc:Fallback>
                <p:oleObj name="think-cell Slide" r:id="rId14" imgW="404" imgH="405" progId="TCLayout.ActiveDocument.1">
                  <p:embed/>
                  <p:pic>
                    <p:nvPicPr>
                      <p:cNvPr id="40" name="think-cell data - do not delete" hidden="1">
                        <a:extLst>
                          <a:ext uri="{FF2B5EF4-FFF2-40B4-BE49-F238E27FC236}">
                            <a16:creationId xmlns:a16="http://schemas.microsoft.com/office/drawing/2014/main" id="{588A533E-0C68-BB1E-402C-9CD4913FAAE4}"/>
                          </a:ext>
                        </a:extLst>
                      </p:cNvPr>
                      <p:cNvPicPr/>
                      <p:nvPr/>
                    </p:nvPicPr>
                    <p:blipFill>
                      <a:blip r:embed="rId15"/>
                      <a:stretch>
                        <a:fillRect/>
                      </a:stretch>
                    </p:blipFill>
                    <p:spPr>
                      <a:xfrm>
                        <a:off x="1588" y="1588"/>
                        <a:ext cx="1588" cy="1588"/>
                      </a:xfrm>
                      <a:prstGeom prst="rect">
                        <a:avLst/>
                      </a:prstGeom>
                    </p:spPr>
                  </p:pic>
                </p:oleObj>
              </mc:Fallback>
            </mc:AlternateContent>
          </a:graphicData>
        </a:graphic>
      </p:graphicFrame>
      <p:sp>
        <p:nvSpPr>
          <p:cNvPr id="199" name="Rectangle 198">
            <a:extLst>
              <a:ext uri="{FF2B5EF4-FFF2-40B4-BE49-F238E27FC236}">
                <a16:creationId xmlns:a16="http://schemas.microsoft.com/office/drawing/2014/main" id="{F1BF6FCC-C001-B9ED-F260-4111FBDB943A}"/>
              </a:ext>
            </a:extLst>
          </p:cNvPr>
          <p:cNvSpPr/>
          <p:nvPr/>
        </p:nvSpPr>
        <p:spPr>
          <a:xfrm>
            <a:off x="5826810" y="2081212"/>
            <a:ext cx="5736540" cy="4079876"/>
          </a:xfrm>
          <a:prstGeom prst="rect">
            <a:avLst/>
          </a:prstGeom>
          <a:solidFill>
            <a:srgbClr val="FFFFFF"/>
          </a:solidFill>
          <a:ln w="9525" cap="rnd" cmpd="sng" algn="ctr">
            <a:noFill/>
            <a:prstDash val="solid"/>
            <a:round/>
            <a:headEnd type="none" w="med" len="med"/>
            <a:tailEnd type="none" w="med" len="med"/>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2" name="Title 1">
            <a:extLst>
              <a:ext uri="{FF2B5EF4-FFF2-40B4-BE49-F238E27FC236}">
                <a16:creationId xmlns:a16="http://schemas.microsoft.com/office/drawing/2014/main" id="{B3D64FB8-BCF3-A535-1FC1-9FD21F72A58C}"/>
              </a:ext>
            </a:extLst>
          </p:cNvPr>
          <p:cNvSpPr>
            <a:spLocks noGrp="1"/>
          </p:cNvSpPr>
          <p:nvPr>
            <p:ph type="title"/>
          </p:nvPr>
        </p:nvSpPr>
        <p:spPr>
          <a:xfrm>
            <a:off x="630000" y="622800"/>
            <a:ext cx="10933350" cy="664797"/>
          </a:xfrm>
        </p:spPr>
        <p:txBody>
          <a:bodyPr vert="horz"/>
          <a:lstStyle/>
          <a:p>
            <a:r>
              <a:rPr lang="zh-TW" altLang="en-US"/>
              <a:t>近一步分析資産規模介于</a:t>
            </a:r>
            <a:r>
              <a:rPr lang="en-US" altLang="zh-TW"/>
              <a:t>30-70</a:t>
            </a:r>
            <a:r>
              <a:rPr lang="zh-TW" altLang="en-US"/>
              <a:t>萬客戶，其中有</a:t>
            </a:r>
            <a:r>
              <a:rPr lang="en-US" altLang="zh-TW"/>
              <a:t>6,200</a:t>
            </a:r>
            <a:r>
              <a:rPr lang="zh-TW" altLang="en-US"/>
              <a:t>位過去一年資産規模增加超過</a:t>
            </a:r>
            <a:r>
              <a:rPr lang="en-US" altLang="zh-TW"/>
              <a:t>25</a:t>
            </a:r>
            <a:r>
              <a:rPr lang="zh-TW" altLang="en-US"/>
              <a:t>萬，為潛在深化高潛力客群</a:t>
            </a:r>
            <a:endParaRPr lang="en-US"/>
          </a:p>
        </p:txBody>
      </p:sp>
      <p:sp>
        <p:nvSpPr>
          <p:cNvPr id="150" name="Rectangle 149">
            <a:extLst>
              <a:ext uri="{FF2B5EF4-FFF2-40B4-BE49-F238E27FC236}">
                <a16:creationId xmlns:a16="http://schemas.microsoft.com/office/drawing/2014/main" id="{B905207B-941F-B1AF-0903-E7B8B13BAB91}"/>
              </a:ext>
            </a:extLst>
          </p:cNvPr>
          <p:cNvSpPr/>
          <p:nvPr/>
        </p:nvSpPr>
        <p:spPr>
          <a:xfrm>
            <a:off x="672690" y="1684639"/>
            <a:ext cx="2700511" cy="489279"/>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90000"/>
              </a:lnSpc>
            </a:pPr>
            <a:r>
              <a:rPr lang="zh-TW" altLang="en-US" sz="1600" b="1">
                <a:solidFill>
                  <a:srgbClr val="575757"/>
                </a:solidFill>
                <a:latin typeface="Microsoft YaHei" panose="020B0503020204020204" pitchFamily="34" charset="-122"/>
                <a:ea typeface="Microsoft YaHei" panose="020B0503020204020204" pitchFamily="34" charset="-122"/>
              </a:rPr>
              <a:t>資産規模</a:t>
            </a:r>
            <a:r>
              <a:rPr lang="en-US" altLang="zh-TW" sz="1600" b="1">
                <a:solidFill>
                  <a:srgbClr val="575757"/>
                </a:solidFill>
                <a:latin typeface="Microsoft YaHei" panose="020B0503020204020204" pitchFamily="34" charset="-122"/>
                <a:ea typeface="Microsoft YaHei" panose="020B0503020204020204" pitchFamily="34" charset="-122"/>
              </a:rPr>
              <a:t>30-70</a:t>
            </a:r>
            <a:r>
              <a:rPr lang="zh-TW" altLang="en-US" sz="1600" b="1">
                <a:solidFill>
                  <a:srgbClr val="575757"/>
                </a:solidFill>
                <a:latin typeface="Microsoft YaHei" panose="020B0503020204020204" pitchFamily="34" charset="-122"/>
                <a:ea typeface="Microsoft YaHei" panose="020B0503020204020204" pitchFamily="34" charset="-122"/>
              </a:rPr>
              <a:t>萬客戶分佈</a:t>
            </a:r>
            <a:endParaRPr lang="en-US" altLang="zh-TW" sz="1600" b="1">
              <a:solidFill>
                <a:srgbClr val="575757"/>
              </a:solidFill>
              <a:latin typeface="Microsoft YaHei" panose="020B0503020204020204" pitchFamily="34" charset="-122"/>
              <a:ea typeface="Microsoft YaHei" panose="020B0503020204020204" pitchFamily="34" charset="-122"/>
            </a:endParaRPr>
          </a:p>
          <a:p>
            <a:pPr>
              <a:lnSpc>
                <a:spcPct val="90000"/>
              </a:lnSpc>
            </a:pPr>
            <a:r>
              <a:rPr lang="en-US" altLang="zh-TW" sz="1400">
                <a:solidFill>
                  <a:srgbClr val="575757"/>
                </a:solidFill>
                <a:latin typeface="Microsoft YaHei" panose="020B0503020204020204" pitchFamily="34" charset="-122"/>
                <a:ea typeface="Microsoft YaHei" panose="020B0503020204020204" pitchFamily="34" charset="-122"/>
              </a:rPr>
              <a:t>(</a:t>
            </a:r>
            <a:r>
              <a:rPr lang="zh-TW" altLang="en-US" sz="1400">
                <a:solidFill>
                  <a:srgbClr val="575757"/>
                </a:solidFill>
                <a:latin typeface="Microsoft YaHei" panose="020B0503020204020204" pitchFamily="34" charset="-122"/>
                <a:ea typeface="Microsoft YaHei" panose="020B0503020204020204" pitchFamily="34" charset="-122"/>
              </a:rPr>
              <a:t>人，以</a:t>
            </a:r>
            <a:r>
              <a:rPr lang="en-US" altLang="zh-TW" sz="1400">
                <a:solidFill>
                  <a:srgbClr val="575757"/>
                </a:solidFill>
                <a:latin typeface="Microsoft YaHei" panose="020B0503020204020204" pitchFamily="34" charset="-122"/>
                <a:ea typeface="Microsoft YaHei" panose="020B0503020204020204" pitchFamily="34" charset="-122"/>
              </a:rPr>
              <a:t>'23</a:t>
            </a:r>
            <a:r>
              <a:rPr lang="zh-TW" altLang="en-US" sz="1400">
                <a:solidFill>
                  <a:srgbClr val="575757"/>
                </a:solidFill>
                <a:latin typeface="Microsoft YaHei" panose="020B0503020204020204" pitchFamily="34" charset="-122"/>
                <a:ea typeface="Microsoft YaHei" panose="020B0503020204020204" pitchFamily="34" charset="-122"/>
              </a:rPr>
              <a:t>年底資料為準</a:t>
            </a:r>
            <a:r>
              <a:rPr lang="en-US" altLang="zh-TW" sz="1400">
                <a:solidFill>
                  <a:srgbClr val="575757"/>
                </a:solidFill>
                <a:latin typeface="Microsoft YaHei" panose="020B0503020204020204" pitchFamily="34" charset="-122"/>
                <a:ea typeface="Microsoft YaHei" panose="020B0503020204020204" pitchFamily="34" charset="-122"/>
              </a:rPr>
              <a:t>)</a:t>
            </a:r>
            <a:endParaRPr lang="en-US" sz="1400">
              <a:solidFill>
                <a:srgbClr val="575757"/>
              </a:solidFill>
              <a:latin typeface="Microsoft YaHei" panose="020B0503020204020204" pitchFamily="34" charset="-122"/>
              <a:ea typeface="Microsoft YaHei" panose="020B0503020204020204" pitchFamily="34" charset="-122"/>
            </a:endParaRPr>
          </a:p>
        </p:txBody>
      </p:sp>
      <p:sp>
        <p:nvSpPr>
          <p:cNvPr id="11" name="Textfeld 1">
            <a:extLst>
              <a:ext uri="{FF2B5EF4-FFF2-40B4-BE49-F238E27FC236}">
                <a16:creationId xmlns:a16="http://schemas.microsoft.com/office/drawing/2014/main" id="{7AE776D1-8AFB-72D4-9AD8-4687BF780740}"/>
              </a:ext>
            </a:extLst>
          </p:cNvPr>
          <p:cNvSpPr txBox="1"/>
          <p:nvPr>
            <p:custDataLst>
              <p:tags r:id="rId2"/>
            </p:custDataLst>
          </p:nvPr>
        </p:nvSpPr>
        <p:spPr>
          <a:xfrm>
            <a:off x="-2114550" y="-212127"/>
            <a:ext cx="2743200" cy="815608"/>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en-US" sz="1200" b="1">
                <a:solidFill>
                  <a:srgbClr val="575757"/>
                </a:solidFill>
                <a:sym typeface="Trebuchet MS" panose="020B0603020202020204" pitchFamily="34" charset="0"/>
              </a:rPr>
              <a:t>CA 06.Jun.24:
deep dive 2, </a:t>
            </a:r>
            <a:r>
              <a:rPr lang="zh-TW" altLang="en-US" sz="1200" b="1">
                <a:solidFill>
                  <a:srgbClr val="575757"/>
                </a:solidFill>
                <a:sym typeface="Trebuchet MS" panose="020B0603020202020204" pitchFamily="34" charset="0"/>
              </a:rPr>
              <a:t>根據增長潜力及注册行網銀比例選出高潜客群</a:t>
            </a:r>
            <a:r>
              <a:rPr lang="en-US" altLang="zh-TW" sz="1200" b="1">
                <a:solidFill>
                  <a:srgbClr val="575757"/>
                </a:solidFill>
                <a:sym typeface="Trebuchet MS" panose="020B0603020202020204" pitchFamily="34" charset="0"/>
              </a:rPr>
              <a:t>6000</a:t>
            </a:r>
            <a:r>
              <a:rPr lang="zh-TW" altLang="en-US" sz="1200" b="1">
                <a:solidFill>
                  <a:srgbClr val="575757"/>
                </a:solidFill>
                <a:sym typeface="Trebuchet MS" panose="020B0603020202020204" pitchFamily="34" charset="0"/>
              </a:rPr>
              <a:t>多人，爲近一步積極滲透對象</a:t>
            </a:r>
            <a:endParaRPr lang="en-US" sz="1200" b="1">
              <a:solidFill>
                <a:srgbClr val="575757"/>
              </a:solidFill>
              <a:sym typeface="Trebuchet MS" panose="020B0603020202020204" pitchFamily="34" charset="0"/>
            </a:endParaRPr>
          </a:p>
        </p:txBody>
      </p:sp>
      <p:graphicFrame>
        <p:nvGraphicFramePr>
          <p:cNvPr id="144" name="Chart 143">
            <a:extLst>
              <a:ext uri="{FF2B5EF4-FFF2-40B4-BE49-F238E27FC236}">
                <a16:creationId xmlns:a16="http://schemas.microsoft.com/office/drawing/2014/main" id="{2DB58683-0F20-BF55-3108-239DF5A9B0EE}"/>
              </a:ext>
            </a:extLst>
          </p:cNvPr>
          <p:cNvGraphicFramePr/>
          <p:nvPr>
            <p:custDataLst>
              <p:tags r:id="rId3"/>
            </p:custDataLst>
            <p:extLst>
              <p:ext uri="{D42A27DB-BD31-4B8C-83A1-F6EECF244321}">
                <p14:modId xmlns:p14="http://schemas.microsoft.com/office/powerpoint/2010/main" val="3186554387"/>
              </p:ext>
            </p:extLst>
          </p:nvPr>
        </p:nvGraphicFramePr>
        <p:xfrm>
          <a:off x="-331788" y="2449513"/>
          <a:ext cx="4175125" cy="4025900"/>
        </p:xfrm>
        <a:graphic>
          <a:graphicData uri="http://schemas.openxmlformats.org/drawingml/2006/chart">
            <c:chart xmlns:c="http://schemas.openxmlformats.org/drawingml/2006/chart" xmlns:r="http://schemas.openxmlformats.org/officeDocument/2006/relationships" r:id="rId16"/>
          </a:graphicData>
        </a:graphic>
      </p:graphicFrame>
      <p:sp>
        <p:nvSpPr>
          <p:cNvPr id="29" name="Text Placeholder 3">
            <a:extLst>
              <a:ext uri="{FF2B5EF4-FFF2-40B4-BE49-F238E27FC236}">
                <a16:creationId xmlns:a16="http://schemas.microsoft.com/office/drawing/2014/main" id="{F66A2555-A6A7-1B35-524C-3E8E430A02DD}"/>
              </a:ext>
            </a:extLst>
          </p:cNvPr>
          <p:cNvSpPr>
            <a:spLocks noGrp="1"/>
          </p:cNvSpPr>
          <p:nvPr>
            <p:custDataLst>
              <p:tags r:id="rId4"/>
            </p:custDataLst>
          </p:nvPr>
        </p:nvSpPr>
        <p:spPr bwMode="gray">
          <a:xfrm>
            <a:off x="2468563" y="3052763"/>
            <a:ext cx="1143000" cy="3016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lvl="0">
              <a:spcBef>
                <a:spcPct val="0"/>
              </a:spcBef>
              <a:spcAft>
                <a:spcPct val="0"/>
              </a:spcAft>
            </a:pPr>
            <a:fld id="{E5694EEE-EE7D-4E0E-A175-654F161CF8CA}" type="datetime'''''''''''''''''高''''''潛''''''''''''''''''''''''''''''''力客''群'">
              <a:rPr lang="zh-TW" altLang="en-US" sz="1800" b="1" smtClean="0"/>
              <a:pPr lvl="0">
                <a:spcBef>
                  <a:spcPct val="0"/>
                </a:spcBef>
                <a:spcAft>
                  <a:spcPct val="0"/>
                </a:spcAft>
              </a:pPr>
              <a:t>高潛力客群</a:t>
            </a:fld>
            <a:endParaRPr lang="en-US" sz="1800" b="1"/>
          </a:p>
        </p:txBody>
      </p:sp>
      <p:sp>
        <p:nvSpPr>
          <p:cNvPr id="30" name="Text Placeholder 3">
            <a:extLst>
              <a:ext uri="{FF2B5EF4-FFF2-40B4-BE49-F238E27FC236}">
                <a16:creationId xmlns:a16="http://schemas.microsoft.com/office/drawing/2014/main" id="{29C0F843-6F97-701D-9917-7F1DB9451CEF}"/>
              </a:ext>
            </a:extLst>
          </p:cNvPr>
          <p:cNvSpPr>
            <a:spLocks noGrp="1"/>
          </p:cNvSpPr>
          <p:nvPr>
            <p:custDataLst>
              <p:tags r:id="rId5"/>
            </p:custDataLst>
          </p:nvPr>
        </p:nvSpPr>
        <p:spPr bwMode="gray">
          <a:xfrm>
            <a:off x="2468563" y="4676775"/>
            <a:ext cx="457200" cy="3016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lvl="0">
              <a:spcBef>
                <a:spcPct val="0"/>
              </a:spcBef>
              <a:spcAft>
                <a:spcPct val="0"/>
              </a:spcAft>
            </a:pPr>
            <a:fld id="{B12E1098-37CD-41F8-BA60-605974B768BE}" type="datetime'''''''''''''''''''''''''''''''''''其''''''''''''''''他'''''''''">
              <a:rPr lang="zh-TW" altLang="en-US" sz="1800" b="1" smtClean="0"/>
              <a:pPr lvl="0">
                <a:spcBef>
                  <a:spcPct val="0"/>
                </a:spcBef>
                <a:spcAft>
                  <a:spcPct val="0"/>
                </a:spcAft>
              </a:pPr>
              <a:t>其他</a:t>
            </a:fld>
            <a:endParaRPr lang="en-US" sz="1800" b="1"/>
          </a:p>
        </p:txBody>
      </p:sp>
      <p:sp>
        <p:nvSpPr>
          <p:cNvPr id="32" name="Text Placeholder 3">
            <a:extLst>
              <a:ext uri="{FF2B5EF4-FFF2-40B4-BE49-F238E27FC236}">
                <a16:creationId xmlns:a16="http://schemas.microsoft.com/office/drawing/2014/main" id="{6992E57A-B3DB-22C1-C1BC-50F1B402D449}"/>
              </a:ext>
            </a:extLst>
          </p:cNvPr>
          <p:cNvSpPr>
            <a:spLocks noGrp="1"/>
          </p:cNvSpPr>
          <p:nvPr>
            <p:custDataLst>
              <p:tags r:id="rId6"/>
            </p:custDataLst>
          </p:nvPr>
        </p:nvSpPr>
        <p:spPr bwMode="gray">
          <a:xfrm>
            <a:off x="1384299" y="2511425"/>
            <a:ext cx="744538" cy="3016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8575" tIns="0" rIns="28575" bIns="0" rtlCol="0" anchor="b">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lvl="0" algn="ctr">
              <a:spcBef>
                <a:spcPct val="0"/>
              </a:spcBef>
              <a:spcAft>
                <a:spcPct val="0"/>
              </a:spcAft>
            </a:pPr>
            <a:fld id="{D21F8906-6DE9-4145-A9FF-5A68535CA2F6}" type="datetime'''''''''''''2''''''''''''''7,''''''''''''5''''83'''">
              <a:rPr lang="en-US" altLang="en-US" sz="1800" smtClean="0"/>
              <a:pPr lvl="0" algn="ctr">
                <a:spcBef>
                  <a:spcPct val="0"/>
                </a:spcBef>
                <a:spcAft>
                  <a:spcPct val="0"/>
                </a:spcAft>
              </a:pPr>
              <a:t>27,583</a:t>
            </a:fld>
            <a:endParaRPr lang="en-US" sz="1800"/>
          </a:p>
        </p:txBody>
      </p:sp>
      <p:sp>
        <p:nvSpPr>
          <p:cNvPr id="51" name="Rectangle 50">
            <a:extLst>
              <a:ext uri="{FF2B5EF4-FFF2-40B4-BE49-F238E27FC236}">
                <a16:creationId xmlns:a16="http://schemas.microsoft.com/office/drawing/2014/main" id="{6F2BF640-053D-0C8E-3665-B13401204DBE}"/>
              </a:ext>
            </a:extLst>
          </p:cNvPr>
          <p:cNvSpPr/>
          <p:nvPr/>
        </p:nvSpPr>
        <p:spPr>
          <a:xfrm>
            <a:off x="2402341" y="3378305"/>
            <a:ext cx="2597801" cy="489279"/>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90000"/>
              </a:lnSpc>
            </a:pPr>
            <a:r>
              <a:rPr lang="zh-TW" altLang="en-US" sz="1600" b="1">
                <a:solidFill>
                  <a:srgbClr val="29BA74"/>
                </a:solidFill>
                <a:latin typeface="Microsoft YaHei" panose="020B0503020204020204" pitchFamily="34" charset="-122"/>
                <a:ea typeface="Microsoft YaHei" panose="020B0503020204020204" pitchFamily="34" charset="-122"/>
              </a:rPr>
              <a:t>過去一年存款淨增長</a:t>
            </a:r>
            <a:r>
              <a:rPr lang="en-US" altLang="zh-TW" sz="1600" b="1">
                <a:solidFill>
                  <a:srgbClr val="29BA74"/>
                </a:solidFill>
                <a:latin typeface="Microsoft YaHei" panose="020B0503020204020204" pitchFamily="34" charset="-122"/>
                <a:ea typeface="Microsoft YaHei" panose="020B0503020204020204" pitchFamily="34" charset="-122"/>
              </a:rPr>
              <a:t>&gt;25</a:t>
            </a:r>
            <a:r>
              <a:rPr lang="zh-TW" altLang="en-US" sz="1600" b="1">
                <a:solidFill>
                  <a:srgbClr val="29BA74"/>
                </a:solidFill>
                <a:latin typeface="Microsoft YaHei" panose="020B0503020204020204" pitchFamily="34" charset="-122"/>
                <a:ea typeface="Microsoft YaHei" panose="020B0503020204020204" pitchFamily="34" charset="-122"/>
              </a:rPr>
              <a:t>萬元，且介於</a:t>
            </a:r>
            <a:r>
              <a:rPr lang="en-US" altLang="zh-TW" sz="1600" b="1">
                <a:solidFill>
                  <a:srgbClr val="29BA74"/>
                </a:solidFill>
                <a:latin typeface="Microsoft YaHei" panose="020B0503020204020204" pitchFamily="34" charset="-122"/>
                <a:ea typeface="Microsoft YaHei" panose="020B0503020204020204" pitchFamily="34" charset="-122"/>
              </a:rPr>
              <a:t>18-64</a:t>
            </a:r>
            <a:r>
              <a:rPr lang="zh-TW" altLang="en-US" sz="1600" b="1">
                <a:solidFill>
                  <a:srgbClr val="29BA74"/>
                </a:solidFill>
                <a:latin typeface="Microsoft YaHei" panose="020B0503020204020204" pitchFamily="34" charset="-122"/>
                <a:ea typeface="Microsoft YaHei" panose="020B0503020204020204" pitchFamily="34" charset="-122"/>
              </a:rPr>
              <a:t>歲</a:t>
            </a:r>
            <a:endParaRPr lang="en-US" sz="1400">
              <a:solidFill>
                <a:srgbClr val="29BA74"/>
              </a:solidFill>
              <a:latin typeface="Microsoft YaHei" panose="020B0503020204020204" pitchFamily="34" charset="-122"/>
              <a:ea typeface="Microsoft YaHei" panose="020B0503020204020204" pitchFamily="34" charset="-122"/>
            </a:endParaRPr>
          </a:p>
        </p:txBody>
      </p:sp>
      <p:sp>
        <p:nvSpPr>
          <p:cNvPr id="58" name="Title 1">
            <a:extLst>
              <a:ext uri="{FF2B5EF4-FFF2-40B4-BE49-F238E27FC236}">
                <a16:creationId xmlns:a16="http://schemas.microsoft.com/office/drawing/2014/main" id="{908C41D4-4C9E-2879-0FE0-DEBAD62DB838}"/>
              </a:ext>
            </a:extLst>
          </p:cNvPr>
          <p:cNvSpPr txBox="1">
            <a:spLocks/>
          </p:cNvSpPr>
          <p:nvPr/>
        </p:nvSpPr>
        <p:spPr>
          <a:xfrm>
            <a:off x="5826811" y="1614225"/>
            <a:ext cx="5736540" cy="466987"/>
          </a:xfrm>
          <a:prstGeom prst="round2SameRect">
            <a:avLst/>
          </a:prstGeom>
          <a:gradFill flip="none" rotWithShape="1">
            <a:gsLst>
              <a:gs pos="0">
                <a:schemeClr val="tx2">
                  <a:alpha val="25000"/>
                </a:schemeClr>
              </a:gs>
              <a:gs pos="100000">
                <a:schemeClr val="tx2">
                  <a:alpha val="0"/>
                </a:schemeClr>
              </a:gs>
            </a:gsLst>
            <a:lin ang="5400000" scaled="1"/>
            <a:tileRect/>
          </a:gradFill>
          <a:ln w="9525" cap="rnd" cmpd="sng" algn="ctr">
            <a:gradFill flip="none" rotWithShape="1">
              <a:gsLst>
                <a:gs pos="1000">
                  <a:schemeClr val="accent1">
                    <a:lumMod val="5000"/>
                    <a:lumOff val="95000"/>
                    <a:alpha val="0"/>
                  </a:schemeClr>
                </a:gs>
                <a:gs pos="100000">
                  <a:schemeClr val="tx2"/>
                </a:gs>
              </a:gsLst>
              <a:lin ang="16200000" scaled="1"/>
              <a:tileRect/>
            </a:gra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36000" bIns="45720" numCol="1" spcCol="0" rtlCol="0" fromWordArt="0" anchor="ctr" anchorCtr="0" forceAA="0" compatLnSpc="1">
            <a:prstTxWarp prst="textNoShape">
              <a:avLst/>
            </a:prstTxWarp>
            <a:noAutofit/>
          </a:bodyPr>
          <a:lstStyle>
            <a:defPPr>
              <a:defRPr lang="en-US"/>
            </a:defPPr>
            <a:lvl1pPr algn="ctr">
              <a:lnSpc>
                <a:spcPct val="90000"/>
              </a:lnSpc>
              <a:spcAft>
                <a:spcPts val="1000"/>
              </a:spcAft>
              <a:defRPr sz="1600" b="1">
                <a:solidFill>
                  <a:schemeClr val="accent2"/>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914400" rtl="0" eaLnBrk="1" fontAlgn="auto" latinLnBrk="0" hangingPunct="1">
              <a:lnSpc>
                <a:spcPct val="90000"/>
              </a:lnSpc>
              <a:spcBef>
                <a:spcPts val="0"/>
              </a:spcBef>
              <a:spcAft>
                <a:spcPts val="1000"/>
              </a:spcAft>
              <a:buClrTx/>
              <a:buSzTx/>
              <a:buFontTx/>
              <a:buNone/>
              <a:tabLst/>
              <a:defRPr/>
            </a:pPr>
            <a:r>
              <a:rPr lang="zh-TW" altLang="en-US" sz="1800">
                <a:solidFill>
                  <a:schemeClr val="tx2"/>
                </a:solidFill>
                <a:latin typeface="Microsoft YaHei" panose="020B0503020204020204" pitchFamily="34" charset="-122"/>
                <a:ea typeface="Microsoft YaHei" panose="020B0503020204020204" pitchFamily="34" charset="-122"/>
                <a:sym typeface="+mn-lt"/>
              </a:rPr>
              <a:t>高潛力客戶資訊</a:t>
            </a:r>
            <a:endParaRPr kumimoji="0" lang="en-US" sz="1800" b="1" i="0" u="none" strike="noStrike" kern="1200" cap="none" spc="0" normalizeH="0" baseline="0" noProof="0">
              <a:ln>
                <a:noFill/>
              </a:ln>
              <a:solidFill>
                <a:schemeClr val="tx2"/>
              </a:solidFill>
              <a:effectLst/>
              <a:uLnTx/>
              <a:uFillTx/>
              <a:latin typeface="Microsoft YaHei" panose="020B0503020204020204" pitchFamily="34" charset="-122"/>
              <a:ea typeface="Microsoft YaHei" panose="020B0503020204020204" pitchFamily="34" charset="-122"/>
              <a:sym typeface="+mn-lt"/>
            </a:endParaRPr>
          </a:p>
        </p:txBody>
      </p:sp>
      <p:sp>
        <p:nvSpPr>
          <p:cNvPr id="59" name="Rectangle 58">
            <a:extLst>
              <a:ext uri="{FF2B5EF4-FFF2-40B4-BE49-F238E27FC236}">
                <a16:creationId xmlns:a16="http://schemas.microsoft.com/office/drawing/2014/main" id="{59FDDFBC-1FFB-7498-8530-81F7F3183332}"/>
              </a:ext>
            </a:extLst>
          </p:cNvPr>
          <p:cNvSpPr/>
          <p:nvPr/>
        </p:nvSpPr>
        <p:spPr>
          <a:xfrm>
            <a:off x="6757881" y="2407840"/>
            <a:ext cx="1805420" cy="489279"/>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buFont typeface="Trebuchet MS" panose="020B0603020202020204" pitchFamily="34" charset="0"/>
              <a:buChar char="​"/>
            </a:pPr>
            <a:r>
              <a:rPr lang="zh-TW" altLang="en-US" sz="1600" b="1">
                <a:solidFill>
                  <a:schemeClr val="tx1"/>
                </a:solidFill>
                <a:latin typeface="Trebuchet MS" panose="020B0603020202020204" pitchFamily="34" charset="0"/>
                <a:ea typeface="Microsoft YaHei" panose="020B0503020204020204" pitchFamily="34" charset="-122"/>
              </a:rPr>
              <a:t>平均單客</a:t>
            </a:r>
            <a:r>
              <a:rPr lang="en-US" altLang="zh-TW" sz="1600" b="1">
                <a:solidFill>
                  <a:schemeClr val="tx1"/>
                </a:solidFill>
                <a:latin typeface="Trebuchet MS" panose="020B0603020202020204" pitchFamily="34" charset="0"/>
                <a:ea typeface="Microsoft YaHei" panose="020B0503020204020204" pitchFamily="34" charset="-122"/>
              </a:rPr>
              <a:t>AUM</a:t>
            </a:r>
            <a:endParaRPr lang="en-US" sz="1400">
              <a:solidFill>
                <a:schemeClr val="tx1"/>
              </a:solidFill>
              <a:latin typeface="Trebuchet MS" panose="020B0603020202020204" pitchFamily="34" charset="0"/>
              <a:ea typeface="Microsoft YaHei" panose="020B0503020204020204" pitchFamily="34" charset="-122"/>
            </a:endParaRPr>
          </a:p>
        </p:txBody>
      </p:sp>
      <p:sp>
        <p:nvSpPr>
          <p:cNvPr id="60" name="Rectangle 59">
            <a:extLst>
              <a:ext uri="{FF2B5EF4-FFF2-40B4-BE49-F238E27FC236}">
                <a16:creationId xmlns:a16="http://schemas.microsoft.com/office/drawing/2014/main" id="{6A568080-9D3D-C9B2-9F7F-9A2E7A415201}"/>
              </a:ext>
            </a:extLst>
          </p:cNvPr>
          <p:cNvSpPr/>
          <p:nvPr/>
        </p:nvSpPr>
        <p:spPr>
          <a:xfrm>
            <a:off x="6757881" y="3757346"/>
            <a:ext cx="1805420" cy="489279"/>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buFont typeface="Trebuchet MS" panose="020B0603020202020204" pitchFamily="34" charset="0"/>
              <a:buChar char="​"/>
            </a:pPr>
            <a:r>
              <a:rPr lang="zh-TW" altLang="en-US" sz="1600" b="1">
                <a:solidFill>
                  <a:schemeClr val="tx1"/>
                </a:solidFill>
                <a:latin typeface="Trebuchet MS" panose="020B0603020202020204" pitchFamily="34" charset="0"/>
                <a:ea typeface="Microsoft YaHei" panose="020B0503020204020204" pitchFamily="34" charset="-122"/>
              </a:rPr>
              <a:t>持有信卡比例</a:t>
            </a:r>
            <a:endParaRPr lang="en-US" sz="1400">
              <a:solidFill>
                <a:schemeClr val="tx1"/>
              </a:solidFill>
              <a:latin typeface="Trebuchet MS" panose="020B0603020202020204" pitchFamily="34" charset="0"/>
              <a:ea typeface="Microsoft YaHei" panose="020B0503020204020204" pitchFamily="34" charset="-122"/>
            </a:endParaRPr>
          </a:p>
        </p:txBody>
      </p:sp>
      <p:sp>
        <p:nvSpPr>
          <p:cNvPr id="61" name="Rectangle 60">
            <a:extLst>
              <a:ext uri="{FF2B5EF4-FFF2-40B4-BE49-F238E27FC236}">
                <a16:creationId xmlns:a16="http://schemas.microsoft.com/office/drawing/2014/main" id="{7F6A25C4-C57F-4E9C-4216-ED9D2E3690B5}"/>
              </a:ext>
            </a:extLst>
          </p:cNvPr>
          <p:cNvSpPr/>
          <p:nvPr/>
        </p:nvSpPr>
        <p:spPr>
          <a:xfrm>
            <a:off x="6757880" y="3082593"/>
            <a:ext cx="2007551" cy="489279"/>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buFont typeface="Trebuchet MS" panose="020B0603020202020204" pitchFamily="34" charset="0"/>
              <a:buChar char="​"/>
            </a:pPr>
            <a:r>
              <a:rPr lang="zh-TW" altLang="en-US" sz="1600" b="1">
                <a:solidFill>
                  <a:schemeClr val="tx1"/>
                </a:solidFill>
                <a:latin typeface="Trebuchet MS" panose="020B0603020202020204" pitchFamily="34" charset="0"/>
                <a:ea typeface="Microsoft YaHei" panose="020B0503020204020204" pitchFamily="34" charset="-122"/>
              </a:rPr>
              <a:t>設定代扣繳比例</a:t>
            </a:r>
            <a:endParaRPr lang="en-US" sz="1400">
              <a:solidFill>
                <a:schemeClr val="tx1"/>
              </a:solidFill>
              <a:latin typeface="Trebuchet MS" panose="020B0603020202020204" pitchFamily="34" charset="0"/>
              <a:ea typeface="Microsoft YaHei" panose="020B0503020204020204" pitchFamily="34" charset="-122"/>
            </a:endParaRPr>
          </a:p>
        </p:txBody>
      </p:sp>
      <p:sp>
        <p:nvSpPr>
          <p:cNvPr id="62" name="Rectangle 61">
            <a:extLst>
              <a:ext uri="{FF2B5EF4-FFF2-40B4-BE49-F238E27FC236}">
                <a16:creationId xmlns:a16="http://schemas.microsoft.com/office/drawing/2014/main" id="{97C0F35D-1F44-52E0-2633-F4A05837D0A3}"/>
              </a:ext>
            </a:extLst>
          </p:cNvPr>
          <p:cNvSpPr/>
          <p:nvPr/>
        </p:nvSpPr>
        <p:spPr>
          <a:xfrm>
            <a:off x="6757880" y="5106852"/>
            <a:ext cx="2450313" cy="489279"/>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buFont typeface="Trebuchet MS" panose="020B0603020202020204" pitchFamily="34" charset="0"/>
              <a:buChar char="​"/>
            </a:pPr>
            <a:r>
              <a:rPr lang="zh-TW" altLang="en-US" sz="1600" b="1">
                <a:solidFill>
                  <a:schemeClr val="tx1"/>
                </a:solidFill>
                <a:latin typeface="Trebuchet MS" panose="020B0603020202020204" pitchFamily="34" charset="0"/>
                <a:ea typeface="Microsoft YaHei" panose="020B0503020204020204" pitchFamily="34" charset="-122"/>
              </a:rPr>
              <a:t>註冊行網銀比例</a:t>
            </a:r>
            <a:endParaRPr lang="en-US" sz="1400">
              <a:solidFill>
                <a:schemeClr val="tx1"/>
              </a:solidFill>
              <a:latin typeface="Trebuchet MS" panose="020B0603020202020204" pitchFamily="34" charset="0"/>
              <a:ea typeface="Microsoft YaHei" panose="020B0503020204020204" pitchFamily="34" charset="-122"/>
            </a:endParaRPr>
          </a:p>
        </p:txBody>
      </p:sp>
      <p:sp>
        <p:nvSpPr>
          <p:cNvPr id="63" name="Rectangle 62">
            <a:extLst>
              <a:ext uri="{FF2B5EF4-FFF2-40B4-BE49-F238E27FC236}">
                <a16:creationId xmlns:a16="http://schemas.microsoft.com/office/drawing/2014/main" id="{E00F54D7-9D21-18BC-10AF-C1A4973E9E8E}"/>
              </a:ext>
            </a:extLst>
          </p:cNvPr>
          <p:cNvSpPr/>
          <p:nvPr/>
        </p:nvSpPr>
        <p:spPr>
          <a:xfrm>
            <a:off x="6757880" y="4432099"/>
            <a:ext cx="2190431" cy="489279"/>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buFont typeface="Trebuchet MS" panose="020B0603020202020204" pitchFamily="34" charset="0"/>
              <a:buChar char="​"/>
            </a:pPr>
            <a:r>
              <a:rPr lang="zh-TW" altLang="en-US" sz="1600" b="1">
                <a:solidFill>
                  <a:schemeClr val="tx1"/>
                </a:solidFill>
                <a:latin typeface="Trebuchet MS" panose="020B0603020202020204" pitchFamily="34" charset="0"/>
                <a:ea typeface="Microsoft YaHei" panose="020B0503020204020204" pitchFamily="34" charset="-122"/>
              </a:rPr>
              <a:t>持有財管商品比例</a:t>
            </a:r>
            <a:endParaRPr lang="en-US" sz="1400">
              <a:solidFill>
                <a:schemeClr val="tx1"/>
              </a:solidFill>
              <a:latin typeface="Trebuchet MS" panose="020B0603020202020204" pitchFamily="34" charset="0"/>
              <a:ea typeface="Microsoft YaHei" panose="020B0503020204020204" pitchFamily="34" charset="-122"/>
            </a:endParaRPr>
          </a:p>
        </p:txBody>
      </p:sp>
      <p:sp>
        <p:nvSpPr>
          <p:cNvPr id="128" name="Rectangle 127">
            <a:extLst>
              <a:ext uri="{FF2B5EF4-FFF2-40B4-BE49-F238E27FC236}">
                <a16:creationId xmlns:a16="http://schemas.microsoft.com/office/drawing/2014/main" id="{31D2495B-4C24-9A37-74F3-6D8BDCA4EBF3}"/>
              </a:ext>
            </a:extLst>
          </p:cNvPr>
          <p:cNvSpPr/>
          <p:nvPr/>
        </p:nvSpPr>
        <p:spPr>
          <a:xfrm>
            <a:off x="8260743" y="2407840"/>
            <a:ext cx="1375136" cy="489279"/>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buFont typeface="Trebuchet MS" panose="020B0603020202020204" pitchFamily="34" charset="0"/>
              <a:buChar char="​"/>
            </a:pPr>
            <a:r>
              <a:rPr lang="en-US" altLang="zh-TW" sz="1600" b="1">
                <a:solidFill>
                  <a:schemeClr val="tx1"/>
                </a:solidFill>
                <a:latin typeface="Trebuchet MS" panose="020B0603020202020204" pitchFamily="34" charset="0"/>
                <a:ea typeface="Microsoft YaHei" panose="020B0503020204020204" pitchFamily="34" charset="-122"/>
              </a:rPr>
              <a:t>478,770</a:t>
            </a:r>
            <a:r>
              <a:rPr lang="zh-TW" altLang="en-US" sz="1600" b="1">
                <a:solidFill>
                  <a:schemeClr val="tx1"/>
                </a:solidFill>
                <a:latin typeface="Trebuchet MS" panose="020B0603020202020204" pitchFamily="34" charset="0"/>
                <a:ea typeface="Microsoft YaHei" panose="020B0503020204020204" pitchFamily="34" charset="-122"/>
              </a:rPr>
              <a:t>元</a:t>
            </a:r>
            <a:endParaRPr lang="en-US" sz="1400">
              <a:solidFill>
                <a:schemeClr val="tx1"/>
              </a:solidFill>
              <a:latin typeface="Trebuchet MS" panose="020B0603020202020204" pitchFamily="34" charset="0"/>
              <a:ea typeface="Microsoft YaHei" panose="020B0503020204020204" pitchFamily="34" charset="-122"/>
            </a:endParaRPr>
          </a:p>
        </p:txBody>
      </p:sp>
      <p:sp>
        <p:nvSpPr>
          <p:cNvPr id="129" name="Rectangle 128">
            <a:extLst>
              <a:ext uri="{FF2B5EF4-FFF2-40B4-BE49-F238E27FC236}">
                <a16:creationId xmlns:a16="http://schemas.microsoft.com/office/drawing/2014/main" id="{17F2F281-09FF-EC49-A372-DC805CE478D0}"/>
              </a:ext>
            </a:extLst>
          </p:cNvPr>
          <p:cNvSpPr/>
          <p:nvPr/>
        </p:nvSpPr>
        <p:spPr>
          <a:xfrm>
            <a:off x="8665221" y="3832708"/>
            <a:ext cx="566181" cy="338554"/>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spAutoFit/>
          </a:bodyPr>
          <a:lstStyle/>
          <a:p>
            <a:pPr algn="ctr">
              <a:buFont typeface="Trebuchet MS" panose="020B0603020202020204" pitchFamily="34" charset="0"/>
              <a:buChar char="​"/>
            </a:pPr>
            <a:r>
              <a:rPr lang="en-US" altLang="zh-TW" sz="1600" b="1">
                <a:solidFill>
                  <a:schemeClr val="tx1"/>
                </a:solidFill>
                <a:latin typeface="Trebuchet MS" panose="020B0603020202020204" pitchFamily="34" charset="0"/>
                <a:ea typeface="Microsoft YaHei" panose="020B0503020204020204" pitchFamily="34" charset="-122"/>
              </a:rPr>
              <a:t>25%</a:t>
            </a:r>
            <a:endParaRPr lang="en-US" sz="1400">
              <a:solidFill>
                <a:schemeClr val="tx1"/>
              </a:solidFill>
              <a:latin typeface="Trebuchet MS" panose="020B0603020202020204" pitchFamily="34" charset="0"/>
              <a:ea typeface="Microsoft YaHei" panose="020B0503020204020204" pitchFamily="34" charset="-122"/>
            </a:endParaRPr>
          </a:p>
        </p:txBody>
      </p:sp>
      <p:sp>
        <p:nvSpPr>
          <p:cNvPr id="130" name="Rectangle 129">
            <a:extLst>
              <a:ext uri="{FF2B5EF4-FFF2-40B4-BE49-F238E27FC236}">
                <a16:creationId xmlns:a16="http://schemas.microsoft.com/office/drawing/2014/main" id="{74462FEC-2E85-D8D4-2E0E-563D31F9A813}"/>
              </a:ext>
            </a:extLst>
          </p:cNvPr>
          <p:cNvSpPr/>
          <p:nvPr/>
        </p:nvSpPr>
        <p:spPr>
          <a:xfrm>
            <a:off x="8665221" y="3157955"/>
            <a:ext cx="566181" cy="338554"/>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spAutoFit/>
          </a:bodyPr>
          <a:lstStyle/>
          <a:p>
            <a:pPr algn="ctr">
              <a:buFont typeface="Trebuchet MS" panose="020B0603020202020204" pitchFamily="34" charset="0"/>
              <a:buChar char="​"/>
            </a:pPr>
            <a:r>
              <a:rPr lang="en-US" altLang="zh-TW" sz="1600" b="1">
                <a:solidFill>
                  <a:schemeClr val="tx1"/>
                </a:solidFill>
                <a:latin typeface="Trebuchet MS" panose="020B0603020202020204" pitchFamily="34" charset="0"/>
                <a:ea typeface="Microsoft YaHei" panose="020B0503020204020204" pitchFamily="34" charset="-122"/>
              </a:rPr>
              <a:t>21%</a:t>
            </a:r>
            <a:endParaRPr lang="en-US" sz="1400">
              <a:solidFill>
                <a:schemeClr val="tx1"/>
              </a:solidFill>
              <a:latin typeface="Trebuchet MS" panose="020B0603020202020204" pitchFamily="34" charset="0"/>
              <a:ea typeface="Microsoft YaHei" panose="020B0503020204020204" pitchFamily="34" charset="-122"/>
            </a:endParaRPr>
          </a:p>
        </p:txBody>
      </p:sp>
      <p:sp>
        <p:nvSpPr>
          <p:cNvPr id="131" name="Rectangle 130">
            <a:extLst>
              <a:ext uri="{FF2B5EF4-FFF2-40B4-BE49-F238E27FC236}">
                <a16:creationId xmlns:a16="http://schemas.microsoft.com/office/drawing/2014/main" id="{18224EDF-5D07-7E41-1724-0A11D353410D}"/>
              </a:ext>
            </a:extLst>
          </p:cNvPr>
          <p:cNvSpPr/>
          <p:nvPr/>
        </p:nvSpPr>
        <p:spPr>
          <a:xfrm>
            <a:off x="8665221" y="5182214"/>
            <a:ext cx="566181" cy="338554"/>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spAutoFit/>
          </a:bodyPr>
          <a:lstStyle/>
          <a:p>
            <a:pPr algn="ctr">
              <a:buFont typeface="Trebuchet MS" panose="020B0603020202020204" pitchFamily="34" charset="0"/>
              <a:buChar char="​"/>
            </a:pPr>
            <a:r>
              <a:rPr lang="en-US" altLang="zh-TW" sz="1600" b="1">
                <a:solidFill>
                  <a:schemeClr val="tx1"/>
                </a:solidFill>
                <a:latin typeface="Trebuchet MS" panose="020B0603020202020204" pitchFamily="34" charset="0"/>
                <a:ea typeface="Microsoft YaHei" panose="020B0503020204020204" pitchFamily="34" charset="-122"/>
              </a:rPr>
              <a:t>92%</a:t>
            </a:r>
            <a:endParaRPr lang="en-US" sz="1400">
              <a:solidFill>
                <a:schemeClr val="tx1"/>
              </a:solidFill>
              <a:latin typeface="Trebuchet MS" panose="020B0603020202020204" pitchFamily="34" charset="0"/>
              <a:ea typeface="Microsoft YaHei" panose="020B0503020204020204" pitchFamily="34" charset="-122"/>
            </a:endParaRPr>
          </a:p>
        </p:txBody>
      </p:sp>
      <p:sp>
        <p:nvSpPr>
          <p:cNvPr id="132" name="Rectangle 131">
            <a:extLst>
              <a:ext uri="{FF2B5EF4-FFF2-40B4-BE49-F238E27FC236}">
                <a16:creationId xmlns:a16="http://schemas.microsoft.com/office/drawing/2014/main" id="{A9895773-2F94-D3F1-A394-E8994309B084}"/>
              </a:ext>
            </a:extLst>
          </p:cNvPr>
          <p:cNvSpPr/>
          <p:nvPr/>
        </p:nvSpPr>
        <p:spPr>
          <a:xfrm>
            <a:off x="8725333" y="4507461"/>
            <a:ext cx="445956" cy="338554"/>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spAutoFit/>
          </a:bodyPr>
          <a:lstStyle/>
          <a:p>
            <a:pPr algn="ctr">
              <a:buFont typeface="Trebuchet MS" panose="020B0603020202020204" pitchFamily="34" charset="0"/>
              <a:buChar char="​"/>
            </a:pPr>
            <a:r>
              <a:rPr lang="en-US" sz="1600" b="1">
                <a:solidFill>
                  <a:schemeClr val="tx1"/>
                </a:solidFill>
                <a:latin typeface="Trebuchet MS" panose="020B0603020202020204" pitchFamily="34" charset="0"/>
                <a:ea typeface="Microsoft YaHei" panose="020B0503020204020204" pitchFamily="34" charset="-122"/>
              </a:rPr>
              <a:t>2%</a:t>
            </a:r>
            <a:endParaRPr lang="en-US" sz="1400">
              <a:solidFill>
                <a:schemeClr val="tx1"/>
              </a:solidFill>
              <a:latin typeface="Trebuchet MS" panose="020B0603020202020204" pitchFamily="34" charset="0"/>
              <a:ea typeface="Microsoft YaHei" panose="020B0503020204020204" pitchFamily="34" charset="-122"/>
            </a:endParaRPr>
          </a:p>
        </p:txBody>
      </p:sp>
      <p:sp>
        <p:nvSpPr>
          <p:cNvPr id="133" name="Left Brace 132">
            <a:extLst>
              <a:ext uri="{FF2B5EF4-FFF2-40B4-BE49-F238E27FC236}">
                <a16:creationId xmlns:a16="http://schemas.microsoft.com/office/drawing/2014/main" id="{C27EA187-68CA-C1B3-4FD4-BCF0F5A12E8B}"/>
              </a:ext>
            </a:extLst>
          </p:cNvPr>
          <p:cNvSpPr/>
          <p:nvPr/>
        </p:nvSpPr>
        <p:spPr>
          <a:xfrm rot="10800000">
            <a:off x="9573197" y="3082593"/>
            <a:ext cx="115003" cy="1819849"/>
          </a:xfrm>
          <a:prstGeom prst="leftBrace">
            <a:avLst/>
          </a:prstGeom>
          <a:solidFill>
            <a:srgbClr val="C9E7CA">
              <a:alpha val="40000"/>
            </a:srgbClr>
          </a:solidFill>
          <a:ln w="9525" cap="rnd" cmpd="sng" algn="ctr">
            <a:solidFill>
              <a:srgbClr val="29BA74"/>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34" name="Rectangle 133">
            <a:extLst>
              <a:ext uri="{FF2B5EF4-FFF2-40B4-BE49-F238E27FC236}">
                <a16:creationId xmlns:a16="http://schemas.microsoft.com/office/drawing/2014/main" id="{72C17EC4-76A0-8D3A-1241-FC5933CCFD06}"/>
              </a:ext>
            </a:extLst>
          </p:cNvPr>
          <p:cNvSpPr/>
          <p:nvPr/>
        </p:nvSpPr>
        <p:spPr>
          <a:xfrm>
            <a:off x="9722422" y="3696509"/>
            <a:ext cx="1840927" cy="489279"/>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90000"/>
              </a:lnSpc>
            </a:pPr>
            <a:r>
              <a:rPr lang="zh-TW" altLang="en-US" sz="1600" b="1">
                <a:solidFill>
                  <a:srgbClr val="29BA74"/>
                </a:solidFill>
                <a:latin typeface="Microsoft YaHei" panose="020B0503020204020204" pitchFamily="34" charset="-122"/>
                <a:ea typeface="Microsoft YaHei" panose="020B0503020204020204" pitchFamily="34" charset="-122"/>
              </a:rPr>
              <a:t>仍有近一步滲透、跨售空間</a:t>
            </a:r>
            <a:endParaRPr lang="en-US" sz="1600" b="1">
              <a:solidFill>
                <a:srgbClr val="29BA74"/>
              </a:solidFill>
              <a:latin typeface="Microsoft YaHei" panose="020B0503020204020204" pitchFamily="34" charset="-122"/>
              <a:ea typeface="Microsoft YaHei" panose="020B0503020204020204" pitchFamily="34" charset="-122"/>
            </a:endParaRPr>
          </a:p>
        </p:txBody>
      </p:sp>
      <p:sp>
        <p:nvSpPr>
          <p:cNvPr id="135" name="Left Brace 134">
            <a:extLst>
              <a:ext uri="{FF2B5EF4-FFF2-40B4-BE49-F238E27FC236}">
                <a16:creationId xmlns:a16="http://schemas.microsoft.com/office/drawing/2014/main" id="{5B7E619D-A4A3-94F1-DA4A-6774D2BDAA1D}"/>
              </a:ext>
            </a:extLst>
          </p:cNvPr>
          <p:cNvSpPr/>
          <p:nvPr/>
        </p:nvSpPr>
        <p:spPr>
          <a:xfrm rot="10800000">
            <a:off x="9573197" y="4976524"/>
            <a:ext cx="115003" cy="677558"/>
          </a:xfrm>
          <a:prstGeom prst="leftBrace">
            <a:avLst/>
          </a:prstGeom>
          <a:solidFill>
            <a:srgbClr val="C9E7CA">
              <a:alpha val="40000"/>
            </a:srgbClr>
          </a:solidFill>
          <a:ln w="9525" cap="rnd" cmpd="sng" algn="ctr">
            <a:solidFill>
              <a:srgbClr val="29BA74"/>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36" name="Rectangle 135">
            <a:extLst>
              <a:ext uri="{FF2B5EF4-FFF2-40B4-BE49-F238E27FC236}">
                <a16:creationId xmlns:a16="http://schemas.microsoft.com/office/drawing/2014/main" id="{44EE8AF5-6FD4-A4F7-DE6D-686A77C0E0E4}"/>
              </a:ext>
            </a:extLst>
          </p:cNvPr>
          <p:cNvSpPr/>
          <p:nvPr/>
        </p:nvSpPr>
        <p:spPr>
          <a:xfrm>
            <a:off x="9722422" y="5141658"/>
            <a:ext cx="1840927" cy="489279"/>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90000"/>
              </a:lnSpc>
            </a:pPr>
            <a:r>
              <a:rPr lang="zh-TW" altLang="en-US" sz="1600" b="1">
                <a:solidFill>
                  <a:srgbClr val="29BA74"/>
                </a:solidFill>
                <a:latin typeface="Microsoft YaHei" panose="020B0503020204020204" pitchFamily="34" charset="-122"/>
                <a:ea typeface="Microsoft YaHei" panose="020B0503020204020204" pitchFamily="34" charset="-122"/>
              </a:rPr>
              <a:t>以行網銀作爲進一步經營管道</a:t>
            </a:r>
            <a:endParaRPr lang="en-US" sz="1600" b="1">
              <a:solidFill>
                <a:srgbClr val="29BA74"/>
              </a:solidFill>
              <a:latin typeface="Microsoft YaHei" panose="020B0503020204020204" pitchFamily="34" charset="-122"/>
              <a:ea typeface="Microsoft YaHei" panose="020B0503020204020204" pitchFamily="34" charset="-122"/>
            </a:endParaRPr>
          </a:p>
        </p:txBody>
      </p:sp>
      <p:grpSp>
        <p:nvGrpSpPr>
          <p:cNvPr id="166" name="Group 165">
            <a:extLst>
              <a:ext uri="{FF2B5EF4-FFF2-40B4-BE49-F238E27FC236}">
                <a16:creationId xmlns:a16="http://schemas.microsoft.com/office/drawing/2014/main" id="{FC485ED2-563C-29B1-0DD0-03B904CC4703}"/>
              </a:ext>
            </a:extLst>
          </p:cNvPr>
          <p:cNvGrpSpPr/>
          <p:nvPr/>
        </p:nvGrpSpPr>
        <p:grpSpPr>
          <a:xfrm>
            <a:off x="6175609" y="2411464"/>
            <a:ext cx="486125" cy="485655"/>
            <a:chOff x="5176784" y="2510671"/>
            <a:chExt cx="656192" cy="655558"/>
          </a:xfrm>
        </p:grpSpPr>
        <p:sp>
          <p:nvSpPr>
            <p:cNvPr id="165" name="Oval 164">
              <a:extLst>
                <a:ext uri="{FF2B5EF4-FFF2-40B4-BE49-F238E27FC236}">
                  <a16:creationId xmlns:a16="http://schemas.microsoft.com/office/drawing/2014/main" id="{B87F6223-A628-0430-5055-D7F522FFABF6}"/>
                </a:ext>
              </a:extLst>
            </p:cNvPr>
            <p:cNvSpPr/>
            <p:nvPr>
              <p:custDataLst>
                <p:tags r:id="rId11"/>
              </p:custDataLst>
            </p:nvPr>
          </p:nvSpPr>
          <p:spPr>
            <a:xfrm>
              <a:off x="5176784" y="2510671"/>
              <a:ext cx="656192" cy="655558"/>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a:solidFill>
                  <a:schemeClr val="bg1">
                    <a:lumMod val="50000"/>
                  </a:schemeClr>
                </a:solidFill>
              </a:endParaRPr>
            </a:p>
          </p:txBody>
        </p:sp>
        <p:grpSp>
          <p:nvGrpSpPr>
            <p:cNvPr id="152" name="bcgIcons_Payment ">
              <a:extLst>
                <a:ext uri="{FF2B5EF4-FFF2-40B4-BE49-F238E27FC236}">
                  <a16:creationId xmlns:a16="http://schemas.microsoft.com/office/drawing/2014/main" id="{02D6F1E1-99AD-82C9-15DB-3E1E2DDE5C65}"/>
                </a:ext>
              </a:extLst>
            </p:cNvPr>
            <p:cNvGrpSpPr>
              <a:grpSpLocks noChangeAspect="1"/>
            </p:cNvGrpSpPr>
            <p:nvPr/>
          </p:nvGrpSpPr>
          <p:grpSpPr>
            <a:xfrm>
              <a:off x="5272881" y="2606675"/>
              <a:ext cx="463998" cy="463550"/>
              <a:chOff x="6464300" y="2606675"/>
              <a:chExt cx="1646238" cy="1644650"/>
            </a:xfrm>
          </p:grpSpPr>
          <p:sp>
            <p:nvSpPr>
              <p:cNvPr id="154" name="AutoShape 3">
                <a:extLst>
                  <a:ext uri="{FF2B5EF4-FFF2-40B4-BE49-F238E27FC236}">
                    <a16:creationId xmlns:a16="http://schemas.microsoft.com/office/drawing/2014/main" id="{43B40A4A-134C-4877-3199-14E3FE285979}"/>
                  </a:ext>
                </a:extLst>
              </p:cNvPr>
              <p:cNvSpPr>
                <a:spLocks noChangeAspect="1" noChangeArrowheads="1" noTextEdit="1"/>
              </p:cNvSpPr>
              <p:nvPr/>
            </p:nvSpPr>
            <p:spPr bwMode="auto">
              <a:xfrm>
                <a:off x="6464300"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158" name="Group 157">
                <a:extLst>
                  <a:ext uri="{FF2B5EF4-FFF2-40B4-BE49-F238E27FC236}">
                    <a16:creationId xmlns:a16="http://schemas.microsoft.com/office/drawing/2014/main" id="{BD76E9A5-9570-9329-59FF-EAFF798036B7}"/>
                  </a:ext>
                </a:extLst>
              </p:cNvPr>
              <p:cNvGrpSpPr/>
              <p:nvPr/>
            </p:nvGrpSpPr>
            <p:grpSpPr>
              <a:xfrm>
                <a:off x="6729413" y="2881312"/>
                <a:ext cx="1146175" cy="1125538"/>
                <a:chOff x="6729413" y="2881312"/>
                <a:chExt cx="1146175" cy="1125538"/>
              </a:xfrm>
            </p:grpSpPr>
            <p:sp>
              <p:nvSpPr>
                <p:cNvPr id="160" name="Freeform 10">
                  <a:extLst>
                    <a:ext uri="{FF2B5EF4-FFF2-40B4-BE49-F238E27FC236}">
                      <a16:creationId xmlns:a16="http://schemas.microsoft.com/office/drawing/2014/main" id="{85D4AEA2-4D46-BC3C-3FBD-DBA55796014E}"/>
                    </a:ext>
                  </a:extLst>
                </p:cNvPr>
                <p:cNvSpPr>
                  <a:spLocks/>
                </p:cNvSpPr>
                <p:nvPr/>
              </p:nvSpPr>
              <p:spPr bwMode="auto">
                <a:xfrm>
                  <a:off x="6989763" y="2944813"/>
                  <a:ext cx="822325" cy="336550"/>
                </a:xfrm>
                <a:custGeom>
                  <a:avLst/>
                  <a:gdLst>
                    <a:gd name="connsiteX0" fmla="*/ 485775 w 822325"/>
                    <a:gd name="connsiteY0" fmla="*/ 0 h 336550"/>
                    <a:gd name="connsiteX1" fmla="*/ 779453 w 822325"/>
                    <a:gd name="connsiteY1" fmla="*/ 0 h 336550"/>
                    <a:gd name="connsiteX2" fmla="*/ 822325 w 822325"/>
                    <a:gd name="connsiteY2" fmla="*/ 39134 h 336550"/>
                    <a:gd name="connsiteX3" fmla="*/ 822325 w 822325"/>
                    <a:gd name="connsiteY3" fmla="*/ 300974 h 336550"/>
                    <a:gd name="connsiteX4" fmla="*/ 780167 w 822325"/>
                    <a:gd name="connsiteY4" fmla="*/ 336550 h 336550"/>
                    <a:gd name="connsiteX5" fmla="*/ 487919 w 822325"/>
                    <a:gd name="connsiteY5" fmla="*/ 336550 h 336550"/>
                    <a:gd name="connsiteX6" fmla="*/ 552228 w 822325"/>
                    <a:gd name="connsiteY6" fmla="*/ 169342 h 336550"/>
                    <a:gd name="connsiteX7" fmla="*/ 485775 w 822325"/>
                    <a:gd name="connsiteY7" fmla="*/ 0 h 336550"/>
                    <a:gd name="connsiteX8" fmla="*/ 41444 w 822325"/>
                    <a:gd name="connsiteY8" fmla="*/ 0 h 336550"/>
                    <a:gd name="connsiteX9" fmla="*/ 336550 w 822325"/>
                    <a:gd name="connsiteY9" fmla="*/ 0 h 336550"/>
                    <a:gd name="connsiteX10" fmla="*/ 269383 w 822325"/>
                    <a:gd name="connsiteY10" fmla="*/ 169342 h 336550"/>
                    <a:gd name="connsiteX11" fmla="*/ 334407 w 822325"/>
                    <a:gd name="connsiteY11" fmla="*/ 336550 h 336550"/>
                    <a:gd name="connsiteX12" fmla="*/ 40729 w 822325"/>
                    <a:gd name="connsiteY12" fmla="*/ 336550 h 336550"/>
                    <a:gd name="connsiteX13" fmla="*/ 0 w 822325"/>
                    <a:gd name="connsiteY13" fmla="*/ 301686 h 336550"/>
                    <a:gd name="connsiteX14" fmla="*/ 0 w 822325"/>
                    <a:gd name="connsiteY14" fmla="*/ 39134 h 336550"/>
                    <a:gd name="connsiteX15" fmla="*/ 41444 w 822325"/>
                    <a:gd name="connsiteY15" fmla="*/ 0 h 33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2325" h="336550">
                      <a:moveTo>
                        <a:pt x="485775" y="0"/>
                      </a:moveTo>
                      <a:cubicBezTo>
                        <a:pt x="485775" y="0"/>
                        <a:pt x="485775" y="0"/>
                        <a:pt x="779453" y="0"/>
                      </a:cubicBezTo>
                      <a:cubicBezTo>
                        <a:pt x="782311" y="21346"/>
                        <a:pt x="800174" y="38422"/>
                        <a:pt x="822325" y="39134"/>
                      </a:cubicBezTo>
                      <a:cubicBezTo>
                        <a:pt x="822325" y="39134"/>
                        <a:pt x="822325" y="39134"/>
                        <a:pt x="822325" y="300974"/>
                      </a:cubicBezTo>
                      <a:cubicBezTo>
                        <a:pt x="801603" y="301686"/>
                        <a:pt x="784454" y="316628"/>
                        <a:pt x="780167" y="336550"/>
                      </a:cubicBezTo>
                      <a:cubicBezTo>
                        <a:pt x="780167" y="336550"/>
                        <a:pt x="780167" y="336550"/>
                        <a:pt x="487919" y="336550"/>
                      </a:cubicBezTo>
                      <a:cubicBezTo>
                        <a:pt x="522932" y="298839"/>
                        <a:pt x="552228" y="237649"/>
                        <a:pt x="552228" y="169342"/>
                      </a:cubicBezTo>
                      <a:cubicBezTo>
                        <a:pt x="552228" y="99613"/>
                        <a:pt x="522217" y="37711"/>
                        <a:pt x="485775" y="0"/>
                      </a:cubicBezTo>
                      <a:close/>
                      <a:moveTo>
                        <a:pt x="41444" y="0"/>
                      </a:moveTo>
                      <a:lnTo>
                        <a:pt x="336550" y="0"/>
                      </a:lnTo>
                      <a:cubicBezTo>
                        <a:pt x="300109" y="37711"/>
                        <a:pt x="269383" y="99613"/>
                        <a:pt x="269383" y="169342"/>
                      </a:cubicBezTo>
                      <a:cubicBezTo>
                        <a:pt x="269383" y="237649"/>
                        <a:pt x="299394" y="298839"/>
                        <a:pt x="334407" y="336550"/>
                      </a:cubicBezTo>
                      <a:cubicBezTo>
                        <a:pt x="334407" y="336550"/>
                        <a:pt x="334407" y="336550"/>
                        <a:pt x="40729" y="336550"/>
                      </a:cubicBezTo>
                      <a:cubicBezTo>
                        <a:pt x="37157" y="317339"/>
                        <a:pt x="20007" y="303109"/>
                        <a:pt x="0" y="301686"/>
                      </a:cubicBezTo>
                      <a:cubicBezTo>
                        <a:pt x="0" y="301686"/>
                        <a:pt x="0" y="301686"/>
                        <a:pt x="0" y="39134"/>
                      </a:cubicBezTo>
                      <a:cubicBezTo>
                        <a:pt x="21437" y="37711"/>
                        <a:pt x="38586" y="20634"/>
                        <a:pt x="41444" y="0"/>
                      </a:cubicBezTo>
                      <a:close/>
                    </a:path>
                  </a:pathLst>
                </a:custGeom>
                <a:solidFill>
                  <a:schemeClr val="tx2"/>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61" name="Freeform 11">
                  <a:extLst>
                    <a:ext uri="{FF2B5EF4-FFF2-40B4-BE49-F238E27FC236}">
                      <a16:creationId xmlns:a16="http://schemas.microsoft.com/office/drawing/2014/main" id="{EBB7982C-7A2E-2C51-F458-072A1EC55491}"/>
                    </a:ext>
                  </a:extLst>
                </p:cNvPr>
                <p:cNvSpPr>
                  <a:spLocks/>
                </p:cNvSpPr>
                <p:nvPr/>
              </p:nvSpPr>
              <p:spPr bwMode="auto">
                <a:xfrm>
                  <a:off x="6729413" y="2881312"/>
                  <a:ext cx="1146175" cy="1125538"/>
                </a:xfrm>
                <a:custGeom>
                  <a:avLst/>
                  <a:gdLst>
                    <a:gd name="connsiteX0" fmla="*/ 409739 w 1146175"/>
                    <a:gd name="connsiteY0" fmla="*/ 615791 h 1125538"/>
                    <a:gd name="connsiteX1" fmla="*/ 326138 w 1146175"/>
                    <a:gd name="connsiteY1" fmla="*/ 635801 h 1125538"/>
                    <a:gd name="connsiteX2" fmla="*/ 31750 w 1146175"/>
                    <a:gd name="connsiteY2" fmla="*/ 803020 h 1125538"/>
                    <a:gd name="connsiteX3" fmla="*/ 31750 w 1146175"/>
                    <a:gd name="connsiteY3" fmla="*/ 1087437 h 1125538"/>
                    <a:gd name="connsiteX4" fmla="*/ 368296 w 1146175"/>
                    <a:gd name="connsiteY4" fmla="*/ 957377 h 1125538"/>
                    <a:gd name="connsiteX5" fmla="*/ 419028 w 1146175"/>
                    <a:gd name="connsiteY5" fmla="*/ 949516 h 1125538"/>
                    <a:gd name="connsiteX6" fmla="*/ 568366 w 1146175"/>
                    <a:gd name="connsiteY6" fmla="*/ 960236 h 1125538"/>
                    <a:gd name="connsiteX7" fmla="*/ 797017 w 1146175"/>
                    <a:gd name="connsiteY7" fmla="*/ 933795 h 1125538"/>
                    <a:gd name="connsiteX8" fmla="*/ 1047818 w 1146175"/>
                    <a:gd name="connsiteY8" fmla="*/ 767290 h 1125538"/>
                    <a:gd name="connsiteX9" fmla="*/ 1079972 w 1146175"/>
                    <a:gd name="connsiteY9" fmla="*/ 730130 h 1125538"/>
                    <a:gd name="connsiteX10" fmla="*/ 1074971 w 1146175"/>
                    <a:gd name="connsiteY10" fmla="*/ 655810 h 1125538"/>
                    <a:gd name="connsiteX11" fmla="*/ 1036386 w 1146175"/>
                    <a:gd name="connsiteY11" fmla="*/ 642232 h 1125538"/>
                    <a:gd name="connsiteX12" fmla="*/ 999230 w 1146175"/>
                    <a:gd name="connsiteY12" fmla="*/ 660097 h 1125538"/>
                    <a:gd name="connsiteX13" fmla="*/ 951356 w 1146175"/>
                    <a:gd name="connsiteY13" fmla="*/ 713694 h 1125538"/>
                    <a:gd name="connsiteX14" fmla="*/ 805591 w 1146175"/>
                    <a:gd name="connsiteY14" fmla="*/ 805164 h 1125538"/>
                    <a:gd name="connsiteX15" fmla="*/ 608380 w 1146175"/>
                    <a:gd name="connsiteY15" fmla="*/ 794445 h 1125538"/>
                    <a:gd name="connsiteX16" fmla="*/ 553360 w 1146175"/>
                    <a:gd name="connsiteY16" fmla="*/ 772292 h 1125538"/>
                    <a:gd name="connsiteX17" fmla="*/ 544071 w 1146175"/>
                    <a:gd name="connsiteY17" fmla="*/ 755856 h 1125538"/>
                    <a:gd name="connsiteX18" fmla="*/ 557648 w 1146175"/>
                    <a:gd name="connsiteY18" fmla="*/ 742278 h 1125538"/>
                    <a:gd name="connsiteX19" fmla="*/ 715560 w 1146175"/>
                    <a:gd name="connsiteY19" fmla="*/ 726557 h 1125538"/>
                    <a:gd name="connsiteX20" fmla="*/ 759146 w 1146175"/>
                    <a:gd name="connsiteY20" fmla="*/ 679392 h 1125538"/>
                    <a:gd name="connsiteX21" fmla="*/ 713416 w 1146175"/>
                    <a:gd name="connsiteY21" fmla="*/ 631513 h 1125538"/>
                    <a:gd name="connsiteX22" fmla="*/ 409739 w 1146175"/>
                    <a:gd name="connsiteY22" fmla="*/ 615791 h 1125538"/>
                    <a:gd name="connsiteX23" fmla="*/ 390213 w 1146175"/>
                    <a:gd name="connsiteY23" fmla="*/ 584200 h 1125538"/>
                    <a:gd name="connsiteX24" fmla="*/ 393786 w 1146175"/>
                    <a:gd name="connsiteY24" fmla="*/ 584200 h 1125538"/>
                    <a:gd name="connsiteX25" fmla="*/ 396645 w 1146175"/>
                    <a:gd name="connsiteY25" fmla="*/ 584200 h 1125538"/>
                    <a:gd name="connsiteX26" fmla="*/ 399504 w 1146175"/>
                    <a:gd name="connsiteY26" fmla="*/ 584200 h 1125538"/>
                    <a:gd name="connsiteX27" fmla="*/ 403077 w 1146175"/>
                    <a:gd name="connsiteY27" fmla="*/ 584200 h 1125538"/>
                    <a:gd name="connsiteX28" fmla="*/ 410939 w 1146175"/>
                    <a:gd name="connsiteY28" fmla="*/ 584200 h 1125538"/>
                    <a:gd name="connsiteX29" fmla="*/ 715390 w 1146175"/>
                    <a:gd name="connsiteY29" fmla="*/ 599912 h 1125538"/>
                    <a:gd name="connsiteX30" fmla="*/ 780426 w 1146175"/>
                    <a:gd name="connsiteY30" fmla="*/ 640619 h 1125538"/>
                    <a:gd name="connsiteX31" fmla="*/ 782570 w 1146175"/>
                    <a:gd name="connsiteY31" fmla="*/ 644904 h 1125538"/>
                    <a:gd name="connsiteX32" fmla="*/ 789002 w 1146175"/>
                    <a:gd name="connsiteY32" fmla="*/ 663473 h 1125538"/>
                    <a:gd name="connsiteX33" fmla="*/ 790431 w 1146175"/>
                    <a:gd name="connsiteY33" fmla="*/ 679184 h 1125538"/>
                    <a:gd name="connsiteX34" fmla="*/ 789716 w 1146175"/>
                    <a:gd name="connsiteY34" fmla="*/ 684898 h 1125538"/>
                    <a:gd name="connsiteX35" fmla="*/ 789716 w 1146175"/>
                    <a:gd name="connsiteY35" fmla="*/ 685612 h 1125538"/>
                    <a:gd name="connsiteX36" fmla="*/ 789002 w 1146175"/>
                    <a:gd name="connsiteY36" fmla="*/ 691325 h 1125538"/>
                    <a:gd name="connsiteX37" fmla="*/ 763988 w 1146175"/>
                    <a:gd name="connsiteY37" fmla="*/ 738460 h 1125538"/>
                    <a:gd name="connsiteX38" fmla="*/ 763273 w 1146175"/>
                    <a:gd name="connsiteY38" fmla="*/ 738460 h 1125538"/>
                    <a:gd name="connsiteX39" fmla="*/ 758985 w 1146175"/>
                    <a:gd name="connsiteY39" fmla="*/ 742031 h 1125538"/>
                    <a:gd name="connsiteX40" fmla="*/ 754697 w 1146175"/>
                    <a:gd name="connsiteY40" fmla="*/ 744888 h 1125538"/>
                    <a:gd name="connsiteX41" fmla="*/ 753983 w 1146175"/>
                    <a:gd name="connsiteY41" fmla="*/ 745602 h 1125538"/>
                    <a:gd name="connsiteX42" fmla="*/ 749695 w 1146175"/>
                    <a:gd name="connsiteY42" fmla="*/ 748458 h 1125538"/>
                    <a:gd name="connsiteX43" fmla="*/ 748265 w 1146175"/>
                    <a:gd name="connsiteY43" fmla="*/ 749173 h 1125538"/>
                    <a:gd name="connsiteX44" fmla="*/ 743263 w 1146175"/>
                    <a:gd name="connsiteY44" fmla="*/ 751315 h 1125538"/>
                    <a:gd name="connsiteX45" fmla="*/ 742548 w 1146175"/>
                    <a:gd name="connsiteY45" fmla="*/ 752029 h 1125538"/>
                    <a:gd name="connsiteX46" fmla="*/ 738260 w 1146175"/>
                    <a:gd name="connsiteY46" fmla="*/ 753458 h 1125538"/>
                    <a:gd name="connsiteX47" fmla="*/ 718964 w 1146175"/>
                    <a:gd name="connsiteY47" fmla="*/ 757743 h 1125538"/>
                    <a:gd name="connsiteX48" fmla="*/ 624626 w 1146175"/>
                    <a:gd name="connsiteY48" fmla="*/ 767027 h 1125538"/>
                    <a:gd name="connsiteX49" fmla="*/ 743263 w 1146175"/>
                    <a:gd name="connsiteY49" fmla="*/ 784167 h 1125538"/>
                    <a:gd name="connsiteX50" fmla="*/ 775423 w 1146175"/>
                    <a:gd name="connsiteY50" fmla="*/ 779882 h 1125538"/>
                    <a:gd name="connsiteX51" fmla="*/ 785428 w 1146175"/>
                    <a:gd name="connsiteY51" fmla="*/ 777739 h 1125538"/>
                    <a:gd name="connsiteX52" fmla="*/ 786858 w 1146175"/>
                    <a:gd name="connsiteY52" fmla="*/ 777025 h 1125538"/>
                    <a:gd name="connsiteX53" fmla="*/ 796863 w 1146175"/>
                    <a:gd name="connsiteY53" fmla="*/ 774883 h 1125538"/>
                    <a:gd name="connsiteX54" fmla="*/ 826880 w 1146175"/>
                    <a:gd name="connsiteY54" fmla="*/ 764170 h 1125538"/>
                    <a:gd name="connsiteX55" fmla="*/ 909782 w 1146175"/>
                    <a:gd name="connsiteY55" fmla="*/ 711322 h 1125538"/>
                    <a:gd name="connsiteX56" fmla="*/ 928363 w 1146175"/>
                    <a:gd name="connsiteY56" fmla="*/ 692753 h 1125538"/>
                    <a:gd name="connsiteX57" fmla="*/ 975532 w 1146175"/>
                    <a:gd name="connsiteY57" fmla="*/ 639191 h 1125538"/>
                    <a:gd name="connsiteX58" fmla="*/ 978391 w 1146175"/>
                    <a:gd name="connsiteY58" fmla="*/ 635620 h 1125538"/>
                    <a:gd name="connsiteX59" fmla="*/ 979105 w 1146175"/>
                    <a:gd name="connsiteY59" fmla="*/ 635620 h 1125538"/>
                    <a:gd name="connsiteX60" fmla="*/ 1034135 w 1146175"/>
                    <a:gd name="connsiteY60" fmla="*/ 610624 h 1125538"/>
                    <a:gd name="connsiteX61" fmla="*/ 1034850 w 1146175"/>
                    <a:gd name="connsiteY61" fmla="*/ 610624 h 1125538"/>
                    <a:gd name="connsiteX62" fmla="*/ 1039138 w 1146175"/>
                    <a:gd name="connsiteY62" fmla="*/ 610624 h 1125538"/>
                    <a:gd name="connsiteX63" fmla="*/ 1040567 w 1146175"/>
                    <a:gd name="connsiteY63" fmla="*/ 610624 h 1125538"/>
                    <a:gd name="connsiteX64" fmla="*/ 1079875 w 1146175"/>
                    <a:gd name="connsiteY64" fmla="*/ 621337 h 1125538"/>
                    <a:gd name="connsiteX65" fmla="*/ 1083448 w 1146175"/>
                    <a:gd name="connsiteY65" fmla="*/ 623479 h 1125538"/>
                    <a:gd name="connsiteX66" fmla="*/ 1086307 w 1146175"/>
                    <a:gd name="connsiteY66" fmla="*/ 624908 h 1125538"/>
                    <a:gd name="connsiteX67" fmla="*/ 1087021 w 1146175"/>
                    <a:gd name="connsiteY67" fmla="*/ 625622 h 1125538"/>
                    <a:gd name="connsiteX68" fmla="*/ 1089880 w 1146175"/>
                    <a:gd name="connsiteY68" fmla="*/ 627764 h 1125538"/>
                    <a:gd name="connsiteX69" fmla="*/ 1090595 w 1146175"/>
                    <a:gd name="connsiteY69" fmla="*/ 628478 h 1125538"/>
                    <a:gd name="connsiteX70" fmla="*/ 1092739 w 1146175"/>
                    <a:gd name="connsiteY70" fmla="*/ 629907 h 1125538"/>
                    <a:gd name="connsiteX71" fmla="*/ 1095597 w 1146175"/>
                    <a:gd name="connsiteY71" fmla="*/ 632049 h 1125538"/>
                    <a:gd name="connsiteX72" fmla="*/ 1095597 w 1146175"/>
                    <a:gd name="connsiteY72" fmla="*/ 632763 h 1125538"/>
                    <a:gd name="connsiteX73" fmla="*/ 1103459 w 1146175"/>
                    <a:gd name="connsiteY73" fmla="*/ 749887 h 1125538"/>
                    <a:gd name="connsiteX74" fmla="*/ 1072013 w 1146175"/>
                    <a:gd name="connsiteY74" fmla="*/ 787738 h 1125538"/>
                    <a:gd name="connsiteX75" fmla="*/ 966241 w 1146175"/>
                    <a:gd name="connsiteY75" fmla="*/ 884150 h 1125538"/>
                    <a:gd name="connsiteX76" fmla="*/ 956950 w 1146175"/>
                    <a:gd name="connsiteY76" fmla="*/ 890577 h 1125538"/>
                    <a:gd name="connsiteX77" fmla="*/ 948374 w 1146175"/>
                    <a:gd name="connsiteY77" fmla="*/ 896291 h 1125538"/>
                    <a:gd name="connsiteX78" fmla="*/ 806154 w 1146175"/>
                    <a:gd name="connsiteY78" fmla="*/ 963422 h 1125538"/>
                    <a:gd name="connsiteX79" fmla="*/ 792575 w 1146175"/>
                    <a:gd name="connsiteY79" fmla="*/ 967707 h 1125538"/>
                    <a:gd name="connsiteX80" fmla="*/ 788287 w 1146175"/>
                    <a:gd name="connsiteY80" fmla="*/ 968422 h 1125538"/>
                    <a:gd name="connsiteX81" fmla="*/ 779711 w 1146175"/>
                    <a:gd name="connsiteY81" fmla="*/ 971278 h 1125538"/>
                    <a:gd name="connsiteX82" fmla="*/ 773994 w 1146175"/>
                    <a:gd name="connsiteY82" fmla="*/ 972707 h 1125538"/>
                    <a:gd name="connsiteX83" fmla="*/ 766132 w 1146175"/>
                    <a:gd name="connsiteY83" fmla="*/ 974135 h 1125538"/>
                    <a:gd name="connsiteX84" fmla="*/ 759700 w 1146175"/>
                    <a:gd name="connsiteY84" fmla="*/ 976277 h 1125538"/>
                    <a:gd name="connsiteX85" fmla="*/ 753983 w 1146175"/>
                    <a:gd name="connsiteY85" fmla="*/ 976992 h 1125538"/>
                    <a:gd name="connsiteX86" fmla="*/ 724681 w 1146175"/>
                    <a:gd name="connsiteY86" fmla="*/ 983419 h 1125538"/>
                    <a:gd name="connsiteX87" fmla="*/ 721822 w 1146175"/>
                    <a:gd name="connsiteY87" fmla="*/ 983419 h 1125538"/>
                    <a:gd name="connsiteX88" fmla="*/ 711102 w 1146175"/>
                    <a:gd name="connsiteY88" fmla="*/ 985562 h 1125538"/>
                    <a:gd name="connsiteX89" fmla="*/ 709673 w 1146175"/>
                    <a:gd name="connsiteY89" fmla="*/ 985562 h 1125538"/>
                    <a:gd name="connsiteX90" fmla="*/ 650355 w 1146175"/>
                    <a:gd name="connsiteY90" fmla="*/ 991989 h 1125538"/>
                    <a:gd name="connsiteX91" fmla="*/ 648211 w 1146175"/>
                    <a:gd name="connsiteY91" fmla="*/ 991989 h 1125538"/>
                    <a:gd name="connsiteX92" fmla="*/ 637491 w 1146175"/>
                    <a:gd name="connsiteY92" fmla="*/ 992703 h 1125538"/>
                    <a:gd name="connsiteX93" fmla="*/ 635347 w 1146175"/>
                    <a:gd name="connsiteY93" fmla="*/ 992703 h 1125538"/>
                    <a:gd name="connsiteX94" fmla="*/ 621053 w 1146175"/>
                    <a:gd name="connsiteY94" fmla="*/ 992703 h 1125538"/>
                    <a:gd name="connsiteX95" fmla="*/ 620338 w 1146175"/>
                    <a:gd name="connsiteY95" fmla="*/ 992703 h 1125538"/>
                    <a:gd name="connsiteX96" fmla="*/ 612477 w 1146175"/>
                    <a:gd name="connsiteY96" fmla="*/ 992703 h 1125538"/>
                    <a:gd name="connsiteX97" fmla="*/ 606045 w 1146175"/>
                    <a:gd name="connsiteY97" fmla="*/ 992703 h 1125538"/>
                    <a:gd name="connsiteX98" fmla="*/ 598898 w 1146175"/>
                    <a:gd name="connsiteY98" fmla="*/ 992703 h 1125538"/>
                    <a:gd name="connsiteX99" fmla="*/ 592466 w 1146175"/>
                    <a:gd name="connsiteY99" fmla="*/ 992703 h 1125538"/>
                    <a:gd name="connsiteX100" fmla="*/ 584605 w 1146175"/>
                    <a:gd name="connsiteY100" fmla="*/ 991989 h 1125538"/>
                    <a:gd name="connsiteX101" fmla="*/ 578887 w 1146175"/>
                    <a:gd name="connsiteY101" fmla="*/ 991989 h 1125538"/>
                    <a:gd name="connsiteX102" fmla="*/ 566738 w 1146175"/>
                    <a:gd name="connsiteY102" fmla="*/ 991275 h 1125538"/>
                    <a:gd name="connsiteX103" fmla="*/ 566023 w 1146175"/>
                    <a:gd name="connsiteY103" fmla="*/ 991275 h 1125538"/>
                    <a:gd name="connsiteX104" fmla="*/ 485265 w 1146175"/>
                    <a:gd name="connsiteY104" fmla="*/ 985562 h 1125538"/>
                    <a:gd name="connsiteX105" fmla="*/ 416656 w 1146175"/>
                    <a:gd name="connsiteY105" fmla="*/ 980562 h 1125538"/>
                    <a:gd name="connsiteX106" fmla="*/ 410939 w 1146175"/>
                    <a:gd name="connsiteY106" fmla="*/ 980562 h 1125538"/>
                    <a:gd name="connsiteX107" fmla="*/ 407365 w 1146175"/>
                    <a:gd name="connsiteY107" fmla="*/ 980562 h 1125538"/>
                    <a:gd name="connsiteX108" fmla="*/ 393072 w 1146175"/>
                    <a:gd name="connsiteY108" fmla="*/ 981991 h 1125538"/>
                    <a:gd name="connsiteX109" fmla="*/ 388784 w 1146175"/>
                    <a:gd name="connsiteY109" fmla="*/ 982705 h 1125538"/>
                    <a:gd name="connsiteX110" fmla="*/ 388784 w 1146175"/>
                    <a:gd name="connsiteY110" fmla="*/ 983419 h 1125538"/>
                    <a:gd name="connsiteX111" fmla="*/ 384496 w 1146175"/>
                    <a:gd name="connsiteY111" fmla="*/ 984133 h 1125538"/>
                    <a:gd name="connsiteX112" fmla="*/ 383781 w 1146175"/>
                    <a:gd name="connsiteY112" fmla="*/ 984847 h 1125538"/>
                    <a:gd name="connsiteX113" fmla="*/ 379493 w 1146175"/>
                    <a:gd name="connsiteY113" fmla="*/ 986276 h 1125538"/>
                    <a:gd name="connsiteX114" fmla="*/ 21441 w 1146175"/>
                    <a:gd name="connsiteY114" fmla="*/ 1124824 h 1125538"/>
                    <a:gd name="connsiteX115" fmla="*/ 15723 w 1146175"/>
                    <a:gd name="connsiteY115" fmla="*/ 1125538 h 1125538"/>
                    <a:gd name="connsiteX116" fmla="*/ 7147 w 1146175"/>
                    <a:gd name="connsiteY116" fmla="*/ 1122681 h 1125538"/>
                    <a:gd name="connsiteX117" fmla="*/ 0 w 1146175"/>
                    <a:gd name="connsiteY117" fmla="*/ 1109826 h 1125538"/>
                    <a:gd name="connsiteX118" fmla="*/ 0 w 1146175"/>
                    <a:gd name="connsiteY118" fmla="*/ 793451 h 1125538"/>
                    <a:gd name="connsiteX119" fmla="*/ 7862 w 1146175"/>
                    <a:gd name="connsiteY119" fmla="*/ 779882 h 1125538"/>
                    <a:gd name="connsiteX120" fmla="*/ 310169 w 1146175"/>
                    <a:gd name="connsiteY120" fmla="*/ 608482 h 1125538"/>
                    <a:gd name="connsiteX121" fmla="*/ 315887 w 1146175"/>
                    <a:gd name="connsiteY121" fmla="*/ 605625 h 1125538"/>
                    <a:gd name="connsiteX122" fmla="*/ 318031 w 1146175"/>
                    <a:gd name="connsiteY122" fmla="*/ 604197 h 1125538"/>
                    <a:gd name="connsiteX123" fmla="*/ 320889 w 1146175"/>
                    <a:gd name="connsiteY123" fmla="*/ 602768 h 1125538"/>
                    <a:gd name="connsiteX124" fmla="*/ 324463 w 1146175"/>
                    <a:gd name="connsiteY124" fmla="*/ 601340 h 1125538"/>
                    <a:gd name="connsiteX125" fmla="*/ 326607 w 1146175"/>
                    <a:gd name="connsiteY125" fmla="*/ 599912 h 1125538"/>
                    <a:gd name="connsiteX126" fmla="*/ 330180 w 1146175"/>
                    <a:gd name="connsiteY126" fmla="*/ 598483 h 1125538"/>
                    <a:gd name="connsiteX127" fmla="*/ 332324 w 1146175"/>
                    <a:gd name="connsiteY127" fmla="*/ 597769 h 1125538"/>
                    <a:gd name="connsiteX128" fmla="*/ 336612 w 1146175"/>
                    <a:gd name="connsiteY128" fmla="*/ 596341 h 1125538"/>
                    <a:gd name="connsiteX129" fmla="*/ 338042 w 1146175"/>
                    <a:gd name="connsiteY129" fmla="*/ 595627 h 1125538"/>
                    <a:gd name="connsiteX130" fmla="*/ 342330 w 1146175"/>
                    <a:gd name="connsiteY130" fmla="*/ 594198 h 1125538"/>
                    <a:gd name="connsiteX131" fmla="*/ 343044 w 1146175"/>
                    <a:gd name="connsiteY131" fmla="*/ 593484 h 1125538"/>
                    <a:gd name="connsiteX132" fmla="*/ 348047 w 1146175"/>
                    <a:gd name="connsiteY132" fmla="*/ 592056 h 1125538"/>
                    <a:gd name="connsiteX133" fmla="*/ 348762 w 1146175"/>
                    <a:gd name="connsiteY133" fmla="*/ 592056 h 1125538"/>
                    <a:gd name="connsiteX134" fmla="*/ 382352 w 1146175"/>
                    <a:gd name="connsiteY134" fmla="*/ 584914 h 1125538"/>
                    <a:gd name="connsiteX135" fmla="*/ 383781 w 1146175"/>
                    <a:gd name="connsiteY135" fmla="*/ 584914 h 1125538"/>
                    <a:gd name="connsiteX136" fmla="*/ 387354 w 1146175"/>
                    <a:gd name="connsiteY136" fmla="*/ 584914 h 1125538"/>
                    <a:gd name="connsiteX137" fmla="*/ 390213 w 1146175"/>
                    <a:gd name="connsiteY137" fmla="*/ 584200 h 1125538"/>
                    <a:gd name="connsiteX138" fmla="*/ 654433 w 1146175"/>
                    <a:gd name="connsiteY138" fmla="*/ 103187 h 1125538"/>
                    <a:gd name="connsiteX139" fmla="*/ 686457 w 1146175"/>
                    <a:gd name="connsiteY139" fmla="*/ 103187 h 1125538"/>
                    <a:gd name="connsiteX140" fmla="*/ 686457 w 1146175"/>
                    <a:gd name="connsiteY140" fmla="*/ 126776 h 1125538"/>
                    <a:gd name="connsiteX141" fmla="*/ 724174 w 1146175"/>
                    <a:gd name="connsiteY141" fmla="*/ 139643 h 1125538"/>
                    <a:gd name="connsiteX142" fmla="*/ 714211 w 1146175"/>
                    <a:gd name="connsiteY142" fmla="*/ 169665 h 1125538"/>
                    <a:gd name="connsiteX143" fmla="*/ 672936 w 1146175"/>
                    <a:gd name="connsiteY143" fmla="*/ 156083 h 1125538"/>
                    <a:gd name="connsiteX144" fmla="*/ 653722 w 1146175"/>
                    <a:gd name="connsiteY144" fmla="*/ 162517 h 1125538"/>
                    <a:gd name="connsiteX145" fmla="*/ 646605 w 1146175"/>
                    <a:gd name="connsiteY145" fmla="*/ 179672 h 1125538"/>
                    <a:gd name="connsiteX146" fmla="*/ 685034 w 1146175"/>
                    <a:gd name="connsiteY146" fmla="*/ 215413 h 1125538"/>
                    <a:gd name="connsiteX147" fmla="*/ 715634 w 1146175"/>
                    <a:gd name="connsiteY147" fmla="*/ 233998 h 1125538"/>
                    <a:gd name="connsiteX148" fmla="*/ 729155 w 1146175"/>
                    <a:gd name="connsiteY148" fmla="*/ 253298 h 1125538"/>
                    <a:gd name="connsiteX149" fmla="*/ 733425 w 1146175"/>
                    <a:gd name="connsiteY149" fmla="*/ 278317 h 1125538"/>
                    <a:gd name="connsiteX150" fmla="*/ 721327 w 1146175"/>
                    <a:gd name="connsiteY150" fmla="*/ 311198 h 1125538"/>
                    <a:gd name="connsiteX151" fmla="*/ 686457 w 1146175"/>
                    <a:gd name="connsiteY151" fmla="*/ 331213 h 1125538"/>
                    <a:gd name="connsiteX152" fmla="*/ 686457 w 1146175"/>
                    <a:gd name="connsiteY152" fmla="*/ 361950 h 1125538"/>
                    <a:gd name="connsiteX153" fmla="*/ 654433 w 1146175"/>
                    <a:gd name="connsiteY153" fmla="*/ 361950 h 1125538"/>
                    <a:gd name="connsiteX154" fmla="*/ 654433 w 1146175"/>
                    <a:gd name="connsiteY154" fmla="*/ 332643 h 1125538"/>
                    <a:gd name="connsiteX155" fmla="*/ 609600 w 1146175"/>
                    <a:gd name="connsiteY155" fmla="*/ 319061 h 1125538"/>
                    <a:gd name="connsiteX156" fmla="*/ 623833 w 1146175"/>
                    <a:gd name="connsiteY156" fmla="*/ 287609 h 1125538"/>
                    <a:gd name="connsiteX157" fmla="*/ 665820 w 1146175"/>
                    <a:gd name="connsiteY157" fmla="*/ 301906 h 1125538"/>
                    <a:gd name="connsiteX158" fmla="*/ 697132 w 1146175"/>
                    <a:gd name="connsiteY158" fmla="*/ 280461 h 1125538"/>
                    <a:gd name="connsiteX159" fmla="*/ 689304 w 1146175"/>
                    <a:gd name="connsiteY159" fmla="*/ 259732 h 1125538"/>
                    <a:gd name="connsiteX160" fmla="*/ 658703 w 1146175"/>
                    <a:gd name="connsiteY160" fmla="*/ 239002 h 1125538"/>
                    <a:gd name="connsiteX161" fmla="*/ 627391 w 1146175"/>
                    <a:gd name="connsiteY161" fmla="*/ 220417 h 1125538"/>
                    <a:gd name="connsiteX162" fmla="*/ 613870 w 1146175"/>
                    <a:gd name="connsiteY162" fmla="*/ 202546 h 1125538"/>
                    <a:gd name="connsiteX163" fmla="*/ 610312 w 1146175"/>
                    <a:gd name="connsiteY163" fmla="*/ 179672 h 1125538"/>
                    <a:gd name="connsiteX164" fmla="*/ 623121 w 1146175"/>
                    <a:gd name="connsiteY164" fmla="*/ 147506 h 1125538"/>
                    <a:gd name="connsiteX165" fmla="*/ 654433 w 1146175"/>
                    <a:gd name="connsiteY165" fmla="*/ 128920 h 1125538"/>
                    <a:gd name="connsiteX166" fmla="*/ 654433 w 1146175"/>
                    <a:gd name="connsiteY166" fmla="*/ 103187 h 1125538"/>
                    <a:gd name="connsiteX167" fmla="*/ 228600 w 1146175"/>
                    <a:gd name="connsiteY167" fmla="*/ 31750 h 1125538"/>
                    <a:gd name="connsiteX168" fmla="*/ 228600 w 1146175"/>
                    <a:gd name="connsiteY168" fmla="*/ 431800 h 1125538"/>
                    <a:gd name="connsiteX169" fmla="*/ 1114425 w 1146175"/>
                    <a:gd name="connsiteY169" fmla="*/ 431800 h 1125538"/>
                    <a:gd name="connsiteX170" fmla="*/ 1114425 w 1146175"/>
                    <a:gd name="connsiteY170" fmla="*/ 31750 h 1125538"/>
                    <a:gd name="connsiteX171" fmla="*/ 209003 w 1146175"/>
                    <a:gd name="connsiteY171" fmla="*/ 0 h 1125538"/>
                    <a:gd name="connsiteX172" fmla="*/ 1134023 w 1146175"/>
                    <a:gd name="connsiteY172" fmla="*/ 0 h 1125538"/>
                    <a:gd name="connsiteX173" fmla="*/ 1146175 w 1146175"/>
                    <a:gd name="connsiteY173" fmla="*/ 11428 h 1125538"/>
                    <a:gd name="connsiteX174" fmla="*/ 1146175 w 1146175"/>
                    <a:gd name="connsiteY174" fmla="*/ 451408 h 1125538"/>
                    <a:gd name="connsiteX175" fmla="*/ 1134023 w 1146175"/>
                    <a:gd name="connsiteY175" fmla="*/ 463550 h 1125538"/>
                    <a:gd name="connsiteX176" fmla="*/ 209003 w 1146175"/>
                    <a:gd name="connsiteY176" fmla="*/ 463550 h 1125538"/>
                    <a:gd name="connsiteX177" fmla="*/ 196850 w 1146175"/>
                    <a:gd name="connsiteY177" fmla="*/ 451408 h 1125538"/>
                    <a:gd name="connsiteX178" fmla="*/ 196850 w 1146175"/>
                    <a:gd name="connsiteY178" fmla="*/ 11428 h 1125538"/>
                    <a:gd name="connsiteX179" fmla="*/ 209003 w 1146175"/>
                    <a:gd name="connsiteY179" fmla="*/ 0 h 1125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1146175" h="1125538">
                      <a:moveTo>
                        <a:pt x="409739" y="615791"/>
                      </a:moveTo>
                      <a:cubicBezTo>
                        <a:pt x="380443" y="614362"/>
                        <a:pt x="351147" y="621508"/>
                        <a:pt x="326138" y="635801"/>
                      </a:cubicBezTo>
                      <a:cubicBezTo>
                        <a:pt x="326138" y="635801"/>
                        <a:pt x="326138" y="635801"/>
                        <a:pt x="31750" y="803020"/>
                      </a:cubicBezTo>
                      <a:cubicBezTo>
                        <a:pt x="31750" y="803020"/>
                        <a:pt x="31750" y="803020"/>
                        <a:pt x="31750" y="1087437"/>
                      </a:cubicBezTo>
                      <a:cubicBezTo>
                        <a:pt x="31750" y="1087437"/>
                        <a:pt x="31750" y="1087437"/>
                        <a:pt x="368296" y="957377"/>
                      </a:cubicBezTo>
                      <a:cubicBezTo>
                        <a:pt x="384730" y="950946"/>
                        <a:pt x="401879" y="948087"/>
                        <a:pt x="419028" y="949516"/>
                      </a:cubicBezTo>
                      <a:cubicBezTo>
                        <a:pt x="419028" y="949516"/>
                        <a:pt x="419028" y="949516"/>
                        <a:pt x="568366" y="960236"/>
                      </a:cubicBezTo>
                      <a:cubicBezTo>
                        <a:pt x="645535" y="965953"/>
                        <a:pt x="722705" y="956663"/>
                        <a:pt x="797017" y="933795"/>
                      </a:cubicBezTo>
                      <a:cubicBezTo>
                        <a:pt x="894908" y="903067"/>
                        <a:pt x="981367" y="845897"/>
                        <a:pt x="1047818" y="767290"/>
                      </a:cubicBezTo>
                      <a:cubicBezTo>
                        <a:pt x="1047818" y="767290"/>
                        <a:pt x="1047818" y="767290"/>
                        <a:pt x="1079972" y="730130"/>
                      </a:cubicBezTo>
                      <a:cubicBezTo>
                        <a:pt x="1098550" y="707977"/>
                        <a:pt x="1096407" y="675104"/>
                        <a:pt x="1074971" y="655810"/>
                      </a:cubicBezTo>
                      <a:cubicBezTo>
                        <a:pt x="1064253" y="646520"/>
                        <a:pt x="1050676" y="641517"/>
                        <a:pt x="1036386" y="642232"/>
                      </a:cubicBezTo>
                      <a:cubicBezTo>
                        <a:pt x="1022095" y="642947"/>
                        <a:pt x="1008519" y="649378"/>
                        <a:pt x="999230" y="660097"/>
                      </a:cubicBezTo>
                      <a:cubicBezTo>
                        <a:pt x="999230" y="660097"/>
                        <a:pt x="999230" y="660097"/>
                        <a:pt x="951356" y="713694"/>
                      </a:cubicBezTo>
                      <a:cubicBezTo>
                        <a:pt x="912771" y="758000"/>
                        <a:pt x="862039" y="789443"/>
                        <a:pt x="805591" y="805164"/>
                      </a:cubicBezTo>
                      <a:cubicBezTo>
                        <a:pt x="740568" y="823744"/>
                        <a:pt x="670544" y="819457"/>
                        <a:pt x="608380" y="794445"/>
                      </a:cubicBezTo>
                      <a:cubicBezTo>
                        <a:pt x="608380" y="794445"/>
                        <a:pt x="608380" y="794445"/>
                        <a:pt x="553360" y="772292"/>
                      </a:cubicBezTo>
                      <a:cubicBezTo>
                        <a:pt x="546930" y="769434"/>
                        <a:pt x="542642" y="763002"/>
                        <a:pt x="544071" y="755856"/>
                      </a:cubicBezTo>
                      <a:cubicBezTo>
                        <a:pt x="544786" y="748710"/>
                        <a:pt x="550502" y="742993"/>
                        <a:pt x="557648" y="742278"/>
                      </a:cubicBezTo>
                      <a:cubicBezTo>
                        <a:pt x="557648" y="742278"/>
                        <a:pt x="557648" y="742278"/>
                        <a:pt x="715560" y="726557"/>
                      </a:cubicBezTo>
                      <a:cubicBezTo>
                        <a:pt x="740568" y="724413"/>
                        <a:pt x="759146" y="703689"/>
                        <a:pt x="759146" y="679392"/>
                      </a:cubicBezTo>
                      <a:cubicBezTo>
                        <a:pt x="759146" y="653666"/>
                        <a:pt x="739139" y="632942"/>
                        <a:pt x="713416" y="631513"/>
                      </a:cubicBezTo>
                      <a:cubicBezTo>
                        <a:pt x="713416" y="631513"/>
                        <a:pt x="713416" y="631513"/>
                        <a:pt x="409739" y="615791"/>
                      </a:cubicBezTo>
                      <a:close/>
                      <a:moveTo>
                        <a:pt x="390213" y="584200"/>
                      </a:moveTo>
                      <a:cubicBezTo>
                        <a:pt x="391642" y="584200"/>
                        <a:pt x="392357" y="584200"/>
                        <a:pt x="393786" y="584200"/>
                      </a:cubicBezTo>
                      <a:cubicBezTo>
                        <a:pt x="394501" y="584200"/>
                        <a:pt x="395930" y="584200"/>
                        <a:pt x="396645" y="584200"/>
                      </a:cubicBezTo>
                      <a:cubicBezTo>
                        <a:pt x="398074" y="584200"/>
                        <a:pt x="398789" y="584200"/>
                        <a:pt x="399504" y="584200"/>
                      </a:cubicBezTo>
                      <a:cubicBezTo>
                        <a:pt x="400933" y="584200"/>
                        <a:pt x="401648" y="584200"/>
                        <a:pt x="403077" y="584200"/>
                      </a:cubicBezTo>
                      <a:cubicBezTo>
                        <a:pt x="405221" y="584200"/>
                        <a:pt x="408080" y="584200"/>
                        <a:pt x="410939" y="584200"/>
                      </a:cubicBezTo>
                      <a:cubicBezTo>
                        <a:pt x="410939" y="584200"/>
                        <a:pt x="410939" y="584200"/>
                        <a:pt x="715390" y="599912"/>
                      </a:cubicBezTo>
                      <a:cubicBezTo>
                        <a:pt x="743263" y="601340"/>
                        <a:pt x="766847" y="617766"/>
                        <a:pt x="780426" y="640619"/>
                      </a:cubicBezTo>
                      <a:cubicBezTo>
                        <a:pt x="781140" y="642048"/>
                        <a:pt x="781855" y="643476"/>
                        <a:pt x="782570" y="644904"/>
                      </a:cubicBezTo>
                      <a:cubicBezTo>
                        <a:pt x="785428" y="650618"/>
                        <a:pt x="787572" y="657045"/>
                        <a:pt x="789002" y="663473"/>
                      </a:cubicBezTo>
                      <a:cubicBezTo>
                        <a:pt x="789716" y="668472"/>
                        <a:pt x="790431" y="673471"/>
                        <a:pt x="790431" y="679184"/>
                      </a:cubicBezTo>
                      <a:cubicBezTo>
                        <a:pt x="790431" y="681327"/>
                        <a:pt x="790431" y="682755"/>
                        <a:pt x="789716" y="684898"/>
                      </a:cubicBezTo>
                      <a:cubicBezTo>
                        <a:pt x="789716" y="684898"/>
                        <a:pt x="789716" y="685612"/>
                        <a:pt x="789716" y="685612"/>
                      </a:cubicBezTo>
                      <a:cubicBezTo>
                        <a:pt x="789716" y="687754"/>
                        <a:pt x="789716" y="689183"/>
                        <a:pt x="789002" y="691325"/>
                      </a:cubicBezTo>
                      <a:cubicBezTo>
                        <a:pt x="786143" y="709893"/>
                        <a:pt x="776852" y="726319"/>
                        <a:pt x="763988" y="738460"/>
                      </a:cubicBezTo>
                      <a:cubicBezTo>
                        <a:pt x="763988" y="738460"/>
                        <a:pt x="763273" y="738460"/>
                        <a:pt x="763273" y="738460"/>
                      </a:cubicBezTo>
                      <a:cubicBezTo>
                        <a:pt x="761844" y="739888"/>
                        <a:pt x="760415" y="740603"/>
                        <a:pt x="758985" y="742031"/>
                      </a:cubicBezTo>
                      <a:cubicBezTo>
                        <a:pt x="757556" y="743459"/>
                        <a:pt x="756127" y="744173"/>
                        <a:pt x="754697" y="744888"/>
                      </a:cubicBezTo>
                      <a:cubicBezTo>
                        <a:pt x="753983" y="745602"/>
                        <a:pt x="753983" y="745602"/>
                        <a:pt x="753983" y="745602"/>
                      </a:cubicBezTo>
                      <a:cubicBezTo>
                        <a:pt x="752553" y="746316"/>
                        <a:pt x="751124" y="747744"/>
                        <a:pt x="749695" y="748458"/>
                      </a:cubicBezTo>
                      <a:cubicBezTo>
                        <a:pt x="748980" y="748458"/>
                        <a:pt x="748265" y="748458"/>
                        <a:pt x="748265" y="749173"/>
                      </a:cubicBezTo>
                      <a:cubicBezTo>
                        <a:pt x="746836" y="749887"/>
                        <a:pt x="745407" y="750601"/>
                        <a:pt x="743263" y="751315"/>
                      </a:cubicBezTo>
                      <a:cubicBezTo>
                        <a:pt x="743263" y="751315"/>
                        <a:pt x="742548" y="751315"/>
                        <a:pt x="742548" y="752029"/>
                      </a:cubicBezTo>
                      <a:cubicBezTo>
                        <a:pt x="741118" y="752029"/>
                        <a:pt x="739689" y="752743"/>
                        <a:pt x="738260" y="753458"/>
                      </a:cubicBezTo>
                      <a:cubicBezTo>
                        <a:pt x="731828" y="755600"/>
                        <a:pt x="725396" y="757028"/>
                        <a:pt x="718964" y="757743"/>
                      </a:cubicBezTo>
                      <a:cubicBezTo>
                        <a:pt x="718964" y="757743"/>
                        <a:pt x="718964" y="757743"/>
                        <a:pt x="624626" y="767027"/>
                      </a:cubicBezTo>
                      <a:cubicBezTo>
                        <a:pt x="662504" y="781310"/>
                        <a:pt x="703241" y="787023"/>
                        <a:pt x="743263" y="784167"/>
                      </a:cubicBezTo>
                      <a:cubicBezTo>
                        <a:pt x="753983" y="783453"/>
                        <a:pt x="764703" y="782024"/>
                        <a:pt x="775423" y="779882"/>
                      </a:cubicBezTo>
                      <a:cubicBezTo>
                        <a:pt x="778996" y="779168"/>
                        <a:pt x="781855" y="778453"/>
                        <a:pt x="785428" y="777739"/>
                      </a:cubicBezTo>
                      <a:cubicBezTo>
                        <a:pt x="786143" y="777739"/>
                        <a:pt x="786143" y="777739"/>
                        <a:pt x="786858" y="777025"/>
                      </a:cubicBezTo>
                      <a:cubicBezTo>
                        <a:pt x="790431" y="776311"/>
                        <a:pt x="793290" y="775597"/>
                        <a:pt x="796863" y="774883"/>
                      </a:cubicBezTo>
                      <a:cubicBezTo>
                        <a:pt x="806869" y="772026"/>
                        <a:pt x="816874" y="768455"/>
                        <a:pt x="826880" y="764170"/>
                      </a:cubicBezTo>
                      <a:cubicBezTo>
                        <a:pt x="857611" y="752029"/>
                        <a:pt x="885483" y="734175"/>
                        <a:pt x="909782" y="711322"/>
                      </a:cubicBezTo>
                      <a:cubicBezTo>
                        <a:pt x="916214" y="705608"/>
                        <a:pt x="921931" y="699181"/>
                        <a:pt x="928363" y="692753"/>
                      </a:cubicBezTo>
                      <a:cubicBezTo>
                        <a:pt x="928363" y="692753"/>
                        <a:pt x="928363" y="692753"/>
                        <a:pt x="975532" y="639191"/>
                      </a:cubicBezTo>
                      <a:cubicBezTo>
                        <a:pt x="976961" y="637763"/>
                        <a:pt x="977676" y="637048"/>
                        <a:pt x="978391" y="635620"/>
                      </a:cubicBezTo>
                      <a:cubicBezTo>
                        <a:pt x="979105" y="635620"/>
                        <a:pt x="979105" y="635620"/>
                        <a:pt x="979105" y="635620"/>
                      </a:cubicBezTo>
                      <a:cubicBezTo>
                        <a:pt x="994114" y="620623"/>
                        <a:pt x="1013410" y="612053"/>
                        <a:pt x="1034135" y="610624"/>
                      </a:cubicBezTo>
                      <a:cubicBezTo>
                        <a:pt x="1034850" y="610624"/>
                        <a:pt x="1034850" y="610624"/>
                        <a:pt x="1034850" y="610624"/>
                      </a:cubicBezTo>
                      <a:cubicBezTo>
                        <a:pt x="1036279" y="610624"/>
                        <a:pt x="1037709" y="610624"/>
                        <a:pt x="1039138" y="610624"/>
                      </a:cubicBezTo>
                      <a:cubicBezTo>
                        <a:pt x="1039138" y="610624"/>
                        <a:pt x="1039853" y="610624"/>
                        <a:pt x="1040567" y="610624"/>
                      </a:cubicBezTo>
                      <a:cubicBezTo>
                        <a:pt x="1054146" y="610624"/>
                        <a:pt x="1067725" y="614909"/>
                        <a:pt x="1079875" y="621337"/>
                      </a:cubicBezTo>
                      <a:cubicBezTo>
                        <a:pt x="1081304" y="622051"/>
                        <a:pt x="1082019" y="622765"/>
                        <a:pt x="1083448" y="623479"/>
                      </a:cubicBezTo>
                      <a:cubicBezTo>
                        <a:pt x="1084877" y="624193"/>
                        <a:pt x="1085592" y="624908"/>
                        <a:pt x="1086307" y="624908"/>
                      </a:cubicBezTo>
                      <a:cubicBezTo>
                        <a:pt x="1087021" y="625622"/>
                        <a:pt x="1087021" y="625622"/>
                        <a:pt x="1087021" y="625622"/>
                      </a:cubicBezTo>
                      <a:cubicBezTo>
                        <a:pt x="1087736" y="626336"/>
                        <a:pt x="1089165" y="627050"/>
                        <a:pt x="1089880" y="627764"/>
                      </a:cubicBezTo>
                      <a:cubicBezTo>
                        <a:pt x="1089880" y="627764"/>
                        <a:pt x="1090595" y="628478"/>
                        <a:pt x="1090595" y="628478"/>
                      </a:cubicBezTo>
                      <a:cubicBezTo>
                        <a:pt x="1091309" y="629193"/>
                        <a:pt x="1092024" y="629193"/>
                        <a:pt x="1092739" y="629907"/>
                      </a:cubicBezTo>
                      <a:cubicBezTo>
                        <a:pt x="1093453" y="630621"/>
                        <a:pt x="1094168" y="631335"/>
                        <a:pt x="1095597" y="632049"/>
                      </a:cubicBezTo>
                      <a:cubicBezTo>
                        <a:pt x="1095597" y="632049"/>
                        <a:pt x="1095597" y="632763"/>
                        <a:pt x="1095597" y="632763"/>
                      </a:cubicBezTo>
                      <a:cubicBezTo>
                        <a:pt x="1129902" y="663473"/>
                        <a:pt x="1133475" y="714893"/>
                        <a:pt x="1103459" y="749887"/>
                      </a:cubicBezTo>
                      <a:cubicBezTo>
                        <a:pt x="1103459" y="749887"/>
                        <a:pt x="1103459" y="749887"/>
                        <a:pt x="1072013" y="787738"/>
                      </a:cubicBezTo>
                      <a:cubicBezTo>
                        <a:pt x="1040567" y="824160"/>
                        <a:pt x="1004834" y="857012"/>
                        <a:pt x="966241" y="884150"/>
                      </a:cubicBezTo>
                      <a:cubicBezTo>
                        <a:pt x="963383" y="886292"/>
                        <a:pt x="959809" y="888435"/>
                        <a:pt x="956950" y="890577"/>
                      </a:cubicBezTo>
                      <a:cubicBezTo>
                        <a:pt x="954092" y="892720"/>
                        <a:pt x="951233" y="894862"/>
                        <a:pt x="948374" y="896291"/>
                      </a:cubicBezTo>
                      <a:cubicBezTo>
                        <a:pt x="904779" y="924857"/>
                        <a:pt x="856896" y="947711"/>
                        <a:pt x="806154" y="963422"/>
                      </a:cubicBezTo>
                      <a:cubicBezTo>
                        <a:pt x="801866" y="964851"/>
                        <a:pt x="797578" y="966279"/>
                        <a:pt x="792575" y="967707"/>
                      </a:cubicBezTo>
                      <a:cubicBezTo>
                        <a:pt x="791146" y="967707"/>
                        <a:pt x="789716" y="968422"/>
                        <a:pt x="788287" y="968422"/>
                      </a:cubicBezTo>
                      <a:cubicBezTo>
                        <a:pt x="785428" y="969136"/>
                        <a:pt x="782570" y="970564"/>
                        <a:pt x="779711" y="971278"/>
                      </a:cubicBezTo>
                      <a:cubicBezTo>
                        <a:pt x="777567" y="971278"/>
                        <a:pt x="775423" y="971992"/>
                        <a:pt x="773994" y="972707"/>
                      </a:cubicBezTo>
                      <a:cubicBezTo>
                        <a:pt x="771135" y="973421"/>
                        <a:pt x="768991" y="973421"/>
                        <a:pt x="766132" y="974135"/>
                      </a:cubicBezTo>
                      <a:cubicBezTo>
                        <a:pt x="763988" y="974849"/>
                        <a:pt x="761844" y="975563"/>
                        <a:pt x="759700" y="976277"/>
                      </a:cubicBezTo>
                      <a:cubicBezTo>
                        <a:pt x="757556" y="976277"/>
                        <a:pt x="756127" y="976992"/>
                        <a:pt x="753983" y="976992"/>
                      </a:cubicBezTo>
                      <a:cubicBezTo>
                        <a:pt x="743977" y="979134"/>
                        <a:pt x="733972" y="981277"/>
                        <a:pt x="724681" y="983419"/>
                      </a:cubicBezTo>
                      <a:cubicBezTo>
                        <a:pt x="723252" y="983419"/>
                        <a:pt x="722537" y="983419"/>
                        <a:pt x="721822" y="983419"/>
                      </a:cubicBezTo>
                      <a:cubicBezTo>
                        <a:pt x="718249" y="984133"/>
                        <a:pt x="714676" y="984847"/>
                        <a:pt x="711102" y="985562"/>
                      </a:cubicBezTo>
                      <a:cubicBezTo>
                        <a:pt x="710387" y="985562"/>
                        <a:pt x="710387" y="985562"/>
                        <a:pt x="709673" y="985562"/>
                      </a:cubicBezTo>
                      <a:cubicBezTo>
                        <a:pt x="689662" y="988418"/>
                        <a:pt x="670366" y="990561"/>
                        <a:pt x="650355" y="991989"/>
                      </a:cubicBezTo>
                      <a:cubicBezTo>
                        <a:pt x="649640" y="991989"/>
                        <a:pt x="648925" y="991989"/>
                        <a:pt x="648211" y="991989"/>
                      </a:cubicBezTo>
                      <a:cubicBezTo>
                        <a:pt x="644637" y="991989"/>
                        <a:pt x="641064" y="991989"/>
                        <a:pt x="637491" y="992703"/>
                      </a:cubicBezTo>
                      <a:cubicBezTo>
                        <a:pt x="636776" y="992703"/>
                        <a:pt x="636061" y="992703"/>
                        <a:pt x="635347" y="992703"/>
                      </a:cubicBezTo>
                      <a:cubicBezTo>
                        <a:pt x="630344" y="992703"/>
                        <a:pt x="626056" y="992703"/>
                        <a:pt x="621053" y="992703"/>
                      </a:cubicBezTo>
                      <a:cubicBezTo>
                        <a:pt x="621053" y="992703"/>
                        <a:pt x="620338" y="992703"/>
                        <a:pt x="620338" y="992703"/>
                      </a:cubicBezTo>
                      <a:cubicBezTo>
                        <a:pt x="617480" y="992703"/>
                        <a:pt x="614621" y="992703"/>
                        <a:pt x="612477" y="992703"/>
                      </a:cubicBezTo>
                      <a:cubicBezTo>
                        <a:pt x="610333" y="992703"/>
                        <a:pt x="608189" y="992703"/>
                        <a:pt x="606045" y="992703"/>
                      </a:cubicBezTo>
                      <a:cubicBezTo>
                        <a:pt x="603901" y="992703"/>
                        <a:pt x="601042" y="992703"/>
                        <a:pt x="598898" y="992703"/>
                      </a:cubicBezTo>
                      <a:cubicBezTo>
                        <a:pt x="596754" y="992703"/>
                        <a:pt x="594610" y="992703"/>
                        <a:pt x="592466" y="992703"/>
                      </a:cubicBezTo>
                      <a:cubicBezTo>
                        <a:pt x="589607" y="992703"/>
                        <a:pt x="587463" y="992703"/>
                        <a:pt x="584605" y="991989"/>
                      </a:cubicBezTo>
                      <a:cubicBezTo>
                        <a:pt x="582461" y="991989"/>
                        <a:pt x="581031" y="991989"/>
                        <a:pt x="578887" y="991989"/>
                      </a:cubicBezTo>
                      <a:cubicBezTo>
                        <a:pt x="575314" y="991989"/>
                        <a:pt x="571026" y="991275"/>
                        <a:pt x="566738" y="991275"/>
                      </a:cubicBezTo>
                      <a:cubicBezTo>
                        <a:pt x="566738" y="991275"/>
                        <a:pt x="566023" y="991275"/>
                        <a:pt x="566023" y="991275"/>
                      </a:cubicBezTo>
                      <a:cubicBezTo>
                        <a:pt x="566023" y="991275"/>
                        <a:pt x="566023" y="991275"/>
                        <a:pt x="485265" y="985562"/>
                      </a:cubicBezTo>
                      <a:cubicBezTo>
                        <a:pt x="485265" y="985562"/>
                        <a:pt x="485265" y="985562"/>
                        <a:pt x="416656" y="980562"/>
                      </a:cubicBezTo>
                      <a:cubicBezTo>
                        <a:pt x="415227" y="980562"/>
                        <a:pt x="413083" y="980562"/>
                        <a:pt x="410939" y="980562"/>
                      </a:cubicBezTo>
                      <a:cubicBezTo>
                        <a:pt x="410224" y="980562"/>
                        <a:pt x="408794" y="980562"/>
                        <a:pt x="407365" y="980562"/>
                      </a:cubicBezTo>
                      <a:cubicBezTo>
                        <a:pt x="402362" y="980562"/>
                        <a:pt x="398074" y="981277"/>
                        <a:pt x="393072" y="981991"/>
                      </a:cubicBezTo>
                      <a:cubicBezTo>
                        <a:pt x="391642" y="982705"/>
                        <a:pt x="390213" y="982705"/>
                        <a:pt x="388784" y="982705"/>
                      </a:cubicBezTo>
                      <a:cubicBezTo>
                        <a:pt x="388784" y="983419"/>
                        <a:pt x="388784" y="983419"/>
                        <a:pt x="388784" y="983419"/>
                      </a:cubicBezTo>
                      <a:cubicBezTo>
                        <a:pt x="387354" y="983419"/>
                        <a:pt x="385925" y="984133"/>
                        <a:pt x="384496" y="984133"/>
                      </a:cubicBezTo>
                      <a:cubicBezTo>
                        <a:pt x="384496" y="984133"/>
                        <a:pt x="384496" y="984133"/>
                        <a:pt x="383781" y="984847"/>
                      </a:cubicBezTo>
                      <a:cubicBezTo>
                        <a:pt x="382352" y="984847"/>
                        <a:pt x="380922" y="985562"/>
                        <a:pt x="379493" y="986276"/>
                      </a:cubicBezTo>
                      <a:cubicBezTo>
                        <a:pt x="379493" y="986276"/>
                        <a:pt x="379493" y="986276"/>
                        <a:pt x="21441" y="1124824"/>
                      </a:cubicBezTo>
                      <a:cubicBezTo>
                        <a:pt x="20011" y="1125538"/>
                        <a:pt x="17867" y="1125538"/>
                        <a:pt x="15723" y="1125538"/>
                      </a:cubicBezTo>
                      <a:cubicBezTo>
                        <a:pt x="12864" y="1125538"/>
                        <a:pt x="10006" y="1124824"/>
                        <a:pt x="7147" y="1122681"/>
                      </a:cubicBezTo>
                      <a:cubicBezTo>
                        <a:pt x="2859" y="1119825"/>
                        <a:pt x="0" y="1114826"/>
                        <a:pt x="0" y="1109826"/>
                      </a:cubicBezTo>
                      <a:cubicBezTo>
                        <a:pt x="0" y="1109826"/>
                        <a:pt x="0" y="1109826"/>
                        <a:pt x="0" y="793451"/>
                      </a:cubicBezTo>
                      <a:cubicBezTo>
                        <a:pt x="0" y="787738"/>
                        <a:pt x="3574" y="782738"/>
                        <a:pt x="7862" y="779882"/>
                      </a:cubicBezTo>
                      <a:cubicBezTo>
                        <a:pt x="7862" y="779882"/>
                        <a:pt x="7862" y="779882"/>
                        <a:pt x="310169" y="608482"/>
                      </a:cubicBezTo>
                      <a:cubicBezTo>
                        <a:pt x="311599" y="607053"/>
                        <a:pt x="313743" y="606339"/>
                        <a:pt x="315887" y="605625"/>
                      </a:cubicBezTo>
                      <a:cubicBezTo>
                        <a:pt x="316601" y="604911"/>
                        <a:pt x="317316" y="604911"/>
                        <a:pt x="318031" y="604197"/>
                      </a:cubicBezTo>
                      <a:cubicBezTo>
                        <a:pt x="318745" y="603483"/>
                        <a:pt x="320175" y="602768"/>
                        <a:pt x="320889" y="602768"/>
                      </a:cubicBezTo>
                      <a:cubicBezTo>
                        <a:pt x="322319" y="602054"/>
                        <a:pt x="323033" y="601340"/>
                        <a:pt x="324463" y="601340"/>
                      </a:cubicBezTo>
                      <a:cubicBezTo>
                        <a:pt x="325177" y="600626"/>
                        <a:pt x="325892" y="600626"/>
                        <a:pt x="326607" y="599912"/>
                      </a:cubicBezTo>
                      <a:cubicBezTo>
                        <a:pt x="328036" y="599198"/>
                        <a:pt x="329466" y="599198"/>
                        <a:pt x="330180" y="598483"/>
                      </a:cubicBezTo>
                      <a:cubicBezTo>
                        <a:pt x="330895" y="598483"/>
                        <a:pt x="331610" y="597769"/>
                        <a:pt x="332324" y="597769"/>
                      </a:cubicBezTo>
                      <a:cubicBezTo>
                        <a:pt x="333754" y="597055"/>
                        <a:pt x="335183" y="596341"/>
                        <a:pt x="336612" y="596341"/>
                      </a:cubicBezTo>
                      <a:cubicBezTo>
                        <a:pt x="336612" y="595627"/>
                        <a:pt x="337327" y="595627"/>
                        <a:pt x="338042" y="595627"/>
                      </a:cubicBezTo>
                      <a:cubicBezTo>
                        <a:pt x="339471" y="594913"/>
                        <a:pt x="340900" y="594198"/>
                        <a:pt x="342330" y="594198"/>
                      </a:cubicBezTo>
                      <a:cubicBezTo>
                        <a:pt x="343044" y="593484"/>
                        <a:pt x="343044" y="593484"/>
                        <a:pt x="343044" y="593484"/>
                      </a:cubicBezTo>
                      <a:cubicBezTo>
                        <a:pt x="345188" y="592770"/>
                        <a:pt x="346618" y="592770"/>
                        <a:pt x="348047" y="592056"/>
                      </a:cubicBezTo>
                      <a:cubicBezTo>
                        <a:pt x="348762" y="592056"/>
                        <a:pt x="348762" y="592056"/>
                        <a:pt x="348762" y="592056"/>
                      </a:cubicBezTo>
                      <a:cubicBezTo>
                        <a:pt x="360197" y="588485"/>
                        <a:pt x="370917" y="586343"/>
                        <a:pt x="382352" y="584914"/>
                      </a:cubicBezTo>
                      <a:cubicBezTo>
                        <a:pt x="383066" y="584914"/>
                        <a:pt x="383781" y="584914"/>
                        <a:pt x="383781" y="584914"/>
                      </a:cubicBezTo>
                      <a:cubicBezTo>
                        <a:pt x="385210" y="584914"/>
                        <a:pt x="386640" y="584914"/>
                        <a:pt x="387354" y="584914"/>
                      </a:cubicBezTo>
                      <a:cubicBezTo>
                        <a:pt x="388784" y="584914"/>
                        <a:pt x="389498" y="584914"/>
                        <a:pt x="390213" y="584200"/>
                      </a:cubicBezTo>
                      <a:close/>
                      <a:moveTo>
                        <a:pt x="654433" y="103187"/>
                      </a:moveTo>
                      <a:cubicBezTo>
                        <a:pt x="686457" y="103187"/>
                        <a:pt x="686457" y="103187"/>
                        <a:pt x="686457" y="103187"/>
                      </a:cubicBezTo>
                      <a:cubicBezTo>
                        <a:pt x="686457" y="126776"/>
                        <a:pt x="686457" y="126776"/>
                        <a:pt x="686457" y="126776"/>
                      </a:cubicBezTo>
                      <a:cubicBezTo>
                        <a:pt x="702825" y="128920"/>
                        <a:pt x="716346" y="132495"/>
                        <a:pt x="724174" y="139643"/>
                      </a:cubicBezTo>
                      <a:cubicBezTo>
                        <a:pt x="714211" y="169665"/>
                        <a:pt x="714211" y="169665"/>
                        <a:pt x="714211" y="169665"/>
                      </a:cubicBezTo>
                      <a:cubicBezTo>
                        <a:pt x="700690" y="161087"/>
                        <a:pt x="687169" y="156083"/>
                        <a:pt x="672936" y="156083"/>
                      </a:cubicBezTo>
                      <a:cubicBezTo>
                        <a:pt x="665108" y="156083"/>
                        <a:pt x="658703" y="158228"/>
                        <a:pt x="653722" y="162517"/>
                      </a:cubicBezTo>
                      <a:cubicBezTo>
                        <a:pt x="648740" y="167520"/>
                        <a:pt x="646605" y="172524"/>
                        <a:pt x="646605" y="179672"/>
                      </a:cubicBezTo>
                      <a:cubicBezTo>
                        <a:pt x="646605" y="191109"/>
                        <a:pt x="659415" y="203261"/>
                        <a:pt x="685034" y="215413"/>
                      </a:cubicBezTo>
                      <a:cubicBezTo>
                        <a:pt x="698555" y="222561"/>
                        <a:pt x="709230" y="228280"/>
                        <a:pt x="715634" y="233998"/>
                      </a:cubicBezTo>
                      <a:cubicBezTo>
                        <a:pt x="722039" y="239717"/>
                        <a:pt x="725597" y="246150"/>
                        <a:pt x="729155" y="253298"/>
                      </a:cubicBezTo>
                      <a:cubicBezTo>
                        <a:pt x="732002" y="261161"/>
                        <a:pt x="733425" y="269024"/>
                        <a:pt x="733425" y="278317"/>
                      </a:cubicBezTo>
                      <a:cubicBezTo>
                        <a:pt x="733425" y="290469"/>
                        <a:pt x="729867" y="301906"/>
                        <a:pt x="721327" y="311198"/>
                      </a:cubicBezTo>
                      <a:cubicBezTo>
                        <a:pt x="712788" y="320491"/>
                        <a:pt x="700690" y="327639"/>
                        <a:pt x="686457" y="331213"/>
                      </a:cubicBezTo>
                      <a:cubicBezTo>
                        <a:pt x="686457" y="361950"/>
                        <a:pt x="686457" y="361950"/>
                        <a:pt x="686457" y="361950"/>
                      </a:cubicBezTo>
                      <a:cubicBezTo>
                        <a:pt x="654433" y="361950"/>
                        <a:pt x="654433" y="361950"/>
                        <a:pt x="654433" y="361950"/>
                      </a:cubicBezTo>
                      <a:cubicBezTo>
                        <a:pt x="654433" y="332643"/>
                        <a:pt x="654433" y="332643"/>
                        <a:pt x="654433" y="332643"/>
                      </a:cubicBezTo>
                      <a:cubicBezTo>
                        <a:pt x="638777" y="332643"/>
                        <a:pt x="623833" y="327639"/>
                        <a:pt x="609600" y="319061"/>
                      </a:cubicBezTo>
                      <a:cubicBezTo>
                        <a:pt x="623833" y="287609"/>
                        <a:pt x="623833" y="287609"/>
                        <a:pt x="623833" y="287609"/>
                      </a:cubicBezTo>
                      <a:cubicBezTo>
                        <a:pt x="638066" y="296902"/>
                        <a:pt x="652299" y="301906"/>
                        <a:pt x="665820" y="301906"/>
                      </a:cubicBezTo>
                      <a:cubicBezTo>
                        <a:pt x="687169" y="301906"/>
                        <a:pt x="697132" y="294758"/>
                        <a:pt x="697132" y="280461"/>
                      </a:cubicBezTo>
                      <a:cubicBezTo>
                        <a:pt x="697132" y="273313"/>
                        <a:pt x="694997" y="266165"/>
                        <a:pt x="689304" y="259732"/>
                      </a:cubicBezTo>
                      <a:cubicBezTo>
                        <a:pt x="683611" y="254013"/>
                        <a:pt x="673648" y="246865"/>
                        <a:pt x="658703" y="239002"/>
                      </a:cubicBezTo>
                      <a:cubicBezTo>
                        <a:pt x="643047" y="231854"/>
                        <a:pt x="633084" y="225420"/>
                        <a:pt x="627391" y="220417"/>
                      </a:cubicBezTo>
                      <a:cubicBezTo>
                        <a:pt x="621698" y="215413"/>
                        <a:pt x="618140" y="209695"/>
                        <a:pt x="613870" y="202546"/>
                      </a:cubicBezTo>
                      <a:cubicBezTo>
                        <a:pt x="611735" y="195398"/>
                        <a:pt x="610312" y="188250"/>
                        <a:pt x="610312" y="179672"/>
                      </a:cubicBezTo>
                      <a:cubicBezTo>
                        <a:pt x="610312" y="167520"/>
                        <a:pt x="613870" y="156083"/>
                        <a:pt x="623121" y="147506"/>
                      </a:cubicBezTo>
                      <a:cubicBezTo>
                        <a:pt x="630949" y="138213"/>
                        <a:pt x="640912" y="131780"/>
                        <a:pt x="654433" y="128920"/>
                      </a:cubicBezTo>
                      <a:cubicBezTo>
                        <a:pt x="654433" y="103187"/>
                        <a:pt x="654433" y="103187"/>
                        <a:pt x="654433" y="103187"/>
                      </a:cubicBezTo>
                      <a:close/>
                      <a:moveTo>
                        <a:pt x="228600" y="31750"/>
                      </a:moveTo>
                      <a:lnTo>
                        <a:pt x="228600" y="431800"/>
                      </a:lnTo>
                      <a:lnTo>
                        <a:pt x="1114425" y="431800"/>
                      </a:lnTo>
                      <a:lnTo>
                        <a:pt x="1114425" y="31750"/>
                      </a:lnTo>
                      <a:close/>
                      <a:moveTo>
                        <a:pt x="209003" y="0"/>
                      </a:moveTo>
                      <a:cubicBezTo>
                        <a:pt x="1134023" y="0"/>
                        <a:pt x="1134023" y="0"/>
                        <a:pt x="1134023" y="0"/>
                      </a:cubicBezTo>
                      <a:cubicBezTo>
                        <a:pt x="1141171" y="0"/>
                        <a:pt x="1146175" y="5000"/>
                        <a:pt x="1146175" y="11428"/>
                      </a:cubicBezTo>
                      <a:cubicBezTo>
                        <a:pt x="1146175" y="451408"/>
                        <a:pt x="1146175" y="451408"/>
                        <a:pt x="1146175" y="451408"/>
                      </a:cubicBezTo>
                      <a:cubicBezTo>
                        <a:pt x="1146175" y="457836"/>
                        <a:pt x="1141171" y="463550"/>
                        <a:pt x="1134023" y="463550"/>
                      </a:cubicBezTo>
                      <a:cubicBezTo>
                        <a:pt x="209003" y="463550"/>
                        <a:pt x="209003" y="463550"/>
                        <a:pt x="209003" y="463550"/>
                      </a:cubicBezTo>
                      <a:cubicBezTo>
                        <a:pt x="202569" y="463550"/>
                        <a:pt x="196850" y="457836"/>
                        <a:pt x="196850" y="451408"/>
                      </a:cubicBezTo>
                      <a:cubicBezTo>
                        <a:pt x="196850" y="11428"/>
                        <a:pt x="196850" y="11428"/>
                        <a:pt x="196850" y="11428"/>
                      </a:cubicBezTo>
                      <a:cubicBezTo>
                        <a:pt x="196850" y="5000"/>
                        <a:pt x="202569" y="0"/>
                        <a:pt x="209003"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grpSp>
        </p:grpSp>
      </p:grpSp>
      <p:sp>
        <p:nvSpPr>
          <p:cNvPr id="195" name="Oval 20">
            <a:extLst>
              <a:ext uri="{FF2B5EF4-FFF2-40B4-BE49-F238E27FC236}">
                <a16:creationId xmlns:a16="http://schemas.microsoft.com/office/drawing/2014/main" id="{8CFB4E3E-C36D-DCE7-F564-212EC0E6C2EF}"/>
              </a:ext>
            </a:extLst>
          </p:cNvPr>
          <p:cNvSpPr>
            <a:spLocks noChangeAspect="1" noChangeArrowheads="1"/>
          </p:cNvSpPr>
          <p:nvPr/>
        </p:nvSpPr>
        <p:spPr bwMode="auto">
          <a:xfrm>
            <a:off x="199086" y="648288"/>
            <a:ext cx="306910" cy="306910"/>
          </a:xfrm>
          <a:prstGeom prst="ellipse">
            <a:avLst/>
          </a:prstGeom>
          <a:solidFill>
            <a:srgbClr val="03522D"/>
          </a:solidFill>
          <a:ln>
            <a:noFill/>
          </a:ln>
        </p:spPr>
        <p:txBody>
          <a:bodyPr vert="horz" wrap="square" lIns="0" tIns="0" rIns="0" bIns="0" numCol="1" anchor="ctr" anchorCtr="0" compatLnSpc="1">
            <a:prstTxWarp prst="textNoShape">
              <a:avLst/>
            </a:prstTxWarp>
          </a:bodyPr>
          <a:lstStyle/>
          <a:p>
            <a:pPr algn="ctr"/>
            <a:r>
              <a:rPr lang="en-US" sz="1400" b="1">
                <a:solidFill>
                  <a:srgbClr val="FFFFFF"/>
                </a:solidFill>
              </a:rPr>
              <a:t>1</a:t>
            </a:r>
          </a:p>
        </p:txBody>
      </p:sp>
      <p:grpSp>
        <p:nvGrpSpPr>
          <p:cNvPr id="204" name="Group 21">
            <a:extLst>
              <a:ext uri="{FF2B5EF4-FFF2-40B4-BE49-F238E27FC236}">
                <a16:creationId xmlns:a16="http://schemas.microsoft.com/office/drawing/2014/main" id="{D67D5C70-BA1B-9F09-5C06-80A439D91CB6}"/>
              </a:ext>
            </a:extLst>
          </p:cNvPr>
          <p:cNvGrpSpPr/>
          <p:nvPr/>
        </p:nvGrpSpPr>
        <p:grpSpPr>
          <a:xfrm rot="10800000">
            <a:off x="4895869" y="1659177"/>
            <a:ext cx="742183" cy="4025902"/>
            <a:chOff x="8199121" y="2556887"/>
            <a:chExt cx="1090023" cy="4536398"/>
          </a:xfrm>
        </p:grpSpPr>
        <p:sp>
          <p:nvSpPr>
            <p:cNvPr id="205" name="Isosceles Triangle 22">
              <a:extLst>
                <a:ext uri="{FF2B5EF4-FFF2-40B4-BE49-F238E27FC236}">
                  <a16:creationId xmlns:a16="http://schemas.microsoft.com/office/drawing/2014/main" id="{A9FA2A09-9FAD-080E-A1D7-DA72DE014B4F}"/>
                </a:ext>
              </a:extLst>
            </p:cNvPr>
            <p:cNvSpPr/>
            <p:nvPr/>
          </p:nvSpPr>
          <p:spPr>
            <a:xfrm rot="5400000">
              <a:off x="6614545" y="4418687"/>
              <a:ext cx="4536397" cy="812800"/>
            </a:xfrm>
            <a:prstGeom prst="triangle">
              <a:avLst/>
            </a:prstGeom>
            <a:gradFill flip="none" rotWithShape="1">
              <a:gsLst>
                <a:gs pos="0">
                  <a:schemeClr val="accent4">
                    <a:lumMod val="20000"/>
                    <a:lumOff val="80000"/>
                    <a:alpha val="0"/>
                  </a:schemeClr>
                </a:gs>
                <a:gs pos="100000">
                  <a:schemeClr val="accent4">
                    <a:lumMod val="40000"/>
                    <a:lumOff val="60000"/>
                  </a:schemeClr>
                </a:gs>
              </a:gsLst>
              <a:lin ang="16200000" scaled="1"/>
              <a:tileRect/>
            </a:gradFill>
            <a:ln w="12700" cap="rnd">
              <a:gradFill flip="none" rotWithShape="1">
                <a:gsLst>
                  <a:gs pos="0">
                    <a:schemeClr val="accent1">
                      <a:lumMod val="5000"/>
                      <a:lumOff val="95000"/>
                      <a:alpha val="0"/>
                    </a:schemeClr>
                  </a:gs>
                  <a:gs pos="100000">
                    <a:schemeClr val="accent4"/>
                  </a:gs>
                </a:gsLst>
                <a:lin ang="16200000" scaled="1"/>
                <a:tileRect/>
              </a:gra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spcAft>
                  <a:spcPts val="1000"/>
                </a:spcAft>
              </a:pPr>
              <a:endParaRPr lang="en-US" sz="1200" err="1">
                <a:solidFill>
                  <a:schemeClr val="bg1"/>
                </a:solidFill>
                <a:ea typeface="Microsoft YaHei" panose="020B0503020204020204" pitchFamily="34" charset="-122"/>
                <a:cs typeface="+mn-ea"/>
                <a:sym typeface="+mn-lt"/>
              </a:endParaRPr>
            </a:p>
          </p:txBody>
        </p:sp>
        <p:sp>
          <p:nvSpPr>
            <p:cNvPr id="206" name="Isosceles Triangle 23">
              <a:extLst>
                <a:ext uri="{FF2B5EF4-FFF2-40B4-BE49-F238E27FC236}">
                  <a16:creationId xmlns:a16="http://schemas.microsoft.com/office/drawing/2014/main" id="{16379588-A60B-604D-7ACC-2251DCF98776}"/>
                </a:ext>
              </a:extLst>
            </p:cNvPr>
            <p:cNvSpPr/>
            <p:nvPr/>
          </p:nvSpPr>
          <p:spPr>
            <a:xfrm rot="5400000">
              <a:off x="6337322" y="4418686"/>
              <a:ext cx="4536397" cy="812800"/>
            </a:xfrm>
            <a:prstGeom prst="triangle">
              <a:avLst/>
            </a:prstGeom>
            <a:gradFill flip="none" rotWithShape="1">
              <a:gsLst>
                <a:gs pos="0">
                  <a:schemeClr val="accent4">
                    <a:lumMod val="20000"/>
                    <a:lumOff val="80000"/>
                    <a:alpha val="0"/>
                  </a:schemeClr>
                </a:gs>
                <a:gs pos="100000">
                  <a:schemeClr val="accent4">
                    <a:lumMod val="40000"/>
                    <a:lumOff val="60000"/>
                  </a:schemeClr>
                </a:gs>
              </a:gsLst>
              <a:lin ang="16200000" scaled="1"/>
              <a:tileRect/>
            </a:gradFill>
            <a:ln w="12700" cap="rnd">
              <a:gradFill flip="none" rotWithShape="1">
                <a:gsLst>
                  <a:gs pos="0">
                    <a:schemeClr val="accent1">
                      <a:lumMod val="5000"/>
                      <a:lumOff val="95000"/>
                      <a:alpha val="0"/>
                    </a:schemeClr>
                  </a:gs>
                  <a:gs pos="100000">
                    <a:schemeClr val="accent4"/>
                  </a:gs>
                </a:gsLst>
                <a:lin ang="16200000" scaled="1"/>
                <a:tileRect/>
              </a:gra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spcAft>
                  <a:spcPts val="1000"/>
                </a:spcAft>
              </a:pPr>
              <a:endParaRPr lang="en-US" sz="1200" err="1">
                <a:solidFill>
                  <a:schemeClr val="bg1"/>
                </a:solidFill>
                <a:ea typeface="Microsoft YaHei" panose="020B0503020204020204" pitchFamily="34" charset="-122"/>
                <a:cs typeface="+mn-ea"/>
                <a:sym typeface="+mn-lt"/>
              </a:endParaRPr>
            </a:p>
          </p:txBody>
        </p:sp>
      </p:grpSp>
      <p:grpSp>
        <p:nvGrpSpPr>
          <p:cNvPr id="227" name="Group 226">
            <a:extLst>
              <a:ext uri="{FF2B5EF4-FFF2-40B4-BE49-F238E27FC236}">
                <a16:creationId xmlns:a16="http://schemas.microsoft.com/office/drawing/2014/main" id="{0B37F715-080D-69D5-99FA-B31BC480833D}"/>
              </a:ext>
            </a:extLst>
          </p:cNvPr>
          <p:cNvGrpSpPr/>
          <p:nvPr/>
        </p:nvGrpSpPr>
        <p:grpSpPr>
          <a:xfrm>
            <a:off x="6175610" y="3084404"/>
            <a:ext cx="486125" cy="485655"/>
            <a:chOff x="12338309" y="3257886"/>
            <a:chExt cx="514134" cy="514135"/>
          </a:xfrm>
        </p:grpSpPr>
        <p:sp>
          <p:nvSpPr>
            <p:cNvPr id="226" name="Oval 225">
              <a:extLst>
                <a:ext uri="{FF2B5EF4-FFF2-40B4-BE49-F238E27FC236}">
                  <a16:creationId xmlns:a16="http://schemas.microsoft.com/office/drawing/2014/main" id="{DF1EC0CD-5333-DFDC-C606-D0F3191D09E2}"/>
                </a:ext>
              </a:extLst>
            </p:cNvPr>
            <p:cNvSpPr/>
            <p:nvPr>
              <p:custDataLst>
                <p:tags r:id="rId10"/>
              </p:custDataLst>
            </p:nvPr>
          </p:nvSpPr>
          <p:spPr>
            <a:xfrm>
              <a:off x="12338309" y="3257886"/>
              <a:ext cx="514134" cy="514135"/>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a:solidFill>
                  <a:schemeClr val="bg1">
                    <a:lumMod val="50000"/>
                  </a:schemeClr>
                </a:solidFill>
              </a:endParaRPr>
            </a:p>
          </p:txBody>
        </p:sp>
        <p:grpSp>
          <p:nvGrpSpPr>
            <p:cNvPr id="207" name="bcgIcons_Purchase ">
              <a:extLst>
                <a:ext uri="{FF2B5EF4-FFF2-40B4-BE49-F238E27FC236}">
                  <a16:creationId xmlns:a16="http://schemas.microsoft.com/office/drawing/2014/main" id="{E5D744FB-34C9-C19E-4962-645DCD3C1718}"/>
                </a:ext>
              </a:extLst>
            </p:cNvPr>
            <p:cNvGrpSpPr>
              <a:grpSpLocks noChangeAspect="1"/>
            </p:cNvGrpSpPr>
            <p:nvPr/>
          </p:nvGrpSpPr>
          <p:grpSpPr>
            <a:xfrm>
              <a:off x="12413602" y="3333179"/>
              <a:ext cx="363548" cy="363548"/>
              <a:chOff x="5273675" y="2606675"/>
              <a:chExt cx="1644650" cy="1644650"/>
            </a:xfrm>
          </p:grpSpPr>
          <p:sp>
            <p:nvSpPr>
              <p:cNvPr id="208" name="AutoShape 3">
                <a:extLst>
                  <a:ext uri="{FF2B5EF4-FFF2-40B4-BE49-F238E27FC236}">
                    <a16:creationId xmlns:a16="http://schemas.microsoft.com/office/drawing/2014/main" id="{08D43580-CA05-3B04-5AAD-3532FBED7192}"/>
                  </a:ext>
                </a:extLst>
              </p:cNvPr>
              <p:cNvSpPr>
                <a:spLocks noChangeAspect="1" noChangeArrowheads="1" noTextEdit="1"/>
              </p:cNvSpPr>
              <p:nvPr/>
            </p:nvSpPr>
            <p:spPr bwMode="auto">
              <a:xfrm>
                <a:off x="5273675" y="2606675"/>
                <a:ext cx="1644650" cy="1644650"/>
              </a:xfrm>
              <a:prstGeom prst="rect">
                <a:avLst/>
              </a:prstGeom>
              <a:noFill/>
              <a:ln>
                <a:noFill/>
              </a:ln>
              <a:extLst>
                <a:ext uri="{909E8E84-426E-40DD-AFC4-6F175D3DCCD1}">
                  <a14:hiddenFill xmlns:a14="http://schemas.microsoft.com/office/drawing/2010/main">
                    <a:solidFill>
                      <a:srgbClr val="D4DF33"/>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209" name="Group 208">
                <a:extLst>
                  <a:ext uri="{FF2B5EF4-FFF2-40B4-BE49-F238E27FC236}">
                    <a16:creationId xmlns:a16="http://schemas.microsoft.com/office/drawing/2014/main" id="{458CB004-DFD0-D1B8-D88F-379B81BB90BA}"/>
                  </a:ext>
                </a:extLst>
              </p:cNvPr>
              <p:cNvGrpSpPr/>
              <p:nvPr/>
            </p:nvGrpSpPr>
            <p:grpSpPr>
              <a:xfrm>
                <a:off x="5717381" y="2836863"/>
                <a:ext cx="757238" cy="1184275"/>
                <a:chOff x="5713413" y="2830513"/>
                <a:chExt cx="757238" cy="1184275"/>
              </a:xfrm>
            </p:grpSpPr>
            <p:sp>
              <p:nvSpPr>
                <p:cNvPr id="210" name="Freeform 5">
                  <a:extLst>
                    <a:ext uri="{FF2B5EF4-FFF2-40B4-BE49-F238E27FC236}">
                      <a16:creationId xmlns:a16="http://schemas.microsoft.com/office/drawing/2014/main" id="{E91A392A-C61B-27E8-39D4-BF3FC0501433}"/>
                    </a:ext>
                  </a:extLst>
                </p:cNvPr>
                <p:cNvSpPr>
                  <a:spLocks/>
                </p:cNvSpPr>
                <p:nvPr/>
              </p:nvSpPr>
              <p:spPr bwMode="auto">
                <a:xfrm>
                  <a:off x="5883275" y="2830513"/>
                  <a:ext cx="425450" cy="223838"/>
                </a:xfrm>
                <a:custGeom>
                  <a:avLst/>
                  <a:gdLst>
                    <a:gd name="T0" fmla="*/ 509 w 596"/>
                    <a:gd name="T1" fmla="*/ 82 h 314"/>
                    <a:gd name="T2" fmla="*/ 298 w 596"/>
                    <a:gd name="T3" fmla="*/ 0 h 314"/>
                    <a:gd name="T4" fmla="*/ 87 w 596"/>
                    <a:gd name="T5" fmla="*/ 82 h 314"/>
                    <a:gd name="T6" fmla="*/ 0 w 596"/>
                    <a:gd name="T7" fmla="*/ 314 h 314"/>
                    <a:gd name="T8" fmla="*/ 0 w 596"/>
                    <a:gd name="T9" fmla="*/ 314 h 314"/>
                    <a:gd name="T10" fmla="*/ 44 w 596"/>
                    <a:gd name="T11" fmla="*/ 314 h 314"/>
                    <a:gd name="T12" fmla="*/ 44 w 596"/>
                    <a:gd name="T13" fmla="*/ 314 h 314"/>
                    <a:gd name="T14" fmla="*/ 298 w 596"/>
                    <a:gd name="T15" fmla="*/ 44 h 314"/>
                    <a:gd name="T16" fmla="*/ 552 w 596"/>
                    <a:gd name="T17" fmla="*/ 314 h 314"/>
                    <a:gd name="T18" fmla="*/ 552 w 596"/>
                    <a:gd name="T19" fmla="*/ 314 h 314"/>
                    <a:gd name="T20" fmla="*/ 596 w 596"/>
                    <a:gd name="T21" fmla="*/ 314 h 314"/>
                    <a:gd name="T22" fmla="*/ 596 w 596"/>
                    <a:gd name="T23" fmla="*/ 314 h 314"/>
                    <a:gd name="T24" fmla="*/ 509 w 596"/>
                    <a:gd name="T25" fmla="*/ 82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6" h="314">
                      <a:moveTo>
                        <a:pt x="509" y="82"/>
                      </a:moveTo>
                      <a:cubicBezTo>
                        <a:pt x="455" y="29"/>
                        <a:pt x="381" y="0"/>
                        <a:pt x="298" y="0"/>
                      </a:cubicBezTo>
                      <a:cubicBezTo>
                        <a:pt x="215" y="0"/>
                        <a:pt x="141" y="29"/>
                        <a:pt x="87" y="82"/>
                      </a:cubicBezTo>
                      <a:cubicBezTo>
                        <a:pt x="30" y="138"/>
                        <a:pt x="0" y="218"/>
                        <a:pt x="0" y="314"/>
                      </a:cubicBezTo>
                      <a:cubicBezTo>
                        <a:pt x="0" y="314"/>
                        <a:pt x="0" y="314"/>
                        <a:pt x="0" y="314"/>
                      </a:cubicBezTo>
                      <a:cubicBezTo>
                        <a:pt x="44" y="314"/>
                        <a:pt x="44" y="314"/>
                        <a:pt x="44" y="314"/>
                      </a:cubicBezTo>
                      <a:cubicBezTo>
                        <a:pt x="44" y="314"/>
                        <a:pt x="44" y="314"/>
                        <a:pt x="44" y="314"/>
                      </a:cubicBezTo>
                      <a:cubicBezTo>
                        <a:pt x="44" y="150"/>
                        <a:pt x="144" y="44"/>
                        <a:pt x="298" y="44"/>
                      </a:cubicBezTo>
                      <a:cubicBezTo>
                        <a:pt x="452" y="44"/>
                        <a:pt x="552" y="150"/>
                        <a:pt x="552" y="314"/>
                      </a:cubicBezTo>
                      <a:cubicBezTo>
                        <a:pt x="552" y="314"/>
                        <a:pt x="552" y="314"/>
                        <a:pt x="552" y="314"/>
                      </a:cubicBezTo>
                      <a:cubicBezTo>
                        <a:pt x="596" y="314"/>
                        <a:pt x="596" y="314"/>
                        <a:pt x="596" y="314"/>
                      </a:cubicBezTo>
                      <a:cubicBezTo>
                        <a:pt x="596" y="314"/>
                        <a:pt x="596" y="314"/>
                        <a:pt x="596" y="314"/>
                      </a:cubicBezTo>
                      <a:cubicBezTo>
                        <a:pt x="596" y="218"/>
                        <a:pt x="566" y="138"/>
                        <a:pt x="509" y="8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 name="Freeform 6">
                  <a:extLst>
                    <a:ext uri="{FF2B5EF4-FFF2-40B4-BE49-F238E27FC236}">
                      <a16:creationId xmlns:a16="http://schemas.microsoft.com/office/drawing/2014/main" id="{9CFB6E89-CFA7-729B-E8EF-A3B335A7867C}"/>
                    </a:ext>
                  </a:extLst>
                </p:cNvPr>
                <p:cNvSpPr>
                  <a:spLocks noEditPoints="1"/>
                </p:cNvSpPr>
                <p:nvPr/>
              </p:nvSpPr>
              <p:spPr bwMode="auto">
                <a:xfrm>
                  <a:off x="5713413" y="3086100"/>
                  <a:ext cx="757238" cy="928688"/>
                </a:xfrm>
                <a:custGeom>
                  <a:avLst/>
                  <a:gdLst>
                    <a:gd name="T0" fmla="*/ 1020 w 1060"/>
                    <a:gd name="T1" fmla="*/ 22 h 1301"/>
                    <a:gd name="T2" fmla="*/ 998 w 1060"/>
                    <a:gd name="T3" fmla="*/ 0 h 1301"/>
                    <a:gd name="T4" fmla="*/ 62 w 1060"/>
                    <a:gd name="T5" fmla="*/ 0 h 1301"/>
                    <a:gd name="T6" fmla="*/ 40 w 1060"/>
                    <a:gd name="T7" fmla="*/ 22 h 1301"/>
                    <a:gd name="T8" fmla="*/ 0 w 1060"/>
                    <a:gd name="T9" fmla="*/ 1279 h 1301"/>
                    <a:gd name="T10" fmla="*/ 22 w 1060"/>
                    <a:gd name="T11" fmla="*/ 1301 h 1301"/>
                    <a:gd name="T12" fmla="*/ 1038 w 1060"/>
                    <a:gd name="T13" fmla="*/ 1301 h 1301"/>
                    <a:gd name="T14" fmla="*/ 1060 w 1060"/>
                    <a:gd name="T15" fmla="*/ 1279 h 1301"/>
                    <a:gd name="T16" fmla="*/ 1020 w 1060"/>
                    <a:gd name="T17" fmla="*/ 22 h 1301"/>
                    <a:gd name="T18" fmla="*/ 622 w 1060"/>
                    <a:gd name="T19" fmla="*/ 800 h 1301"/>
                    <a:gd name="T20" fmla="*/ 557 w 1060"/>
                    <a:gd name="T21" fmla="*/ 837 h 1301"/>
                    <a:gd name="T22" fmla="*/ 557 w 1060"/>
                    <a:gd name="T23" fmla="*/ 898 h 1301"/>
                    <a:gd name="T24" fmla="*/ 497 w 1060"/>
                    <a:gd name="T25" fmla="*/ 898 h 1301"/>
                    <a:gd name="T26" fmla="*/ 497 w 1060"/>
                    <a:gd name="T27" fmla="*/ 842 h 1301"/>
                    <a:gd name="T28" fmla="*/ 414 w 1060"/>
                    <a:gd name="T29" fmla="*/ 815 h 1301"/>
                    <a:gd name="T30" fmla="*/ 439 w 1060"/>
                    <a:gd name="T31" fmla="*/ 754 h 1301"/>
                    <a:gd name="T32" fmla="*/ 518 w 1060"/>
                    <a:gd name="T33" fmla="*/ 782 h 1301"/>
                    <a:gd name="T34" fmla="*/ 578 w 1060"/>
                    <a:gd name="T35" fmla="*/ 741 h 1301"/>
                    <a:gd name="T36" fmla="*/ 563 w 1060"/>
                    <a:gd name="T37" fmla="*/ 702 h 1301"/>
                    <a:gd name="T38" fmla="*/ 505 w 1060"/>
                    <a:gd name="T39" fmla="*/ 662 h 1301"/>
                    <a:gd name="T40" fmla="*/ 447 w 1060"/>
                    <a:gd name="T41" fmla="*/ 627 h 1301"/>
                    <a:gd name="T42" fmla="*/ 423 w 1060"/>
                    <a:gd name="T43" fmla="*/ 593 h 1301"/>
                    <a:gd name="T44" fmla="*/ 415 w 1060"/>
                    <a:gd name="T45" fmla="*/ 549 h 1301"/>
                    <a:gd name="T46" fmla="*/ 437 w 1060"/>
                    <a:gd name="T47" fmla="*/ 487 h 1301"/>
                    <a:gd name="T48" fmla="*/ 497 w 1060"/>
                    <a:gd name="T49" fmla="*/ 450 h 1301"/>
                    <a:gd name="T50" fmla="*/ 497 w 1060"/>
                    <a:gd name="T51" fmla="*/ 403 h 1301"/>
                    <a:gd name="T52" fmla="*/ 557 w 1060"/>
                    <a:gd name="T53" fmla="*/ 403 h 1301"/>
                    <a:gd name="T54" fmla="*/ 557 w 1060"/>
                    <a:gd name="T55" fmla="*/ 448 h 1301"/>
                    <a:gd name="T56" fmla="*/ 628 w 1060"/>
                    <a:gd name="T57" fmla="*/ 471 h 1301"/>
                    <a:gd name="T58" fmla="*/ 608 w 1060"/>
                    <a:gd name="T59" fmla="*/ 530 h 1301"/>
                    <a:gd name="T60" fmla="*/ 532 w 1060"/>
                    <a:gd name="T61" fmla="*/ 504 h 1301"/>
                    <a:gd name="T62" fmla="*/ 496 w 1060"/>
                    <a:gd name="T63" fmla="*/ 517 h 1301"/>
                    <a:gd name="T64" fmla="*/ 483 w 1060"/>
                    <a:gd name="T65" fmla="*/ 549 h 1301"/>
                    <a:gd name="T66" fmla="*/ 556 w 1060"/>
                    <a:gd name="T67" fmla="*/ 617 h 1301"/>
                    <a:gd name="T68" fmla="*/ 611 w 1060"/>
                    <a:gd name="T69" fmla="*/ 652 h 1301"/>
                    <a:gd name="T70" fmla="*/ 637 w 1060"/>
                    <a:gd name="T71" fmla="*/ 689 h 1301"/>
                    <a:gd name="T72" fmla="*/ 646 w 1060"/>
                    <a:gd name="T73" fmla="*/ 736 h 1301"/>
                    <a:gd name="T74" fmla="*/ 622 w 1060"/>
                    <a:gd name="T75" fmla="*/ 800 h 1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60" h="1301">
                      <a:moveTo>
                        <a:pt x="1020" y="22"/>
                      </a:moveTo>
                      <a:cubicBezTo>
                        <a:pt x="1020" y="10"/>
                        <a:pt x="1010" y="0"/>
                        <a:pt x="998" y="0"/>
                      </a:cubicBezTo>
                      <a:cubicBezTo>
                        <a:pt x="62" y="0"/>
                        <a:pt x="62" y="0"/>
                        <a:pt x="62" y="0"/>
                      </a:cubicBezTo>
                      <a:cubicBezTo>
                        <a:pt x="50" y="0"/>
                        <a:pt x="40" y="10"/>
                        <a:pt x="40" y="22"/>
                      </a:cubicBezTo>
                      <a:cubicBezTo>
                        <a:pt x="0" y="1279"/>
                        <a:pt x="0" y="1279"/>
                        <a:pt x="0" y="1279"/>
                      </a:cubicBezTo>
                      <a:cubicBezTo>
                        <a:pt x="0" y="1291"/>
                        <a:pt x="10" y="1301"/>
                        <a:pt x="22" y="1301"/>
                      </a:cubicBezTo>
                      <a:cubicBezTo>
                        <a:pt x="1038" y="1301"/>
                        <a:pt x="1038" y="1301"/>
                        <a:pt x="1038" y="1301"/>
                      </a:cubicBezTo>
                      <a:cubicBezTo>
                        <a:pt x="1050" y="1301"/>
                        <a:pt x="1060" y="1291"/>
                        <a:pt x="1060" y="1279"/>
                      </a:cubicBezTo>
                      <a:lnTo>
                        <a:pt x="1020" y="22"/>
                      </a:lnTo>
                      <a:close/>
                      <a:moveTo>
                        <a:pt x="622" y="800"/>
                      </a:moveTo>
                      <a:cubicBezTo>
                        <a:pt x="607" y="818"/>
                        <a:pt x="585" y="831"/>
                        <a:pt x="557" y="837"/>
                      </a:cubicBezTo>
                      <a:cubicBezTo>
                        <a:pt x="557" y="898"/>
                        <a:pt x="557" y="898"/>
                        <a:pt x="557" y="898"/>
                      </a:cubicBezTo>
                      <a:cubicBezTo>
                        <a:pt x="497" y="898"/>
                        <a:pt x="497" y="898"/>
                        <a:pt x="497" y="898"/>
                      </a:cubicBezTo>
                      <a:cubicBezTo>
                        <a:pt x="497" y="842"/>
                        <a:pt x="497" y="842"/>
                        <a:pt x="497" y="842"/>
                      </a:cubicBezTo>
                      <a:cubicBezTo>
                        <a:pt x="467" y="840"/>
                        <a:pt x="439" y="831"/>
                        <a:pt x="414" y="815"/>
                      </a:cubicBezTo>
                      <a:cubicBezTo>
                        <a:pt x="439" y="754"/>
                        <a:pt x="439" y="754"/>
                        <a:pt x="439" y="754"/>
                      </a:cubicBezTo>
                      <a:cubicBezTo>
                        <a:pt x="466" y="773"/>
                        <a:pt x="492" y="782"/>
                        <a:pt x="518" y="782"/>
                      </a:cubicBezTo>
                      <a:cubicBezTo>
                        <a:pt x="558" y="782"/>
                        <a:pt x="578" y="769"/>
                        <a:pt x="578" y="741"/>
                      </a:cubicBezTo>
                      <a:cubicBezTo>
                        <a:pt x="578" y="727"/>
                        <a:pt x="573" y="714"/>
                        <a:pt x="563" y="702"/>
                      </a:cubicBezTo>
                      <a:cubicBezTo>
                        <a:pt x="553" y="690"/>
                        <a:pt x="533" y="677"/>
                        <a:pt x="505" y="662"/>
                      </a:cubicBezTo>
                      <a:cubicBezTo>
                        <a:pt x="476" y="648"/>
                        <a:pt x="457" y="636"/>
                        <a:pt x="447" y="627"/>
                      </a:cubicBezTo>
                      <a:cubicBezTo>
                        <a:pt x="436" y="617"/>
                        <a:pt x="429" y="606"/>
                        <a:pt x="423" y="593"/>
                      </a:cubicBezTo>
                      <a:cubicBezTo>
                        <a:pt x="418" y="580"/>
                        <a:pt x="415" y="566"/>
                        <a:pt x="415" y="549"/>
                      </a:cubicBezTo>
                      <a:cubicBezTo>
                        <a:pt x="415" y="526"/>
                        <a:pt x="422" y="505"/>
                        <a:pt x="437" y="487"/>
                      </a:cubicBezTo>
                      <a:cubicBezTo>
                        <a:pt x="452" y="469"/>
                        <a:pt x="472" y="456"/>
                        <a:pt x="497" y="450"/>
                      </a:cubicBezTo>
                      <a:cubicBezTo>
                        <a:pt x="497" y="403"/>
                        <a:pt x="497" y="403"/>
                        <a:pt x="497" y="403"/>
                      </a:cubicBezTo>
                      <a:cubicBezTo>
                        <a:pt x="557" y="403"/>
                        <a:pt x="557" y="403"/>
                        <a:pt x="557" y="403"/>
                      </a:cubicBezTo>
                      <a:cubicBezTo>
                        <a:pt x="557" y="448"/>
                        <a:pt x="557" y="448"/>
                        <a:pt x="557" y="448"/>
                      </a:cubicBezTo>
                      <a:cubicBezTo>
                        <a:pt x="589" y="451"/>
                        <a:pt x="613" y="459"/>
                        <a:pt x="628" y="471"/>
                      </a:cubicBezTo>
                      <a:cubicBezTo>
                        <a:pt x="608" y="530"/>
                        <a:pt x="608" y="530"/>
                        <a:pt x="608" y="530"/>
                      </a:cubicBezTo>
                      <a:cubicBezTo>
                        <a:pt x="584" y="513"/>
                        <a:pt x="559" y="504"/>
                        <a:pt x="532" y="504"/>
                      </a:cubicBezTo>
                      <a:cubicBezTo>
                        <a:pt x="517" y="504"/>
                        <a:pt x="504" y="508"/>
                        <a:pt x="496" y="517"/>
                      </a:cubicBezTo>
                      <a:cubicBezTo>
                        <a:pt x="487" y="525"/>
                        <a:pt x="483" y="536"/>
                        <a:pt x="483" y="549"/>
                      </a:cubicBezTo>
                      <a:cubicBezTo>
                        <a:pt x="483" y="571"/>
                        <a:pt x="507" y="594"/>
                        <a:pt x="556" y="617"/>
                      </a:cubicBezTo>
                      <a:cubicBezTo>
                        <a:pt x="581" y="630"/>
                        <a:pt x="600" y="642"/>
                        <a:pt x="611" y="652"/>
                      </a:cubicBezTo>
                      <a:cubicBezTo>
                        <a:pt x="623" y="663"/>
                        <a:pt x="631" y="675"/>
                        <a:pt x="637" y="689"/>
                      </a:cubicBezTo>
                      <a:cubicBezTo>
                        <a:pt x="643" y="703"/>
                        <a:pt x="646" y="719"/>
                        <a:pt x="646" y="736"/>
                      </a:cubicBezTo>
                      <a:cubicBezTo>
                        <a:pt x="646" y="760"/>
                        <a:pt x="638" y="782"/>
                        <a:pt x="622" y="80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grpSp>
        <p:nvGrpSpPr>
          <p:cNvPr id="229" name="Group 228">
            <a:extLst>
              <a:ext uri="{FF2B5EF4-FFF2-40B4-BE49-F238E27FC236}">
                <a16:creationId xmlns:a16="http://schemas.microsoft.com/office/drawing/2014/main" id="{BA269E4C-8399-3A91-D6CF-783CDAC4C936}"/>
              </a:ext>
            </a:extLst>
          </p:cNvPr>
          <p:cNvGrpSpPr/>
          <p:nvPr/>
        </p:nvGrpSpPr>
        <p:grpSpPr>
          <a:xfrm>
            <a:off x="6175610" y="3771509"/>
            <a:ext cx="486125" cy="485655"/>
            <a:chOff x="12464645" y="4732452"/>
            <a:chExt cx="514631" cy="514631"/>
          </a:xfrm>
        </p:grpSpPr>
        <p:sp>
          <p:nvSpPr>
            <p:cNvPr id="228" name="Oval 227">
              <a:extLst>
                <a:ext uri="{FF2B5EF4-FFF2-40B4-BE49-F238E27FC236}">
                  <a16:creationId xmlns:a16="http://schemas.microsoft.com/office/drawing/2014/main" id="{611F428C-A443-36FE-909D-B204A513F0D8}"/>
                </a:ext>
              </a:extLst>
            </p:cNvPr>
            <p:cNvSpPr/>
            <p:nvPr>
              <p:custDataLst>
                <p:tags r:id="rId9"/>
              </p:custDataLst>
            </p:nvPr>
          </p:nvSpPr>
          <p:spPr>
            <a:xfrm>
              <a:off x="12464645" y="4732452"/>
              <a:ext cx="514631" cy="514631"/>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a:solidFill>
                  <a:schemeClr val="bg1">
                    <a:lumMod val="50000"/>
                  </a:schemeClr>
                </a:solidFill>
              </a:endParaRPr>
            </a:p>
          </p:txBody>
        </p:sp>
        <p:grpSp>
          <p:nvGrpSpPr>
            <p:cNvPr id="212" name="bcgIcons_Debit/credit cards 3">
              <a:extLst>
                <a:ext uri="{FF2B5EF4-FFF2-40B4-BE49-F238E27FC236}">
                  <a16:creationId xmlns:a16="http://schemas.microsoft.com/office/drawing/2014/main" id="{1183B646-7D13-1966-539F-AC00E7B73B5B}"/>
                </a:ext>
              </a:extLst>
            </p:cNvPr>
            <p:cNvGrpSpPr>
              <a:grpSpLocks noChangeAspect="1"/>
            </p:cNvGrpSpPr>
            <p:nvPr/>
          </p:nvGrpSpPr>
          <p:grpSpPr>
            <a:xfrm>
              <a:off x="12540011" y="4807818"/>
              <a:ext cx="363899" cy="363899"/>
              <a:chOff x="7813675" y="2606675"/>
              <a:chExt cx="1646238" cy="1646238"/>
            </a:xfrm>
          </p:grpSpPr>
          <p:sp>
            <p:nvSpPr>
              <p:cNvPr id="213" name="AutoShape 3">
                <a:extLst>
                  <a:ext uri="{FF2B5EF4-FFF2-40B4-BE49-F238E27FC236}">
                    <a16:creationId xmlns:a16="http://schemas.microsoft.com/office/drawing/2014/main" id="{B5762814-DE15-651D-8E36-D58387BC467D}"/>
                  </a:ext>
                </a:extLst>
              </p:cNvPr>
              <p:cNvSpPr>
                <a:spLocks noChangeAspect="1" noChangeArrowheads="1" noTextEdit="1"/>
              </p:cNvSpPr>
              <p:nvPr/>
            </p:nvSpPr>
            <p:spPr bwMode="auto">
              <a:xfrm>
                <a:off x="7813675" y="2606675"/>
                <a:ext cx="1646238" cy="1646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214" name="Group 213">
                <a:extLst>
                  <a:ext uri="{FF2B5EF4-FFF2-40B4-BE49-F238E27FC236}">
                    <a16:creationId xmlns:a16="http://schemas.microsoft.com/office/drawing/2014/main" id="{9E7CB3C4-885E-9BE5-7E97-074E32741DD4}"/>
                  </a:ext>
                </a:extLst>
              </p:cNvPr>
              <p:cNvGrpSpPr/>
              <p:nvPr/>
            </p:nvGrpSpPr>
            <p:grpSpPr>
              <a:xfrm>
                <a:off x="7983538" y="3027362"/>
                <a:ext cx="1304925" cy="806450"/>
                <a:chOff x="7983538" y="3027362"/>
                <a:chExt cx="1304925" cy="806450"/>
              </a:xfrm>
            </p:grpSpPr>
            <p:sp>
              <p:nvSpPr>
                <p:cNvPr id="215" name="Freeform 11">
                  <a:extLst>
                    <a:ext uri="{FF2B5EF4-FFF2-40B4-BE49-F238E27FC236}">
                      <a16:creationId xmlns:a16="http://schemas.microsoft.com/office/drawing/2014/main" id="{CEE89FA3-2F9E-B838-1D7C-2C9B69F52368}"/>
                    </a:ext>
                  </a:extLst>
                </p:cNvPr>
                <p:cNvSpPr>
                  <a:spLocks/>
                </p:cNvSpPr>
                <p:nvPr/>
              </p:nvSpPr>
              <p:spPr bwMode="auto">
                <a:xfrm>
                  <a:off x="7983538" y="3027362"/>
                  <a:ext cx="1304925" cy="806450"/>
                </a:xfrm>
                <a:custGeom>
                  <a:avLst/>
                  <a:gdLst>
                    <a:gd name="connsiteX0" fmla="*/ 945357 w 1304925"/>
                    <a:gd name="connsiteY0" fmla="*/ 503237 h 806450"/>
                    <a:gd name="connsiteX1" fmla="*/ 979489 w 1304925"/>
                    <a:gd name="connsiteY1" fmla="*/ 538956 h 806450"/>
                    <a:gd name="connsiteX2" fmla="*/ 945357 w 1304925"/>
                    <a:gd name="connsiteY2" fmla="*/ 574675 h 806450"/>
                    <a:gd name="connsiteX3" fmla="*/ 911225 w 1304925"/>
                    <a:gd name="connsiteY3" fmla="*/ 538956 h 806450"/>
                    <a:gd name="connsiteX4" fmla="*/ 945357 w 1304925"/>
                    <a:gd name="connsiteY4" fmla="*/ 503237 h 806450"/>
                    <a:gd name="connsiteX5" fmla="*/ 993419 w 1304925"/>
                    <a:gd name="connsiteY5" fmla="*/ 456175 h 806450"/>
                    <a:gd name="connsiteX6" fmla="*/ 1006491 w 1304925"/>
                    <a:gd name="connsiteY6" fmla="*/ 460476 h 806450"/>
                    <a:gd name="connsiteX7" fmla="*/ 1042987 w 1304925"/>
                    <a:gd name="connsiteY7" fmla="*/ 538598 h 806450"/>
                    <a:gd name="connsiteX8" fmla="*/ 1006491 w 1304925"/>
                    <a:gd name="connsiteY8" fmla="*/ 617438 h 806450"/>
                    <a:gd name="connsiteX9" fmla="*/ 981927 w 1304925"/>
                    <a:gd name="connsiteY9" fmla="*/ 614571 h 806450"/>
                    <a:gd name="connsiteX10" fmla="*/ 977716 w 1304925"/>
                    <a:gd name="connsiteY10" fmla="*/ 603820 h 806450"/>
                    <a:gd name="connsiteX11" fmla="*/ 984734 w 1304925"/>
                    <a:gd name="connsiteY11" fmla="*/ 589485 h 806450"/>
                    <a:gd name="connsiteX12" fmla="*/ 1007895 w 1304925"/>
                    <a:gd name="connsiteY12" fmla="*/ 538598 h 806450"/>
                    <a:gd name="connsiteX13" fmla="*/ 984734 w 1304925"/>
                    <a:gd name="connsiteY13" fmla="*/ 487711 h 806450"/>
                    <a:gd name="connsiteX14" fmla="*/ 981927 w 1304925"/>
                    <a:gd name="connsiteY14" fmla="*/ 462626 h 806450"/>
                    <a:gd name="connsiteX15" fmla="*/ 993419 w 1304925"/>
                    <a:gd name="connsiteY15" fmla="*/ 456175 h 806450"/>
                    <a:gd name="connsiteX16" fmla="*/ 1032014 w 1304925"/>
                    <a:gd name="connsiteY16" fmla="*/ 411630 h 806450"/>
                    <a:gd name="connsiteX17" fmla="*/ 1044994 w 1304925"/>
                    <a:gd name="connsiteY17" fmla="*/ 415294 h 806450"/>
                    <a:gd name="connsiteX18" fmla="*/ 1103312 w 1304925"/>
                    <a:gd name="connsiteY18" fmla="*/ 538957 h 806450"/>
                    <a:gd name="connsiteX19" fmla="*/ 1044994 w 1304925"/>
                    <a:gd name="connsiteY19" fmla="*/ 662620 h 806450"/>
                    <a:gd name="connsiteX20" fmla="*/ 1020102 w 1304925"/>
                    <a:gd name="connsiteY20" fmla="*/ 660475 h 806450"/>
                    <a:gd name="connsiteX21" fmla="*/ 1016546 w 1304925"/>
                    <a:gd name="connsiteY21" fmla="*/ 649038 h 806450"/>
                    <a:gd name="connsiteX22" fmla="*/ 1022946 w 1304925"/>
                    <a:gd name="connsiteY22" fmla="*/ 635457 h 806450"/>
                    <a:gd name="connsiteX23" fmla="*/ 1068463 w 1304925"/>
                    <a:gd name="connsiteY23" fmla="*/ 538957 h 806450"/>
                    <a:gd name="connsiteX24" fmla="*/ 1022946 w 1304925"/>
                    <a:gd name="connsiteY24" fmla="*/ 442457 h 806450"/>
                    <a:gd name="connsiteX25" fmla="*/ 1020102 w 1304925"/>
                    <a:gd name="connsiteY25" fmla="*/ 418153 h 806450"/>
                    <a:gd name="connsiteX26" fmla="*/ 1032014 w 1304925"/>
                    <a:gd name="connsiteY26" fmla="*/ 411630 h 806450"/>
                    <a:gd name="connsiteX27" fmla="*/ 1072354 w 1304925"/>
                    <a:gd name="connsiteY27" fmla="*/ 362852 h 806450"/>
                    <a:gd name="connsiteX28" fmla="*/ 1085291 w 1304925"/>
                    <a:gd name="connsiteY28" fmla="*/ 366766 h 806450"/>
                    <a:gd name="connsiteX29" fmla="*/ 1166813 w 1304925"/>
                    <a:gd name="connsiteY29" fmla="*/ 538956 h 806450"/>
                    <a:gd name="connsiteX30" fmla="*/ 1085291 w 1304925"/>
                    <a:gd name="connsiteY30" fmla="*/ 711858 h 806450"/>
                    <a:gd name="connsiteX31" fmla="*/ 1060480 w 1304925"/>
                    <a:gd name="connsiteY31" fmla="*/ 709012 h 806450"/>
                    <a:gd name="connsiteX32" fmla="*/ 1056936 w 1304925"/>
                    <a:gd name="connsiteY32" fmla="*/ 697627 h 806450"/>
                    <a:gd name="connsiteX33" fmla="*/ 1063316 w 1304925"/>
                    <a:gd name="connsiteY33" fmla="*/ 684108 h 806450"/>
                    <a:gd name="connsiteX34" fmla="*/ 1132078 w 1304925"/>
                    <a:gd name="connsiteY34" fmla="*/ 538956 h 806450"/>
                    <a:gd name="connsiteX35" fmla="*/ 1063316 w 1304925"/>
                    <a:gd name="connsiteY35" fmla="*/ 393804 h 806450"/>
                    <a:gd name="connsiteX36" fmla="*/ 1060480 w 1304925"/>
                    <a:gd name="connsiteY36" fmla="*/ 369612 h 806450"/>
                    <a:gd name="connsiteX37" fmla="*/ 1072354 w 1304925"/>
                    <a:gd name="connsiteY37" fmla="*/ 362852 h 806450"/>
                    <a:gd name="connsiteX38" fmla="*/ 86043 w 1304925"/>
                    <a:gd name="connsiteY38" fmla="*/ 31750 h 806450"/>
                    <a:gd name="connsiteX39" fmla="*/ 31750 w 1304925"/>
                    <a:gd name="connsiteY39" fmla="*/ 86043 h 806450"/>
                    <a:gd name="connsiteX40" fmla="*/ 31750 w 1304925"/>
                    <a:gd name="connsiteY40" fmla="*/ 720408 h 806450"/>
                    <a:gd name="connsiteX41" fmla="*/ 86043 w 1304925"/>
                    <a:gd name="connsiteY41" fmla="*/ 774700 h 806450"/>
                    <a:gd name="connsiteX42" fmla="*/ 1220471 w 1304925"/>
                    <a:gd name="connsiteY42" fmla="*/ 774700 h 806450"/>
                    <a:gd name="connsiteX43" fmla="*/ 1274763 w 1304925"/>
                    <a:gd name="connsiteY43" fmla="*/ 720408 h 806450"/>
                    <a:gd name="connsiteX44" fmla="*/ 1274763 w 1304925"/>
                    <a:gd name="connsiteY44" fmla="*/ 86043 h 806450"/>
                    <a:gd name="connsiteX45" fmla="*/ 1220471 w 1304925"/>
                    <a:gd name="connsiteY45" fmla="*/ 31750 h 806450"/>
                    <a:gd name="connsiteX46" fmla="*/ 86043 w 1304925"/>
                    <a:gd name="connsiteY46" fmla="*/ 31750 h 806450"/>
                    <a:gd name="connsiteX47" fmla="*/ 85663 w 1304925"/>
                    <a:gd name="connsiteY47" fmla="*/ 0 h 806450"/>
                    <a:gd name="connsiteX48" fmla="*/ 1219263 w 1304925"/>
                    <a:gd name="connsiteY48" fmla="*/ 0 h 806450"/>
                    <a:gd name="connsiteX49" fmla="*/ 1304925 w 1304925"/>
                    <a:gd name="connsiteY49" fmla="*/ 85793 h 806450"/>
                    <a:gd name="connsiteX50" fmla="*/ 1304925 w 1304925"/>
                    <a:gd name="connsiteY50" fmla="*/ 720658 h 806450"/>
                    <a:gd name="connsiteX51" fmla="*/ 1219263 w 1304925"/>
                    <a:gd name="connsiteY51" fmla="*/ 806450 h 806450"/>
                    <a:gd name="connsiteX52" fmla="*/ 85663 w 1304925"/>
                    <a:gd name="connsiteY52" fmla="*/ 806450 h 806450"/>
                    <a:gd name="connsiteX53" fmla="*/ 0 w 1304925"/>
                    <a:gd name="connsiteY53" fmla="*/ 720658 h 806450"/>
                    <a:gd name="connsiteX54" fmla="*/ 0 w 1304925"/>
                    <a:gd name="connsiteY54" fmla="*/ 85793 h 806450"/>
                    <a:gd name="connsiteX55" fmla="*/ 85663 w 1304925"/>
                    <a:gd name="connsiteY55" fmla="*/ 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304925" h="806450">
                      <a:moveTo>
                        <a:pt x="945357" y="503237"/>
                      </a:moveTo>
                      <a:cubicBezTo>
                        <a:pt x="964208" y="503237"/>
                        <a:pt x="979489" y="519229"/>
                        <a:pt x="979489" y="538956"/>
                      </a:cubicBezTo>
                      <a:cubicBezTo>
                        <a:pt x="979489" y="558683"/>
                        <a:pt x="964208" y="574675"/>
                        <a:pt x="945357" y="574675"/>
                      </a:cubicBezTo>
                      <a:cubicBezTo>
                        <a:pt x="926506" y="574675"/>
                        <a:pt x="911225" y="558683"/>
                        <a:pt x="911225" y="538956"/>
                      </a:cubicBezTo>
                      <a:cubicBezTo>
                        <a:pt x="911225" y="519229"/>
                        <a:pt x="926506" y="503237"/>
                        <a:pt x="945357" y="503237"/>
                      </a:cubicBezTo>
                      <a:close/>
                      <a:moveTo>
                        <a:pt x="993419" y="456175"/>
                      </a:moveTo>
                      <a:cubicBezTo>
                        <a:pt x="997893" y="455817"/>
                        <a:pt x="1002631" y="457250"/>
                        <a:pt x="1006491" y="460476"/>
                      </a:cubicBezTo>
                      <a:cubicBezTo>
                        <a:pt x="1029652" y="479827"/>
                        <a:pt x="1042987" y="508496"/>
                        <a:pt x="1042987" y="538598"/>
                      </a:cubicBezTo>
                      <a:cubicBezTo>
                        <a:pt x="1042987" y="569417"/>
                        <a:pt x="1029652" y="598086"/>
                        <a:pt x="1006491" y="617438"/>
                      </a:cubicBezTo>
                      <a:cubicBezTo>
                        <a:pt x="998771" y="623888"/>
                        <a:pt x="987541" y="622455"/>
                        <a:pt x="981927" y="614571"/>
                      </a:cubicBezTo>
                      <a:cubicBezTo>
                        <a:pt x="979119" y="611704"/>
                        <a:pt x="977716" y="607404"/>
                        <a:pt x="977716" y="603820"/>
                      </a:cubicBezTo>
                      <a:cubicBezTo>
                        <a:pt x="977716" y="598086"/>
                        <a:pt x="980523" y="593069"/>
                        <a:pt x="984734" y="589485"/>
                      </a:cubicBezTo>
                      <a:cubicBezTo>
                        <a:pt x="999473" y="577301"/>
                        <a:pt x="1007895" y="558666"/>
                        <a:pt x="1007895" y="538598"/>
                      </a:cubicBezTo>
                      <a:cubicBezTo>
                        <a:pt x="1007895" y="519247"/>
                        <a:pt x="999473" y="499895"/>
                        <a:pt x="984734" y="487711"/>
                      </a:cubicBezTo>
                      <a:cubicBezTo>
                        <a:pt x="977014" y="481261"/>
                        <a:pt x="976312" y="470510"/>
                        <a:pt x="981927" y="462626"/>
                      </a:cubicBezTo>
                      <a:cubicBezTo>
                        <a:pt x="984734" y="458684"/>
                        <a:pt x="988945" y="456534"/>
                        <a:pt x="993419" y="456175"/>
                      </a:cubicBezTo>
                      <a:close/>
                      <a:moveTo>
                        <a:pt x="1032014" y="411630"/>
                      </a:moveTo>
                      <a:cubicBezTo>
                        <a:pt x="1036459" y="411183"/>
                        <a:pt x="1041082" y="412434"/>
                        <a:pt x="1044994" y="415294"/>
                      </a:cubicBezTo>
                      <a:cubicBezTo>
                        <a:pt x="1082687" y="445316"/>
                        <a:pt x="1103312" y="491064"/>
                        <a:pt x="1103312" y="538957"/>
                      </a:cubicBezTo>
                      <a:cubicBezTo>
                        <a:pt x="1103312" y="587564"/>
                        <a:pt x="1082687" y="632597"/>
                        <a:pt x="1044994" y="662620"/>
                      </a:cubicBezTo>
                      <a:cubicBezTo>
                        <a:pt x="1037170" y="668338"/>
                        <a:pt x="1026502" y="667623"/>
                        <a:pt x="1020102" y="660475"/>
                      </a:cubicBezTo>
                      <a:cubicBezTo>
                        <a:pt x="1017257" y="656901"/>
                        <a:pt x="1016546" y="653327"/>
                        <a:pt x="1016546" y="649038"/>
                      </a:cubicBezTo>
                      <a:cubicBezTo>
                        <a:pt x="1016546" y="644034"/>
                        <a:pt x="1018679" y="638316"/>
                        <a:pt x="1022946" y="635457"/>
                      </a:cubicBezTo>
                      <a:cubicBezTo>
                        <a:pt x="1052106" y="611868"/>
                        <a:pt x="1068463" y="576127"/>
                        <a:pt x="1068463" y="538957"/>
                      </a:cubicBezTo>
                      <a:cubicBezTo>
                        <a:pt x="1068463" y="501786"/>
                        <a:pt x="1052106" y="466760"/>
                        <a:pt x="1022946" y="442457"/>
                      </a:cubicBezTo>
                      <a:cubicBezTo>
                        <a:pt x="1015834" y="436738"/>
                        <a:pt x="1014412" y="425301"/>
                        <a:pt x="1020102" y="418153"/>
                      </a:cubicBezTo>
                      <a:cubicBezTo>
                        <a:pt x="1023302" y="414221"/>
                        <a:pt x="1027569" y="412077"/>
                        <a:pt x="1032014" y="411630"/>
                      </a:cubicBezTo>
                      <a:close/>
                      <a:moveTo>
                        <a:pt x="1072354" y="362852"/>
                      </a:moveTo>
                      <a:cubicBezTo>
                        <a:pt x="1076784" y="362319"/>
                        <a:pt x="1081392" y="363564"/>
                        <a:pt x="1085291" y="366766"/>
                      </a:cubicBezTo>
                      <a:cubicBezTo>
                        <a:pt x="1137040" y="408746"/>
                        <a:pt x="1166813" y="472072"/>
                        <a:pt x="1166813" y="538956"/>
                      </a:cubicBezTo>
                      <a:cubicBezTo>
                        <a:pt x="1166813" y="605840"/>
                        <a:pt x="1137040" y="669166"/>
                        <a:pt x="1085291" y="711858"/>
                      </a:cubicBezTo>
                      <a:cubicBezTo>
                        <a:pt x="1077493" y="717550"/>
                        <a:pt x="1066860" y="716127"/>
                        <a:pt x="1060480" y="709012"/>
                      </a:cubicBezTo>
                      <a:cubicBezTo>
                        <a:pt x="1057644" y="705454"/>
                        <a:pt x="1056936" y="701896"/>
                        <a:pt x="1056936" y="697627"/>
                      </a:cubicBezTo>
                      <a:cubicBezTo>
                        <a:pt x="1056936" y="692647"/>
                        <a:pt x="1059062" y="687666"/>
                        <a:pt x="1063316" y="684108"/>
                      </a:cubicBezTo>
                      <a:cubicBezTo>
                        <a:pt x="1106558" y="648532"/>
                        <a:pt x="1132078" y="595879"/>
                        <a:pt x="1132078" y="538956"/>
                      </a:cubicBezTo>
                      <a:cubicBezTo>
                        <a:pt x="1132078" y="482034"/>
                        <a:pt x="1106558" y="429381"/>
                        <a:pt x="1063316" y="393804"/>
                      </a:cubicBezTo>
                      <a:cubicBezTo>
                        <a:pt x="1055518" y="388112"/>
                        <a:pt x="1054100" y="376727"/>
                        <a:pt x="1060480" y="369612"/>
                      </a:cubicBezTo>
                      <a:cubicBezTo>
                        <a:pt x="1063670" y="365698"/>
                        <a:pt x="1067923" y="363386"/>
                        <a:pt x="1072354" y="362852"/>
                      </a:cubicBezTo>
                      <a:close/>
                      <a:moveTo>
                        <a:pt x="86043" y="31750"/>
                      </a:moveTo>
                      <a:cubicBezTo>
                        <a:pt x="56039" y="31750"/>
                        <a:pt x="31750" y="56039"/>
                        <a:pt x="31750" y="86043"/>
                      </a:cubicBezTo>
                      <a:cubicBezTo>
                        <a:pt x="31750" y="86043"/>
                        <a:pt x="31750" y="86043"/>
                        <a:pt x="31750" y="720408"/>
                      </a:cubicBezTo>
                      <a:cubicBezTo>
                        <a:pt x="31750" y="750411"/>
                        <a:pt x="56039" y="774700"/>
                        <a:pt x="86043" y="774700"/>
                      </a:cubicBezTo>
                      <a:cubicBezTo>
                        <a:pt x="86043" y="774700"/>
                        <a:pt x="86043" y="774700"/>
                        <a:pt x="1220471" y="774700"/>
                      </a:cubicBezTo>
                      <a:cubicBezTo>
                        <a:pt x="1250474" y="774700"/>
                        <a:pt x="1274763" y="750411"/>
                        <a:pt x="1274763" y="720408"/>
                      </a:cubicBezTo>
                      <a:lnTo>
                        <a:pt x="1274763" y="86043"/>
                      </a:lnTo>
                      <a:cubicBezTo>
                        <a:pt x="1274763" y="56039"/>
                        <a:pt x="1250474" y="31750"/>
                        <a:pt x="1220471" y="31750"/>
                      </a:cubicBezTo>
                      <a:cubicBezTo>
                        <a:pt x="1220471" y="31750"/>
                        <a:pt x="1220471" y="31750"/>
                        <a:pt x="86043" y="31750"/>
                      </a:cubicBezTo>
                      <a:close/>
                      <a:moveTo>
                        <a:pt x="85663" y="0"/>
                      </a:moveTo>
                      <a:cubicBezTo>
                        <a:pt x="85663" y="0"/>
                        <a:pt x="85663" y="0"/>
                        <a:pt x="1219263" y="0"/>
                      </a:cubicBezTo>
                      <a:cubicBezTo>
                        <a:pt x="1266377" y="0"/>
                        <a:pt x="1304925" y="38607"/>
                        <a:pt x="1304925" y="85793"/>
                      </a:cubicBezTo>
                      <a:cubicBezTo>
                        <a:pt x="1304925" y="85793"/>
                        <a:pt x="1304925" y="85793"/>
                        <a:pt x="1304925" y="720658"/>
                      </a:cubicBezTo>
                      <a:cubicBezTo>
                        <a:pt x="1304925" y="767844"/>
                        <a:pt x="1266377" y="806450"/>
                        <a:pt x="1219263" y="806450"/>
                      </a:cubicBezTo>
                      <a:cubicBezTo>
                        <a:pt x="1219263" y="806450"/>
                        <a:pt x="1219263" y="806450"/>
                        <a:pt x="85663" y="806450"/>
                      </a:cubicBezTo>
                      <a:cubicBezTo>
                        <a:pt x="38548" y="806450"/>
                        <a:pt x="0" y="767844"/>
                        <a:pt x="0" y="720658"/>
                      </a:cubicBezTo>
                      <a:cubicBezTo>
                        <a:pt x="0" y="720658"/>
                        <a:pt x="0" y="720658"/>
                        <a:pt x="0" y="85793"/>
                      </a:cubicBezTo>
                      <a:cubicBezTo>
                        <a:pt x="0" y="38607"/>
                        <a:pt x="38548" y="0"/>
                        <a:pt x="85663"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p>
              </p:txBody>
            </p:sp>
            <p:sp>
              <p:nvSpPr>
                <p:cNvPr id="216" name="Freeform 12">
                  <a:extLst>
                    <a:ext uri="{FF2B5EF4-FFF2-40B4-BE49-F238E27FC236}">
                      <a16:creationId xmlns:a16="http://schemas.microsoft.com/office/drawing/2014/main" id="{8D9B7A2E-4DE0-4370-8B44-0FA1D24F09C8}"/>
                    </a:ext>
                  </a:extLst>
                </p:cNvPr>
                <p:cNvSpPr>
                  <a:spLocks/>
                </p:cNvSpPr>
                <p:nvPr/>
              </p:nvSpPr>
              <p:spPr bwMode="auto">
                <a:xfrm>
                  <a:off x="8047038" y="3089275"/>
                  <a:ext cx="1177925" cy="596901"/>
                </a:xfrm>
                <a:custGeom>
                  <a:avLst/>
                  <a:gdLst>
                    <a:gd name="connsiteX0" fmla="*/ 82420 w 1177925"/>
                    <a:gd name="connsiteY0" fmla="*/ 522288 h 596901"/>
                    <a:gd name="connsiteX1" fmla="*/ 574805 w 1177925"/>
                    <a:gd name="connsiteY1" fmla="*/ 522288 h 596901"/>
                    <a:gd name="connsiteX2" fmla="*/ 590550 w 1177925"/>
                    <a:gd name="connsiteY2" fmla="*/ 538072 h 596901"/>
                    <a:gd name="connsiteX3" fmla="*/ 590550 w 1177925"/>
                    <a:gd name="connsiteY3" fmla="*/ 581118 h 596901"/>
                    <a:gd name="connsiteX4" fmla="*/ 574805 w 1177925"/>
                    <a:gd name="connsiteY4" fmla="*/ 596901 h 596901"/>
                    <a:gd name="connsiteX5" fmla="*/ 82420 w 1177925"/>
                    <a:gd name="connsiteY5" fmla="*/ 596901 h 596901"/>
                    <a:gd name="connsiteX6" fmla="*/ 66675 w 1177925"/>
                    <a:gd name="connsiteY6" fmla="*/ 581118 h 596901"/>
                    <a:gd name="connsiteX7" fmla="*/ 66675 w 1177925"/>
                    <a:gd name="connsiteY7" fmla="*/ 538072 h 596901"/>
                    <a:gd name="connsiteX8" fmla="*/ 82420 w 1177925"/>
                    <a:gd name="connsiteY8" fmla="*/ 522288 h 596901"/>
                    <a:gd name="connsiteX9" fmla="*/ 28556 w 1177925"/>
                    <a:gd name="connsiteY9" fmla="*/ 0 h 596901"/>
                    <a:gd name="connsiteX10" fmla="*/ 1149369 w 1177925"/>
                    <a:gd name="connsiteY10" fmla="*/ 0 h 596901"/>
                    <a:gd name="connsiteX11" fmla="*/ 1177925 w 1177925"/>
                    <a:gd name="connsiteY11" fmla="*/ 28565 h 596901"/>
                    <a:gd name="connsiteX12" fmla="*/ 1177925 w 1177925"/>
                    <a:gd name="connsiteY12" fmla="*/ 206385 h 596901"/>
                    <a:gd name="connsiteX13" fmla="*/ 1149369 w 1177925"/>
                    <a:gd name="connsiteY13" fmla="*/ 234950 h 596901"/>
                    <a:gd name="connsiteX14" fmla="*/ 28556 w 1177925"/>
                    <a:gd name="connsiteY14" fmla="*/ 234950 h 596901"/>
                    <a:gd name="connsiteX15" fmla="*/ 0 w 1177925"/>
                    <a:gd name="connsiteY15" fmla="*/ 206385 h 596901"/>
                    <a:gd name="connsiteX16" fmla="*/ 0 w 1177925"/>
                    <a:gd name="connsiteY16" fmla="*/ 28565 h 596901"/>
                    <a:gd name="connsiteX17" fmla="*/ 28556 w 1177925"/>
                    <a:gd name="connsiteY17" fmla="*/ 0 h 596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77925" h="596901">
                      <a:moveTo>
                        <a:pt x="82420" y="522288"/>
                      </a:moveTo>
                      <a:cubicBezTo>
                        <a:pt x="82420" y="522288"/>
                        <a:pt x="82420" y="522288"/>
                        <a:pt x="574805" y="522288"/>
                      </a:cubicBezTo>
                      <a:cubicBezTo>
                        <a:pt x="583393" y="522288"/>
                        <a:pt x="590550" y="528745"/>
                        <a:pt x="590550" y="538072"/>
                      </a:cubicBezTo>
                      <a:cubicBezTo>
                        <a:pt x="590550" y="538072"/>
                        <a:pt x="590550" y="538072"/>
                        <a:pt x="590550" y="581118"/>
                      </a:cubicBezTo>
                      <a:cubicBezTo>
                        <a:pt x="590550" y="589727"/>
                        <a:pt x="583393" y="596901"/>
                        <a:pt x="574805" y="596901"/>
                      </a:cubicBezTo>
                      <a:cubicBezTo>
                        <a:pt x="574805" y="596901"/>
                        <a:pt x="574805" y="596901"/>
                        <a:pt x="82420" y="596901"/>
                      </a:cubicBezTo>
                      <a:cubicBezTo>
                        <a:pt x="73832" y="596901"/>
                        <a:pt x="66675" y="589727"/>
                        <a:pt x="66675" y="581118"/>
                      </a:cubicBezTo>
                      <a:cubicBezTo>
                        <a:pt x="66675" y="581118"/>
                        <a:pt x="66675" y="581118"/>
                        <a:pt x="66675" y="538072"/>
                      </a:cubicBezTo>
                      <a:cubicBezTo>
                        <a:pt x="66675" y="528745"/>
                        <a:pt x="73832" y="522288"/>
                        <a:pt x="82420" y="522288"/>
                      </a:cubicBezTo>
                      <a:close/>
                      <a:moveTo>
                        <a:pt x="28556" y="0"/>
                      </a:moveTo>
                      <a:cubicBezTo>
                        <a:pt x="28556" y="0"/>
                        <a:pt x="28556" y="0"/>
                        <a:pt x="1149369" y="0"/>
                      </a:cubicBezTo>
                      <a:cubicBezTo>
                        <a:pt x="1165789" y="0"/>
                        <a:pt x="1177925" y="12854"/>
                        <a:pt x="1177925" y="28565"/>
                      </a:cubicBezTo>
                      <a:cubicBezTo>
                        <a:pt x="1177925" y="28565"/>
                        <a:pt x="1177925" y="28565"/>
                        <a:pt x="1177925" y="206385"/>
                      </a:cubicBezTo>
                      <a:cubicBezTo>
                        <a:pt x="1177925" y="222095"/>
                        <a:pt x="1165789" y="234950"/>
                        <a:pt x="1149369" y="234950"/>
                      </a:cubicBezTo>
                      <a:cubicBezTo>
                        <a:pt x="1149369" y="234950"/>
                        <a:pt x="1149369" y="234950"/>
                        <a:pt x="28556" y="234950"/>
                      </a:cubicBezTo>
                      <a:cubicBezTo>
                        <a:pt x="12136" y="234950"/>
                        <a:pt x="0" y="222095"/>
                        <a:pt x="0" y="206385"/>
                      </a:cubicBezTo>
                      <a:cubicBezTo>
                        <a:pt x="0" y="206385"/>
                        <a:pt x="0" y="206385"/>
                        <a:pt x="0" y="28565"/>
                      </a:cubicBezTo>
                      <a:cubicBezTo>
                        <a:pt x="0" y="12854"/>
                        <a:pt x="12136" y="0"/>
                        <a:pt x="28556"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p>
              </p:txBody>
            </p:sp>
          </p:grpSp>
        </p:grpSp>
      </p:grpSp>
      <p:grpSp>
        <p:nvGrpSpPr>
          <p:cNvPr id="231" name="Group 230">
            <a:extLst>
              <a:ext uri="{FF2B5EF4-FFF2-40B4-BE49-F238E27FC236}">
                <a16:creationId xmlns:a16="http://schemas.microsoft.com/office/drawing/2014/main" id="{824B7EBB-8680-257E-9304-F82EA1BF5A92}"/>
              </a:ext>
            </a:extLst>
          </p:cNvPr>
          <p:cNvGrpSpPr/>
          <p:nvPr/>
        </p:nvGrpSpPr>
        <p:grpSpPr>
          <a:xfrm>
            <a:off x="6175610" y="4458614"/>
            <a:ext cx="486125" cy="485655"/>
            <a:chOff x="12537540" y="2049586"/>
            <a:chExt cx="514135" cy="514134"/>
          </a:xfrm>
        </p:grpSpPr>
        <p:sp>
          <p:nvSpPr>
            <p:cNvPr id="230" name="Oval 229">
              <a:extLst>
                <a:ext uri="{FF2B5EF4-FFF2-40B4-BE49-F238E27FC236}">
                  <a16:creationId xmlns:a16="http://schemas.microsoft.com/office/drawing/2014/main" id="{54E330A0-68E8-9BD0-5DF8-7084A149B1F9}"/>
                </a:ext>
              </a:extLst>
            </p:cNvPr>
            <p:cNvSpPr/>
            <p:nvPr>
              <p:custDataLst>
                <p:tags r:id="rId8"/>
              </p:custDataLst>
            </p:nvPr>
          </p:nvSpPr>
          <p:spPr>
            <a:xfrm>
              <a:off x="12537540" y="2049586"/>
              <a:ext cx="514135" cy="514134"/>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a:solidFill>
                  <a:schemeClr val="bg1">
                    <a:lumMod val="50000"/>
                  </a:schemeClr>
                </a:solidFill>
              </a:endParaRPr>
            </a:p>
          </p:txBody>
        </p:sp>
        <p:grpSp>
          <p:nvGrpSpPr>
            <p:cNvPr id="217" name="bcgIcons_Foreign Direct Investment ">
              <a:extLst>
                <a:ext uri="{FF2B5EF4-FFF2-40B4-BE49-F238E27FC236}">
                  <a16:creationId xmlns:a16="http://schemas.microsoft.com/office/drawing/2014/main" id="{2FF26294-4FF3-63D3-51B8-3A61DC93D30B}"/>
                </a:ext>
              </a:extLst>
            </p:cNvPr>
            <p:cNvGrpSpPr>
              <a:grpSpLocks noChangeAspect="1"/>
            </p:cNvGrpSpPr>
            <p:nvPr/>
          </p:nvGrpSpPr>
          <p:grpSpPr>
            <a:xfrm>
              <a:off x="12612833" y="2124879"/>
              <a:ext cx="363548" cy="363548"/>
              <a:chOff x="1719263" y="2606675"/>
              <a:chExt cx="1644650" cy="1644650"/>
            </a:xfrm>
          </p:grpSpPr>
          <p:sp>
            <p:nvSpPr>
              <p:cNvPr id="218" name="AutoShape 60">
                <a:extLst>
                  <a:ext uri="{FF2B5EF4-FFF2-40B4-BE49-F238E27FC236}">
                    <a16:creationId xmlns:a16="http://schemas.microsoft.com/office/drawing/2014/main" id="{87FA2C7B-EC95-E18F-0274-2BD213BED4CD}"/>
                  </a:ext>
                </a:extLst>
              </p:cNvPr>
              <p:cNvSpPr>
                <a:spLocks noChangeAspect="1" noChangeArrowheads="1" noTextEdit="1"/>
              </p:cNvSpPr>
              <p:nvPr/>
            </p:nvSpPr>
            <p:spPr bwMode="auto">
              <a:xfrm>
                <a:off x="1719263" y="2606675"/>
                <a:ext cx="1644650"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219" name="Group 218">
                <a:extLst>
                  <a:ext uri="{FF2B5EF4-FFF2-40B4-BE49-F238E27FC236}">
                    <a16:creationId xmlns:a16="http://schemas.microsoft.com/office/drawing/2014/main" id="{2677873E-BF12-1CCB-F12E-A332E859F37E}"/>
                  </a:ext>
                </a:extLst>
              </p:cNvPr>
              <p:cNvGrpSpPr/>
              <p:nvPr/>
            </p:nvGrpSpPr>
            <p:grpSpPr>
              <a:xfrm>
                <a:off x="1889126" y="2776538"/>
                <a:ext cx="1304925" cy="1304925"/>
                <a:chOff x="1889126" y="2776538"/>
                <a:chExt cx="1304925" cy="1304925"/>
              </a:xfrm>
            </p:grpSpPr>
            <p:sp>
              <p:nvSpPr>
                <p:cNvPr id="220" name="Freeform 62">
                  <a:extLst>
                    <a:ext uri="{FF2B5EF4-FFF2-40B4-BE49-F238E27FC236}">
                      <a16:creationId xmlns:a16="http://schemas.microsoft.com/office/drawing/2014/main" id="{70DAC833-1732-5679-5BD4-3AA5D32AA87C}"/>
                    </a:ext>
                  </a:extLst>
                </p:cNvPr>
                <p:cNvSpPr>
                  <a:spLocks noEditPoints="1"/>
                </p:cNvSpPr>
                <p:nvPr/>
              </p:nvSpPr>
              <p:spPr bwMode="auto">
                <a:xfrm>
                  <a:off x="1889126" y="2776538"/>
                  <a:ext cx="1304925" cy="1304925"/>
                </a:xfrm>
                <a:custGeom>
                  <a:avLst/>
                  <a:gdLst>
                    <a:gd name="T0" fmla="*/ 665 w 1828"/>
                    <a:gd name="T1" fmla="*/ 1250 h 1828"/>
                    <a:gd name="T2" fmla="*/ 700 w 1828"/>
                    <a:gd name="T3" fmla="*/ 1237 h 1828"/>
                    <a:gd name="T4" fmla="*/ 932 w 1828"/>
                    <a:gd name="T5" fmla="*/ 1394 h 1828"/>
                    <a:gd name="T6" fmla="*/ 1136 w 1828"/>
                    <a:gd name="T7" fmla="*/ 1305 h 1828"/>
                    <a:gd name="T8" fmla="*/ 817 w 1828"/>
                    <a:gd name="T9" fmla="*/ 626 h 1828"/>
                    <a:gd name="T10" fmla="*/ 723 w 1828"/>
                    <a:gd name="T11" fmla="*/ 542 h 1828"/>
                    <a:gd name="T12" fmla="*/ 568 w 1828"/>
                    <a:gd name="T13" fmla="*/ 580 h 1828"/>
                    <a:gd name="T14" fmla="*/ 724 w 1828"/>
                    <a:gd name="T15" fmla="*/ 471 h 1828"/>
                    <a:gd name="T16" fmla="*/ 932 w 1828"/>
                    <a:gd name="T17" fmla="*/ 587 h 1828"/>
                    <a:gd name="T18" fmla="*/ 1103 w 1828"/>
                    <a:gd name="T19" fmla="*/ 542 h 1828"/>
                    <a:gd name="T20" fmla="*/ 568 w 1828"/>
                    <a:gd name="T21" fmla="*/ 1248 h 1828"/>
                    <a:gd name="T22" fmla="*/ 1259 w 1828"/>
                    <a:gd name="T23" fmla="*/ 1248 h 1828"/>
                    <a:gd name="T24" fmla="*/ 827 w 1828"/>
                    <a:gd name="T25" fmla="*/ 747 h 1828"/>
                    <a:gd name="T26" fmla="*/ 641 w 1828"/>
                    <a:gd name="T27" fmla="*/ 884 h 1828"/>
                    <a:gd name="T28" fmla="*/ 679 w 1828"/>
                    <a:gd name="T29" fmla="*/ 932 h 1828"/>
                    <a:gd name="T30" fmla="*/ 1237 w 1828"/>
                    <a:gd name="T31" fmla="*/ 896 h 1828"/>
                    <a:gd name="T32" fmla="*/ 1187 w 1828"/>
                    <a:gd name="T33" fmla="*/ 944 h 1828"/>
                    <a:gd name="T34" fmla="*/ 1232 w 1828"/>
                    <a:gd name="T35" fmla="*/ 552 h 1828"/>
                    <a:gd name="T36" fmla="*/ 1056 w 1828"/>
                    <a:gd name="T37" fmla="*/ 657 h 1828"/>
                    <a:gd name="T38" fmla="*/ 1125 w 1828"/>
                    <a:gd name="T39" fmla="*/ 896 h 1828"/>
                    <a:gd name="T40" fmla="*/ 759 w 1828"/>
                    <a:gd name="T41" fmla="*/ 153 h 1828"/>
                    <a:gd name="T42" fmla="*/ 962 w 1828"/>
                    <a:gd name="T43" fmla="*/ 195 h 1828"/>
                    <a:gd name="T44" fmla="*/ 873 w 1828"/>
                    <a:gd name="T45" fmla="*/ 217 h 1828"/>
                    <a:gd name="T46" fmla="*/ 951 w 1828"/>
                    <a:gd name="T47" fmla="*/ 217 h 1828"/>
                    <a:gd name="T48" fmla="*/ 873 w 1828"/>
                    <a:gd name="T49" fmla="*/ 135 h 1828"/>
                    <a:gd name="T50" fmla="*/ 871 w 1828"/>
                    <a:gd name="T51" fmla="*/ 158 h 1828"/>
                    <a:gd name="T52" fmla="*/ 945 w 1828"/>
                    <a:gd name="T53" fmla="*/ 151 h 1828"/>
                    <a:gd name="T54" fmla="*/ 945 w 1828"/>
                    <a:gd name="T55" fmla="*/ 117 h 1828"/>
                    <a:gd name="T56" fmla="*/ 944 w 1828"/>
                    <a:gd name="T57" fmla="*/ 67 h 1828"/>
                    <a:gd name="T58" fmla="*/ 917 w 1828"/>
                    <a:gd name="T59" fmla="*/ 41 h 1828"/>
                    <a:gd name="T60" fmla="*/ 881 w 1828"/>
                    <a:gd name="T61" fmla="*/ 113 h 1828"/>
                    <a:gd name="T62" fmla="*/ 188 w 1828"/>
                    <a:gd name="T63" fmla="*/ 763 h 1828"/>
                    <a:gd name="T64" fmla="*/ 150 w 1828"/>
                    <a:gd name="T65" fmla="*/ 759 h 1828"/>
                    <a:gd name="T66" fmla="*/ 220 w 1828"/>
                    <a:gd name="T67" fmla="*/ 873 h 1828"/>
                    <a:gd name="T68" fmla="*/ 81 w 1828"/>
                    <a:gd name="T69" fmla="*/ 859 h 1828"/>
                    <a:gd name="T70" fmla="*/ 174 w 1828"/>
                    <a:gd name="T71" fmla="*/ 1005 h 1828"/>
                    <a:gd name="T72" fmla="*/ 218 w 1828"/>
                    <a:gd name="T73" fmla="*/ 941 h 1828"/>
                    <a:gd name="T74" fmla="*/ 1067 w 1828"/>
                    <a:gd name="T75" fmla="*/ 1680 h 1828"/>
                    <a:gd name="T76" fmla="*/ 913 w 1828"/>
                    <a:gd name="T77" fmla="*/ 1768 h 1828"/>
                    <a:gd name="T78" fmla="*/ 899 w 1828"/>
                    <a:gd name="T79" fmla="*/ 1755 h 1828"/>
                    <a:gd name="T80" fmla="*/ 903 w 1828"/>
                    <a:gd name="T81" fmla="*/ 1674 h 1828"/>
                    <a:gd name="T82" fmla="*/ 990 w 1828"/>
                    <a:gd name="T83" fmla="*/ 1653 h 1828"/>
                    <a:gd name="T84" fmla="*/ 880 w 1828"/>
                    <a:gd name="T85" fmla="*/ 1600 h 1828"/>
                    <a:gd name="T86" fmla="*/ 872 w 1828"/>
                    <a:gd name="T87" fmla="*/ 1598 h 1828"/>
                    <a:gd name="T88" fmla="*/ 852 w 1828"/>
                    <a:gd name="T89" fmla="*/ 1755 h 1828"/>
                    <a:gd name="T90" fmla="*/ 836 w 1828"/>
                    <a:gd name="T91" fmla="*/ 1766 h 1828"/>
                    <a:gd name="T92" fmla="*/ 1679 w 1828"/>
                    <a:gd name="T93" fmla="*/ 1067 h 1828"/>
                    <a:gd name="T94" fmla="*/ 1769 w 1828"/>
                    <a:gd name="T95" fmla="*/ 849 h 1828"/>
                    <a:gd name="T96" fmla="*/ 1653 w 1828"/>
                    <a:gd name="T97" fmla="*/ 982 h 1828"/>
                    <a:gd name="T98" fmla="*/ 1762 w 1828"/>
                    <a:gd name="T99" fmla="*/ 855 h 1828"/>
                    <a:gd name="T100" fmla="*/ 1588 w 1828"/>
                    <a:gd name="T101" fmla="*/ 973 h 1828"/>
                    <a:gd name="T102" fmla="*/ 1629 w 1828"/>
                    <a:gd name="T103" fmla="*/ 935 h 1828"/>
                    <a:gd name="T104" fmla="*/ 1655 w 1828"/>
                    <a:gd name="T105" fmla="*/ 937 h 1828"/>
                    <a:gd name="T106" fmla="*/ 1707 w 1828"/>
                    <a:gd name="T107" fmla="*/ 923 h 1828"/>
                    <a:gd name="T108" fmla="*/ 1742 w 1828"/>
                    <a:gd name="T109" fmla="*/ 899 h 1828"/>
                    <a:gd name="T110" fmla="*/ 1714 w 1828"/>
                    <a:gd name="T111" fmla="*/ 878 h 1828"/>
                    <a:gd name="T112" fmla="*/ 1684 w 1828"/>
                    <a:gd name="T113" fmla="*/ 892 h 1828"/>
                    <a:gd name="T114" fmla="*/ 1652 w 1828"/>
                    <a:gd name="T115" fmla="*/ 923 h 1828"/>
                    <a:gd name="T116" fmla="*/ 1755 w 1828"/>
                    <a:gd name="T117" fmla="*/ 966 h 1828"/>
                    <a:gd name="T118" fmla="*/ 1707 w 1828"/>
                    <a:gd name="T119" fmla="*/ 934 h 1828"/>
                    <a:gd name="T120" fmla="*/ 1662 w 1828"/>
                    <a:gd name="T121" fmla="*/ 946 h 1828"/>
                    <a:gd name="T122" fmla="*/ 1653 w 1828"/>
                    <a:gd name="T123" fmla="*/ 966 h 1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28" h="1828">
                      <a:moveTo>
                        <a:pt x="665" y="1250"/>
                      </a:moveTo>
                      <a:cubicBezTo>
                        <a:pt x="674" y="1269"/>
                        <a:pt x="682" y="1287"/>
                        <a:pt x="692" y="1305"/>
                      </a:cubicBezTo>
                      <a:cubicBezTo>
                        <a:pt x="701" y="1324"/>
                        <a:pt x="713" y="1341"/>
                        <a:pt x="724" y="1357"/>
                      </a:cubicBezTo>
                      <a:cubicBezTo>
                        <a:pt x="677" y="1337"/>
                        <a:pt x="635" y="1309"/>
                        <a:pt x="596" y="1276"/>
                      </a:cubicBezTo>
                      <a:cubicBezTo>
                        <a:pt x="609" y="1264"/>
                        <a:pt x="628" y="1253"/>
                        <a:pt x="651" y="1243"/>
                      </a:cubicBezTo>
                      <a:cubicBezTo>
                        <a:pt x="655" y="1246"/>
                        <a:pt x="660" y="1248"/>
                        <a:pt x="665" y="1250"/>
                      </a:cubicBezTo>
                      <a:close/>
                      <a:moveTo>
                        <a:pt x="794" y="1379"/>
                      </a:moveTo>
                      <a:cubicBezTo>
                        <a:pt x="826" y="1388"/>
                        <a:pt x="859" y="1393"/>
                        <a:pt x="894" y="1394"/>
                      </a:cubicBezTo>
                      <a:cubicBezTo>
                        <a:pt x="894" y="1241"/>
                        <a:pt x="894" y="1241"/>
                        <a:pt x="894" y="1241"/>
                      </a:cubicBezTo>
                      <a:cubicBezTo>
                        <a:pt x="792" y="1241"/>
                        <a:pt x="792" y="1241"/>
                        <a:pt x="792" y="1241"/>
                      </a:cubicBezTo>
                      <a:cubicBezTo>
                        <a:pt x="758" y="1241"/>
                        <a:pt x="730" y="1235"/>
                        <a:pt x="707" y="1224"/>
                      </a:cubicBezTo>
                      <a:cubicBezTo>
                        <a:pt x="705" y="1228"/>
                        <a:pt x="703" y="1234"/>
                        <a:pt x="700" y="1237"/>
                      </a:cubicBezTo>
                      <a:cubicBezTo>
                        <a:pt x="707" y="1254"/>
                        <a:pt x="714" y="1271"/>
                        <a:pt x="723" y="1286"/>
                      </a:cubicBezTo>
                      <a:cubicBezTo>
                        <a:pt x="745" y="1325"/>
                        <a:pt x="768" y="1356"/>
                        <a:pt x="794" y="1379"/>
                      </a:cubicBezTo>
                      <a:close/>
                      <a:moveTo>
                        <a:pt x="1119" y="1224"/>
                      </a:moveTo>
                      <a:cubicBezTo>
                        <a:pt x="1096" y="1235"/>
                        <a:pt x="1068" y="1241"/>
                        <a:pt x="1034" y="1241"/>
                      </a:cubicBezTo>
                      <a:cubicBezTo>
                        <a:pt x="932" y="1241"/>
                        <a:pt x="932" y="1241"/>
                        <a:pt x="932" y="1241"/>
                      </a:cubicBezTo>
                      <a:cubicBezTo>
                        <a:pt x="932" y="1394"/>
                        <a:pt x="932" y="1394"/>
                        <a:pt x="932" y="1394"/>
                      </a:cubicBezTo>
                      <a:cubicBezTo>
                        <a:pt x="967" y="1393"/>
                        <a:pt x="1001" y="1388"/>
                        <a:pt x="1032" y="1379"/>
                      </a:cubicBezTo>
                      <a:cubicBezTo>
                        <a:pt x="1058" y="1356"/>
                        <a:pt x="1082" y="1325"/>
                        <a:pt x="1103" y="1286"/>
                      </a:cubicBezTo>
                      <a:cubicBezTo>
                        <a:pt x="1112" y="1271"/>
                        <a:pt x="1119" y="1254"/>
                        <a:pt x="1126" y="1237"/>
                      </a:cubicBezTo>
                      <a:cubicBezTo>
                        <a:pt x="1123" y="1234"/>
                        <a:pt x="1121" y="1228"/>
                        <a:pt x="1119" y="1224"/>
                      </a:cubicBezTo>
                      <a:close/>
                      <a:moveTo>
                        <a:pt x="1163" y="1250"/>
                      </a:moveTo>
                      <a:cubicBezTo>
                        <a:pt x="1154" y="1269"/>
                        <a:pt x="1146" y="1287"/>
                        <a:pt x="1136" y="1305"/>
                      </a:cubicBezTo>
                      <a:cubicBezTo>
                        <a:pt x="1127" y="1324"/>
                        <a:pt x="1115" y="1341"/>
                        <a:pt x="1104" y="1357"/>
                      </a:cubicBezTo>
                      <a:cubicBezTo>
                        <a:pt x="1151" y="1337"/>
                        <a:pt x="1193" y="1309"/>
                        <a:pt x="1232" y="1276"/>
                      </a:cubicBezTo>
                      <a:cubicBezTo>
                        <a:pt x="1219" y="1264"/>
                        <a:pt x="1200" y="1253"/>
                        <a:pt x="1177" y="1243"/>
                      </a:cubicBezTo>
                      <a:cubicBezTo>
                        <a:pt x="1173" y="1246"/>
                        <a:pt x="1168" y="1248"/>
                        <a:pt x="1163" y="1250"/>
                      </a:cubicBezTo>
                      <a:close/>
                      <a:moveTo>
                        <a:pt x="707" y="605"/>
                      </a:moveTo>
                      <a:cubicBezTo>
                        <a:pt x="739" y="615"/>
                        <a:pt x="776" y="622"/>
                        <a:pt x="817" y="626"/>
                      </a:cubicBezTo>
                      <a:cubicBezTo>
                        <a:pt x="816" y="616"/>
                        <a:pt x="819" y="610"/>
                        <a:pt x="821" y="604"/>
                      </a:cubicBezTo>
                      <a:cubicBezTo>
                        <a:pt x="833" y="587"/>
                        <a:pt x="854" y="587"/>
                        <a:pt x="860" y="587"/>
                      </a:cubicBezTo>
                      <a:cubicBezTo>
                        <a:pt x="894" y="587"/>
                        <a:pt x="894" y="587"/>
                        <a:pt x="894" y="587"/>
                      </a:cubicBezTo>
                      <a:cubicBezTo>
                        <a:pt x="894" y="434"/>
                        <a:pt x="894" y="434"/>
                        <a:pt x="894" y="434"/>
                      </a:cubicBezTo>
                      <a:cubicBezTo>
                        <a:pt x="859" y="435"/>
                        <a:pt x="826" y="440"/>
                        <a:pt x="794" y="449"/>
                      </a:cubicBezTo>
                      <a:cubicBezTo>
                        <a:pt x="768" y="472"/>
                        <a:pt x="745" y="504"/>
                        <a:pt x="723" y="542"/>
                      </a:cubicBezTo>
                      <a:cubicBezTo>
                        <a:pt x="714" y="558"/>
                        <a:pt x="707" y="574"/>
                        <a:pt x="700" y="592"/>
                      </a:cubicBezTo>
                      <a:cubicBezTo>
                        <a:pt x="703" y="596"/>
                        <a:pt x="705" y="600"/>
                        <a:pt x="707" y="605"/>
                      </a:cubicBezTo>
                      <a:close/>
                      <a:moveTo>
                        <a:pt x="602" y="883"/>
                      </a:moveTo>
                      <a:cubicBezTo>
                        <a:pt x="604" y="795"/>
                        <a:pt x="619" y="712"/>
                        <a:pt x="643" y="637"/>
                      </a:cubicBezTo>
                      <a:cubicBezTo>
                        <a:pt x="640" y="632"/>
                        <a:pt x="637" y="627"/>
                        <a:pt x="637" y="622"/>
                      </a:cubicBezTo>
                      <a:cubicBezTo>
                        <a:pt x="608" y="610"/>
                        <a:pt x="585" y="595"/>
                        <a:pt x="568" y="580"/>
                      </a:cubicBezTo>
                      <a:cubicBezTo>
                        <a:pt x="488" y="663"/>
                        <a:pt x="436" y="773"/>
                        <a:pt x="432" y="896"/>
                      </a:cubicBezTo>
                      <a:cubicBezTo>
                        <a:pt x="591" y="896"/>
                        <a:pt x="591" y="896"/>
                        <a:pt x="591" y="896"/>
                      </a:cubicBezTo>
                      <a:cubicBezTo>
                        <a:pt x="593" y="890"/>
                        <a:pt x="598" y="887"/>
                        <a:pt x="602" y="883"/>
                      </a:cubicBezTo>
                      <a:close/>
                      <a:moveTo>
                        <a:pt x="665" y="578"/>
                      </a:moveTo>
                      <a:cubicBezTo>
                        <a:pt x="674" y="559"/>
                        <a:pt x="682" y="541"/>
                        <a:pt x="692" y="523"/>
                      </a:cubicBezTo>
                      <a:cubicBezTo>
                        <a:pt x="701" y="504"/>
                        <a:pt x="713" y="487"/>
                        <a:pt x="724" y="471"/>
                      </a:cubicBezTo>
                      <a:cubicBezTo>
                        <a:pt x="677" y="491"/>
                        <a:pt x="635" y="519"/>
                        <a:pt x="596" y="552"/>
                      </a:cubicBezTo>
                      <a:cubicBezTo>
                        <a:pt x="609" y="564"/>
                        <a:pt x="628" y="575"/>
                        <a:pt x="651" y="585"/>
                      </a:cubicBezTo>
                      <a:cubicBezTo>
                        <a:pt x="655" y="582"/>
                        <a:pt x="660" y="580"/>
                        <a:pt x="665" y="578"/>
                      </a:cubicBezTo>
                      <a:close/>
                      <a:moveTo>
                        <a:pt x="1032" y="449"/>
                      </a:moveTo>
                      <a:cubicBezTo>
                        <a:pt x="1001" y="440"/>
                        <a:pt x="967" y="435"/>
                        <a:pt x="932" y="434"/>
                      </a:cubicBezTo>
                      <a:cubicBezTo>
                        <a:pt x="932" y="587"/>
                        <a:pt x="932" y="587"/>
                        <a:pt x="932" y="587"/>
                      </a:cubicBezTo>
                      <a:cubicBezTo>
                        <a:pt x="966" y="587"/>
                        <a:pt x="966" y="587"/>
                        <a:pt x="966" y="587"/>
                      </a:cubicBezTo>
                      <a:cubicBezTo>
                        <a:pt x="972" y="587"/>
                        <a:pt x="994" y="587"/>
                        <a:pt x="1005" y="604"/>
                      </a:cubicBezTo>
                      <a:cubicBezTo>
                        <a:pt x="1007" y="610"/>
                        <a:pt x="1010" y="616"/>
                        <a:pt x="1009" y="626"/>
                      </a:cubicBezTo>
                      <a:cubicBezTo>
                        <a:pt x="1051" y="622"/>
                        <a:pt x="1088" y="615"/>
                        <a:pt x="1119" y="605"/>
                      </a:cubicBezTo>
                      <a:cubicBezTo>
                        <a:pt x="1121" y="600"/>
                        <a:pt x="1123" y="596"/>
                        <a:pt x="1126" y="592"/>
                      </a:cubicBezTo>
                      <a:cubicBezTo>
                        <a:pt x="1119" y="574"/>
                        <a:pt x="1112" y="558"/>
                        <a:pt x="1103" y="542"/>
                      </a:cubicBezTo>
                      <a:cubicBezTo>
                        <a:pt x="1082" y="504"/>
                        <a:pt x="1058" y="472"/>
                        <a:pt x="1032" y="449"/>
                      </a:cubicBezTo>
                      <a:close/>
                      <a:moveTo>
                        <a:pt x="643" y="1191"/>
                      </a:moveTo>
                      <a:cubicBezTo>
                        <a:pt x="619" y="1116"/>
                        <a:pt x="604" y="1033"/>
                        <a:pt x="602" y="945"/>
                      </a:cubicBezTo>
                      <a:cubicBezTo>
                        <a:pt x="598" y="941"/>
                        <a:pt x="593" y="938"/>
                        <a:pt x="591" y="932"/>
                      </a:cubicBezTo>
                      <a:cubicBezTo>
                        <a:pt x="432" y="932"/>
                        <a:pt x="432" y="932"/>
                        <a:pt x="432" y="932"/>
                      </a:cubicBezTo>
                      <a:cubicBezTo>
                        <a:pt x="436" y="1055"/>
                        <a:pt x="488" y="1165"/>
                        <a:pt x="568" y="1248"/>
                      </a:cubicBezTo>
                      <a:cubicBezTo>
                        <a:pt x="585" y="1233"/>
                        <a:pt x="608" y="1218"/>
                        <a:pt x="637" y="1206"/>
                      </a:cubicBezTo>
                      <a:cubicBezTo>
                        <a:pt x="637" y="1201"/>
                        <a:pt x="640" y="1196"/>
                        <a:pt x="643" y="1191"/>
                      </a:cubicBezTo>
                      <a:close/>
                      <a:moveTo>
                        <a:pt x="1226" y="945"/>
                      </a:moveTo>
                      <a:cubicBezTo>
                        <a:pt x="1223" y="1033"/>
                        <a:pt x="1209" y="1116"/>
                        <a:pt x="1185" y="1191"/>
                      </a:cubicBezTo>
                      <a:cubicBezTo>
                        <a:pt x="1188" y="1196"/>
                        <a:pt x="1191" y="1201"/>
                        <a:pt x="1191" y="1206"/>
                      </a:cubicBezTo>
                      <a:cubicBezTo>
                        <a:pt x="1220" y="1218"/>
                        <a:pt x="1243" y="1233"/>
                        <a:pt x="1259" y="1248"/>
                      </a:cubicBezTo>
                      <a:cubicBezTo>
                        <a:pt x="1339" y="1165"/>
                        <a:pt x="1390" y="1055"/>
                        <a:pt x="1394" y="932"/>
                      </a:cubicBezTo>
                      <a:cubicBezTo>
                        <a:pt x="1237" y="932"/>
                        <a:pt x="1237" y="932"/>
                        <a:pt x="1237" y="932"/>
                      </a:cubicBezTo>
                      <a:cubicBezTo>
                        <a:pt x="1234" y="938"/>
                        <a:pt x="1230" y="941"/>
                        <a:pt x="1226" y="945"/>
                      </a:cubicBezTo>
                      <a:close/>
                      <a:moveTo>
                        <a:pt x="829" y="754"/>
                      </a:moveTo>
                      <a:cubicBezTo>
                        <a:pt x="830" y="753"/>
                        <a:pt x="830" y="752"/>
                        <a:pt x="831" y="752"/>
                      </a:cubicBezTo>
                      <a:cubicBezTo>
                        <a:pt x="830" y="751"/>
                        <a:pt x="828" y="749"/>
                        <a:pt x="827" y="747"/>
                      </a:cubicBezTo>
                      <a:cubicBezTo>
                        <a:pt x="827" y="747"/>
                        <a:pt x="827" y="747"/>
                        <a:pt x="827" y="747"/>
                      </a:cubicBezTo>
                      <a:cubicBezTo>
                        <a:pt x="770" y="695"/>
                        <a:pt x="769" y="681"/>
                        <a:pt x="768" y="676"/>
                      </a:cubicBezTo>
                      <a:cubicBezTo>
                        <a:pt x="767" y="672"/>
                        <a:pt x="766" y="666"/>
                        <a:pt x="772" y="657"/>
                      </a:cubicBezTo>
                      <a:cubicBezTo>
                        <a:pt x="744" y="653"/>
                        <a:pt x="719" y="648"/>
                        <a:pt x="695" y="641"/>
                      </a:cubicBezTo>
                      <a:cubicBezTo>
                        <a:pt x="691" y="644"/>
                        <a:pt x="685" y="647"/>
                        <a:pt x="680" y="649"/>
                      </a:cubicBezTo>
                      <a:cubicBezTo>
                        <a:pt x="657" y="720"/>
                        <a:pt x="643" y="800"/>
                        <a:pt x="641" y="884"/>
                      </a:cubicBezTo>
                      <a:cubicBezTo>
                        <a:pt x="646" y="887"/>
                        <a:pt x="649" y="891"/>
                        <a:pt x="652" y="896"/>
                      </a:cubicBezTo>
                      <a:cubicBezTo>
                        <a:pt x="703" y="896"/>
                        <a:pt x="703" y="896"/>
                        <a:pt x="703" y="896"/>
                      </a:cubicBezTo>
                      <a:cubicBezTo>
                        <a:pt x="760" y="814"/>
                        <a:pt x="828" y="755"/>
                        <a:pt x="829" y="754"/>
                      </a:cubicBezTo>
                      <a:close/>
                      <a:moveTo>
                        <a:pt x="641" y="944"/>
                      </a:moveTo>
                      <a:cubicBezTo>
                        <a:pt x="642" y="964"/>
                        <a:pt x="643" y="984"/>
                        <a:pt x="645" y="1003"/>
                      </a:cubicBezTo>
                      <a:cubicBezTo>
                        <a:pt x="654" y="978"/>
                        <a:pt x="665" y="955"/>
                        <a:pt x="679" y="932"/>
                      </a:cubicBezTo>
                      <a:cubicBezTo>
                        <a:pt x="652" y="932"/>
                        <a:pt x="652" y="932"/>
                        <a:pt x="652" y="932"/>
                      </a:cubicBezTo>
                      <a:cubicBezTo>
                        <a:pt x="650" y="937"/>
                        <a:pt x="646" y="941"/>
                        <a:pt x="641" y="944"/>
                      </a:cubicBezTo>
                      <a:close/>
                      <a:moveTo>
                        <a:pt x="1191" y="622"/>
                      </a:moveTo>
                      <a:cubicBezTo>
                        <a:pt x="1191" y="627"/>
                        <a:pt x="1188" y="632"/>
                        <a:pt x="1185" y="637"/>
                      </a:cubicBezTo>
                      <a:cubicBezTo>
                        <a:pt x="1209" y="712"/>
                        <a:pt x="1223" y="795"/>
                        <a:pt x="1226" y="883"/>
                      </a:cubicBezTo>
                      <a:cubicBezTo>
                        <a:pt x="1230" y="887"/>
                        <a:pt x="1234" y="890"/>
                        <a:pt x="1237" y="896"/>
                      </a:cubicBezTo>
                      <a:cubicBezTo>
                        <a:pt x="1394" y="896"/>
                        <a:pt x="1394" y="896"/>
                        <a:pt x="1394" y="896"/>
                      </a:cubicBezTo>
                      <a:cubicBezTo>
                        <a:pt x="1390" y="773"/>
                        <a:pt x="1339" y="663"/>
                        <a:pt x="1259" y="580"/>
                      </a:cubicBezTo>
                      <a:cubicBezTo>
                        <a:pt x="1243" y="595"/>
                        <a:pt x="1220" y="610"/>
                        <a:pt x="1191" y="622"/>
                      </a:cubicBezTo>
                      <a:close/>
                      <a:moveTo>
                        <a:pt x="1149" y="932"/>
                      </a:moveTo>
                      <a:cubicBezTo>
                        <a:pt x="1163" y="955"/>
                        <a:pt x="1174" y="978"/>
                        <a:pt x="1183" y="1003"/>
                      </a:cubicBezTo>
                      <a:cubicBezTo>
                        <a:pt x="1185" y="984"/>
                        <a:pt x="1186" y="964"/>
                        <a:pt x="1187" y="944"/>
                      </a:cubicBezTo>
                      <a:cubicBezTo>
                        <a:pt x="1182" y="941"/>
                        <a:pt x="1178" y="937"/>
                        <a:pt x="1176" y="932"/>
                      </a:cubicBezTo>
                      <a:cubicBezTo>
                        <a:pt x="1149" y="932"/>
                        <a:pt x="1149" y="932"/>
                        <a:pt x="1149" y="932"/>
                      </a:cubicBezTo>
                      <a:cubicBezTo>
                        <a:pt x="1149" y="932"/>
                        <a:pt x="1149" y="932"/>
                        <a:pt x="1149" y="932"/>
                      </a:cubicBezTo>
                      <a:close/>
                      <a:moveTo>
                        <a:pt x="1163" y="578"/>
                      </a:moveTo>
                      <a:cubicBezTo>
                        <a:pt x="1168" y="580"/>
                        <a:pt x="1173" y="582"/>
                        <a:pt x="1177" y="585"/>
                      </a:cubicBezTo>
                      <a:cubicBezTo>
                        <a:pt x="1200" y="575"/>
                        <a:pt x="1219" y="564"/>
                        <a:pt x="1232" y="552"/>
                      </a:cubicBezTo>
                      <a:cubicBezTo>
                        <a:pt x="1193" y="519"/>
                        <a:pt x="1151" y="491"/>
                        <a:pt x="1104" y="471"/>
                      </a:cubicBezTo>
                      <a:cubicBezTo>
                        <a:pt x="1115" y="487"/>
                        <a:pt x="1127" y="504"/>
                        <a:pt x="1136" y="523"/>
                      </a:cubicBezTo>
                      <a:cubicBezTo>
                        <a:pt x="1146" y="541"/>
                        <a:pt x="1154" y="559"/>
                        <a:pt x="1163" y="578"/>
                      </a:cubicBezTo>
                      <a:close/>
                      <a:moveTo>
                        <a:pt x="1148" y="649"/>
                      </a:moveTo>
                      <a:cubicBezTo>
                        <a:pt x="1143" y="647"/>
                        <a:pt x="1137" y="644"/>
                        <a:pt x="1133" y="641"/>
                      </a:cubicBezTo>
                      <a:cubicBezTo>
                        <a:pt x="1109" y="648"/>
                        <a:pt x="1084" y="653"/>
                        <a:pt x="1056" y="657"/>
                      </a:cubicBezTo>
                      <a:cubicBezTo>
                        <a:pt x="1062" y="666"/>
                        <a:pt x="1061" y="672"/>
                        <a:pt x="1060" y="676"/>
                      </a:cubicBezTo>
                      <a:cubicBezTo>
                        <a:pt x="1059" y="681"/>
                        <a:pt x="1058" y="695"/>
                        <a:pt x="1001" y="747"/>
                      </a:cubicBezTo>
                      <a:cubicBezTo>
                        <a:pt x="1001" y="747"/>
                        <a:pt x="1001" y="747"/>
                        <a:pt x="1001" y="747"/>
                      </a:cubicBezTo>
                      <a:cubicBezTo>
                        <a:pt x="1000" y="749"/>
                        <a:pt x="998" y="751"/>
                        <a:pt x="997" y="752"/>
                      </a:cubicBezTo>
                      <a:cubicBezTo>
                        <a:pt x="998" y="752"/>
                        <a:pt x="998" y="753"/>
                        <a:pt x="999" y="754"/>
                      </a:cubicBezTo>
                      <a:cubicBezTo>
                        <a:pt x="1000" y="755"/>
                        <a:pt x="1068" y="814"/>
                        <a:pt x="1125" y="896"/>
                      </a:cubicBezTo>
                      <a:cubicBezTo>
                        <a:pt x="1176" y="896"/>
                        <a:pt x="1176" y="896"/>
                        <a:pt x="1176" y="896"/>
                      </a:cubicBezTo>
                      <a:cubicBezTo>
                        <a:pt x="1179" y="891"/>
                        <a:pt x="1182" y="887"/>
                        <a:pt x="1187" y="884"/>
                      </a:cubicBezTo>
                      <a:cubicBezTo>
                        <a:pt x="1185" y="800"/>
                        <a:pt x="1171" y="720"/>
                        <a:pt x="1148" y="649"/>
                      </a:cubicBezTo>
                      <a:close/>
                      <a:moveTo>
                        <a:pt x="913" y="305"/>
                      </a:moveTo>
                      <a:cubicBezTo>
                        <a:pt x="840" y="305"/>
                        <a:pt x="778" y="255"/>
                        <a:pt x="762" y="186"/>
                      </a:cubicBezTo>
                      <a:cubicBezTo>
                        <a:pt x="761" y="175"/>
                        <a:pt x="759" y="164"/>
                        <a:pt x="759" y="153"/>
                      </a:cubicBezTo>
                      <a:cubicBezTo>
                        <a:pt x="759" y="151"/>
                        <a:pt x="759" y="149"/>
                        <a:pt x="759" y="148"/>
                      </a:cubicBezTo>
                      <a:cubicBezTo>
                        <a:pt x="762" y="66"/>
                        <a:pt x="829" y="0"/>
                        <a:pt x="913" y="0"/>
                      </a:cubicBezTo>
                      <a:cubicBezTo>
                        <a:pt x="998" y="0"/>
                        <a:pt x="1067" y="68"/>
                        <a:pt x="1067" y="153"/>
                      </a:cubicBezTo>
                      <a:cubicBezTo>
                        <a:pt x="1067" y="236"/>
                        <a:pt x="998" y="305"/>
                        <a:pt x="913" y="305"/>
                      </a:cubicBezTo>
                      <a:close/>
                      <a:moveTo>
                        <a:pt x="963" y="196"/>
                      </a:moveTo>
                      <a:cubicBezTo>
                        <a:pt x="963" y="196"/>
                        <a:pt x="963" y="195"/>
                        <a:pt x="962" y="195"/>
                      </a:cubicBezTo>
                      <a:cubicBezTo>
                        <a:pt x="864" y="195"/>
                        <a:pt x="864" y="195"/>
                        <a:pt x="864" y="195"/>
                      </a:cubicBezTo>
                      <a:cubicBezTo>
                        <a:pt x="863" y="195"/>
                        <a:pt x="863" y="196"/>
                        <a:pt x="863" y="196"/>
                      </a:cubicBezTo>
                      <a:cubicBezTo>
                        <a:pt x="863" y="215"/>
                        <a:pt x="863" y="215"/>
                        <a:pt x="863" y="215"/>
                      </a:cubicBezTo>
                      <a:cubicBezTo>
                        <a:pt x="863" y="216"/>
                        <a:pt x="863" y="217"/>
                        <a:pt x="864" y="217"/>
                      </a:cubicBezTo>
                      <a:cubicBezTo>
                        <a:pt x="868" y="217"/>
                        <a:pt x="871" y="217"/>
                        <a:pt x="875" y="217"/>
                      </a:cubicBezTo>
                      <a:cubicBezTo>
                        <a:pt x="874" y="217"/>
                        <a:pt x="873" y="217"/>
                        <a:pt x="873" y="217"/>
                      </a:cubicBezTo>
                      <a:cubicBezTo>
                        <a:pt x="873" y="217"/>
                        <a:pt x="873" y="217"/>
                        <a:pt x="849" y="246"/>
                      </a:cubicBezTo>
                      <a:cubicBezTo>
                        <a:pt x="847" y="248"/>
                        <a:pt x="849" y="250"/>
                        <a:pt x="850" y="250"/>
                      </a:cubicBezTo>
                      <a:cubicBezTo>
                        <a:pt x="850" y="250"/>
                        <a:pt x="850" y="250"/>
                        <a:pt x="976" y="250"/>
                      </a:cubicBezTo>
                      <a:cubicBezTo>
                        <a:pt x="978" y="250"/>
                        <a:pt x="979" y="248"/>
                        <a:pt x="978" y="246"/>
                      </a:cubicBezTo>
                      <a:cubicBezTo>
                        <a:pt x="978" y="246"/>
                        <a:pt x="978" y="246"/>
                        <a:pt x="953" y="217"/>
                      </a:cubicBezTo>
                      <a:cubicBezTo>
                        <a:pt x="953" y="217"/>
                        <a:pt x="952" y="217"/>
                        <a:pt x="951" y="217"/>
                      </a:cubicBezTo>
                      <a:cubicBezTo>
                        <a:pt x="962" y="217"/>
                        <a:pt x="962" y="217"/>
                        <a:pt x="962" y="217"/>
                      </a:cubicBezTo>
                      <a:cubicBezTo>
                        <a:pt x="963" y="217"/>
                        <a:pt x="963" y="216"/>
                        <a:pt x="963" y="215"/>
                      </a:cubicBezTo>
                      <a:cubicBezTo>
                        <a:pt x="963" y="196"/>
                        <a:pt x="963" y="196"/>
                        <a:pt x="963" y="196"/>
                      </a:cubicBezTo>
                      <a:close/>
                      <a:moveTo>
                        <a:pt x="875" y="135"/>
                      </a:moveTo>
                      <a:cubicBezTo>
                        <a:pt x="876" y="136"/>
                        <a:pt x="876" y="136"/>
                        <a:pt x="876" y="137"/>
                      </a:cubicBezTo>
                      <a:cubicBezTo>
                        <a:pt x="876" y="136"/>
                        <a:pt x="874" y="135"/>
                        <a:pt x="873" y="135"/>
                      </a:cubicBezTo>
                      <a:cubicBezTo>
                        <a:pt x="872" y="134"/>
                        <a:pt x="871" y="134"/>
                        <a:pt x="871" y="134"/>
                      </a:cubicBezTo>
                      <a:cubicBezTo>
                        <a:pt x="870" y="133"/>
                        <a:pt x="869" y="133"/>
                        <a:pt x="868" y="134"/>
                      </a:cubicBezTo>
                      <a:cubicBezTo>
                        <a:pt x="867" y="134"/>
                        <a:pt x="867" y="135"/>
                        <a:pt x="867" y="135"/>
                      </a:cubicBezTo>
                      <a:cubicBezTo>
                        <a:pt x="864" y="138"/>
                        <a:pt x="867" y="146"/>
                        <a:pt x="867" y="147"/>
                      </a:cubicBezTo>
                      <a:cubicBezTo>
                        <a:pt x="867" y="148"/>
                        <a:pt x="871" y="153"/>
                        <a:pt x="876" y="158"/>
                      </a:cubicBezTo>
                      <a:cubicBezTo>
                        <a:pt x="872" y="157"/>
                        <a:pt x="871" y="157"/>
                        <a:pt x="871" y="158"/>
                      </a:cubicBezTo>
                      <a:cubicBezTo>
                        <a:pt x="870" y="159"/>
                        <a:pt x="869" y="161"/>
                        <a:pt x="869" y="165"/>
                      </a:cubicBezTo>
                      <a:cubicBezTo>
                        <a:pt x="869" y="167"/>
                        <a:pt x="869" y="169"/>
                        <a:pt x="870" y="173"/>
                      </a:cubicBezTo>
                      <a:cubicBezTo>
                        <a:pt x="870" y="173"/>
                        <a:pt x="870" y="173"/>
                        <a:pt x="870" y="174"/>
                      </a:cubicBezTo>
                      <a:cubicBezTo>
                        <a:pt x="870" y="177"/>
                        <a:pt x="870" y="179"/>
                        <a:pt x="870" y="181"/>
                      </a:cubicBezTo>
                      <a:cubicBezTo>
                        <a:pt x="870" y="181"/>
                        <a:pt x="870" y="181"/>
                        <a:pt x="952" y="181"/>
                      </a:cubicBezTo>
                      <a:cubicBezTo>
                        <a:pt x="954" y="173"/>
                        <a:pt x="952" y="162"/>
                        <a:pt x="945" y="151"/>
                      </a:cubicBezTo>
                      <a:cubicBezTo>
                        <a:pt x="939" y="140"/>
                        <a:pt x="930" y="130"/>
                        <a:pt x="928" y="128"/>
                      </a:cubicBezTo>
                      <a:cubicBezTo>
                        <a:pt x="927" y="127"/>
                        <a:pt x="927" y="127"/>
                        <a:pt x="927" y="126"/>
                      </a:cubicBezTo>
                      <a:cubicBezTo>
                        <a:pt x="926" y="125"/>
                        <a:pt x="924" y="123"/>
                        <a:pt x="924" y="120"/>
                      </a:cubicBezTo>
                      <a:cubicBezTo>
                        <a:pt x="926" y="119"/>
                        <a:pt x="930" y="118"/>
                        <a:pt x="934" y="117"/>
                      </a:cubicBezTo>
                      <a:cubicBezTo>
                        <a:pt x="937" y="115"/>
                        <a:pt x="939" y="114"/>
                        <a:pt x="940" y="114"/>
                      </a:cubicBezTo>
                      <a:cubicBezTo>
                        <a:pt x="941" y="114"/>
                        <a:pt x="944" y="117"/>
                        <a:pt x="945" y="117"/>
                      </a:cubicBezTo>
                      <a:cubicBezTo>
                        <a:pt x="951" y="122"/>
                        <a:pt x="960" y="129"/>
                        <a:pt x="969" y="125"/>
                      </a:cubicBezTo>
                      <a:cubicBezTo>
                        <a:pt x="981" y="119"/>
                        <a:pt x="977" y="102"/>
                        <a:pt x="975" y="98"/>
                      </a:cubicBezTo>
                      <a:cubicBezTo>
                        <a:pt x="974" y="94"/>
                        <a:pt x="966" y="89"/>
                        <a:pt x="953" y="79"/>
                      </a:cubicBezTo>
                      <a:cubicBezTo>
                        <a:pt x="951" y="79"/>
                        <a:pt x="950" y="77"/>
                        <a:pt x="949" y="76"/>
                      </a:cubicBezTo>
                      <a:cubicBezTo>
                        <a:pt x="949" y="76"/>
                        <a:pt x="948" y="75"/>
                        <a:pt x="948" y="74"/>
                      </a:cubicBezTo>
                      <a:cubicBezTo>
                        <a:pt x="947" y="72"/>
                        <a:pt x="946" y="70"/>
                        <a:pt x="944" y="67"/>
                      </a:cubicBezTo>
                      <a:cubicBezTo>
                        <a:pt x="940" y="64"/>
                        <a:pt x="932" y="60"/>
                        <a:pt x="923" y="58"/>
                      </a:cubicBezTo>
                      <a:cubicBezTo>
                        <a:pt x="921" y="57"/>
                        <a:pt x="917" y="55"/>
                        <a:pt x="917" y="55"/>
                      </a:cubicBezTo>
                      <a:cubicBezTo>
                        <a:pt x="917" y="55"/>
                        <a:pt x="917" y="55"/>
                        <a:pt x="917" y="55"/>
                      </a:cubicBezTo>
                      <a:cubicBezTo>
                        <a:pt x="917" y="54"/>
                        <a:pt x="917" y="54"/>
                        <a:pt x="917" y="54"/>
                      </a:cubicBezTo>
                      <a:cubicBezTo>
                        <a:pt x="917" y="54"/>
                        <a:pt x="918" y="52"/>
                        <a:pt x="918" y="50"/>
                      </a:cubicBezTo>
                      <a:cubicBezTo>
                        <a:pt x="919" y="44"/>
                        <a:pt x="917" y="41"/>
                        <a:pt x="917" y="41"/>
                      </a:cubicBezTo>
                      <a:cubicBezTo>
                        <a:pt x="917" y="41"/>
                        <a:pt x="916" y="41"/>
                        <a:pt x="915" y="41"/>
                      </a:cubicBezTo>
                      <a:cubicBezTo>
                        <a:pt x="905" y="41"/>
                        <a:pt x="898" y="52"/>
                        <a:pt x="896" y="55"/>
                      </a:cubicBezTo>
                      <a:cubicBezTo>
                        <a:pt x="896" y="56"/>
                        <a:pt x="896" y="56"/>
                        <a:pt x="896" y="56"/>
                      </a:cubicBezTo>
                      <a:cubicBezTo>
                        <a:pt x="893" y="59"/>
                        <a:pt x="876" y="79"/>
                        <a:pt x="873" y="80"/>
                      </a:cubicBezTo>
                      <a:cubicBezTo>
                        <a:pt x="869" y="84"/>
                        <a:pt x="869" y="92"/>
                        <a:pt x="869" y="92"/>
                      </a:cubicBezTo>
                      <a:cubicBezTo>
                        <a:pt x="869" y="93"/>
                        <a:pt x="869" y="94"/>
                        <a:pt x="881" y="113"/>
                      </a:cubicBezTo>
                      <a:cubicBezTo>
                        <a:pt x="882" y="114"/>
                        <a:pt x="882" y="114"/>
                        <a:pt x="883" y="115"/>
                      </a:cubicBezTo>
                      <a:cubicBezTo>
                        <a:pt x="871" y="105"/>
                        <a:pt x="870" y="105"/>
                        <a:pt x="870" y="104"/>
                      </a:cubicBezTo>
                      <a:cubicBezTo>
                        <a:pt x="869" y="104"/>
                        <a:pt x="868" y="105"/>
                        <a:pt x="867" y="105"/>
                      </a:cubicBezTo>
                      <a:cubicBezTo>
                        <a:pt x="864" y="109"/>
                        <a:pt x="865" y="121"/>
                        <a:pt x="866" y="123"/>
                      </a:cubicBezTo>
                      <a:cubicBezTo>
                        <a:pt x="866" y="124"/>
                        <a:pt x="870" y="129"/>
                        <a:pt x="875" y="135"/>
                      </a:cubicBezTo>
                      <a:close/>
                      <a:moveTo>
                        <a:pt x="188" y="763"/>
                      </a:moveTo>
                      <a:cubicBezTo>
                        <a:pt x="255" y="779"/>
                        <a:pt x="307" y="839"/>
                        <a:pt x="307" y="911"/>
                      </a:cubicBezTo>
                      <a:cubicBezTo>
                        <a:pt x="307" y="984"/>
                        <a:pt x="255" y="1045"/>
                        <a:pt x="186" y="1060"/>
                      </a:cubicBezTo>
                      <a:cubicBezTo>
                        <a:pt x="176" y="1063"/>
                        <a:pt x="165" y="1064"/>
                        <a:pt x="153" y="1064"/>
                      </a:cubicBezTo>
                      <a:cubicBezTo>
                        <a:pt x="152" y="1064"/>
                        <a:pt x="150" y="1064"/>
                        <a:pt x="148" y="1064"/>
                      </a:cubicBezTo>
                      <a:cubicBezTo>
                        <a:pt x="66" y="1061"/>
                        <a:pt x="0" y="994"/>
                        <a:pt x="0" y="911"/>
                      </a:cubicBezTo>
                      <a:cubicBezTo>
                        <a:pt x="0" y="829"/>
                        <a:pt x="67" y="761"/>
                        <a:pt x="150" y="759"/>
                      </a:cubicBezTo>
                      <a:cubicBezTo>
                        <a:pt x="151" y="759"/>
                        <a:pt x="152" y="759"/>
                        <a:pt x="153" y="759"/>
                      </a:cubicBezTo>
                      <a:cubicBezTo>
                        <a:pt x="165" y="759"/>
                        <a:pt x="177" y="761"/>
                        <a:pt x="188" y="763"/>
                      </a:cubicBezTo>
                      <a:close/>
                      <a:moveTo>
                        <a:pt x="236" y="920"/>
                      </a:moveTo>
                      <a:cubicBezTo>
                        <a:pt x="237" y="916"/>
                        <a:pt x="232" y="909"/>
                        <a:pt x="229" y="904"/>
                      </a:cubicBezTo>
                      <a:cubicBezTo>
                        <a:pt x="225" y="901"/>
                        <a:pt x="223" y="896"/>
                        <a:pt x="221" y="891"/>
                      </a:cubicBezTo>
                      <a:cubicBezTo>
                        <a:pt x="220" y="890"/>
                        <a:pt x="219" y="879"/>
                        <a:pt x="220" y="873"/>
                      </a:cubicBezTo>
                      <a:cubicBezTo>
                        <a:pt x="221" y="862"/>
                        <a:pt x="215" y="854"/>
                        <a:pt x="213" y="852"/>
                      </a:cubicBezTo>
                      <a:cubicBezTo>
                        <a:pt x="214" y="850"/>
                        <a:pt x="215" y="848"/>
                        <a:pt x="216" y="847"/>
                      </a:cubicBezTo>
                      <a:cubicBezTo>
                        <a:pt x="218" y="840"/>
                        <a:pt x="206" y="825"/>
                        <a:pt x="178" y="819"/>
                      </a:cubicBezTo>
                      <a:cubicBezTo>
                        <a:pt x="171" y="817"/>
                        <a:pt x="163" y="817"/>
                        <a:pt x="154" y="817"/>
                      </a:cubicBezTo>
                      <a:cubicBezTo>
                        <a:pt x="149" y="817"/>
                        <a:pt x="145" y="817"/>
                        <a:pt x="139" y="818"/>
                      </a:cubicBezTo>
                      <a:cubicBezTo>
                        <a:pt x="109" y="823"/>
                        <a:pt x="90" y="841"/>
                        <a:pt x="81" y="859"/>
                      </a:cubicBezTo>
                      <a:cubicBezTo>
                        <a:pt x="48" y="927"/>
                        <a:pt x="92" y="959"/>
                        <a:pt x="119" y="970"/>
                      </a:cubicBezTo>
                      <a:cubicBezTo>
                        <a:pt x="119" y="970"/>
                        <a:pt x="119" y="970"/>
                        <a:pt x="121" y="990"/>
                      </a:cubicBezTo>
                      <a:cubicBezTo>
                        <a:pt x="121" y="992"/>
                        <a:pt x="121" y="994"/>
                        <a:pt x="123" y="994"/>
                      </a:cubicBezTo>
                      <a:cubicBezTo>
                        <a:pt x="128" y="997"/>
                        <a:pt x="133" y="999"/>
                        <a:pt x="139" y="1001"/>
                      </a:cubicBezTo>
                      <a:cubicBezTo>
                        <a:pt x="152" y="1005"/>
                        <a:pt x="164" y="1006"/>
                        <a:pt x="170" y="1006"/>
                      </a:cubicBezTo>
                      <a:cubicBezTo>
                        <a:pt x="172" y="1006"/>
                        <a:pt x="174" y="1005"/>
                        <a:pt x="174" y="1005"/>
                      </a:cubicBezTo>
                      <a:cubicBezTo>
                        <a:pt x="176" y="1005"/>
                        <a:pt x="177" y="1004"/>
                        <a:pt x="178" y="1003"/>
                      </a:cubicBezTo>
                      <a:cubicBezTo>
                        <a:pt x="178" y="1002"/>
                        <a:pt x="178" y="1002"/>
                        <a:pt x="178" y="1002"/>
                      </a:cubicBezTo>
                      <a:cubicBezTo>
                        <a:pt x="178" y="1002"/>
                        <a:pt x="178" y="1002"/>
                        <a:pt x="178" y="970"/>
                      </a:cubicBezTo>
                      <a:cubicBezTo>
                        <a:pt x="183" y="970"/>
                        <a:pt x="189" y="970"/>
                        <a:pt x="190" y="970"/>
                      </a:cubicBezTo>
                      <a:cubicBezTo>
                        <a:pt x="208" y="971"/>
                        <a:pt x="212" y="968"/>
                        <a:pt x="215" y="966"/>
                      </a:cubicBezTo>
                      <a:cubicBezTo>
                        <a:pt x="216" y="964"/>
                        <a:pt x="219" y="959"/>
                        <a:pt x="218" y="941"/>
                      </a:cubicBezTo>
                      <a:cubicBezTo>
                        <a:pt x="218" y="937"/>
                        <a:pt x="218" y="932"/>
                        <a:pt x="218" y="928"/>
                      </a:cubicBezTo>
                      <a:cubicBezTo>
                        <a:pt x="229" y="928"/>
                        <a:pt x="234" y="923"/>
                        <a:pt x="236" y="920"/>
                      </a:cubicBezTo>
                      <a:close/>
                      <a:moveTo>
                        <a:pt x="913" y="1523"/>
                      </a:moveTo>
                      <a:cubicBezTo>
                        <a:pt x="986" y="1523"/>
                        <a:pt x="1048" y="1573"/>
                        <a:pt x="1064" y="1642"/>
                      </a:cubicBezTo>
                      <a:cubicBezTo>
                        <a:pt x="1066" y="1653"/>
                        <a:pt x="1067" y="1664"/>
                        <a:pt x="1067" y="1675"/>
                      </a:cubicBezTo>
                      <a:cubicBezTo>
                        <a:pt x="1067" y="1677"/>
                        <a:pt x="1067" y="1679"/>
                        <a:pt x="1067" y="1680"/>
                      </a:cubicBezTo>
                      <a:cubicBezTo>
                        <a:pt x="1065" y="1762"/>
                        <a:pt x="997" y="1828"/>
                        <a:pt x="913" y="1828"/>
                      </a:cubicBezTo>
                      <a:cubicBezTo>
                        <a:pt x="829" y="1828"/>
                        <a:pt x="762" y="1762"/>
                        <a:pt x="759" y="1680"/>
                      </a:cubicBezTo>
                      <a:cubicBezTo>
                        <a:pt x="759" y="1679"/>
                        <a:pt x="759" y="1677"/>
                        <a:pt x="759" y="1675"/>
                      </a:cubicBezTo>
                      <a:cubicBezTo>
                        <a:pt x="759" y="1664"/>
                        <a:pt x="761" y="1653"/>
                        <a:pt x="762" y="1642"/>
                      </a:cubicBezTo>
                      <a:cubicBezTo>
                        <a:pt x="778" y="1573"/>
                        <a:pt x="840" y="1523"/>
                        <a:pt x="913" y="1523"/>
                      </a:cubicBezTo>
                      <a:close/>
                      <a:moveTo>
                        <a:pt x="913" y="1768"/>
                      </a:moveTo>
                      <a:cubicBezTo>
                        <a:pt x="914" y="1768"/>
                        <a:pt x="914" y="1768"/>
                        <a:pt x="914" y="1767"/>
                      </a:cubicBezTo>
                      <a:cubicBezTo>
                        <a:pt x="914" y="1766"/>
                        <a:pt x="914" y="1766"/>
                        <a:pt x="914" y="1765"/>
                      </a:cubicBezTo>
                      <a:cubicBezTo>
                        <a:pt x="914" y="1762"/>
                        <a:pt x="914" y="1762"/>
                        <a:pt x="910" y="1762"/>
                      </a:cubicBezTo>
                      <a:cubicBezTo>
                        <a:pt x="908" y="1762"/>
                        <a:pt x="904" y="1762"/>
                        <a:pt x="901" y="1762"/>
                      </a:cubicBezTo>
                      <a:cubicBezTo>
                        <a:pt x="901" y="1760"/>
                        <a:pt x="901" y="1758"/>
                        <a:pt x="901" y="1756"/>
                      </a:cubicBezTo>
                      <a:cubicBezTo>
                        <a:pt x="901" y="1756"/>
                        <a:pt x="901" y="1755"/>
                        <a:pt x="899" y="1755"/>
                      </a:cubicBezTo>
                      <a:cubicBezTo>
                        <a:pt x="893" y="1755"/>
                        <a:pt x="887" y="1755"/>
                        <a:pt x="881" y="1755"/>
                      </a:cubicBezTo>
                      <a:cubicBezTo>
                        <a:pt x="880" y="1755"/>
                        <a:pt x="880" y="1755"/>
                        <a:pt x="879" y="1755"/>
                      </a:cubicBezTo>
                      <a:cubicBezTo>
                        <a:pt x="879" y="1735"/>
                        <a:pt x="879" y="1714"/>
                        <a:pt x="879" y="1694"/>
                      </a:cubicBezTo>
                      <a:cubicBezTo>
                        <a:pt x="879" y="1686"/>
                        <a:pt x="879" y="1679"/>
                        <a:pt x="879" y="1671"/>
                      </a:cubicBezTo>
                      <a:cubicBezTo>
                        <a:pt x="880" y="1671"/>
                        <a:pt x="880" y="1671"/>
                        <a:pt x="880" y="1671"/>
                      </a:cubicBezTo>
                      <a:cubicBezTo>
                        <a:pt x="888" y="1674"/>
                        <a:pt x="896" y="1674"/>
                        <a:pt x="903" y="1674"/>
                      </a:cubicBezTo>
                      <a:cubicBezTo>
                        <a:pt x="911" y="1673"/>
                        <a:pt x="919" y="1671"/>
                        <a:pt x="926" y="1668"/>
                      </a:cubicBezTo>
                      <a:cubicBezTo>
                        <a:pt x="937" y="1666"/>
                        <a:pt x="948" y="1662"/>
                        <a:pt x="958" y="1661"/>
                      </a:cubicBezTo>
                      <a:cubicBezTo>
                        <a:pt x="969" y="1661"/>
                        <a:pt x="978" y="1662"/>
                        <a:pt x="988" y="1667"/>
                      </a:cubicBezTo>
                      <a:cubicBezTo>
                        <a:pt x="989" y="1667"/>
                        <a:pt x="989" y="1667"/>
                        <a:pt x="990" y="1667"/>
                      </a:cubicBezTo>
                      <a:cubicBezTo>
                        <a:pt x="990" y="1667"/>
                        <a:pt x="990" y="1667"/>
                        <a:pt x="990" y="1666"/>
                      </a:cubicBezTo>
                      <a:cubicBezTo>
                        <a:pt x="990" y="1661"/>
                        <a:pt x="990" y="1657"/>
                        <a:pt x="990" y="1653"/>
                      </a:cubicBezTo>
                      <a:cubicBezTo>
                        <a:pt x="990" y="1635"/>
                        <a:pt x="990" y="1617"/>
                        <a:pt x="990" y="1598"/>
                      </a:cubicBezTo>
                      <a:cubicBezTo>
                        <a:pt x="990" y="1597"/>
                        <a:pt x="989" y="1597"/>
                        <a:pt x="988" y="1596"/>
                      </a:cubicBezTo>
                      <a:cubicBezTo>
                        <a:pt x="978" y="1591"/>
                        <a:pt x="967" y="1590"/>
                        <a:pt x="956" y="1591"/>
                      </a:cubicBezTo>
                      <a:cubicBezTo>
                        <a:pt x="948" y="1592"/>
                        <a:pt x="940" y="1594"/>
                        <a:pt x="932" y="1596"/>
                      </a:cubicBezTo>
                      <a:cubicBezTo>
                        <a:pt x="923" y="1598"/>
                        <a:pt x="912" y="1602"/>
                        <a:pt x="902" y="1603"/>
                      </a:cubicBezTo>
                      <a:cubicBezTo>
                        <a:pt x="895" y="1603"/>
                        <a:pt x="888" y="1603"/>
                        <a:pt x="880" y="1600"/>
                      </a:cubicBezTo>
                      <a:cubicBezTo>
                        <a:pt x="880" y="1600"/>
                        <a:pt x="879" y="1600"/>
                        <a:pt x="879" y="1599"/>
                      </a:cubicBezTo>
                      <a:cubicBezTo>
                        <a:pt x="878" y="1598"/>
                        <a:pt x="879" y="1597"/>
                        <a:pt x="880" y="1596"/>
                      </a:cubicBezTo>
                      <a:cubicBezTo>
                        <a:pt x="883" y="1593"/>
                        <a:pt x="883" y="1589"/>
                        <a:pt x="881" y="1585"/>
                      </a:cubicBezTo>
                      <a:cubicBezTo>
                        <a:pt x="878" y="1583"/>
                        <a:pt x="873" y="1583"/>
                        <a:pt x="870" y="1585"/>
                      </a:cubicBezTo>
                      <a:cubicBezTo>
                        <a:pt x="867" y="1589"/>
                        <a:pt x="868" y="1593"/>
                        <a:pt x="870" y="1596"/>
                      </a:cubicBezTo>
                      <a:cubicBezTo>
                        <a:pt x="871" y="1597"/>
                        <a:pt x="872" y="1598"/>
                        <a:pt x="872" y="1598"/>
                      </a:cubicBezTo>
                      <a:cubicBezTo>
                        <a:pt x="872" y="1617"/>
                        <a:pt x="872" y="1636"/>
                        <a:pt x="872" y="1655"/>
                      </a:cubicBezTo>
                      <a:cubicBezTo>
                        <a:pt x="872" y="1668"/>
                        <a:pt x="872" y="1680"/>
                        <a:pt x="872" y="1693"/>
                      </a:cubicBezTo>
                      <a:cubicBezTo>
                        <a:pt x="872" y="1713"/>
                        <a:pt x="871" y="1733"/>
                        <a:pt x="871" y="1754"/>
                      </a:cubicBezTo>
                      <a:cubicBezTo>
                        <a:pt x="871" y="1755"/>
                        <a:pt x="871" y="1755"/>
                        <a:pt x="871" y="1755"/>
                      </a:cubicBezTo>
                      <a:cubicBezTo>
                        <a:pt x="871" y="1755"/>
                        <a:pt x="870" y="1755"/>
                        <a:pt x="870" y="1755"/>
                      </a:cubicBezTo>
                      <a:cubicBezTo>
                        <a:pt x="863" y="1755"/>
                        <a:pt x="858" y="1755"/>
                        <a:pt x="852" y="1755"/>
                      </a:cubicBezTo>
                      <a:cubicBezTo>
                        <a:pt x="849" y="1755"/>
                        <a:pt x="849" y="1755"/>
                        <a:pt x="849" y="1757"/>
                      </a:cubicBezTo>
                      <a:cubicBezTo>
                        <a:pt x="849" y="1758"/>
                        <a:pt x="849" y="1760"/>
                        <a:pt x="849" y="1762"/>
                      </a:cubicBezTo>
                      <a:cubicBezTo>
                        <a:pt x="849" y="1762"/>
                        <a:pt x="849" y="1762"/>
                        <a:pt x="848" y="1762"/>
                      </a:cubicBezTo>
                      <a:cubicBezTo>
                        <a:pt x="845" y="1762"/>
                        <a:pt x="842" y="1762"/>
                        <a:pt x="838" y="1762"/>
                      </a:cubicBezTo>
                      <a:cubicBezTo>
                        <a:pt x="836" y="1762"/>
                        <a:pt x="836" y="1762"/>
                        <a:pt x="836" y="1763"/>
                      </a:cubicBezTo>
                      <a:cubicBezTo>
                        <a:pt x="836" y="1764"/>
                        <a:pt x="836" y="1765"/>
                        <a:pt x="836" y="1766"/>
                      </a:cubicBezTo>
                      <a:cubicBezTo>
                        <a:pt x="836" y="1768"/>
                        <a:pt x="836" y="1768"/>
                        <a:pt x="839" y="1768"/>
                      </a:cubicBezTo>
                      <a:cubicBezTo>
                        <a:pt x="863" y="1768"/>
                        <a:pt x="888" y="1768"/>
                        <a:pt x="912" y="1768"/>
                      </a:cubicBezTo>
                      <a:cubicBezTo>
                        <a:pt x="912" y="1768"/>
                        <a:pt x="912" y="1768"/>
                        <a:pt x="913" y="1768"/>
                      </a:cubicBezTo>
                      <a:close/>
                      <a:moveTo>
                        <a:pt x="1675" y="761"/>
                      </a:moveTo>
                      <a:cubicBezTo>
                        <a:pt x="1760" y="761"/>
                        <a:pt x="1828" y="829"/>
                        <a:pt x="1828" y="914"/>
                      </a:cubicBezTo>
                      <a:cubicBezTo>
                        <a:pt x="1828" y="997"/>
                        <a:pt x="1762" y="1065"/>
                        <a:pt x="1679" y="1067"/>
                      </a:cubicBezTo>
                      <a:cubicBezTo>
                        <a:pt x="1678" y="1067"/>
                        <a:pt x="1676" y="1067"/>
                        <a:pt x="1675" y="1067"/>
                      </a:cubicBezTo>
                      <a:cubicBezTo>
                        <a:pt x="1663" y="1067"/>
                        <a:pt x="1652" y="1066"/>
                        <a:pt x="1641" y="1063"/>
                      </a:cubicBezTo>
                      <a:cubicBezTo>
                        <a:pt x="1573" y="1048"/>
                        <a:pt x="1521" y="987"/>
                        <a:pt x="1521" y="914"/>
                      </a:cubicBezTo>
                      <a:cubicBezTo>
                        <a:pt x="1521" y="829"/>
                        <a:pt x="1591" y="761"/>
                        <a:pt x="1675" y="761"/>
                      </a:cubicBezTo>
                      <a:close/>
                      <a:moveTo>
                        <a:pt x="1769" y="979"/>
                      </a:moveTo>
                      <a:cubicBezTo>
                        <a:pt x="1769" y="849"/>
                        <a:pt x="1769" y="849"/>
                        <a:pt x="1769" y="849"/>
                      </a:cubicBezTo>
                      <a:cubicBezTo>
                        <a:pt x="1769" y="847"/>
                        <a:pt x="1768" y="846"/>
                        <a:pt x="1767" y="846"/>
                      </a:cubicBezTo>
                      <a:cubicBezTo>
                        <a:pt x="1583" y="846"/>
                        <a:pt x="1583" y="846"/>
                        <a:pt x="1583" y="846"/>
                      </a:cubicBezTo>
                      <a:cubicBezTo>
                        <a:pt x="1582" y="846"/>
                        <a:pt x="1580" y="847"/>
                        <a:pt x="1580" y="849"/>
                      </a:cubicBezTo>
                      <a:cubicBezTo>
                        <a:pt x="1580" y="979"/>
                        <a:pt x="1580" y="979"/>
                        <a:pt x="1580" y="979"/>
                      </a:cubicBezTo>
                      <a:cubicBezTo>
                        <a:pt x="1580" y="981"/>
                        <a:pt x="1582" y="982"/>
                        <a:pt x="1583" y="982"/>
                      </a:cubicBezTo>
                      <a:cubicBezTo>
                        <a:pt x="1610" y="982"/>
                        <a:pt x="1633" y="982"/>
                        <a:pt x="1653" y="982"/>
                      </a:cubicBezTo>
                      <a:cubicBezTo>
                        <a:pt x="1668" y="982"/>
                        <a:pt x="1680" y="982"/>
                        <a:pt x="1691" y="982"/>
                      </a:cubicBezTo>
                      <a:cubicBezTo>
                        <a:pt x="1767" y="982"/>
                        <a:pt x="1767" y="982"/>
                        <a:pt x="1767" y="982"/>
                      </a:cubicBezTo>
                      <a:cubicBezTo>
                        <a:pt x="1768" y="982"/>
                        <a:pt x="1769" y="981"/>
                        <a:pt x="1769" y="979"/>
                      </a:cubicBezTo>
                      <a:close/>
                      <a:moveTo>
                        <a:pt x="1588" y="973"/>
                      </a:moveTo>
                      <a:cubicBezTo>
                        <a:pt x="1588" y="973"/>
                        <a:pt x="1588" y="973"/>
                        <a:pt x="1588" y="855"/>
                      </a:cubicBezTo>
                      <a:cubicBezTo>
                        <a:pt x="1588" y="855"/>
                        <a:pt x="1588" y="855"/>
                        <a:pt x="1762" y="855"/>
                      </a:cubicBezTo>
                      <a:cubicBezTo>
                        <a:pt x="1762" y="855"/>
                        <a:pt x="1762" y="855"/>
                        <a:pt x="1762" y="881"/>
                      </a:cubicBezTo>
                      <a:cubicBezTo>
                        <a:pt x="1762" y="899"/>
                        <a:pt x="1762" y="927"/>
                        <a:pt x="1762" y="973"/>
                      </a:cubicBezTo>
                      <a:cubicBezTo>
                        <a:pt x="1762" y="973"/>
                        <a:pt x="1762" y="973"/>
                        <a:pt x="1692" y="973"/>
                      </a:cubicBezTo>
                      <a:cubicBezTo>
                        <a:pt x="1680" y="973"/>
                        <a:pt x="1668" y="973"/>
                        <a:pt x="1653" y="973"/>
                      </a:cubicBezTo>
                      <a:cubicBezTo>
                        <a:pt x="1639" y="973"/>
                        <a:pt x="1624" y="973"/>
                        <a:pt x="1606" y="973"/>
                      </a:cubicBezTo>
                      <a:cubicBezTo>
                        <a:pt x="1600" y="973"/>
                        <a:pt x="1594" y="973"/>
                        <a:pt x="1588" y="973"/>
                      </a:cubicBezTo>
                      <a:close/>
                      <a:moveTo>
                        <a:pt x="1599" y="957"/>
                      </a:moveTo>
                      <a:cubicBezTo>
                        <a:pt x="1598" y="959"/>
                        <a:pt x="1598" y="960"/>
                        <a:pt x="1600" y="962"/>
                      </a:cubicBezTo>
                      <a:cubicBezTo>
                        <a:pt x="1601" y="962"/>
                        <a:pt x="1602" y="963"/>
                        <a:pt x="1602" y="963"/>
                      </a:cubicBezTo>
                      <a:cubicBezTo>
                        <a:pt x="1604" y="963"/>
                        <a:pt x="1605" y="962"/>
                        <a:pt x="1605" y="961"/>
                      </a:cubicBezTo>
                      <a:cubicBezTo>
                        <a:pt x="1605" y="961"/>
                        <a:pt x="1605" y="961"/>
                        <a:pt x="1629" y="935"/>
                      </a:cubicBezTo>
                      <a:cubicBezTo>
                        <a:pt x="1629" y="935"/>
                        <a:pt x="1629" y="935"/>
                        <a:pt x="1629" y="935"/>
                      </a:cubicBezTo>
                      <a:cubicBezTo>
                        <a:pt x="1629" y="935"/>
                        <a:pt x="1629" y="935"/>
                        <a:pt x="1632" y="931"/>
                      </a:cubicBezTo>
                      <a:cubicBezTo>
                        <a:pt x="1632" y="931"/>
                        <a:pt x="1632" y="931"/>
                        <a:pt x="1648" y="939"/>
                      </a:cubicBezTo>
                      <a:cubicBezTo>
                        <a:pt x="1649" y="939"/>
                        <a:pt x="1649" y="939"/>
                        <a:pt x="1649" y="939"/>
                      </a:cubicBezTo>
                      <a:cubicBezTo>
                        <a:pt x="1649" y="940"/>
                        <a:pt x="1650" y="940"/>
                        <a:pt x="1651" y="940"/>
                      </a:cubicBezTo>
                      <a:cubicBezTo>
                        <a:pt x="1653" y="940"/>
                        <a:pt x="1654" y="939"/>
                        <a:pt x="1655" y="938"/>
                      </a:cubicBezTo>
                      <a:cubicBezTo>
                        <a:pt x="1655" y="938"/>
                        <a:pt x="1655" y="938"/>
                        <a:pt x="1655" y="937"/>
                      </a:cubicBezTo>
                      <a:cubicBezTo>
                        <a:pt x="1655" y="937"/>
                        <a:pt x="1655" y="937"/>
                        <a:pt x="1683" y="908"/>
                      </a:cubicBezTo>
                      <a:cubicBezTo>
                        <a:pt x="1683" y="908"/>
                        <a:pt x="1683" y="908"/>
                        <a:pt x="1693" y="915"/>
                      </a:cubicBezTo>
                      <a:cubicBezTo>
                        <a:pt x="1693" y="915"/>
                        <a:pt x="1693" y="915"/>
                        <a:pt x="1699" y="918"/>
                      </a:cubicBezTo>
                      <a:cubicBezTo>
                        <a:pt x="1700" y="919"/>
                        <a:pt x="1700" y="919"/>
                        <a:pt x="1700" y="919"/>
                      </a:cubicBezTo>
                      <a:cubicBezTo>
                        <a:pt x="1700" y="919"/>
                        <a:pt x="1700" y="919"/>
                        <a:pt x="1704" y="922"/>
                      </a:cubicBezTo>
                      <a:cubicBezTo>
                        <a:pt x="1705" y="923"/>
                        <a:pt x="1706" y="923"/>
                        <a:pt x="1707" y="923"/>
                      </a:cubicBezTo>
                      <a:cubicBezTo>
                        <a:pt x="1708" y="923"/>
                        <a:pt x="1710" y="922"/>
                        <a:pt x="1710" y="921"/>
                      </a:cubicBezTo>
                      <a:cubicBezTo>
                        <a:pt x="1710" y="921"/>
                        <a:pt x="1710" y="921"/>
                        <a:pt x="1728" y="900"/>
                      </a:cubicBezTo>
                      <a:cubicBezTo>
                        <a:pt x="1728" y="900"/>
                        <a:pt x="1728" y="900"/>
                        <a:pt x="1730" y="899"/>
                      </a:cubicBezTo>
                      <a:cubicBezTo>
                        <a:pt x="1730" y="899"/>
                        <a:pt x="1730" y="899"/>
                        <a:pt x="1734" y="902"/>
                      </a:cubicBezTo>
                      <a:cubicBezTo>
                        <a:pt x="1735" y="903"/>
                        <a:pt x="1736" y="903"/>
                        <a:pt x="1738" y="903"/>
                      </a:cubicBezTo>
                      <a:cubicBezTo>
                        <a:pt x="1740" y="903"/>
                        <a:pt x="1741" y="902"/>
                        <a:pt x="1742" y="899"/>
                      </a:cubicBezTo>
                      <a:cubicBezTo>
                        <a:pt x="1742" y="899"/>
                        <a:pt x="1742" y="899"/>
                        <a:pt x="1750" y="872"/>
                      </a:cubicBezTo>
                      <a:cubicBezTo>
                        <a:pt x="1751" y="871"/>
                        <a:pt x="1751" y="869"/>
                        <a:pt x="1749" y="868"/>
                      </a:cubicBezTo>
                      <a:cubicBezTo>
                        <a:pt x="1748" y="866"/>
                        <a:pt x="1747" y="865"/>
                        <a:pt x="1745" y="865"/>
                      </a:cubicBezTo>
                      <a:cubicBezTo>
                        <a:pt x="1744" y="865"/>
                        <a:pt x="1743" y="866"/>
                        <a:pt x="1743" y="866"/>
                      </a:cubicBezTo>
                      <a:cubicBezTo>
                        <a:pt x="1743" y="866"/>
                        <a:pt x="1743" y="866"/>
                        <a:pt x="1716" y="877"/>
                      </a:cubicBezTo>
                      <a:cubicBezTo>
                        <a:pt x="1716" y="877"/>
                        <a:pt x="1716" y="877"/>
                        <a:pt x="1714" y="878"/>
                      </a:cubicBezTo>
                      <a:cubicBezTo>
                        <a:pt x="1713" y="878"/>
                        <a:pt x="1712" y="880"/>
                        <a:pt x="1712" y="881"/>
                      </a:cubicBezTo>
                      <a:cubicBezTo>
                        <a:pt x="1712" y="883"/>
                        <a:pt x="1712" y="885"/>
                        <a:pt x="1714" y="886"/>
                      </a:cubicBezTo>
                      <a:cubicBezTo>
                        <a:pt x="1714" y="886"/>
                        <a:pt x="1714" y="886"/>
                        <a:pt x="1718" y="888"/>
                      </a:cubicBezTo>
                      <a:cubicBezTo>
                        <a:pt x="1718" y="888"/>
                        <a:pt x="1718" y="888"/>
                        <a:pt x="1704" y="904"/>
                      </a:cubicBezTo>
                      <a:cubicBezTo>
                        <a:pt x="1704" y="904"/>
                        <a:pt x="1704" y="904"/>
                        <a:pt x="1684" y="893"/>
                      </a:cubicBezTo>
                      <a:cubicBezTo>
                        <a:pt x="1684" y="892"/>
                        <a:pt x="1684" y="892"/>
                        <a:pt x="1684" y="892"/>
                      </a:cubicBezTo>
                      <a:cubicBezTo>
                        <a:pt x="1683" y="892"/>
                        <a:pt x="1683" y="892"/>
                        <a:pt x="1682" y="892"/>
                      </a:cubicBezTo>
                      <a:cubicBezTo>
                        <a:pt x="1680" y="892"/>
                        <a:pt x="1680" y="892"/>
                        <a:pt x="1679" y="893"/>
                      </a:cubicBezTo>
                      <a:cubicBezTo>
                        <a:pt x="1678" y="893"/>
                        <a:pt x="1678" y="893"/>
                        <a:pt x="1678" y="893"/>
                      </a:cubicBezTo>
                      <a:cubicBezTo>
                        <a:pt x="1678" y="893"/>
                        <a:pt x="1678" y="893"/>
                        <a:pt x="1676" y="895"/>
                      </a:cubicBezTo>
                      <a:cubicBezTo>
                        <a:pt x="1676" y="895"/>
                        <a:pt x="1676" y="895"/>
                        <a:pt x="1655" y="919"/>
                      </a:cubicBezTo>
                      <a:cubicBezTo>
                        <a:pt x="1655" y="919"/>
                        <a:pt x="1655" y="919"/>
                        <a:pt x="1652" y="923"/>
                      </a:cubicBezTo>
                      <a:cubicBezTo>
                        <a:pt x="1652" y="923"/>
                        <a:pt x="1652" y="923"/>
                        <a:pt x="1649" y="927"/>
                      </a:cubicBezTo>
                      <a:cubicBezTo>
                        <a:pt x="1649" y="927"/>
                        <a:pt x="1649" y="927"/>
                        <a:pt x="1632" y="921"/>
                      </a:cubicBezTo>
                      <a:cubicBezTo>
                        <a:pt x="1631" y="921"/>
                        <a:pt x="1631" y="921"/>
                        <a:pt x="1630" y="921"/>
                      </a:cubicBezTo>
                      <a:cubicBezTo>
                        <a:pt x="1628" y="921"/>
                        <a:pt x="1627" y="921"/>
                        <a:pt x="1626" y="923"/>
                      </a:cubicBezTo>
                      <a:cubicBezTo>
                        <a:pt x="1626" y="923"/>
                        <a:pt x="1626" y="923"/>
                        <a:pt x="1599" y="957"/>
                      </a:cubicBezTo>
                      <a:close/>
                      <a:moveTo>
                        <a:pt x="1755" y="966"/>
                      </a:moveTo>
                      <a:cubicBezTo>
                        <a:pt x="1755" y="966"/>
                        <a:pt x="1755" y="966"/>
                        <a:pt x="1755" y="966"/>
                      </a:cubicBezTo>
                      <a:cubicBezTo>
                        <a:pt x="1755" y="905"/>
                        <a:pt x="1755" y="905"/>
                        <a:pt x="1755" y="905"/>
                      </a:cubicBezTo>
                      <a:cubicBezTo>
                        <a:pt x="1752" y="910"/>
                        <a:pt x="1747" y="913"/>
                        <a:pt x="1740" y="913"/>
                      </a:cubicBezTo>
                      <a:cubicBezTo>
                        <a:pt x="1738" y="913"/>
                        <a:pt x="1736" y="913"/>
                        <a:pt x="1734" y="912"/>
                      </a:cubicBezTo>
                      <a:cubicBezTo>
                        <a:pt x="1734" y="912"/>
                        <a:pt x="1734" y="912"/>
                        <a:pt x="1720" y="928"/>
                      </a:cubicBezTo>
                      <a:cubicBezTo>
                        <a:pt x="1717" y="931"/>
                        <a:pt x="1713" y="934"/>
                        <a:pt x="1707" y="934"/>
                      </a:cubicBezTo>
                      <a:cubicBezTo>
                        <a:pt x="1705" y="934"/>
                        <a:pt x="1701" y="933"/>
                        <a:pt x="1699" y="931"/>
                      </a:cubicBezTo>
                      <a:cubicBezTo>
                        <a:pt x="1699" y="931"/>
                        <a:pt x="1699" y="931"/>
                        <a:pt x="1695" y="929"/>
                      </a:cubicBezTo>
                      <a:cubicBezTo>
                        <a:pt x="1694" y="929"/>
                        <a:pt x="1694" y="928"/>
                        <a:pt x="1693" y="928"/>
                      </a:cubicBezTo>
                      <a:cubicBezTo>
                        <a:pt x="1693" y="928"/>
                        <a:pt x="1693" y="928"/>
                        <a:pt x="1693" y="928"/>
                      </a:cubicBezTo>
                      <a:cubicBezTo>
                        <a:pt x="1693" y="928"/>
                        <a:pt x="1693" y="928"/>
                        <a:pt x="1686" y="922"/>
                      </a:cubicBezTo>
                      <a:cubicBezTo>
                        <a:pt x="1686" y="922"/>
                        <a:pt x="1686" y="922"/>
                        <a:pt x="1662" y="946"/>
                      </a:cubicBezTo>
                      <a:cubicBezTo>
                        <a:pt x="1660" y="948"/>
                        <a:pt x="1658" y="950"/>
                        <a:pt x="1654" y="951"/>
                      </a:cubicBezTo>
                      <a:cubicBezTo>
                        <a:pt x="1652" y="952"/>
                        <a:pt x="1648" y="952"/>
                        <a:pt x="1645" y="950"/>
                      </a:cubicBezTo>
                      <a:cubicBezTo>
                        <a:pt x="1644" y="950"/>
                        <a:pt x="1643" y="950"/>
                        <a:pt x="1643" y="950"/>
                      </a:cubicBezTo>
                      <a:cubicBezTo>
                        <a:pt x="1643" y="950"/>
                        <a:pt x="1643" y="950"/>
                        <a:pt x="1633" y="945"/>
                      </a:cubicBezTo>
                      <a:cubicBezTo>
                        <a:pt x="1633" y="945"/>
                        <a:pt x="1633" y="945"/>
                        <a:pt x="1614" y="966"/>
                      </a:cubicBezTo>
                      <a:cubicBezTo>
                        <a:pt x="1614" y="966"/>
                        <a:pt x="1614" y="966"/>
                        <a:pt x="1653" y="966"/>
                      </a:cubicBezTo>
                      <a:cubicBezTo>
                        <a:pt x="1653" y="966"/>
                        <a:pt x="1653" y="966"/>
                        <a:pt x="1692" y="966"/>
                      </a:cubicBezTo>
                      <a:cubicBezTo>
                        <a:pt x="1692" y="966"/>
                        <a:pt x="1692" y="966"/>
                        <a:pt x="1755" y="966"/>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US"/>
                </a:p>
              </p:txBody>
            </p:sp>
            <p:sp>
              <p:nvSpPr>
                <p:cNvPr id="221" name="Freeform 63">
                  <a:extLst>
                    <a:ext uri="{FF2B5EF4-FFF2-40B4-BE49-F238E27FC236}">
                      <a16:creationId xmlns:a16="http://schemas.microsoft.com/office/drawing/2014/main" id="{2D7BF624-61BC-2F8B-B2E1-B0C58D547715}"/>
                    </a:ext>
                  </a:extLst>
                </p:cNvPr>
                <p:cNvSpPr>
                  <a:spLocks noEditPoints="1"/>
                </p:cNvSpPr>
                <p:nvPr/>
              </p:nvSpPr>
              <p:spPr bwMode="auto">
                <a:xfrm>
                  <a:off x="2000251" y="2889250"/>
                  <a:ext cx="1079500" cy="1077913"/>
                </a:xfrm>
                <a:custGeom>
                  <a:avLst/>
                  <a:gdLst>
                    <a:gd name="T0" fmla="*/ 1133 w 1514"/>
                    <a:gd name="T1" fmla="*/ 342 h 1510"/>
                    <a:gd name="T2" fmla="*/ 390 w 1514"/>
                    <a:gd name="T3" fmla="*/ 337 h 1510"/>
                    <a:gd name="T4" fmla="*/ 385 w 1514"/>
                    <a:gd name="T5" fmla="*/ 1168 h 1510"/>
                    <a:gd name="T6" fmla="*/ 1128 w 1514"/>
                    <a:gd name="T7" fmla="*/ 1173 h 1510"/>
                    <a:gd name="T8" fmla="*/ 778 w 1514"/>
                    <a:gd name="T9" fmla="*/ 1274 h 1510"/>
                    <a:gd name="T10" fmla="*/ 621 w 1514"/>
                    <a:gd name="T11" fmla="*/ 1256 h 1510"/>
                    <a:gd name="T12" fmla="*/ 240 w 1514"/>
                    <a:gd name="T13" fmla="*/ 774 h 1510"/>
                    <a:gd name="T14" fmla="*/ 390 w 1514"/>
                    <a:gd name="T15" fmla="*/ 390 h 1510"/>
                    <a:gd name="T16" fmla="*/ 740 w 1514"/>
                    <a:gd name="T17" fmla="*/ 236 h 1510"/>
                    <a:gd name="T18" fmla="*/ 897 w 1514"/>
                    <a:gd name="T19" fmla="*/ 254 h 1510"/>
                    <a:gd name="T20" fmla="*/ 1278 w 1514"/>
                    <a:gd name="T21" fmla="*/ 736 h 1510"/>
                    <a:gd name="T22" fmla="*/ 1128 w 1514"/>
                    <a:gd name="T23" fmla="*/ 1120 h 1510"/>
                    <a:gd name="T24" fmla="*/ 1006 w 1514"/>
                    <a:gd name="T25" fmla="*/ 927 h 1510"/>
                    <a:gd name="T26" fmla="*/ 923 w 1514"/>
                    <a:gd name="T27" fmla="*/ 736 h 1510"/>
                    <a:gd name="T28" fmla="*/ 820 w 1514"/>
                    <a:gd name="T29" fmla="*/ 560 h 1510"/>
                    <a:gd name="T30" fmla="*/ 840 w 1514"/>
                    <a:gd name="T31" fmla="*/ 504 h 1510"/>
                    <a:gd name="T32" fmla="*/ 802 w 1514"/>
                    <a:gd name="T33" fmla="*/ 557 h 1510"/>
                    <a:gd name="T34" fmla="*/ 785 w 1514"/>
                    <a:gd name="T35" fmla="*/ 530 h 1510"/>
                    <a:gd name="T36" fmla="*/ 813 w 1514"/>
                    <a:gd name="T37" fmla="*/ 473 h 1510"/>
                    <a:gd name="T38" fmla="*/ 813 w 1514"/>
                    <a:gd name="T39" fmla="*/ 467 h 1510"/>
                    <a:gd name="T40" fmla="*/ 777 w 1514"/>
                    <a:gd name="T41" fmla="*/ 467 h 1510"/>
                    <a:gd name="T42" fmla="*/ 730 w 1514"/>
                    <a:gd name="T43" fmla="*/ 467 h 1510"/>
                    <a:gd name="T44" fmla="*/ 700 w 1514"/>
                    <a:gd name="T45" fmla="*/ 467 h 1510"/>
                    <a:gd name="T46" fmla="*/ 706 w 1514"/>
                    <a:gd name="T47" fmla="*/ 480 h 1510"/>
                    <a:gd name="T48" fmla="*/ 733 w 1514"/>
                    <a:gd name="T49" fmla="*/ 538 h 1510"/>
                    <a:gd name="T50" fmla="*/ 678 w 1514"/>
                    <a:gd name="T51" fmla="*/ 507 h 1510"/>
                    <a:gd name="T52" fmla="*/ 653 w 1514"/>
                    <a:gd name="T53" fmla="*/ 516 h 1510"/>
                    <a:gd name="T54" fmla="*/ 697 w 1514"/>
                    <a:gd name="T55" fmla="*/ 624 h 1510"/>
                    <a:gd name="T56" fmla="*/ 567 w 1514"/>
                    <a:gd name="T57" fmla="*/ 774 h 1510"/>
                    <a:gd name="T58" fmla="*/ 539 w 1514"/>
                    <a:gd name="T59" fmla="*/ 1009 h 1510"/>
                    <a:gd name="T60" fmla="*/ 654 w 1514"/>
                    <a:gd name="T61" fmla="*/ 1043 h 1510"/>
                    <a:gd name="T62" fmla="*/ 758 w 1514"/>
                    <a:gd name="T63" fmla="*/ 1043 h 1510"/>
                    <a:gd name="T64" fmla="*/ 862 w 1514"/>
                    <a:gd name="T65" fmla="*/ 1043 h 1510"/>
                    <a:gd name="T66" fmla="*/ 977 w 1514"/>
                    <a:gd name="T67" fmla="*/ 1009 h 1510"/>
                    <a:gd name="T68" fmla="*/ 684 w 1514"/>
                    <a:gd name="T69" fmla="*/ 763 h 1510"/>
                    <a:gd name="T70" fmla="*/ 698 w 1514"/>
                    <a:gd name="T71" fmla="*/ 723 h 1510"/>
                    <a:gd name="T72" fmla="*/ 739 w 1514"/>
                    <a:gd name="T73" fmla="*/ 670 h 1510"/>
                    <a:gd name="T74" fmla="*/ 775 w 1514"/>
                    <a:gd name="T75" fmla="*/ 698 h 1510"/>
                    <a:gd name="T76" fmla="*/ 813 w 1514"/>
                    <a:gd name="T77" fmla="*/ 736 h 1510"/>
                    <a:gd name="T78" fmla="*/ 777 w 1514"/>
                    <a:gd name="T79" fmla="*/ 736 h 1510"/>
                    <a:gd name="T80" fmla="*/ 758 w 1514"/>
                    <a:gd name="T81" fmla="*/ 734 h 1510"/>
                    <a:gd name="T82" fmla="*/ 736 w 1514"/>
                    <a:gd name="T83" fmla="*/ 743 h 1510"/>
                    <a:gd name="T84" fmla="*/ 731 w 1514"/>
                    <a:gd name="T85" fmla="*/ 774 h 1510"/>
                    <a:gd name="T86" fmla="*/ 758 w 1514"/>
                    <a:gd name="T87" fmla="*/ 797 h 1510"/>
                    <a:gd name="T88" fmla="*/ 810 w 1514"/>
                    <a:gd name="T89" fmla="*/ 828 h 1510"/>
                    <a:gd name="T90" fmla="*/ 817 w 1514"/>
                    <a:gd name="T91" fmla="*/ 922 h 1510"/>
                    <a:gd name="T92" fmla="*/ 775 w 1514"/>
                    <a:gd name="T93" fmla="*/ 984 h 1510"/>
                    <a:gd name="T94" fmla="*/ 749 w 1514"/>
                    <a:gd name="T95" fmla="*/ 984 h 1510"/>
                    <a:gd name="T96" fmla="*/ 737 w 1514"/>
                    <a:gd name="T97" fmla="*/ 949 h 1510"/>
                    <a:gd name="T98" fmla="*/ 739 w 1514"/>
                    <a:gd name="T99" fmla="*/ 910 h 1510"/>
                    <a:gd name="T100" fmla="*/ 777 w 1514"/>
                    <a:gd name="T101" fmla="*/ 906 h 1510"/>
                    <a:gd name="T102" fmla="*/ 777 w 1514"/>
                    <a:gd name="T103" fmla="*/ 858 h 1510"/>
                    <a:gd name="T104" fmla="*/ 739 w 1514"/>
                    <a:gd name="T105" fmla="*/ 833 h 1510"/>
                    <a:gd name="T106" fmla="*/ 685 w 1514"/>
                    <a:gd name="T107" fmla="*/ 774 h 1510"/>
                    <a:gd name="T108" fmla="*/ 40 w 1514"/>
                    <a:gd name="T109" fmla="*/ 567 h 1510"/>
                    <a:gd name="T110" fmla="*/ 567 w 1514"/>
                    <a:gd name="T111" fmla="*/ 0 h 1510"/>
                    <a:gd name="T112" fmla="*/ 1476 w 1514"/>
                    <a:gd name="T113" fmla="*/ 941 h 1510"/>
                    <a:gd name="T114" fmla="*/ 951 w 1514"/>
                    <a:gd name="T115" fmla="*/ 1510 h 1510"/>
                    <a:gd name="T116" fmla="*/ 573 w 1514"/>
                    <a:gd name="T117" fmla="*/ 1472 h 1510"/>
                    <a:gd name="T118" fmla="*/ 0 w 1514"/>
                    <a:gd name="T119" fmla="*/ 942 h 1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4" h="1510">
                      <a:moveTo>
                        <a:pt x="1133" y="1168"/>
                      </a:moveTo>
                      <a:cubicBezTo>
                        <a:pt x="1246" y="1066"/>
                        <a:pt x="1317" y="918"/>
                        <a:pt x="1317" y="755"/>
                      </a:cubicBezTo>
                      <a:cubicBezTo>
                        <a:pt x="1317" y="592"/>
                        <a:pt x="1246" y="444"/>
                        <a:pt x="1133" y="342"/>
                      </a:cubicBezTo>
                      <a:cubicBezTo>
                        <a:pt x="1132" y="341"/>
                        <a:pt x="1130" y="339"/>
                        <a:pt x="1128" y="337"/>
                      </a:cubicBezTo>
                      <a:cubicBezTo>
                        <a:pt x="1030" y="251"/>
                        <a:pt x="901" y="197"/>
                        <a:pt x="759" y="197"/>
                      </a:cubicBezTo>
                      <a:cubicBezTo>
                        <a:pt x="617" y="197"/>
                        <a:pt x="488" y="251"/>
                        <a:pt x="390" y="337"/>
                      </a:cubicBezTo>
                      <a:cubicBezTo>
                        <a:pt x="388" y="339"/>
                        <a:pt x="386" y="341"/>
                        <a:pt x="385" y="342"/>
                      </a:cubicBezTo>
                      <a:cubicBezTo>
                        <a:pt x="272" y="444"/>
                        <a:pt x="201" y="592"/>
                        <a:pt x="201" y="755"/>
                      </a:cubicBezTo>
                      <a:cubicBezTo>
                        <a:pt x="201" y="918"/>
                        <a:pt x="272" y="1066"/>
                        <a:pt x="385" y="1168"/>
                      </a:cubicBezTo>
                      <a:cubicBezTo>
                        <a:pt x="386" y="1169"/>
                        <a:pt x="388" y="1171"/>
                        <a:pt x="390" y="1173"/>
                      </a:cubicBezTo>
                      <a:cubicBezTo>
                        <a:pt x="488" y="1259"/>
                        <a:pt x="617" y="1313"/>
                        <a:pt x="759" y="1313"/>
                      </a:cubicBezTo>
                      <a:cubicBezTo>
                        <a:pt x="901" y="1313"/>
                        <a:pt x="1030" y="1259"/>
                        <a:pt x="1128" y="1173"/>
                      </a:cubicBezTo>
                      <a:cubicBezTo>
                        <a:pt x="1130" y="1171"/>
                        <a:pt x="1132" y="1169"/>
                        <a:pt x="1133" y="1168"/>
                      </a:cubicBezTo>
                      <a:close/>
                      <a:moveTo>
                        <a:pt x="897" y="1256"/>
                      </a:moveTo>
                      <a:cubicBezTo>
                        <a:pt x="859" y="1266"/>
                        <a:pt x="820" y="1273"/>
                        <a:pt x="778" y="1274"/>
                      </a:cubicBezTo>
                      <a:cubicBezTo>
                        <a:pt x="772" y="1275"/>
                        <a:pt x="765" y="1275"/>
                        <a:pt x="759" y="1275"/>
                      </a:cubicBezTo>
                      <a:cubicBezTo>
                        <a:pt x="753" y="1275"/>
                        <a:pt x="746" y="1275"/>
                        <a:pt x="740" y="1274"/>
                      </a:cubicBezTo>
                      <a:cubicBezTo>
                        <a:pt x="698" y="1273"/>
                        <a:pt x="659" y="1266"/>
                        <a:pt x="621" y="1256"/>
                      </a:cubicBezTo>
                      <a:cubicBezTo>
                        <a:pt x="545" y="1235"/>
                        <a:pt x="477" y="1198"/>
                        <a:pt x="420" y="1148"/>
                      </a:cubicBezTo>
                      <a:cubicBezTo>
                        <a:pt x="410" y="1139"/>
                        <a:pt x="399" y="1130"/>
                        <a:pt x="390" y="1120"/>
                      </a:cubicBezTo>
                      <a:cubicBezTo>
                        <a:pt x="301" y="1031"/>
                        <a:pt x="245" y="909"/>
                        <a:pt x="240" y="774"/>
                      </a:cubicBezTo>
                      <a:cubicBezTo>
                        <a:pt x="239" y="768"/>
                        <a:pt x="239" y="761"/>
                        <a:pt x="239" y="755"/>
                      </a:cubicBezTo>
                      <a:cubicBezTo>
                        <a:pt x="239" y="749"/>
                        <a:pt x="239" y="742"/>
                        <a:pt x="240" y="736"/>
                      </a:cubicBezTo>
                      <a:cubicBezTo>
                        <a:pt x="245" y="601"/>
                        <a:pt x="301" y="479"/>
                        <a:pt x="390" y="390"/>
                      </a:cubicBezTo>
                      <a:cubicBezTo>
                        <a:pt x="399" y="380"/>
                        <a:pt x="410" y="371"/>
                        <a:pt x="420" y="362"/>
                      </a:cubicBezTo>
                      <a:cubicBezTo>
                        <a:pt x="477" y="312"/>
                        <a:pt x="545" y="275"/>
                        <a:pt x="621" y="254"/>
                      </a:cubicBezTo>
                      <a:cubicBezTo>
                        <a:pt x="659" y="244"/>
                        <a:pt x="698" y="237"/>
                        <a:pt x="740" y="236"/>
                      </a:cubicBezTo>
                      <a:cubicBezTo>
                        <a:pt x="746" y="235"/>
                        <a:pt x="753" y="235"/>
                        <a:pt x="759" y="235"/>
                      </a:cubicBezTo>
                      <a:cubicBezTo>
                        <a:pt x="765" y="235"/>
                        <a:pt x="772" y="235"/>
                        <a:pt x="778" y="236"/>
                      </a:cubicBezTo>
                      <a:cubicBezTo>
                        <a:pt x="820" y="237"/>
                        <a:pt x="859" y="244"/>
                        <a:pt x="897" y="254"/>
                      </a:cubicBezTo>
                      <a:cubicBezTo>
                        <a:pt x="973" y="275"/>
                        <a:pt x="1041" y="312"/>
                        <a:pt x="1098" y="362"/>
                      </a:cubicBezTo>
                      <a:cubicBezTo>
                        <a:pt x="1108" y="371"/>
                        <a:pt x="1119" y="380"/>
                        <a:pt x="1128" y="390"/>
                      </a:cubicBezTo>
                      <a:cubicBezTo>
                        <a:pt x="1217" y="479"/>
                        <a:pt x="1273" y="601"/>
                        <a:pt x="1278" y="736"/>
                      </a:cubicBezTo>
                      <a:cubicBezTo>
                        <a:pt x="1279" y="742"/>
                        <a:pt x="1279" y="749"/>
                        <a:pt x="1279" y="755"/>
                      </a:cubicBezTo>
                      <a:cubicBezTo>
                        <a:pt x="1279" y="761"/>
                        <a:pt x="1279" y="768"/>
                        <a:pt x="1278" y="774"/>
                      </a:cubicBezTo>
                      <a:cubicBezTo>
                        <a:pt x="1273" y="909"/>
                        <a:pt x="1217" y="1031"/>
                        <a:pt x="1128" y="1120"/>
                      </a:cubicBezTo>
                      <a:cubicBezTo>
                        <a:pt x="1119" y="1130"/>
                        <a:pt x="1108" y="1139"/>
                        <a:pt x="1098" y="1148"/>
                      </a:cubicBezTo>
                      <a:cubicBezTo>
                        <a:pt x="1041" y="1198"/>
                        <a:pt x="973" y="1235"/>
                        <a:pt x="897" y="1256"/>
                      </a:cubicBezTo>
                      <a:close/>
                      <a:moveTo>
                        <a:pt x="1006" y="927"/>
                      </a:moveTo>
                      <a:cubicBezTo>
                        <a:pt x="1006" y="877"/>
                        <a:pt x="981" y="823"/>
                        <a:pt x="949" y="774"/>
                      </a:cubicBezTo>
                      <a:cubicBezTo>
                        <a:pt x="945" y="768"/>
                        <a:pt x="941" y="761"/>
                        <a:pt x="936" y="755"/>
                      </a:cubicBezTo>
                      <a:cubicBezTo>
                        <a:pt x="932" y="749"/>
                        <a:pt x="927" y="742"/>
                        <a:pt x="923" y="736"/>
                      </a:cubicBezTo>
                      <a:cubicBezTo>
                        <a:pt x="882" y="683"/>
                        <a:pt x="838" y="640"/>
                        <a:pt x="819" y="624"/>
                      </a:cubicBezTo>
                      <a:cubicBezTo>
                        <a:pt x="807" y="614"/>
                        <a:pt x="803" y="602"/>
                        <a:pt x="803" y="595"/>
                      </a:cubicBezTo>
                      <a:cubicBezTo>
                        <a:pt x="803" y="576"/>
                        <a:pt x="816" y="564"/>
                        <a:pt x="820" y="560"/>
                      </a:cubicBezTo>
                      <a:cubicBezTo>
                        <a:pt x="836" y="545"/>
                        <a:pt x="854" y="527"/>
                        <a:pt x="863" y="516"/>
                      </a:cubicBezTo>
                      <a:cubicBezTo>
                        <a:pt x="859" y="514"/>
                        <a:pt x="852" y="510"/>
                        <a:pt x="846" y="507"/>
                      </a:cubicBezTo>
                      <a:cubicBezTo>
                        <a:pt x="844" y="506"/>
                        <a:pt x="842" y="505"/>
                        <a:pt x="840" y="504"/>
                      </a:cubicBezTo>
                      <a:cubicBezTo>
                        <a:pt x="839" y="505"/>
                        <a:pt x="839" y="507"/>
                        <a:pt x="839" y="507"/>
                      </a:cubicBezTo>
                      <a:cubicBezTo>
                        <a:pt x="826" y="532"/>
                        <a:pt x="820" y="545"/>
                        <a:pt x="820" y="545"/>
                      </a:cubicBezTo>
                      <a:cubicBezTo>
                        <a:pt x="816" y="552"/>
                        <a:pt x="809" y="557"/>
                        <a:pt x="802" y="557"/>
                      </a:cubicBezTo>
                      <a:cubicBezTo>
                        <a:pt x="800" y="557"/>
                        <a:pt x="797" y="556"/>
                        <a:pt x="794" y="555"/>
                      </a:cubicBezTo>
                      <a:cubicBezTo>
                        <a:pt x="788" y="551"/>
                        <a:pt x="783" y="545"/>
                        <a:pt x="783" y="538"/>
                      </a:cubicBezTo>
                      <a:cubicBezTo>
                        <a:pt x="783" y="535"/>
                        <a:pt x="784" y="532"/>
                        <a:pt x="785" y="530"/>
                      </a:cubicBezTo>
                      <a:cubicBezTo>
                        <a:pt x="785" y="529"/>
                        <a:pt x="788" y="522"/>
                        <a:pt x="794" y="510"/>
                      </a:cubicBezTo>
                      <a:cubicBezTo>
                        <a:pt x="798" y="502"/>
                        <a:pt x="804" y="492"/>
                        <a:pt x="810" y="480"/>
                      </a:cubicBezTo>
                      <a:cubicBezTo>
                        <a:pt x="811" y="477"/>
                        <a:pt x="813" y="475"/>
                        <a:pt x="813" y="473"/>
                      </a:cubicBezTo>
                      <a:cubicBezTo>
                        <a:pt x="813" y="472"/>
                        <a:pt x="814" y="472"/>
                        <a:pt x="814" y="471"/>
                      </a:cubicBezTo>
                      <a:cubicBezTo>
                        <a:pt x="815" y="470"/>
                        <a:pt x="815" y="469"/>
                        <a:pt x="816" y="467"/>
                      </a:cubicBezTo>
                      <a:cubicBezTo>
                        <a:pt x="814" y="467"/>
                        <a:pt x="813" y="467"/>
                        <a:pt x="813" y="467"/>
                      </a:cubicBezTo>
                      <a:cubicBezTo>
                        <a:pt x="812" y="467"/>
                        <a:pt x="812" y="467"/>
                        <a:pt x="812" y="467"/>
                      </a:cubicBezTo>
                      <a:cubicBezTo>
                        <a:pt x="781" y="467"/>
                        <a:pt x="781" y="467"/>
                        <a:pt x="781" y="467"/>
                      </a:cubicBezTo>
                      <a:cubicBezTo>
                        <a:pt x="777" y="467"/>
                        <a:pt x="777" y="467"/>
                        <a:pt x="777" y="467"/>
                      </a:cubicBezTo>
                      <a:cubicBezTo>
                        <a:pt x="758" y="467"/>
                        <a:pt x="758" y="467"/>
                        <a:pt x="758" y="467"/>
                      </a:cubicBezTo>
                      <a:cubicBezTo>
                        <a:pt x="739" y="467"/>
                        <a:pt x="739" y="467"/>
                        <a:pt x="739" y="467"/>
                      </a:cubicBezTo>
                      <a:cubicBezTo>
                        <a:pt x="730" y="467"/>
                        <a:pt x="730" y="467"/>
                        <a:pt x="730" y="467"/>
                      </a:cubicBezTo>
                      <a:cubicBezTo>
                        <a:pt x="704" y="467"/>
                        <a:pt x="704" y="467"/>
                        <a:pt x="704" y="467"/>
                      </a:cubicBezTo>
                      <a:cubicBezTo>
                        <a:pt x="704" y="467"/>
                        <a:pt x="704" y="467"/>
                        <a:pt x="704" y="467"/>
                      </a:cubicBezTo>
                      <a:cubicBezTo>
                        <a:pt x="703" y="467"/>
                        <a:pt x="701" y="467"/>
                        <a:pt x="700" y="467"/>
                      </a:cubicBezTo>
                      <a:cubicBezTo>
                        <a:pt x="701" y="469"/>
                        <a:pt x="701" y="470"/>
                        <a:pt x="702" y="471"/>
                      </a:cubicBezTo>
                      <a:cubicBezTo>
                        <a:pt x="702" y="472"/>
                        <a:pt x="703" y="472"/>
                        <a:pt x="703" y="473"/>
                      </a:cubicBezTo>
                      <a:cubicBezTo>
                        <a:pt x="704" y="475"/>
                        <a:pt x="705" y="477"/>
                        <a:pt x="706" y="480"/>
                      </a:cubicBezTo>
                      <a:cubicBezTo>
                        <a:pt x="712" y="492"/>
                        <a:pt x="718" y="502"/>
                        <a:pt x="722" y="510"/>
                      </a:cubicBezTo>
                      <a:cubicBezTo>
                        <a:pt x="728" y="522"/>
                        <a:pt x="731" y="529"/>
                        <a:pt x="731" y="530"/>
                      </a:cubicBezTo>
                      <a:cubicBezTo>
                        <a:pt x="732" y="532"/>
                        <a:pt x="733" y="535"/>
                        <a:pt x="733" y="538"/>
                      </a:cubicBezTo>
                      <a:cubicBezTo>
                        <a:pt x="733" y="545"/>
                        <a:pt x="729" y="551"/>
                        <a:pt x="722" y="555"/>
                      </a:cubicBezTo>
                      <a:cubicBezTo>
                        <a:pt x="712" y="559"/>
                        <a:pt x="701" y="555"/>
                        <a:pt x="697" y="545"/>
                      </a:cubicBezTo>
                      <a:cubicBezTo>
                        <a:pt x="697" y="545"/>
                        <a:pt x="691" y="532"/>
                        <a:pt x="678" y="507"/>
                      </a:cubicBezTo>
                      <a:cubicBezTo>
                        <a:pt x="678" y="507"/>
                        <a:pt x="677" y="505"/>
                        <a:pt x="676" y="504"/>
                      </a:cubicBezTo>
                      <a:cubicBezTo>
                        <a:pt x="674" y="505"/>
                        <a:pt x="672" y="506"/>
                        <a:pt x="670" y="507"/>
                      </a:cubicBezTo>
                      <a:cubicBezTo>
                        <a:pt x="664" y="510"/>
                        <a:pt x="658" y="514"/>
                        <a:pt x="653" y="516"/>
                      </a:cubicBezTo>
                      <a:cubicBezTo>
                        <a:pt x="662" y="527"/>
                        <a:pt x="680" y="545"/>
                        <a:pt x="697" y="560"/>
                      </a:cubicBezTo>
                      <a:cubicBezTo>
                        <a:pt x="700" y="564"/>
                        <a:pt x="713" y="576"/>
                        <a:pt x="713" y="595"/>
                      </a:cubicBezTo>
                      <a:cubicBezTo>
                        <a:pt x="713" y="602"/>
                        <a:pt x="710" y="614"/>
                        <a:pt x="697" y="624"/>
                      </a:cubicBezTo>
                      <a:cubicBezTo>
                        <a:pt x="678" y="640"/>
                        <a:pt x="634" y="683"/>
                        <a:pt x="594" y="736"/>
                      </a:cubicBezTo>
                      <a:cubicBezTo>
                        <a:pt x="589" y="742"/>
                        <a:pt x="584" y="749"/>
                        <a:pt x="580" y="755"/>
                      </a:cubicBezTo>
                      <a:cubicBezTo>
                        <a:pt x="575" y="761"/>
                        <a:pt x="571" y="768"/>
                        <a:pt x="567" y="774"/>
                      </a:cubicBezTo>
                      <a:cubicBezTo>
                        <a:pt x="536" y="823"/>
                        <a:pt x="510" y="877"/>
                        <a:pt x="510" y="927"/>
                      </a:cubicBezTo>
                      <a:cubicBezTo>
                        <a:pt x="510" y="927"/>
                        <a:pt x="510" y="927"/>
                        <a:pt x="510" y="928"/>
                      </a:cubicBezTo>
                      <a:cubicBezTo>
                        <a:pt x="510" y="928"/>
                        <a:pt x="508" y="976"/>
                        <a:pt x="539" y="1009"/>
                      </a:cubicBezTo>
                      <a:cubicBezTo>
                        <a:pt x="544" y="1014"/>
                        <a:pt x="549" y="1019"/>
                        <a:pt x="555" y="1022"/>
                      </a:cubicBezTo>
                      <a:cubicBezTo>
                        <a:pt x="575" y="1036"/>
                        <a:pt x="603" y="1043"/>
                        <a:pt x="637" y="1043"/>
                      </a:cubicBezTo>
                      <a:cubicBezTo>
                        <a:pt x="654" y="1043"/>
                        <a:pt x="654" y="1043"/>
                        <a:pt x="654" y="1043"/>
                      </a:cubicBezTo>
                      <a:cubicBezTo>
                        <a:pt x="735" y="1043"/>
                        <a:pt x="735" y="1043"/>
                        <a:pt x="735" y="1043"/>
                      </a:cubicBezTo>
                      <a:cubicBezTo>
                        <a:pt x="739" y="1043"/>
                        <a:pt x="739" y="1043"/>
                        <a:pt x="739" y="1043"/>
                      </a:cubicBezTo>
                      <a:cubicBezTo>
                        <a:pt x="758" y="1043"/>
                        <a:pt x="758" y="1043"/>
                        <a:pt x="758" y="1043"/>
                      </a:cubicBezTo>
                      <a:cubicBezTo>
                        <a:pt x="777" y="1043"/>
                        <a:pt x="777" y="1043"/>
                        <a:pt x="777" y="1043"/>
                      </a:cubicBezTo>
                      <a:cubicBezTo>
                        <a:pt x="787" y="1043"/>
                        <a:pt x="787" y="1043"/>
                        <a:pt x="787" y="1043"/>
                      </a:cubicBezTo>
                      <a:cubicBezTo>
                        <a:pt x="862" y="1043"/>
                        <a:pt x="862" y="1043"/>
                        <a:pt x="862" y="1043"/>
                      </a:cubicBezTo>
                      <a:cubicBezTo>
                        <a:pt x="879" y="1043"/>
                        <a:pt x="879" y="1043"/>
                        <a:pt x="879" y="1043"/>
                      </a:cubicBezTo>
                      <a:cubicBezTo>
                        <a:pt x="913" y="1043"/>
                        <a:pt x="941" y="1036"/>
                        <a:pt x="961" y="1022"/>
                      </a:cubicBezTo>
                      <a:cubicBezTo>
                        <a:pt x="967" y="1018"/>
                        <a:pt x="973" y="1014"/>
                        <a:pt x="977" y="1009"/>
                      </a:cubicBezTo>
                      <a:cubicBezTo>
                        <a:pt x="1008" y="975"/>
                        <a:pt x="1006" y="928"/>
                        <a:pt x="1006" y="928"/>
                      </a:cubicBezTo>
                      <a:cubicBezTo>
                        <a:pt x="1006" y="927"/>
                        <a:pt x="1006" y="927"/>
                        <a:pt x="1006" y="927"/>
                      </a:cubicBezTo>
                      <a:close/>
                      <a:moveTo>
                        <a:pt x="684" y="763"/>
                      </a:moveTo>
                      <a:cubicBezTo>
                        <a:pt x="684" y="760"/>
                        <a:pt x="684" y="758"/>
                        <a:pt x="685" y="755"/>
                      </a:cubicBezTo>
                      <a:cubicBezTo>
                        <a:pt x="686" y="748"/>
                        <a:pt x="688" y="742"/>
                        <a:pt x="691" y="736"/>
                      </a:cubicBezTo>
                      <a:cubicBezTo>
                        <a:pt x="692" y="732"/>
                        <a:pt x="696" y="727"/>
                        <a:pt x="698" y="723"/>
                      </a:cubicBezTo>
                      <a:cubicBezTo>
                        <a:pt x="708" y="711"/>
                        <a:pt x="721" y="704"/>
                        <a:pt x="737" y="700"/>
                      </a:cubicBezTo>
                      <a:cubicBezTo>
                        <a:pt x="737" y="670"/>
                        <a:pt x="737" y="670"/>
                        <a:pt x="737" y="670"/>
                      </a:cubicBezTo>
                      <a:cubicBezTo>
                        <a:pt x="737" y="670"/>
                        <a:pt x="738" y="670"/>
                        <a:pt x="739" y="670"/>
                      </a:cubicBezTo>
                      <a:cubicBezTo>
                        <a:pt x="747" y="670"/>
                        <a:pt x="753" y="670"/>
                        <a:pt x="758" y="670"/>
                      </a:cubicBezTo>
                      <a:cubicBezTo>
                        <a:pt x="775" y="670"/>
                        <a:pt x="775" y="670"/>
                        <a:pt x="775" y="670"/>
                      </a:cubicBezTo>
                      <a:cubicBezTo>
                        <a:pt x="775" y="698"/>
                        <a:pt x="775" y="698"/>
                        <a:pt x="775" y="698"/>
                      </a:cubicBezTo>
                      <a:cubicBezTo>
                        <a:pt x="776" y="698"/>
                        <a:pt x="776" y="698"/>
                        <a:pt x="777" y="698"/>
                      </a:cubicBezTo>
                      <a:cubicBezTo>
                        <a:pt x="797" y="701"/>
                        <a:pt x="812" y="705"/>
                        <a:pt x="820" y="714"/>
                      </a:cubicBezTo>
                      <a:cubicBezTo>
                        <a:pt x="817" y="723"/>
                        <a:pt x="814" y="731"/>
                        <a:pt x="813" y="736"/>
                      </a:cubicBezTo>
                      <a:cubicBezTo>
                        <a:pt x="808" y="751"/>
                        <a:pt x="808" y="751"/>
                        <a:pt x="808" y="751"/>
                      </a:cubicBezTo>
                      <a:cubicBezTo>
                        <a:pt x="802" y="746"/>
                        <a:pt x="797" y="744"/>
                        <a:pt x="791" y="741"/>
                      </a:cubicBezTo>
                      <a:cubicBezTo>
                        <a:pt x="787" y="739"/>
                        <a:pt x="782" y="738"/>
                        <a:pt x="777" y="736"/>
                      </a:cubicBezTo>
                      <a:cubicBezTo>
                        <a:pt x="776" y="736"/>
                        <a:pt x="776" y="736"/>
                        <a:pt x="776" y="736"/>
                      </a:cubicBezTo>
                      <a:cubicBezTo>
                        <a:pt x="770" y="735"/>
                        <a:pt x="765" y="734"/>
                        <a:pt x="759" y="734"/>
                      </a:cubicBezTo>
                      <a:cubicBezTo>
                        <a:pt x="758" y="734"/>
                        <a:pt x="758" y="734"/>
                        <a:pt x="758" y="734"/>
                      </a:cubicBezTo>
                      <a:cubicBezTo>
                        <a:pt x="754" y="734"/>
                        <a:pt x="750" y="735"/>
                        <a:pt x="747" y="736"/>
                      </a:cubicBezTo>
                      <a:cubicBezTo>
                        <a:pt x="744" y="737"/>
                        <a:pt x="742" y="739"/>
                        <a:pt x="739" y="740"/>
                      </a:cubicBezTo>
                      <a:cubicBezTo>
                        <a:pt x="738" y="741"/>
                        <a:pt x="737" y="742"/>
                        <a:pt x="736" y="743"/>
                      </a:cubicBezTo>
                      <a:cubicBezTo>
                        <a:pt x="733" y="746"/>
                        <a:pt x="730" y="750"/>
                        <a:pt x="729" y="755"/>
                      </a:cubicBezTo>
                      <a:cubicBezTo>
                        <a:pt x="729" y="758"/>
                        <a:pt x="728" y="760"/>
                        <a:pt x="728" y="763"/>
                      </a:cubicBezTo>
                      <a:cubicBezTo>
                        <a:pt x="728" y="766"/>
                        <a:pt x="730" y="771"/>
                        <a:pt x="731" y="774"/>
                      </a:cubicBezTo>
                      <a:cubicBezTo>
                        <a:pt x="733" y="777"/>
                        <a:pt x="736" y="780"/>
                        <a:pt x="739" y="783"/>
                      </a:cubicBezTo>
                      <a:cubicBezTo>
                        <a:pt x="741" y="785"/>
                        <a:pt x="742" y="787"/>
                        <a:pt x="745" y="789"/>
                      </a:cubicBezTo>
                      <a:cubicBezTo>
                        <a:pt x="749" y="791"/>
                        <a:pt x="753" y="794"/>
                        <a:pt x="758" y="797"/>
                      </a:cubicBezTo>
                      <a:cubicBezTo>
                        <a:pt x="763" y="800"/>
                        <a:pt x="768" y="803"/>
                        <a:pt x="775" y="806"/>
                      </a:cubicBezTo>
                      <a:cubicBezTo>
                        <a:pt x="775" y="807"/>
                        <a:pt x="776" y="807"/>
                        <a:pt x="777" y="808"/>
                      </a:cubicBezTo>
                      <a:cubicBezTo>
                        <a:pt x="792" y="815"/>
                        <a:pt x="803" y="821"/>
                        <a:pt x="810" y="828"/>
                      </a:cubicBezTo>
                      <a:cubicBezTo>
                        <a:pt x="817" y="834"/>
                        <a:pt x="822" y="843"/>
                        <a:pt x="826" y="852"/>
                      </a:cubicBezTo>
                      <a:cubicBezTo>
                        <a:pt x="830" y="861"/>
                        <a:pt x="833" y="871"/>
                        <a:pt x="833" y="882"/>
                      </a:cubicBezTo>
                      <a:cubicBezTo>
                        <a:pt x="833" y="897"/>
                        <a:pt x="827" y="910"/>
                        <a:pt x="817" y="922"/>
                      </a:cubicBezTo>
                      <a:cubicBezTo>
                        <a:pt x="807" y="934"/>
                        <a:pt x="794" y="941"/>
                        <a:pt x="777" y="946"/>
                      </a:cubicBezTo>
                      <a:cubicBezTo>
                        <a:pt x="776" y="946"/>
                        <a:pt x="776" y="946"/>
                        <a:pt x="775" y="946"/>
                      </a:cubicBezTo>
                      <a:cubicBezTo>
                        <a:pt x="775" y="984"/>
                        <a:pt x="775" y="984"/>
                        <a:pt x="775" y="984"/>
                      </a:cubicBezTo>
                      <a:cubicBezTo>
                        <a:pt x="775" y="984"/>
                        <a:pt x="773" y="984"/>
                        <a:pt x="772" y="984"/>
                      </a:cubicBezTo>
                      <a:cubicBezTo>
                        <a:pt x="767" y="984"/>
                        <a:pt x="762" y="984"/>
                        <a:pt x="758" y="984"/>
                      </a:cubicBezTo>
                      <a:cubicBezTo>
                        <a:pt x="755" y="984"/>
                        <a:pt x="752" y="984"/>
                        <a:pt x="749" y="984"/>
                      </a:cubicBezTo>
                      <a:cubicBezTo>
                        <a:pt x="743" y="984"/>
                        <a:pt x="741" y="984"/>
                        <a:pt x="739" y="984"/>
                      </a:cubicBezTo>
                      <a:cubicBezTo>
                        <a:pt x="737" y="984"/>
                        <a:pt x="737" y="984"/>
                        <a:pt x="737" y="984"/>
                      </a:cubicBezTo>
                      <a:cubicBezTo>
                        <a:pt x="737" y="949"/>
                        <a:pt x="737" y="949"/>
                        <a:pt x="737" y="949"/>
                      </a:cubicBezTo>
                      <a:cubicBezTo>
                        <a:pt x="718" y="948"/>
                        <a:pt x="700" y="942"/>
                        <a:pt x="684" y="932"/>
                      </a:cubicBezTo>
                      <a:cubicBezTo>
                        <a:pt x="700" y="893"/>
                        <a:pt x="700" y="893"/>
                        <a:pt x="700" y="893"/>
                      </a:cubicBezTo>
                      <a:cubicBezTo>
                        <a:pt x="713" y="902"/>
                        <a:pt x="726" y="908"/>
                        <a:pt x="739" y="910"/>
                      </a:cubicBezTo>
                      <a:cubicBezTo>
                        <a:pt x="742" y="911"/>
                        <a:pt x="747" y="911"/>
                        <a:pt x="750" y="911"/>
                      </a:cubicBezTo>
                      <a:cubicBezTo>
                        <a:pt x="753" y="911"/>
                        <a:pt x="755" y="911"/>
                        <a:pt x="758" y="911"/>
                      </a:cubicBezTo>
                      <a:cubicBezTo>
                        <a:pt x="766" y="910"/>
                        <a:pt x="772" y="909"/>
                        <a:pt x="777" y="906"/>
                      </a:cubicBezTo>
                      <a:cubicBezTo>
                        <a:pt x="785" y="902"/>
                        <a:pt x="788" y="895"/>
                        <a:pt x="788" y="885"/>
                      </a:cubicBezTo>
                      <a:cubicBezTo>
                        <a:pt x="788" y="876"/>
                        <a:pt x="786" y="868"/>
                        <a:pt x="779" y="860"/>
                      </a:cubicBezTo>
                      <a:cubicBezTo>
                        <a:pt x="779" y="859"/>
                        <a:pt x="778" y="858"/>
                        <a:pt x="777" y="858"/>
                      </a:cubicBezTo>
                      <a:cubicBezTo>
                        <a:pt x="773" y="853"/>
                        <a:pt x="767" y="848"/>
                        <a:pt x="758" y="844"/>
                      </a:cubicBezTo>
                      <a:cubicBezTo>
                        <a:pt x="754" y="840"/>
                        <a:pt x="748" y="838"/>
                        <a:pt x="742" y="834"/>
                      </a:cubicBezTo>
                      <a:cubicBezTo>
                        <a:pt x="741" y="834"/>
                        <a:pt x="740" y="833"/>
                        <a:pt x="739" y="833"/>
                      </a:cubicBezTo>
                      <a:cubicBezTo>
                        <a:pt x="723" y="825"/>
                        <a:pt x="711" y="818"/>
                        <a:pt x="705" y="813"/>
                      </a:cubicBezTo>
                      <a:cubicBezTo>
                        <a:pt x="698" y="806"/>
                        <a:pt x="693" y="799"/>
                        <a:pt x="690" y="791"/>
                      </a:cubicBezTo>
                      <a:cubicBezTo>
                        <a:pt x="687" y="786"/>
                        <a:pt x="686" y="780"/>
                        <a:pt x="685" y="774"/>
                      </a:cubicBezTo>
                      <a:cubicBezTo>
                        <a:pt x="684" y="771"/>
                        <a:pt x="684" y="767"/>
                        <a:pt x="684" y="763"/>
                      </a:cubicBezTo>
                      <a:close/>
                      <a:moveTo>
                        <a:pt x="573" y="38"/>
                      </a:moveTo>
                      <a:cubicBezTo>
                        <a:pt x="313" y="105"/>
                        <a:pt x="108" y="308"/>
                        <a:pt x="40" y="567"/>
                      </a:cubicBezTo>
                      <a:cubicBezTo>
                        <a:pt x="28" y="564"/>
                        <a:pt x="15" y="562"/>
                        <a:pt x="2" y="561"/>
                      </a:cubicBezTo>
                      <a:cubicBezTo>
                        <a:pt x="36" y="428"/>
                        <a:pt x="106" y="305"/>
                        <a:pt x="206" y="205"/>
                      </a:cubicBezTo>
                      <a:cubicBezTo>
                        <a:pt x="308" y="103"/>
                        <a:pt x="432" y="33"/>
                        <a:pt x="567" y="0"/>
                      </a:cubicBezTo>
                      <a:cubicBezTo>
                        <a:pt x="567" y="13"/>
                        <a:pt x="569" y="26"/>
                        <a:pt x="573" y="38"/>
                      </a:cubicBezTo>
                      <a:close/>
                      <a:moveTo>
                        <a:pt x="945" y="1472"/>
                      </a:moveTo>
                      <a:cubicBezTo>
                        <a:pt x="1205" y="1405"/>
                        <a:pt x="1409" y="1201"/>
                        <a:pt x="1476" y="941"/>
                      </a:cubicBezTo>
                      <a:cubicBezTo>
                        <a:pt x="1488" y="945"/>
                        <a:pt x="1501" y="946"/>
                        <a:pt x="1514" y="947"/>
                      </a:cubicBezTo>
                      <a:cubicBezTo>
                        <a:pt x="1481" y="1081"/>
                        <a:pt x="1411" y="1205"/>
                        <a:pt x="1310" y="1306"/>
                      </a:cubicBezTo>
                      <a:cubicBezTo>
                        <a:pt x="1209" y="1407"/>
                        <a:pt x="1085" y="1477"/>
                        <a:pt x="951" y="1510"/>
                      </a:cubicBezTo>
                      <a:cubicBezTo>
                        <a:pt x="951" y="1497"/>
                        <a:pt x="949" y="1484"/>
                        <a:pt x="945" y="1472"/>
                      </a:cubicBezTo>
                      <a:close/>
                      <a:moveTo>
                        <a:pt x="38" y="938"/>
                      </a:moveTo>
                      <a:cubicBezTo>
                        <a:pt x="105" y="1199"/>
                        <a:pt x="311" y="1405"/>
                        <a:pt x="573" y="1472"/>
                      </a:cubicBezTo>
                      <a:cubicBezTo>
                        <a:pt x="569" y="1484"/>
                        <a:pt x="567" y="1497"/>
                        <a:pt x="567" y="1510"/>
                      </a:cubicBezTo>
                      <a:cubicBezTo>
                        <a:pt x="432" y="1477"/>
                        <a:pt x="308" y="1407"/>
                        <a:pt x="206" y="1306"/>
                      </a:cubicBezTo>
                      <a:cubicBezTo>
                        <a:pt x="104" y="1204"/>
                        <a:pt x="34" y="1079"/>
                        <a:pt x="0" y="942"/>
                      </a:cubicBezTo>
                      <a:cubicBezTo>
                        <a:pt x="13" y="942"/>
                        <a:pt x="26" y="940"/>
                        <a:pt x="38" y="93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grpSp>
      </p:grpSp>
      <p:grpSp>
        <p:nvGrpSpPr>
          <p:cNvPr id="233" name="Group 232">
            <a:extLst>
              <a:ext uri="{FF2B5EF4-FFF2-40B4-BE49-F238E27FC236}">
                <a16:creationId xmlns:a16="http://schemas.microsoft.com/office/drawing/2014/main" id="{E400CF6C-7166-EE07-A360-C1D1B928E3C4}"/>
              </a:ext>
            </a:extLst>
          </p:cNvPr>
          <p:cNvGrpSpPr/>
          <p:nvPr/>
        </p:nvGrpSpPr>
        <p:grpSpPr>
          <a:xfrm>
            <a:off x="6175610" y="5168428"/>
            <a:ext cx="486125" cy="485655"/>
            <a:chOff x="11336248" y="1793566"/>
            <a:chExt cx="514056" cy="514531"/>
          </a:xfrm>
        </p:grpSpPr>
        <p:sp>
          <p:nvSpPr>
            <p:cNvPr id="232" name="Oval 231">
              <a:extLst>
                <a:ext uri="{FF2B5EF4-FFF2-40B4-BE49-F238E27FC236}">
                  <a16:creationId xmlns:a16="http://schemas.microsoft.com/office/drawing/2014/main" id="{DA0D2994-902D-FB2C-C758-D16EA5D902E2}"/>
                </a:ext>
              </a:extLst>
            </p:cNvPr>
            <p:cNvSpPr/>
            <p:nvPr>
              <p:custDataLst>
                <p:tags r:id="rId7"/>
              </p:custDataLst>
            </p:nvPr>
          </p:nvSpPr>
          <p:spPr>
            <a:xfrm>
              <a:off x="11336248" y="1793566"/>
              <a:ext cx="514056" cy="514531"/>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a:solidFill>
                  <a:schemeClr val="bg1">
                    <a:lumMod val="50000"/>
                  </a:schemeClr>
                </a:solidFill>
              </a:endParaRPr>
            </a:p>
          </p:txBody>
        </p:sp>
        <p:grpSp>
          <p:nvGrpSpPr>
            <p:cNvPr id="222" name="bcgIcons_Smart Phone 1 ">
              <a:extLst>
                <a:ext uri="{FF2B5EF4-FFF2-40B4-BE49-F238E27FC236}">
                  <a16:creationId xmlns:a16="http://schemas.microsoft.com/office/drawing/2014/main" id="{3D5937B2-7132-219B-A9CD-E0737FA774C1}"/>
                </a:ext>
              </a:extLst>
            </p:cNvPr>
            <p:cNvGrpSpPr>
              <a:grpSpLocks noChangeAspect="1"/>
            </p:cNvGrpSpPr>
            <p:nvPr/>
          </p:nvGrpSpPr>
          <p:grpSpPr bwMode="auto">
            <a:xfrm>
              <a:off x="11411530" y="1868917"/>
              <a:ext cx="363492" cy="363829"/>
              <a:chOff x="1682" y="0"/>
              <a:chExt cx="4316" cy="4320"/>
            </a:xfrm>
          </p:grpSpPr>
          <p:sp>
            <p:nvSpPr>
              <p:cNvPr id="223" name="AutoShape 13">
                <a:extLst>
                  <a:ext uri="{FF2B5EF4-FFF2-40B4-BE49-F238E27FC236}">
                    <a16:creationId xmlns:a16="http://schemas.microsoft.com/office/drawing/2014/main" id="{770667FA-8A91-2EA3-EE88-955B6B6179AF}"/>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 name="Freeform 15">
                <a:extLst>
                  <a:ext uri="{FF2B5EF4-FFF2-40B4-BE49-F238E27FC236}">
                    <a16:creationId xmlns:a16="http://schemas.microsoft.com/office/drawing/2014/main" id="{7868C3A8-869E-F891-7854-D1B7A1F3D6E5}"/>
                  </a:ext>
                </a:extLst>
              </p:cNvPr>
              <p:cNvSpPr>
                <a:spLocks noEditPoints="1"/>
              </p:cNvSpPr>
              <p:nvPr/>
            </p:nvSpPr>
            <p:spPr bwMode="auto">
              <a:xfrm>
                <a:off x="3087" y="726"/>
                <a:ext cx="1510" cy="2865"/>
              </a:xfrm>
              <a:custGeom>
                <a:avLst/>
                <a:gdLst>
                  <a:gd name="T0" fmla="*/ 784 w 806"/>
                  <a:gd name="T1" fmla="*/ 0 h 1528"/>
                  <a:gd name="T2" fmla="*/ 22 w 806"/>
                  <a:gd name="T3" fmla="*/ 0 h 1528"/>
                  <a:gd name="T4" fmla="*/ 0 w 806"/>
                  <a:gd name="T5" fmla="*/ 22 h 1528"/>
                  <a:gd name="T6" fmla="*/ 0 w 806"/>
                  <a:gd name="T7" fmla="*/ 1252 h 1528"/>
                  <a:gd name="T8" fmla="*/ 0 w 806"/>
                  <a:gd name="T9" fmla="*/ 1296 h 1528"/>
                  <a:gd name="T10" fmla="*/ 0 w 806"/>
                  <a:gd name="T11" fmla="*/ 1506 h 1528"/>
                  <a:gd name="T12" fmla="*/ 22 w 806"/>
                  <a:gd name="T13" fmla="*/ 1528 h 1528"/>
                  <a:gd name="T14" fmla="*/ 784 w 806"/>
                  <a:gd name="T15" fmla="*/ 1528 h 1528"/>
                  <a:gd name="T16" fmla="*/ 806 w 806"/>
                  <a:gd name="T17" fmla="*/ 1506 h 1528"/>
                  <a:gd name="T18" fmla="*/ 806 w 806"/>
                  <a:gd name="T19" fmla="*/ 1296 h 1528"/>
                  <a:gd name="T20" fmla="*/ 806 w 806"/>
                  <a:gd name="T21" fmla="*/ 1252 h 1528"/>
                  <a:gd name="T22" fmla="*/ 806 w 806"/>
                  <a:gd name="T23" fmla="*/ 22 h 1528"/>
                  <a:gd name="T24" fmla="*/ 784 w 806"/>
                  <a:gd name="T25" fmla="*/ 0 h 1528"/>
                  <a:gd name="T26" fmla="*/ 762 w 806"/>
                  <a:gd name="T27" fmla="*/ 1484 h 1528"/>
                  <a:gd name="T28" fmla="*/ 44 w 806"/>
                  <a:gd name="T29" fmla="*/ 1484 h 1528"/>
                  <a:gd name="T30" fmla="*/ 44 w 806"/>
                  <a:gd name="T31" fmla="*/ 1296 h 1528"/>
                  <a:gd name="T32" fmla="*/ 762 w 806"/>
                  <a:gd name="T33" fmla="*/ 1296 h 1528"/>
                  <a:gd name="T34" fmla="*/ 762 w 806"/>
                  <a:gd name="T35" fmla="*/ 1484 h 1528"/>
                  <a:gd name="T36" fmla="*/ 44 w 806"/>
                  <a:gd name="T37" fmla="*/ 1252 h 1528"/>
                  <a:gd name="T38" fmla="*/ 44 w 806"/>
                  <a:gd name="T39" fmla="*/ 44 h 1528"/>
                  <a:gd name="T40" fmla="*/ 762 w 806"/>
                  <a:gd name="T41" fmla="*/ 44 h 1528"/>
                  <a:gd name="T42" fmla="*/ 762 w 806"/>
                  <a:gd name="T43" fmla="*/ 1252 h 1528"/>
                  <a:gd name="T44" fmla="*/ 44 w 806"/>
                  <a:gd name="T45" fmla="*/ 1252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06" h="1528">
                    <a:moveTo>
                      <a:pt x="784" y="0"/>
                    </a:moveTo>
                    <a:cubicBezTo>
                      <a:pt x="22" y="0"/>
                      <a:pt x="22" y="0"/>
                      <a:pt x="22" y="0"/>
                    </a:cubicBezTo>
                    <a:cubicBezTo>
                      <a:pt x="10" y="0"/>
                      <a:pt x="0" y="10"/>
                      <a:pt x="0" y="22"/>
                    </a:cubicBezTo>
                    <a:cubicBezTo>
                      <a:pt x="0" y="1252"/>
                      <a:pt x="0" y="1252"/>
                      <a:pt x="0" y="1252"/>
                    </a:cubicBezTo>
                    <a:cubicBezTo>
                      <a:pt x="0" y="1296"/>
                      <a:pt x="0" y="1296"/>
                      <a:pt x="0" y="1296"/>
                    </a:cubicBezTo>
                    <a:cubicBezTo>
                      <a:pt x="0" y="1506"/>
                      <a:pt x="0" y="1506"/>
                      <a:pt x="0" y="1506"/>
                    </a:cubicBezTo>
                    <a:cubicBezTo>
                      <a:pt x="0" y="1518"/>
                      <a:pt x="10" y="1528"/>
                      <a:pt x="22" y="1528"/>
                    </a:cubicBezTo>
                    <a:cubicBezTo>
                      <a:pt x="784" y="1528"/>
                      <a:pt x="784" y="1528"/>
                      <a:pt x="784" y="1528"/>
                    </a:cubicBezTo>
                    <a:cubicBezTo>
                      <a:pt x="796" y="1528"/>
                      <a:pt x="806" y="1518"/>
                      <a:pt x="806" y="1506"/>
                    </a:cubicBezTo>
                    <a:cubicBezTo>
                      <a:pt x="806" y="1296"/>
                      <a:pt x="806" y="1296"/>
                      <a:pt x="806" y="1296"/>
                    </a:cubicBezTo>
                    <a:cubicBezTo>
                      <a:pt x="806" y="1252"/>
                      <a:pt x="806" y="1252"/>
                      <a:pt x="806" y="1252"/>
                    </a:cubicBezTo>
                    <a:cubicBezTo>
                      <a:pt x="806" y="22"/>
                      <a:pt x="806" y="22"/>
                      <a:pt x="806" y="22"/>
                    </a:cubicBezTo>
                    <a:cubicBezTo>
                      <a:pt x="806" y="10"/>
                      <a:pt x="796" y="0"/>
                      <a:pt x="784" y="0"/>
                    </a:cubicBezTo>
                    <a:close/>
                    <a:moveTo>
                      <a:pt x="762" y="1484"/>
                    </a:moveTo>
                    <a:cubicBezTo>
                      <a:pt x="44" y="1484"/>
                      <a:pt x="44" y="1484"/>
                      <a:pt x="44" y="1484"/>
                    </a:cubicBezTo>
                    <a:cubicBezTo>
                      <a:pt x="44" y="1296"/>
                      <a:pt x="44" y="1296"/>
                      <a:pt x="44" y="1296"/>
                    </a:cubicBezTo>
                    <a:cubicBezTo>
                      <a:pt x="762" y="1296"/>
                      <a:pt x="762" y="1296"/>
                      <a:pt x="762" y="1296"/>
                    </a:cubicBezTo>
                    <a:lnTo>
                      <a:pt x="762" y="1484"/>
                    </a:lnTo>
                    <a:close/>
                    <a:moveTo>
                      <a:pt x="44" y="1252"/>
                    </a:moveTo>
                    <a:cubicBezTo>
                      <a:pt x="44" y="44"/>
                      <a:pt x="44" y="44"/>
                      <a:pt x="44" y="44"/>
                    </a:cubicBezTo>
                    <a:cubicBezTo>
                      <a:pt x="762" y="44"/>
                      <a:pt x="762" y="44"/>
                      <a:pt x="762" y="44"/>
                    </a:cubicBezTo>
                    <a:cubicBezTo>
                      <a:pt x="762" y="1252"/>
                      <a:pt x="762" y="1252"/>
                      <a:pt x="762" y="1252"/>
                    </a:cubicBezTo>
                    <a:lnTo>
                      <a:pt x="44" y="125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 name="Freeform 16">
                <a:extLst>
                  <a:ext uri="{FF2B5EF4-FFF2-40B4-BE49-F238E27FC236}">
                    <a16:creationId xmlns:a16="http://schemas.microsoft.com/office/drawing/2014/main" id="{66466961-DE9C-A000-94CC-45923098BE15}"/>
                  </a:ext>
                </a:extLst>
              </p:cNvPr>
              <p:cNvSpPr>
                <a:spLocks noEditPoints="1"/>
              </p:cNvSpPr>
              <p:nvPr/>
            </p:nvSpPr>
            <p:spPr bwMode="auto">
              <a:xfrm>
                <a:off x="3241" y="917"/>
                <a:ext cx="1195" cy="2512"/>
              </a:xfrm>
              <a:custGeom>
                <a:avLst/>
                <a:gdLst>
                  <a:gd name="T0" fmla="*/ 321 w 638"/>
                  <a:gd name="T1" fmla="*/ 1340 h 1340"/>
                  <a:gd name="T2" fmla="*/ 263 w 638"/>
                  <a:gd name="T3" fmla="*/ 1282 h 1340"/>
                  <a:gd name="T4" fmla="*/ 321 w 638"/>
                  <a:gd name="T5" fmla="*/ 1224 h 1340"/>
                  <a:gd name="T6" fmla="*/ 379 w 638"/>
                  <a:gd name="T7" fmla="*/ 1282 h 1340"/>
                  <a:gd name="T8" fmla="*/ 321 w 638"/>
                  <a:gd name="T9" fmla="*/ 1340 h 1340"/>
                  <a:gd name="T10" fmla="*/ 638 w 638"/>
                  <a:gd name="T11" fmla="*/ 1092 h 1340"/>
                  <a:gd name="T12" fmla="*/ 638 w 638"/>
                  <a:gd name="T13" fmla="*/ 115 h 1340"/>
                  <a:gd name="T14" fmla="*/ 628 w 638"/>
                  <a:gd name="T15" fmla="*/ 105 h 1340"/>
                  <a:gd name="T16" fmla="*/ 10 w 638"/>
                  <a:gd name="T17" fmla="*/ 105 h 1340"/>
                  <a:gd name="T18" fmla="*/ 0 w 638"/>
                  <a:gd name="T19" fmla="*/ 115 h 1340"/>
                  <a:gd name="T20" fmla="*/ 0 w 638"/>
                  <a:gd name="T21" fmla="*/ 1092 h 1340"/>
                  <a:gd name="T22" fmla="*/ 10 w 638"/>
                  <a:gd name="T23" fmla="*/ 1102 h 1340"/>
                  <a:gd name="T24" fmla="*/ 628 w 638"/>
                  <a:gd name="T25" fmla="*/ 1102 h 1340"/>
                  <a:gd name="T26" fmla="*/ 638 w 638"/>
                  <a:gd name="T27" fmla="*/ 1092 h 1340"/>
                  <a:gd name="T28" fmla="*/ 469 w 638"/>
                  <a:gd name="T29" fmla="*/ 22 h 1340"/>
                  <a:gd name="T30" fmla="*/ 447 w 638"/>
                  <a:gd name="T31" fmla="*/ 0 h 1340"/>
                  <a:gd name="T32" fmla="*/ 195 w 638"/>
                  <a:gd name="T33" fmla="*/ 0 h 1340"/>
                  <a:gd name="T34" fmla="*/ 173 w 638"/>
                  <a:gd name="T35" fmla="*/ 22 h 1340"/>
                  <a:gd name="T36" fmla="*/ 195 w 638"/>
                  <a:gd name="T37" fmla="*/ 44 h 1340"/>
                  <a:gd name="T38" fmla="*/ 447 w 638"/>
                  <a:gd name="T39" fmla="*/ 44 h 1340"/>
                  <a:gd name="T40" fmla="*/ 469 w 638"/>
                  <a:gd name="T41" fmla="*/ 22 h 1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38" h="1340">
                    <a:moveTo>
                      <a:pt x="321" y="1340"/>
                    </a:moveTo>
                    <a:cubicBezTo>
                      <a:pt x="289" y="1340"/>
                      <a:pt x="263" y="1314"/>
                      <a:pt x="263" y="1282"/>
                    </a:cubicBezTo>
                    <a:cubicBezTo>
                      <a:pt x="263" y="1250"/>
                      <a:pt x="289" y="1224"/>
                      <a:pt x="321" y="1224"/>
                    </a:cubicBezTo>
                    <a:cubicBezTo>
                      <a:pt x="353" y="1224"/>
                      <a:pt x="379" y="1250"/>
                      <a:pt x="379" y="1282"/>
                    </a:cubicBezTo>
                    <a:cubicBezTo>
                      <a:pt x="379" y="1314"/>
                      <a:pt x="353" y="1340"/>
                      <a:pt x="321" y="1340"/>
                    </a:cubicBezTo>
                    <a:close/>
                    <a:moveTo>
                      <a:pt x="638" y="1092"/>
                    </a:moveTo>
                    <a:cubicBezTo>
                      <a:pt x="638" y="115"/>
                      <a:pt x="638" y="115"/>
                      <a:pt x="638" y="115"/>
                    </a:cubicBezTo>
                    <a:cubicBezTo>
                      <a:pt x="638" y="110"/>
                      <a:pt x="634" y="105"/>
                      <a:pt x="628" y="105"/>
                    </a:cubicBezTo>
                    <a:cubicBezTo>
                      <a:pt x="10" y="105"/>
                      <a:pt x="10" y="105"/>
                      <a:pt x="10" y="105"/>
                    </a:cubicBezTo>
                    <a:cubicBezTo>
                      <a:pt x="4" y="105"/>
                      <a:pt x="0" y="110"/>
                      <a:pt x="0" y="115"/>
                    </a:cubicBezTo>
                    <a:cubicBezTo>
                      <a:pt x="0" y="1092"/>
                      <a:pt x="0" y="1092"/>
                      <a:pt x="0" y="1092"/>
                    </a:cubicBezTo>
                    <a:cubicBezTo>
                      <a:pt x="0" y="1098"/>
                      <a:pt x="4" y="1102"/>
                      <a:pt x="10" y="1102"/>
                    </a:cubicBezTo>
                    <a:cubicBezTo>
                      <a:pt x="628" y="1102"/>
                      <a:pt x="628" y="1102"/>
                      <a:pt x="628" y="1102"/>
                    </a:cubicBezTo>
                    <a:cubicBezTo>
                      <a:pt x="634" y="1102"/>
                      <a:pt x="638" y="1098"/>
                      <a:pt x="638" y="1092"/>
                    </a:cubicBezTo>
                    <a:close/>
                    <a:moveTo>
                      <a:pt x="469" y="22"/>
                    </a:moveTo>
                    <a:cubicBezTo>
                      <a:pt x="469" y="10"/>
                      <a:pt x="459" y="0"/>
                      <a:pt x="447" y="0"/>
                    </a:cubicBezTo>
                    <a:cubicBezTo>
                      <a:pt x="195" y="0"/>
                      <a:pt x="195" y="0"/>
                      <a:pt x="195" y="0"/>
                    </a:cubicBezTo>
                    <a:cubicBezTo>
                      <a:pt x="183" y="0"/>
                      <a:pt x="173" y="10"/>
                      <a:pt x="173" y="22"/>
                    </a:cubicBezTo>
                    <a:cubicBezTo>
                      <a:pt x="173" y="34"/>
                      <a:pt x="183" y="44"/>
                      <a:pt x="195" y="44"/>
                    </a:cubicBezTo>
                    <a:cubicBezTo>
                      <a:pt x="447" y="44"/>
                      <a:pt x="447" y="44"/>
                      <a:pt x="447" y="44"/>
                    </a:cubicBezTo>
                    <a:cubicBezTo>
                      <a:pt x="459" y="44"/>
                      <a:pt x="469" y="34"/>
                      <a:pt x="469" y="22"/>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Tree>
    <p:extLst>
      <p:ext uri="{BB962C8B-B14F-4D97-AF65-F5344CB8AC3E}">
        <p14:creationId xmlns:p14="http://schemas.microsoft.com/office/powerpoint/2010/main" val="365053860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164457750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5" imgW="286" imgH="286" progId="TCLayout.ActiveDocument.1">
                  <p:embed/>
                </p:oleObj>
              </mc:Choice>
              <mc:Fallback>
                <p:oleObj name="think-cell Slide" r:id="rId25" imgW="286" imgH="286" progId="TCLayout.ActiveDocument.1">
                  <p:embed/>
                  <p:pic>
                    <p:nvPicPr>
                      <p:cNvPr id="3" name="Object 2" hidden="1"/>
                      <p:cNvPicPr/>
                      <p:nvPr/>
                    </p:nvPicPr>
                    <p:blipFill>
                      <a:blip r:embed="rId26"/>
                      <a:stretch>
                        <a:fillRect/>
                      </a:stretch>
                    </p:blipFill>
                    <p:spPr>
                      <a:xfrm>
                        <a:off x="1588" y="1588"/>
                        <a:ext cx="1588" cy="1588"/>
                      </a:xfrm>
                      <a:prstGeom prst="rect">
                        <a:avLst/>
                      </a:prstGeom>
                    </p:spPr>
                  </p:pic>
                </p:oleObj>
              </mc:Fallback>
            </mc:AlternateContent>
          </a:graphicData>
        </a:graphic>
      </p:graphicFrame>
      <p:sp>
        <p:nvSpPr>
          <p:cNvPr id="246" name="Rectangle 245">
            <a:extLst>
              <a:ext uri="{FF2B5EF4-FFF2-40B4-BE49-F238E27FC236}">
                <a16:creationId xmlns:a16="http://schemas.microsoft.com/office/drawing/2014/main" id="{4C0E6E03-8F5D-0467-C7B6-5FDEA37F8AE4}"/>
              </a:ext>
            </a:extLst>
          </p:cNvPr>
          <p:cNvSpPr/>
          <p:nvPr/>
        </p:nvSpPr>
        <p:spPr>
          <a:xfrm>
            <a:off x="409797" y="5836372"/>
            <a:ext cx="11153553" cy="378522"/>
          </a:xfrm>
          <a:prstGeom prst="rect">
            <a:avLst/>
          </a:prstGeom>
          <a:solidFill>
            <a:srgbClr val="F2F2F2"/>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245" name="Rectangle 244">
            <a:extLst>
              <a:ext uri="{FF2B5EF4-FFF2-40B4-BE49-F238E27FC236}">
                <a16:creationId xmlns:a16="http://schemas.microsoft.com/office/drawing/2014/main" id="{787B0623-7133-39C0-4FA6-B275ED20BD17}"/>
              </a:ext>
            </a:extLst>
          </p:cNvPr>
          <p:cNvSpPr/>
          <p:nvPr/>
        </p:nvSpPr>
        <p:spPr>
          <a:xfrm>
            <a:off x="409797" y="2991571"/>
            <a:ext cx="11153553" cy="378522"/>
          </a:xfrm>
          <a:prstGeom prst="rect">
            <a:avLst/>
          </a:prstGeom>
          <a:solidFill>
            <a:srgbClr val="F2F2F2"/>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grpSp>
        <p:nvGrpSpPr>
          <p:cNvPr id="96" name="Group 95">
            <a:extLst>
              <a:ext uri="{FF2B5EF4-FFF2-40B4-BE49-F238E27FC236}">
                <a16:creationId xmlns:a16="http://schemas.microsoft.com/office/drawing/2014/main" id="{CB182943-0237-2CF4-71F6-DFE67489AEAC}"/>
              </a:ext>
            </a:extLst>
          </p:cNvPr>
          <p:cNvGrpSpPr/>
          <p:nvPr/>
        </p:nvGrpSpPr>
        <p:grpSpPr>
          <a:xfrm>
            <a:off x="2264537" y="1676959"/>
            <a:ext cx="713137" cy="686383"/>
            <a:chOff x="2264537" y="2045602"/>
            <a:chExt cx="713137" cy="686383"/>
          </a:xfrm>
        </p:grpSpPr>
        <p:grpSp>
          <p:nvGrpSpPr>
            <p:cNvPr id="36" name="Group 35">
              <a:extLst>
                <a:ext uri="{FF2B5EF4-FFF2-40B4-BE49-F238E27FC236}">
                  <a16:creationId xmlns:a16="http://schemas.microsoft.com/office/drawing/2014/main" id="{1CA3D59B-B9E8-3205-41D0-0A7D4C4EF3D7}"/>
                </a:ext>
              </a:extLst>
            </p:cNvPr>
            <p:cNvGrpSpPr/>
            <p:nvPr/>
          </p:nvGrpSpPr>
          <p:grpSpPr>
            <a:xfrm>
              <a:off x="2264537" y="2045602"/>
              <a:ext cx="713137" cy="686383"/>
              <a:chOff x="-166407" y="1927514"/>
              <a:chExt cx="1283727" cy="1248891"/>
            </a:xfrm>
            <a:gradFill flip="none" rotWithShape="1">
              <a:gsLst>
                <a:gs pos="100000">
                  <a:schemeClr val="tx2"/>
                </a:gs>
                <a:gs pos="33000">
                  <a:schemeClr val="accent3"/>
                </a:gs>
              </a:gsLst>
              <a:lin ang="0" scaled="0"/>
              <a:tileRect/>
            </a:gradFill>
          </p:grpSpPr>
          <p:sp>
            <p:nvSpPr>
              <p:cNvPr id="42" name="Freeform: Shape 41">
                <a:extLst>
                  <a:ext uri="{FF2B5EF4-FFF2-40B4-BE49-F238E27FC236}">
                    <a16:creationId xmlns:a16="http://schemas.microsoft.com/office/drawing/2014/main" id="{E2EC7A89-129C-816C-0B2C-C9BDB58635CE}"/>
                  </a:ext>
                </a:extLst>
              </p:cNvPr>
              <p:cNvSpPr/>
              <p:nvPr/>
            </p:nvSpPr>
            <p:spPr>
              <a:xfrm>
                <a:off x="-166407" y="2042808"/>
                <a:ext cx="231432" cy="489028"/>
              </a:xfrm>
              <a:custGeom>
                <a:avLst/>
                <a:gdLst>
                  <a:gd name="connsiteX0" fmla="*/ 15550 w 303101"/>
                  <a:gd name="connsiteY0" fmla="*/ 640836 h 640466"/>
                  <a:gd name="connsiteX1" fmla="*/ 1977 w 303101"/>
                  <a:gd name="connsiteY1" fmla="*/ 640836 h 640466"/>
                  <a:gd name="connsiteX2" fmla="*/ 294351 w 303101"/>
                  <a:gd name="connsiteY2" fmla="*/ 1977 h 640466"/>
                  <a:gd name="connsiteX3" fmla="*/ 303233 w 303101"/>
                  <a:gd name="connsiteY3" fmla="*/ 12230 h 640466"/>
                  <a:gd name="connsiteX4" fmla="*/ 15550 w 303101"/>
                  <a:gd name="connsiteY4" fmla="*/ 640836 h 640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101" h="640466">
                    <a:moveTo>
                      <a:pt x="15550" y="640836"/>
                    </a:moveTo>
                    <a:lnTo>
                      <a:pt x="1977" y="640836"/>
                    </a:lnTo>
                    <a:cubicBezTo>
                      <a:pt x="1977" y="395455"/>
                      <a:pt x="108537" y="162594"/>
                      <a:pt x="294351" y="1977"/>
                    </a:cubicBezTo>
                    <a:lnTo>
                      <a:pt x="303233" y="12230"/>
                    </a:lnTo>
                    <a:cubicBezTo>
                      <a:pt x="120397" y="170290"/>
                      <a:pt x="15550" y="399382"/>
                      <a:pt x="15550" y="640836"/>
                    </a:cubicBez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43" name="Freeform: Shape 42">
                <a:extLst>
                  <a:ext uri="{FF2B5EF4-FFF2-40B4-BE49-F238E27FC236}">
                    <a16:creationId xmlns:a16="http://schemas.microsoft.com/office/drawing/2014/main" id="{06D06C08-44C7-61CB-F77E-F3B109AA040B}"/>
                  </a:ext>
                </a:extLst>
              </p:cNvPr>
              <p:cNvSpPr/>
              <p:nvPr/>
            </p:nvSpPr>
            <p:spPr>
              <a:xfrm>
                <a:off x="-123019" y="2759826"/>
                <a:ext cx="603737" cy="416579"/>
              </a:xfrm>
              <a:custGeom>
                <a:avLst/>
                <a:gdLst>
                  <a:gd name="connsiteX0" fmla="*/ 789276 w 790699"/>
                  <a:gd name="connsiteY0" fmla="*/ 545899 h 545582"/>
                  <a:gd name="connsiteX1" fmla="*/ 307002 w 790699"/>
                  <a:gd name="connsiteY1" fmla="*/ 394664 h 545582"/>
                  <a:gd name="connsiteX2" fmla="*/ 1977 w 790699"/>
                  <a:gd name="connsiteY2" fmla="*/ 6879 h 545582"/>
                  <a:gd name="connsiteX3" fmla="*/ 14628 w 790699"/>
                  <a:gd name="connsiteY3" fmla="*/ 1977 h 545582"/>
                  <a:gd name="connsiteX4" fmla="*/ 789276 w 790699"/>
                  <a:gd name="connsiteY4" fmla="*/ 532352 h 545582"/>
                  <a:gd name="connsiteX5" fmla="*/ 789276 w 790699"/>
                  <a:gd name="connsiteY5" fmla="*/ 545899 h 545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0699" h="545582">
                    <a:moveTo>
                      <a:pt x="789276" y="545899"/>
                    </a:moveTo>
                    <a:cubicBezTo>
                      <a:pt x="615665" y="545899"/>
                      <a:pt x="448907" y="493607"/>
                      <a:pt x="307002" y="394664"/>
                    </a:cubicBezTo>
                    <a:cubicBezTo>
                      <a:pt x="168314" y="297962"/>
                      <a:pt x="62861" y="163859"/>
                      <a:pt x="1977" y="6879"/>
                    </a:cubicBezTo>
                    <a:lnTo>
                      <a:pt x="14628" y="1977"/>
                    </a:lnTo>
                    <a:cubicBezTo>
                      <a:pt x="137635" y="319205"/>
                      <a:pt x="448959" y="532352"/>
                      <a:pt x="789276" y="532352"/>
                    </a:cubicBezTo>
                    <a:lnTo>
                      <a:pt x="789276" y="545899"/>
                    </a:ln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44" name="Freeform: Shape 43">
                <a:extLst>
                  <a:ext uri="{FF2B5EF4-FFF2-40B4-BE49-F238E27FC236}">
                    <a16:creationId xmlns:a16="http://schemas.microsoft.com/office/drawing/2014/main" id="{2C161D4A-FBDC-3690-8B0E-598AC077FC9E}"/>
                  </a:ext>
                </a:extLst>
              </p:cNvPr>
              <p:cNvSpPr/>
              <p:nvPr/>
            </p:nvSpPr>
            <p:spPr>
              <a:xfrm>
                <a:off x="761457" y="2838956"/>
                <a:ext cx="281744" cy="269669"/>
              </a:xfrm>
              <a:custGeom>
                <a:avLst/>
                <a:gdLst>
                  <a:gd name="connsiteX0" fmla="*/ 8039 w 368993"/>
                  <a:gd name="connsiteY0" fmla="*/ 353522 h 353179"/>
                  <a:gd name="connsiteX1" fmla="*/ 1977 w 368993"/>
                  <a:gd name="connsiteY1" fmla="*/ 341371 h 353179"/>
                  <a:gd name="connsiteX2" fmla="*/ 356816 w 368993"/>
                  <a:gd name="connsiteY2" fmla="*/ 1977 h 353179"/>
                  <a:gd name="connsiteX3" fmla="*/ 368677 w 368993"/>
                  <a:gd name="connsiteY3" fmla="*/ 8592 h 353179"/>
                  <a:gd name="connsiteX4" fmla="*/ 8039 w 368993"/>
                  <a:gd name="connsiteY4" fmla="*/ 353522 h 353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993" h="353179">
                    <a:moveTo>
                      <a:pt x="8039" y="353522"/>
                    </a:moveTo>
                    <a:lnTo>
                      <a:pt x="1977" y="341371"/>
                    </a:lnTo>
                    <a:cubicBezTo>
                      <a:pt x="152236" y="266202"/>
                      <a:pt x="274953" y="148836"/>
                      <a:pt x="356816" y="1977"/>
                    </a:cubicBezTo>
                    <a:lnTo>
                      <a:pt x="368677" y="8592"/>
                    </a:lnTo>
                    <a:cubicBezTo>
                      <a:pt x="285469" y="157876"/>
                      <a:pt x="160749" y="277140"/>
                      <a:pt x="8039" y="353522"/>
                    </a:cubicBez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45" name="Freeform: Shape 44">
                <a:extLst>
                  <a:ext uri="{FF2B5EF4-FFF2-40B4-BE49-F238E27FC236}">
                    <a16:creationId xmlns:a16="http://schemas.microsoft.com/office/drawing/2014/main" id="{79E8CD1F-BABA-17CE-9C6B-BDA652B8D13A}"/>
                  </a:ext>
                </a:extLst>
              </p:cNvPr>
              <p:cNvSpPr/>
              <p:nvPr/>
            </p:nvSpPr>
            <p:spPr>
              <a:xfrm>
                <a:off x="893937" y="2043954"/>
                <a:ext cx="223383" cy="394441"/>
              </a:xfrm>
              <a:custGeom>
                <a:avLst/>
                <a:gdLst>
                  <a:gd name="connsiteX0" fmla="*/ 278827 w 292558"/>
                  <a:gd name="connsiteY0" fmla="*/ 515694 h 516590"/>
                  <a:gd name="connsiteX1" fmla="*/ 1977 w 292558"/>
                  <a:gd name="connsiteY1" fmla="*/ 12229 h 516590"/>
                  <a:gd name="connsiteX2" fmla="*/ 10885 w 292558"/>
                  <a:gd name="connsiteY2" fmla="*/ 1977 h 516590"/>
                  <a:gd name="connsiteX3" fmla="*/ 292243 w 292558"/>
                  <a:gd name="connsiteY3" fmla="*/ 513691 h 516590"/>
                  <a:gd name="connsiteX4" fmla="*/ 278827 w 292558"/>
                  <a:gd name="connsiteY4" fmla="*/ 515694 h 5165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558" h="516590">
                    <a:moveTo>
                      <a:pt x="278827" y="515694"/>
                    </a:moveTo>
                    <a:cubicBezTo>
                      <a:pt x="249755" y="320919"/>
                      <a:pt x="151445" y="142115"/>
                      <a:pt x="1977" y="12229"/>
                    </a:cubicBezTo>
                    <a:lnTo>
                      <a:pt x="10885" y="1977"/>
                    </a:lnTo>
                    <a:cubicBezTo>
                      <a:pt x="162778" y="133997"/>
                      <a:pt x="262697" y="315726"/>
                      <a:pt x="292243" y="513691"/>
                    </a:cubicBezTo>
                    <a:lnTo>
                      <a:pt x="278827" y="515694"/>
                    </a:ln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46" name="Freeform: Shape 45">
                <a:extLst>
                  <a:ext uri="{FF2B5EF4-FFF2-40B4-BE49-F238E27FC236}">
                    <a16:creationId xmlns:a16="http://schemas.microsoft.com/office/drawing/2014/main" id="{416FDD40-499C-8D91-AC16-234C1266EA58}"/>
                  </a:ext>
                </a:extLst>
              </p:cNvPr>
              <p:cNvSpPr/>
              <p:nvPr/>
            </p:nvSpPr>
            <p:spPr>
              <a:xfrm>
                <a:off x="-120805" y="2273254"/>
                <a:ext cx="100623" cy="541351"/>
              </a:xfrm>
              <a:custGeom>
                <a:avLst/>
                <a:gdLst>
                  <a:gd name="connsiteX0" fmla="*/ 93751 w 131783"/>
                  <a:gd name="connsiteY0" fmla="*/ 707518 h 708993"/>
                  <a:gd name="connsiteX1" fmla="*/ 1977 w 131783"/>
                  <a:gd name="connsiteY1" fmla="*/ 339026 h 708993"/>
                  <a:gd name="connsiteX2" fmla="*/ 77884 w 131783"/>
                  <a:gd name="connsiteY2" fmla="*/ 1977 h 708993"/>
                  <a:gd name="connsiteX3" fmla="*/ 117103 w 131783"/>
                  <a:gd name="connsiteY3" fmla="*/ 20664 h 708993"/>
                  <a:gd name="connsiteX4" fmla="*/ 45412 w 131783"/>
                  <a:gd name="connsiteY4" fmla="*/ 339026 h 708993"/>
                  <a:gd name="connsiteX5" fmla="*/ 132073 w 131783"/>
                  <a:gd name="connsiteY5" fmla="*/ 687092 h 708993"/>
                  <a:gd name="connsiteX6" fmla="*/ 93751 w 131783"/>
                  <a:gd name="connsiteY6" fmla="*/ 707518 h 708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1783" h="708993">
                    <a:moveTo>
                      <a:pt x="93751" y="707518"/>
                    </a:moveTo>
                    <a:cubicBezTo>
                      <a:pt x="33710" y="594896"/>
                      <a:pt x="1977" y="467488"/>
                      <a:pt x="1977" y="339026"/>
                    </a:cubicBezTo>
                    <a:cubicBezTo>
                      <a:pt x="1977" y="221080"/>
                      <a:pt x="27516" y="107667"/>
                      <a:pt x="77884" y="1977"/>
                    </a:cubicBezTo>
                    <a:lnTo>
                      <a:pt x="117103" y="20664"/>
                    </a:lnTo>
                    <a:cubicBezTo>
                      <a:pt x="69529" y="120476"/>
                      <a:pt x="45412" y="227590"/>
                      <a:pt x="45412" y="339026"/>
                    </a:cubicBezTo>
                    <a:cubicBezTo>
                      <a:pt x="45412" y="460372"/>
                      <a:pt x="75380" y="580742"/>
                      <a:pt x="132073" y="687092"/>
                    </a:cubicBezTo>
                    <a:lnTo>
                      <a:pt x="93751" y="707518"/>
                    </a:ln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47" name="Freeform: Shape 46">
                <a:extLst>
                  <a:ext uri="{FF2B5EF4-FFF2-40B4-BE49-F238E27FC236}">
                    <a16:creationId xmlns:a16="http://schemas.microsoft.com/office/drawing/2014/main" id="{A94558C3-3629-B64F-1B56-54B4101F3C84}"/>
                  </a:ext>
                </a:extLst>
              </p:cNvPr>
              <p:cNvSpPr/>
              <p:nvPr/>
            </p:nvSpPr>
            <p:spPr>
              <a:xfrm>
                <a:off x="10025" y="2883572"/>
                <a:ext cx="42262" cy="40249"/>
              </a:xfrm>
              <a:custGeom>
                <a:avLst/>
                <a:gdLst>
                  <a:gd name="connsiteX0" fmla="*/ 20585 w 55348"/>
                  <a:gd name="connsiteY0" fmla="*/ 51501 h 52713"/>
                  <a:gd name="connsiteX1" fmla="*/ 1977 w 55348"/>
                  <a:gd name="connsiteY1" fmla="*/ 29098 h 52713"/>
                  <a:gd name="connsiteX2" fmla="*/ 35898 w 55348"/>
                  <a:gd name="connsiteY2" fmla="*/ 1977 h 52713"/>
                  <a:gd name="connsiteX3" fmla="*/ 53478 w 55348"/>
                  <a:gd name="connsiteY3" fmla="*/ 23141 h 52713"/>
                  <a:gd name="connsiteX4" fmla="*/ 20585 w 55348"/>
                  <a:gd name="connsiteY4" fmla="*/ 51501 h 52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48" h="52713">
                    <a:moveTo>
                      <a:pt x="20585" y="51501"/>
                    </a:moveTo>
                    <a:cubicBezTo>
                      <a:pt x="14259" y="44147"/>
                      <a:pt x="7986" y="36609"/>
                      <a:pt x="1977" y="29098"/>
                    </a:cubicBezTo>
                    <a:lnTo>
                      <a:pt x="35898" y="1977"/>
                    </a:lnTo>
                    <a:cubicBezTo>
                      <a:pt x="41591" y="9093"/>
                      <a:pt x="47495" y="16209"/>
                      <a:pt x="53478" y="23141"/>
                    </a:cubicBezTo>
                    <a:lnTo>
                      <a:pt x="20585" y="51501"/>
                    </a:ln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48" name="Freeform: Shape 47">
                <a:extLst>
                  <a:ext uri="{FF2B5EF4-FFF2-40B4-BE49-F238E27FC236}">
                    <a16:creationId xmlns:a16="http://schemas.microsoft.com/office/drawing/2014/main" id="{4D092D9D-D332-171A-EE0C-FD6465F64B71}"/>
                  </a:ext>
                </a:extLst>
              </p:cNvPr>
              <p:cNvSpPr/>
              <p:nvPr/>
            </p:nvSpPr>
            <p:spPr>
              <a:xfrm>
                <a:off x="33108" y="2909251"/>
                <a:ext cx="46286" cy="46286"/>
              </a:xfrm>
              <a:custGeom>
                <a:avLst/>
                <a:gdLst>
                  <a:gd name="connsiteX0" fmla="*/ 28413 w 60620"/>
                  <a:gd name="connsiteY0" fmla="*/ 58986 h 60620"/>
                  <a:gd name="connsiteX1" fmla="*/ 1977 w 60620"/>
                  <a:gd name="connsiteY1" fmla="*/ 31048 h 60620"/>
                  <a:gd name="connsiteX2" fmla="*/ 34237 w 60620"/>
                  <a:gd name="connsiteY2" fmla="*/ 1977 h 60620"/>
                  <a:gd name="connsiteX3" fmla="*/ 59223 w 60620"/>
                  <a:gd name="connsiteY3" fmla="*/ 28386 h 60620"/>
                  <a:gd name="connsiteX4" fmla="*/ 28413 w 60620"/>
                  <a:gd name="connsiteY4" fmla="*/ 58986 h 60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20" h="60620">
                    <a:moveTo>
                      <a:pt x="28413" y="58986"/>
                    </a:moveTo>
                    <a:cubicBezTo>
                      <a:pt x="19398" y="49920"/>
                      <a:pt x="10516" y="40537"/>
                      <a:pt x="1977" y="31048"/>
                    </a:cubicBezTo>
                    <a:lnTo>
                      <a:pt x="34237" y="1977"/>
                    </a:lnTo>
                    <a:cubicBezTo>
                      <a:pt x="42302" y="10938"/>
                      <a:pt x="50710" y="19820"/>
                      <a:pt x="59223" y="28386"/>
                    </a:cubicBezTo>
                    <a:lnTo>
                      <a:pt x="28413" y="58986"/>
                    </a:ln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49" name="Freeform: Shape 48">
                <a:extLst>
                  <a:ext uri="{FF2B5EF4-FFF2-40B4-BE49-F238E27FC236}">
                    <a16:creationId xmlns:a16="http://schemas.microsoft.com/office/drawing/2014/main" id="{88EBEFF2-E08A-DC38-5B1F-42FEC7B64590}"/>
                  </a:ext>
                </a:extLst>
              </p:cNvPr>
              <p:cNvSpPr/>
              <p:nvPr/>
            </p:nvSpPr>
            <p:spPr>
              <a:xfrm>
                <a:off x="62952" y="2938392"/>
                <a:ext cx="74461" cy="70436"/>
              </a:xfrm>
              <a:custGeom>
                <a:avLst/>
                <a:gdLst>
                  <a:gd name="connsiteX0" fmla="*/ 69713 w 97519"/>
                  <a:gd name="connsiteY0" fmla="*/ 91431 h 92248"/>
                  <a:gd name="connsiteX1" fmla="*/ 1977 w 97519"/>
                  <a:gd name="connsiteY1" fmla="*/ 33288 h 92248"/>
                  <a:gd name="connsiteX2" fmla="*/ 32076 w 97519"/>
                  <a:gd name="connsiteY2" fmla="*/ 1977 h 92248"/>
                  <a:gd name="connsiteX3" fmla="*/ 96070 w 97519"/>
                  <a:gd name="connsiteY3" fmla="*/ 56930 h 92248"/>
                  <a:gd name="connsiteX4" fmla="*/ 69713 w 97519"/>
                  <a:gd name="connsiteY4" fmla="*/ 91431 h 922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519" h="92248">
                    <a:moveTo>
                      <a:pt x="69713" y="91431"/>
                    </a:moveTo>
                    <a:cubicBezTo>
                      <a:pt x="46151" y="73430"/>
                      <a:pt x="23352" y="53847"/>
                      <a:pt x="1977" y="33288"/>
                    </a:cubicBezTo>
                    <a:lnTo>
                      <a:pt x="32076" y="1977"/>
                    </a:lnTo>
                    <a:cubicBezTo>
                      <a:pt x="52292" y="21428"/>
                      <a:pt x="73825" y="39904"/>
                      <a:pt x="96070" y="56930"/>
                    </a:cubicBezTo>
                    <a:lnTo>
                      <a:pt x="69713" y="91431"/>
                    </a:ln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50" name="Freeform: Shape 49">
                <a:extLst>
                  <a:ext uri="{FF2B5EF4-FFF2-40B4-BE49-F238E27FC236}">
                    <a16:creationId xmlns:a16="http://schemas.microsoft.com/office/drawing/2014/main" id="{5E4EE7F5-DFF1-6979-95CC-DCA33F402894}"/>
                  </a:ext>
                </a:extLst>
              </p:cNvPr>
              <p:cNvSpPr/>
              <p:nvPr/>
            </p:nvSpPr>
            <p:spPr>
              <a:xfrm>
                <a:off x="137394" y="2994096"/>
                <a:ext cx="637950" cy="140872"/>
              </a:xfrm>
              <a:custGeom>
                <a:avLst/>
                <a:gdLst>
                  <a:gd name="connsiteX0" fmla="*/ 448221 w 835505"/>
                  <a:gd name="connsiteY0" fmla="*/ 184787 h 184496"/>
                  <a:gd name="connsiteX1" fmla="*/ 1977 w 835505"/>
                  <a:gd name="connsiteY1" fmla="*/ 46730 h 184496"/>
                  <a:gd name="connsiteX2" fmla="*/ 32682 w 835505"/>
                  <a:gd name="connsiteY2" fmla="*/ 1977 h 184496"/>
                  <a:gd name="connsiteX3" fmla="*/ 448221 w 835505"/>
                  <a:gd name="connsiteY3" fmla="*/ 130492 h 184496"/>
                  <a:gd name="connsiteX4" fmla="*/ 808991 w 835505"/>
                  <a:gd name="connsiteY4" fmla="*/ 36109 h 184496"/>
                  <a:gd name="connsiteX5" fmla="*/ 835664 w 835505"/>
                  <a:gd name="connsiteY5" fmla="*/ 83392 h 184496"/>
                  <a:gd name="connsiteX6" fmla="*/ 448221 w 835505"/>
                  <a:gd name="connsiteY6" fmla="*/ 184787 h 184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5505" h="184496">
                    <a:moveTo>
                      <a:pt x="448221" y="184787"/>
                    </a:moveTo>
                    <a:cubicBezTo>
                      <a:pt x="287973" y="184787"/>
                      <a:pt x="133654" y="137055"/>
                      <a:pt x="1977" y="46730"/>
                    </a:cubicBezTo>
                    <a:lnTo>
                      <a:pt x="32682" y="1977"/>
                    </a:lnTo>
                    <a:cubicBezTo>
                      <a:pt x="155267" y="86055"/>
                      <a:pt x="298964" y="130492"/>
                      <a:pt x="448221" y="130492"/>
                    </a:cubicBezTo>
                    <a:cubicBezTo>
                      <a:pt x="574733" y="130492"/>
                      <a:pt x="699479" y="97862"/>
                      <a:pt x="808991" y="36109"/>
                    </a:cubicBezTo>
                    <a:lnTo>
                      <a:pt x="835664" y="83392"/>
                    </a:lnTo>
                    <a:cubicBezTo>
                      <a:pt x="718034" y="149732"/>
                      <a:pt x="584063" y="184787"/>
                      <a:pt x="448221" y="184787"/>
                    </a:cubicBez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51" name="Freeform: Shape 50">
                <a:extLst>
                  <a:ext uri="{FF2B5EF4-FFF2-40B4-BE49-F238E27FC236}">
                    <a16:creationId xmlns:a16="http://schemas.microsoft.com/office/drawing/2014/main" id="{BC1D7428-F580-5A97-10DE-56067D42521D}"/>
                  </a:ext>
                </a:extLst>
              </p:cNvPr>
              <p:cNvSpPr/>
              <p:nvPr/>
            </p:nvSpPr>
            <p:spPr>
              <a:xfrm>
                <a:off x="822676" y="2922895"/>
                <a:ext cx="88548" cy="84523"/>
              </a:xfrm>
              <a:custGeom>
                <a:avLst/>
                <a:gdLst>
                  <a:gd name="connsiteX0" fmla="*/ 25065 w 115969"/>
                  <a:gd name="connsiteY0" fmla="*/ 109591 h 110697"/>
                  <a:gd name="connsiteX1" fmla="*/ 1977 w 115969"/>
                  <a:gd name="connsiteY1" fmla="*/ 79413 h 110697"/>
                  <a:gd name="connsiteX2" fmla="*/ 88453 w 115969"/>
                  <a:gd name="connsiteY2" fmla="*/ 1977 h 110697"/>
                  <a:gd name="connsiteX3" fmla="*/ 115916 w 115969"/>
                  <a:gd name="connsiteY3" fmla="*/ 28228 h 110697"/>
                  <a:gd name="connsiteX4" fmla="*/ 25065 w 115969"/>
                  <a:gd name="connsiteY4" fmla="*/ 109591 h 110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969" h="110697">
                    <a:moveTo>
                      <a:pt x="25065" y="109591"/>
                    </a:moveTo>
                    <a:lnTo>
                      <a:pt x="1977" y="79413"/>
                    </a:lnTo>
                    <a:cubicBezTo>
                      <a:pt x="32656" y="55955"/>
                      <a:pt x="61753" y="29889"/>
                      <a:pt x="88453" y="1977"/>
                    </a:cubicBezTo>
                    <a:lnTo>
                      <a:pt x="115916" y="28228"/>
                    </a:lnTo>
                    <a:cubicBezTo>
                      <a:pt x="87873" y="57563"/>
                      <a:pt x="57299" y="84948"/>
                      <a:pt x="25065" y="109591"/>
                    </a:cubicBez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52" name="Freeform: Shape 51">
                <a:extLst>
                  <a:ext uri="{FF2B5EF4-FFF2-40B4-BE49-F238E27FC236}">
                    <a16:creationId xmlns:a16="http://schemas.microsoft.com/office/drawing/2014/main" id="{4E90C5D4-475C-39BE-D5D1-2F0DAB0CB690}"/>
                  </a:ext>
                </a:extLst>
              </p:cNvPr>
              <p:cNvSpPr/>
              <p:nvPr/>
            </p:nvSpPr>
            <p:spPr>
              <a:xfrm>
                <a:off x="884137" y="2113445"/>
                <a:ext cx="195209" cy="800958"/>
              </a:xfrm>
              <a:custGeom>
                <a:avLst/>
                <a:gdLst>
                  <a:gd name="connsiteX0" fmla="*/ 75591 w 255659"/>
                  <a:gd name="connsiteY0" fmla="*/ 1047176 h 1048994"/>
                  <a:gd name="connsiteX1" fmla="*/ 42091 w 255659"/>
                  <a:gd name="connsiteY1" fmla="*/ 1019528 h 1048994"/>
                  <a:gd name="connsiteX2" fmla="*/ 211222 w 255659"/>
                  <a:gd name="connsiteY2" fmla="*/ 548297 h 1048994"/>
                  <a:gd name="connsiteX3" fmla="*/ 1977 w 255659"/>
                  <a:gd name="connsiteY3" fmla="*/ 32234 h 1048994"/>
                  <a:gd name="connsiteX4" fmla="*/ 33130 w 255659"/>
                  <a:gd name="connsiteY4" fmla="*/ 1977 h 1048994"/>
                  <a:gd name="connsiteX5" fmla="*/ 254658 w 255659"/>
                  <a:gd name="connsiteY5" fmla="*/ 548297 h 1048994"/>
                  <a:gd name="connsiteX6" fmla="*/ 207084 w 255659"/>
                  <a:gd name="connsiteY6" fmla="*/ 817952 h 1048994"/>
                  <a:gd name="connsiteX7" fmla="*/ 75591 w 255659"/>
                  <a:gd name="connsiteY7" fmla="*/ 1047176 h 1048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59" h="1048994">
                    <a:moveTo>
                      <a:pt x="75591" y="1047176"/>
                    </a:moveTo>
                    <a:lnTo>
                      <a:pt x="42091" y="1019528"/>
                    </a:lnTo>
                    <a:cubicBezTo>
                      <a:pt x="151155" y="887349"/>
                      <a:pt x="211222" y="719985"/>
                      <a:pt x="211222" y="548297"/>
                    </a:cubicBezTo>
                    <a:cubicBezTo>
                      <a:pt x="211222" y="354523"/>
                      <a:pt x="136896" y="171239"/>
                      <a:pt x="1977" y="32234"/>
                    </a:cubicBezTo>
                    <a:lnTo>
                      <a:pt x="33130" y="1977"/>
                    </a:lnTo>
                    <a:cubicBezTo>
                      <a:pt x="175983" y="149126"/>
                      <a:pt x="254658" y="343164"/>
                      <a:pt x="254658" y="548297"/>
                    </a:cubicBezTo>
                    <a:cubicBezTo>
                      <a:pt x="254658" y="640967"/>
                      <a:pt x="238659" y="731687"/>
                      <a:pt x="207084" y="817952"/>
                    </a:cubicBezTo>
                    <a:cubicBezTo>
                      <a:pt x="176563" y="901318"/>
                      <a:pt x="132337" y="978438"/>
                      <a:pt x="75591" y="1047176"/>
                    </a:cubicBez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53" name="Freeform: Shape 52">
                <a:extLst>
                  <a:ext uri="{FF2B5EF4-FFF2-40B4-BE49-F238E27FC236}">
                    <a16:creationId xmlns:a16="http://schemas.microsoft.com/office/drawing/2014/main" id="{F2B2E94C-C84F-4393-9AA6-043C92135EE8}"/>
                  </a:ext>
                </a:extLst>
              </p:cNvPr>
              <p:cNvSpPr/>
              <p:nvPr/>
            </p:nvSpPr>
            <p:spPr>
              <a:xfrm>
                <a:off x="478123" y="1927514"/>
                <a:ext cx="289794" cy="110685"/>
              </a:xfrm>
              <a:custGeom>
                <a:avLst/>
                <a:gdLst>
                  <a:gd name="connsiteX0" fmla="*/ 352573 w 379535"/>
                  <a:gd name="connsiteY0" fmla="*/ 145041 h 144961"/>
                  <a:gd name="connsiteX1" fmla="*/ 1977 w 379535"/>
                  <a:gd name="connsiteY1" fmla="*/ 56271 h 144961"/>
                  <a:gd name="connsiteX2" fmla="*/ 1977 w 379535"/>
                  <a:gd name="connsiteY2" fmla="*/ 1977 h 144961"/>
                  <a:gd name="connsiteX3" fmla="*/ 378481 w 379535"/>
                  <a:gd name="connsiteY3" fmla="*/ 97335 h 144961"/>
                  <a:gd name="connsiteX4" fmla="*/ 352573 w 379535"/>
                  <a:gd name="connsiteY4" fmla="*/ 145041 h 1449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9535" h="144961">
                    <a:moveTo>
                      <a:pt x="352573" y="145041"/>
                    </a:moveTo>
                    <a:cubicBezTo>
                      <a:pt x="245670" y="86977"/>
                      <a:pt x="124456" y="56271"/>
                      <a:pt x="1977" y="56271"/>
                    </a:cubicBezTo>
                    <a:lnTo>
                      <a:pt x="1977" y="1977"/>
                    </a:lnTo>
                    <a:cubicBezTo>
                      <a:pt x="133470" y="1977"/>
                      <a:pt x="263672" y="34949"/>
                      <a:pt x="378481" y="97335"/>
                    </a:cubicBezTo>
                    <a:lnTo>
                      <a:pt x="352573" y="145041"/>
                    </a:ln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54" name="Freeform: Shape 53">
                <a:extLst>
                  <a:ext uri="{FF2B5EF4-FFF2-40B4-BE49-F238E27FC236}">
                    <a16:creationId xmlns:a16="http://schemas.microsoft.com/office/drawing/2014/main" id="{99C681A0-A18D-5BD5-8C9A-2AE3EB96ACDF}"/>
                  </a:ext>
                </a:extLst>
              </p:cNvPr>
              <p:cNvSpPr/>
              <p:nvPr/>
            </p:nvSpPr>
            <p:spPr>
              <a:xfrm>
                <a:off x="-54696" y="2014231"/>
                <a:ext cx="406516" cy="893531"/>
              </a:xfrm>
              <a:custGeom>
                <a:avLst/>
                <a:gdLst>
                  <a:gd name="connsiteX0" fmla="*/ 202946 w 532404"/>
                  <a:gd name="connsiteY0" fmla="*/ 1168259 h 1170235"/>
                  <a:gd name="connsiteX1" fmla="*/ 1977 w 532404"/>
                  <a:gd name="connsiteY1" fmla="*/ 678262 h 1170235"/>
                  <a:gd name="connsiteX2" fmla="*/ 151340 w 532404"/>
                  <a:gd name="connsiteY2" fmla="*/ 246777 h 1170235"/>
                  <a:gd name="connsiteX3" fmla="*/ 527080 w 532404"/>
                  <a:gd name="connsiteY3" fmla="*/ 1977 h 1170235"/>
                  <a:gd name="connsiteX4" fmla="*/ 530559 w 532404"/>
                  <a:gd name="connsiteY4" fmla="*/ 15629 h 1170235"/>
                  <a:gd name="connsiteX5" fmla="*/ 16078 w 532404"/>
                  <a:gd name="connsiteY5" fmla="*/ 678236 h 1170235"/>
                  <a:gd name="connsiteX6" fmla="*/ 212988 w 532404"/>
                  <a:gd name="connsiteY6" fmla="*/ 1158322 h 1170235"/>
                  <a:gd name="connsiteX7" fmla="*/ 202946 w 532404"/>
                  <a:gd name="connsiteY7" fmla="*/ 1168259 h 117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2404" h="1170235">
                    <a:moveTo>
                      <a:pt x="202946" y="1168259"/>
                    </a:moveTo>
                    <a:cubicBezTo>
                      <a:pt x="73351" y="1036871"/>
                      <a:pt x="1977" y="862838"/>
                      <a:pt x="1977" y="678262"/>
                    </a:cubicBezTo>
                    <a:cubicBezTo>
                      <a:pt x="1977" y="520017"/>
                      <a:pt x="53636" y="370812"/>
                      <a:pt x="151340" y="246777"/>
                    </a:cubicBezTo>
                    <a:cubicBezTo>
                      <a:pt x="246092" y="126486"/>
                      <a:pt x="379536" y="39561"/>
                      <a:pt x="527080" y="1977"/>
                    </a:cubicBezTo>
                    <a:lnTo>
                      <a:pt x="530559" y="15629"/>
                    </a:lnTo>
                    <a:cubicBezTo>
                      <a:pt x="227642" y="92775"/>
                      <a:pt x="16078" y="365250"/>
                      <a:pt x="16078" y="678236"/>
                    </a:cubicBezTo>
                    <a:cubicBezTo>
                      <a:pt x="16078" y="859095"/>
                      <a:pt x="86002" y="1029570"/>
                      <a:pt x="212988" y="1158322"/>
                    </a:cubicBezTo>
                    <a:lnTo>
                      <a:pt x="202946" y="1168259"/>
                    </a:ln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55" name="Freeform: Shape 54">
                <a:extLst>
                  <a:ext uri="{FF2B5EF4-FFF2-40B4-BE49-F238E27FC236}">
                    <a16:creationId xmlns:a16="http://schemas.microsoft.com/office/drawing/2014/main" id="{80565BF2-8161-0195-0BBC-D7AB48F579DE}"/>
                  </a:ext>
                </a:extLst>
              </p:cNvPr>
              <p:cNvSpPr/>
              <p:nvPr/>
            </p:nvSpPr>
            <p:spPr>
              <a:xfrm>
                <a:off x="191488" y="2783311"/>
                <a:ext cx="754672" cy="281744"/>
              </a:xfrm>
              <a:custGeom>
                <a:avLst/>
                <a:gdLst>
                  <a:gd name="connsiteX0" fmla="*/ 377375 w 988374"/>
                  <a:gd name="connsiteY0" fmla="*/ 368835 h 368993"/>
                  <a:gd name="connsiteX1" fmla="*/ 1977 w 988374"/>
                  <a:gd name="connsiteY1" fmla="*/ 259349 h 368993"/>
                  <a:gd name="connsiteX2" fmla="*/ 9567 w 988374"/>
                  <a:gd name="connsiteY2" fmla="*/ 247463 h 368993"/>
                  <a:gd name="connsiteX3" fmla="*/ 377375 w 988374"/>
                  <a:gd name="connsiteY3" fmla="*/ 354734 h 368993"/>
                  <a:gd name="connsiteX4" fmla="*/ 975802 w 988374"/>
                  <a:gd name="connsiteY4" fmla="*/ 1977 h 368993"/>
                  <a:gd name="connsiteX5" fmla="*/ 988137 w 988374"/>
                  <a:gd name="connsiteY5" fmla="*/ 8803 h 368993"/>
                  <a:gd name="connsiteX6" fmla="*/ 377375 w 988374"/>
                  <a:gd name="connsiteY6" fmla="*/ 368835 h 368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8374" h="368993">
                    <a:moveTo>
                      <a:pt x="377375" y="368835"/>
                    </a:moveTo>
                    <a:cubicBezTo>
                      <a:pt x="243799" y="368835"/>
                      <a:pt x="113993" y="330987"/>
                      <a:pt x="1977" y="259349"/>
                    </a:cubicBezTo>
                    <a:lnTo>
                      <a:pt x="9567" y="247463"/>
                    </a:lnTo>
                    <a:cubicBezTo>
                      <a:pt x="119317" y="317624"/>
                      <a:pt x="246514" y="354734"/>
                      <a:pt x="377375" y="354734"/>
                    </a:cubicBezTo>
                    <a:cubicBezTo>
                      <a:pt x="625891" y="354734"/>
                      <a:pt x="855221" y="219551"/>
                      <a:pt x="975802" y="1977"/>
                    </a:cubicBezTo>
                    <a:lnTo>
                      <a:pt x="988137" y="8803"/>
                    </a:lnTo>
                    <a:cubicBezTo>
                      <a:pt x="865052" y="230884"/>
                      <a:pt x="631031" y="368835"/>
                      <a:pt x="377375" y="368835"/>
                    </a:cubicBez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56" name="Freeform: Shape 55">
                <a:extLst>
                  <a:ext uri="{FF2B5EF4-FFF2-40B4-BE49-F238E27FC236}">
                    <a16:creationId xmlns:a16="http://schemas.microsoft.com/office/drawing/2014/main" id="{1CD13854-1100-7C43-DDA3-B1305C7D8BA4}"/>
                  </a:ext>
                </a:extLst>
              </p:cNvPr>
              <p:cNvSpPr/>
              <p:nvPr/>
            </p:nvSpPr>
            <p:spPr>
              <a:xfrm>
                <a:off x="478123" y="1997769"/>
                <a:ext cx="426641" cy="221370"/>
              </a:xfrm>
              <a:custGeom>
                <a:avLst/>
                <a:gdLst>
                  <a:gd name="connsiteX0" fmla="*/ 547823 w 558760"/>
                  <a:gd name="connsiteY0" fmla="*/ 287999 h 289923"/>
                  <a:gd name="connsiteX1" fmla="*/ 1977 w 558760"/>
                  <a:gd name="connsiteY1" fmla="*/ 16078 h 289923"/>
                  <a:gd name="connsiteX2" fmla="*/ 1977 w 558760"/>
                  <a:gd name="connsiteY2" fmla="*/ 1977 h 289923"/>
                  <a:gd name="connsiteX3" fmla="*/ 318098 w 558760"/>
                  <a:gd name="connsiteY3" fmla="*/ 77515 h 289923"/>
                  <a:gd name="connsiteX4" fmla="*/ 559051 w 558760"/>
                  <a:gd name="connsiteY4" fmla="*/ 279486 h 289923"/>
                  <a:gd name="connsiteX5" fmla="*/ 547823 w 558760"/>
                  <a:gd name="connsiteY5" fmla="*/ 287999 h 289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8760" h="289923">
                    <a:moveTo>
                      <a:pt x="547823" y="287999"/>
                    </a:moveTo>
                    <a:cubicBezTo>
                      <a:pt x="417252" y="115205"/>
                      <a:pt x="218286" y="16078"/>
                      <a:pt x="1977" y="16078"/>
                    </a:cubicBezTo>
                    <a:lnTo>
                      <a:pt x="1977" y="1977"/>
                    </a:lnTo>
                    <a:cubicBezTo>
                      <a:pt x="113254" y="1977"/>
                      <a:pt x="219630" y="27385"/>
                      <a:pt x="318098" y="77515"/>
                    </a:cubicBezTo>
                    <a:cubicBezTo>
                      <a:pt x="412033" y="125326"/>
                      <a:pt x="495347" y="195171"/>
                      <a:pt x="559051" y="279486"/>
                    </a:cubicBezTo>
                    <a:lnTo>
                      <a:pt x="547823" y="287999"/>
                    </a:ln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grpSp>
        <p:sp>
          <p:nvSpPr>
            <p:cNvPr id="37" name="Oval 36">
              <a:extLst>
                <a:ext uri="{FF2B5EF4-FFF2-40B4-BE49-F238E27FC236}">
                  <a16:creationId xmlns:a16="http://schemas.microsoft.com/office/drawing/2014/main" id="{B8E9C4B8-6D0B-F970-0601-DC1FD88D0800}"/>
                </a:ext>
              </a:extLst>
            </p:cNvPr>
            <p:cNvSpPr/>
            <p:nvPr/>
          </p:nvSpPr>
          <p:spPr>
            <a:xfrm>
              <a:off x="2363344" y="2124218"/>
              <a:ext cx="515519" cy="510022"/>
            </a:xfrm>
            <a:prstGeom prst="ellipse">
              <a:avLst/>
            </a:prstGeom>
            <a:gradFill>
              <a:gsLst>
                <a:gs pos="0">
                  <a:schemeClr val="bg1"/>
                </a:gs>
                <a:gs pos="100000">
                  <a:schemeClr val="bg1">
                    <a:lumMod val="95000"/>
                  </a:schemeClr>
                </a:gs>
              </a:gsLst>
              <a:path path="circle">
                <a:fillToRect l="100000" t="100000"/>
              </a:path>
            </a:gradFill>
            <a:ln w="25400" cap="rnd" cmpd="sng" algn="ctr">
              <a:solidFill>
                <a:schemeClr val="bg1">
                  <a:lumMod val="95000"/>
                </a:schemeClr>
              </a:solidFill>
              <a:prstDash val="solid"/>
              <a:round/>
              <a:headEnd type="none" w="med" len="med"/>
              <a:tailEnd type="none" w="med" len="med"/>
            </a:ln>
            <a:effectLst>
              <a:glow rad="101600">
                <a:schemeClr val="accent4">
                  <a:satMod val="175000"/>
                  <a:alpha val="40000"/>
                </a:schemeClr>
              </a:glow>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grpSp>
          <p:nvGrpSpPr>
            <p:cNvPr id="91" name="bcgIcons_Flexed muscle ">
              <a:extLst>
                <a:ext uri="{FF2B5EF4-FFF2-40B4-BE49-F238E27FC236}">
                  <a16:creationId xmlns:a16="http://schemas.microsoft.com/office/drawing/2014/main" id="{894065A5-7812-2F23-3B1B-3B93CD22ED45}"/>
                </a:ext>
              </a:extLst>
            </p:cNvPr>
            <p:cNvGrpSpPr>
              <a:grpSpLocks noChangeAspect="1"/>
            </p:cNvGrpSpPr>
            <p:nvPr/>
          </p:nvGrpSpPr>
          <p:grpSpPr>
            <a:xfrm>
              <a:off x="2408796" y="2147789"/>
              <a:ext cx="453973" cy="453973"/>
              <a:chOff x="5273675" y="2606675"/>
              <a:chExt cx="1644650" cy="1644650"/>
            </a:xfrm>
          </p:grpSpPr>
          <p:sp>
            <p:nvSpPr>
              <p:cNvPr id="92" name="AutoShape 121">
                <a:extLst>
                  <a:ext uri="{FF2B5EF4-FFF2-40B4-BE49-F238E27FC236}">
                    <a16:creationId xmlns:a16="http://schemas.microsoft.com/office/drawing/2014/main" id="{5C3482E8-C39F-34D8-3FE8-9B050A089909}"/>
                  </a:ext>
                </a:extLst>
              </p:cNvPr>
              <p:cNvSpPr>
                <a:spLocks noChangeAspect="1" noChangeArrowheads="1" noTextEdit="1"/>
              </p:cNvSpPr>
              <p:nvPr/>
            </p:nvSpPr>
            <p:spPr bwMode="auto">
              <a:xfrm>
                <a:off x="5273675" y="2606675"/>
                <a:ext cx="1644650"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93" name="Group 92">
                <a:extLst>
                  <a:ext uri="{FF2B5EF4-FFF2-40B4-BE49-F238E27FC236}">
                    <a16:creationId xmlns:a16="http://schemas.microsoft.com/office/drawing/2014/main" id="{EF3BC6D7-1E30-2380-7090-CF317D77AFEB}"/>
                  </a:ext>
                </a:extLst>
              </p:cNvPr>
              <p:cNvGrpSpPr/>
              <p:nvPr/>
            </p:nvGrpSpPr>
            <p:grpSpPr>
              <a:xfrm>
                <a:off x="5613400" y="2879725"/>
                <a:ext cx="962025" cy="1096963"/>
                <a:chOff x="5613400" y="2879725"/>
                <a:chExt cx="962025" cy="1096963"/>
              </a:xfrm>
            </p:grpSpPr>
            <p:sp>
              <p:nvSpPr>
                <p:cNvPr id="94" name="Freeform 123">
                  <a:extLst>
                    <a:ext uri="{FF2B5EF4-FFF2-40B4-BE49-F238E27FC236}">
                      <a16:creationId xmlns:a16="http://schemas.microsoft.com/office/drawing/2014/main" id="{4B3902ED-2974-6B55-CB3E-73E47E4DDF60}"/>
                    </a:ext>
                  </a:extLst>
                </p:cNvPr>
                <p:cNvSpPr>
                  <a:spLocks noEditPoints="1"/>
                </p:cNvSpPr>
                <p:nvPr/>
              </p:nvSpPr>
              <p:spPr bwMode="auto">
                <a:xfrm>
                  <a:off x="5613400" y="2879725"/>
                  <a:ext cx="962025" cy="1096963"/>
                </a:xfrm>
                <a:custGeom>
                  <a:avLst/>
                  <a:gdLst>
                    <a:gd name="T0" fmla="*/ 435 w 1346"/>
                    <a:gd name="T1" fmla="*/ 61 h 1536"/>
                    <a:gd name="T2" fmla="*/ 236 w 1346"/>
                    <a:gd name="T3" fmla="*/ 156 h 1536"/>
                    <a:gd name="T4" fmla="*/ 165 w 1346"/>
                    <a:gd name="T5" fmla="*/ 345 h 1536"/>
                    <a:gd name="T6" fmla="*/ 65 w 1346"/>
                    <a:gd name="T7" fmla="*/ 922 h 1536"/>
                    <a:gd name="T8" fmla="*/ 118 w 1346"/>
                    <a:gd name="T9" fmla="*/ 1343 h 1536"/>
                    <a:gd name="T10" fmla="*/ 225 w 1346"/>
                    <a:gd name="T11" fmla="*/ 1445 h 1536"/>
                    <a:gd name="T12" fmla="*/ 252 w 1346"/>
                    <a:gd name="T13" fmla="*/ 1446 h 1536"/>
                    <a:gd name="T14" fmla="*/ 318 w 1346"/>
                    <a:gd name="T15" fmla="*/ 1441 h 1536"/>
                    <a:gd name="T16" fmla="*/ 480 w 1346"/>
                    <a:gd name="T17" fmla="*/ 1465 h 1536"/>
                    <a:gd name="T18" fmla="*/ 690 w 1346"/>
                    <a:gd name="T19" fmla="*/ 1493 h 1536"/>
                    <a:gd name="T20" fmla="*/ 971 w 1346"/>
                    <a:gd name="T21" fmla="*/ 1449 h 1536"/>
                    <a:gd name="T22" fmla="*/ 1128 w 1346"/>
                    <a:gd name="T23" fmla="*/ 1416 h 1536"/>
                    <a:gd name="T24" fmla="*/ 1233 w 1346"/>
                    <a:gd name="T25" fmla="*/ 1403 h 1536"/>
                    <a:gd name="T26" fmla="*/ 1287 w 1346"/>
                    <a:gd name="T27" fmla="*/ 1388 h 1536"/>
                    <a:gd name="T28" fmla="*/ 1302 w 1346"/>
                    <a:gd name="T29" fmla="*/ 846 h 1536"/>
                    <a:gd name="T30" fmla="*/ 1156 w 1346"/>
                    <a:gd name="T31" fmla="*/ 752 h 1536"/>
                    <a:gd name="T32" fmla="*/ 965 w 1346"/>
                    <a:gd name="T33" fmla="*/ 862 h 1536"/>
                    <a:gd name="T34" fmla="*/ 628 w 1346"/>
                    <a:gd name="T35" fmla="*/ 875 h 1536"/>
                    <a:gd name="T36" fmla="*/ 510 w 1346"/>
                    <a:gd name="T37" fmla="*/ 715 h 1536"/>
                    <a:gd name="T38" fmla="*/ 459 w 1346"/>
                    <a:gd name="T39" fmla="*/ 639 h 1536"/>
                    <a:gd name="T40" fmla="*/ 455 w 1346"/>
                    <a:gd name="T41" fmla="*/ 412 h 1536"/>
                    <a:gd name="T42" fmla="*/ 510 w 1346"/>
                    <a:gd name="T43" fmla="*/ 400 h 1536"/>
                    <a:gd name="T44" fmla="*/ 579 w 1346"/>
                    <a:gd name="T45" fmla="*/ 409 h 1536"/>
                    <a:gd name="T46" fmla="*/ 676 w 1346"/>
                    <a:gd name="T47" fmla="*/ 316 h 1536"/>
                    <a:gd name="T48" fmla="*/ 695 w 1346"/>
                    <a:gd name="T49" fmla="*/ 278 h 1536"/>
                    <a:gd name="T50" fmla="*/ 624 w 1346"/>
                    <a:gd name="T51" fmla="*/ 112 h 1536"/>
                    <a:gd name="T52" fmla="*/ 497 w 1346"/>
                    <a:gd name="T53" fmla="*/ 43 h 1536"/>
                    <a:gd name="T54" fmla="*/ 615 w 1346"/>
                    <a:gd name="T55" fmla="*/ 50 h 1536"/>
                    <a:gd name="T56" fmla="*/ 718 w 1346"/>
                    <a:gd name="T57" fmla="*/ 135 h 1536"/>
                    <a:gd name="T58" fmla="*/ 727 w 1346"/>
                    <a:gd name="T59" fmla="*/ 307 h 1536"/>
                    <a:gd name="T60" fmla="*/ 696 w 1346"/>
                    <a:gd name="T61" fmla="*/ 393 h 1536"/>
                    <a:gd name="T62" fmla="*/ 553 w 1346"/>
                    <a:gd name="T63" fmla="*/ 449 h 1536"/>
                    <a:gd name="T64" fmla="*/ 497 w 1346"/>
                    <a:gd name="T65" fmla="*/ 444 h 1536"/>
                    <a:gd name="T66" fmla="*/ 495 w 1346"/>
                    <a:gd name="T67" fmla="*/ 615 h 1536"/>
                    <a:gd name="T68" fmla="*/ 542 w 1346"/>
                    <a:gd name="T69" fmla="*/ 687 h 1536"/>
                    <a:gd name="T70" fmla="*/ 808 w 1346"/>
                    <a:gd name="T71" fmla="*/ 796 h 1536"/>
                    <a:gd name="T72" fmla="*/ 948 w 1346"/>
                    <a:gd name="T73" fmla="*/ 809 h 1536"/>
                    <a:gd name="T74" fmla="*/ 1288 w 1346"/>
                    <a:gd name="T75" fmla="*/ 744 h 1536"/>
                    <a:gd name="T76" fmla="*/ 1346 w 1346"/>
                    <a:gd name="T77" fmla="*/ 1342 h 1536"/>
                    <a:gd name="T78" fmla="*/ 1247 w 1346"/>
                    <a:gd name="T79" fmla="*/ 1446 h 1536"/>
                    <a:gd name="T80" fmla="*/ 1214 w 1346"/>
                    <a:gd name="T81" fmla="*/ 1444 h 1536"/>
                    <a:gd name="T82" fmla="*/ 1088 w 1346"/>
                    <a:gd name="T83" fmla="*/ 1469 h 1536"/>
                    <a:gd name="T84" fmla="*/ 745 w 1346"/>
                    <a:gd name="T85" fmla="*/ 1533 h 1536"/>
                    <a:gd name="T86" fmla="*/ 513 w 1346"/>
                    <a:gd name="T87" fmla="*/ 1514 h 1536"/>
                    <a:gd name="T88" fmla="*/ 430 w 1346"/>
                    <a:gd name="T89" fmla="*/ 1499 h 1536"/>
                    <a:gd name="T90" fmla="*/ 282 w 1346"/>
                    <a:gd name="T91" fmla="*/ 1487 h 1536"/>
                    <a:gd name="T92" fmla="*/ 229 w 1346"/>
                    <a:gd name="T93" fmla="*/ 1488 h 1536"/>
                    <a:gd name="T94" fmla="*/ 115 w 1346"/>
                    <a:gd name="T95" fmla="*/ 1451 h 1536"/>
                    <a:gd name="T96" fmla="*/ 54 w 1346"/>
                    <a:gd name="T97" fmla="*/ 1259 h 1536"/>
                    <a:gd name="T98" fmla="*/ 24 w 1346"/>
                    <a:gd name="T99" fmla="*/ 912 h 1536"/>
                    <a:gd name="T100" fmla="*/ 122 w 1346"/>
                    <a:gd name="T101" fmla="*/ 338 h 1536"/>
                    <a:gd name="T102" fmla="*/ 203 w 1346"/>
                    <a:gd name="T103" fmla="*/ 128 h 1536"/>
                    <a:gd name="T104" fmla="*/ 414 w 1346"/>
                    <a:gd name="T105" fmla="*/ 23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46" h="1536">
                      <a:moveTo>
                        <a:pt x="497" y="43"/>
                      </a:moveTo>
                      <a:cubicBezTo>
                        <a:pt x="476" y="43"/>
                        <a:pt x="456" y="49"/>
                        <a:pt x="435" y="61"/>
                      </a:cubicBezTo>
                      <a:cubicBezTo>
                        <a:pt x="419" y="69"/>
                        <a:pt x="399" y="76"/>
                        <a:pt x="373" y="81"/>
                      </a:cubicBezTo>
                      <a:cubicBezTo>
                        <a:pt x="316" y="91"/>
                        <a:pt x="270" y="116"/>
                        <a:pt x="236" y="156"/>
                      </a:cubicBezTo>
                      <a:cubicBezTo>
                        <a:pt x="207" y="190"/>
                        <a:pt x="187" y="234"/>
                        <a:pt x="175" y="291"/>
                      </a:cubicBezTo>
                      <a:cubicBezTo>
                        <a:pt x="171" y="311"/>
                        <a:pt x="168" y="329"/>
                        <a:pt x="165" y="345"/>
                      </a:cubicBezTo>
                      <a:cubicBezTo>
                        <a:pt x="153" y="414"/>
                        <a:pt x="142" y="483"/>
                        <a:pt x="132" y="549"/>
                      </a:cubicBezTo>
                      <a:cubicBezTo>
                        <a:pt x="114" y="672"/>
                        <a:pt x="95" y="800"/>
                        <a:pt x="65" y="922"/>
                      </a:cubicBezTo>
                      <a:cubicBezTo>
                        <a:pt x="40" y="1024"/>
                        <a:pt x="26" y="1133"/>
                        <a:pt x="90" y="1236"/>
                      </a:cubicBezTo>
                      <a:cubicBezTo>
                        <a:pt x="110" y="1266"/>
                        <a:pt x="115" y="1300"/>
                        <a:pt x="118" y="1343"/>
                      </a:cubicBezTo>
                      <a:cubicBezTo>
                        <a:pt x="121" y="1374"/>
                        <a:pt x="124" y="1401"/>
                        <a:pt x="146" y="1421"/>
                      </a:cubicBezTo>
                      <a:cubicBezTo>
                        <a:pt x="167" y="1441"/>
                        <a:pt x="194" y="1444"/>
                        <a:pt x="225" y="1445"/>
                      </a:cubicBezTo>
                      <a:cubicBezTo>
                        <a:pt x="227" y="1445"/>
                        <a:pt x="229" y="1445"/>
                        <a:pt x="232" y="1446"/>
                      </a:cubicBezTo>
                      <a:cubicBezTo>
                        <a:pt x="238" y="1446"/>
                        <a:pt x="245" y="1446"/>
                        <a:pt x="252" y="1446"/>
                      </a:cubicBezTo>
                      <a:cubicBezTo>
                        <a:pt x="260" y="1446"/>
                        <a:pt x="267" y="1446"/>
                        <a:pt x="274" y="1445"/>
                      </a:cubicBezTo>
                      <a:cubicBezTo>
                        <a:pt x="288" y="1442"/>
                        <a:pt x="303" y="1441"/>
                        <a:pt x="318" y="1441"/>
                      </a:cubicBezTo>
                      <a:cubicBezTo>
                        <a:pt x="357" y="1441"/>
                        <a:pt x="397" y="1449"/>
                        <a:pt x="438" y="1457"/>
                      </a:cubicBezTo>
                      <a:cubicBezTo>
                        <a:pt x="452" y="1459"/>
                        <a:pt x="466" y="1462"/>
                        <a:pt x="480" y="1465"/>
                      </a:cubicBezTo>
                      <a:cubicBezTo>
                        <a:pt x="494" y="1467"/>
                        <a:pt x="508" y="1470"/>
                        <a:pt x="521" y="1472"/>
                      </a:cubicBezTo>
                      <a:cubicBezTo>
                        <a:pt x="575" y="1482"/>
                        <a:pt x="631" y="1493"/>
                        <a:pt x="690" y="1493"/>
                      </a:cubicBezTo>
                      <a:cubicBezTo>
                        <a:pt x="707" y="1493"/>
                        <a:pt x="724" y="1492"/>
                        <a:pt x="740" y="1490"/>
                      </a:cubicBezTo>
                      <a:cubicBezTo>
                        <a:pt x="819" y="1481"/>
                        <a:pt x="896" y="1465"/>
                        <a:pt x="971" y="1449"/>
                      </a:cubicBezTo>
                      <a:cubicBezTo>
                        <a:pt x="1007" y="1441"/>
                        <a:pt x="1043" y="1434"/>
                        <a:pt x="1080" y="1427"/>
                      </a:cubicBezTo>
                      <a:cubicBezTo>
                        <a:pt x="1097" y="1424"/>
                        <a:pt x="1113" y="1420"/>
                        <a:pt x="1128" y="1416"/>
                      </a:cubicBezTo>
                      <a:cubicBezTo>
                        <a:pt x="1158" y="1408"/>
                        <a:pt x="1187" y="1401"/>
                        <a:pt x="1214" y="1401"/>
                      </a:cubicBezTo>
                      <a:cubicBezTo>
                        <a:pt x="1220" y="1401"/>
                        <a:pt x="1227" y="1402"/>
                        <a:pt x="1233" y="1403"/>
                      </a:cubicBezTo>
                      <a:cubicBezTo>
                        <a:pt x="1238" y="1403"/>
                        <a:pt x="1243" y="1404"/>
                        <a:pt x="1247" y="1404"/>
                      </a:cubicBezTo>
                      <a:cubicBezTo>
                        <a:pt x="1268" y="1404"/>
                        <a:pt x="1280" y="1395"/>
                        <a:pt x="1287" y="1388"/>
                      </a:cubicBezTo>
                      <a:cubicBezTo>
                        <a:pt x="1303" y="1372"/>
                        <a:pt x="1303" y="1352"/>
                        <a:pt x="1303" y="1342"/>
                      </a:cubicBezTo>
                      <a:cubicBezTo>
                        <a:pt x="1302" y="1173"/>
                        <a:pt x="1302" y="1003"/>
                        <a:pt x="1302" y="846"/>
                      </a:cubicBezTo>
                      <a:cubicBezTo>
                        <a:pt x="1302" y="835"/>
                        <a:pt x="1302" y="801"/>
                        <a:pt x="1267" y="782"/>
                      </a:cubicBezTo>
                      <a:cubicBezTo>
                        <a:pt x="1233" y="762"/>
                        <a:pt x="1194" y="752"/>
                        <a:pt x="1156" y="752"/>
                      </a:cubicBezTo>
                      <a:cubicBezTo>
                        <a:pt x="1089" y="752"/>
                        <a:pt x="1024" y="783"/>
                        <a:pt x="981" y="836"/>
                      </a:cubicBezTo>
                      <a:cubicBezTo>
                        <a:pt x="976" y="842"/>
                        <a:pt x="969" y="851"/>
                        <a:pt x="965" y="862"/>
                      </a:cubicBezTo>
                      <a:cubicBezTo>
                        <a:pt x="914" y="847"/>
                        <a:pt x="860" y="838"/>
                        <a:pt x="808" y="838"/>
                      </a:cubicBezTo>
                      <a:cubicBezTo>
                        <a:pt x="743" y="838"/>
                        <a:pt x="683" y="851"/>
                        <a:pt x="628" y="875"/>
                      </a:cubicBezTo>
                      <a:cubicBezTo>
                        <a:pt x="611" y="882"/>
                        <a:pt x="595" y="891"/>
                        <a:pt x="580" y="900"/>
                      </a:cubicBezTo>
                      <a:cubicBezTo>
                        <a:pt x="574" y="837"/>
                        <a:pt x="559" y="771"/>
                        <a:pt x="510" y="715"/>
                      </a:cubicBezTo>
                      <a:cubicBezTo>
                        <a:pt x="498" y="701"/>
                        <a:pt x="488" y="685"/>
                        <a:pt x="477" y="667"/>
                      </a:cubicBezTo>
                      <a:cubicBezTo>
                        <a:pt x="471" y="658"/>
                        <a:pt x="466" y="648"/>
                        <a:pt x="459" y="639"/>
                      </a:cubicBezTo>
                      <a:cubicBezTo>
                        <a:pt x="447" y="620"/>
                        <a:pt x="442" y="599"/>
                        <a:pt x="445" y="575"/>
                      </a:cubicBezTo>
                      <a:cubicBezTo>
                        <a:pt x="451" y="524"/>
                        <a:pt x="454" y="471"/>
                        <a:pt x="455" y="412"/>
                      </a:cubicBezTo>
                      <a:cubicBezTo>
                        <a:pt x="460" y="411"/>
                        <a:pt x="466" y="409"/>
                        <a:pt x="471" y="407"/>
                      </a:cubicBezTo>
                      <a:cubicBezTo>
                        <a:pt x="483" y="402"/>
                        <a:pt x="496" y="400"/>
                        <a:pt x="510" y="400"/>
                      </a:cubicBezTo>
                      <a:cubicBezTo>
                        <a:pt x="525" y="400"/>
                        <a:pt x="541" y="402"/>
                        <a:pt x="564" y="407"/>
                      </a:cubicBezTo>
                      <a:cubicBezTo>
                        <a:pt x="568" y="409"/>
                        <a:pt x="573" y="409"/>
                        <a:pt x="579" y="409"/>
                      </a:cubicBezTo>
                      <a:cubicBezTo>
                        <a:pt x="610" y="409"/>
                        <a:pt x="645" y="387"/>
                        <a:pt x="662" y="366"/>
                      </a:cubicBezTo>
                      <a:cubicBezTo>
                        <a:pt x="680" y="345"/>
                        <a:pt x="678" y="325"/>
                        <a:pt x="676" y="316"/>
                      </a:cubicBezTo>
                      <a:cubicBezTo>
                        <a:pt x="674" y="306"/>
                        <a:pt x="677" y="301"/>
                        <a:pt x="693" y="280"/>
                      </a:cubicBezTo>
                      <a:cubicBezTo>
                        <a:pt x="693" y="280"/>
                        <a:pt x="693" y="280"/>
                        <a:pt x="695" y="278"/>
                      </a:cubicBezTo>
                      <a:cubicBezTo>
                        <a:pt x="725" y="241"/>
                        <a:pt x="722" y="199"/>
                        <a:pt x="688" y="165"/>
                      </a:cubicBezTo>
                      <a:cubicBezTo>
                        <a:pt x="667" y="145"/>
                        <a:pt x="645" y="128"/>
                        <a:pt x="624" y="112"/>
                      </a:cubicBezTo>
                      <a:cubicBezTo>
                        <a:pt x="611" y="102"/>
                        <a:pt x="599" y="92"/>
                        <a:pt x="587" y="82"/>
                      </a:cubicBezTo>
                      <a:cubicBezTo>
                        <a:pt x="568" y="65"/>
                        <a:pt x="537" y="43"/>
                        <a:pt x="497" y="43"/>
                      </a:cubicBezTo>
                      <a:close/>
                      <a:moveTo>
                        <a:pt x="497" y="0"/>
                      </a:moveTo>
                      <a:cubicBezTo>
                        <a:pt x="558" y="0"/>
                        <a:pt x="601" y="38"/>
                        <a:pt x="615" y="50"/>
                      </a:cubicBezTo>
                      <a:cubicBezTo>
                        <a:pt x="626" y="59"/>
                        <a:pt x="638" y="68"/>
                        <a:pt x="650" y="78"/>
                      </a:cubicBezTo>
                      <a:cubicBezTo>
                        <a:pt x="672" y="95"/>
                        <a:pt x="696" y="113"/>
                        <a:pt x="718" y="135"/>
                      </a:cubicBezTo>
                      <a:cubicBezTo>
                        <a:pt x="768" y="185"/>
                        <a:pt x="772" y="250"/>
                        <a:pt x="728" y="305"/>
                      </a:cubicBezTo>
                      <a:cubicBezTo>
                        <a:pt x="728" y="305"/>
                        <a:pt x="728" y="305"/>
                        <a:pt x="727" y="307"/>
                      </a:cubicBezTo>
                      <a:cubicBezTo>
                        <a:pt x="723" y="311"/>
                        <a:pt x="721" y="314"/>
                        <a:pt x="719" y="316"/>
                      </a:cubicBezTo>
                      <a:cubicBezTo>
                        <a:pt x="722" y="335"/>
                        <a:pt x="720" y="363"/>
                        <a:pt x="696" y="393"/>
                      </a:cubicBezTo>
                      <a:cubicBezTo>
                        <a:pt x="672" y="422"/>
                        <a:pt x="625" y="452"/>
                        <a:pt x="579" y="452"/>
                      </a:cubicBezTo>
                      <a:cubicBezTo>
                        <a:pt x="570" y="452"/>
                        <a:pt x="562" y="451"/>
                        <a:pt x="553" y="449"/>
                      </a:cubicBezTo>
                      <a:cubicBezTo>
                        <a:pt x="535" y="444"/>
                        <a:pt x="521" y="442"/>
                        <a:pt x="510" y="442"/>
                      </a:cubicBezTo>
                      <a:cubicBezTo>
                        <a:pt x="505" y="442"/>
                        <a:pt x="501" y="443"/>
                        <a:pt x="497" y="444"/>
                      </a:cubicBezTo>
                      <a:cubicBezTo>
                        <a:pt x="496" y="492"/>
                        <a:pt x="493" y="537"/>
                        <a:pt x="488" y="580"/>
                      </a:cubicBezTo>
                      <a:cubicBezTo>
                        <a:pt x="486" y="594"/>
                        <a:pt x="488" y="605"/>
                        <a:pt x="495" y="615"/>
                      </a:cubicBezTo>
                      <a:cubicBezTo>
                        <a:pt x="502" y="625"/>
                        <a:pt x="508" y="635"/>
                        <a:pt x="514" y="645"/>
                      </a:cubicBezTo>
                      <a:cubicBezTo>
                        <a:pt x="523" y="661"/>
                        <a:pt x="533" y="676"/>
                        <a:pt x="542" y="687"/>
                      </a:cubicBezTo>
                      <a:cubicBezTo>
                        <a:pt x="583" y="734"/>
                        <a:pt x="603" y="786"/>
                        <a:pt x="614" y="835"/>
                      </a:cubicBezTo>
                      <a:cubicBezTo>
                        <a:pt x="672" y="809"/>
                        <a:pt x="738" y="796"/>
                        <a:pt x="808" y="796"/>
                      </a:cubicBezTo>
                      <a:cubicBezTo>
                        <a:pt x="853" y="796"/>
                        <a:pt x="900" y="801"/>
                        <a:pt x="945" y="812"/>
                      </a:cubicBezTo>
                      <a:cubicBezTo>
                        <a:pt x="946" y="811"/>
                        <a:pt x="947" y="810"/>
                        <a:pt x="948" y="809"/>
                      </a:cubicBezTo>
                      <a:cubicBezTo>
                        <a:pt x="1000" y="746"/>
                        <a:pt x="1076" y="709"/>
                        <a:pt x="1156" y="709"/>
                      </a:cubicBezTo>
                      <a:cubicBezTo>
                        <a:pt x="1202" y="709"/>
                        <a:pt x="1247" y="721"/>
                        <a:pt x="1288" y="744"/>
                      </a:cubicBezTo>
                      <a:cubicBezTo>
                        <a:pt x="1314" y="759"/>
                        <a:pt x="1345" y="788"/>
                        <a:pt x="1345" y="846"/>
                      </a:cubicBezTo>
                      <a:cubicBezTo>
                        <a:pt x="1345" y="1003"/>
                        <a:pt x="1345" y="1173"/>
                        <a:pt x="1346" y="1342"/>
                      </a:cubicBezTo>
                      <a:cubicBezTo>
                        <a:pt x="1346" y="1355"/>
                        <a:pt x="1346" y="1390"/>
                        <a:pt x="1317" y="1419"/>
                      </a:cubicBezTo>
                      <a:cubicBezTo>
                        <a:pt x="1299" y="1437"/>
                        <a:pt x="1275" y="1446"/>
                        <a:pt x="1247" y="1446"/>
                      </a:cubicBezTo>
                      <a:cubicBezTo>
                        <a:pt x="1241" y="1446"/>
                        <a:pt x="1234" y="1446"/>
                        <a:pt x="1227" y="1445"/>
                      </a:cubicBezTo>
                      <a:cubicBezTo>
                        <a:pt x="1223" y="1444"/>
                        <a:pt x="1218" y="1444"/>
                        <a:pt x="1214" y="1444"/>
                      </a:cubicBezTo>
                      <a:cubicBezTo>
                        <a:pt x="1192" y="1444"/>
                        <a:pt x="1166" y="1451"/>
                        <a:pt x="1139" y="1457"/>
                      </a:cubicBezTo>
                      <a:cubicBezTo>
                        <a:pt x="1123" y="1461"/>
                        <a:pt x="1106" y="1465"/>
                        <a:pt x="1088" y="1469"/>
                      </a:cubicBezTo>
                      <a:cubicBezTo>
                        <a:pt x="1053" y="1475"/>
                        <a:pt x="1016" y="1483"/>
                        <a:pt x="981" y="1491"/>
                      </a:cubicBezTo>
                      <a:cubicBezTo>
                        <a:pt x="904" y="1507"/>
                        <a:pt x="826" y="1523"/>
                        <a:pt x="745" y="1533"/>
                      </a:cubicBezTo>
                      <a:cubicBezTo>
                        <a:pt x="727" y="1535"/>
                        <a:pt x="709" y="1536"/>
                        <a:pt x="690" y="1536"/>
                      </a:cubicBezTo>
                      <a:cubicBezTo>
                        <a:pt x="627" y="1536"/>
                        <a:pt x="569" y="1525"/>
                        <a:pt x="513" y="1514"/>
                      </a:cubicBezTo>
                      <a:cubicBezTo>
                        <a:pt x="500" y="1512"/>
                        <a:pt x="486" y="1509"/>
                        <a:pt x="473" y="1507"/>
                      </a:cubicBezTo>
                      <a:cubicBezTo>
                        <a:pt x="458" y="1504"/>
                        <a:pt x="444" y="1501"/>
                        <a:pt x="430" y="1499"/>
                      </a:cubicBezTo>
                      <a:cubicBezTo>
                        <a:pt x="390" y="1491"/>
                        <a:pt x="353" y="1484"/>
                        <a:pt x="318" y="1484"/>
                      </a:cubicBezTo>
                      <a:cubicBezTo>
                        <a:pt x="305" y="1484"/>
                        <a:pt x="293" y="1485"/>
                        <a:pt x="282" y="1487"/>
                      </a:cubicBezTo>
                      <a:cubicBezTo>
                        <a:pt x="272" y="1488"/>
                        <a:pt x="263" y="1489"/>
                        <a:pt x="252" y="1489"/>
                      </a:cubicBezTo>
                      <a:cubicBezTo>
                        <a:pt x="243" y="1489"/>
                        <a:pt x="235" y="1489"/>
                        <a:pt x="229" y="1488"/>
                      </a:cubicBezTo>
                      <a:cubicBezTo>
                        <a:pt x="227" y="1488"/>
                        <a:pt x="225" y="1488"/>
                        <a:pt x="223" y="1488"/>
                      </a:cubicBezTo>
                      <a:cubicBezTo>
                        <a:pt x="193" y="1486"/>
                        <a:pt x="149" y="1484"/>
                        <a:pt x="115" y="1451"/>
                      </a:cubicBezTo>
                      <a:cubicBezTo>
                        <a:pt x="81" y="1418"/>
                        <a:pt x="78" y="1375"/>
                        <a:pt x="76" y="1346"/>
                      </a:cubicBezTo>
                      <a:cubicBezTo>
                        <a:pt x="73" y="1310"/>
                        <a:pt x="69" y="1281"/>
                        <a:pt x="54" y="1259"/>
                      </a:cubicBezTo>
                      <a:cubicBezTo>
                        <a:pt x="21" y="1205"/>
                        <a:pt x="3" y="1146"/>
                        <a:pt x="2" y="1080"/>
                      </a:cubicBezTo>
                      <a:cubicBezTo>
                        <a:pt x="0" y="1018"/>
                        <a:pt x="13" y="958"/>
                        <a:pt x="24" y="912"/>
                      </a:cubicBezTo>
                      <a:cubicBezTo>
                        <a:pt x="53" y="791"/>
                        <a:pt x="72" y="665"/>
                        <a:pt x="90" y="543"/>
                      </a:cubicBezTo>
                      <a:cubicBezTo>
                        <a:pt x="100" y="476"/>
                        <a:pt x="110" y="407"/>
                        <a:pt x="122" y="338"/>
                      </a:cubicBezTo>
                      <a:cubicBezTo>
                        <a:pt x="125" y="321"/>
                        <a:pt x="128" y="303"/>
                        <a:pt x="133" y="282"/>
                      </a:cubicBezTo>
                      <a:cubicBezTo>
                        <a:pt x="146" y="218"/>
                        <a:pt x="169" y="168"/>
                        <a:pt x="203" y="128"/>
                      </a:cubicBezTo>
                      <a:cubicBezTo>
                        <a:pt x="244" y="81"/>
                        <a:pt x="298" y="51"/>
                        <a:pt x="365" y="38"/>
                      </a:cubicBezTo>
                      <a:cubicBezTo>
                        <a:pt x="386" y="35"/>
                        <a:pt x="403" y="29"/>
                        <a:pt x="414" y="23"/>
                      </a:cubicBezTo>
                      <a:cubicBezTo>
                        <a:pt x="441" y="8"/>
                        <a:pt x="469" y="0"/>
                        <a:pt x="497"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sp>
              <p:nvSpPr>
                <p:cNvPr id="95" name="Freeform 124">
                  <a:extLst>
                    <a:ext uri="{FF2B5EF4-FFF2-40B4-BE49-F238E27FC236}">
                      <a16:creationId xmlns:a16="http://schemas.microsoft.com/office/drawing/2014/main" id="{87AAB744-6DA4-15C5-93BC-08D89259B70A}"/>
                    </a:ext>
                  </a:extLst>
                </p:cNvPr>
                <p:cNvSpPr>
                  <a:spLocks/>
                </p:cNvSpPr>
                <p:nvPr/>
              </p:nvSpPr>
              <p:spPr bwMode="auto">
                <a:xfrm>
                  <a:off x="5664200" y="2935288"/>
                  <a:ext cx="849313" cy="982663"/>
                </a:xfrm>
                <a:custGeom>
                  <a:avLst/>
                  <a:gdLst>
                    <a:gd name="T0" fmla="*/ 359 w 1189"/>
                    <a:gd name="T1" fmla="*/ 291 h 1378"/>
                    <a:gd name="T2" fmla="*/ 342 w 1189"/>
                    <a:gd name="T3" fmla="*/ 303 h 1378"/>
                    <a:gd name="T4" fmla="*/ 333 w 1189"/>
                    <a:gd name="T5" fmla="*/ 493 h 1378"/>
                    <a:gd name="T6" fmla="*/ 354 w 1189"/>
                    <a:gd name="T7" fmla="*/ 585 h 1378"/>
                    <a:gd name="T8" fmla="*/ 408 w 1189"/>
                    <a:gd name="T9" fmla="*/ 666 h 1378"/>
                    <a:gd name="T10" fmla="*/ 470 w 1189"/>
                    <a:gd name="T11" fmla="*/ 846 h 1378"/>
                    <a:gd name="T12" fmla="*/ 454 w 1189"/>
                    <a:gd name="T13" fmla="*/ 892 h 1378"/>
                    <a:gd name="T14" fmla="*/ 405 w 1189"/>
                    <a:gd name="T15" fmla="*/ 954 h 1378"/>
                    <a:gd name="T16" fmla="*/ 400 w 1189"/>
                    <a:gd name="T17" fmla="*/ 961 h 1378"/>
                    <a:gd name="T18" fmla="*/ 421 w 1189"/>
                    <a:gd name="T19" fmla="*/ 974 h 1378"/>
                    <a:gd name="T20" fmla="*/ 436 w 1189"/>
                    <a:gd name="T21" fmla="*/ 954 h 1378"/>
                    <a:gd name="T22" fmla="*/ 889 w 1189"/>
                    <a:gd name="T23" fmla="*/ 828 h 1378"/>
                    <a:gd name="T24" fmla="*/ 979 w 1189"/>
                    <a:gd name="T25" fmla="*/ 903 h 1378"/>
                    <a:gd name="T26" fmla="*/ 1002 w 1189"/>
                    <a:gd name="T27" fmla="*/ 895 h 1378"/>
                    <a:gd name="T28" fmla="*/ 949 w 1189"/>
                    <a:gd name="T29" fmla="*/ 825 h 1378"/>
                    <a:gd name="T30" fmla="*/ 943 w 1189"/>
                    <a:gd name="T31" fmla="*/ 786 h 1378"/>
                    <a:gd name="T32" fmla="*/ 1175 w 1189"/>
                    <a:gd name="T33" fmla="*/ 742 h 1378"/>
                    <a:gd name="T34" fmla="*/ 1188 w 1189"/>
                    <a:gd name="T35" fmla="*/ 769 h 1378"/>
                    <a:gd name="T36" fmla="*/ 1189 w 1189"/>
                    <a:gd name="T37" fmla="*/ 1263 h 1378"/>
                    <a:gd name="T38" fmla="*/ 1168 w 1189"/>
                    <a:gd name="T39" fmla="*/ 1281 h 1378"/>
                    <a:gd name="T40" fmla="*/ 1000 w 1189"/>
                    <a:gd name="T41" fmla="*/ 1306 h 1378"/>
                    <a:gd name="T42" fmla="*/ 664 w 1189"/>
                    <a:gd name="T43" fmla="*/ 1369 h 1378"/>
                    <a:gd name="T44" fmla="*/ 418 w 1189"/>
                    <a:gd name="T45" fmla="*/ 1344 h 1378"/>
                    <a:gd name="T46" fmla="*/ 196 w 1189"/>
                    <a:gd name="T47" fmla="*/ 1324 h 1378"/>
                    <a:gd name="T48" fmla="*/ 156 w 1189"/>
                    <a:gd name="T49" fmla="*/ 1324 h 1378"/>
                    <a:gd name="T50" fmla="*/ 91 w 1189"/>
                    <a:gd name="T51" fmla="*/ 1261 h 1378"/>
                    <a:gd name="T52" fmla="*/ 57 w 1189"/>
                    <a:gd name="T53" fmla="*/ 1134 h 1378"/>
                    <a:gd name="T54" fmla="*/ 37 w 1189"/>
                    <a:gd name="T55" fmla="*/ 855 h 1378"/>
                    <a:gd name="T56" fmla="*/ 136 w 1189"/>
                    <a:gd name="T57" fmla="*/ 277 h 1378"/>
                    <a:gd name="T58" fmla="*/ 146 w 1189"/>
                    <a:gd name="T59" fmla="*/ 224 h 1378"/>
                    <a:gd name="T60" fmla="*/ 311 w 1189"/>
                    <a:gd name="T61" fmla="*/ 48 h 1378"/>
                    <a:gd name="T62" fmla="*/ 386 w 1189"/>
                    <a:gd name="T63" fmla="*/ 23 h 1378"/>
                    <a:gd name="T64" fmla="*/ 489 w 1189"/>
                    <a:gd name="T65" fmla="*/ 40 h 1378"/>
                    <a:gd name="T66" fmla="*/ 587 w 1189"/>
                    <a:gd name="T67" fmla="*/ 120 h 1378"/>
                    <a:gd name="T68" fmla="*/ 591 w 1189"/>
                    <a:gd name="T69" fmla="*/ 176 h 1378"/>
                    <a:gd name="T70" fmla="*/ 564 w 1189"/>
                    <a:gd name="T71" fmla="*/ 249 h 1378"/>
                    <a:gd name="T72" fmla="*/ 504 w 1189"/>
                    <a:gd name="T73" fmla="*/ 289 h 1378"/>
                    <a:gd name="T74" fmla="*/ 384 w 1189"/>
                    <a:gd name="T75" fmla="*/ 291 h 1378"/>
                    <a:gd name="T76" fmla="*/ 359 w 1189"/>
                    <a:gd name="T77" fmla="*/ 291 h 1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89" h="1378">
                      <a:moveTo>
                        <a:pt x="359" y="291"/>
                      </a:moveTo>
                      <a:cubicBezTo>
                        <a:pt x="351" y="287"/>
                        <a:pt x="342" y="294"/>
                        <a:pt x="342" y="303"/>
                      </a:cubicBezTo>
                      <a:cubicBezTo>
                        <a:pt x="343" y="369"/>
                        <a:pt x="340" y="431"/>
                        <a:pt x="333" y="493"/>
                      </a:cubicBezTo>
                      <a:cubicBezTo>
                        <a:pt x="329" y="526"/>
                        <a:pt x="335" y="557"/>
                        <a:pt x="354" y="585"/>
                      </a:cubicBezTo>
                      <a:cubicBezTo>
                        <a:pt x="372" y="612"/>
                        <a:pt x="387" y="642"/>
                        <a:pt x="408" y="666"/>
                      </a:cubicBezTo>
                      <a:cubicBezTo>
                        <a:pt x="454" y="718"/>
                        <a:pt x="464" y="781"/>
                        <a:pt x="470" y="846"/>
                      </a:cubicBezTo>
                      <a:cubicBezTo>
                        <a:pt x="471" y="865"/>
                        <a:pt x="466" y="878"/>
                        <a:pt x="454" y="892"/>
                      </a:cubicBezTo>
                      <a:cubicBezTo>
                        <a:pt x="437" y="912"/>
                        <a:pt x="422" y="934"/>
                        <a:pt x="405" y="954"/>
                      </a:cubicBezTo>
                      <a:cubicBezTo>
                        <a:pt x="403" y="956"/>
                        <a:pt x="402" y="959"/>
                        <a:pt x="400" y="961"/>
                      </a:cubicBezTo>
                      <a:cubicBezTo>
                        <a:pt x="392" y="973"/>
                        <a:pt x="412" y="987"/>
                        <a:pt x="421" y="974"/>
                      </a:cubicBezTo>
                      <a:cubicBezTo>
                        <a:pt x="426" y="967"/>
                        <a:pt x="431" y="961"/>
                        <a:pt x="436" y="954"/>
                      </a:cubicBezTo>
                      <a:cubicBezTo>
                        <a:pt x="553" y="785"/>
                        <a:pt x="756" y="785"/>
                        <a:pt x="889" y="828"/>
                      </a:cubicBezTo>
                      <a:cubicBezTo>
                        <a:pt x="929" y="841"/>
                        <a:pt x="957" y="867"/>
                        <a:pt x="979" y="903"/>
                      </a:cubicBezTo>
                      <a:cubicBezTo>
                        <a:pt x="986" y="915"/>
                        <a:pt x="1004" y="908"/>
                        <a:pt x="1002" y="895"/>
                      </a:cubicBezTo>
                      <a:cubicBezTo>
                        <a:pt x="996" y="864"/>
                        <a:pt x="979" y="841"/>
                        <a:pt x="949" y="825"/>
                      </a:cubicBezTo>
                      <a:cubicBezTo>
                        <a:pt x="925" y="813"/>
                        <a:pt x="930" y="803"/>
                        <a:pt x="943" y="786"/>
                      </a:cubicBezTo>
                      <a:cubicBezTo>
                        <a:pt x="1000" y="716"/>
                        <a:pt x="1095" y="697"/>
                        <a:pt x="1175" y="742"/>
                      </a:cubicBezTo>
                      <a:cubicBezTo>
                        <a:pt x="1187" y="749"/>
                        <a:pt x="1188" y="757"/>
                        <a:pt x="1188" y="769"/>
                      </a:cubicBezTo>
                      <a:cubicBezTo>
                        <a:pt x="1188" y="934"/>
                        <a:pt x="1189" y="1098"/>
                        <a:pt x="1189" y="1263"/>
                      </a:cubicBezTo>
                      <a:cubicBezTo>
                        <a:pt x="1189" y="1279"/>
                        <a:pt x="1188" y="1284"/>
                        <a:pt x="1168" y="1281"/>
                      </a:cubicBezTo>
                      <a:cubicBezTo>
                        <a:pt x="1110" y="1273"/>
                        <a:pt x="1056" y="1295"/>
                        <a:pt x="1000" y="1306"/>
                      </a:cubicBezTo>
                      <a:cubicBezTo>
                        <a:pt x="888" y="1327"/>
                        <a:pt x="778" y="1355"/>
                        <a:pt x="664" y="1369"/>
                      </a:cubicBezTo>
                      <a:cubicBezTo>
                        <a:pt x="580" y="1378"/>
                        <a:pt x="499" y="1358"/>
                        <a:pt x="418" y="1344"/>
                      </a:cubicBezTo>
                      <a:cubicBezTo>
                        <a:pt x="344" y="1331"/>
                        <a:pt x="272" y="1310"/>
                        <a:pt x="196" y="1324"/>
                      </a:cubicBezTo>
                      <a:cubicBezTo>
                        <a:pt x="183" y="1326"/>
                        <a:pt x="169" y="1324"/>
                        <a:pt x="156" y="1324"/>
                      </a:cubicBezTo>
                      <a:cubicBezTo>
                        <a:pt x="102" y="1321"/>
                        <a:pt x="95" y="1314"/>
                        <a:pt x="91" y="1261"/>
                      </a:cubicBezTo>
                      <a:cubicBezTo>
                        <a:pt x="88" y="1216"/>
                        <a:pt x="81" y="1173"/>
                        <a:pt x="57" y="1134"/>
                      </a:cubicBezTo>
                      <a:cubicBezTo>
                        <a:pt x="0" y="1044"/>
                        <a:pt x="14" y="949"/>
                        <a:pt x="37" y="855"/>
                      </a:cubicBezTo>
                      <a:cubicBezTo>
                        <a:pt x="83" y="664"/>
                        <a:pt x="102" y="469"/>
                        <a:pt x="136" y="277"/>
                      </a:cubicBezTo>
                      <a:cubicBezTo>
                        <a:pt x="139" y="259"/>
                        <a:pt x="143" y="241"/>
                        <a:pt x="146" y="224"/>
                      </a:cubicBezTo>
                      <a:cubicBezTo>
                        <a:pt x="165" y="133"/>
                        <a:pt x="210" y="66"/>
                        <a:pt x="311" y="48"/>
                      </a:cubicBezTo>
                      <a:cubicBezTo>
                        <a:pt x="336" y="43"/>
                        <a:pt x="363" y="36"/>
                        <a:pt x="386" y="23"/>
                      </a:cubicBezTo>
                      <a:cubicBezTo>
                        <a:pt x="426" y="0"/>
                        <a:pt x="457" y="12"/>
                        <a:pt x="489" y="40"/>
                      </a:cubicBezTo>
                      <a:cubicBezTo>
                        <a:pt x="521" y="67"/>
                        <a:pt x="557" y="90"/>
                        <a:pt x="587" y="120"/>
                      </a:cubicBezTo>
                      <a:cubicBezTo>
                        <a:pt x="605" y="138"/>
                        <a:pt x="608" y="155"/>
                        <a:pt x="591" y="176"/>
                      </a:cubicBezTo>
                      <a:cubicBezTo>
                        <a:pt x="574" y="197"/>
                        <a:pt x="556" y="218"/>
                        <a:pt x="564" y="249"/>
                      </a:cubicBezTo>
                      <a:cubicBezTo>
                        <a:pt x="567" y="265"/>
                        <a:pt x="524" y="294"/>
                        <a:pt x="504" y="289"/>
                      </a:cubicBezTo>
                      <a:cubicBezTo>
                        <a:pt x="464" y="279"/>
                        <a:pt x="424" y="274"/>
                        <a:pt x="384" y="291"/>
                      </a:cubicBezTo>
                      <a:cubicBezTo>
                        <a:pt x="375" y="294"/>
                        <a:pt x="367" y="294"/>
                        <a:pt x="359" y="291"/>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grpSp>
        </p:grpSp>
      </p:grpSp>
      <p:grpSp>
        <p:nvGrpSpPr>
          <p:cNvPr id="13" name="Group 12">
            <a:extLst>
              <a:ext uri="{FF2B5EF4-FFF2-40B4-BE49-F238E27FC236}">
                <a16:creationId xmlns:a16="http://schemas.microsoft.com/office/drawing/2014/main" id="{A44B1F73-4E48-9EC6-4E2A-7EB7E84EF640}"/>
              </a:ext>
            </a:extLst>
          </p:cNvPr>
          <p:cNvGrpSpPr/>
          <p:nvPr/>
        </p:nvGrpSpPr>
        <p:grpSpPr>
          <a:xfrm>
            <a:off x="5861857" y="1384252"/>
            <a:ext cx="713133" cy="686384"/>
            <a:chOff x="1888080" y="2142744"/>
            <a:chExt cx="1178776" cy="1146786"/>
          </a:xfrm>
        </p:grpSpPr>
        <p:grpSp>
          <p:nvGrpSpPr>
            <p:cNvPr id="14" name="Group 13">
              <a:extLst>
                <a:ext uri="{FF2B5EF4-FFF2-40B4-BE49-F238E27FC236}">
                  <a16:creationId xmlns:a16="http://schemas.microsoft.com/office/drawing/2014/main" id="{DFF5612F-BA86-7E9F-3351-39876D42EA25}"/>
                </a:ext>
              </a:extLst>
            </p:cNvPr>
            <p:cNvGrpSpPr/>
            <p:nvPr/>
          </p:nvGrpSpPr>
          <p:grpSpPr>
            <a:xfrm>
              <a:off x="1888080" y="2142744"/>
              <a:ext cx="1178776" cy="1146786"/>
              <a:chOff x="-166407" y="1927514"/>
              <a:chExt cx="1283727" cy="1248891"/>
            </a:xfrm>
            <a:gradFill flip="none" rotWithShape="1">
              <a:gsLst>
                <a:gs pos="100000">
                  <a:schemeClr val="tx2"/>
                </a:gs>
                <a:gs pos="33000">
                  <a:schemeClr val="accent3"/>
                </a:gs>
              </a:gsLst>
              <a:lin ang="0" scaled="0"/>
              <a:tileRect/>
            </a:gradFill>
          </p:grpSpPr>
          <p:sp>
            <p:nvSpPr>
              <p:cNvPr id="20" name="Freeform: Shape 19">
                <a:extLst>
                  <a:ext uri="{FF2B5EF4-FFF2-40B4-BE49-F238E27FC236}">
                    <a16:creationId xmlns:a16="http://schemas.microsoft.com/office/drawing/2014/main" id="{2813051C-24B6-1D93-ECC4-B60C7E8CDE1A}"/>
                  </a:ext>
                </a:extLst>
              </p:cNvPr>
              <p:cNvSpPr/>
              <p:nvPr/>
            </p:nvSpPr>
            <p:spPr>
              <a:xfrm>
                <a:off x="-166407" y="2042808"/>
                <a:ext cx="231432" cy="489028"/>
              </a:xfrm>
              <a:custGeom>
                <a:avLst/>
                <a:gdLst>
                  <a:gd name="connsiteX0" fmla="*/ 15550 w 303101"/>
                  <a:gd name="connsiteY0" fmla="*/ 640836 h 640466"/>
                  <a:gd name="connsiteX1" fmla="*/ 1977 w 303101"/>
                  <a:gd name="connsiteY1" fmla="*/ 640836 h 640466"/>
                  <a:gd name="connsiteX2" fmla="*/ 294351 w 303101"/>
                  <a:gd name="connsiteY2" fmla="*/ 1977 h 640466"/>
                  <a:gd name="connsiteX3" fmla="*/ 303233 w 303101"/>
                  <a:gd name="connsiteY3" fmla="*/ 12230 h 640466"/>
                  <a:gd name="connsiteX4" fmla="*/ 15550 w 303101"/>
                  <a:gd name="connsiteY4" fmla="*/ 640836 h 640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101" h="640466">
                    <a:moveTo>
                      <a:pt x="15550" y="640836"/>
                    </a:moveTo>
                    <a:lnTo>
                      <a:pt x="1977" y="640836"/>
                    </a:lnTo>
                    <a:cubicBezTo>
                      <a:pt x="1977" y="395455"/>
                      <a:pt x="108537" y="162594"/>
                      <a:pt x="294351" y="1977"/>
                    </a:cubicBezTo>
                    <a:lnTo>
                      <a:pt x="303233" y="12230"/>
                    </a:lnTo>
                    <a:cubicBezTo>
                      <a:pt x="120397" y="170290"/>
                      <a:pt x="15550" y="399382"/>
                      <a:pt x="15550" y="640836"/>
                    </a:cubicBez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21" name="Freeform: Shape 20">
                <a:extLst>
                  <a:ext uri="{FF2B5EF4-FFF2-40B4-BE49-F238E27FC236}">
                    <a16:creationId xmlns:a16="http://schemas.microsoft.com/office/drawing/2014/main" id="{1C2A1182-7D06-0940-77CA-2832E7FBC006}"/>
                  </a:ext>
                </a:extLst>
              </p:cNvPr>
              <p:cNvSpPr/>
              <p:nvPr/>
            </p:nvSpPr>
            <p:spPr>
              <a:xfrm>
                <a:off x="-123019" y="2759826"/>
                <a:ext cx="603737" cy="416579"/>
              </a:xfrm>
              <a:custGeom>
                <a:avLst/>
                <a:gdLst>
                  <a:gd name="connsiteX0" fmla="*/ 789276 w 790699"/>
                  <a:gd name="connsiteY0" fmla="*/ 545899 h 545582"/>
                  <a:gd name="connsiteX1" fmla="*/ 307002 w 790699"/>
                  <a:gd name="connsiteY1" fmla="*/ 394664 h 545582"/>
                  <a:gd name="connsiteX2" fmla="*/ 1977 w 790699"/>
                  <a:gd name="connsiteY2" fmla="*/ 6879 h 545582"/>
                  <a:gd name="connsiteX3" fmla="*/ 14628 w 790699"/>
                  <a:gd name="connsiteY3" fmla="*/ 1977 h 545582"/>
                  <a:gd name="connsiteX4" fmla="*/ 789276 w 790699"/>
                  <a:gd name="connsiteY4" fmla="*/ 532352 h 545582"/>
                  <a:gd name="connsiteX5" fmla="*/ 789276 w 790699"/>
                  <a:gd name="connsiteY5" fmla="*/ 545899 h 545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0699" h="545582">
                    <a:moveTo>
                      <a:pt x="789276" y="545899"/>
                    </a:moveTo>
                    <a:cubicBezTo>
                      <a:pt x="615665" y="545899"/>
                      <a:pt x="448907" y="493607"/>
                      <a:pt x="307002" y="394664"/>
                    </a:cubicBezTo>
                    <a:cubicBezTo>
                      <a:pt x="168314" y="297962"/>
                      <a:pt x="62861" y="163859"/>
                      <a:pt x="1977" y="6879"/>
                    </a:cubicBezTo>
                    <a:lnTo>
                      <a:pt x="14628" y="1977"/>
                    </a:lnTo>
                    <a:cubicBezTo>
                      <a:pt x="137635" y="319205"/>
                      <a:pt x="448959" y="532352"/>
                      <a:pt x="789276" y="532352"/>
                    </a:cubicBezTo>
                    <a:lnTo>
                      <a:pt x="789276" y="545899"/>
                    </a:ln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22" name="Freeform: Shape 21">
                <a:extLst>
                  <a:ext uri="{FF2B5EF4-FFF2-40B4-BE49-F238E27FC236}">
                    <a16:creationId xmlns:a16="http://schemas.microsoft.com/office/drawing/2014/main" id="{48555BE0-8650-ED72-5C93-1E7E64A3E4BA}"/>
                  </a:ext>
                </a:extLst>
              </p:cNvPr>
              <p:cNvSpPr/>
              <p:nvPr/>
            </p:nvSpPr>
            <p:spPr>
              <a:xfrm>
                <a:off x="761457" y="2838956"/>
                <a:ext cx="281744" cy="269669"/>
              </a:xfrm>
              <a:custGeom>
                <a:avLst/>
                <a:gdLst>
                  <a:gd name="connsiteX0" fmla="*/ 8039 w 368993"/>
                  <a:gd name="connsiteY0" fmla="*/ 353522 h 353179"/>
                  <a:gd name="connsiteX1" fmla="*/ 1977 w 368993"/>
                  <a:gd name="connsiteY1" fmla="*/ 341371 h 353179"/>
                  <a:gd name="connsiteX2" fmla="*/ 356816 w 368993"/>
                  <a:gd name="connsiteY2" fmla="*/ 1977 h 353179"/>
                  <a:gd name="connsiteX3" fmla="*/ 368677 w 368993"/>
                  <a:gd name="connsiteY3" fmla="*/ 8592 h 353179"/>
                  <a:gd name="connsiteX4" fmla="*/ 8039 w 368993"/>
                  <a:gd name="connsiteY4" fmla="*/ 353522 h 353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993" h="353179">
                    <a:moveTo>
                      <a:pt x="8039" y="353522"/>
                    </a:moveTo>
                    <a:lnTo>
                      <a:pt x="1977" y="341371"/>
                    </a:lnTo>
                    <a:cubicBezTo>
                      <a:pt x="152236" y="266202"/>
                      <a:pt x="274953" y="148836"/>
                      <a:pt x="356816" y="1977"/>
                    </a:cubicBezTo>
                    <a:lnTo>
                      <a:pt x="368677" y="8592"/>
                    </a:lnTo>
                    <a:cubicBezTo>
                      <a:pt x="285469" y="157876"/>
                      <a:pt x="160749" y="277140"/>
                      <a:pt x="8039" y="353522"/>
                    </a:cubicBez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23" name="Freeform: Shape 22">
                <a:extLst>
                  <a:ext uri="{FF2B5EF4-FFF2-40B4-BE49-F238E27FC236}">
                    <a16:creationId xmlns:a16="http://schemas.microsoft.com/office/drawing/2014/main" id="{AF6490B7-AD61-9948-9B86-340C155550A5}"/>
                  </a:ext>
                </a:extLst>
              </p:cNvPr>
              <p:cNvSpPr/>
              <p:nvPr/>
            </p:nvSpPr>
            <p:spPr>
              <a:xfrm>
                <a:off x="893937" y="2043954"/>
                <a:ext cx="223383" cy="394441"/>
              </a:xfrm>
              <a:custGeom>
                <a:avLst/>
                <a:gdLst>
                  <a:gd name="connsiteX0" fmla="*/ 278827 w 292558"/>
                  <a:gd name="connsiteY0" fmla="*/ 515694 h 516590"/>
                  <a:gd name="connsiteX1" fmla="*/ 1977 w 292558"/>
                  <a:gd name="connsiteY1" fmla="*/ 12229 h 516590"/>
                  <a:gd name="connsiteX2" fmla="*/ 10885 w 292558"/>
                  <a:gd name="connsiteY2" fmla="*/ 1977 h 516590"/>
                  <a:gd name="connsiteX3" fmla="*/ 292243 w 292558"/>
                  <a:gd name="connsiteY3" fmla="*/ 513691 h 516590"/>
                  <a:gd name="connsiteX4" fmla="*/ 278827 w 292558"/>
                  <a:gd name="connsiteY4" fmla="*/ 515694 h 5165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558" h="516590">
                    <a:moveTo>
                      <a:pt x="278827" y="515694"/>
                    </a:moveTo>
                    <a:cubicBezTo>
                      <a:pt x="249755" y="320919"/>
                      <a:pt x="151445" y="142115"/>
                      <a:pt x="1977" y="12229"/>
                    </a:cubicBezTo>
                    <a:lnTo>
                      <a:pt x="10885" y="1977"/>
                    </a:lnTo>
                    <a:cubicBezTo>
                      <a:pt x="162778" y="133997"/>
                      <a:pt x="262697" y="315726"/>
                      <a:pt x="292243" y="513691"/>
                    </a:cubicBezTo>
                    <a:lnTo>
                      <a:pt x="278827" y="515694"/>
                    </a:ln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24" name="Freeform: Shape 23">
                <a:extLst>
                  <a:ext uri="{FF2B5EF4-FFF2-40B4-BE49-F238E27FC236}">
                    <a16:creationId xmlns:a16="http://schemas.microsoft.com/office/drawing/2014/main" id="{B49155C1-9E96-12EB-EB72-B0345C254B48}"/>
                  </a:ext>
                </a:extLst>
              </p:cNvPr>
              <p:cNvSpPr/>
              <p:nvPr/>
            </p:nvSpPr>
            <p:spPr>
              <a:xfrm>
                <a:off x="-120805" y="2273254"/>
                <a:ext cx="100623" cy="541351"/>
              </a:xfrm>
              <a:custGeom>
                <a:avLst/>
                <a:gdLst>
                  <a:gd name="connsiteX0" fmla="*/ 93751 w 131783"/>
                  <a:gd name="connsiteY0" fmla="*/ 707518 h 708993"/>
                  <a:gd name="connsiteX1" fmla="*/ 1977 w 131783"/>
                  <a:gd name="connsiteY1" fmla="*/ 339026 h 708993"/>
                  <a:gd name="connsiteX2" fmla="*/ 77884 w 131783"/>
                  <a:gd name="connsiteY2" fmla="*/ 1977 h 708993"/>
                  <a:gd name="connsiteX3" fmla="*/ 117103 w 131783"/>
                  <a:gd name="connsiteY3" fmla="*/ 20664 h 708993"/>
                  <a:gd name="connsiteX4" fmla="*/ 45412 w 131783"/>
                  <a:gd name="connsiteY4" fmla="*/ 339026 h 708993"/>
                  <a:gd name="connsiteX5" fmla="*/ 132073 w 131783"/>
                  <a:gd name="connsiteY5" fmla="*/ 687092 h 708993"/>
                  <a:gd name="connsiteX6" fmla="*/ 93751 w 131783"/>
                  <a:gd name="connsiteY6" fmla="*/ 707518 h 708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1783" h="708993">
                    <a:moveTo>
                      <a:pt x="93751" y="707518"/>
                    </a:moveTo>
                    <a:cubicBezTo>
                      <a:pt x="33710" y="594896"/>
                      <a:pt x="1977" y="467488"/>
                      <a:pt x="1977" y="339026"/>
                    </a:cubicBezTo>
                    <a:cubicBezTo>
                      <a:pt x="1977" y="221080"/>
                      <a:pt x="27516" y="107667"/>
                      <a:pt x="77884" y="1977"/>
                    </a:cubicBezTo>
                    <a:lnTo>
                      <a:pt x="117103" y="20664"/>
                    </a:lnTo>
                    <a:cubicBezTo>
                      <a:pt x="69529" y="120476"/>
                      <a:pt x="45412" y="227590"/>
                      <a:pt x="45412" y="339026"/>
                    </a:cubicBezTo>
                    <a:cubicBezTo>
                      <a:pt x="45412" y="460372"/>
                      <a:pt x="75380" y="580742"/>
                      <a:pt x="132073" y="687092"/>
                    </a:cubicBezTo>
                    <a:lnTo>
                      <a:pt x="93751" y="707518"/>
                    </a:ln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25" name="Freeform: Shape 24">
                <a:extLst>
                  <a:ext uri="{FF2B5EF4-FFF2-40B4-BE49-F238E27FC236}">
                    <a16:creationId xmlns:a16="http://schemas.microsoft.com/office/drawing/2014/main" id="{8002BBCC-861D-9F74-C062-A3DBE4D758D4}"/>
                  </a:ext>
                </a:extLst>
              </p:cNvPr>
              <p:cNvSpPr/>
              <p:nvPr/>
            </p:nvSpPr>
            <p:spPr>
              <a:xfrm>
                <a:off x="10025" y="2883572"/>
                <a:ext cx="42262" cy="40249"/>
              </a:xfrm>
              <a:custGeom>
                <a:avLst/>
                <a:gdLst>
                  <a:gd name="connsiteX0" fmla="*/ 20585 w 55348"/>
                  <a:gd name="connsiteY0" fmla="*/ 51501 h 52713"/>
                  <a:gd name="connsiteX1" fmla="*/ 1977 w 55348"/>
                  <a:gd name="connsiteY1" fmla="*/ 29098 h 52713"/>
                  <a:gd name="connsiteX2" fmla="*/ 35898 w 55348"/>
                  <a:gd name="connsiteY2" fmla="*/ 1977 h 52713"/>
                  <a:gd name="connsiteX3" fmla="*/ 53478 w 55348"/>
                  <a:gd name="connsiteY3" fmla="*/ 23141 h 52713"/>
                  <a:gd name="connsiteX4" fmla="*/ 20585 w 55348"/>
                  <a:gd name="connsiteY4" fmla="*/ 51501 h 52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48" h="52713">
                    <a:moveTo>
                      <a:pt x="20585" y="51501"/>
                    </a:moveTo>
                    <a:cubicBezTo>
                      <a:pt x="14259" y="44147"/>
                      <a:pt x="7986" y="36609"/>
                      <a:pt x="1977" y="29098"/>
                    </a:cubicBezTo>
                    <a:lnTo>
                      <a:pt x="35898" y="1977"/>
                    </a:lnTo>
                    <a:cubicBezTo>
                      <a:pt x="41591" y="9093"/>
                      <a:pt x="47495" y="16209"/>
                      <a:pt x="53478" y="23141"/>
                    </a:cubicBezTo>
                    <a:lnTo>
                      <a:pt x="20585" y="51501"/>
                    </a:ln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26" name="Freeform: Shape 25">
                <a:extLst>
                  <a:ext uri="{FF2B5EF4-FFF2-40B4-BE49-F238E27FC236}">
                    <a16:creationId xmlns:a16="http://schemas.microsoft.com/office/drawing/2014/main" id="{72BB4D24-760C-B736-FD08-F454F7227A9A}"/>
                  </a:ext>
                </a:extLst>
              </p:cNvPr>
              <p:cNvSpPr/>
              <p:nvPr/>
            </p:nvSpPr>
            <p:spPr>
              <a:xfrm>
                <a:off x="33108" y="2909251"/>
                <a:ext cx="46286" cy="46286"/>
              </a:xfrm>
              <a:custGeom>
                <a:avLst/>
                <a:gdLst>
                  <a:gd name="connsiteX0" fmla="*/ 28413 w 60620"/>
                  <a:gd name="connsiteY0" fmla="*/ 58986 h 60620"/>
                  <a:gd name="connsiteX1" fmla="*/ 1977 w 60620"/>
                  <a:gd name="connsiteY1" fmla="*/ 31048 h 60620"/>
                  <a:gd name="connsiteX2" fmla="*/ 34237 w 60620"/>
                  <a:gd name="connsiteY2" fmla="*/ 1977 h 60620"/>
                  <a:gd name="connsiteX3" fmla="*/ 59223 w 60620"/>
                  <a:gd name="connsiteY3" fmla="*/ 28386 h 60620"/>
                  <a:gd name="connsiteX4" fmla="*/ 28413 w 60620"/>
                  <a:gd name="connsiteY4" fmla="*/ 58986 h 60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20" h="60620">
                    <a:moveTo>
                      <a:pt x="28413" y="58986"/>
                    </a:moveTo>
                    <a:cubicBezTo>
                      <a:pt x="19398" y="49920"/>
                      <a:pt x="10516" y="40537"/>
                      <a:pt x="1977" y="31048"/>
                    </a:cubicBezTo>
                    <a:lnTo>
                      <a:pt x="34237" y="1977"/>
                    </a:lnTo>
                    <a:cubicBezTo>
                      <a:pt x="42302" y="10938"/>
                      <a:pt x="50710" y="19820"/>
                      <a:pt x="59223" y="28386"/>
                    </a:cubicBezTo>
                    <a:lnTo>
                      <a:pt x="28413" y="58986"/>
                    </a:ln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27" name="Freeform: Shape 26">
                <a:extLst>
                  <a:ext uri="{FF2B5EF4-FFF2-40B4-BE49-F238E27FC236}">
                    <a16:creationId xmlns:a16="http://schemas.microsoft.com/office/drawing/2014/main" id="{FF4990D1-47F3-5C76-A97D-F0D929C8DC79}"/>
                  </a:ext>
                </a:extLst>
              </p:cNvPr>
              <p:cNvSpPr/>
              <p:nvPr/>
            </p:nvSpPr>
            <p:spPr>
              <a:xfrm>
                <a:off x="62952" y="2938392"/>
                <a:ext cx="74461" cy="70436"/>
              </a:xfrm>
              <a:custGeom>
                <a:avLst/>
                <a:gdLst>
                  <a:gd name="connsiteX0" fmla="*/ 69713 w 97519"/>
                  <a:gd name="connsiteY0" fmla="*/ 91431 h 92248"/>
                  <a:gd name="connsiteX1" fmla="*/ 1977 w 97519"/>
                  <a:gd name="connsiteY1" fmla="*/ 33288 h 92248"/>
                  <a:gd name="connsiteX2" fmla="*/ 32076 w 97519"/>
                  <a:gd name="connsiteY2" fmla="*/ 1977 h 92248"/>
                  <a:gd name="connsiteX3" fmla="*/ 96070 w 97519"/>
                  <a:gd name="connsiteY3" fmla="*/ 56930 h 92248"/>
                  <a:gd name="connsiteX4" fmla="*/ 69713 w 97519"/>
                  <a:gd name="connsiteY4" fmla="*/ 91431 h 922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519" h="92248">
                    <a:moveTo>
                      <a:pt x="69713" y="91431"/>
                    </a:moveTo>
                    <a:cubicBezTo>
                      <a:pt x="46151" y="73430"/>
                      <a:pt x="23352" y="53847"/>
                      <a:pt x="1977" y="33288"/>
                    </a:cubicBezTo>
                    <a:lnTo>
                      <a:pt x="32076" y="1977"/>
                    </a:lnTo>
                    <a:cubicBezTo>
                      <a:pt x="52292" y="21428"/>
                      <a:pt x="73825" y="39904"/>
                      <a:pt x="96070" y="56930"/>
                    </a:cubicBezTo>
                    <a:lnTo>
                      <a:pt x="69713" y="91431"/>
                    </a:ln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28" name="Freeform: Shape 27">
                <a:extLst>
                  <a:ext uri="{FF2B5EF4-FFF2-40B4-BE49-F238E27FC236}">
                    <a16:creationId xmlns:a16="http://schemas.microsoft.com/office/drawing/2014/main" id="{1E4E0514-441C-44D2-8441-6AB0DEAD4F5F}"/>
                  </a:ext>
                </a:extLst>
              </p:cNvPr>
              <p:cNvSpPr/>
              <p:nvPr/>
            </p:nvSpPr>
            <p:spPr>
              <a:xfrm>
                <a:off x="137394" y="2994096"/>
                <a:ext cx="637950" cy="140872"/>
              </a:xfrm>
              <a:custGeom>
                <a:avLst/>
                <a:gdLst>
                  <a:gd name="connsiteX0" fmla="*/ 448221 w 835505"/>
                  <a:gd name="connsiteY0" fmla="*/ 184787 h 184496"/>
                  <a:gd name="connsiteX1" fmla="*/ 1977 w 835505"/>
                  <a:gd name="connsiteY1" fmla="*/ 46730 h 184496"/>
                  <a:gd name="connsiteX2" fmla="*/ 32682 w 835505"/>
                  <a:gd name="connsiteY2" fmla="*/ 1977 h 184496"/>
                  <a:gd name="connsiteX3" fmla="*/ 448221 w 835505"/>
                  <a:gd name="connsiteY3" fmla="*/ 130492 h 184496"/>
                  <a:gd name="connsiteX4" fmla="*/ 808991 w 835505"/>
                  <a:gd name="connsiteY4" fmla="*/ 36109 h 184496"/>
                  <a:gd name="connsiteX5" fmla="*/ 835664 w 835505"/>
                  <a:gd name="connsiteY5" fmla="*/ 83392 h 184496"/>
                  <a:gd name="connsiteX6" fmla="*/ 448221 w 835505"/>
                  <a:gd name="connsiteY6" fmla="*/ 184787 h 184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5505" h="184496">
                    <a:moveTo>
                      <a:pt x="448221" y="184787"/>
                    </a:moveTo>
                    <a:cubicBezTo>
                      <a:pt x="287973" y="184787"/>
                      <a:pt x="133654" y="137055"/>
                      <a:pt x="1977" y="46730"/>
                    </a:cubicBezTo>
                    <a:lnTo>
                      <a:pt x="32682" y="1977"/>
                    </a:lnTo>
                    <a:cubicBezTo>
                      <a:pt x="155267" y="86055"/>
                      <a:pt x="298964" y="130492"/>
                      <a:pt x="448221" y="130492"/>
                    </a:cubicBezTo>
                    <a:cubicBezTo>
                      <a:pt x="574733" y="130492"/>
                      <a:pt x="699479" y="97862"/>
                      <a:pt x="808991" y="36109"/>
                    </a:cubicBezTo>
                    <a:lnTo>
                      <a:pt x="835664" y="83392"/>
                    </a:lnTo>
                    <a:cubicBezTo>
                      <a:pt x="718034" y="149732"/>
                      <a:pt x="584063" y="184787"/>
                      <a:pt x="448221" y="184787"/>
                    </a:cubicBez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29" name="Freeform: Shape 28">
                <a:extLst>
                  <a:ext uri="{FF2B5EF4-FFF2-40B4-BE49-F238E27FC236}">
                    <a16:creationId xmlns:a16="http://schemas.microsoft.com/office/drawing/2014/main" id="{1243E1E3-DAFD-1419-A2A2-F05F510892C0}"/>
                  </a:ext>
                </a:extLst>
              </p:cNvPr>
              <p:cNvSpPr/>
              <p:nvPr/>
            </p:nvSpPr>
            <p:spPr>
              <a:xfrm>
                <a:off x="822676" y="2922895"/>
                <a:ext cx="88548" cy="84523"/>
              </a:xfrm>
              <a:custGeom>
                <a:avLst/>
                <a:gdLst>
                  <a:gd name="connsiteX0" fmla="*/ 25065 w 115969"/>
                  <a:gd name="connsiteY0" fmla="*/ 109591 h 110697"/>
                  <a:gd name="connsiteX1" fmla="*/ 1977 w 115969"/>
                  <a:gd name="connsiteY1" fmla="*/ 79413 h 110697"/>
                  <a:gd name="connsiteX2" fmla="*/ 88453 w 115969"/>
                  <a:gd name="connsiteY2" fmla="*/ 1977 h 110697"/>
                  <a:gd name="connsiteX3" fmla="*/ 115916 w 115969"/>
                  <a:gd name="connsiteY3" fmla="*/ 28228 h 110697"/>
                  <a:gd name="connsiteX4" fmla="*/ 25065 w 115969"/>
                  <a:gd name="connsiteY4" fmla="*/ 109591 h 110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969" h="110697">
                    <a:moveTo>
                      <a:pt x="25065" y="109591"/>
                    </a:moveTo>
                    <a:lnTo>
                      <a:pt x="1977" y="79413"/>
                    </a:lnTo>
                    <a:cubicBezTo>
                      <a:pt x="32656" y="55955"/>
                      <a:pt x="61753" y="29889"/>
                      <a:pt x="88453" y="1977"/>
                    </a:cubicBezTo>
                    <a:lnTo>
                      <a:pt x="115916" y="28228"/>
                    </a:lnTo>
                    <a:cubicBezTo>
                      <a:pt x="87873" y="57563"/>
                      <a:pt x="57299" y="84948"/>
                      <a:pt x="25065" y="109591"/>
                    </a:cubicBez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30" name="Freeform: Shape 29">
                <a:extLst>
                  <a:ext uri="{FF2B5EF4-FFF2-40B4-BE49-F238E27FC236}">
                    <a16:creationId xmlns:a16="http://schemas.microsoft.com/office/drawing/2014/main" id="{22698DEE-3E25-9FA5-C90B-16AB81B95603}"/>
                  </a:ext>
                </a:extLst>
              </p:cNvPr>
              <p:cNvSpPr/>
              <p:nvPr/>
            </p:nvSpPr>
            <p:spPr>
              <a:xfrm>
                <a:off x="884137" y="2113445"/>
                <a:ext cx="195209" cy="800958"/>
              </a:xfrm>
              <a:custGeom>
                <a:avLst/>
                <a:gdLst>
                  <a:gd name="connsiteX0" fmla="*/ 75591 w 255659"/>
                  <a:gd name="connsiteY0" fmla="*/ 1047176 h 1048994"/>
                  <a:gd name="connsiteX1" fmla="*/ 42091 w 255659"/>
                  <a:gd name="connsiteY1" fmla="*/ 1019528 h 1048994"/>
                  <a:gd name="connsiteX2" fmla="*/ 211222 w 255659"/>
                  <a:gd name="connsiteY2" fmla="*/ 548297 h 1048994"/>
                  <a:gd name="connsiteX3" fmla="*/ 1977 w 255659"/>
                  <a:gd name="connsiteY3" fmla="*/ 32234 h 1048994"/>
                  <a:gd name="connsiteX4" fmla="*/ 33130 w 255659"/>
                  <a:gd name="connsiteY4" fmla="*/ 1977 h 1048994"/>
                  <a:gd name="connsiteX5" fmla="*/ 254658 w 255659"/>
                  <a:gd name="connsiteY5" fmla="*/ 548297 h 1048994"/>
                  <a:gd name="connsiteX6" fmla="*/ 207084 w 255659"/>
                  <a:gd name="connsiteY6" fmla="*/ 817952 h 1048994"/>
                  <a:gd name="connsiteX7" fmla="*/ 75591 w 255659"/>
                  <a:gd name="connsiteY7" fmla="*/ 1047176 h 1048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59" h="1048994">
                    <a:moveTo>
                      <a:pt x="75591" y="1047176"/>
                    </a:moveTo>
                    <a:lnTo>
                      <a:pt x="42091" y="1019528"/>
                    </a:lnTo>
                    <a:cubicBezTo>
                      <a:pt x="151155" y="887349"/>
                      <a:pt x="211222" y="719985"/>
                      <a:pt x="211222" y="548297"/>
                    </a:cubicBezTo>
                    <a:cubicBezTo>
                      <a:pt x="211222" y="354523"/>
                      <a:pt x="136896" y="171239"/>
                      <a:pt x="1977" y="32234"/>
                    </a:cubicBezTo>
                    <a:lnTo>
                      <a:pt x="33130" y="1977"/>
                    </a:lnTo>
                    <a:cubicBezTo>
                      <a:pt x="175983" y="149126"/>
                      <a:pt x="254658" y="343164"/>
                      <a:pt x="254658" y="548297"/>
                    </a:cubicBezTo>
                    <a:cubicBezTo>
                      <a:pt x="254658" y="640967"/>
                      <a:pt x="238659" y="731687"/>
                      <a:pt x="207084" y="817952"/>
                    </a:cubicBezTo>
                    <a:cubicBezTo>
                      <a:pt x="176563" y="901318"/>
                      <a:pt x="132337" y="978438"/>
                      <a:pt x="75591" y="1047176"/>
                    </a:cubicBez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31" name="Freeform: Shape 30">
                <a:extLst>
                  <a:ext uri="{FF2B5EF4-FFF2-40B4-BE49-F238E27FC236}">
                    <a16:creationId xmlns:a16="http://schemas.microsoft.com/office/drawing/2014/main" id="{A5975646-D0E6-4BFC-E3F8-A696D685B13C}"/>
                  </a:ext>
                </a:extLst>
              </p:cNvPr>
              <p:cNvSpPr/>
              <p:nvPr/>
            </p:nvSpPr>
            <p:spPr>
              <a:xfrm>
                <a:off x="478123" y="1927514"/>
                <a:ext cx="289794" cy="110685"/>
              </a:xfrm>
              <a:custGeom>
                <a:avLst/>
                <a:gdLst>
                  <a:gd name="connsiteX0" fmla="*/ 352573 w 379535"/>
                  <a:gd name="connsiteY0" fmla="*/ 145041 h 144961"/>
                  <a:gd name="connsiteX1" fmla="*/ 1977 w 379535"/>
                  <a:gd name="connsiteY1" fmla="*/ 56271 h 144961"/>
                  <a:gd name="connsiteX2" fmla="*/ 1977 w 379535"/>
                  <a:gd name="connsiteY2" fmla="*/ 1977 h 144961"/>
                  <a:gd name="connsiteX3" fmla="*/ 378481 w 379535"/>
                  <a:gd name="connsiteY3" fmla="*/ 97335 h 144961"/>
                  <a:gd name="connsiteX4" fmla="*/ 352573 w 379535"/>
                  <a:gd name="connsiteY4" fmla="*/ 145041 h 1449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9535" h="144961">
                    <a:moveTo>
                      <a:pt x="352573" y="145041"/>
                    </a:moveTo>
                    <a:cubicBezTo>
                      <a:pt x="245670" y="86977"/>
                      <a:pt x="124456" y="56271"/>
                      <a:pt x="1977" y="56271"/>
                    </a:cubicBezTo>
                    <a:lnTo>
                      <a:pt x="1977" y="1977"/>
                    </a:lnTo>
                    <a:cubicBezTo>
                      <a:pt x="133470" y="1977"/>
                      <a:pt x="263672" y="34949"/>
                      <a:pt x="378481" y="97335"/>
                    </a:cubicBezTo>
                    <a:lnTo>
                      <a:pt x="352573" y="145041"/>
                    </a:ln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32" name="Freeform: Shape 31">
                <a:extLst>
                  <a:ext uri="{FF2B5EF4-FFF2-40B4-BE49-F238E27FC236}">
                    <a16:creationId xmlns:a16="http://schemas.microsoft.com/office/drawing/2014/main" id="{850E76B6-EFE6-DE73-5274-1EAAFA81DD0D}"/>
                  </a:ext>
                </a:extLst>
              </p:cNvPr>
              <p:cNvSpPr/>
              <p:nvPr/>
            </p:nvSpPr>
            <p:spPr>
              <a:xfrm>
                <a:off x="-54696" y="2014231"/>
                <a:ext cx="406516" cy="893531"/>
              </a:xfrm>
              <a:custGeom>
                <a:avLst/>
                <a:gdLst>
                  <a:gd name="connsiteX0" fmla="*/ 202946 w 532404"/>
                  <a:gd name="connsiteY0" fmla="*/ 1168259 h 1170235"/>
                  <a:gd name="connsiteX1" fmla="*/ 1977 w 532404"/>
                  <a:gd name="connsiteY1" fmla="*/ 678262 h 1170235"/>
                  <a:gd name="connsiteX2" fmla="*/ 151340 w 532404"/>
                  <a:gd name="connsiteY2" fmla="*/ 246777 h 1170235"/>
                  <a:gd name="connsiteX3" fmla="*/ 527080 w 532404"/>
                  <a:gd name="connsiteY3" fmla="*/ 1977 h 1170235"/>
                  <a:gd name="connsiteX4" fmla="*/ 530559 w 532404"/>
                  <a:gd name="connsiteY4" fmla="*/ 15629 h 1170235"/>
                  <a:gd name="connsiteX5" fmla="*/ 16078 w 532404"/>
                  <a:gd name="connsiteY5" fmla="*/ 678236 h 1170235"/>
                  <a:gd name="connsiteX6" fmla="*/ 212988 w 532404"/>
                  <a:gd name="connsiteY6" fmla="*/ 1158322 h 1170235"/>
                  <a:gd name="connsiteX7" fmla="*/ 202946 w 532404"/>
                  <a:gd name="connsiteY7" fmla="*/ 1168259 h 117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2404" h="1170235">
                    <a:moveTo>
                      <a:pt x="202946" y="1168259"/>
                    </a:moveTo>
                    <a:cubicBezTo>
                      <a:pt x="73351" y="1036871"/>
                      <a:pt x="1977" y="862838"/>
                      <a:pt x="1977" y="678262"/>
                    </a:cubicBezTo>
                    <a:cubicBezTo>
                      <a:pt x="1977" y="520017"/>
                      <a:pt x="53636" y="370812"/>
                      <a:pt x="151340" y="246777"/>
                    </a:cubicBezTo>
                    <a:cubicBezTo>
                      <a:pt x="246092" y="126486"/>
                      <a:pt x="379536" y="39561"/>
                      <a:pt x="527080" y="1977"/>
                    </a:cubicBezTo>
                    <a:lnTo>
                      <a:pt x="530559" y="15629"/>
                    </a:lnTo>
                    <a:cubicBezTo>
                      <a:pt x="227642" y="92775"/>
                      <a:pt x="16078" y="365250"/>
                      <a:pt x="16078" y="678236"/>
                    </a:cubicBezTo>
                    <a:cubicBezTo>
                      <a:pt x="16078" y="859095"/>
                      <a:pt x="86002" y="1029570"/>
                      <a:pt x="212988" y="1158322"/>
                    </a:cubicBezTo>
                    <a:lnTo>
                      <a:pt x="202946" y="1168259"/>
                    </a:ln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33" name="Freeform: Shape 32">
                <a:extLst>
                  <a:ext uri="{FF2B5EF4-FFF2-40B4-BE49-F238E27FC236}">
                    <a16:creationId xmlns:a16="http://schemas.microsoft.com/office/drawing/2014/main" id="{58382C30-723D-6102-0D89-65D18E0FB6D8}"/>
                  </a:ext>
                </a:extLst>
              </p:cNvPr>
              <p:cNvSpPr/>
              <p:nvPr/>
            </p:nvSpPr>
            <p:spPr>
              <a:xfrm>
                <a:off x="191488" y="2783311"/>
                <a:ext cx="754672" cy="281744"/>
              </a:xfrm>
              <a:custGeom>
                <a:avLst/>
                <a:gdLst>
                  <a:gd name="connsiteX0" fmla="*/ 377375 w 988374"/>
                  <a:gd name="connsiteY0" fmla="*/ 368835 h 368993"/>
                  <a:gd name="connsiteX1" fmla="*/ 1977 w 988374"/>
                  <a:gd name="connsiteY1" fmla="*/ 259349 h 368993"/>
                  <a:gd name="connsiteX2" fmla="*/ 9567 w 988374"/>
                  <a:gd name="connsiteY2" fmla="*/ 247463 h 368993"/>
                  <a:gd name="connsiteX3" fmla="*/ 377375 w 988374"/>
                  <a:gd name="connsiteY3" fmla="*/ 354734 h 368993"/>
                  <a:gd name="connsiteX4" fmla="*/ 975802 w 988374"/>
                  <a:gd name="connsiteY4" fmla="*/ 1977 h 368993"/>
                  <a:gd name="connsiteX5" fmla="*/ 988137 w 988374"/>
                  <a:gd name="connsiteY5" fmla="*/ 8803 h 368993"/>
                  <a:gd name="connsiteX6" fmla="*/ 377375 w 988374"/>
                  <a:gd name="connsiteY6" fmla="*/ 368835 h 368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8374" h="368993">
                    <a:moveTo>
                      <a:pt x="377375" y="368835"/>
                    </a:moveTo>
                    <a:cubicBezTo>
                      <a:pt x="243799" y="368835"/>
                      <a:pt x="113993" y="330987"/>
                      <a:pt x="1977" y="259349"/>
                    </a:cubicBezTo>
                    <a:lnTo>
                      <a:pt x="9567" y="247463"/>
                    </a:lnTo>
                    <a:cubicBezTo>
                      <a:pt x="119317" y="317624"/>
                      <a:pt x="246514" y="354734"/>
                      <a:pt x="377375" y="354734"/>
                    </a:cubicBezTo>
                    <a:cubicBezTo>
                      <a:pt x="625891" y="354734"/>
                      <a:pt x="855221" y="219551"/>
                      <a:pt x="975802" y="1977"/>
                    </a:cubicBezTo>
                    <a:lnTo>
                      <a:pt x="988137" y="8803"/>
                    </a:lnTo>
                    <a:cubicBezTo>
                      <a:pt x="865052" y="230884"/>
                      <a:pt x="631031" y="368835"/>
                      <a:pt x="377375" y="368835"/>
                    </a:cubicBez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34" name="Freeform: Shape 33">
                <a:extLst>
                  <a:ext uri="{FF2B5EF4-FFF2-40B4-BE49-F238E27FC236}">
                    <a16:creationId xmlns:a16="http://schemas.microsoft.com/office/drawing/2014/main" id="{D4A911A4-DC3F-F078-041C-0757D5EAB0A2}"/>
                  </a:ext>
                </a:extLst>
              </p:cNvPr>
              <p:cNvSpPr/>
              <p:nvPr/>
            </p:nvSpPr>
            <p:spPr>
              <a:xfrm>
                <a:off x="478123" y="1997769"/>
                <a:ext cx="426641" cy="221370"/>
              </a:xfrm>
              <a:custGeom>
                <a:avLst/>
                <a:gdLst>
                  <a:gd name="connsiteX0" fmla="*/ 547823 w 558760"/>
                  <a:gd name="connsiteY0" fmla="*/ 287999 h 289923"/>
                  <a:gd name="connsiteX1" fmla="*/ 1977 w 558760"/>
                  <a:gd name="connsiteY1" fmla="*/ 16078 h 289923"/>
                  <a:gd name="connsiteX2" fmla="*/ 1977 w 558760"/>
                  <a:gd name="connsiteY2" fmla="*/ 1977 h 289923"/>
                  <a:gd name="connsiteX3" fmla="*/ 318098 w 558760"/>
                  <a:gd name="connsiteY3" fmla="*/ 77515 h 289923"/>
                  <a:gd name="connsiteX4" fmla="*/ 559051 w 558760"/>
                  <a:gd name="connsiteY4" fmla="*/ 279486 h 289923"/>
                  <a:gd name="connsiteX5" fmla="*/ 547823 w 558760"/>
                  <a:gd name="connsiteY5" fmla="*/ 287999 h 289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8760" h="289923">
                    <a:moveTo>
                      <a:pt x="547823" y="287999"/>
                    </a:moveTo>
                    <a:cubicBezTo>
                      <a:pt x="417252" y="115205"/>
                      <a:pt x="218286" y="16078"/>
                      <a:pt x="1977" y="16078"/>
                    </a:cubicBezTo>
                    <a:lnTo>
                      <a:pt x="1977" y="1977"/>
                    </a:lnTo>
                    <a:cubicBezTo>
                      <a:pt x="113254" y="1977"/>
                      <a:pt x="219630" y="27385"/>
                      <a:pt x="318098" y="77515"/>
                    </a:cubicBezTo>
                    <a:cubicBezTo>
                      <a:pt x="412033" y="125326"/>
                      <a:pt x="495347" y="195171"/>
                      <a:pt x="559051" y="279486"/>
                    </a:cubicBezTo>
                    <a:lnTo>
                      <a:pt x="547823" y="287999"/>
                    </a:ln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grpSp>
        <p:sp>
          <p:nvSpPr>
            <p:cNvPr id="15" name="Oval 14">
              <a:extLst>
                <a:ext uri="{FF2B5EF4-FFF2-40B4-BE49-F238E27FC236}">
                  <a16:creationId xmlns:a16="http://schemas.microsoft.com/office/drawing/2014/main" id="{806386FD-8EBC-4A3B-2764-658BF66D672C}"/>
                </a:ext>
              </a:extLst>
            </p:cNvPr>
            <p:cNvSpPr/>
            <p:nvPr/>
          </p:nvSpPr>
          <p:spPr>
            <a:xfrm>
              <a:off x="2051403" y="2274090"/>
              <a:ext cx="852129" cy="852127"/>
            </a:xfrm>
            <a:prstGeom prst="ellipse">
              <a:avLst/>
            </a:prstGeom>
            <a:gradFill>
              <a:gsLst>
                <a:gs pos="0">
                  <a:schemeClr val="bg1"/>
                </a:gs>
                <a:gs pos="100000">
                  <a:schemeClr val="bg1">
                    <a:lumMod val="95000"/>
                  </a:schemeClr>
                </a:gs>
              </a:gsLst>
              <a:path path="circle">
                <a:fillToRect l="100000" t="100000"/>
              </a:path>
            </a:gradFill>
            <a:ln w="25400" cap="rnd" cmpd="sng" algn="ctr">
              <a:solidFill>
                <a:schemeClr val="bg1">
                  <a:lumMod val="95000"/>
                </a:schemeClr>
              </a:solidFill>
              <a:prstDash val="solid"/>
              <a:round/>
              <a:headEnd type="none" w="med" len="med"/>
              <a:tailEnd type="none" w="med" len="med"/>
            </a:ln>
            <a:effectLst>
              <a:glow rad="101600">
                <a:schemeClr val="accent4">
                  <a:satMod val="175000"/>
                  <a:alpha val="40000"/>
                </a:schemeClr>
              </a:glow>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grpSp>
          <p:nvGrpSpPr>
            <p:cNvPr id="16" name="bcgIcons_Target ">
              <a:extLst>
                <a:ext uri="{FF2B5EF4-FFF2-40B4-BE49-F238E27FC236}">
                  <a16:creationId xmlns:a16="http://schemas.microsoft.com/office/drawing/2014/main" id="{95EA5BFD-87C1-F001-AA3D-87D109069F1A}"/>
                </a:ext>
              </a:extLst>
            </p:cNvPr>
            <p:cNvGrpSpPr>
              <a:grpSpLocks noChangeAspect="1"/>
            </p:cNvGrpSpPr>
            <p:nvPr/>
          </p:nvGrpSpPr>
          <p:grpSpPr bwMode="auto">
            <a:xfrm>
              <a:off x="2135123" y="2376682"/>
              <a:ext cx="692794" cy="693436"/>
              <a:chOff x="1682" y="0"/>
              <a:chExt cx="4316" cy="4320"/>
            </a:xfrm>
          </p:grpSpPr>
          <p:sp>
            <p:nvSpPr>
              <p:cNvPr id="17" name="AutoShape 23">
                <a:extLst>
                  <a:ext uri="{FF2B5EF4-FFF2-40B4-BE49-F238E27FC236}">
                    <a16:creationId xmlns:a16="http://schemas.microsoft.com/office/drawing/2014/main" id="{1AEA29D3-4CED-41D1-759F-364EEE6CD829}"/>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18" name="Freeform 25">
                <a:extLst>
                  <a:ext uri="{FF2B5EF4-FFF2-40B4-BE49-F238E27FC236}">
                    <a16:creationId xmlns:a16="http://schemas.microsoft.com/office/drawing/2014/main" id="{97CA246B-E2A9-DCCF-F77A-E0984C9BC394}"/>
                  </a:ext>
                </a:extLst>
              </p:cNvPr>
              <p:cNvSpPr>
                <a:spLocks noEditPoints="1"/>
              </p:cNvSpPr>
              <p:nvPr/>
            </p:nvSpPr>
            <p:spPr bwMode="auto">
              <a:xfrm>
                <a:off x="3782" y="838"/>
                <a:ext cx="1832" cy="1367"/>
              </a:xfrm>
              <a:custGeom>
                <a:avLst/>
                <a:gdLst>
                  <a:gd name="T0" fmla="*/ 25 w 978"/>
                  <a:gd name="T1" fmla="*/ 729 h 729"/>
                  <a:gd name="T2" fmla="*/ 7 w 978"/>
                  <a:gd name="T3" fmla="*/ 719 h 729"/>
                  <a:gd name="T4" fmla="*/ 13 w 978"/>
                  <a:gd name="T5" fmla="*/ 689 h 729"/>
                  <a:gd name="T6" fmla="*/ 888 w 978"/>
                  <a:gd name="T7" fmla="*/ 86 h 729"/>
                  <a:gd name="T8" fmla="*/ 919 w 978"/>
                  <a:gd name="T9" fmla="*/ 91 h 729"/>
                  <a:gd name="T10" fmla="*/ 913 w 978"/>
                  <a:gd name="T11" fmla="*/ 122 h 729"/>
                  <a:gd name="T12" fmla="*/ 38 w 978"/>
                  <a:gd name="T13" fmla="*/ 725 h 729"/>
                  <a:gd name="T14" fmla="*/ 25 w 978"/>
                  <a:gd name="T15" fmla="*/ 729 h 729"/>
                  <a:gd name="T16" fmla="*/ 578 w 978"/>
                  <a:gd name="T17" fmla="*/ 254 h 729"/>
                  <a:gd name="T18" fmla="*/ 586 w 978"/>
                  <a:gd name="T19" fmla="*/ 258 h 729"/>
                  <a:gd name="T20" fmla="*/ 825 w 978"/>
                  <a:gd name="T21" fmla="*/ 93 h 729"/>
                  <a:gd name="T22" fmla="*/ 826 w 978"/>
                  <a:gd name="T23" fmla="*/ 91 h 729"/>
                  <a:gd name="T24" fmla="*/ 849 w 978"/>
                  <a:gd name="T25" fmla="*/ 8 h 729"/>
                  <a:gd name="T26" fmla="*/ 841 w 978"/>
                  <a:gd name="T27" fmla="*/ 3 h 729"/>
                  <a:gd name="T28" fmla="*/ 602 w 978"/>
                  <a:gd name="T29" fmla="*/ 166 h 729"/>
                  <a:gd name="T30" fmla="*/ 599 w 978"/>
                  <a:gd name="T31" fmla="*/ 171 h 729"/>
                  <a:gd name="T32" fmla="*/ 578 w 978"/>
                  <a:gd name="T33" fmla="*/ 254 h 729"/>
                  <a:gd name="T34" fmla="*/ 646 w 978"/>
                  <a:gd name="T35" fmla="*/ 352 h 729"/>
                  <a:gd name="T36" fmla="*/ 730 w 978"/>
                  <a:gd name="T37" fmla="*/ 362 h 729"/>
                  <a:gd name="T38" fmla="*/ 736 w 978"/>
                  <a:gd name="T39" fmla="*/ 361 h 729"/>
                  <a:gd name="T40" fmla="*/ 974 w 978"/>
                  <a:gd name="T41" fmla="*/ 196 h 729"/>
                  <a:gd name="T42" fmla="*/ 972 w 978"/>
                  <a:gd name="T43" fmla="*/ 187 h 729"/>
                  <a:gd name="T44" fmla="*/ 886 w 978"/>
                  <a:gd name="T45" fmla="*/ 179 h 729"/>
                  <a:gd name="T46" fmla="*/ 884 w 978"/>
                  <a:gd name="T47" fmla="*/ 179 h 729"/>
                  <a:gd name="T48" fmla="*/ 644 w 978"/>
                  <a:gd name="T49" fmla="*/ 343 h 729"/>
                  <a:gd name="T50" fmla="*/ 646 w 978"/>
                  <a:gd name="T51" fmla="*/ 352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78" h="729">
                    <a:moveTo>
                      <a:pt x="25" y="729"/>
                    </a:moveTo>
                    <a:cubicBezTo>
                      <a:pt x="18" y="729"/>
                      <a:pt x="11" y="726"/>
                      <a:pt x="7" y="719"/>
                    </a:cubicBezTo>
                    <a:cubicBezTo>
                      <a:pt x="0" y="709"/>
                      <a:pt x="3" y="696"/>
                      <a:pt x="13" y="689"/>
                    </a:cubicBezTo>
                    <a:cubicBezTo>
                      <a:pt x="888" y="86"/>
                      <a:pt x="888" y="86"/>
                      <a:pt x="888" y="86"/>
                    </a:cubicBezTo>
                    <a:cubicBezTo>
                      <a:pt x="898" y="79"/>
                      <a:pt x="912" y="81"/>
                      <a:pt x="919" y="91"/>
                    </a:cubicBezTo>
                    <a:cubicBezTo>
                      <a:pt x="926" y="101"/>
                      <a:pt x="923" y="115"/>
                      <a:pt x="913" y="122"/>
                    </a:cubicBezTo>
                    <a:cubicBezTo>
                      <a:pt x="38" y="725"/>
                      <a:pt x="38" y="725"/>
                      <a:pt x="38" y="725"/>
                    </a:cubicBezTo>
                    <a:cubicBezTo>
                      <a:pt x="34" y="728"/>
                      <a:pt x="30" y="729"/>
                      <a:pt x="25" y="729"/>
                    </a:cubicBezTo>
                    <a:close/>
                    <a:moveTo>
                      <a:pt x="578" y="254"/>
                    </a:moveTo>
                    <a:cubicBezTo>
                      <a:pt x="577" y="258"/>
                      <a:pt x="582" y="259"/>
                      <a:pt x="586" y="258"/>
                    </a:cubicBezTo>
                    <a:cubicBezTo>
                      <a:pt x="586" y="258"/>
                      <a:pt x="586" y="258"/>
                      <a:pt x="825" y="93"/>
                    </a:cubicBezTo>
                    <a:cubicBezTo>
                      <a:pt x="826" y="93"/>
                      <a:pt x="826" y="93"/>
                      <a:pt x="826" y="91"/>
                    </a:cubicBezTo>
                    <a:cubicBezTo>
                      <a:pt x="826" y="91"/>
                      <a:pt x="826" y="91"/>
                      <a:pt x="849" y="8"/>
                    </a:cubicBezTo>
                    <a:cubicBezTo>
                      <a:pt x="850" y="3"/>
                      <a:pt x="845" y="0"/>
                      <a:pt x="841" y="3"/>
                    </a:cubicBezTo>
                    <a:cubicBezTo>
                      <a:pt x="841" y="3"/>
                      <a:pt x="841" y="3"/>
                      <a:pt x="602" y="166"/>
                    </a:cubicBezTo>
                    <a:cubicBezTo>
                      <a:pt x="601" y="168"/>
                      <a:pt x="601" y="168"/>
                      <a:pt x="599" y="171"/>
                    </a:cubicBezTo>
                    <a:cubicBezTo>
                      <a:pt x="599" y="171"/>
                      <a:pt x="599" y="171"/>
                      <a:pt x="578" y="254"/>
                    </a:cubicBezTo>
                    <a:close/>
                    <a:moveTo>
                      <a:pt x="646" y="352"/>
                    </a:moveTo>
                    <a:cubicBezTo>
                      <a:pt x="730" y="362"/>
                      <a:pt x="730" y="362"/>
                      <a:pt x="730" y="362"/>
                    </a:cubicBezTo>
                    <a:cubicBezTo>
                      <a:pt x="734" y="361"/>
                      <a:pt x="734" y="361"/>
                      <a:pt x="736" y="361"/>
                    </a:cubicBezTo>
                    <a:cubicBezTo>
                      <a:pt x="974" y="196"/>
                      <a:pt x="974" y="196"/>
                      <a:pt x="974" y="196"/>
                    </a:cubicBezTo>
                    <a:cubicBezTo>
                      <a:pt x="978" y="194"/>
                      <a:pt x="978" y="187"/>
                      <a:pt x="972" y="187"/>
                    </a:cubicBezTo>
                    <a:cubicBezTo>
                      <a:pt x="886" y="179"/>
                      <a:pt x="886" y="179"/>
                      <a:pt x="886" y="179"/>
                    </a:cubicBezTo>
                    <a:cubicBezTo>
                      <a:pt x="884" y="177"/>
                      <a:pt x="884" y="177"/>
                      <a:pt x="884" y="179"/>
                    </a:cubicBezTo>
                    <a:cubicBezTo>
                      <a:pt x="644" y="343"/>
                      <a:pt x="644" y="343"/>
                      <a:pt x="644" y="343"/>
                    </a:cubicBezTo>
                    <a:cubicBezTo>
                      <a:pt x="642" y="347"/>
                      <a:pt x="642" y="351"/>
                      <a:pt x="646" y="35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19" name="Freeform 26">
                <a:extLst>
                  <a:ext uri="{FF2B5EF4-FFF2-40B4-BE49-F238E27FC236}">
                    <a16:creationId xmlns:a16="http://schemas.microsoft.com/office/drawing/2014/main" id="{9365B28F-8AA0-AD79-5CFF-54769D96F794}"/>
                  </a:ext>
                </a:extLst>
              </p:cNvPr>
              <p:cNvSpPr>
                <a:spLocks noEditPoints="1"/>
              </p:cNvSpPr>
              <p:nvPr/>
            </p:nvSpPr>
            <p:spPr bwMode="auto">
              <a:xfrm>
                <a:off x="2422" y="756"/>
                <a:ext cx="2814" cy="2816"/>
              </a:xfrm>
              <a:custGeom>
                <a:avLst/>
                <a:gdLst>
                  <a:gd name="T0" fmla="*/ 1016 w 1502"/>
                  <a:gd name="T1" fmla="*/ 662 h 1502"/>
                  <a:gd name="T2" fmla="*/ 1030 w 1502"/>
                  <a:gd name="T3" fmla="*/ 751 h 1502"/>
                  <a:gd name="T4" fmla="*/ 751 w 1502"/>
                  <a:gd name="T5" fmla="*/ 1030 h 1502"/>
                  <a:gd name="T6" fmla="*/ 472 w 1502"/>
                  <a:gd name="T7" fmla="*/ 751 h 1502"/>
                  <a:gd name="T8" fmla="*/ 751 w 1502"/>
                  <a:gd name="T9" fmla="*/ 472 h 1502"/>
                  <a:gd name="T10" fmla="*/ 929 w 1502"/>
                  <a:gd name="T11" fmla="*/ 536 h 1502"/>
                  <a:gd name="T12" fmla="*/ 819 w 1502"/>
                  <a:gd name="T13" fmla="*/ 611 h 1502"/>
                  <a:gd name="T14" fmla="*/ 751 w 1502"/>
                  <a:gd name="T15" fmla="*/ 596 h 1502"/>
                  <a:gd name="T16" fmla="*/ 596 w 1502"/>
                  <a:gd name="T17" fmla="*/ 751 h 1502"/>
                  <a:gd name="T18" fmla="*/ 751 w 1502"/>
                  <a:gd name="T19" fmla="*/ 906 h 1502"/>
                  <a:gd name="T20" fmla="*/ 906 w 1502"/>
                  <a:gd name="T21" fmla="*/ 751 h 1502"/>
                  <a:gd name="T22" fmla="*/ 906 w 1502"/>
                  <a:gd name="T23" fmla="*/ 738 h 1502"/>
                  <a:gd name="T24" fmla="*/ 1016 w 1502"/>
                  <a:gd name="T25" fmla="*/ 662 h 1502"/>
                  <a:gd name="T26" fmla="*/ 1107 w 1502"/>
                  <a:gd name="T27" fmla="*/ 599 h 1502"/>
                  <a:gd name="T28" fmla="*/ 1138 w 1502"/>
                  <a:gd name="T29" fmla="*/ 751 h 1502"/>
                  <a:gd name="T30" fmla="*/ 751 w 1502"/>
                  <a:gd name="T31" fmla="*/ 1138 h 1502"/>
                  <a:gd name="T32" fmla="*/ 364 w 1502"/>
                  <a:gd name="T33" fmla="*/ 751 h 1502"/>
                  <a:gd name="T34" fmla="*/ 751 w 1502"/>
                  <a:gd name="T35" fmla="*/ 364 h 1502"/>
                  <a:gd name="T36" fmla="*/ 1020 w 1502"/>
                  <a:gd name="T37" fmla="*/ 473 h 1502"/>
                  <a:gd name="T38" fmla="*/ 1124 w 1502"/>
                  <a:gd name="T39" fmla="*/ 401 h 1502"/>
                  <a:gd name="T40" fmla="*/ 751 w 1502"/>
                  <a:gd name="T41" fmla="*/ 240 h 1502"/>
                  <a:gd name="T42" fmla="*/ 240 w 1502"/>
                  <a:gd name="T43" fmla="*/ 751 h 1502"/>
                  <a:gd name="T44" fmla="*/ 751 w 1502"/>
                  <a:gd name="T45" fmla="*/ 1262 h 1502"/>
                  <a:gd name="T46" fmla="*/ 1262 w 1502"/>
                  <a:gd name="T47" fmla="*/ 751 h 1502"/>
                  <a:gd name="T48" fmla="*/ 1211 w 1502"/>
                  <a:gd name="T49" fmla="*/ 528 h 1502"/>
                  <a:gd name="T50" fmla="*/ 1107 w 1502"/>
                  <a:gd name="T51" fmla="*/ 599 h 1502"/>
                  <a:gd name="T52" fmla="*/ 1333 w 1502"/>
                  <a:gd name="T53" fmla="*/ 443 h 1502"/>
                  <a:gd name="T54" fmla="*/ 1307 w 1502"/>
                  <a:gd name="T55" fmla="*/ 461 h 1502"/>
                  <a:gd name="T56" fmla="*/ 1378 w 1502"/>
                  <a:gd name="T57" fmla="*/ 751 h 1502"/>
                  <a:gd name="T58" fmla="*/ 751 w 1502"/>
                  <a:gd name="T59" fmla="*/ 1378 h 1502"/>
                  <a:gd name="T60" fmla="*/ 124 w 1502"/>
                  <a:gd name="T61" fmla="*/ 751 h 1502"/>
                  <a:gd name="T62" fmla="*/ 751 w 1502"/>
                  <a:gd name="T63" fmla="*/ 124 h 1502"/>
                  <a:gd name="T64" fmla="*/ 1220 w 1502"/>
                  <a:gd name="T65" fmla="*/ 335 h 1502"/>
                  <a:gd name="T66" fmla="*/ 1246 w 1502"/>
                  <a:gd name="T67" fmla="*/ 317 h 1502"/>
                  <a:gd name="T68" fmla="*/ 1273 w 1502"/>
                  <a:gd name="T69" fmla="*/ 211 h 1502"/>
                  <a:gd name="T70" fmla="*/ 751 w 1502"/>
                  <a:gd name="T71" fmla="*/ 0 h 1502"/>
                  <a:gd name="T72" fmla="*/ 0 w 1502"/>
                  <a:gd name="T73" fmla="*/ 751 h 1502"/>
                  <a:gd name="T74" fmla="*/ 751 w 1502"/>
                  <a:gd name="T75" fmla="*/ 1502 h 1502"/>
                  <a:gd name="T76" fmla="*/ 1502 w 1502"/>
                  <a:gd name="T77" fmla="*/ 751 h 1502"/>
                  <a:gd name="T78" fmla="*/ 1442 w 1502"/>
                  <a:gd name="T79" fmla="*/ 456 h 1502"/>
                  <a:gd name="T80" fmla="*/ 1333 w 1502"/>
                  <a:gd name="T81" fmla="*/ 443 h 1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02" h="1502">
                    <a:moveTo>
                      <a:pt x="1016" y="662"/>
                    </a:moveTo>
                    <a:cubicBezTo>
                      <a:pt x="1025" y="690"/>
                      <a:pt x="1030" y="720"/>
                      <a:pt x="1030" y="751"/>
                    </a:cubicBezTo>
                    <a:cubicBezTo>
                      <a:pt x="1030" y="905"/>
                      <a:pt x="905" y="1030"/>
                      <a:pt x="751" y="1030"/>
                    </a:cubicBezTo>
                    <a:cubicBezTo>
                      <a:pt x="597" y="1030"/>
                      <a:pt x="472" y="905"/>
                      <a:pt x="472" y="751"/>
                    </a:cubicBezTo>
                    <a:cubicBezTo>
                      <a:pt x="472" y="597"/>
                      <a:pt x="597" y="472"/>
                      <a:pt x="751" y="472"/>
                    </a:cubicBezTo>
                    <a:cubicBezTo>
                      <a:pt x="818" y="472"/>
                      <a:pt x="880" y="496"/>
                      <a:pt x="929" y="536"/>
                    </a:cubicBezTo>
                    <a:cubicBezTo>
                      <a:pt x="819" y="611"/>
                      <a:pt x="819" y="611"/>
                      <a:pt x="819" y="611"/>
                    </a:cubicBezTo>
                    <a:cubicBezTo>
                      <a:pt x="798" y="601"/>
                      <a:pt x="775" y="596"/>
                      <a:pt x="751" y="596"/>
                    </a:cubicBezTo>
                    <a:cubicBezTo>
                      <a:pt x="665" y="596"/>
                      <a:pt x="596" y="665"/>
                      <a:pt x="596" y="751"/>
                    </a:cubicBezTo>
                    <a:cubicBezTo>
                      <a:pt x="596" y="836"/>
                      <a:pt x="665" y="906"/>
                      <a:pt x="751" y="906"/>
                    </a:cubicBezTo>
                    <a:cubicBezTo>
                      <a:pt x="837" y="906"/>
                      <a:pt x="906" y="836"/>
                      <a:pt x="906" y="751"/>
                    </a:cubicBezTo>
                    <a:cubicBezTo>
                      <a:pt x="906" y="746"/>
                      <a:pt x="906" y="742"/>
                      <a:pt x="906" y="738"/>
                    </a:cubicBezTo>
                    <a:lnTo>
                      <a:pt x="1016" y="662"/>
                    </a:lnTo>
                    <a:close/>
                    <a:moveTo>
                      <a:pt x="1107" y="599"/>
                    </a:moveTo>
                    <a:cubicBezTo>
                      <a:pt x="1127" y="646"/>
                      <a:pt x="1138" y="697"/>
                      <a:pt x="1138" y="751"/>
                    </a:cubicBezTo>
                    <a:cubicBezTo>
                      <a:pt x="1138" y="964"/>
                      <a:pt x="964" y="1138"/>
                      <a:pt x="751" y="1138"/>
                    </a:cubicBezTo>
                    <a:cubicBezTo>
                      <a:pt x="537" y="1138"/>
                      <a:pt x="364" y="964"/>
                      <a:pt x="364" y="751"/>
                    </a:cubicBezTo>
                    <a:cubicBezTo>
                      <a:pt x="364" y="537"/>
                      <a:pt x="537" y="364"/>
                      <a:pt x="751" y="364"/>
                    </a:cubicBezTo>
                    <a:cubicBezTo>
                      <a:pt x="855" y="364"/>
                      <a:pt x="950" y="405"/>
                      <a:pt x="1020" y="473"/>
                    </a:cubicBezTo>
                    <a:cubicBezTo>
                      <a:pt x="1124" y="401"/>
                      <a:pt x="1124" y="401"/>
                      <a:pt x="1124" y="401"/>
                    </a:cubicBezTo>
                    <a:cubicBezTo>
                      <a:pt x="1030" y="302"/>
                      <a:pt x="898" y="240"/>
                      <a:pt x="751" y="240"/>
                    </a:cubicBezTo>
                    <a:cubicBezTo>
                      <a:pt x="469" y="240"/>
                      <a:pt x="240" y="469"/>
                      <a:pt x="240" y="751"/>
                    </a:cubicBezTo>
                    <a:cubicBezTo>
                      <a:pt x="240" y="1033"/>
                      <a:pt x="469" y="1262"/>
                      <a:pt x="751" y="1262"/>
                    </a:cubicBezTo>
                    <a:cubicBezTo>
                      <a:pt x="1033" y="1262"/>
                      <a:pt x="1262" y="1033"/>
                      <a:pt x="1262" y="751"/>
                    </a:cubicBezTo>
                    <a:cubicBezTo>
                      <a:pt x="1262" y="671"/>
                      <a:pt x="1244" y="595"/>
                      <a:pt x="1211" y="528"/>
                    </a:cubicBezTo>
                    <a:lnTo>
                      <a:pt x="1107" y="599"/>
                    </a:lnTo>
                    <a:close/>
                    <a:moveTo>
                      <a:pt x="1333" y="443"/>
                    </a:moveTo>
                    <a:cubicBezTo>
                      <a:pt x="1307" y="461"/>
                      <a:pt x="1307" y="461"/>
                      <a:pt x="1307" y="461"/>
                    </a:cubicBezTo>
                    <a:cubicBezTo>
                      <a:pt x="1352" y="548"/>
                      <a:pt x="1378" y="646"/>
                      <a:pt x="1378" y="751"/>
                    </a:cubicBezTo>
                    <a:cubicBezTo>
                      <a:pt x="1378" y="1097"/>
                      <a:pt x="1097" y="1378"/>
                      <a:pt x="751" y="1378"/>
                    </a:cubicBezTo>
                    <a:cubicBezTo>
                      <a:pt x="405" y="1378"/>
                      <a:pt x="124" y="1097"/>
                      <a:pt x="124" y="751"/>
                    </a:cubicBezTo>
                    <a:cubicBezTo>
                      <a:pt x="124" y="405"/>
                      <a:pt x="405" y="124"/>
                      <a:pt x="751" y="124"/>
                    </a:cubicBezTo>
                    <a:cubicBezTo>
                      <a:pt x="937" y="124"/>
                      <a:pt x="1105" y="205"/>
                      <a:pt x="1220" y="335"/>
                    </a:cubicBezTo>
                    <a:cubicBezTo>
                      <a:pt x="1246" y="317"/>
                      <a:pt x="1246" y="317"/>
                      <a:pt x="1246" y="317"/>
                    </a:cubicBezTo>
                    <a:cubicBezTo>
                      <a:pt x="1273" y="211"/>
                      <a:pt x="1273" y="211"/>
                      <a:pt x="1273" y="211"/>
                    </a:cubicBezTo>
                    <a:cubicBezTo>
                      <a:pt x="1138" y="80"/>
                      <a:pt x="954" y="0"/>
                      <a:pt x="751" y="0"/>
                    </a:cubicBezTo>
                    <a:cubicBezTo>
                      <a:pt x="337" y="0"/>
                      <a:pt x="0" y="337"/>
                      <a:pt x="0" y="751"/>
                    </a:cubicBezTo>
                    <a:cubicBezTo>
                      <a:pt x="0" y="1165"/>
                      <a:pt x="337" y="1502"/>
                      <a:pt x="751" y="1502"/>
                    </a:cubicBezTo>
                    <a:cubicBezTo>
                      <a:pt x="1165" y="1502"/>
                      <a:pt x="1502" y="1165"/>
                      <a:pt x="1502" y="751"/>
                    </a:cubicBezTo>
                    <a:cubicBezTo>
                      <a:pt x="1502" y="646"/>
                      <a:pt x="1480" y="547"/>
                      <a:pt x="1442" y="456"/>
                    </a:cubicBezTo>
                    <a:lnTo>
                      <a:pt x="1333" y="44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grpSp>
      </p:grpSp>
      <p:grpSp>
        <p:nvGrpSpPr>
          <p:cNvPr id="59" name="Group 58">
            <a:extLst>
              <a:ext uri="{FF2B5EF4-FFF2-40B4-BE49-F238E27FC236}">
                <a16:creationId xmlns:a16="http://schemas.microsoft.com/office/drawing/2014/main" id="{594B28B7-46E8-DCD5-F12E-F3AF71EFB32A}"/>
              </a:ext>
            </a:extLst>
          </p:cNvPr>
          <p:cNvGrpSpPr/>
          <p:nvPr/>
        </p:nvGrpSpPr>
        <p:grpSpPr>
          <a:xfrm>
            <a:off x="9385891" y="1081011"/>
            <a:ext cx="713133" cy="686384"/>
            <a:chOff x="9234778" y="1149862"/>
            <a:chExt cx="1178775" cy="1146787"/>
          </a:xfrm>
        </p:grpSpPr>
        <p:grpSp>
          <p:nvGrpSpPr>
            <p:cNvPr id="60" name="Group 59">
              <a:extLst>
                <a:ext uri="{FF2B5EF4-FFF2-40B4-BE49-F238E27FC236}">
                  <a16:creationId xmlns:a16="http://schemas.microsoft.com/office/drawing/2014/main" id="{4A2C1614-A46E-A0D7-AD32-0066ADCF75DF}"/>
                </a:ext>
              </a:extLst>
            </p:cNvPr>
            <p:cNvGrpSpPr/>
            <p:nvPr/>
          </p:nvGrpSpPr>
          <p:grpSpPr>
            <a:xfrm>
              <a:off x="9234778" y="1149862"/>
              <a:ext cx="1178775" cy="1146787"/>
              <a:chOff x="-166407" y="1927514"/>
              <a:chExt cx="1283727" cy="1248891"/>
            </a:xfrm>
            <a:gradFill flip="none" rotWithShape="1">
              <a:gsLst>
                <a:gs pos="100000">
                  <a:schemeClr val="tx2"/>
                </a:gs>
                <a:gs pos="33000">
                  <a:schemeClr val="accent3"/>
                </a:gs>
              </a:gsLst>
              <a:lin ang="0" scaled="0"/>
              <a:tileRect/>
            </a:gradFill>
          </p:grpSpPr>
          <p:sp>
            <p:nvSpPr>
              <p:cNvPr id="73" name="Freeform: Shape 72">
                <a:extLst>
                  <a:ext uri="{FF2B5EF4-FFF2-40B4-BE49-F238E27FC236}">
                    <a16:creationId xmlns:a16="http://schemas.microsoft.com/office/drawing/2014/main" id="{AD6A53FB-7041-E817-206C-F9C90C0E50D7}"/>
                  </a:ext>
                </a:extLst>
              </p:cNvPr>
              <p:cNvSpPr/>
              <p:nvPr/>
            </p:nvSpPr>
            <p:spPr>
              <a:xfrm>
                <a:off x="-166407" y="2042808"/>
                <a:ext cx="231432" cy="489028"/>
              </a:xfrm>
              <a:custGeom>
                <a:avLst/>
                <a:gdLst>
                  <a:gd name="connsiteX0" fmla="*/ 15550 w 303101"/>
                  <a:gd name="connsiteY0" fmla="*/ 640836 h 640466"/>
                  <a:gd name="connsiteX1" fmla="*/ 1977 w 303101"/>
                  <a:gd name="connsiteY1" fmla="*/ 640836 h 640466"/>
                  <a:gd name="connsiteX2" fmla="*/ 294351 w 303101"/>
                  <a:gd name="connsiteY2" fmla="*/ 1977 h 640466"/>
                  <a:gd name="connsiteX3" fmla="*/ 303233 w 303101"/>
                  <a:gd name="connsiteY3" fmla="*/ 12230 h 640466"/>
                  <a:gd name="connsiteX4" fmla="*/ 15550 w 303101"/>
                  <a:gd name="connsiteY4" fmla="*/ 640836 h 640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101" h="640466">
                    <a:moveTo>
                      <a:pt x="15550" y="640836"/>
                    </a:moveTo>
                    <a:lnTo>
                      <a:pt x="1977" y="640836"/>
                    </a:lnTo>
                    <a:cubicBezTo>
                      <a:pt x="1977" y="395455"/>
                      <a:pt x="108537" y="162594"/>
                      <a:pt x="294351" y="1977"/>
                    </a:cubicBezTo>
                    <a:lnTo>
                      <a:pt x="303233" y="12230"/>
                    </a:lnTo>
                    <a:cubicBezTo>
                      <a:pt x="120397" y="170290"/>
                      <a:pt x="15550" y="399382"/>
                      <a:pt x="15550" y="640836"/>
                    </a:cubicBez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74" name="Freeform: Shape 73">
                <a:extLst>
                  <a:ext uri="{FF2B5EF4-FFF2-40B4-BE49-F238E27FC236}">
                    <a16:creationId xmlns:a16="http://schemas.microsoft.com/office/drawing/2014/main" id="{6C7B4A89-688F-BC6C-B43C-D718009AD21A}"/>
                  </a:ext>
                </a:extLst>
              </p:cNvPr>
              <p:cNvSpPr/>
              <p:nvPr/>
            </p:nvSpPr>
            <p:spPr>
              <a:xfrm>
                <a:off x="-123019" y="2759826"/>
                <a:ext cx="603737" cy="416579"/>
              </a:xfrm>
              <a:custGeom>
                <a:avLst/>
                <a:gdLst>
                  <a:gd name="connsiteX0" fmla="*/ 789276 w 790699"/>
                  <a:gd name="connsiteY0" fmla="*/ 545899 h 545582"/>
                  <a:gd name="connsiteX1" fmla="*/ 307002 w 790699"/>
                  <a:gd name="connsiteY1" fmla="*/ 394664 h 545582"/>
                  <a:gd name="connsiteX2" fmla="*/ 1977 w 790699"/>
                  <a:gd name="connsiteY2" fmla="*/ 6879 h 545582"/>
                  <a:gd name="connsiteX3" fmla="*/ 14628 w 790699"/>
                  <a:gd name="connsiteY3" fmla="*/ 1977 h 545582"/>
                  <a:gd name="connsiteX4" fmla="*/ 789276 w 790699"/>
                  <a:gd name="connsiteY4" fmla="*/ 532352 h 545582"/>
                  <a:gd name="connsiteX5" fmla="*/ 789276 w 790699"/>
                  <a:gd name="connsiteY5" fmla="*/ 545899 h 545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0699" h="545582">
                    <a:moveTo>
                      <a:pt x="789276" y="545899"/>
                    </a:moveTo>
                    <a:cubicBezTo>
                      <a:pt x="615665" y="545899"/>
                      <a:pt x="448907" y="493607"/>
                      <a:pt x="307002" y="394664"/>
                    </a:cubicBezTo>
                    <a:cubicBezTo>
                      <a:pt x="168314" y="297962"/>
                      <a:pt x="62861" y="163859"/>
                      <a:pt x="1977" y="6879"/>
                    </a:cubicBezTo>
                    <a:lnTo>
                      <a:pt x="14628" y="1977"/>
                    </a:lnTo>
                    <a:cubicBezTo>
                      <a:pt x="137635" y="319205"/>
                      <a:pt x="448959" y="532352"/>
                      <a:pt x="789276" y="532352"/>
                    </a:cubicBezTo>
                    <a:lnTo>
                      <a:pt x="789276" y="545899"/>
                    </a:ln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75" name="Freeform: Shape 74">
                <a:extLst>
                  <a:ext uri="{FF2B5EF4-FFF2-40B4-BE49-F238E27FC236}">
                    <a16:creationId xmlns:a16="http://schemas.microsoft.com/office/drawing/2014/main" id="{AC2B6E07-15DB-47E2-BAAB-F2F5161C3A5B}"/>
                  </a:ext>
                </a:extLst>
              </p:cNvPr>
              <p:cNvSpPr/>
              <p:nvPr/>
            </p:nvSpPr>
            <p:spPr>
              <a:xfrm>
                <a:off x="761457" y="2838956"/>
                <a:ext cx="281744" cy="269669"/>
              </a:xfrm>
              <a:custGeom>
                <a:avLst/>
                <a:gdLst>
                  <a:gd name="connsiteX0" fmla="*/ 8039 w 368993"/>
                  <a:gd name="connsiteY0" fmla="*/ 353522 h 353179"/>
                  <a:gd name="connsiteX1" fmla="*/ 1977 w 368993"/>
                  <a:gd name="connsiteY1" fmla="*/ 341371 h 353179"/>
                  <a:gd name="connsiteX2" fmla="*/ 356816 w 368993"/>
                  <a:gd name="connsiteY2" fmla="*/ 1977 h 353179"/>
                  <a:gd name="connsiteX3" fmla="*/ 368677 w 368993"/>
                  <a:gd name="connsiteY3" fmla="*/ 8592 h 353179"/>
                  <a:gd name="connsiteX4" fmla="*/ 8039 w 368993"/>
                  <a:gd name="connsiteY4" fmla="*/ 353522 h 353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993" h="353179">
                    <a:moveTo>
                      <a:pt x="8039" y="353522"/>
                    </a:moveTo>
                    <a:lnTo>
                      <a:pt x="1977" y="341371"/>
                    </a:lnTo>
                    <a:cubicBezTo>
                      <a:pt x="152236" y="266202"/>
                      <a:pt x="274953" y="148836"/>
                      <a:pt x="356816" y="1977"/>
                    </a:cubicBezTo>
                    <a:lnTo>
                      <a:pt x="368677" y="8592"/>
                    </a:lnTo>
                    <a:cubicBezTo>
                      <a:pt x="285469" y="157876"/>
                      <a:pt x="160749" y="277140"/>
                      <a:pt x="8039" y="353522"/>
                    </a:cubicBez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76" name="Freeform: Shape 75">
                <a:extLst>
                  <a:ext uri="{FF2B5EF4-FFF2-40B4-BE49-F238E27FC236}">
                    <a16:creationId xmlns:a16="http://schemas.microsoft.com/office/drawing/2014/main" id="{256553A1-57E1-003F-5B0B-0D2F0CE712F3}"/>
                  </a:ext>
                </a:extLst>
              </p:cNvPr>
              <p:cNvSpPr/>
              <p:nvPr/>
            </p:nvSpPr>
            <p:spPr>
              <a:xfrm>
                <a:off x="893937" y="2043954"/>
                <a:ext cx="223383" cy="394441"/>
              </a:xfrm>
              <a:custGeom>
                <a:avLst/>
                <a:gdLst>
                  <a:gd name="connsiteX0" fmla="*/ 278827 w 292558"/>
                  <a:gd name="connsiteY0" fmla="*/ 515694 h 516590"/>
                  <a:gd name="connsiteX1" fmla="*/ 1977 w 292558"/>
                  <a:gd name="connsiteY1" fmla="*/ 12229 h 516590"/>
                  <a:gd name="connsiteX2" fmla="*/ 10885 w 292558"/>
                  <a:gd name="connsiteY2" fmla="*/ 1977 h 516590"/>
                  <a:gd name="connsiteX3" fmla="*/ 292243 w 292558"/>
                  <a:gd name="connsiteY3" fmla="*/ 513691 h 516590"/>
                  <a:gd name="connsiteX4" fmla="*/ 278827 w 292558"/>
                  <a:gd name="connsiteY4" fmla="*/ 515694 h 5165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558" h="516590">
                    <a:moveTo>
                      <a:pt x="278827" y="515694"/>
                    </a:moveTo>
                    <a:cubicBezTo>
                      <a:pt x="249755" y="320919"/>
                      <a:pt x="151445" y="142115"/>
                      <a:pt x="1977" y="12229"/>
                    </a:cubicBezTo>
                    <a:lnTo>
                      <a:pt x="10885" y="1977"/>
                    </a:lnTo>
                    <a:cubicBezTo>
                      <a:pt x="162778" y="133997"/>
                      <a:pt x="262697" y="315726"/>
                      <a:pt x="292243" y="513691"/>
                    </a:cubicBezTo>
                    <a:lnTo>
                      <a:pt x="278827" y="515694"/>
                    </a:ln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77" name="Freeform: Shape 76">
                <a:extLst>
                  <a:ext uri="{FF2B5EF4-FFF2-40B4-BE49-F238E27FC236}">
                    <a16:creationId xmlns:a16="http://schemas.microsoft.com/office/drawing/2014/main" id="{6E75551A-831D-6CF1-58E5-632A7C71B439}"/>
                  </a:ext>
                </a:extLst>
              </p:cNvPr>
              <p:cNvSpPr/>
              <p:nvPr/>
            </p:nvSpPr>
            <p:spPr>
              <a:xfrm>
                <a:off x="-120805" y="2273254"/>
                <a:ext cx="100623" cy="541351"/>
              </a:xfrm>
              <a:custGeom>
                <a:avLst/>
                <a:gdLst>
                  <a:gd name="connsiteX0" fmla="*/ 93751 w 131783"/>
                  <a:gd name="connsiteY0" fmla="*/ 707518 h 708993"/>
                  <a:gd name="connsiteX1" fmla="*/ 1977 w 131783"/>
                  <a:gd name="connsiteY1" fmla="*/ 339026 h 708993"/>
                  <a:gd name="connsiteX2" fmla="*/ 77884 w 131783"/>
                  <a:gd name="connsiteY2" fmla="*/ 1977 h 708993"/>
                  <a:gd name="connsiteX3" fmla="*/ 117103 w 131783"/>
                  <a:gd name="connsiteY3" fmla="*/ 20664 h 708993"/>
                  <a:gd name="connsiteX4" fmla="*/ 45412 w 131783"/>
                  <a:gd name="connsiteY4" fmla="*/ 339026 h 708993"/>
                  <a:gd name="connsiteX5" fmla="*/ 132073 w 131783"/>
                  <a:gd name="connsiteY5" fmla="*/ 687092 h 708993"/>
                  <a:gd name="connsiteX6" fmla="*/ 93751 w 131783"/>
                  <a:gd name="connsiteY6" fmla="*/ 707518 h 708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1783" h="708993">
                    <a:moveTo>
                      <a:pt x="93751" y="707518"/>
                    </a:moveTo>
                    <a:cubicBezTo>
                      <a:pt x="33710" y="594896"/>
                      <a:pt x="1977" y="467488"/>
                      <a:pt x="1977" y="339026"/>
                    </a:cubicBezTo>
                    <a:cubicBezTo>
                      <a:pt x="1977" y="221080"/>
                      <a:pt x="27516" y="107667"/>
                      <a:pt x="77884" y="1977"/>
                    </a:cubicBezTo>
                    <a:lnTo>
                      <a:pt x="117103" y="20664"/>
                    </a:lnTo>
                    <a:cubicBezTo>
                      <a:pt x="69529" y="120476"/>
                      <a:pt x="45412" y="227590"/>
                      <a:pt x="45412" y="339026"/>
                    </a:cubicBezTo>
                    <a:cubicBezTo>
                      <a:pt x="45412" y="460372"/>
                      <a:pt x="75380" y="580742"/>
                      <a:pt x="132073" y="687092"/>
                    </a:cubicBezTo>
                    <a:lnTo>
                      <a:pt x="93751" y="707518"/>
                    </a:ln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78" name="Freeform: Shape 77">
                <a:extLst>
                  <a:ext uri="{FF2B5EF4-FFF2-40B4-BE49-F238E27FC236}">
                    <a16:creationId xmlns:a16="http://schemas.microsoft.com/office/drawing/2014/main" id="{2B5CB367-D91D-2083-37F5-A6AA0524E49D}"/>
                  </a:ext>
                </a:extLst>
              </p:cNvPr>
              <p:cNvSpPr/>
              <p:nvPr/>
            </p:nvSpPr>
            <p:spPr>
              <a:xfrm>
                <a:off x="10025" y="2883572"/>
                <a:ext cx="42262" cy="40249"/>
              </a:xfrm>
              <a:custGeom>
                <a:avLst/>
                <a:gdLst>
                  <a:gd name="connsiteX0" fmla="*/ 20585 w 55348"/>
                  <a:gd name="connsiteY0" fmla="*/ 51501 h 52713"/>
                  <a:gd name="connsiteX1" fmla="*/ 1977 w 55348"/>
                  <a:gd name="connsiteY1" fmla="*/ 29098 h 52713"/>
                  <a:gd name="connsiteX2" fmla="*/ 35898 w 55348"/>
                  <a:gd name="connsiteY2" fmla="*/ 1977 h 52713"/>
                  <a:gd name="connsiteX3" fmla="*/ 53478 w 55348"/>
                  <a:gd name="connsiteY3" fmla="*/ 23141 h 52713"/>
                  <a:gd name="connsiteX4" fmla="*/ 20585 w 55348"/>
                  <a:gd name="connsiteY4" fmla="*/ 51501 h 52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48" h="52713">
                    <a:moveTo>
                      <a:pt x="20585" y="51501"/>
                    </a:moveTo>
                    <a:cubicBezTo>
                      <a:pt x="14259" y="44147"/>
                      <a:pt x="7986" y="36609"/>
                      <a:pt x="1977" y="29098"/>
                    </a:cubicBezTo>
                    <a:lnTo>
                      <a:pt x="35898" y="1977"/>
                    </a:lnTo>
                    <a:cubicBezTo>
                      <a:pt x="41591" y="9093"/>
                      <a:pt x="47495" y="16209"/>
                      <a:pt x="53478" y="23141"/>
                    </a:cubicBezTo>
                    <a:lnTo>
                      <a:pt x="20585" y="51501"/>
                    </a:ln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79" name="Freeform: Shape 78">
                <a:extLst>
                  <a:ext uri="{FF2B5EF4-FFF2-40B4-BE49-F238E27FC236}">
                    <a16:creationId xmlns:a16="http://schemas.microsoft.com/office/drawing/2014/main" id="{6AEC4C10-9655-CDA1-FC40-2DC865E8313C}"/>
                  </a:ext>
                </a:extLst>
              </p:cNvPr>
              <p:cNvSpPr/>
              <p:nvPr/>
            </p:nvSpPr>
            <p:spPr>
              <a:xfrm>
                <a:off x="33108" y="2909251"/>
                <a:ext cx="46286" cy="46286"/>
              </a:xfrm>
              <a:custGeom>
                <a:avLst/>
                <a:gdLst>
                  <a:gd name="connsiteX0" fmla="*/ 28413 w 60620"/>
                  <a:gd name="connsiteY0" fmla="*/ 58986 h 60620"/>
                  <a:gd name="connsiteX1" fmla="*/ 1977 w 60620"/>
                  <a:gd name="connsiteY1" fmla="*/ 31048 h 60620"/>
                  <a:gd name="connsiteX2" fmla="*/ 34237 w 60620"/>
                  <a:gd name="connsiteY2" fmla="*/ 1977 h 60620"/>
                  <a:gd name="connsiteX3" fmla="*/ 59223 w 60620"/>
                  <a:gd name="connsiteY3" fmla="*/ 28386 h 60620"/>
                  <a:gd name="connsiteX4" fmla="*/ 28413 w 60620"/>
                  <a:gd name="connsiteY4" fmla="*/ 58986 h 60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20" h="60620">
                    <a:moveTo>
                      <a:pt x="28413" y="58986"/>
                    </a:moveTo>
                    <a:cubicBezTo>
                      <a:pt x="19398" y="49920"/>
                      <a:pt x="10516" y="40537"/>
                      <a:pt x="1977" y="31048"/>
                    </a:cubicBezTo>
                    <a:lnTo>
                      <a:pt x="34237" y="1977"/>
                    </a:lnTo>
                    <a:cubicBezTo>
                      <a:pt x="42302" y="10938"/>
                      <a:pt x="50710" y="19820"/>
                      <a:pt x="59223" y="28386"/>
                    </a:cubicBezTo>
                    <a:lnTo>
                      <a:pt x="28413" y="58986"/>
                    </a:ln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80" name="Freeform: Shape 79">
                <a:extLst>
                  <a:ext uri="{FF2B5EF4-FFF2-40B4-BE49-F238E27FC236}">
                    <a16:creationId xmlns:a16="http://schemas.microsoft.com/office/drawing/2014/main" id="{BE456030-FC9F-E236-8EBD-1DE6847F8B56}"/>
                  </a:ext>
                </a:extLst>
              </p:cNvPr>
              <p:cNvSpPr/>
              <p:nvPr/>
            </p:nvSpPr>
            <p:spPr>
              <a:xfrm>
                <a:off x="62952" y="2938392"/>
                <a:ext cx="74461" cy="70436"/>
              </a:xfrm>
              <a:custGeom>
                <a:avLst/>
                <a:gdLst>
                  <a:gd name="connsiteX0" fmla="*/ 69713 w 97519"/>
                  <a:gd name="connsiteY0" fmla="*/ 91431 h 92248"/>
                  <a:gd name="connsiteX1" fmla="*/ 1977 w 97519"/>
                  <a:gd name="connsiteY1" fmla="*/ 33288 h 92248"/>
                  <a:gd name="connsiteX2" fmla="*/ 32076 w 97519"/>
                  <a:gd name="connsiteY2" fmla="*/ 1977 h 92248"/>
                  <a:gd name="connsiteX3" fmla="*/ 96070 w 97519"/>
                  <a:gd name="connsiteY3" fmla="*/ 56930 h 92248"/>
                  <a:gd name="connsiteX4" fmla="*/ 69713 w 97519"/>
                  <a:gd name="connsiteY4" fmla="*/ 91431 h 922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519" h="92248">
                    <a:moveTo>
                      <a:pt x="69713" y="91431"/>
                    </a:moveTo>
                    <a:cubicBezTo>
                      <a:pt x="46151" y="73430"/>
                      <a:pt x="23352" y="53847"/>
                      <a:pt x="1977" y="33288"/>
                    </a:cubicBezTo>
                    <a:lnTo>
                      <a:pt x="32076" y="1977"/>
                    </a:lnTo>
                    <a:cubicBezTo>
                      <a:pt x="52292" y="21428"/>
                      <a:pt x="73825" y="39904"/>
                      <a:pt x="96070" y="56930"/>
                    </a:cubicBezTo>
                    <a:lnTo>
                      <a:pt x="69713" y="91431"/>
                    </a:ln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81" name="Freeform: Shape 80">
                <a:extLst>
                  <a:ext uri="{FF2B5EF4-FFF2-40B4-BE49-F238E27FC236}">
                    <a16:creationId xmlns:a16="http://schemas.microsoft.com/office/drawing/2014/main" id="{28E3F884-8ABA-57E5-E921-25382952C809}"/>
                  </a:ext>
                </a:extLst>
              </p:cNvPr>
              <p:cNvSpPr/>
              <p:nvPr/>
            </p:nvSpPr>
            <p:spPr>
              <a:xfrm>
                <a:off x="137394" y="2994096"/>
                <a:ext cx="637950" cy="140872"/>
              </a:xfrm>
              <a:custGeom>
                <a:avLst/>
                <a:gdLst>
                  <a:gd name="connsiteX0" fmla="*/ 448221 w 835505"/>
                  <a:gd name="connsiteY0" fmla="*/ 184787 h 184496"/>
                  <a:gd name="connsiteX1" fmla="*/ 1977 w 835505"/>
                  <a:gd name="connsiteY1" fmla="*/ 46730 h 184496"/>
                  <a:gd name="connsiteX2" fmla="*/ 32682 w 835505"/>
                  <a:gd name="connsiteY2" fmla="*/ 1977 h 184496"/>
                  <a:gd name="connsiteX3" fmla="*/ 448221 w 835505"/>
                  <a:gd name="connsiteY3" fmla="*/ 130492 h 184496"/>
                  <a:gd name="connsiteX4" fmla="*/ 808991 w 835505"/>
                  <a:gd name="connsiteY4" fmla="*/ 36109 h 184496"/>
                  <a:gd name="connsiteX5" fmla="*/ 835664 w 835505"/>
                  <a:gd name="connsiteY5" fmla="*/ 83392 h 184496"/>
                  <a:gd name="connsiteX6" fmla="*/ 448221 w 835505"/>
                  <a:gd name="connsiteY6" fmla="*/ 184787 h 184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5505" h="184496">
                    <a:moveTo>
                      <a:pt x="448221" y="184787"/>
                    </a:moveTo>
                    <a:cubicBezTo>
                      <a:pt x="287973" y="184787"/>
                      <a:pt x="133654" y="137055"/>
                      <a:pt x="1977" y="46730"/>
                    </a:cubicBezTo>
                    <a:lnTo>
                      <a:pt x="32682" y="1977"/>
                    </a:lnTo>
                    <a:cubicBezTo>
                      <a:pt x="155267" y="86055"/>
                      <a:pt x="298964" y="130492"/>
                      <a:pt x="448221" y="130492"/>
                    </a:cubicBezTo>
                    <a:cubicBezTo>
                      <a:pt x="574733" y="130492"/>
                      <a:pt x="699479" y="97862"/>
                      <a:pt x="808991" y="36109"/>
                    </a:cubicBezTo>
                    <a:lnTo>
                      <a:pt x="835664" y="83392"/>
                    </a:lnTo>
                    <a:cubicBezTo>
                      <a:pt x="718034" y="149732"/>
                      <a:pt x="584063" y="184787"/>
                      <a:pt x="448221" y="184787"/>
                    </a:cubicBez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82" name="Freeform: Shape 81">
                <a:extLst>
                  <a:ext uri="{FF2B5EF4-FFF2-40B4-BE49-F238E27FC236}">
                    <a16:creationId xmlns:a16="http://schemas.microsoft.com/office/drawing/2014/main" id="{D954F942-AF21-DA28-3266-1BB22EF451D5}"/>
                  </a:ext>
                </a:extLst>
              </p:cNvPr>
              <p:cNvSpPr/>
              <p:nvPr/>
            </p:nvSpPr>
            <p:spPr>
              <a:xfrm>
                <a:off x="822676" y="2922895"/>
                <a:ext cx="88548" cy="84523"/>
              </a:xfrm>
              <a:custGeom>
                <a:avLst/>
                <a:gdLst>
                  <a:gd name="connsiteX0" fmla="*/ 25065 w 115969"/>
                  <a:gd name="connsiteY0" fmla="*/ 109591 h 110697"/>
                  <a:gd name="connsiteX1" fmla="*/ 1977 w 115969"/>
                  <a:gd name="connsiteY1" fmla="*/ 79413 h 110697"/>
                  <a:gd name="connsiteX2" fmla="*/ 88453 w 115969"/>
                  <a:gd name="connsiteY2" fmla="*/ 1977 h 110697"/>
                  <a:gd name="connsiteX3" fmla="*/ 115916 w 115969"/>
                  <a:gd name="connsiteY3" fmla="*/ 28228 h 110697"/>
                  <a:gd name="connsiteX4" fmla="*/ 25065 w 115969"/>
                  <a:gd name="connsiteY4" fmla="*/ 109591 h 110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969" h="110697">
                    <a:moveTo>
                      <a:pt x="25065" y="109591"/>
                    </a:moveTo>
                    <a:lnTo>
                      <a:pt x="1977" y="79413"/>
                    </a:lnTo>
                    <a:cubicBezTo>
                      <a:pt x="32656" y="55955"/>
                      <a:pt x="61753" y="29889"/>
                      <a:pt x="88453" y="1977"/>
                    </a:cubicBezTo>
                    <a:lnTo>
                      <a:pt x="115916" y="28228"/>
                    </a:lnTo>
                    <a:cubicBezTo>
                      <a:pt x="87873" y="57563"/>
                      <a:pt x="57299" y="84948"/>
                      <a:pt x="25065" y="109591"/>
                    </a:cubicBez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83" name="Freeform: Shape 82">
                <a:extLst>
                  <a:ext uri="{FF2B5EF4-FFF2-40B4-BE49-F238E27FC236}">
                    <a16:creationId xmlns:a16="http://schemas.microsoft.com/office/drawing/2014/main" id="{BCF8A846-8B33-8CEA-4673-F1BB4F55CD74}"/>
                  </a:ext>
                </a:extLst>
              </p:cNvPr>
              <p:cNvSpPr/>
              <p:nvPr/>
            </p:nvSpPr>
            <p:spPr>
              <a:xfrm>
                <a:off x="884137" y="2113445"/>
                <a:ext cx="195209" cy="800958"/>
              </a:xfrm>
              <a:custGeom>
                <a:avLst/>
                <a:gdLst>
                  <a:gd name="connsiteX0" fmla="*/ 75591 w 255659"/>
                  <a:gd name="connsiteY0" fmla="*/ 1047176 h 1048994"/>
                  <a:gd name="connsiteX1" fmla="*/ 42091 w 255659"/>
                  <a:gd name="connsiteY1" fmla="*/ 1019528 h 1048994"/>
                  <a:gd name="connsiteX2" fmla="*/ 211222 w 255659"/>
                  <a:gd name="connsiteY2" fmla="*/ 548297 h 1048994"/>
                  <a:gd name="connsiteX3" fmla="*/ 1977 w 255659"/>
                  <a:gd name="connsiteY3" fmla="*/ 32234 h 1048994"/>
                  <a:gd name="connsiteX4" fmla="*/ 33130 w 255659"/>
                  <a:gd name="connsiteY4" fmla="*/ 1977 h 1048994"/>
                  <a:gd name="connsiteX5" fmla="*/ 254658 w 255659"/>
                  <a:gd name="connsiteY5" fmla="*/ 548297 h 1048994"/>
                  <a:gd name="connsiteX6" fmla="*/ 207084 w 255659"/>
                  <a:gd name="connsiteY6" fmla="*/ 817952 h 1048994"/>
                  <a:gd name="connsiteX7" fmla="*/ 75591 w 255659"/>
                  <a:gd name="connsiteY7" fmla="*/ 1047176 h 1048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59" h="1048994">
                    <a:moveTo>
                      <a:pt x="75591" y="1047176"/>
                    </a:moveTo>
                    <a:lnTo>
                      <a:pt x="42091" y="1019528"/>
                    </a:lnTo>
                    <a:cubicBezTo>
                      <a:pt x="151155" y="887349"/>
                      <a:pt x="211222" y="719985"/>
                      <a:pt x="211222" y="548297"/>
                    </a:cubicBezTo>
                    <a:cubicBezTo>
                      <a:pt x="211222" y="354523"/>
                      <a:pt x="136896" y="171239"/>
                      <a:pt x="1977" y="32234"/>
                    </a:cubicBezTo>
                    <a:lnTo>
                      <a:pt x="33130" y="1977"/>
                    </a:lnTo>
                    <a:cubicBezTo>
                      <a:pt x="175983" y="149126"/>
                      <a:pt x="254658" y="343164"/>
                      <a:pt x="254658" y="548297"/>
                    </a:cubicBezTo>
                    <a:cubicBezTo>
                      <a:pt x="254658" y="640967"/>
                      <a:pt x="238659" y="731687"/>
                      <a:pt x="207084" y="817952"/>
                    </a:cubicBezTo>
                    <a:cubicBezTo>
                      <a:pt x="176563" y="901318"/>
                      <a:pt x="132337" y="978438"/>
                      <a:pt x="75591" y="1047176"/>
                    </a:cubicBez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84" name="Freeform: Shape 83">
                <a:extLst>
                  <a:ext uri="{FF2B5EF4-FFF2-40B4-BE49-F238E27FC236}">
                    <a16:creationId xmlns:a16="http://schemas.microsoft.com/office/drawing/2014/main" id="{F1CFE6CD-11A6-0558-992F-7FE5B057622F}"/>
                  </a:ext>
                </a:extLst>
              </p:cNvPr>
              <p:cNvSpPr/>
              <p:nvPr/>
            </p:nvSpPr>
            <p:spPr>
              <a:xfrm>
                <a:off x="478123" y="1927514"/>
                <a:ext cx="289794" cy="110685"/>
              </a:xfrm>
              <a:custGeom>
                <a:avLst/>
                <a:gdLst>
                  <a:gd name="connsiteX0" fmla="*/ 352573 w 379535"/>
                  <a:gd name="connsiteY0" fmla="*/ 145041 h 144961"/>
                  <a:gd name="connsiteX1" fmla="*/ 1977 w 379535"/>
                  <a:gd name="connsiteY1" fmla="*/ 56271 h 144961"/>
                  <a:gd name="connsiteX2" fmla="*/ 1977 w 379535"/>
                  <a:gd name="connsiteY2" fmla="*/ 1977 h 144961"/>
                  <a:gd name="connsiteX3" fmla="*/ 378481 w 379535"/>
                  <a:gd name="connsiteY3" fmla="*/ 97335 h 144961"/>
                  <a:gd name="connsiteX4" fmla="*/ 352573 w 379535"/>
                  <a:gd name="connsiteY4" fmla="*/ 145041 h 1449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9535" h="144961">
                    <a:moveTo>
                      <a:pt x="352573" y="145041"/>
                    </a:moveTo>
                    <a:cubicBezTo>
                      <a:pt x="245670" y="86977"/>
                      <a:pt x="124456" y="56271"/>
                      <a:pt x="1977" y="56271"/>
                    </a:cubicBezTo>
                    <a:lnTo>
                      <a:pt x="1977" y="1977"/>
                    </a:lnTo>
                    <a:cubicBezTo>
                      <a:pt x="133470" y="1977"/>
                      <a:pt x="263672" y="34949"/>
                      <a:pt x="378481" y="97335"/>
                    </a:cubicBezTo>
                    <a:lnTo>
                      <a:pt x="352573" y="145041"/>
                    </a:ln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85" name="Freeform: Shape 84">
                <a:extLst>
                  <a:ext uri="{FF2B5EF4-FFF2-40B4-BE49-F238E27FC236}">
                    <a16:creationId xmlns:a16="http://schemas.microsoft.com/office/drawing/2014/main" id="{8DE9542A-C9E5-11AA-9428-B51778D2C759}"/>
                  </a:ext>
                </a:extLst>
              </p:cNvPr>
              <p:cNvSpPr/>
              <p:nvPr/>
            </p:nvSpPr>
            <p:spPr>
              <a:xfrm>
                <a:off x="-54696" y="2014231"/>
                <a:ext cx="406516" cy="893531"/>
              </a:xfrm>
              <a:custGeom>
                <a:avLst/>
                <a:gdLst>
                  <a:gd name="connsiteX0" fmla="*/ 202946 w 532404"/>
                  <a:gd name="connsiteY0" fmla="*/ 1168259 h 1170235"/>
                  <a:gd name="connsiteX1" fmla="*/ 1977 w 532404"/>
                  <a:gd name="connsiteY1" fmla="*/ 678262 h 1170235"/>
                  <a:gd name="connsiteX2" fmla="*/ 151340 w 532404"/>
                  <a:gd name="connsiteY2" fmla="*/ 246777 h 1170235"/>
                  <a:gd name="connsiteX3" fmla="*/ 527080 w 532404"/>
                  <a:gd name="connsiteY3" fmla="*/ 1977 h 1170235"/>
                  <a:gd name="connsiteX4" fmla="*/ 530559 w 532404"/>
                  <a:gd name="connsiteY4" fmla="*/ 15629 h 1170235"/>
                  <a:gd name="connsiteX5" fmla="*/ 16078 w 532404"/>
                  <a:gd name="connsiteY5" fmla="*/ 678236 h 1170235"/>
                  <a:gd name="connsiteX6" fmla="*/ 212988 w 532404"/>
                  <a:gd name="connsiteY6" fmla="*/ 1158322 h 1170235"/>
                  <a:gd name="connsiteX7" fmla="*/ 202946 w 532404"/>
                  <a:gd name="connsiteY7" fmla="*/ 1168259 h 117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2404" h="1170235">
                    <a:moveTo>
                      <a:pt x="202946" y="1168259"/>
                    </a:moveTo>
                    <a:cubicBezTo>
                      <a:pt x="73351" y="1036871"/>
                      <a:pt x="1977" y="862838"/>
                      <a:pt x="1977" y="678262"/>
                    </a:cubicBezTo>
                    <a:cubicBezTo>
                      <a:pt x="1977" y="520017"/>
                      <a:pt x="53636" y="370812"/>
                      <a:pt x="151340" y="246777"/>
                    </a:cubicBezTo>
                    <a:cubicBezTo>
                      <a:pt x="246092" y="126486"/>
                      <a:pt x="379536" y="39561"/>
                      <a:pt x="527080" y="1977"/>
                    </a:cubicBezTo>
                    <a:lnTo>
                      <a:pt x="530559" y="15629"/>
                    </a:lnTo>
                    <a:cubicBezTo>
                      <a:pt x="227642" y="92775"/>
                      <a:pt x="16078" y="365250"/>
                      <a:pt x="16078" y="678236"/>
                    </a:cubicBezTo>
                    <a:cubicBezTo>
                      <a:pt x="16078" y="859095"/>
                      <a:pt x="86002" y="1029570"/>
                      <a:pt x="212988" y="1158322"/>
                    </a:cubicBezTo>
                    <a:lnTo>
                      <a:pt x="202946" y="1168259"/>
                    </a:ln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86" name="Freeform: Shape 85">
                <a:extLst>
                  <a:ext uri="{FF2B5EF4-FFF2-40B4-BE49-F238E27FC236}">
                    <a16:creationId xmlns:a16="http://schemas.microsoft.com/office/drawing/2014/main" id="{A490B913-D23D-04F3-5983-B5038A44B749}"/>
                  </a:ext>
                </a:extLst>
              </p:cNvPr>
              <p:cNvSpPr/>
              <p:nvPr/>
            </p:nvSpPr>
            <p:spPr>
              <a:xfrm>
                <a:off x="191488" y="2783311"/>
                <a:ext cx="754672" cy="281744"/>
              </a:xfrm>
              <a:custGeom>
                <a:avLst/>
                <a:gdLst>
                  <a:gd name="connsiteX0" fmla="*/ 377375 w 988374"/>
                  <a:gd name="connsiteY0" fmla="*/ 368835 h 368993"/>
                  <a:gd name="connsiteX1" fmla="*/ 1977 w 988374"/>
                  <a:gd name="connsiteY1" fmla="*/ 259349 h 368993"/>
                  <a:gd name="connsiteX2" fmla="*/ 9567 w 988374"/>
                  <a:gd name="connsiteY2" fmla="*/ 247463 h 368993"/>
                  <a:gd name="connsiteX3" fmla="*/ 377375 w 988374"/>
                  <a:gd name="connsiteY3" fmla="*/ 354734 h 368993"/>
                  <a:gd name="connsiteX4" fmla="*/ 975802 w 988374"/>
                  <a:gd name="connsiteY4" fmla="*/ 1977 h 368993"/>
                  <a:gd name="connsiteX5" fmla="*/ 988137 w 988374"/>
                  <a:gd name="connsiteY5" fmla="*/ 8803 h 368993"/>
                  <a:gd name="connsiteX6" fmla="*/ 377375 w 988374"/>
                  <a:gd name="connsiteY6" fmla="*/ 368835 h 368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8374" h="368993">
                    <a:moveTo>
                      <a:pt x="377375" y="368835"/>
                    </a:moveTo>
                    <a:cubicBezTo>
                      <a:pt x="243799" y="368835"/>
                      <a:pt x="113993" y="330987"/>
                      <a:pt x="1977" y="259349"/>
                    </a:cubicBezTo>
                    <a:lnTo>
                      <a:pt x="9567" y="247463"/>
                    </a:lnTo>
                    <a:cubicBezTo>
                      <a:pt x="119317" y="317624"/>
                      <a:pt x="246514" y="354734"/>
                      <a:pt x="377375" y="354734"/>
                    </a:cubicBezTo>
                    <a:cubicBezTo>
                      <a:pt x="625891" y="354734"/>
                      <a:pt x="855221" y="219551"/>
                      <a:pt x="975802" y="1977"/>
                    </a:cubicBezTo>
                    <a:lnTo>
                      <a:pt x="988137" y="8803"/>
                    </a:lnTo>
                    <a:cubicBezTo>
                      <a:pt x="865052" y="230884"/>
                      <a:pt x="631031" y="368835"/>
                      <a:pt x="377375" y="368835"/>
                    </a:cubicBez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87" name="Freeform: Shape 86">
                <a:extLst>
                  <a:ext uri="{FF2B5EF4-FFF2-40B4-BE49-F238E27FC236}">
                    <a16:creationId xmlns:a16="http://schemas.microsoft.com/office/drawing/2014/main" id="{7FF095B7-99CB-0939-1934-F876F538C425}"/>
                  </a:ext>
                </a:extLst>
              </p:cNvPr>
              <p:cNvSpPr/>
              <p:nvPr/>
            </p:nvSpPr>
            <p:spPr>
              <a:xfrm>
                <a:off x="478123" y="1997769"/>
                <a:ext cx="426641" cy="221370"/>
              </a:xfrm>
              <a:custGeom>
                <a:avLst/>
                <a:gdLst>
                  <a:gd name="connsiteX0" fmla="*/ 547823 w 558760"/>
                  <a:gd name="connsiteY0" fmla="*/ 287999 h 289923"/>
                  <a:gd name="connsiteX1" fmla="*/ 1977 w 558760"/>
                  <a:gd name="connsiteY1" fmla="*/ 16078 h 289923"/>
                  <a:gd name="connsiteX2" fmla="*/ 1977 w 558760"/>
                  <a:gd name="connsiteY2" fmla="*/ 1977 h 289923"/>
                  <a:gd name="connsiteX3" fmla="*/ 318098 w 558760"/>
                  <a:gd name="connsiteY3" fmla="*/ 77515 h 289923"/>
                  <a:gd name="connsiteX4" fmla="*/ 559051 w 558760"/>
                  <a:gd name="connsiteY4" fmla="*/ 279486 h 289923"/>
                  <a:gd name="connsiteX5" fmla="*/ 547823 w 558760"/>
                  <a:gd name="connsiteY5" fmla="*/ 287999 h 289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8760" h="289923">
                    <a:moveTo>
                      <a:pt x="547823" y="287999"/>
                    </a:moveTo>
                    <a:cubicBezTo>
                      <a:pt x="417252" y="115205"/>
                      <a:pt x="218286" y="16078"/>
                      <a:pt x="1977" y="16078"/>
                    </a:cubicBezTo>
                    <a:lnTo>
                      <a:pt x="1977" y="1977"/>
                    </a:lnTo>
                    <a:cubicBezTo>
                      <a:pt x="113254" y="1977"/>
                      <a:pt x="219630" y="27385"/>
                      <a:pt x="318098" y="77515"/>
                    </a:cubicBezTo>
                    <a:cubicBezTo>
                      <a:pt x="412033" y="125326"/>
                      <a:pt x="495347" y="195171"/>
                      <a:pt x="559051" y="279486"/>
                    </a:cubicBezTo>
                    <a:lnTo>
                      <a:pt x="547823" y="287999"/>
                    </a:lnTo>
                    <a:close/>
                  </a:path>
                </a:pathLst>
              </a:custGeom>
              <a:grpFill/>
              <a:ln w="9525"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grpSp>
        <p:sp>
          <p:nvSpPr>
            <p:cNvPr id="66" name="Oval 65">
              <a:extLst>
                <a:ext uri="{FF2B5EF4-FFF2-40B4-BE49-F238E27FC236}">
                  <a16:creationId xmlns:a16="http://schemas.microsoft.com/office/drawing/2014/main" id="{8729F002-7C77-D37B-887C-102D15DA1587}"/>
                </a:ext>
              </a:extLst>
            </p:cNvPr>
            <p:cNvSpPr/>
            <p:nvPr/>
          </p:nvSpPr>
          <p:spPr>
            <a:xfrm>
              <a:off x="9398101" y="1281207"/>
              <a:ext cx="852128" cy="852128"/>
            </a:xfrm>
            <a:prstGeom prst="ellipse">
              <a:avLst/>
            </a:prstGeom>
            <a:gradFill>
              <a:gsLst>
                <a:gs pos="0">
                  <a:schemeClr val="bg1"/>
                </a:gs>
                <a:gs pos="100000">
                  <a:schemeClr val="bg1">
                    <a:lumMod val="95000"/>
                  </a:schemeClr>
                </a:gs>
              </a:gsLst>
              <a:path path="circle">
                <a:fillToRect l="100000" t="100000"/>
              </a:path>
            </a:gradFill>
            <a:ln w="25400" cap="rnd" cmpd="sng" algn="ctr">
              <a:solidFill>
                <a:schemeClr val="bg1">
                  <a:lumMod val="95000"/>
                </a:schemeClr>
              </a:solidFill>
              <a:prstDash val="solid"/>
              <a:round/>
              <a:headEnd type="none" w="med" len="med"/>
              <a:tailEnd type="none" w="med" len="med"/>
            </a:ln>
            <a:effectLst>
              <a:glow rad="101600">
                <a:schemeClr val="accent4">
                  <a:satMod val="175000"/>
                  <a:alpha val="40000"/>
                </a:schemeClr>
              </a:glow>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grpSp>
          <p:nvGrpSpPr>
            <p:cNvPr id="67" name="bcgIcons_GoToMarket">
              <a:extLst>
                <a:ext uri="{FF2B5EF4-FFF2-40B4-BE49-F238E27FC236}">
                  <a16:creationId xmlns:a16="http://schemas.microsoft.com/office/drawing/2014/main" id="{5AA92401-578E-5B65-1154-2DD7542A1892}"/>
                </a:ext>
              </a:extLst>
            </p:cNvPr>
            <p:cNvGrpSpPr>
              <a:grpSpLocks noChangeAspect="1"/>
            </p:cNvGrpSpPr>
            <p:nvPr/>
          </p:nvGrpSpPr>
          <p:grpSpPr bwMode="auto">
            <a:xfrm>
              <a:off x="9467170" y="1322251"/>
              <a:ext cx="710387" cy="711045"/>
              <a:chOff x="1682" y="0"/>
              <a:chExt cx="4316" cy="4320"/>
            </a:xfrm>
          </p:grpSpPr>
          <p:sp>
            <p:nvSpPr>
              <p:cNvPr id="69" name="AutoShape 14">
                <a:extLst>
                  <a:ext uri="{FF2B5EF4-FFF2-40B4-BE49-F238E27FC236}">
                    <a16:creationId xmlns:a16="http://schemas.microsoft.com/office/drawing/2014/main" id="{E7AF9072-194E-BBC3-6E4E-4CA3618DF5FD}"/>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71" name="Freeform 16">
                <a:extLst>
                  <a:ext uri="{FF2B5EF4-FFF2-40B4-BE49-F238E27FC236}">
                    <a16:creationId xmlns:a16="http://schemas.microsoft.com/office/drawing/2014/main" id="{C87C0A34-D125-C5E0-0CC0-DFB7726A1163}"/>
                  </a:ext>
                </a:extLst>
              </p:cNvPr>
              <p:cNvSpPr>
                <a:spLocks noEditPoints="1"/>
              </p:cNvSpPr>
              <p:nvPr/>
            </p:nvSpPr>
            <p:spPr bwMode="auto">
              <a:xfrm>
                <a:off x="2574" y="296"/>
                <a:ext cx="2605" cy="2697"/>
              </a:xfrm>
              <a:custGeom>
                <a:avLst/>
                <a:gdLst>
                  <a:gd name="T0" fmla="*/ 540 w 1391"/>
                  <a:gd name="T1" fmla="*/ 461 h 1438"/>
                  <a:gd name="T2" fmla="*/ 144 w 1391"/>
                  <a:gd name="T3" fmla="*/ 866 h 1438"/>
                  <a:gd name="T4" fmla="*/ 204 w 1391"/>
                  <a:gd name="T5" fmla="*/ 1230 h 1438"/>
                  <a:gd name="T6" fmla="*/ 235 w 1391"/>
                  <a:gd name="T7" fmla="*/ 1261 h 1438"/>
                  <a:gd name="T8" fmla="*/ 122 w 1391"/>
                  <a:gd name="T9" fmla="*/ 1364 h 1438"/>
                  <a:gd name="T10" fmla="*/ 121 w 1391"/>
                  <a:gd name="T11" fmla="*/ 1364 h 1438"/>
                  <a:gd name="T12" fmla="*/ 8 w 1391"/>
                  <a:gd name="T13" fmla="*/ 1258 h 1438"/>
                  <a:gd name="T14" fmla="*/ 40 w 1391"/>
                  <a:gd name="T15" fmla="*/ 1228 h 1438"/>
                  <a:gd name="T16" fmla="*/ 100 w 1391"/>
                  <a:gd name="T17" fmla="*/ 857 h 1438"/>
                  <a:gd name="T18" fmla="*/ 496 w 1391"/>
                  <a:gd name="T19" fmla="*/ 452 h 1438"/>
                  <a:gd name="T20" fmla="*/ 518 w 1391"/>
                  <a:gd name="T21" fmla="*/ 0 h 1438"/>
                  <a:gd name="T22" fmla="*/ 758 w 1391"/>
                  <a:gd name="T23" fmla="*/ 746 h 1438"/>
                  <a:gd name="T24" fmla="*/ 699 w 1391"/>
                  <a:gd name="T25" fmla="*/ 22 h 1438"/>
                  <a:gd name="T26" fmla="*/ 655 w 1391"/>
                  <a:gd name="T27" fmla="*/ 22 h 1438"/>
                  <a:gd name="T28" fmla="*/ 594 w 1391"/>
                  <a:gd name="T29" fmla="*/ 744 h 1438"/>
                  <a:gd name="T30" fmla="*/ 562 w 1391"/>
                  <a:gd name="T31" fmla="*/ 775 h 1438"/>
                  <a:gd name="T32" fmla="*/ 674 w 1391"/>
                  <a:gd name="T33" fmla="*/ 880 h 1438"/>
                  <a:gd name="T34" fmla="*/ 690 w 1391"/>
                  <a:gd name="T35" fmla="*/ 874 h 1438"/>
                  <a:gd name="T36" fmla="*/ 790 w 1391"/>
                  <a:gd name="T37" fmla="*/ 747 h 1438"/>
                  <a:gd name="T38" fmla="*/ 1111 w 1391"/>
                  <a:gd name="T39" fmla="*/ 886 h 1438"/>
                  <a:gd name="T40" fmla="*/ 1051 w 1391"/>
                  <a:gd name="T41" fmla="*/ 726 h 1438"/>
                  <a:gd name="T42" fmla="*/ 858 w 1391"/>
                  <a:gd name="T43" fmla="*/ 524 h 1438"/>
                  <a:gd name="T44" fmla="*/ 836 w 1391"/>
                  <a:gd name="T45" fmla="*/ 0 h 1438"/>
                  <a:gd name="T46" fmla="*/ 814 w 1391"/>
                  <a:gd name="T47" fmla="*/ 533 h 1438"/>
                  <a:gd name="T48" fmla="*/ 1007 w 1391"/>
                  <a:gd name="T49" fmla="*/ 735 h 1438"/>
                  <a:gd name="T50" fmla="*/ 947 w 1391"/>
                  <a:gd name="T51" fmla="*/ 884 h 1438"/>
                  <a:gd name="T52" fmla="*/ 915 w 1391"/>
                  <a:gd name="T53" fmla="*/ 915 h 1438"/>
                  <a:gd name="T54" fmla="*/ 1027 w 1391"/>
                  <a:gd name="T55" fmla="*/ 1021 h 1438"/>
                  <a:gd name="T56" fmla="*/ 1043 w 1391"/>
                  <a:gd name="T57" fmla="*/ 1014 h 1438"/>
                  <a:gd name="T58" fmla="*/ 1142 w 1391"/>
                  <a:gd name="T59" fmla="*/ 887 h 1438"/>
                  <a:gd name="T60" fmla="*/ 1383 w 1391"/>
                  <a:gd name="T61" fmla="*/ 1304 h 1438"/>
                  <a:gd name="T62" fmla="*/ 1291 w 1391"/>
                  <a:gd name="T63" fmla="*/ 1362 h 1438"/>
                  <a:gd name="T64" fmla="*/ 1285 w 1391"/>
                  <a:gd name="T65" fmla="*/ 618 h 1438"/>
                  <a:gd name="T66" fmla="*/ 1016 w 1391"/>
                  <a:gd name="T67" fmla="*/ 22 h 1438"/>
                  <a:gd name="T68" fmla="*/ 972 w 1391"/>
                  <a:gd name="T69" fmla="*/ 22 h 1438"/>
                  <a:gd name="T70" fmla="*/ 979 w 1391"/>
                  <a:gd name="T71" fmla="*/ 373 h 1438"/>
                  <a:gd name="T72" fmla="*/ 1247 w 1391"/>
                  <a:gd name="T73" fmla="*/ 1363 h 1438"/>
                  <a:gd name="T74" fmla="*/ 1156 w 1391"/>
                  <a:gd name="T75" fmla="*/ 1301 h 1438"/>
                  <a:gd name="T76" fmla="*/ 1252 w 1391"/>
                  <a:gd name="T77" fmla="*/ 1431 h 1438"/>
                  <a:gd name="T78" fmla="*/ 1268 w 1391"/>
                  <a:gd name="T79" fmla="*/ 1438 h 1438"/>
                  <a:gd name="T80" fmla="*/ 1288 w 1391"/>
                  <a:gd name="T81" fmla="*/ 1427 h 1438"/>
                  <a:gd name="T82" fmla="*/ 1383 w 1391"/>
                  <a:gd name="T83" fmla="*/ 1304 h 1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91" h="1438">
                    <a:moveTo>
                      <a:pt x="540" y="22"/>
                    </a:moveTo>
                    <a:cubicBezTo>
                      <a:pt x="540" y="461"/>
                      <a:pt x="540" y="461"/>
                      <a:pt x="540" y="461"/>
                    </a:cubicBezTo>
                    <a:cubicBezTo>
                      <a:pt x="540" y="467"/>
                      <a:pt x="538" y="472"/>
                      <a:pt x="534" y="476"/>
                    </a:cubicBezTo>
                    <a:cubicBezTo>
                      <a:pt x="144" y="866"/>
                      <a:pt x="144" y="866"/>
                      <a:pt x="144" y="866"/>
                    </a:cubicBezTo>
                    <a:cubicBezTo>
                      <a:pt x="144" y="1289"/>
                      <a:pt x="144" y="1289"/>
                      <a:pt x="144" y="1289"/>
                    </a:cubicBezTo>
                    <a:cubicBezTo>
                      <a:pt x="204" y="1230"/>
                      <a:pt x="204" y="1230"/>
                      <a:pt x="204" y="1230"/>
                    </a:cubicBezTo>
                    <a:cubicBezTo>
                      <a:pt x="213" y="1221"/>
                      <a:pt x="227" y="1221"/>
                      <a:pt x="235" y="1230"/>
                    </a:cubicBezTo>
                    <a:cubicBezTo>
                      <a:pt x="244" y="1239"/>
                      <a:pt x="244" y="1253"/>
                      <a:pt x="235" y="1261"/>
                    </a:cubicBezTo>
                    <a:cubicBezTo>
                      <a:pt x="141" y="1353"/>
                      <a:pt x="141" y="1353"/>
                      <a:pt x="141" y="1353"/>
                    </a:cubicBezTo>
                    <a:cubicBezTo>
                      <a:pt x="137" y="1360"/>
                      <a:pt x="130" y="1364"/>
                      <a:pt x="122" y="1364"/>
                    </a:cubicBezTo>
                    <a:cubicBezTo>
                      <a:pt x="122" y="1364"/>
                      <a:pt x="121" y="1364"/>
                      <a:pt x="121" y="1364"/>
                    </a:cubicBezTo>
                    <a:cubicBezTo>
                      <a:pt x="121" y="1364"/>
                      <a:pt x="121" y="1364"/>
                      <a:pt x="121" y="1364"/>
                    </a:cubicBezTo>
                    <a:cubicBezTo>
                      <a:pt x="115" y="1364"/>
                      <a:pt x="109" y="1362"/>
                      <a:pt x="105" y="1357"/>
                    </a:cubicBezTo>
                    <a:cubicBezTo>
                      <a:pt x="8" y="1258"/>
                      <a:pt x="8" y="1258"/>
                      <a:pt x="8" y="1258"/>
                    </a:cubicBezTo>
                    <a:cubicBezTo>
                      <a:pt x="0" y="1250"/>
                      <a:pt x="0" y="1236"/>
                      <a:pt x="9" y="1227"/>
                    </a:cubicBezTo>
                    <a:cubicBezTo>
                      <a:pt x="18" y="1219"/>
                      <a:pt x="31" y="1219"/>
                      <a:pt x="40" y="1228"/>
                    </a:cubicBezTo>
                    <a:cubicBezTo>
                      <a:pt x="100" y="1289"/>
                      <a:pt x="100" y="1289"/>
                      <a:pt x="100" y="1289"/>
                    </a:cubicBezTo>
                    <a:cubicBezTo>
                      <a:pt x="100" y="857"/>
                      <a:pt x="100" y="857"/>
                      <a:pt x="100" y="857"/>
                    </a:cubicBezTo>
                    <a:cubicBezTo>
                      <a:pt x="100" y="851"/>
                      <a:pt x="102" y="846"/>
                      <a:pt x="106" y="842"/>
                    </a:cubicBezTo>
                    <a:cubicBezTo>
                      <a:pt x="496" y="452"/>
                      <a:pt x="496" y="452"/>
                      <a:pt x="496" y="452"/>
                    </a:cubicBezTo>
                    <a:cubicBezTo>
                      <a:pt x="496" y="22"/>
                      <a:pt x="496" y="22"/>
                      <a:pt x="496" y="22"/>
                    </a:cubicBezTo>
                    <a:cubicBezTo>
                      <a:pt x="496" y="10"/>
                      <a:pt x="506" y="0"/>
                      <a:pt x="518" y="0"/>
                    </a:cubicBezTo>
                    <a:cubicBezTo>
                      <a:pt x="531" y="0"/>
                      <a:pt x="540" y="10"/>
                      <a:pt x="540" y="22"/>
                    </a:cubicBezTo>
                    <a:close/>
                    <a:moveTo>
                      <a:pt x="758" y="746"/>
                    </a:moveTo>
                    <a:cubicBezTo>
                      <a:pt x="699" y="804"/>
                      <a:pt x="699" y="804"/>
                      <a:pt x="699" y="804"/>
                    </a:cubicBezTo>
                    <a:cubicBezTo>
                      <a:pt x="699" y="22"/>
                      <a:pt x="699" y="22"/>
                      <a:pt x="699" y="22"/>
                    </a:cubicBezTo>
                    <a:cubicBezTo>
                      <a:pt x="699" y="10"/>
                      <a:pt x="689" y="0"/>
                      <a:pt x="677" y="0"/>
                    </a:cubicBezTo>
                    <a:cubicBezTo>
                      <a:pt x="665" y="0"/>
                      <a:pt x="655" y="10"/>
                      <a:pt x="655" y="22"/>
                    </a:cubicBezTo>
                    <a:cubicBezTo>
                      <a:pt x="655" y="807"/>
                      <a:pt x="655" y="807"/>
                      <a:pt x="655" y="807"/>
                    </a:cubicBezTo>
                    <a:cubicBezTo>
                      <a:pt x="594" y="744"/>
                      <a:pt x="594" y="744"/>
                      <a:pt x="594" y="744"/>
                    </a:cubicBezTo>
                    <a:cubicBezTo>
                      <a:pt x="586" y="735"/>
                      <a:pt x="572" y="735"/>
                      <a:pt x="563" y="744"/>
                    </a:cubicBezTo>
                    <a:cubicBezTo>
                      <a:pt x="554" y="752"/>
                      <a:pt x="554" y="766"/>
                      <a:pt x="562" y="775"/>
                    </a:cubicBezTo>
                    <a:cubicBezTo>
                      <a:pt x="659" y="874"/>
                      <a:pt x="659" y="874"/>
                      <a:pt x="659" y="874"/>
                    </a:cubicBezTo>
                    <a:cubicBezTo>
                      <a:pt x="663" y="878"/>
                      <a:pt x="669" y="880"/>
                      <a:pt x="674" y="880"/>
                    </a:cubicBezTo>
                    <a:cubicBezTo>
                      <a:pt x="675" y="880"/>
                      <a:pt x="675" y="880"/>
                      <a:pt x="675" y="880"/>
                    </a:cubicBezTo>
                    <a:cubicBezTo>
                      <a:pt x="680" y="880"/>
                      <a:pt x="686" y="878"/>
                      <a:pt x="690" y="874"/>
                    </a:cubicBezTo>
                    <a:cubicBezTo>
                      <a:pt x="789" y="778"/>
                      <a:pt x="789" y="778"/>
                      <a:pt x="789" y="778"/>
                    </a:cubicBezTo>
                    <a:cubicBezTo>
                      <a:pt x="798" y="769"/>
                      <a:pt x="798" y="755"/>
                      <a:pt x="790" y="747"/>
                    </a:cubicBezTo>
                    <a:cubicBezTo>
                      <a:pt x="781" y="738"/>
                      <a:pt x="767" y="738"/>
                      <a:pt x="758" y="746"/>
                    </a:cubicBezTo>
                    <a:close/>
                    <a:moveTo>
                      <a:pt x="1111" y="886"/>
                    </a:moveTo>
                    <a:cubicBezTo>
                      <a:pt x="1051" y="945"/>
                      <a:pt x="1051" y="945"/>
                      <a:pt x="1051" y="945"/>
                    </a:cubicBezTo>
                    <a:cubicBezTo>
                      <a:pt x="1051" y="726"/>
                      <a:pt x="1051" y="726"/>
                      <a:pt x="1051" y="726"/>
                    </a:cubicBezTo>
                    <a:cubicBezTo>
                      <a:pt x="1051" y="720"/>
                      <a:pt x="1048" y="715"/>
                      <a:pt x="1044" y="710"/>
                    </a:cubicBezTo>
                    <a:cubicBezTo>
                      <a:pt x="858" y="524"/>
                      <a:pt x="858" y="524"/>
                      <a:pt x="858" y="524"/>
                    </a:cubicBezTo>
                    <a:cubicBezTo>
                      <a:pt x="858" y="22"/>
                      <a:pt x="858" y="22"/>
                      <a:pt x="858" y="22"/>
                    </a:cubicBezTo>
                    <a:cubicBezTo>
                      <a:pt x="858" y="10"/>
                      <a:pt x="848" y="0"/>
                      <a:pt x="836" y="0"/>
                    </a:cubicBezTo>
                    <a:cubicBezTo>
                      <a:pt x="823" y="0"/>
                      <a:pt x="814" y="10"/>
                      <a:pt x="814" y="22"/>
                    </a:cubicBezTo>
                    <a:cubicBezTo>
                      <a:pt x="814" y="533"/>
                      <a:pt x="814" y="533"/>
                      <a:pt x="814" y="533"/>
                    </a:cubicBezTo>
                    <a:cubicBezTo>
                      <a:pt x="814" y="539"/>
                      <a:pt x="816" y="545"/>
                      <a:pt x="820" y="549"/>
                    </a:cubicBezTo>
                    <a:cubicBezTo>
                      <a:pt x="1007" y="735"/>
                      <a:pt x="1007" y="735"/>
                      <a:pt x="1007" y="735"/>
                    </a:cubicBezTo>
                    <a:cubicBezTo>
                      <a:pt x="1007" y="946"/>
                      <a:pt x="1007" y="946"/>
                      <a:pt x="1007" y="946"/>
                    </a:cubicBezTo>
                    <a:cubicBezTo>
                      <a:pt x="947" y="884"/>
                      <a:pt x="947" y="884"/>
                      <a:pt x="947" y="884"/>
                    </a:cubicBezTo>
                    <a:cubicBezTo>
                      <a:pt x="938" y="875"/>
                      <a:pt x="924" y="875"/>
                      <a:pt x="916" y="884"/>
                    </a:cubicBezTo>
                    <a:cubicBezTo>
                      <a:pt x="907" y="892"/>
                      <a:pt x="907" y="906"/>
                      <a:pt x="915" y="915"/>
                    </a:cubicBezTo>
                    <a:cubicBezTo>
                      <a:pt x="1012" y="1014"/>
                      <a:pt x="1012" y="1014"/>
                      <a:pt x="1012" y="1014"/>
                    </a:cubicBezTo>
                    <a:cubicBezTo>
                      <a:pt x="1016" y="1018"/>
                      <a:pt x="1021" y="1020"/>
                      <a:pt x="1027" y="1021"/>
                    </a:cubicBezTo>
                    <a:cubicBezTo>
                      <a:pt x="1027" y="1021"/>
                      <a:pt x="1027" y="1021"/>
                      <a:pt x="1027" y="1021"/>
                    </a:cubicBezTo>
                    <a:cubicBezTo>
                      <a:pt x="1033" y="1021"/>
                      <a:pt x="1039" y="1018"/>
                      <a:pt x="1043" y="1014"/>
                    </a:cubicBezTo>
                    <a:cubicBezTo>
                      <a:pt x="1142" y="918"/>
                      <a:pt x="1142" y="918"/>
                      <a:pt x="1142" y="918"/>
                    </a:cubicBezTo>
                    <a:cubicBezTo>
                      <a:pt x="1151" y="909"/>
                      <a:pt x="1151" y="895"/>
                      <a:pt x="1142" y="887"/>
                    </a:cubicBezTo>
                    <a:cubicBezTo>
                      <a:pt x="1134" y="878"/>
                      <a:pt x="1120" y="878"/>
                      <a:pt x="1111" y="886"/>
                    </a:cubicBezTo>
                    <a:close/>
                    <a:moveTo>
                      <a:pt x="1383" y="1304"/>
                    </a:moveTo>
                    <a:cubicBezTo>
                      <a:pt x="1374" y="1295"/>
                      <a:pt x="1360" y="1295"/>
                      <a:pt x="1351" y="1304"/>
                    </a:cubicBezTo>
                    <a:cubicBezTo>
                      <a:pt x="1291" y="1362"/>
                      <a:pt x="1291" y="1362"/>
                      <a:pt x="1291" y="1362"/>
                    </a:cubicBezTo>
                    <a:cubicBezTo>
                      <a:pt x="1291" y="634"/>
                      <a:pt x="1291" y="634"/>
                      <a:pt x="1291" y="634"/>
                    </a:cubicBezTo>
                    <a:cubicBezTo>
                      <a:pt x="1291" y="628"/>
                      <a:pt x="1289" y="623"/>
                      <a:pt x="1285" y="618"/>
                    </a:cubicBezTo>
                    <a:cubicBezTo>
                      <a:pt x="1016" y="348"/>
                      <a:pt x="1016" y="348"/>
                      <a:pt x="1016" y="348"/>
                    </a:cubicBezTo>
                    <a:cubicBezTo>
                      <a:pt x="1016" y="22"/>
                      <a:pt x="1016" y="22"/>
                      <a:pt x="1016" y="22"/>
                    </a:cubicBezTo>
                    <a:cubicBezTo>
                      <a:pt x="1016" y="10"/>
                      <a:pt x="1006" y="0"/>
                      <a:pt x="994" y="0"/>
                    </a:cubicBezTo>
                    <a:cubicBezTo>
                      <a:pt x="982" y="0"/>
                      <a:pt x="972" y="10"/>
                      <a:pt x="972" y="22"/>
                    </a:cubicBezTo>
                    <a:cubicBezTo>
                      <a:pt x="972" y="357"/>
                      <a:pt x="972" y="357"/>
                      <a:pt x="972" y="357"/>
                    </a:cubicBezTo>
                    <a:cubicBezTo>
                      <a:pt x="972" y="363"/>
                      <a:pt x="975" y="368"/>
                      <a:pt x="979" y="373"/>
                    </a:cubicBezTo>
                    <a:cubicBezTo>
                      <a:pt x="1247" y="643"/>
                      <a:pt x="1247" y="643"/>
                      <a:pt x="1247" y="643"/>
                    </a:cubicBezTo>
                    <a:cubicBezTo>
                      <a:pt x="1247" y="1363"/>
                      <a:pt x="1247" y="1363"/>
                      <a:pt x="1247" y="1363"/>
                    </a:cubicBezTo>
                    <a:cubicBezTo>
                      <a:pt x="1187" y="1301"/>
                      <a:pt x="1187" y="1301"/>
                      <a:pt x="1187" y="1301"/>
                    </a:cubicBezTo>
                    <a:cubicBezTo>
                      <a:pt x="1179" y="1293"/>
                      <a:pt x="1165" y="1293"/>
                      <a:pt x="1156" y="1301"/>
                    </a:cubicBezTo>
                    <a:cubicBezTo>
                      <a:pt x="1147" y="1310"/>
                      <a:pt x="1147" y="1323"/>
                      <a:pt x="1155" y="1332"/>
                    </a:cubicBezTo>
                    <a:cubicBezTo>
                      <a:pt x="1252" y="1431"/>
                      <a:pt x="1252" y="1431"/>
                      <a:pt x="1252" y="1431"/>
                    </a:cubicBezTo>
                    <a:cubicBezTo>
                      <a:pt x="1256" y="1436"/>
                      <a:pt x="1262" y="1438"/>
                      <a:pt x="1268" y="1438"/>
                    </a:cubicBezTo>
                    <a:cubicBezTo>
                      <a:pt x="1268" y="1438"/>
                      <a:pt x="1268" y="1438"/>
                      <a:pt x="1268" y="1438"/>
                    </a:cubicBezTo>
                    <a:cubicBezTo>
                      <a:pt x="1268" y="1438"/>
                      <a:pt x="1269" y="1438"/>
                      <a:pt x="1269" y="1438"/>
                    </a:cubicBezTo>
                    <a:cubicBezTo>
                      <a:pt x="1277" y="1438"/>
                      <a:pt x="1284" y="1433"/>
                      <a:pt x="1288" y="1427"/>
                    </a:cubicBezTo>
                    <a:cubicBezTo>
                      <a:pt x="1382" y="1335"/>
                      <a:pt x="1382" y="1335"/>
                      <a:pt x="1382" y="1335"/>
                    </a:cubicBezTo>
                    <a:cubicBezTo>
                      <a:pt x="1391" y="1327"/>
                      <a:pt x="1391" y="1313"/>
                      <a:pt x="1383" y="130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72" name="Freeform 17">
                <a:extLst>
                  <a:ext uri="{FF2B5EF4-FFF2-40B4-BE49-F238E27FC236}">
                    <a16:creationId xmlns:a16="http://schemas.microsoft.com/office/drawing/2014/main" id="{A122A00F-F9BA-C820-12B4-298123388C07}"/>
                  </a:ext>
                </a:extLst>
              </p:cNvPr>
              <p:cNvSpPr>
                <a:spLocks noEditPoints="1"/>
              </p:cNvSpPr>
              <p:nvPr/>
            </p:nvSpPr>
            <p:spPr bwMode="auto">
              <a:xfrm>
                <a:off x="2317" y="2081"/>
                <a:ext cx="3125" cy="1986"/>
              </a:xfrm>
              <a:custGeom>
                <a:avLst/>
                <a:gdLst>
                  <a:gd name="T0" fmla="*/ 554 w 1668"/>
                  <a:gd name="T1" fmla="*/ 259 h 1059"/>
                  <a:gd name="T2" fmla="*/ 1072 w 1668"/>
                  <a:gd name="T3" fmla="*/ 259 h 1059"/>
                  <a:gd name="T4" fmla="*/ 956 w 1668"/>
                  <a:gd name="T5" fmla="*/ 273 h 1059"/>
                  <a:gd name="T6" fmla="*/ 927 w 1668"/>
                  <a:gd name="T7" fmla="*/ 331 h 1059"/>
                  <a:gd name="T8" fmla="*/ 917 w 1668"/>
                  <a:gd name="T9" fmla="*/ 367 h 1059"/>
                  <a:gd name="T10" fmla="*/ 856 w 1668"/>
                  <a:gd name="T11" fmla="*/ 423 h 1059"/>
                  <a:gd name="T12" fmla="*/ 848 w 1668"/>
                  <a:gd name="T13" fmla="*/ 431 h 1059"/>
                  <a:gd name="T14" fmla="*/ 724 w 1668"/>
                  <a:gd name="T15" fmla="*/ 403 h 1059"/>
                  <a:gd name="T16" fmla="*/ 679 w 1668"/>
                  <a:gd name="T17" fmla="*/ 168 h 1059"/>
                  <a:gd name="T18" fmla="*/ 940 w 1668"/>
                  <a:gd name="T19" fmla="*/ 107 h 1059"/>
                  <a:gd name="T20" fmla="*/ 918 w 1668"/>
                  <a:gd name="T21" fmla="*/ 152 h 1059"/>
                  <a:gd name="T22" fmla="*/ 919 w 1668"/>
                  <a:gd name="T23" fmla="*/ 186 h 1059"/>
                  <a:gd name="T24" fmla="*/ 927 w 1668"/>
                  <a:gd name="T25" fmla="*/ 218 h 1059"/>
                  <a:gd name="T26" fmla="*/ 942 w 1668"/>
                  <a:gd name="T27" fmla="*/ 246 h 1059"/>
                  <a:gd name="T28" fmla="*/ 1409 w 1668"/>
                  <a:gd name="T29" fmla="*/ 542 h 1059"/>
                  <a:gd name="T30" fmla="*/ 1409 w 1668"/>
                  <a:gd name="T31" fmla="*/ 1059 h 1059"/>
                  <a:gd name="T32" fmla="*/ 1409 w 1668"/>
                  <a:gd name="T33" fmla="*/ 542 h 1059"/>
                  <a:gd name="T34" fmla="*/ 1498 w 1668"/>
                  <a:gd name="T35" fmla="*/ 944 h 1059"/>
                  <a:gd name="T36" fmla="*/ 1374 w 1668"/>
                  <a:gd name="T37" fmla="*/ 972 h 1059"/>
                  <a:gd name="T38" fmla="*/ 1366 w 1668"/>
                  <a:gd name="T39" fmla="*/ 965 h 1059"/>
                  <a:gd name="T40" fmla="*/ 1305 w 1668"/>
                  <a:gd name="T41" fmla="*/ 909 h 1059"/>
                  <a:gd name="T42" fmla="*/ 1295 w 1668"/>
                  <a:gd name="T43" fmla="*/ 873 h 1059"/>
                  <a:gd name="T44" fmla="*/ 1266 w 1668"/>
                  <a:gd name="T45" fmla="*/ 815 h 1059"/>
                  <a:gd name="T46" fmla="*/ 1282 w 1668"/>
                  <a:gd name="T47" fmla="*/ 785 h 1059"/>
                  <a:gd name="T48" fmla="*/ 1298 w 1668"/>
                  <a:gd name="T49" fmla="*/ 747 h 1059"/>
                  <a:gd name="T50" fmla="*/ 1307 w 1668"/>
                  <a:gd name="T51" fmla="*/ 692 h 1059"/>
                  <a:gd name="T52" fmla="*/ 1303 w 1668"/>
                  <a:gd name="T53" fmla="*/ 692 h 1059"/>
                  <a:gd name="T54" fmla="*/ 1417 w 1668"/>
                  <a:gd name="T55" fmla="*/ 629 h 1059"/>
                  <a:gd name="T56" fmla="*/ 1498 w 1668"/>
                  <a:gd name="T57" fmla="*/ 868 h 1059"/>
                  <a:gd name="T58" fmla="*/ 0 w 1668"/>
                  <a:gd name="T59" fmla="*/ 721 h 1059"/>
                  <a:gd name="T60" fmla="*/ 518 w 1668"/>
                  <a:gd name="T61" fmla="*/ 721 h 1059"/>
                  <a:gd name="T62" fmla="*/ 406 w 1668"/>
                  <a:gd name="T63" fmla="*/ 737 h 1059"/>
                  <a:gd name="T64" fmla="*/ 376 w 1668"/>
                  <a:gd name="T65" fmla="*/ 775 h 1059"/>
                  <a:gd name="T66" fmla="*/ 327 w 1668"/>
                  <a:gd name="T67" fmla="*/ 826 h 1059"/>
                  <a:gd name="T68" fmla="*/ 304 w 1668"/>
                  <a:gd name="T69" fmla="*/ 882 h 1059"/>
                  <a:gd name="T70" fmla="*/ 289 w 1668"/>
                  <a:gd name="T71" fmla="*/ 890 h 1059"/>
                  <a:gd name="T72" fmla="*/ 202 w 1668"/>
                  <a:gd name="T73" fmla="*/ 863 h 1059"/>
                  <a:gd name="T74" fmla="*/ 132 w 1668"/>
                  <a:gd name="T75" fmla="*/ 627 h 1059"/>
                  <a:gd name="T76" fmla="*/ 371 w 1668"/>
                  <a:gd name="T77" fmla="*/ 606 h 1059"/>
                  <a:gd name="T78" fmla="*/ 377 w 1668"/>
                  <a:gd name="T79" fmla="*/ 654 h 1059"/>
                  <a:gd name="T80" fmla="*/ 394 w 1668"/>
                  <a:gd name="T81" fmla="*/ 709 h 1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68" h="1059">
                    <a:moveTo>
                      <a:pt x="813" y="0"/>
                    </a:moveTo>
                    <a:cubicBezTo>
                      <a:pt x="670" y="0"/>
                      <a:pt x="554" y="116"/>
                      <a:pt x="554" y="259"/>
                    </a:cubicBezTo>
                    <a:cubicBezTo>
                      <a:pt x="554" y="402"/>
                      <a:pt x="670" y="518"/>
                      <a:pt x="813" y="518"/>
                    </a:cubicBezTo>
                    <a:cubicBezTo>
                      <a:pt x="956" y="518"/>
                      <a:pt x="1072" y="402"/>
                      <a:pt x="1072" y="259"/>
                    </a:cubicBezTo>
                    <a:cubicBezTo>
                      <a:pt x="1072" y="116"/>
                      <a:pt x="956" y="0"/>
                      <a:pt x="813" y="0"/>
                    </a:cubicBezTo>
                    <a:close/>
                    <a:moveTo>
                      <a:pt x="956" y="273"/>
                    </a:moveTo>
                    <a:cubicBezTo>
                      <a:pt x="955" y="277"/>
                      <a:pt x="949" y="290"/>
                      <a:pt x="925" y="290"/>
                    </a:cubicBezTo>
                    <a:cubicBezTo>
                      <a:pt x="927" y="301"/>
                      <a:pt x="928" y="319"/>
                      <a:pt x="927" y="331"/>
                    </a:cubicBezTo>
                    <a:cubicBezTo>
                      <a:pt x="927" y="334"/>
                      <a:pt x="927" y="334"/>
                      <a:pt x="927" y="334"/>
                    </a:cubicBezTo>
                    <a:cubicBezTo>
                      <a:pt x="926" y="353"/>
                      <a:pt x="925" y="363"/>
                      <a:pt x="917" y="367"/>
                    </a:cubicBezTo>
                    <a:cubicBezTo>
                      <a:pt x="910" y="371"/>
                      <a:pt x="887" y="374"/>
                      <a:pt x="856" y="371"/>
                    </a:cubicBezTo>
                    <a:cubicBezTo>
                      <a:pt x="856" y="423"/>
                      <a:pt x="856" y="423"/>
                      <a:pt x="856" y="423"/>
                    </a:cubicBezTo>
                    <a:cubicBezTo>
                      <a:pt x="856" y="427"/>
                      <a:pt x="853" y="431"/>
                      <a:pt x="848" y="431"/>
                    </a:cubicBezTo>
                    <a:cubicBezTo>
                      <a:pt x="848" y="431"/>
                      <a:pt x="848" y="431"/>
                      <a:pt x="848" y="431"/>
                    </a:cubicBezTo>
                    <a:cubicBezTo>
                      <a:pt x="843" y="431"/>
                      <a:pt x="779" y="430"/>
                      <a:pt x="729" y="410"/>
                    </a:cubicBezTo>
                    <a:cubicBezTo>
                      <a:pt x="726" y="409"/>
                      <a:pt x="724" y="406"/>
                      <a:pt x="724" y="403"/>
                    </a:cubicBezTo>
                    <a:cubicBezTo>
                      <a:pt x="724" y="327"/>
                      <a:pt x="724" y="327"/>
                      <a:pt x="724" y="327"/>
                    </a:cubicBezTo>
                    <a:cubicBezTo>
                      <a:pt x="699" y="300"/>
                      <a:pt x="648" y="234"/>
                      <a:pt x="679" y="168"/>
                    </a:cubicBezTo>
                    <a:cubicBezTo>
                      <a:pt x="697" y="131"/>
                      <a:pt x="733" y="87"/>
                      <a:pt x="805" y="87"/>
                    </a:cubicBezTo>
                    <a:cubicBezTo>
                      <a:pt x="887" y="87"/>
                      <a:pt x="863" y="108"/>
                      <a:pt x="940" y="107"/>
                    </a:cubicBezTo>
                    <a:cubicBezTo>
                      <a:pt x="948" y="107"/>
                      <a:pt x="923" y="134"/>
                      <a:pt x="919" y="151"/>
                    </a:cubicBezTo>
                    <a:cubicBezTo>
                      <a:pt x="919" y="151"/>
                      <a:pt x="919" y="152"/>
                      <a:pt x="918" y="152"/>
                    </a:cubicBezTo>
                    <a:cubicBezTo>
                      <a:pt x="918" y="152"/>
                      <a:pt x="916" y="151"/>
                      <a:pt x="914" y="151"/>
                    </a:cubicBezTo>
                    <a:cubicBezTo>
                      <a:pt x="915" y="161"/>
                      <a:pt x="917" y="180"/>
                      <a:pt x="919" y="186"/>
                    </a:cubicBezTo>
                    <a:cubicBezTo>
                      <a:pt x="921" y="192"/>
                      <a:pt x="922" y="199"/>
                      <a:pt x="924" y="205"/>
                    </a:cubicBezTo>
                    <a:cubicBezTo>
                      <a:pt x="925" y="210"/>
                      <a:pt x="926" y="215"/>
                      <a:pt x="927" y="218"/>
                    </a:cubicBezTo>
                    <a:cubicBezTo>
                      <a:pt x="931" y="230"/>
                      <a:pt x="935" y="239"/>
                      <a:pt x="939" y="243"/>
                    </a:cubicBezTo>
                    <a:cubicBezTo>
                      <a:pt x="940" y="244"/>
                      <a:pt x="941" y="245"/>
                      <a:pt x="942" y="246"/>
                    </a:cubicBezTo>
                    <a:cubicBezTo>
                      <a:pt x="951" y="256"/>
                      <a:pt x="959" y="265"/>
                      <a:pt x="956" y="273"/>
                    </a:cubicBezTo>
                    <a:close/>
                    <a:moveTo>
                      <a:pt x="1409" y="542"/>
                    </a:moveTo>
                    <a:cubicBezTo>
                      <a:pt x="1266" y="542"/>
                      <a:pt x="1150" y="658"/>
                      <a:pt x="1150" y="800"/>
                    </a:cubicBezTo>
                    <a:cubicBezTo>
                      <a:pt x="1150" y="943"/>
                      <a:pt x="1266" y="1059"/>
                      <a:pt x="1409" y="1059"/>
                    </a:cubicBezTo>
                    <a:cubicBezTo>
                      <a:pt x="1552" y="1059"/>
                      <a:pt x="1668" y="943"/>
                      <a:pt x="1668" y="800"/>
                    </a:cubicBezTo>
                    <a:cubicBezTo>
                      <a:pt x="1668" y="658"/>
                      <a:pt x="1552" y="542"/>
                      <a:pt x="1409" y="542"/>
                    </a:cubicBezTo>
                    <a:close/>
                    <a:moveTo>
                      <a:pt x="1498" y="868"/>
                    </a:moveTo>
                    <a:cubicBezTo>
                      <a:pt x="1498" y="944"/>
                      <a:pt x="1498" y="944"/>
                      <a:pt x="1498" y="944"/>
                    </a:cubicBezTo>
                    <a:cubicBezTo>
                      <a:pt x="1498" y="947"/>
                      <a:pt x="1496" y="950"/>
                      <a:pt x="1493" y="951"/>
                    </a:cubicBezTo>
                    <a:cubicBezTo>
                      <a:pt x="1443" y="972"/>
                      <a:pt x="1379" y="972"/>
                      <a:pt x="1374" y="972"/>
                    </a:cubicBezTo>
                    <a:cubicBezTo>
                      <a:pt x="1373" y="972"/>
                      <a:pt x="1373" y="972"/>
                      <a:pt x="1373" y="972"/>
                    </a:cubicBezTo>
                    <a:cubicBezTo>
                      <a:pt x="1369" y="972"/>
                      <a:pt x="1366" y="969"/>
                      <a:pt x="1366" y="965"/>
                    </a:cubicBezTo>
                    <a:cubicBezTo>
                      <a:pt x="1366" y="912"/>
                      <a:pt x="1366" y="912"/>
                      <a:pt x="1366" y="912"/>
                    </a:cubicBezTo>
                    <a:cubicBezTo>
                      <a:pt x="1335" y="916"/>
                      <a:pt x="1311" y="912"/>
                      <a:pt x="1305" y="909"/>
                    </a:cubicBezTo>
                    <a:cubicBezTo>
                      <a:pt x="1297" y="905"/>
                      <a:pt x="1296" y="894"/>
                      <a:pt x="1295" y="875"/>
                    </a:cubicBezTo>
                    <a:cubicBezTo>
                      <a:pt x="1295" y="873"/>
                      <a:pt x="1295" y="873"/>
                      <a:pt x="1295" y="873"/>
                    </a:cubicBezTo>
                    <a:cubicBezTo>
                      <a:pt x="1294" y="861"/>
                      <a:pt x="1295" y="842"/>
                      <a:pt x="1296" y="832"/>
                    </a:cubicBezTo>
                    <a:cubicBezTo>
                      <a:pt x="1273" y="831"/>
                      <a:pt x="1267" y="819"/>
                      <a:pt x="1266" y="815"/>
                    </a:cubicBezTo>
                    <a:cubicBezTo>
                      <a:pt x="1263" y="806"/>
                      <a:pt x="1271" y="797"/>
                      <a:pt x="1280" y="788"/>
                    </a:cubicBezTo>
                    <a:cubicBezTo>
                      <a:pt x="1281" y="787"/>
                      <a:pt x="1282" y="786"/>
                      <a:pt x="1282" y="785"/>
                    </a:cubicBezTo>
                    <a:cubicBezTo>
                      <a:pt x="1286" y="780"/>
                      <a:pt x="1291" y="771"/>
                      <a:pt x="1295" y="760"/>
                    </a:cubicBezTo>
                    <a:cubicBezTo>
                      <a:pt x="1296" y="757"/>
                      <a:pt x="1297" y="752"/>
                      <a:pt x="1298" y="747"/>
                    </a:cubicBezTo>
                    <a:cubicBezTo>
                      <a:pt x="1300" y="740"/>
                      <a:pt x="1301" y="733"/>
                      <a:pt x="1303" y="728"/>
                    </a:cubicBezTo>
                    <a:cubicBezTo>
                      <a:pt x="1305" y="721"/>
                      <a:pt x="1307" y="702"/>
                      <a:pt x="1307" y="692"/>
                    </a:cubicBezTo>
                    <a:cubicBezTo>
                      <a:pt x="1306" y="692"/>
                      <a:pt x="1304" y="693"/>
                      <a:pt x="1303" y="693"/>
                    </a:cubicBezTo>
                    <a:cubicBezTo>
                      <a:pt x="1303" y="693"/>
                      <a:pt x="1303" y="693"/>
                      <a:pt x="1303" y="692"/>
                    </a:cubicBezTo>
                    <a:cubicBezTo>
                      <a:pt x="1299" y="675"/>
                      <a:pt x="1274" y="648"/>
                      <a:pt x="1282" y="648"/>
                    </a:cubicBezTo>
                    <a:cubicBezTo>
                      <a:pt x="1358" y="650"/>
                      <a:pt x="1334" y="629"/>
                      <a:pt x="1417" y="629"/>
                    </a:cubicBezTo>
                    <a:cubicBezTo>
                      <a:pt x="1489" y="629"/>
                      <a:pt x="1525" y="672"/>
                      <a:pt x="1543" y="709"/>
                    </a:cubicBezTo>
                    <a:cubicBezTo>
                      <a:pt x="1574" y="776"/>
                      <a:pt x="1523" y="842"/>
                      <a:pt x="1498" y="868"/>
                    </a:cubicBezTo>
                    <a:close/>
                    <a:moveTo>
                      <a:pt x="259" y="462"/>
                    </a:moveTo>
                    <a:cubicBezTo>
                      <a:pt x="116" y="462"/>
                      <a:pt x="0" y="578"/>
                      <a:pt x="0" y="721"/>
                    </a:cubicBezTo>
                    <a:cubicBezTo>
                      <a:pt x="0" y="864"/>
                      <a:pt x="116" y="980"/>
                      <a:pt x="259" y="980"/>
                    </a:cubicBezTo>
                    <a:cubicBezTo>
                      <a:pt x="402" y="980"/>
                      <a:pt x="518" y="864"/>
                      <a:pt x="518" y="721"/>
                    </a:cubicBezTo>
                    <a:cubicBezTo>
                      <a:pt x="518" y="578"/>
                      <a:pt x="402" y="462"/>
                      <a:pt x="259" y="462"/>
                    </a:cubicBezTo>
                    <a:close/>
                    <a:moveTo>
                      <a:pt x="406" y="737"/>
                    </a:moveTo>
                    <a:cubicBezTo>
                      <a:pt x="404" y="743"/>
                      <a:pt x="394" y="752"/>
                      <a:pt x="375" y="752"/>
                    </a:cubicBezTo>
                    <a:cubicBezTo>
                      <a:pt x="376" y="758"/>
                      <a:pt x="376" y="767"/>
                      <a:pt x="376" y="775"/>
                    </a:cubicBezTo>
                    <a:cubicBezTo>
                      <a:pt x="376" y="806"/>
                      <a:pt x="372" y="815"/>
                      <a:pt x="368" y="818"/>
                    </a:cubicBezTo>
                    <a:cubicBezTo>
                      <a:pt x="365" y="822"/>
                      <a:pt x="357" y="827"/>
                      <a:pt x="327" y="826"/>
                    </a:cubicBezTo>
                    <a:cubicBezTo>
                      <a:pt x="322" y="826"/>
                      <a:pt x="312" y="826"/>
                      <a:pt x="304" y="825"/>
                    </a:cubicBezTo>
                    <a:cubicBezTo>
                      <a:pt x="304" y="882"/>
                      <a:pt x="304" y="882"/>
                      <a:pt x="304" y="882"/>
                    </a:cubicBezTo>
                    <a:cubicBezTo>
                      <a:pt x="304" y="886"/>
                      <a:pt x="301" y="889"/>
                      <a:pt x="297" y="889"/>
                    </a:cubicBezTo>
                    <a:cubicBezTo>
                      <a:pt x="297" y="889"/>
                      <a:pt x="294" y="890"/>
                      <a:pt x="289" y="890"/>
                    </a:cubicBezTo>
                    <a:cubicBezTo>
                      <a:pt x="273" y="890"/>
                      <a:pt x="236" y="887"/>
                      <a:pt x="206" y="869"/>
                    </a:cubicBezTo>
                    <a:cubicBezTo>
                      <a:pt x="204" y="868"/>
                      <a:pt x="202" y="866"/>
                      <a:pt x="202" y="863"/>
                    </a:cubicBezTo>
                    <a:cubicBezTo>
                      <a:pt x="200" y="826"/>
                      <a:pt x="200" y="826"/>
                      <a:pt x="200" y="826"/>
                    </a:cubicBezTo>
                    <a:cubicBezTo>
                      <a:pt x="151" y="806"/>
                      <a:pt x="73" y="749"/>
                      <a:pt x="132" y="627"/>
                    </a:cubicBezTo>
                    <a:cubicBezTo>
                      <a:pt x="150" y="591"/>
                      <a:pt x="192" y="553"/>
                      <a:pt x="262" y="553"/>
                    </a:cubicBezTo>
                    <a:cubicBezTo>
                      <a:pt x="342" y="553"/>
                      <a:pt x="375" y="590"/>
                      <a:pt x="371" y="606"/>
                    </a:cubicBezTo>
                    <a:cubicBezTo>
                      <a:pt x="370" y="609"/>
                      <a:pt x="368" y="612"/>
                      <a:pt x="366" y="615"/>
                    </a:cubicBezTo>
                    <a:cubicBezTo>
                      <a:pt x="370" y="620"/>
                      <a:pt x="379" y="633"/>
                      <a:pt x="377" y="654"/>
                    </a:cubicBezTo>
                    <a:cubicBezTo>
                      <a:pt x="377" y="664"/>
                      <a:pt x="378" y="683"/>
                      <a:pt x="379" y="686"/>
                    </a:cubicBezTo>
                    <a:cubicBezTo>
                      <a:pt x="382" y="693"/>
                      <a:pt x="388" y="703"/>
                      <a:pt x="394" y="709"/>
                    </a:cubicBezTo>
                    <a:cubicBezTo>
                      <a:pt x="400" y="715"/>
                      <a:pt x="410" y="729"/>
                      <a:pt x="406" y="737"/>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grpSp>
      </p:grpSp>
      <p:sp>
        <p:nvSpPr>
          <p:cNvPr id="8" name="Trapezoid 2">
            <a:extLst>
              <a:ext uri="{FF2B5EF4-FFF2-40B4-BE49-F238E27FC236}">
                <a16:creationId xmlns:a16="http://schemas.microsoft.com/office/drawing/2014/main" id="{D911AA6B-6C0F-73A4-8380-CE97BB1994F2}"/>
              </a:ext>
            </a:extLst>
          </p:cNvPr>
          <p:cNvSpPr/>
          <p:nvPr/>
        </p:nvSpPr>
        <p:spPr>
          <a:xfrm>
            <a:off x="842121" y="2128398"/>
            <a:ext cx="3557965" cy="311473"/>
          </a:xfrm>
          <a:custGeom>
            <a:avLst/>
            <a:gdLst>
              <a:gd name="connsiteX0" fmla="*/ 0 w 3308156"/>
              <a:gd name="connsiteY0" fmla="*/ 274320 h 274320"/>
              <a:gd name="connsiteX1" fmla="*/ 983794 w 3308156"/>
              <a:gd name="connsiteY1" fmla="*/ 0 h 274320"/>
              <a:gd name="connsiteX2" fmla="*/ 2324362 w 3308156"/>
              <a:gd name="connsiteY2" fmla="*/ 0 h 274320"/>
              <a:gd name="connsiteX3" fmla="*/ 3308156 w 3308156"/>
              <a:gd name="connsiteY3" fmla="*/ 274320 h 274320"/>
              <a:gd name="connsiteX4" fmla="*/ 0 w 3308156"/>
              <a:gd name="connsiteY4" fmla="*/ 274320 h 274320"/>
              <a:gd name="connsiteX0" fmla="*/ 0 w 3308156"/>
              <a:gd name="connsiteY0" fmla="*/ 274320 h 274320"/>
              <a:gd name="connsiteX1" fmla="*/ 1100752 w 3308156"/>
              <a:gd name="connsiteY1" fmla="*/ 0 h 274320"/>
              <a:gd name="connsiteX2" fmla="*/ 2324362 w 3308156"/>
              <a:gd name="connsiteY2" fmla="*/ 0 h 274320"/>
              <a:gd name="connsiteX3" fmla="*/ 3308156 w 3308156"/>
              <a:gd name="connsiteY3" fmla="*/ 274320 h 274320"/>
              <a:gd name="connsiteX4" fmla="*/ 0 w 3308156"/>
              <a:gd name="connsiteY4" fmla="*/ 274320 h 274320"/>
              <a:gd name="connsiteX0" fmla="*/ 0 w 3308156"/>
              <a:gd name="connsiteY0" fmla="*/ 295585 h 295585"/>
              <a:gd name="connsiteX1" fmla="*/ 1100752 w 3308156"/>
              <a:gd name="connsiteY1" fmla="*/ 21265 h 295585"/>
              <a:gd name="connsiteX2" fmla="*/ 2186139 w 3308156"/>
              <a:gd name="connsiteY2" fmla="*/ 0 h 295585"/>
              <a:gd name="connsiteX3" fmla="*/ 3308156 w 3308156"/>
              <a:gd name="connsiteY3" fmla="*/ 295585 h 295585"/>
              <a:gd name="connsiteX4" fmla="*/ 0 w 3308156"/>
              <a:gd name="connsiteY4" fmla="*/ 295585 h 295585"/>
              <a:gd name="connsiteX0" fmla="*/ 0 w 3308156"/>
              <a:gd name="connsiteY0" fmla="*/ 295585 h 295585"/>
              <a:gd name="connsiteX1" fmla="*/ 1175180 w 3308156"/>
              <a:gd name="connsiteY1" fmla="*/ 10633 h 295585"/>
              <a:gd name="connsiteX2" fmla="*/ 2186139 w 3308156"/>
              <a:gd name="connsiteY2" fmla="*/ 0 h 295585"/>
              <a:gd name="connsiteX3" fmla="*/ 3308156 w 3308156"/>
              <a:gd name="connsiteY3" fmla="*/ 295585 h 295585"/>
              <a:gd name="connsiteX4" fmla="*/ 0 w 3308156"/>
              <a:gd name="connsiteY4" fmla="*/ 295585 h 295585"/>
              <a:gd name="connsiteX0" fmla="*/ 0 w 3308156"/>
              <a:gd name="connsiteY0" fmla="*/ 295585 h 295585"/>
              <a:gd name="connsiteX1" fmla="*/ 1175180 w 3308156"/>
              <a:gd name="connsiteY1" fmla="*/ 10633 h 295585"/>
              <a:gd name="connsiteX2" fmla="*/ 2132977 w 3308156"/>
              <a:gd name="connsiteY2" fmla="*/ 0 h 295585"/>
              <a:gd name="connsiteX3" fmla="*/ 3308156 w 3308156"/>
              <a:gd name="connsiteY3" fmla="*/ 295585 h 295585"/>
              <a:gd name="connsiteX4" fmla="*/ 0 w 3308156"/>
              <a:gd name="connsiteY4" fmla="*/ 295585 h 295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8156" h="295585">
                <a:moveTo>
                  <a:pt x="0" y="295585"/>
                </a:moveTo>
                <a:lnTo>
                  <a:pt x="1175180" y="10633"/>
                </a:lnTo>
                <a:lnTo>
                  <a:pt x="2132977" y="0"/>
                </a:lnTo>
                <a:lnTo>
                  <a:pt x="3308156" y="295585"/>
                </a:lnTo>
                <a:lnTo>
                  <a:pt x="0" y="295585"/>
                </a:lnTo>
                <a:close/>
              </a:path>
            </a:pathLst>
          </a:custGeom>
          <a:gradFill flip="none" rotWithShape="1">
            <a:gsLst>
              <a:gs pos="0">
                <a:schemeClr val="tx2">
                  <a:alpha val="30000"/>
                </a:schemeClr>
              </a:gs>
              <a:gs pos="100000">
                <a:schemeClr val="tx2">
                  <a:alpha val="0"/>
                </a:schemeClr>
              </a:gs>
            </a:gsLst>
            <a:lin ang="16200000" scaled="1"/>
            <a:tileRect/>
          </a:gra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sz="1200" b="0" i="0" u="none" strike="noStrike" kern="1200" cap="none" spc="0" normalizeH="0" baseline="0" noProof="0">
              <a:ln>
                <a:noFill/>
              </a:ln>
              <a:solidFill>
                <a:srgbClr val="435264"/>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10" name="Trapezoid 2">
            <a:extLst>
              <a:ext uri="{FF2B5EF4-FFF2-40B4-BE49-F238E27FC236}">
                <a16:creationId xmlns:a16="http://schemas.microsoft.com/office/drawing/2014/main" id="{CA3C2D50-D240-CAF9-3F97-65178AD0E9DB}"/>
              </a:ext>
            </a:extLst>
          </p:cNvPr>
          <p:cNvSpPr/>
          <p:nvPr/>
        </p:nvSpPr>
        <p:spPr>
          <a:xfrm>
            <a:off x="4439441" y="1821030"/>
            <a:ext cx="3557965" cy="311473"/>
          </a:xfrm>
          <a:custGeom>
            <a:avLst/>
            <a:gdLst>
              <a:gd name="connsiteX0" fmla="*/ 0 w 3308156"/>
              <a:gd name="connsiteY0" fmla="*/ 274320 h 274320"/>
              <a:gd name="connsiteX1" fmla="*/ 983794 w 3308156"/>
              <a:gd name="connsiteY1" fmla="*/ 0 h 274320"/>
              <a:gd name="connsiteX2" fmla="*/ 2324362 w 3308156"/>
              <a:gd name="connsiteY2" fmla="*/ 0 h 274320"/>
              <a:gd name="connsiteX3" fmla="*/ 3308156 w 3308156"/>
              <a:gd name="connsiteY3" fmla="*/ 274320 h 274320"/>
              <a:gd name="connsiteX4" fmla="*/ 0 w 3308156"/>
              <a:gd name="connsiteY4" fmla="*/ 274320 h 274320"/>
              <a:gd name="connsiteX0" fmla="*/ 0 w 3308156"/>
              <a:gd name="connsiteY0" fmla="*/ 274320 h 274320"/>
              <a:gd name="connsiteX1" fmla="*/ 1100752 w 3308156"/>
              <a:gd name="connsiteY1" fmla="*/ 0 h 274320"/>
              <a:gd name="connsiteX2" fmla="*/ 2324362 w 3308156"/>
              <a:gd name="connsiteY2" fmla="*/ 0 h 274320"/>
              <a:gd name="connsiteX3" fmla="*/ 3308156 w 3308156"/>
              <a:gd name="connsiteY3" fmla="*/ 274320 h 274320"/>
              <a:gd name="connsiteX4" fmla="*/ 0 w 3308156"/>
              <a:gd name="connsiteY4" fmla="*/ 274320 h 274320"/>
              <a:gd name="connsiteX0" fmla="*/ 0 w 3308156"/>
              <a:gd name="connsiteY0" fmla="*/ 295585 h 295585"/>
              <a:gd name="connsiteX1" fmla="*/ 1100752 w 3308156"/>
              <a:gd name="connsiteY1" fmla="*/ 21265 h 295585"/>
              <a:gd name="connsiteX2" fmla="*/ 2186139 w 3308156"/>
              <a:gd name="connsiteY2" fmla="*/ 0 h 295585"/>
              <a:gd name="connsiteX3" fmla="*/ 3308156 w 3308156"/>
              <a:gd name="connsiteY3" fmla="*/ 295585 h 295585"/>
              <a:gd name="connsiteX4" fmla="*/ 0 w 3308156"/>
              <a:gd name="connsiteY4" fmla="*/ 295585 h 295585"/>
              <a:gd name="connsiteX0" fmla="*/ 0 w 3308156"/>
              <a:gd name="connsiteY0" fmla="*/ 295585 h 295585"/>
              <a:gd name="connsiteX1" fmla="*/ 1175180 w 3308156"/>
              <a:gd name="connsiteY1" fmla="*/ 10633 h 295585"/>
              <a:gd name="connsiteX2" fmla="*/ 2186139 w 3308156"/>
              <a:gd name="connsiteY2" fmla="*/ 0 h 295585"/>
              <a:gd name="connsiteX3" fmla="*/ 3308156 w 3308156"/>
              <a:gd name="connsiteY3" fmla="*/ 295585 h 295585"/>
              <a:gd name="connsiteX4" fmla="*/ 0 w 3308156"/>
              <a:gd name="connsiteY4" fmla="*/ 295585 h 295585"/>
              <a:gd name="connsiteX0" fmla="*/ 0 w 3308156"/>
              <a:gd name="connsiteY0" fmla="*/ 295585 h 295585"/>
              <a:gd name="connsiteX1" fmla="*/ 1175180 w 3308156"/>
              <a:gd name="connsiteY1" fmla="*/ 10633 h 295585"/>
              <a:gd name="connsiteX2" fmla="*/ 2132977 w 3308156"/>
              <a:gd name="connsiteY2" fmla="*/ 0 h 295585"/>
              <a:gd name="connsiteX3" fmla="*/ 3308156 w 3308156"/>
              <a:gd name="connsiteY3" fmla="*/ 295585 h 295585"/>
              <a:gd name="connsiteX4" fmla="*/ 0 w 3308156"/>
              <a:gd name="connsiteY4" fmla="*/ 295585 h 295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8156" h="295585">
                <a:moveTo>
                  <a:pt x="0" y="295585"/>
                </a:moveTo>
                <a:lnTo>
                  <a:pt x="1175180" y="10633"/>
                </a:lnTo>
                <a:lnTo>
                  <a:pt x="2132977" y="0"/>
                </a:lnTo>
                <a:lnTo>
                  <a:pt x="3308156" y="295585"/>
                </a:lnTo>
                <a:lnTo>
                  <a:pt x="0" y="295585"/>
                </a:lnTo>
                <a:close/>
              </a:path>
            </a:pathLst>
          </a:custGeom>
          <a:gradFill flip="none" rotWithShape="1">
            <a:gsLst>
              <a:gs pos="0">
                <a:schemeClr val="tx2">
                  <a:alpha val="30000"/>
                </a:schemeClr>
              </a:gs>
              <a:gs pos="100000">
                <a:schemeClr val="tx2">
                  <a:alpha val="0"/>
                </a:schemeClr>
              </a:gs>
            </a:gsLst>
            <a:lin ang="16200000" scaled="1"/>
            <a:tileRect/>
          </a:gra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sz="1200" b="1" i="0" u="none" strike="noStrike" kern="1200" cap="none" spc="0" normalizeH="0" baseline="0" noProof="0">
              <a:ln>
                <a:noFill/>
              </a:ln>
              <a:solidFill>
                <a:srgbClr val="435264"/>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12" name="Trapezoid 2">
            <a:extLst>
              <a:ext uri="{FF2B5EF4-FFF2-40B4-BE49-F238E27FC236}">
                <a16:creationId xmlns:a16="http://schemas.microsoft.com/office/drawing/2014/main" id="{2CC0C635-B74F-1EC9-4A4F-B2EFA9780353}"/>
              </a:ext>
            </a:extLst>
          </p:cNvPr>
          <p:cNvSpPr/>
          <p:nvPr/>
        </p:nvSpPr>
        <p:spPr>
          <a:xfrm>
            <a:off x="7963473" y="1556631"/>
            <a:ext cx="3557965" cy="311473"/>
          </a:xfrm>
          <a:custGeom>
            <a:avLst/>
            <a:gdLst>
              <a:gd name="connsiteX0" fmla="*/ 0 w 3308156"/>
              <a:gd name="connsiteY0" fmla="*/ 274320 h 274320"/>
              <a:gd name="connsiteX1" fmla="*/ 983794 w 3308156"/>
              <a:gd name="connsiteY1" fmla="*/ 0 h 274320"/>
              <a:gd name="connsiteX2" fmla="*/ 2324362 w 3308156"/>
              <a:gd name="connsiteY2" fmla="*/ 0 h 274320"/>
              <a:gd name="connsiteX3" fmla="*/ 3308156 w 3308156"/>
              <a:gd name="connsiteY3" fmla="*/ 274320 h 274320"/>
              <a:gd name="connsiteX4" fmla="*/ 0 w 3308156"/>
              <a:gd name="connsiteY4" fmla="*/ 274320 h 274320"/>
              <a:gd name="connsiteX0" fmla="*/ 0 w 3308156"/>
              <a:gd name="connsiteY0" fmla="*/ 274320 h 274320"/>
              <a:gd name="connsiteX1" fmla="*/ 1100752 w 3308156"/>
              <a:gd name="connsiteY1" fmla="*/ 0 h 274320"/>
              <a:gd name="connsiteX2" fmla="*/ 2324362 w 3308156"/>
              <a:gd name="connsiteY2" fmla="*/ 0 h 274320"/>
              <a:gd name="connsiteX3" fmla="*/ 3308156 w 3308156"/>
              <a:gd name="connsiteY3" fmla="*/ 274320 h 274320"/>
              <a:gd name="connsiteX4" fmla="*/ 0 w 3308156"/>
              <a:gd name="connsiteY4" fmla="*/ 274320 h 274320"/>
              <a:gd name="connsiteX0" fmla="*/ 0 w 3308156"/>
              <a:gd name="connsiteY0" fmla="*/ 295585 h 295585"/>
              <a:gd name="connsiteX1" fmla="*/ 1100752 w 3308156"/>
              <a:gd name="connsiteY1" fmla="*/ 21265 h 295585"/>
              <a:gd name="connsiteX2" fmla="*/ 2186139 w 3308156"/>
              <a:gd name="connsiteY2" fmla="*/ 0 h 295585"/>
              <a:gd name="connsiteX3" fmla="*/ 3308156 w 3308156"/>
              <a:gd name="connsiteY3" fmla="*/ 295585 h 295585"/>
              <a:gd name="connsiteX4" fmla="*/ 0 w 3308156"/>
              <a:gd name="connsiteY4" fmla="*/ 295585 h 295585"/>
              <a:gd name="connsiteX0" fmla="*/ 0 w 3308156"/>
              <a:gd name="connsiteY0" fmla="*/ 295585 h 295585"/>
              <a:gd name="connsiteX1" fmla="*/ 1175180 w 3308156"/>
              <a:gd name="connsiteY1" fmla="*/ 10633 h 295585"/>
              <a:gd name="connsiteX2" fmla="*/ 2186139 w 3308156"/>
              <a:gd name="connsiteY2" fmla="*/ 0 h 295585"/>
              <a:gd name="connsiteX3" fmla="*/ 3308156 w 3308156"/>
              <a:gd name="connsiteY3" fmla="*/ 295585 h 295585"/>
              <a:gd name="connsiteX4" fmla="*/ 0 w 3308156"/>
              <a:gd name="connsiteY4" fmla="*/ 295585 h 295585"/>
              <a:gd name="connsiteX0" fmla="*/ 0 w 3308156"/>
              <a:gd name="connsiteY0" fmla="*/ 295585 h 295585"/>
              <a:gd name="connsiteX1" fmla="*/ 1175180 w 3308156"/>
              <a:gd name="connsiteY1" fmla="*/ 10633 h 295585"/>
              <a:gd name="connsiteX2" fmla="*/ 2132977 w 3308156"/>
              <a:gd name="connsiteY2" fmla="*/ 0 h 295585"/>
              <a:gd name="connsiteX3" fmla="*/ 3308156 w 3308156"/>
              <a:gd name="connsiteY3" fmla="*/ 295585 h 295585"/>
              <a:gd name="connsiteX4" fmla="*/ 0 w 3308156"/>
              <a:gd name="connsiteY4" fmla="*/ 295585 h 295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8156" h="295585">
                <a:moveTo>
                  <a:pt x="0" y="295585"/>
                </a:moveTo>
                <a:lnTo>
                  <a:pt x="1175180" y="10633"/>
                </a:lnTo>
                <a:lnTo>
                  <a:pt x="2132977" y="0"/>
                </a:lnTo>
                <a:lnTo>
                  <a:pt x="3308156" y="295585"/>
                </a:lnTo>
                <a:lnTo>
                  <a:pt x="0" y="295585"/>
                </a:lnTo>
                <a:close/>
              </a:path>
            </a:pathLst>
          </a:custGeom>
          <a:gradFill flip="none" rotWithShape="1">
            <a:gsLst>
              <a:gs pos="0">
                <a:schemeClr val="tx2">
                  <a:alpha val="30000"/>
                </a:schemeClr>
              </a:gs>
              <a:gs pos="100000">
                <a:schemeClr val="tx2">
                  <a:alpha val="0"/>
                </a:schemeClr>
              </a:gs>
            </a:gsLst>
            <a:lin ang="16200000" scaled="1"/>
            <a:tileRect/>
          </a:gra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sz="1200" b="0" i="0" u="none" strike="noStrike" kern="1200" cap="none" spc="0" normalizeH="0" baseline="0" noProof="0">
              <a:ln>
                <a:noFill/>
              </a:ln>
              <a:solidFill>
                <a:srgbClr val="435264"/>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120" name="Rectangle 119">
            <a:extLst>
              <a:ext uri="{FF2B5EF4-FFF2-40B4-BE49-F238E27FC236}">
                <a16:creationId xmlns:a16="http://schemas.microsoft.com/office/drawing/2014/main" id="{EA1C91D6-5047-4618-896F-A3182317B075}"/>
              </a:ext>
            </a:extLst>
          </p:cNvPr>
          <p:cNvSpPr/>
          <p:nvPr/>
        </p:nvSpPr>
        <p:spPr>
          <a:xfrm>
            <a:off x="409797" y="2967979"/>
            <a:ext cx="551422" cy="444385"/>
          </a:xfrm>
          <a:prstGeom prst="rect">
            <a:avLst/>
          </a:prstGeom>
          <a:noFill/>
          <a:ln w="9525" cap="flat" cmpd="sng" algn="ctr">
            <a:noFill/>
            <a:prstDash val="sysDot"/>
            <a:round/>
            <a:headEnd type="none" w="med" len="med"/>
            <a:tailEnd type="none" w="med" len="med"/>
          </a:ln>
          <a:extLst>
            <a:ext uri="{909E8E84-426E-40DD-AFC4-6F175D3DCCD1}">
              <a14:hiddenFill xmlns:a14="http://schemas.microsoft.com/office/drawing/2010/main">
                <a:gradFill>
                  <a:gsLst>
                    <a:gs pos="0">
                      <a:schemeClr val="tx2">
                        <a:alpha val="80000"/>
                      </a:schemeClr>
                    </a:gs>
                    <a:gs pos="100000">
                      <a:schemeClr val="accent1">
                        <a:alpha val="76000"/>
                      </a:schemeClr>
                    </a:gs>
                  </a:gsLst>
                  <a:lin ang="13500000" scaled="0"/>
                </a:gradFill>
              </a14:hiddenFill>
            </a:ext>
            <a:ext uri="{91240B29-F687-4F45-9708-019B960494DF}">
              <a14:hiddenLine xmlns:a14="http://schemas.microsoft.com/office/drawing/2010/main" w="9525" cap="flat" cmpd="sng" algn="ctr">
                <a:solidFill>
                  <a:srgbClr val="FFFFFF"/>
                </a:solidFill>
                <a:prstDash val="sysDot"/>
                <a:round/>
                <a:headEnd type="none" w="med" len="med"/>
                <a:tailEnd type="none" w="med" len="med"/>
              </a14:hiddenLine>
            </a:ext>
          </a:extLst>
        </p:spPr>
        <p:txBody>
          <a:bodyPr vert="horz" wrap="square" lIns="0" tIns="0" rIns="0" bIns="0" anchor="ctr" anchorCtr="0">
            <a:noAutofit/>
          </a:bodyPr>
          <a:lstStyle/>
          <a:p>
            <a:pPr indent="-349200" algn="ctr">
              <a:buClr>
                <a:schemeClr val="tx2"/>
              </a:buClr>
            </a:pPr>
            <a:r>
              <a:rPr lang="zh-TW" altLang="en-US" sz="1400" b="1" i="1">
                <a:solidFill>
                  <a:srgbClr val="29BA74"/>
                </a:solidFill>
                <a:latin typeface="Microsoft YaHei" panose="020B0503020204020204" pitchFamily="34" charset="-122"/>
                <a:ea typeface="Microsoft YaHei" panose="020B0503020204020204" pitchFamily="34" charset="-122"/>
                <a:sym typeface="Microsoft YaHei" panose="020B0503020204020204" pitchFamily="34" charset="-122"/>
              </a:rPr>
              <a:t>目標</a:t>
            </a:r>
            <a:endParaRPr lang="en-US" sz="1400" b="1" i="1">
              <a:solidFill>
                <a:srgbClr val="29BA74"/>
              </a:solidFill>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7" name="îṩḻîďê">
            <a:extLst>
              <a:ext uri="{FF2B5EF4-FFF2-40B4-BE49-F238E27FC236}">
                <a16:creationId xmlns:a16="http://schemas.microsoft.com/office/drawing/2014/main" id="{F4AB9651-EE25-8012-5A0E-D875D9878923}"/>
              </a:ext>
            </a:extLst>
          </p:cNvPr>
          <p:cNvSpPr/>
          <p:nvPr/>
        </p:nvSpPr>
        <p:spPr>
          <a:xfrm rot="5400000">
            <a:off x="2446489" y="878991"/>
            <a:ext cx="496891" cy="3557965"/>
          </a:xfrm>
          <a:prstGeom prst="corner">
            <a:avLst>
              <a:gd name="adj1" fmla="val 23430"/>
              <a:gd name="adj2" fmla="val 21958"/>
            </a:avLst>
          </a:prstGeom>
          <a:gradFill>
            <a:gsLst>
              <a:gs pos="100000">
                <a:schemeClr val="accent2"/>
              </a:gs>
              <a:gs pos="0">
                <a:schemeClr val="tx2"/>
              </a:gs>
            </a:gsLst>
            <a:lin ang="2400000" scaled="0"/>
          </a:gradFill>
          <a:ln w="9525" cap="rnd" cmpd="sng" algn="ctr">
            <a:noFill/>
            <a:prstDash val="solid"/>
            <a:round/>
            <a:headEnd type="none" w="med" len="med"/>
            <a:tailEnd type="none" w="med" len="med"/>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10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129" name="Title 1">
            <a:extLst>
              <a:ext uri="{FF2B5EF4-FFF2-40B4-BE49-F238E27FC236}">
                <a16:creationId xmlns:a16="http://schemas.microsoft.com/office/drawing/2014/main" id="{1B43874C-8FDA-3D92-F3CF-9289CAB63CB6}"/>
              </a:ext>
            </a:extLst>
          </p:cNvPr>
          <p:cNvSpPr txBox="1">
            <a:spLocks/>
          </p:cNvSpPr>
          <p:nvPr/>
        </p:nvSpPr>
        <p:spPr>
          <a:xfrm>
            <a:off x="915953" y="2633079"/>
            <a:ext cx="3557965" cy="249299"/>
          </a:xfrm>
          <a:prstGeom prst="rect">
            <a:avLst/>
          </a:prstGeom>
        </p:spPr>
        <p:txBody>
          <a:bodyPr vert="horz" wrap="square" lIns="0" tIns="0" rIns="0" bIns="0" rtlCol="0" anchor="t">
            <a:spAutoFit/>
          </a:bodyPr>
          <a:lstStyle>
            <a:defPPr>
              <a:defRPr lang="en-US"/>
            </a:defPPr>
            <a:lvl1pPr marR="0" lvl="0" indent="0" algn="ctr" fontAlgn="auto">
              <a:lnSpc>
                <a:spcPct val="90000"/>
              </a:lnSpc>
              <a:spcBef>
                <a:spcPts val="0"/>
              </a:spcBef>
              <a:spcAft>
                <a:spcPts val="0"/>
              </a:spcAft>
              <a:buClrTx/>
              <a:buSzTx/>
              <a:buFontTx/>
              <a:buNone/>
              <a:tabLst/>
              <a:defRPr kumimoji="0" b="1" i="0" u="none" strike="noStrike" kern="0" cap="none" spc="0" normalizeH="0" baseline="0">
                <a:ln>
                  <a:noFill/>
                </a:ln>
                <a:solidFill>
                  <a:srgbClr val="29BA74"/>
                </a:solidFill>
                <a:uLnTx/>
                <a:uFillTx/>
                <a:latin typeface="Microsoft YaHei" panose="020B0503020204020204" pitchFamily="34" charset="-122"/>
                <a:ea typeface="Microsoft YaHei" panose="020B0503020204020204" pitchFamily="34" charset="-122"/>
                <a:cs typeface="+mj-cs"/>
              </a:defRPr>
            </a:lvl1pPr>
          </a:lstStyle>
          <a:p>
            <a:r>
              <a:rPr lang="zh-TW" altLang="en-US">
                <a:sym typeface="Microsoft YaHei" panose="020B0503020204020204" pitchFamily="34" charset="-122"/>
              </a:rPr>
              <a:t>綁定代扣繳</a:t>
            </a:r>
          </a:p>
        </p:txBody>
      </p:sp>
      <p:sp>
        <p:nvSpPr>
          <p:cNvPr id="9" name="iṧ1îḓé">
            <a:extLst>
              <a:ext uri="{FF2B5EF4-FFF2-40B4-BE49-F238E27FC236}">
                <a16:creationId xmlns:a16="http://schemas.microsoft.com/office/drawing/2014/main" id="{3C47C910-33F1-404C-F51A-DE9EB15B6FAF}"/>
              </a:ext>
            </a:extLst>
          </p:cNvPr>
          <p:cNvSpPr/>
          <p:nvPr/>
        </p:nvSpPr>
        <p:spPr>
          <a:xfrm rot="5400000">
            <a:off x="5966060" y="534808"/>
            <a:ext cx="410340" cy="3583339"/>
          </a:xfrm>
          <a:prstGeom prst="corner">
            <a:avLst>
              <a:gd name="adj1" fmla="val 23430"/>
              <a:gd name="adj2" fmla="val 21958"/>
            </a:avLst>
          </a:prstGeom>
          <a:gradFill>
            <a:gsLst>
              <a:gs pos="100000">
                <a:schemeClr val="accent2"/>
              </a:gs>
              <a:gs pos="0">
                <a:schemeClr val="tx2"/>
              </a:gs>
            </a:gsLst>
            <a:lin ang="2400000" scaled="0"/>
          </a:gradFill>
          <a:ln w="9525" cap="rnd" cmpd="sng" algn="ctr">
            <a:noFill/>
            <a:prstDash val="solid"/>
            <a:round/>
            <a:headEnd type="none" w="med" len="med"/>
            <a:tailEnd type="none" w="med" len="med"/>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10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130" name="Title 1">
            <a:extLst>
              <a:ext uri="{FF2B5EF4-FFF2-40B4-BE49-F238E27FC236}">
                <a16:creationId xmlns:a16="http://schemas.microsoft.com/office/drawing/2014/main" id="{F605ABDB-A235-4505-8F59-69EAB1A939CC}"/>
              </a:ext>
            </a:extLst>
          </p:cNvPr>
          <p:cNvSpPr txBox="1">
            <a:spLocks/>
          </p:cNvSpPr>
          <p:nvPr/>
        </p:nvSpPr>
        <p:spPr>
          <a:xfrm>
            <a:off x="4898646" y="2503728"/>
            <a:ext cx="2639555" cy="249299"/>
          </a:xfrm>
          <a:prstGeom prst="rect">
            <a:avLst/>
          </a:prstGeom>
        </p:spPr>
        <p:txBody>
          <a:bodyPr vert="horz" wrap="square" lIns="0" tIns="0" rIns="0" bIns="0" rtlCol="0" anchor="t">
            <a:sp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sym typeface="Trebuchet MS" panose="020B0603020202020204" pitchFamily="34" charset="0"/>
              </a:defRPr>
            </a:lvl1pPr>
          </a:lstStyle>
          <a:p>
            <a:pPr marL="0" marR="0" lvl="0" indent="0" algn="ctr" defTabSz="914400" rtl="0" eaLnBrk="1" fontAlgn="auto" latinLnBrk="0" hangingPunct="1">
              <a:spcBef>
                <a:spcPts val="0"/>
              </a:spcBef>
              <a:spcAft>
                <a:spcPts val="0"/>
              </a:spcAft>
              <a:buClrTx/>
              <a:buSzTx/>
              <a:buFontTx/>
              <a:buNone/>
              <a:tabLst/>
              <a:defRPr/>
            </a:pPr>
            <a:r>
              <a:rPr kumimoji="0" lang="zh-TW" altLang="en-US" sz="1800" b="1" i="0" u="none" strike="noStrike" kern="0" cap="none" spc="0" normalizeH="0" baseline="0" noProof="0">
                <a:ln>
                  <a:noFill/>
                </a:ln>
                <a:solidFill>
                  <a:srgbClr val="29BA74"/>
                </a:solidFill>
                <a:uLnTx/>
                <a:uFillTx/>
                <a:latin typeface="Microsoft YaHei" panose="020B0503020204020204" pitchFamily="34" charset="-122"/>
                <a:ea typeface="Microsoft YaHei" panose="020B0503020204020204" pitchFamily="34" charset="-122"/>
                <a:sym typeface="Microsoft YaHei" panose="020B0503020204020204" pitchFamily="34" charset="-122"/>
              </a:rPr>
              <a:t>發放信卡</a:t>
            </a:r>
          </a:p>
        </p:txBody>
      </p:sp>
      <p:sp>
        <p:nvSpPr>
          <p:cNvPr id="11" name="îşḻîdê">
            <a:extLst>
              <a:ext uri="{FF2B5EF4-FFF2-40B4-BE49-F238E27FC236}">
                <a16:creationId xmlns:a16="http://schemas.microsoft.com/office/drawing/2014/main" id="{7F82F9A2-034B-439A-4987-D08A1E49398A}"/>
              </a:ext>
            </a:extLst>
          </p:cNvPr>
          <p:cNvSpPr/>
          <p:nvPr/>
        </p:nvSpPr>
        <p:spPr>
          <a:xfrm rot="5400000">
            <a:off x="9537286" y="235642"/>
            <a:ext cx="410344" cy="3557965"/>
          </a:xfrm>
          <a:prstGeom prst="corner">
            <a:avLst>
              <a:gd name="adj1" fmla="val 23430"/>
              <a:gd name="adj2" fmla="val 23420"/>
            </a:avLst>
          </a:prstGeom>
          <a:gradFill>
            <a:gsLst>
              <a:gs pos="100000">
                <a:schemeClr val="accent2"/>
              </a:gs>
              <a:gs pos="0">
                <a:schemeClr val="tx2"/>
              </a:gs>
            </a:gsLst>
            <a:lin ang="2400000" scaled="0"/>
          </a:gradFill>
          <a:ln w="9525" cap="rnd" cmpd="sng" algn="ctr">
            <a:noFill/>
            <a:prstDash val="solid"/>
            <a:round/>
            <a:headEnd type="none" w="med" len="med"/>
            <a:tailEnd type="none" w="med" len="med"/>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10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131" name="Title 1">
            <a:extLst>
              <a:ext uri="{FF2B5EF4-FFF2-40B4-BE49-F238E27FC236}">
                <a16:creationId xmlns:a16="http://schemas.microsoft.com/office/drawing/2014/main" id="{BB544FF8-03F0-CD9D-08A2-739DEF8E255A}"/>
              </a:ext>
            </a:extLst>
          </p:cNvPr>
          <p:cNvSpPr txBox="1">
            <a:spLocks/>
          </p:cNvSpPr>
          <p:nvPr/>
        </p:nvSpPr>
        <p:spPr>
          <a:xfrm>
            <a:off x="7963472" y="2405761"/>
            <a:ext cx="3557965" cy="249299"/>
          </a:xfrm>
          <a:prstGeom prst="rect">
            <a:avLst/>
          </a:prstGeom>
        </p:spPr>
        <p:txBody>
          <a:bodyPr vert="horz" wrap="square" lIns="0" tIns="0" rIns="0" bIns="0" rtlCol="0" anchor="t">
            <a:sp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sym typeface="Trebuchet MS" panose="020B0603020202020204" pitchFamily="34" charset="0"/>
              </a:defRPr>
            </a:lvl1pPr>
          </a:lstStyle>
          <a:p>
            <a:pPr algn="ctr">
              <a:buFont typeface="Trebuchet MS" panose="020B0603020202020204" pitchFamily="34" charset="0"/>
              <a:buChar char="​"/>
              <a:defRPr/>
            </a:pPr>
            <a:r>
              <a:rPr lang="zh-TW" altLang="en-US" sz="1800" b="1">
                <a:solidFill>
                  <a:srgbClr val="29BA74"/>
                </a:solidFill>
                <a:latin typeface="Microsoft YaHei" panose="020B0503020204020204" pitchFamily="34" charset="-122"/>
                <a:ea typeface="Microsoft YaHei" panose="020B0503020204020204" pitchFamily="34" charset="-122"/>
                <a:sym typeface="Microsoft YaHei" panose="020B0503020204020204" pitchFamily="34" charset="-122"/>
              </a:rPr>
              <a:t>跨售理財商品</a:t>
            </a:r>
            <a:endParaRPr kumimoji="0" lang="zh-TW" altLang="en-US" sz="1800" b="1" i="0" u="none" strike="noStrike" cap="none" spc="0" normalizeH="0" baseline="0" noProof="0">
              <a:ln>
                <a:noFill/>
              </a:ln>
              <a:solidFill>
                <a:srgbClr val="29BA74"/>
              </a:solidFill>
              <a:uLnTx/>
              <a:uFillTx/>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2" name="Title 1">
            <a:extLst>
              <a:ext uri="{FF2B5EF4-FFF2-40B4-BE49-F238E27FC236}">
                <a16:creationId xmlns:a16="http://schemas.microsoft.com/office/drawing/2014/main" id="{1721FEF7-FB25-D8B4-B50B-1F28DA8C9749}"/>
              </a:ext>
            </a:extLst>
          </p:cNvPr>
          <p:cNvSpPr>
            <a:spLocks noGrp="1"/>
          </p:cNvSpPr>
          <p:nvPr>
            <p:ph type="title"/>
          </p:nvPr>
        </p:nvSpPr>
        <p:spPr>
          <a:xfrm>
            <a:off x="630000" y="622800"/>
            <a:ext cx="10933350" cy="664797"/>
          </a:xfrm>
        </p:spPr>
        <p:txBody>
          <a:bodyPr vert="horz" wrap="square" lIns="0" tIns="0" rIns="0" bIns="0" rtlCol="0" anchor="t">
            <a:spAutoFit/>
          </a:bodyPr>
          <a:lstStyle/>
          <a:p>
            <a:r>
              <a:rPr lang="zh-TW" altLang="en-US">
                <a:solidFill>
                  <a:srgbClr val="29BA74"/>
                </a:solidFill>
                <a:ea typeface="Microsoft YaHei" panose="020B0503020204020204" pitchFamily="34" charset="-122"/>
              </a:rPr>
              <a:t>針對高潜力客群，應先推動其綁定代扣繳、信卡增加接觸頻率，後推動理財商品拉升</a:t>
            </a:r>
            <a:r>
              <a:rPr lang="en-US" altLang="zh-TW">
                <a:solidFill>
                  <a:srgbClr val="29BA74"/>
                </a:solidFill>
                <a:ea typeface="Microsoft YaHei" panose="020B0503020204020204" pitchFamily="34" charset="-122"/>
              </a:rPr>
              <a:t>AUM</a:t>
            </a:r>
            <a:r>
              <a:rPr lang="zh-TW" altLang="en-US">
                <a:solidFill>
                  <a:srgbClr val="29BA74"/>
                </a:solidFill>
                <a:ea typeface="Microsoft YaHei" panose="020B0503020204020204" pitchFamily="34" charset="-122"/>
              </a:rPr>
              <a:t>貢獻</a:t>
            </a:r>
            <a:endParaRPr lang="en-US">
              <a:solidFill>
                <a:srgbClr val="29BA74"/>
              </a:solidFill>
              <a:ea typeface="Microsoft YaHei" panose="020B0503020204020204" pitchFamily="34" charset="-122"/>
            </a:endParaRPr>
          </a:p>
        </p:txBody>
      </p:sp>
      <p:grpSp>
        <p:nvGrpSpPr>
          <p:cNvPr id="103" name="Group 102">
            <a:extLst>
              <a:ext uri="{FF2B5EF4-FFF2-40B4-BE49-F238E27FC236}">
                <a16:creationId xmlns:a16="http://schemas.microsoft.com/office/drawing/2014/main" id="{FC1C8F05-E78F-067E-B980-9FFABDAA2BBE}"/>
              </a:ext>
            </a:extLst>
          </p:cNvPr>
          <p:cNvGrpSpPr/>
          <p:nvPr/>
        </p:nvGrpSpPr>
        <p:grpSpPr>
          <a:xfrm>
            <a:off x="923427" y="2957274"/>
            <a:ext cx="10598012" cy="465794"/>
            <a:chOff x="923427" y="3541337"/>
            <a:chExt cx="10598012" cy="681968"/>
          </a:xfrm>
        </p:grpSpPr>
        <p:sp>
          <p:nvSpPr>
            <p:cNvPr id="98" name="Rectangle 97">
              <a:extLst>
                <a:ext uri="{FF2B5EF4-FFF2-40B4-BE49-F238E27FC236}">
                  <a16:creationId xmlns:a16="http://schemas.microsoft.com/office/drawing/2014/main" id="{9F5823A0-AFC1-B44E-20F1-3E5ACEA5F9F7}"/>
                </a:ext>
              </a:extLst>
            </p:cNvPr>
            <p:cNvSpPr/>
            <p:nvPr/>
          </p:nvSpPr>
          <p:spPr>
            <a:xfrm>
              <a:off x="923427" y="3541337"/>
              <a:ext cx="10598012" cy="681968"/>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solidFill>
                  <a:srgbClr val="29BA74"/>
                </a:solidFill>
                <a:latin typeface="Microsoft YaHei" panose="020B0503020204020204" pitchFamily="34" charset="-122"/>
                <a:ea typeface="Microsoft YaHei" panose="020B0503020204020204" pitchFamily="34" charset="-122"/>
                <a:cs typeface="+mn-ea"/>
                <a:sym typeface="Microsoft YaHei" panose="020B0503020204020204" pitchFamily="34" charset="-122"/>
              </a:endParaRPr>
            </a:p>
          </p:txBody>
        </p:sp>
        <p:sp>
          <p:nvSpPr>
            <p:cNvPr id="99" name="Rectangle 98">
              <a:extLst>
                <a:ext uri="{FF2B5EF4-FFF2-40B4-BE49-F238E27FC236}">
                  <a16:creationId xmlns:a16="http://schemas.microsoft.com/office/drawing/2014/main" id="{756215BD-224F-8905-F14A-9335F88BC863}"/>
                </a:ext>
              </a:extLst>
            </p:cNvPr>
            <p:cNvSpPr/>
            <p:nvPr/>
          </p:nvSpPr>
          <p:spPr>
            <a:xfrm>
              <a:off x="4475267" y="3591551"/>
              <a:ext cx="3486312" cy="581541"/>
            </a:xfrm>
            <a:prstGeom prst="rect">
              <a:avLst/>
            </a:prstGeom>
            <a:noFill/>
            <a:ln w="9525" cap="flat" cmpd="sng" algn="ctr">
              <a:noFill/>
              <a:prstDash val="sysDot"/>
              <a:round/>
              <a:headEnd type="none" w="med" len="med"/>
              <a:tailEnd type="none" w="med" len="med"/>
            </a:ln>
            <a:extLst>
              <a:ext uri="{909E8E84-426E-40DD-AFC4-6F175D3DCCD1}">
                <a14:hiddenFill xmlns:a14="http://schemas.microsoft.com/office/drawing/2010/main">
                  <a:gradFill>
                    <a:gsLst>
                      <a:gs pos="0">
                        <a:schemeClr val="tx2">
                          <a:alpha val="80000"/>
                        </a:schemeClr>
                      </a:gs>
                      <a:gs pos="100000">
                        <a:schemeClr val="accent1">
                          <a:alpha val="76000"/>
                        </a:schemeClr>
                      </a:gs>
                    </a:gsLst>
                    <a:lin ang="13500000" scaled="0"/>
                  </a:gradFill>
                </a14:hiddenFill>
              </a:ext>
              <a:ext uri="{91240B29-F687-4F45-9708-019B960494DF}">
                <a14:hiddenLine xmlns:a14="http://schemas.microsoft.com/office/drawing/2010/main" w="9525" cap="flat" cmpd="sng" algn="ctr">
                  <a:solidFill>
                    <a:srgbClr val="FFFFFF"/>
                  </a:solidFill>
                  <a:prstDash val="sysDot"/>
                  <a:round/>
                  <a:headEnd type="none" w="med" len="med"/>
                  <a:tailEnd type="none" w="med" len="med"/>
                </a14:hiddenLine>
              </a:ext>
            </a:extLst>
          </p:spPr>
          <p:txBody>
            <a:bodyPr wrap="square" tIns="90000" bIns="90000" anchor="ctr" anchorCtr="0">
              <a:spAutoFit/>
            </a:bodyPr>
            <a:lstStyle/>
            <a:p>
              <a:pPr marL="0" lvl="1" algn="ctr">
                <a:buClr>
                  <a:schemeClr val="tx2"/>
                </a:buClr>
              </a:pPr>
              <a:r>
                <a:rPr lang="zh-TW" altLang="en-US" sz="1400" b="1" i="1">
                  <a:solidFill>
                    <a:srgbClr val="29BA74"/>
                  </a:solidFill>
                  <a:latin typeface="Microsoft YaHei" panose="020B0503020204020204" pitchFamily="34" charset="-122"/>
                  <a:ea typeface="Microsoft YaHei" panose="020B0503020204020204" pitchFamily="34" charset="-122"/>
                  <a:sym typeface="Microsoft YaHei" panose="020B0503020204020204" pitchFamily="34" charset="-122"/>
                </a:rPr>
                <a:t>蒐集消費資訊，進而培養未來差異化行銷</a:t>
              </a:r>
              <a:endParaRPr lang="en-US" sz="1400" b="1" i="1">
                <a:solidFill>
                  <a:srgbClr val="29BA74"/>
                </a:solidFill>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100" name="Rectangle 99">
              <a:extLst>
                <a:ext uri="{FF2B5EF4-FFF2-40B4-BE49-F238E27FC236}">
                  <a16:creationId xmlns:a16="http://schemas.microsoft.com/office/drawing/2014/main" id="{AECA057C-B4C6-BF99-80EE-C5A3AB946685}"/>
                </a:ext>
              </a:extLst>
            </p:cNvPr>
            <p:cNvSpPr/>
            <p:nvPr/>
          </p:nvSpPr>
          <p:spPr>
            <a:xfrm>
              <a:off x="7963474" y="3591553"/>
              <a:ext cx="3557965" cy="581541"/>
            </a:xfrm>
            <a:prstGeom prst="rect">
              <a:avLst/>
            </a:prstGeom>
            <a:noFill/>
            <a:ln w="9525" cap="flat" cmpd="sng" algn="ctr">
              <a:noFill/>
              <a:prstDash val="sysDot"/>
              <a:round/>
              <a:headEnd type="none" w="med" len="med"/>
              <a:tailEnd type="none" w="med" len="med"/>
            </a:ln>
            <a:extLst>
              <a:ext uri="{909E8E84-426E-40DD-AFC4-6F175D3DCCD1}">
                <a14:hiddenFill xmlns:a14="http://schemas.microsoft.com/office/drawing/2010/main">
                  <a:gradFill>
                    <a:gsLst>
                      <a:gs pos="0">
                        <a:schemeClr val="tx2">
                          <a:alpha val="80000"/>
                        </a:schemeClr>
                      </a:gs>
                      <a:gs pos="100000">
                        <a:schemeClr val="accent1">
                          <a:alpha val="76000"/>
                        </a:schemeClr>
                      </a:gs>
                    </a:gsLst>
                    <a:lin ang="13500000" scaled="0"/>
                  </a:gradFill>
                </a14:hiddenFill>
              </a:ext>
              <a:ext uri="{91240B29-F687-4F45-9708-019B960494DF}">
                <a14:hiddenLine xmlns:a14="http://schemas.microsoft.com/office/drawing/2010/main" w="9525" cap="flat" cmpd="sng" algn="ctr">
                  <a:solidFill>
                    <a:srgbClr val="FFFFFF"/>
                  </a:solidFill>
                  <a:prstDash val="sysDot"/>
                  <a:round/>
                  <a:headEnd type="none" w="med" len="med"/>
                  <a:tailEnd type="none" w="med" len="med"/>
                </a14:hiddenLine>
              </a:ext>
            </a:extLst>
          </p:spPr>
          <p:txBody>
            <a:bodyPr wrap="square" tIns="90000" bIns="90000" anchor="ctr" anchorCtr="0">
              <a:spAutoFit/>
            </a:bodyPr>
            <a:lstStyle/>
            <a:p>
              <a:pPr marL="0" lvl="1" algn="ctr">
                <a:buClr>
                  <a:schemeClr val="tx2"/>
                </a:buClr>
              </a:pPr>
              <a:r>
                <a:rPr lang="zh-TW" altLang="en-US" sz="1400" b="1" i="1">
                  <a:solidFill>
                    <a:srgbClr val="29BA74"/>
                  </a:solidFill>
                  <a:latin typeface="Microsoft YaHei" panose="020B0503020204020204" pitchFamily="34" charset="-122"/>
                  <a:ea typeface="Microsoft YaHei" panose="020B0503020204020204" pitchFamily="34" charset="-122"/>
                  <a:sym typeface="Microsoft YaHei" panose="020B0503020204020204" pitchFamily="34" charset="-122"/>
                </a:rPr>
                <a:t>跨售理財商品，培養成未來財管客戶</a:t>
              </a:r>
              <a:endParaRPr lang="en-US" sz="1400" b="1" i="1">
                <a:solidFill>
                  <a:srgbClr val="29BA74"/>
                </a:solidFill>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101" name="Rectangle 100">
              <a:extLst>
                <a:ext uri="{FF2B5EF4-FFF2-40B4-BE49-F238E27FC236}">
                  <a16:creationId xmlns:a16="http://schemas.microsoft.com/office/drawing/2014/main" id="{17CDD9F9-FA16-9C43-DFB8-456FD1CFCFAC}"/>
                </a:ext>
              </a:extLst>
            </p:cNvPr>
            <p:cNvSpPr/>
            <p:nvPr/>
          </p:nvSpPr>
          <p:spPr>
            <a:xfrm>
              <a:off x="951780" y="3591553"/>
              <a:ext cx="3486312" cy="581541"/>
            </a:xfrm>
            <a:prstGeom prst="rect">
              <a:avLst/>
            </a:prstGeom>
            <a:noFill/>
            <a:ln w="9525" cap="flat" cmpd="sng" algn="ctr">
              <a:noFill/>
              <a:prstDash val="sysDot"/>
              <a:round/>
              <a:headEnd type="none" w="med" len="med"/>
              <a:tailEnd type="none" w="med" len="med"/>
            </a:ln>
            <a:extLst>
              <a:ext uri="{909E8E84-426E-40DD-AFC4-6F175D3DCCD1}">
                <a14:hiddenFill xmlns:a14="http://schemas.microsoft.com/office/drawing/2010/main">
                  <a:gradFill>
                    <a:gsLst>
                      <a:gs pos="0">
                        <a:schemeClr val="tx2">
                          <a:alpha val="80000"/>
                        </a:schemeClr>
                      </a:gs>
                      <a:gs pos="100000">
                        <a:schemeClr val="accent1">
                          <a:alpha val="76000"/>
                        </a:schemeClr>
                      </a:gs>
                    </a:gsLst>
                    <a:lin ang="13500000" scaled="0"/>
                  </a:gradFill>
                </a14:hiddenFill>
              </a:ext>
              <a:ext uri="{91240B29-F687-4F45-9708-019B960494DF}">
                <a14:hiddenLine xmlns:a14="http://schemas.microsoft.com/office/drawing/2010/main" w="9525" cap="flat" cmpd="sng" algn="ctr">
                  <a:solidFill>
                    <a:srgbClr val="FFFFFF"/>
                  </a:solidFill>
                  <a:prstDash val="sysDot"/>
                  <a:round/>
                  <a:headEnd type="none" w="med" len="med"/>
                  <a:tailEnd type="none" w="med" len="med"/>
                </a14:hiddenLine>
              </a:ext>
            </a:extLst>
          </p:spPr>
          <p:txBody>
            <a:bodyPr wrap="square" tIns="90000" bIns="90000" anchor="ctr" anchorCtr="0">
              <a:spAutoFit/>
            </a:bodyPr>
            <a:lstStyle/>
            <a:p>
              <a:pPr marL="0" lvl="1" algn="ctr">
                <a:buClr>
                  <a:schemeClr val="tx2"/>
                </a:buClr>
              </a:pPr>
              <a:r>
                <a:rPr lang="zh-TW" altLang="en-US" sz="1400" b="1" i="1">
                  <a:solidFill>
                    <a:srgbClr val="29BA74"/>
                  </a:solidFill>
                  <a:latin typeface="Microsoft YaHei" panose="020B0503020204020204" pitchFamily="34" charset="-122"/>
                  <a:ea typeface="Microsoft YaHei" panose="020B0503020204020204" pitchFamily="34" charset="-122"/>
                  <a:sym typeface="Microsoft YaHei" panose="020B0503020204020204" pitchFamily="34" charset="-122"/>
                </a:rPr>
                <a:t>提升接觸頻率，確保客戶有頻繁接觸點</a:t>
              </a:r>
              <a:endParaRPr lang="en-US" sz="1400" b="1" i="1">
                <a:solidFill>
                  <a:srgbClr val="29BA74"/>
                </a:solidFill>
                <a:latin typeface="Microsoft YaHei" panose="020B0503020204020204" pitchFamily="34" charset="-122"/>
                <a:ea typeface="Microsoft YaHei" panose="020B0503020204020204" pitchFamily="34" charset="-122"/>
                <a:sym typeface="Microsoft YaHei" panose="020B0503020204020204" pitchFamily="34" charset="-122"/>
              </a:endParaRPr>
            </a:p>
          </p:txBody>
        </p:sp>
      </p:grpSp>
      <p:sp>
        <p:nvSpPr>
          <p:cNvPr id="125" name="ee4pFootnotes">
            <a:extLst>
              <a:ext uri="{FF2B5EF4-FFF2-40B4-BE49-F238E27FC236}">
                <a16:creationId xmlns:a16="http://schemas.microsoft.com/office/drawing/2014/main" id="{6D8EE595-7CF1-EF7A-5302-DEB205514A91}"/>
              </a:ext>
            </a:extLst>
          </p:cNvPr>
          <p:cNvSpPr>
            <a:spLocks noChangeArrowheads="1"/>
          </p:cNvSpPr>
          <p:nvPr/>
        </p:nvSpPr>
        <p:spPr bwMode="auto">
          <a:xfrm>
            <a:off x="630000" y="6435290"/>
            <a:ext cx="9030914" cy="124650"/>
          </a:xfrm>
          <a:prstGeom prst="rect">
            <a:avLst/>
          </a:prstGeom>
          <a:noFill/>
          <a:ln w="9525" algn="ctr">
            <a:noFill/>
            <a:miter lim="800000"/>
            <a:headEnd type="none" w="lg" len="lg"/>
            <a:tailEnd type="none" w="lg" len="lg"/>
          </a:ln>
        </p:spPr>
        <p:txBody>
          <a:bodyPr vert="horz" wrap="square" lIns="0" tIns="0" rIns="0" bIns="0" anchor="b" anchorCtr="0">
            <a:spAutoFit/>
          </a:bodyPr>
          <a:lstStyle/>
          <a:p>
            <a:pPr>
              <a:lnSpc>
                <a:spcPct val="90000"/>
              </a:lnSpc>
            </a:pPr>
            <a:r>
              <a:rPr lang="zh-TW" altLang="en-US" sz="900">
                <a:solidFill>
                  <a:schemeClr val="bg1">
                    <a:lumMod val="50000"/>
                  </a:schemeClr>
                </a:solidFill>
                <a:latin typeface="+mj-lt"/>
                <a:ea typeface="Microsoft YaHei" panose="020B0503020204020204" pitchFamily="34" charset="-122"/>
                <a:cs typeface="Arial" pitchFamily="34" charset="0"/>
              </a:rPr>
              <a:t>資料來源：凱基銀行；</a:t>
            </a:r>
            <a:r>
              <a:rPr lang="en-US" altLang="zh-TW" sz="900">
                <a:solidFill>
                  <a:schemeClr val="bg1">
                    <a:lumMod val="50000"/>
                  </a:schemeClr>
                </a:solidFill>
                <a:latin typeface="+mj-lt"/>
                <a:ea typeface="Microsoft YaHei" panose="020B0503020204020204" pitchFamily="34" charset="-122"/>
                <a:cs typeface="Arial" pitchFamily="34" charset="0"/>
              </a:rPr>
              <a:t>BCG</a:t>
            </a:r>
            <a:r>
              <a:rPr lang="zh-TW" altLang="en-US" sz="900">
                <a:solidFill>
                  <a:schemeClr val="bg1">
                    <a:lumMod val="50000"/>
                  </a:schemeClr>
                </a:solidFill>
                <a:latin typeface="+mj-lt"/>
                <a:ea typeface="Microsoft YaHei" panose="020B0503020204020204" pitchFamily="34" charset="-122"/>
                <a:cs typeface="Arial" pitchFamily="34" charset="0"/>
              </a:rPr>
              <a:t>分析</a:t>
            </a:r>
            <a:endParaRPr lang="en-US" sz="900">
              <a:solidFill>
                <a:schemeClr val="bg1">
                  <a:lumMod val="50000"/>
                </a:schemeClr>
              </a:solidFill>
              <a:latin typeface="+mj-lt"/>
              <a:ea typeface="Microsoft YaHei" panose="020B0503020204020204" pitchFamily="34" charset="-122"/>
              <a:cs typeface="Arial" pitchFamily="34" charset="0"/>
            </a:endParaRPr>
          </a:p>
        </p:txBody>
      </p:sp>
      <p:graphicFrame>
        <p:nvGraphicFramePr>
          <p:cNvPr id="241" name="Chart 240">
            <a:extLst>
              <a:ext uri="{FF2B5EF4-FFF2-40B4-BE49-F238E27FC236}">
                <a16:creationId xmlns:a16="http://schemas.microsoft.com/office/drawing/2014/main" id="{7AC5AE3E-9CE5-4749-9806-4275A548F599}"/>
              </a:ext>
            </a:extLst>
          </p:cNvPr>
          <p:cNvGraphicFramePr/>
          <p:nvPr>
            <p:custDataLst>
              <p:tags r:id="rId2"/>
            </p:custDataLst>
            <p:extLst>
              <p:ext uri="{D42A27DB-BD31-4B8C-83A1-F6EECF244321}">
                <p14:modId xmlns:p14="http://schemas.microsoft.com/office/powerpoint/2010/main" val="1356799960"/>
              </p:ext>
            </p:extLst>
          </p:nvPr>
        </p:nvGraphicFramePr>
        <p:xfrm>
          <a:off x="4468813" y="4159250"/>
          <a:ext cx="3397250" cy="1716088"/>
        </p:xfrm>
        <a:graphic>
          <a:graphicData uri="http://schemas.openxmlformats.org/drawingml/2006/chart">
            <c:chart xmlns:c="http://schemas.openxmlformats.org/drawingml/2006/chart" xmlns:r="http://schemas.openxmlformats.org/officeDocument/2006/relationships" r:id="rId27"/>
          </a:graphicData>
        </a:graphic>
      </p:graphicFrame>
      <p:cxnSp>
        <p:nvCxnSpPr>
          <p:cNvPr id="118" name="Straight Connector 117">
            <a:extLst>
              <a:ext uri="{FF2B5EF4-FFF2-40B4-BE49-F238E27FC236}">
                <a16:creationId xmlns:a16="http://schemas.microsoft.com/office/drawing/2014/main" id="{3FF69158-45FC-B423-97E2-6E65192A40BE}"/>
              </a:ext>
            </a:extLst>
          </p:cNvPr>
          <p:cNvCxnSpPr/>
          <p:nvPr>
            <p:custDataLst>
              <p:tags r:id="rId3"/>
            </p:custDataLst>
          </p:nvPr>
        </p:nvCxnSpPr>
        <p:spPr bwMode="gray">
          <a:xfrm flipV="1">
            <a:off x="5626100" y="4225925"/>
            <a:ext cx="388938" cy="6350"/>
          </a:xfrm>
          <a:prstGeom prst="line">
            <a:avLst/>
          </a:prstGeom>
          <a:ln w="9525" cap="flat" cmpd="sng" algn="ctr">
            <a:solidFill>
              <a:srgbClr val="7F7F7F"/>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21" name="Straight Connector 220">
            <a:extLst>
              <a:ext uri="{FF2B5EF4-FFF2-40B4-BE49-F238E27FC236}">
                <a16:creationId xmlns:a16="http://schemas.microsoft.com/office/drawing/2014/main" id="{487018D4-639E-C22C-AE67-D0D72865EB77}"/>
              </a:ext>
            </a:extLst>
          </p:cNvPr>
          <p:cNvCxnSpPr/>
          <p:nvPr>
            <p:custDataLst>
              <p:tags r:id="rId4"/>
            </p:custDataLst>
          </p:nvPr>
        </p:nvCxnSpPr>
        <p:spPr bwMode="gray">
          <a:xfrm flipV="1">
            <a:off x="6316663" y="4213225"/>
            <a:ext cx="388938" cy="6350"/>
          </a:xfrm>
          <a:prstGeom prst="line">
            <a:avLst/>
          </a:prstGeom>
          <a:ln w="9525" cap="flat" cmpd="sng" algn="ctr">
            <a:solidFill>
              <a:srgbClr val="7F7F7F"/>
            </a:solidFill>
            <a:prstDash val="solid"/>
            <a:round/>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119" name="Text Placeholder 3">
            <a:extLst>
              <a:ext uri="{FF2B5EF4-FFF2-40B4-BE49-F238E27FC236}">
                <a16:creationId xmlns:a16="http://schemas.microsoft.com/office/drawing/2014/main" id="{76FB9F88-AD99-A888-A993-FEF2B45B766E}"/>
              </a:ext>
            </a:extLst>
          </p:cNvPr>
          <p:cNvSpPr>
            <a:spLocks noGrp="1"/>
          </p:cNvSpPr>
          <p:nvPr>
            <p:custDataLst>
              <p:tags r:id="rId5"/>
            </p:custDataLst>
          </p:nvPr>
        </p:nvSpPr>
        <p:spPr bwMode="gray">
          <a:xfrm>
            <a:off x="5391150" y="5659438"/>
            <a:ext cx="469900" cy="2016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lvl="0" algn="ctr">
              <a:spcBef>
                <a:spcPct val="0"/>
              </a:spcBef>
              <a:spcAft>
                <a:spcPct val="0"/>
              </a:spcAft>
            </a:pPr>
            <a:fld id="{90BDCC85-52F8-4B7D-801E-92FA847EE7AB}" type="datetime'''''''無''''''''''信''''卡'">
              <a:rPr lang="zh-TW" altLang="en-US" smtClean="0"/>
              <a:pPr lvl="0" algn="ctr">
                <a:spcBef>
                  <a:spcPct val="0"/>
                </a:spcBef>
                <a:spcAft>
                  <a:spcPct val="0"/>
                </a:spcAft>
              </a:pPr>
              <a:t>無信卡</a:t>
            </a:fld>
            <a:endParaRPr lang="en-US"/>
          </a:p>
        </p:txBody>
      </p:sp>
      <p:sp>
        <p:nvSpPr>
          <p:cNvPr id="121" name="Text Placeholder 3">
            <a:extLst>
              <a:ext uri="{FF2B5EF4-FFF2-40B4-BE49-F238E27FC236}">
                <a16:creationId xmlns:a16="http://schemas.microsoft.com/office/drawing/2014/main" id="{2EB28877-AE4A-A90D-C361-D4916904E606}"/>
              </a:ext>
            </a:extLst>
          </p:cNvPr>
          <p:cNvSpPr>
            <a:spLocks noGrp="1"/>
          </p:cNvSpPr>
          <p:nvPr>
            <p:custDataLst>
              <p:tags r:id="rId6"/>
            </p:custDataLst>
          </p:nvPr>
        </p:nvSpPr>
        <p:spPr bwMode="gray">
          <a:xfrm>
            <a:off x="6394450" y="5659438"/>
            <a:ext cx="622300" cy="2016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lvl="0" algn="ctr">
              <a:spcBef>
                <a:spcPct val="0"/>
              </a:spcBef>
              <a:spcAft>
                <a:spcPct val="0"/>
              </a:spcAft>
            </a:pPr>
            <a:fld id="{77070DD3-CCEE-4CD2-B189-44009911A22E}" type="datetime'''''''''''''''持''''''''''''''''''有''''''''''''''信''卡'''''''">
              <a:rPr lang="zh-TW" altLang="en-US" smtClean="0"/>
              <a:pPr lvl="0" algn="ctr">
                <a:spcBef>
                  <a:spcPct val="0"/>
                </a:spcBef>
                <a:spcAft>
                  <a:spcPct val="0"/>
                </a:spcAft>
              </a:pPr>
              <a:t>持有信卡</a:t>
            </a:fld>
            <a:endParaRPr lang="en-US"/>
          </a:p>
        </p:txBody>
      </p:sp>
      <p:sp>
        <p:nvSpPr>
          <p:cNvPr id="219" name="Text Placeholder 3">
            <a:extLst>
              <a:ext uri="{FF2B5EF4-FFF2-40B4-BE49-F238E27FC236}">
                <a16:creationId xmlns:a16="http://schemas.microsoft.com/office/drawing/2014/main" id="{532BAD17-CABE-0C93-3CAE-D0DC3BEA6803}"/>
              </a:ext>
            </a:extLst>
          </p:cNvPr>
          <p:cNvSpPr>
            <a:spLocks noGrp="1"/>
          </p:cNvSpPr>
          <p:nvPr>
            <p:custDataLst>
              <p:tags r:id="rId7"/>
            </p:custDataLst>
          </p:nvPr>
        </p:nvSpPr>
        <p:spPr bwMode="gray">
          <a:xfrm>
            <a:off x="5988050" y="4079875"/>
            <a:ext cx="355600" cy="285750"/>
          </a:xfrm>
          <a:prstGeom prst="ellipse">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lvl="0" algn="ctr">
              <a:spcBef>
                <a:spcPct val="0"/>
              </a:spcBef>
              <a:spcAft>
                <a:spcPct val="0"/>
              </a:spcAft>
            </a:pPr>
            <a:fld id="{11471736-8792-4CFE-BE31-C20460BA3B2C}" type="datetime'''''''''''''+''''2''''''''''''''''''''''''%'">
              <a:rPr lang="en-US" altLang="en-US" smtClean="0">
                <a:effectLst/>
              </a:rPr>
              <a:pPr lvl="0" algn="ctr">
                <a:spcBef>
                  <a:spcPct val="0"/>
                </a:spcBef>
                <a:spcAft>
                  <a:spcPct val="0"/>
                </a:spcAft>
              </a:pPr>
              <a:t>+2%</a:t>
            </a:fld>
            <a:endParaRPr lang="en-US"/>
          </a:p>
        </p:txBody>
      </p:sp>
      <p:graphicFrame>
        <p:nvGraphicFramePr>
          <p:cNvPr id="242" name="Chart 241">
            <a:extLst>
              <a:ext uri="{FF2B5EF4-FFF2-40B4-BE49-F238E27FC236}">
                <a16:creationId xmlns:a16="http://schemas.microsoft.com/office/drawing/2014/main" id="{F7E5EA86-853D-F59D-322D-5A7AF0B9306D}"/>
              </a:ext>
            </a:extLst>
          </p:cNvPr>
          <p:cNvGraphicFramePr/>
          <p:nvPr>
            <p:custDataLst>
              <p:tags r:id="rId8"/>
            </p:custDataLst>
            <p:extLst>
              <p:ext uri="{D42A27DB-BD31-4B8C-83A1-F6EECF244321}">
                <p14:modId xmlns:p14="http://schemas.microsoft.com/office/powerpoint/2010/main" val="3707069282"/>
              </p:ext>
            </p:extLst>
          </p:nvPr>
        </p:nvGraphicFramePr>
        <p:xfrm>
          <a:off x="860425" y="4159250"/>
          <a:ext cx="3397250" cy="1716088"/>
        </p:xfrm>
        <a:graphic>
          <a:graphicData uri="http://schemas.openxmlformats.org/drawingml/2006/chart">
            <c:chart xmlns:c="http://schemas.openxmlformats.org/drawingml/2006/chart" xmlns:r="http://schemas.openxmlformats.org/officeDocument/2006/relationships" r:id="rId28"/>
          </a:graphicData>
        </a:graphic>
      </p:graphicFrame>
      <p:cxnSp>
        <p:nvCxnSpPr>
          <p:cNvPr id="132" name="Straight Connector 131">
            <a:extLst>
              <a:ext uri="{FF2B5EF4-FFF2-40B4-BE49-F238E27FC236}">
                <a16:creationId xmlns:a16="http://schemas.microsoft.com/office/drawing/2014/main" id="{27279D9E-07A7-59FB-3737-6E065BF62D39}"/>
              </a:ext>
            </a:extLst>
          </p:cNvPr>
          <p:cNvCxnSpPr/>
          <p:nvPr>
            <p:custDataLst>
              <p:tags r:id="rId9"/>
            </p:custDataLst>
          </p:nvPr>
        </p:nvCxnSpPr>
        <p:spPr bwMode="gray">
          <a:xfrm flipV="1">
            <a:off x="2017713" y="4229100"/>
            <a:ext cx="388938" cy="11113"/>
          </a:xfrm>
          <a:prstGeom prst="line">
            <a:avLst/>
          </a:prstGeom>
          <a:ln w="9525" cap="flat" cmpd="sng" algn="ctr">
            <a:solidFill>
              <a:srgbClr val="7F7F7F"/>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17" name="Straight Connector 216">
            <a:extLst>
              <a:ext uri="{FF2B5EF4-FFF2-40B4-BE49-F238E27FC236}">
                <a16:creationId xmlns:a16="http://schemas.microsoft.com/office/drawing/2014/main" id="{B00653ED-6EB6-E696-4E7C-FA58ED82085D}"/>
              </a:ext>
            </a:extLst>
          </p:cNvPr>
          <p:cNvCxnSpPr/>
          <p:nvPr>
            <p:custDataLst>
              <p:tags r:id="rId10"/>
            </p:custDataLst>
          </p:nvPr>
        </p:nvCxnSpPr>
        <p:spPr bwMode="gray">
          <a:xfrm flipV="1">
            <a:off x="2708274" y="4210050"/>
            <a:ext cx="388938" cy="11113"/>
          </a:xfrm>
          <a:prstGeom prst="line">
            <a:avLst/>
          </a:prstGeom>
          <a:ln w="9525" cap="flat" cmpd="sng" algn="ctr">
            <a:solidFill>
              <a:srgbClr val="7F7F7F"/>
            </a:solidFill>
            <a:prstDash val="solid"/>
            <a:round/>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133" name="Text Placeholder 3">
            <a:extLst>
              <a:ext uri="{FF2B5EF4-FFF2-40B4-BE49-F238E27FC236}">
                <a16:creationId xmlns:a16="http://schemas.microsoft.com/office/drawing/2014/main" id="{474B17A8-6EE7-C082-57E8-77BEF221D964}"/>
              </a:ext>
            </a:extLst>
          </p:cNvPr>
          <p:cNvSpPr>
            <a:spLocks noGrp="1"/>
          </p:cNvSpPr>
          <p:nvPr>
            <p:custDataLst>
              <p:tags r:id="rId11"/>
            </p:custDataLst>
          </p:nvPr>
        </p:nvSpPr>
        <p:spPr bwMode="gray">
          <a:xfrm>
            <a:off x="1782763" y="5659438"/>
            <a:ext cx="469900" cy="2016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lvl="0" algn="ctr">
              <a:spcBef>
                <a:spcPct val="0"/>
              </a:spcBef>
              <a:spcAft>
                <a:spcPct val="0"/>
              </a:spcAft>
            </a:pPr>
            <a:fld id="{BAB67356-CB28-4C14-9374-96694B6BE633}" type="datetime'''''''''''''''''''''''''''未''''''''''''''''''''綁''''''''定'">
              <a:rPr lang="zh-TW" altLang="en-US" smtClean="0"/>
              <a:pPr lvl="0" algn="ctr">
                <a:spcBef>
                  <a:spcPct val="0"/>
                </a:spcBef>
                <a:spcAft>
                  <a:spcPct val="0"/>
                </a:spcAft>
              </a:pPr>
              <a:t>未綁定</a:t>
            </a:fld>
            <a:endParaRPr lang="en-US"/>
          </a:p>
        </p:txBody>
      </p:sp>
      <p:sp>
        <p:nvSpPr>
          <p:cNvPr id="134" name="Text Placeholder 3">
            <a:extLst>
              <a:ext uri="{FF2B5EF4-FFF2-40B4-BE49-F238E27FC236}">
                <a16:creationId xmlns:a16="http://schemas.microsoft.com/office/drawing/2014/main" id="{C0A16417-FDAB-F18C-4628-A039BA0D5E4E}"/>
              </a:ext>
            </a:extLst>
          </p:cNvPr>
          <p:cNvSpPr>
            <a:spLocks noGrp="1"/>
          </p:cNvSpPr>
          <p:nvPr>
            <p:custDataLst>
              <p:tags r:id="rId12"/>
            </p:custDataLst>
          </p:nvPr>
        </p:nvSpPr>
        <p:spPr bwMode="gray">
          <a:xfrm>
            <a:off x="2709863" y="5659438"/>
            <a:ext cx="774700" cy="2016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lvl="0" algn="ctr">
              <a:spcBef>
                <a:spcPct val="0"/>
              </a:spcBef>
              <a:spcAft>
                <a:spcPct val="0"/>
              </a:spcAft>
            </a:pPr>
            <a:fld id="{F654AF0B-18F0-4B26-9679-6E2202C0FB57}" type="datetime'''''綁''''定代''''''''''''''扣''''''''''''''繳'''">
              <a:rPr lang="zh-TW" altLang="en-US" smtClean="0"/>
              <a:pPr lvl="0" algn="ctr">
                <a:spcBef>
                  <a:spcPct val="0"/>
                </a:spcBef>
                <a:spcAft>
                  <a:spcPct val="0"/>
                </a:spcAft>
              </a:pPr>
              <a:t>綁定代扣繳</a:t>
            </a:fld>
            <a:endParaRPr lang="en-US"/>
          </a:p>
        </p:txBody>
      </p:sp>
      <p:sp>
        <p:nvSpPr>
          <p:cNvPr id="215" name="Text Placeholder 3">
            <a:extLst>
              <a:ext uri="{FF2B5EF4-FFF2-40B4-BE49-F238E27FC236}">
                <a16:creationId xmlns:a16="http://schemas.microsoft.com/office/drawing/2014/main" id="{51A963AA-376A-FA44-F8FB-90F1CA2F9C7F}"/>
              </a:ext>
            </a:extLst>
          </p:cNvPr>
          <p:cNvSpPr>
            <a:spLocks noGrp="1"/>
          </p:cNvSpPr>
          <p:nvPr>
            <p:custDataLst>
              <p:tags r:id="rId13"/>
            </p:custDataLst>
          </p:nvPr>
        </p:nvSpPr>
        <p:spPr bwMode="gray">
          <a:xfrm>
            <a:off x="2379663" y="4081463"/>
            <a:ext cx="355600" cy="285750"/>
          </a:xfrm>
          <a:prstGeom prst="ellipse">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lvl="0" algn="ctr">
              <a:spcBef>
                <a:spcPct val="0"/>
              </a:spcBef>
              <a:spcAft>
                <a:spcPct val="0"/>
              </a:spcAft>
            </a:pPr>
            <a:fld id="{D4AA3450-41E3-4087-A5D4-212FF0663064}" type="datetime'''''''''''''+3''''''''''''''''''''''''''%'''''''''''''''">
              <a:rPr lang="en-US" altLang="en-US" smtClean="0">
                <a:effectLst/>
              </a:rPr>
              <a:pPr lvl="0" algn="ctr">
                <a:spcBef>
                  <a:spcPct val="0"/>
                </a:spcBef>
                <a:spcAft>
                  <a:spcPct val="0"/>
                </a:spcAft>
              </a:pPr>
              <a:t>+3%</a:t>
            </a:fld>
            <a:endParaRPr lang="en-US"/>
          </a:p>
        </p:txBody>
      </p:sp>
      <p:graphicFrame>
        <p:nvGraphicFramePr>
          <p:cNvPr id="243" name="Chart 242">
            <a:extLst>
              <a:ext uri="{FF2B5EF4-FFF2-40B4-BE49-F238E27FC236}">
                <a16:creationId xmlns:a16="http://schemas.microsoft.com/office/drawing/2014/main" id="{2E20C05B-FDF9-9DDC-EDF6-D48C6B4B7A25}"/>
              </a:ext>
            </a:extLst>
          </p:cNvPr>
          <p:cNvGraphicFramePr/>
          <p:nvPr>
            <p:custDataLst>
              <p:tags r:id="rId14"/>
            </p:custDataLst>
            <p:extLst>
              <p:ext uri="{D42A27DB-BD31-4B8C-83A1-F6EECF244321}">
                <p14:modId xmlns:p14="http://schemas.microsoft.com/office/powerpoint/2010/main" val="2537889181"/>
              </p:ext>
            </p:extLst>
          </p:nvPr>
        </p:nvGraphicFramePr>
        <p:xfrm>
          <a:off x="8050213" y="4083050"/>
          <a:ext cx="3397250" cy="1758950"/>
        </p:xfrm>
        <a:graphic>
          <a:graphicData uri="http://schemas.openxmlformats.org/drawingml/2006/chart">
            <c:chart xmlns:c="http://schemas.openxmlformats.org/drawingml/2006/chart" xmlns:r="http://schemas.openxmlformats.org/officeDocument/2006/relationships" r:id="rId29"/>
          </a:graphicData>
        </a:graphic>
      </p:graphicFrame>
      <p:cxnSp>
        <p:nvCxnSpPr>
          <p:cNvPr id="138" name="Straight Connector 137">
            <a:extLst>
              <a:ext uri="{FF2B5EF4-FFF2-40B4-BE49-F238E27FC236}">
                <a16:creationId xmlns:a16="http://schemas.microsoft.com/office/drawing/2014/main" id="{5B4713C4-BDC0-28A5-3368-333A2E4CEFE6}"/>
              </a:ext>
            </a:extLst>
          </p:cNvPr>
          <p:cNvCxnSpPr/>
          <p:nvPr>
            <p:custDataLst>
              <p:tags r:id="rId15"/>
            </p:custDataLst>
          </p:nvPr>
        </p:nvCxnSpPr>
        <p:spPr bwMode="gray">
          <a:xfrm flipV="1">
            <a:off x="9207499" y="4187825"/>
            <a:ext cx="349250" cy="36513"/>
          </a:xfrm>
          <a:prstGeom prst="line">
            <a:avLst/>
          </a:prstGeom>
          <a:ln w="9525" cap="flat" cmpd="sng" algn="ctr">
            <a:solidFill>
              <a:srgbClr val="7F7F7F"/>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25" name="Straight Connector 224">
            <a:extLst>
              <a:ext uri="{FF2B5EF4-FFF2-40B4-BE49-F238E27FC236}">
                <a16:creationId xmlns:a16="http://schemas.microsoft.com/office/drawing/2014/main" id="{06A7914C-A5EF-DDD4-3091-57310CD9E9F0}"/>
              </a:ext>
            </a:extLst>
          </p:cNvPr>
          <p:cNvCxnSpPr/>
          <p:nvPr>
            <p:custDataLst>
              <p:tags r:id="rId16"/>
            </p:custDataLst>
          </p:nvPr>
        </p:nvCxnSpPr>
        <p:spPr bwMode="gray">
          <a:xfrm flipV="1">
            <a:off x="9937749" y="4111625"/>
            <a:ext cx="349250" cy="36513"/>
          </a:xfrm>
          <a:prstGeom prst="line">
            <a:avLst/>
          </a:prstGeom>
          <a:ln w="9525" cap="flat" cmpd="sng" algn="ctr">
            <a:solidFill>
              <a:srgbClr val="7F7F7F"/>
            </a:solidFill>
            <a:prstDash val="solid"/>
            <a:round/>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139" name="Text Placeholder 3">
            <a:extLst>
              <a:ext uri="{FF2B5EF4-FFF2-40B4-BE49-F238E27FC236}">
                <a16:creationId xmlns:a16="http://schemas.microsoft.com/office/drawing/2014/main" id="{0223EEA9-DCFA-E142-6E2F-74562D2EA98C}"/>
              </a:ext>
            </a:extLst>
          </p:cNvPr>
          <p:cNvSpPr>
            <a:spLocks noGrp="1"/>
          </p:cNvSpPr>
          <p:nvPr>
            <p:custDataLst>
              <p:tags r:id="rId17"/>
            </p:custDataLst>
          </p:nvPr>
        </p:nvSpPr>
        <p:spPr bwMode="gray">
          <a:xfrm>
            <a:off x="8820150" y="5626100"/>
            <a:ext cx="774700" cy="2016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lvl="0" algn="ctr">
              <a:spcBef>
                <a:spcPct val="0"/>
              </a:spcBef>
              <a:spcAft>
                <a:spcPct val="0"/>
              </a:spcAft>
            </a:pPr>
            <a:fld id="{2B912C1F-E47B-4018-8FC8-947557F4806E}" type="datetime'''''無''''財''''''''''''''管''''''''''商品'''''">
              <a:rPr lang="zh-TW" altLang="en-US" smtClean="0"/>
              <a:pPr lvl="0" algn="ctr">
                <a:spcBef>
                  <a:spcPct val="0"/>
                </a:spcBef>
                <a:spcAft>
                  <a:spcPct val="0"/>
                </a:spcAft>
              </a:pPr>
              <a:t>無財管商品</a:t>
            </a:fld>
            <a:endParaRPr lang="en-US"/>
          </a:p>
        </p:txBody>
      </p:sp>
      <p:sp>
        <p:nvSpPr>
          <p:cNvPr id="140" name="Text Placeholder 3">
            <a:extLst>
              <a:ext uri="{FF2B5EF4-FFF2-40B4-BE49-F238E27FC236}">
                <a16:creationId xmlns:a16="http://schemas.microsoft.com/office/drawing/2014/main" id="{49D8D48E-AACF-6961-93B7-190F1854A0AD}"/>
              </a:ext>
            </a:extLst>
          </p:cNvPr>
          <p:cNvSpPr>
            <a:spLocks noGrp="1"/>
          </p:cNvSpPr>
          <p:nvPr>
            <p:custDataLst>
              <p:tags r:id="rId18"/>
            </p:custDataLst>
          </p:nvPr>
        </p:nvSpPr>
        <p:spPr bwMode="gray">
          <a:xfrm>
            <a:off x="9899650" y="5626100"/>
            <a:ext cx="774700" cy="2016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lvl="0" algn="ctr">
              <a:spcBef>
                <a:spcPct val="0"/>
              </a:spcBef>
              <a:spcAft>
                <a:spcPct val="0"/>
              </a:spcAft>
            </a:pPr>
            <a:fld id="{A455FA61-E8DC-4647-8AB0-CC034A62DE70}" type="datetime'''''''''''''''''有''''''''''''''''''財管''''商''''''''''品'''''">
              <a:rPr lang="zh-TW" altLang="en-US" smtClean="0"/>
              <a:pPr lvl="0" algn="ctr">
                <a:spcBef>
                  <a:spcPct val="0"/>
                </a:spcBef>
                <a:spcAft>
                  <a:spcPct val="0"/>
                </a:spcAft>
              </a:pPr>
              <a:t>有財管商品</a:t>
            </a:fld>
            <a:endParaRPr lang="en-US"/>
          </a:p>
        </p:txBody>
      </p:sp>
      <p:sp>
        <p:nvSpPr>
          <p:cNvPr id="223" name="Text Placeholder 3">
            <a:extLst>
              <a:ext uri="{FF2B5EF4-FFF2-40B4-BE49-F238E27FC236}">
                <a16:creationId xmlns:a16="http://schemas.microsoft.com/office/drawing/2014/main" id="{B1E1EA2C-3932-26CA-9B40-E1776CECFA6F}"/>
              </a:ext>
            </a:extLst>
          </p:cNvPr>
          <p:cNvSpPr>
            <a:spLocks noGrp="1"/>
          </p:cNvSpPr>
          <p:nvPr>
            <p:custDataLst>
              <p:tags r:id="rId19"/>
            </p:custDataLst>
          </p:nvPr>
        </p:nvSpPr>
        <p:spPr bwMode="gray">
          <a:xfrm>
            <a:off x="9513888" y="4024313"/>
            <a:ext cx="468313" cy="285750"/>
          </a:xfrm>
          <a:prstGeom prst="ellipse">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lvl="0" algn="ctr">
              <a:spcBef>
                <a:spcPct val="0"/>
              </a:spcBef>
              <a:spcAft>
                <a:spcPct val="0"/>
              </a:spcAft>
            </a:pPr>
            <a:fld id="{214FEBC8-262D-4401-A917-564D7DD31259}" type="datetime'+''1''''''''''''''''''''''1''''''''''''''''''%'''">
              <a:rPr lang="en-US" altLang="en-US" smtClean="0">
                <a:effectLst/>
              </a:rPr>
              <a:pPr lvl="0" algn="ctr">
                <a:spcBef>
                  <a:spcPct val="0"/>
                </a:spcBef>
                <a:spcAft>
                  <a:spcPct val="0"/>
                </a:spcAft>
              </a:pPr>
              <a:t>+11%</a:t>
            </a:fld>
            <a:endParaRPr lang="en-US"/>
          </a:p>
        </p:txBody>
      </p:sp>
      <p:sp>
        <p:nvSpPr>
          <p:cNvPr id="173" name="Rectangle 172">
            <a:extLst>
              <a:ext uri="{FF2B5EF4-FFF2-40B4-BE49-F238E27FC236}">
                <a16:creationId xmlns:a16="http://schemas.microsoft.com/office/drawing/2014/main" id="{D7C5A4B4-34EB-4040-53C9-A53319A1A764}"/>
              </a:ext>
            </a:extLst>
          </p:cNvPr>
          <p:cNvSpPr/>
          <p:nvPr/>
        </p:nvSpPr>
        <p:spPr>
          <a:xfrm>
            <a:off x="1296107" y="3538530"/>
            <a:ext cx="2700511" cy="489279"/>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90000"/>
              </a:lnSpc>
            </a:pPr>
            <a:r>
              <a:rPr lang="zh-TW" altLang="en-US" sz="1200" b="1">
                <a:solidFill>
                  <a:srgbClr val="575757"/>
                </a:solidFill>
                <a:latin typeface="Microsoft YaHei" panose="020B0503020204020204" pitchFamily="34" charset="-122"/>
                <a:ea typeface="Microsoft YaHei" panose="020B0503020204020204" pitchFamily="34" charset="-122"/>
              </a:rPr>
              <a:t>有無信用卡單客</a:t>
            </a:r>
            <a:r>
              <a:rPr lang="en-US" altLang="zh-TW" sz="1200" b="1">
                <a:solidFill>
                  <a:srgbClr val="575757"/>
                </a:solidFill>
                <a:latin typeface="Microsoft YaHei" panose="020B0503020204020204" pitchFamily="34" charset="-122"/>
                <a:ea typeface="Microsoft YaHei" panose="020B0503020204020204" pitchFamily="34" charset="-122"/>
              </a:rPr>
              <a:t>AUM</a:t>
            </a:r>
            <a:r>
              <a:rPr lang="zh-TW" altLang="en-US" sz="1200" b="1">
                <a:solidFill>
                  <a:srgbClr val="575757"/>
                </a:solidFill>
                <a:latin typeface="Microsoft YaHei" panose="020B0503020204020204" pitchFamily="34" charset="-122"/>
                <a:ea typeface="Microsoft YaHei" panose="020B0503020204020204" pitchFamily="34" charset="-122"/>
              </a:rPr>
              <a:t>比較</a:t>
            </a:r>
            <a:endParaRPr lang="en-US" altLang="zh-TW" sz="1200" b="1">
              <a:solidFill>
                <a:srgbClr val="575757"/>
              </a:solidFill>
              <a:latin typeface="Microsoft YaHei" panose="020B0503020204020204" pitchFamily="34" charset="-122"/>
              <a:ea typeface="Microsoft YaHei" panose="020B0503020204020204" pitchFamily="34" charset="-122"/>
            </a:endParaRPr>
          </a:p>
          <a:p>
            <a:pPr>
              <a:lnSpc>
                <a:spcPct val="90000"/>
              </a:lnSpc>
            </a:pPr>
            <a:r>
              <a:rPr lang="en-US" altLang="zh-TW" sz="1200">
                <a:solidFill>
                  <a:srgbClr val="575757"/>
                </a:solidFill>
                <a:latin typeface="Microsoft YaHei" panose="020B0503020204020204" pitchFamily="34" charset="-122"/>
                <a:ea typeface="Microsoft YaHei" panose="020B0503020204020204" pitchFamily="34" charset="-122"/>
              </a:rPr>
              <a:t>(</a:t>
            </a:r>
            <a:r>
              <a:rPr lang="zh-TW" altLang="en-US" sz="1200">
                <a:solidFill>
                  <a:srgbClr val="575757"/>
                </a:solidFill>
                <a:latin typeface="Microsoft YaHei" panose="020B0503020204020204" pitchFamily="34" charset="-122"/>
                <a:ea typeface="Microsoft YaHei" panose="020B0503020204020204" pitchFamily="34" charset="-122"/>
              </a:rPr>
              <a:t>元，</a:t>
            </a:r>
            <a:r>
              <a:rPr lang="en-US" altLang="zh-TW" sz="1200">
                <a:solidFill>
                  <a:srgbClr val="575757"/>
                </a:solidFill>
                <a:latin typeface="Microsoft YaHei" panose="020B0503020204020204" pitchFamily="34" charset="-122"/>
                <a:ea typeface="Microsoft YaHei" panose="020B0503020204020204" pitchFamily="34" charset="-122"/>
              </a:rPr>
              <a:t>2023</a:t>
            </a:r>
            <a:r>
              <a:rPr lang="zh-TW" altLang="en-US" sz="1200">
                <a:solidFill>
                  <a:srgbClr val="575757"/>
                </a:solidFill>
                <a:latin typeface="Microsoft YaHei" panose="020B0503020204020204" pitchFamily="34" charset="-122"/>
                <a:ea typeface="Microsoft YaHei" panose="020B0503020204020204" pitchFamily="34" charset="-122"/>
              </a:rPr>
              <a:t>年</a:t>
            </a:r>
            <a:r>
              <a:rPr lang="en-US" altLang="zh-TW" sz="1200">
                <a:solidFill>
                  <a:srgbClr val="575757"/>
                </a:solidFill>
                <a:latin typeface="Microsoft YaHei" panose="020B0503020204020204" pitchFamily="34" charset="-122"/>
                <a:ea typeface="Microsoft YaHei" panose="020B0503020204020204" pitchFamily="34" charset="-122"/>
              </a:rPr>
              <a:t>AUM)</a:t>
            </a:r>
            <a:endParaRPr lang="en-US" sz="1200">
              <a:solidFill>
                <a:srgbClr val="575757"/>
              </a:solidFill>
              <a:latin typeface="Microsoft YaHei" panose="020B0503020204020204" pitchFamily="34" charset="-122"/>
              <a:ea typeface="Microsoft YaHei" panose="020B0503020204020204" pitchFamily="34" charset="-122"/>
            </a:endParaRPr>
          </a:p>
        </p:txBody>
      </p:sp>
      <p:sp>
        <p:nvSpPr>
          <p:cNvPr id="174" name="Rectangle 173">
            <a:extLst>
              <a:ext uri="{FF2B5EF4-FFF2-40B4-BE49-F238E27FC236}">
                <a16:creationId xmlns:a16="http://schemas.microsoft.com/office/drawing/2014/main" id="{04429C2C-6EF8-489A-9995-1660CB926F11}"/>
              </a:ext>
            </a:extLst>
          </p:cNvPr>
          <p:cNvSpPr/>
          <p:nvPr/>
        </p:nvSpPr>
        <p:spPr>
          <a:xfrm>
            <a:off x="4952156" y="3549311"/>
            <a:ext cx="2700511" cy="489279"/>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90000"/>
              </a:lnSpc>
            </a:pPr>
            <a:r>
              <a:rPr lang="zh-TW" altLang="en-US" sz="1200" b="1">
                <a:solidFill>
                  <a:srgbClr val="575757"/>
                </a:solidFill>
                <a:latin typeface="Microsoft YaHei" panose="020B0503020204020204" pitchFamily="34" charset="-122"/>
                <a:ea typeface="Microsoft YaHei" panose="020B0503020204020204" pitchFamily="34" charset="-122"/>
              </a:rPr>
              <a:t>有無綁定代扣繳單客</a:t>
            </a:r>
            <a:r>
              <a:rPr lang="en-US" altLang="zh-TW" sz="1200" b="1">
                <a:solidFill>
                  <a:srgbClr val="575757"/>
                </a:solidFill>
                <a:latin typeface="Microsoft YaHei" panose="020B0503020204020204" pitchFamily="34" charset="-122"/>
                <a:ea typeface="Microsoft YaHei" panose="020B0503020204020204" pitchFamily="34" charset="-122"/>
              </a:rPr>
              <a:t>AUM</a:t>
            </a:r>
            <a:r>
              <a:rPr lang="zh-TW" altLang="en-US" sz="1200" b="1">
                <a:solidFill>
                  <a:srgbClr val="575757"/>
                </a:solidFill>
                <a:latin typeface="Microsoft YaHei" panose="020B0503020204020204" pitchFamily="34" charset="-122"/>
                <a:ea typeface="Microsoft YaHei" panose="020B0503020204020204" pitchFamily="34" charset="-122"/>
              </a:rPr>
              <a:t>比較</a:t>
            </a:r>
            <a:endParaRPr lang="en-US" altLang="zh-TW" sz="1200" b="1">
              <a:solidFill>
                <a:srgbClr val="575757"/>
              </a:solidFill>
              <a:latin typeface="Microsoft YaHei" panose="020B0503020204020204" pitchFamily="34" charset="-122"/>
              <a:ea typeface="Microsoft YaHei" panose="020B0503020204020204" pitchFamily="34" charset="-122"/>
            </a:endParaRPr>
          </a:p>
          <a:p>
            <a:pPr>
              <a:lnSpc>
                <a:spcPct val="90000"/>
              </a:lnSpc>
            </a:pPr>
            <a:r>
              <a:rPr lang="en-US" altLang="zh-TW" sz="1200">
                <a:solidFill>
                  <a:srgbClr val="575757"/>
                </a:solidFill>
                <a:latin typeface="Microsoft YaHei" panose="020B0503020204020204" pitchFamily="34" charset="-122"/>
                <a:ea typeface="Microsoft YaHei" panose="020B0503020204020204" pitchFamily="34" charset="-122"/>
              </a:rPr>
              <a:t>(</a:t>
            </a:r>
            <a:r>
              <a:rPr lang="zh-TW" altLang="en-US" sz="1200">
                <a:solidFill>
                  <a:srgbClr val="575757"/>
                </a:solidFill>
                <a:latin typeface="Microsoft YaHei" panose="020B0503020204020204" pitchFamily="34" charset="-122"/>
                <a:ea typeface="Microsoft YaHei" panose="020B0503020204020204" pitchFamily="34" charset="-122"/>
              </a:rPr>
              <a:t>元，</a:t>
            </a:r>
            <a:r>
              <a:rPr lang="en-US" altLang="zh-TW" sz="1200">
                <a:solidFill>
                  <a:srgbClr val="575757"/>
                </a:solidFill>
                <a:latin typeface="Microsoft YaHei" panose="020B0503020204020204" pitchFamily="34" charset="-122"/>
                <a:ea typeface="Microsoft YaHei" panose="020B0503020204020204" pitchFamily="34" charset="-122"/>
              </a:rPr>
              <a:t>2023</a:t>
            </a:r>
            <a:r>
              <a:rPr lang="zh-TW" altLang="en-US" sz="1200">
                <a:solidFill>
                  <a:srgbClr val="575757"/>
                </a:solidFill>
                <a:latin typeface="Microsoft YaHei" panose="020B0503020204020204" pitchFamily="34" charset="-122"/>
                <a:ea typeface="Microsoft YaHei" panose="020B0503020204020204" pitchFamily="34" charset="-122"/>
              </a:rPr>
              <a:t>年</a:t>
            </a:r>
            <a:r>
              <a:rPr lang="en-US" altLang="zh-TW" sz="1200">
                <a:solidFill>
                  <a:srgbClr val="575757"/>
                </a:solidFill>
                <a:latin typeface="Microsoft YaHei" panose="020B0503020204020204" pitchFamily="34" charset="-122"/>
                <a:ea typeface="Microsoft YaHei" panose="020B0503020204020204" pitchFamily="34" charset="-122"/>
              </a:rPr>
              <a:t>AUM)</a:t>
            </a:r>
            <a:endParaRPr lang="en-US" sz="1200">
              <a:solidFill>
                <a:srgbClr val="575757"/>
              </a:solidFill>
              <a:latin typeface="Microsoft YaHei" panose="020B0503020204020204" pitchFamily="34" charset="-122"/>
              <a:ea typeface="Microsoft YaHei" panose="020B0503020204020204" pitchFamily="34" charset="-122"/>
            </a:endParaRPr>
          </a:p>
        </p:txBody>
      </p:sp>
      <p:sp>
        <p:nvSpPr>
          <p:cNvPr id="175" name="Rectangle 174">
            <a:extLst>
              <a:ext uri="{FF2B5EF4-FFF2-40B4-BE49-F238E27FC236}">
                <a16:creationId xmlns:a16="http://schemas.microsoft.com/office/drawing/2014/main" id="{45AC1F27-2F44-5CC9-B546-43E7FBA8A4FB}"/>
              </a:ext>
            </a:extLst>
          </p:cNvPr>
          <p:cNvSpPr/>
          <p:nvPr/>
        </p:nvSpPr>
        <p:spPr>
          <a:xfrm>
            <a:off x="8585088" y="3554440"/>
            <a:ext cx="2700511" cy="489279"/>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90000"/>
              </a:lnSpc>
            </a:pPr>
            <a:r>
              <a:rPr lang="zh-TW" altLang="en-US" sz="1200" b="1">
                <a:solidFill>
                  <a:srgbClr val="575757"/>
                </a:solidFill>
                <a:latin typeface="Microsoft YaHei" panose="020B0503020204020204" pitchFamily="34" charset="-122"/>
                <a:ea typeface="Microsoft YaHei" panose="020B0503020204020204" pitchFamily="34" charset="-122"/>
              </a:rPr>
              <a:t>有無財管商品單客</a:t>
            </a:r>
            <a:r>
              <a:rPr lang="en-US" altLang="zh-TW" sz="1200" b="1">
                <a:solidFill>
                  <a:srgbClr val="575757"/>
                </a:solidFill>
                <a:latin typeface="Microsoft YaHei" panose="020B0503020204020204" pitchFamily="34" charset="-122"/>
                <a:ea typeface="Microsoft YaHei" panose="020B0503020204020204" pitchFamily="34" charset="-122"/>
              </a:rPr>
              <a:t>AUM</a:t>
            </a:r>
            <a:r>
              <a:rPr lang="zh-TW" altLang="en-US" sz="1200" b="1">
                <a:solidFill>
                  <a:srgbClr val="575757"/>
                </a:solidFill>
                <a:latin typeface="Microsoft YaHei" panose="020B0503020204020204" pitchFamily="34" charset="-122"/>
                <a:ea typeface="Microsoft YaHei" panose="020B0503020204020204" pitchFamily="34" charset="-122"/>
              </a:rPr>
              <a:t>比較</a:t>
            </a:r>
            <a:endParaRPr lang="en-US" altLang="zh-TW" sz="1200" b="1">
              <a:solidFill>
                <a:srgbClr val="575757"/>
              </a:solidFill>
              <a:latin typeface="Microsoft YaHei" panose="020B0503020204020204" pitchFamily="34" charset="-122"/>
              <a:ea typeface="Microsoft YaHei" panose="020B0503020204020204" pitchFamily="34" charset="-122"/>
            </a:endParaRPr>
          </a:p>
          <a:p>
            <a:pPr>
              <a:lnSpc>
                <a:spcPct val="90000"/>
              </a:lnSpc>
            </a:pPr>
            <a:r>
              <a:rPr lang="en-US" altLang="zh-TW" sz="1200">
                <a:solidFill>
                  <a:srgbClr val="575757"/>
                </a:solidFill>
                <a:latin typeface="Microsoft YaHei" panose="020B0503020204020204" pitchFamily="34" charset="-122"/>
                <a:ea typeface="Microsoft YaHei" panose="020B0503020204020204" pitchFamily="34" charset="-122"/>
              </a:rPr>
              <a:t>(</a:t>
            </a:r>
            <a:r>
              <a:rPr lang="zh-TW" altLang="en-US" sz="1200">
                <a:solidFill>
                  <a:srgbClr val="575757"/>
                </a:solidFill>
                <a:latin typeface="Microsoft YaHei" panose="020B0503020204020204" pitchFamily="34" charset="-122"/>
                <a:ea typeface="Microsoft YaHei" panose="020B0503020204020204" pitchFamily="34" charset="-122"/>
              </a:rPr>
              <a:t>元，</a:t>
            </a:r>
            <a:r>
              <a:rPr lang="en-US" altLang="zh-TW" sz="1200">
                <a:solidFill>
                  <a:srgbClr val="575757"/>
                </a:solidFill>
                <a:latin typeface="Microsoft YaHei" panose="020B0503020204020204" pitchFamily="34" charset="-122"/>
                <a:ea typeface="Microsoft YaHei" panose="020B0503020204020204" pitchFamily="34" charset="-122"/>
              </a:rPr>
              <a:t>2023</a:t>
            </a:r>
            <a:r>
              <a:rPr lang="zh-TW" altLang="en-US" sz="1200">
                <a:solidFill>
                  <a:srgbClr val="575757"/>
                </a:solidFill>
                <a:latin typeface="Microsoft YaHei" panose="020B0503020204020204" pitchFamily="34" charset="-122"/>
                <a:ea typeface="Microsoft YaHei" panose="020B0503020204020204" pitchFamily="34" charset="-122"/>
              </a:rPr>
              <a:t>年</a:t>
            </a:r>
            <a:r>
              <a:rPr lang="en-US" altLang="zh-TW" sz="1200">
                <a:solidFill>
                  <a:srgbClr val="575757"/>
                </a:solidFill>
                <a:latin typeface="Microsoft YaHei" panose="020B0503020204020204" pitchFamily="34" charset="-122"/>
                <a:ea typeface="Microsoft YaHei" panose="020B0503020204020204" pitchFamily="34" charset="-122"/>
              </a:rPr>
              <a:t>AUM)</a:t>
            </a:r>
            <a:endParaRPr lang="en-US" sz="1200">
              <a:solidFill>
                <a:srgbClr val="575757"/>
              </a:solidFill>
              <a:latin typeface="Microsoft YaHei" panose="020B0503020204020204" pitchFamily="34" charset="-122"/>
              <a:ea typeface="Microsoft YaHei" panose="020B0503020204020204" pitchFamily="34" charset="-122"/>
            </a:endParaRPr>
          </a:p>
        </p:txBody>
      </p:sp>
      <p:sp>
        <p:nvSpPr>
          <p:cNvPr id="187" name="Oval 186">
            <a:extLst>
              <a:ext uri="{FF2B5EF4-FFF2-40B4-BE49-F238E27FC236}">
                <a16:creationId xmlns:a16="http://schemas.microsoft.com/office/drawing/2014/main" id="{C5F246B9-52B2-875B-1465-B96572C699EC}"/>
              </a:ext>
            </a:extLst>
          </p:cNvPr>
          <p:cNvSpPr/>
          <p:nvPr/>
        </p:nvSpPr>
        <p:spPr>
          <a:xfrm>
            <a:off x="1715812" y="5911301"/>
            <a:ext cx="602007" cy="256970"/>
          </a:xfrm>
          <a:prstGeom prst="ellipse">
            <a:avLst/>
          </a:prstGeom>
          <a:solidFill>
            <a:srgbClr val="29BA74"/>
          </a:solidFill>
          <a:ln w="9525" cap="rnd" cmpd="sng" algn="ctr">
            <a:solidFill>
              <a:srgbClr val="29BA74"/>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altLang="zh-TW" sz="1200" b="1" i="0" u="none" strike="noStrike">
                <a:solidFill>
                  <a:srgbClr val="FFFFFF"/>
                </a:solidFill>
                <a:effectLst/>
                <a:latin typeface="Microsoft YaHei" panose="020B0503020204020204" pitchFamily="34" charset="-122"/>
                <a:ea typeface="Microsoft YaHei" panose="020B0503020204020204" pitchFamily="34" charset="-122"/>
              </a:rPr>
              <a:t>5,509 </a:t>
            </a:r>
            <a:endParaRPr lang="en-US" sz="1000">
              <a:solidFill>
                <a:srgbClr val="FFFFFF"/>
              </a:solidFill>
            </a:endParaRPr>
          </a:p>
        </p:txBody>
      </p:sp>
      <p:sp>
        <p:nvSpPr>
          <p:cNvPr id="188" name="Oval 187">
            <a:extLst>
              <a:ext uri="{FF2B5EF4-FFF2-40B4-BE49-F238E27FC236}">
                <a16:creationId xmlns:a16="http://schemas.microsoft.com/office/drawing/2014/main" id="{00C53C72-6C03-0F41-ADFE-150CEC155E7F}"/>
              </a:ext>
            </a:extLst>
          </p:cNvPr>
          <p:cNvSpPr/>
          <p:nvPr/>
        </p:nvSpPr>
        <p:spPr>
          <a:xfrm>
            <a:off x="5325095" y="5911300"/>
            <a:ext cx="602007" cy="256970"/>
          </a:xfrm>
          <a:prstGeom prst="ellipse">
            <a:avLst/>
          </a:prstGeom>
          <a:solidFill>
            <a:srgbClr val="29BA74"/>
          </a:solidFill>
          <a:ln w="9525" cap="rnd" cmpd="sng" algn="ctr">
            <a:solidFill>
              <a:srgbClr val="29BA74"/>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altLang="zh-TW" sz="1200" b="1">
                <a:solidFill>
                  <a:srgbClr val="FFFFFF"/>
                </a:solidFill>
                <a:latin typeface="Microsoft YaHei" panose="020B0503020204020204" pitchFamily="34" charset="-122"/>
                <a:ea typeface="Microsoft YaHei" panose="020B0503020204020204" pitchFamily="34" charset="-122"/>
              </a:rPr>
              <a:t>5,728 </a:t>
            </a:r>
          </a:p>
        </p:txBody>
      </p:sp>
      <p:sp>
        <p:nvSpPr>
          <p:cNvPr id="189" name="Oval 188">
            <a:extLst>
              <a:ext uri="{FF2B5EF4-FFF2-40B4-BE49-F238E27FC236}">
                <a16:creationId xmlns:a16="http://schemas.microsoft.com/office/drawing/2014/main" id="{ADAC71EC-616D-517D-19D3-CE3805EE9AE0}"/>
              </a:ext>
            </a:extLst>
          </p:cNvPr>
          <p:cNvSpPr/>
          <p:nvPr/>
        </p:nvSpPr>
        <p:spPr>
          <a:xfrm>
            <a:off x="8934378" y="5911300"/>
            <a:ext cx="602007" cy="256970"/>
          </a:xfrm>
          <a:prstGeom prst="ellipse">
            <a:avLst/>
          </a:prstGeom>
          <a:solidFill>
            <a:srgbClr val="29BA74"/>
          </a:solidFill>
          <a:ln w="9525" cap="rnd" cmpd="sng" algn="ctr">
            <a:solidFill>
              <a:srgbClr val="29BA74"/>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altLang="zh-TW" sz="1200" b="1" i="0" u="none" strike="noStrike">
                <a:solidFill>
                  <a:srgbClr val="FFFFFF"/>
                </a:solidFill>
                <a:effectLst/>
                <a:latin typeface="Microsoft YaHei" panose="020B0503020204020204" pitchFamily="34" charset="-122"/>
                <a:ea typeface="Microsoft YaHei" panose="020B0503020204020204" pitchFamily="34" charset="-122"/>
              </a:rPr>
              <a:t>6,989 </a:t>
            </a:r>
          </a:p>
        </p:txBody>
      </p:sp>
      <p:sp>
        <p:nvSpPr>
          <p:cNvPr id="239" name="Rectangle 238">
            <a:extLst>
              <a:ext uri="{FF2B5EF4-FFF2-40B4-BE49-F238E27FC236}">
                <a16:creationId xmlns:a16="http://schemas.microsoft.com/office/drawing/2014/main" id="{173D6FB2-F050-1492-EF67-00660CAC614B}"/>
              </a:ext>
            </a:extLst>
          </p:cNvPr>
          <p:cNvSpPr/>
          <p:nvPr/>
        </p:nvSpPr>
        <p:spPr>
          <a:xfrm>
            <a:off x="409797" y="5783955"/>
            <a:ext cx="551422" cy="444385"/>
          </a:xfrm>
          <a:prstGeom prst="rect">
            <a:avLst/>
          </a:prstGeom>
          <a:noFill/>
          <a:ln w="9525" cap="flat" cmpd="sng" algn="ctr">
            <a:noFill/>
            <a:prstDash val="sysDot"/>
            <a:round/>
            <a:headEnd type="none" w="med" len="med"/>
            <a:tailEnd type="none" w="med" len="med"/>
          </a:ln>
          <a:extLst>
            <a:ext uri="{909E8E84-426E-40DD-AFC4-6F175D3DCCD1}">
              <a14:hiddenFill xmlns:a14="http://schemas.microsoft.com/office/drawing/2010/main">
                <a:gradFill>
                  <a:gsLst>
                    <a:gs pos="0">
                      <a:schemeClr val="tx2">
                        <a:alpha val="80000"/>
                      </a:schemeClr>
                    </a:gs>
                    <a:gs pos="100000">
                      <a:schemeClr val="accent1">
                        <a:alpha val="76000"/>
                      </a:schemeClr>
                    </a:gs>
                  </a:gsLst>
                  <a:lin ang="13500000" scaled="0"/>
                </a:gradFill>
              </a14:hiddenFill>
            </a:ext>
            <a:ext uri="{91240B29-F687-4F45-9708-019B960494DF}">
              <a14:hiddenLine xmlns:a14="http://schemas.microsoft.com/office/drawing/2010/main" w="9525" cap="flat" cmpd="sng" algn="ctr">
                <a:solidFill>
                  <a:srgbClr val="FFFFFF"/>
                </a:solidFill>
                <a:prstDash val="sysDot"/>
                <a:round/>
                <a:headEnd type="none" w="med" len="med"/>
                <a:tailEnd type="none" w="med" len="med"/>
              </a14:hiddenLine>
            </a:ext>
          </a:extLst>
        </p:spPr>
        <p:txBody>
          <a:bodyPr vert="horz" wrap="square" lIns="0" tIns="0" rIns="0" bIns="0" anchor="ctr" anchorCtr="0">
            <a:noAutofit/>
          </a:bodyPr>
          <a:lstStyle/>
          <a:p>
            <a:pPr indent="-349200" algn="ctr">
              <a:buClr>
                <a:schemeClr val="tx2"/>
              </a:buClr>
            </a:pPr>
            <a:r>
              <a:rPr lang="zh-TW" altLang="en-US" sz="1400" b="1" i="1">
                <a:solidFill>
                  <a:srgbClr val="29BA74"/>
                </a:solidFill>
                <a:latin typeface="Microsoft YaHei" panose="020B0503020204020204" pitchFamily="34" charset="-122"/>
                <a:ea typeface="Microsoft YaHei" panose="020B0503020204020204" pitchFamily="34" charset="-122"/>
                <a:sym typeface="Microsoft YaHei" panose="020B0503020204020204" pitchFamily="34" charset="-122"/>
              </a:rPr>
              <a:t>人數</a:t>
            </a:r>
            <a:endParaRPr lang="en-US" sz="1400" b="1" i="1">
              <a:solidFill>
                <a:srgbClr val="29BA74"/>
              </a:solidFill>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240" name="Rectangle 239">
            <a:extLst>
              <a:ext uri="{FF2B5EF4-FFF2-40B4-BE49-F238E27FC236}">
                <a16:creationId xmlns:a16="http://schemas.microsoft.com/office/drawing/2014/main" id="{EA089438-B1EB-1D63-4EDC-51F8F2D3C97E}"/>
              </a:ext>
            </a:extLst>
          </p:cNvPr>
          <p:cNvSpPr/>
          <p:nvPr/>
        </p:nvSpPr>
        <p:spPr>
          <a:xfrm>
            <a:off x="366022" y="4313238"/>
            <a:ext cx="638972" cy="444385"/>
          </a:xfrm>
          <a:prstGeom prst="rect">
            <a:avLst/>
          </a:prstGeom>
          <a:noFill/>
          <a:ln w="9525" cap="flat" cmpd="sng" algn="ctr">
            <a:noFill/>
            <a:prstDash val="sysDot"/>
            <a:round/>
            <a:headEnd type="none" w="med" len="med"/>
            <a:tailEnd type="none" w="med" len="med"/>
          </a:ln>
          <a:extLst>
            <a:ext uri="{909E8E84-426E-40DD-AFC4-6F175D3DCCD1}">
              <a14:hiddenFill xmlns:a14="http://schemas.microsoft.com/office/drawing/2010/main">
                <a:gradFill>
                  <a:gsLst>
                    <a:gs pos="0">
                      <a:schemeClr val="tx2">
                        <a:alpha val="80000"/>
                      </a:schemeClr>
                    </a:gs>
                    <a:gs pos="100000">
                      <a:schemeClr val="accent1">
                        <a:alpha val="76000"/>
                      </a:schemeClr>
                    </a:gs>
                  </a:gsLst>
                  <a:lin ang="13500000" scaled="0"/>
                </a:gradFill>
              </a14:hiddenFill>
            </a:ext>
            <a:ext uri="{91240B29-F687-4F45-9708-019B960494DF}">
              <a14:hiddenLine xmlns:a14="http://schemas.microsoft.com/office/drawing/2010/main" w="9525" cap="flat" cmpd="sng" algn="ctr">
                <a:solidFill>
                  <a:srgbClr val="FFFFFF"/>
                </a:solidFill>
                <a:prstDash val="sysDot"/>
                <a:round/>
                <a:headEnd type="none" w="med" len="med"/>
                <a:tailEnd type="none" w="med" len="med"/>
              </a14:hiddenLine>
            </a:ext>
          </a:extLst>
        </p:spPr>
        <p:txBody>
          <a:bodyPr vert="horz" wrap="square" lIns="0" tIns="0" rIns="0" bIns="0" anchor="ctr" anchorCtr="0">
            <a:noAutofit/>
          </a:bodyPr>
          <a:lstStyle/>
          <a:p>
            <a:pPr indent="-349200" algn="ctr">
              <a:buClr>
                <a:schemeClr val="tx2"/>
              </a:buClr>
            </a:pPr>
            <a:r>
              <a:rPr lang="en-US" altLang="zh-TW" sz="1400" b="1" i="1">
                <a:solidFill>
                  <a:srgbClr val="29BA74"/>
                </a:solidFill>
                <a:latin typeface="Microsoft YaHei" panose="020B0503020204020204" pitchFamily="34" charset="-122"/>
                <a:ea typeface="Microsoft YaHei" panose="020B0503020204020204" pitchFamily="34" charset="-122"/>
                <a:sym typeface="Microsoft YaHei" panose="020B0503020204020204" pitchFamily="34" charset="-122"/>
              </a:rPr>
              <a:t>AUM</a:t>
            </a:r>
          </a:p>
          <a:p>
            <a:pPr indent="-349200" algn="ctr">
              <a:buClr>
                <a:schemeClr val="tx2"/>
              </a:buClr>
            </a:pPr>
            <a:r>
              <a:rPr lang="zh-TW" altLang="en-US" sz="1400" b="1" i="1">
                <a:solidFill>
                  <a:srgbClr val="29BA74"/>
                </a:solidFill>
                <a:latin typeface="Microsoft YaHei" panose="020B0503020204020204" pitchFamily="34" charset="-122"/>
                <a:ea typeface="Microsoft YaHei" panose="020B0503020204020204" pitchFamily="34" charset="-122"/>
                <a:sym typeface="Microsoft YaHei" panose="020B0503020204020204" pitchFamily="34" charset="-122"/>
              </a:rPr>
              <a:t>比較</a:t>
            </a:r>
            <a:endParaRPr lang="en-US" sz="1400" b="1" i="1">
              <a:solidFill>
                <a:srgbClr val="29BA74"/>
              </a:solidFill>
              <a:latin typeface="Microsoft YaHei" panose="020B0503020204020204" pitchFamily="34" charset="-122"/>
              <a:ea typeface="Microsoft YaHei" panose="020B0503020204020204" pitchFamily="34" charset="-122"/>
              <a:sym typeface="Microsoft YaHei" panose="020B0503020204020204" pitchFamily="34" charset="-122"/>
            </a:endParaRPr>
          </a:p>
        </p:txBody>
      </p:sp>
      <p:cxnSp>
        <p:nvCxnSpPr>
          <p:cNvPr id="248" name="Straight Connector 247">
            <a:extLst>
              <a:ext uri="{FF2B5EF4-FFF2-40B4-BE49-F238E27FC236}">
                <a16:creationId xmlns:a16="http://schemas.microsoft.com/office/drawing/2014/main" id="{F0E6862C-FE06-CCB6-90D7-EA3F4FD435F7}"/>
              </a:ext>
            </a:extLst>
          </p:cNvPr>
          <p:cNvCxnSpPr/>
          <p:nvPr/>
        </p:nvCxnSpPr>
        <p:spPr>
          <a:xfrm>
            <a:off x="1004994" y="3019785"/>
            <a:ext cx="0" cy="322093"/>
          </a:xfrm>
          <a:prstGeom prst="line">
            <a:avLst/>
          </a:prstGeom>
          <a:ln w="9525" cap="rnd" cmpd="sng" algn="ctr">
            <a:solidFill>
              <a:srgbClr val="29BA74"/>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05DC6FC7-069C-B52F-2B09-69E268507EF3}"/>
              </a:ext>
            </a:extLst>
          </p:cNvPr>
          <p:cNvCxnSpPr>
            <a:cxnSpLocks/>
          </p:cNvCxnSpPr>
          <p:nvPr/>
        </p:nvCxnSpPr>
        <p:spPr>
          <a:xfrm>
            <a:off x="1004994" y="3461076"/>
            <a:ext cx="0" cy="2299168"/>
          </a:xfrm>
          <a:prstGeom prst="line">
            <a:avLst/>
          </a:prstGeom>
          <a:ln w="9525" cap="rnd" cmpd="sng" algn="ctr">
            <a:solidFill>
              <a:srgbClr val="29BA74"/>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1" name="Straight Connector 250">
            <a:extLst>
              <a:ext uri="{FF2B5EF4-FFF2-40B4-BE49-F238E27FC236}">
                <a16:creationId xmlns:a16="http://schemas.microsoft.com/office/drawing/2014/main" id="{D83D4908-B139-2A70-4026-AC5FFEFCFFE6}"/>
              </a:ext>
            </a:extLst>
          </p:cNvPr>
          <p:cNvCxnSpPr>
            <a:cxnSpLocks/>
          </p:cNvCxnSpPr>
          <p:nvPr/>
        </p:nvCxnSpPr>
        <p:spPr>
          <a:xfrm>
            <a:off x="1004994" y="5875338"/>
            <a:ext cx="0" cy="292932"/>
          </a:xfrm>
          <a:prstGeom prst="line">
            <a:avLst/>
          </a:prstGeom>
          <a:ln w="9525" cap="rnd" cmpd="sng" algn="ctr">
            <a:solidFill>
              <a:srgbClr val="29BA74"/>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54" name="Oval 20">
            <a:extLst>
              <a:ext uri="{FF2B5EF4-FFF2-40B4-BE49-F238E27FC236}">
                <a16:creationId xmlns:a16="http://schemas.microsoft.com/office/drawing/2014/main" id="{A526942E-EE63-4CC8-1861-8976E9F6B691}"/>
              </a:ext>
            </a:extLst>
          </p:cNvPr>
          <p:cNvSpPr>
            <a:spLocks noChangeAspect="1" noChangeArrowheads="1"/>
          </p:cNvSpPr>
          <p:nvPr/>
        </p:nvSpPr>
        <p:spPr bwMode="auto">
          <a:xfrm>
            <a:off x="199086" y="648288"/>
            <a:ext cx="306910" cy="306910"/>
          </a:xfrm>
          <a:prstGeom prst="ellipse">
            <a:avLst/>
          </a:prstGeom>
          <a:solidFill>
            <a:srgbClr val="03522D"/>
          </a:solidFill>
          <a:ln>
            <a:noFill/>
          </a:ln>
        </p:spPr>
        <p:txBody>
          <a:bodyPr vert="horz" wrap="square" lIns="0" tIns="0" rIns="0" bIns="0" numCol="1" anchor="ctr" anchorCtr="0" compatLnSpc="1">
            <a:prstTxWarp prst="textNoShape">
              <a:avLst/>
            </a:prstTxWarp>
          </a:bodyPr>
          <a:lstStyle/>
          <a:p>
            <a:pPr algn="ctr"/>
            <a:r>
              <a:rPr lang="en-US" sz="1400" b="1">
                <a:solidFill>
                  <a:srgbClr val="FFFFFF"/>
                </a:solidFill>
              </a:rPr>
              <a:t>2</a:t>
            </a:r>
          </a:p>
        </p:txBody>
      </p:sp>
      <p:sp>
        <p:nvSpPr>
          <p:cNvPr id="255" name="Textfeld 1">
            <a:extLst>
              <a:ext uri="{FF2B5EF4-FFF2-40B4-BE49-F238E27FC236}">
                <a16:creationId xmlns:a16="http://schemas.microsoft.com/office/drawing/2014/main" id="{39673CEF-65C4-88F8-DAC7-1D84EDDE89DF}"/>
              </a:ext>
            </a:extLst>
          </p:cNvPr>
          <p:cNvSpPr txBox="1"/>
          <p:nvPr>
            <p:custDataLst>
              <p:tags r:id="rId20"/>
            </p:custDataLst>
          </p:nvPr>
        </p:nvSpPr>
        <p:spPr>
          <a:xfrm>
            <a:off x="5325095" y="6403974"/>
            <a:ext cx="2743200" cy="240066"/>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zh-TW" altLang="en-US" sz="1200" b="1">
                <a:solidFill>
                  <a:srgbClr val="575757"/>
                </a:solidFill>
                <a:sym typeface="Trebuchet MS" panose="020B0603020202020204" pitchFamily="34" charset="0"/>
              </a:rPr>
              <a:t>信卡是不是好的</a:t>
            </a:r>
            <a:r>
              <a:rPr lang="en-US" altLang="zh-TW" sz="1200" b="1">
                <a:solidFill>
                  <a:srgbClr val="575757"/>
                </a:solidFill>
                <a:sym typeface="Trebuchet MS" panose="020B0603020202020204" pitchFamily="34" charset="0"/>
              </a:rPr>
              <a:t>approach?</a:t>
            </a:r>
          </a:p>
        </p:txBody>
      </p:sp>
      <p:sp>
        <p:nvSpPr>
          <p:cNvPr id="256" name="Textfeld 1">
            <a:extLst>
              <a:ext uri="{FF2B5EF4-FFF2-40B4-BE49-F238E27FC236}">
                <a16:creationId xmlns:a16="http://schemas.microsoft.com/office/drawing/2014/main" id="{438C8786-61CB-8445-58DF-D45E0352D5F6}"/>
              </a:ext>
            </a:extLst>
          </p:cNvPr>
          <p:cNvSpPr txBox="1"/>
          <p:nvPr>
            <p:custDataLst>
              <p:tags r:id="rId21"/>
            </p:custDataLst>
          </p:nvPr>
        </p:nvSpPr>
        <p:spPr>
          <a:xfrm>
            <a:off x="1014426" y="1409579"/>
            <a:ext cx="2743200" cy="483209"/>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en-US" sz="1200" b="1">
                <a:solidFill>
                  <a:srgbClr val="575757"/>
                </a:solidFill>
                <a:sym typeface="Trebuchet MS" panose="020B0603020202020204" pitchFamily="34" charset="0"/>
              </a:rPr>
              <a:t>CA 06.Jun.24:
</a:t>
            </a:r>
            <a:r>
              <a:rPr lang="en-US" altLang="zh-TW" sz="1200" b="1">
                <a:solidFill>
                  <a:srgbClr val="575757"/>
                </a:solidFill>
                <a:sym typeface="Trebuchet MS" panose="020B0603020202020204" pitchFamily="34" charset="0"/>
              </a:rPr>
              <a:t>TBD</a:t>
            </a:r>
            <a:endParaRPr lang="en-US" sz="1200" b="1">
              <a:solidFill>
                <a:srgbClr val="575757"/>
              </a:solidFill>
              <a:sym typeface="Trebuchet MS" panose="020B0603020202020204" pitchFamily="34" charset="0"/>
            </a:endParaRPr>
          </a:p>
        </p:txBody>
      </p:sp>
      <p:sp>
        <p:nvSpPr>
          <p:cNvPr id="257" name="Textfeld 1">
            <a:extLst>
              <a:ext uri="{FF2B5EF4-FFF2-40B4-BE49-F238E27FC236}">
                <a16:creationId xmlns:a16="http://schemas.microsoft.com/office/drawing/2014/main" id="{C0094B08-E2BD-455A-CAA4-E54FDBC0F542}"/>
              </a:ext>
            </a:extLst>
          </p:cNvPr>
          <p:cNvSpPr txBox="1"/>
          <p:nvPr>
            <p:custDataLst>
              <p:tags r:id="rId22"/>
            </p:custDataLst>
          </p:nvPr>
        </p:nvSpPr>
        <p:spPr>
          <a:xfrm>
            <a:off x="4928798" y="1409579"/>
            <a:ext cx="2743200" cy="483209"/>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en-US" sz="1200" b="1">
                <a:solidFill>
                  <a:srgbClr val="575757"/>
                </a:solidFill>
                <a:sym typeface="Trebuchet MS" panose="020B0603020202020204" pitchFamily="34" charset="0"/>
              </a:rPr>
              <a:t>CA 06.Jun.24:
</a:t>
            </a:r>
            <a:r>
              <a:rPr lang="en-US" altLang="zh-TW" sz="1200" b="1">
                <a:solidFill>
                  <a:srgbClr val="575757"/>
                </a:solidFill>
                <a:sym typeface="Trebuchet MS" panose="020B0603020202020204" pitchFamily="34" charset="0"/>
              </a:rPr>
              <a:t>TBD</a:t>
            </a:r>
            <a:endParaRPr lang="en-US" sz="1200" b="1">
              <a:solidFill>
                <a:srgbClr val="575757"/>
              </a:solidFill>
              <a:sym typeface="Trebuchet MS" panose="020B0603020202020204" pitchFamily="34" charset="0"/>
            </a:endParaRPr>
          </a:p>
        </p:txBody>
      </p:sp>
    </p:spTree>
    <p:extLst>
      <p:ext uri="{BB962C8B-B14F-4D97-AF65-F5344CB8AC3E}">
        <p14:creationId xmlns:p14="http://schemas.microsoft.com/office/powerpoint/2010/main" val="8947945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6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286" imgH="286" progId="TCLayout.ActiveDocument.1">
                  <p:embed/>
                </p:oleObj>
              </mc:Choice>
              <mc:Fallback>
                <p:oleObj name="think-cell Slide" r:id="rId4" imgW="286" imgH="286" progId="TCLayout.ActiveDocument.1">
                  <p:embed/>
                  <p:pic>
                    <p:nvPicPr>
                      <p:cNvPr id="4" name="Object 3"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3" name="Title 2"/>
          <p:cNvSpPr>
            <a:spLocks noGrp="1"/>
          </p:cNvSpPr>
          <p:nvPr>
            <p:ph type="title"/>
          </p:nvPr>
        </p:nvSpPr>
        <p:spPr>
          <a:xfrm>
            <a:off x="630000" y="622800"/>
            <a:ext cx="10933350" cy="664797"/>
          </a:xfrm>
        </p:spPr>
        <p:txBody>
          <a:bodyPr vert="horz">
            <a:spAutoFit/>
          </a:bodyPr>
          <a:lstStyle/>
          <a:p>
            <a:pPr>
              <a:buSzPts val="2400"/>
            </a:pPr>
            <a:r>
              <a:rPr lang="en-US"/>
              <a:t>Banking universe scanned for potential hook offerings; products revolve around 4 major domains </a:t>
            </a:r>
          </a:p>
        </p:txBody>
      </p:sp>
      <p:sp>
        <p:nvSpPr>
          <p:cNvPr id="12" name="TextBox 11">
            <a:extLst>
              <a:ext uri="{FF2B5EF4-FFF2-40B4-BE49-F238E27FC236}">
                <a16:creationId xmlns:a16="http://schemas.microsoft.com/office/drawing/2014/main" id="{B367F2F6-94DA-447B-BBD8-7422270D2938}"/>
              </a:ext>
            </a:extLst>
          </p:cNvPr>
          <p:cNvSpPr txBox="1"/>
          <p:nvPr/>
        </p:nvSpPr>
        <p:spPr>
          <a:xfrm>
            <a:off x="630686" y="3438795"/>
            <a:ext cx="808929" cy="1292662"/>
          </a:xfrm>
          <a:prstGeom prst="rect">
            <a:avLst/>
          </a:prstGeom>
          <a:noFill/>
          <a:ln w="19050" cap="rnd" cmpd="sng" algn="ctr">
            <a:solidFill>
              <a:srgbClr val="29BA74"/>
            </a:solidFill>
            <a:prstDash val="solid"/>
            <a:round/>
            <a:headEnd type="none" w="med" len="med"/>
            <a:tailEnd type="none" w="med" len="me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 tIns="18288" rIns="18288" bIns="18288" numCol="1" spcCol="0" rtlCol="0" fromWordArt="0" anchor="ctr" anchorCtr="0" forceAA="0" compatLnSpc="1">
            <a:prstTxWarp prst="textNoShape">
              <a:avLst/>
            </a:prstTxWarp>
            <a:noAutofit/>
          </a:bodyPr>
          <a:lstStyle/>
          <a:p>
            <a:pPr algn="ctr"/>
            <a:r>
              <a:rPr lang="en-US" sz="1400">
                <a:solidFill>
                  <a:srgbClr val="29BA74"/>
                </a:solidFill>
              </a:rPr>
              <a:t>Main product lines </a:t>
            </a:r>
            <a:r>
              <a:rPr lang="en-US" sz="1400">
                <a:solidFill>
                  <a:srgbClr val="575757"/>
                </a:solidFill>
              </a:rPr>
              <a:t>(and sub products)</a:t>
            </a:r>
          </a:p>
        </p:txBody>
      </p:sp>
      <p:sp>
        <p:nvSpPr>
          <p:cNvPr id="122" name="Rectangle 121">
            <a:extLst>
              <a:ext uri="{FF2B5EF4-FFF2-40B4-BE49-F238E27FC236}">
                <a16:creationId xmlns:a16="http://schemas.microsoft.com/office/drawing/2014/main" id="{AE910F7D-3578-413F-8AB4-8797D55C610C}"/>
              </a:ext>
            </a:extLst>
          </p:cNvPr>
          <p:cNvSpPr/>
          <p:nvPr/>
        </p:nvSpPr>
        <p:spPr>
          <a:xfrm>
            <a:off x="9583474" y="1560301"/>
            <a:ext cx="1880271" cy="4555295"/>
          </a:xfrm>
          <a:prstGeom prst="rect">
            <a:avLst/>
          </a:prstGeom>
          <a:noFill/>
          <a:ln w="9525" cap="rnd" cmpd="sng" algn="ctr">
            <a:solidFill>
              <a:schemeClr val="tx2"/>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a:solidFill>
                <a:srgbClr val="FFFFFF"/>
              </a:solidFill>
              <a:sym typeface="Trebuchet MS" panose="020B0603020202020204" pitchFamily="34" charset="0"/>
            </a:endParaRPr>
          </a:p>
        </p:txBody>
      </p:sp>
      <p:sp>
        <p:nvSpPr>
          <p:cNvPr id="123" name="Rectangle 122">
            <a:extLst>
              <a:ext uri="{FF2B5EF4-FFF2-40B4-BE49-F238E27FC236}">
                <a16:creationId xmlns:a16="http://schemas.microsoft.com/office/drawing/2014/main" id="{21783683-52DC-45CA-9D0D-CD772E95A95A}"/>
              </a:ext>
            </a:extLst>
          </p:cNvPr>
          <p:cNvSpPr/>
          <p:nvPr/>
        </p:nvSpPr>
        <p:spPr>
          <a:xfrm>
            <a:off x="10854482" y="1513704"/>
            <a:ext cx="352479" cy="71129"/>
          </a:xfrm>
          <a:prstGeom prst="rect">
            <a:avLst/>
          </a:prstGeom>
          <a:solidFill>
            <a:srgbClr val="FFFFFF"/>
          </a:solidFill>
          <a:ln w="9525" cap="flat" cmpd="sng" algn="ctr">
            <a:no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a:solidFill>
                <a:srgbClr val="FFFFFF"/>
              </a:solidFill>
            </a:endParaRPr>
          </a:p>
        </p:txBody>
      </p:sp>
      <p:sp>
        <p:nvSpPr>
          <p:cNvPr id="124" name="Diamond 123">
            <a:extLst>
              <a:ext uri="{FF2B5EF4-FFF2-40B4-BE49-F238E27FC236}">
                <a16:creationId xmlns:a16="http://schemas.microsoft.com/office/drawing/2014/main" id="{29C6CCCD-660A-4030-A347-45FEFB890D14}"/>
              </a:ext>
            </a:extLst>
          </p:cNvPr>
          <p:cNvSpPr/>
          <p:nvPr/>
        </p:nvSpPr>
        <p:spPr>
          <a:xfrm>
            <a:off x="10855897" y="1310481"/>
            <a:ext cx="709489" cy="710337"/>
          </a:xfrm>
          <a:prstGeom prst="diamond">
            <a:avLst/>
          </a:prstGeom>
          <a:solidFill>
            <a:srgbClr val="FFFFFF"/>
          </a:solidFill>
          <a:ln w="19050"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4295" tIns="37148" rIns="74295" bIns="37148" numCol="1" spcCol="0" rtlCol="0" fromWordArt="0" anchor="ctr" anchorCtr="0" forceAA="0" compatLnSpc="1">
            <a:prstTxWarp prst="textNoShape">
              <a:avLst/>
            </a:prstTxWarp>
            <a:noAutofit/>
          </a:bodyPr>
          <a:lstStyle/>
          <a:p>
            <a:pPr algn="ctr">
              <a:lnSpc>
                <a:spcPct val="90000"/>
              </a:lnSpc>
              <a:spcAft>
                <a:spcPts val="813"/>
              </a:spcAft>
            </a:pPr>
            <a:endParaRPr lang="en-US" sz="1600">
              <a:solidFill>
                <a:srgbClr val="FFFFFF"/>
              </a:solidFill>
              <a:sym typeface="Trebuchet MS" panose="020B0603020202020204" pitchFamily="34" charset="0"/>
            </a:endParaRPr>
          </a:p>
        </p:txBody>
      </p:sp>
      <p:sp>
        <p:nvSpPr>
          <p:cNvPr id="125" name="Arrow: Chevron 59">
            <a:extLst>
              <a:ext uri="{FF2B5EF4-FFF2-40B4-BE49-F238E27FC236}">
                <a16:creationId xmlns:a16="http://schemas.microsoft.com/office/drawing/2014/main" id="{180D808A-8879-4D9E-9F99-7544F603C906}"/>
              </a:ext>
            </a:extLst>
          </p:cNvPr>
          <p:cNvSpPr/>
          <p:nvPr/>
        </p:nvSpPr>
        <p:spPr>
          <a:xfrm flipH="1">
            <a:off x="9743740" y="1441196"/>
            <a:ext cx="1282435" cy="458654"/>
          </a:xfrm>
          <a:prstGeom prst="chevron">
            <a:avLst>
              <a:gd name="adj" fmla="val 51207"/>
            </a:avLst>
          </a:prstGeom>
          <a:solidFill>
            <a:schemeClr val="tx2"/>
          </a:solidFill>
          <a:ln w="12700" cap="flat" cmpd="sng" algn="ctr">
            <a:solidFill>
              <a:schemeClr val="tx2"/>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26" name="Rectangle: Rounded Corners 60">
            <a:extLst>
              <a:ext uri="{FF2B5EF4-FFF2-40B4-BE49-F238E27FC236}">
                <a16:creationId xmlns:a16="http://schemas.microsoft.com/office/drawing/2014/main" id="{1BA1FD73-5087-4C1B-977D-8222C2BE62E2}"/>
              </a:ext>
            </a:extLst>
          </p:cNvPr>
          <p:cNvSpPr/>
          <p:nvPr/>
        </p:nvSpPr>
        <p:spPr>
          <a:xfrm>
            <a:off x="9583475" y="1441196"/>
            <a:ext cx="1087872" cy="458654"/>
          </a:xfrm>
          <a:prstGeom prst="roundRect">
            <a:avLst>
              <a:gd name="adj" fmla="val 11456"/>
            </a:avLst>
          </a:prstGeom>
          <a:solidFill>
            <a:schemeClr val="tx2"/>
          </a:solidFill>
          <a:ln w="12700" cap="flat" cmpd="sng" algn="ctr">
            <a:solidFill>
              <a:schemeClr val="tx2"/>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wrap="none" lIns="91440" tIns="45720" rIns="91440" bIns="45720" rtlCol="0" anchor="ctr"/>
          <a:lstStyle/>
          <a:p>
            <a:r>
              <a:rPr lang="en-US" sz="1400"/>
              <a:t>Investment</a:t>
            </a:r>
            <a:br>
              <a:rPr lang="en-US" sz="1400"/>
            </a:br>
            <a:r>
              <a:rPr lang="en-US" sz="1400"/>
              <a:t>Domain</a:t>
            </a:r>
          </a:p>
        </p:txBody>
      </p:sp>
      <p:sp>
        <p:nvSpPr>
          <p:cNvPr id="128" name="Rectangle 127">
            <a:extLst>
              <a:ext uri="{FF2B5EF4-FFF2-40B4-BE49-F238E27FC236}">
                <a16:creationId xmlns:a16="http://schemas.microsoft.com/office/drawing/2014/main" id="{880BA536-0A9D-4D8F-B3AE-2746DC133612}"/>
              </a:ext>
            </a:extLst>
          </p:cNvPr>
          <p:cNvSpPr/>
          <p:nvPr/>
        </p:nvSpPr>
        <p:spPr>
          <a:xfrm>
            <a:off x="10942803" y="6069876"/>
            <a:ext cx="520942" cy="4572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90000"/>
              </a:lnSpc>
              <a:spcAft>
                <a:spcPts val="1000"/>
              </a:spcAft>
            </a:pPr>
            <a:endParaRPr lang="en-US" sz="1600">
              <a:solidFill>
                <a:prstClr val="white"/>
              </a:solidFill>
              <a:sym typeface="Trebuchet MS" panose="020B0603020202020204" pitchFamily="34" charset="0"/>
            </a:endParaRPr>
          </a:p>
        </p:txBody>
      </p:sp>
      <p:sp>
        <p:nvSpPr>
          <p:cNvPr id="147" name="Rectangle 146">
            <a:extLst>
              <a:ext uri="{FF2B5EF4-FFF2-40B4-BE49-F238E27FC236}">
                <a16:creationId xmlns:a16="http://schemas.microsoft.com/office/drawing/2014/main" id="{AE910F7D-3578-413F-8AB4-8797D55C610C}"/>
              </a:ext>
            </a:extLst>
          </p:cNvPr>
          <p:cNvSpPr/>
          <p:nvPr/>
        </p:nvSpPr>
        <p:spPr>
          <a:xfrm>
            <a:off x="6652017" y="1560301"/>
            <a:ext cx="2752862" cy="4555295"/>
          </a:xfrm>
          <a:prstGeom prst="rect">
            <a:avLst/>
          </a:prstGeom>
          <a:noFill/>
          <a:ln w="9525" cap="rnd" cmpd="sng" algn="ctr">
            <a:solidFill>
              <a:schemeClr val="tx2"/>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a:solidFill>
                <a:srgbClr val="FFFFFF"/>
              </a:solidFill>
              <a:sym typeface="Trebuchet MS" panose="020B0603020202020204" pitchFamily="34" charset="0"/>
            </a:endParaRPr>
          </a:p>
        </p:txBody>
      </p:sp>
      <p:sp>
        <p:nvSpPr>
          <p:cNvPr id="153" name="Rectangle 152">
            <a:extLst>
              <a:ext uri="{FF2B5EF4-FFF2-40B4-BE49-F238E27FC236}">
                <a16:creationId xmlns:a16="http://schemas.microsoft.com/office/drawing/2014/main" id="{21783683-52DC-45CA-9D0D-CD772E95A95A}"/>
              </a:ext>
            </a:extLst>
          </p:cNvPr>
          <p:cNvSpPr/>
          <p:nvPr/>
        </p:nvSpPr>
        <p:spPr>
          <a:xfrm>
            <a:off x="8812356" y="1513704"/>
            <a:ext cx="352479" cy="71129"/>
          </a:xfrm>
          <a:prstGeom prst="rect">
            <a:avLst/>
          </a:prstGeom>
          <a:solidFill>
            <a:srgbClr val="FFFFFF"/>
          </a:solidFill>
          <a:ln w="9525" cap="flat" cmpd="sng" algn="ctr">
            <a:no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a:solidFill>
                <a:srgbClr val="FFFFFF"/>
              </a:solidFill>
            </a:endParaRPr>
          </a:p>
        </p:txBody>
      </p:sp>
      <p:sp>
        <p:nvSpPr>
          <p:cNvPr id="154" name="Diamond 153">
            <a:extLst>
              <a:ext uri="{FF2B5EF4-FFF2-40B4-BE49-F238E27FC236}">
                <a16:creationId xmlns:a16="http://schemas.microsoft.com/office/drawing/2014/main" id="{29C6CCCD-660A-4030-A347-45FEFB890D14}"/>
              </a:ext>
            </a:extLst>
          </p:cNvPr>
          <p:cNvSpPr/>
          <p:nvPr/>
        </p:nvSpPr>
        <p:spPr>
          <a:xfrm>
            <a:off x="8813771" y="1310481"/>
            <a:ext cx="709489" cy="710337"/>
          </a:xfrm>
          <a:prstGeom prst="diamond">
            <a:avLst/>
          </a:prstGeom>
          <a:solidFill>
            <a:srgbClr val="FFFFFF"/>
          </a:solidFill>
          <a:ln w="19050"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4295" tIns="37148" rIns="74295" bIns="37148" numCol="1" spcCol="0" rtlCol="0" fromWordArt="0" anchor="ctr" anchorCtr="0" forceAA="0" compatLnSpc="1">
            <a:prstTxWarp prst="textNoShape">
              <a:avLst/>
            </a:prstTxWarp>
            <a:noAutofit/>
          </a:bodyPr>
          <a:lstStyle/>
          <a:p>
            <a:pPr algn="ctr">
              <a:lnSpc>
                <a:spcPct val="90000"/>
              </a:lnSpc>
              <a:spcAft>
                <a:spcPts val="813"/>
              </a:spcAft>
            </a:pPr>
            <a:endParaRPr lang="en-US" sz="1600">
              <a:solidFill>
                <a:srgbClr val="FFFFFF"/>
              </a:solidFill>
              <a:sym typeface="Trebuchet MS" panose="020B0603020202020204" pitchFamily="34" charset="0"/>
            </a:endParaRPr>
          </a:p>
        </p:txBody>
      </p:sp>
      <p:grpSp>
        <p:nvGrpSpPr>
          <p:cNvPr id="149" name="Group 148"/>
          <p:cNvGrpSpPr/>
          <p:nvPr/>
        </p:nvGrpSpPr>
        <p:grpSpPr>
          <a:xfrm>
            <a:off x="6652018" y="1441196"/>
            <a:ext cx="2318654" cy="458654"/>
            <a:chOff x="3718526" y="1954346"/>
            <a:chExt cx="1442700" cy="458654"/>
          </a:xfrm>
        </p:grpSpPr>
        <p:sp>
          <p:nvSpPr>
            <p:cNvPr id="151" name="Arrow: Chevron 59">
              <a:extLst>
                <a:ext uri="{FF2B5EF4-FFF2-40B4-BE49-F238E27FC236}">
                  <a16:creationId xmlns:a16="http://schemas.microsoft.com/office/drawing/2014/main" id="{180D808A-8879-4D9E-9F99-7544F603C906}"/>
                </a:ext>
              </a:extLst>
            </p:cNvPr>
            <p:cNvSpPr/>
            <p:nvPr/>
          </p:nvSpPr>
          <p:spPr>
            <a:xfrm flipH="1">
              <a:off x="3878791" y="1954346"/>
              <a:ext cx="1282435" cy="458654"/>
            </a:xfrm>
            <a:prstGeom prst="chevron">
              <a:avLst>
                <a:gd name="adj" fmla="val 51207"/>
              </a:avLst>
            </a:prstGeom>
            <a:solidFill>
              <a:schemeClr val="tx2"/>
            </a:solidFill>
            <a:ln w="12700" cap="flat" cmpd="sng" algn="ctr">
              <a:solidFill>
                <a:schemeClr val="tx2"/>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52" name="Rectangle: Rounded Corners 60">
              <a:extLst>
                <a:ext uri="{FF2B5EF4-FFF2-40B4-BE49-F238E27FC236}">
                  <a16:creationId xmlns:a16="http://schemas.microsoft.com/office/drawing/2014/main" id="{1BA1FD73-5087-4C1B-977D-8222C2BE62E2}"/>
                </a:ext>
              </a:extLst>
            </p:cNvPr>
            <p:cNvSpPr/>
            <p:nvPr/>
          </p:nvSpPr>
          <p:spPr>
            <a:xfrm>
              <a:off x="3718526" y="1954346"/>
              <a:ext cx="1087872" cy="458654"/>
            </a:xfrm>
            <a:prstGeom prst="roundRect">
              <a:avLst>
                <a:gd name="adj" fmla="val 11456"/>
              </a:avLst>
            </a:prstGeom>
            <a:solidFill>
              <a:schemeClr val="tx2"/>
            </a:solidFill>
            <a:ln w="12700" cap="flat" cmpd="sng" algn="ctr">
              <a:solidFill>
                <a:schemeClr val="tx2"/>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wrap="none" lIns="91440" tIns="45720" rIns="91440" bIns="45720" rtlCol="0" anchor="ctr"/>
            <a:lstStyle/>
            <a:p>
              <a:r>
                <a:rPr lang="en-US" sz="1400"/>
                <a:t>Daily Banking Domain</a:t>
              </a:r>
            </a:p>
          </p:txBody>
        </p:sp>
      </p:grpSp>
      <p:sp>
        <p:nvSpPr>
          <p:cNvPr id="150" name="Rectangle 149">
            <a:extLst>
              <a:ext uri="{FF2B5EF4-FFF2-40B4-BE49-F238E27FC236}">
                <a16:creationId xmlns:a16="http://schemas.microsoft.com/office/drawing/2014/main" id="{880BA536-0A9D-4D8F-B3AE-2746DC133612}"/>
              </a:ext>
            </a:extLst>
          </p:cNvPr>
          <p:cNvSpPr/>
          <p:nvPr/>
        </p:nvSpPr>
        <p:spPr>
          <a:xfrm>
            <a:off x="8883937" y="6069876"/>
            <a:ext cx="520942" cy="4572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90000"/>
              </a:lnSpc>
              <a:spcAft>
                <a:spcPts val="1000"/>
              </a:spcAft>
            </a:pPr>
            <a:endParaRPr lang="en-US" sz="1600">
              <a:solidFill>
                <a:prstClr val="white"/>
              </a:solidFill>
              <a:sym typeface="Trebuchet MS" panose="020B0603020202020204" pitchFamily="34" charset="0"/>
            </a:endParaRPr>
          </a:p>
        </p:txBody>
      </p:sp>
      <p:grpSp>
        <p:nvGrpSpPr>
          <p:cNvPr id="170" name="Group 169">
            <a:extLst>
              <a:ext uri="{FF2B5EF4-FFF2-40B4-BE49-F238E27FC236}">
                <a16:creationId xmlns:a16="http://schemas.microsoft.com/office/drawing/2014/main" id="{01D36FF7-751E-45EC-AC82-D6EE029F4E40}"/>
              </a:ext>
            </a:extLst>
          </p:cNvPr>
          <p:cNvGrpSpPr>
            <a:grpSpLocks noChangeAspect="1"/>
          </p:cNvGrpSpPr>
          <p:nvPr/>
        </p:nvGrpSpPr>
        <p:grpSpPr>
          <a:xfrm>
            <a:off x="11034662" y="1489499"/>
            <a:ext cx="351960" cy="352300"/>
            <a:chOff x="5273675" y="2605088"/>
            <a:chExt cx="1644650" cy="1646237"/>
          </a:xfrm>
        </p:grpSpPr>
        <p:sp>
          <p:nvSpPr>
            <p:cNvPr id="171" name="AutoShape 3">
              <a:extLst>
                <a:ext uri="{FF2B5EF4-FFF2-40B4-BE49-F238E27FC236}">
                  <a16:creationId xmlns:a16="http://schemas.microsoft.com/office/drawing/2014/main" id="{9E729C38-10C6-4CDF-9270-AB33E741D266}"/>
                </a:ext>
              </a:extLst>
            </p:cNvPr>
            <p:cNvSpPr>
              <a:spLocks noChangeAspect="1" noChangeArrowheads="1" noTextEdit="1"/>
            </p:cNvSpPr>
            <p:nvPr/>
          </p:nvSpPr>
          <p:spPr bwMode="auto">
            <a:xfrm>
              <a:off x="5273675" y="2605088"/>
              <a:ext cx="1644650" cy="1646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3152" tIns="36576" rIns="73152" bIns="36576" numCol="1" anchor="t" anchorCtr="0" compatLnSpc="1">
              <a:prstTxWarp prst="textNoShape">
                <a:avLst/>
              </a:prstTxWarp>
            </a:bodyPr>
            <a:lstStyle/>
            <a:p>
              <a:endParaRPr lang="en-US"/>
            </a:p>
          </p:txBody>
        </p:sp>
        <p:grpSp>
          <p:nvGrpSpPr>
            <p:cNvPr id="172" name="Group 171">
              <a:extLst>
                <a:ext uri="{FF2B5EF4-FFF2-40B4-BE49-F238E27FC236}">
                  <a16:creationId xmlns:a16="http://schemas.microsoft.com/office/drawing/2014/main" id="{0B5FC087-5ADB-4E31-A8F3-71132BDBD889}"/>
                </a:ext>
              </a:extLst>
            </p:cNvPr>
            <p:cNvGrpSpPr/>
            <p:nvPr/>
          </p:nvGrpSpPr>
          <p:grpSpPr>
            <a:xfrm>
              <a:off x="5497179" y="2775744"/>
              <a:ext cx="1197643" cy="1304925"/>
              <a:chOff x="5497974" y="2774950"/>
              <a:chExt cx="1197643" cy="1304925"/>
            </a:xfrm>
          </p:grpSpPr>
          <p:sp>
            <p:nvSpPr>
              <p:cNvPr id="173" name="Freeform 5">
                <a:extLst>
                  <a:ext uri="{FF2B5EF4-FFF2-40B4-BE49-F238E27FC236}">
                    <a16:creationId xmlns:a16="http://schemas.microsoft.com/office/drawing/2014/main" id="{A3A6F2D6-1E97-457D-B034-B6694CD66F35}"/>
                  </a:ext>
                </a:extLst>
              </p:cNvPr>
              <p:cNvSpPr>
                <a:spLocks/>
              </p:cNvSpPr>
              <p:nvPr/>
            </p:nvSpPr>
            <p:spPr bwMode="auto">
              <a:xfrm>
                <a:off x="5780088" y="2838450"/>
                <a:ext cx="633413" cy="246062"/>
              </a:xfrm>
              <a:custGeom>
                <a:avLst/>
                <a:gdLst>
                  <a:gd name="connsiteX0" fmla="*/ 368300 w 633413"/>
                  <a:gd name="connsiteY0" fmla="*/ 0 h 246062"/>
                  <a:gd name="connsiteX1" fmla="*/ 595540 w 633413"/>
                  <a:gd name="connsiteY1" fmla="*/ 0 h 246062"/>
                  <a:gd name="connsiteX2" fmla="*/ 595540 w 633413"/>
                  <a:gd name="connsiteY2" fmla="*/ 718 h 246062"/>
                  <a:gd name="connsiteX3" fmla="*/ 594111 w 633413"/>
                  <a:gd name="connsiteY3" fmla="*/ 10043 h 246062"/>
                  <a:gd name="connsiteX4" fmla="*/ 622694 w 633413"/>
                  <a:gd name="connsiteY4" fmla="*/ 39456 h 246062"/>
                  <a:gd name="connsiteX5" fmla="*/ 631984 w 633413"/>
                  <a:gd name="connsiteY5" fmla="*/ 37304 h 246062"/>
                  <a:gd name="connsiteX6" fmla="*/ 633413 w 633413"/>
                  <a:gd name="connsiteY6" fmla="*/ 38021 h 246062"/>
                  <a:gd name="connsiteX7" fmla="*/ 633413 w 633413"/>
                  <a:gd name="connsiteY7" fmla="*/ 209476 h 246062"/>
                  <a:gd name="connsiteX8" fmla="*/ 631984 w 633413"/>
                  <a:gd name="connsiteY8" fmla="*/ 210910 h 246062"/>
                  <a:gd name="connsiteX9" fmla="*/ 622694 w 633413"/>
                  <a:gd name="connsiteY9" fmla="*/ 208758 h 246062"/>
                  <a:gd name="connsiteX10" fmla="*/ 594111 w 633413"/>
                  <a:gd name="connsiteY10" fmla="*/ 237454 h 246062"/>
                  <a:gd name="connsiteX11" fmla="*/ 594825 w 633413"/>
                  <a:gd name="connsiteY11" fmla="*/ 245345 h 246062"/>
                  <a:gd name="connsiteX12" fmla="*/ 594825 w 633413"/>
                  <a:gd name="connsiteY12" fmla="*/ 246062 h 246062"/>
                  <a:gd name="connsiteX13" fmla="*/ 368300 w 633413"/>
                  <a:gd name="connsiteY13" fmla="*/ 246062 h 246062"/>
                  <a:gd name="connsiteX14" fmla="*/ 369015 w 633413"/>
                  <a:gd name="connsiteY14" fmla="*/ 244627 h 246062"/>
                  <a:gd name="connsiteX15" fmla="*/ 426182 w 633413"/>
                  <a:gd name="connsiteY15" fmla="*/ 123390 h 246062"/>
                  <a:gd name="connsiteX16" fmla="*/ 369015 w 633413"/>
                  <a:gd name="connsiteY16" fmla="*/ 1435 h 246062"/>
                  <a:gd name="connsiteX17" fmla="*/ 368300 w 633413"/>
                  <a:gd name="connsiteY17" fmla="*/ 0 h 246062"/>
                  <a:gd name="connsiteX18" fmla="*/ 38611 w 633413"/>
                  <a:gd name="connsiteY18" fmla="*/ 0 h 246062"/>
                  <a:gd name="connsiteX19" fmla="*/ 265985 w 633413"/>
                  <a:gd name="connsiteY19" fmla="*/ 0 h 246062"/>
                  <a:gd name="connsiteX20" fmla="*/ 265270 w 633413"/>
                  <a:gd name="connsiteY20" fmla="*/ 1435 h 246062"/>
                  <a:gd name="connsiteX21" fmla="*/ 208069 w 633413"/>
                  <a:gd name="connsiteY21" fmla="*/ 123390 h 246062"/>
                  <a:gd name="connsiteX22" fmla="*/ 265270 w 633413"/>
                  <a:gd name="connsiteY22" fmla="*/ 244627 h 246062"/>
                  <a:gd name="connsiteX23" fmla="*/ 265985 w 633413"/>
                  <a:gd name="connsiteY23" fmla="*/ 246062 h 246062"/>
                  <a:gd name="connsiteX24" fmla="*/ 38611 w 633413"/>
                  <a:gd name="connsiteY24" fmla="*/ 246062 h 246062"/>
                  <a:gd name="connsiteX25" fmla="*/ 38611 w 633413"/>
                  <a:gd name="connsiteY25" fmla="*/ 245345 h 246062"/>
                  <a:gd name="connsiteX26" fmla="*/ 40041 w 633413"/>
                  <a:gd name="connsiteY26" fmla="*/ 237454 h 246062"/>
                  <a:gd name="connsiteX27" fmla="*/ 10725 w 633413"/>
                  <a:gd name="connsiteY27" fmla="*/ 208758 h 246062"/>
                  <a:gd name="connsiteX28" fmla="*/ 2145 w 633413"/>
                  <a:gd name="connsiteY28" fmla="*/ 210193 h 246062"/>
                  <a:gd name="connsiteX29" fmla="*/ 0 w 633413"/>
                  <a:gd name="connsiteY29" fmla="*/ 209476 h 246062"/>
                  <a:gd name="connsiteX30" fmla="*/ 0 w 633413"/>
                  <a:gd name="connsiteY30" fmla="*/ 38739 h 246062"/>
                  <a:gd name="connsiteX31" fmla="*/ 2145 w 633413"/>
                  <a:gd name="connsiteY31" fmla="*/ 37304 h 246062"/>
                  <a:gd name="connsiteX32" fmla="*/ 10725 w 633413"/>
                  <a:gd name="connsiteY32" fmla="*/ 39456 h 246062"/>
                  <a:gd name="connsiteX33" fmla="*/ 40041 w 633413"/>
                  <a:gd name="connsiteY33" fmla="*/ 10043 h 246062"/>
                  <a:gd name="connsiteX34" fmla="*/ 38611 w 633413"/>
                  <a:gd name="connsiteY34" fmla="*/ 718 h 246062"/>
                  <a:gd name="connsiteX35" fmla="*/ 38611 w 633413"/>
                  <a:gd name="connsiteY35" fmla="*/ 0 h 246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33413" h="246062">
                    <a:moveTo>
                      <a:pt x="368300" y="0"/>
                    </a:moveTo>
                    <a:cubicBezTo>
                      <a:pt x="368300" y="0"/>
                      <a:pt x="368300" y="0"/>
                      <a:pt x="595540" y="0"/>
                    </a:cubicBezTo>
                    <a:cubicBezTo>
                      <a:pt x="595540" y="0"/>
                      <a:pt x="595540" y="0"/>
                      <a:pt x="595540" y="718"/>
                    </a:cubicBezTo>
                    <a:cubicBezTo>
                      <a:pt x="594825" y="3587"/>
                      <a:pt x="594111" y="7174"/>
                      <a:pt x="594111" y="10043"/>
                    </a:cubicBezTo>
                    <a:cubicBezTo>
                      <a:pt x="594111" y="25826"/>
                      <a:pt x="606973" y="39456"/>
                      <a:pt x="622694" y="39456"/>
                    </a:cubicBezTo>
                    <a:cubicBezTo>
                      <a:pt x="625553" y="39456"/>
                      <a:pt x="629126" y="38021"/>
                      <a:pt x="631984" y="37304"/>
                    </a:cubicBezTo>
                    <a:cubicBezTo>
                      <a:pt x="632699" y="37304"/>
                      <a:pt x="633413" y="37304"/>
                      <a:pt x="633413" y="38021"/>
                    </a:cubicBezTo>
                    <a:cubicBezTo>
                      <a:pt x="633413" y="38021"/>
                      <a:pt x="633413" y="38021"/>
                      <a:pt x="633413" y="209476"/>
                    </a:cubicBezTo>
                    <a:cubicBezTo>
                      <a:pt x="633413" y="210193"/>
                      <a:pt x="632699" y="210910"/>
                      <a:pt x="631984" y="210910"/>
                    </a:cubicBezTo>
                    <a:cubicBezTo>
                      <a:pt x="629126" y="209476"/>
                      <a:pt x="625553" y="208758"/>
                      <a:pt x="622694" y="208758"/>
                    </a:cubicBezTo>
                    <a:cubicBezTo>
                      <a:pt x="606973" y="208758"/>
                      <a:pt x="594111" y="221671"/>
                      <a:pt x="594111" y="237454"/>
                    </a:cubicBezTo>
                    <a:cubicBezTo>
                      <a:pt x="594111" y="240323"/>
                      <a:pt x="594111" y="242475"/>
                      <a:pt x="594825" y="245345"/>
                    </a:cubicBezTo>
                    <a:cubicBezTo>
                      <a:pt x="594825" y="245345"/>
                      <a:pt x="594825" y="245345"/>
                      <a:pt x="594825" y="246062"/>
                    </a:cubicBezTo>
                    <a:cubicBezTo>
                      <a:pt x="594825" y="246062"/>
                      <a:pt x="594825" y="246062"/>
                      <a:pt x="368300" y="246062"/>
                    </a:cubicBezTo>
                    <a:cubicBezTo>
                      <a:pt x="368300" y="245345"/>
                      <a:pt x="368300" y="245345"/>
                      <a:pt x="369015" y="244627"/>
                    </a:cubicBezTo>
                    <a:cubicBezTo>
                      <a:pt x="398313" y="223823"/>
                      <a:pt x="426182" y="176476"/>
                      <a:pt x="426182" y="123390"/>
                    </a:cubicBezTo>
                    <a:cubicBezTo>
                      <a:pt x="426182" y="69586"/>
                      <a:pt x="398313" y="22956"/>
                      <a:pt x="369015" y="1435"/>
                    </a:cubicBezTo>
                    <a:cubicBezTo>
                      <a:pt x="368300" y="718"/>
                      <a:pt x="368300" y="718"/>
                      <a:pt x="368300" y="0"/>
                    </a:cubicBezTo>
                    <a:close/>
                    <a:moveTo>
                      <a:pt x="38611" y="0"/>
                    </a:moveTo>
                    <a:cubicBezTo>
                      <a:pt x="38611" y="0"/>
                      <a:pt x="38611" y="0"/>
                      <a:pt x="265985" y="0"/>
                    </a:cubicBezTo>
                    <a:cubicBezTo>
                      <a:pt x="266700" y="718"/>
                      <a:pt x="265985" y="718"/>
                      <a:pt x="265270" y="1435"/>
                    </a:cubicBezTo>
                    <a:cubicBezTo>
                      <a:pt x="236670" y="22956"/>
                      <a:pt x="208069" y="69586"/>
                      <a:pt x="208069" y="123390"/>
                    </a:cubicBezTo>
                    <a:cubicBezTo>
                      <a:pt x="208069" y="176476"/>
                      <a:pt x="236670" y="223823"/>
                      <a:pt x="265270" y="244627"/>
                    </a:cubicBezTo>
                    <a:cubicBezTo>
                      <a:pt x="265985" y="245345"/>
                      <a:pt x="266700" y="245345"/>
                      <a:pt x="265985" y="246062"/>
                    </a:cubicBezTo>
                    <a:cubicBezTo>
                      <a:pt x="265985" y="246062"/>
                      <a:pt x="265985" y="246062"/>
                      <a:pt x="38611" y="246062"/>
                    </a:cubicBezTo>
                    <a:cubicBezTo>
                      <a:pt x="38611" y="246062"/>
                      <a:pt x="38611" y="246062"/>
                      <a:pt x="38611" y="245345"/>
                    </a:cubicBezTo>
                    <a:cubicBezTo>
                      <a:pt x="39326" y="242475"/>
                      <a:pt x="40041" y="240323"/>
                      <a:pt x="40041" y="237454"/>
                    </a:cubicBezTo>
                    <a:cubicBezTo>
                      <a:pt x="40041" y="221671"/>
                      <a:pt x="26456" y="208758"/>
                      <a:pt x="10725" y="208758"/>
                    </a:cubicBezTo>
                    <a:cubicBezTo>
                      <a:pt x="7865" y="208758"/>
                      <a:pt x="4290" y="209476"/>
                      <a:pt x="2145" y="210193"/>
                    </a:cubicBezTo>
                    <a:cubicBezTo>
                      <a:pt x="715" y="210910"/>
                      <a:pt x="0" y="210193"/>
                      <a:pt x="0" y="209476"/>
                    </a:cubicBezTo>
                    <a:cubicBezTo>
                      <a:pt x="0" y="209476"/>
                      <a:pt x="0" y="209476"/>
                      <a:pt x="0" y="38739"/>
                    </a:cubicBezTo>
                    <a:cubicBezTo>
                      <a:pt x="0" y="37304"/>
                      <a:pt x="715" y="37304"/>
                      <a:pt x="2145" y="37304"/>
                    </a:cubicBezTo>
                    <a:cubicBezTo>
                      <a:pt x="4290" y="38021"/>
                      <a:pt x="7865" y="39456"/>
                      <a:pt x="10725" y="39456"/>
                    </a:cubicBezTo>
                    <a:cubicBezTo>
                      <a:pt x="26456" y="39456"/>
                      <a:pt x="40041" y="25826"/>
                      <a:pt x="40041" y="10043"/>
                    </a:cubicBezTo>
                    <a:cubicBezTo>
                      <a:pt x="40041" y="7174"/>
                      <a:pt x="39326" y="3587"/>
                      <a:pt x="38611" y="718"/>
                    </a:cubicBezTo>
                    <a:cubicBezTo>
                      <a:pt x="38611" y="718"/>
                      <a:pt x="38611" y="718"/>
                      <a:pt x="38611"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noAutofit/>
              </a:bodyPr>
              <a:lstStyle/>
              <a:p>
                <a:endParaRPr lang="en-US"/>
              </a:p>
            </p:txBody>
          </p:sp>
          <p:sp>
            <p:nvSpPr>
              <p:cNvPr id="174" name="Freeform 6">
                <a:extLst>
                  <a:ext uri="{FF2B5EF4-FFF2-40B4-BE49-F238E27FC236}">
                    <a16:creationId xmlns:a16="http://schemas.microsoft.com/office/drawing/2014/main" id="{C5E795C9-E85D-4AAC-950E-FDD24A839B79}"/>
                  </a:ext>
                </a:extLst>
              </p:cNvPr>
              <p:cNvSpPr>
                <a:spLocks/>
              </p:cNvSpPr>
              <p:nvPr/>
            </p:nvSpPr>
            <p:spPr bwMode="auto">
              <a:xfrm>
                <a:off x="5497974" y="2774950"/>
                <a:ext cx="1197643" cy="1304925"/>
              </a:xfrm>
              <a:custGeom>
                <a:avLst/>
                <a:gdLst>
                  <a:gd name="connsiteX0" fmla="*/ 1077708 w 1197643"/>
                  <a:gd name="connsiteY0" fmla="*/ 315913 h 1304925"/>
                  <a:gd name="connsiteX1" fmla="*/ 1066261 w 1197643"/>
                  <a:gd name="connsiteY1" fmla="*/ 318056 h 1304925"/>
                  <a:gd name="connsiteX2" fmla="*/ 1044083 w 1197643"/>
                  <a:gd name="connsiteY2" fmla="*/ 337344 h 1304925"/>
                  <a:gd name="connsiteX3" fmla="*/ 1041936 w 1197643"/>
                  <a:gd name="connsiteY3" fmla="*/ 366634 h 1304925"/>
                  <a:gd name="connsiteX4" fmla="*/ 1065545 w 1197643"/>
                  <a:gd name="connsiteY4" fmla="*/ 434499 h 1304925"/>
                  <a:gd name="connsiteX5" fmla="*/ 1074130 w 1197643"/>
                  <a:gd name="connsiteY5" fmla="*/ 617379 h 1304925"/>
                  <a:gd name="connsiteX6" fmla="*/ 1071984 w 1197643"/>
                  <a:gd name="connsiteY6" fmla="*/ 623809 h 1304925"/>
                  <a:gd name="connsiteX7" fmla="*/ 966816 w 1197643"/>
                  <a:gd name="connsiteY7" fmla="*/ 788829 h 1304925"/>
                  <a:gd name="connsiteX8" fmla="*/ 946069 w 1197643"/>
                  <a:gd name="connsiteY8" fmla="*/ 805260 h 1304925"/>
                  <a:gd name="connsiteX9" fmla="*/ 920314 w 1197643"/>
                  <a:gd name="connsiteY9" fmla="*/ 814547 h 1304925"/>
                  <a:gd name="connsiteX10" fmla="*/ 885258 w 1197643"/>
                  <a:gd name="connsiteY10" fmla="*/ 795973 h 1304925"/>
                  <a:gd name="connsiteX11" fmla="*/ 882396 w 1197643"/>
                  <a:gd name="connsiteY11" fmla="*/ 756682 h 1304925"/>
                  <a:gd name="connsiteX12" fmla="*/ 931045 w 1197643"/>
                  <a:gd name="connsiteY12" fmla="*/ 646669 h 1304925"/>
                  <a:gd name="connsiteX13" fmla="*/ 917452 w 1197643"/>
                  <a:gd name="connsiteY13" fmla="*/ 605235 h 1304925"/>
                  <a:gd name="connsiteX14" fmla="*/ 901713 w 1197643"/>
                  <a:gd name="connsiteY14" fmla="*/ 600949 h 1304925"/>
                  <a:gd name="connsiteX15" fmla="*/ 873811 w 1197643"/>
                  <a:gd name="connsiteY15" fmla="*/ 616665 h 1304925"/>
                  <a:gd name="connsiteX16" fmla="*/ 710693 w 1197643"/>
                  <a:gd name="connsiteY16" fmla="*/ 875268 h 1304925"/>
                  <a:gd name="connsiteX17" fmla="*/ 688515 w 1197643"/>
                  <a:gd name="connsiteY17" fmla="*/ 950278 h 1304925"/>
                  <a:gd name="connsiteX18" fmla="*/ 689946 w 1197643"/>
                  <a:gd name="connsiteY18" fmla="*/ 1273175 h 1304925"/>
                  <a:gd name="connsiteX19" fmla="*/ 956800 w 1197643"/>
                  <a:gd name="connsiteY19" fmla="*/ 1273175 h 1304925"/>
                  <a:gd name="connsiteX20" fmla="*/ 956800 w 1197643"/>
                  <a:gd name="connsiteY20" fmla="*/ 1096010 h 1304925"/>
                  <a:gd name="connsiteX21" fmla="*/ 956800 w 1197643"/>
                  <a:gd name="connsiteY21" fmla="*/ 1091724 h 1304925"/>
                  <a:gd name="connsiteX22" fmla="*/ 993287 w 1197643"/>
                  <a:gd name="connsiteY22" fmla="*/ 995998 h 1304925"/>
                  <a:gd name="connsiteX23" fmla="*/ 1059822 w 1197643"/>
                  <a:gd name="connsiteY23" fmla="*/ 896700 h 1304925"/>
                  <a:gd name="connsiteX24" fmla="*/ 1153543 w 1197643"/>
                  <a:gd name="connsiteY24" fmla="*/ 672386 h 1304925"/>
                  <a:gd name="connsiteX25" fmla="*/ 1156405 w 1197643"/>
                  <a:gd name="connsiteY25" fmla="*/ 659527 h 1304925"/>
                  <a:gd name="connsiteX26" fmla="*/ 1138519 w 1197643"/>
                  <a:gd name="connsiteY26" fmla="*/ 408067 h 1304925"/>
                  <a:gd name="connsiteX27" fmla="*/ 1113479 w 1197643"/>
                  <a:gd name="connsiteY27" fmla="*/ 340916 h 1304925"/>
                  <a:gd name="connsiteX28" fmla="*/ 1077708 w 1197643"/>
                  <a:gd name="connsiteY28" fmla="*/ 315913 h 1304925"/>
                  <a:gd name="connsiteX29" fmla="*/ 118348 w 1197643"/>
                  <a:gd name="connsiteY29" fmla="*/ 315913 h 1304925"/>
                  <a:gd name="connsiteX30" fmla="*/ 82577 w 1197643"/>
                  <a:gd name="connsiteY30" fmla="*/ 340916 h 1304925"/>
                  <a:gd name="connsiteX31" fmla="*/ 57537 w 1197643"/>
                  <a:gd name="connsiteY31" fmla="*/ 408067 h 1304925"/>
                  <a:gd name="connsiteX32" fmla="*/ 39651 w 1197643"/>
                  <a:gd name="connsiteY32" fmla="*/ 659527 h 1304925"/>
                  <a:gd name="connsiteX33" fmla="*/ 42513 w 1197643"/>
                  <a:gd name="connsiteY33" fmla="*/ 672386 h 1304925"/>
                  <a:gd name="connsiteX34" fmla="*/ 136234 w 1197643"/>
                  <a:gd name="connsiteY34" fmla="*/ 896700 h 1304925"/>
                  <a:gd name="connsiteX35" fmla="*/ 202768 w 1197643"/>
                  <a:gd name="connsiteY35" fmla="*/ 995998 h 1304925"/>
                  <a:gd name="connsiteX36" fmla="*/ 239255 w 1197643"/>
                  <a:gd name="connsiteY36" fmla="*/ 1091724 h 1304925"/>
                  <a:gd name="connsiteX37" fmla="*/ 239255 w 1197643"/>
                  <a:gd name="connsiteY37" fmla="*/ 1096010 h 1304925"/>
                  <a:gd name="connsiteX38" fmla="*/ 239255 w 1197643"/>
                  <a:gd name="connsiteY38" fmla="*/ 1273175 h 1304925"/>
                  <a:gd name="connsiteX39" fmla="*/ 506109 w 1197643"/>
                  <a:gd name="connsiteY39" fmla="*/ 1273175 h 1304925"/>
                  <a:gd name="connsiteX40" fmla="*/ 507540 w 1197643"/>
                  <a:gd name="connsiteY40" fmla="*/ 950278 h 1304925"/>
                  <a:gd name="connsiteX41" fmla="*/ 485362 w 1197643"/>
                  <a:gd name="connsiteY41" fmla="*/ 875268 h 1304925"/>
                  <a:gd name="connsiteX42" fmla="*/ 322245 w 1197643"/>
                  <a:gd name="connsiteY42" fmla="*/ 616665 h 1304925"/>
                  <a:gd name="connsiteX43" fmla="*/ 294343 w 1197643"/>
                  <a:gd name="connsiteY43" fmla="*/ 600949 h 1304925"/>
                  <a:gd name="connsiteX44" fmla="*/ 278604 w 1197643"/>
                  <a:gd name="connsiteY44" fmla="*/ 605235 h 1304925"/>
                  <a:gd name="connsiteX45" fmla="*/ 265010 w 1197643"/>
                  <a:gd name="connsiteY45" fmla="*/ 646669 h 1304925"/>
                  <a:gd name="connsiteX46" fmla="*/ 313659 w 1197643"/>
                  <a:gd name="connsiteY46" fmla="*/ 756682 h 1304925"/>
                  <a:gd name="connsiteX47" fmla="*/ 310798 w 1197643"/>
                  <a:gd name="connsiteY47" fmla="*/ 795973 h 1304925"/>
                  <a:gd name="connsiteX48" fmla="*/ 275742 w 1197643"/>
                  <a:gd name="connsiteY48" fmla="*/ 814547 h 1304925"/>
                  <a:gd name="connsiteX49" fmla="*/ 249986 w 1197643"/>
                  <a:gd name="connsiteY49" fmla="*/ 805260 h 1304925"/>
                  <a:gd name="connsiteX50" fmla="*/ 229239 w 1197643"/>
                  <a:gd name="connsiteY50" fmla="*/ 788829 h 1304925"/>
                  <a:gd name="connsiteX51" fmla="*/ 124071 w 1197643"/>
                  <a:gd name="connsiteY51" fmla="*/ 623809 h 1304925"/>
                  <a:gd name="connsiteX52" fmla="*/ 121925 w 1197643"/>
                  <a:gd name="connsiteY52" fmla="*/ 617379 h 1304925"/>
                  <a:gd name="connsiteX53" fmla="*/ 130510 w 1197643"/>
                  <a:gd name="connsiteY53" fmla="*/ 434499 h 1304925"/>
                  <a:gd name="connsiteX54" fmla="*/ 154119 w 1197643"/>
                  <a:gd name="connsiteY54" fmla="*/ 366634 h 1304925"/>
                  <a:gd name="connsiteX55" fmla="*/ 151973 w 1197643"/>
                  <a:gd name="connsiteY55" fmla="*/ 337344 h 1304925"/>
                  <a:gd name="connsiteX56" fmla="*/ 129795 w 1197643"/>
                  <a:gd name="connsiteY56" fmla="*/ 318056 h 1304925"/>
                  <a:gd name="connsiteX57" fmla="*/ 118348 w 1197643"/>
                  <a:gd name="connsiteY57" fmla="*/ 315913 h 1304925"/>
                  <a:gd name="connsiteX58" fmla="*/ 1078223 w 1197643"/>
                  <a:gd name="connsiteY58" fmla="*/ 284163 h 1304925"/>
                  <a:gd name="connsiteX59" fmla="*/ 1143202 w 1197643"/>
                  <a:gd name="connsiteY59" fmla="*/ 329912 h 1304925"/>
                  <a:gd name="connsiteX60" fmla="*/ 1168195 w 1197643"/>
                  <a:gd name="connsiteY60" fmla="*/ 396390 h 1304925"/>
                  <a:gd name="connsiteX61" fmla="*/ 1186760 w 1197643"/>
                  <a:gd name="connsiteY61" fmla="*/ 665877 h 1304925"/>
                  <a:gd name="connsiteX62" fmla="*/ 1183904 w 1197643"/>
                  <a:gd name="connsiteY62" fmla="*/ 679458 h 1304925"/>
                  <a:gd name="connsiteX63" fmla="*/ 1086077 w 1197643"/>
                  <a:gd name="connsiteY63" fmla="*/ 913919 h 1304925"/>
                  <a:gd name="connsiteX64" fmla="*/ 1020383 w 1197643"/>
                  <a:gd name="connsiteY64" fmla="*/ 1013279 h 1304925"/>
                  <a:gd name="connsiteX65" fmla="*/ 988964 w 1197643"/>
                  <a:gd name="connsiteY65" fmla="*/ 1096198 h 1304925"/>
                  <a:gd name="connsiteX66" fmla="*/ 989678 w 1197643"/>
                  <a:gd name="connsiteY66" fmla="*/ 1289199 h 1304925"/>
                  <a:gd name="connsiteX67" fmla="*/ 973969 w 1197643"/>
                  <a:gd name="connsiteY67" fmla="*/ 1304925 h 1304925"/>
                  <a:gd name="connsiteX68" fmla="*/ 667635 w 1197643"/>
                  <a:gd name="connsiteY68" fmla="*/ 1304925 h 1304925"/>
                  <a:gd name="connsiteX69" fmla="*/ 659780 w 1197643"/>
                  <a:gd name="connsiteY69" fmla="*/ 1291344 h 1304925"/>
                  <a:gd name="connsiteX70" fmla="*/ 658352 w 1197643"/>
                  <a:gd name="connsiteY70" fmla="*/ 950375 h 1304925"/>
                  <a:gd name="connsiteX71" fmla="*/ 684773 w 1197643"/>
                  <a:gd name="connsiteY71" fmla="*/ 858163 h 1304925"/>
                  <a:gd name="connsiteX72" fmla="*/ 849008 w 1197643"/>
                  <a:gd name="connsiteY72" fmla="*/ 599398 h 1304925"/>
                  <a:gd name="connsiteX73" fmla="*/ 902563 w 1197643"/>
                  <a:gd name="connsiteY73" fmla="*/ 569376 h 1304925"/>
                  <a:gd name="connsiteX74" fmla="*/ 933267 w 1197643"/>
                  <a:gd name="connsiteY74" fmla="*/ 577954 h 1304925"/>
                  <a:gd name="connsiteX75" fmla="*/ 960402 w 1197643"/>
                  <a:gd name="connsiteY75" fmla="*/ 659443 h 1304925"/>
                  <a:gd name="connsiteX76" fmla="*/ 911845 w 1197643"/>
                  <a:gd name="connsiteY76" fmla="*/ 769525 h 1304925"/>
                  <a:gd name="connsiteX77" fmla="*/ 921128 w 1197643"/>
                  <a:gd name="connsiteY77" fmla="*/ 783107 h 1304925"/>
                  <a:gd name="connsiteX78" fmla="*/ 926841 w 1197643"/>
                  <a:gd name="connsiteY78" fmla="*/ 780963 h 1304925"/>
                  <a:gd name="connsiteX79" fmla="*/ 948263 w 1197643"/>
                  <a:gd name="connsiteY79" fmla="*/ 763807 h 1304925"/>
                  <a:gd name="connsiteX80" fmla="*/ 1042519 w 1197643"/>
                  <a:gd name="connsiteY80" fmla="*/ 616554 h 1304925"/>
                  <a:gd name="connsiteX81" fmla="*/ 1043947 w 1197643"/>
                  <a:gd name="connsiteY81" fmla="*/ 609406 h 1304925"/>
                  <a:gd name="connsiteX82" fmla="*/ 1036093 w 1197643"/>
                  <a:gd name="connsiteY82" fmla="*/ 444997 h 1304925"/>
                  <a:gd name="connsiteX83" fmla="*/ 1013243 w 1197643"/>
                  <a:gd name="connsiteY83" fmla="*/ 376375 h 1304925"/>
                  <a:gd name="connsiteX84" fmla="*/ 1056801 w 1197643"/>
                  <a:gd name="connsiteY84" fmla="*/ 287737 h 1304925"/>
                  <a:gd name="connsiteX85" fmla="*/ 1078223 w 1197643"/>
                  <a:gd name="connsiteY85" fmla="*/ 284163 h 1304925"/>
                  <a:gd name="connsiteX86" fmla="*/ 119420 w 1197643"/>
                  <a:gd name="connsiteY86" fmla="*/ 284163 h 1304925"/>
                  <a:gd name="connsiteX87" fmla="*/ 140842 w 1197643"/>
                  <a:gd name="connsiteY87" fmla="*/ 287737 h 1304925"/>
                  <a:gd name="connsiteX88" fmla="*/ 184400 w 1197643"/>
                  <a:gd name="connsiteY88" fmla="*/ 376375 h 1304925"/>
                  <a:gd name="connsiteX89" fmla="*/ 161550 w 1197643"/>
                  <a:gd name="connsiteY89" fmla="*/ 444997 h 1304925"/>
                  <a:gd name="connsiteX90" fmla="*/ 153695 w 1197643"/>
                  <a:gd name="connsiteY90" fmla="*/ 609406 h 1304925"/>
                  <a:gd name="connsiteX91" fmla="*/ 155123 w 1197643"/>
                  <a:gd name="connsiteY91" fmla="*/ 616554 h 1304925"/>
                  <a:gd name="connsiteX92" fmla="*/ 249380 w 1197643"/>
                  <a:gd name="connsiteY92" fmla="*/ 763807 h 1304925"/>
                  <a:gd name="connsiteX93" fmla="*/ 270802 w 1197643"/>
                  <a:gd name="connsiteY93" fmla="*/ 780963 h 1304925"/>
                  <a:gd name="connsiteX94" fmla="*/ 276514 w 1197643"/>
                  <a:gd name="connsiteY94" fmla="*/ 783107 h 1304925"/>
                  <a:gd name="connsiteX95" fmla="*/ 285797 w 1197643"/>
                  <a:gd name="connsiteY95" fmla="*/ 769525 h 1304925"/>
                  <a:gd name="connsiteX96" fmla="*/ 237241 w 1197643"/>
                  <a:gd name="connsiteY96" fmla="*/ 659443 h 1304925"/>
                  <a:gd name="connsiteX97" fmla="*/ 264375 w 1197643"/>
                  <a:gd name="connsiteY97" fmla="*/ 577954 h 1304925"/>
                  <a:gd name="connsiteX98" fmla="*/ 295080 w 1197643"/>
                  <a:gd name="connsiteY98" fmla="*/ 569376 h 1304925"/>
                  <a:gd name="connsiteX99" fmla="*/ 348635 w 1197643"/>
                  <a:gd name="connsiteY99" fmla="*/ 599398 h 1304925"/>
                  <a:gd name="connsiteX100" fmla="*/ 512870 w 1197643"/>
                  <a:gd name="connsiteY100" fmla="*/ 858163 h 1304925"/>
                  <a:gd name="connsiteX101" fmla="*/ 539290 w 1197643"/>
                  <a:gd name="connsiteY101" fmla="*/ 950375 h 1304925"/>
                  <a:gd name="connsiteX102" fmla="*/ 537862 w 1197643"/>
                  <a:gd name="connsiteY102" fmla="*/ 1291344 h 1304925"/>
                  <a:gd name="connsiteX103" fmla="*/ 530007 w 1197643"/>
                  <a:gd name="connsiteY103" fmla="*/ 1304925 h 1304925"/>
                  <a:gd name="connsiteX104" fmla="*/ 224387 w 1197643"/>
                  <a:gd name="connsiteY104" fmla="*/ 1304925 h 1304925"/>
                  <a:gd name="connsiteX105" fmla="*/ 223673 w 1197643"/>
                  <a:gd name="connsiteY105" fmla="*/ 1304925 h 1304925"/>
                  <a:gd name="connsiteX106" fmla="*/ 207964 w 1197643"/>
                  <a:gd name="connsiteY106" fmla="*/ 1289199 h 1304925"/>
                  <a:gd name="connsiteX107" fmla="*/ 208678 w 1197643"/>
                  <a:gd name="connsiteY107" fmla="*/ 1096198 h 1304925"/>
                  <a:gd name="connsiteX108" fmla="*/ 177259 w 1197643"/>
                  <a:gd name="connsiteY108" fmla="*/ 1013279 h 1304925"/>
                  <a:gd name="connsiteX109" fmla="*/ 111565 w 1197643"/>
                  <a:gd name="connsiteY109" fmla="*/ 913919 h 1304925"/>
                  <a:gd name="connsiteX110" fmla="*/ 13738 w 1197643"/>
                  <a:gd name="connsiteY110" fmla="*/ 679458 h 1304925"/>
                  <a:gd name="connsiteX111" fmla="*/ 10882 w 1197643"/>
                  <a:gd name="connsiteY111" fmla="*/ 665877 h 1304925"/>
                  <a:gd name="connsiteX112" fmla="*/ 29448 w 1197643"/>
                  <a:gd name="connsiteY112" fmla="*/ 396390 h 1304925"/>
                  <a:gd name="connsiteX113" fmla="*/ 54440 w 1197643"/>
                  <a:gd name="connsiteY113" fmla="*/ 329912 h 1304925"/>
                  <a:gd name="connsiteX114" fmla="*/ 119420 w 1197643"/>
                  <a:gd name="connsiteY114" fmla="*/ 284163 h 1304925"/>
                  <a:gd name="connsiteX115" fmla="*/ 586062 w 1197643"/>
                  <a:gd name="connsiteY115" fmla="*/ 84138 h 1304925"/>
                  <a:gd name="connsiteX116" fmla="*/ 611739 w 1197643"/>
                  <a:gd name="connsiteY116" fmla="*/ 84138 h 1304925"/>
                  <a:gd name="connsiteX117" fmla="*/ 611739 w 1197643"/>
                  <a:gd name="connsiteY117" fmla="*/ 102626 h 1304925"/>
                  <a:gd name="connsiteX118" fmla="*/ 641694 w 1197643"/>
                  <a:gd name="connsiteY118" fmla="*/ 112581 h 1304925"/>
                  <a:gd name="connsiteX119" fmla="*/ 633849 w 1197643"/>
                  <a:gd name="connsiteY119" fmla="*/ 136046 h 1304925"/>
                  <a:gd name="connsiteX120" fmla="*/ 600327 w 1197643"/>
                  <a:gd name="connsiteY120" fmla="*/ 125380 h 1304925"/>
                  <a:gd name="connsiteX121" fmla="*/ 585349 w 1197643"/>
                  <a:gd name="connsiteY121" fmla="*/ 130357 h 1304925"/>
                  <a:gd name="connsiteX122" fmla="*/ 579643 w 1197643"/>
                  <a:gd name="connsiteY122" fmla="*/ 144579 h 1304925"/>
                  <a:gd name="connsiteX123" fmla="*/ 611025 w 1197643"/>
                  <a:gd name="connsiteY123" fmla="*/ 172310 h 1304925"/>
                  <a:gd name="connsiteX124" fmla="*/ 635275 w 1197643"/>
                  <a:gd name="connsiteY124" fmla="*/ 187954 h 1304925"/>
                  <a:gd name="connsiteX125" fmla="*/ 645260 w 1197643"/>
                  <a:gd name="connsiteY125" fmla="*/ 202886 h 1304925"/>
                  <a:gd name="connsiteX126" fmla="*/ 648826 w 1197643"/>
                  <a:gd name="connsiteY126" fmla="*/ 222085 h 1304925"/>
                  <a:gd name="connsiteX127" fmla="*/ 638841 w 1197643"/>
                  <a:gd name="connsiteY127" fmla="*/ 249105 h 1304925"/>
                  <a:gd name="connsiteX128" fmla="*/ 611739 w 1197643"/>
                  <a:gd name="connsiteY128" fmla="*/ 264749 h 1304925"/>
                  <a:gd name="connsiteX129" fmla="*/ 611739 w 1197643"/>
                  <a:gd name="connsiteY129" fmla="*/ 288925 h 1304925"/>
                  <a:gd name="connsiteX130" fmla="*/ 586062 w 1197643"/>
                  <a:gd name="connsiteY130" fmla="*/ 288925 h 1304925"/>
                  <a:gd name="connsiteX131" fmla="*/ 586062 w 1197643"/>
                  <a:gd name="connsiteY131" fmla="*/ 266171 h 1304925"/>
                  <a:gd name="connsiteX132" fmla="*/ 550401 w 1197643"/>
                  <a:gd name="connsiteY132" fmla="*/ 254794 h 1304925"/>
                  <a:gd name="connsiteX133" fmla="*/ 561813 w 1197643"/>
                  <a:gd name="connsiteY133" fmla="*/ 229907 h 1304925"/>
                  <a:gd name="connsiteX134" fmla="*/ 594621 w 1197643"/>
                  <a:gd name="connsiteY134" fmla="*/ 241284 h 1304925"/>
                  <a:gd name="connsiteX135" fmla="*/ 620297 w 1197643"/>
                  <a:gd name="connsiteY135" fmla="*/ 224218 h 1304925"/>
                  <a:gd name="connsiteX136" fmla="*/ 613878 w 1197643"/>
                  <a:gd name="connsiteY136" fmla="*/ 208575 h 1304925"/>
                  <a:gd name="connsiteX137" fmla="*/ 588915 w 1197643"/>
                  <a:gd name="connsiteY137" fmla="*/ 191509 h 1304925"/>
                  <a:gd name="connsiteX138" fmla="*/ 564666 w 1197643"/>
                  <a:gd name="connsiteY138" fmla="*/ 177288 h 1304925"/>
                  <a:gd name="connsiteX139" fmla="*/ 553967 w 1197643"/>
                  <a:gd name="connsiteY139" fmla="*/ 162355 h 1304925"/>
                  <a:gd name="connsiteX140" fmla="*/ 551114 w 1197643"/>
                  <a:gd name="connsiteY140" fmla="*/ 144579 h 1304925"/>
                  <a:gd name="connsiteX141" fmla="*/ 561100 w 1197643"/>
                  <a:gd name="connsiteY141" fmla="*/ 118980 h 1304925"/>
                  <a:gd name="connsiteX142" fmla="*/ 586062 w 1197643"/>
                  <a:gd name="connsiteY142" fmla="*/ 104048 h 1304925"/>
                  <a:gd name="connsiteX143" fmla="*/ 586062 w 1197643"/>
                  <a:gd name="connsiteY143" fmla="*/ 84138 h 1304925"/>
                  <a:gd name="connsiteX144" fmla="*/ 248776 w 1197643"/>
                  <a:gd name="connsiteY144" fmla="*/ 31750 h 1304925"/>
                  <a:gd name="connsiteX145" fmla="*/ 248776 w 1197643"/>
                  <a:gd name="connsiteY145" fmla="*/ 341312 h 1304925"/>
                  <a:gd name="connsiteX146" fmla="*/ 947276 w 1197643"/>
                  <a:gd name="connsiteY146" fmla="*/ 341312 h 1304925"/>
                  <a:gd name="connsiteX147" fmla="*/ 947276 w 1197643"/>
                  <a:gd name="connsiteY147" fmla="*/ 31750 h 1304925"/>
                  <a:gd name="connsiteX148" fmla="*/ 248776 w 1197643"/>
                  <a:gd name="connsiteY148" fmla="*/ 31750 h 1304925"/>
                  <a:gd name="connsiteX149" fmla="*/ 226319 w 1197643"/>
                  <a:gd name="connsiteY149" fmla="*/ 0 h 1304925"/>
                  <a:gd name="connsiteX150" fmla="*/ 969734 w 1197643"/>
                  <a:gd name="connsiteY150" fmla="*/ 0 h 1304925"/>
                  <a:gd name="connsiteX151" fmla="*/ 979026 w 1197643"/>
                  <a:gd name="connsiteY151" fmla="*/ 8576 h 1304925"/>
                  <a:gd name="connsiteX152" fmla="*/ 979026 w 1197643"/>
                  <a:gd name="connsiteY152" fmla="*/ 363771 h 1304925"/>
                  <a:gd name="connsiteX153" fmla="*/ 969734 w 1197643"/>
                  <a:gd name="connsiteY153" fmla="*/ 373062 h 1304925"/>
                  <a:gd name="connsiteX154" fmla="*/ 226319 w 1197643"/>
                  <a:gd name="connsiteY154" fmla="*/ 373062 h 1304925"/>
                  <a:gd name="connsiteX155" fmla="*/ 217026 w 1197643"/>
                  <a:gd name="connsiteY155" fmla="*/ 363771 h 1304925"/>
                  <a:gd name="connsiteX156" fmla="*/ 217026 w 1197643"/>
                  <a:gd name="connsiteY156" fmla="*/ 8576 h 1304925"/>
                  <a:gd name="connsiteX157" fmla="*/ 226319 w 1197643"/>
                  <a:gd name="connsiteY157" fmla="*/ 0 h 130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Lst>
                <a:rect l="l" t="t" r="r" b="b"/>
                <a:pathLst>
                  <a:path w="1197643" h="1304925">
                    <a:moveTo>
                      <a:pt x="1077708" y="315913"/>
                    </a:moveTo>
                    <a:cubicBezTo>
                      <a:pt x="1074130" y="315913"/>
                      <a:pt x="1069838" y="316627"/>
                      <a:pt x="1066261" y="318056"/>
                    </a:cubicBezTo>
                    <a:cubicBezTo>
                      <a:pt x="1056245" y="321628"/>
                      <a:pt x="1048375" y="328057"/>
                      <a:pt x="1044083" y="337344"/>
                    </a:cubicBezTo>
                    <a:cubicBezTo>
                      <a:pt x="1039075" y="346631"/>
                      <a:pt x="1039075" y="356632"/>
                      <a:pt x="1041936" y="366634"/>
                    </a:cubicBezTo>
                    <a:cubicBezTo>
                      <a:pt x="1041936" y="366634"/>
                      <a:pt x="1041936" y="366634"/>
                      <a:pt x="1065545" y="434499"/>
                    </a:cubicBezTo>
                    <a:cubicBezTo>
                      <a:pt x="1085577" y="493792"/>
                      <a:pt x="1088439" y="556657"/>
                      <a:pt x="1074130" y="617379"/>
                    </a:cubicBezTo>
                    <a:cubicBezTo>
                      <a:pt x="1074130" y="617379"/>
                      <a:pt x="1074130" y="617379"/>
                      <a:pt x="1071984" y="623809"/>
                    </a:cubicBezTo>
                    <a:cubicBezTo>
                      <a:pt x="1056245" y="688817"/>
                      <a:pt x="1019043" y="746681"/>
                      <a:pt x="966816" y="788829"/>
                    </a:cubicBezTo>
                    <a:cubicBezTo>
                      <a:pt x="966816" y="788829"/>
                      <a:pt x="966816" y="788829"/>
                      <a:pt x="946069" y="805260"/>
                    </a:cubicBezTo>
                    <a:cubicBezTo>
                      <a:pt x="938199" y="811689"/>
                      <a:pt x="929614" y="814547"/>
                      <a:pt x="920314" y="814547"/>
                    </a:cubicBezTo>
                    <a:cubicBezTo>
                      <a:pt x="906005" y="814547"/>
                      <a:pt x="893127" y="807403"/>
                      <a:pt x="885258" y="795973"/>
                    </a:cubicBezTo>
                    <a:cubicBezTo>
                      <a:pt x="878103" y="783829"/>
                      <a:pt x="876673" y="769541"/>
                      <a:pt x="882396" y="756682"/>
                    </a:cubicBezTo>
                    <a:cubicBezTo>
                      <a:pt x="882396" y="756682"/>
                      <a:pt x="882396" y="756682"/>
                      <a:pt x="931045" y="646669"/>
                    </a:cubicBezTo>
                    <a:cubicBezTo>
                      <a:pt x="937484" y="631667"/>
                      <a:pt x="931760" y="613807"/>
                      <a:pt x="917452" y="605235"/>
                    </a:cubicBezTo>
                    <a:cubicBezTo>
                      <a:pt x="912444" y="602377"/>
                      <a:pt x="906721" y="600949"/>
                      <a:pt x="901713" y="600949"/>
                    </a:cubicBezTo>
                    <a:cubicBezTo>
                      <a:pt x="890266" y="600949"/>
                      <a:pt x="880250" y="606664"/>
                      <a:pt x="873811" y="616665"/>
                    </a:cubicBezTo>
                    <a:cubicBezTo>
                      <a:pt x="873811" y="616665"/>
                      <a:pt x="873811" y="616665"/>
                      <a:pt x="710693" y="875268"/>
                    </a:cubicBezTo>
                    <a:cubicBezTo>
                      <a:pt x="696385" y="897414"/>
                      <a:pt x="688515" y="923846"/>
                      <a:pt x="688515" y="950278"/>
                    </a:cubicBezTo>
                    <a:cubicBezTo>
                      <a:pt x="688515" y="950278"/>
                      <a:pt x="688515" y="950278"/>
                      <a:pt x="689946" y="1273175"/>
                    </a:cubicBezTo>
                    <a:cubicBezTo>
                      <a:pt x="689946" y="1273175"/>
                      <a:pt x="689946" y="1273175"/>
                      <a:pt x="956800" y="1273175"/>
                    </a:cubicBezTo>
                    <a:cubicBezTo>
                      <a:pt x="956800" y="1273175"/>
                      <a:pt x="956800" y="1273175"/>
                      <a:pt x="956800" y="1096010"/>
                    </a:cubicBezTo>
                    <a:cubicBezTo>
                      <a:pt x="956800" y="1094581"/>
                      <a:pt x="956800" y="1093153"/>
                      <a:pt x="956800" y="1091724"/>
                    </a:cubicBezTo>
                    <a:cubicBezTo>
                      <a:pt x="961808" y="1057434"/>
                      <a:pt x="974686" y="1024573"/>
                      <a:pt x="993287" y="995998"/>
                    </a:cubicBezTo>
                    <a:cubicBezTo>
                      <a:pt x="993287" y="995998"/>
                      <a:pt x="993287" y="995998"/>
                      <a:pt x="1059822" y="896700"/>
                    </a:cubicBezTo>
                    <a:cubicBezTo>
                      <a:pt x="1104894" y="828120"/>
                      <a:pt x="1136373" y="753110"/>
                      <a:pt x="1153543" y="672386"/>
                    </a:cubicBezTo>
                    <a:cubicBezTo>
                      <a:pt x="1153543" y="672386"/>
                      <a:pt x="1153543" y="672386"/>
                      <a:pt x="1156405" y="659527"/>
                    </a:cubicBezTo>
                    <a:cubicBezTo>
                      <a:pt x="1174290" y="575945"/>
                      <a:pt x="1168567" y="488792"/>
                      <a:pt x="1138519" y="408067"/>
                    </a:cubicBezTo>
                    <a:cubicBezTo>
                      <a:pt x="1138519" y="408067"/>
                      <a:pt x="1138519" y="408067"/>
                      <a:pt x="1113479" y="340916"/>
                    </a:cubicBezTo>
                    <a:cubicBezTo>
                      <a:pt x="1107756" y="325914"/>
                      <a:pt x="1093447" y="315913"/>
                      <a:pt x="1077708" y="315913"/>
                    </a:cubicBezTo>
                    <a:close/>
                    <a:moveTo>
                      <a:pt x="118348" y="315913"/>
                    </a:moveTo>
                    <a:cubicBezTo>
                      <a:pt x="102609" y="315913"/>
                      <a:pt x="88300" y="325914"/>
                      <a:pt x="82577" y="340916"/>
                    </a:cubicBezTo>
                    <a:cubicBezTo>
                      <a:pt x="82577" y="340916"/>
                      <a:pt x="82577" y="340916"/>
                      <a:pt x="57537" y="408067"/>
                    </a:cubicBezTo>
                    <a:cubicBezTo>
                      <a:pt x="27489" y="488792"/>
                      <a:pt x="21765" y="575945"/>
                      <a:pt x="39651" y="659527"/>
                    </a:cubicBezTo>
                    <a:cubicBezTo>
                      <a:pt x="39651" y="659527"/>
                      <a:pt x="39651" y="659527"/>
                      <a:pt x="42513" y="672386"/>
                    </a:cubicBezTo>
                    <a:cubicBezTo>
                      <a:pt x="59683" y="753110"/>
                      <a:pt x="91162" y="828120"/>
                      <a:pt x="136234" y="896700"/>
                    </a:cubicBezTo>
                    <a:cubicBezTo>
                      <a:pt x="136234" y="896700"/>
                      <a:pt x="136234" y="896700"/>
                      <a:pt x="202768" y="995998"/>
                    </a:cubicBezTo>
                    <a:cubicBezTo>
                      <a:pt x="221369" y="1024573"/>
                      <a:pt x="234247" y="1057434"/>
                      <a:pt x="239255" y="1091724"/>
                    </a:cubicBezTo>
                    <a:cubicBezTo>
                      <a:pt x="239255" y="1093153"/>
                      <a:pt x="239255" y="1094581"/>
                      <a:pt x="239255" y="1096010"/>
                    </a:cubicBezTo>
                    <a:cubicBezTo>
                      <a:pt x="239255" y="1096010"/>
                      <a:pt x="239255" y="1096010"/>
                      <a:pt x="239255" y="1273175"/>
                    </a:cubicBezTo>
                    <a:cubicBezTo>
                      <a:pt x="239255" y="1273175"/>
                      <a:pt x="239255" y="1273175"/>
                      <a:pt x="506109" y="1273175"/>
                    </a:cubicBezTo>
                    <a:cubicBezTo>
                      <a:pt x="506109" y="1273175"/>
                      <a:pt x="506109" y="1273175"/>
                      <a:pt x="507540" y="950278"/>
                    </a:cubicBezTo>
                    <a:cubicBezTo>
                      <a:pt x="507540" y="923846"/>
                      <a:pt x="499671" y="897414"/>
                      <a:pt x="485362" y="875268"/>
                    </a:cubicBezTo>
                    <a:cubicBezTo>
                      <a:pt x="485362" y="875268"/>
                      <a:pt x="485362" y="875268"/>
                      <a:pt x="322245" y="616665"/>
                    </a:cubicBezTo>
                    <a:cubicBezTo>
                      <a:pt x="315806" y="606664"/>
                      <a:pt x="305790" y="600949"/>
                      <a:pt x="294343" y="600949"/>
                    </a:cubicBezTo>
                    <a:cubicBezTo>
                      <a:pt x="289335" y="600949"/>
                      <a:pt x="283612" y="602377"/>
                      <a:pt x="278604" y="605235"/>
                    </a:cubicBezTo>
                    <a:cubicBezTo>
                      <a:pt x="264295" y="613807"/>
                      <a:pt x="258572" y="631667"/>
                      <a:pt x="265010" y="646669"/>
                    </a:cubicBezTo>
                    <a:cubicBezTo>
                      <a:pt x="265010" y="646669"/>
                      <a:pt x="265010" y="646669"/>
                      <a:pt x="313659" y="756682"/>
                    </a:cubicBezTo>
                    <a:cubicBezTo>
                      <a:pt x="319383" y="769541"/>
                      <a:pt x="317952" y="783829"/>
                      <a:pt x="310798" y="795973"/>
                    </a:cubicBezTo>
                    <a:cubicBezTo>
                      <a:pt x="302928" y="807403"/>
                      <a:pt x="290050" y="814547"/>
                      <a:pt x="275742" y="814547"/>
                    </a:cubicBezTo>
                    <a:cubicBezTo>
                      <a:pt x="266441" y="814547"/>
                      <a:pt x="257856" y="811689"/>
                      <a:pt x="249986" y="805260"/>
                    </a:cubicBezTo>
                    <a:cubicBezTo>
                      <a:pt x="249986" y="805260"/>
                      <a:pt x="249986" y="805260"/>
                      <a:pt x="229239" y="788829"/>
                    </a:cubicBezTo>
                    <a:cubicBezTo>
                      <a:pt x="177013" y="746681"/>
                      <a:pt x="139811" y="688817"/>
                      <a:pt x="124071" y="623809"/>
                    </a:cubicBezTo>
                    <a:cubicBezTo>
                      <a:pt x="124071" y="623809"/>
                      <a:pt x="124071" y="623809"/>
                      <a:pt x="121925" y="617379"/>
                    </a:cubicBezTo>
                    <a:cubicBezTo>
                      <a:pt x="107616" y="556657"/>
                      <a:pt x="110478" y="493792"/>
                      <a:pt x="130510" y="434499"/>
                    </a:cubicBezTo>
                    <a:cubicBezTo>
                      <a:pt x="130510" y="434499"/>
                      <a:pt x="130510" y="434499"/>
                      <a:pt x="154119" y="366634"/>
                    </a:cubicBezTo>
                    <a:cubicBezTo>
                      <a:pt x="157696" y="356632"/>
                      <a:pt x="156981" y="346631"/>
                      <a:pt x="151973" y="337344"/>
                    </a:cubicBezTo>
                    <a:cubicBezTo>
                      <a:pt x="147680" y="328057"/>
                      <a:pt x="139811" y="321628"/>
                      <a:pt x="129795" y="318056"/>
                    </a:cubicBezTo>
                    <a:cubicBezTo>
                      <a:pt x="126218" y="316627"/>
                      <a:pt x="121925" y="315913"/>
                      <a:pt x="118348" y="315913"/>
                    </a:cubicBezTo>
                    <a:close/>
                    <a:moveTo>
                      <a:pt x="1078223" y="284163"/>
                    </a:moveTo>
                    <a:cubicBezTo>
                      <a:pt x="1106785" y="284163"/>
                      <a:pt x="1133206" y="302034"/>
                      <a:pt x="1143202" y="329912"/>
                    </a:cubicBezTo>
                    <a:cubicBezTo>
                      <a:pt x="1143202" y="329912"/>
                      <a:pt x="1143202" y="329912"/>
                      <a:pt x="1168195" y="396390"/>
                    </a:cubicBezTo>
                    <a:cubicBezTo>
                      <a:pt x="1199614" y="482883"/>
                      <a:pt x="1206040" y="576524"/>
                      <a:pt x="1186760" y="665877"/>
                    </a:cubicBezTo>
                    <a:cubicBezTo>
                      <a:pt x="1186760" y="665877"/>
                      <a:pt x="1186760" y="665877"/>
                      <a:pt x="1183904" y="679458"/>
                    </a:cubicBezTo>
                    <a:cubicBezTo>
                      <a:pt x="1166767" y="763092"/>
                      <a:pt x="1133206" y="842437"/>
                      <a:pt x="1086077" y="913919"/>
                    </a:cubicBezTo>
                    <a:cubicBezTo>
                      <a:pt x="1086077" y="913919"/>
                      <a:pt x="1086077" y="913919"/>
                      <a:pt x="1020383" y="1013279"/>
                    </a:cubicBezTo>
                    <a:cubicBezTo>
                      <a:pt x="1003960" y="1038298"/>
                      <a:pt x="993249" y="1066890"/>
                      <a:pt x="988964" y="1096198"/>
                    </a:cubicBezTo>
                    <a:cubicBezTo>
                      <a:pt x="988964" y="1096198"/>
                      <a:pt x="988964" y="1096198"/>
                      <a:pt x="989678" y="1289199"/>
                    </a:cubicBezTo>
                    <a:cubicBezTo>
                      <a:pt x="989678" y="1297777"/>
                      <a:pt x="982538" y="1304925"/>
                      <a:pt x="973969" y="1304925"/>
                    </a:cubicBezTo>
                    <a:cubicBezTo>
                      <a:pt x="973969" y="1304925"/>
                      <a:pt x="973969" y="1304925"/>
                      <a:pt x="667635" y="1304925"/>
                    </a:cubicBezTo>
                    <a:cubicBezTo>
                      <a:pt x="662637" y="1302066"/>
                      <a:pt x="659780" y="1296347"/>
                      <a:pt x="659780" y="1291344"/>
                    </a:cubicBezTo>
                    <a:cubicBezTo>
                      <a:pt x="659780" y="1291344"/>
                      <a:pt x="659780" y="1291344"/>
                      <a:pt x="658352" y="950375"/>
                    </a:cubicBezTo>
                    <a:cubicBezTo>
                      <a:pt x="658352" y="917493"/>
                      <a:pt x="667635" y="886041"/>
                      <a:pt x="684773" y="858163"/>
                    </a:cubicBezTo>
                    <a:cubicBezTo>
                      <a:pt x="684773" y="858163"/>
                      <a:pt x="684773" y="858163"/>
                      <a:pt x="849008" y="599398"/>
                    </a:cubicBezTo>
                    <a:cubicBezTo>
                      <a:pt x="860433" y="580098"/>
                      <a:pt x="881141" y="569376"/>
                      <a:pt x="902563" y="569376"/>
                    </a:cubicBezTo>
                    <a:cubicBezTo>
                      <a:pt x="912559" y="569376"/>
                      <a:pt x="923984" y="572235"/>
                      <a:pt x="933267" y="577954"/>
                    </a:cubicBezTo>
                    <a:cubicBezTo>
                      <a:pt x="961830" y="594395"/>
                      <a:pt x="973969" y="629421"/>
                      <a:pt x="960402" y="659443"/>
                    </a:cubicBezTo>
                    <a:cubicBezTo>
                      <a:pt x="960402" y="659443"/>
                      <a:pt x="960402" y="659443"/>
                      <a:pt x="911845" y="769525"/>
                    </a:cubicBezTo>
                    <a:cubicBezTo>
                      <a:pt x="908989" y="776674"/>
                      <a:pt x="914702" y="783107"/>
                      <a:pt x="921128" y="783107"/>
                    </a:cubicBezTo>
                    <a:cubicBezTo>
                      <a:pt x="922556" y="783107"/>
                      <a:pt x="924699" y="782392"/>
                      <a:pt x="926841" y="780963"/>
                    </a:cubicBezTo>
                    <a:cubicBezTo>
                      <a:pt x="926841" y="780963"/>
                      <a:pt x="926841" y="780963"/>
                      <a:pt x="948263" y="763807"/>
                    </a:cubicBezTo>
                    <a:cubicBezTo>
                      <a:pt x="994677" y="726636"/>
                      <a:pt x="1028238" y="674454"/>
                      <a:pt x="1042519" y="616554"/>
                    </a:cubicBezTo>
                    <a:cubicBezTo>
                      <a:pt x="1042519" y="616554"/>
                      <a:pt x="1042519" y="616554"/>
                      <a:pt x="1043947" y="609406"/>
                    </a:cubicBezTo>
                    <a:cubicBezTo>
                      <a:pt x="1057515" y="555080"/>
                      <a:pt x="1054658" y="497894"/>
                      <a:pt x="1036093" y="444997"/>
                    </a:cubicBezTo>
                    <a:cubicBezTo>
                      <a:pt x="1036093" y="444997"/>
                      <a:pt x="1036093" y="444997"/>
                      <a:pt x="1013243" y="376375"/>
                    </a:cubicBezTo>
                    <a:cubicBezTo>
                      <a:pt x="1000389" y="339919"/>
                      <a:pt x="1019669" y="299889"/>
                      <a:pt x="1056801" y="287737"/>
                    </a:cubicBezTo>
                    <a:cubicBezTo>
                      <a:pt x="1063941" y="285593"/>
                      <a:pt x="1071082" y="284163"/>
                      <a:pt x="1078223" y="284163"/>
                    </a:cubicBezTo>
                    <a:close/>
                    <a:moveTo>
                      <a:pt x="119420" y="284163"/>
                    </a:moveTo>
                    <a:cubicBezTo>
                      <a:pt x="126561" y="284163"/>
                      <a:pt x="133701" y="285593"/>
                      <a:pt x="140842" y="287737"/>
                    </a:cubicBezTo>
                    <a:cubicBezTo>
                      <a:pt x="177973" y="299889"/>
                      <a:pt x="197253" y="339919"/>
                      <a:pt x="184400" y="376375"/>
                    </a:cubicBezTo>
                    <a:cubicBezTo>
                      <a:pt x="184400" y="376375"/>
                      <a:pt x="184400" y="376375"/>
                      <a:pt x="161550" y="444997"/>
                    </a:cubicBezTo>
                    <a:cubicBezTo>
                      <a:pt x="142984" y="497894"/>
                      <a:pt x="140128" y="555080"/>
                      <a:pt x="153695" y="609406"/>
                    </a:cubicBezTo>
                    <a:cubicBezTo>
                      <a:pt x="153695" y="609406"/>
                      <a:pt x="153695" y="609406"/>
                      <a:pt x="155123" y="616554"/>
                    </a:cubicBezTo>
                    <a:cubicBezTo>
                      <a:pt x="169404" y="674454"/>
                      <a:pt x="202966" y="726636"/>
                      <a:pt x="249380" y="763807"/>
                    </a:cubicBezTo>
                    <a:cubicBezTo>
                      <a:pt x="249380" y="763807"/>
                      <a:pt x="249380" y="763807"/>
                      <a:pt x="270802" y="780963"/>
                    </a:cubicBezTo>
                    <a:cubicBezTo>
                      <a:pt x="272944" y="782392"/>
                      <a:pt x="275086" y="783107"/>
                      <a:pt x="276514" y="783107"/>
                    </a:cubicBezTo>
                    <a:cubicBezTo>
                      <a:pt x="282941" y="783107"/>
                      <a:pt x="288653" y="776674"/>
                      <a:pt x="285797" y="769525"/>
                    </a:cubicBezTo>
                    <a:cubicBezTo>
                      <a:pt x="285797" y="769525"/>
                      <a:pt x="285797" y="769525"/>
                      <a:pt x="237241" y="659443"/>
                    </a:cubicBezTo>
                    <a:cubicBezTo>
                      <a:pt x="223673" y="629421"/>
                      <a:pt x="235813" y="594395"/>
                      <a:pt x="264375" y="577954"/>
                    </a:cubicBezTo>
                    <a:cubicBezTo>
                      <a:pt x="273658" y="572235"/>
                      <a:pt x="285083" y="569376"/>
                      <a:pt x="295080" y="569376"/>
                    </a:cubicBezTo>
                    <a:cubicBezTo>
                      <a:pt x="316502" y="569376"/>
                      <a:pt x="337210" y="580098"/>
                      <a:pt x="348635" y="599398"/>
                    </a:cubicBezTo>
                    <a:cubicBezTo>
                      <a:pt x="348635" y="599398"/>
                      <a:pt x="348635" y="599398"/>
                      <a:pt x="512870" y="858163"/>
                    </a:cubicBezTo>
                    <a:cubicBezTo>
                      <a:pt x="530007" y="886041"/>
                      <a:pt x="539290" y="917493"/>
                      <a:pt x="539290" y="950375"/>
                    </a:cubicBezTo>
                    <a:cubicBezTo>
                      <a:pt x="539290" y="950375"/>
                      <a:pt x="539290" y="950375"/>
                      <a:pt x="537862" y="1291344"/>
                    </a:cubicBezTo>
                    <a:cubicBezTo>
                      <a:pt x="537862" y="1296347"/>
                      <a:pt x="535006" y="1302066"/>
                      <a:pt x="530007" y="1304925"/>
                    </a:cubicBezTo>
                    <a:cubicBezTo>
                      <a:pt x="530007" y="1304925"/>
                      <a:pt x="530007" y="1304925"/>
                      <a:pt x="224387" y="1304925"/>
                    </a:cubicBezTo>
                    <a:cubicBezTo>
                      <a:pt x="223673" y="1304925"/>
                      <a:pt x="223673" y="1304925"/>
                      <a:pt x="223673" y="1304925"/>
                    </a:cubicBezTo>
                    <a:cubicBezTo>
                      <a:pt x="215105" y="1304925"/>
                      <a:pt x="207964" y="1297777"/>
                      <a:pt x="207964" y="1289199"/>
                    </a:cubicBezTo>
                    <a:cubicBezTo>
                      <a:pt x="207964" y="1289199"/>
                      <a:pt x="207964" y="1289199"/>
                      <a:pt x="208678" y="1096198"/>
                    </a:cubicBezTo>
                    <a:cubicBezTo>
                      <a:pt x="204394" y="1066890"/>
                      <a:pt x="193683" y="1038298"/>
                      <a:pt x="177259" y="1013279"/>
                    </a:cubicBezTo>
                    <a:cubicBezTo>
                      <a:pt x="177259" y="1013279"/>
                      <a:pt x="177259" y="1013279"/>
                      <a:pt x="111565" y="913919"/>
                    </a:cubicBezTo>
                    <a:cubicBezTo>
                      <a:pt x="64437" y="842437"/>
                      <a:pt x="30876" y="763092"/>
                      <a:pt x="13738" y="679458"/>
                    </a:cubicBezTo>
                    <a:cubicBezTo>
                      <a:pt x="13738" y="679458"/>
                      <a:pt x="13738" y="679458"/>
                      <a:pt x="10882" y="665877"/>
                    </a:cubicBezTo>
                    <a:cubicBezTo>
                      <a:pt x="-8398" y="576524"/>
                      <a:pt x="-1971" y="482883"/>
                      <a:pt x="29448" y="396390"/>
                    </a:cubicBezTo>
                    <a:cubicBezTo>
                      <a:pt x="29448" y="396390"/>
                      <a:pt x="29448" y="396390"/>
                      <a:pt x="54440" y="329912"/>
                    </a:cubicBezTo>
                    <a:cubicBezTo>
                      <a:pt x="64437" y="302034"/>
                      <a:pt x="90857" y="284163"/>
                      <a:pt x="119420" y="284163"/>
                    </a:cubicBezTo>
                    <a:close/>
                    <a:moveTo>
                      <a:pt x="586062" y="84138"/>
                    </a:moveTo>
                    <a:cubicBezTo>
                      <a:pt x="611739" y="84138"/>
                      <a:pt x="611739" y="84138"/>
                      <a:pt x="611739" y="84138"/>
                    </a:cubicBezTo>
                    <a:cubicBezTo>
                      <a:pt x="611739" y="102626"/>
                      <a:pt x="611739" y="102626"/>
                      <a:pt x="611739" y="102626"/>
                    </a:cubicBezTo>
                    <a:cubicBezTo>
                      <a:pt x="624577" y="104048"/>
                      <a:pt x="635988" y="106892"/>
                      <a:pt x="641694" y="112581"/>
                    </a:cubicBezTo>
                    <a:cubicBezTo>
                      <a:pt x="633849" y="136046"/>
                      <a:pt x="633849" y="136046"/>
                      <a:pt x="633849" y="136046"/>
                    </a:cubicBezTo>
                    <a:cubicBezTo>
                      <a:pt x="623150" y="128935"/>
                      <a:pt x="611739" y="125380"/>
                      <a:pt x="600327" y="125380"/>
                    </a:cubicBezTo>
                    <a:cubicBezTo>
                      <a:pt x="593908" y="125380"/>
                      <a:pt x="588915" y="127513"/>
                      <a:pt x="585349" y="130357"/>
                    </a:cubicBezTo>
                    <a:cubicBezTo>
                      <a:pt x="581070" y="133913"/>
                      <a:pt x="579643" y="138890"/>
                      <a:pt x="579643" y="144579"/>
                    </a:cubicBezTo>
                    <a:cubicBezTo>
                      <a:pt x="579643" y="153112"/>
                      <a:pt x="589629" y="163066"/>
                      <a:pt x="611025" y="172310"/>
                    </a:cubicBezTo>
                    <a:cubicBezTo>
                      <a:pt x="621724" y="177999"/>
                      <a:pt x="630282" y="183687"/>
                      <a:pt x="635275" y="187954"/>
                    </a:cubicBezTo>
                    <a:cubicBezTo>
                      <a:pt x="639554" y="192220"/>
                      <a:pt x="642407" y="197198"/>
                      <a:pt x="645260" y="202886"/>
                    </a:cubicBezTo>
                    <a:cubicBezTo>
                      <a:pt x="647400" y="209286"/>
                      <a:pt x="648826" y="214974"/>
                      <a:pt x="648826" y="222085"/>
                    </a:cubicBezTo>
                    <a:cubicBezTo>
                      <a:pt x="648826" y="232751"/>
                      <a:pt x="645973" y="241284"/>
                      <a:pt x="638841" y="249105"/>
                    </a:cubicBezTo>
                    <a:cubicBezTo>
                      <a:pt x="633135" y="256216"/>
                      <a:pt x="623150" y="261905"/>
                      <a:pt x="611739" y="264749"/>
                    </a:cubicBezTo>
                    <a:cubicBezTo>
                      <a:pt x="611739" y="288925"/>
                      <a:pt x="611739" y="288925"/>
                      <a:pt x="611739" y="288925"/>
                    </a:cubicBezTo>
                    <a:cubicBezTo>
                      <a:pt x="586062" y="288925"/>
                      <a:pt x="586062" y="288925"/>
                      <a:pt x="586062" y="288925"/>
                    </a:cubicBezTo>
                    <a:cubicBezTo>
                      <a:pt x="586062" y="266171"/>
                      <a:pt x="586062" y="266171"/>
                      <a:pt x="586062" y="266171"/>
                    </a:cubicBezTo>
                    <a:cubicBezTo>
                      <a:pt x="573224" y="266171"/>
                      <a:pt x="561813" y="261905"/>
                      <a:pt x="550401" y="254794"/>
                    </a:cubicBezTo>
                    <a:cubicBezTo>
                      <a:pt x="561813" y="229907"/>
                      <a:pt x="561813" y="229907"/>
                      <a:pt x="561813" y="229907"/>
                    </a:cubicBezTo>
                    <a:cubicBezTo>
                      <a:pt x="572511" y="237728"/>
                      <a:pt x="583923" y="241284"/>
                      <a:pt x="594621" y="241284"/>
                    </a:cubicBezTo>
                    <a:cubicBezTo>
                      <a:pt x="611739" y="241284"/>
                      <a:pt x="620297" y="235595"/>
                      <a:pt x="620297" y="224218"/>
                    </a:cubicBezTo>
                    <a:cubicBezTo>
                      <a:pt x="620297" y="218530"/>
                      <a:pt x="618158" y="213552"/>
                      <a:pt x="613878" y="208575"/>
                    </a:cubicBezTo>
                    <a:cubicBezTo>
                      <a:pt x="609599" y="203597"/>
                      <a:pt x="601040" y="197909"/>
                      <a:pt x="588915" y="191509"/>
                    </a:cubicBezTo>
                    <a:cubicBezTo>
                      <a:pt x="576791" y="185821"/>
                      <a:pt x="569658" y="180843"/>
                      <a:pt x="564666" y="177288"/>
                    </a:cubicBezTo>
                    <a:cubicBezTo>
                      <a:pt x="560386" y="172310"/>
                      <a:pt x="557533" y="168044"/>
                      <a:pt x="553967" y="162355"/>
                    </a:cubicBezTo>
                    <a:cubicBezTo>
                      <a:pt x="551828" y="156667"/>
                      <a:pt x="551114" y="150978"/>
                      <a:pt x="551114" y="144579"/>
                    </a:cubicBezTo>
                    <a:cubicBezTo>
                      <a:pt x="551114" y="133913"/>
                      <a:pt x="553967" y="125380"/>
                      <a:pt x="561100" y="118980"/>
                    </a:cubicBezTo>
                    <a:cubicBezTo>
                      <a:pt x="567519" y="111870"/>
                      <a:pt x="575364" y="106892"/>
                      <a:pt x="586062" y="104048"/>
                    </a:cubicBezTo>
                    <a:cubicBezTo>
                      <a:pt x="586062" y="84138"/>
                      <a:pt x="586062" y="84138"/>
                      <a:pt x="586062" y="84138"/>
                    </a:cubicBezTo>
                    <a:close/>
                    <a:moveTo>
                      <a:pt x="248776" y="31750"/>
                    </a:moveTo>
                    <a:cubicBezTo>
                      <a:pt x="248776" y="31750"/>
                      <a:pt x="248776" y="31750"/>
                      <a:pt x="248776" y="341312"/>
                    </a:cubicBezTo>
                    <a:cubicBezTo>
                      <a:pt x="248776" y="341312"/>
                      <a:pt x="248776" y="341312"/>
                      <a:pt x="947276" y="341312"/>
                    </a:cubicBezTo>
                    <a:cubicBezTo>
                      <a:pt x="947276" y="341312"/>
                      <a:pt x="947276" y="341312"/>
                      <a:pt x="947276" y="31750"/>
                    </a:cubicBezTo>
                    <a:cubicBezTo>
                      <a:pt x="947276" y="31750"/>
                      <a:pt x="947276" y="31750"/>
                      <a:pt x="248776" y="31750"/>
                    </a:cubicBezTo>
                    <a:close/>
                    <a:moveTo>
                      <a:pt x="226319" y="0"/>
                    </a:moveTo>
                    <a:cubicBezTo>
                      <a:pt x="969734" y="0"/>
                      <a:pt x="969734" y="0"/>
                      <a:pt x="969734" y="0"/>
                    </a:cubicBezTo>
                    <a:cubicBezTo>
                      <a:pt x="975452" y="0"/>
                      <a:pt x="979026" y="3574"/>
                      <a:pt x="979026" y="8576"/>
                    </a:cubicBezTo>
                    <a:cubicBezTo>
                      <a:pt x="979026" y="363771"/>
                      <a:pt x="979026" y="363771"/>
                      <a:pt x="979026" y="363771"/>
                    </a:cubicBezTo>
                    <a:cubicBezTo>
                      <a:pt x="979026" y="368774"/>
                      <a:pt x="975452" y="373062"/>
                      <a:pt x="969734" y="373062"/>
                    </a:cubicBezTo>
                    <a:cubicBezTo>
                      <a:pt x="226319" y="373062"/>
                      <a:pt x="226319" y="373062"/>
                      <a:pt x="226319" y="373062"/>
                    </a:cubicBezTo>
                    <a:cubicBezTo>
                      <a:pt x="221315" y="373062"/>
                      <a:pt x="217026" y="368774"/>
                      <a:pt x="217026" y="363771"/>
                    </a:cubicBezTo>
                    <a:cubicBezTo>
                      <a:pt x="217026" y="8576"/>
                      <a:pt x="217026" y="8576"/>
                      <a:pt x="217026" y="8576"/>
                    </a:cubicBezTo>
                    <a:cubicBezTo>
                      <a:pt x="217026" y="3574"/>
                      <a:pt x="221315" y="0"/>
                      <a:pt x="226319"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noAutofit/>
              </a:bodyPr>
              <a:lstStyle/>
              <a:p>
                <a:endParaRPr lang="en-US"/>
              </a:p>
            </p:txBody>
          </p:sp>
        </p:grpSp>
      </p:grpSp>
      <p:grpSp>
        <p:nvGrpSpPr>
          <p:cNvPr id="175" name="Group 174">
            <a:extLst>
              <a:ext uri="{FF2B5EF4-FFF2-40B4-BE49-F238E27FC236}">
                <a16:creationId xmlns:a16="http://schemas.microsoft.com/office/drawing/2014/main" id="{C56A94EF-8856-45E0-AD8E-2E75B0BE0693}"/>
              </a:ext>
            </a:extLst>
          </p:cNvPr>
          <p:cNvGrpSpPr>
            <a:grpSpLocks noChangeAspect="1"/>
          </p:cNvGrpSpPr>
          <p:nvPr/>
        </p:nvGrpSpPr>
        <p:grpSpPr>
          <a:xfrm>
            <a:off x="8992528" y="1489499"/>
            <a:ext cx="351973" cy="352300"/>
            <a:chOff x="5273799" y="2606040"/>
            <a:chExt cx="1644396" cy="1645920"/>
          </a:xfrm>
        </p:grpSpPr>
        <p:sp>
          <p:nvSpPr>
            <p:cNvPr id="176" name="AutoShape 3">
              <a:extLst>
                <a:ext uri="{FF2B5EF4-FFF2-40B4-BE49-F238E27FC236}">
                  <a16:creationId xmlns:a16="http://schemas.microsoft.com/office/drawing/2014/main" id="{5FA2DBE4-6E87-4C91-9504-BF0A09CD1F44}"/>
                </a:ext>
              </a:extLst>
            </p:cNvPr>
            <p:cNvSpPr>
              <a:spLocks noChangeAspect="1" noChangeArrowheads="1" noTextEdit="1"/>
            </p:cNvSpPr>
            <p:nvPr/>
          </p:nvSpPr>
          <p:spPr bwMode="auto">
            <a:xfrm>
              <a:off x="5273799" y="2606040"/>
              <a:ext cx="1644396" cy="1645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3152" tIns="36576" rIns="73152" bIns="36576" numCol="1" anchor="t" anchorCtr="0" compatLnSpc="1">
              <a:prstTxWarp prst="textNoShape">
                <a:avLst/>
              </a:prstTxWarp>
            </a:bodyPr>
            <a:lstStyle/>
            <a:p>
              <a:endParaRPr lang="en-US"/>
            </a:p>
          </p:txBody>
        </p:sp>
        <p:grpSp>
          <p:nvGrpSpPr>
            <p:cNvPr id="177" name="Group 176">
              <a:extLst>
                <a:ext uri="{FF2B5EF4-FFF2-40B4-BE49-F238E27FC236}">
                  <a16:creationId xmlns:a16="http://schemas.microsoft.com/office/drawing/2014/main" id="{033B9B48-13AF-449F-A5F6-A738227FC7A2}"/>
                </a:ext>
              </a:extLst>
            </p:cNvPr>
            <p:cNvGrpSpPr/>
            <p:nvPr/>
          </p:nvGrpSpPr>
          <p:grpSpPr>
            <a:xfrm>
              <a:off x="5442201" y="2765298"/>
              <a:ext cx="1306068" cy="1315974"/>
              <a:chOff x="5442201" y="2765298"/>
              <a:chExt cx="1306068" cy="1315974"/>
            </a:xfrm>
          </p:grpSpPr>
          <p:sp>
            <p:nvSpPr>
              <p:cNvPr id="178" name="Freeform 5">
                <a:extLst>
                  <a:ext uri="{FF2B5EF4-FFF2-40B4-BE49-F238E27FC236}">
                    <a16:creationId xmlns:a16="http://schemas.microsoft.com/office/drawing/2014/main" id="{3484A246-C4D8-4999-BFED-47229CA76AC0}"/>
                  </a:ext>
                </a:extLst>
              </p:cNvPr>
              <p:cNvSpPr>
                <a:spLocks noEditPoints="1"/>
              </p:cNvSpPr>
              <p:nvPr/>
            </p:nvSpPr>
            <p:spPr bwMode="auto">
              <a:xfrm>
                <a:off x="5442201" y="2765298"/>
                <a:ext cx="1306068" cy="1315974"/>
              </a:xfrm>
              <a:custGeom>
                <a:avLst/>
                <a:gdLst>
                  <a:gd name="T0" fmla="*/ 1807 w 1830"/>
                  <a:gd name="T1" fmla="*/ 1666 h 1842"/>
                  <a:gd name="T2" fmla="*/ 1708 w 1830"/>
                  <a:gd name="T3" fmla="*/ 1666 h 1842"/>
                  <a:gd name="T4" fmla="*/ 1708 w 1830"/>
                  <a:gd name="T5" fmla="*/ 1616 h 1842"/>
                  <a:gd name="T6" fmla="*/ 1686 w 1830"/>
                  <a:gd name="T7" fmla="*/ 1594 h 1842"/>
                  <a:gd name="T8" fmla="*/ 144 w 1830"/>
                  <a:gd name="T9" fmla="*/ 1594 h 1842"/>
                  <a:gd name="T10" fmla="*/ 122 w 1830"/>
                  <a:gd name="T11" fmla="*/ 1616 h 1842"/>
                  <a:gd name="T12" fmla="*/ 122 w 1830"/>
                  <a:gd name="T13" fmla="*/ 1666 h 1842"/>
                  <a:gd name="T14" fmla="*/ 23 w 1830"/>
                  <a:gd name="T15" fmla="*/ 1666 h 1842"/>
                  <a:gd name="T16" fmla="*/ 1 w 1830"/>
                  <a:gd name="T17" fmla="*/ 1688 h 1842"/>
                  <a:gd name="T18" fmla="*/ 1 w 1830"/>
                  <a:gd name="T19" fmla="*/ 1820 h 1842"/>
                  <a:gd name="T20" fmla="*/ 23 w 1830"/>
                  <a:gd name="T21" fmla="*/ 1842 h 1842"/>
                  <a:gd name="T22" fmla="*/ 1807 w 1830"/>
                  <a:gd name="T23" fmla="*/ 1842 h 1842"/>
                  <a:gd name="T24" fmla="*/ 1829 w 1830"/>
                  <a:gd name="T25" fmla="*/ 1820 h 1842"/>
                  <a:gd name="T26" fmla="*/ 1829 w 1830"/>
                  <a:gd name="T27" fmla="*/ 1688 h 1842"/>
                  <a:gd name="T28" fmla="*/ 1807 w 1830"/>
                  <a:gd name="T29" fmla="*/ 1666 h 1842"/>
                  <a:gd name="T30" fmla="*/ 1818 w 1830"/>
                  <a:gd name="T31" fmla="*/ 441 h 1842"/>
                  <a:gd name="T32" fmla="*/ 925 w 1830"/>
                  <a:gd name="T33" fmla="*/ 3 h 1842"/>
                  <a:gd name="T34" fmla="*/ 905 w 1830"/>
                  <a:gd name="T35" fmla="*/ 3 h 1842"/>
                  <a:gd name="T36" fmla="*/ 12 w 1830"/>
                  <a:gd name="T37" fmla="*/ 441 h 1842"/>
                  <a:gd name="T38" fmla="*/ 0 w 1830"/>
                  <a:gd name="T39" fmla="*/ 461 h 1842"/>
                  <a:gd name="T40" fmla="*/ 0 w 1830"/>
                  <a:gd name="T41" fmla="*/ 533 h 1842"/>
                  <a:gd name="T42" fmla="*/ 22 w 1830"/>
                  <a:gd name="T43" fmla="*/ 555 h 1842"/>
                  <a:gd name="T44" fmla="*/ 169 w 1830"/>
                  <a:gd name="T45" fmla="*/ 555 h 1842"/>
                  <a:gd name="T46" fmla="*/ 169 w 1830"/>
                  <a:gd name="T47" fmla="*/ 641 h 1842"/>
                  <a:gd name="T48" fmla="*/ 191 w 1830"/>
                  <a:gd name="T49" fmla="*/ 663 h 1842"/>
                  <a:gd name="T50" fmla="*/ 1639 w 1830"/>
                  <a:gd name="T51" fmla="*/ 663 h 1842"/>
                  <a:gd name="T52" fmla="*/ 1661 w 1830"/>
                  <a:gd name="T53" fmla="*/ 641 h 1842"/>
                  <a:gd name="T54" fmla="*/ 1661 w 1830"/>
                  <a:gd name="T55" fmla="*/ 555 h 1842"/>
                  <a:gd name="T56" fmla="*/ 1808 w 1830"/>
                  <a:gd name="T57" fmla="*/ 555 h 1842"/>
                  <a:gd name="T58" fmla="*/ 1830 w 1830"/>
                  <a:gd name="T59" fmla="*/ 533 h 1842"/>
                  <a:gd name="T60" fmla="*/ 1830 w 1830"/>
                  <a:gd name="T61" fmla="*/ 461 h 1842"/>
                  <a:gd name="T62" fmla="*/ 1818 w 1830"/>
                  <a:gd name="T63" fmla="*/ 441 h 1842"/>
                  <a:gd name="T64" fmla="*/ 1617 w 1830"/>
                  <a:gd name="T65" fmla="*/ 619 h 1842"/>
                  <a:gd name="T66" fmla="*/ 213 w 1830"/>
                  <a:gd name="T67" fmla="*/ 619 h 1842"/>
                  <a:gd name="T68" fmla="*/ 213 w 1830"/>
                  <a:gd name="T69" fmla="*/ 555 h 1842"/>
                  <a:gd name="T70" fmla="*/ 1617 w 1830"/>
                  <a:gd name="T71" fmla="*/ 555 h 1842"/>
                  <a:gd name="T72" fmla="*/ 1617 w 1830"/>
                  <a:gd name="T73" fmla="*/ 619 h 1842"/>
                  <a:gd name="T74" fmla="*/ 1786 w 1830"/>
                  <a:gd name="T75" fmla="*/ 511 h 1842"/>
                  <a:gd name="T76" fmla="*/ 1661 w 1830"/>
                  <a:gd name="T77" fmla="*/ 511 h 1842"/>
                  <a:gd name="T78" fmla="*/ 1617 w 1830"/>
                  <a:gd name="T79" fmla="*/ 511 h 1842"/>
                  <a:gd name="T80" fmla="*/ 213 w 1830"/>
                  <a:gd name="T81" fmla="*/ 511 h 1842"/>
                  <a:gd name="T82" fmla="*/ 169 w 1830"/>
                  <a:gd name="T83" fmla="*/ 511 h 1842"/>
                  <a:gd name="T84" fmla="*/ 44 w 1830"/>
                  <a:gd name="T85" fmla="*/ 511 h 1842"/>
                  <a:gd name="T86" fmla="*/ 44 w 1830"/>
                  <a:gd name="T87" fmla="*/ 474 h 1842"/>
                  <a:gd name="T88" fmla="*/ 915 w 1830"/>
                  <a:gd name="T89" fmla="*/ 47 h 1842"/>
                  <a:gd name="T90" fmla="*/ 1786 w 1830"/>
                  <a:gd name="T91" fmla="*/ 474 h 1842"/>
                  <a:gd name="T92" fmla="*/ 1786 w 1830"/>
                  <a:gd name="T93" fmla="*/ 511 h 1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830" h="1842">
                    <a:moveTo>
                      <a:pt x="1807" y="1666"/>
                    </a:moveTo>
                    <a:cubicBezTo>
                      <a:pt x="1708" y="1666"/>
                      <a:pt x="1708" y="1666"/>
                      <a:pt x="1708" y="1666"/>
                    </a:cubicBezTo>
                    <a:cubicBezTo>
                      <a:pt x="1708" y="1616"/>
                      <a:pt x="1708" y="1616"/>
                      <a:pt x="1708" y="1616"/>
                    </a:cubicBezTo>
                    <a:cubicBezTo>
                      <a:pt x="1708" y="1603"/>
                      <a:pt x="1699" y="1594"/>
                      <a:pt x="1686" y="1594"/>
                    </a:cubicBezTo>
                    <a:cubicBezTo>
                      <a:pt x="144" y="1594"/>
                      <a:pt x="144" y="1594"/>
                      <a:pt x="144" y="1594"/>
                    </a:cubicBezTo>
                    <a:cubicBezTo>
                      <a:pt x="131" y="1594"/>
                      <a:pt x="122" y="1603"/>
                      <a:pt x="122" y="1616"/>
                    </a:cubicBezTo>
                    <a:cubicBezTo>
                      <a:pt x="122" y="1666"/>
                      <a:pt x="122" y="1666"/>
                      <a:pt x="122" y="1666"/>
                    </a:cubicBezTo>
                    <a:cubicBezTo>
                      <a:pt x="23" y="1666"/>
                      <a:pt x="23" y="1666"/>
                      <a:pt x="23" y="1666"/>
                    </a:cubicBezTo>
                    <a:cubicBezTo>
                      <a:pt x="11" y="1666"/>
                      <a:pt x="1" y="1675"/>
                      <a:pt x="1" y="1688"/>
                    </a:cubicBezTo>
                    <a:cubicBezTo>
                      <a:pt x="1" y="1820"/>
                      <a:pt x="1" y="1820"/>
                      <a:pt x="1" y="1820"/>
                    </a:cubicBezTo>
                    <a:cubicBezTo>
                      <a:pt x="1" y="1832"/>
                      <a:pt x="11" y="1842"/>
                      <a:pt x="23" y="1842"/>
                    </a:cubicBezTo>
                    <a:cubicBezTo>
                      <a:pt x="1807" y="1842"/>
                      <a:pt x="1807" y="1842"/>
                      <a:pt x="1807" y="1842"/>
                    </a:cubicBezTo>
                    <a:cubicBezTo>
                      <a:pt x="1819" y="1842"/>
                      <a:pt x="1829" y="1832"/>
                      <a:pt x="1829" y="1820"/>
                    </a:cubicBezTo>
                    <a:cubicBezTo>
                      <a:pt x="1829" y="1688"/>
                      <a:pt x="1829" y="1688"/>
                      <a:pt x="1829" y="1688"/>
                    </a:cubicBezTo>
                    <a:cubicBezTo>
                      <a:pt x="1829" y="1675"/>
                      <a:pt x="1819" y="1666"/>
                      <a:pt x="1807" y="1666"/>
                    </a:cubicBezTo>
                    <a:close/>
                    <a:moveTo>
                      <a:pt x="1818" y="441"/>
                    </a:moveTo>
                    <a:cubicBezTo>
                      <a:pt x="925" y="3"/>
                      <a:pt x="925" y="3"/>
                      <a:pt x="925" y="3"/>
                    </a:cubicBezTo>
                    <a:cubicBezTo>
                      <a:pt x="919" y="0"/>
                      <a:pt x="911" y="0"/>
                      <a:pt x="905" y="3"/>
                    </a:cubicBezTo>
                    <a:cubicBezTo>
                      <a:pt x="12" y="441"/>
                      <a:pt x="12" y="441"/>
                      <a:pt x="12" y="441"/>
                    </a:cubicBezTo>
                    <a:cubicBezTo>
                      <a:pt x="5" y="445"/>
                      <a:pt x="0" y="452"/>
                      <a:pt x="0" y="461"/>
                    </a:cubicBezTo>
                    <a:cubicBezTo>
                      <a:pt x="0" y="533"/>
                      <a:pt x="0" y="533"/>
                      <a:pt x="0" y="533"/>
                    </a:cubicBezTo>
                    <a:cubicBezTo>
                      <a:pt x="0" y="545"/>
                      <a:pt x="10" y="555"/>
                      <a:pt x="22" y="555"/>
                    </a:cubicBezTo>
                    <a:cubicBezTo>
                      <a:pt x="169" y="555"/>
                      <a:pt x="169" y="555"/>
                      <a:pt x="169" y="555"/>
                    </a:cubicBezTo>
                    <a:cubicBezTo>
                      <a:pt x="169" y="641"/>
                      <a:pt x="169" y="641"/>
                      <a:pt x="169" y="641"/>
                    </a:cubicBezTo>
                    <a:cubicBezTo>
                      <a:pt x="169" y="654"/>
                      <a:pt x="179" y="663"/>
                      <a:pt x="191" y="663"/>
                    </a:cubicBezTo>
                    <a:cubicBezTo>
                      <a:pt x="1639" y="663"/>
                      <a:pt x="1639" y="663"/>
                      <a:pt x="1639" y="663"/>
                    </a:cubicBezTo>
                    <a:cubicBezTo>
                      <a:pt x="1651" y="663"/>
                      <a:pt x="1661" y="654"/>
                      <a:pt x="1661" y="641"/>
                    </a:cubicBezTo>
                    <a:cubicBezTo>
                      <a:pt x="1661" y="555"/>
                      <a:pt x="1661" y="555"/>
                      <a:pt x="1661" y="555"/>
                    </a:cubicBezTo>
                    <a:cubicBezTo>
                      <a:pt x="1808" y="555"/>
                      <a:pt x="1808" y="555"/>
                      <a:pt x="1808" y="555"/>
                    </a:cubicBezTo>
                    <a:cubicBezTo>
                      <a:pt x="1820" y="555"/>
                      <a:pt x="1830" y="545"/>
                      <a:pt x="1830" y="533"/>
                    </a:cubicBezTo>
                    <a:cubicBezTo>
                      <a:pt x="1830" y="461"/>
                      <a:pt x="1830" y="461"/>
                      <a:pt x="1830" y="461"/>
                    </a:cubicBezTo>
                    <a:cubicBezTo>
                      <a:pt x="1830" y="452"/>
                      <a:pt x="1825" y="445"/>
                      <a:pt x="1818" y="441"/>
                    </a:cubicBezTo>
                    <a:close/>
                    <a:moveTo>
                      <a:pt x="1617" y="619"/>
                    </a:moveTo>
                    <a:cubicBezTo>
                      <a:pt x="213" y="619"/>
                      <a:pt x="213" y="619"/>
                      <a:pt x="213" y="619"/>
                    </a:cubicBezTo>
                    <a:cubicBezTo>
                      <a:pt x="213" y="555"/>
                      <a:pt x="213" y="555"/>
                      <a:pt x="213" y="555"/>
                    </a:cubicBezTo>
                    <a:cubicBezTo>
                      <a:pt x="1617" y="555"/>
                      <a:pt x="1617" y="555"/>
                      <a:pt x="1617" y="555"/>
                    </a:cubicBezTo>
                    <a:lnTo>
                      <a:pt x="1617" y="619"/>
                    </a:lnTo>
                    <a:close/>
                    <a:moveTo>
                      <a:pt x="1786" y="511"/>
                    </a:moveTo>
                    <a:cubicBezTo>
                      <a:pt x="1661" y="511"/>
                      <a:pt x="1661" y="511"/>
                      <a:pt x="1661" y="511"/>
                    </a:cubicBezTo>
                    <a:cubicBezTo>
                      <a:pt x="1617" y="511"/>
                      <a:pt x="1617" y="511"/>
                      <a:pt x="1617" y="511"/>
                    </a:cubicBezTo>
                    <a:cubicBezTo>
                      <a:pt x="213" y="511"/>
                      <a:pt x="213" y="511"/>
                      <a:pt x="213" y="511"/>
                    </a:cubicBezTo>
                    <a:cubicBezTo>
                      <a:pt x="169" y="511"/>
                      <a:pt x="169" y="511"/>
                      <a:pt x="169" y="511"/>
                    </a:cubicBezTo>
                    <a:cubicBezTo>
                      <a:pt x="44" y="511"/>
                      <a:pt x="44" y="511"/>
                      <a:pt x="44" y="511"/>
                    </a:cubicBezTo>
                    <a:cubicBezTo>
                      <a:pt x="44" y="474"/>
                      <a:pt x="44" y="474"/>
                      <a:pt x="44" y="474"/>
                    </a:cubicBezTo>
                    <a:cubicBezTo>
                      <a:pt x="915" y="47"/>
                      <a:pt x="915" y="47"/>
                      <a:pt x="915" y="47"/>
                    </a:cubicBezTo>
                    <a:cubicBezTo>
                      <a:pt x="1786" y="474"/>
                      <a:pt x="1786" y="474"/>
                      <a:pt x="1786" y="474"/>
                    </a:cubicBezTo>
                    <a:lnTo>
                      <a:pt x="1786" y="51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endParaRPr lang="en-US"/>
              </a:p>
            </p:txBody>
          </p:sp>
          <p:sp>
            <p:nvSpPr>
              <p:cNvPr id="179" name="Freeform 6">
                <a:extLst>
                  <a:ext uri="{FF2B5EF4-FFF2-40B4-BE49-F238E27FC236}">
                    <a16:creationId xmlns:a16="http://schemas.microsoft.com/office/drawing/2014/main" id="{CE2BC9A3-5D94-4F29-84D6-F33B09EB3C8B}"/>
                  </a:ext>
                </a:extLst>
              </p:cNvPr>
              <p:cNvSpPr>
                <a:spLocks noEditPoints="1"/>
              </p:cNvSpPr>
              <p:nvPr/>
            </p:nvSpPr>
            <p:spPr bwMode="auto">
              <a:xfrm>
                <a:off x="5613651" y="2902458"/>
                <a:ext cx="963549" cy="958596"/>
              </a:xfrm>
              <a:custGeom>
                <a:avLst/>
                <a:gdLst>
                  <a:gd name="T0" fmla="*/ 783 w 1350"/>
                  <a:gd name="T1" fmla="*/ 108 h 1342"/>
                  <a:gd name="T2" fmla="*/ 675 w 1350"/>
                  <a:gd name="T3" fmla="*/ 216 h 1342"/>
                  <a:gd name="T4" fmla="*/ 567 w 1350"/>
                  <a:gd name="T5" fmla="*/ 108 h 1342"/>
                  <a:gd name="T6" fmla="*/ 675 w 1350"/>
                  <a:gd name="T7" fmla="*/ 0 h 1342"/>
                  <a:gd name="T8" fmla="*/ 783 w 1350"/>
                  <a:gd name="T9" fmla="*/ 108 h 1342"/>
                  <a:gd name="T10" fmla="*/ 174 w 1350"/>
                  <a:gd name="T11" fmla="*/ 540 h 1342"/>
                  <a:gd name="T12" fmla="*/ 164 w 1350"/>
                  <a:gd name="T13" fmla="*/ 531 h 1342"/>
                  <a:gd name="T14" fmla="*/ 35 w 1350"/>
                  <a:gd name="T15" fmla="*/ 531 h 1342"/>
                  <a:gd name="T16" fmla="*/ 25 w 1350"/>
                  <a:gd name="T17" fmla="*/ 540 h 1342"/>
                  <a:gd name="T18" fmla="*/ 0 w 1350"/>
                  <a:gd name="T19" fmla="*/ 1332 h 1342"/>
                  <a:gd name="T20" fmla="*/ 10 w 1350"/>
                  <a:gd name="T21" fmla="*/ 1342 h 1342"/>
                  <a:gd name="T22" fmla="*/ 188 w 1350"/>
                  <a:gd name="T23" fmla="*/ 1342 h 1342"/>
                  <a:gd name="T24" fmla="*/ 198 w 1350"/>
                  <a:gd name="T25" fmla="*/ 1332 h 1342"/>
                  <a:gd name="T26" fmla="*/ 174 w 1350"/>
                  <a:gd name="T27" fmla="*/ 540 h 1342"/>
                  <a:gd name="T28" fmla="*/ 557 w 1350"/>
                  <a:gd name="T29" fmla="*/ 540 h 1342"/>
                  <a:gd name="T30" fmla="*/ 548 w 1350"/>
                  <a:gd name="T31" fmla="*/ 531 h 1342"/>
                  <a:gd name="T32" fmla="*/ 418 w 1350"/>
                  <a:gd name="T33" fmla="*/ 531 h 1342"/>
                  <a:gd name="T34" fmla="*/ 409 w 1350"/>
                  <a:gd name="T35" fmla="*/ 540 h 1342"/>
                  <a:gd name="T36" fmla="*/ 384 w 1350"/>
                  <a:gd name="T37" fmla="*/ 1332 h 1342"/>
                  <a:gd name="T38" fmla="*/ 394 w 1350"/>
                  <a:gd name="T39" fmla="*/ 1342 h 1342"/>
                  <a:gd name="T40" fmla="*/ 572 w 1350"/>
                  <a:gd name="T41" fmla="*/ 1342 h 1342"/>
                  <a:gd name="T42" fmla="*/ 582 w 1350"/>
                  <a:gd name="T43" fmla="*/ 1332 h 1342"/>
                  <a:gd name="T44" fmla="*/ 557 w 1350"/>
                  <a:gd name="T45" fmla="*/ 540 h 1342"/>
                  <a:gd name="T46" fmla="*/ 941 w 1350"/>
                  <a:gd name="T47" fmla="*/ 540 h 1342"/>
                  <a:gd name="T48" fmla="*/ 932 w 1350"/>
                  <a:gd name="T49" fmla="*/ 531 h 1342"/>
                  <a:gd name="T50" fmla="*/ 802 w 1350"/>
                  <a:gd name="T51" fmla="*/ 531 h 1342"/>
                  <a:gd name="T52" fmla="*/ 793 w 1350"/>
                  <a:gd name="T53" fmla="*/ 540 h 1342"/>
                  <a:gd name="T54" fmla="*/ 768 w 1350"/>
                  <a:gd name="T55" fmla="*/ 1332 h 1342"/>
                  <a:gd name="T56" fmla="*/ 778 w 1350"/>
                  <a:gd name="T57" fmla="*/ 1342 h 1342"/>
                  <a:gd name="T58" fmla="*/ 956 w 1350"/>
                  <a:gd name="T59" fmla="*/ 1342 h 1342"/>
                  <a:gd name="T60" fmla="*/ 966 w 1350"/>
                  <a:gd name="T61" fmla="*/ 1332 h 1342"/>
                  <a:gd name="T62" fmla="*/ 941 w 1350"/>
                  <a:gd name="T63" fmla="*/ 540 h 1342"/>
                  <a:gd name="T64" fmla="*/ 1325 w 1350"/>
                  <a:gd name="T65" fmla="*/ 540 h 1342"/>
                  <a:gd name="T66" fmla="*/ 1315 w 1350"/>
                  <a:gd name="T67" fmla="*/ 531 h 1342"/>
                  <a:gd name="T68" fmla="*/ 1186 w 1350"/>
                  <a:gd name="T69" fmla="*/ 531 h 1342"/>
                  <a:gd name="T70" fmla="*/ 1176 w 1350"/>
                  <a:gd name="T71" fmla="*/ 540 h 1342"/>
                  <a:gd name="T72" fmla="*/ 1152 w 1350"/>
                  <a:gd name="T73" fmla="*/ 1332 h 1342"/>
                  <a:gd name="T74" fmla="*/ 1162 w 1350"/>
                  <a:gd name="T75" fmla="*/ 1342 h 1342"/>
                  <a:gd name="T76" fmla="*/ 1340 w 1350"/>
                  <a:gd name="T77" fmla="*/ 1342 h 1342"/>
                  <a:gd name="T78" fmla="*/ 1350 w 1350"/>
                  <a:gd name="T79" fmla="*/ 1332 h 1342"/>
                  <a:gd name="T80" fmla="*/ 1325 w 1350"/>
                  <a:gd name="T81" fmla="*/ 540 h 1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50" h="1342">
                    <a:moveTo>
                      <a:pt x="783" y="108"/>
                    </a:moveTo>
                    <a:cubicBezTo>
                      <a:pt x="783" y="167"/>
                      <a:pt x="735" y="216"/>
                      <a:pt x="675" y="216"/>
                    </a:cubicBezTo>
                    <a:cubicBezTo>
                      <a:pt x="615" y="216"/>
                      <a:pt x="567" y="167"/>
                      <a:pt x="567" y="108"/>
                    </a:cubicBezTo>
                    <a:cubicBezTo>
                      <a:pt x="567" y="48"/>
                      <a:pt x="615" y="0"/>
                      <a:pt x="675" y="0"/>
                    </a:cubicBezTo>
                    <a:cubicBezTo>
                      <a:pt x="735" y="0"/>
                      <a:pt x="783" y="48"/>
                      <a:pt x="783" y="108"/>
                    </a:cubicBezTo>
                    <a:close/>
                    <a:moveTo>
                      <a:pt x="174" y="540"/>
                    </a:moveTo>
                    <a:cubicBezTo>
                      <a:pt x="174" y="535"/>
                      <a:pt x="169" y="531"/>
                      <a:pt x="164" y="531"/>
                    </a:cubicBezTo>
                    <a:cubicBezTo>
                      <a:pt x="35" y="531"/>
                      <a:pt x="35" y="531"/>
                      <a:pt x="35" y="531"/>
                    </a:cubicBezTo>
                    <a:cubicBezTo>
                      <a:pt x="29" y="531"/>
                      <a:pt x="25" y="535"/>
                      <a:pt x="25" y="540"/>
                    </a:cubicBezTo>
                    <a:cubicBezTo>
                      <a:pt x="0" y="1332"/>
                      <a:pt x="0" y="1332"/>
                      <a:pt x="0" y="1332"/>
                    </a:cubicBezTo>
                    <a:cubicBezTo>
                      <a:pt x="0" y="1337"/>
                      <a:pt x="5" y="1342"/>
                      <a:pt x="10" y="1342"/>
                    </a:cubicBezTo>
                    <a:cubicBezTo>
                      <a:pt x="188" y="1342"/>
                      <a:pt x="188" y="1342"/>
                      <a:pt x="188" y="1342"/>
                    </a:cubicBezTo>
                    <a:cubicBezTo>
                      <a:pt x="194" y="1342"/>
                      <a:pt x="198" y="1337"/>
                      <a:pt x="198" y="1332"/>
                    </a:cubicBezTo>
                    <a:lnTo>
                      <a:pt x="174" y="540"/>
                    </a:lnTo>
                    <a:close/>
                    <a:moveTo>
                      <a:pt x="557" y="540"/>
                    </a:moveTo>
                    <a:cubicBezTo>
                      <a:pt x="557" y="535"/>
                      <a:pt x="553" y="531"/>
                      <a:pt x="548" y="531"/>
                    </a:cubicBezTo>
                    <a:cubicBezTo>
                      <a:pt x="418" y="531"/>
                      <a:pt x="418" y="531"/>
                      <a:pt x="418" y="531"/>
                    </a:cubicBezTo>
                    <a:cubicBezTo>
                      <a:pt x="413" y="531"/>
                      <a:pt x="409" y="535"/>
                      <a:pt x="409" y="540"/>
                    </a:cubicBezTo>
                    <a:cubicBezTo>
                      <a:pt x="384" y="1332"/>
                      <a:pt x="384" y="1332"/>
                      <a:pt x="384" y="1332"/>
                    </a:cubicBezTo>
                    <a:cubicBezTo>
                      <a:pt x="384" y="1337"/>
                      <a:pt x="389" y="1342"/>
                      <a:pt x="394" y="1342"/>
                    </a:cubicBezTo>
                    <a:cubicBezTo>
                      <a:pt x="572" y="1342"/>
                      <a:pt x="572" y="1342"/>
                      <a:pt x="572" y="1342"/>
                    </a:cubicBezTo>
                    <a:cubicBezTo>
                      <a:pt x="578" y="1342"/>
                      <a:pt x="582" y="1337"/>
                      <a:pt x="582" y="1332"/>
                    </a:cubicBezTo>
                    <a:lnTo>
                      <a:pt x="557" y="540"/>
                    </a:lnTo>
                    <a:close/>
                    <a:moveTo>
                      <a:pt x="941" y="540"/>
                    </a:moveTo>
                    <a:cubicBezTo>
                      <a:pt x="941" y="535"/>
                      <a:pt x="937" y="531"/>
                      <a:pt x="932" y="531"/>
                    </a:cubicBezTo>
                    <a:cubicBezTo>
                      <a:pt x="802" y="531"/>
                      <a:pt x="802" y="531"/>
                      <a:pt x="802" y="531"/>
                    </a:cubicBezTo>
                    <a:cubicBezTo>
                      <a:pt x="797" y="531"/>
                      <a:pt x="793" y="535"/>
                      <a:pt x="793" y="540"/>
                    </a:cubicBezTo>
                    <a:cubicBezTo>
                      <a:pt x="768" y="1332"/>
                      <a:pt x="768" y="1332"/>
                      <a:pt x="768" y="1332"/>
                    </a:cubicBezTo>
                    <a:cubicBezTo>
                      <a:pt x="768" y="1337"/>
                      <a:pt x="772" y="1342"/>
                      <a:pt x="778" y="1342"/>
                    </a:cubicBezTo>
                    <a:cubicBezTo>
                      <a:pt x="956" y="1342"/>
                      <a:pt x="956" y="1342"/>
                      <a:pt x="956" y="1342"/>
                    </a:cubicBezTo>
                    <a:cubicBezTo>
                      <a:pt x="961" y="1342"/>
                      <a:pt x="966" y="1337"/>
                      <a:pt x="966" y="1332"/>
                    </a:cubicBezTo>
                    <a:lnTo>
                      <a:pt x="941" y="540"/>
                    </a:lnTo>
                    <a:close/>
                    <a:moveTo>
                      <a:pt x="1325" y="540"/>
                    </a:moveTo>
                    <a:cubicBezTo>
                      <a:pt x="1325" y="535"/>
                      <a:pt x="1321" y="531"/>
                      <a:pt x="1315" y="531"/>
                    </a:cubicBezTo>
                    <a:cubicBezTo>
                      <a:pt x="1186" y="531"/>
                      <a:pt x="1186" y="531"/>
                      <a:pt x="1186" y="531"/>
                    </a:cubicBezTo>
                    <a:cubicBezTo>
                      <a:pt x="1181" y="531"/>
                      <a:pt x="1176" y="535"/>
                      <a:pt x="1176" y="540"/>
                    </a:cubicBezTo>
                    <a:cubicBezTo>
                      <a:pt x="1152" y="1332"/>
                      <a:pt x="1152" y="1332"/>
                      <a:pt x="1152" y="1332"/>
                    </a:cubicBezTo>
                    <a:cubicBezTo>
                      <a:pt x="1152" y="1337"/>
                      <a:pt x="1156" y="1342"/>
                      <a:pt x="1162" y="1342"/>
                    </a:cubicBezTo>
                    <a:cubicBezTo>
                      <a:pt x="1340" y="1342"/>
                      <a:pt x="1340" y="1342"/>
                      <a:pt x="1340" y="1342"/>
                    </a:cubicBezTo>
                    <a:cubicBezTo>
                      <a:pt x="1345" y="1342"/>
                      <a:pt x="1350" y="1337"/>
                      <a:pt x="1350" y="1332"/>
                    </a:cubicBezTo>
                    <a:lnTo>
                      <a:pt x="1325" y="54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endParaRPr lang="en-US"/>
              </a:p>
            </p:txBody>
          </p:sp>
        </p:grpSp>
      </p:grpSp>
      <p:sp>
        <p:nvSpPr>
          <p:cNvPr id="180" name="TextBox 179">
            <a:extLst>
              <a:ext uri="{FF2B5EF4-FFF2-40B4-BE49-F238E27FC236}">
                <a16:creationId xmlns:a16="http://schemas.microsoft.com/office/drawing/2014/main" id="{8D0E6AA6-A228-48FB-9A49-7397442A9867}"/>
              </a:ext>
            </a:extLst>
          </p:cNvPr>
          <p:cNvSpPr txBox="1"/>
          <p:nvPr/>
        </p:nvSpPr>
        <p:spPr>
          <a:xfrm>
            <a:off x="8050111" y="4635352"/>
            <a:ext cx="1354768" cy="1384995"/>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27432" bIns="0" numCol="1" spcCol="0" rtlCol="0" fromWordArt="0" anchor="t" anchorCtr="0" forceAA="0" compatLnSpc="1">
            <a:prstTxWarp prst="textNoShape">
              <a:avLst/>
            </a:prstTxWarp>
            <a:noAutofit/>
          </a:bodyPr>
          <a:lstStyle/>
          <a:p>
            <a:pPr marL="324000" lvl="1" indent="-216000">
              <a:buClr>
                <a:schemeClr val="tx2"/>
              </a:buClr>
              <a:buSzPct val="100000"/>
              <a:buFont typeface="Trebuchet MS" panose="020B0603020202020204" pitchFamily="34" charset="0"/>
              <a:buChar char="•"/>
              <a:defRPr/>
            </a:pPr>
            <a:endParaRPr kumimoji="0" lang="en-US" sz="1000" i="0" u="none" strike="noStrike" kern="1200" cap="none" spc="0" normalizeH="0" baseline="0" noProof="0">
              <a:ln>
                <a:noFill/>
              </a:ln>
              <a:solidFill>
                <a:schemeClr val="tx1"/>
              </a:solidFill>
              <a:effectLst/>
              <a:uLnTx/>
              <a:uFillTx/>
              <a:cs typeface="Arial" pitchFamily="34" charset="0"/>
            </a:endParaRP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International</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SWIFT</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Western Union</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Ripple</a:t>
            </a:r>
          </a:p>
          <a:p>
            <a:pPr marL="457200" lvl="2" indent="-216000">
              <a:buClr>
                <a:schemeClr val="tx2"/>
              </a:buClr>
              <a:buSzPct val="100000"/>
              <a:buFont typeface="Trebuchet MS" panose="020B0603020202020204" pitchFamily="34" charset="0"/>
              <a:buChar char="–"/>
              <a:defRPr/>
            </a:pPr>
            <a:r>
              <a:rPr lang="en-US" sz="1000" err="1">
                <a:solidFill>
                  <a:schemeClr val="tx1"/>
                </a:solidFill>
                <a:cs typeface="Arial" pitchFamily="34" charset="0"/>
              </a:rPr>
              <a:t>CHINEX</a:t>
            </a:r>
            <a:endParaRPr lang="en-US" sz="1000">
              <a:solidFill>
                <a:schemeClr val="tx1"/>
              </a:solidFill>
              <a:cs typeface="Arial" pitchFamily="34" charset="0"/>
            </a:endParaRPr>
          </a:p>
        </p:txBody>
      </p:sp>
      <p:sp>
        <p:nvSpPr>
          <p:cNvPr id="181" name="TextBox 180">
            <a:extLst>
              <a:ext uri="{FF2B5EF4-FFF2-40B4-BE49-F238E27FC236}">
                <a16:creationId xmlns:a16="http://schemas.microsoft.com/office/drawing/2014/main" id="{4A3E7224-5637-4AC2-88E0-2629521E440D}"/>
              </a:ext>
            </a:extLst>
          </p:cNvPr>
          <p:cNvSpPr txBox="1"/>
          <p:nvPr/>
        </p:nvSpPr>
        <p:spPr>
          <a:xfrm>
            <a:off x="6652017" y="4635352"/>
            <a:ext cx="1354768" cy="1231106"/>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27432" bIns="0" numCol="1" spcCol="0" rtlCol="0" fromWordArt="0" anchor="t" anchorCtr="0" forceAA="0" compatLnSpc="1">
            <a:prstTxWarp prst="textNoShape">
              <a:avLst/>
            </a:prstTxWarp>
            <a:spAutoFit/>
          </a:bodyPr>
          <a:lstStyle/>
          <a:p>
            <a:pPr marL="109728">
              <a:buSzPct val="100000"/>
              <a:buFont typeface="Trebuchet MS" panose="020B0603020202020204" pitchFamily="34" charset="0"/>
              <a:buChar char="​"/>
              <a:defRPr/>
            </a:pPr>
            <a:r>
              <a:rPr lang="en-US" sz="1000">
                <a:solidFill>
                  <a:srgbClr val="29BA74"/>
                </a:solidFill>
                <a:cs typeface="Arial" pitchFamily="34" charset="0"/>
              </a:rPr>
              <a:t>Transfers</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Domestic</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Intrabank/EFT/FAST</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Easy transfer </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Send to ATM</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Regular transfer order</a:t>
            </a:r>
          </a:p>
        </p:txBody>
      </p:sp>
      <p:grpSp>
        <p:nvGrpSpPr>
          <p:cNvPr id="5" name="Group 4">
            <a:extLst>
              <a:ext uri="{FF2B5EF4-FFF2-40B4-BE49-F238E27FC236}">
                <a16:creationId xmlns:a16="http://schemas.microsoft.com/office/drawing/2014/main" id="{C0A0A3C6-2D78-4102-9050-45FD9EB075A1}"/>
              </a:ext>
            </a:extLst>
          </p:cNvPr>
          <p:cNvGrpSpPr/>
          <p:nvPr/>
        </p:nvGrpSpPr>
        <p:grpSpPr>
          <a:xfrm>
            <a:off x="1678436" y="1310481"/>
            <a:ext cx="2871243" cy="4805115"/>
            <a:chOff x="3718525" y="1518831"/>
            <a:chExt cx="2871243" cy="4805115"/>
          </a:xfrm>
        </p:grpSpPr>
        <p:sp>
          <p:nvSpPr>
            <p:cNvPr id="135" name="Rectangle 134">
              <a:extLst>
                <a:ext uri="{FF2B5EF4-FFF2-40B4-BE49-F238E27FC236}">
                  <a16:creationId xmlns:a16="http://schemas.microsoft.com/office/drawing/2014/main" id="{AE910F7D-3578-413F-8AB4-8797D55C610C}"/>
                </a:ext>
              </a:extLst>
            </p:cNvPr>
            <p:cNvSpPr/>
            <p:nvPr/>
          </p:nvSpPr>
          <p:spPr>
            <a:xfrm>
              <a:off x="3718525" y="1768651"/>
              <a:ext cx="2752862" cy="4555295"/>
            </a:xfrm>
            <a:prstGeom prst="rect">
              <a:avLst/>
            </a:prstGeom>
            <a:noFill/>
            <a:ln w="9525" cap="rnd" cmpd="sng" algn="ctr">
              <a:solidFill>
                <a:schemeClr val="tx2"/>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a:solidFill>
                  <a:srgbClr val="FFFFFF"/>
                </a:solidFill>
                <a:sym typeface="Trebuchet MS" panose="020B0603020202020204" pitchFamily="34" charset="0"/>
              </a:endParaRPr>
            </a:p>
          </p:txBody>
        </p:sp>
        <p:sp>
          <p:nvSpPr>
            <p:cNvPr id="136" name="Rectangle 135">
              <a:extLst>
                <a:ext uri="{FF2B5EF4-FFF2-40B4-BE49-F238E27FC236}">
                  <a16:creationId xmlns:a16="http://schemas.microsoft.com/office/drawing/2014/main" id="{21783683-52DC-45CA-9D0D-CD772E95A95A}"/>
                </a:ext>
              </a:extLst>
            </p:cNvPr>
            <p:cNvSpPr/>
            <p:nvPr/>
          </p:nvSpPr>
          <p:spPr>
            <a:xfrm>
              <a:off x="5878864" y="1722054"/>
              <a:ext cx="352479" cy="71129"/>
            </a:xfrm>
            <a:prstGeom prst="rect">
              <a:avLst/>
            </a:prstGeom>
            <a:solidFill>
              <a:srgbClr val="FFFFFF"/>
            </a:solidFill>
            <a:ln w="9525" cap="flat" cmpd="sng" algn="ctr">
              <a:no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a:solidFill>
                  <a:srgbClr val="FFFFFF"/>
                </a:solidFill>
              </a:endParaRPr>
            </a:p>
          </p:txBody>
        </p:sp>
        <p:sp>
          <p:nvSpPr>
            <p:cNvPr id="137" name="Diamond 136">
              <a:extLst>
                <a:ext uri="{FF2B5EF4-FFF2-40B4-BE49-F238E27FC236}">
                  <a16:creationId xmlns:a16="http://schemas.microsoft.com/office/drawing/2014/main" id="{29C6CCCD-660A-4030-A347-45FEFB890D14}"/>
                </a:ext>
              </a:extLst>
            </p:cNvPr>
            <p:cNvSpPr/>
            <p:nvPr/>
          </p:nvSpPr>
          <p:spPr>
            <a:xfrm>
              <a:off x="5880279" y="1518831"/>
              <a:ext cx="709489" cy="710337"/>
            </a:xfrm>
            <a:prstGeom prst="diamond">
              <a:avLst/>
            </a:prstGeom>
            <a:solidFill>
              <a:srgbClr val="FFFFFF"/>
            </a:solidFill>
            <a:ln w="19050"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4295" tIns="37148" rIns="74295" bIns="37148" numCol="1" spcCol="0" rtlCol="0" fromWordArt="0" anchor="ctr" anchorCtr="0" forceAA="0" compatLnSpc="1">
              <a:prstTxWarp prst="textNoShape">
                <a:avLst/>
              </a:prstTxWarp>
              <a:noAutofit/>
            </a:bodyPr>
            <a:lstStyle/>
            <a:p>
              <a:pPr algn="ctr">
                <a:lnSpc>
                  <a:spcPct val="90000"/>
                </a:lnSpc>
                <a:spcAft>
                  <a:spcPts val="813"/>
                </a:spcAft>
              </a:pPr>
              <a:endParaRPr lang="en-US" sz="1600">
                <a:solidFill>
                  <a:srgbClr val="FFFFFF"/>
                </a:solidFill>
                <a:sym typeface="Trebuchet MS" panose="020B0603020202020204" pitchFamily="34" charset="0"/>
              </a:endParaRPr>
            </a:p>
          </p:txBody>
        </p:sp>
        <p:grpSp>
          <p:nvGrpSpPr>
            <p:cNvPr id="10" name="Group 9"/>
            <p:cNvGrpSpPr/>
            <p:nvPr/>
          </p:nvGrpSpPr>
          <p:grpSpPr>
            <a:xfrm>
              <a:off x="3718526" y="1649546"/>
              <a:ext cx="2318654" cy="458654"/>
              <a:chOff x="3718526" y="1954346"/>
              <a:chExt cx="1442700" cy="458654"/>
            </a:xfrm>
          </p:grpSpPr>
          <p:sp>
            <p:nvSpPr>
              <p:cNvPr id="138" name="Arrow: Chevron 59">
                <a:extLst>
                  <a:ext uri="{FF2B5EF4-FFF2-40B4-BE49-F238E27FC236}">
                    <a16:creationId xmlns:a16="http://schemas.microsoft.com/office/drawing/2014/main" id="{180D808A-8879-4D9E-9F99-7544F603C906}"/>
                  </a:ext>
                </a:extLst>
              </p:cNvPr>
              <p:cNvSpPr/>
              <p:nvPr/>
            </p:nvSpPr>
            <p:spPr>
              <a:xfrm flipH="1">
                <a:off x="3878791" y="1954346"/>
                <a:ext cx="1282435" cy="458654"/>
              </a:xfrm>
              <a:prstGeom prst="chevron">
                <a:avLst>
                  <a:gd name="adj" fmla="val 51207"/>
                </a:avLst>
              </a:prstGeom>
              <a:solidFill>
                <a:schemeClr val="tx2"/>
              </a:solidFill>
              <a:ln w="12700" cap="flat" cmpd="sng" algn="ctr">
                <a:solidFill>
                  <a:schemeClr val="tx2"/>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39" name="Rectangle: Rounded Corners 60">
                <a:extLst>
                  <a:ext uri="{FF2B5EF4-FFF2-40B4-BE49-F238E27FC236}">
                    <a16:creationId xmlns:a16="http://schemas.microsoft.com/office/drawing/2014/main" id="{1BA1FD73-5087-4C1B-977D-8222C2BE62E2}"/>
                  </a:ext>
                </a:extLst>
              </p:cNvPr>
              <p:cNvSpPr/>
              <p:nvPr/>
            </p:nvSpPr>
            <p:spPr>
              <a:xfrm>
                <a:off x="3718526" y="1954346"/>
                <a:ext cx="1087872" cy="458654"/>
              </a:xfrm>
              <a:prstGeom prst="roundRect">
                <a:avLst>
                  <a:gd name="adj" fmla="val 11456"/>
                </a:avLst>
              </a:prstGeom>
              <a:solidFill>
                <a:schemeClr val="tx2"/>
              </a:solidFill>
              <a:ln w="12700" cap="flat" cmpd="sng" algn="ctr">
                <a:solidFill>
                  <a:schemeClr val="tx2"/>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wrap="none" lIns="91440" tIns="45720" rIns="91440" bIns="45720" rtlCol="0" anchor="ctr"/>
              <a:lstStyle/>
              <a:p>
                <a:r>
                  <a:rPr lang="en-US" sz="1400"/>
                  <a:t>Financing Domain</a:t>
                </a:r>
              </a:p>
            </p:txBody>
          </p:sp>
        </p:grpSp>
        <p:sp>
          <p:nvSpPr>
            <p:cNvPr id="141" name="Rectangle 140">
              <a:extLst>
                <a:ext uri="{FF2B5EF4-FFF2-40B4-BE49-F238E27FC236}">
                  <a16:creationId xmlns:a16="http://schemas.microsoft.com/office/drawing/2014/main" id="{880BA536-0A9D-4D8F-B3AE-2746DC133612}"/>
                </a:ext>
              </a:extLst>
            </p:cNvPr>
            <p:cNvSpPr/>
            <p:nvPr/>
          </p:nvSpPr>
          <p:spPr>
            <a:xfrm>
              <a:off x="5950445" y="6278226"/>
              <a:ext cx="520942" cy="4572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90000"/>
                </a:lnSpc>
                <a:spcAft>
                  <a:spcPts val="1000"/>
                </a:spcAft>
              </a:pPr>
              <a:endParaRPr lang="en-US" sz="1600">
                <a:solidFill>
                  <a:prstClr val="white"/>
                </a:solidFill>
                <a:sym typeface="Trebuchet MS" panose="020B0603020202020204" pitchFamily="34" charset="0"/>
              </a:endParaRPr>
            </a:p>
          </p:txBody>
        </p:sp>
        <p:grpSp>
          <p:nvGrpSpPr>
            <p:cNvPr id="165" name="Group 164">
              <a:extLst>
                <a:ext uri="{FF2B5EF4-FFF2-40B4-BE49-F238E27FC236}">
                  <a16:creationId xmlns:a16="http://schemas.microsoft.com/office/drawing/2014/main" id="{AD075309-098F-4604-9E6A-BE2659FF4B5D}"/>
                </a:ext>
              </a:extLst>
            </p:cNvPr>
            <p:cNvGrpSpPr>
              <a:grpSpLocks noChangeAspect="1"/>
            </p:cNvGrpSpPr>
            <p:nvPr/>
          </p:nvGrpSpPr>
          <p:grpSpPr>
            <a:xfrm>
              <a:off x="6058704" y="1697849"/>
              <a:ext cx="352639" cy="352300"/>
              <a:chOff x="6464300" y="2606675"/>
              <a:chExt cx="1646238" cy="1644650"/>
            </a:xfrm>
          </p:grpSpPr>
          <p:sp>
            <p:nvSpPr>
              <p:cNvPr id="166" name="AutoShape 3">
                <a:extLst>
                  <a:ext uri="{FF2B5EF4-FFF2-40B4-BE49-F238E27FC236}">
                    <a16:creationId xmlns:a16="http://schemas.microsoft.com/office/drawing/2014/main" id="{FE155CFE-7D11-4B98-8942-9391304F9260}"/>
                  </a:ext>
                </a:extLst>
              </p:cNvPr>
              <p:cNvSpPr>
                <a:spLocks noChangeAspect="1" noChangeArrowheads="1" noTextEdit="1"/>
              </p:cNvSpPr>
              <p:nvPr/>
            </p:nvSpPr>
            <p:spPr bwMode="auto">
              <a:xfrm>
                <a:off x="6464300"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3152" tIns="36576" rIns="73152" bIns="36576" numCol="1" anchor="t" anchorCtr="0" compatLnSpc="1">
                <a:prstTxWarp prst="textNoShape">
                  <a:avLst/>
                </a:prstTxWarp>
              </a:bodyPr>
              <a:lstStyle/>
              <a:p>
                <a:endParaRPr lang="en-US"/>
              </a:p>
            </p:txBody>
          </p:sp>
          <p:grpSp>
            <p:nvGrpSpPr>
              <p:cNvPr id="167" name="Group 166">
                <a:extLst>
                  <a:ext uri="{FF2B5EF4-FFF2-40B4-BE49-F238E27FC236}">
                    <a16:creationId xmlns:a16="http://schemas.microsoft.com/office/drawing/2014/main" id="{E7144739-97B4-4BAE-9E6C-1E167B3830EA}"/>
                  </a:ext>
                </a:extLst>
              </p:cNvPr>
              <p:cNvGrpSpPr/>
              <p:nvPr/>
            </p:nvGrpSpPr>
            <p:grpSpPr>
              <a:xfrm>
                <a:off x="6729413" y="2881312"/>
                <a:ext cx="1146175" cy="1125538"/>
                <a:chOff x="6729413" y="2881312"/>
                <a:chExt cx="1146175" cy="1125538"/>
              </a:xfrm>
            </p:grpSpPr>
            <p:sp>
              <p:nvSpPr>
                <p:cNvPr id="168" name="Freeform 10">
                  <a:extLst>
                    <a:ext uri="{FF2B5EF4-FFF2-40B4-BE49-F238E27FC236}">
                      <a16:creationId xmlns:a16="http://schemas.microsoft.com/office/drawing/2014/main" id="{E4A0A327-202C-4880-A132-DDF7E332B9E5}"/>
                    </a:ext>
                  </a:extLst>
                </p:cNvPr>
                <p:cNvSpPr>
                  <a:spLocks/>
                </p:cNvSpPr>
                <p:nvPr/>
              </p:nvSpPr>
              <p:spPr bwMode="auto">
                <a:xfrm>
                  <a:off x="6989763" y="2944813"/>
                  <a:ext cx="822325" cy="336550"/>
                </a:xfrm>
                <a:custGeom>
                  <a:avLst/>
                  <a:gdLst>
                    <a:gd name="connsiteX0" fmla="*/ 485775 w 822325"/>
                    <a:gd name="connsiteY0" fmla="*/ 0 h 336550"/>
                    <a:gd name="connsiteX1" fmla="*/ 779453 w 822325"/>
                    <a:gd name="connsiteY1" fmla="*/ 0 h 336550"/>
                    <a:gd name="connsiteX2" fmla="*/ 822325 w 822325"/>
                    <a:gd name="connsiteY2" fmla="*/ 39134 h 336550"/>
                    <a:gd name="connsiteX3" fmla="*/ 822325 w 822325"/>
                    <a:gd name="connsiteY3" fmla="*/ 300974 h 336550"/>
                    <a:gd name="connsiteX4" fmla="*/ 780167 w 822325"/>
                    <a:gd name="connsiteY4" fmla="*/ 336550 h 336550"/>
                    <a:gd name="connsiteX5" fmla="*/ 487919 w 822325"/>
                    <a:gd name="connsiteY5" fmla="*/ 336550 h 336550"/>
                    <a:gd name="connsiteX6" fmla="*/ 552228 w 822325"/>
                    <a:gd name="connsiteY6" fmla="*/ 169342 h 336550"/>
                    <a:gd name="connsiteX7" fmla="*/ 485775 w 822325"/>
                    <a:gd name="connsiteY7" fmla="*/ 0 h 336550"/>
                    <a:gd name="connsiteX8" fmla="*/ 41444 w 822325"/>
                    <a:gd name="connsiteY8" fmla="*/ 0 h 336550"/>
                    <a:gd name="connsiteX9" fmla="*/ 336550 w 822325"/>
                    <a:gd name="connsiteY9" fmla="*/ 0 h 336550"/>
                    <a:gd name="connsiteX10" fmla="*/ 269383 w 822325"/>
                    <a:gd name="connsiteY10" fmla="*/ 169342 h 336550"/>
                    <a:gd name="connsiteX11" fmla="*/ 334407 w 822325"/>
                    <a:gd name="connsiteY11" fmla="*/ 336550 h 336550"/>
                    <a:gd name="connsiteX12" fmla="*/ 40729 w 822325"/>
                    <a:gd name="connsiteY12" fmla="*/ 336550 h 336550"/>
                    <a:gd name="connsiteX13" fmla="*/ 0 w 822325"/>
                    <a:gd name="connsiteY13" fmla="*/ 301686 h 336550"/>
                    <a:gd name="connsiteX14" fmla="*/ 0 w 822325"/>
                    <a:gd name="connsiteY14" fmla="*/ 39134 h 336550"/>
                    <a:gd name="connsiteX15" fmla="*/ 41444 w 822325"/>
                    <a:gd name="connsiteY15" fmla="*/ 0 h 33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2325" h="336550">
                      <a:moveTo>
                        <a:pt x="485775" y="0"/>
                      </a:moveTo>
                      <a:cubicBezTo>
                        <a:pt x="485775" y="0"/>
                        <a:pt x="485775" y="0"/>
                        <a:pt x="779453" y="0"/>
                      </a:cubicBezTo>
                      <a:cubicBezTo>
                        <a:pt x="782311" y="21346"/>
                        <a:pt x="800174" y="38422"/>
                        <a:pt x="822325" y="39134"/>
                      </a:cubicBezTo>
                      <a:cubicBezTo>
                        <a:pt x="822325" y="39134"/>
                        <a:pt x="822325" y="39134"/>
                        <a:pt x="822325" y="300974"/>
                      </a:cubicBezTo>
                      <a:cubicBezTo>
                        <a:pt x="801603" y="301686"/>
                        <a:pt x="784454" y="316628"/>
                        <a:pt x="780167" y="336550"/>
                      </a:cubicBezTo>
                      <a:cubicBezTo>
                        <a:pt x="780167" y="336550"/>
                        <a:pt x="780167" y="336550"/>
                        <a:pt x="487919" y="336550"/>
                      </a:cubicBezTo>
                      <a:cubicBezTo>
                        <a:pt x="522932" y="298839"/>
                        <a:pt x="552228" y="237649"/>
                        <a:pt x="552228" y="169342"/>
                      </a:cubicBezTo>
                      <a:cubicBezTo>
                        <a:pt x="552228" y="99613"/>
                        <a:pt x="522217" y="37711"/>
                        <a:pt x="485775" y="0"/>
                      </a:cubicBezTo>
                      <a:close/>
                      <a:moveTo>
                        <a:pt x="41444" y="0"/>
                      </a:moveTo>
                      <a:lnTo>
                        <a:pt x="336550" y="0"/>
                      </a:lnTo>
                      <a:cubicBezTo>
                        <a:pt x="300109" y="37711"/>
                        <a:pt x="269383" y="99613"/>
                        <a:pt x="269383" y="169342"/>
                      </a:cubicBezTo>
                      <a:cubicBezTo>
                        <a:pt x="269383" y="237649"/>
                        <a:pt x="299394" y="298839"/>
                        <a:pt x="334407" y="336550"/>
                      </a:cubicBezTo>
                      <a:cubicBezTo>
                        <a:pt x="334407" y="336550"/>
                        <a:pt x="334407" y="336550"/>
                        <a:pt x="40729" y="336550"/>
                      </a:cubicBezTo>
                      <a:cubicBezTo>
                        <a:pt x="37157" y="317339"/>
                        <a:pt x="20007" y="303109"/>
                        <a:pt x="0" y="301686"/>
                      </a:cubicBezTo>
                      <a:cubicBezTo>
                        <a:pt x="0" y="301686"/>
                        <a:pt x="0" y="301686"/>
                        <a:pt x="0" y="39134"/>
                      </a:cubicBezTo>
                      <a:cubicBezTo>
                        <a:pt x="21437" y="37711"/>
                        <a:pt x="38586" y="20634"/>
                        <a:pt x="41444" y="0"/>
                      </a:cubicBezTo>
                      <a:close/>
                    </a:path>
                  </a:pathLst>
                </a:custGeom>
                <a:solidFill>
                  <a:schemeClr val="tx2"/>
                </a:solidFill>
                <a:ln>
                  <a:noFill/>
                </a:ln>
              </p:spPr>
              <p:txBody>
                <a:bodyPr vert="horz" wrap="square" lIns="73152" tIns="36576" rIns="73152" bIns="36576" numCol="1" anchor="t" anchorCtr="0" compatLnSpc="1">
                  <a:prstTxWarp prst="textNoShape">
                    <a:avLst/>
                  </a:prstTxWarp>
                  <a:noAutofit/>
                </a:bodyPr>
                <a:lstStyle/>
                <a:p>
                  <a:endParaRPr lang="en-US"/>
                </a:p>
              </p:txBody>
            </p:sp>
            <p:sp>
              <p:nvSpPr>
                <p:cNvPr id="169" name="Freeform 11">
                  <a:extLst>
                    <a:ext uri="{FF2B5EF4-FFF2-40B4-BE49-F238E27FC236}">
                      <a16:creationId xmlns:a16="http://schemas.microsoft.com/office/drawing/2014/main" id="{4ADB63F0-D2BF-4D42-B270-CAE30E6A4BE7}"/>
                    </a:ext>
                  </a:extLst>
                </p:cNvPr>
                <p:cNvSpPr>
                  <a:spLocks/>
                </p:cNvSpPr>
                <p:nvPr/>
              </p:nvSpPr>
              <p:spPr bwMode="auto">
                <a:xfrm>
                  <a:off x="6729413" y="2881312"/>
                  <a:ext cx="1146175" cy="1125538"/>
                </a:xfrm>
                <a:custGeom>
                  <a:avLst/>
                  <a:gdLst>
                    <a:gd name="connsiteX0" fmla="*/ 409739 w 1146175"/>
                    <a:gd name="connsiteY0" fmla="*/ 615791 h 1125538"/>
                    <a:gd name="connsiteX1" fmla="*/ 326138 w 1146175"/>
                    <a:gd name="connsiteY1" fmla="*/ 635801 h 1125538"/>
                    <a:gd name="connsiteX2" fmla="*/ 31750 w 1146175"/>
                    <a:gd name="connsiteY2" fmla="*/ 803020 h 1125538"/>
                    <a:gd name="connsiteX3" fmla="*/ 31750 w 1146175"/>
                    <a:gd name="connsiteY3" fmla="*/ 1087437 h 1125538"/>
                    <a:gd name="connsiteX4" fmla="*/ 368296 w 1146175"/>
                    <a:gd name="connsiteY4" fmla="*/ 957377 h 1125538"/>
                    <a:gd name="connsiteX5" fmla="*/ 419028 w 1146175"/>
                    <a:gd name="connsiteY5" fmla="*/ 949516 h 1125538"/>
                    <a:gd name="connsiteX6" fmla="*/ 568366 w 1146175"/>
                    <a:gd name="connsiteY6" fmla="*/ 960236 h 1125538"/>
                    <a:gd name="connsiteX7" fmla="*/ 797017 w 1146175"/>
                    <a:gd name="connsiteY7" fmla="*/ 933795 h 1125538"/>
                    <a:gd name="connsiteX8" fmla="*/ 1047818 w 1146175"/>
                    <a:gd name="connsiteY8" fmla="*/ 767290 h 1125538"/>
                    <a:gd name="connsiteX9" fmla="*/ 1079972 w 1146175"/>
                    <a:gd name="connsiteY9" fmla="*/ 730130 h 1125538"/>
                    <a:gd name="connsiteX10" fmla="*/ 1074971 w 1146175"/>
                    <a:gd name="connsiteY10" fmla="*/ 655810 h 1125538"/>
                    <a:gd name="connsiteX11" fmla="*/ 1036386 w 1146175"/>
                    <a:gd name="connsiteY11" fmla="*/ 642232 h 1125538"/>
                    <a:gd name="connsiteX12" fmla="*/ 999230 w 1146175"/>
                    <a:gd name="connsiteY12" fmla="*/ 660097 h 1125538"/>
                    <a:gd name="connsiteX13" fmla="*/ 951356 w 1146175"/>
                    <a:gd name="connsiteY13" fmla="*/ 713694 h 1125538"/>
                    <a:gd name="connsiteX14" fmla="*/ 805591 w 1146175"/>
                    <a:gd name="connsiteY14" fmla="*/ 805164 h 1125538"/>
                    <a:gd name="connsiteX15" fmla="*/ 608380 w 1146175"/>
                    <a:gd name="connsiteY15" fmla="*/ 794445 h 1125538"/>
                    <a:gd name="connsiteX16" fmla="*/ 553360 w 1146175"/>
                    <a:gd name="connsiteY16" fmla="*/ 772292 h 1125538"/>
                    <a:gd name="connsiteX17" fmla="*/ 544071 w 1146175"/>
                    <a:gd name="connsiteY17" fmla="*/ 755856 h 1125538"/>
                    <a:gd name="connsiteX18" fmla="*/ 557648 w 1146175"/>
                    <a:gd name="connsiteY18" fmla="*/ 742278 h 1125538"/>
                    <a:gd name="connsiteX19" fmla="*/ 715560 w 1146175"/>
                    <a:gd name="connsiteY19" fmla="*/ 726557 h 1125538"/>
                    <a:gd name="connsiteX20" fmla="*/ 759146 w 1146175"/>
                    <a:gd name="connsiteY20" fmla="*/ 679392 h 1125538"/>
                    <a:gd name="connsiteX21" fmla="*/ 713416 w 1146175"/>
                    <a:gd name="connsiteY21" fmla="*/ 631513 h 1125538"/>
                    <a:gd name="connsiteX22" fmla="*/ 409739 w 1146175"/>
                    <a:gd name="connsiteY22" fmla="*/ 615791 h 1125538"/>
                    <a:gd name="connsiteX23" fmla="*/ 390213 w 1146175"/>
                    <a:gd name="connsiteY23" fmla="*/ 584200 h 1125538"/>
                    <a:gd name="connsiteX24" fmla="*/ 393786 w 1146175"/>
                    <a:gd name="connsiteY24" fmla="*/ 584200 h 1125538"/>
                    <a:gd name="connsiteX25" fmla="*/ 396645 w 1146175"/>
                    <a:gd name="connsiteY25" fmla="*/ 584200 h 1125538"/>
                    <a:gd name="connsiteX26" fmla="*/ 399504 w 1146175"/>
                    <a:gd name="connsiteY26" fmla="*/ 584200 h 1125538"/>
                    <a:gd name="connsiteX27" fmla="*/ 403077 w 1146175"/>
                    <a:gd name="connsiteY27" fmla="*/ 584200 h 1125538"/>
                    <a:gd name="connsiteX28" fmla="*/ 410939 w 1146175"/>
                    <a:gd name="connsiteY28" fmla="*/ 584200 h 1125538"/>
                    <a:gd name="connsiteX29" fmla="*/ 715390 w 1146175"/>
                    <a:gd name="connsiteY29" fmla="*/ 599912 h 1125538"/>
                    <a:gd name="connsiteX30" fmla="*/ 780426 w 1146175"/>
                    <a:gd name="connsiteY30" fmla="*/ 640619 h 1125538"/>
                    <a:gd name="connsiteX31" fmla="*/ 782570 w 1146175"/>
                    <a:gd name="connsiteY31" fmla="*/ 644904 h 1125538"/>
                    <a:gd name="connsiteX32" fmla="*/ 789002 w 1146175"/>
                    <a:gd name="connsiteY32" fmla="*/ 663473 h 1125538"/>
                    <a:gd name="connsiteX33" fmla="*/ 790431 w 1146175"/>
                    <a:gd name="connsiteY33" fmla="*/ 679184 h 1125538"/>
                    <a:gd name="connsiteX34" fmla="*/ 789716 w 1146175"/>
                    <a:gd name="connsiteY34" fmla="*/ 684898 h 1125538"/>
                    <a:gd name="connsiteX35" fmla="*/ 789716 w 1146175"/>
                    <a:gd name="connsiteY35" fmla="*/ 685612 h 1125538"/>
                    <a:gd name="connsiteX36" fmla="*/ 789002 w 1146175"/>
                    <a:gd name="connsiteY36" fmla="*/ 691325 h 1125538"/>
                    <a:gd name="connsiteX37" fmla="*/ 763988 w 1146175"/>
                    <a:gd name="connsiteY37" fmla="*/ 738460 h 1125538"/>
                    <a:gd name="connsiteX38" fmla="*/ 763273 w 1146175"/>
                    <a:gd name="connsiteY38" fmla="*/ 738460 h 1125538"/>
                    <a:gd name="connsiteX39" fmla="*/ 758985 w 1146175"/>
                    <a:gd name="connsiteY39" fmla="*/ 742031 h 1125538"/>
                    <a:gd name="connsiteX40" fmla="*/ 754697 w 1146175"/>
                    <a:gd name="connsiteY40" fmla="*/ 744888 h 1125538"/>
                    <a:gd name="connsiteX41" fmla="*/ 753983 w 1146175"/>
                    <a:gd name="connsiteY41" fmla="*/ 745602 h 1125538"/>
                    <a:gd name="connsiteX42" fmla="*/ 749695 w 1146175"/>
                    <a:gd name="connsiteY42" fmla="*/ 748458 h 1125538"/>
                    <a:gd name="connsiteX43" fmla="*/ 748265 w 1146175"/>
                    <a:gd name="connsiteY43" fmla="*/ 749173 h 1125538"/>
                    <a:gd name="connsiteX44" fmla="*/ 743263 w 1146175"/>
                    <a:gd name="connsiteY44" fmla="*/ 751315 h 1125538"/>
                    <a:gd name="connsiteX45" fmla="*/ 742548 w 1146175"/>
                    <a:gd name="connsiteY45" fmla="*/ 752029 h 1125538"/>
                    <a:gd name="connsiteX46" fmla="*/ 738260 w 1146175"/>
                    <a:gd name="connsiteY46" fmla="*/ 753458 h 1125538"/>
                    <a:gd name="connsiteX47" fmla="*/ 718964 w 1146175"/>
                    <a:gd name="connsiteY47" fmla="*/ 757743 h 1125538"/>
                    <a:gd name="connsiteX48" fmla="*/ 624626 w 1146175"/>
                    <a:gd name="connsiteY48" fmla="*/ 767027 h 1125538"/>
                    <a:gd name="connsiteX49" fmla="*/ 743263 w 1146175"/>
                    <a:gd name="connsiteY49" fmla="*/ 784167 h 1125538"/>
                    <a:gd name="connsiteX50" fmla="*/ 775423 w 1146175"/>
                    <a:gd name="connsiteY50" fmla="*/ 779882 h 1125538"/>
                    <a:gd name="connsiteX51" fmla="*/ 785428 w 1146175"/>
                    <a:gd name="connsiteY51" fmla="*/ 777739 h 1125538"/>
                    <a:gd name="connsiteX52" fmla="*/ 786858 w 1146175"/>
                    <a:gd name="connsiteY52" fmla="*/ 777025 h 1125538"/>
                    <a:gd name="connsiteX53" fmla="*/ 796863 w 1146175"/>
                    <a:gd name="connsiteY53" fmla="*/ 774883 h 1125538"/>
                    <a:gd name="connsiteX54" fmla="*/ 826880 w 1146175"/>
                    <a:gd name="connsiteY54" fmla="*/ 764170 h 1125538"/>
                    <a:gd name="connsiteX55" fmla="*/ 909782 w 1146175"/>
                    <a:gd name="connsiteY55" fmla="*/ 711322 h 1125538"/>
                    <a:gd name="connsiteX56" fmla="*/ 928363 w 1146175"/>
                    <a:gd name="connsiteY56" fmla="*/ 692753 h 1125538"/>
                    <a:gd name="connsiteX57" fmla="*/ 975532 w 1146175"/>
                    <a:gd name="connsiteY57" fmla="*/ 639191 h 1125538"/>
                    <a:gd name="connsiteX58" fmla="*/ 978391 w 1146175"/>
                    <a:gd name="connsiteY58" fmla="*/ 635620 h 1125538"/>
                    <a:gd name="connsiteX59" fmla="*/ 979105 w 1146175"/>
                    <a:gd name="connsiteY59" fmla="*/ 635620 h 1125538"/>
                    <a:gd name="connsiteX60" fmla="*/ 1034135 w 1146175"/>
                    <a:gd name="connsiteY60" fmla="*/ 610624 h 1125538"/>
                    <a:gd name="connsiteX61" fmla="*/ 1034850 w 1146175"/>
                    <a:gd name="connsiteY61" fmla="*/ 610624 h 1125538"/>
                    <a:gd name="connsiteX62" fmla="*/ 1039138 w 1146175"/>
                    <a:gd name="connsiteY62" fmla="*/ 610624 h 1125538"/>
                    <a:gd name="connsiteX63" fmla="*/ 1040567 w 1146175"/>
                    <a:gd name="connsiteY63" fmla="*/ 610624 h 1125538"/>
                    <a:gd name="connsiteX64" fmla="*/ 1079875 w 1146175"/>
                    <a:gd name="connsiteY64" fmla="*/ 621337 h 1125538"/>
                    <a:gd name="connsiteX65" fmla="*/ 1083448 w 1146175"/>
                    <a:gd name="connsiteY65" fmla="*/ 623479 h 1125538"/>
                    <a:gd name="connsiteX66" fmla="*/ 1086307 w 1146175"/>
                    <a:gd name="connsiteY66" fmla="*/ 624908 h 1125538"/>
                    <a:gd name="connsiteX67" fmla="*/ 1087021 w 1146175"/>
                    <a:gd name="connsiteY67" fmla="*/ 625622 h 1125538"/>
                    <a:gd name="connsiteX68" fmla="*/ 1089880 w 1146175"/>
                    <a:gd name="connsiteY68" fmla="*/ 627764 h 1125538"/>
                    <a:gd name="connsiteX69" fmla="*/ 1090595 w 1146175"/>
                    <a:gd name="connsiteY69" fmla="*/ 628478 h 1125538"/>
                    <a:gd name="connsiteX70" fmla="*/ 1092739 w 1146175"/>
                    <a:gd name="connsiteY70" fmla="*/ 629907 h 1125538"/>
                    <a:gd name="connsiteX71" fmla="*/ 1095597 w 1146175"/>
                    <a:gd name="connsiteY71" fmla="*/ 632049 h 1125538"/>
                    <a:gd name="connsiteX72" fmla="*/ 1095597 w 1146175"/>
                    <a:gd name="connsiteY72" fmla="*/ 632763 h 1125538"/>
                    <a:gd name="connsiteX73" fmla="*/ 1103459 w 1146175"/>
                    <a:gd name="connsiteY73" fmla="*/ 749887 h 1125538"/>
                    <a:gd name="connsiteX74" fmla="*/ 1072013 w 1146175"/>
                    <a:gd name="connsiteY74" fmla="*/ 787738 h 1125538"/>
                    <a:gd name="connsiteX75" fmla="*/ 966241 w 1146175"/>
                    <a:gd name="connsiteY75" fmla="*/ 884150 h 1125538"/>
                    <a:gd name="connsiteX76" fmla="*/ 956950 w 1146175"/>
                    <a:gd name="connsiteY76" fmla="*/ 890577 h 1125538"/>
                    <a:gd name="connsiteX77" fmla="*/ 948374 w 1146175"/>
                    <a:gd name="connsiteY77" fmla="*/ 896291 h 1125538"/>
                    <a:gd name="connsiteX78" fmla="*/ 806154 w 1146175"/>
                    <a:gd name="connsiteY78" fmla="*/ 963422 h 1125538"/>
                    <a:gd name="connsiteX79" fmla="*/ 792575 w 1146175"/>
                    <a:gd name="connsiteY79" fmla="*/ 967707 h 1125538"/>
                    <a:gd name="connsiteX80" fmla="*/ 788287 w 1146175"/>
                    <a:gd name="connsiteY80" fmla="*/ 968422 h 1125538"/>
                    <a:gd name="connsiteX81" fmla="*/ 779711 w 1146175"/>
                    <a:gd name="connsiteY81" fmla="*/ 971278 h 1125538"/>
                    <a:gd name="connsiteX82" fmla="*/ 773994 w 1146175"/>
                    <a:gd name="connsiteY82" fmla="*/ 972707 h 1125538"/>
                    <a:gd name="connsiteX83" fmla="*/ 766132 w 1146175"/>
                    <a:gd name="connsiteY83" fmla="*/ 974135 h 1125538"/>
                    <a:gd name="connsiteX84" fmla="*/ 759700 w 1146175"/>
                    <a:gd name="connsiteY84" fmla="*/ 976277 h 1125538"/>
                    <a:gd name="connsiteX85" fmla="*/ 753983 w 1146175"/>
                    <a:gd name="connsiteY85" fmla="*/ 976992 h 1125538"/>
                    <a:gd name="connsiteX86" fmla="*/ 724681 w 1146175"/>
                    <a:gd name="connsiteY86" fmla="*/ 983419 h 1125538"/>
                    <a:gd name="connsiteX87" fmla="*/ 721822 w 1146175"/>
                    <a:gd name="connsiteY87" fmla="*/ 983419 h 1125538"/>
                    <a:gd name="connsiteX88" fmla="*/ 711102 w 1146175"/>
                    <a:gd name="connsiteY88" fmla="*/ 985562 h 1125538"/>
                    <a:gd name="connsiteX89" fmla="*/ 709673 w 1146175"/>
                    <a:gd name="connsiteY89" fmla="*/ 985562 h 1125538"/>
                    <a:gd name="connsiteX90" fmla="*/ 650355 w 1146175"/>
                    <a:gd name="connsiteY90" fmla="*/ 991989 h 1125538"/>
                    <a:gd name="connsiteX91" fmla="*/ 648211 w 1146175"/>
                    <a:gd name="connsiteY91" fmla="*/ 991989 h 1125538"/>
                    <a:gd name="connsiteX92" fmla="*/ 637491 w 1146175"/>
                    <a:gd name="connsiteY92" fmla="*/ 992703 h 1125538"/>
                    <a:gd name="connsiteX93" fmla="*/ 635347 w 1146175"/>
                    <a:gd name="connsiteY93" fmla="*/ 992703 h 1125538"/>
                    <a:gd name="connsiteX94" fmla="*/ 621053 w 1146175"/>
                    <a:gd name="connsiteY94" fmla="*/ 992703 h 1125538"/>
                    <a:gd name="connsiteX95" fmla="*/ 620338 w 1146175"/>
                    <a:gd name="connsiteY95" fmla="*/ 992703 h 1125538"/>
                    <a:gd name="connsiteX96" fmla="*/ 612477 w 1146175"/>
                    <a:gd name="connsiteY96" fmla="*/ 992703 h 1125538"/>
                    <a:gd name="connsiteX97" fmla="*/ 606045 w 1146175"/>
                    <a:gd name="connsiteY97" fmla="*/ 992703 h 1125538"/>
                    <a:gd name="connsiteX98" fmla="*/ 598898 w 1146175"/>
                    <a:gd name="connsiteY98" fmla="*/ 992703 h 1125538"/>
                    <a:gd name="connsiteX99" fmla="*/ 592466 w 1146175"/>
                    <a:gd name="connsiteY99" fmla="*/ 992703 h 1125538"/>
                    <a:gd name="connsiteX100" fmla="*/ 584605 w 1146175"/>
                    <a:gd name="connsiteY100" fmla="*/ 991989 h 1125538"/>
                    <a:gd name="connsiteX101" fmla="*/ 578887 w 1146175"/>
                    <a:gd name="connsiteY101" fmla="*/ 991989 h 1125538"/>
                    <a:gd name="connsiteX102" fmla="*/ 566738 w 1146175"/>
                    <a:gd name="connsiteY102" fmla="*/ 991275 h 1125538"/>
                    <a:gd name="connsiteX103" fmla="*/ 566023 w 1146175"/>
                    <a:gd name="connsiteY103" fmla="*/ 991275 h 1125538"/>
                    <a:gd name="connsiteX104" fmla="*/ 485265 w 1146175"/>
                    <a:gd name="connsiteY104" fmla="*/ 985562 h 1125538"/>
                    <a:gd name="connsiteX105" fmla="*/ 416656 w 1146175"/>
                    <a:gd name="connsiteY105" fmla="*/ 980562 h 1125538"/>
                    <a:gd name="connsiteX106" fmla="*/ 410939 w 1146175"/>
                    <a:gd name="connsiteY106" fmla="*/ 980562 h 1125538"/>
                    <a:gd name="connsiteX107" fmla="*/ 407365 w 1146175"/>
                    <a:gd name="connsiteY107" fmla="*/ 980562 h 1125538"/>
                    <a:gd name="connsiteX108" fmla="*/ 393072 w 1146175"/>
                    <a:gd name="connsiteY108" fmla="*/ 981991 h 1125538"/>
                    <a:gd name="connsiteX109" fmla="*/ 388784 w 1146175"/>
                    <a:gd name="connsiteY109" fmla="*/ 982705 h 1125538"/>
                    <a:gd name="connsiteX110" fmla="*/ 388784 w 1146175"/>
                    <a:gd name="connsiteY110" fmla="*/ 983419 h 1125538"/>
                    <a:gd name="connsiteX111" fmla="*/ 384496 w 1146175"/>
                    <a:gd name="connsiteY111" fmla="*/ 984133 h 1125538"/>
                    <a:gd name="connsiteX112" fmla="*/ 383781 w 1146175"/>
                    <a:gd name="connsiteY112" fmla="*/ 984847 h 1125538"/>
                    <a:gd name="connsiteX113" fmla="*/ 379493 w 1146175"/>
                    <a:gd name="connsiteY113" fmla="*/ 986276 h 1125538"/>
                    <a:gd name="connsiteX114" fmla="*/ 21441 w 1146175"/>
                    <a:gd name="connsiteY114" fmla="*/ 1124824 h 1125538"/>
                    <a:gd name="connsiteX115" fmla="*/ 15723 w 1146175"/>
                    <a:gd name="connsiteY115" fmla="*/ 1125538 h 1125538"/>
                    <a:gd name="connsiteX116" fmla="*/ 7147 w 1146175"/>
                    <a:gd name="connsiteY116" fmla="*/ 1122681 h 1125538"/>
                    <a:gd name="connsiteX117" fmla="*/ 0 w 1146175"/>
                    <a:gd name="connsiteY117" fmla="*/ 1109826 h 1125538"/>
                    <a:gd name="connsiteX118" fmla="*/ 0 w 1146175"/>
                    <a:gd name="connsiteY118" fmla="*/ 793451 h 1125538"/>
                    <a:gd name="connsiteX119" fmla="*/ 7862 w 1146175"/>
                    <a:gd name="connsiteY119" fmla="*/ 779882 h 1125538"/>
                    <a:gd name="connsiteX120" fmla="*/ 310169 w 1146175"/>
                    <a:gd name="connsiteY120" fmla="*/ 608482 h 1125538"/>
                    <a:gd name="connsiteX121" fmla="*/ 315887 w 1146175"/>
                    <a:gd name="connsiteY121" fmla="*/ 605625 h 1125538"/>
                    <a:gd name="connsiteX122" fmla="*/ 318031 w 1146175"/>
                    <a:gd name="connsiteY122" fmla="*/ 604197 h 1125538"/>
                    <a:gd name="connsiteX123" fmla="*/ 320889 w 1146175"/>
                    <a:gd name="connsiteY123" fmla="*/ 602768 h 1125538"/>
                    <a:gd name="connsiteX124" fmla="*/ 324463 w 1146175"/>
                    <a:gd name="connsiteY124" fmla="*/ 601340 h 1125538"/>
                    <a:gd name="connsiteX125" fmla="*/ 326607 w 1146175"/>
                    <a:gd name="connsiteY125" fmla="*/ 599912 h 1125538"/>
                    <a:gd name="connsiteX126" fmla="*/ 330180 w 1146175"/>
                    <a:gd name="connsiteY126" fmla="*/ 598483 h 1125538"/>
                    <a:gd name="connsiteX127" fmla="*/ 332324 w 1146175"/>
                    <a:gd name="connsiteY127" fmla="*/ 597769 h 1125538"/>
                    <a:gd name="connsiteX128" fmla="*/ 336612 w 1146175"/>
                    <a:gd name="connsiteY128" fmla="*/ 596341 h 1125538"/>
                    <a:gd name="connsiteX129" fmla="*/ 338042 w 1146175"/>
                    <a:gd name="connsiteY129" fmla="*/ 595627 h 1125538"/>
                    <a:gd name="connsiteX130" fmla="*/ 342330 w 1146175"/>
                    <a:gd name="connsiteY130" fmla="*/ 594198 h 1125538"/>
                    <a:gd name="connsiteX131" fmla="*/ 343044 w 1146175"/>
                    <a:gd name="connsiteY131" fmla="*/ 593484 h 1125538"/>
                    <a:gd name="connsiteX132" fmla="*/ 348047 w 1146175"/>
                    <a:gd name="connsiteY132" fmla="*/ 592056 h 1125538"/>
                    <a:gd name="connsiteX133" fmla="*/ 348762 w 1146175"/>
                    <a:gd name="connsiteY133" fmla="*/ 592056 h 1125538"/>
                    <a:gd name="connsiteX134" fmla="*/ 382352 w 1146175"/>
                    <a:gd name="connsiteY134" fmla="*/ 584914 h 1125538"/>
                    <a:gd name="connsiteX135" fmla="*/ 383781 w 1146175"/>
                    <a:gd name="connsiteY135" fmla="*/ 584914 h 1125538"/>
                    <a:gd name="connsiteX136" fmla="*/ 387354 w 1146175"/>
                    <a:gd name="connsiteY136" fmla="*/ 584914 h 1125538"/>
                    <a:gd name="connsiteX137" fmla="*/ 390213 w 1146175"/>
                    <a:gd name="connsiteY137" fmla="*/ 584200 h 1125538"/>
                    <a:gd name="connsiteX138" fmla="*/ 654433 w 1146175"/>
                    <a:gd name="connsiteY138" fmla="*/ 103187 h 1125538"/>
                    <a:gd name="connsiteX139" fmla="*/ 686457 w 1146175"/>
                    <a:gd name="connsiteY139" fmla="*/ 103187 h 1125538"/>
                    <a:gd name="connsiteX140" fmla="*/ 686457 w 1146175"/>
                    <a:gd name="connsiteY140" fmla="*/ 126776 h 1125538"/>
                    <a:gd name="connsiteX141" fmla="*/ 724174 w 1146175"/>
                    <a:gd name="connsiteY141" fmla="*/ 139643 h 1125538"/>
                    <a:gd name="connsiteX142" fmla="*/ 714211 w 1146175"/>
                    <a:gd name="connsiteY142" fmla="*/ 169665 h 1125538"/>
                    <a:gd name="connsiteX143" fmla="*/ 672936 w 1146175"/>
                    <a:gd name="connsiteY143" fmla="*/ 156083 h 1125538"/>
                    <a:gd name="connsiteX144" fmla="*/ 653722 w 1146175"/>
                    <a:gd name="connsiteY144" fmla="*/ 162517 h 1125538"/>
                    <a:gd name="connsiteX145" fmla="*/ 646605 w 1146175"/>
                    <a:gd name="connsiteY145" fmla="*/ 179672 h 1125538"/>
                    <a:gd name="connsiteX146" fmla="*/ 685034 w 1146175"/>
                    <a:gd name="connsiteY146" fmla="*/ 215413 h 1125538"/>
                    <a:gd name="connsiteX147" fmla="*/ 715634 w 1146175"/>
                    <a:gd name="connsiteY147" fmla="*/ 233998 h 1125538"/>
                    <a:gd name="connsiteX148" fmla="*/ 729155 w 1146175"/>
                    <a:gd name="connsiteY148" fmla="*/ 253298 h 1125538"/>
                    <a:gd name="connsiteX149" fmla="*/ 733425 w 1146175"/>
                    <a:gd name="connsiteY149" fmla="*/ 278317 h 1125538"/>
                    <a:gd name="connsiteX150" fmla="*/ 721327 w 1146175"/>
                    <a:gd name="connsiteY150" fmla="*/ 311198 h 1125538"/>
                    <a:gd name="connsiteX151" fmla="*/ 686457 w 1146175"/>
                    <a:gd name="connsiteY151" fmla="*/ 331213 h 1125538"/>
                    <a:gd name="connsiteX152" fmla="*/ 686457 w 1146175"/>
                    <a:gd name="connsiteY152" fmla="*/ 361950 h 1125538"/>
                    <a:gd name="connsiteX153" fmla="*/ 654433 w 1146175"/>
                    <a:gd name="connsiteY153" fmla="*/ 361950 h 1125538"/>
                    <a:gd name="connsiteX154" fmla="*/ 654433 w 1146175"/>
                    <a:gd name="connsiteY154" fmla="*/ 332643 h 1125538"/>
                    <a:gd name="connsiteX155" fmla="*/ 609600 w 1146175"/>
                    <a:gd name="connsiteY155" fmla="*/ 319061 h 1125538"/>
                    <a:gd name="connsiteX156" fmla="*/ 623833 w 1146175"/>
                    <a:gd name="connsiteY156" fmla="*/ 287609 h 1125538"/>
                    <a:gd name="connsiteX157" fmla="*/ 665820 w 1146175"/>
                    <a:gd name="connsiteY157" fmla="*/ 301906 h 1125538"/>
                    <a:gd name="connsiteX158" fmla="*/ 697132 w 1146175"/>
                    <a:gd name="connsiteY158" fmla="*/ 280461 h 1125538"/>
                    <a:gd name="connsiteX159" fmla="*/ 689304 w 1146175"/>
                    <a:gd name="connsiteY159" fmla="*/ 259732 h 1125538"/>
                    <a:gd name="connsiteX160" fmla="*/ 658703 w 1146175"/>
                    <a:gd name="connsiteY160" fmla="*/ 239002 h 1125538"/>
                    <a:gd name="connsiteX161" fmla="*/ 627391 w 1146175"/>
                    <a:gd name="connsiteY161" fmla="*/ 220417 h 1125538"/>
                    <a:gd name="connsiteX162" fmla="*/ 613870 w 1146175"/>
                    <a:gd name="connsiteY162" fmla="*/ 202546 h 1125538"/>
                    <a:gd name="connsiteX163" fmla="*/ 610312 w 1146175"/>
                    <a:gd name="connsiteY163" fmla="*/ 179672 h 1125538"/>
                    <a:gd name="connsiteX164" fmla="*/ 623121 w 1146175"/>
                    <a:gd name="connsiteY164" fmla="*/ 147506 h 1125538"/>
                    <a:gd name="connsiteX165" fmla="*/ 654433 w 1146175"/>
                    <a:gd name="connsiteY165" fmla="*/ 128920 h 1125538"/>
                    <a:gd name="connsiteX166" fmla="*/ 654433 w 1146175"/>
                    <a:gd name="connsiteY166" fmla="*/ 103187 h 1125538"/>
                    <a:gd name="connsiteX167" fmla="*/ 228600 w 1146175"/>
                    <a:gd name="connsiteY167" fmla="*/ 31750 h 1125538"/>
                    <a:gd name="connsiteX168" fmla="*/ 228600 w 1146175"/>
                    <a:gd name="connsiteY168" fmla="*/ 431800 h 1125538"/>
                    <a:gd name="connsiteX169" fmla="*/ 1114425 w 1146175"/>
                    <a:gd name="connsiteY169" fmla="*/ 431800 h 1125538"/>
                    <a:gd name="connsiteX170" fmla="*/ 1114425 w 1146175"/>
                    <a:gd name="connsiteY170" fmla="*/ 31750 h 1125538"/>
                    <a:gd name="connsiteX171" fmla="*/ 209003 w 1146175"/>
                    <a:gd name="connsiteY171" fmla="*/ 0 h 1125538"/>
                    <a:gd name="connsiteX172" fmla="*/ 1134023 w 1146175"/>
                    <a:gd name="connsiteY172" fmla="*/ 0 h 1125538"/>
                    <a:gd name="connsiteX173" fmla="*/ 1146175 w 1146175"/>
                    <a:gd name="connsiteY173" fmla="*/ 11428 h 1125538"/>
                    <a:gd name="connsiteX174" fmla="*/ 1146175 w 1146175"/>
                    <a:gd name="connsiteY174" fmla="*/ 451408 h 1125538"/>
                    <a:gd name="connsiteX175" fmla="*/ 1134023 w 1146175"/>
                    <a:gd name="connsiteY175" fmla="*/ 463550 h 1125538"/>
                    <a:gd name="connsiteX176" fmla="*/ 209003 w 1146175"/>
                    <a:gd name="connsiteY176" fmla="*/ 463550 h 1125538"/>
                    <a:gd name="connsiteX177" fmla="*/ 196850 w 1146175"/>
                    <a:gd name="connsiteY177" fmla="*/ 451408 h 1125538"/>
                    <a:gd name="connsiteX178" fmla="*/ 196850 w 1146175"/>
                    <a:gd name="connsiteY178" fmla="*/ 11428 h 1125538"/>
                    <a:gd name="connsiteX179" fmla="*/ 209003 w 1146175"/>
                    <a:gd name="connsiteY179" fmla="*/ 0 h 1125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1146175" h="1125538">
                      <a:moveTo>
                        <a:pt x="409739" y="615791"/>
                      </a:moveTo>
                      <a:cubicBezTo>
                        <a:pt x="380443" y="614362"/>
                        <a:pt x="351147" y="621508"/>
                        <a:pt x="326138" y="635801"/>
                      </a:cubicBezTo>
                      <a:cubicBezTo>
                        <a:pt x="326138" y="635801"/>
                        <a:pt x="326138" y="635801"/>
                        <a:pt x="31750" y="803020"/>
                      </a:cubicBezTo>
                      <a:cubicBezTo>
                        <a:pt x="31750" y="803020"/>
                        <a:pt x="31750" y="803020"/>
                        <a:pt x="31750" y="1087437"/>
                      </a:cubicBezTo>
                      <a:cubicBezTo>
                        <a:pt x="31750" y="1087437"/>
                        <a:pt x="31750" y="1087437"/>
                        <a:pt x="368296" y="957377"/>
                      </a:cubicBezTo>
                      <a:cubicBezTo>
                        <a:pt x="384730" y="950946"/>
                        <a:pt x="401879" y="948087"/>
                        <a:pt x="419028" y="949516"/>
                      </a:cubicBezTo>
                      <a:cubicBezTo>
                        <a:pt x="419028" y="949516"/>
                        <a:pt x="419028" y="949516"/>
                        <a:pt x="568366" y="960236"/>
                      </a:cubicBezTo>
                      <a:cubicBezTo>
                        <a:pt x="645535" y="965953"/>
                        <a:pt x="722705" y="956663"/>
                        <a:pt x="797017" y="933795"/>
                      </a:cubicBezTo>
                      <a:cubicBezTo>
                        <a:pt x="894908" y="903067"/>
                        <a:pt x="981367" y="845897"/>
                        <a:pt x="1047818" y="767290"/>
                      </a:cubicBezTo>
                      <a:cubicBezTo>
                        <a:pt x="1047818" y="767290"/>
                        <a:pt x="1047818" y="767290"/>
                        <a:pt x="1079972" y="730130"/>
                      </a:cubicBezTo>
                      <a:cubicBezTo>
                        <a:pt x="1098550" y="707977"/>
                        <a:pt x="1096407" y="675104"/>
                        <a:pt x="1074971" y="655810"/>
                      </a:cubicBezTo>
                      <a:cubicBezTo>
                        <a:pt x="1064253" y="646520"/>
                        <a:pt x="1050676" y="641517"/>
                        <a:pt x="1036386" y="642232"/>
                      </a:cubicBezTo>
                      <a:cubicBezTo>
                        <a:pt x="1022095" y="642947"/>
                        <a:pt x="1008519" y="649378"/>
                        <a:pt x="999230" y="660097"/>
                      </a:cubicBezTo>
                      <a:cubicBezTo>
                        <a:pt x="999230" y="660097"/>
                        <a:pt x="999230" y="660097"/>
                        <a:pt x="951356" y="713694"/>
                      </a:cubicBezTo>
                      <a:cubicBezTo>
                        <a:pt x="912771" y="758000"/>
                        <a:pt x="862039" y="789443"/>
                        <a:pt x="805591" y="805164"/>
                      </a:cubicBezTo>
                      <a:cubicBezTo>
                        <a:pt x="740568" y="823744"/>
                        <a:pt x="670544" y="819457"/>
                        <a:pt x="608380" y="794445"/>
                      </a:cubicBezTo>
                      <a:cubicBezTo>
                        <a:pt x="608380" y="794445"/>
                        <a:pt x="608380" y="794445"/>
                        <a:pt x="553360" y="772292"/>
                      </a:cubicBezTo>
                      <a:cubicBezTo>
                        <a:pt x="546930" y="769434"/>
                        <a:pt x="542642" y="763002"/>
                        <a:pt x="544071" y="755856"/>
                      </a:cubicBezTo>
                      <a:cubicBezTo>
                        <a:pt x="544786" y="748710"/>
                        <a:pt x="550502" y="742993"/>
                        <a:pt x="557648" y="742278"/>
                      </a:cubicBezTo>
                      <a:cubicBezTo>
                        <a:pt x="557648" y="742278"/>
                        <a:pt x="557648" y="742278"/>
                        <a:pt x="715560" y="726557"/>
                      </a:cubicBezTo>
                      <a:cubicBezTo>
                        <a:pt x="740568" y="724413"/>
                        <a:pt x="759146" y="703689"/>
                        <a:pt x="759146" y="679392"/>
                      </a:cubicBezTo>
                      <a:cubicBezTo>
                        <a:pt x="759146" y="653666"/>
                        <a:pt x="739139" y="632942"/>
                        <a:pt x="713416" y="631513"/>
                      </a:cubicBezTo>
                      <a:cubicBezTo>
                        <a:pt x="713416" y="631513"/>
                        <a:pt x="713416" y="631513"/>
                        <a:pt x="409739" y="615791"/>
                      </a:cubicBezTo>
                      <a:close/>
                      <a:moveTo>
                        <a:pt x="390213" y="584200"/>
                      </a:moveTo>
                      <a:cubicBezTo>
                        <a:pt x="391642" y="584200"/>
                        <a:pt x="392357" y="584200"/>
                        <a:pt x="393786" y="584200"/>
                      </a:cubicBezTo>
                      <a:cubicBezTo>
                        <a:pt x="394501" y="584200"/>
                        <a:pt x="395930" y="584200"/>
                        <a:pt x="396645" y="584200"/>
                      </a:cubicBezTo>
                      <a:cubicBezTo>
                        <a:pt x="398074" y="584200"/>
                        <a:pt x="398789" y="584200"/>
                        <a:pt x="399504" y="584200"/>
                      </a:cubicBezTo>
                      <a:cubicBezTo>
                        <a:pt x="400933" y="584200"/>
                        <a:pt x="401648" y="584200"/>
                        <a:pt x="403077" y="584200"/>
                      </a:cubicBezTo>
                      <a:cubicBezTo>
                        <a:pt x="405221" y="584200"/>
                        <a:pt x="408080" y="584200"/>
                        <a:pt x="410939" y="584200"/>
                      </a:cubicBezTo>
                      <a:cubicBezTo>
                        <a:pt x="410939" y="584200"/>
                        <a:pt x="410939" y="584200"/>
                        <a:pt x="715390" y="599912"/>
                      </a:cubicBezTo>
                      <a:cubicBezTo>
                        <a:pt x="743263" y="601340"/>
                        <a:pt x="766847" y="617766"/>
                        <a:pt x="780426" y="640619"/>
                      </a:cubicBezTo>
                      <a:cubicBezTo>
                        <a:pt x="781140" y="642048"/>
                        <a:pt x="781855" y="643476"/>
                        <a:pt x="782570" y="644904"/>
                      </a:cubicBezTo>
                      <a:cubicBezTo>
                        <a:pt x="785428" y="650618"/>
                        <a:pt x="787572" y="657045"/>
                        <a:pt x="789002" y="663473"/>
                      </a:cubicBezTo>
                      <a:cubicBezTo>
                        <a:pt x="789716" y="668472"/>
                        <a:pt x="790431" y="673471"/>
                        <a:pt x="790431" y="679184"/>
                      </a:cubicBezTo>
                      <a:cubicBezTo>
                        <a:pt x="790431" y="681327"/>
                        <a:pt x="790431" y="682755"/>
                        <a:pt x="789716" y="684898"/>
                      </a:cubicBezTo>
                      <a:cubicBezTo>
                        <a:pt x="789716" y="684898"/>
                        <a:pt x="789716" y="685612"/>
                        <a:pt x="789716" y="685612"/>
                      </a:cubicBezTo>
                      <a:cubicBezTo>
                        <a:pt x="789716" y="687754"/>
                        <a:pt x="789716" y="689183"/>
                        <a:pt x="789002" y="691325"/>
                      </a:cubicBezTo>
                      <a:cubicBezTo>
                        <a:pt x="786143" y="709893"/>
                        <a:pt x="776852" y="726319"/>
                        <a:pt x="763988" y="738460"/>
                      </a:cubicBezTo>
                      <a:cubicBezTo>
                        <a:pt x="763988" y="738460"/>
                        <a:pt x="763273" y="738460"/>
                        <a:pt x="763273" y="738460"/>
                      </a:cubicBezTo>
                      <a:cubicBezTo>
                        <a:pt x="761844" y="739888"/>
                        <a:pt x="760415" y="740603"/>
                        <a:pt x="758985" y="742031"/>
                      </a:cubicBezTo>
                      <a:cubicBezTo>
                        <a:pt x="757556" y="743459"/>
                        <a:pt x="756127" y="744173"/>
                        <a:pt x="754697" y="744888"/>
                      </a:cubicBezTo>
                      <a:cubicBezTo>
                        <a:pt x="753983" y="745602"/>
                        <a:pt x="753983" y="745602"/>
                        <a:pt x="753983" y="745602"/>
                      </a:cubicBezTo>
                      <a:cubicBezTo>
                        <a:pt x="752553" y="746316"/>
                        <a:pt x="751124" y="747744"/>
                        <a:pt x="749695" y="748458"/>
                      </a:cubicBezTo>
                      <a:cubicBezTo>
                        <a:pt x="748980" y="748458"/>
                        <a:pt x="748265" y="748458"/>
                        <a:pt x="748265" y="749173"/>
                      </a:cubicBezTo>
                      <a:cubicBezTo>
                        <a:pt x="746836" y="749887"/>
                        <a:pt x="745407" y="750601"/>
                        <a:pt x="743263" y="751315"/>
                      </a:cubicBezTo>
                      <a:cubicBezTo>
                        <a:pt x="743263" y="751315"/>
                        <a:pt x="742548" y="751315"/>
                        <a:pt x="742548" y="752029"/>
                      </a:cubicBezTo>
                      <a:cubicBezTo>
                        <a:pt x="741118" y="752029"/>
                        <a:pt x="739689" y="752743"/>
                        <a:pt x="738260" y="753458"/>
                      </a:cubicBezTo>
                      <a:cubicBezTo>
                        <a:pt x="731828" y="755600"/>
                        <a:pt x="725396" y="757028"/>
                        <a:pt x="718964" y="757743"/>
                      </a:cubicBezTo>
                      <a:cubicBezTo>
                        <a:pt x="718964" y="757743"/>
                        <a:pt x="718964" y="757743"/>
                        <a:pt x="624626" y="767027"/>
                      </a:cubicBezTo>
                      <a:cubicBezTo>
                        <a:pt x="662504" y="781310"/>
                        <a:pt x="703241" y="787023"/>
                        <a:pt x="743263" y="784167"/>
                      </a:cubicBezTo>
                      <a:cubicBezTo>
                        <a:pt x="753983" y="783453"/>
                        <a:pt x="764703" y="782024"/>
                        <a:pt x="775423" y="779882"/>
                      </a:cubicBezTo>
                      <a:cubicBezTo>
                        <a:pt x="778996" y="779168"/>
                        <a:pt x="781855" y="778453"/>
                        <a:pt x="785428" y="777739"/>
                      </a:cubicBezTo>
                      <a:cubicBezTo>
                        <a:pt x="786143" y="777739"/>
                        <a:pt x="786143" y="777739"/>
                        <a:pt x="786858" y="777025"/>
                      </a:cubicBezTo>
                      <a:cubicBezTo>
                        <a:pt x="790431" y="776311"/>
                        <a:pt x="793290" y="775597"/>
                        <a:pt x="796863" y="774883"/>
                      </a:cubicBezTo>
                      <a:cubicBezTo>
                        <a:pt x="806869" y="772026"/>
                        <a:pt x="816874" y="768455"/>
                        <a:pt x="826880" y="764170"/>
                      </a:cubicBezTo>
                      <a:cubicBezTo>
                        <a:pt x="857611" y="752029"/>
                        <a:pt x="885483" y="734175"/>
                        <a:pt x="909782" y="711322"/>
                      </a:cubicBezTo>
                      <a:cubicBezTo>
                        <a:pt x="916214" y="705608"/>
                        <a:pt x="921931" y="699181"/>
                        <a:pt x="928363" y="692753"/>
                      </a:cubicBezTo>
                      <a:cubicBezTo>
                        <a:pt x="928363" y="692753"/>
                        <a:pt x="928363" y="692753"/>
                        <a:pt x="975532" y="639191"/>
                      </a:cubicBezTo>
                      <a:cubicBezTo>
                        <a:pt x="976961" y="637763"/>
                        <a:pt x="977676" y="637048"/>
                        <a:pt x="978391" y="635620"/>
                      </a:cubicBezTo>
                      <a:cubicBezTo>
                        <a:pt x="979105" y="635620"/>
                        <a:pt x="979105" y="635620"/>
                        <a:pt x="979105" y="635620"/>
                      </a:cubicBezTo>
                      <a:cubicBezTo>
                        <a:pt x="994114" y="620623"/>
                        <a:pt x="1013410" y="612053"/>
                        <a:pt x="1034135" y="610624"/>
                      </a:cubicBezTo>
                      <a:cubicBezTo>
                        <a:pt x="1034850" y="610624"/>
                        <a:pt x="1034850" y="610624"/>
                        <a:pt x="1034850" y="610624"/>
                      </a:cubicBezTo>
                      <a:cubicBezTo>
                        <a:pt x="1036279" y="610624"/>
                        <a:pt x="1037709" y="610624"/>
                        <a:pt x="1039138" y="610624"/>
                      </a:cubicBezTo>
                      <a:cubicBezTo>
                        <a:pt x="1039138" y="610624"/>
                        <a:pt x="1039853" y="610624"/>
                        <a:pt x="1040567" y="610624"/>
                      </a:cubicBezTo>
                      <a:cubicBezTo>
                        <a:pt x="1054146" y="610624"/>
                        <a:pt x="1067725" y="614909"/>
                        <a:pt x="1079875" y="621337"/>
                      </a:cubicBezTo>
                      <a:cubicBezTo>
                        <a:pt x="1081304" y="622051"/>
                        <a:pt x="1082019" y="622765"/>
                        <a:pt x="1083448" y="623479"/>
                      </a:cubicBezTo>
                      <a:cubicBezTo>
                        <a:pt x="1084877" y="624193"/>
                        <a:pt x="1085592" y="624908"/>
                        <a:pt x="1086307" y="624908"/>
                      </a:cubicBezTo>
                      <a:cubicBezTo>
                        <a:pt x="1087021" y="625622"/>
                        <a:pt x="1087021" y="625622"/>
                        <a:pt x="1087021" y="625622"/>
                      </a:cubicBezTo>
                      <a:cubicBezTo>
                        <a:pt x="1087736" y="626336"/>
                        <a:pt x="1089165" y="627050"/>
                        <a:pt x="1089880" y="627764"/>
                      </a:cubicBezTo>
                      <a:cubicBezTo>
                        <a:pt x="1089880" y="627764"/>
                        <a:pt x="1090595" y="628478"/>
                        <a:pt x="1090595" y="628478"/>
                      </a:cubicBezTo>
                      <a:cubicBezTo>
                        <a:pt x="1091309" y="629193"/>
                        <a:pt x="1092024" y="629193"/>
                        <a:pt x="1092739" y="629907"/>
                      </a:cubicBezTo>
                      <a:cubicBezTo>
                        <a:pt x="1093453" y="630621"/>
                        <a:pt x="1094168" y="631335"/>
                        <a:pt x="1095597" y="632049"/>
                      </a:cubicBezTo>
                      <a:cubicBezTo>
                        <a:pt x="1095597" y="632049"/>
                        <a:pt x="1095597" y="632763"/>
                        <a:pt x="1095597" y="632763"/>
                      </a:cubicBezTo>
                      <a:cubicBezTo>
                        <a:pt x="1129902" y="663473"/>
                        <a:pt x="1133475" y="714893"/>
                        <a:pt x="1103459" y="749887"/>
                      </a:cubicBezTo>
                      <a:cubicBezTo>
                        <a:pt x="1103459" y="749887"/>
                        <a:pt x="1103459" y="749887"/>
                        <a:pt x="1072013" y="787738"/>
                      </a:cubicBezTo>
                      <a:cubicBezTo>
                        <a:pt x="1040567" y="824160"/>
                        <a:pt x="1004834" y="857012"/>
                        <a:pt x="966241" y="884150"/>
                      </a:cubicBezTo>
                      <a:cubicBezTo>
                        <a:pt x="963383" y="886292"/>
                        <a:pt x="959809" y="888435"/>
                        <a:pt x="956950" y="890577"/>
                      </a:cubicBezTo>
                      <a:cubicBezTo>
                        <a:pt x="954092" y="892720"/>
                        <a:pt x="951233" y="894862"/>
                        <a:pt x="948374" y="896291"/>
                      </a:cubicBezTo>
                      <a:cubicBezTo>
                        <a:pt x="904779" y="924857"/>
                        <a:pt x="856896" y="947711"/>
                        <a:pt x="806154" y="963422"/>
                      </a:cubicBezTo>
                      <a:cubicBezTo>
                        <a:pt x="801866" y="964851"/>
                        <a:pt x="797578" y="966279"/>
                        <a:pt x="792575" y="967707"/>
                      </a:cubicBezTo>
                      <a:cubicBezTo>
                        <a:pt x="791146" y="967707"/>
                        <a:pt x="789716" y="968422"/>
                        <a:pt x="788287" y="968422"/>
                      </a:cubicBezTo>
                      <a:cubicBezTo>
                        <a:pt x="785428" y="969136"/>
                        <a:pt x="782570" y="970564"/>
                        <a:pt x="779711" y="971278"/>
                      </a:cubicBezTo>
                      <a:cubicBezTo>
                        <a:pt x="777567" y="971278"/>
                        <a:pt x="775423" y="971992"/>
                        <a:pt x="773994" y="972707"/>
                      </a:cubicBezTo>
                      <a:cubicBezTo>
                        <a:pt x="771135" y="973421"/>
                        <a:pt x="768991" y="973421"/>
                        <a:pt x="766132" y="974135"/>
                      </a:cubicBezTo>
                      <a:cubicBezTo>
                        <a:pt x="763988" y="974849"/>
                        <a:pt x="761844" y="975563"/>
                        <a:pt x="759700" y="976277"/>
                      </a:cubicBezTo>
                      <a:cubicBezTo>
                        <a:pt x="757556" y="976277"/>
                        <a:pt x="756127" y="976992"/>
                        <a:pt x="753983" y="976992"/>
                      </a:cubicBezTo>
                      <a:cubicBezTo>
                        <a:pt x="743977" y="979134"/>
                        <a:pt x="733972" y="981277"/>
                        <a:pt x="724681" y="983419"/>
                      </a:cubicBezTo>
                      <a:cubicBezTo>
                        <a:pt x="723252" y="983419"/>
                        <a:pt x="722537" y="983419"/>
                        <a:pt x="721822" y="983419"/>
                      </a:cubicBezTo>
                      <a:cubicBezTo>
                        <a:pt x="718249" y="984133"/>
                        <a:pt x="714676" y="984847"/>
                        <a:pt x="711102" y="985562"/>
                      </a:cubicBezTo>
                      <a:cubicBezTo>
                        <a:pt x="710387" y="985562"/>
                        <a:pt x="710387" y="985562"/>
                        <a:pt x="709673" y="985562"/>
                      </a:cubicBezTo>
                      <a:cubicBezTo>
                        <a:pt x="689662" y="988418"/>
                        <a:pt x="670366" y="990561"/>
                        <a:pt x="650355" y="991989"/>
                      </a:cubicBezTo>
                      <a:cubicBezTo>
                        <a:pt x="649640" y="991989"/>
                        <a:pt x="648925" y="991989"/>
                        <a:pt x="648211" y="991989"/>
                      </a:cubicBezTo>
                      <a:cubicBezTo>
                        <a:pt x="644637" y="991989"/>
                        <a:pt x="641064" y="991989"/>
                        <a:pt x="637491" y="992703"/>
                      </a:cubicBezTo>
                      <a:cubicBezTo>
                        <a:pt x="636776" y="992703"/>
                        <a:pt x="636061" y="992703"/>
                        <a:pt x="635347" y="992703"/>
                      </a:cubicBezTo>
                      <a:cubicBezTo>
                        <a:pt x="630344" y="992703"/>
                        <a:pt x="626056" y="992703"/>
                        <a:pt x="621053" y="992703"/>
                      </a:cubicBezTo>
                      <a:cubicBezTo>
                        <a:pt x="621053" y="992703"/>
                        <a:pt x="620338" y="992703"/>
                        <a:pt x="620338" y="992703"/>
                      </a:cubicBezTo>
                      <a:cubicBezTo>
                        <a:pt x="617480" y="992703"/>
                        <a:pt x="614621" y="992703"/>
                        <a:pt x="612477" y="992703"/>
                      </a:cubicBezTo>
                      <a:cubicBezTo>
                        <a:pt x="610333" y="992703"/>
                        <a:pt x="608189" y="992703"/>
                        <a:pt x="606045" y="992703"/>
                      </a:cubicBezTo>
                      <a:cubicBezTo>
                        <a:pt x="603901" y="992703"/>
                        <a:pt x="601042" y="992703"/>
                        <a:pt x="598898" y="992703"/>
                      </a:cubicBezTo>
                      <a:cubicBezTo>
                        <a:pt x="596754" y="992703"/>
                        <a:pt x="594610" y="992703"/>
                        <a:pt x="592466" y="992703"/>
                      </a:cubicBezTo>
                      <a:cubicBezTo>
                        <a:pt x="589607" y="992703"/>
                        <a:pt x="587463" y="992703"/>
                        <a:pt x="584605" y="991989"/>
                      </a:cubicBezTo>
                      <a:cubicBezTo>
                        <a:pt x="582461" y="991989"/>
                        <a:pt x="581031" y="991989"/>
                        <a:pt x="578887" y="991989"/>
                      </a:cubicBezTo>
                      <a:cubicBezTo>
                        <a:pt x="575314" y="991989"/>
                        <a:pt x="571026" y="991275"/>
                        <a:pt x="566738" y="991275"/>
                      </a:cubicBezTo>
                      <a:cubicBezTo>
                        <a:pt x="566738" y="991275"/>
                        <a:pt x="566023" y="991275"/>
                        <a:pt x="566023" y="991275"/>
                      </a:cubicBezTo>
                      <a:cubicBezTo>
                        <a:pt x="566023" y="991275"/>
                        <a:pt x="566023" y="991275"/>
                        <a:pt x="485265" y="985562"/>
                      </a:cubicBezTo>
                      <a:cubicBezTo>
                        <a:pt x="485265" y="985562"/>
                        <a:pt x="485265" y="985562"/>
                        <a:pt x="416656" y="980562"/>
                      </a:cubicBezTo>
                      <a:cubicBezTo>
                        <a:pt x="415227" y="980562"/>
                        <a:pt x="413083" y="980562"/>
                        <a:pt x="410939" y="980562"/>
                      </a:cubicBezTo>
                      <a:cubicBezTo>
                        <a:pt x="410224" y="980562"/>
                        <a:pt x="408794" y="980562"/>
                        <a:pt x="407365" y="980562"/>
                      </a:cubicBezTo>
                      <a:cubicBezTo>
                        <a:pt x="402362" y="980562"/>
                        <a:pt x="398074" y="981277"/>
                        <a:pt x="393072" y="981991"/>
                      </a:cubicBezTo>
                      <a:cubicBezTo>
                        <a:pt x="391642" y="982705"/>
                        <a:pt x="390213" y="982705"/>
                        <a:pt x="388784" y="982705"/>
                      </a:cubicBezTo>
                      <a:cubicBezTo>
                        <a:pt x="388784" y="983419"/>
                        <a:pt x="388784" y="983419"/>
                        <a:pt x="388784" y="983419"/>
                      </a:cubicBezTo>
                      <a:cubicBezTo>
                        <a:pt x="387354" y="983419"/>
                        <a:pt x="385925" y="984133"/>
                        <a:pt x="384496" y="984133"/>
                      </a:cubicBezTo>
                      <a:cubicBezTo>
                        <a:pt x="384496" y="984133"/>
                        <a:pt x="384496" y="984133"/>
                        <a:pt x="383781" y="984847"/>
                      </a:cubicBezTo>
                      <a:cubicBezTo>
                        <a:pt x="382352" y="984847"/>
                        <a:pt x="380922" y="985562"/>
                        <a:pt x="379493" y="986276"/>
                      </a:cubicBezTo>
                      <a:cubicBezTo>
                        <a:pt x="379493" y="986276"/>
                        <a:pt x="379493" y="986276"/>
                        <a:pt x="21441" y="1124824"/>
                      </a:cubicBezTo>
                      <a:cubicBezTo>
                        <a:pt x="20011" y="1125538"/>
                        <a:pt x="17867" y="1125538"/>
                        <a:pt x="15723" y="1125538"/>
                      </a:cubicBezTo>
                      <a:cubicBezTo>
                        <a:pt x="12864" y="1125538"/>
                        <a:pt x="10006" y="1124824"/>
                        <a:pt x="7147" y="1122681"/>
                      </a:cubicBezTo>
                      <a:cubicBezTo>
                        <a:pt x="2859" y="1119825"/>
                        <a:pt x="0" y="1114826"/>
                        <a:pt x="0" y="1109826"/>
                      </a:cubicBezTo>
                      <a:cubicBezTo>
                        <a:pt x="0" y="1109826"/>
                        <a:pt x="0" y="1109826"/>
                        <a:pt x="0" y="793451"/>
                      </a:cubicBezTo>
                      <a:cubicBezTo>
                        <a:pt x="0" y="787738"/>
                        <a:pt x="3574" y="782738"/>
                        <a:pt x="7862" y="779882"/>
                      </a:cubicBezTo>
                      <a:cubicBezTo>
                        <a:pt x="7862" y="779882"/>
                        <a:pt x="7862" y="779882"/>
                        <a:pt x="310169" y="608482"/>
                      </a:cubicBezTo>
                      <a:cubicBezTo>
                        <a:pt x="311599" y="607053"/>
                        <a:pt x="313743" y="606339"/>
                        <a:pt x="315887" y="605625"/>
                      </a:cubicBezTo>
                      <a:cubicBezTo>
                        <a:pt x="316601" y="604911"/>
                        <a:pt x="317316" y="604911"/>
                        <a:pt x="318031" y="604197"/>
                      </a:cubicBezTo>
                      <a:cubicBezTo>
                        <a:pt x="318745" y="603483"/>
                        <a:pt x="320175" y="602768"/>
                        <a:pt x="320889" y="602768"/>
                      </a:cubicBezTo>
                      <a:cubicBezTo>
                        <a:pt x="322319" y="602054"/>
                        <a:pt x="323033" y="601340"/>
                        <a:pt x="324463" y="601340"/>
                      </a:cubicBezTo>
                      <a:cubicBezTo>
                        <a:pt x="325177" y="600626"/>
                        <a:pt x="325892" y="600626"/>
                        <a:pt x="326607" y="599912"/>
                      </a:cubicBezTo>
                      <a:cubicBezTo>
                        <a:pt x="328036" y="599198"/>
                        <a:pt x="329466" y="599198"/>
                        <a:pt x="330180" y="598483"/>
                      </a:cubicBezTo>
                      <a:cubicBezTo>
                        <a:pt x="330895" y="598483"/>
                        <a:pt x="331610" y="597769"/>
                        <a:pt x="332324" y="597769"/>
                      </a:cubicBezTo>
                      <a:cubicBezTo>
                        <a:pt x="333754" y="597055"/>
                        <a:pt x="335183" y="596341"/>
                        <a:pt x="336612" y="596341"/>
                      </a:cubicBezTo>
                      <a:cubicBezTo>
                        <a:pt x="336612" y="595627"/>
                        <a:pt x="337327" y="595627"/>
                        <a:pt x="338042" y="595627"/>
                      </a:cubicBezTo>
                      <a:cubicBezTo>
                        <a:pt x="339471" y="594913"/>
                        <a:pt x="340900" y="594198"/>
                        <a:pt x="342330" y="594198"/>
                      </a:cubicBezTo>
                      <a:cubicBezTo>
                        <a:pt x="343044" y="593484"/>
                        <a:pt x="343044" y="593484"/>
                        <a:pt x="343044" y="593484"/>
                      </a:cubicBezTo>
                      <a:cubicBezTo>
                        <a:pt x="345188" y="592770"/>
                        <a:pt x="346618" y="592770"/>
                        <a:pt x="348047" y="592056"/>
                      </a:cubicBezTo>
                      <a:cubicBezTo>
                        <a:pt x="348762" y="592056"/>
                        <a:pt x="348762" y="592056"/>
                        <a:pt x="348762" y="592056"/>
                      </a:cubicBezTo>
                      <a:cubicBezTo>
                        <a:pt x="360197" y="588485"/>
                        <a:pt x="370917" y="586343"/>
                        <a:pt x="382352" y="584914"/>
                      </a:cubicBezTo>
                      <a:cubicBezTo>
                        <a:pt x="383066" y="584914"/>
                        <a:pt x="383781" y="584914"/>
                        <a:pt x="383781" y="584914"/>
                      </a:cubicBezTo>
                      <a:cubicBezTo>
                        <a:pt x="385210" y="584914"/>
                        <a:pt x="386640" y="584914"/>
                        <a:pt x="387354" y="584914"/>
                      </a:cubicBezTo>
                      <a:cubicBezTo>
                        <a:pt x="388784" y="584914"/>
                        <a:pt x="389498" y="584914"/>
                        <a:pt x="390213" y="584200"/>
                      </a:cubicBezTo>
                      <a:close/>
                      <a:moveTo>
                        <a:pt x="654433" y="103187"/>
                      </a:moveTo>
                      <a:cubicBezTo>
                        <a:pt x="686457" y="103187"/>
                        <a:pt x="686457" y="103187"/>
                        <a:pt x="686457" y="103187"/>
                      </a:cubicBezTo>
                      <a:cubicBezTo>
                        <a:pt x="686457" y="126776"/>
                        <a:pt x="686457" y="126776"/>
                        <a:pt x="686457" y="126776"/>
                      </a:cubicBezTo>
                      <a:cubicBezTo>
                        <a:pt x="702825" y="128920"/>
                        <a:pt x="716346" y="132495"/>
                        <a:pt x="724174" y="139643"/>
                      </a:cubicBezTo>
                      <a:cubicBezTo>
                        <a:pt x="714211" y="169665"/>
                        <a:pt x="714211" y="169665"/>
                        <a:pt x="714211" y="169665"/>
                      </a:cubicBezTo>
                      <a:cubicBezTo>
                        <a:pt x="700690" y="161087"/>
                        <a:pt x="687169" y="156083"/>
                        <a:pt x="672936" y="156083"/>
                      </a:cubicBezTo>
                      <a:cubicBezTo>
                        <a:pt x="665108" y="156083"/>
                        <a:pt x="658703" y="158228"/>
                        <a:pt x="653722" y="162517"/>
                      </a:cubicBezTo>
                      <a:cubicBezTo>
                        <a:pt x="648740" y="167520"/>
                        <a:pt x="646605" y="172524"/>
                        <a:pt x="646605" y="179672"/>
                      </a:cubicBezTo>
                      <a:cubicBezTo>
                        <a:pt x="646605" y="191109"/>
                        <a:pt x="659415" y="203261"/>
                        <a:pt x="685034" y="215413"/>
                      </a:cubicBezTo>
                      <a:cubicBezTo>
                        <a:pt x="698555" y="222561"/>
                        <a:pt x="709230" y="228280"/>
                        <a:pt x="715634" y="233998"/>
                      </a:cubicBezTo>
                      <a:cubicBezTo>
                        <a:pt x="722039" y="239717"/>
                        <a:pt x="725597" y="246150"/>
                        <a:pt x="729155" y="253298"/>
                      </a:cubicBezTo>
                      <a:cubicBezTo>
                        <a:pt x="732002" y="261161"/>
                        <a:pt x="733425" y="269024"/>
                        <a:pt x="733425" y="278317"/>
                      </a:cubicBezTo>
                      <a:cubicBezTo>
                        <a:pt x="733425" y="290469"/>
                        <a:pt x="729867" y="301906"/>
                        <a:pt x="721327" y="311198"/>
                      </a:cubicBezTo>
                      <a:cubicBezTo>
                        <a:pt x="712788" y="320491"/>
                        <a:pt x="700690" y="327639"/>
                        <a:pt x="686457" y="331213"/>
                      </a:cubicBezTo>
                      <a:cubicBezTo>
                        <a:pt x="686457" y="361950"/>
                        <a:pt x="686457" y="361950"/>
                        <a:pt x="686457" y="361950"/>
                      </a:cubicBezTo>
                      <a:cubicBezTo>
                        <a:pt x="654433" y="361950"/>
                        <a:pt x="654433" y="361950"/>
                        <a:pt x="654433" y="361950"/>
                      </a:cubicBezTo>
                      <a:cubicBezTo>
                        <a:pt x="654433" y="332643"/>
                        <a:pt x="654433" y="332643"/>
                        <a:pt x="654433" y="332643"/>
                      </a:cubicBezTo>
                      <a:cubicBezTo>
                        <a:pt x="638777" y="332643"/>
                        <a:pt x="623833" y="327639"/>
                        <a:pt x="609600" y="319061"/>
                      </a:cubicBezTo>
                      <a:cubicBezTo>
                        <a:pt x="623833" y="287609"/>
                        <a:pt x="623833" y="287609"/>
                        <a:pt x="623833" y="287609"/>
                      </a:cubicBezTo>
                      <a:cubicBezTo>
                        <a:pt x="638066" y="296902"/>
                        <a:pt x="652299" y="301906"/>
                        <a:pt x="665820" y="301906"/>
                      </a:cubicBezTo>
                      <a:cubicBezTo>
                        <a:pt x="687169" y="301906"/>
                        <a:pt x="697132" y="294758"/>
                        <a:pt x="697132" y="280461"/>
                      </a:cubicBezTo>
                      <a:cubicBezTo>
                        <a:pt x="697132" y="273313"/>
                        <a:pt x="694997" y="266165"/>
                        <a:pt x="689304" y="259732"/>
                      </a:cubicBezTo>
                      <a:cubicBezTo>
                        <a:pt x="683611" y="254013"/>
                        <a:pt x="673648" y="246865"/>
                        <a:pt x="658703" y="239002"/>
                      </a:cubicBezTo>
                      <a:cubicBezTo>
                        <a:pt x="643047" y="231854"/>
                        <a:pt x="633084" y="225420"/>
                        <a:pt x="627391" y="220417"/>
                      </a:cubicBezTo>
                      <a:cubicBezTo>
                        <a:pt x="621698" y="215413"/>
                        <a:pt x="618140" y="209695"/>
                        <a:pt x="613870" y="202546"/>
                      </a:cubicBezTo>
                      <a:cubicBezTo>
                        <a:pt x="611735" y="195398"/>
                        <a:pt x="610312" y="188250"/>
                        <a:pt x="610312" y="179672"/>
                      </a:cubicBezTo>
                      <a:cubicBezTo>
                        <a:pt x="610312" y="167520"/>
                        <a:pt x="613870" y="156083"/>
                        <a:pt x="623121" y="147506"/>
                      </a:cubicBezTo>
                      <a:cubicBezTo>
                        <a:pt x="630949" y="138213"/>
                        <a:pt x="640912" y="131780"/>
                        <a:pt x="654433" y="128920"/>
                      </a:cubicBezTo>
                      <a:cubicBezTo>
                        <a:pt x="654433" y="103187"/>
                        <a:pt x="654433" y="103187"/>
                        <a:pt x="654433" y="103187"/>
                      </a:cubicBezTo>
                      <a:close/>
                      <a:moveTo>
                        <a:pt x="228600" y="31750"/>
                      </a:moveTo>
                      <a:lnTo>
                        <a:pt x="228600" y="431800"/>
                      </a:lnTo>
                      <a:lnTo>
                        <a:pt x="1114425" y="431800"/>
                      </a:lnTo>
                      <a:lnTo>
                        <a:pt x="1114425" y="31750"/>
                      </a:lnTo>
                      <a:close/>
                      <a:moveTo>
                        <a:pt x="209003" y="0"/>
                      </a:moveTo>
                      <a:cubicBezTo>
                        <a:pt x="1134023" y="0"/>
                        <a:pt x="1134023" y="0"/>
                        <a:pt x="1134023" y="0"/>
                      </a:cubicBezTo>
                      <a:cubicBezTo>
                        <a:pt x="1141171" y="0"/>
                        <a:pt x="1146175" y="5000"/>
                        <a:pt x="1146175" y="11428"/>
                      </a:cubicBezTo>
                      <a:cubicBezTo>
                        <a:pt x="1146175" y="451408"/>
                        <a:pt x="1146175" y="451408"/>
                        <a:pt x="1146175" y="451408"/>
                      </a:cubicBezTo>
                      <a:cubicBezTo>
                        <a:pt x="1146175" y="457836"/>
                        <a:pt x="1141171" y="463550"/>
                        <a:pt x="1134023" y="463550"/>
                      </a:cubicBezTo>
                      <a:cubicBezTo>
                        <a:pt x="209003" y="463550"/>
                        <a:pt x="209003" y="463550"/>
                        <a:pt x="209003" y="463550"/>
                      </a:cubicBezTo>
                      <a:cubicBezTo>
                        <a:pt x="202569" y="463550"/>
                        <a:pt x="196850" y="457836"/>
                        <a:pt x="196850" y="451408"/>
                      </a:cubicBezTo>
                      <a:cubicBezTo>
                        <a:pt x="196850" y="11428"/>
                        <a:pt x="196850" y="11428"/>
                        <a:pt x="196850" y="11428"/>
                      </a:cubicBezTo>
                      <a:cubicBezTo>
                        <a:pt x="196850" y="5000"/>
                        <a:pt x="202569" y="0"/>
                        <a:pt x="209003" y="0"/>
                      </a:cubicBezTo>
                      <a:close/>
                    </a:path>
                  </a:pathLst>
                </a:custGeom>
                <a:solidFill>
                  <a:schemeClr val="accent1"/>
                </a:solidFill>
                <a:ln>
                  <a:noFill/>
                </a:ln>
              </p:spPr>
              <p:txBody>
                <a:bodyPr vert="horz" wrap="square" lIns="73152" tIns="36576" rIns="73152" bIns="36576" numCol="1" anchor="t" anchorCtr="0" compatLnSpc="1">
                  <a:prstTxWarp prst="textNoShape">
                    <a:avLst/>
                  </a:prstTxWarp>
                  <a:noAutofit/>
                </a:bodyPr>
                <a:lstStyle/>
                <a:p>
                  <a:endParaRPr lang="en-US"/>
                </a:p>
              </p:txBody>
            </p:sp>
          </p:grpSp>
        </p:grpSp>
        <p:sp>
          <p:nvSpPr>
            <p:cNvPr id="183" name="TextBox 182">
              <a:extLst>
                <a:ext uri="{FF2B5EF4-FFF2-40B4-BE49-F238E27FC236}">
                  <a16:creationId xmlns:a16="http://schemas.microsoft.com/office/drawing/2014/main" id="{A5E50E9A-66C0-4146-9D19-7A15072770B0}"/>
                </a:ext>
              </a:extLst>
            </p:cNvPr>
            <p:cNvSpPr txBox="1"/>
            <p:nvPr/>
          </p:nvSpPr>
          <p:spPr>
            <a:xfrm>
              <a:off x="3718525" y="2263006"/>
              <a:ext cx="1354768" cy="2616101"/>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27432" bIns="0" numCol="1" spcCol="0" rtlCol="0" fromWordArt="0" anchor="t" anchorCtr="0" forceAA="0" compatLnSpc="1">
              <a:prstTxWarp prst="textNoShape">
                <a:avLst/>
              </a:prstTxWarp>
              <a:noAutofit/>
            </a:bodyPr>
            <a:lstStyle/>
            <a:p>
              <a:pPr marL="109728">
                <a:buSzPct val="100000"/>
                <a:buFont typeface="Trebuchet MS" panose="020B0603020202020204" pitchFamily="34" charset="0"/>
                <a:buChar char="​"/>
                <a:defRPr/>
              </a:pPr>
              <a:r>
                <a:rPr lang="en-US" sz="1000">
                  <a:solidFill>
                    <a:srgbClr val="29BA74"/>
                  </a:solidFill>
                  <a:cs typeface="Arial" pitchFamily="34" charset="0"/>
                </a:rPr>
                <a:t>Cards</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Prepaid</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Debit</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Credit</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Free</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Regular</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Miles</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Affluent</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Professions</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Fans</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Ages</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Themes</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Co-branded</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Instant</a:t>
              </a:r>
              <a:endParaRPr kumimoji="0" lang="en-US" sz="1000" i="0" u="none" strike="noStrike" kern="1200" cap="none" spc="0" normalizeH="0" baseline="0" noProof="0">
                <a:ln>
                  <a:noFill/>
                </a:ln>
                <a:solidFill>
                  <a:schemeClr val="tx1"/>
                </a:solidFill>
                <a:effectLst/>
                <a:uLnTx/>
                <a:uFillTx/>
                <a:cs typeface="Arial" pitchFamily="34" charset="0"/>
              </a:endParaRPr>
            </a:p>
          </p:txBody>
        </p:sp>
        <p:sp>
          <p:nvSpPr>
            <p:cNvPr id="184" name="TextBox 183">
              <a:extLst>
                <a:ext uri="{FF2B5EF4-FFF2-40B4-BE49-F238E27FC236}">
                  <a16:creationId xmlns:a16="http://schemas.microsoft.com/office/drawing/2014/main" id="{4AD92078-04EE-4646-8F33-0EA35EE6F7FA}"/>
                </a:ext>
              </a:extLst>
            </p:cNvPr>
            <p:cNvSpPr txBox="1"/>
            <p:nvPr/>
          </p:nvSpPr>
          <p:spPr>
            <a:xfrm>
              <a:off x="5116619" y="2263006"/>
              <a:ext cx="1354768" cy="2616101"/>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27432" bIns="0" numCol="1" spcCol="0" rtlCol="0" fromWordArt="0" anchor="t" anchorCtr="0" forceAA="0" compatLnSpc="1">
              <a:prstTxWarp prst="textNoShape">
                <a:avLst/>
              </a:prstTxWarp>
              <a:noAutofit/>
            </a:bodyPr>
            <a:lstStyle/>
            <a:p>
              <a:pPr marL="109728">
                <a:buSzPct val="100000"/>
                <a:buFont typeface="Trebuchet MS" panose="020B0603020202020204" pitchFamily="34" charset="0"/>
                <a:buChar char="​"/>
                <a:defRPr/>
              </a:pPr>
              <a:r>
                <a:rPr lang="en-US" sz="1000">
                  <a:solidFill>
                    <a:srgbClr val="29BA74"/>
                  </a:solidFill>
                  <a:cs typeface="Arial" pitchFamily="34" charset="0"/>
                </a:rPr>
                <a:t>Credits</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General purpose loan (GPL</a:t>
              </a:r>
              <a:r>
                <a:rPr lang="en-US" sz="1000" baseline="30000">
                  <a:solidFill>
                    <a:schemeClr val="tx1"/>
                  </a:solidFill>
                  <a:cs typeface="Arial" pitchFamily="34" charset="0"/>
                </a:rPr>
                <a:t>1</a:t>
              </a:r>
              <a:r>
                <a:rPr lang="en-US" sz="1000">
                  <a:solidFill>
                    <a:schemeClr val="tx1"/>
                  </a:solidFill>
                  <a:cs typeface="Arial" pitchFamily="34" charset="0"/>
                </a:rPr>
                <a:t>)</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GPL with cash collateral</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Regular</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Restructuring</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Consumer finance</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Auto</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Mortgage</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Overdraft</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Regular</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With installments</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Secure rent</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Credit line</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SKY limit</a:t>
              </a:r>
              <a:endParaRPr kumimoji="0" lang="en-US" sz="1000" i="0" u="none" strike="noStrike" kern="1200" cap="none" spc="0" normalizeH="0" baseline="0" noProof="0">
                <a:ln>
                  <a:noFill/>
                </a:ln>
                <a:solidFill>
                  <a:schemeClr val="tx1"/>
                </a:solidFill>
                <a:effectLst/>
                <a:uLnTx/>
                <a:uFillTx/>
                <a:cs typeface="Arial" pitchFamily="34" charset="0"/>
              </a:endParaRPr>
            </a:p>
          </p:txBody>
        </p:sp>
      </p:grpSp>
      <p:grpSp>
        <p:nvGrpSpPr>
          <p:cNvPr id="2" name="Group 1">
            <a:extLst>
              <a:ext uri="{FF2B5EF4-FFF2-40B4-BE49-F238E27FC236}">
                <a16:creationId xmlns:a16="http://schemas.microsoft.com/office/drawing/2014/main" id="{E46DAE11-520F-459E-B7CF-A133546E28FF}"/>
              </a:ext>
            </a:extLst>
          </p:cNvPr>
          <p:cNvGrpSpPr/>
          <p:nvPr/>
        </p:nvGrpSpPr>
        <p:grpSpPr>
          <a:xfrm>
            <a:off x="4655281" y="1310481"/>
            <a:ext cx="1981912" cy="4805115"/>
            <a:chOff x="1676400" y="1518831"/>
            <a:chExt cx="1981912" cy="4805115"/>
          </a:xfrm>
        </p:grpSpPr>
        <p:sp>
          <p:nvSpPr>
            <p:cNvPr id="46" name="Rectangle 45">
              <a:extLst>
                <a:ext uri="{FF2B5EF4-FFF2-40B4-BE49-F238E27FC236}">
                  <a16:creationId xmlns:a16="http://schemas.microsoft.com/office/drawing/2014/main" id="{AE910F7D-3578-413F-8AB4-8797D55C610C}"/>
                </a:ext>
              </a:extLst>
            </p:cNvPr>
            <p:cNvSpPr/>
            <p:nvPr/>
          </p:nvSpPr>
          <p:spPr>
            <a:xfrm>
              <a:off x="1676400" y="1768651"/>
              <a:ext cx="1880271" cy="4555295"/>
            </a:xfrm>
            <a:prstGeom prst="rect">
              <a:avLst/>
            </a:prstGeom>
            <a:noFill/>
            <a:ln w="9525" cap="rnd" cmpd="sng" algn="ctr">
              <a:solidFill>
                <a:schemeClr val="tx2"/>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a:solidFill>
                  <a:srgbClr val="FFFFFF"/>
                </a:solidFill>
                <a:sym typeface="Trebuchet MS" panose="020B0603020202020204" pitchFamily="34" charset="0"/>
              </a:endParaRPr>
            </a:p>
          </p:txBody>
        </p:sp>
        <p:sp>
          <p:nvSpPr>
            <p:cNvPr id="48" name="Rectangle 47">
              <a:extLst>
                <a:ext uri="{FF2B5EF4-FFF2-40B4-BE49-F238E27FC236}">
                  <a16:creationId xmlns:a16="http://schemas.microsoft.com/office/drawing/2014/main" id="{21783683-52DC-45CA-9D0D-CD772E95A95A}"/>
                </a:ext>
              </a:extLst>
            </p:cNvPr>
            <p:cNvSpPr/>
            <p:nvPr/>
          </p:nvSpPr>
          <p:spPr>
            <a:xfrm>
              <a:off x="2947408" y="1722054"/>
              <a:ext cx="352479" cy="71129"/>
            </a:xfrm>
            <a:prstGeom prst="rect">
              <a:avLst/>
            </a:prstGeom>
            <a:solidFill>
              <a:srgbClr val="FFFFFF"/>
            </a:solidFill>
            <a:ln w="9525" cap="flat" cmpd="sng" algn="ctr">
              <a:no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a:solidFill>
                  <a:srgbClr val="FFFFFF"/>
                </a:solidFill>
              </a:endParaRPr>
            </a:p>
          </p:txBody>
        </p:sp>
        <p:sp>
          <p:nvSpPr>
            <p:cNvPr id="49" name="Diamond 48">
              <a:extLst>
                <a:ext uri="{FF2B5EF4-FFF2-40B4-BE49-F238E27FC236}">
                  <a16:creationId xmlns:a16="http://schemas.microsoft.com/office/drawing/2014/main" id="{29C6CCCD-660A-4030-A347-45FEFB890D14}"/>
                </a:ext>
              </a:extLst>
            </p:cNvPr>
            <p:cNvSpPr/>
            <p:nvPr/>
          </p:nvSpPr>
          <p:spPr>
            <a:xfrm>
              <a:off x="2948823" y="1518831"/>
              <a:ext cx="709489" cy="710337"/>
            </a:xfrm>
            <a:prstGeom prst="diamond">
              <a:avLst/>
            </a:prstGeom>
            <a:solidFill>
              <a:srgbClr val="FFFFFF"/>
            </a:solidFill>
            <a:ln w="19050"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4295" tIns="37148" rIns="74295" bIns="37148" numCol="1" spcCol="0" rtlCol="0" fromWordArt="0" anchor="ctr" anchorCtr="0" forceAA="0" compatLnSpc="1">
              <a:prstTxWarp prst="textNoShape">
                <a:avLst/>
              </a:prstTxWarp>
              <a:noAutofit/>
            </a:bodyPr>
            <a:lstStyle/>
            <a:p>
              <a:pPr algn="ctr">
                <a:lnSpc>
                  <a:spcPct val="90000"/>
                </a:lnSpc>
                <a:spcAft>
                  <a:spcPts val="813"/>
                </a:spcAft>
              </a:pPr>
              <a:endParaRPr lang="en-US" sz="1600">
                <a:solidFill>
                  <a:srgbClr val="FFFFFF"/>
                </a:solidFill>
                <a:sym typeface="Trebuchet MS" panose="020B0603020202020204" pitchFamily="34" charset="0"/>
              </a:endParaRPr>
            </a:p>
          </p:txBody>
        </p:sp>
        <p:sp>
          <p:nvSpPr>
            <p:cNvPr id="50" name="Arrow: Chevron 59">
              <a:extLst>
                <a:ext uri="{FF2B5EF4-FFF2-40B4-BE49-F238E27FC236}">
                  <a16:creationId xmlns:a16="http://schemas.microsoft.com/office/drawing/2014/main" id="{180D808A-8879-4D9E-9F99-7544F603C906}"/>
                </a:ext>
              </a:extLst>
            </p:cNvPr>
            <p:cNvSpPr/>
            <p:nvPr/>
          </p:nvSpPr>
          <p:spPr>
            <a:xfrm flipH="1">
              <a:off x="1836666" y="1649546"/>
              <a:ext cx="1282435" cy="458654"/>
            </a:xfrm>
            <a:prstGeom prst="chevron">
              <a:avLst>
                <a:gd name="adj" fmla="val 51207"/>
              </a:avLst>
            </a:prstGeom>
            <a:solidFill>
              <a:schemeClr val="tx2"/>
            </a:solidFill>
            <a:ln w="12700" cap="flat" cmpd="sng" algn="ctr">
              <a:solidFill>
                <a:schemeClr val="tx2"/>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51" name="Rectangle: Rounded Corners 60">
              <a:extLst>
                <a:ext uri="{FF2B5EF4-FFF2-40B4-BE49-F238E27FC236}">
                  <a16:creationId xmlns:a16="http://schemas.microsoft.com/office/drawing/2014/main" id="{1BA1FD73-5087-4C1B-977D-8222C2BE62E2}"/>
                </a:ext>
              </a:extLst>
            </p:cNvPr>
            <p:cNvSpPr/>
            <p:nvPr/>
          </p:nvSpPr>
          <p:spPr>
            <a:xfrm>
              <a:off x="1676401" y="1649546"/>
              <a:ext cx="1087872" cy="458654"/>
            </a:xfrm>
            <a:prstGeom prst="roundRect">
              <a:avLst>
                <a:gd name="adj" fmla="val 11456"/>
              </a:avLst>
            </a:prstGeom>
            <a:solidFill>
              <a:schemeClr val="tx2"/>
            </a:solidFill>
            <a:ln w="12700" cap="flat" cmpd="sng" algn="ctr">
              <a:solidFill>
                <a:schemeClr val="tx2"/>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wrap="none" lIns="91440" tIns="45720" rIns="91440" bIns="45720" rtlCol="0" anchor="ctr"/>
            <a:lstStyle/>
            <a:p>
              <a:r>
                <a:rPr lang="en-US" sz="1400"/>
                <a:t>Saving</a:t>
              </a:r>
              <a:br>
                <a:rPr lang="en-US" sz="1400"/>
              </a:br>
              <a:r>
                <a:rPr lang="en-US" sz="1400"/>
                <a:t>Domain</a:t>
              </a:r>
            </a:p>
          </p:txBody>
        </p:sp>
        <p:sp>
          <p:nvSpPr>
            <p:cNvPr id="47" name="Rectangle 46">
              <a:extLst>
                <a:ext uri="{FF2B5EF4-FFF2-40B4-BE49-F238E27FC236}">
                  <a16:creationId xmlns:a16="http://schemas.microsoft.com/office/drawing/2014/main" id="{880BA536-0A9D-4D8F-B3AE-2746DC133612}"/>
                </a:ext>
              </a:extLst>
            </p:cNvPr>
            <p:cNvSpPr/>
            <p:nvPr/>
          </p:nvSpPr>
          <p:spPr>
            <a:xfrm>
              <a:off x="3035729" y="6278226"/>
              <a:ext cx="520942" cy="4572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90000"/>
                </a:lnSpc>
                <a:spcAft>
                  <a:spcPts val="1000"/>
                </a:spcAft>
              </a:pPr>
              <a:endParaRPr lang="en-US" sz="1600">
                <a:solidFill>
                  <a:prstClr val="white"/>
                </a:solidFill>
                <a:sym typeface="Trebuchet MS" panose="020B0603020202020204" pitchFamily="34" charset="0"/>
              </a:endParaRPr>
            </a:p>
          </p:txBody>
        </p:sp>
        <p:grpSp>
          <p:nvGrpSpPr>
            <p:cNvPr id="160" name="Group 159"/>
            <p:cNvGrpSpPr>
              <a:grpSpLocks noChangeAspect="1"/>
            </p:cNvGrpSpPr>
            <p:nvPr/>
          </p:nvGrpSpPr>
          <p:grpSpPr>
            <a:xfrm>
              <a:off x="3127417" y="1697849"/>
              <a:ext cx="352300" cy="352300"/>
              <a:chOff x="5273675" y="2606675"/>
              <a:chExt cx="1644650" cy="1644650"/>
            </a:xfrm>
          </p:grpSpPr>
          <p:sp>
            <p:nvSpPr>
              <p:cNvPr id="161" name="AutoShape 3"/>
              <p:cNvSpPr>
                <a:spLocks noChangeAspect="1" noChangeArrowheads="1" noTextEdit="1"/>
              </p:cNvSpPr>
              <p:nvPr/>
            </p:nvSpPr>
            <p:spPr bwMode="auto">
              <a:xfrm>
                <a:off x="5273675" y="2606675"/>
                <a:ext cx="1644650"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162" name="Group 161"/>
              <p:cNvGrpSpPr/>
              <p:nvPr/>
            </p:nvGrpSpPr>
            <p:grpSpPr>
              <a:xfrm>
                <a:off x="5602288" y="2870200"/>
                <a:ext cx="984250" cy="1104900"/>
                <a:chOff x="5602288" y="2870200"/>
                <a:chExt cx="984250" cy="1104900"/>
              </a:xfrm>
            </p:grpSpPr>
            <p:sp>
              <p:nvSpPr>
                <p:cNvPr id="163" name="Freeform 162"/>
                <p:cNvSpPr>
                  <a:spLocks/>
                </p:cNvSpPr>
                <p:nvPr/>
              </p:nvSpPr>
              <p:spPr bwMode="auto">
                <a:xfrm>
                  <a:off x="5668395" y="2943225"/>
                  <a:ext cx="851129" cy="969963"/>
                </a:xfrm>
                <a:custGeom>
                  <a:avLst/>
                  <a:gdLst>
                    <a:gd name="connsiteX0" fmla="*/ 399103 w 851129"/>
                    <a:gd name="connsiteY0" fmla="*/ 419100 h 969963"/>
                    <a:gd name="connsiteX1" fmla="*/ 399103 w 851129"/>
                    <a:gd name="connsiteY1" fmla="*/ 457745 h 969963"/>
                    <a:gd name="connsiteX2" fmla="*/ 351016 w 851129"/>
                    <a:gd name="connsiteY2" fmla="*/ 486372 h 969963"/>
                    <a:gd name="connsiteX3" fmla="*/ 333073 w 851129"/>
                    <a:gd name="connsiteY3" fmla="*/ 537183 h 969963"/>
                    <a:gd name="connsiteX4" fmla="*/ 339532 w 851129"/>
                    <a:gd name="connsiteY4" fmla="*/ 572966 h 969963"/>
                    <a:gd name="connsiteX5" fmla="*/ 358911 w 851129"/>
                    <a:gd name="connsiteY5" fmla="*/ 600160 h 969963"/>
                    <a:gd name="connsiteX6" fmla="*/ 405563 w 851129"/>
                    <a:gd name="connsiteY6" fmla="*/ 628786 h 969963"/>
                    <a:gd name="connsiteX7" fmla="*/ 452215 w 851129"/>
                    <a:gd name="connsiteY7" fmla="*/ 660991 h 969963"/>
                    <a:gd name="connsiteX8" fmla="*/ 465133 w 851129"/>
                    <a:gd name="connsiteY8" fmla="*/ 692480 h 969963"/>
                    <a:gd name="connsiteX9" fmla="*/ 416329 w 851129"/>
                    <a:gd name="connsiteY9" fmla="*/ 726115 h 969963"/>
                    <a:gd name="connsiteX10" fmla="*/ 352451 w 851129"/>
                    <a:gd name="connsiteY10" fmla="*/ 703214 h 969963"/>
                    <a:gd name="connsiteX11" fmla="*/ 332355 w 851129"/>
                    <a:gd name="connsiteY11" fmla="*/ 752594 h 969963"/>
                    <a:gd name="connsiteX12" fmla="*/ 399103 w 851129"/>
                    <a:gd name="connsiteY12" fmla="*/ 774064 h 969963"/>
                    <a:gd name="connsiteX13" fmla="*/ 399103 w 851129"/>
                    <a:gd name="connsiteY13" fmla="*/ 819150 h 969963"/>
                    <a:gd name="connsiteX14" fmla="*/ 447908 w 851129"/>
                    <a:gd name="connsiteY14" fmla="*/ 819150 h 969963"/>
                    <a:gd name="connsiteX15" fmla="*/ 447908 w 851129"/>
                    <a:gd name="connsiteY15" fmla="*/ 770486 h 969963"/>
                    <a:gd name="connsiteX16" fmla="*/ 501020 w 851129"/>
                    <a:gd name="connsiteY16" fmla="*/ 740428 h 969963"/>
                    <a:gd name="connsiteX17" fmla="*/ 519680 w 851129"/>
                    <a:gd name="connsiteY17" fmla="*/ 688186 h 969963"/>
                    <a:gd name="connsiteX18" fmla="*/ 512503 w 851129"/>
                    <a:gd name="connsiteY18" fmla="*/ 650256 h 969963"/>
                    <a:gd name="connsiteX19" fmla="*/ 491689 w 851129"/>
                    <a:gd name="connsiteY19" fmla="*/ 620199 h 969963"/>
                    <a:gd name="connsiteX20" fmla="*/ 446473 w 851129"/>
                    <a:gd name="connsiteY20" fmla="*/ 592288 h 969963"/>
                    <a:gd name="connsiteX21" fmla="*/ 387620 w 851129"/>
                    <a:gd name="connsiteY21" fmla="*/ 537183 h 969963"/>
                    <a:gd name="connsiteX22" fmla="*/ 397668 w 851129"/>
                    <a:gd name="connsiteY22" fmla="*/ 510704 h 969963"/>
                    <a:gd name="connsiteX23" fmla="*/ 427094 w 851129"/>
                    <a:gd name="connsiteY23" fmla="*/ 500685 h 969963"/>
                    <a:gd name="connsiteX24" fmla="*/ 488818 w 851129"/>
                    <a:gd name="connsiteY24" fmla="*/ 521439 h 969963"/>
                    <a:gd name="connsiteX25" fmla="*/ 505326 w 851129"/>
                    <a:gd name="connsiteY25" fmla="*/ 474205 h 969963"/>
                    <a:gd name="connsiteX26" fmla="*/ 447190 w 851129"/>
                    <a:gd name="connsiteY26" fmla="*/ 455598 h 969963"/>
                    <a:gd name="connsiteX27" fmla="*/ 447908 w 851129"/>
                    <a:gd name="connsiteY27" fmla="*/ 419100 h 969963"/>
                    <a:gd name="connsiteX28" fmla="*/ 399103 w 851129"/>
                    <a:gd name="connsiteY28" fmla="*/ 419100 h 969963"/>
                    <a:gd name="connsiteX29" fmla="*/ 357759 w 851129"/>
                    <a:gd name="connsiteY29" fmla="*/ 201613 h 969963"/>
                    <a:gd name="connsiteX30" fmla="*/ 494117 w 851129"/>
                    <a:gd name="connsiteY30" fmla="*/ 201613 h 969963"/>
                    <a:gd name="connsiteX31" fmla="*/ 524101 w 851129"/>
                    <a:gd name="connsiteY31" fmla="*/ 248699 h 969963"/>
                    <a:gd name="connsiteX32" fmla="*/ 702580 w 851129"/>
                    <a:gd name="connsiteY32" fmla="*/ 440608 h 969963"/>
                    <a:gd name="connsiteX33" fmla="*/ 851074 w 851129"/>
                    <a:gd name="connsiteY33" fmla="*/ 777341 h 969963"/>
                    <a:gd name="connsiteX34" fmla="*/ 851074 w 851129"/>
                    <a:gd name="connsiteY34" fmla="*/ 778054 h 969963"/>
                    <a:gd name="connsiteX35" fmla="*/ 851074 w 851129"/>
                    <a:gd name="connsiteY35" fmla="*/ 779481 h 969963"/>
                    <a:gd name="connsiteX36" fmla="*/ 851074 w 851129"/>
                    <a:gd name="connsiteY36" fmla="*/ 780194 h 969963"/>
                    <a:gd name="connsiteX37" fmla="*/ 804669 w 851129"/>
                    <a:gd name="connsiteY37" fmla="*/ 914317 h 969963"/>
                    <a:gd name="connsiteX38" fmla="*/ 641183 w 851129"/>
                    <a:gd name="connsiteY38" fmla="*/ 969963 h 969963"/>
                    <a:gd name="connsiteX39" fmla="*/ 210693 w 851129"/>
                    <a:gd name="connsiteY39" fmla="*/ 969963 h 969963"/>
                    <a:gd name="connsiteX40" fmla="*/ 46493 w 851129"/>
                    <a:gd name="connsiteY40" fmla="*/ 914317 h 969963"/>
                    <a:gd name="connsiteX41" fmla="*/ 89 w 851129"/>
                    <a:gd name="connsiteY41" fmla="*/ 780194 h 969963"/>
                    <a:gd name="connsiteX42" fmla="*/ 89 w 851129"/>
                    <a:gd name="connsiteY42" fmla="*/ 779481 h 969963"/>
                    <a:gd name="connsiteX43" fmla="*/ 89 w 851129"/>
                    <a:gd name="connsiteY43" fmla="*/ 778054 h 969963"/>
                    <a:gd name="connsiteX44" fmla="*/ 89 w 851129"/>
                    <a:gd name="connsiteY44" fmla="*/ 777341 h 969963"/>
                    <a:gd name="connsiteX45" fmla="*/ 149297 w 851129"/>
                    <a:gd name="connsiteY45" fmla="*/ 440608 h 969963"/>
                    <a:gd name="connsiteX46" fmla="*/ 327775 w 851129"/>
                    <a:gd name="connsiteY46" fmla="*/ 248699 h 969963"/>
                    <a:gd name="connsiteX47" fmla="*/ 357759 w 851129"/>
                    <a:gd name="connsiteY47" fmla="*/ 201613 h 969963"/>
                    <a:gd name="connsiteX48" fmla="*/ 426375 w 851129"/>
                    <a:gd name="connsiteY48" fmla="*/ 0 h 969963"/>
                    <a:gd name="connsiteX49" fmla="*/ 541196 w 851129"/>
                    <a:gd name="connsiteY49" fmla="*/ 22721 h 969963"/>
                    <a:gd name="connsiteX50" fmla="*/ 591118 w 851129"/>
                    <a:gd name="connsiteY50" fmla="*/ 48282 h 969963"/>
                    <a:gd name="connsiteX51" fmla="*/ 526932 w 851129"/>
                    <a:gd name="connsiteY51" fmla="*/ 113604 h 969963"/>
                    <a:gd name="connsiteX52" fmla="*/ 494840 w 851129"/>
                    <a:gd name="connsiteY52" fmla="*/ 168275 h 969963"/>
                    <a:gd name="connsiteX53" fmla="*/ 357910 w 851129"/>
                    <a:gd name="connsiteY53" fmla="*/ 168275 h 969963"/>
                    <a:gd name="connsiteX54" fmla="*/ 325817 w 851129"/>
                    <a:gd name="connsiteY54" fmla="*/ 113604 h 969963"/>
                    <a:gd name="connsiteX55" fmla="*/ 260918 w 851129"/>
                    <a:gd name="connsiteY55" fmla="*/ 48282 h 969963"/>
                    <a:gd name="connsiteX56" fmla="*/ 311554 w 851129"/>
                    <a:gd name="connsiteY56" fmla="*/ 22721 h 969963"/>
                    <a:gd name="connsiteX57" fmla="*/ 426375 w 851129"/>
                    <a:gd name="connsiteY57" fmla="*/ 0 h 969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51129" h="969963">
                      <a:moveTo>
                        <a:pt x="399103" y="419100"/>
                      </a:moveTo>
                      <a:cubicBezTo>
                        <a:pt x="399103" y="419100"/>
                        <a:pt x="399103" y="419100"/>
                        <a:pt x="399103" y="457745"/>
                      </a:cubicBezTo>
                      <a:cubicBezTo>
                        <a:pt x="378289" y="462755"/>
                        <a:pt x="362500" y="472058"/>
                        <a:pt x="351016" y="486372"/>
                      </a:cubicBezTo>
                      <a:cubicBezTo>
                        <a:pt x="338815" y="501400"/>
                        <a:pt x="333073" y="517860"/>
                        <a:pt x="333073" y="537183"/>
                      </a:cubicBezTo>
                      <a:cubicBezTo>
                        <a:pt x="333073" y="550065"/>
                        <a:pt x="335226" y="562231"/>
                        <a:pt x="339532" y="572966"/>
                      </a:cubicBezTo>
                      <a:cubicBezTo>
                        <a:pt x="343839" y="582985"/>
                        <a:pt x="350298" y="592288"/>
                        <a:pt x="358911" y="600160"/>
                      </a:cubicBezTo>
                      <a:cubicBezTo>
                        <a:pt x="366088" y="607317"/>
                        <a:pt x="381878" y="617336"/>
                        <a:pt x="405563" y="628786"/>
                      </a:cubicBezTo>
                      <a:cubicBezTo>
                        <a:pt x="428530" y="640237"/>
                        <a:pt x="444320" y="650972"/>
                        <a:pt x="452215" y="660991"/>
                      </a:cubicBezTo>
                      <a:cubicBezTo>
                        <a:pt x="460827" y="671010"/>
                        <a:pt x="465133" y="681029"/>
                        <a:pt x="465133" y="692480"/>
                      </a:cubicBezTo>
                      <a:cubicBezTo>
                        <a:pt x="465133" y="714665"/>
                        <a:pt x="448626" y="726115"/>
                        <a:pt x="416329" y="726115"/>
                      </a:cubicBezTo>
                      <a:cubicBezTo>
                        <a:pt x="394797" y="726115"/>
                        <a:pt x="373265" y="718243"/>
                        <a:pt x="352451" y="703214"/>
                      </a:cubicBezTo>
                      <a:cubicBezTo>
                        <a:pt x="352451" y="703214"/>
                        <a:pt x="352451" y="703214"/>
                        <a:pt x="332355" y="752594"/>
                      </a:cubicBezTo>
                      <a:cubicBezTo>
                        <a:pt x="352451" y="765476"/>
                        <a:pt x="373983" y="772633"/>
                        <a:pt x="399103" y="774064"/>
                      </a:cubicBezTo>
                      <a:cubicBezTo>
                        <a:pt x="399103" y="774064"/>
                        <a:pt x="399103" y="774064"/>
                        <a:pt x="399103" y="819150"/>
                      </a:cubicBezTo>
                      <a:cubicBezTo>
                        <a:pt x="399103" y="819150"/>
                        <a:pt x="399103" y="819150"/>
                        <a:pt x="447908" y="819150"/>
                      </a:cubicBezTo>
                      <a:cubicBezTo>
                        <a:pt x="447908" y="819150"/>
                        <a:pt x="447908" y="819150"/>
                        <a:pt x="447908" y="770486"/>
                      </a:cubicBezTo>
                      <a:cubicBezTo>
                        <a:pt x="470158" y="764761"/>
                        <a:pt x="488101" y="754741"/>
                        <a:pt x="501020" y="740428"/>
                      </a:cubicBezTo>
                      <a:cubicBezTo>
                        <a:pt x="513221" y="725400"/>
                        <a:pt x="519680" y="708224"/>
                        <a:pt x="519680" y="688186"/>
                      </a:cubicBezTo>
                      <a:cubicBezTo>
                        <a:pt x="519680" y="674588"/>
                        <a:pt x="517527" y="661706"/>
                        <a:pt x="512503" y="650256"/>
                      </a:cubicBezTo>
                      <a:cubicBezTo>
                        <a:pt x="508197" y="638806"/>
                        <a:pt x="501020" y="628786"/>
                        <a:pt x="491689" y="620199"/>
                      </a:cubicBezTo>
                      <a:cubicBezTo>
                        <a:pt x="482359" y="611611"/>
                        <a:pt x="467287" y="602307"/>
                        <a:pt x="446473" y="592288"/>
                      </a:cubicBezTo>
                      <a:cubicBezTo>
                        <a:pt x="406998" y="572966"/>
                        <a:pt x="387620" y="554359"/>
                        <a:pt x="387620" y="537183"/>
                      </a:cubicBezTo>
                      <a:cubicBezTo>
                        <a:pt x="387620" y="526448"/>
                        <a:pt x="390491" y="517860"/>
                        <a:pt x="397668" y="510704"/>
                      </a:cubicBezTo>
                      <a:cubicBezTo>
                        <a:pt x="404845" y="504263"/>
                        <a:pt x="414893" y="500685"/>
                        <a:pt x="427094" y="500685"/>
                      </a:cubicBezTo>
                      <a:cubicBezTo>
                        <a:pt x="448626" y="500685"/>
                        <a:pt x="469440" y="507841"/>
                        <a:pt x="488818" y="521439"/>
                      </a:cubicBezTo>
                      <a:cubicBezTo>
                        <a:pt x="488818" y="521439"/>
                        <a:pt x="488818" y="521439"/>
                        <a:pt x="505326" y="474205"/>
                      </a:cubicBezTo>
                      <a:cubicBezTo>
                        <a:pt x="493125" y="463471"/>
                        <a:pt x="473746" y="457745"/>
                        <a:pt x="447190" y="455598"/>
                      </a:cubicBezTo>
                      <a:cubicBezTo>
                        <a:pt x="447190" y="455598"/>
                        <a:pt x="447190" y="455598"/>
                        <a:pt x="447908" y="419100"/>
                      </a:cubicBezTo>
                      <a:cubicBezTo>
                        <a:pt x="447908" y="419100"/>
                        <a:pt x="447908" y="419100"/>
                        <a:pt x="399103" y="419100"/>
                      </a:cubicBezTo>
                      <a:close/>
                      <a:moveTo>
                        <a:pt x="357759" y="201613"/>
                      </a:moveTo>
                      <a:cubicBezTo>
                        <a:pt x="357759" y="201613"/>
                        <a:pt x="357759" y="201613"/>
                        <a:pt x="494117" y="201613"/>
                      </a:cubicBezTo>
                      <a:cubicBezTo>
                        <a:pt x="497686" y="215881"/>
                        <a:pt x="505540" y="233003"/>
                        <a:pt x="524101" y="248699"/>
                      </a:cubicBezTo>
                      <a:cubicBezTo>
                        <a:pt x="525529" y="249412"/>
                        <a:pt x="613340" y="325034"/>
                        <a:pt x="702580" y="440608"/>
                      </a:cubicBezTo>
                      <a:cubicBezTo>
                        <a:pt x="800386" y="566169"/>
                        <a:pt x="851074" y="683170"/>
                        <a:pt x="851074" y="777341"/>
                      </a:cubicBezTo>
                      <a:cubicBezTo>
                        <a:pt x="851074" y="777341"/>
                        <a:pt x="851074" y="777341"/>
                        <a:pt x="851074" y="778054"/>
                      </a:cubicBezTo>
                      <a:cubicBezTo>
                        <a:pt x="851074" y="778767"/>
                        <a:pt x="851074" y="778767"/>
                        <a:pt x="851074" y="779481"/>
                      </a:cubicBezTo>
                      <a:cubicBezTo>
                        <a:pt x="851074" y="779481"/>
                        <a:pt x="851074" y="779481"/>
                        <a:pt x="851074" y="780194"/>
                      </a:cubicBezTo>
                      <a:cubicBezTo>
                        <a:pt x="851074" y="780908"/>
                        <a:pt x="854643" y="860097"/>
                        <a:pt x="804669" y="914317"/>
                      </a:cubicBezTo>
                      <a:cubicBezTo>
                        <a:pt x="769688" y="951414"/>
                        <a:pt x="714716" y="969963"/>
                        <a:pt x="641183" y="969963"/>
                      </a:cubicBezTo>
                      <a:cubicBezTo>
                        <a:pt x="641183" y="969963"/>
                        <a:pt x="641183" y="969963"/>
                        <a:pt x="210693" y="969963"/>
                      </a:cubicBezTo>
                      <a:cubicBezTo>
                        <a:pt x="137160" y="969963"/>
                        <a:pt x="82189" y="950701"/>
                        <a:pt x="46493" y="914317"/>
                      </a:cubicBezTo>
                      <a:cubicBezTo>
                        <a:pt x="-4195" y="859384"/>
                        <a:pt x="89" y="780908"/>
                        <a:pt x="89" y="780194"/>
                      </a:cubicBezTo>
                      <a:cubicBezTo>
                        <a:pt x="89" y="780194"/>
                        <a:pt x="89" y="780194"/>
                        <a:pt x="89" y="779481"/>
                      </a:cubicBezTo>
                      <a:cubicBezTo>
                        <a:pt x="89" y="778767"/>
                        <a:pt x="89" y="778767"/>
                        <a:pt x="89" y="778054"/>
                      </a:cubicBezTo>
                      <a:cubicBezTo>
                        <a:pt x="89" y="778054"/>
                        <a:pt x="89" y="778054"/>
                        <a:pt x="89" y="777341"/>
                      </a:cubicBezTo>
                      <a:cubicBezTo>
                        <a:pt x="89" y="683170"/>
                        <a:pt x="51491" y="566169"/>
                        <a:pt x="149297" y="440608"/>
                      </a:cubicBezTo>
                      <a:cubicBezTo>
                        <a:pt x="237822" y="325034"/>
                        <a:pt x="326347" y="249412"/>
                        <a:pt x="327775" y="248699"/>
                      </a:cubicBezTo>
                      <a:cubicBezTo>
                        <a:pt x="346337" y="233003"/>
                        <a:pt x="354190" y="215881"/>
                        <a:pt x="357759" y="201613"/>
                      </a:cubicBezTo>
                      <a:close/>
                      <a:moveTo>
                        <a:pt x="426375" y="0"/>
                      </a:moveTo>
                      <a:cubicBezTo>
                        <a:pt x="466313" y="0"/>
                        <a:pt x="504824" y="7810"/>
                        <a:pt x="541196" y="22721"/>
                      </a:cubicBezTo>
                      <a:cubicBezTo>
                        <a:pt x="558312" y="30531"/>
                        <a:pt x="576855" y="39761"/>
                        <a:pt x="591118" y="48282"/>
                      </a:cubicBezTo>
                      <a:cubicBezTo>
                        <a:pt x="574715" y="66742"/>
                        <a:pt x="551180" y="91593"/>
                        <a:pt x="526932" y="113604"/>
                      </a:cubicBezTo>
                      <a:cubicBezTo>
                        <a:pt x="520514" y="119994"/>
                        <a:pt x="500545" y="139164"/>
                        <a:pt x="494840" y="168275"/>
                      </a:cubicBezTo>
                      <a:cubicBezTo>
                        <a:pt x="494840" y="168275"/>
                        <a:pt x="494840" y="168275"/>
                        <a:pt x="357910" y="168275"/>
                      </a:cubicBezTo>
                      <a:cubicBezTo>
                        <a:pt x="352205" y="139164"/>
                        <a:pt x="332236" y="119994"/>
                        <a:pt x="325817" y="113604"/>
                      </a:cubicBezTo>
                      <a:cubicBezTo>
                        <a:pt x="301569" y="91593"/>
                        <a:pt x="277321" y="66742"/>
                        <a:pt x="260918" y="48282"/>
                      </a:cubicBezTo>
                      <a:cubicBezTo>
                        <a:pt x="275182" y="39761"/>
                        <a:pt x="294437" y="30531"/>
                        <a:pt x="311554" y="22721"/>
                      </a:cubicBezTo>
                      <a:cubicBezTo>
                        <a:pt x="347926" y="7810"/>
                        <a:pt x="386437" y="0"/>
                        <a:pt x="426375"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p>
              </p:txBody>
            </p:sp>
            <p:sp>
              <p:nvSpPr>
                <p:cNvPr id="164" name="Freeform 8"/>
                <p:cNvSpPr>
                  <a:spLocks noEditPoints="1"/>
                </p:cNvSpPr>
                <p:nvPr/>
              </p:nvSpPr>
              <p:spPr bwMode="auto">
                <a:xfrm>
                  <a:off x="5602288" y="2870200"/>
                  <a:ext cx="984250" cy="1104900"/>
                </a:xfrm>
                <a:custGeom>
                  <a:avLst/>
                  <a:gdLst>
                    <a:gd name="T0" fmla="*/ 885 w 1380"/>
                    <a:gd name="T1" fmla="*/ 381 h 1549"/>
                    <a:gd name="T2" fmla="*/ 890 w 1380"/>
                    <a:gd name="T3" fmla="*/ 326 h 1549"/>
                    <a:gd name="T4" fmla="*/ 886 w 1380"/>
                    <a:gd name="T5" fmla="*/ 52 h 1549"/>
                    <a:gd name="T6" fmla="*/ 352 w 1380"/>
                    <a:gd name="T7" fmla="*/ 165 h 1549"/>
                    <a:gd name="T8" fmla="*/ 509 w 1380"/>
                    <a:gd name="T9" fmla="*/ 359 h 1549"/>
                    <a:gd name="T10" fmla="*/ 6 w 1380"/>
                    <a:gd name="T11" fmla="*/ 1189 h 1549"/>
                    <a:gd name="T12" fmla="*/ 1286 w 1380"/>
                    <a:gd name="T13" fmla="*/ 1442 h 1549"/>
                    <a:gd name="T14" fmla="*/ 1261 w 1380"/>
                    <a:gd name="T15" fmla="*/ 1403 h 1549"/>
                    <a:gd name="T16" fmla="*/ 1247 w 1380"/>
                    <a:gd name="T17" fmla="*/ 1418 h 1549"/>
                    <a:gd name="T18" fmla="*/ 1223 w 1380"/>
                    <a:gd name="T19" fmla="*/ 1440 h 1549"/>
                    <a:gd name="T20" fmla="*/ 1196 w 1380"/>
                    <a:gd name="T21" fmla="*/ 1458 h 1549"/>
                    <a:gd name="T22" fmla="*/ 1166 w 1380"/>
                    <a:gd name="T23" fmla="*/ 1473 h 1549"/>
                    <a:gd name="T24" fmla="*/ 1134 w 1380"/>
                    <a:gd name="T25" fmla="*/ 1485 h 1549"/>
                    <a:gd name="T26" fmla="*/ 1099 w 1380"/>
                    <a:gd name="T27" fmla="*/ 1495 h 1549"/>
                    <a:gd name="T28" fmla="*/ 1062 w 1380"/>
                    <a:gd name="T29" fmla="*/ 1501 h 1549"/>
                    <a:gd name="T30" fmla="*/ 1020 w 1380"/>
                    <a:gd name="T31" fmla="*/ 1505 h 1549"/>
                    <a:gd name="T32" fmla="*/ 367 w 1380"/>
                    <a:gd name="T33" fmla="*/ 1505 h 1549"/>
                    <a:gd name="T34" fmla="*/ 327 w 1380"/>
                    <a:gd name="T35" fmla="*/ 1502 h 1549"/>
                    <a:gd name="T36" fmla="*/ 289 w 1380"/>
                    <a:gd name="T37" fmla="*/ 1496 h 1549"/>
                    <a:gd name="T38" fmla="*/ 253 w 1380"/>
                    <a:gd name="T39" fmla="*/ 1487 h 1549"/>
                    <a:gd name="T40" fmla="*/ 221 w 1380"/>
                    <a:gd name="T41" fmla="*/ 1476 h 1549"/>
                    <a:gd name="T42" fmla="*/ 191 w 1380"/>
                    <a:gd name="T43" fmla="*/ 1461 h 1549"/>
                    <a:gd name="T44" fmla="*/ 163 w 1380"/>
                    <a:gd name="T45" fmla="*/ 1443 h 1549"/>
                    <a:gd name="T46" fmla="*/ 139 w 1380"/>
                    <a:gd name="T47" fmla="*/ 1423 h 1549"/>
                    <a:gd name="T48" fmla="*/ 123 w 1380"/>
                    <a:gd name="T49" fmla="*/ 1406 h 1549"/>
                    <a:gd name="T50" fmla="*/ 50 w 1380"/>
                    <a:gd name="T51" fmla="*/ 1190 h 1549"/>
                    <a:gd name="T52" fmla="*/ 52 w 1380"/>
                    <a:gd name="T53" fmla="*/ 1147 h 1549"/>
                    <a:gd name="T54" fmla="*/ 340 w 1380"/>
                    <a:gd name="T55" fmla="*/ 601 h 1549"/>
                    <a:gd name="T56" fmla="*/ 530 w 1380"/>
                    <a:gd name="T57" fmla="*/ 409 h 1549"/>
                    <a:gd name="T58" fmla="*/ 540 w 1380"/>
                    <a:gd name="T59" fmla="*/ 398 h 1549"/>
                    <a:gd name="T60" fmla="*/ 547 w 1380"/>
                    <a:gd name="T61" fmla="*/ 385 h 1549"/>
                    <a:gd name="T62" fmla="*/ 551 w 1380"/>
                    <a:gd name="T63" fmla="*/ 373 h 1549"/>
                    <a:gd name="T64" fmla="*/ 553 w 1380"/>
                    <a:gd name="T65" fmla="*/ 360 h 1549"/>
                    <a:gd name="T66" fmla="*/ 521 w 1380"/>
                    <a:gd name="T67" fmla="*/ 294 h 1549"/>
                    <a:gd name="T68" fmla="*/ 519 w 1380"/>
                    <a:gd name="T69" fmla="*/ 293 h 1549"/>
                    <a:gd name="T70" fmla="*/ 503 w 1380"/>
                    <a:gd name="T71" fmla="*/ 277 h 1549"/>
                    <a:gd name="T72" fmla="*/ 482 w 1380"/>
                    <a:gd name="T73" fmla="*/ 256 h 1549"/>
                    <a:gd name="T74" fmla="*/ 409 w 1380"/>
                    <a:gd name="T75" fmla="*/ 178 h 1549"/>
                    <a:gd name="T76" fmla="*/ 447 w 1380"/>
                    <a:gd name="T77" fmla="*/ 125 h 1549"/>
                    <a:gd name="T78" fmla="*/ 527 w 1380"/>
                    <a:gd name="T79" fmla="*/ 87 h 1549"/>
                    <a:gd name="T80" fmla="*/ 935 w 1380"/>
                    <a:gd name="T81" fmla="*/ 126 h 1549"/>
                    <a:gd name="T82" fmla="*/ 972 w 1380"/>
                    <a:gd name="T83" fmla="*/ 178 h 1549"/>
                    <a:gd name="T84" fmla="*/ 955 w 1380"/>
                    <a:gd name="T85" fmla="*/ 198 h 1549"/>
                    <a:gd name="T86" fmla="*/ 891 w 1380"/>
                    <a:gd name="T87" fmla="*/ 265 h 1549"/>
                    <a:gd name="T88" fmla="*/ 870 w 1380"/>
                    <a:gd name="T89" fmla="*/ 284 h 1549"/>
                    <a:gd name="T90" fmla="*/ 861 w 1380"/>
                    <a:gd name="T91" fmla="*/ 293 h 1549"/>
                    <a:gd name="T92" fmla="*/ 828 w 1380"/>
                    <a:gd name="T93" fmla="*/ 360 h 1549"/>
                    <a:gd name="T94" fmla="*/ 830 w 1380"/>
                    <a:gd name="T95" fmla="*/ 373 h 1549"/>
                    <a:gd name="T96" fmla="*/ 834 w 1380"/>
                    <a:gd name="T97" fmla="*/ 385 h 1549"/>
                    <a:gd name="T98" fmla="*/ 841 w 1380"/>
                    <a:gd name="T99" fmla="*/ 398 h 1549"/>
                    <a:gd name="T100" fmla="*/ 851 w 1380"/>
                    <a:gd name="T101" fmla="*/ 409 h 1549"/>
                    <a:gd name="T102" fmla="*/ 1046 w 1380"/>
                    <a:gd name="T103" fmla="*/ 607 h 1549"/>
                    <a:gd name="T104" fmla="*/ 1330 w 1380"/>
                    <a:gd name="T105" fmla="*/ 1167 h 1549"/>
                    <a:gd name="T106" fmla="*/ 1331 w 1380"/>
                    <a:gd name="T107" fmla="*/ 1192 h 1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0" h="1549">
                      <a:moveTo>
                        <a:pt x="1375" y="1190"/>
                      </a:moveTo>
                      <a:cubicBezTo>
                        <a:pt x="1375" y="1189"/>
                        <a:pt x="1375" y="1189"/>
                        <a:pt x="1375" y="1189"/>
                      </a:cubicBezTo>
                      <a:cubicBezTo>
                        <a:pt x="1375" y="1036"/>
                        <a:pt x="1298" y="859"/>
                        <a:pt x="1148" y="663"/>
                      </a:cubicBezTo>
                      <a:cubicBezTo>
                        <a:pt x="1037" y="519"/>
                        <a:pt x="918" y="408"/>
                        <a:pt x="885" y="381"/>
                      </a:cubicBezTo>
                      <a:cubicBezTo>
                        <a:pt x="873" y="371"/>
                        <a:pt x="872" y="363"/>
                        <a:pt x="872" y="360"/>
                      </a:cubicBezTo>
                      <a:cubicBezTo>
                        <a:pt x="872" y="360"/>
                        <a:pt x="872" y="360"/>
                        <a:pt x="872" y="360"/>
                      </a:cubicBezTo>
                      <a:cubicBezTo>
                        <a:pt x="872" y="360"/>
                        <a:pt x="872" y="360"/>
                        <a:pt x="872" y="359"/>
                      </a:cubicBezTo>
                      <a:cubicBezTo>
                        <a:pt x="872" y="346"/>
                        <a:pt x="885" y="330"/>
                        <a:pt x="890" y="326"/>
                      </a:cubicBezTo>
                      <a:cubicBezTo>
                        <a:pt x="891" y="326"/>
                        <a:pt x="891" y="326"/>
                        <a:pt x="891" y="326"/>
                      </a:cubicBezTo>
                      <a:cubicBezTo>
                        <a:pt x="940" y="280"/>
                        <a:pt x="1024" y="197"/>
                        <a:pt x="1029" y="165"/>
                      </a:cubicBezTo>
                      <a:cubicBezTo>
                        <a:pt x="1033" y="141"/>
                        <a:pt x="1012" y="118"/>
                        <a:pt x="955" y="87"/>
                      </a:cubicBezTo>
                      <a:cubicBezTo>
                        <a:pt x="921" y="68"/>
                        <a:pt x="887" y="53"/>
                        <a:pt x="886" y="52"/>
                      </a:cubicBezTo>
                      <a:cubicBezTo>
                        <a:pt x="885" y="52"/>
                        <a:pt x="885" y="52"/>
                        <a:pt x="885" y="52"/>
                      </a:cubicBezTo>
                      <a:cubicBezTo>
                        <a:pt x="761" y="0"/>
                        <a:pt x="619" y="0"/>
                        <a:pt x="495" y="52"/>
                      </a:cubicBezTo>
                      <a:cubicBezTo>
                        <a:pt x="494" y="53"/>
                        <a:pt x="460" y="68"/>
                        <a:pt x="426" y="87"/>
                      </a:cubicBezTo>
                      <a:cubicBezTo>
                        <a:pt x="369" y="118"/>
                        <a:pt x="348" y="141"/>
                        <a:pt x="352" y="165"/>
                      </a:cubicBezTo>
                      <a:cubicBezTo>
                        <a:pt x="357" y="197"/>
                        <a:pt x="441" y="280"/>
                        <a:pt x="490" y="326"/>
                      </a:cubicBezTo>
                      <a:cubicBezTo>
                        <a:pt x="491" y="326"/>
                        <a:pt x="491" y="326"/>
                        <a:pt x="491" y="326"/>
                      </a:cubicBezTo>
                      <a:cubicBezTo>
                        <a:pt x="495" y="330"/>
                        <a:pt x="509" y="345"/>
                        <a:pt x="509" y="359"/>
                      </a:cubicBezTo>
                      <a:cubicBezTo>
                        <a:pt x="509" y="359"/>
                        <a:pt x="509" y="359"/>
                        <a:pt x="509" y="359"/>
                      </a:cubicBezTo>
                      <a:cubicBezTo>
                        <a:pt x="509" y="360"/>
                        <a:pt x="509" y="360"/>
                        <a:pt x="509" y="360"/>
                      </a:cubicBezTo>
                      <a:cubicBezTo>
                        <a:pt x="509" y="363"/>
                        <a:pt x="508" y="371"/>
                        <a:pt x="496" y="381"/>
                      </a:cubicBezTo>
                      <a:cubicBezTo>
                        <a:pt x="463" y="408"/>
                        <a:pt x="344" y="519"/>
                        <a:pt x="233" y="663"/>
                      </a:cubicBezTo>
                      <a:cubicBezTo>
                        <a:pt x="83" y="859"/>
                        <a:pt x="6" y="1036"/>
                        <a:pt x="6" y="1189"/>
                      </a:cubicBezTo>
                      <a:cubicBezTo>
                        <a:pt x="5" y="1202"/>
                        <a:pt x="0" y="1339"/>
                        <a:pt x="95" y="1442"/>
                      </a:cubicBezTo>
                      <a:cubicBezTo>
                        <a:pt x="162" y="1513"/>
                        <a:pt x="260" y="1549"/>
                        <a:pt x="389" y="1549"/>
                      </a:cubicBezTo>
                      <a:cubicBezTo>
                        <a:pt x="992" y="1549"/>
                        <a:pt x="992" y="1549"/>
                        <a:pt x="992" y="1549"/>
                      </a:cubicBezTo>
                      <a:cubicBezTo>
                        <a:pt x="1121" y="1549"/>
                        <a:pt x="1219" y="1513"/>
                        <a:pt x="1286" y="1442"/>
                      </a:cubicBezTo>
                      <a:cubicBezTo>
                        <a:pt x="1380" y="1341"/>
                        <a:pt x="1376" y="1206"/>
                        <a:pt x="1375" y="1190"/>
                      </a:cubicBezTo>
                      <a:close/>
                      <a:moveTo>
                        <a:pt x="1268" y="1395"/>
                      </a:moveTo>
                      <a:cubicBezTo>
                        <a:pt x="1267" y="1396"/>
                        <a:pt x="1267" y="1396"/>
                        <a:pt x="1266" y="1397"/>
                      </a:cubicBezTo>
                      <a:cubicBezTo>
                        <a:pt x="1264" y="1399"/>
                        <a:pt x="1263" y="1401"/>
                        <a:pt x="1261" y="1403"/>
                      </a:cubicBezTo>
                      <a:cubicBezTo>
                        <a:pt x="1260" y="1405"/>
                        <a:pt x="1258" y="1406"/>
                        <a:pt x="1257" y="1408"/>
                      </a:cubicBezTo>
                      <a:cubicBezTo>
                        <a:pt x="1256" y="1409"/>
                        <a:pt x="1255" y="1411"/>
                        <a:pt x="1253" y="1412"/>
                      </a:cubicBezTo>
                      <a:cubicBezTo>
                        <a:pt x="1253" y="1412"/>
                        <a:pt x="1253" y="1412"/>
                        <a:pt x="1253" y="1412"/>
                      </a:cubicBezTo>
                      <a:cubicBezTo>
                        <a:pt x="1251" y="1414"/>
                        <a:pt x="1249" y="1416"/>
                        <a:pt x="1247" y="1418"/>
                      </a:cubicBezTo>
                      <a:cubicBezTo>
                        <a:pt x="1245" y="1420"/>
                        <a:pt x="1244" y="1422"/>
                        <a:pt x="1242" y="1423"/>
                      </a:cubicBezTo>
                      <a:cubicBezTo>
                        <a:pt x="1240" y="1425"/>
                        <a:pt x="1237" y="1427"/>
                        <a:pt x="1235" y="1429"/>
                      </a:cubicBezTo>
                      <a:cubicBezTo>
                        <a:pt x="1233" y="1431"/>
                        <a:pt x="1232" y="1432"/>
                        <a:pt x="1230" y="1434"/>
                      </a:cubicBezTo>
                      <a:cubicBezTo>
                        <a:pt x="1228" y="1436"/>
                        <a:pt x="1225" y="1438"/>
                        <a:pt x="1223" y="1440"/>
                      </a:cubicBezTo>
                      <a:cubicBezTo>
                        <a:pt x="1221" y="1441"/>
                        <a:pt x="1219" y="1442"/>
                        <a:pt x="1218" y="1444"/>
                      </a:cubicBezTo>
                      <a:cubicBezTo>
                        <a:pt x="1215" y="1445"/>
                        <a:pt x="1212" y="1447"/>
                        <a:pt x="1210" y="1449"/>
                      </a:cubicBezTo>
                      <a:cubicBezTo>
                        <a:pt x="1208" y="1450"/>
                        <a:pt x="1206" y="1452"/>
                        <a:pt x="1204" y="1453"/>
                      </a:cubicBezTo>
                      <a:cubicBezTo>
                        <a:pt x="1201" y="1454"/>
                        <a:pt x="1199" y="1456"/>
                        <a:pt x="1196" y="1458"/>
                      </a:cubicBezTo>
                      <a:cubicBezTo>
                        <a:pt x="1194" y="1459"/>
                        <a:pt x="1192" y="1460"/>
                        <a:pt x="1190" y="1461"/>
                      </a:cubicBezTo>
                      <a:cubicBezTo>
                        <a:pt x="1187" y="1463"/>
                        <a:pt x="1184" y="1464"/>
                        <a:pt x="1181" y="1466"/>
                      </a:cubicBezTo>
                      <a:cubicBezTo>
                        <a:pt x="1179" y="1467"/>
                        <a:pt x="1178" y="1468"/>
                        <a:pt x="1176" y="1469"/>
                      </a:cubicBezTo>
                      <a:cubicBezTo>
                        <a:pt x="1173" y="1470"/>
                        <a:pt x="1169" y="1472"/>
                        <a:pt x="1166" y="1473"/>
                      </a:cubicBezTo>
                      <a:cubicBezTo>
                        <a:pt x="1164" y="1474"/>
                        <a:pt x="1162" y="1475"/>
                        <a:pt x="1160" y="1476"/>
                      </a:cubicBezTo>
                      <a:cubicBezTo>
                        <a:pt x="1157" y="1477"/>
                        <a:pt x="1154" y="1478"/>
                        <a:pt x="1151" y="1479"/>
                      </a:cubicBezTo>
                      <a:cubicBezTo>
                        <a:pt x="1148" y="1480"/>
                        <a:pt x="1146" y="1481"/>
                        <a:pt x="1144" y="1482"/>
                      </a:cubicBezTo>
                      <a:cubicBezTo>
                        <a:pt x="1141" y="1483"/>
                        <a:pt x="1137" y="1484"/>
                        <a:pt x="1134" y="1485"/>
                      </a:cubicBezTo>
                      <a:cubicBezTo>
                        <a:pt x="1132" y="1486"/>
                        <a:pt x="1130" y="1487"/>
                        <a:pt x="1128" y="1487"/>
                      </a:cubicBezTo>
                      <a:cubicBezTo>
                        <a:pt x="1124" y="1488"/>
                        <a:pt x="1120" y="1489"/>
                        <a:pt x="1117" y="1490"/>
                      </a:cubicBezTo>
                      <a:cubicBezTo>
                        <a:pt x="1115" y="1491"/>
                        <a:pt x="1113" y="1492"/>
                        <a:pt x="1110" y="1492"/>
                      </a:cubicBezTo>
                      <a:cubicBezTo>
                        <a:pt x="1107" y="1493"/>
                        <a:pt x="1103" y="1494"/>
                        <a:pt x="1099" y="1495"/>
                      </a:cubicBezTo>
                      <a:cubicBezTo>
                        <a:pt x="1097" y="1495"/>
                        <a:pt x="1095" y="1496"/>
                        <a:pt x="1092" y="1496"/>
                      </a:cubicBezTo>
                      <a:cubicBezTo>
                        <a:pt x="1089" y="1497"/>
                        <a:pt x="1085" y="1497"/>
                        <a:pt x="1081" y="1498"/>
                      </a:cubicBezTo>
                      <a:cubicBezTo>
                        <a:pt x="1078" y="1499"/>
                        <a:pt x="1076" y="1499"/>
                        <a:pt x="1074" y="1499"/>
                      </a:cubicBezTo>
                      <a:cubicBezTo>
                        <a:pt x="1070" y="1500"/>
                        <a:pt x="1066" y="1500"/>
                        <a:pt x="1062" y="1501"/>
                      </a:cubicBezTo>
                      <a:cubicBezTo>
                        <a:pt x="1059" y="1501"/>
                        <a:pt x="1057" y="1502"/>
                        <a:pt x="1054" y="1502"/>
                      </a:cubicBezTo>
                      <a:cubicBezTo>
                        <a:pt x="1050" y="1502"/>
                        <a:pt x="1046" y="1503"/>
                        <a:pt x="1042" y="1503"/>
                      </a:cubicBezTo>
                      <a:cubicBezTo>
                        <a:pt x="1039" y="1503"/>
                        <a:pt x="1037" y="1504"/>
                        <a:pt x="1034" y="1504"/>
                      </a:cubicBezTo>
                      <a:cubicBezTo>
                        <a:pt x="1030" y="1504"/>
                        <a:pt x="1025" y="1504"/>
                        <a:pt x="1020" y="1505"/>
                      </a:cubicBezTo>
                      <a:cubicBezTo>
                        <a:pt x="1018" y="1505"/>
                        <a:pt x="1016" y="1505"/>
                        <a:pt x="1014" y="1505"/>
                      </a:cubicBezTo>
                      <a:cubicBezTo>
                        <a:pt x="1007" y="1505"/>
                        <a:pt x="1000" y="1505"/>
                        <a:pt x="992" y="1505"/>
                      </a:cubicBezTo>
                      <a:cubicBezTo>
                        <a:pt x="389" y="1505"/>
                        <a:pt x="389" y="1505"/>
                        <a:pt x="389" y="1505"/>
                      </a:cubicBezTo>
                      <a:cubicBezTo>
                        <a:pt x="381" y="1505"/>
                        <a:pt x="374" y="1505"/>
                        <a:pt x="367" y="1505"/>
                      </a:cubicBezTo>
                      <a:cubicBezTo>
                        <a:pt x="364" y="1505"/>
                        <a:pt x="362" y="1505"/>
                        <a:pt x="359" y="1504"/>
                      </a:cubicBezTo>
                      <a:cubicBezTo>
                        <a:pt x="355" y="1504"/>
                        <a:pt x="351" y="1504"/>
                        <a:pt x="347" y="1504"/>
                      </a:cubicBezTo>
                      <a:cubicBezTo>
                        <a:pt x="343" y="1504"/>
                        <a:pt x="340" y="1503"/>
                        <a:pt x="337" y="1503"/>
                      </a:cubicBezTo>
                      <a:cubicBezTo>
                        <a:pt x="333" y="1503"/>
                        <a:pt x="330" y="1502"/>
                        <a:pt x="327" y="1502"/>
                      </a:cubicBezTo>
                      <a:cubicBezTo>
                        <a:pt x="323" y="1502"/>
                        <a:pt x="320" y="1501"/>
                        <a:pt x="316" y="1501"/>
                      </a:cubicBezTo>
                      <a:cubicBezTo>
                        <a:pt x="313" y="1500"/>
                        <a:pt x="310" y="1500"/>
                        <a:pt x="307" y="1499"/>
                      </a:cubicBezTo>
                      <a:cubicBezTo>
                        <a:pt x="304" y="1499"/>
                        <a:pt x="300" y="1498"/>
                        <a:pt x="297" y="1498"/>
                      </a:cubicBezTo>
                      <a:cubicBezTo>
                        <a:pt x="294" y="1497"/>
                        <a:pt x="291" y="1497"/>
                        <a:pt x="289" y="1496"/>
                      </a:cubicBezTo>
                      <a:cubicBezTo>
                        <a:pt x="285" y="1495"/>
                        <a:pt x="282" y="1495"/>
                        <a:pt x="278" y="1494"/>
                      </a:cubicBezTo>
                      <a:cubicBezTo>
                        <a:pt x="276" y="1493"/>
                        <a:pt x="273" y="1493"/>
                        <a:pt x="271" y="1492"/>
                      </a:cubicBezTo>
                      <a:cubicBezTo>
                        <a:pt x="267" y="1491"/>
                        <a:pt x="264" y="1490"/>
                        <a:pt x="260" y="1489"/>
                      </a:cubicBezTo>
                      <a:cubicBezTo>
                        <a:pt x="258" y="1489"/>
                        <a:pt x="256" y="1488"/>
                        <a:pt x="253" y="1487"/>
                      </a:cubicBezTo>
                      <a:cubicBezTo>
                        <a:pt x="250" y="1486"/>
                        <a:pt x="247" y="1485"/>
                        <a:pt x="243" y="1484"/>
                      </a:cubicBezTo>
                      <a:cubicBezTo>
                        <a:pt x="241" y="1483"/>
                        <a:pt x="239" y="1483"/>
                        <a:pt x="237" y="1482"/>
                      </a:cubicBezTo>
                      <a:cubicBezTo>
                        <a:pt x="233" y="1481"/>
                        <a:pt x="230" y="1479"/>
                        <a:pt x="227" y="1478"/>
                      </a:cubicBezTo>
                      <a:cubicBezTo>
                        <a:pt x="225" y="1477"/>
                        <a:pt x="223" y="1476"/>
                        <a:pt x="221" y="1476"/>
                      </a:cubicBezTo>
                      <a:cubicBezTo>
                        <a:pt x="217" y="1474"/>
                        <a:pt x="215" y="1473"/>
                        <a:pt x="212" y="1472"/>
                      </a:cubicBezTo>
                      <a:cubicBezTo>
                        <a:pt x="209" y="1471"/>
                        <a:pt x="207" y="1470"/>
                        <a:pt x="205" y="1469"/>
                      </a:cubicBezTo>
                      <a:cubicBezTo>
                        <a:pt x="202" y="1467"/>
                        <a:pt x="200" y="1466"/>
                        <a:pt x="197" y="1464"/>
                      </a:cubicBezTo>
                      <a:cubicBezTo>
                        <a:pt x="195" y="1463"/>
                        <a:pt x="193" y="1462"/>
                        <a:pt x="191" y="1461"/>
                      </a:cubicBezTo>
                      <a:cubicBezTo>
                        <a:pt x="188" y="1459"/>
                        <a:pt x="185" y="1458"/>
                        <a:pt x="183" y="1456"/>
                      </a:cubicBezTo>
                      <a:cubicBezTo>
                        <a:pt x="181" y="1455"/>
                        <a:pt x="179" y="1454"/>
                        <a:pt x="177" y="1453"/>
                      </a:cubicBezTo>
                      <a:cubicBezTo>
                        <a:pt x="174" y="1451"/>
                        <a:pt x="172" y="1449"/>
                        <a:pt x="169" y="1447"/>
                      </a:cubicBezTo>
                      <a:cubicBezTo>
                        <a:pt x="167" y="1446"/>
                        <a:pt x="165" y="1445"/>
                        <a:pt x="163" y="1443"/>
                      </a:cubicBezTo>
                      <a:cubicBezTo>
                        <a:pt x="161" y="1442"/>
                        <a:pt x="159" y="1440"/>
                        <a:pt x="156" y="1438"/>
                      </a:cubicBezTo>
                      <a:cubicBezTo>
                        <a:pt x="154" y="1437"/>
                        <a:pt x="152" y="1435"/>
                        <a:pt x="151" y="1434"/>
                      </a:cubicBezTo>
                      <a:cubicBezTo>
                        <a:pt x="148" y="1432"/>
                        <a:pt x="146" y="1430"/>
                        <a:pt x="144" y="1428"/>
                      </a:cubicBezTo>
                      <a:cubicBezTo>
                        <a:pt x="142" y="1426"/>
                        <a:pt x="140" y="1425"/>
                        <a:pt x="139" y="1423"/>
                      </a:cubicBezTo>
                      <a:cubicBezTo>
                        <a:pt x="137" y="1421"/>
                        <a:pt x="135" y="1419"/>
                        <a:pt x="133" y="1417"/>
                      </a:cubicBezTo>
                      <a:cubicBezTo>
                        <a:pt x="131" y="1415"/>
                        <a:pt x="129" y="1414"/>
                        <a:pt x="128" y="1412"/>
                      </a:cubicBezTo>
                      <a:cubicBezTo>
                        <a:pt x="127" y="1412"/>
                        <a:pt x="127" y="1412"/>
                        <a:pt x="127" y="1412"/>
                      </a:cubicBezTo>
                      <a:cubicBezTo>
                        <a:pt x="126" y="1410"/>
                        <a:pt x="124" y="1408"/>
                        <a:pt x="123" y="1406"/>
                      </a:cubicBezTo>
                      <a:cubicBezTo>
                        <a:pt x="122" y="1405"/>
                        <a:pt x="121" y="1404"/>
                        <a:pt x="120" y="1403"/>
                      </a:cubicBezTo>
                      <a:cubicBezTo>
                        <a:pt x="45" y="1316"/>
                        <a:pt x="49" y="1200"/>
                        <a:pt x="50" y="1192"/>
                      </a:cubicBezTo>
                      <a:cubicBezTo>
                        <a:pt x="50" y="1191"/>
                        <a:pt x="50" y="1191"/>
                        <a:pt x="50" y="1191"/>
                      </a:cubicBezTo>
                      <a:cubicBezTo>
                        <a:pt x="50" y="1190"/>
                        <a:pt x="50" y="1190"/>
                        <a:pt x="50" y="1190"/>
                      </a:cubicBezTo>
                      <a:cubicBezTo>
                        <a:pt x="50" y="1185"/>
                        <a:pt x="50" y="1180"/>
                        <a:pt x="50" y="1175"/>
                      </a:cubicBezTo>
                      <a:cubicBezTo>
                        <a:pt x="50" y="1172"/>
                        <a:pt x="50" y="1169"/>
                        <a:pt x="51" y="1167"/>
                      </a:cubicBezTo>
                      <a:cubicBezTo>
                        <a:pt x="51" y="1165"/>
                        <a:pt x="51" y="1163"/>
                        <a:pt x="51" y="1161"/>
                      </a:cubicBezTo>
                      <a:cubicBezTo>
                        <a:pt x="51" y="1156"/>
                        <a:pt x="52" y="1152"/>
                        <a:pt x="52" y="1147"/>
                      </a:cubicBezTo>
                      <a:cubicBezTo>
                        <a:pt x="53" y="1142"/>
                        <a:pt x="53" y="1138"/>
                        <a:pt x="54" y="1133"/>
                      </a:cubicBezTo>
                      <a:cubicBezTo>
                        <a:pt x="78" y="942"/>
                        <a:pt x="216" y="744"/>
                        <a:pt x="337" y="605"/>
                      </a:cubicBezTo>
                      <a:cubicBezTo>
                        <a:pt x="338" y="604"/>
                        <a:pt x="339" y="603"/>
                        <a:pt x="340" y="602"/>
                      </a:cubicBezTo>
                      <a:cubicBezTo>
                        <a:pt x="340" y="601"/>
                        <a:pt x="340" y="601"/>
                        <a:pt x="340" y="601"/>
                      </a:cubicBezTo>
                      <a:cubicBezTo>
                        <a:pt x="437" y="490"/>
                        <a:pt x="522" y="417"/>
                        <a:pt x="524" y="415"/>
                      </a:cubicBezTo>
                      <a:cubicBezTo>
                        <a:pt x="524" y="414"/>
                        <a:pt x="524" y="414"/>
                        <a:pt x="524" y="414"/>
                      </a:cubicBezTo>
                      <a:cubicBezTo>
                        <a:pt x="524" y="414"/>
                        <a:pt x="524" y="414"/>
                        <a:pt x="524" y="414"/>
                      </a:cubicBezTo>
                      <a:cubicBezTo>
                        <a:pt x="526" y="413"/>
                        <a:pt x="528" y="411"/>
                        <a:pt x="530" y="409"/>
                      </a:cubicBezTo>
                      <a:cubicBezTo>
                        <a:pt x="531" y="409"/>
                        <a:pt x="531" y="408"/>
                        <a:pt x="532" y="408"/>
                      </a:cubicBezTo>
                      <a:cubicBezTo>
                        <a:pt x="533" y="406"/>
                        <a:pt x="535" y="405"/>
                        <a:pt x="536" y="403"/>
                      </a:cubicBezTo>
                      <a:cubicBezTo>
                        <a:pt x="537" y="402"/>
                        <a:pt x="537" y="401"/>
                        <a:pt x="538" y="401"/>
                      </a:cubicBezTo>
                      <a:cubicBezTo>
                        <a:pt x="539" y="400"/>
                        <a:pt x="539" y="399"/>
                        <a:pt x="540" y="398"/>
                      </a:cubicBezTo>
                      <a:cubicBezTo>
                        <a:pt x="541" y="396"/>
                        <a:pt x="542" y="395"/>
                        <a:pt x="543" y="393"/>
                      </a:cubicBezTo>
                      <a:cubicBezTo>
                        <a:pt x="544" y="392"/>
                        <a:pt x="544" y="392"/>
                        <a:pt x="544" y="392"/>
                      </a:cubicBezTo>
                      <a:cubicBezTo>
                        <a:pt x="545" y="390"/>
                        <a:pt x="546" y="388"/>
                        <a:pt x="547" y="386"/>
                      </a:cubicBezTo>
                      <a:cubicBezTo>
                        <a:pt x="547" y="385"/>
                        <a:pt x="547" y="385"/>
                        <a:pt x="547" y="385"/>
                      </a:cubicBezTo>
                      <a:cubicBezTo>
                        <a:pt x="548" y="384"/>
                        <a:pt x="548" y="383"/>
                        <a:pt x="549" y="382"/>
                      </a:cubicBezTo>
                      <a:cubicBezTo>
                        <a:pt x="549" y="381"/>
                        <a:pt x="549" y="380"/>
                        <a:pt x="550" y="379"/>
                      </a:cubicBezTo>
                      <a:cubicBezTo>
                        <a:pt x="550" y="379"/>
                        <a:pt x="550" y="378"/>
                        <a:pt x="550" y="377"/>
                      </a:cubicBezTo>
                      <a:cubicBezTo>
                        <a:pt x="551" y="376"/>
                        <a:pt x="551" y="375"/>
                        <a:pt x="551" y="373"/>
                      </a:cubicBezTo>
                      <a:cubicBezTo>
                        <a:pt x="552" y="371"/>
                        <a:pt x="552" y="370"/>
                        <a:pt x="552" y="368"/>
                      </a:cubicBezTo>
                      <a:cubicBezTo>
                        <a:pt x="552" y="367"/>
                        <a:pt x="552" y="367"/>
                        <a:pt x="552" y="367"/>
                      </a:cubicBezTo>
                      <a:cubicBezTo>
                        <a:pt x="553" y="364"/>
                        <a:pt x="553" y="362"/>
                        <a:pt x="553" y="360"/>
                      </a:cubicBezTo>
                      <a:cubicBezTo>
                        <a:pt x="553" y="360"/>
                        <a:pt x="553" y="360"/>
                        <a:pt x="553" y="360"/>
                      </a:cubicBezTo>
                      <a:cubicBezTo>
                        <a:pt x="553" y="358"/>
                        <a:pt x="553" y="355"/>
                        <a:pt x="553" y="353"/>
                      </a:cubicBezTo>
                      <a:cubicBezTo>
                        <a:pt x="553" y="353"/>
                        <a:pt x="553" y="353"/>
                        <a:pt x="553" y="353"/>
                      </a:cubicBezTo>
                      <a:cubicBezTo>
                        <a:pt x="552" y="348"/>
                        <a:pt x="551" y="343"/>
                        <a:pt x="549" y="338"/>
                      </a:cubicBezTo>
                      <a:cubicBezTo>
                        <a:pt x="542" y="316"/>
                        <a:pt x="527" y="299"/>
                        <a:pt x="521" y="294"/>
                      </a:cubicBezTo>
                      <a:cubicBezTo>
                        <a:pt x="521" y="294"/>
                        <a:pt x="521" y="294"/>
                        <a:pt x="521" y="294"/>
                      </a:cubicBezTo>
                      <a:cubicBezTo>
                        <a:pt x="521" y="294"/>
                        <a:pt x="520" y="294"/>
                        <a:pt x="520" y="293"/>
                      </a:cubicBezTo>
                      <a:cubicBezTo>
                        <a:pt x="520" y="293"/>
                        <a:pt x="520" y="293"/>
                        <a:pt x="520" y="293"/>
                      </a:cubicBezTo>
                      <a:cubicBezTo>
                        <a:pt x="519" y="293"/>
                        <a:pt x="519" y="293"/>
                        <a:pt x="519" y="293"/>
                      </a:cubicBezTo>
                      <a:cubicBezTo>
                        <a:pt x="517" y="290"/>
                        <a:pt x="514" y="288"/>
                        <a:pt x="512" y="286"/>
                      </a:cubicBezTo>
                      <a:cubicBezTo>
                        <a:pt x="512" y="285"/>
                        <a:pt x="511" y="285"/>
                        <a:pt x="511" y="285"/>
                      </a:cubicBezTo>
                      <a:cubicBezTo>
                        <a:pt x="508" y="282"/>
                        <a:pt x="506" y="280"/>
                        <a:pt x="503" y="277"/>
                      </a:cubicBezTo>
                      <a:cubicBezTo>
                        <a:pt x="503" y="277"/>
                        <a:pt x="503" y="277"/>
                        <a:pt x="503" y="277"/>
                      </a:cubicBezTo>
                      <a:cubicBezTo>
                        <a:pt x="500" y="275"/>
                        <a:pt x="498" y="272"/>
                        <a:pt x="495" y="270"/>
                      </a:cubicBezTo>
                      <a:cubicBezTo>
                        <a:pt x="494" y="268"/>
                        <a:pt x="492" y="267"/>
                        <a:pt x="490" y="265"/>
                      </a:cubicBezTo>
                      <a:cubicBezTo>
                        <a:pt x="490" y="264"/>
                        <a:pt x="489" y="263"/>
                        <a:pt x="488" y="262"/>
                      </a:cubicBezTo>
                      <a:cubicBezTo>
                        <a:pt x="486" y="260"/>
                        <a:pt x="484" y="258"/>
                        <a:pt x="482" y="256"/>
                      </a:cubicBezTo>
                      <a:cubicBezTo>
                        <a:pt x="481" y="256"/>
                        <a:pt x="481" y="256"/>
                        <a:pt x="481" y="256"/>
                      </a:cubicBezTo>
                      <a:cubicBezTo>
                        <a:pt x="454" y="229"/>
                        <a:pt x="429" y="203"/>
                        <a:pt x="413" y="183"/>
                      </a:cubicBezTo>
                      <a:cubicBezTo>
                        <a:pt x="412" y="182"/>
                        <a:pt x="412" y="182"/>
                        <a:pt x="412" y="182"/>
                      </a:cubicBezTo>
                      <a:cubicBezTo>
                        <a:pt x="411" y="181"/>
                        <a:pt x="410" y="179"/>
                        <a:pt x="409" y="178"/>
                      </a:cubicBezTo>
                      <a:cubicBezTo>
                        <a:pt x="409" y="178"/>
                        <a:pt x="409" y="178"/>
                        <a:pt x="409" y="178"/>
                      </a:cubicBezTo>
                      <a:cubicBezTo>
                        <a:pt x="403" y="171"/>
                        <a:pt x="399" y="165"/>
                        <a:pt x="396" y="160"/>
                      </a:cubicBezTo>
                      <a:cubicBezTo>
                        <a:pt x="399" y="157"/>
                        <a:pt x="405" y="152"/>
                        <a:pt x="412" y="147"/>
                      </a:cubicBezTo>
                      <a:cubicBezTo>
                        <a:pt x="421" y="140"/>
                        <a:pt x="433" y="133"/>
                        <a:pt x="447" y="125"/>
                      </a:cubicBezTo>
                      <a:cubicBezTo>
                        <a:pt x="448" y="125"/>
                        <a:pt x="448" y="125"/>
                        <a:pt x="448" y="125"/>
                      </a:cubicBezTo>
                      <a:cubicBezTo>
                        <a:pt x="449" y="124"/>
                        <a:pt x="450" y="124"/>
                        <a:pt x="451" y="123"/>
                      </a:cubicBezTo>
                      <a:cubicBezTo>
                        <a:pt x="470" y="113"/>
                        <a:pt x="491" y="102"/>
                        <a:pt x="513" y="93"/>
                      </a:cubicBezTo>
                      <a:cubicBezTo>
                        <a:pt x="517" y="91"/>
                        <a:pt x="522" y="89"/>
                        <a:pt x="527" y="87"/>
                      </a:cubicBezTo>
                      <a:cubicBezTo>
                        <a:pt x="631" y="47"/>
                        <a:pt x="750" y="47"/>
                        <a:pt x="855" y="87"/>
                      </a:cubicBezTo>
                      <a:cubicBezTo>
                        <a:pt x="859" y="89"/>
                        <a:pt x="864" y="91"/>
                        <a:pt x="868" y="93"/>
                      </a:cubicBezTo>
                      <a:cubicBezTo>
                        <a:pt x="868" y="93"/>
                        <a:pt x="868" y="93"/>
                        <a:pt x="868" y="93"/>
                      </a:cubicBezTo>
                      <a:cubicBezTo>
                        <a:pt x="892" y="103"/>
                        <a:pt x="915" y="115"/>
                        <a:pt x="935" y="126"/>
                      </a:cubicBezTo>
                      <a:cubicBezTo>
                        <a:pt x="948" y="133"/>
                        <a:pt x="960" y="140"/>
                        <a:pt x="969" y="147"/>
                      </a:cubicBezTo>
                      <a:cubicBezTo>
                        <a:pt x="976" y="152"/>
                        <a:pt x="982" y="157"/>
                        <a:pt x="985" y="160"/>
                      </a:cubicBezTo>
                      <a:cubicBezTo>
                        <a:pt x="982" y="165"/>
                        <a:pt x="978" y="171"/>
                        <a:pt x="972" y="178"/>
                      </a:cubicBezTo>
                      <a:cubicBezTo>
                        <a:pt x="972" y="178"/>
                        <a:pt x="972" y="178"/>
                        <a:pt x="972" y="178"/>
                      </a:cubicBezTo>
                      <a:cubicBezTo>
                        <a:pt x="971" y="179"/>
                        <a:pt x="970" y="180"/>
                        <a:pt x="969" y="181"/>
                      </a:cubicBezTo>
                      <a:cubicBezTo>
                        <a:pt x="969" y="182"/>
                        <a:pt x="968" y="183"/>
                        <a:pt x="967" y="184"/>
                      </a:cubicBezTo>
                      <a:cubicBezTo>
                        <a:pt x="964" y="188"/>
                        <a:pt x="960" y="193"/>
                        <a:pt x="956" y="197"/>
                      </a:cubicBezTo>
                      <a:cubicBezTo>
                        <a:pt x="956" y="197"/>
                        <a:pt x="956" y="198"/>
                        <a:pt x="955" y="198"/>
                      </a:cubicBezTo>
                      <a:cubicBezTo>
                        <a:pt x="941" y="214"/>
                        <a:pt x="921" y="234"/>
                        <a:pt x="901" y="254"/>
                      </a:cubicBezTo>
                      <a:cubicBezTo>
                        <a:pt x="901" y="255"/>
                        <a:pt x="900" y="256"/>
                        <a:pt x="900" y="256"/>
                      </a:cubicBezTo>
                      <a:cubicBezTo>
                        <a:pt x="898" y="258"/>
                        <a:pt x="896" y="259"/>
                        <a:pt x="894" y="261"/>
                      </a:cubicBezTo>
                      <a:cubicBezTo>
                        <a:pt x="893" y="262"/>
                        <a:pt x="892" y="264"/>
                        <a:pt x="891" y="265"/>
                      </a:cubicBezTo>
                      <a:cubicBezTo>
                        <a:pt x="890" y="266"/>
                        <a:pt x="888" y="267"/>
                        <a:pt x="887" y="269"/>
                      </a:cubicBezTo>
                      <a:cubicBezTo>
                        <a:pt x="884" y="271"/>
                        <a:pt x="882" y="274"/>
                        <a:pt x="879" y="276"/>
                      </a:cubicBezTo>
                      <a:cubicBezTo>
                        <a:pt x="878" y="277"/>
                        <a:pt x="878" y="277"/>
                        <a:pt x="877" y="278"/>
                      </a:cubicBezTo>
                      <a:cubicBezTo>
                        <a:pt x="875" y="280"/>
                        <a:pt x="873" y="282"/>
                        <a:pt x="870" y="284"/>
                      </a:cubicBezTo>
                      <a:cubicBezTo>
                        <a:pt x="870" y="285"/>
                        <a:pt x="869" y="286"/>
                        <a:pt x="868" y="287"/>
                      </a:cubicBezTo>
                      <a:cubicBezTo>
                        <a:pt x="866" y="288"/>
                        <a:pt x="864" y="290"/>
                        <a:pt x="862" y="292"/>
                      </a:cubicBezTo>
                      <a:cubicBezTo>
                        <a:pt x="862" y="292"/>
                        <a:pt x="862" y="293"/>
                        <a:pt x="861" y="293"/>
                      </a:cubicBezTo>
                      <a:cubicBezTo>
                        <a:pt x="861" y="293"/>
                        <a:pt x="861" y="293"/>
                        <a:pt x="861" y="293"/>
                      </a:cubicBezTo>
                      <a:cubicBezTo>
                        <a:pt x="857" y="297"/>
                        <a:pt x="839" y="314"/>
                        <a:pt x="832" y="338"/>
                      </a:cubicBezTo>
                      <a:cubicBezTo>
                        <a:pt x="830" y="343"/>
                        <a:pt x="829" y="348"/>
                        <a:pt x="828" y="353"/>
                      </a:cubicBezTo>
                      <a:cubicBezTo>
                        <a:pt x="828" y="353"/>
                        <a:pt x="828" y="353"/>
                        <a:pt x="828" y="353"/>
                      </a:cubicBezTo>
                      <a:cubicBezTo>
                        <a:pt x="828" y="355"/>
                        <a:pt x="828" y="358"/>
                        <a:pt x="828" y="360"/>
                      </a:cubicBezTo>
                      <a:cubicBezTo>
                        <a:pt x="828" y="360"/>
                        <a:pt x="828" y="360"/>
                        <a:pt x="828" y="360"/>
                      </a:cubicBezTo>
                      <a:cubicBezTo>
                        <a:pt x="828" y="362"/>
                        <a:pt x="828" y="364"/>
                        <a:pt x="829" y="367"/>
                      </a:cubicBezTo>
                      <a:cubicBezTo>
                        <a:pt x="829" y="368"/>
                        <a:pt x="829" y="368"/>
                        <a:pt x="829" y="368"/>
                      </a:cubicBezTo>
                      <a:cubicBezTo>
                        <a:pt x="829" y="370"/>
                        <a:pt x="829" y="371"/>
                        <a:pt x="830" y="373"/>
                      </a:cubicBezTo>
                      <a:cubicBezTo>
                        <a:pt x="830" y="375"/>
                        <a:pt x="830" y="376"/>
                        <a:pt x="831" y="377"/>
                      </a:cubicBezTo>
                      <a:cubicBezTo>
                        <a:pt x="831" y="378"/>
                        <a:pt x="831" y="379"/>
                        <a:pt x="831" y="379"/>
                      </a:cubicBezTo>
                      <a:cubicBezTo>
                        <a:pt x="832" y="380"/>
                        <a:pt x="832" y="381"/>
                        <a:pt x="832" y="382"/>
                      </a:cubicBezTo>
                      <a:cubicBezTo>
                        <a:pt x="833" y="383"/>
                        <a:pt x="833" y="384"/>
                        <a:pt x="834" y="385"/>
                      </a:cubicBezTo>
                      <a:cubicBezTo>
                        <a:pt x="834" y="385"/>
                        <a:pt x="834" y="385"/>
                        <a:pt x="834" y="386"/>
                      </a:cubicBezTo>
                      <a:cubicBezTo>
                        <a:pt x="835" y="388"/>
                        <a:pt x="836" y="390"/>
                        <a:pt x="837" y="392"/>
                      </a:cubicBezTo>
                      <a:cubicBezTo>
                        <a:pt x="838" y="393"/>
                        <a:pt x="838" y="393"/>
                        <a:pt x="838" y="393"/>
                      </a:cubicBezTo>
                      <a:cubicBezTo>
                        <a:pt x="839" y="395"/>
                        <a:pt x="840" y="396"/>
                        <a:pt x="841" y="398"/>
                      </a:cubicBezTo>
                      <a:cubicBezTo>
                        <a:pt x="842" y="399"/>
                        <a:pt x="842" y="400"/>
                        <a:pt x="843" y="401"/>
                      </a:cubicBezTo>
                      <a:cubicBezTo>
                        <a:pt x="844" y="401"/>
                        <a:pt x="844" y="402"/>
                        <a:pt x="845" y="403"/>
                      </a:cubicBezTo>
                      <a:cubicBezTo>
                        <a:pt x="846" y="405"/>
                        <a:pt x="848" y="406"/>
                        <a:pt x="849" y="408"/>
                      </a:cubicBezTo>
                      <a:cubicBezTo>
                        <a:pt x="850" y="408"/>
                        <a:pt x="850" y="409"/>
                        <a:pt x="851" y="409"/>
                      </a:cubicBezTo>
                      <a:cubicBezTo>
                        <a:pt x="853" y="411"/>
                        <a:pt x="854" y="413"/>
                        <a:pt x="856" y="414"/>
                      </a:cubicBezTo>
                      <a:cubicBezTo>
                        <a:pt x="857" y="414"/>
                        <a:pt x="857" y="414"/>
                        <a:pt x="857" y="414"/>
                      </a:cubicBezTo>
                      <a:cubicBezTo>
                        <a:pt x="857" y="415"/>
                        <a:pt x="857" y="415"/>
                        <a:pt x="857" y="415"/>
                      </a:cubicBezTo>
                      <a:cubicBezTo>
                        <a:pt x="863" y="420"/>
                        <a:pt x="949" y="495"/>
                        <a:pt x="1046" y="607"/>
                      </a:cubicBezTo>
                      <a:cubicBezTo>
                        <a:pt x="1166" y="747"/>
                        <a:pt x="1304" y="943"/>
                        <a:pt x="1327" y="1133"/>
                      </a:cubicBezTo>
                      <a:cubicBezTo>
                        <a:pt x="1328" y="1138"/>
                        <a:pt x="1328" y="1142"/>
                        <a:pt x="1329" y="1147"/>
                      </a:cubicBezTo>
                      <a:cubicBezTo>
                        <a:pt x="1329" y="1152"/>
                        <a:pt x="1330" y="1156"/>
                        <a:pt x="1330" y="1161"/>
                      </a:cubicBezTo>
                      <a:cubicBezTo>
                        <a:pt x="1330" y="1163"/>
                        <a:pt x="1330" y="1165"/>
                        <a:pt x="1330" y="1167"/>
                      </a:cubicBezTo>
                      <a:cubicBezTo>
                        <a:pt x="1331" y="1169"/>
                        <a:pt x="1331" y="1172"/>
                        <a:pt x="1331" y="1175"/>
                      </a:cubicBezTo>
                      <a:cubicBezTo>
                        <a:pt x="1331" y="1180"/>
                        <a:pt x="1331" y="1185"/>
                        <a:pt x="1331" y="1190"/>
                      </a:cubicBezTo>
                      <a:cubicBezTo>
                        <a:pt x="1331" y="1191"/>
                        <a:pt x="1331" y="1191"/>
                        <a:pt x="1331" y="1191"/>
                      </a:cubicBezTo>
                      <a:cubicBezTo>
                        <a:pt x="1331" y="1192"/>
                        <a:pt x="1331" y="1192"/>
                        <a:pt x="1331" y="1192"/>
                      </a:cubicBezTo>
                      <a:cubicBezTo>
                        <a:pt x="1332" y="1202"/>
                        <a:pt x="1335" y="1309"/>
                        <a:pt x="1268" y="139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
          <p:nvSpPr>
            <p:cNvPr id="182" name="TextBox 181">
              <a:extLst>
                <a:ext uri="{FF2B5EF4-FFF2-40B4-BE49-F238E27FC236}">
                  <a16:creationId xmlns:a16="http://schemas.microsoft.com/office/drawing/2014/main" id="{C9AB0C9D-0617-4EC1-BC33-9DA057275BA0}"/>
                </a:ext>
              </a:extLst>
            </p:cNvPr>
            <p:cNvSpPr txBox="1"/>
            <p:nvPr/>
          </p:nvSpPr>
          <p:spPr>
            <a:xfrm>
              <a:off x="1676400" y="2263006"/>
              <a:ext cx="1880271" cy="3508653"/>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108000" lvl="1">
                <a:buClr>
                  <a:schemeClr val="tx2"/>
                </a:buClr>
                <a:buSzPct val="100000"/>
                <a:defRPr/>
              </a:pPr>
              <a:r>
                <a:rPr lang="en-US" sz="1000">
                  <a:solidFill>
                    <a:srgbClr val="29BA74"/>
                  </a:solidFill>
                  <a:cs typeface="Arial" pitchFamily="34" charset="0"/>
                </a:rPr>
                <a:t>Demand deposit</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Regular</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interest bearing</a:t>
              </a:r>
            </a:p>
            <a:p>
              <a:pPr marL="324000" lvl="1" indent="-216000">
                <a:buClr>
                  <a:schemeClr val="tx2"/>
                </a:buClr>
                <a:buSzPct val="100000"/>
                <a:buFont typeface="Trebuchet MS" panose="020B0603020202020204" pitchFamily="34" charset="0"/>
                <a:buChar char="•"/>
                <a:defRPr/>
              </a:pPr>
              <a:endParaRPr kumimoji="0" lang="en-US" sz="1000" u="none" strike="noStrike" kern="1200" cap="none" spc="0" normalizeH="0" baseline="0" noProof="0">
                <a:ln>
                  <a:noFill/>
                </a:ln>
                <a:solidFill>
                  <a:schemeClr val="tx1"/>
                </a:solidFill>
                <a:effectLst/>
                <a:uLnTx/>
                <a:uFillTx/>
                <a:cs typeface="Arial" pitchFamily="34" charset="0"/>
              </a:endParaRPr>
            </a:p>
            <a:p>
              <a:pPr marL="108000" lvl="1">
                <a:buClr>
                  <a:schemeClr val="tx2"/>
                </a:buClr>
                <a:buSzPct val="100000"/>
                <a:defRPr/>
              </a:pPr>
              <a:r>
                <a:rPr lang="en-US" sz="1000">
                  <a:solidFill>
                    <a:srgbClr val="29BA74"/>
                  </a:solidFill>
                  <a:cs typeface="Arial" pitchFamily="34" charset="0"/>
                </a:rPr>
                <a:t>Time deposit</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Regular</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Overnight</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FX rate protected</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multi currency</a:t>
              </a:r>
            </a:p>
            <a:p>
              <a:pPr marL="324000" lvl="1" indent="-216000">
                <a:buClr>
                  <a:schemeClr val="tx2"/>
                </a:buClr>
                <a:buSzPct val="100000"/>
                <a:buFont typeface="Trebuchet MS" panose="020B0603020202020204" pitchFamily="34" charset="0"/>
                <a:buChar char="•"/>
                <a:defRPr/>
              </a:pPr>
              <a:endParaRPr lang="en-US" sz="1000">
                <a:solidFill>
                  <a:schemeClr val="tx1"/>
                </a:solidFill>
                <a:cs typeface="Arial" pitchFamily="34" charset="0"/>
              </a:endParaRPr>
            </a:p>
            <a:p>
              <a:pPr marL="108000" lvl="1">
                <a:buClr>
                  <a:schemeClr val="tx2"/>
                </a:buClr>
                <a:buSzPct val="100000"/>
                <a:defRPr/>
              </a:pPr>
              <a:r>
                <a:rPr lang="en-US" sz="1000">
                  <a:solidFill>
                    <a:srgbClr val="29BA74"/>
                  </a:solidFill>
                  <a:cs typeface="Arial" pitchFamily="34" charset="0"/>
                </a:rPr>
                <a:t>Savings account</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Regular</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Housing</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Marriage</a:t>
              </a:r>
            </a:p>
            <a:p>
              <a:pPr marL="324000" lvl="1" indent="-216000">
                <a:buClr>
                  <a:schemeClr val="tx2"/>
                </a:buClr>
                <a:buSzPct val="100000"/>
                <a:buFont typeface="Trebuchet MS" panose="020B0603020202020204" pitchFamily="34" charset="0"/>
                <a:buChar char="•"/>
                <a:defRPr/>
              </a:pPr>
              <a:endParaRPr lang="en-US" sz="1000">
                <a:solidFill>
                  <a:schemeClr val="tx1"/>
                </a:solidFill>
                <a:cs typeface="Arial" pitchFamily="34" charset="0"/>
              </a:endParaRPr>
            </a:p>
            <a:p>
              <a:pPr marL="108000" lvl="1">
                <a:buClr>
                  <a:schemeClr val="tx2"/>
                </a:buClr>
                <a:buSzPct val="100000"/>
                <a:defRPr/>
              </a:pPr>
              <a:r>
                <a:rPr lang="en-US" sz="1000">
                  <a:solidFill>
                    <a:srgbClr val="29BA74"/>
                  </a:solidFill>
                  <a:cs typeface="Arial" pitchFamily="34" charset="0"/>
                </a:rPr>
                <a:t>Precious metals deposit account</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Gold</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Silver</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Interest bearing</a:t>
              </a:r>
            </a:p>
          </p:txBody>
        </p:sp>
      </p:grpSp>
      <p:sp>
        <p:nvSpPr>
          <p:cNvPr id="185" name="TextBox 184">
            <a:extLst>
              <a:ext uri="{FF2B5EF4-FFF2-40B4-BE49-F238E27FC236}">
                <a16:creationId xmlns:a16="http://schemas.microsoft.com/office/drawing/2014/main" id="{F503CDB9-B29F-4705-8A6C-436405D3E10F}"/>
              </a:ext>
            </a:extLst>
          </p:cNvPr>
          <p:cNvSpPr txBox="1"/>
          <p:nvPr/>
        </p:nvSpPr>
        <p:spPr>
          <a:xfrm>
            <a:off x="9583474" y="2054656"/>
            <a:ext cx="1880271" cy="2308324"/>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324000" lvl="1" indent="-216000">
              <a:buClr>
                <a:schemeClr val="tx2"/>
              </a:buClr>
              <a:buSzPct val="100000"/>
              <a:buFont typeface="Trebuchet MS" panose="020B0603020202020204" pitchFamily="34" charset="0"/>
              <a:buChar char="•"/>
              <a:defRPr/>
            </a:pPr>
            <a:r>
              <a:rPr lang="en-US" sz="1000">
                <a:solidFill>
                  <a:srgbClr val="29BA74"/>
                </a:solidFill>
                <a:cs typeface="Arial" pitchFamily="34" charset="0"/>
              </a:rPr>
              <a:t>FX (Foreign exchange)</a:t>
            </a:r>
          </a:p>
          <a:p>
            <a:pPr marL="324000" lvl="1" indent="-216000">
              <a:buClr>
                <a:schemeClr val="tx2"/>
              </a:buClr>
              <a:buSzPct val="100000"/>
              <a:buFont typeface="Trebuchet MS" panose="020B0603020202020204" pitchFamily="34" charset="0"/>
              <a:buChar char="•"/>
              <a:defRPr/>
            </a:pPr>
            <a:r>
              <a:rPr lang="en-US" sz="1000">
                <a:solidFill>
                  <a:srgbClr val="29BA74"/>
                </a:solidFill>
                <a:cs typeface="Arial" pitchFamily="34" charset="0"/>
              </a:rPr>
              <a:t>Funds</a:t>
            </a:r>
          </a:p>
          <a:p>
            <a:pPr marL="324000" lvl="1" indent="-216000">
              <a:buClr>
                <a:schemeClr val="tx2"/>
              </a:buClr>
              <a:buSzPct val="100000"/>
              <a:buFont typeface="Trebuchet MS" panose="020B0603020202020204" pitchFamily="34" charset="0"/>
              <a:buChar char="•"/>
              <a:defRPr/>
            </a:pPr>
            <a:r>
              <a:rPr lang="en-US" sz="1000">
                <a:solidFill>
                  <a:srgbClr val="29BA74"/>
                </a:solidFill>
                <a:cs typeface="Arial" pitchFamily="34" charset="0"/>
              </a:rPr>
              <a:t>Treasury bonds and bills</a:t>
            </a:r>
          </a:p>
          <a:p>
            <a:pPr marL="324000" lvl="1" indent="-216000">
              <a:buClr>
                <a:schemeClr val="tx2"/>
              </a:buClr>
              <a:buSzPct val="100000"/>
              <a:buFont typeface="Trebuchet MS" panose="020B0603020202020204" pitchFamily="34" charset="0"/>
              <a:buChar char="•"/>
              <a:defRPr/>
            </a:pPr>
            <a:r>
              <a:rPr lang="en-US" sz="1000">
                <a:solidFill>
                  <a:srgbClr val="29BA74"/>
                </a:solidFill>
                <a:cs typeface="Arial" pitchFamily="34" charset="0"/>
              </a:rPr>
              <a:t>Stock market</a:t>
            </a:r>
          </a:p>
          <a:p>
            <a:pPr marL="324000" lvl="1" indent="-216000">
              <a:buClr>
                <a:schemeClr val="tx2"/>
              </a:buClr>
              <a:buSzPct val="100000"/>
              <a:buFont typeface="Trebuchet MS" panose="020B0603020202020204" pitchFamily="34" charset="0"/>
              <a:buChar char="•"/>
              <a:defRPr/>
            </a:pPr>
            <a:r>
              <a:rPr lang="en-US" sz="1000">
                <a:solidFill>
                  <a:srgbClr val="29BA74"/>
                </a:solidFill>
                <a:cs typeface="Arial" pitchFamily="34" charset="0"/>
              </a:rPr>
              <a:t>Eurobond</a:t>
            </a:r>
          </a:p>
          <a:p>
            <a:pPr marL="324000" lvl="1" indent="-216000">
              <a:buClr>
                <a:schemeClr val="tx2"/>
              </a:buClr>
              <a:buSzPct val="100000"/>
              <a:buFont typeface="Trebuchet MS" panose="020B0603020202020204" pitchFamily="34" charset="0"/>
              <a:buChar char="•"/>
              <a:defRPr/>
            </a:pPr>
            <a:r>
              <a:rPr lang="en-US" sz="1000">
                <a:solidFill>
                  <a:srgbClr val="29BA74"/>
                </a:solidFill>
                <a:cs typeface="Arial" pitchFamily="34" charset="0"/>
              </a:rPr>
              <a:t>Repo</a:t>
            </a:r>
          </a:p>
          <a:p>
            <a:pPr marL="324000" lvl="1" indent="-216000">
              <a:buClr>
                <a:schemeClr val="tx2"/>
              </a:buClr>
              <a:buSzPct val="100000"/>
              <a:buFont typeface="Trebuchet MS" panose="020B0603020202020204" pitchFamily="34" charset="0"/>
              <a:buChar char="•"/>
              <a:defRPr/>
            </a:pPr>
            <a:r>
              <a:rPr lang="en-US" sz="1000">
                <a:solidFill>
                  <a:srgbClr val="29BA74"/>
                </a:solidFill>
                <a:cs typeface="Arial" pitchFamily="34" charset="0"/>
              </a:rPr>
              <a:t>Derivatives</a:t>
            </a:r>
          </a:p>
          <a:p>
            <a:pPr marL="324000" lvl="1" indent="-216000">
              <a:buClr>
                <a:schemeClr val="tx2"/>
              </a:buClr>
              <a:buSzPct val="100000"/>
              <a:buFont typeface="Trebuchet MS" panose="020B0603020202020204" pitchFamily="34" charset="0"/>
              <a:buChar char="•"/>
              <a:defRPr/>
            </a:pPr>
            <a:r>
              <a:rPr lang="en-US" sz="1000">
                <a:solidFill>
                  <a:srgbClr val="29BA74"/>
                </a:solidFill>
                <a:cs typeface="Arial" pitchFamily="34" charset="0"/>
              </a:rPr>
              <a:t>Robo advisor</a:t>
            </a:r>
          </a:p>
          <a:p>
            <a:pPr marL="324000" lvl="1" indent="-216000">
              <a:buClr>
                <a:schemeClr val="tx2"/>
              </a:buClr>
              <a:buSzPct val="100000"/>
              <a:buFont typeface="Trebuchet MS" panose="020B0603020202020204" pitchFamily="34" charset="0"/>
              <a:buChar char="•"/>
              <a:defRPr/>
            </a:pPr>
            <a:r>
              <a:rPr lang="en-US" sz="1000">
                <a:solidFill>
                  <a:srgbClr val="29BA74"/>
                </a:solidFill>
                <a:cs typeface="Arial" pitchFamily="34" charset="0"/>
              </a:rPr>
              <a:t>Retirement</a:t>
            </a:r>
          </a:p>
          <a:p>
            <a:pPr marL="324000" lvl="1" indent="-216000">
              <a:buClr>
                <a:schemeClr val="tx2"/>
              </a:buClr>
              <a:buSzPct val="100000"/>
              <a:buFont typeface="Trebuchet MS" panose="020B0603020202020204" pitchFamily="34" charset="0"/>
              <a:buChar char="•"/>
              <a:defRPr/>
            </a:pPr>
            <a:r>
              <a:rPr lang="en-US" sz="1000">
                <a:solidFill>
                  <a:srgbClr val="29BA74"/>
                </a:solidFill>
                <a:cs typeface="Arial" pitchFamily="34" charset="0"/>
              </a:rPr>
              <a:t>Insurance</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House/Car</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Health/Life</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Credit</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Education</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Digital Protection</a:t>
            </a:r>
          </a:p>
        </p:txBody>
      </p:sp>
      <p:sp>
        <p:nvSpPr>
          <p:cNvPr id="186" name="TextBox 185">
            <a:extLst>
              <a:ext uri="{FF2B5EF4-FFF2-40B4-BE49-F238E27FC236}">
                <a16:creationId xmlns:a16="http://schemas.microsoft.com/office/drawing/2014/main" id="{849436EA-13E8-4394-B767-8080C0F0ACC7}"/>
              </a:ext>
            </a:extLst>
          </p:cNvPr>
          <p:cNvSpPr txBox="1"/>
          <p:nvPr/>
        </p:nvSpPr>
        <p:spPr>
          <a:xfrm>
            <a:off x="6652017" y="2054656"/>
            <a:ext cx="1354768" cy="2462213"/>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109728">
              <a:buSzPct val="100000"/>
              <a:buFont typeface="Trebuchet MS" panose="020B0603020202020204" pitchFamily="34" charset="0"/>
              <a:buChar char="​"/>
              <a:defRPr/>
            </a:pPr>
            <a:r>
              <a:rPr lang="en-US" sz="1000">
                <a:solidFill>
                  <a:srgbClr val="29BA74"/>
                </a:solidFill>
                <a:cs typeface="Arial" pitchFamily="34" charset="0"/>
              </a:rPr>
              <a:t>Payments</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Utility</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Credit card</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Tax/social security/ticket</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Highway toll/city cards</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Crypto platforms</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Bet/lottery payments</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Donations</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Mobile phone registration fee</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Prepaid card top-up</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School payments</a:t>
            </a:r>
          </a:p>
        </p:txBody>
      </p:sp>
      <p:sp>
        <p:nvSpPr>
          <p:cNvPr id="187" name="TextBox 186">
            <a:extLst>
              <a:ext uri="{FF2B5EF4-FFF2-40B4-BE49-F238E27FC236}">
                <a16:creationId xmlns:a16="http://schemas.microsoft.com/office/drawing/2014/main" id="{D8F5F323-D91A-458C-91E8-3AB4785FDAFB}"/>
              </a:ext>
            </a:extLst>
          </p:cNvPr>
          <p:cNvSpPr txBox="1"/>
          <p:nvPr/>
        </p:nvSpPr>
        <p:spPr>
          <a:xfrm>
            <a:off x="8050111" y="2054656"/>
            <a:ext cx="1354768" cy="2462213"/>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27432" bIns="0" numCol="1" spcCol="0" rtlCol="0" fromWordArt="0" anchor="t" anchorCtr="0" forceAA="0" compatLnSpc="1">
            <a:prstTxWarp prst="textNoShape">
              <a:avLst/>
            </a:prstTxWarp>
            <a:noAutofit/>
          </a:bodyPr>
          <a:lstStyle/>
          <a:p>
            <a:pPr marL="109728">
              <a:buSzPct val="100000"/>
              <a:defRPr/>
            </a:pPr>
            <a:r>
              <a:rPr lang="en-US" sz="1000">
                <a:solidFill>
                  <a:srgbClr val="29BA74"/>
                </a:solidFill>
                <a:cs typeface="Arial" pitchFamily="34" charset="0"/>
              </a:rPr>
              <a:t>Services</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Salary/pension customer</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Profession packages (doctor, pilot)</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Secured exchange </a:t>
            </a:r>
          </a:p>
        </p:txBody>
      </p:sp>
      <p:cxnSp>
        <p:nvCxnSpPr>
          <p:cNvPr id="16" name="Straight Connector 15"/>
          <p:cNvCxnSpPr/>
          <p:nvPr/>
        </p:nvCxnSpPr>
        <p:spPr>
          <a:xfrm>
            <a:off x="1509584" y="2054656"/>
            <a:ext cx="0" cy="4060940"/>
          </a:xfrm>
          <a:prstGeom prst="line">
            <a:avLst/>
          </a:prstGeom>
          <a:ln w="28575" cap="rnd" cmpd="sng" algn="ctr">
            <a:solidFill>
              <a:srgbClr val="29BA74"/>
            </a:solidFill>
            <a:prstDash val="solid"/>
            <a:round/>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1509584" y="4085126"/>
            <a:ext cx="168852" cy="0"/>
          </a:xfrm>
          <a:prstGeom prst="line">
            <a:avLst/>
          </a:prstGeom>
          <a:ln w="9525" cap="rnd" cmpd="sng" algn="ctr">
            <a:solidFill>
              <a:srgbClr val="29BA74"/>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NavigationTriangle">
            <a:extLst>
              <a:ext uri="{FF2B5EF4-FFF2-40B4-BE49-F238E27FC236}">
                <a16:creationId xmlns:a16="http://schemas.microsoft.com/office/drawing/2014/main" id="{CD654982-E0AB-4178-B8FD-9D7D9D811434}"/>
              </a:ext>
            </a:extLst>
          </p:cNvPr>
          <p:cNvSpPr/>
          <p:nvPr/>
        </p:nvSpPr>
        <p:spPr>
          <a:xfrm rot="16200000">
            <a:off x="11116165" y="-21446"/>
            <a:ext cx="1054387" cy="1097280"/>
          </a:xfrm>
          <a:prstGeom prst="triangle">
            <a:avLst>
              <a:gd name="adj" fmla="val 100000"/>
            </a:avLst>
          </a:prstGeom>
          <a:solidFill>
            <a:schemeClr val="tx2"/>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FFFFFF"/>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err="1">
              <a:solidFill>
                <a:srgbClr val="435264"/>
              </a:solidFill>
            </a:endParaRPr>
          </a:p>
        </p:txBody>
      </p:sp>
      <p:sp>
        <p:nvSpPr>
          <p:cNvPr id="65" name="NavigationText">
            <a:extLst>
              <a:ext uri="{FF2B5EF4-FFF2-40B4-BE49-F238E27FC236}">
                <a16:creationId xmlns:a16="http://schemas.microsoft.com/office/drawing/2014/main" id="{862E69D7-5669-465E-8A47-303179DFD1BB}"/>
              </a:ext>
            </a:extLst>
          </p:cNvPr>
          <p:cNvSpPr/>
          <p:nvPr/>
        </p:nvSpPr>
        <p:spPr>
          <a:xfrm>
            <a:off x="9262873" y="256093"/>
            <a:ext cx="2108188" cy="230435"/>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9144" bIns="0" numCol="1" spcCol="0" rtlCol="0" fromWordArt="0" anchor="ctr" anchorCtr="0" forceAA="0" compatLnSpc="1">
            <a:prstTxWarp prst="textNoShape">
              <a:avLst/>
            </a:prstTxWarp>
            <a:noAutofit/>
          </a:bodyPr>
          <a:lstStyle/>
          <a:p>
            <a:pPr algn="r"/>
            <a:r>
              <a:rPr lang="en-GB" sz="1000">
                <a:solidFill>
                  <a:schemeClr val="bg1">
                    <a:lumMod val="50000"/>
                  </a:schemeClr>
                </a:solidFill>
              </a:rPr>
              <a:t>Client digital retail strategy</a:t>
            </a:r>
            <a:endParaRPr lang="en-US" sz="1000">
              <a:solidFill>
                <a:schemeClr val="bg1">
                  <a:lumMod val="50000"/>
                </a:schemeClr>
              </a:solidFill>
            </a:endParaRPr>
          </a:p>
        </p:txBody>
      </p:sp>
      <p:sp>
        <p:nvSpPr>
          <p:cNvPr id="66" name="NavigationIcon">
            <a:extLst>
              <a:ext uri="{FF2B5EF4-FFF2-40B4-BE49-F238E27FC236}">
                <a16:creationId xmlns:a16="http://schemas.microsoft.com/office/drawing/2014/main" id="{CC02D057-4CF7-4B64-A50C-6EDD612F0F77}"/>
              </a:ext>
            </a:extLst>
          </p:cNvPr>
          <p:cNvSpPr>
            <a:spLocks noChangeAspect="1"/>
          </p:cNvSpPr>
          <p:nvPr/>
        </p:nvSpPr>
        <p:spPr bwMode="auto">
          <a:xfrm>
            <a:off x="11762998" y="132877"/>
            <a:ext cx="220851" cy="365760"/>
          </a:xfrm>
          <a:custGeom>
            <a:avLst/>
            <a:gdLst>
              <a:gd name="connsiteX0" fmla="*/ 146047 w 754383"/>
              <a:gd name="connsiteY0" fmla="*/ 1054099 h 1249362"/>
              <a:gd name="connsiteX1" fmla="*/ 595723 w 754383"/>
              <a:gd name="connsiteY1" fmla="*/ 1054099 h 1249362"/>
              <a:gd name="connsiteX2" fmla="*/ 600006 w 754383"/>
              <a:gd name="connsiteY2" fmla="*/ 1057675 h 1249362"/>
              <a:gd name="connsiteX3" fmla="*/ 738478 w 754383"/>
              <a:gd name="connsiteY3" fmla="*/ 1225044 h 1249362"/>
              <a:gd name="connsiteX4" fmla="*/ 727057 w 754383"/>
              <a:gd name="connsiteY4" fmla="*/ 1249362 h 1249362"/>
              <a:gd name="connsiteX5" fmla="*/ 14713 w 754383"/>
              <a:gd name="connsiteY5" fmla="*/ 1249362 h 1249362"/>
              <a:gd name="connsiteX6" fmla="*/ 3292 w 754383"/>
              <a:gd name="connsiteY6" fmla="*/ 1225044 h 1249362"/>
              <a:gd name="connsiteX7" fmla="*/ 141764 w 754383"/>
              <a:gd name="connsiteY7" fmla="*/ 1057675 h 1249362"/>
              <a:gd name="connsiteX8" fmla="*/ 146047 w 754383"/>
              <a:gd name="connsiteY8" fmla="*/ 1054099 h 1249362"/>
              <a:gd name="connsiteX9" fmla="*/ 93070 w 754383"/>
              <a:gd name="connsiteY9" fmla="*/ 898524 h 1249362"/>
              <a:gd name="connsiteX10" fmla="*/ 648699 w 754383"/>
              <a:gd name="connsiteY10" fmla="*/ 898524 h 1249362"/>
              <a:gd name="connsiteX11" fmla="*/ 655841 w 754383"/>
              <a:gd name="connsiteY11" fmla="*/ 905682 h 1249362"/>
              <a:gd name="connsiteX12" fmla="*/ 655841 w 754383"/>
              <a:gd name="connsiteY12" fmla="*/ 1015192 h 1249362"/>
              <a:gd name="connsiteX13" fmla="*/ 648699 w 754383"/>
              <a:gd name="connsiteY13" fmla="*/ 1022349 h 1249362"/>
              <a:gd name="connsiteX14" fmla="*/ 93070 w 754383"/>
              <a:gd name="connsiteY14" fmla="*/ 1022349 h 1249362"/>
              <a:gd name="connsiteX15" fmla="*/ 85928 w 754383"/>
              <a:gd name="connsiteY15" fmla="*/ 1015192 h 1249362"/>
              <a:gd name="connsiteX16" fmla="*/ 85928 w 754383"/>
              <a:gd name="connsiteY16" fmla="*/ 905682 h 1249362"/>
              <a:gd name="connsiteX17" fmla="*/ 93070 w 754383"/>
              <a:gd name="connsiteY17" fmla="*/ 898524 h 1249362"/>
              <a:gd name="connsiteX18" fmla="*/ 384014 w 754383"/>
              <a:gd name="connsiteY18" fmla="*/ 0 h 1249362"/>
              <a:gd name="connsiteX19" fmla="*/ 396150 w 754383"/>
              <a:gd name="connsiteY19" fmla="*/ 4277 h 1249362"/>
              <a:gd name="connsiteX20" fmla="*/ 406858 w 754383"/>
              <a:gd name="connsiteY20" fmla="*/ 54174 h 1249362"/>
              <a:gd name="connsiteX21" fmla="*/ 401861 w 754383"/>
              <a:gd name="connsiteY21" fmla="*/ 81260 h 1249362"/>
              <a:gd name="connsiteX22" fmla="*/ 400434 w 754383"/>
              <a:gd name="connsiteY22" fmla="*/ 87676 h 1249362"/>
              <a:gd name="connsiteX23" fmla="*/ 432558 w 754383"/>
              <a:gd name="connsiteY23" fmla="*/ 99793 h 1249362"/>
              <a:gd name="connsiteX24" fmla="*/ 553205 w 754383"/>
              <a:gd name="connsiteY24" fmla="*/ 157531 h 1249362"/>
              <a:gd name="connsiteX25" fmla="*/ 580333 w 754383"/>
              <a:gd name="connsiteY25" fmla="*/ 200299 h 1249362"/>
              <a:gd name="connsiteX26" fmla="*/ 587472 w 754383"/>
              <a:gd name="connsiteY26" fmla="*/ 212417 h 1249362"/>
              <a:gd name="connsiteX27" fmla="*/ 613885 w 754383"/>
              <a:gd name="connsiteY27" fmla="*/ 230950 h 1249362"/>
              <a:gd name="connsiteX28" fmla="*/ 740957 w 754383"/>
              <a:gd name="connsiteY28" fmla="*/ 335733 h 1249362"/>
              <a:gd name="connsiteX29" fmla="*/ 703835 w 754383"/>
              <a:gd name="connsiteY29" fmla="*/ 501817 h 1249362"/>
              <a:gd name="connsiteX30" fmla="*/ 566055 w 754383"/>
              <a:gd name="connsiteY30" fmla="*/ 456910 h 1249362"/>
              <a:gd name="connsiteX31" fmla="*/ 536072 w 754383"/>
              <a:gd name="connsiteY31" fmla="*/ 436239 h 1249362"/>
              <a:gd name="connsiteX32" fmla="*/ 499664 w 754383"/>
              <a:gd name="connsiteY32" fmla="*/ 449069 h 1249362"/>
              <a:gd name="connsiteX33" fmla="*/ 434700 w 754383"/>
              <a:gd name="connsiteY33" fmla="*/ 471879 h 1249362"/>
              <a:gd name="connsiteX34" fmla="*/ 457544 w 754383"/>
              <a:gd name="connsiteY34" fmla="*/ 509658 h 1249362"/>
              <a:gd name="connsiteX35" fmla="*/ 462542 w 754383"/>
              <a:gd name="connsiteY35" fmla="*/ 514648 h 1249362"/>
              <a:gd name="connsiteX36" fmla="*/ 567483 w 754383"/>
              <a:gd name="connsiteY36" fmla="*/ 657209 h 1249362"/>
              <a:gd name="connsiteX37" fmla="*/ 597466 w 754383"/>
              <a:gd name="connsiteY37" fmla="*/ 866775 h 1249362"/>
              <a:gd name="connsiteX38" fmla="*/ 563200 w 754383"/>
              <a:gd name="connsiteY38" fmla="*/ 866775 h 1249362"/>
              <a:gd name="connsiteX39" fmla="*/ 565341 w 754383"/>
              <a:gd name="connsiteY39" fmla="*/ 861073 h 1249362"/>
              <a:gd name="connsiteX40" fmla="*/ 439697 w 754383"/>
              <a:gd name="connsiteY40" fmla="*/ 536032 h 1249362"/>
              <a:gd name="connsiteX41" fmla="*/ 433986 w 754383"/>
              <a:gd name="connsiteY41" fmla="*/ 529617 h 1249362"/>
              <a:gd name="connsiteX42" fmla="*/ 395436 w 754383"/>
              <a:gd name="connsiteY42" fmla="*/ 462613 h 1249362"/>
              <a:gd name="connsiteX43" fmla="*/ 397578 w 754383"/>
              <a:gd name="connsiteY43" fmla="*/ 445505 h 1249362"/>
              <a:gd name="connsiteX44" fmla="*/ 414711 w 754383"/>
              <a:gd name="connsiteY44" fmla="*/ 441229 h 1249362"/>
              <a:gd name="connsiteX45" fmla="*/ 487528 w 754383"/>
              <a:gd name="connsiteY45" fmla="*/ 420557 h 1249362"/>
              <a:gd name="connsiteX46" fmla="*/ 533216 w 754383"/>
              <a:gd name="connsiteY46" fmla="*/ 404875 h 1249362"/>
              <a:gd name="connsiteX47" fmla="*/ 585330 w 754383"/>
              <a:gd name="connsiteY47" fmla="*/ 431962 h 1249362"/>
              <a:gd name="connsiteX48" fmla="*/ 690271 w 754383"/>
              <a:gd name="connsiteY48" fmla="*/ 473305 h 1249362"/>
              <a:gd name="connsiteX49" fmla="*/ 711688 w 754383"/>
              <a:gd name="connsiteY49" fmla="*/ 348563 h 1249362"/>
              <a:gd name="connsiteX50" fmla="*/ 595324 w 754383"/>
              <a:gd name="connsiteY50" fmla="*/ 256611 h 1249362"/>
              <a:gd name="connsiteX51" fmla="*/ 566769 w 754383"/>
              <a:gd name="connsiteY51" fmla="*/ 235227 h 1249362"/>
              <a:gd name="connsiteX52" fmla="*/ 552491 w 754383"/>
              <a:gd name="connsiteY52" fmla="*/ 213843 h 1249362"/>
              <a:gd name="connsiteX53" fmla="*/ 529647 w 754383"/>
              <a:gd name="connsiteY53" fmla="*/ 177489 h 1249362"/>
              <a:gd name="connsiteX54" fmla="*/ 422564 w 754383"/>
              <a:gd name="connsiteY54" fmla="*/ 129731 h 1249362"/>
              <a:gd name="connsiteX55" fmla="*/ 383300 w 754383"/>
              <a:gd name="connsiteY55" fmla="*/ 114762 h 1249362"/>
              <a:gd name="connsiteX56" fmla="*/ 371164 w 754383"/>
              <a:gd name="connsiteY56" fmla="*/ 74132 h 1249362"/>
              <a:gd name="connsiteX57" fmla="*/ 375448 w 754383"/>
              <a:gd name="connsiteY57" fmla="*/ 51322 h 1249362"/>
              <a:gd name="connsiteX58" fmla="*/ 375448 w 754383"/>
              <a:gd name="connsiteY58" fmla="*/ 33502 h 1249362"/>
              <a:gd name="connsiteX59" fmla="*/ 296920 w 754383"/>
              <a:gd name="connsiteY59" fmla="*/ 106921 h 1249362"/>
              <a:gd name="connsiteX60" fmla="*/ 294778 w 754383"/>
              <a:gd name="connsiteY60" fmla="*/ 109773 h 1249362"/>
              <a:gd name="connsiteX61" fmla="*/ 156285 w 754383"/>
              <a:gd name="connsiteY61" fmla="*/ 258750 h 1249362"/>
              <a:gd name="connsiteX62" fmla="*/ 143435 w 754383"/>
              <a:gd name="connsiteY62" fmla="*/ 303657 h 1249362"/>
              <a:gd name="connsiteX63" fmla="*/ 280501 w 754383"/>
              <a:gd name="connsiteY63" fmla="*/ 520350 h 1249362"/>
              <a:gd name="connsiteX64" fmla="*/ 277645 w 754383"/>
              <a:gd name="connsiteY64" fmla="*/ 540309 h 1249362"/>
              <a:gd name="connsiteX65" fmla="*/ 256942 w 754383"/>
              <a:gd name="connsiteY65" fmla="*/ 540309 h 1249362"/>
              <a:gd name="connsiteX66" fmla="*/ 121304 w 754383"/>
              <a:gd name="connsiteY66" fmla="*/ 419844 h 1249362"/>
              <a:gd name="connsiteX67" fmla="*/ 124874 w 754383"/>
              <a:gd name="connsiteY67" fmla="*/ 476869 h 1249362"/>
              <a:gd name="connsiteX68" fmla="*/ 251945 w 754383"/>
              <a:gd name="connsiteY68" fmla="*/ 627272 h 1249362"/>
              <a:gd name="connsiteX69" fmla="*/ 252659 w 754383"/>
              <a:gd name="connsiteY69" fmla="*/ 647943 h 1249362"/>
              <a:gd name="connsiteX70" fmla="*/ 232670 w 754383"/>
              <a:gd name="connsiteY70" fmla="*/ 650794 h 1249362"/>
              <a:gd name="connsiteX71" fmla="*/ 125587 w 754383"/>
              <a:gd name="connsiteY71" fmla="*/ 585929 h 1249362"/>
              <a:gd name="connsiteX72" fmla="*/ 129157 w 754383"/>
              <a:gd name="connsiteY72" fmla="*/ 618718 h 1249362"/>
              <a:gd name="connsiteX73" fmla="*/ 222676 w 754383"/>
              <a:gd name="connsiteY73" fmla="*/ 717085 h 1249362"/>
              <a:gd name="connsiteX74" fmla="*/ 224818 w 754383"/>
              <a:gd name="connsiteY74" fmla="*/ 737044 h 1249362"/>
              <a:gd name="connsiteX75" fmla="*/ 205543 w 754383"/>
              <a:gd name="connsiteY75" fmla="*/ 743459 h 1249362"/>
              <a:gd name="connsiteX76" fmla="*/ 144148 w 754383"/>
              <a:gd name="connsiteY76" fmla="*/ 723501 h 1249362"/>
              <a:gd name="connsiteX77" fmla="*/ 152715 w 754383"/>
              <a:gd name="connsiteY77" fmla="*/ 866775 h 1249362"/>
              <a:gd name="connsiteX78" fmla="*/ 121304 w 754383"/>
              <a:gd name="connsiteY78" fmla="*/ 866775 h 1249362"/>
              <a:gd name="connsiteX79" fmla="*/ 114879 w 754383"/>
              <a:gd name="connsiteY79" fmla="*/ 791930 h 1249362"/>
              <a:gd name="connsiteX80" fmla="*/ 124874 w 754383"/>
              <a:gd name="connsiteY80" fmla="*/ 694276 h 1249362"/>
              <a:gd name="connsiteX81" fmla="*/ 153429 w 754383"/>
              <a:gd name="connsiteY81" fmla="*/ 692850 h 1249362"/>
              <a:gd name="connsiteX82" fmla="*/ 99174 w 754383"/>
              <a:gd name="connsiteY82" fmla="*/ 627272 h 1249362"/>
              <a:gd name="connsiteX83" fmla="*/ 104885 w 754383"/>
              <a:gd name="connsiteY83" fmla="*/ 551714 h 1249362"/>
              <a:gd name="connsiteX84" fmla="*/ 127729 w 754383"/>
              <a:gd name="connsiteY84" fmla="*/ 550288 h 1249362"/>
              <a:gd name="connsiteX85" fmla="*/ 157712 w 754383"/>
              <a:gd name="connsiteY85" fmla="*/ 568108 h 1249362"/>
              <a:gd name="connsiteX86" fmla="*/ 94890 w 754383"/>
              <a:gd name="connsiteY86" fmla="*/ 485423 h 1249362"/>
              <a:gd name="connsiteX87" fmla="*/ 99174 w 754383"/>
              <a:gd name="connsiteY87" fmla="*/ 386342 h 1249362"/>
              <a:gd name="connsiteX88" fmla="*/ 117735 w 754383"/>
              <a:gd name="connsiteY88" fmla="*/ 380640 h 1249362"/>
              <a:gd name="connsiteX89" fmla="*/ 189123 w 754383"/>
              <a:gd name="connsiteY89" fmla="*/ 436239 h 1249362"/>
              <a:gd name="connsiteX90" fmla="*/ 184126 w 754383"/>
              <a:gd name="connsiteY90" fmla="*/ 429111 h 1249362"/>
              <a:gd name="connsiteX91" fmla="*/ 112024 w 754383"/>
              <a:gd name="connsiteY91" fmla="*/ 306508 h 1249362"/>
              <a:gd name="connsiteX92" fmla="*/ 136296 w 754383"/>
              <a:gd name="connsiteY92" fmla="*/ 234514 h 1249362"/>
              <a:gd name="connsiteX93" fmla="*/ 269078 w 754383"/>
              <a:gd name="connsiteY93" fmla="*/ 92665 h 1249362"/>
              <a:gd name="connsiteX94" fmla="*/ 271220 w 754383"/>
              <a:gd name="connsiteY94" fmla="*/ 89101 h 1249362"/>
              <a:gd name="connsiteX95" fmla="*/ 384014 w 754383"/>
              <a:gd name="connsiteY95" fmla="*/ 0 h 1249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754383" h="1249362">
                <a:moveTo>
                  <a:pt x="146047" y="1054099"/>
                </a:moveTo>
                <a:cubicBezTo>
                  <a:pt x="146047" y="1054099"/>
                  <a:pt x="146047" y="1054099"/>
                  <a:pt x="595723" y="1054099"/>
                </a:cubicBezTo>
                <a:cubicBezTo>
                  <a:pt x="597151" y="1055530"/>
                  <a:pt x="598578" y="1056245"/>
                  <a:pt x="600006" y="1057675"/>
                </a:cubicBezTo>
                <a:cubicBezTo>
                  <a:pt x="600006" y="1057675"/>
                  <a:pt x="600006" y="1057675"/>
                  <a:pt x="738478" y="1225044"/>
                </a:cubicBezTo>
                <a:cubicBezTo>
                  <a:pt x="746329" y="1234342"/>
                  <a:pt x="739192" y="1249362"/>
                  <a:pt x="727057" y="1249362"/>
                </a:cubicBezTo>
                <a:cubicBezTo>
                  <a:pt x="727057" y="1249362"/>
                  <a:pt x="727057" y="1249362"/>
                  <a:pt x="14713" y="1249362"/>
                </a:cubicBezTo>
                <a:cubicBezTo>
                  <a:pt x="2578" y="1249362"/>
                  <a:pt x="-4559" y="1234342"/>
                  <a:pt x="3292" y="1225044"/>
                </a:cubicBezTo>
                <a:cubicBezTo>
                  <a:pt x="3292" y="1225044"/>
                  <a:pt x="3292" y="1225044"/>
                  <a:pt x="141764" y="1057675"/>
                </a:cubicBezTo>
                <a:cubicBezTo>
                  <a:pt x="143192" y="1056245"/>
                  <a:pt x="144620" y="1055530"/>
                  <a:pt x="146047" y="1054099"/>
                </a:cubicBezTo>
                <a:close/>
                <a:moveTo>
                  <a:pt x="93070" y="898524"/>
                </a:moveTo>
                <a:cubicBezTo>
                  <a:pt x="93070" y="898524"/>
                  <a:pt x="93070" y="898524"/>
                  <a:pt x="648699" y="898524"/>
                </a:cubicBezTo>
                <a:cubicBezTo>
                  <a:pt x="652270" y="898524"/>
                  <a:pt x="655841" y="902103"/>
                  <a:pt x="655841" y="905682"/>
                </a:cubicBezTo>
                <a:cubicBezTo>
                  <a:pt x="655841" y="905682"/>
                  <a:pt x="655841" y="905682"/>
                  <a:pt x="655841" y="1015192"/>
                </a:cubicBezTo>
                <a:cubicBezTo>
                  <a:pt x="655841" y="1019486"/>
                  <a:pt x="652270" y="1022349"/>
                  <a:pt x="648699" y="1022349"/>
                </a:cubicBezTo>
                <a:cubicBezTo>
                  <a:pt x="648699" y="1022349"/>
                  <a:pt x="648699" y="1022349"/>
                  <a:pt x="93070" y="1022349"/>
                </a:cubicBezTo>
                <a:cubicBezTo>
                  <a:pt x="89499" y="1022349"/>
                  <a:pt x="85928" y="1019486"/>
                  <a:pt x="85928" y="1015192"/>
                </a:cubicBezTo>
                <a:cubicBezTo>
                  <a:pt x="85928" y="1015192"/>
                  <a:pt x="85928" y="1015192"/>
                  <a:pt x="85928" y="905682"/>
                </a:cubicBezTo>
                <a:cubicBezTo>
                  <a:pt x="85928" y="902103"/>
                  <a:pt x="89499" y="898524"/>
                  <a:pt x="93070" y="898524"/>
                </a:cubicBezTo>
                <a:close/>
                <a:moveTo>
                  <a:pt x="384014" y="0"/>
                </a:moveTo>
                <a:cubicBezTo>
                  <a:pt x="388297" y="0"/>
                  <a:pt x="392581" y="1426"/>
                  <a:pt x="396150" y="4277"/>
                </a:cubicBezTo>
                <a:cubicBezTo>
                  <a:pt x="400434" y="7841"/>
                  <a:pt x="409714" y="19959"/>
                  <a:pt x="406858" y="54174"/>
                </a:cubicBezTo>
                <a:cubicBezTo>
                  <a:pt x="405431" y="66291"/>
                  <a:pt x="403289" y="74845"/>
                  <a:pt x="401861" y="81260"/>
                </a:cubicBezTo>
                <a:cubicBezTo>
                  <a:pt x="401147" y="83399"/>
                  <a:pt x="400434" y="86250"/>
                  <a:pt x="400434" y="87676"/>
                </a:cubicBezTo>
                <a:cubicBezTo>
                  <a:pt x="404003" y="89814"/>
                  <a:pt x="418995" y="95516"/>
                  <a:pt x="432558" y="99793"/>
                </a:cubicBezTo>
                <a:cubicBezTo>
                  <a:pt x="488242" y="119039"/>
                  <a:pt x="536072" y="136147"/>
                  <a:pt x="553205" y="157531"/>
                </a:cubicBezTo>
                <a:cubicBezTo>
                  <a:pt x="568197" y="175351"/>
                  <a:pt x="575336" y="189607"/>
                  <a:pt x="580333" y="200299"/>
                </a:cubicBezTo>
                <a:cubicBezTo>
                  <a:pt x="583188" y="205289"/>
                  <a:pt x="585330" y="210279"/>
                  <a:pt x="587472" y="212417"/>
                </a:cubicBezTo>
                <a:cubicBezTo>
                  <a:pt x="589613" y="214555"/>
                  <a:pt x="601749" y="223109"/>
                  <a:pt x="613885" y="230950"/>
                </a:cubicBezTo>
                <a:cubicBezTo>
                  <a:pt x="690271" y="285123"/>
                  <a:pt x="733104" y="317913"/>
                  <a:pt x="740957" y="335733"/>
                </a:cubicBezTo>
                <a:cubicBezTo>
                  <a:pt x="751665" y="362107"/>
                  <a:pt x="778079" y="466890"/>
                  <a:pt x="703835" y="501817"/>
                </a:cubicBezTo>
                <a:cubicBezTo>
                  <a:pt x="654577" y="525340"/>
                  <a:pt x="601035" y="483997"/>
                  <a:pt x="566055" y="456910"/>
                </a:cubicBezTo>
                <a:cubicBezTo>
                  <a:pt x="555347" y="448357"/>
                  <a:pt x="541069" y="437664"/>
                  <a:pt x="536072" y="436239"/>
                </a:cubicBezTo>
                <a:cubicBezTo>
                  <a:pt x="528933" y="437664"/>
                  <a:pt x="513228" y="443367"/>
                  <a:pt x="499664" y="449069"/>
                </a:cubicBezTo>
                <a:cubicBezTo>
                  <a:pt x="473964" y="459762"/>
                  <a:pt x="452547" y="468315"/>
                  <a:pt x="434700" y="471879"/>
                </a:cubicBezTo>
                <a:cubicBezTo>
                  <a:pt x="441839" y="485423"/>
                  <a:pt x="451119" y="501104"/>
                  <a:pt x="457544" y="509658"/>
                </a:cubicBezTo>
                <a:cubicBezTo>
                  <a:pt x="458972" y="510371"/>
                  <a:pt x="460400" y="512509"/>
                  <a:pt x="462542" y="514648"/>
                </a:cubicBezTo>
                <a:cubicBezTo>
                  <a:pt x="479675" y="533181"/>
                  <a:pt x="530361" y="589493"/>
                  <a:pt x="567483" y="657209"/>
                </a:cubicBezTo>
                <a:cubicBezTo>
                  <a:pt x="613885" y="739895"/>
                  <a:pt x="623880" y="810463"/>
                  <a:pt x="597466" y="866775"/>
                </a:cubicBezTo>
                <a:cubicBezTo>
                  <a:pt x="597466" y="866775"/>
                  <a:pt x="597466" y="866775"/>
                  <a:pt x="563200" y="866775"/>
                </a:cubicBezTo>
                <a:cubicBezTo>
                  <a:pt x="563200" y="864637"/>
                  <a:pt x="563913" y="863211"/>
                  <a:pt x="565341" y="861073"/>
                </a:cubicBezTo>
                <a:cubicBezTo>
                  <a:pt x="606747" y="786941"/>
                  <a:pt x="561772" y="671466"/>
                  <a:pt x="439697" y="536032"/>
                </a:cubicBezTo>
                <a:cubicBezTo>
                  <a:pt x="436842" y="533181"/>
                  <a:pt x="434700" y="531042"/>
                  <a:pt x="433986" y="529617"/>
                </a:cubicBezTo>
                <a:cubicBezTo>
                  <a:pt x="417567" y="510371"/>
                  <a:pt x="397578" y="467602"/>
                  <a:pt x="395436" y="462613"/>
                </a:cubicBezTo>
                <a:cubicBezTo>
                  <a:pt x="392581" y="456910"/>
                  <a:pt x="393295" y="449782"/>
                  <a:pt x="397578" y="445505"/>
                </a:cubicBezTo>
                <a:cubicBezTo>
                  <a:pt x="401861" y="440516"/>
                  <a:pt x="409000" y="439090"/>
                  <a:pt x="414711" y="441229"/>
                </a:cubicBezTo>
                <a:cubicBezTo>
                  <a:pt x="426133" y="445505"/>
                  <a:pt x="466111" y="429111"/>
                  <a:pt x="487528" y="420557"/>
                </a:cubicBezTo>
                <a:cubicBezTo>
                  <a:pt x="506803" y="412716"/>
                  <a:pt x="522508" y="406301"/>
                  <a:pt x="533216" y="404875"/>
                </a:cubicBezTo>
                <a:cubicBezTo>
                  <a:pt x="547494" y="403450"/>
                  <a:pt x="562486" y="414855"/>
                  <a:pt x="585330" y="431962"/>
                </a:cubicBezTo>
                <a:cubicBezTo>
                  <a:pt x="616027" y="455485"/>
                  <a:pt x="658860" y="488274"/>
                  <a:pt x="690271" y="473305"/>
                </a:cubicBezTo>
                <a:cubicBezTo>
                  <a:pt x="741671" y="449782"/>
                  <a:pt x="718827" y="364245"/>
                  <a:pt x="711688" y="348563"/>
                </a:cubicBezTo>
                <a:cubicBezTo>
                  <a:pt x="704549" y="333594"/>
                  <a:pt x="625308" y="277995"/>
                  <a:pt x="595324" y="256611"/>
                </a:cubicBezTo>
                <a:cubicBezTo>
                  <a:pt x="577477" y="244493"/>
                  <a:pt x="569625" y="238791"/>
                  <a:pt x="566769" y="235227"/>
                </a:cubicBezTo>
                <a:cubicBezTo>
                  <a:pt x="559630" y="229524"/>
                  <a:pt x="556061" y="222396"/>
                  <a:pt x="552491" y="213843"/>
                </a:cubicBezTo>
                <a:cubicBezTo>
                  <a:pt x="547494" y="203863"/>
                  <a:pt x="541783" y="192458"/>
                  <a:pt x="529647" y="177489"/>
                </a:cubicBezTo>
                <a:cubicBezTo>
                  <a:pt x="516083" y="161808"/>
                  <a:pt x="455403" y="140423"/>
                  <a:pt x="422564" y="129731"/>
                </a:cubicBezTo>
                <a:cubicBezTo>
                  <a:pt x="400434" y="121890"/>
                  <a:pt x="389011" y="118326"/>
                  <a:pt x="383300" y="114762"/>
                </a:cubicBezTo>
                <a:cubicBezTo>
                  <a:pt x="364025" y="102645"/>
                  <a:pt x="368309" y="86250"/>
                  <a:pt x="371164" y="74132"/>
                </a:cubicBezTo>
                <a:cubicBezTo>
                  <a:pt x="372592" y="67717"/>
                  <a:pt x="374734" y="60589"/>
                  <a:pt x="375448" y="51322"/>
                </a:cubicBezTo>
                <a:cubicBezTo>
                  <a:pt x="376161" y="43481"/>
                  <a:pt x="376161" y="37779"/>
                  <a:pt x="375448" y="33502"/>
                </a:cubicBezTo>
                <a:cubicBezTo>
                  <a:pt x="339039" y="44907"/>
                  <a:pt x="308342" y="90527"/>
                  <a:pt x="296920" y="106921"/>
                </a:cubicBezTo>
                <a:cubicBezTo>
                  <a:pt x="296920" y="106921"/>
                  <a:pt x="296920" y="106921"/>
                  <a:pt x="294778" y="109773"/>
                </a:cubicBezTo>
                <a:cubicBezTo>
                  <a:pt x="281928" y="129018"/>
                  <a:pt x="171990" y="245919"/>
                  <a:pt x="156285" y="258750"/>
                </a:cubicBezTo>
                <a:cubicBezTo>
                  <a:pt x="149146" y="264452"/>
                  <a:pt x="144148" y="288688"/>
                  <a:pt x="143435" y="303657"/>
                </a:cubicBezTo>
                <a:cubicBezTo>
                  <a:pt x="154143" y="324328"/>
                  <a:pt x="231956" y="445505"/>
                  <a:pt x="280501" y="520350"/>
                </a:cubicBezTo>
                <a:cubicBezTo>
                  <a:pt x="284784" y="526766"/>
                  <a:pt x="283356" y="535319"/>
                  <a:pt x="277645" y="540309"/>
                </a:cubicBezTo>
                <a:cubicBezTo>
                  <a:pt x="271220" y="546011"/>
                  <a:pt x="262654" y="545299"/>
                  <a:pt x="256942" y="540309"/>
                </a:cubicBezTo>
                <a:cubicBezTo>
                  <a:pt x="204829" y="491838"/>
                  <a:pt x="147004" y="440516"/>
                  <a:pt x="121304" y="419844"/>
                </a:cubicBezTo>
                <a:cubicBezTo>
                  <a:pt x="119876" y="436952"/>
                  <a:pt x="121304" y="464751"/>
                  <a:pt x="124874" y="476869"/>
                </a:cubicBezTo>
                <a:cubicBezTo>
                  <a:pt x="130585" y="490412"/>
                  <a:pt x="194120" y="563832"/>
                  <a:pt x="251945" y="627272"/>
                </a:cubicBezTo>
                <a:cubicBezTo>
                  <a:pt x="257656" y="632974"/>
                  <a:pt x="257656" y="641528"/>
                  <a:pt x="252659" y="647943"/>
                </a:cubicBezTo>
                <a:cubicBezTo>
                  <a:pt x="247662" y="653645"/>
                  <a:pt x="239095" y="655071"/>
                  <a:pt x="232670" y="650794"/>
                </a:cubicBezTo>
                <a:cubicBezTo>
                  <a:pt x="231243" y="650794"/>
                  <a:pt x="157712" y="605174"/>
                  <a:pt x="125587" y="585929"/>
                </a:cubicBezTo>
                <a:cubicBezTo>
                  <a:pt x="125587" y="595908"/>
                  <a:pt x="127015" y="610164"/>
                  <a:pt x="129157" y="618718"/>
                </a:cubicBezTo>
                <a:cubicBezTo>
                  <a:pt x="134868" y="629410"/>
                  <a:pt x="181984" y="677881"/>
                  <a:pt x="222676" y="717085"/>
                </a:cubicBezTo>
                <a:cubicBezTo>
                  <a:pt x="228387" y="722788"/>
                  <a:pt x="229101" y="730629"/>
                  <a:pt x="224818" y="737044"/>
                </a:cubicBezTo>
                <a:cubicBezTo>
                  <a:pt x="220534" y="743459"/>
                  <a:pt x="212682" y="746311"/>
                  <a:pt x="205543" y="743459"/>
                </a:cubicBezTo>
                <a:cubicBezTo>
                  <a:pt x="181984" y="733480"/>
                  <a:pt x="156998" y="725639"/>
                  <a:pt x="144148" y="723501"/>
                </a:cubicBezTo>
                <a:cubicBezTo>
                  <a:pt x="142721" y="746311"/>
                  <a:pt x="147004" y="811889"/>
                  <a:pt x="152715" y="866775"/>
                </a:cubicBezTo>
                <a:cubicBezTo>
                  <a:pt x="152715" y="866775"/>
                  <a:pt x="152715" y="866775"/>
                  <a:pt x="121304" y="866775"/>
                </a:cubicBezTo>
                <a:cubicBezTo>
                  <a:pt x="119876" y="856796"/>
                  <a:pt x="117021" y="824007"/>
                  <a:pt x="114879" y="791930"/>
                </a:cubicBezTo>
                <a:cubicBezTo>
                  <a:pt x="109168" y="707106"/>
                  <a:pt x="114879" y="699265"/>
                  <a:pt x="124874" y="694276"/>
                </a:cubicBezTo>
                <a:cubicBezTo>
                  <a:pt x="127729" y="692137"/>
                  <a:pt x="134154" y="689286"/>
                  <a:pt x="153429" y="692850"/>
                </a:cubicBezTo>
                <a:cubicBezTo>
                  <a:pt x="125587" y="664338"/>
                  <a:pt x="102029" y="638676"/>
                  <a:pt x="99174" y="627272"/>
                </a:cubicBezTo>
                <a:cubicBezTo>
                  <a:pt x="99174" y="626559"/>
                  <a:pt x="84182" y="567396"/>
                  <a:pt x="104885" y="551714"/>
                </a:cubicBezTo>
                <a:cubicBezTo>
                  <a:pt x="111310" y="546724"/>
                  <a:pt x="119876" y="546011"/>
                  <a:pt x="127729" y="550288"/>
                </a:cubicBezTo>
                <a:cubicBezTo>
                  <a:pt x="132012" y="553139"/>
                  <a:pt x="143435" y="559555"/>
                  <a:pt x="157712" y="568108"/>
                </a:cubicBezTo>
                <a:cubicBezTo>
                  <a:pt x="125587" y="531755"/>
                  <a:pt x="97746" y="497540"/>
                  <a:pt x="94890" y="485423"/>
                </a:cubicBezTo>
                <a:cubicBezTo>
                  <a:pt x="91321" y="473305"/>
                  <a:pt x="82754" y="404162"/>
                  <a:pt x="99174" y="386342"/>
                </a:cubicBezTo>
                <a:cubicBezTo>
                  <a:pt x="104171" y="381353"/>
                  <a:pt x="111310" y="379214"/>
                  <a:pt x="117735" y="380640"/>
                </a:cubicBezTo>
                <a:cubicBezTo>
                  <a:pt x="122732" y="381353"/>
                  <a:pt x="128443" y="382778"/>
                  <a:pt x="189123" y="436239"/>
                </a:cubicBezTo>
                <a:cubicBezTo>
                  <a:pt x="187695" y="434100"/>
                  <a:pt x="186268" y="431249"/>
                  <a:pt x="184126" y="429111"/>
                </a:cubicBezTo>
                <a:cubicBezTo>
                  <a:pt x="112024" y="316487"/>
                  <a:pt x="112024" y="312923"/>
                  <a:pt x="112024" y="306508"/>
                </a:cubicBezTo>
                <a:cubicBezTo>
                  <a:pt x="112024" y="306508"/>
                  <a:pt x="112737" y="253760"/>
                  <a:pt x="136296" y="234514"/>
                </a:cubicBezTo>
                <a:cubicBezTo>
                  <a:pt x="152001" y="221684"/>
                  <a:pt x="258370" y="106921"/>
                  <a:pt x="269078" y="92665"/>
                </a:cubicBezTo>
                <a:cubicBezTo>
                  <a:pt x="269078" y="92665"/>
                  <a:pt x="269078" y="92665"/>
                  <a:pt x="271220" y="89101"/>
                </a:cubicBezTo>
                <a:cubicBezTo>
                  <a:pt x="286926" y="66291"/>
                  <a:pt x="327617" y="4990"/>
                  <a:pt x="384014"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a:solidFill>
                <a:schemeClr val="tx2"/>
              </a:solidFill>
            </a:endParaRPr>
          </a:p>
        </p:txBody>
      </p:sp>
      <p:sp>
        <p:nvSpPr>
          <p:cNvPr id="71" name="Oval 20">
            <a:extLst>
              <a:ext uri="{FF2B5EF4-FFF2-40B4-BE49-F238E27FC236}">
                <a16:creationId xmlns:a16="http://schemas.microsoft.com/office/drawing/2014/main" id="{817F17D9-2E01-4604-83BB-D8584AA4AF08}"/>
              </a:ext>
            </a:extLst>
          </p:cNvPr>
          <p:cNvSpPr>
            <a:spLocks noChangeAspect="1" noChangeArrowheads="1"/>
          </p:cNvSpPr>
          <p:nvPr/>
        </p:nvSpPr>
        <p:spPr bwMode="auto">
          <a:xfrm>
            <a:off x="116609" y="72122"/>
            <a:ext cx="253645" cy="253645"/>
          </a:xfrm>
          <a:prstGeom prst="ellipse">
            <a:avLst/>
          </a:prstGeom>
          <a:solidFill>
            <a:srgbClr val="03522D"/>
          </a:solidFill>
          <a:ln>
            <a:noFill/>
          </a:ln>
        </p:spPr>
        <p:txBody>
          <a:bodyPr vert="horz" wrap="square" lIns="0" tIns="0" rIns="0" bIns="0" numCol="1" anchor="ctr" anchorCtr="0" compatLnSpc="1">
            <a:prstTxWarp prst="textNoShape">
              <a:avLst/>
            </a:prstTxWarp>
          </a:bodyPr>
          <a:lstStyle/>
          <a:p>
            <a:pPr algn="ctr"/>
            <a:r>
              <a:rPr lang="en-US" sz="1200">
                <a:solidFill>
                  <a:schemeClr val="bg1"/>
                </a:solidFill>
              </a:rPr>
              <a:t>A1</a:t>
            </a:r>
          </a:p>
        </p:txBody>
      </p:sp>
      <p:sp>
        <p:nvSpPr>
          <p:cNvPr id="70" name="ee4pHeader1">
            <a:extLst>
              <a:ext uri="{FF2B5EF4-FFF2-40B4-BE49-F238E27FC236}">
                <a16:creationId xmlns:a16="http://schemas.microsoft.com/office/drawing/2014/main" id="{6E080411-665F-4547-9CDF-899C335D3E99}"/>
              </a:ext>
            </a:extLst>
          </p:cNvPr>
          <p:cNvSpPr txBox="1"/>
          <p:nvPr/>
        </p:nvSpPr>
        <p:spPr>
          <a:xfrm>
            <a:off x="480854" y="106611"/>
            <a:ext cx="2011680" cy="184666"/>
          </a:xfrm>
          <a:prstGeom prst="rect">
            <a:avLst/>
          </a:prstGeom>
          <a:noFill/>
          <a:ln cap="rnd">
            <a:noFill/>
          </a:ln>
        </p:spPr>
        <p:txBody>
          <a:bodyPr wrap="square" lIns="0" tIns="0" rIns="0" bIns="0" rtlCol="0" anchor="b" anchorCtr="0">
            <a:spAutoFit/>
          </a:bodyPr>
          <a:lstStyle/>
          <a:p>
            <a:pPr marL="0" marR="0" lvl="3"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a:ln>
                  <a:noFill/>
                </a:ln>
                <a:solidFill>
                  <a:srgbClr val="575757"/>
                </a:solidFill>
                <a:effectLst/>
                <a:uLnTx/>
                <a:uFillTx/>
                <a:latin typeface="Trebuchet MS"/>
                <a:ea typeface="+mn-ea"/>
                <a:cs typeface="+mn-cs"/>
              </a:rPr>
              <a:t>Dormant base activation </a:t>
            </a:r>
          </a:p>
        </p:txBody>
      </p:sp>
      <p:sp>
        <p:nvSpPr>
          <p:cNvPr id="72" name="Oval 20">
            <a:extLst>
              <a:ext uri="{FF2B5EF4-FFF2-40B4-BE49-F238E27FC236}">
                <a16:creationId xmlns:a16="http://schemas.microsoft.com/office/drawing/2014/main" id="{A516C1D6-8B17-4BEE-87BE-A24A4AA8CDA7}"/>
              </a:ext>
            </a:extLst>
          </p:cNvPr>
          <p:cNvSpPr>
            <a:spLocks noChangeAspect="1" noChangeArrowheads="1"/>
          </p:cNvSpPr>
          <p:nvPr/>
        </p:nvSpPr>
        <p:spPr bwMode="auto">
          <a:xfrm>
            <a:off x="2423772" y="72122"/>
            <a:ext cx="253645" cy="253645"/>
          </a:xfrm>
          <a:prstGeom prst="ellipse">
            <a:avLst/>
          </a:prstGeom>
          <a:solidFill>
            <a:srgbClr val="03522D"/>
          </a:solidFill>
          <a:ln>
            <a:noFill/>
          </a:ln>
        </p:spPr>
        <p:txBody>
          <a:bodyPr vert="horz" wrap="square" lIns="0" tIns="0" rIns="0" bIns="0" numCol="1" anchor="ctr" anchorCtr="0" compatLnSpc="1">
            <a:prstTxWarp prst="textNoShape">
              <a:avLst/>
            </a:prstTxWarp>
          </a:bodyPr>
          <a:lstStyle/>
          <a:p>
            <a:pPr algn="ctr"/>
            <a:r>
              <a:rPr lang="en-US" sz="1200">
                <a:solidFill>
                  <a:schemeClr val="bg1"/>
                </a:solidFill>
              </a:rPr>
              <a:t>A3</a:t>
            </a:r>
          </a:p>
        </p:txBody>
      </p:sp>
      <p:sp>
        <p:nvSpPr>
          <p:cNvPr id="73" name="ee4pHeader1">
            <a:extLst>
              <a:ext uri="{FF2B5EF4-FFF2-40B4-BE49-F238E27FC236}">
                <a16:creationId xmlns:a16="http://schemas.microsoft.com/office/drawing/2014/main" id="{C3538AA6-25F8-4C9F-BCEA-88D372A480E2}"/>
              </a:ext>
            </a:extLst>
          </p:cNvPr>
          <p:cNvSpPr txBox="1"/>
          <p:nvPr/>
        </p:nvSpPr>
        <p:spPr>
          <a:xfrm>
            <a:off x="2775998" y="106611"/>
            <a:ext cx="2011680" cy="184666"/>
          </a:xfrm>
          <a:prstGeom prst="rect">
            <a:avLst/>
          </a:prstGeom>
          <a:noFill/>
          <a:ln cap="rnd">
            <a:noFill/>
          </a:ln>
        </p:spPr>
        <p:txBody>
          <a:bodyPr wrap="square" lIns="0" tIns="0" rIns="0" bIns="0" rtlCol="0" anchor="b" anchorCtr="0">
            <a:spAutoFit/>
          </a:bodyPr>
          <a:lstStyle/>
          <a:p>
            <a:pPr marL="0" marR="0" lvl="3"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a:ln>
                  <a:noFill/>
                </a:ln>
                <a:solidFill>
                  <a:srgbClr val="575757"/>
                </a:solidFill>
                <a:effectLst/>
                <a:uLnTx/>
                <a:uFillTx/>
                <a:latin typeface="Trebuchet MS"/>
                <a:ea typeface="+mn-ea"/>
                <a:cs typeface="+mn-cs"/>
              </a:rPr>
              <a:t>Tactical customer acquisition</a:t>
            </a:r>
          </a:p>
        </p:txBody>
      </p:sp>
      <p:sp>
        <p:nvSpPr>
          <p:cNvPr id="75" name="ee4pFootnotes">
            <a:extLst>
              <a:ext uri="{FF2B5EF4-FFF2-40B4-BE49-F238E27FC236}">
                <a16:creationId xmlns:a16="http://schemas.microsoft.com/office/drawing/2014/main" id="{6A0E8751-63EA-484F-8892-F90A790C48B0}"/>
              </a:ext>
            </a:extLst>
          </p:cNvPr>
          <p:cNvSpPr>
            <a:spLocks noChangeArrowheads="1"/>
          </p:cNvSpPr>
          <p:nvPr/>
        </p:nvSpPr>
        <p:spPr bwMode="auto">
          <a:xfrm>
            <a:off x="630000" y="6282941"/>
            <a:ext cx="9030914" cy="276999"/>
          </a:xfrm>
          <a:prstGeom prst="rect">
            <a:avLst/>
          </a:prstGeom>
          <a:noFill/>
          <a:ln w="9525" algn="ctr">
            <a:noFill/>
            <a:miter lim="800000"/>
            <a:headEnd type="none" w="lg" len="lg"/>
            <a:tailEnd type="none" w="lg" len="lg"/>
          </a:ln>
        </p:spPr>
        <p:txBody>
          <a:bodyPr vert="horz" wrap="square" lIns="0" tIns="0" rIns="0" bIns="0" anchor="b" anchorCtr="0">
            <a:spAutoFit/>
          </a:bodyPr>
          <a:lstStyle/>
          <a:p>
            <a:pPr marL="228600" indent="-228600">
              <a:lnSpc>
                <a:spcPct val="90000"/>
              </a:lnSpc>
              <a:buAutoNum type="arabicPeriod"/>
            </a:pPr>
            <a:r>
              <a:rPr lang="en-US" sz="1000">
                <a:solidFill>
                  <a:schemeClr val="bg1">
                    <a:lumMod val="50000"/>
                  </a:schemeClr>
                </a:solidFill>
                <a:latin typeface="Trebuchet MS" panose="020B0603020202020204" pitchFamily="34" charset="0"/>
                <a:cs typeface="Arial" pitchFamily="34" charset="0"/>
              </a:rPr>
              <a:t>General purpose loan </a:t>
            </a:r>
          </a:p>
          <a:p>
            <a:pPr>
              <a:lnSpc>
                <a:spcPct val="90000"/>
              </a:lnSpc>
            </a:pPr>
            <a:r>
              <a:rPr lang="en-US" sz="1000">
                <a:solidFill>
                  <a:schemeClr val="bg1">
                    <a:lumMod val="50000"/>
                  </a:schemeClr>
                </a:solidFill>
                <a:latin typeface="Trebuchet MS" panose="020B0603020202020204" pitchFamily="34" charset="0"/>
                <a:cs typeface="Arial" pitchFamily="34" charset="0"/>
              </a:rPr>
              <a:t>Source: Company websites</a:t>
            </a:r>
          </a:p>
        </p:txBody>
      </p:sp>
    </p:spTree>
    <p:extLst>
      <p:ext uri="{BB962C8B-B14F-4D97-AF65-F5344CB8AC3E}">
        <p14:creationId xmlns:p14="http://schemas.microsoft.com/office/powerpoint/2010/main" val="49373542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extLst>
              <p:ext uri="{D42A27DB-BD31-4B8C-83A1-F6EECF244321}">
                <p14:modId xmlns:p14="http://schemas.microsoft.com/office/powerpoint/2010/main" val="303913622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286" imgH="286" progId="TCLayout.ActiveDocument.1">
                  <p:embed/>
                </p:oleObj>
              </mc:Choice>
              <mc:Fallback>
                <p:oleObj name="think-cell Slide" r:id="rId5" imgW="286" imgH="286" progId="TCLayout.ActiveDocument.1">
                  <p:embed/>
                  <p:pic>
                    <p:nvPicPr>
                      <p:cNvPr id="4" name="Object 3"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Title 2"/>
          <p:cNvSpPr>
            <a:spLocks noGrp="1"/>
          </p:cNvSpPr>
          <p:nvPr>
            <p:ph type="title"/>
          </p:nvPr>
        </p:nvSpPr>
        <p:spPr>
          <a:xfrm>
            <a:off x="630000" y="622800"/>
            <a:ext cx="10933350" cy="332399"/>
          </a:xfrm>
        </p:spPr>
        <p:txBody>
          <a:bodyPr vert="horz">
            <a:spAutoFit/>
          </a:bodyPr>
          <a:lstStyle/>
          <a:p>
            <a:pPr>
              <a:buSzPts val="2400"/>
            </a:pPr>
            <a:r>
              <a:rPr lang="zh-TW" altLang="en-US"/>
              <a:t>對標行業做法，目前各大銀行多針對</a:t>
            </a:r>
            <a:r>
              <a:rPr lang="en-US" altLang="zh-TW"/>
              <a:t>XXX</a:t>
            </a:r>
            <a:r>
              <a:rPr lang="zh-TW" altLang="en-US"/>
              <a:t>給予優惠以深耕潛力客戶</a:t>
            </a:r>
            <a:endParaRPr lang="en-US"/>
          </a:p>
        </p:txBody>
      </p:sp>
      <p:sp>
        <p:nvSpPr>
          <p:cNvPr id="12" name="TextBox 11">
            <a:extLst>
              <a:ext uri="{FF2B5EF4-FFF2-40B4-BE49-F238E27FC236}">
                <a16:creationId xmlns:a16="http://schemas.microsoft.com/office/drawing/2014/main" id="{B367F2F6-94DA-447B-BBD8-7422270D2938}"/>
              </a:ext>
            </a:extLst>
          </p:cNvPr>
          <p:cNvSpPr txBox="1"/>
          <p:nvPr/>
        </p:nvSpPr>
        <p:spPr>
          <a:xfrm>
            <a:off x="506650" y="3406996"/>
            <a:ext cx="929579" cy="1292662"/>
          </a:xfrm>
          <a:prstGeom prst="rect">
            <a:avLst/>
          </a:prstGeom>
          <a:noFill/>
          <a:ln w="19050" cap="rnd" cmpd="sng" algn="ctr">
            <a:solidFill>
              <a:srgbClr val="29BA74"/>
            </a:solidFill>
            <a:prstDash val="solid"/>
            <a:round/>
            <a:headEnd type="none" w="med" len="med"/>
            <a:tailEnd type="none" w="med" len="me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 tIns="18288" rIns="18288" bIns="1828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575757"/>
                </a:solidFill>
                <a:effectLst/>
                <a:uLnTx/>
                <a:uFillTx/>
                <a:latin typeface="Trebuchet MS"/>
                <a:ea typeface="+mn-ea"/>
                <a:cs typeface="+mn-cs"/>
              </a:rPr>
              <a:t>Hook product</a:t>
            </a:r>
            <a:endParaRPr kumimoji="0" lang="en-US" sz="1400" b="0" i="0" u="none" strike="noStrike" kern="1200" cap="none" spc="0" normalizeH="0" baseline="0" noProof="0">
              <a:ln>
                <a:noFill/>
              </a:ln>
              <a:solidFill>
                <a:srgbClr val="29BA74"/>
              </a:solidFill>
              <a:effectLst/>
              <a:uLnTx/>
              <a:uFillTx/>
              <a:latin typeface="Trebuchet MS"/>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29BA74"/>
                </a:solidFill>
                <a:effectLst/>
                <a:uLnTx/>
                <a:uFillTx/>
                <a:latin typeface="Trebuchet MS"/>
                <a:ea typeface="+mn-ea"/>
                <a:cs typeface="+mn-cs"/>
              </a:rPr>
              <a:t>Value proposition</a:t>
            </a:r>
            <a:endParaRPr kumimoji="0" lang="en-US" sz="1400" b="0" i="0" u="none" strike="noStrike" kern="1200" cap="none" spc="0" normalizeH="0" baseline="0" noProof="0">
              <a:ln>
                <a:noFill/>
              </a:ln>
              <a:solidFill>
                <a:srgbClr val="575757"/>
              </a:solidFill>
              <a:effectLst/>
              <a:uLnTx/>
              <a:uFillTx/>
              <a:latin typeface="Trebuchet MS"/>
              <a:ea typeface="+mn-ea"/>
              <a:cs typeface="+mn-cs"/>
            </a:endParaRPr>
          </a:p>
        </p:txBody>
      </p:sp>
      <p:sp>
        <p:nvSpPr>
          <p:cNvPr id="122" name="Rectangle 121">
            <a:extLst>
              <a:ext uri="{FF2B5EF4-FFF2-40B4-BE49-F238E27FC236}">
                <a16:creationId xmlns:a16="http://schemas.microsoft.com/office/drawing/2014/main" id="{AE910F7D-3578-413F-8AB4-8797D55C610C}"/>
              </a:ext>
            </a:extLst>
          </p:cNvPr>
          <p:cNvSpPr/>
          <p:nvPr/>
        </p:nvSpPr>
        <p:spPr>
          <a:xfrm>
            <a:off x="9580088" y="1528502"/>
            <a:ext cx="1880271" cy="4555295"/>
          </a:xfrm>
          <a:prstGeom prst="rect">
            <a:avLst/>
          </a:prstGeom>
          <a:noFill/>
          <a:ln w="9525" cap="rnd" cmpd="sng" algn="ctr">
            <a:solidFill>
              <a:schemeClr val="tx2"/>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Trebuchet MS"/>
              <a:ea typeface="+mn-ea"/>
              <a:cs typeface="+mn-cs"/>
              <a:sym typeface="Trebuchet MS" panose="020B0603020202020204" pitchFamily="34" charset="0"/>
            </a:endParaRPr>
          </a:p>
        </p:txBody>
      </p:sp>
      <p:sp>
        <p:nvSpPr>
          <p:cNvPr id="123" name="Rectangle 122">
            <a:extLst>
              <a:ext uri="{FF2B5EF4-FFF2-40B4-BE49-F238E27FC236}">
                <a16:creationId xmlns:a16="http://schemas.microsoft.com/office/drawing/2014/main" id="{21783683-52DC-45CA-9D0D-CD772E95A95A}"/>
              </a:ext>
            </a:extLst>
          </p:cNvPr>
          <p:cNvSpPr/>
          <p:nvPr/>
        </p:nvSpPr>
        <p:spPr>
          <a:xfrm>
            <a:off x="10851096" y="1481905"/>
            <a:ext cx="352479" cy="71129"/>
          </a:xfrm>
          <a:prstGeom prst="rect">
            <a:avLst/>
          </a:prstGeom>
          <a:solidFill>
            <a:srgbClr val="FFFFFF"/>
          </a:solidFill>
          <a:ln w="9525" cap="flat" cmpd="sng" algn="ctr">
            <a:no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Trebuchet MS"/>
              <a:ea typeface="+mn-ea"/>
              <a:cs typeface="+mn-cs"/>
            </a:endParaRPr>
          </a:p>
        </p:txBody>
      </p:sp>
      <p:sp>
        <p:nvSpPr>
          <p:cNvPr id="124" name="Diamond 123">
            <a:extLst>
              <a:ext uri="{FF2B5EF4-FFF2-40B4-BE49-F238E27FC236}">
                <a16:creationId xmlns:a16="http://schemas.microsoft.com/office/drawing/2014/main" id="{29C6CCCD-660A-4030-A347-45FEFB890D14}"/>
              </a:ext>
            </a:extLst>
          </p:cNvPr>
          <p:cNvSpPr/>
          <p:nvPr/>
        </p:nvSpPr>
        <p:spPr>
          <a:xfrm>
            <a:off x="10852511" y="1278682"/>
            <a:ext cx="709489" cy="710337"/>
          </a:xfrm>
          <a:prstGeom prst="diamond">
            <a:avLst/>
          </a:prstGeom>
          <a:solidFill>
            <a:srgbClr val="FFFFFF"/>
          </a:solidFill>
          <a:ln w="19050"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4295" tIns="37148" rIns="74295" bIns="3714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813"/>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Trebuchet MS"/>
              <a:ea typeface="+mn-ea"/>
              <a:cs typeface="+mn-cs"/>
              <a:sym typeface="Trebuchet MS" panose="020B0603020202020204" pitchFamily="34" charset="0"/>
            </a:endParaRPr>
          </a:p>
        </p:txBody>
      </p:sp>
      <p:sp>
        <p:nvSpPr>
          <p:cNvPr id="125" name="Arrow: Chevron 59">
            <a:extLst>
              <a:ext uri="{FF2B5EF4-FFF2-40B4-BE49-F238E27FC236}">
                <a16:creationId xmlns:a16="http://schemas.microsoft.com/office/drawing/2014/main" id="{180D808A-8879-4D9E-9F99-7544F603C906}"/>
              </a:ext>
            </a:extLst>
          </p:cNvPr>
          <p:cNvSpPr/>
          <p:nvPr/>
        </p:nvSpPr>
        <p:spPr>
          <a:xfrm flipH="1">
            <a:off x="9740354" y="1409397"/>
            <a:ext cx="1282435" cy="458654"/>
          </a:xfrm>
          <a:prstGeom prst="chevron">
            <a:avLst>
              <a:gd name="adj" fmla="val 51207"/>
            </a:avLst>
          </a:prstGeom>
          <a:solidFill>
            <a:schemeClr val="tx2"/>
          </a:solidFill>
          <a:ln w="12700" cap="flat" cmpd="sng" algn="ctr">
            <a:solidFill>
              <a:schemeClr val="tx2"/>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latin typeface="Trebuchet MS"/>
              <a:ea typeface="+mn-ea"/>
              <a:cs typeface="+mn-cs"/>
            </a:endParaRPr>
          </a:p>
        </p:txBody>
      </p:sp>
      <p:sp>
        <p:nvSpPr>
          <p:cNvPr id="126" name="Rectangle: Rounded Corners 60">
            <a:extLst>
              <a:ext uri="{FF2B5EF4-FFF2-40B4-BE49-F238E27FC236}">
                <a16:creationId xmlns:a16="http://schemas.microsoft.com/office/drawing/2014/main" id="{1BA1FD73-5087-4C1B-977D-8222C2BE62E2}"/>
              </a:ext>
            </a:extLst>
          </p:cNvPr>
          <p:cNvSpPr/>
          <p:nvPr/>
        </p:nvSpPr>
        <p:spPr>
          <a:xfrm>
            <a:off x="9580089" y="1409397"/>
            <a:ext cx="1087872" cy="458654"/>
          </a:xfrm>
          <a:prstGeom prst="roundRect">
            <a:avLst>
              <a:gd name="adj" fmla="val 11456"/>
            </a:avLst>
          </a:prstGeom>
          <a:solidFill>
            <a:schemeClr val="tx2"/>
          </a:solidFill>
          <a:ln w="12700" cap="flat" cmpd="sng" algn="ctr">
            <a:solidFill>
              <a:schemeClr val="tx2"/>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wrap="none" lIns="91440" tIns="45720" rIns="91440" bIns="4572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Trebuchet MS"/>
                <a:ea typeface="+mn-ea"/>
                <a:cs typeface="+mn-cs"/>
              </a:rPr>
              <a:t>Investment</a:t>
            </a:r>
            <a:br>
              <a:rPr kumimoji="0" lang="en-US" sz="1400" b="0" i="0" u="none" strike="noStrike" kern="1200" cap="none" spc="0" normalizeH="0" baseline="0" noProof="0">
                <a:ln>
                  <a:noFill/>
                </a:ln>
                <a:solidFill>
                  <a:prstClr val="white"/>
                </a:solidFill>
                <a:effectLst/>
                <a:uLnTx/>
                <a:uFillTx/>
                <a:latin typeface="Trebuchet MS"/>
                <a:ea typeface="+mn-ea"/>
                <a:cs typeface="+mn-cs"/>
              </a:rPr>
            </a:br>
            <a:r>
              <a:rPr kumimoji="0" lang="en-US" sz="1400" b="0" i="0" u="none" strike="noStrike" kern="1200" cap="none" spc="0" normalizeH="0" baseline="0" noProof="0">
                <a:ln>
                  <a:noFill/>
                </a:ln>
                <a:solidFill>
                  <a:prstClr val="white"/>
                </a:solidFill>
                <a:effectLst/>
                <a:uLnTx/>
                <a:uFillTx/>
                <a:latin typeface="Trebuchet MS"/>
                <a:ea typeface="+mn-ea"/>
                <a:cs typeface="+mn-cs"/>
              </a:rPr>
              <a:t>Domain</a:t>
            </a:r>
          </a:p>
        </p:txBody>
      </p:sp>
      <p:sp>
        <p:nvSpPr>
          <p:cNvPr id="128" name="Rectangle 127">
            <a:extLst>
              <a:ext uri="{FF2B5EF4-FFF2-40B4-BE49-F238E27FC236}">
                <a16:creationId xmlns:a16="http://schemas.microsoft.com/office/drawing/2014/main" id="{880BA536-0A9D-4D8F-B3AE-2746DC133612}"/>
              </a:ext>
            </a:extLst>
          </p:cNvPr>
          <p:cNvSpPr/>
          <p:nvPr/>
        </p:nvSpPr>
        <p:spPr>
          <a:xfrm>
            <a:off x="10939417" y="6038077"/>
            <a:ext cx="520942" cy="4572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90000"/>
              </a:lnSpc>
              <a:spcBef>
                <a:spcPts val="0"/>
              </a:spcBef>
              <a:spcAft>
                <a:spcPts val="100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Trebuchet MS"/>
              <a:ea typeface="+mn-ea"/>
              <a:cs typeface="+mn-cs"/>
              <a:sym typeface="Trebuchet MS" panose="020B0603020202020204" pitchFamily="34" charset="0"/>
            </a:endParaRPr>
          </a:p>
        </p:txBody>
      </p:sp>
      <p:sp>
        <p:nvSpPr>
          <p:cNvPr id="147" name="Rectangle 146">
            <a:extLst>
              <a:ext uri="{FF2B5EF4-FFF2-40B4-BE49-F238E27FC236}">
                <a16:creationId xmlns:a16="http://schemas.microsoft.com/office/drawing/2014/main" id="{AE910F7D-3578-413F-8AB4-8797D55C610C}"/>
              </a:ext>
            </a:extLst>
          </p:cNvPr>
          <p:cNvSpPr/>
          <p:nvPr/>
        </p:nvSpPr>
        <p:spPr>
          <a:xfrm>
            <a:off x="6648631" y="1528502"/>
            <a:ext cx="2752862" cy="4555295"/>
          </a:xfrm>
          <a:prstGeom prst="rect">
            <a:avLst/>
          </a:prstGeom>
          <a:noFill/>
          <a:ln w="9525" cap="rnd" cmpd="sng" algn="ctr">
            <a:solidFill>
              <a:schemeClr val="tx2"/>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Trebuchet MS"/>
              <a:ea typeface="+mn-ea"/>
              <a:cs typeface="+mn-cs"/>
              <a:sym typeface="Trebuchet MS" panose="020B0603020202020204" pitchFamily="34" charset="0"/>
            </a:endParaRPr>
          </a:p>
        </p:txBody>
      </p:sp>
      <p:sp>
        <p:nvSpPr>
          <p:cNvPr id="153" name="Rectangle 152">
            <a:extLst>
              <a:ext uri="{FF2B5EF4-FFF2-40B4-BE49-F238E27FC236}">
                <a16:creationId xmlns:a16="http://schemas.microsoft.com/office/drawing/2014/main" id="{21783683-52DC-45CA-9D0D-CD772E95A95A}"/>
              </a:ext>
            </a:extLst>
          </p:cNvPr>
          <p:cNvSpPr/>
          <p:nvPr/>
        </p:nvSpPr>
        <p:spPr>
          <a:xfrm>
            <a:off x="8808970" y="1481905"/>
            <a:ext cx="352479" cy="71129"/>
          </a:xfrm>
          <a:prstGeom prst="rect">
            <a:avLst/>
          </a:prstGeom>
          <a:solidFill>
            <a:srgbClr val="FFFFFF"/>
          </a:solidFill>
          <a:ln w="9525" cap="flat" cmpd="sng" algn="ctr">
            <a:no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Trebuchet MS"/>
              <a:ea typeface="+mn-ea"/>
              <a:cs typeface="+mn-cs"/>
            </a:endParaRPr>
          </a:p>
        </p:txBody>
      </p:sp>
      <p:sp>
        <p:nvSpPr>
          <p:cNvPr id="154" name="Diamond 153">
            <a:extLst>
              <a:ext uri="{FF2B5EF4-FFF2-40B4-BE49-F238E27FC236}">
                <a16:creationId xmlns:a16="http://schemas.microsoft.com/office/drawing/2014/main" id="{29C6CCCD-660A-4030-A347-45FEFB890D14}"/>
              </a:ext>
            </a:extLst>
          </p:cNvPr>
          <p:cNvSpPr/>
          <p:nvPr/>
        </p:nvSpPr>
        <p:spPr>
          <a:xfrm>
            <a:off x="8810385" y="1278682"/>
            <a:ext cx="709489" cy="710337"/>
          </a:xfrm>
          <a:prstGeom prst="diamond">
            <a:avLst/>
          </a:prstGeom>
          <a:solidFill>
            <a:srgbClr val="FFFFFF"/>
          </a:solidFill>
          <a:ln w="19050"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4295" tIns="37148" rIns="74295" bIns="3714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813"/>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Trebuchet MS"/>
              <a:ea typeface="+mn-ea"/>
              <a:cs typeface="+mn-cs"/>
              <a:sym typeface="Trebuchet MS" panose="020B0603020202020204" pitchFamily="34" charset="0"/>
            </a:endParaRPr>
          </a:p>
        </p:txBody>
      </p:sp>
      <p:grpSp>
        <p:nvGrpSpPr>
          <p:cNvPr id="149" name="Group 148"/>
          <p:cNvGrpSpPr/>
          <p:nvPr/>
        </p:nvGrpSpPr>
        <p:grpSpPr>
          <a:xfrm>
            <a:off x="6648632" y="1409397"/>
            <a:ext cx="2318654" cy="458654"/>
            <a:chOff x="3718526" y="1954346"/>
            <a:chExt cx="1442700" cy="458654"/>
          </a:xfrm>
        </p:grpSpPr>
        <p:sp>
          <p:nvSpPr>
            <p:cNvPr id="151" name="Arrow: Chevron 59">
              <a:extLst>
                <a:ext uri="{FF2B5EF4-FFF2-40B4-BE49-F238E27FC236}">
                  <a16:creationId xmlns:a16="http://schemas.microsoft.com/office/drawing/2014/main" id="{180D808A-8879-4D9E-9F99-7544F603C906}"/>
                </a:ext>
              </a:extLst>
            </p:cNvPr>
            <p:cNvSpPr/>
            <p:nvPr/>
          </p:nvSpPr>
          <p:spPr>
            <a:xfrm flipH="1">
              <a:off x="3878791" y="1954346"/>
              <a:ext cx="1282435" cy="458654"/>
            </a:xfrm>
            <a:prstGeom prst="chevron">
              <a:avLst>
                <a:gd name="adj" fmla="val 51207"/>
              </a:avLst>
            </a:prstGeom>
            <a:solidFill>
              <a:schemeClr val="tx2"/>
            </a:solidFill>
            <a:ln w="12700" cap="flat" cmpd="sng" algn="ctr">
              <a:solidFill>
                <a:schemeClr val="tx2"/>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latin typeface="Trebuchet MS"/>
                <a:ea typeface="+mn-ea"/>
                <a:cs typeface="+mn-cs"/>
              </a:endParaRPr>
            </a:p>
          </p:txBody>
        </p:sp>
        <p:sp>
          <p:nvSpPr>
            <p:cNvPr id="152" name="Rectangle: Rounded Corners 60">
              <a:extLst>
                <a:ext uri="{FF2B5EF4-FFF2-40B4-BE49-F238E27FC236}">
                  <a16:creationId xmlns:a16="http://schemas.microsoft.com/office/drawing/2014/main" id="{1BA1FD73-5087-4C1B-977D-8222C2BE62E2}"/>
                </a:ext>
              </a:extLst>
            </p:cNvPr>
            <p:cNvSpPr/>
            <p:nvPr/>
          </p:nvSpPr>
          <p:spPr>
            <a:xfrm>
              <a:off x="3718526" y="1954346"/>
              <a:ext cx="1087872" cy="458654"/>
            </a:xfrm>
            <a:prstGeom prst="roundRect">
              <a:avLst>
                <a:gd name="adj" fmla="val 11456"/>
              </a:avLst>
            </a:prstGeom>
            <a:solidFill>
              <a:schemeClr val="tx2"/>
            </a:solidFill>
            <a:ln w="12700" cap="flat" cmpd="sng" algn="ctr">
              <a:solidFill>
                <a:schemeClr val="tx2"/>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wrap="none" lIns="91440" tIns="45720" rIns="91440" bIns="4572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Trebuchet MS"/>
                  <a:ea typeface="+mn-ea"/>
                  <a:cs typeface="+mn-cs"/>
                </a:rPr>
                <a:t>Daily Banking Domain</a:t>
              </a:r>
            </a:p>
          </p:txBody>
        </p:sp>
      </p:grpSp>
      <p:sp>
        <p:nvSpPr>
          <p:cNvPr id="150" name="Rectangle 149">
            <a:extLst>
              <a:ext uri="{FF2B5EF4-FFF2-40B4-BE49-F238E27FC236}">
                <a16:creationId xmlns:a16="http://schemas.microsoft.com/office/drawing/2014/main" id="{880BA536-0A9D-4D8F-B3AE-2746DC133612}"/>
              </a:ext>
            </a:extLst>
          </p:cNvPr>
          <p:cNvSpPr/>
          <p:nvPr/>
        </p:nvSpPr>
        <p:spPr>
          <a:xfrm>
            <a:off x="8880551" y="6038077"/>
            <a:ext cx="520942" cy="4572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90000"/>
              </a:lnSpc>
              <a:spcBef>
                <a:spcPts val="0"/>
              </a:spcBef>
              <a:spcAft>
                <a:spcPts val="100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Trebuchet MS"/>
              <a:ea typeface="+mn-ea"/>
              <a:cs typeface="+mn-cs"/>
              <a:sym typeface="Trebuchet MS" panose="020B0603020202020204" pitchFamily="34" charset="0"/>
            </a:endParaRPr>
          </a:p>
        </p:txBody>
      </p:sp>
      <p:grpSp>
        <p:nvGrpSpPr>
          <p:cNvPr id="170" name="Group 169">
            <a:extLst>
              <a:ext uri="{FF2B5EF4-FFF2-40B4-BE49-F238E27FC236}">
                <a16:creationId xmlns:a16="http://schemas.microsoft.com/office/drawing/2014/main" id="{01D36FF7-751E-45EC-AC82-D6EE029F4E40}"/>
              </a:ext>
            </a:extLst>
          </p:cNvPr>
          <p:cNvGrpSpPr>
            <a:grpSpLocks noChangeAspect="1"/>
          </p:cNvGrpSpPr>
          <p:nvPr/>
        </p:nvGrpSpPr>
        <p:grpSpPr>
          <a:xfrm>
            <a:off x="11031276" y="1457700"/>
            <a:ext cx="351960" cy="352300"/>
            <a:chOff x="5273675" y="2605088"/>
            <a:chExt cx="1644650" cy="1646237"/>
          </a:xfrm>
        </p:grpSpPr>
        <p:sp>
          <p:nvSpPr>
            <p:cNvPr id="171" name="AutoShape 3">
              <a:extLst>
                <a:ext uri="{FF2B5EF4-FFF2-40B4-BE49-F238E27FC236}">
                  <a16:creationId xmlns:a16="http://schemas.microsoft.com/office/drawing/2014/main" id="{9E729C38-10C6-4CDF-9270-AB33E741D266}"/>
                </a:ext>
              </a:extLst>
            </p:cNvPr>
            <p:cNvSpPr>
              <a:spLocks noChangeAspect="1" noChangeArrowheads="1" noTextEdit="1"/>
            </p:cNvSpPr>
            <p:nvPr/>
          </p:nvSpPr>
          <p:spPr bwMode="auto">
            <a:xfrm>
              <a:off x="5273675" y="2605088"/>
              <a:ext cx="1644650" cy="1646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nvGrpSpPr>
            <p:cNvPr id="172" name="Group 171">
              <a:extLst>
                <a:ext uri="{FF2B5EF4-FFF2-40B4-BE49-F238E27FC236}">
                  <a16:creationId xmlns:a16="http://schemas.microsoft.com/office/drawing/2014/main" id="{0B5FC087-5ADB-4E31-A8F3-71132BDBD889}"/>
                </a:ext>
              </a:extLst>
            </p:cNvPr>
            <p:cNvGrpSpPr/>
            <p:nvPr/>
          </p:nvGrpSpPr>
          <p:grpSpPr>
            <a:xfrm>
              <a:off x="5497179" y="2775744"/>
              <a:ext cx="1197643" cy="1304925"/>
              <a:chOff x="5497974" y="2774950"/>
              <a:chExt cx="1197643" cy="1304925"/>
            </a:xfrm>
          </p:grpSpPr>
          <p:sp>
            <p:nvSpPr>
              <p:cNvPr id="173" name="Freeform 5">
                <a:extLst>
                  <a:ext uri="{FF2B5EF4-FFF2-40B4-BE49-F238E27FC236}">
                    <a16:creationId xmlns:a16="http://schemas.microsoft.com/office/drawing/2014/main" id="{A3A6F2D6-1E97-457D-B034-B6694CD66F35}"/>
                  </a:ext>
                </a:extLst>
              </p:cNvPr>
              <p:cNvSpPr>
                <a:spLocks/>
              </p:cNvSpPr>
              <p:nvPr/>
            </p:nvSpPr>
            <p:spPr bwMode="auto">
              <a:xfrm>
                <a:off x="5780088" y="2838450"/>
                <a:ext cx="633413" cy="246062"/>
              </a:xfrm>
              <a:custGeom>
                <a:avLst/>
                <a:gdLst>
                  <a:gd name="connsiteX0" fmla="*/ 368300 w 633413"/>
                  <a:gd name="connsiteY0" fmla="*/ 0 h 246062"/>
                  <a:gd name="connsiteX1" fmla="*/ 595540 w 633413"/>
                  <a:gd name="connsiteY1" fmla="*/ 0 h 246062"/>
                  <a:gd name="connsiteX2" fmla="*/ 595540 w 633413"/>
                  <a:gd name="connsiteY2" fmla="*/ 718 h 246062"/>
                  <a:gd name="connsiteX3" fmla="*/ 594111 w 633413"/>
                  <a:gd name="connsiteY3" fmla="*/ 10043 h 246062"/>
                  <a:gd name="connsiteX4" fmla="*/ 622694 w 633413"/>
                  <a:gd name="connsiteY4" fmla="*/ 39456 h 246062"/>
                  <a:gd name="connsiteX5" fmla="*/ 631984 w 633413"/>
                  <a:gd name="connsiteY5" fmla="*/ 37304 h 246062"/>
                  <a:gd name="connsiteX6" fmla="*/ 633413 w 633413"/>
                  <a:gd name="connsiteY6" fmla="*/ 38021 h 246062"/>
                  <a:gd name="connsiteX7" fmla="*/ 633413 w 633413"/>
                  <a:gd name="connsiteY7" fmla="*/ 209476 h 246062"/>
                  <a:gd name="connsiteX8" fmla="*/ 631984 w 633413"/>
                  <a:gd name="connsiteY8" fmla="*/ 210910 h 246062"/>
                  <a:gd name="connsiteX9" fmla="*/ 622694 w 633413"/>
                  <a:gd name="connsiteY9" fmla="*/ 208758 h 246062"/>
                  <a:gd name="connsiteX10" fmla="*/ 594111 w 633413"/>
                  <a:gd name="connsiteY10" fmla="*/ 237454 h 246062"/>
                  <a:gd name="connsiteX11" fmla="*/ 594825 w 633413"/>
                  <a:gd name="connsiteY11" fmla="*/ 245345 h 246062"/>
                  <a:gd name="connsiteX12" fmla="*/ 594825 w 633413"/>
                  <a:gd name="connsiteY12" fmla="*/ 246062 h 246062"/>
                  <a:gd name="connsiteX13" fmla="*/ 368300 w 633413"/>
                  <a:gd name="connsiteY13" fmla="*/ 246062 h 246062"/>
                  <a:gd name="connsiteX14" fmla="*/ 369015 w 633413"/>
                  <a:gd name="connsiteY14" fmla="*/ 244627 h 246062"/>
                  <a:gd name="connsiteX15" fmla="*/ 426182 w 633413"/>
                  <a:gd name="connsiteY15" fmla="*/ 123390 h 246062"/>
                  <a:gd name="connsiteX16" fmla="*/ 369015 w 633413"/>
                  <a:gd name="connsiteY16" fmla="*/ 1435 h 246062"/>
                  <a:gd name="connsiteX17" fmla="*/ 368300 w 633413"/>
                  <a:gd name="connsiteY17" fmla="*/ 0 h 246062"/>
                  <a:gd name="connsiteX18" fmla="*/ 38611 w 633413"/>
                  <a:gd name="connsiteY18" fmla="*/ 0 h 246062"/>
                  <a:gd name="connsiteX19" fmla="*/ 265985 w 633413"/>
                  <a:gd name="connsiteY19" fmla="*/ 0 h 246062"/>
                  <a:gd name="connsiteX20" fmla="*/ 265270 w 633413"/>
                  <a:gd name="connsiteY20" fmla="*/ 1435 h 246062"/>
                  <a:gd name="connsiteX21" fmla="*/ 208069 w 633413"/>
                  <a:gd name="connsiteY21" fmla="*/ 123390 h 246062"/>
                  <a:gd name="connsiteX22" fmla="*/ 265270 w 633413"/>
                  <a:gd name="connsiteY22" fmla="*/ 244627 h 246062"/>
                  <a:gd name="connsiteX23" fmla="*/ 265985 w 633413"/>
                  <a:gd name="connsiteY23" fmla="*/ 246062 h 246062"/>
                  <a:gd name="connsiteX24" fmla="*/ 38611 w 633413"/>
                  <a:gd name="connsiteY24" fmla="*/ 246062 h 246062"/>
                  <a:gd name="connsiteX25" fmla="*/ 38611 w 633413"/>
                  <a:gd name="connsiteY25" fmla="*/ 245345 h 246062"/>
                  <a:gd name="connsiteX26" fmla="*/ 40041 w 633413"/>
                  <a:gd name="connsiteY26" fmla="*/ 237454 h 246062"/>
                  <a:gd name="connsiteX27" fmla="*/ 10725 w 633413"/>
                  <a:gd name="connsiteY27" fmla="*/ 208758 h 246062"/>
                  <a:gd name="connsiteX28" fmla="*/ 2145 w 633413"/>
                  <a:gd name="connsiteY28" fmla="*/ 210193 h 246062"/>
                  <a:gd name="connsiteX29" fmla="*/ 0 w 633413"/>
                  <a:gd name="connsiteY29" fmla="*/ 209476 h 246062"/>
                  <a:gd name="connsiteX30" fmla="*/ 0 w 633413"/>
                  <a:gd name="connsiteY30" fmla="*/ 38739 h 246062"/>
                  <a:gd name="connsiteX31" fmla="*/ 2145 w 633413"/>
                  <a:gd name="connsiteY31" fmla="*/ 37304 h 246062"/>
                  <a:gd name="connsiteX32" fmla="*/ 10725 w 633413"/>
                  <a:gd name="connsiteY32" fmla="*/ 39456 h 246062"/>
                  <a:gd name="connsiteX33" fmla="*/ 40041 w 633413"/>
                  <a:gd name="connsiteY33" fmla="*/ 10043 h 246062"/>
                  <a:gd name="connsiteX34" fmla="*/ 38611 w 633413"/>
                  <a:gd name="connsiteY34" fmla="*/ 718 h 246062"/>
                  <a:gd name="connsiteX35" fmla="*/ 38611 w 633413"/>
                  <a:gd name="connsiteY35" fmla="*/ 0 h 246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33413" h="246062">
                    <a:moveTo>
                      <a:pt x="368300" y="0"/>
                    </a:moveTo>
                    <a:cubicBezTo>
                      <a:pt x="368300" y="0"/>
                      <a:pt x="368300" y="0"/>
                      <a:pt x="595540" y="0"/>
                    </a:cubicBezTo>
                    <a:cubicBezTo>
                      <a:pt x="595540" y="0"/>
                      <a:pt x="595540" y="0"/>
                      <a:pt x="595540" y="718"/>
                    </a:cubicBezTo>
                    <a:cubicBezTo>
                      <a:pt x="594825" y="3587"/>
                      <a:pt x="594111" y="7174"/>
                      <a:pt x="594111" y="10043"/>
                    </a:cubicBezTo>
                    <a:cubicBezTo>
                      <a:pt x="594111" y="25826"/>
                      <a:pt x="606973" y="39456"/>
                      <a:pt x="622694" y="39456"/>
                    </a:cubicBezTo>
                    <a:cubicBezTo>
                      <a:pt x="625553" y="39456"/>
                      <a:pt x="629126" y="38021"/>
                      <a:pt x="631984" y="37304"/>
                    </a:cubicBezTo>
                    <a:cubicBezTo>
                      <a:pt x="632699" y="37304"/>
                      <a:pt x="633413" y="37304"/>
                      <a:pt x="633413" y="38021"/>
                    </a:cubicBezTo>
                    <a:cubicBezTo>
                      <a:pt x="633413" y="38021"/>
                      <a:pt x="633413" y="38021"/>
                      <a:pt x="633413" y="209476"/>
                    </a:cubicBezTo>
                    <a:cubicBezTo>
                      <a:pt x="633413" y="210193"/>
                      <a:pt x="632699" y="210910"/>
                      <a:pt x="631984" y="210910"/>
                    </a:cubicBezTo>
                    <a:cubicBezTo>
                      <a:pt x="629126" y="209476"/>
                      <a:pt x="625553" y="208758"/>
                      <a:pt x="622694" y="208758"/>
                    </a:cubicBezTo>
                    <a:cubicBezTo>
                      <a:pt x="606973" y="208758"/>
                      <a:pt x="594111" y="221671"/>
                      <a:pt x="594111" y="237454"/>
                    </a:cubicBezTo>
                    <a:cubicBezTo>
                      <a:pt x="594111" y="240323"/>
                      <a:pt x="594111" y="242475"/>
                      <a:pt x="594825" y="245345"/>
                    </a:cubicBezTo>
                    <a:cubicBezTo>
                      <a:pt x="594825" y="245345"/>
                      <a:pt x="594825" y="245345"/>
                      <a:pt x="594825" y="246062"/>
                    </a:cubicBezTo>
                    <a:cubicBezTo>
                      <a:pt x="594825" y="246062"/>
                      <a:pt x="594825" y="246062"/>
                      <a:pt x="368300" y="246062"/>
                    </a:cubicBezTo>
                    <a:cubicBezTo>
                      <a:pt x="368300" y="245345"/>
                      <a:pt x="368300" y="245345"/>
                      <a:pt x="369015" y="244627"/>
                    </a:cubicBezTo>
                    <a:cubicBezTo>
                      <a:pt x="398313" y="223823"/>
                      <a:pt x="426182" y="176476"/>
                      <a:pt x="426182" y="123390"/>
                    </a:cubicBezTo>
                    <a:cubicBezTo>
                      <a:pt x="426182" y="69586"/>
                      <a:pt x="398313" y="22956"/>
                      <a:pt x="369015" y="1435"/>
                    </a:cubicBezTo>
                    <a:cubicBezTo>
                      <a:pt x="368300" y="718"/>
                      <a:pt x="368300" y="718"/>
                      <a:pt x="368300" y="0"/>
                    </a:cubicBezTo>
                    <a:close/>
                    <a:moveTo>
                      <a:pt x="38611" y="0"/>
                    </a:moveTo>
                    <a:cubicBezTo>
                      <a:pt x="38611" y="0"/>
                      <a:pt x="38611" y="0"/>
                      <a:pt x="265985" y="0"/>
                    </a:cubicBezTo>
                    <a:cubicBezTo>
                      <a:pt x="266700" y="718"/>
                      <a:pt x="265985" y="718"/>
                      <a:pt x="265270" y="1435"/>
                    </a:cubicBezTo>
                    <a:cubicBezTo>
                      <a:pt x="236670" y="22956"/>
                      <a:pt x="208069" y="69586"/>
                      <a:pt x="208069" y="123390"/>
                    </a:cubicBezTo>
                    <a:cubicBezTo>
                      <a:pt x="208069" y="176476"/>
                      <a:pt x="236670" y="223823"/>
                      <a:pt x="265270" y="244627"/>
                    </a:cubicBezTo>
                    <a:cubicBezTo>
                      <a:pt x="265985" y="245345"/>
                      <a:pt x="266700" y="245345"/>
                      <a:pt x="265985" y="246062"/>
                    </a:cubicBezTo>
                    <a:cubicBezTo>
                      <a:pt x="265985" y="246062"/>
                      <a:pt x="265985" y="246062"/>
                      <a:pt x="38611" y="246062"/>
                    </a:cubicBezTo>
                    <a:cubicBezTo>
                      <a:pt x="38611" y="246062"/>
                      <a:pt x="38611" y="246062"/>
                      <a:pt x="38611" y="245345"/>
                    </a:cubicBezTo>
                    <a:cubicBezTo>
                      <a:pt x="39326" y="242475"/>
                      <a:pt x="40041" y="240323"/>
                      <a:pt x="40041" y="237454"/>
                    </a:cubicBezTo>
                    <a:cubicBezTo>
                      <a:pt x="40041" y="221671"/>
                      <a:pt x="26456" y="208758"/>
                      <a:pt x="10725" y="208758"/>
                    </a:cubicBezTo>
                    <a:cubicBezTo>
                      <a:pt x="7865" y="208758"/>
                      <a:pt x="4290" y="209476"/>
                      <a:pt x="2145" y="210193"/>
                    </a:cubicBezTo>
                    <a:cubicBezTo>
                      <a:pt x="715" y="210910"/>
                      <a:pt x="0" y="210193"/>
                      <a:pt x="0" y="209476"/>
                    </a:cubicBezTo>
                    <a:cubicBezTo>
                      <a:pt x="0" y="209476"/>
                      <a:pt x="0" y="209476"/>
                      <a:pt x="0" y="38739"/>
                    </a:cubicBezTo>
                    <a:cubicBezTo>
                      <a:pt x="0" y="37304"/>
                      <a:pt x="715" y="37304"/>
                      <a:pt x="2145" y="37304"/>
                    </a:cubicBezTo>
                    <a:cubicBezTo>
                      <a:pt x="4290" y="38021"/>
                      <a:pt x="7865" y="39456"/>
                      <a:pt x="10725" y="39456"/>
                    </a:cubicBezTo>
                    <a:cubicBezTo>
                      <a:pt x="26456" y="39456"/>
                      <a:pt x="40041" y="25826"/>
                      <a:pt x="40041" y="10043"/>
                    </a:cubicBezTo>
                    <a:cubicBezTo>
                      <a:pt x="40041" y="7174"/>
                      <a:pt x="39326" y="3587"/>
                      <a:pt x="38611" y="718"/>
                    </a:cubicBezTo>
                    <a:cubicBezTo>
                      <a:pt x="38611" y="718"/>
                      <a:pt x="38611" y="718"/>
                      <a:pt x="38611"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174" name="Freeform 6">
                <a:extLst>
                  <a:ext uri="{FF2B5EF4-FFF2-40B4-BE49-F238E27FC236}">
                    <a16:creationId xmlns:a16="http://schemas.microsoft.com/office/drawing/2014/main" id="{C5E795C9-E85D-4AAC-950E-FDD24A839B79}"/>
                  </a:ext>
                </a:extLst>
              </p:cNvPr>
              <p:cNvSpPr>
                <a:spLocks/>
              </p:cNvSpPr>
              <p:nvPr/>
            </p:nvSpPr>
            <p:spPr bwMode="auto">
              <a:xfrm>
                <a:off x="5497974" y="2774950"/>
                <a:ext cx="1197643" cy="1304925"/>
              </a:xfrm>
              <a:custGeom>
                <a:avLst/>
                <a:gdLst>
                  <a:gd name="connsiteX0" fmla="*/ 1077708 w 1197643"/>
                  <a:gd name="connsiteY0" fmla="*/ 315913 h 1304925"/>
                  <a:gd name="connsiteX1" fmla="*/ 1066261 w 1197643"/>
                  <a:gd name="connsiteY1" fmla="*/ 318056 h 1304925"/>
                  <a:gd name="connsiteX2" fmla="*/ 1044083 w 1197643"/>
                  <a:gd name="connsiteY2" fmla="*/ 337344 h 1304925"/>
                  <a:gd name="connsiteX3" fmla="*/ 1041936 w 1197643"/>
                  <a:gd name="connsiteY3" fmla="*/ 366634 h 1304925"/>
                  <a:gd name="connsiteX4" fmla="*/ 1065545 w 1197643"/>
                  <a:gd name="connsiteY4" fmla="*/ 434499 h 1304925"/>
                  <a:gd name="connsiteX5" fmla="*/ 1074130 w 1197643"/>
                  <a:gd name="connsiteY5" fmla="*/ 617379 h 1304925"/>
                  <a:gd name="connsiteX6" fmla="*/ 1071984 w 1197643"/>
                  <a:gd name="connsiteY6" fmla="*/ 623809 h 1304925"/>
                  <a:gd name="connsiteX7" fmla="*/ 966816 w 1197643"/>
                  <a:gd name="connsiteY7" fmla="*/ 788829 h 1304925"/>
                  <a:gd name="connsiteX8" fmla="*/ 946069 w 1197643"/>
                  <a:gd name="connsiteY8" fmla="*/ 805260 h 1304925"/>
                  <a:gd name="connsiteX9" fmla="*/ 920314 w 1197643"/>
                  <a:gd name="connsiteY9" fmla="*/ 814547 h 1304925"/>
                  <a:gd name="connsiteX10" fmla="*/ 885258 w 1197643"/>
                  <a:gd name="connsiteY10" fmla="*/ 795973 h 1304925"/>
                  <a:gd name="connsiteX11" fmla="*/ 882396 w 1197643"/>
                  <a:gd name="connsiteY11" fmla="*/ 756682 h 1304925"/>
                  <a:gd name="connsiteX12" fmla="*/ 931045 w 1197643"/>
                  <a:gd name="connsiteY12" fmla="*/ 646669 h 1304925"/>
                  <a:gd name="connsiteX13" fmla="*/ 917452 w 1197643"/>
                  <a:gd name="connsiteY13" fmla="*/ 605235 h 1304925"/>
                  <a:gd name="connsiteX14" fmla="*/ 901713 w 1197643"/>
                  <a:gd name="connsiteY14" fmla="*/ 600949 h 1304925"/>
                  <a:gd name="connsiteX15" fmla="*/ 873811 w 1197643"/>
                  <a:gd name="connsiteY15" fmla="*/ 616665 h 1304925"/>
                  <a:gd name="connsiteX16" fmla="*/ 710693 w 1197643"/>
                  <a:gd name="connsiteY16" fmla="*/ 875268 h 1304925"/>
                  <a:gd name="connsiteX17" fmla="*/ 688515 w 1197643"/>
                  <a:gd name="connsiteY17" fmla="*/ 950278 h 1304925"/>
                  <a:gd name="connsiteX18" fmla="*/ 689946 w 1197643"/>
                  <a:gd name="connsiteY18" fmla="*/ 1273175 h 1304925"/>
                  <a:gd name="connsiteX19" fmla="*/ 956800 w 1197643"/>
                  <a:gd name="connsiteY19" fmla="*/ 1273175 h 1304925"/>
                  <a:gd name="connsiteX20" fmla="*/ 956800 w 1197643"/>
                  <a:gd name="connsiteY20" fmla="*/ 1096010 h 1304925"/>
                  <a:gd name="connsiteX21" fmla="*/ 956800 w 1197643"/>
                  <a:gd name="connsiteY21" fmla="*/ 1091724 h 1304925"/>
                  <a:gd name="connsiteX22" fmla="*/ 993287 w 1197643"/>
                  <a:gd name="connsiteY22" fmla="*/ 995998 h 1304925"/>
                  <a:gd name="connsiteX23" fmla="*/ 1059822 w 1197643"/>
                  <a:gd name="connsiteY23" fmla="*/ 896700 h 1304925"/>
                  <a:gd name="connsiteX24" fmla="*/ 1153543 w 1197643"/>
                  <a:gd name="connsiteY24" fmla="*/ 672386 h 1304925"/>
                  <a:gd name="connsiteX25" fmla="*/ 1156405 w 1197643"/>
                  <a:gd name="connsiteY25" fmla="*/ 659527 h 1304925"/>
                  <a:gd name="connsiteX26" fmla="*/ 1138519 w 1197643"/>
                  <a:gd name="connsiteY26" fmla="*/ 408067 h 1304925"/>
                  <a:gd name="connsiteX27" fmla="*/ 1113479 w 1197643"/>
                  <a:gd name="connsiteY27" fmla="*/ 340916 h 1304925"/>
                  <a:gd name="connsiteX28" fmla="*/ 1077708 w 1197643"/>
                  <a:gd name="connsiteY28" fmla="*/ 315913 h 1304925"/>
                  <a:gd name="connsiteX29" fmla="*/ 118348 w 1197643"/>
                  <a:gd name="connsiteY29" fmla="*/ 315913 h 1304925"/>
                  <a:gd name="connsiteX30" fmla="*/ 82577 w 1197643"/>
                  <a:gd name="connsiteY30" fmla="*/ 340916 h 1304925"/>
                  <a:gd name="connsiteX31" fmla="*/ 57537 w 1197643"/>
                  <a:gd name="connsiteY31" fmla="*/ 408067 h 1304925"/>
                  <a:gd name="connsiteX32" fmla="*/ 39651 w 1197643"/>
                  <a:gd name="connsiteY32" fmla="*/ 659527 h 1304925"/>
                  <a:gd name="connsiteX33" fmla="*/ 42513 w 1197643"/>
                  <a:gd name="connsiteY33" fmla="*/ 672386 h 1304925"/>
                  <a:gd name="connsiteX34" fmla="*/ 136234 w 1197643"/>
                  <a:gd name="connsiteY34" fmla="*/ 896700 h 1304925"/>
                  <a:gd name="connsiteX35" fmla="*/ 202768 w 1197643"/>
                  <a:gd name="connsiteY35" fmla="*/ 995998 h 1304925"/>
                  <a:gd name="connsiteX36" fmla="*/ 239255 w 1197643"/>
                  <a:gd name="connsiteY36" fmla="*/ 1091724 h 1304925"/>
                  <a:gd name="connsiteX37" fmla="*/ 239255 w 1197643"/>
                  <a:gd name="connsiteY37" fmla="*/ 1096010 h 1304925"/>
                  <a:gd name="connsiteX38" fmla="*/ 239255 w 1197643"/>
                  <a:gd name="connsiteY38" fmla="*/ 1273175 h 1304925"/>
                  <a:gd name="connsiteX39" fmla="*/ 506109 w 1197643"/>
                  <a:gd name="connsiteY39" fmla="*/ 1273175 h 1304925"/>
                  <a:gd name="connsiteX40" fmla="*/ 507540 w 1197643"/>
                  <a:gd name="connsiteY40" fmla="*/ 950278 h 1304925"/>
                  <a:gd name="connsiteX41" fmla="*/ 485362 w 1197643"/>
                  <a:gd name="connsiteY41" fmla="*/ 875268 h 1304925"/>
                  <a:gd name="connsiteX42" fmla="*/ 322245 w 1197643"/>
                  <a:gd name="connsiteY42" fmla="*/ 616665 h 1304925"/>
                  <a:gd name="connsiteX43" fmla="*/ 294343 w 1197643"/>
                  <a:gd name="connsiteY43" fmla="*/ 600949 h 1304925"/>
                  <a:gd name="connsiteX44" fmla="*/ 278604 w 1197643"/>
                  <a:gd name="connsiteY44" fmla="*/ 605235 h 1304925"/>
                  <a:gd name="connsiteX45" fmla="*/ 265010 w 1197643"/>
                  <a:gd name="connsiteY45" fmla="*/ 646669 h 1304925"/>
                  <a:gd name="connsiteX46" fmla="*/ 313659 w 1197643"/>
                  <a:gd name="connsiteY46" fmla="*/ 756682 h 1304925"/>
                  <a:gd name="connsiteX47" fmla="*/ 310798 w 1197643"/>
                  <a:gd name="connsiteY47" fmla="*/ 795973 h 1304925"/>
                  <a:gd name="connsiteX48" fmla="*/ 275742 w 1197643"/>
                  <a:gd name="connsiteY48" fmla="*/ 814547 h 1304925"/>
                  <a:gd name="connsiteX49" fmla="*/ 249986 w 1197643"/>
                  <a:gd name="connsiteY49" fmla="*/ 805260 h 1304925"/>
                  <a:gd name="connsiteX50" fmla="*/ 229239 w 1197643"/>
                  <a:gd name="connsiteY50" fmla="*/ 788829 h 1304925"/>
                  <a:gd name="connsiteX51" fmla="*/ 124071 w 1197643"/>
                  <a:gd name="connsiteY51" fmla="*/ 623809 h 1304925"/>
                  <a:gd name="connsiteX52" fmla="*/ 121925 w 1197643"/>
                  <a:gd name="connsiteY52" fmla="*/ 617379 h 1304925"/>
                  <a:gd name="connsiteX53" fmla="*/ 130510 w 1197643"/>
                  <a:gd name="connsiteY53" fmla="*/ 434499 h 1304925"/>
                  <a:gd name="connsiteX54" fmla="*/ 154119 w 1197643"/>
                  <a:gd name="connsiteY54" fmla="*/ 366634 h 1304925"/>
                  <a:gd name="connsiteX55" fmla="*/ 151973 w 1197643"/>
                  <a:gd name="connsiteY55" fmla="*/ 337344 h 1304925"/>
                  <a:gd name="connsiteX56" fmla="*/ 129795 w 1197643"/>
                  <a:gd name="connsiteY56" fmla="*/ 318056 h 1304925"/>
                  <a:gd name="connsiteX57" fmla="*/ 118348 w 1197643"/>
                  <a:gd name="connsiteY57" fmla="*/ 315913 h 1304925"/>
                  <a:gd name="connsiteX58" fmla="*/ 1078223 w 1197643"/>
                  <a:gd name="connsiteY58" fmla="*/ 284163 h 1304925"/>
                  <a:gd name="connsiteX59" fmla="*/ 1143202 w 1197643"/>
                  <a:gd name="connsiteY59" fmla="*/ 329912 h 1304925"/>
                  <a:gd name="connsiteX60" fmla="*/ 1168195 w 1197643"/>
                  <a:gd name="connsiteY60" fmla="*/ 396390 h 1304925"/>
                  <a:gd name="connsiteX61" fmla="*/ 1186760 w 1197643"/>
                  <a:gd name="connsiteY61" fmla="*/ 665877 h 1304925"/>
                  <a:gd name="connsiteX62" fmla="*/ 1183904 w 1197643"/>
                  <a:gd name="connsiteY62" fmla="*/ 679458 h 1304925"/>
                  <a:gd name="connsiteX63" fmla="*/ 1086077 w 1197643"/>
                  <a:gd name="connsiteY63" fmla="*/ 913919 h 1304925"/>
                  <a:gd name="connsiteX64" fmla="*/ 1020383 w 1197643"/>
                  <a:gd name="connsiteY64" fmla="*/ 1013279 h 1304925"/>
                  <a:gd name="connsiteX65" fmla="*/ 988964 w 1197643"/>
                  <a:gd name="connsiteY65" fmla="*/ 1096198 h 1304925"/>
                  <a:gd name="connsiteX66" fmla="*/ 989678 w 1197643"/>
                  <a:gd name="connsiteY66" fmla="*/ 1289199 h 1304925"/>
                  <a:gd name="connsiteX67" fmla="*/ 973969 w 1197643"/>
                  <a:gd name="connsiteY67" fmla="*/ 1304925 h 1304925"/>
                  <a:gd name="connsiteX68" fmla="*/ 667635 w 1197643"/>
                  <a:gd name="connsiteY68" fmla="*/ 1304925 h 1304925"/>
                  <a:gd name="connsiteX69" fmla="*/ 659780 w 1197643"/>
                  <a:gd name="connsiteY69" fmla="*/ 1291344 h 1304925"/>
                  <a:gd name="connsiteX70" fmla="*/ 658352 w 1197643"/>
                  <a:gd name="connsiteY70" fmla="*/ 950375 h 1304925"/>
                  <a:gd name="connsiteX71" fmla="*/ 684773 w 1197643"/>
                  <a:gd name="connsiteY71" fmla="*/ 858163 h 1304925"/>
                  <a:gd name="connsiteX72" fmla="*/ 849008 w 1197643"/>
                  <a:gd name="connsiteY72" fmla="*/ 599398 h 1304925"/>
                  <a:gd name="connsiteX73" fmla="*/ 902563 w 1197643"/>
                  <a:gd name="connsiteY73" fmla="*/ 569376 h 1304925"/>
                  <a:gd name="connsiteX74" fmla="*/ 933267 w 1197643"/>
                  <a:gd name="connsiteY74" fmla="*/ 577954 h 1304925"/>
                  <a:gd name="connsiteX75" fmla="*/ 960402 w 1197643"/>
                  <a:gd name="connsiteY75" fmla="*/ 659443 h 1304925"/>
                  <a:gd name="connsiteX76" fmla="*/ 911845 w 1197643"/>
                  <a:gd name="connsiteY76" fmla="*/ 769525 h 1304925"/>
                  <a:gd name="connsiteX77" fmla="*/ 921128 w 1197643"/>
                  <a:gd name="connsiteY77" fmla="*/ 783107 h 1304925"/>
                  <a:gd name="connsiteX78" fmla="*/ 926841 w 1197643"/>
                  <a:gd name="connsiteY78" fmla="*/ 780963 h 1304925"/>
                  <a:gd name="connsiteX79" fmla="*/ 948263 w 1197643"/>
                  <a:gd name="connsiteY79" fmla="*/ 763807 h 1304925"/>
                  <a:gd name="connsiteX80" fmla="*/ 1042519 w 1197643"/>
                  <a:gd name="connsiteY80" fmla="*/ 616554 h 1304925"/>
                  <a:gd name="connsiteX81" fmla="*/ 1043947 w 1197643"/>
                  <a:gd name="connsiteY81" fmla="*/ 609406 h 1304925"/>
                  <a:gd name="connsiteX82" fmla="*/ 1036093 w 1197643"/>
                  <a:gd name="connsiteY82" fmla="*/ 444997 h 1304925"/>
                  <a:gd name="connsiteX83" fmla="*/ 1013243 w 1197643"/>
                  <a:gd name="connsiteY83" fmla="*/ 376375 h 1304925"/>
                  <a:gd name="connsiteX84" fmla="*/ 1056801 w 1197643"/>
                  <a:gd name="connsiteY84" fmla="*/ 287737 h 1304925"/>
                  <a:gd name="connsiteX85" fmla="*/ 1078223 w 1197643"/>
                  <a:gd name="connsiteY85" fmla="*/ 284163 h 1304925"/>
                  <a:gd name="connsiteX86" fmla="*/ 119420 w 1197643"/>
                  <a:gd name="connsiteY86" fmla="*/ 284163 h 1304925"/>
                  <a:gd name="connsiteX87" fmla="*/ 140842 w 1197643"/>
                  <a:gd name="connsiteY87" fmla="*/ 287737 h 1304925"/>
                  <a:gd name="connsiteX88" fmla="*/ 184400 w 1197643"/>
                  <a:gd name="connsiteY88" fmla="*/ 376375 h 1304925"/>
                  <a:gd name="connsiteX89" fmla="*/ 161550 w 1197643"/>
                  <a:gd name="connsiteY89" fmla="*/ 444997 h 1304925"/>
                  <a:gd name="connsiteX90" fmla="*/ 153695 w 1197643"/>
                  <a:gd name="connsiteY90" fmla="*/ 609406 h 1304925"/>
                  <a:gd name="connsiteX91" fmla="*/ 155123 w 1197643"/>
                  <a:gd name="connsiteY91" fmla="*/ 616554 h 1304925"/>
                  <a:gd name="connsiteX92" fmla="*/ 249380 w 1197643"/>
                  <a:gd name="connsiteY92" fmla="*/ 763807 h 1304925"/>
                  <a:gd name="connsiteX93" fmla="*/ 270802 w 1197643"/>
                  <a:gd name="connsiteY93" fmla="*/ 780963 h 1304925"/>
                  <a:gd name="connsiteX94" fmla="*/ 276514 w 1197643"/>
                  <a:gd name="connsiteY94" fmla="*/ 783107 h 1304925"/>
                  <a:gd name="connsiteX95" fmla="*/ 285797 w 1197643"/>
                  <a:gd name="connsiteY95" fmla="*/ 769525 h 1304925"/>
                  <a:gd name="connsiteX96" fmla="*/ 237241 w 1197643"/>
                  <a:gd name="connsiteY96" fmla="*/ 659443 h 1304925"/>
                  <a:gd name="connsiteX97" fmla="*/ 264375 w 1197643"/>
                  <a:gd name="connsiteY97" fmla="*/ 577954 h 1304925"/>
                  <a:gd name="connsiteX98" fmla="*/ 295080 w 1197643"/>
                  <a:gd name="connsiteY98" fmla="*/ 569376 h 1304925"/>
                  <a:gd name="connsiteX99" fmla="*/ 348635 w 1197643"/>
                  <a:gd name="connsiteY99" fmla="*/ 599398 h 1304925"/>
                  <a:gd name="connsiteX100" fmla="*/ 512870 w 1197643"/>
                  <a:gd name="connsiteY100" fmla="*/ 858163 h 1304925"/>
                  <a:gd name="connsiteX101" fmla="*/ 539290 w 1197643"/>
                  <a:gd name="connsiteY101" fmla="*/ 950375 h 1304925"/>
                  <a:gd name="connsiteX102" fmla="*/ 537862 w 1197643"/>
                  <a:gd name="connsiteY102" fmla="*/ 1291344 h 1304925"/>
                  <a:gd name="connsiteX103" fmla="*/ 530007 w 1197643"/>
                  <a:gd name="connsiteY103" fmla="*/ 1304925 h 1304925"/>
                  <a:gd name="connsiteX104" fmla="*/ 224387 w 1197643"/>
                  <a:gd name="connsiteY104" fmla="*/ 1304925 h 1304925"/>
                  <a:gd name="connsiteX105" fmla="*/ 223673 w 1197643"/>
                  <a:gd name="connsiteY105" fmla="*/ 1304925 h 1304925"/>
                  <a:gd name="connsiteX106" fmla="*/ 207964 w 1197643"/>
                  <a:gd name="connsiteY106" fmla="*/ 1289199 h 1304925"/>
                  <a:gd name="connsiteX107" fmla="*/ 208678 w 1197643"/>
                  <a:gd name="connsiteY107" fmla="*/ 1096198 h 1304925"/>
                  <a:gd name="connsiteX108" fmla="*/ 177259 w 1197643"/>
                  <a:gd name="connsiteY108" fmla="*/ 1013279 h 1304925"/>
                  <a:gd name="connsiteX109" fmla="*/ 111565 w 1197643"/>
                  <a:gd name="connsiteY109" fmla="*/ 913919 h 1304925"/>
                  <a:gd name="connsiteX110" fmla="*/ 13738 w 1197643"/>
                  <a:gd name="connsiteY110" fmla="*/ 679458 h 1304925"/>
                  <a:gd name="connsiteX111" fmla="*/ 10882 w 1197643"/>
                  <a:gd name="connsiteY111" fmla="*/ 665877 h 1304925"/>
                  <a:gd name="connsiteX112" fmla="*/ 29448 w 1197643"/>
                  <a:gd name="connsiteY112" fmla="*/ 396390 h 1304925"/>
                  <a:gd name="connsiteX113" fmla="*/ 54440 w 1197643"/>
                  <a:gd name="connsiteY113" fmla="*/ 329912 h 1304925"/>
                  <a:gd name="connsiteX114" fmla="*/ 119420 w 1197643"/>
                  <a:gd name="connsiteY114" fmla="*/ 284163 h 1304925"/>
                  <a:gd name="connsiteX115" fmla="*/ 586062 w 1197643"/>
                  <a:gd name="connsiteY115" fmla="*/ 84138 h 1304925"/>
                  <a:gd name="connsiteX116" fmla="*/ 611739 w 1197643"/>
                  <a:gd name="connsiteY116" fmla="*/ 84138 h 1304925"/>
                  <a:gd name="connsiteX117" fmla="*/ 611739 w 1197643"/>
                  <a:gd name="connsiteY117" fmla="*/ 102626 h 1304925"/>
                  <a:gd name="connsiteX118" fmla="*/ 641694 w 1197643"/>
                  <a:gd name="connsiteY118" fmla="*/ 112581 h 1304925"/>
                  <a:gd name="connsiteX119" fmla="*/ 633849 w 1197643"/>
                  <a:gd name="connsiteY119" fmla="*/ 136046 h 1304925"/>
                  <a:gd name="connsiteX120" fmla="*/ 600327 w 1197643"/>
                  <a:gd name="connsiteY120" fmla="*/ 125380 h 1304925"/>
                  <a:gd name="connsiteX121" fmla="*/ 585349 w 1197643"/>
                  <a:gd name="connsiteY121" fmla="*/ 130357 h 1304925"/>
                  <a:gd name="connsiteX122" fmla="*/ 579643 w 1197643"/>
                  <a:gd name="connsiteY122" fmla="*/ 144579 h 1304925"/>
                  <a:gd name="connsiteX123" fmla="*/ 611025 w 1197643"/>
                  <a:gd name="connsiteY123" fmla="*/ 172310 h 1304925"/>
                  <a:gd name="connsiteX124" fmla="*/ 635275 w 1197643"/>
                  <a:gd name="connsiteY124" fmla="*/ 187954 h 1304925"/>
                  <a:gd name="connsiteX125" fmla="*/ 645260 w 1197643"/>
                  <a:gd name="connsiteY125" fmla="*/ 202886 h 1304925"/>
                  <a:gd name="connsiteX126" fmla="*/ 648826 w 1197643"/>
                  <a:gd name="connsiteY126" fmla="*/ 222085 h 1304925"/>
                  <a:gd name="connsiteX127" fmla="*/ 638841 w 1197643"/>
                  <a:gd name="connsiteY127" fmla="*/ 249105 h 1304925"/>
                  <a:gd name="connsiteX128" fmla="*/ 611739 w 1197643"/>
                  <a:gd name="connsiteY128" fmla="*/ 264749 h 1304925"/>
                  <a:gd name="connsiteX129" fmla="*/ 611739 w 1197643"/>
                  <a:gd name="connsiteY129" fmla="*/ 288925 h 1304925"/>
                  <a:gd name="connsiteX130" fmla="*/ 586062 w 1197643"/>
                  <a:gd name="connsiteY130" fmla="*/ 288925 h 1304925"/>
                  <a:gd name="connsiteX131" fmla="*/ 586062 w 1197643"/>
                  <a:gd name="connsiteY131" fmla="*/ 266171 h 1304925"/>
                  <a:gd name="connsiteX132" fmla="*/ 550401 w 1197643"/>
                  <a:gd name="connsiteY132" fmla="*/ 254794 h 1304925"/>
                  <a:gd name="connsiteX133" fmla="*/ 561813 w 1197643"/>
                  <a:gd name="connsiteY133" fmla="*/ 229907 h 1304925"/>
                  <a:gd name="connsiteX134" fmla="*/ 594621 w 1197643"/>
                  <a:gd name="connsiteY134" fmla="*/ 241284 h 1304925"/>
                  <a:gd name="connsiteX135" fmla="*/ 620297 w 1197643"/>
                  <a:gd name="connsiteY135" fmla="*/ 224218 h 1304925"/>
                  <a:gd name="connsiteX136" fmla="*/ 613878 w 1197643"/>
                  <a:gd name="connsiteY136" fmla="*/ 208575 h 1304925"/>
                  <a:gd name="connsiteX137" fmla="*/ 588915 w 1197643"/>
                  <a:gd name="connsiteY137" fmla="*/ 191509 h 1304925"/>
                  <a:gd name="connsiteX138" fmla="*/ 564666 w 1197643"/>
                  <a:gd name="connsiteY138" fmla="*/ 177288 h 1304925"/>
                  <a:gd name="connsiteX139" fmla="*/ 553967 w 1197643"/>
                  <a:gd name="connsiteY139" fmla="*/ 162355 h 1304925"/>
                  <a:gd name="connsiteX140" fmla="*/ 551114 w 1197643"/>
                  <a:gd name="connsiteY140" fmla="*/ 144579 h 1304925"/>
                  <a:gd name="connsiteX141" fmla="*/ 561100 w 1197643"/>
                  <a:gd name="connsiteY141" fmla="*/ 118980 h 1304925"/>
                  <a:gd name="connsiteX142" fmla="*/ 586062 w 1197643"/>
                  <a:gd name="connsiteY142" fmla="*/ 104048 h 1304925"/>
                  <a:gd name="connsiteX143" fmla="*/ 586062 w 1197643"/>
                  <a:gd name="connsiteY143" fmla="*/ 84138 h 1304925"/>
                  <a:gd name="connsiteX144" fmla="*/ 248776 w 1197643"/>
                  <a:gd name="connsiteY144" fmla="*/ 31750 h 1304925"/>
                  <a:gd name="connsiteX145" fmla="*/ 248776 w 1197643"/>
                  <a:gd name="connsiteY145" fmla="*/ 341312 h 1304925"/>
                  <a:gd name="connsiteX146" fmla="*/ 947276 w 1197643"/>
                  <a:gd name="connsiteY146" fmla="*/ 341312 h 1304925"/>
                  <a:gd name="connsiteX147" fmla="*/ 947276 w 1197643"/>
                  <a:gd name="connsiteY147" fmla="*/ 31750 h 1304925"/>
                  <a:gd name="connsiteX148" fmla="*/ 248776 w 1197643"/>
                  <a:gd name="connsiteY148" fmla="*/ 31750 h 1304925"/>
                  <a:gd name="connsiteX149" fmla="*/ 226319 w 1197643"/>
                  <a:gd name="connsiteY149" fmla="*/ 0 h 1304925"/>
                  <a:gd name="connsiteX150" fmla="*/ 969734 w 1197643"/>
                  <a:gd name="connsiteY150" fmla="*/ 0 h 1304925"/>
                  <a:gd name="connsiteX151" fmla="*/ 979026 w 1197643"/>
                  <a:gd name="connsiteY151" fmla="*/ 8576 h 1304925"/>
                  <a:gd name="connsiteX152" fmla="*/ 979026 w 1197643"/>
                  <a:gd name="connsiteY152" fmla="*/ 363771 h 1304925"/>
                  <a:gd name="connsiteX153" fmla="*/ 969734 w 1197643"/>
                  <a:gd name="connsiteY153" fmla="*/ 373062 h 1304925"/>
                  <a:gd name="connsiteX154" fmla="*/ 226319 w 1197643"/>
                  <a:gd name="connsiteY154" fmla="*/ 373062 h 1304925"/>
                  <a:gd name="connsiteX155" fmla="*/ 217026 w 1197643"/>
                  <a:gd name="connsiteY155" fmla="*/ 363771 h 1304925"/>
                  <a:gd name="connsiteX156" fmla="*/ 217026 w 1197643"/>
                  <a:gd name="connsiteY156" fmla="*/ 8576 h 1304925"/>
                  <a:gd name="connsiteX157" fmla="*/ 226319 w 1197643"/>
                  <a:gd name="connsiteY157" fmla="*/ 0 h 130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Lst>
                <a:rect l="l" t="t" r="r" b="b"/>
                <a:pathLst>
                  <a:path w="1197643" h="1304925">
                    <a:moveTo>
                      <a:pt x="1077708" y="315913"/>
                    </a:moveTo>
                    <a:cubicBezTo>
                      <a:pt x="1074130" y="315913"/>
                      <a:pt x="1069838" y="316627"/>
                      <a:pt x="1066261" y="318056"/>
                    </a:cubicBezTo>
                    <a:cubicBezTo>
                      <a:pt x="1056245" y="321628"/>
                      <a:pt x="1048375" y="328057"/>
                      <a:pt x="1044083" y="337344"/>
                    </a:cubicBezTo>
                    <a:cubicBezTo>
                      <a:pt x="1039075" y="346631"/>
                      <a:pt x="1039075" y="356632"/>
                      <a:pt x="1041936" y="366634"/>
                    </a:cubicBezTo>
                    <a:cubicBezTo>
                      <a:pt x="1041936" y="366634"/>
                      <a:pt x="1041936" y="366634"/>
                      <a:pt x="1065545" y="434499"/>
                    </a:cubicBezTo>
                    <a:cubicBezTo>
                      <a:pt x="1085577" y="493792"/>
                      <a:pt x="1088439" y="556657"/>
                      <a:pt x="1074130" y="617379"/>
                    </a:cubicBezTo>
                    <a:cubicBezTo>
                      <a:pt x="1074130" y="617379"/>
                      <a:pt x="1074130" y="617379"/>
                      <a:pt x="1071984" y="623809"/>
                    </a:cubicBezTo>
                    <a:cubicBezTo>
                      <a:pt x="1056245" y="688817"/>
                      <a:pt x="1019043" y="746681"/>
                      <a:pt x="966816" y="788829"/>
                    </a:cubicBezTo>
                    <a:cubicBezTo>
                      <a:pt x="966816" y="788829"/>
                      <a:pt x="966816" y="788829"/>
                      <a:pt x="946069" y="805260"/>
                    </a:cubicBezTo>
                    <a:cubicBezTo>
                      <a:pt x="938199" y="811689"/>
                      <a:pt x="929614" y="814547"/>
                      <a:pt x="920314" y="814547"/>
                    </a:cubicBezTo>
                    <a:cubicBezTo>
                      <a:pt x="906005" y="814547"/>
                      <a:pt x="893127" y="807403"/>
                      <a:pt x="885258" y="795973"/>
                    </a:cubicBezTo>
                    <a:cubicBezTo>
                      <a:pt x="878103" y="783829"/>
                      <a:pt x="876673" y="769541"/>
                      <a:pt x="882396" y="756682"/>
                    </a:cubicBezTo>
                    <a:cubicBezTo>
                      <a:pt x="882396" y="756682"/>
                      <a:pt x="882396" y="756682"/>
                      <a:pt x="931045" y="646669"/>
                    </a:cubicBezTo>
                    <a:cubicBezTo>
                      <a:pt x="937484" y="631667"/>
                      <a:pt x="931760" y="613807"/>
                      <a:pt x="917452" y="605235"/>
                    </a:cubicBezTo>
                    <a:cubicBezTo>
                      <a:pt x="912444" y="602377"/>
                      <a:pt x="906721" y="600949"/>
                      <a:pt x="901713" y="600949"/>
                    </a:cubicBezTo>
                    <a:cubicBezTo>
                      <a:pt x="890266" y="600949"/>
                      <a:pt x="880250" y="606664"/>
                      <a:pt x="873811" y="616665"/>
                    </a:cubicBezTo>
                    <a:cubicBezTo>
                      <a:pt x="873811" y="616665"/>
                      <a:pt x="873811" y="616665"/>
                      <a:pt x="710693" y="875268"/>
                    </a:cubicBezTo>
                    <a:cubicBezTo>
                      <a:pt x="696385" y="897414"/>
                      <a:pt x="688515" y="923846"/>
                      <a:pt x="688515" y="950278"/>
                    </a:cubicBezTo>
                    <a:cubicBezTo>
                      <a:pt x="688515" y="950278"/>
                      <a:pt x="688515" y="950278"/>
                      <a:pt x="689946" y="1273175"/>
                    </a:cubicBezTo>
                    <a:cubicBezTo>
                      <a:pt x="689946" y="1273175"/>
                      <a:pt x="689946" y="1273175"/>
                      <a:pt x="956800" y="1273175"/>
                    </a:cubicBezTo>
                    <a:cubicBezTo>
                      <a:pt x="956800" y="1273175"/>
                      <a:pt x="956800" y="1273175"/>
                      <a:pt x="956800" y="1096010"/>
                    </a:cubicBezTo>
                    <a:cubicBezTo>
                      <a:pt x="956800" y="1094581"/>
                      <a:pt x="956800" y="1093153"/>
                      <a:pt x="956800" y="1091724"/>
                    </a:cubicBezTo>
                    <a:cubicBezTo>
                      <a:pt x="961808" y="1057434"/>
                      <a:pt x="974686" y="1024573"/>
                      <a:pt x="993287" y="995998"/>
                    </a:cubicBezTo>
                    <a:cubicBezTo>
                      <a:pt x="993287" y="995998"/>
                      <a:pt x="993287" y="995998"/>
                      <a:pt x="1059822" y="896700"/>
                    </a:cubicBezTo>
                    <a:cubicBezTo>
                      <a:pt x="1104894" y="828120"/>
                      <a:pt x="1136373" y="753110"/>
                      <a:pt x="1153543" y="672386"/>
                    </a:cubicBezTo>
                    <a:cubicBezTo>
                      <a:pt x="1153543" y="672386"/>
                      <a:pt x="1153543" y="672386"/>
                      <a:pt x="1156405" y="659527"/>
                    </a:cubicBezTo>
                    <a:cubicBezTo>
                      <a:pt x="1174290" y="575945"/>
                      <a:pt x="1168567" y="488792"/>
                      <a:pt x="1138519" y="408067"/>
                    </a:cubicBezTo>
                    <a:cubicBezTo>
                      <a:pt x="1138519" y="408067"/>
                      <a:pt x="1138519" y="408067"/>
                      <a:pt x="1113479" y="340916"/>
                    </a:cubicBezTo>
                    <a:cubicBezTo>
                      <a:pt x="1107756" y="325914"/>
                      <a:pt x="1093447" y="315913"/>
                      <a:pt x="1077708" y="315913"/>
                    </a:cubicBezTo>
                    <a:close/>
                    <a:moveTo>
                      <a:pt x="118348" y="315913"/>
                    </a:moveTo>
                    <a:cubicBezTo>
                      <a:pt x="102609" y="315913"/>
                      <a:pt x="88300" y="325914"/>
                      <a:pt x="82577" y="340916"/>
                    </a:cubicBezTo>
                    <a:cubicBezTo>
                      <a:pt x="82577" y="340916"/>
                      <a:pt x="82577" y="340916"/>
                      <a:pt x="57537" y="408067"/>
                    </a:cubicBezTo>
                    <a:cubicBezTo>
                      <a:pt x="27489" y="488792"/>
                      <a:pt x="21765" y="575945"/>
                      <a:pt x="39651" y="659527"/>
                    </a:cubicBezTo>
                    <a:cubicBezTo>
                      <a:pt x="39651" y="659527"/>
                      <a:pt x="39651" y="659527"/>
                      <a:pt x="42513" y="672386"/>
                    </a:cubicBezTo>
                    <a:cubicBezTo>
                      <a:pt x="59683" y="753110"/>
                      <a:pt x="91162" y="828120"/>
                      <a:pt x="136234" y="896700"/>
                    </a:cubicBezTo>
                    <a:cubicBezTo>
                      <a:pt x="136234" y="896700"/>
                      <a:pt x="136234" y="896700"/>
                      <a:pt x="202768" y="995998"/>
                    </a:cubicBezTo>
                    <a:cubicBezTo>
                      <a:pt x="221369" y="1024573"/>
                      <a:pt x="234247" y="1057434"/>
                      <a:pt x="239255" y="1091724"/>
                    </a:cubicBezTo>
                    <a:cubicBezTo>
                      <a:pt x="239255" y="1093153"/>
                      <a:pt x="239255" y="1094581"/>
                      <a:pt x="239255" y="1096010"/>
                    </a:cubicBezTo>
                    <a:cubicBezTo>
                      <a:pt x="239255" y="1096010"/>
                      <a:pt x="239255" y="1096010"/>
                      <a:pt x="239255" y="1273175"/>
                    </a:cubicBezTo>
                    <a:cubicBezTo>
                      <a:pt x="239255" y="1273175"/>
                      <a:pt x="239255" y="1273175"/>
                      <a:pt x="506109" y="1273175"/>
                    </a:cubicBezTo>
                    <a:cubicBezTo>
                      <a:pt x="506109" y="1273175"/>
                      <a:pt x="506109" y="1273175"/>
                      <a:pt x="507540" y="950278"/>
                    </a:cubicBezTo>
                    <a:cubicBezTo>
                      <a:pt x="507540" y="923846"/>
                      <a:pt x="499671" y="897414"/>
                      <a:pt x="485362" y="875268"/>
                    </a:cubicBezTo>
                    <a:cubicBezTo>
                      <a:pt x="485362" y="875268"/>
                      <a:pt x="485362" y="875268"/>
                      <a:pt x="322245" y="616665"/>
                    </a:cubicBezTo>
                    <a:cubicBezTo>
                      <a:pt x="315806" y="606664"/>
                      <a:pt x="305790" y="600949"/>
                      <a:pt x="294343" y="600949"/>
                    </a:cubicBezTo>
                    <a:cubicBezTo>
                      <a:pt x="289335" y="600949"/>
                      <a:pt x="283612" y="602377"/>
                      <a:pt x="278604" y="605235"/>
                    </a:cubicBezTo>
                    <a:cubicBezTo>
                      <a:pt x="264295" y="613807"/>
                      <a:pt x="258572" y="631667"/>
                      <a:pt x="265010" y="646669"/>
                    </a:cubicBezTo>
                    <a:cubicBezTo>
                      <a:pt x="265010" y="646669"/>
                      <a:pt x="265010" y="646669"/>
                      <a:pt x="313659" y="756682"/>
                    </a:cubicBezTo>
                    <a:cubicBezTo>
                      <a:pt x="319383" y="769541"/>
                      <a:pt x="317952" y="783829"/>
                      <a:pt x="310798" y="795973"/>
                    </a:cubicBezTo>
                    <a:cubicBezTo>
                      <a:pt x="302928" y="807403"/>
                      <a:pt x="290050" y="814547"/>
                      <a:pt x="275742" y="814547"/>
                    </a:cubicBezTo>
                    <a:cubicBezTo>
                      <a:pt x="266441" y="814547"/>
                      <a:pt x="257856" y="811689"/>
                      <a:pt x="249986" y="805260"/>
                    </a:cubicBezTo>
                    <a:cubicBezTo>
                      <a:pt x="249986" y="805260"/>
                      <a:pt x="249986" y="805260"/>
                      <a:pt x="229239" y="788829"/>
                    </a:cubicBezTo>
                    <a:cubicBezTo>
                      <a:pt x="177013" y="746681"/>
                      <a:pt x="139811" y="688817"/>
                      <a:pt x="124071" y="623809"/>
                    </a:cubicBezTo>
                    <a:cubicBezTo>
                      <a:pt x="124071" y="623809"/>
                      <a:pt x="124071" y="623809"/>
                      <a:pt x="121925" y="617379"/>
                    </a:cubicBezTo>
                    <a:cubicBezTo>
                      <a:pt x="107616" y="556657"/>
                      <a:pt x="110478" y="493792"/>
                      <a:pt x="130510" y="434499"/>
                    </a:cubicBezTo>
                    <a:cubicBezTo>
                      <a:pt x="130510" y="434499"/>
                      <a:pt x="130510" y="434499"/>
                      <a:pt x="154119" y="366634"/>
                    </a:cubicBezTo>
                    <a:cubicBezTo>
                      <a:pt x="157696" y="356632"/>
                      <a:pt x="156981" y="346631"/>
                      <a:pt x="151973" y="337344"/>
                    </a:cubicBezTo>
                    <a:cubicBezTo>
                      <a:pt x="147680" y="328057"/>
                      <a:pt x="139811" y="321628"/>
                      <a:pt x="129795" y="318056"/>
                    </a:cubicBezTo>
                    <a:cubicBezTo>
                      <a:pt x="126218" y="316627"/>
                      <a:pt x="121925" y="315913"/>
                      <a:pt x="118348" y="315913"/>
                    </a:cubicBezTo>
                    <a:close/>
                    <a:moveTo>
                      <a:pt x="1078223" y="284163"/>
                    </a:moveTo>
                    <a:cubicBezTo>
                      <a:pt x="1106785" y="284163"/>
                      <a:pt x="1133206" y="302034"/>
                      <a:pt x="1143202" y="329912"/>
                    </a:cubicBezTo>
                    <a:cubicBezTo>
                      <a:pt x="1143202" y="329912"/>
                      <a:pt x="1143202" y="329912"/>
                      <a:pt x="1168195" y="396390"/>
                    </a:cubicBezTo>
                    <a:cubicBezTo>
                      <a:pt x="1199614" y="482883"/>
                      <a:pt x="1206040" y="576524"/>
                      <a:pt x="1186760" y="665877"/>
                    </a:cubicBezTo>
                    <a:cubicBezTo>
                      <a:pt x="1186760" y="665877"/>
                      <a:pt x="1186760" y="665877"/>
                      <a:pt x="1183904" y="679458"/>
                    </a:cubicBezTo>
                    <a:cubicBezTo>
                      <a:pt x="1166767" y="763092"/>
                      <a:pt x="1133206" y="842437"/>
                      <a:pt x="1086077" y="913919"/>
                    </a:cubicBezTo>
                    <a:cubicBezTo>
                      <a:pt x="1086077" y="913919"/>
                      <a:pt x="1086077" y="913919"/>
                      <a:pt x="1020383" y="1013279"/>
                    </a:cubicBezTo>
                    <a:cubicBezTo>
                      <a:pt x="1003960" y="1038298"/>
                      <a:pt x="993249" y="1066890"/>
                      <a:pt x="988964" y="1096198"/>
                    </a:cubicBezTo>
                    <a:cubicBezTo>
                      <a:pt x="988964" y="1096198"/>
                      <a:pt x="988964" y="1096198"/>
                      <a:pt x="989678" y="1289199"/>
                    </a:cubicBezTo>
                    <a:cubicBezTo>
                      <a:pt x="989678" y="1297777"/>
                      <a:pt x="982538" y="1304925"/>
                      <a:pt x="973969" y="1304925"/>
                    </a:cubicBezTo>
                    <a:cubicBezTo>
                      <a:pt x="973969" y="1304925"/>
                      <a:pt x="973969" y="1304925"/>
                      <a:pt x="667635" y="1304925"/>
                    </a:cubicBezTo>
                    <a:cubicBezTo>
                      <a:pt x="662637" y="1302066"/>
                      <a:pt x="659780" y="1296347"/>
                      <a:pt x="659780" y="1291344"/>
                    </a:cubicBezTo>
                    <a:cubicBezTo>
                      <a:pt x="659780" y="1291344"/>
                      <a:pt x="659780" y="1291344"/>
                      <a:pt x="658352" y="950375"/>
                    </a:cubicBezTo>
                    <a:cubicBezTo>
                      <a:pt x="658352" y="917493"/>
                      <a:pt x="667635" y="886041"/>
                      <a:pt x="684773" y="858163"/>
                    </a:cubicBezTo>
                    <a:cubicBezTo>
                      <a:pt x="684773" y="858163"/>
                      <a:pt x="684773" y="858163"/>
                      <a:pt x="849008" y="599398"/>
                    </a:cubicBezTo>
                    <a:cubicBezTo>
                      <a:pt x="860433" y="580098"/>
                      <a:pt x="881141" y="569376"/>
                      <a:pt x="902563" y="569376"/>
                    </a:cubicBezTo>
                    <a:cubicBezTo>
                      <a:pt x="912559" y="569376"/>
                      <a:pt x="923984" y="572235"/>
                      <a:pt x="933267" y="577954"/>
                    </a:cubicBezTo>
                    <a:cubicBezTo>
                      <a:pt x="961830" y="594395"/>
                      <a:pt x="973969" y="629421"/>
                      <a:pt x="960402" y="659443"/>
                    </a:cubicBezTo>
                    <a:cubicBezTo>
                      <a:pt x="960402" y="659443"/>
                      <a:pt x="960402" y="659443"/>
                      <a:pt x="911845" y="769525"/>
                    </a:cubicBezTo>
                    <a:cubicBezTo>
                      <a:pt x="908989" y="776674"/>
                      <a:pt x="914702" y="783107"/>
                      <a:pt x="921128" y="783107"/>
                    </a:cubicBezTo>
                    <a:cubicBezTo>
                      <a:pt x="922556" y="783107"/>
                      <a:pt x="924699" y="782392"/>
                      <a:pt x="926841" y="780963"/>
                    </a:cubicBezTo>
                    <a:cubicBezTo>
                      <a:pt x="926841" y="780963"/>
                      <a:pt x="926841" y="780963"/>
                      <a:pt x="948263" y="763807"/>
                    </a:cubicBezTo>
                    <a:cubicBezTo>
                      <a:pt x="994677" y="726636"/>
                      <a:pt x="1028238" y="674454"/>
                      <a:pt x="1042519" y="616554"/>
                    </a:cubicBezTo>
                    <a:cubicBezTo>
                      <a:pt x="1042519" y="616554"/>
                      <a:pt x="1042519" y="616554"/>
                      <a:pt x="1043947" y="609406"/>
                    </a:cubicBezTo>
                    <a:cubicBezTo>
                      <a:pt x="1057515" y="555080"/>
                      <a:pt x="1054658" y="497894"/>
                      <a:pt x="1036093" y="444997"/>
                    </a:cubicBezTo>
                    <a:cubicBezTo>
                      <a:pt x="1036093" y="444997"/>
                      <a:pt x="1036093" y="444997"/>
                      <a:pt x="1013243" y="376375"/>
                    </a:cubicBezTo>
                    <a:cubicBezTo>
                      <a:pt x="1000389" y="339919"/>
                      <a:pt x="1019669" y="299889"/>
                      <a:pt x="1056801" y="287737"/>
                    </a:cubicBezTo>
                    <a:cubicBezTo>
                      <a:pt x="1063941" y="285593"/>
                      <a:pt x="1071082" y="284163"/>
                      <a:pt x="1078223" y="284163"/>
                    </a:cubicBezTo>
                    <a:close/>
                    <a:moveTo>
                      <a:pt x="119420" y="284163"/>
                    </a:moveTo>
                    <a:cubicBezTo>
                      <a:pt x="126561" y="284163"/>
                      <a:pt x="133701" y="285593"/>
                      <a:pt x="140842" y="287737"/>
                    </a:cubicBezTo>
                    <a:cubicBezTo>
                      <a:pt x="177973" y="299889"/>
                      <a:pt x="197253" y="339919"/>
                      <a:pt x="184400" y="376375"/>
                    </a:cubicBezTo>
                    <a:cubicBezTo>
                      <a:pt x="184400" y="376375"/>
                      <a:pt x="184400" y="376375"/>
                      <a:pt x="161550" y="444997"/>
                    </a:cubicBezTo>
                    <a:cubicBezTo>
                      <a:pt x="142984" y="497894"/>
                      <a:pt x="140128" y="555080"/>
                      <a:pt x="153695" y="609406"/>
                    </a:cubicBezTo>
                    <a:cubicBezTo>
                      <a:pt x="153695" y="609406"/>
                      <a:pt x="153695" y="609406"/>
                      <a:pt x="155123" y="616554"/>
                    </a:cubicBezTo>
                    <a:cubicBezTo>
                      <a:pt x="169404" y="674454"/>
                      <a:pt x="202966" y="726636"/>
                      <a:pt x="249380" y="763807"/>
                    </a:cubicBezTo>
                    <a:cubicBezTo>
                      <a:pt x="249380" y="763807"/>
                      <a:pt x="249380" y="763807"/>
                      <a:pt x="270802" y="780963"/>
                    </a:cubicBezTo>
                    <a:cubicBezTo>
                      <a:pt x="272944" y="782392"/>
                      <a:pt x="275086" y="783107"/>
                      <a:pt x="276514" y="783107"/>
                    </a:cubicBezTo>
                    <a:cubicBezTo>
                      <a:pt x="282941" y="783107"/>
                      <a:pt x="288653" y="776674"/>
                      <a:pt x="285797" y="769525"/>
                    </a:cubicBezTo>
                    <a:cubicBezTo>
                      <a:pt x="285797" y="769525"/>
                      <a:pt x="285797" y="769525"/>
                      <a:pt x="237241" y="659443"/>
                    </a:cubicBezTo>
                    <a:cubicBezTo>
                      <a:pt x="223673" y="629421"/>
                      <a:pt x="235813" y="594395"/>
                      <a:pt x="264375" y="577954"/>
                    </a:cubicBezTo>
                    <a:cubicBezTo>
                      <a:pt x="273658" y="572235"/>
                      <a:pt x="285083" y="569376"/>
                      <a:pt x="295080" y="569376"/>
                    </a:cubicBezTo>
                    <a:cubicBezTo>
                      <a:pt x="316502" y="569376"/>
                      <a:pt x="337210" y="580098"/>
                      <a:pt x="348635" y="599398"/>
                    </a:cubicBezTo>
                    <a:cubicBezTo>
                      <a:pt x="348635" y="599398"/>
                      <a:pt x="348635" y="599398"/>
                      <a:pt x="512870" y="858163"/>
                    </a:cubicBezTo>
                    <a:cubicBezTo>
                      <a:pt x="530007" y="886041"/>
                      <a:pt x="539290" y="917493"/>
                      <a:pt x="539290" y="950375"/>
                    </a:cubicBezTo>
                    <a:cubicBezTo>
                      <a:pt x="539290" y="950375"/>
                      <a:pt x="539290" y="950375"/>
                      <a:pt x="537862" y="1291344"/>
                    </a:cubicBezTo>
                    <a:cubicBezTo>
                      <a:pt x="537862" y="1296347"/>
                      <a:pt x="535006" y="1302066"/>
                      <a:pt x="530007" y="1304925"/>
                    </a:cubicBezTo>
                    <a:cubicBezTo>
                      <a:pt x="530007" y="1304925"/>
                      <a:pt x="530007" y="1304925"/>
                      <a:pt x="224387" y="1304925"/>
                    </a:cubicBezTo>
                    <a:cubicBezTo>
                      <a:pt x="223673" y="1304925"/>
                      <a:pt x="223673" y="1304925"/>
                      <a:pt x="223673" y="1304925"/>
                    </a:cubicBezTo>
                    <a:cubicBezTo>
                      <a:pt x="215105" y="1304925"/>
                      <a:pt x="207964" y="1297777"/>
                      <a:pt x="207964" y="1289199"/>
                    </a:cubicBezTo>
                    <a:cubicBezTo>
                      <a:pt x="207964" y="1289199"/>
                      <a:pt x="207964" y="1289199"/>
                      <a:pt x="208678" y="1096198"/>
                    </a:cubicBezTo>
                    <a:cubicBezTo>
                      <a:pt x="204394" y="1066890"/>
                      <a:pt x="193683" y="1038298"/>
                      <a:pt x="177259" y="1013279"/>
                    </a:cubicBezTo>
                    <a:cubicBezTo>
                      <a:pt x="177259" y="1013279"/>
                      <a:pt x="177259" y="1013279"/>
                      <a:pt x="111565" y="913919"/>
                    </a:cubicBezTo>
                    <a:cubicBezTo>
                      <a:pt x="64437" y="842437"/>
                      <a:pt x="30876" y="763092"/>
                      <a:pt x="13738" y="679458"/>
                    </a:cubicBezTo>
                    <a:cubicBezTo>
                      <a:pt x="13738" y="679458"/>
                      <a:pt x="13738" y="679458"/>
                      <a:pt x="10882" y="665877"/>
                    </a:cubicBezTo>
                    <a:cubicBezTo>
                      <a:pt x="-8398" y="576524"/>
                      <a:pt x="-1971" y="482883"/>
                      <a:pt x="29448" y="396390"/>
                    </a:cubicBezTo>
                    <a:cubicBezTo>
                      <a:pt x="29448" y="396390"/>
                      <a:pt x="29448" y="396390"/>
                      <a:pt x="54440" y="329912"/>
                    </a:cubicBezTo>
                    <a:cubicBezTo>
                      <a:pt x="64437" y="302034"/>
                      <a:pt x="90857" y="284163"/>
                      <a:pt x="119420" y="284163"/>
                    </a:cubicBezTo>
                    <a:close/>
                    <a:moveTo>
                      <a:pt x="586062" y="84138"/>
                    </a:moveTo>
                    <a:cubicBezTo>
                      <a:pt x="611739" y="84138"/>
                      <a:pt x="611739" y="84138"/>
                      <a:pt x="611739" y="84138"/>
                    </a:cubicBezTo>
                    <a:cubicBezTo>
                      <a:pt x="611739" y="102626"/>
                      <a:pt x="611739" y="102626"/>
                      <a:pt x="611739" y="102626"/>
                    </a:cubicBezTo>
                    <a:cubicBezTo>
                      <a:pt x="624577" y="104048"/>
                      <a:pt x="635988" y="106892"/>
                      <a:pt x="641694" y="112581"/>
                    </a:cubicBezTo>
                    <a:cubicBezTo>
                      <a:pt x="633849" y="136046"/>
                      <a:pt x="633849" y="136046"/>
                      <a:pt x="633849" y="136046"/>
                    </a:cubicBezTo>
                    <a:cubicBezTo>
                      <a:pt x="623150" y="128935"/>
                      <a:pt x="611739" y="125380"/>
                      <a:pt x="600327" y="125380"/>
                    </a:cubicBezTo>
                    <a:cubicBezTo>
                      <a:pt x="593908" y="125380"/>
                      <a:pt x="588915" y="127513"/>
                      <a:pt x="585349" y="130357"/>
                    </a:cubicBezTo>
                    <a:cubicBezTo>
                      <a:pt x="581070" y="133913"/>
                      <a:pt x="579643" y="138890"/>
                      <a:pt x="579643" y="144579"/>
                    </a:cubicBezTo>
                    <a:cubicBezTo>
                      <a:pt x="579643" y="153112"/>
                      <a:pt x="589629" y="163066"/>
                      <a:pt x="611025" y="172310"/>
                    </a:cubicBezTo>
                    <a:cubicBezTo>
                      <a:pt x="621724" y="177999"/>
                      <a:pt x="630282" y="183687"/>
                      <a:pt x="635275" y="187954"/>
                    </a:cubicBezTo>
                    <a:cubicBezTo>
                      <a:pt x="639554" y="192220"/>
                      <a:pt x="642407" y="197198"/>
                      <a:pt x="645260" y="202886"/>
                    </a:cubicBezTo>
                    <a:cubicBezTo>
                      <a:pt x="647400" y="209286"/>
                      <a:pt x="648826" y="214974"/>
                      <a:pt x="648826" y="222085"/>
                    </a:cubicBezTo>
                    <a:cubicBezTo>
                      <a:pt x="648826" y="232751"/>
                      <a:pt x="645973" y="241284"/>
                      <a:pt x="638841" y="249105"/>
                    </a:cubicBezTo>
                    <a:cubicBezTo>
                      <a:pt x="633135" y="256216"/>
                      <a:pt x="623150" y="261905"/>
                      <a:pt x="611739" y="264749"/>
                    </a:cubicBezTo>
                    <a:cubicBezTo>
                      <a:pt x="611739" y="288925"/>
                      <a:pt x="611739" y="288925"/>
                      <a:pt x="611739" y="288925"/>
                    </a:cubicBezTo>
                    <a:cubicBezTo>
                      <a:pt x="586062" y="288925"/>
                      <a:pt x="586062" y="288925"/>
                      <a:pt x="586062" y="288925"/>
                    </a:cubicBezTo>
                    <a:cubicBezTo>
                      <a:pt x="586062" y="266171"/>
                      <a:pt x="586062" y="266171"/>
                      <a:pt x="586062" y="266171"/>
                    </a:cubicBezTo>
                    <a:cubicBezTo>
                      <a:pt x="573224" y="266171"/>
                      <a:pt x="561813" y="261905"/>
                      <a:pt x="550401" y="254794"/>
                    </a:cubicBezTo>
                    <a:cubicBezTo>
                      <a:pt x="561813" y="229907"/>
                      <a:pt x="561813" y="229907"/>
                      <a:pt x="561813" y="229907"/>
                    </a:cubicBezTo>
                    <a:cubicBezTo>
                      <a:pt x="572511" y="237728"/>
                      <a:pt x="583923" y="241284"/>
                      <a:pt x="594621" y="241284"/>
                    </a:cubicBezTo>
                    <a:cubicBezTo>
                      <a:pt x="611739" y="241284"/>
                      <a:pt x="620297" y="235595"/>
                      <a:pt x="620297" y="224218"/>
                    </a:cubicBezTo>
                    <a:cubicBezTo>
                      <a:pt x="620297" y="218530"/>
                      <a:pt x="618158" y="213552"/>
                      <a:pt x="613878" y="208575"/>
                    </a:cubicBezTo>
                    <a:cubicBezTo>
                      <a:pt x="609599" y="203597"/>
                      <a:pt x="601040" y="197909"/>
                      <a:pt x="588915" y="191509"/>
                    </a:cubicBezTo>
                    <a:cubicBezTo>
                      <a:pt x="576791" y="185821"/>
                      <a:pt x="569658" y="180843"/>
                      <a:pt x="564666" y="177288"/>
                    </a:cubicBezTo>
                    <a:cubicBezTo>
                      <a:pt x="560386" y="172310"/>
                      <a:pt x="557533" y="168044"/>
                      <a:pt x="553967" y="162355"/>
                    </a:cubicBezTo>
                    <a:cubicBezTo>
                      <a:pt x="551828" y="156667"/>
                      <a:pt x="551114" y="150978"/>
                      <a:pt x="551114" y="144579"/>
                    </a:cubicBezTo>
                    <a:cubicBezTo>
                      <a:pt x="551114" y="133913"/>
                      <a:pt x="553967" y="125380"/>
                      <a:pt x="561100" y="118980"/>
                    </a:cubicBezTo>
                    <a:cubicBezTo>
                      <a:pt x="567519" y="111870"/>
                      <a:pt x="575364" y="106892"/>
                      <a:pt x="586062" y="104048"/>
                    </a:cubicBezTo>
                    <a:cubicBezTo>
                      <a:pt x="586062" y="84138"/>
                      <a:pt x="586062" y="84138"/>
                      <a:pt x="586062" y="84138"/>
                    </a:cubicBezTo>
                    <a:close/>
                    <a:moveTo>
                      <a:pt x="248776" y="31750"/>
                    </a:moveTo>
                    <a:cubicBezTo>
                      <a:pt x="248776" y="31750"/>
                      <a:pt x="248776" y="31750"/>
                      <a:pt x="248776" y="341312"/>
                    </a:cubicBezTo>
                    <a:cubicBezTo>
                      <a:pt x="248776" y="341312"/>
                      <a:pt x="248776" y="341312"/>
                      <a:pt x="947276" y="341312"/>
                    </a:cubicBezTo>
                    <a:cubicBezTo>
                      <a:pt x="947276" y="341312"/>
                      <a:pt x="947276" y="341312"/>
                      <a:pt x="947276" y="31750"/>
                    </a:cubicBezTo>
                    <a:cubicBezTo>
                      <a:pt x="947276" y="31750"/>
                      <a:pt x="947276" y="31750"/>
                      <a:pt x="248776" y="31750"/>
                    </a:cubicBezTo>
                    <a:close/>
                    <a:moveTo>
                      <a:pt x="226319" y="0"/>
                    </a:moveTo>
                    <a:cubicBezTo>
                      <a:pt x="969734" y="0"/>
                      <a:pt x="969734" y="0"/>
                      <a:pt x="969734" y="0"/>
                    </a:cubicBezTo>
                    <a:cubicBezTo>
                      <a:pt x="975452" y="0"/>
                      <a:pt x="979026" y="3574"/>
                      <a:pt x="979026" y="8576"/>
                    </a:cubicBezTo>
                    <a:cubicBezTo>
                      <a:pt x="979026" y="363771"/>
                      <a:pt x="979026" y="363771"/>
                      <a:pt x="979026" y="363771"/>
                    </a:cubicBezTo>
                    <a:cubicBezTo>
                      <a:pt x="979026" y="368774"/>
                      <a:pt x="975452" y="373062"/>
                      <a:pt x="969734" y="373062"/>
                    </a:cubicBezTo>
                    <a:cubicBezTo>
                      <a:pt x="226319" y="373062"/>
                      <a:pt x="226319" y="373062"/>
                      <a:pt x="226319" y="373062"/>
                    </a:cubicBezTo>
                    <a:cubicBezTo>
                      <a:pt x="221315" y="373062"/>
                      <a:pt x="217026" y="368774"/>
                      <a:pt x="217026" y="363771"/>
                    </a:cubicBezTo>
                    <a:cubicBezTo>
                      <a:pt x="217026" y="8576"/>
                      <a:pt x="217026" y="8576"/>
                      <a:pt x="217026" y="8576"/>
                    </a:cubicBezTo>
                    <a:cubicBezTo>
                      <a:pt x="217026" y="3574"/>
                      <a:pt x="221315" y="0"/>
                      <a:pt x="226319"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grpSp>
      <p:grpSp>
        <p:nvGrpSpPr>
          <p:cNvPr id="175" name="Group 174">
            <a:extLst>
              <a:ext uri="{FF2B5EF4-FFF2-40B4-BE49-F238E27FC236}">
                <a16:creationId xmlns:a16="http://schemas.microsoft.com/office/drawing/2014/main" id="{C56A94EF-8856-45E0-AD8E-2E75B0BE0693}"/>
              </a:ext>
            </a:extLst>
          </p:cNvPr>
          <p:cNvGrpSpPr>
            <a:grpSpLocks noChangeAspect="1"/>
          </p:cNvGrpSpPr>
          <p:nvPr/>
        </p:nvGrpSpPr>
        <p:grpSpPr>
          <a:xfrm>
            <a:off x="8989142" y="1457700"/>
            <a:ext cx="351973" cy="352300"/>
            <a:chOff x="5273799" y="2606040"/>
            <a:chExt cx="1644396" cy="1645920"/>
          </a:xfrm>
        </p:grpSpPr>
        <p:sp>
          <p:nvSpPr>
            <p:cNvPr id="176" name="AutoShape 3">
              <a:extLst>
                <a:ext uri="{FF2B5EF4-FFF2-40B4-BE49-F238E27FC236}">
                  <a16:creationId xmlns:a16="http://schemas.microsoft.com/office/drawing/2014/main" id="{5FA2DBE4-6E87-4C91-9504-BF0A09CD1F44}"/>
                </a:ext>
              </a:extLst>
            </p:cNvPr>
            <p:cNvSpPr>
              <a:spLocks noChangeAspect="1" noChangeArrowheads="1" noTextEdit="1"/>
            </p:cNvSpPr>
            <p:nvPr/>
          </p:nvSpPr>
          <p:spPr bwMode="auto">
            <a:xfrm>
              <a:off x="5273799" y="2606040"/>
              <a:ext cx="1644396" cy="1645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nvGrpSpPr>
            <p:cNvPr id="177" name="Group 176">
              <a:extLst>
                <a:ext uri="{FF2B5EF4-FFF2-40B4-BE49-F238E27FC236}">
                  <a16:creationId xmlns:a16="http://schemas.microsoft.com/office/drawing/2014/main" id="{033B9B48-13AF-449F-A5F6-A738227FC7A2}"/>
                </a:ext>
              </a:extLst>
            </p:cNvPr>
            <p:cNvGrpSpPr/>
            <p:nvPr/>
          </p:nvGrpSpPr>
          <p:grpSpPr>
            <a:xfrm>
              <a:off x="5442201" y="2765298"/>
              <a:ext cx="1306068" cy="1315974"/>
              <a:chOff x="5442201" y="2765298"/>
              <a:chExt cx="1306068" cy="1315974"/>
            </a:xfrm>
          </p:grpSpPr>
          <p:sp>
            <p:nvSpPr>
              <p:cNvPr id="178" name="Freeform 5">
                <a:extLst>
                  <a:ext uri="{FF2B5EF4-FFF2-40B4-BE49-F238E27FC236}">
                    <a16:creationId xmlns:a16="http://schemas.microsoft.com/office/drawing/2014/main" id="{3484A246-C4D8-4999-BFED-47229CA76AC0}"/>
                  </a:ext>
                </a:extLst>
              </p:cNvPr>
              <p:cNvSpPr>
                <a:spLocks noEditPoints="1"/>
              </p:cNvSpPr>
              <p:nvPr/>
            </p:nvSpPr>
            <p:spPr bwMode="auto">
              <a:xfrm>
                <a:off x="5442201" y="2765298"/>
                <a:ext cx="1306068" cy="1315974"/>
              </a:xfrm>
              <a:custGeom>
                <a:avLst/>
                <a:gdLst>
                  <a:gd name="T0" fmla="*/ 1807 w 1830"/>
                  <a:gd name="T1" fmla="*/ 1666 h 1842"/>
                  <a:gd name="T2" fmla="*/ 1708 w 1830"/>
                  <a:gd name="T3" fmla="*/ 1666 h 1842"/>
                  <a:gd name="T4" fmla="*/ 1708 w 1830"/>
                  <a:gd name="T5" fmla="*/ 1616 h 1842"/>
                  <a:gd name="T6" fmla="*/ 1686 w 1830"/>
                  <a:gd name="T7" fmla="*/ 1594 h 1842"/>
                  <a:gd name="T8" fmla="*/ 144 w 1830"/>
                  <a:gd name="T9" fmla="*/ 1594 h 1842"/>
                  <a:gd name="T10" fmla="*/ 122 w 1830"/>
                  <a:gd name="T11" fmla="*/ 1616 h 1842"/>
                  <a:gd name="T12" fmla="*/ 122 w 1830"/>
                  <a:gd name="T13" fmla="*/ 1666 h 1842"/>
                  <a:gd name="T14" fmla="*/ 23 w 1830"/>
                  <a:gd name="T15" fmla="*/ 1666 h 1842"/>
                  <a:gd name="T16" fmla="*/ 1 w 1830"/>
                  <a:gd name="T17" fmla="*/ 1688 h 1842"/>
                  <a:gd name="T18" fmla="*/ 1 w 1830"/>
                  <a:gd name="T19" fmla="*/ 1820 h 1842"/>
                  <a:gd name="T20" fmla="*/ 23 w 1830"/>
                  <a:gd name="T21" fmla="*/ 1842 h 1842"/>
                  <a:gd name="T22" fmla="*/ 1807 w 1830"/>
                  <a:gd name="T23" fmla="*/ 1842 h 1842"/>
                  <a:gd name="T24" fmla="*/ 1829 w 1830"/>
                  <a:gd name="T25" fmla="*/ 1820 h 1842"/>
                  <a:gd name="T26" fmla="*/ 1829 w 1830"/>
                  <a:gd name="T27" fmla="*/ 1688 h 1842"/>
                  <a:gd name="T28" fmla="*/ 1807 w 1830"/>
                  <a:gd name="T29" fmla="*/ 1666 h 1842"/>
                  <a:gd name="T30" fmla="*/ 1818 w 1830"/>
                  <a:gd name="T31" fmla="*/ 441 h 1842"/>
                  <a:gd name="T32" fmla="*/ 925 w 1830"/>
                  <a:gd name="T33" fmla="*/ 3 h 1842"/>
                  <a:gd name="T34" fmla="*/ 905 w 1830"/>
                  <a:gd name="T35" fmla="*/ 3 h 1842"/>
                  <a:gd name="T36" fmla="*/ 12 w 1830"/>
                  <a:gd name="T37" fmla="*/ 441 h 1842"/>
                  <a:gd name="T38" fmla="*/ 0 w 1830"/>
                  <a:gd name="T39" fmla="*/ 461 h 1842"/>
                  <a:gd name="T40" fmla="*/ 0 w 1830"/>
                  <a:gd name="T41" fmla="*/ 533 h 1842"/>
                  <a:gd name="T42" fmla="*/ 22 w 1830"/>
                  <a:gd name="T43" fmla="*/ 555 h 1842"/>
                  <a:gd name="T44" fmla="*/ 169 w 1830"/>
                  <a:gd name="T45" fmla="*/ 555 h 1842"/>
                  <a:gd name="T46" fmla="*/ 169 w 1830"/>
                  <a:gd name="T47" fmla="*/ 641 h 1842"/>
                  <a:gd name="T48" fmla="*/ 191 w 1830"/>
                  <a:gd name="T49" fmla="*/ 663 h 1842"/>
                  <a:gd name="T50" fmla="*/ 1639 w 1830"/>
                  <a:gd name="T51" fmla="*/ 663 h 1842"/>
                  <a:gd name="T52" fmla="*/ 1661 w 1830"/>
                  <a:gd name="T53" fmla="*/ 641 h 1842"/>
                  <a:gd name="T54" fmla="*/ 1661 w 1830"/>
                  <a:gd name="T55" fmla="*/ 555 h 1842"/>
                  <a:gd name="T56" fmla="*/ 1808 w 1830"/>
                  <a:gd name="T57" fmla="*/ 555 h 1842"/>
                  <a:gd name="T58" fmla="*/ 1830 w 1830"/>
                  <a:gd name="T59" fmla="*/ 533 h 1842"/>
                  <a:gd name="T60" fmla="*/ 1830 w 1830"/>
                  <a:gd name="T61" fmla="*/ 461 h 1842"/>
                  <a:gd name="T62" fmla="*/ 1818 w 1830"/>
                  <a:gd name="T63" fmla="*/ 441 h 1842"/>
                  <a:gd name="T64" fmla="*/ 1617 w 1830"/>
                  <a:gd name="T65" fmla="*/ 619 h 1842"/>
                  <a:gd name="T66" fmla="*/ 213 w 1830"/>
                  <a:gd name="T67" fmla="*/ 619 h 1842"/>
                  <a:gd name="T68" fmla="*/ 213 w 1830"/>
                  <a:gd name="T69" fmla="*/ 555 h 1842"/>
                  <a:gd name="T70" fmla="*/ 1617 w 1830"/>
                  <a:gd name="T71" fmla="*/ 555 h 1842"/>
                  <a:gd name="T72" fmla="*/ 1617 w 1830"/>
                  <a:gd name="T73" fmla="*/ 619 h 1842"/>
                  <a:gd name="T74" fmla="*/ 1786 w 1830"/>
                  <a:gd name="T75" fmla="*/ 511 h 1842"/>
                  <a:gd name="T76" fmla="*/ 1661 w 1830"/>
                  <a:gd name="T77" fmla="*/ 511 h 1842"/>
                  <a:gd name="T78" fmla="*/ 1617 w 1830"/>
                  <a:gd name="T79" fmla="*/ 511 h 1842"/>
                  <a:gd name="T80" fmla="*/ 213 w 1830"/>
                  <a:gd name="T81" fmla="*/ 511 h 1842"/>
                  <a:gd name="T82" fmla="*/ 169 w 1830"/>
                  <a:gd name="T83" fmla="*/ 511 h 1842"/>
                  <a:gd name="T84" fmla="*/ 44 w 1830"/>
                  <a:gd name="T85" fmla="*/ 511 h 1842"/>
                  <a:gd name="T86" fmla="*/ 44 w 1830"/>
                  <a:gd name="T87" fmla="*/ 474 h 1842"/>
                  <a:gd name="T88" fmla="*/ 915 w 1830"/>
                  <a:gd name="T89" fmla="*/ 47 h 1842"/>
                  <a:gd name="T90" fmla="*/ 1786 w 1830"/>
                  <a:gd name="T91" fmla="*/ 474 h 1842"/>
                  <a:gd name="T92" fmla="*/ 1786 w 1830"/>
                  <a:gd name="T93" fmla="*/ 511 h 1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830" h="1842">
                    <a:moveTo>
                      <a:pt x="1807" y="1666"/>
                    </a:moveTo>
                    <a:cubicBezTo>
                      <a:pt x="1708" y="1666"/>
                      <a:pt x="1708" y="1666"/>
                      <a:pt x="1708" y="1666"/>
                    </a:cubicBezTo>
                    <a:cubicBezTo>
                      <a:pt x="1708" y="1616"/>
                      <a:pt x="1708" y="1616"/>
                      <a:pt x="1708" y="1616"/>
                    </a:cubicBezTo>
                    <a:cubicBezTo>
                      <a:pt x="1708" y="1603"/>
                      <a:pt x="1699" y="1594"/>
                      <a:pt x="1686" y="1594"/>
                    </a:cubicBezTo>
                    <a:cubicBezTo>
                      <a:pt x="144" y="1594"/>
                      <a:pt x="144" y="1594"/>
                      <a:pt x="144" y="1594"/>
                    </a:cubicBezTo>
                    <a:cubicBezTo>
                      <a:pt x="131" y="1594"/>
                      <a:pt x="122" y="1603"/>
                      <a:pt x="122" y="1616"/>
                    </a:cubicBezTo>
                    <a:cubicBezTo>
                      <a:pt x="122" y="1666"/>
                      <a:pt x="122" y="1666"/>
                      <a:pt x="122" y="1666"/>
                    </a:cubicBezTo>
                    <a:cubicBezTo>
                      <a:pt x="23" y="1666"/>
                      <a:pt x="23" y="1666"/>
                      <a:pt x="23" y="1666"/>
                    </a:cubicBezTo>
                    <a:cubicBezTo>
                      <a:pt x="11" y="1666"/>
                      <a:pt x="1" y="1675"/>
                      <a:pt x="1" y="1688"/>
                    </a:cubicBezTo>
                    <a:cubicBezTo>
                      <a:pt x="1" y="1820"/>
                      <a:pt x="1" y="1820"/>
                      <a:pt x="1" y="1820"/>
                    </a:cubicBezTo>
                    <a:cubicBezTo>
                      <a:pt x="1" y="1832"/>
                      <a:pt x="11" y="1842"/>
                      <a:pt x="23" y="1842"/>
                    </a:cubicBezTo>
                    <a:cubicBezTo>
                      <a:pt x="1807" y="1842"/>
                      <a:pt x="1807" y="1842"/>
                      <a:pt x="1807" y="1842"/>
                    </a:cubicBezTo>
                    <a:cubicBezTo>
                      <a:pt x="1819" y="1842"/>
                      <a:pt x="1829" y="1832"/>
                      <a:pt x="1829" y="1820"/>
                    </a:cubicBezTo>
                    <a:cubicBezTo>
                      <a:pt x="1829" y="1688"/>
                      <a:pt x="1829" y="1688"/>
                      <a:pt x="1829" y="1688"/>
                    </a:cubicBezTo>
                    <a:cubicBezTo>
                      <a:pt x="1829" y="1675"/>
                      <a:pt x="1819" y="1666"/>
                      <a:pt x="1807" y="1666"/>
                    </a:cubicBezTo>
                    <a:close/>
                    <a:moveTo>
                      <a:pt x="1818" y="441"/>
                    </a:moveTo>
                    <a:cubicBezTo>
                      <a:pt x="925" y="3"/>
                      <a:pt x="925" y="3"/>
                      <a:pt x="925" y="3"/>
                    </a:cubicBezTo>
                    <a:cubicBezTo>
                      <a:pt x="919" y="0"/>
                      <a:pt x="911" y="0"/>
                      <a:pt x="905" y="3"/>
                    </a:cubicBezTo>
                    <a:cubicBezTo>
                      <a:pt x="12" y="441"/>
                      <a:pt x="12" y="441"/>
                      <a:pt x="12" y="441"/>
                    </a:cubicBezTo>
                    <a:cubicBezTo>
                      <a:pt x="5" y="445"/>
                      <a:pt x="0" y="452"/>
                      <a:pt x="0" y="461"/>
                    </a:cubicBezTo>
                    <a:cubicBezTo>
                      <a:pt x="0" y="533"/>
                      <a:pt x="0" y="533"/>
                      <a:pt x="0" y="533"/>
                    </a:cubicBezTo>
                    <a:cubicBezTo>
                      <a:pt x="0" y="545"/>
                      <a:pt x="10" y="555"/>
                      <a:pt x="22" y="555"/>
                    </a:cubicBezTo>
                    <a:cubicBezTo>
                      <a:pt x="169" y="555"/>
                      <a:pt x="169" y="555"/>
                      <a:pt x="169" y="555"/>
                    </a:cubicBezTo>
                    <a:cubicBezTo>
                      <a:pt x="169" y="641"/>
                      <a:pt x="169" y="641"/>
                      <a:pt x="169" y="641"/>
                    </a:cubicBezTo>
                    <a:cubicBezTo>
                      <a:pt x="169" y="654"/>
                      <a:pt x="179" y="663"/>
                      <a:pt x="191" y="663"/>
                    </a:cubicBezTo>
                    <a:cubicBezTo>
                      <a:pt x="1639" y="663"/>
                      <a:pt x="1639" y="663"/>
                      <a:pt x="1639" y="663"/>
                    </a:cubicBezTo>
                    <a:cubicBezTo>
                      <a:pt x="1651" y="663"/>
                      <a:pt x="1661" y="654"/>
                      <a:pt x="1661" y="641"/>
                    </a:cubicBezTo>
                    <a:cubicBezTo>
                      <a:pt x="1661" y="555"/>
                      <a:pt x="1661" y="555"/>
                      <a:pt x="1661" y="555"/>
                    </a:cubicBezTo>
                    <a:cubicBezTo>
                      <a:pt x="1808" y="555"/>
                      <a:pt x="1808" y="555"/>
                      <a:pt x="1808" y="555"/>
                    </a:cubicBezTo>
                    <a:cubicBezTo>
                      <a:pt x="1820" y="555"/>
                      <a:pt x="1830" y="545"/>
                      <a:pt x="1830" y="533"/>
                    </a:cubicBezTo>
                    <a:cubicBezTo>
                      <a:pt x="1830" y="461"/>
                      <a:pt x="1830" y="461"/>
                      <a:pt x="1830" y="461"/>
                    </a:cubicBezTo>
                    <a:cubicBezTo>
                      <a:pt x="1830" y="452"/>
                      <a:pt x="1825" y="445"/>
                      <a:pt x="1818" y="441"/>
                    </a:cubicBezTo>
                    <a:close/>
                    <a:moveTo>
                      <a:pt x="1617" y="619"/>
                    </a:moveTo>
                    <a:cubicBezTo>
                      <a:pt x="213" y="619"/>
                      <a:pt x="213" y="619"/>
                      <a:pt x="213" y="619"/>
                    </a:cubicBezTo>
                    <a:cubicBezTo>
                      <a:pt x="213" y="555"/>
                      <a:pt x="213" y="555"/>
                      <a:pt x="213" y="555"/>
                    </a:cubicBezTo>
                    <a:cubicBezTo>
                      <a:pt x="1617" y="555"/>
                      <a:pt x="1617" y="555"/>
                      <a:pt x="1617" y="555"/>
                    </a:cubicBezTo>
                    <a:lnTo>
                      <a:pt x="1617" y="619"/>
                    </a:lnTo>
                    <a:close/>
                    <a:moveTo>
                      <a:pt x="1786" y="511"/>
                    </a:moveTo>
                    <a:cubicBezTo>
                      <a:pt x="1661" y="511"/>
                      <a:pt x="1661" y="511"/>
                      <a:pt x="1661" y="511"/>
                    </a:cubicBezTo>
                    <a:cubicBezTo>
                      <a:pt x="1617" y="511"/>
                      <a:pt x="1617" y="511"/>
                      <a:pt x="1617" y="511"/>
                    </a:cubicBezTo>
                    <a:cubicBezTo>
                      <a:pt x="213" y="511"/>
                      <a:pt x="213" y="511"/>
                      <a:pt x="213" y="511"/>
                    </a:cubicBezTo>
                    <a:cubicBezTo>
                      <a:pt x="169" y="511"/>
                      <a:pt x="169" y="511"/>
                      <a:pt x="169" y="511"/>
                    </a:cubicBezTo>
                    <a:cubicBezTo>
                      <a:pt x="44" y="511"/>
                      <a:pt x="44" y="511"/>
                      <a:pt x="44" y="511"/>
                    </a:cubicBezTo>
                    <a:cubicBezTo>
                      <a:pt x="44" y="474"/>
                      <a:pt x="44" y="474"/>
                      <a:pt x="44" y="474"/>
                    </a:cubicBezTo>
                    <a:cubicBezTo>
                      <a:pt x="915" y="47"/>
                      <a:pt x="915" y="47"/>
                      <a:pt x="915" y="47"/>
                    </a:cubicBezTo>
                    <a:cubicBezTo>
                      <a:pt x="1786" y="474"/>
                      <a:pt x="1786" y="474"/>
                      <a:pt x="1786" y="474"/>
                    </a:cubicBezTo>
                    <a:lnTo>
                      <a:pt x="1786" y="51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179" name="Freeform 6">
                <a:extLst>
                  <a:ext uri="{FF2B5EF4-FFF2-40B4-BE49-F238E27FC236}">
                    <a16:creationId xmlns:a16="http://schemas.microsoft.com/office/drawing/2014/main" id="{CE2BC9A3-5D94-4F29-84D6-F33B09EB3C8B}"/>
                  </a:ext>
                </a:extLst>
              </p:cNvPr>
              <p:cNvSpPr>
                <a:spLocks noEditPoints="1"/>
              </p:cNvSpPr>
              <p:nvPr/>
            </p:nvSpPr>
            <p:spPr bwMode="auto">
              <a:xfrm>
                <a:off x="5613651" y="2902458"/>
                <a:ext cx="963549" cy="958596"/>
              </a:xfrm>
              <a:custGeom>
                <a:avLst/>
                <a:gdLst>
                  <a:gd name="T0" fmla="*/ 783 w 1350"/>
                  <a:gd name="T1" fmla="*/ 108 h 1342"/>
                  <a:gd name="T2" fmla="*/ 675 w 1350"/>
                  <a:gd name="T3" fmla="*/ 216 h 1342"/>
                  <a:gd name="T4" fmla="*/ 567 w 1350"/>
                  <a:gd name="T5" fmla="*/ 108 h 1342"/>
                  <a:gd name="T6" fmla="*/ 675 w 1350"/>
                  <a:gd name="T7" fmla="*/ 0 h 1342"/>
                  <a:gd name="T8" fmla="*/ 783 w 1350"/>
                  <a:gd name="T9" fmla="*/ 108 h 1342"/>
                  <a:gd name="T10" fmla="*/ 174 w 1350"/>
                  <a:gd name="T11" fmla="*/ 540 h 1342"/>
                  <a:gd name="T12" fmla="*/ 164 w 1350"/>
                  <a:gd name="T13" fmla="*/ 531 h 1342"/>
                  <a:gd name="T14" fmla="*/ 35 w 1350"/>
                  <a:gd name="T15" fmla="*/ 531 h 1342"/>
                  <a:gd name="T16" fmla="*/ 25 w 1350"/>
                  <a:gd name="T17" fmla="*/ 540 h 1342"/>
                  <a:gd name="T18" fmla="*/ 0 w 1350"/>
                  <a:gd name="T19" fmla="*/ 1332 h 1342"/>
                  <a:gd name="T20" fmla="*/ 10 w 1350"/>
                  <a:gd name="T21" fmla="*/ 1342 h 1342"/>
                  <a:gd name="T22" fmla="*/ 188 w 1350"/>
                  <a:gd name="T23" fmla="*/ 1342 h 1342"/>
                  <a:gd name="T24" fmla="*/ 198 w 1350"/>
                  <a:gd name="T25" fmla="*/ 1332 h 1342"/>
                  <a:gd name="T26" fmla="*/ 174 w 1350"/>
                  <a:gd name="T27" fmla="*/ 540 h 1342"/>
                  <a:gd name="T28" fmla="*/ 557 w 1350"/>
                  <a:gd name="T29" fmla="*/ 540 h 1342"/>
                  <a:gd name="T30" fmla="*/ 548 w 1350"/>
                  <a:gd name="T31" fmla="*/ 531 h 1342"/>
                  <a:gd name="T32" fmla="*/ 418 w 1350"/>
                  <a:gd name="T33" fmla="*/ 531 h 1342"/>
                  <a:gd name="T34" fmla="*/ 409 w 1350"/>
                  <a:gd name="T35" fmla="*/ 540 h 1342"/>
                  <a:gd name="T36" fmla="*/ 384 w 1350"/>
                  <a:gd name="T37" fmla="*/ 1332 h 1342"/>
                  <a:gd name="T38" fmla="*/ 394 w 1350"/>
                  <a:gd name="T39" fmla="*/ 1342 h 1342"/>
                  <a:gd name="T40" fmla="*/ 572 w 1350"/>
                  <a:gd name="T41" fmla="*/ 1342 h 1342"/>
                  <a:gd name="T42" fmla="*/ 582 w 1350"/>
                  <a:gd name="T43" fmla="*/ 1332 h 1342"/>
                  <a:gd name="T44" fmla="*/ 557 w 1350"/>
                  <a:gd name="T45" fmla="*/ 540 h 1342"/>
                  <a:gd name="T46" fmla="*/ 941 w 1350"/>
                  <a:gd name="T47" fmla="*/ 540 h 1342"/>
                  <a:gd name="T48" fmla="*/ 932 w 1350"/>
                  <a:gd name="T49" fmla="*/ 531 h 1342"/>
                  <a:gd name="T50" fmla="*/ 802 w 1350"/>
                  <a:gd name="T51" fmla="*/ 531 h 1342"/>
                  <a:gd name="T52" fmla="*/ 793 w 1350"/>
                  <a:gd name="T53" fmla="*/ 540 h 1342"/>
                  <a:gd name="T54" fmla="*/ 768 w 1350"/>
                  <a:gd name="T55" fmla="*/ 1332 h 1342"/>
                  <a:gd name="T56" fmla="*/ 778 w 1350"/>
                  <a:gd name="T57" fmla="*/ 1342 h 1342"/>
                  <a:gd name="T58" fmla="*/ 956 w 1350"/>
                  <a:gd name="T59" fmla="*/ 1342 h 1342"/>
                  <a:gd name="T60" fmla="*/ 966 w 1350"/>
                  <a:gd name="T61" fmla="*/ 1332 h 1342"/>
                  <a:gd name="T62" fmla="*/ 941 w 1350"/>
                  <a:gd name="T63" fmla="*/ 540 h 1342"/>
                  <a:gd name="T64" fmla="*/ 1325 w 1350"/>
                  <a:gd name="T65" fmla="*/ 540 h 1342"/>
                  <a:gd name="T66" fmla="*/ 1315 w 1350"/>
                  <a:gd name="T67" fmla="*/ 531 h 1342"/>
                  <a:gd name="T68" fmla="*/ 1186 w 1350"/>
                  <a:gd name="T69" fmla="*/ 531 h 1342"/>
                  <a:gd name="T70" fmla="*/ 1176 w 1350"/>
                  <a:gd name="T71" fmla="*/ 540 h 1342"/>
                  <a:gd name="T72" fmla="*/ 1152 w 1350"/>
                  <a:gd name="T73" fmla="*/ 1332 h 1342"/>
                  <a:gd name="T74" fmla="*/ 1162 w 1350"/>
                  <a:gd name="T75" fmla="*/ 1342 h 1342"/>
                  <a:gd name="T76" fmla="*/ 1340 w 1350"/>
                  <a:gd name="T77" fmla="*/ 1342 h 1342"/>
                  <a:gd name="T78" fmla="*/ 1350 w 1350"/>
                  <a:gd name="T79" fmla="*/ 1332 h 1342"/>
                  <a:gd name="T80" fmla="*/ 1325 w 1350"/>
                  <a:gd name="T81" fmla="*/ 540 h 1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50" h="1342">
                    <a:moveTo>
                      <a:pt x="783" y="108"/>
                    </a:moveTo>
                    <a:cubicBezTo>
                      <a:pt x="783" y="167"/>
                      <a:pt x="735" y="216"/>
                      <a:pt x="675" y="216"/>
                    </a:cubicBezTo>
                    <a:cubicBezTo>
                      <a:pt x="615" y="216"/>
                      <a:pt x="567" y="167"/>
                      <a:pt x="567" y="108"/>
                    </a:cubicBezTo>
                    <a:cubicBezTo>
                      <a:pt x="567" y="48"/>
                      <a:pt x="615" y="0"/>
                      <a:pt x="675" y="0"/>
                    </a:cubicBezTo>
                    <a:cubicBezTo>
                      <a:pt x="735" y="0"/>
                      <a:pt x="783" y="48"/>
                      <a:pt x="783" y="108"/>
                    </a:cubicBezTo>
                    <a:close/>
                    <a:moveTo>
                      <a:pt x="174" y="540"/>
                    </a:moveTo>
                    <a:cubicBezTo>
                      <a:pt x="174" y="535"/>
                      <a:pt x="169" y="531"/>
                      <a:pt x="164" y="531"/>
                    </a:cubicBezTo>
                    <a:cubicBezTo>
                      <a:pt x="35" y="531"/>
                      <a:pt x="35" y="531"/>
                      <a:pt x="35" y="531"/>
                    </a:cubicBezTo>
                    <a:cubicBezTo>
                      <a:pt x="29" y="531"/>
                      <a:pt x="25" y="535"/>
                      <a:pt x="25" y="540"/>
                    </a:cubicBezTo>
                    <a:cubicBezTo>
                      <a:pt x="0" y="1332"/>
                      <a:pt x="0" y="1332"/>
                      <a:pt x="0" y="1332"/>
                    </a:cubicBezTo>
                    <a:cubicBezTo>
                      <a:pt x="0" y="1337"/>
                      <a:pt x="5" y="1342"/>
                      <a:pt x="10" y="1342"/>
                    </a:cubicBezTo>
                    <a:cubicBezTo>
                      <a:pt x="188" y="1342"/>
                      <a:pt x="188" y="1342"/>
                      <a:pt x="188" y="1342"/>
                    </a:cubicBezTo>
                    <a:cubicBezTo>
                      <a:pt x="194" y="1342"/>
                      <a:pt x="198" y="1337"/>
                      <a:pt x="198" y="1332"/>
                    </a:cubicBezTo>
                    <a:lnTo>
                      <a:pt x="174" y="540"/>
                    </a:lnTo>
                    <a:close/>
                    <a:moveTo>
                      <a:pt x="557" y="540"/>
                    </a:moveTo>
                    <a:cubicBezTo>
                      <a:pt x="557" y="535"/>
                      <a:pt x="553" y="531"/>
                      <a:pt x="548" y="531"/>
                    </a:cubicBezTo>
                    <a:cubicBezTo>
                      <a:pt x="418" y="531"/>
                      <a:pt x="418" y="531"/>
                      <a:pt x="418" y="531"/>
                    </a:cubicBezTo>
                    <a:cubicBezTo>
                      <a:pt x="413" y="531"/>
                      <a:pt x="409" y="535"/>
                      <a:pt x="409" y="540"/>
                    </a:cubicBezTo>
                    <a:cubicBezTo>
                      <a:pt x="384" y="1332"/>
                      <a:pt x="384" y="1332"/>
                      <a:pt x="384" y="1332"/>
                    </a:cubicBezTo>
                    <a:cubicBezTo>
                      <a:pt x="384" y="1337"/>
                      <a:pt x="389" y="1342"/>
                      <a:pt x="394" y="1342"/>
                    </a:cubicBezTo>
                    <a:cubicBezTo>
                      <a:pt x="572" y="1342"/>
                      <a:pt x="572" y="1342"/>
                      <a:pt x="572" y="1342"/>
                    </a:cubicBezTo>
                    <a:cubicBezTo>
                      <a:pt x="578" y="1342"/>
                      <a:pt x="582" y="1337"/>
                      <a:pt x="582" y="1332"/>
                    </a:cubicBezTo>
                    <a:lnTo>
                      <a:pt x="557" y="540"/>
                    </a:lnTo>
                    <a:close/>
                    <a:moveTo>
                      <a:pt x="941" y="540"/>
                    </a:moveTo>
                    <a:cubicBezTo>
                      <a:pt x="941" y="535"/>
                      <a:pt x="937" y="531"/>
                      <a:pt x="932" y="531"/>
                    </a:cubicBezTo>
                    <a:cubicBezTo>
                      <a:pt x="802" y="531"/>
                      <a:pt x="802" y="531"/>
                      <a:pt x="802" y="531"/>
                    </a:cubicBezTo>
                    <a:cubicBezTo>
                      <a:pt x="797" y="531"/>
                      <a:pt x="793" y="535"/>
                      <a:pt x="793" y="540"/>
                    </a:cubicBezTo>
                    <a:cubicBezTo>
                      <a:pt x="768" y="1332"/>
                      <a:pt x="768" y="1332"/>
                      <a:pt x="768" y="1332"/>
                    </a:cubicBezTo>
                    <a:cubicBezTo>
                      <a:pt x="768" y="1337"/>
                      <a:pt x="772" y="1342"/>
                      <a:pt x="778" y="1342"/>
                    </a:cubicBezTo>
                    <a:cubicBezTo>
                      <a:pt x="956" y="1342"/>
                      <a:pt x="956" y="1342"/>
                      <a:pt x="956" y="1342"/>
                    </a:cubicBezTo>
                    <a:cubicBezTo>
                      <a:pt x="961" y="1342"/>
                      <a:pt x="966" y="1337"/>
                      <a:pt x="966" y="1332"/>
                    </a:cubicBezTo>
                    <a:lnTo>
                      <a:pt x="941" y="540"/>
                    </a:lnTo>
                    <a:close/>
                    <a:moveTo>
                      <a:pt x="1325" y="540"/>
                    </a:moveTo>
                    <a:cubicBezTo>
                      <a:pt x="1325" y="535"/>
                      <a:pt x="1321" y="531"/>
                      <a:pt x="1315" y="531"/>
                    </a:cubicBezTo>
                    <a:cubicBezTo>
                      <a:pt x="1186" y="531"/>
                      <a:pt x="1186" y="531"/>
                      <a:pt x="1186" y="531"/>
                    </a:cubicBezTo>
                    <a:cubicBezTo>
                      <a:pt x="1181" y="531"/>
                      <a:pt x="1176" y="535"/>
                      <a:pt x="1176" y="540"/>
                    </a:cubicBezTo>
                    <a:cubicBezTo>
                      <a:pt x="1152" y="1332"/>
                      <a:pt x="1152" y="1332"/>
                      <a:pt x="1152" y="1332"/>
                    </a:cubicBezTo>
                    <a:cubicBezTo>
                      <a:pt x="1152" y="1337"/>
                      <a:pt x="1156" y="1342"/>
                      <a:pt x="1162" y="1342"/>
                    </a:cubicBezTo>
                    <a:cubicBezTo>
                      <a:pt x="1340" y="1342"/>
                      <a:pt x="1340" y="1342"/>
                      <a:pt x="1340" y="1342"/>
                    </a:cubicBezTo>
                    <a:cubicBezTo>
                      <a:pt x="1345" y="1342"/>
                      <a:pt x="1350" y="1337"/>
                      <a:pt x="1350" y="1332"/>
                    </a:cubicBezTo>
                    <a:lnTo>
                      <a:pt x="1325" y="54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grpSp>
      <p:grpSp>
        <p:nvGrpSpPr>
          <p:cNvPr id="5" name="Group 4">
            <a:extLst>
              <a:ext uri="{FF2B5EF4-FFF2-40B4-BE49-F238E27FC236}">
                <a16:creationId xmlns:a16="http://schemas.microsoft.com/office/drawing/2014/main" id="{C0A0A3C6-2D78-4102-9050-45FD9EB075A1}"/>
              </a:ext>
            </a:extLst>
          </p:cNvPr>
          <p:cNvGrpSpPr/>
          <p:nvPr/>
        </p:nvGrpSpPr>
        <p:grpSpPr>
          <a:xfrm>
            <a:off x="1675050" y="1278682"/>
            <a:ext cx="2871243" cy="4805115"/>
            <a:chOff x="3718525" y="1518831"/>
            <a:chExt cx="2871243" cy="4805115"/>
          </a:xfrm>
        </p:grpSpPr>
        <p:sp>
          <p:nvSpPr>
            <p:cNvPr id="135" name="Rectangle 134">
              <a:extLst>
                <a:ext uri="{FF2B5EF4-FFF2-40B4-BE49-F238E27FC236}">
                  <a16:creationId xmlns:a16="http://schemas.microsoft.com/office/drawing/2014/main" id="{AE910F7D-3578-413F-8AB4-8797D55C610C}"/>
                </a:ext>
              </a:extLst>
            </p:cNvPr>
            <p:cNvSpPr/>
            <p:nvPr/>
          </p:nvSpPr>
          <p:spPr>
            <a:xfrm>
              <a:off x="3718525" y="1768651"/>
              <a:ext cx="2752862" cy="4555295"/>
            </a:xfrm>
            <a:prstGeom prst="rect">
              <a:avLst/>
            </a:prstGeom>
            <a:noFill/>
            <a:ln w="9525" cap="rnd" cmpd="sng" algn="ctr">
              <a:solidFill>
                <a:schemeClr val="tx2"/>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Trebuchet MS"/>
                <a:ea typeface="+mn-ea"/>
                <a:cs typeface="+mn-cs"/>
                <a:sym typeface="Trebuchet MS" panose="020B0603020202020204" pitchFamily="34" charset="0"/>
              </a:endParaRPr>
            </a:p>
          </p:txBody>
        </p:sp>
        <p:sp>
          <p:nvSpPr>
            <p:cNvPr id="136" name="Rectangle 135">
              <a:extLst>
                <a:ext uri="{FF2B5EF4-FFF2-40B4-BE49-F238E27FC236}">
                  <a16:creationId xmlns:a16="http://schemas.microsoft.com/office/drawing/2014/main" id="{21783683-52DC-45CA-9D0D-CD772E95A95A}"/>
                </a:ext>
              </a:extLst>
            </p:cNvPr>
            <p:cNvSpPr/>
            <p:nvPr/>
          </p:nvSpPr>
          <p:spPr>
            <a:xfrm>
              <a:off x="5878864" y="1722054"/>
              <a:ext cx="352479" cy="71129"/>
            </a:xfrm>
            <a:prstGeom prst="rect">
              <a:avLst/>
            </a:prstGeom>
            <a:solidFill>
              <a:srgbClr val="FFFFFF"/>
            </a:solidFill>
            <a:ln w="9525" cap="flat" cmpd="sng" algn="ctr">
              <a:no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Trebuchet MS"/>
                <a:ea typeface="+mn-ea"/>
                <a:cs typeface="+mn-cs"/>
              </a:endParaRPr>
            </a:p>
          </p:txBody>
        </p:sp>
        <p:sp>
          <p:nvSpPr>
            <p:cNvPr id="137" name="Diamond 136">
              <a:extLst>
                <a:ext uri="{FF2B5EF4-FFF2-40B4-BE49-F238E27FC236}">
                  <a16:creationId xmlns:a16="http://schemas.microsoft.com/office/drawing/2014/main" id="{29C6CCCD-660A-4030-A347-45FEFB890D14}"/>
                </a:ext>
              </a:extLst>
            </p:cNvPr>
            <p:cNvSpPr/>
            <p:nvPr/>
          </p:nvSpPr>
          <p:spPr>
            <a:xfrm>
              <a:off x="5880279" y="1518831"/>
              <a:ext cx="709489" cy="710337"/>
            </a:xfrm>
            <a:prstGeom prst="diamond">
              <a:avLst/>
            </a:prstGeom>
            <a:solidFill>
              <a:srgbClr val="FFFFFF"/>
            </a:solidFill>
            <a:ln w="19050"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4295" tIns="37148" rIns="74295" bIns="3714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813"/>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Trebuchet MS"/>
                <a:ea typeface="+mn-ea"/>
                <a:cs typeface="+mn-cs"/>
                <a:sym typeface="Trebuchet MS" panose="020B0603020202020204" pitchFamily="34" charset="0"/>
              </a:endParaRPr>
            </a:p>
          </p:txBody>
        </p:sp>
        <p:grpSp>
          <p:nvGrpSpPr>
            <p:cNvPr id="10" name="Group 9"/>
            <p:cNvGrpSpPr/>
            <p:nvPr/>
          </p:nvGrpSpPr>
          <p:grpSpPr>
            <a:xfrm>
              <a:off x="3718526" y="1649546"/>
              <a:ext cx="2318654" cy="458654"/>
              <a:chOff x="3718526" y="1954346"/>
              <a:chExt cx="1442700" cy="458654"/>
            </a:xfrm>
          </p:grpSpPr>
          <p:sp>
            <p:nvSpPr>
              <p:cNvPr id="138" name="Arrow: Chevron 59">
                <a:extLst>
                  <a:ext uri="{FF2B5EF4-FFF2-40B4-BE49-F238E27FC236}">
                    <a16:creationId xmlns:a16="http://schemas.microsoft.com/office/drawing/2014/main" id="{180D808A-8879-4D9E-9F99-7544F603C906}"/>
                  </a:ext>
                </a:extLst>
              </p:cNvPr>
              <p:cNvSpPr/>
              <p:nvPr/>
            </p:nvSpPr>
            <p:spPr>
              <a:xfrm flipH="1">
                <a:off x="3878791" y="1954346"/>
                <a:ext cx="1282435" cy="458654"/>
              </a:xfrm>
              <a:prstGeom prst="chevron">
                <a:avLst>
                  <a:gd name="adj" fmla="val 51207"/>
                </a:avLst>
              </a:prstGeom>
              <a:solidFill>
                <a:schemeClr val="tx2"/>
              </a:solidFill>
              <a:ln w="12700" cap="flat" cmpd="sng" algn="ctr">
                <a:solidFill>
                  <a:schemeClr val="tx2"/>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latin typeface="Trebuchet MS"/>
                  <a:ea typeface="+mn-ea"/>
                  <a:cs typeface="+mn-cs"/>
                </a:endParaRPr>
              </a:p>
            </p:txBody>
          </p:sp>
          <p:sp>
            <p:nvSpPr>
              <p:cNvPr id="139" name="Rectangle: Rounded Corners 60">
                <a:extLst>
                  <a:ext uri="{FF2B5EF4-FFF2-40B4-BE49-F238E27FC236}">
                    <a16:creationId xmlns:a16="http://schemas.microsoft.com/office/drawing/2014/main" id="{1BA1FD73-5087-4C1B-977D-8222C2BE62E2}"/>
                  </a:ext>
                </a:extLst>
              </p:cNvPr>
              <p:cNvSpPr/>
              <p:nvPr/>
            </p:nvSpPr>
            <p:spPr>
              <a:xfrm>
                <a:off x="3718526" y="1954346"/>
                <a:ext cx="1087872" cy="458654"/>
              </a:xfrm>
              <a:prstGeom prst="roundRect">
                <a:avLst>
                  <a:gd name="adj" fmla="val 11456"/>
                </a:avLst>
              </a:prstGeom>
              <a:solidFill>
                <a:schemeClr val="tx2"/>
              </a:solidFill>
              <a:ln w="12700" cap="flat" cmpd="sng" algn="ctr">
                <a:solidFill>
                  <a:schemeClr val="tx2"/>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wrap="none" lIns="91440" tIns="45720" rIns="91440" bIns="4572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Trebuchet MS"/>
                    <a:ea typeface="+mn-ea"/>
                    <a:cs typeface="+mn-cs"/>
                  </a:rPr>
                  <a:t>Financing Domain</a:t>
                </a:r>
              </a:p>
            </p:txBody>
          </p:sp>
        </p:grpSp>
        <p:sp>
          <p:nvSpPr>
            <p:cNvPr id="141" name="Rectangle 140">
              <a:extLst>
                <a:ext uri="{FF2B5EF4-FFF2-40B4-BE49-F238E27FC236}">
                  <a16:creationId xmlns:a16="http://schemas.microsoft.com/office/drawing/2014/main" id="{880BA536-0A9D-4D8F-B3AE-2746DC133612}"/>
                </a:ext>
              </a:extLst>
            </p:cNvPr>
            <p:cNvSpPr/>
            <p:nvPr/>
          </p:nvSpPr>
          <p:spPr>
            <a:xfrm>
              <a:off x="5950445" y="6278226"/>
              <a:ext cx="520942" cy="4572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90000"/>
                </a:lnSpc>
                <a:spcBef>
                  <a:spcPts val="0"/>
                </a:spcBef>
                <a:spcAft>
                  <a:spcPts val="100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Trebuchet MS"/>
                <a:ea typeface="+mn-ea"/>
                <a:cs typeface="+mn-cs"/>
                <a:sym typeface="Trebuchet MS" panose="020B0603020202020204" pitchFamily="34" charset="0"/>
              </a:endParaRPr>
            </a:p>
          </p:txBody>
        </p:sp>
        <p:grpSp>
          <p:nvGrpSpPr>
            <p:cNvPr id="165" name="Group 164">
              <a:extLst>
                <a:ext uri="{FF2B5EF4-FFF2-40B4-BE49-F238E27FC236}">
                  <a16:creationId xmlns:a16="http://schemas.microsoft.com/office/drawing/2014/main" id="{AD075309-098F-4604-9E6A-BE2659FF4B5D}"/>
                </a:ext>
              </a:extLst>
            </p:cNvPr>
            <p:cNvGrpSpPr>
              <a:grpSpLocks noChangeAspect="1"/>
            </p:cNvGrpSpPr>
            <p:nvPr/>
          </p:nvGrpSpPr>
          <p:grpSpPr>
            <a:xfrm>
              <a:off x="6058704" y="1697849"/>
              <a:ext cx="352639" cy="352300"/>
              <a:chOff x="6464300" y="2606675"/>
              <a:chExt cx="1646238" cy="1644650"/>
            </a:xfrm>
          </p:grpSpPr>
          <p:sp>
            <p:nvSpPr>
              <p:cNvPr id="166" name="AutoShape 3">
                <a:extLst>
                  <a:ext uri="{FF2B5EF4-FFF2-40B4-BE49-F238E27FC236}">
                    <a16:creationId xmlns:a16="http://schemas.microsoft.com/office/drawing/2014/main" id="{FE155CFE-7D11-4B98-8942-9391304F9260}"/>
                  </a:ext>
                </a:extLst>
              </p:cNvPr>
              <p:cNvSpPr>
                <a:spLocks noChangeAspect="1" noChangeArrowheads="1" noTextEdit="1"/>
              </p:cNvSpPr>
              <p:nvPr/>
            </p:nvSpPr>
            <p:spPr bwMode="auto">
              <a:xfrm>
                <a:off x="6464300"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3152" tIns="36576" rIns="73152" bIns="36576"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nvGrpSpPr>
              <p:cNvPr id="167" name="Group 166">
                <a:extLst>
                  <a:ext uri="{FF2B5EF4-FFF2-40B4-BE49-F238E27FC236}">
                    <a16:creationId xmlns:a16="http://schemas.microsoft.com/office/drawing/2014/main" id="{E7144739-97B4-4BAE-9E6C-1E167B3830EA}"/>
                  </a:ext>
                </a:extLst>
              </p:cNvPr>
              <p:cNvGrpSpPr/>
              <p:nvPr/>
            </p:nvGrpSpPr>
            <p:grpSpPr>
              <a:xfrm>
                <a:off x="6729413" y="2881312"/>
                <a:ext cx="1146175" cy="1125538"/>
                <a:chOff x="6729413" y="2881312"/>
                <a:chExt cx="1146175" cy="1125538"/>
              </a:xfrm>
            </p:grpSpPr>
            <p:sp>
              <p:nvSpPr>
                <p:cNvPr id="168" name="Freeform 10">
                  <a:extLst>
                    <a:ext uri="{FF2B5EF4-FFF2-40B4-BE49-F238E27FC236}">
                      <a16:creationId xmlns:a16="http://schemas.microsoft.com/office/drawing/2014/main" id="{E4A0A327-202C-4880-A132-DDF7E332B9E5}"/>
                    </a:ext>
                  </a:extLst>
                </p:cNvPr>
                <p:cNvSpPr>
                  <a:spLocks/>
                </p:cNvSpPr>
                <p:nvPr/>
              </p:nvSpPr>
              <p:spPr bwMode="auto">
                <a:xfrm>
                  <a:off x="6989763" y="2944813"/>
                  <a:ext cx="822325" cy="336550"/>
                </a:xfrm>
                <a:custGeom>
                  <a:avLst/>
                  <a:gdLst>
                    <a:gd name="connsiteX0" fmla="*/ 485775 w 822325"/>
                    <a:gd name="connsiteY0" fmla="*/ 0 h 336550"/>
                    <a:gd name="connsiteX1" fmla="*/ 779453 w 822325"/>
                    <a:gd name="connsiteY1" fmla="*/ 0 h 336550"/>
                    <a:gd name="connsiteX2" fmla="*/ 822325 w 822325"/>
                    <a:gd name="connsiteY2" fmla="*/ 39134 h 336550"/>
                    <a:gd name="connsiteX3" fmla="*/ 822325 w 822325"/>
                    <a:gd name="connsiteY3" fmla="*/ 300974 h 336550"/>
                    <a:gd name="connsiteX4" fmla="*/ 780167 w 822325"/>
                    <a:gd name="connsiteY4" fmla="*/ 336550 h 336550"/>
                    <a:gd name="connsiteX5" fmla="*/ 487919 w 822325"/>
                    <a:gd name="connsiteY5" fmla="*/ 336550 h 336550"/>
                    <a:gd name="connsiteX6" fmla="*/ 552228 w 822325"/>
                    <a:gd name="connsiteY6" fmla="*/ 169342 h 336550"/>
                    <a:gd name="connsiteX7" fmla="*/ 485775 w 822325"/>
                    <a:gd name="connsiteY7" fmla="*/ 0 h 336550"/>
                    <a:gd name="connsiteX8" fmla="*/ 41444 w 822325"/>
                    <a:gd name="connsiteY8" fmla="*/ 0 h 336550"/>
                    <a:gd name="connsiteX9" fmla="*/ 336550 w 822325"/>
                    <a:gd name="connsiteY9" fmla="*/ 0 h 336550"/>
                    <a:gd name="connsiteX10" fmla="*/ 269383 w 822325"/>
                    <a:gd name="connsiteY10" fmla="*/ 169342 h 336550"/>
                    <a:gd name="connsiteX11" fmla="*/ 334407 w 822325"/>
                    <a:gd name="connsiteY11" fmla="*/ 336550 h 336550"/>
                    <a:gd name="connsiteX12" fmla="*/ 40729 w 822325"/>
                    <a:gd name="connsiteY12" fmla="*/ 336550 h 336550"/>
                    <a:gd name="connsiteX13" fmla="*/ 0 w 822325"/>
                    <a:gd name="connsiteY13" fmla="*/ 301686 h 336550"/>
                    <a:gd name="connsiteX14" fmla="*/ 0 w 822325"/>
                    <a:gd name="connsiteY14" fmla="*/ 39134 h 336550"/>
                    <a:gd name="connsiteX15" fmla="*/ 41444 w 822325"/>
                    <a:gd name="connsiteY15" fmla="*/ 0 h 33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2325" h="336550">
                      <a:moveTo>
                        <a:pt x="485775" y="0"/>
                      </a:moveTo>
                      <a:cubicBezTo>
                        <a:pt x="485775" y="0"/>
                        <a:pt x="485775" y="0"/>
                        <a:pt x="779453" y="0"/>
                      </a:cubicBezTo>
                      <a:cubicBezTo>
                        <a:pt x="782311" y="21346"/>
                        <a:pt x="800174" y="38422"/>
                        <a:pt x="822325" y="39134"/>
                      </a:cubicBezTo>
                      <a:cubicBezTo>
                        <a:pt x="822325" y="39134"/>
                        <a:pt x="822325" y="39134"/>
                        <a:pt x="822325" y="300974"/>
                      </a:cubicBezTo>
                      <a:cubicBezTo>
                        <a:pt x="801603" y="301686"/>
                        <a:pt x="784454" y="316628"/>
                        <a:pt x="780167" y="336550"/>
                      </a:cubicBezTo>
                      <a:cubicBezTo>
                        <a:pt x="780167" y="336550"/>
                        <a:pt x="780167" y="336550"/>
                        <a:pt x="487919" y="336550"/>
                      </a:cubicBezTo>
                      <a:cubicBezTo>
                        <a:pt x="522932" y="298839"/>
                        <a:pt x="552228" y="237649"/>
                        <a:pt x="552228" y="169342"/>
                      </a:cubicBezTo>
                      <a:cubicBezTo>
                        <a:pt x="552228" y="99613"/>
                        <a:pt x="522217" y="37711"/>
                        <a:pt x="485775" y="0"/>
                      </a:cubicBezTo>
                      <a:close/>
                      <a:moveTo>
                        <a:pt x="41444" y="0"/>
                      </a:moveTo>
                      <a:lnTo>
                        <a:pt x="336550" y="0"/>
                      </a:lnTo>
                      <a:cubicBezTo>
                        <a:pt x="300109" y="37711"/>
                        <a:pt x="269383" y="99613"/>
                        <a:pt x="269383" y="169342"/>
                      </a:cubicBezTo>
                      <a:cubicBezTo>
                        <a:pt x="269383" y="237649"/>
                        <a:pt x="299394" y="298839"/>
                        <a:pt x="334407" y="336550"/>
                      </a:cubicBezTo>
                      <a:cubicBezTo>
                        <a:pt x="334407" y="336550"/>
                        <a:pt x="334407" y="336550"/>
                        <a:pt x="40729" y="336550"/>
                      </a:cubicBezTo>
                      <a:cubicBezTo>
                        <a:pt x="37157" y="317339"/>
                        <a:pt x="20007" y="303109"/>
                        <a:pt x="0" y="301686"/>
                      </a:cubicBezTo>
                      <a:cubicBezTo>
                        <a:pt x="0" y="301686"/>
                        <a:pt x="0" y="301686"/>
                        <a:pt x="0" y="39134"/>
                      </a:cubicBezTo>
                      <a:cubicBezTo>
                        <a:pt x="21437" y="37711"/>
                        <a:pt x="38586" y="20634"/>
                        <a:pt x="41444" y="0"/>
                      </a:cubicBezTo>
                      <a:close/>
                    </a:path>
                  </a:pathLst>
                </a:custGeom>
                <a:solidFill>
                  <a:schemeClr val="tx2"/>
                </a:solidFill>
                <a:ln>
                  <a:noFill/>
                </a:ln>
              </p:spPr>
              <p:txBody>
                <a:bodyPr vert="horz" wrap="square" lIns="73152" tIns="36576" rIns="73152" bIns="36576"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169" name="Freeform 11">
                  <a:extLst>
                    <a:ext uri="{FF2B5EF4-FFF2-40B4-BE49-F238E27FC236}">
                      <a16:creationId xmlns:a16="http://schemas.microsoft.com/office/drawing/2014/main" id="{4ADB63F0-D2BF-4D42-B270-CAE30E6A4BE7}"/>
                    </a:ext>
                  </a:extLst>
                </p:cNvPr>
                <p:cNvSpPr>
                  <a:spLocks/>
                </p:cNvSpPr>
                <p:nvPr/>
              </p:nvSpPr>
              <p:spPr bwMode="auto">
                <a:xfrm>
                  <a:off x="6729413" y="2881312"/>
                  <a:ext cx="1146175" cy="1125538"/>
                </a:xfrm>
                <a:custGeom>
                  <a:avLst/>
                  <a:gdLst>
                    <a:gd name="connsiteX0" fmla="*/ 409739 w 1146175"/>
                    <a:gd name="connsiteY0" fmla="*/ 615791 h 1125538"/>
                    <a:gd name="connsiteX1" fmla="*/ 326138 w 1146175"/>
                    <a:gd name="connsiteY1" fmla="*/ 635801 h 1125538"/>
                    <a:gd name="connsiteX2" fmla="*/ 31750 w 1146175"/>
                    <a:gd name="connsiteY2" fmla="*/ 803020 h 1125538"/>
                    <a:gd name="connsiteX3" fmla="*/ 31750 w 1146175"/>
                    <a:gd name="connsiteY3" fmla="*/ 1087437 h 1125538"/>
                    <a:gd name="connsiteX4" fmla="*/ 368296 w 1146175"/>
                    <a:gd name="connsiteY4" fmla="*/ 957377 h 1125538"/>
                    <a:gd name="connsiteX5" fmla="*/ 419028 w 1146175"/>
                    <a:gd name="connsiteY5" fmla="*/ 949516 h 1125538"/>
                    <a:gd name="connsiteX6" fmla="*/ 568366 w 1146175"/>
                    <a:gd name="connsiteY6" fmla="*/ 960236 h 1125538"/>
                    <a:gd name="connsiteX7" fmla="*/ 797017 w 1146175"/>
                    <a:gd name="connsiteY7" fmla="*/ 933795 h 1125538"/>
                    <a:gd name="connsiteX8" fmla="*/ 1047818 w 1146175"/>
                    <a:gd name="connsiteY8" fmla="*/ 767290 h 1125538"/>
                    <a:gd name="connsiteX9" fmla="*/ 1079972 w 1146175"/>
                    <a:gd name="connsiteY9" fmla="*/ 730130 h 1125538"/>
                    <a:gd name="connsiteX10" fmla="*/ 1074971 w 1146175"/>
                    <a:gd name="connsiteY10" fmla="*/ 655810 h 1125538"/>
                    <a:gd name="connsiteX11" fmla="*/ 1036386 w 1146175"/>
                    <a:gd name="connsiteY11" fmla="*/ 642232 h 1125538"/>
                    <a:gd name="connsiteX12" fmla="*/ 999230 w 1146175"/>
                    <a:gd name="connsiteY12" fmla="*/ 660097 h 1125538"/>
                    <a:gd name="connsiteX13" fmla="*/ 951356 w 1146175"/>
                    <a:gd name="connsiteY13" fmla="*/ 713694 h 1125538"/>
                    <a:gd name="connsiteX14" fmla="*/ 805591 w 1146175"/>
                    <a:gd name="connsiteY14" fmla="*/ 805164 h 1125538"/>
                    <a:gd name="connsiteX15" fmla="*/ 608380 w 1146175"/>
                    <a:gd name="connsiteY15" fmla="*/ 794445 h 1125538"/>
                    <a:gd name="connsiteX16" fmla="*/ 553360 w 1146175"/>
                    <a:gd name="connsiteY16" fmla="*/ 772292 h 1125538"/>
                    <a:gd name="connsiteX17" fmla="*/ 544071 w 1146175"/>
                    <a:gd name="connsiteY17" fmla="*/ 755856 h 1125538"/>
                    <a:gd name="connsiteX18" fmla="*/ 557648 w 1146175"/>
                    <a:gd name="connsiteY18" fmla="*/ 742278 h 1125538"/>
                    <a:gd name="connsiteX19" fmla="*/ 715560 w 1146175"/>
                    <a:gd name="connsiteY19" fmla="*/ 726557 h 1125538"/>
                    <a:gd name="connsiteX20" fmla="*/ 759146 w 1146175"/>
                    <a:gd name="connsiteY20" fmla="*/ 679392 h 1125538"/>
                    <a:gd name="connsiteX21" fmla="*/ 713416 w 1146175"/>
                    <a:gd name="connsiteY21" fmla="*/ 631513 h 1125538"/>
                    <a:gd name="connsiteX22" fmla="*/ 409739 w 1146175"/>
                    <a:gd name="connsiteY22" fmla="*/ 615791 h 1125538"/>
                    <a:gd name="connsiteX23" fmla="*/ 390213 w 1146175"/>
                    <a:gd name="connsiteY23" fmla="*/ 584200 h 1125538"/>
                    <a:gd name="connsiteX24" fmla="*/ 393786 w 1146175"/>
                    <a:gd name="connsiteY24" fmla="*/ 584200 h 1125538"/>
                    <a:gd name="connsiteX25" fmla="*/ 396645 w 1146175"/>
                    <a:gd name="connsiteY25" fmla="*/ 584200 h 1125538"/>
                    <a:gd name="connsiteX26" fmla="*/ 399504 w 1146175"/>
                    <a:gd name="connsiteY26" fmla="*/ 584200 h 1125538"/>
                    <a:gd name="connsiteX27" fmla="*/ 403077 w 1146175"/>
                    <a:gd name="connsiteY27" fmla="*/ 584200 h 1125538"/>
                    <a:gd name="connsiteX28" fmla="*/ 410939 w 1146175"/>
                    <a:gd name="connsiteY28" fmla="*/ 584200 h 1125538"/>
                    <a:gd name="connsiteX29" fmla="*/ 715390 w 1146175"/>
                    <a:gd name="connsiteY29" fmla="*/ 599912 h 1125538"/>
                    <a:gd name="connsiteX30" fmla="*/ 780426 w 1146175"/>
                    <a:gd name="connsiteY30" fmla="*/ 640619 h 1125538"/>
                    <a:gd name="connsiteX31" fmla="*/ 782570 w 1146175"/>
                    <a:gd name="connsiteY31" fmla="*/ 644904 h 1125538"/>
                    <a:gd name="connsiteX32" fmla="*/ 789002 w 1146175"/>
                    <a:gd name="connsiteY32" fmla="*/ 663473 h 1125538"/>
                    <a:gd name="connsiteX33" fmla="*/ 790431 w 1146175"/>
                    <a:gd name="connsiteY33" fmla="*/ 679184 h 1125538"/>
                    <a:gd name="connsiteX34" fmla="*/ 789716 w 1146175"/>
                    <a:gd name="connsiteY34" fmla="*/ 684898 h 1125538"/>
                    <a:gd name="connsiteX35" fmla="*/ 789716 w 1146175"/>
                    <a:gd name="connsiteY35" fmla="*/ 685612 h 1125538"/>
                    <a:gd name="connsiteX36" fmla="*/ 789002 w 1146175"/>
                    <a:gd name="connsiteY36" fmla="*/ 691325 h 1125538"/>
                    <a:gd name="connsiteX37" fmla="*/ 763988 w 1146175"/>
                    <a:gd name="connsiteY37" fmla="*/ 738460 h 1125538"/>
                    <a:gd name="connsiteX38" fmla="*/ 763273 w 1146175"/>
                    <a:gd name="connsiteY38" fmla="*/ 738460 h 1125538"/>
                    <a:gd name="connsiteX39" fmla="*/ 758985 w 1146175"/>
                    <a:gd name="connsiteY39" fmla="*/ 742031 h 1125538"/>
                    <a:gd name="connsiteX40" fmla="*/ 754697 w 1146175"/>
                    <a:gd name="connsiteY40" fmla="*/ 744888 h 1125538"/>
                    <a:gd name="connsiteX41" fmla="*/ 753983 w 1146175"/>
                    <a:gd name="connsiteY41" fmla="*/ 745602 h 1125538"/>
                    <a:gd name="connsiteX42" fmla="*/ 749695 w 1146175"/>
                    <a:gd name="connsiteY42" fmla="*/ 748458 h 1125538"/>
                    <a:gd name="connsiteX43" fmla="*/ 748265 w 1146175"/>
                    <a:gd name="connsiteY43" fmla="*/ 749173 h 1125538"/>
                    <a:gd name="connsiteX44" fmla="*/ 743263 w 1146175"/>
                    <a:gd name="connsiteY44" fmla="*/ 751315 h 1125538"/>
                    <a:gd name="connsiteX45" fmla="*/ 742548 w 1146175"/>
                    <a:gd name="connsiteY45" fmla="*/ 752029 h 1125538"/>
                    <a:gd name="connsiteX46" fmla="*/ 738260 w 1146175"/>
                    <a:gd name="connsiteY46" fmla="*/ 753458 h 1125538"/>
                    <a:gd name="connsiteX47" fmla="*/ 718964 w 1146175"/>
                    <a:gd name="connsiteY47" fmla="*/ 757743 h 1125538"/>
                    <a:gd name="connsiteX48" fmla="*/ 624626 w 1146175"/>
                    <a:gd name="connsiteY48" fmla="*/ 767027 h 1125538"/>
                    <a:gd name="connsiteX49" fmla="*/ 743263 w 1146175"/>
                    <a:gd name="connsiteY49" fmla="*/ 784167 h 1125538"/>
                    <a:gd name="connsiteX50" fmla="*/ 775423 w 1146175"/>
                    <a:gd name="connsiteY50" fmla="*/ 779882 h 1125538"/>
                    <a:gd name="connsiteX51" fmla="*/ 785428 w 1146175"/>
                    <a:gd name="connsiteY51" fmla="*/ 777739 h 1125538"/>
                    <a:gd name="connsiteX52" fmla="*/ 786858 w 1146175"/>
                    <a:gd name="connsiteY52" fmla="*/ 777025 h 1125538"/>
                    <a:gd name="connsiteX53" fmla="*/ 796863 w 1146175"/>
                    <a:gd name="connsiteY53" fmla="*/ 774883 h 1125538"/>
                    <a:gd name="connsiteX54" fmla="*/ 826880 w 1146175"/>
                    <a:gd name="connsiteY54" fmla="*/ 764170 h 1125538"/>
                    <a:gd name="connsiteX55" fmla="*/ 909782 w 1146175"/>
                    <a:gd name="connsiteY55" fmla="*/ 711322 h 1125538"/>
                    <a:gd name="connsiteX56" fmla="*/ 928363 w 1146175"/>
                    <a:gd name="connsiteY56" fmla="*/ 692753 h 1125538"/>
                    <a:gd name="connsiteX57" fmla="*/ 975532 w 1146175"/>
                    <a:gd name="connsiteY57" fmla="*/ 639191 h 1125538"/>
                    <a:gd name="connsiteX58" fmla="*/ 978391 w 1146175"/>
                    <a:gd name="connsiteY58" fmla="*/ 635620 h 1125538"/>
                    <a:gd name="connsiteX59" fmla="*/ 979105 w 1146175"/>
                    <a:gd name="connsiteY59" fmla="*/ 635620 h 1125538"/>
                    <a:gd name="connsiteX60" fmla="*/ 1034135 w 1146175"/>
                    <a:gd name="connsiteY60" fmla="*/ 610624 h 1125538"/>
                    <a:gd name="connsiteX61" fmla="*/ 1034850 w 1146175"/>
                    <a:gd name="connsiteY61" fmla="*/ 610624 h 1125538"/>
                    <a:gd name="connsiteX62" fmla="*/ 1039138 w 1146175"/>
                    <a:gd name="connsiteY62" fmla="*/ 610624 h 1125538"/>
                    <a:gd name="connsiteX63" fmla="*/ 1040567 w 1146175"/>
                    <a:gd name="connsiteY63" fmla="*/ 610624 h 1125538"/>
                    <a:gd name="connsiteX64" fmla="*/ 1079875 w 1146175"/>
                    <a:gd name="connsiteY64" fmla="*/ 621337 h 1125538"/>
                    <a:gd name="connsiteX65" fmla="*/ 1083448 w 1146175"/>
                    <a:gd name="connsiteY65" fmla="*/ 623479 h 1125538"/>
                    <a:gd name="connsiteX66" fmla="*/ 1086307 w 1146175"/>
                    <a:gd name="connsiteY66" fmla="*/ 624908 h 1125538"/>
                    <a:gd name="connsiteX67" fmla="*/ 1087021 w 1146175"/>
                    <a:gd name="connsiteY67" fmla="*/ 625622 h 1125538"/>
                    <a:gd name="connsiteX68" fmla="*/ 1089880 w 1146175"/>
                    <a:gd name="connsiteY68" fmla="*/ 627764 h 1125538"/>
                    <a:gd name="connsiteX69" fmla="*/ 1090595 w 1146175"/>
                    <a:gd name="connsiteY69" fmla="*/ 628478 h 1125538"/>
                    <a:gd name="connsiteX70" fmla="*/ 1092739 w 1146175"/>
                    <a:gd name="connsiteY70" fmla="*/ 629907 h 1125538"/>
                    <a:gd name="connsiteX71" fmla="*/ 1095597 w 1146175"/>
                    <a:gd name="connsiteY71" fmla="*/ 632049 h 1125538"/>
                    <a:gd name="connsiteX72" fmla="*/ 1095597 w 1146175"/>
                    <a:gd name="connsiteY72" fmla="*/ 632763 h 1125538"/>
                    <a:gd name="connsiteX73" fmla="*/ 1103459 w 1146175"/>
                    <a:gd name="connsiteY73" fmla="*/ 749887 h 1125538"/>
                    <a:gd name="connsiteX74" fmla="*/ 1072013 w 1146175"/>
                    <a:gd name="connsiteY74" fmla="*/ 787738 h 1125538"/>
                    <a:gd name="connsiteX75" fmla="*/ 966241 w 1146175"/>
                    <a:gd name="connsiteY75" fmla="*/ 884150 h 1125538"/>
                    <a:gd name="connsiteX76" fmla="*/ 956950 w 1146175"/>
                    <a:gd name="connsiteY76" fmla="*/ 890577 h 1125538"/>
                    <a:gd name="connsiteX77" fmla="*/ 948374 w 1146175"/>
                    <a:gd name="connsiteY77" fmla="*/ 896291 h 1125538"/>
                    <a:gd name="connsiteX78" fmla="*/ 806154 w 1146175"/>
                    <a:gd name="connsiteY78" fmla="*/ 963422 h 1125538"/>
                    <a:gd name="connsiteX79" fmla="*/ 792575 w 1146175"/>
                    <a:gd name="connsiteY79" fmla="*/ 967707 h 1125538"/>
                    <a:gd name="connsiteX80" fmla="*/ 788287 w 1146175"/>
                    <a:gd name="connsiteY80" fmla="*/ 968422 h 1125538"/>
                    <a:gd name="connsiteX81" fmla="*/ 779711 w 1146175"/>
                    <a:gd name="connsiteY81" fmla="*/ 971278 h 1125538"/>
                    <a:gd name="connsiteX82" fmla="*/ 773994 w 1146175"/>
                    <a:gd name="connsiteY82" fmla="*/ 972707 h 1125538"/>
                    <a:gd name="connsiteX83" fmla="*/ 766132 w 1146175"/>
                    <a:gd name="connsiteY83" fmla="*/ 974135 h 1125538"/>
                    <a:gd name="connsiteX84" fmla="*/ 759700 w 1146175"/>
                    <a:gd name="connsiteY84" fmla="*/ 976277 h 1125538"/>
                    <a:gd name="connsiteX85" fmla="*/ 753983 w 1146175"/>
                    <a:gd name="connsiteY85" fmla="*/ 976992 h 1125538"/>
                    <a:gd name="connsiteX86" fmla="*/ 724681 w 1146175"/>
                    <a:gd name="connsiteY86" fmla="*/ 983419 h 1125538"/>
                    <a:gd name="connsiteX87" fmla="*/ 721822 w 1146175"/>
                    <a:gd name="connsiteY87" fmla="*/ 983419 h 1125538"/>
                    <a:gd name="connsiteX88" fmla="*/ 711102 w 1146175"/>
                    <a:gd name="connsiteY88" fmla="*/ 985562 h 1125538"/>
                    <a:gd name="connsiteX89" fmla="*/ 709673 w 1146175"/>
                    <a:gd name="connsiteY89" fmla="*/ 985562 h 1125538"/>
                    <a:gd name="connsiteX90" fmla="*/ 650355 w 1146175"/>
                    <a:gd name="connsiteY90" fmla="*/ 991989 h 1125538"/>
                    <a:gd name="connsiteX91" fmla="*/ 648211 w 1146175"/>
                    <a:gd name="connsiteY91" fmla="*/ 991989 h 1125538"/>
                    <a:gd name="connsiteX92" fmla="*/ 637491 w 1146175"/>
                    <a:gd name="connsiteY92" fmla="*/ 992703 h 1125538"/>
                    <a:gd name="connsiteX93" fmla="*/ 635347 w 1146175"/>
                    <a:gd name="connsiteY93" fmla="*/ 992703 h 1125538"/>
                    <a:gd name="connsiteX94" fmla="*/ 621053 w 1146175"/>
                    <a:gd name="connsiteY94" fmla="*/ 992703 h 1125538"/>
                    <a:gd name="connsiteX95" fmla="*/ 620338 w 1146175"/>
                    <a:gd name="connsiteY95" fmla="*/ 992703 h 1125538"/>
                    <a:gd name="connsiteX96" fmla="*/ 612477 w 1146175"/>
                    <a:gd name="connsiteY96" fmla="*/ 992703 h 1125538"/>
                    <a:gd name="connsiteX97" fmla="*/ 606045 w 1146175"/>
                    <a:gd name="connsiteY97" fmla="*/ 992703 h 1125538"/>
                    <a:gd name="connsiteX98" fmla="*/ 598898 w 1146175"/>
                    <a:gd name="connsiteY98" fmla="*/ 992703 h 1125538"/>
                    <a:gd name="connsiteX99" fmla="*/ 592466 w 1146175"/>
                    <a:gd name="connsiteY99" fmla="*/ 992703 h 1125538"/>
                    <a:gd name="connsiteX100" fmla="*/ 584605 w 1146175"/>
                    <a:gd name="connsiteY100" fmla="*/ 991989 h 1125538"/>
                    <a:gd name="connsiteX101" fmla="*/ 578887 w 1146175"/>
                    <a:gd name="connsiteY101" fmla="*/ 991989 h 1125538"/>
                    <a:gd name="connsiteX102" fmla="*/ 566738 w 1146175"/>
                    <a:gd name="connsiteY102" fmla="*/ 991275 h 1125538"/>
                    <a:gd name="connsiteX103" fmla="*/ 566023 w 1146175"/>
                    <a:gd name="connsiteY103" fmla="*/ 991275 h 1125538"/>
                    <a:gd name="connsiteX104" fmla="*/ 485265 w 1146175"/>
                    <a:gd name="connsiteY104" fmla="*/ 985562 h 1125538"/>
                    <a:gd name="connsiteX105" fmla="*/ 416656 w 1146175"/>
                    <a:gd name="connsiteY105" fmla="*/ 980562 h 1125538"/>
                    <a:gd name="connsiteX106" fmla="*/ 410939 w 1146175"/>
                    <a:gd name="connsiteY106" fmla="*/ 980562 h 1125538"/>
                    <a:gd name="connsiteX107" fmla="*/ 407365 w 1146175"/>
                    <a:gd name="connsiteY107" fmla="*/ 980562 h 1125538"/>
                    <a:gd name="connsiteX108" fmla="*/ 393072 w 1146175"/>
                    <a:gd name="connsiteY108" fmla="*/ 981991 h 1125538"/>
                    <a:gd name="connsiteX109" fmla="*/ 388784 w 1146175"/>
                    <a:gd name="connsiteY109" fmla="*/ 982705 h 1125538"/>
                    <a:gd name="connsiteX110" fmla="*/ 388784 w 1146175"/>
                    <a:gd name="connsiteY110" fmla="*/ 983419 h 1125538"/>
                    <a:gd name="connsiteX111" fmla="*/ 384496 w 1146175"/>
                    <a:gd name="connsiteY111" fmla="*/ 984133 h 1125538"/>
                    <a:gd name="connsiteX112" fmla="*/ 383781 w 1146175"/>
                    <a:gd name="connsiteY112" fmla="*/ 984847 h 1125538"/>
                    <a:gd name="connsiteX113" fmla="*/ 379493 w 1146175"/>
                    <a:gd name="connsiteY113" fmla="*/ 986276 h 1125538"/>
                    <a:gd name="connsiteX114" fmla="*/ 21441 w 1146175"/>
                    <a:gd name="connsiteY114" fmla="*/ 1124824 h 1125538"/>
                    <a:gd name="connsiteX115" fmla="*/ 15723 w 1146175"/>
                    <a:gd name="connsiteY115" fmla="*/ 1125538 h 1125538"/>
                    <a:gd name="connsiteX116" fmla="*/ 7147 w 1146175"/>
                    <a:gd name="connsiteY116" fmla="*/ 1122681 h 1125538"/>
                    <a:gd name="connsiteX117" fmla="*/ 0 w 1146175"/>
                    <a:gd name="connsiteY117" fmla="*/ 1109826 h 1125538"/>
                    <a:gd name="connsiteX118" fmla="*/ 0 w 1146175"/>
                    <a:gd name="connsiteY118" fmla="*/ 793451 h 1125538"/>
                    <a:gd name="connsiteX119" fmla="*/ 7862 w 1146175"/>
                    <a:gd name="connsiteY119" fmla="*/ 779882 h 1125538"/>
                    <a:gd name="connsiteX120" fmla="*/ 310169 w 1146175"/>
                    <a:gd name="connsiteY120" fmla="*/ 608482 h 1125538"/>
                    <a:gd name="connsiteX121" fmla="*/ 315887 w 1146175"/>
                    <a:gd name="connsiteY121" fmla="*/ 605625 h 1125538"/>
                    <a:gd name="connsiteX122" fmla="*/ 318031 w 1146175"/>
                    <a:gd name="connsiteY122" fmla="*/ 604197 h 1125538"/>
                    <a:gd name="connsiteX123" fmla="*/ 320889 w 1146175"/>
                    <a:gd name="connsiteY123" fmla="*/ 602768 h 1125538"/>
                    <a:gd name="connsiteX124" fmla="*/ 324463 w 1146175"/>
                    <a:gd name="connsiteY124" fmla="*/ 601340 h 1125538"/>
                    <a:gd name="connsiteX125" fmla="*/ 326607 w 1146175"/>
                    <a:gd name="connsiteY125" fmla="*/ 599912 h 1125538"/>
                    <a:gd name="connsiteX126" fmla="*/ 330180 w 1146175"/>
                    <a:gd name="connsiteY126" fmla="*/ 598483 h 1125538"/>
                    <a:gd name="connsiteX127" fmla="*/ 332324 w 1146175"/>
                    <a:gd name="connsiteY127" fmla="*/ 597769 h 1125538"/>
                    <a:gd name="connsiteX128" fmla="*/ 336612 w 1146175"/>
                    <a:gd name="connsiteY128" fmla="*/ 596341 h 1125538"/>
                    <a:gd name="connsiteX129" fmla="*/ 338042 w 1146175"/>
                    <a:gd name="connsiteY129" fmla="*/ 595627 h 1125538"/>
                    <a:gd name="connsiteX130" fmla="*/ 342330 w 1146175"/>
                    <a:gd name="connsiteY130" fmla="*/ 594198 h 1125538"/>
                    <a:gd name="connsiteX131" fmla="*/ 343044 w 1146175"/>
                    <a:gd name="connsiteY131" fmla="*/ 593484 h 1125538"/>
                    <a:gd name="connsiteX132" fmla="*/ 348047 w 1146175"/>
                    <a:gd name="connsiteY132" fmla="*/ 592056 h 1125538"/>
                    <a:gd name="connsiteX133" fmla="*/ 348762 w 1146175"/>
                    <a:gd name="connsiteY133" fmla="*/ 592056 h 1125538"/>
                    <a:gd name="connsiteX134" fmla="*/ 382352 w 1146175"/>
                    <a:gd name="connsiteY134" fmla="*/ 584914 h 1125538"/>
                    <a:gd name="connsiteX135" fmla="*/ 383781 w 1146175"/>
                    <a:gd name="connsiteY135" fmla="*/ 584914 h 1125538"/>
                    <a:gd name="connsiteX136" fmla="*/ 387354 w 1146175"/>
                    <a:gd name="connsiteY136" fmla="*/ 584914 h 1125538"/>
                    <a:gd name="connsiteX137" fmla="*/ 390213 w 1146175"/>
                    <a:gd name="connsiteY137" fmla="*/ 584200 h 1125538"/>
                    <a:gd name="connsiteX138" fmla="*/ 654433 w 1146175"/>
                    <a:gd name="connsiteY138" fmla="*/ 103187 h 1125538"/>
                    <a:gd name="connsiteX139" fmla="*/ 686457 w 1146175"/>
                    <a:gd name="connsiteY139" fmla="*/ 103187 h 1125538"/>
                    <a:gd name="connsiteX140" fmla="*/ 686457 w 1146175"/>
                    <a:gd name="connsiteY140" fmla="*/ 126776 h 1125538"/>
                    <a:gd name="connsiteX141" fmla="*/ 724174 w 1146175"/>
                    <a:gd name="connsiteY141" fmla="*/ 139643 h 1125538"/>
                    <a:gd name="connsiteX142" fmla="*/ 714211 w 1146175"/>
                    <a:gd name="connsiteY142" fmla="*/ 169665 h 1125538"/>
                    <a:gd name="connsiteX143" fmla="*/ 672936 w 1146175"/>
                    <a:gd name="connsiteY143" fmla="*/ 156083 h 1125538"/>
                    <a:gd name="connsiteX144" fmla="*/ 653722 w 1146175"/>
                    <a:gd name="connsiteY144" fmla="*/ 162517 h 1125538"/>
                    <a:gd name="connsiteX145" fmla="*/ 646605 w 1146175"/>
                    <a:gd name="connsiteY145" fmla="*/ 179672 h 1125538"/>
                    <a:gd name="connsiteX146" fmla="*/ 685034 w 1146175"/>
                    <a:gd name="connsiteY146" fmla="*/ 215413 h 1125538"/>
                    <a:gd name="connsiteX147" fmla="*/ 715634 w 1146175"/>
                    <a:gd name="connsiteY147" fmla="*/ 233998 h 1125538"/>
                    <a:gd name="connsiteX148" fmla="*/ 729155 w 1146175"/>
                    <a:gd name="connsiteY148" fmla="*/ 253298 h 1125538"/>
                    <a:gd name="connsiteX149" fmla="*/ 733425 w 1146175"/>
                    <a:gd name="connsiteY149" fmla="*/ 278317 h 1125538"/>
                    <a:gd name="connsiteX150" fmla="*/ 721327 w 1146175"/>
                    <a:gd name="connsiteY150" fmla="*/ 311198 h 1125538"/>
                    <a:gd name="connsiteX151" fmla="*/ 686457 w 1146175"/>
                    <a:gd name="connsiteY151" fmla="*/ 331213 h 1125538"/>
                    <a:gd name="connsiteX152" fmla="*/ 686457 w 1146175"/>
                    <a:gd name="connsiteY152" fmla="*/ 361950 h 1125538"/>
                    <a:gd name="connsiteX153" fmla="*/ 654433 w 1146175"/>
                    <a:gd name="connsiteY153" fmla="*/ 361950 h 1125538"/>
                    <a:gd name="connsiteX154" fmla="*/ 654433 w 1146175"/>
                    <a:gd name="connsiteY154" fmla="*/ 332643 h 1125538"/>
                    <a:gd name="connsiteX155" fmla="*/ 609600 w 1146175"/>
                    <a:gd name="connsiteY155" fmla="*/ 319061 h 1125538"/>
                    <a:gd name="connsiteX156" fmla="*/ 623833 w 1146175"/>
                    <a:gd name="connsiteY156" fmla="*/ 287609 h 1125538"/>
                    <a:gd name="connsiteX157" fmla="*/ 665820 w 1146175"/>
                    <a:gd name="connsiteY157" fmla="*/ 301906 h 1125538"/>
                    <a:gd name="connsiteX158" fmla="*/ 697132 w 1146175"/>
                    <a:gd name="connsiteY158" fmla="*/ 280461 h 1125538"/>
                    <a:gd name="connsiteX159" fmla="*/ 689304 w 1146175"/>
                    <a:gd name="connsiteY159" fmla="*/ 259732 h 1125538"/>
                    <a:gd name="connsiteX160" fmla="*/ 658703 w 1146175"/>
                    <a:gd name="connsiteY160" fmla="*/ 239002 h 1125538"/>
                    <a:gd name="connsiteX161" fmla="*/ 627391 w 1146175"/>
                    <a:gd name="connsiteY161" fmla="*/ 220417 h 1125538"/>
                    <a:gd name="connsiteX162" fmla="*/ 613870 w 1146175"/>
                    <a:gd name="connsiteY162" fmla="*/ 202546 h 1125538"/>
                    <a:gd name="connsiteX163" fmla="*/ 610312 w 1146175"/>
                    <a:gd name="connsiteY163" fmla="*/ 179672 h 1125538"/>
                    <a:gd name="connsiteX164" fmla="*/ 623121 w 1146175"/>
                    <a:gd name="connsiteY164" fmla="*/ 147506 h 1125538"/>
                    <a:gd name="connsiteX165" fmla="*/ 654433 w 1146175"/>
                    <a:gd name="connsiteY165" fmla="*/ 128920 h 1125538"/>
                    <a:gd name="connsiteX166" fmla="*/ 654433 w 1146175"/>
                    <a:gd name="connsiteY166" fmla="*/ 103187 h 1125538"/>
                    <a:gd name="connsiteX167" fmla="*/ 228600 w 1146175"/>
                    <a:gd name="connsiteY167" fmla="*/ 31750 h 1125538"/>
                    <a:gd name="connsiteX168" fmla="*/ 228600 w 1146175"/>
                    <a:gd name="connsiteY168" fmla="*/ 431800 h 1125538"/>
                    <a:gd name="connsiteX169" fmla="*/ 1114425 w 1146175"/>
                    <a:gd name="connsiteY169" fmla="*/ 431800 h 1125538"/>
                    <a:gd name="connsiteX170" fmla="*/ 1114425 w 1146175"/>
                    <a:gd name="connsiteY170" fmla="*/ 31750 h 1125538"/>
                    <a:gd name="connsiteX171" fmla="*/ 209003 w 1146175"/>
                    <a:gd name="connsiteY171" fmla="*/ 0 h 1125538"/>
                    <a:gd name="connsiteX172" fmla="*/ 1134023 w 1146175"/>
                    <a:gd name="connsiteY172" fmla="*/ 0 h 1125538"/>
                    <a:gd name="connsiteX173" fmla="*/ 1146175 w 1146175"/>
                    <a:gd name="connsiteY173" fmla="*/ 11428 h 1125538"/>
                    <a:gd name="connsiteX174" fmla="*/ 1146175 w 1146175"/>
                    <a:gd name="connsiteY174" fmla="*/ 451408 h 1125538"/>
                    <a:gd name="connsiteX175" fmla="*/ 1134023 w 1146175"/>
                    <a:gd name="connsiteY175" fmla="*/ 463550 h 1125538"/>
                    <a:gd name="connsiteX176" fmla="*/ 209003 w 1146175"/>
                    <a:gd name="connsiteY176" fmla="*/ 463550 h 1125538"/>
                    <a:gd name="connsiteX177" fmla="*/ 196850 w 1146175"/>
                    <a:gd name="connsiteY177" fmla="*/ 451408 h 1125538"/>
                    <a:gd name="connsiteX178" fmla="*/ 196850 w 1146175"/>
                    <a:gd name="connsiteY178" fmla="*/ 11428 h 1125538"/>
                    <a:gd name="connsiteX179" fmla="*/ 209003 w 1146175"/>
                    <a:gd name="connsiteY179" fmla="*/ 0 h 1125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1146175" h="1125538">
                      <a:moveTo>
                        <a:pt x="409739" y="615791"/>
                      </a:moveTo>
                      <a:cubicBezTo>
                        <a:pt x="380443" y="614362"/>
                        <a:pt x="351147" y="621508"/>
                        <a:pt x="326138" y="635801"/>
                      </a:cubicBezTo>
                      <a:cubicBezTo>
                        <a:pt x="326138" y="635801"/>
                        <a:pt x="326138" y="635801"/>
                        <a:pt x="31750" y="803020"/>
                      </a:cubicBezTo>
                      <a:cubicBezTo>
                        <a:pt x="31750" y="803020"/>
                        <a:pt x="31750" y="803020"/>
                        <a:pt x="31750" y="1087437"/>
                      </a:cubicBezTo>
                      <a:cubicBezTo>
                        <a:pt x="31750" y="1087437"/>
                        <a:pt x="31750" y="1087437"/>
                        <a:pt x="368296" y="957377"/>
                      </a:cubicBezTo>
                      <a:cubicBezTo>
                        <a:pt x="384730" y="950946"/>
                        <a:pt x="401879" y="948087"/>
                        <a:pt x="419028" y="949516"/>
                      </a:cubicBezTo>
                      <a:cubicBezTo>
                        <a:pt x="419028" y="949516"/>
                        <a:pt x="419028" y="949516"/>
                        <a:pt x="568366" y="960236"/>
                      </a:cubicBezTo>
                      <a:cubicBezTo>
                        <a:pt x="645535" y="965953"/>
                        <a:pt x="722705" y="956663"/>
                        <a:pt x="797017" y="933795"/>
                      </a:cubicBezTo>
                      <a:cubicBezTo>
                        <a:pt x="894908" y="903067"/>
                        <a:pt x="981367" y="845897"/>
                        <a:pt x="1047818" y="767290"/>
                      </a:cubicBezTo>
                      <a:cubicBezTo>
                        <a:pt x="1047818" y="767290"/>
                        <a:pt x="1047818" y="767290"/>
                        <a:pt x="1079972" y="730130"/>
                      </a:cubicBezTo>
                      <a:cubicBezTo>
                        <a:pt x="1098550" y="707977"/>
                        <a:pt x="1096407" y="675104"/>
                        <a:pt x="1074971" y="655810"/>
                      </a:cubicBezTo>
                      <a:cubicBezTo>
                        <a:pt x="1064253" y="646520"/>
                        <a:pt x="1050676" y="641517"/>
                        <a:pt x="1036386" y="642232"/>
                      </a:cubicBezTo>
                      <a:cubicBezTo>
                        <a:pt x="1022095" y="642947"/>
                        <a:pt x="1008519" y="649378"/>
                        <a:pt x="999230" y="660097"/>
                      </a:cubicBezTo>
                      <a:cubicBezTo>
                        <a:pt x="999230" y="660097"/>
                        <a:pt x="999230" y="660097"/>
                        <a:pt x="951356" y="713694"/>
                      </a:cubicBezTo>
                      <a:cubicBezTo>
                        <a:pt x="912771" y="758000"/>
                        <a:pt x="862039" y="789443"/>
                        <a:pt x="805591" y="805164"/>
                      </a:cubicBezTo>
                      <a:cubicBezTo>
                        <a:pt x="740568" y="823744"/>
                        <a:pt x="670544" y="819457"/>
                        <a:pt x="608380" y="794445"/>
                      </a:cubicBezTo>
                      <a:cubicBezTo>
                        <a:pt x="608380" y="794445"/>
                        <a:pt x="608380" y="794445"/>
                        <a:pt x="553360" y="772292"/>
                      </a:cubicBezTo>
                      <a:cubicBezTo>
                        <a:pt x="546930" y="769434"/>
                        <a:pt x="542642" y="763002"/>
                        <a:pt x="544071" y="755856"/>
                      </a:cubicBezTo>
                      <a:cubicBezTo>
                        <a:pt x="544786" y="748710"/>
                        <a:pt x="550502" y="742993"/>
                        <a:pt x="557648" y="742278"/>
                      </a:cubicBezTo>
                      <a:cubicBezTo>
                        <a:pt x="557648" y="742278"/>
                        <a:pt x="557648" y="742278"/>
                        <a:pt x="715560" y="726557"/>
                      </a:cubicBezTo>
                      <a:cubicBezTo>
                        <a:pt x="740568" y="724413"/>
                        <a:pt x="759146" y="703689"/>
                        <a:pt x="759146" y="679392"/>
                      </a:cubicBezTo>
                      <a:cubicBezTo>
                        <a:pt x="759146" y="653666"/>
                        <a:pt x="739139" y="632942"/>
                        <a:pt x="713416" y="631513"/>
                      </a:cubicBezTo>
                      <a:cubicBezTo>
                        <a:pt x="713416" y="631513"/>
                        <a:pt x="713416" y="631513"/>
                        <a:pt x="409739" y="615791"/>
                      </a:cubicBezTo>
                      <a:close/>
                      <a:moveTo>
                        <a:pt x="390213" y="584200"/>
                      </a:moveTo>
                      <a:cubicBezTo>
                        <a:pt x="391642" y="584200"/>
                        <a:pt x="392357" y="584200"/>
                        <a:pt x="393786" y="584200"/>
                      </a:cubicBezTo>
                      <a:cubicBezTo>
                        <a:pt x="394501" y="584200"/>
                        <a:pt x="395930" y="584200"/>
                        <a:pt x="396645" y="584200"/>
                      </a:cubicBezTo>
                      <a:cubicBezTo>
                        <a:pt x="398074" y="584200"/>
                        <a:pt x="398789" y="584200"/>
                        <a:pt x="399504" y="584200"/>
                      </a:cubicBezTo>
                      <a:cubicBezTo>
                        <a:pt x="400933" y="584200"/>
                        <a:pt x="401648" y="584200"/>
                        <a:pt x="403077" y="584200"/>
                      </a:cubicBezTo>
                      <a:cubicBezTo>
                        <a:pt x="405221" y="584200"/>
                        <a:pt x="408080" y="584200"/>
                        <a:pt x="410939" y="584200"/>
                      </a:cubicBezTo>
                      <a:cubicBezTo>
                        <a:pt x="410939" y="584200"/>
                        <a:pt x="410939" y="584200"/>
                        <a:pt x="715390" y="599912"/>
                      </a:cubicBezTo>
                      <a:cubicBezTo>
                        <a:pt x="743263" y="601340"/>
                        <a:pt x="766847" y="617766"/>
                        <a:pt x="780426" y="640619"/>
                      </a:cubicBezTo>
                      <a:cubicBezTo>
                        <a:pt x="781140" y="642048"/>
                        <a:pt x="781855" y="643476"/>
                        <a:pt x="782570" y="644904"/>
                      </a:cubicBezTo>
                      <a:cubicBezTo>
                        <a:pt x="785428" y="650618"/>
                        <a:pt x="787572" y="657045"/>
                        <a:pt x="789002" y="663473"/>
                      </a:cubicBezTo>
                      <a:cubicBezTo>
                        <a:pt x="789716" y="668472"/>
                        <a:pt x="790431" y="673471"/>
                        <a:pt x="790431" y="679184"/>
                      </a:cubicBezTo>
                      <a:cubicBezTo>
                        <a:pt x="790431" y="681327"/>
                        <a:pt x="790431" y="682755"/>
                        <a:pt x="789716" y="684898"/>
                      </a:cubicBezTo>
                      <a:cubicBezTo>
                        <a:pt x="789716" y="684898"/>
                        <a:pt x="789716" y="685612"/>
                        <a:pt x="789716" y="685612"/>
                      </a:cubicBezTo>
                      <a:cubicBezTo>
                        <a:pt x="789716" y="687754"/>
                        <a:pt x="789716" y="689183"/>
                        <a:pt x="789002" y="691325"/>
                      </a:cubicBezTo>
                      <a:cubicBezTo>
                        <a:pt x="786143" y="709893"/>
                        <a:pt x="776852" y="726319"/>
                        <a:pt x="763988" y="738460"/>
                      </a:cubicBezTo>
                      <a:cubicBezTo>
                        <a:pt x="763988" y="738460"/>
                        <a:pt x="763273" y="738460"/>
                        <a:pt x="763273" y="738460"/>
                      </a:cubicBezTo>
                      <a:cubicBezTo>
                        <a:pt x="761844" y="739888"/>
                        <a:pt x="760415" y="740603"/>
                        <a:pt x="758985" y="742031"/>
                      </a:cubicBezTo>
                      <a:cubicBezTo>
                        <a:pt x="757556" y="743459"/>
                        <a:pt x="756127" y="744173"/>
                        <a:pt x="754697" y="744888"/>
                      </a:cubicBezTo>
                      <a:cubicBezTo>
                        <a:pt x="753983" y="745602"/>
                        <a:pt x="753983" y="745602"/>
                        <a:pt x="753983" y="745602"/>
                      </a:cubicBezTo>
                      <a:cubicBezTo>
                        <a:pt x="752553" y="746316"/>
                        <a:pt x="751124" y="747744"/>
                        <a:pt x="749695" y="748458"/>
                      </a:cubicBezTo>
                      <a:cubicBezTo>
                        <a:pt x="748980" y="748458"/>
                        <a:pt x="748265" y="748458"/>
                        <a:pt x="748265" y="749173"/>
                      </a:cubicBezTo>
                      <a:cubicBezTo>
                        <a:pt x="746836" y="749887"/>
                        <a:pt x="745407" y="750601"/>
                        <a:pt x="743263" y="751315"/>
                      </a:cubicBezTo>
                      <a:cubicBezTo>
                        <a:pt x="743263" y="751315"/>
                        <a:pt x="742548" y="751315"/>
                        <a:pt x="742548" y="752029"/>
                      </a:cubicBezTo>
                      <a:cubicBezTo>
                        <a:pt x="741118" y="752029"/>
                        <a:pt x="739689" y="752743"/>
                        <a:pt x="738260" y="753458"/>
                      </a:cubicBezTo>
                      <a:cubicBezTo>
                        <a:pt x="731828" y="755600"/>
                        <a:pt x="725396" y="757028"/>
                        <a:pt x="718964" y="757743"/>
                      </a:cubicBezTo>
                      <a:cubicBezTo>
                        <a:pt x="718964" y="757743"/>
                        <a:pt x="718964" y="757743"/>
                        <a:pt x="624626" y="767027"/>
                      </a:cubicBezTo>
                      <a:cubicBezTo>
                        <a:pt x="662504" y="781310"/>
                        <a:pt x="703241" y="787023"/>
                        <a:pt x="743263" y="784167"/>
                      </a:cubicBezTo>
                      <a:cubicBezTo>
                        <a:pt x="753983" y="783453"/>
                        <a:pt x="764703" y="782024"/>
                        <a:pt x="775423" y="779882"/>
                      </a:cubicBezTo>
                      <a:cubicBezTo>
                        <a:pt x="778996" y="779168"/>
                        <a:pt x="781855" y="778453"/>
                        <a:pt x="785428" y="777739"/>
                      </a:cubicBezTo>
                      <a:cubicBezTo>
                        <a:pt x="786143" y="777739"/>
                        <a:pt x="786143" y="777739"/>
                        <a:pt x="786858" y="777025"/>
                      </a:cubicBezTo>
                      <a:cubicBezTo>
                        <a:pt x="790431" y="776311"/>
                        <a:pt x="793290" y="775597"/>
                        <a:pt x="796863" y="774883"/>
                      </a:cubicBezTo>
                      <a:cubicBezTo>
                        <a:pt x="806869" y="772026"/>
                        <a:pt x="816874" y="768455"/>
                        <a:pt x="826880" y="764170"/>
                      </a:cubicBezTo>
                      <a:cubicBezTo>
                        <a:pt x="857611" y="752029"/>
                        <a:pt x="885483" y="734175"/>
                        <a:pt x="909782" y="711322"/>
                      </a:cubicBezTo>
                      <a:cubicBezTo>
                        <a:pt x="916214" y="705608"/>
                        <a:pt x="921931" y="699181"/>
                        <a:pt x="928363" y="692753"/>
                      </a:cubicBezTo>
                      <a:cubicBezTo>
                        <a:pt x="928363" y="692753"/>
                        <a:pt x="928363" y="692753"/>
                        <a:pt x="975532" y="639191"/>
                      </a:cubicBezTo>
                      <a:cubicBezTo>
                        <a:pt x="976961" y="637763"/>
                        <a:pt x="977676" y="637048"/>
                        <a:pt x="978391" y="635620"/>
                      </a:cubicBezTo>
                      <a:cubicBezTo>
                        <a:pt x="979105" y="635620"/>
                        <a:pt x="979105" y="635620"/>
                        <a:pt x="979105" y="635620"/>
                      </a:cubicBezTo>
                      <a:cubicBezTo>
                        <a:pt x="994114" y="620623"/>
                        <a:pt x="1013410" y="612053"/>
                        <a:pt x="1034135" y="610624"/>
                      </a:cubicBezTo>
                      <a:cubicBezTo>
                        <a:pt x="1034850" y="610624"/>
                        <a:pt x="1034850" y="610624"/>
                        <a:pt x="1034850" y="610624"/>
                      </a:cubicBezTo>
                      <a:cubicBezTo>
                        <a:pt x="1036279" y="610624"/>
                        <a:pt x="1037709" y="610624"/>
                        <a:pt x="1039138" y="610624"/>
                      </a:cubicBezTo>
                      <a:cubicBezTo>
                        <a:pt x="1039138" y="610624"/>
                        <a:pt x="1039853" y="610624"/>
                        <a:pt x="1040567" y="610624"/>
                      </a:cubicBezTo>
                      <a:cubicBezTo>
                        <a:pt x="1054146" y="610624"/>
                        <a:pt x="1067725" y="614909"/>
                        <a:pt x="1079875" y="621337"/>
                      </a:cubicBezTo>
                      <a:cubicBezTo>
                        <a:pt x="1081304" y="622051"/>
                        <a:pt x="1082019" y="622765"/>
                        <a:pt x="1083448" y="623479"/>
                      </a:cubicBezTo>
                      <a:cubicBezTo>
                        <a:pt x="1084877" y="624193"/>
                        <a:pt x="1085592" y="624908"/>
                        <a:pt x="1086307" y="624908"/>
                      </a:cubicBezTo>
                      <a:cubicBezTo>
                        <a:pt x="1087021" y="625622"/>
                        <a:pt x="1087021" y="625622"/>
                        <a:pt x="1087021" y="625622"/>
                      </a:cubicBezTo>
                      <a:cubicBezTo>
                        <a:pt x="1087736" y="626336"/>
                        <a:pt x="1089165" y="627050"/>
                        <a:pt x="1089880" y="627764"/>
                      </a:cubicBezTo>
                      <a:cubicBezTo>
                        <a:pt x="1089880" y="627764"/>
                        <a:pt x="1090595" y="628478"/>
                        <a:pt x="1090595" y="628478"/>
                      </a:cubicBezTo>
                      <a:cubicBezTo>
                        <a:pt x="1091309" y="629193"/>
                        <a:pt x="1092024" y="629193"/>
                        <a:pt x="1092739" y="629907"/>
                      </a:cubicBezTo>
                      <a:cubicBezTo>
                        <a:pt x="1093453" y="630621"/>
                        <a:pt x="1094168" y="631335"/>
                        <a:pt x="1095597" y="632049"/>
                      </a:cubicBezTo>
                      <a:cubicBezTo>
                        <a:pt x="1095597" y="632049"/>
                        <a:pt x="1095597" y="632763"/>
                        <a:pt x="1095597" y="632763"/>
                      </a:cubicBezTo>
                      <a:cubicBezTo>
                        <a:pt x="1129902" y="663473"/>
                        <a:pt x="1133475" y="714893"/>
                        <a:pt x="1103459" y="749887"/>
                      </a:cubicBezTo>
                      <a:cubicBezTo>
                        <a:pt x="1103459" y="749887"/>
                        <a:pt x="1103459" y="749887"/>
                        <a:pt x="1072013" y="787738"/>
                      </a:cubicBezTo>
                      <a:cubicBezTo>
                        <a:pt x="1040567" y="824160"/>
                        <a:pt x="1004834" y="857012"/>
                        <a:pt x="966241" y="884150"/>
                      </a:cubicBezTo>
                      <a:cubicBezTo>
                        <a:pt x="963383" y="886292"/>
                        <a:pt x="959809" y="888435"/>
                        <a:pt x="956950" y="890577"/>
                      </a:cubicBezTo>
                      <a:cubicBezTo>
                        <a:pt x="954092" y="892720"/>
                        <a:pt x="951233" y="894862"/>
                        <a:pt x="948374" y="896291"/>
                      </a:cubicBezTo>
                      <a:cubicBezTo>
                        <a:pt x="904779" y="924857"/>
                        <a:pt x="856896" y="947711"/>
                        <a:pt x="806154" y="963422"/>
                      </a:cubicBezTo>
                      <a:cubicBezTo>
                        <a:pt x="801866" y="964851"/>
                        <a:pt x="797578" y="966279"/>
                        <a:pt x="792575" y="967707"/>
                      </a:cubicBezTo>
                      <a:cubicBezTo>
                        <a:pt x="791146" y="967707"/>
                        <a:pt x="789716" y="968422"/>
                        <a:pt x="788287" y="968422"/>
                      </a:cubicBezTo>
                      <a:cubicBezTo>
                        <a:pt x="785428" y="969136"/>
                        <a:pt x="782570" y="970564"/>
                        <a:pt x="779711" y="971278"/>
                      </a:cubicBezTo>
                      <a:cubicBezTo>
                        <a:pt x="777567" y="971278"/>
                        <a:pt x="775423" y="971992"/>
                        <a:pt x="773994" y="972707"/>
                      </a:cubicBezTo>
                      <a:cubicBezTo>
                        <a:pt x="771135" y="973421"/>
                        <a:pt x="768991" y="973421"/>
                        <a:pt x="766132" y="974135"/>
                      </a:cubicBezTo>
                      <a:cubicBezTo>
                        <a:pt x="763988" y="974849"/>
                        <a:pt x="761844" y="975563"/>
                        <a:pt x="759700" y="976277"/>
                      </a:cubicBezTo>
                      <a:cubicBezTo>
                        <a:pt x="757556" y="976277"/>
                        <a:pt x="756127" y="976992"/>
                        <a:pt x="753983" y="976992"/>
                      </a:cubicBezTo>
                      <a:cubicBezTo>
                        <a:pt x="743977" y="979134"/>
                        <a:pt x="733972" y="981277"/>
                        <a:pt x="724681" y="983419"/>
                      </a:cubicBezTo>
                      <a:cubicBezTo>
                        <a:pt x="723252" y="983419"/>
                        <a:pt x="722537" y="983419"/>
                        <a:pt x="721822" y="983419"/>
                      </a:cubicBezTo>
                      <a:cubicBezTo>
                        <a:pt x="718249" y="984133"/>
                        <a:pt x="714676" y="984847"/>
                        <a:pt x="711102" y="985562"/>
                      </a:cubicBezTo>
                      <a:cubicBezTo>
                        <a:pt x="710387" y="985562"/>
                        <a:pt x="710387" y="985562"/>
                        <a:pt x="709673" y="985562"/>
                      </a:cubicBezTo>
                      <a:cubicBezTo>
                        <a:pt x="689662" y="988418"/>
                        <a:pt x="670366" y="990561"/>
                        <a:pt x="650355" y="991989"/>
                      </a:cubicBezTo>
                      <a:cubicBezTo>
                        <a:pt x="649640" y="991989"/>
                        <a:pt x="648925" y="991989"/>
                        <a:pt x="648211" y="991989"/>
                      </a:cubicBezTo>
                      <a:cubicBezTo>
                        <a:pt x="644637" y="991989"/>
                        <a:pt x="641064" y="991989"/>
                        <a:pt x="637491" y="992703"/>
                      </a:cubicBezTo>
                      <a:cubicBezTo>
                        <a:pt x="636776" y="992703"/>
                        <a:pt x="636061" y="992703"/>
                        <a:pt x="635347" y="992703"/>
                      </a:cubicBezTo>
                      <a:cubicBezTo>
                        <a:pt x="630344" y="992703"/>
                        <a:pt x="626056" y="992703"/>
                        <a:pt x="621053" y="992703"/>
                      </a:cubicBezTo>
                      <a:cubicBezTo>
                        <a:pt x="621053" y="992703"/>
                        <a:pt x="620338" y="992703"/>
                        <a:pt x="620338" y="992703"/>
                      </a:cubicBezTo>
                      <a:cubicBezTo>
                        <a:pt x="617480" y="992703"/>
                        <a:pt x="614621" y="992703"/>
                        <a:pt x="612477" y="992703"/>
                      </a:cubicBezTo>
                      <a:cubicBezTo>
                        <a:pt x="610333" y="992703"/>
                        <a:pt x="608189" y="992703"/>
                        <a:pt x="606045" y="992703"/>
                      </a:cubicBezTo>
                      <a:cubicBezTo>
                        <a:pt x="603901" y="992703"/>
                        <a:pt x="601042" y="992703"/>
                        <a:pt x="598898" y="992703"/>
                      </a:cubicBezTo>
                      <a:cubicBezTo>
                        <a:pt x="596754" y="992703"/>
                        <a:pt x="594610" y="992703"/>
                        <a:pt x="592466" y="992703"/>
                      </a:cubicBezTo>
                      <a:cubicBezTo>
                        <a:pt x="589607" y="992703"/>
                        <a:pt x="587463" y="992703"/>
                        <a:pt x="584605" y="991989"/>
                      </a:cubicBezTo>
                      <a:cubicBezTo>
                        <a:pt x="582461" y="991989"/>
                        <a:pt x="581031" y="991989"/>
                        <a:pt x="578887" y="991989"/>
                      </a:cubicBezTo>
                      <a:cubicBezTo>
                        <a:pt x="575314" y="991989"/>
                        <a:pt x="571026" y="991275"/>
                        <a:pt x="566738" y="991275"/>
                      </a:cubicBezTo>
                      <a:cubicBezTo>
                        <a:pt x="566738" y="991275"/>
                        <a:pt x="566023" y="991275"/>
                        <a:pt x="566023" y="991275"/>
                      </a:cubicBezTo>
                      <a:cubicBezTo>
                        <a:pt x="566023" y="991275"/>
                        <a:pt x="566023" y="991275"/>
                        <a:pt x="485265" y="985562"/>
                      </a:cubicBezTo>
                      <a:cubicBezTo>
                        <a:pt x="485265" y="985562"/>
                        <a:pt x="485265" y="985562"/>
                        <a:pt x="416656" y="980562"/>
                      </a:cubicBezTo>
                      <a:cubicBezTo>
                        <a:pt x="415227" y="980562"/>
                        <a:pt x="413083" y="980562"/>
                        <a:pt x="410939" y="980562"/>
                      </a:cubicBezTo>
                      <a:cubicBezTo>
                        <a:pt x="410224" y="980562"/>
                        <a:pt x="408794" y="980562"/>
                        <a:pt x="407365" y="980562"/>
                      </a:cubicBezTo>
                      <a:cubicBezTo>
                        <a:pt x="402362" y="980562"/>
                        <a:pt x="398074" y="981277"/>
                        <a:pt x="393072" y="981991"/>
                      </a:cubicBezTo>
                      <a:cubicBezTo>
                        <a:pt x="391642" y="982705"/>
                        <a:pt x="390213" y="982705"/>
                        <a:pt x="388784" y="982705"/>
                      </a:cubicBezTo>
                      <a:cubicBezTo>
                        <a:pt x="388784" y="983419"/>
                        <a:pt x="388784" y="983419"/>
                        <a:pt x="388784" y="983419"/>
                      </a:cubicBezTo>
                      <a:cubicBezTo>
                        <a:pt x="387354" y="983419"/>
                        <a:pt x="385925" y="984133"/>
                        <a:pt x="384496" y="984133"/>
                      </a:cubicBezTo>
                      <a:cubicBezTo>
                        <a:pt x="384496" y="984133"/>
                        <a:pt x="384496" y="984133"/>
                        <a:pt x="383781" y="984847"/>
                      </a:cubicBezTo>
                      <a:cubicBezTo>
                        <a:pt x="382352" y="984847"/>
                        <a:pt x="380922" y="985562"/>
                        <a:pt x="379493" y="986276"/>
                      </a:cubicBezTo>
                      <a:cubicBezTo>
                        <a:pt x="379493" y="986276"/>
                        <a:pt x="379493" y="986276"/>
                        <a:pt x="21441" y="1124824"/>
                      </a:cubicBezTo>
                      <a:cubicBezTo>
                        <a:pt x="20011" y="1125538"/>
                        <a:pt x="17867" y="1125538"/>
                        <a:pt x="15723" y="1125538"/>
                      </a:cubicBezTo>
                      <a:cubicBezTo>
                        <a:pt x="12864" y="1125538"/>
                        <a:pt x="10006" y="1124824"/>
                        <a:pt x="7147" y="1122681"/>
                      </a:cubicBezTo>
                      <a:cubicBezTo>
                        <a:pt x="2859" y="1119825"/>
                        <a:pt x="0" y="1114826"/>
                        <a:pt x="0" y="1109826"/>
                      </a:cubicBezTo>
                      <a:cubicBezTo>
                        <a:pt x="0" y="1109826"/>
                        <a:pt x="0" y="1109826"/>
                        <a:pt x="0" y="793451"/>
                      </a:cubicBezTo>
                      <a:cubicBezTo>
                        <a:pt x="0" y="787738"/>
                        <a:pt x="3574" y="782738"/>
                        <a:pt x="7862" y="779882"/>
                      </a:cubicBezTo>
                      <a:cubicBezTo>
                        <a:pt x="7862" y="779882"/>
                        <a:pt x="7862" y="779882"/>
                        <a:pt x="310169" y="608482"/>
                      </a:cubicBezTo>
                      <a:cubicBezTo>
                        <a:pt x="311599" y="607053"/>
                        <a:pt x="313743" y="606339"/>
                        <a:pt x="315887" y="605625"/>
                      </a:cubicBezTo>
                      <a:cubicBezTo>
                        <a:pt x="316601" y="604911"/>
                        <a:pt x="317316" y="604911"/>
                        <a:pt x="318031" y="604197"/>
                      </a:cubicBezTo>
                      <a:cubicBezTo>
                        <a:pt x="318745" y="603483"/>
                        <a:pt x="320175" y="602768"/>
                        <a:pt x="320889" y="602768"/>
                      </a:cubicBezTo>
                      <a:cubicBezTo>
                        <a:pt x="322319" y="602054"/>
                        <a:pt x="323033" y="601340"/>
                        <a:pt x="324463" y="601340"/>
                      </a:cubicBezTo>
                      <a:cubicBezTo>
                        <a:pt x="325177" y="600626"/>
                        <a:pt x="325892" y="600626"/>
                        <a:pt x="326607" y="599912"/>
                      </a:cubicBezTo>
                      <a:cubicBezTo>
                        <a:pt x="328036" y="599198"/>
                        <a:pt x="329466" y="599198"/>
                        <a:pt x="330180" y="598483"/>
                      </a:cubicBezTo>
                      <a:cubicBezTo>
                        <a:pt x="330895" y="598483"/>
                        <a:pt x="331610" y="597769"/>
                        <a:pt x="332324" y="597769"/>
                      </a:cubicBezTo>
                      <a:cubicBezTo>
                        <a:pt x="333754" y="597055"/>
                        <a:pt x="335183" y="596341"/>
                        <a:pt x="336612" y="596341"/>
                      </a:cubicBezTo>
                      <a:cubicBezTo>
                        <a:pt x="336612" y="595627"/>
                        <a:pt x="337327" y="595627"/>
                        <a:pt x="338042" y="595627"/>
                      </a:cubicBezTo>
                      <a:cubicBezTo>
                        <a:pt x="339471" y="594913"/>
                        <a:pt x="340900" y="594198"/>
                        <a:pt x="342330" y="594198"/>
                      </a:cubicBezTo>
                      <a:cubicBezTo>
                        <a:pt x="343044" y="593484"/>
                        <a:pt x="343044" y="593484"/>
                        <a:pt x="343044" y="593484"/>
                      </a:cubicBezTo>
                      <a:cubicBezTo>
                        <a:pt x="345188" y="592770"/>
                        <a:pt x="346618" y="592770"/>
                        <a:pt x="348047" y="592056"/>
                      </a:cubicBezTo>
                      <a:cubicBezTo>
                        <a:pt x="348762" y="592056"/>
                        <a:pt x="348762" y="592056"/>
                        <a:pt x="348762" y="592056"/>
                      </a:cubicBezTo>
                      <a:cubicBezTo>
                        <a:pt x="360197" y="588485"/>
                        <a:pt x="370917" y="586343"/>
                        <a:pt x="382352" y="584914"/>
                      </a:cubicBezTo>
                      <a:cubicBezTo>
                        <a:pt x="383066" y="584914"/>
                        <a:pt x="383781" y="584914"/>
                        <a:pt x="383781" y="584914"/>
                      </a:cubicBezTo>
                      <a:cubicBezTo>
                        <a:pt x="385210" y="584914"/>
                        <a:pt x="386640" y="584914"/>
                        <a:pt x="387354" y="584914"/>
                      </a:cubicBezTo>
                      <a:cubicBezTo>
                        <a:pt x="388784" y="584914"/>
                        <a:pt x="389498" y="584914"/>
                        <a:pt x="390213" y="584200"/>
                      </a:cubicBezTo>
                      <a:close/>
                      <a:moveTo>
                        <a:pt x="654433" y="103187"/>
                      </a:moveTo>
                      <a:cubicBezTo>
                        <a:pt x="686457" y="103187"/>
                        <a:pt x="686457" y="103187"/>
                        <a:pt x="686457" y="103187"/>
                      </a:cubicBezTo>
                      <a:cubicBezTo>
                        <a:pt x="686457" y="126776"/>
                        <a:pt x="686457" y="126776"/>
                        <a:pt x="686457" y="126776"/>
                      </a:cubicBezTo>
                      <a:cubicBezTo>
                        <a:pt x="702825" y="128920"/>
                        <a:pt x="716346" y="132495"/>
                        <a:pt x="724174" y="139643"/>
                      </a:cubicBezTo>
                      <a:cubicBezTo>
                        <a:pt x="714211" y="169665"/>
                        <a:pt x="714211" y="169665"/>
                        <a:pt x="714211" y="169665"/>
                      </a:cubicBezTo>
                      <a:cubicBezTo>
                        <a:pt x="700690" y="161087"/>
                        <a:pt x="687169" y="156083"/>
                        <a:pt x="672936" y="156083"/>
                      </a:cubicBezTo>
                      <a:cubicBezTo>
                        <a:pt x="665108" y="156083"/>
                        <a:pt x="658703" y="158228"/>
                        <a:pt x="653722" y="162517"/>
                      </a:cubicBezTo>
                      <a:cubicBezTo>
                        <a:pt x="648740" y="167520"/>
                        <a:pt x="646605" y="172524"/>
                        <a:pt x="646605" y="179672"/>
                      </a:cubicBezTo>
                      <a:cubicBezTo>
                        <a:pt x="646605" y="191109"/>
                        <a:pt x="659415" y="203261"/>
                        <a:pt x="685034" y="215413"/>
                      </a:cubicBezTo>
                      <a:cubicBezTo>
                        <a:pt x="698555" y="222561"/>
                        <a:pt x="709230" y="228280"/>
                        <a:pt x="715634" y="233998"/>
                      </a:cubicBezTo>
                      <a:cubicBezTo>
                        <a:pt x="722039" y="239717"/>
                        <a:pt x="725597" y="246150"/>
                        <a:pt x="729155" y="253298"/>
                      </a:cubicBezTo>
                      <a:cubicBezTo>
                        <a:pt x="732002" y="261161"/>
                        <a:pt x="733425" y="269024"/>
                        <a:pt x="733425" y="278317"/>
                      </a:cubicBezTo>
                      <a:cubicBezTo>
                        <a:pt x="733425" y="290469"/>
                        <a:pt x="729867" y="301906"/>
                        <a:pt x="721327" y="311198"/>
                      </a:cubicBezTo>
                      <a:cubicBezTo>
                        <a:pt x="712788" y="320491"/>
                        <a:pt x="700690" y="327639"/>
                        <a:pt x="686457" y="331213"/>
                      </a:cubicBezTo>
                      <a:cubicBezTo>
                        <a:pt x="686457" y="361950"/>
                        <a:pt x="686457" y="361950"/>
                        <a:pt x="686457" y="361950"/>
                      </a:cubicBezTo>
                      <a:cubicBezTo>
                        <a:pt x="654433" y="361950"/>
                        <a:pt x="654433" y="361950"/>
                        <a:pt x="654433" y="361950"/>
                      </a:cubicBezTo>
                      <a:cubicBezTo>
                        <a:pt x="654433" y="332643"/>
                        <a:pt x="654433" y="332643"/>
                        <a:pt x="654433" y="332643"/>
                      </a:cubicBezTo>
                      <a:cubicBezTo>
                        <a:pt x="638777" y="332643"/>
                        <a:pt x="623833" y="327639"/>
                        <a:pt x="609600" y="319061"/>
                      </a:cubicBezTo>
                      <a:cubicBezTo>
                        <a:pt x="623833" y="287609"/>
                        <a:pt x="623833" y="287609"/>
                        <a:pt x="623833" y="287609"/>
                      </a:cubicBezTo>
                      <a:cubicBezTo>
                        <a:pt x="638066" y="296902"/>
                        <a:pt x="652299" y="301906"/>
                        <a:pt x="665820" y="301906"/>
                      </a:cubicBezTo>
                      <a:cubicBezTo>
                        <a:pt x="687169" y="301906"/>
                        <a:pt x="697132" y="294758"/>
                        <a:pt x="697132" y="280461"/>
                      </a:cubicBezTo>
                      <a:cubicBezTo>
                        <a:pt x="697132" y="273313"/>
                        <a:pt x="694997" y="266165"/>
                        <a:pt x="689304" y="259732"/>
                      </a:cubicBezTo>
                      <a:cubicBezTo>
                        <a:pt x="683611" y="254013"/>
                        <a:pt x="673648" y="246865"/>
                        <a:pt x="658703" y="239002"/>
                      </a:cubicBezTo>
                      <a:cubicBezTo>
                        <a:pt x="643047" y="231854"/>
                        <a:pt x="633084" y="225420"/>
                        <a:pt x="627391" y="220417"/>
                      </a:cubicBezTo>
                      <a:cubicBezTo>
                        <a:pt x="621698" y="215413"/>
                        <a:pt x="618140" y="209695"/>
                        <a:pt x="613870" y="202546"/>
                      </a:cubicBezTo>
                      <a:cubicBezTo>
                        <a:pt x="611735" y="195398"/>
                        <a:pt x="610312" y="188250"/>
                        <a:pt x="610312" y="179672"/>
                      </a:cubicBezTo>
                      <a:cubicBezTo>
                        <a:pt x="610312" y="167520"/>
                        <a:pt x="613870" y="156083"/>
                        <a:pt x="623121" y="147506"/>
                      </a:cubicBezTo>
                      <a:cubicBezTo>
                        <a:pt x="630949" y="138213"/>
                        <a:pt x="640912" y="131780"/>
                        <a:pt x="654433" y="128920"/>
                      </a:cubicBezTo>
                      <a:cubicBezTo>
                        <a:pt x="654433" y="103187"/>
                        <a:pt x="654433" y="103187"/>
                        <a:pt x="654433" y="103187"/>
                      </a:cubicBezTo>
                      <a:close/>
                      <a:moveTo>
                        <a:pt x="228600" y="31750"/>
                      </a:moveTo>
                      <a:lnTo>
                        <a:pt x="228600" y="431800"/>
                      </a:lnTo>
                      <a:lnTo>
                        <a:pt x="1114425" y="431800"/>
                      </a:lnTo>
                      <a:lnTo>
                        <a:pt x="1114425" y="31750"/>
                      </a:lnTo>
                      <a:close/>
                      <a:moveTo>
                        <a:pt x="209003" y="0"/>
                      </a:moveTo>
                      <a:cubicBezTo>
                        <a:pt x="1134023" y="0"/>
                        <a:pt x="1134023" y="0"/>
                        <a:pt x="1134023" y="0"/>
                      </a:cubicBezTo>
                      <a:cubicBezTo>
                        <a:pt x="1141171" y="0"/>
                        <a:pt x="1146175" y="5000"/>
                        <a:pt x="1146175" y="11428"/>
                      </a:cubicBezTo>
                      <a:cubicBezTo>
                        <a:pt x="1146175" y="451408"/>
                        <a:pt x="1146175" y="451408"/>
                        <a:pt x="1146175" y="451408"/>
                      </a:cubicBezTo>
                      <a:cubicBezTo>
                        <a:pt x="1146175" y="457836"/>
                        <a:pt x="1141171" y="463550"/>
                        <a:pt x="1134023" y="463550"/>
                      </a:cubicBezTo>
                      <a:cubicBezTo>
                        <a:pt x="209003" y="463550"/>
                        <a:pt x="209003" y="463550"/>
                        <a:pt x="209003" y="463550"/>
                      </a:cubicBezTo>
                      <a:cubicBezTo>
                        <a:pt x="202569" y="463550"/>
                        <a:pt x="196850" y="457836"/>
                        <a:pt x="196850" y="451408"/>
                      </a:cubicBezTo>
                      <a:cubicBezTo>
                        <a:pt x="196850" y="11428"/>
                        <a:pt x="196850" y="11428"/>
                        <a:pt x="196850" y="11428"/>
                      </a:cubicBezTo>
                      <a:cubicBezTo>
                        <a:pt x="196850" y="5000"/>
                        <a:pt x="202569" y="0"/>
                        <a:pt x="209003" y="0"/>
                      </a:cubicBezTo>
                      <a:close/>
                    </a:path>
                  </a:pathLst>
                </a:custGeom>
                <a:solidFill>
                  <a:schemeClr val="accent1"/>
                </a:solidFill>
                <a:ln>
                  <a:noFill/>
                </a:ln>
              </p:spPr>
              <p:txBody>
                <a:bodyPr vert="horz" wrap="square" lIns="73152" tIns="36576" rIns="73152" bIns="36576"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grpSp>
      </p:grpSp>
      <p:grpSp>
        <p:nvGrpSpPr>
          <p:cNvPr id="2" name="Group 1">
            <a:extLst>
              <a:ext uri="{FF2B5EF4-FFF2-40B4-BE49-F238E27FC236}">
                <a16:creationId xmlns:a16="http://schemas.microsoft.com/office/drawing/2014/main" id="{E46DAE11-520F-459E-B7CF-A133546E28FF}"/>
              </a:ext>
            </a:extLst>
          </p:cNvPr>
          <p:cNvGrpSpPr/>
          <p:nvPr/>
        </p:nvGrpSpPr>
        <p:grpSpPr>
          <a:xfrm>
            <a:off x="4651895" y="1278682"/>
            <a:ext cx="1981912" cy="4805115"/>
            <a:chOff x="1676400" y="1518831"/>
            <a:chExt cx="1981912" cy="4805115"/>
          </a:xfrm>
        </p:grpSpPr>
        <p:sp>
          <p:nvSpPr>
            <p:cNvPr id="46" name="Rectangle 45">
              <a:extLst>
                <a:ext uri="{FF2B5EF4-FFF2-40B4-BE49-F238E27FC236}">
                  <a16:creationId xmlns:a16="http://schemas.microsoft.com/office/drawing/2014/main" id="{AE910F7D-3578-413F-8AB4-8797D55C610C}"/>
                </a:ext>
              </a:extLst>
            </p:cNvPr>
            <p:cNvSpPr/>
            <p:nvPr/>
          </p:nvSpPr>
          <p:spPr>
            <a:xfrm>
              <a:off x="1676400" y="1768651"/>
              <a:ext cx="1880271" cy="4555295"/>
            </a:xfrm>
            <a:prstGeom prst="rect">
              <a:avLst/>
            </a:prstGeom>
            <a:noFill/>
            <a:ln w="9525" cap="rnd" cmpd="sng" algn="ctr">
              <a:solidFill>
                <a:schemeClr val="tx2"/>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Trebuchet MS"/>
                <a:ea typeface="+mn-ea"/>
                <a:cs typeface="+mn-cs"/>
                <a:sym typeface="Trebuchet MS" panose="020B0603020202020204" pitchFamily="34" charset="0"/>
              </a:endParaRPr>
            </a:p>
          </p:txBody>
        </p:sp>
        <p:sp>
          <p:nvSpPr>
            <p:cNvPr id="48" name="Rectangle 47">
              <a:extLst>
                <a:ext uri="{FF2B5EF4-FFF2-40B4-BE49-F238E27FC236}">
                  <a16:creationId xmlns:a16="http://schemas.microsoft.com/office/drawing/2014/main" id="{21783683-52DC-45CA-9D0D-CD772E95A95A}"/>
                </a:ext>
              </a:extLst>
            </p:cNvPr>
            <p:cNvSpPr/>
            <p:nvPr/>
          </p:nvSpPr>
          <p:spPr>
            <a:xfrm>
              <a:off x="2947408" y="1722054"/>
              <a:ext cx="352479" cy="71129"/>
            </a:xfrm>
            <a:prstGeom prst="rect">
              <a:avLst/>
            </a:prstGeom>
            <a:solidFill>
              <a:srgbClr val="FFFFFF"/>
            </a:solidFill>
            <a:ln w="9525" cap="flat" cmpd="sng" algn="ctr">
              <a:no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Trebuchet MS"/>
                <a:ea typeface="+mn-ea"/>
                <a:cs typeface="+mn-cs"/>
              </a:endParaRPr>
            </a:p>
          </p:txBody>
        </p:sp>
        <p:sp>
          <p:nvSpPr>
            <p:cNvPr id="49" name="Diamond 48">
              <a:extLst>
                <a:ext uri="{FF2B5EF4-FFF2-40B4-BE49-F238E27FC236}">
                  <a16:creationId xmlns:a16="http://schemas.microsoft.com/office/drawing/2014/main" id="{29C6CCCD-660A-4030-A347-45FEFB890D14}"/>
                </a:ext>
              </a:extLst>
            </p:cNvPr>
            <p:cNvSpPr/>
            <p:nvPr/>
          </p:nvSpPr>
          <p:spPr>
            <a:xfrm>
              <a:off x="2948823" y="1518831"/>
              <a:ext cx="709489" cy="710337"/>
            </a:xfrm>
            <a:prstGeom prst="diamond">
              <a:avLst/>
            </a:prstGeom>
            <a:solidFill>
              <a:srgbClr val="FFFFFF"/>
            </a:solidFill>
            <a:ln w="19050"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4295" tIns="37148" rIns="74295" bIns="3714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813"/>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Trebuchet MS"/>
                <a:ea typeface="+mn-ea"/>
                <a:cs typeface="+mn-cs"/>
                <a:sym typeface="Trebuchet MS" panose="020B0603020202020204" pitchFamily="34" charset="0"/>
              </a:endParaRPr>
            </a:p>
          </p:txBody>
        </p:sp>
        <p:sp>
          <p:nvSpPr>
            <p:cNvPr id="50" name="Arrow: Chevron 59">
              <a:extLst>
                <a:ext uri="{FF2B5EF4-FFF2-40B4-BE49-F238E27FC236}">
                  <a16:creationId xmlns:a16="http://schemas.microsoft.com/office/drawing/2014/main" id="{180D808A-8879-4D9E-9F99-7544F603C906}"/>
                </a:ext>
              </a:extLst>
            </p:cNvPr>
            <p:cNvSpPr/>
            <p:nvPr/>
          </p:nvSpPr>
          <p:spPr>
            <a:xfrm flipH="1">
              <a:off x="1836666" y="1649546"/>
              <a:ext cx="1282435" cy="458654"/>
            </a:xfrm>
            <a:prstGeom prst="chevron">
              <a:avLst>
                <a:gd name="adj" fmla="val 51207"/>
              </a:avLst>
            </a:prstGeom>
            <a:solidFill>
              <a:schemeClr val="tx2"/>
            </a:solidFill>
            <a:ln w="12700" cap="flat" cmpd="sng" algn="ctr">
              <a:solidFill>
                <a:schemeClr val="tx2"/>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575757"/>
                </a:solidFill>
                <a:effectLst/>
                <a:uLnTx/>
                <a:uFillTx/>
                <a:latin typeface="Trebuchet MS"/>
                <a:ea typeface="+mn-ea"/>
                <a:cs typeface="+mn-cs"/>
              </a:endParaRPr>
            </a:p>
          </p:txBody>
        </p:sp>
        <p:sp>
          <p:nvSpPr>
            <p:cNvPr id="51" name="Rectangle: Rounded Corners 60">
              <a:extLst>
                <a:ext uri="{FF2B5EF4-FFF2-40B4-BE49-F238E27FC236}">
                  <a16:creationId xmlns:a16="http://schemas.microsoft.com/office/drawing/2014/main" id="{1BA1FD73-5087-4C1B-977D-8222C2BE62E2}"/>
                </a:ext>
              </a:extLst>
            </p:cNvPr>
            <p:cNvSpPr/>
            <p:nvPr/>
          </p:nvSpPr>
          <p:spPr>
            <a:xfrm>
              <a:off x="1676401" y="1649546"/>
              <a:ext cx="1087872" cy="458654"/>
            </a:xfrm>
            <a:prstGeom prst="roundRect">
              <a:avLst>
                <a:gd name="adj" fmla="val 11456"/>
              </a:avLst>
            </a:prstGeom>
            <a:solidFill>
              <a:schemeClr val="tx2"/>
            </a:solidFill>
            <a:ln w="12700" cap="flat" cmpd="sng" algn="ctr">
              <a:solidFill>
                <a:schemeClr val="tx2"/>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wrap="none" lIns="91440" tIns="45720" rIns="91440" bIns="4572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Trebuchet MS"/>
                  <a:ea typeface="+mn-ea"/>
                  <a:cs typeface="+mn-cs"/>
                </a:rPr>
                <a:t>Saving</a:t>
              </a:r>
              <a:br>
                <a:rPr kumimoji="0" lang="en-US" sz="1400" b="0" i="0" u="none" strike="noStrike" kern="1200" cap="none" spc="0" normalizeH="0" baseline="0" noProof="0">
                  <a:ln>
                    <a:noFill/>
                  </a:ln>
                  <a:solidFill>
                    <a:prstClr val="white"/>
                  </a:solidFill>
                  <a:effectLst/>
                  <a:uLnTx/>
                  <a:uFillTx/>
                  <a:latin typeface="Trebuchet MS"/>
                  <a:ea typeface="+mn-ea"/>
                  <a:cs typeface="+mn-cs"/>
                </a:rPr>
              </a:br>
              <a:r>
                <a:rPr kumimoji="0" lang="en-US" sz="1400" b="0" i="0" u="none" strike="noStrike" kern="1200" cap="none" spc="0" normalizeH="0" baseline="0" noProof="0">
                  <a:ln>
                    <a:noFill/>
                  </a:ln>
                  <a:solidFill>
                    <a:prstClr val="white"/>
                  </a:solidFill>
                  <a:effectLst/>
                  <a:uLnTx/>
                  <a:uFillTx/>
                  <a:latin typeface="Trebuchet MS"/>
                  <a:ea typeface="+mn-ea"/>
                  <a:cs typeface="+mn-cs"/>
                </a:rPr>
                <a:t>Domain</a:t>
              </a:r>
            </a:p>
          </p:txBody>
        </p:sp>
        <p:sp>
          <p:nvSpPr>
            <p:cNvPr id="47" name="Rectangle 46">
              <a:extLst>
                <a:ext uri="{FF2B5EF4-FFF2-40B4-BE49-F238E27FC236}">
                  <a16:creationId xmlns:a16="http://schemas.microsoft.com/office/drawing/2014/main" id="{880BA536-0A9D-4D8F-B3AE-2746DC133612}"/>
                </a:ext>
              </a:extLst>
            </p:cNvPr>
            <p:cNvSpPr/>
            <p:nvPr/>
          </p:nvSpPr>
          <p:spPr>
            <a:xfrm>
              <a:off x="3035729" y="6278226"/>
              <a:ext cx="520942" cy="4572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90000"/>
                </a:lnSpc>
                <a:spcBef>
                  <a:spcPts val="0"/>
                </a:spcBef>
                <a:spcAft>
                  <a:spcPts val="100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Trebuchet MS"/>
                <a:ea typeface="+mn-ea"/>
                <a:cs typeface="+mn-cs"/>
                <a:sym typeface="Trebuchet MS" panose="020B0603020202020204" pitchFamily="34" charset="0"/>
              </a:endParaRPr>
            </a:p>
          </p:txBody>
        </p:sp>
        <p:grpSp>
          <p:nvGrpSpPr>
            <p:cNvPr id="160" name="Group 159"/>
            <p:cNvGrpSpPr>
              <a:grpSpLocks noChangeAspect="1"/>
            </p:cNvGrpSpPr>
            <p:nvPr/>
          </p:nvGrpSpPr>
          <p:grpSpPr>
            <a:xfrm>
              <a:off x="3127417" y="1697849"/>
              <a:ext cx="352300" cy="352300"/>
              <a:chOff x="5273675" y="2606675"/>
              <a:chExt cx="1644650" cy="1644650"/>
            </a:xfrm>
          </p:grpSpPr>
          <p:sp>
            <p:nvSpPr>
              <p:cNvPr id="161" name="AutoShape 3"/>
              <p:cNvSpPr>
                <a:spLocks noChangeAspect="1" noChangeArrowheads="1" noTextEdit="1"/>
              </p:cNvSpPr>
              <p:nvPr/>
            </p:nvSpPr>
            <p:spPr bwMode="auto">
              <a:xfrm>
                <a:off x="5273675" y="2606675"/>
                <a:ext cx="1644650"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nvGrpSpPr>
              <p:cNvPr id="162" name="Group 161"/>
              <p:cNvGrpSpPr/>
              <p:nvPr/>
            </p:nvGrpSpPr>
            <p:grpSpPr>
              <a:xfrm>
                <a:off x="5602288" y="2870200"/>
                <a:ext cx="984250" cy="1104900"/>
                <a:chOff x="5602288" y="2870200"/>
                <a:chExt cx="984250" cy="1104900"/>
              </a:xfrm>
            </p:grpSpPr>
            <p:sp>
              <p:nvSpPr>
                <p:cNvPr id="163" name="Freeform 162"/>
                <p:cNvSpPr>
                  <a:spLocks/>
                </p:cNvSpPr>
                <p:nvPr/>
              </p:nvSpPr>
              <p:spPr bwMode="auto">
                <a:xfrm>
                  <a:off x="5668395" y="2943225"/>
                  <a:ext cx="851129" cy="969963"/>
                </a:xfrm>
                <a:custGeom>
                  <a:avLst/>
                  <a:gdLst>
                    <a:gd name="connsiteX0" fmla="*/ 399103 w 851129"/>
                    <a:gd name="connsiteY0" fmla="*/ 419100 h 969963"/>
                    <a:gd name="connsiteX1" fmla="*/ 399103 w 851129"/>
                    <a:gd name="connsiteY1" fmla="*/ 457745 h 969963"/>
                    <a:gd name="connsiteX2" fmla="*/ 351016 w 851129"/>
                    <a:gd name="connsiteY2" fmla="*/ 486372 h 969963"/>
                    <a:gd name="connsiteX3" fmla="*/ 333073 w 851129"/>
                    <a:gd name="connsiteY3" fmla="*/ 537183 h 969963"/>
                    <a:gd name="connsiteX4" fmla="*/ 339532 w 851129"/>
                    <a:gd name="connsiteY4" fmla="*/ 572966 h 969963"/>
                    <a:gd name="connsiteX5" fmla="*/ 358911 w 851129"/>
                    <a:gd name="connsiteY5" fmla="*/ 600160 h 969963"/>
                    <a:gd name="connsiteX6" fmla="*/ 405563 w 851129"/>
                    <a:gd name="connsiteY6" fmla="*/ 628786 h 969963"/>
                    <a:gd name="connsiteX7" fmla="*/ 452215 w 851129"/>
                    <a:gd name="connsiteY7" fmla="*/ 660991 h 969963"/>
                    <a:gd name="connsiteX8" fmla="*/ 465133 w 851129"/>
                    <a:gd name="connsiteY8" fmla="*/ 692480 h 969963"/>
                    <a:gd name="connsiteX9" fmla="*/ 416329 w 851129"/>
                    <a:gd name="connsiteY9" fmla="*/ 726115 h 969963"/>
                    <a:gd name="connsiteX10" fmla="*/ 352451 w 851129"/>
                    <a:gd name="connsiteY10" fmla="*/ 703214 h 969963"/>
                    <a:gd name="connsiteX11" fmla="*/ 332355 w 851129"/>
                    <a:gd name="connsiteY11" fmla="*/ 752594 h 969963"/>
                    <a:gd name="connsiteX12" fmla="*/ 399103 w 851129"/>
                    <a:gd name="connsiteY12" fmla="*/ 774064 h 969963"/>
                    <a:gd name="connsiteX13" fmla="*/ 399103 w 851129"/>
                    <a:gd name="connsiteY13" fmla="*/ 819150 h 969963"/>
                    <a:gd name="connsiteX14" fmla="*/ 447908 w 851129"/>
                    <a:gd name="connsiteY14" fmla="*/ 819150 h 969963"/>
                    <a:gd name="connsiteX15" fmla="*/ 447908 w 851129"/>
                    <a:gd name="connsiteY15" fmla="*/ 770486 h 969963"/>
                    <a:gd name="connsiteX16" fmla="*/ 501020 w 851129"/>
                    <a:gd name="connsiteY16" fmla="*/ 740428 h 969963"/>
                    <a:gd name="connsiteX17" fmla="*/ 519680 w 851129"/>
                    <a:gd name="connsiteY17" fmla="*/ 688186 h 969963"/>
                    <a:gd name="connsiteX18" fmla="*/ 512503 w 851129"/>
                    <a:gd name="connsiteY18" fmla="*/ 650256 h 969963"/>
                    <a:gd name="connsiteX19" fmla="*/ 491689 w 851129"/>
                    <a:gd name="connsiteY19" fmla="*/ 620199 h 969963"/>
                    <a:gd name="connsiteX20" fmla="*/ 446473 w 851129"/>
                    <a:gd name="connsiteY20" fmla="*/ 592288 h 969963"/>
                    <a:gd name="connsiteX21" fmla="*/ 387620 w 851129"/>
                    <a:gd name="connsiteY21" fmla="*/ 537183 h 969963"/>
                    <a:gd name="connsiteX22" fmla="*/ 397668 w 851129"/>
                    <a:gd name="connsiteY22" fmla="*/ 510704 h 969963"/>
                    <a:gd name="connsiteX23" fmla="*/ 427094 w 851129"/>
                    <a:gd name="connsiteY23" fmla="*/ 500685 h 969963"/>
                    <a:gd name="connsiteX24" fmla="*/ 488818 w 851129"/>
                    <a:gd name="connsiteY24" fmla="*/ 521439 h 969963"/>
                    <a:gd name="connsiteX25" fmla="*/ 505326 w 851129"/>
                    <a:gd name="connsiteY25" fmla="*/ 474205 h 969963"/>
                    <a:gd name="connsiteX26" fmla="*/ 447190 w 851129"/>
                    <a:gd name="connsiteY26" fmla="*/ 455598 h 969963"/>
                    <a:gd name="connsiteX27" fmla="*/ 447908 w 851129"/>
                    <a:gd name="connsiteY27" fmla="*/ 419100 h 969963"/>
                    <a:gd name="connsiteX28" fmla="*/ 399103 w 851129"/>
                    <a:gd name="connsiteY28" fmla="*/ 419100 h 969963"/>
                    <a:gd name="connsiteX29" fmla="*/ 357759 w 851129"/>
                    <a:gd name="connsiteY29" fmla="*/ 201613 h 969963"/>
                    <a:gd name="connsiteX30" fmla="*/ 494117 w 851129"/>
                    <a:gd name="connsiteY30" fmla="*/ 201613 h 969963"/>
                    <a:gd name="connsiteX31" fmla="*/ 524101 w 851129"/>
                    <a:gd name="connsiteY31" fmla="*/ 248699 h 969963"/>
                    <a:gd name="connsiteX32" fmla="*/ 702580 w 851129"/>
                    <a:gd name="connsiteY32" fmla="*/ 440608 h 969963"/>
                    <a:gd name="connsiteX33" fmla="*/ 851074 w 851129"/>
                    <a:gd name="connsiteY33" fmla="*/ 777341 h 969963"/>
                    <a:gd name="connsiteX34" fmla="*/ 851074 w 851129"/>
                    <a:gd name="connsiteY34" fmla="*/ 778054 h 969963"/>
                    <a:gd name="connsiteX35" fmla="*/ 851074 w 851129"/>
                    <a:gd name="connsiteY35" fmla="*/ 779481 h 969963"/>
                    <a:gd name="connsiteX36" fmla="*/ 851074 w 851129"/>
                    <a:gd name="connsiteY36" fmla="*/ 780194 h 969963"/>
                    <a:gd name="connsiteX37" fmla="*/ 804669 w 851129"/>
                    <a:gd name="connsiteY37" fmla="*/ 914317 h 969963"/>
                    <a:gd name="connsiteX38" fmla="*/ 641183 w 851129"/>
                    <a:gd name="connsiteY38" fmla="*/ 969963 h 969963"/>
                    <a:gd name="connsiteX39" fmla="*/ 210693 w 851129"/>
                    <a:gd name="connsiteY39" fmla="*/ 969963 h 969963"/>
                    <a:gd name="connsiteX40" fmla="*/ 46493 w 851129"/>
                    <a:gd name="connsiteY40" fmla="*/ 914317 h 969963"/>
                    <a:gd name="connsiteX41" fmla="*/ 89 w 851129"/>
                    <a:gd name="connsiteY41" fmla="*/ 780194 h 969963"/>
                    <a:gd name="connsiteX42" fmla="*/ 89 w 851129"/>
                    <a:gd name="connsiteY42" fmla="*/ 779481 h 969963"/>
                    <a:gd name="connsiteX43" fmla="*/ 89 w 851129"/>
                    <a:gd name="connsiteY43" fmla="*/ 778054 h 969963"/>
                    <a:gd name="connsiteX44" fmla="*/ 89 w 851129"/>
                    <a:gd name="connsiteY44" fmla="*/ 777341 h 969963"/>
                    <a:gd name="connsiteX45" fmla="*/ 149297 w 851129"/>
                    <a:gd name="connsiteY45" fmla="*/ 440608 h 969963"/>
                    <a:gd name="connsiteX46" fmla="*/ 327775 w 851129"/>
                    <a:gd name="connsiteY46" fmla="*/ 248699 h 969963"/>
                    <a:gd name="connsiteX47" fmla="*/ 357759 w 851129"/>
                    <a:gd name="connsiteY47" fmla="*/ 201613 h 969963"/>
                    <a:gd name="connsiteX48" fmla="*/ 426375 w 851129"/>
                    <a:gd name="connsiteY48" fmla="*/ 0 h 969963"/>
                    <a:gd name="connsiteX49" fmla="*/ 541196 w 851129"/>
                    <a:gd name="connsiteY49" fmla="*/ 22721 h 969963"/>
                    <a:gd name="connsiteX50" fmla="*/ 591118 w 851129"/>
                    <a:gd name="connsiteY50" fmla="*/ 48282 h 969963"/>
                    <a:gd name="connsiteX51" fmla="*/ 526932 w 851129"/>
                    <a:gd name="connsiteY51" fmla="*/ 113604 h 969963"/>
                    <a:gd name="connsiteX52" fmla="*/ 494840 w 851129"/>
                    <a:gd name="connsiteY52" fmla="*/ 168275 h 969963"/>
                    <a:gd name="connsiteX53" fmla="*/ 357910 w 851129"/>
                    <a:gd name="connsiteY53" fmla="*/ 168275 h 969963"/>
                    <a:gd name="connsiteX54" fmla="*/ 325817 w 851129"/>
                    <a:gd name="connsiteY54" fmla="*/ 113604 h 969963"/>
                    <a:gd name="connsiteX55" fmla="*/ 260918 w 851129"/>
                    <a:gd name="connsiteY55" fmla="*/ 48282 h 969963"/>
                    <a:gd name="connsiteX56" fmla="*/ 311554 w 851129"/>
                    <a:gd name="connsiteY56" fmla="*/ 22721 h 969963"/>
                    <a:gd name="connsiteX57" fmla="*/ 426375 w 851129"/>
                    <a:gd name="connsiteY57" fmla="*/ 0 h 969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51129" h="969963">
                      <a:moveTo>
                        <a:pt x="399103" y="419100"/>
                      </a:moveTo>
                      <a:cubicBezTo>
                        <a:pt x="399103" y="419100"/>
                        <a:pt x="399103" y="419100"/>
                        <a:pt x="399103" y="457745"/>
                      </a:cubicBezTo>
                      <a:cubicBezTo>
                        <a:pt x="378289" y="462755"/>
                        <a:pt x="362500" y="472058"/>
                        <a:pt x="351016" y="486372"/>
                      </a:cubicBezTo>
                      <a:cubicBezTo>
                        <a:pt x="338815" y="501400"/>
                        <a:pt x="333073" y="517860"/>
                        <a:pt x="333073" y="537183"/>
                      </a:cubicBezTo>
                      <a:cubicBezTo>
                        <a:pt x="333073" y="550065"/>
                        <a:pt x="335226" y="562231"/>
                        <a:pt x="339532" y="572966"/>
                      </a:cubicBezTo>
                      <a:cubicBezTo>
                        <a:pt x="343839" y="582985"/>
                        <a:pt x="350298" y="592288"/>
                        <a:pt x="358911" y="600160"/>
                      </a:cubicBezTo>
                      <a:cubicBezTo>
                        <a:pt x="366088" y="607317"/>
                        <a:pt x="381878" y="617336"/>
                        <a:pt x="405563" y="628786"/>
                      </a:cubicBezTo>
                      <a:cubicBezTo>
                        <a:pt x="428530" y="640237"/>
                        <a:pt x="444320" y="650972"/>
                        <a:pt x="452215" y="660991"/>
                      </a:cubicBezTo>
                      <a:cubicBezTo>
                        <a:pt x="460827" y="671010"/>
                        <a:pt x="465133" y="681029"/>
                        <a:pt x="465133" y="692480"/>
                      </a:cubicBezTo>
                      <a:cubicBezTo>
                        <a:pt x="465133" y="714665"/>
                        <a:pt x="448626" y="726115"/>
                        <a:pt x="416329" y="726115"/>
                      </a:cubicBezTo>
                      <a:cubicBezTo>
                        <a:pt x="394797" y="726115"/>
                        <a:pt x="373265" y="718243"/>
                        <a:pt x="352451" y="703214"/>
                      </a:cubicBezTo>
                      <a:cubicBezTo>
                        <a:pt x="352451" y="703214"/>
                        <a:pt x="352451" y="703214"/>
                        <a:pt x="332355" y="752594"/>
                      </a:cubicBezTo>
                      <a:cubicBezTo>
                        <a:pt x="352451" y="765476"/>
                        <a:pt x="373983" y="772633"/>
                        <a:pt x="399103" y="774064"/>
                      </a:cubicBezTo>
                      <a:cubicBezTo>
                        <a:pt x="399103" y="774064"/>
                        <a:pt x="399103" y="774064"/>
                        <a:pt x="399103" y="819150"/>
                      </a:cubicBezTo>
                      <a:cubicBezTo>
                        <a:pt x="399103" y="819150"/>
                        <a:pt x="399103" y="819150"/>
                        <a:pt x="447908" y="819150"/>
                      </a:cubicBezTo>
                      <a:cubicBezTo>
                        <a:pt x="447908" y="819150"/>
                        <a:pt x="447908" y="819150"/>
                        <a:pt x="447908" y="770486"/>
                      </a:cubicBezTo>
                      <a:cubicBezTo>
                        <a:pt x="470158" y="764761"/>
                        <a:pt x="488101" y="754741"/>
                        <a:pt x="501020" y="740428"/>
                      </a:cubicBezTo>
                      <a:cubicBezTo>
                        <a:pt x="513221" y="725400"/>
                        <a:pt x="519680" y="708224"/>
                        <a:pt x="519680" y="688186"/>
                      </a:cubicBezTo>
                      <a:cubicBezTo>
                        <a:pt x="519680" y="674588"/>
                        <a:pt x="517527" y="661706"/>
                        <a:pt x="512503" y="650256"/>
                      </a:cubicBezTo>
                      <a:cubicBezTo>
                        <a:pt x="508197" y="638806"/>
                        <a:pt x="501020" y="628786"/>
                        <a:pt x="491689" y="620199"/>
                      </a:cubicBezTo>
                      <a:cubicBezTo>
                        <a:pt x="482359" y="611611"/>
                        <a:pt x="467287" y="602307"/>
                        <a:pt x="446473" y="592288"/>
                      </a:cubicBezTo>
                      <a:cubicBezTo>
                        <a:pt x="406998" y="572966"/>
                        <a:pt x="387620" y="554359"/>
                        <a:pt x="387620" y="537183"/>
                      </a:cubicBezTo>
                      <a:cubicBezTo>
                        <a:pt x="387620" y="526448"/>
                        <a:pt x="390491" y="517860"/>
                        <a:pt x="397668" y="510704"/>
                      </a:cubicBezTo>
                      <a:cubicBezTo>
                        <a:pt x="404845" y="504263"/>
                        <a:pt x="414893" y="500685"/>
                        <a:pt x="427094" y="500685"/>
                      </a:cubicBezTo>
                      <a:cubicBezTo>
                        <a:pt x="448626" y="500685"/>
                        <a:pt x="469440" y="507841"/>
                        <a:pt x="488818" y="521439"/>
                      </a:cubicBezTo>
                      <a:cubicBezTo>
                        <a:pt x="488818" y="521439"/>
                        <a:pt x="488818" y="521439"/>
                        <a:pt x="505326" y="474205"/>
                      </a:cubicBezTo>
                      <a:cubicBezTo>
                        <a:pt x="493125" y="463471"/>
                        <a:pt x="473746" y="457745"/>
                        <a:pt x="447190" y="455598"/>
                      </a:cubicBezTo>
                      <a:cubicBezTo>
                        <a:pt x="447190" y="455598"/>
                        <a:pt x="447190" y="455598"/>
                        <a:pt x="447908" y="419100"/>
                      </a:cubicBezTo>
                      <a:cubicBezTo>
                        <a:pt x="447908" y="419100"/>
                        <a:pt x="447908" y="419100"/>
                        <a:pt x="399103" y="419100"/>
                      </a:cubicBezTo>
                      <a:close/>
                      <a:moveTo>
                        <a:pt x="357759" y="201613"/>
                      </a:moveTo>
                      <a:cubicBezTo>
                        <a:pt x="357759" y="201613"/>
                        <a:pt x="357759" y="201613"/>
                        <a:pt x="494117" y="201613"/>
                      </a:cubicBezTo>
                      <a:cubicBezTo>
                        <a:pt x="497686" y="215881"/>
                        <a:pt x="505540" y="233003"/>
                        <a:pt x="524101" y="248699"/>
                      </a:cubicBezTo>
                      <a:cubicBezTo>
                        <a:pt x="525529" y="249412"/>
                        <a:pt x="613340" y="325034"/>
                        <a:pt x="702580" y="440608"/>
                      </a:cubicBezTo>
                      <a:cubicBezTo>
                        <a:pt x="800386" y="566169"/>
                        <a:pt x="851074" y="683170"/>
                        <a:pt x="851074" y="777341"/>
                      </a:cubicBezTo>
                      <a:cubicBezTo>
                        <a:pt x="851074" y="777341"/>
                        <a:pt x="851074" y="777341"/>
                        <a:pt x="851074" y="778054"/>
                      </a:cubicBezTo>
                      <a:cubicBezTo>
                        <a:pt x="851074" y="778767"/>
                        <a:pt x="851074" y="778767"/>
                        <a:pt x="851074" y="779481"/>
                      </a:cubicBezTo>
                      <a:cubicBezTo>
                        <a:pt x="851074" y="779481"/>
                        <a:pt x="851074" y="779481"/>
                        <a:pt x="851074" y="780194"/>
                      </a:cubicBezTo>
                      <a:cubicBezTo>
                        <a:pt x="851074" y="780908"/>
                        <a:pt x="854643" y="860097"/>
                        <a:pt x="804669" y="914317"/>
                      </a:cubicBezTo>
                      <a:cubicBezTo>
                        <a:pt x="769688" y="951414"/>
                        <a:pt x="714716" y="969963"/>
                        <a:pt x="641183" y="969963"/>
                      </a:cubicBezTo>
                      <a:cubicBezTo>
                        <a:pt x="641183" y="969963"/>
                        <a:pt x="641183" y="969963"/>
                        <a:pt x="210693" y="969963"/>
                      </a:cubicBezTo>
                      <a:cubicBezTo>
                        <a:pt x="137160" y="969963"/>
                        <a:pt x="82189" y="950701"/>
                        <a:pt x="46493" y="914317"/>
                      </a:cubicBezTo>
                      <a:cubicBezTo>
                        <a:pt x="-4195" y="859384"/>
                        <a:pt x="89" y="780908"/>
                        <a:pt x="89" y="780194"/>
                      </a:cubicBezTo>
                      <a:cubicBezTo>
                        <a:pt x="89" y="780194"/>
                        <a:pt x="89" y="780194"/>
                        <a:pt x="89" y="779481"/>
                      </a:cubicBezTo>
                      <a:cubicBezTo>
                        <a:pt x="89" y="778767"/>
                        <a:pt x="89" y="778767"/>
                        <a:pt x="89" y="778054"/>
                      </a:cubicBezTo>
                      <a:cubicBezTo>
                        <a:pt x="89" y="778054"/>
                        <a:pt x="89" y="778054"/>
                        <a:pt x="89" y="777341"/>
                      </a:cubicBezTo>
                      <a:cubicBezTo>
                        <a:pt x="89" y="683170"/>
                        <a:pt x="51491" y="566169"/>
                        <a:pt x="149297" y="440608"/>
                      </a:cubicBezTo>
                      <a:cubicBezTo>
                        <a:pt x="237822" y="325034"/>
                        <a:pt x="326347" y="249412"/>
                        <a:pt x="327775" y="248699"/>
                      </a:cubicBezTo>
                      <a:cubicBezTo>
                        <a:pt x="346337" y="233003"/>
                        <a:pt x="354190" y="215881"/>
                        <a:pt x="357759" y="201613"/>
                      </a:cubicBezTo>
                      <a:close/>
                      <a:moveTo>
                        <a:pt x="426375" y="0"/>
                      </a:moveTo>
                      <a:cubicBezTo>
                        <a:pt x="466313" y="0"/>
                        <a:pt x="504824" y="7810"/>
                        <a:pt x="541196" y="22721"/>
                      </a:cubicBezTo>
                      <a:cubicBezTo>
                        <a:pt x="558312" y="30531"/>
                        <a:pt x="576855" y="39761"/>
                        <a:pt x="591118" y="48282"/>
                      </a:cubicBezTo>
                      <a:cubicBezTo>
                        <a:pt x="574715" y="66742"/>
                        <a:pt x="551180" y="91593"/>
                        <a:pt x="526932" y="113604"/>
                      </a:cubicBezTo>
                      <a:cubicBezTo>
                        <a:pt x="520514" y="119994"/>
                        <a:pt x="500545" y="139164"/>
                        <a:pt x="494840" y="168275"/>
                      </a:cubicBezTo>
                      <a:cubicBezTo>
                        <a:pt x="494840" y="168275"/>
                        <a:pt x="494840" y="168275"/>
                        <a:pt x="357910" y="168275"/>
                      </a:cubicBezTo>
                      <a:cubicBezTo>
                        <a:pt x="352205" y="139164"/>
                        <a:pt x="332236" y="119994"/>
                        <a:pt x="325817" y="113604"/>
                      </a:cubicBezTo>
                      <a:cubicBezTo>
                        <a:pt x="301569" y="91593"/>
                        <a:pt x="277321" y="66742"/>
                        <a:pt x="260918" y="48282"/>
                      </a:cubicBezTo>
                      <a:cubicBezTo>
                        <a:pt x="275182" y="39761"/>
                        <a:pt x="294437" y="30531"/>
                        <a:pt x="311554" y="22721"/>
                      </a:cubicBezTo>
                      <a:cubicBezTo>
                        <a:pt x="347926" y="7810"/>
                        <a:pt x="386437" y="0"/>
                        <a:pt x="426375"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sp>
              <p:nvSpPr>
                <p:cNvPr id="164" name="Freeform 8"/>
                <p:cNvSpPr>
                  <a:spLocks noEditPoints="1"/>
                </p:cNvSpPr>
                <p:nvPr/>
              </p:nvSpPr>
              <p:spPr bwMode="auto">
                <a:xfrm>
                  <a:off x="5602288" y="2870200"/>
                  <a:ext cx="984250" cy="1104900"/>
                </a:xfrm>
                <a:custGeom>
                  <a:avLst/>
                  <a:gdLst>
                    <a:gd name="T0" fmla="*/ 885 w 1380"/>
                    <a:gd name="T1" fmla="*/ 381 h 1549"/>
                    <a:gd name="T2" fmla="*/ 890 w 1380"/>
                    <a:gd name="T3" fmla="*/ 326 h 1549"/>
                    <a:gd name="T4" fmla="*/ 886 w 1380"/>
                    <a:gd name="T5" fmla="*/ 52 h 1549"/>
                    <a:gd name="T6" fmla="*/ 352 w 1380"/>
                    <a:gd name="T7" fmla="*/ 165 h 1549"/>
                    <a:gd name="T8" fmla="*/ 509 w 1380"/>
                    <a:gd name="T9" fmla="*/ 359 h 1549"/>
                    <a:gd name="T10" fmla="*/ 6 w 1380"/>
                    <a:gd name="T11" fmla="*/ 1189 h 1549"/>
                    <a:gd name="T12" fmla="*/ 1286 w 1380"/>
                    <a:gd name="T13" fmla="*/ 1442 h 1549"/>
                    <a:gd name="T14" fmla="*/ 1261 w 1380"/>
                    <a:gd name="T15" fmla="*/ 1403 h 1549"/>
                    <a:gd name="T16" fmla="*/ 1247 w 1380"/>
                    <a:gd name="T17" fmla="*/ 1418 h 1549"/>
                    <a:gd name="T18" fmla="*/ 1223 w 1380"/>
                    <a:gd name="T19" fmla="*/ 1440 h 1549"/>
                    <a:gd name="T20" fmla="*/ 1196 w 1380"/>
                    <a:gd name="T21" fmla="*/ 1458 h 1549"/>
                    <a:gd name="T22" fmla="*/ 1166 w 1380"/>
                    <a:gd name="T23" fmla="*/ 1473 h 1549"/>
                    <a:gd name="T24" fmla="*/ 1134 w 1380"/>
                    <a:gd name="T25" fmla="*/ 1485 h 1549"/>
                    <a:gd name="T26" fmla="*/ 1099 w 1380"/>
                    <a:gd name="T27" fmla="*/ 1495 h 1549"/>
                    <a:gd name="T28" fmla="*/ 1062 w 1380"/>
                    <a:gd name="T29" fmla="*/ 1501 h 1549"/>
                    <a:gd name="T30" fmla="*/ 1020 w 1380"/>
                    <a:gd name="T31" fmla="*/ 1505 h 1549"/>
                    <a:gd name="T32" fmla="*/ 367 w 1380"/>
                    <a:gd name="T33" fmla="*/ 1505 h 1549"/>
                    <a:gd name="T34" fmla="*/ 327 w 1380"/>
                    <a:gd name="T35" fmla="*/ 1502 h 1549"/>
                    <a:gd name="T36" fmla="*/ 289 w 1380"/>
                    <a:gd name="T37" fmla="*/ 1496 h 1549"/>
                    <a:gd name="T38" fmla="*/ 253 w 1380"/>
                    <a:gd name="T39" fmla="*/ 1487 h 1549"/>
                    <a:gd name="T40" fmla="*/ 221 w 1380"/>
                    <a:gd name="T41" fmla="*/ 1476 h 1549"/>
                    <a:gd name="T42" fmla="*/ 191 w 1380"/>
                    <a:gd name="T43" fmla="*/ 1461 h 1549"/>
                    <a:gd name="T44" fmla="*/ 163 w 1380"/>
                    <a:gd name="T45" fmla="*/ 1443 h 1549"/>
                    <a:gd name="T46" fmla="*/ 139 w 1380"/>
                    <a:gd name="T47" fmla="*/ 1423 h 1549"/>
                    <a:gd name="T48" fmla="*/ 123 w 1380"/>
                    <a:gd name="T49" fmla="*/ 1406 h 1549"/>
                    <a:gd name="T50" fmla="*/ 50 w 1380"/>
                    <a:gd name="T51" fmla="*/ 1190 h 1549"/>
                    <a:gd name="T52" fmla="*/ 52 w 1380"/>
                    <a:gd name="T53" fmla="*/ 1147 h 1549"/>
                    <a:gd name="T54" fmla="*/ 340 w 1380"/>
                    <a:gd name="T55" fmla="*/ 601 h 1549"/>
                    <a:gd name="T56" fmla="*/ 530 w 1380"/>
                    <a:gd name="T57" fmla="*/ 409 h 1549"/>
                    <a:gd name="T58" fmla="*/ 540 w 1380"/>
                    <a:gd name="T59" fmla="*/ 398 h 1549"/>
                    <a:gd name="T60" fmla="*/ 547 w 1380"/>
                    <a:gd name="T61" fmla="*/ 385 h 1549"/>
                    <a:gd name="T62" fmla="*/ 551 w 1380"/>
                    <a:gd name="T63" fmla="*/ 373 h 1549"/>
                    <a:gd name="T64" fmla="*/ 553 w 1380"/>
                    <a:gd name="T65" fmla="*/ 360 h 1549"/>
                    <a:gd name="T66" fmla="*/ 521 w 1380"/>
                    <a:gd name="T67" fmla="*/ 294 h 1549"/>
                    <a:gd name="T68" fmla="*/ 519 w 1380"/>
                    <a:gd name="T69" fmla="*/ 293 h 1549"/>
                    <a:gd name="T70" fmla="*/ 503 w 1380"/>
                    <a:gd name="T71" fmla="*/ 277 h 1549"/>
                    <a:gd name="T72" fmla="*/ 482 w 1380"/>
                    <a:gd name="T73" fmla="*/ 256 h 1549"/>
                    <a:gd name="T74" fmla="*/ 409 w 1380"/>
                    <a:gd name="T75" fmla="*/ 178 h 1549"/>
                    <a:gd name="T76" fmla="*/ 447 w 1380"/>
                    <a:gd name="T77" fmla="*/ 125 h 1549"/>
                    <a:gd name="T78" fmla="*/ 527 w 1380"/>
                    <a:gd name="T79" fmla="*/ 87 h 1549"/>
                    <a:gd name="T80" fmla="*/ 935 w 1380"/>
                    <a:gd name="T81" fmla="*/ 126 h 1549"/>
                    <a:gd name="T82" fmla="*/ 972 w 1380"/>
                    <a:gd name="T83" fmla="*/ 178 h 1549"/>
                    <a:gd name="T84" fmla="*/ 955 w 1380"/>
                    <a:gd name="T85" fmla="*/ 198 h 1549"/>
                    <a:gd name="T86" fmla="*/ 891 w 1380"/>
                    <a:gd name="T87" fmla="*/ 265 h 1549"/>
                    <a:gd name="T88" fmla="*/ 870 w 1380"/>
                    <a:gd name="T89" fmla="*/ 284 h 1549"/>
                    <a:gd name="T90" fmla="*/ 861 w 1380"/>
                    <a:gd name="T91" fmla="*/ 293 h 1549"/>
                    <a:gd name="T92" fmla="*/ 828 w 1380"/>
                    <a:gd name="T93" fmla="*/ 360 h 1549"/>
                    <a:gd name="T94" fmla="*/ 830 w 1380"/>
                    <a:gd name="T95" fmla="*/ 373 h 1549"/>
                    <a:gd name="T96" fmla="*/ 834 w 1380"/>
                    <a:gd name="T97" fmla="*/ 385 h 1549"/>
                    <a:gd name="T98" fmla="*/ 841 w 1380"/>
                    <a:gd name="T99" fmla="*/ 398 h 1549"/>
                    <a:gd name="T100" fmla="*/ 851 w 1380"/>
                    <a:gd name="T101" fmla="*/ 409 h 1549"/>
                    <a:gd name="T102" fmla="*/ 1046 w 1380"/>
                    <a:gd name="T103" fmla="*/ 607 h 1549"/>
                    <a:gd name="T104" fmla="*/ 1330 w 1380"/>
                    <a:gd name="T105" fmla="*/ 1167 h 1549"/>
                    <a:gd name="T106" fmla="*/ 1331 w 1380"/>
                    <a:gd name="T107" fmla="*/ 1192 h 1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0" h="1549">
                      <a:moveTo>
                        <a:pt x="1375" y="1190"/>
                      </a:moveTo>
                      <a:cubicBezTo>
                        <a:pt x="1375" y="1189"/>
                        <a:pt x="1375" y="1189"/>
                        <a:pt x="1375" y="1189"/>
                      </a:cubicBezTo>
                      <a:cubicBezTo>
                        <a:pt x="1375" y="1036"/>
                        <a:pt x="1298" y="859"/>
                        <a:pt x="1148" y="663"/>
                      </a:cubicBezTo>
                      <a:cubicBezTo>
                        <a:pt x="1037" y="519"/>
                        <a:pt x="918" y="408"/>
                        <a:pt x="885" y="381"/>
                      </a:cubicBezTo>
                      <a:cubicBezTo>
                        <a:pt x="873" y="371"/>
                        <a:pt x="872" y="363"/>
                        <a:pt x="872" y="360"/>
                      </a:cubicBezTo>
                      <a:cubicBezTo>
                        <a:pt x="872" y="360"/>
                        <a:pt x="872" y="360"/>
                        <a:pt x="872" y="360"/>
                      </a:cubicBezTo>
                      <a:cubicBezTo>
                        <a:pt x="872" y="360"/>
                        <a:pt x="872" y="360"/>
                        <a:pt x="872" y="359"/>
                      </a:cubicBezTo>
                      <a:cubicBezTo>
                        <a:pt x="872" y="346"/>
                        <a:pt x="885" y="330"/>
                        <a:pt x="890" y="326"/>
                      </a:cubicBezTo>
                      <a:cubicBezTo>
                        <a:pt x="891" y="326"/>
                        <a:pt x="891" y="326"/>
                        <a:pt x="891" y="326"/>
                      </a:cubicBezTo>
                      <a:cubicBezTo>
                        <a:pt x="940" y="280"/>
                        <a:pt x="1024" y="197"/>
                        <a:pt x="1029" y="165"/>
                      </a:cubicBezTo>
                      <a:cubicBezTo>
                        <a:pt x="1033" y="141"/>
                        <a:pt x="1012" y="118"/>
                        <a:pt x="955" y="87"/>
                      </a:cubicBezTo>
                      <a:cubicBezTo>
                        <a:pt x="921" y="68"/>
                        <a:pt x="887" y="53"/>
                        <a:pt x="886" y="52"/>
                      </a:cubicBezTo>
                      <a:cubicBezTo>
                        <a:pt x="885" y="52"/>
                        <a:pt x="885" y="52"/>
                        <a:pt x="885" y="52"/>
                      </a:cubicBezTo>
                      <a:cubicBezTo>
                        <a:pt x="761" y="0"/>
                        <a:pt x="619" y="0"/>
                        <a:pt x="495" y="52"/>
                      </a:cubicBezTo>
                      <a:cubicBezTo>
                        <a:pt x="494" y="53"/>
                        <a:pt x="460" y="68"/>
                        <a:pt x="426" y="87"/>
                      </a:cubicBezTo>
                      <a:cubicBezTo>
                        <a:pt x="369" y="118"/>
                        <a:pt x="348" y="141"/>
                        <a:pt x="352" y="165"/>
                      </a:cubicBezTo>
                      <a:cubicBezTo>
                        <a:pt x="357" y="197"/>
                        <a:pt x="441" y="280"/>
                        <a:pt x="490" y="326"/>
                      </a:cubicBezTo>
                      <a:cubicBezTo>
                        <a:pt x="491" y="326"/>
                        <a:pt x="491" y="326"/>
                        <a:pt x="491" y="326"/>
                      </a:cubicBezTo>
                      <a:cubicBezTo>
                        <a:pt x="495" y="330"/>
                        <a:pt x="509" y="345"/>
                        <a:pt x="509" y="359"/>
                      </a:cubicBezTo>
                      <a:cubicBezTo>
                        <a:pt x="509" y="359"/>
                        <a:pt x="509" y="359"/>
                        <a:pt x="509" y="359"/>
                      </a:cubicBezTo>
                      <a:cubicBezTo>
                        <a:pt x="509" y="360"/>
                        <a:pt x="509" y="360"/>
                        <a:pt x="509" y="360"/>
                      </a:cubicBezTo>
                      <a:cubicBezTo>
                        <a:pt x="509" y="363"/>
                        <a:pt x="508" y="371"/>
                        <a:pt x="496" y="381"/>
                      </a:cubicBezTo>
                      <a:cubicBezTo>
                        <a:pt x="463" y="408"/>
                        <a:pt x="344" y="519"/>
                        <a:pt x="233" y="663"/>
                      </a:cubicBezTo>
                      <a:cubicBezTo>
                        <a:pt x="83" y="859"/>
                        <a:pt x="6" y="1036"/>
                        <a:pt x="6" y="1189"/>
                      </a:cubicBezTo>
                      <a:cubicBezTo>
                        <a:pt x="5" y="1202"/>
                        <a:pt x="0" y="1339"/>
                        <a:pt x="95" y="1442"/>
                      </a:cubicBezTo>
                      <a:cubicBezTo>
                        <a:pt x="162" y="1513"/>
                        <a:pt x="260" y="1549"/>
                        <a:pt x="389" y="1549"/>
                      </a:cubicBezTo>
                      <a:cubicBezTo>
                        <a:pt x="992" y="1549"/>
                        <a:pt x="992" y="1549"/>
                        <a:pt x="992" y="1549"/>
                      </a:cubicBezTo>
                      <a:cubicBezTo>
                        <a:pt x="1121" y="1549"/>
                        <a:pt x="1219" y="1513"/>
                        <a:pt x="1286" y="1442"/>
                      </a:cubicBezTo>
                      <a:cubicBezTo>
                        <a:pt x="1380" y="1341"/>
                        <a:pt x="1376" y="1206"/>
                        <a:pt x="1375" y="1190"/>
                      </a:cubicBezTo>
                      <a:close/>
                      <a:moveTo>
                        <a:pt x="1268" y="1395"/>
                      </a:moveTo>
                      <a:cubicBezTo>
                        <a:pt x="1267" y="1396"/>
                        <a:pt x="1267" y="1396"/>
                        <a:pt x="1266" y="1397"/>
                      </a:cubicBezTo>
                      <a:cubicBezTo>
                        <a:pt x="1264" y="1399"/>
                        <a:pt x="1263" y="1401"/>
                        <a:pt x="1261" y="1403"/>
                      </a:cubicBezTo>
                      <a:cubicBezTo>
                        <a:pt x="1260" y="1405"/>
                        <a:pt x="1258" y="1406"/>
                        <a:pt x="1257" y="1408"/>
                      </a:cubicBezTo>
                      <a:cubicBezTo>
                        <a:pt x="1256" y="1409"/>
                        <a:pt x="1255" y="1411"/>
                        <a:pt x="1253" y="1412"/>
                      </a:cubicBezTo>
                      <a:cubicBezTo>
                        <a:pt x="1253" y="1412"/>
                        <a:pt x="1253" y="1412"/>
                        <a:pt x="1253" y="1412"/>
                      </a:cubicBezTo>
                      <a:cubicBezTo>
                        <a:pt x="1251" y="1414"/>
                        <a:pt x="1249" y="1416"/>
                        <a:pt x="1247" y="1418"/>
                      </a:cubicBezTo>
                      <a:cubicBezTo>
                        <a:pt x="1245" y="1420"/>
                        <a:pt x="1244" y="1422"/>
                        <a:pt x="1242" y="1423"/>
                      </a:cubicBezTo>
                      <a:cubicBezTo>
                        <a:pt x="1240" y="1425"/>
                        <a:pt x="1237" y="1427"/>
                        <a:pt x="1235" y="1429"/>
                      </a:cubicBezTo>
                      <a:cubicBezTo>
                        <a:pt x="1233" y="1431"/>
                        <a:pt x="1232" y="1432"/>
                        <a:pt x="1230" y="1434"/>
                      </a:cubicBezTo>
                      <a:cubicBezTo>
                        <a:pt x="1228" y="1436"/>
                        <a:pt x="1225" y="1438"/>
                        <a:pt x="1223" y="1440"/>
                      </a:cubicBezTo>
                      <a:cubicBezTo>
                        <a:pt x="1221" y="1441"/>
                        <a:pt x="1219" y="1442"/>
                        <a:pt x="1218" y="1444"/>
                      </a:cubicBezTo>
                      <a:cubicBezTo>
                        <a:pt x="1215" y="1445"/>
                        <a:pt x="1212" y="1447"/>
                        <a:pt x="1210" y="1449"/>
                      </a:cubicBezTo>
                      <a:cubicBezTo>
                        <a:pt x="1208" y="1450"/>
                        <a:pt x="1206" y="1452"/>
                        <a:pt x="1204" y="1453"/>
                      </a:cubicBezTo>
                      <a:cubicBezTo>
                        <a:pt x="1201" y="1454"/>
                        <a:pt x="1199" y="1456"/>
                        <a:pt x="1196" y="1458"/>
                      </a:cubicBezTo>
                      <a:cubicBezTo>
                        <a:pt x="1194" y="1459"/>
                        <a:pt x="1192" y="1460"/>
                        <a:pt x="1190" y="1461"/>
                      </a:cubicBezTo>
                      <a:cubicBezTo>
                        <a:pt x="1187" y="1463"/>
                        <a:pt x="1184" y="1464"/>
                        <a:pt x="1181" y="1466"/>
                      </a:cubicBezTo>
                      <a:cubicBezTo>
                        <a:pt x="1179" y="1467"/>
                        <a:pt x="1178" y="1468"/>
                        <a:pt x="1176" y="1469"/>
                      </a:cubicBezTo>
                      <a:cubicBezTo>
                        <a:pt x="1173" y="1470"/>
                        <a:pt x="1169" y="1472"/>
                        <a:pt x="1166" y="1473"/>
                      </a:cubicBezTo>
                      <a:cubicBezTo>
                        <a:pt x="1164" y="1474"/>
                        <a:pt x="1162" y="1475"/>
                        <a:pt x="1160" y="1476"/>
                      </a:cubicBezTo>
                      <a:cubicBezTo>
                        <a:pt x="1157" y="1477"/>
                        <a:pt x="1154" y="1478"/>
                        <a:pt x="1151" y="1479"/>
                      </a:cubicBezTo>
                      <a:cubicBezTo>
                        <a:pt x="1148" y="1480"/>
                        <a:pt x="1146" y="1481"/>
                        <a:pt x="1144" y="1482"/>
                      </a:cubicBezTo>
                      <a:cubicBezTo>
                        <a:pt x="1141" y="1483"/>
                        <a:pt x="1137" y="1484"/>
                        <a:pt x="1134" y="1485"/>
                      </a:cubicBezTo>
                      <a:cubicBezTo>
                        <a:pt x="1132" y="1486"/>
                        <a:pt x="1130" y="1487"/>
                        <a:pt x="1128" y="1487"/>
                      </a:cubicBezTo>
                      <a:cubicBezTo>
                        <a:pt x="1124" y="1488"/>
                        <a:pt x="1120" y="1489"/>
                        <a:pt x="1117" y="1490"/>
                      </a:cubicBezTo>
                      <a:cubicBezTo>
                        <a:pt x="1115" y="1491"/>
                        <a:pt x="1113" y="1492"/>
                        <a:pt x="1110" y="1492"/>
                      </a:cubicBezTo>
                      <a:cubicBezTo>
                        <a:pt x="1107" y="1493"/>
                        <a:pt x="1103" y="1494"/>
                        <a:pt x="1099" y="1495"/>
                      </a:cubicBezTo>
                      <a:cubicBezTo>
                        <a:pt x="1097" y="1495"/>
                        <a:pt x="1095" y="1496"/>
                        <a:pt x="1092" y="1496"/>
                      </a:cubicBezTo>
                      <a:cubicBezTo>
                        <a:pt x="1089" y="1497"/>
                        <a:pt x="1085" y="1497"/>
                        <a:pt x="1081" y="1498"/>
                      </a:cubicBezTo>
                      <a:cubicBezTo>
                        <a:pt x="1078" y="1499"/>
                        <a:pt x="1076" y="1499"/>
                        <a:pt x="1074" y="1499"/>
                      </a:cubicBezTo>
                      <a:cubicBezTo>
                        <a:pt x="1070" y="1500"/>
                        <a:pt x="1066" y="1500"/>
                        <a:pt x="1062" y="1501"/>
                      </a:cubicBezTo>
                      <a:cubicBezTo>
                        <a:pt x="1059" y="1501"/>
                        <a:pt x="1057" y="1502"/>
                        <a:pt x="1054" y="1502"/>
                      </a:cubicBezTo>
                      <a:cubicBezTo>
                        <a:pt x="1050" y="1502"/>
                        <a:pt x="1046" y="1503"/>
                        <a:pt x="1042" y="1503"/>
                      </a:cubicBezTo>
                      <a:cubicBezTo>
                        <a:pt x="1039" y="1503"/>
                        <a:pt x="1037" y="1504"/>
                        <a:pt x="1034" y="1504"/>
                      </a:cubicBezTo>
                      <a:cubicBezTo>
                        <a:pt x="1030" y="1504"/>
                        <a:pt x="1025" y="1504"/>
                        <a:pt x="1020" y="1505"/>
                      </a:cubicBezTo>
                      <a:cubicBezTo>
                        <a:pt x="1018" y="1505"/>
                        <a:pt x="1016" y="1505"/>
                        <a:pt x="1014" y="1505"/>
                      </a:cubicBezTo>
                      <a:cubicBezTo>
                        <a:pt x="1007" y="1505"/>
                        <a:pt x="1000" y="1505"/>
                        <a:pt x="992" y="1505"/>
                      </a:cubicBezTo>
                      <a:cubicBezTo>
                        <a:pt x="389" y="1505"/>
                        <a:pt x="389" y="1505"/>
                        <a:pt x="389" y="1505"/>
                      </a:cubicBezTo>
                      <a:cubicBezTo>
                        <a:pt x="381" y="1505"/>
                        <a:pt x="374" y="1505"/>
                        <a:pt x="367" y="1505"/>
                      </a:cubicBezTo>
                      <a:cubicBezTo>
                        <a:pt x="364" y="1505"/>
                        <a:pt x="362" y="1505"/>
                        <a:pt x="359" y="1504"/>
                      </a:cubicBezTo>
                      <a:cubicBezTo>
                        <a:pt x="355" y="1504"/>
                        <a:pt x="351" y="1504"/>
                        <a:pt x="347" y="1504"/>
                      </a:cubicBezTo>
                      <a:cubicBezTo>
                        <a:pt x="343" y="1504"/>
                        <a:pt x="340" y="1503"/>
                        <a:pt x="337" y="1503"/>
                      </a:cubicBezTo>
                      <a:cubicBezTo>
                        <a:pt x="333" y="1503"/>
                        <a:pt x="330" y="1502"/>
                        <a:pt x="327" y="1502"/>
                      </a:cubicBezTo>
                      <a:cubicBezTo>
                        <a:pt x="323" y="1502"/>
                        <a:pt x="320" y="1501"/>
                        <a:pt x="316" y="1501"/>
                      </a:cubicBezTo>
                      <a:cubicBezTo>
                        <a:pt x="313" y="1500"/>
                        <a:pt x="310" y="1500"/>
                        <a:pt x="307" y="1499"/>
                      </a:cubicBezTo>
                      <a:cubicBezTo>
                        <a:pt x="304" y="1499"/>
                        <a:pt x="300" y="1498"/>
                        <a:pt x="297" y="1498"/>
                      </a:cubicBezTo>
                      <a:cubicBezTo>
                        <a:pt x="294" y="1497"/>
                        <a:pt x="291" y="1497"/>
                        <a:pt x="289" y="1496"/>
                      </a:cubicBezTo>
                      <a:cubicBezTo>
                        <a:pt x="285" y="1495"/>
                        <a:pt x="282" y="1495"/>
                        <a:pt x="278" y="1494"/>
                      </a:cubicBezTo>
                      <a:cubicBezTo>
                        <a:pt x="276" y="1493"/>
                        <a:pt x="273" y="1493"/>
                        <a:pt x="271" y="1492"/>
                      </a:cubicBezTo>
                      <a:cubicBezTo>
                        <a:pt x="267" y="1491"/>
                        <a:pt x="264" y="1490"/>
                        <a:pt x="260" y="1489"/>
                      </a:cubicBezTo>
                      <a:cubicBezTo>
                        <a:pt x="258" y="1489"/>
                        <a:pt x="256" y="1488"/>
                        <a:pt x="253" y="1487"/>
                      </a:cubicBezTo>
                      <a:cubicBezTo>
                        <a:pt x="250" y="1486"/>
                        <a:pt x="247" y="1485"/>
                        <a:pt x="243" y="1484"/>
                      </a:cubicBezTo>
                      <a:cubicBezTo>
                        <a:pt x="241" y="1483"/>
                        <a:pt x="239" y="1483"/>
                        <a:pt x="237" y="1482"/>
                      </a:cubicBezTo>
                      <a:cubicBezTo>
                        <a:pt x="233" y="1481"/>
                        <a:pt x="230" y="1479"/>
                        <a:pt x="227" y="1478"/>
                      </a:cubicBezTo>
                      <a:cubicBezTo>
                        <a:pt x="225" y="1477"/>
                        <a:pt x="223" y="1476"/>
                        <a:pt x="221" y="1476"/>
                      </a:cubicBezTo>
                      <a:cubicBezTo>
                        <a:pt x="217" y="1474"/>
                        <a:pt x="215" y="1473"/>
                        <a:pt x="212" y="1472"/>
                      </a:cubicBezTo>
                      <a:cubicBezTo>
                        <a:pt x="209" y="1471"/>
                        <a:pt x="207" y="1470"/>
                        <a:pt x="205" y="1469"/>
                      </a:cubicBezTo>
                      <a:cubicBezTo>
                        <a:pt x="202" y="1467"/>
                        <a:pt x="200" y="1466"/>
                        <a:pt x="197" y="1464"/>
                      </a:cubicBezTo>
                      <a:cubicBezTo>
                        <a:pt x="195" y="1463"/>
                        <a:pt x="193" y="1462"/>
                        <a:pt x="191" y="1461"/>
                      </a:cubicBezTo>
                      <a:cubicBezTo>
                        <a:pt x="188" y="1459"/>
                        <a:pt x="185" y="1458"/>
                        <a:pt x="183" y="1456"/>
                      </a:cubicBezTo>
                      <a:cubicBezTo>
                        <a:pt x="181" y="1455"/>
                        <a:pt x="179" y="1454"/>
                        <a:pt x="177" y="1453"/>
                      </a:cubicBezTo>
                      <a:cubicBezTo>
                        <a:pt x="174" y="1451"/>
                        <a:pt x="172" y="1449"/>
                        <a:pt x="169" y="1447"/>
                      </a:cubicBezTo>
                      <a:cubicBezTo>
                        <a:pt x="167" y="1446"/>
                        <a:pt x="165" y="1445"/>
                        <a:pt x="163" y="1443"/>
                      </a:cubicBezTo>
                      <a:cubicBezTo>
                        <a:pt x="161" y="1442"/>
                        <a:pt x="159" y="1440"/>
                        <a:pt x="156" y="1438"/>
                      </a:cubicBezTo>
                      <a:cubicBezTo>
                        <a:pt x="154" y="1437"/>
                        <a:pt x="152" y="1435"/>
                        <a:pt x="151" y="1434"/>
                      </a:cubicBezTo>
                      <a:cubicBezTo>
                        <a:pt x="148" y="1432"/>
                        <a:pt x="146" y="1430"/>
                        <a:pt x="144" y="1428"/>
                      </a:cubicBezTo>
                      <a:cubicBezTo>
                        <a:pt x="142" y="1426"/>
                        <a:pt x="140" y="1425"/>
                        <a:pt x="139" y="1423"/>
                      </a:cubicBezTo>
                      <a:cubicBezTo>
                        <a:pt x="137" y="1421"/>
                        <a:pt x="135" y="1419"/>
                        <a:pt x="133" y="1417"/>
                      </a:cubicBezTo>
                      <a:cubicBezTo>
                        <a:pt x="131" y="1415"/>
                        <a:pt x="129" y="1414"/>
                        <a:pt x="128" y="1412"/>
                      </a:cubicBezTo>
                      <a:cubicBezTo>
                        <a:pt x="127" y="1412"/>
                        <a:pt x="127" y="1412"/>
                        <a:pt x="127" y="1412"/>
                      </a:cubicBezTo>
                      <a:cubicBezTo>
                        <a:pt x="126" y="1410"/>
                        <a:pt x="124" y="1408"/>
                        <a:pt x="123" y="1406"/>
                      </a:cubicBezTo>
                      <a:cubicBezTo>
                        <a:pt x="122" y="1405"/>
                        <a:pt x="121" y="1404"/>
                        <a:pt x="120" y="1403"/>
                      </a:cubicBezTo>
                      <a:cubicBezTo>
                        <a:pt x="45" y="1316"/>
                        <a:pt x="49" y="1200"/>
                        <a:pt x="50" y="1192"/>
                      </a:cubicBezTo>
                      <a:cubicBezTo>
                        <a:pt x="50" y="1191"/>
                        <a:pt x="50" y="1191"/>
                        <a:pt x="50" y="1191"/>
                      </a:cubicBezTo>
                      <a:cubicBezTo>
                        <a:pt x="50" y="1190"/>
                        <a:pt x="50" y="1190"/>
                        <a:pt x="50" y="1190"/>
                      </a:cubicBezTo>
                      <a:cubicBezTo>
                        <a:pt x="50" y="1185"/>
                        <a:pt x="50" y="1180"/>
                        <a:pt x="50" y="1175"/>
                      </a:cubicBezTo>
                      <a:cubicBezTo>
                        <a:pt x="50" y="1172"/>
                        <a:pt x="50" y="1169"/>
                        <a:pt x="51" y="1167"/>
                      </a:cubicBezTo>
                      <a:cubicBezTo>
                        <a:pt x="51" y="1165"/>
                        <a:pt x="51" y="1163"/>
                        <a:pt x="51" y="1161"/>
                      </a:cubicBezTo>
                      <a:cubicBezTo>
                        <a:pt x="51" y="1156"/>
                        <a:pt x="52" y="1152"/>
                        <a:pt x="52" y="1147"/>
                      </a:cubicBezTo>
                      <a:cubicBezTo>
                        <a:pt x="53" y="1142"/>
                        <a:pt x="53" y="1138"/>
                        <a:pt x="54" y="1133"/>
                      </a:cubicBezTo>
                      <a:cubicBezTo>
                        <a:pt x="78" y="942"/>
                        <a:pt x="216" y="744"/>
                        <a:pt x="337" y="605"/>
                      </a:cubicBezTo>
                      <a:cubicBezTo>
                        <a:pt x="338" y="604"/>
                        <a:pt x="339" y="603"/>
                        <a:pt x="340" y="602"/>
                      </a:cubicBezTo>
                      <a:cubicBezTo>
                        <a:pt x="340" y="601"/>
                        <a:pt x="340" y="601"/>
                        <a:pt x="340" y="601"/>
                      </a:cubicBezTo>
                      <a:cubicBezTo>
                        <a:pt x="437" y="490"/>
                        <a:pt x="522" y="417"/>
                        <a:pt x="524" y="415"/>
                      </a:cubicBezTo>
                      <a:cubicBezTo>
                        <a:pt x="524" y="414"/>
                        <a:pt x="524" y="414"/>
                        <a:pt x="524" y="414"/>
                      </a:cubicBezTo>
                      <a:cubicBezTo>
                        <a:pt x="524" y="414"/>
                        <a:pt x="524" y="414"/>
                        <a:pt x="524" y="414"/>
                      </a:cubicBezTo>
                      <a:cubicBezTo>
                        <a:pt x="526" y="413"/>
                        <a:pt x="528" y="411"/>
                        <a:pt x="530" y="409"/>
                      </a:cubicBezTo>
                      <a:cubicBezTo>
                        <a:pt x="531" y="409"/>
                        <a:pt x="531" y="408"/>
                        <a:pt x="532" y="408"/>
                      </a:cubicBezTo>
                      <a:cubicBezTo>
                        <a:pt x="533" y="406"/>
                        <a:pt x="535" y="405"/>
                        <a:pt x="536" y="403"/>
                      </a:cubicBezTo>
                      <a:cubicBezTo>
                        <a:pt x="537" y="402"/>
                        <a:pt x="537" y="401"/>
                        <a:pt x="538" y="401"/>
                      </a:cubicBezTo>
                      <a:cubicBezTo>
                        <a:pt x="539" y="400"/>
                        <a:pt x="539" y="399"/>
                        <a:pt x="540" y="398"/>
                      </a:cubicBezTo>
                      <a:cubicBezTo>
                        <a:pt x="541" y="396"/>
                        <a:pt x="542" y="395"/>
                        <a:pt x="543" y="393"/>
                      </a:cubicBezTo>
                      <a:cubicBezTo>
                        <a:pt x="544" y="392"/>
                        <a:pt x="544" y="392"/>
                        <a:pt x="544" y="392"/>
                      </a:cubicBezTo>
                      <a:cubicBezTo>
                        <a:pt x="545" y="390"/>
                        <a:pt x="546" y="388"/>
                        <a:pt x="547" y="386"/>
                      </a:cubicBezTo>
                      <a:cubicBezTo>
                        <a:pt x="547" y="385"/>
                        <a:pt x="547" y="385"/>
                        <a:pt x="547" y="385"/>
                      </a:cubicBezTo>
                      <a:cubicBezTo>
                        <a:pt x="548" y="384"/>
                        <a:pt x="548" y="383"/>
                        <a:pt x="549" y="382"/>
                      </a:cubicBezTo>
                      <a:cubicBezTo>
                        <a:pt x="549" y="381"/>
                        <a:pt x="549" y="380"/>
                        <a:pt x="550" y="379"/>
                      </a:cubicBezTo>
                      <a:cubicBezTo>
                        <a:pt x="550" y="379"/>
                        <a:pt x="550" y="378"/>
                        <a:pt x="550" y="377"/>
                      </a:cubicBezTo>
                      <a:cubicBezTo>
                        <a:pt x="551" y="376"/>
                        <a:pt x="551" y="375"/>
                        <a:pt x="551" y="373"/>
                      </a:cubicBezTo>
                      <a:cubicBezTo>
                        <a:pt x="552" y="371"/>
                        <a:pt x="552" y="370"/>
                        <a:pt x="552" y="368"/>
                      </a:cubicBezTo>
                      <a:cubicBezTo>
                        <a:pt x="552" y="367"/>
                        <a:pt x="552" y="367"/>
                        <a:pt x="552" y="367"/>
                      </a:cubicBezTo>
                      <a:cubicBezTo>
                        <a:pt x="553" y="364"/>
                        <a:pt x="553" y="362"/>
                        <a:pt x="553" y="360"/>
                      </a:cubicBezTo>
                      <a:cubicBezTo>
                        <a:pt x="553" y="360"/>
                        <a:pt x="553" y="360"/>
                        <a:pt x="553" y="360"/>
                      </a:cubicBezTo>
                      <a:cubicBezTo>
                        <a:pt x="553" y="358"/>
                        <a:pt x="553" y="355"/>
                        <a:pt x="553" y="353"/>
                      </a:cubicBezTo>
                      <a:cubicBezTo>
                        <a:pt x="553" y="353"/>
                        <a:pt x="553" y="353"/>
                        <a:pt x="553" y="353"/>
                      </a:cubicBezTo>
                      <a:cubicBezTo>
                        <a:pt x="552" y="348"/>
                        <a:pt x="551" y="343"/>
                        <a:pt x="549" y="338"/>
                      </a:cubicBezTo>
                      <a:cubicBezTo>
                        <a:pt x="542" y="316"/>
                        <a:pt x="527" y="299"/>
                        <a:pt x="521" y="294"/>
                      </a:cubicBezTo>
                      <a:cubicBezTo>
                        <a:pt x="521" y="294"/>
                        <a:pt x="521" y="294"/>
                        <a:pt x="521" y="294"/>
                      </a:cubicBezTo>
                      <a:cubicBezTo>
                        <a:pt x="521" y="294"/>
                        <a:pt x="520" y="294"/>
                        <a:pt x="520" y="293"/>
                      </a:cubicBezTo>
                      <a:cubicBezTo>
                        <a:pt x="520" y="293"/>
                        <a:pt x="520" y="293"/>
                        <a:pt x="520" y="293"/>
                      </a:cubicBezTo>
                      <a:cubicBezTo>
                        <a:pt x="519" y="293"/>
                        <a:pt x="519" y="293"/>
                        <a:pt x="519" y="293"/>
                      </a:cubicBezTo>
                      <a:cubicBezTo>
                        <a:pt x="517" y="290"/>
                        <a:pt x="514" y="288"/>
                        <a:pt x="512" y="286"/>
                      </a:cubicBezTo>
                      <a:cubicBezTo>
                        <a:pt x="512" y="285"/>
                        <a:pt x="511" y="285"/>
                        <a:pt x="511" y="285"/>
                      </a:cubicBezTo>
                      <a:cubicBezTo>
                        <a:pt x="508" y="282"/>
                        <a:pt x="506" y="280"/>
                        <a:pt x="503" y="277"/>
                      </a:cubicBezTo>
                      <a:cubicBezTo>
                        <a:pt x="503" y="277"/>
                        <a:pt x="503" y="277"/>
                        <a:pt x="503" y="277"/>
                      </a:cubicBezTo>
                      <a:cubicBezTo>
                        <a:pt x="500" y="275"/>
                        <a:pt x="498" y="272"/>
                        <a:pt x="495" y="270"/>
                      </a:cubicBezTo>
                      <a:cubicBezTo>
                        <a:pt x="494" y="268"/>
                        <a:pt x="492" y="267"/>
                        <a:pt x="490" y="265"/>
                      </a:cubicBezTo>
                      <a:cubicBezTo>
                        <a:pt x="490" y="264"/>
                        <a:pt x="489" y="263"/>
                        <a:pt x="488" y="262"/>
                      </a:cubicBezTo>
                      <a:cubicBezTo>
                        <a:pt x="486" y="260"/>
                        <a:pt x="484" y="258"/>
                        <a:pt x="482" y="256"/>
                      </a:cubicBezTo>
                      <a:cubicBezTo>
                        <a:pt x="481" y="256"/>
                        <a:pt x="481" y="256"/>
                        <a:pt x="481" y="256"/>
                      </a:cubicBezTo>
                      <a:cubicBezTo>
                        <a:pt x="454" y="229"/>
                        <a:pt x="429" y="203"/>
                        <a:pt x="413" y="183"/>
                      </a:cubicBezTo>
                      <a:cubicBezTo>
                        <a:pt x="412" y="182"/>
                        <a:pt x="412" y="182"/>
                        <a:pt x="412" y="182"/>
                      </a:cubicBezTo>
                      <a:cubicBezTo>
                        <a:pt x="411" y="181"/>
                        <a:pt x="410" y="179"/>
                        <a:pt x="409" y="178"/>
                      </a:cubicBezTo>
                      <a:cubicBezTo>
                        <a:pt x="409" y="178"/>
                        <a:pt x="409" y="178"/>
                        <a:pt x="409" y="178"/>
                      </a:cubicBezTo>
                      <a:cubicBezTo>
                        <a:pt x="403" y="171"/>
                        <a:pt x="399" y="165"/>
                        <a:pt x="396" y="160"/>
                      </a:cubicBezTo>
                      <a:cubicBezTo>
                        <a:pt x="399" y="157"/>
                        <a:pt x="405" y="152"/>
                        <a:pt x="412" y="147"/>
                      </a:cubicBezTo>
                      <a:cubicBezTo>
                        <a:pt x="421" y="140"/>
                        <a:pt x="433" y="133"/>
                        <a:pt x="447" y="125"/>
                      </a:cubicBezTo>
                      <a:cubicBezTo>
                        <a:pt x="448" y="125"/>
                        <a:pt x="448" y="125"/>
                        <a:pt x="448" y="125"/>
                      </a:cubicBezTo>
                      <a:cubicBezTo>
                        <a:pt x="449" y="124"/>
                        <a:pt x="450" y="124"/>
                        <a:pt x="451" y="123"/>
                      </a:cubicBezTo>
                      <a:cubicBezTo>
                        <a:pt x="470" y="113"/>
                        <a:pt x="491" y="102"/>
                        <a:pt x="513" y="93"/>
                      </a:cubicBezTo>
                      <a:cubicBezTo>
                        <a:pt x="517" y="91"/>
                        <a:pt x="522" y="89"/>
                        <a:pt x="527" y="87"/>
                      </a:cubicBezTo>
                      <a:cubicBezTo>
                        <a:pt x="631" y="47"/>
                        <a:pt x="750" y="47"/>
                        <a:pt x="855" y="87"/>
                      </a:cubicBezTo>
                      <a:cubicBezTo>
                        <a:pt x="859" y="89"/>
                        <a:pt x="864" y="91"/>
                        <a:pt x="868" y="93"/>
                      </a:cubicBezTo>
                      <a:cubicBezTo>
                        <a:pt x="868" y="93"/>
                        <a:pt x="868" y="93"/>
                        <a:pt x="868" y="93"/>
                      </a:cubicBezTo>
                      <a:cubicBezTo>
                        <a:pt x="892" y="103"/>
                        <a:pt x="915" y="115"/>
                        <a:pt x="935" y="126"/>
                      </a:cubicBezTo>
                      <a:cubicBezTo>
                        <a:pt x="948" y="133"/>
                        <a:pt x="960" y="140"/>
                        <a:pt x="969" y="147"/>
                      </a:cubicBezTo>
                      <a:cubicBezTo>
                        <a:pt x="976" y="152"/>
                        <a:pt x="982" y="157"/>
                        <a:pt x="985" y="160"/>
                      </a:cubicBezTo>
                      <a:cubicBezTo>
                        <a:pt x="982" y="165"/>
                        <a:pt x="978" y="171"/>
                        <a:pt x="972" y="178"/>
                      </a:cubicBezTo>
                      <a:cubicBezTo>
                        <a:pt x="972" y="178"/>
                        <a:pt x="972" y="178"/>
                        <a:pt x="972" y="178"/>
                      </a:cubicBezTo>
                      <a:cubicBezTo>
                        <a:pt x="971" y="179"/>
                        <a:pt x="970" y="180"/>
                        <a:pt x="969" y="181"/>
                      </a:cubicBezTo>
                      <a:cubicBezTo>
                        <a:pt x="969" y="182"/>
                        <a:pt x="968" y="183"/>
                        <a:pt x="967" y="184"/>
                      </a:cubicBezTo>
                      <a:cubicBezTo>
                        <a:pt x="964" y="188"/>
                        <a:pt x="960" y="193"/>
                        <a:pt x="956" y="197"/>
                      </a:cubicBezTo>
                      <a:cubicBezTo>
                        <a:pt x="956" y="197"/>
                        <a:pt x="956" y="198"/>
                        <a:pt x="955" y="198"/>
                      </a:cubicBezTo>
                      <a:cubicBezTo>
                        <a:pt x="941" y="214"/>
                        <a:pt x="921" y="234"/>
                        <a:pt x="901" y="254"/>
                      </a:cubicBezTo>
                      <a:cubicBezTo>
                        <a:pt x="901" y="255"/>
                        <a:pt x="900" y="256"/>
                        <a:pt x="900" y="256"/>
                      </a:cubicBezTo>
                      <a:cubicBezTo>
                        <a:pt x="898" y="258"/>
                        <a:pt x="896" y="259"/>
                        <a:pt x="894" y="261"/>
                      </a:cubicBezTo>
                      <a:cubicBezTo>
                        <a:pt x="893" y="262"/>
                        <a:pt x="892" y="264"/>
                        <a:pt x="891" y="265"/>
                      </a:cubicBezTo>
                      <a:cubicBezTo>
                        <a:pt x="890" y="266"/>
                        <a:pt x="888" y="267"/>
                        <a:pt x="887" y="269"/>
                      </a:cubicBezTo>
                      <a:cubicBezTo>
                        <a:pt x="884" y="271"/>
                        <a:pt x="882" y="274"/>
                        <a:pt x="879" y="276"/>
                      </a:cubicBezTo>
                      <a:cubicBezTo>
                        <a:pt x="878" y="277"/>
                        <a:pt x="878" y="277"/>
                        <a:pt x="877" y="278"/>
                      </a:cubicBezTo>
                      <a:cubicBezTo>
                        <a:pt x="875" y="280"/>
                        <a:pt x="873" y="282"/>
                        <a:pt x="870" y="284"/>
                      </a:cubicBezTo>
                      <a:cubicBezTo>
                        <a:pt x="870" y="285"/>
                        <a:pt x="869" y="286"/>
                        <a:pt x="868" y="287"/>
                      </a:cubicBezTo>
                      <a:cubicBezTo>
                        <a:pt x="866" y="288"/>
                        <a:pt x="864" y="290"/>
                        <a:pt x="862" y="292"/>
                      </a:cubicBezTo>
                      <a:cubicBezTo>
                        <a:pt x="862" y="292"/>
                        <a:pt x="862" y="293"/>
                        <a:pt x="861" y="293"/>
                      </a:cubicBezTo>
                      <a:cubicBezTo>
                        <a:pt x="861" y="293"/>
                        <a:pt x="861" y="293"/>
                        <a:pt x="861" y="293"/>
                      </a:cubicBezTo>
                      <a:cubicBezTo>
                        <a:pt x="857" y="297"/>
                        <a:pt x="839" y="314"/>
                        <a:pt x="832" y="338"/>
                      </a:cubicBezTo>
                      <a:cubicBezTo>
                        <a:pt x="830" y="343"/>
                        <a:pt x="829" y="348"/>
                        <a:pt x="828" y="353"/>
                      </a:cubicBezTo>
                      <a:cubicBezTo>
                        <a:pt x="828" y="353"/>
                        <a:pt x="828" y="353"/>
                        <a:pt x="828" y="353"/>
                      </a:cubicBezTo>
                      <a:cubicBezTo>
                        <a:pt x="828" y="355"/>
                        <a:pt x="828" y="358"/>
                        <a:pt x="828" y="360"/>
                      </a:cubicBezTo>
                      <a:cubicBezTo>
                        <a:pt x="828" y="360"/>
                        <a:pt x="828" y="360"/>
                        <a:pt x="828" y="360"/>
                      </a:cubicBezTo>
                      <a:cubicBezTo>
                        <a:pt x="828" y="362"/>
                        <a:pt x="828" y="364"/>
                        <a:pt x="829" y="367"/>
                      </a:cubicBezTo>
                      <a:cubicBezTo>
                        <a:pt x="829" y="368"/>
                        <a:pt x="829" y="368"/>
                        <a:pt x="829" y="368"/>
                      </a:cubicBezTo>
                      <a:cubicBezTo>
                        <a:pt x="829" y="370"/>
                        <a:pt x="829" y="371"/>
                        <a:pt x="830" y="373"/>
                      </a:cubicBezTo>
                      <a:cubicBezTo>
                        <a:pt x="830" y="375"/>
                        <a:pt x="830" y="376"/>
                        <a:pt x="831" y="377"/>
                      </a:cubicBezTo>
                      <a:cubicBezTo>
                        <a:pt x="831" y="378"/>
                        <a:pt x="831" y="379"/>
                        <a:pt x="831" y="379"/>
                      </a:cubicBezTo>
                      <a:cubicBezTo>
                        <a:pt x="832" y="380"/>
                        <a:pt x="832" y="381"/>
                        <a:pt x="832" y="382"/>
                      </a:cubicBezTo>
                      <a:cubicBezTo>
                        <a:pt x="833" y="383"/>
                        <a:pt x="833" y="384"/>
                        <a:pt x="834" y="385"/>
                      </a:cubicBezTo>
                      <a:cubicBezTo>
                        <a:pt x="834" y="385"/>
                        <a:pt x="834" y="385"/>
                        <a:pt x="834" y="386"/>
                      </a:cubicBezTo>
                      <a:cubicBezTo>
                        <a:pt x="835" y="388"/>
                        <a:pt x="836" y="390"/>
                        <a:pt x="837" y="392"/>
                      </a:cubicBezTo>
                      <a:cubicBezTo>
                        <a:pt x="838" y="393"/>
                        <a:pt x="838" y="393"/>
                        <a:pt x="838" y="393"/>
                      </a:cubicBezTo>
                      <a:cubicBezTo>
                        <a:pt x="839" y="395"/>
                        <a:pt x="840" y="396"/>
                        <a:pt x="841" y="398"/>
                      </a:cubicBezTo>
                      <a:cubicBezTo>
                        <a:pt x="842" y="399"/>
                        <a:pt x="842" y="400"/>
                        <a:pt x="843" y="401"/>
                      </a:cubicBezTo>
                      <a:cubicBezTo>
                        <a:pt x="844" y="401"/>
                        <a:pt x="844" y="402"/>
                        <a:pt x="845" y="403"/>
                      </a:cubicBezTo>
                      <a:cubicBezTo>
                        <a:pt x="846" y="405"/>
                        <a:pt x="848" y="406"/>
                        <a:pt x="849" y="408"/>
                      </a:cubicBezTo>
                      <a:cubicBezTo>
                        <a:pt x="850" y="408"/>
                        <a:pt x="850" y="409"/>
                        <a:pt x="851" y="409"/>
                      </a:cubicBezTo>
                      <a:cubicBezTo>
                        <a:pt x="853" y="411"/>
                        <a:pt x="854" y="413"/>
                        <a:pt x="856" y="414"/>
                      </a:cubicBezTo>
                      <a:cubicBezTo>
                        <a:pt x="857" y="414"/>
                        <a:pt x="857" y="414"/>
                        <a:pt x="857" y="414"/>
                      </a:cubicBezTo>
                      <a:cubicBezTo>
                        <a:pt x="857" y="415"/>
                        <a:pt x="857" y="415"/>
                        <a:pt x="857" y="415"/>
                      </a:cubicBezTo>
                      <a:cubicBezTo>
                        <a:pt x="863" y="420"/>
                        <a:pt x="949" y="495"/>
                        <a:pt x="1046" y="607"/>
                      </a:cubicBezTo>
                      <a:cubicBezTo>
                        <a:pt x="1166" y="747"/>
                        <a:pt x="1304" y="943"/>
                        <a:pt x="1327" y="1133"/>
                      </a:cubicBezTo>
                      <a:cubicBezTo>
                        <a:pt x="1328" y="1138"/>
                        <a:pt x="1328" y="1142"/>
                        <a:pt x="1329" y="1147"/>
                      </a:cubicBezTo>
                      <a:cubicBezTo>
                        <a:pt x="1329" y="1152"/>
                        <a:pt x="1330" y="1156"/>
                        <a:pt x="1330" y="1161"/>
                      </a:cubicBezTo>
                      <a:cubicBezTo>
                        <a:pt x="1330" y="1163"/>
                        <a:pt x="1330" y="1165"/>
                        <a:pt x="1330" y="1167"/>
                      </a:cubicBezTo>
                      <a:cubicBezTo>
                        <a:pt x="1331" y="1169"/>
                        <a:pt x="1331" y="1172"/>
                        <a:pt x="1331" y="1175"/>
                      </a:cubicBezTo>
                      <a:cubicBezTo>
                        <a:pt x="1331" y="1180"/>
                        <a:pt x="1331" y="1185"/>
                        <a:pt x="1331" y="1190"/>
                      </a:cubicBezTo>
                      <a:cubicBezTo>
                        <a:pt x="1331" y="1191"/>
                        <a:pt x="1331" y="1191"/>
                        <a:pt x="1331" y="1191"/>
                      </a:cubicBezTo>
                      <a:cubicBezTo>
                        <a:pt x="1331" y="1192"/>
                        <a:pt x="1331" y="1192"/>
                        <a:pt x="1331" y="1192"/>
                      </a:cubicBezTo>
                      <a:cubicBezTo>
                        <a:pt x="1332" y="1202"/>
                        <a:pt x="1335" y="1309"/>
                        <a:pt x="1268" y="139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grpSp>
      </p:grpSp>
      <p:cxnSp>
        <p:nvCxnSpPr>
          <p:cNvPr id="16" name="Straight Connector 15"/>
          <p:cNvCxnSpPr/>
          <p:nvPr/>
        </p:nvCxnSpPr>
        <p:spPr>
          <a:xfrm>
            <a:off x="1506198" y="2022857"/>
            <a:ext cx="0" cy="4060940"/>
          </a:xfrm>
          <a:prstGeom prst="line">
            <a:avLst/>
          </a:prstGeom>
          <a:ln w="28575" cap="rnd" cmpd="sng" algn="ctr">
            <a:solidFill>
              <a:srgbClr val="29BA74"/>
            </a:solidFill>
            <a:prstDash val="solid"/>
            <a:round/>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1506198" y="4053327"/>
            <a:ext cx="168852" cy="0"/>
          </a:xfrm>
          <a:prstGeom prst="line">
            <a:avLst/>
          </a:prstGeom>
          <a:ln w="9525" cap="rnd" cmpd="sng" algn="ctr">
            <a:solidFill>
              <a:srgbClr val="29BA74"/>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56" name="Group 55">
            <a:extLst>
              <a:ext uri="{FF2B5EF4-FFF2-40B4-BE49-F238E27FC236}">
                <a16:creationId xmlns:a16="http://schemas.microsoft.com/office/drawing/2014/main" id="{9F3D5B15-44D5-4112-B07F-F103FE1DB0D5}"/>
              </a:ext>
            </a:extLst>
          </p:cNvPr>
          <p:cNvGrpSpPr/>
          <p:nvPr/>
        </p:nvGrpSpPr>
        <p:grpSpPr>
          <a:xfrm>
            <a:off x="4927126" y="2021263"/>
            <a:ext cx="1351499" cy="1744546"/>
            <a:chOff x="1836152" y="4085166"/>
            <a:chExt cx="1512632" cy="1952537"/>
          </a:xfrm>
        </p:grpSpPr>
        <p:pic>
          <p:nvPicPr>
            <p:cNvPr id="57" name="Picture 56">
              <a:extLst>
                <a:ext uri="{FF2B5EF4-FFF2-40B4-BE49-F238E27FC236}">
                  <a16:creationId xmlns:a16="http://schemas.microsoft.com/office/drawing/2014/main" id="{EF6E9F72-1ADC-4D18-A8FC-44FCDD180DB8}"/>
                </a:ext>
              </a:extLst>
            </p:cNvPr>
            <p:cNvPicPr>
              <a:picLocks noChangeAspect="1"/>
            </p:cNvPicPr>
            <p:nvPr/>
          </p:nvPicPr>
          <p:blipFill>
            <a:blip r:embed="rId7">
              <a:extLst>
                <a:ext uri="{28A0092B-C50C-407E-A947-70E740481C1C}">
                  <a14:useLocalDpi xmlns:a14="http://schemas.microsoft.com/office/drawing/2010/main" val="0"/>
                </a:ext>
              </a:extLst>
            </a:blip>
            <a:srcRect/>
            <a:stretch/>
          </p:blipFill>
          <p:spPr>
            <a:xfrm>
              <a:off x="1836152" y="4085166"/>
              <a:ext cx="1512632" cy="535723"/>
            </a:xfrm>
            <a:prstGeom prst="rect">
              <a:avLst/>
            </a:prstGeom>
          </p:spPr>
        </p:pic>
        <p:sp>
          <p:nvSpPr>
            <p:cNvPr id="58" name="Rectangle 57">
              <a:extLst>
                <a:ext uri="{FF2B5EF4-FFF2-40B4-BE49-F238E27FC236}">
                  <a16:creationId xmlns:a16="http://schemas.microsoft.com/office/drawing/2014/main" id="{17C95423-FAAF-4578-82C3-91A96855DFF2}"/>
                </a:ext>
              </a:extLst>
            </p:cNvPr>
            <p:cNvSpPr/>
            <p:nvPr/>
          </p:nvSpPr>
          <p:spPr>
            <a:xfrm>
              <a:off x="1951719" y="4561028"/>
              <a:ext cx="1357345" cy="1476675"/>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9A9A9A"/>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1700" tIns="40850" rIns="81700" bIns="40850" numCol="1" spcCol="0" rtlCol="0" fromWordArt="0" anchor="t" anchorCtr="0" forceAA="0" compatLnSpc="1">
              <a:prstTxWarp prst="textNoShape">
                <a:avLst/>
              </a:prstTxWarp>
              <a:spAutoFit/>
            </a:bodyPr>
            <a:lstStyle/>
            <a:p>
              <a:pPr algn="ctr"/>
              <a:r>
                <a:rPr lang="en-US" sz="1073">
                  <a:solidFill>
                    <a:srgbClr val="575757"/>
                  </a:solidFill>
                </a:rPr>
                <a:t>Overnight account</a:t>
              </a:r>
            </a:p>
            <a:p>
              <a:pPr algn="ctr"/>
              <a:endParaRPr lang="en-US" sz="1073">
                <a:solidFill>
                  <a:srgbClr val="575757"/>
                </a:solidFill>
              </a:endParaRPr>
            </a:p>
            <a:p>
              <a:pPr algn="ctr"/>
              <a:r>
                <a:rPr lang="en-US" sz="1073" i="1">
                  <a:solidFill>
                    <a:srgbClr val="29BA74"/>
                  </a:solidFill>
                </a:rPr>
                <a:t>"Rich interest rates for everyone"</a:t>
              </a:r>
            </a:p>
            <a:p>
              <a:pPr algn="ctr"/>
              <a:endParaRPr lang="en-US" sz="1600">
                <a:solidFill>
                  <a:srgbClr val="575757"/>
                </a:solidFill>
              </a:endParaRPr>
            </a:p>
          </p:txBody>
        </p:sp>
      </p:grpSp>
      <p:grpSp>
        <p:nvGrpSpPr>
          <p:cNvPr id="60" name="Group 59">
            <a:extLst>
              <a:ext uri="{FF2B5EF4-FFF2-40B4-BE49-F238E27FC236}">
                <a16:creationId xmlns:a16="http://schemas.microsoft.com/office/drawing/2014/main" id="{C10EA750-00DA-421A-9BDA-6FB3983A6A5F}"/>
              </a:ext>
            </a:extLst>
          </p:cNvPr>
          <p:cNvGrpSpPr/>
          <p:nvPr/>
        </p:nvGrpSpPr>
        <p:grpSpPr>
          <a:xfrm>
            <a:off x="6722984" y="2021264"/>
            <a:ext cx="1351499" cy="1712058"/>
            <a:chOff x="1836152" y="4085167"/>
            <a:chExt cx="1512633" cy="1916174"/>
          </a:xfrm>
        </p:grpSpPr>
        <p:pic>
          <p:nvPicPr>
            <p:cNvPr id="61" name="Picture 60">
              <a:extLst>
                <a:ext uri="{FF2B5EF4-FFF2-40B4-BE49-F238E27FC236}">
                  <a16:creationId xmlns:a16="http://schemas.microsoft.com/office/drawing/2014/main" id="{A1ACDA04-C7FE-45B6-A331-907203C3D782}"/>
                </a:ext>
              </a:extLst>
            </p:cNvPr>
            <p:cNvPicPr>
              <a:picLocks noChangeAspect="1"/>
            </p:cNvPicPr>
            <p:nvPr/>
          </p:nvPicPr>
          <p:blipFill>
            <a:blip r:embed="rId7">
              <a:extLst>
                <a:ext uri="{28A0092B-C50C-407E-A947-70E740481C1C}">
                  <a14:useLocalDpi xmlns:a14="http://schemas.microsoft.com/office/drawing/2010/main" val="0"/>
                </a:ext>
              </a:extLst>
            </a:blip>
            <a:srcRect/>
            <a:stretch/>
          </p:blipFill>
          <p:spPr>
            <a:xfrm>
              <a:off x="1836152" y="4085167"/>
              <a:ext cx="1512633" cy="535723"/>
            </a:xfrm>
            <a:prstGeom prst="rect">
              <a:avLst/>
            </a:prstGeom>
          </p:spPr>
        </p:pic>
        <p:sp>
          <p:nvSpPr>
            <p:cNvPr id="62" name="Rectangle 61">
              <a:extLst>
                <a:ext uri="{FF2B5EF4-FFF2-40B4-BE49-F238E27FC236}">
                  <a16:creationId xmlns:a16="http://schemas.microsoft.com/office/drawing/2014/main" id="{A29AEF49-445C-4E2E-BB86-E1C160635216}"/>
                </a:ext>
              </a:extLst>
            </p:cNvPr>
            <p:cNvSpPr/>
            <p:nvPr/>
          </p:nvSpPr>
          <p:spPr>
            <a:xfrm>
              <a:off x="1924568" y="4709460"/>
              <a:ext cx="1357345" cy="1291881"/>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9A9A9A"/>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1700" tIns="40850" rIns="81700" bIns="40850" numCol="1" spcCol="0" rtlCol="0" fromWordArt="0" anchor="t" anchorCtr="0" forceAA="0" compatLnSpc="1">
              <a:prstTxWarp prst="textNoShape">
                <a:avLst/>
              </a:prstTxWarp>
              <a:spAutoFit/>
            </a:bodyPr>
            <a:lstStyle/>
            <a:p>
              <a:pPr algn="ctr"/>
              <a:r>
                <a:rPr lang="en-US" sz="1073">
                  <a:solidFill>
                    <a:srgbClr val="575757"/>
                  </a:solidFill>
                </a:rPr>
                <a:t>Commission free banking</a:t>
              </a:r>
            </a:p>
            <a:p>
              <a:pPr algn="ctr"/>
              <a:endParaRPr lang="en-US" sz="1073">
                <a:solidFill>
                  <a:srgbClr val="575757"/>
                </a:solidFill>
              </a:endParaRPr>
            </a:p>
            <a:p>
              <a:pPr algn="ctr"/>
              <a:r>
                <a:rPr lang="en-US" sz="1073" i="1">
                  <a:solidFill>
                    <a:srgbClr val="29BA74"/>
                  </a:solidFill>
                </a:rPr>
                <a:t>"No branch no fee"</a:t>
              </a:r>
            </a:p>
            <a:p>
              <a:pPr algn="ctr"/>
              <a:endParaRPr lang="en-US" sz="1600">
                <a:solidFill>
                  <a:srgbClr val="575757"/>
                </a:solidFill>
              </a:endParaRPr>
            </a:p>
          </p:txBody>
        </p:sp>
      </p:grpSp>
      <p:grpSp>
        <p:nvGrpSpPr>
          <p:cNvPr id="63" name="Group 62">
            <a:extLst>
              <a:ext uri="{FF2B5EF4-FFF2-40B4-BE49-F238E27FC236}">
                <a16:creationId xmlns:a16="http://schemas.microsoft.com/office/drawing/2014/main" id="{3059AFF8-829C-4079-A3F0-2F4E9248E074}"/>
              </a:ext>
            </a:extLst>
          </p:cNvPr>
          <p:cNvGrpSpPr/>
          <p:nvPr/>
        </p:nvGrpSpPr>
        <p:grpSpPr>
          <a:xfrm>
            <a:off x="6691610" y="4079657"/>
            <a:ext cx="1321845" cy="1818438"/>
            <a:chOff x="4032073" y="4373533"/>
            <a:chExt cx="1479443" cy="2035240"/>
          </a:xfrm>
        </p:grpSpPr>
        <p:pic>
          <p:nvPicPr>
            <p:cNvPr id="65" name="Picture 3" descr="isyan azalma Kosciuszko kuveyt türk senin bankan makas aralığı -  parkespistolclub.org">
              <a:extLst>
                <a:ext uri="{FF2B5EF4-FFF2-40B4-BE49-F238E27FC236}">
                  <a16:creationId xmlns:a16="http://schemas.microsoft.com/office/drawing/2014/main" id="{C5FD314C-39F5-47C5-B7A6-2E9BFBAFBBF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108844" y="4373533"/>
              <a:ext cx="1325898" cy="525919"/>
            </a:xfrm>
            <a:prstGeom prst="rect">
              <a:avLst/>
            </a:prstGeom>
            <a:noFill/>
            <a:extLst>
              <a:ext uri="{909E8E84-426E-40DD-AFC4-6F175D3DCCD1}">
                <a14:hiddenFill xmlns:a14="http://schemas.microsoft.com/office/drawing/2010/main">
                  <a:solidFill>
                    <a:srgbClr val="FFFFFF"/>
                  </a:solidFill>
                </a14:hiddenFill>
              </a:ext>
            </a:extLst>
          </p:spPr>
        </p:pic>
        <p:sp>
          <p:nvSpPr>
            <p:cNvPr id="66" name="Rectangle 65">
              <a:extLst>
                <a:ext uri="{FF2B5EF4-FFF2-40B4-BE49-F238E27FC236}">
                  <a16:creationId xmlns:a16="http://schemas.microsoft.com/office/drawing/2014/main" id="{922084E2-F549-45C5-B55D-C2AE9D8F1361}"/>
                </a:ext>
              </a:extLst>
            </p:cNvPr>
            <p:cNvSpPr/>
            <p:nvPr/>
          </p:nvSpPr>
          <p:spPr>
            <a:xfrm>
              <a:off x="4032073" y="4932097"/>
              <a:ext cx="1479443" cy="1476676"/>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9A9A9A"/>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1700" tIns="40850" rIns="81700" bIns="40850" numCol="1" spcCol="0" rtlCol="0" fromWordArt="0" anchor="t" anchorCtr="0" forceAA="0" compatLnSpc="1">
              <a:prstTxWarp prst="textNoShape">
                <a:avLst/>
              </a:prstTxWarp>
              <a:spAutoFit/>
            </a:bodyPr>
            <a:lstStyle/>
            <a:p>
              <a:pPr algn="ctr"/>
              <a:r>
                <a:rPr lang="en-US" sz="1073">
                  <a:solidFill>
                    <a:srgbClr val="575757"/>
                  </a:solidFill>
                </a:rPr>
                <a:t>Easy, simple, digital banking</a:t>
              </a:r>
            </a:p>
            <a:p>
              <a:pPr algn="ctr"/>
              <a:endParaRPr lang="en-US" sz="1073">
                <a:solidFill>
                  <a:srgbClr val="575757"/>
                </a:solidFill>
              </a:endParaRPr>
            </a:p>
            <a:p>
              <a:pPr algn="ctr"/>
              <a:r>
                <a:rPr lang="en-US" sz="1073" i="1">
                  <a:solidFill>
                    <a:srgbClr val="29BA74"/>
                  </a:solidFill>
                </a:rPr>
                <a:t>Value Proposition:</a:t>
              </a:r>
            </a:p>
            <a:p>
              <a:pPr algn="ctr"/>
              <a:r>
                <a:rPr lang="en-US" sz="1073" i="1">
                  <a:solidFill>
                    <a:srgbClr val="29BA74"/>
                  </a:solidFill>
                </a:rPr>
                <a:t>"for everyone's interest"</a:t>
              </a:r>
            </a:p>
            <a:p>
              <a:pPr algn="ctr"/>
              <a:endParaRPr lang="en-US" sz="1600">
                <a:solidFill>
                  <a:srgbClr val="575757"/>
                </a:solidFill>
              </a:endParaRPr>
            </a:p>
          </p:txBody>
        </p:sp>
      </p:grpSp>
      <p:grpSp>
        <p:nvGrpSpPr>
          <p:cNvPr id="67" name="Group 66">
            <a:extLst>
              <a:ext uri="{FF2B5EF4-FFF2-40B4-BE49-F238E27FC236}">
                <a16:creationId xmlns:a16="http://schemas.microsoft.com/office/drawing/2014/main" id="{FD81E4E1-2CD8-4723-86D0-607691A4EBC1}"/>
              </a:ext>
            </a:extLst>
          </p:cNvPr>
          <p:cNvGrpSpPr/>
          <p:nvPr/>
        </p:nvGrpSpPr>
        <p:grpSpPr>
          <a:xfrm>
            <a:off x="8018136" y="2970890"/>
            <a:ext cx="1383357" cy="2001840"/>
            <a:chOff x="275369" y="4238542"/>
            <a:chExt cx="1548287" cy="2240505"/>
          </a:xfrm>
        </p:grpSpPr>
        <p:pic>
          <p:nvPicPr>
            <p:cNvPr id="68" name="Picture 67">
              <a:extLst>
                <a:ext uri="{FF2B5EF4-FFF2-40B4-BE49-F238E27FC236}">
                  <a16:creationId xmlns:a16="http://schemas.microsoft.com/office/drawing/2014/main" id="{7333E3A0-F2ED-4710-877E-2036670485FC}"/>
                </a:ext>
              </a:extLst>
            </p:cNvPr>
            <p:cNvPicPr>
              <a:picLocks noChangeAspect="1"/>
            </p:cNvPicPr>
            <p:nvPr/>
          </p:nvPicPr>
          <p:blipFill rotWithShape="1">
            <a:blip r:embed="rId9">
              <a:extLst>
                <a:ext uri="{28A0092B-C50C-407E-A947-70E740481C1C}">
                  <a14:useLocalDpi xmlns:a14="http://schemas.microsoft.com/office/drawing/2010/main" val="0"/>
                </a:ext>
              </a:extLst>
            </a:blip>
            <a:srcRect l="-759" r="-1549"/>
            <a:stretch/>
          </p:blipFill>
          <p:spPr>
            <a:xfrm>
              <a:off x="467568" y="4238542"/>
              <a:ext cx="1163888" cy="403293"/>
            </a:xfrm>
            <a:prstGeom prst="rect">
              <a:avLst/>
            </a:prstGeom>
          </p:spPr>
        </p:pic>
        <p:sp>
          <p:nvSpPr>
            <p:cNvPr id="69" name="Rectangle 68">
              <a:extLst>
                <a:ext uri="{FF2B5EF4-FFF2-40B4-BE49-F238E27FC236}">
                  <a16:creationId xmlns:a16="http://schemas.microsoft.com/office/drawing/2014/main" id="{E95CAB09-2DCB-4036-BCD6-0ECE1785DC08}"/>
                </a:ext>
              </a:extLst>
            </p:cNvPr>
            <p:cNvSpPr/>
            <p:nvPr/>
          </p:nvSpPr>
          <p:spPr>
            <a:xfrm>
              <a:off x="275369" y="4723564"/>
              <a:ext cx="1548287" cy="1755483"/>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9A9A9A"/>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1700" tIns="40850" rIns="81700" bIns="40850" numCol="1" spcCol="0" rtlCol="0" fromWordArt="0" anchor="t" anchorCtr="0" forceAA="0" compatLnSpc="1">
              <a:prstTxWarp prst="textNoShape">
                <a:avLst/>
              </a:prstTxWarp>
              <a:spAutoFit/>
            </a:bodyPr>
            <a:lstStyle/>
            <a:p>
              <a:pPr algn="ctr"/>
              <a:r>
                <a:rPr lang="en-US" sz="1073">
                  <a:solidFill>
                    <a:srgbClr val="575757"/>
                  </a:solidFill>
                </a:rPr>
                <a:t>Lifestyle services (transportation, food discounts, Fast-track, international withdrawals) </a:t>
              </a:r>
            </a:p>
            <a:p>
              <a:pPr algn="ctr"/>
              <a:endParaRPr lang="en-US" sz="1073">
                <a:solidFill>
                  <a:srgbClr val="575757"/>
                </a:solidFill>
              </a:endParaRPr>
            </a:p>
            <a:p>
              <a:pPr algn="ctr"/>
              <a:r>
                <a:rPr lang="en-US" sz="1073" i="1">
                  <a:solidFill>
                    <a:srgbClr val="29BA74"/>
                  </a:solidFill>
                </a:rPr>
                <a:t>Value Proposition:</a:t>
              </a:r>
            </a:p>
            <a:p>
              <a:pPr algn="ctr"/>
              <a:r>
                <a:rPr lang="en-US" sz="1073" i="1">
                  <a:solidFill>
                    <a:srgbClr val="29BA74"/>
                  </a:solidFill>
                </a:rPr>
                <a:t>"my bank"</a:t>
              </a:r>
              <a:endParaRPr lang="en-US" sz="1073" i="1">
                <a:solidFill>
                  <a:srgbClr val="575757"/>
                </a:solidFill>
              </a:endParaRPr>
            </a:p>
          </p:txBody>
        </p:sp>
      </p:grpSp>
      <p:grpSp>
        <p:nvGrpSpPr>
          <p:cNvPr id="70" name="Group 69">
            <a:extLst>
              <a:ext uri="{FF2B5EF4-FFF2-40B4-BE49-F238E27FC236}">
                <a16:creationId xmlns:a16="http://schemas.microsoft.com/office/drawing/2014/main" id="{E5957CEC-AC83-436E-873B-2BEA63FB6B62}"/>
              </a:ext>
            </a:extLst>
          </p:cNvPr>
          <p:cNvGrpSpPr/>
          <p:nvPr/>
        </p:nvGrpSpPr>
        <p:grpSpPr>
          <a:xfrm>
            <a:off x="5025701" y="3547550"/>
            <a:ext cx="1164235" cy="1173934"/>
            <a:chOff x="5663831" y="1394116"/>
            <a:chExt cx="1303042" cy="1313894"/>
          </a:xfrm>
        </p:grpSpPr>
        <p:pic>
          <p:nvPicPr>
            <p:cNvPr id="71" name="Picture 2">
              <a:extLst>
                <a:ext uri="{FF2B5EF4-FFF2-40B4-BE49-F238E27FC236}">
                  <a16:creationId xmlns:a16="http://schemas.microsoft.com/office/drawing/2014/main" id="{E200FC10-7E21-48A2-9A4A-FB6A0DE43844}"/>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p:blipFill>
          <p:spPr bwMode="auto">
            <a:xfrm>
              <a:off x="5688811" y="1394116"/>
              <a:ext cx="1253082" cy="417693"/>
            </a:xfrm>
            <a:prstGeom prst="rect">
              <a:avLst/>
            </a:prstGeom>
            <a:noFill/>
            <a:extLst>
              <a:ext uri="{909E8E84-426E-40DD-AFC4-6F175D3DCCD1}">
                <a14:hiddenFill xmlns:a14="http://schemas.microsoft.com/office/drawing/2010/main">
                  <a:solidFill>
                    <a:srgbClr val="FFFFFF"/>
                  </a:solidFill>
                </a14:hiddenFill>
              </a:ext>
            </a:extLst>
          </p:spPr>
        </p:pic>
        <p:sp>
          <p:nvSpPr>
            <p:cNvPr id="72" name="Rectangle 71">
              <a:extLst>
                <a:ext uri="{FF2B5EF4-FFF2-40B4-BE49-F238E27FC236}">
                  <a16:creationId xmlns:a16="http://schemas.microsoft.com/office/drawing/2014/main" id="{44BEEE91-EABE-4A4A-9CE0-7C7CA961C65C}"/>
                </a:ext>
              </a:extLst>
            </p:cNvPr>
            <p:cNvSpPr/>
            <p:nvPr/>
          </p:nvSpPr>
          <p:spPr>
            <a:xfrm>
              <a:off x="5663831" y="1876500"/>
              <a:ext cx="1303042" cy="831510"/>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9A9A9A"/>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1700" tIns="40850" rIns="81700" bIns="40850" numCol="1" spcCol="0" rtlCol="0" fromWordArt="0" anchor="t" anchorCtr="0" forceAA="0" compatLnSpc="1">
              <a:prstTxWarp prst="textNoShape">
                <a:avLst/>
              </a:prstTxWarp>
              <a:spAutoFit/>
            </a:bodyPr>
            <a:lstStyle/>
            <a:p>
              <a:pPr algn="ctr"/>
              <a:r>
                <a:rPr lang="en-US" sz="1073">
                  <a:solidFill>
                    <a:srgbClr val="575757"/>
                  </a:solidFill>
                </a:rPr>
                <a:t>High yield bond</a:t>
              </a:r>
            </a:p>
            <a:p>
              <a:pPr algn="ctr"/>
              <a:endParaRPr lang="en-US" sz="1073">
                <a:solidFill>
                  <a:srgbClr val="575757"/>
                </a:solidFill>
              </a:endParaRPr>
            </a:p>
            <a:p>
              <a:pPr algn="ctr"/>
              <a:r>
                <a:rPr lang="en-US" sz="1073" i="1">
                  <a:solidFill>
                    <a:srgbClr val="29BA74"/>
                  </a:solidFill>
                </a:rPr>
                <a:t>"Ever asked for bon</a:t>
              </a:r>
              <a:r>
                <a:rPr lang="tr-TR" sz="1073" i="1">
                  <a:solidFill>
                    <a:srgbClr val="29BA74"/>
                  </a:solidFill>
                </a:rPr>
                <a:t>d</a:t>
              </a:r>
              <a:r>
                <a:rPr lang="en-US" sz="1073" i="1">
                  <a:solidFill>
                    <a:srgbClr val="29BA74"/>
                  </a:solidFill>
                </a:rPr>
                <a:t>"</a:t>
              </a:r>
            </a:p>
          </p:txBody>
        </p:sp>
      </p:grpSp>
      <p:grpSp>
        <p:nvGrpSpPr>
          <p:cNvPr id="74" name="Group 73">
            <a:extLst>
              <a:ext uri="{FF2B5EF4-FFF2-40B4-BE49-F238E27FC236}">
                <a16:creationId xmlns:a16="http://schemas.microsoft.com/office/drawing/2014/main" id="{344F080C-AB61-4018-8B94-6F8D65ED4F6F}"/>
              </a:ext>
            </a:extLst>
          </p:cNvPr>
          <p:cNvGrpSpPr/>
          <p:nvPr/>
        </p:nvGrpSpPr>
        <p:grpSpPr>
          <a:xfrm>
            <a:off x="1932623" y="2196465"/>
            <a:ext cx="1128925" cy="2048302"/>
            <a:chOff x="7865654" y="2411260"/>
            <a:chExt cx="1128925" cy="2048302"/>
          </a:xfrm>
        </p:grpSpPr>
        <p:pic>
          <p:nvPicPr>
            <p:cNvPr id="77" name="Picture 76" descr="Icon&#10;&#10;Description automatically generated">
              <a:extLst>
                <a:ext uri="{FF2B5EF4-FFF2-40B4-BE49-F238E27FC236}">
                  <a16:creationId xmlns:a16="http://schemas.microsoft.com/office/drawing/2014/main" id="{AA4D8DBD-7FED-4417-B066-AA09D8E96D07}"/>
                </a:ext>
              </a:extLst>
            </p:cNvPr>
            <p:cNvPicPr>
              <a:picLocks noChangeAspect="1"/>
            </p:cNvPicPr>
            <p:nvPr/>
          </p:nvPicPr>
          <p:blipFill>
            <a:blip r:embed="rId11"/>
            <a:stretch>
              <a:fillRect/>
            </a:stretch>
          </p:blipFill>
          <p:spPr>
            <a:xfrm>
              <a:off x="7962114" y="2411260"/>
              <a:ext cx="936004" cy="312002"/>
            </a:xfrm>
            <a:prstGeom prst="rect">
              <a:avLst/>
            </a:prstGeom>
          </p:spPr>
        </p:pic>
        <p:sp>
          <p:nvSpPr>
            <p:cNvPr id="78" name="Rectangle 77">
              <a:extLst>
                <a:ext uri="{FF2B5EF4-FFF2-40B4-BE49-F238E27FC236}">
                  <a16:creationId xmlns:a16="http://schemas.microsoft.com/office/drawing/2014/main" id="{59608CE1-A5C1-4F08-B23C-83B449EED54F}"/>
                </a:ext>
              </a:extLst>
            </p:cNvPr>
            <p:cNvSpPr/>
            <p:nvPr/>
          </p:nvSpPr>
          <p:spPr>
            <a:xfrm>
              <a:off x="7865654" y="2812853"/>
              <a:ext cx="1128925" cy="1646709"/>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9A9A9A"/>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1700" tIns="40850" rIns="81700" bIns="40850" numCol="1" spcCol="0" rtlCol="0" fromWordArt="0" anchor="t" anchorCtr="0" forceAA="0" compatLnSpc="1">
              <a:prstTxWarp prst="textNoShape">
                <a:avLst/>
              </a:prstTxWarp>
              <a:spAutoFit/>
            </a:bodyPr>
            <a:lstStyle/>
            <a:p>
              <a:pPr algn="ctr"/>
              <a:r>
                <a:rPr lang="en-US" sz="1073">
                  <a:solidFill>
                    <a:srgbClr val="575757"/>
                  </a:solidFill>
                </a:rPr>
                <a:t>Low interest GPL</a:t>
              </a:r>
              <a:r>
                <a:rPr lang="en-US" sz="1073" baseline="30000">
                  <a:solidFill>
                    <a:srgbClr val="575757"/>
                  </a:solidFill>
                </a:rPr>
                <a:t>1</a:t>
              </a:r>
              <a:r>
                <a:rPr lang="en-US" sz="1073">
                  <a:solidFill>
                    <a:srgbClr val="575757"/>
                  </a:solidFill>
                </a:rPr>
                <a:t> </a:t>
              </a:r>
            </a:p>
            <a:p>
              <a:pPr algn="ctr"/>
              <a:endParaRPr lang="en-US" sz="1600">
                <a:solidFill>
                  <a:srgbClr val="575757"/>
                </a:solidFill>
              </a:endParaRPr>
            </a:p>
            <a:p>
              <a:pPr algn="ctr"/>
              <a:r>
                <a:rPr lang="en-US" sz="1073" i="1">
                  <a:solidFill>
                    <a:srgbClr val="29BA74"/>
                  </a:solidFill>
                </a:rPr>
                <a:t>"For those who is not satisfied with 9"</a:t>
              </a:r>
            </a:p>
            <a:p>
              <a:pPr algn="ctr"/>
              <a:endParaRPr lang="en-US" sz="1600">
                <a:solidFill>
                  <a:srgbClr val="575757"/>
                </a:solidFill>
              </a:endParaRPr>
            </a:p>
            <a:p>
              <a:pPr algn="ctr"/>
              <a:endParaRPr lang="en-US" sz="1600">
                <a:solidFill>
                  <a:srgbClr val="575757"/>
                </a:solidFill>
              </a:endParaRPr>
            </a:p>
          </p:txBody>
        </p:sp>
      </p:grpSp>
      <p:grpSp>
        <p:nvGrpSpPr>
          <p:cNvPr id="86" name="Group 85">
            <a:extLst>
              <a:ext uri="{FF2B5EF4-FFF2-40B4-BE49-F238E27FC236}">
                <a16:creationId xmlns:a16="http://schemas.microsoft.com/office/drawing/2014/main" id="{F8488FCB-8023-42A6-953A-83322CBD0639}"/>
              </a:ext>
            </a:extLst>
          </p:cNvPr>
          <p:cNvGrpSpPr/>
          <p:nvPr/>
        </p:nvGrpSpPr>
        <p:grpSpPr>
          <a:xfrm>
            <a:off x="5030382" y="4599692"/>
            <a:ext cx="1164235" cy="1454196"/>
            <a:chOff x="5663831" y="1265235"/>
            <a:chExt cx="1303042" cy="1627570"/>
          </a:xfrm>
        </p:grpSpPr>
        <p:pic>
          <p:nvPicPr>
            <p:cNvPr id="87" name="Picture 2">
              <a:extLst>
                <a:ext uri="{FF2B5EF4-FFF2-40B4-BE49-F238E27FC236}">
                  <a16:creationId xmlns:a16="http://schemas.microsoft.com/office/drawing/2014/main" id="{E2DDE784-F437-4854-9CEB-A0EFD7B2AE2A}"/>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p:blipFill>
          <p:spPr bwMode="auto">
            <a:xfrm>
              <a:off x="5788771" y="1265235"/>
              <a:ext cx="1075183" cy="761055"/>
            </a:xfrm>
            <a:prstGeom prst="rect">
              <a:avLst/>
            </a:prstGeom>
            <a:noFill/>
            <a:extLst>
              <a:ext uri="{909E8E84-426E-40DD-AFC4-6F175D3DCCD1}">
                <a14:hiddenFill xmlns:a14="http://schemas.microsoft.com/office/drawing/2010/main">
                  <a:solidFill>
                    <a:srgbClr val="FFFFFF"/>
                  </a:solidFill>
                </a14:hiddenFill>
              </a:ext>
            </a:extLst>
          </p:spPr>
        </p:pic>
        <p:sp>
          <p:nvSpPr>
            <p:cNvPr id="88" name="Rectangle 87">
              <a:extLst>
                <a:ext uri="{FF2B5EF4-FFF2-40B4-BE49-F238E27FC236}">
                  <a16:creationId xmlns:a16="http://schemas.microsoft.com/office/drawing/2014/main" id="{E5AF96A8-7187-4FA1-BB7E-0783C2A77353}"/>
                </a:ext>
              </a:extLst>
            </p:cNvPr>
            <p:cNvSpPr/>
            <p:nvPr/>
          </p:nvSpPr>
          <p:spPr>
            <a:xfrm>
              <a:off x="5663831" y="1876500"/>
              <a:ext cx="1303042" cy="1016305"/>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9A9A9A"/>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1700" tIns="40850" rIns="81700" bIns="40850" numCol="1" spcCol="0" rtlCol="0" fromWordArt="0" anchor="t" anchorCtr="0" forceAA="0" compatLnSpc="1">
              <a:prstTxWarp prst="textNoShape">
                <a:avLst/>
              </a:prstTxWarp>
              <a:spAutoFit/>
            </a:bodyPr>
            <a:lstStyle/>
            <a:p>
              <a:pPr algn="ctr"/>
              <a:r>
                <a:rPr lang="en-US" sz="1073">
                  <a:solidFill>
                    <a:srgbClr val="575757"/>
                  </a:solidFill>
                </a:rPr>
                <a:t>Constant welcome rate</a:t>
              </a:r>
            </a:p>
            <a:p>
              <a:pPr algn="ctr"/>
              <a:endParaRPr lang="en-US" sz="1073">
                <a:solidFill>
                  <a:srgbClr val="575757"/>
                </a:solidFill>
              </a:endParaRPr>
            </a:p>
            <a:p>
              <a:pPr algn="ctr"/>
              <a:r>
                <a:rPr lang="en-US" sz="1073" i="1">
                  <a:solidFill>
                    <a:srgbClr val="29BA74"/>
                  </a:solidFill>
                </a:rPr>
                <a:t>"</a:t>
              </a:r>
              <a:r>
                <a:rPr lang="en-US" sz="1073" i="1" err="1">
                  <a:solidFill>
                    <a:srgbClr val="29BA74"/>
                  </a:solidFill>
                </a:rPr>
                <a:t>Vov</a:t>
              </a:r>
              <a:r>
                <a:rPr lang="en-US" sz="1073" i="1">
                  <a:solidFill>
                    <a:srgbClr val="29BA74"/>
                  </a:solidFill>
                </a:rPr>
                <a:t> and earn with </a:t>
              </a:r>
              <a:r>
                <a:rPr lang="en-US" sz="1073" i="1" err="1">
                  <a:solidFill>
                    <a:srgbClr val="29BA74"/>
                  </a:solidFill>
                </a:rPr>
                <a:t>vov</a:t>
              </a:r>
              <a:r>
                <a:rPr lang="en-US" sz="1073" i="1">
                  <a:solidFill>
                    <a:srgbClr val="29BA74"/>
                  </a:solidFill>
                </a:rPr>
                <a:t>"</a:t>
              </a:r>
            </a:p>
          </p:txBody>
        </p:sp>
      </p:grpSp>
      <p:grpSp>
        <p:nvGrpSpPr>
          <p:cNvPr id="89" name="Group 88">
            <a:extLst>
              <a:ext uri="{FF2B5EF4-FFF2-40B4-BE49-F238E27FC236}">
                <a16:creationId xmlns:a16="http://schemas.microsoft.com/office/drawing/2014/main" id="{B928D609-CCB7-49BA-8354-D1281446585A}"/>
              </a:ext>
            </a:extLst>
          </p:cNvPr>
          <p:cNvGrpSpPr/>
          <p:nvPr/>
        </p:nvGrpSpPr>
        <p:grpSpPr>
          <a:xfrm>
            <a:off x="3175012" y="2301644"/>
            <a:ext cx="1128925" cy="1943123"/>
            <a:chOff x="7865654" y="2516439"/>
            <a:chExt cx="1128925" cy="1943123"/>
          </a:xfrm>
        </p:grpSpPr>
        <p:pic>
          <p:nvPicPr>
            <p:cNvPr id="90" name="Picture 89">
              <a:extLst>
                <a:ext uri="{FF2B5EF4-FFF2-40B4-BE49-F238E27FC236}">
                  <a16:creationId xmlns:a16="http://schemas.microsoft.com/office/drawing/2014/main" id="{6D5B385F-78A3-4DC2-BE4B-39BD3ACD1596}"/>
                </a:ext>
              </a:extLst>
            </p:cNvPr>
            <p:cNvPicPr>
              <a:picLocks noChangeAspect="1"/>
            </p:cNvPicPr>
            <p:nvPr/>
          </p:nvPicPr>
          <p:blipFill>
            <a:blip r:embed="rId13">
              <a:extLst>
                <a:ext uri="{28A0092B-C50C-407E-A947-70E740481C1C}">
                  <a14:useLocalDpi xmlns:a14="http://schemas.microsoft.com/office/drawing/2010/main" val="0"/>
                </a:ext>
              </a:extLst>
            </a:blip>
            <a:srcRect/>
            <a:stretch/>
          </p:blipFill>
          <p:spPr>
            <a:xfrm>
              <a:off x="7962114" y="2516439"/>
              <a:ext cx="936004" cy="101644"/>
            </a:xfrm>
            <a:prstGeom prst="rect">
              <a:avLst/>
            </a:prstGeom>
          </p:spPr>
        </p:pic>
        <p:sp>
          <p:nvSpPr>
            <p:cNvPr id="91" name="Rectangle 90">
              <a:extLst>
                <a:ext uri="{FF2B5EF4-FFF2-40B4-BE49-F238E27FC236}">
                  <a16:creationId xmlns:a16="http://schemas.microsoft.com/office/drawing/2014/main" id="{5539F850-D658-4802-826E-0D6C70B3550D}"/>
                </a:ext>
              </a:extLst>
            </p:cNvPr>
            <p:cNvSpPr/>
            <p:nvPr/>
          </p:nvSpPr>
          <p:spPr>
            <a:xfrm>
              <a:off x="7865654" y="2812853"/>
              <a:ext cx="1128925" cy="1646709"/>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9A9A9A"/>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1700" tIns="40850" rIns="81700" bIns="40850" numCol="1" spcCol="0" rtlCol="0" fromWordArt="0" anchor="t" anchorCtr="0" forceAA="0" compatLnSpc="1">
              <a:prstTxWarp prst="textNoShape">
                <a:avLst/>
              </a:prstTxWarp>
              <a:spAutoFit/>
            </a:bodyPr>
            <a:lstStyle/>
            <a:p>
              <a:pPr algn="ctr"/>
              <a:r>
                <a:rPr lang="en-US" sz="1073">
                  <a:solidFill>
                    <a:srgbClr val="575757"/>
                  </a:solidFill>
                </a:rPr>
                <a:t>Low interest GPL</a:t>
              </a:r>
              <a:r>
                <a:rPr lang="en-US" sz="1073" baseline="30000">
                  <a:solidFill>
                    <a:srgbClr val="575757"/>
                  </a:solidFill>
                </a:rPr>
                <a:t>1</a:t>
              </a:r>
              <a:r>
                <a:rPr lang="en-US" sz="1073">
                  <a:solidFill>
                    <a:srgbClr val="575757"/>
                  </a:solidFill>
                </a:rPr>
                <a:t> </a:t>
              </a:r>
            </a:p>
            <a:p>
              <a:pPr algn="ctr"/>
              <a:endParaRPr lang="en-US" sz="1600">
                <a:solidFill>
                  <a:srgbClr val="575757"/>
                </a:solidFill>
              </a:endParaRPr>
            </a:p>
            <a:p>
              <a:pPr algn="ctr"/>
              <a:r>
                <a:rPr lang="en-US" sz="1073" i="1">
                  <a:solidFill>
                    <a:srgbClr val="29BA74"/>
                  </a:solidFill>
                </a:rPr>
                <a:t>"Digital Onboarding offer"</a:t>
              </a:r>
            </a:p>
            <a:p>
              <a:pPr algn="ctr"/>
              <a:endParaRPr lang="en-US" sz="1600">
                <a:solidFill>
                  <a:srgbClr val="575757"/>
                </a:solidFill>
              </a:endParaRPr>
            </a:p>
            <a:p>
              <a:pPr algn="ctr"/>
              <a:endParaRPr lang="en-US" sz="1600">
                <a:solidFill>
                  <a:srgbClr val="575757"/>
                </a:solidFill>
              </a:endParaRPr>
            </a:p>
          </p:txBody>
        </p:sp>
      </p:grpSp>
      <p:pic>
        <p:nvPicPr>
          <p:cNvPr id="93" name="Picture 92" descr="A picture containing text, dark&#10;&#10;Description automatically generated">
            <a:extLst>
              <a:ext uri="{FF2B5EF4-FFF2-40B4-BE49-F238E27FC236}">
                <a16:creationId xmlns:a16="http://schemas.microsoft.com/office/drawing/2014/main" id="{BC389938-1528-4B14-97C5-EBF27F396486}"/>
              </a:ext>
            </a:extLst>
          </p:cNvPr>
          <p:cNvPicPr>
            <a:picLocks noChangeAspect="1"/>
          </p:cNvPicPr>
          <p:nvPr/>
        </p:nvPicPr>
        <p:blipFill>
          <a:blip r:embed="rId14"/>
          <a:stretch>
            <a:fillRect/>
          </a:stretch>
        </p:blipFill>
        <p:spPr>
          <a:xfrm>
            <a:off x="1816470" y="3933264"/>
            <a:ext cx="1099422" cy="197251"/>
          </a:xfrm>
          <a:prstGeom prst="rect">
            <a:avLst/>
          </a:prstGeom>
        </p:spPr>
      </p:pic>
      <p:pic>
        <p:nvPicPr>
          <p:cNvPr id="94" name="Picture 17">
            <a:extLst>
              <a:ext uri="{FF2B5EF4-FFF2-40B4-BE49-F238E27FC236}">
                <a16:creationId xmlns:a16="http://schemas.microsoft.com/office/drawing/2014/main" id="{5657A2A9-0E20-43CC-966F-6475EF223B71}"/>
              </a:ext>
            </a:extLst>
          </p:cNvPr>
          <p:cNvPicPr>
            <a:picLocks noChangeAspect="1" noChangeArrowheads="1"/>
          </p:cNvPicPr>
          <p:nvPr/>
        </p:nvPicPr>
        <p:blipFill>
          <a:blip r:embed="rId15"/>
          <a:srcRect/>
          <a:stretch/>
        </p:blipFill>
        <p:spPr bwMode="auto">
          <a:xfrm>
            <a:off x="3175011" y="3768303"/>
            <a:ext cx="937194" cy="527172"/>
          </a:xfrm>
          <a:prstGeom prst="rect">
            <a:avLst/>
          </a:prstGeom>
          <a:noFill/>
          <a:extLst>
            <a:ext uri="{909E8E84-426E-40DD-AFC4-6F175D3DCCD1}">
              <a14:hiddenFill xmlns:a14="http://schemas.microsoft.com/office/drawing/2010/main">
                <a:solidFill>
                  <a:srgbClr val="FFFFFF"/>
                </a:solidFill>
              </a14:hiddenFill>
            </a:ext>
          </a:extLst>
        </p:spPr>
      </p:pic>
      <p:pic>
        <p:nvPicPr>
          <p:cNvPr id="5129" name="Picture 9">
            <a:extLst>
              <a:ext uri="{FF2B5EF4-FFF2-40B4-BE49-F238E27FC236}">
                <a16:creationId xmlns:a16="http://schemas.microsoft.com/office/drawing/2014/main" id="{BC145C2D-EE6F-44D3-9ACA-749FBF2988BF}"/>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378452" y="4227926"/>
            <a:ext cx="1169424" cy="257273"/>
          </a:xfrm>
          <a:prstGeom prst="rect">
            <a:avLst/>
          </a:prstGeom>
          <a:noFill/>
          <a:extLst>
            <a:ext uri="{909E8E84-426E-40DD-AFC4-6F175D3DCCD1}">
              <a14:hiddenFill xmlns:a14="http://schemas.microsoft.com/office/drawing/2010/main">
                <a:solidFill>
                  <a:srgbClr val="FFFFFF"/>
                </a:solidFill>
              </a14:hiddenFill>
            </a:ext>
          </a:extLst>
        </p:spPr>
      </p:pic>
      <p:sp>
        <p:nvSpPr>
          <p:cNvPr id="96" name="Rectangle 95">
            <a:extLst>
              <a:ext uri="{FF2B5EF4-FFF2-40B4-BE49-F238E27FC236}">
                <a16:creationId xmlns:a16="http://schemas.microsoft.com/office/drawing/2014/main" id="{F8D02C9A-5C3C-46A7-835C-426C8E1304F0}"/>
              </a:ext>
            </a:extLst>
          </p:cNvPr>
          <p:cNvSpPr/>
          <p:nvPr/>
        </p:nvSpPr>
        <p:spPr>
          <a:xfrm>
            <a:off x="1766942" y="4576569"/>
            <a:ext cx="2536995" cy="1254935"/>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9A9A9A"/>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1700" tIns="40850" rIns="81700" bIns="40850" numCol="1" spcCol="0" rtlCol="0" fromWordArt="0" anchor="t" anchorCtr="0" forceAA="0" compatLnSpc="1">
            <a:prstTxWarp prst="textNoShape">
              <a:avLst/>
            </a:prstTxWarp>
            <a:spAutoFit/>
          </a:bodyPr>
          <a:lstStyle/>
          <a:p>
            <a:pPr algn="ctr"/>
            <a:r>
              <a:rPr lang="en-US" sz="1073">
                <a:solidFill>
                  <a:srgbClr val="575757"/>
                </a:solidFill>
              </a:rPr>
              <a:t>Interest-free commission-free cash advance with installment</a:t>
            </a:r>
          </a:p>
          <a:p>
            <a:pPr algn="ctr"/>
            <a:endParaRPr lang="en-US" sz="900">
              <a:solidFill>
                <a:srgbClr val="575757"/>
              </a:solidFill>
            </a:endParaRPr>
          </a:p>
          <a:p>
            <a:pPr algn="ctr"/>
            <a:r>
              <a:rPr lang="en-US" sz="1073" i="1">
                <a:solidFill>
                  <a:srgbClr val="29BA74"/>
                </a:solidFill>
              </a:rPr>
              <a:t>"Digital Onboarding offer"</a:t>
            </a:r>
          </a:p>
          <a:p>
            <a:pPr algn="ctr"/>
            <a:endParaRPr lang="en-US" sz="1600">
              <a:solidFill>
                <a:srgbClr val="575757"/>
              </a:solidFill>
            </a:endParaRPr>
          </a:p>
          <a:p>
            <a:pPr algn="ctr"/>
            <a:endParaRPr lang="en-US" sz="1600">
              <a:solidFill>
                <a:srgbClr val="575757"/>
              </a:solidFill>
            </a:endParaRPr>
          </a:p>
        </p:txBody>
      </p:sp>
      <p:grpSp>
        <p:nvGrpSpPr>
          <p:cNvPr id="97" name="Group 96">
            <a:extLst>
              <a:ext uri="{FF2B5EF4-FFF2-40B4-BE49-F238E27FC236}">
                <a16:creationId xmlns:a16="http://schemas.microsoft.com/office/drawing/2014/main" id="{00959BB6-128D-43DA-9B3A-AFA9C52A1254}"/>
              </a:ext>
            </a:extLst>
          </p:cNvPr>
          <p:cNvGrpSpPr/>
          <p:nvPr/>
        </p:nvGrpSpPr>
        <p:grpSpPr>
          <a:xfrm>
            <a:off x="9914872" y="2071395"/>
            <a:ext cx="1164235" cy="1504153"/>
            <a:chOff x="5663831" y="1394116"/>
            <a:chExt cx="1303042" cy="1683483"/>
          </a:xfrm>
        </p:grpSpPr>
        <p:pic>
          <p:nvPicPr>
            <p:cNvPr id="98" name="Picture 2">
              <a:extLst>
                <a:ext uri="{FF2B5EF4-FFF2-40B4-BE49-F238E27FC236}">
                  <a16:creationId xmlns:a16="http://schemas.microsoft.com/office/drawing/2014/main" id="{D68BE577-F79A-4712-9589-0A7D4FCE3BAA}"/>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p:blipFill>
          <p:spPr bwMode="auto">
            <a:xfrm>
              <a:off x="5688811" y="1394116"/>
              <a:ext cx="1253082" cy="417693"/>
            </a:xfrm>
            <a:prstGeom prst="rect">
              <a:avLst/>
            </a:prstGeom>
            <a:noFill/>
            <a:extLst>
              <a:ext uri="{909E8E84-426E-40DD-AFC4-6F175D3DCCD1}">
                <a14:hiddenFill xmlns:a14="http://schemas.microsoft.com/office/drawing/2010/main">
                  <a:solidFill>
                    <a:srgbClr val="FFFFFF"/>
                  </a:solidFill>
                </a14:hiddenFill>
              </a:ext>
            </a:extLst>
          </p:spPr>
        </p:pic>
        <p:sp>
          <p:nvSpPr>
            <p:cNvPr id="99" name="Rectangle 98">
              <a:extLst>
                <a:ext uri="{FF2B5EF4-FFF2-40B4-BE49-F238E27FC236}">
                  <a16:creationId xmlns:a16="http://schemas.microsoft.com/office/drawing/2014/main" id="{C67BBB38-1B07-48BA-95B1-998894159597}"/>
                </a:ext>
              </a:extLst>
            </p:cNvPr>
            <p:cNvSpPr/>
            <p:nvPr/>
          </p:nvSpPr>
          <p:spPr>
            <a:xfrm>
              <a:off x="5663831" y="1876500"/>
              <a:ext cx="1303042" cy="1201099"/>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9A9A9A"/>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1700" tIns="40850" rIns="81700" bIns="40850" numCol="1" spcCol="0" rtlCol="0" fromWordArt="0" anchor="t" anchorCtr="0" forceAA="0" compatLnSpc="1">
              <a:prstTxWarp prst="textNoShape">
                <a:avLst/>
              </a:prstTxWarp>
              <a:spAutoFit/>
            </a:bodyPr>
            <a:lstStyle/>
            <a:p>
              <a:pPr algn="ctr"/>
              <a:r>
                <a:rPr lang="en-US" sz="1073">
                  <a:solidFill>
                    <a:srgbClr val="575757"/>
                  </a:solidFill>
                </a:rPr>
                <a:t>3 months commission free brokerage</a:t>
              </a:r>
            </a:p>
            <a:p>
              <a:pPr algn="ctr"/>
              <a:endParaRPr lang="en-US" sz="1073">
                <a:solidFill>
                  <a:srgbClr val="575757"/>
                </a:solidFill>
              </a:endParaRPr>
            </a:p>
            <a:p>
              <a:pPr algn="ctr"/>
              <a:r>
                <a:rPr lang="en-US" sz="1073" i="1">
                  <a:solidFill>
                    <a:srgbClr val="29BA74"/>
                  </a:solidFill>
                </a:rPr>
                <a:t>"Stock version of investment"</a:t>
              </a:r>
            </a:p>
          </p:txBody>
        </p:sp>
      </p:grpSp>
      <p:grpSp>
        <p:nvGrpSpPr>
          <p:cNvPr id="100" name="Group 99">
            <a:extLst>
              <a:ext uri="{FF2B5EF4-FFF2-40B4-BE49-F238E27FC236}">
                <a16:creationId xmlns:a16="http://schemas.microsoft.com/office/drawing/2014/main" id="{D1EFEFCC-2CB0-418F-8B62-288C549EC3DB}"/>
              </a:ext>
            </a:extLst>
          </p:cNvPr>
          <p:cNvGrpSpPr/>
          <p:nvPr/>
        </p:nvGrpSpPr>
        <p:grpSpPr>
          <a:xfrm>
            <a:off x="9937191" y="3966380"/>
            <a:ext cx="1128925" cy="2273341"/>
            <a:chOff x="7865654" y="2516439"/>
            <a:chExt cx="1128925" cy="2273341"/>
          </a:xfrm>
        </p:grpSpPr>
        <p:pic>
          <p:nvPicPr>
            <p:cNvPr id="101" name="Picture 100">
              <a:extLst>
                <a:ext uri="{FF2B5EF4-FFF2-40B4-BE49-F238E27FC236}">
                  <a16:creationId xmlns:a16="http://schemas.microsoft.com/office/drawing/2014/main" id="{7D6B910C-CC45-412A-95E2-104812F19030}"/>
                </a:ext>
              </a:extLst>
            </p:cNvPr>
            <p:cNvPicPr>
              <a:picLocks noChangeAspect="1"/>
            </p:cNvPicPr>
            <p:nvPr/>
          </p:nvPicPr>
          <p:blipFill>
            <a:blip r:embed="rId13">
              <a:extLst>
                <a:ext uri="{28A0092B-C50C-407E-A947-70E740481C1C}">
                  <a14:useLocalDpi xmlns:a14="http://schemas.microsoft.com/office/drawing/2010/main" val="0"/>
                </a:ext>
              </a:extLst>
            </a:blip>
            <a:srcRect/>
            <a:stretch/>
          </p:blipFill>
          <p:spPr>
            <a:xfrm>
              <a:off x="7962114" y="2516439"/>
              <a:ext cx="936004" cy="101644"/>
            </a:xfrm>
            <a:prstGeom prst="rect">
              <a:avLst/>
            </a:prstGeom>
          </p:spPr>
        </p:pic>
        <p:sp>
          <p:nvSpPr>
            <p:cNvPr id="102" name="Rectangle 101">
              <a:extLst>
                <a:ext uri="{FF2B5EF4-FFF2-40B4-BE49-F238E27FC236}">
                  <a16:creationId xmlns:a16="http://schemas.microsoft.com/office/drawing/2014/main" id="{5292587C-06BA-4724-B51D-3B22B3AFC9F7}"/>
                </a:ext>
              </a:extLst>
            </p:cNvPr>
            <p:cNvSpPr/>
            <p:nvPr/>
          </p:nvSpPr>
          <p:spPr>
            <a:xfrm>
              <a:off x="7865654" y="2812853"/>
              <a:ext cx="1128925" cy="1976927"/>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9A9A9A"/>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1700" tIns="40850" rIns="81700" bIns="40850" numCol="1" spcCol="0" rtlCol="0" fromWordArt="0" anchor="t" anchorCtr="0" forceAA="0" compatLnSpc="1">
              <a:prstTxWarp prst="textNoShape">
                <a:avLst/>
              </a:prstTxWarp>
              <a:spAutoFit/>
            </a:bodyPr>
            <a:lstStyle/>
            <a:p>
              <a:pPr algn="ctr"/>
              <a:r>
                <a:rPr lang="en-US" sz="1073">
                  <a:solidFill>
                    <a:srgbClr val="575757"/>
                  </a:solidFill>
                </a:rPr>
                <a:t>New technologies foreign stocks fund</a:t>
              </a:r>
            </a:p>
            <a:p>
              <a:pPr algn="ctr"/>
              <a:endParaRPr lang="en-US" sz="1600">
                <a:solidFill>
                  <a:srgbClr val="575757"/>
                </a:solidFill>
              </a:endParaRPr>
            </a:p>
            <a:p>
              <a:pPr algn="ctr"/>
              <a:r>
                <a:rPr lang="en-US" sz="1073" i="1">
                  <a:solidFill>
                    <a:srgbClr val="29BA74"/>
                  </a:solidFill>
                </a:rPr>
                <a:t>"Digital Onboarding offer"</a:t>
              </a:r>
            </a:p>
            <a:p>
              <a:pPr algn="ctr"/>
              <a:endParaRPr lang="en-US" sz="1600">
                <a:solidFill>
                  <a:srgbClr val="575757"/>
                </a:solidFill>
              </a:endParaRPr>
            </a:p>
            <a:p>
              <a:pPr algn="ctr"/>
              <a:endParaRPr lang="en-US" sz="1600">
                <a:solidFill>
                  <a:srgbClr val="575757"/>
                </a:solidFill>
              </a:endParaRPr>
            </a:p>
          </p:txBody>
        </p:sp>
      </p:grpSp>
      <p:pic>
        <p:nvPicPr>
          <p:cNvPr id="92" name="Picture 91" descr="Text, logo&#10;&#10;Description automatically generated">
            <a:extLst>
              <a:ext uri="{FF2B5EF4-FFF2-40B4-BE49-F238E27FC236}">
                <a16:creationId xmlns:a16="http://schemas.microsoft.com/office/drawing/2014/main" id="{AE0FD5C2-A0BE-4EEF-BC4C-B130F1E85A4C}"/>
              </a:ext>
            </a:extLst>
          </p:cNvPr>
          <p:cNvPicPr>
            <a:picLocks noChangeAspect="1"/>
          </p:cNvPicPr>
          <p:nvPr/>
        </p:nvPicPr>
        <p:blipFill rotWithShape="1">
          <a:blip r:embed="rId17"/>
          <a:srcRect l="6264" t="33321" r="5049" b="31087"/>
          <a:stretch/>
        </p:blipFill>
        <p:spPr>
          <a:xfrm>
            <a:off x="1841523" y="5561385"/>
            <a:ext cx="1036638" cy="259869"/>
          </a:xfrm>
          <a:prstGeom prst="rect">
            <a:avLst/>
          </a:prstGeom>
        </p:spPr>
      </p:pic>
      <p:pic>
        <p:nvPicPr>
          <p:cNvPr id="293890" name="Picture 2">
            <a:extLst>
              <a:ext uri="{FF2B5EF4-FFF2-40B4-BE49-F238E27FC236}">
                <a16:creationId xmlns:a16="http://schemas.microsoft.com/office/drawing/2014/main" id="{22C409AB-D811-434B-B746-82F47D5AB5D3}"/>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983763" y="5406246"/>
            <a:ext cx="1083296" cy="169265"/>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6">
            <a:extLst>
              <a:ext uri="{FF2B5EF4-FFF2-40B4-BE49-F238E27FC236}">
                <a16:creationId xmlns:a16="http://schemas.microsoft.com/office/drawing/2014/main" id="{D63502B2-146C-48B2-8FD8-B143313F3E68}"/>
              </a:ext>
            </a:extLst>
          </p:cNvPr>
          <p:cNvPicPr>
            <a:picLocks noChangeAspect="1"/>
          </p:cNvPicPr>
          <p:nvPr/>
        </p:nvPicPr>
        <p:blipFill>
          <a:blip r:embed="rId19"/>
          <a:stretch>
            <a:fillRect/>
          </a:stretch>
        </p:blipFill>
        <p:spPr>
          <a:xfrm>
            <a:off x="3117054" y="5635570"/>
            <a:ext cx="818916" cy="264783"/>
          </a:xfrm>
          <a:prstGeom prst="rect">
            <a:avLst/>
          </a:prstGeom>
        </p:spPr>
      </p:pic>
      <p:sp>
        <p:nvSpPr>
          <p:cNvPr id="95" name="NavigationTriangle">
            <a:extLst>
              <a:ext uri="{FF2B5EF4-FFF2-40B4-BE49-F238E27FC236}">
                <a16:creationId xmlns:a16="http://schemas.microsoft.com/office/drawing/2014/main" id="{F3853BD7-AE08-4B79-A1A2-08E78F89EB7E}"/>
              </a:ext>
            </a:extLst>
          </p:cNvPr>
          <p:cNvSpPr/>
          <p:nvPr/>
        </p:nvSpPr>
        <p:spPr>
          <a:xfrm rot="16200000">
            <a:off x="11116165" y="-21446"/>
            <a:ext cx="1054387" cy="1097280"/>
          </a:xfrm>
          <a:prstGeom prst="triangle">
            <a:avLst>
              <a:gd name="adj" fmla="val 100000"/>
            </a:avLst>
          </a:prstGeom>
          <a:solidFill>
            <a:schemeClr val="tx2"/>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FFFFFF"/>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err="1">
              <a:solidFill>
                <a:srgbClr val="435264"/>
              </a:solidFill>
            </a:endParaRPr>
          </a:p>
        </p:txBody>
      </p:sp>
      <p:sp>
        <p:nvSpPr>
          <p:cNvPr id="103" name="NavigationText">
            <a:extLst>
              <a:ext uri="{FF2B5EF4-FFF2-40B4-BE49-F238E27FC236}">
                <a16:creationId xmlns:a16="http://schemas.microsoft.com/office/drawing/2014/main" id="{AE65D552-7D26-462B-8262-20C3F393BE74}"/>
              </a:ext>
            </a:extLst>
          </p:cNvPr>
          <p:cNvSpPr/>
          <p:nvPr/>
        </p:nvSpPr>
        <p:spPr>
          <a:xfrm>
            <a:off x="9262873" y="256093"/>
            <a:ext cx="2108188" cy="230435"/>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9144" bIns="0" numCol="1" spcCol="0" rtlCol="0" fromWordArt="0" anchor="ctr" anchorCtr="0" forceAA="0" compatLnSpc="1">
            <a:prstTxWarp prst="textNoShape">
              <a:avLst/>
            </a:prstTxWarp>
            <a:noAutofit/>
          </a:bodyPr>
          <a:lstStyle/>
          <a:p>
            <a:pPr algn="r"/>
            <a:r>
              <a:rPr lang="en-GB" sz="1000">
                <a:solidFill>
                  <a:schemeClr val="bg1">
                    <a:lumMod val="50000"/>
                  </a:schemeClr>
                </a:solidFill>
              </a:rPr>
              <a:t>Client digital retail strategy</a:t>
            </a:r>
            <a:endParaRPr lang="en-US" sz="1000">
              <a:solidFill>
                <a:schemeClr val="bg1">
                  <a:lumMod val="50000"/>
                </a:schemeClr>
              </a:solidFill>
            </a:endParaRPr>
          </a:p>
        </p:txBody>
      </p:sp>
      <p:sp>
        <p:nvSpPr>
          <p:cNvPr id="104" name="NavigationIcon">
            <a:extLst>
              <a:ext uri="{FF2B5EF4-FFF2-40B4-BE49-F238E27FC236}">
                <a16:creationId xmlns:a16="http://schemas.microsoft.com/office/drawing/2014/main" id="{A67CD961-05AE-4151-99BF-EB9D359AB03D}"/>
              </a:ext>
            </a:extLst>
          </p:cNvPr>
          <p:cNvSpPr>
            <a:spLocks noChangeAspect="1"/>
          </p:cNvSpPr>
          <p:nvPr/>
        </p:nvSpPr>
        <p:spPr bwMode="auto">
          <a:xfrm>
            <a:off x="11762998" y="132877"/>
            <a:ext cx="220851" cy="365760"/>
          </a:xfrm>
          <a:custGeom>
            <a:avLst/>
            <a:gdLst>
              <a:gd name="connsiteX0" fmla="*/ 146047 w 754383"/>
              <a:gd name="connsiteY0" fmla="*/ 1054099 h 1249362"/>
              <a:gd name="connsiteX1" fmla="*/ 595723 w 754383"/>
              <a:gd name="connsiteY1" fmla="*/ 1054099 h 1249362"/>
              <a:gd name="connsiteX2" fmla="*/ 600006 w 754383"/>
              <a:gd name="connsiteY2" fmla="*/ 1057675 h 1249362"/>
              <a:gd name="connsiteX3" fmla="*/ 738478 w 754383"/>
              <a:gd name="connsiteY3" fmla="*/ 1225044 h 1249362"/>
              <a:gd name="connsiteX4" fmla="*/ 727057 w 754383"/>
              <a:gd name="connsiteY4" fmla="*/ 1249362 h 1249362"/>
              <a:gd name="connsiteX5" fmla="*/ 14713 w 754383"/>
              <a:gd name="connsiteY5" fmla="*/ 1249362 h 1249362"/>
              <a:gd name="connsiteX6" fmla="*/ 3292 w 754383"/>
              <a:gd name="connsiteY6" fmla="*/ 1225044 h 1249362"/>
              <a:gd name="connsiteX7" fmla="*/ 141764 w 754383"/>
              <a:gd name="connsiteY7" fmla="*/ 1057675 h 1249362"/>
              <a:gd name="connsiteX8" fmla="*/ 146047 w 754383"/>
              <a:gd name="connsiteY8" fmla="*/ 1054099 h 1249362"/>
              <a:gd name="connsiteX9" fmla="*/ 93070 w 754383"/>
              <a:gd name="connsiteY9" fmla="*/ 898524 h 1249362"/>
              <a:gd name="connsiteX10" fmla="*/ 648699 w 754383"/>
              <a:gd name="connsiteY10" fmla="*/ 898524 h 1249362"/>
              <a:gd name="connsiteX11" fmla="*/ 655841 w 754383"/>
              <a:gd name="connsiteY11" fmla="*/ 905682 h 1249362"/>
              <a:gd name="connsiteX12" fmla="*/ 655841 w 754383"/>
              <a:gd name="connsiteY12" fmla="*/ 1015192 h 1249362"/>
              <a:gd name="connsiteX13" fmla="*/ 648699 w 754383"/>
              <a:gd name="connsiteY13" fmla="*/ 1022349 h 1249362"/>
              <a:gd name="connsiteX14" fmla="*/ 93070 w 754383"/>
              <a:gd name="connsiteY14" fmla="*/ 1022349 h 1249362"/>
              <a:gd name="connsiteX15" fmla="*/ 85928 w 754383"/>
              <a:gd name="connsiteY15" fmla="*/ 1015192 h 1249362"/>
              <a:gd name="connsiteX16" fmla="*/ 85928 w 754383"/>
              <a:gd name="connsiteY16" fmla="*/ 905682 h 1249362"/>
              <a:gd name="connsiteX17" fmla="*/ 93070 w 754383"/>
              <a:gd name="connsiteY17" fmla="*/ 898524 h 1249362"/>
              <a:gd name="connsiteX18" fmla="*/ 384014 w 754383"/>
              <a:gd name="connsiteY18" fmla="*/ 0 h 1249362"/>
              <a:gd name="connsiteX19" fmla="*/ 396150 w 754383"/>
              <a:gd name="connsiteY19" fmla="*/ 4277 h 1249362"/>
              <a:gd name="connsiteX20" fmla="*/ 406858 w 754383"/>
              <a:gd name="connsiteY20" fmla="*/ 54174 h 1249362"/>
              <a:gd name="connsiteX21" fmla="*/ 401861 w 754383"/>
              <a:gd name="connsiteY21" fmla="*/ 81260 h 1249362"/>
              <a:gd name="connsiteX22" fmla="*/ 400434 w 754383"/>
              <a:gd name="connsiteY22" fmla="*/ 87676 h 1249362"/>
              <a:gd name="connsiteX23" fmla="*/ 432558 w 754383"/>
              <a:gd name="connsiteY23" fmla="*/ 99793 h 1249362"/>
              <a:gd name="connsiteX24" fmla="*/ 553205 w 754383"/>
              <a:gd name="connsiteY24" fmla="*/ 157531 h 1249362"/>
              <a:gd name="connsiteX25" fmla="*/ 580333 w 754383"/>
              <a:gd name="connsiteY25" fmla="*/ 200299 h 1249362"/>
              <a:gd name="connsiteX26" fmla="*/ 587472 w 754383"/>
              <a:gd name="connsiteY26" fmla="*/ 212417 h 1249362"/>
              <a:gd name="connsiteX27" fmla="*/ 613885 w 754383"/>
              <a:gd name="connsiteY27" fmla="*/ 230950 h 1249362"/>
              <a:gd name="connsiteX28" fmla="*/ 740957 w 754383"/>
              <a:gd name="connsiteY28" fmla="*/ 335733 h 1249362"/>
              <a:gd name="connsiteX29" fmla="*/ 703835 w 754383"/>
              <a:gd name="connsiteY29" fmla="*/ 501817 h 1249362"/>
              <a:gd name="connsiteX30" fmla="*/ 566055 w 754383"/>
              <a:gd name="connsiteY30" fmla="*/ 456910 h 1249362"/>
              <a:gd name="connsiteX31" fmla="*/ 536072 w 754383"/>
              <a:gd name="connsiteY31" fmla="*/ 436239 h 1249362"/>
              <a:gd name="connsiteX32" fmla="*/ 499664 w 754383"/>
              <a:gd name="connsiteY32" fmla="*/ 449069 h 1249362"/>
              <a:gd name="connsiteX33" fmla="*/ 434700 w 754383"/>
              <a:gd name="connsiteY33" fmla="*/ 471879 h 1249362"/>
              <a:gd name="connsiteX34" fmla="*/ 457544 w 754383"/>
              <a:gd name="connsiteY34" fmla="*/ 509658 h 1249362"/>
              <a:gd name="connsiteX35" fmla="*/ 462542 w 754383"/>
              <a:gd name="connsiteY35" fmla="*/ 514648 h 1249362"/>
              <a:gd name="connsiteX36" fmla="*/ 567483 w 754383"/>
              <a:gd name="connsiteY36" fmla="*/ 657209 h 1249362"/>
              <a:gd name="connsiteX37" fmla="*/ 597466 w 754383"/>
              <a:gd name="connsiteY37" fmla="*/ 866775 h 1249362"/>
              <a:gd name="connsiteX38" fmla="*/ 563200 w 754383"/>
              <a:gd name="connsiteY38" fmla="*/ 866775 h 1249362"/>
              <a:gd name="connsiteX39" fmla="*/ 565341 w 754383"/>
              <a:gd name="connsiteY39" fmla="*/ 861073 h 1249362"/>
              <a:gd name="connsiteX40" fmla="*/ 439697 w 754383"/>
              <a:gd name="connsiteY40" fmla="*/ 536032 h 1249362"/>
              <a:gd name="connsiteX41" fmla="*/ 433986 w 754383"/>
              <a:gd name="connsiteY41" fmla="*/ 529617 h 1249362"/>
              <a:gd name="connsiteX42" fmla="*/ 395436 w 754383"/>
              <a:gd name="connsiteY42" fmla="*/ 462613 h 1249362"/>
              <a:gd name="connsiteX43" fmla="*/ 397578 w 754383"/>
              <a:gd name="connsiteY43" fmla="*/ 445505 h 1249362"/>
              <a:gd name="connsiteX44" fmla="*/ 414711 w 754383"/>
              <a:gd name="connsiteY44" fmla="*/ 441229 h 1249362"/>
              <a:gd name="connsiteX45" fmla="*/ 487528 w 754383"/>
              <a:gd name="connsiteY45" fmla="*/ 420557 h 1249362"/>
              <a:gd name="connsiteX46" fmla="*/ 533216 w 754383"/>
              <a:gd name="connsiteY46" fmla="*/ 404875 h 1249362"/>
              <a:gd name="connsiteX47" fmla="*/ 585330 w 754383"/>
              <a:gd name="connsiteY47" fmla="*/ 431962 h 1249362"/>
              <a:gd name="connsiteX48" fmla="*/ 690271 w 754383"/>
              <a:gd name="connsiteY48" fmla="*/ 473305 h 1249362"/>
              <a:gd name="connsiteX49" fmla="*/ 711688 w 754383"/>
              <a:gd name="connsiteY49" fmla="*/ 348563 h 1249362"/>
              <a:gd name="connsiteX50" fmla="*/ 595324 w 754383"/>
              <a:gd name="connsiteY50" fmla="*/ 256611 h 1249362"/>
              <a:gd name="connsiteX51" fmla="*/ 566769 w 754383"/>
              <a:gd name="connsiteY51" fmla="*/ 235227 h 1249362"/>
              <a:gd name="connsiteX52" fmla="*/ 552491 w 754383"/>
              <a:gd name="connsiteY52" fmla="*/ 213843 h 1249362"/>
              <a:gd name="connsiteX53" fmla="*/ 529647 w 754383"/>
              <a:gd name="connsiteY53" fmla="*/ 177489 h 1249362"/>
              <a:gd name="connsiteX54" fmla="*/ 422564 w 754383"/>
              <a:gd name="connsiteY54" fmla="*/ 129731 h 1249362"/>
              <a:gd name="connsiteX55" fmla="*/ 383300 w 754383"/>
              <a:gd name="connsiteY55" fmla="*/ 114762 h 1249362"/>
              <a:gd name="connsiteX56" fmla="*/ 371164 w 754383"/>
              <a:gd name="connsiteY56" fmla="*/ 74132 h 1249362"/>
              <a:gd name="connsiteX57" fmla="*/ 375448 w 754383"/>
              <a:gd name="connsiteY57" fmla="*/ 51322 h 1249362"/>
              <a:gd name="connsiteX58" fmla="*/ 375448 w 754383"/>
              <a:gd name="connsiteY58" fmla="*/ 33502 h 1249362"/>
              <a:gd name="connsiteX59" fmla="*/ 296920 w 754383"/>
              <a:gd name="connsiteY59" fmla="*/ 106921 h 1249362"/>
              <a:gd name="connsiteX60" fmla="*/ 294778 w 754383"/>
              <a:gd name="connsiteY60" fmla="*/ 109773 h 1249362"/>
              <a:gd name="connsiteX61" fmla="*/ 156285 w 754383"/>
              <a:gd name="connsiteY61" fmla="*/ 258750 h 1249362"/>
              <a:gd name="connsiteX62" fmla="*/ 143435 w 754383"/>
              <a:gd name="connsiteY62" fmla="*/ 303657 h 1249362"/>
              <a:gd name="connsiteX63" fmla="*/ 280501 w 754383"/>
              <a:gd name="connsiteY63" fmla="*/ 520350 h 1249362"/>
              <a:gd name="connsiteX64" fmla="*/ 277645 w 754383"/>
              <a:gd name="connsiteY64" fmla="*/ 540309 h 1249362"/>
              <a:gd name="connsiteX65" fmla="*/ 256942 w 754383"/>
              <a:gd name="connsiteY65" fmla="*/ 540309 h 1249362"/>
              <a:gd name="connsiteX66" fmla="*/ 121304 w 754383"/>
              <a:gd name="connsiteY66" fmla="*/ 419844 h 1249362"/>
              <a:gd name="connsiteX67" fmla="*/ 124874 w 754383"/>
              <a:gd name="connsiteY67" fmla="*/ 476869 h 1249362"/>
              <a:gd name="connsiteX68" fmla="*/ 251945 w 754383"/>
              <a:gd name="connsiteY68" fmla="*/ 627272 h 1249362"/>
              <a:gd name="connsiteX69" fmla="*/ 252659 w 754383"/>
              <a:gd name="connsiteY69" fmla="*/ 647943 h 1249362"/>
              <a:gd name="connsiteX70" fmla="*/ 232670 w 754383"/>
              <a:gd name="connsiteY70" fmla="*/ 650794 h 1249362"/>
              <a:gd name="connsiteX71" fmla="*/ 125587 w 754383"/>
              <a:gd name="connsiteY71" fmla="*/ 585929 h 1249362"/>
              <a:gd name="connsiteX72" fmla="*/ 129157 w 754383"/>
              <a:gd name="connsiteY72" fmla="*/ 618718 h 1249362"/>
              <a:gd name="connsiteX73" fmla="*/ 222676 w 754383"/>
              <a:gd name="connsiteY73" fmla="*/ 717085 h 1249362"/>
              <a:gd name="connsiteX74" fmla="*/ 224818 w 754383"/>
              <a:gd name="connsiteY74" fmla="*/ 737044 h 1249362"/>
              <a:gd name="connsiteX75" fmla="*/ 205543 w 754383"/>
              <a:gd name="connsiteY75" fmla="*/ 743459 h 1249362"/>
              <a:gd name="connsiteX76" fmla="*/ 144148 w 754383"/>
              <a:gd name="connsiteY76" fmla="*/ 723501 h 1249362"/>
              <a:gd name="connsiteX77" fmla="*/ 152715 w 754383"/>
              <a:gd name="connsiteY77" fmla="*/ 866775 h 1249362"/>
              <a:gd name="connsiteX78" fmla="*/ 121304 w 754383"/>
              <a:gd name="connsiteY78" fmla="*/ 866775 h 1249362"/>
              <a:gd name="connsiteX79" fmla="*/ 114879 w 754383"/>
              <a:gd name="connsiteY79" fmla="*/ 791930 h 1249362"/>
              <a:gd name="connsiteX80" fmla="*/ 124874 w 754383"/>
              <a:gd name="connsiteY80" fmla="*/ 694276 h 1249362"/>
              <a:gd name="connsiteX81" fmla="*/ 153429 w 754383"/>
              <a:gd name="connsiteY81" fmla="*/ 692850 h 1249362"/>
              <a:gd name="connsiteX82" fmla="*/ 99174 w 754383"/>
              <a:gd name="connsiteY82" fmla="*/ 627272 h 1249362"/>
              <a:gd name="connsiteX83" fmla="*/ 104885 w 754383"/>
              <a:gd name="connsiteY83" fmla="*/ 551714 h 1249362"/>
              <a:gd name="connsiteX84" fmla="*/ 127729 w 754383"/>
              <a:gd name="connsiteY84" fmla="*/ 550288 h 1249362"/>
              <a:gd name="connsiteX85" fmla="*/ 157712 w 754383"/>
              <a:gd name="connsiteY85" fmla="*/ 568108 h 1249362"/>
              <a:gd name="connsiteX86" fmla="*/ 94890 w 754383"/>
              <a:gd name="connsiteY86" fmla="*/ 485423 h 1249362"/>
              <a:gd name="connsiteX87" fmla="*/ 99174 w 754383"/>
              <a:gd name="connsiteY87" fmla="*/ 386342 h 1249362"/>
              <a:gd name="connsiteX88" fmla="*/ 117735 w 754383"/>
              <a:gd name="connsiteY88" fmla="*/ 380640 h 1249362"/>
              <a:gd name="connsiteX89" fmla="*/ 189123 w 754383"/>
              <a:gd name="connsiteY89" fmla="*/ 436239 h 1249362"/>
              <a:gd name="connsiteX90" fmla="*/ 184126 w 754383"/>
              <a:gd name="connsiteY90" fmla="*/ 429111 h 1249362"/>
              <a:gd name="connsiteX91" fmla="*/ 112024 w 754383"/>
              <a:gd name="connsiteY91" fmla="*/ 306508 h 1249362"/>
              <a:gd name="connsiteX92" fmla="*/ 136296 w 754383"/>
              <a:gd name="connsiteY92" fmla="*/ 234514 h 1249362"/>
              <a:gd name="connsiteX93" fmla="*/ 269078 w 754383"/>
              <a:gd name="connsiteY93" fmla="*/ 92665 h 1249362"/>
              <a:gd name="connsiteX94" fmla="*/ 271220 w 754383"/>
              <a:gd name="connsiteY94" fmla="*/ 89101 h 1249362"/>
              <a:gd name="connsiteX95" fmla="*/ 384014 w 754383"/>
              <a:gd name="connsiteY95" fmla="*/ 0 h 1249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754383" h="1249362">
                <a:moveTo>
                  <a:pt x="146047" y="1054099"/>
                </a:moveTo>
                <a:cubicBezTo>
                  <a:pt x="146047" y="1054099"/>
                  <a:pt x="146047" y="1054099"/>
                  <a:pt x="595723" y="1054099"/>
                </a:cubicBezTo>
                <a:cubicBezTo>
                  <a:pt x="597151" y="1055530"/>
                  <a:pt x="598578" y="1056245"/>
                  <a:pt x="600006" y="1057675"/>
                </a:cubicBezTo>
                <a:cubicBezTo>
                  <a:pt x="600006" y="1057675"/>
                  <a:pt x="600006" y="1057675"/>
                  <a:pt x="738478" y="1225044"/>
                </a:cubicBezTo>
                <a:cubicBezTo>
                  <a:pt x="746329" y="1234342"/>
                  <a:pt x="739192" y="1249362"/>
                  <a:pt x="727057" y="1249362"/>
                </a:cubicBezTo>
                <a:cubicBezTo>
                  <a:pt x="727057" y="1249362"/>
                  <a:pt x="727057" y="1249362"/>
                  <a:pt x="14713" y="1249362"/>
                </a:cubicBezTo>
                <a:cubicBezTo>
                  <a:pt x="2578" y="1249362"/>
                  <a:pt x="-4559" y="1234342"/>
                  <a:pt x="3292" y="1225044"/>
                </a:cubicBezTo>
                <a:cubicBezTo>
                  <a:pt x="3292" y="1225044"/>
                  <a:pt x="3292" y="1225044"/>
                  <a:pt x="141764" y="1057675"/>
                </a:cubicBezTo>
                <a:cubicBezTo>
                  <a:pt x="143192" y="1056245"/>
                  <a:pt x="144620" y="1055530"/>
                  <a:pt x="146047" y="1054099"/>
                </a:cubicBezTo>
                <a:close/>
                <a:moveTo>
                  <a:pt x="93070" y="898524"/>
                </a:moveTo>
                <a:cubicBezTo>
                  <a:pt x="93070" y="898524"/>
                  <a:pt x="93070" y="898524"/>
                  <a:pt x="648699" y="898524"/>
                </a:cubicBezTo>
                <a:cubicBezTo>
                  <a:pt x="652270" y="898524"/>
                  <a:pt x="655841" y="902103"/>
                  <a:pt x="655841" y="905682"/>
                </a:cubicBezTo>
                <a:cubicBezTo>
                  <a:pt x="655841" y="905682"/>
                  <a:pt x="655841" y="905682"/>
                  <a:pt x="655841" y="1015192"/>
                </a:cubicBezTo>
                <a:cubicBezTo>
                  <a:pt x="655841" y="1019486"/>
                  <a:pt x="652270" y="1022349"/>
                  <a:pt x="648699" y="1022349"/>
                </a:cubicBezTo>
                <a:cubicBezTo>
                  <a:pt x="648699" y="1022349"/>
                  <a:pt x="648699" y="1022349"/>
                  <a:pt x="93070" y="1022349"/>
                </a:cubicBezTo>
                <a:cubicBezTo>
                  <a:pt x="89499" y="1022349"/>
                  <a:pt x="85928" y="1019486"/>
                  <a:pt x="85928" y="1015192"/>
                </a:cubicBezTo>
                <a:cubicBezTo>
                  <a:pt x="85928" y="1015192"/>
                  <a:pt x="85928" y="1015192"/>
                  <a:pt x="85928" y="905682"/>
                </a:cubicBezTo>
                <a:cubicBezTo>
                  <a:pt x="85928" y="902103"/>
                  <a:pt x="89499" y="898524"/>
                  <a:pt x="93070" y="898524"/>
                </a:cubicBezTo>
                <a:close/>
                <a:moveTo>
                  <a:pt x="384014" y="0"/>
                </a:moveTo>
                <a:cubicBezTo>
                  <a:pt x="388297" y="0"/>
                  <a:pt x="392581" y="1426"/>
                  <a:pt x="396150" y="4277"/>
                </a:cubicBezTo>
                <a:cubicBezTo>
                  <a:pt x="400434" y="7841"/>
                  <a:pt x="409714" y="19959"/>
                  <a:pt x="406858" y="54174"/>
                </a:cubicBezTo>
                <a:cubicBezTo>
                  <a:pt x="405431" y="66291"/>
                  <a:pt x="403289" y="74845"/>
                  <a:pt x="401861" y="81260"/>
                </a:cubicBezTo>
                <a:cubicBezTo>
                  <a:pt x="401147" y="83399"/>
                  <a:pt x="400434" y="86250"/>
                  <a:pt x="400434" y="87676"/>
                </a:cubicBezTo>
                <a:cubicBezTo>
                  <a:pt x="404003" y="89814"/>
                  <a:pt x="418995" y="95516"/>
                  <a:pt x="432558" y="99793"/>
                </a:cubicBezTo>
                <a:cubicBezTo>
                  <a:pt x="488242" y="119039"/>
                  <a:pt x="536072" y="136147"/>
                  <a:pt x="553205" y="157531"/>
                </a:cubicBezTo>
                <a:cubicBezTo>
                  <a:pt x="568197" y="175351"/>
                  <a:pt x="575336" y="189607"/>
                  <a:pt x="580333" y="200299"/>
                </a:cubicBezTo>
                <a:cubicBezTo>
                  <a:pt x="583188" y="205289"/>
                  <a:pt x="585330" y="210279"/>
                  <a:pt x="587472" y="212417"/>
                </a:cubicBezTo>
                <a:cubicBezTo>
                  <a:pt x="589613" y="214555"/>
                  <a:pt x="601749" y="223109"/>
                  <a:pt x="613885" y="230950"/>
                </a:cubicBezTo>
                <a:cubicBezTo>
                  <a:pt x="690271" y="285123"/>
                  <a:pt x="733104" y="317913"/>
                  <a:pt x="740957" y="335733"/>
                </a:cubicBezTo>
                <a:cubicBezTo>
                  <a:pt x="751665" y="362107"/>
                  <a:pt x="778079" y="466890"/>
                  <a:pt x="703835" y="501817"/>
                </a:cubicBezTo>
                <a:cubicBezTo>
                  <a:pt x="654577" y="525340"/>
                  <a:pt x="601035" y="483997"/>
                  <a:pt x="566055" y="456910"/>
                </a:cubicBezTo>
                <a:cubicBezTo>
                  <a:pt x="555347" y="448357"/>
                  <a:pt x="541069" y="437664"/>
                  <a:pt x="536072" y="436239"/>
                </a:cubicBezTo>
                <a:cubicBezTo>
                  <a:pt x="528933" y="437664"/>
                  <a:pt x="513228" y="443367"/>
                  <a:pt x="499664" y="449069"/>
                </a:cubicBezTo>
                <a:cubicBezTo>
                  <a:pt x="473964" y="459762"/>
                  <a:pt x="452547" y="468315"/>
                  <a:pt x="434700" y="471879"/>
                </a:cubicBezTo>
                <a:cubicBezTo>
                  <a:pt x="441839" y="485423"/>
                  <a:pt x="451119" y="501104"/>
                  <a:pt x="457544" y="509658"/>
                </a:cubicBezTo>
                <a:cubicBezTo>
                  <a:pt x="458972" y="510371"/>
                  <a:pt x="460400" y="512509"/>
                  <a:pt x="462542" y="514648"/>
                </a:cubicBezTo>
                <a:cubicBezTo>
                  <a:pt x="479675" y="533181"/>
                  <a:pt x="530361" y="589493"/>
                  <a:pt x="567483" y="657209"/>
                </a:cubicBezTo>
                <a:cubicBezTo>
                  <a:pt x="613885" y="739895"/>
                  <a:pt x="623880" y="810463"/>
                  <a:pt x="597466" y="866775"/>
                </a:cubicBezTo>
                <a:cubicBezTo>
                  <a:pt x="597466" y="866775"/>
                  <a:pt x="597466" y="866775"/>
                  <a:pt x="563200" y="866775"/>
                </a:cubicBezTo>
                <a:cubicBezTo>
                  <a:pt x="563200" y="864637"/>
                  <a:pt x="563913" y="863211"/>
                  <a:pt x="565341" y="861073"/>
                </a:cubicBezTo>
                <a:cubicBezTo>
                  <a:pt x="606747" y="786941"/>
                  <a:pt x="561772" y="671466"/>
                  <a:pt x="439697" y="536032"/>
                </a:cubicBezTo>
                <a:cubicBezTo>
                  <a:pt x="436842" y="533181"/>
                  <a:pt x="434700" y="531042"/>
                  <a:pt x="433986" y="529617"/>
                </a:cubicBezTo>
                <a:cubicBezTo>
                  <a:pt x="417567" y="510371"/>
                  <a:pt x="397578" y="467602"/>
                  <a:pt x="395436" y="462613"/>
                </a:cubicBezTo>
                <a:cubicBezTo>
                  <a:pt x="392581" y="456910"/>
                  <a:pt x="393295" y="449782"/>
                  <a:pt x="397578" y="445505"/>
                </a:cubicBezTo>
                <a:cubicBezTo>
                  <a:pt x="401861" y="440516"/>
                  <a:pt x="409000" y="439090"/>
                  <a:pt x="414711" y="441229"/>
                </a:cubicBezTo>
                <a:cubicBezTo>
                  <a:pt x="426133" y="445505"/>
                  <a:pt x="466111" y="429111"/>
                  <a:pt x="487528" y="420557"/>
                </a:cubicBezTo>
                <a:cubicBezTo>
                  <a:pt x="506803" y="412716"/>
                  <a:pt x="522508" y="406301"/>
                  <a:pt x="533216" y="404875"/>
                </a:cubicBezTo>
                <a:cubicBezTo>
                  <a:pt x="547494" y="403450"/>
                  <a:pt x="562486" y="414855"/>
                  <a:pt x="585330" y="431962"/>
                </a:cubicBezTo>
                <a:cubicBezTo>
                  <a:pt x="616027" y="455485"/>
                  <a:pt x="658860" y="488274"/>
                  <a:pt x="690271" y="473305"/>
                </a:cubicBezTo>
                <a:cubicBezTo>
                  <a:pt x="741671" y="449782"/>
                  <a:pt x="718827" y="364245"/>
                  <a:pt x="711688" y="348563"/>
                </a:cubicBezTo>
                <a:cubicBezTo>
                  <a:pt x="704549" y="333594"/>
                  <a:pt x="625308" y="277995"/>
                  <a:pt x="595324" y="256611"/>
                </a:cubicBezTo>
                <a:cubicBezTo>
                  <a:pt x="577477" y="244493"/>
                  <a:pt x="569625" y="238791"/>
                  <a:pt x="566769" y="235227"/>
                </a:cubicBezTo>
                <a:cubicBezTo>
                  <a:pt x="559630" y="229524"/>
                  <a:pt x="556061" y="222396"/>
                  <a:pt x="552491" y="213843"/>
                </a:cubicBezTo>
                <a:cubicBezTo>
                  <a:pt x="547494" y="203863"/>
                  <a:pt x="541783" y="192458"/>
                  <a:pt x="529647" y="177489"/>
                </a:cubicBezTo>
                <a:cubicBezTo>
                  <a:pt x="516083" y="161808"/>
                  <a:pt x="455403" y="140423"/>
                  <a:pt x="422564" y="129731"/>
                </a:cubicBezTo>
                <a:cubicBezTo>
                  <a:pt x="400434" y="121890"/>
                  <a:pt x="389011" y="118326"/>
                  <a:pt x="383300" y="114762"/>
                </a:cubicBezTo>
                <a:cubicBezTo>
                  <a:pt x="364025" y="102645"/>
                  <a:pt x="368309" y="86250"/>
                  <a:pt x="371164" y="74132"/>
                </a:cubicBezTo>
                <a:cubicBezTo>
                  <a:pt x="372592" y="67717"/>
                  <a:pt x="374734" y="60589"/>
                  <a:pt x="375448" y="51322"/>
                </a:cubicBezTo>
                <a:cubicBezTo>
                  <a:pt x="376161" y="43481"/>
                  <a:pt x="376161" y="37779"/>
                  <a:pt x="375448" y="33502"/>
                </a:cubicBezTo>
                <a:cubicBezTo>
                  <a:pt x="339039" y="44907"/>
                  <a:pt x="308342" y="90527"/>
                  <a:pt x="296920" y="106921"/>
                </a:cubicBezTo>
                <a:cubicBezTo>
                  <a:pt x="296920" y="106921"/>
                  <a:pt x="296920" y="106921"/>
                  <a:pt x="294778" y="109773"/>
                </a:cubicBezTo>
                <a:cubicBezTo>
                  <a:pt x="281928" y="129018"/>
                  <a:pt x="171990" y="245919"/>
                  <a:pt x="156285" y="258750"/>
                </a:cubicBezTo>
                <a:cubicBezTo>
                  <a:pt x="149146" y="264452"/>
                  <a:pt x="144148" y="288688"/>
                  <a:pt x="143435" y="303657"/>
                </a:cubicBezTo>
                <a:cubicBezTo>
                  <a:pt x="154143" y="324328"/>
                  <a:pt x="231956" y="445505"/>
                  <a:pt x="280501" y="520350"/>
                </a:cubicBezTo>
                <a:cubicBezTo>
                  <a:pt x="284784" y="526766"/>
                  <a:pt x="283356" y="535319"/>
                  <a:pt x="277645" y="540309"/>
                </a:cubicBezTo>
                <a:cubicBezTo>
                  <a:pt x="271220" y="546011"/>
                  <a:pt x="262654" y="545299"/>
                  <a:pt x="256942" y="540309"/>
                </a:cubicBezTo>
                <a:cubicBezTo>
                  <a:pt x="204829" y="491838"/>
                  <a:pt x="147004" y="440516"/>
                  <a:pt x="121304" y="419844"/>
                </a:cubicBezTo>
                <a:cubicBezTo>
                  <a:pt x="119876" y="436952"/>
                  <a:pt x="121304" y="464751"/>
                  <a:pt x="124874" y="476869"/>
                </a:cubicBezTo>
                <a:cubicBezTo>
                  <a:pt x="130585" y="490412"/>
                  <a:pt x="194120" y="563832"/>
                  <a:pt x="251945" y="627272"/>
                </a:cubicBezTo>
                <a:cubicBezTo>
                  <a:pt x="257656" y="632974"/>
                  <a:pt x="257656" y="641528"/>
                  <a:pt x="252659" y="647943"/>
                </a:cubicBezTo>
                <a:cubicBezTo>
                  <a:pt x="247662" y="653645"/>
                  <a:pt x="239095" y="655071"/>
                  <a:pt x="232670" y="650794"/>
                </a:cubicBezTo>
                <a:cubicBezTo>
                  <a:pt x="231243" y="650794"/>
                  <a:pt x="157712" y="605174"/>
                  <a:pt x="125587" y="585929"/>
                </a:cubicBezTo>
                <a:cubicBezTo>
                  <a:pt x="125587" y="595908"/>
                  <a:pt x="127015" y="610164"/>
                  <a:pt x="129157" y="618718"/>
                </a:cubicBezTo>
                <a:cubicBezTo>
                  <a:pt x="134868" y="629410"/>
                  <a:pt x="181984" y="677881"/>
                  <a:pt x="222676" y="717085"/>
                </a:cubicBezTo>
                <a:cubicBezTo>
                  <a:pt x="228387" y="722788"/>
                  <a:pt x="229101" y="730629"/>
                  <a:pt x="224818" y="737044"/>
                </a:cubicBezTo>
                <a:cubicBezTo>
                  <a:pt x="220534" y="743459"/>
                  <a:pt x="212682" y="746311"/>
                  <a:pt x="205543" y="743459"/>
                </a:cubicBezTo>
                <a:cubicBezTo>
                  <a:pt x="181984" y="733480"/>
                  <a:pt x="156998" y="725639"/>
                  <a:pt x="144148" y="723501"/>
                </a:cubicBezTo>
                <a:cubicBezTo>
                  <a:pt x="142721" y="746311"/>
                  <a:pt x="147004" y="811889"/>
                  <a:pt x="152715" y="866775"/>
                </a:cubicBezTo>
                <a:cubicBezTo>
                  <a:pt x="152715" y="866775"/>
                  <a:pt x="152715" y="866775"/>
                  <a:pt x="121304" y="866775"/>
                </a:cubicBezTo>
                <a:cubicBezTo>
                  <a:pt x="119876" y="856796"/>
                  <a:pt x="117021" y="824007"/>
                  <a:pt x="114879" y="791930"/>
                </a:cubicBezTo>
                <a:cubicBezTo>
                  <a:pt x="109168" y="707106"/>
                  <a:pt x="114879" y="699265"/>
                  <a:pt x="124874" y="694276"/>
                </a:cubicBezTo>
                <a:cubicBezTo>
                  <a:pt x="127729" y="692137"/>
                  <a:pt x="134154" y="689286"/>
                  <a:pt x="153429" y="692850"/>
                </a:cubicBezTo>
                <a:cubicBezTo>
                  <a:pt x="125587" y="664338"/>
                  <a:pt x="102029" y="638676"/>
                  <a:pt x="99174" y="627272"/>
                </a:cubicBezTo>
                <a:cubicBezTo>
                  <a:pt x="99174" y="626559"/>
                  <a:pt x="84182" y="567396"/>
                  <a:pt x="104885" y="551714"/>
                </a:cubicBezTo>
                <a:cubicBezTo>
                  <a:pt x="111310" y="546724"/>
                  <a:pt x="119876" y="546011"/>
                  <a:pt x="127729" y="550288"/>
                </a:cubicBezTo>
                <a:cubicBezTo>
                  <a:pt x="132012" y="553139"/>
                  <a:pt x="143435" y="559555"/>
                  <a:pt x="157712" y="568108"/>
                </a:cubicBezTo>
                <a:cubicBezTo>
                  <a:pt x="125587" y="531755"/>
                  <a:pt x="97746" y="497540"/>
                  <a:pt x="94890" y="485423"/>
                </a:cubicBezTo>
                <a:cubicBezTo>
                  <a:pt x="91321" y="473305"/>
                  <a:pt x="82754" y="404162"/>
                  <a:pt x="99174" y="386342"/>
                </a:cubicBezTo>
                <a:cubicBezTo>
                  <a:pt x="104171" y="381353"/>
                  <a:pt x="111310" y="379214"/>
                  <a:pt x="117735" y="380640"/>
                </a:cubicBezTo>
                <a:cubicBezTo>
                  <a:pt x="122732" y="381353"/>
                  <a:pt x="128443" y="382778"/>
                  <a:pt x="189123" y="436239"/>
                </a:cubicBezTo>
                <a:cubicBezTo>
                  <a:pt x="187695" y="434100"/>
                  <a:pt x="186268" y="431249"/>
                  <a:pt x="184126" y="429111"/>
                </a:cubicBezTo>
                <a:cubicBezTo>
                  <a:pt x="112024" y="316487"/>
                  <a:pt x="112024" y="312923"/>
                  <a:pt x="112024" y="306508"/>
                </a:cubicBezTo>
                <a:cubicBezTo>
                  <a:pt x="112024" y="306508"/>
                  <a:pt x="112737" y="253760"/>
                  <a:pt x="136296" y="234514"/>
                </a:cubicBezTo>
                <a:cubicBezTo>
                  <a:pt x="152001" y="221684"/>
                  <a:pt x="258370" y="106921"/>
                  <a:pt x="269078" y="92665"/>
                </a:cubicBezTo>
                <a:cubicBezTo>
                  <a:pt x="269078" y="92665"/>
                  <a:pt x="269078" y="92665"/>
                  <a:pt x="271220" y="89101"/>
                </a:cubicBezTo>
                <a:cubicBezTo>
                  <a:pt x="286926" y="66291"/>
                  <a:pt x="327617" y="4990"/>
                  <a:pt x="384014"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a:solidFill>
                <a:schemeClr val="tx2"/>
              </a:solidFill>
            </a:endParaRPr>
          </a:p>
        </p:txBody>
      </p:sp>
      <p:sp>
        <p:nvSpPr>
          <p:cNvPr id="111" name="Oval 20">
            <a:extLst>
              <a:ext uri="{FF2B5EF4-FFF2-40B4-BE49-F238E27FC236}">
                <a16:creationId xmlns:a16="http://schemas.microsoft.com/office/drawing/2014/main" id="{18B932FF-E076-44E8-ABC1-2A23E4BB003F}"/>
              </a:ext>
            </a:extLst>
          </p:cNvPr>
          <p:cNvSpPr>
            <a:spLocks noChangeAspect="1" noChangeArrowheads="1"/>
          </p:cNvSpPr>
          <p:nvPr/>
        </p:nvSpPr>
        <p:spPr bwMode="auto">
          <a:xfrm>
            <a:off x="116609" y="72122"/>
            <a:ext cx="253645" cy="253645"/>
          </a:xfrm>
          <a:prstGeom prst="ellipse">
            <a:avLst/>
          </a:prstGeom>
          <a:solidFill>
            <a:srgbClr val="03522D"/>
          </a:solidFill>
          <a:ln>
            <a:noFill/>
          </a:ln>
        </p:spPr>
        <p:txBody>
          <a:bodyPr vert="horz" wrap="square" lIns="0" tIns="0" rIns="0" bIns="0" numCol="1" anchor="ctr" anchorCtr="0" compatLnSpc="1">
            <a:prstTxWarp prst="textNoShape">
              <a:avLst/>
            </a:prstTxWarp>
          </a:bodyPr>
          <a:lstStyle/>
          <a:p>
            <a:pPr algn="ctr"/>
            <a:r>
              <a:rPr lang="en-US" sz="1200">
                <a:solidFill>
                  <a:schemeClr val="bg1"/>
                </a:solidFill>
              </a:rPr>
              <a:t>A1</a:t>
            </a:r>
          </a:p>
        </p:txBody>
      </p:sp>
      <p:sp>
        <p:nvSpPr>
          <p:cNvPr id="112" name="ee4pHeader1">
            <a:extLst>
              <a:ext uri="{FF2B5EF4-FFF2-40B4-BE49-F238E27FC236}">
                <a16:creationId xmlns:a16="http://schemas.microsoft.com/office/drawing/2014/main" id="{3EA2E1B8-C8DF-4082-8889-2800260C33B1}"/>
              </a:ext>
            </a:extLst>
          </p:cNvPr>
          <p:cNvSpPr txBox="1"/>
          <p:nvPr/>
        </p:nvSpPr>
        <p:spPr>
          <a:xfrm>
            <a:off x="480854" y="106611"/>
            <a:ext cx="2011680" cy="184666"/>
          </a:xfrm>
          <a:prstGeom prst="rect">
            <a:avLst/>
          </a:prstGeom>
          <a:noFill/>
          <a:ln cap="rnd">
            <a:noFill/>
          </a:ln>
        </p:spPr>
        <p:txBody>
          <a:bodyPr wrap="square" lIns="0" tIns="0" rIns="0" bIns="0" rtlCol="0" anchor="b" anchorCtr="0">
            <a:spAutoFit/>
          </a:bodyPr>
          <a:lstStyle/>
          <a:p>
            <a:pPr marL="0" marR="0" lvl="3"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a:ln>
                  <a:noFill/>
                </a:ln>
                <a:solidFill>
                  <a:srgbClr val="575757"/>
                </a:solidFill>
                <a:effectLst/>
                <a:uLnTx/>
                <a:uFillTx/>
                <a:latin typeface="Trebuchet MS"/>
                <a:ea typeface="+mn-ea"/>
                <a:cs typeface="+mn-cs"/>
              </a:rPr>
              <a:t>Dormant base activation </a:t>
            </a:r>
          </a:p>
        </p:txBody>
      </p:sp>
      <p:sp>
        <p:nvSpPr>
          <p:cNvPr id="113" name="Oval 20">
            <a:extLst>
              <a:ext uri="{FF2B5EF4-FFF2-40B4-BE49-F238E27FC236}">
                <a16:creationId xmlns:a16="http://schemas.microsoft.com/office/drawing/2014/main" id="{313CD7FB-FFA9-4F56-8954-54079B635438}"/>
              </a:ext>
            </a:extLst>
          </p:cNvPr>
          <p:cNvSpPr>
            <a:spLocks noChangeAspect="1" noChangeArrowheads="1"/>
          </p:cNvSpPr>
          <p:nvPr/>
        </p:nvSpPr>
        <p:spPr bwMode="auto">
          <a:xfrm>
            <a:off x="2423772" y="72122"/>
            <a:ext cx="253645" cy="253645"/>
          </a:xfrm>
          <a:prstGeom prst="ellipse">
            <a:avLst/>
          </a:prstGeom>
          <a:solidFill>
            <a:srgbClr val="03522D"/>
          </a:solidFill>
          <a:ln>
            <a:noFill/>
          </a:ln>
        </p:spPr>
        <p:txBody>
          <a:bodyPr vert="horz" wrap="square" lIns="0" tIns="0" rIns="0" bIns="0" numCol="1" anchor="ctr" anchorCtr="0" compatLnSpc="1">
            <a:prstTxWarp prst="textNoShape">
              <a:avLst/>
            </a:prstTxWarp>
          </a:bodyPr>
          <a:lstStyle/>
          <a:p>
            <a:pPr algn="ctr"/>
            <a:r>
              <a:rPr lang="en-US" sz="1200">
                <a:solidFill>
                  <a:schemeClr val="bg1"/>
                </a:solidFill>
              </a:rPr>
              <a:t>A3</a:t>
            </a:r>
          </a:p>
        </p:txBody>
      </p:sp>
      <p:sp>
        <p:nvSpPr>
          <p:cNvPr id="114" name="ee4pHeader1">
            <a:extLst>
              <a:ext uri="{FF2B5EF4-FFF2-40B4-BE49-F238E27FC236}">
                <a16:creationId xmlns:a16="http://schemas.microsoft.com/office/drawing/2014/main" id="{5F41DC91-C4D7-414E-8AA6-DB9B76398F49}"/>
              </a:ext>
            </a:extLst>
          </p:cNvPr>
          <p:cNvSpPr txBox="1"/>
          <p:nvPr/>
        </p:nvSpPr>
        <p:spPr>
          <a:xfrm>
            <a:off x="2775998" y="106611"/>
            <a:ext cx="2011680" cy="184666"/>
          </a:xfrm>
          <a:prstGeom prst="rect">
            <a:avLst/>
          </a:prstGeom>
          <a:noFill/>
          <a:ln cap="rnd">
            <a:noFill/>
          </a:ln>
        </p:spPr>
        <p:txBody>
          <a:bodyPr wrap="square" lIns="0" tIns="0" rIns="0" bIns="0" rtlCol="0" anchor="b" anchorCtr="0">
            <a:spAutoFit/>
          </a:bodyPr>
          <a:lstStyle/>
          <a:p>
            <a:pPr marL="0" marR="0" lvl="3"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a:ln>
                  <a:noFill/>
                </a:ln>
                <a:solidFill>
                  <a:srgbClr val="575757"/>
                </a:solidFill>
                <a:effectLst/>
                <a:uLnTx/>
                <a:uFillTx/>
                <a:latin typeface="Trebuchet MS"/>
                <a:ea typeface="+mn-ea"/>
                <a:cs typeface="+mn-cs"/>
              </a:rPr>
              <a:t>Tactical customer acquisition</a:t>
            </a:r>
          </a:p>
        </p:txBody>
      </p:sp>
      <p:sp>
        <p:nvSpPr>
          <p:cNvPr id="105" name="ee4pFootnotes">
            <a:extLst>
              <a:ext uri="{FF2B5EF4-FFF2-40B4-BE49-F238E27FC236}">
                <a16:creationId xmlns:a16="http://schemas.microsoft.com/office/drawing/2014/main" id="{185F3232-2A9B-42E0-A7F6-8B785E2A0F17}"/>
              </a:ext>
            </a:extLst>
          </p:cNvPr>
          <p:cNvSpPr>
            <a:spLocks noChangeArrowheads="1"/>
          </p:cNvSpPr>
          <p:nvPr/>
        </p:nvSpPr>
        <p:spPr bwMode="auto">
          <a:xfrm>
            <a:off x="630000" y="6421441"/>
            <a:ext cx="9030914" cy="138499"/>
          </a:xfrm>
          <a:prstGeom prst="rect">
            <a:avLst/>
          </a:prstGeom>
          <a:noFill/>
          <a:ln w="9525" algn="ctr">
            <a:noFill/>
            <a:miter lim="800000"/>
            <a:headEnd type="none" w="lg" len="lg"/>
            <a:tailEnd type="none" w="lg" len="lg"/>
          </a:ln>
        </p:spPr>
        <p:txBody>
          <a:bodyPr vert="horz" wrap="square" lIns="0" tIns="0" rIns="0" bIns="0" anchor="b" anchorCtr="0">
            <a:spAutoFit/>
          </a:bodyPr>
          <a:lstStyle/>
          <a:p>
            <a:pPr>
              <a:lnSpc>
                <a:spcPct val="90000"/>
              </a:lnSpc>
            </a:pPr>
            <a:r>
              <a:rPr lang="en-US" sz="1000">
                <a:solidFill>
                  <a:schemeClr val="bg1">
                    <a:lumMod val="50000"/>
                  </a:schemeClr>
                </a:solidFill>
                <a:latin typeface="Trebuchet MS" panose="020B0603020202020204" pitchFamily="34" charset="0"/>
                <a:cs typeface="Arial" pitchFamily="34" charset="0"/>
              </a:rPr>
              <a:t>1. General Purpose Loan</a:t>
            </a:r>
          </a:p>
        </p:txBody>
      </p:sp>
      <p:sp>
        <p:nvSpPr>
          <p:cNvPr id="6" name="Textfeld 1">
            <a:extLst>
              <a:ext uri="{FF2B5EF4-FFF2-40B4-BE49-F238E27FC236}">
                <a16:creationId xmlns:a16="http://schemas.microsoft.com/office/drawing/2014/main" id="{5EAA2C89-EF69-F9B0-BF03-A5673C1E7DB4}"/>
              </a:ext>
            </a:extLst>
          </p:cNvPr>
          <p:cNvSpPr txBox="1"/>
          <p:nvPr>
            <p:custDataLst>
              <p:tags r:id="rId2"/>
            </p:custDataLst>
          </p:nvPr>
        </p:nvSpPr>
        <p:spPr>
          <a:xfrm>
            <a:off x="0" y="47244"/>
            <a:ext cx="2743200" cy="483209"/>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en-US" sz="1200" b="1">
                <a:solidFill>
                  <a:srgbClr val="575757"/>
                </a:solidFill>
                <a:sym typeface="Trebuchet MS" panose="020B0603020202020204" pitchFamily="34" charset="0"/>
              </a:rPr>
              <a:t>CA 06.Jun.24:
</a:t>
            </a:r>
            <a:r>
              <a:rPr lang="zh-TW" altLang="en-US" sz="1200" b="1">
                <a:solidFill>
                  <a:srgbClr val="575757"/>
                </a:solidFill>
                <a:sym typeface="Trebuchet MS" panose="020B0603020202020204" pitchFamily="34" charset="0"/>
              </a:rPr>
              <a:t>對標同業針對</a:t>
            </a:r>
            <a:r>
              <a:rPr lang="en-US" altLang="zh-TW" sz="1200" b="1">
                <a:solidFill>
                  <a:srgbClr val="575757"/>
                </a:solidFill>
                <a:sym typeface="Trebuchet MS" panose="020B0603020202020204" pitchFamily="34" charset="0"/>
              </a:rPr>
              <a:t>M</a:t>
            </a:r>
            <a:r>
              <a:rPr lang="zh-TW" altLang="en-US" sz="1200" b="1">
                <a:solidFill>
                  <a:srgbClr val="575757"/>
                </a:solidFill>
                <a:sym typeface="Trebuchet MS" panose="020B0603020202020204" pitchFamily="34" charset="0"/>
              </a:rPr>
              <a:t>客給予的</a:t>
            </a:r>
            <a:r>
              <a:rPr lang="en-US" altLang="zh-TW" sz="1200" b="1">
                <a:solidFill>
                  <a:srgbClr val="575757"/>
                </a:solidFill>
                <a:sym typeface="Trebuchet MS" panose="020B0603020202020204" pitchFamily="34" charset="0"/>
              </a:rPr>
              <a:t>hook product</a:t>
            </a:r>
            <a:endParaRPr lang="en-US" sz="1200" b="1">
              <a:solidFill>
                <a:srgbClr val="575757"/>
              </a:solidFill>
              <a:sym typeface="Trebuchet MS" panose="020B0603020202020204" pitchFamily="34" charset="0"/>
            </a:endParaRPr>
          </a:p>
        </p:txBody>
      </p:sp>
      <p:sp>
        <p:nvSpPr>
          <p:cNvPr id="8" name="Oval 20">
            <a:extLst>
              <a:ext uri="{FF2B5EF4-FFF2-40B4-BE49-F238E27FC236}">
                <a16:creationId xmlns:a16="http://schemas.microsoft.com/office/drawing/2014/main" id="{F80CFA02-06A2-584A-81F5-ABEAC8D8C2DD}"/>
              </a:ext>
            </a:extLst>
          </p:cNvPr>
          <p:cNvSpPr>
            <a:spLocks noChangeAspect="1" noChangeArrowheads="1"/>
          </p:cNvSpPr>
          <p:nvPr/>
        </p:nvSpPr>
        <p:spPr bwMode="auto">
          <a:xfrm>
            <a:off x="199086" y="648288"/>
            <a:ext cx="306910" cy="306910"/>
          </a:xfrm>
          <a:prstGeom prst="ellipse">
            <a:avLst/>
          </a:prstGeom>
          <a:solidFill>
            <a:srgbClr val="03522D"/>
          </a:solidFill>
          <a:ln>
            <a:noFill/>
          </a:ln>
        </p:spPr>
        <p:txBody>
          <a:bodyPr vert="horz" wrap="square" lIns="0" tIns="0" rIns="0" bIns="0" numCol="1" anchor="ctr" anchorCtr="0" compatLnSpc="1">
            <a:prstTxWarp prst="textNoShape">
              <a:avLst/>
            </a:prstTxWarp>
          </a:bodyPr>
          <a:lstStyle/>
          <a:p>
            <a:pPr algn="ctr"/>
            <a:r>
              <a:rPr lang="en-US" sz="1400" b="1">
                <a:solidFill>
                  <a:srgbClr val="FFFFFF"/>
                </a:solidFill>
              </a:rPr>
              <a:t>2</a:t>
            </a:r>
          </a:p>
        </p:txBody>
      </p:sp>
    </p:spTree>
    <p:extLst>
      <p:ext uri="{BB962C8B-B14F-4D97-AF65-F5344CB8AC3E}">
        <p14:creationId xmlns:p14="http://schemas.microsoft.com/office/powerpoint/2010/main" val="181531786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286" imgH="286" progId="TCLayout.ActiveDocument.1">
                  <p:embed/>
                </p:oleObj>
              </mc:Choice>
              <mc:Fallback>
                <p:oleObj name="think-cell Slide" r:id="rId5" imgW="286" imgH="286" progId="TCLayout.ActiveDocument.1">
                  <p:embed/>
                  <p:pic>
                    <p:nvPicPr>
                      <p:cNvPr id="4" name="Object 3"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Title 2"/>
          <p:cNvSpPr>
            <a:spLocks noGrp="1"/>
          </p:cNvSpPr>
          <p:nvPr>
            <p:ph type="title"/>
          </p:nvPr>
        </p:nvSpPr>
        <p:spPr>
          <a:xfrm>
            <a:off x="630000" y="622800"/>
            <a:ext cx="10933350" cy="664797"/>
          </a:xfrm>
        </p:spPr>
        <p:txBody>
          <a:bodyPr vert="horz">
            <a:spAutoFit/>
          </a:bodyPr>
          <a:lstStyle/>
          <a:p>
            <a:pPr>
              <a:buSzPts val="2400"/>
            </a:pPr>
            <a:r>
              <a:rPr lang="en-US"/>
              <a:t>For Client, potential hook options identified under financing, deposit and investment domains </a:t>
            </a:r>
          </a:p>
        </p:txBody>
      </p:sp>
      <p:sp>
        <p:nvSpPr>
          <p:cNvPr id="12" name="TextBox 11">
            <a:extLst>
              <a:ext uri="{FF2B5EF4-FFF2-40B4-BE49-F238E27FC236}">
                <a16:creationId xmlns:a16="http://schemas.microsoft.com/office/drawing/2014/main" id="{B367F2F6-94DA-447B-BBD8-7422270D2938}"/>
              </a:ext>
            </a:extLst>
          </p:cNvPr>
          <p:cNvSpPr txBox="1"/>
          <p:nvPr/>
        </p:nvSpPr>
        <p:spPr>
          <a:xfrm>
            <a:off x="628650" y="3647145"/>
            <a:ext cx="808929" cy="1292662"/>
          </a:xfrm>
          <a:prstGeom prst="rect">
            <a:avLst/>
          </a:prstGeom>
          <a:noFill/>
          <a:ln w="19050" cap="rnd" cmpd="sng" algn="ctr">
            <a:solidFill>
              <a:srgbClr val="29BA74"/>
            </a:solidFill>
            <a:prstDash val="solid"/>
            <a:round/>
            <a:headEnd type="none" w="med" len="med"/>
            <a:tailEnd type="none" w="med" len="me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 tIns="18288" rIns="18288" bIns="18288" numCol="1" spcCol="0" rtlCol="0" fromWordArt="0" anchor="ctr" anchorCtr="0" forceAA="0" compatLnSpc="1">
            <a:prstTxWarp prst="textNoShape">
              <a:avLst/>
            </a:prstTxWarp>
            <a:noAutofit/>
          </a:bodyPr>
          <a:lstStyle/>
          <a:p>
            <a:pPr algn="ctr"/>
            <a:r>
              <a:rPr lang="en-US" sz="1400">
                <a:solidFill>
                  <a:srgbClr val="29BA74"/>
                </a:solidFill>
              </a:rPr>
              <a:t>Main product lines </a:t>
            </a:r>
            <a:r>
              <a:rPr lang="en-US" sz="1400">
                <a:solidFill>
                  <a:srgbClr val="575757"/>
                </a:solidFill>
              </a:rPr>
              <a:t>(and sub products)</a:t>
            </a:r>
          </a:p>
        </p:txBody>
      </p:sp>
      <p:sp>
        <p:nvSpPr>
          <p:cNvPr id="122" name="Rectangle 121">
            <a:extLst>
              <a:ext uri="{FF2B5EF4-FFF2-40B4-BE49-F238E27FC236}">
                <a16:creationId xmlns:a16="http://schemas.microsoft.com/office/drawing/2014/main" id="{AE910F7D-3578-413F-8AB4-8797D55C610C}"/>
              </a:ext>
            </a:extLst>
          </p:cNvPr>
          <p:cNvSpPr/>
          <p:nvPr/>
        </p:nvSpPr>
        <p:spPr>
          <a:xfrm>
            <a:off x="9581438" y="1768651"/>
            <a:ext cx="1880271" cy="4555295"/>
          </a:xfrm>
          <a:prstGeom prst="rect">
            <a:avLst/>
          </a:prstGeom>
          <a:noFill/>
          <a:ln w="9525" cap="rnd" cmpd="sng" algn="ctr">
            <a:solidFill>
              <a:schemeClr val="tx2"/>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a:solidFill>
                <a:srgbClr val="FFFFFF"/>
              </a:solidFill>
              <a:sym typeface="Trebuchet MS" panose="020B0603020202020204" pitchFamily="34" charset="0"/>
            </a:endParaRPr>
          </a:p>
        </p:txBody>
      </p:sp>
      <p:sp>
        <p:nvSpPr>
          <p:cNvPr id="123" name="Rectangle 122">
            <a:extLst>
              <a:ext uri="{FF2B5EF4-FFF2-40B4-BE49-F238E27FC236}">
                <a16:creationId xmlns:a16="http://schemas.microsoft.com/office/drawing/2014/main" id="{21783683-52DC-45CA-9D0D-CD772E95A95A}"/>
              </a:ext>
            </a:extLst>
          </p:cNvPr>
          <p:cNvSpPr/>
          <p:nvPr/>
        </p:nvSpPr>
        <p:spPr>
          <a:xfrm>
            <a:off x="10852446" y="1722054"/>
            <a:ext cx="352479" cy="71129"/>
          </a:xfrm>
          <a:prstGeom prst="rect">
            <a:avLst/>
          </a:prstGeom>
          <a:solidFill>
            <a:srgbClr val="FFFFFF"/>
          </a:solidFill>
          <a:ln w="9525" cap="flat" cmpd="sng" algn="ctr">
            <a:no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a:solidFill>
                <a:srgbClr val="FFFFFF"/>
              </a:solidFill>
            </a:endParaRPr>
          </a:p>
        </p:txBody>
      </p:sp>
      <p:sp>
        <p:nvSpPr>
          <p:cNvPr id="124" name="Diamond 123">
            <a:extLst>
              <a:ext uri="{FF2B5EF4-FFF2-40B4-BE49-F238E27FC236}">
                <a16:creationId xmlns:a16="http://schemas.microsoft.com/office/drawing/2014/main" id="{29C6CCCD-660A-4030-A347-45FEFB890D14}"/>
              </a:ext>
            </a:extLst>
          </p:cNvPr>
          <p:cNvSpPr/>
          <p:nvPr/>
        </p:nvSpPr>
        <p:spPr>
          <a:xfrm>
            <a:off x="10853861" y="1518831"/>
            <a:ext cx="709489" cy="710337"/>
          </a:xfrm>
          <a:prstGeom prst="diamond">
            <a:avLst/>
          </a:prstGeom>
          <a:solidFill>
            <a:srgbClr val="FFFFFF"/>
          </a:solidFill>
          <a:ln w="19050"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4295" tIns="37148" rIns="74295" bIns="37148" numCol="1" spcCol="0" rtlCol="0" fromWordArt="0" anchor="ctr" anchorCtr="0" forceAA="0" compatLnSpc="1">
            <a:prstTxWarp prst="textNoShape">
              <a:avLst/>
            </a:prstTxWarp>
            <a:noAutofit/>
          </a:bodyPr>
          <a:lstStyle/>
          <a:p>
            <a:pPr algn="ctr">
              <a:lnSpc>
                <a:spcPct val="90000"/>
              </a:lnSpc>
              <a:spcAft>
                <a:spcPts val="813"/>
              </a:spcAft>
            </a:pPr>
            <a:endParaRPr lang="en-GB" sz="1600">
              <a:solidFill>
                <a:srgbClr val="FFFFFF"/>
              </a:solidFill>
              <a:sym typeface="Trebuchet MS" panose="020B0603020202020204" pitchFamily="34" charset="0"/>
            </a:endParaRPr>
          </a:p>
        </p:txBody>
      </p:sp>
      <p:sp>
        <p:nvSpPr>
          <p:cNvPr id="125" name="Arrow: Chevron 59">
            <a:extLst>
              <a:ext uri="{FF2B5EF4-FFF2-40B4-BE49-F238E27FC236}">
                <a16:creationId xmlns:a16="http://schemas.microsoft.com/office/drawing/2014/main" id="{180D808A-8879-4D9E-9F99-7544F603C906}"/>
              </a:ext>
            </a:extLst>
          </p:cNvPr>
          <p:cNvSpPr/>
          <p:nvPr/>
        </p:nvSpPr>
        <p:spPr>
          <a:xfrm flipH="1">
            <a:off x="9741704" y="1649546"/>
            <a:ext cx="1282435" cy="458654"/>
          </a:xfrm>
          <a:prstGeom prst="chevron">
            <a:avLst>
              <a:gd name="adj" fmla="val 51207"/>
            </a:avLst>
          </a:prstGeom>
          <a:solidFill>
            <a:schemeClr val="tx2"/>
          </a:solidFill>
          <a:ln w="12700" cap="flat" cmpd="sng" algn="ctr">
            <a:solidFill>
              <a:schemeClr val="tx2"/>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26" name="Rectangle: Rounded Corners 60">
            <a:extLst>
              <a:ext uri="{FF2B5EF4-FFF2-40B4-BE49-F238E27FC236}">
                <a16:creationId xmlns:a16="http://schemas.microsoft.com/office/drawing/2014/main" id="{1BA1FD73-5087-4C1B-977D-8222C2BE62E2}"/>
              </a:ext>
            </a:extLst>
          </p:cNvPr>
          <p:cNvSpPr/>
          <p:nvPr/>
        </p:nvSpPr>
        <p:spPr>
          <a:xfrm>
            <a:off x="9581439" y="1649546"/>
            <a:ext cx="1087872" cy="458654"/>
          </a:xfrm>
          <a:prstGeom prst="roundRect">
            <a:avLst>
              <a:gd name="adj" fmla="val 11456"/>
            </a:avLst>
          </a:prstGeom>
          <a:solidFill>
            <a:schemeClr val="tx2"/>
          </a:solidFill>
          <a:ln w="12700" cap="flat" cmpd="sng" algn="ctr">
            <a:solidFill>
              <a:schemeClr val="tx2"/>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wrap="none" lIns="91440" tIns="45720" rIns="91440" bIns="45720" rtlCol="0" anchor="ctr"/>
          <a:lstStyle/>
          <a:p>
            <a:r>
              <a:rPr lang="en-US" sz="1400"/>
              <a:t>Investment</a:t>
            </a:r>
            <a:br>
              <a:rPr lang="en-US" sz="1400"/>
            </a:br>
            <a:r>
              <a:rPr lang="en-US" sz="1400"/>
              <a:t>Domain</a:t>
            </a:r>
          </a:p>
        </p:txBody>
      </p:sp>
      <p:sp>
        <p:nvSpPr>
          <p:cNvPr id="128" name="Rectangle 127">
            <a:extLst>
              <a:ext uri="{FF2B5EF4-FFF2-40B4-BE49-F238E27FC236}">
                <a16:creationId xmlns:a16="http://schemas.microsoft.com/office/drawing/2014/main" id="{880BA536-0A9D-4D8F-B3AE-2746DC133612}"/>
              </a:ext>
            </a:extLst>
          </p:cNvPr>
          <p:cNvSpPr/>
          <p:nvPr/>
        </p:nvSpPr>
        <p:spPr>
          <a:xfrm>
            <a:off x="10940767" y="6278226"/>
            <a:ext cx="520942" cy="4572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90000"/>
              </a:lnSpc>
              <a:spcAft>
                <a:spcPts val="1000"/>
              </a:spcAft>
            </a:pPr>
            <a:endParaRPr lang="en-US" sz="1600">
              <a:solidFill>
                <a:prstClr val="white"/>
              </a:solidFill>
              <a:sym typeface="Trebuchet MS" panose="020B0603020202020204" pitchFamily="34" charset="0"/>
            </a:endParaRPr>
          </a:p>
        </p:txBody>
      </p:sp>
      <p:sp>
        <p:nvSpPr>
          <p:cNvPr id="147" name="Rectangle 146">
            <a:extLst>
              <a:ext uri="{FF2B5EF4-FFF2-40B4-BE49-F238E27FC236}">
                <a16:creationId xmlns:a16="http://schemas.microsoft.com/office/drawing/2014/main" id="{AE910F7D-3578-413F-8AB4-8797D55C610C}"/>
              </a:ext>
            </a:extLst>
          </p:cNvPr>
          <p:cNvSpPr/>
          <p:nvPr/>
        </p:nvSpPr>
        <p:spPr>
          <a:xfrm>
            <a:off x="6649981" y="1768651"/>
            <a:ext cx="2752862" cy="4555295"/>
          </a:xfrm>
          <a:prstGeom prst="rect">
            <a:avLst/>
          </a:prstGeom>
          <a:noFill/>
          <a:ln w="9525" cap="rnd" cmpd="sng" algn="ctr">
            <a:solidFill>
              <a:schemeClr val="tx2"/>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a:solidFill>
                <a:srgbClr val="FFFFFF"/>
              </a:solidFill>
              <a:sym typeface="Trebuchet MS" panose="020B0603020202020204" pitchFamily="34" charset="0"/>
            </a:endParaRPr>
          </a:p>
        </p:txBody>
      </p:sp>
      <p:sp>
        <p:nvSpPr>
          <p:cNvPr id="153" name="Rectangle 152">
            <a:extLst>
              <a:ext uri="{FF2B5EF4-FFF2-40B4-BE49-F238E27FC236}">
                <a16:creationId xmlns:a16="http://schemas.microsoft.com/office/drawing/2014/main" id="{21783683-52DC-45CA-9D0D-CD772E95A95A}"/>
              </a:ext>
            </a:extLst>
          </p:cNvPr>
          <p:cNvSpPr/>
          <p:nvPr/>
        </p:nvSpPr>
        <p:spPr>
          <a:xfrm>
            <a:off x="8810320" y="1722054"/>
            <a:ext cx="352479" cy="71129"/>
          </a:xfrm>
          <a:prstGeom prst="rect">
            <a:avLst/>
          </a:prstGeom>
          <a:solidFill>
            <a:srgbClr val="FFFFFF"/>
          </a:solidFill>
          <a:ln w="9525" cap="flat" cmpd="sng" algn="ctr">
            <a:no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a:solidFill>
                <a:srgbClr val="FFFFFF"/>
              </a:solidFill>
            </a:endParaRPr>
          </a:p>
        </p:txBody>
      </p:sp>
      <p:sp>
        <p:nvSpPr>
          <p:cNvPr id="154" name="Diamond 153">
            <a:extLst>
              <a:ext uri="{FF2B5EF4-FFF2-40B4-BE49-F238E27FC236}">
                <a16:creationId xmlns:a16="http://schemas.microsoft.com/office/drawing/2014/main" id="{29C6CCCD-660A-4030-A347-45FEFB890D14}"/>
              </a:ext>
            </a:extLst>
          </p:cNvPr>
          <p:cNvSpPr/>
          <p:nvPr/>
        </p:nvSpPr>
        <p:spPr>
          <a:xfrm>
            <a:off x="8811735" y="1518831"/>
            <a:ext cx="709489" cy="710337"/>
          </a:xfrm>
          <a:prstGeom prst="diamond">
            <a:avLst/>
          </a:prstGeom>
          <a:solidFill>
            <a:srgbClr val="FFFFFF"/>
          </a:solidFill>
          <a:ln w="19050"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4295" tIns="37148" rIns="74295" bIns="37148" numCol="1" spcCol="0" rtlCol="0" fromWordArt="0" anchor="ctr" anchorCtr="0" forceAA="0" compatLnSpc="1">
            <a:prstTxWarp prst="textNoShape">
              <a:avLst/>
            </a:prstTxWarp>
            <a:noAutofit/>
          </a:bodyPr>
          <a:lstStyle/>
          <a:p>
            <a:pPr algn="ctr">
              <a:lnSpc>
                <a:spcPct val="90000"/>
              </a:lnSpc>
              <a:spcAft>
                <a:spcPts val="813"/>
              </a:spcAft>
            </a:pPr>
            <a:endParaRPr lang="en-GB" sz="1600">
              <a:solidFill>
                <a:srgbClr val="FFFFFF"/>
              </a:solidFill>
              <a:sym typeface="Trebuchet MS" panose="020B0603020202020204" pitchFamily="34" charset="0"/>
            </a:endParaRPr>
          </a:p>
        </p:txBody>
      </p:sp>
      <p:grpSp>
        <p:nvGrpSpPr>
          <p:cNvPr id="149" name="Group 148"/>
          <p:cNvGrpSpPr/>
          <p:nvPr/>
        </p:nvGrpSpPr>
        <p:grpSpPr>
          <a:xfrm>
            <a:off x="6649982" y="1649546"/>
            <a:ext cx="2318654" cy="458654"/>
            <a:chOff x="3718526" y="1954346"/>
            <a:chExt cx="1442700" cy="458654"/>
          </a:xfrm>
        </p:grpSpPr>
        <p:sp>
          <p:nvSpPr>
            <p:cNvPr id="151" name="Arrow: Chevron 59">
              <a:extLst>
                <a:ext uri="{FF2B5EF4-FFF2-40B4-BE49-F238E27FC236}">
                  <a16:creationId xmlns:a16="http://schemas.microsoft.com/office/drawing/2014/main" id="{180D808A-8879-4D9E-9F99-7544F603C906}"/>
                </a:ext>
              </a:extLst>
            </p:cNvPr>
            <p:cNvSpPr/>
            <p:nvPr/>
          </p:nvSpPr>
          <p:spPr>
            <a:xfrm flipH="1">
              <a:off x="3878791" y="1954346"/>
              <a:ext cx="1282435" cy="458654"/>
            </a:xfrm>
            <a:prstGeom prst="chevron">
              <a:avLst>
                <a:gd name="adj" fmla="val 51207"/>
              </a:avLst>
            </a:prstGeom>
            <a:solidFill>
              <a:schemeClr val="tx2"/>
            </a:solidFill>
            <a:ln w="12700" cap="flat" cmpd="sng" algn="ctr">
              <a:solidFill>
                <a:schemeClr val="tx2"/>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52" name="Rectangle: Rounded Corners 60">
              <a:extLst>
                <a:ext uri="{FF2B5EF4-FFF2-40B4-BE49-F238E27FC236}">
                  <a16:creationId xmlns:a16="http://schemas.microsoft.com/office/drawing/2014/main" id="{1BA1FD73-5087-4C1B-977D-8222C2BE62E2}"/>
                </a:ext>
              </a:extLst>
            </p:cNvPr>
            <p:cNvSpPr/>
            <p:nvPr/>
          </p:nvSpPr>
          <p:spPr>
            <a:xfrm>
              <a:off x="3718526" y="1954346"/>
              <a:ext cx="1087872" cy="458654"/>
            </a:xfrm>
            <a:prstGeom prst="roundRect">
              <a:avLst>
                <a:gd name="adj" fmla="val 11456"/>
              </a:avLst>
            </a:prstGeom>
            <a:solidFill>
              <a:schemeClr val="tx2"/>
            </a:solidFill>
            <a:ln w="12700" cap="flat" cmpd="sng" algn="ctr">
              <a:solidFill>
                <a:schemeClr val="tx2"/>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wrap="none" lIns="91440" tIns="45720" rIns="91440" bIns="45720" rtlCol="0" anchor="ctr"/>
            <a:lstStyle/>
            <a:p>
              <a:r>
                <a:rPr lang="en-US" sz="1400"/>
                <a:t>Daily Banking Domain</a:t>
              </a:r>
            </a:p>
          </p:txBody>
        </p:sp>
      </p:grpSp>
      <p:sp>
        <p:nvSpPr>
          <p:cNvPr id="150" name="Rectangle 149">
            <a:extLst>
              <a:ext uri="{FF2B5EF4-FFF2-40B4-BE49-F238E27FC236}">
                <a16:creationId xmlns:a16="http://schemas.microsoft.com/office/drawing/2014/main" id="{880BA536-0A9D-4D8F-B3AE-2746DC133612}"/>
              </a:ext>
            </a:extLst>
          </p:cNvPr>
          <p:cNvSpPr/>
          <p:nvPr/>
        </p:nvSpPr>
        <p:spPr>
          <a:xfrm>
            <a:off x="8881901" y="6278226"/>
            <a:ext cx="520942" cy="4572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90000"/>
              </a:lnSpc>
              <a:spcAft>
                <a:spcPts val="1000"/>
              </a:spcAft>
            </a:pPr>
            <a:endParaRPr lang="en-US" sz="1600">
              <a:solidFill>
                <a:prstClr val="white"/>
              </a:solidFill>
              <a:sym typeface="Trebuchet MS" panose="020B0603020202020204" pitchFamily="34" charset="0"/>
            </a:endParaRPr>
          </a:p>
        </p:txBody>
      </p:sp>
      <p:grpSp>
        <p:nvGrpSpPr>
          <p:cNvPr id="170" name="Group 169">
            <a:extLst>
              <a:ext uri="{FF2B5EF4-FFF2-40B4-BE49-F238E27FC236}">
                <a16:creationId xmlns:a16="http://schemas.microsoft.com/office/drawing/2014/main" id="{01D36FF7-751E-45EC-AC82-D6EE029F4E40}"/>
              </a:ext>
            </a:extLst>
          </p:cNvPr>
          <p:cNvGrpSpPr>
            <a:grpSpLocks noChangeAspect="1"/>
          </p:cNvGrpSpPr>
          <p:nvPr/>
        </p:nvGrpSpPr>
        <p:grpSpPr>
          <a:xfrm>
            <a:off x="11032626" y="1697849"/>
            <a:ext cx="351960" cy="352300"/>
            <a:chOff x="5273675" y="2605088"/>
            <a:chExt cx="1644650" cy="1646237"/>
          </a:xfrm>
        </p:grpSpPr>
        <p:sp>
          <p:nvSpPr>
            <p:cNvPr id="171" name="AutoShape 3">
              <a:extLst>
                <a:ext uri="{FF2B5EF4-FFF2-40B4-BE49-F238E27FC236}">
                  <a16:creationId xmlns:a16="http://schemas.microsoft.com/office/drawing/2014/main" id="{9E729C38-10C6-4CDF-9270-AB33E741D266}"/>
                </a:ext>
              </a:extLst>
            </p:cNvPr>
            <p:cNvSpPr>
              <a:spLocks noChangeAspect="1" noChangeArrowheads="1" noTextEdit="1"/>
            </p:cNvSpPr>
            <p:nvPr/>
          </p:nvSpPr>
          <p:spPr bwMode="auto">
            <a:xfrm>
              <a:off x="5273675" y="2605088"/>
              <a:ext cx="1644650" cy="1646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3152" tIns="36576" rIns="73152" bIns="36576" numCol="1" anchor="t" anchorCtr="0" compatLnSpc="1">
              <a:prstTxWarp prst="textNoShape">
                <a:avLst/>
              </a:prstTxWarp>
            </a:bodyPr>
            <a:lstStyle/>
            <a:p>
              <a:endParaRPr lang="en-US"/>
            </a:p>
          </p:txBody>
        </p:sp>
        <p:grpSp>
          <p:nvGrpSpPr>
            <p:cNvPr id="172" name="Group 171">
              <a:extLst>
                <a:ext uri="{FF2B5EF4-FFF2-40B4-BE49-F238E27FC236}">
                  <a16:creationId xmlns:a16="http://schemas.microsoft.com/office/drawing/2014/main" id="{0B5FC087-5ADB-4E31-A8F3-71132BDBD889}"/>
                </a:ext>
              </a:extLst>
            </p:cNvPr>
            <p:cNvGrpSpPr/>
            <p:nvPr/>
          </p:nvGrpSpPr>
          <p:grpSpPr>
            <a:xfrm>
              <a:off x="5497179" y="2775744"/>
              <a:ext cx="1197643" cy="1304925"/>
              <a:chOff x="5497974" y="2774950"/>
              <a:chExt cx="1197643" cy="1304925"/>
            </a:xfrm>
          </p:grpSpPr>
          <p:sp>
            <p:nvSpPr>
              <p:cNvPr id="173" name="Freeform 5">
                <a:extLst>
                  <a:ext uri="{FF2B5EF4-FFF2-40B4-BE49-F238E27FC236}">
                    <a16:creationId xmlns:a16="http://schemas.microsoft.com/office/drawing/2014/main" id="{A3A6F2D6-1E97-457D-B034-B6694CD66F35}"/>
                  </a:ext>
                </a:extLst>
              </p:cNvPr>
              <p:cNvSpPr>
                <a:spLocks/>
              </p:cNvSpPr>
              <p:nvPr/>
            </p:nvSpPr>
            <p:spPr bwMode="auto">
              <a:xfrm>
                <a:off x="5780088" y="2838450"/>
                <a:ext cx="633413" cy="246062"/>
              </a:xfrm>
              <a:custGeom>
                <a:avLst/>
                <a:gdLst>
                  <a:gd name="connsiteX0" fmla="*/ 368300 w 633413"/>
                  <a:gd name="connsiteY0" fmla="*/ 0 h 246062"/>
                  <a:gd name="connsiteX1" fmla="*/ 595540 w 633413"/>
                  <a:gd name="connsiteY1" fmla="*/ 0 h 246062"/>
                  <a:gd name="connsiteX2" fmla="*/ 595540 w 633413"/>
                  <a:gd name="connsiteY2" fmla="*/ 718 h 246062"/>
                  <a:gd name="connsiteX3" fmla="*/ 594111 w 633413"/>
                  <a:gd name="connsiteY3" fmla="*/ 10043 h 246062"/>
                  <a:gd name="connsiteX4" fmla="*/ 622694 w 633413"/>
                  <a:gd name="connsiteY4" fmla="*/ 39456 h 246062"/>
                  <a:gd name="connsiteX5" fmla="*/ 631984 w 633413"/>
                  <a:gd name="connsiteY5" fmla="*/ 37304 h 246062"/>
                  <a:gd name="connsiteX6" fmla="*/ 633413 w 633413"/>
                  <a:gd name="connsiteY6" fmla="*/ 38021 h 246062"/>
                  <a:gd name="connsiteX7" fmla="*/ 633413 w 633413"/>
                  <a:gd name="connsiteY7" fmla="*/ 209476 h 246062"/>
                  <a:gd name="connsiteX8" fmla="*/ 631984 w 633413"/>
                  <a:gd name="connsiteY8" fmla="*/ 210910 h 246062"/>
                  <a:gd name="connsiteX9" fmla="*/ 622694 w 633413"/>
                  <a:gd name="connsiteY9" fmla="*/ 208758 h 246062"/>
                  <a:gd name="connsiteX10" fmla="*/ 594111 w 633413"/>
                  <a:gd name="connsiteY10" fmla="*/ 237454 h 246062"/>
                  <a:gd name="connsiteX11" fmla="*/ 594825 w 633413"/>
                  <a:gd name="connsiteY11" fmla="*/ 245345 h 246062"/>
                  <a:gd name="connsiteX12" fmla="*/ 594825 w 633413"/>
                  <a:gd name="connsiteY12" fmla="*/ 246062 h 246062"/>
                  <a:gd name="connsiteX13" fmla="*/ 368300 w 633413"/>
                  <a:gd name="connsiteY13" fmla="*/ 246062 h 246062"/>
                  <a:gd name="connsiteX14" fmla="*/ 369015 w 633413"/>
                  <a:gd name="connsiteY14" fmla="*/ 244627 h 246062"/>
                  <a:gd name="connsiteX15" fmla="*/ 426182 w 633413"/>
                  <a:gd name="connsiteY15" fmla="*/ 123390 h 246062"/>
                  <a:gd name="connsiteX16" fmla="*/ 369015 w 633413"/>
                  <a:gd name="connsiteY16" fmla="*/ 1435 h 246062"/>
                  <a:gd name="connsiteX17" fmla="*/ 368300 w 633413"/>
                  <a:gd name="connsiteY17" fmla="*/ 0 h 246062"/>
                  <a:gd name="connsiteX18" fmla="*/ 38611 w 633413"/>
                  <a:gd name="connsiteY18" fmla="*/ 0 h 246062"/>
                  <a:gd name="connsiteX19" fmla="*/ 265985 w 633413"/>
                  <a:gd name="connsiteY19" fmla="*/ 0 h 246062"/>
                  <a:gd name="connsiteX20" fmla="*/ 265270 w 633413"/>
                  <a:gd name="connsiteY20" fmla="*/ 1435 h 246062"/>
                  <a:gd name="connsiteX21" fmla="*/ 208069 w 633413"/>
                  <a:gd name="connsiteY21" fmla="*/ 123390 h 246062"/>
                  <a:gd name="connsiteX22" fmla="*/ 265270 w 633413"/>
                  <a:gd name="connsiteY22" fmla="*/ 244627 h 246062"/>
                  <a:gd name="connsiteX23" fmla="*/ 265985 w 633413"/>
                  <a:gd name="connsiteY23" fmla="*/ 246062 h 246062"/>
                  <a:gd name="connsiteX24" fmla="*/ 38611 w 633413"/>
                  <a:gd name="connsiteY24" fmla="*/ 246062 h 246062"/>
                  <a:gd name="connsiteX25" fmla="*/ 38611 w 633413"/>
                  <a:gd name="connsiteY25" fmla="*/ 245345 h 246062"/>
                  <a:gd name="connsiteX26" fmla="*/ 40041 w 633413"/>
                  <a:gd name="connsiteY26" fmla="*/ 237454 h 246062"/>
                  <a:gd name="connsiteX27" fmla="*/ 10725 w 633413"/>
                  <a:gd name="connsiteY27" fmla="*/ 208758 h 246062"/>
                  <a:gd name="connsiteX28" fmla="*/ 2145 w 633413"/>
                  <a:gd name="connsiteY28" fmla="*/ 210193 h 246062"/>
                  <a:gd name="connsiteX29" fmla="*/ 0 w 633413"/>
                  <a:gd name="connsiteY29" fmla="*/ 209476 h 246062"/>
                  <a:gd name="connsiteX30" fmla="*/ 0 w 633413"/>
                  <a:gd name="connsiteY30" fmla="*/ 38739 h 246062"/>
                  <a:gd name="connsiteX31" fmla="*/ 2145 w 633413"/>
                  <a:gd name="connsiteY31" fmla="*/ 37304 h 246062"/>
                  <a:gd name="connsiteX32" fmla="*/ 10725 w 633413"/>
                  <a:gd name="connsiteY32" fmla="*/ 39456 h 246062"/>
                  <a:gd name="connsiteX33" fmla="*/ 40041 w 633413"/>
                  <a:gd name="connsiteY33" fmla="*/ 10043 h 246062"/>
                  <a:gd name="connsiteX34" fmla="*/ 38611 w 633413"/>
                  <a:gd name="connsiteY34" fmla="*/ 718 h 246062"/>
                  <a:gd name="connsiteX35" fmla="*/ 38611 w 633413"/>
                  <a:gd name="connsiteY35" fmla="*/ 0 h 246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33413" h="246062">
                    <a:moveTo>
                      <a:pt x="368300" y="0"/>
                    </a:moveTo>
                    <a:cubicBezTo>
                      <a:pt x="368300" y="0"/>
                      <a:pt x="368300" y="0"/>
                      <a:pt x="595540" y="0"/>
                    </a:cubicBezTo>
                    <a:cubicBezTo>
                      <a:pt x="595540" y="0"/>
                      <a:pt x="595540" y="0"/>
                      <a:pt x="595540" y="718"/>
                    </a:cubicBezTo>
                    <a:cubicBezTo>
                      <a:pt x="594825" y="3587"/>
                      <a:pt x="594111" y="7174"/>
                      <a:pt x="594111" y="10043"/>
                    </a:cubicBezTo>
                    <a:cubicBezTo>
                      <a:pt x="594111" y="25826"/>
                      <a:pt x="606973" y="39456"/>
                      <a:pt x="622694" y="39456"/>
                    </a:cubicBezTo>
                    <a:cubicBezTo>
                      <a:pt x="625553" y="39456"/>
                      <a:pt x="629126" y="38021"/>
                      <a:pt x="631984" y="37304"/>
                    </a:cubicBezTo>
                    <a:cubicBezTo>
                      <a:pt x="632699" y="37304"/>
                      <a:pt x="633413" y="37304"/>
                      <a:pt x="633413" y="38021"/>
                    </a:cubicBezTo>
                    <a:cubicBezTo>
                      <a:pt x="633413" y="38021"/>
                      <a:pt x="633413" y="38021"/>
                      <a:pt x="633413" y="209476"/>
                    </a:cubicBezTo>
                    <a:cubicBezTo>
                      <a:pt x="633413" y="210193"/>
                      <a:pt x="632699" y="210910"/>
                      <a:pt x="631984" y="210910"/>
                    </a:cubicBezTo>
                    <a:cubicBezTo>
                      <a:pt x="629126" y="209476"/>
                      <a:pt x="625553" y="208758"/>
                      <a:pt x="622694" y="208758"/>
                    </a:cubicBezTo>
                    <a:cubicBezTo>
                      <a:pt x="606973" y="208758"/>
                      <a:pt x="594111" y="221671"/>
                      <a:pt x="594111" y="237454"/>
                    </a:cubicBezTo>
                    <a:cubicBezTo>
                      <a:pt x="594111" y="240323"/>
                      <a:pt x="594111" y="242475"/>
                      <a:pt x="594825" y="245345"/>
                    </a:cubicBezTo>
                    <a:cubicBezTo>
                      <a:pt x="594825" y="245345"/>
                      <a:pt x="594825" y="245345"/>
                      <a:pt x="594825" y="246062"/>
                    </a:cubicBezTo>
                    <a:cubicBezTo>
                      <a:pt x="594825" y="246062"/>
                      <a:pt x="594825" y="246062"/>
                      <a:pt x="368300" y="246062"/>
                    </a:cubicBezTo>
                    <a:cubicBezTo>
                      <a:pt x="368300" y="245345"/>
                      <a:pt x="368300" y="245345"/>
                      <a:pt x="369015" y="244627"/>
                    </a:cubicBezTo>
                    <a:cubicBezTo>
                      <a:pt x="398313" y="223823"/>
                      <a:pt x="426182" y="176476"/>
                      <a:pt x="426182" y="123390"/>
                    </a:cubicBezTo>
                    <a:cubicBezTo>
                      <a:pt x="426182" y="69586"/>
                      <a:pt x="398313" y="22956"/>
                      <a:pt x="369015" y="1435"/>
                    </a:cubicBezTo>
                    <a:cubicBezTo>
                      <a:pt x="368300" y="718"/>
                      <a:pt x="368300" y="718"/>
                      <a:pt x="368300" y="0"/>
                    </a:cubicBezTo>
                    <a:close/>
                    <a:moveTo>
                      <a:pt x="38611" y="0"/>
                    </a:moveTo>
                    <a:cubicBezTo>
                      <a:pt x="38611" y="0"/>
                      <a:pt x="38611" y="0"/>
                      <a:pt x="265985" y="0"/>
                    </a:cubicBezTo>
                    <a:cubicBezTo>
                      <a:pt x="266700" y="718"/>
                      <a:pt x="265985" y="718"/>
                      <a:pt x="265270" y="1435"/>
                    </a:cubicBezTo>
                    <a:cubicBezTo>
                      <a:pt x="236670" y="22956"/>
                      <a:pt x="208069" y="69586"/>
                      <a:pt x="208069" y="123390"/>
                    </a:cubicBezTo>
                    <a:cubicBezTo>
                      <a:pt x="208069" y="176476"/>
                      <a:pt x="236670" y="223823"/>
                      <a:pt x="265270" y="244627"/>
                    </a:cubicBezTo>
                    <a:cubicBezTo>
                      <a:pt x="265985" y="245345"/>
                      <a:pt x="266700" y="245345"/>
                      <a:pt x="265985" y="246062"/>
                    </a:cubicBezTo>
                    <a:cubicBezTo>
                      <a:pt x="265985" y="246062"/>
                      <a:pt x="265985" y="246062"/>
                      <a:pt x="38611" y="246062"/>
                    </a:cubicBezTo>
                    <a:cubicBezTo>
                      <a:pt x="38611" y="246062"/>
                      <a:pt x="38611" y="246062"/>
                      <a:pt x="38611" y="245345"/>
                    </a:cubicBezTo>
                    <a:cubicBezTo>
                      <a:pt x="39326" y="242475"/>
                      <a:pt x="40041" y="240323"/>
                      <a:pt x="40041" y="237454"/>
                    </a:cubicBezTo>
                    <a:cubicBezTo>
                      <a:pt x="40041" y="221671"/>
                      <a:pt x="26456" y="208758"/>
                      <a:pt x="10725" y="208758"/>
                    </a:cubicBezTo>
                    <a:cubicBezTo>
                      <a:pt x="7865" y="208758"/>
                      <a:pt x="4290" y="209476"/>
                      <a:pt x="2145" y="210193"/>
                    </a:cubicBezTo>
                    <a:cubicBezTo>
                      <a:pt x="715" y="210910"/>
                      <a:pt x="0" y="210193"/>
                      <a:pt x="0" y="209476"/>
                    </a:cubicBezTo>
                    <a:cubicBezTo>
                      <a:pt x="0" y="209476"/>
                      <a:pt x="0" y="209476"/>
                      <a:pt x="0" y="38739"/>
                    </a:cubicBezTo>
                    <a:cubicBezTo>
                      <a:pt x="0" y="37304"/>
                      <a:pt x="715" y="37304"/>
                      <a:pt x="2145" y="37304"/>
                    </a:cubicBezTo>
                    <a:cubicBezTo>
                      <a:pt x="4290" y="38021"/>
                      <a:pt x="7865" y="39456"/>
                      <a:pt x="10725" y="39456"/>
                    </a:cubicBezTo>
                    <a:cubicBezTo>
                      <a:pt x="26456" y="39456"/>
                      <a:pt x="40041" y="25826"/>
                      <a:pt x="40041" y="10043"/>
                    </a:cubicBezTo>
                    <a:cubicBezTo>
                      <a:pt x="40041" y="7174"/>
                      <a:pt x="39326" y="3587"/>
                      <a:pt x="38611" y="718"/>
                    </a:cubicBezTo>
                    <a:cubicBezTo>
                      <a:pt x="38611" y="718"/>
                      <a:pt x="38611" y="718"/>
                      <a:pt x="38611"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noAutofit/>
              </a:bodyPr>
              <a:lstStyle/>
              <a:p>
                <a:endParaRPr lang="en-US"/>
              </a:p>
            </p:txBody>
          </p:sp>
          <p:sp>
            <p:nvSpPr>
              <p:cNvPr id="174" name="Freeform 6">
                <a:extLst>
                  <a:ext uri="{FF2B5EF4-FFF2-40B4-BE49-F238E27FC236}">
                    <a16:creationId xmlns:a16="http://schemas.microsoft.com/office/drawing/2014/main" id="{C5E795C9-E85D-4AAC-950E-FDD24A839B79}"/>
                  </a:ext>
                </a:extLst>
              </p:cNvPr>
              <p:cNvSpPr>
                <a:spLocks/>
              </p:cNvSpPr>
              <p:nvPr/>
            </p:nvSpPr>
            <p:spPr bwMode="auto">
              <a:xfrm>
                <a:off x="5497974" y="2774950"/>
                <a:ext cx="1197643" cy="1304925"/>
              </a:xfrm>
              <a:custGeom>
                <a:avLst/>
                <a:gdLst>
                  <a:gd name="connsiteX0" fmla="*/ 1077708 w 1197643"/>
                  <a:gd name="connsiteY0" fmla="*/ 315913 h 1304925"/>
                  <a:gd name="connsiteX1" fmla="*/ 1066261 w 1197643"/>
                  <a:gd name="connsiteY1" fmla="*/ 318056 h 1304925"/>
                  <a:gd name="connsiteX2" fmla="*/ 1044083 w 1197643"/>
                  <a:gd name="connsiteY2" fmla="*/ 337344 h 1304925"/>
                  <a:gd name="connsiteX3" fmla="*/ 1041936 w 1197643"/>
                  <a:gd name="connsiteY3" fmla="*/ 366634 h 1304925"/>
                  <a:gd name="connsiteX4" fmla="*/ 1065545 w 1197643"/>
                  <a:gd name="connsiteY4" fmla="*/ 434499 h 1304925"/>
                  <a:gd name="connsiteX5" fmla="*/ 1074130 w 1197643"/>
                  <a:gd name="connsiteY5" fmla="*/ 617379 h 1304925"/>
                  <a:gd name="connsiteX6" fmla="*/ 1071984 w 1197643"/>
                  <a:gd name="connsiteY6" fmla="*/ 623809 h 1304925"/>
                  <a:gd name="connsiteX7" fmla="*/ 966816 w 1197643"/>
                  <a:gd name="connsiteY7" fmla="*/ 788829 h 1304925"/>
                  <a:gd name="connsiteX8" fmla="*/ 946069 w 1197643"/>
                  <a:gd name="connsiteY8" fmla="*/ 805260 h 1304925"/>
                  <a:gd name="connsiteX9" fmla="*/ 920314 w 1197643"/>
                  <a:gd name="connsiteY9" fmla="*/ 814547 h 1304925"/>
                  <a:gd name="connsiteX10" fmla="*/ 885258 w 1197643"/>
                  <a:gd name="connsiteY10" fmla="*/ 795973 h 1304925"/>
                  <a:gd name="connsiteX11" fmla="*/ 882396 w 1197643"/>
                  <a:gd name="connsiteY11" fmla="*/ 756682 h 1304925"/>
                  <a:gd name="connsiteX12" fmla="*/ 931045 w 1197643"/>
                  <a:gd name="connsiteY12" fmla="*/ 646669 h 1304925"/>
                  <a:gd name="connsiteX13" fmla="*/ 917452 w 1197643"/>
                  <a:gd name="connsiteY13" fmla="*/ 605235 h 1304925"/>
                  <a:gd name="connsiteX14" fmla="*/ 901713 w 1197643"/>
                  <a:gd name="connsiteY14" fmla="*/ 600949 h 1304925"/>
                  <a:gd name="connsiteX15" fmla="*/ 873811 w 1197643"/>
                  <a:gd name="connsiteY15" fmla="*/ 616665 h 1304925"/>
                  <a:gd name="connsiteX16" fmla="*/ 710693 w 1197643"/>
                  <a:gd name="connsiteY16" fmla="*/ 875268 h 1304925"/>
                  <a:gd name="connsiteX17" fmla="*/ 688515 w 1197643"/>
                  <a:gd name="connsiteY17" fmla="*/ 950278 h 1304925"/>
                  <a:gd name="connsiteX18" fmla="*/ 689946 w 1197643"/>
                  <a:gd name="connsiteY18" fmla="*/ 1273175 h 1304925"/>
                  <a:gd name="connsiteX19" fmla="*/ 956800 w 1197643"/>
                  <a:gd name="connsiteY19" fmla="*/ 1273175 h 1304925"/>
                  <a:gd name="connsiteX20" fmla="*/ 956800 w 1197643"/>
                  <a:gd name="connsiteY20" fmla="*/ 1096010 h 1304925"/>
                  <a:gd name="connsiteX21" fmla="*/ 956800 w 1197643"/>
                  <a:gd name="connsiteY21" fmla="*/ 1091724 h 1304925"/>
                  <a:gd name="connsiteX22" fmla="*/ 993287 w 1197643"/>
                  <a:gd name="connsiteY22" fmla="*/ 995998 h 1304925"/>
                  <a:gd name="connsiteX23" fmla="*/ 1059822 w 1197643"/>
                  <a:gd name="connsiteY23" fmla="*/ 896700 h 1304925"/>
                  <a:gd name="connsiteX24" fmla="*/ 1153543 w 1197643"/>
                  <a:gd name="connsiteY24" fmla="*/ 672386 h 1304925"/>
                  <a:gd name="connsiteX25" fmla="*/ 1156405 w 1197643"/>
                  <a:gd name="connsiteY25" fmla="*/ 659527 h 1304925"/>
                  <a:gd name="connsiteX26" fmla="*/ 1138519 w 1197643"/>
                  <a:gd name="connsiteY26" fmla="*/ 408067 h 1304925"/>
                  <a:gd name="connsiteX27" fmla="*/ 1113479 w 1197643"/>
                  <a:gd name="connsiteY27" fmla="*/ 340916 h 1304925"/>
                  <a:gd name="connsiteX28" fmla="*/ 1077708 w 1197643"/>
                  <a:gd name="connsiteY28" fmla="*/ 315913 h 1304925"/>
                  <a:gd name="connsiteX29" fmla="*/ 118348 w 1197643"/>
                  <a:gd name="connsiteY29" fmla="*/ 315913 h 1304925"/>
                  <a:gd name="connsiteX30" fmla="*/ 82577 w 1197643"/>
                  <a:gd name="connsiteY30" fmla="*/ 340916 h 1304925"/>
                  <a:gd name="connsiteX31" fmla="*/ 57537 w 1197643"/>
                  <a:gd name="connsiteY31" fmla="*/ 408067 h 1304925"/>
                  <a:gd name="connsiteX32" fmla="*/ 39651 w 1197643"/>
                  <a:gd name="connsiteY32" fmla="*/ 659527 h 1304925"/>
                  <a:gd name="connsiteX33" fmla="*/ 42513 w 1197643"/>
                  <a:gd name="connsiteY33" fmla="*/ 672386 h 1304925"/>
                  <a:gd name="connsiteX34" fmla="*/ 136234 w 1197643"/>
                  <a:gd name="connsiteY34" fmla="*/ 896700 h 1304925"/>
                  <a:gd name="connsiteX35" fmla="*/ 202768 w 1197643"/>
                  <a:gd name="connsiteY35" fmla="*/ 995998 h 1304925"/>
                  <a:gd name="connsiteX36" fmla="*/ 239255 w 1197643"/>
                  <a:gd name="connsiteY36" fmla="*/ 1091724 h 1304925"/>
                  <a:gd name="connsiteX37" fmla="*/ 239255 w 1197643"/>
                  <a:gd name="connsiteY37" fmla="*/ 1096010 h 1304925"/>
                  <a:gd name="connsiteX38" fmla="*/ 239255 w 1197643"/>
                  <a:gd name="connsiteY38" fmla="*/ 1273175 h 1304925"/>
                  <a:gd name="connsiteX39" fmla="*/ 506109 w 1197643"/>
                  <a:gd name="connsiteY39" fmla="*/ 1273175 h 1304925"/>
                  <a:gd name="connsiteX40" fmla="*/ 507540 w 1197643"/>
                  <a:gd name="connsiteY40" fmla="*/ 950278 h 1304925"/>
                  <a:gd name="connsiteX41" fmla="*/ 485362 w 1197643"/>
                  <a:gd name="connsiteY41" fmla="*/ 875268 h 1304925"/>
                  <a:gd name="connsiteX42" fmla="*/ 322245 w 1197643"/>
                  <a:gd name="connsiteY42" fmla="*/ 616665 h 1304925"/>
                  <a:gd name="connsiteX43" fmla="*/ 294343 w 1197643"/>
                  <a:gd name="connsiteY43" fmla="*/ 600949 h 1304925"/>
                  <a:gd name="connsiteX44" fmla="*/ 278604 w 1197643"/>
                  <a:gd name="connsiteY44" fmla="*/ 605235 h 1304925"/>
                  <a:gd name="connsiteX45" fmla="*/ 265010 w 1197643"/>
                  <a:gd name="connsiteY45" fmla="*/ 646669 h 1304925"/>
                  <a:gd name="connsiteX46" fmla="*/ 313659 w 1197643"/>
                  <a:gd name="connsiteY46" fmla="*/ 756682 h 1304925"/>
                  <a:gd name="connsiteX47" fmla="*/ 310798 w 1197643"/>
                  <a:gd name="connsiteY47" fmla="*/ 795973 h 1304925"/>
                  <a:gd name="connsiteX48" fmla="*/ 275742 w 1197643"/>
                  <a:gd name="connsiteY48" fmla="*/ 814547 h 1304925"/>
                  <a:gd name="connsiteX49" fmla="*/ 249986 w 1197643"/>
                  <a:gd name="connsiteY49" fmla="*/ 805260 h 1304925"/>
                  <a:gd name="connsiteX50" fmla="*/ 229239 w 1197643"/>
                  <a:gd name="connsiteY50" fmla="*/ 788829 h 1304925"/>
                  <a:gd name="connsiteX51" fmla="*/ 124071 w 1197643"/>
                  <a:gd name="connsiteY51" fmla="*/ 623809 h 1304925"/>
                  <a:gd name="connsiteX52" fmla="*/ 121925 w 1197643"/>
                  <a:gd name="connsiteY52" fmla="*/ 617379 h 1304925"/>
                  <a:gd name="connsiteX53" fmla="*/ 130510 w 1197643"/>
                  <a:gd name="connsiteY53" fmla="*/ 434499 h 1304925"/>
                  <a:gd name="connsiteX54" fmla="*/ 154119 w 1197643"/>
                  <a:gd name="connsiteY54" fmla="*/ 366634 h 1304925"/>
                  <a:gd name="connsiteX55" fmla="*/ 151973 w 1197643"/>
                  <a:gd name="connsiteY55" fmla="*/ 337344 h 1304925"/>
                  <a:gd name="connsiteX56" fmla="*/ 129795 w 1197643"/>
                  <a:gd name="connsiteY56" fmla="*/ 318056 h 1304925"/>
                  <a:gd name="connsiteX57" fmla="*/ 118348 w 1197643"/>
                  <a:gd name="connsiteY57" fmla="*/ 315913 h 1304925"/>
                  <a:gd name="connsiteX58" fmla="*/ 1078223 w 1197643"/>
                  <a:gd name="connsiteY58" fmla="*/ 284163 h 1304925"/>
                  <a:gd name="connsiteX59" fmla="*/ 1143202 w 1197643"/>
                  <a:gd name="connsiteY59" fmla="*/ 329912 h 1304925"/>
                  <a:gd name="connsiteX60" fmla="*/ 1168195 w 1197643"/>
                  <a:gd name="connsiteY60" fmla="*/ 396390 h 1304925"/>
                  <a:gd name="connsiteX61" fmla="*/ 1186760 w 1197643"/>
                  <a:gd name="connsiteY61" fmla="*/ 665877 h 1304925"/>
                  <a:gd name="connsiteX62" fmla="*/ 1183904 w 1197643"/>
                  <a:gd name="connsiteY62" fmla="*/ 679458 h 1304925"/>
                  <a:gd name="connsiteX63" fmla="*/ 1086077 w 1197643"/>
                  <a:gd name="connsiteY63" fmla="*/ 913919 h 1304925"/>
                  <a:gd name="connsiteX64" fmla="*/ 1020383 w 1197643"/>
                  <a:gd name="connsiteY64" fmla="*/ 1013279 h 1304925"/>
                  <a:gd name="connsiteX65" fmla="*/ 988964 w 1197643"/>
                  <a:gd name="connsiteY65" fmla="*/ 1096198 h 1304925"/>
                  <a:gd name="connsiteX66" fmla="*/ 989678 w 1197643"/>
                  <a:gd name="connsiteY66" fmla="*/ 1289199 h 1304925"/>
                  <a:gd name="connsiteX67" fmla="*/ 973969 w 1197643"/>
                  <a:gd name="connsiteY67" fmla="*/ 1304925 h 1304925"/>
                  <a:gd name="connsiteX68" fmla="*/ 667635 w 1197643"/>
                  <a:gd name="connsiteY68" fmla="*/ 1304925 h 1304925"/>
                  <a:gd name="connsiteX69" fmla="*/ 659780 w 1197643"/>
                  <a:gd name="connsiteY69" fmla="*/ 1291344 h 1304925"/>
                  <a:gd name="connsiteX70" fmla="*/ 658352 w 1197643"/>
                  <a:gd name="connsiteY70" fmla="*/ 950375 h 1304925"/>
                  <a:gd name="connsiteX71" fmla="*/ 684773 w 1197643"/>
                  <a:gd name="connsiteY71" fmla="*/ 858163 h 1304925"/>
                  <a:gd name="connsiteX72" fmla="*/ 849008 w 1197643"/>
                  <a:gd name="connsiteY72" fmla="*/ 599398 h 1304925"/>
                  <a:gd name="connsiteX73" fmla="*/ 902563 w 1197643"/>
                  <a:gd name="connsiteY73" fmla="*/ 569376 h 1304925"/>
                  <a:gd name="connsiteX74" fmla="*/ 933267 w 1197643"/>
                  <a:gd name="connsiteY74" fmla="*/ 577954 h 1304925"/>
                  <a:gd name="connsiteX75" fmla="*/ 960402 w 1197643"/>
                  <a:gd name="connsiteY75" fmla="*/ 659443 h 1304925"/>
                  <a:gd name="connsiteX76" fmla="*/ 911845 w 1197643"/>
                  <a:gd name="connsiteY76" fmla="*/ 769525 h 1304925"/>
                  <a:gd name="connsiteX77" fmla="*/ 921128 w 1197643"/>
                  <a:gd name="connsiteY77" fmla="*/ 783107 h 1304925"/>
                  <a:gd name="connsiteX78" fmla="*/ 926841 w 1197643"/>
                  <a:gd name="connsiteY78" fmla="*/ 780963 h 1304925"/>
                  <a:gd name="connsiteX79" fmla="*/ 948263 w 1197643"/>
                  <a:gd name="connsiteY79" fmla="*/ 763807 h 1304925"/>
                  <a:gd name="connsiteX80" fmla="*/ 1042519 w 1197643"/>
                  <a:gd name="connsiteY80" fmla="*/ 616554 h 1304925"/>
                  <a:gd name="connsiteX81" fmla="*/ 1043947 w 1197643"/>
                  <a:gd name="connsiteY81" fmla="*/ 609406 h 1304925"/>
                  <a:gd name="connsiteX82" fmla="*/ 1036093 w 1197643"/>
                  <a:gd name="connsiteY82" fmla="*/ 444997 h 1304925"/>
                  <a:gd name="connsiteX83" fmla="*/ 1013243 w 1197643"/>
                  <a:gd name="connsiteY83" fmla="*/ 376375 h 1304925"/>
                  <a:gd name="connsiteX84" fmla="*/ 1056801 w 1197643"/>
                  <a:gd name="connsiteY84" fmla="*/ 287737 h 1304925"/>
                  <a:gd name="connsiteX85" fmla="*/ 1078223 w 1197643"/>
                  <a:gd name="connsiteY85" fmla="*/ 284163 h 1304925"/>
                  <a:gd name="connsiteX86" fmla="*/ 119420 w 1197643"/>
                  <a:gd name="connsiteY86" fmla="*/ 284163 h 1304925"/>
                  <a:gd name="connsiteX87" fmla="*/ 140842 w 1197643"/>
                  <a:gd name="connsiteY87" fmla="*/ 287737 h 1304925"/>
                  <a:gd name="connsiteX88" fmla="*/ 184400 w 1197643"/>
                  <a:gd name="connsiteY88" fmla="*/ 376375 h 1304925"/>
                  <a:gd name="connsiteX89" fmla="*/ 161550 w 1197643"/>
                  <a:gd name="connsiteY89" fmla="*/ 444997 h 1304925"/>
                  <a:gd name="connsiteX90" fmla="*/ 153695 w 1197643"/>
                  <a:gd name="connsiteY90" fmla="*/ 609406 h 1304925"/>
                  <a:gd name="connsiteX91" fmla="*/ 155123 w 1197643"/>
                  <a:gd name="connsiteY91" fmla="*/ 616554 h 1304925"/>
                  <a:gd name="connsiteX92" fmla="*/ 249380 w 1197643"/>
                  <a:gd name="connsiteY92" fmla="*/ 763807 h 1304925"/>
                  <a:gd name="connsiteX93" fmla="*/ 270802 w 1197643"/>
                  <a:gd name="connsiteY93" fmla="*/ 780963 h 1304925"/>
                  <a:gd name="connsiteX94" fmla="*/ 276514 w 1197643"/>
                  <a:gd name="connsiteY94" fmla="*/ 783107 h 1304925"/>
                  <a:gd name="connsiteX95" fmla="*/ 285797 w 1197643"/>
                  <a:gd name="connsiteY95" fmla="*/ 769525 h 1304925"/>
                  <a:gd name="connsiteX96" fmla="*/ 237241 w 1197643"/>
                  <a:gd name="connsiteY96" fmla="*/ 659443 h 1304925"/>
                  <a:gd name="connsiteX97" fmla="*/ 264375 w 1197643"/>
                  <a:gd name="connsiteY97" fmla="*/ 577954 h 1304925"/>
                  <a:gd name="connsiteX98" fmla="*/ 295080 w 1197643"/>
                  <a:gd name="connsiteY98" fmla="*/ 569376 h 1304925"/>
                  <a:gd name="connsiteX99" fmla="*/ 348635 w 1197643"/>
                  <a:gd name="connsiteY99" fmla="*/ 599398 h 1304925"/>
                  <a:gd name="connsiteX100" fmla="*/ 512870 w 1197643"/>
                  <a:gd name="connsiteY100" fmla="*/ 858163 h 1304925"/>
                  <a:gd name="connsiteX101" fmla="*/ 539290 w 1197643"/>
                  <a:gd name="connsiteY101" fmla="*/ 950375 h 1304925"/>
                  <a:gd name="connsiteX102" fmla="*/ 537862 w 1197643"/>
                  <a:gd name="connsiteY102" fmla="*/ 1291344 h 1304925"/>
                  <a:gd name="connsiteX103" fmla="*/ 530007 w 1197643"/>
                  <a:gd name="connsiteY103" fmla="*/ 1304925 h 1304925"/>
                  <a:gd name="connsiteX104" fmla="*/ 224387 w 1197643"/>
                  <a:gd name="connsiteY104" fmla="*/ 1304925 h 1304925"/>
                  <a:gd name="connsiteX105" fmla="*/ 223673 w 1197643"/>
                  <a:gd name="connsiteY105" fmla="*/ 1304925 h 1304925"/>
                  <a:gd name="connsiteX106" fmla="*/ 207964 w 1197643"/>
                  <a:gd name="connsiteY106" fmla="*/ 1289199 h 1304925"/>
                  <a:gd name="connsiteX107" fmla="*/ 208678 w 1197643"/>
                  <a:gd name="connsiteY107" fmla="*/ 1096198 h 1304925"/>
                  <a:gd name="connsiteX108" fmla="*/ 177259 w 1197643"/>
                  <a:gd name="connsiteY108" fmla="*/ 1013279 h 1304925"/>
                  <a:gd name="connsiteX109" fmla="*/ 111565 w 1197643"/>
                  <a:gd name="connsiteY109" fmla="*/ 913919 h 1304925"/>
                  <a:gd name="connsiteX110" fmla="*/ 13738 w 1197643"/>
                  <a:gd name="connsiteY110" fmla="*/ 679458 h 1304925"/>
                  <a:gd name="connsiteX111" fmla="*/ 10882 w 1197643"/>
                  <a:gd name="connsiteY111" fmla="*/ 665877 h 1304925"/>
                  <a:gd name="connsiteX112" fmla="*/ 29448 w 1197643"/>
                  <a:gd name="connsiteY112" fmla="*/ 396390 h 1304925"/>
                  <a:gd name="connsiteX113" fmla="*/ 54440 w 1197643"/>
                  <a:gd name="connsiteY113" fmla="*/ 329912 h 1304925"/>
                  <a:gd name="connsiteX114" fmla="*/ 119420 w 1197643"/>
                  <a:gd name="connsiteY114" fmla="*/ 284163 h 1304925"/>
                  <a:gd name="connsiteX115" fmla="*/ 586062 w 1197643"/>
                  <a:gd name="connsiteY115" fmla="*/ 84138 h 1304925"/>
                  <a:gd name="connsiteX116" fmla="*/ 611739 w 1197643"/>
                  <a:gd name="connsiteY116" fmla="*/ 84138 h 1304925"/>
                  <a:gd name="connsiteX117" fmla="*/ 611739 w 1197643"/>
                  <a:gd name="connsiteY117" fmla="*/ 102626 h 1304925"/>
                  <a:gd name="connsiteX118" fmla="*/ 641694 w 1197643"/>
                  <a:gd name="connsiteY118" fmla="*/ 112581 h 1304925"/>
                  <a:gd name="connsiteX119" fmla="*/ 633849 w 1197643"/>
                  <a:gd name="connsiteY119" fmla="*/ 136046 h 1304925"/>
                  <a:gd name="connsiteX120" fmla="*/ 600327 w 1197643"/>
                  <a:gd name="connsiteY120" fmla="*/ 125380 h 1304925"/>
                  <a:gd name="connsiteX121" fmla="*/ 585349 w 1197643"/>
                  <a:gd name="connsiteY121" fmla="*/ 130357 h 1304925"/>
                  <a:gd name="connsiteX122" fmla="*/ 579643 w 1197643"/>
                  <a:gd name="connsiteY122" fmla="*/ 144579 h 1304925"/>
                  <a:gd name="connsiteX123" fmla="*/ 611025 w 1197643"/>
                  <a:gd name="connsiteY123" fmla="*/ 172310 h 1304925"/>
                  <a:gd name="connsiteX124" fmla="*/ 635275 w 1197643"/>
                  <a:gd name="connsiteY124" fmla="*/ 187954 h 1304925"/>
                  <a:gd name="connsiteX125" fmla="*/ 645260 w 1197643"/>
                  <a:gd name="connsiteY125" fmla="*/ 202886 h 1304925"/>
                  <a:gd name="connsiteX126" fmla="*/ 648826 w 1197643"/>
                  <a:gd name="connsiteY126" fmla="*/ 222085 h 1304925"/>
                  <a:gd name="connsiteX127" fmla="*/ 638841 w 1197643"/>
                  <a:gd name="connsiteY127" fmla="*/ 249105 h 1304925"/>
                  <a:gd name="connsiteX128" fmla="*/ 611739 w 1197643"/>
                  <a:gd name="connsiteY128" fmla="*/ 264749 h 1304925"/>
                  <a:gd name="connsiteX129" fmla="*/ 611739 w 1197643"/>
                  <a:gd name="connsiteY129" fmla="*/ 288925 h 1304925"/>
                  <a:gd name="connsiteX130" fmla="*/ 586062 w 1197643"/>
                  <a:gd name="connsiteY130" fmla="*/ 288925 h 1304925"/>
                  <a:gd name="connsiteX131" fmla="*/ 586062 w 1197643"/>
                  <a:gd name="connsiteY131" fmla="*/ 266171 h 1304925"/>
                  <a:gd name="connsiteX132" fmla="*/ 550401 w 1197643"/>
                  <a:gd name="connsiteY132" fmla="*/ 254794 h 1304925"/>
                  <a:gd name="connsiteX133" fmla="*/ 561813 w 1197643"/>
                  <a:gd name="connsiteY133" fmla="*/ 229907 h 1304925"/>
                  <a:gd name="connsiteX134" fmla="*/ 594621 w 1197643"/>
                  <a:gd name="connsiteY134" fmla="*/ 241284 h 1304925"/>
                  <a:gd name="connsiteX135" fmla="*/ 620297 w 1197643"/>
                  <a:gd name="connsiteY135" fmla="*/ 224218 h 1304925"/>
                  <a:gd name="connsiteX136" fmla="*/ 613878 w 1197643"/>
                  <a:gd name="connsiteY136" fmla="*/ 208575 h 1304925"/>
                  <a:gd name="connsiteX137" fmla="*/ 588915 w 1197643"/>
                  <a:gd name="connsiteY137" fmla="*/ 191509 h 1304925"/>
                  <a:gd name="connsiteX138" fmla="*/ 564666 w 1197643"/>
                  <a:gd name="connsiteY138" fmla="*/ 177288 h 1304925"/>
                  <a:gd name="connsiteX139" fmla="*/ 553967 w 1197643"/>
                  <a:gd name="connsiteY139" fmla="*/ 162355 h 1304925"/>
                  <a:gd name="connsiteX140" fmla="*/ 551114 w 1197643"/>
                  <a:gd name="connsiteY140" fmla="*/ 144579 h 1304925"/>
                  <a:gd name="connsiteX141" fmla="*/ 561100 w 1197643"/>
                  <a:gd name="connsiteY141" fmla="*/ 118980 h 1304925"/>
                  <a:gd name="connsiteX142" fmla="*/ 586062 w 1197643"/>
                  <a:gd name="connsiteY142" fmla="*/ 104048 h 1304925"/>
                  <a:gd name="connsiteX143" fmla="*/ 586062 w 1197643"/>
                  <a:gd name="connsiteY143" fmla="*/ 84138 h 1304925"/>
                  <a:gd name="connsiteX144" fmla="*/ 248776 w 1197643"/>
                  <a:gd name="connsiteY144" fmla="*/ 31750 h 1304925"/>
                  <a:gd name="connsiteX145" fmla="*/ 248776 w 1197643"/>
                  <a:gd name="connsiteY145" fmla="*/ 341312 h 1304925"/>
                  <a:gd name="connsiteX146" fmla="*/ 947276 w 1197643"/>
                  <a:gd name="connsiteY146" fmla="*/ 341312 h 1304925"/>
                  <a:gd name="connsiteX147" fmla="*/ 947276 w 1197643"/>
                  <a:gd name="connsiteY147" fmla="*/ 31750 h 1304925"/>
                  <a:gd name="connsiteX148" fmla="*/ 248776 w 1197643"/>
                  <a:gd name="connsiteY148" fmla="*/ 31750 h 1304925"/>
                  <a:gd name="connsiteX149" fmla="*/ 226319 w 1197643"/>
                  <a:gd name="connsiteY149" fmla="*/ 0 h 1304925"/>
                  <a:gd name="connsiteX150" fmla="*/ 969734 w 1197643"/>
                  <a:gd name="connsiteY150" fmla="*/ 0 h 1304925"/>
                  <a:gd name="connsiteX151" fmla="*/ 979026 w 1197643"/>
                  <a:gd name="connsiteY151" fmla="*/ 8576 h 1304925"/>
                  <a:gd name="connsiteX152" fmla="*/ 979026 w 1197643"/>
                  <a:gd name="connsiteY152" fmla="*/ 363771 h 1304925"/>
                  <a:gd name="connsiteX153" fmla="*/ 969734 w 1197643"/>
                  <a:gd name="connsiteY153" fmla="*/ 373062 h 1304925"/>
                  <a:gd name="connsiteX154" fmla="*/ 226319 w 1197643"/>
                  <a:gd name="connsiteY154" fmla="*/ 373062 h 1304925"/>
                  <a:gd name="connsiteX155" fmla="*/ 217026 w 1197643"/>
                  <a:gd name="connsiteY155" fmla="*/ 363771 h 1304925"/>
                  <a:gd name="connsiteX156" fmla="*/ 217026 w 1197643"/>
                  <a:gd name="connsiteY156" fmla="*/ 8576 h 1304925"/>
                  <a:gd name="connsiteX157" fmla="*/ 226319 w 1197643"/>
                  <a:gd name="connsiteY157" fmla="*/ 0 h 130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Lst>
                <a:rect l="l" t="t" r="r" b="b"/>
                <a:pathLst>
                  <a:path w="1197643" h="1304925">
                    <a:moveTo>
                      <a:pt x="1077708" y="315913"/>
                    </a:moveTo>
                    <a:cubicBezTo>
                      <a:pt x="1074130" y="315913"/>
                      <a:pt x="1069838" y="316627"/>
                      <a:pt x="1066261" y="318056"/>
                    </a:cubicBezTo>
                    <a:cubicBezTo>
                      <a:pt x="1056245" y="321628"/>
                      <a:pt x="1048375" y="328057"/>
                      <a:pt x="1044083" y="337344"/>
                    </a:cubicBezTo>
                    <a:cubicBezTo>
                      <a:pt x="1039075" y="346631"/>
                      <a:pt x="1039075" y="356632"/>
                      <a:pt x="1041936" y="366634"/>
                    </a:cubicBezTo>
                    <a:cubicBezTo>
                      <a:pt x="1041936" y="366634"/>
                      <a:pt x="1041936" y="366634"/>
                      <a:pt x="1065545" y="434499"/>
                    </a:cubicBezTo>
                    <a:cubicBezTo>
                      <a:pt x="1085577" y="493792"/>
                      <a:pt x="1088439" y="556657"/>
                      <a:pt x="1074130" y="617379"/>
                    </a:cubicBezTo>
                    <a:cubicBezTo>
                      <a:pt x="1074130" y="617379"/>
                      <a:pt x="1074130" y="617379"/>
                      <a:pt x="1071984" y="623809"/>
                    </a:cubicBezTo>
                    <a:cubicBezTo>
                      <a:pt x="1056245" y="688817"/>
                      <a:pt x="1019043" y="746681"/>
                      <a:pt x="966816" y="788829"/>
                    </a:cubicBezTo>
                    <a:cubicBezTo>
                      <a:pt x="966816" y="788829"/>
                      <a:pt x="966816" y="788829"/>
                      <a:pt x="946069" y="805260"/>
                    </a:cubicBezTo>
                    <a:cubicBezTo>
                      <a:pt x="938199" y="811689"/>
                      <a:pt x="929614" y="814547"/>
                      <a:pt x="920314" y="814547"/>
                    </a:cubicBezTo>
                    <a:cubicBezTo>
                      <a:pt x="906005" y="814547"/>
                      <a:pt x="893127" y="807403"/>
                      <a:pt x="885258" y="795973"/>
                    </a:cubicBezTo>
                    <a:cubicBezTo>
                      <a:pt x="878103" y="783829"/>
                      <a:pt x="876673" y="769541"/>
                      <a:pt x="882396" y="756682"/>
                    </a:cubicBezTo>
                    <a:cubicBezTo>
                      <a:pt x="882396" y="756682"/>
                      <a:pt x="882396" y="756682"/>
                      <a:pt x="931045" y="646669"/>
                    </a:cubicBezTo>
                    <a:cubicBezTo>
                      <a:pt x="937484" y="631667"/>
                      <a:pt x="931760" y="613807"/>
                      <a:pt x="917452" y="605235"/>
                    </a:cubicBezTo>
                    <a:cubicBezTo>
                      <a:pt x="912444" y="602377"/>
                      <a:pt x="906721" y="600949"/>
                      <a:pt x="901713" y="600949"/>
                    </a:cubicBezTo>
                    <a:cubicBezTo>
                      <a:pt x="890266" y="600949"/>
                      <a:pt x="880250" y="606664"/>
                      <a:pt x="873811" y="616665"/>
                    </a:cubicBezTo>
                    <a:cubicBezTo>
                      <a:pt x="873811" y="616665"/>
                      <a:pt x="873811" y="616665"/>
                      <a:pt x="710693" y="875268"/>
                    </a:cubicBezTo>
                    <a:cubicBezTo>
                      <a:pt x="696385" y="897414"/>
                      <a:pt x="688515" y="923846"/>
                      <a:pt x="688515" y="950278"/>
                    </a:cubicBezTo>
                    <a:cubicBezTo>
                      <a:pt x="688515" y="950278"/>
                      <a:pt x="688515" y="950278"/>
                      <a:pt x="689946" y="1273175"/>
                    </a:cubicBezTo>
                    <a:cubicBezTo>
                      <a:pt x="689946" y="1273175"/>
                      <a:pt x="689946" y="1273175"/>
                      <a:pt x="956800" y="1273175"/>
                    </a:cubicBezTo>
                    <a:cubicBezTo>
                      <a:pt x="956800" y="1273175"/>
                      <a:pt x="956800" y="1273175"/>
                      <a:pt x="956800" y="1096010"/>
                    </a:cubicBezTo>
                    <a:cubicBezTo>
                      <a:pt x="956800" y="1094581"/>
                      <a:pt x="956800" y="1093153"/>
                      <a:pt x="956800" y="1091724"/>
                    </a:cubicBezTo>
                    <a:cubicBezTo>
                      <a:pt x="961808" y="1057434"/>
                      <a:pt x="974686" y="1024573"/>
                      <a:pt x="993287" y="995998"/>
                    </a:cubicBezTo>
                    <a:cubicBezTo>
                      <a:pt x="993287" y="995998"/>
                      <a:pt x="993287" y="995998"/>
                      <a:pt x="1059822" y="896700"/>
                    </a:cubicBezTo>
                    <a:cubicBezTo>
                      <a:pt x="1104894" y="828120"/>
                      <a:pt x="1136373" y="753110"/>
                      <a:pt x="1153543" y="672386"/>
                    </a:cubicBezTo>
                    <a:cubicBezTo>
                      <a:pt x="1153543" y="672386"/>
                      <a:pt x="1153543" y="672386"/>
                      <a:pt x="1156405" y="659527"/>
                    </a:cubicBezTo>
                    <a:cubicBezTo>
                      <a:pt x="1174290" y="575945"/>
                      <a:pt x="1168567" y="488792"/>
                      <a:pt x="1138519" y="408067"/>
                    </a:cubicBezTo>
                    <a:cubicBezTo>
                      <a:pt x="1138519" y="408067"/>
                      <a:pt x="1138519" y="408067"/>
                      <a:pt x="1113479" y="340916"/>
                    </a:cubicBezTo>
                    <a:cubicBezTo>
                      <a:pt x="1107756" y="325914"/>
                      <a:pt x="1093447" y="315913"/>
                      <a:pt x="1077708" y="315913"/>
                    </a:cubicBezTo>
                    <a:close/>
                    <a:moveTo>
                      <a:pt x="118348" y="315913"/>
                    </a:moveTo>
                    <a:cubicBezTo>
                      <a:pt x="102609" y="315913"/>
                      <a:pt x="88300" y="325914"/>
                      <a:pt x="82577" y="340916"/>
                    </a:cubicBezTo>
                    <a:cubicBezTo>
                      <a:pt x="82577" y="340916"/>
                      <a:pt x="82577" y="340916"/>
                      <a:pt x="57537" y="408067"/>
                    </a:cubicBezTo>
                    <a:cubicBezTo>
                      <a:pt x="27489" y="488792"/>
                      <a:pt x="21765" y="575945"/>
                      <a:pt x="39651" y="659527"/>
                    </a:cubicBezTo>
                    <a:cubicBezTo>
                      <a:pt x="39651" y="659527"/>
                      <a:pt x="39651" y="659527"/>
                      <a:pt x="42513" y="672386"/>
                    </a:cubicBezTo>
                    <a:cubicBezTo>
                      <a:pt x="59683" y="753110"/>
                      <a:pt x="91162" y="828120"/>
                      <a:pt x="136234" y="896700"/>
                    </a:cubicBezTo>
                    <a:cubicBezTo>
                      <a:pt x="136234" y="896700"/>
                      <a:pt x="136234" y="896700"/>
                      <a:pt x="202768" y="995998"/>
                    </a:cubicBezTo>
                    <a:cubicBezTo>
                      <a:pt x="221369" y="1024573"/>
                      <a:pt x="234247" y="1057434"/>
                      <a:pt x="239255" y="1091724"/>
                    </a:cubicBezTo>
                    <a:cubicBezTo>
                      <a:pt x="239255" y="1093153"/>
                      <a:pt x="239255" y="1094581"/>
                      <a:pt x="239255" y="1096010"/>
                    </a:cubicBezTo>
                    <a:cubicBezTo>
                      <a:pt x="239255" y="1096010"/>
                      <a:pt x="239255" y="1096010"/>
                      <a:pt x="239255" y="1273175"/>
                    </a:cubicBezTo>
                    <a:cubicBezTo>
                      <a:pt x="239255" y="1273175"/>
                      <a:pt x="239255" y="1273175"/>
                      <a:pt x="506109" y="1273175"/>
                    </a:cubicBezTo>
                    <a:cubicBezTo>
                      <a:pt x="506109" y="1273175"/>
                      <a:pt x="506109" y="1273175"/>
                      <a:pt x="507540" y="950278"/>
                    </a:cubicBezTo>
                    <a:cubicBezTo>
                      <a:pt x="507540" y="923846"/>
                      <a:pt x="499671" y="897414"/>
                      <a:pt x="485362" y="875268"/>
                    </a:cubicBezTo>
                    <a:cubicBezTo>
                      <a:pt x="485362" y="875268"/>
                      <a:pt x="485362" y="875268"/>
                      <a:pt x="322245" y="616665"/>
                    </a:cubicBezTo>
                    <a:cubicBezTo>
                      <a:pt x="315806" y="606664"/>
                      <a:pt x="305790" y="600949"/>
                      <a:pt x="294343" y="600949"/>
                    </a:cubicBezTo>
                    <a:cubicBezTo>
                      <a:pt x="289335" y="600949"/>
                      <a:pt x="283612" y="602377"/>
                      <a:pt x="278604" y="605235"/>
                    </a:cubicBezTo>
                    <a:cubicBezTo>
                      <a:pt x="264295" y="613807"/>
                      <a:pt x="258572" y="631667"/>
                      <a:pt x="265010" y="646669"/>
                    </a:cubicBezTo>
                    <a:cubicBezTo>
                      <a:pt x="265010" y="646669"/>
                      <a:pt x="265010" y="646669"/>
                      <a:pt x="313659" y="756682"/>
                    </a:cubicBezTo>
                    <a:cubicBezTo>
                      <a:pt x="319383" y="769541"/>
                      <a:pt x="317952" y="783829"/>
                      <a:pt x="310798" y="795973"/>
                    </a:cubicBezTo>
                    <a:cubicBezTo>
                      <a:pt x="302928" y="807403"/>
                      <a:pt x="290050" y="814547"/>
                      <a:pt x="275742" y="814547"/>
                    </a:cubicBezTo>
                    <a:cubicBezTo>
                      <a:pt x="266441" y="814547"/>
                      <a:pt x="257856" y="811689"/>
                      <a:pt x="249986" y="805260"/>
                    </a:cubicBezTo>
                    <a:cubicBezTo>
                      <a:pt x="249986" y="805260"/>
                      <a:pt x="249986" y="805260"/>
                      <a:pt x="229239" y="788829"/>
                    </a:cubicBezTo>
                    <a:cubicBezTo>
                      <a:pt x="177013" y="746681"/>
                      <a:pt x="139811" y="688817"/>
                      <a:pt x="124071" y="623809"/>
                    </a:cubicBezTo>
                    <a:cubicBezTo>
                      <a:pt x="124071" y="623809"/>
                      <a:pt x="124071" y="623809"/>
                      <a:pt x="121925" y="617379"/>
                    </a:cubicBezTo>
                    <a:cubicBezTo>
                      <a:pt x="107616" y="556657"/>
                      <a:pt x="110478" y="493792"/>
                      <a:pt x="130510" y="434499"/>
                    </a:cubicBezTo>
                    <a:cubicBezTo>
                      <a:pt x="130510" y="434499"/>
                      <a:pt x="130510" y="434499"/>
                      <a:pt x="154119" y="366634"/>
                    </a:cubicBezTo>
                    <a:cubicBezTo>
                      <a:pt x="157696" y="356632"/>
                      <a:pt x="156981" y="346631"/>
                      <a:pt x="151973" y="337344"/>
                    </a:cubicBezTo>
                    <a:cubicBezTo>
                      <a:pt x="147680" y="328057"/>
                      <a:pt x="139811" y="321628"/>
                      <a:pt x="129795" y="318056"/>
                    </a:cubicBezTo>
                    <a:cubicBezTo>
                      <a:pt x="126218" y="316627"/>
                      <a:pt x="121925" y="315913"/>
                      <a:pt x="118348" y="315913"/>
                    </a:cubicBezTo>
                    <a:close/>
                    <a:moveTo>
                      <a:pt x="1078223" y="284163"/>
                    </a:moveTo>
                    <a:cubicBezTo>
                      <a:pt x="1106785" y="284163"/>
                      <a:pt x="1133206" y="302034"/>
                      <a:pt x="1143202" y="329912"/>
                    </a:cubicBezTo>
                    <a:cubicBezTo>
                      <a:pt x="1143202" y="329912"/>
                      <a:pt x="1143202" y="329912"/>
                      <a:pt x="1168195" y="396390"/>
                    </a:cubicBezTo>
                    <a:cubicBezTo>
                      <a:pt x="1199614" y="482883"/>
                      <a:pt x="1206040" y="576524"/>
                      <a:pt x="1186760" y="665877"/>
                    </a:cubicBezTo>
                    <a:cubicBezTo>
                      <a:pt x="1186760" y="665877"/>
                      <a:pt x="1186760" y="665877"/>
                      <a:pt x="1183904" y="679458"/>
                    </a:cubicBezTo>
                    <a:cubicBezTo>
                      <a:pt x="1166767" y="763092"/>
                      <a:pt x="1133206" y="842437"/>
                      <a:pt x="1086077" y="913919"/>
                    </a:cubicBezTo>
                    <a:cubicBezTo>
                      <a:pt x="1086077" y="913919"/>
                      <a:pt x="1086077" y="913919"/>
                      <a:pt x="1020383" y="1013279"/>
                    </a:cubicBezTo>
                    <a:cubicBezTo>
                      <a:pt x="1003960" y="1038298"/>
                      <a:pt x="993249" y="1066890"/>
                      <a:pt x="988964" y="1096198"/>
                    </a:cubicBezTo>
                    <a:cubicBezTo>
                      <a:pt x="988964" y="1096198"/>
                      <a:pt x="988964" y="1096198"/>
                      <a:pt x="989678" y="1289199"/>
                    </a:cubicBezTo>
                    <a:cubicBezTo>
                      <a:pt x="989678" y="1297777"/>
                      <a:pt x="982538" y="1304925"/>
                      <a:pt x="973969" y="1304925"/>
                    </a:cubicBezTo>
                    <a:cubicBezTo>
                      <a:pt x="973969" y="1304925"/>
                      <a:pt x="973969" y="1304925"/>
                      <a:pt x="667635" y="1304925"/>
                    </a:cubicBezTo>
                    <a:cubicBezTo>
                      <a:pt x="662637" y="1302066"/>
                      <a:pt x="659780" y="1296347"/>
                      <a:pt x="659780" y="1291344"/>
                    </a:cubicBezTo>
                    <a:cubicBezTo>
                      <a:pt x="659780" y="1291344"/>
                      <a:pt x="659780" y="1291344"/>
                      <a:pt x="658352" y="950375"/>
                    </a:cubicBezTo>
                    <a:cubicBezTo>
                      <a:pt x="658352" y="917493"/>
                      <a:pt x="667635" y="886041"/>
                      <a:pt x="684773" y="858163"/>
                    </a:cubicBezTo>
                    <a:cubicBezTo>
                      <a:pt x="684773" y="858163"/>
                      <a:pt x="684773" y="858163"/>
                      <a:pt x="849008" y="599398"/>
                    </a:cubicBezTo>
                    <a:cubicBezTo>
                      <a:pt x="860433" y="580098"/>
                      <a:pt x="881141" y="569376"/>
                      <a:pt x="902563" y="569376"/>
                    </a:cubicBezTo>
                    <a:cubicBezTo>
                      <a:pt x="912559" y="569376"/>
                      <a:pt x="923984" y="572235"/>
                      <a:pt x="933267" y="577954"/>
                    </a:cubicBezTo>
                    <a:cubicBezTo>
                      <a:pt x="961830" y="594395"/>
                      <a:pt x="973969" y="629421"/>
                      <a:pt x="960402" y="659443"/>
                    </a:cubicBezTo>
                    <a:cubicBezTo>
                      <a:pt x="960402" y="659443"/>
                      <a:pt x="960402" y="659443"/>
                      <a:pt x="911845" y="769525"/>
                    </a:cubicBezTo>
                    <a:cubicBezTo>
                      <a:pt x="908989" y="776674"/>
                      <a:pt x="914702" y="783107"/>
                      <a:pt x="921128" y="783107"/>
                    </a:cubicBezTo>
                    <a:cubicBezTo>
                      <a:pt x="922556" y="783107"/>
                      <a:pt x="924699" y="782392"/>
                      <a:pt x="926841" y="780963"/>
                    </a:cubicBezTo>
                    <a:cubicBezTo>
                      <a:pt x="926841" y="780963"/>
                      <a:pt x="926841" y="780963"/>
                      <a:pt x="948263" y="763807"/>
                    </a:cubicBezTo>
                    <a:cubicBezTo>
                      <a:pt x="994677" y="726636"/>
                      <a:pt x="1028238" y="674454"/>
                      <a:pt x="1042519" y="616554"/>
                    </a:cubicBezTo>
                    <a:cubicBezTo>
                      <a:pt x="1042519" y="616554"/>
                      <a:pt x="1042519" y="616554"/>
                      <a:pt x="1043947" y="609406"/>
                    </a:cubicBezTo>
                    <a:cubicBezTo>
                      <a:pt x="1057515" y="555080"/>
                      <a:pt x="1054658" y="497894"/>
                      <a:pt x="1036093" y="444997"/>
                    </a:cubicBezTo>
                    <a:cubicBezTo>
                      <a:pt x="1036093" y="444997"/>
                      <a:pt x="1036093" y="444997"/>
                      <a:pt x="1013243" y="376375"/>
                    </a:cubicBezTo>
                    <a:cubicBezTo>
                      <a:pt x="1000389" y="339919"/>
                      <a:pt x="1019669" y="299889"/>
                      <a:pt x="1056801" y="287737"/>
                    </a:cubicBezTo>
                    <a:cubicBezTo>
                      <a:pt x="1063941" y="285593"/>
                      <a:pt x="1071082" y="284163"/>
                      <a:pt x="1078223" y="284163"/>
                    </a:cubicBezTo>
                    <a:close/>
                    <a:moveTo>
                      <a:pt x="119420" y="284163"/>
                    </a:moveTo>
                    <a:cubicBezTo>
                      <a:pt x="126561" y="284163"/>
                      <a:pt x="133701" y="285593"/>
                      <a:pt x="140842" y="287737"/>
                    </a:cubicBezTo>
                    <a:cubicBezTo>
                      <a:pt x="177973" y="299889"/>
                      <a:pt x="197253" y="339919"/>
                      <a:pt x="184400" y="376375"/>
                    </a:cubicBezTo>
                    <a:cubicBezTo>
                      <a:pt x="184400" y="376375"/>
                      <a:pt x="184400" y="376375"/>
                      <a:pt x="161550" y="444997"/>
                    </a:cubicBezTo>
                    <a:cubicBezTo>
                      <a:pt x="142984" y="497894"/>
                      <a:pt x="140128" y="555080"/>
                      <a:pt x="153695" y="609406"/>
                    </a:cubicBezTo>
                    <a:cubicBezTo>
                      <a:pt x="153695" y="609406"/>
                      <a:pt x="153695" y="609406"/>
                      <a:pt x="155123" y="616554"/>
                    </a:cubicBezTo>
                    <a:cubicBezTo>
                      <a:pt x="169404" y="674454"/>
                      <a:pt x="202966" y="726636"/>
                      <a:pt x="249380" y="763807"/>
                    </a:cubicBezTo>
                    <a:cubicBezTo>
                      <a:pt x="249380" y="763807"/>
                      <a:pt x="249380" y="763807"/>
                      <a:pt x="270802" y="780963"/>
                    </a:cubicBezTo>
                    <a:cubicBezTo>
                      <a:pt x="272944" y="782392"/>
                      <a:pt x="275086" y="783107"/>
                      <a:pt x="276514" y="783107"/>
                    </a:cubicBezTo>
                    <a:cubicBezTo>
                      <a:pt x="282941" y="783107"/>
                      <a:pt x="288653" y="776674"/>
                      <a:pt x="285797" y="769525"/>
                    </a:cubicBezTo>
                    <a:cubicBezTo>
                      <a:pt x="285797" y="769525"/>
                      <a:pt x="285797" y="769525"/>
                      <a:pt x="237241" y="659443"/>
                    </a:cubicBezTo>
                    <a:cubicBezTo>
                      <a:pt x="223673" y="629421"/>
                      <a:pt x="235813" y="594395"/>
                      <a:pt x="264375" y="577954"/>
                    </a:cubicBezTo>
                    <a:cubicBezTo>
                      <a:pt x="273658" y="572235"/>
                      <a:pt x="285083" y="569376"/>
                      <a:pt x="295080" y="569376"/>
                    </a:cubicBezTo>
                    <a:cubicBezTo>
                      <a:pt x="316502" y="569376"/>
                      <a:pt x="337210" y="580098"/>
                      <a:pt x="348635" y="599398"/>
                    </a:cubicBezTo>
                    <a:cubicBezTo>
                      <a:pt x="348635" y="599398"/>
                      <a:pt x="348635" y="599398"/>
                      <a:pt x="512870" y="858163"/>
                    </a:cubicBezTo>
                    <a:cubicBezTo>
                      <a:pt x="530007" y="886041"/>
                      <a:pt x="539290" y="917493"/>
                      <a:pt x="539290" y="950375"/>
                    </a:cubicBezTo>
                    <a:cubicBezTo>
                      <a:pt x="539290" y="950375"/>
                      <a:pt x="539290" y="950375"/>
                      <a:pt x="537862" y="1291344"/>
                    </a:cubicBezTo>
                    <a:cubicBezTo>
                      <a:pt x="537862" y="1296347"/>
                      <a:pt x="535006" y="1302066"/>
                      <a:pt x="530007" y="1304925"/>
                    </a:cubicBezTo>
                    <a:cubicBezTo>
                      <a:pt x="530007" y="1304925"/>
                      <a:pt x="530007" y="1304925"/>
                      <a:pt x="224387" y="1304925"/>
                    </a:cubicBezTo>
                    <a:cubicBezTo>
                      <a:pt x="223673" y="1304925"/>
                      <a:pt x="223673" y="1304925"/>
                      <a:pt x="223673" y="1304925"/>
                    </a:cubicBezTo>
                    <a:cubicBezTo>
                      <a:pt x="215105" y="1304925"/>
                      <a:pt x="207964" y="1297777"/>
                      <a:pt x="207964" y="1289199"/>
                    </a:cubicBezTo>
                    <a:cubicBezTo>
                      <a:pt x="207964" y="1289199"/>
                      <a:pt x="207964" y="1289199"/>
                      <a:pt x="208678" y="1096198"/>
                    </a:cubicBezTo>
                    <a:cubicBezTo>
                      <a:pt x="204394" y="1066890"/>
                      <a:pt x="193683" y="1038298"/>
                      <a:pt x="177259" y="1013279"/>
                    </a:cubicBezTo>
                    <a:cubicBezTo>
                      <a:pt x="177259" y="1013279"/>
                      <a:pt x="177259" y="1013279"/>
                      <a:pt x="111565" y="913919"/>
                    </a:cubicBezTo>
                    <a:cubicBezTo>
                      <a:pt x="64437" y="842437"/>
                      <a:pt x="30876" y="763092"/>
                      <a:pt x="13738" y="679458"/>
                    </a:cubicBezTo>
                    <a:cubicBezTo>
                      <a:pt x="13738" y="679458"/>
                      <a:pt x="13738" y="679458"/>
                      <a:pt x="10882" y="665877"/>
                    </a:cubicBezTo>
                    <a:cubicBezTo>
                      <a:pt x="-8398" y="576524"/>
                      <a:pt x="-1971" y="482883"/>
                      <a:pt x="29448" y="396390"/>
                    </a:cubicBezTo>
                    <a:cubicBezTo>
                      <a:pt x="29448" y="396390"/>
                      <a:pt x="29448" y="396390"/>
                      <a:pt x="54440" y="329912"/>
                    </a:cubicBezTo>
                    <a:cubicBezTo>
                      <a:pt x="64437" y="302034"/>
                      <a:pt x="90857" y="284163"/>
                      <a:pt x="119420" y="284163"/>
                    </a:cubicBezTo>
                    <a:close/>
                    <a:moveTo>
                      <a:pt x="586062" y="84138"/>
                    </a:moveTo>
                    <a:cubicBezTo>
                      <a:pt x="611739" y="84138"/>
                      <a:pt x="611739" y="84138"/>
                      <a:pt x="611739" y="84138"/>
                    </a:cubicBezTo>
                    <a:cubicBezTo>
                      <a:pt x="611739" y="102626"/>
                      <a:pt x="611739" y="102626"/>
                      <a:pt x="611739" y="102626"/>
                    </a:cubicBezTo>
                    <a:cubicBezTo>
                      <a:pt x="624577" y="104048"/>
                      <a:pt x="635988" y="106892"/>
                      <a:pt x="641694" y="112581"/>
                    </a:cubicBezTo>
                    <a:cubicBezTo>
                      <a:pt x="633849" y="136046"/>
                      <a:pt x="633849" y="136046"/>
                      <a:pt x="633849" y="136046"/>
                    </a:cubicBezTo>
                    <a:cubicBezTo>
                      <a:pt x="623150" y="128935"/>
                      <a:pt x="611739" y="125380"/>
                      <a:pt x="600327" y="125380"/>
                    </a:cubicBezTo>
                    <a:cubicBezTo>
                      <a:pt x="593908" y="125380"/>
                      <a:pt x="588915" y="127513"/>
                      <a:pt x="585349" y="130357"/>
                    </a:cubicBezTo>
                    <a:cubicBezTo>
                      <a:pt x="581070" y="133913"/>
                      <a:pt x="579643" y="138890"/>
                      <a:pt x="579643" y="144579"/>
                    </a:cubicBezTo>
                    <a:cubicBezTo>
                      <a:pt x="579643" y="153112"/>
                      <a:pt x="589629" y="163066"/>
                      <a:pt x="611025" y="172310"/>
                    </a:cubicBezTo>
                    <a:cubicBezTo>
                      <a:pt x="621724" y="177999"/>
                      <a:pt x="630282" y="183687"/>
                      <a:pt x="635275" y="187954"/>
                    </a:cubicBezTo>
                    <a:cubicBezTo>
                      <a:pt x="639554" y="192220"/>
                      <a:pt x="642407" y="197198"/>
                      <a:pt x="645260" y="202886"/>
                    </a:cubicBezTo>
                    <a:cubicBezTo>
                      <a:pt x="647400" y="209286"/>
                      <a:pt x="648826" y="214974"/>
                      <a:pt x="648826" y="222085"/>
                    </a:cubicBezTo>
                    <a:cubicBezTo>
                      <a:pt x="648826" y="232751"/>
                      <a:pt x="645973" y="241284"/>
                      <a:pt x="638841" y="249105"/>
                    </a:cubicBezTo>
                    <a:cubicBezTo>
                      <a:pt x="633135" y="256216"/>
                      <a:pt x="623150" y="261905"/>
                      <a:pt x="611739" y="264749"/>
                    </a:cubicBezTo>
                    <a:cubicBezTo>
                      <a:pt x="611739" y="288925"/>
                      <a:pt x="611739" y="288925"/>
                      <a:pt x="611739" y="288925"/>
                    </a:cubicBezTo>
                    <a:cubicBezTo>
                      <a:pt x="586062" y="288925"/>
                      <a:pt x="586062" y="288925"/>
                      <a:pt x="586062" y="288925"/>
                    </a:cubicBezTo>
                    <a:cubicBezTo>
                      <a:pt x="586062" y="266171"/>
                      <a:pt x="586062" y="266171"/>
                      <a:pt x="586062" y="266171"/>
                    </a:cubicBezTo>
                    <a:cubicBezTo>
                      <a:pt x="573224" y="266171"/>
                      <a:pt x="561813" y="261905"/>
                      <a:pt x="550401" y="254794"/>
                    </a:cubicBezTo>
                    <a:cubicBezTo>
                      <a:pt x="561813" y="229907"/>
                      <a:pt x="561813" y="229907"/>
                      <a:pt x="561813" y="229907"/>
                    </a:cubicBezTo>
                    <a:cubicBezTo>
                      <a:pt x="572511" y="237728"/>
                      <a:pt x="583923" y="241284"/>
                      <a:pt x="594621" y="241284"/>
                    </a:cubicBezTo>
                    <a:cubicBezTo>
                      <a:pt x="611739" y="241284"/>
                      <a:pt x="620297" y="235595"/>
                      <a:pt x="620297" y="224218"/>
                    </a:cubicBezTo>
                    <a:cubicBezTo>
                      <a:pt x="620297" y="218530"/>
                      <a:pt x="618158" y="213552"/>
                      <a:pt x="613878" y="208575"/>
                    </a:cubicBezTo>
                    <a:cubicBezTo>
                      <a:pt x="609599" y="203597"/>
                      <a:pt x="601040" y="197909"/>
                      <a:pt x="588915" y="191509"/>
                    </a:cubicBezTo>
                    <a:cubicBezTo>
                      <a:pt x="576791" y="185821"/>
                      <a:pt x="569658" y="180843"/>
                      <a:pt x="564666" y="177288"/>
                    </a:cubicBezTo>
                    <a:cubicBezTo>
                      <a:pt x="560386" y="172310"/>
                      <a:pt x="557533" y="168044"/>
                      <a:pt x="553967" y="162355"/>
                    </a:cubicBezTo>
                    <a:cubicBezTo>
                      <a:pt x="551828" y="156667"/>
                      <a:pt x="551114" y="150978"/>
                      <a:pt x="551114" y="144579"/>
                    </a:cubicBezTo>
                    <a:cubicBezTo>
                      <a:pt x="551114" y="133913"/>
                      <a:pt x="553967" y="125380"/>
                      <a:pt x="561100" y="118980"/>
                    </a:cubicBezTo>
                    <a:cubicBezTo>
                      <a:pt x="567519" y="111870"/>
                      <a:pt x="575364" y="106892"/>
                      <a:pt x="586062" y="104048"/>
                    </a:cubicBezTo>
                    <a:cubicBezTo>
                      <a:pt x="586062" y="84138"/>
                      <a:pt x="586062" y="84138"/>
                      <a:pt x="586062" y="84138"/>
                    </a:cubicBezTo>
                    <a:close/>
                    <a:moveTo>
                      <a:pt x="248776" y="31750"/>
                    </a:moveTo>
                    <a:cubicBezTo>
                      <a:pt x="248776" y="31750"/>
                      <a:pt x="248776" y="31750"/>
                      <a:pt x="248776" y="341312"/>
                    </a:cubicBezTo>
                    <a:cubicBezTo>
                      <a:pt x="248776" y="341312"/>
                      <a:pt x="248776" y="341312"/>
                      <a:pt x="947276" y="341312"/>
                    </a:cubicBezTo>
                    <a:cubicBezTo>
                      <a:pt x="947276" y="341312"/>
                      <a:pt x="947276" y="341312"/>
                      <a:pt x="947276" y="31750"/>
                    </a:cubicBezTo>
                    <a:cubicBezTo>
                      <a:pt x="947276" y="31750"/>
                      <a:pt x="947276" y="31750"/>
                      <a:pt x="248776" y="31750"/>
                    </a:cubicBezTo>
                    <a:close/>
                    <a:moveTo>
                      <a:pt x="226319" y="0"/>
                    </a:moveTo>
                    <a:cubicBezTo>
                      <a:pt x="969734" y="0"/>
                      <a:pt x="969734" y="0"/>
                      <a:pt x="969734" y="0"/>
                    </a:cubicBezTo>
                    <a:cubicBezTo>
                      <a:pt x="975452" y="0"/>
                      <a:pt x="979026" y="3574"/>
                      <a:pt x="979026" y="8576"/>
                    </a:cubicBezTo>
                    <a:cubicBezTo>
                      <a:pt x="979026" y="363771"/>
                      <a:pt x="979026" y="363771"/>
                      <a:pt x="979026" y="363771"/>
                    </a:cubicBezTo>
                    <a:cubicBezTo>
                      <a:pt x="979026" y="368774"/>
                      <a:pt x="975452" y="373062"/>
                      <a:pt x="969734" y="373062"/>
                    </a:cubicBezTo>
                    <a:cubicBezTo>
                      <a:pt x="226319" y="373062"/>
                      <a:pt x="226319" y="373062"/>
                      <a:pt x="226319" y="373062"/>
                    </a:cubicBezTo>
                    <a:cubicBezTo>
                      <a:pt x="221315" y="373062"/>
                      <a:pt x="217026" y="368774"/>
                      <a:pt x="217026" y="363771"/>
                    </a:cubicBezTo>
                    <a:cubicBezTo>
                      <a:pt x="217026" y="8576"/>
                      <a:pt x="217026" y="8576"/>
                      <a:pt x="217026" y="8576"/>
                    </a:cubicBezTo>
                    <a:cubicBezTo>
                      <a:pt x="217026" y="3574"/>
                      <a:pt x="221315" y="0"/>
                      <a:pt x="226319"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noAutofit/>
              </a:bodyPr>
              <a:lstStyle/>
              <a:p>
                <a:endParaRPr lang="en-US"/>
              </a:p>
            </p:txBody>
          </p:sp>
        </p:grpSp>
      </p:grpSp>
      <p:grpSp>
        <p:nvGrpSpPr>
          <p:cNvPr id="175" name="Group 174">
            <a:extLst>
              <a:ext uri="{FF2B5EF4-FFF2-40B4-BE49-F238E27FC236}">
                <a16:creationId xmlns:a16="http://schemas.microsoft.com/office/drawing/2014/main" id="{C56A94EF-8856-45E0-AD8E-2E75B0BE0693}"/>
              </a:ext>
            </a:extLst>
          </p:cNvPr>
          <p:cNvGrpSpPr>
            <a:grpSpLocks noChangeAspect="1"/>
          </p:cNvGrpSpPr>
          <p:nvPr/>
        </p:nvGrpSpPr>
        <p:grpSpPr>
          <a:xfrm>
            <a:off x="8990492" y="1697849"/>
            <a:ext cx="351973" cy="352300"/>
            <a:chOff x="5273799" y="2606040"/>
            <a:chExt cx="1644396" cy="1645920"/>
          </a:xfrm>
        </p:grpSpPr>
        <p:sp>
          <p:nvSpPr>
            <p:cNvPr id="176" name="AutoShape 3">
              <a:extLst>
                <a:ext uri="{FF2B5EF4-FFF2-40B4-BE49-F238E27FC236}">
                  <a16:creationId xmlns:a16="http://schemas.microsoft.com/office/drawing/2014/main" id="{5FA2DBE4-6E87-4C91-9504-BF0A09CD1F44}"/>
                </a:ext>
              </a:extLst>
            </p:cNvPr>
            <p:cNvSpPr>
              <a:spLocks noChangeAspect="1" noChangeArrowheads="1" noTextEdit="1"/>
            </p:cNvSpPr>
            <p:nvPr/>
          </p:nvSpPr>
          <p:spPr bwMode="auto">
            <a:xfrm>
              <a:off x="5273799" y="2606040"/>
              <a:ext cx="1644396" cy="1645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3152" tIns="36576" rIns="73152" bIns="36576" numCol="1" anchor="t" anchorCtr="0" compatLnSpc="1">
              <a:prstTxWarp prst="textNoShape">
                <a:avLst/>
              </a:prstTxWarp>
            </a:bodyPr>
            <a:lstStyle/>
            <a:p>
              <a:endParaRPr lang="en-US"/>
            </a:p>
          </p:txBody>
        </p:sp>
        <p:grpSp>
          <p:nvGrpSpPr>
            <p:cNvPr id="177" name="Group 176">
              <a:extLst>
                <a:ext uri="{FF2B5EF4-FFF2-40B4-BE49-F238E27FC236}">
                  <a16:creationId xmlns:a16="http://schemas.microsoft.com/office/drawing/2014/main" id="{033B9B48-13AF-449F-A5F6-A738227FC7A2}"/>
                </a:ext>
              </a:extLst>
            </p:cNvPr>
            <p:cNvGrpSpPr/>
            <p:nvPr/>
          </p:nvGrpSpPr>
          <p:grpSpPr>
            <a:xfrm>
              <a:off x="5442201" y="2765298"/>
              <a:ext cx="1306068" cy="1315974"/>
              <a:chOff x="5442201" y="2765298"/>
              <a:chExt cx="1306068" cy="1315974"/>
            </a:xfrm>
          </p:grpSpPr>
          <p:sp>
            <p:nvSpPr>
              <p:cNvPr id="178" name="Freeform 5">
                <a:extLst>
                  <a:ext uri="{FF2B5EF4-FFF2-40B4-BE49-F238E27FC236}">
                    <a16:creationId xmlns:a16="http://schemas.microsoft.com/office/drawing/2014/main" id="{3484A246-C4D8-4999-BFED-47229CA76AC0}"/>
                  </a:ext>
                </a:extLst>
              </p:cNvPr>
              <p:cNvSpPr>
                <a:spLocks noEditPoints="1"/>
              </p:cNvSpPr>
              <p:nvPr/>
            </p:nvSpPr>
            <p:spPr bwMode="auto">
              <a:xfrm>
                <a:off x="5442201" y="2765298"/>
                <a:ext cx="1306068" cy="1315974"/>
              </a:xfrm>
              <a:custGeom>
                <a:avLst/>
                <a:gdLst>
                  <a:gd name="T0" fmla="*/ 1807 w 1830"/>
                  <a:gd name="T1" fmla="*/ 1666 h 1842"/>
                  <a:gd name="T2" fmla="*/ 1708 w 1830"/>
                  <a:gd name="T3" fmla="*/ 1666 h 1842"/>
                  <a:gd name="T4" fmla="*/ 1708 w 1830"/>
                  <a:gd name="T5" fmla="*/ 1616 h 1842"/>
                  <a:gd name="T6" fmla="*/ 1686 w 1830"/>
                  <a:gd name="T7" fmla="*/ 1594 h 1842"/>
                  <a:gd name="T8" fmla="*/ 144 w 1830"/>
                  <a:gd name="T9" fmla="*/ 1594 h 1842"/>
                  <a:gd name="T10" fmla="*/ 122 w 1830"/>
                  <a:gd name="T11" fmla="*/ 1616 h 1842"/>
                  <a:gd name="T12" fmla="*/ 122 w 1830"/>
                  <a:gd name="T13" fmla="*/ 1666 h 1842"/>
                  <a:gd name="T14" fmla="*/ 23 w 1830"/>
                  <a:gd name="T15" fmla="*/ 1666 h 1842"/>
                  <a:gd name="T16" fmla="*/ 1 w 1830"/>
                  <a:gd name="T17" fmla="*/ 1688 h 1842"/>
                  <a:gd name="T18" fmla="*/ 1 w 1830"/>
                  <a:gd name="T19" fmla="*/ 1820 h 1842"/>
                  <a:gd name="T20" fmla="*/ 23 w 1830"/>
                  <a:gd name="T21" fmla="*/ 1842 h 1842"/>
                  <a:gd name="T22" fmla="*/ 1807 w 1830"/>
                  <a:gd name="T23" fmla="*/ 1842 h 1842"/>
                  <a:gd name="T24" fmla="*/ 1829 w 1830"/>
                  <a:gd name="T25" fmla="*/ 1820 h 1842"/>
                  <a:gd name="T26" fmla="*/ 1829 w 1830"/>
                  <a:gd name="T27" fmla="*/ 1688 h 1842"/>
                  <a:gd name="T28" fmla="*/ 1807 w 1830"/>
                  <a:gd name="T29" fmla="*/ 1666 h 1842"/>
                  <a:gd name="T30" fmla="*/ 1818 w 1830"/>
                  <a:gd name="T31" fmla="*/ 441 h 1842"/>
                  <a:gd name="T32" fmla="*/ 925 w 1830"/>
                  <a:gd name="T33" fmla="*/ 3 h 1842"/>
                  <a:gd name="T34" fmla="*/ 905 w 1830"/>
                  <a:gd name="T35" fmla="*/ 3 h 1842"/>
                  <a:gd name="T36" fmla="*/ 12 w 1830"/>
                  <a:gd name="T37" fmla="*/ 441 h 1842"/>
                  <a:gd name="T38" fmla="*/ 0 w 1830"/>
                  <a:gd name="T39" fmla="*/ 461 h 1842"/>
                  <a:gd name="T40" fmla="*/ 0 w 1830"/>
                  <a:gd name="T41" fmla="*/ 533 h 1842"/>
                  <a:gd name="T42" fmla="*/ 22 w 1830"/>
                  <a:gd name="T43" fmla="*/ 555 h 1842"/>
                  <a:gd name="T44" fmla="*/ 169 w 1830"/>
                  <a:gd name="T45" fmla="*/ 555 h 1842"/>
                  <a:gd name="T46" fmla="*/ 169 w 1830"/>
                  <a:gd name="T47" fmla="*/ 641 h 1842"/>
                  <a:gd name="T48" fmla="*/ 191 w 1830"/>
                  <a:gd name="T49" fmla="*/ 663 h 1842"/>
                  <a:gd name="T50" fmla="*/ 1639 w 1830"/>
                  <a:gd name="T51" fmla="*/ 663 h 1842"/>
                  <a:gd name="T52" fmla="*/ 1661 w 1830"/>
                  <a:gd name="T53" fmla="*/ 641 h 1842"/>
                  <a:gd name="T54" fmla="*/ 1661 w 1830"/>
                  <a:gd name="T55" fmla="*/ 555 h 1842"/>
                  <a:gd name="T56" fmla="*/ 1808 w 1830"/>
                  <a:gd name="T57" fmla="*/ 555 h 1842"/>
                  <a:gd name="T58" fmla="*/ 1830 w 1830"/>
                  <a:gd name="T59" fmla="*/ 533 h 1842"/>
                  <a:gd name="T60" fmla="*/ 1830 w 1830"/>
                  <a:gd name="T61" fmla="*/ 461 h 1842"/>
                  <a:gd name="T62" fmla="*/ 1818 w 1830"/>
                  <a:gd name="T63" fmla="*/ 441 h 1842"/>
                  <a:gd name="T64" fmla="*/ 1617 w 1830"/>
                  <a:gd name="T65" fmla="*/ 619 h 1842"/>
                  <a:gd name="T66" fmla="*/ 213 w 1830"/>
                  <a:gd name="T67" fmla="*/ 619 h 1842"/>
                  <a:gd name="T68" fmla="*/ 213 w 1830"/>
                  <a:gd name="T69" fmla="*/ 555 h 1842"/>
                  <a:gd name="T70" fmla="*/ 1617 w 1830"/>
                  <a:gd name="T71" fmla="*/ 555 h 1842"/>
                  <a:gd name="T72" fmla="*/ 1617 w 1830"/>
                  <a:gd name="T73" fmla="*/ 619 h 1842"/>
                  <a:gd name="T74" fmla="*/ 1786 w 1830"/>
                  <a:gd name="T75" fmla="*/ 511 h 1842"/>
                  <a:gd name="T76" fmla="*/ 1661 w 1830"/>
                  <a:gd name="T77" fmla="*/ 511 h 1842"/>
                  <a:gd name="T78" fmla="*/ 1617 w 1830"/>
                  <a:gd name="T79" fmla="*/ 511 h 1842"/>
                  <a:gd name="T80" fmla="*/ 213 w 1830"/>
                  <a:gd name="T81" fmla="*/ 511 h 1842"/>
                  <a:gd name="T82" fmla="*/ 169 w 1830"/>
                  <a:gd name="T83" fmla="*/ 511 h 1842"/>
                  <a:gd name="T84" fmla="*/ 44 w 1830"/>
                  <a:gd name="T85" fmla="*/ 511 h 1842"/>
                  <a:gd name="T86" fmla="*/ 44 w 1830"/>
                  <a:gd name="T87" fmla="*/ 474 h 1842"/>
                  <a:gd name="T88" fmla="*/ 915 w 1830"/>
                  <a:gd name="T89" fmla="*/ 47 h 1842"/>
                  <a:gd name="T90" fmla="*/ 1786 w 1830"/>
                  <a:gd name="T91" fmla="*/ 474 h 1842"/>
                  <a:gd name="T92" fmla="*/ 1786 w 1830"/>
                  <a:gd name="T93" fmla="*/ 511 h 1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830" h="1842">
                    <a:moveTo>
                      <a:pt x="1807" y="1666"/>
                    </a:moveTo>
                    <a:cubicBezTo>
                      <a:pt x="1708" y="1666"/>
                      <a:pt x="1708" y="1666"/>
                      <a:pt x="1708" y="1666"/>
                    </a:cubicBezTo>
                    <a:cubicBezTo>
                      <a:pt x="1708" y="1616"/>
                      <a:pt x="1708" y="1616"/>
                      <a:pt x="1708" y="1616"/>
                    </a:cubicBezTo>
                    <a:cubicBezTo>
                      <a:pt x="1708" y="1603"/>
                      <a:pt x="1699" y="1594"/>
                      <a:pt x="1686" y="1594"/>
                    </a:cubicBezTo>
                    <a:cubicBezTo>
                      <a:pt x="144" y="1594"/>
                      <a:pt x="144" y="1594"/>
                      <a:pt x="144" y="1594"/>
                    </a:cubicBezTo>
                    <a:cubicBezTo>
                      <a:pt x="131" y="1594"/>
                      <a:pt x="122" y="1603"/>
                      <a:pt x="122" y="1616"/>
                    </a:cubicBezTo>
                    <a:cubicBezTo>
                      <a:pt x="122" y="1666"/>
                      <a:pt x="122" y="1666"/>
                      <a:pt x="122" y="1666"/>
                    </a:cubicBezTo>
                    <a:cubicBezTo>
                      <a:pt x="23" y="1666"/>
                      <a:pt x="23" y="1666"/>
                      <a:pt x="23" y="1666"/>
                    </a:cubicBezTo>
                    <a:cubicBezTo>
                      <a:pt x="11" y="1666"/>
                      <a:pt x="1" y="1675"/>
                      <a:pt x="1" y="1688"/>
                    </a:cubicBezTo>
                    <a:cubicBezTo>
                      <a:pt x="1" y="1820"/>
                      <a:pt x="1" y="1820"/>
                      <a:pt x="1" y="1820"/>
                    </a:cubicBezTo>
                    <a:cubicBezTo>
                      <a:pt x="1" y="1832"/>
                      <a:pt x="11" y="1842"/>
                      <a:pt x="23" y="1842"/>
                    </a:cubicBezTo>
                    <a:cubicBezTo>
                      <a:pt x="1807" y="1842"/>
                      <a:pt x="1807" y="1842"/>
                      <a:pt x="1807" y="1842"/>
                    </a:cubicBezTo>
                    <a:cubicBezTo>
                      <a:pt x="1819" y="1842"/>
                      <a:pt x="1829" y="1832"/>
                      <a:pt x="1829" y="1820"/>
                    </a:cubicBezTo>
                    <a:cubicBezTo>
                      <a:pt x="1829" y="1688"/>
                      <a:pt x="1829" y="1688"/>
                      <a:pt x="1829" y="1688"/>
                    </a:cubicBezTo>
                    <a:cubicBezTo>
                      <a:pt x="1829" y="1675"/>
                      <a:pt x="1819" y="1666"/>
                      <a:pt x="1807" y="1666"/>
                    </a:cubicBezTo>
                    <a:close/>
                    <a:moveTo>
                      <a:pt x="1818" y="441"/>
                    </a:moveTo>
                    <a:cubicBezTo>
                      <a:pt x="925" y="3"/>
                      <a:pt x="925" y="3"/>
                      <a:pt x="925" y="3"/>
                    </a:cubicBezTo>
                    <a:cubicBezTo>
                      <a:pt x="919" y="0"/>
                      <a:pt x="911" y="0"/>
                      <a:pt x="905" y="3"/>
                    </a:cubicBezTo>
                    <a:cubicBezTo>
                      <a:pt x="12" y="441"/>
                      <a:pt x="12" y="441"/>
                      <a:pt x="12" y="441"/>
                    </a:cubicBezTo>
                    <a:cubicBezTo>
                      <a:pt x="5" y="445"/>
                      <a:pt x="0" y="452"/>
                      <a:pt x="0" y="461"/>
                    </a:cubicBezTo>
                    <a:cubicBezTo>
                      <a:pt x="0" y="533"/>
                      <a:pt x="0" y="533"/>
                      <a:pt x="0" y="533"/>
                    </a:cubicBezTo>
                    <a:cubicBezTo>
                      <a:pt x="0" y="545"/>
                      <a:pt x="10" y="555"/>
                      <a:pt x="22" y="555"/>
                    </a:cubicBezTo>
                    <a:cubicBezTo>
                      <a:pt x="169" y="555"/>
                      <a:pt x="169" y="555"/>
                      <a:pt x="169" y="555"/>
                    </a:cubicBezTo>
                    <a:cubicBezTo>
                      <a:pt x="169" y="641"/>
                      <a:pt x="169" y="641"/>
                      <a:pt x="169" y="641"/>
                    </a:cubicBezTo>
                    <a:cubicBezTo>
                      <a:pt x="169" y="654"/>
                      <a:pt x="179" y="663"/>
                      <a:pt x="191" y="663"/>
                    </a:cubicBezTo>
                    <a:cubicBezTo>
                      <a:pt x="1639" y="663"/>
                      <a:pt x="1639" y="663"/>
                      <a:pt x="1639" y="663"/>
                    </a:cubicBezTo>
                    <a:cubicBezTo>
                      <a:pt x="1651" y="663"/>
                      <a:pt x="1661" y="654"/>
                      <a:pt x="1661" y="641"/>
                    </a:cubicBezTo>
                    <a:cubicBezTo>
                      <a:pt x="1661" y="555"/>
                      <a:pt x="1661" y="555"/>
                      <a:pt x="1661" y="555"/>
                    </a:cubicBezTo>
                    <a:cubicBezTo>
                      <a:pt x="1808" y="555"/>
                      <a:pt x="1808" y="555"/>
                      <a:pt x="1808" y="555"/>
                    </a:cubicBezTo>
                    <a:cubicBezTo>
                      <a:pt x="1820" y="555"/>
                      <a:pt x="1830" y="545"/>
                      <a:pt x="1830" y="533"/>
                    </a:cubicBezTo>
                    <a:cubicBezTo>
                      <a:pt x="1830" y="461"/>
                      <a:pt x="1830" y="461"/>
                      <a:pt x="1830" y="461"/>
                    </a:cubicBezTo>
                    <a:cubicBezTo>
                      <a:pt x="1830" y="452"/>
                      <a:pt x="1825" y="445"/>
                      <a:pt x="1818" y="441"/>
                    </a:cubicBezTo>
                    <a:close/>
                    <a:moveTo>
                      <a:pt x="1617" y="619"/>
                    </a:moveTo>
                    <a:cubicBezTo>
                      <a:pt x="213" y="619"/>
                      <a:pt x="213" y="619"/>
                      <a:pt x="213" y="619"/>
                    </a:cubicBezTo>
                    <a:cubicBezTo>
                      <a:pt x="213" y="555"/>
                      <a:pt x="213" y="555"/>
                      <a:pt x="213" y="555"/>
                    </a:cubicBezTo>
                    <a:cubicBezTo>
                      <a:pt x="1617" y="555"/>
                      <a:pt x="1617" y="555"/>
                      <a:pt x="1617" y="555"/>
                    </a:cubicBezTo>
                    <a:lnTo>
                      <a:pt x="1617" y="619"/>
                    </a:lnTo>
                    <a:close/>
                    <a:moveTo>
                      <a:pt x="1786" y="511"/>
                    </a:moveTo>
                    <a:cubicBezTo>
                      <a:pt x="1661" y="511"/>
                      <a:pt x="1661" y="511"/>
                      <a:pt x="1661" y="511"/>
                    </a:cubicBezTo>
                    <a:cubicBezTo>
                      <a:pt x="1617" y="511"/>
                      <a:pt x="1617" y="511"/>
                      <a:pt x="1617" y="511"/>
                    </a:cubicBezTo>
                    <a:cubicBezTo>
                      <a:pt x="213" y="511"/>
                      <a:pt x="213" y="511"/>
                      <a:pt x="213" y="511"/>
                    </a:cubicBezTo>
                    <a:cubicBezTo>
                      <a:pt x="169" y="511"/>
                      <a:pt x="169" y="511"/>
                      <a:pt x="169" y="511"/>
                    </a:cubicBezTo>
                    <a:cubicBezTo>
                      <a:pt x="44" y="511"/>
                      <a:pt x="44" y="511"/>
                      <a:pt x="44" y="511"/>
                    </a:cubicBezTo>
                    <a:cubicBezTo>
                      <a:pt x="44" y="474"/>
                      <a:pt x="44" y="474"/>
                      <a:pt x="44" y="474"/>
                    </a:cubicBezTo>
                    <a:cubicBezTo>
                      <a:pt x="915" y="47"/>
                      <a:pt x="915" y="47"/>
                      <a:pt x="915" y="47"/>
                    </a:cubicBezTo>
                    <a:cubicBezTo>
                      <a:pt x="1786" y="474"/>
                      <a:pt x="1786" y="474"/>
                      <a:pt x="1786" y="474"/>
                    </a:cubicBezTo>
                    <a:lnTo>
                      <a:pt x="1786" y="51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endParaRPr lang="en-US"/>
              </a:p>
            </p:txBody>
          </p:sp>
          <p:sp>
            <p:nvSpPr>
              <p:cNvPr id="179" name="Freeform 6">
                <a:extLst>
                  <a:ext uri="{FF2B5EF4-FFF2-40B4-BE49-F238E27FC236}">
                    <a16:creationId xmlns:a16="http://schemas.microsoft.com/office/drawing/2014/main" id="{CE2BC9A3-5D94-4F29-84D6-F33B09EB3C8B}"/>
                  </a:ext>
                </a:extLst>
              </p:cNvPr>
              <p:cNvSpPr>
                <a:spLocks noEditPoints="1"/>
              </p:cNvSpPr>
              <p:nvPr/>
            </p:nvSpPr>
            <p:spPr bwMode="auto">
              <a:xfrm>
                <a:off x="5613651" y="2902458"/>
                <a:ext cx="963549" cy="958596"/>
              </a:xfrm>
              <a:custGeom>
                <a:avLst/>
                <a:gdLst>
                  <a:gd name="T0" fmla="*/ 783 w 1350"/>
                  <a:gd name="T1" fmla="*/ 108 h 1342"/>
                  <a:gd name="T2" fmla="*/ 675 w 1350"/>
                  <a:gd name="T3" fmla="*/ 216 h 1342"/>
                  <a:gd name="T4" fmla="*/ 567 w 1350"/>
                  <a:gd name="T5" fmla="*/ 108 h 1342"/>
                  <a:gd name="T6" fmla="*/ 675 w 1350"/>
                  <a:gd name="T7" fmla="*/ 0 h 1342"/>
                  <a:gd name="T8" fmla="*/ 783 w 1350"/>
                  <a:gd name="T9" fmla="*/ 108 h 1342"/>
                  <a:gd name="T10" fmla="*/ 174 w 1350"/>
                  <a:gd name="T11" fmla="*/ 540 h 1342"/>
                  <a:gd name="T12" fmla="*/ 164 w 1350"/>
                  <a:gd name="T13" fmla="*/ 531 h 1342"/>
                  <a:gd name="T14" fmla="*/ 35 w 1350"/>
                  <a:gd name="T15" fmla="*/ 531 h 1342"/>
                  <a:gd name="T16" fmla="*/ 25 w 1350"/>
                  <a:gd name="T17" fmla="*/ 540 h 1342"/>
                  <a:gd name="T18" fmla="*/ 0 w 1350"/>
                  <a:gd name="T19" fmla="*/ 1332 h 1342"/>
                  <a:gd name="T20" fmla="*/ 10 w 1350"/>
                  <a:gd name="T21" fmla="*/ 1342 h 1342"/>
                  <a:gd name="T22" fmla="*/ 188 w 1350"/>
                  <a:gd name="T23" fmla="*/ 1342 h 1342"/>
                  <a:gd name="T24" fmla="*/ 198 w 1350"/>
                  <a:gd name="T25" fmla="*/ 1332 h 1342"/>
                  <a:gd name="T26" fmla="*/ 174 w 1350"/>
                  <a:gd name="T27" fmla="*/ 540 h 1342"/>
                  <a:gd name="T28" fmla="*/ 557 w 1350"/>
                  <a:gd name="T29" fmla="*/ 540 h 1342"/>
                  <a:gd name="T30" fmla="*/ 548 w 1350"/>
                  <a:gd name="T31" fmla="*/ 531 h 1342"/>
                  <a:gd name="T32" fmla="*/ 418 w 1350"/>
                  <a:gd name="T33" fmla="*/ 531 h 1342"/>
                  <a:gd name="T34" fmla="*/ 409 w 1350"/>
                  <a:gd name="T35" fmla="*/ 540 h 1342"/>
                  <a:gd name="T36" fmla="*/ 384 w 1350"/>
                  <a:gd name="T37" fmla="*/ 1332 h 1342"/>
                  <a:gd name="T38" fmla="*/ 394 w 1350"/>
                  <a:gd name="T39" fmla="*/ 1342 h 1342"/>
                  <a:gd name="T40" fmla="*/ 572 w 1350"/>
                  <a:gd name="T41" fmla="*/ 1342 h 1342"/>
                  <a:gd name="T42" fmla="*/ 582 w 1350"/>
                  <a:gd name="T43" fmla="*/ 1332 h 1342"/>
                  <a:gd name="T44" fmla="*/ 557 w 1350"/>
                  <a:gd name="T45" fmla="*/ 540 h 1342"/>
                  <a:gd name="T46" fmla="*/ 941 w 1350"/>
                  <a:gd name="T47" fmla="*/ 540 h 1342"/>
                  <a:gd name="T48" fmla="*/ 932 w 1350"/>
                  <a:gd name="T49" fmla="*/ 531 h 1342"/>
                  <a:gd name="T50" fmla="*/ 802 w 1350"/>
                  <a:gd name="T51" fmla="*/ 531 h 1342"/>
                  <a:gd name="T52" fmla="*/ 793 w 1350"/>
                  <a:gd name="T53" fmla="*/ 540 h 1342"/>
                  <a:gd name="T54" fmla="*/ 768 w 1350"/>
                  <a:gd name="T55" fmla="*/ 1332 h 1342"/>
                  <a:gd name="T56" fmla="*/ 778 w 1350"/>
                  <a:gd name="T57" fmla="*/ 1342 h 1342"/>
                  <a:gd name="T58" fmla="*/ 956 w 1350"/>
                  <a:gd name="T59" fmla="*/ 1342 h 1342"/>
                  <a:gd name="T60" fmla="*/ 966 w 1350"/>
                  <a:gd name="T61" fmla="*/ 1332 h 1342"/>
                  <a:gd name="T62" fmla="*/ 941 w 1350"/>
                  <a:gd name="T63" fmla="*/ 540 h 1342"/>
                  <a:gd name="T64" fmla="*/ 1325 w 1350"/>
                  <a:gd name="T65" fmla="*/ 540 h 1342"/>
                  <a:gd name="T66" fmla="*/ 1315 w 1350"/>
                  <a:gd name="T67" fmla="*/ 531 h 1342"/>
                  <a:gd name="T68" fmla="*/ 1186 w 1350"/>
                  <a:gd name="T69" fmla="*/ 531 h 1342"/>
                  <a:gd name="T70" fmla="*/ 1176 w 1350"/>
                  <a:gd name="T71" fmla="*/ 540 h 1342"/>
                  <a:gd name="T72" fmla="*/ 1152 w 1350"/>
                  <a:gd name="T73" fmla="*/ 1332 h 1342"/>
                  <a:gd name="T74" fmla="*/ 1162 w 1350"/>
                  <a:gd name="T75" fmla="*/ 1342 h 1342"/>
                  <a:gd name="T76" fmla="*/ 1340 w 1350"/>
                  <a:gd name="T77" fmla="*/ 1342 h 1342"/>
                  <a:gd name="T78" fmla="*/ 1350 w 1350"/>
                  <a:gd name="T79" fmla="*/ 1332 h 1342"/>
                  <a:gd name="T80" fmla="*/ 1325 w 1350"/>
                  <a:gd name="T81" fmla="*/ 540 h 1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50" h="1342">
                    <a:moveTo>
                      <a:pt x="783" y="108"/>
                    </a:moveTo>
                    <a:cubicBezTo>
                      <a:pt x="783" y="167"/>
                      <a:pt x="735" y="216"/>
                      <a:pt x="675" y="216"/>
                    </a:cubicBezTo>
                    <a:cubicBezTo>
                      <a:pt x="615" y="216"/>
                      <a:pt x="567" y="167"/>
                      <a:pt x="567" y="108"/>
                    </a:cubicBezTo>
                    <a:cubicBezTo>
                      <a:pt x="567" y="48"/>
                      <a:pt x="615" y="0"/>
                      <a:pt x="675" y="0"/>
                    </a:cubicBezTo>
                    <a:cubicBezTo>
                      <a:pt x="735" y="0"/>
                      <a:pt x="783" y="48"/>
                      <a:pt x="783" y="108"/>
                    </a:cubicBezTo>
                    <a:close/>
                    <a:moveTo>
                      <a:pt x="174" y="540"/>
                    </a:moveTo>
                    <a:cubicBezTo>
                      <a:pt x="174" y="535"/>
                      <a:pt x="169" y="531"/>
                      <a:pt x="164" y="531"/>
                    </a:cubicBezTo>
                    <a:cubicBezTo>
                      <a:pt x="35" y="531"/>
                      <a:pt x="35" y="531"/>
                      <a:pt x="35" y="531"/>
                    </a:cubicBezTo>
                    <a:cubicBezTo>
                      <a:pt x="29" y="531"/>
                      <a:pt x="25" y="535"/>
                      <a:pt x="25" y="540"/>
                    </a:cubicBezTo>
                    <a:cubicBezTo>
                      <a:pt x="0" y="1332"/>
                      <a:pt x="0" y="1332"/>
                      <a:pt x="0" y="1332"/>
                    </a:cubicBezTo>
                    <a:cubicBezTo>
                      <a:pt x="0" y="1337"/>
                      <a:pt x="5" y="1342"/>
                      <a:pt x="10" y="1342"/>
                    </a:cubicBezTo>
                    <a:cubicBezTo>
                      <a:pt x="188" y="1342"/>
                      <a:pt x="188" y="1342"/>
                      <a:pt x="188" y="1342"/>
                    </a:cubicBezTo>
                    <a:cubicBezTo>
                      <a:pt x="194" y="1342"/>
                      <a:pt x="198" y="1337"/>
                      <a:pt x="198" y="1332"/>
                    </a:cubicBezTo>
                    <a:lnTo>
                      <a:pt x="174" y="540"/>
                    </a:lnTo>
                    <a:close/>
                    <a:moveTo>
                      <a:pt x="557" y="540"/>
                    </a:moveTo>
                    <a:cubicBezTo>
                      <a:pt x="557" y="535"/>
                      <a:pt x="553" y="531"/>
                      <a:pt x="548" y="531"/>
                    </a:cubicBezTo>
                    <a:cubicBezTo>
                      <a:pt x="418" y="531"/>
                      <a:pt x="418" y="531"/>
                      <a:pt x="418" y="531"/>
                    </a:cubicBezTo>
                    <a:cubicBezTo>
                      <a:pt x="413" y="531"/>
                      <a:pt x="409" y="535"/>
                      <a:pt x="409" y="540"/>
                    </a:cubicBezTo>
                    <a:cubicBezTo>
                      <a:pt x="384" y="1332"/>
                      <a:pt x="384" y="1332"/>
                      <a:pt x="384" y="1332"/>
                    </a:cubicBezTo>
                    <a:cubicBezTo>
                      <a:pt x="384" y="1337"/>
                      <a:pt x="389" y="1342"/>
                      <a:pt x="394" y="1342"/>
                    </a:cubicBezTo>
                    <a:cubicBezTo>
                      <a:pt x="572" y="1342"/>
                      <a:pt x="572" y="1342"/>
                      <a:pt x="572" y="1342"/>
                    </a:cubicBezTo>
                    <a:cubicBezTo>
                      <a:pt x="578" y="1342"/>
                      <a:pt x="582" y="1337"/>
                      <a:pt x="582" y="1332"/>
                    </a:cubicBezTo>
                    <a:lnTo>
                      <a:pt x="557" y="540"/>
                    </a:lnTo>
                    <a:close/>
                    <a:moveTo>
                      <a:pt x="941" y="540"/>
                    </a:moveTo>
                    <a:cubicBezTo>
                      <a:pt x="941" y="535"/>
                      <a:pt x="937" y="531"/>
                      <a:pt x="932" y="531"/>
                    </a:cubicBezTo>
                    <a:cubicBezTo>
                      <a:pt x="802" y="531"/>
                      <a:pt x="802" y="531"/>
                      <a:pt x="802" y="531"/>
                    </a:cubicBezTo>
                    <a:cubicBezTo>
                      <a:pt x="797" y="531"/>
                      <a:pt x="793" y="535"/>
                      <a:pt x="793" y="540"/>
                    </a:cubicBezTo>
                    <a:cubicBezTo>
                      <a:pt x="768" y="1332"/>
                      <a:pt x="768" y="1332"/>
                      <a:pt x="768" y="1332"/>
                    </a:cubicBezTo>
                    <a:cubicBezTo>
                      <a:pt x="768" y="1337"/>
                      <a:pt x="772" y="1342"/>
                      <a:pt x="778" y="1342"/>
                    </a:cubicBezTo>
                    <a:cubicBezTo>
                      <a:pt x="956" y="1342"/>
                      <a:pt x="956" y="1342"/>
                      <a:pt x="956" y="1342"/>
                    </a:cubicBezTo>
                    <a:cubicBezTo>
                      <a:pt x="961" y="1342"/>
                      <a:pt x="966" y="1337"/>
                      <a:pt x="966" y="1332"/>
                    </a:cubicBezTo>
                    <a:lnTo>
                      <a:pt x="941" y="540"/>
                    </a:lnTo>
                    <a:close/>
                    <a:moveTo>
                      <a:pt x="1325" y="540"/>
                    </a:moveTo>
                    <a:cubicBezTo>
                      <a:pt x="1325" y="535"/>
                      <a:pt x="1321" y="531"/>
                      <a:pt x="1315" y="531"/>
                    </a:cubicBezTo>
                    <a:cubicBezTo>
                      <a:pt x="1186" y="531"/>
                      <a:pt x="1186" y="531"/>
                      <a:pt x="1186" y="531"/>
                    </a:cubicBezTo>
                    <a:cubicBezTo>
                      <a:pt x="1181" y="531"/>
                      <a:pt x="1176" y="535"/>
                      <a:pt x="1176" y="540"/>
                    </a:cubicBezTo>
                    <a:cubicBezTo>
                      <a:pt x="1152" y="1332"/>
                      <a:pt x="1152" y="1332"/>
                      <a:pt x="1152" y="1332"/>
                    </a:cubicBezTo>
                    <a:cubicBezTo>
                      <a:pt x="1152" y="1337"/>
                      <a:pt x="1156" y="1342"/>
                      <a:pt x="1162" y="1342"/>
                    </a:cubicBezTo>
                    <a:cubicBezTo>
                      <a:pt x="1340" y="1342"/>
                      <a:pt x="1340" y="1342"/>
                      <a:pt x="1340" y="1342"/>
                    </a:cubicBezTo>
                    <a:cubicBezTo>
                      <a:pt x="1345" y="1342"/>
                      <a:pt x="1350" y="1337"/>
                      <a:pt x="1350" y="1332"/>
                    </a:cubicBezTo>
                    <a:lnTo>
                      <a:pt x="1325" y="54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3152" tIns="36576" rIns="73152" bIns="36576" numCol="1" anchor="t" anchorCtr="0" compatLnSpc="1">
                <a:prstTxWarp prst="textNoShape">
                  <a:avLst/>
                </a:prstTxWarp>
              </a:bodyPr>
              <a:lstStyle/>
              <a:p>
                <a:endParaRPr lang="en-US"/>
              </a:p>
            </p:txBody>
          </p:sp>
        </p:grpSp>
      </p:grpSp>
      <p:sp>
        <p:nvSpPr>
          <p:cNvPr id="180" name="TextBox 179">
            <a:extLst>
              <a:ext uri="{FF2B5EF4-FFF2-40B4-BE49-F238E27FC236}">
                <a16:creationId xmlns:a16="http://schemas.microsoft.com/office/drawing/2014/main" id="{8D0E6AA6-A228-48FB-9A49-7397442A9867}"/>
              </a:ext>
            </a:extLst>
          </p:cNvPr>
          <p:cNvSpPr txBox="1"/>
          <p:nvPr/>
        </p:nvSpPr>
        <p:spPr>
          <a:xfrm>
            <a:off x="8048075" y="4843702"/>
            <a:ext cx="1354768" cy="1384995"/>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27432" bIns="0" numCol="1" spcCol="0" rtlCol="0" fromWordArt="0" anchor="t" anchorCtr="0" forceAA="0" compatLnSpc="1">
            <a:prstTxWarp prst="textNoShape">
              <a:avLst/>
            </a:prstTxWarp>
            <a:noAutofit/>
          </a:bodyPr>
          <a:lstStyle/>
          <a:p>
            <a:pPr marL="324000" lvl="1" indent="-216000">
              <a:buClr>
                <a:schemeClr val="tx2"/>
              </a:buClr>
              <a:buSzPct val="100000"/>
              <a:buFont typeface="Trebuchet MS" panose="020B0603020202020204" pitchFamily="34" charset="0"/>
              <a:buChar char="•"/>
              <a:defRPr/>
            </a:pPr>
            <a:endParaRPr kumimoji="0" lang="tr-TR" sz="1000" i="0" u="none" strike="noStrike" kern="1200" cap="none" spc="0" normalizeH="0" baseline="0" noProof="0">
              <a:ln>
                <a:noFill/>
              </a:ln>
              <a:solidFill>
                <a:schemeClr val="tx1"/>
              </a:solidFill>
              <a:effectLst/>
              <a:uLnTx/>
              <a:uFillTx/>
              <a:cs typeface="Arial" pitchFamily="34" charset="0"/>
            </a:endParaRP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International</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SWIFT</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Western Union</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Ripple</a:t>
            </a:r>
          </a:p>
          <a:p>
            <a:pPr marL="457200" lvl="2" indent="-216000">
              <a:buClr>
                <a:schemeClr val="tx2"/>
              </a:buClr>
              <a:buSzPct val="100000"/>
              <a:buFont typeface="Trebuchet MS" panose="020B0603020202020204" pitchFamily="34" charset="0"/>
              <a:buChar char="–"/>
              <a:defRPr/>
            </a:pPr>
            <a:r>
              <a:rPr lang="en-US" sz="1000" err="1">
                <a:solidFill>
                  <a:schemeClr val="tx1"/>
                </a:solidFill>
                <a:cs typeface="Arial" pitchFamily="34" charset="0"/>
              </a:rPr>
              <a:t>CHINEX</a:t>
            </a:r>
            <a:endParaRPr lang="en-US" sz="1000">
              <a:solidFill>
                <a:schemeClr val="tx1"/>
              </a:solidFill>
              <a:cs typeface="Arial" pitchFamily="34" charset="0"/>
            </a:endParaRPr>
          </a:p>
        </p:txBody>
      </p:sp>
      <p:sp>
        <p:nvSpPr>
          <p:cNvPr id="181" name="TextBox 180">
            <a:extLst>
              <a:ext uri="{FF2B5EF4-FFF2-40B4-BE49-F238E27FC236}">
                <a16:creationId xmlns:a16="http://schemas.microsoft.com/office/drawing/2014/main" id="{4A3E7224-5637-4AC2-88E0-2629521E440D}"/>
              </a:ext>
            </a:extLst>
          </p:cNvPr>
          <p:cNvSpPr txBox="1"/>
          <p:nvPr/>
        </p:nvSpPr>
        <p:spPr>
          <a:xfrm>
            <a:off x="6649981" y="4843702"/>
            <a:ext cx="1354768" cy="1384995"/>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27432" bIns="0" numCol="1" spcCol="0" rtlCol="0" fromWordArt="0" anchor="t" anchorCtr="0" forceAA="0" compatLnSpc="1">
            <a:prstTxWarp prst="textNoShape">
              <a:avLst/>
            </a:prstTxWarp>
            <a:spAutoFit/>
          </a:bodyPr>
          <a:lstStyle/>
          <a:p>
            <a:pPr marL="109728">
              <a:buSzPct val="100000"/>
              <a:buFont typeface="Trebuchet MS" panose="020B0603020202020204" pitchFamily="34" charset="0"/>
              <a:buChar char="​"/>
              <a:defRPr/>
            </a:pPr>
            <a:r>
              <a:rPr lang="en-US" sz="1000">
                <a:solidFill>
                  <a:srgbClr val="29BA74"/>
                </a:solidFill>
                <a:cs typeface="Arial" pitchFamily="34" charset="0"/>
              </a:rPr>
              <a:t>Transfers</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Domestic</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Intrabank/EFT/FAST</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Easy transfer (KOLAS)</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Send to ATM</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Regular transfer order</a:t>
            </a:r>
          </a:p>
        </p:txBody>
      </p:sp>
      <p:grpSp>
        <p:nvGrpSpPr>
          <p:cNvPr id="5" name="Group 4">
            <a:extLst>
              <a:ext uri="{FF2B5EF4-FFF2-40B4-BE49-F238E27FC236}">
                <a16:creationId xmlns:a16="http://schemas.microsoft.com/office/drawing/2014/main" id="{C0A0A3C6-2D78-4102-9050-45FD9EB075A1}"/>
              </a:ext>
            </a:extLst>
          </p:cNvPr>
          <p:cNvGrpSpPr/>
          <p:nvPr/>
        </p:nvGrpSpPr>
        <p:grpSpPr>
          <a:xfrm>
            <a:off x="1676400" y="1518831"/>
            <a:ext cx="2871243" cy="4805115"/>
            <a:chOff x="3718525" y="1518831"/>
            <a:chExt cx="2871243" cy="4805115"/>
          </a:xfrm>
        </p:grpSpPr>
        <p:sp>
          <p:nvSpPr>
            <p:cNvPr id="135" name="Rectangle 134">
              <a:extLst>
                <a:ext uri="{FF2B5EF4-FFF2-40B4-BE49-F238E27FC236}">
                  <a16:creationId xmlns:a16="http://schemas.microsoft.com/office/drawing/2014/main" id="{AE910F7D-3578-413F-8AB4-8797D55C610C}"/>
                </a:ext>
              </a:extLst>
            </p:cNvPr>
            <p:cNvSpPr/>
            <p:nvPr/>
          </p:nvSpPr>
          <p:spPr>
            <a:xfrm>
              <a:off x="3718525" y="1768651"/>
              <a:ext cx="2752862" cy="4555295"/>
            </a:xfrm>
            <a:prstGeom prst="rect">
              <a:avLst/>
            </a:prstGeom>
            <a:noFill/>
            <a:ln w="9525" cap="rnd" cmpd="sng" algn="ctr">
              <a:solidFill>
                <a:schemeClr val="tx2"/>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a:solidFill>
                  <a:srgbClr val="FFFFFF"/>
                </a:solidFill>
                <a:sym typeface="Trebuchet MS" panose="020B0603020202020204" pitchFamily="34" charset="0"/>
              </a:endParaRPr>
            </a:p>
          </p:txBody>
        </p:sp>
        <p:sp>
          <p:nvSpPr>
            <p:cNvPr id="136" name="Rectangle 135">
              <a:extLst>
                <a:ext uri="{FF2B5EF4-FFF2-40B4-BE49-F238E27FC236}">
                  <a16:creationId xmlns:a16="http://schemas.microsoft.com/office/drawing/2014/main" id="{21783683-52DC-45CA-9D0D-CD772E95A95A}"/>
                </a:ext>
              </a:extLst>
            </p:cNvPr>
            <p:cNvSpPr/>
            <p:nvPr/>
          </p:nvSpPr>
          <p:spPr>
            <a:xfrm>
              <a:off x="5878864" y="1722054"/>
              <a:ext cx="352479" cy="71129"/>
            </a:xfrm>
            <a:prstGeom prst="rect">
              <a:avLst/>
            </a:prstGeom>
            <a:solidFill>
              <a:srgbClr val="FFFFFF"/>
            </a:solidFill>
            <a:ln w="9525" cap="flat" cmpd="sng" algn="ctr">
              <a:no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a:solidFill>
                  <a:srgbClr val="FFFFFF"/>
                </a:solidFill>
              </a:endParaRPr>
            </a:p>
          </p:txBody>
        </p:sp>
        <p:sp>
          <p:nvSpPr>
            <p:cNvPr id="137" name="Diamond 136">
              <a:extLst>
                <a:ext uri="{FF2B5EF4-FFF2-40B4-BE49-F238E27FC236}">
                  <a16:creationId xmlns:a16="http://schemas.microsoft.com/office/drawing/2014/main" id="{29C6CCCD-660A-4030-A347-45FEFB890D14}"/>
                </a:ext>
              </a:extLst>
            </p:cNvPr>
            <p:cNvSpPr/>
            <p:nvPr/>
          </p:nvSpPr>
          <p:spPr>
            <a:xfrm>
              <a:off x="5880279" y="1518831"/>
              <a:ext cx="709489" cy="710337"/>
            </a:xfrm>
            <a:prstGeom prst="diamond">
              <a:avLst/>
            </a:prstGeom>
            <a:solidFill>
              <a:srgbClr val="FFFFFF"/>
            </a:solidFill>
            <a:ln w="19050"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4295" tIns="37148" rIns="74295" bIns="37148" numCol="1" spcCol="0" rtlCol="0" fromWordArt="0" anchor="ctr" anchorCtr="0" forceAA="0" compatLnSpc="1">
              <a:prstTxWarp prst="textNoShape">
                <a:avLst/>
              </a:prstTxWarp>
              <a:noAutofit/>
            </a:bodyPr>
            <a:lstStyle/>
            <a:p>
              <a:pPr algn="ctr">
                <a:lnSpc>
                  <a:spcPct val="90000"/>
                </a:lnSpc>
                <a:spcAft>
                  <a:spcPts val="813"/>
                </a:spcAft>
              </a:pPr>
              <a:endParaRPr lang="en-GB" sz="1600">
                <a:solidFill>
                  <a:srgbClr val="FFFFFF"/>
                </a:solidFill>
                <a:sym typeface="Trebuchet MS" panose="020B0603020202020204" pitchFamily="34" charset="0"/>
              </a:endParaRPr>
            </a:p>
          </p:txBody>
        </p:sp>
        <p:grpSp>
          <p:nvGrpSpPr>
            <p:cNvPr id="10" name="Group 9"/>
            <p:cNvGrpSpPr/>
            <p:nvPr/>
          </p:nvGrpSpPr>
          <p:grpSpPr>
            <a:xfrm>
              <a:off x="3718526" y="1649546"/>
              <a:ext cx="2318654" cy="458654"/>
              <a:chOff x="3718526" y="1954346"/>
              <a:chExt cx="1442700" cy="458654"/>
            </a:xfrm>
          </p:grpSpPr>
          <p:sp>
            <p:nvSpPr>
              <p:cNvPr id="138" name="Arrow: Chevron 59">
                <a:extLst>
                  <a:ext uri="{FF2B5EF4-FFF2-40B4-BE49-F238E27FC236}">
                    <a16:creationId xmlns:a16="http://schemas.microsoft.com/office/drawing/2014/main" id="{180D808A-8879-4D9E-9F99-7544F603C906}"/>
                  </a:ext>
                </a:extLst>
              </p:cNvPr>
              <p:cNvSpPr/>
              <p:nvPr/>
            </p:nvSpPr>
            <p:spPr>
              <a:xfrm flipH="1">
                <a:off x="3878791" y="1954346"/>
                <a:ext cx="1282435" cy="458654"/>
              </a:xfrm>
              <a:prstGeom prst="chevron">
                <a:avLst>
                  <a:gd name="adj" fmla="val 51207"/>
                </a:avLst>
              </a:prstGeom>
              <a:solidFill>
                <a:schemeClr val="tx2"/>
              </a:solidFill>
              <a:ln w="12700" cap="flat" cmpd="sng" algn="ctr">
                <a:solidFill>
                  <a:schemeClr val="tx2"/>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139" name="Rectangle: Rounded Corners 60">
                <a:extLst>
                  <a:ext uri="{FF2B5EF4-FFF2-40B4-BE49-F238E27FC236}">
                    <a16:creationId xmlns:a16="http://schemas.microsoft.com/office/drawing/2014/main" id="{1BA1FD73-5087-4C1B-977D-8222C2BE62E2}"/>
                  </a:ext>
                </a:extLst>
              </p:cNvPr>
              <p:cNvSpPr/>
              <p:nvPr/>
            </p:nvSpPr>
            <p:spPr>
              <a:xfrm>
                <a:off x="3718526" y="1954346"/>
                <a:ext cx="1087872" cy="458654"/>
              </a:xfrm>
              <a:prstGeom prst="roundRect">
                <a:avLst>
                  <a:gd name="adj" fmla="val 11456"/>
                </a:avLst>
              </a:prstGeom>
              <a:solidFill>
                <a:schemeClr val="tx2"/>
              </a:solidFill>
              <a:ln w="12700" cap="flat" cmpd="sng" algn="ctr">
                <a:solidFill>
                  <a:schemeClr val="tx2"/>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wrap="none" lIns="91440" tIns="45720" rIns="91440" bIns="45720" rtlCol="0" anchor="ctr"/>
              <a:lstStyle/>
              <a:p>
                <a:r>
                  <a:rPr lang="en-US" sz="1400"/>
                  <a:t>Financing Domain</a:t>
                </a:r>
              </a:p>
            </p:txBody>
          </p:sp>
        </p:grpSp>
        <p:sp>
          <p:nvSpPr>
            <p:cNvPr id="141" name="Rectangle 140">
              <a:extLst>
                <a:ext uri="{FF2B5EF4-FFF2-40B4-BE49-F238E27FC236}">
                  <a16:creationId xmlns:a16="http://schemas.microsoft.com/office/drawing/2014/main" id="{880BA536-0A9D-4D8F-B3AE-2746DC133612}"/>
                </a:ext>
              </a:extLst>
            </p:cNvPr>
            <p:cNvSpPr/>
            <p:nvPr/>
          </p:nvSpPr>
          <p:spPr>
            <a:xfrm>
              <a:off x="5950445" y="6278226"/>
              <a:ext cx="520942" cy="4572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90000"/>
                </a:lnSpc>
                <a:spcAft>
                  <a:spcPts val="1000"/>
                </a:spcAft>
              </a:pPr>
              <a:endParaRPr lang="en-US" sz="1600">
                <a:solidFill>
                  <a:prstClr val="white"/>
                </a:solidFill>
                <a:sym typeface="Trebuchet MS" panose="020B0603020202020204" pitchFamily="34" charset="0"/>
              </a:endParaRPr>
            </a:p>
          </p:txBody>
        </p:sp>
        <p:grpSp>
          <p:nvGrpSpPr>
            <p:cNvPr id="165" name="Group 164">
              <a:extLst>
                <a:ext uri="{FF2B5EF4-FFF2-40B4-BE49-F238E27FC236}">
                  <a16:creationId xmlns:a16="http://schemas.microsoft.com/office/drawing/2014/main" id="{AD075309-098F-4604-9E6A-BE2659FF4B5D}"/>
                </a:ext>
              </a:extLst>
            </p:cNvPr>
            <p:cNvGrpSpPr>
              <a:grpSpLocks noChangeAspect="1"/>
            </p:cNvGrpSpPr>
            <p:nvPr/>
          </p:nvGrpSpPr>
          <p:grpSpPr>
            <a:xfrm>
              <a:off x="6058704" y="1697849"/>
              <a:ext cx="352639" cy="352300"/>
              <a:chOff x="6464300" y="2606675"/>
              <a:chExt cx="1646238" cy="1644650"/>
            </a:xfrm>
          </p:grpSpPr>
          <p:sp>
            <p:nvSpPr>
              <p:cNvPr id="166" name="AutoShape 3">
                <a:extLst>
                  <a:ext uri="{FF2B5EF4-FFF2-40B4-BE49-F238E27FC236}">
                    <a16:creationId xmlns:a16="http://schemas.microsoft.com/office/drawing/2014/main" id="{FE155CFE-7D11-4B98-8942-9391304F9260}"/>
                  </a:ext>
                </a:extLst>
              </p:cNvPr>
              <p:cNvSpPr>
                <a:spLocks noChangeAspect="1" noChangeArrowheads="1" noTextEdit="1"/>
              </p:cNvSpPr>
              <p:nvPr/>
            </p:nvSpPr>
            <p:spPr bwMode="auto">
              <a:xfrm>
                <a:off x="6464300"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3152" tIns="36576" rIns="73152" bIns="36576" numCol="1" anchor="t" anchorCtr="0" compatLnSpc="1">
                <a:prstTxWarp prst="textNoShape">
                  <a:avLst/>
                </a:prstTxWarp>
              </a:bodyPr>
              <a:lstStyle/>
              <a:p>
                <a:endParaRPr lang="en-US"/>
              </a:p>
            </p:txBody>
          </p:sp>
          <p:grpSp>
            <p:nvGrpSpPr>
              <p:cNvPr id="167" name="Group 166">
                <a:extLst>
                  <a:ext uri="{FF2B5EF4-FFF2-40B4-BE49-F238E27FC236}">
                    <a16:creationId xmlns:a16="http://schemas.microsoft.com/office/drawing/2014/main" id="{E7144739-97B4-4BAE-9E6C-1E167B3830EA}"/>
                  </a:ext>
                </a:extLst>
              </p:cNvPr>
              <p:cNvGrpSpPr/>
              <p:nvPr/>
            </p:nvGrpSpPr>
            <p:grpSpPr>
              <a:xfrm>
                <a:off x="6729413" y="2881312"/>
                <a:ext cx="1146175" cy="1125538"/>
                <a:chOff x="6729413" y="2881312"/>
                <a:chExt cx="1146175" cy="1125538"/>
              </a:xfrm>
            </p:grpSpPr>
            <p:sp>
              <p:nvSpPr>
                <p:cNvPr id="168" name="Freeform 10">
                  <a:extLst>
                    <a:ext uri="{FF2B5EF4-FFF2-40B4-BE49-F238E27FC236}">
                      <a16:creationId xmlns:a16="http://schemas.microsoft.com/office/drawing/2014/main" id="{E4A0A327-202C-4880-A132-DDF7E332B9E5}"/>
                    </a:ext>
                  </a:extLst>
                </p:cNvPr>
                <p:cNvSpPr>
                  <a:spLocks/>
                </p:cNvSpPr>
                <p:nvPr/>
              </p:nvSpPr>
              <p:spPr bwMode="auto">
                <a:xfrm>
                  <a:off x="6989763" y="2944813"/>
                  <a:ext cx="822325" cy="336550"/>
                </a:xfrm>
                <a:custGeom>
                  <a:avLst/>
                  <a:gdLst>
                    <a:gd name="connsiteX0" fmla="*/ 485775 w 822325"/>
                    <a:gd name="connsiteY0" fmla="*/ 0 h 336550"/>
                    <a:gd name="connsiteX1" fmla="*/ 779453 w 822325"/>
                    <a:gd name="connsiteY1" fmla="*/ 0 h 336550"/>
                    <a:gd name="connsiteX2" fmla="*/ 822325 w 822325"/>
                    <a:gd name="connsiteY2" fmla="*/ 39134 h 336550"/>
                    <a:gd name="connsiteX3" fmla="*/ 822325 w 822325"/>
                    <a:gd name="connsiteY3" fmla="*/ 300974 h 336550"/>
                    <a:gd name="connsiteX4" fmla="*/ 780167 w 822325"/>
                    <a:gd name="connsiteY4" fmla="*/ 336550 h 336550"/>
                    <a:gd name="connsiteX5" fmla="*/ 487919 w 822325"/>
                    <a:gd name="connsiteY5" fmla="*/ 336550 h 336550"/>
                    <a:gd name="connsiteX6" fmla="*/ 552228 w 822325"/>
                    <a:gd name="connsiteY6" fmla="*/ 169342 h 336550"/>
                    <a:gd name="connsiteX7" fmla="*/ 485775 w 822325"/>
                    <a:gd name="connsiteY7" fmla="*/ 0 h 336550"/>
                    <a:gd name="connsiteX8" fmla="*/ 41444 w 822325"/>
                    <a:gd name="connsiteY8" fmla="*/ 0 h 336550"/>
                    <a:gd name="connsiteX9" fmla="*/ 336550 w 822325"/>
                    <a:gd name="connsiteY9" fmla="*/ 0 h 336550"/>
                    <a:gd name="connsiteX10" fmla="*/ 269383 w 822325"/>
                    <a:gd name="connsiteY10" fmla="*/ 169342 h 336550"/>
                    <a:gd name="connsiteX11" fmla="*/ 334407 w 822325"/>
                    <a:gd name="connsiteY11" fmla="*/ 336550 h 336550"/>
                    <a:gd name="connsiteX12" fmla="*/ 40729 w 822325"/>
                    <a:gd name="connsiteY12" fmla="*/ 336550 h 336550"/>
                    <a:gd name="connsiteX13" fmla="*/ 0 w 822325"/>
                    <a:gd name="connsiteY13" fmla="*/ 301686 h 336550"/>
                    <a:gd name="connsiteX14" fmla="*/ 0 w 822325"/>
                    <a:gd name="connsiteY14" fmla="*/ 39134 h 336550"/>
                    <a:gd name="connsiteX15" fmla="*/ 41444 w 822325"/>
                    <a:gd name="connsiteY15" fmla="*/ 0 h 33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2325" h="336550">
                      <a:moveTo>
                        <a:pt x="485775" y="0"/>
                      </a:moveTo>
                      <a:cubicBezTo>
                        <a:pt x="485775" y="0"/>
                        <a:pt x="485775" y="0"/>
                        <a:pt x="779453" y="0"/>
                      </a:cubicBezTo>
                      <a:cubicBezTo>
                        <a:pt x="782311" y="21346"/>
                        <a:pt x="800174" y="38422"/>
                        <a:pt x="822325" y="39134"/>
                      </a:cubicBezTo>
                      <a:cubicBezTo>
                        <a:pt x="822325" y="39134"/>
                        <a:pt x="822325" y="39134"/>
                        <a:pt x="822325" y="300974"/>
                      </a:cubicBezTo>
                      <a:cubicBezTo>
                        <a:pt x="801603" y="301686"/>
                        <a:pt x="784454" y="316628"/>
                        <a:pt x="780167" y="336550"/>
                      </a:cubicBezTo>
                      <a:cubicBezTo>
                        <a:pt x="780167" y="336550"/>
                        <a:pt x="780167" y="336550"/>
                        <a:pt x="487919" y="336550"/>
                      </a:cubicBezTo>
                      <a:cubicBezTo>
                        <a:pt x="522932" y="298839"/>
                        <a:pt x="552228" y="237649"/>
                        <a:pt x="552228" y="169342"/>
                      </a:cubicBezTo>
                      <a:cubicBezTo>
                        <a:pt x="552228" y="99613"/>
                        <a:pt x="522217" y="37711"/>
                        <a:pt x="485775" y="0"/>
                      </a:cubicBezTo>
                      <a:close/>
                      <a:moveTo>
                        <a:pt x="41444" y="0"/>
                      </a:moveTo>
                      <a:lnTo>
                        <a:pt x="336550" y="0"/>
                      </a:lnTo>
                      <a:cubicBezTo>
                        <a:pt x="300109" y="37711"/>
                        <a:pt x="269383" y="99613"/>
                        <a:pt x="269383" y="169342"/>
                      </a:cubicBezTo>
                      <a:cubicBezTo>
                        <a:pt x="269383" y="237649"/>
                        <a:pt x="299394" y="298839"/>
                        <a:pt x="334407" y="336550"/>
                      </a:cubicBezTo>
                      <a:cubicBezTo>
                        <a:pt x="334407" y="336550"/>
                        <a:pt x="334407" y="336550"/>
                        <a:pt x="40729" y="336550"/>
                      </a:cubicBezTo>
                      <a:cubicBezTo>
                        <a:pt x="37157" y="317339"/>
                        <a:pt x="20007" y="303109"/>
                        <a:pt x="0" y="301686"/>
                      </a:cubicBezTo>
                      <a:cubicBezTo>
                        <a:pt x="0" y="301686"/>
                        <a:pt x="0" y="301686"/>
                        <a:pt x="0" y="39134"/>
                      </a:cubicBezTo>
                      <a:cubicBezTo>
                        <a:pt x="21437" y="37711"/>
                        <a:pt x="38586" y="20634"/>
                        <a:pt x="41444" y="0"/>
                      </a:cubicBezTo>
                      <a:close/>
                    </a:path>
                  </a:pathLst>
                </a:custGeom>
                <a:solidFill>
                  <a:schemeClr val="tx2"/>
                </a:solidFill>
                <a:ln>
                  <a:noFill/>
                </a:ln>
              </p:spPr>
              <p:txBody>
                <a:bodyPr vert="horz" wrap="square" lIns="73152" tIns="36576" rIns="73152" bIns="36576" numCol="1" anchor="t" anchorCtr="0" compatLnSpc="1">
                  <a:prstTxWarp prst="textNoShape">
                    <a:avLst/>
                  </a:prstTxWarp>
                  <a:noAutofit/>
                </a:bodyPr>
                <a:lstStyle/>
                <a:p>
                  <a:endParaRPr lang="en-US"/>
                </a:p>
              </p:txBody>
            </p:sp>
            <p:sp>
              <p:nvSpPr>
                <p:cNvPr id="169" name="Freeform 11">
                  <a:extLst>
                    <a:ext uri="{FF2B5EF4-FFF2-40B4-BE49-F238E27FC236}">
                      <a16:creationId xmlns:a16="http://schemas.microsoft.com/office/drawing/2014/main" id="{4ADB63F0-D2BF-4D42-B270-CAE30E6A4BE7}"/>
                    </a:ext>
                  </a:extLst>
                </p:cNvPr>
                <p:cNvSpPr>
                  <a:spLocks/>
                </p:cNvSpPr>
                <p:nvPr/>
              </p:nvSpPr>
              <p:spPr bwMode="auto">
                <a:xfrm>
                  <a:off x="6729413" y="2881312"/>
                  <a:ext cx="1146175" cy="1125538"/>
                </a:xfrm>
                <a:custGeom>
                  <a:avLst/>
                  <a:gdLst>
                    <a:gd name="connsiteX0" fmla="*/ 409739 w 1146175"/>
                    <a:gd name="connsiteY0" fmla="*/ 615791 h 1125538"/>
                    <a:gd name="connsiteX1" fmla="*/ 326138 w 1146175"/>
                    <a:gd name="connsiteY1" fmla="*/ 635801 h 1125538"/>
                    <a:gd name="connsiteX2" fmla="*/ 31750 w 1146175"/>
                    <a:gd name="connsiteY2" fmla="*/ 803020 h 1125538"/>
                    <a:gd name="connsiteX3" fmla="*/ 31750 w 1146175"/>
                    <a:gd name="connsiteY3" fmla="*/ 1087437 h 1125538"/>
                    <a:gd name="connsiteX4" fmla="*/ 368296 w 1146175"/>
                    <a:gd name="connsiteY4" fmla="*/ 957377 h 1125538"/>
                    <a:gd name="connsiteX5" fmla="*/ 419028 w 1146175"/>
                    <a:gd name="connsiteY5" fmla="*/ 949516 h 1125538"/>
                    <a:gd name="connsiteX6" fmla="*/ 568366 w 1146175"/>
                    <a:gd name="connsiteY6" fmla="*/ 960236 h 1125538"/>
                    <a:gd name="connsiteX7" fmla="*/ 797017 w 1146175"/>
                    <a:gd name="connsiteY7" fmla="*/ 933795 h 1125538"/>
                    <a:gd name="connsiteX8" fmla="*/ 1047818 w 1146175"/>
                    <a:gd name="connsiteY8" fmla="*/ 767290 h 1125538"/>
                    <a:gd name="connsiteX9" fmla="*/ 1079972 w 1146175"/>
                    <a:gd name="connsiteY9" fmla="*/ 730130 h 1125538"/>
                    <a:gd name="connsiteX10" fmla="*/ 1074971 w 1146175"/>
                    <a:gd name="connsiteY10" fmla="*/ 655810 h 1125538"/>
                    <a:gd name="connsiteX11" fmla="*/ 1036386 w 1146175"/>
                    <a:gd name="connsiteY11" fmla="*/ 642232 h 1125538"/>
                    <a:gd name="connsiteX12" fmla="*/ 999230 w 1146175"/>
                    <a:gd name="connsiteY12" fmla="*/ 660097 h 1125538"/>
                    <a:gd name="connsiteX13" fmla="*/ 951356 w 1146175"/>
                    <a:gd name="connsiteY13" fmla="*/ 713694 h 1125538"/>
                    <a:gd name="connsiteX14" fmla="*/ 805591 w 1146175"/>
                    <a:gd name="connsiteY14" fmla="*/ 805164 h 1125538"/>
                    <a:gd name="connsiteX15" fmla="*/ 608380 w 1146175"/>
                    <a:gd name="connsiteY15" fmla="*/ 794445 h 1125538"/>
                    <a:gd name="connsiteX16" fmla="*/ 553360 w 1146175"/>
                    <a:gd name="connsiteY16" fmla="*/ 772292 h 1125538"/>
                    <a:gd name="connsiteX17" fmla="*/ 544071 w 1146175"/>
                    <a:gd name="connsiteY17" fmla="*/ 755856 h 1125538"/>
                    <a:gd name="connsiteX18" fmla="*/ 557648 w 1146175"/>
                    <a:gd name="connsiteY18" fmla="*/ 742278 h 1125538"/>
                    <a:gd name="connsiteX19" fmla="*/ 715560 w 1146175"/>
                    <a:gd name="connsiteY19" fmla="*/ 726557 h 1125538"/>
                    <a:gd name="connsiteX20" fmla="*/ 759146 w 1146175"/>
                    <a:gd name="connsiteY20" fmla="*/ 679392 h 1125538"/>
                    <a:gd name="connsiteX21" fmla="*/ 713416 w 1146175"/>
                    <a:gd name="connsiteY21" fmla="*/ 631513 h 1125538"/>
                    <a:gd name="connsiteX22" fmla="*/ 409739 w 1146175"/>
                    <a:gd name="connsiteY22" fmla="*/ 615791 h 1125538"/>
                    <a:gd name="connsiteX23" fmla="*/ 390213 w 1146175"/>
                    <a:gd name="connsiteY23" fmla="*/ 584200 h 1125538"/>
                    <a:gd name="connsiteX24" fmla="*/ 393786 w 1146175"/>
                    <a:gd name="connsiteY24" fmla="*/ 584200 h 1125538"/>
                    <a:gd name="connsiteX25" fmla="*/ 396645 w 1146175"/>
                    <a:gd name="connsiteY25" fmla="*/ 584200 h 1125538"/>
                    <a:gd name="connsiteX26" fmla="*/ 399504 w 1146175"/>
                    <a:gd name="connsiteY26" fmla="*/ 584200 h 1125538"/>
                    <a:gd name="connsiteX27" fmla="*/ 403077 w 1146175"/>
                    <a:gd name="connsiteY27" fmla="*/ 584200 h 1125538"/>
                    <a:gd name="connsiteX28" fmla="*/ 410939 w 1146175"/>
                    <a:gd name="connsiteY28" fmla="*/ 584200 h 1125538"/>
                    <a:gd name="connsiteX29" fmla="*/ 715390 w 1146175"/>
                    <a:gd name="connsiteY29" fmla="*/ 599912 h 1125538"/>
                    <a:gd name="connsiteX30" fmla="*/ 780426 w 1146175"/>
                    <a:gd name="connsiteY30" fmla="*/ 640619 h 1125538"/>
                    <a:gd name="connsiteX31" fmla="*/ 782570 w 1146175"/>
                    <a:gd name="connsiteY31" fmla="*/ 644904 h 1125538"/>
                    <a:gd name="connsiteX32" fmla="*/ 789002 w 1146175"/>
                    <a:gd name="connsiteY32" fmla="*/ 663473 h 1125538"/>
                    <a:gd name="connsiteX33" fmla="*/ 790431 w 1146175"/>
                    <a:gd name="connsiteY33" fmla="*/ 679184 h 1125538"/>
                    <a:gd name="connsiteX34" fmla="*/ 789716 w 1146175"/>
                    <a:gd name="connsiteY34" fmla="*/ 684898 h 1125538"/>
                    <a:gd name="connsiteX35" fmla="*/ 789716 w 1146175"/>
                    <a:gd name="connsiteY35" fmla="*/ 685612 h 1125538"/>
                    <a:gd name="connsiteX36" fmla="*/ 789002 w 1146175"/>
                    <a:gd name="connsiteY36" fmla="*/ 691325 h 1125538"/>
                    <a:gd name="connsiteX37" fmla="*/ 763988 w 1146175"/>
                    <a:gd name="connsiteY37" fmla="*/ 738460 h 1125538"/>
                    <a:gd name="connsiteX38" fmla="*/ 763273 w 1146175"/>
                    <a:gd name="connsiteY38" fmla="*/ 738460 h 1125538"/>
                    <a:gd name="connsiteX39" fmla="*/ 758985 w 1146175"/>
                    <a:gd name="connsiteY39" fmla="*/ 742031 h 1125538"/>
                    <a:gd name="connsiteX40" fmla="*/ 754697 w 1146175"/>
                    <a:gd name="connsiteY40" fmla="*/ 744888 h 1125538"/>
                    <a:gd name="connsiteX41" fmla="*/ 753983 w 1146175"/>
                    <a:gd name="connsiteY41" fmla="*/ 745602 h 1125538"/>
                    <a:gd name="connsiteX42" fmla="*/ 749695 w 1146175"/>
                    <a:gd name="connsiteY42" fmla="*/ 748458 h 1125538"/>
                    <a:gd name="connsiteX43" fmla="*/ 748265 w 1146175"/>
                    <a:gd name="connsiteY43" fmla="*/ 749173 h 1125538"/>
                    <a:gd name="connsiteX44" fmla="*/ 743263 w 1146175"/>
                    <a:gd name="connsiteY44" fmla="*/ 751315 h 1125538"/>
                    <a:gd name="connsiteX45" fmla="*/ 742548 w 1146175"/>
                    <a:gd name="connsiteY45" fmla="*/ 752029 h 1125538"/>
                    <a:gd name="connsiteX46" fmla="*/ 738260 w 1146175"/>
                    <a:gd name="connsiteY46" fmla="*/ 753458 h 1125538"/>
                    <a:gd name="connsiteX47" fmla="*/ 718964 w 1146175"/>
                    <a:gd name="connsiteY47" fmla="*/ 757743 h 1125538"/>
                    <a:gd name="connsiteX48" fmla="*/ 624626 w 1146175"/>
                    <a:gd name="connsiteY48" fmla="*/ 767027 h 1125538"/>
                    <a:gd name="connsiteX49" fmla="*/ 743263 w 1146175"/>
                    <a:gd name="connsiteY49" fmla="*/ 784167 h 1125538"/>
                    <a:gd name="connsiteX50" fmla="*/ 775423 w 1146175"/>
                    <a:gd name="connsiteY50" fmla="*/ 779882 h 1125538"/>
                    <a:gd name="connsiteX51" fmla="*/ 785428 w 1146175"/>
                    <a:gd name="connsiteY51" fmla="*/ 777739 h 1125538"/>
                    <a:gd name="connsiteX52" fmla="*/ 786858 w 1146175"/>
                    <a:gd name="connsiteY52" fmla="*/ 777025 h 1125538"/>
                    <a:gd name="connsiteX53" fmla="*/ 796863 w 1146175"/>
                    <a:gd name="connsiteY53" fmla="*/ 774883 h 1125538"/>
                    <a:gd name="connsiteX54" fmla="*/ 826880 w 1146175"/>
                    <a:gd name="connsiteY54" fmla="*/ 764170 h 1125538"/>
                    <a:gd name="connsiteX55" fmla="*/ 909782 w 1146175"/>
                    <a:gd name="connsiteY55" fmla="*/ 711322 h 1125538"/>
                    <a:gd name="connsiteX56" fmla="*/ 928363 w 1146175"/>
                    <a:gd name="connsiteY56" fmla="*/ 692753 h 1125538"/>
                    <a:gd name="connsiteX57" fmla="*/ 975532 w 1146175"/>
                    <a:gd name="connsiteY57" fmla="*/ 639191 h 1125538"/>
                    <a:gd name="connsiteX58" fmla="*/ 978391 w 1146175"/>
                    <a:gd name="connsiteY58" fmla="*/ 635620 h 1125538"/>
                    <a:gd name="connsiteX59" fmla="*/ 979105 w 1146175"/>
                    <a:gd name="connsiteY59" fmla="*/ 635620 h 1125538"/>
                    <a:gd name="connsiteX60" fmla="*/ 1034135 w 1146175"/>
                    <a:gd name="connsiteY60" fmla="*/ 610624 h 1125538"/>
                    <a:gd name="connsiteX61" fmla="*/ 1034850 w 1146175"/>
                    <a:gd name="connsiteY61" fmla="*/ 610624 h 1125538"/>
                    <a:gd name="connsiteX62" fmla="*/ 1039138 w 1146175"/>
                    <a:gd name="connsiteY62" fmla="*/ 610624 h 1125538"/>
                    <a:gd name="connsiteX63" fmla="*/ 1040567 w 1146175"/>
                    <a:gd name="connsiteY63" fmla="*/ 610624 h 1125538"/>
                    <a:gd name="connsiteX64" fmla="*/ 1079875 w 1146175"/>
                    <a:gd name="connsiteY64" fmla="*/ 621337 h 1125538"/>
                    <a:gd name="connsiteX65" fmla="*/ 1083448 w 1146175"/>
                    <a:gd name="connsiteY65" fmla="*/ 623479 h 1125538"/>
                    <a:gd name="connsiteX66" fmla="*/ 1086307 w 1146175"/>
                    <a:gd name="connsiteY66" fmla="*/ 624908 h 1125538"/>
                    <a:gd name="connsiteX67" fmla="*/ 1087021 w 1146175"/>
                    <a:gd name="connsiteY67" fmla="*/ 625622 h 1125538"/>
                    <a:gd name="connsiteX68" fmla="*/ 1089880 w 1146175"/>
                    <a:gd name="connsiteY68" fmla="*/ 627764 h 1125538"/>
                    <a:gd name="connsiteX69" fmla="*/ 1090595 w 1146175"/>
                    <a:gd name="connsiteY69" fmla="*/ 628478 h 1125538"/>
                    <a:gd name="connsiteX70" fmla="*/ 1092739 w 1146175"/>
                    <a:gd name="connsiteY70" fmla="*/ 629907 h 1125538"/>
                    <a:gd name="connsiteX71" fmla="*/ 1095597 w 1146175"/>
                    <a:gd name="connsiteY71" fmla="*/ 632049 h 1125538"/>
                    <a:gd name="connsiteX72" fmla="*/ 1095597 w 1146175"/>
                    <a:gd name="connsiteY72" fmla="*/ 632763 h 1125538"/>
                    <a:gd name="connsiteX73" fmla="*/ 1103459 w 1146175"/>
                    <a:gd name="connsiteY73" fmla="*/ 749887 h 1125538"/>
                    <a:gd name="connsiteX74" fmla="*/ 1072013 w 1146175"/>
                    <a:gd name="connsiteY74" fmla="*/ 787738 h 1125538"/>
                    <a:gd name="connsiteX75" fmla="*/ 966241 w 1146175"/>
                    <a:gd name="connsiteY75" fmla="*/ 884150 h 1125538"/>
                    <a:gd name="connsiteX76" fmla="*/ 956950 w 1146175"/>
                    <a:gd name="connsiteY76" fmla="*/ 890577 h 1125538"/>
                    <a:gd name="connsiteX77" fmla="*/ 948374 w 1146175"/>
                    <a:gd name="connsiteY77" fmla="*/ 896291 h 1125538"/>
                    <a:gd name="connsiteX78" fmla="*/ 806154 w 1146175"/>
                    <a:gd name="connsiteY78" fmla="*/ 963422 h 1125538"/>
                    <a:gd name="connsiteX79" fmla="*/ 792575 w 1146175"/>
                    <a:gd name="connsiteY79" fmla="*/ 967707 h 1125538"/>
                    <a:gd name="connsiteX80" fmla="*/ 788287 w 1146175"/>
                    <a:gd name="connsiteY80" fmla="*/ 968422 h 1125538"/>
                    <a:gd name="connsiteX81" fmla="*/ 779711 w 1146175"/>
                    <a:gd name="connsiteY81" fmla="*/ 971278 h 1125538"/>
                    <a:gd name="connsiteX82" fmla="*/ 773994 w 1146175"/>
                    <a:gd name="connsiteY82" fmla="*/ 972707 h 1125538"/>
                    <a:gd name="connsiteX83" fmla="*/ 766132 w 1146175"/>
                    <a:gd name="connsiteY83" fmla="*/ 974135 h 1125538"/>
                    <a:gd name="connsiteX84" fmla="*/ 759700 w 1146175"/>
                    <a:gd name="connsiteY84" fmla="*/ 976277 h 1125538"/>
                    <a:gd name="connsiteX85" fmla="*/ 753983 w 1146175"/>
                    <a:gd name="connsiteY85" fmla="*/ 976992 h 1125538"/>
                    <a:gd name="connsiteX86" fmla="*/ 724681 w 1146175"/>
                    <a:gd name="connsiteY86" fmla="*/ 983419 h 1125538"/>
                    <a:gd name="connsiteX87" fmla="*/ 721822 w 1146175"/>
                    <a:gd name="connsiteY87" fmla="*/ 983419 h 1125538"/>
                    <a:gd name="connsiteX88" fmla="*/ 711102 w 1146175"/>
                    <a:gd name="connsiteY88" fmla="*/ 985562 h 1125538"/>
                    <a:gd name="connsiteX89" fmla="*/ 709673 w 1146175"/>
                    <a:gd name="connsiteY89" fmla="*/ 985562 h 1125538"/>
                    <a:gd name="connsiteX90" fmla="*/ 650355 w 1146175"/>
                    <a:gd name="connsiteY90" fmla="*/ 991989 h 1125538"/>
                    <a:gd name="connsiteX91" fmla="*/ 648211 w 1146175"/>
                    <a:gd name="connsiteY91" fmla="*/ 991989 h 1125538"/>
                    <a:gd name="connsiteX92" fmla="*/ 637491 w 1146175"/>
                    <a:gd name="connsiteY92" fmla="*/ 992703 h 1125538"/>
                    <a:gd name="connsiteX93" fmla="*/ 635347 w 1146175"/>
                    <a:gd name="connsiteY93" fmla="*/ 992703 h 1125538"/>
                    <a:gd name="connsiteX94" fmla="*/ 621053 w 1146175"/>
                    <a:gd name="connsiteY94" fmla="*/ 992703 h 1125538"/>
                    <a:gd name="connsiteX95" fmla="*/ 620338 w 1146175"/>
                    <a:gd name="connsiteY95" fmla="*/ 992703 h 1125538"/>
                    <a:gd name="connsiteX96" fmla="*/ 612477 w 1146175"/>
                    <a:gd name="connsiteY96" fmla="*/ 992703 h 1125538"/>
                    <a:gd name="connsiteX97" fmla="*/ 606045 w 1146175"/>
                    <a:gd name="connsiteY97" fmla="*/ 992703 h 1125538"/>
                    <a:gd name="connsiteX98" fmla="*/ 598898 w 1146175"/>
                    <a:gd name="connsiteY98" fmla="*/ 992703 h 1125538"/>
                    <a:gd name="connsiteX99" fmla="*/ 592466 w 1146175"/>
                    <a:gd name="connsiteY99" fmla="*/ 992703 h 1125538"/>
                    <a:gd name="connsiteX100" fmla="*/ 584605 w 1146175"/>
                    <a:gd name="connsiteY100" fmla="*/ 991989 h 1125538"/>
                    <a:gd name="connsiteX101" fmla="*/ 578887 w 1146175"/>
                    <a:gd name="connsiteY101" fmla="*/ 991989 h 1125538"/>
                    <a:gd name="connsiteX102" fmla="*/ 566738 w 1146175"/>
                    <a:gd name="connsiteY102" fmla="*/ 991275 h 1125538"/>
                    <a:gd name="connsiteX103" fmla="*/ 566023 w 1146175"/>
                    <a:gd name="connsiteY103" fmla="*/ 991275 h 1125538"/>
                    <a:gd name="connsiteX104" fmla="*/ 485265 w 1146175"/>
                    <a:gd name="connsiteY104" fmla="*/ 985562 h 1125538"/>
                    <a:gd name="connsiteX105" fmla="*/ 416656 w 1146175"/>
                    <a:gd name="connsiteY105" fmla="*/ 980562 h 1125538"/>
                    <a:gd name="connsiteX106" fmla="*/ 410939 w 1146175"/>
                    <a:gd name="connsiteY106" fmla="*/ 980562 h 1125538"/>
                    <a:gd name="connsiteX107" fmla="*/ 407365 w 1146175"/>
                    <a:gd name="connsiteY107" fmla="*/ 980562 h 1125538"/>
                    <a:gd name="connsiteX108" fmla="*/ 393072 w 1146175"/>
                    <a:gd name="connsiteY108" fmla="*/ 981991 h 1125538"/>
                    <a:gd name="connsiteX109" fmla="*/ 388784 w 1146175"/>
                    <a:gd name="connsiteY109" fmla="*/ 982705 h 1125538"/>
                    <a:gd name="connsiteX110" fmla="*/ 388784 w 1146175"/>
                    <a:gd name="connsiteY110" fmla="*/ 983419 h 1125538"/>
                    <a:gd name="connsiteX111" fmla="*/ 384496 w 1146175"/>
                    <a:gd name="connsiteY111" fmla="*/ 984133 h 1125538"/>
                    <a:gd name="connsiteX112" fmla="*/ 383781 w 1146175"/>
                    <a:gd name="connsiteY112" fmla="*/ 984847 h 1125538"/>
                    <a:gd name="connsiteX113" fmla="*/ 379493 w 1146175"/>
                    <a:gd name="connsiteY113" fmla="*/ 986276 h 1125538"/>
                    <a:gd name="connsiteX114" fmla="*/ 21441 w 1146175"/>
                    <a:gd name="connsiteY114" fmla="*/ 1124824 h 1125538"/>
                    <a:gd name="connsiteX115" fmla="*/ 15723 w 1146175"/>
                    <a:gd name="connsiteY115" fmla="*/ 1125538 h 1125538"/>
                    <a:gd name="connsiteX116" fmla="*/ 7147 w 1146175"/>
                    <a:gd name="connsiteY116" fmla="*/ 1122681 h 1125538"/>
                    <a:gd name="connsiteX117" fmla="*/ 0 w 1146175"/>
                    <a:gd name="connsiteY117" fmla="*/ 1109826 h 1125538"/>
                    <a:gd name="connsiteX118" fmla="*/ 0 w 1146175"/>
                    <a:gd name="connsiteY118" fmla="*/ 793451 h 1125538"/>
                    <a:gd name="connsiteX119" fmla="*/ 7862 w 1146175"/>
                    <a:gd name="connsiteY119" fmla="*/ 779882 h 1125538"/>
                    <a:gd name="connsiteX120" fmla="*/ 310169 w 1146175"/>
                    <a:gd name="connsiteY120" fmla="*/ 608482 h 1125538"/>
                    <a:gd name="connsiteX121" fmla="*/ 315887 w 1146175"/>
                    <a:gd name="connsiteY121" fmla="*/ 605625 h 1125538"/>
                    <a:gd name="connsiteX122" fmla="*/ 318031 w 1146175"/>
                    <a:gd name="connsiteY122" fmla="*/ 604197 h 1125538"/>
                    <a:gd name="connsiteX123" fmla="*/ 320889 w 1146175"/>
                    <a:gd name="connsiteY123" fmla="*/ 602768 h 1125538"/>
                    <a:gd name="connsiteX124" fmla="*/ 324463 w 1146175"/>
                    <a:gd name="connsiteY124" fmla="*/ 601340 h 1125538"/>
                    <a:gd name="connsiteX125" fmla="*/ 326607 w 1146175"/>
                    <a:gd name="connsiteY125" fmla="*/ 599912 h 1125538"/>
                    <a:gd name="connsiteX126" fmla="*/ 330180 w 1146175"/>
                    <a:gd name="connsiteY126" fmla="*/ 598483 h 1125538"/>
                    <a:gd name="connsiteX127" fmla="*/ 332324 w 1146175"/>
                    <a:gd name="connsiteY127" fmla="*/ 597769 h 1125538"/>
                    <a:gd name="connsiteX128" fmla="*/ 336612 w 1146175"/>
                    <a:gd name="connsiteY128" fmla="*/ 596341 h 1125538"/>
                    <a:gd name="connsiteX129" fmla="*/ 338042 w 1146175"/>
                    <a:gd name="connsiteY129" fmla="*/ 595627 h 1125538"/>
                    <a:gd name="connsiteX130" fmla="*/ 342330 w 1146175"/>
                    <a:gd name="connsiteY130" fmla="*/ 594198 h 1125538"/>
                    <a:gd name="connsiteX131" fmla="*/ 343044 w 1146175"/>
                    <a:gd name="connsiteY131" fmla="*/ 593484 h 1125538"/>
                    <a:gd name="connsiteX132" fmla="*/ 348047 w 1146175"/>
                    <a:gd name="connsiteY132" fmla="*/ 592056 h 1125538"/>
                    <a:gd name="connsiteX133" fmla="*/ 348762 w 1146175"/>
                    <a:gd name="connsiteY133" fmla="*/ 592056 h 1125538"/>
                    <a:gd name="connsiteX134" fmla="*/ 382352 w 1146175"/>
                    <a:gd name="connsiteY134" fmla="*/ 584914 h 1125538"/>
                    <a:gd name="connsiteX135" fmla="*/ 383781 w 1146175"/>
                    <a:gd name="connsiteY135" fmla="*/ 584914 h 1125538"/>
                    <a:gd name="connsiteX136" fmla="*/ 387354 w 1146175"/>
                    <a:gd name="connsiteY136" fmla="*/ 584914 h 1125538"/>
                    <a:gd name="connsiteX137" fmla="*/ 390213 w 1146175"/>
                    <a:gd name="connsiteY137" fmla="*/ 584200 h 1125538"/>
                    <a:gd name="connsiteX138" fmla="*/ 654433 w 1146175"/>
                    <a:gd name="connsiteY138" fmla="*/ 103187 h 1125538"/>
                    <a:gd name="connsiteX139" fmla="*/ 686457 w 1146175"/>
                    <a:gd name="connsiteY139" fmla="*/ 103187 h 1125538"/>
                    <a:gd name="connsiteX140" fmla="*/ 686457 w 1146175"/>
                    <a:gd name="connsiteY140" fmla="*/ 126776 h 1125538"/>
                    <a:gd name="connsiteX141" fmla="*/ 724174 w 1146175"/>
                    <a:gd name="connsiteY141" fmla="*/ 139643 h 1125538"/>
                    <a:gd name="connsiteX142" fmla="*/ 714211 w 1146175"/>
                    <a:gd name="connsiteY142" fmla="*/ 169665 h 1125538"/>
                    <a:gd name="connsiteX143" fmla="*/ 672936 w 1146175"/>
                    <a:gd name="connsiteY143" fmla="*/ 156083 h 1125538"/>
                    <a:gd name="connsiteX144" fmla="*/ 653722 w 1146175"/>
                    <a:gd name="connsiteY144" fmla="*/ 162517 h 1125538"/>
                    <a:gd name="connsiteX145" fmla="*/ 646605 w 1146175"/>
                    <a:gd name="connsiteY145" fmla="*/ 179672 h 1125538"/>
                    <a:gd name="connsiteX146" fmla="*/ 685034 w 1146175"/>
                    <a:gd name="connsiteY146" fmla="*/ 215413 h 1125538"/>
                    <a:gd name="connsiteX147" fmla="*/ 715634 w 1146175"/>
                    <a:gd name="connsiteY147" fmla="*/ 233998 h 1125538"/>
                    <a:gd name="connsiteX148" fmla="*/ 729155 w 1146175"/>
                    <a:gd name="connsiteY148" fmla="*/ 253298 h 1125538"/>
                    <a:gd name="connsiteX149" fmla="*/ 733425 w 1146175"/>
                    <a:gd name="connsiteY149" fmla="*/ 278317 h 1125538"/>
                    <a:gd name="connsiteX150" fmla="*/ 721327 w 1146175"/>
                    <a:gd name="connsiteY150" fmla="*/ 311198 h 1125538"/>
                    <a:gd name="connsiteX151" fmla="*/ 686457 w 1146175"/>
                    <a:gd name="connsiteY151" fmla="*/ 331213 h 1125538"/>
                    <a:gd name="connsiteX152" fmla="*/ 686457 w 1146175"/>
                    <a:gd name="connsiteY152" fmla="*/ 361950 h 1125538"/>
                    <a:gd name="connsiteX153" fmla="*/ 654433 w 1146175"/>
                    <a:gd name="connsiteY153" fmla="*/ 361950 h 1125538"/>
                    <a:gd name="connsiteX154" fmla="*/ 654433 w 1146175"/>
                    <a:gd name="connsiteY154" fmla="*/ 332643 h 1125538"/>
                    <a:gd name="connsiteX155" fmla="*/ 609600 w 1146175"/>
                    <a:gd name="connsiteY155" fmla="*/ 319061 h 1125538"/>
                    <a:gd name="connsiteX156" fmla="*/ 623833 w 1146175"/>
                    <a:gd name="connsiteY156" fmla="*/ 287609 h 1125538"/>
                    <a:gd name="connsiteX157" fmla="*/ 665820 w 1146175"/>
                    <a:gd name="connsiteY157" fmla="*/ 301906 h 1125538"/>
                    <a:gd name="connsiteX158" fmla="*/ 697132 w 1146175"/>
                    <a:gd name="connsiteY158" fmla="*/ 280461 h 1125538"/>
                    <a:gd name="connsiteX159" fmla="*/ 689304 w 1146175"/>
                    <a:gd name="connsiteY159" fmla="*/ 259732 h 1125538"/>
                    <a:gd name="connsiteX160" fmla="*/ 658703 w 1146175"/>
                    <a:gd name="connsiteY160" fmla="*/ 239002 h 1125538"/>
                    <a:gd name="connsiteX161" fmla="*/ 627391 w 1146175"/>
                    <a:gd name="connsiteY161" fmla="*/ 220417 h 1125538"/>
                    <a:gd name="connsiteX162" fmla="*/ 613870 w 1146175"/>
                    <a:gd name="connsiteY162" fmla="*/ 202546 h 1125538"/>
                    <a:gd name="connsiteX163" fmla="*/ 610312 w 1146175"/>
                    <a:gd name="connsiteY163" fmla="*/ 179672 h 1125538"/>
                    <a:gd name="connsiteX164" fmla="*/ 623121 w 1146175"/>
                    <a:gd name="connsiteY164" fmla="*/ 147506 h 1125538"/>
                    <a:gd name="connsiteX165" fmla="*/ 654433 w 1146175"/>
                    <a:gd name="connsiteY165" fmla="*/ 128920 h 1125538"/>
                    <a:gd name="connsiteX166" fmla="*/ 654433 w 1146175"/>
                    <a:gd name="connsiteY166" fmla="*/ 103187 h 1125538"/>
                    <a:gd name="connsiteX167" fmla="*/ 228600 w 1146175"/>
                    <a:gd name="connsiteY167" fmla="*/ 31750 h 1125538"/>
                    <a:gd name="connsiteX168" fmla="*/ 228600 w 1146175"/>
                    <a:gd name="connsiteY168" fmla="*/ 431800 h 1125538"/>
                    <a:gd name="connsiteX169" fmla="*/ 1114425 w 1146175"/>
                    <a:gd name="connsiteY169" fmla="*/ 431800 h 1125538"/>
                    <a:gd name="connsiteX170" fmla="*/ 1114425 w 1146175"/>
                    <a:gd name="connsiteY170" fmla="*/ 31750 h 1125538"/>
                    <a:gd name="connsiteX171" fmla="*/ 209003 w 1146175"/>
                    <a:gd name="connsiteY171" fmla="*/ 0 h 1125538"/>
                    <a:gd name="connsiteX172" fmla="*/ 1134023 w 1146175"/>
                    <a:gd name="connsiteY172" fmla="*/ 0 h 1125538"/>
                    <a:gd name="connsiteX173" fmla="*/ 1146175 w 1146175"/>
                    <a:gd name="connsiteY173" fmla="*/ 11428 h 1125538"/>
                    <a:gd name="connsiteX174" fmla="*/ 1146175 w 1146175"/>
                    <a:gd name="connsiteY174" fmla="*/ 451408 h 1125538"/>
                    <a:gd name="connsiteX175" fmla="*/ 1134023 w 1146175"/>
                    <a:gd name="connsiteY175" fmla="*/ 463550 h 1125538"/>
                    <a:gd name="connsiteX176" fmla="*/ 209003 w 1146175"/>
                    <a:gd name="connsiteY176" fmla="*/ 463550 h 1125538"/>
                    <a:gd name="connsiteX177" fmla="*/ 196850 w 1146175"/>
                    <a:gd name="connsiteY177" fmla="*/ 451408 h 1125538"/>
                    <a:gd name="connsiteX178" fmla="*/ 196850 w 1146175"/>
                    <a:gd name="connsiteY178" fmla="*/ 11428 h 1125538"/>
                    <a:gd name="connsiteX179" fmla="*/ 209003 w 1146175"/>
                    <a:gd name="connsiteY179" fmla="*/ 0 h 1125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1146175" h="1125538">
                      <a:moveTo>
                        <a:pt x="409739" y="615791"/>
                      </a:moveTo>
                      <a:cubicBezTo>
                        <a:pt x="380443" y="614362"/>
                        <a:pt x="351147" y="621508"/>
                        <a:pt x="326138" y="635801"/>
                      </a:cubicBezTo>
                      <a:cubicBezTo>
                        <a:pt x="326138" y="635801"/>
                        <a:pt x="326138" y="635801"/>
                        <a:pt x="31750" y="803020"/>
                      </a:cubicBezTo>
                      <a:cubicBezTo>
                        <a:pt x="31750" y="803020"/>
                        <a:pt x="31750" y="803020"/>
                        <a:pt x="31750" y="1087437"/>
                      </a:cubicBezTo>
                      <a:cubicBezTo>
                        <a:pt x="31750" y="1087437"/>
                        <a:pt x="31750" y="1087437"/>
                        <a:pt x="368296" y="957377"/>
                      </a:cubicBezTo>
                      <a:cubicBezTo>
                        <a:pt x="384730" y="950946"/>
                        <a:pt x="401879" y="948087"/>
                        <a:pt x="419028" y="949516"/>
                      </a:cubicBezTo>
                      <a:cubicBezTo>
                        <a:pt x="419028" y="949516"/>
                        <a:pt x="419028" y="949516"/>
                        <a:pt x="568366" y="960236"/>
                      </a:cubicBezTo>
                      <a:cubicBezTo>
                        <a:pt x="645535" y="965953"/>
                        <a:pt x="722705" y="956663"/>
                        <a:pt x="797017" y="933795"/>
                      </a:cubicBezTo>
                      <a:cubicBezTo>
                        <a:pt x="894908" y="903067"/>
                        <a:pt x="981367" y="845897"/>
                        <a:pt x="1047818" y="767290"/>
                      </a:cubicBezTo>
                      <a:cubicBezTo>
                        <a:pt x="1047818" y="767290"/>
                        <a:pt x="1047818" y="767290"/>
                        <a:pt x="1079972" y="730130"/>
                      </a:cubicBezTo>
                      <a:cubicBezTo>
                        <a:pt x="1098550" y="707977"/>
                        <a:pt x="1096407" y="675104"/>
                        <a:pt x="1074971" y="655810"/>
                      </a:cubicBezTo>
                      <a:cubicBezTo>
                        <a:pt x="1064253" y="646520"/>
                        <a:pt x="1050676" y="641517"/>
                        <a:pt x="1036386" y="642232"/>
                      </a:cubicBezTo>
                      <a:cubicBezTo>
                        <a:pt x="1022095" y="642947"/>
                        <a:pt x="1008519" y="649378"/>
                        <a:pt x="999230" y="660097"/>
                      </a:cubicBezTo>
                      <a:cubicBezTo>
                        <a:pt x="999230" y="660097"/>
                        <a:pt x="999230" y="660097"/>
                        <a:pt x="951356" y="713694"/>
                      </a:cubicBezTo>
                      <a:cubicBezTo>
                        <a:pt x="912771" y="758000"/>
                        <a:pt x="862039" y="789443"/>
                        <a:pt x="805591" y="805164"/>
                      </a:cubicBezTo>
                      <a:cubicBezTo>
                        <a:pt x="740568" y="823744"/>
                        <a:pt x="670544" y="819457"/>
                        <a:pt x="608380" y="794445"/>
                      </a:cubicBezTo>
                      <a:cubicBezTo>
                        <a:pt x="608380" y="794445"/>
                        <a:pt x="608380" y="794445"/>
                        <a:pt x="553360" y="772292"/>
                      </a:cubicBezTo>
                      <a:cubicBezTo>
                        <a:pt x="546930" y="769434"/>
                        <a:pt x="542642" y="763002"/>
                        <a:pt x="544071" y="755856"/>
                      </a:cubicBezTo>
                      <a:cubicBezTo>
                        <a:pt x="544786" y="748710"/>
                        <a:pt x="550502" y="742993"/>
                        <a:pt x="557648" y="742278"/>
                      </a:cubicBezTo>
                      <a:cubicBezTo>
                        <a:pt x="557648" y="742278"/>
                        <a:pt x="557648" y="742278"/>
                        <a:pt x="715560" y="726557"/>
                      </a:cubicBezTo>
                      <a:cubicBezTo>
                        <a:pt x="740568" y="724413"/>
                        <a:pt x="759146" y="703689"/>
                        <a:pt x="759146" y="679392"/>
                      </a:cubicBezTo>
                      <a:cubicBezTo>
                        <a:pt x="759146" y="653666"/>
                        <a:pt x="739139" y="632942"/>
                        <a:pt x="713416" y="631513"/>
                      </a:cubicBezTo>
                      <a:cubicBezTo>
                        <a:pt x="713416" y="631513"/>
                        <a:pt x="713416" y="631513"/>
                        <a:pt x="409739" y="615791"/>
                      </a:cubicBezTo>
                      <a:close/>
                      <a:moveTo>
                        <a:pt x="390213" y="584200"/>
                      </a:moveTo>
                      <a:cubicBezTo>
                        <a:pt x="391642" y="584200"/>
                        <a:pt x="392357" y="584200"/>
                        <a:pt x="393786" y="584200"/>
                      </a:cubicBezTo>
                      <a:cubicBezTo>
                        <a:pt x="394501" y="584200"/>
                        <a:pt x="395930" y="584200"/>
                        <a:pt x="396645" y="584200"/>
                      </a:cubicBezTo>
                      <a:cubicBezTo>
                        <a:pt x="398074" y="584200"/>
                        <a:pt x="398789" y="584200"/>
                        <a:pt x="399504" y="584200"/>
                      </a:cubicBezTo>
                      <a:cubicBezTo>
                        <a:pt x="400933" y="584200"/>
                        <a:pt x="401648" y="584200"/>
                        <a:pt x="403077" y="584200"/>
                      </a:cubicBezTo>
                      <a:cubicBezTo>
                        <a:pt x="405221" y="584200"/>
                        <a:pt x="408080" y="584200"/>
                        <a:pt x="410939" y="584200"/>
                      </a:cubicBezTo>
                      <a:cubicBezTo>
                        <a:pt x="410939" y="584200"/>
                        <a:pt x="410939" y="584200"/>
                        <a:pt x="715390" y="599912"/>
                      </a:cubicBezTo>
                      <a:cubicBezTo>
                        <a:pt x="743263" y="601340"/>
                        <a:pt x="766847" y="617766"/>
                        <a:pt x="780426" y="640619"/>
                      </a:cubicBezTo>
                      <a:cubicBezTo>
                        <a:pt x="781140" y="642048"/>
                        <a:pt x="781855" y="643476"/>
                        <a:pt x="782570" y="644904"/>
                      </a:cubicBezTo>
                      <a:cubicBezTo>
                        <a:pt x="785428" y="650618"/>
                        <a:pt x="787572" y="657045"/>
                        <a:pt x="789002" y="663473"/>
                      </a:cubicBezTo>
                      <a:cubicBezTo>
                        <a:pt x="789716" y="668472"/>
                        <a:pt x="790431" y="673471"/>
                        <a:pt x="790431" y="679184"/>
                      </a:cubicBezTo>
                      <a:cubicBezTo>
                        <a:pt x="790431" y="681327"/>
                        <a:pt x="790431" y="682755"/>
                        <a:pt x="789716" y="684898"/>
                      </a:cubicBezTo>
                      <a:cubicBezTo>
                        <a:pt x="789716" y="684898"/>
                        <a:pt x="789716" y="685612"/>
                        <a:pt x="789716" y="685612"/>
                      </a:cubicBezTo>
                      <a:cubicBezTo>
                        <a:pt x="789716" y="687754"/>
                        <a:pt x="789716" y="689183"/>
                        <a:pt x="789002" y="691325"/>
                      </a:cubicBezTo>
                      <a:cubicBezTo>
                        <a:pt x="786143" y="709893"/>
                        <a:pt x="776852" y="726319"/>
                        <a:pt x="763988" y="738460"/>
                      </a:cubicBezTo>
                      <a:cubicBezTo>
                        <a:pt x="763988" y="738460"/>
                        <a:pt x="763273" y="738460"/>
                        <a:pt x="763273" y="738460"/>
                      </a:cubicBezTo>
                      <a:cubicBezTo>
                        <a:pt x="761844" y="739888"/>
                        <a:pt x="760415" y="740603"/>
                        <a:pt x="758985" y="742031"/>
                      </a:cubicBezTo>
                      <a:cubicBezTo>
                        <a:pt x="757556" y="743459"/>
                        <a:pt x="756127" y="744173"/>
                        <a:pt x="754697" y="744888"/>
                      </a:cubicBezTo>
                      <a:cubicBezTo>
                        <a:pt x="753983" y="745602"/>
                        <a:pt x="753983" y="745602"/>
                        <a:pt x="753983" y="745602"/>
                      </a:cubicBezTo>
                      <a:cubicBezTo>
                        <a:pt x="752553" y="746316"/>
                        <a:pt x="751124" y="747744"/>
                        <a:pt x="749695" y="748458"/>
                      </a:cubicBezTo>
                      <a:cubicBezTo>
                        <a:pt x="748980" y="748458"/>
                        <a:pt x="748265" y="748458"/>
                        <a:pt x="748265" y="749173"/>
                      </a:cubicBezTo>
                      <a:cubicBezTo>
                        <a:pt x="746836" y="749887"/>
                        <a:pt x="745407" y="750601"/>
                        <a:pt x="743263" y="751315"/>
                      </a:cubicBezTo>
                      <a:cubicBezTo>
                        <a:pt x="743263" y="751315"/>
                        <a:pt x="742548" y="751315"/>
                        <a:pt x="742548" y="752029"/>
                      </a:cubicBezTo>
                      <a:cubicBezTo>
                        <a:pt x="741118" y="752029"/>
                        <a:pt x="739689" y="752743"/>
                        <a:pt x="738260" y="753458"/>
                      </a:cubicBezTo>
                      <a:cubicBezTo>
                        <a:pt x="731828" y="755600"/>
                        <a:pt x="725396" y="757028"/>
                        <a:pt x="718964" y="757743"/>
                      </a:cubicBezTo>
                      <a:cubicBezTo>
                        <a:pt x="718964" y="757743"/>
                        <a:pt x="718964" y="757743"/>
                        <a:pt x="624626" y="767027"/>
                      </a:cubicBezTo>
                      <a:cubicBezTo>
                        <a:pt x="662504" y="781310"/>
                        <a:pt x="703241" y="787023"/>
                        <a:pt x="743263" y="784167"/>
                      </a:cubicBezTo>
                      <a:cubicBezTo>
                        <a:pt x="753983" y="783453"/>
                        <a:pt x="764703" y="782024"/>
                        <a:pt x="775423" y="779882"/>
                      </a:cubicBezTo>
                      <a:cubicBezTo>
                        <a:pt x="778996" y="779168"/>
                        <a:pt x="781855" y="778453"/>
                        <a:pt x="785428" y="777739"/>
                      </a:cubicBezTo>
                      <a:cubicBezTo>
                        <a:pt x="786143" y="777739"/>
                        <a:pt x="786143" y="777739"/>
                        <a:pt x="786858" y="777025"/>
                      </a:cubicBezTo>
                      <a:cubicBezTo>
                        <a:pt x="790431" y="776311"/>
                        <a:pt x="793290" y="775597"/>
                        <a:pt x="796863" y="774883"/>
                      </a:cubicBezTo>
                      <a:cubicBezTo>
                        <a:pt x="806869" y="772026"/>
                        <a:pt x="816874" y="768455"/>
                        <a:pt x="826880" y="764170"/>
                      </a:cubicBezTo>
                      <a:cubicBezTo>
                        <a:pt x="857611" y="752029"/>
                        <a:pt x="885483" y="734175"/>
                        <a:pt x="909782" y="711322"/>
                      </a:cubicBezTo>
                      <a:cubicBezTo>
                        <a:pt x="916214" y="705608"/>
                        <a:pt x="921931" y="699181"/>
                        <a:pt x="928363" y="692753"/>
                      </a:cubicBezTo>
                      <a:cubicBezTo>
                        <a:pt x="928363" y="692753"/>
                        <a:pt x="928363" y="692753"/>
                        <a:pt x="975532" y="639191"/>
                      </a:cubicBezTo>
                      <a:cubicBezTo>
                        <a:pt x="976961" y="637763"/>
                        <a:pt x="977676" y="637048"/>
                        <a:pt x="978391" y="635620"/>
                      </a:cubicBezTo>
                      <a:cubicBezTo>
                        <a:pt x="979105" y="635620"/>
                        <a:pt x="979105" y="635620"/>
                        <a:pt x="979105" y="635620"/>
                      </a:cubicBezTo>
                      <a:cubicBezTo>
                        <a:pt x="994114" y="620623"/>
                        <a:pt x="1013410" y="612053"/>
                        <a:pt x="1034135" y="610624"/>
                      </a:cubicBezTo>
                      <a:cubicBezTo>
                        <a:pt x="1034850" y="610624"/>
                        <a:pt x="1034850" y="610624"/>
                        <a:pt x="1034850" y="610624"/>
                      </a:cubicBezTo>
                      <a:cubicBezTo>
                        <a:pt x="1036279" y="610624"/>
                        <a:pt x="1037709" y="610624"/>
                        <a:pt x="1039138" y="610624"/>
                      </a:cubicBezTo>
                      <a:cubicBezTo>
                        <a:pt x="1039138" y="610624"/>
                        <a:pt x="1039853" y="610624"/>
                        <a:pt x="1040567" y="610624"/>
                      </a:cubicBezTo>
                      <a:cubicBezTo>
                        <a:pt x="1054146" y="610624"/>
                        <a:pt x="1067725" y="614909"/>
                        <a:pt x="1079875" y="621337"/>
                      </a:cubicBezTo>
                      <a:cubicBezTo>
                        <a:pt x="1081304" y="622051"/>
                        <a:pt x="1082019" y="622765"/>
                        <a:pt x="1083448" y="623479"/>
                      </a:cubicBezTo>
                      <a:cubicBezTo>
                        <a:pt x="1084877" y="624193"/>
                        <a:pt x="1085592" y="624908"/>
                        <a:pt x="1086307" y="624908"/>
                      </a:cubicBezTo>
                      <a:cubicBezTo>
                        <a:pt x="1087021" y="625622"/>
                        <a:pt x="1087021" y="625622"/>
                        <a:pt x="1087021" y="625622"/>
                      </a:cubicBezTo>
                      <a:cubicBezTo>
                        <a:pt x="1087736" y="626336"/>
                        <a:pt x="1089165" y="627050"/>
                        <a:pt x="1089880" y="627764"/>
                      </a:cubicBezTo>
                      <a:cubicBezTo>
                        <a:pt x="1089880" y="627764"/>
                        <a:pt x="1090595" y="628478"/>
                        <a:pt x="1090595" y="628478"/>
                      </a:cubicBezTo>
                      <a:cubicBezTo>
                        <a:pt x="1091309" y="629193"/>
                        <a:pt x="1092024" y="629193"/>
                        <a:pt x="1092739" y="629907"/>
                      </a:cubicBezTo>
                      <a:cubicBezTo>
                        <a:pt x="1093453" y="630621"/>
                        <a:pt x="1094168" y="631335"/>
                        <a:pt x="1095597" y="632049"/>
                      </a:cubicBezTo>
                      <a:cubicBezTo>
                        <a:pt x="1095597" y="632049"/>
                        <a:pt x="1095597" y="632763"/>
                        <a:pt x="1095597" y="632763"/>
                      </a:cubicBezTo>
                      <a:cubicBezTo>
                        <a:pt x="1129902" y="663473"/>
                        <a:pt x="1133475" y="714893"/>
                        <a:pt x="1103459" y="749887"/>
                      </a:cubicBezTo>
                      <a:cubicBezTo>
                        <a:pt x="1103459" y="749887"/>
                        <a:pt x="1103459" y="749887"/>
                        <a:pt x="1072013" y="787738"/>
                      </a:cubicBezTo>
                      <a:cubicBezTo>
                        <a:pt x="1040567" y="824160"/>
                        <a:pt x="1004834" y="857012"/>
                        <a:pt x="966241" y="884150"/>
                      </a:cubicBezTo>
                      <a:cubicBezTo>
                        <a:pt x="963383" y="886292"/>
                        <a:pt x="959809" y="888435"/>
                        <a:pt x="956950" y="890577"/>
                      </a:cubicBezTo>
                      <a:cubicBezTo>
                        <a:pt x="954092" y="892720"/>
                        <a:pt x="951233" y="894862"/>
                        <a:pt x="948374" y="896291"/>
                      </a:cubicBezTo>
                      <a:cubicBezTo>
                        <a:pt x="904779" y="924857"/>
                        <a:pt x="856896" y="947711"/>
                        <a:pt x="806154" y="963422"/>
                      </a:cubicBezTo>
                      <a:cubicBezTo>
                        <a:pt x="801866" y="964851"/>
                        <a:pt x="797578" y="966279"/>
                        <a:pt x="792575" y="967707"/>
                      </a:cubicBezTo>
                      <a:cubicBezTo>
                        <a:pt x="791146" y="967707"/>
                        <a:pt x="789716" y="968422"/>
                        <a:pt x="788287" y="968422"/>
                      </a:cubicBezTo>
                      <a:cubicBezTo>
                        <a:pt x="785428" y="969136"/>
                        <a:pt x="782570" y="970564"/>
                        <a:pt x="779711" y="971278"/>
                      </a:cubicBezTo>
                      <a:cubicBezTo>
                        <a:pt x="777567" y="971278"/>
                        <a:pt x="775423" y="971992"/>
                        <a:pt x="773994" y="972707"/>
                      </a:cubicBezTo>
                      <a:cubicBezTo>
                        <a:pt x="771135" y="973421"/>
                        <a:pt x="768991" y="973421"/>
                        <a:pt x="766132" y="974135"/>
                      </a:cubicBezTo>
                      <a:cubicBezTo>
                        <a:pt x="763988" y="974849"/>
                        <a:pt x="761844" y="975563"/>
                        <a:pt x="759700" y="976277"/>
                      </a:cubicBezTo>
                      <a:cubicBezTo>
                        <a:pt x="757556" y="976277"/>
                        <a:pt x="756127" y="976992"/>
                        <a:pt x="753983" y="976992"/>
                      </a:cubicBezTo>
                      <a:cubicBezTo>
                        <a:pt x="743977" y="979134"/>
                        <a:pt x="733972" y="981277"/>
                        <a:pt x="724681" y="983419"/>
                      </a:cubicBezTo>
                      <a:cubicBezTo>
                        <a:pt x="723252" y="983419"/>
                        <a:pt x="722537" y="983419"/>
                        <a:pt x="721822" y="983419"/>
                      </a:cubicBezTo>
                      <a:cubicBezTo>
                        <a:pt x="718249" y="984133"/>
                        <a:pt x="714676" y="984847"/>
                        <a:pt x="711102" y="985562"/>
                      </a:cubicBezTo>
                      <a:cubicBezTo>
                        <a:pt x="710387" y="985562"/>
                        <a:pt x="710387" y="985562"/>
                        <a:pt x="709673" y="985562"/>
                      </a:cubicBezTo>
                      <a:cubicBezTo>
                        <a:pt x="689662" y="988418"/>
                        <a:pt x="670366" y="990561"/>
                        <a:pt x="650355" y="991989"/>
                      </a:cubicBezTo>
                      <a:cubicBezTo>
                        <a:pt x="649640" y="991989"/>
                        <a:pt x="648925" y="991989"/>
                        <a:pt x="648211" y="991989"/>
                      </a:cubicBezTo>
                      <a:cubicBezTo>
                        <a:pt x="644637" y="991989"/>
                        <a:pt x="641064" y="991989"/>
                        <a:pt x="637491" y="992703"/>
                      </a:cubicBezTo>
                      <a:cubicBezTo>
                        <a:pt x="636776" y="992703"/>
                        <a:pt x="636061" y="992703"/>
                        <a:pt x="635347" y="992703"/>
                      </a:cubicBezTo>
                      <a:cubicBezTo>
                        <a:pt x="630344" y="992703"/>
                        <a:pt x="626056" y="992703"/>
                        <a:pt x="621053" y="992703"/>
                      </a:cubicBezTo>
                      <a:cubicBezTo>
                        <a:pt x="621053" y="992703"/>
                        <a:pt x="620338" y="992703"/>
                        <a:pt x="620338" y="992703"/>
                      </a:cubicBezTo>
                      <a:cubicBezTo>
                        <a:pt x="617480" y="992703"/>
                        <a:pt x="614621" y="992703"/>
                        <a:pt x="612477" y="992703"/>
                      </a:cubicBezTo>
                      <a:cubicBezTo>
                        <a:pt x="610333" y="992703"/>
                        <a:pt x="608189" y="992703"/>
                        <a:pt x="606045" y="992703"/>
                      </a:cubicBezTo>
                      <a:cubicBezTo>
                        <a:pt x="603901" y="992703"/>
                        <a:pt x="601042" y="992703"/>
                        <a:pt x="598898" y="992703"/>
                      </a:cubicBezTo>
                      <a:cubicBezTo>
                        <a:pt x="596754" y="992703"/>
                        <a:pt x="594610" y="992703"/>
                        <a:pt x="592466" y="992703"/>
                      </a:cubicBezTo>
                      <a:cubicBezTo>
                        <a:pt x="589607" y="992703"/>
                        <a:pt x="587463" y="992703"/>
                        <a:pt x="584605" y="991989"/>
                      </a:cubicBezTo>
                      <a:cubicBezTo>
                        <a:pt x="582461" y="991989"/>
                        <a:pt x="581031" y="991989"/>
                        <a:pt x="578887" y="991989"/>
                      </a:cubicBezTo>
                      <a:cubicBezTo>
                        <a:pt x="575314" y="991989"/>
                        <a:pt x="571026" y="991275"/>
                        <a:pt x="566738" y="991275"/>
                      </a:cubicBezTo>
                      <a:cubicBezTo>
                        <a:pt x="566738" y="991275"/>
                        <a:pt x="566023" y="991275"/>
                        <a:pt x="566023" y="991275"/>
                      </a:cubicBezTo>
                      <a:cubicBezTo>
                        <a:pt x="566023" y="991275"/>
                        <a:pt x="566023" y="991275"/>
                        <a:pt x="485265" y="985562"/>
                      </a:cubicBezTo>
                      <a:cubicBezTo>
                        <a:pt x="485265" y="985562"/>
                        <a:pt x="485265" y="985562"/>
                        <a:pt x="416656" y="980562"/>
                      </a:cubicBezTo>
                      <a:cubicBezTo>
                        <a:pt x="415227" y="980562"/>
                        <a:pt x="413083" y="980562"/>
                        <a:pt x="410939" y="980562"/>
                      </a:cubicBezTo>
                      <a:cubicBezTo>
                        <a:pt x="410224" y="980562"/>
                        <a:pt x="408794" y="980562"/>
                        <a:pt x="407365" y="980562"/>
                      </a:cubicBezTo>
                      <a:cubicBezTo>
                        <a:pt x="402362" y="980562"/>
                        <a:pt x="398074" y="981277"/>
                        <a:pt x="393072" y="981991"/>
                      </a:cubicBezTo>
                      <a:cubicBezTo>
                        <a:pt x="391642" y="982705"/>
                        <a:pt x="390213" y="982705"/>
                        <a:pt x="388784" y="982705"/>
                      </a:cubicBezTo>
                      <a:cubicBezTo>
                        <a:pt x="388784" y="983419"/>
                        <a:pt x="388784" y="983419"/>
                        <a:pt x="388784" y="983419"/>
                      </a:cubicBezTo>
                      <a:cubicBezTo>
                        <a:pt x="387354" y="983419"/>
                        <a:pt x="385925" y="984133"/>
                        <a:pt x="384496" y="984133"/>
                      </a:cubicBezTo>
                      <a:cubicBezTo>
                        <a:pt x="384496" y="984133"/>
                        <a:pt x="384496" y="984133"/>
                        <a:pt x="383781" y="984847"/>
                      </a:cubicBezTo>
                      <a:cubicBezTo>
                        <a:pt x="382352" y="984847"/>
                        <a:pt x="380922" y="985562"/>
                        <a:pt x="379493" y="986276"/>
                      </a:cubicBezTo>
                      <a:cubicBezTo>
                        <a:pt x="379493" y="986276"/>
                        <a:pt x="379493" y="986276"/>
                        <a:pt x="21441" y="1124824"/>
                      </a:cubicBezTo>
                      <a:cubicBezTo>
                        <a:pt x="20011" y="1125538"/>
                        <a:pt x="17867" y="1125538"/>
                        <a:pt x="15723" y="1125538"/>
                      </a:cubicBezTo>
                      <a:cubicBezTo>
                        <a:pt x="12864" y="1125538"/>
                        <a:pt x="10006" y="1124824"/>
                        <a:pt x="7147" y="1122681"/>
                      </a:cubicBezTo>
                      <a:cubicBezTo>
                        <a:pt x="2859" y="1119825"/>
                        <a:pt x="0" y="1114826"/>
                        <a:pt x="0" y="1109826"/>
                      </a:cubicBezTo>
                      <a:cubicBezTo>
                        <a:pt x="0" y="1109826"/>
                        <a:pt x="0" y="1109826"/>
                        <a:pt x="0" y="793451"/>
                      </a:cubicBezTo>
                      <a:cubicBezTo>
                        <a:pt x="0" y="787738"/>
                        <a:pt x="3574" y="782738"/>
                        <a:pt x="7862" y="779882"/>
                      </a:cubicBezTo>
                      <a:cubicBezTo>
                        <a:pt x="7862" y="779882"/>
                        <a:pt x="7862" y="779882"/>
                        <a:pt x="310169" y="608482"/>
                      </a:cubicBezTo>
                      <a:cubicBezTo>
                        <a:pt x="311599" y="607053"/>
                        <a:pt x="313743" y="606339"/>
                        <a:pt x="315887" y="605625"/>
                      </a:cubicBezTo>
                      <a:cubicBezTo>
                        <a:pt x="316601" y="604911"/>
                        <a:pt x="317316" y="604911"/>
                        <a:pt x="318031" y="604197"/>
                      </a:cubicBezTo>
                      <a:cubicBezTo>
                        <a:pt x="318745" y="603483"/>
                        <a:pt x="320175" y="602768"/>
                        <a:pt x="320889" y="602768"/>
                      </a:cubicBezTo>
                      <a:cubicBezTo>
                        <a:pt x="322319" y="602054"/>
                        <a:pt x="323033" y="601340"/>
                        <a:pt x="324463" y="601340"/>
                      </a:cubicBezTo>
                      <a:cubicBezTo>
                        <a:pt x="325177" y="600626"/>
                        <a:pt x="325892" y="600626"/>
                        <a:pt x="326607" y="599912"/>
                      </a:cubicBezTo>
                      <a:cubicBezTo>
                        <a:pt x="328036" y="599198"/>
                        <a:pt x="329466" y="599198"/>
                        <a:pt x="330180" y="598483"/>
                      </a:cubicBezTo>
                      <a:cubicBezTo>
                        <a:pt x="330895" y="598483"/>
                        <a:pt x="331610" y="597769"/>
                        <a:pt x="332324" y="597769"/>
                      </a:cubicBezTo>
                      <a:cubicBezTo>
                        <a:pt x="333754" y="597055"/>
                        <a:pt x="335183" y="596341"/>
                        <a:pt x="336612" y="596341"/>
                      </a:cubicBezTo>
                      <a:cubicBezTo>
                        <a:pt x="336612" y="595627"/>
                        <a:pt x="337327" y="595627"/>
                        <a:pt x="338042" y="595627"/>
                      </a:cubicBezTo>
                      <a:cubicBezTo>
                        <a:pt x="339471" y="594913"/>
                        <a:pt x="340900" y="594198"/>
                        <a:pt x="342330" y="594198"/>
                      </a:cubicBezTo>
                      <a:cubicBezTo>
                        <a:pt x="343044" y="593484"/>
                        <a:pt x="343044" y="593484"/>
                        <a:pt x="343044" y="593484"/>
                      </a:cubicBezTo>
                      <a:cubicBezTo>
                        <a:pt x="345188" y="592770"/>
                        <a:pt x="346618" y="592770"/>
                        <a:pt x="348047" y="592056"/>
                      </a:cubicBezTo>
                      <a:cubicBezTo>
                        <a:pt x="348762" y="592056"/>
                        <a:pt x="348762" y="592056"/>
                        <a:pt x="348762" y="592056"/>
                      </a:cubicBezTo>
                      <a:cubicBezTo>
                        <a:pt x="360197" y="588485"/>
                        <a:pt x="370917" y="586343"/>
                        <a:pt x="382352" y="584914"/>
                      </a:cubicBezTo>
                      <a:cubicBezTo>
                        <a:pt x="383066" y="584914"/>
                        <a:pt x="383781" y="584914"/>
                        <a:pt x="383781" y="584914"/>
                      </a:cubicBezTo>
                      <a:cubicBezTo>
                        <a:pt x="385210" y="584914"/>
                        <a:pt x="386640" y="584914"/>
                        <a:pt x="387354" y="584914"/>
                      </a:cubicBezTo>
                      <a:cubicBezTo>
                        <a:pt x="388784" y="584914"/>
                        <a:pt x="389498" y="584914"/>
                        <a:pt x="390213" y="584200"/>
                      </a:cubicBezTo>
                      <a:close/>
                      <a:moveTo>
                        <a:pt x="654433" y="103187"/>
                      </a:moveTo>
                      <a:cubicBezTo>
                        <a:pt x="686457" y="103187"/>
                        <a:pt x="686457" y="103187"/>
                        <a:pt x="686457" y="103187"/>
                      </a:cubicBezTo>
                      <a:cubicBezTo>
                        <a:pt x="686457" y="126776"/>
                        <a:pt x="686457" y="126776"/>
                        <a:pt x="686457" y="126776"/>
                      </a:cubicBezTo>
                      <a:cubicBezTo>
                        <a:pt x="702825" y="128920"/>
                        <a:pt x="716346" y="132495"/>
                        <a:pt x="724174" y="139643"/>
                      </a:cubicBezTo>
                      <a:cubicBezTo>
                        <a:pt x="714211" y="169665"/>
                        <a:pt x="714211" y="169665"/>
                        <a:pt x="714211" y="169665"/>
                      </a:cubicBezTo>
                      <a:cubicBezTo>
                        <a:pt x="700690" y="161087"/>
                        <a:pt x="687169" y="156083"/>
                        <a:pt x="672936" y="156083"/>
                      </a:cubicBezTo>
                      <a:cubicBezTo>
                        <a:pt x="665108" y="156083"/>
                        <a:pt x="658703" y="158228"/>
                        <a:pt x="653722" y="162517"/>
                      </a:cubicBezTo>
                      <a:cubicBezTo>
                        <a:pt x="648740" y="167520"/>
                        <a:pt x="646605" y="172524"/>
                        <a:pt x="646605" y="179672"/>
                      </a:cubicBezTo>
                      <a:cubicBezTo>
                        <a:pt x="646605" y="191109"/>
                        <a:pt x="659415" y="203261"/>
                        <a:pt x="685034" y="215413"/>
                      </a:cubicBezTo>
                      <a:cubicBezTo>
                        <a:pt x="698555" y="222561"/>
                        <a:pt x="709230" y="228280"/>
                        <a:pt x="715634" y="233998"/>
                      </a:cubicBezTo>
                      <a:cubicBezTo>
                        <a:pt x="722039" y="239717"/>
                        <a:pt x="725597" y="246150"/>
                        <a:pt x="729155" y="253298"/>
                      </a:cubicBezTo>
                      <a:cubicBezTo>
                        <a:pt x="732002" y="261161"/>
                        <a:pt x="733425" y="269024"/>
                        <a:pt x="733425" y="278317"/>
                      </a:cubicBezTo>
                      <a:cubicBezTo>
                        <a:pt x="733425" y="290469"/>
                        <a:pt x="729867" y="301906"/>
                        <a:pt x="721327" y="311198"/>
                      </a:cubicBezTo>
                      <a:cubicBezTo>
                        <a:pt x="712788" y="320491"/>
                        <a:pt x="700690" y="327639"/>
                        <a:pt x="686457" y="331213"/>
                      </a:cubicBezTo>
                      <a:cubicBezTo>
                        <a:pt x="686457" y="361950"/>
                        <a:pt x="686457" y="361950"/>
                        <a:pt x="686457" y="361950"/>
                      </a:cubicBezTo>
                      <a:cubicBezTo>
                        <a:pt x="654433" y="361950"/>
                        <a:pt x="654433" y="361950"/>
                        <a:pt x="654433" y="361950"/>
                      </a:cubicBezTo>
                      <a:cubicBezTo>
                        <a:pt x="654433" y="332643"/>
                        <a:pt x="654433" y="332643"/>
                        <a:pt x="654433" y="332643"/>
                      </a:cubicBezTo>
                      <a:cubicBezTo>
                        <a:pt x="638777" y="332643"/>
                        <a:pt x="623833" y="327639"/>
                        <a:pt x="609600" y="319061"/>
                      </a:cubicBezTo>
                      <a:cubicBezTo>
                        <a:pt x="623833" y="287609"/>
                        <a:pt x="623833" y="287609"/>
                        <a:pt x="623833" y="287609"/>
                      </a:cubicBezTo>
                      <a:cubicBezTo>
                        <a:pt x="638066" y="296902"/>
                        <a:pt x="652299" y="301906"/>
                        <a:pt x="665820" y="301906"/>
                      </a:cubicBezTo>
                      <a:cubicBezTo>
                        <a:pt x="687169" y="301906"/>
                        <a:pt x="697132" y="294758"/>
                        <a:pt x="697132" y="280461"/>
                      </a:cubicBezTo>
                      <a:cubicBezTo>
                        <a:pt x="697132" y="273313"/>
                        <a:pt x="694997" y="266165"/>
                        <a:pt x="689304" y="259732"/>
                      </a:cubicBezTo>
                      <a:cubicBezTo>
                        <a:pt x="683611" y="254013"/>
                        <a:pt x="673648" y="246865"/>
                        <a:pt x="658703" y="239002"/>
                      </a:cubicBezTo>
                      <a:cubicBezTo>
                        <a:pt x="643047" y="231854"/>
                        <a:pt x="633084" y="225420"/>
                        <a:pt x="627391" y="220417"/>
                      </a:cubicBezTo>
                      <a:cubicBezTo>
                        <a:pt x="621698" y="215413"/>
                        <a:pt x="618140" y="209695"/>
                        <a:pt x="613870" y="202546"/>
                      </a:cubicBezTo>
                      <a:cubicBezTo>
                        <a:pt x="611735" y="195398"/>
                        <a:pt x="610312" y="188250"/>
                        <a:pt x="610312" y="179672"/>
                      </a:cubicBezTo>
                      <a:cubicBezTo>
                        <a:pt x="610312" y="167520"/>
                        <a:pt x="613870" y="156083"/>
                        <a:pt x="623121" y="147506"/>
                      </a:cubicBezTo>
                      <a:cubicBezTo>
                        <a:pt x="630949" y="138213"/>
                        <a:pt x="640912" y="131780"/>
                        <a:pt x="654433" y="128920"/>
                      </a:cubicBezTo>
                      <a:cubicBezTo>
                        <a:pt x="654433" y="103187"/>
                        <a:pt x="654433" y="103187"/>
                        <a:pt x="654433" y="103187"/>
                      </a:cubicBezTo>
                      <a:close/>
                      <a:moveTo>
                        <a:pt x="228600" y="31750"/>
                      </a:moveTo>
                      <a:lnTo>
                        <a:pt x="228600" y="431800"/>
                      </a:lnTo>
                      <a:lnTo>
                        <a:pt x="1114425" y="431800"/>
                      </a:lnTo>
                      <a:lnTo>
                        <a:pt x="1114425" y="31750"/>
                      </a:lnTo>
                      <a:close/>
                      <a:moveTo>
                        <a:pt x="209003" y="0"/>
                      </a:moveTo>
                      <a:cubicBezTo>
                        <a:pt x="1134023" y="0"/>
                        <a:pt x="1134023" y="0"/>
                        <a:pt x="1134023" y="0"/>
                      </a:cubicBezTo>
                      <a:cubicBezTo>
                        <a:pt x="1141171" y="0"/>
                        <a:pt x="1146175" y="5000"/>
                        <a:pt x="1146175" y="11428"/>
                      </a:cubicBezTo>
                      <a:cubicBezTo>
                        <a:pt x="1146175" y="451408"/>
                        <a:pt x="1146175" y="451408"/>
                        <a:pt x="1146175" y="451408"/>
                      </a:cubicBezTo>
                      <a:cubicBezTo>
                        <a:pt x="1146175" y="457836"/>
                        <a:pt x="1141171" y="463550"/>
                        <a:pt x="1134023" y="463550"/>
                      </a:cubicBezTo>
                      <a:cubicBezTo>
                        <a:pt x="209003" y="463550"/>
                        <a:pt x="209003" y="463550"/>
                        <a:pt x="209003" y="463550"/>
                      </a:cubicBezTo>
                      <a:cubicBezTo>
                        <a:pt x="202569" y="463550"/>
                        <a:pt x="196850" y="457836"/>
                        <a:pt x="196850" y="451408"/>
                      </a:cubicBezTo>
                      <a:cubicBezTo>
                        <a:pt x="196850" y="11428"/>
                        <a:pt x="196850" y="11428"/>
                        <a:pt x="196850" y="11428"/>
                      </a:cubicBezTo>
                      <a:cubicBezTo>
                        <a:pt x="196850" y="5000"/>
                        <a:pt x="202569" y="0"/>
                        <a:pt x="209003" y="0"/>
                      </a:cubicBezTo>
                      <a:close/>
                    </a:path>
                  </a:pathLst>
                </a:custGeom>
                <a:solidFill>
                  <a:schemeClr val="accent1"/>
                </a:solidFill>
                <a:ln>
                  <a:noFill/>
                </a:ln>
              </p:spPr>
              <p:txBody>
                <a:bodyPr vert="horz" wrap="square" lIns="73152" tIns="36576" rIns="73152" bIns="36576" numCol="1" anchor="t" anchorCtr="0" compatLnSpc="1">
                  <a:prstTxWarp prst="textNoShape">
                    <a:avLst/>
                  </a:prstTxWarp>
                  <a:noAutofit/>
                </a:bodyPr>
                <a:lstStyle/>
                <a:p>
                  <a:endParaRPr lang="en-US"/>
                </a:p>
              </p:txBody>
            </p:sp>
          </p:grpSp>
        </p:grpSp>
        <p:sp>
          <p:nvSpPr>
            <p:cNvPr id="183" name="TextBox 182">
              <a:extLst>
                <a:ext uri="{FF2B5EF4-FFF2-40B4-BE49-F238E27FC236}">
                  <a16:creationId xmlns:a16="http://schemas.microsoft.com/office/drawing/2014/main" id="{A5E50E9A-66C0-4146-9D19-7A15072770B0}"/>
                </a:ext>
              </a:extLst>
            </p:cNvPr>
            <p:cNvSpPr txBox="1"/>
            <p:nvPr/>
          </p:nvSpPr>
          <p:spPr>
            <a:xfrm>
              <a:off x="3718525" y="2263006"/>
              <a:ext cx="1354768" cy="2616101"/>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27432" bIns="0" numCol="1" spcCol="0" rtlCol="0" fromWordArt="0" anchor="t" anchorCtr="0" forceAA="0" compatLnSpc="1">
              <a:prstTxWarp prst="textNoShape">
                <a:avLst/>
              </a:prstTxWarp>
              <a:noAutofit/>
            </a:bodyPr>
            <a:lstStyle/>
            <a:p>
              <a:pPr marL="109728">
                <a:buSzPct val="100000"/>
                <a:buFont typeface="Trebuchet MS" panose="020B0603020202020204" pitchFamily="34" charset="0"/>
                <a:buChar char="​"/>
                <a:defRPr/>
              </a:pPr>
              <a:r>
                <a:rPr lang="en-US" sz="1000">
                  <a:solidFill>
                    <a:srgbClr val="29BA74"/>
                  </a:solidFill>
                  <a:cs typeface="Arial" pitchFamily="34" charset="0"/>
                </a:rPr>
                <a:t>Cards</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Prepaid</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Debit</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Credit</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Free</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Regular</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Miles</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Affluent</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Professions</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Fans</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Ages</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Themes</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Co-branded</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Instant</a:t>
              </a:r>
              <a:endParaRPr kumimoji="0" lang="en-US" sz="1000" i="0" u="none" strike="noStrike" kern="1200" cap="none" spc="0" normalizeH="0" baseline="0" noProof="0">
                <a:ln>
                  <a:noFill/>
                </a:ln>
                <a:solidFill>
                  <a:schemeClr val="tx1"/>
                </a:solidFill>
                <a:effectLst/>
                <a:uLnTx/>
                <a:uFillTx/>
                <a:cs typeface="Arial" pitchFamily="34" charset="0"/>
              </a:endParaRPr>
            </a:p>
          </p:txBody>
        </p:sp>
        <p:sp>
          <p:nvSpPr>
            <p:cNvPr id="184" name="TextBox 183">
              <a:extLst>
                <a:ext uri="{FF2B5EF4-FFF2-40B4-BE49-F238E27FC236}">
                  <a16:creationId xmlns:a16="http://schemas.microsoft.com/office/drawing/2014/main" id="{4AD92078-04EE-4646-8F33-0EA35EE6F7FA}"/>
                </a:ext>
              </a:extLst>
            </p:cNvPr>
            <p:cNvSpPr txBox="1"/>
            <p:nvPr/>
          </p:nvSpPr>
          <p:spPr>
            <a:xfrm>
              <a:off x="5116619" y="2263006"/>
              <a:ext cx="1354768" cy="2616101"/>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27432" bIns="0" numCol="1" spcCol="0" rtlCol="0" fromWordArt="0" anchor="t" anchorCtr="0" forceAA="0" compatLnSpc="1">
              <a:prstTxWarp prst="textNoShape">
                <a:avLst/>
              </a:prstTxWarp>
              <a:noAutofit/>
            </a:bodyPr>
            <a:lstStyle/>
            <a:p>
              <a:pPr marL="109728">
                <a:buSzPct val="100000"/>
                <a:buFont typeface="Trebuchet MS" panose="020B0603020202020204" pitchFamily="34" charset="0"/>
                <a:buChar char="​"/>
                <a:defRPr/>
              </a:pPr>
              <a:r>
                <a:rPr lang="en-US" sz="1000">
                  <a:solidFill>
                    <a:srgbClr val="29BA74"/>
                  </a:solidFill>
                  <a:cs typeface="Arial" pitchFamily="34" charset="0"/>
                </a:rPr>
                <a:t>Credits</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General purpose loan (GPL)</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GPL with cash collateral</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Regular</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Restructuring</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Consumer finance</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Auto</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Mortgage</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Overdraft</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Regular</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With installments</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Secure rent</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Credit line</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SKY limit</a:t>
              </a:r>
              <a:endParaRPr kumimoji="0" lang="en-US" sz="1000" i="0" u="none" strike="noStrike" kern="1200" cap="none" spc="0" normalizeH="0" baseline="0" noProof="0">
                <a:ln>
                  <a:noFill/>
                </a:ln>
                <a:solidFill>
                  <a:schemeClr val="tx1"/>
                </a:solidFill>
                <a:effectLst/>
                <a:uLnTx/>
                <a:uFillTx/>
                <a:cs typeface="Arial" pitchFamily="34" charset="0"/>
              </a:endParaRPr>
            </a:p>
          </p:txBody>
        </p:sp>
      </p:grpSp>
      <p:grpSp>
        <p:nvGrpSpPr>
          <p:cNvPr id="2" name="Group 1">
            <a:extLst>
              <a:ext uri="{FF2B5EF4-FFF2-40B4-BE49-F238E27FC236}">
                <a16:creationId xmlns:a16="http://schemas.microsoft.com/office/drawing/2014/main" id="{E46DAE11-520F-459E-B7CF-A133546E28FF}"/>
              </a:ext>
            </a:extLst>
          </p:cNvPr>
          <p:cNvGrpSpPr/>
          <p:nvPr/>
        </p:nvGrpSpPr>
        <p:grpSpPr>
          <a:xfrm>
            <a:off x="4653245" y="1518831"/>
            <a:ext cx="1981912" cy="4805115"/>
            <a:chOff x="1676400" y="1518831"/>
            <a:chExt cx="1981912" cy="4805115"/>
          </a:xfrm>
        </p:grpSpPr>
        <p:sp>
          <p:nvSpPr>
            <p:cNvPr id="46" name="Rectangle 45">
              <a:extLst>
                <a:ext uri="{FF2B5EF4-FFF2-40B4-BE49-F238E27FC236}">
                  <a16:creationId xmlns:a16="http://schemas.microsoft.com/office/drawing/2014/main" id="{AE910F7D-3578-413F-8AB4-8797D55C610C}"/>
                </a:ext>
              </a:extLst>
            </p:cNvPr>
            <p:cNvSpPr/>
            <p:nvPr/>
          </p:nvSpPr>
          <p:spPr>
            <a:xfrm>
              <a:off x="1676400" y="1768651"/>
              <a:ext cx="1880271" cy="4555295"/>
            </a:xfrm>
            <a:prstGeom prst="rect">
              <a:avLst/>
            </a:prstGeom>
            <a:noFill/>
            <a:ln w="9525" cap="rnd" cmpd="sng" algn="ctr">
              <a:solidFill>
                <a:schemeClr val="tx2"/>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a:solidFill>
                  <a:srgbClr val="FFFFFF"/>
                </a:solidFill>
                <a:sym typeface="Trebuchet MS" panose="020B0603020202020204" pitchFamily="34" charset="0"/>
              </a:endParaRPr>
            </a:p>
          </p:txBody>
        </p:sp>
        <p:sp>
          <p:nvSpPr>
            <p:cNvPr id="48" name="Rectangle 47">
              <a:extLst>
                <a:ext uri="{FF2B5EF4-FFF2-40B4-BE49-F238E27FC236}">
                  <a16:creationId xmlns:a16="http://schemas.microsoft.com/office/drawing/2014/main" id="{21783683-52DC-45CA-9D0D-CD772E95A95A}"/>
                </a:ext>
              </a:extLst>
            </p:cNvPr>
            <p:cNvSpPr/>
            <p:nvPr/>
          </p:nvSpPr>
          <p:spPr>
            <a:xfrm>
              <a:off x="2947408" y="1722054"/>
              <a:ext cx="352479" cy="71129"/>
            </a:xfrm>
            <a:prstGeom prst="rect">
              <a:avLst/>
            </a:prstGeom>
            <a:solidFill>
              <a:srgbClr val="FFFFFF"/>
            </a:solidFill>
            <a:ln w="9525" cap="flat" cmpd="sng" algn="ctr">
              <a:no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a:solidFill>
                  <a:srgbClr val="FFFFFF"/>
                </a:solidFill>
              </a:endParaRPr>
            </a:p>
          </p:txBody>
        </p:sp>
        <p:sp>
          <p:nvSpPr>
            <p:cNvPr id="49" name="Diamond 48">
              <a:extLst>
                <a:ext uri="{FF2B5EF4-FFF2-40B4-BE49-F238E27FC236}">
                  <a16:creationId xmlns:a16="http://schemas.microsoft.com/office/drawing/2014/main" id="{29C6CCCD-660A-4030-A347-45FEFB890D14}"/>
                </a:ext>
              </a:extLst>
            </p:cNvPr>
            <p:cNvSpPr/>
            <p:nvPr/>
          </p:nvSpPr>
          <p:spPr>
            <a:xfrm>
              <a:off x="2948823" y="1518831"/>
              <a:ext cx="709489" cy="710337"/>
            </a:xfrm>
            <a:prstGeom prst="diamond">
              <a:avLst/>
            </a:prstGeom>
            <a:solidFill>
              <a:srgbClr val="FFFFFF"/>
            </a:solidFill>
            <a:ln w="19050"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4295" tIns="37148" rIns="74295" bIns="37148" numCol="1" spcCol="0" rtlCol="0" fromWordArt="0" anchor="ctr" anchorCtr="0" forceAA="0" compatLnSpc="1">
              <a:prstTxWarp prst="textNoShape">
                <a:avLst/>
              </a:prstTxWarp>
              <a:noAutofit/>
            </a:bodyPr>
            <a:lstStyle/>
            <a:p>
              <a:pPr algn="ctr">
                <a:lnSpc>
                  <a:spcPct val="90000"/>
                </a:lnSpc>
                <a:spcAft>
                  <a:spcPts val="813"/>
                </a:spcAft>
              </a:pPr>
              <a:endParaRPr lang="en-GB" sz="1600">
                <a:solidFill>
                  <a:srgbClr val="FFFFFF"/>
                </a:solidFill>
                <a:sym typeface="Trebuchet MS" panose="020B0603020202020204" pitchFamily="34" charset="0"/>
              </a:endParaRPr>
            </a:p>
          </p:txBody>
        </p:sp>
        <p:sp>
          <p:nvSpPr>
            <p:cNvPr id="50" name="Arrow: Chevron 59">
              <a:extLst>
                <a:ext uri="{FF2B5EF4-FFF2-40B4-BE49-F238E27FC236}">
                  <a16:creationId xmlns:a16="http://schemas.microsoft.com/office/drawing/2014/main" id="{180D808A-8879-4D9E-9F99-7544F603C906}"/>
                </a:ext>
              </a:extLst>
            </p:cNvPr>
            <p:cNvSpPr/>
            <p:nvPr/>
          </p:nvSpPr>
          <p:spPr>
            <a:xfrm flipH="1">
              <a:off x="1836666" y="1649546"/>
              <a:ext cx="1282435" cy="458654"/>
            </a:xfrm>
            <a:prstGeom prst="chevron">
              <a:avLst>
                <a:gd name="adj" fmla="val 51207"/>
              </a:avLst>
            </a:prstGeom>
            <a:solidFill>
              <a:schemeClr val="tx2"/>
            </a:solidFill>
            <a:ln w="12700" cap="flat" cmpd="sng" algn="ctr">
              <a:solidFill>
                <a:schemeClr val="tx2"/>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tx1"/>
                </a:solidFill>
              </a:endParaRPr>
            </a:p>
          </p:txBody>
        </p:sp>
        <p:sp>
          <p:nvSpPr>
            <p:cNvPr id="51" name="Rectangle: Rounded Corners 60">
              <a:extLst>
                <a:ext uri="{FF2B5EF4-FFF2-40B4-BE49-F238E27FC236}">
                  <a16:creationId xmlns:a16="http://schemas.microsoft.com/office/drawing/2014/main" id="{1BA1FD73-5087-4C1B-977D-8222C2BE62E2}"/>
                </a:ext>
              </a:extLst>
            </p:cNvPr>
            <p:cNvSpPr/>
            <p:nvPr/>
          </p:nvSpPr>
          <p:spPr>
            <a:xfrm>
              <a:off x="1676401" y="1649546"/>
              <a:ext cx="1087872" cy="458654"/>
            </a:xfrm>
            <a:prstGeom prst="roundRect">
              <a:avLst>
                <a:gd name="adj" fmla="val 11456"/>
              </a:avLst>
            </a:prstGeom>
            <a:solidFill>
              <a:schemeClr val="tx2"/>
            </a:solidFill>
            <a:ln w="12700" cap="flat" cmpd="sng" algn="ctr">
              <a:solidFill>
                <a:schemeClr val="tx2"/>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wrap="none" lIns="91440" tIns="45720" rIns="91440" bIns="45720" rtlCol="0" anchor="ctr"/>
            <a:lstStyle/>
            <a:p>
              <a:r>
                <a:rPr lang="en-US" sz="1400"/>
                <a:t>Saving</a:t>
              </a:r>
              <a:br>
                <a:rPr lang="en-US" sz="1400"/>
              </a:br>
              <a:r>
                <a:rPr lang="en-US" sz="1400"/>
                <a:t>Domain</a:t>
              </a:r>
            </a:p>
          </p:txBody>
        </p:sp>
        <p:sp>
          <p:nvSpPr>
            <p:cNvPr id="47" name="Rectangle 46">
              <a:extLst>
                <a:ext uri="{FF2B5EF4-FFF2-40B4-BE49-F238E27FC236}">
                  <a16:creationId xmlns:a16="http://schemas.microsoft.com/office/drawing/2014/main" id="{880BA536-0A9D-4D8F-B3AE-2746DC133612}"/>
                </a:ext>
              </a:extLst>
            </p:cNvPr>
            <p:cNvSpPr/>
            <p:nvPr/>
          </p:nvSpPr>
          <p:spPr>
            <a:xfrm>
              <a:off x="3035729" y="6278226"/>
              <a:ext cx="520942" cy="4572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90000"/>
                </a:lnSpc>
                <a:spcAft>
                  <a:spcPts val="1000"/>
                </a:spcAft>
              </a:pPr>
              <a:endParaRPr lang="en-US" sz="1600">
                <a:solidFill>
                  <a:prstClr val="white"/>
                </a:solidFill>
                <a:sym typeface="Trebuchet MS" panose="020B0603020202020204" pitchFamily="34" charset="0"/>
              </a:endParaRPr>
            </a:p>
          </p:txBody>
        </p:sp>
        <p:grpSp>
          <p:nvGrpSpPr>
            <p:cNvPr id="160" name="Group 159"/>
            <p:cNvGrpSpPr>
              <a:grpSpLocks noChangeAspect="1"/>
            </p:cNvGrpSpPr>
            <p:nvPr/>
          </p:nvGrpSpPr>
          <p:grpSpPr>
            <a:xfrm>
              <a:off x="3127417" y="1697849"/>
              <a:ext cx="352300" cy="352300"/>
              <a:chOff x="5273675" y="2606675"/>
              <a:chExt cx="1644650" cy="1644650"/>
            </a:xfrm>
          </p:grpSpPr>
          <p:sp>
            <p:nvSpPr>
              <p:cNvPr id="161" name="AutoShape 3"/>
              <p:cNvSpPr>
                <a:spLocks noChangeAspect="1" noChangeArrowheads="1" noTextEdit="1"/>
              </p:cNvSpPr>
              <p:nvPr/>
            </p:nvSpPr>
            <p:spPr bwMode="auto">
              <a:xfrm>
                <a:off x="5273675" y="2606675"/>
                <a:ext cx="1644650"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162" name="Group 161"/>
              <p:cNvGrpSpPr/>
              <p:nvPr/>
            </p:nvGrpSpPr>
            <p:grpSpPr>
              <a:xfrm>
                <a:off x="5602288" y="2870200"/>
                <a:ext cx="984250" cy="1104900"/>
                <a:chOff x="5602288" y="2870200"/>
                <a:chExt cx="984250" cy="1104900"/>
              </a:xfrm>
            </p:grpSpPr>
            <p:sp>
              <p:nvSpPr>
                <p:cNvPr id="163" name="Freeform 162"/>
                <p:cNvSpPr>
                  <a:spLocks/>
                </p:cNvSpPr>
                <p:nvPr/>
              </p:nvSpPr>
              <p:spPr bwMode="auto">
                <a:xfrm>
                  <a:off x="5668395" y="2943225"/>
                  <a:ext cx="851129" cy="969963"/>
                </a:xfrm>
                <a:custGeom>
                  <a:avLst/>
                  <a:gdLst>
                    <a:gd name="connsiteX0" fmla="*/ 399103 w 851129"/>
                    <a:gd name="connsiteY0" fmla="*/ 419100 h 969963"/>
                    <a:gd name="connsiteX1" fmla="*/ 399103 w 851129"/>
                    <a:gd name="connsiteY1" fmla="*/ 457745 h 969963"/>
                    <a:gd name="connsiteX2" fmla="*/ 351016 w 851129"/>
                    <a:gd name="connsiteY2" fmla="*/ 486372 h 969963"/>
                    <a:gd name="connsiteX3" fmla="*/ 333073 w 851129"/>
                    <a:gd name="connsiteY3" fmla="*/ 537183 h 969963"/>
                    <a:gd name="connsiteX4" fmla="*/ 339532 w 851129"/>
                    <a:gd name="connsiteY4" fmla="*/ 572966 h 969963"/>
                    <a:gd name="connsiteX5" fmla="*/ 358911 w 851129"/>
                    <a:gd name="connsiteY5" fmla="*/ 600160 h 969963"/>
                    <a:gd name="connsiteX6" fmla="*/ 405563 w 851129"/>
                    <a:gd name="connsiteY6" fmla="*/ 628786 h 969963"/>
                    <a:gd name="connsiteX7" fmla="*/ 452215 w 851129"/>
                    <a:gd name="connsiteY7" fmla="*/ 660991 h 969963"/>
                    <a:gd name="connsiteX8" fmla="*/ 465133 w 851129"/>
                    <a:gd name="connsiteY8" fmla="*/ 692480 h 969963"/>
                    <a:gd name="connsiteX9" fmla="*/ 416329 w 851129"/>
                    <a:gd name="connsiteY9" fmla="*/ 726115 h 969963"/>
                    <a:gd name="connsiteX10" fmla="*/ 352451 w 851129"/>
                    <a:gd name="connsiteY10" fmla="*/ 703214 h 969963"/>
                    <a:gd name="connsiteX11" fmla="*/ 332355 w 851129"/>
                    <a:gd name="connsiteY11" fmla="*/ 752594 h 969963"/>
                    <a:gd name="connsiteX12" fmla="*/ 399103 w 851129"/>
                    <a:gd name="connsiteY12" fmla="*/ 774064 h 969963"/>
                    <a:gd name="connsiteX13" fmla="*/ 399103 w 851129"/>
                    <a:gd name="connsiteY13" fmla="*/ 819150 h 969963"/>
                    <a:gd name="connsiteX14" fmla="*/ 447908 w 851129"/>
                    <a:gd name="connsiteY14" fmla="*/ 819150 h 969963"/>
                    <a:gd name="connsiteX15" fmla="*/ 447908 w 851129"/>
                    <a:gd name="connsiteY15" fmla="*/ 770486 h 969963"/>
                    <a:gd name="connsiteX16" fmla="*/ 501020 w 851129"/>
                    <a:gd name="connsiteY16" fmla="*/ 740428 h 969963"/>
                    <a:gd name="connsiteX17" fmla="*/ 519680 w 851129"/>
                    <a:gd name="connsiteY17" fmla="*/ 688186 h 969963"/>
                    <a:gd name="connsiteX18" fmla="*/ 512503 w 851129"/>
                    <a:gd name="connsiteY18" fmla="*/ 650256 h 969963"/>
                    <a:gd name="connsiteX19" fmla="*/ 491689 w 851129"/>
                    <a:gd name="connsiteY19" fmla="*/ 620199 h 969963"/>
                    <a:gd name="connsiteX20" fmla="*/ 446473 w 851129"/>
                    <a:gd name="connsiteY20" fmla="*/ 592288 h 969963"/>
                    <a:gd name="connsiteX21" fmla="*/ 387620 w 851129"/>
                    <a:gd name="connsiteY21" fmla="*/ 537183 h 969963"/>
                    <a:gd name="connsiteX22" fmla="*/ 397668 w 851129"/>
                    <a:gd name="connsiteY22" fmla="*/ 510704 h 969963"/>
                    <a:gd name="connsiteX23" fmla="*/ 427094 w 851129"/>
                    <a:gd name="connsiteY23" fmla="*/ 500685 h 969963"/>
                    <a:gd name="connsiteX24" fmla="*/ 488818 w 851129"/>
                    <a:gd name="connsiteY24" fmla="*/ 521439 h 969963"/>
                    <a:gd name="connsiteX25" fmla="*/ 505326 w 851129"/>
                    <a:gd name="connsiteY25" fmla="*/ 474205 h 969963"/>
                    <a:gd name="connsiteX26" fmla="*/ 447190 w 851129"/>
                    <a:gd name="connsiteY26" fmla="*/ 455598 h 969963"/>
                    <a:gd name="connsiteX27" fmla="*/ 447908 w 851129"/>
                    <a:gd name="connsiteY27" fmla="*/ 419100 h 969963"/>
                    <a:gd name="connsiteX28" fmla="*/ 399103 w 851129"/>
                    <a:gd name="connsiteY28" fmla="*/ 419100 h 969963"/>
                    <a:gd name="connsiteX29" fmla="*/ 357759 w 851129"/>
                    <a:gd name="connsiteY29" fmla="*/ 201613 h 969963"/>
                    <a:gd name="connsiteX30" fmla="*/ 494117 w 851129"/>
                    <a:gd name="connsiteY30" fmla="*/ 201613 h 969963"/>
                    <a:gd name="connsiteX31" fmla="*/ 524101 w 851129"/>
                    <a:gd name="connsiteY31" fmla="*/ 248699 h 969963"/>
                    <a:gd name="connsiteX32" fmla="*/ 702580 w 851129"/>
                    <a:gd name="connsiteY32" fmla="*/ 440608 h 969963"/>
                    <a:gd name="connsiteX33" fmla="*/ 851074 w 851129"/>
                    <a:gd name="connsiteY33" fmla="*/ 777341 h 969963"/>
                    <a:gd name="connsiteX34" fmla="*/ 851074 w 851129"/>
                    <a:gd name="connsiteY34" fmla="*/ 778054 h 969963"/>
                    <a:gd name="connsiteX35" fmla="*/ 851074 w 851129"/>
                    <a:gd name="connsiteY35" fmla="*/ 779481 h 969963"/>
                    <a:gd name="connsiteX36" fmla="*/ 851074 w 851129"/>
                    <a:gd name="connsiteY36" fmla="*/ 780194 h 969963"/>
                    <a:gd name="connsiteX37" fmla="*/ 804669 w 851129"/>
                    <a:gd name="connsiteY37" fmla="*/ 914317 h 969963"/>
                    <a:gd name="connsiteX38" fmla="*/ 641183 w 851129"/>
                    <a:gd name="connsiteY38" fmla="*/ 969963 h 969963"/>
                    <a:gd name="connsiteX39" fmla="*/ 210693 w 851129"/>
                    <a:gd name="connsiteY39" fmla="*/ 969963 h 969963"/>
                    <a:gd name="connsiteX40" fmla="*/ 46493 w 851129"/>
                    <a:gd name="connsiteY40" fmla="*/ 914317 h 969963"/>
                    <a:gd name="connsiteX41" fmla="*/ 89 w 851129"/>
                    <a:gd name="connsiteY41" fmla="*/ 780194 h 969963"/>
                    <a:gd name="connsiteX42" fmla="*/ 89 w 851129"/>
                    <a:gd name="connsiteY42" fmla="*/ 779481 h 969963"/>
                    <a:gd name="connsiteX43" fmla="*/ 89 w 851129"/>
                    <a:gd name="connsiteY43" fmla="*/ 778054 h 969963"/>
                    <a:gd name="connsiteX44" fmla="*/ 89 w 851129"/>
                    <a:gd name="connsiteY44" fmla="*/ 777341 h 969963"/>
                    <a:gd name="connsiteX45" fmla="*/ 149297 w 851129"/>
                    <a:gd name="connsiteY45" fmla="*/ 440608 h 969963"/>
                    <a:gd name="connsiteX46" fmla="*/ 327775 w 851129"/>
                    <a:gd name="connsiteY46" fmla="*/ 248699 h 969963"/>
                    <a:gd name="connsiteX47" fmla="*/ 357759 w 851129"/>
                    <a:gd name="connsiteY47" fmla="*/ 201613 h 969963"/>
                    <a:gd name="connsiteX48" fmla="*/ 426375 w 851129"/>
                    <a:gd name="connsiteY48" fmla="*/ 0 h 969963"/>
                    <a:gd name="connsiteX49" fmla="*/ 541196 w 851129"/>
                    <a:gd name="connsiteY49" fmla="*/ 22721 h 969963"/>
                    <a:gd name="connsiteX50" fmla="*/ 591118 w 851129"/>
                    <a:gd name="connsiteY50" fmla="*/ 48282 h 969963"/>
                    <a:gd name="connsiteX51" fmla="*/ 526932 w 851129"/>
                    <a:gd name="connsiteY51" fmla="*/ 113604 h 969963"/>
                    <a:gd name="connsiteX52" fmla="*/ 494840 w 851129"/>
                    <a:gd name="connsiteY52" fmla="*/ 168275 h 969963"/>
                    <a:gd name="connsiteX53" fmla="*/ 357910 w 851129"/>
                    <a:gd name="connsiteY53" fmla="*/ 168275 h 969963"/>
                    <a:gd name="connsiteX54" fmla="*/ 325817 w 851129"/>
                    <a:gd name="connsiteY54" fmla="*/ 113604 h 969963"/>
                    <a:gd name="connsiteX55" fmla="*/ 260918 w 851129"/>
                    <a:gd name="connsiteY55" fmla="*/ 48282 h 969963"/>
                    <a:gd name="connsiteX56" fmla="*/ 311554 w 851129"/>
                    <a:gd name="connsiteY56" fmla="*/ 22721 h 969963"/>
                    <a:gd name="connsiteX57" fmla="*/ 426375 w 851129"/>
                    <a:gd name="connsiteY57" fmla="*/ 0 h 969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51129" h="969963">
                      <a:moveTo>
                        <a:pt x="399103" y="419100"/>
                      </a:moveTo>
                      <a:cubicBezTo>
                        <a:pt x="399103" y="419100"/>
                        <a:pt x="399103" y="419100"/>
                        <a:pt x="399103" y="457745"/>
                      </a:cubicBezTo>
                      <a:cubicBezTo>
                        <a:pt x="378289" y="462755"/>
                        <a:pt x="362500" y="472058"/>
                        <a:pt x="351016" y="486372"/>
                      </a:cubicBezTo>
                      <a:cubicBezTo>
                        <a:pt x="338815" y="501400"/>
                        <a:pt x="333073" y="517860"/>
                        <a:pt x="333073" y="537183"/>
                      </a:cubicBezTo>
                      <a:cubicBezTo>
                        <a:pt x="333073" y="550065"/>
                        <a:pt x="335226" y="562231"/>
                        <a:pt x="339532" y="572966"/>
                      </a:cubicBezTo>
                      <a:cubicBezTo>
                        <a:pt x="343839" y="582985"/>
                        <a:pt x="350298" y="592288"/>
                        <a:pt x="358911" y="600160"/>
                      </a:cubicBezTo>
                      <a:cubicBezTo>
                        <a:pt x="366088" y="607317"/>
                        <a:pt x="381878" y="617336"/>
                        <a:pt x="405563" y="628786"/>
                      </a:cubicBezTo>
                      <a:cubicBezTo>
                        <a:pt x="428530" y="640237"/>
                        <a:pt x="444320" y="650972"/>
                        <a:pt x="452215" y="660991"/>
                      </a:cubicBezTo>
                      <a:cubicBezTo>
                        <a:pt x="460827" y="671010"/>
                        <a:pt x="465133" y="681029"/>
                        <a:pt x="465133" y="692480"/>
                      </a:cubicBezTo>
                      <a:cubicBezTo>
                        <a:pt x="465133" y="714665"/>
                        <a:pt x="448626" y="726115"/>
                        <a:pt x="416329" y="726115"/>
                      </a:cubicBezTo>
                      <a:cubicBezTo>
                        <a:pt x="394797" y="726115"/>
                        <a:pt x="373265" y="718243"/>
                        <a:pt x="352451" y="703214"/>
                      </a:cubicBezTo>
                      <a:cubicBezTo>
                        <a:pt x="352451" y="703214"/>
                        <a:pt x="352451" y="703214"/>
                        <a:pt x="332355" y="752594"/>
                      </a:cubicBezTo>
                      <a:cubicBezTo>
                        <a:pt x="352451" y="765476"/>
                        <a:pt x="373983" y="772633"/>
                        <a:pt x="399103" y="774064"/>
                      </a:cubicBezTo>
                      <a:cubicBezTo>
                        <a:pt x="399103" y="774064"/>
                        <a:pt x="399103" y="774064"/>
                        <a:pt x="399103" y="819150"/>
                      </a:cubicBezTo>
                      <a:cubicBezTo>
                        <a:pt x="399103" y="819150"/>
                        <a:pt x="399103" y="819150"/>
                        <a:pt x="447908" y="819150"/>
                      </a:cubicBezTo>
                      <a:cubicBezTo>
                        <a:pt x="447908" y="819150"/>
                        <a:pt x="447908" y="819150"/>
                        <a:pt x="447908" y="770486"/>
                      </a:cubicBezTo>
                      <a:cubicBezTo>
                        <a:pt x="470158" y="764761"/>
                        <a:pt x="488101" y="754741"/>
                        <a:pt x="501020" y="740428"/>
                      </a:cubicBezTo>
                      <a:cubicBezTo>
                        <a:pt x="513221" y="725400"/>
                        <a:pt x="519680" y="708224"/>
                        <a:pt x="519680" y="688186"/>
                      </a:cubicBezTo>
                      <a:cubicBezTo>
                        <a:pt x="519680" y="674588"/>
                        <a:pt x="517527" y="661706"/>
                        <a:pt x="512503" y="650256"/>
                      </a:cubicBezTo>
                      <a:cubicBezTo>
                        <a:pt x="508197" y="638806"/>
                        <a:pt x="501020" y="628786"/>
                        <a:pt x="491689" y="620199"/>
                      </a:cubicBezTo>
                      <a:cubicBezTo>
                        <a:pt x="482359" y="611611"/>
                        <a:pt x="467287" y="602307"/>
                        <a:pt x="446473" y="592288"/>
                      </a:cubicBezTo>
                      <a:cubicBezTo>
                        <a:pt x="406998" y="572966"/>
                        <a:pt x="387620" y="554359"/>
                        <a:pt x="387620" y="537183"/>
                      </a:cubicBezTo>
                      <a:cubicBezTo>
                        <a:pt x="387620" y="526448"/>
                        <a:pt x="390491" y="517860"/>
                        <a:pt x="397668" y="510704"/>
                      </a:cubicBezTo>
                      <a:cubicBezTo>
                        <a:pt x="404845" y="504263"/>
                        <a:pt x="414893" y="500685"/>
                        <a:pt x="427094" y="500685"/>
                      </a:cubicBezTo>
                      <a:cubicBezTo>
                        <a:pt x="448626" y="500685"/>
                        <a:pt x="469440" y="507841"/>
                        <a:pt x="488818" y="521439"/>
                      </a:cubicBezTo>
                      <a:cubicBezTo>
                        <a:pt x="488818" y="521439"/>
                        <a:pt x="488818" y="521439"/>
                        <a:pt x="505326" y="474205"/>
                      </a:cubicBezTo>
                      <a:cubicBezTo>
                        <a:pt x="493125" y="463471"/>
                        <a:pt x="473746" y="457745"/>
                        <a:pt x="447190" y="455598"/>
                      </a:cubicBezTo>
                      <a:cubicBezTo>
                        <a:pt x="447190" y="455598"/>
                        <a:pt x="447190" y="455598"/>
                        <a:pt x="447908" y="419100"/>
                      </a:cubicBezTo>
                      <a:cubicBezTo>
                        <a:pt x="447908" y="419100"/>
                        <a:pt x="447908" y="419100"/>
                        <a:pt x="399103" y="419100"/>
                      </a:cubicBezTo>
                      <a:close/>
                      <a:moveTo>
                        <a:pt x="357759" y="201613"/>
                      </a:moveTo>
                      <a:cubicBezTo>
                        <a:pt x="357759" y="201613"/>
                        <a:pt x="357759" y="201613"/>
                        <a:pt x="494117" y="201613"/>
                      </a:cubicBezTo>
                      <a:cubicBezTo>
                        <a:pt x="497686" y="215881"/>
                        <a:pt x="505540" y="233003"/>
                        <a:pt x="524101" y="248699"/>
                      </a:cubicBezTo>
                      <a:cubicBezTo>
                        <a:pt x="525529" y="249412"/>
                        <a:pt x="613340" y="325034"/>
                        <a:pt x="702580" y="440608"/>
                      </a:cubicBezTo>
                      <a:cubicBezTo>
                        <a:pt x="800386" y="566169"/>
                        <a:pt x="851074" y="683170"/>
                        <a:pt x="851074" y="777341"/>
                      </a:cubicBezTo>
                      <a:cubicBezTo>
                        <a:pt x="851074" y="777341"/>
                        <a:pt x="851074" y="777341"/>
                        <a:pt x="851074" y="778054"/>
                      </a:cubicBezTo>
                      <a:cubicBezTo>
                        <a:pt x="851074" y="778767"/>
                        <a:pt x="851074" y="778767"/>
                        <a:pt x="851074" y="779481"/>
                      </a:cubicBezTo>
                      <a:cubicBezTo>
                        <a:pt x="851074" y="779481"/>
                        <a:pt x="851074" y="779481"/>
                        <a:pt x="851074" y="780194"/>
                      </a:cubicBezTo>
                      <a:cubicBezTo>
                        <a:pt x="851074" y="780908"/>
                        <a:pt x="854643" y="860097"/>
                        <a:pt x="804669" y="914317"/>
                      </a:cubicBezTo>
                      <a:cubicBezTo>
                        <a:pt x="769688" y="951414"/>
                        <a:pt x="714716" y="969963"/>
                        <a:pt x="641183" y="969963"/>
                      </a:cubicBezTo>
                      <a:cubicBezTo>
                        <a:pt x="641183" y="969963"/>
                        <a:pt x="641183" y="969963"/>
                        <a:pt x="210693" y="969963"/>
                      </a:cubicBezTo>
                      <a:cubicBezTo>
                        <a:pt x="137160" y="969963"/>
                        <a:pt x="82189" y="950701"/>
                        <a:pt x="46493" y="914317"/>
                      </a:cubicBezTo>
                      <a:cubicBezTo>
                        <a:pt x="-4195" y="859384"/>
                        <a:pt x="89" y="780908"/>
                        <a:pt x="89" y="780194"/>
                      </a:cubicBezTo>
                      <a:cubicBezTo>
                        <a:pt x="89" y="780194"/>
                        <a:pt x="89" y="780194"/>
                        <a:pt x="89" y="779481"/>
                      </a:cubicBezTo>
                      <a:cubicBezTo>
                        <a:pt x="89" y="778767"/>
                        <a:pt x="89" y="778767"/>
                        <a:pt x="89" y="778054"/>
                      </a:cubicBezTo>
                      <a:cubicBezTo>
                        <a:pt x="89" y="778054"/>
                        <a:pt x="89" y="778054"/>
                        <a:pt x="89" y="777341"/>
                      </a:cubicBezTo>
                      <a:cubicBezTo>
                        <a:pt x="89" y="683170"/>
                        <a:pt x="51491" y="566169"/>
                        <a:pt x="149297" y="440608"/>
                      </a:cubicBezTo>
                      <a:cubicBezTo>
                        <a:pt x="237822" y="325034"/>
                        <a:pt x="326347" y="249412"/>
                        <a:pt x="327775" y="248699"/>
                      </a:cubicBezTo>
                      <a:cubicBezTo>
                        <a:pt x="346337" y="233003"/>
                        <a:pt x="354190" y="215881"/>
                        <a:pt x="357759" y="201613"/>
                      </a:cubicBezTo>
                      <a:close/>
                      <a:moveTo>
                        <a:pt x="426375" y="0"/>
                      </a:moveTo>
                      <a:cubicBezTo>
                        <a:pt x="466313" y="0"/>
                        <a:pt x="504824" y="7810"/>
                        <a:pt x="541196" y="22721"/>
                      </a:cubicBezTo>
                      <a:cubicBezTo>
                        <a:pt x="558312" y="30531"/>
                        <a:pt x="576855" y="39761"/>
                        <a:pt x="591118" y="48282"/>
                      </a:cubicBezTo>
                      <a:cubicBezTo>
                        <a:pt x="574715" y="66742"/>
                        <a:pt x="551180" y="91593"/>
                        <a:pt x="526932" y="113604"/>
                      </a:cubicBezTo>
                      <a:cubicBezTo>
                        <a:pt x="520514" y="119994"/>
                        <a:pt x="500545" y="139164"/>
                        <a:pt x="494840" y="168275"/>
                      </a:cubicBezTo>
                      <a:cubicBezTo>
                        <a:pt x="494840" y="168275"/>
                        <a:pt x="494840" y="168275"/>
                        <a:pt x="357910" y="168275"/>
                      </a:cubicBezTo>
                      <a:cubicBezTo>
                        <a:pt x="352205" y="139164"/>
                        <a:pt x="332236" y="119994"/>
                        <a:pt x="325817" y="113604"/>
                      </a:cubicBezTo>
                      <a:cubicBezTo>
                        <a:pt x="301569" y="91593"/>
                        <a:pt x="277321" y="66742"/>
                        <a:pt x="260918" y="48282"/>
                      </a:cubicBezTo>
                      <a:cubicBezTo>
                        <a:pt x="275182" y="39761"/>
                        <a:pt x="294437" y="30531"/>
                        <a:pt x="311554" y="22721"/>
                      </a:cubicBezTo>
                      <a:cubicBezTo>
                        <a:pt x="347926" y="7810"/>
                        <a:pt x="386437" y="0"/>
                        <a:pt x="426375"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p>
              </p:txBody>
            </p:sp>
            <p:sp>
              <p:nvSpPr>
                <p:cNvPr id="164" name="Freeform 8"/>
                <p:cNvSpPr>
                  <a:spLocks noEditPoints="1"/>
                </p:cNvSpPr>
                <p:nvPr/>
              </p:nvSpPr>
              <p:spPr bwMode="auto">
                <a:xfrm>
                  <a:off x="5602288" y="2870200"/>
                  <a:ext cx="984250" cy="1104900"/>
                </a:xfrm>
                <a:custGeom>
                  <a:avLst/>
                  <a:gdLst>
                    <a:gd name="T0" fmla="*/ 885 w 1380"/>
                    <a:gd name="T1" fmla="*/ 381 h 1549"/>
                    <a:gd name="T2" fmla="*/ 890 w 1380"/>
                    <a:gd name="T3" fmla="*/ 326 h 1549"/>
                    <a:gd name="T4" fmla="*/ 886 w 1380"/>
                    <a:gd name="T5" fmla="*/ 52 h 1549"/>
                    <a:gd name="T6" fmla="*/ 352 w 1380"/>
                    <a:gd name="T7" fmla="*/ 165 h 1549"/>
                    <a:gd name="T8" fmla="*/ 509 w 1380"/>
                    <a:gd name="T9" fmla="*/ 359 h 1549"/>
                    <a:gd name="T10" fmla="*/ 6 w 1380"/>
                    <a:gd name="T11" fmla="*/ 1189 h 1549"/>
                    <a:gd name="T12" fmla="*/ 1286 w 1380"/>
                    <a:gd name="T13" fmla="*/ 1442 h 1549"/>
                    <a:gd name="T14" fmla="*/ 1261 w 1380"/>
                    <a:gd name="T15" fmla="*/ 1403 h 1549"/>
                    <a:gd name="T16" fmla="*/ 1247 w 1380"/>
                    <a:gd name="T17" fmla="*/ 1418 h 1549"/>
                    <a:gd name="T18" fmla="*/ 1223 w 1380"/>
                    <a:gd name="T19" fmla="*/ 1440 h 1549"/>
                    <a:gd name="T20" fmla="*/ 1196 w 1380"/>
                    <a:gd name="T21" fmla="*/ 1458 h 1549"/>
                    <a:gd name="T22" fmla="*/ 1166 w 1380"/>
                    <a:gd name="T23" fmla="*/ 1473 h 1549"/>
                    <a:gd name="T24" fmla="*/ 1134 w 1380"/>
                    <a:gd name="T25" fmla="*/ 1485 h 1549"/>
                    <a:gd name="T26" fmla="*/ 1099 w 1380"/>
                    <a:gd name="T27" fmla="*/ 1495 h 1549"/>
                    <a:gd name="T28" fmla="*/ 1062 w 1380"/>
                    <a:gd name="T29" fmla="*/ 1501 h 1549"/>
                    <a:gd name="T30" fmla="*/ 1020 w 1380"/>
                    <a:gd name="T31" fmla="*/ 1505 h 1549"/>
                    <a:gd name="T32" fmla="*/ 367 w 1380"/>
                    <a:gd name="T33" fmla="*/ 1505 h 1549"/>
                    <a:gd name="T34" fmla="*/ 327 w 1380"/>
                    <a:gd name="T35" fmla="*/ 1502 h 1549"/>
                    <a:gd name="T36" fmla="*/ 289 w 1380"/>
                    <a:gd name="T37" fmla="*/ 1496 h 1549"/>
                    <a:gd name="T38" fmla="*/ 253 w 1380"/>
                    <a:gd name="T39" fmla="*/ 1487 h 1549"/>
                    <a:gd name="T40" fmla="*/ 221 w 1380"/>
                    <a:gd name="T41" fmla="*/ 1476 h 1549"/>
                    <a:gd name="T42" fmla="*/ 191 w 1380"/>
                    <a:gd name="T43" fmla="*/ 1461 h 1549"/>
                    <a:gd name="T44" fmla="*/ 163 w 1380"/>
                    <a:gd name="T45" fmla="*/ 1443 h 1549"/>
                    <a:gd name="T46" fmla="*/ 139 w 1380"/>
                    <a:gd name="T47" fmla="*/ 1423 h 1549"/>
                    <a:gd name="T48" fmla="*/ 123 w 1380"/>
                    <a:gd name="T49" fmla="*/ 1406 h 1549"/>
                    <a:gd name="T50" fmla="*/ 50 w 1380"/>
                    <a:gd name="T51" fmla="*/ 1190 h 1549"/>
                    <a:gd name="T52" fmla="*/ 52 w 1380"/>
                    <a:gd name="T53" fmla="*/ 1147 h 1549"/>
                    <a:gd name="T54" fmla="*/ 340 w 1380"/>
                    <a:gd name="T55" fmla="*/ 601 h 1549"/>
                    <a:gd name="T56" fmla="*/ 530 w 1380"/>
                    <a:gd name="T57" fmla="*/ 409 h 1549"/>
                    <a:gd name="T58" fmla="*/ 540 w 1380"/>
                    <a:gd name="T59" fmla="*/ 398 h 1549"/>
                    <a:gd name="T60" fmla="*/ 547 w 1380"/>
                    <a:gd name="T61" fmla="*/ 385 h 1549"/>
                    <a:gd name="T62" fmla="*/ 551 w 1380"/>
                    <a:gd name="T63" fmla="*/ 373 h 1549"/>
                    <a:gd name="T64" fmla="*/ 553 w 1380"/>
                    <a:gd name="T65" fmla="*/ 360 h 1549"/>
                    <a:gd name="T66" fmla="*/ 521 w 1380"/>
                    <a:gd name="T67" fmla="*/ 294 h 1549"/>
                    <a:gd name="T68" fmla="*/ 519 w 1380"/>
                    <a:gd name="T69" fmla="*/ 293 h 1549"/>
                    <a:gd name="T70" fmla="*/ 503 w 1380"/>
                    <a:gd name="T71" fmla="*/ 277 h 1549"/>
                    <a:gd name="T72" fmla="*/ 482 w 1380"/>
                    <a:gd name="T73" fmla="*/ 256 h 1549"/>
                    <a:gd name="T74" fmla="*/ 409 w 1380"/>
                    <a:gd name="T75" fmla="*/ 178 h 1549"/>
                    <a:gd name="T76" fmla="*/ 447 w 1380"/>
                    <a:gd name="T77" fmla="*/ 125 h 1549"/>
                    <a:gd name="T78" fmla="*/ 527 w 1380"/>
                    <a:gd name="T79" fmla="*/ 87 h 1549"/>
                    <a:gd name="T80" fmla="*/ 935 w 1380"/>
                    <a:gd name="T81" fmla="*/ 126 h 1549"/>
                    <a:gd name="T82" fmla="*/ 972 w 1380"/>
                    <a:gd name="T83" fmla="*/ 178 h 1549"/>
                    <a:gd name="T84" fmla="*/ 955 w 1380"/>
                    <a:gd name="T85" fmla="*/ 198 h 1549"/>
                    <a:gd name="T86" fmla="*/ 891 w 1380"/>
                    <a:gd name="T87" fmla="*/ 265 h 1549"/>
                    <a:gd name="T88" fmla="*/ 870 w 1380"/>
                    <a:gd name="T89" fmla="*/ 284 h 1549"/>
                    <a:gd name="T90" fmla="*/ 861 w 1380"/>
                    <a:gd name="T91" fmla="*/ 293 h 1549"/>
                    <a:gd name="T92" fmla="*/ 828 w 1380"/>
                    <a:gd name="T93" fmla="*/ 360 h 1549"/>
                    <a:gd name="T94" fmla="*/ 830 w 1380"/>
                    <a:gd name="T95" fmla="*/ 373 h 1549"/>
                    <a:gd name="T96" fmla="*/ 834 w 1380"/>
                    <a:gd name="T97" fmla="*/ 385 h 1549"/>
                    <a:gd name="T98" fmla="*/ 841 w 1380"/>
                    <a:gd name="T99" fmla="*/ 398 h 1549"/>
                    <a:gd name="T100" fmla="*/ 851 w 1380"/>
                    <a:gd name="T101" fmla="*/ 409 h 1549"/>
                    <a:gd name="T102" fmla="*/ 1046 w 1380"/>
                    <a:gd name="T103" fmla="*/ 607 h 1549"/>
                    <a:gd name="T104" fmla="*/ 1330 w 1380"/>
                    <a:gd name="T105" fmla="*/ 1167 h 1549"/>
                    <a:gd name="T106" fmla="*/ 1331 w 1380"/>
                    <a:gd name="T107" fmla="*/ 1192 h 1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0" h="1549">
                      <a:moveTo>
                        <a:pt x="1375" y="1190"/>
                      </a:moveTo>
                      <a:cubicBezTo>
                        <a:pt x="1375" y="1189"/>
                        <a:pt x="1375" y="1189"/>
                        <a:pt x="1375" y="1189"/>
                      </a:cubicBezTo>
                      <a:cubicBezTo>
                        <a:pt x="1375" y="1036"/>
                        <a:pt x="1298" y="859"/>
                        <a:pt x="1148" y="663"/>
                      </a:cubicBezTo>
                      <a:cubicBezTo>
                        <a:pt x="1037" y="519"/>
                        <a:pt x="918" y="408"/>
                        <a:pt x="885" y="381"/>
                      </a:cubicBezTo>
                      <a:cubicBezTo>
                        <a:pt x="873" y="371"/>
                        <a:pt x="872" y="363"/>
                        <a:pt x="872" y="360"/>
                      </a:cubicBezTo>
                      <a:cubicBezTo>
                        <a:pt x="872" y="360"/>
                        <a:pt x="872" y="360"/>
                        <a:pt x="872" y="360"/>
                      </a:cubicBezTo>
                      <a:cubicBezTo>
                        <a:pt x="872" y="360"/>
                        <a:pt x="872" y="360"/>
                        <a:pt x="872" y="359"/>
                      </a:cubicBezTo>
                      <a:cubicBezTo>
                        <a:pt x="872" y="346"/>
                        <a:pt x="885" y="330"/>
                        <a:pt x="890" y="326"/>
                      </a:cubicBezTo>
                      <a:cubicBezTo>
                        <a:pt x="891" y="326"/>
                        <a:pt x="891" y="326"/>
                        <a:pt x="891" y="326"/>
                      </a:cubicBezTo>
                      <a:cubicBezTo>
                        <a:pt x="940" y="280"/>
                        <a:pt x="1024" y="197"/>
                        <a:pt x="1029" y="165"/>
                      </a:cubicBezTo>
                      <a:cubicBezTo>
                        <a:pt x="1033" y="141"/>
                        <a:pt x="1012" y="118"/>
                        <a:pt x="955" y="87"/>
                      </a:cubicBezTo>
                      <a:cubicBezTo>
                        <a:pt x="921" y="68"/>
                        <a:pt x="887" y="53"/>
                        <a:pt x="886" y="52"/>
                      </a:cubicBezTo>
                      <a:cubicBezTo>
                        <a:pt x="885" y="52"/>
                        <a:pt x="885" y="52"/>
                        <a:pt x="885" y="52"/>
                      </a:cubicBezTo>
                      <a:cubicBezTo>
                        <a:pt x="761" y="0"/>
                        <a:pt x="619" y="0"/>
                        <a:pt x="495" y="52"/>
                      </a:cubicBezTo>
                      <a:cubicBezTo>
                        <a:pt x="494" y="53"/>
                        <a:pt x="460" y="68"/>
                        <a:pt x="426" y="87"/>
                      </a:cubicBezTo>
                      <a:cubicBezTo>
                        <a:pt x="369" y="118"/>
                        <a:pt x="348" y="141"/>
                        <a:pt x="352" y="165"/>
                      </a:cubicBezTo>
                      <a:cubicBezTo>
                        <a:pt x="357" y="197"/>
                        <a:pt x="441" y="280"/>
                        <a:pt x="490" y="326"/>
                      </a:cubicBezTo>
                      <a:cubicBezTo>
                        <a:pt x="491" y="326"/>
                        <a:pt x="491" y="326"/>
                        <a:pt x="491" y="326"/>
                      </a:cubicBezTo>
                      <a:cubicBezTo>
                        <a:pt x="495" y="330"/>
                        <a:pt x="509" y="345"/>
                        <a:pt x="509" y="359"/>
                      </a:cubicBezTo>
                      <a:cubicBezTo>
                        <a:pt x="509" y="359"/>
                        <a:pt x="509" y="359"/>
                        <a:pt x="509" y="359"/>
                      </a:cubicBezTo>
                      <a:cubicBezTo>
                        <a:pt x="509" y="360"/>
                        <a:pt x="509" y="360"/>
                        <a:pt x="509" y="360"/>
                      </a:cubicBezTo>
                      <a:cubicBezTo>
                        <a:pt x="509" y="363"/>
                        <a:pt x="508" y="371"/>
                        <a:pt x="496" y="381"/>
                      </a:cubicBezTo>
                      <a:cubicBezTo>
                        <a:pt x="463" y="408"/>
                        <a:pt x="344" y="519"/>
                        <a:pt x="233" y="663"/>
                      </a:cubicBezTo>
                      <a:cubicBezTo>
                        <a:pt x="83" y="859"/>
                        <a:pt x="6" y="1036"/>
                        <a:pt x="6" y="1189"/>
                      </a:cubicBezTo>
                      <a:cubicBezTo>
                        <a:pt x="5" y="1202"/>
                        <a:pt x="0" y="1339"/>
                        <a:pt x="95" y="1442"/>
                      </a:cubicBezTo>
                      <a:cubicBezTo>
                        <a:pt x="162" y="1513"/>
                        <a:pt x="260" y="1549"/>
                        <a:pt x="389" y="1549"/>
                      </a:cubicBezTo>
                      <a:cubicBezTo>
                        <a:pt x="992" y="1549"/>
                        <a:pt x="992" y="1549"/>
                        <a:pt x="992" y="1549"/>
                      </a:cubicBezTo>
                      <a:cubicBezTo>
                        <a:pt x="1121" y="1549"/>
                        <a:pt x="1219" y="1513"/>
                        <a:pt x="1286" y="1442"/>
                      </a:cubicBezTo>
                      <a:cubicBezTo>
                        <a:pt x="1380" y="1341"/>
                        <a:pt x="1376" y="1206"/>
                        <a:pt x="1375" y="1190"/>
                      </a:cubicBezTo>
                      <a:close/>
                      <a:moveTo>
                        <a:pt x="1268" y="1395"/>
                      </a:moveTo>
                      <a:cubicBezTo>
                        <a:pt x="1267" y="1396"/>
                        <a:pt x="1267" y="1396"/>
                        <a:pt x="1266" y="1397"/>
                      </a:cubicBezTo>
                      <a:cubicBezTo>
                        <a:pt x="1264" y="1399"/>
                        <a:pt x="1263" y="1401"/>
                        <a:pt x="1261" y="1403"/>
                      </a:cubicBezTo>
                      <a:cubicBezTo>
                        <a:pt x="1260" y="1405"/>
                        <a:pt x="1258" y="1406"/>
                        <a:pt x="1257" y="1408"/>
                      </a:cubicBezTo>
                      <a:cubicBezTo>
                        <a:pt x="1256" y="1409"/>
                        <a:pt x="1255" y="1411"/>
                        <a:pt x="1253" y="1412"/>
                      </a:cubicBezTo>
                      <a:cubicBezTo>
                        <a:pt x="1253" y="1412"/>
                        <a:pt x="1253" y="1412"/>
                        <a:pt x="1253" y="1412"/>
                      </a:cubicBezTo>
                      <a:cubicBezTo>
                        <a:pt x="1251" y="1414"/>
                        <a:pt x="1249" y="1416"/>
                        <a:pt x="1247" y="1418"/>
                      </a:cubicBezTo>
                      <a:cubicBezTo>
                        <a:pt x="1245" y="1420"/>
                        <a:pt x="1244" y="1422"/>
                        <a:pt x="1242" y="1423"/>
                      </a:cubicBezTo>
                      <a:cubicBezTo>
                        <a:pt x="1240" y="1425"/>
                        <a:pt x="1237" y="1427"/>
                        <a:pt x="1235" y="1429"/>
                      </a:cubicBezTo>
                      <a:cubicBezTo>
                        <a:pt x="1233" y="1431"/>
                        <a:pt x="1232" y="1432"/>
                        <a:pt x="1230" y="1434"/>
                      </a:cubicBezTo>
                      <a:cubicBezTo>
                        <a:pt x="1228" y="1436"/>
                        <a:pt x="1225" y="1438"/>
                        <a:pt x="1223" y="1440"/>
                      </a:cubicBezTo>
                      <a:cubicBezTo>
                        <a:pt x="1221" y="1441"/>
                        <a:pt x="1219" y="1442"/>
                        <a:pt x="1218" y="1444"/>
                      </a:cubicBezTo>
                      <a:cubicBezTo>
                        <a:pt x="1215" y="1445"/>
                        <a:pt x="1212" y="1447"/>
                        <a:pt x="1210" y="1449"/>
                      </a:cubicBezTo>
                      <a:cubicBezTo>
                        <a:pt x="1208" y="1450"/>
                        <a:pt x="1206" y="1452"/>
                        <a:pt x="1204" y="1453"/>
                      </a:cubicBezTo>
                      <a:cubicBezTo>
                        <a:pt x="1201" y="1454"/>
                        <a:pt x="1199" y="1456"/>
                        <a:pt x="1196" y="1458"/>
                      </a:cubicBezTo>
                      <a:cubicBezTo>
                        <a:pt x="1194" y="1459"/>
                        <a:pt x="1192" y="1460"/>
                        <a:pt x="1190" y="1461"/>
                      </a:cubicBezTo>
                      <a:cubicBezTo>
                        <a:pt x="1187" y="1463"/>
                        <a:pt x="1184" y="1464"/>
                        <a:pt x="1181" y="1466"/>
                      </a:cubicBezTo>
                      <a:cubicBezTo>
                        <a:pt x="1179" y="1467"/>
                        <a:pt x="1178" y="1468"/>
                        <a:pt x="1176" y="1469"/>
                      </a:cubicBezTo>
                      <a:cubicBezTo>
                        <a:pt x="1173" y="1470"/>
                        <a:pt x="1169" y="1472"/>
                        <a:pt x="1166" y="1473"/>
                      </a:cubicBezTo>
                      <a:cubicBezTo>
                        <a:pt x="1164" y="1474"/>
                        <a:pt x="1162" y="1475"/>
                        <a:pt x="1160" y="1476"/>
                      </a:cubicBezTo>
                      <a:cubicBezTo>
                        <a:pt x="1157" y="1477"/>
                        <a:pt x="1154" y="1478"/>
                        <a:pt x="1151" y="1479"/>
                      </a:cubicBezTo>
                      <a:cubicBezTo>
                        <a:pt x="1148" y="1480"/>
                        <a:pt x="1146" y="1481"/>
                        <a:pt x="1144" y="1482"/>
                      </a:cubicBezTo>
                      <a:cubicBezTo>
                        <a:pt x="1141" y="1483"/>
                        <a:pt x="1137" y="1484"/>
                        <a:pt x="1134" y="1485"/>
                      </a:cubicBezTo>
                      <a:cubicBezTo>
                        <a:pt x="1132" y="1486"/>
                        <a:pt x="1130" y="1487"/>
                        <a:pt x="1128" y="1487"/>
                      </a:cubicBezTo>
                      <a:cubicBezTo>
                        <a:pt x="1124" y="1488"/>
                        <a:pt x="1120" y="1489"/>
                        <a:pt x="1117" y="1490"/>
                      </a:cubicBezTo>
                      <a:cubicBezTo>
                        <a:pt x="1115" y="1491"/>
                        <a:pt x="1113" y="1492"/>
                        <a:pt x="1110" y="1492"/>
                      </a:cubicBezTo>
                      <a:cubicBezTo>
                        <a:pt x="1107" y="1493"/>
                        <a:pt x="1103" y="1494"/>
                        <a:pt x="1099" y="1495"/>
                      </a:cubicBezTo>
                      <a:cubicBezTo>
                        <a:pt x="1097" y="1495"/>
                        <a:pt x="1095" y="1496"/>
                        <a:pt x="1092" y="1496"/>
                      </a:cubicBezTo>
                      <a:cubicBezTo>
                        <a:pt x="1089" y="1497"/>
                        <a:pt x="1085" y="1497"/>
                        <a:pt x="1081" y="1498"/>
                      </a:cubicBezTo>
                      <a:cubicBezTo>
                        <a:pt x="1078" y="1499"/>
                        <a:pt x="1076" y="1499"/>
                        <a:pt x="1074" y="1499"/>
                      </a:cubicBezTo>
                      <a:cubicBezTo>
                        <a:pt x="1070" y="1500"/>
                        <a:pt x="1066" y="1500"/>
                        <a:pt x="1062" y="1501"/>
                      </a:cubicBezTo>
                      <a:cubicBezTo>
                        <a:pt x="1059" y="1501"/>
                        <a:pt x="1057" y="1502"/>
                        <a:pt x="1054" y="1502"/>
                      </a:cubicBezTo>
                      <a:cubicBezTo>
                        <a:pt x="1050" y="1502"/>
                        <a:pt x="1046" y="1503"/>
                        <a:pt x="1042" y="1503"/>
                      </a:cubicBezTo>
                      <a:cubicBezTo>
                        <a:pt x="1039" y="1503"/>
                        <a:pt x="1037" y="1504"/>
                        <a:pt x="1034" y="1504"/>
                      </a:cubicBezTo>
                      <a:cubicBezTo>
                        <a:pt x="1030" y="1504"/>
                        <a:pt x="1025" y="1504"/>
                        <a:pt x="1020" y="1505"/>
                      </a:cubicBezTo>
                      <a:cubicBezTo>
                        <a:pt x="1018" y="1505"/>
                        <a:pt x="1016" y="1505"/>
                        <a:pt x="1014" y="1505"/>
                      </a:cubicBezTo>
                      <a:cubicBezTo>
                        <a:pt x="1007" y="1505"/>
                        <a:pt x="1000" y="1505"/>
                        <a:pt x="992" y="1505"/>
                      </a:cubicBezTo>
                      <a:cubicBezTo>
                        <a:pt x="389" y="1505"/>
                        <a:pt x="389" y="1505"/>
                        <a:pt x="389" y="1505"/>
                      </a:cubicBezTo>
                      <a:cubicBezTo>
                        <a:pt x="381" y="1505"/>
                        <a:pt x="374" y="1505"/>
                        <a:pt x="367" y="1505"/>
                      </a:cubicBezTo>
                      <a:cubicBezTo>
                        <a:pt x="364" y="1505"/>
                        <a:pt x="362" y="1505"/>
                        <a:pt x="359" y="1504"/>
                      </a:cubicBezTo>
                      <a:cubicBezTo>
                        <a:pt x="355" y="1504"/>
                        <a:pt x="351" y="1504"/>
                        <a:pt x="347" y="1504"/>
                      </a:cubicBezTo>
                      <a:cubicBezTo>
                        <a:pt x="343" y="1504"/>
                        <a:pt x="340" y="1503"/>
                        <a:pt x="337" y="1503"/>
                      </a:cubicBezTo>
                      <a:cubicBezTo>
                        <a:pt x="333" y="1503"/>
                        <a:pt x="330" y="1502"/>
                        <a:pt x="327" y="1502"/>
                      </a:cubicBezTo>
                      <a:cubicBezTo>
                        <a:pt x="323" y="1502"/>
                        <a:pt x="320" y="1501"/>
                        <a:pt x="316" y="1501"/>
                      </a:cubicBezTo>
                      <a:cubicBezTo>
                        <a:pt x="313" y="1500"/>
                        <a:pt x="310" y="1500"/>
                        <a:pt x="307" y="1499"/>
                      </a:cubicBezTo>
                      <a:cubicBezTo>
                        <a:pt x="304" y="1499"/>
                        <a:pt x="300" y="1498"/>
                        <a:pt x="297" y="1498"/>
                      </a:cubicBezTo>
                      <a:cubicBezTo>
                        <a:pt x="294" y="1497"/>
                        <a:pt x="291" y="1497"/>
                        <a:pt x="289" y="1496"/>
                      </a:cubicBezTo>
                      <a:cubicBezTo>
                        <a:pt x="285" y="1495"/>
                        <a:pt x="282" y="1495"/>
                        <a:pt x="278" y="1494"/>
                      </a:cubicBezTo>
                      <a:cubicBezTo>
                        <a:pt x="276" y="1493"/>
                        <a:pt x="273" y="1493"/>
                        <a:pt x="271" y="1492"/>
                      </a:cubicBezTo>
                      <a:cubicBezTo>
                        <a:pt x="267" y="1491"/>
                        <a:pt x="264" y="1490"/>
                        <a:pt x="260" y="1489"/>
                      </a:cubicBezTo>
                      <a:cubicBezTo>
                        <a:pt x="258" y="1489"/>
                        <a:pt x="256" y="1488"/>
                        <a:pt x="253" y="1487"/>
                      </a:cubicBezTo>
                      <a:cubicBezTo>
                        <a:pt x="250" y="1486"/>
                        <a:pt x="247" y="1485"/>
                        <a:pt x="243" y="1484"/>
                      </a:cubicBezTo>
                      <a:cubicBezTo>
                        <a:pt x="241" y="1483"/>
                        <a:pt x="239" y="1483"/>
                        <a:pt x="237" y="1482"/>
                      </a:cubicBezTo>
                      <a:cubicBezTo>
                        <a:pt x="233" y="1481"/>
                        <a:pt x="230" y="1479"/>
                        <a:pt x="227" y="1478"/>
                      </a:cubicBezTo>
                      <a:cubicBezTo>
                        <a:pt x="225" y="1477"/>
                        <a:pt x="223" y="1476"/>
                        <a:pt x="221" y="1476"/>
                      </a:cubicBezTo>
                      <a:cubicBezTo>
                        <a:pt x="217" y="1474"/>
                        <a:pt x="215" y="1473"/>
                        <a:pt x="212" y="1472"/>
                      </a:cubicBezTo>
                      <a:cubicBezTo>
                        <a:pt x="209" y="1471"/>
                        <a:pt x="207" y="1470"/>
                        <a:pt x="205" y="1469"/>
                      </a:cubicBezTo>
                      <a:cubicBezTo>
                        <a:pt x="202" y="1467"/>
                        <a:pt x="200" y="1466"/>
                        <a:pt x="197" y="1464"/>
                      </a:cubicBezTo>
                      <a:cubicBezTo>
                        <a:pt x="195" y="1463"/>
                        <a:pt x="193" y="1462"/>
                        <a:pt x="191" y="1461"/>
                      </a:cubicBezTo>
                      <a:cubicBezTo>
                        <a:pt x="188" y="1459"/>
                        <a:pt x="185" y="1458"/>
                        <a:pt x="183" y="1456"/>
                      </a:cubicBezTo>
                      <a:cubicBezTo>
                        <a:pt x="181" y="1455"/>
                        <a:pt x="179" y="1454"/>
                        <a:pt x="177" y="1453"/>
                      </a:cubicBezTo>
                      <a:cubicBezTo>
                        <a:pt x="174" y="1451"/>
                        <a:pt x="172" y="1449"/>
                        <a:pt x="169" y="1447"/>
                      </a:cubicBezTo>
                      <a:cubicBezTo>
                        <a:pt x="167" y="1446"/>
                        <a:pt x="165" y="1445"/>
                        <a:pt x="163" y="1443"/>
                      </a:cubicBezTo>
                      <a:cubicBezTo>
                        <a:pt x="161" y="1442"/>
                        <a:pt x="159" y="1440"/>
                        <a:pt x="156" y="1438"/>
                      </a:cubicBezTo>
                      <a:cubicBezTo>
                        <a:pt x="154" y="1437"/>
                        <a:pt x="152" y="1435"/>
                        <a:pt x="151" y="1434"/>
                      </a:cubicBezTo>
                      <a:cubicBezTo>
                        <a:pt x="148" y="1432"/>
                        <a:pt x="146" y="1430"/>
                        <a:pt x="144" y="1428"/>
                      </a:cubicBezTo>
                      <a:cubicBezTo>
                        <a:pt x="142" y="1426"/>
                        <a:pt x="140" y="1425"/>
                        <a:pt x="139" y="1423"/>
                      </a:cubicBezTo>
                      <a:cubicBezTo>
                        <a:pt x="137" y="1421"/>
                        <a:pt x="135" y="1419"/>
                        <a:pt x="133" y="1417"/>
                      </a:cubicBezTo>
                      <a:cubicBezTo>
                        <a:pt x="131" y="1415"/>
                        <a:pt x="129" y="1414"/>
                        <a:pt x="128" y="1412"/>
                      </a:cubicBezTo>
                      <a:cubicBezTo>
                        <a:pt x="127" y="1412"/>
                        <a:pt x="127" y="1412"/>
                        <a:pt x="127" y="1412"/>
                      </a:cubicBezTo>
                      <a:cubicBezTo>
                        <a:pt x="126" y="1410"/>
                        <a:pt x="124" y="1408"/>
                        <a:pt x="123" y="1406"/>
                      </a:cubicBezTo>
                      <a:cubicBezTo>
                        <a:pt x="122" y="1405"/>
                        <a:pt x="121" y="1404"/>
                        <a:pt x="120" y="1403"/>
                      </a:cubicBezTo>
                      <a:cubicBezTo>
                        <a:pt x="45" y="1316"/>
                        <a:pt x="49" y="1200"/>
                        <a:pt x="50" y="1192"/>
                      </a:cubicBezTo>
                      <a:cubicBezTo>
                        <a:pt x="50" y="1191"/>
                        <a:pt x="50" y="1191"/>
                        <a:pt x="50" y="1191"/>
                      </a:cubicBezTo>
                      <a:cubicBezTo>
                        <a:pt x="50" y="1190"/>
                        <a:pt x="50" y="1190"/>
                        <a:pt x="50" y="1190"/>
                      </a:cubicBezTo>
                      <a:cubicBezTo>
                        <a:pt x="50" y="1185"/>
                        <a:pt x="50" y="1180"/>
                        <a:pt x="50" y="1175"/>
                      </a:cubicBezTo>
                      <a:cubicBezTo>
                        <a:pt x="50" y="1172"/>
                        <a:pt x="50" y="1169"/>
                        <a:pt x="51" y="1167"/>
                      </a:cubicBezTo>
                      <a:cubicBezTo>
                        <a:pt x="51" y="1165"/>
                        <a:pt x="51" y="1163"/>
                        <a:pt x="51" y="1161"/>
                      </a:cubicBezTo>
                      <a:cubicBezTo>
                        <a:pt x="51" y="1156"/>
                        <a:pt x="52" y="1152"/>
                        <a:pt x="52" y="1147"/>
                      </a:cubicBezTo>
                      <a:cubicBezTo>
                        <a:pt x="53" y="1142"/>
                        <a:pt x="53" y="1138"/>
                        <a:pt x="54" y="1133"/>
                      </a:cubicBezTo>
                      <a:cubicBezTo>
                        <a:pt x="78" y="942"/>
                        <a:pt x="216" y="744"/>
                        <a:pt x="337" y="605"/>
                      </a:cubicBezTo>
                      <a:cubicBezTo>
                        <a:pt x="338" y="604"/>
                        <a:pt x="339" y="603"/>
                        <a:pt x="340" y="602"/>
                      </a:cubicBezTo>
                      <a:cubicBezTo>
                        <a:pt x="340" y="601"/>
                        <a:pt x="340" y="601"/>
                        <a:pt x="340" y="601"/>
                      </a:cubicBezTo>
                      <a:cubicBezTo>
                        <a:pt x="437" y="490"/>
                        <a:pt x="522" y="417"/>
                        <a:pt x="524" y="415"/>
                      </a:cubicBezTo>
                      <a:cubicBezTo>
                        <a:pt x="524" y="414"/>
                        <a:pt x="524" y="414"/>
                        <a:pt x="524" y="414"/>
                      </a:cubicBezTo>
                      <a:cubicBezTo>
                        <a:pt x="524" y="414"/>
                        <a:pt x="524" y="414"/>
                        <a:pt x="524" y="414"/>
                      </a:cubicBezTo>
                      <a:cubicBezTo>
                        <a:pt x="526" y="413"/>
                        <a:pt x="528" y="411"/>
                        <a:pt x="530" y="409"/>
                      </a:cubicBezTo>
                      <a:cubicBezTo>
                        <a:pt x="531" y="409"/>
                        <a:pt x="531" y="408"/>
                        <a:pt x="532" y="408"/>
                      </a:cubicBezTo>
                      <a:cubicBezTo>
                        <a:pt x="533" y="406"/>
                        <a:pt x="535" y="405"/>
                        <a:pt x="536" y="403"/>
                      </a:cubicBezTo>
                      <a:cubicBezTo>
                        <a:pt x="537" y="402"/>
                        <a:pt x="537" y="401"/>
                        <a:pt x="538" y="401"/>
                      </a:cubicBezTo>
                      <a:cubicBezTo>
                        <a:pt x="539" y="400"/>
                        <a:pt x="539" y="399"/>
                        <a:pt x="540" y="398"/>
                      </a:cubicBezTo>
                      <a:cubicBezTo>
                        <a:pt x="541" y="396"/>
                        <a:pt x="542" y="395"/>
                        <a:pt x="543" y="393"/>
                      </a:cubicBezTo>
                      <a:cubicBezTo>
                        <a:pt x="544" y="392"/>
                        <a:pt x="544" y="392"/>
                        <a:pt x="544" y="392"/>
                      </a:cubicBezTo>
                      <a:cubicBezTo>
                        <a:pt x="545" y="390"/>
                        <a:pt x="546" y="388"/>
                        <a:pt x="547" y="386"/>
                      </a:cubicBezTo>
                      <a:cubicBezTo>
                        <a:pt x="547" y="385"/>
                        <a:pt x="547" y="385"/>
                        <a:pt x="547" y="385"/>
                      </a:cubicBezTo>
                      <a:cubicBezTo>
                        <a:pt x="548" y="384"/>
                        <a:pt x="548" y="383"/>
                        <a:pt x="549" y="382"/>
                      </a:cubicBezTo>
                      <a:cubicBezTo>
                        <a:pt x="549" y="381"/>
                        <a:pt x="549" y="380"/>
                        <a:pt x="550" y="379"/>
                      </a:cubicBezTo>
                      <a:cubicBezTo>
                        <a:pt x="550" y="379"/>
                        <a:pt x="550" y="378"/>
                        <a:pt x="550" y="377"/>
                      </a:cubicBezTo>
                      <a:cubicBezTo>
                        <a:pt x="551" y="376"/>
                        <a:pt x="551" y="375"/>
                        <a:pt x="551" y="373"/>
                      </a:cubicBezTo>
                      <a:cubicBezTo>
                        <a:pt x="552" y="371"/>
                        <a:pt x="552" y="370"/>
                        <a:pt x="552" y="368"/>
                      </a:cubicBezTo>
                      <a:cubicBezTo>
                        <a:pt x="552" y="367"/>
                        <a:pt x="552" y="367"/>
                        <a:pt x="552" y="367"/>
                      </a:cubicBezTo>
                      <a:cubicBezTo>
                        <a:pt x="553" y="364"/>
                        <a:pt x="553" y="362"/>
                        <a:pt x="553" y="360"/>
                      </a:cubicBezTo>
                      <a:cubicBezTo>
                        <a:pt x="553" y="360"/>
                        <a:pt x="553" y="360"/>
                        <a:pt x="553" y="360"/>
                      </a:cubicBezTo>
                      <a:cubicBezTo>
                        <a:pt x="553" y="358"/>
                        <a:pt x="553" y="355"/>
                        <a:pt x="553" y="353"/>
                      </a:cubicBezTo>
                      <a:cubicBezTo>
                        <a:pt x="553" y="353"/>
                        <a:pt x="553" y="353"/>
                        <a:pt x="553" y="353"/>
                      </a:cubicBezTo>
                      <a:cubicBezTo>
                        <a:pt x="552" y="348"/>
                        <a:pt x="551" y="343"/>
                        <a:pt x="549" y="338"/>
                      </a:cubicBezTo>
                      <a:cubicBezTo>
                        <a:pt x="542" y="316"/>
                        <a:pt x="527" y="299"/>
                        <a:pt x="521" y="294"/>
                      </a:cubicBezTo>
                      <a:cubicBezTo>
                        <a:pt x="521" y="294"/>
                        <a:pt x="521" y="294"/>
                        <a:pt x="521" y="294"/>
                      </a:cubicBezTo>
                      <a:cubicBezTo>
                        <a:pt x="521" y="294"/>
                        <a:pt x="520" y="294"/>
                        <a:pt x="520" y="293"/>
                      </a:cubicBezTo>
                      <a:cubicBezTo>
                        <a:pt x="520" y="293"/>
                        <a:pt x="520" y="293"/>
                        <a:pt x="520" y="293"/>
                      </a:cubicBezTo>
                      <a:cubicBezTo>
                        <a:pt x="519" y="293"/>
                        <a:pt x="519" y="293"/>
                        <a:pt x="519" y="293"/>
                      </a:cubicBezTo>
                      <a:cubicBezTo>
                        <a:pt x="517" y="290"/>
                        <a:pt x="514" y="288"/>
                        <a:pt x="512" y="286"/>
                      </a:cubicBezTo>
                      <a:cubicBezTo>
                        <a:pt x="512" y="285"/>
                        <a:pt x="511" y="285"/>
                        <a:pt x="511" y="285"/>
                      </a:cubicBezTo>
                      <a:cubicBezTo>
                        <a:pt x="508" y="282"/>
                        <a:pt x="506" y="280"/>
                        <a:pt x="503" y="277"/>
                      </a:cubicBezTo>
                      <a:cubicBezTo>
                        <a:pt x="503" y="277"/>
                        <a:pt x="503" y="277"/>
                        <a:pt x="503" y="277"/>
                      </a:cubicBezTo>
                      <a:cubicBezTo>
                        <a:pt x="500" y="275"/>
                        <a:pt x="498" y="272"/>
                        <a:pt x="495" y="270"/>
                      </a:cubicBezTo>
                      <a:cubicBezTo>
                        <a:pt x="494" y="268"/>
                        <a:pt x="492" y="267"/>
                        <a:pt x="490" y="265"/>
                      </a:cubicBezTo>
                      <a:cubicBezTo>
                        <a:pt x="490" y="264"/>
                        <a:pt x="489" y="263"/>
                        <a:pt x="488" y="262"/>
                      </a:cubicBezTo>
                      <a:cubicBezTo>
                        <a:pt x="486" y="260"/>
                        <a:pt x="484" y="258"/>
                        <a:pt x="482" y="256"/>
                      </a:cubicBezTo>
                      <a:cubicBezTo>
                        <a:pt x="481" y="256"/>
                        <a:pt x="481" y="256"/>
                        <a:pt x="481" y="256"/>
                      </a:cubicBezTo>
                      <a:cubicBezTo>
                        <a:pt x="454" y="229"/>
                        <a:pt x="429" y="203"/>
                        <a:pt x="413" y="183"/>
                      </a:cubicBezTo>
                      <a:cubicBezTo>
                        <a:pt x="412" y="182"/>
                        <a:pt x="412" y="182"/>
                        <a:pt x="412" y="182"/>
                      </a:cubicBezTo>
                      <a:cubicBezTo>
                        <a:pt x="411" y="181"/>
                        <a:pt x="410" y="179"/>
                        <a:pt x="409" y="178"/>
                      </a:cubicBezTo>
                      <a:cubicBezTo>
                        <a:pt x="409" y="178"/>
                        <a:pt x="409" y="178"/>
                        <a:pt x="409" y="178"/>
                      </a:cubicBezTo>
                      <a:cubicBezTo>
                        <a:pt x="403" y="171"/>
                        <a:pt x="399" y="165"/>
                        <a:pt x="396" y="160"/>
                      </a:cubicBezTo>
                      <a:cubicBezTo>
                        <a:pt x="399" y="157"/>
                        <a:pt x="405" y="152"/>
                        <a:pt x="412" y="147"/>
                      </a:cubicBezTo>
                      <a:cubicBezTo>
                        <a:pt x="421" y="140"/>
                        <a:pt x="433" y="133"/>
                        <a:pt x="447" y="125"/>
                      </a:cubicBezTo>
                      <a:cubicBezTo>
                        <a:pt x="448" y="125"/>
                        <a:pt x="448" y="125"/>
                        <a:pt x="448" y="125"/>
                      </a:cubicBezTo>
                      <a:cubicBezTo>
                        <a:pt x="449" y="124"/>
                        <a:pt x="450" y="124"/>
                        <a:pt x="451" y="123"/>
                      </a:cubicBezTo>
                      <a:cubicBezTo>
                        <a:pt x="470" y="113"/>
                        <a:pt x="491" y="102"/>
                        <a:pt x="513" y="93"/>
                      </a:cubicBezTo>
                      <a:cubicBezTo>
                        <a:pt x="517" y="91"/>
                        <a:pt x="522" y="89"/>
                        <a:pt x="527" y="87"/>
                      </a:cubicBezTo>
                      <a:cubicBezTo>
                        <a:pt x="631" y="47"/>
                        <a:pt x="750" y="47"/>
                        <a:pt x="855" y="87"/>
                      </a:cubicBezTo>
                      <a:cubicBezTo>
                        <a:pt x="859" y="89"/>
                        <a:pt x="864" y="91"/>
                        <a:pt x="868" y="93"/>
                      </a:cubicBezTo>
                      <a:cubicBezTo>
                        <a:pt x="868" y="93"/>
                        <a:pt x="868" y="93"/>
                        <a:pt x="868" y="93"/>
                      </a:cubicBezTo>
                      <a:cubicBezTo>
                        <a:pt x="892" y="103"/>
                        <a:pt x="915" y="115"/>
                        <a:pt x="935" y="126"/>
                      </a:cubicBezTo>
                      <a:cubicBezTo>
                        <a:pt x="948" y="133"/>
                        <a:pt x="960" y="140"/>
                        <a:pt x="969" y="147"/>
                      </a:cubicBezTo>
                      <a:cubicBezTo>
                        <a:pt x="976" y="152"/>
                        <a:pt x="982" y="157"/>
                        <a:pt x="985" y="160"/>
                      </a:cubicBezTo>
                      <a:cubicBezTo>
                        <a:pt x="982" y="165"/>
                        <a:pt x="978" y="171"/>
                        <a:pt x="972" y="178"/>
                      </a:cubicBezTo>
                      <a:cubicBezTo>
                        <a:pt x="972" y="178"/>
                        <a:pt x="972" y="178"/>
                        <a:pt x="972" y="178"/>
                      </a:cubicBezTo>
                      <a:cubicBezTo>
                        <a:pt x="971" y="179"/>
                        <a:pt x="970" y="180"/>
                        <a:pt x="969" y="181"/>
                      </a:cubicBezTo>
                      <a:cubicBezTo>
                        <a:pt x="969" y="182"/>
                        <a:pt x="968" y="183"/>
                        <a:pt x="967" y="184"/>
                      </a:cubicBezTo>
                      <a:cubicBezTo>
                        <a:pt x="964" y="188"/>
                        <a:pt x="960" y="193"/>
                        <a:pt x="956" y="197"/>
                      </a:cubicBezTo>
                      <a:cubicBezTo>
                        <a:pt x="956" y="197"/>
                        <a:pt x="956" y="198"/>
                        <a:pt x="955" y="198"/>
                      </a:cubicBezTo>
                      <a:cubicBezTo>
                        <a:pt x="941" y="214"/>
                        <a:pt x="921" y="234"/>
                        <a:pt x="901" y="254"/>
                      </a:cubicBezTo>
                      <a:cubicBezTo>
                        <a:pt x="901" y="255"/>
                        <a:pt x="900" y="256"/>
                        <a:pt x="900" y="256"/>
                      </a:cubicBezTo>
                      <a:cubicBezTo>
                        <a:pt x="898" y="258"/>
                        <a:pt x="896" y="259"/>
                        <a:pt x="894" y="261"/>
                      </a:cubicBezTo>
                      <a:cubicBezTo>
                        <a:pt x="893" y="262"/>
                        <a:pt x="892" y="264"/>
                        <a:pt x="891" y="265"/>
                      </a:cubicBezTo>
                      <a:cubicBezTo>
                        <a:pt x="890" y="266"/>
                        <a:pt x="888" y="267"/>
                        <a:pt x="887" y="269"/>
                      </a:cubicBezTo>
                      <a:cubicBezTo>
                        <a:pt x="884" y="271"/>
                        <a:pt x="882" y="274"/>
                        <a:pt x="879" y="276"/>
                      </a:cubicBezTo>
                      <a:cubicBezTo>
                        <a:pt x="878" y="277"/>
                        <a:pt x="878" y="277"/>
                        <a:pt x="877" y="278"/>
                      </a:cubicBezTo>
                      <a:cubicBezTo>
                        <a:pt x="875" y="280"/>
                        <a:pt x="873" y="282"/>
                        <a:pt x="870" y="284"/>
                      </a:cubicBezTo>
                      <a:cubicBezTo>
                        <a:pt x="870" y="285"/>
                        <a:pt x="869" y="286"/>
                        <a:pt x="868" y="287"/>
                      </a:cubicBezTo>
                      <a:cubicBezTo>
                        <a:pt x="866" y="288"/>
                        <a:pt x="864" y="290"/>
                        <a:pt x="862" y="292"/>
                      </a:cubicBezTo>
                      <a:cubicBezTo>
                        <a:pt x="862" y="292"/>
                        <a:pt x="862" y="293"/>
                        <a:pt x="861" y="293"/>
                      </a:cubicBezTo>
                      <a:cubicBezTo>
                        <a:pt x="861" y="293"/>
                        <a:pt x="861" y="293"/>
                        <a:pt x="861" y="293"/>
                      </a:cubicBezTo>
                      <a:cubicBezTo>
                        <a:pt x="857" y="297"/>
                        <a:pt x="839" y="314"/>
                        <a:pt x="832" y="338"/>
                      </a:cubicBezTo>
                      <a:cubicBezTo>
                        <a:pt x="830" y="343"/>
                        <a:pt x="829" y="348"/>
                        <a:pt x="828" y="353"/>
                      </a:cubicBezTo>
                      <a:cubicBezTo>
                        <a:pt x="828" y="353"/>
                        <a:pt x="828" y="353"/>
                        <a:pt x="828" y="353"/>
                      </a:cubicBezTo>
                      <a:cubicBezTo>
                        <a:pt x="828" y="355"/>
                        <a:pt x="828" y="358"/>
                        <a:pt x="828" y="360"/>
                      </a:cubicBezTo>
                      <a:cubicBezTo>
                        <a:pt x="828" y="360"/>
                        <a:pt x="828" y="360"/>
                        <a:pt x="828" y="360"/>
                      </a:cubicBezTo>
                      <a:cubicBezTo>
                        <a:pt x="828" y="362"/>
                        <a:pt x="828" y="364"/>
                        <a:pt x="829" y="367"/>
                      </a:cubicBezTo>
                      <a:cubicBezTo>
                        <a:pt x="829" y="368"/>
                        <a:pt x="829" y="368"/>
                        <a:pt x="829" y="368"/>
                      </a:cubicBezTo>
                      <a:cubicBezTo>
                        <a:pt x="829" y="370"/>
                        <a:pt x="829" y="371"/>
                        <a:pt x="830" y="373"/>
                      </a:cubicBezTo>
                      <a:cubicBezTo>
                        <a:pt x="830" y="375"/>
                        <a:pt x="830" y="376"/>
                        <a:pt x="831" y="377"/>
                      </a:cubicBezTo>
                      <a:cubicBezTo>
                        <a:pt x="831" y="378"/>
                        <a:pt x="831" y="379"/>
                        <a:pt x="831" y="379"/>
                      </a:cubicBezTo>
                      <a:cubicBezTo>
                        <a:pt x="832" y="380"/>
                        <a:pt x="832" y="381"/>
                        <a:pt x="832" y="382"/>
                      </a:cubicBezTo>
                      <a:cubicBezTo>
                        <a:pt x="833" y="383"/>
                        <a:pt x="833" y="384"/>
                        <a:pt x="834" y="385"/>
                      </a:cubicBezTo>
                      <a:cubicBezTo>
                        <a:pt x="834" y="385"/>
                        <a:pt x="834" y="385"/>
                        <a:pt x="834" y="386"/>
                      </a:cubicBezTo>
                      <a:cubicBezTo>
                        <a:pt x="835" y="388"/>
                        <a:pt x="836" y="390"/>
                        <a:pt x="837" y="392"/>
                      </a:cubicBezTo>
                      <a:cubicBezTo>
                        <a:pt x="838" y="393"/>
                        <a:pt x="838" y="393"/>
                        <a:pt x="838" y="393"/>
                      </a:cubicBezTo>
                      <a:cubicBezTo>
                        <a:pt x="839" y="395"/>
                        <a:pt x="840" y="396"/>
                        <a:pt x="841" y="398"/>
                      </a:cubicBezTo>
                      <a:cubicBezTo>
                        <a:pt x="842" y="399"/>
                        <a:pt x="842" y="400"/>
                        <a:pt x="843" y="401"/>
                      </a:cubicBezTo>
                      <a:cubicBezTo>
                        <a:pt x="844" y="401"/>
                        <a:pt x="844" y="402"/>
                        <a:pt x="845" y="403"/>
                      </a:cubicBezTo>
                      <a:cubicBezTo>
                        <a:pt x="846" y="405"/>
                        <a:pt x="848" y="406"/>
                        <a:pt x="849" y="408"/>
                      </a:cubicBezTo>
                      <a:cubicBezTo>
                        <a:pt x="850" y="408"/>
                        <a:pt x="850" y="409"/>
                        <a:pt x="851" y="409"/>
                      </a:cubicBezTo>
                      <a:cubicBezTo>
                        <a:pt x="853" y="411"/>
                        <a:pt x="854" y="413"/>
                        <a:pt x="856" y="414"/>
                      </a:cubicBezTo>
                      <a:cubicBezTo>
                        <a:pt x="857" y="414"/>
                        <a:pt x="857" y="414"/>
                        <a:pt x="857" y="414"/>
                      </a:cubicBezTo>
                      <a:cubicBezTo>
                        <a:pt x="857" y="415"/>
                        <a:pt x="857" y="415"/>
                        <a:pt x="857" y="415"/>
                      </a:cubicBezTo>
                      <a:cubicBezTo>
                        <a:pt x="863" y="420"/>
                        <a:pt x="949" y="495"/>
                        <a:pt x="1046" y="607"/>
                      </a:cubicBezTo>
                      <a:cubicBezTo>
                        <a:pt x="1166" y="747"/>
                        <a:pt x="1304" y="943"/>
                        <a:pt x="1327" y="1133"/>
                      </a:cubicBezTo>
                      <a:cubicBezTo>
                        <a:pt x="1328" y="1138"/>
                        <a:pt x="1328" y="1142"/>
                        <a:pt x="1329" y="1147"/>
                      </a:cubicBezTo>
                      <a:cubicBezTo>
                        <a:pt x="1329" y="1152"/>
                        <a:pt x="1330" y="1156"/>
                        <a:pt x="1330" y="1161"/>
                      </a:cubicBezTo>
                      <a:cubicBezTo>
                        <a:pt x="1330" y="1163"/>
                        <a:pt x="1330" y="1165"/>
                        <a:pt x="1330" y="1167"/>
                      </a:cubicBezTo>
                      <a:cubicBezTo>
                        <a:pt x="1331" y="1169"/>
                        <a:pt x="1331" y="1172"/>
                        <a:pt x="1331" y="1175"/>
                      </a:cubicBezTo>
                      <a:cubicBezTo>
                        <a:pt x="1331" y="1180"/>
                        <a:pt x="1331" y="1185"/>
                        <a:pt x="1331" y="1190"/>
                      </a:cubicBezTo>
                      <a:cubicBezTo>
                        <a:pt x="1331" y="1191"/>
                        <a:pt x="1331" y="1191"/>
                        <a:pt x="1331" y="1191"/>
                      </a:cubicBezTo>
                      <a:cubicBezTo>
                        <a:pt x="1331" y="1192"/>
                        <a:pt x="1331" y="1192"/>
                        <a:pt x="1331" y="1192"/>
                      </a:cubicBezTo>
                      <a:cubicBezTo>
                        <a:pt x="1332" y="1202"/>
                        <a:pt x="1335" y="1309"/>
                        <a:pt x="1268" y="139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
          <p:nvSpPr>
            <p:cNvPr id="182" name="TextBox 181">
              <a:extLst>
                <a:ext uri="{FF2B5EF4-FFF2-40B4-BE49-F238E27FC236}">
                  <a16:creationId xmlns:a16="http://schemas.microsoft.com/office/drawing/2014/main" id="{C9AB0C9D-0617-4EC1-BC33-9DA057275BA0}"/>
                </a:ext>
              </a:extLst>
            </p:cNvPr>
            <p:cNvSpPr txBox="1"/>
            <p:nvPr/>
          </p:nvSpPr>
          <p:spPr>
            <a:xfrm>
              <a:off x="1676400" y="2263006"/>
              <a:ext cx="1880271" cy="3508653"/>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108000" lvl="1">
                <a:buClr>
                  <a:schemeClr val="tx2"/>
                </a:buClr>
                <a:buSzPct val="100000"/>
                <a:defRPr/>
              </a:pPr>
              <a:r>
                <a:rPr lang="en-US" sz="1000">
                  <a:solidFill>
                    <a:srgbClr val="29BA74"/>
                  </a:solidFill>
                  <a:cs typeface="Arial" pitchFamily="34" charset="0"/>
                </a:rPr>
                <a:t>Demand deposit</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Regular</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interest bearing</a:t>
              </a:r>
            </a:p>
            <a:p>
              <a:pPr marL="324000" lvl="1" indent="-216000">
                <a:buClr>
                  <a:schemeClr val="tx2"/>
                </a:buClr>
                <a:buSzPct val="100000"/>
                <a:buFont typeface="Trebuchet MS" panose="020B0603020202020204" pitchFamily="34" charset="0"/>
                <a:buChar char="•"/>
                <a:defRPr/>
              </a:pPr>
              <a:endParaRPr kumimoji="0" lang="en-US" sz="1000" u="none" strike="noStrike" kern="1200" cap="none" spc="0" normalizeH="0" baseline="0" noProof="0">
                <a:ln>
                  <a:noFill/>
                </a:ln>
                <a:solidFill>
                  <a:schemeClr val="tx1"/>
                </a:solidFill>
                <a:effectLst/>
                <a:uLnTx/>
                <a:uFillTx/>
                <a:cs typeface="Arial" pitchFamily="34" charset="0"/>
              </a:endParaRPr>
            </a:p>
            <a:p>
              <a:pPr marL="108000" lvl="1">
                <a:buClr>
                  <a:schemeClr val="tx2"/>
                </a:buClr>
                <a:buSzPct val="100000"/>
                <a:defRPr/>
              </a:pPr>
              <a:r>
                <a:rPr lang="en-US" sz="1000">
                  <a:solidFill>
                    <a:srgbClr val="29BA74"/>
                  </a:solidFill>
                  <a:cs typeface="Arial" pitchFamily="34" charset="0"/>
                </a:rPr>
                <a:t>Time deposit</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Regular</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Overnight</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FX rate protected (</a:t>
              </a:r>
              <a:r>
                <a:rPr lang="en-US" sz="1000" err="1">
                  <a:solidFill>
                    <a:schemeClr val="tx1"/>
                  </a:solidFill>
                  <a:cs typeface="Arial" pitchFamily="34" charset="0"/>
                </a:rPr>
                <a:t>KKM</a:t>
              </a:r>
              <a:r>
                <a:rPr lang="en-US" sz="1000">
                  <a:solidFill>
                    <a:schemeClr val="tx1"/>
                  </a:solidFill>
                  <a:cs typeface="Arial" pitchFamily="34" charset="0"/>
                </a:rPr>
                <a:t>)</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multi currency</a:t>
              </a:r>
            </a:p>
            <a:p>
              <a:pPr marL="324000" lvl="1" indent="-216000">
                <a:buClr>
                  <a:schemeClr val="tx2"/>
                </a:buClr>
                <a:buSzPct val="100000"/>
                <a:buFont typeface="Trebuchet MS" panose="020B0603020202020204" pitchFamily="34" charset="0"/>
                <a:buChar char="•"/>
                <a:defRPr/>
              </a:pPr>
              <a:endParaRPr lang="en-US" sz="1000">
                <a:solidFill>
                  <a:schemeClr val="tx1"/>
                </a:solidFill>
                <a:cs typeface="Arial" pitchFamily="34" charset="0"/>
              </a:endParaRPr>
            </a:p>
            <a:p>
              <a:pPr marL="108000" lvl="1">
                <a:buClr>
                  <a:schemeClr val="tx2"/>
                </a:buClr>
                <a:buSzPct val="100000"/>
                <a:defRPr/>
              </a:pPr>
              <a:r>
                <a:rPr lang="en-US" sz="1000">
                  <a:solidFill>
                    <a:srgbClr val="29BA74"/>
                  </a:solidFill>
                  <a:cs typeface="Arial" pitchFamily="34" charset="0"/>
                </a:rPr>
                <a:t>Savings account</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Regular</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Housing</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Marriage</a:t>
              </a:r>
            </a:p>
            <a:p>
              <a:pPr marL="324000" lvl="1" indent="-216000">
                <a:buClr>
                  <a:schemeClr val="tx2"/>
                </a:buClr>
                <a:buSzPct val="100000"/>
                <a:buFont typeface="Trebuchet MS" panose="020B0603020202020204" pitchFamily="34" charset="0"/>
                <a:buChar char="•"/>
                <a:defRPr/>
              </a:pPr>
              <a:endParaRPr lang="en-US" sz="1000">
                <a:solidFill>
                  <a:schemeClr val="tx1"/>
                </a:solidFill>
                <a:cs typeface="Arial" pitchFamily="34" charset="0"/>
              </a:endParaRPr>
            </a:p>
            <a:p>
              <a:pPr marL="108000" lvl="1">
                <a:buClr>
                  <a:schemeClr val="tx2"/>
                </a:buClr>
                <a:buSzPct val="100000"/>
                <a:defRPr/>
              </a:pPr>
              <a:r>
                <a:rPr lang="en-US" sz="1000">
                  <a:solidFill>
                    <a:srgbClr val="29BA74"/>
                  </a:solidFill>
                  <a:cs typeface="Arial" pitchFamily="34" charset="0"/>
                </a:rPr>
                <a:t>Precious metals deposit account</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Gold</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Silver</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Interest bearing</a:t>
              </a:r>
            </a:p>
          </p:txBody>
        </p:sp>
      </p:grpSp>
      <p:sp>
        <p:nvSpPr>
          <p:cNvPr id="185" name="TextBox 184">
            <a:extLst>
              <a:ext uri="{FF2B5EF4-FFF2-40B4-BE49-F238E27FC236}">
                <a16:creationId xmlns:a16="http://schemas.microsoft.com/office/drawing/2014/main" id="{F503CDB9-B29F-4705-8A6C-436405D3E10F}"/>
              </a:ext>
            </a:extLst>
          </p:cNvPr>
          <p:cNvSpPr txBox="1"/>
          <p:nvPr/>
        </p:nvSpPr>
        <p:spPr>
          <a:xfrm>
            <a:off x="9581438" y="2263006"/>
            <a:ext cx="1880271" cy="2308324"/>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324000" lvl="1" indent="-216000">
              <a:buClr>
                <a:schemeClr val="tx2"/>
              </a:buClr>
              <a:buSzPct val="100000"/>
              <a:buFont typeface="Trebuchet MS" panose="020B0603020202020204" pitchFamily="34" charset="0"/>
              <a:buChar char="•"/>
              <a:defRPr/>
            </a:pPr>
            <a:r>
              <a:rPr lang="en-US" sz="1000">
                <a:solidFill>
                  <a:srgbClr val="29BA74"/>
                </a:solidFill>
                <a:cs typeface="Arial" pitchFamily="34" charset="0"/>
              </a:rPr>
              <a:t>FX</a:t>
            </a:r>
          </a:p>
          <a:p>
            <a:pPr marL="324000" lvl="1" indent="-216000">
              <a:buClr>
                <a:schemeClr val="tx2"/>
              </a:buClr>
              <a:buSzPct val="100000"/>
              <a:buFont typeface="Trebuchet MS" panose="020B0603020202020204" pitchFamily="34" charset="0"/>
              <a:buChar char="•"/>
              <a:defRPr/>
            </a:pPr>
            <a:r>
              <a:rPr lang="en-US" sz="1000">
                <a:solidFill>
                  <a:srgbClr val="29BA74"/>
                </a:solidFill>
                <a:cs typeface="Arial" pitchFamily="34" charset="0"/>
              </a:rPr>
              <a:t>Funds</a:t>
            </a:r>
          </a:p>
          <a:p>
            <a:pPr marL="324000" lvl="1" indent="-216000">
              <a:buClr>
                <a:schemeClr val="tx2"/>
              </a:buClr>
              <a:buSzPct val="100000"/>
              <a:buFont typeface="Trebuchet MS" panose="020B0603020202020204" pitchFamily="34" charset="0"/>
              <a:buChar char="•"/>
              <a:defRPr/>
            </a:pPr>
            <a:r>
              <a:rPr lang="en-US" sz="1000">
                <a:solidFill>
                  <a:srgbClr val="29BA74"/>
                </a:solidFill>
                <a:cs typeface="Arial" pitchFamily="34" charset="0"/>
              </a:rPr>
              <a:t>Treasury bonds and bills</a:t>
            </a:r>
          </a:p>
          <a:p>
            <a:pPr marL="324000" lvl="1" indent="-216000">
              <a:buClr>
                <a:schemeClr val="tx2"/>
              </a:buClr>
              <a:buSzPct val="100000"/>
              <a:buFont typeface="Trebuchet MS" panose="020B0603020202020204" pitchFamily="34" charset="0"/>
              <a:buChar char="•"/>
              <a:defRPr/>
            </a:pPr>
            <a:r>
              <a:rPr lang="en-US" sz="1000">
                <a:solidFill>
                  <a:srgbClr val="29BA74"/>
                </a:solidFill>
                <a:cs typeface="Arial" pitchFamily="34" charset="0"/>
              </a:rPr>
              <a:t>Stock market</a:t>
            </a:r>
          </a:p>
          <a:p>
            <a:pPr marL="324000" lvl="1" indent="-216000">
              <a:buClr>
                <a:schemeClr val="tx2"/>
              </a:buClr>
              <a:buSzPct val="100000"/>
              <a:buFont typeface="Trebuchet MS" panose="020B0603020202020204" pitchFamily="34" charset="0"/>
              <a:buChar char="•"/>
              <a:defRPr/>
            </a:pPr>
            <a:r>
              <a:rPr lang="en-US" sz="1000">
                <a:solidFill>
                  <a:srgbClr val="29BA74"/>
                </a:solidFill>
                <a:cs typeface="Arial" pitchFamily="34" charset="0"/>
              </a:rPr>
              <a:t>Eurobond</a:t>
            </a:r>
          </a:p>
          <a:p>
            <a:pPr marL="324000" lvl="1" indent="-216000">
              <a:buClr>
                <a:schemeClr val="tx2"/>
              </a:buClr>
              <a:buSzPct val="100000"/>
              <a:buFont typeface="Trebuchet MS" panose="020B0603020202020204" pitchFamily="34" charset="0"/>
              <a:buChar char="•"/>
              <a:defRPr/>
            </a:pPr>
            <a:r>
              <a:rPr lang="en-US" sz="1000">
                <a:solidFill>
                  <a:srgbClr val="29BA74"/>
                </a:solidFill>
                <a:cs typeface="Arial" pitchFamily="34" charset="0"/>
              </a:rPr>
              <a:t>Repo</a:t>
            </a:r>
          </a:p>
          <a:p>
            <a:pPr marL="324000" lvl="1" indent="-216000">
              <a:buClr>
                <a:schemeClr val="tx2"/>
              </a:buClr>
              <a:buSzPct val="100000"/>
              <a:buFont typeface="Trebuchet MS" panose="020B0603020202020204" pitchFamily="34" charset="0"/>
              <a:buChar char="•"/>
              <a:defRPr/>
            </a:pPr>
            <a:r>
              <a:rPr lang="en-US" sz="1000">
                <a:solidFill>
                  <a:srgbClr val="29BA74"/>
                </a:solidFill>
                <a:cs typeface="Arial" pitchFamily="34" charset="0"/>
              </a:rPr>
              <a:t>Derivatives</a:t>
            </a:r>
          </a:p>
          <a:p>
            <a:pPr marL="324000" lvl="1" indent="-216000">
              <a:buClr>
                <a:schemeClr val="tx2"/>
              </a:buClr>
              <a:buSzPct val="100000"/>
              <a:buFont typeface="Trebuchet MS" panose="020B0603020202020204" pitchFamily="34" charset="0"/>
              <a:buChar char="•"/>
              <a:defRPr/>
            </a:pPr>
            <a:r>
              <a:rPr lang="en-US" sz="1000">
                <a:solidFill>
                  <a:srgbClr val="29BA74"/>
                </a:solidFill>
                <a:cs typeface="Arial" pitchFamily="34" charset="0"/>
              </a:rPr>
              <a:t>Robo advisor</a:t>
            </a:r>
          </a:p>
          <a:p>
            <a:pPr marL="324000" lvl="1" indent="-216000">
              <a:buClr>
                <a:schemeClr val="tx2"/>
              </a:buClr>
              <a:buSzPct val="100000"/>
              <a:buFont typeface="Trebuchet MS" panose="020B0603020202020204" pitchFamily="34" charset="0"/>
              <a:buChar char="•"/>
              <a:defRPr/>
            </a:pPr>
            <a:r>
              <a:rPr lang="en-US" sz="1000">
                <a:solidFill>
                  <a:srgbClr val="29BA74"/>
                </a:solidFill>
                <a:cs typeface="Arial" pitchFamily="34" charset="0"/>
              </a:rPr>
              <a:t>Retirement</a:t>
            </a:r>
          </a:p>
          <a:p>
            <a:pPr marL="324000" lvl="1" indent="-216000">
              <a:buClr>
                <a:schemeClr val="tx2"/>
              </a:buClr>
              <a:buSzPct val="100000"/>
              <a:buFont typeface="Trebuchet MS" panose="020B0603020202020204" pitchFamily="34" charset="0"/>
              <a:buChar char="•"/>
              <a:defRPr/>
            </a:pPr>
            <a:r>
              <a:rPr lang="en-US" sz="1000">
                <a:solidFill>
                  <a:srgbClr val="29BA74"/>
                </a:solidFill>
                <a:cs typeface="Arial" pitchFamily="34" charset="0"/>
              </a:rPr>
              <a:t>Insurance</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House/Car</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Health/Life</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Credit</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Education</a:t>
            </a:r>
          </a:p>
          <a:p>
            <a:pPr marL="457200" lvl="2"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Digital Protection</a:t>
            </a:r>
          </a:p>
        </p:txBody>
      </p:sp>
      <p:sp>
        <p:nvSpPr>
          <p:cNvPr id="186" name="TextBox 185">
            <a:extLst>
              <a:ext uri="{FF2B5EF4-FFF2-40B4-BE49-F238E27FC236}">
                <a16:creationId xmlns:a16="http://schemas.microsoft.com/office/drawing/2014/main" id="{849436EA-13E8-4394-B767-8080C0F0ACC7}"/>
              </a:ext>
            </a:extLst>
          </p:cNvPr>
          <p:cNvSpPr txBox="1"/>
          <p:nvPr/>
        </p:nvSpPr>
        <p:spPr>
          <a:xfrm>
            <a:off x="6649981" y="2263006"/>
            <a:ext cx="1354768" cy="2462213"/>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109728">
              <a:buSzPct val="100000"/>
              <a:buFont typeface="Trebuchet MS" panose="020B0603020202020204" pitchFamily="34" charset="0"/>
              <a:buChar char="​"/>
              <a:defRPr/>
            </a:pPr>
            <a:r>
              <a:rPr lang="en-US" sz="1000">
                <a:solidFill>
                  <a:srgbClr val="29BA74"/>
                </a:solidFill>
                <a:cs typeface="Arial" pitchFamily="34" charset="0"/>
              </a:rPr>
              <a:t>Payments</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Utility</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Credit card</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Tax/social security/ticket</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Highway toll/city cards</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Crypto platforms</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Bet/lottery payments</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Donations</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IMEI registration fee</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Prepaid card top-up</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School payments</a:t>
            </a:r>
          </a:p>
        </p:txBody>
      </p:sp>
      <p:sp>
        <p:nvSpPr>
          <p:cNvPr id="187" name="TextBox 186">
            <a:extLst>
              <a:ext uri="{FF2B5EF4-FFF2-40B4-BE49-F238E27FC236}">
                <a16:creationId xmlns:a16="http://schemas.microsoft.com/office/drawing/2014/main" id="{D8F5F323-D91A-458C-91E8-3AB4785FDAFB}"/>
              </a:ext>
            </a:extLst>
          </p:cNvPr>
          <p:cNvSpPr txBox="1"/>
          <p:nvPr/>
        </p:nvSpPr>
        <p:spPr>
          <a:xfrm>
            <a:off x="8048075" y="2263006"/>
            <a:ext cx="1354768" cy="2462213"/>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27432" bIns="0" numCol="1" spcCol="0" rtlCol="0" fromWordArt="0" anchor="t" anchorCtr="0" forceAA="0" compatLnSpc="1">
            <a:prstTxWarp prst="textNoShape">
              <a:avLst/>
            </a:prstTxWarp>
            <a:noAutofit/>
          </a:bodyPr>
          <a:lstStyle/>
          <a:p>
            <a:pPr marL="109728">
              <a:buSzPct val="100000"/>
              <a:defRPr/>
            </a:pPr>
            <a:r>
              <a:rPr lang="en-US" sz="1000">
                <a:solidFill>
                  <a:srgbClr val="29BA74"/>
                </a:solidFill>
                <a:cs typeface="Arial" pitchFamily="34" charset="0"/>
              </a:rPr>
              <a:t>Targeted services</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Pension customer</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Profession packages (doctor, pilot)</a:t>
            </a:r>
          </a:p>
          <a:p>
            <a:pPr marL="324000" lvl="1" indent="-216000">
              <a:buClr>
                <a:schemeClr val="tx2"/>
              </a:buClr>
              <a:buSzPct val="100000"/>
              <a:buFont typeface="Trebuchet MS" panose="020B0603020202020204" pitchFamily="34" charset="0"/>
              <a:buChar char="•"/>
              <a:defRPr/>
            </a:pPr>
            <a:r>
              <a:rPr lang="en-US" sz="1000">
                <a:solidFill>
                  <a:schemeClr val="tx1"/>
                </a:solidFill>
                <a:cs typeface="Arial" pitchFamily="34" charset="0"/>
              </a:rPr>
              <a:t>Secured exchange </a:t>
            </a:r>
          </a:p>
        </p:txBody>
      </p:sp>
      <p:cxnSp>
        <p:nvCxnSpPr>
          <p:cNvPr id="16" name="Straight Connector 15"/>
          <p:cNvCxnSpPr/>
          <p:nvPr/>
        </p:nvCxnSpPr>
        <p:spPr>
          <a:xfrm>
            <a:off x="1507548" y="2263006"/>
            <a:ext cx="0" cy="4060940"/>
          </a:xfrm>
          <a:prstGeom prst="line">
            <a:avLst/>
          </a:prstGeom>
          <a:ln w="28575" cap="rnd" cmpd="sng" algn="ctr">
            <a:solidFill>
              <a:srgbClr val="29BA74"/>
            </a:solidFill>
            <a:prstDash val="solid"/>
            <a:round/>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1507548" y="4293476"/>
            <a:ext cx="168852" cy="0"/>
          </a:xfrm>
          <a:prstGeom prst="line">
            <a:avLst/>
          </a:prstGeom>
          <a:ln w="9525" cap="rnd" cmpd="sng" algn="ctr">
            <a:solidFill>
              <a:srgbClr val="29BA74"/>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3" name="Rectangle 62">
            <a:extLst>
              <a:ext uri="{FF2B5EF4-FFF2-40B4-BE49-F238E27FC236}">
                <a16:creationId xmlns:a16="http://schemas.microsoft.com/office/drawing/2014/main" id="{8EB86DD8-570B-493B-9A46-0643B406553C}"/>
              </a:ext>
            </a:extLst>
          </p:cNvPr>
          <p:cNvSpPr/>
          <p:nvPr/>
        </p:nvSpPr>
        <p:spPr>
          <a:xfrm>
            <a:off x="4659354" y="3936211"/>
            <a:ext cx="1861654" cy="480821"/>
          </a:xfrm>
          <a:prstGeom prst="rect">
            <a:avLst/>
          </a:prstGeom>
          <a:solidFill>
            <a:schemeClr val="bg1">
              <a:lumMod val="95000"/>
              <a:alpha val="87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err="1">
              <a:solidFill>
                <a:srgbClr val="435264"/>
              </a:solidFill>
            </a:endParaRPr>
          </a:p>
        </p:txBody>
      </p:sp>
      <p:sp>
        <p:nvSpPr>
          <p:cNvPr id="64" name="Rectangle 63">
            <a:extLst>
              <a:ext uri="{FF2B5EF4-FFF2-40B4-BE49-F238E27FC236}">
                <a16:creationId xmlns:a16="http://schemas.microsoft.com/office/drawing/2014/main" id="{4ED37AE6-2503-4322-AB59-5B1DD56407DD}"/>
              </a:ext>
            </a:extLst>
          </p:cNvPr>
          <p:cNvSpPr/>
          <p:nvPr/>
        </p:nvSpPr>
        <p:spPr>
          <a:xfrm>
            <a:off x="4659354" y="3022910"/>
            <a:ext cx="1861654" cy="629777"/>
          </a:xfrm>
          <a:prstGeom prst="rect">
            <a:avLst/>
          </a:prstGeom>
          <a:solidFill>
            <a:schemeClr val="bg1">
              <a:lumMod val="95000"/>
              <a:alpha val="87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err="1">
              <a:solidFill>
                <a:srgbClr val="435264"/>
              </a:solidFill>
            </a:endParaRPr>
          </a:p>
        </p:txBody>
      </p:sp>
      <p:sp>
        <p:nvSpPr>
          <p:cNvPr id="65" name="Rectangle 64">
            <a:extLst>
              <a:ext uri="{FF2B5EF4-FFF2-40B4-BE49-F238E27FC236}">
                <a16:creationId xmlns:a16="http://schemas.microsoft.com/office/drawing/2014/main" id="{F764E9F3-09BC-4DE9-9898-2CAB02381796}"/>
              </a:ext>
            </a:extLst>
          </p:cNvPr>
          <p:cNvSpPr/>
          <p:nvPr/>
        </p:nvSpPr>
        <p:spPr>
          <a:xfrm>
            <a:off x="4663949" y="2412379"/>
            <a:ext cx="1861654" cy="293049"/>
          </a:xfrm>
          <a:prstGeom prst="rect">
            <a:avLst/>
          </a:prstGeom>
          <a:solidFill>
            <a:schemeClr val="bg1">
              <a:lumMod val="95000"/>
              <a:alpha val="87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err="1">
              <a:solidFill>
                <a:srgbClr val="435264"/>
              </a:solidFill>
            </a:endParaRPr>
          </a:p>
        </p:txBody>
      </p:sp>
      <p:sp>
        <p:nvSpPr>
          <p:cNvPr id="66" name="Rectangle 65">
            <a:extLst>
              <a:ext uri="{FF2B5EF4-FFF2-40B4-BE49-F238E27FC236}">
                <a16:creationId xmlns:a16="http://schemas.microsoft.com/office/drawing/2014/main" id="{DE412F7B-B152-4263-AF8F-E949DEF32AE6}"/>
              </a:ext>
            </a:extLst>
          </p:cNvPr>
          <p:cNvSpPr/>
          <p:nvPr/>
        </p:nvSpPr>
        <p:spPr>
          <a:xfrm>
            <a:off x="5536934" y="3257497"/>
            <a:ext cx="796038" cy="452380"/>
          </a:xfrm>
          <a:prstGeom prst="rect">
            <a:avLst/>
          </a:prstGeom>
          <a:solidFill>
            <a:srgbClr val="29BA74"/>
          </a:solidFill>
          <a:ln w="19050" cap="rnd" cmpd="sng" algn="ctr">
            <a:solidFill>
              <a:srgbClr val="29BA74"/>
            </a:solidFill>
            <a:prstDash val="solid"/>
            <a:round/>
            <a:headEnd type="none" w="med" len="med"/>
            <a:tailEnd type="none" w="med" len="med"/>
          </a:ln>
          <a:effectLst/>
        </p:spPr>
        <p:txBody>
          <a:bodyPr lIns="45720" tIns="45720" rIns="45720" bIns="45720" rtlCol="0" anchor="ctr" anchorCtr="0"/>
          <a:lstStyle/>
          <a:p>
            <a:pPr lvl="0" algn="ctr">
              <a:defRPr/>
            </a:pPr>
            <a:r>
              <a:rPr lang="en-US" sz="1200" kern="0">
                <a:solidFill>
                  <a:srgbClr val="FFFFFF"/>
                </a:solidFill>
              </a:rPr>
              <a:t>Potential hook</a:t>
            </a:r>
          </a:p>
        </p:txBody>
      </p:sp>
      <p:cxnSp>
        <p:nvCxnSpPr>
          <p:cNvPr id="67" name="Straight Connector 56">
            <a:extLst>
              <a:ext uri="{FF2B5EF4-FFF2-40B4-BE49-F238E27FC236}">
                <a16:creationId xmlns:a16="http://schemas.microsoft.com/office/drawing/2014/main" id="{F08C7CD9-7F82-4FBA-B5EE-770556648B6B}"/>
              </a:ext>
            </a:extLst>
          </p:cNvPr>
          <p:cNvCxnSpPr>
            <a:cxnSpLocks/>
            <a:endCxn id="66" idx="0"/>
          </p:cNvCxnSpPr>
          <p:nvPr/>
        </p:nvCxnSpPr>
        <p:spPr>
          <a:xfrm>
            <a:off x="5536934" y="2954291"/>
            <a:ext cx="398019" cy="303206"/>
          </a:xfrm>
          <a:prstGeom prst="bentConnector2">
            <a:avLst/>
          </a:prstGeom>
          <a:noFill/>
          <a:ln w="19050" cap="rnd" cmpd="sng" algn="ctr">
            <a:solidFill>
              <a:srgbClr val="9A9A9A"/>
            </a:solidFill>
            <a:prstDash val="solid"/>
            <a:round/>
            <a:headEnd type="oval" w="med" len="med"/>
            <a:tailEnd type="none" w="sm" len="sm"/>
          </a:ln>
          <a:effectLst/>
        </p:spPr>
      </p:cxnSp>
      <p:sp>
        <p:nvSpPr>
          <p:cNvPr id="68" name="Rectangle 67">
            <a:extLst>
              <a:ext uri="{FF2B5EF4-FFF2-40B4-BE49-F238E27FC236}">
                <a16:creationId xmlns:a16="http://schemas.microsoft.com/office/drawing/2014/main" id="{4AA0DEF4-81CD-489A-8360-D30C1577D10F}"/>
              </a:ext>
            </a:extLst>
          </p:cNvPr>
          <p:cNvSpPr/>
          <p:nvPr/>
        </p:nvSpPr>
        <p:spPr>
          <a:xfrm>
            <a:off x="5148026" y="2444529"/>
            <a:ext cx="1250501" cy="385800"/>
          </a:xfrm>
          <a:prstGeom prst="rect">
            <a:avLst/>
          </a:prstGeom>
          <a:solidFill>
            <a:srgbClr val="FFFFFF"/>
          </a:solidFill>
          <a:ln w="19050" cap="rnd" cmpd="sng" algn="ctr">
            <a:solidFill>
              <a:srgbClr val="3EAD92"/>
            </a:solidFill>
            <a:prstDash val="solid"/>
            <a:round/>
            <a:headEnd type="none" w="med" len="med"/>
            <a:tailEnd type="none" w="med" len="med"/>
          </a:ln>
          <a:effectLst/>
        </p:spPr>
        <p:txBody>
          <a:bodyPr lIns="45720" tIns="45720" rIns="45720" bIns="45720" rtlCol="0" anchor="ctr" anchorCtr="0"/>
          <a:lstStyle/>
          <a:p>
            <a:pPr lvl="0" algn="ctr">
              <a:defRPr/>
            </a:pPr>
            <a:r>
              <a:rPr lang="en-US" sz="1200" kern="0">
                <a:solidFill>
                  <a:srgbClr val="575757"/>
                </a:solidFill>
              </a:rPr>
              <a:t>Daily banking element</a:t>
            </a:r>
          </a:p>
        </p:txBody>
      </p:sp>
      <p:sp>
        <p:nvSpPr>
          <p:cNvPr id="69" name="Rectangle 68">
            <a:extLst>
              <a:ext uri="{FF2B5EF4-FFF2-40B4-BE49-F238E27FC236}">
                <a16:creationId xmlns:a16="http://schemas.microsoft.com/office/drawing/2014/main" id="{B6AB79CC-0EEA-449D-9B23-ECB68FE3A4E6}"/>
              </a:ext>
            </a:extLst>
          </p:cNvPr>
          <p:cNvSpPr/>
          <p:nvPr/>
        </p:nvSpPr>
        <p:spPr>
          <a:xfrm>
            <a:off x="5148026" y="3966210"/>
            <a:ext cx="1250501" cy="543080"/>
          </a:xfrm>
          <a:prstGeom prst="rect">
            <a:avLst/>
          </a:prstGeom>
          <a:solidFill>
            <a:srgbClr val="FFFFFF"/>
          </a:solidFill>
          <a:ln w="19050" cap="rnd" cmpd="sng" algn="ctr">
            <a:solidFill>
              <a:srgbClr val="3EAD92"/>
            </a:solidFill>
            <a:prstDash val="solid"/>
            <a:round/>
            <a:headEnd type="none" w="med" len="med"/>
            <a:tailEnd type="none" w="med" len="med"/>
          </a:ln>
          <a:effectLst/>
        </p:spPr>
        <p:txBody>
          <a:bodyPr lIns="45720" tIns="45720" rIns="45720" bIns="45720" rtlCol="0" anchor="ctr" anchorCtr="0"/>
          <a:lstStyle/>
          <a:p>
            <a:pPr lvl="0" algn="ctr">
              <a:defRPr/>
            </a:pPr>
            <a:r>
              <a:rPr lang="en-US" sz="1200" kern="0">
                <a:solidFill>
                  <a:srgbClr val="575757"/>
                </a:solidFill>
              </a:rPr>
              <a:t>TR low saving, not considered hook</a:t>
            </a:r>
          </a:p>
        </p:txBody>
      </p:sp>
      <p:sp>
        <p:nvSpPr>
          <p:cNvPr id="71" name="Rectangle 70">
            <a:extLst>
              <a:ext uri="{FF2B5EF4-FFF2-40B4-BE49-F238E27FC236}">
                <a16:creationId xmlns:a16="http://schemas.microsoft.com/office/drawing/2014/main" id="{00519D30-7F63-4DC5-968A-3E2FD3D696B0}"/>
              </a:ext>
            </a:extLst>
          </p:cNvPr>
          <p:cNvSpPr/>
          <p:nvPr/>
        </p:nvSpPr>
        <p:spPr>
          <a:xfrm>
            <a:off x="6686974" y="2420692"/>
            <a:ext cx="1341354" cy="2297572"/>
          </a:xfrm>
          <a:prstGeom prst="rect">
            <a:avLst/>
          </a:prstGeom>
          <a:solidFill>
            <a:schemeClr val="bg1">
              <a:lumMod val="95000"/>
              <a:alpha val="87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435264"/>
              </a:solidFill>
            </a:endParaRPr>
          </a:p>
        </p:txBody>
      </p:sp>
      <p:sp>
        <p:nvSpPr>
          <p:cNvPr id="72" name="Rectangle 71">
            <a:extLst>
              <a:ext uri="{FF2B5EF4-FFF2-40B4-BE49-F238E27FC236}">
                <a16:creationId xmlns:a16="http://schemas.microsoft.com/office/drawing/2014/main" id="{5683D8EE-86CA-47F6-A057-BA3B904CDE74}"/>
              </a:ext>
            </a:extLst>
          </p:cNvPr>
          <p:cNvSpPr/>
          <p:nvPr/>
        </p:nvSpPr>
        <p:spPr>
          <a:xfrm>
            <a:off x="6661729" y="5019423"/>
            <a:ext cx="2725606" cy="1200656"/>
          </a:xfrm>
          <a:prstGeom prst="rect">
            <a:avLst/>
          </a:prstGeom>
          <a:solidFill>
            <a:schemeClr val="bg1">
              <a:lumMod val="95000"/>
              <a:alpha val="87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err="1">
              <a:solidFill>
                <a:srgbClr val="435264"/>
              </a:solidFill>
            </a:endParaRPr>
          </a:p>
        </p:txBody>
      </p:sp>
      <p:sp>
        <p:nvSpPr>
          <p:cNvPr id="73" name="Rectangle 72">
            <a:extLst>
              <a:ext uri="{FF2B5EF4-FFF2-40B4-BE49-F238E27FC236}">
                <a16:creationId xmlns:a16="http://schemas.microsoft.com/office/drawing/2014/main" id="{1CFE42CE-590E-45B1-BD81-18F0E10FE864}"/>
              </a:ext>
            </a:extLst>
          </p:cNvPr>
          <p:cNvSpPr/>
          <p:nvPr/>
        </p:nvSpPr>
        <p:spPr>
          <a:xfrm>
            <a:off x="6729956" y="2896528"/>
            <a:ext cx="1305088" cy="653729"/>
          </a:xfrm>
          <a:prstGeom prst="rect">
            <a:avLst/>
          </a:prstGeom>
          <a:solidFill>
            <a:srgbClr val="FFFFFF"/>
          </a:solidFill>
          <a:ln w="19050" cap="rnd" cmpd="sng" algn="ctr">
            <a:solidFill>
              <a:srgbClr val="3EAD92"/>
            </a:solidFill>
            <a:prstDash val="solid"/>
            <a:round/>
            <a:headEnd type="none" w="med" len="med"/>
            <a:tailEnd type="none" w="med" len="med"/>
          </a:ln>
          <a:effectLst/>
        </p:spPr>
        <p:txBody>
          <a:bodyPr lIns="45720" tIns="45720" rIns="45720" bIns="45720" rtlCol="0" anchor="ctr" anchorCtr="0"/>
          <a:lstStyle/>
          <a:p>
            <a:pPr lvl="0" algn="ctr">
              <a:defRPr/>
            </a:pPr>
            <a:r>
              <a:rPr lang="en-US" sz="1200" kern="0">
                <a:solidFill>
                  <a:srgbClr val="575757"/>
                </a:solidFill>
              </a:rPr>
              <a:t>Daily banking hygiene transactions</a:t>
            </a:r>
          </a:p>
        </p:txBody>
      </p:sp>
      <p:sp>
        <p:nvSpPr>
          <p:cNvPr id="74" name="Rectangle 73">
            <a:extLst>
              <a:ext uri="{FF2B5EF4-FFF2-40B4-BE49-F238E27FC236}">
                <a16:creationId xmlns:a16="http://schemas.microsoft.com/office/drawing/2014/main" id="{442A3AFC-D755-4E5B-B570-F100BB695074}"/>
              </a:ext>
            </a:extLst>
          </p:cNvPr>
          <p:cNvSpPr/>
          <p:nvPr/>
        </p:nvSpPr>
        <p:spPr>
          <a:xfrm>
            <a:off x="6774176" y="5309768"/>
            <a:ext cx="2473146" cy="615843"/>
          </a:xfrm>
          <a:prstGeom prst="rect">
            <a:avLst/>
          </a:prstGeom>
          <a:solidFill>
            <a:srgbClr val="FFFFFF"/>
          </a:solidFill>
          <a:ln w="19050" cap="rnd" cmpd="sng" algn="ctr">
            <a:solidFill>
              <a:srgbClr val="3EAD92"/>
            </a:solidFill>
            <a:prstDash val="solid"/>
            <a:round/>
            <a:headEnd type="none" w="med" len="med"/>
            <a:tailEnd type="none" w="med" len="med"/>
          </a:ln>
          <a:effectLst/>
        </p:spPr>
        <p:txBody>
          <a:bodyPr lIns="45720" tIns="45720" rIns="45720" bIns="45720" rtlCol="0" anchor="ctr" anchorCtr="0"/>
          <a:lstStyle/>
          <a:p>
            <a:pPr lvl="0" algn="ctr">
              <a:defRPr/>
            </a:pPr>
            <a:r>
              <a:rPr lang="en-US" sz="1200" kern="0">
                <a:solidFill>
                  <a:srgbClr val="575757"/>
                </a:solidFill>
              </a:rPr>
              <a:t>Daily banking hygiene</a:t>
            </a:r>
            <a:br>
              <a:rPr lang="en-US" sz="1200" kern="0">
                <a:solidFill>
                  <a:srgbClr val="575757"/>
                </a:solidFill>
              </a:rPr>
            </a:br>
            <a:r>
              <a:rPr lang="en-US" sz="1200" kern="0">
                <a:solidFill>
                  <a:srgbClr val="575757"/>
                </a:solidFill>
              </a:rPr>
              <a:t>transactions</a:t>
            </a:r>
          </a:p>
        </p:txBody>
      </p:sp>
      <p:sp>
        <p:nvSpPr>
          <p:cNvPr id="75" name="Rectangle 74">
            <a:extLst>
              <a:ext uri="{FF2B5EF4-FFF2-40B4-BE49-F238E27FC236}">
                <a16:creationId xmlns:a16="http://schemas.microsoft.com/office/drawing/2014/main" id="{64C97B84-79A7-46C2-9563-D98C494229F1}"/>
              </a:ext>
            </a:extLst>
          </p:cNvPr>
          <p:cNvSpPr/>
          <p:nvPr/>
        </p:nvSpPr>
        <p:spPr>
          <a:xfrm>
            <a:off x="9590746" y="2426364"/>
            <a:ext cx="1861654" cy="2140093"/>
          </a:xfrm>
          <a:prstGeom prst="rect">
            <a:avLst/>
          </a:prstGeom>
          <a:solidFill>
            <a:schemeClr val="bg1">
              <a:lumMod val="95000"/>
              <a:alpha val="87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err="1">
              <a:solidFill>
                <a:srgbClr val="435264"/>
              </a:solidFill>
            </a:endParaRPr>
          </a:p>
        </p:txBody>
      </p:sp>
      <p:sp>
        <p:nvSpPr>
          <p:cNvPr id="76" name="Rectangle 75">
            <a:extLst>
              <a:ext uri="{FF2B5EF4-FFF2-40B4-BE49-F238E27FC236}">
                <a16:creationId xmlns:a16="http://schemas.microsoft.com/office/drawing/2014/main" id="{C0991FB4-D8B9-49B8-9181-4614E35D08BF}"/>
              </a:ext>
            </a:extLst>
          </p:cNvPr>
          <p:cNvSpPr/>
          <p:nvPr/>
        </p:nvSpPr>
        <p:spPr>
          <a:xfrm>
            <a:off x="10140968" y="2828814"/>
            <a:ext cx="1292166" cy="1199202"/>
          </a:xfrm>
          <a:prstGeom prst="rect">
            <a:avLst/>
          </a:prstGeom>
          <a:solidFill>
            <a:srgbClr val="29BA74"/>
          </a:solidFill>
          <a:ln w="19050" cap="rnd" cmpd="sng" algn="ctr">
            <a:solidFill>
              <a:srgbClr val="29BA74"/>
            </a:solidFill>
            <a:prstDash val="solid"/>
            <a:round/>
            <a:headEnd type="none" w="med" len="med"/>
            <a:tailEnd type="none" w="med" len="med"/>
          </a:ln>
          <a:effectLst/>
        </p:spPr>
        <p:txBody>
          <a:bodyPr lIns="45720" tIns="45720" rIns="45720" bIns="45720" rtlCol="0" anchor="ctr" anchorCtr="0"/>
          <a:lstStyle/>
          <a:p>
            <a:pPr lvl="0" algn="ctr">
              <a:defRPr/>
            </a:pPr>
            <a:r>
              <a:rPr lang="en-US" sz="1200" kern="0">
                <a:solidFill>
                  <a:srgbClr val="FFFFFF"/>
                </a:solidFill>
              </a:rPr>
              <a:t>Potential hook, others require development of investment services</a:t>
            </a:r>
          </a:p>
        </p:txBody>
      </p:sp>
      <p:cxnSp>
        <p:nvCxnSpPr>
          <p:cNvPr id="77" name="Straight Connector 56">
            <a:extLst>
              <a:ext uri="{FF2B5EF4-FFF2-40B4-BE49-F238E27FC236}">
                <a16:creationId xmlns:a16="http://schemas.microsoft.com/office/drawing/2014/main" id="{87868A7E-F00A-4548-B44C-A51A96394A34}"/>
              </a:ext>
            </a:extLst>
          </p:cNvPr>
          <p:cNvCxnSpPr>
            <a:cxnSpLocks/>
            <a:endCxn id="76" idx="0"/>
          </p:cNvCxnSpPr>
          <p:nvPr/>
        </p:nvCxnSpPr>
        <p:spPr>
          <a:xfrm>
            <a:off x="10104350" y="2324779"/>
            <a:ext cx="682701" cy="504035"/>
          </a:xfrm>
          <a:prstGeom prst="bentConnector2">
            <a:avLst/>
          </a:prstGeom>
          <a:noFill/>
          <a:ln w="19050" cap="rnd" cmpd="sng" algn="ctr">
            <a:solidFill>
              <a:srgbClr val="9A9A9A"/>
            </a:solidFill>
            <a:prstDash val="solid"/>
            <a:round/>
            <a:headEnd type="oval" w="med" len="med"/>
            <a:tailEnd type="none" w="sm" len="sm"/>
          </a:ln>
          <a:effectLst/>
        </p:spPr>
      </p:cxnSp>
      <p:sp>
        <p:nvSpPr>
          <p:cNvPr id="78" name="Rectangle 77">
            <a:extLst>
              <a:ext uri="{FF2B5EF4-FFF2-40B4-BE49-F238E27FC236}">
                <a16:creationId xmlns:a16="http://schemas.microsoft.com/office/drawing/2014/main" id="{4586F28A-7DF6-4CFD-82F9-C065B79C5E22}"/>
              </a:ext>
            </a:extLst>
          </p:cNvPr>
          <p:cNvSpPr/>
          <p:nvPr/>
        </p:nvSpPr>
        <p:spPr>
          <a:xfrm>
            <a:off x="1706550" y="2867633"/>
            <a:ext cx="1341354" cy="1549399"/>
          </a:xfrm>
          <a:prstGeom prst="rect">
            <a:avLst/>
          </a:prstGeom>
          <a:solidFill>
            <a:schemeClr val="bg1">
              <a:lumMod val="95000"/>
              <a:alpha val="87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err="1">
              <a:solidFill>
                <a:srgbClr val="435264"/>
              </a:solidFill>
            </a:endParaRPr>
          </a:p>
        </p:txBody>
      </p:sp>
      <p:sp>
        <p:nvSpPr>
          <p:cNvPr id="84" name="Rectangle 83">
            <a:extLst>
              <a:ext uri="{FF2B5EF4-FFF2-40B4-BE49-F238E27FC236}">
                <a16:creationId xmlns:a16="http://schemas.microsoft.com/office/drawing/2014/main" id="{D765C138-6885-44D6-A884-4C0A80DD61BD}"/>
              </a:ext>
            </a:extLst>
          </p:cNvPr>
          <p:cNvSpPr/>
          <p:nvPr/>
        </p:nvSpPr>
        <p:spPr>
          <a:xfrm>
            <a:off x="4663949" y="4869917"/>
            <a:ext cx="1861654" cy="522048"/>
          </a:xfrm>
          <a:prstGeom prst="rect">
            <a:avLst/>
          </a:prstGeom>
          <a:solidFill>
            <a:schemeClr val="bg1">
              <a:lumMod val="95000"/>
              <a:alpha val="87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err="1">
              <a:solidFill>
                <a:srgbClr val="435264"/>
              </a:solidFill>
            </a:endParaRPr>
          </a:p>
        </p:txBody>
      </p:sp>
      <p:sp>
        <p:nvSpPr>
          <p:cNvPr id="79" name="Rectangle 78">
            <a:extLst>
              <a:ext uri="{FF2B5EF4-FFF2-40B4-BE49-F238E27FC236}">
                <a16:creationId xmlns:a16="http://schemas.microsoft.com/office/drawing/2014/main" id="{8C5C1ACD-D4EA-43B0-B833-DFC97588838B}"/>
              </a:ext>
            </a:extLst>
          </p:cNvPr>
          <p:cNvSpPr/>
          <p:nvPr/>
        </p:nvSpPr>
        <p:spPr>
          <a:xfrm>
            <a:off x="3063289" y="3047401"/>
            <a:ext cx="1341354" cy="2030362"/>
          </a:xfrm>
          <a:prstGeom prst="rect">
            <a:avLst/>
          </a:prstGeom>
          <a:solidFill>
            <a:schemeClr val="bg1">
              <a:lumMod val="95000"/>
              <a:alpha val="87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err="1">
              <a:solidFill>
                <a:srgbClr val="435264"/>
              </a:solidFill>
            </a:endParaRPr>
          </a:p>
        </p:txBody>
      </p:sp>
      <p:sp>
        <p:nvSpPr>
          <p:cNvPr id="81" name="Rectangle 80">
            <a:extLst>
              <a:ext uri="{FF2B5EF4-FFF2-40B4-BE49-F238E27FC236}">
                <a16:creationId xmlns:a16="http://schemas.microsoft.com/office/drawing/2014/main" id="{67F51FD7-23D6-408B-B4FD-1CCAC8F214D5}"/>
              </a:ext>
            </a:extLst>
          </p:cNvPr>
          <p:cNvSpPr/>
          <p:nvPr/>
        </p:nvSpPr>
        <p:spPr>
          <a:xfrm>
            <a:off x="1714633" y="3753927"/>
            <a:ext cx="1292166" cy="1199202"/>
          </a:xfrm>
          <a:prstGeom prst="rect">
            <a:avLst/>
          </a:prstGeom>
          <a:solidFill>
            <a:srgbClr val="29BA74"/>
          </a:solidFill>
          <a:ln w="19050" cap="rnd" cmpd="sng" algn="ctr">
            <a:solidFill>
              <a:srgbClr val="29BA74"/>
            </a:solidFill>
            <a:prstDash val="solid"/>
            <a:round/>
            <a:headEnd type="none" w="med" len="med"/>
            <a:tailEnd type="none" w="med" len="med"/>
          </a:ln>
          <a:effectLst/>
        </p:spPr>
        <p:txBody>
          <a:bodyPr lIns="45720" tIns="45720" rIns="45720" bIns="45720" rtlCol="0" anchor="ctr" anchorCtr="0"/>
          <a:lstStyle/>
          <a:p>
            <a:pPr lvl="0" algn="ctr">
              <a:defRPr/>
            </a:pPr>
            <a:r>
              <a:rPr lang="en-US" sz="1200" kern="0">
                <a:solidFill>
                  <a:srgbClr val="FFFFFF"/>
                </a:solidFill>
              </a:rPr>
              <a:t>Potential hook, requires development of credit risk engine</a:t>
            </a:r>
          </a:p>
        </p:txBody>
      </p:sp>
      <p:cxnSp>
        <p:nvCxnSpPr>
          <p:cNvPr id="82" name="Straight Connector 56">
            <a:extLst>
              <a:ext uri="{FF2B5EF4-FFF2-40B4-BE49-F238E27FC236}">
                <a16:creationId xmlns:a16="http://schemas.microsoft.com/office/drawing/2014/main" id="{55FA618C-BC59-4F33-9E1E-2C538CE69B19}"/>
              </a:ext>
            </a:extLst>
          </p:cNvPr>
          <p:cNvCxnSpPr>
            <a:cxnSpLocks/>
          </p:cNvCxnSpPr>
          <p:nvPr/>
        </p:nvCxnSpPr>
        <p:spPr>
          <a:xfrm rot="16200000" flipH="1">
            <a:off x="3377376" y="3454827"/>
            <a:ext cx="857399" cy="190860"/>
          </a:xfrm>
          <a:prstGeom prst="bentConnector3">
            <a:avLst>
              <a:gd name="adj1" fmla="val 50000"/>
            </a:avLst>
          </a:prstGeom>
          <a:noFill/>
          <a:ln w="19050" cap="rnd" cmpd="sng" algn="ctr">
            <a:solidFill>
              <a:srgbClr val="9A9A9A"/>
            </a:solidFill>
            <a:prstDash val="solid"/>
            <a:round/>
            <a:headEnd type="oval" w="med" len="med"/>
            <a:tailEnd type="none" w="sm" len="sm"/>
          </a:ln>
          <a:effectLst/>
        </p:spPr>
      </p:cxnSp>
      <p:cxnSp>
        <p:nvCxnSpPr>
          <p:cNvPr id="83" name="Straight Connector 56">
            <a:extLst>
              <a:ext uri="{FF2B5EF4-FFF2-40B4-BE49-F238E27FC236}">
                <a16:creationId xmlns:a16="http://schemas.microsoft.com/office/drawing/2014/main" id="{A7F9CA70-D0F7-474B-A4BF-C0A349117964}"/>
              </a:ext>
            </a:extLst>
          </p:cNvPr>
          <p:cNvCxnSpPr>
            <a:cxnSpLocks/>
          </p:cNvCxnSpPr>
          <p:nvPr/>
        </p:nvCxnSpPr>
        <p:spPr>
          <a:xfrm rot="16200000" flipH="1">
            <a:off x="1917434" y="3163112"/>
            <a:ext cx="857397" cy="303652"/>
          </a:xfrm>
          <a:prstGeom prst="bentConnector3">
            <a:avLst>
              <a:gd name="adj1" fmla="val 50000"/>
            </a:avLst>
          </a:prstGeom>
          <a:noFill/>
          <a:ln w="19050" cap="rnd" cmpd="sng" algn="ctr">
            <a:solidFill>
              <a:srgbClr val="9A9A9A"/>
            </a:solidFill>
            <a:prstDash val="solid"/>
            <a:round/>
            <a:headEnd type="oval" w="med" len="med"/>
            <a:tailEnd type="none" w="sm" len="sm"/>
          </a:ln>
          <a:effectLst/>
        </p:spPr>
      </p:cxnSp>
      <p:sp>
        <p:nvSpPr>
          <p:cNvPr id="70" name="Rectangle 69">
            <a:extLst>
              <a:ext uri="{FF2B5EF4-FFF2-40B4-BE49-F238E27FC236}">
                <a16:creationId xmlns:a16="http://schemas.microsoft.com/office/drawing/2014/main" id="{C69D79BE-0ADC-485D-A2D6-84B1AA303FEB}"/>
              </a:ext>
            </a:extLst>
          </p:cNvPr>
          <p:cNvSpPr/>
          <p:nvPr/>
        </p:nvSpPr>
        <p:spPr>
          <a:xfrm>
            <a:off x="5148026" y="4880528"/>
            <a:ext cx="1250501" cy="543080"/>
          </a:xfrm>
          <a:prstGeom prst="rect">
            <a:avLst/>
          </a:prstGeom>
          <a:solidFill>
            <a:srgbClr val="FFFFFF"/>
          </a:solidFill>
          <a:ln w="19050" cap="rnd" cmpd="sng" algn="ctr">
            <a:solidFill>
              <a:srgbClr val="3EAD92"/>
            </a:solidFill>
            <a:prstDash val="solid"/>
            <a:round/>
            <a:headEnd type="none" w="med" len="med"/>
            <a:tailEnd type="none" w="med" len="med"/>
          </a:ln>
          <a:effectLst/>
        </p:spPr>
        <p:txBody>
          <a:bodyPr lIns="45720" tIns="45720" rIns="45720" bIns="45720" rtlCol="0" anchor="ctr" anchorCtr="0"/>
          <a:lstStyle/>
          <a:p>
            <a:pPr lvl="0" algn="ctr">
              <a:defRPr/>
            </a:pPr>
            <a:r>
              <a:rPr lang="en-US" sz="1200" kern="0">
                <a:solidFill>
                  <a:srgbClr val="575757"/>
                </a:solidFill>
              </a:rPr>
              <a:t>No significant demand (?)</a:t>
            </a:r>
          </a:p>
        </p:txBody>
      </p:sp>
      <p:sp>
        <p:nvSpPr>
          <p:cNvPr id="85" name="Rectangle 84">
            <a:extLst>
              <a:ext uri="{FF2B5EF4-FFF2-40B4-BE49-F238E27FC236}">
                <a16:creationId xmlns:a16="http://schemas.microsoft.com/office/drawing/2014/main" id="{667DF7ED-B0CB-4A55-BA4B-75CDA06F0B57}"/>
              </a:ext>
            </a:extLst>
          </p:cNvPr>
          <p:cNvSpPr/>
          <p:nvPr/>
        </p:nvSpPr>
        <p:spPr>
          <a:xfrm>
            <a:off x="8136160" y="2432391"/>
            <a:ext cx="1219413" cy="2285873"/>
          </a:xfrm>
          <a:prstGeom prst="rect">
            <a:avLst/>
          </a:prstGeom>
          <a:solidFill>
            <a:schemeClr val="bg1">
              <a:lumMod val="95000"/>
              <a:alpha val="87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435264"/>
              </a:solidFill>
            </a:endParaRPr>
          </a:p>
        </p:txBody>
      </p:sp>
      <p:sp>
        <p:nvSpPr>
          <p:cNvPr id="86" name="Rectangle 85">
            <a:extLst>
              <a:ext uri="{FF2B5EF4-FFF2-40B4-BE49-F238E27FC236}">
                <a16:creationId xmlns:a16="http://schemas.microsoft.com/office/drawing/2014/main" id="{B384BEFA-B9BD-4161-B774-437AB17055D5}"/>
              </a:ext>
            </a:extLst>
          </p:cNvPr>
          <p:cNvSpPr/>
          <p:nvPr/>
        </p:nvSpPr>
        <p:spPr>
          <a:xfrm>
            <a:off x="8070323" y="2896528"/>
            <a:ext cx="1305088" cy="653729"/>
          </a:xfrm>
          <a:prstGeom prst="rect">
            <a:avLst/>
          </a:prstGeom>
          <a:solidFill>
            <a:srgbClr val="FFFFFF"/>
          </a:solidFill>
          <a:ln w="19050" cap="rnd" cmpd="sng" algn="ctr">
            <a:solidFill>
              <a:srgbClr val="3EAD92"/>
            </a:solidFill>
            <a:prstDash val="solid"/>
            <a:round/>
            <a:headEnd type="none" w="med" len="med"/>
            <a:tailEnd type="none" w="med" len="med"/>
          </a:ln>
          <a:effectLst/>
        </p:spPr>
        <p:txBody>
          <a:bodyPr lIns="45720" tIns="45720" rIns="45720" bIns="45720" rtlCol="0" anchor="ctr" anchorCtr="0"/>
          <a:lstStyle/>
          <a:p>
            <a:pPr lvl="0" algn="ctr">
              <a:defRPr/>
            </a:pPr>
            <a:r>
              <a:rPr lang="en-US" sz="1200" kern="0">
                <a:solidFill>
                  <a:srgbClr val="575757"/>
                </a:solidFill>
              </a:rPr>
              <a:t>Limited differentiation potential</a:t>
            </a:r>
          </a:p>
        </p:txBody>
      </p:sp>
      <p:sp>
        <p:nvSpPr>
          <p:cNvPr id="87" name="NavigationTriangle">
            <a:extLst>
              <a:ext uri="{FF2B5EF4-FFF2-40B4-BE49-F238E27FC236}">
                <a16:creationId xmlns:a16="http://schemas.microsoft.com/office/drawing/2014/main" id="{6D38BC3C-E95D-4604-8DA0-EC78319C2FD6}"/>
              </a:ext>
            </a:extLst>
          </p:cNvPr>
          <p:cNvSpPr/>
          <p:nvPr/>
        </p:nvSpPr>
        <p:spPr>
          <a:xfrm rot="16200000">
            <a:off x="11116165" y="-21446"/>
            <a:ext cx="1054387" cy="1097280"/>
          </a:xfrm>
          <a:prstGeom prst="triangle">
            <a:avLst>
              <a:gd name="adj" fmla="val 100000"/>
            </a:avLst>
          </a:prstGeom>
          <a:solidFill>
            <a:schemeClr val="tx2"/>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FFFFFF"/>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err="1">
              <a:solidFill>
                <a:srgbClr val="435264"/>
              </a:solidFill>
            </a:endParaRPr>
          </a:p>
        </p:txBody>
      </p:sp>
      <p:sp>
        <p:nvSpPr>
          <p:cNvPr id="88" name="NavigationText">
            <a:extLst>
              <a:ext uri="{FF2B5EF4-FFF2-40B4-BE49-F238E27FC236}">
                <a16:creationId xmlns:a16="http://schemas.microsoft.com/office/drawing/2014/main" id="{40421682-A084-495C-A09A-F1D8D47835B4}"/>
              </a:ext>
            </a:extLst>
          </p:cNvPr>
          <p:cNvSpPr/>
          <p:nvPr/>
        </p:nvSpPr>
        <p:spPr>
          <a:xfrm>
            <a:off x="9262873" y="256093"/>
            <a:ext cx="2108188" cy="230435"/>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9144" bIns="0" numCol="1" spcCol="0" rtlCol="0" fromWordArt="0" anchor="ctr" anchorCtr="0" forceAA="0" compatLnSpc="1">
            <a:prstTxWarp prst="textNoShape">
              <a:avLst/>
            </a:prstTxWarp>
            <a:noAutofit/>
          </a:bodyPr>
          <a:lstStyle/>
          <a:p>
            <a:pPr algn="r"/>
            <a:r>
              <a:rPr lang="en-GB" sz="1000">
                <a:solidFill>
                  <a:schemeClr val="bg1">
                    <a:lumMod val="50000"/>
                  </a:schemeClr>
                </a:solidFill>
              </a:rPr>
              <a:t>Client digital retail strategy</a:t>
            </a:r>
            <a:endParaRPr lang="en-US" sz="1000">
              <a:solidFill>
                <a:schemeClr val="bg1">
                  <a:lumMod val="50000"/>
                </a:schemeClr>
              </a:solidFill>
            </a:endParaRPr>
          </a:p>
        </p:txBody>
      </p:sp>
      <p:sp>
        <p:nvSpPr>
          <p:cNvPr id="89" name="NavigationIcon">
            <a:extLst>
              <a:ext uri="{FF2B5EF4-FFF2-40B4-BE49-F238E27FC236}">
                <a16:creationId xmlns:a16="http://schemas.microsoft.com/office/drawing/2014/main" id="{1094A493-8025-4009-97F0-6A569BB13E4C}"/>
              </a:ext>
            </a:extLst>
          </p:cNvPr>
          <p:cNvSpPr>
            <a:spLocks noChangeAspect="1"/>
          </p:cNvSpPr>
          <p:nvPr/>
        </p:nvSpPr>
        <p:spPr bwMode="auto">
          <a:xfrm>
            <a:off x="11762998" y="132877"/>
            <a:ext cx="220851" cy="365760"/>
          </a:xfrm>
          <a:custGeom>
            <a:avLst/>
            <a:gdLst>
              <a:gd name="connsiteX0" fmla="*/ 146047 w 754383"/>
              <a:gd name="connsiteY0" fmla="*/ 1054099 h 1249362"/>
              <a:gd name="connsiteX1" fmla="*/ 595723 w 754383"/>
              <a:gd name="connsiteY1" fmla="*/ 1054099 h 1249362"/>
              <a:gd name="connsiteX2" fmla="*/ 600006 w 754383"/>
              <a:gd name="connsiteY2" fmla="*/ 1057675 h 1249362"/>
              <a:gd name="connsiteX3" fmla="*/ 738478 w 754383"/>
              <a:gd name="connsiteY3" fmla="*/ 1225044 h 1249362"/>
              <a:gd name="connsiteX4" fmla="*/ 727057 w 754383"/>
              <a:gd name="connsiteY4" fmla="*/ 1249362 h 1249362"/>
              <a:gd name="connsiteX5" fmla="*/ 14713 w 754383"/>
              <a:gd name="connsiteY5" fmla="*/ 1249362 h 1249362"/>
              <a:gd name="connsiteX6" fmla="*/ 3292 w 754383"/>
              <a:gd name="connsiteY6" fmla="*/ 1225044 h 1249362"/>
              <a:gd name="connsiteX7" fmla="*/ 141764 w 754383"/>
              <a:gd name="connsiteY7" fmla="*/ 1057675 h 1249362"/>
              <a:gd name="connsiteX8" fmla="*/ 146047 w 754383"/>
              <a:gd name="connsiteY8" fmla="*/ 1054099 h 1249362"/>
              <a:gd name="connsiteX9" fmla="*/ 93070 w 754383"/>
              <a:gd name="connsiteY9" fmla="*/ 898524 h 1249362"/>
              <a:gd name="connsiteX10" fmla="*/ 648699 w 754383"/>
              <a:gd name="connsiteY10" fmla="*/ 898524 h 1249362"/>
              <a:gd name="connsiteX11" fmla="*/ 655841 w 754383"/>
              <a:gd name="connsiteY11" fmla="*/ 905682 h 1249362"/>
              <a:gd name="connsiteX12" fmla="*/ 655841 w 754383"/>
              <a:gd name="connsiteY12" fmla="*/ 1015192 h 1249362"/>
              <a:gd name="connsiteX13" fmla="*/ 648699 w 754383"/>
              <a:gd name="connsiteY13" fmla="*/ 1022349 h 1249362"/>
              <a:gd name="connsiteX14" fmla="*/ 93070 w 754383"/>
              <a:gd name="connsiteY14" fmla="*/ 1022349 h 1249362"/>
              <a:gd name="connsiteX15" fmla="*/ 85928 w 754383"/>
              <a:gd name="connsiteY15" fmla="*/ 1015192 h 1249362"/>
              <a:gd name="connsiteX16" fmla="*/ 85928 w 754383"/>
              <a:gd name="connsiteY16" fmla="*/ 905682 h 1249362"/>
              <a:gd name="connsiteX17" fmla="*/ 93070 w 754383"/>
              <a:gd name="connsiteY17" fmla="*/ 898524 h 1249362"/>
              <a:gd name="connsiteX18" fmla="*/ 384014 w 754383"/>
              <a:gd name="connsiteY18" fmla="*/ 0 h 1249362"/>
              <a:gd name="connsiteX19" fmla="*/ 396150 w 754383"/>
              <a:gd name="connsiteY19" fmla="*/ 4277 h 1249362"/>
              <a:gd name="connsiteX20" fmla="*/ 406858 w 754383"/>
              <a:gd name="connsiteY20" fmla="*/ 54174 h 1249362"/>
              <a:gd name="connsiteX21" fmla="*/ 401861 w 754383"/>
              <a:gd name="connsiteY21" fmla="*/ 81260 h 1249362"/>
              <a:gd name="connsiteX22" fmla="*/ 400434 w 754383"/>
              <a:gd name="connsiteY22" fmla="*/ 87676 h 1249362"/>
              <a:gd name="connsiteX23" fmla="*/ 432558 w 754383"/>
              <a:gd name="connsiteY23" fmla="*/ 99793 h 1249362"/>
              <a:gd name="connsiteX24" fmla="*/ 553205 w 754383"/>
              <a:gd name="connsiteY24" fmla="*/ 157531 h 1249362"/>
              <a:gd name="connsiteX25" fmla="*/ 580333 w 754383"/>
              <a:gd name="connsiteY25" fmla="*/ 200299 h 1249362"/>
              <a:gd name="connsiteX26" fmla="*/ 587472 w 754383"/>
              <a:gd name="connsiteY26" fmla="*/ 212417 h 1249362"/>
              <a:gd name="connsiteX27" fmla="*/ 613885 w 754383"/>
              <a:gd name="connsiteY27" fmla="*/ 230950 h 1249362"/>
              <a:gd name="connsiteX28" fmla="*/ 740957 w 754383"/>
              <a:gd name="connsiteY28" fmla="*/ 335733 h 1249362"/>
              <a:gd name="connsiteX29" fmla="*/ 703835 w 754383"/>
              <a:gd name="connsiteY29" fmla="*/ 501817 h 1249362"/>
              <a:gd name="connsiteX30" fmla="*/ 566055 w 754383"/>
              <a:gd name="connsiteY30" fmla="*/ 456910 h 1249362"/>
              <a:gd name="connsiteX31" fmla="*/ 536072 w 754383"/>
              <a:gd name="connsiteY31" fmla="*/ 436239 h 1249362"/>
              <a:gd name="connsiteX32" fmla="*/ 499664 w 754383"/>
              <a:gd name="connsiteY32" fmla="*/ 449069 h 1249362"/>
              <a:gd name="connsiteX33" fmla="*/ 434700 w 754383"/>
              <a:gd name="connsiteY33" fmla="*/ 471879 h 1249362"/>
              <a:gd name="connsiteX34" fmla="*/ 457544 w 754383"/>
              <a:gd name="connsiteY34" fmla="*/ 509658 h 1249362"/>
              <a:gd name="connsiteX35" fmla="*/ 462542 w 754383"/>
              <a:gd name="connsiteY35" fmla="*/ 514648 h 1249362"/>
              <a:gd name="connsiteX36" fmla="*/ 567483 w 754383"/>
              <a:gd name="connsiteY36" fmla="*/ 657209 h 1249362"/>
              <a:gd name="connsiteX37" fmla="*/ 597466 w 754383"/>
              <a:gd name="connsiteY37" fmla="*/ 866775 h 1249362"/>
              <a:gd name="connsiteX38" fmla="*/ 563200 w 754383"/>
              <a:gd name="connsiteY38" fmla="*/ 866775 h 1249362"/>
              <a:gd name="connsiteX39" fmla="*/ 565341 w 754383"/>
              <a:gd name="connsiteY39" fmla="*/ 861073 h 1249362"/>
              <a:gd name="connsiteX40" fmla="*/ 439697 w 754383"/>
              <a:gd name="connsiteY40" fmla="*/ 536032 h 1249362"/>
              <a:gd name="connsiteX41" fmla="*/ 433986 w 754383"/>
              <a:gd name="connsiteY41" fmla="*/ 529617 h 1249362"/>
              <a:gd name="connsiteX42" fmla="*/ 395436 w 754383"/>
              <a:gd name="connsiteY42" fmla="*/ 462613 h 1249362"/>
              <a:gd name="connsiteX43" fmla="*/ 397578 w 754383"/>
              <a:gd name="connsiteY43" fmla="*/ 445505 h 1249362"/>
              <a:gd name="connsiteX44" fmla="*/ 414711 w 754383"/>
              <a:gd name="connsiteY44" fmla="*/ 441229 h 1249362"/>
              <a:gd name="connsiteX45" fmla="*/ 487528 w 754383"/>
              <a:gd name="connsiteY45" fmla="*/ 420557 h 1249362"/>
              <a:gd name="connsiteX46" fmla="*/ 533216 w 754383"/>
              <a:gd name="connsiteY46" fmla="*/ 404875 h 1249362"/>
              <a:gd name="connsiteX47" fmla="*/ 585330 w 754383"/>
              <a:gd name="connsiteY47" fmla="*/ 431962 h 1249362"/>
              <a:gd name="connsiteX48" fmla="*/ 690271 w 754383"/>
              <a:gd name="connsiteY48" fmla="*/ 473305 h 1249362"/>
              <a:gd name="connsiteX49" fmla="*/ 711688 w 754383"/>
              <a:gd name="connsiteY49" fmla="*/ 348563 h 1249362"/>
              <a:gd name="connsiteX50" fmla="*/ 595324 w 754383"/>
              <a:gd name="connsiteY50" fmla="*/ 256611 h 1249362"/>
              <a:gd name="connsiteX51" fmla="*/ 566769 w 754383"/>
              <a:gd name="connsiteY51" fmla="*/ 235227 h 1249362"/>
              <a:gd name="connsiteX52" fmla="*/ 552491 w 754383"/>
              <a:gd name="connsiteY52" fmla="*/ 213843 h 1249362"/>
              <a:gd name="connsiteX53" fmla="*/ 529647 w 754383"/>
              <a:gd name="connsiteY53" fmla="*/ 177489 h 1249362"/>
              <a:gd name="connsiteX54" fmla="*/ 422564 w 754383"/>
              <a:gd name="connsiteY54" fmla="*/ 129731 h 1249362"/>
              <a:gd name="connsiteX55" fmla="*/ 383300 w 754383"/>
              <a:gd name="connsiteY55" fmla="*/ 114762 h 1249362"/>
              <a:gd name="connsiteX56" fmla="*/ 371164 w 754383"/>
              <a:gd name="connsiteY56" fmla="*/ 74132 h 1249362"/>
              <a:gd name="connsiteX57" fmla="*/ 375448 w 754383"/>
              <a:gd name="connsiteY57" fmla="*/ 51322 h 1249362"/>
              <a:gd name="connsiteX58" fmla="*/ 375448 w 754383"/>
              <a:gd name="connsiteY58" fmla="*/ 33502 h 1249362"/>
              <a:gd name="connsiteX59" fmla="*/ 296920 w 754383"/>
              <a:gd name="connsiteY59" fmla="*/ 106921 h 1249362"/>
              <a:gd name="connsiteX60" fmla="*/ 294778 w 754383"/>
              <a:gd name="connsiteY60" fmla="*/ 109773 h 1249362"/>
              <a:gd name="connsiteX61" fmla="*/ 156285 w 754383"/>
              <a:gd name="connsiteY61" fmla="*/ 258750 h 1249362"/>
              <a:gd name="connsiteX62" fmla="*/ 143435 w 754383"/>
              <a:gd name="connsiteY62" fmla="*/ 303657 h 1249362"/>
              <a:gd name="connsiteX63" fmla="*/ 280501 w 754383"/>
              <a:gd name="connsiteY63" fmla="*/ 520350 h 1249362"/>
              <a:gd name="connsiteX64" fmla="*/ 277645 w 754383"/>
              <a:gd name="connsiteY64" fmla="*/ 540309 h 1249362"/>
              <a:gd name="connsiteX65" fmla="*/ 256942 w 754383"/>
              <a:gd name="connsiteY65" fmla="*/ 540309 h 1249362"/>
              <a:gd name="connsiteX66" fmla="*/ 121304 w 754383"/>
              <a:gd name="connsiteY66" fmla="*/ 419844 h 1249362"/>
              <a:gd name="connsiteX67" fmla="*/ 124874 w 754383"/>
              <a:gd name="connsiteY67" fmla="*/ 476869 h 1249362"/>
              <a:gd name="connsiteX68" fmla="*/ 251945 w 754383"/>
              <a:gd name="connsiteY68" fmla="*/ 627272 h 1249362"/>
              <a:gd name="connsiteX69" fmla="*/ 252659 w 754383"/>
              <a:gd name="connsiteY69" fmla="*/ 647943 h 1249362"/>
              <a:gd name="connsiteX70" fmla="*/ 232670 w 754383"/>
              <a:gd name="connsiteY70" fmla="*/ 650794 h 1249362"/>
              <a:gd name="connsiteX71" fmla="*/ 125587 w 754383"/>
              <a:gd name="connsiteY71" fmla="*/ 585929 h 1249362"/>
              <a:gd name="connsiteX72" fmla="*/ 129157 w 754383"/>
              <a:gd name="connsiteY72" fmla="*/ 618718 h 1249362"/>
              <a:gd name="connsiteX73" fmla="*/ 222676 w 754383"/>
              <a:gd name="connsiteY73" fmla="*/ 717085 h 1249362"/>
              <a:gd name="connsiteX74" fmla="*/ 224818 w 754383"/>
              <a:gd name="connsiteY74" fmla="*/ 737044 h 1249362"/>
              <a:gd name="connsiteX75" fmla="*/ 205543 w 754383"/>
              <a:gd name="connsiteY75" fmla="*/ 743459 h 1249362"/>
              <a:gd name="connsiteX76" fmla="*/ 144148 w 754383"/>
              <a:gd name="connsiteY76" fmla="*/ 723501 h 1249362"/>
              <a:gd name="connsiteX77" fmla="*/ 152715 w 754383"/>
              <a:gd name="connsiteY77" fmla="*/ 866775 h 1249362"/>
              <a:gd name="connsiteX78" fmla="*/ 121304 w 754383"/>
              <a:gd name="connsiteY78" fmla="*/ 866775 h 1249362"/>
              <a:gd name="connsiteX79" fmla="*/ 114879 w 754383"/>
              <a:gd name="connsiteY79" fmla="*/ 791930 h 1249362"/>
              <a:gd name="connsiteX80" fmla="*/ 124874 w 754383"/>
              <a:gd name="connsiteY80" fmla="*/ 694276 h 1249362"/>
              <a:gd name="connsiteX81" fmla="*/ 153429 w 754383"/>
              <a:gd name="connsiteY81" fmla="*/ 692850 h 1249362"/>
              <a:gd name="connsiteX82" fmla="*/ 99174 w 754383"/>
              <a:gd name="connsiteY82" fmla="*/ 627272 h 1249362"/>
              <a:gd name="connsiteX83" fmla="*/ 104885 w 754383"/>
              <a:gd name="connsiteY83" fmla="*/ 551714 h 1249362"/>
              <a:gd name="connsiteX84" fmla="*/ 127729 w 754383"/>
              <a:gd name="connsiteY84" fmla="*/ 550288 h 1249362"/>
              <a:gd name="connsiteX85" fmla="*/ 157712 w 754383"/>
              <a:gd name="connsiteY85" fmla="*/ 568108 h 1249362"/>
              <a:gd name="connsiteX86" fmla="*/ 94890 w 754383"/>
              <a:gd name="connsiteY86" fmla="*/ 485423 h 1249362"/>
              <a:gd name="connsiteX87" fmla="*/ 99174 w 754383"/>
              <a:gd name="connsiteY87" fmla="*/ 386342 h 1249362"/>
              <a:gd name="connsiteX88" fmla="*/ 117735 w 754383"/>
              <a:gd name="connsiteY88" fmla="*/ 380640 h 1249362"/>
              <a:gd name="connsiteX89" fmla="*/ 189123 w 754383"/>
              <a:gd name="connsiteY89" fmla="*/ 436239 h 1249362"/>
              <a:gd name="connsiteX90" fmla="*/ 184126 w 754383"/>
              <a:gd name="connsiteY90" fmla="*/ 429111 h 1249362"/>
              <a:gd name="connsiteX91" fmla="*/ 112024 w 754383"/>
              <a:gd name="connsiteY91" fmla="*/ 306508 h 1249362"/>
              <a:gd name="connsiteX92" fmla="*/ 136296 w 754383"/>
              <a:gd name="connsiteY92" fmla="*/ 234514 h 1249362"/>
              <a:gd name="connsiteX93" fmla="*/ 269078 w 754383"/>
              <a:gd name="connsiteY93" fmla="*/ 92665 h 1249362"/>
              <a:gd name="connsiteX94" fmla="*/ 271220 w 754383"/>
              <a:gd name="connsiteY94" fmla="*/ 89101 h 1249362"/>
              <a:gd name="connsiteX95" fmla="*/ 384014 w 754383"/>
              <a:gd name="connsiteY95" fmla="*/ 0 h 1249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754383" h="1249362">
                <a:moveTo>
                  <a:pt x="146047" y="1054099"/>
                </a:moveTo>
                <a:cubicBezTo>
                  <a:pt x="146047" y="1054099"/>
                  <a:pt x="146047" y="1054099"/>
                  <a:pt x="595723" y="1054099"/>
                </a:cubicBezTo>
                <a:cubicBezTo>
                  <a:pt x="597151" y="1055530"/>
                  <a:pt x="598578" y="1056245"/>
                  <a:pt x="600006" y="1057675"/>
                </a:cubicBezTo>
                <a:cubicBezTo>
                  <a:pt x="600006" y="1057675"/>
                  <a:pt x="600006" y="1057675"/>
                  <a:pt x="738478" y="1225044"/>
                </a:cubicBezTo>
                <a:cubicBezTo>
                  <a:pt x="746329" y="1234342"/>
                  <a:pt x="739192" y="1249362"/>
                  <a:pt x="727057" y="1249362"/>
                </a:cubicBezTo>
                <a:cubicBezTo>
                  <a:pt x="727057" y="1249362"/>
                  <a:pt x="727057" y="1249362"/>
                  <a:pt x="14713" y="1249362"/>
                </a:cubicBezTo>
                <a:cubicBezTo>
                  <a:pt x="2578" y="1249362"/>
                  <a:pt x="-4559" y="1234342"/>
                  <a:pt x="3292" y="1225044"/>
                </a:cubicBezTo>
                <a:cubicBezTo>
                  <a:pt x="3292" y="1225044"/>
                  <a:pt x="3292" y="1225044"/>
                  <a:pt x="141764" y="1057675"/>
                </a:cubicBezTo>
                <a:cubicBezTo>
                  <a:pt x="143192" y="1056245"/>
                  <a:pt x="144620" y="1055530"/>
                  <a:pt x="146047" y="1054099"/>
                </a:cubicBezTo>
                <a:close/>
                <a:moveTo>
                  <a:pt x="93070" y="898524"/>
                </a:moveTo>
                <a:cubicBezTo>
                  <a:pt x="93070" y="898524"/>
                  <a:pt x="93070" y="898524"/>
                  <a:pt x="648699" y="898524"/>
                </a:cubicBezTo>
                <a:cubicBezTo>
                  <a:pt x="652270" y="898524"/>
                  <a:pt x="655841" y="902103"/>
                  <a:pt x="655841" y="905682"/>
                </a:cubicBezTo>
                <a:cubicBezTo>
                  <a:pt x="655841" y="905682"/>
                  <a:pt x="655841" y="905682"/>
                  <a:pt x="655841" y="1015192"/>
                </a:cubicBezTo>
                <a:cubicBezTo>
                  <a:pt x="655841" y="1019486"/>
                  <a:pt x="652270" y="1022349"/>
                  <a:pt x="648699" y="1022349"/>
                </a:cubicBezTo>
                <a:cubicBezTo>
                  <a:pt x="648699" y="1022349"/>
                  <a:pt x="648699" y="1022349"/>
                  <a:pt x="93070" y="1022349"/>
                </a:cubicBezTo>
                <a:cubicBezTo>
                  <a:pt x="89499" y="1022349"/>
                  <a:pt x="85928" y="1019486"/>
                  <a:pt x="85928" y="1015192"/>
                </a:cubicBezTo>
                <a:cubicBezTo>
                  <a:pt x="85928" y="1015192"/>
                  <a:pt x="85928" y="1015192"/>
                  <a:pt x="85928" y="905682"/>
                </a:cubicBezTo>
                <a:cubicBezTo>
                  <a:pt x="85928" y="902103"/>
                  <a:pt x="89499" y="898524"/>
                  <a:pt x="93070" y="898524"/>
                </a:cubicBezTo>
                <a:close/>
                <a:moveTo>
                  <a:pt x="384014" y="0"/>
                </a:moveTo>
                <a:cubicBezTo>
                  <a:pt x="388297" y="0"/>
                  <a:pt x="392581" y="1426"/>
                  <a:pt x="396150" y="4277"/>
                </a:cubicBezTo>
                <a:cubicBezTo>
                  <a:pt x="400434" y="7841"/>
                  <a:pt x="409714" y="19959"/>
                  <a:pt x="406858" y="54174"/>
                </a:cubicBezTo>
                <a:cubicBezTo>
                  <a:pt x="405431" y="66291"/>
                  <a:pt x="403289" y="74845"/>
                  <a:pt x="401861" y="81260"/>
                </a:cubicBezTo>
                <a:cubicBezTo>
                  <a:pt x="401147" y="83399"/>
                  <a:pt x="400434" y="86250"/>
                  <a:pt x="400434" y="87676"/>
                </a:cubicBezTo>
                <a:cubicBezTo>
                  <a:pt x="404003" y="89814"/>
                  <a:pt x="418995" y="95516"/>
                  <a:pt x="432558" y="99793"/>
                </a:cubicBezTo>
                <a:cubicBezTo>
                  <a:pt x="488242" y="119039"/>
                  <a:pt x="536072" y="136147"/>
                  <a:pt x="553205" y="157531"/>
                </a:cubicBezTo>
                <a:cubicBezTo>
                  <a:pt x="568197" y="175351"/>
                  <a:pt x="575336" y="189607"/>
                  <a:pt x="580333" y="200299"/>
                </a:cubicBezTo>
                <a:cubicBezTo>
                  <a:pt x="583188" y="205289"/>
                  <a:pt x="585330" y="210279"/>
                  <a:pt x="587472" y="212417"/>
                </a:cubicBezTo>
                <a:cubicBezTo>
                  <a:pt x="589613" y="214555"/>
                  <a:pt x="601749" y="223109"/>
                  <a:pt x="613885" y="230950"/>
                </a:cubicBezTo>
                <a:cubicBezTo>
                  <a:pt x="690271" y="285123"/>
                  <a:pt x="733104" y="317913"/>
                  <a:pt x="740957" y="335733"/>
                </a:cubicBezTo>
                <a:cubicBezTo>
                  <a:pt x="751665" y="362107"/>
                  <a:pt x="778079" y="466890"/>
                  <a:pt x="703835" y="501817"/>
                </a:cubicBezTo>
                <a:cubicBezTo>
                  <a:pt x="654577" y="525340"/>
                  <a:pt x="601035" y="483997"/>
                  <a:pt x="566055" y="456910"/>
                </a:cubicBezTo>
                <a:cubicBezTo>
                  <a:pt x="555347" y="448357"/>
                  <a:pt x="541069" y="437664"/>
                  <a:pt x="536072" y="436239"/>
                </a:cubicBezTo>
                <a:cubicBezTo>
                  <a:pt x="528933" y="437664"/>
                  <a:pt x="513228" y="443367"/>
                  <a:pt x="499664" y="449069"/>
                </a:cubicBezTo>
                <a:cubicBezTo>
                  <a:pt x="473964" y="459762"/>
                  <a:pt x="452547" y="468315"/>
                  <a:pt x="434700" y="471879"/>
                </a:cubicBezTo>
                <a:cubicBezTo>
                  <a:pt x="441839" y="485423"/>
                  <a:pt x="451119" y="501104"/>
                  <a:pt x="457544" y="509658"/>
                </a:cubicBezTo>
                <a:cubicBezTo>
                  <a:pt x="458972" y="510371"/>
                  <a:pt x="460400" y="512509"/>
                  <a:pt x="462542" y="514648"/>
                </a:cubicBezTo>
                <a:cubicBezTo>
                  <a:pt x="479675" y="533181"/>
                  <a:pt x="530361" y="589493"/>
                  <a:pt x="567483" y="657209"/>
                </a:cubicBezTo>
                <a:cubicBezTo>
                  <a:pt x="613885" y="739895"/>
                  <a:pt x="623880" y="810463"/>
                  <a:pt x="597466" y="866775"/>
                </a:cubicBezTo>
                <a:cubicBezTo>
                  <a:pt x="597466" y="866775"/>
                  <a:pt x="597466" y="866775"/>
                  <a:pt x="563200" y="866775"/>
                </a:cubicBezTo>
                <a:cubicBezTo>
                  <a:pt x="563200" y="864637"/>
                  <a:pt x="563913" y="863211"/>
                  <a:pt x="565341" y="861073"/>
                </a:cubicBezTo>
                <a:cubicBezTo>
                  <a:pt x="606747" y="786941"/>
                  <a:pt x="561772" y="671466"/>
                  <a:pt x="439697" y="536032"/>
                </a:cubicBezTo>
                <a:cubicBezTo>
                  <a:pt x="436842" y="533181"/>
                  <a:pt x="434700" y="531042"/>
                  <a:pt x="433986" y="529617"/>
                </a:cubicBezTo>
                <a:cubicBezTo>
                  <a:pt x="417567" y="510371"/>
                  <a:pt x="397578" y="467602"/>
                  <a:pt x="395436" y="462613"/>
                </a:cubicBezTo>
                <a:cubicBezTo>
                  <a:pt x="392581" y="456910"/>
                  <a:pt x="393295" y="449782"/>
                  <a:pt x="397578" y="445505"/>
                </a:cubicBezTo>
                <a:cubicBezTo>
                  <a:pt x="401861" y="440516"/>
                  <a:pt x="409000" y="439090"/>
                  <a:pt x="414711" y="441229"/>
                </a:cubicBezTo>
                <a:cubicBezTo>
                  <a:pt x="426133" y="445505"/>
                  <a:pt x="466111" y="429111"/>
                  <a:pt x="487528" y="420557"/>
                </a:cubicBezTo>
                <a:cubicBezTo>
                  <a:pt x="506803" y="412716"/>
                  <a:pt x="522508" y="406301"/>
                  <a:pt x="533216" y="404875"/>
                </a:cubicBezTo>
                <a:cubicBezTo>
                  <a:pt x="547494" y="403450"/>
                  <a:pt x="562486" y="414855"/>
                  <a:pt x="585330" y="431962"/>
                </a:cubicBezTo>
                <a:cubicBezTo>
                  <a:pt x="616027" y="455485"/>
                  <a:pt x="658860" y="488274"/>
                  <a:pt x="690271" y="473305"/>
                </a:cubicBezTo>
                <a:cubicBezTo>
                  <a:pt x="741671" y="449782"/>
                  <a:pt x="718827" y="364245"/>
                  <a:pt x="711688" y="348563"/>
                </a:cubicBezTo>
                <a:cubicBezTo>
                  <a:pt x="704549" y="333594"/>
                  <a:pt x="625308" y="277995"/>
                  <a:pt x="595324" y="256611"/>
                </a:cubicBezTo>
                <a:cubicBezTo>
                  <a:pt x="577477" y="244493"/>
                  <a:pt x="569625" y="238791"/>
                  <a:pt x="566769" y="235227"/>
                </a:cubicBezTo>
                <a:cubicBezTo>
                  <a:pt x="559630" y="229524"/>
                  <a:pt x="556061" y="222396"/>
                  <a:pt x="552491" y="213843"/>
                </a:cubicBezTo>
                <a:cubicBezTo>
                  <a:pt x="547494" y="203863"/>
                  <a:pt x="541783" y="192458"/>
                  <a:pt x="529647" y="177489"/>
                </a:cubicBezTo>
                <a:cubicBezTo>
                  <a:pt x="516083" y="161808"/>
                  <a:pt x="455403" y="140423"/>
                  <a:pt x="422564" y="129731"/>
                </a:cubicBezTo>
                <a:cubicBezTo>
                  <a:pt x="400434" y="121890"/>
                  <a:pt x="389011" y="118326"/>
                  <a:pt x="383300" y="114762"/>
                </a:cubicBezTo>
                <a:cubicBezTo>
                  <a:pt x="364025" y="102645"/>
                  <a:pt x="368309" y="86250"/>
                  <a:pt x="371164" y="74132"/>
                </a:cubicBezTo>
                <a:cubicBezTo>
                  <a:pt x="372592" y="67717"/>
                  <a:pt x="374734" y="60589"/>
                  <a:pt x="375448" y="51322"/>
                </a:cubicBezTo>
                <a:cubicBezTo>
                  <a:pt x="376161" y="43481"/>
                  <a:pt x="376161" y="37779"/>
                  <a:pt x="375448" y="33502"/>
                </a:cubicBezTo>
                <a:cubicBezTo>
                  <a:pt x="339039" y="44907"/>
                  <a:pt x="308342" y="90527"/>
                  <a:pt x="296920" y="106921"/>
                </a:cubicBezTo>
                <a:cubicBezTo>
                  <a:pt x="296920" y="106921"/>
                  <a:pt x="296920" y="106921"/>
                  <a:pt x="294778" y="109773"/>
                </a:cubicBezTo>
                <a:cubicBezTo>
                  <a:pt x="281928" y="129018"/>
                  <a:pt x="171990" y="245919"/>
                  <a:pt x="156285" y="258750"/>
                </a:cubicBezTo>
                <a:cubicBezTo>
                  <a:pt x="149146" y="264452"/>
                  <a:pt x="144148" y="288688"/>
                  <a:pt x="143435" y="303657"/>
                </a:cubicBezTo>
                <a:cubicBezTo>
                  <a:pt x="154143" y="324328"/>
                  <a:pt x="231956" y="445505"/>
                  <a:pt x="280501" y="520350"/>
                </a:cubicBezTo>
                <a:cubicBezTo>
                  <a:pt x="284784" y="526766"/>
                  <a:pt x="283356" y="535319"/>
                  <a:pt x="277645" y="540309"/>
                </a:cubicBezTo>
                <a:cubicBezTo>
                  <a:pt x="271220" y="546011"/>
                  <a:pt x="262654" y="545299"/>
                  <a:pt x="256942" y="540309"/>
                </a:cubicBezTo>
                <a:cubicBezTo>
                  <a:pt x="204829" y="491838"/>
                  <a:pt x="147004" y="440516"/>
                  <a:pt x="121304" y="419844"/>
                </a:cubicBezTo>
                <a:cubicBezTo>
                  <a:pt x="119876" y="436952"/>
                  <a:pt x="121304" y="464751"/>
                  <a:pt x="124874" y="476869"/>
                </a:cubicBezTo>
                <a:cubicBezTo>
                  <a:pt x="130585" y="490412"/>
                  <a:pt x="194120" y="563832"/>
                  <a:pt x="251945" y="627272"/>
                </a:cubicBezTo>
                <a:cubicBezTo>
                  <a:pt x="257656" y="632974"/>
                  <a:pt x="257656" y="641528"/>
                  <a:pt x="252659" y="647943"/>
                </a:cubicBezTo>
                <a:cubicBezTo>
                  <a:pt x="247662" y="653645"/>
                  <a:pt x="239095" y="655071"/>
                  <a:pt x="232670" y="650794"/>
                </a:cubicBezTo>
                <a:cubicBezTo>
                  <a:pt x="231243" y="650794"/>
                  <a:pt x="157712" y="605174"/>
                  <a:pt x="125587" y="585929"/>
                </a:cubicBezTo>
                <a:cubicBezTo>
                  <a:pt x="125587" y="595908"/>
                  <a:pt x="127015" y="610164"/>
                  <a:pt x="129157" y="618718"/>
                </a:cubicBezTo>
                <a:cubicBezTo>
                  <a:pt x="134868" y="629410"/>
                  <a:pt x="181984" y="677881"/>
                  <a:pt x="222676" y="717085"/>
                </a:cubicBezTo>
                <a:cubicBezTo>
                  <a:pt x="228387" y="722788"/>
                  <a:pt x="229101" y="730629"/>
                  <a:pt x="224818" y="737044"/>
                </a:cubicBezTo>
                <a:cubicBezTo>
                  <a:pt x="220534" y="743459"/>
                  <a:pt x="212682" y="746311"/>
                  <a:pt x="205543" y="743459"/>
                </a:cubicBezTo>
                <a:cubicBezTo>
                  <a:pt x="181984" y="733480"/>
                  <a:pt x="156998" y="725639"/>
                  <a:pt x="144148" y="723501"/>
                </a:cubicBezTo>
                <a:cubicBezTo>
                  <a:pt x="142721" y="746311"/>
                  <a:pt x="147004" y="811889"/>
                  <a:pt x="152715" y="866775"/>
                </a:cubicBezTo>
                <a:cubicBezTo>
                  <a:pt x="152715" y="866775"/>
                  <a:pt x="152715" y="866775"/>
                  <a:pt x="121304" y="866775"/>
                </a:cubicBezTo>
                <a:cubicBezTo>
                  <a:pt x="119876" y="856796"/>
                  <a:pt x="117021" y="824007"/>
                  <a:pt x="114879" y="791930"/>
                </a:cubicBezTo>
                <a:cubicBezTo>
                  <a:pt x="109168" y="707106"/>
                  <a:pt x="114879" y="699265"/>
                  <a:pt x="124874" y="694276"/>
                </a:cubicBezTo>
                <a:cubicBezTo>
                  <a:pt x="127729" y="692137"/>
                  <a:pt x="134154" y="689286"/>
                  <a:pt x="153429" y="692850"/>
                </a:cubicBezTo>
                <a:cubicBezTo>
                  <a:pt x="125587" y="664338"/>
                  <a:pt x="102029" y="638676"/>
                  <a:pt x="99174" y="627272"/>
                </a:cubicBezTo>
                <a:cubicBezTo>
                  <a:pt x="99174" y="626559"/>
                  <a:pt x="84182" y="567396"/>
                  <a:pt x="104885" y="551714"/>
                </a:cubicBezTo>
                <a:cubicBezTo>
                  <a:pt x="111310" y="546724"/>
                  <a:pt x="119876" y="546011"/>
                  <a:pt x="127729" y="550288"/>
                </a:cubicBezTo>
                <a:cubicBezTo>
                  <a:pt x="132012" y="553139"/>
                  <a:pt x="143435" y="559555"/>
                  <a:pt x="157712" y="568108"/>
                </a:cubicBezTo>
                <a:cubicBezTo>
                  <a:pt x="125587" y="531755"/>
                  <a:pt x="97746" y="497540"/>
                  <a:pt x="94890" y="485423"/>
                </a:cubicBezTo>
                <a:cubicBezTo>
                  <a:pt x="91321" y="473305"/>
                  <a:pt x="82754" y="404162"/>
                  <a:pt x="99174" y="386342"/>
                </a:cubicBezTo>
                <a:cubicBezTo>
                  <a:pt x="104171" y="381353"/>
                  <a:pt x="111310" y="379214"/>
                  <a:pt x="117735" y="380640"/>
                </a:cubicBezTo>
                <a:cubicBezTo>
                  <a:pt x="122732" y="381353"/>
                  <a:pt x="128443" y="382778"/>
                  <a:pt x="189123" y="436239"/>
                </a:cubicBezTo>
                <a:cubicBezTo>
                  <a:pt x="187695" y="434100"/>
                  <a:pt x="186268" y="431249"/>
                  <a:pt x="184126" y="429111"/>
                </a:cubicBezTo>
                <a:cubicBezTo>
                  <a:pt x="112024" y="316487"/>
                  <a:pt x="112024" y="312923"/>
                  <a:pt x="112024" y="306508"/>
                </a:cubicBezTo>
                <a:cubicBezTo>
                  <a:pt x="112024" y="306508"/>
                  <a:pt x="112737" y="253760"/>
                  <a:pt x="136296" y="234514"/>
                </a:cubicBezTo>
                <a:cubicBezTo>
                  <a:pt x="152001" y="221684"/>
                  <a:pt x="258370" y="106921"/>
                  <a:pt x="269078" y="92665"/>
                </a:cubicBezTo>
                <a:cubicBezTo>
                  <a:pt x="269078" y="92665"/>
                  <a:pt x="269078" y="92665"/>
                  <a:pt x="271220" y="89101"/>
                </a:cubicBezTo>
                <a:cubicBezTo>
                  <a:pt x="286926" y="66291"/>
                  <a:pt x="327617" y="4990"/>
                  <a:pt x="384014"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a:solidFill>
                <a:schemeClr val="tx2"/>
              </a:solidFill>
            </a:endParaRPr>
          </a:p>
        </p:txBody>
      </p:sp>
      <p:sp>
        <p:nvSpPr>
          <p:cNvPr id="97" name="Oval 20">
            <a:extLst>
              <a:ext uri="{FF2B5EF4-FFF2-40B4-BE49-F238E27FC236}">
                <a16:creationId xmlns:a16="http://schemas.microsoft.com/office/drawing/2014/main" id="{E3CBDE83-42D9-4894-9940-BC6AF9AD97CA}"/>
              </a:ext>
            </a:extLst>
          </p:cNvPr>
          <p:cNvSpPr>
            <a:spLocks noChangeAspect="1" noChangeArrowheads="1"/>
          </p:cNvSpPr>
          <p:nvPr/>
        </p:nvSpPr>
        <p:spPr bwMode="auto">
          <a:xfrm>
            <a:off x="116609" y="72122"/>
            <a:ext cx="253645" cy="253645"/>
          </a:xfrm>
          <a:prstGeom prst="ellipse">
            <a:avLst/>
          </a:prstGeom>
          <a:solidFill>
            <a:srgbClr val="03522D"/>
          </a:solidFill>
          <a:ln>
            <a:noFill/>
          </a:ln>
        </p:spPr>
        <p:txBody>
          <a:bodyPr vert="horz" wrap="square" lIns="0" tIns="0" rIns="0" bIns="0" numCol="1" anchor="ctr" anchorCtr="0" compatLnSpc="1">
            <a:prstTxWarp prst="textNoShape">
              <a:avLst/>
            </a:prstTxWarp>
          </a:bodyPr>
          <a:lstStyle/>
          <a:p>
            <a:pPr algn="ctr"/>
            <a:r>
              <a:rPr lang="en-US" sz="1200">
                <a:solidFill>
                  <a:schemeClr val="bg1"/>
                </a:solidFill>
              </a:rPr>
              <a:t>A1</a:t>
            </a:r>
          </a:p>
        </p:txBody>
      </p:sp>
      <p:sp>
        <p:nvSpPr>
          <p:cNvPr id="98" name="ee4pHeader1">
            <a:extLst>
              <a:ext uri="{FF2B5EF4-FFF2-40B4-BE49-F238E27FC236}">
                <a16:creationId xmlns:a16="http://schemas.microsoft.com/office/drawing/2014/main" id="{56341461-6ED4-4C9F-8A21-2566EC805328}"/>
              </a:ext>
            </a:extLst>
          </p:cNvPr>
          <p:cNvSpPr txBox="1"/>
          <p:nvPr/>
        </p:nvSpPr>
        <p:spPr>
          <a:xfrm>
            <a:off x="480854" y="106611"/>
            <a:ext cx="2011680" cy="184666"/>
          </a:xfrm>
          <a:prstGeom prst="rect">
            <a:avLst/>
          </a:prstGeom>
          <a:noFill/>
          <a:ln cap="rnd">
            <a:noFill/>
          </a:ln>
        </p:spPr>
        <p:txBody>
          <a:bodyPr wrap="square" lIns="0" tIns="0" rIns="0" bIns="0" rtlCol="0" anchor="b" anchorCtr="0">
            <a:spAutoFit/>
          </a:bodyPr>
          <a:lstStyle/>
          <a:p>
            <a:pPr marL="0" marR="0" lvl="3"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a:ln>
                  <a:noFill/>
                </a:ln>
                <a:solidFill>
                  <a:srgbClr val="575757"/>
                </a:solidFill>
                <a:effectLst/>
                <a:uLnTx/>
                <a:uFillTx/>
                <a:latin typeface="Trebuchet MS"/>
                <a:ea typeface="+mn-ea"/>
                <a:cs typeface="+mn-cs"/>
              </a:rPr>
              <a:t>Dormant base activation </a:t>
            </a:r>
          </a:p>
        </p:txBody>
      </p:sp>
      <p:sp>
        <p:nvSpPr>
          <p:cNvPr id="99" name="Oval 20">
            <a:extLst>
              <a:ext uri="{FF2B5EF4-FFF2-40B4-BE49-F238E27FC236}">
                <a16:creationId xmlns:a16="http://schemas.microsoft.com/office/drawing/2014/main" id="{ADF233FB-65BF-4E49-BC24-3FDF8A6812F4}"/>
              </a:ext>
            </a:extLst>
          </p:cNvPr>
          <p:cNvSpPr>
            <a:spLocks noChangeAspect="1" noChangeArrowheads="1"/>
          </p:cNvSpPr>
          <p:nvPr/>
        </p:nvSpPr>
        <p:spPr bwMode="auto">
          <a:xfrm>
            <a:off x="2423772" y="72122"/>
            <a:ext cx="253645" cy="253645"/>
          </a:xfrm>
          <a:prstGeom prst="ellipse">
            <a:avLst/>
          </a:prstGeom>
          <a:solidFill>
            <a:srgbClr val="03522D"/>
          </a:solidFill>
          <a:ln>
            <a:noFill/>
          </a:ln>
        </p:spPr>
        <p:txBody>
          <a:bodyPr vert="horz" wrap="square" lIns="0" tIns="0" rIns="0" bIns="0" numCol="1" anchor="ctr" anchorCtr="0" compatLnSpc="1">
            <a:prstTxWarp prst="textNoShape">
              <a:avLst/>
            </a:prstTxWarp>
          </a:bodyPr>
          <a:lstStyle/>
          <a:p>
            <a:pPr algn="ctr"/>
            <a:r>
              <a:rPr lang="en-US" sz="1200">
                <a:solidFill>
                  <a:schemeClr val="bg1"/>
                </a:solidFill>
              </a:rPr>
              <a:t>A3</a:t>
            </a:r>
          </a:p>
        </p:txBody>
      </p:sp>
      <p:sp>
        <p:nvSpPr>
          <p:cNvPr id="100" name="ee4pHeader1">
            <a:extLst>
              <a:ext uri="{FF2B5EF4-FFF2-40B4-BE49-F238E27FC236}">
                <a16:creationId xmlns:a16="http://schemas.microsoft.com/office/drawing/2014/main" id="{846D4579-22C0-44FD-AD1B-FC76EE1B1601}"/>
              </a:ext>
            </a:extLst>
          </p:cNvPr>
          <p:cNvSpPr txBox="1"/>
          <p:nvPr/>
        </p:nvSpPr>
        <p:spPr>
          <a:xfrm>
            <a:off x="2775998" y="106611"/>
            <a:ext cx="2011680" cy="184666"/>
          </a:xfrm>
          <a:prstGeom prst="rect">
            <a:avLst/>
          </a:prstGeom>
          <a:noFill/>
          <a:ln cap="rnd">
            <a:noFill/>
          </a:ln>
        </p:spPr>
        <p:txBody>
          <a:bodyPr wrap="square" lIns="0" tIns="0" rIns="0" bIns="0" rtlCol="0" anchor="b" anchorCtr="0">
            <a:spAutoFit/>
          </a:bodyPr>
          <a:lstStyle/>
          <a:p>
            <a:pPr marL="0" marR="0" lvl="3"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a:ln>
                  <a:noFill/>
                </a:ln>
                <a:solidFill>
                  <a:srgbClr val="575757"/>
                </a:solidFill>
                <a:effectLst/>
                <a:uLnTx/>
                <a:uFillTx/>
                <a:latin typeface="Trebuchet MS"/>
                <a:ea typeface="+mn-ea"/>
                <a:cs typeface="+mn-cs"/>
              </a:rPr>
              <a:t>Tactical customer acquisition</a:t>
            </a:r>
          </a:p>
        </p:txBody>
      </p:sp>
      <p:sp>
        <p:nvSpPr>
          <p:cNvPr id="80" name="Rectangle 79">
            <a:extLst>
              <a:ext uri="{FF2B5EF4-FFF2-40B4-BE49-F238E27FC236}">
                <a16:creationId xmlns:a16="http://schemas.microsoft.com/office/drawing/2014/main" id="{D52DCF55-E39F-4F7E-801F-1577C6001EAF}"/>
              </a:ext>
            </a:extLst>
          </p:cNvPr>
          <p:cNvSpPr/>
          <p:nvPr/>
        </p:nvSpPr>
        <p:spPr>
          <a:xfrm>
            <a:off x="3090609" y="3753927"/>
            <a:ext cx="1292166" cy="1199202"/>
          </a:xfrm>
          <a:prstGeom prst="rect">
            <a:avLst/>
          </a:prstGeom>
          <a:solidFill>
            <a:srgbClr val="29BA74"/>
          </a:solidFill>
          <a:ln w="19050" cap="rnd" cmpd="sng" algn="ctr">
            <a:solidFill>
              <a:srgbClr val="29BA74"/>
            </a:solidFill>
            <a:prstDash val="solid"/>
            <a:round/>
            <a:headEnd type="none" w="med" len="med"/>
            <a:tailEnd type="none" w="med" len="med"/>
          </a:ln>
          <a:effectLst/>
        </p:spPr>
        <p:txBody>
          <a:bodyPr lIns="45720" tIns="45720" rIns="45720" bIns="45720" rtlCol="0" anchor="ctr" anchorCtr="0"/>
          <a:lstStyle/>
          <a:p>
            <a:pPr lvl="0" algn="ctr">
              <a:defRPr/>
            </a:pPr>
            <a:r>
              <a:rPr lang="en-US" sz="1200" kern="0">
                <a:solidFill>
                  <a:srgbClr val="FFFFFF"/>
                </a:solidFill>
              </a:rPr>
              <a:t>Potential hook in re-activation, others require development of credit risk engine</a:t>
            </a:r>
          </a:p>
        </p:txBody>
      </p:sp>
      <p:sp>
        <p:nvSpPr>
          <p:cNvPr id="6" name="Textfeld 1">
            <a:extLst>
              <a:ext uri="{FF2B5EF4-FFF2-40B4-BE49-F238E27FC236}">
                <a16:creationId xmlns:a16="http://schemas.microsoft.com/office/drawing/2014/main" id="{2C5BD166-A721-5125-9084-232A5484BD6E}"/>
              </a:ext>
            </a:extLst>
          </p:cNvPr>
          <p:cNvSpPr txBox="1"/>
          <p:nvPr>
            <p:custDataLst>
              <p:tags r:id="rId2"/>
            </p:custDataLst>
          </p:nvPr>
        </p:nvSpPr>
        <p:spPr>
          <a:xfrm>
            <a:off x="32798" y="35253"/>
            <a:ext cx="2743200" cy="240066"/>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zh-TW" altLang="en-US" sz="1200" b="1">
                <a:solidFill>
                  <a:srgbClr val="575757"/>
                </a:solidFill>
                <a:sym typeface="Trebuchet MS" panose="020B0603020202020204" pitchFamily="34" charset="0"/>
              </a:rPr>
              <a:t>總結就凱基而言應該做</a:t>
            </a:r>
            <a:r>
              <a:rPr lang="en-US" altLang="zh-TW" sz="1200" b="1">
                <a:solidFill>
                  <a:srgbClr val="575757"/>
                </a:solidFill>
                <a:sym typeface="Trebuchet MS" panose="020B0603020202020204" pitchFamily="34" charset="0"/>
              </a:rPr>
              <a:t>XXX</a:t>
            </a:r>
            <a:endParaRPr lang="en-US" sz="1200" b="1">
              <a:solidFill>
                <a:srgbClr val="575757"/>
              </a:solidFill>
              <a:sym typeface="Trebuchet MS" panose="020B0603020202020204" pitchFamily="34" charset="0"/>
            </a:endParaRPr>
          </a:p>
        </p:txBody>
      </p:sp>
      <p:sp>
        <p:nvSpPr>
          <p:cNvPr id="7" name="Oval 20">
            <a:extLst>
              <a:ext uri="{FF2B5EF4-FFF2-40B4-BE49-F238E27FC236}">
                <a16:creationId xmlns:a16="http://schemas.microsoft.com/office/drawing/2014/main" id="{89A86DFD-6F8F-F512-7DB8-680780ED3FF0}"/>
              </a:ext>
            </a:extLst>
          </p:cNvPr>
          <p:cNvSpPr>
            <a:spLocks noChangeAspect="1" noChangeArrowheads="1"/>
          </p:cNvSpPr>
          <p:nvPr/>
        </p:nvSpPr>
        <p:spPr bwMode="auto">
          <a:xfrm>
            <a:off x="199086" y="648288"/>
            <a:ext cx="306910" cy="306910"/>
          </a:xfrm>
          <a:prstGeom prst="ellipse">
            <a:avLst/>
          </a:prstGeom>
          <a:solidFill>
            <a:srgbClr val="03522D"/>
          </a:solidFill>
          <a:ln>
            <a:noFill/>
          </a:ln>
        </p:spPr>
        <p:txBody>
          <a:bodyPr vert="horz" wrap="square" lIns="0" tIns="0" rIns="0" bIns="0" numCol="1" anchor="ctr" anchorCtr="0" compatLnSpc="1">
            <a:prstTxWarp prst="textNoShape">
              <a:avLst/>
            </a:prstTxWarp>
          </a:bodyPr>
          <a:lstStyle/>
          <a:p>
            <a:pPr algn="ctr"/>
            <a:r>
              <a:rPr lang="en-US" sz="1400" b="1">
                <a:solidFill>
                  <a:srgbClr val="FFFFFF"/>
                </a:solidFill>
              </a:rPr>
              <a:t>2</a:t>
            </a:r>
          </a:p>
        </p:txBody>
      </p:sp>
    </p:spTree>
    <p:extLst>
      <p:ext uri="{BB962C8B-B14F-4D97-AF65-F5344CB8AC3E}">
        <p14:creationId xmlns:p14="http://schemas.microsoft.com/office/powerpoint/2010/main" val="269444578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7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圓角矩形 2">
            <a:extLst>
              <a:ext uri="{FF2B5EF4-FFF2-40B4-BE49-F238E27FC236}">
                <a16:creationId xmlns:a16="http://schemas.microsoft.com/office/drawing/2014/main" id="{B920EF6F-3E12-9837-60DF-E183DCFA7C14}"/>
              </a:ext>
            </a:extLst>
          </p:cNvPr>
          <p:cNvSpPr/>
          <p:nvPr/>
        </p:nvSpPr>
        <p:spPr>
          <a:xfrm>
            <a:off x="498763" y="800100"/>
            <a:ext cx="2691245" cy="488373"/>
          </a:xfrm>
          <a:prstGeom prst="roundRect">
            <a:avLst/>
          </a:prstGeom>
          <a:solidFill>
            <a:srgbClr val="28BA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TW" sz="1400">
                <a:latin typeface="Trebuchet MS" panose="020B0703020202090204" pitchFamily="34" charset="0"/>
              </a:rPr>
              <a:t>Financing Domain</a:t>
            </a:r>
            <a:endParaRPr kumimoji="1" lang="zh-TW" altLang="en-US" sz="1400">
              <a:latin typeface="Trebuchet MS" panose="020B0703020202090204" pitchFamily="34" charset="0"/>
            </a:endParaRPr>
          </a:p>
        </p:txBody>
      </p:sp>
      <p:sp>
        <p:nvSpPr>
          <p:cNvPr id="4" name="圓角矩形 3">
            <a:extLst>
              <a:ext uri="{FF2B5EF4-FFF2-40B4-BE49-F238E27FC236}">
                <a16:creationId xmlns:a16="http://schemas.microsoft.com/office/drawing/2014/main" id="{993C5FCC-2EFC-972F-994D-E761B3BF0F97}"/>
              </a:ext>
            </a:extLst>
          </p:cNvPr>
          <p:cNvSpPr/>
          <p:nvPr/>
        </p:nvSpPr>
        <p:spPr>
          <a:xfrm>
            <a:off x="3311236" y="800100"/>
            <a:ext cx="2691245" cy="488373"/>
          </a:xfrm>
          <a:prstGeom prst="roundRect">
            <a:avLst/>
          </a:prstGeom>
          <a:solidFill>
            <a:srgbClr val="28BA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TW" sz="1400">
                <a:latin typeface="Trebuchet MS" panose="020B0703020202090204" pitchFamily="34" charset="0"/>
              </a:rPr>
              <a:t>Saving Domain</a:t>
            </a:r>
            <a:endParaRPr kumimoji="1" lang="zh-TW" altLang="en-US" sz="1400">
              <a:latin typeface="Trebuchet MS" panose="020B0703020202090204" pitchFamily="34" charset="0"/>
            </a:endParaRPr>
          </a:p>
        </p:txBody>
      </p:sp>
      <p:sp>
        <p:nvSpPr>
          <p:cNvPr id="5" name="圓角矩形 4">
            <a:extLst>
              <a:ext uri="{FF2B5EF4-FFF2-40B4-BE49-F238E27FC236}">
                <a16:creationId xmlns:a16="http://schemas.microsoft.com/office/drawing/2014/main" id="{1639717F-0E16-A0BA-E456-0BAD7E62938C}"/>
              </a:ext>
            </a:extLst>
          </p:cNvPr>
          <p:cNvSpPr/>
          <p:nvPr/>
        </p:nvSpPr>
        <p:spPr>
          <a:xfrm>
            <a:off x="6123709" y="800100"/>
            <a:ext cx="2691245" cy="488373"/>
          </a:xfrm>
          <a:prstGeom prst="roundRect">
            <a:avLst/>
          </a:prstGeom>
          <a:solidFill>
            <a:srgbClr val="28BA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TW" sz="1400">
                <a:latin typeface="Trebuchet MS" panose="020B0703020202090204" pitchFamily="34" charset="0"/>
              </a:rPr>
              <a:t>Daily Banking Domain</a:t>
            </a:r>
            <a:endParaRPr kumimoji="1" lang="zh-TW" altLang="en-US" sz="1400">
              <a:latin typeface="Trebuchet MS" panose="020B0703020202090204" pitchFamily="34" charset="0"/>
            </a:endParaRPr>
          </a:p>
        </p:txBody>
      </p:sp>
      <p:sp>
        <p:nvSpPr>
          <p:cNvPr id="6" name="圓角矩形 5">
            <a:extLst>
              <a:ext uri="{FF2B5EF4-FFF2-40B4-BE49-F238E27FC236}">
                <a16:creationId xmlns:a16="http://schemas.microsoft.com/office/drawing/2014/main" id="{8D9594C6-3982-FFCF-101D-435F04575EC5}"/>
              </a:ext>
            </a:extLst>
          </p:cNvPr>
          <p:cNvSpPr/>
          <p:nvPr/>
        </p:nvSpPr>
        <p:spPr>
          <a:xfrm>
            <a:off x="8936182" y="800099"/>
            <a:ext cx="2691245" cy="488373"/>
          </a:xfrm>
          <a:prstGeom prst="roundRect">
            <a:avLst/>
          </a:prstGeom>
          <a:solidFill>
            <a:srgbClr val="28BA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TW" sz="1400">
                <a:latin typeface="Trebuchet MS" panose="020B0703020202090204" pitchFamily="34" charset="0"/>
              </a:rPr>
              <a:t>Investment Domain</a:t>
            </a:r>
            <a:endParaRPr kumimoji="1" lang="zh-TW" altLang="en-US" sz="1400">
              <a:latin typeface="Trebuchet MS" panose="020B0703020202090204" pitchFamily="34" charset="0"/>
            </a:endParaRPr>
          </a:p>
        </p:txBody>
      </p:sp>
      <p:pic>
        <p:nvPicPr>
          <p:cNvPr id="1026" name="Picture 2" descr="將來商業銀行- 維基百科，自由的百科全書">
            <a:extLst>
              <a:ext uri="{FF2B5EF4-FFF2-40B4-BE49-F238E27FC236}">
                <a16:creationId xmlns:a16="http://schemas.microsoft.com/office/drawing/2014/main" id="{D9D11C3B-9067-9AC9-3446-95E43BC1D76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049511" y="1556904"/>
            <a:ext cx="1476480" cy="488374"/>
          </a:xfrm>
          <a:prstGeom prst="rect">
            <a:avLst/>
          </a:prstGeom>
          <a:noFill/>
          <a:extLst>
            <a:ext uri="{909E8E84-426E-40DD-AFC4-6F175D3DCCD1}">
              <a14:hiddenFill xmlns:a14="http://schemas.microsoft.com/office/drawing/2010/main">
                <a:solidFill>
                  <a:srgbClr val="FFFFFF"/>
                </a:solidFill>
              </a14:hiddenFill>
            </a:ext>
          </a:extLst>
        </p:spPr>
      </p:pic>
      <p:sp>
        <p:nvSpPr>
          <p:cNvPr id="9" name="文字方塊 8">
            <a:extLst>
              <a:ext uri="{FF2B5EF4-FFF2-40B4-BE49-F238E27FC236}">
                <a16:creationId xmlns:a16="http://schemas.microsoft.com/office/drawing/2014/main" id="{A8212833-222F-22AD-E9D2-D27646A9E34A}"/>
              </a:ext>
            </a:extLst>
          </p:cNvPr>
          <p:cNvSpPr txBox="1"/>
          <p:nvPr/>
        </p:nvSpPr>
        <p:spPr>
          <a:xfrm>
            <a:off x="9049511" y="2034308"/>
            <a:ext cx="2871356" cy="584775"/>
          </a:xfrm>
          <a:prstGeom prst="rect">
            <a:avLst/>
          </a:prstGeom>
          <a:noFill/>
        </p:spPr>
        <p:txBody>
          <a:bodyPr wrap="square">
            <a:spAutoFit/>
          </a:bodyPr>
          <a:lstStyle/>
          <a:p>
            <a:r>
              <a:rPr lang="zh-TW" altLang="en-US" sz="800">
                <a:solidFill>
                  <a:schemeClr val="bg2">
                    <a:lumMod val="50000"/>
                  </a:schemeClr>
                </a:solidFill>
                <a:latin typeface="Trebuchet MS" panose="020B0703020202090204" pitchFamily="34" charset="0"/>
              </a:rPr>
              <a:t>手續費與投資鼓勵優惠：</a:t>
            </a:r>
            <a:endParaRPr lang="en-US" altLang="zh-TW" sz="800">
              <a:solidFill>
                <a:schemeClr val="bg2">
                  <a:lumMod val="50000"/>
                </a:schemeClr>
              </a:solidFill>
              <a:latin typeface="Trebuchet MS" panose="020B0703020202090204" pitchFamily="34" charset="0"/>
            </a:endParaRPr>
          </a:p>
          <a:p>
            <a:r>
              <a:rPr lang="zh-TW" altLang="en-US" sz="800">
                <a:solidFill>
                  <a:schemeClr val="bg2">
                    <a:lumMod val="50000"/>
                  </a:schemeClr>
                </a:solidFill>
                <a:latin typeface="Trebuchet MS" panose="020B0703020202090204" pitchFamily="34" charset="0"/>
              </a:rPr>
              <a:t>單筆或定期定額基金申購費0元</a:t>
            </a:r>
          </a:p>
          <a:p>
            <a:r>
              <a:rPr lang="zh-TW" altLang="en-US" sz="800">
                <a:solidFill>
                  <a:schemeClr val="bg2">
                    <a:lumMod val="50000"/>
                  </a:schemeClr>
                </a:solidFill>
                <a:latin typeface="Trebuchet MS" panose="020B0703020202090204" pitchFamily="34" charset="0"/>
              </a:rPr>
              <a:t>投資帳戶資産規模達1萬以上送200點（≈$200）</a:t>
            </a:r>
          </a:p>
          <a:p>
            <a:r>
              <a:rPr lang="zh-TW" altLang="en-US" sz="800">
                <a:solidFill>
                  <a:schemeClr val="bg2">
                    <a:lumMod val="50000"/>
                  </a:schemeClr>
                </a:solidFill>
                <a:latin typeface="Trebuchet MS" panose="020B0703020202090204" pitchFamily="34" charset="0"/>
              </a:rPr>
              <a:t>投資戶案資産規模分級抽獎，最大獎100,000點（≈$</a:t>
            </a:r>
            <a:r>
              <a:rPr lang="en-US" altLang="zh-TW" sz="800">
                <a:solidFill>
                  <a:schemeClr val="bg2">
                    <a:lumMod val="50000"/>
                  </a:schemeClr>
                </a:solidFill>
                <a:latin typeface="Trebuchet MS" panose="020B0703020202090204" pitchFamily="34" charset="0"/>
              </a:rPr>
              <a:t>100,0</a:t>
            </a:r>
            <a:r>
              <a:rPr lang="zh-TW" altLang="en-US" sz="800">
                <a:solidFill>
                  <a:schemeClr val="bg2">
                    <a:lumMod val="50000"/>
                  </a:schemeClr>
                </a:solidFill>
                <a:latin typeface="Trebuchet MS" panose="020B0703020202090204" pitchFamily="34" charset="0"/>
              </a:rPr>
              <a:t>00）</a:t>
            </a:r>
          </a:p>
        </p:txBody>
      </p:sp>
      <p:sp>
        <p:nvSpPr>
          <p:cNvPr id="11" name="文字方塊 10">
            <a:extLst>
              <a:ext uri="{FF2B5EF4-FFF2-40B4-BE49-F238E27FC236}">
                <a16:creationId xmlns:a16="http://schemas.microsoft.com/office/drawing/2014/main" id="{3BAEA9B1-C023-5D45-CEC8-15AC7DC21ED8}"/>
              </a:ext>
            </a:extLst>
          </p:cNvPr>
          <p:cNvSpPr txBox="1"/>
          <p:nvPr/>
        </p:nvSpPr>
        <p:spPr>
          <a:xfrm>
            <a:off x="3311236" y="2034308"/>
            <a:ext cx="1220932" cy="707886"/>
          </a:xfrm>
          <a:prstGeom prst="rect">
            <a:avLst/>
          </a:prstGeom>
          <a:noFill/>
        </p:spPr>
        <p:txBody>
          <a:bodyPr wrap="square">
            <a:spAutoFit/>
          </a:bodyPr>
          <a:lstStyle>
            <a:defPPr>
              <a:defRPr lang="zh-TW"/>
            </a:defPPr>
            <a:lvl1pPr>
              <a:defRPr sz="800">
                <a:solidFill>
                  <a:schemeClr val="bg2">
                    <a:lumMod val="50000"/>
                  </a:schemeClr>
                </a:solidFill>
                <a:latin typeface="Trebuchet MS" panose="020B0703020202090204" pitchFamily="34" charset="0"/>
              </a:defRPr>
            </a:lvl1pPr>
          </a:lstStyle>
          <a:p>
            <a:r>
              <a:rPr lang="zh-TW" altLang="en-US"/>
              <a:t>長期：高活儲存款</a:t>
            </a:r>
          </a:p>
          <a:p>
            <a:r>
              <a:rPr lang="zh-TW" altLang="en-US"/>
              <a:t>5萬內 1%</a:t>
            </a:r>
          </a:p>
          <a:p>
            <a:r>
              <a:rPr lang="zh-TW" altLang="en-US"/>
              <a:t>5 ~ 30 萬 1.5%</a:t>
            </a:r>
          </a:p>
          <a:p>
            <a:r>
              <a:rPr lang="zh-TW" altLang="en-US"/>
              <a:t>30萬以上 1%</a:t>
            </a:r>
          </a:p>
          <a:p>
            <a:endParaRPr lang="zh-TW" altLang="en-US"/>
          </a:p>
        </p:txBody>
      </p:sp>
      <p:pic>
        <p:nvPicPr>
          <p:cNvPr id="12" name="Picture 2" descr="將來商業銀行- 維基百科，自由的百科全書">
            <a:extLst>
              <a:ext uri="{FF2B5EF4-FFF2-40B4-BE49-F238E27FC236}">
                <a16:creationId xmlns:a16="http://schemas.microsoft.com/office/drawing/2014/main" id="{22D18B11-A81A-A35C-36E0-D670BDE3266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11236" y="1556904"/>
            <a:ext cx="1476480" cy="488374"/>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富邦金控暨子公司職缺專區| CakeResume 人才平台">
            <a:extLst>
              <a:ext uri="{FF2B5EF4-FFF2-40B4-BE49-F238E27FC236}">
                <a16:creationId xmlns:a16="http://schemas.microsoft.com/office/drawing/2014/main" id="{B3FDDFFC-87FE-7B2E-ED2E-D85306446FB1}"/>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5068" t="25864" r="5136" b="25454"/>
          <a:stretch/>
        </p:blipFill>
        <p:spPr bwMode="auto">
          <a:xfrm>
            <a:off x="9000641" y="2791114"/>
            <a:ext cx="1077191" cy="583990"/>
          </a:xfrm>
          <a:prstGeom prst="rect">
            <a:avLst/>
          </a:prstGeom>
          <a:noFill/>
          <a:extLst>
            <a:ext uri="{909E8E84-426E-40DD-AFC4-6F175D3DCCD1}">
              <a14:hiddenFill xmlns:a14="http://schemas.microsoft.com/office/drawing/2010/main">
                <a:solidFill>
                  <a:srgbClr val="FFFFFF"/>
                </a:solidFill>
              </a14:hiddenFill>
            </a:ext>
          </a:extLst>
        </p:spPr>
      </p:pic>
      <p:sp>
        <p:nvSpPr>
          <p:cNvPr id="14" name="文字方塊 13">
            <a:extLst>
              <a:ext uri="{FF2B5EF4-FFF2-40B4-BE49-F238E27FC236}">
                <a16:creationId xmlns:a16="http://schemas.microsoft.com/office/drawing/2014/main" id="{39FFD3F4-60D4-6B87-BEEE-BA321CBDAE77}"/>
              </a:ext>
            </a:extLst>
          </p:cNvPr>
          <p:cNvSpPr txBox="1"/>
          <p:nvPr/>
        </p:nvSpPr>
        <p:spPr>
          <a:xfrm>
            <a:off x="8955824" y="3434207"/>
            <a:ext cx="2871356" cy="215444"/>
          </a:xfrm>
          <a:prstGeom prst="rect">
            <a:avLst/>
          </a:prstGeom>
          <a:noFill/>
        </p:spPr>
        <p:txBody>
          <a:bodyPr wrap="square">
            <a:spAutoFit/>
          </a:bodyPr>
          <a:lstStyle>
            <a:defPPr>
              <a:defRPr lang="zh-TW"/>
            </a:defPPr>
            <a:lvl1pPr>
              <a:defRPr sz="800">
                <a:solidFill>
                  <a:schemeClr val="bg2">
                    <a:lumMod val="50000"/>
                  </a:schemeClr>
                </a:solidFill>
                <a:latin typeface="Trebuchet MS" panose="020B0703020202090204" pitchFamily="34" charset="0"/>
              </a:defRPr>
            </a:lvl1pPr>
          </a:lstStyle>
          <a:p>
            <a:r>
              <a:rPr lang="zh-TW" altLang="en-US"/>
              <a:t>信管費優惠：首次參與富邦奈米投享有6個月免信管費</a:t>
            </a:r>
          </a:p>
        </p:txBody>
      </p:sp>
      <p:sp>
        <p:nvSpPr>
          <p:cNvPr id="16" name="文字方塊 15">
            <a:extLst>
              <a:ext uri="{FF2B5EF4-FFF2-40B4-BE49-F238E27FC236}">
                <a16:creationId xmlns:a16="http://schemas.microsoft.com/office/drawing/2014/main" id="{D4D3BC2D-EC66-6B76-6249-A64A5FD6E024}"/>
              </a:ext>
            </a:extLst>
          </p:cNvPr>
          <p:cNvSpPr txBox="1"/>
          <p:nvPr/>
        </p:nvSpPr>
        <p:spPr>
          <a:xfrm>
            <a:off x="6123709" y="2156284"/>
            <a:ext cx="2393374" cy="340821"/>
          </a:xfrm>
          <a:prstGeom prst="rect">
            <a:avLst/>
          </a:prstGeom>
          <a:noFill/>
        </p:spPr>
        <p:txBody>
          <a:bodyPr wrap="square">
            <a:spAutoFit/>
          </a:bodyPr>
          <a:lstStyle>
            <a:defPPr>
              <a:defRPr lang="zh-TW"/>
            </a:defPPr>
            <a:lvl1pPr>
              <a:defRPr sz="800">
                <a:solidFill>
                  <a:schemeClr val="bg2">
                    <a:lumMod val="50000"/>
                  </a:schemeClr>
                </a:solidFill>
                <a:latin typeface="Trebuchet MS" panose="020B0703020202090204" pitchFamily="34" charset="0"/>
              </a:defRPr>
            </a:lvl1pPr>
          </a:lstStyle>
          <a:p>
            <a:r>
              <a:rPr lang="zh-TW" altLang="en-US"/>
              <a:t>金融卡消費優惠：數位戶金融卡消費國內外一般消費1%、國外實體商店消費最高2.5%</a:t>
            </a:r>
          </a:p>
        </p:txBody>
      </p:sp>
      <p:pic>
        <p:nvPicPr>
          <p:cNvPr id="1030" name="Picture 6" descr="中國信託銀行">
            <a:extLst>
              <a:ext uri="{FF2B5EF4-FFF2-40B4-BE49-F238E27FC236}">
                <a16:creationId xmlns:a16="http://schemas.microsoft.com/office/drawing/2014/main" id="{FC4C9EA8-C17A-4FE3-36FC-69C310D1BC91}"/>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t="24735" b="26889"/>
          <a:stretch/>
        </p:blipFill>
        <p:spPr bwMode="auto">
          <a:xfrm>
            <a:off x="6135832" y="1616725"/>
            <a:ext cx="1476480" cy="428553"/>
          </a:xfrm>
          <a:prstGeom prst="rect">
            <a:avLst/>
          </a:prstGeom>
          <a:noFill/>
          <a:extLst>
            <a:ext uri="{909E8E84-426E-40DD-AFC4-6F175D3DCCD1}">
              <a14:hiddenFill xmlns:a14="http://schemas.microsoft.com/office/drawing/2010/main">
                <a:solidFill>
                  <a:srgbClr val="FFFFFF"/>
                </a:solidFill>
              </a14:hiddenFill>
            </a:ext>
          </a:extLst>
        </p:spPr>
      </p:pic>
      <p:sp>
        <p:nvSpPr>
          <p:cNvPr id="19" name="文字方塊 18">
            <a:extLst>
              <a:ext uri="{FF2B5EF4-FFF2-40B4-BE49-F238E27FC236}">
                <a16:creationId xmlns:a16="http://schemas.microsoft.com/office/drawing/2014/main" id="{6059CE84-07CE-032E-6A99-85B26E3DBD02}"/>
              </a:ext>
            </a:extLst>
          </p:cNvPr>
          <p:cNvSpPr txBox="1"/>
          <p:nvPr/>
        </p:nvSpPr>
        <p:spPr>
          <a:xfrm>
            <a:off x="6123709" y="4319706"/>
            <a:ext cx="2691245" cy="338554"/>
          </a:xfrm>
          <a:prstGeom prst="rect">
            <a:avLst/>
          </a:prstGeom>
          <a:noFill/>
        </p:spPr>
        <p:txBody>
          <a:bodyPr wrap="square">
            <a:spAutoFit/>
          </a:bodyPr>
          <a:lstStyle>
            <a:defPPr>
              <a:defRPr lang="zh-TW"/>
            </a:defPPr>
            <a:lvl1pPr>
              <a:defRPr sz="800">
                <a:solidFill>
                  <a:schemeClr val="bg2">
                    <a:lumMod val="50000"/>
                  </a:schemeClr>
                </a:solidFill>
                <a:latin typeface="Trebuchet MS" panose="020B0703020202090204" pitchFamily="34" charset="0"/>
              </a:defRPr>
            </a:lvl1pPr>
          </a:lstStyle>
          <a:p>
            <a:r>
              <a:rPr lang="zh-TW" altLang="en-US"/>
              <a:t>無條件優惠：每月線上跨轉 66 次、ATM 跨提 6 次、ATM 跨存 1 次免費</a:t>
            </a:r>
          </a:p>
        </p:txBody>
      </p:sp>
      <p:pic>
        <p:nvPicPr>
          <p:cNvPr id="20" name="Picture 2" descr="將來商業銀行- 維基百科，自由的百科全書">
            <a:extLst>
              <a:ext uri="{FF2B5EF4-FFF2-40B4-BE49-F238E27FC236}">
                <a16:creationId xmlns:a16="http://schemas.microsoft.com/office/drawing/2014/main" id="{473A44EC-8D68-9C58-B6FF-798BE5D470F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23709" y="3825940"/>
            <a:ext cx="1476480" cy="488374"/>
          </a:xfrm>
          <a:prstGeom prst="rect">
            <a:avLst/>
          </a:prstGeom>
          <a:noFill/>
          <a:extLst>
            <a:ext uri="{909E8E84-426E-40DD-AFC4-6F175D3DCCD1}">
              <a14:hiddenFill xmlns:a14="http://schemas.microsoft.com/office/drawing/2010/main">
                <a:solidFill>
                  <a:srgbClr val="FFFFFF"/>
                </a:solidFill>
              </a14:hiddenFill>
            </a:ext>
          </a:extLst>
        </p:spPr>
      </p:pic>
      <p:sp>
        <p:nvSpPr>
          <p:cNvPr id="22" name="文字方塊 21">
            <a:extLst>
              <a:ext uri="{FF2B5EF4-FFF2-40B4-BE49-F238E27FC236}">
                <a16:creationId xmlns:a16="http://schemas.microsoft.com/office/drawing/2014/main" id="{D12600F9-966A-D6B3-354E-682FA19C3495}"/>
              </a:ext>
            </a:extLst>
          </p:cNvPr>
          <p:cNvSpPr txBox="1"/>
          <p:nvPr/>
        </p:nvSpPr>
        <p:spPr>
          <a:xfrm>
            <a:off x="6096000" y="3105682"/>
            <a:ext cx="2691245" cy="338554"/>
          </a:xfrm>
          <a:prstGeom prst="rect">
            <a:avLst/>
          </a:prstGeom>
          <a:noFill/>
        </p:spPr>
        <p:txBody>
          <a:bodyPr wrap="square">
            <a:spAutoFit/>
          </a:bodyPr>
          <a:lstStyle>
            <a:defPPr>
              <a:defRPr lang="zh-TW"/>
            </a:defPPr>
            <a:lvl1pPr>
              <a:defRPr sz="800">
                <a:solidFill>
                  <a:schemeClr val="bg2">
                    <a:lumMod val="50000"/>
                  </a:schemeClr>
                </a:solidFill>
                <a:latin typeface="Trebuchet MS" panose="020B0703020202090204" pitchFamily="34" charset="0"/>
              </a:defRPr>
            </a:lvl1pPr>
          </a:lstStyle>
          <a:p>
            <a:r>
              <a:rPr lang="zh-TW" altLang="en-US"/>
              <a:t>金融卡消費優惠（搭配行動支付）：金融卡綁定Line Pay在不同場景與時間享有最多6%回饋</a:t>
            </a:r>
          </a:p>
        </p:txBody>
      </p:sp>
      <p:pic>
        <p:nvPicPr>
          <p:cNvPr id="1034" name="Picture 10" descr="LINE Bank 評價老實說！LINE Bank 優缺點、純網銀比較一次看- Roo.Cash">
            <a:extLst>
              <a:ext uri="{FF2B5EF4-FFF2-40B4-BE49-F238E27FC236}">
                <a16:creationId xmlns:a16="http://schemas.microsoft.com/office/drawing/2014/main" id="{D36615EA-3351-4490-3152-E6F0C70AE0B9}"/>
              </a:ext>
            </a:extLst>
          </p:cNvPr>
          <p:cNvPicPr>
            <a:picLocks noChangeAspect="1" noChangeArrowheads="1"/>
          </p:cNvPicPr>
          <p:nvPr/>
        </p:nvPicPr>
        <p:blipFill rotWithShape="1">
          <a:blip r:embed="rId6">
            <a:extLst>
              <a:ext uri="{28A0092B-C50C-407E-A947-70E740481C1C}">
                <a14:useLocalDpi xmlns:a14="http://schemas.microsoft.com/office/drawing/2010/main" val="0"/>
              </a:ext>
            </a:extLst>
          </a:blip>
          <a:srcRect t="24582" b="21525"/>
          <a:stretch/>
        </p:blipFill>
        <p:spPr bwMode="auto">
          <a:xfrm>
            <a:off x="6135832" y="2605607"/>
            <a:ext cx="1895764" cy="379177"/>
          </a:xfrm>
          <a:prstGeom prst="rect">
            <a:avLst/>
          </a:prstGeom>
          <a:noFill/>
          <a:extLst>
            <a:ext uri="{909E8E84-426E-40DD-AFC4-6F175D3DCCD1}">
              <a14:hiddenFill xmlns:a14="http://schemas.microsoft.com/office/drawing/2010/main">
                <a:solidFill>
                  <a:srgbClr val="FFFFFF"/>
                </a:solidFill>
              </a14:hiddenFill>
            </a:ext>
          </a:extLst>
        </p:spPr>
      </p:pic>
      <p:pic>
        <p:nvPicPr>
          <p:cNvPr id="1036" name="Picture 12">
            <a:extLst>
              <a:ext uri="{FF2B5EF4-FFF2-40B4-BE49-F238E27FC236}">
                <a16:creationId xmlns:a16="http://schemas.microsoft.com/office/drawing/2014/main" id="{16DDB91E-F417-B97C-458D-D46069A3EDE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209542" y="5045977"/>
            <a:ext cx="2307542" cy="349437"/>
          </a:xfrm>
          <a:prstGeom prst="rect">
            <a:avLst/>
          </a:prstGeom>
          <a:noFill/>
          <a:extLst>
            <a:ext uri="{909E8E84-426E-40DD-AFC4-6F175D3DCCD1}">
              <a14:hiddenFill xmlns:a14="http://schemas.microsoft.com/office/drawing/2010/main">
                <a:solidFill>
                  <a:srgbClr val="FFFFFF"/>
                </a:solidFill>
              </a14:hiddenFill>
            </a:ext>
          </a:extLst>
        </p:spPr>
      </p:pic>
      <p:sp>
        <p:nvSpPr>
          <p:cNvPr id="23" name="文字方塊 22">
            <a:extLst>
              <a:ext uri="{FF2B5EF4-FFF2-40B4-BE49-F238E27FC236}">
                <a16:creationId xmlns:a16="http://schemas.microsoft.com/office/drawing/2014/main" id="{ACED0563-67AC-C082-CF32-9F70200AC78C}"/>
              </a:ext>
            </a:extLst>
          </p:cNvPr>
          <p:cNvSpPr txBox="1"/>
          <p:nvPr/>
        </p:nvSpPr>
        <p:spPr>
          <a:xfrm>
            <a:off x="6096000" y="5528338"/>
            <a:ext cx="2691245" cy="338554"/>
          </a:xfrm>
          <a:prstGeom prst="rect">
            <a:avLst/>
          </a:prstGeom>
          <a:noFill/>
        </p:spPr>
        <p:txBody>
          <a:bodyPr wrap="square">
            <a:spAutoFit/>
          </a:bodyPr>
          <a:lstStyle>
            <a:defPPr>
              <a:defRPr lang="zh-TW"/>
            </a:defPPr>
            <a:lvl1pPr>
              <a:defRPr sz="800">
                <a:solidFill>
                  <a:schemeClr val="bg2">
                    <a:lumMod val="50000"/>
                  </a:schemeClr>
                </a:solidFill>
                <a:latin typeface="Trebuchet MS" panose="020B0703020202090204" pitchFamily="34" charset="0"/>
              </a:defRPr>
            </a:lvl1pPr>
          </a:lstStyle>
          <a:p>
            <a:r>
              <a:rPr lang="zh-TW" altLang="en-US"/>
              <a:t>視條件給優惠：按造客戶 </a:t>
            </a:r>
            <a:r>
              <a:rPr lang="en-US" altLang="zh-TW"/>
              <a:t>AUM </a:t>
            </a:r>
            <a:r>
              <a:rPr lang="zh-TW" altLang="en-US"/>
              <a:t>劃分等級享不同權益，存款</a:t>
            </a:r>
            <a:r>
              <a:rPr lang="en-US" altLang="zh-TW"/>
              <a:t>100</a:t>
            </a:r>
            <a:r>
              <a:rPr lang="zh-TW" altLang="en-US"/>
              <a:t>萬以上享跨轉、跨提、日本提款每月</a:t>
            </a:r>
            <a:r>
              <a:rPr lang="en-US" altLang="zh-TW"/>
              <a:t>20</a:t>
            </a:r>
            <a:r>
              <a:rPr lang="zh-TW" altLang="en-US"/>
              <a:t>次免費</a:t>
            </a:r>
          </a:p>
        </p:txBody>
      </p:sp>
      <p:pic>
        <p:nvPicPr>
          <p:cNvPr id="1038" name="Picture 14" descr="最棒的回饋分享給最麻吉的你! | 永豐銀行-">
            <a:extLst>
              <a:ext uri="{FF2B5EF4-FFF2-40B4-BE49-F238E27FC236}">
                <a16:creationId xmlns:a16="http://schemas.microsoft.com/office/drawing/2014/main" id="{D9D978B4-22A6-54C7-3AFD-25E3E607FCB4}"/>
              </a:ext>
            </a:extLst>
          </p:cNvPr>
          <p:cNvPicPr>
            <a:picLocks noChangeAspect="1" noChangeArrowheads="1"/>
          </p:cNvPicPr>
          <p:nvPr/>
        </p:nvPicPr>
        <p:blipFill rotWithShape="1">
          <a:blip r:embed="rId8">
            <a:extLst>
              <a:ext uri="{28A0092B-C50C-407E-A947-70E740481C1C}">
                <a14:useLocalDpi xmlns:a14="http://schemas.microsoft.com/office/drawing/2010/main" val="0"/>
              </a:ext>
            </a:extLst>
          </a:blip>
          <a:srcRect l="11869" t="28919" r="7645" b="24964"/>
          <a:stretch/>
        </p:blipFill>
        <p:spPr bwMode="auto">
          <a:xfrm>
            <a:off x="8936182" y="3825940"/>
            <a:ext cx="2080296" cy="476803"/>
          </a:xfrm>
          <a:prstGeom prst="rect">
            <a:avLst/>
          </a:prstGeom>
          <a:noFill/>
          <a:extLst>
            <a:ext uri="{909E8E84-426E-40DD-AFC4-6F175D3DCCD1}">
              <a14:hiddenFill xmlns:a14="http://schemas.microsoft.com/office/drawing/2010/main">
                <a:solidFill>
                  <a:srgbClr val="FFFFFF"/>
                </a:solidFill>
              </a14:hiddenFill>
            </a:ext>
          </a:extLst>
        </p:spPr>
      </p:pic>
      <p:sp>
        <p:nvSpPr>
          <p:cNvPr id="24" name="文字方塊 23">
            <a:extLst>
              <a:ext uri="{FF2B5EF4-FFF2-40B4-BE49-F238E27FC236}">
                <a16:creationId xmlns:a16="http://schemas.microsoft.com/office/drawing/2014/main" id="{18FC34EF-03D6-F8F8-C8D2-51CE708BD410}"/>
              </a:ext>
            </a:extLst>
          </p:cNvPr>
          <p:cNvSpPr txBox="1"/>
          <p:nvPr/>
        </p:nvSpPr>
        <p:spPr>
          <a:xfrm>
            <a:off x="8979860" y="4442816"/>
            <a:ext cx="2691245" cy="338554"/>
          </a:xfrm>
          <a:prstGeom prst="rect">
            <a:avLst/>
          </a:prstGeom>
          <a:noFill/>
        </p:spPr>
        <p:txBody>
          <a:bodyPr wrap="square">
            <a:spAutoFit/>
          </a:bodyPr>
          <a:lstStyle>
            <a:defPPr>
              <a:defRPr lang="zh-TW"/>
            </a:defPPr>
            <a:lvl1pPr>
              <a:defRPr sz="800">
                <a:solidFill>
                  <a:schemeClr val="bg2">
                    <a:lumMod val="50000"/>
                  </a:schemeClr>
                </a:solidFill>
                <a:latin typeface="Trebuchet MS" panose="020B0703020202090204" pitchFamily="34" charset="0"/>
              </a:defRPr>
            </a:lvl1pPr>
          </a:lstStyle>
          <a:p>
            <a:r>
              <a:rPr lang="zh-TW" altLang="en-US"/>
              <a:t>交割戶存款優惠：</a:t>
            </a:r>
            <a:endParaRPr lang="en-US" altLang="zh-TW"/>
          </a:p>
          <a:p>
            <a:r>
              <a:rPr lang="zh-TW" altLang="en-US"/>
              <a:t>交割戶為大戶等級新台幣</a:t>
            </a:r>
            <a:r>
              <a:rPr lang="en-US" altLang="zh-TW"/>
              <a:t>30</a:t>
            </a:r>
            <a:r>
              <a:rPr lang="zh-TW" altLang="en-US"/>
              <a:t>萬元內仍享活儲優利 </a:t>
            </a:r>
            <a:r>
              <a:rPr lang="en-US" altLang="zh-TW"/>
              <a:t>1.5%</a:t>
            </a:r>
          </a:p>
        </p:txBody>
      </p:sp>
      <p:sp>
        <p:nvSpPr>
          <p:cNvPr id="26" name="文字方塊 25">
            <a:extLst>
              <a:ext uri="{FF2B5EF4-FFF2-40B4-BE49-F238E27FC236}">
                <a16:creationId xmlns:a16="http://schemas.microsoft.com/office/drawing/2014/main" id="{A60A5E47-1289-0354-74AB-140A465912B4}"/>
              </a:ext>
            </a:extLst>
          </p:cNvPr>
          <p:cNvSpPr txBox="1"/>
          <p:nvPr/>
        </p:nvSpPr>
        <p:spPr>
          <a:xfrm>
            <a:off x="3275248" y="3258645"/>
            <a:ext cx="2691245" cy="338554"/>
          </a:xfrm>
          <a:prstGeom prst="rect">
            <a:avLst/>
          </a:prstGeom>
          <a:noFill/>
        </p:spPr>
        <p:txBody>
          <a:bodyPr wrap="square">
            <a:spAutoFit/>
          </a:bodyPr>
          <a:lstStyle>
            <a:defPPr>
              <a:defRPr lang="zh-TW"/>
            </a:defPPr>
            <a:lvl1pPr>
              <a:defRPr sz="800">
                <a:solidFill>
                  <a:schemeClr val="bg2">
                    <a:lumMod val="50000"/>
                  </a:schemeClr>
                </a:solidFill>
                <a:latin typeface="Trebuchet MS" panose="020B0703020202090204" pitchFamily="34" charset="0"/>
              </a:defRPr>
            </a:lvl1pPr>
          </a:lstStyle>
          <a:p>
            <a:r>
              <a:rPr lang="zh-TW" altLang="en-US"/>
              <a:t>短期：新台幣</a:t>
            </a:r>
            <a:r>
              <a:rPr lang="en-US" altLang="zh-TW"/>
              <a:t>10</a:t>
            </a:r>
            <a:r>
              <a:rPr lang="zh-TW" altLang="en-US"/>
              <a:t>萬元</a:t>
            </a:r>
            <a:r>
              <a:rPr lang="en-US" altLang="zh-TW"/>
              <a:t>(</a:t>
            </a:r>
            <a:r>
              <a:rPr lang="zh-TW" altLang="en-US"/>
              <a:t>含</a:t>
            </a:r>
            <a:r>
              <a:rPr lang="en-US" altLang="zh-TW"/>
              <a:t>)</a:t>
            </a:r>
            <a:r>
              <a:rPr lang="zh-TW" altLang="en-US"/>
              <a:t>以內 </a:t>
            </a:r>
            <a:r>
              <a:rPr lang="en-US" altLang="zh-TW"/>
              <a:t>3.2%</a:t>
            </a:r>
            <a:r>
              <a:rPr lang="zh-TW" altLang="en-US"/>
              <a:t>年利率（兩個月）</a:t>
            </a:r>
            <a:endParaRPr lang="en-US" altLang="zh-TW"/>
          </a:p>
          <a:p>
            <a:r>
              <a:rPr lang="zh-TW" altLang="en-US"/>
              <a:t>（每月計息且</a:t>
            </a:r>
            <a:r>
              <a:rPr lang="en-US" altLang="zh-TW"/>
              <a:t>1</a:t>
            </a:r>
            <a:r>
              <a:rPr lang="zh-TW" altLang="en-US"/>
              <a:t>元起息）</a:t>
            </a:r>
          </a:p>
        </p:txBody>
      </p:sp>
      <p:pic>
        <p:nvPicPr>
          <p:cNvPr id="1040" name="Picture 16" descr="台新銀行">
            <a:extLst>
              <a:ext uri="{FF2B5EF4-FFF2-40B4-BE49-F238E27FC236}">
                <a16:creationId xmlns:a16="http://schemas.microsoft.com/office/drawing/2014/main" id="{3FDA8D30-4308-A811-F313-B789C994129B}"/>
              </a:ext>
            </a:extLst>
          </p:cNvPr>
          <p:cNvPicPr>
            <a:picLocks noChangeAspect="1" noChangeArrowheads="1"/>
          </p:cNvPicPr>
          <p:nvPr/>
        </p:nvPicPr>
        <p:blipFill rotWithShape="1">
          <a:blip r:embed="rId9">
            <a:extLst>
              <a:ext uri="{28A0092B-C50C-407E-A947-70E740481C1C}">
                <a14:useLocalDpi xmlns:a14="http://schemas.microsoft.com/office/drawing/2010/main" val="0"/>
              </a:ext>
            </a:extLst>
          </a:blip>
          <a:srcRect t="30540" b="31710"/>
          <a:stretch/>
        </p:blipFill>
        <p:spPr bwMode="auto">
          <a:xfrm>
            <a:off x="3311236" y="2810912"/>
            <a:ext cx="1498417" cy="339393"/>
          </a:xfrm>
          <a:prstGeom prst="rect">
            <a:avLst/>
          </a:prstGeom>
          <a:noFill/>
          <a:extLst>
            <a:ext uri="{909E8E84-426E-40DD-AFC4-6F175D3DCCD1}">
              <a14:hiddenFill xmlns:a14="http://schemas.microsoft.com/office/drawing/2010/main">
                <a:solidFill>
                  <a:srgbClr val="FFFFFF"/>
                </a:solidFill>
              </a14:hiddenFill>
            </a:ext>
          </a:extLst>
        </p:spPr>
      </p:pic>
      <p:sp>
        <p:nvSpPr>
          <p:cNvPr id="28" name="文字方塊 27">
            <a:extLst>
              <a:ext uri="{FF2B5EF4-FFF2-40B4-BE49-F238E27FC236}">
                <a16:creationId xmlns:a16="http://schemas.microsoft.com/office/drawing/2014/main" id="{A801F999-BCAE-133A-6303-658F1D8515E2}"/>
              </a:ext>
            </a:extLst>
          </p:cNvPr>
          <p:cNvSpPr txBox="1"/>
          <p:nvPr/>
        </p:nvSpPr>
        <p:spPr>
          <a:xfrm>
            <a:off x="3190008" y="4227837"/>
            <a:ext cx="2576947" cy="215444"/>
          </a:xfrm>
          <a:prstGeom prst="rect">
            <a:avLst/>
          </a:prstGeom>
          <a:noFill/>
        </p:spPr>
        <p:txBody>
          <a:bodyPr wrap="square">
            <a:spAutoFit/>
          </a:bodyPr>
          <a:lstStyle>
            <a:defPPr>
              <a:defRPr lang="zh-TW"/>
            </a:defPPr>
            <a:lvl1pPr>
              <a:defRPr sz="800">
                <a:solidFill>
                  <a:schemeClr val="bg2">
                    <a:lumMod val="50000"/>
                  </a:schemeClr>
                </a:solidFill>
                <a:latin typeface="Trebuchet MS" panose="020B0703020202090204" pitchFamily="34" charset="0"/>
              </a:defRPr>
            </a:lvl1pPr>
          </a:lstStyle>
          <a:p>
            <a:r>
              <a:rPr lang="zh-TW" altLang="en-US"/>
              <a:t>外幣：上限</a:t>
            </a:r>
            <a:r>
              <a:rPr lang="en-US" altLang="zh-TW"/>
              <a:t>2,888</a:t>
            </a:r>
            <a:r>
              <a:rPr lang="zh-TW" altLang="en-US"/>
              <a:t>美元的一個月活存年利率</a:t>
            </a:r>
            <a:r>
              <a:rPr lang="en-US" altLang="zh-TW"/>
              <a:t>10.88</a:t>
            </a:r>
            <a:r>
              <a:rPr lang="zh-TW" altLang="en-US"/>
              <a:t>％</a:t>
            </a:r>
          </a:p>
        </p:txBody>
      </p:sp>
      <p:pic>
        <p:nvPicPr>
          <p:cNvPr id="1042" name="Picture 18" descr="新光銀行- 國立政治大學商學院學生事務與校友服務辦公室OSAAS">
            <a:extLst>
              <a:ext uri="{FF2B5EF4-FFF2-40B4-BE49-F238E27FC236}">
                <a16:creationId xmlns:a16="http://schemas.microsoft.com/office/drawing/2014/main" id="{AD1DBDD9-C633-2665-1DC8-6766303B8F46}"/>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311236" y="3825940"/>
            <a:ext cx="1268511" cy="289214"/>
          </a:xfrm>
          <a:prstGeom prst="rect">
            <a:avLst/>
          </a:prstGeom>
          <a:noFill/>
          <a:extLst>
            <a:ext uri="{909E8E84-426E-40DD-AFC4-6F175D3DCCD1}">
              <a14:hiddenFill xmlns:a14="http://schemas.microsoft.com/office/drawing/2010/main">
                <a:solidFill>
                  <a:srgbClr val="FFFFFF"/>
                </a:solidFill>
              </a14:hiddenFill>
            </a:ext>
          </a:extLst>
        </p:spPr>
      </p:pic>
      <p:pic>
        <p:nvPicPr>
          <p:cNvPr id="1044" name="Picture 20" descr="Standard Chartered Bank Logo PNG Vector (EPS) Free Download">
            <a:extLst>
              <a:ext uri="{FF2B5EF4-FFF2-40B4-BE49-F238E27FC236}">
                <a16:creationId xmlns:a16="http://schemas.microsoft.com/office/drawing/2014/main" id="{02A1384C-AFAF-EF15-C2A9-7FC90F0C7291}"/>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98763" y="1598947"/>
            <a:ext cx="1012468" cy="435361"/>
          </a:xfrm>
          <a:prstGeom prst="rect">
            <a:avLst/>
          </a:prstGeom>
          <a:noFill/>
          <a:extLst>
            <a:ext uri="{909E8E84-426E-40DD-AFC4-6F175D3DCCD1}">
              <a14:hiddenFill xmlns:a14="http://schemas.microsoft.com/office/drawing/2010/main">
                <a:solidFill>
                  <a:srgbClr val="FFFFFF"/>
                </a:solidFill>
              </a14:hiddenFill>
            </a:ext>
          </a:extLst>
        </p:spPr>
      </p:pic>
      <p:sp>
        <p:nvSpPr>
          <p:cNvPr id="29" name="文字方塊 28">
            <a:extLst>
              <a:ext uri="{FF2B5EF4-FFF2-40B4-BE49-F238E27FC236}">
                <a16:creationId xmlns:a16="http://schemas.microsoft.com/office/drawing/2014/main" id="{32AC3919-A8D9-D9C8-D902-6914BA108C61}"/>
              </a:ext>
            </a:extLst>
          </p:cNvPr>
          <p:cNvSpPr txBox="1"/>
          <p:nvPr/>
        </p:nvSpPr>
        <p:spPr>
          <a:xfrm>
            <a:off x="498762" y="2156284"/>
            <a:ext cx="2280045" cy="338554"/>
          </a:xfrm>
          <a:prstGeom prst="rect">
            <a:avLst/>
          </a:prstGeom>
          <a:noFill/>
        </p:spPr>
        <p:txBody>
          <a:bodyPr wrap="square">
            <a:spAutoFit/>
          </a:bodyPr>
          <a:lstStyle>
            <a:defPPr>
              <a:defRPr lang="zh-TW"/>
            </a:defPPr>
            <a:lvl1pPr>
              <a:defRPr sz="800">
                <a:solidFill>
                  <a:schemeClr val="bg2">
                    <a:lumMod val="50000"/>
                  </a:schemeClr>
                </a:solidFill>
                <a:latin typeface="Trebuchet MS" panose="020B0703020202090204" pitchFamily="34" charset="0"/>
              </a:defRPr>
            </a:lvl1pPr>
          </a:lstStyle>
          <a:p>
            <a:r>
              <a:rPr lang="zh-TW" altLang="en-US"/>
              <a:t>房貸：</a:t>
            </a:r>
            <a:endParaRPr lang="en-US" altLang="zh-TW"/>
          </a:p>
          <a:p>
            <a:r>
              <a:rPr lang="zh-TW" altLang="en-US"/>
              <a:t>手續費</a:t>
            </a:r>
            <a:r>
              <a:rPr lang="en-US" altLang="zh-TW"/>
              <a:t>0</a:t>
            </a:r>
            <a:r>
              <a:rPr lang="zh-TW" altLang="en-US"/>
              <a:t>元且前三期優惠年利率 </a:t>
            </a:r>
            <a:r>
              <a:rPr lang="en-US" altLang="zh-TW"/>
              <a:t>0.1%</a:t>
            </a:r>
            <a:endParaRPr lang="zh-TW" altLang="en-US"/>
          </a:p>
        </p:txBody>
      </p:sp>
      <p:pic>
        <p:nvPicPr>
          <p:cNvPr id="30" name="Picture 14" descr="最棒的回饋分享給最麻吉的你! | 永豐銀行-">
            <a:extLst>
              <a:ext uri="{FF2B5EF4-FFF2-40B4-BE49-F238E27FC236}">
                <a16:creationId xmlns:a16="http://schemas.microsoft.com/office/drawing/2014/main" id="{B3937DC2-A263-375E-A2C5-9BAEE83668FD}"/>
              </a:ext>
            </a:extLst>
          </p:cNvPr>
          <p:cNvPicPr>
            <a:picLocks noChangeAspect="1" noChangeArrowheads="1"/>
          </p:cNvPicPr>
          <p:nvPr/>
        </p:nvPicPr>
        <p:blipFill rotWithShape="1">
          <a:blip r:embed="rId8">
            <a:extLst>
              <a:ext uri="{28A0092B-C50C-407E-A947-70E740481C1C}">
                <a14:useLocalDpi xmlns:a14="http://schemas.microsoft.com/office/drawing/2010/main" val="0"/>
              </a:ext>
            </a:extLst>
          </a:blip>
          <a:srcRect l="11869" t="28919" r="7645" b="24964"/>
          <a:stretch/>
        </p:blipFill>
        <p:spPr bwMode="auto">
          <a:xfrm>
            <a:off x="455085" y="2742194"/>
            <a:ext cx="2080296" cy="476803"/>
          </a:xfrm>
          <a:prstGeom prst="rect">
            <a:avLst/>
          </a:prstGeom>
          <a:noFill/>
          <a:extLst>
            <a:ext uri="{909E8E84-426E-40DD-AFC4-6F175D3DCCD1}">
              <a14:hiddenFill xmlns:a14="http://schemas.microsoft.com/office/drawing/2010/main">
                <a:solidFill>
                  <a:srgbClr val="FFFFFF"/>
                </a:solidFill>
              </a14:hiddenFill>
            </a:ext>
          </a:extLst>
        </p:spPr>
      </p:pic>
      <p:sp>
        <p:nvSpPr>
          <p:cNvPr id="31" name="文字方塊 30">
            <a:extLst>
              <a:ext uri="{FF2B5EF4-FFF2-40B4-BE49-F238E27FC236}">
                <a16:creationId xmlns:a16="http://schemas.microsoft.com/office/drawing/2014/main" id="{2CBEB3F5-B292-F27C-128D-2CA912E56504}"/>
              </a:ext>
            </a:extLst>
          </p:cNvPr>
          <p:cNvSpPr txBox="1"/>
          <p:nvPr/>
        </p:nvSpPr>
        <p:spPr>
          <a:xfrm>
            <a:off x="498763" y="3359070"/>
            <a:ext cx="2812473" cy="338554"/>
          </a:xfrm>
          <a:prstGeom prst="rect">
            <a:avLst/>
          </a:prstGeom>
          <a:noFill/>
        </p:spPr>
        <p:txBody>
          <a:bodyPr wrap="square">
            <a:spAutoFit/>
          </a:bodyPr>
          <a:lstStyle>
            <a:defPPr>
              <a:defRPr lang="zh-TW"/>
            </a:defPPr>
            <a:lvl1pPr>
              <a:defRPr sz="800">
                <a:solidFill>
                  <a:schemeClr val="bg2">
                    <a:lumMod val="50000"/>
                  </a:schemeClr>
                </a:solidFill>
                <a:latin typeface="Trebuchet MS" panose="020B0703020202090204" pitchFamily="34" charset="0"/>
              </a:defRPr>
            </a:lvl1pPr>
          </a:lstStyle>
          <a:p>
            <a:r>
              <a:rPr lang="zh-TW" altLang="en-US"/>
              <a:t>信貸：</a:t>
            </a:r>
            <a:endParaRPr lang="en-US" altLang="zh-TW"/>
          </a:p>
          <a:p>
            <a:r>
              <a:rPr lang="zh-TW" altLang="en-US"/>
              <a:t>首年固定利率</a:t>
            </a:r>
            <a:r>
              <a:rPr lang="en-US" altLang="zh-TW"/>
              <a:t>0.01%</a:t>
            </a:r>
            <a:r>
              <a:rPr lang="zh-TW" altLang="en-US"/>
              <a:t>、手續費最低</a:t>
            </a:r>
            <a:r>
              <a:rPr lang="en-US" altLang="zh-TW"/>
              <a:t>0</a:t>
            </a:r>
            <a:r>
              <a:rPr lang="zh-TW" altLang="en-US"/>
              <a:t>元、最高可貸金額</a:t>
            </a:r>
            <a:r>
              <a:rPr lang="en-US" altLang="zh-TW"/>
              <a:t>800</a:t>
            </a:r>
            <a:r>
              <a:rPr lang="zh-TW" altLang="en-US"/>
              <a:t>萬</a:t>
            </a:r>
            <a:endParaRPr lang="en-US" altLang="zh-TW"/>
          </a:p>
        </p:txBody>
      </p:sp>
      <p:pic>
        <p:nvPicPr>
          <p:cNvPr id="1046" name="Picture 22" descr="國泰世華銀行">
            <a:extLst>
              <a:ext uri="{FF2B5EF4-FFF2-40B4-BE49-F238E27FC236}">
                <a16:creationId xmlns:a16="http://schemas.microsoft.com/office/drawing/2014/main" id="{29DB62DE-A47F-9C98-0F4E-F5A01FDB1C89}"/>
              </a:ext>
            </a:extLst>
          </p:cNvPr>
          <p:cNvPicPr>
            <a:picLocks noChangeAspect="1" noChangeArrowheads="1"/>
          </p:cNvPicPr>
          <p:nvPr/>
        </p:nvPicPr>
        <p:blipFill rotWithShape="1">
          <a:blip r:embed="rId12">
            <a:extLst>
              <a:ext uri="{28A0092B-C50C-407E-A947-70E740481C1C}">
                <a14:useLocalDpi xmlns:a14="http://schemas.microsoft.com/office/drawing/2010/main" val="0"/>
              </a:ext>
            </a:extLst>
          </a:blip>
          <a:srcRect t="32640" b="34208"/>
          <a:stretch/>
        </p:blipFill>
        <p:spPr bwMode="auto">
          <a:xfrm>
            <a:off x="455085" y="3851285"/>
            <a:ext cx="2080296" cy="413799"/>
          </a:xfrm>
          <a:prstGeom prst="rect">
            <a:avLst/>
          </a:prstGeom>
          <a:noFill/>
          <a:extLst>
            <a:ext uri="{909E8E84-426E-40DD-AFC4-6F175D3DCCD1}">
              <a14:hiddenFill xmlns:a14="http://schemas.microsoft.com/office/drawing/2010/main">
                <a:solidFill>
                  <a:srgbClr val="FFFFFF"/>
                </a:solidFill>
              </a14:hiddenFill>
            </a:ext>
          </a:extLst>
        </p:spPr>
      </p:pic>
      <p:sp>
        <p:nvSpPr>
          <p:cNvPr id="32" name="文字方塊 31">
            <a:extLst>
              <a:ext uri="{FF2B5EF4-FFF2-40B4-BE49-F238E27FC236}">
                <a16:creationId xmlns:a16="http://schemas.microsoft.com/office/drawing/2014/main" id="{B8DD75A2-6FFE-FBBB-10F7-6F74012CBBE3}"/>
              </a:ext>
            </a:extLst>
          </p:cNvPr>
          <p:cNvSpPr txBox="1"/>
          <p:nvPr/>
        </p:nvSpPr>
        <p:spPr>
          <a:xfrm>
            <a:off x="520895" y="4522783"/>
            <a:ext cx="2812473" cy="338554"/>
          </a:xfrm>
          <a:prstGeom prst="rect">
            <a:avLst/>
          </a:prstGeom>
          <a:noFill/>
        </p:spPr>
        <p:txBody>
          <a:bodyPr wrap="square">
            <a:spAutoFit/>
          </a:bodyPr>
          <a:lstStyle>
            <a:defPPr>
              <a:defRPr lang="zh-TW"/>
            </a:defPPr>
            <a:lvl1pPr>
              <a:defRPr sz="800">
                <a:solidFill>
                  <a:schemeClr val="bg2">
                    <a:lumMod val="50000"/>
                  </a:schemeClr>
                </a:solidFill>
                <a:latin typeface="Trebuchet MS" panose="020B0703020202090204" pitchFamily="34" charset="0"/>
              </a:defRPr>
            </a:lvl1pPr>
          </a:lstStyle>
          <a:p>
            <a:r>
              <a:rPr lang="zh-TW" altLang="en-US"/>
              <a:t>股票質押貸款：</a:t>
            </a:r>
            <a:endParaRPr lang="en-US" altLang="zh-TW"/>
          </a:p>
          <a:p>
            <a:r>
              <a:rPr lang="zh-TW" altLang="en-US"/>
              <a:t>利率</a:t>
            </a:r>
            <a:r>
              <a:rPr lang="en-US" altLang="zh-TW"/>
              <a:t> 2.95%</a:t>
            </a:r>
            <a:r>
              <a:rPr lang="zh-TW" altLang="en-US"/>
              <a:t>起且管理與手續費</a:t>
            </a:r>
            <a:r>
              <a:rPr lang="en-US" altLang="zh-TW"/>
              <a:t>5,000</a:t>
            </a:r>
            <a:r>
              <a:rPr lang="zh-TW" altLang="en-US"/>
              <a:t>～</a:t>
            </a:r>
            <a:r>
              <a:rPr lang="en-US" altLang="zh-TW"/>
              <a:t>20,000 </a:t>
            </a:r>
            <a:r>
              <a:rPr lang="zh-TW" altLang="en-US"/>
              <a:t>元</a:t>
            </a:r>
            <a:endParaRPr lang="en-US" altLang="zh-TW"/>
          </a:p>
        </p:txBody>
      </p:sp>
    </p:spTree>
    <p:extLst>
      <p:ext uri="{BB962C8B-B14F-4D97-AF65-F5344CB8AC3E}">
        <p14:creationId xmlns:p14="http://schemas.microsoft.com/office/powerpoint/2010/main" val="115770087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a:extLst>
              <a:ext uri="{FF2B5EF4-FFF2-40B4-BE49-F238E27FC236}">
                <a16:creationId xmlns:a16="http://schemas.microsoft.com/office/drawing/2014/main" id="{681A50CD-F4FC-4D49-AD72-F0F6203299D1}"/>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395" imgH="394" progId="TCLayout.ActiveDocument.1">
                  <p:embed/>
                </p:oleObj>
              </mc:Choice>
              <mc:Fallback>
                <p:oleObj name="think-cell Slide" r:id="rId6" imgW="395" imgH="394" progId="TCLayout.ActiveDocument.1">
                  <p:embed/>
                  <p:pic>
                    <p:nvPicPr>
                      <p:cNvPr id="6" name="Object 5" hidden="1">
                        <a:extLst>
                          <a:ext uri="{FF2B5EF4-FFF2-40B4-BE49-F238E27FC236}">
                            <a16:creationId xmlns:a16="http://schemas.microsoft.com/office/drawing/2014/main" id="{681A50CD-F4FC-4D49-AD72-F0F6203299D1}"/>
                          </a:ext>
                        </a:extLst>
                      </p:cNvPr>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8" name="Rectangle 7" hidden="1">
            <a:extLst>
              <a:ext uri="{FF2B5EF4-FFF2-40B4-BE49-F238E27FC236}">
                <a16:creationId xmlns:a16="http://schemas.microsoft.com/office/drawing/2014/main" id="{7BA7BC32-E14B-4A59-8BDA-3E8AB20C5488}"/>
              </a:ext>
            </a:extLst>
          </p:cNvPr>
          <p:cNvSpPr/>
          <p:nvPr>
            <p:custDataLst>
              <p:tags r:id="rId2"/>
            </p:custDataLst>
          </p:nvPr>
        </p:nvSpPr>
        <p:spPr>
          <a:xfrm>
            <a:off x="0" y="0"/>
            <a:ext cx="158750" cy="158750"/>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endParaRPr lang="en-US" sz="2400">
              <a:solidFill>
                <a:srgbClr val="FFFFFF"/>
              </a:solidFill>
              <a:latin typeface="Trebuchet MS" panose="020B0603020202020204" pitchFamily="34" charset="0"/>
              <a:ea typeface="+mj-ea"/>
              <a:cs typeface="+mj-cs"/>
              <a:sym typeface="Trebuchet MS" panose="020B0603020202020204" pitchFamily="34" charset="0"/>
            </a:endParaRPr>
          </a:p>
        </p:txBody>
      </p:sp>
      <p:sp>
        <p:nvSpPr>
          <p:cNvPr id="2" name="Rectangle 1">
            <a:extLst>
              <a:ext uri="{FF2B5EF4-FFF2-40B4-BE49-F238E27FC236}">
                <a16:creationId xmlns:a16="http://schemas.microsoft.com/office/drawing/2014/main" id="{1FF4F342-18D1-4DA7-A687-1490ABF14A32}"/>
              </a:ext>
            </a:extLst>
          </p:cNvPr>
          <p:cNvSpPr/>
          <p:nvPr/>
        </p:nvSpPr>
        <p:spPr>
          <a:xfrm>
            <a:off x="11285316" y="6310357"/>
            <a:ext cx="370390" cy="273769"/>
          </a:xfrm>
          <a:prstGeom prst="rect">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5" name="Title 4">
            <a:extLst>
              <a:ext uri="{FF2B5EF4-FFF2-40B4-BE49-F238E27FC236}">
                <a16:creationId xmlns:a16="http://schemas.microsoft.com/office/drawing/2014/main" id="{C04EC2B4-FE22-4FCF-A304-14E1A1F7379C}"/>
              </a:ext>
            </a:extLst>
          </p:cNvPr>
          <p:cNvSpPr>
            <a:spLocks noGrp="1"/>
          </p:cNvSpPr>
          <p:nvPr>
            <p:ph type="title"/>
          </p:nvPr>
        </p:nvSpPr>
        <p:spPr>
          <a:xfrm>
            <a:off x="630000" y="622800"/>
            <a:ext cx="10933350" cy="332399"/>
          </a:xfrm>
        </p:spPr>
        <p:txBody>
          <a:bodyPr/>
          <a:lstStyle/>
          <a:p>
            <a:r>
              <a:rPr lang="en-US">
                <a:solidFill>
                  <a:srgbClr val="295E7E"/>
                </a:solidFill>
              </a:rPr>
              <a:t>Onboarding &amp; activation: </a:t>
            </a:r>
            <a:r>
              <a:rPr lang="en-US"/>
              <a:t>Key lessons learnt from expert interviews </a:t>
            </a:r>
            <a:r>
              <a:rPr lang="pl-PL"/>
              <a:t>(I/II)</a:t>
            </a:r>
            <a:endParaRPr lang="en-US"/>
          </a:p>
        </p:txBody>
      </p:sp>
      <p:graphicFrame>
        <p:nvGraphicFramePr>
          <p:cNvPr id="7" name="Table 7">
            <a:extLst>
              <a:ext uri="{FF2B5EF4-FFF2-40B4-BE49-F238E27FC236}">
                <a16:creationId xmlns:a16="http://schemas.microsoft.com/office/drawing/2014/main" id="{7460F80F-8604-40CA-BE4C-CE84C832D4D4}"/>
              </a:ext>
            </a:extLst>
          </p:cNvPr>
          <p:cNvGraphicFramePr>
            <a:graphicFrameLocks noGrp="1"/>
          </p:cNvGraphicFramePr>
          <p:nvPr/>
        </p:nvGraphicFramePr>
        <p:xfrm>
          <a:off x="628650" y="1479742"/>
          <a:ext cx="10934700" cy="5046472"/>
        </p:xfrm>
        <a:graphic>
          <a:graphicData uri="http://schemas.openxmlformats.org/drawingml/2006/table">
            <a:tbl>
              <a:tblPr firstRow="1" bandRow="1">
                <a:tableStyleId>{5C22544A-7EE6-4342-B048-85BDC9FD1C3A}</a:tableStyleId>
              </a:tblPr>
              <a:tblGrid>
                <a:gridCol w="1223596">
                  <a:extLst>
                    <a:ext uri="{9D8B030D-6E8A-4147-A177-3AD203B41FA5}">
                      <a16:colId xmlns:a16="http://schemas.microsoft.com/office/drawing/2014/main" val="1039709564"/>
                    </a:ext>
                  </a:extLst>
                </a:gridCol>
                <a:gridCol w="2650306">
                  <a:extLst>
                    <a:ext uri="{9D8B030D-6E8A-4147-A177-3AD203B41FA5}">
                      <a16:colId xmlns:a16="http://schemas.microsoft.com/office/drawing/2014/main" val="4080779222"/>
                    </a:ext>
                  </a:extLst>
                </a:gridCol>
                <a:gridCol w="3206187">
                  <a:extLst>
                    <a:ext uri="{9D8B030D-6E8A-4147-A177-3AD203B41FA5}">
                      <a16:colId xmlns:a16="http://schemas.microsoft.com/office/drawing/2014/main" val="70669126"/>
                    </a:ext>
                  </a:extLst>
                </a:gridCol>
                <a:gridCol w="3854611">
                  <a:extLst>
                    <a:ext uri="{9D8B030D-6E8A-4147-A177-3AD203B41FA5}">
                      <a16:colId xmlns:a16="http://schemas.microsoft.com/office/drawing/2014/main" val="3773710827"/>
                    </a:ext>
                  </a:extLst>
                </a:gridCol>
              </a:tblGrid>
              <a:tr h="370840">
                <a:tc>
                  <a:txBody>
                    <a:bodyPr/>
                    <a:lstStyle/>
                    <a:p>
                      <a:endParaRPr lang="en-US" sz="1600" b="0">
                        <a:solidFill>
                          <a:srgbClr val="29BA74"/>
                        </a:solidFill>
                      </a:endParaRPr>
                    </a:p>
                  </a:txBody>
                  <a:tcPr>
                    <a:lnB w="12700" cap="flat" cmpd="sng" algn="ctr">
                      <a:solidFill>
                        <a:schemeClr val="tx2"/>
                      </a:solidFill>
                      <a:prstDash val="solid"/>
                      <a:round/>
                      <a:headEnd type="none" w="med" len="med"/>
                      <a:tailEnd type="none" w="med" len="med"/>
                    </a:lnB>
                    <a:noFill/>
                  </a:tcPr>
                </a:tc>
                <a:tc>
                  <a:txBody>
                    <a:bodyPr/>
                    <a:lstStyle/>
                    <a:p>
                      <a:r>
                        <a:rPr lang="pl-PL" sz="1600" b="0">
                          <a:solidFill>
                            <a:srgbClr val="E71C57"/>
                          </a:solidFill>
                        </a:rPr>
                        <a:t>Dont's</a:t>
                      </a:r>
                      <a:endParaRPr lang="en-US" sz="1600" b="0">
                        <a:solidFill>
                          <a:srgbClr val="E71C57"/>
                        </a:solidFill>
                      </a:endParaRPr>
                    </a:p>
                  </a:txBody>
                  <a:tcPr>
                    <a:lnB w="12700" cap="flat" cmpd="sng" algn="ctr">
                      <a:solidFill>
                        <a:schemeClr val="tx2"/>
                      </a:solidFill>
                      <a:prstDash val="solid"/>
                      <a:round/>
                      <a:headEnd type="none" w="med" len="med"/>
                      <a:tailEnd type="none" w="med" len="med"/>
                    </a:lnB>
                    <a:noFill/>
                  </a:tcPr>
                </a:tc>
                <a:tc>
                  <a:txBody>
                    <a:bodyPr/>
                    <a:lstStyle/>
                    <a:p>
                      <a:r>
                        <a:rPr lang="pl-PL" sz="1600" b="0">
                          <a:solidFill>
                            <a:srgbClr val="29BA74"/>
                          </a:solidFill>
                        </a:rPr>
                        <a:t>Do's</a:t>
                      </a:r>
                      <a:endParaRPr lang="en-US" sz="1600" b="0">
                        <a:solidFill>
                          <a:srgbClr val="29BA74"/>
                        </a:solidFill>
                      </a:endParaRPr>
                    </a:p>
                  </a:txBody>
                  <a:tcPr>
                    <a:lnR w="12700" cap="flat" cmpd="sng" algn="ctr">
                      <a:solidFill>
                        <a:schemeClr val="tx2"/>
                      </a:solidFill>
                      <a:prstDash val="solid"/>
                      <a:round/>
                      <a:headEnd type="none" w="med" len="med"/>
                      <a:tailEnd type="none" w="med" len="med"/>
                    </a:lnR>
                    <a:lnB w="12700" cap="flat" cmpd="sng" algn="ctr">
                      <a:solidFill>
                        <a:schemeClr val="tx2"/>
                      </a:solidFill>
                      <a:prstDash val="solid"/>
                      <a:round/>
                      <a:headEnd type="none" w="med" len="med"/>
                      <a:tailEnd type="none" w="med" len="med"/>
                    </a:lnB>
                    <a:noFill/>
                  </a:tcPr>
                </a:tc>
                <a:tc>
                  <a:txBody>
                    <a:bodyPr/>
                    <a:lstStyle/>
                    <a:p>
                      <a:r>
                        <a:rPr lang="pl-PL" sz="1600" b="0">
                          <a:solidFill>
                            <a:srgbClr val="29BA74"/>
                          </a:solidFill>
                        </a:rPr>
                        <a:t>Quotes</a:t>
                      </a:r>
                      <a:endParaRPr lang="en-US" sz="1600" b="0">
                        <a:solidFill>
                          <a:srgbClr val="29BA74"/>
                        </a:solidFill>
                      </a:endParaRPr>
                    </a:p>
                  </a:txBody>
                  <a:tcPr>
                    <a:lnL w="12700" cap="flat" cmpd="sng" algn="ctr">
                      <a:solidFill>
                        <a:schemeClr val="tx2"/>
                      </a:solidFill>
                      <a:prstDash val="solid"/>
                      <a:round/>
                      <a:headEnd type="none" w="med" len="med"/>
                      <a:tailEnd type="none" w="med" len="med"/>
                    </a:lnL>
                    <a:lnB w="12700" cap="flat" cmpd="sng" algn="ctr">
                      <a:solidFill>
                        <a:schemeClr val="tx2"/>
                      </a:solidFill>
                      <a:prstDash val="solid"/>
                      <a:round/>
                      <a:headEnd type="none" w="med" len="med"/>
                      <a:tailEnd type="none" w="med" len="med"/>
                    </a:lnB>
                    <a:noFill/>
                  </a:tcPr>
                </a:tc>
                <a:extLst>
                  <a:ext uri="{0D108BD9-81ED-4DB2-BD59-A6C34878D82A}">
                    <a16:rowId xmlns:a16="http://schemas.microsoft.com/office/drawing/2014/main" val="2520642187"/>
                  </a:ext>
                </a:extLst>
              </a:tr>
              <a:tr h="370840">
                <a:tc>
                  <a:txBody>
                    <a:bodyPr/>
                    <a:lstStyle/>
                    <a:p>
                      <a:r>
                        <a:rPr lang="en-US" sz="1400">
                          <a:solidFill>
                            <a:srgbClr val="29BA74"/>
                          </a:solidFill>
                        </a:rPr>
                        <a:t>Promo</a:t>
                      </a:r>
                    </a:p>
                  </a:txBody>
                  <a:tcPr marL="72000">
                    <a:lnT w="12700" cap="flat" cmpd="sng" algn="ctr">
                      <a:solidFill>
                        <a:schemeClr val="tx2"/>
                      </a:solidFill>
                      <a:prstDash val="solid"/>
                      <a:round/>
                      <a:headEnd type="none" w="med" len="med"/>
                      <a:tailEnd type="none" w="med" len="med"/>
                    </a:lnT>
                    <a:lnB w="9525" cap="flat" cmpd="sng" algn="ctr">
                      <a:solidFill>
                        <a:schemeClr val="bg1">
                          <a:lumMod val="75000"/>
                        </a:schemeClr>
                      </a:solidFill>
                      <a:prstDash val="sysDot"/>
                      <a:round/>
                      <a:headEnd type="none" w="med" len="med"/>
                      <a:tailEnd type="none" w="med" len="med"/>
                    </a:lnB>
                    <a:solidFill>
                      <a:srgbClr val="F2F2F2"/>
                    </a:solidFill>
                  </a:tcPr>
                </a:tc>
                <a:tc>
                  <a:txBody>
                    <a:bodyPr/>
                    <a:lstStyle/>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a:solidFill>
                            <a:srgbClr val="29BA74"/>
                          </a:solidFill>
                          <a:latin typeface="Trebuchet MS" panose="020B0603020202020204" pitchFamily="34" charset="0"/>
                        </a:rPr>
                        <a:t>Plain cash incentives </a:t>
                      </a:r>
                      <a:r>
                        <a:rPr lang="en-US" sz="1200" i="0" u="none" kern="1200" spc="0">
                          <a:solidFill>
                            <a:schemeClr val="tx1"/>
                          </a:solidFill>
                          <a:latin typeface="Trebuchet MS" panose="020B0603020202020204" pitchFamily="34" charset="0"/>
                        </a:rPr>
                        <a:t>– encouraging mostly young customers and promotion seekers willing to change banks very often</a:t>
                      </a:r>
                    </a:p>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a:solidFill>
                            <a:schemeClr val="tx1"/>
                          </a:solidFill>
                          <a:latin typeface="Trebuchet MS" panose="020B0603020202020204" pitchFamily="34" charset="0"/>
                        </a:rPr>
                        <a:t>Very </a:t>
                      </a:r>
                      <a:r>
                        <a:rPr lang="en-US" sz="1200" i="0" u="none" kern="1200" spc="0">
                          <a:solidFill>
                            <a:srgbClr val="29BA74"/>
                          </a:solidFill>
                          <a:latin typeface="Trebuchet MS" panose="020B0603020202020204" pitchFamily="34" charset="0"/>
                        </a:rPr>
                        <a:t>complicated promos </a:t>
                      </a:r>
                      <a:r>
                        <a:rPr lang="en-US" sz="1200" i="0" u="none" kern="1200" spc="0">
                          <a:solidFill>
                            <a:schemeClr val="tx1"/>
                          </a:solidFill>
                          <a:latin typeface="Trebuchet MS" panose="020B0603020202020204" pitchFamily="34" charset="0"/>
                        </a:rPr>
                        <a:t>(e.g. sophisticated gamification)</a:t>
                      </a:r>
                    </a:p>
                  </a:txBody>
                  <a:tcPr marL="0">
                    <a:lnT w="12700" cap="flat" cmpd="sng" algn="ctr">
                      <a:solidFill>
                        <a:schemeClr val="tx2"/>
                      </a:solidFill>
                      <a:prstDash val="solid"/>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tc>
                  <a:txBody>
                    <a:bodyPr/>
                    <a:lstStyle/>
                    <a:p>
                      <a:pPr marL="324000" marR="0" lvl="1" indent="-216000" algn="l" defTabSz="914400" rtl="0" eaLnBrk="1" fontAlgn="auto" latinLnBrk="0" hangingPunct="1">
                        <a:lnSpc>
                          <a:spcPct val="95000"/>
                        </a:lnSpc>
                        <a:spcBef>
                          <a:spcPts val="0"/>
                        </a:spcBef>
                        <a:spcAft>
                          <a:spcPts val="0"/>
                        </a:spcAft>
                        <a:buClr>
                          <a:schemeClr val="tx2"/>
                        </a:buClr>
                        <a:buSzPct val="100000"/>
                        <a:buFont typeface="Trebuchet MS" panose="020B0603020202020204" pitchFamily="34" charset="0"/>
                        <a:buChar char="•"/>
                        <a:tabLst/>
                        <a:defRPr/>
                      </a:pPr>
                      <a:r>
                        <a:rPr lang="en-US" sz="1200" i="0" u="none" kern="1200" spc="0">
                          <a:solidFill>
                            <a:srgbClr val="29BA74"/>
                          </a:solidFill>
                          <a:latin typeface="Trebuchet MS" panose="020B0603020202020204" pitchFamily="34" charset="0"/>
                        </a:rPr>
                        <a:t>Promotions enhancing loyalty </a:t>
                      </a:r>
                      <a:r>
                        <a:rPr lang="en-US" sz="1200" i="0" u="none" kern="1200" spc="0">
                          <a:solidFill>
                            <a:schemeClr val="tx1"/>
                          </a:solidFill>
                          <a:latin typeface="Trebuchet MS" panose="020B0603020202020204" pitchFamily="34" charset="0"/>
                        </a:rPr>
                        <a:t>- giving access to VIP offers or better options for new products (according to principles: the more you use the more you get)</a:t>
                      </a:r>
                    </a:p>
                    <a:p>
                      <a:pPr marL="324000" marR="0" lvl="1" indent="-216000" algn="l" defTabSz="914400" rtl="0" eaLnBrk="1" fontAlgn="auto" latinLnBrk="0" hangingPunct="1">
                        <a:lnSpc>
                          <a:spcPct val="95000"/>
                        </a:lnSpc>
                        <a:spcBef>
                          <a:spcPts val="0"/>
                        </a:spcBef>
                        <a:spcAft>
                          <a:spcPts val="0"/>
                        </a:spcAft>
                        <a:buClr>
                          <a:schemeClr val="tx2"/>
                        </a:buClr>
                        <a:buSzPct val="100000"/>
                        <a:buFont typeface="Trebuchet MS" panose="020B0603020202020204" pitchFamily="34" charset="0"/>
                        <a:buChar char="•"/>
                        <a:tabLst/>
                        <a:defRPr/>
                      </a:pPr>
                      <a:r>
                        <a:rPr lang="en-US" sz="1200" i="0" u="none" kern="1200" spc="0">
                          <a:solidFill>
                            <a:srgbClr val="29BA74"/>
                          </a:solidFill>
                          <a:latin typeface="Trebuchet MS" panose="020B0603020202020204" pitchFamily="34" charset="0"/>
                        </a:rPr>
                        <a:t>Simple promotions targeted to segments </a:t>
                      </a:r>
                      <a:r>
                        <a:rPr lang="en-US" sz="1200" i="0" u="none" kern="1200" spc="0">
                          <a:solidFill>
                            <a:schemeClr val="tx1"/>
                          </a:solidFill>
                          <a:latin typeface="Trebuchet MS" panose="020B0603020202020204" pitchFamily="34" charset="0"/>
                        </a:rPr>
                        <a:t>needs (e.g. cash for students, next level service / offers for mass, etc.)</a:t>
                      </a:r>
                      <a:endParaRPr lang="en-US" sz="1200" i="0" u="none" kern="1200" spc="0">
                        <a:latin typeface="Trebuchet MS" panose="020B0603020202020204" pitchFamily="34" charset="0"/>
                      </a:endParaRPr>
                    </a:p>
                  </a:txBody>
                  <a:tcPr marL="0">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tc>
                  <a:txBody>
                    <a:bodyPr/>
                    <a:lstStyle/>
                    <a:p>
                      <a:pPr marL="0" lvl="0" indent="0" algn="l" defTabSz="914400" rtl="0" eaLnBrk="1" latinLnBrk="0" hangingPunct="1">
                        <a:lnSpc>
                          <a:spcPct val="95000"/>
                        </a:lnSpc>
                        <a:spcBef>
                          <a:spcPts val="0"/>
                        </a:spcBef>
                        <a:spcAft>
                          <a:spcPts val="0"/>
                        </a:spcAft>
                        <a:buClrTx/>
                        <a:buSzPct val="100000"/>
                        <a:buFont typeface="Trebuchet MS" panose="020B0603020202020204" pitchFamily="34" charset="0"/>
                        <a:buChar char="​"/>
                      </a:pPr>
                      <a:r>
                        <a:rPr lang="en-US" sz="1100" i="1" u="none" kern="1200" spc="0">
                          <a:solidFill>
                            <a:srgbClr val="7F7F7F"/>
                          </a:solidFill>
                          <a:latin typeface="Trebuchet MS" panose="020B0603020202020204" pitchFamily="34" charset="0"/>
                        </a:rPr>
                        <a:t>We </a:t>
                      </a:r>
                      <a:r>
                        <a:rPr lang="en-US" sz="1100" b="1" i="1" u="sng" kern="1200" spc="0">
                          <a:solidFill>
                            <a:srgbClr val="7F7F7F"/>
                          </a:solidFill>
                          <a:latin typeface="Trebuchet MS" panose="020B0603020202020204" pitchFamily="34" charset="0"/>
                        </a:rPr>
                        <a:t>do not want to invest into not loyal customers</a:t>
                      </a:r>
                      <a:r>
                        <a:rPr lang="en-US" sz="1100" i="1" u="none" kern="1200" spc="0">
                          <a:solidFill>
                            <a:srgbClr val="7F7F7F"/>
                          </a:solidFill>
                          <a:latin typeface="Trebuchet MS" panose="020B0603020202020204" pitchFamily="34" charset="0"/>
                        </a:rPr>
                        <a:t>. Thus, we do not believe in cash promos because this a great encouragement for promo seekers who are going from bank to bank.</a:t>
                      </a:r>
                    </a:p>
                    <a:p>
                      <a:pPr marL="0" marR="0" lvl="0" indent="0" algn="r" defTabSz="914400" rtl="0" eaLnBrk="1" fontAlgn="auto" latinLnBrk="0" hangingPunct="1">
                        <a:lnSpc>
                          <a:spcPct val="95000"/>
                        </a:lnSpc>
                        <a:spcBef>
                          <a:spcPts val="0"/>
                        </a:spcBef>
                        <a:spcAft>
                          <a:spcPts val="0"/>
                        </a:spcAft>
                        <a:buClrTx/>
                        <a:buSzPct val="100000"/>
                        <a:buFont typeface="Trebuchet MS" panose="020B0603020202020204" pitchFamily="34" charset="0"/>
                        <a:buChar char="​"/>
                        <a:tabLst/>
                        <a:defRPr/>
                      </a:pPr>
                      <a:r>
                        <a:rPr lang="en-US" sz="1100" b="1" i="0" u="none" kern="1200" spc="0">
                          <a:solidFill>
                            <a:schemeClr val="tx1"/>
                          </a:solidFill>
                          <a:latin typeface="Trebuchet MS" panose="020B0603020202020204" pitchFamily="34" charset="0"/>
                        </a:rPr>
                        <a:t>Head of Onboarding</a:t>
                      </a:r>
                      <a:br>
                        <a:rPr lang="en-US" sz="1100" b="1" i="0" u="none" kern="1200" spc="0">
                          <a:solidFill>
                            <a:schemeClr val="tx1"/>
                          </a:solidFill>
                          <a:latin typeface="Trebuchet MS" panose="020B0603020202020204" pitchFamily="34" charset="0"/>
                        </a:rPr>
                      </a:br>
                      <a:r>
                        <a:rPr lang="en-US" sz="1100" b="1" i="0" u="none" kern="1200" spc="0">
                          <a:solidFill>
                            <a:schemeClr val="tx1"/>
                          </a:solidFill>
                          <a:latin typeface="Trebuchet MS" panose="020B0603020202020204" pitchFamily="34" charset="0"/>
                        </a:rPr>
                        <a:t> and Mobile Services at </a:t>
                      </a:r>
                      <a:r>
                        <a:rPr lang="en-US" sz="1100" b="1" i="0" u="none" kern="1200" spc="0" err="1">
                          <a:solidFill>
                            <a:schemeClr val="tx1"/>
                          </a:solidFill>
                          <a:latin typeface="Trebuchet MS" panose="020B0603020202020204" pitchFamily="34" charset="0"/>
                        </a:rPr>
                        <a:t>Aion</a:t>
                      </a:r>
                      <a:r>
                        <a:rPr lang="en-US" sz="1100" b="1" i="0" u="none" kern="1200" spc="0">
                          <a:solidFill>
                            <a:schemeClr val="tx1"/>
                          </a:solidFill>
                          <a:latin typeface="Trebuchet MS" panose="020B0603020202020204" pitchFamily="34" charset="0"/>
                        </a:rPr>
                        <a:t> Bank</a:t>
                      </a:r>
                    </a:p>
                  </a:txBody>
                  <a:tcPr>
                    <a:lnL w="12700" cap="flat" cmpd="sng" algn="ctr">
                      <a:solidFill>
                        <a:schemeClr val="tx2"/>
                      </a:solidFill>
                      <a:prstDash val="solid"/>
                      <a:round/>
                      <a:headEnd type="none" w="med" len="med"/>
                      <a:tailEnd type="none" w="med" len="med"/>
                    </a:lnL>
                    <a:lnT w="12700" cap="flat" cmpd="sng" algn="ctr">
                      <a:solidFill>
                        <a:schemeClr val="tx2"/>
                      </a:solidFill>
                      <a:prstDash val="solid"/>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extLst>
                  <a:ext uri="{0D108BD9-81ED-4DB2-BD59-A6C34878D82A}">
                    <a16:rowId xmlns:a16="http://schemas.microsoft.com/office/drawing/2014/main" val="512330485"/>
                  </a:ext>
                </a:extLst>
              </a:tr>
              <a:tr h="37084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a:solidFill>
                            <a:srgbClr val="29BA74"/>
                          </a:solidFill>
                        </a:rPr>
                        <a:t>Comm</a:t>
                      </a:r>
                      <a:r>
                        <a:rPr lang="pl-PL" sz="1400">
                          <a:solidFill>
                            <a:srgbClr val="29BA74"/>
                          </a:solidFill>
                        </a:rPr>
                        <a:t>.</a:t>
                      </a:r>
                      <a:r>
                        <a:rPr lang="en-US" sz="1400">
                          <a:solidFill>
                            <a:srgbClr val="29BA74"/>
                          </a:solidFill>
                        </a:rPr>
                        <a:t> strategy </a:t>
                      </a:r>
                    </a:p>
                    <a:p>
                      <a:endParaRPr lang="en-US" sz="1400">
                        <a:solidFill>
                          <a:srgbClr val="29BA74"/>
                        </a:solidFill>
                      </a:endParaRPr>
                    </a:p>
                  </a:txBody>
                  <a:tcPr marL="72000">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solidFill>
                      <a:srgbClr val="F2F2F2"/>
                    </a:solidFill>
                  </a:tcPr>
                </a:tc>
                <a:tc>
                  <a:txBody>
                    <a:bodyPr/>
                    <a:lstStyle/>
                    <a:p>
                      <a:pPr marL="324000" marR="0" lvl="1" indent="-216000" algn="l" defTabSz="914400" rtl="0" eaLnBrk="1" fontAlgn="auto" latinLnBrk="0" hangingPunct="1">
                        <a:lnSpc>
                          <a:spcPct val="95000"/>
                        </a:lnSpc>
                        <a:spcBef>
                          <a:spcPts val="0"/>
                        </a:spcBef>
                        <a:spcAft>
                          <a:spcPts val="0"/>
                        </a:spcAft>
                        <a:buClr>
                          <a:schemeClr val="tx2"/>
                        </a:buClr>
                        <a:buSzPct val="100000"/>
                        <a:buFont typeface="Trebuchet MS" panose="020B0603020202020204" pitchFamily="34" charset="0"/>
                        <a:buChar char="•"/>
                        <a:tabLst/>
                        <a:defRPr/>
                      </a:pPr>
                      <a:r>
                        <a:rPr lang="en-US" sz="1200" i="0" u="none" kern="1200" spc="0">
                          <a:solidFill>
                            <a:schemeClr val="tx1"/>
                          </a:solidFill>
                          <a:latin typeface="Trebuchet MS" panose="020B0603020202020204" pitchFamily="34" charset="0"/>
                        </a:rPr>
                        <a:t>Standardized communication</a:t>
                      </a:r>
                    </a:p>
                    <a:p>
                      <a:pPr marL="324000" marR="0" lvl="1" indent="-216000" algn="l" defTabSz="914400" rtl="0" eaLnBrk="1" fontAlgn="auto" latinLnBrk="0" hangingPunct="1">
                        <a:lnSpc>
                          <a:spcPct val="95000"/>
                        </a:lnSpc>
                        <a:spcBef>
                          <a:spcPts val="0"/>
                        </a:spcBef>
                        <a:spcAft>
                          <a:spcPts val="0"/>
                        </a:spcAft>
                        <a:buClr>
                          <a:schemeClr val="tx2"/>
                        </a:buClr>
                        <a:buSzPct val="100000"/>
                        <a:buFont typeface="Trebuchet MS" panose="020B0603020202020204" pitchFamily="34" charset="0"/>
                        <a:buChar char="•"/>
                        <a:tabLst/>
                        <a:defRPr/>
                      </a:pPr>
                      <a:r>
                        <a:rPr lang="en-US" sz="1200" i="0" u="none" kern="1200" spc="0">
                          <a:solidFill>
                            <a:schemeClr val="tx1"/>
                          </a:solidFill>
                          <a:latin typeface="Trebuchet MS" panose="020B0603020202020204" pitchFamily="34" charset="0"/>
                        </a:rPr>
                        <a:t>Communication not based on benefits</a:t>
                      </a:r>
                    </a:p>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endParaRPr lang="en-US" sz="1200" i="0" u="none" kern="1200" spc="0">
                        <a:solidFill>
                          <a:schemeClr val="tx1"/>
                        </a:solidFill>
                        <a:latin typeface="Trebuchet MS" panose="020B0603020202020204" pitchFamily="34" charset="0"/>
                      </a:endParaRPr>
                    </a:p>
                  </a:txBody>
                  <a:tcPr marL="0">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tc>
                  <a:txBody>
                    <a:bodyPr/>
                    <a:lstStyle/>
                    <a:p>
                      <a:pPr marL="324000" marR="0" lvl="1" indent="-216000" algn="l" defTabSz="914400" rtl="0" eaLnBrk="1" fontAlgn="auto" latinLnBrk="0" hangingPunct="1">
                        <a:lnSpc>
                          <a:spcPct val="95000"/>
                        </a:lnSpc>
                        <a:spcBef>
                          <a:spcPts val="0"/>
                        </a:spcBef>
                        <a:spcAft>
                          <a:spcPts val="0"/>
                        </a:spcAft>
                        <a:buClr>
                          <a:schemeClr val="tx2"/>
                        </a:buClr>
                        <a:buSzPct val="100000"/>
                        <a:buFont typeface="Trebuchet MS" panose="020B0603020202020204" pitchFamily="34" charset="0"/>
                        <a:buChar char="•"/>
                        <a:tabLst/>
                        <a:defRPr/>
                      </a:pPr>
                      <a:r>
                        <a:rPr lang="en-US" sz="1200" i="0" u="none" kern="1200" spc="0">
                          <a:solidFill>
                            <a:srgbClr val="29BA74"/>
                          </a:solidFill>
                          <a:latin typeface="Trebuchet MS" panose="020B0603020202020204" pitchFamily="34" charset="0"/>
                        </a:rPr>
                        <a:t>Personalized communication</a:t>
                      </a:r>
                    </a:p>
                    <a:p>
                      <a:pPr marL="324000" marR="0" lvl="1" indent="-216000" algn="l" defTabSz="914400" rtl="0" eaLnBrk="1" fontAlgn="auto" latinLnBrk="0" hangingPunct="1">
                        <a:lnSpc>
                          <a:spcPct val="95000"/>
                        </a:lnSpc>
                        <a:spcBef>
                          <a:spcPts val="0"/>
                        </a:spcBef>
                        <a:spcAft>
                          <a:spcPts val="0"/>
                        </a:spcAft>
                        <a:buClr>
                          <a:schemeClr val="tx2"/>
                        </a:buClr>
                        <a:buSzPct val="100000"/>
                        <a:buFont typeface="Trebuchet MS" panose="020B0603020202020204" pitchFamily="34" charset="0"/>
                        <a:buChar char="•"/>
                        <a:tabLst/>
                        <a:defRPr/>
                      </a:pPr>
                      <a:r>
                        <a:rPr lang="en-US" sz="1200" i="0" u="none" kern="1200" spc="0">
                          <a:solidFill>
                            <a:schemeClr val="tx1"/>
                          </a:solidFill>
                          <a:latin typeface="Trebuchet MS" panose="020B0603020202020204" pitchFamily="34" charset="0"/>
                        </a:rPr>
                        <a:t>Emphasizing principle: </a:t>
                      </a:r>
                      <a:r>
                        <a:rPr lang="en-US" sz="1200" i="0" u="none" kern="1200" spc="0">
                          <a:solidFill>
                            <a:srgbClr val="29BA74"/>
                          </a:solidFill>
                          <a:latin typeface="Trebuchet MS" panose="020B0603020202020204" pitchFamily="34" charset="0"/>
                        </a:rPr>
                        <a:t>the longer you stay with us, the more you get </a:t>
                      </a:r>
                      <a:r>
                        <a:rPr lang="en-US" sz="1200" i="0" u="none" kern="1200" spc="0">
                          <a:solidFill>
                            <a:schemeClr val="tx1"/>
                          </a:solidFill>
                          <a:latin typeface="Trebuchet MS" panose="020B0603020202020204" pitchFamily="34" charset="0"/>
                        </a:rPr>
                        <a:t>(e.g. through hidden promotional offers, better / priority service)</a:t>
                      </a:r>
                    </a:p>
                    <a:p>
                      <a:pPr marL="324000" marR="0" lvl="1" indent="-216000" algn="l" defTabSz="914400" rtl="0" eaLnBrk="1" fontAlgn="auto" latinLnBrk="0" hangingPunct="1">
                        <a:lnSpc>
                          <a:spcPct val="95000"/>
                        </a:lnSpc>
                        <a:spcBef>
                          <a:spcPts val="0"/>
                        </a:spcBef>
                        <a:spcAft>
                          <a:spcPts val="0"/>
                        </a:spcAft>
                        <a:buClr>
                          <a:schemeClr val="tx2"/>
                        </a:buClr>
                        <a:buSzPct val="100000"/>
                        <a:buFont typeface="Trebuchet MS" panose="020B0603020202020204" pitchFamily="34" charset="0"/>
                        <a:buChar char="•"/>
                        <a:tabLst/>
                        <a:defRPr/>
                      </a:pPr>
                      <a:r>
                        <a:rPr lang="en-US" sz="1200" i="0" u="none" kern="1200" spc="0">
                          <a:solidFill>
                            <a:srgbClr val="29BA74"/>
                          </a:solidFill>
                          <a:latin typeface="Trebuchet MS" panose="020B0603020202020204" pitchFamily="34" charset="0"/>
                        </a:rPr>
                        <a:t>Benefits based communication </a:t>
                      </a:r>
                      <a:r>
                        <a:rPr lang="en-US" sz="1200" i="0" u="none" kern="1200" spc="0">
                          <a:solidFill>
                            <a:schemeClr val="tx1"/>
                          </a:solidFill>
                          <a:latin typeface="Trebuchet MS" panose="020B0603020202020204" pitchFamily="34" charset="0"/>
                        </a:rPr>
                        <a:t>(e.g. highlighting best-in-class </a:t>
                      </a:r>
                      <a:r>
                        <a:rPr lang="en-US" sz="1200" i="0" u="none" kern="1200" spc="0" err="1">
                          <a:solidFill>
                            <a:schemeClr val="tx1"/>
                          </a:solidFill>
                          <a:latin typeface="Trebuchet MS" panose="020B0603020202020204" pitchFamily="34" charset="0"/>
                        </a:rPr>
                        <a:t>VASes</a:t>
                      </a:r>
                      <a:r>
                        <a:rPr lang="en-US" sz="1200" i="0" u="none" kern="1200" spc="0">
                          <a:solidFill>
                            <a:schemeClr val="tx1"/>
                          </a:solidFill>
                          <a:latin typeface="Trebuchet MS" panose="020B0603020202020204" pitchFamily="34" charset="0"/>
                        </a:rPr>
                        <a:t>) </a:t>
                      </a:r>
                    </a:p>
                  </a:txBody>
                  <a:tcPr marL="0">
                    <a:lnR w="12700" cap="flat" cmpd="sng" algn="ctr">
                      <a:solidFill>
                        <a:schemeClr val="tx2"/>
                      </a:solidFill>
                      <a:prstDash val="solid"/>
                      <a:round/>
                      <a:headEnd type="none" w="med" len="med"/>
                      <a:tailEnd type="none" w="med" len="med"/>
                    </a:ln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tc>
                  <a:txBody>
                    <a:bodyPr/>
                    <a:lstStyle/>
                    <a:p>
                      <a:pPr marL="0" lvl="0" indent="0" algn="l" defTabSz="914400" rtl="0" eaLnBrk="1" latinLnBrk="0" hangingPunct="1">
                        <a:lnSpc>
                          <a:spcPct val="95000"/>
                        </a:lnSpc>
                        <a:spcBef>
                          <a:spcPts val="0"/>
                        </a:spcBef>
                        <a:spcAft>
                          <a:spcPts val="0"/>
                        </a:spcAft>
                        <a:buClrTx/>
                        <a:buSzPct val="100000"/>
                        <a:buFont typeface="Trebuchet MS" panose="020B0603020202020204" pitchFamily="34" charset="0"/>
                        <a:buChar char="​"/>
                      </a:pPr>
                      <a:r>
                        <a:rPr lang="en-US" sz="1100" i="1" u="none" kern="1200" spc="0">
                          <a:solidFill>
                            <a:srgbClr val="7F7F7F"/>
                          </a:solidFill>
                          <a:latin typeface="Trebuchet MS" panose="020B0603020202020204" pitchFamily="34" charset="0"/>
                        </a:rPr>
                        <a:t>In first days, we do not have much information about our new customers. But we do have something - even age. So, we always tray to </a:t>
                      </a:r>
                      <a:r>
                        <a:rPr lang="en-US" sz="1100" b="1" i="1" u="sng" kern="1200" spc="0">
                          <a:solidFill>
                            <a:srgbClr val="7F7F7F"/>
                          </a:solidFill>
                          <a:latin typeface="Trebuchet MS" panose="020B0603020202020204" pitchFamily="34" charset="0"/>
                        </a:rPr>
                        <a:t>tailor our communication strategy and messaging to customers</a:t>
                      </a:r>
                      <a:r>
                        <a:rPr lang="en-US" sz="1100" i="1" u="none" kern="1200" spc="0">
                          <a:solidFill>
                            <a:srgbClr val="7F7F7F"/>
                          </a:solidFill>
                          <a:latin typeface="Trebuchet MS" panose="020B0603020202020204" pitchFamily="34" charset="0"/>
                        </a:rPr>
                        <a:t>. Even if its only a simple - age segmentation. It is much better than standardized approach </a:t>
                      </a:r>
                    </a:p>
                    <a:p>
                      <a:pPr marL="0" lvl="0" indent="0" algn="r" defTabSz="914400" rtl="0" eaLnBrk="1" latinLnBrk="0" hangingPunct="1">
                        <a:lnSpc>
                          <a:spcPct val="95000"/>
                        </a:lnSpc>
                        <a:spcBef>
                          <a:spcPts val="0"/>
                        </a:spcBef>
                        <a:spcAft>
                          <a:spcPts val="0"/>
                        </a:spcAft>
                        <a:buClrTx/>
                        <a:buSzPct val="100000"/>
                        <a:buFont typeface="Trebuchet MS" panose="020B0603020202020204" pitchFamily="34" charset="0"/>
                        <a:buChar char="​"/>
                      </a:pPr>
                      <a:r>
                        <a:rPr lang="en-US" sz="1100" b="1" i="0" u="none" kern="1200" spc="0">
                          <a:solidFill>
                            <a:schemeClr val="tx1"/>
                          </a:solidFill>
                          <a:latin typeface="Trebuchet MS" panose="020B0603020202020204" pitchFamily="34" charset="0"/>
                        </a:rPr>
                        <a:t>Head of Onboarding </a:t>
                      </a:r>
                      <a:br>
                        <a:rPr lang="en-US" sz="1100" b="1" i="0" u="none" kern="1200" spc="0">
                          <a:solidFill>
                            <a:schemeClr val="tx1"/>
                          </a:solidFill>
                          <a:latin typeface="Trebuchet MS" panose="020B0603020202020204" pitchFamily="34" charset="0"/>
                        </a:rPr>
                      </a:br>
                      <a:r>
                        <a:rPr lang="en-US" sz="1100" b="1" i="0" u="none" kern="1200" spc="0">
                          <a:solidFill>
                            <a:schemeClr val="tx1"/>
                          </a:solidFill>
                          <a:latin typeface="Trebuchet MS" panose="020B0603020202020204" pitchFamily="34" charset="0"/>
                        </a:rPr>
                        <a:t>and Mobile Services at </a:t>
                      </a:r>
                      <a:r>
                        <a:rPr lang="en-US" sz="1100" b="1" i="0" u="none" kern="1200" spc="0" err="1">
                          <a:solidFill>
                            <a:schemeClr val="tx1"/>
                          </a:solidFill>
                          <a:latin typeface="Trebuchet MS" panose="020B0603020202020204" pitchFamily="34" charset="0"/>
                        </a:rPr>
                        <a:t>Aion</a:t>
                      </a:r>
                      <a:r>
                        <a:rPr lang="en-US" sz="1100" b="1" i="0" u="none" kern="1200" spc="0">
                          <a:solidFill>
                            <a:schemeClr val="tx1"/>
                          </a:solidFill>
                          <a:latin typeface="Trebuchet MS" panose="020B0603020202020204" pitchFamily="34" charset="0"/>
                        </a:rPr>
                        <a:t> Bank</a:t>
                      </a:r>
                    </a:p>
                  </a:txBody>
                  <a:tcPr>
                    <a:lnL w="12700" cap="flat" cmpd="sng" algn="ctr">
                      <a:solidFill>
                        <a:schemeClr val="tx2"/>
                      </a:solidFill>
                      <a:prstDash val="solid"/>
                      <a:round/>
                      <a:headEnd type="none" w="med" len="med"/>
                      <a:tailEnd type="none" w="med" len="med"/>
                    </a:lnL>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extLst>
                  <a:ext uri="{0D108BD9-81ED-4DB2-BD59-A6C34878D82A}">
                    <a16:rowId xmlns:a16="http://schemas.microsoft.com/office/drawing/2014/main" val="2335909884"/>
                  </a:ext>
                </a:extLst>
              </a:tr>
              <a:tr h="370840">
                <a:tc>
                  <a:txBody>
                    <a:bodyPr/>
                    <a:lstStyle/>
                    <a:p>
                      <a:r>
                        <a:rPr lang="en-US" sz="1400">
                          <a:solidFill>
                            <a:srgbClr val="29BA74"/>
                          </a:solidFill>
                        </a:rPr>
                        <a:t>Comm</a:t>
                      </a:r>
                      <a:r>
                        <a:rPr lang="pl-PL" sz="1400">
                          <a:solidFill>
                            <a:srgbClr val="29BA74"/>
                          </a:solidFill>
                        </a:rPr>
                        <a:t>.</a:t>
                      </a:r>
                      <a:r>
                        <a:rPr lang="en-US" sz="1400">
                          <a:solidFill>
                            <a:srgbClr val="29BA74"/>
                          </a:solidFill>
                        </a:rPr>
                        <a:t> </a:t>
                      </a:r>
                      <a:endParaRPr lang="pl-PL" sz="1400">
                        <a:solidFill>
                          <a:srgbClr val="29BA74"/>
                        </a:solidFill>
                      </a:endParaRPr>
                    </a:p>
                    <a:p>
                      <a:r>
                        <a:rPr lang="en-US" sz="1400">
                          <a:solidFill>
                            <a:srgbClr val="29BA74"/>
                          </a:solidFill>
                        </a:rPr>
                        <a:t>tools</a:t>
                      </a:r>
                    </a:p>
                  </a:txBody>
                  <a:tcPr marL="72000">
                    <a:lnT w="9525" cap="flat" cmpd="sng" algn="ctr">
                      <a:solidFill>
                        <a:schemeClr val="bg1">
                          <a:lumMod val="75000"/>
                        </a:schemeClr>
                      </a:solidFill>
                      <a:prstDash val="sysDot"/>
                      <a:round/>
                      <a:headEnd type="none" w="med" len="med"/>
                      <a:tailEnd type="none" w="med" len="med"/>
                    </a:lnT>
                    <a:lnB w="12700" cap="flat" cmpd="sng" algn="ctr">
                      <a:noFill/>
                      <a:prstDash val="solid"/>
                      <a:round/>
                      <a:headEnd type="none" w="med" len="med"/>
                      <a:tailEnd type="none" w="med" len="med"/>
                    </a:lnB>
                    <a:solidFill>
                      <a:srgbClr val="F2F2F2"/>
                    </a:solidFill>
                  </a:tcPr>
                </a:tc>
                <a:tc>
                  <a:txBody>
                    <a:bodyPr/>
                    <a:lstStyle/>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a:solidFill>
                            <a:schemeClr val="tx1"/>
                          </a:solidFill>
                          <a:latin typeface="Trebuchet MS" panose="020B0603020202020204" pitchFamily="34" charset="0"/>
                        </a:rPr>
                        <a:t>Push messages used for x-sell</a:t>
                      </a:r>
                    </a:p>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a:solidFill>
                            <a:srgbClr val="29BA74"/>
                          </a:solidFill>
                          <a:latin typeface="Trebuchet MS" panose="020B0603020202020204" pitchFamily="34" charset="0"/>
                        </a:rPr>
                        <a:t>Push messages used standalone </a:t>
                      </a:r>
                      <a:r>
                        <a:rPr lang="en-US" sz="1200" i="0" u="none" kern="1200" spc="0">
                          <a:solidFill>
                            <a:schemeClr val="tx1"/>
                          </a:solidFill>
                          <a:latin typeface="Trebuchet MS" panose="020B0603020202020204" pitchFamily="34" charset="0"/>
                        </a:rPr>
                        <a:t>without boosters (like e-mail or inside app message) for more complex info</a:t>
                      </a:r>
                    </a:p>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a:solidFill>
                            <a:schemeClr val="tx1"/>
                          </a:solidFill>
                          <a:latin typeface="Trebuchet MS" panose="020B0603020202020204" pitchFamily="34" charset="0"/>
                        </a:rPr>
                        <a:t>Long and wordy content </a:t>
                      </a:r>
                    </a:p>
                  </a:txBody>
                  <a:tcPr marL="0">
                    <a:lnT w="9525" cap="flat" cmpd="sng" algn="ctr">
                      <a:solidFill>
                        <a:schemeClr val="bg1">
                          <a:lumMod val="75000"/>
                        </a:schemeClr>
                      </a:solidFill>
                      <a:prstDash val="sysDot"/>
                      <a:round/>
                      <a:headEnd type="none" w="med" len="med"/>
                      <a:tailEnd type="none" w="med" len="med"/>
                    </a:lnT>
                    <a:lnB w="12700" cap="flat" cmpd="sng" algn="ctr">
                      <a:noFill/>
                      <a:prstDash val="solid"/>
                      <a:round/>
                      <a:headEnd type="none" w="med" len="med"/>
                      <a:tailEnd type="none" w="med" len="med"/>
                    </a:lnB>
                    <a:noFill/>
                  </a:tcPr>
                </a:tc>
                <a:tc>
                  <a:txBody>
                    <a:bodyPr/>
                    <a:lstStyle/>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a:solidFill>
                            <a:srgbClr val="29BA74"/>
                          </a:solidFill>
                          <a:latin typeface="Trebuchet MS" panose="020B0603020202020204" pitchFamily="34" charset="0"/>
                        </a:rPr>
                        <a:t>App Push combined with multistep approach: </a:t>
                      </a:r>
                      <a:r>
                        <a:rPr lang="en-US" sz="1200" i="0" u="none" kern="1200" spc="0">
                          <a:solidFill>
                            <a:srgbClr val="575757"/>
                          </a:solidFill>
                          <a:latin typeface="Trebuchet MS" panose="020B0603020202020204" pitchFamily="34" charset="0"/>
                        </a:rPr>
                        <a:t>push </a:t>
                      </a:r>
                      <a:r>
                        <a:rPr lang="en-US" sz="1200" i="0" u="none" kern="1200" spc="0">
                          <a:solidFill>
                            <a:schemeClr val="tx1"/>
                          </a:solidFill>
                          <a:latin typeface="Trebuchet MS" panose="020B0603020202020204" pitchFamily="34" charset="0"/>
                        </a:rPr>
                        <a:t>followed by inside app message (extended info) and e-mail (with full info and documents)</a:t>
                      </a:r>
                    </a:p>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a:solidFill>
                            <a:schemeClr val="tx1"/>
                          </a:solidFill>
                          <a:latin typeface="Trebuchet MS" panose="020B0603020202020204" pitchFamily="34" charset="0"/>
                        </a:rPr>
                        <a:t>App Pushes used to communicate new app features, important information (not x-sell)</a:t>
                      </a:r>
                    </a:p>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a:solidFill>
                            <a:schemeClr val="tx1"/>
                          </a:solidFill>
                          <a:latin typeface="Trebuchet MS" panose="020B0603020202020204" pitchFamily="34" charset="0"/>
                        </a:rPr>
                        <a:t>Communication with </a:t>
                      </a:r>
                      <a:r>
                        <a:rPr lang="en-US" sz="1200" i="0" u="none" kern="1200" spc="0">
                          <a:solidFill>
                            <a:srgbClr val="29BA74"/>
                          </a:solidFill>
                          <a:latin typeface="Trebuchet MS" panose="020B0603020202020204" pitchFamily="34" charset="0"/>
                        </a:rPr>
                        <a:t>usage of video and animations  </a:t>
                      </a:r>
                    </a:p>
                  </a:txBody>
                  <a:tcPr marL="0">
                    <a:lnR w="12700" cap="flat" cmpd="sng" algn="ctr">
                      <a:solidFill>
                        <a:schemeClr val="tx2"/>
                      </a:solidFill>
                      <a:prstDash val="solid"/>
                      <a:round/>
                      <a:headEnd type="none" w="med" len="med"/>
                      <a:tailEnd type="none" w="med" len="med"/>
                    </a:lnR>
                    <a:lnT w="9525" cap="flat" cmpd="sng" algn="ctr">
                      <a:solidFill>
                        <a:schemeClr val="bg1">
                          <a:lumMod val="75000"/>
                        </a:schemeClr>
                      </a:solidFill>
                      <a:prstDash val="sysDot"/>
                      <a:round/>
                      <a:headEnd type="none" w="med" len="med"/>
                      <a:tailEnd type="none" w="med" len="med"/>
                    </a:lnT>
                    <a:lnB w="12700" cap="flat" cmpd="sng" algn="ctr">
                      <a:noFill/>
                      <a:prstDash val="solid"/>
                      <a:round/>
                      <a:headEnd type="none" w="med" len="med"/>
                      <a:tailEnd type="none" w="med" len="med"/>
                    </a:lnB>
                    <a:noFill/>
                  </a:tcPr>
                </a:tc>
                <a:tc>
                  <a:txBody>
                    <a:bodyPr/>
                    <a:lstStyle/>
                    <a:p>
                      <a:pPr marL="0" lvl="0" indent="0" algn="l" defTabSz="914400" rtl="0" eaLnBrk="1" latinLnBrk="0" hangingPunct="1">
                        <a:lnSpc>
                          <a:spcPct val="95000"/>
                        </a:lnSpc>
                        <a:spcBef>
                          <a:spcPts val="0"/>
                        </a:spcBef>
                        <a:spcAft>
                          <a:spcPts val="0"/>
                        </a:spcAft>
                        <a:buClrTx/>
                        <a:buSzPct val="100000"/>
                        <a:buFont typeface="Trebuchet MS" panose="020B0603020202020204" pitchFamily="34" charset="0"/>
                        <a:buChar char="​"/>
                      </a:pPr>
                      <a:r>
                        <a:rPr lang="en-US" sz="1100" b="0" i="1" u="none" kern="1200" spc="0">
                          <a:solidFill>
                            <a:srgbClr val="7F7F7F"/>
                          </a:solidFill>
                          <a:latin typeface="Trebuchet MS" panose="020B0603020202020204" pitchFamily="34" charset="0"/>
                        </a:rPr>
                        <a:t>We never send standalone e-mail. If 40% of customers open an email, it's a success. On the other hand, e-mail is a great tool to strengthen the most effective communication tool - the push in app. In addition, </a:t>
                      </a:r>
                      <a:r>
                        <a:rPr lang="en-US" sz="1100" b="1" i="1" u="sng" kern="1200" spc="0">
                          <a:solidFill>
                            <a:srgbClr val="7F7F7F"/>
                          </a:solidFill>
                          <a:latin typeface="Trebuchet MS" panose="020B0603020202020204" pitchFamily="34" charset="0"/>
                        </a:rPr>
                        <a:t>push +</a:t>
                      </a:r>
                      <a:r>
                        <a:rPr lang="pl-PL" sz="1100" b="1" i="1" u="sng" kern="1200" spc="0">
                          <a:solidFill>
                            <a:srgbClr val="7F7F7F"/>
                          </a:solidFill>
                          <a:latin typeface="Trebuchet MS" panose="020B0603020202020204" pitchFamily="34" charset="0"/>
                        </a:rPr>
                        <a:t> </a:t>
                      </a:r>
                      <a:r>
                        <a:rPr lang="en-US" sz="1100" b="1" i="1" u="sng" kern="1200" spc="0">
                          <a:solidFill>
                            <a:srgbClr val="7F7F7F"/>
                          </a:solidFill>
                          <a:latin typeface="Trebuchet MS" panose="020B0603020202020204" pitchFamily="34" charset="0"/>
                        </a:rPr>
                        <a:t>e-mail allows you to track </a:t>
                      </a:r>
                      <a:r>
                        <a:rPr lang="en-US" sz="1100" b="0" i="1" u="none" kern="1200" spc="0">
                          <a:solidFill>
                            <a:srgbClr val="7F7F7F"/>
                          </a:solidFill>
                          <a:latin typeface="Trebuchet MS" panose="020B0603020202020204" pitchFamily="34" charset="0"/>
                        </a:rPr>
                        <a:t>whether the client opened the message (e.g. whether he opened an attached video). Thanks to this knowledge, we can be more aggressive in further communication, e.g. we can call him knowing that he is interested in our product</a:t>
                      </a:r>
                    </a:p>
                    <a:p>
                      <a:pPr marL="0" lvl="0" indent="0" algn="l" defTabSz="914400" rtl="0" eaLnBrk="1" latinLnBrk="0" hangingPunct="1">
                        <a:lnSpc>
                          <a:spcPct val="95000"/>
                        </a:lnSpc>
                        <a:spcBef>
                          <a:spcPts val="0"/>
                        </a:spcBef>
                        <a:spcAft>
                          <a:spcPts val="0"/>
                        </a:spcAft>
                        <a:buClrTx/>
                        <a:buSzPct val="100000"/>
                        <a:buFont typeface="Trebuchet MS" panose="020B0603020202020204" pitchFamily="34" charset="0"/>
                        <a:buChar char="​"/>
                      </a:pPr>
                      <a:endParaRPr lang="en-US" sz="1100" b="0" i="0" u="none" kern="1200" spc="0">
                        <a:solidFill>
                          <a:schemeClr val="tx1"/>
                        </a:solidFill>
                        <a:latin typeface="Trebuchet MS" panose="020B0603020202020204" pitchFamily="34" charset="0"/>
                      </a:endParaRPr>
                    </a:p>
                    <a:p>
                      <a:pPr marL="0" lvl="0" indent="0" algn="r" defTabSz="914400" rtl="0" eaLnBrk="1" latinLnBrk="0" hangingPunct="1">
                        <a:lnSpc>
                          <a:spcPct val="95000"/>
                        </a:lnSpc>
                        <a:spcBef>
                          <a:spcPts val="0"/>
                        </a:spcBef>
                        <a:spcAft>
                          <a:spcPts val="0"/>
                        </a:spcAft>
                        <a:buClrTx/>
                        <a:buSzPct val="100000"/>
                        <a:buFont typeface="Trebuchet MS" panose="020B0603020202020204" pitchFamily="34" charset="0"/>
                        <a:buChar char="​"/>
                      </a:pPr>
                      <a:r>
                        <a:rPr lang="en-US" sz="1100" b="1" i="0" u="none" kern="1200" spc="0">
                          <a:solidFill>
                            <a:schemeClr val="tx1"/>
                          </a:solidFill>
                          <a:latin typeface="Trebuchet MS" panose="020B0603020202020204" pitchFamily="34" charset="0"/>
                        </a:rPr>
                        <a:t>Roll-out Manager</a:t>
                      </a:r>
                      <a:br>
                        <a:rPr lang="en-US" sz="1100" b="1" i="0" u="none" kern="1200" spc="0">
                          <a:solidFill>
                            <a:schemeClr val="tx1"/>
                          </a:solidFill>
                          <a:latin typeface="Trebuchet MS" panose="020B0603020202020204" pitchFamily="34" charset="0"/>
                        </a:rPr>
                      </a:br>
                      <a:r>
                        <a:rPr lang="en-US" sz="1100" b="1" i="0" u="none" kern="1200" spc="0">
                          <a:solidFill>
                            <a:schemeClr val="tx1"/>
                          </a:solidFill>
                          <a:latin typeface="Trebuchet MS" panose="020B0603020202020204" pitchFamily="34" charset="0"/>
                        </a:rPr>
                        <a:t> to Digital Channels at ING Belgium</a:t>
                      </a:r>
                    </a:p>
                  </a:txBody>
                  <a:tcPr>
                    <a:lnL w="12700" cap="flat" cmpd="sng" algn="ctr">
                      <a:solidFill>
                        <a:schemeClr val="tx2"/>
                      </a:solidFill>
                      <a:prstDash val="solid"/>
                      <a:round/>
                      <a:headEnd type="none" w="med" len="med"/>
                      <a:tailEnd type="none" w="med" len="med"/>
                    </a:lnL>
                    <a:lnT w="9525" cap="flat" cmpd="sng" algn="ctr">
                      <a:solidFill>
                        <a:schemeClr val="bg1">
                          <a:lumMod val="75000"/>
                        </a:schemeClr>
                      </a:solidFill>
                      <a:prstDash val="sysDot"/>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723303899"/>
                  </a:ext>
                </a:extLst>
              </a:tr>
            </a:tbl>
          </a:graphicData>
        </a:graphic>
      </p:graphicFrame>
      <p:grpSp>
        <p:nvGrpSpPr>
          <p:cNvPr id="10" name="bcgBugs_ThumbsDown">
            <a:extLst>
              <a:ext uri="{FF2B5EF4-FFF2-40B4-BE49-F238E27FC236}">
                <a16:creationId xmlns:a16="http://schemas.microsoft.com/office/drawing/2014/main" id="{AC5D295B-0EFC-4C6A-B0C4-662C009DBC69}"/>
              </a:ext>
            </a:extLst>
          </p:cNvPr>
          <p:cNvGrpSpPr>
            <a:grpSpLocks noChangeAspect="1"/>
          </p:cNvGrpSpPr>
          <p:nvPr/>
        </p:nvGrpSpPr>
        <p:grpSpPr bwMode="auto">
          <a:xfrm>
            <a:off x="1963270" y="1180464"/>
            <a:ext cx="311968" cy="312274"/>
            <a:chOff x="2818" y="1137"/>
            <a:chExt cx="2044" cy="2046"/>
          </a:xfrm>
        </p:grpSpPr>
        <p:sp>
          <p:nvSpPr>
            <p:cNvPr id="11" name="AutoShape 7">
              <a:extLst>
                <a:ext uri="{FF2B5EF4-FFF2-40B4-BE49-F238E27FC236}">
                  <a16:creationId xmlns:a16="http://schemas.microsoft.com/office/drawing/2014/main" id="{3F00756D-A675-46AB-AE81-557C6EB648E6}"/>
                </a:ext>
              </a:extLst>
            </p:cNvPr>
            <p:cNvSpPr>
              <a:spLocks noChangeAspect="1" noChangeArrowheads="1" noTextEdit="1"/>
            </p:cNvSpPr>
            <p:nvPr/>
          </p:nvSpPr>
          <p:spPr bwMode="auto">
            <a:xfrm>
              <a:off x="2818" y="1137"/>
              <a:ext cx="2044" cy="2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9">
              <a:extLst>
                <a:ext uri="{FF2B5EF4-FFF2-40B4-BE49-F238E27FC236}">
                  <a16:creationId xmlns:a16="http://schemas.microsoft.com/office/drawing/2014/main" id="{B37E613C-3A3B-4CC4-A7E5-0C07454ECECF}"/>
                </a:ext>
              </a:extLst>
            </p:cNvPr>
            <p:cNvSpPr>
              <a:spLocks noEditPoints="1"/>
            </p:cNvSpPr>
            <p:nvPr/>
          </p:nvSpPr>
          <p:spPr bwMode="auto">
            <a:xfrm>
              <a:off x="2943" y="1289"/>
              <a:ext cx="1798" cy="1785"/>
            </a:xfrm>
            <a:custGeom>
              <a:avLst/>
              <a:gdLst>
                <a:gd name="T0" fmla="*/ 587 w 879"/>
                <a:gd name="T1" fmla="*/ 578 h 872"/>
                <a:gd name="T2" fmla="*/ 499 w 879"/>
                <a:gd name="T3" fmla="*/ 627 h 872"/>
                <a:gd name="T4" fmla="*/ 437 w 879"/>
                <a:gd name="T5" fmla="*/ 753 h 872"/>
                <a:gd name="T6" fmla="*/ 437 w 879"/>
                <a:gd name="T7" fmla="*/ 814 h 872"/>
                <a:gd name="T8" fmla="*/ 386 w 879"/>
                <a:gd name="T9" fmla="*/ 864 h 872"/>
                <a:gd name="T10" fmla="*/ 282 w 879"/>
                <a:gd name="T11" fmla="*/ 733 h 872"/>
                <a:gd name="T12" fmla="*/ 326 w 879"/>
                <a:gd name="T13" fmla="*/ 559 h 872"/>
                <a:gd name="T14" fmla="*/ 70 w 879"/>
                <a:gd name="T15" fmla="*/ 559 h 872"/>
                <a:gd name="T16" fmla="*/ 0 w 879"/>
                <a:gd name="T17" fmla="*/ 489 h 872"/>
                <a:gd name="T18" fmla="*/ 70 w 879"/>
                <a:gd name="T19" fmla="*/ 419 h 872"/>
                <a:gd name="T20" fmla="*/ 93 w 879"/>
                <a:gd name="T21" fmla="*/ 419 h 872"/>
                <a:gd name="T22" fmla="*/ 26 w 879"/>
                <a:gd name="T23" fmla="*/ 349 h 872"/>
                <a:gd name="T24" fmla="*/ 26 w 879"/>
                <a:gd name="T25" fmla="*/ 349 h 872"/>
                <a:gd name="T26" fmla="*/ 96 w 879"/>
                <a:gd name="T27" fmla="*/ 280 h 872"/>
                <a:gd name="T28" fmla="*/ 120 w 879"/>
                <a:gd name="T29" fmla="*/ 280 h 872"/>
                <a:gd name="T30" fmla="*/ 50 w 879"/>
                <a:gd name="T31" fmla="*/ 210 h 872"/>
                <a:gd name="T32" fmla="*/ 50 w 879"/>
                <a:gd name="T33" fmla="*/ 210 h 872"/>
                <a:gd name="T34" fmla="*/ 120 w 879"/>
                <a:gd name="T35" fmla="*/ 140 h 872"/>
                <a:gd name="T36" fmla="*/ 151 w 879"/>
                <a:gd name="T37" fmla="*/ 140 h 872"/>
                <a:gd name="T38" fmla="*/ 81 w 879"/>
                <a:gd name="T39" fmla="*/ 70 h 872"/>
                <a:gd name="T40" fmla="*/ 81 w 879"/>
                <a:gd name="T41" fmla="*/ 70 h 872"/>
                <a:gd name="T42" fmla="*/ 151 w 879"/>
                <a:gd name="T43" fmla="*/ 0 h 872"/>
                <a:gd name="T44" fmla="*/ 283 w 879"/>
                <a:gd name="T45" fmla="*/ 0 h 872"/>
                <a:gd name="T46" fmla="*/ 412 w 879"/>
                <a:gd name="T47" fmla="*/ 0 h 872"/>
                <a:gd name="T48" fmla="*/ 574 w 879"/>
                <a:gd name="T49" fmla="*/ 50 h 872"/>
                <a:gd name="T50" fmla="*/ 574 w 879"/>
                <a:gd name="T51" fmla="*/ 55 h 872"/>
                <a:gd name="T52" fmla="*/ 574 w 879"/>
                <a:gd name="T53" fmla="*/ 538 h 872"/>
                <a:gd name="T54" fmla="*/ 587 w 879"/>
                <a:gd name="T55" fmla="*/ 578 h 872"/>
                <a:gd name="T56" fmla="*/ 879 w 879"/>
                <a:gd name="T57" fmla="*/ 55 h 872"/>
                <a:gd name="T58" fmla="*/ 879 w 879"/>
                <a:gd name="T59" fmla="*/ 538 h 872"/>
                <a:gd name="T60" fmla="*/ 857 w 879"/>
                <a:gd name="T61" fmla="*/ 560 h 872"/>
                <a:gd name="T62" fmla="*/ 641 w 879"/>
                <a:gd name="T63" fmla="*/ 560 h 872"/>
                <a:gd name="T64" fmla="*/ 620 w 879"/>
                <a:gd name="T65" fmla="*/ 538 h 872"/>
                <a:gd name="T66" fmla="*/ 620 w 879"/>
                <a:gd name="T67" fmla="*/ 55 h 872"/>
                <a:gd name="T68" fmla="*/ 641 w 879"/>
                <a:gd name="T69" fmla="*/ 33 h 872"/>
                <a:gd name="T70" fmla="*/ 857 w 879"/>
                <a:gd name="T71" fmla="*/ 33 h 872"/>
                <a:gd name="T72" fmla="*/ 879 w 879"/>
                <a:gd name="T73" fmla="*/ 55 h 872"/>
                <a:gd name="T74" fmla="*/ 835 w 879"/>
                <a:gd name="T75" fmla="*/ 117 h 872"/>
                <a:gd name="T76" fmla="*/ 795 w 879"/>
                <a:gd name="T77" fmla="*/ 77 h 872"/>
                <a:gd name="T78" fmla="*/ 756 w 879"/>
                <a:gd name="T79" fmla="*/ 117 h 872"/>
                <a:gd name="T80" fmla="*/ 795 w 879"/>
                <a:gd name="T81" fmla="*/ 156 h 872"/>
                <a:gd name="T82" fmla="*/ 835 w 879"/>
                <a:gd name="T83" fmla="*/ 117 h 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9" h="872">
                  <a:moveTo>
                    <a:pt x="587" y="578"/>
                  </a:moveTo>
                  <a:cubicBezTo>
                    <a:pt x="556" y="596"/>
                    <a:pt x="524" y="614"/>
                    <a:pt x="499" y="627"/>
                  </a:cubicBezTo>
                  <a:cubicBezTo>
                    <a:pt x="434" y="664"/>
                    <a:pt x="437" y="753"/>
                    <a:pt x="437" y="753"/>
                  </a:cubicBezTo>
                  <a:cubicBezTo>
                    <a:pt x="437" y="814"/>
                    <a:pt x="437" y="814"/>
                    <a:pt x="437" y="814"/>
                  </a:cubicBezTo>
                  <a:cubicBezTo>
                    <a:pt x="437" y="872"/>
                    <a:pt x="386" y="864"/>
                    <a:pt x="386" y="864"/>
                  </a:cubicBezTo>
                  <a:cubicBezTo>
                    <a:pt x="296" y="861"/>
                    <a:pt x="282" y="733"/>
                    <a:pt x="282" y="733"/>
                  </a:cubicBezTo>
                  <a:cubicBezTo>
                    <a:pt x="282" y="638"/>
                    <a:pt x="326" y="559"/>
                    <a:pt x="326" y="559"/>
                  </a:cubicBezTo>
                  <a:cubicBezTo>
                    <a:pt x="70" y="559"/>
                    <a:pt x="70" y="559"/>
                    <a:pt x="70" y="559"/>
                  </a:cubicBezTo>
                  <a:cubicBezTo>
                    <a:pt x="31" y="559"/>
                    <a:pt x="0" y="528"/>
                    <a:pt x="0" y="489"/>
                  </a:cubicBezTo>
                  <a:cubicBezTo>
                    <a:pt x="0" y="451"/>
                    <a:pt x="31" y="419"/>
                    <a:pt x="70" y="419"/>
                  </a:cubicBezTo>
                  <a:cubicBezTo>
                    <a:pt x="93" y="419"/>
                    <a:pt x="93" y="419"/>
                    <a:pt x="93" y="419"/>
                  </a:cubicBezTo>
                  <a:cubicBezTo>
                    <a:pt x="56" y="417"/>
                    <a:pt x="26" y="387"/>
                    <a:pt x="26" y="349"/>
                  </a:cubicBezTo>
                  <a:cubicBezTo>
                    <a:pt x="26" y="349"/>
                    <a:pt x="26" y="349"/>
                    <a:pt x="26" y="349"/>
                  </a:cubicBezTo>
                  <a:cubicBezTo>
                    <a:pt x="26" y="311"/>
                    <a:pt x="58" y="280"/>
                    <a:pt x="96" y="280"/>
                  </a:cubicBezTo>
                  <a:cubicBezTo>
                    <a:pt x="120" y="280"/>
                    <a:pt x="120" y="280"/>
                    <a:pt x="120" y="280"/>
                  </a:cubicBezTo>
                  <a:cubicBezTo>
                    <a:pt x="82" y="280"/>
                    <a:pt x="50" y="248"/>
                    <a:pt x="50" y="210"/>
                  </a:cubicBezTo>
                  <a:cubicBezTo>
                    <a:pt x="50" y="210"/>
                    <a:pt x="50" y="210"/>
                    <a:pt x="50" y="210"/>
                  </a:cubicBezTo>
                  <a:cubicBezTo>
                    <a:pt x="50" y="171"/>
                    <a:pt x="82" y="140"/>
                    <a:pt x="120" y="140"/>
                  </a:cubicBezTo>
                  <a:cubicBezTo>
                    <a:pt x="151" y="140"/>
                    <a:pt x="151" y="140"/>
                    <a:pt x="151" y="140"/>
                  </a:cubicBezTo>
                  <a:cubicBezTo>
                    <a:pt x="113" y="140"/>
                    <a:pt x="81" y="108"/>
                    <a:pt x="81" y="70"/>
                  </a:cubicBezTo>
                  <a:cubicBezTo>
                    <a:pt x="81" y="70"/>
                    <a:pt x="81" y="70"/>
                    <a:pt x="81" y="70"/>
                  </a:cubicBezTo>
                  <a:cubicBezTo>
                    <a:pt x="81" y="31"/>
                    <a:pt x="113" y="0"/>
                    <a:pt x="151" y="0"/>
                  </a:cubicBezTo>
                  <a:cubicBezTo>
                    <a:pt x="283" y="0"/>
                    <a:pt x="283" y="0"/>
                    <a:pt x="283" y="0"/>
                  </a:cubicBezTo>
                  <a:cubicBezTo>
                    <a:pt x="283" y="0"/>
                    <a:pt x="376" y="0"/>
                    <a:pt x="412" y="0"/>
                  </a:cubicBezTo>
                  <a:cubicBezTo>
                    <a:pt x="443" y="0"/>
                    <a:pt x="503" y="3"/>
                    <a:pt x="574" y="50"/>
                  </a:cubicBezTo>
                  <a:cubicBezTo>
                    <a:pt x="574" y="52"/>
                    <a:pt x="574" y="53"/>
                    <a:pt x="574" y="55"/>
                  </a:cubicBezTo>
                  <a:cubicBezTo>
                    <a:pt x="574" y="538"/>
                    <a:pt x="574" y="538"/>
                    <a:pt x="574" y="538"/>
                  </a:cubicBezTo>
                  <a:cubicBezTo>
                    <a:pt x="574" y="553"/>
                    <a:pt x="579" y="567"/>
                    <a:pt x="587" y="578"/>
                  </a:cubicBezTo>
                  <a:close/>
                  <a:moveTo>
                    <a:pt x="879" y="55"/>
                  </a:moveTo>
                  <a:cubicBezTo>
                    <a:pt x="879" y="538"/>
                    <a:pt x="879" y="538"/>
                    <a:pt x="879" y="538"/>
                  </a:cubicBezTo>
                  <a:cubicBezTo>
                    <a:pt x="879" y="550"/>
                    <a:pt x="869" y="560"/>
                    <a:pt x="857" y="560"/>
                  </a:cubicBezTo>
                  <a:cubicBezTo>
                    <a:pt x="641" y="560"/>
                    <a:pt x="641" y="560"/>
                    <a:pt x="641" y="560"/>
                  </a:cubicBezTo>
                  <a:cubicBezTo>
                    <a:pt x="629" y="560"/>
                    <a:pt x="620" y="550"/>
                    <a:pt x="620" y="538"/>
                  </a:cubicBezTo>
                  <a:cubicBezTo>
                    <a:pt x="620" y="55"/>
                    <a:pt x="620" y="55"/>
                    <a:pt x="620" y="55"/>
                  </a:cubicBezTo>
                  <a:cubicBezTo>
                    <a:pt x="620" y="43"/>
                    <a:pt x="629" y="33"/>
                    <a:pt x="641" y="33"/>
                  </a:cubicBezTo>
                  <a:cubicBezTo>
                    <a:pt x="857" y="33"/>
                    <a:pt x="857" y="33"/>
                    <a:pt x="857" y="33"/>
                  </a:cubicBezTo>
                  <a:cubicBezTo>
                    <a:pt x="869" y="33"/>
                    <a:pt x="879" y="43"/>
                    <a:pt x="879" y="55"/>
                  </a:cubicBezTo>
                  <a:close/>
                  <a:moveTo>
                    <a:pt x="835" y="117"/>
                  </a:moveTo>
                  <a:cubicBezTo>
                    <a:pt x="835" y="95"/>
                    <a:pt x="817" y="77"/>
                    <a:pt x="795" y="77"/>
                  </a:cubicBezTo>
                  <a:cubicBezTo>
                    <a:pt x="774" y="77"/>
                    <a:pt x="756" y="95"/>
                    <a:pt x="756" y="117"/>
                  </a:cubicBezTo>
                  <a:cubicBezTo>
                    <a:pt x="756" y="139"/>
                    <a:pt x="774" y="156"/>
                    <a:pt x="795" y="156"/>
                  </a:cubicBezTo>
                  <a:cubicBezTo>
                    <a:pt x="817" y="156"/>
                    <a:pt x="835" y="139"/>
                    <a:pt x="835" y="117"/>
                  </a:cubicBezTo>
                  <a:close/>
                </a:path>
              </a:pathLst>
            </a:custGeom>
            <a:solidFill>
              <a:srgbClr val="E71C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3" name="bcgBugs_ThumbsUp">
            <a:extLst>
              <a:ext uri="{FF2B5EF4-FFF2-40B4-BE49-F238E27FC236}">
                <a16:creationId xmlns:a16="http://schemas.microsoft.com/office/drawing/2014/main" id="{4553F136-9157-4A13-8782-85FDEA2728D0}"/>
              </a:ext>
            </a:extLst>
          </p:cNvPr>
          <p:cNvGrpSpPr>
            <a:grpSpLocks noChangeAspect="1"/>
          </p:cNvGrpSpPr>
          <p:nvPr/>
        </p:nvGrpSpPr>
        <p:grpSpPr bwMode="auto">
          <a:xfrm>
            <a:off x="4604791" y="1180464"/>
            <a:ext cx="312885" cy="312274"/>
            <a:chOff x="2815" y="1137"/>
            <a:chExt cx="2050" cy="2046"/>
          </a:xfrm>
        </p:grpSpPr>
        <p:sp>
          <p:nvSpPr>
            <p:cNvPr id="14" name="AutoShape 3">
              <a:extLst>
                <a:ext uri="{FF2B5EF4-FFF2-40B4-BE49-F238E27FC236}">
                  <a16:creationId xmlns:a16="http://schemas.microsoft.com/office/drawing/2014/main" id="{51294E73-3D53-4618-B84C-9FA826F103FA}"/>
                </a:ext>
              </a:extLst>
            </p:cNvPr>
            <p:cNvSpPr>
              <a:spLocks noChangeAspect="1" noChangeArrowheads="1" noTextEdit="1"/>
            </p:cNvSpPr>
            <p:nvPr/>
          </p:nvSpPr>
          <p:spPr bwMode="auto">
            <a:xfrm>
              <a:off x="2815" y="1137"/>
              <a:ext cx="2050" cy="2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5">
              <a:extLst>
                <a:ext uri="{FF2B5EF4-FFF2-40B4-BE49-F238E27FC236}">
                  <a16:creationId xmlns:a16="http://schemas.microsoft.com/office/drawing/2014/main" id="{54662CA5-8D40-4216-BB85-62B9D9D0B086}"/>
                </a:ext>
              </a:extLst>
            </p:cNvPr>
            <p:cNvSpPr>
              <a:spLocks noEditPoints="1"/>
            </p:cNvSpPr>
            <p:nvPr/>
          </p:nvSpPr>
          <p:spPr bwMode="auto">
            <a:xfrm>
              <a:off x="2938" y="1260"/>
              <a:ext cx="1798" cy="1786"/>
            </a:xfrm>
            <a:custGeom>
              <a:avLst/>
              <a:gdLst>
                <a:gd name="T0" fmla="*/ 809 w 879"/>
                <a:gd name="T1" fmla="*/ 453 h 872"/>
                <a:gd name="T2" fmla="*/ 786 w 879"/>
                <a:gd name="T3" fmla="*/ 453 h 872"/>
                <a:gd name="T4" fmla="*/ 853 w 879"/>
                <a:gd name="T5" fmla="*/ 523 h 872"/>
                <a:gd name="T6" fmla="*/ 783 w 879"/>
                <a:gd name="T7" fmla="*/ 592 h 872"/>
                <a:gd name="T8" fmla="*/ 759 w 879"/>
                <a:gd name="T9" fmla="*/ 592 h 872"/>
                <a:gd name="T10" fmla="*/ 828 w 879"/>
                <a:gd name="T11" fmla="*/ 662 h 872"/>
                <a:gd name="T12" fmla="*/ 759 w 879"/>
                <a:gd name="T13" fmla="*/ 732 h 872"/>
                <a:gd name="T14" fmla="*/ 728 w 879"/>
                <a:gd name="T15" fmla="*/ 732 h 872"/>
                <a:gd name="T16" fmla="*/ 797 w 879"/>
                <a:gd name="T17" fmla="*/ 802 h 872"/>
                <a:gd name="T18" fmla="*/ 797 w 879"/>
                <a:gd name="T19" fmla="*/ 802 h 872"/>
                <a:gd name="T20" fmla="*/ 728 w 879"/>
                <a:gd name="T21" fmla="*/ 872 h 872"/>
                <a:gd name="T22" fmla="*/ 596 w 879"/>
                <a:gd name="T23" fmla="*/ 872 h 872"/>
                <a:gd name="T24" fmla="*/ 466 w 879"/>
                <a:gd name="T25" fmla="*/ 872 h 872"/>
                <a:gd name="T26" fmla="*/ 304 w 879"/>
                <a:gd name="T27" fmla="*/ 822 h 872"/>
                <a:gd name="T28" fmla="*/ 305 w 879"/>
                <a:gd name="T29" fmla="*/ 816 h 872"/>
                <a:gd name="T30" fmla="*/ 305 w 879"/>
                <a:gd name="T31" fmla="*/ 333 h 872"/>
                <a:gd name="T32" fmla="*/ 292 w 879"/>
                <a:gd name="T33" fmla="*/ 294 h 872"/>
                <a:gd name="T34" fmla="*/ 379 w 879"/>
                <a:gd name="T35" fmla="*/ 245 h 872"/>
                <a:gd name="T36" fmla="*/ 442 w 879"/>
                <a:gd name="T37" fmla="*/ 119 h 872"/>
                <a:gd name="T38" fmla="*/ 442 w 879"/>
                <a:gd name="T39" fmla="*/ 58 h 872"/>
                <a:gd name="T40" fmla="*/ 492 w 879"/>
                <a:gd name="T41" fmla="*/ 8 h 872"/>
                <a:gd name="T42" fmla="*/ 596 w 879"/>
                <a:gd name="T43" fmla="*/ 139 h 872"/>
                <a:gd name="T44" fmla="*/ 553 w 879"/>
                <a:gd name="T45" fmla="*/ 313 h 872"/>
                <a:gd name="T46" fmla="*/ 809 w 879"/>
                <a:gd name="T47" fmla="*/ 313 h 872"/>
                <a:gd name="T48" fmla="*/ 879 w 879"/>
                <a:gd name="T49" fmla="*/ 383 h 872"/>
                <a:gd name="T50" fmla="*/ 809 w 879"/>
                <a:gd name="T51" fmla="*/ 453 h 872"/>
                <a:gd name="T52" fmla="*/ 259 w 879"/>
                <a:gd name="T53" fmla="*/ 333 h 872"/>
                <a:gd name="T54" fmla="*/ 259 w 879"/>
                <a:gd name="T55" fmla="*/ 816 h 872"/>
                <a:gd name="T56" fmla="*/ 238 w 879"/>
                <a:gd name="T57" fmla="*/ 838 h 872"/>
                <a:gd name="T58" fmla="*/ 22 w 879"/>
                <a:gd name="T59" fmla="*/ 838 h 872"/>
                <a:gd name="T60" fmla="*/ 0 w 879"/>
                <a:gd name="T61" fmla="*/ 816 h 872"/>
                <a:gd name="T62" fmla="*/ 0 w 879"/>
                <a:gd name="T63" fmla="*/ 333 h 872"/>
                <a:gd name="T64" fmla="*/ 22 w 879"/>
                <a:gd name="T65" fmla="*/ 311 h 872"/>
                <a:gd name="T66" fmla="*/ 238 w 879"/>
                <a:gd name="T67" fmla="*/ 311 h 872"/>
                <a:gd name="T68" fmla="*/ 259 w 879"/>
                <a:gd name="T69" fmla="*/ 333 h 872"/>
                <a:gd name="T70" fmla="*/ 123 w 879"/>
                <a:gd name="T71" fmla="*/ 754 h 872"/>
                <a:gd name="T72" fmla="*/ 84 w 879"/>
                <a:gd name="T73" fmla="*/ 715 h 872"/>
                <a:gd name="T74" fmla="*/ 44 w 879"/>
                <a:gd name="T75" fmla="*/ 754 h 872"/>
                <a:gd name="T76" fmla="*/ 84 w 879"/>
                <a:gd name="T77" fmla="*/ 794 h 872"/>
                <a:gd name="T78" fmla="*/ 123 w 879"/>
                <a:gd name="T79" fmla="*/ 754 h 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79" h="872">
                  <a:moveTo>
                    <a:pt x="809" y="453"/>
                  </a:moveTo>
                  <a:cubicBezTo>
                    <a:pt x="786" y="453"/>
                    <a:pt x="786" y="453"/>
                    <a:pt x="786" y="453"/>
                  </a:cubicBezTo>
                  <a:cubicBezTo>
                    <a:pt x="823" y="455"/>
                    <a:pt x="853" y="485"/>
                    <a:pt x="853" y="523"/>
                  </a:cubicBezTo>
                  <a:cubicBezTo>
                    <a:pt x="853" y="561"/>
                    <a:pt x="821" y="592"/>
                    <a:pt x="783" y="592"/>
                  </a:cubicBezTo>
                  <a:cubicBezTo>
                    <a:pt x="759" y="592"/>
                    <a:pt x="759" y="592"/>
                    <a:pt x="759" y="592"/>
                  </a:cubicBezTo>
                  <a:cubicBezTo>
                    <a:pt x="797" y="592"/>
                    <a:pt x="828" y="624"/>
                    <a:pt x="828" y="662"/>
                  </a:cubicBezTo>
                  <a:cubicBezTo>
                    <a:pt x="828" y="701"/>
                    <a:pt x="797" y="732"/>
                    <a:pt x="759" y="732"/>
                  </a:cubicBezTo>
                  <a:cubicBezTo>
                    <a:pt x="728" y="732"/>
                    <a:pt x="728" y="732"/>
                    <a:pt x="728" y="732"/>
                  </a:cubicBezTo>
                  <a:cubicBezTo>
                    <a:pt x="766" y="732"/>
                    <a:pt x="797" y="764"/>
                    <a:pt x="797" y="802"/>
                  </a:cubicBezTo>
                  <a:cubicBezTo>
                    <a:pt x="797" y="802"/>
                    <a:pt x="797" y="802"/>
                    <a:pt x="797" y="802"/>
                  </a:cubicBezTo>
                  <a:cubicBezTo>
                    <a:pt x="797" y="841"/>
                    <a:pt x="766" y="872"/>
                    <a:pt x="728" y="872"/>
                  </a:cubicBezTo>
                  <a:cubicBezTo>
                    <a:pt x="596" y="872"/>
                    <a:pt x="596" y="872"/>
                    <a:pt x="596" y="872"/>
                  </a:cubicBezTo>
                  <a:cubicBezTo>
                    <a:pt x="596" y="872"/>
                    <a:pt x="503" y="872"/>
                    <a:pt x="466" y="872"/>
                  </a:cubicBezTo>
                  <a:cubicBezTo>
                    <a:pt x="436" y="872"/>
                    <a:pt x="375" y="869"/>
                    <a:pt x="304" y="822"/>
                  </a:cubicBezTo>
                  <a:cubicBezTo>
                    <a:pt x="305" y="820"/>
                    <a:pt x="305" y="818"/>
                    <a:pt x="305" y="816"/>
                  </a:cubicBezTo>
                  <a:cubicBezTo>
                    <a:pt x="305" y="333"/>
                    <a:pt x="305" y="333"/>
                    <a:pt x="305" y="333"/>
                  </a:cubicBezTo>
                  <a:cubicBezTo>
                    <a:pt x="305" y="318"/>
                    <a:pt x="300" y="305"/>
                    <a:pt x="292" y="294"/>
                  </a:cubicBezTo>
                  <a:cubicBezTo>
                    <a:pt x="323" y="276"/>
                    <a:pt x="355" y="258"/>
                    <a:pt x="379" y="245"/>
                  </a:cubicBezTo>
                  <a:cubicBezTo>
                    <a:pt x="445" y="208"/>
                    <a:pt x="442" y="119"/>
                    <a:pt x="442" y="119"/>
                  </a:cubicBezTo>
                  <a:cubicBezTo>
                    <a:pt x="442" y="58"/>
                    <a:pt x="442" y="58"/>
                    <a:pt x="442" y="58"/>
                  </a:cubicBezTo>
                  <a:cubicBezTo>
                    <a:pt x="442" y="0"/>
                    <a:pt x="492" y="8"/>
                    <a:pt x="492" y="8"/>
                  </a:cubicBezTo>
                  <a:cubicBezTo>
                    <a:pt x="583" y="11"/>
                    <a:pt x="596" y="139"/>
                    <a:pt x="596" y="139"/>
                  </a:cubicBezTo>
                  <a:cubicBezTo>
                    <a:pt x="596" y="234"/>
                    <a:pt x="553" y="313"/>
                    <a:pt x="553" y="313"/>
                  </a:cubicBezTo>
                  <a:cubicBezTo>
                    <a:pt x="809" y="313"/>
                    <a:pt x="809" y="313"/>
                    <a:pt x="809" y="313"/>
                  </a:cubicBezTo>
                  <a:cubicBezTo>
                    <a:pt x="848" y="313"/>
                    <a:pt x="879" y="344"/>
                    <a:pt x="879" y="383"/>
                  </a:cubicBezTo>
                  <a:cubicBezTo>
                    <a:pt x="879" y="421"/>
                    <a:pt x="848" y="453"/>
                    <a:pt x="809" y="453"/>
                  </a:cubicBezTo>
                  <a:close/>
                  <a:moveTo>
                    <a:pt x="259" y="333"/>
                  </a:moveTo>
                  <a:cubicBezTo>
                    <a:pt x="259" y="816"/>
                    <a:pt x="259" y="816"/>
                    <a:pt x="259" y="816"/>
                  </a:cubicBezTo>
                  <a:cubicBezTo>
                    <a:pt x="259" y="828"/>
                    <a:pt x="249" y="838"/>
                    <a:pt x="238" y="838"/>
                  </a:cubicBezTo>
                  <a:cubicBezTo>
                    <a:pt x="22" y="838"/>
                    <a:pt x="22" y="838"/>
                    <a:pt x="22" y="838"/>
                  </a:cubicBezTo>
                  <a:cubicBezTo>
                    <a:pt x="10" y="838"/>
                    <a:pt x="0" y="828"/>
                    <a:pt x="0" y="816"/>
                  </a:cubicBezTo>
                  <a:cubicBezTo>
                    <a:pt x="0" y="333"/>
                    <a:pt x="0" y="333"/>
                    <a:pt x="0" y="333"/>
                  </a:cubicBezTo>
                  <a:cubicBezTo>
                    <a:pt x="0" y="321"/>
                    <a:pt x="10" y="311"/>
                    <a:pt x="22" y="311"/>
                  </a:cubicBezTo>
                  <a:cubicBezTo>
                    <a:pt x="238" y="311"/>
                    <a:pt x="238" y="311"/>
                    <a:pt x="238" y="311"/>
                  </a:cubicBezTo>
                  <a:cubicBezTo>
                    <a:pt x="249" y="311"/>
                    <a:pt x="259" y="321"/>
                    <a:pt x="259" y="333"/>
                  </a:cubicBezTo>
                  <a:close/>
                  <a:moveTo>
                    <a:pt x="123" y="754"/>
                  </a:moveTo>
                  <a:cubicBezTo>
                    <a:pt x="123" y="732"/>
                    <a:pt x="105" y="715"/>
                    <a:pt x="84" y="715"/>
                  </a:cubicBezTo>
                  <a:cubicBezTo>
                    <a:pt x="62" y="715"/>
                    <a:pt x="44" y="732"/>
                    <a:pt x="44" y="754"/>
                  </a:cubicBezTo>
                  <a:cubicBezTo>
                    <a:pt x="44" y="776"/>
                    <a:pt x="62" y="794"/>
                    <a:pt x="84" y="794"/>
                  </a:cubicBezTo>
                  <a:cubicBezTo>
                    <a:pt x="105" y="794"/>
                    <a:pt x="123" y="776"/>
                    <a:pt x="123" y="754"/>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6" name="Group 15">
            <a:extLst>
              <a:ext uri="{FF2B5EF4-FFF2-40B4-BE49-F238E27FC236}">
                <a16:creationId xmlns:a16="http://schemas.microsoft.com/office/drawing/2014/main" id="{7B4F5647-DC3F-452D-9E0C-2C706AC32638}"/>
              </a:ext>
            </a:extLst>
          </p:cNvPr>
          <p:cNvGrpSpPr>
            <a:grpSpLocks noChangeAspect="1"/>
          </p:cNvGrpSpPr>
          <p:nvPr/>
        </p:nvGrpSpPr>
        <p:grpSpPr>
          <a:xfrm>
            <a:off x="7812039" y="1183146"/>
            <a:ext cx="306910" cy="306910"/>
            <a:chOff x="628650" y="3463925"/>
            <a:chExt cx="269875" cy="269875"/>
          </a:xfrm>
        </p:grpSpPr>
        <p:sp>
          <p:nvSpPr>
            <p:cNvPr id="17" name="Oval 16">
              <a:extLst>
                <a:ext uri="{FF2B5EF4-FFF2-40B4-BE49-F238E27FC236}">
                  <a16:creationId xmlns:a16="http://schemas.microsoft.com/office/drawing/2014/main" id="{36915DBA-94C8-4EDB-9680-D77B2FE960B3}"/>
                </a:ext>
              </a:extLst>
            </p:cNvPr>
            <p:cNvSpPr>
              <a:spLocks noChangeArrowheads="1"/>
            </p:cNvSpPr>
            <p:nvPr/>
          </p:nvSpPr>
          <p:spPr bwMode="auto">
            <a:xfrm>
              <a:off x="628650" y="3463925"/>
              <a:ext cx="269875" cy="269875"/>
            </a:xfrm>
            <a:prstGeom prst="ellipse">
              <a:avLst/>
            </a:prstGeom>
            <a:solidFill>
              <a:schemeClr val="tx2"/>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18" name="Freeform 47">
              <a:extLst>
                <a:ext uri="{FF2B5EF4-FFF2-40B4-BE49-F238E27FC236}">
                  <a16:creationId xmlns:a16="http://schemas.microsoft.com/office/drawing/2014/main" id="{4A75DD32-29E6-4A23-91E5-CBB730F7CC92}"/>
                </a:ext>
              </a:extLst>
            </p:cNvPr>
            <p:cNvSpPr>
              <a:spLocks noEditPoints="1"/>
            </p:cNvSpPr>
            <p:nvPr/>
          </p:nvSpPr>
          <p:spPr bwMode="auto">
            <a:xfrm>
              <a:off x="700087" y="3549650"/>
              <a:ext cx="127000" cy="98425"/>
            </a:xfrm>
            <a:custGeom>
              <a:avLst/>
              <a:gdLst>
                <a:gd name="T0" fmla="*/ 154 w 596"/>
                <a:gd name="T1" fmla="*/ 204 h 464"/>
                <a:gd name="T2" fmla="*/ 191 w 596"/>
                <a:gd name="T3" fmla="*/ 276 h 464"/>
                <a:gd name="T4" fmla="*/ 229 w 596"/>
                <a:gd name="T5" fmla="*/ 352 h 464"/>
                <a:gd name="T6" fmla="*/ 118 w 596"/>
                <a:gd name="T7" fmla="*/ 464 h 464"/>
                <a:gd name="T8" fmla="*/ 0 w 596"/>
                <a:gd name="T9" fmla="*/ 329 h 464"/>
                <a:gd name="T10" fmla="*/ 202 w 596"/>
                <a:gd name="T11" fmla="*/ 0 h 464"/>
                <a:gd name="T12" fmla="*/ 253 w 596"/>
                <a:gd name="T13" fmla="*/ 68 h 464"/>
                <a:gd name="T14" fmla="*/ 196 w 596"/>
                <a:gd name="T15" fmla="*/ 116 h 464"/>
                <a:gd name="T16" fmla="*/ 154 w 596"/>
                <a:gd name="T17" fmla="*/ 204 h 464"/>
                <a:gd name="T18" fmla="*/ 538 w 596"/>
                <a:gd name="T19" fmla="*/ 116 h 464"/>
                <a:gd name="T20" fmla="*/ 596 w 596"/>
                <a:gd name="T21" fmla="*/ 68 h 464"/>
                <a:gd name="T22" fmla="*/ 545 w 596"/>
                <a:gd name="T23" fmla="*/ 0 h 464"/>
                <a:gd name="T24" fmla="*/ 343 w 596"/>
                <a:gd name="T25" fmla="*/ 329 h 464"/>
                <a:gd name="T26" fmla="*/ 461 w 596"/>
                <a:gd name="T27" fmla="*/ 464 h 464"/>
                <a:gd name="T28" fmla="*/ 571 w 596"/>
                <a:gd name="T29" fmla="*/ 352 h 464"/>
                <a:gd name="T30" fmla="*/ 534 w 596"/>
                <a:gd name="T31" fmla="*/ 276 h 464"/>
                <a:gd name="T32" fmla="*/ 497 w 596"/>
                <a:gd name="T33" fmla="*/ 204 h 464"/>
                <a:gd name="T34" fmla="*/ 538 w 596"/>
                <a:gd name="T35" fmla="*/ 116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6" h="464">
                  <a:moveTo>
                    <a:pt x="154" y="204"/>
                  </a:moveTo>
                  <a:cubicBezTo>
                    <a:pt x="154" y="225"/>
                    <a:pt x="166" y="249"/>
                    <a:pt x="191" y="276"/>
                  </a:cubicBezTo>
                  <a:cubicBezTo>
                    <a:pt x="216" y="304"/>
                    <a:pt x="229" y="329"/>
                    <a:pt x="229" y="352"/>
                  </a:cubicBezTo>
                  <a:cubicBezTo>
                    <a:pt x="229" y="426"/>
                    <a:pt x="192" y="464"/>
                    <a:pt x="118" y="464"/>
                  </a:cubicBezTo>
                  <a:cubicBezTo>
                    <a:pt x="40" y="464"/>
                    <a:pt x="0" y="419"/>
                    <a:pt x="0" y="329"/>
                  </a:cubicBezTo>
                  <a:cubicBezTo>
                    <a:pt x="0" y="194"/>
                    <a:pt x="67" y="85"/>
                    <a:pt x="202" y="0"/>
                  </a:cubicBezTo>
                  <a:cubicBezTo>
                    <a:pt x="253" y="68"/>
                    <a:pt x="253" y="68"/>
                    <a:pt x="253" y="68"/>
                  </a:cubicBezTo>
                  <a:cubicBezTo>
                    <a:pt x="196" y="116"/>
                    <a:pt x="196" y="116"/>
                    <a:pt x="196" y="116"/>
                  </a:cubicBezTo>
                  <a:cubicBezTo>
                    <a:pt x="168" y="140"/>
                    <a:pt x="154" y="169"/>
                    <a:pt x="154" y="204"/>
                  </a:cubicBezTo>
                  <a:close/>
                  <a:moveTo>
                    <a:pt x="538" y="116"/>
                  </a:moveTo>
                  <a:cubicBezTo>
                    <a:pt x="596" y="68"/>
                    <a:pt x="596" y="68"/>
                    <a:pt x="596" y="68"/>
                  </a:cubicBezTo>
                  <a:cubicBezTo>
                    <a:pt x="545" y="0"/>
                    <a:pt x="545" y="0"/>
                    <a:pt x="545" y="0"/>
                  </a:cubicBezTo>
                  <a:cubicBezTo>
                    <a:pt x="410" y="85"/>
                    <a:pt x="343" y="194"/>
                    <a:pt x="343" y="329"/>
                  </a:cubicBezTo>
                  <a:cubicBezTo>
                    <a:pt x="343" y="419"/>
                    <a:pt x="382" y="464"/>
                    <a:pt x="461" y="464"/>
                  </a:cubicBezTo>
                  <a:cubicBezTo>
                    <a:pt x="534" y="464"/>
                    <a:pt x="571" y="426"/>
                    <a:pt x="571" y="352"/>
                  </a:cubicBezTo>
                  <a:cubicBezTo>
                    <a:pt x="571" y="329"/>
                    <a:pt x="559" y="304"/>
                    <a:pt x="534" y="276"/>
                  </a:cubicBezTo>
                  <a:cubicBezTo>
                    <a:pt x="509" y="249"/>
                    <a:pt x="497" y="225"/>
                    <a:pt x="497" y="204"/>
                  </a:cubicBezTo>
                  <a:cubicBezTo>
                    <a:pt x="497" y="169"/>
                    <a:pt x="511" y="140"/>
                    <a:pt x="538" y="11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grpSp>
      <p:pic>
        <p:nvPicPr>
          <p:cNvPr id="19" name="Picture 2">
            <a:extLst>
              <a:ext uri="{FF2B5EF4-FFF2-40B4-BE49-F238E27FC236}">
                <a16:creationId xmlns:a16="http://schemas.microsoft.com/office/drawing/2014/main" id="{AFB3A963-1353-4A68-B725-0AC7A557ADE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789836" y="2586071"/>
            <a:ext cx="481950" cy="362679"/>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4">
            <a:extLst>
              <a:ext uri="{FF2B5EF4-FFF2-40B4-BE49-F238E27FC236}">
                <a16:creationId xmlns:a16="http://schemas.microsoft.com/office/drawing/2014/main" id="{AB0E2005-837E-4870-A9CA-0E3BDB9DAF83}"/>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812039" y="6247313"/>
            <a:ext cx="793019" cy="196936"/>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2">
            <a:extLst>
              <a:ext uri="{FF2B5EF4-FFF2-40B4-BE49-F238E27FC236}">
                <a16:creationId xmlns:a16="http://schemas.microsoft.com/office/drawing/2014/main" id="{00026EB2-2013-4D42-962D-49902D924400}"/>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789836" y="4157500"/>
            <a:ext cx="481950" cy="362679"/>
          </a:xfrm>
          <a:prstGeom prst="rect">
            <a:avLst/>
          </a:prstGeom>
          <a:noFill/>
          <a:extLst>
            <a:ext uri="{909E8E84-426E-40DD-AFC4-6F175D3DCCD1}">
              <a14:hiddenFill xmlns:a14="http://schemas.microsoft.com/office/drawing/2010/main">
                <a:solidFill>
                  <a:srgbClr val="FFFFFF"/>
                </a:solidFill>
              </a14:hiddenFill>
            </a:ext>
          </a:extLst>
        </p:spPr>
      </p:pic>
      <p:sp>
        <p:nvSpPr>
          <p:cNvPr id="3" name="Textfeld 1">
            <a:extLst>
              <a:ext uri="{FF2B5EF4-FFF2-40B4-BE49-F238E27FC236}">
                <a16:creationId xmlns:a16="http://schemas.microsoft.com/office/drawing/2014/main" id="{3C0D2440-BF1E-01C0-F83F-0219FCD8B79F}"/>
              </a:ext>
            </a:extLst>
          </p:cNvPr>
          <p:cNvSpPr txBox="1"/>
          <p:nvPr>
            <p:custDataLst>
              <p:tags r:id="rId3"/>
            </p:custDataLst>
          </p:nvPr>
        </p:nvSpPr>
        <p:spPr>
          <a:xfrm>
            <a:off x="25200" y="-10048"/>
            <a:ext cx="2743200" cy="483209"/>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en-US" sz="1200" b="1">
                <a:solidFill>
                  <a:srgbClr val="575757"/>
                </a:solidFill>
                <a:sym typeface="Trebuchet MS" panose="020B0603020202020204" pitchFamily="34" charset="0"/>
              </a:rPr>
              <a:t>CA 06.Jun.24:
</a:t>
            </a:r>
            <a:r>
              <a:rPr lang="zh-TW" altLang="en-US" sz="1200" b="1">
                <a:solidFill>
                  <a:srgbClr val="575757"/>
                </a:solidFill>
                <a:sym typeface="Trebuchet MS" panose="020B0603020202020204" pitchFamily="34" charset="0"/>
              </a:rPr>
              <a:t>行業案例看到之</a:t>
            </a:r>
            <a:r>
              <a:rPr lang="en-US" altLang="zh-TW" sz="1200" b="1">
                <a:solidFill>
                  <a:srgbClr val="575757"/>
                </a:solidFill>
                <a:sym typeface="Trebuchet MS" panose="020B0603020202020204" pitchFamily="34" charset="0"/>
              </a:rPr>
              <a:t>dos and </a:t>
            </a:r>
            <a:r>
              <a:rPr lang="en-US" altLang="zh-TW" sz="1200" b="1" err="1">
                <a:solidFill>
                  <a:srgbClr val="575757"/>
                </a:solidFill>
                <a:sym typeface="Trebuchet MS" panose="020B0603020202020204" pitchFamily="34" charset="0"/>
              </a:rPr>
              <a:t>donts</a:t>
            </a:r>
            <a:endParaRPr lang="en-US" sz="1200" b="1">
              <a:solidFill>
                <a:srgbClr val="575757"/>
              </a:solidFill>
              <a:sym typeface="Trebuchet MS" panose="020B0603020202020204" pitchFamily="34" charset="0"/>
            </a:endParaRPr>
          </a:p>
        </p:txBody>
      </p:sp>
    </p:spTree>
    <p:extLst>
      <p:ext uri="{BB962C8B-B14F-4D97-AF65-F5344CB8AC3E}">
        <p14:creationId xmlns:p14="http://schemas.microsoft.com/office/powerpoint/2010/main" val="194142858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a:extLst>
              <a:ext uri="{FF2B5EF4-FFF2-40B4-BE49-F238E27FC236}">
                <a16:creationId xmlns:a16="http://schemas.microsoft.com/office/drawing/2014/main" id="{681A50CD-F4FC-4D49-AD72-F0F6203299D1}"/>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395" imgH="394" progId="TCLayout.ActiveDocument.1">
                  <p:embed/>
                </p:oleObj>
              </mc:Choice>
              <mc:Fallback>
                <p:oleObj name="think-cell Slide" r:id="rId5" imgW="395" imgH="394" progId="TCLayout.ActiveDocument.1">
                  <p:embed/>
                  <p:pic>
                    <p:nvPicPr>
                      <p:cNvPr id="6" name="Object 5" hidden="1">
                        <a:extLst>
                          <a:ext uri="{FF2B5EF4-FFF2-40B4-BE49-F238E27FC236}">
                            <a16:creationId xmlns:a16="http://schemas.microsoft.com/office/drawing/2014/main" id="{681A50CD-F4FC-4D49-AD72-F0F6203299D1}"/>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8" name="Rectangle 7" hidden="1">
            <a:extLst>
              <a:ext uri="{FF2B5EF4-FFF2-40B4-BE49-F238E27FC236}">
                <a16:creationId xmlns:a16="http://schemas.microsoft.com/office/drawing/2014/main" id="{7BA7BC32-E14B-4A59-8BDA-3E8AB20C5488}"/>
              </a:ext>
            </a:extLst>
          </p:cNvPr>
          <p:cNvSpPr/>
          <p:nvPr>
            <p:custDataLst>
              <p:tags r:id="rId2"/>
            </p:custDataLst>
          </p:nvPr>
        </p:nvSpPr>
        <p:spPr>
          <a:xfrm>
            <a:off x="0" y="0"/>
            <a:ext cx="158750" cy="158750"/>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endParaRPr lang="en-US" sz="2400">
              <a:solidFill>
                <a:srgbClr val="FFFFFF"/>
              </a:solidFill>
              <a:latin typeface="Trebuchet MS" panose="020B0603020202020204" pitchFamily="34" charset="0"/>
              <a:ea typeface="+mj-ea"/>
              <a:cs typeface="+mj-cs"/>
              <a:sym typeface="Trebuchet MS" panose="020B0603020202020204" pitchFamily="34" charset="0"/>
            </a:endParaRPr>
          </a:p>
        </p:txBody>
      </p:sp>
      <p:sp>
        <p:nvSpPr>
          <p:cNvPr id="5" name="Title 4">
            <a:extLst>
              <a:ext uri="{FF2B5EF4-FFF2-40B4-BE49-F238E27FC236}">
                <a16:creationId xmlns:a16="http://schemas.microsoft.com/office/drawing/2014/main" id="{C04EC2B4-FE22-4FCF-A304-14E1A1F7379C}"/>
              </a:ext>
            </a:extLst>
          </p:cNvPr>
          <p:cNvSpPr>
            <a:spLocks noGrp="1"/>
          </p:cNvSpPr>
          <p:nvPr>
            <p:ph type="title"/>
          </p:nvPr>
        </p:nvSpPr>
        <p:spPr/>
        <p:txBody>
          <a:bodyPr/>
          <a:lstStyle/>
          <a:p>
            <a:r>
              <a:rPr lang="en-US">
                <a:solidFill>
                  <a:srgbClr val="295E7E"/>
                </a:solidFill>
              </a:rPr>
              <a:t>Onboarding &amp; activation: </a:t>
            </a:r>
            <a:r>
              <a:rPr lang="en-US"/>
              <a:t>Key lessons learnt from expert interviews </a:t>
            </a:r>
            <a:r>
              <a:rPr lang="pl-PL"/>
              <a:t>(II/II)</a:t>
            </a:r>
            <a:endParaRPr lang="en-US"/>
          </a:p>
        </p:txBody>
      </p:sp>
      <p:graphicFrame>
        <p:nvGraphicFramePr>
          <p:cNvPr id="7" name="Table 7">
            <a:extLst>
              <a:ext uri="{FF2B5EF4-FFF2-40B4-BE49-F238E27FC236}">
                <a16:creationId xmlns:a16="http://schemas.microsoft.com/office/drawing/2014/main" id="{7460F80F-8604-40CA-BE4C-CE84C832D4D4}"/>
              </a:ext>
            </a:extLst>
          </p:cNvPr>
          <p:cNvGraphicFramePr>
            <a:graphicFrameLocks noGrp="1"/>
          </p:cNvGraphicFramePr>
          <p:nvPr/>
        </p:nvGraphicFramePr>
        <p:xfrm>
          <a:off x="628650" y="1479742"/>
          <a:ext cx="10934700" cy="4896364"/>
        </p:xfrm>
        <a:graphic>
          <a:graphicData uri="http://schemas.openxmlformats.org/drawingml/2006/table">
            <a:tbl>
              <a:tblPr firstRow="1" bandRow="1">
                <a:tableStyleId>{5C22544A-7EE6-4342-B048-85BDC9FD1C3A}</a:tableStyleId>
              </a:tblPr>
              <a:tblGrid>
                <a:gridCol w="1223596">
                  <a:extLst>
                    <a:ext uri="{9D8B030D-6E8A-4147-A177-3AD203B41FA5}">
                      <a16:colId xmlns:a16="http://schemas.microsoft.com/office/drawing/2014/main" val="1039709564"/>
                    </a:ext>
                  </a:extLst>
                </a:gridCol>
                <a:gridCol w="2650306">
                  <a:extLst>
                    <a:ext uri="{9D8B030D-6E8A-4147-A177-3AD203B41FA5}">
                      <a16:colId xmlns:a16="http://schemas.microsoft.com/office/drawing/2014/main" val="4080779222"/>
                    </a:ext>
                  </a:extLst>
                </a:gridCol>
                <a:gridCol w="3206187">
                  <a:extLst>
                    <a:ext uri="{9D8B030D-6E8A-4147-A177-3AD203B41FA5}">
                      <a16:colId xmlns:a16="http://schemas.microsoft.com/office/drawing/2014/main" val="70669126"/>
                    </a:ext>
                  </a:extLst>
                </a:gridCol>
                <a:gridCol w="3854611">
                  <a:extLst>
                    <a:ext uri="{9D8B030D-6E8A-4147-A177-3AD203B41FA5}">
                      <a16:colId xmlns:a16="http://schemas.microsoft.com/office/drawing/2014/main" val="3773710827"/>
                    </a:ext>
                  </a:extLst>
                </a:gridCol>
              </a:tblGrid>
              <a:tr h="370840">
                <a:tc>
                  <a:txBody>
                    <a:bodyPr/>
                    <a:lstStyle/>
                    <a:p>
                      <a:endParaRPr lang="en-US" sz="1600" b="0">
                        <a:solidFill>
                          <a:srgbClr val="29BA74"/>
                        </a:solidFill>
                      </a:endParaRPr>
                    </a:p>
                  </a:txBody>
                  <a:tcPr>
                    <a:lnB w="12700" cap="flat" cmpd="sng" algn="ctr">
                      <a:solidFill>
                        <a:schemeClr val="tx2"/>
                      </a:solidFill>
                      <a:prstDash val="solid"/>
                      <a:round/>
                      <a:headEnd type="none" w="med" len="med"/>
                      <a:tailEnd type="none" w="med" len="med"/>
                    </a:lnB>
                    <a:noFill/>
                  </a:tcPr>
                </a:tc>
                <a:tc>
                  <a:txBody>
                    <a:bodyPr/>
                    <a:lstStyle/>
                    <a:p>
                      <a:r>
                        <a:rPr lang="pl-PL" sz="1600" b="0">
                          <a:solidFill>
                            <a:srgbClr val="E71C57"/>
                          </a:solidFill>
                        </a:rPr>
                        <a:t>Dont's</a:t>
                      </a:r>
                      <a:endParaRPr lang="en-US" sz="1600" b="0">
                        <a:solidFill>
                          <a:srgbClr val="E71C57"/>
                        </a:solidFill>
                      </a:endParaRPr>
                    </a:p>
                  </a:txBody>
                  <a:tcPr>
                    <a:lnB w="12700" cap="flat" cmpd="sng" algn="ctr">
                      <a:solidFill>
                        <a:schemeClr val="tx2"/>
                      </a:solidFill>
                      <a:prstDash val="solid"/>
                      <a:round/>
                      <a:headEnd type="none" w="med" len="med"/>
                      <a:tailEnd type="none" w="med" len="med"/>
                    </a:lnB>
                    <a:noFill/>
                  </a:tcPr>
                </a:tc>
                <a:tc>
                  <a:txBody>
                    <a:bodyPr/>
                    <a:lstStyle/>
                    <a:p>
                      <a:r>
                        <a:rPr lang="pl-PL" sz="1600" b="0">
                          <a:solidFill>
                            <a:srgbClr val="29BA74"/>
                          </a:solidFill>
                        </a:rPr>
                        <a:t>Do's</a:t>
                      </a:r>
                      <a:endParaRPr lang="en-US" sz="1600" b="0">
                        <a:solidFill>
                          <a:srgbClr val="29BA74"/>
                        </a:solidFill>
                      </a:endParaRPr>
                    </a:p>
                  </a:txBody>
                  <a:tcPr>
                    <a:lnR w="12700" cap="flat" cmpd="sng" algn="ctr">
                      <a:solidFill>
                        <a:schemeClr val="tx2"/>
                      </a:solidFill>
                      <a:prstDash val="solid"/>
                      <a:round/>
                      <a:headEnd type="none" w="med" len="med"/>
                      <a:tailEnd type="none" w="med" len="med"/>
                    </a:lnR>
                    <a:lnB w="12700" cap="flat" cmpd="sng" algn="ctr">
                      <a:solidFill>
                        <a:schemeClr val="tx2"/>
                      </a:solidFill>
                      <a:prstDash val="solid"/>
                      <a:round/>
                      <a:headEnd type="none" w="med" len="med"/>
                      <a:tailEnd type="none" w="med" len="med"/>
                    </a:lnB>
                    <a:noFill/>
                  </a:tcPr>
                </a:tc>
                <a:tc>
                  <a:txBody>
                    <a:bodyPr/>
                    <a:lstStyle/>
                    <a:p>
                      <a:r>
                        <a:rPr lang="pl-PL" sz="1600" b="0">
                          <a:solidFill>
                            <a:srgbClr val="29BA74"/>
                          </a:solidFill>
                        </a:rPr>
                        <a:t>Quotes</a:t>
                      </a:r>
                      <a:endParaRPr lang="en-US" sz="1600" b="0">
                        <a:solidFill>
                          <a:srgbClr val="29BA74"/>
                        </a:solidFill>
                      </a:endParaRPr>
                    </a:p>
                  </a:txBody>
                  <a:tcPr>
                    <a:lnL w="12700" cap="flat" cmpd="sng" algn="ctr">
                      <a:solidFill>
                        <a:schemeClr val="tx2"/>
                      </a:solidFill>
                      <a:prstDash val="solid"/>
                      <a:round/>
                      <a:headEnd type="none" w="med" len="med"/>
                      <a:tailEnd type="none" w="med" len="med"/>
                    </a:lnL>
                    <a:lnB w="12700" cap="flat" cmpd="sng" algn="ctr">
                      <a:solidFill>
                        <a:schemeClr val="tx2"/>
                      </a:solidFill>
                      <a:prstDash val="solid"/>
                      <a:round/>
                      <a:headEnd type="none" w="med" len="med"/>
                      <a:tailEnd type="none" w="med" len="med"/>
                    </a:lnB>
                    <a:noFill/>
                  </a:tcPr>
                </a:tc>
                <a:extLst>
                  <a:ext uri="{0D108BD9-81ED-4DB2-BD59-A6C34878D82A}">
                    <a16:rowId xmlns:a16="http://schemas.microsoft.com/office/drawing/2014/main" val="2520642187"/>
                  </a:ext>
                </a:extLst>
              </a:tr>
              <a:tr h="1476000">
                <a:tc>
                  <a:txBody>
                    <a:bodyPr/>
                    <a:lstStyle/>
                    <a:p>
                      <a:r>
                        <a:rPr lang="en-US" sz="1400">
                          <a:solidFill>
                            <a:srgbClr val="29BA74"/>
                          </a:solidFill>
                        </a:rPr>
                        <a:t>App design</a:t>
                      </a:r>
                    </a:p>
                  </a:txBody>
                  <a:tcPr marL="72000">
                    <a:lnT w="12700" cap="flat" cmpd="sng" algn="ctr">
                      <a:solidFill>
                        <a:schemeClr val="tx2"/>
                      </a:solidFill>
                      <a:prstDash val="solid"/>
                      <a:round/>
                      <a:headEnd type="none" w="med" len="med"/>
                      <a:tailEnd type="none" w="med" len="med"/>
                    </a:lnT>
                    <a:lnB w="9525" cap="flat" cmpd="sng" algn="ctr">
                      <a:solidFill>
                        <a:schemeClr val="bg1">
                          <a:lumMod val="75000"/>
                        </a:schemeClr>
                      </a:solidFill>
                      <a:prstDash val="sysDot"/>
                      <a:round/>
                      <a:headEnd type="none" w="med" len="med"/>
                      <a:tailEnd type="none" w="med" len="med"/>
                    </a:lnB>
                    <a:solidFill>
                      <a:srgbClr val="F2F2F2"/>
                    </a:solidFill>
                  </a:tcPr>
                </a:tc>
                <a:tc>
                  <a:txBody>
                    <a:bodyPr/>
                    <a:lstStyle/>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a:solidFill>
                            <a:schemeClr val="tx1"/>
                          </a:solidFill>
                          <a:latin typeface="Trebuchet MS" panose="020B0603020202020204" pitchFamily="34" charset="0"/>
                        </a:rPr>
                        <a:t>Very complicated apps with not </a:t>
                      </a:r>
                      <a:r>
                        <a:rPr lang="en-US" sz="1200" i="0" u="none" kern="1200" spc="0" err="1">
                          <a:solidFill>
                            <a:schemeClr val="tx1"/>
                          </a:solidFill>
                          <a:latin typeface="Trebuchet MS" panose="020B0603020202020204" pitchFamily="34" charset="0"/>
                        </a:rPr>
                        <a:t>UX</a:t>
                      </a:r>
                      <a:r>
                        <a:rPr lang="en-US" sz="1200" i="0" u="none" kern="1200" spc="0">
                          <a:solidFill>
                            <a:schemeClr val="tx1"/>
                          </a:solidFill>
                          <a:latin typeface="Trebuchet MS" panose="020B0603020202020204" pitchFamily="34" charset="0"/>
                        </a:rPr>
                        <a:t> solutions tasted with customers </a:t>
                      </a:r>
                    </a:p>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a:solidFill>
                            <a:srgbClr val="29BA74"/>
                          </a:solidFill>
                          <a:latin typeface="Trebuchet MS" panose="020B0603020202020204" pitchFamily="34" charset="0"/>
                        </a:rPr>
                        <a:t>Important info hidden </a:t>
                      </a:r>
                      <a:r>
                        <a:rPr lang="en-US" sz="1200" i="0" u="none" kern="1200" spc="0">
                          <a:solidFill>
                            <a:schemeClr val="tx1"/>
                          </a:solidFill>
                          <a:latin typeface="Trebuchet MS" panose="020B0603020202020204" pitchFamily="34" charset="0"/>
                        </a:rPr>
                        <a:t>in the app </a:t>
                      </a:r>
                    </a:p>
                  </a:txBody>
                  <a:tcPr marL="0">
                    <a:lnT w="12700" cap="flat" cmpd="sng" algn="ctr">
                      <a:solidFill>
                        <a:schemeClr val="tx2"/>
                      </a:solidFill>
                      <a:prstDash val="solid"/>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tc>
                  <a:txBody>
                    <a:bodyPr/>
                    <a:lstStyle/>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a:solidFill>
                            <a:srgbClr val="29BA74"/>
                          </a:solidFill>
                          <a:latin typeface="Trebuchet MS" panose="020B0603020202020204" pitchFamily="34" charset="0"/>
                        </a:rPr>
                        <a:t>Best-in-class </a:t>
                      </a:r>
                      <a:r>
                        <a:rPr lang="en-US" sz="1200" i="0" u="none" kern="1200" spc="0" err="1">
                          <a:solidFill>
                            <a:srgbClr val="29BA74"/>
                          </a:solidFill>
                          <a:latin typeface="Trebuchet MS" panose="020B0603020202020204" pitchFamily="34" charset="0"/>
                        </a:rPr>
                        <a:t>UX</a:t>
                      </a:r>
                      <a:r>
                        <a:rPr lang="en-US" sz="1200" i="0" u="none" kern="1200" spc="0">
                          <a:solidFill>
                            <a:srgbClr val="29BA74"/>
                          </a:solidFill>
                          <a:latin typeface="Trebuchet MS" panose="020B0603020202020204" pitchFamily="34" charset="0"/>
                        </a:rPr>
                        <a:t> design </a:t>
                      </a:r>
                      <a:r>
                        <a:rPr lang="en-US" sz="1200" i="0" u="none" kern="1200" spc="0">
                          <a:solidFill>
                            <a:schemeClr val="tx1"/>
                          </a:solidFill>
                          <a:latin typeface="Trebuchet MS" panose="020B0603020202020204" pitchFamily="34" charset="0"/>
                        </a:rPr>
                        <a:t>carefully </a:t>
                      </a:r>
                      <a:r>
                        <a:rPr lang="en-US" sz="1200" i="0" u="sng" kern="1200" spc="0">
                          <a:solidFill>
                            <a:srgbClr val="29BA74"/>
                          </a:solidFill>
                          <a:latin typeface="Trebuchet MS" panose="020B0603020202020204" pitchFamily="34" charset="0"/>
                        </a:rPr>
                        <a:t>tested with customers </a:t>
                      </a:r>
                    </a:p>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a:solidFill>
                            <a:schemeClr val="tx1"/>
                          </a:solidFill>
                          <a:latin typeface="Trebuchet MS" panose="020B0603020202020204" pitchFamily="34" charset="0"/>
                        </a:rPr>
                        <a:t>The most </a:t>
                      </a:r>
                      <a:r>
                        <a:rPr lang="en-US" sz="1200" i="0" u="none" kern="1200" spc="0">
                          <a:solidFill>
                            <a:srgbClr val="29BA74"/>
                          </a:solidFill>
                          <a:latin typeface="Trebuchet MS" panose="020B0603020202020204" pitchFamily="34" charset="0"/>
                        </a:rPr>
                        <a:t>important info visible </a:t>
                      </a:r>
                      <a:r>
                        <a:rPr lang="en-US" sz="1200" i="0" u="none" kern="1200" spc="0">
                          <a:solidFill>
                            <a:schemeClr val="tx1"/>
                          </a:solidFill>
                          <a:latin typeface="Trebuchet MS" panose="020B0603020202020204" pitchFamily="34" charset="0"/>
                        </a:rPr>
                        <a:t>on the online/mobile landing page</a:t>
                      </a:r>
                      <a:endParaRPr lang="en-US" sz="1200" i="0" u="none" kern="1200" spc="0">
                        <a:solidFill>
                          <a:srgbClr val="29BA74"/>
                        </a:solidFill>
                        <a:latin typeface="Trebuchet MS" panose="020B0603020202020204" pitchFamily="34" charset="0"/>
                      </a:endParaRPr>
                    </a:p>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a:solidFill>
                            <a:schemeClr val="tx1"/>
                          </a:solidFill>
                          <a:latin typeface="Trebuchet MS" panose="020B0603020202020204" pitchFamily="34" charset="0"/>
                        </a:rPr>
                        <a:t>Easily to find </a:t>
                      </a:r>
                      <a:r>
                        <a:rPr lang="en-US" sz="1200" i="0" u="none" kern="1200" spc="0">
                          <a:solidFill>
                            <a:srgbClr val="29BA74"/>
                          </a:solidFill>
                          <a:latin typeface="Trebuchet MS" panose="020B0603020202020204" pitchFamily="34" charset="0"/>
                        </a:rPr>
                        <a:t>check list </a:t>
                      </a:r>
                      <a:r>
                        <a:rPr lang="en-US" sz="1200" i="0" u="none" kern="1200" spc="0">
                          <a:solidFill>
                            <a:schemeClr val="tx1"/>
                          </a:solidFill>
                          <a:latin typeface="Trebuchet MS" panose="020B0603020202020204" pitchFamily="34" charset="0"/>
                        </a:rPr>
                        <a:t>of customer actions (but not x-sell info)</a:t>
                      </a:r>
                    </a:p>
                  </a:txBody>
                  <a:tcPr marL="0">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tc>
                  <a:txBody>
                    <a:bodyPr/>
                    <a:lstStyle/>
                    <a:p>
                      <a:pPr marL="0" marR="0" lvl="0" indent="0" algn="l" defTabSz="914400" rtl="0" eaLnBrk="1" fontAlgn="auto" latinLnBrk="0" hangingPunct="1">
                        <a:lnSpc>
                          <a:spcPct val="95000"/>
                        </a:lnSpc>
                        <a:spcBef>
                          <a:spcPts val="0"/>
                        </a:spcBef>
                        <a:spcAft>
                          <a:spcPts val="0"/>
                        </a:spcAft>
                        <a:buClrTx/>
                        <a:buSzPct val="100000"/>
                        <a:buFont typeface="Trebuchet MS" panose="020B0603020202020204" pitchFamily="34" charset="0"/>
                        <a:buChar char="​"/>
                        <a:tabLst/>
                        <a:defRPr/>
                      </a:pPr>
                      <a:r>
                        <a:rPr lang="en-US" sz="1100" i="1" u="none" kern="1200" spc="0">
                          <a:solidFill>
                            <a:srgbClr val="7F7F7F"/>
                          </a:solidFill>
                          <a:latin typeface="Trebuchet MS" panose="020B0603020202020204" pitchFamily="34" charset="0"/>
                          <a:ea typeface="+mn-ea"/>
                          <a:cs typeface="+mn-cs"/>
                        </a:rPr>
                        <a:t>Nowadays, customers are used to use Facebook, Netflix and other tech players solutions. Those guys are masters in </a:t>
                      </a:r>
                      <a:r>
                        <a:rPr lang="en-US" sz="1100" b="1" i="1" u="sng" kern="1200" spc="0" err="1">
                          <a:solidFill>
                            <a:srgbClr val="7F7F7F"/>
                          </a:solidFill>
                          <a:latin typeface="Trebuchet MS" panose="020B0603020202020204" pitchFamily="34" charset="0"/>
                          <a:ea typeface="+mn-ea"/>
                          <a:cs typeface="+mn-cs"/>
                        </a:rPr>
                        <a:t>UX</a:t>
                      </a:r>
                      <a:r>
                        <a:rPr lang="en-US" sz="1100" b="1" i="1" u="sng" kern="1200" spc="0">
                          <a:solidFill>
                            <a:srgbClr val="7F7F7F"/>
                          </a:solidFill>
                          <a:latin typeface="Trebuchet MS" panose="020B0603020202020204" pitchFamily="34" charset="0"/>
                          <a:ea typeface="+mn-ea"/>
                          <a:cs typeface="+mn-cs"/>
                        </a:rPr>
                        <a:t> design</a:t>
                      </a:r>
                      <a:r>
                        <a:rPr lang="en-US" sz="1100" i="1" u="none" kern="1200" spc="0">
                          <a:solidFill>
                            <a:srgbClr val="7F7F7F"/>
                          </a:solidFill>
                          <a:latin typeface="Trebuchet MS" panose="020B0603020202020204" pitchFamily="34" charset="0"/>
                          <a:ea typeface="+mn-ea"/>
                          <a:cs typeface="+mn-cs"/>
                        </a:rPr>
                        <a:t>. For us, it was the </a:t>
                      </a:r>
                      <a:r>
                        <a:rPr lang="en-US" sz="1100" b="1" i="1" u="sng" kern="1200" spc="0">
                          <a:solidFill>
                            <a:srgbClr val="7F7F7F"/>
                          </a:solidFill>
                          <a:latin typeface="Trebuchet MS" panose="020B0603020202020204" pitchFamily="34" charset="0"/>
                          <a:ea typeface="+mn-ea"/>
                          <a:cs typeface="+mn-cs"/>
                        </a:rPr>
                        <a:t>most important goal </a:t>
                      </a:r>
                      <a:r>
                        <a:rPr lang="en-US" sz="1100" i="1" u="none" kern="1200" spc="0">
                          <a:solidFill>
                            <a:srgbClr val="7F7F7F"/>
                          </a:solidFill>
                          <a:latin typeface="Trebuchet MS" panose="020B0603020202020204" pitchFamily="34" charset="0"/>
                          <a:ea typeface="+mn-ea"/>
                          <a:cs typeface="+mn-cs"/>
                        </a:rPr>
                        <a:t>to implement something very similar from </a:t>
                      </a:r>
                      <a:r>
                        <a:rPr lang="en-US" sz="1100" i="1" u="none" kern="1200" spc="0" err="1">
                          <a:solidFill>
                            <a:srgbClr val="7F7F7F"/>
                          </a:solidFill>
                          <a:latin typeface="Trebuchet MS" panose="020B0603020202020204" pitchFamily="34" charset="0"/>
                          <a:ea typeface="+mn-ea"/>
                          <a:cs typeface="+mn-cs"/>
                        </a:rPr>
                        <a:t>UX</a:t>
                      </a:r>
                      <a:r>
                        <a:rPr lang="en-US" sz="1100" i="1" u="none" kern="1200" spc="0">
                          <a:solidFill>
                            <a:srgbClr val="7F7F7F"/>
                          </a:solidFill>
                          <a:latin typeface="Trebuchet MS" panose="020B0603020202020204" pitchFamily="34" charset="0"/>
                          <a:ea typeface="+mn-ea"/>
                          <a:cs typeface="+mn-cs"/>
                        </a:rPr>
                        <a:t> standpoint. Importance of </a:t>
                      </a:r>
                      <a:r>
                        <a:rPr lang="en-US" sz="1100" i="1" u="none" kern="1200" spc="0" err="1">
                          <a:solidFill>
                            <a:srgbClr val="7F7F7F"/>
                          </a:solidFill>
                          <a:latin typeface="Trebuchet MS" panose="020B0603020202020204" pitchFamily="34" charset="0"/>
                          <a:ea typeface="+mn-ea"/>
                          <a:cs typeface="+mn-cs"/>
                        </a:rPr>
                        <a:t>UX</a:t>
                      </a:r>
                      <a:r>
                        <a:rPr lang="en-US" sz="1100" i="1" u="none" kern="1200" spc="0">
                          <a:solidFill>
                            <a:srgbClr val="7F7F7F"/>
                          </a:solidFill>
                          <a:latin typeface="Trebuchet MS" panose="020B0603020202020204" pitchFamily="34" charset="0"/>
                          <a:ea typeface="+mn-ea"/>
                          <a:cs typeface="+mn-cs"/>
                        </a:rPr>
                        <a:t> is often underestimated by other big banks</a:t>
                      </a:r>
                    </a:p>
                    <a:p>
                      <a:pPr marL="0" lvl="0" indent="0" algn="r" defTabSz="914400" rtl="0" eaLnBrk="1" latinLnBrk="0" hangingPunct="1">
                        <a:lnSpc>
                          <a:spcPct val="95000"/>
                        </a:lnSpc>
                        <a:spcBef>
                          <a:spcPts val="0"/>
                        </a:spcBef>
                        <a:spcAft>
                          <a:spcPts val="0"/>
                        </a:spcAft>
                        <a:buClrTx/>
                        <a:buSzPct val="100000"/>
                        <a:buFont typeface="Trebuchet MS" panose="020B0603020202020204" pitchFamily="34" charset="0"/>
                        <a:buChar char="​"/>
                      </a:pPr>
                      <a:r>
                        <a:rPr lang="en-US" sz="1100" b="1" i="0" u="none" kern="1200" spc="0">
                          <a:solidFill>
                            <a:schemeClr val="tx1"/>
                          </a:solidFill>
                          <a:latin typeface="Trebuchet MS" panose="020B0603020202020204" pitchFamily="34" charset="0"/>
                        </a:rPr>
                        <a:t>Head of Onboarding </a:t>
                      </a:r>
                      <a:br>
                        <a:rPr lang="en-US" sz="1100" b="1" i="0" u="none" kern="1200" spc="0">
                          <a:solidFill>
                            <a:schemeClr val="tx1"/>
                          </a:solidFill>
                          <a:latin typeface="Trebuchet MS" panose="020B0603020202020204" pitchFamily="34" charset="0"/>
                        </a:rPr>
                      </a:br>
                      <a:r>
                        <a:rPr lang="en-US" sz="1100" b="1" i="0" u="none" kern="1200" spc="0">
                          <a:solidFill>
                            <a:schemeClr val="tx1"/>
                          </a:solidFill>
                          <a:latin typeface="Trebuchet MS" panose="020B0603020202020204" pitchFamily="34" charset="0"/>
                        </a:rPr>
                        <a:t>and Mobile Services at </a:t>
                      </a:r>
                      <a:r>
                        <a:rPr lang="en-US" sz="1100" b="1" i="0" u="none" kern="1200" spc="0" err="1">
                          <a:solidFill>
                            <a:schemeClr val="tx1"/>
                          </a:solidFill>
                          <a:latin typeface="Trebuchet MS" panose="020B0603020202020204" pitchFamily="34" charset="0"/>
                        </a:rPr>
                        <a:t>Aion</a:t>
                      </a:r>
                      <a:r>
                        <a:rPr lang="en-US" sz="1100" b="1" i="0" u="none" kern="1200" spc="0">
                          <a:solidFill>
                            <a:schemeClr val="tx1"/>
                          </a:solidFill>
                          <a:latin typeface="Trebuchet MS" panose="020B0603020202020204" pitchFamily="34" charset="0"/>
                        </a:rPr>
                        <a:t> Bank</a:t>
                      </a:r>
                      <a:r>
                        <a:rPr lang="en-US" sz="1100" i="0" u="none" kern="1200" spc="0">
                          <a:solidFill>
                            <a:schemeClr val="tx1"/>
                          </a:solidFill>
                          <a:latin typeface="Trebuchet MS" panose="020B0603020202020204" pitchFamily="34" charset="0"/>
                        </a:rPr>
                        <a:t> </a:t>
                      </a:r>
                    </a:p>
                  </a:txBody>
                  <a:tcPr>
                    <a:lnL w="12700" cap="flat" cmpd="sng" algn="ctr">
                      <a:solidFill>
                        <a:schemeClr val="tx2"/>
                      </a:solidFill>
                      <a:prstDash val="solid"/>
                      <a:round/>
                      <a:headEnd type="none" w="med" len="med"/>
                      <a:tailEnd type="none" w="med" len="med"/>
                    </a:lnL>
                    <a:lnT w="12700" cap="flat" cmpd="sng" algn="ctr">
                      <a:solidFill>
                        <a:schemeClr val="tx2"/>
                      </a:solidFill>
                      <a:prstDash val="solid"/>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extLst>
                  <a:ext uri="{0D108BD9-81ED-4DB2-BD59-A6C34878D82A}">
                    <a16:rowId xmlns:a16="http://schemas.microsoft.com/office/drawing/2014/main" val="3436492136"/>
                  </a:ext>
                </a:extLst>
              </a:tr>
              <a:tr h="370840">
                <a:tc>
                  <a:txBody>
                    <a:bodyPr/>
                    <a:lstStyle/>
                    <a:p>
                      <a:r>
                        <a:rPr lang="en-US" sz="1400">
                          <a:solidFill>
                            <a:srgbClr val="29BA74"/>
                          </a:solidFill>
                        </a:rPr>
                        <a:t>Onboarding to online channels</a:t>
                      </a:r>
                    </a:p>
                  </a:txBody>
                  <a:tcPr marL="72000">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solidFill>
                      <a:srgbClr val="F2F2F2"/>
                    </a:solidFill>
                  </a:tcPr>
                </a:tc>
                <a:tc>
                  <a:txBody>
                    <a:bodyPr/>
                    <a:lstStyle/>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err="1">
                          <a:solidFill>
                            <a:schemeClr val="tx1"/>
                          </a:solidFill>
                          <a:latin typeface="Trebuchet MS" panose="020B0603020202020204" pitchFamily="34" charset="0"/>
                        </a:rPr>
                        <a:t>RMs</a:t>
                      </a:r>
                      <a:r>
                        <a:rPr lang="en-US" sz="1200" i="0" u="none" kern="1200" spc="0">
                          <a:solidFill>
                            <a:schemeClr val="tx1"/>
                          </a:solidFill>
                          <a:latin typeface="Trebuchet MS" panose="020B0603020202020204" pitchFamily="34" charset="0"/>
                        </a:rPr>
                        <a:t> and CC advisors not involved in onboarding to online channels (e.g. not properly trained and with limited incentives) </a:t>
                      </a:r>
                    </a:p>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a:solidFill>
                            <a:schemeClr val="tx1"/>
                          </a:solidFill>
                          <a:latin typeface="Trebuchet MS" panose="020B0603020202020204" pitchFamily="34" charset="0"/>
                        </a:rPr>
                        <a:t>Online channels functionalities explained in </a:t>
                      </a:r>
                      <a:r>
                        <a:rPr lang="en-US" sz="1200" i="0" u="none" kern="1200" spc="0">
                          <a:solidFill>
                            <a:srgbClr val="29BA74"/>
                          </a:solidFill>
                          <a:latin typeface="Trebuchet MS" panose="020B0603020202020204" pitchFamily="34" charset="0"/>
                        </a:rPr>
                        <a:t>leaflets and flyers  </a:t>
                      </a:r>
                    </a:p>
                  </a:txBody>
                  <a:tcPr marL="0">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tc>
                  <a:txBody>
                    <a:bodyPr/>
                    <a:lstStyle/>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a:solidFill>
                            <a:srgbClr val="29BA74"/>
                          </a:solidFill>
                          <a:latin typeface="Trebuchet MS" panose="020B0603020202020204" pitchFamily="34" charset="0"/>
                        </a:rPr>
                        <a:t>Branch and CC center assistance </a:t>
                      </a:r>
                      <a:r>
                        <a:rPr lang="en-US" sz="1200" i="0" u="none" kern="1200" spc="0">
                          <a:solidFill>
                            <a:schemeClr val="tx1"/>
                          </a:solidFill>
                          <a:latin typeface="Trebuchet MS" panose="020B0603020202020204" pitchFamily="34" charset="0"/>
                        </a:rPr>
                        <a:t>(all staff carefully trained about the digital channels and its functionalities) </a:t>
                      </a:r>
                    </a:p>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a:solidFill>
                            <a:schemeClr val="tx1"/>
                          </a:solidFill>
                          <a:latin typeface="Trebuchet MS" panose="020B0603020202020204" pitchFamily="34" charset="0"/>
                        </a:rPr>
                        <a:t>Onboarding through </a:t>
                      </a:r>
                      <a:r>
                        <a:rPr lang="en-US" sz="1200" i="0" u="none" kern="1200" spc="0">
                          <a:solidFill>
                            <a:srgbClr val="29BA74"/>
                          </a:solidFill>
                          <a:latin typeface="Trebuchet MS" panose="020B0603020202020204" pitchFamily="34" charset="0"/>
                        </a:rPr>
                        <a:t>learning bites and </a:t>
                      </a:r>
                      <a:r>
                        <a:rPr lang="en-US" sz="1200" i="0" u="none" kern="1200" spc="0" err="1">
                          <a:solidFill>
                            <a:srgbClr val="29BA74"/>
                          </a:solidFill>
                          <a:latin typeface="Trebuchet MS" panose="020B0603020202020204" pitchFamily="34" charset="0"/>
                        </a:rPr>
                        <a:t>UX</a:t>
                      </a:r>
                      <a:r>
                        <a:rPr lang="en-US" sz="1200" i="0" u="none" kern="1200" spc="0">
                          <a:solidFill>
                            <a:srgbClr val="29BA74"/>
                          </a:solidFill>
                          <a:latin typeface="Trebuchet MS" panose="020B0603020202020204" pitchFamily="34" charset="0"/>
                        </a:rPr>
                        <a:t> friendly tools</a:t>
                      </a:r>
                      <a:r>
                        <a:rPr lang="en-US" sz="1200" i="0" u="none" kern="1200" spc="0">
                          <a:solidFill>
                            <a:schemeClr val="tx1"/>
                          </a:solidFill>
                          <a:latin typeface="Trebuchet MS" panose="020B0603020202020204" pitchFamily="34" charset="0"/>
                        </a:rPr>
                        <a:t> (e.g. videos, contextual help)</a:t>
                      </a:r>
                    </a:p>
                  </a:txBody>
                  <a:tcPr marL="0">
                    <a:lnR w="12700" cap="flat" cmpd="sng" algn="ctr">
                      <a:solidFill>
                        <a:schemeClr val="tx2"/>
                      </a:solidFill>
                      <a:prstDash val="solid"/>
                      <a:round/>
                      <a:headEnd type="none" w="med" len="med"/>
                      <a:tailEnd type="none" w="med" len="med"/>
                    </a:lnR>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tc>
                  <a:txBody>
                    <a:bodyPr/>
                    <a:lstStyle/>
                    <a:p>
                      <a:pPr marL="0" marR="0" lvl="0" indent="0" algn="l" defTabSz="914400" rtl="0" eaLnBrk="1" fontAlgn="auto" latinLnBrk="0" hangingPunct="1">
                        <a:lnSpc>
                          <a:spcPct val="95000"/>
                        </a:lnSpc>
                        <a:spcBef>
                          <a:spcPts val="0"/>
                        </a:spcBef>
                        <a:spcAft>
                          <a:spcPts val="0"/>
                        </a:spcAft>
                        <a:buClrTx/>
                        <a:buSzPct val="100000"/>
                        <a:buFont typeface="Trebuchet MS" panose="020B0603020202020204" pitchFamily="34" charset="0"/>
                        <a:buChar char="​"/>
                        <a:tabLst/>
                        <a:defRPr/>
                      </a:pPr>
                      <a:r>
                        <a:rPr lang="en-US" sz="1100" i="1" u="none" kern="1200" spc="0">
                          <a:solidFill>
                            <a:srgbClr val="7F7F7F"/>
                          </a:solidFill>
                          <a:latin typeface="Trebuchet MS" panose="020B0603020202020204" pitchFamily="34" charset="0"/>
                          <a:ea typeface="+mn-ea"/>
                          <a:cs typeface="+mn-cs"/>
                        </a:rPr>
                        <a:t>In branches we introduced </a:t>
                      </a:r>
                      <a:r>
                        <a:rPr lang="en-US" sz="1100" b="1" i="1" u="sng" kern="1200" spc="0">
                          <a:solidFill>
                            <a:srgbClr val="7F7F7F"/>
                          </a:solidFill>
                          <a:latin typeface="Trebuchet MS" panose="020B0603020202020204" pitchFamily="34" charset="0"/>
                          <a:ea typeface="+mn-ea"/>
                          <a:cs typeface="+mn-cs"/>
                        </a:rPr>
                        <a:t>‘</a:t>
                      </a:r>
                      <a:r>
                        <a:rPr lang="en-US" sz="1100" b="1" i="1" u="sng" kern="1200" spc="0" err="1">
                          <a:solidFill>
                            <a:srgbClr val="7F7F7F"/>
                          </a:solidFill>
                          <a:latin typeface="Trebuchet MS" panose="020B0603020202020204" pitchFamily="34" charset="0"/>
                          <a:ea typeface="+mn-ea"/>
                          <a:cs typeface="+mn-cs"/>
                        </a:rPr>
                        <a:t>digi</a:t>
                      </a:r>
                      <a:r>
                        <a:rPr lang="en-US" sz="1100" b="1" i="1" u="sng" kern="1200" spc="0">
                          <a:solidFill>
                            <a:srgbClr val="7F7F7F"/>
                          </a:solidFill>
                          <a:latin typeface="Trebuchet MS" panose="020B0603020202020204" pitchFamily="34" charset="0"/>
                          <a:ea typeface="+mn-ea"/>
                          <a:cs typeface="+mn-cs"/>
                        </a:rPr>
                        <a:t> coaches’ </a:t>
                      </a:r>
                      <a:r>
                        <a:rPr lang="en-US" sz="1100" i="1" u="none" kern="1200" spc="0">
                          <a:solidFill>
                            <a:srgbClr val="7F7F7F"/>
                          </a:solidFill>
                          <a:latin typeface="Trebuchet MS" panose="020B0603020202020204" pitchFamily="34" charset="0"/>
                          <a:ea typeface="+mn-ea"/>
                          <a:cs typeface="+mn-cs"/>
                        </a:rPr>
                        <a:t>- bank employees that help our customers with the conversion to use mobile.  To do this we had an Apple like ‘genius bar’ with tablets and phones were our </a:t>
                      </a:r>
                      <a:r>
                        <a:rPr lang="en-US" sz="1100" i="1" u="none" kern="1200" spc="0" err="1">
                          <a:solidFill>
                            <a:srgbClr val="7F7F7F"/>
                          </a:solidFill>
                          <a:latin typeface="Trebuchet MS" panose="020B0603020202020204" pitchFamily="34" charset="0"/>
                          <a:ea typeface="+mn-ea"/>
                          <a:cs typeface="+mn-cs"/>
                        </a:rPr>
                        <a:t>digi</a:t>
                      </a:r>
                      <a:r>
                        <a:rPr lang="en-US" sz="1100" i="1" u="none" kern="1200" spc="0">
                          <a:solidFill>
                            <a:srgbClr val="7F7F7F"/>
                          </a:solidFill>
                          <a:latin typeface="Trebuchet MS" panose="020B0603020202020204" pitchFamily="34" charset="0"/>
                          <a:ea typeface="+mn-ea"/>
                          <a:cs typeface="+mn-cs"/>
                        </a:rPr>
                        <a:t>-coaches </a:t>
                      </a:r>
                      <a:r>
                        <a:rPr lang="en-US" sz="1100" b="1" i="1" u="sng" kern="1200" spc="0">
                          <a:solidFill>
                            <a:srgbClr val="7F7F7F"/>
                          </a:solidFill>
                          <a:latin typeface="Trebuchet MS" panose="020B0603020202020204" pitchFamily="34" charset="0"/>
                          <a:ea typeface="+mn-ea"/>
                          <a:cs typeface="+mn-cs"/>
                        </a:rPr>
                        <a:t>explained how it works and helped customers to download and start using</a:t>
                      </a:r>
                      <a:r>
                        <a:rPr lang="en-US" sz="1100" i="1" u="none" kern="1200" spc="0">
                          <a:solidFill>
                            <a:srgbClr val="7F7F7F"/>
                          </a:solidFill>
                          <a:latin typeface="Trebuchet MS" panose="020B0603020202020204" pitchFamily="34" charset="0"/>
                          <a:ea typeface="+mn-ea"/>
                          <a:cs typeface="+mn-cs"/>
                        </a:rPr>
                        <a:t>. Also, our advisors had clear target, e.g. at first downloads completed with an on the spot mobile money transfer</a:t>
                      </a:r>
                    </a:p>
                    <a:p>
                      <a:pPr marL="0" marR="0" lvl="0" indent="0" algn="r" defTabSz="914400" rtl="0" eaLnBrk="1" fontAlgn="auto" latinLnBrk="0" hangingPunct="1">
                        <a:lnSpc>
                          <a:spcPct val="95000"/>
                        </a:lnSpc>
                        <a:spcBef>
                          <a:spcPts val="0"/>
                        </a:spcBef>
                        <a:spcAft>
                          <a:spcPts val="0"/>
                        </a:spcAft>
                        <a:buClrTx/>
                        <a:buSzTx/>
                        <a:buFontTx/>
                        <a:buNone/>
                        <a:tabLst/>
                        <a:defRPr/>
                      </a:pPr>
                      <a:r>
                        <a:rPr lang="en-US" sz="1100" b="1" i="0" u="none" kern="1200" spc="0">
                          <a:solidFill>
                            <a:schemeClr val="tx1"/>
                          </a:solidFill>
                          <a:latin typeface="Trebuchet MS" panose="020B0603020202020204" pitchFamily="34" charset="0"/>
                        </a:rPr>
                        <a:t>CEO at ING Netherlands</a:t>
                      </a:r>
                      <a:endParaRPr lang="en-US" sz="1100" i="0" u="none" kern="1200" spc="0">
                        <a:solidFill>
                          <a:schemeClr val="tx1"/>
                        </a:solidFill>
                        <a:latin typeface="Trebuchet MS" panose="020B0603020202020204" pitchFamily="34" charset="0"/>
                      </a:endParaRPr>
                    </a:p>
                    <a:p>
                      <a:pPr lvl="0" algn="l">
                        <a:lnSpc>
                          <a:spcPct val="95000"/>
                        </a:lnSpc>
                        <a:spcBef>
                          <a:spcPts val="0"/>
                        </a:spcBef>
                        <a:spcAft>
                          <a:spcPts val="0"/>
                        </a:spcAft>
                      </a:pPr>
                      <a:endParaRPr lang="en-US" sz="1100"/>
                    </a:p>
                  </a:txBody>
                  <a:tcPr>
                    <a:lnL w="12700" cap="flat" cmpd="sng" algn="ctr">
                      <a:solidFill>
                        <a:schemeClr val="tx2"/>
                      </a:solidFill>
                      <a:prstDash val="solid"/>
                      <a:round/>
                      <a:headEnd type="none" w="med" len="med"/>
                      <a:tailEnd type="none" w="med" len="med"/>
                    </a:lnL>
                    <a:lnT w="9525" cap="flat" cmpd="sng" algn="ctr">
                      <a:solidFill>
                        <a:schemeClr val="bg1">
                          <a:lumMod val="75000"/>
                        </a:schemeClr>
                      </a:solidFill>
                      <a:prstDash val="sysDot"/>
                      <a:round/>
                      <a:headEnd type="none" w="med" len="med"/>
                      <a:tailEnd type="none" w="med" len="med"/>
                    </a:lnT>
                    <a:lnB w="9525" cap="flat" cmpd="sng" algn="ctr">
                      <a:solidFill>
                        <a:schemeClr val="bg1">
                          <a:lumMod val="75000"/>
                        </a:schemeClr>
                      </a:solidFill>
                      <a:prstDash val="sysDot"/>
                      <a:round/>
                      <a:headEnd type="none" w="med" len="med"/>
                      <a:tailEnd type="none" w="med" len="med"/>
                    </a:lnB>
                    <a:noFill/>
                  </a:tcPr>
                </a:tc>
                <a:extLst>
                  <a:ext uri="{0D108BD9-81ED-4DB2-BD59-A6C34878D82A}">
                    <a16:rowId xmlns:a16="http://schemas.microsoft.com/office/drawing/2014/main" val="2534262357"/>
                  </a:ext>
                </a:extLst>
              </a:tr>
              <a:tr h="370840">
                <a:tc>
                  <a:txBody>
                    <a:bodyPr/>
                    <a:lstStyle/>
                    <a:p>
                      <a:r>
                        <a:rPr lang="en-US" sz="1400">
                          <a:solidFill>
                            <a:srgbClr val="29BA74"/>
                          </a:solidFill>
                        </a:rPr>
                        <a:t>Ongoing customer pathways analysis </a:t>
                      </a:r>
                    </a:p>
                  </a:txBody>
                  <a:tcPr marL="72000">
                    <a:lnT w="9525" cap="flat" cmpd="sng" algn="ctr">
                      <a:solidFill>
                        <a:schemeClr val="bg1">
                          <a:lumMod val="75000"/>
                        </a:schemeClr>
                      </a:solidFill>
                      <a:prstDash val="sysDot"/>
                      <a:round/>
                      <a:headEnd type="none" w="med" len="med"/>
                      <a:tailEnd type="none" w="med" len="med"/>
                    </a:lnT>
                    <a:solidFill>
                      <a:srgbClr val="F2F2F2"/>
                    </a:solidFill>
                  </a:tcPr>
                </a:tc>
                <a:tc>
                  <a:txBody>
                    <a:bodyPr/>
                    <a:lstStyle/>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a:solidFill>
                            <a:schemeClr val="tx1"/>
                          </a:solidFill>
                          <a:latin typeface="Trebuchet MS" panose="020B0603020202020204" pitchFamily="34" charset="0"/>
                        </a:rPr>
                        <a:t>Customer processes not tracked</a:t>
                      </a:r>
                    </a:p>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a:solidFill>
                            <a:srgbClr val="29BA74"/>
                          </a:solidFill>
                          <a:latin typeface="Trebuchet MS" panose="020B0603020202020204" pitchFamily="34" charset="0"/>
                        </a:rPr>
                        <a:t>Unclear goals </a:t>
                      </a:r>
                      <a:r>
                        <a:rPr lang="en-US" sz="1200" i="0" u="none" kern="1200" spc="0">
                          <a:solidFill>
                            <a:schemeClr val="tx1"/>
                          </a:solidFill>
                          <a:latin typeface="Trebuchet MS" panose="020B0603020202020204" pitchFamily="34" charset="0"/>
                        </a:rPr>
                        <a:t>not internally communicated </a:t>
                      </a:r>
                    </a:p>
                  </a:txBody>
                  <a:tcPr marL="0">
                    <a:lnT w="9525" cap="flat" cmpd="sng" algn="ctr">
                      <a:solidFill>
                        <a:schemeClr val="bg1">
                          <a:lumMod val="75000"/>
                        </a:schemeClr>
                      </a:solidFill>
                      <a:prstDash val="sysDot"/>
                      <a:round/>
                      <a:headEnd type="none" w="med" len="med"/>
                      <a:tailEnd type="none" w="med" len="med"/>
                    </a:lnT>
                    <a:noFill/>
                  </a:tcPr>
                </a:tc>
                <a:tc>
                  <a:txBody>
                    <a:bodyPr/>
                    <a:lstStyle/>
                    <a:p>
                      <a:pPr marL="324000" lvl="1" indent="-216000" algn="l" defTabSz="914400" rtl="0" eaLnBrk="1" latinLnBrk="0" hangingPunct="1">
                        <a:lnSpc>
                          <a:spcPct val="95000"/>
                        </a:lnSpc>
                        <a:spcBef>
                          <a:spcPts val="0"/>
                        </a:spcBef>
                        <a:spcAft>
                          <a:spcPts val="0"/>
                        </a:spcAft>
                        <a:buClr>
                          <a:schemeClr val="tx2"/>
                        </a:buClr>
                        <a:buSzPct val="100000"/>
                        <a:buFont typeface="Trebuchet MS" panose="020B0603020202020204" pitchFamily="34" charset="0"/>
                        <a:buChar char="•"/>
                      </a:pPr>
                      <a:r>
                        <a:rPr lang="en-US" sz="1200" i="0" u="none" kern="1200" spc="0">
                          <a:solidFill>
                            <a:srgbClr val="29BA74"/>
                          </a:solidFill>
                          <a:latin typeface="Trebuchet MS" panose="020B0603020202020204" pitchFamily="34" charset="0"/>
                        </a:rPr>
                        <a:t>Customer processes carefully tracked </a:t>
                      </a:r>
                      <a:r>
                        <a:rPr lang="en-US" sz="1200" i="0" u="none" kern="1200" spc="0">
                          <a:solidFill>
                            <a:schemeClr val="tx1"/>
                          </a:solidFill>
                          <a:latin typeface="Trebuchet MS" panose="020B0603020202020204" pitchFamily="34" charset="0"/>
                        </a:rPr>
                        <a:t>and adjusted on the spot (e.g. tracking on each stage customer dropped out from the process or how he reacted to new campaign)</a:t>
                      </a:r>
                    </a:p>
                  </a:txBody>
                  <a:tcPr marL="0">
                    <a:lnR w="12700" cap="flat" cmpd="sng" algn="ctr">
                      <a:solidFill>
                        <a:schemeClr val="tx2"/>
                      </a:solidFill>
                      <a:prstDash val="solid"/>
                      <a:round/>
                      <a:headEnd type="none" w="med" len="med"/>
                      <a:tailEnd type="none" w="med" len="med"/>
                    </a:lnR>
                    <a:lnT w="9525" cap="flat" cmpd="sng" algn="ctr">
                      <a:solidFill>
                        <a:schemeClr val="bg1">
                          <a:lumMod val="75000"/>
                        </a:schemeClr>
                      </a:solidFill>
                      <a:prstDash val="sysDot"/>
                      <a:round/>
                      <a:headEnd type="none" w="med" len="med"/>
                      <a:tailEnd type="none" w="med" len="med"/>
                    </a:lnT>
                    <a:noFill/>
                  </a:tcPr>
                </a:tc>
                <a:tc>
                  <a:txBody>
                    <a:bodyPr/>
                    <a:lstStyle/>
                    <a:p>
                      <a:pPr marL="0" marR="0" lvl="0" indent="0" algn="l" defTabSz="914400" rtl="0" eaLnBrk="1" fontAlgn="auto" latinLnBrk="0" hangingPunct="1">
                        <a:lnSpc>
                          <a:spcPct val="95000"/>
                        </a:lnSpc>
                        <a:spcBef>
                          <a:spcPts val="0"/>
                        </a:spcBef>
                        <a:spcAft>
                          <a:spcPts val="0"/>
                        </a:spcAft>
                        <a:buClrTx/>
                        <a:buSzPct val="100000"/>
                        <a:buFont typeface="Trebuchet MS" panose="020B0603020202020204" pitchFamily="34" charset="0"/>
                        <a:buChar char="​"/>
                        <a:tabLst/>
                        <a:defRPr/>
                      </a:pPr>
                      <a:r>
                        <a:rPr lang="en-US" sz="1100" b="1" i="1" u="sng" kern="1200" spc="0">
                          <a:solidFill>
                            <a:srgbClr val="7F7F7F"/>
                          </a:solidFill>
                          <a:latin typeface="Trebuchet MS" panose="020B0603020202020204" pitchFamily="34" charset="0"/>
                          <a:ea typeface="+mn-ea"/>
                          <a:cs typeface="+mn-cs"/>
                        </a:rPr>
                        <a:t>Measure everything </a:t>
                      </a:r>
                      <a:r>
                        <a:rPr lang="en-US" sz="1100" i="1" u="none" kern="1200" spc="0">
                          <a:solidFill>
                            <a:srgbClr val="7F7F7F"/>
                          </a:solidFill>
                          <a:latin typeface="Trebuchet MS" panose="020B0603020202020204" pitchFamily="34" charset="0"/>
                          <a:ea typeface="+mn-ea"/>
                          <a:cs typeface="+mn-cs"/>
                        </a:rPr>
                        <a:t>and make it available for your squads. Measure in and outflow, measure conversion funnels and drop outs, measure most frequent used processes, analyze search results, measure and target the distinctive elements in the digital formula</a:t>
                      </a:r>
                    </a:p>
                    <a:p>
                      <a:pPr marL="0" marR="0" lvl="0" indent="0" algn="r" defTabSz="914400" rtl="0" eaLnBrk="1" fontAlgn="auto" latinLnBrk="0" hangingPunct="1">
                        <a:lnSpc>
                          <a:spcPct val="95000"/>
                        </a:lnSpc>
                        <a:spcBef>
                          <a:spcPts val="0"/>
                        </a:spcBef>
                        <a:spcAft>
                          <a:spcPts val="0"/>
                        </a:spcAft>
                        <a:buClrTx/>
                        <a:buSzTx/>
                        <a:buFontTx/>
                        <a:buNone/>
                        <a:tabLst/>
                        <a:defRPr/>
                      </a:pPr>
                      <a:endParaRPr lang="pl-PL" sz="1100" b="1" i="0" u="none" kern="1200" spc="0">
                        <a:solidFill>
                          <a:schemeClr val="tx1"/>
                        </a:solidFill>
                        <a:latin typeface="Trebuchet MS" panose="020B0603020202020204" pitchFamily="34" charset="0"/>
                      </a:endParaRPr>
                    </a:p>
                    <a:p>
                      <a:pPr marL="0" marR="0" lvl="0" indent="0" algn="r" defTabSz="914400" rtl="0" eaLnBrk="1" fontAlgn="auto" latinLnBrk="0" hangingPunct="1">
                        <a:lnSpc>
                          <a:spcPct val="95000"/>
                        </a:lnSpc>
                        <a:spcBef>
                          <a:spcPts val="0"/>
                        </a:spcBef>
                        <a:spcAft>
                          <a:spcPts val="0"/>
                        </a:spcAft>
                        <a:buClrTx/>
                        <a:buSzTx/>
                        <a:buFontTx/>
                        <a:buNone/>
                        <a:tabLst/>
                        <a:defRPr/>
                      </a:pPr>
                      <a:r>
                        <a:rPr lang="en-US" sz="1100" b="1" i="0" u="none" kern="1200" spc="0">
                          <a:solidFill>
                            <a:schemeClr val="tx1"/>
                          </a:solidFill>
                          <a:latin typeface="Trebuchet MS" panose="020B0603020202020204" pitchFamily="34" charset="0"/>
                        </a:rPr>
                        <a:t>CEO at ING Netherlands</a:t>
                      </a:r>
                      <a:endParaRPr lang="en-US" sz="1100" i="0" u="none" kern="1200" spc="0">
                        <a:solidFill>
                          <a:schemeClr val="tx1"/>
                        </a:solidFill>
                        <a:latin typeface="Trebuchet MS" panose="020B0603020202020204" pitchFamily="34" charset="0"/>
                      </a:endParaRPr>
                    </a:p>
                    <a:p>
                      <a:pPr lvl="0" algn="l">
                        <a:lnSpc>
                          <a:spcPct val="95000"/>
                        </a:lnSpc>
                        <a:spcBef>
                          <a:spcPts val="0"/>
                        </a:spcBef>
                        <a:spcAft>
                          <a:spcPts val="0"/>
                        </a:spcAft>
                      </a:pPr>
                      <a:endParaRPr lang="en-US" sz="1100"/>
                    </a:p>
                  </a:txBody>
                  <a:tcPr>
                    <a:lnL w="12700" cap="flat" cmpd="sng" algn="ctr">
                      <a:solidFill>
                        <a:schemeClr val="tx2"/>
                      </a:solidFill>
                      <a:prstDash val="solid"/>
                      <a:round/>
                      <a:headEnd type="none" w="med" len="med"/>
                      <a:tailEnd type="none" w="med" len="med"/>
                    </a:lnL>
                    <a:lnT w="9525" cap="flat" cmpd="sng" algn="ctr">
                      <a:solidFill>
                        <a:schemeClr val="bg1">
                          <a:lumMod val="75000"/>
                        </a:schemeClr>
                      </a:solidFill>
                      <a:prstDash val="sysDot"/>
                      <a:round/>
                      <a:headEnd type="none" w="med" len="med"/>
                      <a:tailEnd type="none" w="med" len="med"/>
                    </a:lnT>
                    <a:noFill/>
                  </a:tcPr>
                </a:tc>
                <a:extLst>
                  <a:ext uri="{0D108BD9-81ED-4DB2-BD59-A6C34878D82A}">
                    <a16:rowId xmlns:a16="http://schemas.microsoft.com/office/drawing/2014/main" val="1751725012"/>
                  </a:ext>
                </a:extLst>
              </a:tr>
            </a:tbl>
          </a:graphicData>
        </a:graphic>
      </p:graphicFrame>
      <p:pic>
        <p:nvPicPr>
          <p:cNvPr id="1492994" name="Picture 2">
            <a:extLst>
              <a:ext uri="{FF2B5EF4-FFF2-40B4-BE49-F238E27FC236}">
                <a16:creationId xmlns:a16="http://schemas.microsoft.com/office/drawing/2014/main" id="{2282B44D-632C-442A-9791-9E7658AC1BF6}"/>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789836" y="2891481"/>
            <a:ext cx="481950" cy="362679"/>
          </a:xfrm>
          <a:prstGeom prst="rect">
            <a:avLst/>
          </a:prstGeom>
          <a:noFill/>
          <a:extLst>
            <a:ext uri="{909E8E84-426E-40DD-AFC4-6F175D3DCCD1}">
              <a14:hiddenFill xmlns:a14="http://schemas.microsoft.com/office/drawing/2010/main">
                <a:solidFill>
                  <a:srgbClr val="FFFFFF"/>
                </a:solidFill>
              </a14:hiddenFill>
            </a:ext>
          </a:extLst>
        </p:spPr>
      </p:pic>
      <p:pic>
        <p:nvPicPr>
          <p:cNvPr id="1492996" name="Picture 4">
            <a:extLst>
              <a:ext uri="{FF2B5EF4-FFF2-40B4-BE49-F238E27FC236}">
                <a16:creationId xmlns:a16="http://schemas.microsoft.com/office/drawing/2014/main" id="{DC5F54A1-5702-4143-B67E-D181EEB4C504}"/>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812039" y="4710986"/>
            <a:ext cx="793019" cy="196936"/>
          </a:xfrm>
          <a:prstGeom prst="rect">
            <a:avLst/>
          </a:prstGeom>
          <a:noFill/>
          <a:extLst>
            <a:ext uri="{909E8E84-426E-40DD-AFC4-6F175D3DCCD1}">
              <a14:hiddenFill xmlns:a14="http://schemas.microsoft.com/office/drawing/2010/main">
                <a:solidFill>
                  <a:srgbClr val="FFFFFF"/>
                </a:solidFill>
              </a14:hiddenFill>
            </a:ext>
          </a:extLst>
        </p:spPr>
      </p:pic>
      <p:grpSp>
        <p:nvGrpSpPr>
          <p:cNvPr id="10" name="bcgBugs_ThumbsDown">
            <a:extLst>
              <a:ext uri="{FF2B5EF4-FFF2-40B4-BE49-F238E27FC236}">
                <a16:creationId xmlns:a16="http://schemas.microsoft.com/office/drawing/2014/main" id="{AC5D295B-0EFC-4C6A-B0C4-662C009DBC69}"/>
              </a:ext>
            </a:extLst>
          </p:cNvPr>
          <p:cNvGrpSpPr>
            <a:grpSpLocks noChangeAspect="1"/>
          </p:cNvGrpSpPr>
          <p:nvPr/>
        </p:nvGrpSpPr>
        <p:grpSpPr bwMode="auto">
          <a:xfrm>
            <a:off x="1963270" y="1180464"/>
            <a:ext cx="311968" cy="312274"/>
            <a:chOff x="2818" y="1137"/>
            <a:chExt cx="2044" cy="2046"/>
          </a:xfrm>
        </p:grpSpPr>
        <p:sp>
          <p:nvSpPr>
            <p:cNvPr id="11" name="AutoShape 7">
              <a:extLst>
                <a:ext uri="{FF2B5EF4-FFF2-40B4-BE49-F238E27FC236}">
                  <a16:creationId xmlns:a16="http://schemas.microsoft.com/office/drawing/2014/main" id="{3F00756D-A675-46AB-AE81-557C6EB648E6}"/>
                </a:ext>
              </a:extLst>
            </p:cNvPr>
            <p:cNvSpPr>
              <a:spLocks noChangeAspect="1" noChangeArrowheads="1" noTextEdit="1"/>
            </p:cNvSpPr>
            <p:nvPr/>
          </p:nvSpPr>
          <p:spPr bwMode="auto">
            <a:xfrm>
              <a:off x="2818" y="1137"/>
              <a:ext cx="2044" cy="2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9">
              <a:extLst>
                <a:ext uri="{FF2B5EF4-FFF2-40B4-BE49-F238E27FC236}">
                  <a16:creationId xmlns:a16="http://schemas.microsoft.com/office/drawing/2014/main" id="{B37E613C-3A3B-4CC4-A7E5-0C07454ECECF}"/>
                </a:ext>
              </a:extLst>
            </p:cNvPr>
            <p:cNvSpPr>
              <a:spLocks noEditPoints="1"/>
            </p:cNvSpPr>
            <p:nvPr/>
          </p:nvSpPr>
          <p:spPr bwMode="auto">
            <a:xfrm>
              <a:off x="2943" y="1289"/>
              <a:ext cx="1798" cy="1785"/>
            </a:xfrm>
            <a:custGeom>
              <a:avLst/>
              <a:gdLst>
                <a:gd name="T0" fmla="*/ 587 w 879"/>
                <a:gd name="T1" fmla="*/ 578 h 872"/>
                <a:gd name="T2" fmla="*/ 499 w 879"/>
                <a:gd name="T3" fmla="*/ 627 h 872"/>
                <a:gd name="T4" fmla="*/ 437 w 879"/>
                <a:gd name="T5" fmla="*/ 753 h 872"/>
                <a:gd name="T6" fmla="*/ 437 w 879"/>
                <a:gd name="T7" fmla="*/ 814 h 872"/>
                <a:gd name="T8" fmla="*/ 386 w 879"/>
                <a:gd name="T9" fmla="*/ 864 h 872"/>
                <a:gd name="T10" fmla="*/ 282 w 879"/>
                <a:gd name="T11" fmla="*/ 733 h 872"/>
                <a:gd name="T12" fmla="*/ 326 w 879"/>
                <a:gd name="T13" fmla="*/ 559 h 872"/>
                <a:gd name="T14" fmla="*/ 70 w 879"/>
                <a:gd name="T15" fmla="*/ 559 h 872"/>
                <a:gd name="T16" fmla="*/ 0 w 879"/>
                <a:gd name="T17" fmla="*/ 489 h 872"/>
                <a:gd name="T18" fmla="*/ 70 w 879"/>
                <a:gd name="T19" fmla="*/ 419 h 872"/>
                <a:gd name="T20" fmla="*/ 93 w 879"/>
                <a:gd name="T21" fmla="*/ 419 h 872"/>
                <a:gd name="T22" fmla="*/ 26 w 879"/>
                <a:gd name="T23" fmla="*/ 349 h 872"/>
                <a:gd name="T24" fmla="*/ 26 w 879"/>
                <a:gd name="T25" fmla="*/ 349 h 872"/>
                <a:gd name="T26" fmla="*/ 96 w 879"/>
                <a:gd name="T27" fmla="*/ 280 h 872"/>
                <a:gd name="T28" fmla="*/ 120 w 879"/>
                <a:gd name="T29" fmla="*/ 280 h 872"/>
                <a:gd name="T30" fmla="*/ 50 w 879"/>
                <a:gd name="T31" fmla="*/ 210 h 872"/>
                <a:gd name="T32" fmla="*/ 50 w 879"/>
                <a:gd name="T33" fmla="*/ 210 h 872"/>
                <a:gd name="T34" fmla="*/ 120 w 879"/>
                <a:gd name="T35" fmla="*/ 140 h 872"/>
                <a:gd name="T36" fmla="*/ 151 w 879"/>
                <a:gd name="T37" fmla="*/ 140 h 872"/>
                <a:gd name="T38" fmla="*/ 81 w 879"/>
                <a:gd name="T39" fmla="*/ 70 h 872"/>
                <a:gd name="T40" fmla="*/ 81 w 879"/>
                <a:gd name="T41" fmla="*/ 70 h 872"/>
                <a:gd name="T42" fmla="*/ 151 w 879"/>
                <a:gd name="T43" fmla="*/ 0 h 872"/>
                <a:gd name="T44" fmla="*/ 283 w 879"/>
                <a:gd name="T45" fmla="*/ 0 h 872"/>
                <a:gd name="T46" fmla="*/ 412 w 879"/>
                <a:gd name="T47" fmla="*/ 0 h 872"/>
                <a:gd name="T48" fmla="*/ 574 w 879"/>
                <a:gd name="T49" fmla="*/ 50 h 872"/>
                <a:gd name="T50" fmla="*/ 574 w 879"/>
                <a:gd name="T51" fmla="*/ 55 h 872"/>
                <a:gd name="T52" fmla="*/ 574 w 879"/>
                <a:gd name="T53" fmla="*/ 538 h 872"/>
                <a:gd name="T54" fmla="*/ 587 w 879"/>
                <a:gd name="T55" fmla="*/ 578 h 872"/>
                <a:gd name="T56" fmla="*/ 879 w 879"/>
                <a:gd name="T57" fmla="*/ 55 h 872"/>
                <a:gd name="T58" fmla="*/ 879 w 879"/>
                <a:gd name="T59" fmla="*/ 538 h 872"/>
                <a:gd name="T60" fmla="*/ 857 w 879"/>
                <a:gd name="T61" fmla="*/ 560 h 872"/>
                <a:gd name="T62" fmla="*/ 641 w 879"/>
                <a:gd name="T63" fmla="*/ 560 h 872"/>
                <a:gd name="T64" fmla="*/ 620 w 879"/>
                <a:gd name="T65" fmla="*/ 538 h 872"/>
                <a:gd name="T66" fmla="*/ 620 w 879"/>
                <a:gd name="T67" fmla="*/ 55 h 872"/>
                <a:gd name="T68" fmla="*/ 641 w 879"/>
                <a:gd name="T69" fmla="*/ 33 h 872"/>
                <a:gd name="T70" fmla="*/ 857 w 879"/>
                <a:gd name="T71" fmla="*/ 33 h 872"/>
                <a:gd name="T72" fmla="*/ 879 w 879"/>
                <a:gd name="T73" fmla="*/ 55 h 872"/>
                <a:gd name="T74" fmla="*/ 835 w 879"/>
                <a:gd name="T75" fmla="*/ 117 h 872"/>
                <a:gd name="T76" fmla="*/ 795 w 879"/>
                <a:gd name="T77" fmla="*/ 77 h 872"/>
                <a:gd name="T78" fmla="*/ 756 w 879"/>
                <a:gd name="T79" fmla="*/ 117 h 872"/>
                <a:gd name="T80" fmla="*/ 795 w 879"/>
                <a:gd name="T81" fmla="*/ 156 h 872"/>
                <a:gd name="T82" fmla="*/ 835 w 879"/>
                <a:gd name="T83" fmla="*/ 117 h 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9" h="872">
                  <a:moveTo>
                    <a:pt x="587" y="578"/>
                  </a:moveTo>
                  <a:cubicBezTo>
                    <a:pt x="556" y="596"/>
                    <a:pt x="524" y="614"/>
                    <a:pt x="499" y="627"/>
                  </a:cubicBezTo>
                  <a:cubicBezTo>
                    <a:pt x="434" y="664"/>
                    <a:pt x="437" y="753"/>
                    <a:pt x="437" y="753"/>
                  </a:cubicBezTo>
                  <a:cubicBezTo>
                    <a:pt x="437" y="814"/>
                    <a:pt x="437" y="814"/>
                    <a:pt x="437" y="814"/>
                  </a:cubicBezTo>
                  <a:cubicBezTo>
                    <a:pt x="437" y="872"/>
                    <a:pt x="386" y="864"/>
                    <a:pt x="386" y="864"/>
                  </a:cubicBezTo>
                  <a:cubicBezTo>
                    <a:pt x="296" y="861"/>
                    <a:pt x="282" y="733"/>
                    <a:pt x="282" y="733"/>
                  </a:cubicBezTo>
                  <a:cubicBezTo>
                    <a:pt x="282" y="638"/>
                    <a:pt x="326" y="559"/>
                    <a:pt x="326" y="559"/>
                  </a:cubicBezTo>
                  <a:cubicBezTo>
                    <a:pt x="70" y="559"/>
                    <a:pt x="70" y="559"/>
                    <a:pt x="70" y="559"/>
                  </a:cubicBezTo>
                  <a:cubicBezTo>
                    <a:pt x="31" y="559"/>
                    <a:pt x="0" y="528"/>
                    <a:pt x="0" y="489"/>
                  </a:cubicBezTo>
                  <a:cubicBezTo>
                    <a:pt x="0" y="451"/>
                    <a:pt x="31" y="419"/>
                    <a:pt x="70" y="419"/>
                  </a:cubicBezTo>
                  <a:cubicBezTo>
                    <a:pt x="93" y="419"/>
                    <a:pt x="93" y="419"/>
                    <a:pt x="93" y="419"/>
                  </a:cubicBezTo>
                  <a:cubicBezTo>
                    <a:pt x="56" y="417"/>
                    <a:pt x="26" y="387"/>
                    <a:pt x="26" y="349"/>
                  </a:cubicBezTo>
                  <a:cubicBezTo>
                    <a:pt x="26" y="349"/>
                    <a:pt x="26" y="349"/>
                    <a:pt x="26" y="349"/>
                  </a:cubicBezTo>
                  <a:cubicBezTo>
                    <a:pt x="26" y="311"/>
                    <a:pt x="58" y="280"/>
                    <a:pt x="96" y="280"/>
                  </a:cubicBezTo>
                  <a:cubicBezTo>
                    <a:pt x="120" y="280"/>
                    <a:pt x="120" y="280"/>
                    <a:pt x="120" y="280"/>
                  </a:cubicBezTo>
                  <a:cubicBezTo>
                    <a:pt x="82" y="280"/>
                    <a:pt x="50" y="248"/>
                    <a:pt x="50" y="210"/>
                  </a:cubicBezTo>
                  <a:cubicBezTo>
                    <a:pt x="50" y="210"/>
                    <a:pt x="50" y="210"/>
                    <a:pt x="50" y="210"/>
                  </a:cubicBezTo>
                  <a:cubicBezTo>
                    <a:pt x="50" y="171"/>
                    <a:pt x="82" y="140"/>
                    <a:pt x="120" y="140"/>
                  </a:cubicBezTo>
                  <a:cubicBezTo>
                    <a:pt x="151" y="140"/>
                    <a:pt x="151" y="140"/>
                    <a:pt x="151" y="140"/>
                  </a:cubicBezTo>
                  <a:cubicBezTo>
                    <a:pt x="113" y="140"/>
                    <a:pt x="81" y="108"/>
                    <a:pt x="81" y="70"/>
                  </a:cubicBezTo>
                  <a:cubicBezTo>
                    <a:pt x="81" y="70"/>
                    <a:pt x="81" y="70"/>
                    <a:pt x="81" y="70"/>
                  </a:cubicBezTo>
                  <a:cubicBezTo>
                    <a:pt x="81" y="31"/>
                    <a:pt x="113" y="0"/>
                    <a:pt x="151" y="0"/>
                  </a:cubicBezTo>
                  <a:cubicBezTo>
                    <a:pt x="283" y="0"/>
                    <a:pt x="283" y="0"/>
                    <a:pt x="283" y="0"/>
                  </a:cubicBezTo>
                  <a:cubicBezTo>
                    <a:pt x="283" y="0"/>
                    <a:pt x="376" y="0"/>
                    <a:pt x="412" y="0"/>
                  </a:cubicBezTo>
                  <a:cubicBezTo>
                    <a:pt x="443" y="0"/>
                    <a:pt x="503" y="3"/>
                    <a:pt x="574" y="50"/>
                  </a:cubicBezTo>
                  <a:cubicBezTo>
                    <a:pt x="574" y="52"/>
                    <a:pt x="574" y="53"/>
                    <a:pt x="574" y="55"/>
                  </a:cubicBezTo>
                  <a:cubicBezTo>
                    <a:pt x="574" y="538"/>
                    <a:pt x="574" y="538"/>
                    <a:pt x="574" y="538"/>
                  </a:cubicBezTo>
                  <a:cubicBezTo>
                    <a:pt x="574" y="553"/>
                    <a:pt x="579" y="567"/>
                    <a:pt x="587" y="578"/>
                  </a:cubicBezTo>
                  <a:close/>
                  <a:moveTo>
                    <a:pt x="879" y="55"/>
                  </a:moveTo>
                  <a:cubicBezTo>
                    <a:pt x="879" y="538"/>
                    <a:pt x="879" y="538"/>
                    <a:pt x="879" y="538"/>
                  </a:cubicBezTo>
                  <a:cubicBezTo>
                    <a:pt x="879" y="550"/>
                    <a:pt x="869" y="560"/>
                    <a:pt x="857" y="560"/>
                  </a:cubicBezTo>
                  <a:cubicBezTo>
                    <a:pt x="641" y="560"/>
                    <a:pt x="641" y="560"/>
                    <a:pt x="641" y="560"/>
                  </a:cubicBezTo>
                  <a:cubicBezTo>
                    <a:pt x="629" y="560"/>
                    <a:pt x="620" y="550"/>
                    <a:pt x="620" y="538"/>
                  </a:cubicBezTo>
                  <a:cubicBezTo>
                    <a:pt x="620" y="55"/>
                    <a:pt x="620" y="55"/>
                    <a:pt x="620" y="55"/>
                  </a:cubicBezTo>
                  <a:cubicBezTo>
                    <a:pt x="620" y="43"/>
                    <a:pt x="629" y="33"/>
                    <a:pt x="641" y="33"/>
                  </a:cubicBezTo>
                  <a:cubicBezTo>
                    <a:pt x="857" y="33"/>
                    <a:pt x="857" y="33"/>
                    <a:pt x="857" y="33"/>
                  </a:cubicBezTo>
                  <a:cubicBezTo>
                    <a:pt x="869" y="33"/>
                    <a:pt x="879" y="43"/>
                    <a:pt x="879" y="55"/>
                  </a:cubicBezTo>
                  <a:close/>
                  <a:moveTo>
                    <a:pt x="835" y="117"/>
                  </a:moveTo>
                  <a:cubicBezTo>
                    <a:pt x="835" y="95"/>
                    <a:pt x="817" y="77"/>
                    <a:pt x="795" y="77"/>
                  </a:cubicBezTo>
                  <a:cubicBezTo>
                    <a:pt x="774" y="77"/>
                    <a:pt x="756" y="95"/>
                    <a:pt x="756" y="117"/>
                  </a:cubicBezTo>
                  <a:cubicBezTo>
                    <a:pt x="756" y="139"/>
                    <a:pt x="774" y="156"/>
                    <a:pt x="795" y="156"/>
                  </a:cubicBezTo>
                  <a:cubicBezTo>
                    <a:pt x="817" y="156"/>
                    <a:pt x="835" y="139"/>
                    <a:pt x="835" y="117"/>
                  </a:cubicBezTo>
                  <a:close/>
                </a:path>
              </a:pathLst>
            </a:custGeom>
            <a:solidFill>
              <a:srgbClr val="E71C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3" name="bcgBugs_ThumbsUp">
            <a:extLst>
              <a:ext uri="{FF2B5EF4-FFF2-40B4-BE49-F238E27FC236}">
                <a16:creationId xmlns:a16="http://schemas.microsoft.com/office/drawing/2014/main" id="{4553F136-9157-4A13-8782-85FDEA2728D0}"/>
              </a:ext>
            </a:extLst>
          </p:cNvPr>
          <p:cNvGrpSpPr>
            <a:grpSpLocks noChangeAspect="1"/>
          </p:cNvGrpSpPr>
          <p:nvPr/>
        </p:nvGrpSpPr>
        <p:grpSpPr bwMode="auto">
          <a:xfrm>
            <a:off x="4604791" y="1180464"/>
            <a:ext cx="312885" cy="312274"/>
            <a:chOff x="2815" y="1137"/>
            <a:chExt cx="2050" cy="2046"/>
          </a:xfrm>
        </p:grpSpPr>
        <p:sp>
          <p:nvSpPr>
            <p:cNvPr id="14" name="AutoShape 3">
              <a:extLst>
                <a:ext uri="{FF2B5EF4-FFF2-40B4-BE49-F238E27FC236}">
                  <a16:creationId xmlns:a16="http://schemas.microsoft.com/office/drawing/2014/main" id="{51294E73-3D53-4618-B84C-9FA826F103FA}"/>
                </a:ext>
              </a:extLst>
            </p:cNvPr>
            <p:cNvSpPr>
              <a:spLocks noChangeAspect="1" noChangeArrowheads="1" noTextEdit="1"/>
            </p:cNvSpPr>
            <p:nvPr/>
          </p:nvSpPr>
          <p:spPr bwMode="auto">
            <a:xfrm>
              <a:off x="2815" y="1137"/>
              <a:ext cx="2050" cy="2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5">
              <a:extLst>
                <a:ext uri="{FF2B5EF4-FFF2-40B4-BE49-F238E27FC236}">
                  <a16:creationId xmlns:a16="http://schemas.microsoft.com/office/drawing/2014/main" id="{54662CA5-8D40-4216-BB85-62B9D9D0B086}"/>
                </a:ext>
              </a:extLst>
            </p:cNvPr>
            <p:cNvSpPr>
              <a:spLocks noEditPoints="1"/>
            </p:cNvSpPr>
            <p:nvPr/>
          </p:nvSpPr>
          <p:spPr bwMode="auto">
            <a:xfrm>
              <a:off x="2938" y="1260"/>
              <a:ext cx="1798" cy="1786"/>
            </a:xfrm>
            <a:custGeom>
              <a:avLst/>
              <a:gdLst>
                <a:gd name="T0" fmla="*/ 809 w 879"/>
                <a:gd name="T1" fmla="*/ 453 h 872"/>
                <a:gd name="T2" fmla="*/ 786 w 879"/>
                <a:gd name="T3" fmla="*/ 453 h 872"/>
                <a:gd name="T4" fmla="*/ 853 w 879"/>
                <a:gd name="T5" fmla="*/ 523 h 872"/>
                <a:gd name="T6" fmla="*/ 783 w 879"/>
                <a:gd name="T7" fmla="*/ 592 h 872"/>
                <a:gd name="T8" fmla="*/ 759 w 879"/>
                <a:gd name="T9" fmla="*/ 592 h 872"/>
                <a:gd name="T10" fmla="*/ 828 w 879"/>
                <a:gd name="T11" fmla="*/ 662 h 872"/>
                <a:gd name="T12" fmla="*/ 759 w 879"/>
                <a:gd name="T13" fmla="*/ 732 h 872"/>
                <a:gd name="T14" fmla="*/ 728 w 879"/>
                <a:gd name="T15" fmla="*/ 732 h 872"/>
                <a:gd name="T16" fmla="*/ 797 w 879"/>
                <a:gd name="T17" fmla="*/ 802 h 872"/>
                <a:gd name="T18" fmla="*/ 797 w 879"/>
                <a:gd name="T19" fmla="*/ 802 h 872"/>
                <a:gd name="T20" fmla="*/ 728 w 879"/>
                <a:gd name="T21" fmla="*/ 872 h 872"/>
                <a:gd name="T22" fmla="*/ 596 w 879"/>
                <a:gd name="T23" fmla="*/ 872 h 872"/>
                <a:gd name="T24" fmla="*/ 466 w 879"/>
                <a:gd name="T25" fmla="*/ 872 h 872"/>
                <a:gd name="T26" fmla="*/ 304 w 879"/>
                <a:gd name="T27" fmla="*/ 822 h 872"/>
                <a:gd name="T28" fmla="*/ 305 w 879"/>
                <a:gd name="T29" fmla="*/ 816 h 872"/>
                <a:gd name="T30" fmla="*/ 305 w 879"/>
                <a:gd name="T31" fmla="*/ 333 h 872"/>
                <a:gd name="T32" fmla="*/ 292 w 879"/>
                <a:gd name="T33" fmla="*/ 294 h 872"/>
                <a:gd name="T34" fmla="*/ 379 w 879"/>
                <a:gd name="T35" fmla="*/ 245 h 872"/>
                <a:gd name="T36" fmla="*/ 442 w 879"/>
                <a:gd name="T37" fmla="*/ 119 h 872"/>
                <a:gd name="T38" fmla="*/ 442 w 879"/>
                <a:gd name="T39" fmla="*/ 58 h 872"/>
                <a:gd name="T40" fmla="*/ 492 w 879"/>
                <a:gd name="T41" fmla="*/ 8 h 872"/>
                <a:gd name="T42" fmla="*/ 596 w 879"/>
                <a:gd name="T43" fmla="*/ 139 h 872"/>
                <a:gd name="T44" fmla="*/ 553 w 879"/>
                <a:gd name="T45" fmla="*/ 313 h 872"/>
                <a:gd name="T46" fmla="*/ 809 w 879"/>
                <a:gd name="T47" fmla="*/ 313 h 872"/>
                <a:gd name="T48" fmla="*/ 879 w 879"/>
                <a:gd name="T49" fmla="*/ 383 h 872"/>
                <a:gd name="T50" fmla="*/ 809 w 879"/>
                <a:gd name="T51" fmla="*/ 453 h 872"/>
                <a:gd name="T52" fmla="*/ 259 w 879"/>
                <a:gd name="T53" fmla="*/ 333 h 872"/>
                <a:gd name="T54" fmla="*/ 259 w 879"/>
                <a:gd name="T55" fmla="*/ 816 h 872"/>
                <a:gd name="T56" fmla="*/ 238 w 879"/>
                <a:gd name="T57" fmla="*/ 838 h 872"/>
                <a:gd name="T58" fmla="*/ 22 w 879"/>
                <a:gd name="T59" fmla="*/ 838 h 872"/>
                <a:gd name="T60" fmla="*/ 0 w 879"/>
                <a:gd name="T61" fmla="*/ 816 h 872"/>
                <a:gd name="T62" fmla="*/ 0 w 879"/>
                <a:gd name="T63" fmla="*/ 333 h 872"/>
                <a:gd name="T64" fmla="*/ 22 w 879"/>
                <a:gd name="T65" fmla="*/ 311 h 872"/>
                <a:gd name="T66" fmla="*/ 238 w 879"/>
                <a:gd name="T67" fmla="*/ 311 h 872"/>
                <a:gd name="T68" fmla="*/ 259 w 879"/>
                <a:gd name="T69" fmla="*/ 333 h 872"/>
                <a:gd name="T70" fmla="*/ 123 w 879"/>
                <a:gd name="T71" fmla="*/ 754 h 872"/>
                <a:gd name="T72" fmla="*/ 84 w 879"/>
                <a:gd name="T73" fmla="*/ 715 h 872"/>
                <a:gd name="T74" fmla="*/ 44 w 879"/>
                <a:gd name="T75" fmla="*/ 754 h 872"/>
                <a:gd name="T76" fmla="*/ 84 w 879"/>
                <a:gd name="T77" fmla="*/ 794 h 872"/>
                <a:gd name="T78" fmla="*/ 123 w 879"/>
                <a:gd name="T79" fmla="*/ 754 h 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79" h="872">
                  <a:moveTo>
                    <a:pt x="809" y="453"/>
                  </a:moveTo>
                  <a:cubicBezTo>
                    <a:pt x="786" y="453"/>
                    <a:pt x="786" y="453"/>
                    <a:pt x="786" y="453"/>
                  </a:cubicBezTo>
                  <a:cubicBezTo>
                    <a:pt x="823" y="455"/>
                    <a:pt x="853" y="485"/>
                    <a:pt x="853" y="523"/>
                  </a:cubicBezTo>
                  <a:cubicBezTo>
                    <a:pt x="853" y="561"/>
                    <a:pt x="821" y="592"/>
                    <a:pt x="783" y="592"/>
                  </a:cubicBezTo>
                  <a:cubicBezTo>
                    <a:pt x="759" y="592"/>
                    <a:pt x="759" y="592"/>
                    <a:pt x="759" y="592"/>
                  </a:cubicBezTo>
                  <a:cubicBezTo>
                    <a:pt x="797" y="592"/>
                    <a:pt x="828" y="624"/>
                    <a:pt x="828" y="662"/>
                  </a:cubicBezTo>
                  <a:cubicBezTo>
                    <a:pt x="828" y="701"/>
                    <a:pt x="797" y="732"/>
                    <a:pt x="759" y="732"/>
                  </a:cubicBezTo>
                  <a:cubicBezTo>
                    <a:pt x="728" y="732"/>
                    <a:pt x="728" y="732"/>
                    <a:pt x="728" y="732"/>
                  </a:cubicBezTo>
                  <a:cubicBezTo>
                    <a:pt x="766" y="732"/>
                    <a:pt x="797" y="764"/>
                    <a:pt x="797" y="802"/>
                  </a:cubicBezTo>
                  <a:cubicBezTo>
                    <a:pt x="797" y="802"/>
                    <a:pt x="797" y="802"/>
                    <a:pt x="797" y="802"/>
                  </a:cubicBezTo>
                  <a:cubicBezTo>
                    <a:pt x="797" y="841"/>
                    <a:pt x="766" y="872"/>
                    <a:pt x="728" y="872"/>
                  </a:cubicBezTo>
                  <a:cubicBezTo>
                    <a:pt x="596" y="872"/>
                    <a:pt x="596" y="872"/>
                    <a:pt x="596" y="872"/>
                  </a:cubicBezTo>
                  <a:cubicBezTo>
                    <a:pt x="596" y="872"/>
                    <a:pt x="503" y="872"/>
                    <a:pt x="466" y="872"/>
                  </a:cubicBezTo>
                  <a:cubicBezTo>
                    <a:pt x="436" y="872"/>
                    <a:pt x="375" y="869"/>
                    <a:pt x="304" y="822"/>
                  </a:cubicBezTo>
                  <a:cubicBezTo>
                    <a:pt x="305" y="820"/>
                    <a:pt x="305" y="818"/>
                    <a:pt x="305" y="816"/>
                  </a:cubicBezTo>
                  <a:cubicBezTo>
                    <a:pt x="305" y="333"/>
                    <a:pt x="305" y="333"/>
                    <a:pt x="305" y="333"/>
                  </a:cubicBezTo>
                  <a:cubicBezTo>
                    <a:pt x="305" y="318"/>
                    <a:pt x="300" y="305"/>
                    <a:pt x="292" y="294"/>
                  </a:cubicBezTo>
                  <a:cubicBezTo>
                    <a:pt x="323" y="276"/>
                    <a:pt x="355" y="258"/>
                    <a:pt x="379" y="245"/>
                  </a:cubicBezTo>
                  <a:cubicBezTo>
                    <a:pt x="445" y="208"/>
                    <a:pt x="442" y="119"/>
                    <a:pt x="442" y="119"/>
                  </a:cubicBezTo>
                  <a:cubicBezTo>
                    <a:pt x="442" y="58"/>
                    <a:pt x="442" y="58"/>
                    <a:pt x="442" y="58"/>
                  </a:cubicBezTo>
                  <a:cubicBezTo>
                    <a:pt x="442" y="0"/>
                    <a:pt x="492" y="8"/>
                    <a:pt x="492" y="8"/>
                  </a:cubicBezTo>
                  <a:cubicBezTo>
                    <a:pt x="583" y="11"/>
                    <a:pt x="596" y="139"/>
                    <a:pt x="596" y="139"/>
                  </a:cubicBezTo>
                  <a:cubicBezTo>
                    <a:pt x="596" y="234"/>
                    <a:pt x="553" y="313"/>
                    <a:pt x="553" y="313"/>
                  </a:cubicBezTo>
                  <a:cubicBezTo>
                    <a:pt x="809" y="313"/>
                    <a:pt x="809" y="313"/>
                    <a:pt x="809" y="313"/>
                  </a:cubicBezTo>
                  <a:cubicBezTo>
                    <a:pt x="848" y="313"/>
                    <a:pt x="879" y="344"/>
                    <a:pt x="879" y="383"/>
                  </a:cubicBezTo>
                  <a:cubicBezTo>
                    <a:pt x="879" y="421"/>
                    <a:pt x="848" y="453"/>
                    <a:pt x="809" y="453"/>
                  </a:cubicBezTo>
                  <a:close/>
                  <a:moveTo>
                    <a:pt x="259" y="333"/>
                  </a:moveTo>
                  <a:cubicBezTo>
                    <a:pt x="259" y="816"/>
                    <a:pt x="259" y="816"/>
                    <a:pt x="259" y="816"/>
                  </a:cubicBezTo>
                  <a:cubicBezTo>
                    <a:pt x="259" y="828"/>
                    <a:pt x="249" y="838"/>
                    <a:pt x="238" y="838"/>
                  </a:cubicBezTo>
                  <a:cubicBezTo>
                    <a:pt x="22" y="838"/>
                    <a:pt x="22" y="838"/>
                    <a:pt x="22" y="838"/>
                  </a:cubicBezTo>
                  <a:cubicBezTo>
                    <a:pt x="10" y="838"/>
                    <a:pt x="0" y="828"/>
                    <a:pt x="0" y="816"/>
                  </a:cubicBezTo>
                  <a:cubicBezTo>
                    <a:pt x="0" y="333"/>
                    <a:pt x="0" y="333"/>
                    <a:pt x="0" y="333"/>
                  </a:cubicBezTo>
                  <a:cubicBezTo>
                    <a:pt x="0" y="321"/>
                    <a:pt x="10" y="311"/>
                    <a:pt x="22" y="311"/>
                  </a:cubicBezTo>
                  <a:cubicBezTo>
                    <a:pt x="238" y="311"/>
                    <a:pt x="238" y="311"/>
                    <a:pt x="238" y="311"/>
                  </a:cubicBezTo>
                  <a:cubicBezTo>
                    <a:pt x="249" y="311"/>
                    <a:pt x="259" y="321"/>
                    <a:pt x="259" y="333"/>
                  </a:cubicBezTo>
                  <a:close/>
                  <a:moveTo>
                    <a:pt x="123" y="754"/>
                  </a:moveTo>
                  <a:cubicBezTo>
                    <a:pt x="123" y="732"/>
                    <a:pt x="105" y="715"/>
                    <a:pt x="84" y="715"/>
                  </a:cubicBezTo>
                  <a:cubicBezTo>
                    <a:pt x="62" y="715"/>
                    <a:pt x="44" y="732"/>
                    <a:pt x="44" y="754"/>
                  </a:cubicBezTo>
                  <a:cubicBezTo>
                    <a:pt x="44" y="776"/>
                    <a:pt x="62" y="794"/>
                    <a:pt x="84" y="794"/>
                  </a:cubicBezTo>
                  <a:cubicBezTo>
                    <a:pt x="105" y="794"/>
                    <a:pt x="123" y="776"/>
                    <a:pt x="123" y="754"/>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6" name="Group 15">
            <a:extLst>
              <a:ext uri="{FF2B5EF4-FFF2-40B4-BE49-F238E27FC236}">
                <a16:creationId xmlns:a16="http://schemas.microsoft.com/office/drawing/2014/main" id="{7B4F5647-DC3F-452D-9E0C-2C706AC32638}"/>
              </a:ext>
            </a:extLst>
          </p:cNvPr>
          <p:cNvGrpSpPr>
            <a:grpSpLocks noChangeAspect="1"/>
          </p:cNvGrpSpPr>
          <p:nvPr/>
        </p:nvGrpSpPr>
        <p:grpSpPr>
          <a:xfrm>
            <a:off x="7812039" y="1183146"/>
            <a:ext cx="306910" cy="306910"/>
            <a:chOff x="628650" y="3463925"/>
            <a:chExt cx="269875" cy="269875"/>
          </a:xfrm>
        </p:grpSpPr>
        <p:sp>
          <p:nvSpPr>
            <p:cNvPr id="17" name="Oval 16">
              <a:extLst>
                <a:ext uri="{FF2B5EF4-FFF2-40B4-BE49-F238E27FC236}">
                  <a16:creationId xmlns:a16="http://schemas.microsoft.com/office/drawing/2014/main" id="{36915DBA-94C8-4EDB-9680-D77B2FE960B3}"/>
                </a:ext>
              </a:extLst>
            </p:cNvPr>
            <p:cNvSpPr>
              <a:spLocks noChangeArrowheads="1"/>
            </p:cNvSpPr>
            <p:nvPr/>
          </p:nvSpPr>
          <p:spPr bwMode="auto">
            <a:xfrm>
              <a:off x="628650" y="3463925"/>
              <a:ext cx="269875" cy="269875"/>
            </a:xfrm>
            <a:prstGeom prst="ellipse">
              <a:avLst/>
            </a:prstGeom>
            <a:solidFill>
              <a:schemeClr val="tx2"/>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18" name="Freeform 47">
              <a:extLst>
                <a:ext uri="{FF2B5EF4-FFF2-40B4-BE49-F238E27FC236}">
                  <a16:creationId xmlns:a16="http://schemas.microsoft.com/office/drawing/2014/main" id="{4A75DD32-29E6-4A23-91E5-CBB730F7CC92}"/>
                </a:ext>
              </a:extLst>
            </p:cNvPr>
            <p:cNvSpPr>
              <a:spLocks noEditPoints="1"/>
            </p:cNvSpPr>
            <p:nvPr/>
          </p:nvSpPr>
          <p:spPr bwMode="auto">
            <a:xfrm>
              <a:off x="700087" y="3549650"/>
              <a:ext cx="127000" cy="98425"/>
            </a:xfrm>
            <a:custGeom>
              <a:avLst/>
              <a:gdLst>
                <a:gd name="T0" fmla="*/ 154 w 596"/>
                <a:gd name="T1" fmla="*/ 204 h 464"/>
                <a:gd name="T2" fmla="*/ 191 w 596"/>
                <a:gd name="T3" fmla="*/ 276 h 464"/>
                <a:gd name="T4" fmla="*/ 229 w 596"/>
                <a:gd name="T5" fmla="*/ 352 h 464"/>
                <a:gd name="T6" fmla="*/ 118 w 596"/>
                <a:gd name="T7" fmla="*/ 464 h 464"/>
                <a:gd name="T8" fmla="*/ 0 w 596"/>
                <a:gd name="T9" fmla="*/ 329 h 464"/>
                <a:gd name="T10" fmla="*/ 202 w 596"/>
                <a:gd name="T11" fmla="*/ 0 h 464"/>
                <a:gd name="T12" fmla="*/ 253 w 596"/>
                <a:gd name="T13" fmla="*/ 68 h 464"/>
                <a:gd name="T14" fmla="*/ 196 w 596"/>
                <a:gd name="T15" fmla="*/ 116 h 464"/>
                <a:gd name="T16" fmla="*/ 154 w 596"/>
                <a:gd name="T17" fmla="*/ 204 h 464"/>
                <a:gd name="T18" fmla="*/ 538 w 596"/>
                <a:gd name="T19" fmla="*/ 116 h 464"/>
                <a:gd name="T20" fmla="*/ 596 w 596"/>
                <a:gd name="T21" fmla="*/ 68 h 464"/>
                <a:gd name="T22" fmla="*/ 545 w 596"/>
                <a:gd name="T23" fmla="*/ 0 h 464"/>
                <a:gd name="T24" fmla="*/ 343 w 596"/>
                <a:gd name="T25" fmla="*/ 329 h 464"/>
                <a:gd name="T26" fmla="*/ 461 w 596"/>
                <a:gd name="T27" fmla="*/ 464 h 464"/>
                <a:gd name="T28" fmla="*/ 571 w 596"/>
                <a:gd name="T29" fmla="*/ 352 h 464"/>
                <a:gd name="T30" fmla="*/ 534 w 596"/>
                <a:gd name="T31" fmla="*/ 276 h 464"/>
                <a:gd name="T32" fmla="*/ 497 w 596"/>
                <a:gd name="T33" fmla="*/ 204 h 464"/>
                <a:gd name="T34" fmla="*/ 538 w 596"/>
                <a:gd name="T35" fmla="*/ 116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6" h="464">
                  <a:moveTo>
                    <a:pt x="154" y="204"/>
                  </a:moveTo>
                  <a:cubicBezTo>
                    <a:pt x="154" y="225"/>
                    <a:pt x="166" y="249"/>
                    <a:pt x="191" y="276"/>
                  </a:cubicBezTo>
                  <a:cubicBezTo>
                    <a:pt x="216" y="304"/>
                    <a:pt x="229" y="329"/>
                    <a:pt x="229" y="352"/>
                  </a:cubicBezTo>
                  <a:cubicBezTo>
                    <a:pt x="229" y="426"/>
                    <a:pt x="192" y="464"/>
                    <a:pt x="118" y="464"/>
                  </a:cubicBezTo>
                  <a:cubicBezTo>
                    <a:pt x="40" y="464"/>
                    <a:pt x="0" y="419"/>
                    <a:pt x="0" y="329"/>
                  </a:cubicBezTo>
                  <a:cubicBezTo>
                    <a:pt x="0" y="194"/>
                    <a:pt x="67" y="85"/>
                    <a:pt x="202" y="0"/>
                  </a:cubicBezTo>
                  <a:cubicBezTo>
                    <a:pt x="253" y="68"/>
                    <a:pt x="253" y="68"/>
                    <a:pt x="253" y="68"/>
                  </a:cubicBezTo>
                  <a:cubicBezTo>
                    <a:pt x="196" y="116"/>
                    <a:pt x="196" y="116"/>
                    <a:pt x="196" y="116"/>
                  </a:cubicBezTo>
                  <a:cubicBezTo>
                    <a:pt x="168" y="140"/>
                    <a:pt x="154" y="169"/>
                    <a:pt x="154" y="204"/>
                  </a:cubicBezTo>
                  <a:close/>
                  <a:moveTo>
                    <a:pt x="538" y="116"/>
                  </a:moveTo>
                  <a:cubicBezTo>
                    <a:pt x="596" y="68"/>
                    <a:pt x="596" y="68"/>
                    <a:pt x="596" y="68"/>
                  </a:cubicBezTo>
                  <a:cubicBezTo>
                    <a:pt x="545" y="0"/>
                    <a:pt x="545" y="0"/>
                    <a:pt x="545" y="0"/>
                  </a:cubicBezTo>
                  <a:cubicBezTo>
                    <a:pt x="410" y="85"/>
                    <a:pt x="343" y="194"/>
                    <a:pt x="343" y="329"/>
                  </a:cubicBezTo>
                  <a:cubicBezTo>
                    <a:pt x="343" y="419"/>
                    <a:pt x="382" y="464"/>
                    <a:pt x="461" y="464"/>
                  </a:cubicBezTo>
                  <a:cubicBezTo>
                    <a:pt x="534" y="464"/>
                    <a:pt x="571" y="426"/>
                    <a:pt x="571" y="352"/>
                  </a:cubicBezTo>
                  <a:cubicBezTo>
                    <a:pt x="571" y="329"/>
                    <a:pt x="559" y="304"/>
                    <a:pt x="534" y="276"/>
                  </a:cubicBezTo>
                  <a:cubicBezTo>
                    <a:pt x="509" y="249"/>
                    <a:pt x="497" y="225"/>
                    <a:pt x="497" y="204"/>
                  </a:cubicBezTo>
                  <a:cubicBezTo>
                    <a:pt x="497" y="169"/>
                    <a:pt x="511" y="140"/>
                    <a:pt x="538" y="11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grpSp>
      <p:pic>
        <p:nvPicPr>
          <p:cNvPr id="19" name="Picture 4">
            <a:extLst>
              <a:ext uri="{FF2B5EF4-FFF2-40B4-BE49-F238E27FC236}">
                <a16:creationId xmlns:a16="http://schemas.microsoft.com/office/drawing/2014/main" id="{ABF1CF71-F0EC-41BB-88D6-CAEE668CE1CA}"/>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812039" y="5950755"/>
            <a:ext cx="793019" cy="19693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0214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8A4F12C4-15AD-E23D-3AEC-C7237A4A46C8}"/>
              </a:ext>
            </a:extLst>
          </p:cNvPr>
          <p:cNvGraphicFramePr>
            <a:graphicFrameLocks noChangeAspect="1"/>
          </p:cNvGraphicFramePr>
          <p:nvPr>
            <p:custDataLst>
              <p:tags r:id="rId1"/>
            </p:custDataLst>
            <p:extLst>
              <p:ext uri="{D42A27DB-BD31-4B8C-83A1-F6EECF244321}">
                <p14:modId xmlns:p14="http://schemas.microsoft.com/office/powerpoint/2010/main" val="300801381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04" imgH="405" progId="TCLayout.ActiveDocument.1">
                  <p:embed/>
                </p:oleObj>
              </mc:Choice>
              <mc:Fallback>
                <p:oleObj name="think-cell Slide" r:id="rId4" imgW="404" imgH="405" progId="TCLayout.ActiveDocument.1">
                  <p:embed/>
                  <p:pic>
                    <p:nvPicPr>
                      <p:cNvPr id="4" name="think-cell data - do not delete" hidden="1">
                        <a:extLst>
                          <a:ext uri="{FF2B5EF4-FFF2-40B4-BE49-F238E27FC236}">
                            <a16:creationId xmlns:a16="http://schemas.microsoft.com/office/drawing/2014/main" id="{8A4F12C4-15AD-E23D-3AEC-C7237A4A46C8}"/>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3" name="Title 2">
            <a:extLst>
              <a:ext uri="{FF2B5EF4-FFF2-40B4-BE49-F238E27FC236}">
                <a16:creationId xmlns:a16="http://schemas.microsoft.com/office/drawing/2014/main" id="{0F1E010F-304A-4A06-8417-AC7E11DF5B91}"/>
              </a:ext>
            </a:extLst>
          </p:cNvPr>
          <p:cNvSpPr>
            <a:spLocks noGrp="1"/>
          </p:cNvSpPr>
          <p:nvPr>
            <p:ph type="title"/>
          </p:nvPr>
        </p:nvSpPr>
        <p:spPr/>
        <p:txBody>
          <a:bodyPr vert="horz"/>
          <a:lstStyle/>
          <a:p>
            <a:r>
              <a:rPr lang="en-US" altLang="zh-TW"/>
              <a:t>Personalization in FI</a:t>
            </a:r>
            <a:endParaRPr lang="en-US"/>
          </a:p>
        </p:txBody>
      </p:sp>
    </p:spTree>
    <p:extLst>
      <p:ext uri="{BB962C8B-B14F-4D97-AF65-F5344CB8AC3E}">
        <p14:creationId xmlns:p14="http://schemas.microsoft.com/office/powerpoint/2010/main" val="419355588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352" imgH="355" progId="TCLayout.ActiveDocument.1">
                  <p:embed/>
                </p:oleObj>
              </mc:Choice>
              <mc:Fallback>
                <p:oleObj name="think-cell Slide" r:id="rId6" imgW="352" imgH="355" progId="TCLayout.ActiveDocument.1">
                  <p:embed/>
                  <p:pic>
                    <p:nvPicPr>
                      <p:cNvPr id="4" name="Object 3"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Rectangle 1" hidden="1"/>
          <p:cNvSpPr/>
          <p:nvPr>
            <p:custDataLst>
              <p:tags r:id="rId2"/>
            </p:custDataLst>
          </p:nvPr>
        </p:nvSpPr>
        <p:spPr>
          <a:xfrm>
            <a:off x="0" y="0"/>
            <a:ext cx="158750" cy="158750"/>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endParaRPr lang="en-US" sz="3200">
              <a:solidFill>
                <a:srgbClr val="FFFFFF"/>
              </a:solidFill>
              <a:latin typeface="Work Sans SemiBold" panose="020B0604020202020204" charset="0"/>
              <a:ea typeface="+mj-ea"/>
              <a:cs typeface="+mj-cs"/>
              <a:sym typeface="Work Sans SemiBold" panose="020B0604020202020204" charset="0"/>
            </a:endParaRPr>
          </a:p>
        </p:txBody>
      </p:sp>
      <p:sp>
        <p:nvSpPr>
          <p:cNvPr id="3" name="Title 2"/>
          <p:cNvSpPr>
            <a:spLocks noGrp="1"/>
          </p:cNvSpPr>
          <p:nvPr>
            <p:ph type="title"/>
          </p:nvPr>
        </p:nvSpPr>
        <p:spPr>
          <a:xfrm>
            <a:off x="629998" y="622799"/>
            <a:ext cx="3157464" cy="2215991"/>
          </a:xfrm>
        </p:spPr>
        <p:txBody>
          <a:bodyPr/>
          <a:lstStyle/>
          <a:p>
            <a:r>
              <a:rPr lang="en-US">
                <a:solidFill>
                  <a:srgbClr val="78CFFD"/>
                </a:solidFill>
              </a:rPr>
              <a:t>Why data driven marketing is relevant in FI &amp; Banking</a:t>
            </a:r>
          </a:p>
        </p:txBody>
      </p:sp>
      <p:sp>
        <p:nvSpPr>
          <p:cNvPr id="6" name="TextBox 5"/>
          <p:cNvSpPr txBox="1"/>
          <p:nvPr/>
        </p:nvSpPr>
        <p:spPr>
          <a:xfrm>
            <a:off x="5945701" y="5515109"/>
            <a:ext cx="5908164" cy="492443"/>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spAutoFit/>
          </a:bodyPr>
          <a:lstStyle/>
          <a:p>
            <a:pPr>
              <a:buClr>
                <a:srgbClr val="295E7E">
                  <a:lumMod val="100000"/>
                </a:srgbClr>
              </a:buClr>
              <a:buSzPct val="100000"/>
            </a:pPr>
            <a:r>
              <a:rPr lang="en-US" sz="1600">
                <a:solidFill>
                  <a:schemeClr val="tx2"/>
                </a:solidFill>
              </a:rPr>
              <a:t>COVID-19 has rapidly accelerated the above trends, </a:t>
            </a:r>
            <a:r>
              <a:rPr lang="en-US" sz="1600">
                <a:solidFill>
                  <a:srgbClr val="575757"/>
                </a:solidFill>
              </a:rPr>
              <a:t>with a particularly rapid shift to digital sales &amp; service</a:t>
            </a:r>
            <a:endParaRPr lang="en-US" sz="1600">
              <a:solidFill>
                <a:srgbClr val="575757"/>
              </a:solidFill>
              <a:sym typeface="Trebuchet MS" panose="020B0603020202020204" pitchFamily="34" charset="0"/>
            </a:endParaRPr>
          </a:p>
        </p:txBody>
      </p:sp>
      <p:grpSp>
        <p:nvGrpSpPr>
          <p:cNvPr id="55" name="bcgIcons_DigitalGrowth">
            <a:extLst>
              <a:ext uri="{FF2B5EF4-FFF2-40B4-BE49-F238E27FC236}">
                <a16:creationId xmlns:a16="http://schemas.microsoft.com/office/drawing/2014/main" id="{9A20A93E-C13E-43E1-90CC-6DAEA6883712}"/>
              </a:ext>
            </a:extLst>
          </p:cNvPr>
          <p:cNvGrpSpPr>
            <a:grpSpLocks noChangeAspect="1"/>
          </p:cNvGrpSpPr>
          <p:nvPr/>
        </p:nvGrpSpPr>
        <p:grpSpPr bwMode="auto">
          <a:xfrm>
            <a:off x="4801403" y="5366691"/>
            <a:ext cx="788548" cy="789278"/>
            <a:chOff x="1682" y="0"/>
            <a:chExt cx="4316" cy="4320"/>
          </a:xfrm>
        </p:grpSpPr>
        <p:sp>
          <p:nvSpPr>
            <p:cNvPr id="56" name="AutoShape 19">
              <a:extLst>
                <a:ext uri="{FF2B5EF4-FFF2-40B4-BE49-F238E27FC236}">
                  <a16:creationId xmlns:a16="http://schemas.microsoft.com/office/drawing/2014/main" id="{940B115B-E109-4D86-9F70-29ABF11BA1BD}"/>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21">
              <a:extLst>
                <a:ext uri="{FF2B5EF4-FFF2-40B4-BE49-F238E27FC236}">
                  <a16:creationId xmlns:a16="http://schemas.microsoft.com/office/drawing/2014/main" id="{BD3074CC-AA53-4141-B438-5D389996B81A}"/>
                </a:ext>
              </a:extLst>
            </p:cNvPr>
            <p:cNvSpPr>
              <a:spLocks/>
            </p:cNvSpPr>
            <p:nvPr/>
          </p:nvSpPr>
          <p:spPr bwMode="auto">
            <a:xfrm>
              <a:off x="2326" y="587"/>
              <a:ext cx="3095" cy="3099"/>
            </a:xfrm>
            <a:custGeom>
              <a:avLst/>
              <a:gdLst>
                <a:gd name="T0" fmla="*/ 1526 w 1652"/>
                <a:gd name="T1" fmla="*/ 1 h 1653"/>
                <a:gd name="T2" fmla="*/ 1253 w 1652"/>
                <a:gd name="T3" fmla="*/ 586 h 1653"/>
                <a:gd name="T4" fmla="*/ 1343 w 1652"/>
                <a:gd name="T5" fmla="*/ 307 h 1653"/>
                <a:gd name="T6" fmla="*/ 1545 w 1652"/>
                <a:gd name="T7" fmla="*/ 307 h 1653"/>
                <a:gd name="T8" fmla="*/ 1444 w 1652"/>
                <a:gd name="T9" fmla="*/ 551 h 1653"/>
                <a:gd name="T10" fmla="*/ 1271 w 1652"/>
                <a:gd name="T11" fmla="*/ 630 h 1653"/>
                <a:gd name="T12" fmla="*/ 544 w 1652"/>
                <a:gd name="T13" fmla="*/ 983 h 1653"/>
                <a:gd name="T14" fmla="*/ 429 w 1652"/>
                <a:gd name="T15" fmla="*/ 1210 h 1653"/>
                <a:gd name="T16" fmla="*/ 286 w 1652"/>
                <a:gd name="T17" fmla="*/ 1067 h 1653"/>
                <a:gd name="T18" fmla="*/ 429 w 1652"/>
                <a:gd name="T19" fmla="*/ 924 h 1653"/>
                <a:gd name="T20" fmla="*/ 1463 w 1652"/>
                <a:gd name="T21" fmla="*/ 1 h 1653"/>
                <a:gd name="T22" fmla="*/ 869 w 1652"/>
                <a:gd name="T23" fmla="*/ 41 h 1653"/>
                <a:gd name="T24" fmla="*/ 764 w 1652"/>
                <a:gd name="T25" fmla="*/ 275 h 1653"/>
                <a:gd name="T26" fmla="*/ 0 w 1652"/>
                <a:gd name="T27" fmla="*/ 962 h 1653"/>
                <a:gd name="T28" fmla="*/ 139 w 1652"/>
                <a:gd name="T29" fmla="*/ 1157 h 1653"/>
                <a:gd name="T30" fmla="*/ 495 w 1652"/>
                <a:gd name="T31" fmla="*/ 579 h 1653"/>
                <a:gd name="T32" fmla="*/ 510 w 1652"/>
                <a:gd name="T33" fmla="*/ 394 h 1653"/>
                <a:gd name="T34" fmla="*/ 712 w 1652"/>
                <a:gd name="T35" fmla="*/ 596 h 1653"/>
                <a:gd name="T36" fmla="*/ 527 w 1652"/>
                <a:gd name="T37" fmla="*/ 610 h 1653"/>
                <a:gd name="T38" fmla="*/ 186 w 1652"/>
                <a:gd name="T39" fmla="*/ 1172 h 1653"/>
                <a:gd name="T40" fmla="*/ 691 w 1652"/>
                <a:gd name="T41" fmla="*/ 1653 h 1653"/>
                <a:gd name="T42" fmla="*/ 955 w 1652"/>
                <a:gd name="T43" fmla="*/ 1412 h 1653"/>
                <a:gd name="T44" fmla="*/ 769 w 1652"/>
                <a:gd name="T45" fmla="*/ 1338 h 1653"/>
                <a:gd name="T46" fmla="*/ 627 w 1652"/>
                <a:gd name="T47" fmla="*/ 1195 h 1653"/>
                <a:gd name="T48" fmla="*/ 870 w 1652"/>
                <a:gd name="T49" fmla="*/ 1094 h 1653"/>
                <a:gd name="T50" fmla="*/ 973 w 1652"/>
                <a:gd name="T51" fmla="*/ 1367 h 1653"/>
                <a:gd name="T52" fmla="*/ 1346 w 1652"/>
                <a:gd name="T53" fmla="*/ 1183 h 1653"/>
                <a:gd name="T54" fmla="*/ 1072 w 1652"/>
                <a:gd name="T55" fmla="*/ 1091 h 1653"/>
                <a:gd name="T56" fmla="*/ 887 w 1652"/>
                <a:gd name="T57" fmla="*/ 1077 h 1653"/>
                <a:gd name="T58" fmla="*/ 1089 w 1652"/>
                <a:gd name="T59" fmla="*/ 875 h 1653"/>
                <a:gd name="T60" fmla="*/ 1192 w 1652"/>
                <a:gd name="T61" fmla="*/ 1148 h 1653"/>
                <a:gd name="T62" fmla="*/ 1382 w 1652"/>
                <a:gd name="T63" fmla="*/ 962 h 1653"/>
                <a:gd name="T64" fmla="*/ 1546 w 1652"/>
                <a:gd name="T65" fmla="*/ 718 h 1653"/>
                <a:gd name="T66" fmla="*/ 1649 w 1652"/>
                <a:gd name="T67" fmla="*/ 768 h 1653"/>
                <a:gd name="T68" fmla="*/ 1629 w 1652"/>
                <a:gd name="T69" fmla="*/ 0 h 1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52" h="1653">
                  <a:moveTo>
                    <a:pt x="1629" y="0"/>
                  </a:moveTo>
                  <a:cubicBezTo>
                    <a:pt x="1526" y="1"/>
                    <a:pt x="1526" y="1"/>
                    <a:pt x="1526" y="1"/>
                  </a:cubicBezTo>
                  <a:cubicBezTo>
                    <a:pt x="941" y="586"/>
                    <a:pt x="941" y="586"/>
                    <a:pt x="941" y="586"/>
                  </a:cubicBezTo>
                  <a:cubicBezTo>
                    <a:pt x="1253" y="586"/>
                    <a:pt x="1253" y="586"/>
                    <a:pt x="1253" y="586"/>
                  </a:cubicBezTo>
                  <a:cubicBezTo>
                    <a:pt x="1337" y="502"/>
                    <a:pt x="1337" y="502"/>
                    <a:pt x="1337" y="502"/>
                  </a:cubicBezTo>
                  <a:cubicBezTo>
                    <a:pt x="1287" y="446"/>
                    <a:pt x="1290" y="361"/>
                    <a:pt x="1343" y="307"/>
                  </a:cubicBezTo>
                  <a:cubicBezTo>
                    <a:pt x="1343" y="307"/>
                    <a:pt x="1343" y="307"/>
                    <a:pt x="1343" y="307"/>
                  </a:cubicBezTo>
                  <a:cubicBezTo>
                    <a:pt x="1399" y="252"/>
                    <a:pt x="1489" y="252"/>
                    <a:pt x="1545" y="307"/>
                  </a:cubicBezTo>
                  <a:cubicBezTo>
                    <a:pt x="1600" y="363"/>
                    <a:pt x="1600" y="454"/>
                    <a:pt x="1545" y="509"/>
                  </a:cubicBezTo>
                  <a:cubicBezTo>
                    <a:pt x="1517" y="537"/>
                    <a:pt x="1480" y="551"/>
                    <a:pt x="1444" y="551"/>
                  </a:cubicBezTo>
                  <a:cubicBezTo>
                    <a:pt x="1418" y="551"/>
                    <a:pt x="1393" y="544"/>
                    <a:pt x="1370" y="531"/>
                  </a:cubicBezTo>
                  <a:cubicBezTo>
                    <a:pt x="1271" y="630"/>
                    <a:pt x="1271" y="630"/>
                    <a:pt x="1271" y="630"/>
                  </a:cubicBezTo>
                  <a:cubicBezTo>
                    <a:pt x="897" y="630"/>
                    <a:pt x="897" y="630"/>
                    <a:pt x="897" y="630"/>
                  </a:cubicBezTo>
                  <a:cubicBezTo>
                    <a:pt x="544" y="983"/>
                    <a:pt x="544" y="983"/>
                    <a:pt x="544" y="983"/>
                  </a:cubicBezTo>
                  <a:cubicBezTo>
                    <a:pt x="585" y="1039"/>
                    <a:pt x="580" y="1117"/>
                    <a:pt x="530" y="1168"/>
                  </a:cubicBezTo>
                  <a:cubicBezTo>
                    <a:pt x="503" y="1195"/>
                    <a:pt x="467" y="1210"/>
                    <a:pt x="429" y="1210"/>
                  </a:cubicBezTo>
                  <a:cubicBezTo>
                    <a:pt x="391" y="1210"/>
                    <a:pt x="355" y="1195"/>
                    <a:pt x="328" y="1168"/>
                  </a:cubicBezTo>
                  <a:cubicBezTo>
                    <a:pt x="301" y="1141"/>
                    <a:pt x="286" y="1105"/>
                    <a:pt x="286" y="1067"/>
                  </a:cubicBezTo>
                  <a:cubicBezTo>
                    <a:pt x="286" y="1029"/>
                    <a:pt x="301" y="993"/>
                    <a:pt x="328" y="966"/>
                  </a:cubicBezTo>
                  <a:cubicBezTo>
                    <a:pt x="355" y="939"/>
                    <a:pt x="391" y="924"/>
                    <a:pt x="429" y="924"/>
                  </a:cubicBezTo>
                  <a:cubicBezTo>
                    <a:pt x="459" y="924"/>
                    <a:pt x="489" y="934"/>
                    <a:pt x="513" y="952"/>
                  </a:cubicBezTo>
                  <a:cubicBezTo>
                    <a:pt x="1463" y="1"/>
                    <a:pt x="1463" y="1"/>
                    <a:pt x="1463" y="1"/>
                  </a:cubicBezTo>
                  <a:cubicBezTo>
                    <a:pt x="884" y="3"/>
                    <a:pt x="884" y="3"/>
                    <a:pt x="884" y="3"/>
                  </a:cubicBezTo>
                  <a:cubicBezTo>
                    <a:pt x="865" y="3"/>
                    <a:pt x="855" y="27"/>
                    <a:pt x="869" y="41"/>
                  </a:cubicBezTo>
                  <a:cubicBezTo>
                    <a:pt x="933" y="106"/>
                    <a:pt x="933" y="106"/>
                    <a:pt x="933" y="106"/>
                  </a:cubicBezTo>
                  <a:cubicBezTo>
                    <a:pt x="764" y="275"/>
                    <a:pt x="764" y="275"/>
                    <a:pt x="764" y="275"/>
                  </a:cubicBezTo>
                  <a:cubicBezTo>
                    <a:pt x="740" y="273"/>
                    <a:pt x="716" y="272"/>
                    <a:pt x="691" y="272"/>
                  </a:cubicBezTo>
                  <a:cubicBezTo>
                    <a:pt x="310" y="272"/>
                    <a:pt x="0" y="581"/>
                    <a:pt x="0" y="962"/>
                  </a:cubicBezTo>
                  <a:cubicBezTo>
                    <a:pt x="0" y="1060"/>
                    <a:pt x="21" y="1153"/>
                    <a:pt x="58" y="1238"/>
                  </a:cubicBezTo>
                  <a:cubicBezTo>
                    <a:pt x="139" y="1157"/>
                    <a:pt x="139" y="1157"/>
                    <a:pt x="139" y="1157"/>
                  </a:cubicBezTo>
                  <a:cubicBezTo>
                    <a:pt x="111" y="964"/>
                    <a:pt x="111" y="964"/>
                    <a:pt x="111" y="964"/>
                  </a:cubicBezTo>
                  <a:cubicBezTo>
                    <a:pt x="495" y="579"/>
                    <a:pt x="495" y="579"/>
                    <a:pt x="495" y="579"/>
                  </a:cubicBezTo>
                  <a:cubicBezTo>
                    <a:pt x="478" y="555"/>
                    <a:pt x="468" y="526"/>
                    <a:pt x="468" y="495"/>
                  </a:cubicBezTo>
                  <a:cubicBezTo>
                    <a:pt x="468" y="457"/>
                    <a:pt x="483" y="421"/>
                    <a:pt x="510" y="394"/>
                  </a:cubicBezTo>
                  <a:cubicBezTo>
                    <a:pt x="565" y="339"/>
                    <a:pt x="656" y="339"/>
                    <a:pt x="712" y="394"/>
                  </a:cubicBezTo>
                  <a:cubicBezTo>
                    <a:pt x="767" y="450"/>
                    <a:pt x="767" y="540"/>
                    <a:pt x="712" y="596"/>
                  </a:cubicBezTo>
                  <a:cubicBezTo>
                    <a:pt x="684" y="624"/>
                    <a:pt x="647" y="638"/>
                    <a:pt x="611" y="638"/>
                  </a:cubicBezTo>
                  <a:cubicBezTo>
                    <a:pt x="581" y="638"/>
                    <a:pt x="552" y="629"/>
                    <a:pt x="527" y="610"/>
                  </a:cubicBezTo>
                  <a:cubicBezTo>
                    <a:pt x="157" y="980"/>
                    <a:pt x="157" y="980"/>
                    <a:pt x="157" y="980"/>
                  </a:cubicBezTo>
                  <a:cubicBezTo>
                    <a:pt x="186" y="1172"/>
                    <a:pt x="186" y="1172"/>
                    <a:pt x="186" y="1172"/>
                  </a:cubicBezTo>
                  <a:cubicBezTo>
                    <a:pt x="78" y="1280"/>
                    <a:pt x="78" y="1280"/>
                    <a:pt x="78" y="1280"/>
                  </a:cubicBezTo>
                  <a:cubicBezTo>
                    <a:pt x="193" y="1501"/>
                    <a:pt x="425" y="1653"/>
                    <a:pt x="691" y="1653"/>
                  </a:cubicBezTo>
                  <a:cubicBezTo>
                    <a:pt x="905" y="1653"/>
                    <a:pt x="1097" y="1555"/>
                    <a:pt x="1223" y="1402"/>
                  </a:cubicBezTo>
                  <a:cubicBezTo>
                    <a:pt x="955" y="1412"/>
                    <a:pt x="955" y="1412"/>
                    <a:pt x="955" y="1412"/>
                  </a:cubicBezTo>
                  <a:cubicBezTo>
                    <a:pt x="853" y="1310"/>
                    <a:pt x="853" y="1310"/>
                    <a:pt x="853" y="1310"/>
                  </a:cubicBezTo>
                  <a:cubicBezTo>
                    <a:pt x="828" y="1328"/>
                    <a:pt x="799" y="1338"/>
                    <a:pt x="769" y="1338"/>
                  </a:cubicBezTo>
                  <a:cubicBezTo>
                    <a:pt x="733" y="1338"/>
                    <a:pt x="696" y="1324"/>
                    <a:pt x="668" y="1296"/>
                  </a:cubicBezTo>
                  <a:cubicBezTo>
                    <a:pt x="641" y="1269"/>
                    <a:pt x="627" y="1233"/>
                    <a:pt x="627" y="1195"/>
                  </a:cubicBezTo>
                  <a:cubicBezTo>
                    <a:pt x="627" y="1157"/>
                    <a:pt x="641" y="1121"/>
                    <a:pt x="668" y="1094"/>
                  </a:cubicBezTo>
                  <a:cubicBezTo>
                    <a:pt x="724" y="1038"/>
                    <a:pt x="815" y="1038"/>
                    <a:pt x="870" y="1094"/>
                  </a:cubicBezTo>
                  <a:cubicBezTo>
                    <a:pt x="920" y="1144"/>
                    <a:pt x="925" y="1223"/>
                    <a:pt x="884" y="1279"/>
                  </a:cubicBezTo>
                  <a:cubicBezTo>
                    <a:pt x="973" y="1367"/>
                    <a:pt x="973" y="1367"/>
                    <a:pt x="973" y="1367"/>
                  </a:cubicBezTo>
                  <a:cubicBezTo>
                    <a:pt x="1258" y="1357"/>
                    <a:pt x="1258" y="1357"/>
                    <a:pt x="1258" y="1357"/>
                  </a:cubicBezTo>
                  <a:cubicBezTo>
                    <a:pt x="1295" y="1304"/>
                    <a:pt x="1324" y="1246"/>
                    <a:pt x="1346" y="1183"/>
                  </a:cubicBezTo>
                  <a:cubicBezTo>
                    <a:pt x="1175" y="1193"/>
                    <a:pt x="1175" y="1193"/>
                    <a:pt x="1175" y="1193"/>
                  </a:cubicBezTo>
                  <a:cubicBezTo>
                    <a:pt x="1072" y="1091"/>
                    <a:pt x="1072" y="1091"/>
                    <a:pt x="1072" y="1091"/>
                  </a:cubicBezTo>
                  <a:cubicBezTo>
                    <a:pt x="1048" y="1109"/>
                    <a:pt x="1019" y="1119"/>
                    <a:pt x="988" y="1119"/>
                  </a:cubicBezTo>
                  <a:cubicBezTo>
                    <a:pt x="950" y="1119"/>
                    <a:pt x="914" y="1104"/>
                    <a:pt x="887" y="1077"/>
                  </a:cubicBezTo>
                  <a:cubicBezTo>
                    <a:pt x="832" y="1021"/>
                    <a:pt x="832" y="931"/>
                    <a:pt x="887" y="875"/>
                  </a:cubicBezTo>
                  <a:cubicBezTo>
                    <a:pt x="943" y="819"/>
                    <a:pt x="1034" y="819"/>
                    <a:pt x="1089" y="875"/>
                  </a:cubicBezTo>
                  <a:cubicBezTo>
                    <a:pt x="1139" y="925"/>
                    <a:pt x="1144" y="1004"/>
                    <a:pt x="1104" y="1060"/>
                  </a:cubicBezTo>
                  <a:cubicBezTo>
                    <a:pt x="1192" y="1148"/>
                    <a:pt x="1192" y="1148"/>
                    <a:pt x="1192" y="1148"/>
                  </a:cubicBezTo>
                  <a:cubicBezTo>
                    <a:pt x="1359" y="1139"/>
                    <a:pt x="1359" y="1139"/>
                    <a:pt x="1359" y="1139"/>
                  </a:cubicBezTo>
                  <a:cubicBezTo>
                    <a:pt x="1374" y="1082"/>
                    <a:pt x="1382" y="1023"/>
                    <a:pt x="1382" y="962"/>
                  </a:cubicBezTo>
                  <a:cubicBezTo>
                    <a:pt x="1382" y="937"/>
                    <a:pt x="1380" y="912"/>
                    <a:pt x="1378" y="887"/>
                  </a:cubicBezTo>
                  <a:cubicBezTo>
                    <a:pt x="1546" y="718"/>
                    <a:pt x="1546" y="718"/>
                    <a:pt x="1546" y="718"/>
                  </a:cubicBezTo>
                  <a:cubicBezTo>
                    <a:pt x="1611" y="783"/>
                    <a:pt x="1611" y="783"/>
                    <a:pt x="1611" y="783"/>
                  </a:cubicBezTo>
                  <a:cubicBezTo>
                    <a:pt x="1625" y="797"/>
                    <a:pt x="1648" y="787"/>
                    <a:pt x="1649" y="768"/>
                  </a:cubicBezTo>
                  <a:cubicBezTo>
                    <a:pt x="1651" y="23"/>
                    <a:pt x="1651" y="23"/>
                    <a:pt x="1651" y="23"/>
                  </a:cubicBezTo>
                  <a:cubicBezTo>
                    <a:pt x="1652" y="10"/>
                    <a:pt x="1642" y="0"/>
                    <a:pt x="1629" y="0"/>
                  </a:cubicBezTo>
                  <a:close/>
                </a:path>
              </a:pathLst>
            </a:custGeom>
            <a:solidFill>
              <a:srgbClr val="29BA74">
                <a:lumMod val="10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 name="Freeform 22">
              <a:extLst>
                <a:ext uri="{FF2B5EF4-FFF2-40B4-BE49-F238E27FC236}">
                  <a16:creationId xmlns:a16="http://schemas.microsoft.com/office/drawing/2014/main" id="{3351CEE1-0746-4AD3-8681-19F69741CBAD}"/>
                </a:ext>
              </a:extLst>
            </p:cNvPr>
            <p:cNvSpPr>
              <a:spLocks noEditPoints="1"/>
            </p:cNvSpPr>
            <p:nvPr/>
          </p:nvSpPr>
          <p:spPr bwMode="auto">
            <a:xfrm>
              <a:off x="2162" y="932"/>
              <a:ext cx="3072" cy="2919"/>
            </a:xfrm>
            <a:custGeom>
              <a:avLst/>
              <a:gdLst>
                <a:gd name="T0" fmla="*/ 1553 w 1640"/>
                <a:gd name="T1" fmla="*/ 688 h 1557"/>
                <a:gd name="T2" fmla="*/ 1558 w 1640"/>
                <a:gd name="T3" fmla="*/ 778 h 1557"/>
                <a:gd name="T4" fmla="*/ 779 w 1640"/>
                <a:gd name="T5" fmla="*/ 1557 h 1557"/>
                <a:gd name="T6" fmla="*/ 0 w 1640"/>
                <a:gd name="T7" fmla="*/ 778 h 1557"/>
                <a:gd name="T8" fmla="*/ 779 w 1640"/>
                <a:gd name="T9" fmla="*/ 0 h 1557"/>
                <a:gd name="T10" fmla="*/ 867 w 1640"/>
                <a:gd name="T11" fmla="*/ 5 h 1557"/>
                <a:gd name="T12" fmla="*/ 826 w 1640"/>
                <a:gd name="T13" fmla="*/ 45 h 1557"/>
                <a:gd name="T14" fmla="*/ 779 w 1640"/>
                <a:gd name="T15" fmla="*/ 44 h 1557"/>
                <a:gd name="T16" fmla="*/ 44 w 1640"/>
                <a:gd name="T17" fmla="*/ 778 h 1557"/>
                <a:gd name="T18" fmla="*/ 779 w 1640"/>
                <a:gd name="T19" fmla="*/ 1513 h 1557"/>
                <a:gd name="T20" fmla="*/ 1514 w 1640"/>
                <a:gd name="T21" fmla="*/ 778 h 1557"/>
                <a:gd name="T22" fmla="*/ 1512 w 1640"/>
                <a:gd name="T23" fmla="*/ 728 h 1557"/>
                <a:gd name="T24" fmla="*/ 1553 w 1640"/>
                <a:gd name="T25" fmla="*/ 688 h 1557"/>
                <a:gd name="T26" fmla="*/ 517 w 1640"/>
                <a:gd name="T27" fmla="*/ 784 h 1557"/>
                <a:gd name="T28" fmla="*/ 447 w 1640"/>
                <a:gd name="T29" fmla="*/ 813 h 1557"/>
                <a:gd name="T30" fmla="*/ 447 w 1640"/>
                <a:gd name="T31" fmla="*/ 813 h 1557"/>
                <a:gd name="T32" fmla="*/ 418 w 1640"/>
                <a:gd name="T33" fmla="*/ 883 h 1557"/>
                <a:gd name="T34" fmla="*/ 447 w 1640"/>
                <a:gd name="T35" fmla="*/ 953 h 1557"/>
                <a:gd name="T36" fmla="*/ 517 w 1640"/>
                <a:gd name="T37" fmla="*/ 982 h 1557"/>
                <a:gd name="T38" fmla="*/ 586 w 1640"/>
                <a:gd name="T39" fmla="*/ 953 h 1557"/>
                <a:gd name="T40" fmla="*/ 586 w 1640"/>
                <a:gd name="T41" fmla="*/ 813 h 1557"/>
                <a:gd name="T42" fmla="*/ 517 w 1640"/>
                <a:gd name="T43" fmla="*/ 784 h 1557"/>
                <a:gd name="T44" fmla="*/ 699 w 1640"/>
                <a:gd name="T45" fmla="*/ 213 h 1557"/>
                <a:gd name="T46" fmla="*/ 629 w 1640"/>
                <a:gd name="T47" fmla="*/ 241 h 1557"/>
                <a:gd name="T48" fmla="*/ 600 w 1640"/>
                <a:gd name="T49" fmla="*/ 311 h 1557"/>
                <a:gd name="T50" fmla="*/ 629 w 1640"/>
                <a:gd name="T51" fmla="*/ 381 h 1557"/>
                <a:gd name="T52" fmla="*/ 768 w 1640"/>
                <a:gd name="T53" fmla="*/ 381 h 1557"/>
                <a:gd name="T54" fmla="*/ 768 w 1640"/>
                <a:gd name="T55" fmla="*/ 241 h 1557"/>
                <a:gd name="T56" fmla="*/ 699 w 1640"/>
                <a:gd name="T57" fmla="*/ 213 h 1557"/>
                <a:gd name="T58" fmla="*/ 857 w 1640"/>
                <a:gd name="T59" fmla="*/ 912 h 1557"/>
                <a:gd name="T60" fmla="*/ 787 w 1640"/>
                <a:gd name="T61" fmla="*/ 941 h 1557"/>
                <a:gd name="T62" fmla="*/ 759 w 1640"/>
                <a:gd name="T63" fmla="*/ 1011 h 1557"/>
                <a:gd name="T64" fmla="*/ 787 w 1640"/>
                <a:gd name="T65" fmla="*/ 1081 h 1557"/>
                <a:gd name="T66" fmla="*/ 927 w 1640"/>
                <a:gd name="T67" fmla="*/ 1081 h 1557"/>
                <a:gd name="T68" fmla="*/ 927 w 1640"/>
                <a:gd name="T69" fmla="*/ 941 h 1557"/>
                <a:gd name="T70" fmla="*/ 857 w 1640"/>
                <a:gd name="T71" fmla="*/ 912 h 1557"/>
                <a:gd name="T72" fmla="*/ 1076 w 1640"/>
                <a:gd name="T73" fmla="*/ 693 h 1557"/>
                <a:gd name="T74" fmla="*/ 1007 w 1640"/>
                <a:gd name="T75" fmla="*/ 722 h 1557"/>
                <a:gd name="T76" fmla="*/ 1007 w 1640"/>
                <a:gd name="T77" fmla="*/ 862 h 1557"/>
                <a:gd name="T78" fmla="*/ 1146 w 1640"/>
                <a:gd name="T79" fmla="*/ 862 h 1557"/>
                <a:gd name="T80" fmla="*/ 1146 w 1640"/>
                <a:gd name="T81" fmla="*/ 722 h 1557"/>
                <a:gd name="T82" fmla="*/ 1076 w 1640"/>
                <a:gd name="T83" fmla="*/ 693 h 1557"/>
                <a:gd name="T84" fmla="*/ 1462 w 1640"/>
                <a:gd name="T85" fmla="*/ 155 h 1557"/>
                <a:gd name="T86" fmla="*/ 1462 w 1640"/>
                <a:gd name="T87" fmla="*/ 294 h 1557"/>
                <a:gd name="T88" fmla="*/ 1602 w 1640"/>
                <a:gd name="T89" fmla="*/ 294 h 1557"/>
                <a:gd name="T90" fmla="*/ 1602 w 1640"/>
                <a:gd name="T91" fmla="*/ 155 h 1557"/>
                <a:gd name="T92" fmla="*/ 1462 w 1640"/>
                <a:gd name="T93" fmla="*/ 155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40" h="1557">
                  <a:moveTo>
                    <a:pt x="1553" y="688"/>
                  </a:moveTo>
                  <a:cubicBezTo>
                    <a:pt x="1556" y="718"/>
                    <a:pt x="1558" y="748"/>
                    <a:pt x="1558" y="778"/>
                  </a:cubicBezTo>
                  <a:cubicBezTo>
                    <a:pt x="1558" y="1208"/>
                    <a:pt x="1208" y="1557"/>
                    <a:pt x="779" y="1557"/>
                  </a:cubicBezTo>
                  <a:cubicBezTo>
                    <a:pt x="350" y="1557"/>
                    <a:pt x="0" y="1208"/>
                    <a:pt x="0" y="778"/>
                  </a:cubicBezTo>
                  <a:cubicBezTo>
                    <a:pt x="0" y="349"/>
                    <a:pt x="350" y="0"/>
                    <a:pt x="779" y="0"/>
                  </a:cubicBezTo>
                  <a:cubicBezTo>
                    <a:pt x="809" y="0"/>
                    <a:pt x="838" y="1"/>
                    <a:pt x="867" y="5"/>
                  </a:cubicBezTo>
                  <a:cubicBezTo>
                    <a:pt x="826" y="45"/>
                    <a:pt x="826" y="45"/>
                    <a:pt x="826" y="45"/>
                  </a:cubicBezTo>
                  <a:cubicBezTo>
                    <a:pt x="811" y="44"/>
                    <a:pt x="795" y="44"/>
                    <a:pt x="779" y="44"/>
                  </a:cubicBezTo>
                  <a:cubicBezTo>
                    <a:pt x="374" y="44"/>
                    <a:pt x="44" y="373"/>
                    <a:pt x="44" y="778"/>
                  </a:cubicBezTo>
                  <a:cubicBezTo>
                    <a:pt x="44" y="1183"/>
                    <a:pt x="374" y="1513"/>
                    <a:pt x="779" y="1513"/>
                  </a:cubicBezTo>
                  <a:cubicBezTo>
                    <a:pt x="1184" y="1513"/>
                    <a:pt x="1514" y="1183"/>
                    <a:pt x="1514" y="778"/>
                  </a:cubicBezTo>
                  <a:cubicBezTo>
                    <a:pt x="1514" y="762"/>
                    <a:pt x="1513" y="745"/>
                    <a:pt x="1512" y="728"/>
                  </a:cubicBezTo>
                  <a:lnTo>
                    <a:pt x="1553" y="688"/>
                  </a:lnTo>
                  <a:close/>
                  <a:moveTo>
                    <a:pt x="517" y="784"/>
                  </a:moveTo>
                  <a:cubicBezTo>
                    <a:pt x="490" y="784"/>
                    <a:pt x="466" y="794"/>
                    <a:pt x="447" y="813"/>
                  </a:cubicBezTo>
                  <a:cubicBezTo>
                    <a:pt x="447" y="813"/>
                    <a:pt x="447" y="813"/>
                    <a:pt x="447" y="813"/>
                  </a:cubicBezTo>
                  <a:cubicBezTo>
                    <a:pt x="428" y="832"/>
                    <a:pt x="418" y="857"/>
                    <a:pt x="418" y="883"/>
                  </a:cubicBezTo>
                  <a:cubicBezTo>
                    <a:pt x="418" y="909"/>
                    <a:pt x="428" y="934"/>
                    <a:pt x="447" y="953"/>
                  </a:cubicBezTo>
                  <a:cubicBezTo>
                    <a:pt x="466" y="971"/>
                    <a:pt x="490" y="982"/>
                    <a:pt x="517" y="982"/>
                  </a:cubicBezTo>
                  <a:cubicBezTo>
                    <a:pt x="543" y="982"/>
                    <a:pt x="568" y="971"/>
                    <a:pt x="586" y="953"/>
                  </a:cubicBezTo>
                  <a:cubicBezTo>
                    <a:pt x="625" y="914"/>
                    <a:pt x="625" y="852"/>
                    <a:pt x="586" y="813"/>
                  </a:cubicBezTo>
                  <a:cubicBezTo>
                    <a:pt x="568" y="794"/>
                    <a:pt x="543" y="784"/>
                    <a:pt x="517" y="784"/>
                  </a:cubicBezTo>
                  <a:close/>
                  <a:moveTo>
                    <a:pt x="699" y="213"/>
                  </a:moveTo>
                  <a:cubicBezTo>
                    <a:pt x="673" y="213"/>
                    <a:pt x="648" y="222"/>
                    <a:pt x="629" y="241"/>
                  </a:cubicBezTo>
                  <a:cubicBezTo>
                    <a:pt x="610" y="260"/>
                    <a:pt x="600" y="285"/>
                    <a:pt x="600" y="311"/>
                  </a:cubicBezTo>
                  <a:cubicBezTo>
                    <a:pt x="600" y="338"/>
                    <a:pt x="610" y="362"/>
                    <a:pt x="629" y="381"/>
                  </a:cubicBezTo>
                  <a:cubicBezTo>
                    <a:pt x="667" y="419"/>
                    <a:pt x="730" y="419"/>
                    <a:pt x="768" y="381"/>
                  </a:cubicBezTo>
                  <a:cubicBezTo>
                    <a:pt x="807" y="342"/>
                    <a:pt x="807" y="280"/>
                    <a:pt x="768" y="241"/>
                  </a:cubicBezTo>
                  <a:cubicBezTo>
                    <a:pt x="749" y="222"/>
                    <a:pt x="724" y="213"/>
                    <a:pt x="699" y="213"/>
                  </a:cubicBezTo>
                  <a:close/>
                  <a:moveTo>
                    <a:pt x="857" y="912"/>
                  </a:moveTo>
                  <a:cubicBezTo>
                    <a:pt x="832" y="912"/>
                    <a:pt x="807" y="922"/>
                    <a:pt x="787" y="941"/>
                  </a:cubicBezTo>
                  <a:cubicBezTo>
                    <a:pt x="769" y="960"/>
                    <a:pt x="759" y="985"/>
                    <a:pt x="759" y="1011"/>
                  </a:cubicBezTo>
                  <a:cubicBezTo>
                    <a:pt x="759" y="1037"/>
                    <a:pt x="769" y="1062"/>
                    <a:pt x="787" y="1081"/>
                  </a:cubicBezTo>
                  <a:cubicBezTo>
                    <a:pt x="826" y="1119"/>
                    <a:pt x="889" y="1119"/>
                    <a:pt x="927" y="1081"/>
                  </a:cubicBezTo>
                  <a:cubicBezTo>
                    <a:pt x="965" y="1042"/>
                    <a:pt x="965" y="980"/>
                    <a:pt x="927" y="941"/>
                  </a:cubicBezTo>
                  <a:cubicBezTo>
                    <a:pt x="908" y="922"/>
                    <a:pt x="883" y="912"/>
                    <a:pt x="857" y="912"/>
                  </a:cubicBezTo>
                  <a:close/>
                  <a:moveTo>
                    <a:pt x="1076" y="693"/>
                  </a:moveTo>
                  <a:cubicBezTo>
                    <a:pt x="1051" y="693"/>
                    <a:pt x="1026" y="703"/>
                    <a:pt x="1007" y="722"/>
                  </a:cubicBezTo>
                  <a:cubicBezTo>
                    <a:pt x="968" y="761"/>
                    <a:pt x="968" y="823"/>
                    <a:pt x="1007" y="862"/>
                  </a:cubicBezTo>
                  <a:cubicBezTo>
                    <a:pt x="1045" y="900"/>
                    <a:pt x="1108" y="900"/>
                    <a:pt x="1146" y="862"/>
                  </a:cubicBezTo>
                  <a:cubicBezTo>
                    <a:pt x="1185" y="823"/>
                    <a:pt x="1185" y="761"/>
                    <a:pt x="1146" y="722"/>
                  </a:cubicBezTo>
                  <a:cubicBezTo>
                    <a:pt x="1127" y="703"/>
                    <a:pt x="1102" y="693"/>
                    <a:pt x="1076" y="693"/>
                  </a:cubicBezTo>
                  <a:close/>
                  <a:moveTo>
                    <a:pt x="1462" y="155"/>
                  </a:moveTo>
                  <a:cubicBezTo>
                    <a:pt x="1424" y="193"/>
                    <a:pt x="1424" y="256"/>
                    <a:pt x="1462" y="294"/>
                  </a:cubicBezTo>
                  <a:cubicBezTo>
                    <a:pt x="1500" y="333"/>
                    <a:pt x="1563" y="333"/>
                    <a:pt x="1602" y="294"/>
                  </a:cubicBezTo>
                  <a:cubicBezTo>
                    <a:pt x="1640" y="256"/>
                    <a:pt x="1640" y="193"/>
                    <a:pt x="1602" y="155"/>
                  </a:cubicBezTo>
                  <a:cubicBezTo>
                    <a:pt x="1563" y="116"/>
                    <a:pt x="1500" y="116"/>
                    <a:pt x="1462" y="155"/>
                  </a:cubicBezTo>
                  <a:close/>
                </a:path>
              </a:pathLst>
            </a:custGeom>
            <a:solidFill>
              <a:srgbClr val="295E7E">
                <a:lumMod val="10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6" name="TextBox 35"/>
          <p:cNvSpPr txBox="1"/>
          <p:nvPr/>
        </p:nvSpPr>
        <p:spPr>
          <a:xfrm>
            <a:off x="5854165" y="4177624"/>
            <a:ext cx="5782778" cy="738664"/>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spAutoFit/>
          </a:bodyPr>
          <a:lstStyle/>
          <a:p>
            <a:r>
              <a:rPr lang="en-US" sz="1600">
                <a:solidFill>
                  <a:srgbClr val="29BA74"/>
                </a:solidFill>
              </a:rPr>
              <a:t>Younger demographic prefers to interact with their banks digitally</a:t>
            </a:r>
            <a:r>
              <a:rPr lang="en-US" sz="1600">
                <a:solidFill>
                  <a:srgbClr val="7F7F7F"/>
                </a:solidFill>
              </a:rPr>
              <a:t>, </a:t>
            </a:r>
            <a:r>
              <a:rPr lang="en-US" sz="1600">
                <a:solidFill>
                  <a:srgbClr val="575757"/>
                </a:solidFill>
              </a:rPr>
              <a:t>with mobile delivery options and intuitive service interactions</a:t>
            </a:r>
          </a:p>
        </p:txBody>
      </p:sp>
      <p:grpSp>
        <p:nvGrpSpPr>
          <p:cNvPr id="50" name="Group 49">
            <a:extLst>
              <a:ext uri="{FF2B5EF4-FFF2-40B4-BE49-F238E27FC236}">
                <a16:creationId xmlns:a16="http://schemas.microsoft.com/office/drawing/2014/main" id="{8DE7982B-B7A2-43A1-A73B-60811D6F6427}"/>
              </a:ext>
            </a:extLst>
          </p:cNvPr>
          <p:cNvGrpSpPr>
            <a:grpSpLocks noChangeAspect="1"/>
          </p:cNvGrpSpPr>
          <p:nvPr/>
        </p:nvGrpSpPr>
        <p:grpSpPr>
          <a:xfrm>
            <a:off x="4800750" y="2937945"/>
            <a:ext cx="790040" cy="789278"/>
            <a:chOff x="6464300" y="2606675"/>
            <a:chExt cx="1646238" cy="1644650"/>
          </a:xfrm>
        </p:grpSpPr>
        <p:sp>
          <p:nvSpPr>
            <p:cNvPr id="51" name="AutoShape 14">
              <a:extLst>
                <a:ext uri="{FF2B5EF4-FFF2-40B4-BE49-F238E27FC236}">
                  <a16:creationId xmlns:a16="http://schemas.microsoft.com/office/drawing/2014/main" id="{DF3179FC-C45C-41DD-9B7F-05EFC987DD7A}"/>
                </a:ext>
              </a:extLst>
            </p:cNvPr>
            <p:cNvSpPr>
              <a:spLocks noChangeAspect="1" noChangeArrowheads="1" noTextEdit="1"/>
            </p:cNvSpPr>
            <p:nvPr/>
          </p:nvSpPr>
          <p:spPr bwMode="auto">
            <a:xfrm>
              <a:off x="6464300"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52" name="Group 51">
              <a:extLst>
                <a:ext uri="{FF2B5EF4-FFF2-40B4-BE49-F238E27FC236}">
                  <a16:creationId xmlns:a16="http://schemas.microsoft.com/office/drawing/2014/main" id="{54CA0E7D-3BDF-49B6-A50E-682D07B85E80}"/>
                </a:ext>
              </a:extLst>
            </p:cNvPr>
            <p:cNvGrpSpPr/>
            <p:nvPr/>
          </p:nvGrpSpPr>
          <p:grpSpPr>
            <a:xfrm>
              <a:off x="6705513" y="2849420"/>
              <a:ext cx="1162224" cy="1160746"/>
              <a:chOff x="6705513" y="2849420"/>
              <a:chExt cx="1162224" cy="1160746"/>
            </a:xfrm>
          </p:grpSpPr>
          <p:sp>
            <p:nvSpPr>
              <p:cNvPr id="53" name="Freeform 9">
                <a:extLst>
                  <a:ext uri="{FF2B5EF4-FFF2-40B4-BE49-F238E27FC236}">
                    <a16:creationId xmlns:a16="http://schemas.microsoft.com/office/drawing/2014/main" id="{F082AE6A-C92B-4977-9BC1-F3902D9B8C4E}"/>
                  </a:ext>
                </a:extLst>
              </p:cNvPr>
              <p:cNvSpPr>
                <a:spLocks/>
              </p:cNvSpPr>
              <p:nvPr/>
            </p:nvSpPr>
            <p:spPr bwMode="auto">
              <a:xfrm>
                <a:off x="6705513" y="2852632"/>
                <a:ext cx="1159037" cy="1157513"/>
              </a:xfrm>
              <a:custGeom>
                <a:avLst/>
                <a:gdLst>
                  <a:gd name="connsiteX0" fmla="*/ 210432 w 1159037"/>
                  <a:gd name="connsiteY0" fmla="*/ 1043093 h 1157513"/>
                  <a:gd name="connsiteX1" fmla="*/ 225514 w 1159037"/>
                  <a:gd name="connsiteY1" fmla="*/ 1058175 h 1157513"/>
                  <a:gd name="connsiteX2" fmla="*/ 210432 w 1159037"/>
                  <a:gd name="connsiteY2" fmla="*/ 1073257 h 1157513"/>
                  <a:gd name="connsiteX3" fmla="*/ 195350 w 1159037"/>
                  <a:gd name="connsiteY3" fmla="*/ 1058175 h 1157513"/>
                  <a:gd name="connsiteX4" fmla="*/ 210432 w 1159037"/>
                  <a:gd name="connsiteY4" fmla="*/ 1043093 h 1157513"/>
                  <a:gd name="connsiteX5" fmla="*/ 153607 w 1159037"/>
                  <a:gd name="connsiteY5" fmla="*/ 817668 h 1157513"/>
                  <a:gd name="connsiteX6" fmla="*/ 268843 w 1159037"/>
                  <a:gd name="connsiteY6" fmla="*/ 817668 h 1157513"/>
                  <a:gd name="connsiteX7" fmla="*/ 273137 w 1159037"/>
                  <a:gd name="connsiteY7" fmla="*/ 822659 h 1157513"/>
                  <a:gd name="connsiteX8" fmla="*/ 273137 w 1159037"/>
                  <a:gd name="connsiteY8" fmla="*/ 1016590 h 1157513"/>
                  <a:gd name="connsiteX9" fmla="*/ 268843 w 1159037"/>
                  <a:gd name="connsiteY9" fmla="*/ 1020868 h 1157513"/>
                  <a:gd name="connsiteX10" fmla="*/ 153607 w 1159037"/>
                  <a:gd name="connsiteY10" fmla="*/ 1020868 h 1157513"/>
                  <a:gd name="connsiteX11" fmla="*/ 149312 w 1159037"/>
                  <a:gd name="connsiteY11" fmla="*/ 1016590 h 1157513"/>
                  <a:gd name="connsiteX12" fmla="*/ 149312 w 1159037"/>
                  <a:gd name="connsiteY12" fmla="*/ 822659 h 1157513"/>
                  <a:gd name="connsiteX13" fmla="*/ 153607 w 1159037"/>
                  <a:gd name="connsiteY13" fmla="*/ 817668 h 1157513"/>
                  <a:gd name="connsiteX14" fmla="*/ 139397 w 1159037"/>
                  <a:gd name="connsiteY14" fmla="*/ 797031 h 1157513"/>
                  <a:gd name="connsiteX15" fmla="*/ 128676 w 1159037"/>
                  <a:gd name="connsiteY15" fmla="*/ 807710 h 1157513"/>
                  <a:gd name="connsiteX16" fmla="*/ 128676 w 1159037"/>
                  <a:gd name="connsiteY16" fmla="*/ 1083216 h 1157513"/>
                  <a:gd name="connsiteX17" fmla="*/ 139397 w 1159037"/>
                  <a:gd name="connsiteY17" fmla="*/ 1093894 h 1157513"/>
                  <a:gd name="connsiteX18" fmla="*/ 283055 w 1159037"/>
                  <a:gd name="connsiteY18" fmla="*/ 1093894 h 1157513"/>
                  <a:gd name="connsiteX19" fmla="*/ 293776 w 1159037"/>
                  <a:gd name="connsiteY19" fmla="*/ 1083216 h 1157513"/>
                  <a:gd name="connsiteX20" fmla="*/ 293776 w 1159037"/>
                  <a:gd name="connsiteY20" fmla="*/ 807710 h 1157513"/>
                  <a:gd name="connsiteX21" fmla="*/ 283055 w 1159037"/>
                  <a:gd name="connsiteY21" fmla="*/ 797031 h 1157513"/>
                  <a:gd name="connsiteX22" fmla="*/ 139397 w 1159037"/>
                  <a:gd name="connsiteY22" fmla="*/ 797031 h 1157513"/>
                  <a:gd name="connsiteX23" fmla="*/ 508450 w 1159037"/>
                  <a:gd name="connsiteY23" fmla="*/ 634945 h 1157513"/>
                  <a:gd name="connsiteX24" fmla="*/ 519797 w 1159037"/>
                  <a:gd name="connsiteY24" fmla="*/ 639227 h 1157513"/>
                  <a:gd name="connsiteX25" fmla="*/ 581265 w 1159037"/>
                  <a:gd name="connsiteY25" fmla="*/ 664919 h 1157513"/>
                  <a:gd name="connsiteX26" fmla="*/ 596989 w 1159037"/>
                  <a:gd name="connsiteY26" fmla="*/ 680619 h 1157513"/>
                  <a:gd name="connsiteX27" fmla="*/ 581265 w 1159037"/>
                  <a:gd name="connsiteY27" fmla="*/ 696319 h 1157513"/>
                  <a:gd name="connsiteX28" fmla="*/ 509076 w 1159037"/>
                  <a:gd name="connsiteY28" fmla="*/ 672055 h 1157513"/>
                  <a:gd name="connsiteX29" fmla="*/ 371130 w 1159037"/>
                  <a:gd name="connsiteY29" fmla="*/ 809789 h 1157513"/>
                  <a:gd name="connsiteX30" fmla="*/ 360409 w 1159037"/>
                  <a:gd name="connsiteY30" fmla="*/ 1095962 h 1157513"/>
                  <a:gd name="connsiteX31" fmla="*/ 61647 w 1159037"/>
                  <a:gd name="connsiteY31" fmla="*/ 1095962 h 1157513"/>
                  <a:gd name="connsiteX32" fmla="*/ 61647 w 1159037"/>
                  <a:gd name="connsiteY32" fmla="*/ 797657 h 1157513"/>
                  <a:gd name="connsiteX33" fmla="*/ 348973 w 1159037"/>
                  <a:gd name="connsiteY33" fmla="*/ 787666 h 1157513"/>
                  <a:gd name="connsiteX34" fmla="*/ 497640 w 1159037"/>
                  <a:gd name="connsiteY34" fmla="*/ 639227 h 1157513"/>
                  <a:gd name="connsiteX35" fmla="*/ 508450 w 1159037"/>
                  <a:gd name="connsiteY35" fmla="*/ 634945 h 1157513"/>
                  <a:gd name="connsiteX36" fmla="*/ 581112 w 1159037"/>
                  <a:gd name="connsiteY36" fmla="*/ 530331 h 1157513"/>
                  <a:gd name="connsiteX37" fmla="*/ 628737 w 1159037"/>
                  <a:gd name="connsiteY37" fmla="*/ 577163 h 1157513"/>
                  <a:gd name="connsiteX38" fmla="*/ 581112 w 1159037"/>
                  <a:gd name="connsiteY38" fmla="*/ 623995 h 1157513"/>
                  <a:gd name="connsiteX39" fmla="*/ 533487 w 1159037"/>
                  <a:gd name="connsiteY39" fmla="*/ 577163 h 1157513"/>
                  <a:gd name="connsiteX40" fmla="*/ 581112 w 1159037"/>
                  <a:gd name="connsiteY40" fmla="*/ 530331 h 1157513"/>
                  <a:gd name="connsiteX41" fmla="*/ 947825 w 1159037"/>
                  <a:gd name="connsiteY41" fmla="*/ 189018 h 1157513"/>
                  <a:gd name="connsiteX42" fmla="*/ 927187 w 1159037"/>
                  <a:gd name="connsiteY42" fmla="*/ 209656 h 1157513"/>
                  <a:gd name="connsiteX43" fmla="*/ 947825 w 1159037"/>
                  <a:gd name="connsiteY43" fmla="*/ 230294 h 1157513"/>
                  <a:gd name="connsiteX44" fmla="*/ 968463 w 1159037"/>
                  <a:gd name="connsiteY44" fmla="*/ 209656 h 1157513"/>
                  <a:gd name="connsiteX45" fmla="*/ 947825 w 1159037"/>
                  <a:gd name="connsiteY45" fmla="*/ 189018 h 1157513"/>
                  <a:gd name="connsiteX46" fmla="*/ 992489 w 1159037"/>
                  <a:gd name="connsiteY46" fmla="*/ 157102 h 1157513"/>
                  <a:gd name="connsiteX47" fmla="*/ 981848 w 1159037"/>
                  <a:gd name="connsiteY47" fmla="*/ 161363 h 1157513"/>
                  <a:gd name="connsiteX48" fmla="*/ 981144 w 1159037"/>
                  <a:gd name="connsiteY48" fmla="*/ 183379 h 1157513"/>
                  <a:gd name="connsiteX49" fmla="*/ 980441 w 1159037"/>
                  <a:gd name="connsiteY49" fmla="*/ 238064 h 1157513"/>
                  <a:gd name="connsiteX50" fmla="*/ 982551 w 1159037"/>
                  <a:gd name="connsiteY50" fmla="*/ 260080 h 1157513"/>
                  <a:gd name="connsiteX51" fmla="*/ 992401 w 1159037"/>
                  <a:gd name="connsiteY51" fmla="*/ 263631 h 1157513"/>
                  <a:gd name="connsiteX52" fmla="*/ 1004362 w 1159037"/>
                  <a:gd name="connsiteY52" fmla="*/ 257239 h 1157513"/>
                  <a:gd name="connsiteX53" fmla="*/ 1003658 w 1159037"/>
                  <a:gd name="connsiteY53" fmla="*/ 161363 h 1157513"/>
                  <a:gd name="connsiteX54" fmla="*/ 992489 w 1159037"/>
                  <a:gd name="connsiteY54" fmla="*/ 157102 h 1157513"/>
                  <a:gd name="connsiteX55" fmla="*/ 903337 w 1159037"/>
                  <a:gd name="connsiteY55" fmla="*/ 157102 h 1157513"/>
                  <a:gd name="connsiteX56" fmla="*/ 892696 w 1159037"/>
                  <a:gd name="connsiteY56" fmla="*/ 161363 h 1157513"/>
                  <a:gd name="connsiteX57" fmla="*/ 891289 w 1159037"/>
                  <a:gd name="connsiteY57" fmla="*/ 257239 h 1157513"/>
                  <a:gd name="connsiteX58" fmla="*/ 903249 w 1159037"/>
                  <a:gd name="connsiteY58" fmla="*/ 263631 h 1157513"/>
                  <a:gd name="connsiteX59" fmla="*/ 913099 w 1159037"/>
                  <a:gd name="connsiteY59" fmla="*/ 260080 h 1157513"/>
                  <a:gd name="connsiteX60" fmla="*/ 915913 w 1159037"/>
                  <a:gd name="connsiteY60" fmla="*/ 238064 h 1157513"/>
                  <a:gd name="connsiteX61" fmla="*/ 914506 w 1159037"/>
                  <a:gd name="connsiteY61" fmla="*/ 183379 h 1157513"/>
                  <a:gd name="connsiteX62" fmla="*/ 914506 w 1159037"/>
                  <a:gd name="connsiteY62" fmla="*/ 161363 h 1157513"/>
                  <a:gd name="connsiteX63" fmla="*/ 903337 w 1159037"/>
                  <a:gd name="connsiteY63" fmla="*/ 157102 h 1157513"/>
                  <a:gd name="connsiteX64" fmla="*/ 1028876 w 1159037"/>
                  <a:gd name="connsiteY64" fmla="*/ 125443 h 1157513"/>
                  <a:gd name="connsiteX65" fmla="*/ 1017675 w 1159037"/>
                  <a:gd name="connsiteY65" fmla="*/ 129622 h 1157513"/>
                  <a:gd name="connsiteX66" fmla="*/ 1017675 w 1159037"/>
                  <a:gd name="connsiteY66" fmla="*/ 152388 h 1157513"/>
                  <a:gd name="connsiteX67" fmla="*/ 1016264 w 1159037"/>
                  <a:gd name="connsiteY67" fmla="*/ 270482 h 1157513"/>
                  <a:gd name="connsiteX68" fmla="*/ 1019086 w 1159037"/>
                  <a:gd name="connsiteY68" fmla="*/ 292535 h 1157513"/>
                  <a:gd name="connsiteX69" fmla="*/ 1028964 w 1159037"/>
                  <a:gd name="connsiteY69" fmla="*/ 295381 h 1157513"/>
                  <a:gd name="connsiteX70" fmla="*/ 1040959 w 1159037"/>
                  <a:gd name="connsiteY70" fmla="*/ 289690 h 1157513"/>
                  <a:gd name="connsiteX71" fmla="*/ 1039547 w 1159037"/>
                  <a:gd name="connsiteY71" fmla="*/ 130334 h 1157513"/>
                  <a:gd name="connsiteX72" fmla="*/ 1028876 w 1159037"/>
                  <a:gd name="connsiteY72" fmla="*/ 125443 h 1157513"/>
                  <a:gd name="connsiteX73" fmla="*/ 867306 w 1159037"/>
                  <a:gd name="connsiteY73" fmla="*/ 125443 h 1157513"/>
                  <a:gd name="connsiteX74" fmla="*/ 856429 w 1159037"/>
                  <a:gd name="connsiteY74" fmla="*/ 130334 h 1157513"/>
                  <a:gd name="connsiteX75" fmla="*/ 854991 w 1159037"/>
                  <a:gd name="connsiteY75" fmla="*/ 289690 h 1157513"/>
                  <a:gd name="connsiteX76" fmla="*/ 867935 w 1159037"/>
                  <a:gd name="connsiteY76" fmla="*/ 295381 h 1157513"/>
                  <a:gd name="connsiteX77" fmla="*/ 877284 w 1159037"/>
                  <a:gd name="connsiteY77" fmla="*/ 292535 h 1157513"/>
                  <a:gd name="connsiteX78" fmla="*/ 880160 w 1159037"/>
                  <a:gd name="connsiteY78" fmla="*/ 270482 h 1157513"/>
                  <a:gd name="connsiteX79" fmla="*/ 879441 w 1159037"/>
                  <a:gd name="connsiteY79" fmla="*/ 152388 h 1157513"/>
                  <a:gd name="connsiteX80" fmla="*/ 878722 w 1159037"/>
                  <a:gd name="connsiteY80" fmla="*/ 129622 h 1157513"/>
                  <a:gd name="connsiteX81" fmla="*/ 867306 w 1159037"/>
                  <a:gd name="connsiteY81" fmla="*/ 125443 h 1157513"/>
                  <a:gd name="connsiteX82" fmla="*/ 1064232 w 1159037"/>
                  <a:gd name="connsiteY82" fmla="*/ 92202 h 1157513"/>
                  <a:gd name="connsiteX83" fmla="*/ 1052756 w 1159037"/>
                  <a:gd name="connsiteY83" fmla="*/ 97029 h 1157513"/>
                  <a:gd name="connsiteX84" fmla="*/ 1052756 w 1159037"/>
                  <a:gd name="connsiteY84" fmla="*/ 119197 h 1157513"/>
                  <a:gd name="connsiteX85" fmla="*/ 1082394 w 1159037"/>
                  <a:gd name="connsiteY85" fmla="*/ 172113 h 1157513"/>
                  <a:gd name="connsiteX86" fmla="*/ 1051310 w 1159037"/>
                  <a:gd name="connsiteY86" fmla="*/ 303690 h 1157513"/>
                  <a:gd name="connsiteX87" fmla="*/ 1054202 w 1159037"/>
                  <a:gd name="connsiteY87" fmla="*/ 325858 h 1157513"/>
                  <a:gd name="connsiteX88" fmla="*/ 1064322 w 1159037"/>
                  <a:gd name="connsiteY88" fmla="*/ 328718 h 1157513"/>
                  <a:gd name="connsiteX89" fmla="*/ 1076611 w 1159037"/>
                  <a:gd name="connsiteY89" fmla="*/ 322997 h 1157513"/>
                  <a:gd name="connsiteX90" fmla="*/ 1113478 w 1159037"/>
                  <a:gd name="connsiteY90" fmla="*/ 162817 h 1157513"/>
                  <a:gd name="connsiteX91" fmla="*/ 1075166 w 1159037"/>
                  <a:gd name="connsiteY91" fmla="*/ 97029 h 1157513"/>
                  <a:gd name="connsiteX92" fmla="*/ 1064232 w 1159037"/>
                  <a:gd name="connsiteY92" fmla="*/ 92202 h 1157513"/>
                  <a:gd name="connsiteX93" fmla="*/ 832198 w 1159037"/>
                  <a:gd name="connsiteY93" fmla="*/ 92202 h 1157513"/>
                  <a:gd name="connsiteX94" fmla="*/ 820879 w 1159037"/>
                  <a:gd name="connsiteY94" fmla="*/ 97029 h 1157513"/>
                  <a:gd name="connsiteX95" fmla="*/ 783801 w 1159037"/>
                  <a:gd name="connsiteY95" fmla="*/ 162817 h 1157513"/>
                  <a:gd name="connsiteX96" fmla="*/ 817314 w 1159037"/>
                  <a:gd name="connsiteY96" fmla="*/ 320137 h 1157513"/>
                  <a:gd name="connsiteX97" fmla="*/ 819453 w 1159037"/>
                  <a:gd name="connsiteY97" fmla="*/ 322997 h 1157513"/>
                  <a:gd name="connsiteX98" fmla="*/ 832287 w 1159037"/>
                  <a:gd name="connsiteY98" fmla="*/ 328718 h 1157513"/>
                  <a:gd name="connsiteX99" fmla="*/ 841557 w 1159037"/>
                  <a:gd name="connsiteY99" fmla="*/ 325858 h 1157513"/>
                  <a:gd name="connsiteX100" fmla="*/ 847261 w 1159037"/>
                  <a:gd name="connsiteY100" fmla="*/ 308696 h 1157513"/>
                  <a:gd name="connsiteX101" fmla="*/ 844409 w 1159037"/>
                  <a:gd name="connsiteY101" fmla="*/ 303690 h 1157513"/>
                  <a:gd name="connsiteX102" fmla="*/ 842983 w 1159037"/>
                  <a:gd name="connsiteY102" fmla="*/ 119197 h 1157513"/>
                  <a:gd name="connsiteX103" fmla="*/ 842983 w 1159037"/>
                  <a:gd name="connsiteY103" fmla="*/ 97029 h 1157513"/>
                  <a:gd name="connsiteX104" fmla="*/ 832198 w 1159037"/>
                  <a:gd name="connsiteY104" fmla="*/ 92202 h 1157513"/>
                  <a:gd name="connsiteX105" fmla="*/ 948141 w 1159037"/>
                  <a:gd name="connsiteY105" fmla="*/ 0 h 1157513"/>
                  <a:gd name="connsiteX106" fmla="*/ 1097351 w 1159037"/>
                  <a:gd name="connsiteY106" fmla="*/ 61597 h 1157513"/>
                  <a:gd name="connsiteX107" fmla="*/ 1097351 w 1159037"/>
                  <a:gd name="connsiteY107" fmla="*/ 360119 h 1157513"/>
                  <a:gd name="connsiteX108" fmla="*/ 810553 w 1159037"/>
                  <a:gd name="connsiteY108" fmla="*/ 370831 h 1157513"/>
                  <a:gd name="connsiteX109" fmla="*/ 664651 w 1159037"/>
                  <a:gd name="connsiteY109" fmla="*/ 516521 h 1157513"/>
                  <a:gd name="connsiteX110" fmla="*/ 653923 w 1159037"/>
                  <a:gd name="connsiteY110" fmla="*/ 520806 h 1157513"/>
                  <a:gd name="connsiteX111" fmla="*/ 642480 w 1159037"/>
                  <a:gd name="connsiteY111" fmla="*/ 516521 h 1157513"/>
                  <a:gd name="connsiteX112" fmla="*/ 580972 w 1159037"/>
                  <a:gd name="connsiteY112" fmla="*/ 490811 h 1157513"/>
                  <a:gd name="connsiteX113" fmla="*/ 565237 w 1159037"/>
                  <a:gd name="connsiteY113" fmla="*/ 475100 h 1157513"/>
                  <a:gd name="connsiteX114" fmla="*/ 580972 w 1159037"/>
                  <a:gd name="connsiteY114" fmla="*/ 459388 h 1157513"/>
                  <a:gd name="connsiteX115" fmla="*/ 653208 w 1159037"/>
                  <a:gd name="connsiteY115" fmla="*/ 483669 h 1157513"/>
                  <a:gd name="connsiteX116" fmla="*/ 788382 w 1159037"/>
                  <a:gd name="connsiteY116" fmla="*/ 348692 h 1157513"/>
                  <a:gd name="connsiteX117" fmla="*/ 798395 w 1159037"/>
                  <a:gd name="connsiteY117" fmla="*/ 61597 h 1157513"/>
                  <a:gd name="connsiteX118" fmla="*/ 948141 w 1159037"/>
                  <a:gd name="connsiteY118" fmla="*/ 0 h 1157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1159037" h="1157513">
                    <a:moveTo>
                      <a:pt x="210432" y="1043093"/>
                    </a:moveTo>
                    <a:cubicBezTo>
                      <a:pt x="218762" y="1043093"/>
                      <a:pt x="225514" y="1049845"/>
                      <a:pt x="225514" y="1058175"/>
                    </a:cubicBezTo>
                    <a:cubicBezTo>
                      <a:pt x="225514" y="1066505"/>
                      <a:pt x="218762" y="1073257"/>
                      <a:pt x="210432" y="1073257"/>
                    </a:cubicBezTo>
                    <a:cubicBezTo>
                      <a:pt x="202102" y="1073257"/>
                      <a:pt x="195350" y="1066505"/>
                      <a:pt x="195350" y="1058175"/>
                    </a:cubicBezTo>
                    <a:cubicBezTo>
                      <a:pt x="195350" y="1049845"/>
                      <a:pt x="202102" y="1043093"/>
                      <a:pt x="210432" y="1043093"/>
                    </a:cubicBezTo>
                    <a:close/>
                    <a:moveTo>
                      <a:pt x="153607" y="817668"/>
                    </a:moveTo>
                    <a:cubicBezTo>
                      <a:pt x="153607" y="817668"/>
                      <a:pt x="153607" y="817668"/>
                      <a:pt x="268843" y="817668"/>
                    </a:cubicBezTo>
                    <a:cubicBezTo>
                      <a:pt x="270990" y="817668"/>
                      <a:pt x="273137" y="819807"/>
                      <a:pt x="273137" y="822659"/>
                    </a:cubicBezTo>
                    <a:cubicBezTo>
                      <a:pt x="273137" y="822659"/>
                      <a:pt x="273137" y="822659"/>
                      <a:pt x="273137" y="1016590"/>
                    </a:cubicBezTo>
                    <a:cubicBezTo>
                      <a:pt x="273137" y="1018729"/>
                      <a:pt x="270990" y="1020868"/>
                      <a:pt x="268843" y="1020868"/>
                    </a:cubicBezTo>
                    <a:cubicBezTo>
                      <a:pt x="268843" y="1020868"/>
                      <a:pt x="268843" y="1020868"/>
                      <a:pt x="153607" y="1020868"/>
                    </a:cubicBezTo>
                    <a:cubicBezTo>
                      <a:pt x="151460" y="1020868"/>
                      <a:pt x="149312" y="1018729"/>
                      <a:pt x="149312" y="1016590"/>
                    </a:cubicBezTo>
                    <a:cubicBezTo>
                      <a:pt x="149312" y="1016590"/>
                      <a:pt x="149312" y="1016590"/>
                      <a:pt x="149312" y="822659"/>
                    </a:cubicBezTo>
                    <a:cubicBezTo>
                      <a:pt x="149312" y="819807"/>
                      <a:pt x="151460" y="817668"/>
                      <a:pt x="153607" y="817668"/>
                    </a:cubicBezTo>
                    <a:close/>
                    <a:moveTo>
                      <a:pt x="139397" y="797031"/>
                    </a:moveTo>
                    <a:cubicBezTo>
                      <a:pt x="133679" y="797031"/>
                      <a:pt x="128676" y="802014"/>
                      <a:pt x="128676" y="807710"/>
                    </a:cubicBezTo>
                    <a:cubicBezTo>
                      <a:pt x="128676" y="807710"/>
                      <a:pt x="128676" y="807710"/>
                      <a:pt x="128676" y="1083216"/>
                    </a:cubicBezTo>
                    <a:cubicBezTo>
                      <a:pt x="128676" y="1089623"/>
                      <a:pt x="133679" y="1093894"/>
                      <a:pt x="139397" y="1093894"/>
                    </a:cubicBezTo>
                    <a:cubicBezTo>
                      <a:pt x="139397" y="1093894"/>
                      <a:pt x="139397" y="1093894"/>
                      <a:pt x="283055" y="1093894"/>
                    </a:cubicBezTo>
                    <a:cubicBezTo>
                      <a:pt x="288773" y="1093894"/>
                      <a:pt x="293776" y="1089623"/>
                      <a:pt x="293776" y="1083216"/>
                    </a:cubicBezTo>
                    <a:lnTo>
                      <a:pt x="293776" y="807710"/>
                    </a:lnTo>
                    <a:cubicBezTo>
                      <a:pt x="293776" y="802014"/>
                      <a:pt x="288773" y="797031"/>
                      <a:pt x="283055" y="797031"/>
                    </a:cubicBezTo>
                    <a:cubicBezTo>
                      <a:pt x="283055" y="797031"/>
                      <a:pt x="283055" y="797031"/>
                      <a:pt x="139397" y="797031"/>
                    </a:cubicBezTo>
                    <a:close/>
                    <a:moveTo>
                      <a:pt x="508450" y="634945"/>
                    </a:moveTo>
                    <a:cubicBezTo>
                      <a:pt x="512471" y="634945"/>
                      <a:pt x="516581" y="636373"/>
                      <a:pt x="519797" y="639227"/>
                    </a:cubicBezTo>
                    <a:cubicBezTo>
                      <a:pt x="536236" y="655641"/>
                      <a:pt x="557678" y="664919"/>
                      <a:pt x="581265" y="664919"/>
                    </a:cubicBezTo>
                    <a:cubicBezTo>
                      <a:pt x="589842" y="664919"/>
                      <a:pt x="596989" y="672055"/>
                      <a:pt x="596989" y="680619"/>
                    </a:cubicBezTo>
                    <a:cubicBezTo>
                      <a:pt x="596989" y="689183"/>
                      <a:pt x="589842" y="696319"/>
                      <a:pt x="581265" y="696319"/>
                    </a:cubicBezTo>
                    <a:cubicBezTo>
                      <a:pt x="554819" y="696319"/>
                      <a:pt x="529803" y="687755"/>
                      <a:pt x="509076" y="672055"/>
                    </a:cubicBezTo>
                    <a:cubicBezTo>
                      <a:pt x="509076" y="672055"/>
                      <a:pt x="509076" y="672055"/>
                      <a:pt x="371130" y="809789"/>
                    </a:cubicBezTo>
                    <a:cubicBezTo>
                      <a:pt x="442605" y="892572"/>
                      <a:pt x="439031" y="1017460"/>
                      <a:pt x="360409" y="1095962"/>
                    </a:cubicBezTo>
                    <a:cubicBezTo>
                      <a:pt x="278214" y="1178031"/>
                      <a:pt x="144557" y="1178031"/>
                      <a:pt x="61647" y="1095962"/>
                    </a:cubicBezTo>
                    <a:cubicBezTo>
                      <a:pt x="-20549" y="1013892"/>
                      <a:pt x="-20549" y="880440"/>
                      <a:pt x="61647" y="797657"/>
                    </a:cubicBezTo>
                    <a:cubicBezTo>
                      <a:pt x="140268" y="719156"/>
                      <a:pt x="266063" y="715588"/>
                      <a:pt x="348973" y="787666"/>
                    </a:cubicBezTo>
                    <a:cubicBezTo>
                      <a:pt x="348973" y="787666"/>
                      <a:pt x="348973" y="787666"/>
                      <a:pt x="497640" y="639227"/>
                    </a:cubicBezTo>
                    <a:cubicBezTo>
                      <a:pt x="500499" y="636373"/>
                      <a:pt x="504430" y="634945"/>
                      <a:pt x="508450" y="634945"/>
                    </a:cubicBezTo>
                    <a:close/>
                    <a:moveTo>
                      <a:pt x="581112" y="530331"/>
                    </a:moveTo>
                    <a:cubicBezTo>
                      <a:pt x="607415" y="530331"/>
                      <a:pt x="628737" y="551298"/>
                      <a:pt x="628737" y="577163"/>
                    </a:cubicBezTo>
                    <a:cubicBezTo>
                      <a:pt x="628737" y="603028"/>
                      <a:pt x="607415" y="623995"/>
                      <a:pt x="581112" y="623995"/>
                    </a:cubicBezTo>
                    <a:cubicBezTo>
                      <a:pt x="554809" y="623995"/>
                      <a:pt x="533487" y="603028"/>
                      <a:pt x="533487" y="577163"/>
                    </a:cubicBezTo>
                    <a:cubicBezTo>
                      <a:pt x="533487" y="551298"/>
                      <a:pt x="554809" y="530331"/>
                      <a:pt x="581112" y="530331"/>
                    </a:cubicBezTo>
                    <a:close/>
                    <a:moveTo>
                      <a:pt x="947825" y="189018"/>
                    </a:moveTo>
                    <a:cubicBezTo>
                      <a:pt x="936427" y="189018"/>
                      <a:pt x="927187" y="198258"/>
                      <a:pt x="927187" y="209656"/>
                    </a:cubicBezTo>
                    <a:cubicBezTo>
                      <a:pt x="927187" y="221054"/>
                      <a:pt x="936427" y="230294"/>
                      <a:pt x="947825" y="230294"/>
                    </a:cubicBezTo>
                    <a:cubicBezTo>
                      <a:pt x="959223" y="230294"/>
                      <a:pt x="968463" y="221054"/>
                      <a:pt x="968463" y="209656"/>
                    </a:cubicBezTo>
                    <a:cubicBezTo>
                      <a:pt x="968463" y="198258"/>
                      <a:pt x="959223" y="189018"/>
                      <a:pt x="947825" y="189018"/>
                    </a:cubicBezTo>
                    <a:close/>
                    <a:moveTo>
                      <a:pt x="992489" y="157102"/>
                    </a:moveTo>
                    <a:cubicBezTo>
                      <a:pt x="988532" y="157102"/>
                      <a:pt x="984662" y="158522"/>
                      <a:pt x="981848" y="161363"/>
                    </a:cubicBezTo>
                    <a:cubicBezTo>
                      <a:pt x="975516" y="167754"/>
                      <a:pt x="975516" y="177697"/>
                      <a:pt x="981144" y="183379"/>
                    </a:cubicBezTo>
                    <a:cubicBezTo>
                      <a:pt x="982551" y="184799"/>
                      <a:pt x="1004362" y="207526"/>
                      <a:pt x="980441" y="238064"/>
                    </a:cubicBezTo>
                    <a:cubicBezTo>
                      <a:pt x="974812" y="245166"/>
                      <a:pt x="976219" y="255109"/>
                      <a:pt x="982551" y="260080"/>
                    </a:cubicBezTo>
                    <a:cubicBezTo>
                      <a:pt x="985366" y="262211"/>
                      <a:pt x="988883" y="263631"/>
                      <a:pt x="992401" y="263631"/>
                    </a:cubicBezTo>
                    <a:cubicBezTo>
                      <a:pt x="997326" y="263631"/>
                      <a:pt x="1001547" y="261501"/>
                      <a:pt x="1004362" y="257239"/>
                    </a:cubicBezTo>
                    <a:cubicBezTo>
                      <a:pt x="1036725" y="216048"/>
                      <a:pt x="1017729" y="176277"/>
                      <a:pt x="1003658" y="161363"/>
                    </a:cubicBezTo>
                    <a:cubicBezTo>
                      <a:pt x="1000492" y="158522"/>
                      <a:pt x="996447" y="157102"/>
                      <a:pt x="992489" y="157102"/>
                    </a:cubicBezTo>
                    <a:close/>
                    <a:moveTo>
                      <a:pt x="903337" y="157102"/>
                    </a:moveTo>
                    <a:cubicBezTo>
                      <a:pt x="899380" y="157102"/>
                      <a:pt x="895510" y="158522"/>
                      <a:pt x="892696" y="161363"/>
                    </a:cubicBezTo>
                    <a:cubicBezTo>
                      <a:pt x="877921" y="176277"/>
                      <a:pt x="858925" y="216048"/>
                      <a:pt x="891289" y="257239"/>
                    </a:cubicBezTo>
                    <a:cubicBezTo>
                      <a:pt x="894103" y="261501"/>
                      <a:pt x="899028" y="263631"/>
                      <a:pt x="903249" y="263631"/>
                    </a:cubicBezTo>
                    <a:cubicBezTo>
                      <a:pt x="906767" y="263631"/>
                      <a:pt x="910285" y="262211"/>
                      <a:pt x="913099" y="260080"/>
                    </a:cubicBezTo>
                    <a:cubicBezTo>
                      <a:pt x="920135" y="255109"/>
                      <a:pt x="920838" y="245166"/>
                      <a:pt x="915913" y="238064"/>
                    </a:cubicBezTo>
                    <a:cubicBezTo>
                      <a:pt x="893400" y="208946"/>
                      <a:pt x="910988" y="187640"/>
                      <a:pt x="914506" y="183379"/>
                    </a:cubicBezTo>
                    <a:cubicBezTo>
                      <a:pt x="920838" y="176987"/>
                      <a:pt x="920135" y="167754"/>
                      <a:pt x="914506" y="161363"/>
                    </a:cubicBezTo>
                    <a:cubicBezTo>
                      <a:pt x="911340" y="158522"/>
                      <a:pt x="907295" y="157102"/>
                      <a:pt x="903337" y="157102"/>
                    </a:cubicBezTo>
                    <a:close/>
                    <a:moveTo>
                      <a:pt x="1028876" y="125443"/>
                    </a:moveTo>
                    <a:cubicBezTo>
                      <a:pt x="1024907" y="125354"/>
                      <a:pt x="1020850" y="126777"/>
                      <a:pt x="1017675" y="129622"/>
                    </a:cubicBezTo>
                    <a:cubicBezTo>
                      <a:pt x="1012031" y="136025"/>
                      <a:pt x="1011325" y="145985"/>
                      <a:pt x="1017675" y="152388"/>
                    </a:cubicBezTo>
                    <a:cubicBezTo>
                      <a:pt x="1019086" y="154522"/>
                      <a:pt x="1065653" y="205032"/>
                      <a:pt x="1016264" y="270482"/>
                    </a:cubicBezTo>
                    <a:cubicBezTo>
                      <a:pt x="1011325" y="276884"/>
                      <a:pt x="1012736" y="286844"/>
                      <a:pt x="1019086" y="292535"/>
                    </a:cubicBezTo>
                    <a:cubicBezTo>
                      <a:pt x="1021909" y="294670"/>
                      <a:pt x="1025436" y="295381"/>
                      <a:pt x="1028964" y="295381"/>
                    </a:cubicBezTo>
                    <a:cubicBezTo>
                      <a:pt x="1033197" y="295381"/>
                      <a:pt x="1038136" y="293247"/>
                      <a:pt x="1040959" y="289690"/>
                    </a:cubicBezTo>
                    <a:cubicBezTo>
                      <a:pt x="1093875" y="219972"/>
                      <a:pt x="1063536" y="155233"/>
                      <a:pt x="1039547" y="130334"/>
                    </a:cubicBezTo>
                    <a:cubicBezTo>
                      <a:pt x="1036725" y="127133"/>
                      <a:pt x="1032845" y="125532"/>
                      <a:pt x="1028876" y="125443"/>
                    </a:cubicBezTo>
                    <a:close/>
                    <a:moveTo>
                      <a:pt x="867306" y="125443"/>
                    </a:moveTo>
                    <a:cubicBezTo>
                      <a:pt x="863261" y="125532"/>
                      <a:pt x="859306" y="127133"/>
                      <a:pt x="856429" y="130334"/>
                    </a:cubicBezTo>
                    <a:cubicBezTo>
                      <a:pt x="832698" y="155233"/>
                      <a:pt x="801775" y="219972"/>
                      <a:pt x="854991" y="289690"/>
                    </a:cubicBezTo>
                    <a:cubicBezTo>
                      <a:pt x="858586" y="293247"/>
                      <a:pt x="862901" y="295381"/>
                      <a:pt x="867935" y="295381"/>
                    </a:cubicBezTo>
                    <a:cubicBezTo>
                      <a:pt x="871531" y="295381"/>
                      <a:pt x="874407" y="294670"/>
                      <a:pt x="877284" y="292535"/>
                    </a:cubicBezTo>
                    <a:cubicBezTo>
                      <a:pt x="884475" y="286844"/>
                      <a:pt x="885913" y="276884"/>
                      <a:pt x="880160" y="270482"/>
                    </a:cubicBezTo>
                    <a:cubicBezTo>
                      <a:pt x="829821" y="205032"/>
                      <a:pt x="877284" y="154522"/>
                      <a:pt x="879441" y="152388"/>
                    </a:cubicBezTo>
                    <a:cubicBezTo>
                      <a:pt x="885194" y="145985"/>
                      <a:pt x="885194" y="136025"/>
                      <a:pt x="878722" y="129622"/>
                    </a:cubicBezTo>
                    <a:cubicBezTo>
                      <a:pt x="875486" y="126777"/>
                      <a:pt x="871351" y="125354"/>
                      <a:pt x="867306" y="125443"/>
                    </a:cubicBezTo>
                    <a:close/>
                    <a:moveTo>
                      <a:pt x="1064232" y="92202"/>
                    </a:moveTo>
                    <a:cubicBezTo>
                      <a:pt x="1060166" y="92202"/>
                      <a:pt x="1056009" y="93811"/>
                      <a:pt x="1052756" y="97029"/>
                    </a:cubicBezTo>
                    <a:cubicBezTo>
                      <a:pt x="1046973" y="102750"/>
                      <a:pt x="1046250" y="112761"/>
                      <a:pt x="1052756" y="119197"/>
                    </a:cubicBezTo>
                    <a:cubicBezTo>
                      <a:pt x="1052756" y="119197"/>
                      <a:pt x="1072997" y="139219"/>
                      <a:pt x="1082394" y="172113"/>
                    </a:cubicBezTo>
                    <a:cubicBezTo>
                      <a:pt x="1096129" y="216449"/>
                      <a:pt x="1085286" y="260069"/>
                      <a:pt x="1051310" y="303690"/>
                    </a:cubicBezTo>
                    <a:cubicBezTo>
                      <a:pt x="1046250" y="310126"/>
                      <a:pt x="1046973" y="320137"/>
                      <a:pt x="1054202" y="325858"/>
                    </a:cubicBezTo>
                    <a:cubicBezTo>
                      <a:pt x="1057094" y="328003"/>
                      <a:pt x="1060708" y="328718"/>
                      <a:pt x="1064322" y="328718"/>
                    </a:cubicBezTo>
                    <a:cubicBezTo>
                      <a:pt x="1068660" y="328718"/>
                      <a:pt x="1073720" y="326573"/>
                      <a:pt x="1076611" y="322997"/>
                    </a:cubicBezTo>
                    <a:cubicBezTo>
                      <a:pt x="1127213" y="258639"/>
                      <a:pt x="1124322" y="200717"/>
                      <a:pt x="1113478" y="162817"/>
                    </a:cubicBezTo>
                    <a:cubicBezTo>
                      <a:pt x="1101189" y="122772"/>
                      <a:pt x="1076611" y="97744"/>
                      <a:pt x="1075166" y="97029"/>
                    </a:cubicBezTo>
                    <a:cubicBezTo>
                      <a:pt x="1072274" y="93811"/>
                      <a:pt x="1068298" y="92202"/>
                      <a:pt x="1064232" y="92202"/>
                    </a:cubicBezTo>
                    <a:close/>
                    <a:moveTo>
                      <a:pt x="832198" y="92202"/>
                    </a:moveTo>
                    <a:cubicBezTo>
                      <a:pt x="828188" y="92202"/>
                      <a:pt x="824088" y="93811"/>
                      <a:pt x="820879" y="97029"/>
                    </a:cubicBezTo>
                    <a:cubicBezTo>
                      <a:pt x="820166" y="97744"/>
                      <a:pt x="795923" y="122772"/>
                      <a:pt x="783801" y="162817"/>
                    </a:cubicBezTo>
                    <a:cubicBezTo>
                      <a:pt x="772393" y="200002"/>
                      <a:pt x="769540" y="256494"/>
                      <a:pt x="817314" y="320137"/>
                    </a:cubicBezTo>
                    <a:cubicBezTo>
                      <a:pt x="818027" y="320852"/>
                      <a:pt x="818740" y="321567"/>
                      <a:pt x="819453" y="322997"/>
                    </a:cubicBezTo>
                    <a:cubicBezTo>
                      <a:pt x="823018" y="326573"/>
                      <a:pt x="827296" y="328718"/>
                      <a:pt x="832287" y="328718"/>
                    </a:cubicBezTo>
                    <a:cubicBezTo>
                      <a:pt x="835853" y="328718"/>
                      <a:pt x="838705" y="328003"/>
                      <a:pt x="841557" y="325858"/>
                    </a:cubicBezTo>
                    <a:cubicBezTo>
                      <a:pt x="847261" y="321567"/>
                      <a:pt x="848687" y="315131"/>
                      <a:pt x="847261" y="308696"/>
                    </a:cubicBezTo>
                    <a:cubicBezTo>
                      <a:pt x="846548" y="307265"/>
                      <a:pt x="845835" y="305120"/>
                      <a:pt x="844409" y="303690"/>
                    </a:cubicBezTo>
                    <a:cubicBezTo>
                      <a:pt x="765262" y="202147"/>
                      <a:pt x="840131" y="122057"/>
                      <a:pt x="842983" y="119197"/>
                    </a:cubicBezTo>
                    <a:cubicBezTo>
                      <a:pt x="849400" y="112761"/>
                      <a:pt x="849400" y="102750"/>
                      <a:pt x="842983" y="97029"/>
                    </a:cubicBezTo>
                    <a:cubicBezTo>
                      <a:pt x="840131" y="93811"/>
                      <a:pt x="836209" y="92202"/>
                      <a:pt x="832198" y="92202"/>
                    </a:cubicBezTo>
                    <a:close/>
                    <a:moveTo>
                      <a:pt x="948141" y="0"/>
                    </a:moveTo>
                    <a:cubicBezTo>
                      <a:pt x="1002229" y="0"/>
                      <a:pt x="1056227" y="20533"/>
                      <a:pt x="1097351" y="61597"/>
                    </a:cubicBezTo>
                    <a:cubicBezTo>
                      <a:pt x="1179600" y="143726"/>
                      <a:pt x="1179600" y="277275"/>
                      <a:pt x="1097351" y="360119"/>
                    </a:cubicBezTo>
                    <a:cubicBezTo>
                      <a:pt x="1018679" y="438677"/>
                      <a:pt x="893517" y="442248"/>
                      <a:pt x="810553" y="370831"/>
                    </a:cubicBezTo>
                    <a:cubicBezTo>
                      <a:pt x="810553" y="370831"/>
                      <a:pt x="810553" y="370831"/>
                      <a:pt x="664651" y="516521"/>
                    </a:cubicBezTo>
                    <a:cubicBezTo>
                      <a:pt x="661790" y="519378"/>
                      <a:pt x="657499" y="520806"/>
                      <a:pt x="653923" y="520806"/>
                    </a:cubicBezTo>
                    <a:cubicBezTo>
                      <a:pt x="649632" y="520806"/>
                      <a:pt x="646056" y="519378"/>
                      <a:pt x="642480" y="516521"/>
                    </a:cubicBezTo>
                    <a:cubicBezTo>
                      <a:pt x="626030" y="500095"/>
                      <a:pt x="604574" y="490811"/>
                      <a:pt x="580972" y="490811"/>
                    </a:cubicBezTo>
                    <a:cubicBezTo>
                      <a:pt x="572389" y="490811"/>
                      <a:pt x="565237" y="483669"/>
                      <a:pt x="565237" y="475100"/>
                    </a:cubicBezTo>
                    <a:cubicBezTo>
                      <a:pt x="565237" y="466530"/>
                      <a:pt x="572389" y="459388"/>
                      <a:pt x="580972" y="459388"/>
                    </a:cubicBezTo>
                    <a:cubicBezTo>
                      <a:pt x="607434" y="459388"/>
                      <a:pt x="632467" y="467958"/>
                      <a:pt x="653208" y="483669"/>
                    </a:cubicBezTo>
                    <a:cubicBezTo>
                      <a:pt x="653208" y="483669"/>
                      <a:pt x="653208" y="483669"/>
                      <a:pt x="788382" y="348692"/>
                    </a:cubicBezTo>
                    <a:cubicBezTo>
                      <a:pt x="716146" y="265849"/>
                      <a:pt x="719722" y="140156"/>
                      <a:pt x="798395" y="61597"/>
                    </a:cubicBezTo>
                    <a:cubicBezTo>
                      <a:pt x="839877" y="20533"/>
                      <a:pt x="894054" y="0"/>
                      <a:pt x="948141" y="0"/>
                    </a:cubicBezTo>
                    <a:close/>
                  </a:path>
                </a:pathLst>
              </a:custGeom>
              <a:solidFill>
                <a:srgbClr val="29BA74">
                  <a:lumMod val="100000"/>
                </a:srgbClr>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54" name="Freeform 10">
                <a:extLst>
                  <a:ext uri="{FF2B5EF4-FFF2-40B4-BE49-F238E27FC236}">
                    <a16:creationId xmlns:a16="http://schemas.microsoft.com/office/drawing/2014/main" id="{5CD80BC7-C2FC-4894-9FBC-D55DAD82BD7B}"/>
                  </a:ext>
                </a:extLst>
              </p:cNvPr>
              <p:cNvSpPr>
                <a:spLocks/>
              </p:cNvSpPr>
              <p:nvPr/>
            </p:nvSpPr>
            <p:spPr bwMode="auto">
              <a:xfrm>
                <a:off x="6705514" y="2849420"/>
                <a:ext cx="1162223" cy="1160746"/>
              </a:xfrm>
              <a:custGeom>
                <a:avLst/>
                <a:gdLst>
                  <a:gd name="connsiteX0" fmla="*/ 888325 w 1162223"/>
                  <a:gd name="connsiteY0" fmla="*/ 827229 h 1160746"/>
                  <a:gd name="connsiteX1" fmla="*/ 879747 w 1162223"/>
                  <a:gd name="connsiteY1" fmla="*/ 830791 h 1160746"/>
                  <a:gd name="connsiteX2" fmla="*/ 845435 w 1162223"/>
                  <a:gd name="connsiteY2" fmla="*/ 864980 h 1160746"/>
                  <a:gd name="connsiteX3" fmla="*/ 841146 w 1162223"/>
                  <a:gd name="connsiteY3" fmla="*/ 871391 h 1160746"/>
                  <a:gd name="connsiteX4" fmla="*/ 839001 w 1162223"/>
                  <a:gd name="connsiteY4" fmla="*/ 878513 h 1160746"/>
                  <a:gd name="connsiteX5" fmla="*/ 838286 w 1162223"/>
                  <a:gd name="connsiteY5" fmla="*/ 883499 h 1160746"/>
                  <a:gd name="connsiteX6" fmla="*/ 839716 w 1162223"/>
                  <a:gd name="connsiteY6" fmla="*/ 896320 h 1160746"/>
                  <a:gd name="connsiteX7" fmla="*/ 844720 w 1162223"/>
                  <a:gd name="connsiteY7" fmla="*/ 915552 h 1160746"/>
                  <a:gd name="connsiteX8" fmla="*/ 855442 w 1162223"/>
                  <a:gd name="connsiteY8" fmla="*/ 940482 h 1160746"/>
                  <a:gd name="connsiteX9" fmla="*/ 874028 w 1162223"/>
                  <a:gd name="connsiteY9" fmla="*/ 970398 h 1160746"/>
                  <a:gd name="connsiteX10" fmla="*/ 904051 w 1162223"/>
                  <a:gd name="connsiteY10" fmla="*/ 1004587 h 1160746"/>
                  <a:gd name="connsiteX11" fmla="*/ 946942 w 1162223"/>
                  <a:gd name="connsiteY11" fmla="*/ 1040201 h 1160746"/>
                  <a:gd name="connsiteX12" fmla="*/ 983399 w 1162223"/>
                  <a:gd name="connsiteY12" fmla="*/ 1060145 h 1160746"/>
                  <a:gd name="connsiteX13" fmla="*/ 1009848 w 1162223"/>
                  <a:gd name="connsiteY13" fmla="*/ 1068693 h 1160746"/>
                  <a:gd name="connsiteX14" fmla="*/ 1025574 w 1162223"/>
                  <a:gd name="connsiteY14" fmla="*/ 1070117 h 1160746"/>
                  <a:gd name="connsiteX15" fmla="*/ 1029148 w 1162223"/>
                  <a:gd name="connsiteY15" fmla="*/ 1070117 h 1160746"/>
                  <a:gd name="connsiteX16" fmla="*/ 1030578 w 1162223"/>
                  <a:gd name="connsiteY16" fmla="*/ 1070117 h 1160746"/>
                  <a:gd name="connsiteX17" fmla="*/ 1037726 w 1162223"/>
                  <a:gd name="connsiteY17" fmla="*/ 1067268 h 1160746"/>
                  <a:gd name="connsiteX18" fmla="*/ 1044160 w 1162223"/>
                  <a:gd name="connsiteY18" fmla="*/ 1062994 h 1160746"/>
                  <a:gd name="connsiteX19" fmla="*/ 1078472 w 1162223"/>
                  <a:gd name="connsiteY19" fmla="*/ 1029517 h 1160746"/>
                  <a:gd name="connsiteX20" fmla="*/ 1082046 w 1162223"/>
                  <a:gd name="connsiteY20" fmla="*/ 1018833 h 1160746"/>
                  <a:gd name="connsiteX21" fmla="*/ 1075613 w 1162223"/>
                  <a:gd name="connsiteY21" fmla="*/ 1010285 h 1160746"/>
                  <a:gd name="connsiteX22" fmla="*/ 1025574 w 1162223"/>
                  <a:gd name="connsiteY22" fmla="*/ 981082 h 1160746"/>
                  <a:gd name="connsiteX23" fmla="*/ 1018426 w 1162223"/>
                  <a:gd name="connsiteY23" fmla="*/ 979657 h 1160746"/>
                  <a:gd name="connsiteX24" fmla="*/ 1007703 w 1162223"/>
                  <a:gd name="connsiteY24" fmla="*/ 983931 h 1160746"/>
                  <a:gd name="connsiteX25" fmla="*/ 992692 w 1162223"/>
                  <a:gd name="connsiteY25" fmla="*/ 998889 h 1160746"/>
                  <a:gd name="connsiteX26" fmla="*/ 991262 w 1162223"/>
                  <a:gd name="connsiteY26" fmla="*/ 999601 h 1160746"/>
                  <a:gd name="connsiteX27" fmla="*/ 989832 w 1162223"/>
                  <a:gd name="connsiteY27" fmla="*/ 999601 h 1160746"/>
                  <a:gd name="connsiteX28" fmla="*/ 986258 w 1162223"/>
                  <a:gd name="connsiteY28" fmla="*/ 999601 h 1160746"/>
                  <a:gd name="connsiteX29" fmla="*/ 976965 w 1162223"/>
                  <a:gd name="connsiteY29" fmla="*/ 995328 h 1160746"/>
                  <a:gd name="connsiteX30" fmla="*/ 961953 w 1162223"/>
                  <a:gd name="connsiteY30" fmla="*/ 986068 h 1160746"/>
                  <a:gd name="connsiteX31" fmla="*/ 941223 w 1162223"/>
                  <a:gd name="connsiteY31" fmla="*/ 967549 h 1160746"/>
                  <a:gd name="connsiteX32" fmla="*/ 923352 w 1162223"/>
                  <a:gd name="connsiteY32" fmla="*/ 946892 h 1160746"/>
                  <a:gd name="connsiteX33" fmla="*/ 913344 w 1162223"/>
                  <a:gd name="connsiteY33" fmla="*/ 931935 h 1160746"/>
                  <a:gd name="connsiteX34" fmla="*/ 909055 w 1162223"/>
                  <a:gd name="connsiteY34" fmla="*/ 919826 h 1160746"/>
                  <a:gd name="connsiteX35" fmla="*/ 909055 w 1162223"/>
                  <a:gd name="connsiteY35" fmla="*/ 917689 h 1160746"/>
                  <a:gd name="connsiteX36" fmla="*/ 910485 w 1162223"/>
                  <a:gd name="connsiteY36" fmla="*/ 916264 h 1160746"/>
                  <a:gd name="connsiteX37" fmla="*/ 922637 w 1162223"/>
                  <a:gd name="connsiteY37" fmla="*/ 903443 h 1160746"/>
                  <a:gd name="connsiteX38" fmla="*/ 926926 w 1162223"/>
                  <a:gd name="connsiteY38" fmla="*/ 895608 h 1160746"/>
                  <a:gd name="connsiteX39" fmla="*/ 926211 w 1162223"/>
                  <a:gd name="connsiteY39" fmla="*/ 886348 h 1160746"/>
                  <a:gd name="connsiteX40" fmla="*/ 898333 w 1162223"/>
                  <a:gd name="connsiteY40" fmla="*/ 834352 h 1160746"/>
                  <a:gd name="connsiteX41" fmla="*/ 894044 w 1162223"/>
                  <a:gd name="connsiteY41" fmla="*/ 829366 h 1160746"/>
                  <a:gd name="connsiteX42" fmla="*/ 888325 w 1162223"/>
                  <a:gd name="connsiteY42" fmla="*/ 827229 h 1160746"/>
                  <a:gd name="connsiteX43" fmla="*/ 683850 w 1162223"/>
                  <a:gd name="connsiteY43" fmla="*/ 565292 h 1160746"/>
                  <a:gd name="connsiteX44" fmla="*/ 699576 w 1162223"/>
                  <a:gd name="connsiteY44" fmla="*/ 580976 h 1160746"/>
                  <a:gd name="connsiteX45" fmla="*/ 675273 w 1162223"/>
                  <a:gd name="connsiteY45" fmla="*/ 652979 h 1160746"/>
                  <a:gd name="connsiteX46" fmla="*/ 813228 w 1162223"/>
                  <a:gd name="connsiteY46" fmla="*/ 790570 h 1160746"/>
                  <a:gd name="connsiteX47" fmla="*/ 1100573 w 1162223"/>
                  <a:gd name="connsiteY47" fmla="*/ 801264 h 1160746"/>
                  <a:gd name="connsiteX48" fmla="*/ 1100573 w 1162223"/>
                  <a:gd name="connsiteY48" fmla="*/ 1099258 h 1160746"/>
                  <a:gd name="connsiteX49" fmla="*/ 801791 w 1162223"/>
                  <a:gd name="connsiteY49" fmla="*/ 1099258 h 1160746"/>
                  <a:gd name="connsiteX50" fmla="*/ 791069 w 1162223"/>
                  <a:gd name="connsiteY50" fmla="*/ 812670 h 1160746"/>
                  <a:gd name="connsiteX51" fmla="*/ 642393 w 1162223"/>
                  <a:gd name="connsiteY51" fmla="*/ 664386 h 1160746"/>
                  <a:gd name="connsiteX52" fmla="*/ 642393 w 1162223"/>
                  <a:gd name="connsiteY52" fmla="*/ 642286 h 1160746"/>
                  <a:gd name="connsiteX53" fmla="*/ 668125 w 1162223"/>
                  <a:gd name="connsiteY53" fmla="*/ 580976 h 1160746"/>
                  <a:gd name="connsiteX54" fmla="*/ 683850 w 1162223"/>
                  <a:gd name="connsiteY54" fmla="*/ 565292 h 1160746"/>
                  <a:gd name="connsiteX55" fmla="*/ 95011 w 1162223"/>
                  <a:gd name="connsiteY55" fmla="*/ 135079 h 1160746"/>
                  <a:gd name="connsiteX56" fmla="*/ 326562 w 1162223"/>
                  <a:gd name="connsiteY56" fmla="*/ 135079 h 1160746"/>
                  <a:gd name="connsiteX57" fmla="*/ 328699 w 1162223"/>
                  <a:gd name="connsiteY57" fmla="*/ 137966 h 1160746"/>
                  <a:gd name="connsiteX58" fmla="*/ 328699 w 1162223"/>
                  <a:gd name="connsiteY58" fmla="*/ 251977 h 1160746"/>
                  <a:gd name="connsiteX59" fmla="*/ 326562 w 1162223"/>
                  <a:gd name="connsiteY59" fmla="*/ 254142 h 1160746"/>
                  <a:gd name="connsiteX60" fmla="*/ 225392 w 1162223"/>
                  <a:gd name="connsiteY60" fmla="*/ 254142 h 1160746"/>
                  <a:gd name="connsiteX61" fmla="*/ 195469 w 1162223"/>
                  <a:gd name="connsiteY61" fmla="*/ 254142 h 1160746"/>
                  <a:gd name="connsiteX62" fmla="*/ 95011 w 1162223"/>
                  <a:gd name="connsiteY62" fmla="*/ 254142 h 1160746"/>
                  <a:gd name="connsiteX63" fmla="*/ 92161 w 1162223"/>
                  <a:gd name="connsiteY63" fmla="*/ 251977 h 1160746"/>
                  <a:gd name="connsiteX64" fmla="*/ 92161 w 1162223"/>
                  <a:gd name="connsiteY64" fmla="*/ 137966 h 1160746"/>
                  <a:gd name="connsiteX65" fmla="*/ 95011 w 1162223"/>
                  <a:gd name="connsiteY65" fmla="*/ 135079 h 1160746"/>
                  <a:gd name="connsiteX66" fmla="*/ 74941 w 1162223"/>
                  <a:gd name="connsiteY66" fmla="*/ 114442 h 1160746"/>
                  <a:gd name="connsiteX67" fmla="*/ 69936 w 1162223"/>
                  <a:gd name="connsiteY67" fmla="*/ 119418 h 1160746"/>
                  <a:gd name="connsiteX68" fmla="*/ 69936 w 1162223"/>
                  <a:gd name="connsiteY68" fmla="*/ 269401 h 1160746"/>
                  <a:gd name="connsiteX69" fmla="*/ 74941 w 1162223"/>
                  <a:gd name="connsiteY69" fmla="*/ 275088 h 1160746"/>
                  <a:gd name="connsiteX70" fmla="*/ 186478 w 1162223"/>
                  <a:gd name="connsiteY70" fmla="*/ 275088 h 1160746"/>
                  <a:gd name="connsiteX71" fmla="*/ 186478 w 1162223"/>
                  <a:gd name="connsiteY71" fmla="*/ 278642 h 1160746"/>
                  <a:gd name="connsiteX72" fmla="*/ 167174 w 1162223"/>
                  <a:gd name="connsiteY72" fmla="*/ 295701 h 1160746"/>
                  <a:gd name="connsiteX73" fmla="*/ 165744 w 1162223"/>
                  <a:gd name="connsiteY73" fmla="*/ 301388 h 1160746"/>
                  <a:gd name="connsiteX74" fmla="*/ 170749 w 1162223"/>
                  <a:gd name="connsiteY74" fmla="*/ 304942 h 1160746"/>
                  <a:gd name="connsiteX75" fmla="*/ 250112 w 1162223"/>
                  <a:gd name="connsiteY75" fmla="*/ 304942 h 1160746"/>
                  <a:gd name="connsiteX76" fmla="*/ 255117 w 1162223"/>
                  <a:gd name="connsiteY76" fmla="*/ 301388 h 1160746"/>
                  <a:gd name="connsiteX77" fmla="*/ 253687 w 1162223"/>
                  <a:gd name="connsiteY77" fmla="*/ 295701 h 1160746"/>
                  <a:gd name="connsiteX78" fmla="*/ 233667 w 1162223"/>
                  <a:gd name="connsiteY78" fmla="*/ 278642 h 1160746"/>
                  <a:gd name="connsiteX79" fmla="*/ 233667 w 1162223"/>
                  <a:gd name="connsiteY79" fmla="*/ 275088 h 1160746"/>
                  <a:gd name="connsiteX80" fmla="*/ 345204 w 1162223"/>
                  <a:gd name="connsiteY80" fmla="*/ 275088 h 1160746"/>
                  <a:gd name="connsiteX81" fmla="*/ 350924 w 1162223"/>
                  <a:gd name="connsiteY81" fmla="*/ 269401 h 1160746"/>
                  <a:gd name="connsiteX82" fmla="*/ 350924 w 1162223"/>
                  <a:gd name="connsiteY82" fmla="*/ 119418 h 1160746"/>
                  <a:gd name="connsiteX83" fmla="*/ 345204 w 1162223"/>
                  <a:gd name="connsiteY83" fmla="*/ 114442 h 1160746"/>
                  <a:gd name="connsiteX84" fmla="*/ 74941 w 1162223"/>
                  <a:gd name="connsiteY84" fmla="*/ 114442 h 1160746"/>
                  <a:gd name="connsiteX85" fmla="*/ 211309 w 1162223"/>
                  <a:gd name="connsiteY85" fmla="*/ 0 h 1160746"/>
                  <a:gd name="connsiteX86" fmla="*/ 360433 w 1162223"/>
                  <a:gd name="connsiteY86" fmla="*/ 61488 h 1160746"/>
                  <a:gd name="connsiteX87" fmla="*/ 371154 w 1162223"/>
                  <a:gd name="connsiteY87" fmla="*/ 348076 h 1160746"/>
                  <a:gd name="connsiteX88" fmla="*/ 519831 w 1162223"/>
                  <a:gd name="connsiteY88" fmla="*/ 496360 h 1160746"/>
                  <a:gd name="connsiteX89" fmla="*/ 519831 w 1162223"/>
                  <a:gd name="connsiteY89" fmla="*/ 518460 h 1160746"/>
                  <a:gd name="connsiteX90" fmla="*/ 494098 w 1162223"/>
                  <a:gd name="connsiteY90" fmla="*/ 579770 h 1160746"/>
                  <a:gd name="connsiteX91" fmla="*/ 478373 w 1162223"/>
                  <a:gd name="connsiteY91" fmla="*/ 595454 h 1160746"/>
                  <a:gd name="connsiteX92" fmla="*/ 462648 w 1162223"/>
                  <a:gd name="connsiteY92" fmla="*/ 579770 h 1160746"/>
                  <a:gd name="connsiteX93" fmla="*/ 486951 w 1162223"/>
                  <a:gd name="connsiteY93" fmla="*/ 507767 h 1160746"/>
                  <a:gd name="connsiteX94" fmla="*/ 348996 w 1162223"/>
                  <a:gd name="connsiteY94" fmla="*/ 370176 h 1160746"/>
                  <a:gd name="connsiteX95" fmla="*/ 61650 w 1162223"/>
                  <a:gd name="connsiteY95" fmla="*/ 359483 h 1160746"/>
                  <a:gd name="connsiteX96" fmla="*/ 61650 w 1162223"/>
                  <a:gd name="connsiteY96" fmla="*/ 61488 h 1160746"/>
                  <a:gd name="connsiteX97" fmla="*/ 211309 w 1162223"/>
                  <a:gd name="connsiteY97" fmla="*/ 0 h 1160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162223" h="1160746">
                    <a:moveTo>
                      <a:pt x="888325" y="827229"/>
                    </a:moveTo>
                    <a:cubicBezTo>
                      <a:pt x="884751" y="827229"/>
                      <a:pt x="881891" y="828654"/>
                      <a:pt x="879747" y="830791"/>
                    </a:cubicBezTo>
                    <a:cubicBezTo>
                      <a:pt x="879747" y="830791"/>
                      <a:pt x="879747" y="830791"/>
                      <a:pt x="845435" y="864980"/>
                    </a:cubicBezTo>
                    <a:cubicBezTo>
                      <a:pt x="844005" y="866405"/>
                      <a:pt x="842575" y="868541"/>
                      <a:pt x="841146" y="871391"/>
                    </a:cubicBezTo>
                    <a:cubicBezTo>
                      <a:pt x="839716" y="873527"/>
                      <a:pt x="839001" y="876377"/>
                      <a:pt x="839001" y="878513"/>
                    </a:cubicBezTo>
                    <a:cubicBezTo>
                      <a:pt x="839001" y="879226"/>
                      <a:pt x="839001" y="880650"/>
                      <a:pt x="838286" y="883499"/>
                    </a:cubicBezTo>
                    <a:cubicBezTo>
                      <a:pt x="838286" y="887061"/>
                      <a:pt x="839001" y="891334"/>
                      <a:pt x="839716" y="896320"/>
                    </a:cubicBezTo>
                    <a:cubicBezTo>
                      <a:pt x="840431" y="902019"/>
                      <a:pt x="841860" y="908429"/>
                      <a:pt x="844720" y="915552"/>
                    </a:cubicBezTo>
                    <a:cubicBezTo>
                      <a:pt x="846864" y="923387"/>
                      <a:pt x="850439" y="931222"/>
                      <a:pt x="855442" y="940482"/>
                    </a:cubicBezTo>
                    <a:cubicBezTo>
                      <a:pt x="859731" y="949742"/>
                      <a:pt x="866165" y="959713"/>
                      <a:pt x="874028" y="970398"/>
                    </a:cubicBezTo>
                    <a:cubicBezTo>
                      <a:pt x="882606" y="981082"/>
                      <a:pt x="891899" y="992478"/>
                      <a:pt x="904051" y="1004587"/>
                    </a:cubicBezTo>
                    <a:cubicBezTo>
                      <a:pt x="919063" y="1019545"/>
                      <a:pt x="933360" y="1031654"/>
                      <a:pt x="946942" y="1040201"/>
                    </a:cubicBezTo>
                    <a:cubicBezTo>
                      <a:pt x="960524" y="1049461"/>
                      <a:pt x="972676" y="1055872"/>
                      <a:pt x="983399" y="1060145"/>
                    </a:cubicBezTo>
                    <a:cubicBezTo>
                      <a:pt x="993406" y="1064419"/>
                      <a:pt x="1002699" y="1067268"/>
                      <a:pt x="1009848" y="1068693"/>
                    </a:cubicBezTo>
                    <a:cubicBezTo>
                      <a:pt x="1016996" y="1069405"/>
                      <a:pt x="1022715" y="1070117"/>
                      <a:pt x="1025574" y="1070117"/>
                    </a:cubicBezTo>
                    <a:cubicBezTo>
                      <a:pt x="1027004" y="1070117"/>
                      <a:pt x="1028433" y="1070117"/>
                      <a:pt x="1029148" y="1070117"/>
                    </a:cubicBezTo>
                    <a:cubicBezTo>
                      <a:pt x="1029863" y="1070117"/>
                      <a:pt x="1030578" y="1070117"/>
                      <a:pt x="1030578" y="1070117"/>
                    </a:cubicBezTo>
                    <a:cubicBezTo>
                      <a:pt x="1033437" y="1069405"/>
                      <a:pt x="1035582" y="1068693"/>
                      <a:pt x="1037726" y="1067268"/>
                    </a:cubicBezTo>
                    <a:cubicBezTo>
                      <a:pt x="1040586" y="1066556"/>
                      <a:pt x="1042730" y="1065131"/>
                      <a:pt x="1044160" y="1062994"/>
                    </a:cubicBezTo>
                    <a:cubicBezTo>
                      <a:pt x="1044160" y="1062994"/>
                      <a:pt x="1044160" y="1062994"/>
                      <a:pt x="1078472" y="1029517"/>
                    </a:cubicBezTo>
                    <a:cubicBezTo>
                      <a:pt x="1081332" y="1026668"/>
                      <a:pt x="1082761" y="1023107"/>
                      <a:pt x="1082046" y="1018833"/>
                    </a:cubicBezTo>
                    <a:cubicBezTo>
                      <a:pt x="1081332" y="1015271"/>
                      <a:pt x="1079187" y="1012422"/>
                      <a:pt x="1075613" y="1010285"/>
                    </a:cubicBezTo>
                    <a:cubicBezTo>
                      <a:pt x="1075613" y="1010285"/>
                      <a:pt x="1075613" y="1010285"/>
                      <a:pt x="1025574" y="981082"/>
                    </a:cubicBezTo>
                    <a:cubicBezTo>
                      <a:pt x="1024144" y="980370"/>
                      <a:pt x="1021285" y="979657"/>
                      <a:pt x="1018426" y="979657"/>
                    </a:cubicBezTo>
                    <a:cubicBezTo>
                      <a:pt x="1014137" y="979657"/>
                      <a:pt x="1010562" y="981082"/>
                      <a:pt x="1007703" y="983931"/>
                    </a:cubicBezTo>
                    <a:cubicBezTo>
                      <a:pt x="1007703" y="983931"/>
                      <a:pt x="1007703" y="983931"/>
                      <a:pt x="992692" y="998889"/>
                    </a:cubicBezTo>
                    <a:cubicBezTo>
                      <a:pt x="992692" y="998889"/>
                      <a:pt x="991977" y="999601"/>
                      <a:pt x="991262" y="999601"/>
                    </a:cubicBezTo>
                    <a:cubicBezTo>
                      <a:pt x="990547" y="999601"/>
                      <a:pt x="989832" y="999601"/>
                      <a:pt x="989832" y="999601"/>
                    </a:cubicBezTo>
                    <a:cubicBezTo>
                      <a:pt x="989832" y="999601"/>
                      <a:pt x="989832" y="999601"/>
                      <a:pt x="986258" y="999601"/>
                    </a:cubicBezTo>
                    <a:cubicBezTo>
                      <a:pt x="984113" y="998889"/>
                      <a:pt x="981254" y="997464"/>
                      <a:pt x="976965" y="995328"/>
                    </a:cubicBezTo>
                    <a:cubicBezTo>
                      <a:pt x="973391" y="993191"/>
                      <a:pt x="968387" y="990342"/>
                      <a:pt x="961953" y="986068"/>
                    </a:cubicBezTo>
                    <a:cubicBezTo>
                      <a:pt x="956235" y="981794"/>
                      <a:pt x="949086" y="975384"/>
                      <a:pt x="941223" y="967549"/>
                    </a:cubicBezTo>
                    <a:cubicBezTo>
                      <a:pt x="933360" y="959713"/>
                      <a:pt x="927641" y="953303"/>
                      <a:pt x="923352" y="946892"/>
                    </a:cubicBezTo>
                    <a:cubicBezTo>
                      <a:pt x="919063" y="941194"/>
                      <a:pt x="915489" y="936208"/>
                      <a:pt x="913344" y="931935"/>
                    </a:cubicBezTo>
                    <a:cubicBezTo>
                      <a:pt x="911200" y="927661"/>
                      <a:pt x="909770" y="923387"/>
                      <a:pt x="909055" y="919826"/>
                    </a:cubicBezTo>
                    <a:cubicBezTo>
                      <a:pt x="909055" y="919113"/>
                      <a:pt x="909055" y="918401"/>
                      <a:pt x="909055" y="917689"/>
                    </a:cubicBezTo>
                    <a:cubicBezTo>
                      <a:pt x="909770" y="916977"/>
                      <a:pt x="909770" y="916264"/>
                      <a:pt x="910485" y="916264"/>
                    </a:cubicBezTo>
                    <a:cubicBezTo>
                      <a:pt x="910485" y="916264"/>
                      <a:pt x="910485" y="916264"/>
                      <a:pt x="922637" y="903443"/>
                    </a:cubicBezTo>
                    <a:cubicBezTo>
                      <a:pt x="924782" y="901306"/>
                      <a:pt x="926211" y="898457"/>
                      <a:pt x="926926" y="895608"/>
                    </a:cubicBezTo>
                    <a:cubicBezTo>
                      <a:pt x="927641" y="892047"/>
                      <a:pt x="927641" y="889198"/>
                      <a:pt x="926211" y="886348"/>
                    </a:cubicBezTo>
                    <a:cubicBezTo>
                      <a:pt x="926211" y="886348"/>
                      <a:pt x="926211" y="886348"/>
                      <a:pt x="898333" y="834352"/>
                    </a:cubicBezTo>
                    <a:cubicBezTo>
                      <a:pt x="896903" y="832215"/>
                      <a:pt x="895473" y="830791"/>
                      <a:pt x="894044" y="829366"/>
                    </a:cubicBezTo>
                    <a:cubicBezTo>
                      <a:pt x="891899" y="827941"/>
                      <a:pt x="890470" y="827229"/>
                      <a:pt x="888325" y="827229"/>
                    </a:cubicBezTo>
                    <a:close/>
                    <a:moveTo>
                      <a:pt x="683850" y="565292"/>
                    </a:moveTo>
                    <a:cubicBezTo>
                      <a:pt x="692428" y="565292"/>
                      <a:pt x="699576" y="572421"/>
                      <a:pt x="699576" y="580976"/>
                    </a:cubicBezTo>
                    <a:cubicBezTo>
                      <a:pt x="699576" y="607354"/>
                      <a:pt x="690998" y="632305"/>
                      <a:pt x="675273" y="652979"/>
                    </a:cubicBezTo>
                    <a:cubicBezTo>
                      <a:pt x="675273" y="652979"/>
                      <a:pt x="675273" y="652979"/>
                      <a:pt x="813228" y="790570"/>
                    </a:cubicBezTo>
                    <a:cubicBezTo>
                      <a:pt x="896143" y="719280"/>
                      <a:pt x="1021946" y="722844"/>
                      <a:pt x="1100573" y="801264"/>
                    </a:cubicBezTo>
                    <a:cubicBezTo>
                      <a:pt x="1182774" y="883248"/>
                      <a:pt x="1182774" y="1016561"/>
                      <a:pt x="1100573" y="1099258"/>
                    </a:cubicBezTo>
                    <a:cubicBezTo>
                      <a:pt x="1017658" y="1181242"/>
                      <a:pt x="883992" y="1181242"/>
                      <a:pt x="801791" y="1099258"/>
                    </a:cubicBezTo>
                    <a:cubicBezTo>
                      <a:pt x="723164" y="1020838"/>
                      <a:pt x="719590" y="895367"/>
                      <a:pt x="791069" y="812670"/>
                    </a:cubicBezTo>
                    <a:cubicBezTo>
                      <a:pt x="791069" y="812670"/>
                      <a:pt x="791069" y="812670"/>
                      <a:pt x="642393" y="664386"/>
                    </a:cubicBezTo>
                    <a:cubicBezTo>
                      <a:pt x="636674" y="658683"/>
                      <a:pt x="636674" y="648702"/>
                      <a:pt x="642393" y="642286"/>
                    </a:cubicBezTo>
                    <a:cubicBezTo>
                      <a:pt x="658833" y="625889"/>
                      <a:pt x="668125" y="604502"/>
                      <a:pt x="668125" y="580976"/>
                    </a:cubicBezTo>
                    <a:cubicBezTo>
                      <a:pt x="668125" y="572421"/>
                      <a:pt x="675273" y="565292"/>
                      <a:pt x="683850" y="565292"/>
                    </a:cubicBezTo>
                    <a:close/>
                    <a:moveTo>
                      <a:pt x="95011" y="135079"/>
                    </a:moveTo>
                    <a:cubicBezTo>
                      <a:pt x="95011" y="135079"/>
                      <a:pt x="95011" y="135079"/>
                      <a:pt x="326562" y="135079"/>
                    </a:cubicBezTo>
                    <a:cubicBezTo>
                      <a:pt x="327274" y="135079"/>
                      <a:pt x="328699" y="136522"/>
                      <a:pt x="328699" y="137966"/>
                    </a:cubicBezTo>
                    <a:cubicBezTo>
                      <a:pt x="328699" y="137966"/>
                      <a:pt x="328699" y="137966"/>
                      <a:pt x="328699" y="251977"/>
                    </a:cubicBezTo>
                    <a:cubicBezTo>
                      <a:pt x="328699" y="252699"/>
                      <a:pt x="327274" y="254142"/>
                      <a:pt x="326562" y="254142"/>
                    </a:cubicBezTo>
                    <a:cubicBezTo>
                      <a:pt x="326562" y="254142"/>
                      <a:pt x="326562" y="254142"/>
                      <a:pt x="225392" y="254142"/>
                    </a:cubicBezTo>
                    <a:cubicBezTo>
                      <a:pt x="217555" y="254142"/>
                      <a:pt x="203306" y="254142"/>
                      <a:pt x="195469" y="254142"/>
                    </a:cubicBezTo>
                    <a:cubicBezTo>
                      <a:pt x="195469" y="254142"/>
                      <a:pt x="195469" y="254142"/>
                      <a:pt x="95011" y="254142"/>
                    </a:cubicBezTo>
                    <a:cubicBezTo>
                      <a:pt x="93586" y="254142"/>
                      <a:pt x="92161" y="252699"/>
                      <a:pt x="92161" y="251977"/>
                    </a:cubicBezTo>
                    <a:cubicBezTo>
                      <a:pt x="92161" y="251977"/>
                      <a:pt x="92161" y="251977"/>
                      <a:pt x="92161" y="137966"/>
                    </a:cubicBezTo>
                    <a:cubicBezTo>
                      <a:pt x="92161" y="136522"/>
                      <a:pt x="93586" y="135079"/>
                      <a:pt x="95011" y="135079"/>
                    </a:cubicBezTo>
                    <a:close/>
                    <a:moveTo>
                      <a:pt x="74941" y="114442"/>
                    </a:moveTo>
                    <a:cubicBezTo>
                      <a:pt x="72081" y="114442"/>
                      <a:pt x="69936" y="116575"/>
                      <a:pt x="69936" y="119418"/>
                    </a:cubicBezTo>
                    <a:cubicBezTo>
                      <a:pt x="69936" y="119418"/>
                      <a:pt x="69936" y="119418"/>
                      <a:pt x="69936" y="269401"/>
                    </a:cubicBezTo>
                    <a:cubicBezTo>
                      <a:pt x="69936" y="272244"/>
                      <a:pt x="72081" y="275088"/>
                      <a:pt x="74941" y="275088"/>
                    </a:cubicBezTo>
                    <a:cubicBezTo>
                      <a:pt x="74941" y="275088"/>
                      <a:pt x="74941" y="275088"/>
                      <a:pt x="186478" y="275088"/>
                    </a:cubicBezTo>
                    <a:cubicBezTo>
                      <a:pt x="186478" y="275088"/>
                      <a:pt x="186478" y="275088"/>
                      <a:pt x="186478" y="278642"/>
                    </a:cubicBezTo>
                    <a:cubicBezTo>
                      <a:pt x="186478" y="278642"/>
                      <a:pt x="186478" y="278642"/>
                      <a:pt x="167174" y="295701"/>
                    </a:cubicBezTo>
                    <a:cubicBezTo>
                      <a:pt x="165029" y="297123"/>
                      <a:pt x="165029" y="299256"/>
                      <a:pt x="165744" y="301388"/>
                    </a:cubicBezTo>
                    <a:cubicBezTo>
                      <a:pt x="166459" y="303520"/>
                      <a:pt x="168604" y="304942"/>
                      <a:pt x="170749" y="304942"/>
                    </a:cubicBezTo>
                    <a:cubicBezTo>
                      <a:pt x="170749" y="304942"/>
                      <a:pt x="170749" y="304942"/>
                      <a:pt x="250112" y="304942"/>
                    </a:cubicBezTo>
                    <a:cubicBezTo>
                      <a:pt x="252257" y="304942"/>
                      <a:pt x="254402" y="303520"/>
                      <a:pt x="255117" y="301388"/>
                    </a:cubicBezTo>
                    <a:cubicBezTo>
                      <a:pt x="255832" y="299256"/>
                      <a:pt x="255117" y="297123"/>
                      <a:pt x="253687" y="295701"/>
                    </a:cubicBezTo>
                    <a:cubicBezTo>
                      <a:pt x="253687" y="295701"/>
                      <a:pt x="253687" y="295701"/>
                      <a:pt x="233667" y="278642"/>
                    </a:cubicBezTo>
                    <a:cubicBezTo>
                      <a:pt x="233667" y="278642"/>
                      <a:pt x="233667" y="278642"/>
                      <a:pt x="233667" y="275088"/>
                    </a:cubicBezTo>
                    <a:cubicBezTo>
                      <a:pt x="233667" y="275088"/>
                      <a:pt x="233667" y="275088"/>
                      <a:pt x="345204" y="275088"/>
                    </a:cubicBezTo>
                    <a:cubicBezTo>
                      <a:pt x="348064" y="275088"/>
                      <a:pt x="350924" y="272244"/>
                      <a:pt x="350924" y="269401"/>
                    </a:cubicBezTo>
                    <a:cubicBezTo>
                      <a:pt x="350924" y="269401"/>
                      <a:pt x="350924" y="269401"/>
                      <a:pt x="350924" y="119418"/>
                    </a:cubicBezTo>
                    <a:cubicBezTo>
                      <a:pt x="350924" y="116575"/>
                      <a:pt x="348064" y="114442"/>
                      <a:pt x="345204" y="114442"/>
                    </a:cubicBezTo>
                    <a:cubicBezTo>
                      <a:pt x="345204" y="114442"/>
                      <a:pt x="345204" y="114442"/>
                      <a:pt x="74941" y="114442"/>
                    </a:cubicBezTo>
                    <a:close/>
                    <a:moveTo>
                      <a:pt x="211309" y="0"/>
                    </a:moveTo>
                    <a:cubicBezTo>
                      <a:pt x="265366" y="0"/>
                      <a:pt x="319332" y="20496"/>
                      <a:pt x="360433" y="61488"/>
                    </a:cubicBezTo>
                    <a:cubicBezTo>
                      <a:pt x="439060" y="139908"/>
                      <a:pt x="442634" y="265379"/>
                      <a:pt x="371154" y="348076"/>
                    </a:cubicBezTo>
                    <a:lnTo>
                      <a:pt x="519831" y="496360"/>
                    </a:lnTo>
                    <a:cubicBezTo>
                      <a:pt x="525549" y="502064"/>
                      <a:pt x="525549" y="512044"/>
                      <a:pt x="519831" y="518460"/>
                    </a:cubicBezTo>
                    <a:cubicBezTo>
                      <a:pt x="503391" y="534857"/>
                      <a:pt x="494098" y="556244"/>
                      <a:pt x="494098" y="579770"/>
                    </a:cubicBezTo>
                    <a:cubicBezTo>
                      <a:pt x="494098" y="588325"/>
                      <a:pt x="486951" y="595454"/>
                      <a:pt x="478373" y="595454"/>
                    </a:cubicBezTo>
                    <a:cubicBezTo>
                      <a:pt x="469796" y="595454"/>
                      <a:pt x="462648" y="588325"/>
                      <a:pt x="462648" y="579770"/>
                    </a:cubicBezTo>
                    <a:cubicBezTo>
                      <a:pt x="462648" y="553393"/>
                      <a:pt x="471225" y="528441"/>
                      <a:pt x="486951" y="507767"/>
                    </a:cubicBezTo>
                    <a:cubicBezTo>
                      <a:pt x="486951" y="507767"/>
                      <a:pt x="486951" y="507767"/>
                      <a:pt x="348996" y="370176"/>
                    </a:cubicBezTo>
                    <a:cubicBezTo>
                      <a:pt x="266080" y="441467"/>
                      <a:pt x="140277" y="437902"/>
                      <a:pt x="61650" y="359483"/>
                    </a:cubicBezTo>
                    <a:cubicBezTo>
                      <a:pt x="-20551" y="277498"/>
                      <a:pt x="-20551" y="144185"/>
                      <a:pt x="61650" y="61488"/>
                    </a:cubicBezTo>
                    <a:cubicBezTo>
                      <a:pt x="103108" y="20496"/>
                      <a:pt x="157253" y="0"/>
                      <a:pt x="211309" y="0"/>
                    </a:cubicBezTo>
                    <a:close/>
                  </a:path>
                </a:pathLst>
              </a:custGeom>
              <a:solidFill>
                <a:srgbClr val="295E7E">
                  <a:lumMod val="100000"/>
                </a:srgbClr>
              </a:solidFill>
              <a:ln>
                <a:noFill/>
              </a:ln>
            </p:spPr>
            <p:txBody>
              <a:bodyPr vert="horz" wrap="square" lIns="91440" tIns="45720" rIns="91440" bIns="45720" numCol="1" anchor="t" anchorCtr="0" compatLnSpc="1">
                <a:prstTxWarp prst="textNoShape">
                  <a:avLst/>
                </a:prstTxWarp>
                <a:noAutofit/>
              </a:bodyPr>
              <a:lstStyle/>
              <a:p>
                <a:endParaRPr lang="en-US"/>
              </a:p>
            </p:txBody>
          </p:sp>
        </p:grpSp>
      </p:grpSp>
      <p:grpSp>
        <p:nvGrpSpPr>
          <p:cNvPr id="59" name="Group 58"/>
          <p:cNvGrpSpPr>
            <a:grpSpLocks noChangeAspect="1"/>
          </p:cNvGrpSpPr>
          <p:nvPr/>
        </p:nvGrpSpPr>
        <p:grpSpPr>
          <a:xfrm>
            <a:off x="4801403" y="509199"/>
            <a:ext cx="788548" cy="789278"/>
            <a:chOff x="5273801" y="2606040"/>
            <a:chExt cx="1644396" cy="1645920"/>
          </a:xfrm>
        </p:grpSpPr>
        <p:sp>
          <p:nvSpPr>
            <p:cNvPr id="60" name="AutoShape 33">
              <a:extLst>
                <a:ext uri="{FF2B5EF4-FFF2-40B4-BE49-F238E27FC236}">
                  <a16:creationId xmlns:a16="http://schemas.microsoft.com/office/drawing/2014/main" id="{BEA87593-71B2-42B3-8D7D-5D8C76D3E4A3}"/>
                </a:ext>
              </a:extLst>
            </p:cNvPr>
            <p:cNvSpPr>
              <a:spLocks noChangeAspect="1" noChangeArrowheads="1" noTextEdit="1"/>
            </p:cNvSpPr>
            <p:nvPr/>
          </p:nvSpPr>
          <p:spPr bwMode="auto">
            <a:xfrm>
              <a:off x="5273801" y="2606040"/>
              <a:ext cx="1644396" cy="1645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61" name="Group 60"/>
            <p:cNvGrpSpPr/>
            <p:nvPr/>
          </p:nvGrpSpPr>
          <p:grpSpPr>
            <a:xfrm>
              <a:off x="5445632" y="2775204"/>
              <a:ext cx="1301877" cy="1306068"/>
              <a:chOff x="5445632" y="2775204"/>
              <a:chExt cx="1301877" cy="1306068"/>
            </a:xfrm>
          </p:grpSpPr>
          <p:sp>
            <p:nvSpPr>
              <p:cNvPr id="62" name="Freeform 35">
                <a:extLst>
                  <a:ext uri="{FF2B5EF4-FFF2-40B4-BE49-F238E27FC236}">
                    <a16:creationId xmlns:a16="http://schemas.microsoft.com/office/drawing/2014/main" id="{2C6EA767-80DA-4F8F-A48D-51770E3E0E1E}"/>
                  </a:ext>
                </a:extLst>
              </p:cNvPr>
              <p:cNvSpPr>
                <a:spLocks noEditPoints="1"/>
              </p:cNvSpPr>
              <p:nvPr/>
            </p:nvSpPr>
            <p:spPr bwMode="auto">
              <a:xfrm>
                <a:off x="5445632" y="2775204"/>
                <a:ext cx="1301877" cy="1306068"/>
              </a:xfrm>
              <a:custGeom>
                <a:avLst/>
                <a:gdLst>
                  <a:gd name="T0" fmla="*/ 236 w 1824"/>
                  <a:gd name="T1" fmla="*/ 118 h 1828"/>
                  <a:gd name="T2" fmla="*/ 118 w 1824"/>
                  <a:gd name="T3" fmla="*/ 191 h 1828"/>
                  <a:gd name="T4" fmla="*/ 414 w 1824"/>
                  <a:gd name="T5" fmla="*/ 22 h 1828"/>
                  <a:gd name="T6" fmla="*/ 458 w 1824"/>
                  <a:gd name="T7" fmla="*/ 22 h 1828"/>
                  <a:gd name="T8" fmla="*/ 753 w 1824"/>
                  <a:gd name="T9" fmla="*/ 0 h 1828"/>
                  <a:gd name="T10" fmla="*/ 680 w 1824"/>
                  <a:gd name="T11" fmla="*/ 118 h 1828"/>
                  <a:gd name="T12" fmla="*/ 1071 w 1824"/>
                  <a:gd name="T13" fmla="*/ 0 h 1828"/>
                  <a:gd name="T14" fmla="*/ 1093 w 1824"/>
                  <a:gd name="T15" fmla="*/ 213 h 1828"/>
                  <a:gd name="T16" fmla="*/ 1366 w 1824"/>
                  <a:gd name="T17" fmla="*/ 22 h 1828"/>
                  <a:gd name="T18" fmla="*/ 1410 w 1824"/>
                  <a:gd name="T19" fmla="*/ 22 h 1828"/>
                  <a:gd name="T20" fmla="*/ 1706 w 1824"/>
                  <a:gd name="T21" fmla="*/ 0 h 1828"/>
                  <a:gd name="T22" fmla="*/ 1632 w 1824"/>
                  <a:gd name="T23" fmla="*/ 118 h 1828"/>
                  <a:gd name="T24" fmla="*/ 118 w 1824"/>
                  <a:gd name="T25" fmla="*/ 319 h 1828"/>
                  <a:gd name="T26" fmla="*/ 140 w 1824"/>
                  <a:gd name="T27" fmla="*/ 532 h 1828"/>
                  <a:gd name="T28" fmla="*/ 953 w 1824"/>
                  <a:gd name="T29" fmla="*/ 436 h 1828"/>
                  <a:gd name="T30" fmla="*/ 1071 w 1824"/>
                  <a:gd name="T31" fmla="*/ 363 h 1828"/>
                  <a:gd name="T32" fmla="*/ 1071 w 1824"/>
                  <a:gd name="T33" fmla="*/ 363 h 1828"/>
                  <a:gd name="T34" fmla="*/ 1388 w 1824"/>
                  <a:gd name="T35" fmla="*/ 554 h 1828"/>
                  <a:gd name="T36" fmla="*/ 1706 w 1824"/>
                  <a:gd name="T37" fmla="*/ 554 h 1828"/>
                  <a:gd name="T38" fmla="*/ 1706 w 1824"/>
                  <a:gd name="T39" fmla="*/ 554 h 1828"/>
                  <a:gd name="T40" fmla="*/ 1780 w 1824"/>
                  <a:gd name="T41" fmla="*/ 436 h 1828"/>
                  <a:gd name="T42" fmla="*/ 118 w 1824"/>
                  <a:gd name="T43" fmla="*/ 637 h 1828"/>
                  <a:gd name="T44" fmla="*/ 44 w 1824"/>
                  <a:gd name="T45" fmla="*/ 755 h 1828"/>
                  <a:gd name="T46" fmla="*/ 1071 w 1824"/>
                  <a:gd name="T47" fmla="*/ 872 h 1828"/>
                  <a:gd name="T48" fmla="*/ 1071 w 1824"/>
                  <a:gd name="T49" fmla="*/ 872 h 1828"/>
                  <a:gd name="T50" fmla="*/ 1144 w 1824"/>
                  <a:gd name="T51" fmla="*/ 755 h 1828"/>
                  <a:gd name="T52" fmla="*/ 1388 w 1824"/>
                  <a:gd name="T53" fmla="*/ 637 h 1828"/>
                  <a:gd name="T54" fmla="*/ 1315 w 1824"/>
                  <a:gd name="T55" fmla="*/ 755 h 1828"/>
                  <a:gd name="T56" fmla="*/ 1706 w 1824"/>
                  <a:gd name="T57" fmla="*/ 637 h 1828"/>
                  <a:gd name="T58" fmla="*/ 1728 w 1824"/>
                  <a:gd name="T59" fmla="*/ 850 h 1828"/>
                  <a:gd name="T60" fmla="*/ 96 w 1824"/>
                  <a:gd name="T61" fmla="*/ 978 h 1828"/>
                  <a:gd name="T62" fmla="*/ 140 w 1824"/>
                  <a:gd name="T63" fmla="*/ 978 h 1828"/>
                  <a:gd name="T64" fmla="*/ 436 w 1824"/>
                  <a:gd name="T65" fmla="*/ 956 h 1828"/>
                  <a:gd name="T66" fmla="*/ 362 w 1824"/>
                  <a:gd name="T67" fmla="*/ 1073 h 1828"/>
                  <a:gd name="T68" fmla="*/ 753 w 1824"/>
                  <a:gd name="T69" fmla="*/ 956 h 1828"/>
                  <a:gd name="T70" fmla="*/ 775 w 1824"/>
                  <a:gd name="T71" fmla="*/ 1169 h 1828"/>
                  <a:gd name="T72" fmla="*/ 1049 w 1824"/>
                  <a:gd name="T73" fmla="*/ 978 h 1828"/>
                  <a:gd name="T74" fmla="*/ 1093 w 1824"/>
                  <a:gd name="T75" fmla="*/ 978 h 1828"/>
                  <a:gd name="T76" fmla="*/ 1388 w 1824"/>
                  <a:gd name="T77" fmla="*/ 956 h 1828"/>
                  <a:gd name="T78" fmla="*/ 1315 w 1824"/>
                  <a:gd name="T79" fmla="*/ 1073 h 1828"/>
                  <a:gd name="T80" fmla="*/ 1706 w 1824"/>
                  <a:gd name="T81" fmla="*/ 956 h 1828"/>
                  <a:gd name="T82" fmla="*/ 1728 w 1824"/>
                  <a:gd name="T83" fmla="*/ 1169 h 1828"/>
                  <a:gd name="T84" fmla="*/ 0 w 1824"/>
                  <a:gd name="T85" fmla="*/ 1392 h 1828"/>
                  <a:gd name="T86" fmla="*/ 118 w 1824"/>
                  <a:gd name="T87" fmla="*/ 1318 h 1828"/>
                  <a:gd name="T88" fmla="*/ 118 w 1824"/>
                  <a:gd name="T89" fmla="*/ 1318 h 1828"/>
                  <a:gd name="T90" fmla="*/ 436 w 1824"/>
                  <a:gd name="T91" fmla="*/ 1509 h 1828"/>
                  <a:gd name="T92" fmla="*/ 753 w 1824"/>
                  <a:gd name="T93" fmla="*/ 1509 h 1828"/>
                  <a:gd name="T94" fmla="*/ 753 w 1824"/>
                  <a:gd name="T95" fmla="*/ 1509 h 1828"/>
                  <a:gd name="T96" fmla="*/ 827 w 1824"/>
                  <a:gd name="T97" fmla="*/ 1392 h 1828"/>
                  <a:gd name="T98" fmla="*/ 1706 w 1824"/>
                  <a:gd name="T99" fmla="*/ 1274 h 1828"/>
                  <a:gd name="T100" fmla="*/ 1632 w 1824"/>
                  <a:gd name="T101" fmla="*/ 1392 h 1828"/>
                  <a:gd name="T102" fmla="*/ 118 w 1824"/>
                  <a:gd name="T103" fmla="*/ 1828 h 1828"/>
                  <a:gd name="T104" fmla="*/ 118 w 1824"/>
                  <a:gd name="T105" fmla="*/ 1828 h 1828"/>
                  <a:gd name="T106" fmla="*/ 192 w 1824"/>
                  <a:gd name="T107" fmla="*/ 1710 h 1828"/>
                  <a:gd name="T108" fmla="*/ 414 w 1824"/>
                  <a:gd name="T109" fmla="*/ 1806 h 1828"/>
                  <a:gd name="T110" fmla="*/ 436 w 1824"/>
                  <a:gd name="T111" fmla="*/ 1593 h 1828"/>
                  <a:gd name="T112" fmla="*/ 871 w 1824"/>
                  <a:gd name="T113" fmla="*/ 1710 h 1828"/>
                  <a:gd name="T114" fmla="*/ 753 w 1824"/>
                  <a:gd name="T115" fmla="*/ 1784 h 1828"/>
                  <a:gd name="T116" fmla="*/ 1588 w 1824"/>
                  <a:gd name="T117" fmla="*/ 1710 h 1828"/>
                  <a:gd name="T118" fmla="*/ 1706 w 1824"/>
                  <a:gd name="T119" fmla="*/ 1637 h 1828"/>
                  <a:gd name="T120" fmla="*/ 1706 w 1824"/>
                  <a:gd name="T121" fmla="*/ 1637 h 1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24" h="1828">
                    <a:moveTo>
                      <a:pt x="118" y="235"/>
                    </a:moveTo>
                    <a:cubicBezTo>
                      <a:pt x="53" y="235"/>
                      <a:pt x="0" y="183"/>
                      <a:pt x="0" y="118"/>
                    </a:cubicBezTo>
                    <a:cubicBezTo>
                      <a:pt x="0" y="53"/>
                      <a:pt x="53" y="0"/>
                      <a:pt x="118" y="0"/>
                    </a:cubicBezTo>
                    <a:cubicBezTo>
                      <a:pt x="183" y="0"/>
                      <a:pt x="236" y="53"/>
                      <a:pt x="236" y="118"/>
                    </a:cubicBezTo>
                    <a:cubicBezTo>
                      <a:pt x="236" y="183"/>
                      <a:pt x="183" y="235"/>
                      <a:pt x="118" y="235"/>
                    </a:cubicBezTo>
                    <a:close/>
                    <a:moveTo>
                      <a:pt x="118" y="44"/>
                    </a:moveTo>
                    <a:cubicBezTo>
                      <a:pt x="77" y="44"/>
                      <a:pt x="44" y="77"/>
                      <a:pt x="44" y="118"/>
                    </a:cubicBezTo>
                    <a:cubicBezTo>
                      <a:pt x="44" y="158"/>
                      <a:pt x="77" y="191"/>
                      <a:pt x="118" y="191"/>
                    </a:cubicBezTo>
                    <a:cubicBezTo>
                      <a:pt x="159" y="191"/>
                      <a:pt x="192" y="158"/>
                      <a:pt x="192" y="118"/>
                    </a:cubicBezTo>
                    <a:cubicBezTo>
                      <a:pt x="192" y="77"/>
                      <a:pt x="159" y="44"/>
                      <a:pt x="118" y="44"/>
                    </a:cubicBezTo>
                    <a:close/>
                    <a:moveTo>
                      <a:pt x="436" y="0"/>
                    </a:moveTo>
                    <a:cubicBezTo>
                      <a:pt x="424" y="0"/>
                      <a:pt x="414" y="10"/>
                      <a:pt x="414" y="22"/>
                    </a:cubicBezTo>
                    <a:cubicBezTo>
                      <a:pt x="414" y="213"/>
                      <a:pt x="414" y="213"/>
                      <a:pt x="414" y="213"/>
                    </a:cubicBezTo>
                    <a:cubicBezTo>
                      <a:pt x="414" y="225"/>
                      <a:pt x="424" y="235"/>
                      <a:pt x="436" y="235"/>
                    </a:cubicBezTo>
                    <a:cubicBezTo>
                      <a:pt x="448" y="235"/>
                      <a:pt x="458" y="225"/>
                      <a:pt x="458" y="213"/>
                    </a:cubicBezTo>
                    <a:cubicBezTo>
                      <a:pt x="458" y="22"/>
                      <a:pt x="458" y="22"/>
                      <a:pt x="458" y="22"/>
                    </a:cubicBezTo>
                    <a:cubicBezTo>
                      <a:pt x="458" y="10"/>
                      <a:pt x="448" y="0"/>
                      <a:pt x="436" y="0"/>
                    </a:cubicBezTo>
                    <a:close/>
                    <a:moveTo>
                      <a:pt x="753" y="235"/>
                    </a:moveTo>
                    <a:cubicBezTo>
                      <a:pt x="688" y="235"/>
                      <a:pt x="636" y="183"/>
                      <a:pt x="636" y="118"/>
                    </a:cubicBezTo>
                    <a:cubicBezTo>
                      <a:pt x="636" y="53"/>
                      <a:pt x="688" y="0"/>
                      <a:pt x="753" y="0"/>
                    </a:cubicBezTo>
                    <a:cubicBezTo>
                      <a:pt x="818" y="0"/>
                      <a:pt x="871" y="53"/>
                      <a:pt x="871" y="118"/>
                    </a:cubicBezTo>
                    <a:cubicBezTo>
                      <a:pt x="871" y="183"/>
                      <a:pt x="818" y="235"/>
                      <a:pt x="753" y="235"/>
                    </a:cubicBezTo>
                    <a:close/>
                    <a:moveTo>
                      <a:pt x="753" y="44"/>
                    </a:moveTo>
                    <a:cubicBezTo>
                      <a:pt x="713" y="44"/>
                      <a:pt x="680" y="77"/>
                      <a:pt x="680" y="118"/>
                    </a:cubicBezTo>
                    <a:cubicBezTo>
                      <a:pt x="680" y="158"/>
                      <a:pt x="713" y="191"/>
                      <a:pt x="753" y="191"/>
                    </a:cubicBezTo>
                    <a:cubicBezTo>
                      <a:pt x="794" y="191"/>
                      <a:pt x="827" y="158"/>
                      <a:pt x="827" y="118"/>
                    </a:cubicBezTo>
                    <a:cubicBezTo>
                      <a:pt x="827" y="77"/>
                      <a:pt x="794" y="44"/>
                      <a:pt x="753" y="44"/>
                    </a:cubicBezTo>
                    <a:close/>
                    <a:moveTo>
                      <a:pt x="1071" y="0"/>
                    </a:moveTo>
                    <a:cubicBezTo>
                      <a:pt x="1059" y="0"/>
                      <a:pt x="1049" y="10"/>
                      <a:pt x="1049" y="22"/>
                    </a:cubicBezTo>
                    <a:cubicBezTo>
                      <a:pt x="1049" y="213"/>
                      <a:pt x="1049" y="213"/>
                      <a:pt x="1049" y="213"/>
                    </a:cubicBezTo>
                    <a:cubicBezTo>
                      <a:pt x="1049" y="225"/>
                      <a:pt x="1059" y="235"/>
                      <a:pt x="1071" y="235"/>
                    </a:cubicBezTo>
                    <a:cubicBezTo>
                      <a:pt x="1083" y="235"/>
                      <a:pt x="1093" y="225"/>
                      <a:pt x="1093" y="213"/>
                    </a:cubicBezTo>
                    <a:cubicBezTo>
                      <a:pt x="1093" y="22"/>
                      <a:pt x="1093" y="22"/>
                      <a:pt x="1093" y="22"/>
                    </a:cubicBezTo>
                    <a:cubicBezTo>
                      <a:pt x="1093" y="10"/>
                      <a:pt x="1083" y="0"/>
                      <a:pt x="1071" y="0"/>
                    </a:cubicBezTo>
                    <a:close/>
                    <a:moveTo>
                      <a:pt x="1388" y="0"/>
                    </a:moveTo>
                    <a:cubicBezTo>
                      <a:pt x="1376" y="0"/>
                      <a:pt x="1366" y="10"/>
                      <a:pt x="1366" y="22"/>
                    </a:cubicBezTo>
                    <a:cubicBezTo>
                      <a:pt x="1366" y="213"/>
                      <a:pt x="1366" y="213"/>
                      <a:pt x="1366" y="213"/>
                    </a:cubicBezTo>
                    <a:cubicBezTo>
                      <a:pt x="1366" y="225"/>
                      <a:pt x="1376" y="235"/>
                      <a:pt x="1388" y="235"/>
                    </a:cubicBezTo>
                    <a:cubicBezTo>
                      <a:pt x="1400" y="235"/>
                      <a:pt x="1410" y="225"/>
                      <a:pt x="1410" y="213"/>
                    </a:cubicBezTo>
                    <a:cubicBezTo>
                      <a:pt x="1410" y="22"/>
                      <a:pt x="1410" y="22"/>
                      <a:pt x="1410" y="22"/>
                    </a:cubicBezTo>
                    <a:cubicBezTo>
                      <a:pt x="1410" y="10"/>
                      <a:pt x="1400" y="0"/>
                      <a:pt x="1388" y="0"/>
                    </a:cubicBezTo>
                    <a:close/>
                    <a:moveTo>
                      <a:pt x="1706" y="235"/>
                    </a:moveTo>
                    <a:cubicBezTo>
                      <a:pt x="1641" y="235"/>
                      <a:pt x="1588" y="183"/>
                      <a:pt x="1588" y="118"/>
                    </a:cubicBezTo>
                    <a:cubicBezTo>
                      <a:pt x="1588" y="53"/>
                      <a:pt x="1641" y="0"/>
                      <a:pt x="1706" y="0"/>
                    </a:cubicBezTo>
                    <a:cubicBezTo>
                      <a:pt x="1771" y="0"/>
                      <a:pt x="1824" y="53"/>
                      <a:pt x="1824" y="118"/>
                    </a:cubicBezTo>
                    <a:cubicBezTo>
                      <a:pt x="1824" y="183"/>
                      <a:pt x="1771" y="235"/>
                      <a:pt x="1706" y="235"/>
                    </a:cubicBezTo>
                    <a:close/>
                    <a:moveTo>
                      <a:pt x="1706" y="44"/>
                    </a:moveTo>
                    <a:cubicBezTo>
                      <a:pt x="1665" y="44"/>
                      <a:pt x="1632" y="77"/>
                      <a:pt x="1632" y="118"/>
                    </a:cubicBezTo>
                    <a:cubicBezTo>
                      <a:pt x="1632" y="158"/>
                      <a:pt x="1665" y="191"/>
                      <a:pt x="1706" y="191"/>
                    </a:cubicBezTo>
                    <a:cubicBezTo>
                      <a:pt x="1747" y="191"/>
                      <a:pt x="1780" y="158"/>
                      <a:pt x="1780" y="118"/>
                    </a:cubicBezTo>
                    <a:cubicBezTo>
                      <a:pt x="1780" y="77"/>
                      <a:pt x="1747" y="44"/>
                      <a:pt x="1706" y="44"/>
                    </a:cubicBezTo>
                    <a:close/>
                    <a:moveTo>
                      <a:pt x="118" y="319"/>
                    </a:moveTo>
                    <a:cubicBezTo>
                      <a:pt x="106" y="319"/>
                      <a:pt x="96" y="328"/>
                      <a:pt x="96" y="341"/>
                    </a:cubicBezTo>
                    <a:cubicBezTo>
                      <a:pt x="96" y="532"/>
                      <a:pt x="96" y="532"/>
                      <a:pt x="96" y="532"/>
                    </a:cubicBezTo>
                    <a:cubicBezTo>
                      <a:pt x="96" y="544"/>
                      <a:pt x="106" y="554"/>
                      <a:pt x="118" y="554"/>
                    </a:cubicBezTo>
                    <a:cubicBezTo>
                      <a:pt x="130" y="554"/>
                      <a:pt x="140" y="544"/>
                      <a:pt x="140" y="532"/>
                    </a:cubicBezTo>
                    <a:cubicBezTo>
                      <a:pt x="140" y="341"/>
                      <a:pt x="140" y="341"/>
                      <a:pt x="140" y="341"/>
                    </a:cubicBezTo>
                    <a:cubicBezTo>
                      <a:pt x="140" y="328"/>
                      <a:pt x="130" y="319"/>
                      <a:pt x="118" y="319"/>
                    </a:cubicBezTo>
                    <a:close/>
                    <a:moveTo>
                      <a:pt x="1071" y="554"/>
                    </a:moveTo>
                    <a:cubicBezTo>
                      <a:pt x="1006" y="554"/>
                      <a:pt x="953" y="501"/>
                      <a:pt x="953" y="436"/>
                    </a:cubicBezTo>
                    <a:cubicBezTo>
                      <a:pt x="953" y="371"/>
                      <a:pt x="1006" y="319"/>
                      <a:pt x="1071" y="319"/>
                    </a:cubicBezTo>
                    <a:cubicBezTo>
                      <a:pt x="1136" y="319"/>
                      <a:pt x="1188" y="371"/>
                      <a:pt x="1188" y="436"/>
                    </a:cubicBezTo>
                    <a:cubicBezTo>
                      <a:pt x="1188" y="501"/>
                      <a:pt x="1136" y="554"/>
                      <a:pt x="1071" y="554"/>
                    </a:cubicBezTo>
                    <a:close/>
                    <a:moveTo>
                      <a:pt x="1071" y="363"/>
                    </a:moveTo>
                    <a:cubicBezTo>
                      <a:pt x="1030" y="363"/>
                      <a:pt x="997" y="396"/>
                      <a:pt x="997" y="436"/>
                    </a:cubicBezTo>
                    <a:cubicBezTo>
                      <a:pt x="997" y="477"/>
                      <a:pt x="1030" y="510"/>
                      <a:pt x="1071" y="510"/>
                    </a:cubicBezTo>
                    <a:cubicBezTo>
                      <a:pt x="1111" y="510"/>
                      <a:pt x="1144" y="477"/>
                      <a:pt x="1144" y="436"/>
                    </a:cubicBezTo>
                    <a:cubicBezTo>
                      <a:pt x="1144" y="396"/>
                      <a:pt x="1111" y="363"/>
                      <a:pt x="1071" y="363"/>
                    </a:cubicBezTo>
                    <a:close/>
                    <a:moveTo>
                      <a:pt x="1388" y="319"/>
                    </a:moveTo>
                    <a:cubicBezTo>
                      <a:pt x="1376" y="319"/>
                      <a:pt x="1366" y="328"/>
                      <a:pt x="1366" y="341"/>
                    </a:cubicBezTo>
                    <a:cubicBezTo>
                      <a:pt x="1366" y="532"/>
                      <a:pt x="1366" y="532"/>
                      <a:pt x="1366" y="532"/>
                    </a:cubicBezTo>
                    <a:cubicBezTo>
                      <a:pt x="1366" y="544"/>
                      <a:pt x="1376" y="554"/>
                      <a:pt x="1388" y="554"/>
                    </a:cubicBezTo>
                    <a:cubicBezTo>
                      <a:pt x="1400" y="554"/>
                      <a:pt x="1410" y="544"/>
                      <a:pt x="1410" y="532"/>
                    </a:cubicBezTo>
                    <a:cubicBezTo>
                      <a:pt x="1410" y="341"/>
                      <a:pt x="1410" y="341"/>
                      <a:pt x="1410" y="341"/>
                    </a:cubicBezTo>
                    <a:cubicBezTo>
                      <a:pt x="1410" y="328"/>
                      <a:pt x="1400" y="319"/>
                      <a:pt x="1388" y="319"/>
                    </a:cubicBezTo>
                    <a:close/>
                    <a:moveTo>
                      <a:pt x="1706" y="554"/>
                    </a:moveTo>
                    <a:cubicBezTo>
                      <a:pt x="1641" y="554"/>
                      <a:pt x="1588" y="501"/>
                      <a:pt x="1588" y="436"/>
                    </a:cubicBezTo>
                    <a:cubicBezTo>
                      <a:pt x="1588" y="371"/>
                      <a:pt x="1641" y="319"/>
                      <a:pt x="1706" y="319"/>
                    </a:cubicBezTo>
                    <a:cubicBezTo>
                      <a:pt x="1771" y="319"/>
                      <a:pt x="1824" y="371"/>
                      <a:pt x="1824" y="436"/>
                    </a:cubicBezTo>
                    <a:cubicBezTo>
                      <a:pt x="1824" y="501"/>
                      <a:pt x="1771" y="554"/>
                      <a:pt x="1706" y="554"/>
                    </a:cubicBezTo>
                    <a:close/>
                    <a:moveTo>
                      <a:pt x="1706" y="363"/>
                    </a:moveTo>
                    <a:cubicBezTo>
                      <a:pt x="1665" y="363"/>
                      <a:pt x="1632" y="396"/>
                      <a:pt x="1632" y="436"/>
                    </a:cubicBezTo>
                    <a:cubicBezTo>
                      <a:pt x="1632" y="477"/>
                      <a:pt x="1665" y="510"/>
                      <a:pt x="1706" y="510"/>
                    </a:cubicBezTo>
                    <a:cubicBezTo>
                      <a:pt x="1747" y="510"/>
                      <a:pt x="1780" y="477"/>
                      <a:pt x="1780" y="436"/>
                    </a:cubicBezTo>
                    <a:cubicBezTo>
                      <a:pt x="1780" y="396"/>
                      <a:pt x="1747" y="363"/>
                      <a:pt x="1706" y="363"/>
                    </a:cubicBezTo>
                    <a:close/>
                    <a:moveTo>
                      <a:pt x="118" y="872"/>
                    </a:moveTo>
                    <a:cubicBezTo>
                      <a:pt x="53" y="872"/>
                      <a:pt x="0" y="820"/>
                      <a:pt x="0" y="755"/>
                    </a:cubicBezTo>
                    <a:cubicBezTo>
                      <a:pt x="0" y="690"/>
                      <a:pt x="53" y="637"/>
                      <a:pt x="118" y="637"/>
                    </a:cubicBezTo>
                    <a:cubicBezTo>
                      <a:pt x="183" y="637"/>
                      <a:pt x="236" y="690"/>
                      <a:pt x="236" y="755"/>
                    </a:cubicBezTo>
                    <a:cubicBezTo>
                      <a:pt x="236" y="820"/>
                      <a:pt x="183" y="872"/>
                      <a:pt x="118" y="872"/>
                    </a:cubicBezTo>
                    <a:close/>
                    <a:moveTo>
                      <a:pt x="118" y="681"/>
                    </a:moveTo>
                    <a:cubicBezTo>
                      <a:pt x="77" y="681"/>
                      <a:pt x="44" y="714"/>
                      <a:pt x="44" y="755"/>
                    </a:cubicBezTo>
                    <a:cubicBezTo>
                      <a:pt x="44" y="795"/>
                      <a:pt x="77" y="828"/>
                      <a:pt x="118" y="828"/>
                    </a:cubicBezTo>
                    <a:cubicBezTo>
                      <a:pt x="159" y="828"/>
                      <a:pt x="192" y="795"/>
                      <a:pt x="192" y="755"/>
                    </a:cubicBezTo>
                    <a:cubicBezTo>
                      <a:pt x="192" y="714"/>
                      <a:pt x="159" y="681"/>
                      <a:pt x="118" y="681"/>
                    </a:cubicBezTo>
                    <a:close/>
                    <a:moveTo>
                      <a:pt x="1071" y="872"/>
                    </a:moveTo>
                    <a:cubicBezTo>
                      <a:pt x="1006" y="872"/>
                      <a:pt x="953" y="820"/>
                      <a:pt x="953" y="755"/>
                    </a:cubicBezTo>
                    <a:cubicBezTo>
                      <a:pt x="953" y="690"/>
                      <a:pt x="1006" y="637"/>
                      <a:pt x="1071" y="637"/>
                    </a:cubicBezTo>
                    <a:cubicBezTo>
                      <a:pt x="1136" y="637"/>
                      <a:pt x="1188" y="690"/>
                      <a:pt x="1188" y="755"/>
                    </a:cubicBezTo>
                    <a:cubicBezTo>
                      <a:pt x="1188" y="820"/>
                      <a:pt x="1136" y="872"/>
                      <a:pt x="1071" y="872"/>
                    </a:cubicBezTo>
                    <a:close/>
                    <a:moveTo>
                      <a:pt x="1071" y="681"/>
                    </a:moveTo>
                    <a:cubicBezTo>
                      <a:pt x="1030" y="681"/>
                      <a:pt x="997" y="714"/>
                      <a:pt x="997" y="755"/>
                    </a:cubicBezTo>
                    <a:cubicBezTo>
                      <a:pt x="997" y="795"/>
                      <a:pt x="1030" y="828"/>
                      <a:pt x="1071" y="828"/>
                    </a:cubicBezTo>
                    <a:cubicBezTo>
                      <a:pt x="1111" y="828"/>
                      <a:pt x="1144" y="795"/>
                      <a:pt x="1144" y="755"/>
                    </a:cubicBezTo>
                    <a:cubicBezTo>
                      <a:pt x="1144" y="714"/>
                      <a:pt x="1111" y="681"/>
                      <a:pt x="1071" y="681"/>
                    </a:cubicBezTo>
                    <a:close/>
                    <a:moveTo>
                      <a:pt x="1388" y="872"/>
                    </a:moveTo>
                    <a:cubicBezTo>
                      <a:pt x="1323" y="872"/>
                      <a:pt x="1271" y="820"/>
                      <a:pt x="1271" y="755"/>
                    </a:cubicBezTo>
                    <a:cubicBezTo>
                      <a:pt x="1271" y="690"/>
                      <a:pt x="1323" y="637"/>
                      <a:pt x="1388" y="637"/>
                    </a:cubicBezTo>
                    <a:cubicBezTo>
                      <a:pt x="1453" y="637"/>
                      <a:pt x="1506" y="690"/>
                      <a:pt x="1506" y="755"/>
                    </a:cubicBezTo>
                    <a:cubicBezTo>
                      <a:pt x="1506" y="820"/>
                      <a:pt x="1453" y="872"/>
                      <a:pt x="1388" y="872"/>
                    </a:cubicBezTo>
                    <a:close/>
                    <a:moveTo>
                      <a:pt x="1388" y="681"/>
                    </a:moveTo>
                    <a:cubicBezTo>
                      <a:pt x="1348" y="681"/>
                      <a:pt x="1315" y="714"/>
                      <a:pt x="1315" y="755"/>
                    </a:cubicBezTo>
                    <a:cubicBezTo>
                      <a:pt x="1315" y="795"/>
                      <a:pt x="1348" y="828"/>
                      <a:pt x="1388" y="828"/>
                    </a:cubicBezTo>
                    <a:cubicBezTo>
                      <a:pt x="1429" y="828"/>
                      <a:pt x="1462" y="795"/>
                      <a:pt x="1462" y="755"/>
                    </a:cubicBezTo>
                    <a:cubicBezTo>
                      <a:pt x="1462" y="714"/>
                      <a:pt x="1429" y="681"/>
                      <a:pt x="1388" y="681"/>
                    </a:cubicBezTo>
                    <a:close/>
                    <a:moveTo>
                      <a:pt x="1706" y="637"/>
                    </a:moveTo>
                    <a:cubicBezTo>
                      <a:pt x="1694" y="637"/>
                      <a:pt x="1684" y="647"/>
                      <a:pt x="1684" y="659"/>
                    </a:cubicBezTo>
                    <a:cubicBezTo>
                      <a:pt x="1684" y="850"/>
                      <a:pt x="1684" y="850"/>
                      <a:pt x="1684" y="850"/>
                    </a:cubicBezTo>
                    <a:cubicBezTo>
                      <a:pt x="1684" y="863"/>
                      <a:pt x="1694" y="872"/>
                      <a:pt x="1706" y="872"/>
                    </a:cubicBezTo>
                    <a:cubicBezTo>
                      <a:pt x="1718" y="872"/>
                      <a:pt x="1728" y="863"/>
                      <a:pt x="1728" y="850"/>
                    </a:cubicBezTo>
                    <a:cubicBezTo>
                      <a:pt x="1728" y="659"/>
                      <a:pt x="1728" y="659"/>
                      <a:pt x="1728" y="659"/>
                    </a:cubicBezTo>
                    <a:cubicBezTo>
                      <a:pt x="1728" y="647"/>
                      <a:pt x="1718" y="637"/>
                      <a:pt x="1706" y="637"/>
                    </a:cubicBezTo>
                    <a:close/>
                    <a:moveTo>
                      <a:pt x="118" y="956"/>
                    </a:moveTo>
                    <a:cubicBezTo>
                      <a:pt x="106" y="956"/>
                      <a:pt x="96" y="965"/>
                      <a:pt x="96" y="978"/>
                    </a:cubicBezTo>
                    <a:cubicBezTo>
                      <a:pt x="96" y="1169"/>
                      <a:pt x="96" y="1169"/>
                      <a:pt x="96" y="1169"/>
                    </a:cubicBezTo>
                    <a:cubicBezTo>
                      <a:pt x="96" y="1181"/>
                      <a:pt x="106" y="1191"/>
                      <a:pt x="118" y="1191"/>
                    </a:cubicBezTo>
                    <a:cubicBezTo>
                      <a:pt x="130" y="1191"/>
                      <a:pt x="140" y="1181"/>
                      <a:pt x="140" y="1169"/>
                    </a:cubicBezTo>
                    <a:cubicBezTo>
                      <a:pt x="140" y="978"/>
                      <a:pt x="140" y="978"/>
                      <a:pt x="140" y="978"/>
                    </a:cubicBezTo>
                    <a:cubicBezTo>
                      <a:pt x="140" y="965"/>
                      <a:pt x="130" y="956"/>
                      <a:pt x="118" y="956"/>
                    </a:cubicBezTo>
                    <a:close/>
                    <a:moveTo>
                      <a:pt x="436" y="1191"/>
                    </a:moveTo>
                    <a:cubicBezTo>
                      <a:pt x="371" y="1191"/>
                      <a:pt x="318" y="1138"/>
                      <a:pt x="318" y="1073"/>
                    </a:cubicBezTo>
                    <a:cubicBezTo>
                      <a:pt x="318" y="1008"/>
                      <a:pt x="371" y="956"/>
                      <a:pt x="436" y="956"/>
                    </a:cubicBezTo>
                    <a:cubicBezTo>
                      <a:pt x="501" y="956"/>
                      <a:pt x="553" y="1008"/>
                      <a:pt x="553" y="1073"/>
                    </a:cubicBezTo>
                    <a:cubicBezTo>
                      <a:pt x="553" y="1138"/>
                      <a:pt x="501" y="1191"/>
                      <a:pt x="436" y="1191"/>
                    </a:cubicBezTo>
                    <a:close/>
                    <a:moveTo>
                      <a:pt x="436" y="1000"/>
                    </a:moveTo>
                    <a:cubicBezTo>
                      <a:pt x="395" y="1000"/>
                      <a:pt x="362" y="1033"/>
                      <a:pt x="362" y="1073"/>
                    </a:cubicBezTo>
                    <a:cubicBezTo>
                      <a:pt x="362" y="1114"/>
                      <a:pt x="395" y="1147"/>
                      <a:pt x="436" y="1147"/>
                    </a:cubicBezTo>
                    <a:cubicBezTo>
                      <a:pt x="476" y="1147"/>
                      <a:pt x="509" y="1114"/>
                      <a:pt x="509" y="1073"/>
                    </a:cubicBezTo>
                    <a:cubicBezTo>
                      <a:pt x="509" y="1033"/>
                      <a:pt x="476" y="1000"/>
                      <a:pt x="436" y="1000"/>
                    </a:cubicBezTo>
                    <a:close/>
                    <a:moveTo>
                      <a:pt x="753" y="956"/>
                    </a:moveTo>
                    <a:cubicBezTo>
                      <a:pt x="741" y="956"/>
                      <a:pt x="731" y="965"/>
                      <a:pt x="731" y="978"/>
                    </a:cubicBezTo>
                    <a:cubicBezTo>
                      <a:pt x="731" y="1169"/>
                      <a:pt x="731" y="1169"/>
                      <a:pt x="731" y="1169"/>
                    </a:cubicBezTo>
                    <a:cubicBezTo>
                      <a:pt x="731" y="1181"/>
                      <a:pt x="741" y="1191"/>
                      <a:pt x="753" y="1191"/>
                    </a:cubicBezTo>
                    <a:cubicBezTo>
                      <a:pt x="765" y="1191"/>
                      <a:pt x="775" y="1181"/>
                      <a:pt x="775" y="1169"/>
                    </a:cubicBezTo>
                    <a:cubicBezTo>
                      <a:pt x="775" y="978"/>
                      <a:pt x="775" y="978"/>
                      <a:pt x="775" y="978"/>
                    </a:cubicBezTo>
                    <a:cubicBezTo>
                      <a:pt x="775" y="965"/>
                      <a:pt x="765" y="956"/>
                      <a:pt x="753" y="956"/>
                    </a:cubicBezTo>
                    <a:close/>
                    <a:moveTo>
                      <a:pt x="1071" y="956"/>
                    </a:moveTo>
                    <a:cubicBezTo>
                      <a:pt x="1059" y="956"/>
                      <a:pt x="1049" y="965"/>
                      <a:pt x="1049" y="978"/>
                    </a:cubicBezTo>
                    <a:cubicBezTo>
                      <a:pt x="1049" y="1169"/>
                      <a:pt x="1049" y="1169"/>
                      <a:pt x="1049" y="1169"/>
                    </a:cubicBezTo>
                    <a:cubicBezTo>
                      <a:pt x="1049" y="1181"/>
                      <a:pt x="1059" y="1191"/>
                      <a:pt x="1071" y="1191"/>
                    </a:cubicBezTo>
                    <a:cubicBezTo>
                      <a:pt x="1083" y="1191"/>
                      <a:pt x="1093" y="1181"/>
                      <a:pt x="1093" y="1169"/>
                    </a:cubicBezTo>
                    <a:cubicBezTo>
                      <a:pt x="1093" y="978"/>
                      <a:pt x="1093" y="978"/>
                      <a:pt x="1093" y="978"/>
                    </a:cubicBezTo>
                    <a:cubicBezTo>
                      <a:pt x="1093" y="965"/>
                      <a:pt x="1083" y="956"/>
                      <a:pt x="1071" y="956"/>
                    </a:cubicBezTo>
                    <a:close/>
                    <a:moveTo>
                      <a:pt x="1388" y="1191"/>
                    </a:moveTo>
                    <a:cubicBezTo>
                      <a:pt x="1323" y="1191"/>
                      <a:pt x="1271" y="1138"/>
                      <a:pt x="1271" y="1073"/>
                    </a:cubicBezTo>
                    <a:cubicBezTo>
                      <a:pt x="1271" y="1008"/>
                      <a:pt x="1323" y="956"/>
                      <a:pt x="1388" y="956"/>
                    </a:cubicBezTo>
                    <a:cubicBezTo>
                      <a:pt x="1453" y="956"/>
                      <a:pt x="1506" y="1008"/>
                      <a:pt x="1506" y="1073"/>
                    </a:cubicBezTo>
                    <a:cubicBezTo>
                      <a:pt x="1506" y="1138"/>
                      <a:pt x="1453" y="1191"/>
                      <a:pt x="1388" y="1191"/>
                    </a:cubicBezTo>
                    <a:close/>
                    <a:moveTo>
                      <a:pt x="1388" y="1000"/>
                    </a:moveTo>
                    <a:cubicBezTo>
                      <a:pt x="1348" y="1000"/>
                      <a:pt x="1315" y="1033"/>
                      <a:pt x="1315" y="1073"/>
                    </a:cubicBezTo>
                    <a:cubicBezTo>
                      <a:pt x="1315" y="1114"/>
                      <a:pt x="1348" y="1147"/>
                      <a:pt x="1388" y="1147"/>
                    </a:cubicBezTo>
                    <a:cubicBezTo>
                      <a:pt x="1429" y="1147"/>
                      <a:pt x="1462" y="1114"/>
                      <a:pt x="1462" y="1073"/>
                    </a:cubicBezTo>
                    <a:cubicBezTo>
                      <a:pt x="1462" y="1033"/>
                      <a:pt x="1429" y="1000"/>
                      <a:pt x="1388" y="1000"/>
                    </a:cubicBezTo>
                    <a:close/>
                    <a:moveTo>
                      <a:pt x="1706" y="956"/>
                    </a:moveTo>
                    <a:cubicBezTo>
                      <a:pt x="1694" y="956"/>
                      <a:pt x="1684" y="965"/>
                      <a:pt x="1684" y="978"/>
                    </a:cubicBezTo>
                    <a:cubicBezTo>
                      <a:pt x="1684" y="1169"/>
                      <a:pt x="1684" y="1169"/>
                      <a:pt x="1684" y="1169"/>
                    </a:cubicBezTo>
                    <a:cubicBezTo>
                      <a:pt x="1684" y="1181"/>
                      <a:pt x="1694" y="1191"/>
                      <a:pt x="1706" y="1191"/>
                    </a:cubicBezTo>
                    <a:cubicBezTo>
                      <a:pt x="1718" y="1191"/>
                      <a:pt x="1728" y="1181"/>
                      <a:pt x="1728" y="1169"/>
                    </a:cubicBezTo>
                    <a:cubicBezTo>
                      <a:pt x="1728" y="978"/>
                      <a:pt x="1728" y="978"/>
                      <a:pt x="1728" y="978"/>
                    </a:cubicBezTo>
                    <a:cubicBezTo>
                      <a:pt x="1728" y="965"/>
                      <a:pt x="1718" y="956"/>
                      <a:pt x="1706" y="956"/>
                    </a:cubicBezTo>
                    <a:close/>
                    <a:moveTo>
                      <a:pt x="118" y="1509"/>
                    </a:moveTo>
                    <a:cubicBezTo>
                      <a:pt x="53" y="1509"/>
                      <a:pt x="0" y="1457"/>
                      <a:pt x="0" y="1392"/>
                    </a:cubicBezTo>
                    <a:cubicBezTo>
                      <a:pt x="0" y="1327"/>
                      <a:pt x="53" y="1274"/>
                      <a:pt x="118" y="1274"/>
                    </a:cubicBezTo>
                    <a:cubicBezTo>
                      <a:pt x="183" y="1274"/>
                      <a:pt x="236" y="1327"/>
                      <a:pt x="236" y="1392"/>
                    </a:cubicBezTo>
                    <a:cubicBezTo>
                      <a:pt x="236" y="1457"/>
                      <a:pt x="183" y="1509"/>
                      <a:pt x="118" y="1509"/>
                    </a:cubicBezTo>
                    <a:close/>
                    <a:moveTo>
                      <a:pt x="118" y="1318"/>
                    </a:moveTo>
                    <a:cubicBezTo>
                      <a:pt x="77" y="1318"/>
                      <a:pt x="44" y="1351"/>
                      <a:pt x="44" y="1392"/>
                    </a:cubicBezTo>
                    <a:cubicBezTo>
                      <a:pt x="44" y="1432"/>
                      <a:pt x="77" y="1465"/>
                      <a:pt x="118" y="1465"/>
                    </a:cubicBezTo>
                    <a:cubicBezTo>
                      <a:pt x="159" y="1465"/>
                      <a:pt x="192" y="1432"/>
                      <a:pt x="192" y="1392"/>
                    </a:cubicBezTo>
                    <a:cubicBezTo>
                      <a:pt x="192" y="1351"/>
                      <a:pt x="159" y="1318"/>
                      <a:pt x="118" y="1318"/>
                    </a:cubicBezTo>
                    <a:close/>
                    <a:moveTo>
                      <a:pt x="436" y="1274"/>
                    </a:moveTo>
                    <a:cubicBezTo>
                      <a:pt x="424" y="1274"/>
                      <a:pt x="414" y="1284"/>
                      <a:pt x="414" y="1296"/>
                    </a:cubicBezTo>
                    <a:cubicBezTo>
                      <a:pt x="414" y="1487"/>
                      <a:pt x="414" y="1487"/>
                      <a:pt x="414" y="1487"/>
                    </a:cubicBezTo>
                    <a:cubicBezTo>
                      <a:pt x="414" y="1500"/>
                      <a:pt x="424" y="1509"/>
                      <a:pt x="436" y="1509"/>
                    </a:cubicBezTo>
                    <a:cubicBezTo>
                      <a:pt x="448" y="1509"/>
                      <a:pt x="458" y="1500"/>
                      <a:pt x="458" y="1487"/>
                    </a:cubicBezTo>
                    <a:cubicBezTo>
                      <a:pt x="458" y="1296"/>
                      <a:pt x="458" y="1296"/>
                      <a:pt x="458" y="1296"/>
                    </a:cubicBezTo>
                    <a:cubicBezTo>
                      <a:pt x="458" y="1284"/>
                      <a:pt x="448" y="1274"/>
                      <a:pt x="436" y="1274"/>
                    </a:cubicBezTo>
                    <a:close/>
                    <a:moveTo>
                      <a:pt x="753" y="1509"/>
                    </a:moveTo>
                    <a:cubicBezTo>
                      <a:pt x="688" y="1509"/>
                      <a:pt x="636" y="1457"/>
                      <a:pt x="636" y="1392"/>
                    </a:cubicBezTo>
                    <a:cubicBezTo>
                      <a:pt x="636" y="1327"/>
                      <a:pt x="688" y="1274"/>
                      <a:pt x="753" y="1274"/>
                    </a:cubicBezTo>
                    <a:cubicBezTo>
                      <a:pt x="818" y="1274"/>
                      <a:pt x="871" y="1327"/>
                      <a:pt x="871" y="1392"/>
                    </a:cubicBezTo>
                    <a:cubicBezTo>
                      <a:pt x="871" y="1457"/>
                      <a:pt x="818" y="1509"/>
                      <a:pt x="753" y="1509"/>
                    </a:cubicBezTo>
                    <a:close/>
                    <a:moveTo>
                      <a:pt x="753" y="1318"/>
                    </a:moveTo>
                    <a:cubicBezTo>
                      <a:pt x="713" y="1318"/>
                      <a:pt x="680" y="1351"/>
                      <a:pt x="680" y="1392"/>
                    </a:cubicBezTo>
                    <a:cubicBezTo>
                      <a:pt x="680" y="1432"/>
                      <a:pt x="713" y="1465"/>
                      <a:pt x="753" y="1465"/>
                    </a:cubicBezTo>
                    <a:cubicBezTo>
                      <a:pt x="794" y="1465"/>
                      <a:pt x="827" y="1432"/>
                      <a:pt x="827" y="1392"/>
                    </a:cubicBezTo>
                    <a:cubicBezTo>
                      <a:pt x="827" y="1351"/>
                      <a:pt x="794" y="1318"/>
                      <a:pt x="753" y="1318"/>
                    </a:cubicBezTo>
                    <a:close/>
                    <a:moveTo>
                      <a:pt x="1706" y="1509"/>
                    </a:moveTo>
                    <a:cubicBezTo>
                      <a:pt x="1641" y="1509"/>
                      <a:pt x="1588" y="1457"/>
                      <a:pt x="1588" y="1392"/>
                    </a:cubicBezTo>
                    <a:cubicBezTo>
                      <a:pt x="1588" y="1327"/>
                      <a:pt x="1641" y="1274"/>
                      <a:pt x="1706" y="1274"/>
                    </a:cubicBezTo>
                    <a:cubicBezTo>
                      <a:pt x="1771" y="1274"/>
                      <a:pt x="1824" y="1327"/>
                      <a:pt x="1824" y="1392"/>
                    </a:cubicBezTo>
                    <a:cubicBezTo>
                      <a:pt x="1824" y="1457"/>
                      <a:pt x="1771" y="1509"/>
                      <a:pt x="1706" y="1509"/>
                    </a:cubicBezTo>
                    <a:close/>
                    <a:moveTo>
                      <a:pt x="1706" y="1318"/>
                    </a:moveTo>
                    <a:cubicBezTo>
                      <a:pt x="1665" y="1318"/>
                      <a:pt x="1632" y="1351"/>
                      <a:pt x="1632" y="1392"/>
                    </a:cubicBezTo>
                    <a:cubicBezTo>
                      <a:pt x="1632" y="1432"/>
                      <a:pt x="1665" y="1465"/>
                      <a:pt x="1706" y="1465"/>
                    </a:cubicBezTo>
                    <a:cubicBezTo>
                      <a:pt x="1747" y="1465"/>
                      <a:pt x="1780" y="1432"/>
                      <a:pt x="1780" y="1392"/>
                    </a:cubicBezTo>
                    <a:cubicBezTo>
                      <a:pt x="1780" y="1351"/>
                      <a:pt x="1747" y="1318"/>
                      <a:pt x="1706" y="1318"/>
                    </a:cubicBezTo>
                    <a:close/>
                    <a:moveTo>
                      <a:pt x="118" y="1828"/>
                    </a:moveTo>
                    <a:cubicBezTo>
                      <a:pt x="53" y="1828"/>
                      <a:pt x="0" y="1775"/>
                      <a:pt x="0" y="1710"/>
                    </a:cubicBezTo>
                    <a:cubicBezTo>
                      <a:pt x="0" y="1645"/>
                      <a:pt x="53" y="1593"/>
                      <a:pt x="118" y="1593"/>
                    </a:cubicBezTo>
                    <a:cubicBezTo>
                      <a:pt x="183" y="1593"/>
                      <a:pt x="236" y="1645"/>
                      <a:pt x="236" y="1710"/>
                    </a:cubicBezTo>
                    <a:cubicBezTo>
                      <a:pt x="236" y="1775"/>
                      <a:pt x="183" y="1828"/>
                      <a:pt x="118" y="1828"/>
                    </a:cubicBezTo>
                    <a:close/>
                    <a:moveTo>
                      <a:pt x="118" y="1637"/>
                    </a:moveTo>
                    <a:cubicBezTo>
                      <a:pt x="77" y="1637"/>
                      <a:pt x="44" y="1670"/>
                      <a:pt x="44" y="1710"/>
                    </a:cubicBezTo>
                    <a:cubicBezTo>
                      <a:pt x="44" y="1751"/>
                      <a:pt x="77" y="1784"/>
                      <a:pt x="118" y="1784"/>
                    </a:cubicBezTo>
                    <a:cubicBezTo>
                      <a:pt x="159" y="1784"/>
                      <a:pt x="192" y="1751"/>
                      <a:pt x="192" y="1710"/>
                    </a:cubicBezTo>
                    <a:cubicBezTo>
                      <a:pt x="192" y="1670"/>
                      <a:pt x="159" y="1637"/>
                      <a:pt x="118" y="1637"/>
                    </a:cubicBezTo>
                    <a:close/>
                    <a:moveTo>
                      <a:pt x="436" y="1593"/>
                    </a:moveTo>
                    <a:cubicBezTo>
                      <a:pt x="424" y="1593"/>
                      <a:pt x="414" y="1603"/>
                      <a:pt x="414" y="1615"/>
                    </a:cubicBezTo>
                    <a:cubicBezTo>
                      <a:pt x="414" y="1806"/>
                      <a:pt x="414" y="1806"/>
                      <a:pt x="414" y="1806"/>
                    </a:cubicBezTo>
                    <a:cubicBezTo>
                      <a:pt x="414" y="1818"/>
                      <a:pt x="424" y="1828"/>
                      <a:pt x="436" y="1828"/>
                    </a:cubicBezTo>
                    <a:cubicBezTo>
                      <a:pt x="448" y="1828"/>
                      <a:pt x="458" y="1818"/>
                      <a:pt x="458" y="1806"/>
                    </a:cubicBezTo>
                    <a:cubicBezTo>
                      <a:pt x="458" y="1615"/>
                      <a:pt x="458" y="1615"/>
                      <a:pt x="458" y="1615"/>
                    </a:cubicBezTo>
                    <a:cubicBezTo>
                      <a:pt x="458" y="1603"/>
                      <a:pt x="448" y="1593"/>
                      <a:pt x="436" y="1593"/>
                    </a:cubicBezTo>
                    <a:close/>
                    <a:moveTo>
                      <a:pt x="753" y="1828"/>
                    </a:moveTo>
                    <a:cubicBezTo>
                      <a:pt x="688" y="1828"/>
                      <a:pt x="636" y="1775"/>
                      <a:pt x="636" y="1710"/>
                    </a:cubicBezTo>
                    <a:cubicBezTo>
                      <a:pt x="636" y="1645"/>
                      <a:pt x="688" y="1593"/>
                      <a:pt x="753" y="1593"/>
                    </a:cubicBezTo>
                    <a:cubicBezTo>
                      <a:pt x="818" y="1593"/>
                      <a:pt x="871" y="1645"/>
                      <a:pt x="871" y="1710"/>
                    </a:cubicBezTo>
                    <a:cubicBezTo>
                      <a:pt x="871" y="1775"/>
                      <a:pt x="818" y="1828"/>
                      <a:pt x="753" y="1828"/>
                    </a:cubicBezTo>
                    <a:close/>
                    <a:moveTo>
                      <a:pt x="753" y="1637"/>
                    </a:moveTo>
                    <a:cubicBezTo>
                      <a:pt x="713" y="1637"/>
                      <a:pt x="680" y="1670"/>
                      <a:pt x="680" y="1710"/>
                    </a:cubicBezTo>
                    <a:cubicBezTo>
                      <a:pt x="680" y="1751"/>
                      <a:pt x="713" y="1784"/>
                      <a:pt x="753" y="1784"/>
                    </a:cubicBezTo>
                    <a:cubicBezTo>
                      <a:pt x="794" y="1784"/>
                      <a:pt x="827" y="1751"/>
                      <a:pt x="827" y="1710"/>
                    </a:cubicBezTo>
                    <a:cubicBezTo>
                      <a:pt x="827" y="1670"/>
                      <a:pt x="794" y="1637"/>
                      <a:pt x="753" y="1637"/>
                    </a:cubicBezTo>
                    <a:close/>
                    <a:moveTo>
                      <a:pt x="1706" y="1828"/>
                    </a:moveTo>
                    <a:cubicBezTo>
                      <a:pt x="1641" y="1828"/>
                      <a:pt x="1588" y="1775"/>
                      <a:pt x="1588" y="1710"/>
                    </a:cubicBezTo>
                    <a:cubicBezTo>
                      <a:pt x="1588" y="1645"/>
                      <a:pt x="1641" y="1593"/>
                      <a:pt x="1706" y="1593"/>
                    </a:cubicBezTo>
                    <a:cubicBezTo>
                      <a:pt x="1771" y="1593"/>
                      <a:pt x="1824" y="1645"/>
                      <a:pt x="1824" y="1710"/>
                    </a:cubicBezTo>
                    <a:cubicBezTo>
                      <a:pt x="1824" y="1775"/>
                      <a:pt x="1771" y="1828"/>
                      <a:pt x="1706" y="1828"/>
                    </a:cubicBezTo>
                    <a:close/>
                    <a:moveTo>
                      <a:pt x="1706" y="1637"/>
                    </a:moveTo>
                    <a:cubicBezTo>
                      <a:pt x="1665" y="1637"/>
                      <a:pt x="1632" y="1670"/>
                      <a:pt x="1632" y="1710"/>
                    </a:cubicBezTo>
                    <a:cubicBezTo>
                      <a:pt x="1632" y="1751"/>
                      <a:pt x="1665" y="1784"/>
                      <a:pt x="1706" y="1784"/>
                    </a:cubicBezTo>
                    <a:cubicBezTo>
                      <a:pt x="1747" y="1784"/>
                      <a:pt x="1780" y="1751"/>
                      <a:pt x="1780" y="1710"/>
                    </a:cubicBezTo>
                    <a:cubicBezTo>
                      <a:pt x="1780" y="1670"/>
                      <a:pt x="1747" y="1637"/>
                      <a:pt x="1706" y="1637"/>
                    </a:cubicBezTo>
                    <a:close/>
                  </a:path>
                </a:pathLst>
              </a:custGeom>
              <a:solidFill>
                <a:srgbClr val="295E7E">
                  <a:lumMod val="10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36">
                <a:extLst>
                  <a:ext uri="{FF2B5EF4-FFF2-40B4-BE49-F238E27FC236}">
                    <a16:creationId xmlns:a16="http://schemas.microsoft.com/office/drawing/2014/main" id="{AA7A02C6-8B66-4350-AA28-E953D47C6F8D}"/>
                  </a:ext>
                </a:extLst>
              </p:cNvPr>
              <p:cNvSpPr>
                <a:spLocks noEditPoints="1"/>
              </p:cNvSpPr>
              <p:nvPr/>
            </p:nvSpPr>
            <p:spPr bwMode="auto">
              <a:xfrm>
                <a:off x="5666231" y="2983230"/>
                <a:ext cx="854583" cy="1092327"/>
              </a:xfrm>
              <a:custGeom>
                <a:avLst/>
                <a:gdLst>
                  <a:gd name="T0" fmla="*/ 511 w 1197"/>
                  <a:gd name="T1" fmla="*/ 220 h 1529"/>
                  <a:gd name="T2" fmla="*/ 473 w 1197"/>
                  <a:gd name="T3" fmla="*/ 132 h 1529"/>
                  <a:gd name="T4" fmla="*/ 388 w 1197"/>
                  <a:gd name="T5" fmla="*/ 18 h 1529"/>
                  <a:gd name="T6" fmla="*/ 259 w 1197"/>
                  <a:gd name="T7" fmla="*/ 31 h 1529"/>
                  <a:gd name="T8" fmla="*/ 168 w 1197"/>
                  <a:gd name="T9" fmla="*/ 17 h 1529"/>
                  <a:gd name="T10" fmla="*/ 117 w 1197"/>
                  <a:gd name="T11" fmla="*/ 94 h 1529"/>
                  <a:gd name="T12" fmla="*/ 19 w 1197"/>
                  <a:gd name="T13" fmla="*/ 179 h 1529"/>
                  <a:gd name="T14" fmla="*/ 42 w 1197"/>
                  <a:gd name="T15" fmla="*/ 320 h 1529"/>
                  <a:gd name="T16" fmla="*/ 80 w 1197"/>
                  <a:gd name="T17" fmla="*/ 409 h 1529"/>
                  <a:gd name="T18" fmla="*/ 160 w 1197"/>
                  <a:gd name="T19" fmla="*/ 524 h 1529"/>
                  <a:gd name="T20" fmla="*/ 298 w 1197"/>
                  <a:gd name="T21" fmla="*/ 513 h 1529"/>
                  <a:gd name="T22" fmla="*/ 386 w 1197"/>
                  <a:gd name="T23" fmla="*/ 528 h 1529"/>
                  <a:gd name="T24" fmla="*/ 436 w 1197"/>
                  <a:gd name="T25" fmla="*/ 453 h 1529"/>
                  <a:gd name="T26" fmla="*/ 538 w 1197"/>
                  <a:gd name="T27" fmla="*/ 359 h 1529"/>
                  <a:gd name="T28" fmla="*/ 325 w 1197"/>
                  <a:gd name="T29" fmla="*/ 384 h 1529"/>
                  <a:gd name="T30" fmla="*/ 229 w 1197"/>
                  <a:gd name="T31" fmla="*/ 161 h 1529"/>
                  <a:gd name="T32" fmla="*/ 325 w 1197"/>
                  <a:gd name="T33" fmla="*/ 384 h 1529"/>
                  <a:gd name="T34" fmla="*/ 1154 w 1197"/>
                  <a:gd name="T35" fmla="*/ 1204 h 1529"/>
                  <a:gd name="T36" fmla="*/ 1116 w 1197"/>
                  <a:gd name="T37" fmla="*/ 1116 h 1529"/>
                  <a:gd name="T38" fmla="*/ 1031 w 1197"/>
                  <a:gd name="T39" fmla="*/ 1003 h 1529"/>
                  <a:gd name="T40" fmla="*/ 902 w 1197"/>
                  <a:gd name="T41" fmla="*/ 1015 h 1529"/>
                  <a:gd name="T42" fmla="*/ 811 w 1197"/>
                  <a:gd name="T43" fmla="*/ 1001 h 1529"/>
                  <a:gd name="T44" fmla="*/ 760 w 1197"/>
                  <a:gd name="T45" fmla="*/ 1078 h 1529"/>
                  <a:gd name="T46" fmla="*/ 662 w 1197"/>
                  <a:gd name="T47" fmla="*/ 1164 h 1529"/>
                  <a:gd name="T48" fmla="*/ 685 w 1197"/>
                  <a:gd name="T49" fmla="*/ 1305 h 1529"/>
                  <a:gd name="T50" fmla="*/ 723 w 1197"/>
                  <a:gd name="T51" fmla="*/ 1393 h 1529"/>
                  <a:gd name="T52" fmla="*/ 803 w 1197"/>
                  <a:gd name="T53" fmla="*/ 1508 h 1529"/>
                  <a:gd name="T54" fmla="*/ 941 w 1197"/>
                  <a:gd name="T55" fmla="*/ 1498 h 1529"/>
                  <a:gd name="T56" fmla="*/ 1029 w 1197"/>
                  <a:gd name="T57" fmla="*/ 1512 h 1529"/>
                  <a:gd name="T58" fmla="*/ 1079 w 1197"/>
                  <a:gd name="T59" fmla="*/ 1438 h 1529"/>
                  <a:gd name="T60" fmla="*/ 1181 w 1197"/>
                  <a:gd name="T61" fmla="*/ 1343 h 1529"/>
                  <a:gd name="T62" fmla="*/ 968 w 1197"/>
                  <a:gd name="T63" fmla="*/ 1368 h 1529"/>
                  <a:gd name="T64" fmla="*/ 872 w 1197"/>
                  <a:gd name="T65" fmla="*/ 1145 h 1529"/>
                  <a:gd name="T66" fmla="*/ 968 w 1197"/>
                  <a:gd name="T67" fmla="*/ 1368 h 1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97" h="1529">
                    <a:moveTo>
                      <a:pt x="550" y="244"/>
                    </a:moveTo>
                    <a:cubicBezTo>
                      <a:pt x="511" y="220"/>
                      <a:pt x="511" y="220"/>
                      <a:pt x="511" y="220"/>
                    </a:cubicBezTo>
                    <a:cubicBezTo>
                      <a:pt x="508" y="205"/>
                      <a:pt x="503" y="191"/>
                      <a:pt x="497" y="176"/>
                    </a:cubicBezTo>
                    <a:cubicBezTo>
                      <a:pt x="491" y="161"/>
                      <a:pt x="482" y="146"/>
                      <a:pt x="473" y="132"/>
                    </a:cubicBezTo>
                    <a:cubicBezTo>
                      <a:pt x="482" y="87"/>
                      <a:pt x="482" y="87"/>
                      <a:pt x="482" y="87"/>
                    </a:cubicBezTo>
                    <a:cubicBezTo>
                      <a:pt x="456" y="58"/>
                      <a:pt x="423" y="34"/>
                      <a:pt x="388" y="18"/>
                    </a:cubicBezTo>
                    <a:cubicBezTo>
                      <a:pt x="348" y="41"/>
                      <a:pt x="348" y="41"/>
                      <a:pt x="348" y="41"/>
                    </a:cubicBezTo>
                    <a:cubicBezTo>
                      <a:pt x="319" y="32"/>
                      <a:pt x="289" y="29"/>
                      <a:pt x="259" y="31"/>
                    </a:cubicBezTo>
                    <a:cubicBezTo>
                      <a:pt x="225" y="0"/>
                      <a:pt x="225" y="0"/>
                      <a:pt x="225" y="0"/>
                    </a:cubicBezTo>
                    <a:cubicBezTo>
                      <a:pt x="206" y="4"/>
                      <a:pt x="187" y="9"/>
                      <a:pt x="168" y="17"/>
                    </a:cubicBezTo>
                    <a:cubicBezTo>
                      <a:pt x="150" y="25"/>
                      <a:pt x="132" y="35"/>
                      <a:pt x="117" y="46"/>
                    </a:cubicBezTo>
                    <a:cubicBezTo>
                      <a:pt x="117" y="94"/>
                      <a:pt x="117" y="94"/>
                      <a:pt x="117" y="94"/>
                    </a:cubicBezTo>
                    <a:cubicBezTo>
                      <a:pt x="94" y="115"/>
                      <a:pt x="75" y="138"/>
                      <a:pt x="62" y="165"/>
                    </a:cubicBezTo>
                    <a:cubicBezTo>
                      <a:pt x="19" y="179"/>
                      <a:pt x="19" y="179"/>
                      <a:pt x="19" y="179"/>
                    </a:cubicBezTo>
                    <a:cubicBezTo>
                      <a:pt x="5" y="216"/>
                      <a:pt x="0" y="256"/>
                      <a:pt x="3" y="297"/>
                    </a:cubicBezTo>
                    <a:cubicBezTo>
                      <a:pt x="42" y="320"/>
                      <a:pt x="42" y="320"/>
                      <a:pt x="42" y="320"/>
                    </a:cubicBezTo>
                    <a:cubicBezTo>
                      <a:pt x="45" y="336"/>
                      <a:pt x="50" y="352"/>
                      <a:pt x="58" y="368"/>
                    </a:cubicBezTo>
                    <a:cubicBezTo>
                      <a:pt x="64" y="382"/>
                      <a:pt x="71" y="396"/>
                      <a:pt x="80" y="409"/>
                    </a:cubicBezTo>
                    <a:cubicBezTo>
                      <a:pt x="69" y="453"/>
                      <a:pt x="69" y="453"/>
                      <a:pt x="69" y="453"/>
                    </a:cubicBezTo>
                    <a:cubicBezTo>
                      <a:pt x="95" y="484"/>
                      <a:pt x="126" y="507"/>
                      <a:pt x="160" y="524"/>
                    </a:cubicBezTo>
                    <a:cubicBezTo>
                      <a:pt x="199" y="501"/>
                      <a:pt x="199" y="501"/>
                      <a:pt x="199" y="501"/>
                    </a:cubicBezTo>
                    <a:cubicBezTo>
                      <a:pt x="231" y="512"/>
                      <a:pt x="264" y="516"/>
                      <a:pt x="298" y="513"/>
                    </a:cubicBezTo>
                    <a:cubicBezTo>
                      <a:pt x="333" y="545"/>
                      <a:pt x="333" y="545"/>
                      <a:pt x="333" y="545"/>
                    </a:cubicBezTo>
                    <a:cubicBezTo>
                      <a:pt x="350" y="540"/>
                      <a:pt x="368" y="535"/>
                      <a:pt x="386" y="528"/>
                    </a:cubicBezTo>
                    <a:cubicBezTo>
                      <a:pt x="403" y="520"/>
                      <a:pt x="420" y="510"/>
                      <a:pt x="436" y="499"/>
                    </a:cubicBezTo>
                    <a:cubicBezTo>
                      <a:pt x="436" y="453"/>
                      <a:pt x="436" y="453"/>
                      <a:pt x="436" y="453"/>
                    </a:cubicBezTo>
                    <a:cubicBezTo>
                      <a:pt x="461" y="430"/>
                      <a:pt x="481" y="402"/>
                      <a:pt x="495" y="372"/>
                    </a:cubicBezTo>
                    <a:cubicBezTo>
                      <a:pt x="538" y="359"/>
                      <a:pt x="538" y="359"/>
                      <a:pt x="538" y="359"/>
                    </a:cubicBezTo>
                    <a:cubicBezTo>
                      <a:pt x="550" y="322"/>
                      <a:pt x="554" y="283"/>
                      <a:pt x="550" y="244"/>
                    </a:cubicBezTo>
                    <a:close/>
                    <a:moveTo>
                      <a:pt x="325" y="384"/>
                    </a:moveTo>
                    <a:cubicBezTo>
                      <a:pt x="264" y="411"/>
                      <a:pt x="193" y="382"/>
                      <a:pt x="167" y="320"/>
                    </a:cubicBezTo>
                    <a:cubicBezTo>
                      <a:pt x="140" y="258"/>
                      <a:pt x="168" y="187"/>
                      <a:pt x="229" y="161"/>
                    </a:cubicBezTo>
                    <a:cubicBezTo>
                      <a:pt x="290" y="134"/>
                      <a:pt x="361" y="163"/>
                      <a:pt x="387" y="224"/>
                    </a:cubicBezTo>
                    <a:cubicBezTo>
                      <a:pt x="414" y="285"/>
                      <a:pt x="386" y="358"/>
                      <a:pt x="325" y="384"/>
                    </a:cubicBezTo>
                    <a:close/>
                    <a:moveTo>
                      <a:pt x="1193" y="1228"/>
                    </a:moveTo>
                    <a:cubicBezTo>
                      <a:pt x="1154" y="1204"/>
                      <a:pt x="1154" y="1204"/>
                      <a:pt x="1154" y="1204"/>
                    </a:cubicBezTo>
                    <a:cubicBezTo>
                      <a:pt x="1151" y="1190"/>
                      <a:pt x="1146" y="1175"/>
                      <a:pt x="1140" y="1160"/>
                    </a:cubicBezTo>
                    <a:cubicBezTo>
                      <a:pt x="1134" y="1145"/>
                      <a:pt x="1125" y="1130"/>
                      <a:pt x="1116" y="1116"/>
                    </a:cubicBezTo>
                    <a:cubicBezTo>
                      <a:pt x="1125" y="1072"/>
                      <a:pt x="1125" y="1072"/>
                      <a:pt x="1125" y="1072"/>
                    </a:cubicBezTo>
                    <a:cubicBezTo>
                      <a:pt x="1099" y="1042"/>
                      <a:pt x="1066" y="1018"/>
                      <a:pt x="1031" y="1003"/>
                    </a:cubicBezTo>
                    <a:cubicBezTo>
                      <a:pt x="991" y="1026"/>
                      <a:pt x="991" y="1026"/>
                      <a:pt x="991" y="1026"/>
                    </a:cubicBezTo>
                    <a:cubicBezTo>
                      <a:pt x="962" y="1016"/>
                      <a:pt x="932" y="1013"/>
                      <a:pt x="902" y="1015"/>
                    </a:cubicBezTo>
                    <a:cubicBezTo>
                      <a:pt x="868" y="984"/>
                      <a:pt x="868" y="984"/>
                      <a:pt x="868" y="984"/>
                    </a:cubicBezTo>
                    <a:cubicBezTo>
                      <a:pt x="849" y="988"/>
                      <a:pt x="830" y="993"/>
                      <a:pt x="811" y="1001"/>
                    </a:cubicBezTo>
                    <a:cubicBezTo>
                      <a:pt x="793" y="1010"/>
                      <a:pt x="775" y="1019"/>
                      <a:pt x="760" y="1031"/>
                    </a:cubicBezTo>
                    <a:cubicBezTo>
                      <a:pt x="760" y="1078"/>
                      <a:pt x="760" y="1078"/>
                      <a:pt x="760" y="1078"/>
                    </a:cubicBezTo>
                    <a:cubicBezTo>
                      <a:pt x="737" y="1099"/>
                      <a:pt x="718" y="1123"/>
                      <a:pt x="705" y="1150"/>
                    </a:cubicBezTo>
                    <a:cubicBezTo>
                      <a:pt x="662" y="1164"/>
                      <a:pt x="662" y="1164"/>
                      <a:pt x="662" y="1164"/>
                    </a:cubicBezTo>
                    <a:cubicBezTo>
                      <a:pt x="648" y="1201"/>
                      <a:pt x="643" y="1240"/>
                      <a:pt x="646" y="1282"/>
                    </a:cubicBezTo>
                    <a:cubicBezTo>
                      <a:pt x="685" y="1305"/>
                      <a:pt x="685" y="1305"/>
                      <a:pt x="685" y="1305"/>
                    </a:cubicBezTo>
                    <a:cubicBezTo>
                      <a:pt x="688" y="1320"/>
                      <a:pt x="693" y="1337"/>
                      <a:pt x="701" y="1352"/>
                    </a:cubicBezTo>
                    <a:cubicBezTo>
                      <a:pt x="707" y="1367"/>
                      <a:pt x="714" y="1381"/>
                      <a:pt x="723" y="1393"/>
                    </a:cubicBezTo>
                    <a:cubicBezTo>
                      <a:pt x="712" y="1438"/>
                      <a:pt x="712" y="1438"/>
                      <a:pt x="712" y="1438"/>
                    </a:cubicBezTo>
                    <a:cubicBezTo>
                      <a:pt x="738" y="1468"/>
                      <a:pt x="769" y="1491"/>
                      <a:pt x="803" y="1508"/>
                    </a:cubicBezTo>
                    <a:cubicBezTo>
                      <a:pt x="842" y="1485"/>
                      <a:pt x="842" y="1485"/>
                      <a:pt x="842" y="1485"/>
                    </a:cubicBezTo>
                    <a:cubicBezTo>
                      <a:pt x="874" y="1496"/>
                      <a:pt x="907" y="1500"/>
                      <a:pt x="941" y="1498"/>
                    </a:cubicBezTo>
                    <a:cubicBezTo>
                      <a:pt x="976" y="1529"/>
                      <a:pt x="976" y="1529"/>
                      <a:pt x="976" y="1529"/>
                    </a:cubicBezTo>
                    <a:cubicBezTo>
                      <a:pt x="993" y="1525"/>
                      <a:pt x="1011" y="1519"/>
                      <a:pt x="1029" y="1512"/>
                    </a:cubicBezTo>
                    <a:cubicBezTo>
                      <a:pt x="1046" y="1504"/>
                      <a:pt x="1063" y="1494"/>
                      <a:pt x="1079" y="1484"/>
                    </a:cubicBezTo>
                    <a:cubicBezTo>
                      <a:pt x="1079" y="1438"/>
                      <a:pt x="1079" y="1438"/>
                      <a:pt x="1079" y="1438"/>
                    </a:cubicBezTo>
                    <a:cubicBezTo>
                      <a:pt x="1104" y="1415"/>
                      <a:pt x="1124" y="1387"/>
                      <a:pt x="1138" y="1356"/>
                    </a:cubicBezTo>
                    <a:cubicBezTo>
                      <a:pt x="1181" y="1343"/>
                      <a:pt x="1181" y="1343"/>
                      <a:pt x="1181" y="1343"/>
                    </a:cubicBezTo>
                    <a:cubicBezTo>
                      <a:pt x="1193" y="1307"/>
                      <a:pt x="1197" y="1267"/>
                      <a:pt x="1193" y="1228"/>
                    </a:cubicBezTo>
                    <a:close/>
                    <a:moveTo>
                      <a:pt x="968" y="1368"/>
                    </a:moveTo>
                    <a:cubicBezTo>
                      <a:pt x="907" y="1395"/>
                      <a:pt x="836" y="1366"/>
                      <a:pt x="810" y="1305"/>
                    </a:cubicBezTo>
                    <a:cubicBezTo>
                      <a:pt x="783" y="1243"/>
                      <a:pt x="811" y="1171"/>
                      <a:pt x="872" y="1145"/>
                    </a:cubicBezTo>
                    <a:cubicBezTo>
                      <a:pt x="933" y="1118"/>
                      <a:pt x="1004" y="1147"/>
                      <a:pt x="1030" y="1208"/>
                    </a:cubicBezTo>
                    <a:cubicBezTo>
                      <a:pt x="1057" y="1270"/>
                      <a:pt x="1029" y="1342"/>
                      <a:pt x="968" y="1368"/>
                    </a:cubicBezTo>
                    <a:close/>
                  </a:path>
                </a:pathLst>
              </a:custGeom>
              <a:solidFill>
                <a:srgbClr val="29BA74">
                  <a:lumMod val="10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
        <p:nvSpPr>
          <p:cNvPr id="23" name="TextBox 22">
            <a:extLst>
              <a:ext uri="{FF2B5EF4-FFF2-40B4-BE49-F238E27FC236}">
                <a16:creationId xmlns:a16="http://schemas.microsoft.com/office/drawing/2014/main" id="{02E3E006-B84E-483D-AFD5-A2F9271F1CC3}"/>
              </a:ext>
            </a:extLst>
          </p:cNvPr>
          <p:cNvSpPr txBox="1"/>
          <p:nvPr/>
        </p:nvSpPr>
        <p:spPr>
          <a:xfrm>
            <a:off x="5854165" y="534506"/>
            <a:ext cx="5908164" cy="738664"/>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spAutoFit/>
          </a:bodyPr>
          <a:lstStyle/>
          <a:p>
            <a:pPr>
              <a:buClr>
                <a:srgbClr val="295E7E">
                  <a:lumMod val="100000"/>
                </a:srgbClr>
              </a:buClr>
              <a:buSzPct val="100000"/>
              <a:buFont typeface="Trebuchet MS" panose="020B0603020202020204" pitchFamily="34" charset="0"/>
              <a:buChar char="​"/>
            </a:pPr>
            <a:r>
              <a:rPr lang="en-US" sz="1600">
                <a:solidFill>
                  <a:srgbClr val="29BA74"/>
                </a:solidFill>
              </a:rPr>
              <a:t>Customers more willing to share data in exchange for value, </a:t>
            </a:r>
            <a:r>
              <a:rPr lang="en-US" sz="1600">
                <a:solidFill>
                  <a:srgbClr val="575757"/>
                </a:solidFill>
              </a:rPr>
              <a:t>breaking the monopoly advantage traditional banks had on customer financial data</a:t>
            </a:r>
          </a:p>
        </p:txBody>
      </p:sp>
      <p:grpSp>
        <p:nvGrpSpPr>
          <p:cNvPr id="29" name="bcgIcons_Digital">
            <a:extLst>
              <a:ext uri="{FF2B5EF4-FFF2-40B4-BE49-F238E27FC236}">
                <a16:creationId xmlns:a16="http://schemas.microsoft.com/office/drawing/2014/main" id="{9365669D-2DCA-41FD-A0AD-D518C475CBAB}"/>
              </a:ext>
            </a:extLst>
          </p:cNvPr>
          <p:cNvGrpSpPr>
            <a:grpSpLocks noChangeAspect="1"/>
          </p:cNvGrpSpPr>
          <p:nvPr/>
        </p:nvGrpSpPr>
        <p:grpSpPr bwMode="auto">
          <a:xfrm>
            <a:off x="4801403" y="4152317"/>
            <a:ext cx="788548" cy="789278"/>
            <a:chOff x="1682" y="0"/>
            <a:chExt cx="4316" cy="4320"/>
          </a:xfrm>
        </p:grpSpPr>
        <p:sp>
          <p:nvSpPr>
            <p:cNvPr id="30" name="AutoShape 8">
              <a:extLst>
                <a:ext uri="{FF2B5EF4-FFF2-40B4-BE49-F238E27FC236}">
                  <a16:creationId xmlns:a16="http://schemas.microsoft.com/office/drawing/2014/main" id="{A810FD50-1B44-4F87-A080-7926AEC2C521}"/>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0">
              <a:extLst>
                <a:ext uri="{FF2B5EF4-FFF2-40B4-BE49-F238E27FC236}">
                  <a16:creationId xmlns:a16="http://schemas.microsoft.com/office/drawing/2014/main" id="{002C666F-EEC1-45B4-AACA-F6D5C7418768}"/>
                </a:ext>
              </a:extLst>
            </p:cNvPr>
            <p:cNvSpPr>
              <a:spLocks noEditPoints="1"/>
            </p:cNvSpPr>
            <p:nvPr/>
          </p:nvSpPr>
          <p:spPr bwMode="auto">
            <a:xfrm>
              <a:off x="2727" y="919"/>
              <a:ext cx="2797" cy="2512"/>
            </a:xfrm>
            <a:custGeom>
              <a:avLst/>
              <a:gdLst>
                <a:gd name="T0" fmla="*/ 263 w 1493"/>
                <a:gd name="T1" fmla="*/ 1282 h 1340"/>
                <a:gd name="T2" fmla="*/ 379 w 1493"/>
                <a:gd name="T3" fmla="*/ 1282 h 1340"/>
                <a:gd name="T4" fmla="*/ 469 w 1493"/>
                <a:gd name="T5" fmla="*/ 22 h 1340"/>
                <a:gd name="T6" fmla="*/ 195 w 1493"/>
                <a:gd name="T7" fmla="*/ 0 h 1340"/>
                <a:gd name="T8" fmla="*/ 195 w 1493"/>
                <a:gd name="T9" fmla="*/ 44 h 1340"/>
                <a:gd name="T10" fmla="*/ 469 w 1493"/>
                <a:gd name="T11" fmla="*/ 22 h 1340"/>
                <a:gd name="T12" fmla="*/ 390 w 1493"/>
                <a:gd name="T13" fmla="*/ 564 h 1340"/>
                <a:gd name="T14" fmla="*/ 368 w 1493"/>
                <a:gd name="T15" fmla="*/ 701 h 1340"/>
                <a:gd name="T16" fmla="*/ 504 w 1493"/>
                <a:gd name="T17" fmla="*/ 723 h 1340"/>
                <a:gd name="T18" fmla="*/ 526 w 1493"/>
                <a:gd name="T19" fmla="*/ 586 h 1340"/>
                <a:gd name="T20" fmla="*/ 758 w 1493"/>
                <a:gd name="T21" fmla="*/ 347 h 1340"/>
                <a:gd name="T22" fmla="*/ 578 w 1493"/>
                <a:gd name="T23" fmla="*/ 369 h 1340"/>
                <a:gd name="T24" fmla="*/ 600 w 1493"/>
                <a:gd name="T25" fmla="*/ 549 h 1340"/>
                <a:gd name="T26" fmla="*/ 780 w 1493"/>
                <a:gd name="T27" fmla="*/ 527 h 1340"/>
                <a:gd name="T28" fmla="*/ 758 w 1493"/>
                <a:gd name="T29" fmla="*/ 347 h 1340"/>
                <a:gd name="T30" fmla="*/ 570 w 1493"/>
                <a:gd name="T31" fmla="*/ 586 h 1340"/>
                <a:gd name="T32" fmla="*/ 570 w 1493"/>
                <a:gd name="T33" fmla="*/ 701 h 1340"/>
                <a:gd name="T34" fmla="*/ 390 w 1493"/>
                <a:gd name="T35" fmla="*/ 767 h 1340"/>
                <a:gd name="T36" fmla="*/ 324 w 1493"/>
                <a:gd name="T37" fmla="*/ 586 h 1340"/>
                <a:gd name="T38" fmla="*/ 504 w 1493"/>
                <a:gd name="T39" fmla="*/ 520 h 1340"/>
                <a:gd name="T40" fmla="*/ 534 w 1493"/>
                <a:gd name="T41" fmla="*/ 527 h 1340"/>
                <a:gd name="T42" fmla="*/ 600 w 1493"/>
                <a:gd name="T43" fmla="*/ 303 h 1340"/>
                <a:gd name="T44" fmla="*/ 638 w 1493"/>
                <a:gd name="T45" fmla="*/ 115 h 1340"/>
                <a:gd name="T46" fmla="*/ 10 w 1493"/>
                <a:gd name="T47" fmla="*/ 105 h 1340"/>
                <a:gd name="T48" fmla="*/ 0 w 1493"/>
                <a:gd name="T49" fmla="*/ 1092 h 1340"/>
                <a:gd name="T50" fmla="*/ 628 w 1493"/>
                <a:gd name="T51" fmla="*/ 1102 h 1340"/>
                <a:gd name="T52" fmla="*/ 638 w 1493"/>
                <a:gd name="T53" fmla="*/ 593 h 1340"/>
                <a:gd name="T54" fmla="*/ 1095 w 1493"/>
                <a:gd name="T55" fmla="*/ 105 h 1340"/>
                <a:gd name="T56" fmla="*/ 874 w 1493"/>
                <a:gd name="T57" fmla="*/ 127 h 1340"/>
                <a:gd name="T58" fmla="*/ 896 w 1493"/>
                <a:gd name="T59" fmla="*/ 348 h 1340"/>
                <a:gd name="T60" fmla="*/ 1117 w 1493"/>
                <a:gd name="T61" fmla="*/ 326 h 1340"/>
                <a:gd name="T62" fmla="*/ 1095 w 1493"/>
                <a:gd name="T63" fmla="*/ 105 h 1340"/>
                <a:gd name="T64" fmla="*/ 1493 w 1493"/>
                <a:gd name="T65" fmla="*/ 222 h 1340"/>
                <a:gd name="T66" fmla="*/ 1197 w 1493"/>
                <a:gd name="T67" fmla="*/ 200 h 1340"/>
                <a:gd name="T68" fmla="*/ 1175 w 1493"/>
                <a:gd name="T69" fmla="*/ 496 h 1340"/>
                <a:gd name="T70" fmla="*/ 1471 w 1493"/>
                <a:gd name="T71" fmla="*/ 518 h 1340"/>
                <a:gd name="T72" fmla="*/ 1117 w 1493"/>
                <a:gd name="T73" fmla="*/ 667 h 1340"/>
                <a:gd name="T74" fmla="*/ 1095 w 1493"/>
                <a:gd name="T75" fmla="*/ 409 h 1340"/>
                <a:gd name="T76" fmla="*/ 838 w 1493"/>
                <a:gd name="T77" fmla="*/ 431 h 1340"/>
                <a:gd name="T78" fmla="*/ 860 w 1493"/>
                <a:gd name="T79" fmla="*/ 689 h 1340"/>
                <a:gd name="T80" fmla="*/ 1117 w 1493"/>
                <a:gd name="T81" fmla="*/ 667 h 1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93" h="1340">
                  <a:moveTo>
                    <a:pt x="321" y="1340"/>
                  </a:moveTo>
                  <a:cubicBezTo>
                    <a:pt x="289" y="1340"/>
                    <a:pt x="263" y="1314"/>
                    <a:pt x="263" y="1282"/>
                  </a:cubicBezTo>
                  <a:cubicBezTo>
                    <a:pt x="263" y="1250"/>
                    <a:pt x="289" y="1224"/>
                    <a:pt x="321" y="1224"/>
                  </a:cubicBezTo>
                  <a:cubicBezTo>
                    <a:pt x="353" y="1224"/>
                    <a:pt x="379" y="1250"/>
                    <a:pt x="379" y="1282"/>
                  </a:cubicBezTo>
                  <a:cubicBezTo>
                    <a:pt x="379" y="1314"/>
                    <a:pt x="353" y="1340"/>
                    <a:pt x="321" y="1340"/>
                  </a:cubicBezTo>
                  <a:close/>
                  <a:moveTo>
                    <a:pt x="469" y="22"/>
                  </a:moveTo>
                  <a:cubicBezTo>
                    <a:pt x="469" y="10"/>
                    <a:pt x="459" y="0"/>
                    <a:pt x="447" y="0"/>
                  </a:cubicBezTo>
                  <a:cubicBezTo>
                    <a:pt x="195" y="0"/>
                    <a:pt x="195" y="0"/>
                    <a:pt x="195" y="0"/>
                  </a:cubicBezTo>
                  <a:cubicBezTo>
                    <a:pt x="183" y="0"/>
                    <a:pt x="173" y="10"/>
                    <a:pt x="173" y="22"/>
                  </a:cubicBezTo>
                  <a:cubicBezTo>
                    <a:pt x="173" y="34"/>
                    <a:pt x="183" y="44"/>
                    <a:pt x="195" y="44"/>
                  </a:cubicBezTo>
                  <a:cubicBezTo>
                    <a:pt x="447" y="44"/>
                    <a:pt x="447" y="44"/>
                    <a:pt x="447" y="44"/>
                  </a:cubicBezTo>
                  <a:cubicBezTo>
                    <a:pt x="459" y="44"/>
                    <a:pt x="469" y="34"/>
                    <a:pt x="469" y="22"/>
                  </a:cubicBezTo>
                  <a:close/>
                  <a:moveTo>
                    <a:pt x="504" y="564"/>
                  </a:moveTo>
                  <a:cubicBezTo>
                    <a:pt x="390" y="564"/>
                    <a:pt x="390" y="564"/>
                    <a:pt x="390" y="564"/>
                  </a:cubicBezTo>
                  <a:cubicBezTo>
                    <a:pt x="377" y="564"/>
                    <a:pt x="368" y="574"/>
                    <a:pt x="368" y="586"/>
                  </a:cubicBezTo>
                  <a:cubicBezTo>
                    <a:pt x="368" y="701"/>
                    <a:pt x="368" y="701"/>
                    <a:pt x="368" y="701"/>
                  </a:cubicBezTo>
                  <a:cubicBezTo>
                    <a:pt x="368" y="713"/>
                    <a:pt x="377" y="723"/>
                    <a:pt x="390" y="723"/>
                  </a:cubicBezTo>
                  <a:cubicBezTo>
                    <a:pt x="504" y="723"/>
                    <a:pt x="504" y="723"/>
                    <a:pt x="504" y="723"/>
                  </a:cubicBezTo>
                  <a:cubicBezTo>
                    <a:pt x="516" y="723"/>
                    <a:pt x="526" y="713"/>
                    <a:pt x="526" y="701"/>
                  </a:cubicBezTo>
                  <a:cubicBezTo>
                    <a:pt x="526" y="586"/>
                    <a:pt x="526" y="586"/>
                    <a:pt x="526" y="586"/>
                  </a:cubicBezTo>
                  <a:cubicBezTo>
                    <a:pt x="526" y="574"/>
                    <a:pt x="516" y="564"/>
                    <a:pt x="504" y="564"/>
                  </a:cubicBezTo>
                  <a:moveTo>
                    <a:pt x="758" y="347"/>
                  </a:moveTo>
                  <a:cubicBezTo>
                    <a:pt x="600" y="347"/>
                    <a:pt x="600" y="347"/>
                    <a:pt x="600" y="347"/>
                  </a:cubicBezTo>
                  <a:cubicBezTo>
                    <a:pt x="588" y="347"/>
                    <a:pt x="578" y="357"/>
                    <a:pt x="578" y="369"/>
                  </a:cubicBezTo>
                  <a:cubicBezTo>
                    <a:pt x="578" y="527"/>
                    <a:pt x="578" y="527"/>
                    <a:pt x="578" y="527"/>
                  </a:cubicBezTo>
                  <a:cubicBezTo>
                    <a:pt x="578" y="539"/>
                    <a:pt x="588" y="549"/>
                    <a:pt x="600" y="549"/>
                  </a:cubicBezTo>
                  <a:cubicBezTo>
                    <a:pt x="758" y="549"/>
                    <a:pt x="758" y="549"/>
                    <a:pt x="758" y="549"/>
                  </a:cubicBezTo>
                  <a:cubicBezTo>
                    <a:pt x="770" y="549"/>
                    <a:pt x="780" y="539"/>
                    <a:pt x="780" y="527"/>
                  </a:cubicBezTo>
                  <a:cubicBezTo>
                    <a:pt x="780" y="369"/>
                    <a:pt x="780" y="369"/>
                    <a:pt x="780" y="369"/>
                  </a:cubicBezTo>
                  <a:cubicBezTo>
                    <a:pt x="780" y="357"/>
                    <a:pt x="770" y="347"/>
                    <a:pt x="758" y="347"/>
                  </a:cubicBezTo>
                  <a:moveTo>
                    <a:pt x="600" y="593"/>
                  </a:moveTo>
                  <a:cubicBezTo>
                    <a:pt x="589" y="593"/>
                    <a:pt x="579" y="590"/>
                    <a:pt x="570" y="586"/>
                  </a:cubicBezTo>
                  <a:cubicBezTo>
                    <a:pt x="570" y="586"/>
                    <a:pt x="570" y="586"/>
                    <a:pt x="570" y="586"/>
                  </a:cubicBezTo>
                  <a:cubicBezTo>
                    <a:pt x="570" y="701"/>
                    <a:pt x="570" y="701"/>
                    <a:pt x="570" y="701"/>
                  </a:cubicBezTo>
                  <a:cubicBezTo>
                    <a:pt x="570" y="737"/>
                    <a:pt x="541" y="767"/>
                    <a:pt x="504" y="767"/>
                  </a:cubicBezTo>
                  <a:cubicBezTo>
                    <a:pt x="390" y="767"/>
                    <a:pt x="390" y="767"/>
                    <a:pt x="390" y="767"/>
                  </a:cubicBezTo>
                  <a:cubicBezTo>
                    <a:pt x="353" y="767"/>
                    <a:pt x="324" y="737"/>
                    <a:pt x="324" y="701"/>
                  </a:cubicBezTo>
                  <a:cubicBezTo>
                    <a:pt x="324" y="586"/>
                    <a:pt x="324" y="586"/>
                    <a:pt x="324" y="586"/>
                  </a:cubicBezTo>
                  <a:cubicBezTo>
                    <a:pt x="324" y="550"/>
                    <a:pt x="353" y="520"/>
                    <a:pt x="390" y="520"/>
                  </a:cubicBezTo>
                  <a:cubicBezTo>
                    <a:pt x="504" y="520"/>
                    <a:pt x="504" y="520"/>
                    <a:pt x="504" y="520"/>
                  </a:cubicBezTo>
                  <a:cubicBezTo>
                    <a:pt x="515" y="520"/>
                    <a:pt x="525" y="523"/>
                    <a:pt x="534" y="528"/>
                  </a:cubicBezTo>
                  <a:cubicBezTo>
                    <a:pt x="534" y="527"/>
                    <a:pt x="534" y="527"/>
                    <a:pt x="534" y="527"/>
                  </a:cubicBezTo>
                  <a:cubicBezTo>
                    <a:pt x="534" y="369"/>
                    <a:pt x="534" y="369"/>
                    <a:pt x="534" y="369"/>
                  </a:cubicBezTo>
                  <a:cubicBezTo>
                    <a:pt x="534" y="333"/>
                    <a:pt x="564" y="303"/>
                    <a:pt x="600" y="303"/>
                  </a:cubicBezTo>
                  <a:cubicBezTo>
                    <a:pt x="638" y="303"/>
                    <a:pt x="638" y="303"/>
                    <a:pt x="638" y="303"/>
                  </a:cubicBezTo>
                  <a:cubicBezTo>
                    <a:pt x="638" y="115"/>
                    <a:pt x="638" y="115"/>
                    <a:pt x="638" y="115"/>
                  </a:cubicBezTo>
                  <a:cubicBezTo>
                    <a:pt x="638" y="110"/>
                    <a:pt x="634" y="105"/>
                    <a:pt x="628" y="105"/>
                  </a:cubicBezTo>
                  <a:cubicBezTo>
                    <a:pt x="10" y="105"/>
                    <a:pt x="10" y="105"/>
                    <a:pt x="10" y="105"/>
                  </a:cubicBezTo>
                  <a:cubicBezTo>
                    <a:pt x="4" y="105"/>
                    <a:pt x="0" y="110"/>
                    <a:pt x="0" y="115"/>
                  </a:cubicBezTo>
                  <a:cubicBezTo>
                    <a:pt x="0" y="1092"/>
                    <a:pt x="0" y="1092"/>
                    <a:pt x="0" y="1092"/>
                  </a:cubicBezTo>
                  <a:cubicBezTo>
                    <a:pt x="0" y="1098"/>
                    <a:pt x="4" y="1102"/>
                    <a:pt x="10" y="1102"/>
                  </a:cubicBezTo>
                  <a:cubicBezTo>
                    <a:pt x="628" y="1102"/>
                    <a:pt x="628" y="1102"/>
                    <a:pt x="628" y="1102"/>
                  </a:cubicBezTo>
                  <a:cubicBezTo>
                    <a:pt x="634" y="1102"/>
                    <a:pt x="638" y="1098"/>
                    <a:pt x="638" y="1092"/>
                  </a:cubicBezTo>
                  <a:cubicBezTo>
                    <a:pt x="638" y="593"/>
                    <a:pt x="638" y="593"/>
                    <a:pt x="638" y="593"/>
                  </a:cubicBezTo>
                  <a:lnTo>
                    <a:pt x="600" y="593"/>
                  </a:lnTo>
                  <a:close/>
                  <a:moveTo>
                    <a:pt x="1095" y="105"/>
                  </a:moveTo>
                  <a:cubicBezTo>
                    <a:pt x="896" y="105"/>
                    <a:pt x="896" y="105"/>
                    <a:pt x="896" y="105"/>
                  </a:cubicBezTo>
                  <a:cubicBezTo>
                    <a:pt x="884" y="105"/>
                    <a:pt x="874" y="115"/>
                    <a:pt x="874" y="127"/>
                  </a:cubicBezTo>
                  <a:cubicBezTo>
                    <a:pt x="874" y="326"/>
                    <a:pt x="874" y="326"/>
                    <a:pt x="874" y="326"/>
                  </a:cubicBezTo>
                  <a:cubicBezTo>
                    <a:pt x="874" y="338"/>
                    <a:pt x="884" y="348"/>
                    <a:pt x="896" y="348"/>
                  </a:cubicBezTo>
                  <a:cubicBezTo>
                    <a:pt x="1095" y="348"/>
                    <a:pt x="1095" y="348"/>
                    <a:pt x="1095" y="348"/>
                  </a:cubicBezTo>
                  <a:cubicBezTo>
                    <a:pt x="1107" y="348"/>
                    <a:pt x="1117" y="338"/>
                    <a:pt x="1117" y="326"/>
                  </a:cubicBezTo>
                  <a:cubicBezTo>
                    <a:pt x="1117" y="127"/>
                    <a:pt x="1117" y="127"/>
                    <a:pt x="1117" y="127"/>
                  </a:cubicBezTo>
                  <a:cubicBezTo>
                    <a:pt x="1117" y="115"/>
                    <a:pt x="1107" y="105"/>
                    <a:pt x="1095" y="105"/>
                  </a:cubicBezTo>
                  <a:moveTo>
                    <a:pt x="1493" y="496"/>
                  </a:moveTo>
                  <a:cubicBezTo>
                    <a:pt x="1493" y="222"/>
                    <a:pt x="1493" y="222"/>
                    <a:pt x="1493" y="222"/>
                  </a:cubicBezTo>
                  <a:cubicBezTo>
                    <a:pt x="1493" y="210"/>
                    <a:pt x="1483" y="200"/>
                    <a:pt x="1471" y="200"/>
                  </a:cubicBezTo>
                  <a:cubicBezTo>
                    <a:pt x="1197" y="200"/>
                    <a:pt x="1197" y="200"/>
                    <a:pt x="1197" y="200"/>
                  </a:cubicBezTo>
                  <a:cubicBezTo>
                    <a:pt x="1185" y="200"/>
                    <a:pt x="1175" y="210"/>
                    <a:pt x="1175" y="222"/>
                  </a:cubicBezTo>
                  <a:cubicBezTo>
                    <a:pt x="1175" y="496"/>
                    <a:pt x="1175" y="496"/>
                    <a:pt x="1175" y="496"/>
                  </a:cubicBezTo>
                  <a:cubicBezTo>
                    <a:pt x="1175" y="508"/>
                    <a:pt x="1185" y="518"/>
                    <a:pt x="1197" y="518"/>
                  </a:cubicBezTo>
                  <a:cubicBezTo>
                    <a:pt x="1471" y="518"/>
                    <a:pt x="1471" y="518"/>
                    <a:pt x="1471" y="518"/>
                  </a:cubicBezTo>
                  <a:cubicBezTo>
                    <a:pt x="1483" y="518"/>
                    <a:pt x="1493" y="508"/>
                    <a:pt x="1493" y="496"/>
                  </a:cubicBezTo>
                  <a:close/>
                  <a:moveTo>
                    <a:pt x="1117" y="667"/>
                  </a:moveTo>
                  <a:cubicBezTo>
                    <a:pt x="1117" y="431"/>
                    <a:pt x="1117" y="431"/>
                    <a:pt x="1117" y="431"/>
                  </a:cubicBezTo>
                  <a:cubicBezTo>
                    <a:pt x="1117" y="419"/>
                    <a:pt x="1107" y="409"/>
                    <a:pt x="1095" y="409"/>
                  </a:cubicBezTo>
                  <a:cubicBezTo>
                    <a:pt x="860" y="409"/>
                    <a:pt x="860" y="409"/>
                    <a:pt x="860" y="409"/>
                  </a:cubicBezTo>
                  <a:cubicBezTo>
                    <a:pt x="848" y="409"/>
                    <a:pt x="838" y="419"/>
                    <a:pt x="838" y="431"/>
                  </a:cubicBezTo>
                  <a:cubicBezTo>
                    <a:pt x="838" y="667"/>
                    <a:pt x="838" y="667"/>
                    <a:pt x="838" y="667"/>
                  </a:cubicBezTo>
                  <a:cubicBezTo>
                    <a:pt x="838" y="679"/>
                    <a:pt x="848" y="689"/>
                    <a:pt x="860" y="689"/>
                  </a:cubicBezTo>
                  <a:cubicBezTo>
                    <a:pt x="1095" y="689"/>
                    <a:pt x="1095" y="689"/>
                    <a:pt x="1095" y="689"/>
                  </a:cubicBezTo>
                  <a:cubicBezTo>
                    <a:pt x="1107" y="689"/>
                    <a:pt x="1117" y="679"/>
                    <a:pt x="1117" y="667"/>
                  </a:cubicBezTo>
                  <a:close/>
                </a:path>
              </a:pathLst>
            </a:custGeom>
            <a:solidFill>
              <a:srgbClr val="29BA74">
                <a:lumMod val="10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11">
              <a:extLst>
                <a:ext uri="{FF2B5EF4-FFF2-40B4-BE49-F238E27FC236}">
                  <a16:creationId xmlns:a16="http://schemas.microsoft.com/office/drawing/2014/main" id="{1E73708F-7A13-4BC7-B5D6-FA43AD894C04}"/>
                </a:ext>
              </a:extLst>
            </p:cNvPr>
            <p:cNvSpPr>
              <a:spLocks noEditPoints="1"/>
            </p:cNvSpPr>
            <p:nvPr/>
          </p:nvSpPr>
          <p:spPr bwMode="auto">
            <a:xfrm>
              <a:off x="2574" y="728"/>
              <a:ext cx="1509" cy="2865"/>
            </a:xfrm>
            <a:custGeom>
              <a:avLst/>
              <a:gdLst>
                <a:gd name="T0" fmla="*/ 762 w 806"/>
                <a:gd name="T1" fmla="*/ 695 h 1528"/>
                <a:gd name="T2" fmla="*/ 762 w 806"/>
                <a:gd name="T3" fmla="*/ 1252 h 1528"/>
                <a:gd name="T4" fmla="*/ 44 w 806"/>
                <a:gd name="T5" fmla="*/ 1252 h 1528"/>
                <a:gd name="T6" fmla="*/ 44 w 806"/>
                <a:gd name="T7" fmla="*/ 44 h 1528"/>
                <a:gd name="T8" fmla="*/ 762 w 806"/>
                <a:gd name="T9" fmla="*/ 44 h 1528"/>
                <a:gd name="T10" fmla="*/ 762 w 806"/>
                <a:gd name="T11" fmla="*/ 405 h 1528"/>
                <a:gd name="T12" fmla="*/ 806 w 806"/>
                <a:gd name="T13" fmla="*/ 405 h 1528"/>
                <a:gd name="T14" fmla="*/ 806 w 806"/>
                <a:gd name="T15" fmla="*/ 22 h 1528"/>
                <a:gd name="T16" fmla="*/ 784 w 806"/>
                <a:gd name="T17" fmla="*/ 0 h 1528"/>
                <a:gd name="T18" fmla="*/ 22 w 806"/>
                <a:gd name="T19" fmla="*/ 0 h 1528"/>
                <a:gd name="T20" fmla="*/ 0 w 806"/>
                <a:gd name="T21" fmla="*/ 22 h 1528"/>
                <a:gd name="T22" fmla="*/ 0 w 806"/>
                <a:gd name="T23" fmla="*/ 1252 h 1528"/>
                <a:gd name="T24" fmla="*/ 0 w 806"/>
                <a:gd name="T25" fmla="*/ 1296 h 1528"/>
                <a:gd name="T26" fmla="*/ 0 w 806"/>
                <a:gd name="T27" fmla="*/ 1506 h 1528"/>
                <a:gd name="T28" fmla="*/ 22 w 806"/>
                <a:gd name="T29" fmla="*/ 1528 h 1528"/>
                <a:gd name="T30" fmla="*/ 784 w 806"/>
                <a:gd name="T31" fmla="*/ 1528 h 1528"/>
                <a:gd name="T32" fmla="*/ 806 w 806"/>
                <a:gd name="T33" fmla="*/ 1506 h 1528"/>
                <a:gd name="T34" fmla="*/ 806 w 806"/>
                <a:gd name="T35" fmla="*/ 1296 h 1528"/>
                <a:gd name="T36" fmla="*/ 806 w 806"/>
                <a:gd name="T37" fmla="*/ 1252 h 1528"/>
                <a:gd name="T38" fmla="*/ 806 w 806"/>
                <a:gd name="T39" fmla="*/ 695 h 1528"/>
                <a:gd name="T40" fmla="*/ 762 w 806"/>
                <a:gd name="T41" fmla="*/ 695 h 1528"/>
                <a:gd name="T42" fmla="*/ 762 w 806"/>
                <a:gd name="T43" fmla="*/ 1484 h 1528"/>
                <a:gd name="T44" fmla="*/ 44 w 806"/>
                <a:gd name="T45" fmla="*/ 1484 h 1528"/>
                <a:gd name="T46" fmla="*/ 44 w 806"/>
                <a:gd name="T47" fmla="*/ 1296 h 1528"/>
                <a:gd name="T48" fmla="*/ 762 w 806"/>
                <a:gd name="T49" fmla="*/ 1296 h 1528"/>
                <a:gd name="T50" fmla="*/ 762 w 806"/>
                <a:gd name="T51" fmla="*/ 1484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06" h="1528">
                  <a:moveTo>
                    <a:pt x="762" y="695"/>
                  </a:moveTo>
                  <a:cubicBezTo>
                    <a:pt x="762" y="1252"/>
                    <a:pt x="762" y="1252"/>
                    <a:pt x="762" y="1252"/>
                  </a:cubicBezTo>
                  <a:cubicBezTo>
                    <a:pt x="44" y="1252"/>
                    <a:pt x="44" y="1252"/>
                    <a:pt x="44" y="1252"/>
                  </a:cubicBezTo>
                  <a:cubicBezTo>
                    <a:pt x="44" y="44"/>
                    <a:pt x="44" y="44"/>
                    <a:pt x="44" y="44"/>
                  </a:cubicBezTo>
                  <a:cubicBezTo>
                    <a:pt x="762" y="44"/>
                    <a:pt x="762" y="44"/>
                    <a:pt x="762" y="44"/>
                  </a:cubicBezTo>
                  <a:cubicBezTo>
                    <a:pt x="762" y="405"/>
                    <a:pt x="762" y="405"/>
                    <a:pt x="762" y="405"/>
                  </a:cubicBezTo>
                  <a:cubicBezTo>
                    <a:pt x="806" y="405"/>
                    <a:pt x="806" y="405"/>
                    <a:pt x="806" y="405"/>
                  </a:cubicBezTo>
                  <a:cubicBezTo>
                    <a:pt x="806" y="22"/>
                    <a:pt x="806" y="22"/>
                    <a:pt x="806" y="22"/>
                  </a:cubicBezTo>
                  <a:cubicBezTo>
                    <a:pt x="806" y="10"/>
                    <a:pt x="796" y="0"/>
                    <a:pt x="784" y="0"/>
                  </a:cubicBezTo>
                  <a:cubicBezTo>
                    <a:pt x="22" y="0"/>
                    <a:pt x="22" y="0"/>
                    <a:pt x="22" y="0"/>
                  </a:cubicBezTo>
                  <a:cubicBezTo>
                    <a:pt x="10" y="0"/>
                    <a:pt x="0" y="10"/>
                    <a:pt x="0" y="22"/>
                  </a:cubicBezTo>
                  <a:cubicBezTo>
                    <a:pt x="0" y="1252"/>
                    <a:pt x="0" y="1252"/>
                    <a:pt x="0" y="1252"/>
                  </a:cubicBezTo>
                  <a:cubicBezTo>
                    <a:pt x="0" y="1296"/>
                    <a:pt x="0" y="1296"/>
                    <a:pt x="0" y="1296"/>
                  </a:cubicBezTo>
                  <a:cubicBezTo>
                    <a:pt x="0" y="1506"/>
                    <a:pt x="0" y="1506"/>
                    <a:pt x="0" y="1506"/>
                  </a:cubicBezTo>
                  <a:cubicBezTo>
                    <a:pt x="0" y="1518"/>
                    <a:pt x="10" y="1528"/>
                    <a:pt x="22" y="1528"/>
                  </a:cubicBezTo>
                  <a:cubicBezTo>
                    <a:pt x="784" y="1528"/>
                    <a:pt x="784" y="1528"/>
                    <a:pt x="784" y="1528"/>
                  </a:cubicBezTo>
                  <a:cubicBezTo>
                    <a:pt x="796" y="1528"/>
                    <a:pt x="806" y="1518"/>
                    <a:pt x="806" y="1506"/>
                  </a:cubicBezTo>
                  <a:cubicBezTo>
                    <a:pt x="806" y="1296"/>
                    <a:pt x="806" y="1296"/>
                    <a:pt x="806" y="1296"/>
                  </a:cubicBezTo>
                  <a:cubicBezTo>
                    <a:pt x="806" y="1252"/>
                    <a:pt x="806" y="1252"/>
                    <a:pt x="806" y="1252"/>
                  </a:cubicBezTo>
                  <a:cubicBezTo>
                    <a:pt x="806" y="695"/>
                    <a:pt x="806" y="695"/>
                    <a:pt x="806" y="695"/>
                  </a:cubicBezTo>
                  <a:lnTo>
                    <a:pt x="762" y="695"/>
                  </a:lnTo>
                  <a:close/>
                  <a:moveTo>
                    <a:pt x="762" y="1484"/>
                  </a:moveTo>
                  <a:cubicBezTo>
                    <a:pt x="44" y="1484"/>
                    <a:pt x="44" y="1484"/>
                    <a:pt x="44" y="1484"/>
                  </a:cubicBezTo>
                  <a:cubicBezTo>
                    <a:pt x="44" y="1296"/>
                    <a:pt x="44" y="1296"/>
                    <a:pt x="44" y="1296"/>
                  </a:cubicBezTo>
                  <a:cubicBezTo>
                    <a:pt x="762" y="1296"/>
                    <a:pt x="762" y="1296"/>
                    <a:pt x="762" y="1296"/>
                  </a:cubicBezTo>
                  <a:lnTo>
                    <a:pt x="762" y="1484"/>
                  </a:lnTo>
                  <a:close/>
                </a:path>
              </a:pathLst>
            </a:custGeom>
            <a:solidFill>
              <a:srgbClr val="295E7E">
                <a:lumMod val="10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8" name="TextBox 27">
            <a:extLst>
              <a:ext uri="{FF2B5EF4-FFF2-40B4-BE49-F238E27FC236}">
                <a16:creationId xmlns:a16="http://schemas.microsoft.com/office/drawing/2014/main" id="{308A82A9-AB3C-44C3-9C9B-05318E23447C}"/>
              </a:ext>
            </a:extLst>
          </p:cNvPr>
          <p:cNvSpPr txBox="1"/>
          <p:nvPr/>
        </p:nvSpPr>
        <p:spPr>
          <a:xfrm>
            <a:off x="5854165" y="3086362"/>
            <a:ext cx="6023412" cy="492443"/>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spAutoFit/>
          </a:bodyPr>
          <a:lstStyle/>
          <a:p>
            <a:pPr>
              <a:buClr>
                <a:srgbClr val="295E7E">
                  <a:lumMod val="100000"/>
                </a:srgbClr>
              </a:buClr>
              <a:buSzPct val="100000"/>
              <a:buFont typeface="Trebuchet MS" panose="020B0603020202020204" pitchFamily="34" charset="0"/>
              <a:buChar char="​"/>
            </a:pPr>
            <a:r>
              <a:rPr lang="en-US" sz="1600">
                <a:solidFill>
                  <a:srgbClr val="29BA74"/>
                </a:solidFill>
              </a:rPr>
              <a:t>Customizable product offerings increasing in popularity; </a:t>
            </a:r>
            <a:r>
              <a:rPr lang="en-US" sz="1600">
                <a:solidFill>
                  <a:srgbClr val="575757"/>
                </a:solidFill>
              </a:rPr>
              <a:t>but 'build your own bank' trend requires new approach</a:t>
            </a:r>
          </a:p>
        </p:txBody>
      </p:sp>
      <p:sp>
        <p:nvSpPr>
          <p:cNvPr id="33" name="Oval 20">
            <a:extLst>
              <a:ext uri="{FF2B5EF4-FFF2-40B4-BE49-F238E27FC236}">
                <a16:creationId xmlns:a16="http://schemas.microsoft.com/office/drawing/2014/main" id="{C59A6513-07F5-4C2A-AE1A-440CD05C6DA5}"/>
              </a:ext>
            </a:extLst>
          </p:cNvPr>
          <p:cNvSpPr>
            <a:spLocks noChangeAspect="1" noChangeArrowheads="1"/>
          </p:cNvSpPr>
          <p:nvPr/>
        </p:nvSpPr>
        <p:spPr bwMode="auto">
          <a:xfrm>
            <a:off x="161769" y="161089"/>
            <a:ext cx="306910" cy="306910"/>
          </a:xfrm>
          <a:prstGeom prst="ellipse">
            <a:avLst/>
          </a:prstGeom>
          <a:solidFill>
            <a:srgbClr val="29BA74">
              <a:lumMod val="100000"/>
            </a:srgbClr>
          </a:solidFill>
          <a:ln>
            <a:noFill/>
          </a:ln>
        </p:spPr>
        <p:txBody>
          <a:bodyPr vert="horz" wrap="square" lIns="0" tIns="0" rIns="0" bIns="0" numCol="1" anchor="ctr" anchorCtr="0" compatLnSpc="1">
            <a:prstTxWarp prst="textNoShape">
              <a:avLst/>
            </a:prstTxWarp>
          </a:bodyPr>
          <a:lstStyle/>
          <a:p>
            <a:pPr algn="ctr"/>
            <a:r>
              <a:rPr lang="en-US" sz="1200">
                <a:solidFill>
                  <a:srgbClr val="FFFFFF">
                    <a:lumMod val="100000"/>
                  </a:srgbClr>
                </a:solidFill>
                <a:latin typeface="Work Sans" panose="00000500000000000000" pitchFamily="2" charset="0"/>
              </a:rPr>
              <a:t>1</a:t>
            </a:r>
          </a:p>
        </p:txBody>
      </p:sp>
      <p:sp>
        <p:nvSpPr>
          <p:cNvPr id="41" name="TextBox 40">
            <a:extLst>
              <a:ext uri="{FF2B5EF4-FFF2-40B4-BE49-F238E27FC236}">
                <a16:creationId xmlns:a16="http://schemas.microsoft.com/office/drawing/2014/main" id="{D9EA6959-5923-42CD-8C4F-6534D1329EC5}"/>
              </a:ext>
            </a:extLst>
          </p:cNvPr>
          <p:cNvSpPr txBox="1"/>
          <p:nvPr/>
        </p:nvSpPr>
        <p:spPr>
          <a:xfrm>
            <a:off x="5854163" y="1748878"/>
            <a:ext cx="6023412" cy="738664"/>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spAutoFit/>
          </a:bodyPr>
          <a:lstStyle/>
          <a:p>
            <a:pPr>
              <a:buClr>
                <a:srgbClr val="295E7E">
                  <a:lumMod val="100000"/>
                </a:srgbClr>
              </a:buClr>
              <a:buSzPct val="100000"/>
              <a:buFont typeface="Trebuchet MS" panose="020B0603020202020204" pitchFamily="34" charset="0"/>
              <a:buChar char="​"/>
            </a:pPr>
            <a:r>
              <a:rPr lang="en-US" sz="1600">
                <a:solidFill>
                  <a:srgbClr val="29BA74"/>
                </a:solidFill>
              </a:rPr>
              <a:t>Players are augmenting branch networks with personalization capability </a:t>
            </a:r>
            <a:r>
              <a:rPr lang="en-US" sz="1600">
                <a:solidFill>
                  <a:srgbClr val="575757"/>
                </a:solidFill>
              </a:rPr>
              <a:t>to streamline the omnichannel experience and unlock the costly assets' full potential</a:t>
            </a:r>
          </a:p>
        </p:txBody>
      </p:sp>
      <p:grpSp>
        <p:nvGrpSpPr>
          <p:cNvPr id="42" name="Group 41">
            <a:extLst>
              <a:ext uri="{FF2B5EF4-FFF2-40B4-BE49-F238E27FC236}">
                <a16:creationId xmlns:a16="http://schemas.microsoft.com/office/drawing/2014/main" id="{2C8ACDD4-7D62-4674-9747-0C4C034B2128}"/>
              </a:ext>
            </a:extLst>
          </p:cNvPr>
          <p:cNvGrpSpPr>
            <a:grpSpLocks noChangeAspect="1"/>
          </p:cNvGrpSpPr>
          <p:nvPr/>
        </p:nvGrpSpPr>
        <p:grpSpPr>
          <a:xfrm>
            <a:off x="4735810" y="1680269"/>
            <a:ext cx="875073" cy="875883"/>
            <a:chOff x="5273799" y="2606040"/>
            <a:chExt cx="1644396" cy="1645920"/>
          </a:xfrm>
        </p:grpSpPr>
        <p:sp>
          <p:nvSpPr>
            <p:cNvPr id="43" name="AutoShape 28">
              <a:extLst>
                <a:ext uri="{FF2B5EF4-FFF2-40B4-BE49-F238E27FC236}">
                  <a16:creationId xmlns:a16="http://schemas.microsoft.com/office/drawing/2014/main" id="{18492FAC-B5F2-4E3D-A25B-01C5A163882B}"/>
                </a:ext>
              </a:extLst>
            </p:cNvPr>
            <p:cNvSpPr>
              <a:spLocks noChangeAspect="1" noChangeArrowheads="1" noTextEdit="1"/>
            </p:cNvSpPr>
            <p:nvPr/>
          </p:nvSpPr>
          <p:spPr bwMode="auto">
            <a:xfrm>
              <a:off x="5273799" y="2606040"/>
              <a:ext cx="1644396" cy="1645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44" name="Group 43">
              <a:extLst>
                <a:ext uri="{FF2B5EF4-FFF2-40B4-BE49-F238E27FC236}">
                  <a16:creationId xmlns:a16="http://schemas.microsoft.com/office/drawing/2014/main" id="{5AB14CD8-BE20-4DFE-BA14-DB0583819F71}"/>
                </a:ext>
              </a:extLst>
            </p:cNvPr>
            <p:cNvGrpSpPr/>
            <p:nvPr/>
          </p:nvGrpSpPr>
          <p:grpSpPr>
            <a:xfrm>
              <a:off x="5537070" y="2899029"/>
              <a:ext cx="1119378" cy="1182243"/>
              <a:chOff x="5537070" y="2899029"/>
              <a:chExt cx="1119378" cy="1182243"/>
            </a:xfrm>
          </p:grpSpPr>
          <p:sp>
            <p:nvSpPr>
              <p:cNvPr id="45" name="Freeform 30">
                <a:extLst>
                  <a:ext uri="{FF2B5EF4-FFF2-40B4-BE49-F238E27FC236}">
                    <a16:creationId xmlns:a16="http://schemas.microsoft.com/office/drawing/2014/main" id="{CABF55D8-5366-4840-8D41-53F99D651E72}"/>
                  </a:ext>
                </a:extLst>
              </p:cNvPr>
              <p:cNvSpPr>
                <a:spLocks noEditPoints="1"/>
              </p:cNvSpPr>
              <p:nvPr/>
            </p:nvSpPr>
            <p:spPr bwMode="auto">
              <a:xfrm>
                <a:off x="5538594" y="2961894"/>
                <a:ext cx="1116330" cy="961263"/>
              </a:xfrm>
              <a:custGeom>
                <a:avLst/>
                <a:gdLst>
                  <a:gd name="T0" fmla="*/ 752 w 1564"/>
                  <a:gd name="T1" fmla="*/ 1346 h 1346"/>
                  <a:gd name="T2" fmla="*/ 479 w 1564"/>
                  <a:gd name="T3" fmla="*/ 1346 h 1346"/>
                  <a:gd name="T4" fmla="*/ 469 w 1564"/>
                  <a:gd name="T5" fmla="*/ 1336 h 1346"/>
                  <a:gd name="T6" fmla="*/ 469 w 1564"/>
                  <a:gd name="T7" fmla="*/ 856 h 1346"/>
                  <a:gd name="T8" fmla="*/ 479 w 1564"/>
                  <a:gd name="T9" fmla="*/ 846 h 1346"/>
                  <a:gd name="T10" fmla="*/ 752 w 1564"/>
                  <a:gd name="T11" fmla="*/ 846 h 1346"/>
                  <a:gd name="T12" fmla="*/ 762 w 1564"/>
                  <a:gd name="T13" fmla="*/ 856 h 1346"/>
                  <a:gd name="T14" fmla="*/ 762 w 1564"/>
                  <a:gd name="T15" fmla="*/ 1336 h 1346"/>
                  <a:gd name="T16" fmla="*/ 752 w 1564"/>
                  <a:gd name="T17" fmla="*/ 1346 h 1346"/>
                  <a:gd name="T18" fmla="*/ 1095 w 1564"/>
                  <a:gd name="T19" fmla="*/ 1336 h 1346"/>
                  <a:gd name="T20" fmla="*/ 1095 w 1564"/>
                  <a:gd name="T21" fmla="*/ 856 h 1346"/>
                  <a:gd name="T22" fmla="*/ 1085 w 1564"/>
                  <a:gd name="T23" fmla="*/ 846 h 1346"/>
                  <a:gd name="T24" fmla="*/ 812 w 1564"/>
                  <a:gd name="T25" fmla="*/ 846 h 1346"/>
                  <a:gd name="T26" fmla="*/ 802 w 1564"/>
                  <a:gd name="T27" fmla="*/ 856 h 1346"/>
                  <a:gd name="T28" fmla="*/ 802 w 1564"/>
                  <a:gd name="T29" fmla="*/ 1336 h 1346"/>
                  <a:gd name="T30" fmla="*/ 812 w 1564"/>
                  <a:gd name="T31" fmla="*/ 1346 h 1346"/>
                  <a:gd name="T32" fmla="*/ 1085 w 1564"/>
                  <a:gd name="T33" fmla="*/ 1346 h 1346"/>
                  <a:gd name="T34" fmla="*/ 1095 w 1564"/>
                  <a:gd name="T35" fmla="*/ 1336 h 1346"/>
                  <a:gd name="T36" fmla="*/ 1554 w 1564"/>
                  <a:gd name="T37" fmla="*/ 372 h 1346"/>
                  <a:gd name="T38" fmla="*/ 1384 w 1564"/>
                  <a:gd name="T39" fmla="*/ 18 h 1346"/>
                  <a:gd name="T40" fmla="*/ 1360 w 1564"/>
                  <a:gd name="T41" fmla="*/ 0 h 1346"/>
                  <a:gd name="T42" fmla="*/ 205 w 1564"/>
                  <a:gd name="T43" fmla="*/ 0 h 1346"/>
                  <a:gd name="T44" fmla="*/ 180 w 1564"/>
                  <a:gd name="T45" fmla="*/ 20 h 1346"/>
                  <a:gd name="T46" fmla="*/ 10 w 1564"/>
                  <a:gd name="T47" fmla="*/ 370 h 1346"/>
                  <a:gd name="T48" fmla="*/ 34 w 1564"/>
                  <a:gd name="T49" fmla="*/ 408 h 1346"/>
                  <a:gd name="T50" fmla="*/ 1530 w 1564"/>
                  <a:gd name="T51" fmla="*/ 408 h 1346"/>
                  <a:gd name="T52" fmla="*/ 1554 w 1564"/>
                  <a:gd name="T53" fmla="*/ 372 h 1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64" h="1346">
                    <a:moveTo>
                      <a:pt x="752" y="1346"/>
                    </a:moveTo>
                    <a:cubicBezTo>
                      <a:pt x="479" y="1346"/>
                      <a:pt x="479" y="1346"/>
                      <a:pt x="479" y="1346"/>
                    </a:cubicBezTo>
                    <a:cubicBezTo>
                      <a:pt x="474" y="1346"/>
                      <a:pt x="469" y="1342"/>
                      <a:pt x="469" y="1336"/>
                    </a:cubicBezTo>
                    <a:cubicBezTo>
                      <a:pt x="469" y="856"/>
                      <a:pt x="469" y="856"/>
                      <a:pt x="469" y="856"/>
                    </a:cubicBezTo>
                    <a:cubicBezTo>
                      <a:pt x="469" y="851"/>
                      <a:pt x="474" y="846"/>
                      <a:pt x="479" y="846"/>
                    </a:cubicBezTo>
                    <a:cubicBezTo>
                      <a:pt x="752" y="846"/>
                      <a:pt x="752" y="846"/>
                      <a:pt x="752" y="846"/>
                    </a:cubicBezTo>
                    <a:cubicBezTo>
                      <a:pt x="758" y="846"/>
                      <a:pt x="762" y="851"/>
                      <a:pt x="762" y="856"/>
                    </a:cubicBezTo>
                    <a:cubicBezTo>
                      <a:pt x="762" y="1336"/>
                      <a:pt x="762" y="1336"/>
                      <a:pt x="762" y="1336"/>
                    </a:cubicBezTo>
                    <a:cubicBezTo>
                      <a:pt x="762" y="1342"/>
                      <a:pt x="758" y="1346"/>
                      <a:pt x="752" y="1346"/>
                    </a:cubicBezTo>
                    <a:close/>
                    <a:moveTo>
                      <a:pt x="1095" y="1336"/>
                    </a:moveTo>
                    <a:cubicBezTo>
                      <a:pt x="1095" y="856"/>
                      <a:pt x="1095" y="856"/>
                      <a:pt x="1095" y="856"/>
                    </a:cubicBezTo>
                    <a:cubicBezTo>
                      <a:pt x="1095" y="851"/>
                      <a:pt x="1090" y="846"/>
                      <a:pt x="1085" y="846"/>
                    </a:cubicBezTo>
                    <a:cubicBezTo>
                      <a:pt x="812" y="846"/>
                      <a:pt x="812" y="846"/>
                      <a:pt x="812" y="846"/>
                    </a:cubicBezTo>
                    <a:cubicBezTo>
                      <a:pt x="806" y="846"/>
                      <a:pt x="802" y="851"/>
                      <a:pt x="802" y="856"/>
                    </a:cubicBezTo>
                    <a:cubicBezTo>
                      <a:pt x="802" y="1336"/>
                      <a:pt x="802" y="1336"/>
                      <a:pt x="802" y="1336"/>
                    </a:cubicBezTo>
                    <a:cubicBezTo>
                      <a:pt x="802" y="1342"/>
                      <a:pt x="806" y="1346"/>
                      <a:pt x="812" y="1346"/>
                    </a:cubicBezTo>
                    <a:cubicBezTo>
                      <a:pt x="1085" y="1346"/>
                      <a:pt x="1085" y="1346"/>
                      <a:pt x="1085" y="1346"/>
                    </a:cubicBezTo>
                    <a:cubicBezTo>
                      <a:pt x="1090" y="1346"/>
                      <a:pt x="1095" y="1342"/>
                      <a:pt x="1095" y="1336"/>
                    </a:cubicBezTo>
                    <a:close/>
                    <a:moveTo>
                      <a:pt x="1554" y="372"/>
                    </a:moveTo>
                    <a:cubicBezTo>
                      <a:pt x="1384" y="18"/>
                      <a:pt x="1384" y="18"/>
                      <a:pt x="1384" y="18"/>
                    </a:cubicBezTo>
                    <a:cubicBezTo>
                      <a:pt x="1379" y="9"/>
                      <a:pt x="1370" y="0"/>
                      <a:pt x="1360" y="0"/>
                    </a:cubicBezTo>
                    <a:cubicBezTo>
                      <a:pt x="205" y="0"/>
                      <a:pt x="205" y="0"/>
                      <a:pt x="205" y="0"/>
                    </a:cubicBezTo>
                    <a:cubicBezTo>
                      <a:pt x="194" y="0"/>
                      <a:pt x="185" y="11"/>
                      <a:pt x="180" y="20"/>
                    </a:cubicBezTo>
                    <a:cubicBezTo>
                      <a:pt x="10" y="370"/>
                      <a:pt x="10" y="370"/>
                      <a:pt x="10" y="370"/>
                    </a:cubicBezTo>
                    <a:cubicBezTo>
                      <a:pt x="0" y="388"/>
                      <a:pt x="14" y="408"/>
                      <a:pt x="34" y="408"/>
                    </a:cubicBezTo>
                    <a:cubicBezTo>
                      <a:pt x="1530" y="408"/>
                      <a:pt x="1530" y="408"/>
                      <a:pt x="1530" y="408"/>
                    </a:cubicBezTo>
                    <a:cubicBezTo>
                      <a:pt x="1551" y="408"/>
                      <a:pt x="1564" y="391"/>
                      <a:pt x="1554" y="372"/>
                    </a:cubicBezTo>
                    <a:close/>
                  </a:path>
                </a:pathLst>
              </a:custGeom>
              <a:solidFill>
                <a:srgbClr val="29BA74">
                  <a:lumMod val="10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31">
                <a:extLst>
                  <a:ext uri="{FF2B5EF4-FFF2-40B4-BE49-F238E27FC236}">
                    <a16:creationId xmlns:a16="http://schemas.microsoft.com/office/drawing/2014/main" id="{3C74DC83-872B-409E-B846-9C154D6F4A4C}"/>
                  </a:ext>
                </a:extLst>
              </p:cNvPr>
              <p:cNvSpPr>
                <a:spLocks noEditPoints="1"/>
              </p:cNvSpPr>
              <p:nvPr/>
            </p:nvSpPr>
            <p:spPr bwMode="auto">
              <a:xfrm>
                <a:off x="5537070" y="2899029"/>
                <a:ext cx="1119378" cy="1182243"/>
              </a:xfrm>
              <a:custGeom>
                <a:avLst/>
                <a:gdLst>
                  <a:gd name="T0" fmla="*/ 1524 w 1568"/>
                  <a:gd name="T1" fmla="*/ 1529 h 1655"/>
                  <a:gd name="T2" fmla="*/ 1459 w 1568"/>
                  <a:gd name="T3" fmla="*/ 1529 h 1655"/>
                  <a:gd name="T4" fmla="*/ 1459 w 1568"/>
                  <a:gd name="T5" fmla="*/ 1500 h 1655"/>
                  <a:gd name="T6" fmla="*/ 1438 w 1568"/>
                  <a:gd name="T7" fmla="*/ 1478 h 1655"/>
                  <a:gd name="T8" fmla="*/ 130 w 1568"/>
                  <a:gd name="T9" fmla="*/ 1478 h 1655"/>
                  <a:gd name="T10" fmla="*/ 109 w 1568"/>
                  <a:gd name="T11" fmla="*/ 1500 h 1655"/>
                  <a:gd name="T12" fmla="*/ 109 w 1568"/>
                  <a:gd name="T13" fmla="*/ 1529 h 1655"/>
                  <a:gd name="T14" fmla="*/ 44 w 1568"/>
                  <a:gd name="T15" fmla="*/ 1529 h 1655"/>
                  <a:gd name="T16" fmla="*/ 23 w 1568"/>
                  <a:gd name="T17" fmla="*/ 1551 h 1655"/>
                  <a:gd name="T18" fmla="*/ 23 w 1568"/>
                  <a:gd name="T19" fmla="*/ 1634 h 1655"/>
                  <a:gd name="T20" fmla="*/ 44 w 1568"/>
                  <a:gd name="T21" fmla="*/ 1655 h 1655"/>
                  <a:gd name="T22" fmla="*/ 1524 w 1568"/>
                  <a:gd name="T23" fmla="*/ 1655 h 1655"/>
                  <a:gd name="T24" fmla="*/ 1545 w 1568"/>
                  <a:gd name="T25" fmla="*/ 1634 h 1655"/>
                  <a:gd name="T26" fmla="*/ 1545 w 1568"/>
                  <a:gd name="T27" fmla="*/ 1551 h 1655"/>
                  <a:gd name="T28" fmla="*/ 1524 w 1568"/>
                  <a:gd name="T29" fmla="*/ 1529 h 1655"/>
                  <a:gd name="T30" fmla="*/ 1568 w 1568"/>
                  <a:gd name="T31" fmla="*/ 562 h 1655"/>
                  <a:gd name="T32" fmla="*/ 1568 w 1568"/>
                  <a:gd name="T33" fmla="*/ 583 h 1655"/>
                  <a:gd name="T34" fmla="*/ 1568 w 1568"/>
                  <a:gd name="T35" fmla="*/ 583 h 1655"/>
                  <a:gd name="T36" fmla="*/ 1394 w 1568"/>
                  <a:gd name="T37" fmla="*/ 778 h 1655"/>
                  <a:gd name="T38" fmla="*/ 1394 w 1568"/>
                  <a:gd name="T39" fmla="*/ 1434 h 1655"/>
                  <a:gd name="T40" fmla="*/ 1350 w 1568"/>
                  <a:gd name="T41" fmla="*/ 1434 h 1655"/>
                  <a:gd name="T42" fmla="*/ 1350 w 1568"/>
                  <a:gd name="T43" fmla="*/ 778 h 1655"/>
                  <a:gd name="T44" fmla="*/ 1176 w 1568"/>
                  <a:gd name="T45" fmla="*/ 588 h 1655"/>
                  <a:gd name="T46" fmla="*/ 980 w 1568"/>
                  <a:gd name="T47" fmla="*/ 779 h 1655"/>
                  <a:gd name="T48" fmla="*/ 784 w 1568"/>
                  <a:gd name="T49" fmla="*/ 588 h 1655"/>
                  <a:gd name="T50" fmla="*/ 588 w 1568"/>
                  <a:gd name="T51" fmla="*/ 779 h 1655"/>
                  <a:gd name="T52" fmla="*/ 392 w 1568"/>
                  <a:gd name="T53" fmla="*/ 588 h 1655"/>
                  <a:gd name="T54" fmla="*/ 218 w 1568"/>
                  <a:gd name="T55" fmla="*/ 778 h 1655"/>
                  <a:gd name="T56" fmla="*/ 218 w 1568"/>
                  <a:gd name="T57" fmla="*/ 1434 h 1655"/>
                  <a:gd name="T58" fmla="*/ 174 w 1568"/>
                  <a:gd name="T59" fmla="*/ 1434 h 1655"/>
                  <a:gd name="T60" fmla="*/ 174 w 1568"/>
                  <a:gd name="T61" fmla="*/ 778 h 1655"/>
                  <a:gd name="T62" fmla="*/ 0 w 1568"/>
                  <a:gd name="T63" fmla="*/ 583 h 1655"/>
                  <a:gd name="T64" fmla="*/ 0 w 1568"/>
                  <a:gd name="T65" fmla="*/ 583 h 1655"/>
                  <a:gd name="T66" fmla="*/ 0 w 1568"/>
                  <a:gd name="T67" fmla="*/ 562 h 1655"/>
                  <a:gd name="T68" fmla="*/ 22 w 1568"/>
                  <a:gd name="T69" fmla="*/ 540 h 1655"/>
                  <a:gd name="T70" fmla="*/ 1546 w 1568"/>
                  <a:gd name="T71" fmla="*/ 540 h 1655"/>
                  <a:gd name="T72" fmla="*/ 1568 w 1568"/>
                  <a:gd name="T73" fmla="*/ 562 h 1655"/>
                  <a:gd name="T74" fmla="*/ 1354 w 1568"/>
                  <a:gd name="T75" fmla="*/ 44 h 1655"/>
                  <a:gd name="T76" fmla="*/ 214 w 1568"/>
                  <a:gd name="T77" fmla="*/ 44 h 1655"/>
                  <a:gd name="T78" fmla="*/ 192 w 1568"/>
                  <a:gd name="T79" fmla="*/ 22 h 1655"/>
                  <a:gd name="T80" fmla="*/ 214 w 1568"/>
                  <a:gd name="T81" fmla="*/ 0 h 1655"/>
                  <a:gd name="T82" fmla="*/ 1354 w 1568"/>
                  <a:gd name="T83" fmla="*/ 0 h 1655"/>
                  <a:gd name="T84" fmla="*/ 1376 w 1568"/>
                  <a:gd name="T85" fmla="*/ 22 h 1655"/>
                  <a:gd name="T86" fmla="*/ 1354 w 1568"/>
                  <a:gd name="T87" fmla="*/ 44 h 1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68" h="1655">
                    <a:moveTo>
                      <a:pt x="1524" y="1529"/>
                    </a:moveTo>
                    <a:cubicBezTo>
                      <a:pt x="1459" y="1529"/>
                      <a:pt x="1459" y="1529"/>
                      <a:pt x="1459" y="1529"/>
                    </a:cubicBezTo>
                    <a:cubicBezTo>
                      <a:pt x="1459" y="1500"/>
                      <a:pt x="1459" y="1500"/>
                      <a:pt x="1459" y="1500"/>
                    </a:cubicBezTo>
                    <a:cubicBezTo>
                      <a:pt x="1459" y="1488"/>
                      <a:pt x="1450" y="1478"/>
                      <a:pt x="1438" y="1478"/>
                    </a:cubicBezTo>
                    <a:cubicBezTo>
                      <a:pt x="130" y="1478"/>
                      <a:pt x="130" y="1478"/>
                      <a:pt x="130" y="1478"/>
                    </a:cubicBezTo>
                    <a:cubicBezTo>
                      <a:pt x="118" y="1478"/>
                      <a:pt x="109" y="1488"/>
                      <a:pt x="109" y="1500"/>
                    </a:cubicBezTo>
                    <a:cubicBezTo>
                      <a:pt x="109" y="1529"/>
                      <a:pt x="109" y="1529"/>
                      <a:pt x="109" y="1529"/>
                    </a:cubicBezTo>
                    <a:cubicBezTo>
                      <a:pt x="44" y="1529"/>
                      <a:pt x="44" y="1529"/>
                      <a:pt x="44" y="1529"/>
                    </a:cubicBezTo>
                    <a:cubicBezTo>
                      <a:pt x="32" y="1529"/>
                      <a:pt x="23" y="1539"/>
                      <a:pt x="23" y="1551"/>
                    </a:cubicBezTo>
                    <a:cubicBezTo>
                      <a:pt x="23" y="1634"/>
                      <a:pt x="23" y="1634"/>
                      <a:pt x="23" y="1634"/>
                    </a:cubicBezTo>
                    <a:cubicBezTo>
                      <a:pt x="23" y="1646"/>
                      <a:pt x="32" y="1655"/>
                      <a:pt x="44" y="1655"/>
                    </a:cubicBezTo>
                    <a:cubicBezTo>
                      <a:pt x="1524" y="1655"/>
                      <a:pt x="1524" y="1655"/>
                      <a:pt x="1524" y="1655"/>
                    </a:cubicBezTo>
                    <a:cubicBezTo>
                      <a:pt x="1536" y="1655"/>
                      <a:pt x="1545" y="1646"/>
                      <a:pt x="1545" y="1634"/>
                    </a:cubicBezTo>
                    <a:cubicBezTo>
                      <a:pt x="1545" y="1551"/>
                      <a:pt x="1545" y="1551"/>
                      <a:pt x="1545" y="1551"/>
                    </a:cubicBezTo>
                    <a:cubicBezTo>
                      <a:pt x="1545" y="1539"/>
                      <a:pt x="1536" y="1529"/>
                      <a:pt x="1524" y="1529"/>
                    </a:cubicBezTo>
                    <a:close/>
                    <a:moveTo>
                      <a:pt x="1568" y="562"/>
                    </a:moveTo>
                    <a:cubicBezTo>
                      <a:pt x="1568" y="583"/>
                      <a:pt x="1568" y="583"/>
                      <a:pt x="1568" y="583"/>
                    </a:cubicBezTo>
                    <a:cubicBezTo>
                      <a:pt x="1568" y="583"/>
                      <a:pt x="1568" y="583"/>
                      <a:pt x="1568" y="583"/>
                    </a:cubicBezTo>
                    <a:cubicBezTo>
                      <a:pt x="1568" y="684"/>
                      <a:pt x="1491" y="767"/>
                      <a:pt x="1394" y="778"/>
                    </a:cubicBezTo>
                    <a:cubicBezTo>
                      <a:pt x="1394" y="1434"/>
                      <a:pt x="1394" y="1434"/>
                      <a:pt x="1394" y="1434"/>
                    </a:cubicBezTo>
                    <a:cubicBezTo>
                      <a:pt x="1350" y="1434"/>
                      <a:pt x="1350" y="1434"/>
                      <a:pt x="1350" y="1434"/>
                    </a:cubicBezTo>
                    <a:cubicBezTo>
                      <a:pt x="1350" y="778"/>
                      <a:pt x="1350" y="778"/>
                      <a:pt x="1350" y="778"/>
                    </a:cubicBezTo>
                    <a:cubicBezTo>
                      <a:pt x="1253" y="767"/>
                      <a:pt x="1178" y="687"/>
                      <a:pt x="1176" y="588"/>
                    </a:cubicBezTo>
                    <a:cubicBezTo>
                      <a:pt x="1173" y="694"/>
                      <a:pt x="1086" y="779"/>
                      <a:pt x="980" y="779"/>
                    </a:cubicBezTo>
                    <a:cubicBezTo>
                      <a:pt x="873" y="779"/>
                      <a:pt x="787" y="694"/>
                      <a:pt x="784" y="588"/>
                    </a:cubicBezTo>
                    <a:cubicBezTo>
                      <a:pt x="781" y="694"/>
                      <a:pt x="695" y="779"/>
                      <a:pt x="588" y="779"/>
                    </a:cubicBezTo>
                    <a:cubicBezTo>
                      <a:pt x="482" y="779"/>
                      <a:pt x="395" y="694"/>
                      <a:pt x="392" y="588"/>
                    </a:cubicBezTo>
                    <a:cubicBezTo>
                      <a:pt x="390" y="687"/>
                      <a:pt x="315" y="767"/>
                      <a:pt x="218" y="778"/>
                    </a:cubicBezTo>
                    <a:cubicBezTo>
                      <a:pt x="218" y="1434"/>
                      <a:pt x="218" y="1434"/>
                      <a:pt x="218" y="1434"/>
                    </a:cubicBezTo>
                    <a:cubicBezTo>
                      <a:pt x="174" y="1434"/>
                      <a:pt x="174" y="1434"/>
                      <a:pt x="174" y="1434"/>
                    </a:cubicBezTo>
                    <a:cubicBezTo>
                      <a:pt x="174" y="778"/>
                      <a:pt x="174" y="778"/>
                      <a:pt x="174" y="778"/>
                    </a:cubicBezTo>
                    <a:cubicBezTo>
                      <a:pt x="77" y="767"/>
                      <a:pt x="0" y="684"/>
                      <a:pt x="0" y="583"/>
                    </a:cubicBezTo>
                    <a:cubicBezTo>
                      <a:pt x="0" y="583"/>
                      <a:pt x="0" y="583"/>
                      <a:pt x="0" y="583"/>
                    </a:cubicBezTo>
                    <a:cubicBezTo>
                      <a:pt x="0" y="562"/>
                      <a:pt x="0" y="562"/>
                      <a:pt x="0" y="562"/>
                    </a:cubicBezTo>
                    <a:cubicBezTo>
                      <a:pt x="0" y="549"/>
                      <a:pt x="10" y="540"/>
                      <a:pt x="22" y="540"/>
                    </a:cubicBezTo>
                    <a:cubicBezTo>
                      <a:pt x="1546" y="540"/>
                      <a:pt x="1546" y="540"/>
                      <a:pt x="1546" y="540"/>
                    </a:cubicBezTo>
                    <a:cubicBezTo>
                      <a:pt x="1558" y="540"/>
                      <a:pt x="1568" y="549"/>
                      <a:pt x="1568" y="562"/>
                    </a:cubicBezTo>
                    <a:close/>
                    <a:moveTo>
                      <a:pt x="1354" y="44"/>
                    </a:moveTo>
                    <a:cubicBezTo>
                      <a:pt x="214" y="44"/>
                      <a:pt x="214" y="44"/>
                      <a:pt x="214" y="44"/>
                    </a:cubicBezTo>
                    <a:cubicBezTo>
                      <a:pt x="202" y="44"/>
                      <a:pt x="192" y="34"/>
                      <a:pt x="192" y="22"/>
                    </a:cubicBezTo>
                    <a:cubicBezTo>
                      <a:pt x="192" y="10"/>
                      <a:pt x="202" y="0"/>
                      <a:pt x="214" y="0"/>
                    </a:cubicBezTo>
                    <a:cubicBezTo>
                      <a:pt x="1354" y="0"/>
                      <a:pt x="1354" y="0"/>
                      <a:pt x="1354" y="0"/>
                    </a:cubicBezTo>
                    <a:cubicBezTo>
                      <a:pt x="1366" y="0"/>
                      <a:pt x="1376" y="10"/>
                      <a:pt x="1376" y="22"/>
                    </a:cubicBezTo>
                    <a:cubicBezTo>
                      <a:pt x="1376" y="34"/>
                      <a:pt x="1366" y="44"/>
                      <a:pt x="1354" y="44"/>
                    </a:cubicBezTo>
                    <a:close/>
                  </a:path>
                </a:pathLst>
              </a:custGeom>
              <a:solidFill>
                <a:srgbClr val="295E7E">
                  <a:lumMod val="10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
        <p:nvSpPr>
          <p:cNvPr id="5" name="Textfeld 1">
            <a:extLst>
              <a:ext uri="{FF2B5EF4-FFF2-40B4-BE49-F238E27FC236}">
                <a16:creationId xmlns:a16="http://schemas.microsoft.com/office/drawing/2014/main" id="{2D0E47BC-E1BA-AC5B-EEB7-13495C0322AD}"/>
              </a:ext>
            </a:extLst>
          </p:cNvPr>
          <p:cNvSpPr txBox="1"/>
          <p:nvPr>
            <p:custDataLst>
              <p:tags r:id="rId3"/>
            </p:custDataLst>
          </p:nvPr>
        </p:nvSpPr>
        <p:spPr>
          <a:xfrm>
            <a:off x="25200" y="151327"/>
            <a:ext cx="2743200" cy="483209"/>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en-US" sz="1200" b="1">
                <a:solidFill>
                  <a:srgbClr val="575757"/>
                </a:solidFill>
                <a:sym typeface="Trebuchet MS" panose="020B0603020202020204" pitchFamily="34" charset="0"/>
              </a:rPr>
              <a:t>CA 12.Jun.24:
what can personalization achieve </a:t>
            </a:r>
          </a:p>
        </p:txBody>
      </p:sp>
    </p:spTree>
    <p:extLst>
      <p:ext uri="{BB962C8B-B14F-4D97-AF65-F5344CB8AC3E}">
        <p14:creationId xmlns:p14="http://schemas.microsoft.com/office/powerpoint/2010/main" val="76242095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395" imgH="394" progId="TCLayout.ActiveDocument.1">
                  <p:embed/>
                </p:oleObj>
              </mc:Choice>
              <mc:Fallback>
                <p:oleObj name="think-cell Slide" r:id="rId5" imgW="395" imgH="394"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4" name="Rectangle 3" hidden="1"/>
          <p:cNvSpPr/>
          <p:nvPr>
            <p:custDataLst>
              <p:tags r:id="rId2"/>
            </p:custDataLst>
          </p:nvPr>
        </p:nvSpPr>
        <p:spPr>
          <a:xfrm>
            <a:off x="0" y="0"/>
            <a:ext cx="158750" cy="158750"/>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endParaRPr lang="en-US" sz="2400">
              <a:solidFill>
                <a:srgbClr val="FFFFFF"/>
              </a:solidFill>
              <a:latin typeface="Work Sans SemiBold" panose="020B0604020202020204" charset="0"/>
              <a:ea typeface="+mj-ea"/>
              <a:cs typeface="+mj-cs"/>
              <a:sym typeface="Work Sans SemiBold" panose="020B0604020202020204" charset="0"/>
            </a:endParaRPr>
          </a:p>
        </p:txBody>
      </p:sp>
      <p:sp>
        <p:nvSpPr>
          <p:cNvPr id="8" name="Rectangle 7">
            <a:extLst>
              <a:ext uri="{FF2B5EF4-FFF2-40B4-BE49-F238E27FC236}">
                <a16:creationId xmlns:a16="http://schemas.microsoft.com/office/drawing/2014/main" id="{EEF5CA6F-DC84-4D1D-956E-CD79F2AF7C68}"/>
              </a:ext>
            </a:extLst>
          </p:cNvPr>
          <p:cNvSpPr/>
          <p:nvPr/>
        </p:nvSpPr>
        <p:spPr>
          <a:xfrm>
            <a:off x="0" y="3581400"/>
            <a:ext cx="12192000" cy="762000"/>
          </a:xfrm>
          <a:prstGeom prst="rect">
            <a:avLst/>
          </a:prstGeom>
          <a:solidFill>
            <a:srgbClr val="F4FAF4"/>
          </a:solidFill>
          <a:ln w="9525" cap="rnd" cmpd="sng" algn="ctr">
            <a:noFill/>
            <a:prstDash val="sysDot"/>
            <a:roun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eaLnBrk="1" fontAlgn="auto" latinLnBrk="0" hangingPunct="1">
              <a:lnSpc>
                <a:spcPct val="90000"/>
              </a:lnSpc>
              <a:spcBef>
                <a:spcPts val="0"/>
              </a:spcBef>
              <a:spcAft>
                <a:spcPts val="1000"/>
              </a:spcAft>
              <a:buClrTx/>
              <a:buSzTx/>
              <a:buFontTx/>
              <a:buNone/>
              <a:tabLst/>
            </a:pPr>
            <a:endParaRPr kumimoji="0" lang="en-US" sz="1200" b="0" i="0" u="none" strike="noStrike" kern="0" cap="none" spc="0" normalizeH="0" baseline="0" noProof="0">
              <a:ln>
                <a:noFill/>
              </a:ln>
              <a:solidFill>
                <a:prstClr val="white"/>
              </a:solidFill>
              <a:effectLst/>
              <a:uLnTx/>
              <a:uFillTx/>
              <a:ea typeface="+mn-ea"/>
              <a:cs typeface="+mn-cs"/>
              <a:sym typeface="+mn-lt"/>
            </a:endParaRPr>
          </a:p>
        </p:txBody>
      </p:sp>
      <p:sp>
        <p:nvSpPr>
          <p:cNvPr id="2" name="Title 1"/>
          <p:cNvSpPr>
            <a:spLocks noGrp="1"/>
          </p:cNvSpPr>
          <p:nvPr>
            <p:ph type="title"/>
          </p:nvPr>
        </p:nvSpPr>
        <p:spPr>
          <a:xfrm>
            <a:off x="630000" y="622800"/>
            <a:ext cx="10933350" cy="332399"/>
          </a:xfrm>
        </p:spPr>
        <p:txBody>
          <a:bodyPr/>
          <a:lstStyle/>
          <a:p>
            <a:r>
              <a:rPr lang="en-US"/>
              <a:t>We’ve categorized banking use cases by types of outcomes</a:t>
            </a:r>
          </a:p>
        </p:txBody>
      </p:sp>
      <p:sp>
        <p:nvSpPr>
          <p:cNvPr id="25" name="ee4pContent1"/>
          <p:cNvSpPr txBox="1"/>
          <p:nvPr/>
        </p:nvSpPr>
        <p:spPr>
          <a:xfrm>
            <a:off x="678025" y="3897729"/>
            <a:ext cx="3185058" cy="424780"/>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defPPr>
              <a:defRPr lang="en-US"/>
            </a:defPPr>
            <a:lvl1pPr>
              <a:buSzPct val="100000"/>
              <a:buFont typeface="Trebuchet MS" panose="020B0603020202020204" pitchFamily="34" charset="0"/>
              <a:buChar char="​"/>
              <a:defRPr sz="1400">
                <a:solidFill>
                  <a:srgbClr val="575757"/>
                </a:solidFill>
              </a:defRPr>
            </a:lvl1pPr>
            <a:lvl2pPr marL="324000" lvl="1" indent="-216000">
              <a:buClr>
                <a:srgbClr val="2E3558"/>
              </a:buClr>
              <a:buSzPct val="100000"/>
              <a:buFont typeface="Trebuchet MS" panose="020B0603020202020204" pitchFamily="34" charset="0"/>
              <a:buChar char="•"/>
              <a:defRPr sz="1400">
                <a:solidFill>
                  <a:srgbClr val="575757"/>
                </a:solidFill>
              </a:defRPr>
            </a:lvl2pPr>
            <a:lvl3pPr marL="648000" lvl="2" indent="-216000">
              <a:buClr>
                <a:srgbClr val="2E3558"/>
              </a:buClr>
              <a:buSzPct val="100000"/>
              <a:buFont typeface="Trebuchet MS" panose="020B0603020202020204" pitchFamily="34" charset="0"/>
              <a:buChar char="–"/>
              <a:defRPr sz="1400">
                <a:solidFill>
                  <a:srgbClr val="575757"/>
                </a:solidFill>
              </a:defRPr>
            </a:lvl3pPr>
            <a:lvl4pPr marL="0" lvl="3">
              <a:buSzPct val="100000"/>
              <a:buFont typeface="Trebuchet MS" panose="020B0603020202020204" pitchFamily="34" charset="0"/>
              <a:buChar char="​"/>
              <a:defRPr>
                <a:solidFill>
                  <a:srgbClr val="2E3558"/>
                </a:solidFill>
                <a:latin typeface="+mj-lt"/>
              </a:defRPr>
            </a:lvl4pPr>
            <a:lvl5pPr marL="0" lvl="4">
              <a:buSzPct val="100000"/>
              <a:buFont typeface="Trebuchet MS" panose="020B0603020202020204" pitchFamily="34" charset="0"/>
              <a:buChar char="​"/>
              <a:defRPr b="1">
                <a:solidFill>
                  <a:srgbClr val="575757"/>
                </a:solidFill>
              </a:defRPr>
            </a:lvl5pPr>
            <a:lvl6pPr marL="324000" lvl="5" indent="-216000">
              <a:buClr>
                <a:srgbClr val="2E3558"/>
              </a:buClr>
              <a:buSzPct val="100000"/>
              <a:buFont typeface="Trebuchet MS" panose="020B0603020202020204" pitchFamily="34" charset="0"/>
              <a:buChar char="•"/>
              <a:defRPr>
                <a:solidFill>
                  <a:srgbClr val="575757"/>
                </a:solidFill>
              </a:defRPr>
            </a:lvl6pPr>
            <a:lvl7pPr marL="0" lvl="6">
              <a:buSzPct val="100000"/>
              <a:buFont typeface="Trebuchet MS" panose="020B0603020202020204" pitchFamily="34" charset="0"/>
              <a:buChar char="​"/>
              <a:defRPr sz="4400">
                <a:solidFill>
                  <a:srgbClr val="575757"/>
                </a:solidFill>
              </a:defRPr>
            </a:lvl7pPr>
            <a:lvl8pPr marL="0" lvl="7">
              <a:buSzPct val="100000"/>
              <a:buFont typeface="Trebuchet MS" panose="020B0603020202020204" pitchFamily="34" charset="0"/>
              <a:buChar char="​"/>
              <a:defRPr sz="5400">
                <a:solidFill>
                  <a:srgbClr val="2E3558"/>
                </a:solidFill>
              </a:defRPr>
            </a:lvl8pPr>
            <a:lvl9pPr marL="0" lvl="8">
              <a:buSzPct val="100000"/>
              <a:buFont typeface="Trebuchet MS" panose="020B0603020202020204" pitchFamily="34" charset="0"/>
              <a:buChar char="​"/>
              <a:defRPr sz="2400">
                <a:solidFill>
                  <a:srgbClr val="2E3558"/>
                </a:solidFill>
              </a:defRPr>
            </a:lvl9pPr>
          </a:lstStyle>
          <a:p>
            <a:r>
              <a:rPr lang="en-US" sz="1200" b="1">
                <a:solidFill>
                  <a:srgbClr val="295E7E"/>
                </a:solidFill>
              </a:rPr>
              <a:t>Precision targeted paid media, improving spend efficiency &amp; effectiveness while growing share of digital</a:t>
            </a:r>
          </a:p>
        </p:txBody>
      </p:sp>
      <p:sp>
        <p:nvSpPr>
          <p:cNvPr id="26" name="ee4pContent2"/>
          <p:cNvSpPr txBox="1"/>
          <p:nvPr/>
        </p:nvSpPr>
        <p:spPr>
          <a:xfrm>
            <a:off x="4525686" y="3897729"/>
            <a:ext cx="3185058" cy="569034"/>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defPPr>
              <a:defRPr lang="en-US"/>
            </a:defPPr>
            <a:lvl1pPr>
              <a:buSzPct val="100000"/>
              <a:buFont typeface="Trebuchet MS" panose="020B0603020202020204" pitchFamily="34" charset="0"/>
              <a:buChar char="​"/>
              <a:defRPr sz="1400">
                <a:solidFill>
                  <a:srgbClr val="575757"/>
                </a:solidFill>
              </a:defRPr>
            </a:lvl1pPr>
            <a:lvl2pPr marL="324000" lvl="1" indent="-216000">
              <a:buClr>
                <a:srgbClr val="2E3558"/>
              </a:buClr>
              <a:buSzPct val="100000"/>
              <a:buFont typeface="Trebuchet MS" panose="020B0603020202020204" pitchFamily="34" charset="0"/>
              <a:buChar char="•"/>
              <a:defRPr sz="1400">
                <a:solidFill>
                  <a:srgbClr val="575757"/>
                </a:solidFill>
              </a:defRPr>
            </a:lvl2pPr>
            <a:lvl3pPr marL="648000" lvl="2" indent="-216000">
              <a:buClr>
                <a:srgbClr val="2E3558"/>
              </a:buClr>
              <a:buSzPct val="100000"/>
              <a:buFont typeface="Trebuchet MS" panose="020B0603020202020204" pitchFamily="34" charset="0"/>
              <a:buChar char="–"/>
              <a:defRPr sz="1400">
                <a:solidFill>
                  <a:srgbClr val="575757"/>
                </a:solidFill>
              </a:defRPr>
            </a:lvl3pPr>
            <a:lvl4pPr marL="0" lvl="3">
              <a:buSzPct val="100000"/>
              <a:buFont typeface="Trebuchet MS" panose="020B0603020202020204" pitchFamily="34" charset="0"/>
              <a:buChar char="​"/>
              <a:defRPr>
                <a:solidFill>
                  <a:srgbClr val="2E3558"/>
                </a:solidFill>
                <a:latin typeface="+mj-lt"/>
              </a:defRPr>
            </a:lvl4pPr>
            <a:lvl5pPr marL="0" lvl="4">
              <a:buSzPct val="100000"/>
              <a:buFont typeface="Trebuchet MS" panose="020B0603020202020204" pitchFamily="34" charset="0"/>
              <a:buChar char="​"/>
              <a:defRPr b="1">
                <a:solidFill>
                  <a:srgbClr val="575757"/>
                </a:solidFill>
              </a:defRPr>
            </a:lvl5pPr>
            <a:lvl6pPr marL="324000" lvl="5" indent="-216000">
              <a:buClr>
                <a:srgbClr val="2E3558"/>
              </a:buClr>
              <a:buSzPct val="100000"/>
              <a:buFont typeface="Trebuchet MS" panose="020B0603020202020204" pitchFamily="34" charset="0"/>
              <a:buChar char="•"/>
              <a:defRPr>
                <a:solidFill>
                  <a:srgbClr val="575757"/>
                </a:solidFill>
              </a:defRPr>
            </a:lvl6pPr>
            <a:lvl7pPr marL="0" lvl="6">
              <a:buSzPct val="100000"/>
              <a:buFont typeface="Trebuchet MS" panose="020B0603020202020204" pitchFamily="34" charset="0"/>
              <a:buChar char="​"/>
              <a:defRPr sz="4400">
                <a:solidFill>
                  <a:srgbClr val="575757"/>
                </a:solidFill>
              </a:defRPr>
            </a:lvl7pPr>
            <a:lvl8pPr marL="0" lvl="7">
              <a:buSzPct val="100000"/>
              <a:buFont typeface="Trebuchet MS" panose="020B0603020202020204" pitchFamily="34" charset="0"/>
              <a:buChar char="​"/>
              <a:defRPr sz="5400">
                <a:solidFill>
                  <a:srgbClr val="2E3558"/>
                </a:solidFill>
              </a:defRPr>
            </a:lvl8pPr>
            <a:lvl9pPr marL="0" lvl="8">
              <a:buSzPct val="100000"/>
              <a:buFont typeface="Trebuchet MS" panose="020B0603020202020204" pitchFamily="34" charset="0"/>
              <a:buChar char="​"/>
              <a:defRPr sz="2400">
                <a:solidFill>
                  <a:srgbClr val="2E3558"/>
                </a:solidFill>
              </a:defRPr>
            </a:lvl9pPr>
          </a:lstStyle>
          <a:p>
            <a:r>
              <a:rPr lang="en-US" sz="1200" b="1">
                <a:solidFill>
                  <a:srgbClr val="295E7E"/>
                </a:solidFill>
              </a:rPr>
              <a:t>Hyper-personalized offers &amp; orchestrating omnichannel customer journeys, digitally &amp; in branch networks</a:t>
            </a:r>
          </a:p>
        </p:txBody>
      </p:sp>
      <p:sp>
        <p:nvSpPr>
          <p:cNvPr id="28" name="ee4pContent4"/>
          <p:cNvSpPr txBox="1"/>
          <p:nvPr/>
        </p:nvSpPr>
        <p:spPr>
          <a:xfrm>
            <a:off x="8463850" y="3897729"/>
            <a:ext cx="3185058" cy="399704"/>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defPPr>
              <a:defRPr lang="en-US"/>
            </a:defPPr>
            <a:lvl1pPr>
              <a:buSzPct val="100000"/>
              <a:buFont typeface="Trebuchet MS" panose="020B0603020202020204" pitchFamily="34" charset="0"/>
              <a:buChar char="​"/>
              <a:defRPr sz="1400">
                <a:solidFill>
                  <a:srgbClr val="575757"/>
                </a:solidFill>
              </a:defRPr>
            </a:lvl1pPr>
            <a:lvl2pPr marL="324000" lvl="1" indent="-216000">
              <a:buClr>
                <a:srgbClr val="2E3558"/>
              </a:buClr>
              <a:buSzPct val="100000"/>
              <a:buFont typeface="Trebuchet MS" panose="020B0603020202020204" pitchFamily="34" charset="0"/>
              <a:buChar char="•"/>
              <a:defRPr sz="1400">
                <a:solidFill>
                  <a:srgbClr val="575757"/>
                </a:solidFill>
              </a:defRPr>
            </a:lvl2pPr>
            <a:lvl3pPr marL="648000" lvl="2" indent="-216000">
              <a:buClr>
                <a:srgbClr val="2E3558"/>
              </a:buClr>
              <a:buSzPct val="100000"/>
              <a:buFont typeface="Trebuchet MS" panose="020B0603020202020204" pitchFamily="34" charset="0"/>
              <a:buChar char="–"/>
              <a:defRPr sz="1400">
                <a:solidFill>
                  <a:srgbClr val="575757"/>
                </a:solidFill>
              </a:defRPr>
            </a:lvl3pPr>
            <a:lvl4pPr marL="0" lvl="3">
              <a:buSzPct val="100000"/>
              <a:buFont typeface="Trebuchet MS" panose="020B0603020202020204" pitchFamily="34" charset="0"/>
              <a:buChar char="​"/>
              <a:defRPr>
                <a:solidFill>
                  <a:srgbClr val="2E3558"/>
                </a:solidFill>
                <a:latin typeface="+mj-lt"/>
              </a:defRPr>
            </a:lvl4pPr>
            <a:lvl5pPr marL="0" lvl="4">
              <a:buSzPct val="100000"/>
              <a:buFont typeface="Trebuchet MS" panose="020B0603020202020204" pitchFamily="34" charset="0"/>
              <a:buChar char="​"/>
              <a:defRPr b="1">
                <a:solidFill>
                  <a:srgbClr val="575757"/>
                </a:solidFill>
              </a:defRPr>
            </a:lvl5pPr>
            <a:lvl6pPr marL="324000" lvl="5" indent="-216000">
              <a:buClr>
                <a:srgbClr val="2E3558"/>
              </a:buClr>
              <a:buSzPct val="100000"/>
              <a:buFont typeface="Trebuchet MS" panose="020B0603020202020204" pitchFamily="34" charset="0"/>
              <a:buChar char="•"/>
              <a:defRPr>
                <a:solidFill>
                  <a:srgbClr val="575757"/>
                </a:solidFill>
              </a:defRPr>
            </a:lvl6pPr>
            <a:lvl7pPr marL="0" lvl="6">
              <a:buSzPct val="100000"/>
              <a:buFont typeface="Trebuchet MS" panose="020B0603020202020204" pitchFamily="34" charset="0"/>
              <a:buChar char="​"/>
              <a:defRPr sz="4400">
                <a:solidFill>
                  <a:srgbClr val="575757"/>
                </a:solidFill>
              </a:defRPr>
            </a:lvl7pPr>
            <a:lvl8pPr marL="0" lvl="7">
              <a:buSzPct val="100000"/>
              <a:buFont typeface="Trebuchet MS" panose="020B0603020202020204" pitchFamily="34" charset="0"/>
              <a:buChar char="​"/>
              <a:defRPr sz="5400">
                <a:solidFill>
                  <a:srgbClr val="2E3558"/>
                </a:solidFill>
              </a:defRPr>
            </a:lvl8pPr>
            <a:lvl9pPr marL="0" lvl="8">
              <a:buSzPct val="100000"/>
              <a:buFont typeface="Trebuchet MS" panose="020B0603020202020204" pitchFamily="34" charset="0"/>
              <a:buChar char="​"/>
              <a:defRPr sz="2400">
                <a:solidFill>
                  <a:srgbClr val="2E3558"/>
                </a:solidFill>
              </a:defRPr>
            </a:lvl9pPr>
          </a:lstStyle>
          <a:p>
            <a:r>
              <a:rPr lang="en-US" sz="1200" b="1">
                <a:solidFill>
                  <a:srgbClr val="295E7E"/>
                </a:solidFill>
              </a:rPr>
              <a:t>Tactics to encourage product usage, retain customers and increase customer lifetime value </a:t>
            </a:r>
          </a:p>
        </p:txBody>
      </p:sp>
      <p:sp>
        <p:nvSpPr>
          <p:cNvPr id="29" name="ee4pHeader1"/>
          <p:cNvSpPr txBox="1"/>
          <p:nvPr/>
        </p:nvSpPr>
        <p:spPr>
          <a:xfrm>
            <a:off x="678025" y="3073657"/>
            <a:ext cx="1934526" cy="267175"/>
          </a:xfrm>
          <a:prstGeom prst="rect">
            <a:avLst/>
          </a:prstGeom>
          <a:noFill/>
          <a:ln cap="rnd">
            <a:noFill/>
          </a:ln>
        </p:spPr>
        <p:txBody>
          <a:bodyPr vert="horz" wrap="square" lIns="0" tIns="0" rIns="0" bIns="0" rtlCol="0" anchor="t" anchorCtr="0">
            <a:noAutofit/>
          </a:bodyPr>
          <a:lstStyle/>
          <a:p>
            <a:pPr marL="0" lvl="3"/>
            <a:r>
              <a:rPr lang="en-US">
                <a:solidFill>
                  <a:srgbClr val="29BA74">
                    <a:lumMod val="100000"/>
                  </a:srgbClr>
                </a:solidFill>
                <a:latin typeface="Work Sans SemiBold" panose="00000700000000000000" pitchFamily="2" charset="0"/>
                <a:sym typeface="+mn-lt"/>
              </a:rPr>
              <a:t>Precision media</a:t>
            </a:r>
          </a:p>
        </p:txBody>
      </p:sp>
      <p:sp>
        <p:nvSpPr>
          <p:cNvPr id="30" name="ee4pHeader2"/>
          <p:cNvSpPr txBox="1"/>
          <p:nvPr/>
        </p:nvSpPr>
        <p:spPr>
          <a:xfrm>
            <a:off x="4586216" y="3074735"/>
            <a:ext cx="3549265" cy="265018"/>
          </a:xfrm>
          <a:prstGeom prst="rect">
            <a:avLst/>
          </a:prstGeom>
          <a:noFill/>
          <a:ln cap="rnd">
            <a:noFill/>
          </a:ln>
        </p:spPr>
        <p:txBody>
          <a:bodyPr vert="horz" wrap="square" lIns="0" tIns="0" rIns="0" bIns="0" rtlCol="0" anchor="t" anchorCtr="0">
            <a:noAutofit/>
          </a:bodyPr>
          <a:lstStyle/>
          <a:p>
            <a:pPr marL="0" lvl="3"/>
            <a:r>
              <a:rPr lang="en-US">
                <a:solidFill>
                  <a:srgbClr val="29BA74">
                    <a:lumMod val="100000"/>
                  </a:srgbClr>
                </a:solidFill>
                <a:latin typeface="Work Sans SemiBold" panose="00000700000000000000" pitchFamily="2" charset="0"/>
                <a:sym typeface="+mn-lt"/>
              </a:rPr>
              <a:t>1:1 owned channel experiences</a:t>
            </a:r>
          </a:p>
        </p:txBody>
      </p:sp>
      <p:sp>
        <p:nvSpPr>
          <p:cNvPr id="32" name="ee4pHeader4"/>
          <p:cNvSpPr txBox="1"/>
          <p:nvPr/>
        </p:nvSpPr>
        <p:spPr>
          <a:xfrm>
            <a:off x="8463851" y="3104276"/>
            <a:ext cx="2198458" cy="205937"/>
          </a:xfrm>
          <a:prstGeom prst="rect">
            <a:avLst/>
          </a:prstGeom>
          <a:noFill/>
          <a:ln cap="rnd">
            <a:noFill/>
          </a:ln>
        </p:spPr>
        <p:txBody>
          <a:bodyPr vert="horz" wrap="square" lIns="0" tIns="0" rIns="0" bIns="0" rtlCol="0" anchor="t" anchorCtr="0">
            <a:noAutofit/>
          </a:bodyPr>
          <a:lstStyle/>
          <a:p>
            <a:pPr marL="0" lvl="3"/>
            <a:r>
              <a:rPr lang="en-US">
                <a:solidFill>
                  <a:srgbClr val="29BA74">
                    <a:lumMod val="100000"/>
                  </a:srgbClr>
                </a:solidFill>
                <a:latin typeface="Work Sans SemiBold" panose="00000700000000000000" pitchFamily="2" charset="0"/>
                <a:sym typeface="+mn-lt"/>
              </a:rPr>
              <a:t>Loyalty &amp; advocacy</a:t>
            </a:r>
          </a:p>
        </p:txBody>
      </p:sp>
      <p:sp>
        <p:nvSpPr>
          <p:cNvPr id="33" name="ee4pContent1"/>
          <p:cNvSpPr txBox="1"/>
          <p:nvPr/>
        </p:nvSpPr>
        <p:spPr>
          <a:xfrm>
            <a:off x="629999" y="4617389"/>
            <a:ext cx="3185058" cy="854233"/>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defPPr>
              <a:defRPr lang="en-US"/>
            </a:defPPr>
            <a:lvl1pPr>
              <a:buSzPct val="100000"/>
              <a:buFont typeface="Trebuchet MS" panose="020B0603020202020204" pitchFamily="34" charset="0"/>
              <a:buChar char="​"/>
              <a:defRPr sz="1400">
                <a:solidFill>
                  <a:srgbClr val="575757"/>
                </a:solidFill>
              </a:defRPr>
            </a:lvl1pPr>
            <a:lvl2pPr marL="324000" lvl="1" indent="-216000">
              <a:buClr>
                <a:srgbClr val="2E3558"/>
              </a:buClr>
              <a:buSzPct val="100000"/>
              <a:buFont typeface="Trebuchet MS" panose="020B0603020202020204" pitchFamily="34" charset="0"/>
              <a:buChar char="•"/>
              <a:defRPr sz="1400">
                <a:solidFill>
                  <a:srgbClr val="575757"/>
                </a:solidFill>
              </a:defRPr>
            </a:lvl2pPr>
            <a:lvl3pPr marL="648000" lvl="2" indent="-216000">
              <a:buClr>
                <a:srgbClr val="2E3558"/>
              </a:buClr>
              <a:buSzPct val="100000"/>
              <a:buFont typeface="Trebuchet MS" panose="020B0603020202020204" pitchFamily="34" charset="0"/>
              <a:buChar char="–"/>
              <a:defRPr sz="1400">
                <a:solidFill>
                  <a:srgbClr val="575757"/>
                </a:solidFill>
              </a:defRPr>
            </a:lvl3pPr>
            <a:lvl4pPr marL="0" lvl="3">
              <a:buSzPct val="100000"/>
              <a:buFont typeface="Trebuchet MS" panose="020B0603020202020204" pitchFamily="34" charset="0"/>
              <a:buChar char="​"/>
              <a:defRPr>
                <a:solidFill>
                  <a:srgbClr val="2E3558"/>
                </a:solidFill>
                <a:latin typeface="+mj-lt"/>
              </a:defRPr>
            </a:lvl4pPr>
            <a:lvl5pPr marL="0" lvl="4">
              <a:buSzPct val="100000"/>
              <a:buFont typeface="Trebuchet MS" panose="020B0603020202020204" pitchFamily="34" charset="0"/>
              <a:buChar char="​"/>
              <a:defRPr b="1">
                <a:solidFill>
                  <a:srgbClr val="575757"/>
                </a:solidFill>
              </a:defRPr>
            </a:lvl5pPr>
            <a:lvl6pPr marL="324000" lvl="5" indent="-216000">
              <a:buClr>
                <a:srgbClr val="2E3558"/>
              </a:buClr>
              <a:buSzPct val="100000"/>
              <a:buFont typeface="Trebuchet MS" panose="020B0603020202020204" pitchFamily="34" charset="0"/>
              <a:buChar char="•"/>
              <a:defRPr>
                <a:solidFill>
                  <a:srgbClr val="575757"/>
                </a:solidFill>
              </a:defRPr>
            </a:lvl6pPr>
            <a:lvl7pPr marL="0" lvl="6">
              <a:buSzPct val="100000"/>
              <a:buFont typeface="Trebuchet MS" panose="020B0603020202020204" pitchFamily="34" charset="0"/>
              <a:buChar char="​"/>
              <a:defRPr sz="4400">
                <a:solidFill>
                  <a:srgbClr val="575757"/>
                </a:solidFill>
              </a:defRPr>
            </a:lvl7pPr>
            <a:lvl8pPr marL="0" lvl="7">
              <a:buSzPct val="100000"/>
              <a:buFont typeface="Trebuchet MS" panose="020B0603020202020204" pitchFamily="34" charset="0"/>
              <a:buChar char="​"/>
              <a:defRPr sz="5400">
                <a:solidFill>
                  <a:srgbClr val="2E3558"/>
                </a:solidFill>
              </a:defRPr>
            </a:lvl8pPr>
            <a:lvl9pPr marL="0" lvl="8">
              <a:buSzPct val="100000"/>
              <a:buFont typeface="Trebuchet MS" panose="020B0603020202020204" pitchFamily="34" charset="0"/>
              <a:buChar char="​"/>
              <a:defRPr sz="2400">
                <a:solidFill>
                  <a:srgbClr val="2E3558"/>
                </a:solidFill>
              </a:defRPr>
            </a:lvl9pPr>
          </a:lstStyle>
          <a:p>
            <a:pPr marL="171450" lvl="1" indent="-171450">
              <a:buClr>
                <a:srgbClr val="2E3558">
                  <a:lumMod val="100000"/>
                </a:srgbClr>
              </a:buClr>
            </a:pPr>
            <a:r>
              <a:rPr lang="en-US" sz="1200">
                <a:latin typeface="Work Sans" panose="020B0604020202020204" charset="0"/>
              </a:rPr>
              <a:t>Mix optimization</a:t>
            </a:r>
          </a:p>
          <a:p>
            <a:pPr marL="171450" lvl="1" indent="-171450">
              <a:buClr>
                <a:srgbClr val="2E3558">
                  <a:lumMod val="100000"/>
                </a:srgbClr>
              </a:buClr>
            </a:pPr>
            <a:r>
              <a:rPr lang="en-US" sz="1200">
                <a:latin typeface="Work Sans" panose="020B0604020202020204" charset="0"/>
              </a:rPr>
              <a:t>Frequency management</a:t>
            </a:r>
          </a:p>
          <a:p>
            <a:pPr marL="171450" lvl="1" indent="-171450">
              <a:buClr>
                <a:srgbClr val="2E3558">
                  <a:lumMod val="100000"/>
                </a:srgbClr>
              </a:buClr>
            </a:pPr>
            <a:r>
              <a:rPr lang="en-US" sz="1200">
                <a:latin typeface="Work Sans" panose="020B0604020202020204" charset="0"/>
              </a:rPr>
              <a:t>Improved targeting (precision geo-targeting)</a:t>
            </a:r>
          </a:p>
          <a:p>
            <a:pPr marL="171450" lvl="1" indent="-171450">
              <a:buClr>
                <a:srgbClr val="2E3558">
                  <a:lumMod val="100000"/>
                </a:srgbClr>
              </a:buClr>
            </a:pPr>
            <a:r>
              <a:rPr lang="en-US" sz="1200">
                <a:latin typeface="Work Sans" panose="020B0604020202020204" charset="0"/>
              </a:rPr>
              <a:t>Triggered engagement</a:t>
            </a:r>
            <a:endParaRPr lang="en-US" sz="1200">
              <a:solidFill>
                <a:srgbClr val="575757">
                  <a:lumMod val="100000"/>
                </a:srgbClr>
              </a:solidFill>
              <a:latin typeface="Work Sans" panose="00000500000000000000" pitchFamily="2" charset="0"/>
            </a:endParaRPr>
          </a:p>
        </p:txBody>
      </p:sp>
      <p:sp>
        <p:nvSpPr>
          <p:cNvPr id="34" name="ee4pContent2"/>
          <p:cNvSpPr txBox="1"/>
          <p:nvPr/>
        </p:nvSpPr>
        <p:spPr>
          <a:xfrm>
            <a:off x="4542252" y="4567527"/>
            <a:ext cx="3427466" cy="1813316"/>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defPPr>
              <a:defRPr lang="en-US"/>
            </a:defPPr>
            <a:lvl1pPr>
              <a:buSzPct val="100000"/>
              <a:buFont typeface="Trebuchet MS" panose="020B0603020202020204" pitchFamily="34" charset="0"/>
              <a:buChar char="​"/>
              <a:defRPr sz="1400">
                <a:solidFill>
                  <a:srgbClr val="575757"/>
                </a:solidFill>
              </a:defRPr>
            </a:lvl1pPr>
            <a:lvl2pPr marL="324000" lvl="1" indent="-216000">
              <a:buClr>
                <a:srgbClr val="2E3558"/>
              </a:buClr>
              <a:buSzPct val="100000"/>
              <a:buFont typeface="Trebuchet MS" panose="020B0603020202020204" pitchFamily="34" charset="0"/>
              <a:buChar char="•"/>
              <a:defRPr sz="1400">
                <a:solidFill>
                  <a:srgbClr val="575757"/>
                </a:solidFill>
              </a:defRPr>
            </a:lvl2pPr>
            <a:lvl3pPr marL="648000" lvl="2" indent="-216000">
              <a:buClr>
                <a:srgbClr val="2E3558"/>
              </a:buClr>
              <a:buSzPct val="100000"/>
              <a:buFont typeface="Trebuchet MS" panose="020B0603020202020204" pitchFamily="34" charset="0"/>
              <a:buChar char="–"/>
              <a:defRPr sz="1400">
                <a:solidFill>
                  <a:srgbClr val="575757"/>
                </a:solidFill>
              </a:defRPr>
            </a:lvl3pPr>
            <a:lvl4pPr marL="0" lvl="3">
              <a:buSzPct val="100000"/>
              <a:buFont typeface="Trebuchet MS" panose="020B0603020202020204" pitchFamily="34" charset="0"/>
              <a:buChar char="​"/>
              <a:defRPr>
                <a:solidFill>
                  <a:srgbClr val="2E3558"/>
                </a:solidFill>
                <a:latin typeface="+mj-lt"/>
              </a:defRPr>
            </a:lvl4pPr>
            <a:lvl5pPr marL="0" lvl="4">
              <a:buSzPct val="100000"/>
              <a:buFont typeface="Trebuchet MS" panose="020B0603020202020204" pitchFamily="34" charset="0"/>
              <a:buChar char="​"/>
              <a:defRPr b="1">
                <a:solidFill>
                  <a:srgbClr val="575757"/>
                </a:solidFill>
              </a:defRPr>
            </a:lvl5pPr>
            <a:lvl6pPr marL="324000" lvl="5" indent="-216000">
              <a:buClr>
                <a:srgbClr val="2E3558"/>
              </a:buClr>
              <a:buSzPct val="100000"/>
              <a:buFont typeface="Trebuchet MS" panose="020B0603020202020204" pitchFamily="34" charset="0"/>
              <a:buChar char="•"/>
              <a:defRPr>
                <a:solidFill>
                  <a:srgbClr val="575757"/>
                </a:solidFill>
              </a:defRPr>
            </a:lvl6pPr>
            <a:lvl7pPr marL="0" lvl="6">
              <a:buSzPct val="100000"/>
              <a:buFont typeface="Trebuchet MS" panose="020B0603020202020204" pitchFamily="34" charset="0"/>
              <a:buChar char="​"/>
              <a:defRPr sz="4400">
                <a:solidFill>
                  <a:srgbClr val="575757"/>
                </a:solidFill>
              </a:defRPr>
            </a:lvl7pPr>
            <a:lvl8pPr marL="0" lvl="7">
              <a:buSzPct val="100000"/>
              <a:buFont typeface="Trebuchet MS" panose="020B0603020202020204" pitchFamily="34" charset="0"/>
              <a:buChar char="​"/>
              <a:defRPr sz="5400">
                <a:solidFill>
                  <a:srgbClr val="2E3558"/>
                </a:solidFill>
              </a:defRPr>
            </a:lvl8pPr>
            <a:lvl9pPr marL="0" lvl="8">
              <a:buSzPct val="100000"/>
              <a:buFont typeface="Trebuchet MS" panose="020B0603020202020204" pitchFamily="34" charset="0"/>
              <a:buChar char="​"/>
              <a:defRPr sz="2400">
                <a:solidFill>
                  <a:srgbClr val="2E3558"/>
                </a:solidFill>
              </a:defRPr>
            </a:lvl9pPr>
          </a:lstStyle>
          <a:p>
            <a:pPr lvl="1"/>
            <a:r>
              <a:rPr lang="en-US" sz="1200"/>
              <a:t>Next best action/offer</a:t>
            </a:r>
          </a:p>
          <a:p>
            <a:pPr lvl="1"/>
            <a:r>
              <a:rPr lang="en-US" sz="1200"/>
              <a:t>Cross-sell recommendations (PDP, email, app)</a:t>
            </a:r>
          </a:p>
          <a:p>
            <a:pPr lvl="1"/>
            <a:r>
              <a:rPr lang="en-US" sz="1200"/>
              <a:t>Gamification/multi-step</a:t>
            </a:r>
          </a:p>
          <a:p>
            <a:pPr lvl="1"/>
            <a:r>
              <a:rPr lang="en-US" sz="1200"/>
              <a:t>Expand contactable customer base (e-mail acquisition, app download)</a:t>
            </a:r>
          </a:p>
          <a:p>
            <a:pPr lvl="1"/>
            <a:r>
              <a:rPr lang="en-US" sz="1200"/>
              <a:t>Bionic personalization</a:t>
            </a:r>
          </a:p>
          <a:p>
            <a:pPr lvl="1"/>
            <a:r>
              <a:rPr lang="en-US" sz="1200"/>
              <a:t>Triggered engagement</a:t>
            </a:r>
          </a:p>
          <a:p>
            <a:pPr lvl="1"/>
            <a:r>
              <a:rPr lang="en-US" sz="1200"/>
              <a:t>Personalized partnerships (e.g., cards/merchant funded offers)</a:t>
            </a:r>
          </a:p>
          <a:p>
            <a:pPr lvl="1"/>
            <a:r>
              <a:rPr lang="en-US" sz="1200"/>
              <a:t>Personalized product renewal/extension</a:t>
            </a:r>
          </a:p>
        </p:txBody>
      </p:sp>
      <p:sp>
        <p:nvSpPr>
          <p:cNvPr id="36" name="ee4pContent4"/>
          <p:cNvSpPr txBox="1"/>
          <p:nvPr/>
        </p:nvSpPr>
        <p:spPr>
          <a:xfrm>
            <a:off x="8366828" y="4567527"/>
            <a:ext cx="3185058" cy="854233"/>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defPPr>
              <a:defRPr lang="en-US"/>
            </a:defPPr>
            <a:lvl1pPr>
              <a:buSzPct val="100000"/>
              <a:buFont typeface="Trebuchet MS" panose="020B0603020202020204" pitchFamily="34" charset="0"/>
              <a:buChar char="​"/>
              <a:defRPr sz="1400">
                <a:solidFill>
                  <a:srgbClr val="575757"/>
                </a:solidFill>
              </a:defRPr>
            </a:lvl1pPr>
            <a:lvl2pPr marL="324000" lvl="1" indent="-216000">
              <a:buClr>
                <a:srgbClr val="2E3558"/>
              </a:buClr>
              <a:buSzPct val="100000"/>
              <a:buFont typeface="Trebuchet MS" panose="020B0603020202020204" pitchFamily="34" charset="0"/>
              <a:buChar char="•"/>
              <a:defRPr sz="1400">
                <a:solidFill>
                  <a:srgbClr val="575757"/>
                </a:solidFill>
              </a:defRPr>
            </a:lvl2pPr>
            <a:lvl3pPr marL="648000" lvl="2" indent="-216000">
              <a:buClr>
                <a:srgbClr val="2E3558"/>
              </a:buClr>
              <a:buSzPct val="100000"/>
              <a:buFont typeface="Trebuchet MS" panose="020B0603020202020204" pitchFamily="34" charset="0"/>
              <a:buChar char="–"/>
              <a:defRPr sz="1400">
                <a:solidFill>
                  <a:srgbClr val="575757"/>
                </a:solidFill>
              </a:defRPr>
            </a:lvl3pPr>
            <a:lvl4pPr marL="0" lvl="3">
              <a:buSzPct val="100000"/>
              <a:buFont typeface="Trebuchet MS" panose="020B0603020202020204" pitchFamily="34" charset="0"/>
              <a:buChar char="​"/>
              <a:defRPr>
                <a:solidFill>
                  <a:srgbClr val="2E3558"/>
                </a:solidFill>
                <a:latin typeface="+mj-lt"/>
              </a:defRPr>
            </a:lvl4pPr>
            <a:lvl5pPr marL="0" lvl="4">
              <a:buSzPct val="100000"/>
              <a:buFont typeface="Trebuchet MS" panose="020B0603020202020204" pitchFamily="34" charset="0"/>
              <a:buChar char="​"/>
              <a:defRPr b="1">
                <a:solidFill>
                  <a:srgbClr val="575757"/>
                </a:solidFill>
              </a:defRPr>
            </a:lvl5pPr>
            <a:lvl6pPr marL="324000" lvl="5" indent="-216000">
              <a:buClr>
                <a:srgbClr val="2E3558"/>
              </a:buClr>
              <a:buSzPct val="100000"/>
              <a:buFont typeface="Trebuchet MS" panose="020B0603020202020204" pitchFamily="34" charset="0"/>
              <a:buChar char="•"/>
              <a:defRPr>
                <a:solidFill>
                  <a:srgbClr val="575757"/>
                </a:solidFill>
              </a:defRPr>
            </a:lvl6pPr>
            <a:lvl7pPr marL="0" lvl="6">
              <a:buSzPct val="100000"/>
              <a:buFont typeface="Trebuchet MS" panose="020B0603020202020204" pitchFamily="34" charset="0"/>
              <a:buChar char="​"/>
              <a:defRPr sz="4400">
                <a:solidFill>
                  <a:srgbClr val="575757"/>
                </a:solidFill>
              </a:defRPr>
            </a:lvl7pPr>
            <a:lvl8pPr marL="0" lvl="7">
              <a:buSzPct val="100000"/>
              <a:buFont typeface="Trebuchet MS" panose="020B0603020202020204" pitchFamily="34" charset="0"/>
              <a:buChar char="​"/>
              <a:defRPr sz="5400">
                <a:solidFill>
                  <a:srgbClr val="2E3558"/>
                </a:solidFill>
              </a:defRPr>
            </a:lvl8pPr>
            <a:lvl9pPr marL="0" lvl="8">
              <a:buSzPct val="100000"/>
              <a:buFont typeface="Trebuchet MS" panose="020B0603020202020204" pitchFamily="34" charset="0"/>
              <a:buChar char="​"/>
              <a:defRPr sz="2400">
                <a:solidFill>
                  <a:srgbClr val="2E3558"/>
                </a:solidFill>
              </a:defRPr>
            </a:lvl9pPr>
          </a:lstStyle>
          <a:p>
            <a:pPr lvl="1"/>
            <a:r>
              <a:rPr lang="en-US" sz="1200"/>
              <a:t>Churn prevention</a:t>
            </a:r>
          </a:p>
          <a:p>
            <a:pPr lvl="1"/>
            <a:r>
              <a:rPr lang="en-US" sz="1200"/>
              <a:t>Re-activation/win-back</a:t>
            </a:r>
          </a:p>
          <a:p>
            <a:pPr lvl="1"/>
            <a:r>
              <a:rPr lang="en-US" sz="1200"/>
              <a:t>Personalized incentives </a:t>
            </a:r>
          </a:p>
          <a:p>
            <a:pPr lvl="1"/>
            <a:r>
              <a:rPr lang="en-US" sz="1200"/>
              <a:t>Surprise and delight</a:t>
            </a:r>
          </a:p>
          <a:p>
            <a:pPr lvl="1"/>
            <a:r>
              <a:rPr lang="en-US" sz="1200"/>
              <a:t>New customer onboarding</a:t>
            </a:r>
          </a:p>
          <a:p>
            <a:pPr lvl="1"/>
            <a:r>
              <a:rPr lang="en-US" sz="1200"/>
              <a:t>Referral programs</a:t>
            </a:r>
          </a:p>
          <a:p>
            <a:pPr lvl="1"/>
            <a:r>
              <a:rPr lang="en-US" sz="1200"/>
              <a:t>Personalized, shareable content</a:t>
            </a:r>
          </a:p>
        </p:txBody>
      </p:sp>
      <p:pic>
        <p:nvPicPr>
          <p:cNvPr id="37" name="Picture 36"/>
          <p:cNvPicPr>
            <a:picLocks noChangeAspect="1"/>
          </p:cNvPicPr>
          <p:nvPr/>
        </p:nvPicPr>
        <p:blipFill rotWithShape="1">
          <a:blip r:embed="rId7">
            <a:extLst>
              <a:ext uri="{28A0092B-C50C-407E-A947-70E740481C1C}">
                <a14:useLocalDpi xmlns:a14="http://schemas.microsoft.com/office/drawing/2010/main" val="0"/>
              </a:ext>
            </a:extLst>
          </a:blip>
          <a:srcRect t="48981" r="46616"/>
          <a:stretch/>
        </p:blipFill>
        <p:spPr>
          <a:xfrm>
            <a:off x="10543703" y="-67375"/>
            <a:ext cx="1648297" cy="1695030"/>
          </a:xfrm>
          <a:prstGeom prst="rect">
            <a:avLst/>
          </a:prstGeom>
        </p:spPr>
      </p:pic>
      <p:grpSp>
        <p:nvGrpSpPr>
          <p:cNvPr id="41" name="bcgIcons_Target">
            <a:extLst>
              <a:ext uri="{FF2B5EF4-FFF2-40B4-BE49-F238E27FC236}">
                <a16:creationId xmlns:a16="http://schemas.microsoft.com/office/drawing/2014/main" id="{D12A4919-2326-4206-813C-241C496E1E18}"/>
              </a:ext>
            </a:extLst>
          </p:cNvPr>
          <p:cNvGrpSpPr>
            <a:grpSpLocks noChangeAspect="1"/>
          </p:cNvGrpSpPr>
          <p:nvPr/>
        </p:nvGrpSpPr>
        <p:grpSpPr bwMode="auto">
          <a:xfrm>
            <a:off x="791187" y="1888488"/>
            <a:ext cx="692914" cy="693556"/>
            <a:chOff x="1682" y="0"/>
            <a:chExt cx="4316" cy="4320"/>
          </a:xfrm>
        </p:grpSpPr>
        <p:sp>
          <p:nvSpPr>
            <p:cNvPr id="42" name="AutoShape 23">
              <a:extLst>
                <a:ext uri="{FF2B5EF4-FFF2-40B4-BE49-F238E27FC236}">
                  <a16:creationId xmlns:a16="http://schemas.microsoft.com/office/drawing/2014/main" id="{8D8497EC-D6B6-49E2-A260-3E1D705C7F78}"/>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25">
              <a:extLst>
                <a:ext uri="{FF2B5EF4-FFF2-40B4-BE49-F238E27FC236}">
                  <a16:creationId xmlns:a16="http://schemas.microsoft.com/office/drawing/2014/main" id="{FD321037-36D3-45E3-B9F8-ACBFDADF1442}"/>
                </a:ext>
              </a:extLst>
            </p:cNvPr>
            <p:cNvSpPr>
              <a:spLocks noEditPoints="1"/>
            </p:cNvSpPr>
            <p:nvPr/>
          </p:nvSpPr>
          <p:spPr bwMode="auto">
            <a:xfrm>
              <a:off x="3782" y="838"/>
              <a:ext cx="1832" cy="1367"/>
            </a:xfrm>
            <a:custGeom>
              <a:avLst/>
              <a:gdLst>
                <a:gd name="T0" fmla="*/ 25 w 978"/>
                <a:gd name="T1" fmla="*/ 729 h 729"/>
                <a:gd name="T2" fmla="*/ 7 w 978"/>
                <a:gd name="T3" fmla="*/ 719 h 729"/>
                <a:gd name="T4" fmla="*/ 13 w 978"/>
                <a:gd name="T5" fmla="*/ 689 h 729"/>
                <a:gd name="T6" fmla="*/ 888 w 978"/>
                <a:gd name="T7" fmla="*/ 86 h 729"/>
                <a:gd name="T8" fmla="*/ 919 w 978"/>
                <a:gd name="T9" fmla="*/ 91 h 729"/>
                <a:gd name="T10" fmla="*/ 913 w 978"/>
                <a:gd name="T11" fmla="*/ 122 h 729"/>
                <a:gd name="T12" fmla="*/ 38 w 978"/>
                <a:gd name="T13" fmla="*/ 725 h 729"/>
                <a:gd name="T14" fmla="*/ 25 w 978"/>
                <a:gd name="T15" fmla="*/ 729 h 729"/>
                <a:gd name="T16" fmla="*/ 578 w 978"/>
                <a:gd name="T17" fmla="*/ 254 h 729"/>
                <a:gd name="T18" fmla="*/ 586 w 978"/>
                <a:gd name="T19" fmla="*/ 258 h 729"/>
                <a:gd name="T20" fmla="*/ 825 w 978"/>
                <a:gd name="T21" fmla="*/ 93 h 729"/>
                <a:gd name="T22" fmla="*/ 826 w 978"/>
                <a:gd name="T23" fmla="*/ 91 h 729"/>
                <a:gd name="T24" fmla="*/ 849 w 978"/>
                <a:gd name="T25" fmla="*/ 8 h 729"/>
                <a:gd name="T26" fmla="*/ 841 w 978"/>
                <a:gd name="T27" fmla="*/ 3 h 729"/>
                <a:gd name="T28" fmla="*/ 602 w 978"/>
                <a:gd name="T29" fmla="*/ 166 h 729"/>
                <a:gd name="T30" fmla="*/ 599 w 978"/>
                <a:gd name="T31" fmla="*/ 171 h 729"/>
                <a:gd name="T32" fmla="*/ 578 w 978"/>
                <a:gd name="T33" fmla="*/ 254 h 729"/>
                <a:gd name="T34" fmla="*/ 646 w 978"/>
                <a:gd name="T35" fmla="*/ 352 h 729"/>
                <a:gd name="T36" fmla="*/ 730 w 978"/>
                <a:gd name="T37" fmla="*/ 362 h 729"/>
                <a:gd name="T38" fmla="*/ 736 w 978"/>
                <a:gd name="T39" fmla="*/ 361 h 729"/>
                <a:gd name="T40" fmla="*/ 974 w 978"/>
                <a:gd name="T41" fmla="*/ 196 h 729"/>
                <a:gd name="T42" fmla="*/ 972 w 978"/>
                <a:gd name="T43" fmla="*/ 187 h 729"/>
                <a:gd name="T44" fmla="*/ 886 w 978"/>
                <a:gd name="T45" fmla="*/ 179 h 729"/>
                <a:gd name="T46" fmla="*/ 884 w 978"/>
                <a:gd name="T47" fmla="*/ 179 h 729"/>
                <a:gd name="T48" fmla="*/ 644 w 978"/>
                <a:gd name="T49" fmla="*/ 343 h 729"/>
                <a:gd name="T50" fmla="*/ 646 w 978"/>
                <a:gd name="T51" fmla="*/ 352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78" h="729">
                  <a:moveTo>
                    <a:pt x="25" y="729"/>
                  </a:moveTo>
                  <a:cubicBezTo>
                    <a:pt x="18" y="729"/>
                    <a:pt x="11" y="726"/>
                    <a:pt x="7" y="719"/>
                  </a:cubicBezTo>
                  <a:cubicBezTo>
                    <a:pt x="0" y="709"/>
                    <a:pt x="3" y="696"/>
                    <a:pt x="13" y="689"/>
                  </a:cubicBezTo>
                  <a:cubicBezTo>
                    <a:pt x="888" y="86"/>
                    <a:pt x="888" y="86"/>
                    <a:pt x="888" y="86"/>
                  </a:cubicBezTo>
                  <a:cubicBezTo>
                    <a:pt x="898" y="79"/>
                    <a:pt x="912" y="81"/>
                    <a:pt x="919" y="91"/>
                  </a:cubicBezTo>
                  <a:cubicBezTo>
                    <a:pt x="926" y="101"/>
                    <a:pt x="923" y="115"/>
                    <a:pt x="913" y="122"/>
                  </a:cubicBezTo>
                  <a:cubicBezTo>
                    <a:pt x="38" y="725"/>
                    <a:pt x="38" y="725"/>
                    <a:pt x="38" y="725"/>
                  </a:cubicBezTo>
                  <a:cubicBezTo>
                    <a:pt x="34" y="728"/>
                    <a:pt x="30" y="729"/>
                    <a:pt x="25" y="729"/>
                  </a:cubicBezTo>
                  <a:close/>
                  <a:moveTo>
                    <a:pt x="578" y="254"/>
                  </a:moveTo>
                  <a:cubicBezTo>
                    <a:pt x="577" y="258"/>
                    <a:pt x="582" y="259"/>
                    <a:pt x="586" y="258"/>
                  </a:cubicBezTo>
                  <a:cubicBezTo>
                    <a:pt x="586" y="258"/>
                    <a:pt x="586" y="258"/>
                    <a:pt x="825" y="93"/>
                  </a:cubicBezTo>
                  <a:cubicBezTo>
                    <a:pt x="826" y="93"/>
                    <a:pt x="826" y="93"/>
                    <a:pt x="826" y="91"/>
                  </a:cubicBezTo>
                  <a:cubicBezTo>
                    <a:pt x="826" y="91"/>
                    <a:pt x="826" y="91"/>
                    <a:pt x="849" y="8"/>
                  </a:cubicBezTo>
                  <a:cubicBezTo>
                    <a:pt x="850" y="3"/>
                    <a:pt x="845" y="0"/>
                    <a:pt x="841" y="3"/>
                  </a:cubicBezTo>
                  <a:cubicBezTo>
                    <a:pt x="841" y="3"/>
                    <a:pt x="841" y="3"/>
                    <a:pt x="602" y="166"/>
                  </a:cubicBezTo>
                  <a:cubicBezTo>
                    <a:pt x="601" y="168"/>
                    <a:pt x="601" y="168"/>
                    <a:pt x="599" y="171"/>
                  </a:cubicBezTo>
                  <a:cubicBezTo>
                    <a:pt x="599" y="171"/>
                    <a:pt x="599" y="171"/>
                    <a:pt x="578" y="254"/>
                  </a:cubicBezTo>
                  <a:close/>
                  <a:moveTo>
                    <a:pt x="646" y="352"/>
                  </a:moveTo>
                  <a:cubicBezTo>
                    <a:pt x="730" y="362"/>
                    <a:pt x="730" y="362"/>
                    <a:pt x="730" y="362"/>
                  </a:cubicBezTo>
                  <a:cubicBezTo>
                    <a:pt x="734" y="361"/>
                    <a:pt x="734" y="361"/>
                    <a:pt x="736" y="361"/>
                  </a:cubicBezTo>
                  <a:cubicBezTo>
                    <a:pt x="974" y="196"/>
                    <a:pt x="974" y="196"/>
                    <a:pt x="974" y="196"/>
                  </a:cubicBezTo>
                  <a:cubicBezTo>
                    <a:pt x="978" y="194"/>
                    <a:pt x="978" y="187"/>
                    <a:pt x="972" y="187"/>
                  </a:cubicBezTo>
                  <a:cubicBezTo>
                    <a:pt x="886" y="179"/>
                    <a:pt x="886" y="179"/>
                    <a:pt x="886" y="179"/>
                  </a:cubicBezTo>
                  <a:cubicBezTo>
                    <a:pt x="884" y="177"/>
                    <a:pt x="884" y="177"/>
                    <a:pt x="884" y="179"/>
                  </a:cubicBezTo>
                  <a:cubicBezTo>
                    <a:pt x="644" y="343"/>
                    <a:pt x="644" y="343"/>
                    <a:pt x="644" y="343"/>
                  </a:cubicBezTo>
                  <a:cubicBezTo>
                    <a:pt x="642" y="347"/>
                    <a:pt x="642" y="351"/>
                    <a:pt x="646" y="35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26">
              <a:extLst>
                <a:ext uri="{FF2B5EF4-FFF2-40B4-BE49-F238E27FC236}">
                  <a16:creationId xmlns:a16="http://schemas.microsoft.com/office/drawing/2014/main" id="{71ECDB0C-EB91-4B11-935F-B84B30DB2AFE}"/>
                </a:ext>
              </a:extLst>
            </p:cNvPr>
            <p:cNvSpPr>
              <a:spLocks noEditPoints="1"/>
            </p:cNvSpPr>
            <p:nvPr/>
          </p:nvSpPr>
          <p:spPr bwMode="auto">
            <a:xfrm>
              <a:off x="2422" y="756"/>
              <a:ext cx="2814" cy="2816"/>
            </a:xfrm>
            <a:custGeom>
              <a:avLst/>
              <a:gdLst>
                <a:gd name="T0" fmla="*/ 1016 w 1502"/>
                <a:gd name="T1" fmla="*/ 662 h 1502"/>
                <a:gd name="T2" fmla="*/ 1030 w 1502"/>
                <a:gd name="T3" fmla="*/ 751 h 1502"/>
                <a:gd name="T4" fmla="*/ 751 w 1502"/>
                <a:gd name="T5" fmla="*/ 1030 h 1502"/>
                <a:gd name="T6" fmla="*/ 472 w 1502"/>
                <a:gd name="T7" fmla="*/ 751 h 1502"/>
                <a:gd name="T8" fmla="*/ 751 w 1502"/>
                <a:gd name="T9" fmla="*/ 472 h 1502"/>
                <a:gd name="T10" fmla="*/ 929 w 1502"/>
                <a:gd name="T11" fmla="*/ 536 h 1502"/>
                <a:gd name="T12" fmla="*/ 819 w 1502"/>
                <a:gd name="T13" fmla="*/ 611 h 1502"/>
                <a:gd name="T14" fmla="*/ 751 w 1502"/>
                <a:gd name="T15" fmla="*/ 596 h 1502"/>
                <a:gd name="T16" fmla="*/ 596 w 1502"/>
                <a:gd name="T17" fmla="*/ 751 h 1502"/>
                <a:gd name="T18" fmla="*/ 751 w 1502"/>
                <a:gd name="T19" fmla="*/ 906 h 1502"/>
                <a:gd name="T20" fmla="*/ 906 w 1502"/>
                <a:gd name="T21" fmla="*/ 751 h 1502"/>
                <a:gd name="T22" fmla="*/ 906 w 1502"/>
                <a:gd name="T23" fmla="*/ 738 h 1502"/>
                <a:gd name="T24" fmla="*/ 1016 w 1502"/>
                <a:gd name="T25" fmla="*/ 662 h 1502"/>
                <a:gd name="T26" fmla="*/ 1107 w 1502"/>
                <a:gd name="T27" fmla="*/ 599 h 1502"/>
                <a:gd name="T28" fmla="*/ 1138 w 1502"/>
                <a:gd name="T29" fmla="*/ 751 h 1502"/>
                <a:gd name="T30" fmla="*/ 751 w 1502"/>
                <a:gd name="T31" fmla="*/ 1138 h 1502"/>
                <a:gd name="T32" fmla="*/ 364 w 1502"/>
                <a:gd name="T33" fmla="*/ 751 h 1502"/>
                <a:gd name="T34" fmla="*/ 751 w 1502"/>
                <a:gd name="T35" fmla="*/ 364 h 1502"/>
                <a:gd name="T36" fmla="*/ 1020 w 1502"/>
                <a:gd name="T37" fmla="*/ 473 h 1502"/>
                <a:gd name="T38" fmla="*/ 1124 w 1502"/>
                <a:gd name="T39" fmla="*/ 401 h 1502"/>
                <a:gd name="T40" fmla="*/ 751 w 1502"/>
                <a:gd name="T41" fmla="*/ 240 h 1502"/>
                <a:gd name="T42" fmla="*/ 240 w 1502"/>
                <a:gd name="T43" fmla="*/ 751 h 1502"/>
                <a:gd name="T44" fmla="*/ 751 w 1502"/>
                <a:gd name="T45" fmla="*/ 1262 h 1502"/>
                <a:gd name="T46" fmla="*/ 1262 w 1502"/>
                <a:gd name="T47" fmla="*/ 751 h 1502"/>
                <a:gd name="T48" fmla="*/ 1211 w 1502"/>
                <a:gd name="T49" fmla="*/ 528 h 1502"/>
                <a:gd name="T50" fmla="*/ 1107 w 1502"/>
                <a:gd name="T51" fmla="*/ 599 h 1502"/>
                <a:gd name="T52" fmla="*/ 1333 w 1502"/>
                <a:gd name="T53" fmla="*/ 443 h 1502"/>
                <a:gd name="T54" fmla="*/ 1307 w 1502"/>
                <a:gd name="T55" fmla="*/ 461 h 1502"/>
                <a:gd name="T56" fmla="*/ 1378 w 1502"/>
                <a:gd name="T57" fmla="*/ 751 h 1502"/>
                <a:gd name="T58" fmla="*/ 751 w 1502"/>
                <a:gd name="T59" fmla="*/ 1378 h 1502"/>
                <a:gd name="T60" fmla="*/ 124 w 1502"/>
                <a:gd name="T61" fmla="*/ 751 h 1502"/>
                <a:gd name="T62" fmla="*/ 751 w 1502"/>
                <a:gd name="T63" fmla="*/ 124 h 1502"/>
                <a:gd name="T64" fmla="*/ 1220 w 1502"/>
                <a:gd name="T65" fmla="*/ 335 h 1502"/>
                <a:gd name="T66" fmla="*/ 1246 w 1502"/>
                <a:gd name="T67" fmla="*/ 317 h 1502"/>
                <a:gd name="T68" fmla="*/ 1273 w 1502"/>
                <a:gd name="T69" fmla="*/ 211 h 1502"/>
                <a:gd name="T70" fmla="*/ 751 w 1502"/>
                <a:gd name="T71" fmla="*/ 0 h 1502"/>
                <a:gd name="T72" fmla="*/ 0 w 1502"/>
                <a:gd name="T73" fmla="*/ 751 h 1502"/>
                <a:gd name="T74" fmla="*/ 751 w 1502"/>
                <a:gd name="T75" fmla="*/ 1502 h 1502"/>
                <a:gd name="T76" fmla="*/ 1502 w 1502"/>
                <a:gd name="T77" fmla="*/ 751 h 1502"/>
                <a:gd name="T78" fmla="*/ 1442 w 1502"/>
                <a:gd name="T79" fmla="*/ 456 h 1502"/>
                <a:gd name="T80" fmla="*/ 1333 w 1502"/>
                <a:gd name="T81" fmla="*/ 443 h 1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02" h="1502">
                  <a:moveTo>
                    <a:pt x="1016" y="662"/>
                  </a:moveTo>
                  <a:cubicBezTo>
                    <a:pt x="1025" y="690"/>
                    <a:pt x="1030" y="720"/>
                    <a:pt x="1030" y="751"/>
                  </a:cubicBezTo>
                  <a:cubicBezTo>
                    <a:pt x="1030" y="905"/>
                    <a:pt x="905" y="1030"/>
                    <a:pt x="751" y="1030"/>
                  </a:cubicBezTo>
                  <a:cubicBezTo>
                    <a:pt x="597" y="1030"/>
                    <a:pt x="472" y="905"/>
                    <a:pt x="472" y="751"/>
                  </a:cubicBezTo>
                  <a:cubicBezTo>
                    <a:pt x="472" y="597"/>
                    <a:pt x="597" y="472"/>
                    <a:pt x="751" y="472"/>
                  </a:cubicBezTo>
                  <a:cubicBezTo>
                    <a:pt x="818" y="472"/>
                    <a:pt x="880" y="496"/>
                    <a:pt x="929" y="536"/>
                  </a:cubicBezTo>
                  <a:cubicBezTo>
                    <a:pt x="819" y="611"/>
                    <a:pt x="819" y="611"/>
                    <a:pt x="819" y="611"/>
                  </a:cubicBezTo>
                  <a:cubicBezTo>
                    <a:pt x="798" y="601"/>
                    <a:pt x="775" y="596"/>
                    <a:pt x="751" y="596"/>
                  </a:cubicBezTo>
                  <a:cubicBezTo>
                    <a:pt x="665" y="596"/>
                    <a:pt x="596" y="665"/>
                    <a:pt x="596" y="751"/>
                  </a:cubicBezTo>
                  <a:cubicBezTo>
                    <a:pt x="596" y="836"/>
                    <a:pt x="665" y="906"/>
                    <a:pt x="751" y="906"/>
                  </a:cubicBezTo>
                  <a:cubicBezTo>
                    <a:pt x="837" y="906"/>
                    <a:pt x="906" y="836"/>
                    <a:pt x="906" y="751"/>
                  </a:cubicBezTo>
                  <a:cubicBezTo>
                    <a:pt x="906" y="746"/>
                    <a:pt x="906" y="742"/>
                    <a:pt x="906" y="738"/>
                  </a:cubicBezTo>
                  <a:lnTo>
                    <a:pt x="1016" y="662"/>
                  </a:lnTo>
                  <a:close/>
                  <a:moveTo>
                    <a:pt x="1107" y="599"/>
                  </a:moveTo>
                  <a:cubicBezTo>
                    <a:pt x="1127" y="646"/>
                    <a:pt x="1138" y="697"/>
                    <a:pt x="1138" y="751"/>
                  </a:cubicBezTo>
                  <a:cubicBezTo>
                    <a:pt x="1138" y="964"/>
                    <a:pt x="964" y="1138"/>
                    <a:pt x="751" y="1138"/>
                  </a:cubicBezTo>
                  <a:cubicBezTo>
                    <a:pt x="537" y="1138"/>
                    <a:pt x="364" y="964"/>
                    <a:pt x="364" y="751"/>
                  </a:cubicBezTo>
                  <a:cubicBezTo>
                    <a:pt x="364" y="537"/>
                    <a:pt x="537" y="364"/>
                    <a:pt x="751" y="364"/>
                  </a:cubicBezTo>
                  <a:cubicBezTo>
                    <a:pt x="855" y="364"/>
                    <a:pt x="950" y="405"/>
                    <a:pt x="1020" y="473"/>
                  </a:cubicBezTo>
                  <a:cubicBezTo>
                    <a:pt x="1124" y="401"/>
                    <a:pt x="1124" y="401"/>
                    <a:pt x="1124" y="401"/>
                  </a:cubicBezTo>
                  <a:cubicBezTo>
                    <a:pt x="1030" y="302"/>
                    <a:pt x="898" y="240"/>
                    <a:pt x="751" y="240"/>
                  </a:cubicBezTo>
                  <a:cubicBezTo>
                    <a:pt x="469" y="240"/>
                    <a:pt x="240" y="469"/>
                    <a:pt x="240" y="751"/>
                  </a:cubicBezTo>
                  <a:cubicBezTo>
                    <a:pt x="240" y="1033"/>
                    <a:pt x="469" y="1262"/>
                    <a:pt x="751" y="1262"/>
                  </a:cubicBezTo>
                  <a:cubicBezTo>
                    <a:pt x="1033" y="1262"/>
                    <a:pt x="1262" y="1033"/>
                    <a:pt x="1262" y="751"/>
                  </a:cubicBezTo>
                  <a:cubicBezTo>
                    <a:pt x="1262" y="671"/>
                    <a:pt x="1244" y="595"/>
                    <a:pt x="1211" y="528"/>
                  </a:cubicBezTo>
                  <a:lnTo>
                    <a:pt x="1107" y="599"/>
                  </a:lnTo>
                  <a:close/>
                  <a:moveTo>
                    <a:pt x="1333" y="443"/>
                  </a:moveTo>
                  <a:cubicBezTo>
                    <a:pt x="1307" y="461"/>
                    <a:pt x="1307" y="461"/>
                    <a:pt x="1307" y="461"/>
                  </a:cubicBezTo>
                  <a:cubicBezTo>
                    <a:pt x="1352" y="548"/>
                    <a:pt x="1378" y="646"/>
                    <a:pt x="1378" y="751"/>
                  </a:cubicBezTo>
                  <a:cubicBezTo>
                    <a:pt x="1378" y="1097"/>
                    <a:pt x="1097" y="1378"/>
                    <a:pt x="751" y="1378"/>
                  </a:cubicBezTo>
                  <a:cubicBezTo>
                    <a:pt x="405" y="1378"/>
                    <a:pt x="124" y="1097"/>
                    <a:pt x="124" y="751"/>
                  </a:cubicBezTo>
                  <a:cubicBezTo>
                    <a:pt x="124" y="405"/>
                    <a:pt x="405" y="124"/>
                    <a:pt x="751" y="124"/>
                  </a:cubicBezTo>
                  <a:cubicBezTo>
                    <a:pt x="937" y="124"/>
                    <a:pt x="1105" y="205"/>
                    <a:pt x="1220" y="335"/>
                  </a:cubicBezTo>
                  <a:cubicBezTo>
                    <a:pt x="1246" y="317"/>
                    <a:pt x="1246" y="317"/>
                    <a:pt x="1246" y="317"/>
                  </a:cubicBezTo>
                  <a:cubicBezTo>
                    <a:pt x="1273" y="211"/>
                    <a:pt x="1273" y="211"/>
                    <a:pt x="1273" y="211"/>
                  </a:cubicBezTo>
                  <a:cubicBezTo>
                    <a:pt x="1138" y="80"/>
                    <a:pt x="954" y="0"/>
                    <a:pt x="751" y="0"/>
                  </a:cubicBezTo>
                  <a:cubicBezTo>
                    <a:pt x="337" y="0"/>
                    <a:pt x="0" y="337"/>
                    <a:pt x="0" y="751"/>
                  </a:cubicBezTo>
                  <a:cubicBezTo>
                    <a:pt x="0" y="1165"/>
                    <a:pt x="337" y="1502"/>
                    <a:pt x="751" y="1502"/>
                  </a:cubicBezTo>
                  <a:cubicBezTo>
                    <a:pt x="1165" y="1502"/>
                    <a:pt x="1502" y="1165"/>
                    <a:pt x="1502" y="751"/>
                  </a:cubicBezTo>
                  <a:cubicBezTo>
                    <a:pt x="1502" y="646"/>
                    <a:pt x="1480" y="547"/>
                    <a:pt x="1442" y="456"/>
                  </a:cubicBezTo>
                  <a:lnTo>
                    <a:pt x="1333" y="44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5" name="bcgIcons_Digital">
            <a:extLst>
              <a:ext uri="{FF2B5EF4-FFF2-40B4-BE49-F238E27FC236}">
                <a16:creationId xmlns:a16="http://schemas.microsoft.com/office/drawing/2014/main" id="{DDC60129-6EB5-4402-A43A-B239E1412395}"/>
              </a:ext>
            </a:extLst>
          </p:cNvPr>
          <p:cNvGrpSpPr>
            <a:grpSpLocks noChangeAspect="1"/>
          </p:cNvGrpSpPr>
          <p:nvPr/>
        </p:nvGrpSpPr>
        <p:grpSpPr bwMode="auto">
          <a:xfrm>
            <a:off x="4703439" y="1888488"/>
            <a:ext cx="692914" cy="693556"/>
            <a:chOff x="1682" y="0"/>
            <a:chExt cx="4316" cy="4320"/>
          </a:xfrm>
        </p:grpSpPr>
        <p:sp>
          <p:nvSpPr>
            <p:cNvPr id="46" name="AutoShape 8">
              <a:extLst>
                <a:ext uri="{FF2B5EF4-FFF2-40B4-BE49-F238E27FC236}">
                  <a16:creationId xmlns:a16="http://schemas.microsoft.com/office/drawing/2014/main" id="{4D352D0D-09E1-4D2D-A978-308E0E8596E6}"/>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10">
              <a:extLst>
                <a:ext uri="{FF2B5EF4-FFF2-40B4-BE49-F238E27FC236}">
                  <a16:creationId xmlns:a16="http://schemas.microsoft.com/office/drawing/2014/main" id="{D67BB1E6-A882-4AEA-AA12-C9C111A8F15A}"/>
                </a:ext>
              </a:extLst>
            </p:cNvPr>
            <p:cNvSpPr>
              <a:spLocks noEditPoints="1"/>
            </p:cNvSpPr>
            <p:nvPr/>
          </p:nvSpPr>
          <p:spPr bwMode="auto">
            <a:xfrm>
              <a:off x="2727" y="919"/>
              <a:ext cx="2797" cy="2512"/>
            </a:xfrm>
            <a:custGeom>
              <a:avLst/>
              <a:gdLst>
                <a:gd name="T0" fmla="*/ 263 w 1493"/>
                <a:gd name="T1" fmla="*/ 1282 h 1340"/>
                <a:gd name="T2" fmla="*/ 379 w 1493"/>
                <a:gd name="T3" fmla="*/ 1282 h 1340"/>
                <a:gd name="T4" fmla="*/ 469 w 1493"/>
                <a:gd name="T5" fmla="*/ 22 h 1340"/>
                <a:gd name="T6" fmla="*/ 195 w 1493"/>
                <a:gd name="T7" fmla="*/ 0 h 1340"/>
                <a:gd name="T8" fmla="*/ 195 w 1493"/>
                <a:gd name="T9" fmla="*/ 44 h 1340"/>
                <a:gd name="T10" fmla="*/ 469 w 1493"/>
                <a:gd name="T11" fmla="*/ 22 h 1340"/>
                <a:gd name="T12" fmla="*/ 390 w 1493"/>
                <a:gd name="T13" fmla="*/ 564 h 1340"/>
                <a:gd name="T14" fmla="*/ 368 w 1493"/>
                <a:gd name="T15" fmla="*/ 701 h 1340"/>
                <a:gd name="T16" fmla="*/ 504 w 1493"/>
                <a:gd name="T17" fmla="*/ 723 h 1340"/>
                <a:gd name="T18" fmla="*/ 526 w 1493"/>
                <a:gd name="T19" fmla="*/ 586 h 1340"/>
                <a:gd name="T20" fmla="*/ 758 w 1493"/>
                <a:gd name="T21" fmla="*/ 347 h 1340"/>
                <a:gd name="T22" fmla="*/ 578 w 1493"/>
                <a:gd name="T23" fmla="*/ 369 h 1340"/>
                <a:gd name="T24" fmla="*/ 600 w 1493"/>
                <a:gd name="T25" fmla="*/ 549 h 1340"/>
                <a:gd name="T26" fmla="*/ 780 w 1493"/>
                <a:gd name="T27" fmla="*/ 527 h 1340"/>
                <a:gd name="T28" fmla="*/ 758 w 1493"/>
                <a:gd name="T29" fmla="*/ 347 h 1340"/>
                <a:gd name="T30" fmla="*/ 570 w 1493"/>
                <a:gd name="T31" fmla="*/ 586 h 1340"/>
                <a:gd name="T32" fmla="*/ 570 w 1493"/>
                <a:gd name="T33" fmla="*/ 701 h 1340"/>
                <a:gd name="T34" fmla="*/ 390 w 1493"/>
                <a:gd name="T35" fmla="*/ 767 h 1340"/>
                <a:gd name="T36" fmla="*/ 324 w 1493"/>
                <a:gd name="T37" fmla="*/ 586 h 1340"/>
                <a:gd name="T38" fmla="*/ 504 w 1493"/>
                <a:gd name="T39" fmla="*/ 520 h 1340"/>
                <a:gd name="T40" fmla="*/ 534 w 1493"/>
                <a:gd name="T41" fmla="*/ 527 h 1340"/>
                <a:gd name="T42" fmla="*/ 600 w 1493"/>
                <a:gd name="T43" fmla="*/ 303 h 1340"/>
                <a:gd name="T44" fmla="*/ 638 w 1493"/>
                <a:gd name="T45" fmla="*/ 115 h 1340"/>
                <a:gd name="T46" fmla="*/ 10 w 1493"/>
                <a:gd name="T47" fmla="*/ 105 h 1340"/>
                <a:gd name="T48" fmla="*/ 0 w 1493"/>
                <a:gd name="T49" fmla="*/ 1092 h 1340"/>
                <a:gd name="T50" fmla="*/ 628 w 1493"/>
                <a:gd name="T51" fmla="*/ 1102 h 1340"/>
                <a:gd name="T52" fmla="*/ 638 w 1493"/>
                <a:gd name="T53" fmla="*/ 593 h 1340"/>
                <a:gd name="T54" fmla="*/ 1095 w 1493"/>
                <a:gd name="T55" fmla="*/ 105 h 1340"/>
                <a:gd name="T56" fmla="*/ 874 w 1493"/>
                <a:gd name="T57" fmla="*/ 127 h 1340"/>
                <a:gd name="T58" fmla="*/ 896 w 1493"/>
                <a:gd name="T59" fmla="*/ 348 h 1340"/>
                <a:gd name="T60" fmla="*/ 1117 w 1493"/>
                <a:gd name="T61" fmla="*/ 326 h 1340"/>
                <a:gd name="T62" fmla="*/ 1095 w 1493"/>
                <a:gd name="T63" fmla="*/ 105 h 1340"/>
                <a:gd name="T64" fmla="*/ 1493 w 1493"/>
                <a:gd name="T65" fmla="*/ 222 h 1340"/>
                <a:gd name="T66" fmla="*/ 1197 w 1493"/>
                <a:gd name="T67" fmla="*/ 200 h 1340"/>
                <a:gd name="T68" fmla="*/ 1175 w 1493"/>
                <a:gd name="T69" fmla="*/ 496 h 1340"/>
                <a:gd name="T70" fmla="*/ 1471 w 1493"/>
                <a:gd name="T71" fmla="*/ 518 h 1340"/>
                <a:gd name="T72" fmla="*/ 1117 w 1493"/>
                <a:gd name="T73" fmla="*/ 667 h 1340"/>
                <a:gd name="T74" fmla="*/ 1095 w 1493"/>
                <a:gd name="T75" fmla="*/ 409 h 1340"/>
                <a:gd name="T76" fmla="*/ 838 w 1493"/>
                <a:gd name="T77" fmla="*/ 431 h 1340"/>
                <a:gd name="T78" fmla="*/ 860 w 1493"/>
                <a:gd name="T79" fmla="*/ 689 h 1340"/>
                <a:gd name="T80" fmla="*/ 1117 w 1493"/>
                <a:gd name="T81" fmla="*/ 667 h 1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93" h="1340">
                  <a:moveTo>
                    <a:pt x="321" y="1340"/>
                  </a:moveTo>
                  <a:cubicBezTo>
                    <a:pt x="289" y="1340"/>
                    <a:pt x="263" y="1314"/>
                    <a:pt x="263" y="1282"/>
                  </a:cubicBezTo>
                  <a:cubicBezTo>
                    <a:pt x="263" y="1250"/>
                    <a:pt x="289" y="1224"/>
                    <a:pt x="321" y="1224"/>
                  </a:cubicBezTo>
                  <a:cubicBezTo>
                    <a:pt x="353" y="1224"/>
                    <a:pt x="379" y="1250"/>
                    <a:pt x="379" y="1282"/>
                  </a:cubicBezTo>
                  <a:cubicBezTo>
                    <a:pt x="379" y="1314"/>
                    <a:pt x="353" y="1340"/>
                    <a:pt x="321" y="1340"/>
                  </a:cubicBezTo>
                  <a:close/>
                  <a:moveTo>
                    <a:pt x="469" y="22"/>
                  </a:moveTo>
                  <a:cubicBezTo>
                    <a:pt x="469" y="10"/>
                    <a:pt x="459" y="0"/>
                    <a:pt x="447" y="0"/>
                  </a:cubicBezTo>
                  <a:cubicBezTo>
                    <a:pt x="195" y="0"/>
                    <a:pt x="195" y="0"/>
                    <a:pt x="195" y="0"/>
                  </a:cubicBezTo>
                  <a:cubicBezTo>
                    <a:pt x="183" y="0"/>
                    <a:pt x="173" y="10"/>
                    <a:pt x="173" y="22"/>
                  </a:cubicBezTo>
                  <a:cubicBezTo>
                    <a:pt x="173" y="34"/>
                    <a:pt x="183" y="44"/>
                    <a:pt x="195" y="44"/>
                  </a:cubicBezTo>
                  <a:cubicBezTo>
                    <a:pt x="447" y="44"/>
                    <a:pt x="447" y="44"/>
                    <a:pt x="447" y="44"/>
                  </a:cubicBezTo>
                  <a:cubicBezTo>
                    <a:pt x="459" y="44"/>
                    <a:pt x="469" y="34"/>
                    <a:pt x="469" y="22"/>
                  </a:cubicBezTo>
                  <a:close/>
                  <a:moveTo>
                    <a:pt x="504" y="564"/>
                  </a:moveTo>
                  <a:cubicBezTo>
                    <a:pt x="390" y="564"/>
                    <a:pt x="390" y="564"/>
                    <a:pt x="390" y="564"/>
                  </a:cubicBezTo>
                  <a:cubicBezTo>
                    <a:pt x="377" y="564"/>
                    <a:pt x="368" y="574"/>
                    <a:pt x="368" y="586"/>
                  </a:cubicBezTo>
                  <a:cubicBezTo>
                    <a:pt x="368" y="701"/>
                    <a:pt x="368" y="701"/>
                    <a:pt x="368" y="701"/>
                  </a:cubicBezTo>
                  <a:cubicBezTo>
                    <a:pt x="368" y="713"/>
                    <a:pt x="377" y="723"/>
                    <a:pt x="390" y="723"/>
                  </a:cubicBezTo>
                  <a:cubicBezTo>
                    <a:pt x="504" y="723"/>
                    <a:pt x="504" y="723"/>
                    <a:pt x="504" y="723"/>
                  </a:cubicBezTo>
                  <a:cubicBezTo>
                    <a:pt x="516" y="723"/>
                    <a:pt x="526" y="713"/>
                    <a:pt x="526" y="701"/>
                  </a:cubicBezTo>
                  <a:cubicBezTo>
                    <a:pt x="526" y="586"/>
                    <a:pt x="526" y="586"/>
                    <a:pt x="526" y="586"/>
                  </a:cubicBezTo>
                  <a:cubicBezTo>
                    <a:pt x="526" y="574"/>
                    <a:pt x="516" y="564"/>
                    <a:pt x="504" y="564"/>
                  </a:cubicBezTo>
                  <a:moveTo>
                    <a:pt x="758" y="347"/>
                  </a:moveTo>
                  <a:cubicBezTo>
                    <a:pt x="600" y="347"/>
                    <a:pt x="600" y="347"/>
                    <a:pt x="600" y="347"/>
                  </a:cubicBezTo>
                  <a:cubicBezTo>
                    <a:pt x="588" y="347"/>
                    <a:pt x="578" y="357"/>
                    <a:pt x="578" y="369"/>
                  </a:cubicBezTo>
                  <a:cubicBezTo>
                    <a:pt x="578" y="527"/>
                    <a:pt x="578" y="527"/>
                    <a:pt x="578" y="527"/>
                  </a:cubicBezTo>
                  <a:cubicBezTo>
                    <a:pt x="578" y="539"/>
                    <a:pt x="588" y="549"/>
                    <a:pt x="600" y="549"/>
                  </a:cubicBezTo>
                  <a:cubicBezTo>
                    <a:pt x="758" y="549"/>
                    <a:pt x="758" y="549"/>
                    <a:pt x="758" y="549"/>
                  </a:cubicBezTo>
                  <a:cubicBezTo>
                    <a:pt x="770" y="549"/>
                    <a:pt x="780" y="539"/>
                    <a:pt x="780" y="527"/>
                  </a:cubicBezTo>
                  <a:cubicBezTo>
                    <a:pt x="780" y="369"/>
                    <a:pt x="780" y="369"/>
                    <a:pt x="780" y="369"/>
                  </a:cubicBezTo>
                  <a:cubicBezTo>
                    <a:pt x="780" y="357"/>
                    <a:pt x="770" y="347"/>
                    <a:pt x="758" y="347"/>
                  </a:cubicBezTo>
                  <a:moveTo>
                    <a:pt x="600" y="593"/>
                  </a:moveTo>
                  <a:cubicBezTo>
                    <a:pt x="589" y="593"/>
                    <a:pt x="579" y="590"/>
                    <a:pt x="570" y="586"/>
                  </a:cubicBezTo>
                  <a:cubicBezTo>
                    <a:pt x="570" y="586"/>
                    <a:pt x="570" y="586"/>
                    <a:pt x="570" y="586"/>
                  </a:cubicBezTo>
                  <a:cubicBezTo>
                    <a:pt x="570" y="701"/>
                    <a:pt x="570" y="701"/>
                    <a:pt x="570" y="701"/>
                  </a:cubicBezTo>
                  <a:cubicBezTo>
                    <a:pt x="570" y="737"/>
                    <a:pt x="541" y="767"/>
                    <a:pt x="504" y="767"/>
                  </a:cubicBezTo>
                  <a:cubicBezTo>
                    <a:pt x="390" y="767"/>
                    <a:pt x="390" y="767"/>
                    <a:pt x="390" y="767"/>
                  </a:cubicBezTo>
                  <a:cubicBezTo>
                    <a:pt x="353" y="767"/>
                    <a:pt x="324" y="737"/>
                    <a:pt x="324" y="701"/>
                  </a:cubicBezTo>
                  <a:cubicBezTo>
                    <a:pt x="324" y="586"/>
                    <a:pt x="324" y="586"/>
                    <a:pt x="324" y="586"/>
                  </a:cubicBezTo>
                  <a:cubicBezTo>
                    <a:pt x="324" y="550"/>
                    <a:pt x="353" y="520"/>
                    <a:pt x="390" y="520"/>
                  </a:cubicBezTo>
                  <a:cubicBezTo>
                    <a:pt x="504" y="520"/>
                    <a:pt x="504" y="520"/>
                    <a:pt x="504" y="520"/>
                  </a:cubicBezTo>
                  <a:cubicBezTo>
                    <a:pt x="515" y="520"/>
                    <a:pt x="525" y="523"/>
                    <a:pt x="534" y="528"/>
                  </a:cubicBezTo>
                  <a:cubicBezTo>
                    <a:pt x="534" y="527"/>
                    <a:pt x="534" y="527"/>
                    <a:pt x="534" y="527"/>
                  </a:cubicBezTo>
                  <a:cubicBezTo>
                    <a:pt x="534" y="369"/>
                    <a:pt x="534" y="369"/>
                    <a:pt x="534" y="369"/>
                  </a:cubicBezTo>
                  <a:cubicBezTo>
                    <a:pt x="534" y="333"/>
                    <a:pt x="564" y="303"/>
                    <a:pt x="600" y="303"/>
                  </a:cubicBezTo>
                  <a:cubicBezTo>
                    <a:pt x="638" y="303"/>
                    <a:pt x="638" y="303"/>
                    <a:pt x="638" y="303"/>
                  </a:cubicBezTo>
                  <a:cubicBezTo>
                    <a:pt x="638" y="115"/>
                    <a:pt x="638" y="115"/>
                    <a:pt x="638" y="115"/>
                  </a:cubicBezTo>
                  <a:cubicBezTo>
                    <a:pt x="638" y="110"/>
                    <a:pt x="634" y="105"/>
                    <a:pt x="628" y="105"/>
                  </a:cubicBezTo>
                  <a:cubicBezTo>
                    <a:pt x="10" y="105"/>
                    <a:pt x="10" y="105"/>
                    <a:pt x="10" y="105"/>
                  </a:cubicBezTo>
                  <a:cubicBezTo>
                    <a:pt x="4" y="105"/>
                    <a:pt x="0" y="110"/>
                    <a:pt x="0" y="115"/>
                  </a:cubicBezTo>
                  <a:cubicBezTo>
                    <a:pt x="0" y="1092"/>
                    <a:pt x="0" y="1092"/>
                    <a:pt x="0" y="1092"/>
                  </a:cubicBezTo>
                  <a:cubicBezTo>
                    <a:pt x="0" y="1098"/>
                    <a:pt x="4" y="1102"/>
                    <a:pt x="10" y="1102"/>
                  </a:cubicBezTo>
                  <a:cubicBezTo>
                    <a:pt x="628" y="1102"/>
                    <a:pt x="628" y="1102"/>
                    <a:pt x="628" y="1102"/>
                  </a:cubicBezTo>
                  <a:cubicBezTo>
                    <a:pt x="634" y="1102"/>
                    <a:pt x="638" y="1098"/>
                    <a:pt x="638" y="1092"/>
                  </a:cubicBezTo>
                  <a:cubicBezTo>
                    <a:pt x="638" y="593"/>
                    <a:pt x="638" y="593"/>
                    <a:pt x="638" y="593"/>
                  </a:cubicBezTo>
                  <a:lnTo>
                    <a:pt x="600" y="593"/>
                  </a:lnTo>
                  <a:close/>
                  <a:moveTo>
                    <a:pt x="1095" y="105"/>
                  </a:moveTo>
                  <a:cubicBezTo>
                    <a:pt x="896" y="105"/>
                    <a:pt x="896" y="105"/>
                    <a:pt x="896" y="105"/>
                  </a:cubicBezTo>
                  <a:cubicBezTo>
                    <a:pt x="884" y="105"/>
                    <a:pt x="874" y="115"/>
                    <a:pt x="874" y="127"/>
                  </a:cubicBezTo>
                  <a:cubicBezTo>
                    <a:pt x="874" y="326"/>
                    <a:pt x="874" y="326"/>
                    <a:pt x="874" y="326"/>
                  </a:cubicBezTo>
                  <a:cubicBezTo>
                    <a:pt x="874" y="338"/>
                    <a:pt x="884" y="348"/>
                    <a:pt x="896" y="348"/>
                  </a:cubicBezTo>
                  <a:cubicBezTo>
                    <a:pt x="1095" y="348"/>
                    <a:pt x="1095" y="348"/>
                    <a:pt x="1095" y="348"/>
                  </a:cubicBezTo>
                  <a:cubicBezTo>
                    <a:pt x="1107" y="348"/>
                    <a:pt x="1117" y="338"/>
                    <a:pt x="1117" y="326"/>
                  </a:cubicBezTo>
                  <a:cubicBezTo>
                    <a:pt x="1117" y="127"/>
                    <a:pt x="1117" y="127"/>
                    <a:pt x="1117" y="127"/>
                  </a:cubicBezTo>
                  <a:cubicBezTo>
                    <a:pt x="1117" y="115"/>
                    <a:pt x="1107" y="105"/>
                    <a:pt x="1095" y="105"/>
                  </a:cubicBezTo>
                  <a:moveTo>
                    <a:pt x="1493" y="496"/>
                  </a:moveTo>
                  <a:cubicBezTo>
                    <a:pt x="1493" y="222"/>
                    <a:pt x="1493" y="222"/>
                    <a:pt x="1493" y="222"/>
                  </a:cubicBezTo>
                  <a:cubicBezTo>
                    <a:pt x="1493" y="210"/>
                    <a:pt x="1483" y="200"/>
                    <a:pt x="1471" y="200"/>
                  </a:cubicBezTo>
                  <a:cubicBezTo>
                    <a:pt x="1197" y="200"/>
                    <a:pt x="1197" y="200"/>
                    <a:pt x="1197" y="200"/>
                  </a:cubicBezTo>
                  <a:cubicBezTo>
                    <a:pt x="1185" y="200"/>
                    <a:pt x="1175" y="210"/>
                    <a:pt x="1175" y="222"/>
                  </a:cubicBezTo>
                  <a:cubicBezTo>
                    <a:pt x="1175" y="496"/>
                    <a:pt x="1175" y="496"/>
                    <a:pt x="1175" y="496"/>
                  </a:cubicBezTo>
                  <a:cubicBezTo>
                    <a:pt x="1175" y="508"/>
                    <a:pt x="1185" y="518"/>
                    <a:pt x="1197" y="518"/>
                  </a:cubicBezTo>
                  <a:cubicBezTo>
                    <a:pt x="1471" y="518"/>
                    <a:pt x="1471" y="518"/>
                    <a:pt x="1471" y="518"/>
                  </a:cubicBezTo>
                  <a:cubicBezTo>
                    <a:pt x="1483" y="518"/>
                    <a:pt x="1493" y="508"/>
                    <a:pt x="1493" y="496"/>
                  </a:cubicBezTo>
                  <a:close/>
                  <a:moveTo>
                    <a:pt x="1117" y="667"/>
                  </a:moveTo>
                  <a:cubicBezTo>
                    <a:pt x="1117" y="431"/>
                    <a:pt x="1117" y="431"/>
                    <a:pt x="1117" y="431"/>
                  </a:cubicBezTo>
                  <a:cubicBezTo>
                    <a:pt x="1117" y="419"/>
                    <a:pt x="1107" y="409"/>
                    <a:pt x="1095" y="409"/>
                  </a:cubicBezTo>
                  <a:cubicBezTo>
                    <a:pt x="860" y="409"/>
                    <a:pt x="860" y="409"/>
                    <a:pt x="860" y="409"/>
                  </a:cubicBezTo>
                  <a:cubicBezTo>
                    <a:pt x="848" y="409"/>
                    <a:pt x="838" y="419"/>
                    <a:pt x="838" y="431"/>
                  </a:cubicBezTo>
                  <a:cubicBezTo>
                    <a:pt x="838" y="667"/>
                    <a:pt x="838" y="667"/>
                    <a:pt x="838" y="667"/>
                  </a:cubicBezTo>
                  <a:cubicBezTo>
                    <a:pt x="838" y="679"/>
                    <a:pt x="848" y="689"/>
                    <a:pt x="860" y="689"/>
                  </a:cubicBezTo>
                  <a:cubicBezTo>
                    <a:pt x="1095" y="689"/>
                    <a:pt x="1095" y="689"/>
                    <a:pt x="1095" y="689"/>
                  </a:cubicBezTo>
                  <a:cubicBezTo>
                    <a:pt x="1107" y="689"/>
                    <a:pt x="1117" y="679"/>
                    <a:pt x="1117" y="66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11">
              <a:extLst>
                <a:ext uri="{FF2B5EF4-FFF2-40B4-BE49-F238E27FC236}">
                  <a16:creationId xmlns:a16="http://schemas.microsoft.com/office/drawing/2014/main" id="{D8E6CD62-8842-4F0D-A332-DAD3C00D9643}"/>
                </a:ext>
              </a:extLst>
            </p:cNvPr>
            <p:cNvSpPr>
              <a:spLocks noEditPoints="1"/>
            </p:cNvSpPr>
            <p:nvPr/>
          </p:nvSpPr>
          <p:spPr bwMode="auto">
            <a:xfrm>
              <a:off x="2574" y="728"/>
              <a:ext cx="1509" cy="2865"/>
            </a:xfrm>
            <a:custGeom>
              <a:avLst/>
              <a:gdLst>
                <a:gd name="T0" fmla="*/ 762 w 806"/>
                <a:gd name="T1" fmla="*/ 695 h 1528"/>
                <a:gd name="T2" fmla="*/ 762 w 806"/>
                <a:gd name="T3" fmla="*/ 1252 h 1528"/>
                <a:gd name="T4" fmla="*/ 44 w 806"/>
                <a:gd name="T5" fmla="*/ 1252 h 1528"/>
                <a:gd name="T6" fmla="*/ 44 w 806"/>
                <a:gd name="T7" fmla="*/ 44 h 1528"/>
                <a:gd name="T8" fmla="*/ 762 w 806"/>
                <a:gd name="T9" fmla="*/ 44 h 1528"/>
                <a:gd name="T10" fmla="*/ 762 w 806"/>
                <a:gd name="T11" fmla="*/ 405 h 1528"/>
                <a:gd name="T12" fmla="*/ 806 w 806"/>
                <a:gd name="T13" fmla="*/ 405 h 1528"/>
                <a:gd name="T14" fmla="*/ 806 w 806"/>
                <a:gd name="T15" fmla="*/ 22 h 1528"/>
                <a:gd name="T16" fmla="*/ 784 w 806"/>
                <a:gd name="T17" fmla="*/ 0 h 1528"/>
                <a:gd name="T18" fmla="*/ 22 w 806"/>
                <a:gd name="T19" fmla="*/ 0 h 1528"/>
                <a:gd name="T20" fmla="*/ 0 w 806"/>
                <a:gd name="T21" fmla="*/ 22 h 1528"/>
                <a:gd name="T22" fmla="*/ 0 w 806"/>
                <a:gd name="T23" fmla="*/ 1252 h 1528"/>
                <a:gd name="T24" fmla="*/ 0 w 806"/>
                <a:gd name="T25" fmla="*/ 1296 h 1528"/>
                <a:gd name="T26" fmla="*/ 0 w 806"/>
                <a:gd name="T27" fmla="*/ 1506 h 1528"/>
                <a:gd name="T28" fmla="*/ 22 w 806"/>
                <a:gd name="T29" fmla="*/ 1528 h 1528"/>
                <a:gd name="T30" fmla="*/ 784 w 806"/>
                <a:gd name="T31" fmla="*/ 1528 h 1528"/>
                <a:gd name="T32" fmla="*/ 806 w 806"/>
                <a:gd name="T33" fmla="*/ 1506 h 1528"/>
                <a:gd name="T34" fmla="*/ 806 w 806"/>
                <a:gd name="T35" fmla="*/ 1296 h 1528"/>
                <a:gd name="T36" fmla="*/ 806 w 806"/>
                <a:gd name="T37" fmla="*/ 1252 h 1528"/>
                <a:gd name="T38" fmla="*/ 806 w 806"/>
                <a:gd name="T39" fmla="*/ 695 h 1528"/>
                <a:gd name="T40" fmla="*/ 762 w 806"/>
                <a:gd name="T41" fmla="*/ 695 h 1528"/>
                <a:gd name="T42" fmla="*/ 762 w 806"/>
                <a:gd name="T43" fmla="*/ 1484 h 1528"/>
                <a:gd name="T44" fmla="*/ 44 w 806"/>
                <a:gd name="T45" fmla="*/ 1484 h 1528"/>
                <a:gd name="T46" fmla="*/ 44 w 806"/>
                <a:gd name="T47" fmla="*/ 1296 h 1528"/>
                <a:gd name="T48" fmla="*/ 762 w 806"/>
                <a:gd name="T49" fmla="*/ 1296 h 1528"/>
                <a:gd name="T50" fmla="*/ 762 w 806"/>
                <a:gd name="T51" fmla="*/ 1484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06" h="1528">
                  <a:moveTo>
                    <a:pt x="762" y="695"/>
                  </a:moveTo>
                  <a:cubicBezTo>
                    <a:pt x="762" y="1252"/>
                    <a:pt x="762" y="1252"/>
                    <a:pt x="762" y="1252"/>
                  </a:cubicBezTo>
                  <a:cubicBezTo>
                    <a:pt x="44" y="1252"/>
                    <a:pt x="44" y="1252"/>
                    <a:pt x="44" y="1252"/>
                  </a:cubicBezTo>
                  <a:cubicBezTo>
                    <a:pt x="44" y="44"/>
                    <a:pt x="44" y="44"/>
                    <a:pt x="44" y="44"/>
                  </a:cubicBezTo>
                  <a:cubicBezTo>
                    <a:pt x="762" y="44"/>
                    <a:pt x="762" y="44"/>
                    <a:pt x="762" y="44"/>
                  </a:cubicBezTo>
                  <a:cubicBezTo>
                    <a:pt x="762" y="405"/>
                    <a:pt x="762" y="405"/>
                    <a:pt x="762" y="405"/>
                  </a:cubicBezTo>
                  <a:cubicBezTo>
                    <a:pt x="806" y="405"/>
                    <a:pt x="806" y="405"/>
                    <a:pt x="806" y="405"/>
                  </a:cubicBezTo>
                  <a:cubicBezTo>
                    <a:pt x="806" y="22"/>
                    <a:pt x="806" y="22"/>
                    <a:pt x="806" y="22"/>
                  </a:cubicBezTo>
                  <a:cubicBezTo>
                    <a:pt x="806" y="10"/>
                    <a:pt x="796" y="0"/>
                    <a:pt x="784" y="0"/>
                  </a:cubicBezTo>
                  <a:cubicBezTo>
                    <a:pt x="22" y="0"/>
                    <a:pt x="22" y="0"/>
                    <a:pt x="22" y="0"/>
                  </a:cubicBezTo>
                  <a:cubicBezTo>
                    <a:pt x="10" y="0"/>
                    <a:pt x="0" y="10"/>
                    <a:pt x="0" y="22"/>
                  </a:cubicBezTo>
                  <a:cubicBezTo>
                    <a:pt x="0" y="1252"/>
                    <a:pt x="0" y="1252"/>
                    <a:pt x="0" y="1252"/>
                  </a:cubicBezTo>
                  <a:cubicBezTo>
                    <a:pt x="0" y="1296"/>
                    <a:pt x="0" y="1296"/>
                    <a:pt x="0" y="1296"/>
                  </a:cubicBezTo>
                  <a:cubicBezTo>
                    <a:pt x="0" y="1506"/>
                    <a:pt x="0" y="1506"/>
                    <a:pt x="0" y="1506"/>
                  </a:cubicBezTo>
                  <a:cubicBezTo>
                    <a:pt x="0" y="1518"/>
                    <a:pt x="10" y="1528"/>
                    <a:pt x="22" y="1528"/>
                  </a:cubicBezTo>
                  <a:cubicBezTo>
                    <a:pt x="784" y="1528"/>
                    <a:pt x="784" y="1528"/>
                    <a:pt x="784" y="1528"/>
                  </a:cubicBezTo>
                  <a:cubicBezTo>
                    <a:pt x="796" y="1528"/>
                    <a:pt x="806" y="1518"/>
                    <a:pt x="806" y="1506"/>
                  </a:cubicBezTo>
                  <a:cubicBezTo>
                    <a:pt x="806" y="1296"/>
                    <a:pt x="806" y="1296"/>
                    <a:pt x="806" y="1296"/>
                  </a:cubicBezTo>
                  <a:cubicBezTo>
                    <a:pt x="806" y="1252"/>
                    <a:pt x="806" y="1252"/>
                    <a:pt x="806" y="1252"/>
                  </a:cubicBezTo>
                  <a:cubicBezTo>
                    <a:pt x="806" y="695"/>
                    <a:pt x="806" y="695"/>
                    <a:pt x="806" y="695"/>
                  </a:cubicBezTo>
                  <a:lnTo>
                    <a:pt x="762" y="695"/>
                  </a:lnTo>
                  <a:close/>
                  <a:moveTo>
                    <a:pt x="762" y="1484"/>
                  </a:moveTo>
                  <a:cubicBezTo>
                    <a:pt x="44" y="1484"/>
                    <a:pt x="44" y="1484"/>
                    <a:pt x="44" y="1484"/>
                  </a:cubicBezTo>
                  <a:cubicBezTo>
                    <a:pt x="44" y="1296"/>
                    <a:pt x="44" y="1296"/>
                    <a:pt x="44" y="1296"/>
                  </a:cubicBezTo>
                  <a:cubicBezTo>
                    <a:pt x="762" y="1296"/>
                    <a:pt x="762" y="1296"/>
                    <a:pt x="762" y="1296"/>
                  </a:cubicBezTo>
                  <a:lnTo>
                    <a:pt x="762" y="148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4" name="Group 53">
            <a:extLst>
              <a:ext uri="{FF2B5EF4-FFF2-40B4-BE49-F238E27FC236}">
                <a16:creationId xmlns:a16="http://schemas.microsoft.com/office/drawing/2014/main" id="{712499D3-35B4-43E6-BE2D-FC41B20AB61B}"/>
              </a:ext>
            </a:extLst>
          </p:cNvPr>
          <p:cNvGrpSpPr>
            <a:grpSpLocks noChangeAspect="1"/>
          </p:cNvGrpSpPr>
          <p:nvPr/>
        </p:nvGrpSpPr>
        <p:grpSpPr>
          <a:xfrm>
            <a:off x="8624717" y="1888488"/>
            <a:ext cx="693556" cy="693556"/>
            <a:chOff x="5273675" y="2606675"/>
            <a:chExt cx="1644650" cy="1644650"/>
          </a:xfrm>
        </p:grpSpPr>
        <p:sp>
          <p:nvSpPr>
            <p:cNvPr id="55" name="AutoShape 3">
              <a:extLst>
                <a:ext uri="{FF2B5EF4-FFF2-40B4-BE49-F238E27FC236}">
                  <a16:creationId xmlns:a16="http://schemas.microsoft.com/office/drawing/2014/main" id="{A0622C78-AF24-4E41-9666-23D0CC9F6B09}"/>
                </a:ext>
              </a:extLst>
            </p:cNvPr>
            <p:cNvSpPr>
              <a:spLocks noChangeAspect="1" noChangeArrowheads="1" noTextEdit="1"/>
            </p:cNvSpPr>
            <p:nvPr/>
          </p:nvSpPr>
          <p:spPr bwMode="auto">
            <a:xfrm>
              <a:off x="5273675" y="2606675"/>
              <a:ext cx="1644650"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57" name="Group 56">
              <a:extLst>
                <a:ext uri="{FF2B5EF4-FFF2-40B4-BE49-F238E27FC236}">
                  <a16:creationId xmlns:a16="http://schemas.microsoft.com/office/drawing/2014/main" id="{29F697B0-F717-48DD-A99D-6B41FF4E8054}"/>
                </a:ext>
              </a:extLst>
            </p:cNvPr>
            <p:cNvGrpSpPr/>
            <p:nvPr/>
          </p:nvGrpSpPr>
          <p:grpSpPr>
            <a:xfrm>
              <a:off x="5435601" y="2782802"/>
              <a:ext cx="1312862" cy="1293982"/>
              <a:chOff x="5435601" y="2782802"/>
              <a:chExt cx="1312862" cy="1293982"/>
            </a:xfrm>
          </p:grpSpPr>
          <p:sp>
            <p:nvSpPr>
              <p:cNvPr id="58" name="Freeform 21">
                <a:extLst>
                  <a:ext uri="{FF2B5EF4-FFF2-40B4-BE49-F238E27FC236}">
                    <a16:creationId xmlns:a16="http://schemas.microsoft.com/office/drawing/2014/main" id="{0402E211-8D79-4C98-AD5C-AEB3EA7F4C61}"/>
                  </a:ext>
                </a:extLst>
              </p:cNvPr>
              <p:cNvSpPr>
                <a:spLocks/>
              </p:cNvSpPr>
              <p:nvPr/>
            </p:nvSpPr>
            <p:spPr bwMode="auto">
              <a:xfrm>
                <a:off x="5435601" y="2782802"/>
                <a:ext cx="1312862" cy="1293982"/>
              </a:xfrm>
              <a:custGeom>
                <a:avLst/>
                <a:gdLst>
                  <a:gd name="connsiteX0" fmla="*/ 292611 w 1312862"/>
                  <a:gd name="connsiteY0" fmla="*/ 935122 h 1293982"/>
                  <a:gd name="connsiteX1" fmla="*/ 286175 w 1312862"/>
                  <a:gd name="connsiteY1" fmla="*/ 935836 h 1293982"/>
                  <a:gd name="connsiteX2" fmla="*/ 274733 w 1312862"/>
                  <a:gd name="connsiteY2" fmla="*/ 937265 h 1293982"/>
                  <a:gd name="connsiteX3" fmla="*/ 241838 w 1312862"/>
                  <a:gd name="connsiteY3" fmla="*/ 948692 h 1293982"/>
                  <a:gd name="connsiteX4" fmla="*/ 30163 w 1312862"/>
                  <a:gd name="connsiteY4" fmla="*/ 1069391 h 1293982"/>
                  <a:gd name="connsiteX5" fmla="*/ 30163 w 1312862"/>
                  <a:gd name="connsiteY5" fmla="*/ 1255797 h 1293982"/>
                  <a:gd name="connsiteX6" fmla="*/ 248989 w 1312862"/>
                  <a:gd name="connsiteY6" fmla="*/ 1171522 h 1293982"/>
                  <a:gd name="connsiteX7" fmla="*/ 310489 w 1312862"/>
                  <a:gd name="connsiteY7" fmla="*/ 1160095 h 1293982"/>
                  <a:gd name="connsiteX8" fmla="*/ 322646 w 1312862"/>
                  <a:gd name="connsiteY8" fmla="*/ 1160809 h 1293982"/>
                  <a:gd name="connsiteX9" fmla="*/ 410605 w 1312862"/>
                  <a:gd name="connsiteY9" fmla="*/ 1167237 h 1293982"/>
                  <a:gd name="connsiteX10" fmla="*/ 444931 w 1312862"/>
                  <a:gd name="connsiteY10" fmla="*/ 1167951 h 1293982"/>
                  <a:gd name="connsiteX11" fmla="*/ 587954 w 1312862"/>
                  <a:gd name="connsiteY11" fmla="*/ 1146525 h 1293982"/>
                  <a:gd name="connsiteX12" fmla="*/ 597251 w 1312862"/>
                  <a:gd name="connsiteY12" fmla="*/ 1143668 h 1293982"/>
                  <a:gd name="connsiteX13" fmla="*/ 751716 w 1312862"/>
                  <a:gd name="connsiteY13" fmla="*/ 1040823 h 1293982"/>
                  <a:gd name="connsiteX14" fmla="*/ 785327 w 1312862"/>
                  <a:gd name="connsiteY14" fmla="*/ 1001543 h 1293982"/>
                  <a:gd name="connsiteX15" fmla="*/ 783181 w 1312862"/>
                  <a:gd name="connsiteY15" fmla="*/ 962262 h 1293982"/>
                  <a:gd name="connsiteX16" fmla="*/ 763873 w 1312862"/>
                  <a:gd name="connsiteY16" fmla="*/ 955120 h 1293982"/>
                  <a:gd name="connsiteX17" fmla="*/ 743135 w 1312862"/>
                  <a:gd name="connsiteY17" fmla="*/ 964404 h 1293982"/>
                  <a:gd name="connsiteX18" fmla="*/ 737414 w 1312862"/>
                  <a:gd name="connsiteY18" fmla="*/ 970832 h 1293982"/>
                  <a:gd name="connsiteX19" fmla="*/ 708094 w 1312862"/>
                  <a:gd name="connsiteY19" fmla="*/ 1004399 h 1293982"/>
                  <a:gd name="connsiteX20" fmla="*/ 678774 w 1312862"/>
                  <a:gd name="connsiteY20" fmla="*/ 1031539 h 1293982"/>
                  <a:gd name="connsiteX21" fmla="*/ 668763 w 1312862"/>
                  <a:gd name="connsiteY21" fmla="*/ 1039395 h 1293982"/>
                  <a:gd name="connsiteX22" fmla="*/ 644449 w 1312862"/>
                  <a:gd name="connsiteY22" fmla="*/ 1054393 h 1293982"/>
                  <a:gd name="connsiteX23" fmla="*/ 594390 w 1312862"/>
                  <a:gd name="connsiteY23" fmla="*/ 1075105 h 1293982"/>
                  <a:gd name="connsiteX24" fmla="*/ 589385 w 1312862"/>
                  <a:gd name="connsiteY24" fmla="*/ 1076533 h 1293982"/>
                  <a:gd name="connsiteX25" fmla="*/ 529315 w 1312862"/>
                  <a:gd name="connsiteY25" fmla="*/ 1084390 h 1293982"/>
                  <a:gd name="connsiteX26" fmla="*/ 527169 w 1312862"/>
                  <a:gd name="connsiteY26" fmla="*/ 1084390 h 1293982"/>
                  <a:gd name="connsiteX27" fmla="*/ 489983 w 1312862"/>
                  <a:gd name="connsiteY27" fmla="*/ 1080819 h 1293982"/>
                  <a:gd name="connsiteX28" fmla="*/ 446361 w 1312862"/>
                  <a:gd name="connsiteY28" fmla="*/ 1068677 h 1293982"/>
                  <a:gd name="connsiteX29" fmla="*/ 427768 w 1312862"/>
                  <a:gd name="connsiteY29" fmla="*/ 1060821 h 1293982"/>
                  <a:gd name="connsiteX30" fmla="*/ 409175 w 1312862"/>
                  <a:gd name="connsiteY30" fmla="*/ 1034396 h 1293982"/>
                  <a:gd name="connsiteX31" fmla="*/ 409175 w 1312862"/>
                  <a:gd name="connsiteY31" fmla="*/ 1032967 h 1293982"/>
                  <a:gd name="connsiteX32" fmla="*/ 409175 w 1312862"/>
                  <a:gd name="connsiteY32" fmla="*/ 1029396 h 1293982"/>
                  <a:gd name="connsiteX33" fmla="*/ 410605 w 1312862"/>
                  <a:gd name="connsiteY33" fmla="*/ 1022969 h 1293982"/>
                  <a:gd name="connsiteX34" fmla="*/ 411321 w 1312862"/>
                  <a:gd name="connsiteY34" fmla="*/ 1020826 h 1293982"/>
                  <a:gd name="connsiteX35" fmla="*/ 417041 w 1312862"/>
                  <a:gd name="connsiteY35" fmla="*/ 1012970 h 1293982"/>
                  <a:gd name="connsiteX36" fmla="*/ 418472 w 1312862"/>
                  <a:gd name="connsiteY36" fmla="*/ 1011541 h 1293982"/>
                  <a:gd name="connsiteX37" fmla="*/ 436350 w 1312862"/>
                  <a:gd name="connsiteY37" fmla="*/ 1003685 h 1293982"/>
                  <a:gd name="connsiteX38" fmla="*/ 523594 w 1312862"/>
                  <a:gd name="connsiteY38" fmla="*/ 995115 h 1293982"/>
                  <a:gd name="connsiteX39" fmla="*/ 543617 w 1312862"/>
                  <a:gd name="connsiteY39" fmla="*/ 980117 h 1293982"/>
                  <a:gd name="connsiteX40" fmla="*/ 545762 w 1312862"/>
                  <a:gd name="connsiteY40" fmla="*/ 970832 h 1293982"/>
                  <a:gd name="connsiteX41" fmla="*/ 522879 w 1312862"/>
                  <a:gd name="connsiteY41" fmla="*/ 947263 h 1293982"/>
                  <a:gd name="connsiteX42" fmla="*/ 331227 w 1312862"/>
                  <a:gd name="connsiteY42" fmla="*/ 937265 h 1293982"/>
                  <a:gd name="connsiteX43" fmla="*/ 322646 w 1312862"/>
                  <a:gd name="connsiteY43" fmla="*/ 936551 h 1293982"/>
                  <a:gd name="connsiteX44" fmla="*/ 309774 w 1312862"/>
                  <a:gd name="connsiteY44" fmla="*/ 935836 h 1293982"/>
                  <a:gd name="connsiteX45" fmla="*/ 298332 w 1312862"/>
                  <a:gd name="connsiteY45" fmla="*/ 935836 h 1293982"/>
                  <a:gd name="connsiteX46" fmla="*/ 297617 w 1312862"/>
                  <a:gd name="connsiteY46" fmla="*/ 935836 h 1293982"/>
                  <a:gd name="connsiteX47" fmla="*/ 292611 w 1312862"/>
                  <a:gd name="connsiteY47" fmla="*/ 935122 h 1293982"/>
                  <a:gd name="connsiteX48" fmla="*/ 293046 w 1312862"/>
                  <a:gd name="connsiteY48" fmla="*/ 903372 h 1293982"/>
                  <a:gd name="connsiteX49" fmla="*/ 299463 w 1312862"/>
                  <a:gd name="connsiteY49" fmla="*/ 904085 h 1293982"/>
                  <a:gd name="connsiteX50" fmla="*/ 300889 w 1312862"/>
                  <a:gd name="connsiteY50" fmla="*/ 904085 h 1293982"/>
                  <a:gd name="connsiteX51" fmla="*/ 524060 w 1312862"/>
                  <a:gd name="connsiteY51" fmla="*/ 915497 h 1293982"/>
                  <a:gd name="connsiteX52" fmla="*/ 576823 w 1312862"/>
                  <a:gd name="connsiteY52" fmla="*/ 970415 h 1293982"/>
                  <a:gd name="connsiteX53" fmla="*/ 572545 w 1312862"/>
                  <a:gd name="connsiteY53" fmla="*/ 991099 h 1293982"/>
                  <a:gd name="connsiteX54" fmla="*/ 526912 w 1312862"/>
                  <a:gd name="connsiteY54" fmla="*/ 1026047 h 1293982"/>
                  <a:gd name="connsiteX55" fmla="*/ 444917 w 1312862"/>
                  <a:gd name="connsiteY55" fmla="*/ 1033892 h 1293982"/>
                  <a:gd name="connsiteX56" fmla="*/ 457751 w 1312862"/>
                  <a:gd name="connsiteY56" fmla="*/ 1038885 h 1293982"/>
                  <a:gd name="connsiteX57" fmla="*/ 495540 w 1312862"/>
                  <a:gd name="connsiteY57" fmla="*/ 1049583 h 1293982"/>
                  <a:gd name="connsiteX58" fmla="*/ 526912 w 1312862"/>
                  <a:gd name="connsiteY58" fmla="*/ 1052436 h 1293982"/>
                  <a:gd name="connsiteX59" fmla="*/ 529051 w 1312862"/>
                  <a:gd name="connsiteY59" fmla="*/ 1052436 h 1293982"/>
                  <a:gd name="connsiteX60" fmla="*/ 580388 w 1312862"/>
                  <a:gd name="connsiteY60" fmla="*/ 1045304 h 1293982"/>
                  <a:gd name="connsiteX61" fmla="*/ 585379 w 1312862"/>
                  <a:gd name="connsiteY61" fmla="*/ 1044591 h 1293982"/>
                  <a:gd name="connsiteX62" fmla="*/ 628872 w 1312862"/>
                  <a:gd name="connsiteY62" fmla="*/ 1026760 h 1293982"/>
                  <a:gd name="connsiteX63" fmla="*/ 649550 w 1312862"/>
                  <a:gd name="connsiteY63" fmla="*/ 1013209 h 1293982"/>
                  <a:gd name="connsiteX64" fmla="*/ 658819 w 1312862"/>
                  <a:gd name="connsiteY64" fmla="*/ 1006790 h 1293982"/>
                  <a:gd name="connsiteX65" fmla="*/ 683774 w 1312862"/>
                  <a:gd name="connsiteY65" fmla="*/ 982540 h 1293982"/>
                  <a:gd name="connsiteX66" fmla="*/ 718711 w 1312862"/>
                  <a:gd name="connsiteY66" fmla="*/ 943313 h 1293982"/>
                  <a:gd name="connsiteX67" fmla="*/ 762918 w 1312862"/>
                  <a:gd name="connsiteY67" fmla="*/ 923342 h 1293982"/>
                  <a:gd name="connsiteX68" fmla="*/ 807124 w 1312862"/>
                  <a:gd name="connsiteY68" fmla="*/ 942599 h 1293982"/>
                  <a:gd name="connsiteX69" fmla="*/ 807837 w 1312862"/>
                  <a:gd name="connsiteY69" fmla="*/ 1021767 h 1293982"/>
                  <a:gd name="connsiteX70" fmla="*/ 775039 w 1312862"/>
                  <a:gd name="connsiteY70" fmla="*/ 1060995 h 1293982"/>
                  <a:gd name="connsiteX71" fmla="*/ 606056 w 1312862"/>
                  <a:gd name="connsiteY71" fmla="*/ 1172971 h 1293982"/>
                  <a:gd name="connsiteX72" fmla="*/ 596787 w 1312862"/>
                  <a:gd name="connsiteY72" fmla="*/ 1175824 h 1293982"/>
                  <a:gd name="connsiteX73" fmla="*/ 444917 w 1312862"/>
                  <a:gd name="connsiteY73" fmla="*/ 1198647 h 1293982"/>
                  <a:gd name="connsiteX74" fmla="*/ 408553 w 1312862"/>
                  <a:gd name="connsiteY74" fmla="*/ 1197934 h 1293982"/>
                  <a:gd name="connsiteX75" fmla="*/ 320853 w 1312862"/>
                  <a:gd name="connsiteY75" fmla="*/ 1191515 h 1293982"/>
                  <a:gd name="connsiteX76" fmla="*/ 310871 w 1312862"/>
                  <a:gd name="connsiteY76" fmla="*/ 1190802 h 1293982"/>
                  <a:gd name="connsiteX77" fmla="*/ 260961 w 1312862"/>
                  <a:gd name="connsiteY77" fmla="*/ 1200074 h 1293982"/>
                  <a:gd name="connsiteX78" fmla="*/ 21390 w 1312862"/>
                  <a:gd name="connsiteY78" fmla="*/ 1292793 h 1293982"/>
                  <a:gd name="connsiteX79" fmla="*/ 0 w 1312862"/>
                  <a:gd name="connsiteY79" fmla="*/ 1278528 h 1293982"/>
                  <a:gd name="connsiteX80" fmla="*/ 0 w 1312862"/>
                  <a:gd name="connsiteY80" fmla="*/ 1059568 h 1293982"/>
                  <a:gd name="connsiteX81" fmla="*/ 8556 w 1312862"/>
                  <a:gd name="connsiteY81" fmla="*/ 1046017 h 1293982"/>
                  <a:gd name="connsiteX82" fmla="*/ 227449 w 1312862"/>
                  <a:gd name="connsiteY82" fmla="*/ 921203 h 1293982"/>
                  <a:gd name="connsiteX83" fmla="*/ 269517 w 1312862"/>
                  <a:gd name="connsiteY83" fmla="*/ 905512 h 1293982"/>
                  <a:gd name="connsiteX84" fmla="*/ 284490 w 1312862"/>
                  <a:gd name="connsiteY84" fmla="*/ 904085 h 1293982"/>
                  <a:gd name="connsiteX85" fmla="*/ 293046 w 1312862"/>
                  <a:gd name="connsiteY85" fmla="*/ 903372 h 1293982"/>
                  <a:gd name="connsiteX86" fmla="*/ 659587 w 1312862"/>
                  <a:gd name="connsiteY86" fmla="*/ 403310 h 1293982"/>
                  <a:gd name="connsiteX87" fmla="*/ 535978 w 1312862"/>
                  <a:gd name="connsiteY87" fmla="*/ 441853 h 1293982"/>
                  <a:gd name="connsiteX88" fmla="*/ 315912 w 1312862"/>
                  <a:gd name="connsiteY88" fmla="*/ 677394 h 1293982"/>
                  <a:gd name="connsiteX89" fmla="*/ 518116 w 1312862"/>
                  <a:gd name="connsiteY89" fmla="*/ 863685 h 1293982"/>
                  <a:gd name="connsiteX90" fmla="*/ 737468 w 1312862"/>
                  <a:gd name="connsiteY90" fmla="*/ 627431 h 1293982"/>
                  <a:gd name="connsiteX91" fmla="*/ 766762 w 1312862"/>
                  <a:gd name="connsiteY91" fmla="*/ 501095 h 1293982"/>
                  <a:gd name="connsiteX92" fmla="*/ 659587 w 1312862"/>
                  <a:gd name="connsiteY92" fmla="*/ 403310 h 1293982"/>
                  <a:gd name="connsiteX93" fmla="*/ 653979 w 1312862"/>
                  <a:gd name="connsiteY93" fmla="*/ 374574 h 1293982"/>
                  <a:gd name="connsiteX94" fmla="*/ 655407 w 1312862"/>
                  <a:gd name="connsiteY94" fmla="*/ 374574 h 1293982"/>
                  <a:gd name="connsiteX95" fmla="*/ 674683 w 1312862"/>
                  <a:gd name="connsiteY95" fmla="*/ 379569 h 1293982"/>
                  <a:gd name="connsiteX96" fmla="*/ 787484 w 1312862"/>
                  <a:gd name="connsiteY96" fmla="*/ 483027 h 1293982"/>
                  <a:gd name="connsiteX97" fmla="*/ 793909 w 1312862"/>
                  <a:gd name="connsiteY97" fmla="*/ 502292 h 1293982"/>
                  <a:gd name="connsiteX98" fmla="*/ 793909 w 1312862"/>
                  <a:gd name="connsiteY98" fmla="*/ 503006 h 1293982"/>
                  <a:gd name="connsiteX99" fmla="*/ 763210 w 1312862"/>
                  <a:gd name="connsiteY99" fmla="*/ 637859 h 1293982"/>
                  <a:gd name="connsiteX100" fmla="*/ 759641 w 1312862"/>
                  <a:gd name="connsiteY100" fmla="*/ 644280 h 1293982"/>
                  <a:gd name="connsiteX101" fmla="*/ 533324 w 1312862"/>
                  <a:gd name="connsiteY101" fmla="*/ 888300 h 1293982"/>
                  <a:gd name="connsiteX102" fmla="*/ 518332 w 1312862"/>
                  <a:gd name="connsiteY102" fmla="*/ 895435 h 1293982"/>
                  <a:gd name="connsiteX103" fmla="*/ 517618 w 1312862"/>
                  <a:gd name="connsiteY103" fmla="*/ 895435 h 1293982"/>
                  <a:gd name="connsiteX104" fmla="*/ 502625 w 1312862"/>
                  <a:gd name="connsiteY104" fmla="*/ 889727 h 1293982"/>
                  <a:gd name="connsiteX105" fmla="*/ 291302 w 1312862"/>
                  <a:gd name="connsiteY105" fmla="*/ 692799 h 1293982"/>
                  <a:gd name="connsiteX106" fmla="*/ 284162 w 1312862"/>
                  <a:gd name="connsiteY106" fmla="*/ 677815 h 1293982"/>
                  <a:gd name="connsiteX107" fmla="*/ 289874 w 1312862"/>
                  <a:gd name="connsiteY107" fmla="*/ 663545 h 1293982"/>
                  <a:gd name="connsiteX108" fmla="*/ 516190 w 1312862"/>
                  <a:gd name="connsiteY108" fmla="*/ 419525 h 1293982"/>
                  <a:gd name="connsiteX109" fmla="*/ 522615 w 1312862"/>
                  <a:gd name="connsiteY109" fmla="*/ 415244 h 1293982"/>
                  <a:gd name="connsiteX110" fmla="*/ 653979 w 1312862"/>
                  <a:gd name="connsiteY110" fmla="*/ 374574 h 1293982"/>
                  <a:gd name="connsiteX111" fmla="*/ 1281112 w 1312862"/>
                  <a:gd name="connsiteY111" fmla="*/ 38186 h 1293982"/>
                  <a:gd name="connsiteX112" fmla="*/ 1063703 w 1312862"/>
                  <a:gd name="connsiteY112" fmla="*/ 122462 h 1293982"/>
                  <a:gd name="connsiteX113" fmla="*/ 1001688 w 1312862"/>
                  <a:gd name="connsiteY113" fmla="*/ 133889 h 1293982"/>
                  <a:gd name="connsiteX114" fmla="*/ 989571 w 1312862"/>
                  <a:gd name="connsiteY114" fmla="*/ 133174 h 1293982"/>
                  <a:gd name="connsiteX115" fmla="*/ 902607 w 1312862"/>
                  <a:gd name="connsiteY115" fmla="*/ 126747 h 1293982"/>
                  <a:gd name="connsiteX116" fmla="*/ 868392 w 1312862"/>
                  <a:gd name="connsiteY116" fmla="*/ 126033 h 1293982"/>
                  <a:gd name="connsiteX117" fmla="*/ 725829 w 1312862"/>
                  <a:gd name="connsiteY117" fmla="*/ 147458 h 1293982"/>
                  <a:gd name="connsiteX118" fmla="*/ 716562 w 1312862"/>
                  <a:gd name="connsiteY118" fmla="*/ 150315 h 1293982"/>
                  <a:gd name="connsiteX119" fmla="*/ 562594 w 1312862"/>
                  <a:gd name="connsiteY119" fmla="*/ 253160 h 1293982"/>
                  <a:gd name="connsiteX120" fmla="*/ 528379 w 1312862"/>
                  <a:gd name="connsiteY120" fmla="*/ 292441 h 1293982"/>
                  <a:gd name="connsiteX121" fmla="*/ 531230 w 1312862"/>
                  <a:gd name="connsiteY121" fmla="*/ 331722 h 1293982"/>
                  <a:gd name="connsiteX122" fmla="*/ 549763 w 1312862"/>
                  <a:gd name="connsiteY122" fmla="*/ 338864 h 1293982"/>
                  <a:gd name="connsiteX123" fmla="*/ 571148 w 1312862"/>
                  <a:gd name="connsiteY123" fmla="*/ 329579 h 1293982"/>
                  <a:gd name="connsiteX124" fmla="*/ 576850 w 1312862"/>
                  <a:gd name="connsiteY124" fmla="*/ 323151 h 1293982"/>
                  <a:gd name="connsiteX125" fmla="*/ 606076 w 1312862"/>
                  <a:gd name="connsiteY125" fmla="*/ 289584 h 1293982"/>
                  <a:gd name="connsiteX126" fmla="*/ 634588 w 1312862"/>
                  <a:gd name="connsiteY126" fmla="*/ 262444 h 1293982"/>
                  <a:gd name="connsiteX127" fmla="*/ 644568 w 1312862"/>
                  <a:gd name="connsiteY127" fmla="*/ 254588 h 1293982"/>
                  <a:gd name="connsiteX128" fmla="*/ 668804 w 1312862"/>
                  <a:gd name="connsiteY128" fmla="*/ 239590 h 1293982"/>
                  <a:gd name="connsiteX129" fmla="*/ 719413 w 1312862"/>
                  <a:gd name="connsiteY129" fmla="*/ 218878 h 1293982"/>
                  <a:gd name="connsiteX130" fmla="*/ 724403 w 1312862"/>
                  <a:gd name="connsiteY130" fmla="*/ 217450 h 1293982"/>
                  <a:gd name="connsiteX131" fmla="*/ 783567 w 1312862"/>
                  <a:gd name="connsiteY131" fmla="*/ 209594 h 1293982"/>
                  <a:gd name="connsiteX132" fmla="*/ 786418 w 1312862"/>
                  <a:gd name="connsiteY132" fmla="*/ 209594 h 1293982"/>
                  <a:gd name="connsiteX133" fmla="*/ 823485 w 1312862"/>
                  <a:gd name="connsiteY133" fmla="*/ 213165 h 1293982"/>
                  <a:gd name="connsiteX134" fmla="*/ 866966 w 1312862"/>
                  <a:gd name="connsiteY134" fmla="*/ 225306 h 1293982"/>
                  <a:gd name="connsiteX135" fmla="*/ 885500 w 1312862"/>
                  <a:gd name="connsiteY135" fmla="*/ 233162 h 1293982"/>
                  <a:gd name="connsiteX136" fmla="*/ 904033 w 1312862"/>
                  <a:gd name="connsiteY136" fmla="*/ 259588 h 1293982"/>
                  <a:gd name="connsiteX137" fmla="*/ 904033 w 1312862"/>
                  <a:gd name="connsiteY137" fmla="*/ 261016 h 1293982"/>
                  <a:gd name="connsiteX138" fmla="*/ 903320 w 1312862"/>
                  <a:gd name="connsiteY138" fmla="*/ 264587 h 1293982"/>
                  <a:gd name="connsiteX139" fmla="*/ 901894 w 1312862"/>
                  <a:gd name="connsiteY139" fmla="*/ 271015 h 1293982"/>
                  <a:gd name="connsiteX140" fmla="*/ 901181 w 1312862"/>
                  <a:gd name="connsiteY140" fmla="*/ 273157 h 1293982"/>
                  <a:gd name="connsiteX141" fmla="*/ 896192 w 1312862"/>
                  <a:gd name="connsiteY141" fmla="*/ 281014 h 1293982"/>
                  <a:gd name="connsiteX142" fmla="*/ 894766 w 1312862"/>
                  <a:gd name="connsiteY142" fmla="*/ 282442 h 1293982"/>
                  <a:gd name="connsiteX143" fmla="*/ 876946 w 1312862"/>
                  <a:gd name="connsiteY143" fmla="*/ 290298 h 1293982"/>
                  <a:gd name="connsiteX144" fmla="*/ 789269 w 1312862"/>
                  <a:gd name="connsiteY144" fmla="*/ 298868 h 1293982"/>
                  <a:gd name="connsiteX145" fmla="*/ 769311 w 1312862"/>
                  <a:gd name="connsiteY145" fmla="*/ 313867 h 1293982"/>
                  <a:gd name="connsiteX146" fmla="*/ 767885 w 1312862"/>
                  <a:gd name="connsiteY146" fmla="*/ 323151 h 1293982"/>
                  <a:gd name="connsiteX147" fmla="*/ 790695 w 1312862"/>
                  <a:gd name="connsiteY147" fmla="*/ 346720 h 1293982"/>
                  <a:gd name="connsiteX148" fmla="*/ 981017 w 1312862"/>
                  <a:gd name="connsiteY148" fmla="*/ 356719 h 1293982"/>
                  <a:gd name="connsiteX149" fmla="*/ 990283 w 1312862"/>
                  <a:gd name="connsiteY149" fmla="*/ 357433 h 1293982"/>
                  <a:gd name="connsiteX150" fmla="*/ 1002401 w 1312862"/>
                  <a:gd name="connsiteY150" fmla="*/ 358147 h 1293982"/>
                  <a:gd name="connsiteX151" fmla="*/ 1014519 w 1312862"/>
                  <a:gd name="connsiteY151" fmla="*/ 358147 h 1293982"/>
                  <a:gd name="connsiteX152" fmla="*/ 1019509 w 1312862"/>
                  <a:gd name="connsiteY152" fmla="*/ 358861 h 1293982"/>
                  <a:gd name="connsiteX153" fmla="*/ 1026637 w 1312862"/>
                  <a:gd name="connsiteY153" fmla="*/ 358147 h 1293982"/>
                  <a:gd name="connsiteX154" fmla="*/ 1038042 w 1312862"/>
                  <a:gd name="connsiteY154" fmla="*/ 356719 h 1293982"/>
                  <a:gd name="connsiteX155" fmla="*/ 1070119 w 1312862"/>
                  <a:gd name="connsiteY155" fmla="*/ 345291 h 1293982"/>
                  <a:gd name="connsiteX156" fmla="*/ 1281112 w 1312862"/>
                  <a:gd name="connsiteY156" fmla="*/ 224592 h 1293982"/>
                  <a:gd name="connsiteX157" fmla="*/ 1281112 w 1312862"/>
                  <a:gd name="connsiteY157" fmla="*/ 38186 h 1293982"/>
                  <a:gd name="connsiteX158" fmla="*/ 1291431 w 1312862"/>
                  <a:gd name="connsiteY158" fmla="*/ 1190 h 1293982"/>
                  <a:gd name="connsiteX159" fmla="*/ 1312862 w 1312862"/>
                  <a:gd name="connsiteY159" fmla="*/ 15455 h 1293982"/>
                  <a:gd name="connsiteX160" fmla="*/ 1312862 w 1312862"/>
                  <a:gd name="connsiteY160" fmla="*/ 234415 h 1293982"/>
                  <a:gd name="connsiteX161" fmla="*/ 1305004 w 1312862"/>
                  <a:gd name="connsiteY161" fmla="*/ 247966 h 1293982"/>
                  <a:gd name="connsiteX162" fmla="*/ 1085691 w 1312862"/>
                  <a:gd name="connsiteY162" fmla="*/ 372781 h 1293982"/>
                  <a:gd name="connsiteX163" fmla="*/ 1043543 w 1312862"/>
                  <a:gd name="connsiteY163" fmla="*/ 388471 h 1293982"/>
                  <a:gd name="connsiteX164" fmla="*/ 1028541 w 1312862"/>
                  <a:gd name="connsiteY164" fmla="*/ 389898 h 1293982"/>
                  <a:gd name="connsiteX165" fmla="*/ 1019254 w 1312862"/>
                  <a:gd name="connsiteY165" fmla="*/ 390611 h 1293982"/>
                  <a:gd name="connsiteX166" fmla="*/ 1013539 w 1312862"/>
                  <a:gd name="connsiteY166" fmla="*/ 389898 h 1293982"/>
                  <a:gd name="connsiteX167" fmla="*/ 1012110 w 1312862"/>
                  <a:gd name="connsiteY167" fmla="*/ 389898 h 1293982"/>
                  <a:gd name="connsiteX168" fmla="*/ 787797 w 1312862"/>
                  <a:gd name="connsiteY168" fmla="*/ 378486 h 1293982"/>
                  <a:gd name="connsiteX169" fmla="*/ 735647 w 1312862"/>
                  <a:gd name="connsiteY169" fmla="*/ 323568 h 1293982"/>
                  <a:gd name="connsiteX170" fmla="*/ 739219 w 1312862"/>
                  <a:gd name="connsiteY170" fmla="*/ 302885 h 1293982"/>
                  <a:gd name="connsiteX171" fmla="*/ 785653 w 1312862"/>
                  <a:gd name="connsiteY171" fmla="*/ 267937 h 1293982"/>
                  <a:gd name="connsiteX172" fmla="*/ 867092 w 1312862"/>
                  <a:gd name="connsiteY172" fmla="*/ 260091 h 1293982"/>
                  <a:gd name="connsiteX173" fmla="*/ 854233 w 1312862"/>
                  <a:gd name="connsiteY173" fmla="*/ 255098 h 1293982"/>
                  <a:gd name="connsiteX174" fmla="*/ 817086 w 1312862"/>
                  <a:gd name="connsiteY174" fmla="*/ 244400 h 1293982"/>
                  <a:gd name="connsiteX175" fmla="*/ 784939 w 1312862"/>
                  <a:gd name="connsiteY175" fmla="*/ 241547 h 1293982"/>
                  <a:gd name="connsiteX176" fmla="*/ 782796 w 1312862"/>
                  <a:gd name="connsiteY176" fmla="*/ 241547 h 1293982"/>
                  <a:gd name="connsiteX177" fmla="*/ 732075 w 1312862"/>
                  <a:gd name="connsiteY177" fmla="*/ 248679 h 1293982"/>
                  <a:gd name="connsiteX178" fmla="*/ 727075 w 1312862"/>
                  <a:gd name="connsiteY178" fmla="*/ 249393 h 1293982"/>
                  <a:gd name="connsiteX179" fmla="*/ 683498 w 1312862"/>
                  <a:gd name="connsiteY179" fmla="*/ 267223 h 1293982"/>
                  <a:gd name="connsiteX180" fmla="*/ 662067 w 1312862"/>
                  <a:gd name="connsiteY180" fmla="*/ 280775 h 1293982"/>
                  <a:gd name="connsiteX181" fmla="*/ 653494 w 1312862"/>
                  <a:gd name="connsiteY181" fmla="*/ 287194 h 1293982"/>
                  <a:gd name="connsiteX182" fmla="*/ 628491 w 1312862"/>
                  <a:gd name="connsiteY182" fmla="*/ 311443 h 1293982"/>
                  <a:gd name="connsiteX183" fmla="*/ 593487 w 1312862"/>
                  <a:gd name="connsiteY183" fmla="*/ 350671 h 1293982"/>
                  <a:gd name="connsiteX184" fmla="*/ 548481 w 1312862"/>
                  <a:gd name="connsiteY184" fmla="*/ 370641 h 1293982"/>
                  <a:gd name="connsiteX185" fmla="*/ 504190 w 1312862"/>
                  <a:gd name="connsiteY185" fmla="*/ 351384 h 1293982"/>
                  <a:gd name="connsiteX186" fmla="*/ 504190 w 1312862"/>
                  <a:gd name="connsiteY186" fmla="*/ 272216 h 1293982"/>
                  <a:gd name="connsiteX187" fmla="*/ 537051 w 1312862"/>
                  <a:gd name="connsiteY187" fmla="*/ 232988 h 1293982"/>
                  <a:gd name="connsiteX188" fmla="*/ 706358 w 1312862"/>
                  <a:gd name="connsiteY188" fmla="*/ 121012 h 1293982"/>
                  <a:gd name="connsiteX189" fmla="*/ 715645 w 1312862"/>
                  <a:gd name="connsiteY189" fmla="*/ 118159 h 1293982"/>
                  <a:gd name="connsiteX190" fmla="*/ 867807 w 1312862"/>
                  <a:gd name="connsiteY190" fmla="*/ 95336 h 1293982"/>
                  <a:gd name="connsiteX191" fmla="*/ 904240 w 1312862"/>
                  <a:gd name="connsiteY191" fmla="*/ 96049 h 1293982"/>
                  <a:gd name="connsiteX192" fmla="*/ 991393 w 1312862"/>
                  <a:gd name="connsiteY192" fmla="*/ 102468 h 1293982"/>
                  <a:gd name="connsiteX193" fmla="*/ 1001395 w 1312862"/>
                  <a:gd name="connsiteY193" fmla="*/ 103182 h 1293982"/>
                  <a:gd name="connsiteX194" fmla="*/ 1052115 w 1312862"/>
                  <a:gd name="connsiteY194" fmla="*/ 93910 h 1293982"/>
                  <a:gd name="connsiteX195" fmla="*/ 1291431 w 1312862"/>
                  <a:gd name="connsiteY195" fmla="*/ 1190 h 129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1312862" h="1293982">
                    <a:moveTo>
                      <a:pt x="292611" y="935122"/>
                    </a:moveTo>
                    <a:cubicBezTo>
                      <a:pt x="290466" y="935122"/>
                      <a:pt x="288320" y="935122"/>
                      <a:pt x="286175" y="935836"/>
                    </a:cubicBezTo>
                    <a:cubicBezTo>
                      <a:pt x="281884" y="935836"/>
                      <a:pt x="278309" y="936551"/>
                      <a:pt x="274733" y="937265"/>
                    </a:cubicBezTo>
                    <a:cubicBezTo>
                      <a:pt x="263291" y="939407"/>
                      <a:pt x="252565" y="942978"/>
                      <a:pt x="241838" y="948692"/>
                    </a:cubicBezTo>
                    <a:cubicBezTo>
                      <a:pt x="241838" y="948692"/>
                      <a:pt x="241838" y="948692"/>
                      <a:pt x="30163" y="1069391"/>
                    </a:cubicBezTo>
                    <a:cubicBezTo>
                      <a:pt x="30163" y="1069391"/>
                      <a:pt x="30163" y="1069391"/>
                      <a:pt x="30163" y="1255797"/>
                    </a:cubicBezTo>
                    <a:cubicBezTo>
                      <a:pt x="30163" y="1255797"/>
                      <a:pt x="30163" y="1255797"/>
                      <a:pt x="248989" y="1171522"/>
                    </a:cubicBezTo>
                    <a:cubicBezTo>
                      <a:pt x="268297" y="1164380"/>
                      <a:pt x="289036" y="1160095"/>
                      <a:pt x="310489" y="1160095"/>
                    </a:cubicBezTo>
                    <a:cubicBezTo>
                      <a:pt x="314780" y="1160095"/>
                      <a:pt x="319070" y="1160095"/>
                      <a:pt x="322646" y="1160809"/>
                    </a:cubicBezTo>
                    <a:cubicBezTo>
                      <a:pt x="322646" y="1160809"/>
                      <a:pt x="322646" y="1160809"/>
                      <a:pt x="410605" y="1167237"/>
                    </a:cubicBezTo>
                    <a:cubicBezTo>
                      <a:pt x="422047" y="1167951"/>
                      <a:pt x="433489" y="1167951"/>
                      <a:pt x="444931" y="1167951"/>
                    </a:cubicBezTo>
                    <a:cubicBezTo>
                      <a:pt x="493559" y="1167951"/>
                      <a:pt x="541472" y="1160809"/>
                      <a:pt x="587954" y="1146525"/>
                    </a:cubicBezTo>
                    <a:cubicBezTo>
                      <a:pt x="587954" y="1146525"/>
                      <a:pt x="587954" y="1146525"/>
                      <a:pt x="597251" y="1143668"/>
                    </a:cubicBezTo>
                    <a:cubicBezTo>
                      <a:pt x="657321" y="1125099"/>
                      <a:pt x="710954" y="1089389"/>
                      <a:pt x="751716" y="1040823"/>
                    </a:cubicBezTo>
                    <a:cubicBezTo>
                      <a:pt x="751716" y="1040823"/>
                      <a:pt x="751716" y="1040823"/>
                      <a:pt x="785327" y="1001543"/>
                    </a:cubicBezTo>
                    <a:cubicBezTo>
                      <a:pt x="795338" y="989401"/>
                      <a:pt x="793908" y="972260"/>
                      <a:pt x="783181" y="962262"/>
                    </a:cubicBezTo>
                    <a:cubicBezTo>
                      <a:pt x="777460" y="957262"/>
                      <a:pt x="771024" y="955120"/>
                      <a:pt x="763873" y="955120"/>
                    </a:cubicBezTo>
                    <a:cubicBezTo>
                      <a:pt x="756007" y="955120"/>
                      <a:pt x="748141" y="958691"/>
                      <a:pt x="743135" y="964404"/>
                    </a:cubicBezTo>
                    <a:cubicBezTo>
                      <a:pt x="743135" y="964404"/>
                      <a:pt x="743135" y="964404"/>
                      <a:pt x="737414" y="970832"/>
                    </a:cubicBezTo>
                    <a:cubicBezTo>
                      <a:pt x="737414" y="970832"/>
                      <a:pt x="737414" y="970832"/>
                      <a:pt x="708094" y="1004399"/>
                    </a:cubicBezTo>
                    <a:cubicBezTo>
                      <a:pt x="698797" y="1014398"/>
                      <a:pt x="689501" y="1022969"/>
                      <a:pt x="678774" y="1031539"/>
                    </a:cubicBezTo>
                    <a:cubicBezTo>
                      <a:pt x="675914" y="1034396"/>
                      <a:pt x="672338" y="1036538"/>
                      <a:pt x="668763" y="1039395"/>
                    </a:cubicBezTo>
                    <a:cubicBezTo>
                      <a:pt x="660896" y="1045109"/>
                      <a:pt x="653030" y="1050108"/>
                      <a:pt x="644449" y="1054393"/>
                    </a:cubicBezTo>
                    <a:cubicBezTo>
                      <a:pt x="628716" y="1062964"/>
                      <a:pt x="611553" y="1070106"/>
                      <a:pt x="594390" y="1075105"/>
                    </a:cubicBezTo>
                    <a:cubicBezTo>
                      <a:pt x="594390" y="1075105"/>
                      <a:pt x="594390" y="1075105"/>
                      <a:pt x="589385" y="1076533"/>
                    </a:cubicBezTo>
                    <a:cubicBezTo>
                      <a:pt x="570076" y="1081533"/>
                      <a:pt x="549338" y="1084390"/>
                      <a:pt x="529315" y="1084390"/>
                    </a:cubicBezTo>
                    <a:cubicBezTo>
                      <a:pt x="528600" y="1084390"/>
                      <a:pt x="527885" y="1084390"/>
                      <a:pt x="527169" y="1084390"/>
                    </a:cubicBezTo>
                    <a:cubicBezTo>
                      <a:pt x="514297" y="1084390"/>
                      <a:pt x="502140" y="1082961"/>
                      <a:pt x="489983" y="1080819"/>
                    </a:cubicBezTo>
                    <a:cubicBezTo>
                      <a:pt x="474966" y="1078676"/>
                      <a:pt x="460664" y="1074391"/>
                      <a:pt x="446361" y="1068677"/>
                    </a:cubicBezTo>
                    <a:cubicBezTo>
                      <a:pt x="446361" y="1068677"/>
                      <a:pt x="446361" y="1068677"/>
                      <a:pt x="427768" y="1060821"/>
                    </a:cubicBezTo>
                    <a:cubicBezTo>
                      <a:pt x="417041" y="1056536"/>
                      <a:pt x="409175" y="1046537"/>
                      <a:pt x="409175" y="1034396"/>
                    </a:cubicBezTo>
                    <a:cubicBezTo>
                      <a:pt x="409175" y="1034396"/>
                      <a:pt x="409175" y="1033681"/>
                      <a:pt x="409175" y="1032967"/>
                    </a:cubicBezTo>
                    <a:cubicBezTo>
                      <a:pt x="409175" y="1031539"/>
                      <a:pt x="409175" y="1030110"/>
                      <a:pt x="409175" y="1029396"/>
                    </a:cubicBezTo>
                    <a:cubicBezTo>
                      <a:pt x="409890" y="1027254"/>
                      <a:pt x="409890" y="1025111"/>
                      <a:pt x="410605" y="1022969"/>
                    </a:cubicBezTo>
                    <a:cubicBezTo>
                      <a:pt x="411321" y="1022254"/>
                      <a:pt x="411321" y="1021540"/>
                      <a:pt x="411321" y="1020826"/>
                    </a:cubicBezTo>
                    <a:cubicBezTo>
                      <a:pt x="412751" y="1017969"/>
                      <a:pt x="414896" y="1015827"/>
                      <a:pt x="417041" y="1012970"/>
                    </a:cubicBezTo>
                    <a:cubicBezTo>
                      <a:pt x="417041" y="1012970"/>
                      <a:pt x="417757" y="1012256"/>
                      <a:pt x="418472" y="1011541"/>
                    </a:cubicBezTo>
                    <a:cubicBezTo>
                      <a:pt x="422762" y="1007256"/>
                      <a:pt x="429198" y="1004399"/>
                      <a:pt x="436350" y="1003685"/>
                    </a:cubicBezTo>
                    <a:cubicBezTo>
                      <a:pt x="436350" y="1003685"/>
                      <a:pt x="436350" y="1003685"/>
                      <a:pt x="523594" y="995115"/>
                    </a:cubicBezTo>
                    <a:cubicBezTo>
                      <a:pt x="532890" y="994401"/>
                      <a:pt x="540757" y="987973"/>
                      <a:pt x="543617" y="980117"/>
                    </a:cubicBezTo>
                    <a:cubicBezTo>
                      <a:pt x="545047" y="977260"/>
                      <a:pt x="545762" y="974403"/>
                      <a:pt x="545762" y="970832"/>
                    </a:cubicBezTo>
                    <a:cubicBezTo>
                      <a:pt x="545762" y="957976"/>
                      <a:pt x="535751" y="947978"/>
                      <a:pt x="522879" y="947263"/>
                    </a:cubicBezTo>
                    <a:cubicBezTo>
                      <a:pt x="522879" y="947263"/>
                      <a:pt x="522879" y="947263"/>
                      <a:pt x="331227" y="937265"/>
                    </a:cubicBezTo>
                    <a:cubicBezTo>
                      <a:pt x="331227" y="937265"/>
                      <a:pt x="331227" y="937265"/>
                      <a:pt x="322646" y="936551"/>
                    </a:cubicBezTo>
                    <a:cubicBezTo>
                      <a:pt x="322646" y="936551"/>
                      <a:pt x="322646" y="936551"/>
                      <a:pt x="309774" y="935836"/>
                    </a:cubicBezTo>
                    <a:cubicBezTo>
                      <a:pt x="309774" y="935836"/>
                      <a:pt x="309774" y="935836"/>
                      <a:pt x="298332" y="935836"/>
                    </a:cubicBezTo>
                    <a:cubicBezTo>
                      <a:pt x="298332" y="935836"/>
                      <a:pt x="297617" y="935836"/>
                      <a:pt x="297617" y="935836"/>
                    </a:cubicBezTo>
                    <a:cubicBezTo>
                      <a:pt x="296187" y="935122"/>
                      <a:pt x="294756" y="935122"/>
                      <a:pt x="292611" y="935122"/>
                    </a:cubicBezTo>
                    <a:close/>
                    <a:moveTo>
                      <a:pt x="293046" y="903372"/>
                    </a:moveTo>
                    <a:cubicBezTo>
                      <a:pt x="295185" y="903372"/>
                      <a:pt x="297324" y="903372"/>
                      <a:pt x="299463" y="904085"/>
                    </a:cubicBezTo>
                    <a:cubicBezTo>
                      <a:pt x="300889" y="904085"/>
                      <a:pt x="300889" y="904085"/>
                      <a:pt x="300889" y="904085"/>
                    </a:cubicBezTo>
                    <a:cubicBezTo>
                      <a:pt x="524060" y="915497"/>
                      <a:pt x="524060" y="915497"/>
                      <a:pt x="524060" y="915497"/>
                    </a:cubicBezTo>
                    <a:cubicBezTo>
                      <a:pt x="553294" y="916923"/>
                      <a:pt x="576823" y="941173"/>
                      <a:pt x="576823" y="970415"/>
                    </a:cubicBezTo>
                    <a:cubicBezTo>
                      <a:pt x="576823" y="977547"/>
                      <a:pt x="575397" y="984680"/>
                      <a:pt x="572545" y="991099"/>
                    </a:cubicBezTo>
                    <a:cubicBezTo>
                      <a:pt x="565415" y="1010356"/>
                      <a:pt x="547590" y="1023907"/>
                      <a:pt x="526912" y="1026047"/>
                    </a:cubicBezTo>
                    <a:cubicBezTo>
                      <a:pt x="444917" y="1033892"/>
                      <a:pt x="444917" y="1033892"/>
                      <a:pt x="444917" y="1033892"/>
                    </a:cubicBezTo>
                    <a:cubicBezTo>
                      <a:pt x="457751" y="1038885"/>
                      <a:pt x="457751" y="1038885"/>
                      <a:pt x="457751" y="1038885"/>
                    </a:cubicBezTo>
                    <a:cubicBezTo>
                      <a:pt x="469872" y="1043877"/>
                      <a:pt x="482706" y="1047444"/>
                      <a:pt x="495540" y="1049583"/>
                    </a:cubicBezTo>
                    <a:cubicBezTo>
                      <a:pt x="505522" y="1051723"/>
                      <a:pt x="516217" y="1052436"/>
                      <a:pt x="526912" y="1052436"/>
                    </a:cubicBezTo>
                    <a:cubicBezTo>
                      <a:pt x="529051" y="1052436"/>
                      <a:pt x="529051" y="1052436"/>
                      <a:pt x="529051" y="1052436"/>
                    </a:cubicBezTo>
                    <a:cubicBezTo>
                      <a:pt x="546164" y="1052436"/>
                      <a:pt x="563989" y="1050296"/>
                      <a:pt x="580388" y="1045304"/>
                    </a:cubicBezTo>
                    <a:cubicBezTo>
                      <a:pt x="585379" y="1044591"/>
                      <a:pt x="585379" y="1044591"/>
                      <a:pt x="585379" y="1044591"/>
                    </a:cubicBezTo>
                    <a:cubicBezTo>
                      <a:pt x="600352" y="1040311"/>
                      <a:pt x="615325" y="1033892"/>
                      <a:pt x="628872" y="1026760"/>
                    </a:cubicBezTo>
                    <a:cubicBezTo>
                      <a:pt x="636002" y="1022481"/>
                      <a:pt x="643132" y="1018201"/>
                      <a:pt x="649550" y="1013209"/>
                    </a:cubicBezTo>
                    <a:cubicBezTo>
                      <a:pt x="652402" y="1011069"/>
                      <a:pt x="655967" y="1008929"/>
                      <a:pt x="658819" y="1006790"/>
                    </a:cubicBezTo>
                    <a:cubicBezTo>
                      <a:pt x="667375" y="999657"/>
                      <a:pt x="675931" y="991099"/>
                      <a:pt x="683774" y="982540"/>
                    </a:cubicBezTo>
                    <a:cubicBezTo>
                      <a:pt x="718711" y="943313"/>
                      <a:pt x="718711" y="943313"/>
                      <a:pt x="718711" y="943313"/>
                    </a:cubicBezTo>
                    <a:cubicBezTo>
                      <a:pt x="730119" y="930475"/>
                      <a:pt x="745805" y="923342"/>
                      <a:pt x="762918" y="923342"/>
                    </a:cubicBezTo>
                    <a:cubicBezTo>
                      <a:pt x="780030" y="923342"/>
                      <a:pt x="795716" y="930475"/>
                      <a:pt x="807124" y="942599"/>
                    </a:cubicBezTo>
                    <a:cubicBezTo>
                      <a:pt x="827088" y="964709"/>
                      <a:pt x="827088" y="998944"/>
                      <a:pt x="807837" y="1021767"/>
                    </a:cubicBezTo>
                    <a:cubicBezTo>
                      <a:pt x="775039" y="1060995"/>
                      <a:pt x="775039" y="1060995"/>
                      <a:pt x="775039" y="1060995"/>
                    </a:cubicBezTo>
                    <a:cubicBezTo>
                      <a:pt x="730119" y="1113773"/>
                      <a:pt x="671653" y="1152288"/>
                      <a:pt x="606056" y="1172971"/>
                    </a:cubicBezTo>
                    <a:cubicBezTo>
                      <a:pt x="596787" y="1175824"/>
                      <a:pt x="596787" y="1175824"/>
                      <a:pt x="596787" y="1175824"/>
                    </a:cubicBezTo>
                    <a:cubicBezTo>
                      <a:pt x="547590" y="1190802"/>
                      <a:pt x="496253" y="1198647"/>
                      <a:pt x="444917" y="1198647"/>
                    </a:cubicBezTo>
                    <a:cubicBezTo>
                      <a:pt x="432795" y="1198647"/>
                      <a:pt x="420674" y="1198647"/>
                      <a:pt x="408553" y="1197934"/>
                    </a:cubicBezTo>
                    <a:cubicBezTo>
                      <a:pt x="320853" y="1191515"/>
                      <a:pt x="320853" y="1191515"/>
                      <a:pt x="320853" y="1191515"/>
                    </a:cubicBezTo>
                    <a:cubicBezTo>
                      <a:pt x="318001" y="1190802"/>
                      <a:pt x="314436" y="1190802"/>
                      <a:pt x="310871" y="1190802"/>
                    </a:cubicBezTo>
                    <a:cubicBezTo>
                      <a:pt x="293759" y="1190802"/>
                      <a:pt x="276647" y="1194368"/>
                      <a:pt x="260961" y="1200074"/>
                    </a:cubicBezTo>
                    <a:cubicBezTo>
                      <a:pt x="21390" y="1292793"/>
                      <a:pt x="21390" y="1292793"/>
                      <a:pt x="21390" y="1292793"/>
                    </a:cubicBezTo>
                    <a:cubicBezTo>
                      <a:pt x="11408" y="1297072"/>
                      <a:pt x="0" y="1289227"/>
                      <a:pt x="0" y="1278528"/>
                    </a:cubicBezTo>
                    <a:lnTo>
                      <a:pt x="0" y="1059568"/>
                    </a:lnTo>
                    <a:cubicBezTo>
                      <a:pt x="0" y="1053863"/>
                      <a:pt x="3565" y="1048870"/>
                      <a:pt x="8556" y="1046017"/>
                    </a:cubicBezTo>
                    <a:cubicBezTo>
                      <a:pt x="227449" y="921203"/>
                      <a:pt x="227449" y="921203"/>
                      <a:pt x="227449" y="921203"/>
                    </a:cubicBezTo>
                    <a:cubicBezTo>
                      <a:pt x="240284" y="913357"/>
                      <a:pt x="254544" y="908365"/>
                      <a:pt x="269517" y="905512"/>
                    </a:cubicBezTo>
                    <a:cubicBezTo>
                      <a:pt x="274508" y="904799"/>
                      <a:pt x="279499" y="904085"/>
                      <a:pt x="284490" y="904085"/>
                    </a:cubicBezTo>
                    <a:cubicBezTo>
                      <a:pt x="287342" y="904085"/>
                      <a:pt x="290194" y="903372"/>
                      <a:pt x="293046" y="903372"/>
                    </a:cubicBezTo>
                    <a:close/>
                    <a:moveTo>
                      <a:pt x="659587" y="403310"/>
                    </a:moveTo>
                    <a:cubicBezTo>
                      <a:pt x="659587" y="403310"/>
                      <a:pt x="659587" y="403310"/>
                      <a:pt x="535978" y="441853"/>
                    </a:cubicBezTo>
                    <a:cubicBezTo>
                      <a:pt x="535978" y="441853"/>
                      <a:pt x="535978" y="441853"/>
                      <a:pt x="315912" y="677394"/>
                    </a:cubicBezTo>
                    <a:cubicBezTo>
                      <a:pt x="315912" y="677394"/>
                      <a:pt x="315912" y="677394"/>
                      <a:pt x="518116" y="863685"/>
                    </a:cubicBezTo>
                    <a:cubicBezTo>
                      <a:pt x="518116" y="863685"/>
                      <a:pt x="518116" y="863685"/>
                      <a:pt x="737468" y="627431"/>
                    </a:cubicBezTo>
                    <a:cubicBezTo>
                      <a:pt x="737468" y="627431"/>
                      <a:pt x="737468" y="627431"/>
                      <a:pt x="766762" y="501095"/>
                    </a:cubicBezTo>
                    <a:cubicBezTo>
                      <a:pt x="766762" y="501095"/>
                      <a:pt x="766762" y="501095"/>
                      <a:pt x="659587" y="403310"/>
                    </a:cubicBezTo>
                    <a:close/>
                    <a:moveTo>
                      <a:pt x="653979" y="374574"/>
                    </a:moveTo>
                    <a:cubicBezTo>
                      <a:pt x="653979" y="374574"/>
                      <a:pt x="654693" y="374574"/>
                      <a:pt x="655407" y="374574"/>
                    </a:cubicBezTo>
                    <a:cubicBezTo>
                      <a:pt x="663260" y="373147"/>
                      <a:pt x="669685" y="374574"/>
                      <a:pt x="674683" y="379569"/>
                    </a:cubicBezTo>
                    <a:cubicBezTo>
                      <a:pt x="674683" y="379569"/>
                      <a:pt x="674683" y="379569"/>
                      <a:pt x="787484" y="483027"/>
                    </a:cubicBezTo>
                    <a:cubicBezTo>
                      <a:pt x="793195" y="488022"/>
                      <a:pt x="795337" y="495157"/>
                      <a:pt x="793909" y="502292"/>
                    </a:cubicBezTo>
                    <a:cubicBezTo>
                      <a:pt x="793909" y="502292"/>
                      <a:pt x="793909" y="502292"/>
                      <a:pt x="793909" y="503006"/>
                    </a:cubicBezTo>
                    <a:cubicBezTo>
                      <a:pt x="793909" y="503006"/>
                      <a:pt x="793909" y="503006"/>
                      <a:pt x="763210" y="637859"/>
                    </a:cubicBezTo>
                    <a:cubicBezTo>
                      <a:pt x="762496" y="639999"/>
                      <a:pt x="761069" y="642140"/>
                      <a:pt x="759641" y="644280"/>
                    </a:cubicBezTo>
                    <a:cubicBezTo>
                      <a:pt x="759641" y="644280"/>
                      <a:pt x="759641" y="644280"/>
                      <a:pt x="533324" y="888300"/>
                    </a:cubicBezTo>
                    <a:cubicBezTo>
                      <a:pt x="529041" y="892581"/>
                      <a:pt x="524043" y="894722"/>
                      <a:pt x="518332" y="895435"/>
                    </a:cubicBezTo>
                    <a:cubicBezTo>
                      <a:pt x="518332" y="895435"/>
                      <a:pt x="518332" y="895435"/>
                      <a:pt x="517618" y="895435"/>
                    </a:cubicBezTo>
                    <a:cubicBezTo>
                      <a:pt x="511906" y="895435"/>
                      <a:pt x="506909" y="893295"/>
                      <a:pt x="502625" y="889727"/>
                    </a:cubicBezTo>
                    <a:cubicBezTo>
                      <a:pt x="502625" y="889727"/>
                      <a:pt x="502625" y="889727"/>
                      <a:pt x="291302" y="692799"/>
                    </a:cubicBezTo>
                    <a:cubicBezTo>
                      <a:pt x="287018" y="689231"/>
                      <a:pt x="284876" y="683523"/>
                      <a:pt x="284162" y="677815"/>
                    </a:cubicBezTo>
                    <a:cubicBezTo>
                      <a:pt x="284162" y="672107"/>
                      <a:pt x="286304" y="667113"/>
                      <a:pt x="289874" y="663545"/>
                    </a:cubicBezTo>
                    <a:cubicBezTo>
                      <a:pt x="289874" y="663545"/>
                      <a:pt x="289874" y="663545"/>
                      <a:pt x="516190" y="419525"/>
                    </a:cubicBezTo>
                    <a:cubicBezTo>
                      <a:pt x="518332" y="417385"/>
                      <a:pt x="520474" y="415958"/>
                      <a:pt x="522615" y="415244"/>
                    </a:cubicBezTo>
                    <a:cubicBezTo>
                      <a:pt x="522615" y="415244"/>
                      <a:pt x="522615" y="415244"/>
                      <a:pt x="653979" y="374574"/>
                    </a:cubicBezTo>
                    <a:close/>
                    <a:moveTo>
                      <a:pt x="1281112" y="38186"/>
                    </a:moveTo>
                    <a:cubicBezTo>
                      <a:pt x="1281112" y="38186"/>
                      <a:pt x="1281112" y="38186"/>
                      <a:pt x="1063703" y="122462"/>
                    </a:cubicBezTo>
                    <a:cubicBezTo>
                      <a:pt x="1043745" y="129604"/>
                      <a:pt x="1023073" y="133889"/>
                      <a:pt x="1001688" y="133889"/>
                    </a:cubicBezTo>
                    <a:cubicBezTo>
                      <a:pt x="998124" y="133889"/>
                      <a:pt x="993848" y="133889"/>
                      <a:pt x="989571" y="133174"/>
                    </a:cubicBezTo>
                    <a:cubicBezTo>
                      <a:pt x="989571" y="133174"/>
                      <a:pt x="989571" y="133174"/>
                      <a:pt x="902607" y="126747"/>
                    </a:cubicBezTo>
                    <a:cubicBezTo>
                      <a:pt x="891202" y="126033"/>
                      <a:pt x="879797" y="126033"/>
                      <a:pt x="868392" y="126033"/>
                    </a:cubicBezTo>
                    <a:cubicBezTo>
                      <a:pt x="819920" y="126033"/>
                      <a:pt x="772162" y="133174"/>
                      <a:pt x="725829" y="147458"/>
                    </a:cubicBezTo>
                    <a:cubicBezTo>
                      <a:pt x="725829" y="147458"/>
                      <a:pt x="725829" y="147458"/>
                      <a:pt x="716562" y="150315"/>
                    </a:cubicBezTo>
                    <a:cubicBezTo>
                      <a:pt x="656686" y="168884"/>
                      <a:pt x="603225" y="204594"/>
                      <a:pt x="562594" y="253160"/>
                    </a:cubicBezTo>
                    <a:cubicBezTo>
                      <a:pt x="562594" y="253160"/>
                      <a:pt x="562594" y="253160"/>
                      <a:pt x="528379" y="292441"/>
                    </a:cubicBezTo>
                    <a:cubicBezTo>
                      <a:pt x="519112" y="304582"/>
                      <a:pt x="519825" y="321723"/>
                      <a:pt x="531230" y="331722"/>
                    </a:cubicBezTo>
                    <a:cubicBezTo>
                      <a:pt x="536220" y="336721"/>
                      <a:pt x="543348" y="338864"/>
                      <a:pt x="549763" y="338864"/>
                    </a:cubicBezTo>
                    <a:cubicBezTo>
                      <a:pt x="558317" y="338864"/>
                      <a:pt x="565445" y="335293"/>
                      <a:pt x="571148" y="329579"/>
                    </a:cubicBezTo>
                    <a:cubicBezTo>
                      <a:pt x="571148" y="329579"/>
                      <a:pt x="571148" y="329579"/>
                      <a:pt x="576850" y="323151"/>
                    </a:cubicBezTo>
                    <a:cubicBezTo>
                      <a:pt x="576850" y="323151"/>
                      <a:pt x="576850" y="323151"/>
                      <a:pt x="606076" y="289584"/>
                    </a:cubicBezTo>
                    <a:cubicBezTo>
                      <a:pt x="614630" y="279585"/>
                      <a:pt x="624609" y="271015"/>
                      <a:pt x="634588" y="262444"/>
                    </a:cubicBezTo>
                    <a:cubicBezTo>
                      <a:pt x="638152" y="259588"/>
                      <a:pt x="641717" y="257445"/>
                      <a:pt x="644568" y="254588"/>
                    </a:cubicBezTo>
                    <a:cubicBezTo>
                      <a:pt x="652409" y="248875"/>
                      <a:pt x="660963" y="243875"/>
                      <a:pt x="668804" y="239590"/>
                    </a:cubicBezTo>
                    <a:cubicBezTo>
                      <a:pt x="685198" y="231020"/>
                      <a:pt x="701593" y="223878"/>
                      <a:pt x="719413" y="218878"/>
                    </a:cubicBezTo>
                    <a:cubicBezTo>
                      <a:pt x="719413" y="218878"/>
                      <a:pt x="719413" y="218878"/>
                      <a:pt x="724403" y="217450"/>
                    </a:cubicBezTo>
                    <a:cubicBezTo>
                      <a:pt x="743649" y="212450"/>
                      <a:pt x="763608" y="209594"/>
                      <a:pt x="783567" y="209594"/>
                    </a:cubicBezTo>
                    <a:cubicBezTo>
                      <a:pt x="784992" y="209594"/>
                      <a:pt x="785705" y="209594"/>
                      <a:pt x="786418" y="209594"/>
                    </a:cubicBezTo>
                    <a:cubicBezTo>
                      <a:pt x="798536" y="209594"/>
                      <a:pt x="811367" y="211022"/>
                      <a:pt x="823485" y="213165"/>
                    </a:cubicBezTo>
                    <a:cubicBezTo>
                      <a:pt x="837741" y="215307"/>
                      <a:pt x="852710" y="219592"/>
                      <a:pt x="866966" y="225306"/>
                    </a:cubicBezTo>
                    <a:cubicBezTo>
                      <a:pt x="866966" y="225306"/>
                      <a:pt x="866966" y="225306"/>
                      <a:pt x="885500" y="233162"/>
                    </a:cubicBezTo>
                    <a:cubicBezTo>
                      <a:pt x="896192" y="237447"/>
                      <a:pt x="903320" y="247446"/>
                      <a:pt x="904033" y="259588"/>
                    </a:cubicBezTo>
                    <a:cubicBezTo>
                      <a:pt x="904033" y="259588"/>
                      <a:pt x="904033" y="260302"/>
                      <a:pt x="904033" y="261016"/>
                    </a:cubicBezTo>
                    <a:cubicBezTo>
                      <a:pt x="904033" y="262444"/>
                      <a:pt x="904033" y="263873"/>
                      <a:pt x="903320" y="264587"/>
                    </a:cubicBezTo>
                    <a:cubicBezTo>
                      <a:pt x="903320" y="266730"/>
                      <a:pt x="902607" y="268872"/>
                      <a:pt x="901894" y="271015"/>
                    </a:cubicBezTo>
                    <a:cubicBezTo>
                      <a:pt x="901894" y="271729"/>
                      <a:pt x="901894" y="272443"/>
                      <a:pt x="901181" y="273157"/>
                    </a:cubicBezTo>
                    <a:cubicBezTo>
                      <a:pt x="899756" y="276014"/>
                      <a:pt x="898330" y="278157"/>
                      <a:pt x="896192" y="281014"/>
                    </a:cubicBezTo>
                    <a:cubicBezTo>
                      <a:pt x="895479" y="281014"/>
                      <a:pt x="895479" y="281728"/>
                      <a:pt x="894766" y="282442"/>
                    </a:cubicBezTo>
                    <a:cubicBezTo>
                      <a:pt x="889776" y="286727"/>
                      <a:pt x="884074" y="289584"/>
                      <a:pt x="876946" y="290298"/>
                    </a:cubicBezTo>
                    <a:cubicBezTo>
                      <a:pt x="876946" y="290298"/>
                      <a:pt x="876946" y="290298"/>
                      <a:pt x="789269" y="298868"/>
                    </a:cubicBezTo>
                    <a:cubicBezTo>
                      <a:pt x="780003" y="299583"/>
                      <a:pt x="772875" y="306010"/>
                      <a:pt x="769311" y="313867"/>
                    </a:cubicBezTo>
                    <a:cubicBezTo>
                      <a:pt x="768598" y="316723"/>
                      <a:pt x="767885" y="319580"/>
                      <a:pt x="767885" y="323151"/>
                    </a:cubicBezTo>
                    <a:cubicBezTo>
                      <a:pt x="767885" y="336007"/>
                      <a:pt x="777864" y="346006"/>
                      <a:pt x="790695" y="346720"/>
                    </a:cubicBezTo>
                    <a:cubicBezTo>
                      <a:pt x="790695" y="346720"/>
                      <a:pt x="790695" y="346720"/>
                      <a:pt x="981017" y="356719"/>
                    </a:cubicBezTo>
                    <a:cubicBezTo>
                      <a:pt x="981017" y="356719"/>
                      <a:pt x="981017" y="356719"/>
                      <a:pt x="990283" y="357433"/>
                    </a:cubicBezTo>
                    <a:cubicBezTo>
                      <a:pt x="990283" y="357433"/>
                      <a:pt x="990283" y="357433"/>
                      <a:pt x="1002401" y="358147"/>
                    </a:cubicBezTo>
                    <a:cubicBezTo>
                      <a:pt x="1002401" y="358147"/>
                      <a:pt x="1002401" y="358147"/>
                      <a:pt x="1014519" y="358147"/>
                    </a:cubicBezTo>
                    <a:cubicBezTo>
                      <a:pt x="1016658" y="358861"/>
                      <a:pt x="1018083" y="358861"/>
                      <a:pt x="1019509" y="358861"/>
                    </a:cubicBezTo>
                    <a:cubicBezTo>
                      <a:pt x="1021647" y="358861"/>
                      <a:pt x="1024499" y="358861"/>
                      <a:pt x="1026637" y="358147"/>
                    </a:cubicBezTo>
                    <a:cubicBezTo>
                      <a:pt x="1030201" y="358147"/>
                      <a:pt x="1034478" y="357433"/>
                      <a:pt x="1038042" y="356719"/>
                    </a:cubicBezTo>
                    <a:cubicBezTo>
                      <a:pt x="1049447" y="354576"/>
                      <a:pt x="1060139" y="351005"/>
                      <a:pt x="1070119" y="345291"/>
                    </a:cubicBezTo>
                    <a:cubicBezTo>
                      <a:pt x="1070119" y="345291"/>
                      <a:pt x="1070119" y="345291"/>
                      <a:pt x="1281112" y="224592"/>
                    </a:cubicBezTo>
                    <a:cubicBezTo>
                      <a:pt x="1281112" y="224592"/>
                      <a:pt x="1281112" y="224592"/>
                      <a:pt x="1281112" y="38186"/>
                    </a:cubicBezTo>
                    <a:close/>
                    <a:moveTo>
                      <a:pt x="1291431" y="1190"/>
                    </a:moveTo>
                    <a:cubicBezTo>
                      <a:pt x="1302147" y="-3089"/>
                      <a:pt x="1312862" y="4757"/>
                      <a:pt x="1312862" y="15455"/>
                    </a:cubicBezTo>
                    <a:lnTo>
                      <a:pt x="1312862" y="234415"/>
                    </a:lnTo>
                    <a:cubicBezTo>
                      <a:pt x="1312862" y="240121"/>
                      <a:pt x="1310005" y="245113"/>
                      <a:pt x="1305004" y="247966"/>
                    </a:cubicBezTo>
                    <a:cubicBezTo>
                      <a:pt x="1085691" y="372781"/>
                      <a:pt x="1085691" y="372781"/>
                      <a:pt x="1085691" y="372781"/>
                    </a:cubicBezTo>
                    <a:cubicBezTo>
                      <a:pt x="1072832" y="380626"/>
                      <a:pt x="1058545" y="385619"/>
                      <a:pt x="1043543" y="388471"/>
                    </a:cubicBezTo>
                    <a:cubicBezTo>
                      <a:pt x="1038542" y="389185"/>
                      <a:pt x="1033542" y="389898"/>
                      <a:pt x="1028541" y="389898"/>
                    </a:cubicBezTo>
                    <a:cubicBezTo>
                      <a:pt x="1025683" y="389898"/>
                      <a:pt x="1022112" y="390611"/>
                      <a:pt x="1019254" y="390611"/>
                    </a:cubicBezTo>
                    <a:cubicBezTo>
                      <a:pt x="1017111" y="390611"/>
                      <a:pt x="1015682" y="390611"/>
                      <a:pt x="1013539" y="389898"/>
                    </a:cubicBezTo>
                    <a:cubicBezTo>
                      <a:pt x="1012110" y="389898"/>
                      <a:pt x="1012110" y="389898"/>
                      <a:pt x="1012110" y="389898"/>
                    </a:cubicBezTo>
                    <a:cubicBezTo>
                      <a:pt x="787797" y="378486"/>
                      <a:pt x="787797" y="378486"/>
                      <a:pt x="787797" y="378486"/>
                    </a:cubicBezTo>
                    <a:cubicBezTo>
                      <a:pt x="758507" y="377060"/>
                      <a:pt x="735647" y="352810"/>
                      <a:pt x="735647" y="323568"/>
                    </a:cubicBezTo>
                    <a:cubicBezTo>
                      <a:pt x="735647" y="316436"/>
                      <a:pt x="737076" y="309304"/>
                      <a:pt x="739219" y="302885"/>
                    </a:cubicBezTo>
                    <a:cubicBezTo>
                      <a:pt x="747077" y="283627"/>
                      <a:pt x="764937" y="270076"/>
                      <a:pt x="785653" y="267937"/>
                    </a:cubicBezTo>
                    <a:cubicBezTo>
                      <a:pt x="867092" y="260091"/>
                      <a:pt x="867092" y="260091"/>
                      <a:pt x="867092" y="260091"/>
                    </a:cubicBezTo>
                    <a:cubicBezTo>
                      <a:pt x="854233" y="255098"/>
                      <a:pt x="854233" y="255098"/>
                      <a:pt x="854233" y="255098"/>
                    </a:cubicBezTo>
                    <a:cubicBezTo>
                      <a:pt x="842089" y="250106"/>
                      <a:pt x="829945" y="246540"/>
                      <a:pt x="817086" y="244400"/>
                    </a:cubicBezTo>
                    <a:cubicBezTo>
                      <a:pt x="806370" y="242260"/>
                      <a:pt x="795655" y="241547"/>
                      <a:pt x="784939" y="241547"/>
                    </a:cubicBezTo>
                    <a:cubicBezTo>
                      <a:pt x="782796" y="241547"/>
                      <a:pt x="782796" y="241547"/>
                      <a:pt x="782796" y="241547"/>
                    </a:cubicBezTo>
                    <a:cubicBezTo>
                      <a:pt x="765651" y="241547"/>
                      <a:pt x="748506" y="243687"/>
                      <a:pt x="732075" y="248679"/>
                    </a:cubicBezTo>
                    <a:cubicBezTo>
                      <a:pt x="727075" y="249393"/>
                      <a:pt x="727075" y="249393"/>
                      <a:pt x="727075" y="249393"/>
                    </a:cubicBezTo>
                    <a:cubicBezTo>
                      <a:pt x="712073" y="253672"/>
                      <a:pt x="697071" y="260091"/>
                      <a:pt x="683498" y="267223"/>
                    </a:cubicBezTo>
                    <a:cubicBezTo>
                      <a:pt x="675640" y="271503"/>
                      <a:pt x="668496" y="275782"/>
                      <a:pt x="662067" y="280775"/>
                    </a:cubicBezTo>
                    <a:cubicBezTo>
                      <a:pt x="659209" y="282914"/>
                      <a:pt x="656352" y="285054"/>
                      <a:pt x="653494" y="287194"/>
                    </a:cubicBezTo>
                    <a:cubicBezTo>
                      <a:pt x="644207" y="294326"/>
                      <a:pt x="636349" y="302885"/>
                      <a:pt x="628491" y="311443"/>
                    </a:cubicBezTo>
                    <a:cubicBezTo>
                      <a:pt x="593487" y="350671"/>
                      <a:pt x="593487" y="350671"/>
                      <a:pt x="593487" y="350671"/>
                    </a:cubicBezTo>
                    <a:cubicBezTo>
                      <a:pt x="582057" y="363509"/>
                      <a:pt x="565626" y="370641"/>
                      <a:pt x="548481" y="370641"/>
                    </a:cubicBezTo>
                    <a:cubicBezTo>
                      <a:pt x="532050" y="370641"/>
                      <a:pt x="515620" y="363509"/>
                      <a:pt x="504190" y="351384"/>
                    </a:cubicBezTo>
                    <a:cubicBezTo>
                      <a:pt x="484187" y="329274"/>
                      <a:pt x="484902" y="295039"/>
                      <a:pt x="504190" y="272216"/>
                    </a:cubicBezTo>
                    <a:cubicBezTo>
                      <a:pt x="537051" y="232988"/>
                      <a:pt x="537051" y="232988"/>
                      <a:pt x="537051" y="232988"/>
                    </a:cubicBezTo>
                    <a:cubicBezTo>
                      <a:pt x="582057" y="180210"/>
                      <a:pt x="639921" y="141696"/>
                      <a:pt x="706358" y="121012"/>
                    </a:cubicBezTo>
                    <a:cubicBezTo>
                      <a:pt x="715645" y="118159"/>
                      <a:pt x="715645" y="118159"/>
                      <a:pt x="715645" y="118159"/>
                    </a:cubicBezTo>
                    <a:cubicBezTo>
                      <a:pt x="764937" y="103182"/>
                      <a:pt x="815657" y="95336"/>
                      <a:pt x="867807" y="95336"/>
                    </a:cubicBezTo>
                    <a:cubicBezTo>
                      <a:pt x="879951" y="95336"/>
                      <a:pt x="892095" y="95336"/>
                      <a:pt x="904240" y="96049"/>
                    </a:cubicBezTo>
                    <a:cubicBezTo>
                      <a:pt x="991393" y="102468"/>
                      <a:pt x="991393" y="102468"/>
                      <a:pt x="991393" y="102468"/>
                    </a:cubicBezTo>
                    <a:cubicBezTo>
                      <a:pt x="994965" y="103182"/>
                      <a:pt x="998537" y="103182"/>
                      <a:pt x="1001395" y="103182"/>
                    </a:cubicBezTo>
                    <a:cubicBezTo>
                      <a:pt x="1019254" y="103182"/>
                      <a:pt x="1035685" y="99615"/>
                      <a:pt x="1052115" y="93910"/>
                    </a:cubicBezTo>
                    <a:cubicBezTo>
                      <a:pt x="1291431" y="1190"/>
                      <a:pt x="1291431" y="1190"/>
                      <a:pt x="1291431" y="1190"/>
                    </a:cubicBez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59" name="Freeform 11">
                <a:extLst>
                  <a:ext uri="{FF2B5EF4-FFF2-40B4-BE49-F238E27FC236}">
                    <a16:creationId xmlns:a16="http://schemas.microsoft.com/office/drawing/2014/main" id="{3A6FB46C-A3C6-4E9E-8057-5A975F0882CF}"/>
                  </a:ext>
                </a:extLst>
              </p:cNvPr>
              <p:cNvSpPr>
                <a:spLocks noEditPoints="1"/>
              </p:cNvSpPr>
              <p:nvPr/>
            </p:nvSpPr>
            <p:spPr bwMode="auto">
              <a:xfrm>
                <a:off x="5795963" y="3219450"/>
                <a:ext cx="371475" cy="384175"/>
              </a:xfrm>
              <a:custGeom>
                <a:avLst/>
                <a:gdLst>
                  <a:gd name="T0" fmla="*/ 413 w 522"/>
                  <a:gd name="T1" fmla="*/ 80 h 537"/>
                  <a:gd name="T2" fmla="*/ 378 w 522"/>
                  <a:gd name="T3" fmla="*/ 114 h 537"/>
                  <a:gd name="T4" fmla="*/ 413 w 522"/>
                  <a:gd name="T5" fmla="*/ 148 h 537"/>
                  <a:gd name="T6" fmla="*/ 447 w 522"/>
                  <a:gd name="T7" fmla="*/ 114 h 537"/>
                  <a:gd name="T8" fmla="*/ 413 w 522"/>
                  <a:gd name="T9" fmla="*/ 80 h 537"/>
                  <a:gd name="T10" fmla="*/ 409 w 522"/>
                  <a:gd name="T11" fmla="*/ 0 h 537"/>
                  <a:gd name="T12" fmla="*/ 522 w 522"/>
                  <a:gd name="T13" fmla="*/ 102 h 537"/>
                  <a:gd name="T14" fmla="*/ 485 w 522"/>
                  <a:gd name="T15" fmla="*/ 246 h 537"/>
                  <a:gd name="T16" fmla="*/ 221 w 522"/>
                  <a:gd name="T17" fmla="*/ 537 h 537"/>
                  <a:gd name="T18" fmla="*/ 0 w 522"/>
                  <a:gd name="T19" fmla="*/ 335 h 537"/>
                  <a:gd name="T20" fmla="*/ 269 w 522"/>
                  <a:gd name="T21" fmla="*/ 44 h 537"/>
                  <a:gd name="T22" fmla="*/ 409 w 522"/>
                  <a:gd name="T23" fmla="*/ 0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2" h="537">
                    <a:moveTo>
                      <a:pt x="413" y="80"/>
                    </a:moveTo>
                    <a:cubicBezTo>
                      <a:pt x="394" y="80"/>
                      <a:pt x="378" y="95"/>
                      <a:pt x="378" y="114"/>
                    </a:cubicBezTo>
                    <a:cubicBezTo>
                      <a:pt x="378" y="133"/>
                      <a:pt x="394" y="148"/>
                      <a:pt x="413" y="148"/>
                    </a:cubicBezTo>
                    <a:cubicBezTo>
                      <a:pt x="431" y="148"/>
                      <a:pt x="447" y="133"/>
                      <a:pt x="447" y="114"/>
                    </a:cubicBezTo>
                    <a:cubicBezTo>
                      <a:pt x="447" y="95"/>
                      <a:pt x="431" y="80"/>
                      <a:pt x="413" y="80"/>
                    </a:cubicBezTo>
                    <a:close/>
                    <a:moveTo>
                      <a:pt x="409" y="0"/>
                    </a:moveTo>
                    <a:cubicBezTo>
                      <a:pt x="409" y="0"/>
                      <a:pt x="409" y="0"/>
                      <a:pt x="522" y="102"/>
                    </a:cubicBezTo>
                    <a:cubicBezTo>
                      <a:pt x="522" y="102"/>
                      <a:pt x="522" y="102"/>
                      <a:pt x="485" y="246"/>
                    </a:cubicBezTo>
                    <a:cubicBezTo>
                      <a:pt x="485" y="246"/>
                      <a:pt x="485" y="246"/>
                      <a:pt x="221" y="537"/>
                    </a:cubicBezTo>
                    <a:cubicBezTo>
                      <a:pt x="221" y="537"/>
                      <a:pt x="221" y="537"/>
                      <a:pt x="0" y="335"/>
                    </a:cubicBezTo>
                    <a:cubicBezTo>
                      <a:pt x="0" y="335"/>
                      <a:pt x="0" y="335"/>
                      <a:pt x="269" y="44"/>
                    </a:cubicBezTo>
                    <a:cubicBezTo>
                      <a:pt x="269" y="44"/>
                      <a:pt x="269" y="44"/>
                      <a:pt x="409" y="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grpSp>
      <p:cxnSp>
        <p:nvCxnSpPr>
          <p:cNvPr id="9" name="Straight Connector 8"/>
          <p:cNvCxnSpPr/>
          <p:nvPr/>
        </p:nvCxnSpPr>
        <p:spPr>
          <a:xfrm>
            <a:off x="678025" y="2886060"/>
            <a:ext cx="3632881" cy="0"/>
          </a:xfrm>
          <a:prstGeom prst="line">
            <a:avLst/>
          </a:prstGeom>
          <a:noFill/>
          <a:ln w="3175"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cxnSp>
      <p:cxnSp>
        <p:nvCxnSpPr>
          <p:cNvPr id="49" name="Straight Connector 48"/>
          <p:cNvCxnSpPr/>
          <p:nvPr/>
        </p:nvCxnSpPr>
        <p:spPr>
          <a:xfrm>
            <a:off x="4502600" y="2886060"/>
            <a:ext cx="3632881" cy="0"/>
          </a:xfrm>
          <a:prstGeom prst="line">
            <a:avLst/>
          </a:prstGeom>
          <a:noFill/>
          <a:ln w="3175"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cxnSp>
      <p:cxnSp>
        <p:nvCxnSpPr>
          <p:cNvPr id="50" name="Straight Connector 49"/>
          <p:cNvCxnSpPr/>
          <p:nvPr/>
        </p:nvCxnSpPr>
        <p:spPr>
          <a:xfrm>
            <a:off x="8421373" y="2886060"/>
            <a:ext cx="3632881" cy="0"/>
          </a:xfrm>
          <a:prstGeom prst="line">
            <a:avLst/>
          </a:prstGeom>
          <a:noFill/>
          <a:ln w="3175"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cxnSp>
      <p:sp>
        <p:nvSpPr>
          <p:cNvPr id="39" name="Rectangle 38">
            <a:extLst>
              <a:ext uri="{FF2B5EF4-FFF2-40B4-BE49-F238E27FC236}">
                <a16:creationId xmlns:a16="http://schemas.microsoft.com/office/drawing/2014/main" id="{B92B4B51-CEEF-43F2-8460-5077BD667015}"/>
              </a:ext>
            </a:extLst>
          </p:cNvPr>
          <p:cNvSpPr/>
          <p:nvPr/>
        </p:nvSpPr>
        <p:spPr>
          <a:xfrm>
            <a:off x="5081266" y="74428"/>
            <a:ext cx="2030818" cy="244549"/>
          </a:xfrm>
          <a:prstGeom prst="rect">
            <a:avLst/>
          </a:prstGeom>
          <a:noFill/>
          <a:ln w="9525" cap="rnd" cmpd="sng" algn="ctr">
            <a:noFill/>
            <a:prstDash val="sysDot"/>
            <a:round/>
          </a:ln>
          <a:effectLst/>
          <a:extLst>
            <a:ext uri="{909E8E84-426E-40DD-AFC4-6F175D3DCCD1}">
              <a14:hiddenFill xmlns:a14="http://schemas.microsoft.com/office/drawing/2010/main">
                <a:solidFill>
                  <a:schemeClr val="accent6"/>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eaLnBrk="1" fontAlgn="auto" latinLnBrk="0" hangingPunct="1">
              <a:lnSpc>
                <a:spcPct val="90000"/>
              </a:lnSpc>
              <a:spcBef>
                <a:spcPts val="0"/>
              </a:spcBef>
              <a:spcAft>
                <a:spcPts val="1000"/>
              </a:spcAft>
              <a:buClrTx/>
              <a:buSzTx/>
              <a:buFontTx/>
              <a:buNone/>
              <a:tabLst/>
            </a:pPr>
            <a:r>
              <a:rPr kumimoji="0" lang="en-US" sz="1200" b="0" i="0" u="none" strike="noStrike" kern="0" cap="none" spc="0" normalizeH="0" baseline="0" noProof="0">
                <a:ln>
                  <a:noFill/>
                </a:ln>
                <a:solidFill>
                  <a:srgbClr val="85858B"/>
                </a:solidFill>
                <a:effectLst/>
                <a:uLnTx/>
                <a:uFillTx/>
                <a:ea typeface="+mn-ea"/>
                <a:cs typeface="+mn-cs"/>
                <a:sym typeface="+mn-lt"/>
              </a:rPr>
              <a:t>Backup</a:t>
            </a:r>
          </a:p>
        </p:txBody>
      </p:sp>
      <p:sp>
        <p:nvSpPr>
          <p:cNvPr id="38" name="Oval 37">
            <a:extLst>
              <a:ext uri="{FF2B5EF4-FFF2-40B4-BE49-F238E27FC236}">
                <a16:creationId xmlns:a16="http://schemas.microsoft.com/office/drawing/2014/main" id="{4405A01A-E735-4386-A9BB-A57DC61AD86D}"/>
              </a:ext>
            </a:extLst>
          </p:cNvPr>
          <p:cNvSpPr/>
          <p:nvPr/>
        </p:nvSpPr>
        <p:spPr>
          <a:xfrm>
            <a:off x="782400" y="1770693"/>
            <a:ext cx="1015288" cy="1015288"/>
          </a:xfrm>
          <a:prstGeom prst="ellipse">
            <a:avLst/>
          </a:prstGeom>
          <a:blipFill>
            <a:blip r:embed="rId8">
              <a:duotone>
                <a:schemeClr val="accent6">
                  <a:shade val="45000"/>
                  <a:satMod val="135000"/>
                </a:schemeClr>
                <a:prstClr val="white"/>
              </a:duotone>
            </a:blip>
            <a:stretch>
              <a:fillRect l="-109" t="-123276" r="-417" b="-42522"/>
            </a:stretch>
          </a:blipFill>
          <a:ln w="13875" cap="flat" cmpd="sng" algn="ctr">
            <a:solidFill>
              <a:srgbClr val="295E7E"/>
            </a:solidFill>
            <a:prstDash val="solid"/>
            <a:round/>
            <a:headEnd type="none" w="med" len="med"/>
            <a:tailEnd type="none" w="med" len="med"/>
          </a:ln>
          <a:effectLst/>
        </p:spPr>
        <p:txBody>
          <a:bodyPr vert="horz" wrap="square" lIns="99898" tIns="49949" rIns="99898" bIns="49949" numCol="1" anchor="t" anchorCtr="0" compatLnSpc="1">
            <a:prstTxWarp prst="textNoShape">
              <a:avLst/>
            </a:prstTxWarp>
          </a:bodyPr>
          <a:lstStyle/>
          <a:p>
            <a:endParaRPr lang="en-US">
              <a:solidFill>
                <a:srgbClr val="435264"/>
              </a:solidFill>
              <a:latin typeface="Work Sans"/>
              <a:sym typeface="+mn-lt"/>
            </a:endParaRPr>
          </a:p>
        </p:txBody>
      </p:sp>
      <p:sp>
        <p:nvSpPr>
          <p:cNvPr id="40" name="Oval 39">
            <a:extLst>
              <a:ext uri="{FF2B5EF4-FFF2-40B4-BE49-F238E27FC236}">
                <a16:creationId xmlns:a16="http://schemas.microsoft.com/office/drawing/2014/main" id="{7C0F9931-A254-4A48-B98D-2EB1E25324D9}"/>
              </a:ext>
            </a:extLst>
          </p:cNvPr>
          <p:cNvSpPr/>
          <p:nvPr/>
        </p:nvSpPr>
        <p:spPr>
          <a:xfrm>
            <a:off x="8616251" y="1770693"/>
            <a:ext cx="1015288" cy="1015288"/>
          </a:xfrm>
          <a:prstGeom prst="ellipse">
            <a:avLst/>
          </a:prstGeom>
          <a:blipFill>
            <a:blip r:embed="rId8">
              <a:duotone>
                <a:schemeClr val="accent6">
                  <a:shade val="45000"/>
                  <a:satMod val="135000"/>
                </a:schemeClr>
                <a:prstClr val="white"/>
              </a:duotone>
            </a:blip>
            <a:stretch>
              <a:fillRect l="-109" t="-123276" r="-417" b="-42522"/>
            </a:stretch>
          </a:blipFill>
          <a:ln w="13875" cap="flat" cmpd="sng" algn="ctr">
            <a:solidFill>
              <a:srgbClr val="295E7E"/>
            </a:solidFill>
            <a:prstDash val="solid"/>
            <a:round/>
            <a:headEnd type="none" w="med" len="med"/>
            <a:tailEnd type="none" w="med" len="med"/>
          </a:ln>
          <a:effectLst/>
        </p:spPr>
        <p:txBody>
          <a:bodyPr vert="horz" wrap="square" lIns="99898" tIns="49949" rIns="99898" bIns="49949" numCol="1" anchor="t" anchorCtr="0" compatLnSpc="1">
            <a:prstTxWarp prst="textNoShape">
              <a:avLst/>
            </a:prstTxWarp>
          </a:bodyPr>
          <a:lstStyle/>
          <a:p>
            <a:endParaRPr lang="en-US">
              <a:solidFill>
                <a:srgbClr val="435264"/>
              </a:solidFill>
              <a:latin typeface="Work Sans"/>
              <a:sym typeface="+mn-lt"/>
            </a:endParaRPr>
          </a:p>
        </p:txBody>
      </p:sp>
      <p:grpSp>
        <p:nvGrpSpPr>
          <p:cNvPr id="51" name="bcgIcons_Target">
            <a:extLst>
              <a:ext uri="{FF2B5EF4-FFF2-40B4-BE49-F238E27FC236}">
                <a16:creationId xmlns:a16="http://schemas.microsoft.com/office/drawing/2014/main" id="{224B0F6C-59D4-403F-B698-0EB18AF72381}"/>
              </a:ext>
            </a:extLst>
          </p:cNvPr>
          <p:cNvGrpSpPr>
            <a:grpSpLocks noChangeAspect="1"/>
          </p:cNvGrpSpPr>
          <p:nvPr/>
        </p:nvGrpSpPr>
        <p:grpSpPr bwMode="auto">
          <a:xfrm>
            <a:off x="943587" y="1931559"/>
            <a:ext cx="692914" cy="693556"/>
            <a:chOff x="1682" y="0"/>
            <a:chExt cx="4316" cy="4320"/>
          </a:xfrm>
        </p:grpSpPr>
        <p:sp>
          <p:nvSpPr>
            <p:cNvPr id="52" name="AutoShape 23">
              <a:extLst>
                <a:ext uri="{FF2B5EF4-FFF2-40B4-BE49-F238E27FC236}">
                  <a16:creationId xmlns:a16="http://schemas.microsoft.com/office/drawing/2014/main" id="{DFFE1727-08D9-4791-99C0-3E583DDDD572}"/>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25">
              <a:extLst>
                <a:ext uri="{FF2B5EF4-FFF2-40B4-BE49-F238E27FC236}">
                  <a16:creationId xmlns:a16="http://schemas.microsoft.com/office/drawing/2014/main" id="{339B1980-1051-4FB0-BA6C-62AF2C423295}"/>
                </a:ext>
              </a:extLst>
            </p:cNvPr>
            <p:cNvSpPr>
              <a:spLocks noEditPoints="1"/>
            </p:cNvSpPr>
            <p:nvPr/>
          </p:nvSpPr>
          <p:spPr bwMode="auto">
            <a:xfrm>
              <a:off x="3782" y="838"/>
              <a:ext cx="1832" cy="1367"/>
            </a:xfrm>
            <a:custGeom>
              <a:avLst/>
              <a:gdLst>
                <a:gd name="T0" fmla="*/ 25 w 978"/>
                <a:gd name="T1" fmla="*/ 729 h 729"/>
                <a:gd name="T2" fmla="*/ 7 w 978"/>
                <a:gd name="T3" fmla="*/ 719 h 729"/>
                <a:gd name="T4" fmla="*/ 13 w 978"/>
                <a:gd name="T5" fmla="*/ 689 h 729"/>
                <a:gd name="T6" fmla="*/ 888 w 978"/>
                <a:gd name="T7" fmla="*/ 86 h 729"/>
                <a:gd name="T8" fmla="*/ 919 w 978"/>
                <a:gd name="T9" fmla="*/ 91 h 729"/>
                <a:gd name="T10" fmla="*/ 913 w 978"/>
                <a:gd name="T11" fmla="*/ 122 h 729"/>
                <a:gd name="T12" fmla="*/ 38 w 978"/>
                <a:gd name="T13" fmla="*/ 725 h 729"/>
                <a:gd name="T14" fmla="*/ 25 w 978"/>
                <a:gd name="T15" fmla="*/ 729 h 729"/>
                <a:gd name="T16" fmla="*/ 578 w 978"/>
                <a:gd name="T17" fmla="*/ 254 h 729"/>
                <a:gd name="T18" fmla="*/ 586 w 978"/>
                <a:gd name="T19" fmla="*/ 258 h 729"/>
                <a:gd name="T20" fmla="*/ 825 w 978"/>
                <a:gd name="T21" fmla="*/ 93 h 729"/>
                <a:gd name="T22" fmla="*/ 826 w 978"/>
                <a:gd name="T23" fmla="*/ 91 h 729"/>
                <a:gd name="T24" fmla="*/ 849 w 978"/>
                <a:gd name="T25" fmla="*/ 8 h 729"/>
                <a:gd name="T26" fmla="*/ 841 w 978"/>
                <a:gd name="T27" fmla="*/ 3 h 729"/>
                <a:gd name="T28" fmla="*/ 602 w 978"/>
                <a:gd name="T29" fmla="*/ 166 h 729"/>
                <a:gd name="T30" fmla="*/ 599 w 978"/>
                <a:gd name="T31" fmla="*/ 171 h 729"/>
                <a:gd name="T32" fmla="*/ 578 w 978"/>
                <a:gd name="T33" fmla="*/ 254 h 729"/>
                <a:gd name="T34" fmla="*/ 646 w 978"/>
                <a:gd name="T35" fmla="*/ 352 h 729"/>
                <a:gd name="T36" fmla="*/ 730 w 978"/>
                <a:gd name="T37" fmla="*/ 362 h 729"/>
                <a:gd name="T38" fmla="*/ 736 w 978"/>
                <a:gd name="T39" fmla="*/ 361 h 729"/>
                <a:gd name="T40" fmla="*/ 974 w 978"/>
                <a:gd name="T41" fmla="*/ 196 h 729"/>
                <a:gd name="T42" fmla="*/ 972 w 978"/>
                <a:gd name="T43" fmla="*/ 187 h 729"/>
                <a:gd name="T44" fmla="*/ 886 w 978"/>
                <a:gd name="T45" fmla="*/ 179 h 729"/>
                <a:gd name="T46" fmla="*/ 884 w 978"/>
                <a:gd name="T47" fmla="*/ 179 h 729"/>
                <a:gd name="T48" fmla="*/ 644 w 978"/>
                <a:gd name="T49" fmla="*/ 343 h 729"/>
                <a:gd name="T50" fmla="*/ 646 w 978"/>
                <a:gd name="T51" fmla="*/ 352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78" h="729">
                  <a:moveTo>
                    <a:pt x="25" y="729"/>
                  </a:moveTo>
                  <a:cubicBezTo>
                    <a:pt x="18" y="729"/>
                    <a:pt x="11" y="726"/>
                    <a:pt x="7" y="719"/>
                  </a:cubicBezTo>
                  <a:cubicBezTo>
                    <a:pt x="0" y="709"/>
                    <a:pt x="3" y="696"/>
                    <a:pt x="13" y="689"/>
                  </a:cubicBezTo>
                  <a:cubicBezTo>
                    <a:pt x="888" y="86"/>
                    <a:pt x="888" y="86"/>
                    <a:pt x="888" y="86"/>
                  </a:cubicBezTo>
                  <a:cubicBezTo>
                    <a:pt x="898" y="79"/>
                    <a:pt x="912" y="81"/>
                    <a:pt x="919" y="91"/>
                  </a:cubicBezTo>
                  <a:cubicBezTo>
                    <a:pt x="926" y="101"/>
                    <a:pt x="923" y="115"/>
                    <a:pt x="913" y="122"/>
                  </a:cubicBezTo>
                  <a:cubicBezTo>
                    <a:pt x="38" y="725"/>
                    <a:pt x="38" y="725"/>
                    <a:pt x="38" y="725"/>
                  </a:cubicBezTo>
                  <a:cubicBezTo>
                    <a:pt x="34" y="728"/>
                    <a:pt x="30" y="729"/>
                    <a:pt x="25" y="729"/>
                  </a:cubicBezTo>
                  <a:close/>
                  <a:moveTo>
                    <a:pt x="578" y="254"/>
                  </a:moveTo>
                  <a:cubicBezTo>
                    <a:pt x="577" y="258"/>
                    <a:pt x="582" y="259"/>
                    <a:pt x="586" y="258"/>
                  </a:cubicBezTo>
                  <a:cubicBezTo>
                    <a:pt x="586" y="258"/>
                    <a:pt x="586" y="258"/>
                    <a:pt x="825" y="93"/>
                  </a:cubicBezTo>
                  <a:cubicBezTo>
                    <a:pt x="826" y="93"/>
                    <a:pt x="826" y="93"/>
                    <a:pt x="826" y="91"/>
                  </a:cubicBezTo>
                  <a:cubicBezTo>
                    <a:pt x="826" y="91"/>
                    <a:pt x="826" y="91"/>
                    <a:pt x="849" y="8"/>
                  </a:cubicBezTo>
                  <a:cubicBezTo>
                    <a:pt x="850" y="3"/>
                    <a:pt x="845" y="0"/>
                    <a:pt x="841" y="3"/>
                  </a:cubicBezTo>
                  <a:cubicBezTo>
                    <a:pt x="841" y="3"/>
                    <a:pt x="841" y="3"/>
                    <a:pt x="602" y="166"/>
                  </a:cubicBezTo>
                  <a:cubicBezTo>
                    <a:pt x="601" y="168"/>
                    <a:pt x="601" y="168"/>
                    <a:pt x="599" y="171"/>
                  </a:cubicBezTo>
                  <a:cubicBezTo>
                    <a:pt x="599" y="171"/>
                    <a:pt x="599" y="171"/>
                    <a:pt x="578" y="254"/>
                  </a:cubicBezTo>
                  <a:close/>
                  <a:moveTo>
                    <a:pt x="646" y="352"/>
                  </a:moveTo>
                  <a:cubicBezTo>
                    <a:pt x="730" y="362"/>
                    <a:pt x="730" y="362"/>
                    <a:pt x="730" y="362"/>
                  </a:cubicBezTo>
                  <a:cubicBezTo>
                    <a:pt x="734" y="361"/>
                    <a:pt x="734" y="361"/>
                    <a:pt x="736" y="361"/>
                  </a:cubicBezTo>
                  <a:cubicBezTo>
                    <a:pt x="974" y="196"/>
                    <a:pt x="974" y="196"/>
                    <a:pt x="974" y="196"/>
                  </a:cubicBezTo>
                  <a:cubicBezTo>
                    <a:pt x="978" y="194"/>
                    <a:pt x="978" y="187"/>
                    <a:pt x="972" y="187"/>
                  </a:cubicBezTo>
                  <a:cubicBezTo>
                    <a:pt x="886" y="179"/>
                    <a:pt x="886" y="179"/>
                    <a:pt x="886" y="179"/>
                  </a:cubicBezTo>
                  <a:cubicBezTo>
                    <a:pt x="884" y="177"/>
                    <a:pt x="884" y="177"/>
                    <a:pt x="884" y="179"/>
                  </a:cubicBezTo>
                  <a:cubicBezTo>
                    <a:pt x="644" y="343"/>
                    <a:pt x="644" y="343"/>
                    <a:pt x="644" y="343"/>
                  </a:cubicBezTo>
                  <a:cubicBezTo>
                    <a:pt x="642" y="347"/>
                    <a:pt x="642" y="351"/>
                    <a:pt x="646" y="35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26">
              <a:extLst>
                <a:ext uri="{FF2B5EF4-FFF2-40B4-BE49-F238E27FC236}">
                  <a16:creationId xmlns:a16="http://schemas.microsoft.com/office/drawing/2014/main" id="{49805807-E383-430F-9B77-0912C0900F8E}"/>
                </a:ext>
              </a:extLst>
            </p:cNvPr>
            <p:cNvSpPr>
              <a:spLocks noEditPoints="1"/>
            </p:cNvSpPr>
            <p:nvPr/>
          </p:nvSpPr>
          <p:spPr bwMode="auto">
            <a:xfrm>
              <a:off x="2422" y="756"/>
              <a:ext cx="2814" cy="2816"/>
            </a:xfrm>
            <a:custGeom>
              <a:avLst/>
              <a:gdLst>
                <a:gd name="T0" fmla="*/ 1016 w 1502"/>
                <a:gd name="T1" fmla="*/ 662 h 1502"/>
                <a:gd name="T2" fmla="*/ 1030 w 1502"/>
                <a:gd name="T3" fmla="*/ 751 h 1502"/>
                <a:gd name="T4" fmla="*/ 751 w 1502"/>
                <a:gd name="T5" fmla="*/ 1030 h 1502"/>
                <a:gd name="T6" fmla="*/ 472 w 1502"/>
                <a:gd name="T7" fmla="*/ 751 h 1502"/>
                <a:gd name="T8" fmla="*/ 751 w 1502"/>
                <a:gd name="T9" fmla="*/ 472 h 1502"/>
                <a:gd name="T10" fmla="*/ 929 w 1502"/>
                <a:gd name="T11" fmla="*/ 536 h 1502"/>
                <a:gd name="T12" fmla="*/ 819 w 1502"/>
                <a:gd name="T13" fmla="*/ 611 h 1502"/>
                <a:gd name="T14" fmla="*/ 751 w 1502"/>
                <a:gd name="T15" fmla="*/ 596 h 1502"/>
                <a:gd name="T16" fmla="*/ 596 w 1502"/>
                <a:gd name="T17" fmla="*/ 751 h 1502"/>
                <a:gd name="T18" fmla="*/ 751 w 1502"/>
                <a:gd name="T19" fmla="*/ 906 h 1502"/>
                <a:gd name="T20" fmla="*/ 906 w 1502"/>
                <a:gd name="T21" fmla="*/ 751 h 1502"/>
                <a:gd name="T22" fmla="*/ 906 w 1502"/>
                <a:gd name="T23" fmla="*/ 738 h 1502"/>
                <a:gd name="T24" fmla="*/ 1016 w 1502"/>
                <a:gd name="T25" fmla="*/ 662 h 1502"/>
                <a:gd name="T26" fmla="*/ 1107 w 1502"/>
                <a:gd name="T27" fmla="*/ 599 h 1502"/>
                <a:gd name="T28" fmla="*/ 1138 w 1502"/>
                <a:gd name="T29" fmla="*/ 751 h 1502"/>
                <a:gd name="T30" fmla="*/ 751 w 1502"/>
                <a:gd name="T31" fmla="*/ 1138 h 1502"/>
                <a:gd name="T32" fmla="*/ 364 w 1502"/>
                <a:gd name="T33" fmla="*/ 751 h 1502"/>
                <a:gd name="T34" fmla="*/ 751 w 1502"/>
                <a:gd name="T35" fmla="*/ 364 h 1502"/>
                <a:gd name="T36" fmla="*/ 1020 w 1502"/>
                <a:gd name="T37" fmla="*/ 473 h 1502"/>
                <a:gd name="T38" fmla="*/ 1124 w 1502"/>
                <a:gd name="T39" fmla="*/ 401 h 1502"/>
                <a:gd name="T40" fmla="*/ 751 w 1502"/>
                <a:gd name="T41" fmla="*/ 240 h 1502"/>
                <a:gd name="T42" fmla="*/ 240 w 1502"/>
                <a:gd name="T43" fmla="*/ 751 h 1502"/>
                <a:gd name="T44" fmla="*/ 751 w 1502"/>
                <a:gd name="T45" fmla="*/ 1262 h 1502"/>
                <a:gd name="T46" fmla="*/ 1262 w 1502"/>
                <a:gd name="T47" fmla="*/ 751 h 1502"/>
                <a:gd name="T48" fmla="*/ 1211 w 1502"/>
                <a:gd name="T49" fmla="*/ 528 h 1502"/>
                <a:gd name="T50" fmla="*/ 1107 w 1502"/>
                <a:gd name="T51" fmla="*/ 599 h 1502"/>
                <a:gd name="T52" fmla="*/ 1333 w 1502"/>
                <a:gd name="T53" fmla="*/ 443 h 1502"/>
                <a:gd name="T54" fmla="*/ 1307 w 1502"/>
                <a:gd name="T55" fmla="*/ 461 h 1502"/>
                <a:gd name="T56" fmla="*/ 1378 w 1502"/>
                <a:gd name="T57" fmla="*/ 751 h 1502"/>
                <a:gd name="T58" fmla="*/ 751 w 1502"/>
                <a:gd name="T59" fmla="*/ 1378 h 1502"/>
                <a:gd name="T60" fmla="*/ 124 w 1502"/>
                <a:gd name="T61" fmla="*/ 751 h 1502"/>
                <a:gd name="T62" fmla="*/ 751 w 1502"/>
                <a:gd name="T63" fmla="*/ 124 h 1502"/>
                <a:gd name="T64" fmla="*/ 1220 w 1502"/>
                <a:gd name="T65" fmla="*/ 335 h 1502"/>
                <a:gd name="T66" fmla="*/ 1246 w 1502"/>
                <a:gd name="T67" fmla="*/ 317 h 1502"/>
                <a:gd name="T68" fmla="*/ 1273 w 1502"/>
                <a:gd name="T69" fmla="*/ 211 h 1502"/>
                <a:gd name="T70" fmla="*/ 751 w 1502"/>
                <a:gd name="T71" fmla="*/ 0 h 1502"/>
                <a:gd name="T72" fmla="*/ 0 w 1502"/>
                <a:gd name="T73" fmla="*/ 751 h 1502"/>
                <a:gd name="T74" fmla="*/ 751 w 1502"/>
                <a:gd name="T75" fmla="*/ 1502 h 1502"/>
                <a:gd name="T76" fmla="*/ 1502 w 1502"/>
                <a:gd name="T77" fmla="*/ 751 h 1502"/>
                <a:gd name="T78" fmla="*/ 1442 w 1502"/>
                <a:gd name="T79" fmla="*/ 456 h 1502"/>
                <a:gd name="T80" fmla="*/ 1333 w 1502"/>
                <a:gd name="T81" fmla="*/ 443 h 1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02" h="1502">
                  <a:moveTo>
                    <a:pt x="1016" y="662"/>
                  </a:moveTo>
                  <a:cubicBezTo>
                    <a:pt x="1025" y="690"/>
                    <a:pt x="1030" y="720"/>
                    <a:pt x="1030" y="751"/>
                  </a:cubicBezTo>
                  <a:cubicBezTo>
                    <a:pt x="1030" y="905"/>
                    <a:pt x="905" y="1030"/>
                    <a:pt x="751" y="1030"/>
                  </a:cubicBezTo>
                  <a:cubicBezTo>
                    <a:pt x="597" y="1030"/>
                    <a:pt x="472" y="905"/>
                    <a:pt x="472" y="751"/>
                  </a:cubicBezTo>
                  <a:cubicBezTo>
                    <a:pt x="472" y="597"/>
                    <a:pt x="597" y="472"/>
                    <a:pt x="751" y="472"/>
                  </a:cubicBezTo>
                  <a:cubicBezTo>
                    <a:pt x="818" y="472"/>
                    <a:pt x="880" y="496"/>
                    <a:pt x="929" y="536"/>
                  </a:cubicBezTo>
                  <a:cubicBezTo>
                    <a:pt x="819" y="611"/>
                    <a:pt x="819" y="611"/>
                    <a:pt x="819" y="611"/>
                  </a:cubicBezTo>
                  <a:cubicBezTo>
                    <a:pt x="798" y="601"/>
                    <a:pt x="775" y="596"/>
                    <a:pt x="751" y="596"/>
                  </a:cubicBezTo>
                  <a:cubicBezTo>
                    <a:pt x="665" y="596"/>
                    <a:pt x="596" y="665"/>
                    <a:pt x="596" y="751"/>
                  </a:cubicBezTo>
                  <a:cubicBezTo>
                    <a:pt x="596" y="836"/>
                    <a:pt x="665" y="906"/>
                    <a:pt x="751" y="906"/>
                  </a:cubicBezTo>
                  <a:cubicBezTo>
                    <a:pt x="837" y="906"/>
                    <a:pt x="906" y="836"/>
                    <a:pt x="906" y="751"/>
                  </a:cubicBezTo>
                  <a:cubicBezTo>
                    <a:pt x="906" y="746"/>
                    <a:pt x="906" y="742"/>
                    <a:pt x="906" y="738"/>
                  </a:cubicBezTo>
                  <a:lnTo>
                    <a:pt x="1016" y="662"/>
                  </a:lnTo>
                  <a:close/>
                  <a:moveTo>
                    <a:pt x="1107" y="599"/>
                  </a:moveTo>
                  <a:cubicBezTo>
                    <a:pt x="1127" y="646"/>
                    <a:pt x="1138" y="697"/>
                    <a:pt x="1138" y="751"/>
                  </a:cubicBezTo>
                  <a:cubicBezTo>
                    <a:pt x="1138" y="964"/>
                    <a:pt x="964" y="1138"/>
                    <a:pt x="751" y="1138"/>
                  </a:cubicBezTo>
                  <a:cubicBezTo>
                    <a:pt x="537" y="1138"/>
                    <a:pt x="364" y="964"/>
                    <a:pt x="364" y="751"/>
                  </a:cubicBezTo>
                  <a:cubicBezTo>
                    <a:pt x="364" y="537"/>
                    <a:pt x="537" y="364"/>
                    <a:pt x="751" y="364"/>
                  </a:cubicBezTo>
                  <a:cubicBezTo>
                    <a:pt x="855" y="364"/>
                    <a:pt x="950" y="405"/>
                    <a:pt x="1020" y="473"/>
                  </a:cubicBezTo>
                  <a:cubicBezTo>
                    <a:pt x="1124" y="401"/>
                    <a:pt x="1124" y="401"/>
                    <a:pt x="1124" y="401"/>
                  </a:cubicBezTo>
                  <a:cubicBezTo>
                    <a:pt x="1030" y="302"/>
                    <a:pt x="898" y="240"/>
                    <a:pt x="751" y="240"/>
                  </a:cubicBezTo>
                  <a:cubicBezTo>
                    <a:pt x="469" y="240"/>
                    <a:pt x="240" y="469"/>
                    <a:pt x="240" y="751"/>
                  </a:cubicBezTo>
                  <a:cubicBezTo>
                    <a:pt x="240" y="1033"/>
                    <a:pt x="469" y="1262"/>
                    <a:pt x="751" y="1262"/>
                  </a:cubicBezTo>
                  <a:cubicBezTo>
                    <a:pt x="1033" y="1262"/>
                    <a:pt x="1262" y="1033"/>
                    <a:pt x="1262" y="751"/>
                  </a:cubicBezTo>
                  <a:cubicBezTo>
                    <a:pt x="1262" y="671"/>
                    <a:pt x="1244" y="595"/>
                    <a:pt x="1211" y="528"/>
                  </a:cubicBezTo>
                  <a:lnTo>
                    <a:pt x="1107" y="599"/>
                  </a:lnTo>
                  <a:close/>
                  <a:moveTo>
                    <a:pt x="1333" y="443"/>
                  </a:moveTo>
                  <a:cubicBezTo>
                    <a:pt x="1307" y="461"/>
                    <a:pt x="1307" y="461"/>
                    <a:pt x="1307" y="461"/>
                  </a:cubicBezTo>
                  <a:cubicBezTo>
                    <a:pt x="1352" y="548"/>
                    <a:pt x="1378" y="646"/>
                    <a:pt x="1378" y="751"/>
                  </a:cubicBezTo>
                  <a:cubicBezTo>
                    <a:pt x="1378" y="1097"/>
                    <a:pt x="1097" y="1378"/>
                    <a:pt x="751" y="1378"/>
                  </a:cubicBezTo>
                  <a:cubicBezTo>
                    <a:pt x="405" y="1378"/>
                    <a:pt x="124" y="1097"/>
                    <a:pt x="124" y="751"/>
                  </a:cubicBezTo>
                  <a:cubicBezTo>
                    <a:pt x="124" y="405"/>
                    <a:pt x="405" y="124"/>
                    <a:pt x="751" y="124"/>
                  </a:cubicBezTo>
                  <a:cubicBezTo>
                    <a:pt x="937" y="124"/>
                    <a:pt x="1105" y="205"/>
                    <a:pt x="1220" y="335"/>
                  </a:cubicBezTo>
                  <a:cubicBezTo>
                    <a:pt x="1246" y="317"/>
                    <a:pt x="1246" y="317"/>
                    <a:pt x="1246" y="317"/>
                  </a:cubicBezTo>
                  <a:cubicBezTo>
                    <a:pt x="1273" y="211"/>
                    <a:pt x="1273" y="211"/>
                    <a:pt x="1273" y="211"/>
                  </a:cubicBezTo>
                  <a:cubicBezTo>
                    <a:pt x="1138" y="80"/>
                    <a:pt x="954" y="0"/>
                    <a:pt x="751" y="0"/>
                  </a:cubicBezTo>
                  <a:cubicBezTo>
                    <a:pt x="337" y="0"/>
                    <a:pt x="0" y="337"/>
                    <a:pt x="0" y="751"/>
                  </a:cubicBezTo>
                  <a:cubicBezTo>
                    <a:pt x="0" y="1165"/>
                    <a:pt x="337" y="1502"/>
                    <a:pt x="751" y="1502"/>
                  </a:cubicBezTo>
                  <a:cubicBezTo>
                    <a:pt x="1165" y="1502"/>
                    <a:pt x="1502" y="1165"/>
                    <a:pt x="1502" y="751"/>
                  </a:cubicBezTo>
                  <a:cubicBezTo>
                    <a:pt x="1502" y="646"/>
                    <a:pt x="1480" y="547"/>
                    <a:pt x="1442" y="456"/>
                  </a:cubicBezTo>
                  <a:lnTo>
                    <a:pt x="1333" y="44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61" name="Oval 60">
            <a:extLst>
              <a:ext uri="{FF2B5EF4-FFF2-40B4-BE49-F238E27FC236}">
                <a16:creationId xmlns:a16="http://schemas.microsoft.com/office/drawing/2014/main" id="{5D618071-C159-4E16-8A32-5708231DCDCA}"/>
              </a:ext>
            </a:extLst>
          </p:cNvPr>
          <p:cNvSpPr/>
          <p:nvPr/>
        </p:nvSpPr>
        <p:spPr>
          <a:xfrm>
            <a:off x="4694652" y="1770693"/>
            <a:ext cx="1015288" cy="1015288"/>
          </a:xfrm>
          <a:prstGeom prst="ellipse">
            <a:avLst/>
          </a:prstGeom>
          <a:blipFill>
            <a:blip r:embed="rId8">
              <a:duotone>
                <a:schemeClr val="accent6">
                  <a:shade val="45000"/>
                  <a:satMod val="135000"/>
                </a:schemeClr>
                <a:prstClr val="white"/>
              </a:duotone>
            </a:blip>
            <a:stretch>
              <a:fillRect l="-109" t="-123276" r="-417" b="-42522"/>
            </a:stretch>
          </a:blipFill>
          <a:ln w="13875" cap="flat" cmpd="sng" algn="ctr">
            <a:solidFill>
              <a:srgbClr val="295E7E"/>
            </a:solidFill>
            <a:prstDash val="solid"/>
            <a:round/>
            <a:headEnd type="none" w="med" len="med"/>
            <a:tailEnd type="none" w="med" len="med"/>
          </a:ln>
          <a:effectLst/>
        </p:spPr>
        <p:txBody>
          <a:bodyPr vert="horz" wrap="square" lIns="99898" tIns="49949" rIns="99898" bIns="49949" numCol="1" anchor="t" anchorCtr="0" compatLnSpc="1">
            <a:prstTxWarp prst="textNoShape">
              <a:avLst/>
            </a:prstTxWarp>
          </a:bodyPr>
          <a:lstStyle/>
          <a:p>
            <a:endParaRPr lang="en-US">
              <a:solidFill>
                <a:srgbClr val="435264"/>
              </a:solidFill>
              <a:latin typeface="Work Sans"/>
              <a:sym typeface="+mn-lt"/>
            </a:endParaRPr>
          </a:p>
        </p:txBody>
      </p:sp>
      <p:grpSp>
        <p:nvGrpSpPr>
          <p:cNvPr id="62" name="bcgIcons_Digital">
            <a:extLst>
              <a:ext uri="{FF2B5EF4-FFF2-40B4-BE49-F238E27FC236}">
                <a16:creationId xmlns:a16="http://schemas.microsoft.com/office/drawing/2014/main" id="{74C2B509-044A-412F-85A3-94A32DED5A99}"/>
              </a:ext>
            </a:extLst>
          </p:cNvPr>
          <p:cNvGrpSpPr>
            <a:grpSpLocks noChangeAspect="1"/>
          </p:cNvGrpSpPr>
          <p:nvPr/>
        </p:nvGrpSpPr>
        <p:grpSpPr bwMode="auto">
          <a:xfrm>
            <a:off x="4855839" y="1931559"/>
            <a:ext cx="692914" cy="693556"/>
            <a:chOff x="1682" y="0"/>
            <a:chExt cx="4316" cy="4320"/>
          </a:xfrm>
        </p:grpSpPr>
        <p:sp>
          <p:nvSpPr>
            <p:cNvPr id="64" name="AutoShape 8">
              <a:extLst>
                <a:ext uri="{FF2B5EF4-FFF2-40B4-BE49-F238E27FC236}">
                  <a16:creationId xmlns:a16="http://schemas.microsoft.com/office/drawing/2014/main" id="{11EC50EF-C8FF-4234-B0D7-632BDF292831}"/>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10">
              <a:extLst>
                <a:ext uri="{FF2B5EF4-FFF2-40B4-BE49-F238E27FC236}">
                  <a16:creationId xmlns:a16="http://schemas.microsoft.com/office/drawing/2014/main" id="{8CB012C8-3F74-4C46-96C9-F06C707430CD}"/>
                </a:ext>
              </a:extLst>
            </p:cNvPr>
            <p:cNvSpPr>
              <a:spLocks noEditPoints="1"/>
            </p:cNvSpPr>
            <p:nvPr/>
          </p:nvSpPr>
          <p:spPr bwMode="auto">
            <a:xfrm>
              <a:off x="2727" y="919"/>
              <a:ext cx="2797" cy="2512"/>
            </a:xfrm>
            <a:custGeom>
              <a:avLst/>
              <a:gdLst>
                <a:gd name="T0" fmla="*/ 263 w 1493"/>
                <a:gd name="T1" fmla="*/ 1282 h 1340"/>
                <a:gd name="T2" fmla="*/ 379 w 1493"/>
                <a:gd name="T3" fmla="*/ 1282 h 1340"/>
                <a:gd name="T4" fmla="*/ 469 w 1493"/>
                <a:gd name="T5" fmla="*/ 22 h 1340"/>
                <a:gd name="T6" fmla="*/ 195 w 1493"/>
                <a:gd name="T7" fmla="*/ 0 h 1340"/>
                <a:gd name="T8" fmla="*/ 195 w 1493"/>
                <a:gd name="T9" fmla="*/ 44 h 1340"/>
                <a:gd name="T10" fmla="*/ 469 w 1493"/>
                <a:gd name="T11" fmla="*/ 22 h 1340"/>
                <a:gd name="T12" fmla="*/ 390 w 1493"/>
                <a:gd name="T13" fmla="*/ 564 h 1340"/>
                <a:gd name="T14" fmla="*/ 368 w 1493"/>
                <a:gd name="T15" fmla="*/ 701 h 1340"/>
                <a:gd name="T16" fmla="*/ 504 w 1493"/>
                <a:gd name="T17" fmla="*/ 723 h 1340"/>
                <a:gd name="T18" fmla="*/ 526 w 1493"/>
                <a:gd name="T19" fmla="*/ 586 h 1340"/>
                <a:gd name="T20" fmla="*/ 758 w 1493"/>
                <a:gd name="T21" fmla="*/ 347 h 1340"/>
                <a:gd name="T22" fmla="*/ 578 w 1493"/>
                <a:gd name="T23" fmla="*/ 369 h 1340"/>
                <a:gd name="T24" fmla="*/ 600 w 1493"/>
                <a:gd name="T25" fmla="*/ 549 h 1340"/>
                <a:gd name="T26" fmla="*/ 780 w 1493"/>
                <a:gd name="T27" fmla="*/ 527 h 1340"/>
                <a:gd name="T28" fmla="*/ 758 w 1493"/>
                <a:gd name="T29" fmla="*/ 347 h 1340"/>
                <a:gd name="T30" fmla="*/ 570 w 1493"/>
                <a:gd name="T31" fmla="*/ 586 h 1340"/>
                <a:gd name="T32" fmla="*/ 570 w 1493"/>
                <a:gd name="T33" fmla="*/ 701 h 1340"/>
                <a:gd name="T34" fmla="*/ 390 w 1493"/>
                <a:gd name="T35" fmla="*/ 767 h 1340"/>
                <a:gd name="T36" fmla="*/ 324 w 1493"/>
                <a:gd name="T37" fmla="*/ 586 h 1340"/>
                <a:gd name="T38" fmla="*/ 504 w 1493"/>
                <a:gd name="T39" fmla="*/ 520 h 1340"/>
                <a:gd name="T40" fmla="*/ 534 w 1493"/>
                <a:gd name="T41" fmla="*/ 527 h 1340"/>
                <a:gd name="T42" fmla="*/ 600 w 1493"/>
                <a:gd name="T43" fmla="*/ 303 h 1340"/>
                <a:gd name="T44" fmla="*/ 638 w 1493"/>
                <a:gd name="T45" fmla="*/ 115 h 1340"/>
                <a:gd name="T46" fmla="*/ 10 w 1493"/>
                <a:gd name="T47" fmla="*/ 105 h 1340"/>
                <a:gd name="T48" fmla="*/ 0 w 1493"/>
                <a:gd name="T49" fmla="*/ 1092 h 1340"/>
                <a:gd name="T50" fmla="*/ 628 w 1493"/>
                <a:gd name="T51" fmla="*/ 1102 h 1340"/>
                <a:gd name="T52" fmla="*/ 638 w 1493"/>
                <a:gd name="T53" fmla="*/ 593 h 1340"/>
                <a:gd name="T54" fmla="*/ 1095 w 1493"/>
                <a:gd name="T55" fmla="*/ 105 h 1340"/>
                <a:gd name="T56" fmla="*/ 874 w 1493"/>
                <a:gd name="T57" fmla="*/ 127 h 1340"/>
                <a:gd name="T58" fmla="*/ 896 w 1493"/>
                <a:gd name="T59" fmla="*/ 348 h 1340"/>
                <a:gd name="T60" fmla="*/ 1117 w 1493"/>
                <a:gd name="T61" fmla="*/ 326 h 1340"/>
                <a:gd name="T62" fmla="*/ 1095 w 1493"/>
                <a:gd name="T63" fmla="*/ 105 h 1340"/>
                <a:gd name="T64" fmla="*/ 1493 w 1493"/>
                <a:gd name="T65" fmla="*/ 222 h 1340"/>
                <a:gd name="T66" fmla="*/ 1197 w 1493"/>
                <a:gd name="T67" fmla="*/ 200 h 1340"/>
                <a:gd name="T68" fmla="*/ 1175 w 1493"/>
                <a:gd name="T69" fmla="*/ 496 h 1340"/>
                <a:gd name="T70" fmla="*/ 1471 w 1493"/>
                <a:gd name="T71" fmla="*/ 518 h 1340"/>
                <a:gd name="T72" fmla="*/ 1117 w 1493"/>
                <a:gd name="T73" fmla="*/ 667 h 1340"/>
                <a:gd name="T74" fmla="*/ 1095 w 1493"/>
                <a:gd name="T75" fmla="*/ 409 h 1340"/>
                <a:gd name="T76" fmla="*/ 838 w 1493"/>
                <a:gd name="T77" fmla="*/ 431 h 1340"/>
                <a:gd name="T78" fmla="*/ 860 w 1493"/>
                <a:gd name="T79" fmla="*/ 689 h 1340"/>
                <a:gd name="T80" fmla="*/ 1117 w 1493"/>
                <a:gd name="T81" fmla="*/ 667 h 1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93" h="1340">
                  <a:moveTo>
                    <a:pt x="321" y="1340"/>
                  </a:moveTo>
                  <a:cubicBezTo>
                    <a:pt x="289" y="1340"/>
                    <a:pt x="263" y="1314"/>
                    <a:pt x="263" y="1282"/>
                  </a:cubicBezTo>
                  <a:cubicBezTo>
                    <a:pt x="263" y="1250"/>
                    <a:pt x="289" y="1224"/>
                    <a:pt x="321" y="1224"/>
                  </a:cubicBezTo>
                  <a:cubicBezTo>
                    <a:pt x="353" y="1224"/>
                    <a:pt x="379" y="1250"/>
                    <a:pt x="379" y="1282"/>
                  </a:cubicBezTo>
                  <a:cubicBezTo>
                    <a:pt x="379" y="1314"/>
                    <a:pt x="353" y="1340"/>
                    <a:pt x="321" y="1340"/>
                  </a:cubicBezTo>
                  <a:close/>
                  <a:moveTo>
                    <a:pt x="469" y="22"/>
                  </a:moveTo>
                  <a:cubicBezTo>
                    <a:pt x="469" y="10"/>
                    <a:pt x="459" y="0"/>
                    <a:pt x="447" y="0"/>
                  </a:cubicBezTo>
                  <a:cubicBezTo>
                    <a:pt x="195" y="0"/>
                    <a:pt x="195" y="0"/>
                    <a:pt x="195" y="0"/>
                  </a:cubicBezTo>
                  <a:cubicBezTo>
                    <a:pt x="183" y="0"/>
                    <a:pt x="173" y="10"/>
                    <a:pt x="173" y="22"/>
                  </a:cubicBezTo>
                  <a:cubicBezTo>
                    <a:pt x="173" y="34"/>
                    <a:pt x="183" y="44"/>
                    <a:pt x="195" y="44"/>
                  </a:cubicBezTo>
                  <a:cubicBezTo>
                    <a:pt x="447" y="44"/>
                    <a:pt x="447" y="44"/>
                    <a:pt x="447" y="44"/>
                  </a:cubicBezTo>
                  <a:cubicBezTo>
                    <a:pt x="459" y="44"/>
                    <a:pt x="469" y="34"/>
                    <a:pt x="469" y="22"/>
                  </a:cubicBezTo>
                  <a:close/>
                  <a:moveTo>
                    <a:pt x="504" y="564"/>
                  </a:moveTo>
                  <a:cubicBezTo>
                    <a:pt x="390" y="564"/>
                    <a:pt x="390" y="564"/>
                    <a:pt x="390" y="564"/>
                  </a:cubicBezTo>
                  <a:cubicBezTo>
                    <a:pt x="377" y="564"/>
                    <a:pt x="368" y="574"/>
                    <a:pt x="368" y="586"/>
                  </a:cubicBezTo>
                  <a:cubicBezTo>
                    <a:pt x="368" y="701"/>
                    <a:pt x="368" y="701"/>
                    <a:pt x="368" y="701"/>
                  </a:cubicBezTo>
                  <a:cubicBezTo>
                    <a:pt x="368" y="713"/>
                    <a:pt x="377" y="723"/>
                    <a:pt x="390" y="723"/>
                  </a:cubicBezTo>
                  <a:cubicBezTo>
                    <a:pt x="504" y="723"/>
                    <a:pt x="504" y="723"/>
                    <a:pt x="504" y="723"/>
                  </a:cubicBezTo>
                  <a:cubicBezTo>
                    <a:pt x="516" y="723"/>
                    <a:pt x="526" y="713"/>
                    <a:pt x="526" y="701"/>
                  </a:cubicBezTo>
                  <a:cubicBezTo>
                    <a:pt x="526" y="586"/>
                    <a:pt x="526" y="586"/>
                    <a:pt x="526" y="586"/>
                  </a:cubicBezTo>
                  <a:cubicBezTo>
                    <a:pt x="526" y="574"/>
                    <a:pt x="516" y="564"/>
                    <a:pt x="504" y="564"/>
                  </a:cubicBezTo>
                  <a:moveTo>
                    <a:pt x="758" y="347"/>
                  </a:moveTo>
                  <a:cubicBezTo>
                    <a:pt x="600" y="347"/>
                    <a:pt x="600" y="347"/>
                    <a:pt x="600" y="347"/>
                  </a:cubicBezTo>
                  <a:cubicBezTo>
                    <a:pt x="588" y="347"/>
                    <a:pt x="578" y="357"/>
                    <a:pt x="578" y="369"/>
                  </a:cubicBezTo>
                  <a:cubicBezTo>
                    <a:pt x="578" y="527"/>
                    <a:pt x="578" y="527"/>
                    <a:pt x="578" y="527"/>
                  </a:cubicBezTo>
                  <a:cubicBezTo>
                    <a:pt x="578" y="539"/>
                    <a:pt x="588" y="549"/>
                    <a:pt x="600" y="549"/>
                  </a:cubicBezTo>
                  <a:cubicBezTo>
                    <a:pt x="758" y="549"/>
                    <a:pt x="758" y="549"/>
                    <a:pt x="758" y="549"/>
                  </a:cubicBezTo>
                  <a:cubicBezTo>
                    <a:pt x="770" y="549"/>
                    <a:pt x="780" y="539"/>
                    <a:pt x="780" y="527"/>
                  </a:cubicBezTo>
                  <a:cubicBezTo>
                    <a:pt x="780" y="369"/>
                    <a:pt x="780" y="369"/>
                    <a:pt x="780" y="369"/>
                  </a:cubicBezTo>
                  <a:cubicBezTo>
                    <a:pt x="780" y="357"/>
                    <a:pt x="770" y="347"/>
                    <a:pt x="758" y="347"/>
                  </a:cubicBezTo>
                  <a:moveTo>
                    <a:pt x="600" y="593"/>
                  </a:moveTo>
                  <a:cubicBezTo>
                    <a:pt x="589" y="593"/>
                    <a:pt x="579" y="590"/>
                    <a:pt x="570" y="586"/>
                  </a:cubicBezTo>
                  <a:cubicBezTo>
                    <a:pt x="570" y="586"/>
                    <a:pt x="570" y="586"/>
                    <a:pt x="570" y="586"/>
                  </a:cubicBezTo>
                  <a:cubicBezTo>
                    <a:pt x="570" y="701"/>
                    <a:pt x="570" y="701"/>
                    <a:pt x="570" y="701"/>
                  </a:cubicBezTo>
                  <a:cubicBezTo>
                    <a:pt x="570" y="737"/>
                    <a:pt x="541" y="767"/>
                    <a:pt x="504" y="767"/>
                  </a:cubicBezTo>
                  <a:cubicBezTo>
                    <a:pt x="390" y="767"/>
                    <a:pt x="390" y="767"/>
                    <a:pt x="390" y="767"/>
                  </a:cubicBezTo>
                  <a:cubicBezTo>
                    <a:pt x="353" y="767"/>
                    <a:pt x="324" y="737"/>
                    <a:pt x="324" y="701"/>
                  </a:cubicBezTo>
                  <a:cubicBezTo>
                    <a:pt x="324" y="586"/>
                    <a:pt x="324" y="586"/>
                    <a:pt x="324" y="586"/>
                  </a:cubicBezTo>
                  <a:cubicBezTo>
                    <a:pt x="324" y="550"/>
                    <a:pt x="353" y="520"/>
                    <a:pt x="390" y="520"/>
                  </a:cubicBezTo>
                  <a:cubicBezTo>
                    <a:pt x="504" y="520"/>
                    <a:pt x="504" y="520"/>
                    <a:pt x="504" y="520"/>
                  </a:cubicBezTo>
                  <a:cubicBezTo>
                    <a:pt x="515" y="520"/>
                    <a:pt x="525" y="523"/>
                    <a:pt x="534" y="528"/>
                  </a:cubicBezTo>
                  <a:cubicBezTo>
                    <a:pt x="534" y="527"/>
                    <a:pt x="534" y="527"/>
                    <a:pt x="534" y="527"/>
                  </a:cubicBezTo>
                  <a:cubicBezTo>
                    <a:pt x="534" y="369"/>
                    <a:pt x="534" y="369"/>
                    <a:pt x="534" y="369"/>
                  </a:cubicBezTo>
                  <a:cubicBezTo>
                    <a:pt x="534" y="333"/>
                    <a:pt x="564" y="303"/>
                    <a:pt x="600" y="303"/>
                  </a:cubicBezTo>
                  <a:cubicBezTo>
                    <a:pt x="638" y="303"/>
                    <a:pt x="638" y="303"/>
                    <a:pt x="638" y="303"/>
                  </a:cubicBezTo>
                  <a:cubicBezTo>
                    <a:pt x="638" y="115"/>
                    <a:pt x="638" y="115"/>
                    <a:pt x="638" y="115"/>
                  </a:cubicBezTo>
                  <a:cubicBezTo>
                    <a:pt x="638" y="110"/>
                    <a:pt x="634" y="105"/>
                    <a:pt x="628" y="105"/>
                  </a:cubicBezTo>
                  <a:cubicBezTo>
                    <a:pt x="10" y="105"/>
                    <a:pt x="10" y="105"/>
                    <a:pt x="10" y="105"/>
                  </a:cubicBezTo>
                  <a:cubicBezTo>
                    <a:pt x="4" y="105"/>
                    <a:pt x="0" y="110"/>
                    <a:pt x="0" y="115"/>
                  </a:cubicBezTo>
                  <a:cubicBezTo>
                    <a:pt x="0" y="1092"/>
                    <a:pt x="0" y="1092"/>
                    <a:pt x="0" y="1092"/>
                  </a:cubicBezTo>
                  <a:cubicBezTo>
                    <a:pt x="0" y="1098"/>
                    <a:pt x="4" y="1102"/>
                    <a:pt x="10" y="1102"/>
                  </a:cubicBezTo>
                  <a:cubicBezTo>
                    <a:pt x="628" y="1102"/>
                    <a:pt x="628" y="1102"/>
                    <a:pt x="628" y="1102"/>
                  </a:cubicBezTo>
                  <a:cubicBezTo>
                    <a:pt x="634" y="1102"/>
                    <a:pt x="638" y="1098"/>
                    <a:pt x="638" y="1092"/>
                  </a:cubicBezTo>
                  <a:cubicBezTo>
                    <a:pt x="638" y="593"/>
                    <a:pt x="638" y="593"/>
                    <a:pt x="638" y="593"/>
                  </a:cubicBezTo>
                  <a:lnTo>
                    <a:pt x="600" y="593"/>
                  </a:lnTo>
                  <a:close/>
                  <a:moveTo>
                    <a:pt x="1095" y="105"/>
                  </a:moveTo>
                  <a:cubicBezTo>
                    <a:pt x="896" y="105"/>
                    <a:pt x="896" y="105"/>
                    <a:pt x="896" y="105"/>
                  </a:cubicBezTo>
                  <a:cubicBezTo>
                    <a:pt x="884" y="105"/>
                    <a:pt x="874" y="115"/>
                    <a:pt x="874" y="127"/>
                  </a:cubicBezTo>
                  <a:cubicBezTo>
                    <a:pt x="874" y="326"/>
                    <a:pt x="874" y="326"/>
                    <a:pt x="874" y="326"/>
                  </a:cubicBezTo>
                  <a:cubicBezTo>
                    <a:pt x="874" y="338"/>
                    <a:pt x="884" y="348"/>
                    <a:pt x="896" y="348"/>
                  </a:cubicBezTo>
                  <a:cubicBezTo>
                    <a:pt x="1095" y="348"/>
                    <a:pt x="1095" y="348"/>
                    <a:pt x="1095" y="348"/>
                  </a:cubicBezTo>
                  <a:cubicBezTo>
                    <a:pt x="1107" y="348"/>
                    <a:pt x="1117" y="338"/>
                    <a:pt x="1117" y="326"/>
                  </a:cubicBezTo>
                  <a:cubicBezTo>
                    <a:pt x="1117" y="127"/>
                    <a:pt x="1117" y="127"/>
                    <a:pt x="1117" y="127"/>
                  </a:cubicBezTo>
                  <a:cubicBezTo>
                    <a:pt x="1117" y="115"/>
                    <a:pt x="1107" y="105"/>
                    <a:pt x="1095" y="105"/>
                  </a:cubicBezTo>
                  <a:moveTo>
                    <a:pt x="1493" y="496"/>
                  </a:moveTo>
                  <a:cubicBezTo>
                    <a:pt x="1493" y="222"/>
                    <a:pt x="1493" y="222"/>
                    <a:pt x="1493" y="222"/>
                  </a:cubicBezTo>
                  <a:cubicBezTo>
                    <a:pt x="1493" y="210"/>
                    <a:pt x="1483" y="200"/>
                    <a:pt x="1471" y="200"/>
                  </a:cubicBezTo>
                  <a:cubicBezTo>
                    <a:pt x="1197" y="200"/>
                    <a:pt x="1197" y="200"/>
                    <a:pt x="1197" y="200"/>
                  </a:cubicBezTo>
                  <a:cubicBezTo>
                    <a:pt x="1185" y="200"/>
                    <a:pt x="1175" y="210"/>
                    <a:pt x="1175" y="222"/>
                  </a:cubicBezTo>
                  <a:cubicBezTo>
                    <a:pt x="1175" y="496"/>
                    <a:pt x="1175" y="496"/>
                    <a:pt x="1175" y="496"/>
                  </a:cubicBezTo>
                  <a:cubicBezTo>
                    <a:pt x="1175" y="508"/>
                    <a:pt x="1185" y="518"/>
                    <a:pt x="1197" y="518"/>
                  </a:cubicBezTo>
                  <a:cubicBezTo>
                    <a:pt x="1471" y="518"/>
                    <a:pt x="1471" y="518"/>
                    <a:pt x="1471" y="518"/>
                  </a:cubicBezTo>
                  <a:cubicBezTo>
                    <a:pt x="1483" y="518"/>
                    <a:pt x="1493" y="508"/>
                    <a:pt x="1493" y="496"/>
                  </a:cubicBezTo>
                  <a:close/>
                  <a:moveTo>
                    <a:pt x="1117" y="667"/>
                  </a:moveTo>
                  <a:cubicBezTo>
                    <a:pt x="1117" y="431"/>
                    <a:pt x="1117" y="431"/>
                    <a:pt x="1117" y="431"/>
                  </a:cubicBezTo>
                  <a:cubicBezTo>
                    <a:pt x="1117" y="419"/>
                    <a:pt x="1107" y="409"/>
                    <a:pt x="1095" y="409"/>
                  </a:cubicBezTo>
                  <a:cubicBezTo>
                    <a:pt x="860" y="409"/>
                    <a:pt x="860" y="409"/>
                    <a:pt x="860" y="409"/>
                  </a:cubicBezTo>
                  <a:cubicBezTo>
                    <a:pt x="848" y="409"/>
                    <a:pt x="838" y="419"/>
                    <a:pt x="838" y="431"/>
                  </a:cubicBezTo>
                  <a:cubicBezTo>
                    <a:pt x="838" y="667"/>
                    <a:pt x="838" y="667"/>
                    <a:pt x="838" y="667"/>
                  </a:cubicBezTo>
                  <a:cubicBezTo>
                    <a:pt x="838" y="679"/>
                    <a:pt x="848" y="689"/>
                    <a:pt x="860" y="689"/>
                  </a:cubicBezTo>
                  <a:cubicBezTo>
                    <a:pt x="1095" y="689"/>
                    <a:pt x="1095" y="689"/>
                    <a:pt x="1095" y="689"/>
                  </a:cubicBezTo>
                  <a:cubicBezTo>
                    <a:pt x="1107" y="689"/>
                    <a:pt x="1117" y="679"/>
                    <a:pt x="1117" y="66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11">
              <a:extLst>
                <a:ext uri="{FF2B5EF4-FFF2-40B4-BE49-F238E27FC236}">
                  <a16:creationId xmlns:a16="http://schemas.microsoft.com/office/drawing/2014/main" id="{A72716F6-B268-4721-8EE7-12CA4D82670F}"/>
                </a:ext>
              </a:extLst>
            </p:cNvPr>
            <p:cNvSpPr>
              <a:spLocks noEditPoints="1"/>
            </p:cNvSpPr>
            <p:nvPr/>
          </p:nvSpPr>
          <p:spPr bwMode="auto">
            <a:xfrm>
              <a:off x="2574" y="728"/>
              <a:ext cx="1509" cy="2865"/>
            </a:xfrm>
            <a:custGeom>
              <a:avLst/>
              <a:gdLst>
                <a:gd name="T0" fmla="*/ 762 w 806"/>
                <a:gd name="T1" fmla="*/ 695 h 1528"/>
                <a:gd name="T2" fmla="*/ 762 w 806"/>
                <a:gd name="T3" fmla="*/ 1252 h 1528"/>
                <a:gd name="T4" fmla="*/ 44 w 806"/>
                <a:gd name="T5" fmla="*/ 1252 h 1528"/>
                <a:gd name="T6" fmla="*/ 44 w 806"/>
                <a:gd name="T7" fmla="*/ 44 h 1528"/>
                <a:gd name="T8" fmla="*/ 762 w 806"/>
                <a:gd name="T9" fmla="*/ 44 h 1528"/>
                <a:gd name="T10" fmla="*/ 762 w 806"/>
                <a:gd name="T11" fmla="*/ 405 h 1528"/>
                <a:gd name="T12" fmla="*/ 806 w 806"/>
                <a:gd name="T13" fmla="*/ 405 h 1528"/>
                <a:gd name="T14" fmla="*/ 806 w 806"/>
                <a:gd name="T15" fmla="*/ 22 h 1528"/>
                <a:gd name="T16" fmla="*/ 784 w 806"/>
                <a:gd name="T17" fmla="*/ 0 h 1528"/>
                <a:gd name="T18" fmla="*/ 22 w 806"/>
                <a:gd name="T19" fmla="*/ 0 h 1528"/>
                <a:gd name="T20" fmla="*/ 0 w 806"/>
                <a:gd name="T21" fmla="*/ 22 h 1528"/>
                <a:gd name="T22" fmla="*/ 0 w 806"/>
                <a:gd name="T23" fmla="*/ 1252 h 1528"/>
                <a:gd name="T24" fmla="*/ 0 w 806"/>
                <a:gd name="T25" fmla="*/ 1296 h 1528"/>
                <a:gd name="T26" fmla="*/ 0 w 806"/>
                <a:gd name="T27" fmla="*/ 1506 h 1528"/>
                <a:gd name="T28" fmla="*/ 22 w 806"/>
                <a:gd name="T29" fmla="*/ 1528 h 1528"/>
                <a:gd name="T30" fmla="*/ 784 w 806"/>
                <a:gd name="T31" fmla="*/ 1528 h 1528"/>
                <a:gd name="T32" fmla="*/ 806 w 806"/>
                <a:gd name="T33" fmla="*/ 1506 h 1528"/>
                <a:gd name="T34" fmla="*/ 806 w 806"/>
                <a:gd name="T35" fmla="*/ 1296 h 1528"/>
                <a:gd name="T36" fmla="*/ 806 w 806"/>
                <a:gd name="T37" fmla="*/ 1252 h 1528"/>
                <a:gd name="T38" fmla="*/ 806 w 806"/>
                <a:gd name="T39" fmla="*/ 695 h 1528"/>
                <a:gd name="T40" fmla="*/ 762 w 806"/>
                <a:gd name="T41" fmla="*/ 695 h 1528"/>
                <a:gd name="T42" fmla="*/ 762 w 806"/>
                <a:gd name="T43" fmla="*/ 1484 h 1528"/>
                <a:gd name="T44" fmla="*/ 44 w 806"/>
                <a:gd name="T45" fmla="*/ 1484 h 1528"/>
                <a:gd name="T46" fmla="*/ 44 w 806"/>
                <a:gd name="T47" fmla="*/ 1296 h 1528"/>
                <a:gd name="T48" fmla="*/ 762 w 806"/>
                <a:gd name="T49" fmla="*/ 1296 h 1528"/>
                <a:gd name="T50" fmla="*/ 762 w 806"/>
                <a:gd name="T51" fmla="*/ 1484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06" h="1528">
                  <a:moveTo>
                    <a:pt x="762" y="695"/>
                  </a:moveTo>
                  <a:cubicBezTo>
                    <a:pt x="762" y="1252"/>
                    <a:pt x="762" y="1252"/>
                    <a:pt x="762" y="1252"/>
                  </a:cubicBezTo>
                  <a:cubicBezTo>
                    <a:pt x="44" y="1252"/>
                    <a:pt x="44" y="1252"/>
                    <a:pt x="44" y="1252"/>
                  </a:cubicBezTo>
                  <a:cubicBezTo>
                    <a:pt x="44" y="44"/>
                    <a:pt x="44" y="44"/>
                    <a:pt x="44" y="44"/>
                  </a:cubicBezTo>
                  <a:cubicBezTo>
                    <a:pt x="762" y="44"/>
                    <a:pt x="762" y="44"/>
                    <a:pt x="762" y="44"/>
                  </a:cubicBezTo>
                  <a:cubicBezTo>
                    <a:pt x="762" y="405"/>
                    <a:pt x="762" y="405"/>
                    <a:pt x="762" y="405"/>
                  </a:cubicBezTo>
                  <a:cubicBezTo>
                    <a:pt x="806" y="405"/>
                    <a:pt x="806" y="405"/>
                    <a:pt x="806" y="405"/>
                  </a:cubicBezTo>
                  <a:cubicBezTo>
                    <a:pt x="806" y="22"/>
                    <a:pt x="806" y="22"/>
                    <a:pt x="806" y="22"/>
                  </a:cubicBezTo>
                  <a:cubicBezTo>
                    <a:pt x="806" y="10"/>
                    <a:pt x="796" y="0"/>
                    <a:pt x="784" y="0"/>
                  </a:cubicBezTo>
                  <a:cubicBezTo>
                    <a:pt x="22" y="0"/>
                    <a:pt x="22" y="0"/>
                    <a:pt x="22" y="0"/>
                  </a:cubicBezTo>
                  <a:cubicBezTo>
                    <a:pt x="10" y="0"/>
                    <a:pt x="0" y="10"/>
                    <a:pt x="0" y="22"/>
                  </a:cubicBezTo>
                  <a:cubicBezTo>
                    <a:pt x="0" y="1252"/>
                    <a:pt x="0" y="1252"/>
                    <a:pt x="0" y="1252"/>
                  </a:cubicBezTo>
                  <a:cubicBezTo>
                    <a:pt x="0" y="1296"/>
                    <a:pt x="0" y="1296"/>
                    <a:pt x="0" y="1296"/>
                  </a:cubicBezTo>
                  <a:cubicBezTo>
                    <a:pt x="0" y="1506"/>
                    <a:pt x="0" y="1506"/>
                    <a:pt x="0" y="1506"/>
                  </a:cubicBezTo>
                  <a:cubicBezTo>
                    <a:pt x="0" y="1518"/>
                    <a:pt x="10" y="1528"/>
                    <a:pt x="22" y="1528"/>
                  </a:cubicBezTo>
                  <a:cubicBezTo>
                    <a:pt x="784" y="1528"/>
                    <a:pt x="784" y="1528"/>
                    <a:pt x="784" y="1528"/>
                  </a:cubicBezTo>
                  <a:cubicBezTo>
                    <a:pt x="796" y="1528"/>
                    <a:pt x="806" y="1518"/>
                    <a:pt x="806" y="1506"/>
                  </a:cubicBezTo>
                  <a:cubicBezTo>
                    <a:pt x="806" y="1296"/>
                    <a:pt x="806" y="1296"/>
                    <a:pt x="806" y="1296"/>
                  </a:cubicBezTo>
                  <a:cubicBezTo>
                    <a:pt x="806" y="1252"/>
                    <a:pt x="806" y="1252"/>
                    <a:pt x="806" y="1252"/>
                  </a:cubicBezTo>
                  <a:cubicBezTo>
                    <a:pt x="806" y="695"/>
                    <a:pt x="806" y="695"/>
                    <a:pt x="806" y="695"/>
                  </a:cubicBezTo>
                  <a:lnTo>
                    <a:pt x="762" y="695"/>
                  </a:lnTo>
                  <a:close/>
                  <a:moveTo>
                    <a:pt x="762" y="1484"/>
                  </a:moveTo>
                  <a:cubicBezTo>
                    <a:pt x="44" y="1484"/>
                    <a:pt x="44" y="1484"/>
                    <a:pt x="44" y="1484"/>
                  </a:cubicBezTo>
                  <a:cubicBezTo>
                    <a:pt x="44" y="1296"/>
                    <a:pt x="44" y="1296"/>
                    <a:pt x="44" y="1296"/>
                  </a:cubicBezTo>
                  <a:cubicBezTo>
                    <a:pt x="762" y="1296"/>
                    <a:pt x="762" y="1296"/>
                    <a:pt x="762" y="1296"/>
                  </a:cubicBezTo>
                  <a:lnTo>
                    <a:pt x="762" y="148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7" name="Group 66">
            <a:extLst>
              <a:ext uri="{FF2B5EF4-FFF2-40B4-BE49-F238E27FC236}">
                <a16:creationId xmlns:a16="http://schemas.microsoft.com/office/drawing/2014/main" id="{019B8AA8-A19D-4F03-9799-7589EFBE68E9}"/>
              </a:ext>
            </a:extLst>
          </p:cNvPr>
          <p:cNvGrpSpPr>
            <a:grpSpLocks noChangeAspect="1"/>
          </p:cNvGrpSpPr>
          <p:nvPr/>
        </p:nvGrpSpPr>
        <p:grpSpPr>
          <a:xfrm>
            <a:off x="8777117" y="1931559"/>
            <a:ext cx="693556" cy="693556"/>
            <a:chOff x="5273675" y="2606675"/>
            <a:chExt cx="1644650" cy="1644650"/>
          </a:xfrm>
        </p:grpSpPr>
        <p:sp>
          <p:nvSpPr>
            <p:cNvPr id="68" name="AutoShape 3">
              <a:extLst>
                <a:ext uri="{FF2B5EF4-FFF2-40B4-BE49-F238E27FC236}">
                  <a16:creationId xmlns:a16="http://schemas.microsoft.com/office/drawing/2014/main" id="{0D5E2188-F85C-4D7D-AD2A-702EC96CDEDE}"/>
                </a:ext>
              </a:extLst>
            </p:cNvPr>
            <p:cNvSpPr>
              <a:spLocks noChangeAspect="1" noChangeArrowheads="1" noTextEdit="1"/>
            </p:cNvSpPr>
            <p:nvPr/>
          </p:nvSpPr>
          <p:spPr bwMode="auto">
            <a:xfrm>
              <a:off x="5273675" y="2606675"/>
              <a:ext cx="1644650"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69" name="Group 68">
              <a:extLst>
                <a:ext uri="{FF2B5EF4-FFF2-40B4-BE49-F238E27FC236}">
                  <a16:creationId xmlns:a16="http://schemas.microsoft.com/office/drawing/2014/main" id="{5CAB12EF-F27A-4358-97D8-65DBF31C83D7}"/>
                </a:ext>
              </a:extLst>
            </p:cNvPr>
            <p:cNvGrpSpPr/>
            <p:nvPr/>
          </p:nvGrpSpPr>
          <p:grpSpPr>
            <a:xfrm>
              <a:off x="5435601" y="2782802"/>
              <a:ext cx="1312862" cy="1293982"/>
              <a:chOff x="5435601" y="2782802"/>
              <a:chExt cx="1312862" cy="1293982"/>
            </a:xfrm>
          </p:grpSpPr>
          <p:sp>
            <p:nvSpPr>
              <p:cNvPr id="70" name="Freeform 21">
                <a:extLst>
                  <a:ext uri="{FF2B5EF4-FFF2-40B4-BE49-F238E27FC236}">
                    <a16:creationId xmlns:a16="http://schemas.microsoft.com/office/drawing/2014/main" id="{899788CD-D0D0-440C-AF7E-8D5CC9203CBE}"/>
                  </a:ext>
                </a:extLst>
              </p:cNvPr>
              <p:cNvSpPr>
                <a:spLocks/>
              </p:cNvSpPr>
              <p:nvPr/>
            </p:nvSpPr>
            <p:spPr bwMode="auto">
              <a:xfrm>
                <a:off x="5435601" y="2782802"/>
                <a:ext cx="1312862" cy="1293982"/>
              </a:xfrm>
              <a:custGeom>
                <a:avLst/>
                <a:gdLst>
                  <a:gd name="connsiteX0" fmla="*/ 292611 w 1312862"/>
                  <a:gd name="connsiteY0" fmla="*/ 935122 h 1293982"/>
                  <a:gd name="connsiteX1" fmla="*/ 286175 w 1312862"/>
                  <a:gd name="connsiteY1" fmla="*/ 935836 h 1293982"/>
                  <a:gd name="connsiteX2" fmla="*/ 274733 w 1312862"/>
                  <a:gd name="connsiteY2" fmla="*/ 937265 h 1293982"/>
                  <a:gd name="connsiteX3" fmla="*/ 241838 w 1312862"/>
                  <a:gd name="connsiteY3" fmla="*/ 948692 h 1293982"/>
                  <a:gd name="connsiteX4" fmla="*/ 30163 w 1312862"/>
                  <a:gd name="connsiteY4" fmla="*/ 1069391 h 1293982"/>
                  <a:gd name="connsiteX5" fmla="*/ 30163 w 1312862"/>
                  <a:gd name="connsiteY5" fmla="*/ 1255797 h 1293982"/>
                  <a:gd name="connsiteX6" fmla="*/ 248989 w 1312862"/>
                  <a:gd name="connsiteY6" fmla="*/ 1171522 h 1293982"/>
                  <a:gd name="connsiteX7" fmla="*/ 310489 w 1312862"/>
                  <a:gd name="connsiteY7" fmla="*/ 1160095 h 1293982"/>
                  <a:gd name="connsiteX8" fmla="*/ 322646 w 1312862"/>
                  <a:gd name="connsiteY8" fmla="*/ 1160809 h 1293982"/>
                  <a:gd name="connsiteX9" fmla="*/ 410605 w 1312862"/>
                  <a:gd name="connsiteY9" fmla="*/ 1167237 h 1293982"/>
                  <a:gd name="connsiteX10" fmla="*/ 444931 w 1312862"/>
                  <a:gd name="connsiteY10" fmla="*/ 1167951 h 1293982"/>
                  <a:gd name="connsiteX11" fmla="*/ 587954 w 1312862"/>
                  <a:gd name="connsiteY11" fmla="*/ 1146525 h 1293982"/>
                  <a:gd name="connsiteX12" fmla="*/ 597251 w 1312862"/>
                  <a:gd name="connsiteY12" fmla="*/ 1143668 h 1293982"/>
                  <a:gd name="connsiteX13" fmla="*/ 751716 w 1312862"/>
                  <a:gd name="connsiteY13" fmla="*/ 1040823 h 1293982"/>
                  <a:gd name="connsiteX14" fmla="*/ 785327 w 1312862"/>
                  <a:gd name="connsiteY14" fmla="*/ 1001543 h 1293982"/>
                  <a:gd name="connsiteX15" fmla="*/ 783181 w 1312862"/>
                  <a:gd name="connsiteY15" fmla="*/ 962262 h 1293982"/>
                  <a:gd name="connsiteX16" fmla="*/ 763873 w 1312862"/>
                  <a:gd name="connsiteY16" fmla="*/ 955120 h 1293982"/>
                  <a:gd name="connsiteX17" fmla="*/ 743135 w 1312862"/>
                  <a:gd name="connsiteY17" fmla="*/ 964404 h 1293982"/>
                  <a:gd name="connsiteX18" fmla="*/ 737414 w 1312862"/>
                  <a:gd name="connsiteY18" fmla="*/ 970832 h 1293982"/>
                  <a:gd name="connsiteX19" fmla="*/ 708094 w 1312862"/>
                  <a:gd name="connsiteY19" fmla="*/ 1004399 h 1293982"/>
                  <a:gd name="connsiteX20" fmla="*/ 678774 w 1312862"/>
                  <a:gd name="connsiteY20" fmla="*/ 1031539 h 1293982"/>
                  <a:gd name="connsiteX21" fmla="*/ 668763 w 1312862"/>
                  <a:gd name="connsiteY21" fmla="*/ 1039395 h 1293982"/>
                  <a:gd name="connsiteX22" fmla="*/ 644449 w 1312862"/>
                  <a:gd name="connsiteY22" fmla="*/ 1054393 h 1293982"/>
                  <a:gd name="connsiteX23" fmla="*/ 594390 w 1312862"/>
                  <a:gd name="connsiteY23" fmla="*/ 1075105 h 1293982"/>
                  <a:gd name="connsiteX24" fmla="*/ 589385 w 1312862"/>
                  <a:gd name="connsiteY24" fmla="*/ 1076533 h 1293982"/>
                  <a:gd name="connsiteX25" fmla="*/ 529315 w 1312862"/>
                  <a:gd name="connsiteY25" fmla="*/ 1084390 h 1293982"/>
                  <a:gd name="connsiteX26" fmla="*/ 527169 w 1312862"/>
                  <a:gd name="connsiteY26" fmla="*/ 1084390 h 1293982"/>
                  <a:gd name="connsiteX27" fmla="*/ 489983 w 1312862"/>
                  <a:gd name="connsiteY27" fmla="*/ 1080819 h 1293982"/>
                  <a:gd name="connsiteX28" fmla="*/ 446361 w 1312862"/>
                  <a:gd name="connsiteY28" fmla="*/ 1068677 h 1293982"/>
                  <a:gd name="connsiteX29" fmla="*/ 427768 w 1312862"/>
                  <a:gd name="connsiteY29" fmla="*/ 1060821 h 1293982"/>
                  <a:gd name="connsiteX30" fmla="*/ 409175 w 1312862"/>
                  <a:gd name="connsiteY30" fmla="*/ 1034396 h 1293982"/>
                  <a:gd name="connsiteX31" fmla="*/ 409175 w 1312862"/>
                  <a:gd name="connsiteY31" fmla="*/ 1032967 h 1293982"/>
                  <a:gd name="connsiteX32" fmla="*/ 409175 w 1312862"/>
                  <a:gd name="connsiteY32" fmla="*/ 1029396 h 1293982"/>
                  <a:gd name="connsiteX33" fmla="*/ 410605 w 1312862"/>
                  <a:gd name="connsiteY33" fmla="*/ 1022969 h 1293982"/>
                  <a:gd name="connsiteX34" fmla="*/ 411321 w 1312862"/>
                  <a:gd name="connsiteY34" fmla="*/ 1020826 h 1293982"/>
                  <a:gd name="connsiteX35" fmla="*/ 417041 w 1312862"/>
                  <a:gd name="connsiteY35" fmla="*/ 1012970 h 1293982"/>
                  <a:gd name="connsiteX36" fmla="*/ 418472 w 1312862"/>
                  <a:gd name="connsiteY36" fmla="*/ 1011541 h 1293982"/>
                  <a:gd name="connsiteX37" fmla="*/ 436350 w 1312862"/>
                  <a:gd name="connsiteY37" fmla="*/ 1003685 h 1293982"/>
                  <a:gd name="connsiteX38" fmla="*/ 523594 w 1312862"/>
                  <a:gd name="connsiteY38" fmla="*/ 995115 h 1293982"/>
                  <a:gd name="connsiteX39" fmla="*/ 543617 w 1312862"/>
                  <a:gd name="connsiteY39" fmla="*/ 980117 h 1293982"/>
                  <a:gd name="connsiteX40" fmla="*/ 545762 w 1312862"/>
                  <a:gd name="connsiteY40" fmla="*/ 970832 h 1293982"/>
                  <a:gd name="connsiteX41" fmla="*/ 522879 w 1312862"/>
                  <a:gd name="connsiteY41" fmla="*/ 947263 h 1293982"/>
                  <a:gd name="connsiteX42" fmla="*/ 331227 w 1312862"/>
                  <a:gd name="connsiteY42" fmla="*/ 937265 h 1293982"/>
                  <a:gd name="connsiteX43" fmla="*/ 322646 w 1312862"/>
                  <a:gd name="connsiteY43" fmla="*/ 936551 h 1293982"/>
                  <a:gd name="connsiteX44" fmla="*/ 309774 w 1312862"/>
                  <a:gd name="connsiteY44" fmla="*/ 935836 h 1293982"/>
                  <a:gd name="connsiteX45" fmla="*/ 298332 w 1312862"/>
                  <a:gd name="connsiteY45" fmla="*/ 935836 h 1293982"/>
                  <a:gd name="connsiteX46" fmla="*/ 297617 w 1312862"/>
                  <a:gd name="connsiteY46" fmla="*/ 935836 h 1293982"/>
                  <a:gd name="connsiteX47" fmla="*/ 292611 w 1312862"/>
                  <a:gd name="connsiteY47" fmla="*/ 935122 h 1293982"/>
                  <a:gd name="connsiteX48" fmla="*/ 293046 w 1312862"/>
                  <a:gd name="connsiteY48" fmla="*/ 903372 h 1293982"/>
                  <a:gd name="connsiteX49" fmla="*/ 299463 w 1312862"/>
                  <a:gd name="connsiteY49" fmla="*/ 904085 h 1293982"/>
                  <a:gd name="connsiteX50" fmla="*/ 300889 w 1312862"/>
                  <a:gd name="connsiteY50" fmla="*/ 904085 h 1293982"/>
                  <a:gd name="connsiteX51" fmla="*/ 524060 w 1312862"/>
                  <a:gd name="connsiteY51" fmla="*/ 915497 h 1293982"/>
                  <a:gd name="connsiteX52" fmla="*/ 576823 w 1312862"/>
                  <a:gd name="connsiteY52" fmla="*/ 970415 h 1293982"/>
                  <a:gd name="connsiteX53" fmla="*/ 572545 w 1312862"/>
                  <a:gd name="connsiteY53" fmla="*/ 991099 h 1293982"/>
                  <a:gd name="connsiteX54" fmla="*/ 526912 w 1312862"/>
                  <a:gd name="connsiteY54" fmla="*/ 1026047 h 1293982"/>
                  <a:gd name="connsiteX55" fmla="*/ 444917 w 1312862"/>
                  <a:gd name="connsiteY55" fmla="*/ 1033892 h 1293982"/>
                  <a:gd name="connsiteX56" fmla="*/ 457751 w 1312862"/>
                  <a:gd name="connsiteY56" fmla="*/ 1038885 h 1293982"/>
                  <a:gd name="connsiteX57" fmla="*/ 495540 w 1312862"/>
                  <a:gd name="connsiteY57" fmla="*/ 1049583 h 1293982"/>
                  <a:gd name="connsiteX58" fmla="*/ 526912 w 1312862"/>
                  <a:gd name="connsiteY58" fmla="*/ 1052436 h 1293982"/>
                  <a:gd name="connsiteX59" fmla="*/ 529051 w 1312862"/>
                  <a:gd name="connsiteY59" fmla="*/ 1052436 h 1293982"/>
                  <a:gd name="connsiteX60" fmla="*/ 580388 w 1312862"/>
                  <a:gd name="connsiteY60" fmla="*/ 1045304 h 1293982"/>
                  <a:gd name="connsiteX61" fmla="*/ 585379 w 1312862"/>
                  <a:gd name="connsiteY61" fmla="*/ 1044591 h 1293982"/>
                  <a:gd name="connsiteX62" fmla="*/ 628872 w 1312862"/>
                  <a:gd name="connsiteY62" fmla="*/ 1026760 h 1293982"/>
                  <a:gd name="connsiteX63" fmla="*/ 649550 w 1312862"/>
                  <a:gd name="connsiteY63" fmla="*/ 1013209 h 1293982"/>
                  <a:gd name="connsiteX64" fmla="*/ 658819 w 1312862"/>
                  <a:gd name="connsiteY64" fmla="*/ 1006790 h 1293982"/>
                  <a:gd name="connsiteX65" fmla="*/ 683774 w 1312862"/>
                  <a:gd name="connsiteY65" fmla="*/ 982540 h 1293982"/>
                  <a:gd name="connsiteX66" fmla="*/ 718711 w 1312862"/>
                  <a:gd name="connsiteY66" fmla="*/ 943313 h 1293982"/>
                  <a:gd name="connsiteX67" fmla="*/ 762918 w 1312862"/>
                  <a:gd name="connsiteY67" fmla="*/ 923342 h 1293982"/>
                  <a:gd name="connsiteX68" fmla="*/ 807124 w 1312862"/>
                  <a:gd name="connsiteY68" fmla="*/ 942599 h 1293982"/>
                  <a:gd name="connsiteX69" fmla="*/ 807837 w 1312862"/>
                  <a:gd name="connsiteY69" fmla="*/ 1021767 h 1293982"/>
                  <a:gd name="connsiteX70" fmla="*/ 775039 w 1312862"/>
                  <a:gd name="connsiteY70" fmla="*/ 1060995 h 1293982"/>
                  <a:gd name="connsiteX71" fmla="*/ 606056 w 1312862"/>
                  <a:gd name="connsiteY71" fmla="*/ 1172971 h 1293982"/>
                  <a:gd name="connsiteX72" fmla="*/ 596787 w 1312862"/>
                  <a:gd name="connsiteY72" fmla="*/ 1175824 h 1293982"/>
                  <a:gd name="connsiteX73" fmla="*/ 444917 w 1312862"/>
                  <a:gd name="connsiteY73" fmla="*/ 1198647 h 1293982"/>
                  <a:gd name="connsiteX74" fmla="*/ 408553 w 1312862"/>
                  <a:gd name="connsiteY74" fmla="*/ 1197934 h 1293982"/>
                  <a:gd name="connsiteX75" fmla="*/ 320853 w 1312862"/>
                  <a:gd name="connsiteY75" fmla="*/ 1191515 h 1293982"/>
                  <a:gd name="connsiteX76" fmla="*/ 310871 w 1312862"/>
                  <a:gd name="connsiteY76" fmla="*/ 1190802 h 1293982"/>
                  <a:gd name="connsiteX77" fmla="*/ 260961 w 1312862"/>
                  <a:gd name="connsiteY77" fmla="*/ 1200074 h 1293982"/>
                  <a:gd name="connsiteX78" fmla="*/ 21390 w 1312862"/>
                  <a:gd name="connsiteY78" fmla="*/ 1292793 h 1293982"/>
                  <a:gd name="connsiteX79" fmla="*/ 0 w 1312862"/>
                  <a:gd name="connsiteY79" fmla="*/ 1278528 h 1293982"/>
                  <a:gd name="connsiteX80" fmla="*/ 0 w 1312862"/>
                  <a:gd name="connsiteY80" fmla="*/ 1059568 h 1293982"/>
                  <a:gd name="connsiteX81" fmla="*/ 8556 w 1312862"/>
                  <a:gd name="connsiteY81" fmla="*/ 1046017 h 1293982"/>
                  <a:gd name="connsiteX82" fmla="*/ 227449 w 1312862"/>
                  <a:gd name="connsiteY82" fmla="*/ 921203 h 1293982"/>
                  <a:gd name="connsiteX83" fmla="*/ 269517 w 1312862"/>
                  <a:gd name="connsiteY83" fmla="*/ 905512 h 1293982"/>
                  <a:gd name="connsiteX84" fmla="*/ 284490 w 1312862"/>
                  <a:gd name="connsiteY84" fmla="*/ 904085 h 1293982"/>
                  <a:gd name="connsiteX85" fmla="*/ 293046 w 1312862"/>
                  <a:gd name="connsiteY85" fmla="*/ 903372 h 1293982"/>
                  <a:gd name="connsiteX86" fmla="*/ 659587 w 1312862"/>
                  <a:gd name="connsiteY86" fmla="*/ 403310 h 1293982"/>
                  <a:gd name="connsiteX87" fmla="*/ 535978 w 1312862"/>
                  <a:gd name="connsiteY87" fmla="*/ 441853 h 1293982"/>
                  <a:gd name="connsiteX88" fmla="*/ 315912 w 1312862"/>
                  <a:gd name="connsiteY88" fmla="*/ 677394 h 1293982"/>
                  <a:gd name="connsiteX89" fmla="*/ 518116 w 1312862"/>
                  <a:gd name="connsiteY89" fmla="*/ 863685 h 1293982"/>
                  <a:gd name="connsiteX90" fmla="*/ 737468 w 1312862"/>
                  <a:gd name="connsiteY90" fmla="*/ 627431 h 1293982"/>
                  <a:gd name="connsiteX91" fmla="*/ 766762 w 1312862"/>
                  <a:gd name="connsiteY91" fmla="*/ 501095 h 1293982"/>
                  <a:gd name="connsiteX92" fmla="*/ 659587 w 1312862"/>
                  <a:gd name="connsiteY92" fmla="*/ 403310 h 1293982"/>
                  <a:gd name="connsiteX93" fmla="*/ 653979 w 1312862"/>
                  <a:gd name="connsiteY93" fmla="*/ 374574 h 1293982"/>
                  <a:gd name="connsiteX94" fmla="*/ 655407 w 1312862"/>
                  <a:gd name="connsiteY94" fmla="*/ 374574 h 1293982"/>
                  <a:gd name="connsiteX95" fmla="*/ 674683 w 1312862"/>
                  <a:gd name="connsiteY95" fmla="*/ 379569 h 1293982"/>
                  <a:gd name="connsiteX96" fmla="*/ 787484 w 1312862"/>
                  <a:gd name="connsiteY96" fmla="*/ 483027 h 1293982"/>
                  <a:gd name="connsiteX97" fmla="*/ 793909 w 1312862"/>
                  <a:gd name="connsiteY97" fmla="*/ 502292 h 1293982"/>
                  <a:gd name="connsiteX98" fmla="*/ 793909 w 1312862"/>
                  <a:gd name="connsiteY98" fmla="*/ 503006 h 1293982"/>
                  <a:gd name="connsiteX99" fmla="*/ 763210 w 1312862"/>
                  <a:gd name="connsiteY99" fmla="*/ 637859 h 1293982"/>
                  <a:gd name="connsiteX100" fmla="*/ 759641 w 1312862"/>
                  <a:gd name="connsiteY100" fmla="*/ 644280 h 1293982"/>
                  <a:gd name="connsiteX101" fmla="*/ 533324 w 1312862"/>
                  <a:gd name="connsiteY101" fmla="*/ 888300 h 1293982"/>
                  <a:gd name="connsiteX102" fmla="*/ 518332 w 1312862"/>
                  <a:gd name="connsiteY102" fmla="*/ 895435 h 1293982"/>
                  <a:gd name="connsiteX103" fmla="*/ 517618 w 1312862"/>
                  <a:gd name="connsiteY103" fmla="*/ 895435 h 1293982"/>
                  <a:gd name="connsiteX104" fmla="*/ 502625 w 1312862"/>
                  <a:gd name="connsiteY104" fmla="*/ 889727 h 1293982"/>
                  <a:gd name="connsiteX105" fmla="*/ 291302 w 1312862"/>
                  <a:gd name="connsiteY105" fmla="*/ 692799 h 1293982"/>
                  <a:gd name="connsiteX106" fmla="*/ 284162 w 1312862"/>
                  <a:gd name="connsiteY106" fmla="*/ 677815 h 1293982"/>
                  <a:gd name="connsiteX107" fmla="*/ 289874 w 1312862"/>
                  <a:gd name="connsiteY107" fmla="*/ 663545 h 1293982"/>
                  <a:gd name="connsiteX108" fmla="*/ 516190 w 1312862"/>
                  <a:gd name="connsiteY108" fmla="*/ 419525 h 1293982"/>
                  <a:gd name="connsiteX109" fmla="*/ 522615 w 1312862"/>
                  <a:gd name="connsiteY109" fmla="*/ 415244 h 1293982"/>
                  <a:gd name="connsiteX110" fmla="*/ 653979 w 1312862"/>
                  <a:gd name="connsiteY110" fmla="*/ 374574 h 1293982"/>
                  <a:gd name="connsiteX111" fmla="*/ 1281112 w 1312862"/>
                  <a:gd name="connsiteY111" fmla="*/ 38186 h 1293982"/>
                  <a:gd name="connsiteX112" fmla="*/ 1063703 w 1312862"/>
                  <a:gd name="connsiteY112" fmla="*/ 122462 h 1293982"/>
                  <a:gd name="connsiteX113" fmla="*/ 1001688 w 1312862"/>
                  <a:gd name="connsiteY113" fmla="*/ 133889 h 1293982"/>
                  <a:gd name="connsiteX114" fmla="*/ 989571 w 1312862"/>
                  <a:gd name="connsiteY114" fmla="*/ 133174 h 1293982"/>
                  <a:gd name="connsiteX115" fmla="*/ 902607 w 1312862"/>
                  <a:gd name="connsiteY115" fmla="*/ 126747 h 1293982"/>
                  <a:gd name="connsiteX116" fmla="*/ 868392 w 1312862"/>
                  <a:gd name="connsiteY116" fmla="*/ 126033 h 1293982"/>
                  <a:gd name="connsiteX117" fmla="*/ 725829 w 1312862"/>
                  <a:gd name="connsiteY117" fmla="*/ 147458 h 1293982"/>
                  <a:gd name="connsiteX118" fmla="*/ 716562 w 1312862"/>
                  <a:gd name="connsiteY118" fmla="*/ 150315 h 1293982"/>
                  <a:gd name="connsiteX119" fmla="*/ 562594 w 1312862"/>
                  <a:gd name="connsiteY119" fmla="*/ 253160 h 1293982"/>
                  <a:gd name="connsiteX120" fmla="*/ 528379 w 1312862"/>
                  <a:gd name="connsiteY120" fmla="*/ 292441 h 1293982"/>
                  <a:gd name="connsiteX121" fmla="*/ 531230 w 1312862"/>
                  <a:gd name="connsiteY121" fmla="*/ 331722 h 1293982"/>
                  <a:gd name="connsiteX122" fmla="*/ 549763 w 1312862"/>
                  <a:gd name="connsiteY122" fmla="*/ 338864 h 1293982"/>
                  <a:gd name="connsiteX123" fmla="*/ 571148 w 1312862"/>
                  <a:gd name="connsiteY123" fmla="*/ 329579 h 1293982"/>
                  <a:gd name="connsiteX124" fmla="*/ 576850 w 1312862"/>
                  <a:gd name="connsiteY124" fmla="*/ 323151 h 1293982"/>
                  <a:gd name="connsiteX125" fmla="*/ 606076 w 1312862"/>
                  <a:gd name="connsiteY125" fmla="*/ 289584 h 1293982"/>
                  <a:gd name="connsiteX126" fmla="*/ 634588 w 1312862"/>
                  <a:gd name="connsiteY126" fmla="*/ 262444 h 1293982"/>
                  <a:gd name="connsiteX127" fmla="*/ 644568 w 1312862"/>
                  <a:gd name="connsiteY127" fmla="*/ 254588 h 1293982"/>
                  <a:gd name="connsiteX128" fmla="*/ 668804 w 1312862"/>
                  <a:gd name="connsiteY128" fmla="*/ 239590 h 1293982"/>
                  <a:gd name="connsiteX129" fmla="*/ 719413 w 1312862"/>
                  <a:gd name="connsiteY129" fmla="*/ 218878 h 1293982"/>
                  <a:gd name="connsiteX130" fmla="*/ 724403 w 1312862"/>
                  <a:gd name="connsiteY130" fmla="*/ 217450 h 1293982"/>
                  <a:gd name="connsiteX131" fmla="*/ 783567 w 1312862"/>
                  <a:gd name="connsiteY131" fmla="*/ 209594 h 1293982"/>
                  <a:gd name="connsiteX132" fmla="*/ 786418 w 1312862"/>
                  <a:gd name="connsiteY132" fmla="*/ 209594 h 1293982"/>
                  <a:gd name="connsiteX133" fmla="*/ 823485 w 1312862"/>
                  <a:gd name="connsiteY133" fmla="*/ 213165 h 1293982"/>
                  <a:gd name="connsiteX134" fmla="*/ 866966 w 1312862"/>
                  <a:gd name="connsiteY134" fmla="*/ 225306 h 1293982"/>
                  <a:gd name="connsiteX135" fmla="*/ 885500 w 1312862"/>
                  <a:gd name="connsiteY135" fmla="*/ 233162 h 1293982"/>
                  <a:gd name="connsiteX136" fmla="*/ 904033 w 1312862"/>
                  <a:gd name="connsiteY136" fmla="*/ 259588 h 1293982"/>
                  <a:gd name="connsiteX137" fmla="*/ 904033 w 1312862"/>
                  <a:gd name="connsiteY137" fmla="*/ 261016 h 1293982"/>
                  <a:gd name="connsiteX138" fmla="*/ 903320 w 1312862"/>
                  <a:gd name="connsiteY138" fmla="*/ 264587 h 1293982"/>
                  <a:gd name="connsiteX139" fmla="*/ 901894 w 1312862"/>
                  <a:gd name="connsiteY139" fmla="*/ 271015 h 1293982"/>
                  <a:gd name="connsiteX140" fmla="*/ 901181 w 1312862"/>
                  <a:gd name="connsiteY140" fmla="*/ 273157 h 1293982"/>
                  <a:gd name="connsiteX141" fmla="*/ 896192 w 1312862"/>
                  <a:gd name="connsiteY141" fmla="*/ 281014 h 1293982"/>
                  <a:gd name="connsiteX142" fmla="*/ 894766 w 1312862"/>
                  <a:gd name="connsiteY142" fmla="*/ 282442 h 1293982"/>
                  <a:gd name="connsiteX143" fmla="*/ 876946 w 1312862"/>
                  <a:gd name="connsiteY143" fmla="*/ 290298 h 1293982"/>
                  <a:gd name="connsiteX144" fmla="*/ 789269 w 1312862"/>
                  <a:gd name="connsiteY144" fmla="*/ 298868 h 1293982"/>
                  <a:gd name="connsiteX145" fmla="*/ 769311 w 1312862"/>
                  <a:gd name="connsiteY145" fmla="*/ 313867 h 1293982"/>
                  <a:gd name="connsiteX146" fmla="*/ 767885 w 1312862"/>
                  <a:gd name="connsiteY146" fmla="*/ 323151 h 1293982"/>
                  <a:gd name="connsiteX147" fmla="*/ 790695 w 1312862"/>
                  <a:gd name="connsiteY147" fmla="*/ 346720 h 1293982"/>
                  <a:gd name="connsiteX148" fmla="*/ 981017 w 1312862"/>
                  <a:gd name="connsiteY148" fmla="*/ 356719 h 1293982"/>
                  <a:gd name="connsiteX149" fmla="*/ 990283 w 1312862"/>
                  <a:gd name="connsiteY149" fmla="*/ 357433 h 1293982"/>
                  <a:gd name="connsiteX150" fmla="*/ 1002401 w 1312862"/>
                  <a:gd name="connsiteY150" fmla="*/ 358147 h 1293982"/>
                  <a:gd name="connsiteX151" fmla="*/ 1014519 w 1312862"/>
                  <a:gd name="connsiteY151" fmla="*/ 358147 h 1293982"/>
                  <a:gd name="connsiteX152" fmla="*/ 1019509 w 1312862"/>
                  <a:gd name="connsiteY152" fmla="*/ 358861 h 1293982"/>
                  <a:gd name="connsiteX153" fmla="*/ 1026637 w 1312862"/>
                  <a:gd name="connsiteY153" fmla="*/ 358147 h 1293982"/>
                  <a:gd name="connsiteX154" fmla="*/ 1038042 w 1312862"/>
                  <a:gd name="connsiteY154" fmla="*/ 356719 h 1293982"/>
                  <a:gd name="connsiteX155" fmla="*/ 1070119 w 1312862"/>
                  <a:gd name="connsiteY155" fmla="*/ 345291 h 1293982"/>
                  <a:gd name="connsiteX156" fmla="*/ 1281112 w 1312862"/>
                  <a:gd name="connsiteY156" fmla="*/ 224592 h 1293982"/>
                  <a:gd name="connsiteX157" fmla="*/ 1281112 w 1312862"/>
                  <a:gd name="connsiteY157" fmla="*/ 38186 h 1293982"/>
                  <a:gd name="connsiteX158" fmla="*/ 1291431 w 1312862"/>
                  <a:gd name="connsiteY158" fmla="*/ 1190 h 1293982"/>
                  <a:gd name="connsiteX159" fmla="*/ 1312862 w 1312862"/>
                  <a:gd name="connsiteY159" fmla="*/ 15455 h 1293982"/>
                  <a:gd name="connsiteX160" fmla="*/ 1312862 w 1312862"/>
                  <a:gd name="connsiteY160" fmla="*/ 234415 h 1293982"/>
                  <a:gd name="connsiteX161" fmla="*/ 1305004 w 1312862"/>
                  <a:gd name="connsiteY161" fmla="*/ 247966 h 1293982"/>
                  <a:gd name="connsiteX162" fmla="*/ 1085691 w 1312862"/>
                  <a:gd name="connsiteY162" fmla="*/ 372781 h 1293982"/>
                  <a:gd name="connsiteX163" fmla="*/ 1043543 w 1312862"/>
                  <a:gd name="connsiteY163" fmla="*/ 388471 h 1293982"/>
                  <a:gd name="connsiteX164" fmla="*/ 1028541 w 1312862"/>
                  <a:gd name="connsiteY164" fmla="*/ 389898 h 1293982"/>
                  <a:gd name="connsiteX165" fmla="*/ 1019254 w 1312862"/>
                  <a:gd name="connsiteY165" fmla="*/ 390611 h 1293982"/>
                  <a:gd name="connsiteX166" fmla="*/ 1013539 w 1312862"/>
                  <a:gd name="connsiteY166" fmla="*/ 389898 h 1293982"/>
                  <a:gd name="connsiteX167" fmla="*/ 1012110 w 1312862"/>
                  <a:gd name="connsiteY167" fmla="*/ 389898 h 1293982"/>
                  <a:gd name="connsiteX168" fmla="*/ 787797 w 1312862"/>
                  <a:gd name="connsiteY168" fmla="*/ 378486 h 1293982"/>
                  <a:gd name="connsiteX169" fmla="*/ 735647 w 1312862"/>
                  <a:gd name="connsiteY169" fmla="*/ 323568 h 1293982"/>
                  <a:gd name="connsiteX170" fmla="*/ 739219 w 1312862"/>
                  <a:gd name="connsiteY170" fmla="*/ 302885 h 1293982"/>
                  <a:gd name="connsiteX171" fmla="*/ 785653 w 1312862"/>
                  <a:gd name="connsiteY171" fmla="*/ 267937 h 1293982"/>
                  <a:gd name="connsiteX172" fmla="*/ 867092 w 1312862"/>
                  <a:gd name="connsiteY172" fmla="*/ 260091 h 1293982"/>
                  <a:gd name="connsiteX173" fmla="*/ 854233 w 1312862"/>
                  <a:gd name="connsiteY173" fmla="*/ 255098 h 1293982"/>
                  <a:gd name="connsiteX174" fmla="*/ 817086 w 1312862"/>
                  <a:gd name="connsiteY174" fmla="*/ 244400 h 1293982"/>
                  <a:gd name="connsiteX175" fmla="*/ 784939 w 1312862"/>
                  <a:gd name="connsiteY175" fmla="*/ 241547 h 1293982"/>
                  <a:gd name="connsiteX176" fmla="*/ 782796 w 1312862"/>
                  <a:gd name="connsiteY176" fmla="*/ 241547 h 1293982"/>
                  <a:gd name="connsiteX177" fmla="*/ 732075 w 1312862"/>
                  <a:gd name="connsiteY177" fmla="*/ 248679 h 1293982"/>
                  <a:gd name="connsiteX178" fmla="*/ 727075 w 1312862"/>
                  <a:gd name="connsiteY178" fmla="*/ 249393 h 1293982"/>
                  <a:gd name="connsiteX179" fmla="*/ 683498 w 1312862"/>
                  <a:gd name="connsiteY179" fmla="*/ 267223 h 1293982"/>
                  <a:gd name="connsiteX180" fmla="*/ 662067 w 1312862"/>
                  <a:gd name="connsiteY180" fmla="*/ 280775 h 1293982"/>
                  <a:gd name="connsiteX181" fmla="*/ 653494 w 1312862"/>
                  <a:gd name="connsiteY181" fmla="*/ 287194 h 1293982"/>
                  <a:gd name="connsiteX182" fmla="*/ 628491 w 1312862"/>
                  <a:gd name="connsiteY182" fmla="*/ 311443 h 1293982"/>
                  <a:gd name="connsiteX183" fmla="*/ 593487 w 1312862"/>
                  <a:gd name="connsiteY183" fmla="*/ 350671 h 1293982"/>
                  <a:gd name="connsiteX184" fmla="*/ 548481 w 1312862"/>
                  <a:gd name="connsiteY184" fmla="*/ 370641 h 1293982"/>
                  <a:gd name="connsiteX185" fmla="*/ 504190 w 1312862"/>
                  <a:gd name="connsiteY185" fmla="*/ 351384 h 1293982"/>
                  <a:gd name="connsiteX186" fmla="*/ 504190 w 1312862"/>
                  <a:gd name="connsiteY186" fmla="*/ 272216 h 1293982"/>
                  <a:gd name="connsiteX187" fmla="*/ 537051 w 1312862"/>
                  <a:gd name="connsiteY187" fmla="*/ 232988 h 1293982"/>
                  <a:gd name="connsiteX188" fmla="*/ 706358 w 1312862"/>
                  <a:gd name="connsiteY188" fmla="*/ 121012 h 1293982"/>
                  <a:gd name="connsiteX189" fmla="*/ 715645 w 1312862"/>
                  <a:gd name="connsiteY189" fmla="*/ 118159 h 1293982"/>
                  <a:gd name="connsiteX190" fmla="*/ 867807 w 1312862"/>
                  <a:gd name="connsiteY190" fmla="*/ 95336 h 1293982"/>
                  <a:gd name="connsiteX191" fmla="*/ 904240 w 1312862"/>
                  <a:gd name="connsiteY191" fmla="*/ 96049 h 1293982"/>
                  <a:gd name="connsiteX192" fmla="*/ 991393 w 1312862"/>
                  <a:gd name="connsiteY192" fmla="*/ 102468 h 1293982"/>
                  <a:gd name="connsiteX193" fmla="*/ 1001395 w 1312862"/>
                  <a:gd name="connsiteY193" fmla="*/ 103182 h 1293982"/>
                  <a:gd name="connsiteX194" fmla="*/ 1052115 w 1312862"/>
                  <a:gd name="connsiteY194" fmla="*/ 93910 h 1293982"/>
                  <a:gd name="connsiteX195" fmla="*/ 1291431 w 1312862"/>
                  <a:gd name="connsiteY195" fmla="*/ 1190 h 129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1312862" h="1293982">
                    <a:moveTo>
                      <a:pt x="292611" y="935122"/>
                    </a:moveTo>
                    <a:cubicBezTo>
                      <a:pt x="290466" y="935122"/>
                      <a:pt x="288320" y="935122"/>
                      <a:pt x="286175" y="935836"/>
                    </a:cubicBezTo>
                    <a:cubicBezTo>
                      <a:pt x="281884" y="935836"/>
                      <a:pt x="278309" y="936551"/>
                      <a:pt x="274733" y="937265"/>
                    </a:cubicBezTo>
                    <a:cubicBezTo>
                      <a:pt x="263291" y="939407"/>
                      <a:pt x="252565" y="942978"/>
                      <a:pt x="241838" y="948692"/>
                    </a:cubicBezTo>
                    <a:cubicBezTo>
                      <a:pt x="241838" y="948692"/>
                      <a:pt x="241838" y="948692"/>
                      <a:pt x="30163" y="1069391"/>
                    </a:cubicBezTo>
                    <a:cubicBezTo>
                      <a:pt x="30163" y="1069391"/>
                      <a:pt x="30163" y="1069391"/>
                      <a:pt x="30163" y="1255797"/>
                    </a:cubicBezTo>
                    <a:cubicBezTo>
                      <a:pt x="30163" y="1255797"/>
                      <a:pt x="30163" y="1255797"/>
                      <a:pt x="248989" y="1171522"/>
                    </a:cubicBezTo>
                    <a:cubicBezTo>
                      <a:pt x="268297" y="1164380"/>
                      <a:pt x="289036" y="1160095"/>
                      <a:pt x="310489" y="1160095"/>
                    </a:cubicBezTo>
                    <a:cubicBezTo>
                      <a:pt x="314780" y="1160095"/>
                      <a:pt x="319070" y="1160095"/>
                      <a:pt x="322646" y="1160809"/>
                    </a:cubicBezTo>
                    <a:cubicBezTo>
                      <a:pt x="322646" y="1160809"/>
                      <a:pt x="322646" y="1160809"/>
                      <a:pt x="410605" y="1167237"/>
                    </a:cubicBezTo>
                    <a:cubicBezTo>
                      <a:pt x="422047" y="1167951"/>
                      <a:pt x="433489" y="1167951"/>
                      <a:pt x="444931" y="1167951"/>
                    </a:cubicBezTo>
                    <a:cubicBezTo>
                      <a:pt x="493559" y="1167951"/>
                      <a:pt x="541472" y="1160809"/>
                      <a:pt x="587954" y="1146525"/>
                    </a:cubicBezTo>
                    <a:cubicBezTo>
                      <a:pt x="587954" y="1146525"/>
                      <a:pt x="587954" y="1146525"/>
                      <a:pt x="597251" y="1143668"/>
                    </a:cubicBezTo>
                    <a:cubicBezTo>
                      <a:pt x="657321" y="1125099"/>
                      <a:pt x="710954" y="1089389"/>
                      <a:pt x="751716" y="1040823"/>
                    </a:cubicBezTo>
                    <a:cubicBezTo>
                      <a:pt x="751716" y="1040823"/>
                      <a:pt x="751716" y="1040823"/>
                      <a:pt x="785327" y="1001543"/>
                    </a:cubicBezTo>
                    <a:cubicBezTo>
                      <a:pt x="795338" y="989401"/>
                      <a:pt x="793908" y="972260"/>
                      <a:pt x="783181" y="962262"/>
                    </a:cubicBezTo>
                    <a:cubicBezTo>
                      <a:pt x="777460" y="957262"/>
                      <a:pt x="771024" y="955120"/>
                      <a:pt x="763873" y="955120"/>
                    </a:cubicBezTo>
                    <a:cubicBezTo>
                      <a:pt x="756007" y="955120"/>
                      <a:pt x="748141" y="958691"/>
                      <a:pt x="743135" y="964404"/>
                    </a:cubicBezTo>
                    <a:cubicBezTo>
                      <a:pt x="743135" y="964404"/>
                      <a:pt x="743135" y="964404"/>
                      <a:pt x="737414" y="970832"/>
                    </a:cubicBezTo>
                    <a:cubicBezTo>
                      <a:pt x="737414" y="970832"/>
                      <a:pt x="737414" y="970832"/>
                      <a:pt x="708094" y="1004399"/>
                    </a:cubicBezTo>
                    <a:cubicBezTo>
                      <a:pt x="698797" y="1014398"/>
                      <a:pt x="689501" y="1022969"/>
                      <a:pt x="678774" y="1031539"/>
                    </a:cubicBezTo>
                    <a:cubicBezTo>
                      <a:pt x="675914" y="1034396"/>
                      <a:pt x="672338" y="1036538"/>
                      <a:pt x="668763" y="1039395"/>
                    </a:cubicBezTo>
                    <a:cubicBezTo>
                      <a:pt x="660896" y="1045109"/>
                      <a:pt x="653030" y="1050108"/>
                      <a:pt x="644449" y="1054393"/>
                    </a:cubicBezTo>
                    <a:cubicBezTo>
                      <a:pt x="628716" y="1062964"/>
                      <a:pt x="611553" y="1070106"/>
                      <a:pt x="594390" y="1075105"/>
                    </a:cubicBezTo>
                    <a:cubicBezTo>
                      <a:pt x="594390" y="1075105"/>
                      <a:pt x="594390" y="1075105"/>
                      <a:pt x="589385" y="1076533"/>
                    </a:cubicBezTo>
                    <a:cubicBezTo>
                      <a:pt x="570076" y="1081533"/>
                      <a:pt x="549338" y="1084390"/>
                      <a:pt x="529315" y="1084390"/>
                    </a:cubicBezTo>
                    <a:cubicBezTo>
                      <a:pt x="528600" y="1084390"/>
                      <a:pt x="527885" y="1084390"/>
                      <a:pt x="527169" y="1084390"/>
                    </a:cubicBezTo>
                    <a:cubicBezTo>
                      <a:pt x="514297" y="1084390"/>
                      <a:pt x="502140" y="1082961"/>
                      <a:pt x="489983" y="1080819"/>
                    </a:cubicBezTo>
                    <a:cubicBezTo>
                      <a:pt x="474966" y="1078676"/>
                      <a:pt x="460664" y="1074391"/>
                      <a:pt x="446361" y="1068677"/>
                    </a:cubicBezTo>
                    <a:cubicBezTo>
                      <a:pt x="446361" y="1068677"/>
                      <a:pt x="446361" y="1068677"/>
                      <a:pt x="427768" y="1060821"/>
                    </a:cubicBezTo>
                    <a:cubicBezTo>
                      <a:pt x="417041" y="1056536"/>
                      <a:pt x="409175" y="1046537"/>
                      <a:pt x="409175" y="1034396"/>
                    </a:cubicBezTo>
                    <a:cubicBezTo>
                      <a:pt x="409175" y="1034396"/>
                      <a:pt x="409175" y="1033681"/>
                      <a:pt x="409175" y="1032967"/>
                    </a:cubicBezTo>
                    <a:cubicBezTo>
                      <a:pt x="409175" y="1031539"/>
                      <a:pt x="409175" y="1030110"/>
                      <a:pt x="409175" y="1029396"/>
                    </a:cubicBezTo>
                    <a:cubicBezTo>
                      <a:pt x="409890" y="1027254"/>
                      <a:pt x="409890" y="1025111"/>
                      <a:pt x="410605" y="1022969"/>
                    </a:cubicBezTo>
                    <a:cubicBezTo>
                      <a:pt x="411321" y="1022254"/>
                      <a:pt x="411321" y="1021540"/>
                      <a:pt x="411321" y="1020826"/>
                    </a:cubicBezTo>
                    <a:cubicBezTo>
                      <a:pt x="412751" y="1017969"/>
                      <a:pt x="414896" y="1015827"/>
                      <a:pt x="417041" y="1012970"/>
                    </a:cubicBezTo>
                    <a:cubicBezTo>
                      <a:pt x="417041" y="1012970"/>
                      <a:pt x="417757" y="1012256"/>
                      <a:pt x="418472" y="1011541"/>
                    </a:cubicBezTo>
                    <a:cubicBezTo>
                      <a:pt x="422762" y="1007256"/>
                      <a:pt x="429198" y="1004399"/>
                      <a:pt x="436350" y="1003685"/>
                    </a:cubicBezTo>
                    <a:cubicBezTo>
                      <a:pt x="436350" y="1003685"/>
                      <a:pt x="436350" y="1003685"/>
                      <a:pt x="523594" y="995115"/>
                    </a:cubicBezTo>
                    <a:cubicBezTo>
                      <a:pt x="532890" y="994401"/>
                      <a:pt x="540757" y="987973"/>
                      <a:pt x="543617" y="980117"/>
                    </a:cubicBezTo>
                    <a:cubicBezTo>
                      <a:pt x="545047" y="977260"/>
                      <a:pt x="545762" y="974403"/>
                      <a:pt x="545762" y="970832"/>
                    </a:cubicBezTo>
                    <a:cubicBezTo>
                      <a:pt x="545762" y="957976"/>
                      <a:pt x="535751" y="947978"/>
                      <a:pt x="522879" y="947263"/>
                    </a:cubicBezTo>
                    <a:cubicBezTo>
                      <a:pt x="522879" y="947263"/>
                      <a:pt x="522879" y="947263"/>
                      <a:pt x="331227" y="937265"/>
                    </a:cubicBezTo>
                    <a:cubicBezTo>
                      <a:pt x="331227" y="937265"/>
                      <a:pt x="331227" y="937265"/>
                      <a:pt x="322646" y="936551"/>
                    </a:cubicBezTo>
                    <a:cubicBezTo>
                      <a:pt x="322646" y="936551"/>
                      <a:pt x="322646" y="936551"/>
                      <a:pt x="309774" y="935836"/>
                    </a:cubicBezTo>
                    <a:cubicBezTo>
                      <a:pt x="309774" y="935836"/>
                      <a:pt x="309774" y="935836"/>
                      <a:pt x="298332" y="935836"/>
                    </a:cubicBezTo>
                    <a:cubicBezTo>
                      <a:pt x="298332" y="935836"/>
                      <a:pt x="297617" y="935836"/>
                      <a:pt x="297617" y="935836"/>
                    </a:cubicBezTo>
                    <a:cubicBezTo>
                      <a:pt x="296187" y="935122"/>
                      <a:pt x="294756" y="935122"/>
                      <a:pt x="292611" y="935122"/>
                    </a:cubicBezTo>
                    <a:close/>
                    <a:moveTo>
                      <a:pt x="293046" y="903372"/>
                    </a:moveTo>
                    <a:cubicBezTo>
                      <a:pt x="295185" y="903372"/>
                      <a:pt x="297324" y="903372"/>
                      <a:pt x="299463" y="904085"/>
                    </a:cubicBezTo>
                    <a:cubicBezTo>
                      <a:pt x="300889" y="904085"/>
                      <a:pt x="300889" y="904085"/>
                      <a:pt x="300889" y="904085"/>
                    </a:cubicBezTo>
                    <a:cubicBezTo>
                      <a:pt x="524060" y="915497"/>
                      <a:pt x="524060" y="915497"/>
                      <a:pt x="524060" y="915497"/>
                    </a:cubicBezTo>
                    <a:cubicBezTo>
                      <a:pt x="553294" y="916923"/>
                      <a:pt x="576823" y="941173"/>
                      <a:pt x="576823" y="970415"/>
                    </a:cubicBezTo>
                    <a:cubicBezTo>
                      <a:pt x="576823" y="977547"/>
                      <a:pt x="575397" y="984680"/>
                      <a:pt x="572545" y="991099"/>
                    </a:cubicBezTo>
                    <a:cubicBezTo>
                      <a:pt x="565415" y="1010356"/>
                      <a:pt x="547590" y="1023907"/>
                      <a:pt x="526912" y="1026047"/>
                    </a:cubicBezTo>
                    <a:cubicBezTo>
                      <a:pt x="444917" y="1033892"/>
                      <a:pt x="444917" y="1033892"/>
                      <a:pt x="444917" y="1033892"/>
                    </a:cubicBezTo>
                    <a:cubicBezTo>
                      <a:pt x="457751" y="1038885"/>
                      <a:pt x="457751" y="1038885"/>
                      <a:pt x="457751" y="1038885"/>
                    </a:cubicBezTo>
                    <a:cubicBezTo>
                      <a:pt x="469872" y="1043877"/>
                      <a:pt x="482706" y="1047444"/>
                      <a:pt x="495540" y="1049583"/>
                    </a:cubicBezTo>
                    <a:cubicBezTo>
                      <a:pt x="505522" y="1051723"/>
                      <a:pt x="516217" y="1052436"/>
                      <a:pt x="526912" y="1052436"/>
                    </a:cubicBezTo>
                    <a:cubicBezTo>
                      <a:pt x="529051" y="1052436"/>
                      <a:pt x="529051" y="1052436"/>
                      <a:pt x="529051" y="1052436"/>
                    </a:cubicBezTo>
                    <a:cubicBezTo>
                      <a:pt x="546164" y="1052436"/>
                      <a:pt x="563989" y="1050296"/>
                      <a:pt x="580388" y="1045304"/>
                    </a:cubicBezTo>
                    <a:cubicBezTo>
                      <a:pt x="585379" y="1044591"/>
                      <a:pt x="585379" y="1044591"/>
                      <a:pt x="585379" y="1044591"/>
                    </a:cubicBezTo>
                    <a:cubicBezTo>
                      <a:pt x="600352" y="1040311"/>
                      <a:pt x="615325" y="1033892"/>
                      <a:pt x="628872" y="1026760"/>
                    </a:cubicBezTo>
                    <a:cubicBezTo>
                      <a:pt x="636002" y="1022481"/>
                      <a:pt x="643132" y="1018201"/>
                      <a:pt x="649550" y="1013209"/>
                    </a:cubicBezTo>
                    <a:cubicBezTo>
                      <a:pt x="652402" y="1011069"/>
                      <a:pt x="655967" y="1008929"/>
                      <a:pt x="658819" y="1006790"/>
                    </a:cubicBezTo>
                    <a:cubicBezTo>
                      <a:pt x="667375" y="999657"/>
                      <a:pt x="675931" y="991099"/>
                      <a:pt x="683774" y="982540"/>
                    </a:cubicBezTo>
                    <a:cubicBezTo>
                      <a:pt x="718711" y="943313"/>
                      <a:pt x="718711" y="943313"/>
                      <a:pt x="718711" y="943313"/>
                    </a:cubicBezTo>
                    <a:cubicBezTo>
                      <a:pt x="730119" y="930475"/>
                      <a:pt x="745805" y="923342"/>
                      <a:pt x="762918" y="923342"/>
                    </a:cubicBezTo>
                    <a:cubicBezTo>
                      <a:pt x="780030" y="923342"/>
                      <a:pt x="795716" y="930475"/>
                      <a:pt x="807124" y="942599"/>
                    </a:cubicBezTo>
                    <a:cubicBezTo>
                      <a:pt x="827088" y="964709"/>
                      <a:pt x="827088" y="998944"/>
                      <a:pt x="807837" y="1021767"/>
                    </a:cubicBezTo>
                    <a:cubicBezTo>
                      <a:pt x="775039" y="1060995"/>
                      <a:pt x="775039" y="1060995"/>
                      <a:pt x="775039" y="1060995"/>
                    </a:cubicBezTo>
                    <a:cubicBezTo>
                      <a:pt x="730119" y="1113773"/>
                      <a:pt x="671653" y="1152288"/>
                      <a:pt x="606056" y="1172971"/>
                    </a:cubicBezTo>
                    <a:cubicBezTo>
                      <a:pt x="596787" y="1175824"/>
                      <a:pt x="596787" y="1175824"/>
                      <a:pt x="596787" y="1175824"/>
                    </a:cubicBezTo>
                    <a:cubicBezTo>
                      <a:pt x="547590" y="1190802"/>
                      <a:pt x="496253" y="1198647"/>
                      <a:pt x="444917" y="1198647"/>
                    </a:cubicBezTo>
                    <a:cubicBezTo>
                      <a:pt x="432795" y="1198647"/>
                      <a:pt x="420674" y="1198647"/>
                      <a:pt x="408553" y="1197934"/>
                    </a:cubicBezTo>
                    <a:cubicBezTo>
                      <a:pt x="320853" y="1191515"/>
                      <a:pt x="320853" y="1191515"/>
                      <a:pt x="320853" y="1191515"/>
                    </a:cubicBezTo>
                    <a:cubicBezTo>
                      <a:pt x="318001" y="1190802"/>
                      <a:pt x="314436" y="1190802"/>
                      <a:pt x="310871" y="1190802"/>
                    </a:cubicBezTo>
                    <a:cubicBezTo>
                      <a:pt x="293759" y="1190802"/>
                      <a:pt x="276647" y="1194368"/>
                      <a:pt x="260961" y="1200074"/>
                    </a:cubicBezTo>
                    <a:cubicBezTo>
                      <a:pt x="21390" y="1292793"/>
                      <a:pt x="21390" y="1292793"/>
                      <a:pt x="21390" y="1292793"/>
                    </a:cubicBezTo>
                    <a:cubicBezTo>
                      <a:pt x="11408" y="1297072"/>
                      <a:pt x="0" y="1289227"/>
                      <a:pt x="0" y="1278528"/>
                    </a:cubicBezTo>
                    <a:lnTo>
                      <a:pt x="0" y="1059568"/>
                    </a:lnTo>
                    <a:cubicBezTo>
                      <a:pt x="0" y="1053863"/>
                      <a:pt x="3565" y="1048870"/>
                      <a:pt x="8556" y="1046017"/>
                    </a:cubicBezTo>
                    <a:cubicBezTo>
                      <a:pt x="227449" y="921203"/>
                      <a:pt x="227449" y="921203"/>
                      <a:pt x="227449" y="921203"/>
                    </a:cubicBezTo>
                    <a:cubicBezTo>
                      <a:pt x="240284" y="913357"/>
                      <a:pt x="254544" y="908365"/>
                      <a:pt x="269517" y="905512"/>
                    </a:cubicBezTo>
                    <a:cubicBezTo>
                      <a:pt x="274508" y="904799"/>
                      <a:pt x="279499" y="904085"/>
                      <a:pt x="284490" y="904085"/>
                    </a:cubicBezTo>
                    <a:cubicBezTo>
                      <a:pt x="287342" y="904085"/>
                      <a:pt x="290194" y="903372"/>
                      <a:pt x="293046" y="903372"/>
                    </a:cubicBezTo>
                    <a:close/>
                    <a:moveTo>
                      <a:pt x="659587" y="403310"/>
                    </a:moveTo>
                    <a:cubicBezTo>
                      <a:pt x="659587" y="403310"/>
                      <a:pt x="659587" y="403310"/>
                      <a:pt x="535978" y="441853"/>
                    </a:cubicBezTo>
                    <a:cubicBezTo>
                      <a:pt x="535978" y="441853"/>
                      <a:pt x="535978" y="441853"/>
                      <a:pt x="315912" y="677394"/>
                    </a:cubicBezTo>
                    <a:cubicBezTo>
                      <a:pt x="315912" y="677394"/>
                      <a:pt x="315912" y="677394"/>
                      <a:pt x="518116" y="863685"/>
                    </a:cubicBezTo>
                    <a:cubicBezTo>
                      <a:pt x="518116" y="863685"/>
                      <a:pt x="518116" y="863685"/>
                      <a:pt x="737468" y="627431"/>
                    </a:cubicBezTo>
                    <a:cubicBezTo>
                      <a:pt x="737468" y="627431"/>
                      <a:pt x="737468" y="627431"/>
                      <a:pt x="766762" y="501095"/>
                    </a:cubicBezTo>
                    <a:cubicBezTo>
                      <a:pt x="766762" y="501095"/>
                      <a:pt x="766762" y="501095"/>
                      <a:pt x="659587" y="403310"/>
                    </a:cubicBezTo>
                    <a:close/>
                    <a:moveTo>
                      <a:pt x="653979" y="374574"/>
                    </a:moveTo>
                    <a:cubicBezTo>
                      <a:pt x="653979" y="374574"/>
                      <a:pt x="654693" y="374574"/>
                      <a:pt x="655407" y="374574"/>
                    </a:cubicBezTo>
                    <a:cubicBezTo>
                      <a:pt x="663260" y="373147"/>
                      <a:pt x="669685" y="374574"/>
                      <a:pt x="674683" y="379569"/>
                    </a:cubicBezTo>
                    <a:cubicBezTo>
                      <a:pt x="674683" y="379569"/>
                      <a:pt x="674683" y="379569"/>
                      <a:pt x="787484" y="483027"/>
                    </a:cubicBezTo>
                    <a:cubicBezTo>
                      <a:pt x="793195" y="488022"/>
                      <a:pt x="795337" y="495157"/>
                      <a:pt x="793909" y="502292"/>
                    </a:cubicBezTo>
                    <a:cubicBezTo>
                      <a:pt x="793909" y="502292"/>
                      <a:pt x="793909" y="502292"/>
                      <a:pt x="793909" y="503006"/>
                    </a:cubicBezTo>
                    <a:cubicBezTo>
                      <a:pt x="793909" y="503006"/>
                      <a:pt x="793909" y="503006"/>
                      <a:pt x="763210" y="637859"/>
                    </a:cubicBezTo>
                    <a:cubicBezTo>
                      <a:pt x="762496" y="639999"/>
                      <a:pt x="761069" y="642140"/>
                      <a:pt x="759641" y="644280"/>
                    </a:cubicBezTo>
                    <a:cubicBezTo>
                      <a:pt x="759641" y="644280"/>
                      <a:pt x="759641" y="644280"/>
                      <a:pt x="533324" y="888300"/>
                    </a:cubicBezTo>
                    <a:cubicBezTo>
                      <a:pt x="529041" y="892581"/>
                      <a:pt x="524043" y="894722"/>
                      <a:pt x="518332" y="895435"/>
                    </a:cubicBezTo>
                    <a:cubicBezTo>
                      <a:pt x="518332" y="895435"/>
                      <a:pt x="518332" y="895435"/>
                      <a:pt x="517618" y="895435"/>
                    </a:cubicBezTo>
                    <a:cubicBezTo>
                      <a:pt x="511906" y="895435"/>
                      <a:pt x="506909" y="893295"/>
                      <a:pt x="502625" y="889727"/>
                    </a:cubicBezTo>
                    <a:cubicBezTo>
                      <a:pt x="502625" y="889727"/>
                      <a:pt x="502625" y="889727"/>
                      <a:pt x="291302" y="692799"/>
                    </a:cubicBezTo>
                    <a:cubicBezTo>
                      <a:pt x="287018" y="689231"/>
                      <a:pt x="284876" y="683523"/>
                      <a:pt x="284162" y="677815"/>
                    </a:cubicBezTo>
                    <a:cubicBezTo>
                      <a:pt x="284162" y="672107"/>
                      <a:pt x="286304" y="667113"/>
                      <a:pt x="289874" y="663545"/>
                    </a:cubicBezTo>
                    <a:cubicBezTo>
                      <a:pt x="289874" y="663545"/>
                      <a:pt x="289874" y="663545"/>
                      <a:pt x="516190" y="419525"/>
                    </a:cubicBezTo>
                    <a:cubicBezTo>
                      <a:pt x="518332" y="417385"/>
                      <a:pt x="520474" y="415958"/>
                      <a:pt x="522615" y="415244"/>
                    </a:cubicBezTo>
                    <a:cubicBezTo>
                      <a:pt x="522615" y="415244"/>
                      <a:pt x="522615" y="415244"/>
                      <a:pt x="653979" y="374574"/>
                    </a:cubicBezTo>
                    <a:close/>
                    <a:moveTo>
                      <a:pt x="1281112" y="38186"/>
                    </a:moveTo>
                    <a:cubicBezTo>
                      <a:pt x="1281112" y="38186"/>
                      <a:pt x="1281112" y="38186"/>
                      <a:pt x="1063703" y="122462"/>
                    </a:cubicBezTo>
                    <a:cubicBezTo>
                      <a:pt x="1043745" y="129604"/>
                      <a:pt x="1023073" y="133889"/>
                      <a:pt x="1001688" y="133889"/>
                    </a:cubicBezTo>
                    <a:cubicBezTo>
                      <a:pt x="998124" y="133889"/>
                      <a:pt x="993848" y="133889"/>
                      <a:pt x="989571" y="133174"/>
                    </a:cubicBezTo>
                    <a:cubicBezTo>
                      <a:pt x="989571" y="133174"/>
                      <a:pt x="989571" y="133174"/>
                      <a:pt x="902607" y="126747"/>
                    </a:cubicBezTo>
                    <a:cubicBezTo>
                      <a:pt x="891202" y="126033"/>
                      <a:pt x="879797" y="126033"/>
                      <a:pt x="868392" y="126033"/>
                    </a:cubicBezTo>
                    <a:cubicBezTo>
                      <a:pt x="819920" y="126033"/>
                      <a:pt x="772162" y="133174"/>
                      <a:pt x="725829" y="147458"/>
                    </a:cubicBezTo>
                    <a:cubicBezTo>
                      <a:pt x="725829" y="147458"/>
                      <a:pt x="725829" y="147458"/>
                      <a:pt x="716562" y="150315"/>
                    </a:cubicBezTo>
                    <a:cubicBezTo>
                      <a:pt x="656686" y="168884"/>
                      <a:pt x="603225" y="204594"/>
                      <a:pt x="562594" y="253160"/>
                    </a:cubicBezTo>
                    <a:cubicBezTo>
                      <a:pt x="562594" y="253160"/>
                      <a:pt x="562594" y="253160"/>
                      <a:pt x="528379" y="292441"/>
                    </a:cubicBezTo>
                    <a:cubicBezTo>
                      <a:pt x="519112" y="304582"/>
                      <a:pt x="519825" y="321723"/>
                      <a:pt x="531230" y="331722"/>
                    </a:cubicBezTo>
                    <a:cubicBezTo>
                      <a:pt x="536220" y="336721"/>
                      <a:pt x="543348" y="338864"/>
                      <a:pt x="549763" y="338864"/>
                    </a:cubicBezTo>
                    <a:cubicBezTo>
                      <a:pt x="558317" y="338864"/>
                      <a:pt x="565445" y="335293"/>
                      <a:pt x="571148" y="329579"/>
                    </a:cubicBezTo>
                    <a:cubicBezTo>
                      <a:pt x="571148" y="329579"/>
                      <a:pt x="571148" y="329579"/>
                      <a:pt x="576850" y="323151"/>
                    </a:cubicBezTo>
                    <a:cubicBezTo>
                      <a:pt x="576850" y="323151"/>
                      <a:pt x="576850" y="323151"/>
                      <a:pt x="606076" y="289584"/>
                    </a:cubicBezTo>
                    <a:cubicBezTo>
                      <a:pt x="614630" y="279585"/>
                      <a:pt x="624609" y="271015"/>
                      <a:pt x="634588" y="262444"/>
                    </a:cubicBezTo>
                    <a:cubicBezTo>
                      <a:pt x="638152" y="259588"/>
                      <a:pt x="641717" y="257445"/>
                      <a:pt x="644568" y="254588"/>
                    </a:cubicBezTo>
                    <a:cubicBezTo>
                      <a:pt x="652409" y="248875"/>
                      <a:pt x="660963" y="243875"/>
                      <a:pt x="668804" y="239590"/>
                    </a:cubicBezTo>
                    <a:cubicBezTo>
                      <a:pt x="685198" y="231020"/>
                      <a:pt x="701593" y="223878"/>
                      <a:pt x="719413" y="218878"/>
                    </a:cubicBezTo>
                    <a:cubicBezTo>
                      <a:pt x="719413" y="218878"/>
                      <a:pt x="719413" y="218878"/>
                      <a:pt x="724403" y="217450"/>
                    </a:cubicBezTo>
                    <a:cubicBezTo>
                      <a:pt x="743649" y="212450"/>
                      <a:pt x="763608" y="209594"/>
                      <a:pt x="783567" y="209594"/>
                    </a:cubicBezTo>
                    <a:cubicBezTo>
                      <a:pt x="784992" y="209594"/>
                      <a:pt x="785705" y="209594"/>
                      <a:pt x="786418" y="209594"/>
                    </a:cubicBezTo>
                    <a:cubicBezTo>
                      <a:pt x="798536" y="209594"/>
                      <a:pt x="811367" y="211022"/>
                      <a:pt x="823485" y="213165"/>
                    </a:cubicBezTo>
                    <a:cubicBezTo>
                      <a:pt x="837741" y="215307"/>
                      <a:pt x="852710" y="219592"/>
                      <a:pt x="866966" y="225306"/>
                    </a:cubicBezTo>
                    <a:cubicBezTo>
                      <a:pt x="866966" y="225306"/>
                      <a:pt x="866966" y="225306"/>
                      <a:pt x="885500" y="233162"/>
                    </a:cubicBezTo>
                    <a:cubicBezTo>
                      <a:pt x="896192" y="237447"/>
                      <a:pt x="903320" y="247446"/>
                      <a:pt x="904033" y="259588"/>
                    </a:cubicBezTo>
                    <a:cubicBezTo>
                      <a:pt x="904033" y="259588"/>
                      <a:pt x="904033" y="260302"/>
                      <a:pt x="904033" y="261016"/>
                    </a:cubicBezTo>
                    <a:cubicBezTo>
                      <a:pt x="904033" y="262444"/>
                      <a:pt x="904033" y="263873"/>
                      <a:pt x="903320" y="264587"/>
                    </a:cubicBezTo>
                    <a:cubicBezTo>
                      <a:pt x="903320" y="266730"/>
                      <a:pt x="902607" y="268872"/>
                      <a:pt x="901894" y="271015"/>
                    </a:cubicBezTo>
                    <a:cubicBezTo>
                      <a:pt x="901894" y="271729"/>
                      <a:pt x="901894" y="272443"/>
                      <a:pt x="901181" y="273157"/>
                    </a:cubicBezTo>
                    <a:cubicBezTo>
                      <a:pt x="899756" y="276014"/>
                      <a:pt x="898330" y="278157"/>
                      <a:pt x="896192" y="281014"/>
                    </a:cubicBezTo>
                    <a:cubicBezTo>
                      <a:pt x="895479" y="281014"/>
                      <a:pt x="895479" y="281728"/>
                      <a:pt x="894766" y="282442"/>
                    </a:cubicBezTo>
                    <a:cubicBezTo>
                      <a:pt x="889776" y="286727"/>
                      <a:pt x="884074" y="289584"/>
                      <a:pt x="876946" y="290298"/>
                    </a:cubicBezTo>
                    <a:cubicBezTo>
                      <a:pt x="876946" y="290298"/>
                      <a:pt x="876946" y="290298"/>
                      <a:pt x="789269" y="298868"/>
                    </a:cubicBezTo>
                    <a:cubicBezTo>
                      <a:pt x="780003" y="299583"/>
                      <a:pt x="772875" y="306010"/>
                      <a:pt x="769311" y="313867"/>
                    </a:cubicBezTo>
                    <a:cubicBezTo>
                      <a:pt x="768598" y="316723"/>
                      <a:pt x="767885" y="319580"/>
                      <a:pt x="767885" y="323151"/>
                    </a:cubicBezTo>
                    <a:cubicBezTo>
                      <a:pt x="767885" y="336007"/>
                      <a:pt x="777864" y="346006"/>
                      <a:pt x="790695" y="346720"/>
                    </a:cubicBezTo>
                    <a:cubicBezTo>
                      <a:pt x="790695" y="346720"/>
                      <a:pt x="790695" y="346720"/>
                      <a:pt x="981017" y="356719"/>
                    </a:cubicBezTo>
                    <a:cubicBezTo>
                      <a:pt x="981017" y="356719"/>
                      <a:pt x="981017" y="356719"/>
                      <a:pt x="990283" y="357433"/>
                    </a:cubicBezTo>
                    <a:cubicBezTo>
                      <a:pt x="990283" y="357433"/>
                      <a:pt x="990283" y="357433"/>
                      <a:pt x="1002401" y="358147"/>
                    </a:cubicBezTo>
                    <a:cubicBezTo>
                      <a:pt x="1002401" y="358147"/>
                      <a:pt x="1002401" y="358147"/>
                      <a:pt x="1014519" y="358147"/>
                    </a:cubicBezTo>
                    <a:cubicBezTo>
                      <a:pt x="1016658" y="358861"/>
                      <a:pt x="1018083" y="358861"/>
                      <a:pt x="1019509" y="358861"/>
                    </a:cubicBezTo>
                    <a:cubicBezTo>
                      <a:pt x="1021647" y="358861"/>
                      <a:pt x="1024499" y="358861"/>
                      <a:pt x="1026637" y="358147"/>
                    </a:cubicBezTo>
                    <a:cubicBezTo>
                      <a:pt x="1030201" y="358147"/>
                      <a:pt x="1034478" y="357433"/>
                      <a:pt x="1038042" y="356719"/>
                    </a:cubicBezTo>
                    <a:cubicBezTo>
                      <a:pt x="1049447" y="354576"/>
                      <a:pt x="1060139" y="351005"/>
                      <a:pt x="1070119" y="345291"/>
                    </a:cubicBezTo>
                    <a:cubicBezTo>
                      <a:pt x="1070119" y="345291"/>
                      <a:pt x="1070119" y="345291"/>
                      <a:pt x="1281112" y="224592"/>
                    </a:cubicBezTo>
                    <a:cubicBezTo>
                      <a:pt x="1281112" y="224592"/>
                      <a:pt x="1281112" y="224592"/>
                      <a:pt x="1281112" y="38186"/>
                    </a:cubicBezTo>
                    <a:close/>
                    <a:moveTo>
                      <a:pt x="1291431" y="1190"/>
                    </a:moveTo>
                    <a:cubicBezTo>
                      <a:pt x="1302147" y="-3089"/>
                      <a:pt x="1312862" y="4757"/>
                      <a:pt x="1312862" y="15455"/>
                    </a:cubicBezTo>
                    <a:lnTo>
                      <a:pt x="1312862" y="234415"/>
                    </a:lnTo>
                    <a:cubicBezTo>
                      <a:pt x="1312862" y="240121"/>
                      <a:pt x="1310005" y="245113"/>
                      <a:pt x="1305004" y="247966"/>
                    </a:cubicBezTo>
                    <a:cubicBezTo>
                      <a:pt x="1085691" y="372781"/>
                      <a:pt x="1085691" y="372781"/>
                      <a:pt x="1085691" y="372781"/>
                    </a:cubicBezTo>
                    <a:cubicBezTo>
                      <a:pt x="1072832" y="380626"/>
                      <a:pt x="1058545" y="385619"/>
                      <a:pt x="1043543" y="388471"/>
                    </a:cubicBezTo>
                    <a:cubicBezTo>
                      <a:pt x="1038542" y="389185"/>
                      <a:pt x="1033542" y="389898"/>
                      <a:pt x="1028541" y="389898"/>
                    </a:cubicBezTo>
                    <a:cubicBezTo>
                      <a:pt x="1025683" y="389898"/>
                      <a:pt x="1022112" y="390611"/>
                      <a:pt x="1019254" y="390611"/>
                    </a:cubicBezTo>
                    <a:cubicBezTo>
                      <a:pt x="1017111" y="390611"/>
                      <a:pt x="1015682" y="390611"/>
                      <a:pt x="1013539" y="389898"/>
                    </a:cubicBezTo>
                    <a:cubicBezTo>
                      <a:pt x="1012110" y="389898"/>
                      <a:pt x="1012110" y="389898"/>
                      <a:pt x="1012110" y="389898"/>
                    </a:cubicBezTo>
                    <a:cubicBezTo>
                      <a:pt x="787797" y="378486"/>
                      <a:pt x="787797" y="378486"/>
                      <a:pt x="787797" y="378486"/>
                    </a:cubicBezTo>
                    <a:cubicBezTo>
                      <a:pt x="758507" y="377060"/>
                      <a:pt x="735647" y="352810"/>
                      <a:pt x="735647" y="323568"/>
                    </a:cubicBezTo>
                    <a:cubicBezTo>
                      <a:pt x="735647" y="316436"/>
                      <a:pt x="737076" y="309304"/>
                      <a:pt x="739219" y="302885"/>
                    </a:cubicBezTo>
                    <a:cubicBezTo>
                      <a:pt x="747077" y="283627"/>
                      <a:pt x="764937" y="270076"/>
                      <a:pt x="785653" y="267937"/>
                    </a:cubicBezTo>
                    <a:cubicBezTo>
                      <a:pt x="867092" y="260091"/>
                      <a:pt x="867092" y="260091"/>
                      <a:pt x="867092" y="260091"/>
                    </a:cubicBezTo>
                    <a:cubicBezTo>
                      <a:pt x="854233" y="255098"/>
                      <a:pt x="854233" y="255098"/>
                      <a:pt x="854233" y="255098"/>
                    </a:cubicBezTo>
                    <a:cubicBezTo>
                      <a:pt x="842089" y="250106"/>
                      <a:pt x="829945" y="246540"/>
                      <a:pt x="817086" y="244400"/>
                    </a:cubicBezTo>
                    <a:cubicBezTo>
                      <a:pt x="806370" y="242260"/>
                      <a:pt x="795655" y="241547"/>
                      <a:pt x="784939" y="241547"/>
                    </a:cubicBezTo>
                    <a:cubicBezTo>
                      <a:pt x="782796" y="241547"/>
                      <a:pt x="782796" y="241547"/>
                      <a:pt x="782796" y="241547"/>
                    </a:cubicBezTo>
                    <a:cubicBezTo>
                      <a:pt x="765651" y="241547"/>
                      <a:pt x="748506" y="243687"/>
                      <a:pt x="732075" y="248679"/>
                    </a:cubicBezTo>
                    <a:cubicBezTo>
                      <a:pt x="727075" y="249393"/>
                      <a:pt x="727075" y="249393"/>
                      <a:pt x="727075" y="249393"/>
                    </a:cubicBezTo>
                    <a:cubicBezTo>
                      <a:pt x="712073" y="253672"/>
                      <a:pt x="697071" y="260091"/>
                      <a:pt x="683498" y="267223"/>
                    </a:cubicBezTo>
                    <a:cubicBezTo>
                      <a:pt x="675640" y="271503"/>
                      <a:pt x="668496" y="275782"/>
                      <a:pt x="662067" y="280775"/>
                    </a:cubicBezTo>
                    <a:cubicBezTo>
                      <a:pt x="659209" y="282914"/>
                      <a:pt x="656352" y="285054"/>
                      <a:pt x="653494" y="287194"/>
                    </a:cubicBezTo>
                    <a:cubicBezTo>
                      <a:pt x="644207" y="294326"/>
                      <a:pt x="636349" y="302885"/>
                      <a:pt x="628491" y="311443"/>
                    </a:cubicBezTo>
                    <a:cubicBezTo>
                      <a:pt x="593487" y="350671"/>
                      <a:pt x="593487" y="350671"/>
                      <a:pt x="593487" y="350671"/>
                    </a:cubicBezTo>
                    <a:cubicBezTo>
                      <a:pt x="582057" y="363509"/>
                      <a:pt x="565626" y="370641"/>
                      <a:pt x="548481" y="370641"/>
                    </a:cubicBezTo>
                    <a:cubicBezTo>
                      <a:pt x="532050" y="370641"/>
                      <a:pt x="515620" y="363509"/>
                      <a:pt x="504190" y="351384"/>
                    </a:cubicBezTo>
                    <a:cubicBezTo>
                      <a:pt x="484187" y="329274"/>
                      <a:pt x="484902" y="295039"/>
                      <a:pt x="504190" y="272216"/>
                    </a:cubicBezTo>
                    <a:cubicBezTo>
                      <a:pt x="537051" y="232988"/>
                      <a:pt x="537051" y="232988"/>
                      <a:pt x="537051" y="232988"/>
                    </a:cubicBezTo>
                    <a:cubicBezTo>
                      <a:pt x="582057" y="180210"/>
                      <a:pt x="639921" y="141696"/>
                      <a:pt x="706358" y="121012"/>
                    </a:cubicBezTo>
                    <a:cubicBezTo>
                      <a:pt x="715645" y="118159"/>
                      <a:pt x="715645" y="118159"/>
                      <a:pt x="715645" y="118159"/>
                    </a:cubicBezTo>
                    <a:cubicBezTo>
                      <a:pt x="764937" y="103182"/>
                      <a:pt x="815657" y="95336"/>
                      <a:pt x="867807" y="95336"/>
                    </a:cubicBezTo>
                    <a:cubicBezTo>
                      <a:pt x="879951" y="95336"/>
                      <a:pt x="892095" y="95336"/>
                      <a:pt x="904240" y="96049"/>
                    </a:cubicBezTo>
                    <a:cubicBezTo>
                      <a:pt x="991393" y="102468"/>
                      <a:pt x="991393" y="102468"/>
                      <a:pt x="991393" y="102468"/>
                    </a:cubicBezTo>
                    <a:cubicBezTo>
                      <a:pt x="994965" y="103182"/>
                      <a:pt x="998537" y="103182"/>
                      <a:pt x="1001395" y="103182"/>
                    </a:cubicBezTo>
                    <a:cubicBezTo>
                      <a:pt x="1019254" y="103182"/>
                      <a:pt x="1035685" y="99615"/>
                      <a:pt x="1052115" y="93910"/>
                    </a:cubicBezTo>
                    <a:cubicBezTo>
                      <a:pt x="1291431" y="1190"/>
                      <a:pt x="1291431" y="1190"/>
                      <a:pt x="1291431" y="1190"/>
                    </a:cubicBez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71" name="Freeform 11">
                <a:extLst>
                  <a:ext uri="{FF2B5EF4-FFF2-40B4-BE49-F238E27FC236}">
                    <a16:creationId xmlns:a16="http://schemas.microsoft.com/office/drawing/2014/main" id="{0A11546A-B03A-4AF0-8F3E-9DB8E05BC6F2}"/>
                  </a:ext>
                </a:extLst>
              </p:cNvPr>
              <p:cNvSpPr>
                <a:spLocks noEditPoints="1"/>
              </p:cNvSpPr>
              <p:nvPr/>
            </p:nvSpPr>
            <p:spPr bwMode="auto">
              <a:xfrm>
                <a:off x="5795963" y="3219450"/>
                <a:ext cx="371475" cy="384175"/>
              </a:xfrm>
              <a:custGeom>
                <a:avLst/>
                <a:gdLst>
                  <a:gd name="T0" fmla="*/ 413 w 522"/>
                  <a:gd name="T1" fmla="*/ 80 h 537"/>
                  <a:gd name="T2" fmla="*/ 378 w 522"/>
                  <a:gd name="T3" fmla="*/ 114 h 537"/>
                  <a:gd name="T4" fmla="*/ 413 w 522"/>
                  <a:gd name="T5" fmla="*/ 148 h 537"/>
                  <a:gd name="T6" fmla="*/ 447 w 522"/>
                  <a:gd name="T7" fmla="*/ 114 h 537"/>
                  <a:gd name="T8" fmla="*/ 413 w 522"/>
                  <a:gd name="T9" fmla="*/ 80 h 537"/>
                  <a:gd name="T10" fmla="*/ 409 w 522"/>
                  <a:gd name="T11" fmla="*/ 0 h 537"/>
                  <a:gd name="T12" fmla="*/ 522 w 522"/>
                  <a:gd name="T13" fmla="*/ 102 h 537"/>
                  <a:gd name="T14" fmla="*/ 485 w 522"/>
                  <a:gd name="T15" fmla="*/ 246 h 537"/>
                  <a:gd name="T16" fmla="*/ 221 w 522"/>
                  <a:gd name="T17" fmla="*/ 537 h 537"/>
                  <a:gd name="T18" fmla="*/ 0 w 522"/>
                  <a:gd name="T19" fmla="*/ 335 h 537"/>
                  <a:gd name="T20" fmla="*/ 269 w 522"/>
                  <a:gd name="T21" fmla="*/ 44 h 537"/>
                  <a:gd name="T22" fmla="*/ 409 w 522"/>
                  <a:gd name="T23" fmla="*/ 0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2" h="537">
                    <a:moveTo>
                      <a:pt x="413" y="80"/>
                    </a:moveTo>
                    <a:cubicBezTo>
                      <a:pt x="394" y="80"/>
                      <a:pt x="378" y="95"/>
                      <a:pt x="378" y="114"/>
                    </a:cubicBezTo>
                    <a:cubicBezTo>
                      <a:pt x="378" y="133"/>
                      <a:pt x="394" y="148"/>
                      <a:pt x="413" y="148"/>
                    </a:cubicBezTo>
                    <a:cubicBezTo>
                      <a:pt x="431" y="148"/>
                      <a:pt x="447" y="133"/>
                      <a:pt x="447" y="114"/>
                    </a:cubicBezTo>
                    <a:cubicBezTo>
                      <a:pt x="447" y="95"/>
                      <a:pt x="431" y="80"/>
                      <a:pt x="413" y="80"/>
                    </a:cubicBezTo>
                    <a:close/>
                    <a:moveTo>
                      <a:pt x="409" y="0"/>
                    </a:moveTo>
                    <a:cubicBezTo>
                      <a:pt x="409" y="0"/>
                      <a:pt x="409" y="0"/>
                      <a:pt x="522" y="102"/>
                    </a:cubicBezTo>
                    <a:cubicBezTo>
                      <a:pt x="522" y="102"/>
                      <a:pt x="522" y="102"/>
                      <a:pt x="485" y="246"/>
                    </a:cubicBezTo>
                    <a:cubicBezTo>
                      <a:pt x="485" y="246"/>
                      <a:pt x="485" y="246"/>
                      <a:pt x="221" y="537"/>
                    </a:cubicBezTo>
                    <a:cubicBezTo>
                      <a:pt x="221" y="537"/>
                      <a:pt x="221" y="537"/>
                      <a:pt x="0" y="335"/>
                    </a:cubicBezTo>
                    <a:cubicBezTo>
                      <a:pt x="0" y="335"/>
                      <a:pt x="0" y="335"/>
                      <a:pt x="269" y="44"/>
                    </a:cubicBezTo>
                    <a:cubicBezTo>
                      <a:pt x="269" y="44"/>
                      <a:pt x="269" y="44"/>
                      <a:pt x="409" y="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72" name="ee4pFootnotes">
            <a:extLst>
              <a:ext uri="{FF2B5EF4-FFF2-40B4-BE49-F238E27FC236}">
                <a16:creationId xmlns:a16="http://schemas.microsoft.com/office/drawing/2014/main" id="{3D7279FD-8F11-46D7-824E-B2168EEAF00B}"/>
              </a:ext>
            </a:extLst>
          </p:cNvPr>
          <p:cNvSpPr>
            <a:spLocks noChangeArrowheads="1"/>
          </p:cNvSpPr>
          <p:nvPr/>
        </p:nvSpPr>
        <p:spPr bwMode="auto">
          <a:xfrm>
            <a:off x="630000" y="6638573"/>
            <a:ext cx="9030914" cy="138499"/>
          </a:xfrm>
          <a:prstGeom prst="rect">
            <a:avLst/>
          </a:prstGeom>
          <a:noFill/>
          <a:ln w="9525" algn="ctr">
            <a:noFill/>
            <a:miter lim="800000"/>
            <a:headEnd type="none" w="lg" len="lg"/>
            <a:tailEnd type="none" w="lg" len="lg"/>
          </a:ln>
        </p:spPr>
        <p:txBody>
          <a:bodyPr vert="horz" wrap="square" lIns="0" tIns="0" rIns="0" bIns="0" anchor="b" anchorCtr="0">
            <a:spAutoFit/>
          </a:bodyPr>
          <a:lstStyle/>
          <a:p>
            <a:pPr>
              <a:lnSpc>
                <a:spcPct val="90000"/>
              </a:lnSpc>
            </a:pPr>
            <a:r>
              <a:rPr lang="en-US" sz="1000">
                <a:solidFill>
                  <a:schemeClr val="bg1">
                    <a:lumMod val="50000"/>
                  </a:schemeClr>
                </a:solidFill>
                <a:latin typeface="Trebuchet MS" panose="020B0603020202020204" pitchFamily="34" charset="0"/>
                <a:cs typeface="Arial" pitchFamily="34" charset="0"/>
              </a:rPr>
              <a:t>1.PDP = Product Detail Page </a:t>
            </a:r>
          </a:p>
        </p:txBody>
      </p:sp>
    </p:spTree>
    <p:extLst>
      <p:ext uri="{BB962C8B-B14F-4D97-AF65-F5344CB8AC3E}">
        <p14:creationId xmlns:p14="http://schemas.microsoft.com/office/powerpoint/2010/main" val="43971393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5" imgW="352" imgH="355" progId="TCLayout.ActiveDocument.1">
                  <p:embed/>
                </p:oleObj>
              </mc:Choice>
              <mc:Fallback>
                <p:oleObj name="think-cell Slide" r:id="rId5" imgW="352" imgH="355" progId="TCLayout.ActiveDocument.1">
                  <p:embed/>
                  <p:pic>
                    <p:nvPicPr>
                      <p:cNvPr id="5" name="Object 4" hidden="1"/>
                      <p:cNvPicPr/>
                      <p:nvPr/>
                    </p:nvPicPr>
                    <p:blipFill>
                      <a:blip r:embed="rId6"/>
                      <a:stretch>
                        <a:fillRect/>
                      </a:stretch>
                    </p:blipFill>
                    <p:spPr>
                      <a:xfrm>
                        <a:off x="2118" y="2118"/>
                        <a:ext cx="2117" cy="2117"/>
                      </a:xfrm>
                      <a:prstGeom prst="rect">
                        <a:avLst/>
                      </a:prstGeom>
                    </p:spPr>
                  </p:pic>
                </p:oleObj>
              </mc:Fallback>
            </mc:AlternateContent>
          </a:graphicData>
        </a:graphic>
      </p:graphicFrame>
      <p:sp>
        <p:nvSpPr>
          <p:cNvPr id="3" name="Rectangle 2" hidden="1"/>
          <p:cNvSpPr/>
          <p:nvPr>
            <p:custDataLst>
              <p:tags r:id="rId2"/>
            </p:custDataLst>
          </p:nvPr>
        </p:nvSpPr>
        <p:spPr>
          <a:xfrm>
            <a:off x="0" y="0"/>
            <a:ext cx="211667" cy="211667"/>
          </a:xfrm>
          <a:prstGeom prst="rect">
            <a:avLst/>
          </a:prstGeom>
          <a:solidFill>
            <a:srgbClr val="56AEE1"/>
          </a:solidFill>
          <a:ln w="9525" cap="rnd" cmpd="sng" algn="ctr">
            <a:solidFill>
              <a:srgbClr val="56AEE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endParaRPr lang="en-US" sz="3200">
              <a:solidFill>
                <a:srgbClr val="FFFFFF"/>
              </a:solidFill>
              <a:latin typeface="Work Sans SemiBold" panose="020B0604020202020204" charset="0"/>
              <a:ea typeface="+mj-ea"/>
              <a:cs typeface="+mj-cs"/>
              <a:sym typeface="Work Sans SemiBold" panose="020B0604020202020204" charset="0"/>
            </a:endParaRPr>
          </a:p>
        </p:txBody>
      </p:sp>
      <p:sp>
        <p:nvSpPr>
          <p:cNvPr id="4" name="Title 3"/>
          <p:cNvSpPr>
            <a:spLocks noGrp="1"/>
          </p:cNvSpPr>
          <p:nvPr>
            <p:ph type="title"/>
          </p:nvPr>
        </p:nvSpPr>
        <p:spPr>
          <a:xfrm>
            <a:off x="630000" y="622800"/>
            <a:ext cx="10933200" cy="886397"/>
          </a:xfrm>
        </p:spPr>
        <p:txBody>
          <a:bodyPr/>
          <a:lstStyle/>
          <a:p>
            <a:r>
              <a:rPr lang="en-US"/>
              <a:t>To accelerate value, we prioritize use cases by potential value and ease of implementation</a:t>
            </a:r>
          </a:p>
        </p:txBody>
      </p:sp>
      <p:sp>
        <p:nvSpPr>
          <p:cNvPr id="33" name="Rectangle 32"/>
          <p:cNvSpPr/>
          <p:nvPr/>
        </p:nvSpPr>
        <p:spPr>
          <a:xfrm>
            <a:off x="10873976" y="1266940"/>
            <a:ext cx="1318024" cy="268137"/>
          </a:xfrm>
          <a:prstGeom prst="rect">
            <a:avLst/>
          </a:prstGeom>
          <a:solidFill>
            <a:srgbClr val="E71C57"/>
          </a:solidFill>
          <a:ln w="9525" cap="rnd" cmpd="sng" algn="ctr">
            <a:noFill/>
            <a:prstDash val="sysDot"/>
            <a:roun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spcAft>
                <a:spcPts val="1000"/>
              </a:spcAft>
            </a:pPr>
            <a:r>
              <a:rPr lang="en-US" sz="1200" i="1" kern="0">
                <a:solidFill>
                  <a:srgbClr val="FFFFFF"/>
                </a:solidFill>
                <a:sym typeface="+mn-lt"/>
              </a:rPr>
              <a:t>Illustrative</a:t>
            </a:r>
          </a:p>
        </p:txBody>
      </p:sp>
      <p:sp>
        <p:nvSpPr>
          <p:cNvPr id="102" name="ee4pHeader1"/>
          <p:cNvSpPr txBox="1"/>
          <p:nvPr/>
        </p:nvSpPr>
        <p:spPr>
          <a:xfrm>
            <a:off x="623151" y="1852905"/>
            <a:ext cx="3292861" cy="119706"/>
          </a:xfrm>
          <a:prstGeom prst="rect">
            <a:avLst/>
          </a:prstGeom>
          <a:noFill/>
          <a:ln cap="rnd">
            <a:noFill/>
          </a:ln>
        </p:spPr>
        <p:txBody>
          <a:bodyPr vert="horz" wrap="square" lIns="0" tIns="0" rIns="0" bIns="0" rtlCol="0" anchor="b" anchorCtr="0">
            <a:noAutofit/>
          </a:bodyPr>
          <a:lstStyle/>
          <a:p>
            <a:pPr marL="0" lvl="3"/>
            <a:r>
              <a:rPr lang="en-US" sz="1250">
                <a:solidFill>
                  <a:srgbClr val="295E7E"/>
                </a:solidFill>
                <a:latin typeface="Work Sans SemiBold" panose="00000700000000000000" pitchFamily="2" charset="0"/>
                <a:sym typeface="+mn-lt"/>
              </a:rPr>
              <a:t>Precision  media</a:t>
            </a:r>
          </a:p>
        </p:txBody>
      </p:sp>
      <p:sp>
        <p:nvSpPr>
          <p:cNvPr id="103" name="ee4pContent1"/>
          <p:cNvSpPr txBox="1"/>
          <p:nvPr/>
        </p:nvSpPr>
        <p:spPr>
          <a:xfrm>
            <a:off x="632571" y="2054029"/>
            <a:ext cx="4065217" cy="646331"/>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spAutoFit/>
          </a:bodyPr>
          <a:lstStyle>
            <a:defPPr>
              <a:defRPr lang="en-US"/>
            </a:defPPr>
            <a:lvl1pPr>
              <a:buSzPct val="100000"/>
              <a:buFont typeface="Trebuchet MS" panose="020B0603020202020204" pitchFamily="34" charset="0"/>
              <a:buChar char="​"/>
              <a:defRPr sz="1400">
                <a:solidFill>
                  <a:srgbClr val="575757"/>
                </a:solidFill>
              </a:defRPr>
            </a:lvl1pPr>
            <a:lvl2pPr marL="324000" lvl="1" indent="-216000">
              <a:buClr>
                <a:srgbClr val="2E3558"/>
              </a:buClr>
              <a:buSzPct val="100000"/>
              <a:buFont typeface="Trebuchet MS" panose="020B0603020202020204" pitchFamily="34" charset="0"/>
              <a:buChar char="•"/>
              <a:defRPr sz="1400">
                <a:solidFill>
                  <a:srgbClr val="575757"/>
                </a:solidFill>
              </a:defRPr>
            </a:lvl2pPr>
            <a:lvl3pPr marL="648000" lvl="2" indent="-216000">
              <a:buClr>
                <a:srgbClr val="2E3558"/>
              </a:buClr>
              <a:buSzPct val="100000"/>
              <a:buFont typeface="Trebuchet MS" panose="020B0603020202020204" pitchFamily="34" charset="0"/>
              <a:buChar char="–"/>
              <a:defRPr sz="1400">
                <a:solidFill>
                  <a:srgbClr val="575757"/>
                </a:solidFill>
              </a:defRPr>
            </a:lvl3pPr>
            <a:lvl4pPr marL="0" lvl="3">
              <a:buSzPct val="100000"/>
              <a:buFont typeface="Trebuchet MS" panose="020B0603020202020204" pitchFamily="34" charset="0"/>
              <a:buChar char="​"/>
              <a:defRPr>
                <a:solidFill>
                  <a:srgbClr val="2E3558"/>
                </a:solidFill>
                <a:latin typeface="+mj-lt"/>
              </a:defRPr>
            </a:lvl4pPr>
            <a:lvl5pPr marL="0" lvl="4">
              <a:buSzPct val="100000"/>
              <a:buFont typeface="Trebuchet MS" panose="020B0603020202020204" pitchFamily="34" charset="0"/>
              <a:buChar char="​"/>
              <a:defRPr b="1">
                <a:solidFill>
                  <a:srgbClr val="575757"/>
                </a:solidFill>
              </a:defRPr>
            </a:lvl5pPr>
            <a:lvl6pPr marL="324000" lvl="5" indent="-216000">
              <a:buClr>
                <a:srgbClr val="2E3558"/>
              </a:buClr>
              <a:buSzPct val="100000"/>
              <a:buFont typeface="Trebuchet MS" panose="020B0603020202020204" pitchFamily="34" charset="0"/>
              <a:buChar char="•"/>
              <a:defRPr>
                <a:solidFill>
                  <a:srgbClr val="575757"/>
                </a:solidFill>
              </a:defRPr>
            </a:lvl6pPr>
            <a:lvl7pPr marL="0" lvl="6">
              <a:buSzPct val="100000"/>
              <a:buFont typeface="Trebuchet MS" panose="020B0603020202020204" pitchFamily="34" charset="0"/>
              <a:buChar char="​"/>
              <a:defRPr sz="4400">
                <a:solidFill>
                  <a:srgbClr val="575757"/>
                </a:solidFill>
              </a:defRPr>
            </a:lvl7pPr>
            <a:lvl8pPr marL="0" lvl="7">
              <a:buSzPct val="100000"/>
              <a:buFont typeface="Trebuchet MS" panose="020B0603020202020204" pitchFamily="34" charset="0"/>
              <a:buChar char="​"/>
              <a:defRPr sz="5400">
                <a:solidFill>
                  <a:srgbClr val="2E3558"/>
                </a:solidFill>
              </a:defRPr>
            </a:lvl8pPr>
            <a:lvl9pPr marL="0" lvl="8">
              <a:buSzPct val="100000"/>
              <a:buFont typeface="Trebuchet MS" panose="020B0603020202020204" pitchFamily="34" charset="0"/>
              <a:buChar char="​"/>
              <a:defRPr sz="2400">
                <a:solidFill>
                  <a:srgbClr val="2E3558"/>
                </a:solidFill>
              </a:defRPr>
            </a:lvl9pPr>
          </a:lstStyle>
          <a:p>
            <a:pPr marL="171450" lvl="1" indent="-171450">
              <a:buClr>
                <a:srgbClr val="2E3558">
                  <a:lumMod val="100000"/>
                </a:srgbClr>
              </a:buClr>
            </a:pPr>
            <a:r>
              <a:rPr lang="en-US" sz="1050">
                <a:latin typeface="Work Sans" panose="020B0604020202020204" charset="0"/>
              </a:rPr>
              <a:t>Mix optimization</a:t>
            </a:r>
          </a:p>
          <a:p>
            <a:pPr marL="171450" lvl="1" indent="-171450">
              <a:buClr>
                <a:srgbClr val="2E3558">
                  <a:lumMod val="100000"/>
                </a:srgbClr>
              </a:buClr>
            </a:pPr>
            <a:r>
              <a:rPr lang="en-US" sz="1050">
                <a:latin typeface="Work Sans" panose="020B0604020202020204" charset="0"/>
              </a:rPr>
              <a:t>Frequency management</a:t>
            </a:r>
          </a:p>
          <a:p>
            <a:pPr marL="171450" lvl="1" indent="-171450">
              <a:buClr>
                <a:srgbClr val="2E3558">
                  <a:lumMod val="100000"/>
                </a:srgbClr>
              </a:buClr>
            </a:pPr>
            <a:r>
              <a:rPr lang="en-US" sz="1050">
                <a:latin typeface="Work Sans" panose="020B0604020202020204" charset="0"/>
              </a:rPr>
              <a:t>Improved targeting (precision geo-targeting)</a:t>
            </a:r>
          </a:p>
          <a:p>
            <a:pPr marL="171450" lvl="1" indent="-171450">
              <a:buClr>
                <a:srgbClr val="2E3558">
                  <a:lumMod val="100000"/>
                </a:srgbClr>
              </a:buClr>
            </a:pPr>
            <a:r>
              <a:rPr lang="en-US" sz="1050">
                <a:latin typeface="Work Sans" panose="020B0604020202020204" charset="0"/>
              </a:rPr>
              <a:t>Triggered engagement</a:t>
            </a:r>
          </a:p>
        </p:txBody>
      </p:sp>
      <p:sp>
        <p:nvSpPr>
          <p:cNvPr id="108" name="ee4pHeader2"/>
          <p:cNvSpPr txBox="1"/>
          <p:nvPr/>
        </p:nvSpPr>
        <p:spPr>
          <a:xfrm>
            <a:off x="653858" y="5167380"/>
            <a:ext cx="3909130" cy="218222"/>
          </a:xfrm>
          <a:prstGeom prst="rect">
            <a:avLst/>
          </a:prstGeom>
          <a:noFill/>
          <a:ln cap="rnd">
            <a:noFill/>
          </a:ln>
        </p:spPr>
        <p:txBody>
          <a:bodyPr vert="horz" wrap="square" lIns="0" tIns="0" rIns="0" bIns="0" rtlCol="0" anchor="b" anchorCtr="0">
            <a:noAutofit/>
          </a:bodyPr>
          <a:lstStyle/>
          <a:p>
            <a:pPr marL="0" lvl="3"/>
            <a:r>
              <a:rPr lang="en-US" sz="1250">
                <a:solidFill>
                  <a:srgbClr val="78CFFD"/>
                </a:solidFill>
                <a:latin typeface="Work Sans SemiBold" panose="00000700000000000000" pitchFamily="2" charset="0"/>
                <a:sym typeface="+mn-lt"/>
              </a:rPr>
              <a:t>Loyalty &amp; advocacy</a:t>
            </a:r>
          </a:p>
        </p:txBody>
      </p:sp>
      <p:sp>
        <p:nvSpPr>
          <p:cNvPr id="109" name="ee4pContent2"/>
          <p:cNvSpPr txBox="1"/>
          <p:nvPr/>
        </p:nvSpPr>
        <p:spPr>
          <a:xfrm>
            <a:off x="635667" y="5448777"/>
            <a:ext cx="3027773" cy="1292662"/>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spAutoFit/>
          </a:bodyPr>
          <a:lstStyle>
            <a:defPPr>
              <a:defRPr lang="en-US"/>
            </a:defPPr>
            <a:lvl1pPr>
              <a:buSzPct val="100000"/>
              <a:buFont typeface="Trebuchet MS" panose="020B0603020202020204" pitchFamily="34" charset="0"/>
              <a:buChar char="​"/>
              <a:defRPr sz="1400">
                <a:solidFill>
                  <a:srgbClr val="575757"/>
                </a:solidFill>
              </a:defRPr>
            </a:lvl1pPr>
            <a:lvl2pPr marL="171450" lvl="1" indent="-171450">
              <a:buClr>
                <a:srgbClr val="2E3558">
                  <a:lumMod val="100000"/>
                </a:srgbClr>
              </a:buClr>
              <a:buSzPct val="100000"/>
              <a:buFont typeface="Trebuchet MS" panose="020B0603020202020204" pitchFamily="34" charset="0"/>
              <a:buChar char="•"/>
              <a:defRPr sz="1050">
                <a:solidFill>
                  <a:srgbClr val="575757"/>
                </a:solidFill>
                <a:latin typeface="Work Sans" panose="020B0604020202020204" charset="0"/>
              </a:defRPr>
            </a:lvl2pPr>
            <a:lvl3pPr marL="648000" lvl="2" indent="-216000">
              <a:buClr>
                <a:srgbClr val="2E3558"/>
              </a:buClr>
              <a:buSzPct val="100000"/>
              <a:buFont typeface="Trebuchet MS" panose="020B0603020202020204" pitchFamily="34" charset="0"/>
              <a:buChar char="–"/>
              <a:defRPr sz="1400">
                <a:solidFill>
                  <a:srgbClr val="575757"/>
                </a:solidFill>
              </a:defRPr>
            </a:lvl3pPr>
            <a:lvl4pPr marL="0" lvl="3">
              <a:buSzPct val="100000"/>
              <a:buFont typeface="Trebuchet MS" panose="020B0603020202020204" pitchFamily="34" charset="0"/>
              <a:buChar char="​"/>
              <a:defRPr>
                <a:solidFill>
                  <a:srgbClr val="2E3558"/>
                </a:solidFill>
                <a:latin typeface="+mj-lt"/>
              </a:defRPr>
            </a:lvl4pPr>
            <a:lvl5pPr marL="0" lvl="4">
              <a:buSzPct val="100000"/>
              <a:buFont typeface="Trebuchet MS" panose="020B0603020202020204" pitchFamily="34" charset="0"/>
              <a:buChar char="​"/>
              <a:defRPr b="1">
                <a:solidFill>
                  <a:srgbClr val="575757"/>
                </a:solidFill>
              </a:defRPr>
            </a:lvl5pPr>
            <a:lvl6pPr marL="324000" lvl="5" indent="-216000">
              <a:buClr>
                <a:srgbClr val="2E3558"/>
              </a:buClr>
              <a:buSzPct val="100000"/>
              <a:buFont typeface="Trebuchet MS" panose="020B0603020202020204" pitchFamily="34" charset="0"/>
              <a:buChar char="•"/>
              <a:defRPr>
                <a:solidFill>
                  <a:srgbClr val="575757"/>
                </a:solidFill>
              </a:defRPr>
            </a:lvl6pPr>
            <a:lvl7pPr marL="0" lvl="6">
              <a:buSzPct val="100000"/>
              <a:buFont typeface="Trebuchet MS" panose="020B0603020202020204" pitchFamily="34" charset="0"/>
              <a:buChar char="​"/>
              <a:defRPr sz="4400">
                <a:solidFill>
                  <a:srgbClr val="575757"/>
                </a:solidFill>
              </a:defRPr>
            </a:lvl7pPr>
            <a:lvl8pPr marL="0" lvl="7">
              <a:buSzPct val="100000"/>
              <a:buFont typeface="Trebuchet MS" panose="020B0603020202020204" pitchFamily="34" charset="0"/>
              <a:buChar char="​"/>
              <a:defRPr sz="5400">
                <a:solidFill>
                  <a:srgbClr val="2E3558"/>
                </a:solidFill>
              </a:defRPr>
            </a:lvl8pPr>
            <a:lvl9pPr marL="0" lvl="8">
              <a:buSzPct val="100000"/>
              <a:buFont typeface="Trebuchet MS" panose="020B0603020202020204" pitchFamily="34" charset="0"/>
              <a:buChar char="​"/>
              <a:defRPr sz="2400">
                <a:solidFill>
                  <a:srgbClr val="2E3558"/>
                </a:solidFill>
              </a:defRPr>
            </a:lvl9pPr>
          </a:lstStyle>
          <a:p>
            <a:pPr lvl="1"/>
            <a:r>
              <a:rPr lang="en-US"/>
              <a:t>Churn prevention</a:t>
            </a:r>
          </a:p>
          <a:p>
            <a:pPr lvl="1"/>
            <a:r>
              <a:rPr lang="en-US"/>
              <a:t>Re-activation/win-back</a:t>
            </a:r>
          </a:p>
          <a:p>
            <a:pPr lvl="1"/>
            <a:r>
              <a:rPr lang="en-US"/>
              <a:t>Personalized incentives </a:t>
            </a:r>
          </a:p>
          <a:p>
            <a:pPr lvl="1"/>
            <a:r>
              <a:rPr lang="en-US"/>
              <a:t>Surprise and delight</a:t>
            </a:r>
          </a:p>
          <a:p>
            <a:pPr lvl="1"/>
            <a:r>
              <a:rPr lang="en-US"/>
              <a:t>New customer onboarding</a:t>
            </a:r>
          </a:p>
          <a:p>
            <a:pPr lvl="1"/>
            <a:r>
              <a:rPr lang="en-US"/>
              <a:t>Referral programs</a:t>
            </a:r>
          </a:p>
          <a:p>
            <a:pPr lvl="1"/>
            <a:r>
              <a:rPr lang="en-US"/>
              <a:t>Personalized, shareable content</a:t>
            </a:r>
          </a:p>
          <a:p>
            <a:pPr lvl="1"/>
            <a:endParaRPr lang="en-US"/>
          </a:p>
        </p:txBody>
      </p:sp>
      <p:sp>
        <p:nvSpPr>
          <p:cNvPr id="104" name="ee4pHeader2"/>
          <p:cNvSpPr txBox="1"/>
          <p:nvPr/>
        </p:nvSpPr>
        <p:spPr>
          <a:xfrm>
            <a:off x="623151" y="3017442"/>
            <a:ext cx="3328101" cy="187571"/>
          </a:xfrm>
          <a:prstGeom prst="rect">
            <a:avLst/>
          </a:prstGeom>
          <a:noFill/>
          <a:ln cap="rnd">
            <a:noFill/>
          </a:ln>
        </p:spPr>
        <p:txBody>
          <a:bodyPr vert="horz" wrap="square" lIns="0" tIns="0" rIns="0" bIns="0" rtlCol="0" anchor="b" anchorCtr="0">
            <a:noAutofit/>
          </a:bodyPr>
          <a:lstStyle/>
          <a:p>
            <a:pPr marL="0" lvl="3"/>
            <a:r>
              <a:rPr lang="en-US" sz="1250">
                <a:solidFill>
                  <a:schemeClr val="tx2"/>
                </a:solidFill>
                <a:latin typeface="Work Sans SemiBold" panose="00000700000000000000" pitchFamily="2" charset="0"/>
                <a:sym typeface="+mn-lt"/>
              </a:rPr>
              <a:t>1:1 owned channel experiences</a:t>
            </a:r>
          </a:p>
        </p:txBody>
      </p:sp>
      <p:sp>
        <p:nvSpPr>
          <p:cNvPr id="105" name="ee4pContent2"/>
          <p:cNvSpPr txBox="1"/>
          <p:nvPr/>
        </p:nvSpPr>
        <p:spPr>
          <a:xfrm>
            <a:off x="614708" y="3316761"/>
            <a:ext cx="3791300" cy="1777410"/>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spAutoFit/>
          </a:bodyPr>
          <a:lstStyle>
            <a:defPPr>
              <a:defRPr lang="en-US"/>
            </a:defPPr>
            <a:lvl1pPr>
              <a:buSzPct val="100000"/>
              <a:buFont typeface="Trebuchet MS" panose="020B0603020202020204" pitchFamily="34" charset="0"/>
              <a:buChar char="​"/>
              <a:defRPr sz="1400">
                <a:solidFill>
                  <a:srgbClr val="575757"/>
                </a:solidFill>
              </a:defRPr>
            </a:lvl1pPr>
            <a:lvl2pPr marL="171450" lvl="1" indent="-171450">
              <a:buClr>
                <a:srgbClr val="2E3558">
                  <a:lumMod val="100000"/>
                </a:srgbClr>
              </a:buClr>
              <a:buSzPct val="100000"/>
              <a:buFont typeface="Trebuchet MS" panose="020B0603020202020204" pitchFamily="34" charset="0"/>
              <a:buChar char="•"/>
              <a:defRPr sz="1050">
                <a:solidFill>
                  <a:srgbClr val="575757"/>
                </a:solidFill>
                <a:latin typeface="Work Sans" panose="020B0604020202020204" charset="0"/>
              </a:defRPr>
            </a:lvl2pPr>
            <a:lvl3pPr marL="648000" lvl="2" indent="-216000">
              <a:buClr>
                <a:srgbClr val="2E3558"/>
              </a:buClr>
              <a:buSzPct val="100000"/>
              <a:buFont typeface="Trebuchet MS" panose="020B0603020202020204" pitchFamily="34" charset="0"/>
              <a:buChar char="–"/>
              <a:defRPr sz="1400">
                <a:solidFill>
                  <a:srgbClr val="575757"/>
                </a:solidFill>
              </a:defRPr>
            </a:lvl3pPr>
            <a:lvl4pPr marL="0" lvl="3">
              <a:buSzPct val="100000"/>
              <a:buFont typeface="Trebuchet MS" panose="020B0603020202020204" pitchFamily="34" charset="0"/>
              <a:buChar char="​"/>
              <a:defRPr>
                <a:solidFill>
                  <a:srgbClr val="2E3558"/>
                </a:solidFill>
                <a:latin typeface="+mj-lt"/>
              </a:defRPr>
            </a:lvl4pPr>
            <a:lvl5pPr marL="0" lvl="4">
              <a:buSzPct val="100000"/>
              <a:buFont typeface="Trebuchet MS" panose="020B0603020202020204" pitchFamily="34" charset="0"/>
              <a:buChar char="​"/>
              <a:defRPr b="1">
                <a:solidFill>
                  <a:srgbClr val="575757"/>
                </a:solidFill>
              </a:defRPr>
            </a:lvl5pPr>
            <a:lvl6pPr marL="324000" lvl="5" indent="-216000">
              <a:buClr>
                <a:srgbClr val="2E3558"/>
              </a:buClr>
              <a:buSzPct val="100000"/>
              <a:buFont typeface="Trebuchet MS" panose="020B0603020202020204" pitchFamily="34" charset="0"/>
              <a:buChar char="•"/>
              <a:defRPr>
                <a:solidFill>
                  <a:srgbClr val="575757"/>
                </a:solidFill>
              </a:defRPr>
            </a:lvl6pPr>
            <a:lvl7pPr marL="0" lvl="6">
              <a:buSzPct val="100000"/>
              <a:buFont typeface="Trebuchet MS" panose="020B0603020202020204" pitchFamily="34" charset="0"/>
              <a:buChar char="​"/>
              <a:defRPr sz="4400">
                <a:solidFill>
                  <a:srgbClr val="575757"/>
                </a:solidFill>
              </a:defRPr>
            </a:lvl7pPr>
            <a:lvl8pPr marL="0" lvl="7">
              <a:buSzPct val="100000"/>
              <a:buFont typeface="Trebuchet MS" panose="020B0603020202020204" pitchFamily="34" charset="0"/>
              <a:buChar char="​"/>
              <a:defRPr sz="5400">
                <a:solidFill>
                  <a:srgbClr val="2E3558"/>
                </a:solidFill>
              </a:defRPr>
            </a:lvl8pPr>
            <a:lvl9pPr marL="0" lvl="8">
              <a:buSzPct val="100000"/>
              <a:buFont typeface="Trebuchet MS" panose="020B0603020202020204" pitchFamily="34" charset="0"/>
              <a:buChar char="​"/>
              <a:defRPr sz="2400">
                <a:solidFill>
                  <a:srgbClr val="2E3558"/>
                </a:solidFill>
              </a:defRPr>
            </a:lvl9pPr>
          </a:lstStyle>
          <a:p>
            <a:pPr lvl="1"/>
            <a:r>
              <a:rPr lang="en-US"/>
              <a:t>Next best action/offer</a:t>
            </a:r>
          </a:p>
          <a:p>
            <a:pPr lvl="1"/>
            <a:r>
              <a:rPr lang="en-US"/>
              <a:t>Cross-sell recommendations (PDP, email, app)</a:t>
            </a:r>
          </a:p>
          <a:p>
            <a:pPr lvl="1"/>
            <a:r>
              <a:rPr lang="en-US"/>
              <a:t>Gamification/multi-step</a:t>
            </a:r>
          </a:p>
          <a:p>
            <a:pPr lvl="1"/>
            <a:r>
              <a:rPr lang="en-US"/>
              <a:t>Expand contactable customer base (e-mail acquisition, app download)</a:t>
            </a:r>
          </a:p>
          <a:p>
            <a:pPr lvl="1"/>
            <a:r>
              <a:rPr lang="en-US"/>
              <a:t>Bionic personalization</a:t>
            </a:r>
          </a:p>
          <a:p>
            <a:pPr lvl="1"/>
            <a:r>
              <a:rPr lang="en-US"/>
              <a:t>Triggered engagement</a:t>
            </a:r>
          </a:p>
          <a:p>
            <a:pPr lvl="1"/>
            <a:r>
              <a:rPr lang="en-US"/>
              <a:t>Personalized partnerships (e.g., cards/merchant funded offers)</a:t>
            </a:r>
          </a:p>
          <a:p>
            <a:pPr lvl="1"/>
            <a:r>
              <a:rPr lang="en-US"/>
              <a:t>Personalized product renewal/extension</a:t>
            </a:r>
          </a:p>
          <a:p>
            <a:pPr lvl="1"/>
            <a:endParaRPr lang="en-US"/>
          </a:p>
        </p:txBody>
      </p:sp>
      <p:sp>
        <p:nvSpPr>
          <p:cNvPr id="46" name="Rectangle 45"/>
          <p:cNvSpPr/>
          <p:nvPr/>
        </p:nvSpPr>
        <p:spPr>
          <a:xfrm>
            <a:off x="5081266" y="74428"/>
            <a:ext cx="2030818" cy="244549"/>
          </a:xfrm>
          <a:prstGeom prst="rect">
            <a:avLst/>
          </a:prstGeom>
          <a:noFill/>
          <a:ln w="9525" cap="rnd" cmpd="sng" algn="ctr">
            <a:noFill/>
            <a:prstDash val="sysDot"/>
            <a:round/>
          </a:ln>
          <a:effectLst/>
          <a:extLst>
            <a:ext uri="{909E8E84-426E-40DD-AFC4-6F175D3DCCD1}">
              <a14:hiddenFill xmlns:a14="http://schemas.microsoft.com/office/drawing/2010/main">
                <a:solidFill>
                  <a:schemeClr val="accent6"/>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eaLnBrk="1" fontAlgn="auto" latinLnBrk="0" hangingPunct="1">
              <a:lnSpc>
                <a:spcPct val="90000"/>
              </a:lnSpc>
              <a:spcBef>
                <a:spcPts val="0"/>
              </a:spcBef>
              <a:spcAft>
                <a:spcPts val="1000"/>
              </a:spcAft>
              <a:buClrTx/>
              <a:buSzTx/>
              <a:buFontTx/>
              <a:buNone/>
              <a:tabLst/>
            </a:pPr>
            <a:r>
              <a:rPr kumimoji="0" lang="en-US" sz="1200" b="0" i="0" u="none" strike="noStrike" kern="0" cap="none" spc="0" normalizeH="0" baseline="0" noProof="0">
                <a:ln>
                  <a:noFill/>
                </a:ln>
                <a:solidFill>
                  <a:srgbClr val="85858B"/>
                </a:solidFill>
                <a:effectLst/>
                <a:uLnTx/>
                <a:uFillTx/>
                <a:ea typeface="+mn-ea"/>
                <a:cs typeface="+mn-cs"/>
                <a:sym typeface="+mn-lt"/>
              </a:rPr>
              <a:t>Backup</a:t>
            </a:r>
          </a:p>
        </p:txBody>
      </p:sp>
      <p:cxnSp>
        <p:nvCxnSpPr>
          <p:cNvPr id="6" name="Straight Connector 5"/>
          <p:cNvCxnSpPr/>
          <p:nvPr/>
        </p:nvCxnSpPr>
        <p:spPr>
          <a:xfrm>
            <a:off x="593205" y="5107746"/>
            <a:ext cx="3770600" cy="0"/>
          </a:xfrm>
          <a:prstGeom prst="line">
            <a:avLst/>
          </a:prstGeom>
          <a:noFill/>
          <a:ln w="3175" cap="rnd" cmpd="sng" algn="ctr">
            <a:solidFill>
              <a:schemeClr val="accent6"/>
            </a:solidFill>
            <a:prstDash val="sysDot"/>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cxnSp>
      <p:cxnSp>
        <p:nvCxnSpPr>
          <p:cNvPr id="47" name="Straight Connector 46"/>
          <p:cNvCxnSpPr/>
          <p:nvPr/>
        </p:nvCxnSpPr>
        <p:spPr>
          <a:xfrm>
            <a:off x="593204" y="2869434"/>
            <a:ext cx="3770600" cy="0"/>
          </a:xfrm>
          <a:prstGeom prst="line">
            <a:avLst/>
          </a:prstGeom>
          <a:noFill/>
          <a:ln w="3175" cap="rnd" cmpd="sng" algn="ctr">
            <a:solidFill>
              <a:schemeClr val="accent6"/>
            </a:solidFill>
            <a:prstDash val="sysDot"/>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cxnSp>
      <p:grpSp>
        <p:nvGrpSpPr>
          <p:cNvPr id="50" name="Group 49">
            <a:extLst>
              <a:ext uri="{FF2B5EF4-FFF2-40B4-BE49-F238E27FC236}">
                <a16:creationId xmlns:a16="http://schemas.microsoft.com/office/drawing/2014/main" id="{AF929950-CF85-4F4B-8E9D-6B3BB0487522}"/>
              </a:ext>
            </a:extLst>
          </p:cNvPr>
          <p:cNvGrpSpPr/>
          <p:nvPr/>
        </p:nvGrpSpPr>
        <p:grpSpPr>
          <a:xfrm>
            <a:off x="6395670" y="1743303"/>
            <a:ext cx="5025691" cy="4062704"/>
            <a:chOff x="3783013" y="1488211"/>
            <a:chExt cx="4889500" cy="2226468"/>
          </a:xfrm>
        </p:grpSpPr>
        <p:sp>
          <p:nvSpPr>
            <p:cNvPr id="51" name="Rectangle 50">
              <a:extLst>
                <a:ext uri="{FF2B5EF4-FFF2-40B4-BE49-F238E27FC236}">
                  <a16:creationId xmlns:a16="http://schemas.microsoft.com/office/drawing/2014/main" id="{BF12F2D7-F1D0-4C47-A9B7-FF7AA954A689}"/>
                </a:ext>
              </a:extLst>
            </p:cNvPr>
            <p:cNvSpPr>
              <a:spLocks/>
            </p:cNvSpPr>
            <p:nvPr/>
          </p:nvSpPr>
          <p:spPr>
            <a:xfrm>
              <a:off x="3783013" y="2601445"/>
              <a:ext cx="2444750" cy="1113234"/>
            </a:xfrm>
            <a:prstGeom prst="rect">
              <a:avLst/>
            </a:prstGeom>
            <a:pattFill prst="ltDnDiag">
              <a:fgClr>
                <a:srgbClr val="EBC5D0"/>
              </a:fgClr>
              <a:bgClr>
                <a:schemeClr val="bg1"/>
              </a:bgClr>
            </a:patt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chemeClr val="accent6"/>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7151" tIns="28575" rIns="57151" bIns="28575" numCol="1" spcCol="0" rtlCol="0" fromWordArt="0" anchor="ctr" anchorCtr="0" forceAA="0" compatLnSpc="1">
              <a:prstTxWarp prst="textNoShape">
                <a:avLst/>
              </a:prstTxWarp>
              <a:noAutofit/>
            </a:bodyPr>
            <a:lstStyle/>
            <a:p>
              <a:pPr algn="ctr"/>
              <a:endParaRPr lang="en-US" sz="1600">
                <a:solidFill>
                  <a:srgbClr val="FFFFFF"/>
                </a:solidFill>
              </a:endParaRPr>
            </a:p>
          </p:txBody>
        </p:sp>
        <p:sp>
          <p:nvSpPr>
            <p:cNvPr id="52" name="Rectangle 51">
              <a:extLst>
                <a:ext uri="{FF2B5EF4-FFF2-40B4-BE49-F238E27FC236}">
                  <a16:creationId xmlns:a16="http://schemas.microsoft.com/office/drawing/2014/main" id="{B88E116F-181F-4B6E-9FCA-11599C656247}"/>
                </a:ext>
              </a:extLst>
            </p:cNvPr>
            <p:cNvSpPr>
              <a:spLocks/>
            </p:cNvSpPr>
            <p:nvPr/>
          </p:nvSpPr>
          <p:spPr>
            <a:xfrm>
              <a:off x="6227763" y="1488211"/>
              <a:ext cx="2444750" cy="1113234"/>
            </a:xfrm>
            <a:prstGeom prst="rect">
              <a:avLst/>
            </a:prstGeom>
            <a:pattFill prst="dkDnDiag">
              <a:fgClr>
                <a:srgbClr val="C9E7CA"/>
              </a:fgClr>
              <a:bgClr>
                <a:schemeClr val="bg1"/>
              </a:bgClr>
            </a:patt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14300" tIns="57151" rIns="114300" bIns="57151" numCol="1" spcCol="0" rtlCol="0" fromWordArt="0" anchor="ctr" anchorCtr="0" forceAA="0" compatLnSpc="1">
              <a:prstTxWarp prst="textNoShape">
                <a:avLst/>
              </a:prstTxWarp>
              <a:noAutofit/>
            </a:bodyPr>
            <a:lstStyle/>
            <a:p>
              <a:pPr algn="ctr"/>
              <a:endParaRPr lang="en-US" sz="1600">
                <a:solidFill>
                  <a:srgbClr val="FFFFFF"/>
                </a:solidFill>
              </a:endParaRPr>
            </a:p>
          </p:txBody>
        </p:sp>
        <p:cxnSp>
          <p:nvCxnSpPr>
            <p:cNvPr id="54" name="Straight Connector 53">
              <a:extLst>
                <a:ext uri="{FF2B5EF4-FFF2-40B4-BE49-F238E27FC236}">
                  <a16:creationId xmlns:a16="http://schemas.microsoft.com/office/drawing/2014/main" id="{C05ECBED-43A2-4015-ACD6-D8D64FCB8276}"/>
                </a:ext>
              </a:extLst>
            </p:cNvPr>
            <p:cNvCxnSpPr/>
            <p:nvPr/>
          </p:nvCxnSpPr>
          <p:spPr>
            <a:xfrm flipV="1">
              <a:off x="3783013" y="2601444"/>
              <a:ext cx="4889500" cy="0"/>
            </a:xfrm>
            <a:prstGeom prst="line">
              <a:avLst/>
            </a:prstGeom>
            <a:ln w="9525" cap="flat" cmpd="sng" algn="ctr">
              <a:solidFill>
                <a:srgbClr val="DEE7EE"/>
              </a:solidFill>
              <a:prstDash val="solid"/>
              <a:round/>
              <a:headEnd type="none" w="med" len="med"/>
              <a:tailEnd type="none" w="med" len="med"/>
            </a:ln>
          </p:spPr>
        </p:cxnSp>
        <p:cxnSp>
          <p:nvCxnSpPr>
            <p:cNvPr id="55" name="Straight Connector 54">
              <a:extLst>
                <a:ext uri="{FF2B5EF4-FFF2-40B4-BE49-F238E27FC236}">
                  <a16:creationId xmlns:a16="http://schemas.microsoft.com/office/drawing/2014/main" id="{985AF996-886C-4F93-A3B3-C65953EC34EC}"/>
                </a:ext>
              </a:extLst>
            </p:cNvPr>
            <p:cNvCxnSpPr/>
            <p:nvPr/>
          </p:nvCxnSpPr>
          <p:spPr>
            <a:xfrm flipV="1">
              <a:off x="6227763" y="1488211"/>
              <a:ext cx="0" cy="2226468"/>
            </a:xfrm>
            <a:prstGeom prst="line">
              <a:avLst/>
            </a:prstGeom>
            <a:ln w="9525" cap="flat" cmpd="sng" algn="ctr">
              <a:solidFill>
                <a:srgbClr val="DEE7EE"/>
              </a:solidFill>
              <a:prstDash val="solid"/>
              <a:round/>
              <a:headEnd type="none" w="med" len="med"/>
              <a:tailEnd type="none" w="med" len="med"/>
            </a:ln>
          </p:spPr>
        </p:cxnSp>
        <p:cxnSp>
          <p:nvCxnSpPr>
            <p:cNvPr id="56" name="Straight Connector 55">
              <a:extLst>
                <a:ext uri="{FF2B5EF4-FFF2-40B4-BE49-F238E27FC236}">
                  <a16:creationId xmlns:a16="http://schemas.microsoft.com/office/drawing/2014/main" id="{05BCAFEB-C5C6-40EA-93AF-E2793DDA8072}"/>
                </a:ext>
              </a:extLst>
            </p:cNvPr>
            <p:cNvCxnSpPr/>
            <p:nvPr/>
          </p:nvCxnSpPr>
          <p:spPr>
            <a:xfrm>
              <a:off x="3783013" y="1488211"/>
              <a:ext cx="0" cy="2226468"/>
            </a:xfrm>
            <a:prstGeom prst="line">
              <a:avLst/>
            </a:prstGeom>
            <a:ln w="12700" cap="rnd">
              <a:solidFill>
                <a:srgbClr val="DEE7EE"/>
              </a:solidFill>
              <a:prstDash val="solid"/>
              <a:round/>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246541BD-F723-4D0C-8514-04891D28E3B8}"/>
                </a:ext>
              </a:extLst>
            </p:cNvPr>
            <p:cNvCxnSpPr/>
            <p:nvPr/>
          </p:nvCxnSpPr>
          <p:spPr>
            <a:xfrm>
              <a:off x="3783013" y="1488211"/>
              <a:ext cx="4889500" cy="0"/>
            </a:xfrm>
            <a:prstGeom prst="line">
              <a:avLst/>
            </a:prstGeom>
            <a:ln w="12700" cap="rnd">
              <a:solidFill>
                <a:srgbClr val="DEE7EE"/>
              </a:solidFill>
              <a:prstDash val="solid"/>
              <a:round/>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86FB737D-70C0-4926-98BE-D828CA675300}"/>
                </a:ext>
              </a:extLst>
            </p:cNvPr>
            <p:cNvCxnSpPr/>
            <p:nvPr/>
          </p:nvCxnSpPr>
          <p:spPr>
            <a:xfrm>
              <a:off x="8672513" y="1488211"/>
              <a:ext cx="0" cy="2226468"/>
            </a:xfrm>
            <a:prstGeom prst="line">
              <a:avLst/>
            </a:prstGeom>
            <a:ln w="12700" cap="rnd">
              <a:solidFill>
                <a:srgbClr val="DEE7EE"/>
              </a:solidFill>
              <a:prstDash val="solid"/>
              <a:round/>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3D9E9DA4-740D-4F8D-9A48-F23371C40A0F}"/>
                </a:ext>
              </a:extLst>
            </p:cNvPr>
            <p:cNvCxnSpPr/>
            <p:nvPr/>
          </p:nvCxnSpPr>
          <p:spPr>
            <a:xfrm>
              <a:off x="3783013" y="3714679"/>
              <a:ext cx="4889500" cy="0"/>
            </a:xfrm>
            <a:prstGeom prst="line">
              <a:avLst/>
            </a:prstGeom>
            <a:ln w="12700" cap="rnd">
              <a:solidFill>
                <a:srgbClr val="DEE7EE"/>
              </a:solidFill>
              <a:prstDash val="solid"/>
              <a:round/>
            </a:ln>
          </p:spPr>
          <p:style>
            <a:lnRef idx="1">
              <a:schemeClr val="accent1"/>
            </a:lnRef>
            <a:fillRef idx="0">
              <a:schemeClr val="accent1"/>
            </a:fillRef>
            <a:effectRef idx="0">
              <a:schemeClr val="accent1"/>
            </a:effectRef>
            <a:fontRef idx="minor">
              <a:schemeClr val="tx1"/>
            </a:fontRef>
          </p:style>
        </p:cxnSp>
      </p:grpSp>
      <p:sp>
        <p:nvSpPr>
          <p:cNvPr id="61" name="TextBox 60">
            <a:extLst>
              <a:ext uri="{FF2B5EF4-FFF2-40B4-BE49-F238E27FC236}">
                <a16:creationId xmlns:a16="http://schemas.microsoft.com/office/drawing/2014/main" id="{5F1BD52F-2E0B-40BA-8169-598343C3FC72}"/>
              </a:ext>
            </a:extLst>
          </p:cNvPr>
          <p:cNvSpPr txBox="1"/>
          <p:nvPr/>
        </p:nvSpPr>
        <p:spPr>
          <a:xfrm>
            <a:off x="5313862" y="3766064"/>
            <a:ext cx="1112890" cy="92148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r>
              <a:rPr lang="en-US" sz="1400" b="1">
                <a:solidFill>
                  <a:srgbClr val="295E7E"/>
                </a:solidFill>
              </a:rPr>
              <a:t>Potential value</a:t>
            </a:r>
          </a:p>
        </p:txBody>
      </p:sp>
      <p:sp>
        <p:nvSpPr>
          <p:cNvPr id="62" name="TextBox 61">
            <a:extLst>
              <a:ext uri="{FF2B5EF4-FFF2-40B4-BE49-F238E27FC236}">
                <a16:creationId xmlns:a16="http://schemas.microsoft.com/office/drawing/2014/main" id="{68E4EA10-BFB4-48CB-92FA-1E21856EFC56}"/>
              </a:ext>
            </a:extLst>
          </p:cNvPr>
          <p:cNvSpPr txBox="1"/>
          <p:nvPr/>
        </p:nvSpPr>
        <p:spPr>
          <a:xfrm>
            <a:off x="5587030" y="3020733"/>
            <a:ext cx="1011718" cy="92148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r>
              <a:rPr lang="en-US" sz="1400">
                <a:solidFill>
                  <a:srgbClr val="212C64"/>
                </a:solidFill>
              </a:rPr>
              <a:t>High</a:t>
            </a:r>
          </a:p>
        </p:txBody>
      </p:sp>
      <p:sp>
        <p:nvSpPr>
          <p:cNvPr id="63" name="TextBox 62">
            <a:extLst>
              <a:ext uri="{FF2B5EF4-FFF2-40B4-BE49-F238E27FC236}">
                <a16:creationId xmlns:a16="http://schemas.microsoft.com/office/drawing/2014/main" id="{99B0ABFD-9870-4C95-9AAC-2F2A3C72CCD1}"/>
              </a:ext>
            </a:extLst>
          </p:cNvPr>
          <p:cNvSpPr txBox="1"/>
          <p:nvPr/>
        </p:nvSpPr>
        <p:spPr>
          <a:xfrm>
            <a:off x="5587030" y="4506438"/>
            <a:ext cx="1011718" cy="91903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r>
              <a:rPr lang="en-US" sz="1400">
                <a:solidFill>
                  <a:srgbClr val="212C64"/>
                </a:solidFill>
              </a:rPr>
              <a:t>Low</a:t>
            </a:r>
          </a:p>
        </p:txBody>
      </p:sp>
      <p:sp>
        <p:nvSpPr>
          <p:cNvPr id="64" name="TextBox 63">
            <a:extLst>
              <a:ext uri="{FF2B5EF4-FFF2-40B4-BE49-F238E27FC236}">
                <a16:creationId xmlns:a16="http://schemas.microsoft.com/office/drawing/2014/main" id="{82031A9D-2695-40B9-99B0-872232611CA7}"/>
              </a:ext>
            </a:extLst>
          </p:cNvPr>
          <p:cNvSpPr txBox="1"/>
          <p:nvPr/>
        </p:nvSpPr>
        <p:spPr>
          <a:xfrm>
            <a:off x="6982213" y="5527290"/>
            <a:ext cx="1083328" cy="1089182"/>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r>
              <a:rPr lang="en-US" sz="1600">
                <a:solidFill>
                  <a:srgbClr val="212C64"/>
                </a:solidFill>
              </a:rPr>
              <a:t>Low</a:t>
            </a:r>
          </a:p>
        </p:txBody>
      </p:sp>
      <p:sp>
        <p:nvSpPr>
          <p:cNvPr id="65" name="TextBox 64">
            <a:extLst>
              <a:ext uri="{FF2B5EF4-FFF2-40B4-BE49-F238E27FC236}">
                <a16:creationId xmlns:a16="http://schemas.microsoft.com/office/drawing/2014/main" id="{792672B0-E19D-40FE-B4D0-BDDFB703545F}"/>
              </a:ext>
            </a:extLst>
          </p:cNvPr>
          <p:cNvSpPr txBox="1"/>
          <p:nvPr/>
        </p:nvSpPr>
        <p:spPr>
          <a:xfrm>
            <a:off x="9044302" y="5527290"/>
            <a:ext cx="1083328" cy="1089182"/>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r>
              <a:rPr lang="en-US" sz="1600">
                <a:solidFill>
                  <a:srgbClr val="212C64"/>
                </a:solidFill>
              </a:rPr>
              <a:t>High</a:t>
            </a:r>
          </a:p>
        </p:txBody>
      </p:sp>
      <p:sp>
        <p:nvSpPr>
          <p:cNvPr id="66" name="TextBox 65">
            <a:extLst>
              <a:ext uri="{FF2B5EF4-FFF2-40B4-BE49-F238E27FC236}">
                <a16:creationId xmlns:a16="http://schemas.microsoft.com/office/drawing/2014/main" id="{5A8ED43F-723C-4237-8931-BC3CFEA012B5}"/>
              </a:ext>
            </a:extLst>
          </p:cNvPr>
          <p:cNvSpPr txBox="1"/>
          <p:nvPr/>
        </p:nvSpPr>
        <p:spPr>
          <a:xfrm>
            <a:off x="7185434" y="5926660"/>
            <a:ext cx="3032842" cy="1089182"/>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r>
              <a:rPr lang="en-US" sz="1600" b="1">
                <a:solidFill>
                  <a:srgbClr val="295E7E"/>
                </a:solidFill>
              </a:rPr>
              <a:t>Ease of Implementation</a:t>
            </a:r>
          </a:p>
        </p:txBody>
      </p:sp>
      <p:sp>
        <p:nvSpPr>
          <p:cNvPr id="67" name="Rectangle 66">
            <a:extLst>
              <a:ext uri="{FF2B5EF4-FFF2-40B4-BE49-F238E27FC236}">
                <a16:creationId xmlns:a16="http://schemas.microsoft.com/office/drawing/2014/main" id="{9434C212-27A6-4A31-8274-58706BC2EF63}"/>
              </a:ext>
            </a:extLst>
          </p:cNvPr>
          <p:cNvSpPr/>
          <p:nvPr/>
        </p:nvSpPr>
        <p:spPr>
          <a:xfrm>
            <a:off x="8954226" y="2994207"/>
            <a:ext cx="960493" cy="323165"/>
          </a:xfrm>
          <a:prstGeom prst="rect">
            <a:avLst/>
          </a:prstGeom>
          <a:solidFill>
            <a:srgbClr val="295E7E"/>
          </a:solidFill>
          <a:ln w="9525" cap="rnd" cmpd="sng" algn="ctr">
            <a:solidFill>
              <a:srgbClr val="295E7E"/>
            </a:solidFill>
            <a:prstDash val="sysDot"/>
            <a:round/>
            <a:headEnd type="none" w="med" len="med"/>
            <a:tailEnd type="none" w="med" len="med"/>
          </a:ln>
          <a:effectLst/>
        </p:spPr>
        <p:txBody>
          <a:bodyPr rot="0" spcFirstLastPara="0" vertOverflow="overflow" horzOverflow="overflow" vert="horz" wrap="square" lIns="0" tIns="0" rIns="0" bIns="0" numCol="1" spcCol="0" rtlCol="0" fromWordArt="0" anchor="ctr" anchorCtr="0" forceAA="0" compatLnSpc="1">
            <a:prstTxWarp prst="textNoShape">
              <a:avLst/>
            </a:prstTxWarp>
            <a:spAutoFit/>
          </a:bodyPr>
          <a:lstStyle/>
          <a:p>
            <a:pPr marL="0" marR="0" indent="0" algn="ctr" defTabSz="914400" eaLnBrk="1" fontAlgn="auto" latinLnBrk="0" hangingPunct="1">
              <a:spcBef>
                <a:spcPts val="0"/>
              </a:spcBef>
              <a:buClrTx/>
              <a:buSzTx/>
              <a:buFontTx/>
              <a:buNone/>
              <a:tabLst/>
            </a:pPr>
            <a:r>
              <a:rPr kumimoji="0" lang="en-US" sz="1050" b="0" i="0" u="none" strike="noStrike" kern="0" cap="none" spc="0" normalizeH="0" baseline="0" noProof="0">
                <a:ln>
                  <a:noFill/>
                </a:ln>
                <a:solidFill>
                  <a:srgbClr val="FFFFFF"/>
                </a:solidFill>
                <a:effectLst/>
                <a:uLnTx/>
                <a:uFillTx/>
                <a:ea typeface="+mn-ea"/>
                <a:cs typeface="+mn-cs"/>
                <a:sym typeface="+mn-lt"/>
              </a:rPr>
              <a:t>Frequency </a:t>
            </a:r>
          </a:p>
          <a:p>
            <a:pPr marL="0" marR="0" indent="0" algn="ctr" defTabSz="914400" eaLnBrk="1" fontAlgn="auto" latinLnBrk="0" hangingPunct="1">
              <a:spcBef>
                <a:spcPts val="0"/>
              </a:spcBef>
              <a:buClrTx/>
              <a:buSzTx/>
              <a:buFontTx/>
              <a:buNone/>
              <a:tabLst/>
            </a:pPr>
            <a:r>
              <a:rPr kumimoji="0" lang="en-US" sz="1050" b="0" i="0" u="none" strike="noStrike" kern="0" cap="none" spc="0" normalizeH="0" baseline="0" noProof="0">
                <a:ln>
                  <a:noFill/>
                </a:ln>
                <a:solidFill>
                  <a:srgbClr val="FFFFFF"/>
                </a:solidFill>
                <a:effectLst/>
                <a:uLnTx/>
                <a:uFillTx/>
                <a:ea typeface="+mn-ea"/>
                <a:cs typeface="+mn-cs"/>
                <a:sym typeface="+mn-lt"/>
              </a:rPr>
              <a:t>management</a:t>
            </a:r>
          </a:p>
        </p:txBody>
      </p:sp>
      <p:sp>
        <p:nvSpPr>
          <p:cNvPr id="68" name="Rectangle 67">
            <a:extLst>
              <a:ext uri="{FF2B5EF4-FFF2-40B4-BE49-F238E27FC236}">
                <a16:creationId xmlns:a16="http://schemas.microsoft.com/office/drawing/2014/main" id="{D1ED083D-8470-4D47-8784-83297BE9CBA1}"/>
              </a:ext>
            </a:extLst>
          </p:cNvPr>
          <p:cNvSpPr/>
          <p:nvPr/>
        </p:nvSpPr>
        <p:spPr>
          <a:xfrm>
            <a:off x="9816371" y="4087694"/>
            <a:ext cx="721632" cy="323165"/>
          </a:xfrm>
          <a:prstGeom prst="rect">
            <a:avLst/>
          </a:prstGeom>
          <a:solidFill>
            <a:srgbClr val="295E7E"/>
          </a:solidFill>
          <a:ln w="9525" cap="rnd" cmpd="sng" algn="ctr">
            <a:solidFill>
              <a:srgbClr val="295E7E"/>
            </a:solidFill>
            <a:prstDash val="sysDot"/>
            <a:round/>
            <a:headEnd type="none" w="med" len="med"/>
            <a:tailEnd type="none" w="med" len="med"/>
          </a:ln>
          <a:effectLst/>
        </p:spPr>
        <p:txBody>
          <a:bodyPr rot="0" spcFirstLastPara="0" vertOverflow="overflow" horzOverflow="overflow" vert="horz" wrap="square" lIns="0" tIns="0" rIns="0" bIns="0" numCol="1" spcCol="0" rtlCol="0" fromWordArt="0" anchor="ctr" anchorCtr="0" forceAA="0" compatLnSpc="1">
            <a:prstTxWarp prst="textNoShape">
              <a:avLst/>
            </a:prstTxWarp>
            <a:spAutoFit/>
          </a:bodyPr>
          <a:lstStyle/>
          <a:p>
            <a:pPr marL="0" marR="0" indent="0" algn="ctr" defTabSz="914400" eaLnBrk="1" fontAlgn="auto" latinLnBrk="0" hangingPunct="1">
              <a:spcBef>
                <a:spcPts val="0"/>
              </a:spcBef>
              <a:buClrTx/>
              <a:buSzTx/>
              <a:buFontTx/>
              <a:buNone/>
              <a:tabLst/>
            </a:pPr>
            <a:r>
              <a:rPr kumimoji="0" lang="en-US" sz="1050" b="0" i="0" u="none" strike="noStrike" kern="0" cap="none" spc="0" normalizeH="0" baseline="0" noProof="0">
                <a:ln>
                  <a:noFill/>
                </a:ln>
                <a:solidFill>
                  <a:srgbClr val="FFFFFF"/>
                </a:solidFill>
                <a:effectLst/>
                <a:uLnTx/>
                <a:uFillTx/>
                <a:ea typeface="+mn-ea"/>
                <a:cs typeface="+mn-cs"/>
                <a:sym typeface="+mn-lt"/>
              </a:rPr>
              <a:t>Improved</a:t>
            </a:r>
            <a:r>
              <a:rPr kumimoji="0" lang="en-US" sz="1050" b="0" i="0" u="none" strike="noStrike" kern="0" cap="none" spc="0" normalizeH="0" noProof="0">
                <a:ln>
                  <a:noFill/>
                </a:ln>
                <a:solidFill>
                  <a:srgbClr val="FFFFFF"/>
                </a:solidFill>
                <a:effectLst/>
                <a:uLnTx/>
                <a:uFillTx/>
                <a:ea typeface="+mn-ea"/>
                <a:cs typeface="+mn-cs"/>
                <a:sym typeface="+mn-lt"/>
              </a:rPr>
              <a:t> targeting</a:t>
            </a:r>
            <a:endParaRPr kumimoji="0" lang="en-US" sz="1050" b="0" i="0" u="none" strike="noStrike" kern="0" cap="none" spc="0" normalizeH="0" baseline="0" noProof="0">
              <a:ln>
                <a:noFill/>
              </a:ln>
              <a:solidFill>
                <a:srgbClr val="FFFFFF"/>
              </a:solidFill>
              <a:effectLst/>
              <a:uLnTx/>
              <a:uFillTx/>
              <a:ea typeface="+mn-ea"/>
              <a:cs typeface="+mn-cs"/>
              <a:sym typeface="+mn-lt"/>
            </a:endParaRPr>
          </a:p>
        </p:txBody>
      </p:sp>
      <p:sp>
        <p:nvSpPr>
          <p:cNvPr id="69" name="Rectangle 68">
            <a:extLst>
              <a:ext uri="{FF2B5EF4-FFF2-40B4-BE49-F238E27FC236}">
                <a16:creationId xmlns:a16="http://schemas.microsoft.com/office/drawing/2014/main" id="{95E97C98-47F5-4570-8D73-E20C4731D690}"/>
              </a:ext>
            </a:extLst>
          </p:cNvPr>
          <p:cNvSpPr/>
          <p:nvPr/>
        </p:nvSpPr>
        <p:spPr>
          <a:xfrm>
            <a:off x="9037576" y="2546954"/>
            <a:ext cx="793795" cy="323165"/>
          </a:xfrm>
          <a:prstGeom prst="rect">
            <a:avLst/>
          </a:prstGeom>
          <a:solidFill>
            <a:srgbClr val="29BA74"/>
          </a:solidFill>
          <a:ln w="9525" cap="rnd" cmpd="sng" algn="ctr">
            <a:solidFill>
              <a:srgbClr val="29BA74"/>
            </a:solidFill>
            <a:prstDash val="sysDot"/>
            <a:round/>
            <a:headEnd type="none" w="med" len="med"/>
            <a:tailEnd type="none" w="med" len="med"/>
          </a:ln>
          <a:effectLst/>
        </p:spPr>
        <p:txBody>
          <a:bodyPr rot="0" spcFirstLastPara="0" vertOverflow="overflow" horzOverflow="overflow" vert="horz" wrap="square" lIns="0" tIns="0" rIns="0" bIns="0" numCol="1" spcCol="0" rtlCol="0" fromWordArt="0" anchor="ctr" anchorCtr="0" forceAA="0" compatLnSpc="1">
            <a:prstTxWarp prst="textNoShape">
              <a:avLst/>
            </a:prstTxWarp>
            <a:spAutoFit/>
          </a:bodyPr>
          <a:lstStyle/>
          <a:p>
            <a:pPr marL="0" marR="0" indent="0" algn="ctr" defTabSz="914400" eaLnBrk="1" fontAlgn="auto" latinLnBrk="0" hangingPunct="1">
              <a:spcBef>
                <a:spcPts val="0"/>
              </a:spcBef>
              <a:buClrTx/>
              <a:buSzTx/>
              <a:buFontTx/>
              <a:buNone/>
              <a:tabLst/>
            </a:pPr>
            <a:r>
              <a:rPr kumimoji="0" lang="en-US" sz="1050" b="0" i="0" u="none" strike="noStrike" kern="0" cap="none" spc="0" normalizeH="0" baseline="0" noProof="0">
                <a:ln>
                  <a:noFill/>
                </a:ln>
                <a:solidFill>
                  <a:srgbClr val="FFFFFF"/>
                </a:solidFill>
                <a:effectLst/>
                <a:uLnTx/>
                <a:uFillTx/>
                <a:ea typeface="+mn-ea"/>
                <a:cs typeface="+mn-cs"/>
                <a:sym typeface="+mn-lt"/>
              </a:rPr>
              <a:t>Next best offer/action</a:t>
            </a:r>
          </a:p>
        </p:txBody>
      </p:sp>
      <p:sp>
        <p:nvSpPr>
          <p:cNvPr id="70" name="Rectangle 69">
            <a:extLst>
              <a:ext uri="{FF2B5EF4-FFF2-40B4-BE49-F238E27FC236}">
                <a16:creationId xmlns:a16="http://schemas.microsoft.com/office/drawing/2014/main" id="{6A040080-33CF-4BC9-9A7F-41B7809883E6}"/>
              </a:ext>
            </a:extLst>
          </p:cNvPr>
          <p:cNvSpPr/>
          <p:nvPr/>
        </p:nvSpPr>
        <p:spPr>
          <a:xfrm>
            <a:off x="7759941" y="2635358"/>
            <a:ext cx="1162196" cy="323165"/>
          </a:xfrm>
          <a:prstGeom prst="rect">
            <a:avLst/>
          </a:prstGeom>
          <a:solidFill>
            <a:srgbClr val="29BA74"/>
          </a:solidFill>
          <a:ln w="9525" cap="rnd" cmpd="sng" algn="ctr">
            <a:solidFill>
              <a:srgbClr val="29BA74"/>
            </a:solidFill>
            <a:prstDash val="sysDot"/>
            <a:round/>
            <a:headEnd type="none" w="med" len="med"/>
            <a:tailEnd type="none" w="med" len="med"/>
          </a:ln>
          <a:effectLst/>
        </p:spPr>
        <p:txBody>
          <a:bodyPr rot="0" spcFirstLastPara="0" vertOverflow="overflow" horzOverflow="overflow" vert="horz" wrap="square" lIns="0" tIns="0" rIns="0" bIns="0" numCol="1" spcCol="0" rtlCol="0" fromWordArt="0" anchor="ctr" anchorCtr="0" forceAA="0" compatLnSpc="1">
            <a:prstTxWarp prst="textNoShape">
              <a:avLst/>
            </a:prstTxWarp>
            <a:spAutoFit/>
          </a:bodyPr>
          <a:lstStyle/>
          <a:p>
            <a:pPr marL="0" marR="0" indent="0" algn="ctr" defTabSz="914400" eaLnBrk="1" fontAlgn="auto" latinLnBrk="0" hangingPunct="1">
              <a:spcBef>
                <a:spcPts val="0"/>
              </a:spcBef>
              <a:buClrTx/>
              <a:buSzTx/>
              <a:buFontTx/>
              <a:buNone/>
              <a:tabLst/>
            </a:pPr>
            <a:r>
              <a:rPr kumimoji="0" lang="en-US" sz="1050" b="0" i="0" u="none" strike="noStrike" kern="0" cap="none" spc="0" normalizeH="0" baseline="0" noProof="0">
                <a:ln>
                  <a:noFill/>
                </a:ln>
                <a:solidFill>
                  <a:srgbClr val="FFFFFF"/>
                </a:solidFill>
                <a:effectLst/>
                <a:uLnTx/>
                <a:uFillTx/>
                <a:ea typeface="+mn-ea"/>
                <a:cs typeface="+mn-cs"/>
                <a:sym typeface="+mn-lt"/>
              </a:rPr>
              <a:t>Cross-sell </a:t>
            </a:r>
          </a:p>
          <a:p>
            <a:pPr marL="0" marR="0" indent="0" algn="ctr" defTabSz="914400" eaLnBrk="1" fontAlgn="auto" latinLnBrk="0" hangingPunct="1">
              <a:spcBef>
                <a:spcPts val="0"/>
              </a:spcBef>
              <a:buClrTx/>
              <a:buSzTx/>
              <a:buFontTx/>
              <a:buNone/>
              <a:tabLst/>
            </a:pPr>
            <a:r>
              <a:rPr lang="en-US" sz="1050" kern="0">
                <a:solidFill>
                  <a:srgbClr val="FFFFFF"/>
                </a:solidFill>
                <a:sym typeface="+mn-lt"/>
              </a:rPr>
              <a:t>recommendation</a:t>
            </a:r>
            <a:endParaRPr kumimoji="0" lang="en-US" sz="1050" b="0" i="0" u="none" strike="noStrike" kern="0" cap="none" spc="0" normalizeH="0" baseline="0" noProof="0">
              <a:ln>
                <a:noFill/>
              </a:ln>
              <a:solidFill>
                <a:srgbClr val="FFFFFF"/>
              </a:solidFill>
              <a:effectLst/>
              <a:uLnTx/>
              <a:uFillTx/>
              <a:ea typeface="+mn-ea"/>
              <a:cs typeface="+mn-cs"/>
              <a:sym typeface="+mn-lt"/>
            </a:endParaRPr>
          </a:p>
        </p:txBody>
      </p:sp>
      <p:sp>
        <p:nvSpPr>
          <p:cNvPr id="71" name="Rectangle 70">
            <a:extLst>
              <a:ext uri="{FF2B5EF4-FFF2-40B4-BE49-F238E27FC236}">
                <a16:creationId xmlns:a16="http://schemas.microsoft.com/office/drawing/2014/main" id="{C09790B0-BB4F-419B-AD40-23A9D9C740A1}"/>
              </a:ext>
            </a:extLst>
          </p:cNvPr>
          <p:cNvSpPr/>
          <p:nvPr/>
        </p:nvSpPr>
        <p:spPr>
          <a:xfrm>
            <a:off x="7461404" y="3300210"/>
            <a:ext cx="1406258" cy="323165"/>
          </a:xfrm>
          <a:prstGeom prst="rect">
            <a:avLst/>
          </a:prstGeom>
          <a:solidFill>
            <a:srgbClr val="29BA74"/>
          </a:solidFill>
          <a:ln w="9525" cap="rnd" cmpd="sng" algn="ctr">
            <a:solidFill>
              <a:srgbClr val="29BA74"/>
            </a:solidFill>
            <a:prstDash val="sysDot"/>
            <a:round/>
            <a:headEnd type="none" w="med" len="med"/>
            <a:tailEnd type="none" w="med" len="med"/>
          </a:ln>
          <a:effectLst/>
        </p:spPr>
        <p:txBody>
          <a:bodyPr rot="0" spcFirstLastPara="0" vertOverflow="overflow" horzOverflow="overflow" vert="horz" wrap="square" lIns="0" tIns="0" rIns="0" bIns="0" numCol="1" spcCol="0" rtlCol="0" fromWordArt="0" anchor="ctr" anchorCtr="0" forceAA="0" compatLnSpc="1">
            <a:prstTxWarp prst="textNoShape">
              <a:avLst/>
            </a:prstTxWarp>
            <a:spAutoFit/>
          </a:bodyPr>
          <a:lstStyle/>
          <a:p>
            <a:pPr marL="0" marR="0" indent="0" algn="ctr" defTabSz="914400" eaLnBrk="1" fontAlgn="auto" latinLnBrk="0" hangingPunct="1">
              <a:spcBef>
                <a:spcPts val="0"/>
              </a:spcBef>
              <a:buClrTx/>
              <a:buSzTx/>
              <a:buFontTx/>
              <a:buNone/>
              <a:tabLst/>
            </a:pPr>
            <a:r>
              <a:rPr kumimoji="0" lang="en-US" sz="1050" b="0" i="0" u="none" strike="noStrike" kern="0" cap="none" spc="0" normalizeH="0" baseline="0" noProof="0">
                <a:ln>
                  <a:noFill/>
                </a:ln>
                <a:solidFill>
                  <a:srgbClr val="FFFFFF"/>
                </a:solidFill>
                <a:effectLst/>
                <a:uLnTx/>
                <a:uFillTx/>
                <a:ea typeface="+mn-ea"/>
                <a:cs typeface="+mn-cs"/>
                <a:sym typeface="+mn-lt"/>
              </a:rPr>
              <a:t>Expand contactable</a:t>
            </a:r>
            <a:r>
              <a:rPr kumimoji="0" lang="en-US" sz="1050" b="0" i="0" u="none" strike="noStrike" kern="0" cap="none" spc="0" normalizeH="0" noProof="0">
                <a:ln>
                  <a:noFill/>
                </a:ln>
                <a:solidFill>
                  <a:srgbClr val="FFFFFF"/>
                </a:solidFill>
                <a:effectLst/>
                <a:uLnTx/>
                <a:uFillTx/>
                <a:ea typeface="+mn-ea"/>
                <a:cs typeface="+mn-cs"/>
                <a:sym typeface="+mn-lt"/>
              </a:rPr>
              <a:t> customer base</a:t>
            </a:r>
            <a:endParaRPr kumimoji="0" lang="en-US" sz="1050" b="0" i="0" u="none" strike="noStrike" kern="0" cap="none" spc="0" normalizeH="0" baseline="0" noProof="0">
              <a:ln>
                <a:noFill/>
              </a:ln>
              <a:solidFill>
                <a:srgbClr val="FFFFFF"/>
              </a:solidFill>
              <a:effectLst/>
              <a:uLnTx/>
              <a:uFillTx/>
              <a:ea typeface="+mn-ea"/>
              <a:cs typeface="+mn-cs"/>
              <a:sym typeface="+mn-lt"/>
            </a:endParaRPr>
          </a:p>
        </p:txBody>
      </p:sp>
      <p:sp>
        <p:nvSpPr>
          <p:cNvPr id="73" name="Rectangle 72">
            <a:extLst>
              <a:ext uri="{FF2B5EF4-FFF2-40B4-BE49-F238E27FC236}">
                <a16:creationId xmlns:a16="http://schemas.microsoft.com/office/drawing/2014/main" id="{116CCB68-E36B-4343-BC59-22E405928CE9}"/>
              </a:ext>
            </a:extLst>
          </p:cNvPr>
          <p:cNvSpPr/>
          <p:nvPr/>
        </p:nvSpPr>
        <p:spPr>
          <a:xfrm>
            <a:off x="10466477" y="2860820"/>
            <a:ext cx="873175" cy="323165"/>
          </a:xfrm>
          <a:prstGeom prst="rect">
            <a:avLst/>
          </a:prstGeom>
          <a:solidFill>
            <a:srgbClr val="295E7E"/>
          </a:solidFill>
          <a:ln w="9525" cap="rnd" cmpd="sng" algn="ctr">
            <a:solidFill>
              <a:srgbClr val="295E7E"/>
            </a:solidFill>
            <a:prstDash val="sysDot"/>
            <a:round/>
            <a:headEnd type="none" w="med" len="med"/>
            <a:tailEnd type="none" w="med" len="med"/>
          </a:ln>
          <a:effectLst/>
        </p:spPr>
        <p:txBody>
          <a:bodyPr rot="0" spcFirstLastPara="0" vertOverflow="overflow" horzOverflow="overflow" vert="horz" wrap="square" lIns="0" tIns="0" rIns="0" bIns="0" numCol="1" spcCol="0" rtlCol="0" fromWordArt="0" anchor="ctr" anchorCtr="0" forceAA="0" compatLnSpc="1">
            <a:prstTxWarp prst="textNoShape">
              <a:avLst/>
            </a:prstTxWarp>
            <a:spAutoFit/>
          </a:bodyPr>
          <a:lstStyle/>
          <a:p>
            <a:pPr algn="ctr"/>
            <a:r>
              <a:rPr lang="en-US" sz="1050" kern="0">
                <a:solidFill>
                  <a:srgbClr val="FFFFFF"/>
                </a:solidFill>
                <a:sym typeface="+mn-lt"/>
              </a:rPr>
              <a:t>Mix optimization</a:t>
            </a:r>
          </a:p>
        </p:txBody>
      </p:sp>
      <p:sp>
        <p:nvSpPr>
          <p:cNvPr id="74" name="Rectangle 73">
            <a:extLst>
              <a:ext uri="{FF2B5EF4-FFF2-40B4-BE49-F238E27FC236}">
                <a16:creationId xmlns:a16="http://schemas.microsoft.com/office/drawing/2014/main" id="{B19B15C9-1667-47C9-ADCE-A7E647A6DDB2}"/>
              </a:ext>
            </a:extLst>
          </p:cNvPr>
          <p:cNvSpPr/>
          <p:nvPr/>
        </p:nvSpPr>
        <p:spPr>
          <a:xfrm>
            <a:off x="8326865" y="3659257"/>
            <a:ext cx="873175" cy="323165"/>
          </a:xfrm>
          <a:prstGeom prst="rect">
            <a:avLst/>
          </a:prstGeom>
          <a:solidFill>
            <a:srgbClr val="78CFFD"/>
          </a:solidFill>
          <a:ln w="9525" cap="rnd" cmpd="sng" algn="ctr">
            <a:solidFill>
              <a:srgbClr val="78CFFD"/>
            </a:solidFill>
            <a:prstDash val="sysDot"/>
            <a:round/>
            <a:headEnd type="none" w="med" len="med"/>
            <a:tailEnd type="none" w="med" len="med"/>
          </a:ln>
          <a:effectLst/>
        </p:spPr>
        <p:txBody>
          <a:bodyPr rot="0" spcFirstLastPara="0" vertOverflow="overflow" horzOverflow="overflow" vert="horz" wrap="square" lIns="0" tIns="0" rIns="0" bIns="0" numCol="1" spcCol="0" rtlCol="0" fromWordArt="0" anchor="ctr" anchorCtr="0" forceAA="0" compatLnSpc="1">
            <a:prstTxWarp prst="textNoShape">
              <a:avLst/>
            </a:prstTxWarp>
            <a:spAutoFit/>
          </a:bodyPr>
          <a:lstStyle/>
          <a:p>
            <a:pPr marL="0" marR="0" indent="0" algn="ctr" defTabSz="914400" eaLnBrk="1" fontAlgn="auto" latinLnBrk="0" hangingPunct="1">
              <a:spcBef>
                <a:spcPts val="0"/>
              </a:spcBef>
              <a:buClrTx/>
              <a:buSzTx/>
              <a:buFontTx/>
              <a:buNone/>
              <a:tabLst/>
            </a:pPr>
            <a:r>
              <a:rPr kumimoji="0" lang="en-US" sz="1050" b="0" i="0" u="none" strike="noStrike" kern="0" cap="none" spc="0" normalizeH="0" baseline="0" noProof="0">
                <a:ln>
                  <a:noFill/>
                </a:ln>
                <a:solidFill>
                  <a:srgbClr val="FFFFFF"/>
                </a:solidFill>
                <a:effectLst/>
                <a:uLnTx/>
                <a:uFillTx/>
                <a:ea typeface="+mn-ea"/>
                <a:cs typeface="+mn-cs"/>
                <a:sym typeface="+mn-lt"/>
              </a:rPr>
              <a:t>Personalized incentives</a:t>
            </a:r>
          </a:p>
        </p:txBody>
      </p:sp>
      <p:sp>
        <p:nvSpPr>
          <p:cNvPr id="75" name="Rectangle 74">
            <a:extLst>
              <a:ext uri="{FF2B5EF4-FFF2-40B4-BE49-F238E27FC236}">
                <a16:creationId xmlns:a16="http://schemas.microsoft.com/office/drawing/2014/main" id="{B60C5FB2-BD59-411E-9AC5-EFF1A924B797}"/>
              </a:ext>
            </a:extLst>
          </p:cNvPr>
          <p:cNvSpPr/>
          <p:nvPr/>
        </p:nvSpPr>
        <p:spPr>
          <a:xfrm>
            <a:off x="9425866" y="3661940"/>
            <a:ext cx="954215" cy="323165"/>
          </a:xfrm>
          <a:prstGeom prst="rect">
            <a:avLst/>
          </a:prstGeom>
          <a:solidFill>
            <a:srgbClr val="78CFFD"/>
          </a:solidFill>
          <a:ln w="9525" cap="rnd" cmpd="sng" algn="ctr">
            <a:solidFill>
              <a:srgbClr val="78CFFD"/>
            </a:solidFill>
            <a:prstDash val="sysDot"/>
            <a:round/>
            <a:headEnd type="none" w="med" len="med"/>
            <a:tailEnd type="none" w="med" len="med"/>
          </a:ln>
          <a:effectLst/>
        </p:spPr>
        <p:txBody>
          <a:bodyPr rot="0" spcFirstLastPara="0" vertOverflow="overflow" horzOverflow="overflow" vert="horz" wrap="square" lIns="0" tIns="0" rIns="0" bIns="0" numCol="1" spcCol="0" rtlCol="0" fromWordArt="0" anchor="ctr" anchorCtr="0" forceAA="0" compatLnSpc="1">
            <a:prstTxWarp prst="textNoShape">
              <a:avLst/>
            </a:prstTxWarp>
            <a:spAutoFit/>
          </a:bodyPr>
          <a:lstStyle/>
          <a:p>
            <a:pPr marL="0" marR="0" indent="0" algn="ctr" defTabSz="914400" eaLnBrk="1" fontAlgn="auto" latinLnBrk="0" hangingPunct="1">
              <a:spcBef>
                <a:spcPts val="0"/>
              </a:spcBef>
              <a:buClrTx/>
              <a:buSzTx/>
              <a:buFontTx/>
              <a:buNone/>
              <a:tabLst/>
            </a:pPr>
            <a:r>
              <a:rPr kumimoji="0" lang="en-US" sz="1050" b="0" i="0" u="none" strike="noStrike" kern="0" cap="none" spc="0" normalizeH="0" baseline="0" noProof="0">
                <a:ln>
                  <a:noFill/>
                </a:ln>
                <a:solidFill>
                  <a:srgbClr val="FFFFFF"/>
                </a:solidFill>
                <a:effectLst/>
                <a:uLnTx/>
                <a:uFillTx/>
                <a:ea typeface="+mn-ea"/>
                <a:cs typeface="+mn-cs"/>
                <a:sym typeface="+mn-lt"/>
              </a:rPr>
              <a:t>Re-activation/</a:t>
            </a:r>
          </a:p>
          <a:p>
            <a:pPr marL="0" marR="0" indent="0" algn="ctr" defTabSz="914400" eaLnBrk="1" fontAlgn="auto" latinLnBrk="0" hangingPunct="1">
              <a:spcBef>
                <a:spcPts val="0"/>
              </a:spcBef>
              <a:buClrTx/>
              <a:buSzTx/>
              <a:buFontTx/>
              <a:buNone/>
              <a:tabLst/>
            </a:pPr>
            <a:r>
              <a:rPr kumimoji="0" lang="en-US" sz="1050" b="0" i="0" u="none" strike="noStrike" kern="0" cap="none" spc="0" normalizeH="0" baseline="0" noProof="0">
                <a:ln>
                  <a:noFill/>
                </a:ln>
                <a:solidFill>
                  <a:srgbClr val="FFFFFF"/>
                </a:solidFill>
                <a:effectLst/>
                <a:uLnTx/>
                <a:uFillTx/>
                <a:ea typeface="+mn-ea"/>
                <a:cs typeface="+mn-cs"/>
                <a:sym typeface="+mn-lt"/>
              </a:rPr>
              <a:t>Win-back</a:t>
            </a:r>
          </a:p>
        </p:txBody>
      </p:sp>
      <p:sp>
        <p:nvSpPr>
          <p:cNvPr id="76" name="Rectangle 75">
            <a:extLst>
              <a:ext uri="{FF2B5EF4-FFF2-40B4-BE49-F238E27FC236}">
                <a16:creationId xmlns:a16="http://schemas.microsoft.com/office/drawing/2014/main" id="{4773CB1F-7D16-4D71-9EA5-069D9006D938}"/>
              </a:ext>
            </a:extLst>
          </p:cNvPr>
          <p:cNvSpPr/>
          <p:nvPr/>
        </p:nvSpPr>
        <p:spPr>
          <a:xfrm>
            <a:off x="9927445" y="3289935"/>
            <a:ext cx="793795" cy="323165"/>
          </a:xfrm>
          <a:prstGeom prst="rect">
            <a:avLst/>
          </a:prstGeom>
          <a:solidFill>
            <a:srgbClr val="78CFFD"/>
          </a:solidFill>
          <a:ln w="9525" cap="rnd" cmpd="sng" algn="ctr">
            <a:solidFill>
              <a:srgbClr val="78CFFD"/>
            </a:solidFill>
            <a:prstDash val="sysDot"/>
            <a:round/>
            <a:headEnd type="none" w="med" len="med"/>
            <a:tailEnd type="none" w="med" len="med"/>
          </a:ln>
          <a:effectLst/>
        </p:spPr>
        <p:txBody>
          <a:bodyPr rot="0" spcFirstLastPara="0" vertOverflow="overflow" horzOverflow="overflow" vert="horz" wrap="square" lIns="0" tIns="0" rIns="0" bIns="0" numCol="1" spcCol="0" rtlCol="0" fromWordArt="0" anchor="ctr" anchorCtr="0" forceAA="0" compatLnSpc="1">
            <a:prstTxWarp prst="textNoShape">
              <a:avLst/>
            </a:prstTxWarp>
            <a:spAutoFit/>
          </a:bodyPr>
          <a:lstStyle/>
          <a:p>
            <a:pPr marL="0" marR="0" indent="0" algn="ctr" defTabSz="914400" eaLnBrk="1" fontAlgn="auto" latinLnBrk="0" hangingPunct="1">
              <a:spcBef>
                <a:spcPts val="0"/>
              </a:spcBef>
              <a:buClrTx/>
              <a:buSzTx/>
              <a:buFontTx/>
              <a:buNone/>
              <a:tabLst/>
            </a:pPr>
            <a:r>
              <a:rPr kumimoji="0" lang="en-US" sz="1050" b="0" i="0" u="none" strike="noStrike" kern="0" cap="none" spc="0" normalizeH="0" baseline="0" noProof="0">
                <a:ln>
                  <a:noFill/>
                </a:ln>
                <a:solidFill>
                  <a:srgbClr val="FFFFFF"/>
                </a:solidFill>
                <a:effectLst/>
                <a:uLnTx/>
                <a:uFillTx/>
                <a:ea typeface="+mn-ea"/>
                <a:cs typeface="+mn-cs"/>
                <a:sym typeface="+mn-lt"/>
              </a:rPr>
              <a:t>Churn prevention</a:t>
            </a:r>
          </a:p>
        </p:txBody>
      </p:sp>
      <p:sp>
        <p:nvSpPr>
          <p:cNvPr id="77" name="Rectangle 76">
            <a:extLst>
              <a:ext uri="{FF2B5EF4-FFF2-40B4-BE49-F238E27FC236}">
                <a16:creationId xmlns:a16="http://schemas.microsoft.com/office/drawing/2014/main" id="{B9220C75-FFAC-4F5D-9936-829B2A099409}"/>
              </a:ext>
            </a:extLst>
          </p:cNvPr>
          <p:cNvSpPr/>
          <p:nvPr/>
        </p:nvSpPr>
        <p:spPr>
          <a:xfrm>
            <a:off x="7420359" y="2296404"/>
            <a:ext cx="960493" cy="323165"/>
          </a:xfrm>
          <a:prstGeom prst="rect">
            <a:avLst/>
          </a:prstGeom>
          <a:solidFill>
            <a:srgbClr val="29BA74"/>
          </a:solidFill>
          <a:ln w="9525" cap="rnd" cmpd="sng" algn="ctr">
            <a:solidFill>
              <a:srgbClr val="29BA74"/>
            </a:solidFill>
            <a:prstDash val="sysDot"/>
            <a:round/>
            <a:headEnd type="none" w="med" len="med"/>
            <a:tailEnd type="none" w="med" len="med"/>
          </a:ln>
          <a:effectLst/>
        </p:spPr>
        <p:txBody>
          <a:bodyPr rot="0" spcFirstLastPara="0" vertOverflow="overflow" horzOverflow="overflow" vert="horz" wrap="square" lIns="0" tIns="0" rIns="0" bIns="0" numCol="1" spcCol="0" rtlCol="0" fromWordArt="0" anchor="ctr" anchorCtr="0" forceAA="0" compatLnSpc="1">
            <a:prstTxWarp prst="textNoShape">
              <a:avLst/>
            </a:prstTxWarp>
            <a:spAutoFit/>
          </a:bodyPr>
          <a:lstStyle/>
          <a:p>
            <a:pPr marL="0" marR="0" indent="0" algn="ctr" defTabSz="914400" eaLnBrk="1" fontAlgn="auto" latinLnBrk="0" hangingPunct="1">
              <a:spcBef>
                <a:spcPts val="0"/>
              </a:spcBef>
              <a:buClrTx/>
              <a:buSzTx/>
              <a:buFontTx/>
              <a:buNone/>
              <a:tabLst/>
            </a:pPr>
            <a:r>
              <a:rPr kumimoji="0" lang="en-US" sz="1050" b="0" i="0" u="none" strike="noStrike" kern="0" cap="none" spc="0" normalizeH="0" baseline="0" noProof="0">
                <a:ln>
                  <a:noFill/>
                </a:ln>
                <a:solidFill>
                  <a:srgbClr val="FFFFFF"/>
                </a:solidFill>
                <a:effectLst/>
                <a:uLnTx/>
                <a:uFillTx/>
                <a:ea typeface="+mn-ea"/>
                <a:cs typeface="+mn-cs"/>
                <a:sym typeface="+mn-lt"/>
              </a:rPr>
              <a:t>Gamification/</a:t>
            </a:r>
          </a:p>
          <a:p>
            <a:pPr marL="0" marR="0" indent="0" algn="ctr" defTabSz="914400" eaLnBrk="1" fontAlgn="auto" latinLnBrk="0" hangingPunct="1">
              <a:spcBef>
                <a:spcPts val="0"/>
              </a:spcBef>
              <a:buClrTx/>
              <a:buSzTx/>
              <a:buFontTx/>
              <a:buNone/>
              <a:tabLst/>
            </a:pPr>
            <a:r>
              <a:rPr kumimoji="0" lang="en-US" sz="1050" b="0" i="0" u="none" strike="noStrike" kern="0" cap="none" spc="0" normalizeH="0" baseline="0" noProof="0">
                <a:ln>
                  <a:noFill/>
                </a:ln>
                <a:solidFill>
                  <a:srgbClr val="FFFFFF"/>
                </a:solidFill>
                <a:effectLst/>
                <a:uLnTx/>
                <a:uFillTx/>
                <a:ea typeface="+mn-ea"/>
                <a:cs typeface="+mn-cs"/>
                <a:sym typeface="+mn-lt"/>
              </a:rPr>
              <a:t>multi-step</a:t>
            </a:r>
          </a:p>
        </p:txBody>
      </p:sp>
      <p:grpSp>
        <p:nvGrpSpPr>
          <p:cNvPr id="49" name="Group 48">
            <a:extLst>
              <a:ext uri="{FF2B5EF4-FFF2-40B4-BE49-F238E27FC236}">
                <a16:creationId xmlns:a16="http://schemas.microsoft.com/office/drawing/2014/main" id="{4803AD9C-7BFA-4D14-9363-24C704B7EF5D}"/>
              </a:ext>
            </a:extLst>
          </p:cNvPr>
          <p:cNvGrpSpPr/>
          <p:nvPr/>
        </p:nvGrpSpPr>
        <p:grpSpPr>
          <a:xfrm>
            <a:off x="4915499" y="2081213"/>
            <a:ext cx="306171" cy="4079081"/>
            <a:chOff x="5942914" y="2081213"/>
            <a:chExt cx="306171" cy="4079081"/>
          </a:xfrm>
        </p:grpSpPr>
        <p:cxnSp>
          <p:nvCxnSpPr>
            <p:cNvPr id="72" name="Straight Connector 71">
              <a:extLst>
                <a:ext uri="{FF2B5EF4-FFF2-40B4-BE49-F238E27FC236}">
                  <a16:creationId xmlns:a16="http://schemas.microsoft.com/office/drawing/2014/main" id="{0682301E-287E-4F60-B56A-D6C33782C4E0}"/>
                </a:ext>
              </a:extLst>
            </p:cNvPr>
            <p:cNvCxnSpPr/>
            <p:nvPr/>
          </p:nvCxnSpPr>
          <p:spPr>
            <a:xfrm>
              <a:off x="6096000" y="2081213"/>
              <a:ext cx="0" cy="4079081"/>
            </a:xfrm>
            <a:prstGeom prst="line">
              <a:avLst/>
            </a:prstGeom>
            <a:ln w="9525" cap="rnd">
              <a:solidFill>
                <a:srgbClr val="9A9A9A"/>
              </a:solidFill>
              <a:prstDash val="solid"/>
            </a:ln>
          </p:spPr>
          <p:style>
            <a:lnRef idx="1">
              <a:schemeClr val="accent1"/>
            </a:lnRef>
            <a:fillRef idx="0">
              <a:schemeClr val="accent1"/>
            </a:fillRef>
            <a:effectRef idx="0">
              <a:schemeClr val="accent1"/>
            </a:effectRef>
            <a:fontRef idx="minor">
              <a:schemeClr val="tx1"/>
            </a:fontRef>
          </p:style>
        </p:cxnSp>
        <p:grpSp>
          <p:nvGrpSpPr>
            <p:cNvPr id="78" name="Group 77">
              <a:extLst>
                <a:ext uri="{FF2B5EF4-FFF2-40B4-BE49-F238E27FC236}">
                  <a16:creationId xmlns:a16="http://schemas.microsoft.com/office/drawing/2014/main" id="{41B8A889-A69B-4779-ABE5-02A659EC6DF0}"/>
                </a:ext>
              </a:extLst>
            </p:cNvPr>
            <p:cNvGrpSpPr/>
            <p:nvPr/>
          </p:nvGrpSpPr>
          <p:grpSpPr>
            <a:xfrm>
              <a:off x="5942914" y="3967299"/>
              <a:ext cx="306171" cy="306910"/>
              <a:chOff x="5937564" y="3833745"/>
              <a:chExt cx="306171" cy="306910"/>
            </a:xfrm>
          </p:grpSpPr>
          <p:sp>
            <p:nvSpPr>
              <p:cNvPr id="79" name="Freeform 94">
                <a:extLst>
                  <a:ext uri="{FF2B5EF4-FFF2-40B4-BE49-F238E27FC236}">
                    <a16:creationId xmlns:a16="http://schemas.microsoft.com/office/drawing/2014/main" id="{F18908E6-382E-48DB-82B3-44552D4E28F5}"/>
                  </a:ext>
                </a:extLst>
              </p:cNvPr>
              <p:cNvSpPr>
                <a:spLocks/>
              </p:cNvSpPr>
              <p:nvPr/>
            </p:nvSpPr>
            <p:spPr bwMode="gray">
              <a:xfrm>
                <a:off x="5937564" y="3833745"/>
                <a:ext cx="306171" cy="306910"/>
              </a:xfrm>
              <a:custGeom>
                <a:avLst/>
                <a:gdLst>
                  <a:gd name="T0" fmla="*/ 0 w 1052"/>
                  <a:gd name="T1" fmla="*/ 526 h 1052"/>
                  <a:gd name="T2" fmla="*/ 0 w 1052"/>
                  <a:gd name="T3" fmla="*/ 526 h 1052"/>
                  <a:gd name="T4" fmla="*/ 526 w 1052"/>
                  <a:gd name="T5" fmla="*/ 0 h 1052"/>
                  <a:gd name="T6" fmla="*/ 1052 w 1052"/>
                  <a:gd name="T7" fmla="*/ 526 h 1052"/>
                  <a:gd name="T8" fmla="*/ 1052 w 1052"/>
                  <a:gd name="T9" fmla="*/ 526 h 1052"/>
                  <a:gd name="T10" fmla="*/ 526 w 1052"/>
                  <a:gd name="T11" fmla="*/ 1052 h 1052"/>
                  <a:gd name="T12" fmla="*/ 526 w 1052"/>
                  <a:gd name="T13" fmla="*/ 1052 h 1052"/>
                  <a:gd name="T14" fmla="*/ 0 w 1052"/>
                  <a:gd name="T15" fmla="*/ 526 h 10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2" h="1052">
                    <a:moveTo>
                      <a:pt x="0" y="526"/>
                    </a:moveTo>
                    <a:cubicBezTo>
                      <a:pt x="0" y="526"/>
                      <a:pt x="0" y="526"/>
                      <a:pt x="0" y="526"/>
                    </a:cubicBezTo>
                    <a:cubicBezTo>
                      <a:pt x="0" y="236"/>
                      <a:pt x="236" y="0"/>
                      <a:pt x="526" y="0"/>
                    </a:cubicBezTo>
                    <a:cubicBezTo>
                      <a:pt x="817" y="0"/>
                      <a:pt x="1052" y="236"/>
                      <a:pt x="1052" y="526"/>
                    </a:cubicBezTo>
                    <a:cubicBezTo>
                      <a:pt x="1052" y="526"/>
                      <a:pt x="1052" y="526"/>
                      <a:pt x="1052" y="526"/>
                    </a:cubicBezTo>
                    <a:cubicBezTo>
                      <a:pt x="1052" y="817"/>
                      <a:pt x="817" y="1052"/>
                      <a:pt x="526" y="1052"/>
                    </a:cubicBezTo>
                    <a:cubicBezTo>
                      <a:pt x="526" y="1052"/>
                      <a:pt x="526" y="1052"/>
                      <a:pt x="526" y="1052"/>
                    </a:cubicBezTo>
                    <a:cubicBezTo>
                      <a:pt x="236" y="1052"/>
                      <a:pt x="0" y="817"/>
                      <a:pt x="0" y="526"/>
                    </a:cubicBezTo>
                    <a:close/>
                  </a:path>
                </a:pathLst>
              </a:custGeom>
              <a:solidFill>
                <a:schemeClr val="accent6"/>
              </a:solidFill>
              <a:ln>
                <a:solidFill>
                  <a:schemeClr val="accent6"/>
                </a:solidFill>
              </a:ln>
            </p:spPr>
            <p:txBody>
              <a:bodyPr vert="horz" wrap="square" lIns="88641" tIns="44321" rIns="88641" bIns="44321" numCol="1" anchor="t" anchorCtr="0" compatLnSpc="1">
                <a:prstTxWarp prst="textNoShape">
                  <a:avLst/>
                </a:prstTxWarp>
              </a:bodyPr>
              <a:lstStyle/>
              <a:p>
                <a:endParaRPr lang="en-US">
                  <a:solidFill>
                    <a:srgbClr val="6E6F73"/>
                  </a:solidFill>
                </a:endParaRPr>
              </a:p>
            </p:txBody>
          </p:sp>
          <p:sp>
            <p:nvSpPr>
              <p:cNvPr id="80" name="Freeform 95">
                <a:extLst>
                  <a:ext uri="{FF2B5EF4-FFF2-40B4-BE49-F238E27FC236}">
                    <a16:creationId xmlns:a16="http://schemas.microsoft.com/office/drawing/2014/main" id="{24CD2644-C1E2-4279-A872-180E0C368197}"/>
                  </a:ext>
                </a:extLst>
              </p:cNvPr>
              <p:cNvSpPr>
                <a:spLocks/>
              </p:cNvSpPr>
              <p:nvPr/>
            </p:nvSpPr>
            <p:spPr bwMode="gray">
              <a:xfrm>
                <a:off x="6053995" y="3876005"/>
                <a:ext cx="120251" cy="224731"/>
              </a:xfrm>
              <a:custGeom>
                <a:avLst/>
                <a:gdLst>
                  <a:gd name="T0" fmla="*/ 66 w 976"/>
                  <a:gd name="T1" fmla="*/ 1824 h 1824"/>
                  <a:gd name="T2" fmla="*/ 0 w 976"/>
                  <a:gd name="T3" fmla="*/ 1758 h 1824"/>
                  <a:gd name="T4" fmla="*/ 843 w 976"/>
                  <a:gd name="T5" fmla="*/ 912 h 1824"/>
                  <a:gd name="T6" fmla="*/ 0 w 976"/>
                  <a:gd name="T7" fmla="*/ 66 h 1824"/>
                  <a:gd name="T8" fmla="*/ 66 w 976"/>
                  <a:gd name="T9" fmla="*/ 0 h 1824"/>
                  <a:gd name="T10" fmla="*/ 976 w 976"/>
                  <a:gd name="T11" fmla="*/ 912 h 1824"/>
                  <a:gd name="T12" fmla="*/ 66 w 976"/>
                  <a:gd name="T13" fmla="*/ 1824 h 1824"/>
                </a:gdLst>
                <a:ahLst/>
                <a:cxnLst>
                  <a:cxn ang="0">
                    <a:pos x="T0" y="T1"/>
                  </a:cxn>
                  <a:cxn ang="0">
                    <a:pos x="T2" y="T3"/>
                  </a:cxn>
                  <a:cxn ang="0">
                    <a:pos x="T4" y="T5"/>
                  </a:cxn>
                  <a:cxn ang="0">
                    <a:pos x="T6" y="T7"/>
                  </a:cxn>
                  <a:cxn ang="0">
                    <a:pos x="T8" y="T9"/>
                  </a:cxn>
                  <a:cxn ang="0">
                    <a:pos x="T10" y="T11"/>
                  </a:cxn>
                  <a:cxn ang="0">
                    <a:pos x="T12" y="T13"/>
                  </a:cxn>
                </a:cxnLst>
                <a:rect l="0" t="0" r="r" b="b"/>
                <a:pathLst>
                  <a:path w="976" h="1824">
                    <a:moveTo>
                      <a:pt x="66" y="1824"/>
                    </a:moveTo>
                    <a:lnTo>
                      <a:pt x="0" y="1758"/>
                    </a:lnTo>
                    <a:lnTo>
                      <a:pt x="843" y="912"/>
                    </a:lnTo>
                    <a:lnTo>
                      <a:pt x="0" y="66"/>
                    </a:lnTo>
                    <a:lnTo>
                      <a:pt x="66" y="0"/>
                    </a:lnTo>
                    <a:lnTo>
                      <a:pt x="976" y="912"/>
                    </a:lnTo>
                    <a:lnTo>
                      <a:pt x="66" y="18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8641" tIns="44321" rIns="88641" bIns="44321" numCol="1" anchor="t" anchorCtr="0" compatLnSpc="1">
                <a:prstTxWarp prst="textNoShape">
                  <a:avLst/>
                </a:prstTxWarp>
              </a:bodyPr>
              <a:lstStyle/>
              <a:p>
                <a:endParaRPr lang="en-US">
                  <a:solidFill>
                    <a:srgbClr val="6E6F73"/>
                  </a:solidFill>
                </a:endParaRPr>
              </a:p>
            </p:txBody>
          </p:sp>
        </p:grpSp>
      </p:grpSp>
    </p:spTree>
    <p:extLst>
      <p:ext uri="{BB962C8B-B14F-4D97-AF65-F5344CB8AC3E}">
        <p14:creationId xmlns:p14="http://schemas.microsoft.com/office/powerpoint/2010/main" val="354554387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 name="Object 44" hidden="1"/>
          <p:cNvGraphicFramePr>
            <a:graphicFrameLocks noChangeAspect="1"/>
          </p:cNvGraphicFramePr>
          <p:nvPr>
            <p:custDataLst>
              <p:tags r:id="rId1"/>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45" name="Object 44" hidden="1"/>
                      <p:cNvPicPr/>
                      <p:nvPr/>
                    </p:nvPicPr>
                    <p:blipFill>
                      <a:blip r:embed="rId6"/>
                      <a:stretch>
                        <a:fillRect/>
                      </a:stretch>
                    </p:blipFill>
                    <p:spPr>
                      <a:xfrm>
                        <a:off x="1588" y="1588"/>
                        <a:ext cx="1587" cy="1587"/>
                      </a:xfrm>
                      <a:prstGeom prst="rect">
                        <a:avLst/>
                      </a:prstGeom>
                    </p:spPr>
                  </p:pic>
                </p:oleObj>
              </mc:Fallback>
            </mc:AlternateContent>
          </a:graphicData>
        </a:graphic>
      </p:graphicFrame>
      <p:cxnSp>
        <p:nvCxnSpPr>
          <p:cNvPr id="243" name="Straight Arrow Connector 242"/>
          <p:cNvCxnSpPr/>
          <p:nvPr/>
        </p:nvCxnSpPr>
        <p:spPr>
          <a:xfrm>
            <a:off x="1579322" y="2103022"/>
            <a:ext cx="0" cy="4235795"/>
          </a:xfrm>
          <a:prstGeom prst="straightConnector1">
            <a:avLst/>
          </a:prstGeom>
          <a:ln w="44450" cap="rnd" cmpd="sng" algn="ctr">
            <a:solidFill>
              <a:srgbClr val="6E6F73"/>
            </a:solidFill>
            <a:prstDash val="solid"/>
            <a:roun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50" name="Oval 249"/>
          <p:cNvSpPr/>
          <p:nvPr/>
        </p:nvSpPr>
        <p:spPr>
          <a:xfrm>
            <a:off x="1320489" y="2879577"/>
            <a:ext cx="517666" cy="517666"/>
          </a:xfrm>
          <a:prstGeom prst="ellipse">
            <a:avLst/>
          </a:prstGeom>
          <a:solidFill>
            <a:srgbClr val="FFFFFF"/>
          </a:solidFill>
          <a:ln w="19050">
            <a:gradFill flip="none" rotWithShape="1">
              <a:gsLst>
                <a:gs pos="0">
                  <a:schemeClr val="accent5"/>
                </a:gs>
                <a:gs pos="100000">
                  <a:schemeClr val="bg1">
                    <a:lumMod val="75000"/>
                  </a:schemeClr>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pPr>
            <a:endParaRPr lang="en-US" kern="0">
              <a:solidFill>
                <a:schemeClr val="bg1">
                  <a:lumMod val="50000"/>
                </a:schemeClr>
              </a:solidFill>
              <a:latin typeface="Trebuchet MS" panose="020B0603020202020204" pitchFamily="34" charset="0"/>
              <a:sym typeface="Trebuchet MS" panose="020B0603020202020204" pitchFamily="34" charset="0"/>
            </a:endParaRPr>
          </a:p>
        </p:txBody>
      </p:sp>
      <p:grpSp>
        <p:nvGrpSpPr>
          <p:cNvPr id="285" name="bcgIcons_Speaking">
            <a:extLst>
              <a:ext uri="{FF2B5EF4-FFF2-40B4-BE49-F238E27FC236}">
                <a16:creationId xmlns:a16="http://schemas.microsoft.com/office/drawing/2014/main" id="{935BD149-9489-44E7-A66D-E1A32859FC0E}"/>
              </a:ext>
            </a:extLst>
          </p:cNvPr>
          <p:cNvGrpSpPr>
            <a:grpSpLocks noChangeAspect="1"/>
          </p:cNvGrpSpPr>
          <p:nvPr/>
        </p:nvGrpSpPr>
        <p:grpSpPr bwMode="auto">
          <a:xfrm>
            <a:off x="1372255" y="2934170"/>
            <a:ext cx="414133" cy="414517"/>
            <a:chOff x="1682" y="0"/>
            <a:chExt cx="4316" cy="4320"/>
          </a:xfrm>
        </p:grpSpPr>
        <p:sp>
          <p:nvSpPr>
            <p:cNvPr id="286" name="AutoShape 18">
              <a:extLst>
                <a:ext uri="{FF2B5EF4-FFF2-40B4-BE49-F238E27FC236}">
                  <a16:creationId xmlns:a16="http://schemas.microsoft.com/office/drawing/2014/main" id="{100AC5BD-F30F-4F9C-94F8-3ECEAAF56365}"/>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Trebuchet MS" panose="020B0603020202020204" pitchFamily="34" charset="0"/>
                <a:sym typeface="Trebuchet MS" panose="020B0603020202020204" pitchFamily="34" charset="0"/>
              </a:endParaRPr>
            </a:p>
          </p:txBody>
        </p:sp>
        <p:sp>
          <p:nvSpPr>
            <p:cNvPr id="287" name="Freeform 20">
              <a:extLst>
                <a:ext uri="{FF2B5EF4-FFF2-40B4-BE49-F238E27FC236}">
                  <a16:creationId xmlns:a16="http://schemas.microsoft.com/office/drawing/2014/main" id="{D44F01FC-0979-4CF2-A046-0010F3FF82EE}"/>
                </a:ext>
              </a:extLst>
            </p:cNvPr>
            <p:cNvSpPr>
              <a:spLocks noEditPoints="1"/>
            </p:cNvSpPr>
            <p:nvPr/>
          </p:nvSpPr>
          <p:spPr bwMode="auto">
            <a:xfrm>
              <a:off x="1984" y="1474"/>
              <a:ext cx="1935" cy="1976"/>
            </a:xfrm>
            <a:custGeom>
              <a:avLst/>
              <a:gdLst>
                <a:gd name="T0" fmla="*/ 989 w 1033"/>
                <a:gd name="T1" fmla="*/ 0 h 1054"/>
                <a:gd name="T2" fmla="*/ 44 w 1033"/>
                <a:gd name="T3" fmla="*/ 0 h 1054"/>
                <a:gd name="T4" fmla="*/ 0 w 1033"/>
                <a:gd name="T5" fmla="*/ 44 h 1054"/>
                <a:gd name="T6" fmla="*/ 0 w 1033"/>
                <a:gd name="T7" fmla="*/ 725 h 1054"/>
                <a:gd name="T8" fmla="*/ 44 w 1033"/>
                <a:gd name="T9" fmla="*/ 769 h 1054"/>
                <a:gd name="T10" fmla="*/ 299 w 1033"/>
                <a:gd name="T11" fmla="*/ 769 h 1054"/>
                <a:gd name="T12" fmla="*/ 299 w 1033"/>
                <a:gd name="T13" fmla="*/ 1010 h 1054"/>
                <a:gd name="T14" fmla="*/ 300 w 1033"/>
                <a:gd name="T15" fmla="*/ 1017 h 1054"/>
                <a:gd name="T16" fmla="*/ 337 w 1033"/>
                <a:gd name="T17" fmla="*/ 1053 h 1054"/>
                <a:gd name="T18" fmla="*/ 347 w 1033"/>
                <a:gd name="T19" fmla="*/ 1054 h 1054"/>
                <a:gd name="T20" fmla="*/ 401 w 1033"/>
                <a:gd name="T21" fmla="*/ 1026 h 1054"/>
                <a:gd name="T22" fmla="*/ 469 w 1033"/>
                <a:gd name="T23" fmla="*/ 951 h 1054"/>
                <a:gd name="T24" fmla="*/ 637 w 1033"/>
                <a:gd name="T25" fmla="*/ 769 h 1054"/>
                <a:gd name="T26" fmla="*/ 989 w 1033"/>
                <a:gd name="T27" fmla="*/ 769 h 1054"/>
                <a:gd name="T28" fmla="*/ 1033 w 1033"/>
                <a:gd name="T29" fmla="*/ 725 h 1054"/>
                <a:gd name="T30" fmla="*/ 1033 w 1033"/>
                <a:gd name="T31" fmla="*/ 44 h 1054"/>
                <a:gd name="T32" fmla="*/ 989 w 1033"/>
                <a:gd name="T33" fmla="*/ 0 h 1054"/>
                <a:gd name="T34" fmla="*/ 832 w 1033"/>
                <a:gd name="T35" fmla="*/ 552 h 1054"/>
                <a:gd name="T36" fmla="*/ 201 w 1033"/>
                <a:gd name="T37" fmla="*/ 552 h 1054"/>
                <a:gd name="T38" fmla="*/ 179 w 1033"/>
                <a:gd name="T39" fmla="*/ 530 h 1054"/>
                <a:gd name="T40" fmla="*/ 201 w 1033"/>
                <a:gd name="T41" fmla="*/ 508 h 1054"/>
                <a:gd name="T42" fmla="*/ 832 w 1033"/>
                <a:gd name="T43" fmla="*/ 508 h 1054"/>
                <a:gd name="T44" fmla="*/ 854 w 1033"/>
                <a:gd name="T45" fmla="*/ 530 h 1054"/>
                <a:gd name="T46" fmla="*/ 832 w 1033"/>
                <a:gd name="T47" fmla="*/ 552 h 1054"/>
                <a:gd name="T48" fmla="*/ 832 w 1033"/>
                <a:gd name="T49" fmla="*/ 415 h 1054"/>
                <a:gd name="T50" fmla="*/ 201 w 1033"/>
                <a:gd name="T51" fmla="*/ 415 h 1054"/>
                <a:gd name="T52" fmla="*/ 179 w 1033"/>
                <a:gd name="T53" fmla="*/ 393 h 1054"/>
                <a:gd name="T54" fmla="*/ 201 w 1033"/>
                <a:gd name="T55" fmla="*/ 371 h 1054"/>
                <a:gd name="T56" fmla="*/ 832 w 1033"/>
                <a:gd name="T57" fmla="*/ 371 h 1054"/>
                <a:gd name="T58" fmla="*/ 854 w 1033"/>
                <a:gd name="T59" fmla="*/ 393 h 1054"/>
                <a:gd name="T60" fmla="*/ 832 w 1033"/>
                <a:gd name="T61" fmla="*/ 415 h 1054"/>
                <a:gd name="T62" fmla="*/ 832 w 1033"/>
                <a:gd name="T63" fmla="*/ 279 h 1054"/>
                <a:gd name="T64" fmla="*/ 201 w 1033"/>
                <a:gd name="T65" fmla="*/ 279 h 1054"/>
                <a:gd name="T66" fmla="*/ 179 w 1033"/>
                <a:gd name="T67" fmla="*/ 257 h 1054"/>
                <a:gd name="T68" fmla="*/ 201 w 1033"/>
                <a:gd name="T69" fmla="*/ 235 h 1054"/>
                <a:gd name="T70" fmla="*/ 832 w 1033"/>
                <a:gd name="T71" fmla="*/ 235 h 1054"/>
                <a:gd name="T72" fmla="*/ 854 w 1033"/>
                <a:gd name="T73" fmla="*/ 257 h 1054"/>
                <a:gd name="T74" fmla="*/ 832 w 1033"/>
                <a:gd name="T75" fmla="*/ 279 h 1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33" h="1054">
                  <a:moveTo>
                    <a:pt x="989" y="0"/>
                  </a:moveTo>
                  <a:cubicBezTo>
                    <a:pt x="44" y="0"/>
                    <a:pt x="44" y="0"/>
                    <a:pt x="44" y="0"/>
                  </a:cubicBezTo>
                  <a:cubicBezTo>
                    <a:pt x="20" y="0"/>
                    <a:pt x="0" y="20"/>
                    <a:pt x="0" y="44"/>
                  </a:cubicBezTo>
                  <a:cubicBezTo>
                    <a:pt x="0" y="725"/>
                    <a:pt x="0" y="725"/>
                    <a:pt x="0" y="725"/>
                  </a:cubicBezTo>
                  <a:cubicBezTo>
                    <a:pt x="0" y="750"/>
                    <a:pt x="20" y="769"/>
                    <a:pt x="44" y="769"/>
                  </a:cubicBezTo>
                  <a:cubicBezTo>
                    <a:pt x="299" y="769"/>
                    <a:pt x="299" y="769"/>
                    <a:pt x="299" y="769"/>
                  </a:cubicBezTo>
                  <a:cubicBezTo>
                    <a:pt x="299" y="1010"/>
                    <a:pt x="299" y="1010"/>
                    <a:pt x="299" y="1010"/>
                  </a:cubicBezTo>
                  <a:cubicBezTo>
                    <a:pt x="299" y="1012"/>
                    <a:pt x="299" y="1015"/>
                    <a:pt x="300" y="1017"/>
                  </a:cubicBezTo>
                  <a:cubicBezTo>
                    <a:pt x="301" y="1020"/>
                    <a:pt x="311" y="1047"/>
                    <a:pt x="337" y="1053"/>
                  </a:cubicBezTo>
                  <a:cubicBezTo>
                    <a:pt x="341" y="1054"/>
                    <a:pt x="344" y="1054"/>
                    <a:pt x="347" y="1054"/>
                  </a:cubicBezTo>
                  <a:cubicBezTo>
                    <a:pt x="365" y="1054"/>
                    <a:pt x="383" y="1045"/>
                    <a:pt x="401" y="1026"/>
                  </a:cubicBezTo>
                  <a:cubicBezTo>
                    <a:pt x="414" y="1013"/>
                    <a:pt x="438" y="986"/>
                    <a:pt x="469" y="951"/>
                  </a:cubicBezTo>
                  <a:cubicBezTo>
                    <a:pt x="516" y="899"/>
                    <a:pt x="579" y="829"/>
                    <a:pt x="637" y="769"/>
                  </a:cubicBezTo>
                  <a:cubicBezTo>
                    <a:pt x="989" y="769"/>
                    <a:pt x="989" y="769"/>
                    <a:pt x="989" y="769"/>
                  </a:cubicBezTo>
                  <a:cubicBezTo>
                    <a:pt x="1013" y="769"/>
                    <a:pt x="1033" y="750"/>
                    <a:pt x="1033" y="725"/>
                  </a:cubicBezTo>
                  <a:cubicBezTo>
                    <a:pt x="1033" y="44"/>
                    <a:pt x="1033" y="44"/>
                    <a:pt x="1033" y="44"/>
                  </a:cubicBezTo>
                  <a:cubicBezTo>
                    <a:pt x="1033" y="20"/>
                    <a:pt x="1013" y="0"/>
                    <a:pt x="989" y="0"/>
                  </a:cubicBezTo>
                  <a:close/>
                  <a:moveTo>
                    <a:pt x="832" y="552"/>
                  </a:moveTo>
                  <a:cubicBezTo>
                    <a:pt x="201" y="552"/>
                    <a:pt x="201" y="552"/>
                    <a:pt x="201" y="552"/>
                  </a:cubicBezTo>
                  <a:cubicBezTo>
                    <a:pt x="189" y="552"/>
                    <a:pt x="179" y="543"/>
                    <a:pt x="179" y="530"/>
                  </a:cubicBezTo>
                  <a:cubicBezTo>
                    <a:pt x="179" y="518"/>
                    <a:pt x="189" y="508"/>
                    <a:pt x="201" y="508"/>
                  </a:cubicBezTo>
                  <a:cubicBezTo>
                    <a:pt x="832" y="508"/>
                    <a:pt x="832" y="508"/>
                    <a:pt x="832" y="508"/>
                  </a:cubicBezTo>
                  <a:cubicBezTo>
                    <a:pt x="844" y="508"/>
                    <a:pt x="854" y="518"/>
                    <a:pt x="854" y="530"/>
                  </a:cubicBezTo>
                  <a:cubicBezTo>
                    <a:pt x="854" y="543"/>
                    <a:pt x="844" y="552"/>
                    <a:pt x="832" y="552"/>
                  </a:cubicBezTo>
                  <a:close/>
                  <a:moveTo>
                    <a:pt x="832" y="415"/>
                  </a:moveTo>
                  <a:cubicBezTo>
                    <a:pt x="201" y="415"/>
                    <a:pt x="201" y="415"/>
                    <a:pt x="201" y="415"/>
                  </a:cubicBezTo>
                  <a:cubicBezTo>
                    <a:pt x="189" y="415"/>
                    <a:pt x="179" y="405"/>
                    <a:pt x="179" y="393"/>
                  </a:cubicBezTo>
                  <a:cubicBezTo>
                    <a:pt x="179" y="380"/>
                    <a:pt x="189" y="371"/>
                    <a:pt x="201" y="371"/>
                  </a:cubicBezTo>
                  <a:cubicBezTo>
                    <a:pt x="832" y="371"/>
                    <a:pt x="832" y="371"/>
                    <a:pt x="832" y="371"/>
                  </a:cubicBezTo>
                  <a:cubicBezTo>
                    <a:pt x="844" y="371"/>
                    <a:pt x="854" y="380"/>
                    <a:pt x="854" y="393"/>
                  </a:cubicBezTo>
                  <a:cubicBezTo>
                    <a:pt x="854" y="405"/>
                    <a:pt x="844" y="415"/>
                    <a:pt x="832" y="415"/>
                  </a:cubicBezTo>
                  <a:close/>
                  <a:moveTo>
                    <a:pt x="832" y="279"/>
                  </a:moveTo>
                  <a:cubicBezTo>
                    <a:pt x="201" y="279"/>
                    <a:pt x="201" y="279"/>
                    <a:pt x="201" y="279"/>
                  </a:cubicBezTo>
                  <a:cubicBezTo>
                    <a:pt x="189" y="279"/>
                    <a:pt x="179" y="269"/>
                    <a:pt x="179" y="257"/>
                  </a:cubicBezTo>
                  <a:cubicBezTo>
                    <a:pt x="179" y="245"/>
                    <a:pt x="189" y="235"/>
                    <a:pt x="201" y="235"/>
                  </a:cubicBezTo>
                  <a:cubicBezTo>
                    <a:pt x="832" y="235"/>
                    <a:pt x="832" y="235"/>
                    <a:pt x="832" y="235"/>
                  </a:cubicBezTo>
                  <a:cubicBezTo>
                    <a:pt x="844" y="235"/>
                    <a:pt x="854" y="245"/>
                    <a:pt x="854" y="257"/>
                  </a:cubicBezTo>
                  <a:cubicBezTo>
                    <a:pt x="854" y="269"/>
                    <a:pt x="844" y="279"/>
                    <a:pt x="832" y="279"/>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Trebuchet MS" panose="020B0603020202020204" pitchFamily="34" charset="0"/>
                <a:sym typeface="Trebuchet MS" panose="020B0603020202020204" pitchFamily="34" charset="0"/>
              </a:endParaRPr>
            </a:p>
          </p:txBody>
        </p:sp>
        <p:sp>
          <p:nvSpPr>
            <p:cNvPr id="288" name="Freeform 21">
              <a:extLst>
                <a:ext uri="{FF2B5EF4-FFF2-40B4-BE49-F238E27FC236}">
                  <a16:creationId xmlns:a16="http://schemas.microsoft.com/office/drawing/2014/main" id="{9FEAEA2A-1D9C-469F-A298-EC5C9220C30F}"/>
                </a:ext>
              </a:extLst>
            </p:cNvPr>
            <p:cNvSpPr>
              <a:spLocks noEditPoints="1"/>
            </p:cNvSpPr>
            <p:nvPr/>
          </p:nvSpPr>
          <p:spPr bwMode="auto">
            <a:xfrm>
              <a:off x="3748" y="911"/>
              <a:ext cx="1935" cy="1976"/>
            </a:xfrm>
            <a:custGeom>
              <a:avLst/>
              <a:gdLst>
                <a:gd name="T0" fmla="*/ 1033 w 1033"/>
                <a:gd name="T1" fmla="*/ 44 h 1054"/>
                <a:gd name="T2" fmla="*/ 1033 w 1033"/>
                <a:gd name="T3" fmla="*/ 725 h 1054"/>
                <a:gd name="T4" fmla="*/ 989 w 1033"/>
                <a:gd name="T5" fmla="*/ 769 h 1054"/>
                <a:gd name="T6" fmla="*/ 734 w 1033"/>
                <a:gd name="T7" fmla="*/ 769 h 1054"/>
                <a:gd name="T8" fmla="*/ 734 w 1033"/>
                <a:gd name="T9" fmla="*/ 1010 h 1054"/>
                <a:gd name="T10" fmla="*/ 733 w 1033"/>
                <a:gd name="T11" fmla="*/ 1017 h 1054"/>
                <a:gd name="T12" fmla="*/ 696 w 1033"/>
                <a:gd name="T13" fmla="*/ 1053 h 1054"/>
                <a:gd name="T14" fmla="*/ 686 w 1033"/>
                <a:gd name="T15" fmla="*/ 1054 h 1054"/>
                <a:gd name="T16" fmla="*/ 632 w 1033"/>
                <a:gd name="T17" fmla="*/ 1025 h 1054"/>
                <a:gd name="T18" fmla="*/ 564 w 1033"/>
                <a:gd name="T19" fmla="*/ 951 h 1054"/>
                <a:gd name="T20" fmla="*/ 396 w 1033"/>
                <a:gd name="T21" fmla="*/ 769 h 1054"/>
                <a:gd name="T22" fmla="*/ 135 w 1033"/>
                <a:gd name="T23" fmla="*/ 769 h 1054"/>
                <a:gd name="T24" fmla="*/ 135 w 1033"/>
                <a:gd name="T25" fmla="*/ 725 h 1054"/>
                <a:gd name="T26" fmla="*/ 405 w 1033"/>
                <a:gd name="T27" fmla="*/ 725 h 1054"/>
                <a:gd name="T28" fmla="*/ 421 w 1033"/>
                <a:gd name="T29" fmla="*/ 732 h 1054"/>
                <a:gd name="T30" fmla="*/ 597 w 1033"/>
                <a:gd name="T31" fmla="*/ 922 h 1054"/>
                <a:gd name="T32" fmla="*/ 663 w 1033"/>
                <a:gd name="T33" fmla="*/ 994 h 1054"/>
                <a:gd name="T34" fmla="*/ 686 w 1033"/>
                <a:gd name="T35" fmla="*/ 1010 h 1054"/>
                <a:gd name="T36" fmla="*/ 690 w 1033"/>
                <a:gd name="T37" fmla="*/ 1005 h 1054"/>
                <a:gd name="T38" fmla="*/ 690 w 1033"/>
                <a:gd name="T39" fmla="*/ 747 h 1054"/>
                <a:gd name="T40" fmla="*/ 712 w 1033"/>
                <a:gd name="T41" fmla="*/ 725 h 1054"/>
                <a:gd name="T42" fmla="*/ 989 w 1033"/>
                <a:gd name="T43" fmla="*/ 725 h 1054"/>
                <a:gd name="T44" fmla="*/ 989 w 1033"/>
                <a:gd name="T45" fmla="*/ 44 h 1054"/>
                <a:gd name="T46" fmla="*/ 44 w 1033"/>
                <a:gd name="T47" fmla="*/ 44 h 1054"/>
                <a:gd name="T48" fmla="*/ 44 w 1033"/>
                <a:gd name="T49" fmla="*/ 256 h 1054"/>
                <a:gd name="T50" fmla="*/ 0 w 1033"/>
                <a:gd name="T51" fmla="*/ 256 h 1054"/>
                <a:gd name="T52" fmla="*/ 0 w 1033"/>
                <a:gd name="T53" fmla="*/ 44 h 1054"/>
                <a:gd name="T54" fmla="*/ 44 w 1033"/>
                <a:gd name="T55" fmla="*/ 0 h 1054"/>
                <a:gd name="T56" fmla="*/ 989 w 1033"/>
                <a:gd name="T57" fmla="*/ 0 h 1054"/>
                <a:gd name="T58" fmla="*/ 1033 w 1033"/>
                <a:gd name="T59" fmla="*/ 44 h 1054"/>
                <a:gd name="T60" fmla="*/ 835 w 1033"/>
                <a:gd name="T61" fmla="*/ 247 h 1054"/>
                <a:gd name="T62" fmla="*/ 813 w 1033"/>
                <a:gd name="T63" fmla="*/ 225 h 1054"/>
                <a:gd name="T64" fmla="*/ 220 w 1033"/>
                <a:gd name="T65" fmla="*/ 225 h 1054"/>
                <a:gd name="T66" fmla="*/ 198 w 1033"/>
                <a:gd name="T67" fmla="*/ 247 h 1054"/>
                <a:gd name="T68" fmla="*/ 220 w 1033"/>
                <a:gd name="T69" fmla="*/ 269 h 1054"/>
                <a:gd name="T70" fmla="*/ 813 w 1033"/>
                <a:gd name="T71" fmla="*/ 269 h 1054"/>
                <a:gd name="T72" fmla="*/ 835 w 1033"/>
                <a:gd name="T73" fmla="*/ 247 h 1054"/>
                <a:gd name="T74" fmla="*/ 835 w 1033"/>
                <a:gd name="T75" fmla="*/ 383 h 1054"/>
                <a:gd name="T76" fmla="*/ 813 w 1033"/>
                <a:gd name="T77" fmla="*/ 361 h 1054"/>
                <a:gd name="T78" fmla="*/ 220 w 1033"/>
                <a:gd name="T79" fmla="*/ 361 h 1054"/>
                <a:gd name="T80" fmla="*/ 198 w 1033"/>
                <a:gd name="T81" fmla="*/ 383 h 1054"/>
                <a:gd name="T82" fmla="*/ 220 w 1033"/>
                <a:gd name="T83" fmla="*/ 405 h 1054"/>
                <a:gd name="T84" fmla="*/ 813 w 1033"/>
                <a:gd name="T85" fmla="*/ 405 h 1054"/>
                <a:gd name="T86" fmla="*/ 835 w 1033"/>
                <a:gd name="T87" fmla="*/ 383 h 1054"/>
                <a:gd name="T88" fmla="*/ 835 w 1033"/>
                <a:gd name="T89" fmla="*/ 521 h 1054"/>
                <a:gd name="T90" fmla="*/ 813 w 1033"/>
                <a:gd name="T91" fmla="*/ 499 h 1054"/>
                <a:gd name="T92" fmla="*/ 220 w 1033"/>
                <a:gd name="T93" fmla="*/ 499 h 1054"/>
                <a:gd name="T94" fmla="*/ 198 w 1033"/>
                <a:gd name="T95" fmla="*/ 521 h 1054"/>
                <a:gd name="T96" fmla="*/ 220 w 1033"/>
                <a:gd name="T97" fmla="*/ 543 h 1054"/>
                <a:gd name="T98" fmla="*/ 813 w 1033"/>
                <a:gd name="T99" fmla="*/ 543 h 1054"/>
                <a:gd name="T100" fmla="*/ 835 w 1033"/>
                <a:gd name="T101" fmla="*/ 521 h 1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33" h="1054">
                  <a:moveTo>
                    <a:pt x="1033" y="44"/>
                  </a:moveTo>
                  <a:cubicBezTo>
                    <a:pt x="1033" y="725"/>
                    <a:pt x="1033" y="725"/>
                    <a:pt x="1033" y="725"/>
                  </a:cubicBezTo>
                  <a:cubicBezTo>
                    <a:pt x="1033" y="750"/>
                    <a:pt x="1013" y="769"/>
                    <a:pt x="989" y="769"/>
                  </a:cubicBezTo>
                  <a:cubicBezTo>
                    <a:pt x="734" y="769"/>
                    <a:pt x="734" y="769"/>
                    <a:pt x="734" y="769"/>
                  </a:cubicBezTo>
                  <a:cubicBezTo>
                    <a:pt x="734" y="1010"/>
                    <a:pt x="734" y="1010"/>
                    <a:pt x="734" y="1010"/>
                  </a:cubicBezTo>
                  <a:cubicBezTo>
                    <a:pt x="734" y="1012"/>
                    <a:pt x="734" y="1015"/>
                    <a:pt x="733" y="1017"/>
                  </a:cubicBezTo>
                  <a:cubicBezTo>
                    <a:pt x="732" y="1020"/>
                    <a:pt x="722" y="1047"/>
                    <a:pt x="696" y="1053"/>
                  </a:cubicBezTo>
                  <a:cubicBezTo>
                    <a:pt x="693" y="1054"/>
                    <a:pt x="689" y="1054"/>
                    <a:pt x="686" y="1054"/>
                  </a:cubicBezTo>
                  <a:cubicBezTo>
                    <a:pt x="668" y="1054"/>
                    <a:pt x="650" y="1044"/>
                    <a:pt x="632" y="1025"/>
                  </a:cubicBezTo>
                  <a:cubicBezTo>
                    <a:pt x="619" y="1013"/>
                    <a:pt x="595" y="985"/>
                    <a:pt x="564" y="951"/>
                  </a:cubicBezTo>
                  <a:cubicBezTo>
                    <a:pt x="517" y="899"/>
                    <a:pt x="454" y="829"/>
                    <a:pt x="396" y="769"/>
                  </a:cubicBezTo>
                  <a:cubicBezTo>
                    <a:pt x="135" y="769"/>
                    <a:pt x="135" y="769"/>
                    <a:pt x="135" y="769"/>
                  </a:cubicBezTo>
                  <a:cubicBezTo>
                    <a:pt x="135" y="725"/>
                    <a:pt x="135" y="725"/>
                    <a:pt x="135" y="725"/>
                  </a:cubicBezTo>
                  <a:cubicBezTo>
                    <a:pt x="405" y="725"/>
                    <a:pt x="405" y="725"/>
                    <a:pt x="405" y="725"/>
                  </a:cubicBezTo>
                  <a:cubicBezTo>
                    <a:pt x="411" y="725"/>
                    <a:pt x="417" y="728"/>
                    <a:pt x="421" y="732"/>
                  </a:cubicBezTo>
                  <a:cubicBezTo>
                    <a:pt x="481" y="793"/>
                    <a:pt x="548" y="867"/>
                    <a:pt x="597" y="922"/>
                  </a:cubicBezTo>
                  <a:cubicBezTo>
                    <a:pt x="627" y="956"/>
                    <a:pt x="651" y="982"/>
                    <a:pt x="663" y="994"/>
                  </a:cubicBezTo>
                  <a:cubicBezTo>
                    <a:pt x="677" y="1008"/>
                    <a:pt x="684" y="1010"/>
                    <a:pt x="686" y="1010"/>
                  </a:cubicBezTo>
                  <a:cubicBezTo>
                    <a:pt x="687" y="1010"/>
                    <a:pt x="689" y="1008"/>
                    <a:pt x="690" y="1005"/>
                  </a:cubicBezTo>
                  <a:cubicBezTo>
                    <a:pt x="690" y="747"/>
                    <a:pt x="690" y="747"/>
                    <a:pt x="690" y="747"/>
                  </a:cubicBezTo>
                  <a:cubicBezTo>
                    <a:pt x="690" y="735"/>
                    <a:pt x="700" y="725"/>
                    <a:pt x="712" y="725"/>
                  </a:cubicBezTo>
                  <a:cubicBezTo>
                    <a:pt x="989" y="725"/>
                    <a:pt x="989" y="725"/>
                    <a:pt x="989" y="725"/>
                  </a:cubicBezTo>
                  <a:cubicBezTo>
                    <a:pt x="989" y="44"/>
                    <a:pt x="989" y="44"/>
                    <a:pt x="989" y="44"/>
                  </a:cubicBezTo>
                  <a:cubicBezTo>
                    <a:pt x="44" y="44"/>
                    <a:pt x="44" y="44"/>
                    <a:pt x="44" y="44"/>
                  </a:cubicBezTo>
                  <a:cubicBezTo>
                    <a:pt x="44" y="256"/>
                    <a:pt x="44" y="256"/>
                    <a:pt x="44" y="256"/>
                  </a:cubicBezTo>
                  <a:cubicBezTo>
                    <a:pt x="0" y="256"/>
                    <a:pt x="0" y="256"/>
                    <a:pt x="0" y="256"/>
                  </a:cubicBezTo>
                  <a:cubicBezTo>
                    <a:pt x="0" y="44"/>
                    <a:pt x="0" y="44"/>
                    <a:pt x="0" y="44"/>
                  </a:cubicBezTo>
                  <a:cubicBezTo>
                    <a:pt x="0" y="20"/>
                    <a:pt x="20" y="0"/>
                    <a:pt x="44" y="0"/>
                  </a:cubicBezTo>
                  <a:cubicBezTo>
                    <a:pt x="989" y="0"/>
                    <a:pt x="989" y="0"/>
                    <a:pt x="989" y="0"/>
                  </a:cubicBezTo>
                  <a:cubicBezTo>
                    <a:pt x="1013" y="0"/>
                    <a:pt x="1033" y="20"/>
                    <a:pt x="1033" y="44"/>
                  </a:cubicBezTo>
                  <a:close/>
                  <a:moveTo>
                    <a:pt x="835" y="247"/>
                  </a:moveTo>
                  <a:cubicBezTo>
                    <a:pt x="835" y="235"/>
                    <a:pt x="826" y="225"/>
                    <a:pt x="813" y="225"/>
                  </a:cubicBezTo>
                  <a:cubicBezTo>
                    <a:pt x="220" y="225"/>
                    <a:pt x="220" y="225"/>
                    <a:pt x="220" y="225"/>
                  </a:cubicBezTo>
                  <a:cubicBezTo>
                    <a:pt x="208" y="225"/>
                    <a:pt x="198" y="235"/>
                    <a:pt x="198" y="247"/>
                  </a:cubicBezTo>
                  <a:cubicBezTo>
                    <a:pt x="198" y="259"/>
                    <a:pt x="208" y="269"/>
                    <a:pt x="220" y="269"/>
                  </a:cubicBezTo>
                  <a:cubicBezTo>
                    <a:pt x="813" y="269"/>
                    <a:pt x="813" y="269"/>
                    <a:pt x="813" y="269"/>
                  </a:cubicBezTo>
                  <a:cubicBezTo>
                    <a:pt x="826" y="269"/>
                    <a:pt x="835" y="259"/>
                    <a:pt x="835" y="247"/>
                  </a:cubicBezTo>
                  <a:close/>
                  <a:moveTo>
                    <a:pt x="835" y="383"/>
                  </a:moveTo>
                  <a:cubicBezTo>
                    <a:pt x="835" y="371"/>
                    <a:pt x="826" y="361"/>
                    <a:pt x="813" y="361"/>
                  </a:cubicBezTo>
                  <a:cubicBezTo>
                    <a:pt x="220" y="361"/>
                    <a:pt x="220" y="361"/>
                    <a:pt x="220" y="361"/>
                  </a:cubicBezTo>
                  <a:cubicBezTo>
                    <a:pt x="208" y="361"/>
                    <a:pt x="198" y="371"/>
                    <a:pt x="198" y="383"/>
                  </a:cubicBezTo>
                  <a:cubicBezTo>
                    <a:pt x="198" y="395"/>
                    <a:pt x="208" y="405"/>
                    <a:pt x="220" y="405"/>
                  </a:cubicBezTo>
                  <a:cubicBezTo>
                    <a:pt x="813" y="405"/>
                    <a:pt x="813" y="405"/>
                    <a:pt x="813" y="405"/>
                  </a:cubicBezTo>
                  <a:cubicBezTo>
                    <a:pt x="826" y="405"/>
                    <a:pt x="835" y="395"/>
                    <a:pt x="835" y="383"/>
                  </a:cubicBezTo>
                  <a:close/>
                  <a:moveTo>
                    <a:pt x="835" y="521"/>
                  </a:moveTo>
                  <a:cubicBezTo>
                    <a:pt x="835" y="508"/>
                    <a:pt x="826" y="499"/>
                    <a:pt x="813" y="499"/>
                  </a:cubicBezTo>
                  <a:cubicBezTo>
                    <a:pt x="220" y="499"/>
                    <a:pt x="220" y="499"/>
                    <a:pt x="220" y="499"/>
                  </a:cubicBezTo>
                  <a:cubicBezTo>
                    <a:pt x="208" y="499"/>
                    <a:pt x="198" y="508"/>
                    <a:pt x="198" y="521"/>
                  </a:cubicBezTo>
                  <a:cubicBezTo>
                    <a:pt x="198" y="533"/>
                    <a:pt x="208" y="543"/>
                    <a:pt x="220" y="543"/>
                  </a:cubicBezTo>
                  <a:cubicBezTo>
                    <a:pt x="813" y="543"/>
                    <a:pt x="813" y="543"/>
                    <a:pt x="813" y="543"/>
                  </a:cubicBezTo>
                  <a:cubicBezTo>
                    <a:pt x="826" y="543"/>
                    <a:pt x="835" y="533"/>
                    <a:pt x="835" y="52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Trebuchet MS" panose="020B0603020202020204" pitchFamily="34" charset="0"/>
                <a:sym typeface="Trebuchet MS" panose="020B0603020202020204" pitchFamily="34" charset="0"/>
              </a:endParaRPr>
            </a:p>
          </p:txBody>
        </p:sp>
      </p:grpSp>
      <p:sp>
        <p:nvSpPr>
          <p:cNvPr id="205" name="TextBox 204"/>
          <p:cNvSpPr txBox="1"/>
          <p:nvPr/>
        </p:nvSpPr>
        <p:spPr>
          <a:xfrm>
            <a:off x="6529714" y="4865619"/>
            <a:ext cx="4704365" cy="654087"/>
          </a:xfrm>
          <a:prstGeom prst="rect">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9A9A9A"/>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77714" lvl="1" indent="-185143">
              <a:buClr>
                <a:srgbClr val="295E7E">
                  <a:lumMod val="100000"/>
                </a:srgbClr>
              </a:buClr>
              <a:buSzPct val="100000"/>
              <a:buFont typeface="Trebuchet MS" panose="020B0603020202020204" pitchFamily="34" charset="0"/>
              <a:buChar char="•"/>
            </a:pPr>
            <a:r>
              <a:rPr lang="en-US" sz="1100">
                <a:solidFill>
                  <a:srgbClr val="575757">
                    <a:lumMod val="100000"/>
                  </a:srgbClr>
                </a:solidFill>
                <a:latin typeface="Work Sans" panose="00000500000000000000" pitchFamily="2" charset="0"/>
                <a:sym typeface="Trebuchet MS" panose="020B0603020202020204" pitchFamily="34" charset="0"/>
              </a:rPr>
              <a:t>Jane selects ETF investment suggestion</a:t>
            </a:r>
          </a:p>
          <a:p>
            <a:pPr marL="277714" lvl="1" indent="-185143">
              <a:buClr>
                <a:srgbClr val="295E7E">
                  <a:lumMod val="100000"/>
                </a:srgbClr>
              </a:buClr>
              <a:buSzPct val="100000"/>
              <a:buFont typeface="Trebuchet MS" panose="020B0603020202020204" pitchFamily="34" charset="0"/>
              <a:buChar char="•"/>
            </a:pPr>
            <a:r>
              <a:rPr lang="en-US" sz="1100">
                <a:solidFill>
                  <a:srgbClr val="575757">
                    <a:lumMod val="100000"/>
                  </a:srgbClr>
                </a:solidFill>
                <a:latin typeface="Work Sans" panose="00000500000000000000" pitchFamily="2" charset="0"/>
                <a:sym typeface="Trebuchet MS" panose="020B0603020202020204" pitchFamily="34" charset="0"/>
              </a:rPr>
              <a:t>Also expresses interest in the 401K suggestion – presented with details about 401K vs. IRA and relevant options</a:t>
            </a:r>
          </a:p>
        </p:txBody>
      </p:sp>
      <p:sp>
        <p:nvSpPr>
          <p:cNvPr id="3" name="TextBox 2"/>
          <p:cNvSpPr txBox="1"/>
          <p:nvPr/>
        </p:nvSpPr>
        <p:spPr>
          <a:xfrm>
            <a:off x="2066951" y="2199640"/>
            <a:ext cx="3879492" cy="508038"/>
          </a:xfrm>
          <a:prstGeom prst="rect">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9A9A9A"/>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400">
                <a:solidFill>
                  <a:srgbClr val="575757"/>
                </a:solidFill>
                <a:sym typeface="Trebuchet MS" panose="020B0603020202020204" pitchFamily="34" charset="0"/>
              </a:rPr>
              <a:t>Directed to bank landing page via link on </a:t>
            </a:r>
            <a:r>
              <a:rPr lang="en-US" sz="1400" b="1">
                <a:solidFill>
                  <a:srgbClr val="295E7E"/>
                </a:solidFill>
                <a:sym typeface="Trebuchet MS" panose="020B0603020202020204" pitchFamily="34" charset="0"/>
              </a:rPr>
              <a:t>social media platform (e.g., Facebook)</a:t>
            </a:r>
          </a:p>
        </p:txBody>
      </p:sp>
      <p:pic>
        <p:nvPicPr>
          <p:cNvPr id="24" name="Picture 23"/>
          <p:cNvPicPr>
            <a:picLocks noChangeAspect="1"/>
          </p:cNvPicPr>
          <p:nvPr/>
        </p:nvPicPr>
        <p:blipFill rotWithShape="1">
          <a:blip r:embed="rId7" cstate="print">
            <a:extLst>
              <a:ext uri="{28A0092B-C50C-407E-A947-70E740481C1C}">
                <a14:useLocalDpi xmlns:a14="http://schemas.microsoft.com/office/drawing/2010/main" val="0"/>
              </a:ext>
            </a:extLst>
          </a:blip>
          <a:srcRect l="3147" r="3147"/>
          <a:stretch/>
        </p:blipFill>
        <p:spPr>
          <a:xfrm>
            <a:off x="788750" y="1494893"/>
            <a:ext cx="489830" cy="489830"/>
          </a:xfrm>
          <a:prstGeom prst="ellipse">
            <a:avLst/>
          </a:prstGeom>
          <a:grpFill/>
          <a:ln w="30480">
            <a:gradFill flip="none" rotWithShape="1">
              <a:gsLst>
                <a:gs pos="0">
                  <a:schemeClr val="accent2"/>
                </a:gs>
                <a:gs pos="100000">
                  <a:schemeClr val="tx2"/>
                </a:gs>
              </a:gsLst>
              <a:lin ang="2700000" scaled="1"/>
              <a:tileRect/>
            </a:gradFill>
          </a:ln>
        </p:spPr>
      </p:pic>
      <p:sp>
        <p:nvSpPr>
          <p:cNvPr id="37" name="Title 1"/>
          <p:cNvSpPr txBox="1">
            <a:spLocks/>
          </p:cNvSpPr>
          <p:nvPr/>
        </p:nvSpPr>
        <p:spPr>
          <a:xfrm>
            <a:off x="630000" y="622800"/>
            <a:ext cx="10933350" cy="332399"/>
          </a:xfrm>
          <a:prstGeom prst="rect">
            <a:avLst/>
          </a:prstGeom>
          <a:ln cap="rnd">
            <a:noFill/>
          </a:ln>
        </p:spPr>
        <p:txBody>
          <a:bodyPr vert="horz" wrap="square" lIns="0" tIns="0" rIns="0" bIns="0" rtlCol="0" anchor="t">
            <a:sp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sym typeface="Trebuchet MS" panose="020B0603020202020204" pitchFamily="34" charset="0"/>
              </a:defRPr>
            </a:lvl1pPr>
          </a:lstStyle>
          <a:p>
            <a:r>
              <a:rPr lang="en-US"/>
              <a:t>Leverage social media targeting and integrations to improve conversion</a:t>
            </a:r>
          </a:p>
        </p:txBody>
      </p:sp>
      <p:sp>
        <p:nvSpPr>
          <p:cNvPr id="38" name="ee4pHeader1"/>
          <p:cNvSpPr txBox="1"/>
          <p:nvPr/>
        </p:nvSpPr>
        <p:spPr>
          <a:xfrm>
            <a:off x="1382432" y="1283802"/>
            <a:ext cx="4401958" cy="658368"/>
          </a:xfrm>
          <a:prstGeom prst="rect">
            <a:avLst/>
          </a:prstGeom>
          <a:noFill/>
          <a:ln cap="rnd">
            <a:noFill/>
          </a:ln>
        </p:spPr>
        <p:txBody>
          <a:bodyPr wrap="square" lIns="0" tIns="0" rIns="0" bIns="0" rtlCol="0" anchor="b" anchorCtr="0">
            <a:noAutofit/>
          </a:bodyPr>
          <a:lstStyle/>
          <a:p>
            <a:pPr marL="0" lvl="3"/>
            <a:r>
              <a:rPr lang="en-US">
                <a:solidFill>
                  <a:schemeClr val="tx2"/>
                </a:solidFill>
                <a:latin typeface="+mj-lt"/>
                <a:sym typeface="Trebuchet MS" panose="020B0603020202020204" pitchFamily="34" charset="0"/>
              </a:rPr>
              <a:t>Jane's customer experience</a:t>
            </a:r>
          </a:p>
        </p:txBody>
      </p:sp>
      <p:sp>
        <p:nvSpPr>
          <p:cNvPr id="41" name="AutoShape 13">
            <a:extLst>
              <a:ext uri="{FF2B5EF4-FFF2-40B4-BE49-F238E27FC236}">
                <a16:creationId xmlns:a16="http://schemas.microsoft.com/office/drawing/2014/main" id="{CB5E192C-1D4A-4BC6-892D-079D9F00354B}"/>
              </a:ext>
            </a:extLst>
          </p:cNvPr>
          <p:cNvSpPr>
            <a:spLocks noChangeAspect="1" noChangeArrowheads="1" noTextEdit="1"/>
          </p:cNvSpPr>
          <p:nvPr/>
        </p:nvSpPr>
        <p:spPr bwMode="auto">
          <a:xfrm>
            <a:off x="1794732" y="2082131"/>
            <a:ext cx="712451" cy="71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41148" tIns="20574" rIns="41148" bIns="20574" numCol="1" anchor="t" anchorCtr="0" compatLnSpc="1">
            <a:prstTxWarp prst="textNoShape">
              <a:avLst/>
            </a:prstTxWarp>
          </a:bodyPr>
          <a:lstStyle/>
          <a:p>
            <a:endParaRPr lang="en-US">
              <a:latin typeface="Trebuchet MS" panose="020B0603020202020204" pitchFamily="34" charset="0"/>
              <a:sym typeface="Trebuchet MS" panose="020B0603020202020204" pitchFamily="34" charset="0"/>
            </a:endParaRPr>
          </a:p>
        </p:txBody>
      </p:sp>
      <p:sp>
        <p:nvSpPr>
          <p:cNvPr id="68" name="TextBox 67"/>
          <p:cNvSpPr txBox="1"/>
          <p:nvPr/>
        </p:nvSpPr>
        <p:spPr>
          <a:xfrm>
            <a:off x="2066951" y="2884391"/>
            <a:ext cx="3879492" cy="508038"/>
          </a:xfrm>
          <a:prstGeom prst="rect">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9A9A9A"/>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400">
                <a:solidFill>
                  <a:srgbClr val="575757"/>
                </a:solidFill>
                <a:sym typeface="Trebuchet MS" panose="020B0603020202020204" pitchFamily="34" charset="0"/>
              </a:rPr>
              <a:t>Provided with </a:t>
            </a:r>
            <a:r>
              <a:rPr lang="en-US" sz="1400" i="1">
                <a:solidFill>
                  <a:srgbClr val="575757"/>
                </a:solidFill>
                <a:sym typeface="Trebuchet MS" panose="020B0603020202020204" pitchFamily="34" charset="0"/>
              </a:rPr>
              <a:t>option</a:t>
            </a:r>
            <a:r>
              <a:rPr lang="en-US" sz="1400">
                <a:solidFill>
                  <a:srgbClr val="575757"/>
                </a:solidFill>
                <a:sym typeface="Trebuchet MS" panose="020B0603020202020204" pitchFamily="34" charset="0"/>
              </a:rPr>
              <a:t> to answer a few simple questions via AI chat-bot</a:t>
            </a:r>
          </a:p>
        </p:txBody>
      </p:sp>
      <p:sp>
        <p:nvSpPr>
          <p:cNvPr id="105" name="TextBox 104"/>
          <p:cNvSpPr txBox="1"/>
          <p:nvPr/>
        </p:nvSpPr>
        <p:spPr>
          <a:xfrm>
            <a:off x="2066951" y="3569142"/>
            <a:ext cx="3879492" cy="508038"/>
          </a:xfrm>
          <a:prstGeom prst="rect">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9A9A9A"/>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400">
                <a:solidFill>
                  <a:srgbClr val="575757"/>
                </a:solidFill>
                <a:sym typeface="Trebuchet MS" panose="020B0603020202020204" pitchFamily="34" charset="0"/>
              </a:rPr>
              <a:t>Also has </a:t>
            </a:r>
            <a:r>
              <a:rPr lang="en-US" sz="1400" i="1">
                <a:solidFill>
                  <a:srgbClr val="575757"/>
                </a:solidFill>
                <a:sym typeface="Trebuchet MS" panose="020B0603020202020204" pitchFamily="34" charset="0"/>
              </a:rPr>
              <a:t>option</a:t>
            </a:r>
            <a:r>
              <a:rPr lang="en-US" sz="1400">
                <a:solidFill>
                  <a:srgbClr val="575757"/>
                </a:solidFill>
                <a:sym typeface="Trebuchet MS" panose="020B0603020202020204" pitchFamily="34" charset="0"/>
              </a:rPr>
              <a:t> to provide additional access to </a:t>
            </a:r>
            <a:r>
              <a:rPr lang="en-US" sz="1400" b="1">
                <a:solidFill>
                  <a:srgbClr val="295E7E"/>
                </a:solidFill>
                <a:sym typeface="Trebuchet MS" panose="020B0603020202020204" pitchFamily="34" charset="0"/>
              </a:rPr>
              <a:t>her social graph</a:t>
            </a:r>
          </a:p>
        </p:txBody>
      </p:sp>
      <p:sp>
        <p:nvSpPr>
          <p:cNvPr id="121" name="TextBox 120"/>
          <p:cNvSpPr txBox="1"/>
          <p:nvPr/>
        </p:nvSpPr>
        <p:spPr>
          <a:xfrm>
            <a:off x="2066951" y="4253893"/>
            <a:ext cx="3879492" cy="508038"/>
          </a:xfrm>
          <a:prstGeom prst="rect">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9A9A9A"/>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400">
                <a:solidFill>
                  <a:srgbClr val="575757"/>
                </a:solidFill>
                <a:sym typeface="Trebuchet MS" panose="020B0603020202020204" pitchFamily="34" charset="0"/>
              </a:rPr>
              <a:t>Receives one or more Personalized action based on data</a:t>
            </a:r>
          </a:p>
        </p:txBody>
      </p:sp>
      <p:sp>
        <p:nvSpPr>
          <p:cNvPr id="122" name="TextBox 121"/>
          <p:cNvSpPr txBox="1"/>
          <p:nvPr/>
        </p:nvSpPr>
        <p:spPr>
          <a:xfrm>
            <a:off x="2066951" y="4938644"/>
            <a:ext cx="3879492" cy="508038"/>
          </a:xfrm>
          <a:prstGeom prst="rect">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9A9A9A"/>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400">
                <a:solidFill>
                  <a:srgbClr val="575757"/>
                </a:solidFill>
                <a:sym typeface="Trebuchet MS" panose="020B0603020202020204" pitchFamily="34" charset="0"/>
              </a:rPr>
              <a:t>Accepts proposed action</a:t>
            </a:r>
          </a:p>
        </p:txBody>
      </p:sp>
      <p:sp>
        <p:nvSpPr>
          <p:cNvPr id="163" name="TextBox 162"/>
          <p:cNvSpPr txBox="1"/>
          <p:nvPr/>
        </p:nvSpPr>
        <p:spPr>
          <a:xfrm>
            <a:off x="2066951" y="5623396"/>
            <a:ext cx="3879492" cy="508038"/>
          </a:xfrm>
          <a:prstGeom prst="rect">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9A9A9A"/>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400">
                <a:solidFill>
                  <a:srgbClr val="575757"/>
                </a:solidFill>
                <a:sym typeface="Trebuchet MS" panose="020B0603020202020204" pitchFamily="34" charset="0"/>
              </a:rPr>
              <a:t>Experiences frictionless onboarding with pre-filled data</a:t>
            </a:r>
          </a:p>
        </p:txBody>
      </p:sp>
      <p:sp>
        <p:nvSpPr>
          <p:cNvPr id="175" name="TextBox 174"/>
          <p:cNvSpPr txBox="1"/>
          <p:nvPr/>
        </p:nvSpPr>
        <p:spPr>
          <a:xfrm>
            <a:off x="6529714" y="2126616"/>
            <a:ext cx="4704365" cy="654087"/>
          </a:xfrm>
          <a:prstGeom prst="rect">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9A9A9A"/>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77714" lvl="1" indent="-185143">
              <a:buClr>
                <a:srgbClr val="295E7E">
                  <a:lumMod val="100000"/>
                </a:srgbClr>
              </a:buClr>
              <a:buSzPct val="100000"/>
              <a:buFont typeface="Trebuchet MS" panose="020B0603020202020204" pitchFamily="34" charset="0"/>
              <a:buChar char="•"/>
            </a:pPr>
            <a:r>
              <a:rPr lang="en-US" sz="1100">
                <a:solidFill>
                  <a:srgbClr val="575757">
                    <a:lumMod val="100000"/>
                  </a:srgbClr>
                </a:solidFill>
                <a:latin typeface="Work Sans" panose="00000500000000000000" pitchFamily="2" charset="0"/>
                <a:sym typeface="Trebuchet MS" panose="020B0603020202020204" pitchFamily="34" charset="0"/>
              </a:rPr>
              <a:t>Jane clicked on an ad for a high yield savings account targeted at women in their 30's in New Jersey</a:t>
            </a:r>
          </a:p>
          <a:p>
            <a:pPr marL="277714" lvl="1" indent="-185143">
              <a:buClr>
                <a:srgbClr val="295E7E">
                  <a:lumMod val="100000"/>
                </a:srgbClr>
              </a:buClr>
              <a:buSzPct val="100000"/>
              <a:buFont typeface="Trebuchet MS" panose="020B0603020202020204" pitchFamily="34" charset="0"/>
              <a:buChar char="•"/>
            </a:pPr>
            <a:r>
              <a:rPr lang="en-US" sz="1100">
                <a:solidFill>
                  <a:srgbClr val="575757">
                    <a:lumMod val="100000"/>
                  </a:srgbClr>
                </a:solidFill>
                <a:latin typeface="Work Sans" panose="00000500000000000000" pitchFamily="2" charset="0"/>
                <a:sym typeface="Trebuchet MS" panose="020B0603020202020204" pitchFamily="34" charset="0"/>
              </a:rPr>
              <a:t>Additional data from Facebook cookie</a:t>
            </a:r>
          </a:p>
        </p:txBody>
      </p:sp>
      <p:sp>
        <p:nvSpPr>
          <p:cNvPr id="177" name="ee4pHeader1"/>
          <p:cNvSpPr txBox="1"/>
          <p:nvPr/>
        </p:nvSpPr>
        <p:spPr>
          <a:xfrm>
            <a:off x="6529714" y="1283802"/>
            <a:ext cx="4401958" cy="658368"/>
          </a:xfrm>
          <a:prstGeom prst="rect">
            <a:avLst/>
          </a:prstGeom>
          <a:noFill/>
          <a:ln cap="rnd">
            <a:noFill/>
          </a:ln>
        </p:spPr>
        <p:txBody>
          <a:bodyPr wrap="square" lIns="0" tIns="0" rIns="0" bIns="0" rtlCol="0" anchor="b" anchorCtr="0">
            <a:noAutofit/>
          </a:bodyPr>
          <a:lstStyle/>
          <a:p>
            <a:pPr marL="0" lvl="3"/>
            <a:r>
              <a:rPr lang="en-US">
                <a:solidFill>
                  <a:schemeClr val="tx2"/>
                </a:solidFill>
                <a:latin typeface="+mj-lt"/>
                <a:sym typeface="Trebuchet MS" panose="020B0603020202020204" pitchFamily="34" charset="0"/>
              </a:rPr>
              <a:t>Illustrative details</a:t>
            </a:r>
          </a:p>
        </p:txBody>
      </p:sp>
      <p:sp>
        <p:nvSpPr>
          <p:cNvPr id="178" name="TextBox 177"/>
          <p:cNvSpPr txBox="1"/>
          <p:nvPr/>
        </p:nvSpPr>
        <p:spPr>
          <a:xfrm>
            <a:off x="6529714" y="2811366"/>
            <a:ext cx="4704365" cy="654087"/>
          </a:xfrm>
          <a:prstGeom prst="rect">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9A9A9A"/>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77714" lvl="1" indent="-185143">
              <a:buClr>
                <a:srgbClr val="295E7E">
                  <a:lumMod val="100000"/>
                </a:srgbClr>
              </a:buClr>
              <a:buSzPct val="100000"/>
              <a:buFont typeface="Trebuchet MS" panose="020B0603020202020204" pitchFamily="34" charset="0"/>
              <a:buChar char="•"/>
            </a:pPr>
            <a:r>
              <a:rPr lang="en-US" sz="1100">
                <a:solidFill>
                  <a:srgbClr val="575757">
                    <a:lumMod val="100000"/>
                  </a:srgbClr>
                </a:solidFill>
                <a:latin typeface="Work Sans" panose="00000500000000000000" pitchFamily="2" charset="0"/>
                <a:sym typeface="Trebuchet MS" panose="020B0603020202020204" pitchFamily="34" charset="0"/>
              </a:rPr>
              <a:t>Chat-bot asks Jane about her financial goals and why she wants to open an account, some basic demographic info</a:t>
            </a:r>
          </a:p>
          <a:p>
            <a:pPr marL="277714" lvl="1" indent="-185143">
              <a:buClr>
                <a:srgbClr val="295E7E">
                  <a:lumMod val="100000"/>
                </a:srgbClr>
              </a:buClr>
              <a:buSzPct val="100000"/>
              <a:buFont typeface="Trebuchet MS" panose="020B0603020202020204" pitchFamily="34" charset="0"/>
              <a:buChar char="•"/>
            </a:pPr>
            <a:r>
              <a:rPr lang="en-US" sz="1100">
                <a:solidFill>
                  <a:srgbClr val="575757">
                    <a:lumMod val="100000"/>
                  </a:srgbClr>
                </a:solidFill>
                <a:latin typeface="Work Sans" panose="00000500000000000000" pitchFamily="2" charset="0"/>
                <a:sym typeface="Trebuchet MS" panose="020B0603020202020204" pitchFamily="34" charset="0"/>
              </a:rPr>
              <a:t>Response: save up for retirement, increase return on funds</a:t>
            </a:r>
          </a:p>
        </p:txBody>
      </p:sp>
      <p:sp>
        <p:nvSpPr>
          <p:cNvPr id="179" name="TextBox 178"/>
          <p:cNvSpPr txBox="1"/>
          <p:nvPr/>
        </p:nvSpPr>
        <p:spPr>
          <a:xfrm>
            <a:off x="6529714" y="3496116"/>
            <a:ext cx="4704365" cy="654087"/>
          </a:xfrm>
          <a:prstGeom prst="rect">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9A9A9A"/>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77714" lvl="1" indent="-185143">
              <a:buClr>
                <a:srgbClr val="295E7E">
                  <a:lumMod val="100000"/>
                </a:srgbClr>
              </a:buClr>
              <a:buSzPct val="100000"/>
              <a:buFont typeface="Trebuchet MS" panose="020B0603020202020204" pitchFamily="34" charset="0"/>
              <a:buChar char="•"/>
            </a:pPr>
            <a:r>
              <a:rPr lang="en-US" sz="1100">
                <a:solidFill>
                  <a:srgbClr val="575757">
                    <a:lumMod val="100000"/>
                  </a:srgbClr>
                </a:solidFill>
                <a:latin typeface="Work Sans" panose="00000500000000000000" pitchFamily="2" charset="0"/>
                <a:sym typeface="Trebuchet MS" panose="020B0603020202020204" pitchFamily="34" charset="0"/>
              </a:rPr>
              <a:t>By correlating Jane's network with internal customer data, bank is able to create a </a:t>
            </a:r>
            <a:r>
              <a:rPr lang="en-US" sz="1100">
                <a:solidFill>
                  <a:srgbClr val="295E7E"/>
                </a:solidFill>
                <a:latin typeface="Work Sans" panose="00000500000000000000" pitchFamily="2" charset="0"/>
                <a:sym typeface="Trebuchet MS" panose="020B0603020202020204" pitchFamily="34" charset="0"/>
              </a:rPr>
              <a:t>'recommended for you' action based on her network</a:t>
            </a:r>
          </a:p>
        </p:txBody>
      </p:sp>
      <p:cxnSp>
        <p:nvCxnSpPr>
          <p:cNvPr id="171" name="Straight Connector 170"/>
          <p:cNvCxnSpPr/>
          <p:nvPr/>
        </p:nvCxnSpPr>
        <p:spPr>
          <a:xfrm>
            <a:off x="1057049" y="2811366"/>
            <a:ext cx="10504580" cy="0"/>
          </a:xfrm>
          <a:prstGeom prst="line">
            <a:avLst/>
          </a:prstGeom>
          <a:ln w="9525" cap="rnd">
            <a:solidFill>
              <a:schemeClr val="tx1">
                <a:lumMod val="60000"/>
                <a:lumOff val="40000"/>
              </a:schemeClr>
            </a:solidFill>
            <a:prstDash val="sysDot"/>
            <a:round/>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a:off x="1057049" y="3503436"/>
            <a:ext cx="10504580" cy="0"/>
          </a:xfrm>
          <a:prstGeom prst="line">
            <a:avLst/>
          </a:prstGeom>
          <a:ln w="9525" cap="rnd">
            <a:solidFill>
              <a:schemeClr val="tx1">
                <a:lumMod val="60000"/>
                <a:lumOff val="40000"/>
              </a:schemeClr>
            </a:solidFill>
            <a:prstDash val="sysDot"/>
            <a:round/>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a:off x="1057049" y="4167205"/>
            <a:ext cx="10504580" cy="0"/>
          </a:xfrm>
          <a:prstGeom prst="line">
            <a:avLst/>
          </a:prstGeom>
          <a:ln w="9525" cap="rnd">
            <a:solidFill>
              <a:schemeClr val="tx1">
                <a:lumMod val="60000"/>
                <a:lumOff val="40000"/>
              </a:schemeClr>
            </a:solidFill>
            <a:prstDash val="sysDot"/>
            <a:round/>
          </a:ln>
        </p:spPr>
        <p:style>
          <a:lnRef idx="1">
            <a:schemeClr val="accent1"/>
          </a:lnRef>
          <a:fillRef idx="0">
            <a:schemeClr val="accent1"/>
          </a:fillRef>
          <a:effectRef idx="0">
            <a:schemeClr val="accent1"/>
          </a:effectRef>
          <a:fontRef idx="minor">
            <a:schemeClr val="tx1"/>
          </a:fontRef>
        </p:style>
      </p:cxnSp>
      <p:sp>
        <p:nvSpPr>
          <p:cNvPr id="194" name="TextBox 193"/>
          <p:cNvSpPr txBox="1"/>
          <p:nvPr/>
        </p:nvSpPr>
        <p:spPr>
          <a:xfrm>
            <a:off x="6857264" y="4187487"/>
            <a:ext cx="4704365" cy="654087"/>
          </a:xfrm>
          <a:prstGeom prst="rect">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9A9A9A"/>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108000" lvl="1">
              <a:buClr>
                <a:schemeClr val="tx2">
                  <a:lumMod val="100000"/>
                </a:schemeClr>
              </a:buClr>
              <a:buSzPct val="100000"/>
            </a:pPr>
            <a:endParaRPr lang="en-US" sz="1200">
              <a:solidFill>
                <a:schemeClr val="tx1">
                  <a:lumMod val="100000"/>
                </a:schemeClr>
              </a:solidFill>
              <a:latin typeface="Trebuchet MS" panose="020B0603020202020204" pitchFamily="34" charset="0"/>
              <a:sym typeface="Trebuchet MS" panose="020B0603020202020204" pitchFamily="34" charset="0"/>
            </a:endParaRPr>
          </a:p>
        </p:txBody>
      </p:sp>
      <p:sp>
        <p:nvSpPr>
          <p:cNvPr id="172" name="TextBox 171"/>
          <p:cNvSpPr txBox="1"/>
          <p:nvPr/>
        </p:nvSpPr>
        <p:spPr>
          <a:xfrm>
            <a:off x="6867213" y="3856404"/>
            <a:ext cx="914400" cy="914400"/>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noAutofit/>
          </a:bodyPr>
          <a:lstStyle/>
          <a:p>
            <a:pPr algn="ctr"/>
            <a:r>
              <a:rPr lang="en-US" sz="1200" b="1">
                <a:solidFill>
                  <a:srgbClr val="295E7E"/>
                </a:solidFill>
                <a:latin typeface="+mj-lt"/>
                <a:sym typeface="Trebuchet MS" panose="020B0603020202020204" pitchFamily="34" charset="0"/>
              </a:rPr>
              <a:t>Facebook ad only</a:t>
            </a:r>
          </a:p>
        </p:txBody>
      </p:sp>
      <p:sp>
        <p:nvSpPr>
          <p:cNvPr id="196" name="TextBox 195"/>
          <p:cNvSpPr txBox="1"/>
          <p:nvPr/>
        </p:nvSpPr>
        <p:spPr>
          <a:xfrm>
            <a:off x="8574676" y="3856404"/>
            <a:ext cx="914400" cy="914400"/>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noAutofit/>
          </a:bodyPr>
          <a:lstStyle/>
          <a:p>
            <a:pPr algn="ctr"/>
            <a:r>
              <a:rPr lang="en-US" sz="1200" b="1">
                <a:solidFill>
                  <a:srgbClr val="295E7E"/>
                </a:solidFill>
                <a:latin typeface="+mj-lt"/>
                <a:sym typeface="Trebuchet MS" panose="020B0603020202020204" pitchFamily="34" charset="0"/>
              </a:rPr>
              <a:t>Ad + chat-bot</a:t>
            </a:r>
          </a:p>
        </p:txBody>
      </p:sp>
      <p:sp>
        <p:nvSpPr>
          <p:cNvPr id="198" name="TextBox 197"/>
          <p:cNvSpPr txBox="1"/>
          <p:nvPr/>
        </p:nvSpPr>
        <p:spPr>
          <a:xfrm>
            <a:off x="10146856" y="3856404"/>
            <a:ext cx="914400" cy="914400"/>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noAutofit/>
          </a:bodyPr>
          <a:lstStyle/>
          <a:p>
            <a:pPr algn="ctr"/>
            <a:r>
              <a:rPr lang="en-US" sz="1200" b="1">
                <a:solidFill>
                  <a:srgbClr val="295E7E"/>
                </a:solidFill>
                <a:latin typeface="+mj-lt"/>
                <a:sym typeface="Trebuchet MS" panose="020B0603020202020204" pitchFamily="34" charset="0"/>
              </a:rPr>
              <a:t>Ad + chat-bot + social</a:t>
            </a:r>
          </a:p>
        </p:txBody>
      </p:sp>
      <p:cxnSp>
        <p:nvCxnSpPr>
          <p:cNvPr id="199" name="Straight Connector 198"/>
          <p:cNvCxnSpPr/>
          <p:nvPr/>
        </p:nvCxnSpPr>
        <p:spPr>
          <a:xfrm>
            <a:off x="1057049" y="4868870"/>
            <a:ext cx="10504580" cy="0"/>
          </a:xfrm>
          <a:prstGeom prst="line">
            <a:avLst/>
          </a:prstGeom>
          <a:ln w="9525" cap="rnd">
            <a:solidFill>
              <a:schemeClr val="tx1">
                <a:lumMod val="60000"/>
                <a:lumOff val="40000"/>
              </a:schemeClr>
            </a:solidFill>
            <a:prstDash val="sysDot"/>
            <a:round/>
          </a:ln>
        </p:spPr>
        <p:style>
          <a:lnRef idx="1">
            <a:schemeClr val="accent1"/>
          </a:lnRef>
          <a:fillRef idx="0">
            <a:schemeClr val="accent1"/>
          </a:fillRef>
          <a:effectRef idx="0">
            <a:schemeClr val="accent1"/>
          </a:effectRef>
          <a:fontRef idx="minor">
            <a:schemeClr val="tx1"/>
          </a:fontRef>
        </p:style>
      </p:cxnSp>
      <p:sp>
        <p:nvSpPr>
          <p:cNvPr id="200" name="TextBox 199"/>
          <p:cNvSpPr txBox="1"/>
          <p:nvPr/>
        </p:nvSpPr>
        <p:spPr>
          <a:xfrm>
            <a:off x="6529714" y="4397101"/>
            <a:ext cx="1868798" cy="398500"/>
          </a:xfrm>
          <a:prstGeom prst="rect">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9A9A9A"/>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277714" lvl="1" indent="-185143">
              <a:buClr>
                <a:srgbClr val="295E7E">
                  <a:lumMod val="100000"/>
                </a:srgbClr>
              </a:buClr>
              <a:buSzPct val="100000"/>
              <a:buFont typeface="Trebuchet MS" panose="020B0603020202020204" pitchFamily="34" charset="0"/>
              <a:buChar char="•"/>
            </a:pPr>
            <a:r>
              <a:rPr lang="en-US" sz="1100">
                <a:solidFill>
                  <a:srgbClr val="575757">
                    <a:lumMod val="100000"/>
                  </a:srgbClr>
                </a:solidFill>
                <a:latin typeface="Work Sans" panose="00000500000000000000" pitchFamily="2" charset="0"/>
                <a:sym typeface="Trebuchet MS" panose="020B0603020202020204" pitchFamily="34" charset="0"/>
              </a:rPr>
              <a:t>Savings account w/ tailored bonus, rate</a:t>
            </a:r>
          </a:p>
        </p:txBody>
      </p:sp>
      <p:sp>
        <p:nvSpPr>
          <p:cNvPr id="202" name="TextBox 201"/>
          <p:cNvSpPr txBox="1"/>
          <p:nvPr/>
        </p:nvSpPr>
        <p:spPr>
          <a:xfrm>
            <a:off x="8457347" y="4397101"/>
            <a:ext cx="1302603" cy="398500"/>
          </a:xfrm>
          <a:prstGeom prst="rect">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9A9A9A"/>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t" anchorCtr="0" forceAA="0" compatLnSpc="1">
            <a:prstTxWarp prst="textNoShape">
              <a:avLst/>
            </a:prstTxWarp>
            <a:noAutofit/>
          </a:bodyPr>
          <a:lstStyle/>
          <a:p>
            <a:pPr marL="277714" lvl="1" indent="-185143">
              <a:buClr>
                <a:srgbClr val="295E7E">
                  <a:lumMod val="100000"/>
                </a:srgbClr>
              </a:buClr>
              <a:buSzPct val="100000"/>
              <a:buFont typeface="Trebuchet MS" panose="020B0603020202020204" pitchFamily="34" charset="0"/>
              <a:buChar char="•"/>
            </a:pPr>
            <a:r>
              <a:rPr lang="en-US" sz="1100">
                <a:solidFill>
                  <a:srgbClr val="575757">
                    <a:lumMod val="100000"/>
                  </a:srgbClr>
                </a:solidFill>
                <a:latin typeface="Work Sans" panose="00000500000000000000" pitchFamily="2" charset="0"/>
                <a:sym typeface="Trebuchet MS" panose="020B0603020202020204" pitchFamily="34" charset="0"/>
              </a:rPr>
              <a:t>401K advice</a:t>
            </a:r>
          </a:p>
          <a:p>
            <a:pPr marL="277714" lvl="1" indent="-185143">
              <a:buClr>
                <a:srgbClr val="295E7E">
                  <a:lumMod val="100000"/>
                </a:srgbClr>
              </a:buClr>
              <a:buSzPct val="100000"/>
              <a:buFont typeface="Trebuchet MS" panose="020B0603020202020204" pitchFamily="34" charset="0"/>
              <a:buChar char="•"/>
            </a:pPr>
            <a:r>
              <a:rPr lang="en-US" sz="1100">
                <a:solidFill>
                  <a:srgbClr val="575757">
                    <a:lumMod val="100000"/>
                  </a:srgbClr>
                </a:solidFill>
                <a:latin typeface="Work Sans" panose="00000500000000000000" pitchFamily="2" charset="0"/>
                <a:sym typeface="Trebuchet MS" panose="020B0603020202020204" pitchFamily="34" charset="0"/>
              </a:rPr>
              <a:t>Tailored CD</a:t>
            </a:r>
          </a:p>
        </p:txBody>
      </p:sp>
      <p:sp>
        <p:nvSpPr>
          <p:cNvPr id="203" name="TextBox 202"/>
          <p:cNvSpPr txBox="1"/>
          <p:nvPr/>
        </p:nvSpPr>
        <p:spPr>
          <a:xfrm>
            <a:off x="9765856" y="4397101"/>
            <a:ext cx="1795773" cy="398500"/>
          </a:xfrm>
          <a:prstGeom prst="rect">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9A9A9A"/>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t" anchorCtr="0" forceAA="0" compatLnSpc="1">
            <a:prstTxWarp prst="textNoShape">
              <a:avLst/>
            </a:prstTxWarp>
            <a:noAutofit/>
          </a:bodyPr>
          <a:lstStyle/>
          <a:p>
            <a:pPr marL="277714" lvl="1" indent="-185143">
              <a:buClr>
                <a:srgbClr val="295E7E">
                  <a:lumMod val="100000"/>
                </a:srgbClr>
              </a:buClr>
              <a:buSzPct val="100000"/>
              <a:buFont typeface="Trebuchet MS" panose="020B0603020202020204" pitchFamily="34" charset="0"/>
              <a:buChar char="•"/>
            </a:pPr>
            <a:r>
              <a:rPr lang="en-US" sz="1100">
                <a:solidFill>
                  <a:srgbClr val="575757">
                    <a:lumMod val="100000"/>
                  </a:srgbClr>
                </a:solidFill>
                <a:latin typeface="Work Sans" panose="00000500000000000000" pitchFamily="2" charset="0"/>
                <a:sym typeface="Trebuchet MS" panose="020B0603020202020204" pitchFamily="34" charset="0"/>
              </a:rPr>
              <a:t>ETF investment</a:t>
            </a:r>
          </a:p>
          <a:p>
            <a:pPr marL="277714" lvl="1" indent="-185143">
              <a:buClr>
                <a:srgbClr val="295E7E">
                  <a:lumMod val="100000"/>
                </a:srgbClr>
              </a:buClr>
              <a:buSzPct val="100000"/>
              <a:buFont typeface="Trebuchet MS" panose="020B0603020202020204" pitchFamily="34" charset="0"/>
              <a:buChar char="•"/>
            </a:pPr>
            <a:r>
              <a:rPr lang="en-US" sz="1100">
                <a:solidFill>
                  <a:srgbClr val="575757">
                    <a:lumMod val="100000"/>
                  </a:srgbClr>
                </a:solidFill>
                <a:latin typeface="Work Sans" panose="00000500000000000000" pitchFamily="2" charset="0"/>
                <a:sym typeface="Trebuchet MS" panose="020B0603020202020204" pitchFamily="34" charset="0"/>
              </a:rPr>
              <a:t>401K suggestion</a:t>
            </a:r>
          </a:p>
        </p:txBody>
      </p:sp>
      <p:cxnSp>
        <p:nvCxnSpPr>
          <p:cNvPr id="204" name="Straight Connector 203"/>
          <p:cNvCxnSpPr/>
          <p:nvPr/>
        </p:nvCxnSpPr>
        <p:spPr>
          <a:xfrm>
            <a:off x="1057049" y="5514922"/>
            <a:ext cx="10504580" cy="0"/>
          </a:xfrm>
          <a:prstGeom prst="line">
            <a:avLst/>
          </a:prstGeom>
          <a:ln w="9525" cap="rnd">
            <a:solidFill>
              <a:schemeClr val="tx1">
                <a:lumMod val="60000"/>
                <a:lumOff val="40000"/>
              </a:schemeClr>
            </a:solidFill>
            <a:prstDash val="sysDot"/>
            <a:round/>
          </a:ln>
        </p:spPr>
        <p:style>
          <a:lnRef idx="1">
            <a:schemeClr val="accent1"/>
          </a:lnRef>
          <a:fillRef idx="0">
            <a:schemeClr val="accent1"/>
          </a:fillRef>
          <a:effectRef idx="0">
            <a:schemeClr val="accent1"/>
          </a:effectRef>
          <a:fontRef idx="minor">
            <a:schemeClr val="tx1"/>
          </a:fontRef>
        </p:style>
      </p:cxnSp>
      <p:sp>
        <p:nvSpPr>
          <p:cNvPr id="208" name="TextBox 207"/>
          <p:cNvSpPr txBox="1"/>
          <p:nvPr/>
        </p:nvSpPr>
        <p:spPr>
          <a:xfrm>
            <a:off x="6529714" y="5550371"/>
            <a:ext cx="4704365" cy="654087"/>
          </a:xfrm>
          <a:prstGeom prst="rect">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9A9A9A"/>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77714" lvl="1" indent="-185143">
              <a:buClr>
                <a:srgbClr val="295E7E">
                  <a:lumMod val="100000"/>
                </a:srgbClr>
              </a:buClr>
              <a:buSzPct val="100000"/>
              <a:buFont typeface="Trebuchet MS" panose="020B0603020202020204" pitchFamily="34" charset="0"/>
              <a:buChar char="•"/>
            </a:pPr>
            <a:r>
              <a:rPr lang="en-US" sz="1100">
                <a:solidFill>
                  <a:srgbClr val="575757">
                    <a:lumMod val="100000"/>
                  </a:srgbClr>
                </a:solidFill>
                <a:latin typeface="Work Sans" panose="00000500000000000000" pitchFamily="2" charset="0"/>
                <a:sym typeface="Trebuchet MS" panose="020B0603020202020204" pitchFamily="34" charset="0"/>
              </a:rPr>
              <a:t>Onboarding pages pre-filled based on data provided to chat-bot, Facebook profile after asking Jane's permission to do so</a:t>
            </a:r>
          </a:p>
        </p:txBody>
      </p:sp>
      <p:grpSp>
        <p:nvGrpSpPr>
          <p:cNvPr id="279" name="Group 278"/>
          <p:cNvGrpSpPr/>
          <p:nvPr/>
        </p:nvGrpSpPr>
        <p:grpSpPr>
          <a:xfrm>
            <a:off x="1320489" y="2194826"/>
            <a:ext cx="517666" cy="517666"/>
            <a:chOff x="1129989" y="2267427"/>
            <a:chExt cx="517666" cy="517666"/>
          </a:xfrm>
        </p:grpSpPr>
        <p:sp>
          <p:nvSpPr>
            <p:cNvPr id="244" name="Oval 243"/>
            <p:cNvSpPr/>
            <p:nvPr/>
          </p:nvSpPr>
          <p:spPr>
            <a:xfrm>
              <a:off x="1129989" y="2267427"/>
              <a:ext cx="517666" cy="517666"/>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pPr>
              <a:endParaRPr lang="en-US" kern="0">
                <a:solidFill>
                  <a:schemeClr val="bg1">
                    <a:lumMod val="50000"/>
                  </a:schemeClr>
                </a:solidFill>
                <a:latin typeface="Trebuchet MS" panose="020B0603020202020204" pitchFamily="34" charset="0"/>
                <a:sym typeface="Trebuchet MS" panose="020B0603020202020204" pitchFamily="34" charset="0"/>
              </a:endParaRPr>
            </a:p>
          </p:txBody>
        </p:sp>
        <p:grpSp>
          <p:nvGrpSpPr>
            <p:cNvPr id="245" name="Group 244"/>
            <p:cNvGrpSpPr/>
            <p:nvPr/>
          </p:nvGrpSpPr>
          <p:grpSpPr>
            <a:xfrm>
              <a:off x="1185076" y="2322325"/>
              <a:ext cx="407492" cy="407870"/>
              <a:chOff x="5272881" y="2605247"/>
              <a:chExt cx="1646238" cy="1646237"/>
            </a:xfrm>
          </p:grpSpPr>
          <p:sp>
            <p:nvSpPr>
              <p:cNvPr id="246" name="AutoShape 3"/>
              <p:cNvSpPr>
                <a:spLocks noChangeAspect="1" noChangeArrowheads="1" noTextEdit="1"/>
              </p:cNvSpPr>
              <p:nvPr/>
            </p:nvSpPr>
            <p:spPr bwMode="auto">
              <a:xfrm>
                <a:off x="5272881" y="2605247"/>
                <a:ext cx="1646238" cy="1646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Trebuchet MS" panose="020B0603020202020204" pitchFamily="34" charset="0"/>
                  <a:sym typeface="Trebuchet MS" panose="020B0603020202020204" pitchFamily="34" charset="0"/>
                </a:endParaRPr>
              </a:p>
            </p:txBody>
          </p:sp>
          <p:grpSp>
            <p:nvGrpSpPr>
              <p:cNvPr id="247" name="Group 246"/>
              <p:cNvGrpSpPr/>
              <p:nvPr/>
            </p:nvGrpSpPr>
            <p:grpSpPr>
              <a:xfrm>
                <a:off x="5533231" y="2818765"/>
                <a:ext cx="1125538" cy="1219200"/>
                <a:chOff x="5533231" y="2818765"/>
                <a:chExt cx="1125538" cy="1219200"/>
              </a:xfrm>
            </p:grpSpPr>
            <p:sp>
              <p:nvSpPr>
                <p:cNvPr id="248" name="Freeform 247"/>
                <p:cNvSpPr>
                  <a:spLocks/>
                </p:cNvSpPr>
                <p:nvPr/>
              </p:nvSpPr>
              <p:spPr bwMode="auto">
                <a:xfrm>
                  <a:off x="5652294" y="2969577"/>
                  <a:ext cx="887412" cy="919162"/>
                </a:xfrm>
                <a:custGeom>
                  <a:avLst/>
                  <a:gdLst>
                    <a:gd name="connsiteX0" fmla="*/ 15695 w 887412"/>
                    <a:gd name="connsiteY0" fmla="*/ 889000 h 919162"/>
                    <a:gd name="connsiteX1" fmla="*/ 449443 w 887412"/>
                    <a:gd name="connsiteY1" fmla="*/ 889000 h 919162"/>
                    <a:gd name="connsiteX2" fmla="*/ 465138 w 887412"/>
                    <a:gd name="connsiteY2" fmla="*/ 904081 h 919162"/>
                    <a:gd name="connsiteX3" fmla="*/ 449443 w 887412"/>
                    <a:gd name="connsiteY3" fmla="*/ 919162 h 919162"/>
                    <a:gd name="connsiteX4" fmla="*/ 15695 w 887412"/>
                    <a:gd name="connsiteY4" fmla="*/ 919162 h 919162"/>
                    <a:gd name="connsiteX5" fmla="*/ 0 w 887412"/>
                    <a:gd name="connsiteY5" fmla="*/ 904081 h 919162"/>
                    <a:gd name="connsiteX6" fmla="*/ 15695 w 887412"/>
                    <a:gd name="connsiteY6" fmla="*/ 889000 h 919162"/>
                    <a:gd name="connsiteX7" fmla="*/ 15695 w 887412"/>
                    <a:gd name="connsiteY7" fmla="*/ 782638 h 919162"/>
                    <a:gd name="connsiteX8" fmla="*/ 449443 w 887412"/>
                    <a:gd name="connsiteY8" fmla="*/ 782638 h 919162"/>
                    <a:gd name="connsiteX9" fmla="*/ 465138 w 887412"/>
                    <a:gd name="connsiteY9" fmla="*/ 798513 h 919162"/>
                    <a:gd name="connsiteX10" fmla="*/ 449443 w 887412"/>
                    <a:gd name="connsiteY10" fmla="*/ 814388 h 919162"/>
                    <a:gd name="connsiteX11" fmla="*/ 15695 w 887412"/>
                    <a:gd name="connsiteY11" fmla="*/ 814388 h 919162"/>
                    <a:gd name="connsiteX12" fmla="*/ 0 w 887412"/>
                    <a:gd name="connsiteY12" fmla="*/ 798513 h 919162"/>
                    <a:gd name="connsiteX13" fmla="*/ 15695 w 887412"/>
                    <a:gd name="connsiteY13" fmla="*/ 782638 h 919162"/>
                    <a:gd name="connsiteX14" fmla="*/ 585733 w 887412"/>
                    <a:gd name="connsiteY14" fmla="*/ 760413 h 919162"/>
                    <a:gd name="connsiteX15" fmla="*/ 660455 w 887412"/>
                    <a:gd name="connsiteY15" fmla="*/ 760413 h 919162"/>
                    <a:gd name="connsiteX16" fmla="*/ 674688 w 887412"/>
                    <a:gd name="connsiteY16" fmla="*/ 774700 h 919162"/>
                    <a:gd name="connsiteX17" fmla="*/ 660455 w 887412"/>
                    <a:gd name="connsiteY17" fmla="*/ 788988 h 919162"/>
                    <a:gd name="connsiteX18" fmla="*/ 585733 w 887412"/>
                    <a:gd name="connsiteY18" fmla="*/ 788988 h 919162"/>
                    <a:gd name="connsiteX19" fmla="*/ 571500 w 887412"/>
                    <a:gd name="connsiteY19" fmla="*/ 774700 h 919162"/>
                    <a:gd name="connsiteX20" fmla="*/ 585733 w 887412"/>
                    <a:gd name="connsiteY20" fmla="*/ 760413 h 919162"/>
                    <a:gd name="connsiteX21" fmla="*/ 15695 w 887412"/>
                    <a:gd name="connsiteY21" fmla="*/ 677863 h 919162"/>
                    <a:gd name="connsiteX22" fmla="*/ 449443 w 887412"/>
                    <a:gd name="connsiteY22" fmla="*/ 677863 h 919162"/>
                    <a:gd name="connsiteX23" fmla="*/ 465138 w 887412"/>
                    <a:gd name="connsiteY23" fmla="*/ 693738 h 919162"/>
                    <a:gd name="connsiteX24" fmla="*/ 449443 w 887412"/>
                    <a:gd name="connsiteY24" fmla="*/ 709613 h 919162"/>
                    <a:gd name="connsiteX25" fmla="*/ 15695 w 887412"/>
                    <a:gd name="connsiteY25" fmla="*/ 709613 h 919162"/>
                    <a:gd name="connsiteX26" fmla="*/ 0 w 887412"/>
                    <a:gd name="connsiteY26" fmla="*/ 693738 h 919162"/>
                    <a:gd name="connsiteX27" fmla="*/ 15695 w 887412"/>
                    <a:gd name="connsiteY27" fmla="*/ 677863 h 919162"/>
                    <a:gd name="connsiteX28" fmla="*/ 585733 w 887412"/>
                    <a:gd name="connsiteY28" fmla="*/ 655638 h 919162"/>
                    <a:gd name="connsiteX29" fmla="*/ 660455 w 887412"/>
                    <a:gd name="connsiteY29" fmla="*/ 655638 h 919162"/>
                    <a:gd name="connsiteX30" fmla="*/ 674688 w 887412"/>
                    <a:gd name="connsiteY30" fmla="*/ 669925 h 919162"/>
                    <a:gd name="connsiteX31" fmla="*/ 660455 w 887412"/>
                    <a:gd name="connsiteY31" fmla="*/ 684213 h 919162"/>
                    <a:gd name="connsiteX32" fmla="*/ 585733 w 887412"/>
                    <a:gd name="connsiteY32" fmla="*/ 684213 h 919162"/>
                    <a:gd name="connsiteX33" fmla="*/ 571500 w 887412"/>
                    <a:gd name="connsiteY33" fmla="*/ 669925 h 919162"/>
                    <a:gd name="connsiteX34" fmla="*/ 585733 w 887412"/>
                    <a:gd name="connsiteY34" fmla="*/ 655638 h 919162"/>
                    <a:gd name="connsiteX35" fmla="*/ 793666 w 887412"/>
                    <a:gd name="connsiteY35" fmla="*/ 631825 h 919162"/>
                    <a:gd name="connsiteX36" fmla="*/ 872498 w 887412"/>
                    <a:gd name="connsiteY36" fmla="*/ 631825 h 919162"/>
                    <a:gd name="connsiteX37" fmla="*/ 887412 w 887412"/>
                    <a:gd name="connsiteY37" fmla="*/ 646461 h 919162"/>
                    <a:gd name="connsiteX38" fmla="*/ 872498 w 887412"/>
                    <a:gd name="connsiteY38" fmla="*/ 660400 h 919162"/>
                    <a:gd name="connsiteX39" fmla="*/ 793666 w 887412"/>
                    <a:gd name="connsiteY39" fmla="*/ 660400 h 919162"/>
                    <a:gd name="connsiteX40" fmla="*/ 779462 w 887412"/>
                    <a:gd name="connsiteY40" fmla="*/ 646461 h 919162"/>
                    <a:gd name="connsiteX41" fmla="*/ 793666 w 887412"/>
                    <a:gd name="connsiteY41" fmla="*/ 631825 h 919162"/>
                    <a:gd name="connsiteX42" fmla="*/ 15695 w 887412"/>
                    <a:gd name="connsiteY42" fmla="*/ 573088 h 919162"/>
                    <a:gd name="connsiteX43" fmla="*/ 449443 w 887412"/>
                    <a:gd name="connsiteY43" fmla="*/ 573088 h 919162"/>
                    <a:gd name="connsiteX44" fmla="*/ 465138 w 887412"/>
                    <a:gd name="connsiteY44" fmla="*/ 588169 h 919162"/>
                    <a:gd name="connsiteX45" fmla="*/ 449443 w 887412"/>
                    <a:gd name="connsiteY45" fmla="*/ 603250 h 919162"/>
                    <a:gd name="connsiteX46" fmla="*/ 15695 w 887412"/>
                    <a:gd name="connsiteY46" fmla="*/ 603250 h 919162"/>
                    <a:gd name="connsiteX47" fmla="*/ 0 w 887412"/>
                    <a:gd name="connsiteY47" fmla="*/ 588169 h 919162"/>
                    <a:gd name="connsiteX48" fmla="*/ 15695 w 887412"/>
                    <a:gd name="connsiteY48" fmla="*/ 573088 h 919162"/>
                    <a:gd name="connsiteX49" fmla="*/ 585733 w 887412"/>
                    <a:gd name="connsiteY49" fmla="*/ 549275 h 919162"/>
                    <a:gd name="connsiteX50" fmla="*/ 660455 w 887412"/>
                    <a:gd name="connsiteY50" fmla="*/ 549275 h 919162"/>
                    <a:gd name="connsiteX51" fmla="*/ 674688 w 887412"/>
                    <a:gd name="connsiteY51" fmla="*/ 563988 h 919162"/>
                    <a:gd name="connsiteX52" fmla="*/ 660455 w 887412"/>
                    <a:gd name="connsiteY52" fmla="*/ 579437 h 919162"/>
                    <a:gd name="connsiteX53" fmla="*/ 585733 w 887412"/>
                    <a:gd name="connsiteY53" fmla="*/ 579437 h 919162"/>
                    <a:gd name="connsiteX54" fmla="*/ 571500 w 887412"/>
                    <a:gd name="connsiteY54" fmla="*/ 563988 h 919162"/>
                    <a:gd name="connsiteX55" fmla="*/ 585733 w 887412"/>
                    <a:gd name="connsiteY55" fmla="*/ 549275 h 919162"/>
                    <a:gd name="connsiteX56" fmla="*/ 793666 w 887412"/>
                    <a:gd name="connsiteY56" fmla="*/ 525463 h 919162"/>
                    <a:gd name="connsiteX57" fmla="*/ 872498 w 887412"/>
                    <a:gd name="connsiteY57" fmla="*/ 525463 h 919162"/>
                    <a:gd name="connsiteX58" fmla="*/ 887412 w 887412"/>
                    <a:gd name="connsiteY58" fmla="*/ 540176 h 919162"/>
                    <a:gd name="connsiteX59" fmla="*/ 872498 w 887412"/>
                    <a:gd name="connsiteY59" fmla="*/ 555625 h 919162"/>
                    <a:gd name="connsiteX60" fmla="*/ 793666 w 887412"/>
                    <a:gd name="connsiteY60" fmla="*/ 555625 h 919162"/>
                    <a:gd name="connsiteX61" fmla="*/ 779462 w 887412"/>
                    <a:gd name="connsiteY61" fmla="*/ 540176 h 919162"/>
                    <a:gd name="connsiteX62" fmla="*/ 793666 w 887412"/>
                    <a:gd name="connsiteY62" fmla="*/ 525463 h 919162"/>
                    <a:gd name="connsiteX63" fmla="*/ 15695 w 887412"/>
                    <a:gd name="connsiteY63" fmla="*/ 466725 h 919162"/>
                    <a:gd name="connsiteX64" fmla="*/ 449443 w 887412"/>
                    <a:gd name="connsiteY64" fmla="*/ 466725 h 919162"/>
                    <a:gd name="connsiteX65" fmla="*/ 465138 w 887412"/>
                    <a:gd name="connsiteY65" fmla="*/ 482600 h 919162"/>
                    <a:gd name="connsiteX66" fmla="*/ 449443 w 887412"/>
                    <a:gd name="connsiteY66" fmla="*/ 498475 h 919162"/>
                    <a:gd name="connsiteX67" fmla="*/ 15695 w 887412"/>
                    <a:gd name="connsiteY67" fmla="*/ 498475 h 919162"/>
                    <a:gd name="connsiteX68" fmla="*/ 0 w 887412"/>
                    <a:gd name="connsiteY68" fmla="*/ 482600 h 919162"/>
                    <a:gd name="connsiteX69" fmla="*/ 15695 w 887412"/>
                    <a:gd name="connsiteY69" fmla="*/ 466725 h 919162"/>
                    <a:gd name="connsiteX70" fmla="*/ 585733 w 887412"/>
                    <a:gd name="connsiteY70" fmla="*/ 444500 h 919162"/>
                    <a:gd name="connsiteX71" fmla="*/ 660455 w 887412"/>
                    <a:gd name="connsiteY71" fmla="*/ 444500 h 919162"/>
                    <a:gd name="connsiteX72" fmla="*/ 674688 w 887412"/>
                    <a:gd name="connsiteY72" fmla="*/ 458787 h 919162"/>
                    <a:gd name="connsiteX73" fmla="*/ 660455 w 887412"/>
                    <a:gd name="connsiteY73" fmla="*/ 473075 h 919162"/>
                    <a:gd name="connsiteX74" fmla="*/ 585733 w 887412"/>
                    <a:gd name="connsiteY74" fmla="*/ 473075 h 919162"/>
                    <a:gd name="connsiteX75" fmla="*/ 571500 w 887412"/>
                    <a:gd name="connsiteY75" fmla="*/ 458787 h 919162"/>
                    <a:gd name="connsiteX76" fmla="*/ 585733 w 887412"/>
                    <a:gd name="connsiteY76" fmla="*/ 444500 h 919162"/>
                    <a:gd name="connsiteX77" fmla="*/ 793666 w 887412"/>
                    <a:gd name="connsiteY77" fmla="*/ 420688 h 919162"/>
                    <a:gd name="connsiteX78" fmla="*/ 872498 w 887412"/>
                    <a:gd name="connsiteY78" fmla="*/ 420688 h 919162"/>
                    <a:gd name="connsiteX79" fmla="*/ 887412 w 887412"/>
                    <a:gd name="connsiteY79" fmla="*/ 435324 h 919162"/>
                    <a:gd name="connsiteX80" fmla="*/ 872498 w 887412"/>
                    <a:gd name="connsiteY80" fmla="*/ 449263 h 919162"/>
                    <a:gd name="connsiteX81" fmla="*/ 793666 w 887412"/>
                    <a:gd name="connsiteY81" fmla="*/ 449263 h 919162"/>
                    <a:gd name="connsiteX82" fmla="*/ 779462 w 887412"/>
                    <a:gd name="connsiteY82" fmla="*/ 435324 h 919162"/>
                    <a:gd name="connsiteX83" fmla="*/ 793666 w 887412"/>
                    <a:gd name="connsiteY83" fmla="*/ 420688 h 919162"/>
                    <a:gd name="connsiteX84" fmla="*/ 15695 w 887412"/>
                    <a:gd name="connsiteY84" fmla="*/ 361950 h 919162"/>
                    <a:gd name="connsiteX85" fmla="*/ 449443 w 887412"/>
                    <a:gd name="connsiteY85" fmla="*/ 361950 h 919162"/>
                    <a:gd name="connsiteX86" fmla="*/ 465138 w 887412"/>
                    <a:gd name="connsiteY86" fmla="*/ 377825 h 919162"/>
                    <a:gd name="connsiteX87" fmla="*/ 449443 w 887412"/>
                    <a:gd name="connsiteY87" fmla="*/ 393700 h 919162"/>
                    <a:gd name="connsiteX88" fmla="*/ 15695 w 887412"/>
                    <a:gd name="connsiteY88" fmla="*/ 393700 h 919162"/>
                    <a:gd name="connsiteX89" fmla="*/ 0 w 887412"/>
                    <a:gd name="connsiteY89" fmla="*/ 377825 h 919162"/>
                    <a:gd name="connsiteX90" fmla="*/ 15695 w 887412"/>
                    <a:gd name="connsiteY90" fmla="*/ 361950 h 919162"/>
                    <a:gd name="connsiteX91" fmla="*/ 585733 w 887412"/>
                    <a:gd name="connsiteY91" fmla="*/ 339725 h 919162"/>
                    <a:gd name="connsiteX92" fmla="*/ 660455 w 887412"/>
                    <a:gd name="connsiteY92" fmla="*/ 339725 h 919162"/>
                    <a:gd name="connsiteX93" fmla="*/ 674688 w 887412"/>
                    <a:gd name="connsiteY93" fmla="*/ 354012 h 919162"/>
                    <a:gd name="connsiteX94" fmla="*/ 660455 w 887412"/>
                    <a:gd name="connsiteY94" fmla="*/ 368300 h 919162"/>
                    <a:gd name="connsiteX95" fmla="*/ 585733 w 887412"/>
                    <a:gd name="connsiteY95" fmla="*/ 368300 h 919162"/>
                    <a:gd name="connsiteX96" fmla="*/ 571500 w 887412"/>
                    <a:gd name="connsiteY96" fmla="*/ 354012 h 919162"/>
                    <a:gd name="connsiteX97" fmla="*/ 585733 w 887412"/>
                    <a:gd name="connsiteY97" fmla="*/ 339725 h 919162"/>
                    <a:gd name="connsiteX98" fmla="*/ 793666 w 887412"/>
                    <a:gd name="connsiteY98" fmla="*/ 315913 h 919162"/>
                    <a:gd name="connsiteX99" fmla="*/ 872498 w 887412"/>
                    <a:gd name="connsiteY99" fmla="*/ 315913 h 919162"/>
                    <a:gd name="connsiteX100" fmla="*/ 887412 w 887412"/>
                    <a:gd name="connsiteY100" fmla="*/ 330549 h 919162"/>
                    <a:gd name="connsiteX101" fmla="*/ 872498 w 887412"/>
                    <a:gd name="connsiteY101" fmla="*/ 344488 h 919162"/>
                    <a:gd name="connsiteX102" fmla="*/ 793666 w 887412"/>
                    <a:gd name="connsiteY102" fmla="*/ 344488 h 919162"/>
                    <a:gd name="connsiteX103" fmla="*/ 779462 w 887412"/>
                    <a:gd name="connsiteY103" fmla="*/ 330549 h 919162"/>
                    <a:gd name="connsiteX104" fmla="*/ 793666 w 887412"/>
                    <a:gd name="connsiteY104" fmla="*/ 315913 h 919162"/>
                    <a:gd name="connsiteX105" fmla="*/ 15695 w 887412"/>
                    <a:gd name="connsiteY105" fmla="*/ 257175 h 919162"/>
                    <a:gd name="connsiteX106" fmla="*/ 449443 w 887412"/>
                    <a:gd name="connsiteY106" fmla="*/ 257175 h 919162"/>
                    <a:gd name="connsiteX107" fmla="*/ 465138 w 887412"/>
                    <a:gd name="connsiteY107" fmla="*/ 273050 h 919162"/>
                    <a:gd name="connsiteX108" fmla="*/ 449443 w 887412"/>
                    <a:gd name="connsiteY108" fmla="*/ 288925 h 919162"/>
                    <a:gd name="connsiteX109" fmla="*/ 15695 w 887412"/>
                    <a:gd name="connsiteY109" fmla="*/ 288925 h 919162"/>
                    <a:gd name="connsiteX110" fmla="*/ 0 w 887412"/>
                    <a:gd name="connsiteY110" fmla="*/ 273050 h 919162"/>
                    <a:gd name="connsiteX111" fmla="*/ 15695 w 887412"/>
                    <a:gd name="connsiteY111" fmla="*/ 257175 h 919162"/>
                    <a:gd name="connsiteX112" fmla="*/ 585733 w 887412"/>
                    <a:gd name="connsiteY112" fmla="*/ 233363 h 919162"/>
                    <a:gd name="connsiteX113" fmla="*/ 660455 w 887412"/>
                    <a:gd name="connsiteY113" fmla="*/ 233363 h 919162"/>
                    <a:gd name="connsiteX114" fmla="*/ 674688 w 887412"/>
                    <a:gd name="connsiteY114" fmla="*/ 247650 h 919162"/>
                    <a:gd name="connsiteX115" fmla="*/ 660455 w 887412"/>
                    <a:gd name="connsiteY115" fmla="*/ 261938 h 919162"/>
                    <a:gd name="connsiteX116" fmla="*/ 585733 w 887412"/>
                    <a:gd name="connsiteY116" fmla="*/ 261938 h 919162"/>
                    <a:gd name="connsiteX117" fmla="*/ 571500 w 887412"/>
                    <a:gd name="connsiteY117" fmla="*/ 247650 h 919162"/>
                    <a:gd name="connsiteX118" fmla="*/ 585733 w 887412"/>
                    <a:gd name="connsiteY118" fmla="*/ 233363 h 919162"/>
                    <a:gd name="connsiteX119" fmla="*/ 793666 w 887412"/>
                    <a:gd name="connsiteY119" fmla="*/ 209550 h 919162"/>
                    <a:gd name="connsiteX120" fmla="*/ 872498 w 887412"/>
                    <a:gd name="connsiteY120" fmla="*/ 209550 h 919162"/>
                    <a:gd name="connsiteX121" fmla="*/ 887412 w 887412"/>
                    <a:gd name="connsiteY121" fmla="*/ 224263 h 919162"/>
                    <a:gd name="connsiteX122" fmla="*/ 872498 w 887412"/>
                    <a:gd name="connsiteY122" fmla="*/ 239712 h 919162"/>
                    <a:gd name="connsiteX123" fmla="*/ 793666 w 887412"/>
                    <a:gd name="connsiteY123" fmla="*/ 239712 h 919162"/>
                    <a:gd name="connsiteX124" fmla="*/ 779462 w 887412"/>
                    <a:gd name="connsiteY124" fmla="*/ 224263 h 919162"/>
                    <a:gd name="connsiteX125" fmla="*/ 793666 w 887412"/>
                    <a:gd name="connsiteY125" fmla="*/ 209550 h 919162"/>
                    <a:gd name="connsiteX126" fmla="*/ 585733 w 887412"/>
                    <a:gd name="connsiteY126" fmla="*/ 128588 h 919162"/>
                    <a:gd name="connsiteX127" fmla="*/ 660455 w 887412"/>
                    <a:gd name="connsiteY127" fmla="*/ 128588 h 919162"/>
                    <a:gd name="connsiteX128" fmla="*/ 674688 w 887412"/>
                    <a:gd name="connsiteY128" fmla="*/ 142875 h 919162"/>
                    <a:gd name="connsiteX129" fmla="*/ 660455 w 887412"/>
                    <a:gd name="connsiteY129" fmla="*/ 157163 h 919162"/>
                    <a:gd name="connsiteX130" fmla="*/ 585733 w 887412"/>
                    <a:gd name="connsiteY130" fmla="*/ 157163 h 919162"/>
                    <a:gd name="connsiteX131" fmla="*/ 571500 w 887412"/>
                    <a:gd name="connsiteY131" fmla="*/ 142875 h 919162"/>
                    <a:gd name="connsiteX132" fmla="*/ 585733 w 887412"/>
                    <a:gd name="connsiteY132" fmla="*/ 128588 h 919162"/>
                    <a:gd name="connsiteX133" fmla="*/ 793666 w 887412"/>
                    <a:gd name="connsiteY133" fmla="*/ 104775 h 919162"/>
                    <a:gd name="connsiteX134" fmla="*/ 872498 w 887412"/>
                    <a:gd name="connsiteY134" fmla="*/ 104775 h 919162"/>
                    <a:gd name="connsiteX135" fmla="*/ 887412 w 887412"/>
                    <a:gd name="connsiteY135" fmla="*/ 119411 h 919162"/>
                    <a:gd name="connsiteX136" fmla="*/ 872498 w 887412"/>
                    <a:gd name="connsiteY136" fmla="*/ 133350 h 919162"/>
                    <a:gd name="connsiteX137" fmla="*/ 793666 w 887412"/>
                    <a:gd name="connsiteY137" fmla="*/ 133350 h 919162"/>
                    <a:gd name="connsiteX138" fmla="*/ 779462 w 887412"/>
                    <a:gd name="connsiteY138" fmla="*/ 119411 h 919162"/>
                    <a:gd name="connsiteX139" fmla="*/ 793666 w 887412"/>
                    <a:gd name="connsiteY139" fmla="*/ 104775 h 919162"/>
                    <a:gd name="connsiteX140" fmla="*/ 793666 w 887412"/>
                    <a:gd name="connsiteY140" fmla="*/ 0 h 919162"/>
                    <a:gd name="connsiteX141" fmla="*/ 872498 w 887412"/>
                    <a:gd name="connsiteY141" fmla="*/ 0 h 919162"/>
                    <a:gd name="connsiteX142" fmla="*/ 887412 w 887412"/>
                    <a:gd name="connsiteY142" fmla="*/ 13939 h 919162"/>
                    <a:gd name="connsiteX143" fmla="*/ 872498 w 887412"/>
                    <a:gd name="connsiteY143" fmla="*/ 28575 h 919162"/>
                    <a:gd name="connsiteX144" fmla="*/ 793666 w 887412"/>
                    <a:gd name="connsiteY144" fmla="*/ 28575 h 919162"/>
                    <a:gd name="connsiteX145" fmla="*/ 779462 w 887412"/>
                    <a:gd name="connsiteY145" fmla="*/ 13939 h 919162"/>
                    <a:gd name="connsiteX146" fmla="*/ 793666 w 887412"/>
                    <a:gd name="connsiteY146" fmla="*/ 0 h 919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887412" h="919162">
                      <a:moveTo>
                        <a:pt x="15695" y="889000"/>
                      </a:moveTo>
                      <a:cubicBezTo>
                        <a:pt x="449443" y="889000"/>
                        <a:pt x="449443" y="889000"/>
                        <a:pt x="449443" y="889000"/>
                      </a:cubicBezTo>
                      <a:cubicBezTo>
                        <a:pt x="458718" y="889000"/>
                        <a:pt x="465138" y="895855"/>
                        <a:pt x="465138" y="904081"/>
                      </a:cubicBezTo>
                      <a:cubicBezTo>
                        <a:pt x="465138" y="912307"/>
                        <a:pt x="458718" y="919162"/>
                        <a:pt x="449443" y="919162"/>
                      </a:cubicBezTo>
                      <a:cubicBezTo>
                        <a:pt x="15695" y="919162"/>
                        <a:pt x="15695" y="919162"/>
                        <a:pt x="15695" y="919162"/>
                      </a:cubicBezTo>
                      <a:cubicBezTo>
                        <a:pt x="7134" y="919162"/>
                        <a:pt x="0" y="912307"/>
                        <a:pt x="0" y="904081"/>
                      </a:cubicBezTo>
                      <a:cubicBezTo>
                        <a:pt x="0" y="895855"/>
                        <a:pt x="7134" y="889000"/>
                        <a:pt x="15695" y="889000"/>
                      </a:cubicBezTo>
                      <a:close/>
                      <a:moveTo>
                        <a:pt x="15695" y="782638"/>
                      </a:moveTo>
                      <a:cubicBezTo>
                        <a:pt x="449443" y="782638"/>
                        <a:pt x="449443" y="782638"/>
                        <a:pt x="449443" y="782638"/>
                      </a:cubicBezTo>
                      <a:cubicBezTo>
                        <a:pt x="458718" y="782638"/>
                        <a:pt x="465138" y="789854"/>
                        <a:pt x="465138" y="798513"/>
                      </a:cubicBezTo>
                      <a:cubicBezTo>
                        <a:pt x="465138" y="807894"/>
                        <a:pt x="458718" y="814388"/>
                        <a:pt x="449443" y="814388"/>
                      </a:cubicBezTo>
                      <a:cubicBezTo>
                        <a:pt x="15695" y="814388"/>
                        <a:pt x="15695" y="814388"/>
                        <a:pt x="15695" y="814388"/>
                      </a:cubicBezTo>
                      <a:cubicBezTo>
                        <a:pt x="7134" y="814388"/>
                        <a:pt x="0" y="807894"/>
                        <a:pt x="0" y="798513"/>
                      </a:cubicBezTo>
                      <a:cubicBezTo>
                        <a:pt x="0" y="789854"/>
                        <a:pt x="7134" y="782638"/>
                        <a:pt x="15695" y="782638"/>
                      </a:cubicBezTo>
                      <a:close/>
                      <a:moveTo>
                        <a:pt x="585733" y="760413"/>
                      </a:moveTo>
                      <a:cubicBezTo>
                        <a:pt x="660455" y="760413"/>
                        <a:pt x="660455" y="760413"/>
                        <a:pt x="660455" y="760413"/>
                      </a:cubicBezTo>
                      <a:cubicBezTo>
                        <a:pt x="668283" y="760413"/>
                        <a:pt x="674688" y="766842"/>
                        <a:pt x="674688" y="774700"/>
                      </a:cubicBezTo>
                      <a:cubicBezTo>
                        <a:pt x="674688" y="782558"/>
                        <a:pt x="668283" y="788988"/>
                        <a:pt x="660455" y="788988"/>
                      </a:cubicBezTo>
                      <a:cubicBezTo>
                        <a:pt x="585733" y="788988"/>
                        <a:pt x="585733" y="788988"/>
                        <a:pt x="585733" y="788988"/>
                      </a:cubicBezTo>
                      <a:cubicBezTo>
                        <a:pt x="577905" y="788988"/>
                        <a:pt x="571500" y="782558"/>
                        <a:pt x="571500" y="774700"/>
                      </a:cubicBezTo>
                      <a:cubicBezTo>
                        <a:pt x="571500" y="766842"/>
                        <a:pt x="577905" y="760413"/>
                        <a:pt x="585733" y="760413"/>
                      </a:cubicBezTo>
                      <a:close/>
                      <a:moveTo>
                        <a:pt x="15695" y="677863"/>
                      </a:moveTo>
                      <a:cubicBezTo>
                        <a:pt x="449443" y="677863"/>
                        <a:pt x="449443" y="677863"/>
                        <a:pt x="449443" y="677863"/>
                      </a:cubicBezTo>
                      <a:cubicBezTo>
                        <a:pt x="458718" y="677863"/>
                        <a:pt x="465138" y="685079"/>
                        <a:pt x="465138" y="693738"/>
                      </a:cubicBezTo>
                      <a:cubicBezTo>
                        <a:pt x="465138" y="702397"/>
                        <a:pt x="458718" y="709613"/>
                        <a:pt x="449443" y="709613"/>
                      </a:cubicBezTo>
                      <a:cubicBezTo>
                        <a:pt x="15695" y="709613"/>
                        <a:pt x="15695" y="709613"/>
                        <a:pt x="15695" y="709613"/>
                      </a:cubicBezTo>
                      <a:cubicBezTo>
                        <a:pt x="7134" y="709613"/>
                        <a:pt x="0" y="702397"/>
                        <a:pt x="0" y="693738"/>
                      </a:cubicBezTo>
                      <a:cubicBezTo>
                        <a:pt x="0" y="685079"/>
                        <a:pt x="7134" y="677863"/>
                        <a:pt x="15695" y="677863"/>
                      </a:cubicBezTo>
                      <a:close/>
                      <a:moveTo>
                        <a:pt x="585733" y="655638"/>
                      </a:moveTo>
                      <a:cubicBezTo>
                        <a:pt x="660455" y="655638"/>
                        <a:pt x="660455" y="655638"/>
                        <a:pt x="660455" y="655638"/>
                      </a:cubicBezTo>
                      <a:cubicBezTo>
                        <a:pt x="668283" y="655638"/>
                        <a:pt x="674688" y="662067"/>
                        <a:pt x="674688" y="669925"/>
                      </a:cubicBezTo>
                      <a:cubicBezTo>
                        <a:pt x="674688" y="677783"/>
                        <a:pt x="668283" y="684213"/>
                        <a:pt x="660455" y="684213"/>
                      </a:cubicBezTo>
                      <a:cubicBezTo>
                        <a:pt x="585733" y="684213"/>
                        <a:pt x="585733" y="684213"/>
                        <a:pt x="585733" y="684213"/>
                      </a:cubicBezTo>
                      <a:cubicBezTo>
                        <a:pt x="577905" y="684213"/>
                        <a:pt x="571500" y="677783"/>
                        <a:pt x="571500" y="669925"/>
                      </a:cubicBezTo>
                      <a:cubicBezTo>
                        <a:pt x="571500" y="662067"/>
                        <a:pt x="577905" y="655638"/>
                        <a:pt x="585733" y="655638"/>
                      </a:cubicBezTo>
                      <a:close/>
                      <a:moveTo>
                        <a:pt x="793666" y="631825"/>
                      </a:moveTo>
                      <a:cubicBezTo>
                        <a:pt x="872498" y="631825"/>
                        <a:pt x="872498" y="631825"/>
                        <a:pt x="872498" y="631825"/>
                      </a:cubicBezTo>
                      <a:cubicBezTo>
                        <a:pt x="881020" y="631825"/>
                        <a:pt x="887412" y="638097"/>
                        <a:pt x="887412" y="646461"/>
                      </a:cubicBezTo>
                      <a:cubicBezTo>
                        <a:pt x="887412" y="654127"/>
                        <a:pt x="881020" y="660400"/>
                        <a:pt x="872498" y="660400"/>
                      </a:cubicBezTo>
                      <a:cubicBezTo>
                        <a:pt x="793666" y="660400"/>
                        <a:pt x="793666" y="660400"/>
                        <a:pt x="793666" y="660400"/>
                      </a:cubicBezTo>
                      <a:cubicBezTo>
                        <a:pt x="785854" y="660400"/>
                        <a:pt x="779462" y="654127"/>
                        <a:pt x="779462" y="646461"/>
                      </a:cubicBezTo>
                      <a:cubicBezTo>
                        <a:pt x="779462" y="638097"/>
                        <a:pt x="785854" y="631825"/>
                        <a:pt x="793666" y="631825"/>
                      </a:cubicBezTo>
                      <a:close/>
                      <a:moveTo>
                        <a:pt x="15695" y="573088"/>
                      </a:moveTo>
                      <a:cubicBezTo>
                        <a:pt x="449443" y="573088"/>
                        <a:pt x="449443" y="573088"/>
                        <a:pt x="449443" y="573088"/>
                      </a:cubicBezTo>
                      <a:cubicBezTo>
                        <a:pt x="458718" y="573088"/>
                        <a:pt x="465138" y="579943"/>
                        <a:pt x="465138" y="588169"/>
                      </a:cubicBezTo>
                      <a:cubicBezTo>
                        <a:pt x="465138" y="596395"/>
                        <a:pt x="458718" y="603250"/>
                        <a:pt x="449443" y="603250"/>
                      </a:cubicBezTo>
                      <a:cubicBezTo>
                        <a:pt x="15695" y="603250"/>
                        <a:pt x="15695" y="603250"/>
                        <a:pt x="15695" y="603250"/>
                      </a:cubicBezTo>
                      <a:cubicBezTo>
                        <a:pt x="7134" y="603250"/>
                        <a:pt x="0" y="596395"/>
                        <a:pt x="0" y="588169"/>
                      </a:cubicBezTo>
                      <a:cubicBezTo>
                        <a:pt x="0" y="579943"/>
                        <a:pt x="7134" y="573088"/>
                        <a:pt x="15695" y="573088"/>
                      </a:cubicBezTo>
                      <a:close/>
                      <a:moveTo>
                        <a:pt x="585733" y="549275"/>
                      </a:moveTo>
                      <a:cubicBezTo>
                        <a:pt x="660455" y="549275"/>
                        <a:pt x="660455" y="549275"/>
                        <a:pt x="660455" y="549275"/>
                      </a:cubicBezTo>
                      <a:cubicBezTo>
                        <a:pt x="668283" y="549275"/>
                        <a:pt x="674688" y="555896"/>
                        <a:pt x="674688" y="563988"/>
                      </a:cubicBezTo>
                      <a:cubicBezTo>
                        <a:pt x="674688" y="572816"/>
                        <a:pt x="668283" y="579437"/>
                        <a:pt x="660455" y="579437"/>
                      </a:cubicBezTo>
                      <a:cubicBezTo>
                        <a:pt x="585733" y="579437"/>
                        <a:pt x="585733" y="579437"/>
                        <a:pt x="585733" y="579437"/>
                      </a:cubicBezTo>
                      <a:cubicBezTo>
                        <a:pt x="577905" y="579437"/>
                        <a:pt x="571500" y="572816"/>
                        <a:pt x="571500" y="563988"/>
                      </a:cubicBezTo>
                      <a:cubicBezTo>
                        <a:pt x="571500" y="555896"/>
                        <a:pt x="577905" y="549275"/>
                        <a:pt x="585733" y="549275"/>
                      </a:cubicBezTo>
                      <a:close/>
                      <a:moveTo>
                        <a:pt x="793666" y="525463"/>
                      </a:moveTo>
                      <a:cubicBezTo>
                        <a:pt x="872498" y="525463"/>
                        <a:pt x="872498" y="525463"/>
                        <a:pt x="872498" y="525463"/>
                      </a:cubicBezTo>
                      <a:cubicBezTo>
                        <a:pt x="881020" y="525463"/>
                        <a:pt x="887412" y="532084"/>
                        <a:pt x="887412" y="540176"/>
                      </a:cubicBezTo>
                      <a:cubicBezTo>
                        <a:pt x="887412" y="549004"/>
                        <a:pt x="881020" y="555625"/>
                        <a:pt x="872498" y="555625"/>
                      </a:cubicBezTo>
                      <a:cubicBezTo>
                        <a:pt x="793666" y="555625"/>
                        <a:pt x="793666" y="555625"/>
                        <a:pt x="793666" y="555625"/>
                      </a:cubicBezTo>
                      <a:cubicBezTo>
                        <a:pt x="785854" y="555625"/>
                        <a:pt x="779462" y="549004"/>
                        <a:pt x="779462" y="540176"/>
                      </a:cubicBezTo>
                      <a:cubicBezTo>
                        <a:pt x="779462" y="532084"/>
                        <a:pt x="785854" y="525463"/>
                        <a:pt x="793666" y="525463"/>
                      </a:cubicBezTo>
                      <a:close/>
                      <a:moveTo>
                        <a:pt x="15695" y="466725"/>
                      </a:moveTo>
                      <a:cubicBezTo>
                        <a:pt x="449443" y="466725"/>
                        <a:pt x="449443" y="466725"/>
                        <a:pt x="449443" y="466725"/>
                      </a:cubicBezTo>
                      <a:cubicBezTo>
                        <a:pt x="458718" y="466725"/>
                        <a:pt x="465138" y="473941"/>
                        <a:pt x="465138" y="482600"/>
                      </a:cubicBezTo>
                      <a:cubicBezTo>
                        <a:pt x="465138" y="491259"/>
                        <a:pt x="458718" y="498475"/>
                        <a:pt x="449443" y="498475"/>
                      </a:cubicBezTo>
                      <a:cubicBezTo>
                        <a:pt x="15695" y="498475"/>
                        <a:pt x="15695" y="498475"/>
                        <a:pt x="15695" y="498475"/>
                      </a:cubicBezTo>
                      <a:cubicBezTo>
                        <a:pt x="7134" y="498475"/>
                        <a:pt x="0" y="491259"/>
                        <a:pt x="0" y="482600"/>
                      </a:cubicBezTo>
                      <a:cubicBezTo>
                        <a:pt x="0" y="473941"/>
                        <a:pt x="7134" y="466725"/>
                        <a:pt x="15695" y="466725"/>
                      </a:cubicBezTo>
                      <a:close/>
                      <a:moveTo>
                        <a:pt x="585733" y="444500"/>
                      </a:moveTo>
                      <a:cubicBezTo>
                        <a:pt x="660455" y="444500"/>
                        <a:pt x="660455" y="444500"/>
                        <a:pt x="660455" y="444500"/>
                      </a:cubicBezTo>
                      <a:cubicBezTo>
                        <a:pt x="668283" y="444500"/>
                        <a:pt x="674688" y="450929"/>
                        <a:pt x="674688" y="458787"/>
                      </a:cubicBezTo>
                      <a:cubicBezTo>
                        <a:pt x="674688" y="466645"/>
                        <a:pt x="668283" y="473075"/>
                        <a:pt x="660455" y="473075"/>
                      </a:cubicBezTo>
                      <a:cubicBezTo>
                        <a:pt x="585733" y="473075"/>
                        <a:pt x="585733" y="473075"/>
                        <a:pt x="585733" y="473075"/>
                      </a:cubicBezTo>
                      <a:cubicBezTo>
                        <a:pt x="577905" y="473075"/>
                        <a:pt x="571500" y="466645"/>
                        <a:pt x="571500" y="458787"/>
                      </a:cubicBezTo>
                      <a:cubicBezTo>
                        <a:pt x="571500" y="450929"/>
                        <a:pt x="577905" y="444500"/>
                        <a:pt x="585733" y="444500"/>
                      </a:cubicBezTo>
                      <a:close/>
                      <a:moveTo>
                        <a:pt x="793666" y="420688"/>
                      </a:moveTo>
                      <a:cubicBezTo>
                        <a:pt x="872498" y="420688"/>
                        <a:pt x="872498" y="420688"/>
                        <a:pt x="872498" y="420688"/>
                      </a:cubicBezTo>
                      <a:cubicBezTo>
                        <a:pt x="881020" y="420688"/>
                        <a:pt x="887412" y="427657"/>
                        <a:pt x="887412" y="435324"/>
                      </a:cubicBezTo>
                      <a:cubicBezTo>
                        <a:pt x="887412" y="442990"/>
                        <a:pt x="881020" y="449263"/>
                        <a:pt x="872498" y="449263"/>
                      </a:cubicBezTo>
                      <a:cubicBezTo>
                        <a:pt x="793666" y="449263"/>
                        <a:pt x="793666" y="449263"/>
                        <a:pt x="793666" y="449263"/>
                      </a:cubicBezTo>
                      <a:cubicBezTo>
                        <a:pt x="785854" y="449263"/>
                        <a:pt x="779462" y="442990"/>
                        <a:pt x="779462" y="435324"/>
                      </a:cubicBezTo>
                      <a:cubicBezTo>
                        <a:pt x="779462" y="427657"/>
                        <a:pt x="785854" y="420688"/>
                        <a:pt x="793666" y="420688"/>
                      </a:cubicBezTo>
                      <a:close/>
                      <a:moveTo>
                        <a:pt x="15695" y="361950"/>
                      </a:moveTo>
                      <a:cubicBezTo>
                        <a:pt x="449443" y="361950"/>
                        <a:pt x="449443" y="361950"/>
                        <a:pt x="449443" y="361950"/>
                      </a:cubicBezTo>
                      <a:cubicBezTo>
                        <a:pt x="458718" y="361950"/>
                        <a:pt x="465138" y="369166"/>
                        <a:pt x="465138" y="377825"/>
                      </a:cubicBezTo>
                      <a:cubicBezTo>
                        <a:pt x="465138" y="386484"/>
                        <a:pt x="458718" y="393700"/>
                        <a:pt x="449443" y="393700"/>
                      </a:cubicBezTo>
                      <a:cubicBezTo>
                        <a:pt x="15695" y="393700"/>
                        <a:pt x="15695" y="393700"/>
                        <a:pt x="15695" y="393700"/>
                      </a:cubicBezTo>
                      <a:cubicBezTo>
                        <a:pt x="7134" y="393700"/>
                        <a:pt x="0" y="386484"/>
                        <a:pt x="0" y="377825"/>
                      </a:cubicBezTo>
                      <a:cubicBezTo>
                        <a:pt x="0" y="369166"/>
                        <a:pt x="7134" y="361950"/>
                        <a:pt x="15695" y="361950"/>
                      </a:cubicBezTo>
                      <a:close/>
                      <a:moveTo>
                        <a:pt x="585733" y="339725"/>
                      </a:moveTo>
                      <a:cubicBezTo>
                        <a:pt x="660455" y="339725"/>
                        <a:pt x="660455" y="339725"/>
                        <a:pt x="660455" y="339725"/>
                      </a:cubicBezTo>
                      <a:cubicBezTo>
                        <a:pt x="668283" y="339725"/>
                        <a:pt x="674688" y="346154"/>
                        <a:pt x="674688" y="354012"/>
                      </a:cubicBezTo>
                      <a:cubicBezTo>
                        <a:pt x="674688" y="361870"/>
                        <a:pt x="668283" y="368300"/>
                        <a:pt x="660455" y="368300"/>
                      </a:cubicBezTo>
                      <a:cubicBezTo>
                        <a:pt x="585733" y="368300"/>
                        <a:pt x="585733" y="368300"/>
                        <a:pt x="585733" y="368300"/>
                      </a:cubicBezTo>
                      <a:cubicBezTo>
                        <a:pt x="577905" y="368300"/>
                        <a:pt x="571500" y="361870"/>
                        <a:pt x="571500" y="354012"/>
                      </a:cubicBezTo>
                      <a:cubicBezTo>
                        <a:pt x="571500" y="346154"/>
                        <a:pt x="577905" y="339725"/>
                        <a:pt x="585733" y="339725"/>
                      </a:cubicBezTo>
                      <a:close/>
                      <a:moveTo>
                        <a:pt x="793666" y="315913"/>
                      </a:moveTo>
                      <a:cubicBezTo>
                        <a:pt x="872498" y="315913"/>
                        <a:pt x="872498" y="315913"/>
                        <a:pt x="872498" y="315913"/>
                      </a:cubicBezTo>
                      <a:cubicBezTo>
                        <a:pt x="881020" y="315913"/>
                        <a:pt x="887412" y="322185"/>
                        <a:pt x="887412" y="330549"/>
                      </a:cubicBezTo>
                      <a:cubicBezTo>
                        <a:pt x="887412" y="338215"/>
                        <a:pt x="881020" y="344488"/>
                        <a:pt x="872498" y="344488"/>
                      </a:cubicBezTo>
                      <a:cubicBezTo>
                        <a:pt x="793666" y="344488"/>
                        <a:pt x="793666" y="344488"/>
                        <a:pt x="793666" y="344488"/>
                      </a:cubicBezTo>
                      <a:cubicBezTo>
                        <a:pt x="785854" y="344488"/>
                        <a:pt x="779462" y="338215"/>
                        <a:pt x="779462" y="330549"/>
                      </a:cubicBezTo>
                      <a:cubicBezTo>
                        <a:pt x="779462" y="322185"/>
                        <a:pt x="785854" y="315913"/>
                        <a:pt x="793666" y="315913"/>
                      </a:cubicBezTo>
                      <a:close/>
                      <a:moveTo>
                        <a:pt x="15695" y="257175"/>
                      </a:moveTo>
                      <a:cubicBezTo>
                        <a:pt x="449443" y="257175"/>
                        <a:pt x="449443" y="257175"/>
                        <a:pt x="449443" y="257175"/>
                      </a:cubicBezTo>
                      <a:cubicBezTo>
                        <a:pt x="458718" y="257175"/>
                        <a:pt x="465138" y="263669"/>
                        <a:pt x="465138" y="273050"/>
                      </a:cubicBezTo>
                      <a:cubicBezTo>
                        <a:pt x="465138" y="281709"/>
                        <a:pt x="458718" y="288925"/>
                        <a:pt x="449443" y="288925"/>
                      </a:cubicBezTo>
                      <a:cubicBezTo>
                        <a:pt x="15695" y="288925"/>
                        <a:pt x="15695" y="288925"/>
                        <a:pt x="15695" y="288925"/>
                      </a:cubicBezTo>
                      <a:cubicBezTo>
                        <a:pt x="7134" y="288925"/>
                        <a:pt x="0" y="281709"/>
                        <a:pt x="0" y="273050"/>
                      </a:cubicBezTo>
                      <a:cubicBezTo>
                        <a:pt x="0" y="263669"/>
                        <a:pt x="7134" y="257175"/>
                        <a:pt x="15695" y="257175"/>
                      </a:cubicBezTo>
                      <a:close/>
                      <a:moveTo>
                        <a:pt x="585733" y="233363"/>
                      </a:moveTo>
                      <a:cubicBezTo>
                        <a:pt x="660455" y="233363"/>
                        <a:pt x="660455" y="233363"/>
                        <a:pt x="660455" y="233363"/>
                      </a:cubicBezTo>
                      <a:cubicBezTo>
                        <a:pt x="668283" y="233363"/>
                        <a:pt x="674688" y="239792"/>
                        <a:pt x="674688" y="247650"/>
                      </a:cubicBezTo>
                      <a:cubicBezTo>
                        <a:pt x="674688" y="255508"/>
                        <a:pt x="668283" y="261938"/>
                        <a:pt x="660455" y="261938"/>
                      </a:cubicBezTo>
                      <a:cubicBezTo>
                        <a:pt x="585733" y="261938"/>
                        <a:pt x="585733" y="261938"/>
                        <a:pt x="585733" y="261938"/>
                      </a:cubicBezTo>
                      <a:cubicBezTo>
                        <a:pt x="577905" y="261938"/>
                        <a:pt x="571500" y="255508"/>
                        <a:pt x="571500" y="247650"/>
                      </a:cubicBezTo>
                      <a:cubicBezTo>
                        <a:pt x="571500" y="239792"/>
                        <a:pt x="577905" y="233363"/>
                        <a:pt x="585733" y="233363"/>
                      </a:cubicBezTo>
                      <a:close/>
                      <a:moveTo>
                        <a:pt x="793666" y="209550"/>
                      </a:moveTo>
                      <a:cubicBezTo>
                        <a:pt x="872498" y="209550"/>
                        <a:pt x="872498" y="209550"/>
                        <a:pt x="872498" y="209550"/>
                      </a:cubicBezTo>
                      <a:cubicBezTo>
                        <a:pt x="881020" y="209550"/>
                        <a:pt x="887412" y="216171"/>
                        <a:pt x="887412" y="224263"/>
                      </a:cubicBezTo>
                      <a:cubicBezTo>
                        <a:pt x="887412" y="233091"/>
                        <a:pt x="881020" y="239712"/>
                        <a:pt x="872498" y="239712"/>
                      </a:cubicBezTo>
                      <a:cubicBezTo>
                        <a:pt x="793666" y="239712"/>
                        <a:pt x="793666" y="239712"/>
                        <a:pt x="793666" y="239712"/>
                      </a:cubicBezTo>
                      <a:cubicBezTo>
                        <a:pt x="785854" y="239712"/>
                        <a:pt x="779462" y="233091"/>
                        <a:pt x="779462" y="224263"/>
                      </a:cubicBezTo>
                      <a:cubicBezTo>
                        <a:pt x="779462" y="216171"/>
                        <a:pt x="785854" y="209550"/>
                        <a:pt x="793666" y="209550"/>
                      </a:cubicBezTo>
                      <a:close/>
                      <a:moveTo>
                        <a:pt x="585733" y="128588"/>
                      </a:moveTo>
                      <a:cubicBezTo>
                        <a:pt x="660455" y="128588"/>
                        <a:pt x="660455" y="128588"/>
                        <a:pt x="660455" y="128588"/>
                      </a:cubicBezTo>
                      <a:cubicBezTo>
                        <a:pt x="668283" y="128588"/>
                        <a:pt x="674688" y="135017"/>
                        <a:pt x="674688" y="142875"/>
                      </a:cubicBezTo>
                      <a:cubicBezTo>
                        <a:pt x="674688" y="150733"/>
                        <a:pt x="668283" y="157163"/>
                        <a:pt x="660455" y="157163"/>
                      </a:cubicBezTo>
                      <a:cubicBezTo>
                        <a:pt x="585733" y="157163"/>
                        <a:pt x="585733" y="157163"/>
                        <a:pt x="585733" y="157163"/>
                      </a:cubicBezTo>
                      <a:cubicBezTo>
                        <a:pt x="577905" y="157163"/>
                        <a:pt x="571500" y="150733"/>
                        <a:pt x="571500" y="142875"/>
                      </a:cubicBezTo>
                      <a:cubicBezTo>
                        <a:pt x="571500" y="135017"/>
                        <a:pt x="577905" y="128588"/>
                        <a:pt x="585733" y="128588"/>
                      </a:cubicBezTo>
                      <a:close/>
                      <a:moveTo>
                        <a:pt x="793666" y="104775"/>
                      </a:moveTo>
                      <a:cubicBezTo>
                        <a:pt x="872498" y="104775"/>
                        <a:pt x="872498" y="104775"/>
                        <a:pt x="872498" y="104775"/>
                      </a:cubicBezTo>
                      <a:cubicBezTo>
                        <a:pt x="881020" y="104775"/>
                        <a:pt x="887412" y="111047"/>
                        <a:pt x="887412" y="119411"/>
                      </a:cubicBezTo>
                      <a:cubicBezTo>
                        <a:pt x="887412" y="127077"/>
                        <a:pt x="881020" y="133350"/>
                        <a:pt x="872498" y="133350"/>
                      </a:cubicBezTo>
                      <a:cubicBezTo>
                        <a:pt x="793666" y="133350"/>
                        <a:pt x="793666" y="133350"/>
                        <a:pt x="793666" y="133350"/>
                      </a:cubicBezTo>
                      <a:cubicBezTo>
                        <a:pt x="785854" y="133350"/>
                        <a:pt x="779462" y="127077"/>
                        <a:pt x="779462" y="119411"/>
                      </a:cubicBezTo>
                      <a:cubicBezTo>
                        <a:pt x="779462" y="111047"/>
                        <a:pt x="785854" y="104775"/>
                        <a:pt x="793666" y="104775"/>
                      </a:cubicBezTo>
                      <a:close/>
                      <a:moveTo>
                        <a:pt x="793666" y="0"/>
                      </a:moveTo>
                      <a:cubicBezTo>
                        <a:pt x="872498" y="0"/>
                        <a:pt x="872498" y="0"/>
                        <a:pt x="872498" y="0"/>
                      </a:cubicBezTo>
                      <a:cubicBezTo>
                        <a:pt x="881020" y="0"/>
                        <a:pt x="887412" y="6272"/>
                        <a:pt x="887412" y="13939"/>
                      </a:cubicBezTo>
                      <a:cubicBezTo>
                        <a:pt x="887412" y="22302"/>
                        <a:pt x="881020" y="28575"/>
                        <a:pt x="872498" y="28575"/>
                      </a:cubicBezTo>
                      <a:cubicBezTo>
                        <a:pt x="793666" y="28575"/>
                        <a:pt x="793666" y="28575"/>
                        <a:pt x="793666" y="28575"/>
                      </a:cubicBezTo>
                      <a:cubicBezTo>
                        <a:pt x="785854" y="28575"/>
                        <a:pt x="779462" y="22302"/>
                        <a:pt x="779462" y="13939"/>
                      </a:cubicBezTo>
                      <a:cubicBezTo>
                        <a:pt x="779462" y="6272"/>
                        <a:pt x="785854" y="0"/>
                        <a:pt x="793666" y="0"/>
                      </a:cubicBezTo>
                      <a:close/>
                    </a:path>
                  </a:pathLst>
                </a:custGeom>
                <a:solidFill>
                  <a:schemeClr val="tx2"/>
                </a:solidFill>
                <a:ln>
                  <a:noFill/>
                </a:ln>
              </p:spPr>
              <p:txBody>
                <a:bodyPr vert="horz" wrap="square" lIns="91440" tIns="45720" rIns="91440" bIns="45720" numCol="1" anchor="t" anchorCtr="0" compatLnSpc="1">
                  <a:prstTxWarp prst="textNoShape">
                    <a:avLst/>
                  </a:prstTxWarp>
                  <a:noAutofit/>
                </a:bodyPr>
                <a:lstStyle/>
                <a:p>
                  <a:endParaRPr lang="en-US">
                    <a:latin typeface="Trebuchet MS" panose="020B0603020202020204" pitchFamily="34" charset="0"/>
                    <a:sym typeface="Trebuchet MS" panose="020B0603020202020204" pitchFamily="34" charset="0"/>
                  </a:endParaRPr>
                </a:p>
              </p:txBody>
            </p:sp>
            <p:sp>
              <p:nvSpPr>
                <p:cNvPr id="249" name="Freeform 248"/>
                <p:cNvSpPr>
                  <a:spLocks noEditPoints="1"/>
                </p:cNvSpPr>
                <p:nvPr/>
              </p:nvSpPr>
              <p:spPr bwMode="auto">
                <a:xfrm>
                  <a:off x="5533231" y="2818765"/>
                  <a:ext cx="1125538" cy="1219200"/>
                </a:xfrm>
                <a:custGeom>
                  <a:avLst/>
                  <a:gdLst>
                    <a:gd name="T0" fmla="*/ 1530 w 1574"/>
                    <a:gd name="T1" fmla="*/ 0 h 1708"/>
                    <a:gd name="T2" fmla="*/ 635 w 1574"/>
                    <a:gd name="T3" fmla="*/ 0 h 1708"/>
                    <a:gd name="T4" fmla="*/ 592 w 1574"/>
                    <a:gd name="T5" fmla="*/ 43 h 1708"/>
                    <a:gd name="T6" fmla="*/ 592 w 1574"/>
                    <a:gd name="T7" fmla="*/ 180 h 1708"/>
                    <a:gd name="T8" fmla="*/ 339 w 1574"/>
                    <a:gd name="T9" fmla="*/ 180 h 1708"/>
                    <a:gd name="T10" fmla="*/ 296 w 1574"/>
                    <a:gd name="T11" fmla="*/ 224 h 1708"/>
                    <a:gd name="T12" fmla="*/ 296 w 1574"/>
                    <a:gd name="T13" fmla="*/ 361 h 1708"/>
                    <a:gd name="T14" fmla="*/ 44 w 1574"/>
                    <a:gd name="T15" fmla="*/ 361 h 1708"/>
                    <a:gd name="T16" fmla="*/ 0 w 1574"/>
                    <a:gd name="T17" fmla="*/ 404 h 1708"/>
                    <a:gd name="T18" fmla="*/ 0 w 1574"/>
                    <a:gd name="T19" fmla="*/ 1665 h 1708"/>
                    <a:gd name="T20" fmla="*/ 44 w 1574"/>
                    <a:gd name="T21" fmla="*/ 1708 h 1708"/>
                    <a:gd name="T22" fmla="*/ 939 w 1574"/>
                    <a:gd name="T23" fmla="*/ 1708 h 1708"/>
                    <a:gd name="T24" fmla="*/ 982 w 1574"/>
                    <a:gd name="T25" fmla="*/ 1665 h 1708"/>
                    <a:gd name="T26" fmla="*/ 982 w 1574"/>
                    <a:gd name="T27" fmla="*/ 1528 h 1708"/>
                    <a:gd name="T28" fmla="*/ 1235 w 1574"/>
                    <a:gd name="T29" fmla="*/ 1528 h 1708"/>
                    <a:gd name="T30" fmla="*/ 1278 w 1574"/>
                    <a:gd name="T31" fmla="*/ 1485 h 1708"/>
                    <a:gd name="T32" fmla="*/ 1278 w 1574"/>
                    <a:gd name="T33" fmla="*/ 1347 h 1708"/>
                    <a:gd name="T34" fmla="*/ 1530 w 1574"/>
                    <a:gd name="T35" fmla="*/ 1347 h 1708"/>
                    <a:gd name="T36" fmla="*/ 1574 w 1574"/>
                    <a:gd name="T37" fmla="*/ 1304 h 1708"/>
                    <a:gd name="T38" fmla="*/ 1574 w 1574"/>
                    <a:gd name="T39" fmla="*/ 43 h 1708"/>
                    <a:gd name="T40" fmla="*/ 1530 w 1574"/>
                    <a:gd name="T41" fmla="*/ 0 h 1708"/>
                    <a:gd name="T42" fmla="*/ 947 w 1574"/>
                    <a:gd name="T43" fmla="*/ 1665 h 1708"/>
                    <a:gd name="T44" fmla="*/ 939 w 1574"/>
                    <a:gd name="T45" fmla="*/ 1674 h 1708"/>
                    <a:gd name="T46" fmla="*/ 44 w 1574"/>
                    <a:gd name="T47" fmla="*/ 1674 h 1708"/>
                    <a:gd name="T48" fmla="*/ 35 w 1574"/>
                    <a:gd name="T49" fmla="*/ 1665 h 1708"/>
                    <a:gd name="T50" fmla="*/ 35 w 1574"/>
                    <a:gd name="T51" fmla="*/ 404 h 1708"/>
                    <a:gd name="T52" fmla="*/ 44 w 1574"/>
                    <a:gd name="T53" fmla="*/ 395 h 1708"/>
                    <a:gd name="T54" fmla="*/ 939 w 1574"/>
                    <a:gd name="T55" fmla="*/ 395 h 1708"/>
                    <a:gd name="T56" fmla="*/ 947 w 1574"/>
                    <a:gd name="T57" fmla="*/ 404 h 1708"/>
                    <a:gd name="T58" fmla="*/ 947 w 1574"/>
                    <a:gd name="T59" fmla="*/ 1665 h 1708"/>
                    <a:gd name="T60" fmla="*/ 1243 w 1574"/>
                    <a:gd name="T61" fmla="*/ 1485 h 1708"/>
                    <a:gd name="T62" fmla="*/ 1235 w 1574"/>
                    <a:gd name="T63" fmla="*/ 1493 h 1708"/>
                    <a:gd name="T64" fmla="*/ 982 w 1574"/>
                    <a:gd name="T65" fmla="*/ 1493 h 1708"/>
                    <a:gd name="T66" fmla="*/ 982 w 1574"/>
                    <a:gd name="T67" fmla="*/ 404 h 1708"/>
                    <a:gd name="T68" fmla="*/ 939 w 1574"/>
                    <a:gd name="T69" fmla="*/ 361 h 1708"/>
                    <a:gd name="T70" fmla="*/ 331 w 1574"/>
                    <a:gd name="T71" fmla="*/ 361 h 1708"/>
                    <a:gd name="T72" fmla="*/ 331 w 1574"/>
                    <a:gd name="T73" fmla="*/ 224 h 1708"/>
                    <a:gd name="T74" fmla="*/ 339 w 1574"/>
                    <a:gd name="T75" fmla="*/ 215 h 1708"/>
                    <a:gd name="T76" fmla="*/ 1235 w 1574"/>
                    <a:gd name="T77" fmla="*/ 215 h 1708"/>
                    <a:gd name="T78" fmla="*/ 1243 w 1574"/>
                    <a:gd name="T79" fmla="*/ 224 h 1708"/>
                    <a:gd name="T80" fmla="*/ 1243 w 1574"/>
                    <a:gd name="T81" fmla="*/ 1485 h 1708"/>
                    <a:gd name="T82" fmla="*/ 1539 w 1574"/>
                    <a:gd name="T83" fmla="*/ 1304 h 1708"/>
                    <a:gd name="T84" fmla="*/ 1530 w 1574"/>
                    <a:gd name="T85" fmla="*/ 1313 h 1708"/>
                    <a:gd name="T86" fmla="*/ 1278 w 1574"/>
                    <a:gd name="T87" fmla="*/ 1313 h 1708"/>
                    <a:gd name="T88" fmla="*/ 1278 w 1574"/>
                    <a:gd name="T89" fmla="*/ 224 h 1708"/>
                    <a:gd name="T90" fmla="*/ 1235 w 1574"/>
                    <a:gd name="T91" fmla="*/ 180 h 1708"/>
                    <a:gd name="T92" fmla="*/ 627 w 1574"/>
                    <a:gd name="T93" fmla="*/ 180 h 1708"/>
                    <a:gd name="T94" fmla="*/ 627 w 1574"/>
                    <a:gd name="T95" fmla="*/ 43 h 1708"/>
                    <a:gd name="T96" fmla="*/ 635 w 1574"/>
                    <a:gd name="T97" fmla="*/ 34 h 1708"/>
                    <a:gd name="T98" fmla="*/ 1530 w 1574"/>
                    <a:gd name="T99" fmla="*/ 34 h 1708"/>
                    <a:gd name="T100" fmla="*/ 1539 w 1574"/>
                    <a:gd name="T101" fmla="*/ 43 h 1708"/>
                    <a:gd name="T102" fmla="*/ 1539 w 1574"/>
                    <a:gd name="T103" fmla="*/ 1304 h 1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74" h="1708">
                      <a:moveTo>
                        <a:pt x="1530" y="0"/>
                      </a:moveTo>
                      <a:cubicBezTo>
                        <a:pt x="635" y="0"/>
                        <a:pt x="635" y="0"/>
                        <a:pt x="635" y="0"/>
                      </a:cubicBezTo>
                      <a:cubicBezTo>
                        <a:pt x="612" y="0"/>
                        <a:pt x="592" y="19"/>
                        <a:pt x="592" y="43"/>
                      </a:cubicBezTo>
                      <a:cubicBezTo>
                        <a:pt x="592" y="180"/>
                        <a:pt x="592" y="180"/>
                        <a:pt x="592" y="180"/>
                      </a:cubicBezTo>
                      <a:cubicBezTo>
                        <a:pt x="339" y="180"/>
                        <a:pt x="339" y="180"/>
                        <a:pt x="339" y="180"/>
                      </a:cubicBezTo>
                      <a:cubicBezTo>
                        <a:pt x="316" y="180"/>
                        <a:pt x="296" y="200"/>
                        <a:pt x="296" y="224"/>
                      </a:cubicBezTo>
                      <a:cubicBezTo>
                        <a:pt x="296" y="361"/>
                        <a:pt x="296" y="361"/>
                        <a:pt x="296" y="361"/>
                      </a:cubicBezTo>
                      <a:cubicBezTo>
                        <a:pt x="44" y="361"/>
                        <a:pt x="44" y="361"/>
                        <a:pt x="44" y="361"/>
                      </a:cubicBezTo>
                      <a:cubicBezTo>
                        <a:pt x="20" y="361"/>
                        <a:pt x="0" y="380"/>
                        <a:pt x="0" y="404"/>
                      </a:cubicBezTo>
                      <a:cubicBezTo>
                        <a:pt x="0" y="1665"/>
                        <a:pt x="0" y="1665"/>
                        <a:pt x="0" y="1665"/>
                      </a:cubicBezTo>
                      <a:cubicBezTo>
                        <a:pt x="0" y="1689"/>
                        <a:pt x="20" y="1708"/>
                        <a:pt x="44" y="1708"/>
                      </a:cubicBezTo>
                      <a:cubicBezTo>
                        <a:pt x="939" y="1708"/>
                        <a:pt x="939" y="1708"/>
                        <a:pt x="939" y="1708"/>
                      </a:cubicBezTo>
                      <a:cubicBezTo>
                        <a:pt x="962" y="1708"/>
                        <a:pt x="982" y="1689"/>
                        <a:pt x="982" y="1665"/>
                      </a:cubicBezTo>
                      <a:cubicBezTo>
                        <a:pt x="982" y="1528"/>
                        <a:pt x="982" y="1528"/>
                        <a:pt x="982" y="1528"/>
                      </a:cubicBezTo>
                      <a:cubicBezTo>
                        <a:pt x="1235" y="1528"/>
                        <a:pt x="1235" y="1528"/>
                        <a:pt x="1235" y="1528"/>
                      </a:cubicBezTo>
                      <a:cubicBezTo>
                        <a:pt x="1258" y="1528"/>
                        <a:pt x="1278" y="1508"/>
                        <a:pt x="1278" y="1485"/>
                      </a:cubicBezTo>
                      <a:cubicBezTo>
                        <a:pt x="1278" y="1347"/>
                        <a:pt x="1278" y="1347"/>
                        <a:pt x="1278" y="1347"/>
                      </a:cubicBezTo>
                      <a:cubicBezTo>
                        <a:pt x="1530" y="1347"/>
                        <a:pt x="1530" y="1347"/>
                        <a:pt x="1530" y="1347"/>
                      </a:cubicBezTo>
                      <a:cubicBezTo>
                        <a:pt x="1554" y="1347"/>
                        <a:pt x="1574" y="1328"/>
                        <a:pt x="1574" y="1304"/>
                      </a:cubicBezTo>
                      <a:cubicBezTo>
                        <a:pt x="1574" y="43"/>
                        <a:pt x="1574" y="43"/>
                        <a:pt x="1574" y="43"/>
                      </a:cubicBezTo>
                      <a:cubicBezTo>
                        <a:pt x="1574" y="19"/>
                        <a:pt x="1554" y="0"/>
                        <a:pt x="1530" y="0"/>
                      </a:cubicBezTo>
                      <a:close/>
                      <a:moveTo>
                        <a:pt x="947" y="1665"/>
                      </a:moveTo>
                      <a:cubicBezTo>
                        <a:pt x="947" y="1670"/>
                        <a:pt x="943" y="1674"/>
                        <a:pt x="939" y="1674"/>
                      </a:cubicBezTo>
                      <a:cubicBezTo>
                        <a:pt x="44" y="1674"/>
                        <a:pt x="44" y="1674"/>
                        <a:pt x="44" y="1674"/>
                      </a:cubicBezTo>
                      <a:cubicBezTo>
                        <a:pt x="39" y="1674"/>
                        <a:pt x="35" y="1670"/>
                        <a:pt x="35" y="1665"/>
                      </a:cubicBezTo>
                      <a:cubicBezTo>
                        <a:pt x="35" y="404"/>
                        <a:pt x="35" y="404"/>
                        <a:pt x="35" y="404"/>
                      </a:cubicBezTo>
                      <a:cubicBezTo>
                        <a:pt x="35" y="399"/>
                        <a:pt x="39" y="395"/>
                        <a:pt x="44" y="395"/>
                      </a:cubicBezTo>
                      <a:cubicBezTo>
                        <a:pt x="939" y="395"/>
                        <a:pt x="939" y="395"/>
                        <a:pt x="939" y="395"/>
                      </a:cubicBezTo>
                      <a:cubicBezTo>
                        <a:pt x="943" y="395"/>
                        <a:pt x="947" y="399"/>
                        <a:pt x="947" y="404"/>
                      </a:cubicBezTo>
                      <a:lnTo>
                        <a:pt x="947" y="1665"/>
                      </a:lnTo>
                      <a:close/>
                      <a:moveTo>
                        <a:pt x="1243" y="1485"/>
                      </a:moveTo>
                      <a:cubicBezTo>
                        <a:pt x="1243" y="1489"/>
                        <a:pt x="1239" y="1493"/>
                        <a:pt x="1235" y="1493"/>
                      </a:cubicBezTo>
                      <a:cubicBezTo>
                        <a:pt x="982" y="1493"/>
                        <a:pt x="982" y="1493"/>
                        <a:pt x="982" y="1493"/>
                      </a:cubicBezTo>
                      <a:cubicBezTo>
                        <a:pt x="982" y="404"/>
                        <a:pt x="982" y="404"/>
                        <a:pt x="982" y="404"/>
                      </a:cubicBezTo>
                      <a:cubicBezTo>
                        <a:pt x="982" y="380"/>
                        <a:pt x="962" y="361"/>
                        <a:pt x="939" y="361"/>
                      </a:cubicBezTo>
                      <a:cubicBezTo>
                        <a:pt x="331" y="361"/>
                        <a:pt x="331" y="361"/>
                        <a:pt x="331" y="361"/>
                      </a:cubicBezTo>
                      <a:cubicBezTo>
                        <a:pt x="331" y="224"/>
                        <a:pt x="331" y="224"/>
                        <a:pt x="331" y="224"/>
                      </a:cubicBezTo>
                      <a:cubicBezTo>
                        <a:pt x="331" y="219"/>
                        <a:pt x="335" y="215"/>
                        <a:pt x="339" y="215"/>
                      </a:cubicBezTo>
                      <a:cubicBezTo>
                        <a:pt x="1235" y="215"/>
                        <a:pt x="1235" y="215"/>
                        <a:pt x="1235" y="215"/>
                      </a:cubicBezTo>
                      <a:cubicBezTo>
                        <a:pt x="1239" y="215"/>
                        <a:pt x="1243" y="219"/>
                        <a:pt x="1243" y="224"/>
                      </a:cubicBezTo>
                      <a:lnTo>
                        <a:pt x="1243" y="1485"/>
                      </a:lnTo>
                      <a:close/>
                      <a:moveTo>
                        <a:pt x="1539" y="1304"/>
                      </a:moveTo>
                      <a:cubicBezTo>
                        <a:pt x="1539" y="1309"/>
                        <a:pt x="1535" y="1313"/>
                        <a:pt x="1530" y="1313"/>
                      </a:cubicBezTo>
                      <a:cubicBezTo>
                        <a:pt x="1278" y="1313"/>
                        <a:pt x="1278" y="1313"/>
                        <a:pt x="1278" y="1313"/>
                      </a:cubicBezTo>
                      <a:cubicBezTo>
                        <a:pt x="1278" y="224"/>
                        <a:pt x="1278" y="224"/>
                        <a:pt x="1278" y="224"/>
                      </a:cubicBezTo>
                      <a:cubicBezTo>
                        <a:pt x="1278" y="200"/>
                        <a:pt x="1258" y="180"/>
                        <a:pt x="1235" y="180"/>
                      </a:cubicBezTo>
                      <a:cubicBezTo>
                        <a:pt x="627" y="180"/>
                        <a:pt x="627" y="180"/>
                        <a:pt x="627" y="180"/>
                      </a:cubicBezTo>
                      <a:cubicBezTo>
                        <a:pt x="627" y="43"/>
                        <a:pt x="627" y="43"/>
                        <a:pt x="627" y="43"/>
                      </a:cubicBezTo>
                      <a:cubicBezTo>
                        <a:pt x="627" y="38"/>
                        <a:pt x="631" y="34"/>
                        <a:pt x="635" y="34"/>
                      </a:cubicBezTo>
                      <a:cubicBezTo>
                        <a:pt x="1530" y="34"/>
                        <a:pt x="1530" y="34"/>
                        <a:pt x="1530" y="34"/>
                      </a:cubicBezTo>
                      <a:cubicBezTo>
                        <a:pt x="1535" y="34"/>
                        <a:pt x="1539" y="38"/>
                        <a:pt x="1539" y="43"/>
                      </a:cubicBezTo>
                      <a:lnTo>
                        <a:pt x="1539" y="1304"/>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latin typeface="Trebuchet MS" panose="020B0603020202020204" pitchFamily="34" charset="0"/>
                    <a:sym typeface="Trebuchet MS" panose="020B0603020202020204" pitchFamily="34" charset="0"/>
                  </a:endParaRPr>
                </a:p>
              </p:txBody>
            </p:sp>
          </p:grpSp>
        </p:grpSp>
      </p:grpSp>
      <p:grpSp>
        <p:nvGrpSpPr>
          <p:cNvPr id="277" name="Group 276"/>
          <p:cNvGrpSpPr/>
          <p:nvPr/>
        </p:nvGrpSpPr>
        <p:grpSpPr>
          <a:xfrm>
            <a:off x="1320489" y="3564328"/>
            <a:ext cx="517666" cy="517666"/>
            <a:chOff x="1129989" y="3605803"/>
            <a:chExt cx="517666" cy="517666"/>
          </a:xfrm>
        </p:grpSpPr>
        <p:sp>
          <p:nvSpPr>
            <p:cNvPr id="255" name="Oval 254"/>
            <p:cNvSpPr/>
            <p:nvPr/>
          </p:nvSpPr>
          <p:spPr>
            <a:xfrm>
              <a:off x="1129989" y="3605803"/>
              <a:ext cx="517666" cy="517666"/>
            </a:xfrm>
            <a:prstGeom prst="ellipse">
              <a:avLst/>
            </a:prstGeom>
            <a:solidFill>
              <a:srgbClr val="FFFFFF"/>
            </a:solidFill>
            <a:ln w="19050">
              <a:gradFill flip="none" rotWithShape="1">
                <a:gsLst>
                  <a:gs pos="0">
                    <a:schemeClr val="accent5"/>
                  </a:gs>
                  <a:gs pos="100000">
                    <a:schemeClr val="bg1">
                      <a:lumMod val="75000"/>
                    </a:schemeClr>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pPr>
              <a:endParaRPr lang="en-US" kern="0">
                <a:solidFill>
                  <a:schemeClr val="bg1">
                    <a:lumMod val="50000"/>
                  </a:schemeClr>
                </a:solidFill>
                <a:latin typeface="Trebuchet MS" panose="020B0603020202020204" pitchFamily="34" charset="0"/>
                <a:sym typeface="Trebuchet MS" panose="020B0603020202020204" pitchFamily="34" charset="0"/>
              </a:endParaRPr>
            </a:p>
          </p:txBody>
        </p:sp>
        <p:grpSp>
          <p:nvGrpSpPr>
            <p:cNvPr id="256" name="bcgIcons_IncreasedVolatility">
              <a:extLst>
                <a:ext uri="{FF2B5EF4-FFF2-40B4-BE49-F238E27FC236}">
                  <a16:creationId xmlns:a16="http://schemas.microsoft.com/office/drawing/2014/main" id="{3E3D2832-DB52-4FE5-9B14-87D34FBF2F00}"/>
                </a:ext>
              </a:extLst>
            </p:cNvPr>
            <p:cNvGrpSpPr>
              <a:grpSpLocks noChangeAspect="1"/>
            </p:cNvGrpSpPr>
            <p:nvPr/>
          </p:nvGrpSpPr>
          <p:grpSpPr bwMode="auto">
            <a:xfrm>
              <a:off x="1185076" y="3660701"/>
              <a:ext cx="407492" cy="407870"/>
              <a:chOff x="1682" y="0"/>
              <a:chExt cx="4316" cy="4320"/>
            </a:xfrm>
          </p:grpSpPr>
          <p:sp>
            <p:nvSpPr>
              <p:cNvPr id="257" name="AutoShape 13">
                <a:extLst>
                  <a:ext uri="{FF2B5EF4-FFF2-40B4-BE49-F238E27FC236}">
                    <a16:creationId xmlns:a16="http://schemas.microsoft.com/office/drawing/2014/main" id="{4B7C3ADD-D1F3-4323-8580-CAD0D4FFCEC5}"/>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Trebuchet MS" panose="020B0603020202020204" pitchFamily="34" charset="0"/>
                  <a:sym typeface="Trebuchet MS" panose="020B0603020202020204" pitchFamily="34" charset="0"/>
                </a:endParaRPr>
              </a:p>
            </p:txBody>
          </p:sp>
          <p:sp>
            <p:nvSpPr>
              <p:cNvPr id="258" name="Freeform 15">
                <a:extLst>
                  <a:ext uri="{FF2B5EF4-FFF2-40B4-BE49-F238E27FC236}">
                    <a16:creationId xmlns:a16="http://schemas.microsoft.com/office/drawing/2014/main" id="{6E64D15C-BEA3-4101-8DC5-36496991BDB3}"/>
                  </a:ext>
                </a:extLst>
              </p:cNvPr>
              <p:cNvSpPr>
                <a:spLocks/>
              </p:cNvSpPr>
              <p:nvPr/>
            </p:nvSpPr>
            <p:spPr bwMode="auto">
              <a:xfrm>
                <a:off x="2289" y="1485"/>
                <a:ext cx="3106" cy="1734"/>
              </a:xfrm>
              <a:custGeom>
                <a:avLst/>
                <a:gdLst>
                  <a:gd name="T0" fmla="*/ 1583 w 1658"/>
                  <a:gd name="T1" fmla="*/ 61 h 925"/>
                  <a:gd name="T2" fmla="*/ 1586 w 1658"/>
                  <a:gd name="T3" fmla="*/ 92 h 925"/>
                  <a:gd name="T4" fmla="*/ 1441 w 1658"/>
                  <a:gd name="T5" fmla="*/ 237 h 925"/>
                  <a:gd name="T6" fmla="*/ 1381 w 1658"/>
                  <a:gd name="T7" fmla="*/ 224 h 925"/>
                  <a:gd name="T8" fmla="*/ 1190 w 1658"/>
                  <a:gd name="T9" fmla="*/ 377 h 925"/>
                  <a:gd name="T10" fmla="*/ 1193 w 1658"/>
                  <a:gd name="T11" fmla="*/ 406 h 925"/>
                  <a:gd name="T12" fmla="*/ 1048 w 1658"/>
                  <a:gd name="T13" fmla="*/ 551 h 925"/>
                  <a:gd name="T14" fmla="*/ 902 w 1658"/>
                  <a:gd name="T15" fmla="*/ 409 h 925"/>
                  <a:gd name="T16" fmla="*/ 782 w 1658"/>
                  <a:gd name="T17" fmla="*/ 351 h 925"/>
                  <a:gd name="T18" fmla="*/ 694 w 1658"/>
                  <a:gd name="T19" fmla="*/ 381 h 925"/>
                  <a:gd name="T20" fmla="*/ 656 w 1658"/>
                  <a:gd name="T21" fmla="*/ 376 h 925"/>
                  <a:gd name="T22" fmla="*/ 537 w 1658"/>
                  <a:gd name="T23" fmla="*/ 506 h 925"/>
                  <a:gd name="T24" fmla="*/ 547 w 1658"/>
                  <a:gd name="T25" fmla="*/ 557 h 925"/>
                  <a:gd name="T26" fmla="*/ 402 w 1658"/>
                  <a:gd name="T27" fmla="*/ 703 h 925"/>
                  <a:gd name="T28" fmla="*/ 312 w 1658"/>
                  <a:gd name="T29" fmla="*/ 672 h 925"/>
                  <a:gd name="T30" fmla="*/ 0 w 1658"/>
                  <a:gd name="T31" fmla="*/ 816 h 925"/>
                  <a:gd name="T32" fmla="*/ 0 w 1658"/>
                  <a:gd name="T33" fmla="*/ 915 h 925"/>
                  <a:gd name="T34" fmla="*/ 10 w 1658"/>
                  <a:gd name="T35" fmla="*/ 925 h 925"/>
                  <a:gd name="T36" fmla="*/ 1648 w 1658"/>
                  <a:gd name="T37" fmla="*/ 925 h 925"/>
                  <a:gd name="T38" fmla="*/ 1658 w 1658"/>
                  <a:gd name="T39" fmla="*/ 915 h 925"/>
                  <a:gd name="T40" fmla="*/ 1658 w 1658"/>
                  <a:gd name="T41" fmla="*/ 0 h 925"/>
                  <a:gd name="T42" fmla="*/ 1583 w 1658"/>
                  <a:gd name="T43" fmla="*/ 61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58" h="925">
                    <a:moveTo>
                      <a:pt x="1583" y="61"/>
                    </a:moveTo>
                    <a:cubicBezTo>
                      <a:pt x="1585" y="71"/>
                      <a:pt x="1586" y="81"/>
                      <a:pt x="1586" y="92"/>
                    </a:cubicBezTo>
                    <a:cubicBezTo>
                      <a:pt x="1586" y="172"/>
                      <a:pt x="1521" y="237"/>
                      <a:pt x="1441" y="237"/>
                    </a:cubicBezTo>
                    <a:cubicBezTo>
                      <a:pt x="1419" y="237"/>
                      <a:pt x="1399" y="232"/>
                      <a:pt x="1381" y="224"/>
                    </a:cubicBezTo>
                    <a:cubicBezTo>
                      <a:pt x="1190" y="377"/>
                      <a:pt x="1190" y="377"/>
                      <a:pt x="1190" y="377"/>
                    </a:cubicBezTo>
                    <a:cubicBezTo>
                      <a:pt x="1192" y="386"/>
                      <a:pt x="1193" y="396"/>
                      <a:pt x="1193" y="406"/>
                    </a:cubicBezTo>
                    <a:cubicBezTo>
                      <a:pt x="1193" y="486"/>
                      <a:pt x="1128" y="551"/>
                      <a:pt x="1048" y="551"/>
                    </a:cubicBezTo>
                    <a:cubicBezTo>
                      <a:pt x="969" y="551"/>
                      <a:pt x="904" y="488"/>
                      <a:pt x="902" y="409"/>
                    </a:cubicBezTo>
                    <a:cubicBezTo>
                      <a:pt x="782" y="351"/>
                      <a:pt x="782" y="351"/>
                      <a:pt x="782" y="351"/>
                    </a:cubicBezTo>
                    <a:cubicBezTo>
                      <a:pt x="757" y="370"/>
                      <a:pt x="727" y="381"/>
                      <a:pt x="694" y="381"/>
                    </a:cubicBezTo>
                    <a:cubicBezTo>
                      <a:pt x="681" y="381"/>
                      <a:pt x="668" y="379"/>
                      <a:pt x="656" y="376"/>
                    </a:cubicBezTo>
                    <a:cubicBezTo>
                      <a:pt x="537" y="506"/>
                      <a:pt x="537" y="506"/>
                      <a:pt x="537" y="506"/>
                    </a:cubicBezTo>
                    <a:cubicBezTo>
                      <a:pt x="543" y="522"/>
                      <a:pt x="547" y="539"/>
                      <a:pt x="547" y="557"/>
                    </a:cubicBezTo>
                    <a:cubicBezTo>
                      <a:pt x="547" y="638"/>
                      <a:pt x="482" y="703"/>
                      <a:pt x="402" y="703"/>
                    </a:cubicBezTo>
                    <a:cubicBezTo>
                      <a:pt x="368" y="703"/>
                      <a:pt x="337" y="691"/>
                      <a:pt x="312" y="672"/>
                    </a:cubicBezTo>
                    <a:cubicBezTo>
                      <a:pt x="0" y="816"/>
                      <a:pt x="0" y="816"/>
                      <a:pt x="0" y="816"/>
                    </a:cubicBezTo>
                    <a:cubicBezTo>
                      <a:pt x="0" y="915"/>
                      <a:pt x="0" y="915"/>
                      <a:pt x="0" y="915"/>
                    </a:cubicBezTo>
                    <a:cubicBezTo>
                      <a:pt x="0" y="921"/>
                      <a:pt x="5" y="925"/>
                      <a:pt x="10" y="925"/>
                    </a:cubicBezTo>
                    <a:cubicBezTo>
                      <a:pt x="1648" y="925"/>
                      <a:pt x="1648" y="925"/>
                      <a:pt x="1648" y="925"/>
                    </a:cubicBezTo>
                    <a:cubicBezTo>
                      <a:pt x="1653" y="925"/>
                      <a:pt x="1658" y="921"/>
                      <a:pt x="1658" y="915"/>
                    </a:cubicBezTo>
                    <a:cubicBezTo>
                      <a:pt x="1658" y="0"/>
                      <a:pt x="1658" y="0"/>
                      <a:pt x="1658" y="0"/>
                    </a:cubicBezTo>
                    <a:lnTo>
                      <a:pt x="1583" y="6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Trebuchet MS" panose="020B0603020202020204" pitchFamily="34" charset="0"/>
                  <a:sym typeface="Trebuchet MS" panose="020B0603020202020204" pitchFamily="34" charset="0"/>
                </a:endParaRPr>
              </a:p>
            </p:txBody>
          </p:sp>
          <p:sp>
            <p:nvSpPr>
              <p:cNvPr id="259" name="Freeform 16">
                <a:extLst>
                  <a:ext uri="{FF2B5EF4-FFF2-40B4-BE49-F238E27FC236}">
                    <a16:creationId xmlns:a16="http://schemas.microsoft.com/office/drawing/2014/main" id="{0AD31B68-98D9-4D6A-A040-264144153582}"/>
                  </a:ext>
                </a:extLst>
              </p:cNvPr>
              <p:cNvSpPr>
                <a:spLocks noEditPoints="1"/>
              </p:cNvSpPr>
              <p:nvPr/>
            </p:nvSpPr>
            <p:spPr bwMode="auto">
              <a:xfrm>
                <a:off x="2124" y="932"/>
                <a:ext cx="3436" cy="2452"/>
              </a:xfrm>
              <a:custGeom>
                <a:avLst/>
                <a:gdLst>
                  <a:gd name="T0" fmla="*/ 44 w 1834"/>
                  <a:gd name="T1" fmla="*/ 0 h 1308"/>
                  <a:gd name="T2" fmla="*/ 0 w 1834"/>
                  <a:gd name="T3" fmla="*/ 1264 h 1308"/>
                  <a:gd name="T4" fmla="*/ 1790 w 1834"/>
                  <a:gd name="T5" fmla="*/ 1308 h 1308"/>
                  <a:gd name="T6" fmla="*/ 1834 w 1834"/>
                  <a:gd name="T7" fmla="*/ 44 h 1308"/>
                  <a:gd name="T8" fmla="*/ 1790 w 1834"/>
                  <a:gd name="T9" fmla="*/ 1264 h 1308"/>
                  <a:gd name="T10" fmla="*/ 44 w 1834"/>
                  <a:gd name="T11" fmla="*/ 1083 h 1308"/>
                  <a:gd name="T12" fmla="*/ 490 w 1834"/>
                  <a:gd name="T13" fmla="*/ 954 h 1308"/>
                  <a:gd name="T14" fmla="*/ 572 w 1834"/>
                  <a:gd name="T15" fmla="*/ 794 h 1308"/>
                  <a:gd name="T16" fmla="*/ 782 w 1834"/>
                  <a:gd name="T17" fmla="*/ 632 h 1308"/>
                  <a:gd name="T18" fmla="*/ 1037 w 1834"/>
                  <a:gd name="T19" fmla="*/ 678 h 1308"/>
                  <a:gd name="T20" fmla="*/ 1136 w 1834"/>
                  <a:gd name="T21" fmla="*/ 802 h 1308"/>
                  <a:gd name="T22" fmla="*/ 1227 w 1834"/>
                  <a:gd name="T23" fmla="*/ 657 h 1308"/>
                  <a:gd name="T24" fmla="*/ 1529 w 1834"/>
                  <a:gd name="T25" fmla="*/ 488 h 1308"/>
                  <a:gd name="T26" fmla="*/ 1619 w 1834"/>
                  <a:gd name="T27" fmla="*/ 341 h 1308"/>
                  <a:gd name="T28" fmla="*/ 1790 w 1834"/>
                  <a:gd name="T29" fmla="*/ 1264 h 1308"/>
                  <a:gd name="T30" fmla="*/ 490 w 1834"/>
                  <a:gd name="T31" fmla="*/ 910 h 1308"/>
                  <a:gd name="T32" fmla="*/ 490 w 1834"/>
                  <a:gd name="T33" fmla="*/ 795 h 1308"/>
                  <a:gd name="T34" fmla="*/ 725 w 1834"/>
                  <a:gd name="T35" fmla="*/ 530 h 1308"/>
                  <a:gd name="T36" fmla="*/ 839 w 1834"/>
                  <a:gd name="T37" fmla="*/ 530 h 1308"/>
                  <a:gd name="T38" fmla="*/ 725 w 1834"/>
                  <a:gd name="T39" fmla="*/ 530 h 1308"/>
                  <a:gd name="T40" fmla="*/ 1136 w 1834"/>
                  <a:gd name="T41" fmla="*/ 758 h 1308"/>
                  <a:gd name="T42" fmla="*/ 1136 w 1834"/>
                  <a:gd name="T43" fmla="*/ 644 h 1308"/>
                  <a:gd name="T44" fmla="*/ 1586 w 1834"/>
                  <a:gd name="T45" fmla="*/ 387 h 1308"/>
                  <a:gd name="T46" fmla="*/ 1471 w 1834"/>
                  <a:gd name="T47" fmla="*/ 387 h 1308"/>
                  <a:gd name="T48" fmla="*/ 1586 w 1834"/>
                  <a:gd name="T49" fmla="*/ 387 h 1308"/>
                  <a:gd name="T50" fmla="*/ 1591 w 1834"/>
                  <a:gd name="T51" fmla="*/ 307 h 1308"/>
                  <a:gd name="T52" fmla="*/ 1427 w 1834"/>
                  <a:gd name="T53" fmla="*/ 387 h 1308"/>
                  <a:gd name="T54" fmla="*/ 1199 w 1834"/>
                  <a:gd name="T55" fmla="*/ 622 h 1308"/>
                  <a:gd name="T56" fmla="*/ 1056 w 1834"/>
                  <a:gd name="T57" fmla="*/ 638 h 1308"/>
                  <a:gd name="T58" fmla="*/ 883 w 1834"/>
                  <a:gd name="T59" fmla="*/ 530 h 1308"/>
                  <a:gd name="T60" fmla="*/ 681 w 1834"/>
                  <a:gd name="T61" fmla="*/ 530 h 1308"/>
                  <a:gd name="T62" fmla="*/ 540 w 1834"/>
                  <a:gd name="T63" fmla="*/ 764 h 1308"/>
                  <a:gd name="T64" fmla="*/ 388 w 1834"/>
                  <a:gd name="T65" fmla="*/ 852 h 1308"/>
                  <a:gd name="T66" fmla="*/ 44 w 1834"/>
                  <a:gd name="T67" fmla="*/ 1034 h 1308"/>
                  <a:gd name="T68" fmla="*/ 1790 w 1834"/>
                  <a:gd name="T69" fmla="*/ 44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34" h="1308">
                    <a:moveTo>
                      <a:pt x="1790" y="0"/>
                    </a:moveTo>
                    <a:cubicBezTo>
                      <a:pt x="44" y="0"/>
                      <a:pt x="44" y="0"/>
                      <a:pt x="44" y="0"/>
                    </a:cubicBezTo>
                    <a:cubicBezTo>
                      <a:pt x="20" y="0"/>
                      <a:pt x="0" y="20"/>
                      <a:pt x="0" y="44"/>
                    </a:cubicBezTo>
                    <a:cubicBezTo>
                      <a:pt x="0" y="1264"/>
                      <a:pt x="0" y="1264"/>
                      <a:pt x="0" y="1264"/>
                    </a:cubicBezTo>
                    <a:cubicBezTo>
                      <a:pt x="0" y="1288"/>
                      <a:pt x="20" y="1308"/>
                      <a:pt x="44" y="1308"/>
                    </a:cubicBezTo>
                    <a:cubicBezTo>
                      <a:pt x="1790" y="1308"/>
                      <a:pt x="1790" y="1308"/>
                      <a:pt x="1790" y="1308"/>
                    </a:cubicBezTo>
                    <a:cubicBezTo>
                      <a:pt x="1814" y="1308"/>
                      <a:pt x="1834" y="1288"/>
                      <a:pt x="1834" y="1264"/>
                    </a:cubicBezTo>
                    <a:cubicBezTo>
                      <a:pt x="1834" y="44"/>
                      <a:pt x="1834" y="44"/>
                      <a:pt x="1834" y="44"/>
                    </a:cubicBezTo>
                    <a:cubicBezTo>
                      <a:pt x="1834" y="20"/>
                      <a:pt x="1814" y="0"/>
                      <a:pt x="1790" y="0"/>
                    </a:cubicBezTo>
                    <a:close/>
                    <a:moveTo>
                      <a:pt x="1790" y="1264"/>
                    </a:moveTo>
                    <a:cubicBezTo>
                      <a:pt x="44" y="1264"/>
                      <a:pt x="44" y="1264"/>
                      <a:pt x="44" y="1264"/>
                    </a:cubicBezTo>
                    <a:cubicBezTo>
                      <a:pt x="44" y="1083"/>
                      <a:pt x="44" y="1083"/>
                      <a:pt x="44" y="1083"/>
                    </a:cubicBezTo>
                    <a:cubicBezTo>
                      <a:pt x="409" y="914"/>
                      <a:pt x="409" y="914"/>
                      <a:pt x="409" y="914"/>
                    </a:cubicBezTo>
                    <a:cubicBezTo>
                      <a:pt x="428" y="938"/>
                      <a:pt x="457" y="954"/>
                      <a:pt x="490" y="954"/>
                    </a:cubicBezTo>
                    <a:cubicBezTo>
                      <a:pt x="545" y="954"/>
                      <a:pt x="591" y="908"/>
                      <a:pt x="591" y="852"/>
                    </a:cubicBezTo>
                    <a:cubicBezTo>
                      <a:pt x="591" y="831"/>
                      <a:pt x="584" y="811"/>
                      <a:pt x="572" y="794"/>
                    </a:cubicBezTo>
                    <a:cubicBezTo>
                      <a:pt x="732" y="618"/>
                      <a:pt x="732" y="618"/>
                      <a:pt x="732" y="618"/>
                    </a:cubicBezTo>
                    <a:cubicBezTo>
                      <a:pt x="747" y="627"/>
                      <a:pt x="764" y="632"/>
                      <a:pt x="782" y="632"/>
                    </a:cubicBezTo>
                    <a:cubicBezTo>
                      <a:pt x="814" y="632"/>
                      <a:pt x="843" y="617"/>
                      <a:pt x="861" y="593"/>
                    </a:cubicBezTo>
                    <a:cubicBezTo>
                      <a:pt x="1037" y="678"/>
                      <a:pt x="1037" y="678"/>
                      <a:pt x="1037" y="678"/>
                    </a:cubicBezTo>
                    <a:cubicBezTo>
                      <a:pt x="1035" y="685"/>
                      <a:pt x="1034" y="693"/>
                      <a:pt x="1034" y="701"/>
                    </a:cubicBezTo>
                    <a:cubicBezTo>
                      <a:pt x="1034" y="757"/>
                      <a:pt x="1080" y="802"/>
                      <a:pt x="1136" y="802"/>
                    </a:cubicBezTo>
                    <a:cubicBezTo>
                      <a:pt x="1191" y="802"/>
                      <a:pt x="1237" y="757"/>
                      <a:pt x="1237" y="701"/>
                    </a:cubicBezTo>
                    <a:cubicBezTo>
                      <a:pt x="1237" y="685"/>
                      <a:pt x="1233" y="670"/>
                      <a:pt x="1227" y="657"/>
                    </a:cubicBezTo>
                    <a:cubicBezTo>
                      <a:pt x="1465" y="466"/>
                      <a:pt x="1465" y="466"/>
                      <a:pt x="1465" y="466"/>
                    </a:cubicBezTo>
                    <a:cubicBezTo>
                      <a:pt x="1483" y="480"/>
                      <a:pt x="1505" y="488"/>
                      <a:pt x="1529" y="488"/>
                    </a:cubicBezTo>
                    <a:cubicBezTo>
                      <a:pt x="1585" y="488"/>
                      <a:pt x="1630" y="443"/>
                      <a:pt x="1630" y="387"/>
                    </a:cubicBezTo>
                    <a:cubicBezTo>
                      <a:pt x="1630" y="370"/>
                      <a:pt x="1626" y="355"/>
                      <a:pt x="1619" y="341"/>
                    </a:cubicBezTo>
                    <a:cubicBezTo>
                      <a:pt x="1790" y="203"/>
                      <a:pt x="1790" y="203"/>
                      <a:pt x="1790" y="203"/>
                    </a:cubicBezTo>
                    <a:lnTo>
                      <a:pt x="1790" y="1264"/>
                    </a:lnTo>
                    <a:close/>
                    <a:moveTo>
                      <a:pt x="547" y="852"/>
                    </a:moveTo>
                    <a:cubicBezTo>
                      <a:pt x="547" y="884"/>
                      <a:pt x="521" y="910"/>
                      <a:pt x="490" y="910"/>
                    </a:cubicBezTo>
                    <a:cubicBezTo>
                      <a:pt x="458" y="910"/>
                      <a:pt x="432" y="884"/>
                      <a:pt x="432" y="852"/>
                    </a:cubicBezTo>
                    <a:cubicBezTo>
                      <a:pt x="432" y="821"/>
                      <a:pt x="458" y="795"/>
                      <a:pt x="490" y="795"/>
                    </a:cubicBezTo>
                    <a:cubicBezTo>
                      <a:pt x="521" y="795"/>
                      <a:pt x="547" y="821"/>
                      <a:pt x="547" y="852"/>
                    </a:cubicBezTo>
                    <a:close/>
                    <a:moveTo>
                      <a:pt x="725" y="530"/>
                    </a:moveTo>
                    <a:cubicBezTo>
                      <a:pt x="725" y="499"/>
                      <a:pt x="750" y="473"/>
                      <a:pt x="782" y="473"/>
                    </a:cubicBezTo>
                    <a:cubicBezTo>
                      <a:pt x="813" y="473"/>
                      <a:pt x="839" y="499"/>
                      <a:pt x="839" y="530"/>
                    </a:cubicBezTo>
                    <a:cubicBezTo>
                      <a:pt x="839" y="562"/>
                      <a:pt x="813" y="588"/>
                      <a:pt x="782" y="588"/>
                    </a:cubicBezTo>
                    <a:cubicBezTo>
                      <a:pt x="750" y="588"/>
                      <a:pt x="725" y="562"/>
                      <a:pt x="725" y="530"/>
                    </a:cubicBezTo>
                    <a:close/>
                    <a:moveTo>
                      <a:pt x="1193" y="701"/>
                    </a:moveTo>
                    <a:cubicBezTo>
                      <a:pt x="1193" y="733"/>
                      <a:pt x="1167" y="758"/>
                      <a:pt x="1136" y="758"/>
                    </a:cubicBezTo>
                    <a:cubicBezTo>
                      <a:pt x="1104" y="758"/>
                      <a:pt x="1078" y="733"/>
                      <a:pt x="1078" y="701"/>
                    </a:cubicBezTo>
                    <a:cubicBezTo>
                      <a:pt x="1078" y="670"/>
                      <a:pt x="1104" y="644"/>
                      <a:pt x="1136" y="644"/>
                    </a:cubicBezTo>
                    <a:cubicBezTo>
                      <a:pt x="1167" y="644"/>
                      <a:pt x="1193" y="670"/>
                      <a:pt x="1193" y="701"/>
                    </a:cubicBezTo>
                    <a:close/>
                    <a:moveTo>
                      <a:pt x="1586" y="387"/>
                    </a:moveTo>
                    <a:cubicBezTo>
                      <a:pt x="1586" y="418"/>
                      <a:pt x="1560" y="444"/>
                      <a:pt x="1529" y="444"/>
                    </a:cubicBezTo>
                    <a:cubicBezTo>
                      <a:pt x="1497" y="444"/>
                      <a:pt x="1471" y="418"/>
                      <a:pt x="1471" y="387"/>
                    </a:cubicBezTo>
                    <a:cubicBezTo>
                      <a:pt x="1471" y="355"/>
                      <a:pt x="1497" y="330"/>
                      <a:pt x="1529" y="330"/>
                    </a:cubicBezTo>
                    <a:cubicBezTo>
                      <a:pt x="1560" y="330"/>
                      <a:pt x="1586" y="355"/>
                      <a:pt x="1586" y="387"/>
                    </a:cubicBezTo>
                    <a:close/>
                    <a:moveTo>
                      <a:pt x="1790" y="146"/>
                    </a:moveTo>
                    <a:cubicBezTo>
                      <a:pt x="1591" y="307"/>
                      <a:pt x="1591" y="307"/>
                      <a:pt x="1591" y="307"/>
                    </a:cubicBezTo>
                    <a:cubicBezTo>
                      <a:pt x="1574" y="294"/>
                      <a:pt x="1552" y="286"/>
                      <a:pt x="1529" y="286"/>
                    </a:cubicBezTo>
                    <a:cubicBezTo>
                      <a:pt x="1473" y="286"/>
                      <a:pt x="1427" y="331"/>
                      <a:pt x="1427" y="387"/>
                    </a:cubicBezTo>
                    <a:cubicBezTo>
                      <a:pt x="1427" y="403"/>
                      <a:pt x="1431" y="418"/>
                      <a:pt x="1438" y="431"/>
                    </a:cubicBezTo>
                    <a:cubicBezTo>
                      <a:pt x="1199" y="622"/>
                      <a:pt x="1199" y="622"/>
                      <a:pt x="1199" y="622"/>
                    </a:cubicBezTo>
                    <a:cubicBezTo>
                      <a:pt x="1182" y="608"/>
                      <a:pt x="1160" y="600"/>
                      <a:pt x="1136" y="600"/>
                    </a:cubicBezTo>
                    <a:cubicBezTo>
                      <a:pt x="1103" y="600"/>
                      <a:pt x="1075" y="615"/>
                      <a:pt x="1056" y="638"/>
                    </a:cubicBezTo>
                    <a:cubicBezTo>
                      <a:pt x="880" y="554"/>
                      <a:pt x="880" y="554"/>
                      <a:pt x="880" y="554"/>
                    </a:cubicBezTo>
                    <a:cubicBezTo>
                      <a:pt x="882" y="546"/>
                      <a:pt x="883" y="538"/>
                      <a:pt x="883" y="530"/>
                    </a:cubicBezTo>
                    <a:cubicBezTo>
                      <a:pt x="883" y="475"/>
                      <a:pt x="838" y="429"/>
                      <a:pt x="782" y="429"/>
                    </a:cubicBezTo>
                    <a:cubicBezTo>
                      <a:pt x="726" y="429"/>
                      <a:pt x="681" y="475"/>
                      <a:pt x="681" y="530"/>
                    </a:cubicBezTo>
                    <a:cubicBezTo>
                      <a:pt x="681" y="552"/>
                      <a:pt x="688" y="572"/>
                      <a:pt x="699" y="589"/>
                    </a:cubicBezTo>
                    <a:cubicBezTo>
                      <a:pt x="540" y="764"/>
                      <a:pt x="540" y="764"/>
                      <a:pt x="540" y="764"/>
                    </a:cubicBezTo>
                    <a:cubicBezTo>
                      <a:pt x="525" y="756"/>
                      <a:pt x="508" y="751"/>
                      <a:pt x="490" y="751"/>
                    </a:cubicBezTo>
                    <a:cubicBezTo>
                      <a:pt x="434" y="751"/>
                      <a:pt x="388" y="797"/>
                      <a:pt x="388" y="852"/>
                    </a:cubicBezTo>
                    <a:cubicBezTo>
                      <a:pt x="388" y="860"/>
                      <a:pt x="389" y="867"/>
                      <a:pt x="391" y="874"/>
                    </a:cubicBezTo>
                    <a:cubicBezTo>
                      <a:pt x="44" y="1034"/>
                      <a:pt x="44" y="1034"/>
                      <a:pt x="44" y="1034"/>
                    </a:cubicBezTo>
                    <a:cubicBezTo>
                      <a:pt x="44" y="44"/>
                      <a:pt x="44" y="44"/>
                      <a:pt x="44" y="44"/>
                    </a:cubicBezTo>
                    <a:cubicBezTo>
                      <a:pt x="1790" y="44"/>
                      <a:pt x="1790" y="44"/>
                      <a:pt x="1790" y="44"/>
                    </a:cubicBezTo>
                    <a:lnTo>
                      <a:pt x="1790" y="1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Trebuchet MS" panose="020B0603020202020204" pitchFamily="34" charset="0"/>
                  <a:sym typeface="Trebuchet MS" panose="020B0603020202020204" pitchFamily="34" charset="0"/>
                </a:endParaRPr>
              </a:p>
            </p:txBody>
          </p:sp>
        </p:grpSp>
      </p:grpSp>
      <p:grpSp>
        <p:nvGrpSpPr>
          <p:cNvPr id="276" name="Group 275"/>
          <p:cNvGrpSpPr/>
          <p:nvPr/>
        </p:nvGrpSpPr>
        <p:grpSpPr>
          <a:xfrm>
            <a:off x="1320489" y="4249079"/>
            <a:ext cx="517666" cy="517666"/>
            <a:chOff x="1129989" y="4274991"/>
            <a:chExt cx="517666" cy="517666"/>
          </a:xfrm>
        </p:grpSpPr>
        <p:sp>
          <p:nvSpPr>
            <p:cNvPr id="260" name="Oval 259"/>
            <p:cNvSpPr/>
            <p:nvPr/>
          </p:nvSpPr>
          <p:spPr>
            <a:xfrm>
              <a:off x="1129989" y="4274991"/>
              <a:ext cx="517666" cy="517666"/>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pPr>
              <a:endParaRPr lang="en-US" kern="0">
                <a:solidFill>
                  <a:schemeClr val="bg1">
                    <a:lumMod val="50000"/>
                  </a:schemeClr>
                </a:solidFill>
                <a:latin typeface="Trebuchet MS" panose="020B0603020202020204" pitchFamily="34" charset="0"/>
                <a:sym typeface="Trebuchet MS" panose="020B0603020202020204" pitchFamily="34" charset="0"/>
              </a:endParaRPr>
            </a:p>
          </p:txBody>
        </p:sp>
        <p:grpSp>
          <p:nvGrpSpPr>
            <p:cNvPr id="261" name="bcgIcons_B2COffering">
              <a:extLst>
                <a:ext uri="{FF2B5EF4-FFF2-40B4-BE49-F238E27FC236}">
                  <a16:creationId xmlns:a16="http://schemas.microsoft.com/office/drawing/2014/main" id="{3373AAE4-469D-42DB-929E-1E0159585CAF}"/>
                </a:ext>
              </a:extLst>
            </p:cNvPr>
            <p:cNvGrpSpPr>
              <a:grpSpLocks noChangeAspect="1"/>
            </p:cNvGrpSpPr>
            <p:nvPr/>
          </p:nvGrpSpPr>
          <p:grpSpPr bwMode="auto">
            <a:xfrm>
              <a:off x="1185076" y="4329889"/>
              <a:ext cx="407492" cy="407870"/>
              <a:chOff x="1682" y="0"/>
              <a:chExt cx="4316" cy="4320"/>
            </a:xfrm>
          </p:grpSpPr>
          <p:sp>
            <p:nvSpPr>
              <p:cNvPr id="262" name="AutoShape 3">
                <a:extLst>
                  <a:ext uri="{FF2B5EF4-FFF2-40B4-BE49-F238E27FC236}">
                    <a16:creationId xmlns:a16="http://schemas.microsoft.com/office/drawing/2014/main" id="{98AAC512-A7F2-4201-A8FF-01740F415B93}"/>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Trebuchet MS" panose="020B0603020202020204" pitchFamily="34" charset="0"/>
                  <a:sym typeface="Trebuchet MS" panose="020B0603020202020204" pitchFamily="34" charset="0"/>
                </a:endParaRPr>
              </a:p>
            </p:txBody>
          </p:sp>
          <p:sp>
            <p:nvSpPr>
              <p:cNvPr id="263" name="Freeform 5">
                <a:extLst>
                  <a:ext uri="{FF2B5EF4-FFF2-40B4-BE49-F238E27FC236}">
                    <a16:creationId xmlns:a16="http://schemas.microsoft.com/office/drawing/2014/main" id="{F2D323AD-9522-4ABE-A395-3FDE9D09F12E}"/>
                  </a:ext>
                </a:extLst>
              </p:cNvPr>
              <p:cNvSpPr>
                <a:spLocks noEditPoints="1"/>
              </p:cNvSpPr>
              <p:nvPr/>
            </p:nvSpPr>
            <p:spPr bwMode="auto">
              <a:xfrm>
                <a:off x="2347" y="848"/>
                <a:ext cx="2982" cy="3099"/>
              </a:xfrm>
              <a:custGeom>
                <a:avLst/>
                <a:gdLst>
                  <a:gd name="T0" fmla="*/ 801 w 1592"/>
                  <a:gd name="T1" fmla="*/ 221 h 1653"/>
                  <a:gd name="T2" fmla="*/ 886 w 1592"/>
                  <a:gd name="T3" fmla="*/ 168 h 1653"/>
                  <a:gd name="T4" fmla="*/ 814 w 1592"/>
                  <a:gd name="T5" fmla="*/ 233 h 1653"/>
                  <a:gd name="T6" fmla="*/ 1409 w 1592"/>
                  <a:gd name="T7" fmla="*/ 1119 h 1653"/>
                  <a:gd name="T8" fmla="*/ 1398 w 1592"/>
                  <a:gd name="T9" fmla="*/ 1319 h 1653"/>
                  <a:gd name="T10" fmla="*/ 831 w 1592"/>
                  <a:gd name="T11" fmla="*/ 1650 h 1653"/>
                  <a:gd name="T12" fmla="*/ 828 w 1592"/>
                  <a:gd name="T13" fmla="*/ 1652 h 1653"/>
                  <a:gd name="T14" fmla="*/ 825 w 1592"/>
                  <a:gd name="T15" fmla="*/ 1653 h 1653"/>
                  <a:gd name="T16" fmla="*/ 817 w 1592"/>
                  <a:gd name="T17" fmla="*/ 1653 h 1653"/>
                  <a:gd name="T18" fmla="*/ 814 w 1592"/>
                  <a:gd name="T19" fmla="*/ 1652 h 1653"/>
                  <a:gd name="T20" fmla="*/ 812 w 1592"/>
                  <a:gd name="T21" fmla="*/ 1652 h 1653"/>
                  <a:gd name="T22" fmla="*/ 809 w 1592"/>
                  <a:gd name="T23" fmla="*/ 1650 h 1653"/>
                  <a:gd name="T24" fmla="*/ 193 w 1592"/>
                  <a:gd name="T25" fmla="*/ 1296 h 1653"/>
                  <a:gd name="T26" fmla="*/ 15 w 1592"/>
                  <a:gd name="T27" fmla="*/ 1018 h 1653"/>
                  <a:gd name="T28" fmla="*/ 190 w 1592"/>
                  <a:gd name="T29" fmla="*/ 626 h 1653"/>
                  <a:gd name="T30" fmla="*/ 27 w 1592"/>
                  <a:gd name="T31" fmla="*/ 351 h 1653"/>
                  <a:gd name="T32" fmla="*/ 605 w 1592"/>
                  <a:gd name="T33" fmla="*/ 6 h 1653"/>
                  <a:gd name="T34" fmla="*/ 736 w 1592"/>
                  <a:gd name="T35" fmla="*/ 177 h 1653"/>
                  <a:gd name="T36" fmla="*/ 609 w 1592"/>
                  <a:gd name="T37" fmla="*/ 55 h 1653"/>
                  <a:gd name="T38" fmla="*/ 222 w 1592"/>
                  <a:gd name="T39" fmla="*/ 595 h 1653"/>
                  <a:gd name="T40" fmla="*/ 349 w 1592"/>
                  <a:gd name="T41" fmla="*/ 572 h 1653"/>
                  <a:gd name="T42" fmla="*/ 819 w 1592"/>
                  <a:gd name="T43" fmla="*/ 935 h 1653"/>
                  <a:gd name="T44" fmla="*/ 894 w 1592"/>
                  <a:gd name="T45" fmla="*/ 381 h 1653"/>
                  <a:gd name="T46" fmla="*/ 1381 w 1592"/>
                  <a:gd name="T47" fmla="*/ 601 h 1653"/>
                  <a:gd name="T48" fmla="*/ 1310 w 1592"/>
                  <a:gd name="T49" fmla="*/ 252 h 1653"/>
                  <a:gd name="T50" fmla="*/ 1345 w 1592"/>
                  <a:gd name="T51" fmla="*/ 222 h 1653"/>
                  <a:gd name="T52" fmla="*/ 1575 w 1592"/>
                  <a:gd name="T53" fmla="*/ 358 h 1653"/>
                  <a:gd name="T54" fmla="*/ 1414 w 1592"/>
                  <a:gd name="T55" fmla="*/ 631 h 1653"/>
                  <a:gd name="T56" fmla="*/ 1578 w 1592"/>
                  <a:gd name="T57" fmla="*/ 1020 h 1653"/>
                  <a:gd name="T58" fmla="*/ 791 w 1592"/>
                  <a:gd name="T59" fmla="*/ 969 h 1653"/>
                  <a:gd name="T60" fmla="*/ 54 w 1592"/>
                  <a:gd name="T61" fmla="*/ 990 h 1653"/>
                  <a:gd name="T62" fmla="*/ 798 w 1592"/>
                  <a:gd name="T63" fmla="*/ 1052 h 1653"/>
                  <a:gd name="T64" fmla="*/ 636 w 1592"/>
                  <a:gd name="T65" fmla="*/ 1355 h 1653"/>
                  <a:gd name="T66" fmla="*/ 619 w 1592"/>
                  <a:gd name="T67" fmla="*/ 1353 h 1653"/>
                  <a:gd name="T68" fmla="*/ 237 w 1592"/>
                  <a:gd name="T69" fmla="*/ 1283 h 1653"/>
                  <a:gd name="T70" fmla="*/ 798 w 1592"/>
                  <a:gd name="T71" fmla="*/ 1052 h 1653"/>
                  <a:gd name="T72" fmla="*/ 1009 w 1592"/>
                  <a:gd name="T73" fmla="*/ 1353 h 1653"/>
                  <a:gd name="T74" fmla="*/ 992 w 1592"/>
                  <a:gd name="T75" fmla="*/ 1355 h 1653"/>
                  <a:gd name="T76" fmla="*/ 842 w 1592"/>
                  <a:gd name="T77" fmla="*/ 1059 h 1653"/>
                  <a:gd name="T78" fmla="*/ 1365 w 1592"/>
                  <a:gd name="T79" fmla="*/ 1287 h 1653"/>
                  <a:gd name="T80" fmla="*/ 1538 w 1592"/>
                  <a:gd name="T81" fmla="*/ 992 h 1653"/>
                  <a:gd name="T82" fmla="*/ 848 w 1592"/>
                  <a:gd name="T83" fmla="*/ 971 h 1653"/>
                  <a:gd name="T84" fmla="*/ 1538 w 1592"/>
                  <a:gd name="T85" fmla="*/ 992 h 1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92" h="1653">
                    <a:moveTo>
                      <a:pt x="814" y="233"/>
                    </a:moveTo>
                    <a:cubicBezTo>
                      <a:pt x="810" y="229"/>
                      <a:pt x="806" y="225"/>
                      <a:pt x="801" y="221"/>
                    </a:cubicBezTo>
                    <a:cubicBezTo>
                      <a:pt x="863" y="121"/>
                      <a:pt x="863" y="121"/>
                      <a:pt x="863" y="121"/>
                    </a:cubicBezTo>
                    <a:cubicBezTo>
                      <a:pt x="869" y="137"/>
                      <a:pt x="877" y="153"/>
                      <a:pt x="886" y="168"/>
                    </a:cubicBezTo>
                    <a:cubicBezTo>
                      <a:pt x="833" y="253"/>
                      <a:pt x="833" y="253"/>
                      <a:pt x="833" y="253"/>
                    </a:cubicBezTo>
                    <a:cubicBezTo>
                      <a:pt x="827" y="246"/>
                      <a:pt x="821" y="240"/>
                      <a:pt x="814" y="233"/>
                    </a:cubicBezTo>
                    <a:close/>
                    <a:moveTo>
                      <a:pt x="1578" y="1020"/>
                    </a:moveTo>
                    <a:cubicBezTo>
                      <a:pt x="1409" y="1119"/>
                      <a:pt x="1409" y="1119"/>
                      <a:pt x="1409" y="1119"/>
                    </a:cubicBezTo>
                    <a:cubicBezTo>
                      <a:pt x="1409" y="1300"/>
                      <a:pt x="1409" y="1300"/>
                      <a:pt x="1409" y="1300"/>
                    </a:cubicBezTo>
                    <a:cubicBezTo>
                      <a:pt x="1409" y="1308"/>
                      <a:pt x="1405" y="1315"/>
                      <a:pt x="1398" y="1319"/>
                    </a:cubicBezTo>
                    <a:cubicBezTo>
                      <a:pt x="831" y="1650"/>
                      <a:pt x="831" y="1650"/>
                      <a:pt x="831" y="1650"/>
                    </a:cubicBezTo>
                    <a:cubicBezTo>
                      <a:pt x="831" y="1650"/>
                      <a:pt x="831" y="1650"/>
                      <a:pt x="831" y="1650"/>
                    </a:cubicBezTo>
                    <a:cubicBezTo>
                      <a:pt x="830" y="1651"/>
                      <a:pt x="829" y="1651"/>
                      <a:pt x="829" y="1651"/>
                    </a:cubicBezTo>
                    <a:cubicBezTo>
                      <a:pt x="829" y="1651"/>
                      <a:pt x="828" y="1651"/>
                      <a:pt x="828" y="1652"/>
                    </a:cubicBezTo>
                    <a:cubicBezTo>
                      <a:pt x="828" y="1652"/>
                      <a:pt x="827" y="1652"/>
                      <a:pt x="827" y="1652"/>
                    </a:cubicBezTo>
                    <a:cubicBezTo>
                      <a:pt x="826" y="1652"/>
                      <a:pt x="825" y="1652"/>
                      <a:pt x="825" y="1653"/>
                    </a:cubicBezTo>
                    <a:cubicBezTo>
                      <a:pt x="823" y="1653"/>
                      <a:pt x="821" y="1653"/>
                      <a:pt x="820" y="1653"/>
                    </a:cubicBezTo>
                    <a:cubicBezTo>
                      <a:pt x="819" y="1653"/>
                      <a:pt x="818" y="1653"/>
                      <a:pt x="817" y="1653"/>
                    </a:cubicBezTo>
                    <a:cubicBezTo>
                      <a:pt x="817" y="1653"/>
                      <a:pt x="817" y="1653"/>
                      <a:pt x="817" y="1653"/>
                    </a:cubicBezTo>
                    <a:cubicBezTo>
                      <a:pt x="816" y="1653"/>
                      <a:pt x="815" y="1653"/>
                      <a:pt x="814" y="1652"/>
                    </a:cubicBezTo>
                    <a:cubicBezTo>
                      <a:pt x="814" y="1652"/>
                      <a:pt x="814" y="1652"/>
                      <a:pt x="813" y="1652"/>
                    </a:cubicBezTo>
                    <a:cubicBezTo>
                      <a:pt x="813" y="1652"/>
                      <a:pt x="812" y="1652"/>
                      <a:pt x="812" y="1652"/>
                    </a:cubicBezTo>
                    <a:cubicBezTo>
                      <a:pt x="811" y="1651"/>
                      <a:pt x="811" y="1651"/>
                      <a:pt x="810" y="1651"/>
                    </a:cubicBezTo>
                    <a:cubicBezTo>
                      <a:pt x="810" y="1651"/>
                      <a:pt x="810" y="1651"/>
                      <a:pt x="809" y="1650"/>
                    </a:cubicBezTo>
                    <a:cubicBezTo>
                      <a:pt x="204" y="1315"/>
                      <a:pt x="204" y="1315"/>
                      <a:pt x="204" y="1315"/>
                    </a:cubicBezTo>
                    <a:cubicBezTo>
                      <a:pt x="197" y="1311"/>
                      <a:pt x="193" y="1304"/>
                      <a:pt x="193" y="1296"/>
                    </a:cubicBezTo>
                    <a:cubicBezTo>
                      <a:pt x="193" y="1117"/>
                      <a:pt x="193" y="1117"/>
                      <a:pt x="193" y="1117"/>
                    </a:cubicBezTo>
                    <a:cubicBezTo>
                      <a:pt x="15" y="1018"/>
                      <a:pt x="15" y="1018"/>
                      <a:pt x="15" y="1018"/>
                    </a:cubicBezTo>
                    <a:cubicBezTo>
                      <a:pt x="4" y="1012"/>
                      <a:pt x="0" y="999"/>
                      <a:pt x="6" y="989"/>
                    </a:cubicBezTo>
                    <a:cubicBezTo>
                      <a:pt x="190" y="626"/>
                      <a:pt x="190" y="626"/>
                      <a:pt x="190" y="626"/>
                    </a:cubicBezTo>
                    <a:cubicBezTo>
                      <a:pt x="30" y="367"/>
                      <a:pt x="30" y="367"/>
                      <a:pt x="30" y="367"/>
                    </a:cubicBezTo>
                    <a:cubicBezTo>
                      <a:pt x="27" y="362"/>
                      <a:pt x="26" y="356"/>
                      <a:pt x="27" y="351"/>
                    </a:cubicBezTo>
                    <a:cubicBezTo>
                      <a:pt x="29" y="345"/>
                      <a:pt x="33" y="340"/>
                      <a:pt x="38" y="337"/>
                    </a:cubicBezTo>
                    <a:cubicBezTo>
                      <a:pt x="605" y="6"/>
                      <a:pt x="605" y="6"/>
                      <a:pt x="605" y="6"/>
                    </a:cubicBezTo>
                    <a:cubicBezTo>
                      <a:pt x="615" y="0"/>
                      <a:pt x="628" y="3"/>
                      <a:pt x="635" y="13"/>
                    </a:cubicBezTo>
                    <a:cubicBezTo>
                      <a:pt x="736" y="177"/>
                      <a:pt x="736" y="177"/>
                      <a:pt x="736" y="177"/>
                    </a:cubicBezTo>
                    <a:cubicBezTo>
                      <a:pt x="715" y="167"/>
                      <a:pt x="693" y="159"/>
                      <a:pt x="670" y="154"/>
                    </a:cubicBezTo>
                    <a:cubicBezTo>
                      <a:pt x="609" y="55"/>
                      <a:pt x="609" y="55"/>
                      <a:pt x="609" y="55"/>
                    </a:cubicBezTo>
                    <a:cubicBezTo>
                      <a:pt x="79" y="363"/>
                      <a:pt x="79" y="363"/>
                      <a:pt x="79" y="363"/>
                    </a:cubicBezTo>
                    <a:cubicBezTo>
                      <a:pt x="222" y="595"/>
                      <a:pt x="222" y="595"/>
                      <a:pt x="222" y="595"/>
                    </a:cubicBezTo>
                    <a:cubicBezTo>
                      <a:pt x="332" y="531"/>
                      <a:pt x="332" y="531"/>
                      <a:pt x="332" y="531"/>
                    </a:cubicBezTo>
                    <a:cubicBezTo>
                      <a:pt x="337" y="545"/>
                      <a:pt x="342" y="559"/>
                      <a:pt x="349" y="572"/>
                    </a:cubicBezTo>
                    <a:cubicBezTo>
                      <a:pt x="259" y="624"/>
                      <a:pt x="259" y="624"/>
                      <a:pt x="259" y="624"/>
                    </a:cubicBezTo>
                    <a:cubicBezTo>
                      <a:pt x="819" y="935"/>
                      <a:pt x="819" y="935"/>
                      <a:pt x="819" y="935"/>
                    </a:cubicBezTo>
                    <a:cubicBezTo>
                      <a:pt x="1343" y="630"/>
                      <a:pt x="1343" y="630"/>
                      <a:pt x="1343" y="630"/>
                    </a:cubicBezTo>
                    <a:cubicBezTo>
                      <a:pt x="894" y="381"/>
                      <a:pt x="894" y="381"/>
                      <a:pt x="894" y="381"/>
                    </a:cubicBezTo>
                    <a:cubicBezTo>
                      <a:pt x="889" y="360"/>
                      <a:pt x="883" y="339"/>
                      <a:pt x="874" y="319"/>
                    </a:cubicBezTo>
                    <a:cubicBezTo>
                      <a:pt x="1381" y="601"/>
                      <a:pt x="1381" y="601"/>
                      <a:pt x="1381" y="601"/>
                    </a:cubicBezTo>
                    <a:cubicBezTo>
                      <a:pt x="1522" y="372"/>
                      <a:pt x="1522" y="372"/>
                      <a:pt x="1522" y="372"/>
                    </a:cubicBezTo>
                    <a:cubicBezTo>
                      <a:pt x="1310" y="252"/>
                      <a:pt x="1310" y="252"/>
                      <a:pt x="1310" y="252"/>
                    </a:cubicBezTo>
                    <a:cubicBezTo>
                      <a:pt x="1321" y="244"/>
                      <a:pt x="1332" y="234"/>
                      <a:pt x="1342" y="224"/>
                    </a:cubicBezTo>
                    <a:cubicBezTo>
                      <a:pt x="1343" y="223"/>
                      <a:pt x="1344" y="222"/>
                      <a:pt x="1345" y="222"/>
                    </a:cubicBezTo>
                    <a:cubicBezTo>
                      <a:pt x="1564" y="344"/>
                      <a:pt x="1564" y="344"/>
                      <a:pt x="1564" y="344"/>
                    </a:cubicBezTo>
                    <a:cubicBezTo>
                      <a:pt x="1569" y="347"/>
                      <a:pt x="1573" y="352"/>
                      <a:pt x="1575" y="358"/>
                    </a:cubicBezTo>
                    <a:cubicBezTo>
                      <a:pt x="1576" y="364"/>
                      <a:pt x="1575" y="370"/>
                      <a:pt x="1572" y="375"/>
                    </a:cubicBezTo>
                    <a:cubicBezTo>
                      <a:pt x="1414" y="631"/>
                      <a:pt x="1414" y="631"/>
                      <a:pt x="1414" y="631"/>
                    </a:cubicBezTo>
                    <a:cubicBezTo>
                      <a:pt x="1587" y="991"/>
                      <a:pt x="1587" y="991"/>
                      <a:pt x="1587" y="991"/>
                    </a:cubicBezTo>
                    <a:cubicBezTo>
                      <a:pt x="1592" y="1001"/>
                      <a:pt x="1588" y="1014"/>
                      <a:pt x="1578" y="1020"/>
                    </a:cubicBezTo>
                    <a:close/>
                    <a:moveTo>
                      <a:pt x="621" y="1304"/>
                    </a:moveTo>
                    <a:cubicBezTo>
                      <a:pt x="791" y="969"/>
                      <a:pt x="791" y="969"/>
                      <a:pt x="791" y="969"/>
                    </a:cubicBezTo>
                    <a:cubicBezTo>
                      <a:pt x="224" y="655"/>
                      <a:pt x="224" y="655"/>
                      <a:pt x="224" y="655"/>
                    </a:cubicBezTo>
                    <a:cubicBezTo>
                      <a:pt x="54" y="990"/>
                      <a:pt x="54" y="990"/>
                      <a:pt x="54" y="990"/>
                    </a:cubicBezTo>
                    <a:lnTo>
                      <a:pt x="621" y="1304"/>
                    </a:lnTo>
                    <a:close/>
                    <a:moveTo>
                      <a:pt x="798" y="1052"/>
                    </a:moveTo>
                    <a:cubicBezTo>
                      <a:pt x="650" y="1344"/>
                      <a:pt x="650" y="1344"/>
                      <a:pt x="650" y="1344"/>
                    </a:cubicBezTo>
                    <a:cubicBezTo>
                      <a:pt x="647" y="1349"/>
                      <a:pt x="642" y="1353"/>
                      <a:pt x="636" y="1355"/>
                    </a:cubicBezTo>
                    <a:cubicBezTo>
                      <a:pt x="634" y="1356"/>
                      <a:pt x="632" y="1356"/>
                      <a:pt x="630" y="1356"/>
                    </a:cubicBezTo>
                    <a:cubicBezTo>
                      <a:pt x="626" y="1356"/>
                      <a:pt x="623" y="1355"/>
                      <a:pt x="619" y="1353"/>
                    </a:cubicBezTo>
                    <a:cubicBezTo>
                      <a:pt x="237" y="1141"/>
                      <a:pt x="237" y="1141"/>
                      <a:pt x="237" y="1141"/>
                    </a:cubicBezTo>
                    <a:cubicBezTo>
                      <a:pt x="237" y="1283"/>
                      <a:pt x="237" y="1283"/>
                      <a:pt x="237" y="1283"/>
                    </a:cubicBezTo>
                    <a:cubicBezTo>
                      <a:pt x="798" y="1594"/>
                      <a:pt x="798" y="1594"/>
                      <a:pt x="798" y="1594"/>
                    </a:cubicBezTo>
                    <a:lnTo>
                      <a:pt x="798" y="1052"/>
                    </a:lnTo>
                    <a:close/>
                    <a:moveTo>
                      <a:pt x="1365" y="1144"/>
                    </a:moveTo>
                    <a:cubicBezTo>
                      <a:pt x="1009" y="1353"/>
                      <a:pt x="1009" y="1353"/>
                      <a:pt x="1009" y="1353"/>
                    </a:cubicBezTo>
                    <a:cubicBezTo>
                      <a:pt x="1006" y="1355"/>
                      <a:pt x="1002" y="1356"/>
                      <a:pt x="998" y="1356"/>
                    </a:cubicBezTo>
                    <a:cubicBezTo>
                      <a:pt x="996" y="1356"/>
                      <a:pt x="994" y="1356"/>
                      <a:pt x="992" y="1355"/>
                    </a:cubicBezTo>
                    <a:cubicBezTo>
                      <a:pt x="986" y="1353"/>
                      <a:pt x="981" y="1349"/>
                      <a:pt x="978" y="1344"/>
                    </a:cubicBezTo>
                    <a:cubicBezTo>
                      <a:pt x="842" y="1059"/>
                      <a:pt x="842" y="1059"/>
                      <a:pt x="842" y="1059"/>
                    </a:cubicBezTo>
                    <a:cubicBezTo>
                      <a:pt x="842" y="1593"/>
                      <a:pt x="842" y="1593"/>
                      <a:pt x="842" y="1593"/>
                    </a:cubicBezTo>
                    <a:cubicBezTo>
                      <a:pt x="1365" y="1287"/>
                      <a:pt x="1365" y="1287"/>
                      <a:pt x="1365" y="1287"/>
                    </a:cubicBezTo>
                    <a:lnTo>
                      <a:pt x="1365" y="1144"/>
                    </a:lnTo>
                    <a:close/>
                    <a:moveTo>
                      <a:pt x="1538" y="992"/>
                    </a:moveTo>
                    <a:cubicBezTo>
                      <a:pt x="1379" y="660"/>
                      <a:pt x="1379" y="660"/>
                      <a:pt x="1379" y="660"/>
                    </a:cubicBezTo>
                    <a:cubicBezTo>
                      <a:pt x="848" y="971"/>
                      <a:pt x="848" y="971"/>
                      <a:pt x="848" y="971"/>
                    </a:cubicBezTo>
                    <a:cubicBezTo>
                      <a:pt x="1008" y="1303"/>
                      <a:pt x="1008" y="1303"/>
                      <a:pt x="1008" y="1303"/>
                    </a:cubicBezTo>
                    <a:lnTo>
                      <a:pt x="1538" y="99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Trebuchet MS" panose="020B0603020202020204" pitchFamily="34" charset="0"/>
                  <a:sym typeface="Trebuchet MS" panose="020B0603020202020204" pitchFamily="34" charset="0"/>
                </a:endParaRPr>
              </a:p>
            </p:txBody>
          </p:sp>
          <p:sp>
            <p:nvSpPr>
              <p:cNvPr id="264" name="Freeform 6">
                <a:extLst>
                  <a:ext uri="{FF2B5EF4-FFF2-40B4-BE49-F238E27FC236}">
                    <a16:creationId xmlns:a16="http://schemas.microsoft.com/office/drawing/2014/main" id="{4185CE0E-AE09-4FB2-8AE7-A264640DB93A}"/>
                  </a:ext>
                </a:extLst>
              </p:cNvPr>
              <p:cNvSpPr>
                <a:spLocks noEditPoints="1"/>
              </p:cNvSpPr>
              <p:nvPr/>
            </p:nvSpPr>
            <p:spPr bwMode="auto">
              <a:xfrm>
                <a:off x="2978" y="418"/>
                <a:ext cx="2007" cy="1716"/>
              </a:xfrm>
              <a:custGeom>
                <a:avLst/>
                <a:gdLst>
                  <a:gd name="T0" fmla="*/ 271 w 1071"/>
                  <a:gd name="T1" fmla="*/ 421 h 915"/>
                  <a:gd name="T2" fmla="*/ 96 w 1071"/>
                  <a:gd name="T3" fmla="*/ 843 h 915"/>
                  <a:gd name="T4" fmla="*/ 446 w 1071"/>
                  <a:gd name="T5" fmla="*/ 843 h 915"/>
                  <a:gd name="T6" fmla="*/ 420 w 1071"/>
                  <a:gd name="T7" fmla="*/ 761 h 915"/>
                  <a:gd name="T8" fmla="*/ 372 w 1071"/>
                  <a:gd name="T9" fmla="*/ 806 h 915"/>
                  <a:gd name="T10" fmla="*/ 362 w 1071"/>
                  <a:gd name="T11" fmla="*/ 809 h 915"/>
                  <a:gd name="T12" fmla="*/ 339 w 1071"/>
                  <a:gd name="T13" fmla="*/ 807 h 915"/>
                  <a:gd name="T14" fmla="*/ 266 w 1071"/>
                  <a:gd name="T15" fmla="*/ 774 h 915"/>
                  <a:gd name="T16" fmla="*/ 181 w 1071"/>
                  <a:gd name="T17" fmla="*/ 692 h 915"/>
                  <a:gd name="T18" fmla="*/ 145 w 1071"/>
                  <a:gd name="T19" fmla="*/ 627 h 915"/>
                  <a:gd name="T20" fmla="*/ 138 w 1071"/>
                  <a:gd name="T21" fmla="*/ 590 h 915"/>
                  <a:gd name="T22" fmla="*/ 142 w 1071"/>
                  <a:gd name="T23" fmla="*/ 575 h 915"/>
                  <a:gd name="T24" fmla="*/ 187 w 1071"/>
                  <a:gd name="T25" fmla="*/ 528 h 915"/>
                  <a:gd name="T26" fmla="*/ 203 w 1071"/>
                  <a:gd name="T27" fmla="*/ 526 h 915"/>
                  <a:gd name="T28" fmla="*/ 241 w 1071"/>
                  <a:gd name="T29" fmla="*/ 593 h 915"/>
                  <a:gd name="T30" fmla="*/ 237 w 1071"/>
                  <a:gd name="T31" fmla="*/ 613 h 915"/>
                  <a:gd name="T32" fmla="*/ 221 w 1071"/>
                  <a:gd name="T33" fmla="*/ 630 h 915"/>
                  <a:gd name="T34" fmla="*/ 226 w 1071"/>
                  <a:gd name="T35" fmla="*/ 646 h 915"/>
                  <a:gd name="T36" fmla="*/ 259 w 1071"/>
                  <a:gd name="T37" fmla="*/ 688 h 915"/>
                  <a:gd name="T38" fmla="*/ 301 w 1071"/>
                  <a:gd name="T39" fmla="*/ 721 h 915"/>
                  <a:gd name="T40" fmla="*/ 316 w 1071"/>
                  <a:gd name="T41" fmla="*/ 726 h 915"/>
                  <a:gd name="T42" fmla="*/ 320 w 1071"/>
                  <a:gd name="T43" fmla="*/ 725 h 915"/>
                  <a:gd name="T44" fmla="*/ 349 w 1071"/>
                  <a:gd name="T45" fmla="*/ 702 h 915"/>
                  <a:gd name="T46" fmla="*/ 358 w 1071"/>
                  <a:gd name="T47" fmla="*/ 704 h 915"/>
                  <a:gd name="T48" fmla="*/ 424 w 1071"/>
                  <a:gd name="T49" fmla="*/ 749 h 915"/>
                  <a:gd name="T50" fmla="*/ 817 w 1071"/>
                  <a:gd name="T51" fmla="*/ 378 h 915"/>
                  <a:gd name="T52" fmla="*/ 781 w 1071"/>
                  <a:gd name="T53" fmla="*/ 378 h 915"/>
                  <a:gd name="T54" fmla="*/ 817 w 1071"/>
                  <a:gd name="T55" fmla="*/ 378 h 915"/>
                  <a:gd name="T56" fmla="*/ 872 w 1071"/>
                  <a:gd name="T57" fmla="*/ 330 h 915"/>
                  <a:gd name="T58" fmla="*/ 733 w 1071"/>
                  <a:gd name="T59" fmla="*/ 335 h 915"/>
                  <a:gd name="T60" fmla="*/ 727 w 1071"/>
                  <a:gd name="T61" fmla="*/ 102 h 915"/>
                  <a:gd name="T62" fmla="*/ 867 w 1071"/>
                  <a:gd name="T63" fmla="*/ 96 h 915"/>
                  <a:gd name="T64" fmla="*/ 974 w 1071"/>
                  <a:gd name="T65" fmla="*/ 72 h 915"/>
                  <a:gd name="T66" fmla="*/ 625 w 1071"/>
                  <a:gd name="T67" fmla="*/ 72 h 915"/>
                  <a:gd name="T68" fmla="*/ 799 w 1071"/>
                  <a:gd name="T69" fmla="*/ 495 h 915"/>
                  <a:gd name="T70" fmla="*/ 974 w 1071"/>
                  <a:gd name="T71" fmla="*/ 72 h 915"/>
                  <a:gd name="T72" fmla="*/ 883 w 1071"/>
                  <a:gd name="T73" fmla="*/ 421 h 915"/>
                  <a:gd name="T74" fmla="*/ 702 w 1071"/>
                  <a:gd name="T75" fmla="*/ 408 h 915"/>
                  <a:gd name="T76" fmla="*/ 715 w 1071"/>
                  <a:gd name="T77" fmla="*/ 72 h 915"/>
                  <a:gd name="T78" fmla="*/ 895 w 1071"/>
                  <a:gd name="T79" fmla="*/ 84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1" h="915">
                    <a:moveTo>
                      <a:pt x="446" y="493"/>
                    </a:moveTo>
                    <a:cubicBezTo>
                      <a:pt x="398" y="445"/>
                      <a:pt x="335" y="421"/>
                      <a:pt x="271" y="421"/>
                    </a:cubicBezTo>
                    <a:cubicBezTo>
                      <a:pt x="208" y="421"/>
                      <a:pt x="145" y="445"/>
                      <a:pt x="96" y="493"/>
                    </a:cubicBezTo>
                    <a:cubicBezTo>
                      <a:pt x="0" y="590"/>
                      <a:pt x="0" y="746"/>
                      <a:pt x="96" y="843"/>
                    </a:cubicBezTo>
                    <a:cubicBezTo>
                      <a:pt x="145" y="891"/>
                      <a:pt x="208" y="915"/>
                      <a:pt x="271" y="915"/>
                    </a:cubicBezTo>
                    <a:cubicBezTo>
                      <a:pt x="335" y="915"/>
                      <a:pt x="398" y="891"/>
                      <a:pt x="446" y="843"/>
                    </a:cubicBezTo>
                    <a:cubicBezTo>
                      <a:pt x="543" y="746"/>
                      <a:pt x="543" y="590"/>
                      <a:pt x="446" y="493"/>
                    </a:cubicBezTo>
                    <a:close/>
                    <a:moveTo>
                      <a:pt x="420" y="761"/>
                    </a:moveTo>
                    <a:cubicBezTo>
                      <a:pt x="379" y="801"/>
                      <a:pt x="379" y="801"/>
                      <a:pt x="379" y="801"/>
                    </a:cubicBezTo>
                    <a:cubicBezTo>
                      <a:pt x="378" y="803"/>
                      <a:pt x="375" y="804"/>
                      <a:pt x="372" y="806"/>
                    </a:cubicBezTo>
                    <a:cubicBezTo>
                      <a:pt x="369" y="807"/>
                      <a:pt x="367" y="808"/>
                      <a:pt x="364" y="809"/>
                    </a:cubicBezTo>
                    <a:cubicBezTo>
                      <a:pt x="363" y="809"/>
                      <a:pt x="363" y="809"/>
                      <a:pt x="362" y="809"/>
                    </a:cubicBezTo>
                    <a:cubicBezTo>
                      <a:pt x="361" y="809"/>
                      <a:pt x="360" y="809"/>
                      <a:pt x="358" y="809"/>
                    </a:cubicBezTo>
                    <a:cubicBezTo>
                      <a:pt x="354" y="809"/>
                      <a:pt x="348" y="808"/>
                      <a:pt x="339" y="807"/>
                    </a:cubicBezTo>
                    <a:cubicBezTo>
                      <a:pt x="331" y="806"/>
                      <a:pt x="320" y="802"/>
                      <a:pt x="308" y="797"/>
                    </a:cubicBezTo>
                    <a:cubicBezTo>
                      <a:pt x="296" y="792"/>
                      <a:pt x="281" y="784"/>
                      <a:pt x="266" y="774"/>
                    </a:cubicBezTo>
                    <a:cubicBezTo>
                      <a:pt x="250" y="764"/>
                      <a:pt x="233" y="750"/>
                      <a:pt x="216" y="732"/>
                    </a:cubicBezTo>
                    <a:cubicBezTo>
                      <a:pt x="201" y="718"/>
                      <a:pt x="190" y="705"/>
                      <a:pt x="181" y="692"/>
                    </a:cubicBezTo>
                    <a:cubicBezTo>
                      <a:pt x="171" y="679"/>
                      <a:pt x="164" y="667"/>
                      <a:pt x="158" y="657"/>
                    </a:cubicBezTo>
                    <a:cubicBezTo>
                      <a:pt x="152" y="646"/>
                      <a:pt x="148" y="636"/>
                      <a:pt x="145" y="627"/>
                    </a:cubicBezTo>
                    <a:cubicBezTo>
                      <a:pt x="143" y="619"/>
                      <a:pt x="141" y="611"/>
                      <a:pt x="140" y="605"/>
                    </a:cubicBezTo>
                    <a:cubicBezTo>
                      <a:pt x="139" y="598"/>
                      <a:pt x="138" y="593"/>
                      <a:pt x="138" y="590"/>
                    </a:cubicBezTo>
                    <a:cubicBezTo>
                      <a:pt x="139" y="586"/>
                      <a:pt x="139" y="584"/>
                      <a:pt x="139" y="584"/>
                    </a:cubicBezTo>
                    <a:cubicBezTo>
                      <a:pt x="139" y="581"/>
                      <a:pt x="140" y="578"/>
                      <a:pt x="142" y="575"/>
                    </a:cubicBezTo>
                    <a:cubicBezTo>
                      <a:pt x="143" y="572"/>
                      <a:pt x="145" y="570"/>
                      <a:pt x="147" y="568"/>
                    </a:cubicBezTo>
                    <a:cubicBezTo>
                      <a:pt x="187" y="528"/>
                      <a:pt x="187" y="528"/>
                      <a:pt x="187" y="528"/>
                    </a:cubicBezTo>
                    <a:cubicBezTo>
                      <a:pt x="190" y="525"/>
                      <a:pt x="193" y="523"/>
                      <a:pt x="197" y="523"/>
                    </a:cubicBezTo>
                    <a:cubicBezTo>
                      <a:pt x="199" y="523"/>
                      <a:pt x="201" y="524"/>
                      <a:pt x="203" y="526"/>
                    </a:cubicBezTo>
                    <a:cubicBezTo>
                      <a:pt x="205" y="527"/>
                      <a:pt x="207" y="529"/>
                      <a:pt x="209" y="531"/>
                    </a:cubicBezTo>
                    <a:cubicBezTo>
                      <a:pt x="241" y="593"/>
                      <a:pt x="241" y="593"/>
                      <a:pt x="241" y="593"/>
                    </a:cubicBezTo>
                    <a:cubicBezTo>
                      <a:pt x="243" y="596"/>
                      <a:pt x="243" y="599"/>
                      <a:pt x="242" y="603"/>
                    </a:cubicBezTo>
                    <a:cubicBezTo>
                      <a:pt x="242" y="607"/>
                      <a:pt x="240" y="610"/>
                      <a:pt x="237" y="613"/>
                    </a:cubicBezTo>
                    <a:cubicBezTo>
                      <a:pt x="223" y="628"/>
                      <a:pt x="223" y="628"/>
                      <a:pt x="223" y="628"/>
                    </a:cubicBezTo>
                    <a:cubicBezTo>
                      <a:pt x="222" y="628"/>
                      <a:pt x="222" y="629"/>
                      <a:pt x="221" y="630"/>
                    </a:cubicBezTo>
                    <a:cubicBezTo>
                      <a:pt x="221" y="631"/>
                      <a:pt x="221" y="631"/>
                      <a:pt x="221" y="632"/>
                    </a:cubicBezTo>
                    <a:cubicBezTo>
                      <a:pt x="222" y="636"/>
                      <a:pt x="224" y="641"/>
                      <a:pt x="226" y="646"/>
                    </a:cubicBezTo>
                    <a:cubicBezTo>
                      <a:pt x="229" y="651"/>
                      <a:pt x="233" y="657"/>
                      <a:pt x="238" y="664"/>
                    </a:cubicBezTo>
                    <a:cubicBezTo>
                      <a:pt x="243" y="671"/>
                      <a:pt x="250" y="679"/>
                      <a:pt x="259" y="688"/>
                    </a:cubicBezTo>
                    <a:cubicBezTo>
                      <a:pt x="268" y="697"/>
                      <a:pt x="276" y="705"/>
                      <a:pt x="283" y="710"/>
                    </a:cubicBezTo>
                    <a:cubicBezTo>
                      <a:pt x="290" y="715"/>
                      <a:pt x="296" y="719"/>
                      <a:pt x="301" y="721"/>
                    </a:cubicBezTo>
                    <a:cubicBezTo>
                      <a:pt x="306" y="724"/>
                      <a:pt x="309" y="725"/>
                      <a:pt x="312" y="726"/>
                    </a:cubicBezTo>
                    <a:cubicBezTo>
                      <a:pt x="316" y="726"/>
                      <a:pt x="316" y="726"/>
                      <a:pt x="316" y="726"/>
                    </a:cubicBezTo>
                    <a:cubicBezTo>
                      <a:pt x="316" y="726"/>
                      <a:pt x="317" y="726"/>
                      <a:pt x="318" y="726"/>
                    </a:cubicBezTo>
                    <a:cubicBezTo>
                      <a:pt x="318" y="726"/>
                      <a:pt x="319" y="725"/>
                      <a:pt x="320" y="725"/>
                    </a:cubicBezTo>
                    <a:cubicBezTo>
                      <a:pt x="337" y="707"/>
                      <a:pt x="337" y="707"/>
                      <a:pt x="337" y="707"/>
                    </a:cubicBezTo>
                    <a:cubicBezTo>
                      <a:pt x="340" y="704"/>
                      <a:pt x="345" y="702"/>
                      <a:pt x="349" y="702"/>
                    </a:cubicBezTo>
                    <a:cubicBezTo>
                      <a:pt x="353" y="702"/>
                      <a:pt x="356" y="703"/>
                      <a:pt x="358" y="704"/>
                    </a:cubicBezTo>
                    <a:cubicBezTo>
                      <a:pt x="358" y="704"/>
                      <a:pt x="358" y="704"/>
                      <a:pt x="358" y="704"/>
                    </a:cubicBezTo>
                    <a:cubicBezTo>
                      <a:pt x="416" y="739"/>
                      <a:pt x="416" y="739"/>
                      <a:pt x="416" y="739"/>
                    </a:cubicBezTo>
                    <a:cubicBezTo>
                      <a:pt x="421" y="741"/>
                      <a:pt x="423" y="745"/>
                      <a:pt x="424" y="749"/>
                    </a:cubicBezTo>
                    <a:cubicBezTo>
                      <a:pt x="424" y="753"/>
                      <a:pt x="423" y="757"/>
                      <a:pt x="420" y="761"/>
                    </a:cubicBezTo>
                    <a:close/>
                    <a:moveTo>
                      <a:pt x="817" y="378"/>
                    </a:moveTo>
                    <a:cubicBezTo>
                      <a:pt x="817" y="388"/>
                      <a:pt x="809" y="396"/>
                      <a:pt x="799" y="396"/>
                    </a:cubicBezTo>
                    <a:cubicBezTo>
                      <a:pt x="789" y="396"/>
                      <a:pt x="781" y="388"/>
                      <a:pt x="781" y="378"/>
                    </a:cubicBezTo>
                    <a:cubicBezTo>
                      <a:pt x="781" y="368"/>
                      <a:pt x="789" y="360"/>
                      <a:pt x="799" y="360"/>
                    </a:cubicBezTo>
                    <a:cubicBezTo>
                      <a:pt x="809" y="360"/>
                      <a:pt x="817" y="368"/>
                      <a:pt x="817" y="378"/>
                    </a:cubicBezTo>
                    <a:close/>
                    <a:moveTo>
                      <a:pt x="872" y="102"/>
                    </a:moveTo>
                    <a:cubicBezTo>
                      <a:pt x="872" y="330"/>
                      <a:pt x="872" y="330"/>
                      <a:pt x="872" y="330"/>
                    </a:cubicBezTo>
                    <a:cubicBezTo>
                      <a:pt x="872" y="333"/>
                      <a:pt x="870" y="335"/>
                      <a:pt x="867" y="335"/>
                    </a:cubicBezTo>
                    <a:cubicBezTo>
                      <a:pt x="733" y="335"/>
                      <a:pt x="733" y="335"/>
                      <a:pt x="733" y="335"/>
                    </a:cubicBezTo>
                    <a:cubicBezTo>
                      <a:pt x="730" y="335"/>
                      <a:pt x="727" y="333"/>
                      <a:pt x="727" y="330"/>
                    </a:cubicBezTo>
                    <a:cubicBezTo>
                      <a:pt x="727" y="102"/>
                      <a:pt x="727" y="102"/>
                      <a:pt x="727" y="102"/>
                    </a:cubicBezTo>
                    <a:cubicBezTo>
                      <a:pt x="727" y="99"/>
                      <a:pt x="730" y="96"/>
                      <a:pt x="733" y="96"/>
                    </a:cubicBezTo>
                    <a:cubicBezTo>
                      <a:pt x="867" y="96"/>
                      <a:pt x="867" y="96"/>
                      <a:pt x="867" y="96"/>
                    </a:cubicBezTo>
                    <a:cubicBezTo>
                      <a:pt x="870" y="96"/>
                      <a:pt x="872" y="99"/>
                      <a:pt x="872" y="102"/>
                    </a:cubicBezTo>
                    <a:close/>
                    <a:moveTo>
                      <a:pt x="974" y="72"/>
                    </a:moveTo>
                    <a:cubicBezTo>
                      <a:pt x="926" y="24"/>
                      <a:pt x="863" y="0"/>
                      <a:pt x="799" y="0"/>
                    </a:cubicBezTo>
                    <a:cubicBezTo>
                      <a:pt x="736" y="0"/>
                      <a:pt x="673" y="24"/>
                      <a:pt x="625" y="72"/>
                    </a:cubicBezTo>
                    <a:cubicBezTo>
                      <a:pt x="528" y="169"/>
                      <a:pt x="528" y="325"/>
                      <a:pt x="625" y="422"/>
                    </a:cubicBezTo>
                    <a:cubicBezTo>
                      <a:pt x="673" y="470"/>
                      <a:pt x="736" y="495"/>
                      <a:pt x="799" y="495"/>
                    </a:cubicBezTo>
                    <a:cubicBezTo>
                      <a:pt x="863" y="495"/>
                      <a:pt x="926" y="470"/>
                      <a:pt x="974" y="422"/>
                    </a:cubicBezTo>
                    <a:cubicBezTo>
                      <a:pt x="1071" y="325"/>
                      <a:pt x="1071" y="169"/>
                      <a:pt x="974" y="72"/>
                    </a:cubicBezTo>
                    <a:close/>
                    <a:moveTo>
                      <a:pt x="895" y="408"/>
                    </a:moveTo>
                    <a:cubicBezTo>
                      <a:pt x="895" y="415"/>
                      <a:pt x="890" y="421"/>
                      <a:pt x="883" y="421"/>
                    </a:cubicBezTo>
                    <a:cubicBezTo>
                      <a:pt x="715" y="421"/>
                      <a:pt x="715" y="421"/>
                      <a:pt x="715" y="421"/>
                    </a:cubicBezTo>
                    <a:cubicBezTo>
                      <a:pt x="708" y="421"/>
                      <a:pt x="702" y="415"/>
                      <a:pt x="702" y="408"/>
                    </a:cubicBezTo>
                    <a:cubicBezTo>
                      <a:pt x="702" y="84"/>
                      <a:pt x="702" y="84"/>
                      <a:pt x="702" y="84"/>
                    </a:cubicBezTo>
                    <a:cubicBezTo>
                      <a:pt x="702" y="77"/>
                      <a:pt x="708" y="72"/>
                      <a:pt x="715" y="72"/>
                    </a:cubicBezTo>
                    <a:cubicBezTo>
                      <a:pt x="883" y="72"/>
                      <a:pt x="883" y="72"/>
                      <a:pt x="883" y="72"/>
                    </a:cubicBezTo>
                    <a:cubicBezTo>
                      <a:pt x="890" y="72"/>
                      <a:pt x="895" y="77"/>
                      <a:pt x="895" y="84"/>
                    </a:cubicBezTo>
                    <a:lnTo>
                      <a:pt x="895" y="408"/>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Trebuchet MS" panose="020B0603020202020204" pitchFamily="34" charset="0"/>
                  <a:sym typeface="Trebuchet MS" panose="020B0603020202020204" pitchFamily="34" charset="0"/>
                </a:endParaRPr>
              </a:p>
            </p:txBody>
          </p:sp>
        </p:grpSp>
      </p:grpSp>
      <p:grpSp>
        <p:nvGrpSpPr>
          <p:cNvPr id="189" name="Group 188"/>
          <p:cNvGrpSpPr/>
          <p:nvPr/>
        </p:nvGrpSpPr>
        <p:grpSpPr>
          <a:xfrm>
            <a:off x="1320489" y="4933830"/>
            <a:ext cx="517666" cy="517666"/>
            <a:chOff x="1129989" y="4944179"/>
            <a:chExt cx="517666" cy="517666"/>
          </a:xfrm>
        </p:grpSpPr>
        <p:sp>
          <p:nvSpPr>
            <p:cNvPr id="265" name="Oval 264"/>
            <p:cNvSpPr/>
            <p:nvPr/>
          </p:nvSpPr>
          <p:spPr>
            <a:xfrm>
              <a:off x="1129989" y="4944179"/>
              <a:ext cx="517666" cy="517666"/>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pPr>
              <a:endParaRPr lang="en-US" kern="0">
                <a:solidFill>
                  <a:schemeClr val="bg1">
                    <a:lumMod val="50000"/>
                  </a:schemeClr>
                </a:solidFill>
                <a:latin typeface="Trebuchet MS" panose="020B0603020202020204" pitchFamily="34" charset="0"/>
                <a:sym typeface="Trebuchet MS" panose="020B0603020202020204" pitchFamily="34" charset="0"/>
              </a:endParaRPr>
            </a:p>
          </p:txBody>
        </p:sp>
        <p:grpSp>
          <p:nvGrpSpPr>
            <p:cNvPr id="266" name="Group 265"/>
            <p:cNvGrpSpPr/>
            <p:nvPr/>
          </p:nvGrpSpPr>
          <p:grpSpPr>
            <a:xfrm>
              <a:off x="1185076" y="4999077"/>
              <a:ext cx="407492" cy="407870"/>
              <a:chOff x="5273803" y="2606040"/>
              <a:chExt cx="1644395" cy="1645920"/>
            </a:xfrm>
          </p:grpSpPr>
          <p:sp>
            <p:nvSpPr>
              <p:cNvPr id="267" name="AutoShape 34"/>
              <p:cNvSpPr>
                <a:spLocks noChangeAspect="1" noChangeArrowheads="1" noTextEdit="1"/>
              </p:cNvSpPr>
              <p:nvPr/>
            </p:nvSpPr>
            <p:spPr bwMode="auto">
              <a:xfrm>
                <a:off x="5273803" y="2606040"/>
                <a:ext cx="1644395" cy="1645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Trebuchet MS" panose="020B0603020202020204" pitchFamily="34" charset="0"/>
                  <a:sym typeface="Trebuchet MS" panose="020B0603020202020204" pitchFamily="34" charset="0"/>
                </a:endParaRPr>
              </a:p>
            </p:txBody>
          </p:sp>
          <p:grpSp>
            <p:nvGrpSpPr>
              <p:cNvPr id="268" name="Group 267"/>
              <p:cNvGrpSpPr/>
              <p:nvPr/>
            </p:nvGrpSpPr>
            <p:grpSpPr>
              <a:xfrm>
                <a:off x="5539360" y="2975229"/>
                <a:ext cx="1131950" cy="1032510"/>
                <a:chOff x="5539360" y="2975229"/>
                <a:chExt cx="1131950" cy="1032510"/>
              </a:xfrm>
            </p:grpSpPr>
            <p:sp>
              <p:nvSpPr>
                <p:cNvPr id="269" name="Freeform 36"/>
                <p:cNvSpPr>
                  <a:spLocks/>
                </p:cNvSpPr>
                <p:nvPr/>
              </p:nvSpPr>
              <p:spPr bwMode="auto">
                <a:xfrm>
                  <a:off x="5941696" y="2975229"/>
                  <a:ext cx="618363" cy="647319"/>
                </a:xfrm>
                <a:custGeom>
                  <a:avLst/>
                  <a:gdLst>
                    <a:gd name="T0" fmla="*/ 14 w 866"/>
                    <a:gd name="T1" fmla="*/ 643 h 906"/>
                    <a:gd name="T2" fmla="*/ 439 w 866"/>
                    <a:gd name="T3" fmla="*/ 665 h 906"/>
                    <a:gd name="T4" fmla="*/ 586 w 866"/>
                    <a:gd name="T5" fmla="*/ 820 h 906"/>
                    <a:gd name="T6" fmla="*/ 560 w 866"/>
                    <a:gd name="T7" fmla="*/ 906 h 906"/>
                    <a:gd name="T8" fmla="*/ 635 w 866"/>
                    <a:gd name="T9" fmla="*/ 885 h 906"/>
                    <a:gd name="T10" fmla="*/ 768 w 866"/>
                    <a:gd name="T11" fmla="*/ 735 h 906"/>
                    <a:gd name="T12" fmla="*/ 866 w 866"/>
                    <a:gd name="T13" fmla="*/ 682 h 906"/>
                    <a:gd name="T14" fmla="*/ 866 w 866"/>
                    <a:gd name="T15" fmla="*/ 22 h 906"/>
                    <a:gd name="T16" fmla="*/ 844 w 866"/>
                    <a:gd name="T17" fmla="*/ 0 h 906"/>
                    <a:gd name="T18" fmla="*/ 22 w 866"/>
                    <a:gd name="T19" fmla="*/ 0 h 906"/>
                    <a:gd name="T20" fmla="*/ 0 w 866"/>
                    <a:gd name="T21" fmla="*/ 22 h 906"/>
                    <a:gd name="T22" fmla="*/ 0 w 866"/>
                    <a:gd name="T23" fmla="*/ 643 h 906"/>
                    <a:gd name="T24" fmla="*/ 14 w 866"/>
                    <a:gd name="T25" fmla="*/ 643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66" h="906">
                      <a:moveTo>
                        <a:pt x="14" y="643"/>
                      </a:moveTo>
                      <a:cubicBezTo>
                        <a:pt x="439" y="665"/>
                        <a:pt x="439" y="665"/>
                        <a:pt x="439" y="665"/>
                      </a:cubicBezTo>
                      <a:cubicBezTo>
                        <a:pt x="521" y="670"/>
                        <a:pt x="586" y="737"/>
                        <a:pt x="586" y="820"/>
                      </a:cubicBezTo>
                      <a:cubicBezTo>
                        <a:pt x="586" y="852"/>
                        <a:pt x="576" y="881"/>
                        <a:pt x="560" y="906"/>
                      </a:cubicBezTo>
                      <a:cubicBezTo>
                        <a:pt x="635" y="885"/>
                        <a:pt x="635" y="885"/>
                        <a:pt x="635" y="885"/>
                      </a:cubicBezTo>
                      <a:cubicBezTo>
                        <a:pt x="768" y="735"/>
                        <a:pt x="768" y="735"/>
                        <a:pt x="768" y="735"/>
                      </a:cubicBezTo>
                      <a:cubicBezTo>
                        <a:pt x="794" y="706"/>
                        <a:pt x="829" y="687"/>
                        <a:pt x="866" y="682"/>
                      </a:cubicBezTo>
                      <a:cubicBezTo>
                        <a:pt x="866" y="22"/>
                        <a:pt x="866" y="22"/>
                        <a:pt x="866" y="22"/>
                      </a:cubicBezTo>
                      <a:cubicBezTo>
                        <a:pt x="866" y="10"/>
                        <a:pt x="856" y="0"/>
                        <a:pt x="844" y="0"/>
                      </a:cubicBezTo>
                      <a:cubicBezTo>
                        <a:pt x="22" y="0"/>
                        <a:pt x="22" y="0"/>
                        <a:pt x="22" y="0"/>
                      </a:cubicBezTo>
                      <a:cubicBezTo>
                        <a:pt x="9" y="0"/>
                        <a:pt x="0" y="10"/>
                        <a:pt x="0" y="22"/>
                      </a:cubicBezTo>
                      <a:cubicBezTo>
                        <a:pt x="0" y="643"/>
                        <a:pt x="0" y="643"/>
                        <a:pt x="0" y="643"/>
                      </a:cubicBezTo>
                      <a:cubicBezTo>
                        <a:pt x="4" y="643"/>
                        <a:pt x="9" y="643"/>
                        <a:pt x="14" y="643"/>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Trebuchet MS" panose="020B0603020202020204" pitchFamily="34" charset="0"/>
                    <a:sym typeface="Trebuchet MS" panose="020B0603020202020204" pitchFamily="34" charset="0"/>
                  </a:endParaRPr>
                </a:p>
              </p:txBody>
            </p:sp>
            <p:sp>
              <p:nvSpPr>
                <p:cNvPr id="270" name="Freeform 37"/>
                <p:cNvSpPr>
                  <a:spLocks noEditPoints="1"/>
                </p:cNvSpPr>
                <p:nvPr/>
              </p:nvSpPr>
              <p:spPr bwMode="auto">
                <a:xfrm>
                  <a:off x="5539360" y="3464814"/>
                  <a:ext cx="1131950" cy="542925"/>
                </a:xfrm>
                <a:custGeom>
                  <a:avLst/>
                  <a:gdLst>
                    <a:gd name="T0" fmla="*/ 22 w 1586"/>
                    <a:gd name="T1" fmla="*/ 760 h 760"/>
                    <a:gd name="T2" fmla="*/ 10 w 1586"/>
                    <a:gd name="T3" fmla="*/ 756 h 760"/>
                    <a:gd name="T4" fmla="*/ 0 w 1586"/>
                    <a:gd name="T5" fmla="*/ 738 h 760"/>
                    <a:gd name="T6" fmla="*/ 0 w 1586"/>
                    <a:gd name="T7" fmla="*/ 295 h 760"/>
                    <a:gd name="T8" fmla="*/ 11 w 1586"/>
                    <a:gd name="T9" fmla="*/ 276 h 760"/>
                    <a:gd name="T10" fmla="*/ 434 w 1586"/>
                    <a:gd name="T11" fmla="*/ 36 h 760"/>
                    <a:gd name="T12" fmla="*/ 575 w 1586"/>
                    <a:gd name="T13" fmla="*/ 2 h 760"/>
                    <a:gd name="T14" fmla="*/ 1001 w 1586"/>
                    <a:gd name="T15" fmla="*/ 24 h 760"/>
                    <a:gd name="T16" fmla="*/ 1106 w 1586"/>
                    <a:gd name="T17" fmla="*/ 135 h 760"/>
                    <a:gd name="T18" fmla="*/ 1006 w 1586"/>
                    <a:gd name="T19" fmla="*/ 245 h 760"/>
                    <a:gd name="T20" fmla="*/ 874 w 1586"/>
                    <a:gd name="T21" fmla="*/ 258 h 760"/>
                    <a:gd name="T22" fmla="*/ 989 w 1586"/>
                    <a:gd name="T23" fmla="*/ 304 h 760"/>
                    <a:gd name="T24" fmla="*/ 1224 w 1586"/>
                    <a:gd name="T25" fmla="*/ 239 h 760"/>
                    <a:gd name="T26" fmla="*/ 1365 w 1586"/>
                    <a:gd name="T27" fmla="*/ 79 h 760"/>
                    <a:gd name="T28" fmla="*/ 1447 w 1586"/>
                    <a:gd name="T29" fmla="*/ 39 h 760"/>
                    <a:gd name="T30" fmla="*/ 1533 w 1586"/>
                    <a:gd name="T31" fmla="*/ 70 h 760"/>
                    <a:gd name="T32" fmla="*/ 1544 w 1586"/>
                    <a:gd name="T33" fmla="*/ 234 h 760"/>
                    <a:gd name="T34" fmla="*/ 1354 w 1586"/>
                    <a:gd name="T35" fmla="*/ 459 h 760"/>
                    <a:gd name="T36" fmla="*/ 1344 w 1586"/>
                    <a:gd name="T37" fmla="*/ 466 h 760"/>
                    <a:gd name="T38" fmla="*/ 988 w 1586"/>
                    <a:gd name="T39" fmla="*/ 577 h 760"/>
                    <a:gd name="T40" fmla="*/ 938 w 1586"/>
                    <a:gd name="T41" fmla="*/ 582 h 760"/>
                    <a:gd name="T42" fmla="*/ 583 w 1586"/>
                    <a:gd name="T43" fmla="*/ 557 h 760"/>
                    <a:gd name="T44" fmla="*/ 531 w 1586"/>
                    <a:gd name="T45" fmla="*/ 565 h 760"/>
                    <a:gd name="T46" fmla="*/ 30 w 1586"/>
                    <a:gd name="T47" fmla="*/ 759 h 760"/>
                    <a:gd name="T48" fmla="*/ 22 w 1586"/>
                    <a:gd name="T49" fmla="*/ 760 h 760"/>
                    <a:gd name="T50" fmla="*/ 44 w 1586"/>
                    <a:gd name="T51" fmla="*/ 308 h 760"/>
                    <a:gd name="T52" fmla="*/ 44 w 1586"/>
                    <a:gd name="T53" fmla="*/ 706 h 760"/>
                    <a:gd name="T54" fmla="*/ 515 w 1586"/>
                    <a:gd name="T55" fmla="*/ 524 h 760"/>
                    <a:gd name="T56" fmla="*/ 586 w 1586"/>
                    <a:gd name="T57" fmla="*/ 513 h 760"/>
                    <a:gd name="T58" fmla="*/ 941 w 1586"/>
                    <a:gd name="T59" fmla="*/ 539 h 760"/>
                    <a:gd name="T60" fmla="*/ 975 w 1586"/>
                    <a:gd name="T61" fmla="*/ 535 h 760"/>
                    <a:gd name="T62" fmla="*/ 1324 w 1586"/>
                    <a:gd name="T63" fmla="*/ 426 h 760"/>
                    <a:gd name="T64" fmla="*/ 1511 w 1586"/>
                    <a:gd name="T65" fmla="*/ 206 h 760"/>
                    <a:gd name="T66" fmla="*/ 1504 w 1586"/>
                    <a:gd name="T67" fmla="*/ 102 h 760"/>
                    <a:gd name="T68" fmla="*/ 1450 w 1586"/>
                    <a:gd name="T69" fmla="*/ 83 h 760"/>
                    <a:gd name="T70" fmla="*/ 1398 w 1586"/>
                    <a:gd name="T71" fmla="*/ 108 h 760"/>
                    <a:gd name="T72" fmla="*/ 1252 w 1586"/>
                    <a:gd name="T73" fmla="*/ 273 h 760"/>
                    <a:gd name="T74" fmla="*/ 1242 w 1586"/>
                    <a:gd name="T75" fmla="*/ 279 h 760"/>
                    <a:gd name="T76" fmla="*/ 994 w 1586"/>
                    <a:gd name="T77" fmla="*/ 349 h 760"/>
                    <a:gd name="T78" fmla="*/ 979 w 1586"/>
                    <a:gd name="T79" fmla="*/ 348 h 760"/>
                    <a:gd name="T80" fmla="*/ 774 w 1586"/>
                    <a:gd name="T81" fmla="*/ 265 h 760"/>
                    <a:gd name="T82" fmla="*/ 761 w 1586"/>
                    <a:gd name="T83" fmla="*/ 242 h 760"/>
                    <a:gd name="T84" fmla="*/ 780 w 1586"/>
                    <a:gd name="T85" fmla="*/ 223 h 760"/>
                    <a:gd name="T86" fmla="*/ 1001 w 1586"/>
                    <a:gd name="T87" fmla="*/ 201 h 760"/>
                    <a:gd name="T88" fmla="*/ 1062 w 1586"/>
                    <a:gd name="T89" fmla="*/ 135 h 760"/>
                    <a:gd name="T90" fmla="*/ 998 w 1586"/>
                    <a:gd name="T91" fmla="*/ 68 h 760"/>
                    <a:gd name="T92" fmla="*/ 573 w 1586"/>
                    <a:gd name="T93" fmla="*/ 46 h 760"/>
                    <a:gd name="T94" fmla="*/ 456 w 1586"/>
                    <a:gd name="T95" fmla="*/ 74 h 760"/>
                    <a:gd name="T96" fmla="*/ 44 w 1586"/>
                    <a:gd name="T97" fmla="*/ 308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86" h="760">
                      <a:moveTo>
                        <a:pt x="22" y="760"/>
                      </a:moveTo>
                      <a:cubicBezTo>
                        <a:pt x="18" y="760"/>
                        <a:pt x="14" y="759"/>
                        <a:pt x="10" y="756"/>
                      </a:cubicBezTo>
                      <a:cubicBezTo>
                        <a:pt x="4" y="752"/>
                        <a:pt x="0" y="745"/>
                        <a:pt x="0" y="738"/>
                      </a:cubicBezTo>
                      <a:cubicBezTo>
                        <a:pt x="0" y="295"/>
                        <a:pt x="0" y="295"/>
                        <a:pt x="0" y="295"/>
                      </a:cubicBezTo>
                      <a:cubicBezTo>
                        <a:pt x="0" y="287"/>
                        <a:pt x="5" y="280"/>
                        <a:pt x="11" y="276"/>
                      </a:cubicBezTo>
                      <a:cubicBezTo>
                        <a:pt x="434" y="36"/>
                        <a:pt x="434" y="36"/>
                        <a:pt x="434" y="36"/>
                      </a:cubicBezTo>
                      <a:cubicBezTo>
                        <a:pt x="477" y="11"/>
                        <a:pt x="526" y="0"/>
                        <a:pt x="575" y="2"/>
                      </a:cubicBezTo>
                      <a:cubicBezTo>
                        <a:pt x="1001" y="24"/>
                        <a:pt x="1001" y="24"/>
                        <a:pt x="1001" y="24"/>
                      </a:cubicBezTo>
                      <a:cubicBezTo>
                        <a:pt x="1060" y="27"/>
                        <a:pt x="1106" y="76"/>
                        <a:pt x="1106" y="135"/>
                      </a:cubicBezTo>
                      <a:cubicBezTo>
                        <a:pt x="1106" y="192"/>
                        <a:pt x="1063" y="239"/>
                        <a:pt x="1006" y="245"/>
                      </a:cubicBezTo>
                      <a:cubicBezTo>
                        <a:pt x="874" y="258"/>
                        <a:pt x="874" y="258"/>
                        <a:pt x="874" y="258"/>
                      </a:cubicBezTo>
                      <a:cubicBezTo>
                        <a:pt x="989" y="304"/>
                        <a:pt x="989" y="304"/>
                        <a:pt x="989" y="304"/>
                      </a:cubicBezTo>
                      <a:cubicBezTo>
                        <a:pt x="1224" y="239"/>
                        <a:pt x="1224" y="239"/>
                        <a:pt x="1224" y="239"/>
                      </a:cubicBezTo>
                      <a:cubicBezTo>
                        <a:pt x="1365" y="79"/>
                        <a:pt x="1365" y="79"/>
                        <a:pt x="1365" y="79"/>
                      </a:cubicBezTo>
                      <a:cubicBezTo>
                        <a:pt x="1386" y="55"/>
                        <a:pt x="1416" y="41"/>
                        <a:pt x="1447" y="39"/>
                      </a:cubicBezTo>
                      <a:cubicBezTo>
                        <a:pt x="1479" y="38"/>
                        <a:pt x="1510" y="48"/>
                        <a:pt x="1533" y="70"/>
                      </a:cubicBezTo>
                      <a:cubicBezTo>
                        <a:pt x="1581" y="113"/>
                        <a:pt x="1586" y="185"/>
                        <a:pt x="1544" y="234"/>
                      </a:cubicBezTo>
                      <a:cubicBezTo>
                        <a:pt x="1354" y="459"/>
                        <a:pt x="1354" y="459"/>
                        <a:pt x="1354" y="459"/>
                      </a:cubicBezTo>
                      <a:cubicBezTo>
                        <a:pt x="1351" y="462"/>
                        <a:pt x="1348" y="464"/>
                        <a:pt x="1344" y="466"/>
                      </a:cubicBezTo>
                      <a:cubicBezTo>
                        <a:pt x="988" y="577"/>
                        <a:pt x="988" y="577"/>
                        <a:pt x="988" y="577"/>
                      </a:cubicBezTo>
                      <a:cubicBezTo>
                        <a:pt x="972" y="582"/>
                        <a:pt x="955" y="584"/>
                        <a:pt x="938" y="582"/>
                      </a:cubicBezTo>
                      <a:cubicBezTo>
                        <a:pt x="583" y="557"/>
                        <a:pt x="583" y="557"/>
                        <a:pt x="583" y="557"/>
                      </a:cubicBezTo>
                      <a:cubicBezTo>
                        <a:pt x="566" y="556"/>
                        <a:pt x="548" y="558"/>
                        <a:pt x="531" y="565"/>
                      </a:cubicBezTo>
                      <a:cubicBezTo>
                        <a:pt x="30" y="759"/>
                        <a:pt x="30" y="759"/>
                        <a:pt x="30" y="759"/>
                      </a:cubicBezTo>
                      <a:cubicBezTo>
                        <a:pt x="28" y="760"/>
                        <a:pt x="25" y="760"/>
                        <a:pt x="22" y="760"/>
                      </a:cubicBezTo>
                      <a:close/>
                      <a:moveTo>
                        <a:pt x="44" y="308"/>
                      </a:moveTo>
                      <a:cubicBezTo>
                        <a:pt x="44" y="706"/>
                        <a:pt x="44" y="706"/>
                        <a:pt x="44" y="706"/>
                      </a:cubicBezTo>
                      <a:cubicBezTo>
                        <a:pt x="515" y="524"/>
                        <a:pt x="515" y="524"/>
                        <a:pt x="515" y="524"/>
                      </a:cubicBezTo>
                      <a:cubicBezTo>
                        <a:pt x="538" y="515"/>
                        <a:pt x="562" y="511"/>
                        <a:pt x="586" y="513"/>
                      </a:cubicBezTo>
                      <a:cubicBezTo>
                        <a:pt x="941" y="539"/>
                        <a:pt x="941" y="539"/>
                        <a:pt x="941" y="539"/>
                      </a:cubicBezTo>
                      <a:cubicBezTo>
                        <a:pt x="953" y="539"/>
                        <a:pt x="964" y="538"/>
                        <a:pt x="975" y="535"/>
                      </a:cubicBezTo>
                      <a:cubicBezTo>
                        <a:pt x="1324" y="426"/>
                        <a:pt x="1324" y="426"/>
                        <a:pt x="1324" y="426"/>
                      </a:cubicBezTo>
                      <a:cubicBezTo>
                        <a:pt x="1511" y="206"/>
                        <a:pt x="1511" y="206"/>
                        <a:pt x="1511" y="206"/>
                      </a:cubicBezTo>
                      <a:cubicBezTo>
                        <a:pt x="1537" y="175"/>
                        <a:pt x="1534" y="129"/>
                        <a:pt x="1504" y="102"/>
                      </a:cubicBezTo>
                      <a:cubicBezTo>
                        <a:pt x="1489" y="89"/>
                        <a:pt x="1470" y="82"/>
                        <a:pt x="1450" y="83"/>
                      </a:cubicBezTo>
                      <a:cubicBezTo>
                        <a:pt x="1430" y="84"/>
                        <a:pt x="1411" y="93"/>
                        <a:pt x="1398" y="108"/>
                      </a:cubicBezTo>
                      <a:cubicBezTo>
                        <a:pt x="1252" y="273"/>
                        <a:pt x="1252" y="273"/>
                        <a:pt x="1252" y="273"/>
                      </a:cubicBezTo>
                      <a:cubicBezTo>
                        <a:pt x="1249" y="276"/>
                        <a:pt x="1246" y="278"/>
                        <a:pt x="1242" y="279"/>
                      </a:cubicBezTo>
                      <a:cubicBezTo>
                        <a:pt x="994" y="349"/>
                        <a:pt x="994" y="349"/>
                        <a:pt x="994" y="349"/>
                      </a:cubicBezTo>
                      <a:cubicBezTo>
                        <a:pt x="989" y="350"/>
                        <a:pt x="984" y="350"/>
                        <a:pt x="979" y="348"/>
                      </a:cubicBezTo>
                      <a:cubicBezTo>
                        <a:pt x="774" y="265"/>
                        <a:pt x="774" y="265"/>
                        <a:pt x="774" y="265"/>
                      </a:cubicBezTo>
                      <a:cubicBezTo>
                        <a:pt x="765" y="261"/>
                        <a:pt x="759" y="252"/>
                        <a:pt x="761" y="242"/>
                      </a:cubicBezTo>
                      <a:cubicBezTo>
                        <a:pt x="762" y="232"/>
                        <a:pt x="770" y="224"/>
                        <a:pt x="780" y="223"/>
                      </a:cubicBezTo>
                      <a:cubicBezTo>
                        <a:pt x="1001" y="201"/>
                        <a:pt x="1001" y="201"/>
                        <a:pt x="1001" y="201"/>
                      </a:cubicBezTo>
                      <a:cubicBezTo>
                        <a:pt x="1036" y="198"/>
                        <a:pt x="1062" y="169"/>
                        <a:pt x="1062" y="135"/>
                      </a:cubicBezTo>
                      <a:cubicBezTo>
                        <a:pt x="1062" y="99"/>
                        <a:pt x="1034" y="70"/>
                        <a:pt x="998" y="68"/>
                      </a:cubicBezTo>
                      <a:cubicBezTo>
                        <a:pt x="573" y="46"/>
                        <a:pt x="573" y="46"/>
                        <a:pt x="573" y="46"/>
                      </a:cubicBezTo>
                      <a:cubicBezTo>
                        <a:pt x="532" y="44"/>
                        <a:pt x="491" y="54"/>
                        <a:pt x="456" y="74"/>
                      </a:cubicBezTo>
                      <a:lnTo>
                        <a:pt x="44" y="308"/>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Trebuchet MS" panose="020B0603020202020204" pitchFamily="34" charset="0"/>
                    <a:sym typeface="Trebuchet MS" panose="020B0603020202020204" pitchFamily="34" charset="0"/>
                  </a:endParaRPr>
                </a:p>
              </p:txBody>
            </p:sp>
          </p:grpSp>
        </p:grpSp>
      </p:grpSp>
      <p:grpSp>
        <p:nvGrpSpPr>
          <p:cNvPr id="190" name="Group 189"/>
          <p:cNvGrpSpPr/>
          <p:nvPr/>
        </p:nvGrpSpPr>
        <p:grpSpPr>
          <a:xfrm>
            <a:off x="1320489" y="5618582"/>
            <a:ext cx="517666" cy="517666"/>
            <a:chOff x="1129989" y="5899969"/>
            <a:chExt cx="517666" cy="517666"/>
          </a:xfrm>
        </p:grpSpPr>
        <p:sp>
          <p:nvSpPr>
            <p:cNvPr id="271" name="Oval 270"/>
            <p:cNvSpPr/>
            <p:nvPr/>
          </p:nvSpPr>
          <p:spPr>
            <a:xfrm>
              <a:off x="1129989" y="5899969"/>
              <a:ext cx="517666" cy="517666"/>
            </a:xfrm>
            <a:prstGeom prst="ellipse">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pPr>
              <a:endParaRPr lang="en-US" kern="0">
                <a:solidFill>
                  <a:schemeClr val="bg1">
                    <a:lumMod val="50000"/>
                  </a:schemeClr>
                </a:solidFill>
                <a:latin typeface="Trebuchet MS" panose="020B0603020202020204" pitchFamily="34" charset="0"/>
                <a:sym typeface="Trebuchet MS" panose="020B0603020202020204" pitchFamily="34" charset="0"/>
              </a:endParaRPr>
            </a:p>
          </p:txBody>
        </p:sp>
        <p:grpSp>
          <p:nvGrpSpPr>
            <p:cNvPr id="272" name="bcgIcons_HumanIntelligence">
              <a:extLst>
                <a:ext uri="{FF2B5EF4-FFF2-40B4-BE49-F238E27FC236}">
                  <a16:creationId xmlns:a16="http://schemas.microsoft.com/office/drawing/2014/main" id="{31BE6BCA-C59C-4BF2-A22A-22C37BA95EF5}"/>
                </a:ext>
              </a:extLst>
            </p:cNvPr>
            <p:cNvGrpSpPr>
              <a:grpSpLocks noChangeAspect="1"/>
            </p:cNvGrpSpPr>
            <p:nvPr/>
          </p:nvGrpSpPr>
          <p:grpSpPr bwMode="auto">
            <a:xfrm>
              <a:off x="1185076" y="5954867"/>
              <a:ext cx="407492" cy="407870"/>
              <a:chOff x="1682" y="0"/>
              <a:chExt cx="4316" cy="4320"/>
            </a:xfrm>
          </p:grpSpPr>
          <p:sp>
            <p:nvSpPr>
              <p:cNvPr id="273" name="AutoShape 35">
                <a:extLst>
                  <a:ext uri="{FF2B5EF4-FFF2-40B4-BE49-F238E27FC236}">
                    <a16:creationId xmlns:a16="http://schemas.microsoft.com/office/drawing/2014/main" id="{E46DB7E1-B357-409A-8969-2BE84D64C6C0}"/>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Trebuchet MS" panose="020B0603020202020204" pitchFamily="34" charset="0"/>
                  <a:sym typeface="Trebuchet MS" panose="020B0603020202020204" pitchFamily="34" charset="0"/>
                </a:endParaRPr>
              </a:p>
            </p:txBody>
          </p:sp>
          <p:sp>
            <p:nvSpPr>
              <p:cNvPr id="274" name="Freeform 37">
                <a:extLst>
                  <a:ext uri="{FF2B5EF4-FFF2-40B4-BE49-F238E27FC236}">
                    <a16:creationId xmlns:a16="http://schemas.microsoft.com/office/drawing/2014/main" id="{C3B4688D-6DA6-41E7-BB98-59486DE5EB83}"/>
                  </a:ext>
                </a:extLst>
              </p:cNvPr>
              <p:cNvSpPr>
                <a:spLocks noEditPoints="1"/>
              </p:cNvSpPr>
              <p:nvPr/>
            </p:nvSpPr>
            <p:spPr bwMode="auto">
              <a:xfrm>
                <a:off x="2819" y="613"/>
                <a:ext cx="2463" cy="2498"/>
              </a:xfrm>
              <a:custGeom>
                <a:avLst/>
                <a:gdLst>
                  <a:gd name="T0" fmla="*/ 1188 w 1315"/>
                  <a:gd name="T1" fmla="*/ 484 h 1332"/>
                  <a:gd name="T2" fmla="*/ 658 w 1315"/>
                  <a:gd name="T3" fmla="*/ 874 h 1332"/>
                  <a:gd name="T4" fmla="*/ 557 w 1315"/>
                  <a:gd name="T5" fmla="*/ 878 h 1332"/>
                  <a:gd name="T6" fmla="*/ 373 w 1315"/>
                  <a:gd name="T7" fmla="*/ 1066 h 1332"/>
                  <a:gd name="T8" fmla="*/ 374 w 1315"/>
                  <a:gd name="T9" fmla="*/ 1324 h 1332"/>
                  <a:gd name="T10" fmla="*/ 74 w 1315"/>
                  <a:gd name="T11" fmla="*/ 707 h 1332"/>
                  <a:gd name="T12" fmla="*/ 131 w 1315"/>
                  <a:gd name="T13" fmla="*/ 741 h 1332"/>
                  <a:gd name="T14" fmla="*/ 216 w 1315"/>
                  <a:gd name="T15" fmla="*/ 718 h 1332"/>
                  <a:gd name="T16" fmla="*/ 297 w 1315"/>
                  <a:gd name="T17" fmla="*/ 680 h 1332"/>
                  <a:gd name="T18" fmla="*/ 363 w 1315"/>
                  <a:gd name="T19" fmla="*/ 625 h 1332"/>
                  <a:gd name="T20" fmla="*/ 414 w 1315"/>
                  <a:gd name="T21" fmla="*/ 552 h 1332"/>
                  <a:gd name="T22" fmla="*/ 452 w 1315"/>
                  <a:gd name="T23" fmla="*/ 472 h 1332"/>
                  <a:gd name="T24" fmla="*/ 414 w 1315"/>
                  <a:gd name="T25" fmla="*/ 419 h 1332"/>
                  <a:gd name="T26" fmla="*/ 494 w 1315"/>
                  <a:gd name="T27" fmla="*/ 407 h 1332"/>
                  <a:gd name="T28" fmla="*/ 547 w 1315"/>
                  <a:gd name="T29" fmla="*/ 398 h 1332"/>
                  <a:gd name="T30" fmla="*/ 622 w 1315"/>
                  <a:gd name="T31" fmla="*/ 430 h 1332"/>
                  <a:gd name="T32" fmla="*/ 687 w 1315"/>
                  <a:gd name="T33" fmla="*/ 411 h 1332"/>
                  <a:gd name="T34" fmla="*/ 691 w 1315"/>
                  <a:gd name="T35" fmla="*/ 409 h 1332"/>
                  <a:gd name="T36" fmla="*/ 750 w 1315"/>
                  <a:gd name="T37" fmla="*/ 374 h 1332"/>
                  <a:gd name="T38" fmla="*/ 778 w 1315"/>
                  <a:gd name="T39" fmla="*/ 297 h 1332"/>
                  <a:gd name="T40" fmla="*/ 819 w 1315"/>
                  <a:gd name="T41" fmla="*/ 266 h 1332"/>
                  <a:gd name="T42" fmla="*/ 1278 w 1315"/>
                  <a:gd name="T43" fmla="*/ 288 h 1332"/>
                  <a:gd name="T44" fmla="*/ 786 w 1315"/>
                  <a:gd name="T45" fmla="*/ 171 h 1332"/>
                  <a:gd name="T46" fmla="*/ 748 w 1315"/>
                  <a:gd name="T47" fmla="*/ 261 h 1332"/>
                  <a:gd name="T48" fmla="*/ 706 w 1315"/>
                  <a:gd name="T49" fmla="*/ 350 h 1332"/>
                  <a:gd name="T50" fmla="*/ 634 w 1315"/>
                  <a:gd name="T51" fmla="*/ 382 h 1332"/>
                  <a:gd name="T52" fmla="*/ 541 w 1315"/>
                  <a:gd name="T53" fmla="*/ 351 h 1332"/>
                  <a:gd name="T54" fmla="*/ 449 w 1315"/>
                  <a:gd name="T55" fmla="*/ 318 h 1332"/>
                  <a:gd name="T56" fmla="*/ 442 w 1315"/>
                  <a:gd name="T57" fmla="*/ 258 h 1332"/>
                  <a:gd name="T58" fmla="*/ 403 w 1315"/>
                  <a:gd name="T59" fmla="*/ 209 h 1332"/>
                  <a:gd name="T60" fmla="*/ 445 w 1315"/>
                  <a:gd name="T61" fmla="*/ 116 h 1332"/>
                  <a:gd name="T62" fmla="*/ 483 w 1315"/>
                  <a:gd name="T63" fmla="*/ 33 h 1332"/>
                  <a:gd name="T64" fmla="*/ 558 w 1315"/>
                  <a:gd name="T65" fmla="*/ 0 h 1332"/>
                  <a:gd name="T66" fmla="*/ 644 w 1315"/>
                  <a:gd name="T67" fmla="*/ 30 h 1332"/>
                  <a:gd name="T68" fmla="*/ 738 w 1315"/>
                  <a:gd name="T69" fmla="*/ 62 h 1332"/>
                  <a:gd name="T70" fmla="*/ 749 w 1315"/>
                  <a:gd name="T71" fmla="*/ 124 h 1332"/>
                  <a:gd name="T72" fmla="*/ 786 w 1315"/>
                  <a:gd name="T73" fmla="*/ 171 h 1332"/>
                  <a:gd name="T74" fmla="*/ 672 w 1315"/>
                  <a:gd name="T75" fmla="*/ 157 h 1332"/>
                  <a:gd name="T76" fmla="*/ 518 w 1315"/>
                  <a:gd name="T77" fmla="*/ 225 h 1332"/>
                  <a:gd name="T78" fmla="*/ 176 w 1315"/>
                  <a:gd name="T79" fmla="*/ 365 h 1332"/>
                  <a:gd name="T80" fmla="*/ 0 w 1315"/>
                  <a:gd name="T81" fmla="*/ 365 h 1332"/>
                  <a:gd name="T82" fmla="*/ 176 w 1315"/>
                  <a:gd name="T83" fmla="*/ 365 h 1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15" h="1332">
                    <a:moveTo>
                      <a:pt x="1192" y="480"/>
                    </a:moveTo>
                    <a:cubicBezTo>
                      <a:pt x="1191" y="482"/>
                      <a:pt x="1190" y="483"/>
                      <a:pt x="1188" y="484"/>
                    </a:cubicBezTo>
                    <a:cubicBezTo>
                      <a:pt x="1149" y="497"/>
                      <a:pt x="936" y="471"/>
                      <a:pt x="793" y="575"/>
                    </a:cubicBezTo>
                    <a:cubicBezTo>
                      <a:pt x="716" y="630"/>
                      <a:pt x="658" y="720"/>
                      <a:pt x="658" y="874"/>
                    </a:cubicBezTo>
                    <a:cubicBezTo>
                      <a:pt x="658" y="895"/>
                      <a:pt x="581" y="885"/>
                      <a:pt x="562" y="883"/>
                    </a:cubicBezTo>
                    <a:cubicBezTo>
                      <a:pt x="560" y="882"/>
                      <a:pt x="558" y="881"/>
                      <a:pt x="557" y="878"/>
                    </a:cubicBezTo>
                    <a:cubicBezTo>
                      <a:pt x="553" y="846"/>
                      <a:pt x="517" y="642"/>
                      <a:pt x="374" y="718"/>
                    </a:cubicBezTo>
                    <a:cubicBezTo>
                      <a:pt x="238" y="787"/>
                      <a:pt x="364" y="1046"/>
                      <a:pt x="373" y="1066"/>
                    </a:cubicBezTo>
                    <a:cubicBezTo>
                      <a:pt x="374" y="1066"/>
                      <a:pt x="374" y="1067"/>
                      <a:pt x="374" y="1068"/>
                    </a:cubicBezTo>
                    <a:cubicBezTo>
                      <a:pt x="374" y="1324"/>
                      <a:pt x="374" y="1324"/>
                      <a:pt x="374" y="1324"/>
                    </a:cubicBezTo>
                    <a:cubicBezTo>
                      <a:pt x="374" y="1329"/>
                      <a:pt x="368" y="1332"/>
                      <a:pt x="365" y="1328"/>
                    </a:cubicBezTo>
                    <a:cubicBezTo>
                      <a:pt x="310" y="1278"/>
                      <a:pt x="39" y="1009"/>
                      <a:pt x="74" y="707"/>
                    </a:cubicBezTo>
                    <a:cubicBezTo>
                      <a:pt x="88" y="691"/>
                      <a:pt x="88" y="691"/>
                      <a:pt x="88" y="691"/>
                    </a:cubicBezTo>
                    <a:cubicBezTo>
                      <a:pt x="131" y="741"/>
                      <a:pt x="131" y="741"/>
                      <a:pt x="131" y="741"/>
                    </a:cubicBezTo>
                    <a:cubicBezTo>
                      <a:pt x="170" y="732"/>
                      <a:pt x="170" y="732"/>
                      <a:pt x="170" y="732"/>
                    </a:cubicBezTo>
                    <a:cubicBezTo>
                      <a:pt x="192" y="727"/>
                      <a:pt x="215" y="718"/>
                      <a:pt x="216" y="718"/>
                    </a:cubicBezTo>
                    <a:cubicBezTo>
                      <a:pt x="218" y="717"/>
                      <a:pt x="241" y="709"/>
                      <a:pt x="261" y="698"/>
                    </a:cubicBezTo>
                    <a:cubicBezTo>
                      <a:pt x="297" y="680"/>
                      <a:pt x="297" y="680"/>
                      <a:pt x="297" y="680"/>
                    </a:cubicBezTo>
                    <a:cubicBezTo>
                      <a:pt x="298" y="614"/>
                      <a:pt x="298" y="614"/>
                      <a:pt x="298" y="614"/>
                    </a:cubicBezTo>
                    <a:cubicBezTo>
                      <a:pt x="363" y="625"/>
                      <a:pt x="363" y="625"/>
                      <a:pt x="363" y="625"/>
                    </a:cubicBezTo>
                    <a:cubicBezTo>
                      <a:pt x="387" y="593"/>
                      <a:pt x="387" y="593"/>
                      <a:pt x="387" y="593"/>
                    </a:cubicBezTo>
                    <a:cubicBezTo>
                      <a:pt x="400" y="576"/>
                      <a:pt x="412" y="555"/>
                      <a:pt x="414" y="552"/>
                    </a:cubicBezTo>
                    <a:cubicBezTo>
                      <a:pt x="415" y="550"/>
                      <a:pt x="427" y="529"/>
                      <a:pt x="436" y="509"/>
                    </a:cubicBezTo>
                    <a:cubicBezTo>
                      <a:pt x="452" y="472"/>
                      <a:pt x="452" y="472"/>
                      <a:pt x="452" y="472"/>
                    </a:cubicBezTo>
                    <a:cubicBezTo>
                      <a:pt x="413" y="424"/>
                      <a:pt x="413" y="424"/>
                      <a:pt x="413" y="424"/>
                    </a:cubicBezTo>
                    <a:cubicBezTo>
                      <a:pt x="413" y="422"/>
                      <a:pt x="413" y="420"/>
                      <a:pt x="414" y="419"/>
                    </a:cubicBezTo>
                    <a:cubicBezTo>
                      <a:pt x="464" y="389"/>
                      <a:pt x="464" y="389"/>
                      <a:pt x="464" y="389"/>
                    </a:cubicBezTo>
                    <a:cubicBezTo>
                      <a:pt x="473" y="395"/>
                      <a:pt x="483" y="401"/>
                      <a:pt x="494" y="407"/>
                    </a:cubicBezTo>
                    <a:cubicBezTo>
                      <a:pt x="515" y="417"/>
                      <a:pt x="515" y="417"/>
                      <a:pt x="515" y="417"/>
                    </a:cubicBezTo>
                    <a:cubicBezTo>
                      <a:pt x="547" y="398"/>
                      <a:pt x="547" y="398"/>
                      <a:pt x="547" y="398"/>
                    </a:cubicBezTo>
                    <a:cubicBezTo>
                      <a:pt x="562" y="402"/>
                      <a:pt x="578" y="404"/>
                      <a:pt x="593" y="404"/>
                    </a:cubicBezTo>
                    <a:cubicBezTo>
                      <a:pt x="622" y="430"/>
                      <a:pt x="622" y="430"/>
                      <a:pt x="622" y="430"/>
                    </a:cubicBezTo>
                    <a:cubicBezTo>
                      <a:pt x="644" y="424"/>
                      <a:pt x="644" y="424"/>
                      <a:pt x="644" y="424"/>
                    </a:cubicBezTo>
                    <a:cubicBezTo>
                      <a:pt x="659" y="421"/>
                      <a:pt x="674" y="416"/>
                      <a:pt x="687" y="411"/>
                    </a:cubicBezTo>
                    <a:cubicBezTo>
                      <a:pt x="689" y="410"/>
                      <a:pt x="689" y="410"/>
                      <a:pt x="689" y="410"/>
                    </a:cubicBezTo>
                    <a:cubicBezTo>
                      <a:pt x="691" y="409"/>
                      <a:pt x="691" y="409"/>
                      <a:pt x="691" y="409"/>
                    </a:cubicBezTo>
                    <a:cubicBezTo>
                      <a:pt x="704" y="403"/>
                      <a:pt x="717" y="396"/>
                      <a:pt x="730" y="387"/>
                    </a:cubicBezTo>
                    <a:cubicBezTo>
                      <a:pt x="750" y="374"/>
                      <a:pt x="750" y="374"/>
                      <a:pt x="750" y="374"/>
                    </a:cubicBezTo>
                    <a:cubicBezTo>
                      <a:pt x="750" y="336"/>
                      <a:pt x="750" y="336"/>
                      <a:pt x="750" y="336"/>
                    </a:cubicBezTo>
                    <a:cubicBezTo>
                      <a:pt x="761" y="324"/>
                      <a:pt x="770" y="311"/>
                      <a:pt x="778" y="297"/>
                    </a:cubicBezTo>
                    <a:cubicBezTo>
                      <a:pt x="812" y="287"/>
                      <a:pt x="812" y="287"/>
                      <a:pt x="812" y="287"/>
                    </a:cubicBezTo>
                    <a:cubicBezTo>
                      <a:pt x="819" y="266"/>
                      <a:pt x="819" y="266"/>
                      <a:pt x="819" y="266"/>
                    </a:cubicBezTo>
                    <a:cubicBezTo>
                      <a:pt x="826" y="247"/>
                      <a:pt x="830" y="227"/>
                      <a:pt x="831" y="206"/>
                    </a:cubicBezTo>
                    <a:cubicBezTo>
                      <a:pt x="1027" y="228"/>
                      <a:pt x="990" y="293"/>
                      <a:pt x="1278" y="288"/>
                    </a:cubicBezTo>
                    <a:cubicBezTo>
                      <a:pt x="1315" y="288"/>
                      <a:pt x="1210" y="404"/>
                      <a:pt x="1192" y="480"/>
                    </a:cubicBezTo>
                    <a:close/>
                    <a:moveTo>
                      <a:pt x="786" y="171"/>
                    </a:moveTo>
                    <a:cubicBezTo>
                      <a:pt x="789" y="198"/>
                      <a:pt x="786" y="226"/>
                      <a:pt x="778" y="251"/>
                    </a:cubicBezTo>
                    <a:cubicBezTo>
                      <a:pt x="778" y="251"/>
                      <a:pt x="778" y="251"/>
                      <a:pt x="748" y="261"/>
                    </a:cubicBezTo>
                    <a:cubicBezTo>
                      <a:pt x="738" y="282"/>
                      <a:pt x="724" y="302"/>
                      <a:pt x="706" y="318"/>
                    </a:cubicBezTo>
                    <a:cubicBezTo>
                      <a:pt x="706" y="318"/>
                      <a:pt x="706" y="318"/>
                      <a:pt x="706" y="350"/>
                    </a:cubicBezTo>
                    <a:cubicBezTo>
                      <a:pt x="695" y="357"/>
                      <a:pt x="683" y="364"/>
                      <a:pt x="671" y="370"/>
                    </a:cubicBezTo>
                    <a:cubicBezTo>
                      <a:pt x="659" y="375"/>
                      <a:pt x="646" y="379"/>
                      <a:pt x="634" y="382"/>
                    </a:cubicBezTo>
                    <a:cubicBezTo>
                      <a:pt x="634" y="382"/>
                      <a:pt x="634" y="382"/>
                      <a:pt x="610" y="360"/>
                    </a:cubicBezTo>
                    <a:cubicBezTo>
                      <a:pt x="586" y="362"/>
                      <a:pt x="563" y="359"/>
                      <a:pt x="541" y="351"/>
                    </a:cubicBezTo>
                    <a:cubicBezTo>
                      <a:pt x="541" y="351"/>
                      <a:pt x="541" y="351"/>
                      <a:pt x="513" y="367"/>
                    </a:cubicBezTo>
                    <a:cubicBezTo>
                      <a:pt x="489" y="355"/>
                      <a:pt x="468" y="339"/>
                      <a:pt x="449" y="318"/>
                    </a:cubicBezTo>
                    <a:cubicBezTo>
                      <a:pt x="449" y="318"/>
                      <a:pt x="449" y="318"/>
                      <a:pt x="457" y="287"/>
                    </a:cubicBezTo>
                    <a:cubicBezTo>
                      <a:pt x="451" y="278"/>
                      <a:pt x="446" y="268"/>
                      <a:pt x="442" y="258"/>
                    </a:cubicBezTo>
                    <a:cubicBezTo>
                      <a:pt x="436" y="247"/>
                      <a:pt x="433" y="235"/>
                      <a:pt x="431" y="225"/>
                    </a:cubicBezTo>
                    <a:cubicBezTo>
                      <a:pt x="431" y="225"/>
                      <a:pt x="431" y="225"/>
                      <a:pt x="403" y="209"/>
                    </a:cubicBezTo>
                    <a:cubicBezTo>
                      <a:pt x="401" y="180"/>
                      <a:pt x="405" y="152"/>
                      <a:pt x="414" y="126"/>
                    </a:cubicBezTo>
                    <a:cubicBezTo>
                      <a:pt x="414" y="126"/>
                      <a:pt x="414" y="126"/>
                      <a:pt x="445" y="116"/>
                    </a:cubicBezTo>
                    <a:cubicBezTo>
                      <a:pt x="454" y="97"/>
                      <a:pt x="467" y="81"/>
                      <a:pt x="483" y="66"/>
                    </a:cubicBezTo>
                    <a:cubicBezTo>
                      <a:pt x="483" y="66"/>
                      <a:pt x="483" y="66"/>
                      <a:pt x="483" y="33"/>
                    </a:cubicBezTo>
                    <a:cubicBezTo>
                      <a:pt x="494" y="25"/>
                      <a:pt x="506" y="18"/>
                      <a:pt x="519" y="13"/>
                    </a:cubicBezTo>
                    <a:cubicBezTo>
                      <a:pt x="532" y="7"/>
                      <a:pt x="546" y="3"/>
                      <a:pt x="558" y="0"/>
                    </a:cubicBezTo>
                    <a:cubicBezTo>
                      <a:pt x="558" y="0"/>
                      <a:pt x="558" y="0"/>
                      <a:pt x="583" y="22"/>
                    </a:cubicBezTo>
                    <a:cubicBezTo>
                      <a:pt x="604" y="21"/>
                      <a:pt x="624" y="23"/>
                      <a:pt x="644" y="30"/>
                    </a:cubicBezTo>
                    <a:cubicBezTo>
                      <a:pt x="644" y="30"/>
                      <a:pt x="644" y="30"/>
                      <a:pt x="673" y="14"/>
                    </a:cubicBezTo>
                    <a:cubicBezTo>
                      <a:pt x="697" y="24"/>
                      <a:pt x="720" y="41"/>
                      <a:pt x="738" y="62"/>
                    </a:cubicBezTo>
                    <a:cubicBezTo>
                      <a:pt x="738" y="62"/>
                      <a:pt x="738" y="62"/>
                      <a:pt x="732" y="93"/>
                    </a:cubicBezTo>
                    <a:cubicBezTo>
                      <a:pt x="738" y="103"/>
                      <a:pt x="744" y="113"/>
                      <a:pt x="749" y="124"/>
                    </a:cubicBezTo>
                    <a:cubicBezTo>
                      <a:pt x="753" y="134"/>
                      <a:pt x="756" y="144"/>
                      <a:pt x="759" y="154"/>
                    </a:cubicBezTo>
                    <a:cubicBezTo>
                      <a:pt x="759" y="154"/>
                      <a:pt x="759" y="154"/>
                      <a:pt x="786" y="171"/>
                    </a:cubicBezTo>
                    <a:close/>
                    <a:moveTo>
                      <a:pt x="629" y="269"/>
                    </a:moveTo>
                    <a:cubicBezTo>
                      <a:pt x="671" y="251"/>
                      <a:pt x="691" y="200"/>
                      <a:pt x="672" y="157"/>
                    </a:cubicBezTo>
                    <a:cubicBezTo>
                      <a:pt x="654" y="114"/>
                      <a:pt x="604" y="95"/>
                      <a:pt x="561" y="113"/>
                    </a:cubicBezTo>
                    <a:cubicBezTo>
                      <a:pt x="519" y="132"/>
                      <a:pt x="499" y="181"/>
                      <a:pt x="518" y="225"/>
                    </a:cubicBezTo>
                    <a:cubicBezTo>
                      <a:pt x="536" y="268"/>
                      <a:pt x="586" y="288"/>
                      <a:pt x="629" y="269"/>
                    </a:cubicBezTo>
                    <a:close/>
                    <a:moveTo>
                      <a:pt x="176" y="365"/>
                    </a:moveTo>
                    <a:cubicBezTo>
                      <a:pt x="176" y="316"/>
                      <a:pt x="137" y="277"/>
                      <a:pt x="88" y="277"/>
                    </a:cubicBezTo>
                    <a:cubicBezTo>
                      <a:pt x="39" y="277"/>
                      <a:pt x="0" y="316"/>
                      <a:pt x="0" y="365"/>
                    </a:cubicBezTo>
                    <a:cubicBezTo>
                      <a:pt x="0" y="414"/>
                      <a:pt x="39" y="454"/>
                      <a:pt x="88" y="454"/>
                    </a:cubicBezTo>
                    <a:cubicBezTo>
                      <a:pt x="137" y="454"/>
                      <a:pt x="176" y="414"/>
                      <a:pt x="176" y="365"/>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Trebuchet MS" panose="020B0603020202020204" pitchFamily="34" charset="0"/>
                  <a:sym typeface="Trebuchet MS" panose="020B0603020202020204" pitchFamily="34" charset="0"/>
                </a:endParaRPr>
              </a:p>
            </p:txBody>
          </p:sp>
          <p:sp>
            <p:nvSpPr>
              <p:cNvPr id="275" name="Freeform 38">
                <a:extLst>
                  <a:ext uri="{FF2B5EF4-FFF2-40B4-BE49-F238E27FC236}">
                    <a16:creationId xmlns:a16="http://schemas.microsoft.com/office/drawing/2014/main" id="{E1BF43E1-C11B-44FE-AA15-F60D43F154CD}"/>
                  </a:ext>
                </a:extLst>
              </p:cNvPr>
              <p:cNvSpPr>
                <a:spLocks noEditPoints="1"/>
              </p:cNvSpPr>
              <p:nvPr/>
            </p:nvSpPr>
            <p:spPr bwMode="auto">
              <a:xfrm>
                <a:off x="2360" y="671"/>
                <a:ext cx="3014" cy="3199"/>
              </a:xfrm>
              <a:custGeom>
                <a:avLst/>
                <a:gdLst>
                  <a:gd name="T0" fmla="*/ 1458 w 1609"/>
                  <a:gd name="T1" fmla="*/ 1072 h 1706"/>
                  <a:gd name="T2" fmla="*/ 1428 w 1609"/>
                  <a:gd name="T3" fmla="*/ 1421 h 1706"/>
                  <a:gd name="T4" fmla="*/ 1124 w 1609"/>
                  <a:gd name="T5" fmla="*/ 1706 h 1706"/>
                  <a:gd name="T6" fmla="*/ 574 w 1609"/>
                  <a:gd name="T7" fmla="*/ 1592 h 1706"/>
                  <a:gd name="T8" fmla="*/ 579 w 1609"/>
                  <a:gd name="T9" fmla="*/ 1329 h 1706"/>
                  <a:gd name="T10" fmla="*/ 1102 w 1609"/>
                  <a:gd name="T11" fmla="*/ 1662 h 1706"/>
                  <a:gd name="T12" fmla="*/ 1127 w 1609"/>
                  <a:gd name="T13" fmla="*/ 1388 h 1706"/>
                  <a:gd name="T14" fmla="*/ 1424 w 1609"/>
                  <a:gd name="T15" fmla="*/ 1267 h 1706"/>
                  <a:gd name="T16" fmla="*/ 1436 w 1609"/>
                  <a:gd name="T17" fmla="*/ 1027 h 1706"/>
                  <a:gd name="T18" fmla="*/ 1492 w 1609"/>
                  <a:gd name="T19" fmla="*/ 910 h 1706"/>
                  <a:gd name="T20" fmla="*/ 1402 w 1609"/>
                  <a:gd name="T21" fmla="*/ 630 h 1706"/>
                  <a:gd name="T22" fmla="*/ 1444 w 1609"/>
                  <a:gd name="T23" fmla="*/ 616 h 1706"/>
                  <a:gd name="T24" fmla="*/ 1525 w 1609"/>
                  <a:gd name="T25" fmla="*/ 880 h 1706"/>
                  <a:gd name="T26" fmla="*/ 405 w 1609"/>
                  <a:gd name="T27" fmla="*/ 658 h 1706"/>
                  <a:gd name="T28" fmla="*/ 498 w 1609"/>
                  <a:gd name="T29" fmla="*/ 622 h 1706"/>
                  <a:gd name="T30" fmla="*/ 589 w 1609"/>
                  <a:gd name="T31" fmla="*/ 546 h 1706"/>
                  <a:gd name="T32" fmla="*/ 640 w 1609"/>
                  <a:gd name="T33" fmla="*/ 460 h 1706"/>
                  <a:gd name="T34" fmla="*/ 618 w 1609"/>
                  <a:gd name="T35" fmla="*/ 360 h 1706"/>
                  <a:gd name="T36" fmla="*/ 660 w 1609"/>
                  <a:gd name="T37" fmla="*/ 275 h 1706"/>
                  <a:gd name="T38" fmla="*/ 588 w 1609"/>
                  <a:gd name="T39" fmla="*/ 209 h 1706"/>
                  <a:gd name="T40" fmla="*/ 579 w 1609"/>
                  <a:gd name="T41" fmla="*/ 108 h 1706"/>
                  <a:gd name="T42" fmla="*/ 501 w 1609"/>
                  <a:gd name="T43" fmla="*/ 45 h 1706"/>
                  <a:gd name="T44" fmla="*/ 390 w 1609"/>
                  <a:gd name="T45" fmla="*/ 4 h 1706"/>
                  <a:gd name="T46" fmla="*/ 290 w 1609"/>
                  <a:gd name="T47" fmla="*/ 3 h 1706"/>
                  <a:gd name="T48" fmla="*/ 225 w 1609"/>
                  <a:gd name="T49" fmla="*/ 78 h 1706"/>
                  <a:gd name="T50" fmla="*/ 119 w 1609"/>
                  <a:gd name="T51" fmla="*/ 78 h 1706"/>
                  <a:gd name="T52" fmla="*/ 99 w 1609"/>
                  <a:gd name="T53" fmla="*/ 176 h 1706"/>
                  <a:gd name="T54" fmla="*/ 16 w 1609"/>
                  <a:gd name="T55" fmla="*/ 232 h 1706"/>
                  <a:gd name="T56" fmla="*/ 0 w 1609"/>
                  <a:gd name="T57" fmla="*/ 332 h 1706"/>
                  <a:gd name="T58" fmla="*/ 20 w 1609"/>
                  <a:gd name="T59" fmla="*/ 448 h 1706"/>
                  <a:gd name="T60" fmla="*/ 69 w 1609"/>
                  <a:gd name="T61" fmla="*/ 535 h 1706"/>
                  <a:gd name="T62" fmla="*/ 166 w 1609"/>
                  <a:gd name="T63" fmla="*/ 559 h 1706"/>
                  <a:gd name="T64" fmla="*/ 219 w 1609"/>
                  <a:gd name="T65" fmla="*/ 645 h 1706"/>
                  <a:gd name="T66" fmla="*/ 317 w 1609"/>
                  <a:gd name="T67" fmla="*/ 610 h 1706"/>
                  <a:gd name="T68" fmla="*/ 405 w 1609"/>
                  <a:gd name="T69" fmla="*/ 658 h 1706"/>
                  <a:gd name="T70" fmla="*/ 299 w 1609"/>
                  <a:gd name="T71" fmla="*/ 564 h 1706"/>
                  <a:gd name="T72" fmla="*/ 211 w 1609"/>
                  <a:gd name="T73" fmla="*/ 594 h 1706"/>
                  <a:gd name="T74" fmla="*/ 160 w 1609"/>
                  <a:gd name="T75" fmla="*/ 497 h 1706"/>
                  <a:gd name="T76" fmla="*/ 83 w 1609"/>
                  <a:gd name="T77" fmla="*/ 477 h 1706"/>
                  <a:gd name="T78" fmla="*/ 101 w 1609"/>
                  <a:gd name="T79" fmla="*/ 402 h 1706"/>
                  <a:gd name="T80" fmla="*/ 45 w 1609"/>
                  <a:gd name="T81" fmla="*/ 308 h 1706"/>
                  <a:gd name="T82" fmla="*/ 108 w 1609"/>
                  <a:gd name="T83" fmla="*/ 248 h 1706"/>
                  <a:gd name="T84" fmla="*/ 148 w 1609"/>
                  <a:gd name="T85" fmla="*/ 184 h 1706"/>
                  <a:gd name="T86" fmla="*/ 168 w 1609"/>
                  <a:gd name="T87" fmla="*/ 96 h 1706"/>
                  <a:gd name="T88" fmla="*/ 274 w 1609"/>
                  <a:gd name="T89" fmla="*/ 109 h 1706"/>
                  <a:gd name="T90" fmla="*/ 333 w 1609"/>
                  <a:gd name="T91" fmla="*/ 44 h 1706"/>
                  <a:gd name="T92" fmla="*/ 393 w 1609"/>
                  <a:gd name="T93" fmla="*/ 109 h 1706"/>
                  <a:gd name="T94" fmla="*/ 499 w 1609"/>
                  <a:gd name="T95" fmla="*/ 96 h 1706"/>
                  <a:gd name="T96" fmla="*/ 518 w 1609"/>
                  <a:gd name="T97" fmla="*/ 184 h 1706"/>
                  <a:gd name="T98" fmla="*/ 558 w 1609"/>
                  <a:gd name="T99" fmla="*/ 248 h 1706"/>
                  <a:gd name="T100" fmla="*/ 620 w 1609"/>
                  <a:gd name="T101" fmla="*/ 308 h 1706"/>
                  <a:gd name="T102" fmla="*/ 565 w 1609"/>
                  <a:gd name="T103" fmla="*/ 403 h 1706"/>
                  <a:gd name="T104" fmla="*/ 583 w 1609"/>
                  <a:gd name="T105" fmla="*/ 477 h 1706"/>
                  <a:gd name="T106" fmla="*/ 506 w 1609"/>
                  <a:gd name="T107" fmla="*/ 497 h 1706"/>
                  <a:gd name="T108" fmla="*/ 455 w 1609"/>
                  <a:gd name="T109" fmla="*/ 594 h 1706"/>
                  <a:gd name="T110" fmla="*/ 367 w 1609"/>
                  <a:gd name="T111" fmla="*/ 564 h 1706"/>
                  <a:gd name="T112" fmla="*/ 333 w 1609"/>
                  <a:gd name="T113" fmla="*/ 156 h 1706"/>
                  <a:gd name="T114" fmla="*/ 511 w 1609"/>
                  <a:gd name="T115" fmla="*/ 334 h 1706"/>
                  <a:gd name="T116" fmla="*/ 199 w 1609"/>
                  <a:gd name="T117" fmla="*/ 334 h 1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09" h="1706">
                    <a:moveTo>
                      <a:pt x="1599" y="1004"/>
                    </a:moveTo>
                    <a:cubicBezTo>
                      <a:pt x="1593" y="1021"/>
                      <a:pt x="1566" y="1072"/>
                      <a:pt x="1463" y="1072"/>
                    </a:cubicBezTo>
                    <a:cubicBezTo>
                      <a:pt x="1462" y="1072"/>
                      <a:pt x="1460" y="1072"/>
                      <a:pt x="1458" y="1072"/>
                    </a:cubicBezTo>
                    <a:cubicBezTo>
                      <a:pt x="1463" y="1117"/>
                      <a:pt x="1472" y="1211"/>
                      <a:pt x="1468" y="1269"/>
                    </a:cubicBezTo>
                    <a:cubicBezTo>
                      <a:pt x="1467" y="1280"/>
                      <a:pt x="1467" y="1280"/>
                      <a:pt x="1467" y="1280"/>
                    </a:cubicBezTo>
                    <a:cubicBezTo>
                      <a:pt x="1462" y="1361"/>
                      <a:pt x="1459" y="1405"/>
                      <a:pt x="1428" y="1421"/>
                    </a:cubicBezTo>
                    <a:cubicBezTo>
                      <a:pt x="1405" y="1434"/>
                      <a:pt x="1303" y="1453"/>
                      <a:pt x="1146" y="1435"/>
                    </a:cubicBezTo>
                    <a:cubicBezTo>
                      <a:pt x="1146" y="1684"/>
                      <a:pt x="1146" y="1684"/>
                      <a:pt x="1146" y="1684"/>
                    </a:cubicBezTo>
                    <a:cubicBezTo>
                      <a:pt x="1146" y="1696"/>
                      <a:pt x="1136" y="1706"/>
                      <a:pt x="1124" y="1706"/>
                    </a:cubicBezTo>
                    <a:cubicBezTo>
                      <a:pt x="1124" y="1706"/>
                      <a:pt x="1123" y="1706"/>
                      <a:pt x="1123" y="1706"/>
                    </a:cubicBezTo>
                    <a:cubicBezTo>
                      <a:pt x="1100" y="1706"/>
                      <a:pt x="812" y="1704"/>
                      <a:pt x="588" y="1612"/>
                    </a:cubicBezTo>
                    <a:cubicBezTo>
                      <a:pt x="580" y="1609"/>
                      <a:pt x="574" y="1601"/>
                      <a:pt x="574" y="1592"/>
                    </a:cubicBezTo>
                    <a:cubicBezTo>
                      <a:pt x="574" y="1326"/>
                      <a:pt x="574" y="1326"/>
                      <a:pt x="574" y="1326"/>
                    </a:cubicBezTo>
                    <a:cubicBezTo>
                      <a:pt x="574" y="1325"/>
                      <a:pt x="574" y="1325"/>
                      <a:pt x="574" y="1324"/>
                    </a:cubicBezTo>
                    <a:cubicBezTo>
                      <a:pt x="576" y="1326"/>
                      <a:pt x="578" y="1328"/>
                      <a:pt x="579" y="1329"/>
                    </a:cubicBezTo>
                    <a:cubicBezTo>
                      <a:pt x="585" y="1335"/>
                      <a:pt x="603" y="1349"/>
                      <a:pt x="618" y="1359"/>
                    </a:cubicBezTo>
                    <a:cubicBezTo>
                      <a:pt x="618" y="1577"/>
                      <a:pt x="618" y="1577"/>
                      <a:pt x="618" y="1577"/>
                    </a:cubicBezTo>
                    <a:cubicBezTo>
                      <a:pt x="801" y="1648"/>
                      <a:pt x="1031" y="1660"/>
                      <a:pt x="1102" y="1662"/>
                    </a:cubicBezTo>
                    <a:cubicBezTo>
                      <a:pt x="1102" y="1410"/>
                      <a:pt x="1102" y="1410"/>
                      <a:pt x="1102" y="1410"/>
                    </a:cubicBezTo>
                    <a:cubicBezTo>
                      <a:pt x="1102" y="1404"/>
                      <a:pt x="1105" y="1398"/>
                      <a:pt x="1109" y="1393"/>
                    </a:cubicBezTo>
                    <a:cubicBezTo>
                      <a:pt x="1114" y="1389"/>
                      <a:pt x="1120" y="1387"/>
                      <a:pt x="1127" y="1388"/>
                    </a:cubicBezTo>
                    <a:cubicBezTo>
                      <a:pt x="1290" y="1410"/>
                      <a:pt x="1393" y="1390"/>
                      <a:pt x="1408" y="1382"/>
                    </a:cubicBezTo>
                    <a:cubicBezTo>
                      <a:pt x="1417" y="1376"/>
                      <a:pt x="1420" y="1323"/>
                      <a:pt x="1423" y="1277"/>
                    </a:cubicBezTo>
                    <a:cubicBezTo>
                      <a:pt x="1424" y="1267"/>
                      <a:pt x="1424" y="1267"/>
                      <a:pt x="1424" y="1267"/>
                    </a:cubicBezTo>
                    <a:cubicBezTo>
                      <a:pt x="1429" y="1192"/>
                      <a:pt x="1412" y="1053"/>
                      <a:pt x="1412" y="1052"/>
                    </a:cubicBezTo>
                    <a:cubicBezTo>
                      <a:pt x="1411" y="1045"/>
                      <a:pt x="1413" y="1038"/>
                      <a:pt x="1418" y="1034"/>
                    </a:cubicBezTo>
                    <a:cubicBezTo>
                      <a:pt x="1423" y="1029"/>
                      <a:pt x="1429" y="1026"/>
                      <a:pt x="1436" y="1027"/>
                    </a:cubicBezTo>
                    <a:cubicBezTo>
                      <a:pt x="1512" y="1034"/>
                      <a:pt x="1548" y="1012"/>
                      <a:pt x="1557" y="991"/>
                    </a:cubicBezTo>
                    <a:cubicBezTo>
                      <a:pt x="1555" y="977"/>
                      <a:pt x="1521" y="941"/>
                      <a:pt x="1505" y="923"/>
                    </a:cubicBezTo>
                    <a:cubicBezTo>
                      <a:pt x="1501" y="919"/>
                      <a:pt x="1496" y="914"/>
                      <a:pt x="1492" y="910"/>
                    </a:cubicBezTo>
                    <a:cubicBezTo>
                      <a:pt x="1463" y="878"/>
                      <a:pt x="1439" y="820"/>
                      <a:pt x="1424" y="777"/>
                    </a:cubicBezTo>
                    <a:cubicBezTo>
                      <a:pt x="1418" y="760"/>
                      <a:pt x="1416" y="737"/>
                      <a:pt x="1414" y="709"/>
                    </a:cubicBezTo>
                    <a:cubicBezTo>
                      <a:pt x="1412" y="682"/>
                      <a:pt x="1409" y="652"/>
                      <a:pt x="1402" y="630"/>
                    </a:cubicBezTo>
                    <a:cubicBezTo>
                      <a:pt x="1389" y="591"/>
                      <a:pt x="1386" y="527"/>
                      <a:pt x="1386" y="502"/>
                    </a:cubicBezTo>
                    <a:cubicBezTo>
                      <a:pt x="1404" y="501"/>
                      <a:pt x="1418" y="500"/>
                      <a:pt x="1430" y="499"/>
                    </a:cubicBezTo>
                    <a:cubicBezTo>
                      <a:pt x="1430" y="520"/>
                      <a:pt x="1432" y="582"/>
                      <a:pt x="1444" y="616"/>
                    </a:cubicBezTo>
                    <a:cubicBezTo>
                      <a:pt x="1453" y="643"/>
                      <a:pt x="1455" y="676"/>
                      <a:pt x="1458" y="706"/>
                    </a:cubicBezTo>
                    <a:cubicBezTo>
                      <a:pt x="1460" y="728"/>
                      <a:pt x="1461" y="751"/>
                      <a:pt x="1466" y="763"/>
                    </a:cubicBezTo>
                    <a:cubicBezTo>
                      <a:pt x="1485" y="818"/>
                      <a:pt x="1506" y="859"/>
                      <a:pt x="1525" y="880"/>
                    </a:cubicBezTo>
                    <a:cubicBezTo>
                      <a:pt x="1529" y="884"/>
                      <a:pt x="1533" y="889"/>
                      <a:pt x="1537" y="893"/>
                    </a:cubicBezTo>
                    <a:cubicBezTo>
                      <a:pt x="1581" y="941"/>
                      <a:pt x="1609" y="974"/>
                      <a:pt x="1599" y="1004"/>
                    </a:cubicBezTo>
                    <a:close/>
                    <a:moveTo>
                      <a:pt x="405" y="658"/>
                    </a:moveTo>
                    <a:cubicBezTo>
                      <a:pt x="424" y="653"/>
                      <a:pt x="446" y="646"/>
                      <a:pt x="446" y="645"/>
                    </a:cubicBezTo>
                    <a:cubicBezTo>
                      <a:pt x="447" y="645"/>
                      <a:pt x="469" y="637"/>
                      <a:pt x="487" y="628"/>
                    </a:cubicBezTo>
                    <a:cubicBezTo>
                      <a:pt x="498" y="622"/>
                      <a:pt x="498" y="622"/>
                      <a:pt x="498" y="622"/>
                    </a:cubicBezTo>
                    <a:cubicBezTo>
                      <a:pt x="499" y="559"/>
                      <a:pt x="499" y="559"/>
                      <a:pt x="499" y="559"/>
                    </a:cubicBezTo>
                    <a:cubicBezTo>
                      <a:pt x="509" y="552"/>
                      <a:pt x="519" y="545"/>
                      <a:pt x="528" y="536"/>
                    </a:cubicBezTo>
                    <a:cubicBezTo>
                      <a:pt x="589" y="546"/>
                      <a:pt x="589" y="546"/>
                      <a:pt x="589" y="546"/>
                    </a:cubicBezTo>
                    <a:cubicBezTo>
                      <a:pt x="597" y="536"/>
                      <a:pt x="597" y="536"/>
                      <a:pt x="597" y="536"/>
                    </a:cubicBezTo>
                    <a:cubicBezTo>
                      <a:pt x="609" y="520"/>
                      <a:pt x="620" y="500"/>
                      <a:pt x="621" y="499"/>
                    </a:cubicBezTo>
                    <a:cubicBezTo>
                      <a:pt x="621" y="498"/>
                      <a:pt x="633" y="478"/>
                      <a:pt x="640" y="460"/>
                    </a:cubicBezTo>
                    <a:cubicBezTo>
                      <a:pt x="646" y="448"/>
                      <a:pt x="646" y="448"/>
                      <a:pt x="646" y="448"/>
                    </a:cubicBezTo>
                    <a:cubicBezTo>
                      <a:pt x="610" y="404"/>
                      <a:pt x="610" y="404"/>
                      <a:pt x="610" y="404"/>
                    </a:cubicBezTo>
                    <a:cubicBezTo>
                      <a:pt x="614" y="390"/>
                      <a:pt x="617" y="375"/>
                      <a:pt x="618" y="360"/>
                    </a:cubicBezTo>
                    <a:cubicBezTo>
                      <a:pt x="666" y="332"/>
                      <a:pt x="666" y="332"/>
                      <a:pt x="666" y="332"/>
                    </a:cubicBezTo>
                    <a:cubicBezTo>
                      <a:pt x="666" y="319"/>
                      <a:pt x="666" y="319"/>
                      <a:pt x="666" y="319"/>
                    </a:cubicBezTo>
                    <a:cubicBezTo>
                      <a:pt x="664" y="299"/>
                      <a:pt x="660" y="276"/>
                      <a:pt x="660" y="275"/>
                    </a:cubicBezTo>
                    <a:cubicBezTo>
                      <a:pt x="660" y="274"/>
                      <a:pt x="656" y="252"/>
                      <a:pt x="650" y="233"/>
                    </a:cubicBezTo>
                    <a:cubicBezTo>
                      <a:pt x="647" y="220"/>
                      <a:pt x="647" y="220"/>
                      <a:pt x="647" y="220"/>
                    </a:cubicBezTo>
                    <a:cubicBezTo>
                      <a:pt x="588" y="209"/>
                      <a:pt x="588" y="209"/>
                      <a:pt x="588" y="209"/>
                    </a:cubicBezTo>
                    <a:cubicBezTo>
                      <a:pt x="582" y="197"/>
                      <a:pt x="575" y="186"/>
                      <a:pt x="567" y="176"/>
                    </a:cubicBezTo>
                    <a:cubicBezTo>
                      <a:pt x="588" y="118"/>
                      <a:pt x="588" y="118"/>
                      <a:pt x="588" y="118"/>
                    </a:cubicBezTo>
                    <a:cubicBezTo>
                      <a:pt x="579" y="108"/>
                      <a:pt x="579" y="108"/>
                      <a:pt x="579" y="108"/>
                    </a:cubicBezTo>
                    <a:cubicBezTo>
                      <a:pt x="565" y="94"/>
                      <a:pt x="547" y="79"/>
                      <a:pt x="547" y="78"/>
                    </a:cubicBezTo>
                    <a:cubicBezTo>
                      <a:pt x="546" y="78"/>
                      <a:pt x="528" y="63"/>
                      <a:pt x="512" y="52"/>
                    </a:cubicBezTo>
                    <a:cubicBezTo>
                      <a:pt x="501" y="45"/>
                      <a:pt x="501" y="45"/>
                      <a:pt x="501" y="45"/>
                    </a:cubicBezTo>
                    <a:cubicBezTo>
                      <a:pt x="441" y="78"/>
                      <a:pt x="441" y="78"/>
                      <a:pt x="441" y="78"/>
                    </a:cubicBezTo>
                    <a:cubicBezTo>
                      <a:pt x="432" y="75"/>
                      <a:pt x="423" y="72"/>
                      <a:pt x="414" y="69"/>
                    </a:cubicBezTo>
                    <a:cubicBezTo>
                      <a:pt x="390" y="4"/>
                      <a:pt x="390" y="4"/>
                      <a:pt x="390" y="4"/>
                    </a:cubicBezTo>
                    <a:cubicBezTo>
                      <a:pt x="377" y="3"/>
                      <a:pt x="377" y="3"/>
                      <a:pt x="377" y="3"/>
                    </a:cubicBezTo>
                    <a:cubicBezTo>
                      <a:pt x="357" y="0"/>
                      <a:pt x="334" y="0"/>
                      <a:pt x="333" y="0"/>
                    </a:cubicBezTo>
                    <a:cubicBezTo>
                      <a:pt x="332" y="0"/>
                      <a:pt x="309" y="0"/>
                      <a:pt x="290" y="3"/>
                    </a:cubicBezTo>
                    <a:cubicBezTo>
                      <a:pt x="276" y="4"/>
                      <a:pt x="276" y="4"/>
                      <a:pt x="276" y="4"/>
                    </a:cubicBezTo>
                    <a:cubicBezTo>
                      <a:pt x="252" y="69"/>
                      <a:pt x="252" y="69"/>
                      <a:pt x="252" y="69"/>
                    </a:cubicBezTo>
                    <a:cubicBezTo>
                      <a:pt x="243" y="72"/>
                      <a:pt x="234" y="75"/>
                      <a:pt x="225" y="78"/>
                    </a:cubicBezTo>
                    <a:cubicBezTo>
                      <a:pt x="165" y="45"/>
                      <a:pt x="165" y="45"/>
                      <a:pt x="165" y="45"/>
                    </a:cubicBezTo>
                    <a:cubicBezTo>
                      <a:pt x="154" y="52"/>
                      <a:pt x="154" y="52"/>
                      <a:pt x="154" y="52"/>
                    </a:cubicBezTo>
                    <a:cubicBezTo>
                      <a:pt x="138" y="63"/>
                      <a:pt x="120" y="77"/>
                      <a:pt x="119" y="78"/>
                    </a:cubicBezTo>
                    <a:cubicBezTo>
                      <a:pt x="119" y="79"/>
                      <a:pt x="101" y="93"/>
                      <a:pt x="88" y="108"/>
                    </a:cubicBezTo>
                    <a:cubicBezTo>
                      <a:pt x="78" y="118"/>
                      <a:pt x="78" y="118"/>
                      <a:pt x="78" y="118"/>
                    </a:cubicBezTo>
                    <a:cubicBezTo>
                      <a:pt x="99" y="176"/>
                      <a:pt x="99" y="176"/>
                      <a:pt x="99" y="176"/>
                    </a:cubicBezTo>
                    <a:cubicBezTo>
                      <a:pt x="91" y="186"/>
                      <a:pt x="84" y="197"/>
                      <a:pt x="78" y="209"/>
                    </a:cubicBezTo>
                    <a:cubicBezTo>
                      <a:pt x="19" y="220"/>
                      <a:pt x="19" y="220"/>
                      <a:pt x="19" y="220"/>
                    </a:cubicBezTo>
                    <a:cubicBezTo>
                      <a:pt x="16" y="232"/>
                      <a:pt x="16" y="232"/>
                      <a:pt x="16" y="232"/>
                    </a:cubicBezTo>
                    <a:cubicBezTo>
                      <a:pt x="10" y="251"/>
                      <a:pt x="6" y="274"/>
                      <a:pt x="6" y="275"/>
                    </a:cubicBezTo>
                    <a:cubicBezTo>
                      <a:pt x="5" y="276"/>
                      <a:pt x="1" y="298"/>
                      <a:pt x="0" y="318"/>
                    </a:cubicBezTo>
                    <a:cubicBezTo>
                      <a:pt x="0" y="332"/>
                      <a:pt x="0" y="332"/>
                      <a:pt x="0" y="332"/>
                    </a:cubicBezTo>
                    <a:cubicBezTo>
                      <a:pt x="48" y="360"/>
                      <a:pt x="48" y="360"/>
                      <a:pt x="48" y="360"/>
                    </a:cubicBezTo>
                    <a:cubicBezTo>
                      <a:pt x="50" y="375"/>
                      <a:pt x="52" y="390"/>
                      <a:pt x="56" y="404"/>
                    </a:cubicBezTo>
                    <a:cubicBezTo>
                      <a:pt x="20" y="448"/>
                      <a:pt x="20" y="448"/>
                      <a:pt x="20" y="448"/>
                    </a:cubicBezTo>
                    <a:cubicBezTo>
                      <a:pt x="25" y="460"/>
                      <a:pt x="25" y="460"/>
                      <a:pt x="25" y="460"/>
                    </a:cubicBezTo>
                    <a:cubicBezTo>
                      <a:pt x="33" y="478"/>
                      <a:pt x="44" y="498"/>
                      <a:pt x="45" y="499"/>
                    </a:cubicBezTo>
                    <a:cubicBezTo>
                      <a:pt x="45" y="500"/>
                      <a:pt x="57" y="520"/>
                      <a:pt x="69" y="535"/>
                    </a:cubicBezTo>
                    <a:cubicBezTo>
                      <a:pt x="77" y="546"/>
                      <a:pt x="77" y="546"/>
                      <a:pt x="77" y="546"/>
                    </a:cubicBezTo>
                    <a:cubicBezTo>
                      <a:pt x="138" y="536"/>
                      <a:pt x="138" y="536"/>
                      <a:pt x="138" y="536"/>
                    </a:cubicBezTo>
                    <a:cubicBezTo>
                      <a:pt x="147" y="544"/>
                      <a:pt x="156" y="552"/>
                      <a:pt x="166" y="559"/>
                    </a:cubicBezTo>
                    <a:cubicBezTo>
                      <a:pt x="167" y="622"/>
                      <a:pt x="167" y="622"/>
                      <a:pt x="167" y="622"/>
                    </a:cubicBezTo>
                    <a:cubicBezTo>
                      <a:pt x="179" y="628"/>
                      <a:pt x="179" y="628"/>
                      <a:pt x="179" y="628"/>
                    </a:cubicBezTo>
                    <a:cubicBezTo>
                      <a:pt x="197" y="637"/>
                      <a:pt x="218" y="645"/>
                      <a:pt x="219" y="645"/>
                    </a:cubicBezTo>
                    <a:cubicBezTo>
                      <a:pt x="220" y="645"/>
                      <a:pt x="242" y="653"/>
                      <a:pt x="261" y="658"/>
                    </a:cubicBezTo>
                    <a:cubicBezTo>
                      <a:pt x="274" y="661"/>
                      <a:pt x="274" y="661"/>
                      <a:pt x="274" y="661"/>
                    </a:cubicBezTo>
                    <a:cubicBezTo>
                      <a:pt x="317" y="610"/>
                      <a:pt x="317" y="610"/>
                      <a:pt x="317" y="610"/>
                    </a:cubicBezTo>
                    <a:cubicBezTo>
                      <a:pt x="328" y="611"/>
                      <a:pt x="338" y="611"/>
                      <a:pt x="348" y="610"/>
                    </a:cubicBezTo>
                    <a:cubicBezTo>
                      <a:pt x="392" y="661"/>
                      <a:pt x="392" y="661"/>
                      <a:pt x="392" y="661"/>
                    </a:cubicBezTo>
                    <a:lnTo>
                      <a:pt x="405" y="658"/>
                    </a:lnTo>
                    <a:close/>
                    <a:moveTo>
                      <a:pt x="356" y="565"/>
                    </a:moveTo>
                    <a:cubicBezTo>
                      <a:pt x="340" y="567"/>
                      <a:pt x="325" y="567"/>
                      <a:pt x="310" y="565"/>
                    </a:cubicBezTo>
                    <a:cubicBezTo>
                      <a:pt x="299" y="564"/>
                      <a:pt x="299" y="564"/>
                      <a:pt x="299" y="564"/>
                    </a:cubicBezTo>
                    <a:cubicBezTo>
                      <a:pt x="258" y="612"/>
                      <a:pt x="258" y="612"/>
                      <a:pt x="258" y="612"/>
                    </a:cubicBezTo>
                    <a:cubicBezTo>
                      <a:pt x="245" y="608"/>
                      <a:pt x="234" y="604"/>
                      <a:pt x="234" y="604"/>
                    </a:cubicBezTo>
                    <a:cubicBezTo>
                      <a:pt x="234" y="604"/>
                      <a:pt x="223" y="600"/>
                      <a:pt x="211" y="594"/>
                    </a:cubicBezTo>
                    <a:cubicBezTo>
                      <a:pt x="210" y="535"/>
                      <a:pt x="210" y="535"/>
                      <a:pt x="210" y="535"/>
                    </a:cubicBezTo>
                    <a:cubicBezTo>
                      <a:pt x="200" y="528"/>
                      <a:pt x="200" y="528"/>
                      <a:pt x="200" y="528"/>
                    </a:cubicBezTo>
                    <a:cubicBezTo>
                      <a:pt x="186" y="519"/>
                      <a:pt x="172" y="509"/>
                      <a:pt x="160" y="497"/>
                    </a:cubicBezTo>
                    <a:cubicBezTo>
                      <a:pt x="152" y="489"/>
                      <a:pt x="152" y="489"/>
                      <a:pt x="152" y="489"/>
                    </a:cubicBezTo>
                    <a:cubicBezTo>
                      <a:pt x="96" y="498"/>
                      <a:pt x="96" y="498"/>
                      <a:pt x="96" y="498"/>
                    </a:cubicBezTo>
                    <a:cubicBezTo>
                      <a:pt x="89" y="487"/>
                      <a:pt x="83" y="477"/>
                      <a:pt x="83" y="477"/>
                    </a:cubicBezTo>
                    <a:cubicBezTo>
                      <a:pt x="83" y="477"/>
                      <a:pt x="77" y="466"/>
                      <a:pt x="71" y="455"/>
                    </a:cubicBezTo>
                    <a:cubicBezTo>
                      <a:pt x="105" y="413"/>
                      <a:pt x="105" y="413"/>
                      <a:pt x="105" y="413"/>
                    </a:cubicBezTo>
                    <a:cubicBezTo>
                      <a:pt x="101" y="402"/>
                      <a:pt x="101" y="402"/>
                      <a:pt x="101" y="402"/>
                    </a:cubicBezTo>
                    <a:cubicBezTo>
                      <a:pt x="96" y="384"/>
                      <a:pt x="92" y="365"/>
                      <a:pt x="91" y="346"/>
                    </a:cubicBezTo>
                    <a:cubicBezTo>
                      <a:pt x="91" y="334"/>
                      <a:pt x="91" y="334"/>
                      <a:pt x="91" y="334"/>
                    </a:cubicBezTo>
                    <a:cubicBezTo>
                      <a:pt x="45" y="308"/>
                      <a:pt x="45" y="308"/>
                      <a:pt x="45" y="308"/>
                    </a:cubicBezTo>
                    <a:cubicBezTo>
                      <a:pt x="47" y="294"/>
                      <a:pt x="49" y="283"/>
                      <a:pt x="49" y="283"/>
                    </a:cubicBezTo>
                    <a:cubicBezTo>
                      <a:pt x="49" y="282"/>
                      <a:pt x="51" y="271"/>
                      <a:pt x="54" y="258"/>
                    </a:cubicBezTo>
                    <a:cubicBezTo>
                      <a:pt x="108" y="248"/>
                      <a:pt x="108" y="248"/>
                      <a:pt x="108" y="248"/>
                    </a:cubicBezTo>
                    <a:cubicBezTo>
                      <a:pt x="113" y="238"/>
                      <a:pt x="113" y="238"/>
                      <a:pt x="113" y="238"/>
                    </a:cubicBezTo>
                    <a:cubicBezTo>
                      <a:pt x="120" y="222"/>
                      <a:pt x="130" y="207"/>
                      <a:pt x="141" y="193"/>
                    </a:cubicBezTo>
                    <a:cubicBezTo>
                      <a:pt x="148" y="184"/>
                      <a:pt x="148" y="184"/>
                      <a:pt x="148" y="184"/>
                    </a:cubicBezTo>
                    <a:cubicBezTo>
                      <a:pt x="129" y="129"/>
                      <a:pt x="129" y="129"/>
                      <a:pt x="129" y="129"/>
                    </a:cubicBezTo>
                    <a:cubicBezTo>
                      <a:pt x="138" y="120"/>
                      <a:pt x="148" y="112"/>
                      <a:pt x="148" y="112"/>
                    </a:cubicBezTo>
                    <a:cubicBezTo>
                      <a:pt x="148" y="112"/>
                      <a:pt x="157" y="104"/>
                      <a:pt x="168" y="96"/>
                    </a:cubicBezTo>
                    <a:cubicBezTo>
                      <a:pt x="223" y="127"/>
                      <a:pt x="223" y="127"/>
                      <a:pt x="223" y="127"/>
                    </a:cubicBezTo>
                    <a:cubicBezTo>
                      <a:pt x="233" y="123"/>
                      <a:pt x="233" y="123"/>
                      <a:pt x="233" y="123"/>
                    </a:cubicBezTo>
                    <a:cubicBezTo>
                      <a:pt x="246" y="117"/>
                      <a:pt x="260" y="112"/>
                      <a:pt x="274" y="109"/>
                    </a:cubicBezTo>
                    <a:cubicBezTo>
                      <a:pt x="285" y="106"/>
                      <a:pt x="285" y="106"/>
                      <a:pt x="285" y="106"/>
                    </a:cubicBezTo>
                    <a:cubicBezTo>
                      <a:pt x="308" y="45"/>
                      <a:pt x="308" y="45"/>
                      <a:pt x="308" y="45"/>
                    </a:cubicBezTo>
                    <a:cubicBezTo>
                      <a:pt x="321" y="44"/>
                      <a:pt x="333" y="44"/>
                      <a:pt x="333" y="44"/>
                    </a:cubicBezTo>
                    <a:cubicBezTo>
                      <a:pt x="333" y="44"/>
                      <a:pt x="345" y="44"/>
                      <a:pt x="358" y="45"/>
                    </a:cubicBezTo>
                    <a:cubicBezTo>
                      <a:pt x="381" y="106"/>
                      <a:pt x="381" y="106"/>
                      <a:pt x="381" y="106"/>
                    </a:cubicBezTo>
                    <a:cubicBezTo>
                      <a:pt x="393" y="109"/>
                      <a:pt x="393" y="109"/>
                      <a:pt x="393" y="109"/>
                    </a:cubicBezTo>
                    <a:cubicBezTo>
                      <a:pt x="407" y="112"/>
                      <a:pt x="420" y="117"/>
                      <a:pt x="434" y="123"/>
                    </a:cubicBezTo>
                    <a:cubicBezTo>
                      <a:pt x="444" y="127"/>
                      <a:pt x="444" y="127"/>
                      <a:pt x="444" y="127"/>
                    </a:cubicBezTo>
                    <a:cubicBezTo>
                      <a:pt x="499" y="96"/>
                      <a:pt x="499" y="96"/>
                      <a:pt x="499" y="96"/>
                    </a:cubicBezTo>
                    <a:cubicBezTo>
                      <a:pt x="509" y="104"/>
                      <a:pt x="518" y="112"/>
                      <a:pt x="518" y="112"/>
                    </a:cubicBezTo>
                    <a:cubicBezTo>
                      <a:pt x="519" y="112"/>
                      <a:pt x="528" y="120"/>
                      <a:pt x="537" y="129"/>
                    </a:cubicBezTo>
                    <a:cubicBezTo>
                      <a:pt x="518" y="184"/>
                      <a:pt x="518" y="184"/>
                      <a:pt x="518" y="184"/>
                    </a:cubicBezTo>
                    <a:cubicBezTo>
                      <a:pt x="526" y="193"/>
                      <a:pt x="526" y="193"/>
                      <a:pt x="526" y="193"/>
                    </a:cubicBezTo>
                    <a:cubicBezTo>
                      <a:pt x="537" y="207"/>
                      <a:pt x="546" y="222"/>
                      <a:pt x="554" y="238"/>
                    </a:cubicBezTo>
                    <a:cubicBezTo>
                      <a:pt x="558" y="248"/>
                      <a:pt x="558" y="248"/>
                      <a:pt x="558" y="248"/>
                    </a:cubicBezTo>
                    <a:cubicBezTo>
                      <a:pt x="612" y="258"/>
                      <a:pt x="612" y="258"/>
                      <a:pt x="612" y="258"/>
                    </a:cubicBezTo>
                    <a:cubicBezTo>
                      <a:pt x="615" y="271"/>
                      <a:pt x="617" y="283"/>
                      <a:pt x="617" y="283"/>
                    </a:cubicBezTo>
                    <a:cubicBezTo>
                      <a:pt x="617" y="283"/>
                      <a:pt x="619" y="295"/>
                      <a:pt x="620" y="308"/>
                    </a:cubicBezTo>
                    <a:cubicBezTo>
                      <a:pt x="576" y="334"/>
                      <a:pt x="576" y="334"/>
                      <a:pt x="576" y="334"/>
                    </a:cubicBezTo>
                    <a:cubicBezTo>
                      <a:pt x="575" y="346"/>
                      <a:pt x="575" y="346"/>
                      <a:pt x="575" y="346"/>
                    </a:cubicBezTo>
                    <a:cubicBezTo>
                      <a:pt x="574" y="365"/>
                      <a:pt x="570" y="384"/>
                      <a:pt x="565" y="403"/>
                    </a:cubicBezTo>
                    <a:cubicBezTo>
                      <a:pt x="561" y="414"/>
                      <a:pt x="561" y="414"/>
                      <a:pt x="561" y="414"/>
                    </a:cubicBezTo>
                    <a:cubicBezTo>
                      <a:pt x="594" y="455"/>
                      <a:pt x="594" y="455"/>
                      <a:pt x="594" y="455"/>
                    </a:cubicBezTo>
                    <a:cubicBezTo>
                      <a:pt x="589" y="467"/>
                      <a:pt x="583" y="477"/>
                      <a:pt x="583" y="477"/>
                    </a:cubicBezTo>
                    <a:cubicBezTo>
                      <a:pt x="583" y="477"/>
                      <a:pt x="577" y="488"/>
                      <a:pt x="569" y="499"/>
                    </a:cubicBezTo>
                    <a:cubicBezTo>
                      <a:pt x="514" y="489"/>
                      <a:pt x="514" y="489"/>
                      <a:pt x="514" y="489"/>
                    </a:cubicBezTo>
                    <a:cubicBezTo>
                      <a:pt x="506" y="497"/>
                      <a:pt x="506" y="497"/>
                      <a:pt x="506" y="497"/>
                    </a:cubicBezTo>
                    <a:cubicBezTo>
                      <a:pt x="494" y="509"/>
                      <a:pt x="480" y="519"/>
                      <a:pt x="466" y="529"/>
                    </a:cubicBezTo>
                    <a:cubicBezTo>
                      <a:pt x="455" y="535"/>
                      <a:pt x="455" y="535"/>
                      <a:pt x="455" y="535"/>
                    </a:cubicBezTo>
                    <a:cubicBezTo>
                      <a:pt x="455" y="594"/>
                      <a:pt x="455" y="594"/>
                      <a:pt x="455" y="594"/>
                    </a:cubicBezTo>
                    <a:cubicBezTo>
                      <a:pt x="443" y="600"/>
                      <a:pt x="432" y="604"/>
                      <a:pt x="431" y="604"/>
                    </a:cubicBezTo>
                    <a:cubicBezTo>
                      <a:pt x="431" y="604"/>
                      <a:pt x="420" y="608"/>
                      <a:pt x="407" y="612"/>
                    </a:cubicBezTo>
                    <a:cubicBezTo>
                      <a:pt x="367" y="564"/>
                      <a:pt x="367" y="564"/>
                      <a:pt x="367" y="564"/>
                    </a:cubicBezTo>
                    <a:lnTo>
                      <a:pt x="356" y="565"/>
                    </a:lnTo>
                    <a:close/>
                    <a:moveTo>
                      <a:pt x="511" y="334"/>
                    </a:moveTo>
                    <a:cubicBezTo>
                      <a:pt x="511" y="236"/>
                      <a:pt x="431" y="156"/>
                      <a:pt x="333" y="156"/>
                    </a:cubicBezTo>
                    <a:cubicBezTo>
                      <a:pt x="235" y="156"/>
                      <a:pt x="155" y="236"/>
                      <a:pt x="155" y="334"/>
                    </a:cubicBezTo>
                    <a:cubicBezTo>
                      <a:pt x="155" y="432"/>
                      <a:pt x="235" y="512"/>
                      <a:pt x="333" y="512"/>
                    </a:cubicBezTo>
                    <a:cubicBezTo>
                      <a:pt x="431" y="512"/>
                      <a:pt x="511" y="432"/>
                      <a:pt x="511" y="334"/>
                    </a:cubicBezTo>
                    <a:close/>
                    <a:moveTo>
                      <a:pt x="467" y="334"/>
                    </a:moveTo>
                    <a:cubicBezTo>
                      <a:pt x="467" y="408"/>
                      <a:pt x="407" y="468"/>
                      <a:pt x="333" y="468"/>
                    </a:cubicBezTo>
                    <a:cubicBezTo>
                      <a:pt x="259" y="468"/>
                      <a:pt x="199" y="408"/>
                      <a:pt x="199" y="334"/>
                    </a:cubicBezTo>
                    <a:cubicBezTo>
                      <a:pt x="199" y="260"/>
                      <a:pt x="259" y="200"/>
                      <a:pt x="333" y="200"/>
                    </a:cubicBezTo>
                    <a:cubicBezTo>
                      <a:pt x="407" y="200"/>
                      <a:pt x="467" y="260"/>
                      <a:pt x="467" y="3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Trebuchet MS" panose="020B0603020202020204" pitchFamily="34" charset="0"/>
                  <a:sym typeface="Trebuchet MS" panose="020B0603020202020204" pitchFamily="34" charset="0"/>
                </a:endParaRPr>
              </a:p>
            </p:txBody>
          </p:sp>
        </p:grpSp>
      </p:grpSp>
      <p:sp>
        <p:nvSpPr>
          <p:cNvPr id="76" name="ee4pFootnotes"/>
          <p:cNvSpPr>
            <a:spLocks noChangeArrowheads="1"/>
          </p:cNvSpPr>
          <p:nvPr/>
        </p:nvSpPr>
        <p:spPr bwMode="auto">
          <a:xfrm>
            <a:off x="630000" y="6452218"/>
            <a:ext cx="10933349" cy="107722"/>
          </a:xfrm>
          <a:prstGeom prst="rect">
            <a:avLst/>
          </a:prstGeom>
          <a:noFill/>
          <a:ln w="9525" algn="ctr">
            <a:noFill/>
            <a:miter lim="800000"/>
            <a:headEnd type="none" w="lg" len="lg"/>
            <a:tailEnd type="none" w="lg" len="lg"/>
          </a:ln>
        </p:spPr>
        <p:txBody>
          <a:bodyPr vert="horz" wrap="square" lIns="0" tIns="0" rIns="0" bIns="0" anchor="b" anchorCtr="0">
            <a:spAutoFit/>
          </a:bodyPr>
          <a:lstStyle/>
          <a:p>
            <a:r>
              <a:rPr lang="en-US" sz="700">
                <a:solidFill>
                  <a:srgbClr val="C8C8C8">
                    <a:lumMod val="100000"/>
                  </a:srgbClr>
                </a:solidFill>
                <a:latin typeface="Work Sans" panose="00000500000000000000" pitchFamily="2" charset="0"/>
                <a:cs typeface="Arial" pitchFamily="34" charset="0"/>
              </a:rPr>
              <a:t>Source: BCG</a:t>
            </a:r>
          </a:p>
        </p:txBody>
      </p:sp>
      <p:sp>
        <p:nvSpPr>
          <p:cNvPr id="71" name="NavigationTriangle">
            <a:extLst>
              <a:ext uri="{FF2B5EF4-FFF2-40B4-BE49-F238E27FC236}">
                <a16:creationId xmlns:a16="http://schemas.microsoft.com/office/drawing/2014/main" id="{2B5CD3EA-9CA4-493C-BA81-F691F2A8009E}"/>
              </a:ext>
            </a:extLst>
          </p:cNvPr>
          <p:cNvSpPr/>
          <p:nvPr/>
        </p:nvSpPr>
        <p:spPr>
          <a:xfrm rot="16200000">
            <a:off x="11116165" y="-21446"/>
            <a:ext cx="1054387" cy="1097280"/>
          </a:xfrm>
          <a:prstGeom prst="triangle">
            <a:avLst>
              <a:gd name="adj" fmla="val 100000"/>
            </a:avLst>
          </a:prstGeom>
          <a:solidFill>
            <a:srgbClr val="295E7E">
              <a:lumMod val="100000"/>
            </a:srgbClr>
          </a:solidFill>
          <a:ln w="9525" cap="rnd" cmpd="sng" algn="ctr">
            <a:noFill/>
            <a:prstDash val="sysDot"/>
            <a:roun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eaLnBrk="1" fontAlgn="auto" latinLnBrk="0" hangingPunct="1">
              <a:lnSpc>
                <a:spcPct val="90000"/>
              </a:lnSpc>
              <a:spcBef>
                <a:spcPts val="0"/>
              </a:spcBef>
              <a:spcAft>
                <a:spcPts val="1000"/>
              </a:spcAft>
              <a:buClrTx/>
              <a:buSzTx/>
              <a:buFontTx/>
              <a:buNone/>
              <a:tabLst/>
            </a:pPr>
            <a:endParaRPr kumimoji="0" lang="en-US" sz="1200" b="0" i="0" u="none" strike="noStrike" kern="0" cap="none" spc="0" normalizeH="0" baseline="0" noProof="0">
              <a:ln>
                <a:noFill/>
              </a:ln>
              <a:solidFill>
                <a:prstClr val="white"/>
              </a:solidFill>
              <a:effectLst/>
              <a:uLnTx/>
              <a:uFillTx/>
              <a:sym typeface="+mn-lt"/>
            </a:endParaRPr>
          </a:p>
        </p:txBody>
      </p:sp>
      <p:sp>
        <p:nvSpPr>
          <p:cNvPr id="73" name="NavigationIcon">
            <a:extLst>
              <a:ext uri="{FF2B5EF4-FFF2-40B4-BE49-F238E27FC236}">
                <a16:creationId xmlns:a16="http://schemas.microsoft.com/office/drawing/2014/main" id="{8AA43927-B5D3-4C30-B973-7EEC09CF2D1C}"/>
              </a:ext>
            </a:extLst>
          </p:cNvPr>
          <p:cNvSpPr>
            <a:spLocks noChangeAspect="1"/>
          </p:cNvSpPr>
          <p:nvPr/>
        </p:nvSpPr>
        <p:spPr bwMode="auto">
          <a:xfrm>
            <a:off x="11665767" y="132877"/>
            <a:ext cx="415314" cy="365760"/>
          </a:xfrm>
          <a:custGeom>
            <a:avLst/>
            <a:gdLst>
              <a:gd name="connsiteX0" fmla="*/ 536139 w 1216741"/>
              <a:gd name="connsiteY0" fmla="*/ 336550 h 1071563"/>
              <a:gd name="connsiteX1" fmla="*/ 662761 w 1216741"/>
              <a:gd name="connsiteY1" fmla="*/ 382252 h 1071563"/>
              <a:gd name="connsiteX2" fmla="*/ 584069 w 1216741"/>
              <a:gd name="connsiteY2" fmla="*/ 435809 h 1071563"/>
              <a:gd name="connsiteX3" fmla="*/ 536139 w 1216741"/>
              <a:gd name="connsiteY3" fmla="*/ 425097 h 1071563"/>
              <a:gd name="connsiteX4" fmla="*/ 425257 w 1216741"/>
              <a:gd name="connsiteY4" fmla="*/ 535782 h 1071563"/>
              <a:gd name="connsiteX5" fmla="*/ 536139 w 1216741"/>
              <a:gd name="connsiteY5" fmla="*/ 646466 h 1071563"/>
              <a:gd name="connsiteX6" fmla="*/ 646307 w 1216741"/>
              <a:gd name="connsiteY6" fmla="*/ 535782 h 1071563"/>
              <a:gd name="connsiteX7" fmla="*/ 646307 w 1216741"/>
              <a:gd name="connsiteY7" fmla="*/ 526498 h 1071563"/>
              <a:gd name="connsiteX8" fmla="*/ 724998 w 1216741"/>
              <a:gd name="connsiteY8" fmla="*/ 472227 h 1071563"/>
              <a:gd name="connsiteX9" fmla="*/ 735013 w 1216741"/>
              <a:gd name="connsiteY9" fmla="*/ 535782 h 1071563"/>
              <a:gd name="connsiteX10" fmla="*/ 536139 w 1216741"/>
              <a:gd name="connsiteY10" fmla="*/ 735013 h 1071563"/>
              <a:gd name="connsiteX11" fmla="*/ 336550 w 1216741"/>
              <a:gd name="connsiteY11" fmla="*/ 535782 h 1071563"/>
              <a:gd name="connsiteX12" fmla="*/ 536139 w 1216741"/>
              <a:gd name="connsiteY12" fmla="*/ 336550 h 1071563"/>
              <a:gd name="connsiteX13" fmla="*/ 536933 w 1216741"/>
              <a:gd name="connsiteY13" fmla="*/ 171450 h 1071563"/>
              <a:gd name="connsiteX14" fmla="*/ 802998 w 1216741"/>
              <a:gd name="connsiteY14" fmla="*/ 286240 h 1071563"/>
              <a:gd name="connsiteX15" fmla="*/ 728615 w 1216741"/>
              <a:gd name="connsiteY15" fmla="*/ 337574 h 1071563"/>
              <a:gd name="connsiteX16" fmla="*/ 536933 w 1216741"/>
              <a:gd name="connsiteY16" fmla="*/ 259859 h 1071563"/>
              <a:gd name="connsiteX17" fmla="*/ 260139 w 1216741"/>
              <a:gd name="connsiteY17" fmla="*/ 535782 h 1071563"/>
              <a:gd name="connsiteX18" fmla="*/ 536933 w 1216741"/>
              <a:gd name="connsiteY18" fmla="*/ 811704 h 1071563"/>
              <a:gd name="connsiteX19" fmla="*/ 813012 w 1216741"/>
              <a:gd name="connsiteY19" fmla="*/ 535782 h 1071563"/>
              <a:gd name="connsiteX20" fmla="*/ 790840 w 1216741"/>
              <a:gd name="connsiteY20" fmla="*/ 427409 h 1071563"/>
              <a:gd name="connsiteX21" fmla="*/ 865223 w 1216741"/>
              <a:gd name="connsiteY21" fmla="*/ 376788 h 1071563"/>
              <a:gd name="connsiteX22" fmla="*/ 901700 w 1216741"/>
              <a:gd name="connsiteY22" fmla="*/ 535782 h 1071563"/>
              <a:gd name="connsiteX23" fmla="*/ 536933 w 1216741"/>
              <a:gd name="connsiteY23" fmla="*/ 900113 h 1071563"/>
              <a:gd name="connsiteX24" fmla="*/ 171450 w 1216741"/>
              <a:gd name="connsiteY24" fmla="*/ 535782 h 1071563"/>
              <a:gd name="connsiteX25" fmla="*/ 536933 w 1216741"/>
              <a:gd name="connsiteY25" fmla="*/ 171450 h 1071563"/>
              <a:gd name="connsiteX26" fmla="*/ 1150106 w 1216741"/>
              <a:gd name="connsiteY26" fmla="*/ 160165 h 1071563"/>
              <a:gd name="connsiteX27" fmla="*/ 1151542 w 1216741"/>
              <a:gd name="connsiteY27" fmla="*/ 160165 h 1071563"/>
              <a:gd name="connsiteX28" fmla="*/ 1213303 w 1216741"/>
              <a:gd name="connsiteY28" fmla="*/ 165825 h 1071563"/>
              <a:gd name="connsiteX29" fmla="*/ 1214740 w 1216741"/>
              <a:gd name="connsiteY29" fmla="*/ 172192 h 1071563"/>
              <a:gd name="connsiteX30" fmla="*/ 1043819 w 1216741"/>
              <a:gd name="connsiteY30" fmla="*/ 288218 h 1071563"/>
              <a:gd name="connsiteX31" fmla="*/ 1039510 w 1216741"/>
              <a:gd name="connsiteY31" fmla="*/ 288925 h 1071563"/>
              <a:gd name="connsiteX32" fmla="*/ 979185 w 1216741"/>
              <a:gd name="connsiteY32" fmla="*/ 281850 h 1071563"/>
              <a:gd name="connsiteX33" fmla="*/ 977749 w 1216741"/>
              <a:gd name="connsiteY33" fmla="*/ 275483 h 1071563"/>
              <a:gd name="connsiteX34" fmla="*/ 1150106 w 1216741"/>
              <a:gd name="connsiteY34" fmla="*/ 160165 h 1071563"/>
              <a:gd name="connsiteX35" fmla="*/ 1164252 w 1216741"/>
              <a:gd name="connsiteY35" fmla="*/ 89549 h 1071563"/>
              <a:gd name="connsiteX36" fmla="*/ 1174515 w 1216741"/>
              <a:gd name="connsiteY36" fmla="*/ 95897 h 1071563"/>
              <a:gd name="connsiteX37" fmla="*/ 1170231 w 1216741"/>
              <a:gd name="connsiteY37" fmla="*/ 118073 h 1071563"/>
              <a:gd name="connsiteX38" fmla="*/ 546242 w 1216741"/>
              <a:gd name="connsiteY38" fmla="*/ 548002 h 1071563"/>
              <a:gd name="connsiteX39" fmla="*/ 536961 w 1216741"/>
              <a:gd name="connsiteY39" fmla="*/ 550863 h 1071563"/>
              <a:gd name="connsiteX40" fmla="*/ 524110 w 1216741"/>
              <a:gd name="connsiteY40" fmla="*/ 543710 h 1071563"/>
              <a:gd name="connsiteX41" fmla="*/ 528394 w 1216741"/>
              <a:gd name="connsiteY41" fmla="*/ 522964 h 1071563"/>
              <a:gd name="connsiteX42" fmla="*/ 1152382 w 1216741"/>
              <a:gd name="connsiteY42" fmla="*/ 92321 h 1071563"/>
              <a:gd name="connsiteX43" fmla="*/ 1164252 w 1216741"/>
              <a:gd name="connsiteY43" fmla="*/ 89549 h 1071563"/>
              <a:gd name="connsiteX44" fmla="*/ 1119129 w 1216741"/>
              <a:gd name="connsiteY44" fmla="*/ 33891 h 1071563"/>
              <a:gd name="connsiteX45" fmla="*/ 1124825 w 1216741"/>
              <a:gd name="connsiteY45" fmla="*/ 37460 h 1071563"/>
              <a:gd name="connsiteX46" fmla="*/ 1108448 w 1216741"/>
              <a:gd name="connsiteY46" fmla="*/ 96702 h 1071563"/>
              <a:gd name="connsiteX47" fmla="*/ 1107736 w 1216741"/>
              <a:gd name="connsiteY47" fmla="*/ 98130 h 1071563"/>
              <a:gd name="connsiteX48" fmla="*/ 938271 w 1216741"/>
              <a:gd name="connsiteY48" fmla="*/ 215186 h 1071563"/>
              <a:gd name="connsiteX49" fmla="*/ 932574 w 1216741"/>
              <a:gd name="connsiteY49" fmla="*/ 212331 h 1071563"/>
              <a:gd name="connsiteX50" fmla="*/ 946815 w 1216741"/>
              <a:gd name="connsiteY50" fmla="*/ 153803 h 1071563"/>
              <a:gd name="connsiteX51" fmla="*/ 948951 w 1216741"/>
              <a:gd name="connsiteY51" fmla="*/ 150234 h 1071563"/>
              <a:gd name="connsiteX52" fmla="*/ 1119129 w 1216741"/>
              <a:gd name="connsiteY52" fmla="*/ 33891 h 1071563"/>
              <a:gd name="connsiteX53" fmla="*/ 536139 w 1216741"/>
              <a:gd name="connsiteY53" fmla="*/ 0 h 1071563"/>
              <a:gd name="connsiteX54" fmla="*/ 908577 w 1216741"/>
              <a:gd name="connsiteY54" fmla="*/ 150533 h 1071563"/>
              <a:gd name="connsiteX55" fmla="*/ 889276 w 1216741"/>
              <a:gd name="connsiteY55" fmla="*/ 226156 h 1071563"/>
              <a:gd name="connsiteX56" fmla="*/ 870690 w 1216741"/>
              <a:gd name="connsiteY56" fmla="*/ 238997 h 1071563"/>
              <a:gd name="connsiteX57" fmla="*/ 536139 w 1216741"/>
              <a:gd name="connsiteY57" fmla="*/ 88465 h 1071563"/>
              <a:gd name="connsiteX58" fmla="*/ 88642 w 1216741"/>
              <a:gd name="connsiteY58" fmla="*/ 535782 h 1071563"/>
              <a:gd name="connsiteX59" fmla="*/ 536139 w 1216741"/>
              <a:gd name="connsiteY59" fmla="*/ 983099 h 1071563"/>
              <a:gd name="connsiteX60" fmla="*/ 983636 w 1216741"/>
              <a:gd name="connsiteY60" fmla="*/ 535782 h 1071563"/>
              <a:gd name="connsiteX61" fmla="*/ 932882 w 1216741"/>
              <a:gd name="connsiteY61" fmla="*/ 328889 h 1071563"/>
              <a:gd name="connsiteX62" fmla="*/ 951468 w 1216741"/>
              <a:gd name="connsiteY62" fmla="*/ 316047 h 1071563"/>
              <a:gd name="connsiteX63" fmla="*/ 1029387 w 1216741"/>
              <a:gd name="connsiteY63" fmla="*/ 325322 h 1071563"/>
              <a:gd name="connsiteX64" fmla="*/ 1071563 w 1216741"/>
              <a:gd name="connsiteY64" fmla="*/ 535782 h 1071563"/>
              <a:gd name="connsiteX65" fmla="*/ 536139 w 1216741"/>
              <a:gd name="connsiteY65" fmla="*/ 1071563 h 1071563"/>
              <a:gd name="connsiteX66" fmla="*/ 0 w 1216741"/>
              <a:gd name="connsiteY66" fmla="*/ 535782 h 1071563"/>
              <a:gd name="connsiteX67" fmla="*/ 536139 w 1216741"/>
              <a:gd name="connsiteY67" fmla="*/ 0 h 1071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216741" h="1071563">
                <a:moveTo>
                  <a:pt x="536139" y="336550"/>
                </a:moveTo>
                <a:cubicBezTo>
                  <a:pt x="583354" y="336550"/>
                  <a:pt x="627707" y="353688"/>
                  <a:pt x="662761" y="382252"/>
                </a:cubicBezTo>
                <a:cubicBezTo>
                  <a:pt x="584069" y="435809"/>
                  <a:pt x="584069" y="435809"/>
                  <a:pt x="584069" y="435809"/>
                </a:cubicBezTo>
                <a:cubicBezTo>
                  <a:pt x="569762" y="428668"/>
                  <a:pt x="553308" y="425097"/>
                  <a:pt x="536139" y="425097"/>
                </a:cubicBezTo>
                <a:cubicBezTo>
                  <a:pt x="474617" y="425097"/>
                  <a:pt x="425257" y="474370"/>
                  <a:pt x="425257" y="535782"/>
                </a:cubicBezTo>
                <a:cubicBezTo>
                  <a:pt x="425257" y="596479"/>
                  <a:pt x="474617" y="646466"/>
                  <a:pt x="536139" y="646466"/>
                </a:cubicBezTo>
                <a:cubicBezTo>
                  <a:pt x="596946" y="646466"/>
                  <a:pt x="646307" y="596479"/>
                  <a:pt x="646307" y="535782"/>
                </a:cubicBezTo>
                <a:cubicBezTo>
                  <a:pt x="646307" y="532211"/>
                  <a:pt x="646307" y="529355"/>
                  <a:pt x="646307" y="526498"/>
                </a:cubicBezTo>
                <a:cubicBezTo>
                  <a:pt x="724998" y="472227"/>
                  <a:pt x="724998" y="472227"/>
                  <a:pt x="724998" y="472227"/>
                </a:cubicBezTo>
                <a:cubicBezTo>
                  <a:pt x="731436" y="492222"/>
                  <a:pt x="735013" y="513645"/>
                  <a:pt x="735013" y="535782"/>
                </a:cubicBezTo>
                <a:cubicBezTo>
                  <a:pt x="735013" y="645752"/>
                  <a:pt x="645592" y="735013"/>
                  <a:pt x="536139" y="735013"/>
                </a:cubicBezTo>
                <a:cubicBezTo>
                  <a:pt x="425972" y="735013"/>
                  <a:pt x="336550" y="645752"/>
                  <a:pt x="336550" y="535782"/>
                </a:cubicBezTo>
                <a:cubicBezTo>
                  <a:pt x="336550" y="425812"/>
                  <a:pt x="425972" y="336550"/>
                  <a:pt x="536139" y="336550"/>
                </a:cubicBezTo>
                <a:close/>
                <a:moveTo>
                  <a:pt x="536933" y="171450"/>
                </a:moveTo>
                <a:cubicBezTo>
                  <a:pt x="641356" y="171450"/>
                  <a:pt x="735767" y="215655"/>
                  <a:pt x="802998" y="286240"/>
                </a:cubicBezTo>
                <a:cubicBezTo>
                  <a:pt x="802998" y="286240"/>
                  <a:pt x="802998" y="286240"/>
                  <a:pt x="728615" y="337574"/>
                </a:cubicBezTo>
                <a:cubicBezTo>
                  <a:pt x="678548" y="289091"/>
                  <a:pt x="610602" y="259859"/>
                  <a:pt x="536933" y="259859"/>
                </a:cubicBezTo>
                <a:cubicBezTo>
                  <a:pt x="383874" y="259859"/>
                  <a:pt x="260139" y="383204"/>
                  <a:pt x="260139" y="535782"/>
                </a:cubicBezTo>
                <a:cubicBezTo>
                  <a:pt x="260139" y="687646"/>
                  <a:pt x="383874" y="811704"/>
                  <a:pt x="536933" y="811704"/>
                </a:cubicBezTo>
                <a:cubicBezTo>
                  <a:pt x="688562" y="811704"/>
                  <a:pt x="813012" y="687646"/>
                  <a:pt x="813012" y="535782"/>
                </a:cubicBezTo>
                <a:cubicBezTo>
                  <a:pt x="813012" y="497281"/>
                  <a:pt x="805144" y="460919"/>
                  <a:pt x="790840" y="427409"/>
                </a:cubicBezTo>
                <a:cubicBezTo>
                  <a:pt x="790840" y="427409"/>
                  <a:pt x="790840" y="427409"/>
                  <a:pt x="865223" y="376788"/>
                </a:cubicBezTo>
                <a:cubicBezTo>
                  <a:pt x="888826" y="424557"/>
                  <a:pt x="901700" y="478743"/>
                  <a:pt x="901700" y="535782"/>
                </a:cubicBezTo>
                <a:cubicBezTo>
                  <a:pt x="901700" y="736841"/>
                  <a:pt x="737913" y="900113"/>
                  <a:pt x="536933" y="900113"/>
                </a:cubicBezTo>
                <a:cubicBezTo>
                  <a:pt x="335238" y="900113"/>
                  <a:pt x="171450" y="736841"/>
                  <a:pt x="171450" y="535782"/>
                </a:cubicBezTo>
                <a:cubicBezTo>
                  <a:pt x="171450" y="334722"/>
                  <a:pt x="335238" y="171450"/>
                  <a:pt x="536933" y="171450"/>
                </a:cubicBezTo>
                <a:close/>
                <a:moveTo>
                  <a:pt x="1150106" y="160165"/>
                </a:moveTo>
                <a:cubicBezTo>
                  <a:pt x="1150106" y="158750"/>
                  <a:pt x="1150106" y="158750"/>
                  <a:pt x="1151542" y="160165"/>
                </a:cubicBezTo>
                <a:cubicBezTo>
                  <a:pt x="1151542" y="160165"/>
                  <a:pt x="1151542" y="160165"/>
                  <a:pt x="1213303" y="165825"/>
                </a:cubicBezTo>
                <a:cubicBezTo>
                  <a:pt x="1217612" y="165825"/>
                  <a:pt x="1217612" y="170777"/>
                  <a:pt x="1214740" y="172192"/>
                </a:cubicBezTo>
                <a:cubicBezTo>
                  <a:pt x="1214740" y="172192"/>
                  <a:pt x="1214740" y="172192"/>
                  <a:pt x="1043819" y="288218"/>
                </a:cubicBezTo>
                <a:cubicBezTo>
                  <a:pt x="1042382" y="288218"/>
                  <a:pt x="1042382" y="288218"/>
                  <a:pt x="1039510" y="288925"/>
                </a:cubicBezTo>
                <a:cubicBezTo>
                  <a:pt x="1039510" y="288925"/>
                  <a:pt x="1039510" y="288925"/>
                  <a:pt x="979185" y="281850"/>
                </a:cubicBezTo>
                <a:cubicBezTo>
                  <a:pt x="976312" y="281143"/>
                  <a:pt x="976312" y="278313"/>
                  <a:pt x="977749" y="275483"/>
                </a:cubicBezTo>
                <a:cubicBezTo>
                  <a:pt x="977749" y="275483"/>
                  <a:pt x="977749" y="275483"/>
                  <a:pt x="1150106" y="160165"/>
                </a:cubicBezTo>
                <a:close/>
                <a:moveTo>
                  <a:pt x="1164252" y="89549"/>
                </a:moveTo>
                <a:cubicBezTo>
                  <a:pt x="1168268" y="90175"/>
                  <a:pt x="1172016" y="92321"/>
                  <a:pt x="1174515" y="95897"/>
                </a:cubicBezTo>
                <a:cubicBezTo>
                  <a:pt x="1179512" y="103051"/>
                  <a:pt x="1177370" y="113066"/>
                  <a:pt x="1170231" y="118073"/>
                </a:cubicBezTo>
                <a:cubicBezTo>
                  <a:pt x="546242" y="548002"/>
                  <a:pt x="546242" y="548002"/>
                  <a:pt x="546242" y="548002"/>
                </a:cubicBezTo>
                <a:cubicBezTo>
                  <a:pt x="543386" y="550148"/>
                  <a:pt x="540531" y="550863"/>
                  <a:pt x="536961" y="550863"/>
                </a:cubicBezTo>
                <a:cubicBezTo>
                  <a:pt x="531963" y="550863"/>
                  <a:pt x="526966" y="548717"/>
                  <a:pt x="524110" y="543710"/>
                </a:cubicBezTo>
                <a:cubicBezTo>
                  <a:pt x="519112" y="537271"/>
                  <a:pt x="521254" y="527972"/>
                  <a:pt x="528394" y="522964"/>
                </a:cubicBezTo>
                <a:cubicBezTo>
                  <a:pt x="1152382" y="92321"/>
                  <a:pt x="1152382" y="92321"/>
                  <a:pt x="1152382" y="92321"/>
                </a:cubicBezTo>
                <a:cubicBezTo>
                  <a:pt x="1155952" y="89817"/>
                  <a:pt x="1160236" y="88923"/>
                  <a:pt x="1164252" y="89549"/>
                </a:cubicBezTo>
                <a:close/>
                <a:moveTo>
                  <a:pt x="1119129" y="33891"/>
                </a:moveTo>
                <a:cubicBezTo>
                  <a:pt x="1121977" y="31750"/>
                  <a:pt x="1125537" y="33891"/>
                  <a:pt x="1124825" y="37460"/>
                </a:cubicBezTo>
                <a:cubicBezTo>
                  <a:pt x="1108448" y="96702"/>
                  <a:pt x="1108448" y="96702"/>
                  <a:pt x="1108448" y="96702"/>
                </a:cubicBezTo>
                <a:cubicBezTo>
                  <a:pt x="1108448" y="98130"/>
                  <a:pt x="1108448" y="98130"/>
                  <a:pt x="1107736" y="98130"/>
                </a:cubicBezTo>
                <a:cubicBezTo>
                  <a:pt x="938271" y="215186"/>
                  <a:pt x="938271" y="215186"/>
                  <a:pt x="938271" y="215186"/>
                </a:cubicBezTo>
                <a:cubicBezTo>
                  <a:pt x="935422" y="215900"/>
                  <a:pt x="931862" y="215186"/>
                  <a:pt x="932574" y="212331"/>
                </a:cubicBezTo>
                <a:cubicBezTo>
                  <a:pt x="946815" y="153803"/>
                  <a:pt x="946815" y="153803"/>
                  <a:pt x="946815" y="153803"/>
                </a:cubicBezTo>
                <a:cubicBezTo>
                  <a:pt x="948239" y="151662"/>
                  <a:pt x="948239" y="151662"/>
                  <a:pt x="948951" y="150234"/>
                </a:cubicBezTo>
                <a:cubicBezTo>
                  <a:pt x="1119129" y="33891"/>
                  <a:pt x="1119129" y="33891"/>
                  <a:pt x="1119129" y="33891"/>
                </a:cubicBezTo>
                <a:close/>
                <a:moveTo>
                  <a:pt x="536139" y="0"/>
                </a:moveTo>
                <a:cubicBezTo>
                  <a:pt x="680539" y="0"/>
                  <a:pt x="812072" y="57074"/>
                  <a:pt x="908577" y="150533"/>
                </a:cubicBezTo>
                <a:cubicBezTo>
                  <a:pt x="908577" y="150533"/>
                  <a:pt x="908577" y="150533"/>
                  <a:pt x="889276" y="226156"/>
                </a:cubicBezTo>
                <a:cubicBezTo>
                  <a:pt x="889276" y="226156"/>
                  <a:pt x="889276" y="226156"/>
                  <a:pt x="870690" y="238997"/>
                </a:cubicBezTo>
                <a:cubicBezTo>
                  <a:pt x="788482" y="146252"/>
                  <a:pt x="668387" y="88465"/>
                  <a:pt x="536139" y="88465"/>
                </a:cubicBezTo>
                <a:cubicBezTo>
                  <a:pt x="288800" y="88465"/>
                  <a:pt x="88642" y="288937"/>
                  <a:pt x="88642" y="535782"/>
                </a:cubicBezTo>
                <a:cubicBezTo>
                  <a:pt x="88642" y="782626"/>
                  <a:pt x="288800" y="983099"/>
                  <a:pt x="536139" y="983099"/>
                </a:cubicBezTo>
                <a:cubicBezTo>
                  <a:pt x="782763" y="983099"/>
                  <a:pt x="983636" y="782626"/>
                  <a:pt x="983636" y="535782"/>
                </a:cubicBezTo>
                <a:cubicBezTo>
                  <a:pt x="983636" y="460872"/>
                  <a:pt x="965050" y="390957"/>
                  <a:pt x="932882" y="328889"/>
                </a:cubicBezTo>
                <a:cubicBezTo>
                  <a:pt x="932882" y="328889"/>
                  <a:pt x="932882" y="328889"/>
                  <a:pt x="951468" y="316047"/>
                </a:cubicBezTo>
                <a:cubicBezTo>
                  <a:pt x="951468" y="316047"/>
                  <a:pt x="951468" y="316047"/>
                  <a:pt x="1029387" y="325322"/>
                </a:cubicBezTo>
                <a:cubicBezTo>
                  <a:pt x="1056551" y="390243"/>
                  <a:pt x="1071563" y="460872"/>
                  <a:pt x="1071563" y="535782"/>
                </a:cubicBezTo>
                <a:cubicBezTo>
                  <a:pt x="1071563" y="831139"/>
                  <a:pt x="831373" y="1071563"/>
                  <a:pt x="536139" y="1071563"/>
                </a:cubicBezTo>
                <a:cubicBezTo>
                  <a:pt x="240190" y="1071563"/>
                  <a:pt x="0" y="831139"/>
                  <a:pt x="0" y="535782"/>
                </a:cubicBezTo>
                <a:cubicBezTo>
                  <a:pt x="0" y="240424"/>
                  <a:pt x="240190" y="0"/>
                  <a:pt x="536139" y="0"/>
                </a:cubicBezTo>
                <a:close/>
              </a:path>
            </a:pathLst>
          </a:custGeom>
          <a:solidFill>
            <a:srgbClr val="FFFFFF">
              <a:lumMod val="100000"/>
            </a:srgbClr>
          </a:solidFill>
          <a:ln>
            <a:noFill/>
          </a:ln>
        </p:spPr>
        <p:txBody>
          <a:bodyPr vert="horz" wrap="square" lIns="91440" tIns="45720" rIns="91440" bIns="45720" numCol="1" anchor="t" anchorCtr="0" compatLnSpc="1">
            <a:prstTxWarp prst="textNoShape">
              <a:avLst/>
            </a:prstTxWarp>
            <a:noAutofit/>
          </a:bodyPr>
          <a:lstStyle/>
          <a:p>
            <a:endParaRPr lang="en-US" sz="1600">
              <a:solidFill>
                <a:srgbClr val="295E7E">
                  <a:lumMod val="100000"/>
                </a:srgbClr>
              </a:solidFill>
              <a:sym typeface="+mn-lt"/>
            </a:endParaRPr>
          </a:p>
        </p:txBody>
      </p:sp>
      <p:sp>
        <p:nvSpPr>
          <p:cNvPr id="74" name="NavigationText">
            <a:extLst>
              <a:ext uri="{FF2B5EF4-FFF2-40B4-BE49-F238E27FC236}">
                <a16:creationId xmlns:a16="http://schemas.microsoft.com/office/drawing/2014/main" id="{C93A9B35-25AE-4699-AE5A-001F06BA8CAE}"/>
              </a:ext>
            </a:extLst>
          </p:cNvPr>
          <p:cNvSpPr/>
          <p:nvPr/>
        </p:nvSpPr>
        <p:spPr>
          <a:xfrm>
            <a:off x="9862524" y="105950"/>
            <a:ext cx="1321797" cy="258077"/>
          </a:xfrm>
          <a:prstGeom prst="rect">
            <a:avLst/>
          </a:prstGeom>
          <a:noFill/>
          <a:ln w="9525" cap="rnd" cmpd="sng" algn="ctr">
            <a:noFill/>
            <a:prstDash val="sysDot"/>
            <a:round/>
          </a:ln>
          <a:effectLst/>
          <a:extLst>
            <a:ext uri="{909E8E84-426E-40DD-AFC4-6F175D3DCCD1}">
              <a14:hiddenFill xmlns:a14="http://schemas.microsoft.com/office/drawing/2010/main">
                <a:solidFill>
                  <a:schemeClr val="accent6"/>
                </a:solidFill>
              </a14:hiddenFill>
            </a:ext>
          </a:extLst>
        </p:spPr>
        <p:txBody>
          <a:bodyPr rot="0" spcFirstLastPara="0" vertOverflow="overflow" horzOverflow="overflow" vert="horz" wrap="square" lIns="0" tIns="0" rIns="9144" bIns="0" numCol="1" spcCol="0" rtlCol="0" fromWordArt="0" anchor="ctr" anchorCtr="0" forceAA="0" compatLnSpc="1">
            <a:prstTxWarp prst="textNoShape">
              <a:avLst/>
            </a:prstTxWarp>
            <a:noAutofit/>
          </a:bodyPr>
          <a:lstStyle/>
          <a:p>
            <a:pPr algn="r"/>
            <a:r>
              <a:rPr kumimoji="0" lang="en-US" sz="1000" strike="noStrike" cap="none" normalizeH="0" baseline="0" noProof="0">
                <a:ln>
                  <a:noFill/>
                </a:ln>
                <a:solidFill>
                  <a:srgbClr val="7F7F7F">
                    <a:lumMod val="100000"/>
                  </a:srgbClr>
                </a:solidFill>
                <a:effectLst/>
                <a:uLnTx/>
                <a:uFillTx/>
                <a:sym typeface="+mn-lt"/>
              </a:rPr>
              <a:t>Precision media</a:t>
            </a:r>
          </a:p>
        </p:txBody>
      </p:sp>
      <p:sp>
        <p:nvSpPr>
          <p:cNvPr id="2" name="Textfeld 1">
            <a:extLst>
              <a:ext uri="{FF2B5EF4-FFF2-40B4-BE49-F238E27FC236}">
                <a16:creationId xmlns:a16="http://schemas.microsoft.com/office/drawing/2014/main" id="{941269AD-7A55-15A4-5EBF-7ECCB0E9886C}"/>
              </a:ext>
            </a:extLst>
          </p:cNvPr>
          <p:cNvSpPr txBox="1"/>
          <p:nvPr>
            <p:custDataLst>
              <p:tags r:id="rId2"/>
            </p:custDataLst>
          </p:nvPr>
        </p:nvSpPr>
        <p:spPr>
          <a:xfrm>
            <a:off x="0" y="21505"/>
            <a:ext cx="2743200" cy="649409"/>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en-US" sz="1200" b="1">
                <a:solidFill>
                  <a:srgbClr val="575757"/>
                </a:solidFill>
                <a:sym typeface="Trebuchet MS" panose="020B0603020202020204" pitchFamily="34" charset="0"/>
              </a:rPr>
              <a:t>CA 12.Jun.24:
reference for "what personalization means"</a:t>
            </a:r>
          </a:p>
        </p:txBody>
      </p:sp>
    </p:spTree>
    <p:extLst>
      <p:ext uri="{BB962C8B-B14F-4D97-AF65-F5344CB8AC3E}">
        <p14:creationId xmlns:p14="http://schemas.microsoft.com/office/powerpoint/2010/main" val="282387327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352" imgH="355" progId="TCLayout.ActiveDocument.1">
                  <p:embed/>
                </p:oleObj>
              </mc:Choice>
              <mc:Fallback>
                <p:oleObj name="think-cell Slide" r:id="rId5" imgW="352" imgH="355"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6" name="Rectangle 5" hidden="1"/>
          <p:cNvSpPr/>
          <p:nvPr>
            <p:custDataLst>
              <p:tags r:id="rId2"/>
            </p:custDataLst>
          </p:nvPr>
        </p:nvSpPr>
        <p:spPr>
          <a:xfrm>
            <a:off x="0" y="0"/>
            <a:ext cx="158750" cy="158750"/>
          </a:xfrm>
          <a:prstGeom prst="rect">
            <a:avLst/>
          </a:prstGeom>
          <a:solidFill>
            <a:schemeClr val="accent6"/>
          </a:solidFill>
          <a:ln w="9525" cap="rnd" cmpd="sng" algn="ctr">
            <a:noFill/>
            <a:prstDash val="sysDot"/>
            <a:round/>
          </a:ln>
          <a:effectLst/>
        </p:spPr>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lnSpc>
                <a:spcPct val="90000"/>
              </a:lnSpc>
              <a:spcAft>
                <a:spcPts val="1000"/>
              </a:spcAft>
            </a:pPr>
            <a:endParaRPr kumimoji="0" lang="en-US" sz="2400" u="none" strike="noStrike" kern="0" cap="none" spc="0" normalizeH="0" noProof="0">
              <a:ln>
                <a:noFill/>
              </a:ln>
              <a:solidFill>
                <a:prstClr val="white"/>
              </a:solidFill>
              <a:effectLst/>
              <a:uLnTx/>
              <a:uFillTx/>
              <a:latin typeface="Work Sans SemiBold" panose="020B0604020202020204" charset="0"/>
              <a:ea typeface="+mj-ea"/>
              <a:cs typeface="+mj-cs"/>
              <a:sym typeface="Work Sans SemiBold" panose="020B0604020202020204" charset="0"/>
            </a:endParaRPr>
          </a:p>
        </p:txBody>
      </p:sp>
      <p:sp>
        <p:nvSpPr>
          <p:cNvPr id="4" name="Title 3"/>
          <p:cNvSpPr>
            <a:spLocks noGrp="1"/>
          </p:cNvSpPr>
          <p:nvPr>
            <p:ph type="title"/>
          </p:nvPr>
        </p:nvSpPr>
        <p:spPr>
          <a:xfrm>
            <a:off x="609133" y="605522"/>
            <a:ext cx="3157464" cy="1661993"/>
          </a:xfrm>
        </p:spPr>
        <p:txBody>
          <a:bodyPr/>
          <a:lstStyle/>
          <a:p>
            <a:r>
              <a:rPr lang="en-US" sz="2400"/>
              <a:t>Personalized customer journey through precision media and 1:1 owned channels </a:t>
            </a:r>
          </a:p>
        </p:txBody>
      </p:sp>
      <p:pic>
        <p:nvPicPr>
          <p:cNvPr id="7" name="Picture 6"/>
          <p:cNvPicPr>
            <a:picLocks noChangeAspect="1"/>
          </p:cNvPicPr>
          <p:nvPr/>
        </p:nvPicPr>
        <p:blipFill>
          <a:blip r:embed="rId7" cstate="email">
            <a:extLst>
              <a:ext uri="{28A0092B-C50C-407E-A947-70E740481C1C}">
                <a14:useLocalDpi xmlns:a14="http://schemas.microsoft.com/office/drawing/2010/main"/>
              </a:ext>
            </a:extLst>
          </a:blip>
          <a:stretch>
            <a:fillRect/>
          </a:stretch>
        </p:blipFill>
        <p:spPr>
          <a:xfrm>
            <a:off x="4379141" y="1543613"/>
            <a:ext cx="7427028" cy="4308094"/>
          </a:xfrm>
          <a:prstGeom prst="rect">
            <a:avLst/>
          </a:prstGeom>
        </p:spPr>
      </p:pic>
      <p:sp>
        <p:nvSpPr>
          <p:cNvPr id="9" name="NavigationIcon"/>
          <p:cNvSpPr>
            <a:spLocks noChangeAspect="1"/>
          </p:cNvSpPr>
          <p:nvPr/>
        </p:nvSpPr>
        <p:spPr bwMode="auto">
          <a:xfrm>
            <a:off x="11690311" y="132877"/>
            <a:ext cx="366225" cy="365760"/>
          </a:xfrm>
          <a:custGeom>
            <a:avLst/>
            <a:gdLst>
              <a:gd name="connsiteX0" fmla="*/ 210432 w 1162224"/>
              <a:gd name="connsiteY0" fmla="*/ 1046305 h 1160746"/>
              <a:gd name="connsiteX1" fmla="*/ 225514 w 1162224"/>
              <a:gd name="connsiteY1" fmla="*/ 1061387 h 1160746"/>
              <a:gd name="connsiteX2" fmla="*/ 210432 w 1162224"/>
              <a:gd name="connsiteY2" fmla="*/ 1076469 h 1160746"/>
              <a:gd name="connsiteX3" fmla="*/ 195350 w 1162224"/>
              <a:gd name="connsiteY3" fmla="*/ 1061387 h 1160746"/>
              <a:gd name="connsiteX4" fmla="*/ 210432 w 1162224"/>
              <a:gd name="connsiteY4" fmla="*/ 1046305 h 1160746"/>
              <a:gd name="connsiteX5" fmla="*/ 888326 w 1162224"/>
              <a:gd name="connsiteY5" fmla="*/ 827229 h 1160746"/>
              <a:gd name="connsiteX6" fmla="*/ 879748 w 1162224"/>
              <a:gd name="connsiteY6" fmla="*/ 830791 h 1160746"/>
              <a:gd name="connsiteX7" fmla="*/ 845436 w 1162224"/>
              <a:gd name="connsiteY7" fmla="*/ 864980 h 1160746"/>
              <a:gd name="connsiteX8" fmla="*/ 841147 w 1162224"/>
              <a:gd name="connsiteY8" fmla="*/ 871391 h 1160746"/>
              <a:gd name="connsiteX9" fmla="*/ 839002 w 1162224"/>
              <a:gd name="connsiteY9" fmla="*/ 878513 h 1160746"/>
              <a:gd name="connsiteX10" fmla="*/ 838287 w 1162224"/>
              <a:gd name="connsiteY10" fmla="*/ 883499 h 1160746"/>
              <a:gd name="connsiteX11" fmla="*/ 839717 w 1162224"/>
              <a:gd name="connsiteY11" fmla="*/ 896320 h 1160746"/>
              <a:gd name="connsiteX12" fmla="*/ 844721 w 1162224"/>
              <a:gd name="connsiteY12" fmla="*/ 915552 h 1160746"/>
              <a:gd name="connsiteX13" fmla="*/ 855443 w 1162224"/>
              <a:gd name="connsiteY13" fmla="*/ 940482 h 1160746"/>
              <a:gd name="connsiteX14" fmla="*/ 874029 w 1162224"/>
              <a:gd name="connsiteY14" fmla="*/ 970398 h 1160746"/>
              <a:gd name="connsiteX15" fmla="*/ 904052 w 1162224"/>
              <a:gd name="connsiteY15" fmla="*/ 1004587 h 1160746"/>
              <a:gd name="connsiteX16" fmla="*/ 946943 w 1162224"/>
              <a:gd name="connsiteY16" fmla="*/ 1040201 h 1160746"/>
              <a:gd name="connsiteX17" fmla="*/ 983400 w 1162224"/>
              <a:gd name="connsiteY17" fmla="*/ 1060145 h 1160746"/>
              <a:gd name="connsiteX18" fmla="*/ 1009849 w 1162224"/>
              <a:gd name="connsiteY18" fmla="*/ 1068693 h 1160746"/>
              <a:gd name="connsiteX19" fmla="*/ 1025575 w 1162224"/>
              <a:gd name="connsiteY19" fmla="*/ 1070117 h 1160746"/>
              <a:gd name="connsiteX20" fmla="*/ 1029149 w 1162224"/>
              <a:gd name="connsiteY20" fmla="*/ 1070117 h 1160746"/>
              <a:gd name="connsiteX21" fmla="*/ 1030579 w 1162224"/>
              <a:gd name="connsiteY21" fmla="*/ 1070117 h 1160746"/>
              <a:gd name="connsiteX22" fmla="*/ 1037727 w 1162224"/>
              <a:gd name="connsiteY22" fmla="*/ 1067268 h 1160746"/>
              <a:gd name="connsiteX23" fmla="*/ 1044161 w 1162224"/>
              <a:gd name="connsiteY23" fmla="*/ 1062994 h 1160746"/>
              <a:gd name="connsiteX24" fmla="*/ 1078473 w 1162224"/>
              <a:gd name="connsiteY24" fmla="*/ 1029517 h 1160746"/>
              <a:gd name="connsiteX25" fmla="*/ 1082047 w 1162224"/>
              <a:gd name="connsiteY25" fmla="*/ 1018833 h 1160746"/>
              <a:gd name="connsiteX26" fmla="*/ 1075614 w 1162224"/>
              <a:gd name="connsiteY26" fmla="*/ 1010285 h 1160746"/>
              <a:gd name="connsiteX27" fmla="*/ 1025575 w 1162224"/>
              <a:gd name="connsiteY27" fmla="*/ 981082 h 1160746"/>
              <a:gd name="connsiteX28" fmla="*/ 1018427 w 1162224"/>
              <a:gd name="connsiteY28" fmla="*/ 979657 h 1160746"/>
              <a:gd name="connsiteX29" fmla="*/ 1007704 w 1162224"/>
              <a:gd name="connsiteY29" fmla="*/ 983931 h 1160746"/>
              <a:gd name="connsiteX30" fmla="*/ 992693 w 1162224"/>
              <a:gd name="connsiteY30" fmla="*/ 998889 h 1160746"/>
              <a:gd name="connsiteX31" fmla="*/ 991263 w 1162224"/>
              <a:gd name="connsiteY31" fmla="*/ 999601 h 1160746"/>
              <a:gd name="connsiteX32" fmla="*/ 989833 w 1162224"/>
              <a:gd name="connsiteY32" fmla="*/ 999601 h 1160746"/>
              <a:gd name="connsiteX33" fmla="*/ 986259 w 1162224"/>
              <a:gd name="connsiteY33" fmla="*/ 999601 h 1160746"/>
              <a:gd name="connsiteX34" fmla="*/ 976966 w 1162224"/>
              <a:gd name="connsiteY34" fmla="*/ 995328 h 1160746"/>
              <a:gd name="connsiteX35" fmla="*/ 961954 w 1162224"/>
              <a:gd name="connsiteY35" fmla="*/ 986068 h 1160746"/>
              <a:gd name="connsiteX36" fmla="*/ 941224 w 1162224"/>
              <a:gd name="connsiteY36" fmla="*/ 967549 h 1160746"/>
              <a:gd name="connsiteX37" fmla="*/ 923353 w 1162224"/>
              <a:gd name="connsiteY37" fmla="*/ 946892 h 1160746"/>
              <a:gd name="connsiteX38" fmla="*/ 913345 w 1162224"/>
              <a:gd name="connsiteY38" fmla="*/ 931935 h 1160746"/>
              <a:gd name="connsiteX39" fmla="*/ 909056 w 1162224"/>
              <a:gd name="connsiteY39" fmla="*/ 919826 h 1160746"/>
              <a:gd name="connsiteX40" fmla="*/ 909056 w 1162224"/>
              <a:gd name="connsiteY40" fmla="*/ 917689 h 1160746"/>
              <a:gd name="connsiteX41" fmla="*/ 910486 w 1162224"/>
              <a:gd name="connsiteY41" fmla="*/ 916264 h 1160746"/>
              <a:gd name="connsiteX42" fmla="*/ 922638 w 1162224"/>
              <a:gd name="connsiteY42" fmla="*/ 903443 h 1160746"/>
              <a:gd name="connsiteX43" fmla="*/ 926927 w 1162224"/>
              <a:gd name="connsiteY43" fmla="*/ 895608 h 1160746"/>
              <a:gd name="connsiteX44" fmla="*/ 926212 w 1162224"/>
              <a:gd name="connsiteY44" fmla="*/ 886348 h 1160746"/>
              <a:gd name="connsiteX45" fmla="*/ 898334 w 1162224"/>
              <a:gd name="connsiteY45" fmla="*/ 834352 h 1160746"/>
              <a:gd name="connsiteX46" fmla="*/ 894045 w 1162224"/>
              <a:gd name="connsiteY46" fmla="*/ 829366 h 1160746"/>
              <a:gd name="connsiteX47" fmla="*/ 888326 w 1162224"/>
              <a:gd name="connsiteY47" fmla="*/ 827229 h 1160746"/>
              <a:gd name="connsiteX48" fmla="*/ 153607 w 1162224"/>
              <a:gd name="connsiteY48" fmla="*/ 820880 h 1160746"/>
              <a:gd name="connsiteX49" fmla="*/ 268843 w 1162224"/>
              <a:gd name="connsiteY49" fmla="*/ 820880 h 1160746"/>
              <a:gd name="connsiteX50" fmla="*/ 273137 w 1162224"/>
              <a:gd name="connsiteY50" fmla="*/ 825871 h 1160746"/>
              <a:gd name="connsiteX51" fmla="*/ 273137 w 1162224"/>
              <a:gd name="connsiteY51" fmla="*/ 1019802 h 1160746"/>
              <a:gd name="connsiteX52" fmla="*/ 268843 w 1162224"/>
              <a:gd name="connsiteY52" fmla="*/ 1024080 h 1160746"/>
              <a:gd name="connsiteX53" fmla="*/ 153607 w 1162224"/>
              <a:gd name="connsiteY53" fmla="*/ 1024080 h 1160746"/>
              <a:gd name="connsiteX54" fmla="*/ 149312 w 1162224"/>
              <a:gd name="connsiteY54" fmla="*/ 1019802 h 1160746"/>
              <a:gd name="connsiteX55" fmla="*/ 149312 w 1162224"/>
              <a:gd name="connsiteY55" fmla="*/ 825871 h 1160746"/>
              <a:gd name="connsiteX56" fmla="*/ 153607 w 1162224"/>
              <a:gd name="connsiteY56" fmla="*/ 820880 h 1160746"/>
              <a:gd name="connsiteX57" fmla="*/ 139397 w 1162224"/>
              <a:gd name="connsiteY57" fmla="*/ 800243 h 1160746"/>
              <a:gd name="connsiteX58" fmla="*/ 128676 w 1162224"/>
              <a:gd name="connsiteY58" fmla="*/ 810922 h 1160746"/>
              <a:gd name="connsiteX59" fmla="*/ 128676 w 1162224"/>
              <a:gd name="connsiteY59" fmla="*/ 1086428 h 1160746"/>
              <a:gd name="connsiteX60" fmla="*/ 139397 w 1162224"/>
              <a:gd name="connsiteY60" fmla="*/ 1097106 h 1160746"/>
              <a:gd name="connsiteX61" fmla="*/ 283055 w 1162224"/>
              <a:gd name="connsiteY61" fmla="*/ 1097106 h 1160746"/>
              <a:gd name="connsiteX62" fmla="*/ 293776 w 1162224"/>
              <a:gd name="connsiteY62" fmla="*/ 1086428 h 1160746"/>
              <a:gd name="connsiteX63" fmla="*/ 293776 w 1162224"/>
              <a:gd name="connsiteY63" fmla="*/ 810922 h 1160746"/>
              <a:gd name="connsiteX64" fmla="*/ 283055 w 1162224"/>
              <a:gd name="connsiteY64" fmla="*/ 800243 h 1160746"/>
              <a:gd name="connsiteX65" fmla="*/ 139397 w 1162224"/>
              <a:gd name="connsiteY65" fmla="*/ 800243 h 1160746"/>
              <a:gd name="connsiteX66" fmla="*/ 508450 w 1162224"/>
              <a:gd name="connsiteY66" fmla="*/ 638157 h 1160746"/>
              <a:gd name="connsiteX67" fmla="*/ 519797 w 1162224"/>
              <a:gd name="connsiteY67" fmla="*/ 642439 h 1160746"/>
              <a:gd name="connsiteX68" fmla="*/ 581265 w 1162224"/>
              <a:gd name="connsiteY68" fmla="*/ 668131 h 1160746"/>
              <a:gd name="connsiteX69" fmla="*/ 596989 w 1162224"/>
              <a:gd name="connsiteY69" fmla="*/ 683831 h 1160746"/>
              <a:gd name="connsiteX70" fmla="*/ 581265 w 1162224"/>
              <a:gd name="connsiteY70" fmla="*/ 699531 h 1160746"/>
              <a:gd name="connsiteX71" fmla="*/ 509076 w 1162224"/>
              <a:gd name="connsiteY71" fmla="*/ 675267 h 1160746"/>
              <a:gd name="connsiteX72" fmla="*/ 371130 w 1162224"/>
              <a:gd name="connsiteY72" fmla="*/ 813001 h 1160746"/>
              <a:gd name="connsiteX73" fmla="*/ 360409 w 1162224"/>
              <a:gd name="connsiteY73" fmla="*/ 1099174 h 1160746"/>
              <a:gd name="connsiteX74" fmla="*/ 61647 w 1162224"/>
              <a:gd name="connsiteY74" fmla="*/ 1099174 h 1160746"/>
              <a:gd name="connsiteX75" fmla="*/ 61647 w 1162224"/>
              <a:gd name="connsiteY75" fmla="*/ 800869 h 1160746"/>
              <a:gd name="connsiteX76" fmla="*/ 348973 w 1162224"/>
              <a:gd name="connsiteY76" fmla="*/ 790878 h 1160746"/>
              <a:gd name="connsiteX77" fmla="*/ 497640 w 1162224"/>
              <a:gd name="connsiteY77" fmla="*/ 642439 h 1160746"/>
              <a:gd name="connsiteX78" fmla="*/ 508450 w 1162224"/>
              <a:gd name="connsiteY78" fmla="*/ 638157 h 1160746"/>
              <a:gd name="connsiteX79" fmla="*/ 683851 w 1162224"/>
              <a:gd name="connsiteY79" fmla="*/ 565292 h 1160746"/>
              <a:gd name="connsiteX80" fmla="*/ 699577 w 1162224"/>
              <a:gd name="connsiteY80" fmla="*/ 580976 h 1160746"/>
              <a:gd name="connsiteX81" fmla="*/ 675274 w 1162224"/>
              <a:gd name="connsiteY81" fmla="*/ 652979 h 1160746"/>
              <a:gd name="connsiteX82" fmla="*/ 813229 w 1162224"/>
              <a:gd name="connsiteY82" fmla="*/ 790570 h 1160746"/>
              <a:gd name="connsiteX83" fmla="*/ 1100574 w 1162224"/>
              <a:gd name="connsiteY83" fmla="*/ 801264 h 1160746"/>
              <a:gd name="connsiteX84" fmla="*/ 1100574 w 1162224"/>
              <a:gd name="connsiteY84" fmla="*/ 1099258 h 1160746"/>
              <a:gd name="connsiteX85" fmla="*/ 801792 w 1162224"/>
              <a:gd name="connsiteY85" fmla="*/ 1099258 h 1160746"/>
              <a:gd name="connsiteX86" fmla="*/ 791070 w 1162224"/>
              <a:gd name="connsiteY86" fmla="*/ 812670 h 1160746"/>
              <a:gd name="connsiteX87" fmla="*/ 642394 w 1162224"/>
              <a:gd name="connsiteY87" fmla="*/ 664386 h 1160746"/>
              <a:gd name="connsiteX88" fmla="*/ 642394 w 1162224"/>
              <a:gd name="connsiteY88" fmla="*/ 642286 h 1160746"/>
              <a:gd name="connsiteX89" fmla="*/ 668126 w 1162224"/>
              <a:gd name="connsiteY89" fmla="*/ 580976 h 1160746"/>
              <a:gd name="connsiteX90" fmla="*/ 683851 w 1162224"/>
              <a:gd name="connsiteY90" fmla="*/ 565292 h 1160746"/>
              <a:gd name="connsiteX91" fmla="*/ 581112 w 1162224"/>
              <a:gd name="connsiteY91" fmla="*/ 533543 h 1160746"/>
              <a:gd name="connsiteX92" fmla="*/ 628737 w 1162224"/>
              <a:gd name="connsiteY92" fmla="*/ 580375 h 1160746"/>
              <a:gd name="connsiteX93" fmla="*/ 581112 w 1162224"/>
              <a:gd name="connsiteY93" fmla="*/ 627207 h 1160746"/>
              <a:gd name="connsiteX94" fmla="*/ 533487 w 1162224"/>
              <a:gd name="connsiteY94" fmla="*/ 580375 h 1160746"/>
              <a:gd name="connsiteX95" fmla="*/ 581112 w 1162224"/>
              <a:gd name="connsiteY95" fmla="*/ 533543 h 1160746"/>
              <a:gd name="connsiteX96" fmla="*/ 947825 w 1162224"/>
              <a:gd name="connsiteY96" fmla="*/ 192230 h 1160746"/>
              <a:gd name="connsiteX97" fmla="*/ 927187 w 1162224"/>
              <a:gd name="connsiteY97" fmla="*/ 212868 h 1160746"/>
              <a:gd name="connsiteX98" fmla="*/ 947825 w 1162224"/>
              <a:gd name="connsiteY98" fmla="*/ 233506 h 1160746"/>
              <a:gd name="connsiteX99" fmla="*/ 968463 w 1162224"/>
              <a:gd name="connsiteY99" fmla="*/ 212868 h 1160746"/>
              <a:gd name="connsiteX100" fmla="*/ 947825 w 1162224"/>
              <a:gd name="connsiteY100" fmla="*/ 192230 h 1160746"/>
              <a:gd name="connsiteX101" fmla="*/ 992489 w 1162224"/>
              <a:gd name="connsiteY101" fmla="*/ 160314 h 1160746"/>
              <a:gd name="connsiteX102" fmla="*/ 981848 w 1162224"/>
              <a:gd name="connsiteY102" fmla="*/ 164575 h 1160746"/>
              <a:gd name="connsiteX103" fmla="*/ 981144 w 1162224"/>
              <a:gd name="connsiteY103" fmla="*/ 186591 h 1160746"/>
              <a:gd name="connsiteX104" fmla="*/ 980441 w 1162224"/>
              <a:gd name="connsiteY104" fmla="*/ 241276 h 1160746"/>
              <a:gd name="connsiteX105" fmla="*/ 982551 w 1162224"/>
              <a:gd name="connsiteY105" fmla="*/ 263292 h 1160746"/>
              <a:gd name="connsiteX106" fmla="*/ 992401 w 1162224"/>
              <a:gd name="connsiteY106" fmla="*/ 266843 h 1160746"/>
              <a:gd name="connsiteX107" fmla="*/ 1004362 w 1162224"/>
              <a:gd name="connsiteY107" fmla="*/ 260451 h 1160746"/>
              <a:gd name="connsiteX108" fmla="*/ 1003658 w 1162224"/>
              <a:gd name="connsiteY108" fmla="*/ 164575 h 1160746"/>
              <a:gd name="connsiteX109" fmla="*/ 992489 w 1162224"/>
              <a:gd name="connsiteY109" fmla="*/ 160314 h 1160746"/>
              <a:gd name="connsiteX110" fmla="*/ 903337 w 1162224"/>
              <a:gd name="connsiteY110" fmla="*/ 160314 h 1160746"/>
              <a:gd name="connsiteX111" fmla="*/ 892696 w 1162224"/>
              <a:gd name="connsiteY111" fmla="*/ 164575 h 1160746"/>
              <a:gd name="connsiteX112" fmla="*/ 891289 w 1162224"/>
              <a:gd name="connsiteY112" fmla="*/ 260451 h 1160746"/>
              <a:gd name="connsiteX113" fmla="*/ 903249 w 1162224"/>
              <a:gd name="connsiteY113" fmla="*/ 266843 h 1160746"/>
              <a:gd name="connsiteX114" fmla="*/ 913099 w 1162224"/>
              <a:gd name="connsiteY114" fmla="*/ 263292 h 1160746"/>
              <a:gd name="connsiteX115" fmla="*/ 915913 w 1162224"/>
              <a:gd name="connsiteY115" fmla="*/ 241276 h 1160746"/>
              <a:gd name="connsiteX116" fmla="*/ 914506 w 1162224"/>
              <a:gd name="connsiteY116" fmla="*/ 186591 h 1160746"/>
              <a:gd name="connsiteX117" fmla="*/ 914506 w 1162224"/>
              <a:gd name="connsiteY117" fmla="*/ 164575 h 1160746"/>
              <a:gd name="connsiteX118" fmla="*/ 903337 w 1162224"/>
              <a:gd name="connsiteY118" fmla="*/ 160314 h 1160746"/>
              <a:gd name="connsiteX119" fmla="*/ 95012 w 1162224"/>
              <a:gd name="connsiteY119" fmla="*/ 135079 h 1160746"/>
              <a:gd name="connsiteX120" fmla="*/ 326563 w 1162224"/>
              <a:gd name="connsiteY120" fmla="*/ 135079 h 1160746"/>
              <a:gd name="connsiteX121" fmla="*/ 328700 w 1162224"/>
              <a:gd name="connsiteY121" fmla="*/ 137966 h 1160746"/>
              <a:gd name="connsiteX122" fmla="*/ 328700 w 1162224"/>
              <a:gd name="connsiteY122" fmla="*/ 251977 h 1160746"/>
              <a:gd name="connsiteX123" fmla="*/ 326563 w 1162224"/>
              <a:gd name="connsiteY123" fmla="*/ 254142 h 1160746"/>
              <a:gd name="connsiteX124" fmla="*/ 225393 w 1162224"/>
              <a:gd name="connsiteY124" fmla="*/ 254142 h 1160746"/>
              <a:gd name="connsiteX125" fmla="*/ 195470 w 1162224"/>
              <a:gd name="connsiteY125" fmla="*/ 254142 h 1160746"/>
              <a:gd name="connsiteX126" fmla="*/ 95012 w 1162224"/>
              <a:gd name="connsiteY126" fmla="*/ 254142 h 1160746"/>
              <a:gd name="connsiteX127" fmla="*/ 92162 w 1162224"/>
              <a:gd name="connsiteY127" fmla="*/ 251977 h 1160746"/>
              <a:gd name="connsiteX128" fmla="*/ 92162 w 1162224"/>
              <a:gd name="connsiteY128" fmla="*/ 137966 h 1160746"/>
              <a:gd name="connsiteX129" fmla="*/ 95012 w 1162224"/>
              <a:gd name="connsiteY129" fmla="*/ 135079 h 1160746"/>
              <a:gd name="connsiteX130" fmla="*/ 1028876 w 1162224"/>
              <a:gd name="connsiteY130" fmla="*/ 128655 h 1160746"/>
              <a:gd name="connsiteX131" fmla="*/ 1017675 w 1162224"/>
              <a:gd name="connsiteY131" fmla="*/ 132834 h 1160746"/>
              <a:gd name="connsiteX132" fmla="*/ 1017675 w 1162224"/>
              <a:gd name="connsiteY132" fmla="*/ 155600 h 1160746"/>
              <a:gd name="connsiteX133" fmla="*/ 1016264 w 1162224"/>
              <a:gd name="connsiteY133" fmla="*/ 273694 h 1160746"/>
              <a:gd name="connsiteX134" fmla="*/ 1019086 w 1162224"/>
              <a:gd name="connsiteY134" fmla="*/ 295747 h 1160746"/>
              <a:gd name="connsiteX135" fmla="*/ 1028964 w 1162224"/>
              <a:gd name="connsiteY135" fmla="*/ 298593 h 1160746"/>
              <a:gd name="connsiteX136" fmla="*/ 1040959 w 1162224"/>
              <a:gd name="connsiteY136" fmla="*/ 292902 h 1160746"/>
              <a:gd name="connsiteX137" fmla="*/ 1039547 w 1162224"/>
              <a:gd name="connsiteY137" fmla="*/ 133546 h 1160746"/>
              <a:gd name="connsiteX138" fmla="*/ 1028876 w 1162224"/>
              <a:gd name="connsiteY138" fmla="*/ 128655 h 1160746"/>
              <a:gd name="connsiteX139" fmla="*/ 867306 w 1162224"/>
              <a:gd name="connsiteY139" fmla="*/ 128655 h 1160746"/>
              <a:gd name="connsiteX140" fmla="*/ 856429 w 1162224"/>
              <a:gd name="connsiteY140" fmla="*/ 133546 h 1160746"/>
              <a:gd name="connsiteX141" fmla="*/ 854991 w 1162224"/>
              <a:gd name="connsiteY141" fmla="*/ 292902 h 1160746"/>
              <a:gd name="connsiteX142" fmla="*/ 867935 w 1162224"/>
              <a:gd name="connsiteY142" fmla="*/ 298593 h 1160746"/>
              <a:gd name="connsiteX143" fmla="*/ 877284 w 1162224"/>
              <a:gd name="connsiteY143" fmla="*/ 295747 h 1160746"/>
              <a:gd name="connsiteX144" fmla="*/ 880160 w 1162224"/>
              <a:gd name="connsiteY144" fmla="*/ 273694 h 1160746"/>
              <a:gd name="connsiteX145" fmla="*/ 879441 w 1162224"/>
              <a:gd name="connsiteY145" fmla="*/ 155600 h 1160746"/>
              <a:gd name="connsiteX146" fmla="*/ 878722 w 1162224"/>
              <a:gd name="connsiteY146" fmla="*/ 132834 h 1160746"/>
              <a:gd name="connsiteX147" fmla="*/ 867306 w 1162224"/>
              <a:gd name="connsiteY147" fmla="*/ 128655 h 1160746"/>
              <a:gd name="connsiteX148" fmla="*/ 74942 w 1162224"/>
              <a:gd name="connsiteY148" fmla="*/ 114442 h 1160746"/>
              <a:gd name="connsiteX149" fmla="*/ 69937 w 1162224"/>
              <a:gd name="connsiteY149" fmla="*/ 119418 h 1160746"/>
              <a:gd name="connsiteX150" fmla="*/ 69937 w 1162224"/>
              <a:gd name="connsiteY150" fmla="*/ 269401 h 1160746"/>
              <a:gd name="connsiteX151" fmla="*/ 74942 w 1162224"/>
              <a:gd name="connsiteY151" fmla="*/ 275088 h 1160746"/>
              <a:gd name="connsiteX152" fmla="*/ 186479 w 1162224"/>
              <a:gd name="connsiteY152" fmla="*/ 275088 h 1160746"/>
              <a:gd name="connsiteX153" fmla="*/ 186479 w 1162224"/>
              <a:gd name="connsiteY153" fmla="*/ 278642 h 1160746"/>
              <a:gd name="connsiteX154" fmla="*/ 167175 w 1162224"/>
              <a:gd name="connsiteY154" fmla="*/ 295701 h 1160746"/>
              <a:gd name="connsiteX155" fmla="*/ 165745 w 1162224"/>
              <a:gd name="connsiteY155" fmla="*/ 301388 h 1160746"/>
              <a:gd name="connsiteX156" fmla="*/ 170750 w 1162224"/>
              <a:gd name="connsiteY156" fmla="*/ 304942 h 1160746"/>
              <a:gd name="connsiteX157" fmla="*/ 250113 w 1162224"/>
              <a:gd name="connsiteY157" fmla="*/ 304942 h 1160746"/>
              <a:gd name="connsiteX158" fmla="*/ 255118 w 1162224"/>
              <a:gd name="connsiteY158" fmla="*/ 301388 h 1160746"/>
              <a:gd name="connsiteX159" fmla="*/ 253688 w 1162224"/>
              <a:gd name="connsiteY159" fmla="*/ 295701 h 1160746"/>
              <a:gd name="connsiteX160" fmla="*/ 233668 w 1162224"/>
              <a:gd name="connsiteY160" fmla="*/ 278642 h 1160746"/>
              <a:gd name="connsiteX161" fmla="*/ 233668 w 1162224"/>
              <a:gd name="connsiteY161" fmla="*/ 275088 h 1160746"/>
              <a:gd name="connsiteX162" fmla="*/ 345205 w 1162224"/>
              <a:gd name="connsiteY162" fmla="*/ 275088 h 1160746"/>
              <a:gd name="connsiteX163" fmla="*/ 350925 w 1162224"/>
              <a:gd name="connsiteY163" fmla="*/ 269401 h 1160746"/>
              <a:gd name="connsiteX164" fmla="*/ 350925 w 1162224"/>
              <a:gd name="connsiteY164" fmla="*/ 119418 h 1160746"/>
              <a:gd name="connsiteX165" fmla="*/ 345205 w 1162224"/>
              <a:gd name="connsiteY165" fmla="*/ 114442 h 1160746"/>
              <a:gd name="connsiteX166" fmla="*/ 74942 w 1162224"/>
              <a:gd name="connsiteY166" fmla="*/ 114442 h 1160746"/>
              <a:gd name="connsiteX167" fmla="*/ 1064232 w 1162224"/>
              <a:gd name="connsiteY167" fmla="*/ 95414 h 1160746"/>
              <a:gd name="connsiteX168" fmla="*/ 1052756 w 1162224"/>
              <a:gd name="connsiteY168" fmla="*/ 100241 h 1160746"/>
              <a:gd name="connsiteX169" fmla="*/ 1052756 w 1162224"/>
              <a:gd name="connsiteY169" fmla="*/ 122409 h 1160746"/>
              <a:gd name="connsiteX170" fmla="*/ 1082394 w 1162224"/>
              <a:gd name="connsiteY170" fmla="*/ 175325 h 1160746"/>
              <a:gd name="connsiteX171" fmla="*/ 1051310 w 1162224"/>
              <a:gd name="connsiteY171" fmla="*/ 306902 h 1160746"/>
              <a:gd name="connsiteX172" fmla="*/ 1054202 w 1162224"/>
              <a:gd name="connsiteY172" fmla="*/ 329070 h 1160746"/>
              <a:gd name="connsiteX173" fmla="*/ 1064322 w 1162224"/>
              <a:gd name="connsiteY173" fmla="*/ 331930 h 1160746"/>
              <a:gd name="connsiteX174" fmla="*/ 1076611 w 1162224"/>
              <a:gd name="connsiteY174" fmla="*/ 326209 h 1160746"/>
              <a:gd name="connsiteX175" fmla="*/ 1113478 w 1162224"/>
              <a:gd name="connsiteY175" fmla="*/ 166029 h 1160746"/>
              <a:gd name="connsiteX176" fmla="*/ 1075166 w 1162224"/>
              <a:gd name="connsiteY176" fmla="*/ 100241 h 1160746"/>
              <a:gd name="connsiteX177" fmla="*/ 1064232 w 1162224"/>
              <a:gd name="connsiteY177" fmla="*/ 95414 h 1160746"/>
              <a:gd name="connsiteX178" fmla="*/ 832198 w 1162224"/>
              <a:gd name="connsiteY178" fmla="*/ 95414 h 1160746"/>
              <a:gd name="connsiteX179" fmla="*/ 820879 w 1162224"/>
              <a:gd name="connsiteY179" fmla="*/ 100241 h 1160746"/>
              <a:gd name="connsiteX180" fmla="*/ 783801 w 1162224"/>
              <a:gd name="connsiteY180" fmla="*/ 166029 h 1160746"/>
              <a:gd name="connsiteX181" fmla="*/ 817314 w 1162224"/>
              <a:gd name="connsiteY181" fmla="*/ 323349 h 1160746"/>
              <a:gd name="connsiteX182" fmla="*/ 819453 w 1162224"/>
              <a:gd name="connsiteY182" fmla="*/ 326209 h 1160746"/>
              <a:gd name="connsiteX183" fmla="*/ 832287 w 1162224"/>
              <a:gd name="connsiteY183" fmla="*/ 331930 h 1160746"/>
              <a:gd name="connsiteX184" fmla="*/ 841557 w 1162224"/>
              <a:gd name="connsiteY184" fmla="*/ 329070 h 1160746"/>
              <a:gd name="connsiteX185" fmla="*/ 847261 w 1162224"/>
              <a:gd name="connsiteY185" fmla="*/ 311908 h 1160746"/>
              <a:gd name="connsiteX186" fmla="*/ 844409 w 1162224"/>
              <a:gd name="connsiteY186" fmla="*/ 306902 h 1160746"/>
              <a:gd name="connsiteX187" fmla="*/ 842983 w 1162224"/>
              <a:gd name="connsiteY187" fmla="*/ 122409 h 1160746"/>
              <a:gd name="connsiteX188" fmla="*/ 842983 w 1162224"/>
              <a:gd name="connsiteY188" fmla="*/ 100241 h 1160746"/>
              <a:gd name="connsiteX189" fmla="*/ 832198 w 1162224"/>
              <a:gd name="connsiteY189" fmla="*/ 95414 h 1160746"/>
              <a:gd name="connsiteX190" fmla="*/ 948141 w 1162224"/>
              <a:gd name="connsiteY190" fmla="*/ 3212 h 1160746"/>
              <a:gd name="connsiteX191" fmla="*/ 1097351 w 1162224"/>
              <a:gd name="connsiteY191" fmla="*/ 64809 h 1160746"/>
              <a:gd name="connsiteX192" fmla="*/ 1097351 w 1162224"/>
              <a:gd name="connsiteY192" fmla="*/ 363331 h 1160746"/>
              <a:gd name="connsiteX193" fmla="*/ 810553 w 1162224"/>
              <a:gd name="connsiteY193" fmla="*/ 374043 h 1160746"/>
              <a:gd name="connsiteX194" fmla="*/ 664651 w 1162224"/>
              <a:gd name="connsiteY194" fmla="*/ 519733 h 1160746"/>
              <a:gd name="connsiteX195" fmla="*/ 653923 w 1162224"/>
              <a:gd name="connsiteY195" fmla="*/ 524018 h 1160746"/>
              <a:gd name="connsiteX196" fmla="*/ 642480 w 1162224"/>
              <a:gd name="connsiteY196" fmla="*/ 519733 h 1160746"/>
              <a:gd name="connsiteX197" fmla="*/ 580972 w 1162224"/>
              <a:gd name="connsiteY197" fmla="*/ 494023 h 1160746"/>
              <a:gd name="connsiteX198" fmla="*/ 565237 w 1162224"/>
              <a:gd name="connsiteY198" fmla="*/ 478312 h 1160746"/>
              <a:gd name="connsiteX199" fmla="*/ 580972 w 1162224"/>
              <a:gd name="connsiteY199" fmla="*/ 462600 h 1160746"/>
              <a:gd name="connsiteX200" fmla="*/ 653208 w 1162224"/>
              <a:gd name="connsiteY200" fmla="*/ 486881 h 1160746"/>
              <a:gd name="connsiteX201" fmla="*/ 788382 w 1162224"/>
              <a:gd name="connsiteY201" fmla="*/ 351904 h 1160746"/>
              <a:gd name="connsiteX202" fmla="*/ 798395 w 1162224"/>
              <a:gd name="connsiteY202" fmla="*/ 64809 h 1160746"/>
              <a:gd name="connsiteX203" fmla="*/ 948141 w 1162224"/>
              <a:gd name="connsiteY203" fmla="*/ 3212 h 1160746"/>
              <a:gd name="connsiteX204" fmla="*/ 211310 w 1162224"/>
              <a:gd name="connsiteY204" fmla="*/ 0 h 1160746"/>
              <a:gd name="connsiteX205" fmla="*/ 360434 w 1162224"/>
              <a:gd name="connsiteY205" fmla="*/ 61488 h 1160746"/>
              <a:gd name="connsiteX206" fmla="*/ 371155 w 1162224"/>
              <a:gd name="connsiteY206" fmla="*/ 348076 h 1160746"/>
              <a:gd name="connsiteX207" fmla="*/ 519832 w 1162224"/>
              <a:gd name="connsiteY207" fmla="*/ 496360 h 1160746"/>
              <a:gd name="connsiteX208" fmla="*/ 519832 w 1162224"/>
              <a:gd name="connsiteY208" fmla="*/ 518460 h 1160746"/>
              <a:gd name="connsiteX209" fmla="*/ 494099 w 1162224"/>
              <a:gd name="connsiteY209" fmla="*/ 579770 h 1160746"/>
              <a:gd name="connsiteX210" fmla="*/ 478374 w 1162224"/>
              <a:gd name="connsiteY210" fmla="*/ 595454 h 1160746"/>
              <a:gd name="connsiteX211" fmla="*/ 462649 w 1162224"/>
              <a:gd name="connsiteY211" fmla="*/ 579770 h 1160746"/>
              <a:gd name="connsiteX212" fmla="*/ 486952 w 1162224"/>
              <a:gd name="connsiteY212" fmla="*/ 507767 h 1160746"/>
              <a:gd name="connsiteX213" fmla="*/ 348997 w 1162224"/>
              <a:gd name="connsiteY213" fmla="*/ 370176 h 1160746"/>
              <a:gd name="connsiteX214" fmla="*/ 61651 w 1162224"/>
              <a:gd name="connsiteY214" fmla="*/ 359483 h 1160746"/>
              <a:gd name="connsiteX215" fmla="*/ 61651 w 1162224"/>
              <a:gd name="connsiteY215" fmla="*/ 61488 h 1160746"/>
              <a:gd name="connsiteX216" fmla="*/ 211310 w 1162224"/>
              <a:gd name="connsiteY216" fmla="*/ 0 h 1160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162224" h="1160746">
                <a:moveTo>
                  <a:pt x="210432" y="1046305"/>
                </a:moveTo>
                <a:cubicBezTo>
                  <a:pt x="218762" y="1046305"/>
                  <a:pt x="225514" y="1053057"/>
                  <a:pt x="225514" y="1061387"/>
                </a:cubicBezTo>
                <a:cubicBezTo>
                  <a:pt x="225514" y="1069717"/>
                  <a:pt x="218762" y="1076469"/>
                  <a:pt x="210432" y="1076469"/>
                </a:cubicBezTo>
                <a:cubicBezTo>
                  <a:pt x="202102" y="1076469"/>
                  <a:pt x="195350" y="1069717"/>
                  <a:pt x="195350" y="1061387"/>
                </a:cubicBezTo>
                <a:cubicBezTo>
                  <a:pt x="195350" y="1053057"/>
                  <a:pt x="202102" y="1046305"/>
                  <a:pt x="210432" y="1046305"/>
                </a:cubicBezTo>
                <a:close/>
                <a:moveTo>
                  <a:pt x="888326" y="827229"/>
                </a:moveTo>
                <a:cubicBezTo>
                  <a:pt x="884752" y="827229"/>
                  <a:pt x="881892" y="828654"/>
                  <a:pt x="879748" y="830791"/>
                </a:cubicBezTo>
                <a:cubicBezTo>
                  <a:pt x="879748" y="830791"/>
                  <a:pt x="879748" y="830791"/>
                  <a:pt x="845436" y="864980"/>
                </a:cubicBezTo>
                <a:cubicBezTo>
                  <a:pt x="844006" y="866405"/>
                  <a:pt x="842576" y="868541"/>
                  <a:pt x="841147" y="871391"/>
                </a:cubicBezTo>
                <a:cubicBezTo>
                  <a:pt x="839717" y="873527"/>
                  <a:pt x="839002" y="876377"/>
                  <a:pt x="839002" y="878513"/>
                </a:cubicBezTo>
                <a:cubicBezTo>
                  <a:pt x="839002" y="879226"/>
                  <a:pt x="839002" y="880650"/>
                  <a:pt x="838287" y="883499"/>
                </a:cubicBezTo>
                <a:cubicBezTo>
                  <a:pt x="838287" y="887061"/>
                  <a:pt x="839002" y="891334"/>
                  <a:pt x="839717" y="896320"/>
                </a:cubicBezTo>
                <a:cubicBezTo>
                  <a:pt x="840432" y="902019"/>
                  <a:pt x="841861" y="908429"/>
                  <a:pt x="844721" y="915552"/>
                </a:cubicBezTo>
                <a:cubicBezTo>
                  <a:pt x="846865" y="923387"/>
                  <a:pt x="850440" y="931222"/>
                  <a:pt x="855443" y="940482"/>
                </a:cubicBezTo>
                <a:cubicBezTo>
                  <a:pt x="859732" y="949742"/>
                  <a:pt x="866166" y="959713"/>
                  <a:pt x="874029" y="970398"/>
                </a:cubicBezTo>
                <a:cubicBezTo>
                  <a:pt x="882607" y="981082"/>
                  <a:pt x="891900" y="992478"/>
                  <a:pt x="904052" y="1004587"/>
                </a:cubicBezTo>
                <a:cubicBezTo>
                  <a:pt x="919064" y="1019545"/>
                  <a:pt x="933361" y="1031654"/>
                  <a:pt x="946943" y="1040201"/>
                </a:cubicBezTo>
                <a:cubicBezTo>
                  <a:pt x="960525" y="1049461"/>
                  <a:pt x="972677" y="1055872"/>
                  <a:pt x="983400" y="1060145"/>
                </a:cubicBezTo>
                <a:cubicBezTo>
                  <a:pt x="993407" y="1064419"/>
                  <a:pt x="1002700" y="1067268"/>
                  <a:pt x="1009849" y="1068693"/>
                </a:cubicBezTo>
                <a:cubicBezTo>
                  <a:pt x="1016997" y="1069405"/>
                  <a:pt x="1022716" y="1070117"/>
                  <a:pt x="1025575" y="1070117"/>
                </a:cubicBezTo>
                <a:cubicBezTo>
                  <a:pt x="1027005" y="1070117"/>
                  <a:pt x="1028434" y="1070117"/>
                  <a:pt x="1029149" y="1070117"/>
                </a:cubicBezTo>
                <a:cubicBezTo>
                  <a:pt x="1029864" y="1070117"/>
                  <a:pt x="1030579" y="1070117"/>
                  <a:pt x="1030579" y="1070117"/>
                </a:cubicBezTo>
                <a:cubicBezTo>
                  <a:pt x="1033438" y="1069405"/>
                  <a:pt x="1035583" y="1068693"/>
                  <a:pt x="1037727" y="1067268"/>
                </a:cubicBezTo>
                <a:cubicBezTo>
                  <a:pt x="1040587" y="1066556"/>
                  <a:pt x="1042731" y="1065131"/>
                  <a:pt x="1044161" y="1062994"/>
                </a:cubicBezTo>
                <a:cubicBezTo>
                  <a:pt x="1044161" y="1062994"/>
                  <a:pt x="1044161" y="1062994"/>
                  <a:pt x="1078473" y="1029517"/>
                </a:cubicBezTo>
                <a:cubicBezTo>
                  <a:pt x="1081333" y="1026668"/>
                  <a:pt x="1082762" y="1023107"/>
                  <a:pt x="1082047" y="1018833"/>
                </a:cubicBezTo>
                <a:cubicBezTo>
                  <a:pt x="1081333" y="1015271"/>
                  <a:pt x="1079188" y="1012422"/>
                  <a:pt x="1075614" y="1010285"/>
                </a:cubicBezTo>
                <a:cubicBezTo>
                  <a:pt x="1075614" y="1010285"/>
                  <a:pt x="1075614" y="1010285"/>
                  <a:pt x="1025575" y="981082"/>
                </a:cubicBezTo>
                <a:cubicBezTo>
                  <a:pt x="1024145" y="980370"/>
                  <a:pt x="1021286" y="979657"/>
                  <a:pt x="1018427" y="979657"/>
                </a:cubicBezTo>
                <a:cubicBezTo>
                  <a:pt x="1014138" y="979657"/>
                  <a:pt x="1010563" y="981082"/>
                  <a:pt x="1007704" y="983931"/>
                </a:cubicBezTo>
                <a:cubicBezTo>
                  <a:pt x="1007704" y="983931"/>
                  <a:pt x="1007704" y="983931"/>
                  <a:pt x="992693" y="998889"/>
                </a:cubicBezTo>
                <a:cubicBezTo>
                  <a:pt x="992693" y="998889"/>
                  <a:pt x="991978" y="999601"/>
                  <a:pt x="991263" y="999601"/>
                </a:cubicBezTo>
                <a:cubicBezTo>
                  <a:pt x="990548" y="999601"/>
                  <a:pt x="989833" y="999601"/>
                  <a:pt x="989833" y="999601"/>
                </a:cubicBezTo>
                <a:cubicBezTo>
                  <a:pt x="989833" y="999601"/>
                  <a:pt x="989833" y="999601"/>
                  <a:pt x="986259" y="999601"/>
                </a:cubicBezTo>
                <a:cubicBezTo>
                  <a:pt x="984114" y="998889"/>
                  <a:pt x="981255" y="997464"/>
                  <a:pt x="976966" y="995328"/>
                </a:cubicBezTo>
                <a:cubicBezTo>
                  <a:pt x="973392" y="993191"/>
                  <a:pt x="968388" y="990342"/>
                  <a:pt x="961954" y="986068"/>
                </a:cubicBezTo>
                <a:cubicBezTo>
                  <a:pt x="956236" y="981794"/>
                  <a:pt x="949087" y="975384"/>
                  <a:pt x="941224" y="967549"/>
                </a:cubicBezTo>
                <a:cubicBezTo>
                  <a:pt x="933361" y="959713"/>
                  <a:pt x="927642" y="953303"/>
                  <a:pt x="923353" y="946892"/>
                </a:cubicBezTo>
                <a:cubicBezTo>
                  <a:pt x="919064" y="941194"/>
                  <a:pt x="915490" y="936208"/>
                  <a:pt x="913345" y="931935"/>
                </a:cubicBezTo>
                <a:cubicBezTo>
                  <a:pt x="911201" y="927661"/>
                  <a:pt x="909771" y="923387"/>
                  <a:pt x="909056" y="919826"/>
                </a:cubicBezTo>
                <a:cubicBezTo>
                  <a:pt x="909056" y="919113"/>
                  <a:pt x="909056" y="918401"/>
                  <a:pt x="909056" y="917689"/>
                </a:cubicBezTo>
                <a:cubicBezTo>
                  <a:pt x="909771" y="916977"/>
                  <a:pt x="909771" y="916264"/>
                  <a:pt x="910486" y="916264"/>
                </a:cubicBezTo>
                <a:cubicBezTo>
                  <a:pt x="910486" y="916264"/>
                  <a:pt x="910486" y="916264"/>
                  <a:pt x="922638" y="903443"/>
                </a:cubicBezTo>
                <a:cubicBezTo>
                  <a:pt x="924783" y="901306"/>
                  <a:pt x="926212" y="898457"/>
                  <a:pt x="926927" y="895608"/>
                </a:cubicBezTo>
                <a:cubicBezTo>
                  <a:pt x="927642" y="892047"/>
                  <a:pt x="927642" y="889198"/>
                  <a:pt x="926212" y="886348"/>
                </a:cubicBezTo>
                <a:cubicBezTo>
                  <a:pt x="926212" y="886348"/>
                  <a:pt x="926212" y="886348"/>
                  <a:pt x="898334" y="834352"/>
                </a:cubicBezTo>
                <a:cubicBezTo>
                  <a:pt x="896904" y="832215"/>
                  <a:pt x="895474" y="830791"/>
                  <a:pt x="894045" y="829366"/>
                </a:cubicBezTo>
                <a:cubicBezTo>
                  <a:pt x="891900" y="827941"/>
                  <a:pt x="890471" y="827229"/>
                  <a:pt x="888326" y="827229"/>
                </a:cubicBezTo>
                <a:close/>
                <a:moveTo>
                  <a:pt x="153607" y="820880"/>
                </a:moveTo>
                <a:cubicBezTo>
                  <a:pt x="153607" y="820880"/>
                  <a:pt x="153607" y="820880"/>
                  <a:pt x="268843" y="820880"/>
                </a:cubicBezTo>
                <a:cubicBezTo>
                  <a:pt x="270990" y="820880"/>
                  <a:pt x="273137" y="823019"/>
                  <a:pt x="273137" y="825871"/>
                </a:cubicBezTo>
                <a:cubicBezTo>
                  <a:pt x="273137" y="825871"/>
                  <a:pt x="273137" y="825871"/>
                  <a:pt x="273137" y="1019802"/>
                </a:cubicBezTo>
                <a:cubicBezTo>
                  <a:pt x="273137" y="1021941"/>
                  <a:pt x="270990" y="1024080"/>
                  <a:pt x="268843" y="1024080"/>
                </a:cubicBezTo>
                <a:cubicBezTo>
                  <a:pt x="268843" y="1024080"/>
                  <a:pt x="268843" y="1024080"/>
                  <a:pt x="153607" y="1024080"/>
                </a:cubicBezTo>
                <a:cubicBezTo>
                  <a:pt x="151460" y="1024080"/>
                  <a:pt x="149312" y="1021941"/>
                  <a:pt x="149312" y="1019802"/>
                </a:cubicBezTo>
                <a:cubicBezTo>
                  <a:pt x="149312" y="1019802"/>
                  <a:pt x="149312" y="1019802"/>
                  <a:pt x="149312" y="825871"/>
                </a:cubicBezTo>
                <a:cubicBezTo>
                  <a:pt x="149312" y="823019"/>
                  <a:pt x="151460" y="820880"/>
                  <a:pt x="153607" y="820880"/>
                </a:cubicBezTo>
                <a:close/>
                <a:moveTo>
                  <a:pt x="139397" y="800243"/>
                </a:moveTo>
                <a:cubicBezTo>
                  <a:pt x="133679" y="800243"/>
                  <a:pt x="128676" y="805226"/>
                  <a:pt x="128676" y="810922"/>
                </a:cubicBezTo>
                <a:cubicBezTo>
                  <a:pt x="128676" y="810922"/>
                  <a:pt x="128676" y="810922"/>
                  <a:pt x="128676" y="1086428"/>
                </a:cubicBezTo>
                <a:cubicBezTo>
                  <a:pt x="128676" y="1092835"/>
                  <a:pt x="133679" y="1097106"/>
                  <a:pt x="139397" y="1097106"/>
                </a:cubicBezTo>
                <a:cubicBezTo>
                  <a:pt x="139397" y="1097106"/>
                  <a:pt x="139397" y="1097106"/>
                  <a:pt x="283055" y="1097106"/>
                </a:cubicBezTo>
                <a:cubicBezTo>
                  <a:pt x="288773" y="1097106"/>
                  <a:pt x="293776" y="1092835"/>
                  <a:pt x="293776" y="1086428"/>
                </a:cubicBezTo>
                <a:lnTo>
                  <a:pt x="293776" y="810922"/>
                </a:lnTo>
                <a:cubicBezTo>
                  <a:pt x="293776" y="805226"/>
                  <a:pt x="288773" y="800243"/>
                  <a:pt x="283055" y="800243"/>
                </a:cubicBezTo>
                <a:cubicBezTo>
                  <a:pt x="283055" y="800243"/>
                  <a:pt x="283055" y="800243"/>
                  <a:pt x="139397" y="800243"/>
                </a:cubicBezTo>
                <a:close/>
                <a:moveTo>
                  <a:pt x="508450" y="638157"/>
                </a:moveTo>
                <a:cubicBezTo>
                  <a:pt x="512471" y="638157"/>
                  <a:pt x="516581" y="639585"/>
                  <a:pt x="519797" y="642439"/>
                </a:cubicBezTo>
                <a:cubicBezTo>
                  <a:pt x="536236" y="658853"/>
                  <a:pt x="557678" y="668131"/>
                  <a:pt x="581265" y="668131"/>
                </a:cubicBezTo>
                <a:cubicBezTo>
                  <a:pt x="589842" y="668131"/>
                  <a:pt x="596989" y="675267"/>
                  <a:pt x="596989" y="683831"/>
                </a:cubicBezTo>
                <a:cubicBezTo>
                  <a:pt x="596989" y="692395"/>
                  <a:pt x="589842" y="699531"/>
                  <a:pt x="581265" y="699531"/>
                </a:cubicBezTo>
                <a:cubicBezTo>
                  <a:pt x="554819" y="699531"/>
                  <a:pt x="529803" y="690967"/>
                  <a:pt x="509076" y="675267"/>
                </a:cubicBezTo>
                <a:cubicBezTo>
                  <a:pt x="509076" y="675267"/>
                  <a:pt x="509076" y="675267"/>
                  <a:pt x="371130" y="813001"/>
                </a:cubicBezTo>
                <a:cubicBezTo>
                  <a:pt x="442605" y="895784"/>
                  <a:pt x="439031" y="1020672"/>
                  <a:pt x="360409" y="1099174"/>
                </a:cubicBezTo>
                <a:cubicBezTo>
                  <a:pt x="278214" y="1181243"/>
                  <a:pt x="144557" y="1181243"/>
                  <a:pt x="61647" y="1099174"/>
                </a:cubicBezTo>
                <a:cubicBezTo>
                  <a:pt x="-20549" y="1017104"/>
                  <a:pt x="-20549" y="883652"/>
                  <a:pt x="61647" y="800869"/>
                </a:cubicBezTo>
                <a:cubicBezTo>
                  <a:pt x="140268" y="722368"/>
                  <a:pt x="266063" y="718800"/>
                  <a:pt x="348973" y="790878"/>
                </a:cubicBezTo>
                <a:cubicBezTo>
                  <a:pt x="348973" y="790878"/>
                  <a:pt x="348973" y="790878"/>
                  <a:pt x="497640" y="642439"/>
                </a:cubicBezTo>
                <a:cubicBezTo>
                  <a:pt x="500499" y="639585"/>
                  <a:pt x="504430" y="638157"/>
                  <a:pt x="508450" y="638157"/>
                </a:cubicBezTo>
                <a:close/>
                <a:moveTo>
                  <a:pt x="683851" y="565292"/>
                </a:moveTo>
                <a:cubicBezTo>
                  <a:pt x="692429" y="565292"/>
                  <a:pt x="699577" y="572421"/>
                  <a:pt x="699577" y="580976"/>
                </a:cubicBezTo>
                <a:cubicBezTo>
                  <a:pt x="699577" y="607354"/>
                  <a:pt x="690999" y="632305"/>
                  <a:pt x="675274" y="652979"/>
                </a:cubicBezTo>
                <a:cubicBezTo>
                  <a:pt x="675274" y="652979"/>
                  <a:pt x="675274" y="652979"/>
                  <a:pt x="813229" y="790570"/>
                </a:cubicBezTo>
                <a:cubicBezTo>
                  <a:pt x="896144" y="719280"/>
                  <a:pt x="1021947" y="722844"/>
                  <a:pt x="1100574" y="801264"/>
                </a:cubicBezTo>
                <a:cubicBezTo>
                  <a:pt x="1182775" y="883248"/>
                  <a:pt x="1182775" y="1016561"/>
                  <a:pt x="1100574" y="1099258"/>
                </a:cubicBezTo>
                <a:cubicBezTo>
                  <a:pt x="1017659" y="1181242"/>
                  <a:pt x="883993" y="1181242"/>
                  <a:pt x="801792" y="1099258"/>
                </a:cubicBezTo>
                <a:cubicBezTo>
                  <a:pt x="723165" y="1020838"/>
                  <a:pt x="719591" y="895367"/>
                  <a:pt x="791070" y="812670"/>
                </a:cubicBezTo>
                <a:cubicBezTo>
                  <a:pt x="791070" y="812670"/>
                  <a:pt x="791070" y="812670"/>
                  <a:pt x="642394" y="664386"/>
                </a:cubicBezTo>
                <a:cubicBezTo>
                  <a:pt x="636675" y="658683"/>
                  <a:pt x="636675" y="648702"/>
                  <a:pt x="642394" y="642286"/>
                </a:cubicBezTo>
                <a:cubicBezTo>
                  <a:pt x="658834" y="625889"/>
                  <a:pt x="668126" y="604502"/>
                  <a:pt x="668126" y="580976"/>
                </a:cubicBezTo>
                <a:cubicBezTo>
                  <a:pt x="668126" y="572421"/>
                  <a:pt x="675274" y="565292"/>
                  <a:pt x="683851" y="565292"/>
                </a:cubicBezTo>
                <a:close/>
                <a:moveTo>
                  <a:pt x="581112" y="533543"/>
                </a:moveTo>
                <a:cubicBezTo>
                  <a:pt x="607415" y="533543"/>
                  <a:pt x="628737" y="554510"/>
                  <a:pt x="628737" y="580375"/>
                </a:cubicBezTo>
                <a:cubicBezTo>
                  <a:pt x="628737" y="606240"/>
                  <a:pt x="607415" y="627207"/>
                  <a:pt x="581112" y="627207"/>
                </a:cubicBezTo>
                <a:cubicBezTo>
                  <a:pt x="554809" y="627207"/>
                  <a:pt x="533487" y="606240"/>
                  <a:pt x="533487" y="580375"/>
                </a:cubicBezTo>
                <a:cubicBezTo>
                  <a:pt x="533487" y="554510"/>
                  <a:pt x="554809" y="533543"/>
                  <a:pt x="581112" y="533543"/>
                </a:cubicBezTo>
                <a:close/>
                <a:moveTo>
                  <a:pt x="947825" y="192230"/>
                </a:moveTo>
                <a:cubicBezTo>
                  <a:pt x="936427" y="192230"/>
                  <a:pt x="927187" y="201470"/>
                  <a:pt x="927187" y="212868"/>
                </a:cubicBezTo>
                <a:cubicBezTo>
                  <a:pt x="927187" y="224266"/>
                  <a:pt x="936427" y="233506"/>
                  <a:pt x="947825" y="233506"/>
                </a:cubicBezTo>
                <a:cubicBezTo>
                  <a:pt x="959223" y="233506"/>
                  <a:pt x="968463" y="224266"/>
                  <a:pt x="968463" y="212868"/>
                </a:cubicBezTo>
                <a:cubicBezTo>
                  <a:pt x="968463" y="201470"/>
                  <a:pt x="959223" y="192230"/>
                  <a:pt x="947825" y="192230"/>
                </a:cubicBezTo>
                <a:close/>
                <a:moveTo>
                  <a:pt x="992489" y="160314"/>
                </a:moveTo>
                <a:cubicBezTo>
                  <a:pt x="988532" y="160314"/>
                  <a:pt x="984662" y="161734"/>
                  <a:pt x="981848" y="164575"/>
                </a:cubicBezTo>
                <a:cubicBezTo>
                  <a:pt x="975516" y="170966"/>
                  <a:pt x="975516" y="180909"/>
                  <a:pt x="981144" y="186591"/>
                </a:cubicBezTo>
                <a:cubicBezTo>
                  <a:pt x="982551" y="188011"/>
                  <a:pt x="1004362" y="210738"/>
                  <a:pt x="980441" y="241276"/>
                </a:cubicBezTo>
                <a:cubicBezTo>
                  <a:pt x="974812" y="248378"/>
                  <a:pt x="976219" y="258321"/>
                  <a:pt x="982551" y="263292"/>
                </a:cubicBezTo>
                <a:cubicBezTo>
                  <a:pt x="985366" y="265423"/>
                  <a:pt x="988883" y="266843"/>
                  <a:pt x="992401" y="266843"/>
                </a:cubicBezTo>
                <a:cubicBezTo>
                  <a:pt x="997326" y="266843"/>
                  <a:pt x="1001547" y="264713"/>
                  <a:pt x="1004362" y="260451"/>
                </a:cubicBezTo>
                <a:cubicBezTo>
                  <a:pt x="1036725" y="219260"/>
                  <a:pt x="1017729" y="179489"/>
                  <a:pt x="1003658" y="164575"/>
                </a:cubicBezTo>
                <a:cubicBezTo>
                  <a:pt x="1000492" y="161734"/>
                  <a:pt x="996447" y="160314"/>
                  <a:pt x="992489" y="160314"/>
                </a:cubicBezTo>
                <a:close/>
                <a:moveTo>
                  <a:pt x="903337" y="160314"/>
                </a:moveTo>
                <a:cubicBezTo>
                  <a:pt x="899380" y="160314"/>
                  <a:pt x="895510" y="161734"/>
                  <a:pt x="892696" y="164575"/>
                </a:cubicBezTo>
                <a:cubicBezTo>
                  <a:pt x="877921" y="179489"/>
                  <a:pt x="858925" y="219260"/>
                  <a:pt x="891289" y="260451"/>
                </a:cubicBezTo>
                <a:cubicBezTo>
                  <a:pt x="894103" y="264713"/>
                  <a:pt x="899028" y="266843"/>
                  <a:pt x="903249" y="266843"/>
                </a:cubicBezTo>
                <a:cubicBezTo>
                  <a:pt x="906767" y="266843"/>
                  <a:pt x="910285" y="265423"/>
                  <a:pt x="913099" y="263292"/>
                </a:cubicBezTo>
                <a:cubicBezTo>
                  <a:pt x="920135" y="258321"/>
                  <a:pt x="920838" y="248378"/>
                  <a:pt x="915913" y="241276"/>
                </a:cubicBezTo>
                <a:cubicBezTo>
                  <a:pt x="893400" y="212158"/>
                  <a:pt x="910988" y="190852"/>
                  <a:pt x="914506" y="186591"/>
                </a:cubicBezTo>
                <a:cubicBezTo>
                  <a:pt x="920838" y="180199"/>
                  <a:pt x="920135" y="170966"/>
                  <a:pt x="914506" y="164575"/>
                </a:cubicBezTo>
                <a:cubicBezTo>
                  <a:pt x="911340" y="161734"/>
                  <a:pt x="907295" y="160314"/>
                  <a:pt x="903337" y="160314"/>
                </a:cubicBezTo>
                <a:close/>
                <a:moveTo>
                  <a:pt x="95012" y="135079"/>
                </a:moveTo>
                <a:cubicBezTo>
                  <a:pt x="95012" y="135079"/>
                  <a:pt x="95012" y="135079"/>
                  <a:pt x="326563" y="135079"/>
                </a:cubicBezTo>
                <a:cubicBezTo>
                  <a:pt x="327275" y="135079"/>
                  <a:pt x="328700" y="136522"/>
                  <a:pt x="328700" y="137966"/>
                </a:cubicBezTo>
                <a:cubicBezTo>
                  <a:pt x="328700" y="137966"/>
                  <a:pt x="328700" y="137966"/>
                  <a:pt x="328700" y="251977"/>
                </a:cubicBezTo>
                <a:cubicBezTo>
                  <a:pt x="328700" y="252699"/>
                  <a:pt x="327275" y="254142"/>
                  <a:pt x="326563" y="254142"/>
                </a:cubicBezTo>
                <a:cubicBezTo>
                  <a:pt x="326563" y="254142"/>
                  <a:pt x="326563" y="254142"/>
                  <a:pt x="225393" y="254142"/>
                </a:cubicBezTo>
                <a:cubicBezTo>
                  <a:pt x="217556" y="254142"/>
                  <a:pt x="203307" y="254142"/>
                  <a:pt x="195470" y="254142"/>
                </a:cubicBezTo>
                <a:cubicBezTo>
                  <a:pt x="195470" y="254142"/>
                  <a:pt x="195470" y="254142"/>
                  <a:pt x="95012" y="254142"/>
                </a:cubicBezTo>
                <a:cubicBezTo>
                  <a:pt x="93587" y="254142"/>
                  <a:pt x="92162" y="252699"/>
                  <a:pt x="92162" y="251977"/>
                </a:cubicBezTo>
                <a:cubicBezTo>
                  <a:pt x="92162" y="251977"/>
                  <a:pt x="92162" y="251977"/>
                  <a:pt x="92162" y="137966"/>
                </a:cubicBezTo>
                <a:cubicBezTo>
                  <a:pt x="92162" y="136522"/>
                  <a:pt x="93587" y="135079"/>
                  <a:pt x="95012" y="135079"/>
                </a:cubicBezTo>
                <a:close/>
                <a:moveTo>
                  <a:pt x="1028876" y="128655"/>
                </a:moveTo>
                <a:cubicBezTo>
                  <a:pt x="1024907" y="128566"/>
                  <a:pt x="1020850" y="129989"/>
                  <a:pt x="1017675" y="132834"/>
                </a:cubicBezTo>
                <a:cubicBezTo>
                  <a:pt x="1012031" y="139237"/>
                  <a:pt x="1011325" y="149197"/>
                  <a:pt x="1017675" y="155600"/>
                </a:cubicBezTo>
                <a:cubicBezTo>
                  <a:pt x="1019086" y="157734"/>
                  <a:pt x="1065653" y="208244"/>
                  <a:pt x="1016264" y="273694"/>
                </a:cubicBezTo>
                <a:cubicBezTo>
                  <a:pt x="1011325" y="280096"/>
                  <a:pt x="1012736" y="290056"/>
                  <a:pt x="1019086" y="295747"/>
                </a:cubicBezTo>
                <a:cubicBezTo>
                  <a:pt x="1021909" y="297882"/>
                  <a:pt x="1025436" y="298593"/>
                  <a:pt x="1028964" y="298593"/>
                </a:cubicBezTo>
                <a:cubicBezTo>
                  <a:pt x="1033197" y="298593"/>
                  <a:pt x="1038136" y="296459"/>
                  <a:pt x="1040959" y="292902"/>
                </a:cubicBezTo>
                <a:cubicBezTo>
                  <a:pt x="1093875" y="223184"/>
                  <a:pt x="1063536" y="158445"/>
                  <a:pt x="1039547" y="133546"/>
                </a:cubicBezTo>
                <a:cubicBezTo>
                  <a:pt x="1036725" y="130345"/>
                  <a:pt x="1032845" y="128744"/>
                  <a:pt x="1028876" y="128655"/>
                </a:cubicBezTo>
                <a:close/>
                <a:moveTo>
                  <a:pt x="867306" y="128655"/>
                </a:moveTo>
                <a:cubicBezTo>
                  <a:pt x="863261" y="128744"/>
                  <a:pt x="859306" y="130345"/>
                  <a:pt x="856429" y="133546"/>
                </a:cubicBezTo>
                <a:cubicBezTo>
                  <a:pt x="832698" y="158445"/>
                  <a:pt x="801775" y="223184"/>
                  <a:pt x="854991" y="292902"/>
                </a:cubicBezTo>
                <a:cubicBezTo>
                  <a:pt x="858586" y="296459"/>
                  <a:pt x="862901" y="298593"/>
                  <a:pt x="867935" y="298593"/>
                </a:cubicBezTo>
                <a:cubicBezTo>
                  <a:pt x="871531" y="298593"/>
                  <a:pt x="874407" y="297882"/>
                  <a:pt x="877284" y="295747"/>
                </a:cubicBezTo>
                <a:cubicBezTo>
                  <a:pt x="884475" y="290056"/>
                  <a:pt x="885913" y="280096"/>
                  <a:pt x="880160" y="273694"/>
                </a:cubicBezTo>
                <a:cubicBezTo>
                  <a:pt x="829821" y="208244"/>
                  <a:pt x="877284" y="157734"/>
                  <a:pt x="879441" y="155600"/>
                </a:cubicBezTo>
                <a:cubicBezTo>
                  <a:pt x="885194" y="149197"/>
                  <a:pt x="885194" y="139237"/>
                  <a:pt x="878722" y="132834"/>
                </a:cubicBezTo>
                <a:cubicBezTo>
                  <a:pt x="875486" y="129989"/>
                  <a:pt x="871351" y="128566"/>
                  <a:pt x="867306" y="128655"/>
                </a:cubicBezTo>
                <a:close/>
                <a:moveTo>
                  <a:pt x="74942" y="114442"/>
                </a:moveTo>
                <a:cubicBezTo>
                  <a:pt x="72082" y="114442"/>
                  <a:pt x="69937" y="116575"/>
                  <a:pt x="69937" y="119418"/>
                </a:cubicBezTo>
                <a:cubicBezTo>
                  <a:pt x="69937" y="119418"/>
                  <a:pt x="69937" y="119418"/>
                  <a:pt x="69937" y="269401"/>
                </a:cubicBezTo>
                <a:cubicBezTo>
                  <a:pt x="69937" y="272244"/>
                  <a:pt x="72082" y="275088"/>
                  <a:pt x="74942" y="275088"/>
                </a:cubicBezTo>
                <a:cubicBezTo>
                  <a:pt x="74942" y="275088"/>
                  <a:pt x="74942" y="275088"/>
                  <a:pt x="186479" y="275088"/>
                </a:cubicBezTo>
                <a:cubicBezTo>
                  <a:pt x="186479" y="275088"/>
                  <a:pt x="186479" y="275088"/>
                  <a:pt x="186479" y="278642"/>
                </a:cubicBezTo>
                <a:cubicBezTo>
                  <a:pt x="186479" y="278642"/>
                  <a:pt x="186479" y="278642"/>
                  <a:pt x="167175" y="295701"/>
                </a:cubicBezTo>
                <a:cubicBezTo>
                  <a:pt x="165030" y="297123"/>
                  <a:pt x="165030" y="299256"/>
                  <a:pt x="165745" y="301388"/>
                </a:cubicBezTo>
                <a:cubicBezTo>
                  <a:pt x="166460" y="303520"/>
                  <a:pt x="168605" y="304942"/>
                  <a:pt x="170750" y="304942"/>
                </a:cubicBezTo>
                <a:cubicBezTo>
                  <a:pt x="170750" y="304942"/>
                  <a:pt x="170750" y="304942"/>
                  <a:pt x="250113" y="304942"/>
                </a:cubicBezTo>
                <a:cubicBezTo>
                  <a:pt x="252258" y="304942"/>
                  <a:pt x="254403" y="303520"/>
                  <a:pt x="255118" y="301388"/>
                </a:cubicBezTo>
                <a:cubicBezTo>
                  <a:pt x="255833" y="299256"/>
                  <a:pt x="255118" y="297123"/>
                  <a:pt x="253688" y="295701"/>
                </a:cubicBezTo>
                <a:cubicBezTo>
                  <a:pt x="253688" y="295701"/>
                  <a:pt x="253688" y="295701"/>
                  <a:pt x="233668" y="278642"/>
                </a:cubicBezTo>
                <a:cubicBezTo>
                  <a:pt x="233668" y="278642"/>
                  <a:pt x="233668" y="278642"/>
                  <a:pt x="233668" y="275088"/>
                </a:cubicBezTo>
                <a:cubicBezTo>
                  <a:pt x="233668" y="275088"/>
                  <a:pt x="233668" y="275088"/>
                  <a:pt x="345205" y="275088"/>
                </a:cubicBezTo>
                <a:cubicBezTo>
                  <a:pt x="348065" y="275088"/>
                  <a:pt x="350925" y="272244"/>
                  <a:pt x="350925" y="269401"/>
                </a:cubicBezTo>
                <a:cubicBezTo>
                  <a:pt x="350925" y="269401"/>
                  <a:pt x="350925" y="269401"/>
                  <a:pt x="350925" y="119418"/>
                </a:cubicBezTo>
                <a:cubicBezTo>
                  <a:pt x="350925" y="116575"/>
                  <a:pt x="348065" y="114442"/>
                  <a:pt x="345205" y="114442"/>
                </a:cubicBezTo>
                <a:cubicBezTo>
                  <a:pt x="345205" y="114442"/>
                  <a:pt x="345205" y="114442"/>
                  <a:pt x="74942" y="114442"/>
                </a:cubicBezTo>
                <a:close/>
                <a:moveTo>
                  <a:pt x="1064232" y="95414"/>
                </a:moveTo>
                <a:cubicBezTo>
                  <a:pt x="1060166" y="95414"/>
                  <a:pt x="1056009" y="97023"/>
                  <a:pt x="1052756" y="100241"/>
                </a:cubicBezTo>
                <a:cubicBezTo>
                  <a:pt x="1046973" y="105962"/>
                  <a:pt x="1046250" y="115973"/>
                  <a:pt x="1052756" y="122409"/>
                </a:cubicBezTo>
                <a:cubicBezTo>
                  <a:pt x="1052756" y="122409"/>
                  <a:pt x="1072997" y="142431"/>
                  <a:pt x="1082394" y="175325"/>
                </a:cubicBezTo>
                <a:cubicBezTo>
                  <a:pt x="1096129" y="219661"/>
                  <a:pt x="1085286" y="263281"/>
                  <a:pt x="1051310" y="306902"/>
                </a:cubicBezTo>
                <a:cubicBezTo>
                  <a:pt x="1046250" y="313338"/>
                  <a:pt x="1046973" y="323349"/>
                  <a:pt x="1054202" y="329070"/>
                </a:cubicBezTo>
                <a:cubicBezTo>
                  <a:pt x="1057094" y="331215"/>
                  <a:pt x="1060708" y="331930"/>
                  <a:pt x="1064322" y="331930"/>
                </a:cubicBezTo>
                <a:cubicBezTo>
                  <a:pt x="1068660" y="331930"/>
                  <a:pt x="1073720" y="329785"/>
                  <a:pt x="1076611" y="326209"/>
                </a:cubicBezTo>
                <a:cubicBezTo>
                  <a:pt x="1127213" y="261851"/>
                  <a:pt x="1124322" y="203929"/>
                  <a:pt x="1113478" y="166029"/>
                </a:cubicBezTo>
                <a:cubicBezTo>
                  <a:pt x="1101189" y="125984"/>
                  <a:pt x="1076611" y="100956"/>
                  <a:pt x="1075166" y="100241"/>
                </a:cubicBezTo>
                <a:cubicBezTo>
                  <a:pt x="1072274" y="97023"/>
                  <a:pt x="1068298" y="95414"/>
                  <a:pt x="1064232" y="95414"/>
                </a:cubicBezTo>
                <a:close/>
                <a:moveTo>
                  <a:pt x="832198" y="95414"/>
                </a:moveTo>
                <a:cubicBezTo>
                  <a:pt x="828188" y="95414"/>
                  <a:pt x="824088" y="97023"/>
                  <a:pt x="820879" y="100241"/>
                </a:cubicBezTo>
                <a:cubicBezTo>
                  <a:pt x="820166" y="100956"/>
                  <a:pt x="795923" y="125984"/>
                  <a:pt x="783801" y="166029"/>
                </a:cubicBezTo>
                <a:cubicBezTo>
                  <a:pt x="772393" y="203214"/>
                  <a:pt x="769540" y="259706"/>
                  <a:pt x="817314" y="323349"/>
                </a:cubicBezTo>
                <a:cubicBezTo>
                  <a:pt x="818027" y="324064"/>
                  <a:pt x="818740" y="324779"/>
                  <a:pt x="819453" y="326209"/>
                </a:cubicBezTo>
                <a:cubicBezTo>
                  <a:pt x="823018" y="329785"/>
                  <a:pt x="827296" y="331930"/>
                  <a:pt x="832287" y="331930"/>
                </a:cubicBezTo>
                <a:cubicBezTo>
                  <a:pt x="835853" y="331930"/>
                  <a:pt x="838705" y="331215"/>
                  <a:pt x="841557" y="329070"/>
                </a:cubicBezTo>
                <a:cubicBezTo>
                  <a:pt x="847261" y="324779"/>
                  <a:pt x="848687" y="318343"/>
                  <a:pt x="847261" y="311908"/>
                </a:cubicBezTo>
                <a:cubicBezTo>
                  <a:pt x="846548" y="310477"/>
                  <a:pt x="845835" y="308332"/>
                  <a:pt x="844409" y="306902"/>
                </a:cubicBezTo>
                <a:cubicBezTo>
                  <a:pt x="765262" y="205359"/>
                  <a:pt x="840131" y="125269"/>
                  <a:pt x="842983" y="122409"/>
                </a:cubicBezTo>
                <a:cubicBezTo>
                  <a:pt x="849400" y="115973"/>
                  <a:pt x="849400" y="105962"/>
                  <a:pt x="842983" y="100241"/>
                </a:cubicBezTo>
                <a:cubicBezTo>
                  <a:pt x="840131" y="97023"/>
                  <a:pt x="836209" y="95414"/>
                  <a:pt x="832198" y="95414"/>
                </a:cubicBezTo>
                <a:close/>
                <a:moveTo>
                  <a:pt x="948141" y="3212"/>
                </a:moveTo>
                <a:cubicBezTo>
                  <a:pt x="1002229" y="3212"/>
                  <a:pt x="1056227" y="23745"/>
                  <a:pt x="1097351" y="64809"/>
                </a:cubicBezTo>
                <a:cubicBezTo>
                  <a:pt x="1179600" y="146938"/>
                  <a:pt x="1179600" y="280487"/>
                  <a:pt x="1097351" y="363331"/>
                </a:cubicBezTo>
                <a:cubicBezTo>
                  <a:pt x="1018679" y="441889"/>
                  <a:pt x="893517" y="445460"/>
                  <a:pt x="810553" y="374043"/>
                </a:cubicBezTo>
                <a:cubicBezTo>
                  <a:pt x="810553" y="374043"/>
                  <a:pt x="810553" y="374043"/>
                  <a:pt x="664651" y="519733"/>
                </a:cubicBezTo>
                <a:cubicBezTo>
                  <a:pt x="661790" y="522590"/>
                  <a:pt x="657499" y="524018"/>
                  <a:pt x="653923" y="524018"/>
                </a:cubicBezTo>
                <a:cubicBezTo>
                  <a:pt x="649632" y="524018"/>
                  <a:pt x="646056" y="522590"/>
                  <a:pt x="642480" y="519733"/>
                </a:cubicBezTo>
                <a:cubicBezTo>
                  <a:pt x="626030" y="503307"/>
                  <a:pt x="604574" y="494023"/>
                  <a:pt x="580972" y="494023"/>
                </a:cubicBezTo>
                <a:cubicBezTo>
                  <a:pt x="572389" y="494023"/>
                  <a:pt x="565237" y="486881"/>
                  <a:pt x="565237" y="478312"/>
                </a:cubicBezTo>
                <a:cubicBezTo>
                  <a:pt x="565237" y="469742"/>
                  <a:pt x="572389" y="462600"/>
                  <a:pt x="580972" y="462600"/>
                </a:cubicBezTo>
                <a:cubicBezTo>
                  <a:pt x="607434" y="462600"/>
                  <a:pt x="632467" y="471170"/>
                  <a:pt x="653208" y="486881"/>
                </a:cubicBezTo>
                <a:cubicBezTo>
                  <a:pt x="653208" y="486881"/>
                  <a:pt x="653208" y="486881"/>
                  <a:pt x="788382" y="351904"/>
                </a:cubicBezTo>
                <a:cubicBezTo>
                  <a:pt x="716146" y="269061"/>
                  <a:pt x="719722" y="143368"/>
                  <a:pt x="798395" y="64809"/>
                </a:cubicBezTo>
                <a:cubicBezTo>
                  <a:pt x="839877" y="23745"/>
                  <a:pt x="894054" y="3212"/>
                  <a:pt x="948141" y="3212"/>
                </a:cubicBezTo>
                <a:close/>
                <a:moveTo>
                  <a:pt x="211310" y="0"/>
                </a:moveTo>
                <a:cubicBezTo>
                  <a:pt x="265367" y="0"/>
                  <a:pt x="319333" y="20496"/>
                  <a:pt x="360434" y="61488"/>
                </a:cubicBezTo>
                <a:cubicBezTo>
                  <a:pt x="439061" y="139908"/>
                  <a:pt x="442635" y="265379"/>
                  <a:pt x="371155" y="348076"/>
                </a:cubicBezTo>
                <a:lnTo>
                  <a:pt x="519832" y="496360"/>
                </a:lnTo>
                <a:cubicBezTo>
                  <a:pt x="525550" y="502064"/>
                  <a:pt x="525550" y="512044"/>
                  <a:pt x="519832" y="518460"/>
                </a:cubicBezTo>
                <a:cubicBezTo>
                  <a:pt x="503392" y="534857"/>
                  <a:pt x="494099" y="556244"/>
                  <a:pt x="494099" y="579770"/>
                </a:cubicBezTo>
                <a:cubicBezTo>
                  <a:pt x="494099" y="588325"/>
                  <a:pt x="486952" y="595454"/>
                  <a:pt x="478374" y="595454"/>
                </a:cubicBezTo>
                <a:cubicBezTo>
                  <a:pt x="469797" y="595454"/>
                  <a:pt x="462649" y="588325"/>
                  <a:pt x="462649" y="579770"/>
                </a:cubicBezTo>
                <a:cubicBezTo>
                  <a:pt x="462649" y="553393"/>
                  <a:pt x="471226" y="528441"/>
                  <a:pt x="486952" y="507767"/>
                </a:cubicBezTo>
                <a:cubicBezTo>
                  <a:pt x="486952" y="507767"/>
                  <a:pt x="486952" y="507767"/>
                  <a:pt x="348997" y="370176"/>
                </a:cubicBezTo>
                <a:cubicBezTo>
                  <a:pt x="266081" y="441467"/>
                  <a:pt x="140278" y="437902"/>
                  <a:pt x="61651" y="359483"/>
                </a:cubicBezTo>
                <a:cubicBezTo>
                  <a:pt x="-20550" y="277498"/>
                  <a:pt x="-20550" y="144185"/>
                  <a:pt x="61651" y="61488"/>
                </a:cubicBezTo>
                <a:cubicBezTo>
                  <a:pt x="103109" y="20496"/>
                  <a:pt x="157254" y="0"/>
                  <a:pt x="211310" y="0"/>
                </a:cubicBezTo>
                <a:close/>
              </a:path>
            </a:pathLst>
          </a:custGeom>
          <a:solidFill>
            <a:srgbClr val="FFFFFF">
              <a:lumMod val="100000"/>
            </a:srgbClr>
          </a:solidFill>
          <a:ln>
            <a:noFill/>
          </a:ln>
        </p:spPr>
        <p:txBody>
          <a:bodyPr vert="horz" wrap="square" lIns="91440" tIns="45720" rIns="91440" bIns="45720" numCol="1" anchor="t" anchorCtr="0" compatLnSpc="1">
            <a:prstTxWarp prst="textNoShape">
              <a:avLst/>
            </a:prstTxWarp>
            <a:noAutofit/>
          </a:bodyPr>
          <a:lstStyle/>
          <a:p>
            <a:endParaRPr lang="en-US" sz="1600">
              <a:solidFill>
                <a:srgbClr val="295E7E">
                  <a:lumMod val="100000"/>
                </a:srgbClr>
              </a:solidFill>
              <a:latin typeface="Work Sans" panose="00000500000000000000" pitchFamily="2" charset="0"/>
            </a:endParaRPr>
          </a:p>
        </p:txBody>
      </p:sp>
      <p:cxnSp>
        <p:nvCxnSpPr>
          <p:cNvPr id="12" name="Straight Connector 11"/>
          <p:cNvCxnSpPr>
            <a:cxnSpLocks/>
          </p:cNvCxnSpPr>
          <p:nvPr/>
        </p:nvCxnSpPr>
        <p:spPr>
          <a:xfrm flipV="1">
            <a:off x="6361010" y="1294767"/>
            <a:ext cx="0" cy="663309"/>
          </a:xfrm>
          <a:prstGeom prst="straightConnector1">
            <a:avLst/>
          </a:prstGeom>
          <a:noFill/>
          <a:ln w="19050" cap="rnd" cmpd="sng" algn="ctr">
            <a:solidFill>
              <a:schemeClr val="accent6"/>
            </a:solidFill>
            <a:prstDash val="solid"/>
            <a:headEnd type="oval"/>
            <a:tailEnd type="none" w="sm" len="sm"/>
          </a:ln>
          <a:effectLst/>
        </p:spPr>
      </p:cxnSp>
      <p:sp>
        <p:nvSpPr>
          <p:cNvPr id="13" name="Rectangle 12"/>
          <p:cNvSpPr/>
          <p:nvPr/>
        </p:nvSpPr>
        <p:spPr>
          <a:xfrm>
            <a:off x="4782392" y="640042"/>
            <a:ext cx="2204099" cy="646331"/>
          </a:xfrm>
          <a:prstGeom prst="rect">
            <a:avLst/>
          </a:prstGeom>
          <a:solidFill>
            <a:sysClr val="window" lastClr="FFFFFF"/>
          </a:solidFill>
          <a:ln w="19050" cap="rnd" cmpd="sng" algn="ctr">
            <a:solidFill>
              <a:srgbClr val="295E7E"/>
            </a:solidFill>
            <a:prstDash val="solid"/>
            <a:round/>
            <a:headEnd type="none" w="med" len="med"/>
            <a:tailEnd type="none" w="med" len="med"/>
          </a:ln>
          <a:effectLst/>
        </p:spPr>
        <p:txBody>
          <a:bodyPr wrap="square" rtlCol="0" anchor="ctr" anchorCtr="0">
            <a:spAutoFit/>
          </a:bodyPr>
          <a:lstStyle/>
          <a:p>
            <a:pPr lvl="0" algn="ctr">
              <a:defRPr/>
            </a:pPr>
            <a:r>
              <a:rPr lang="en-US" sz="1200" kern="0">
                <a:solidFill>
                  <a:srgbClr val="575757"/>
                </a:solidFill>
              </a:rPr>
              <a:t>Use micro-segmentation to optimize audience selection for campaigns</a:t>
            </a:r>
          </a:p>
        </p:txBody>
      </p:sp>
      <p:sp>
        <p:nvSpPr>
          <p:cNvPr id="14" name="Rectangle 13"/>
          <p:cNvSpPr/>
          <p:nvPr/>
        </p:nvSpPr>
        <p:spPr>
          <a:xfrm>
            <a:off x="7121955" y="640042"/>
            <a:ext cx="4247452" cy="646331"/>
          </a:xfrm>
          <a:prstGeom prst="rect">
            <a:avLst/>
          </a:prstGeom>
          <a:solidFill>
            <a:sysClr val="window" lastClr="FFFFFF"/>
          </a:solidFill>
          <a:ln w="19050" cap="rnd" cmpd="sng" algn="ctr">
            <a:solidFill>
              <a:srgbClr val="295E7E"/>
            </a:solidFill>
            <a:prstDash val="solid"/>
            <a:round/>
            <a:headEnd type="none" w="med" len="med"/>
            <a:tailEnd type="none" w="med" len="med"/>
          </a:ln>
          <a:effectLst/>
        </p:spPr>
        <p:txBody>
          <a:bodyPr rtlCol="0" anchor="ctr" anchorCtr="0">
            <a:noAutofit/>
          </a:bodyPr>
          <a:lstStyle/>
          <a:p>
            <a:pPr lvl="0" algn="ctr">
              <a:defRPr/>
            </a:pPr>
            <a:r>
              <a:rPr lang="en-US" sz="1200" b="1" kern="0">
                <a:solidFill>
                  <a:srgbClr val="575757"/>
                </a:solidFill>
              </a:rPr>
              <a:t>Precision media - </a:t>
            </a:r>
            <a:r>
              <a:rPr lang="en-US" sz="1200" kern="0">
                <a:solidFill>
                  <a:srgbClr val="575757"/>
                </a:solidFill>
              </a:rPr>
              <a:t>establish contact rules to prevent customer over-reach; follow customer lead across media through retargeting</a:t>
            </a:r>
          </a:p>
        </p:txBody>
      </p:sp>
      <p:sp>
        <p:nvSpPr>
          <p:cNvPr id="16" name="Rectangle 15"/>
          <p:cNvSpPr/>
          <p:nvPr/>
        </p:nvSpPr>
        <p:spPr>
          <a:xfrm>
            <a:off x="5395822" y="5983810"/>
            <a:ext cx="4177836" cy="461665"/>
          </a:xfrm>
          <a:prstGeom prst="rect">
            <a:avLst/>
          </a:prstGeom>
          <a:solidFill>
            <a:sysClr val="window" lastClr="FFFFFF"/>
          </a:solidFill>
          <a:ln w="19050" cap="rnd" cmpd="sng" algn="ctr">
            <a:solidFill>
              <a:srgbClr val="295E7E"/>
            </a:solidFill>
            <a:prstDash val="solid"/>
            <a:round/>
            <a:headEnd type="none" w="med" len="med"/>
            <a:tailEnd type="none" w="med" len="med"/>
          </a:ln>
          <a:effectLst/>
        </p:spPr>
        <p:txBody>
          <a:bodyPr wrap="square" rtlCol="0" anchor="ctr" anchorCtr="0">
            <a:spAutoFit/>
          </a:bodyPr>
          <a:lstStyle/>
          <a:p>
            <a:pPr lvl="0" algn="ctr">
              <a:defRPr/>
            </a:pPr>
            <a:r>
              <a:rPr lang="en-US" sz="1200" b="1" kern="0">
                <a:solidFill>
                  <a:srgbClr val="575757"/>
                </a:solidFill>
              </a:rPr>
              <a:t>1:1 owned channel - </a:t>
            </a:r>
            <a:r>
              <a:rPr lang="en-US" sz="1200" kern="0">
                <a:solidFill>
                  <a:srgbClr val="575757"/>
                </a:solidFill>
              </a:rPr>
              <a:t>campaign specific landing pages with follow up offers for rejected applications online</a:t>
            </a:r>
          </a:p>
        </p:txBody>
      </p:sp>
      <p:cxnSp>
        <p:nvCxnSpPr>
          <p:cNvPr id="20" name="Straight Connector 11"/>
          <p:cNvCxnSpPr>
            <a:cxnSpLocks/>
          </p:cNvCxnSpPr>
          <p:nvPr/>
        </p:nvCxnSpPr>
        <p:spPr>
          <a:xfrm flipV="1">
            <a:off x="8092655" y="1294769"/>
            <a:ext cx="0" cy="663307"/>
          </a:xfrm>
          <a:prstGeom prst="straightConnector1">
            <a:avLst/>
          </a:prstGeom>
          <a:noFill/>
          <a:ln w="19050" cap="rnd" cmpd="sng" algn="ctr">
            <a:solidFill>
              <a:schemeClr val="accent6"/>
            </a:solidFill>
            <a:prstDash val="solid"/>
            <a:headEnd type="oval"/>
            <a:tailEnd type="none" w="sm" len="sm"/>
          </a:ln>
          <a:effectLst/>
        </p:spPr>
      </p:cxnSp>
      <p:cxnSp>
        <p:nvCxnSpPr>
          <p:cNvPr id="22" name="Straight Connector 11"/>
          <p:cNvCxnSpPr>
            <a:cxnSpLocks/>
          </p:cNvCxnSpPr>
          <p:nvPr/>
        </p:nvCxnSpPr>
        <p:spPr>
          <a:xfrm flipV="1">
            <a:off x="10082737" y="1291815"/>
            <a:ext cx="0" cy="666261"/>
          </a:xfrm>
          <a:prstGeom prst="straightConnector1">
            <a:avLst/>
          </a:prstGeom>
          <a:noFill/>
          <a:ln w="19050" cap="rnd" cmpd="sng" algn="ctr">
            <a:solidFill>
              <a:schemeClr val="accent6"/>
            </a:solidFill>
            <a:prstDash val="solid"/>
            <a:headEnd type="oval"/>
            <a:tailEnd type="none" w="sm" len="sm"/>
          </a:ln>
          <a:effectLst/>
        </p:spPr>
      </p:cxnSp>
      <p:cxnSp>
        <p:nvCxnSpPr>
          <p:cNvPr id="24" name="Straight Connector 11"/>
          <p:cNvCxnSpPr>
            <a:cxnSpLocks/>
          </p:cNvCxnSpPr>
          <p:nvPr/>
        </p:nvCxnSpPr>
        <p:spPr>
          <a:xfrm>
            <a:off x="6030501" y="5697838"/>
            <a:ext cx="0" cy="269907"/>
          </a:xfrm>
          <a:prstGeom prst="straightConnector1">
            <a:avLst/>
          </a:prstGeom>
          <a:noFill/>
          <a:ln w="19050" cap="rnd" cmpd="sng" algn="ctr">
            <a:solidFill>
              <a:schemeClr val="accent6"/>
            </a:solidFill>
            <a:prstDash val="solid"/>
            <a:headEnd type="oval"/>
            <a:tailEnd type="none" w="sm" len="sm"/>
          </a:ln>
          <a:effectLst/>
        </p:spPr>
      </p:cxnSp>
      <p:cxnSp>
        <p:nvCxnSpPr>
          <p:cNvPr id="26" name="Straight Connector 11"/>
          <p:cNvCxnSpPr/>
          <p:nvPr/>
        </p:nvCxnSpPr>
        <p:spPr>
          <a:xfrm>
            <a:off x="7902759" y="5697838"/>
            <a:ext cx="0" cy="269907"/>
          </a:xfrm>
          <a:prstGeom prst="straightConnector1">
            <a:avLst/>
          </a:prstGeom>
          <a:noFill/>
          <a:ln w="19050" cap="rnd" cmpd="sng" algn="ctr">
            <a:solidFill>
              <a:schemeClr val="accent6"/>
            </a:solidFill>
            <a:prstDash val="solid"/>
            <a:headEnd type="oval"/>
            <a:tailEnd type="none" w="sm" len="sm"/>
          </a:ln>
          <a:effectLst/>
        </p:spPr>
      </p:cxnSp>
      <p:sp>
        <p:nvSpPr>
          <p:cNvPr id="17" name="NavigationTriangle">
            <a:extLst>
              <a:ext uri="{FF2B5EF4-FFF2-40B4-BE49-F238E27FC236}">
                <a16:creationId xmlns:a16="http://schemas.microsoft.com/office/drawing/2014/main" id="{04425BF8-C2D2-425C-800D-F0840DEC9B4D}"/>
              </a:ext>
            </a:extLst>
          </p:cNvPr>
          <p:cNvSpPr/>
          <p:nvPr/>
        </p:nvSpPr>
        <p:spPr>
          <a:xfrm rot="16200000">
            <a:off x="11116165" y="-21446"/>
            <a:ext cx="1054387" cy="1097280"/>
          </a:xfrm>
          <a:prstGeom prst="triangle">
            <a:avLst>
              <a:gd name="adj" fmla="val 100000"/>
            </a:avLst>
          </a:prstGeom>
          <a:solidFill>
            <a:srgbClr val="295E7E">
              <a:lumMod val="100000"/>
            </a:srgbClr>
          </a:solidFill>
          <a:ln w="9525" cap="rnd" cmpd="sng" algn="ctr">
            <a:noFill/>
            <a:prstDash val="sysDot"/>
            <a:roun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eaLnBrk="1" fontAlgn="auto" latinLnBrk="0" hangingPunct="1">
              <a:lnSpc>
                <a:spcPct val="90000"/>
              </a:lnSpc>
              <a:spcBef>
                <a:spcPts val="0"/>
              </a:spcBef>
              <a:spcAft>
                <a:spcPts val="1000"/>
              </a:spcAft>
              <a:buClrTx/>
              <a:buSzTx/>
              <a:buFontTx/>
              <a:buNone/>
              <a:tabLst/>
            </a:pPr>
            <a:endParaRPr kumimoji="0" lang="en-US" sz="1200" b="0" i="0" u="none" strike="noStrike" kern="0" cap="none" spc="0" normalizeH="0" baseline="0" noProof="0">
              <a:ln>
                <a:noFill/>
              </a:ln>
              <a:solidFill>
                <a:prstClr val="white"/>
              </a:solidFill>
              <a:effectLst/>
              <a:uLnTx/>
              <a:uFillTx/>
              <a:sym typeface="+mn-lt"/>
            </a:endParaRPr>
          </a:p>
        </p:txBody>
      </p:sp>
      <p:sp>
        <p:nvSpPr>
          <p:cNvPr id="18" name="NavigationIcon">
            <a:extLst>
              <a:ext uri="{FF2B5EF4-FFF2-40B4-BE49-F238E27FC236}">
                <a16:creationId xmlns:a16="http://schemas.microsoft.com/office/drawing/2014/main" id="{A1DF1EC1-89CA-45DE-8AEA-81F11BD912FE}"/>
              </a:ext>
            </a:extLst>
          </p:cNvPr>
          <p:cNvSpPr>
            <a:spLocks noChangeAspect="1"/>
          </p:cNvSpPr>
          <p:nvPr/>
        </p:nvSpPr>
        <p:spPr bwMode="auto">
          <a:xfrm>
            <a:off x="11665767" y="132877"/>
            <a:ext cx="415314" cy="365760"/>
          </a:xfrm>
          <a:custGeom>
            <a:avLst/>
            <a:gdLst>
              <a:gd name="connsiteX0" fmla="*/ 536139 w 1216741"/>
              <a:gd name="connsiteY0" fmla="*/ 336550 h 1071563"/>
              <a:gd name="connsiteX1" fmla="*/ 662761 w 1216741"/>
              <a:gd name="connsiteY1" fmla="*/ 382252 h 1071563"/>
              <a:gd name="connsiteX2" fmla="*/ 584069 w 1216741"/>
              <a:gd name="connsiteY2" fmla="*/ 435809 h 1071563"/>
              <a:gd name="connsiteX3" fmla="*/ 536139 w 1216741"/>
              <a:gd name="connsiteY3" fmla="*/ 425097 h 1071563"/>
              <a:gd name="connsiteX4" fmla="*/ 425257 w 1216741"/>
              <a:gd name="connsiteY4" fmla="*/ 535782 h 1071563"/>
              <a:gd name="connsiteX5" fmla="*/ 536139 w 1216741"/>
              <a:gd name="connsiteY5" fmla="*/ 646466 h 1071563"/>
              <a:gd name="connsiteX6" fmla="*/ 646307 w 1216741"/>
              <a:gd name="connsiteY6" fmla="*/ 535782 h 1071563"/>
              <a:gd name="connsiteX7" fmla="*/ 646307 w 1216741"/>
              <a:gd name="connsiteY7" fmla="*/ 526498 h 1071563"/>
              <a:gd name="connsiteX8" fmla="*/ 724998 w 1216741"/>
              <a:gd name="connsiteY8" fmla="*/ 472227 h 1071563"/>
              <a:gd name="connsiteX9" fmla="*/ 735013 w 1216741"/>
              <a:gd name="connsiteY9" fmla="*/ 535782 h 1071563"/>
              <a:gd name="connsiteX10" fmla="*/ 536139 w 1216741"/>
              <a:gd name="connsiteY10" fmla="*/ 735013 h 1071563"/>
              <a:gd name="connsiteX11" fmla="*/ 336550 w 1216741"/>
              <a:gd name="connsiteY11" fmla="*/ 535782 h 1071563"/>
              <a:gd name="connsiteX12" fmla="*/ 536139 w 1216741"/>
              <a:gd name="connsiteY12" fmla="*/ 336550 h 1071563"/>
              <a:gd name="connsiteX13" fmla="*/ 536933 w 1216741"/>
              <a:gd name="connsiteY13" fmla="*/ 171450 h 1071563"/>
              <a:gd name="connsiteX14" fmla="*/ 802998 w 1216741"/>
              <a:gd name="connsiteY14" fmla="*/ 286240 h 1071563"/>
              <a:gd name="connsiteX15" fmla="*/ 728615 w 1216741"/>
              <a:gd name="connsiteY15" fmla="*/ 337574 h 1071563"/>
              <a:gd name="connsiteX16" fmla="*/ 536933 w 1216741"/>
              <a:gd name="connsiteY16" fmla="*/ 259859 h 1071563"/>
              <a:gd name="connsiteX17" fmla="*/ 260139 w 1216741"/>
              <a:gd name="connsiteY17" fmla="*/ 535782 h 1071563"/>
              <a:gd name="connsiteX18" fmla="*/ 536933 w 1216741"/>
              <a:gd name="connsiteY18" fmla="*/ 811704 h 1071563"/>
              <a:gd name="connsiteX19" fmla="*/ 813012 w 1216741"/>
              <a:gd name="connsiteY19" fmla="*/ 535782 h 1071563"/>
              <a:gd name="connsiteX20" fmla="*/ 790840 w 1216741"/>
              <a:gd name="connsiteY20" fmla="*/ 427409 h 1071563"/>
              <a:gd name="connsiteX21" fmla="*/ 865223 w 1216741"/>
              <a:gd name="connsiteY21" fmla="*/ 376788 h 1071563"/>
              <a:gd name="connsiteX22" fmla="*/ 901700 w 1216741"/>
              <a:gd name="connsiteY22" fmla="*/ 535782 h 1071563"/>
              <a:gd name="connsiteX23" fmla="*/ 536933 w 1216741"/>
              <a:gd name="connsiteY23" fmla="*/ 900113 h 1071563"/>
              <a:gd name="connsiteX24" fmla="*/ 171450 w 1216741"/>
              <a:gd name="connsiteY24" fmla="*/ 535782 h 1071563"/>
              <a:gd name="connsiteX25" fmla="*/ 536933 w 1216741"/>
              <a:gd name="connsiteY25" fmla="*/ 171450 h 1071563"/>
              <a:gd name="connsiteX26" fmla="*/ 1150106 w 1216741"/>
              <a:gd name="connsiteY26" fmla="*/ 160165 h 1071563"/>
              <a:gd name="connsiteX27" fmla="*/ 1151542 w 1216741"/>
              <a:gd name="connsiteY27" fmla="*/ 160165 h 1071563"/>
              <a:gd name="connsiteX28" fmla="*/ 1213303 w 1216741"/>
              <a:gd name="connsiteY28" fmla="*/ 165825 h 1071563"/>
              <a:gd name="connsiteX29" fmla="*/ 1214740 w 1216741"/>
              <a:gd name="connsiteY29" fmla="*/ 172192 h 1071563"/>
              <a:gd name="connsiteX30" fmla="*/ 1043819 w 1216741"/>
              <a:gd name="connsiteY30" fmla="*/ 288218 h 1071563"/>
              <a:gd name="connsiteX31" fmla="*/ 1039510 w 1216741"/>
              <a:gd name="connsiteY31" fmla="*/ 288925 h 1071563"/>
              <a:gd name="connsiteX32" fmla="*/ 979185 w 1216741"/>
              <a:gd name="connsiteY32" fmla="*/ 281850 h 1071563"/>
              <a:gd name="connsiteX33" fmla="*/ 977749 w 1216741"/>
              <a:gd name="connsiteY33" fmla="*/ 275483 h 1071563"/>
              <a:gd name="connsiteX34" fmla="*/ 1150106 w 1216741"/>
              <a:gd name="connsiteY34" fmla="*/ 160165 h 1071563"/>
              <a:gd name="connsiteX35" fmla="*/ 1164252 w 1216741"/>
              <a:gd name="connsiteY35" fmla="*/ 89549 h 1071563"/>
              <a:gd name="connsiteX36" fmla="*/ 1174515 w 1216741"/>
              <a:gd name="connsiteY36" fmla="*/ 95897 h 1071563"/>
              <a:gd name="connsiteX37" fmla="*/ 1170231 w 1216741"/>
              <a:gd name="connsiteY37" fmla="*/ 118073 h 1071563"/>
              <a:gd name="connsiteX38" fmla="*/ 546242 w 1216741"/>
              <a:gd name="connsiteY38" fmla="*/ 548002 h 1071563"/>
              <a:gd name="connsiteX39" fmla="*/ 536961 w 1216741"/>
              <a:gd name="connsiteY39" fmla="*/ 550863 h 1071563"/>
              <a:gd name="connsiteX40" fmla="*/ 524110 w 1216741"/>
              <a:gd name="connsiteY40" fmla="*/ 543710 h 1071563"/>
              <a:gd name="connsiteX41" fmla="*/ 528394 w 1216741"/>
              <a:gd name="connsiteY41" fmla="*/ 522964 h 1071563"/>
              <a:gd name="connsiteX42" fmla="*/ 1152382 w 1216741"/>
              <a:gd name="connsiteY42" fmla="*/ 92321 h 1071563"/>
              <a:gd name="connsiteX43" fmla="*/ 1164252 w 1216741"/>
              <a:gd name="connsiteY43" fmla="*/ 89549 h 1071563"/>
              <a:gd name="connsiteX44" fmla="*/ 1119129 w 1216741"/>
              <a:gd name="connsiteY44" fmla="*/ 33891 h 1071563"/>
              <a:gd name="connsiteX45" fmla="*/ 1124825 w 1216741"/>
              <a:gd name="connsiteY45" fmla="*/ 37460 h 1071563"/>
              <a:gd name="connsiteX46" fmla="*/ 1108448 w 1216741"/>
              <a:gd name="connsiteY46" fmla="*/ 96702 h 1071563"/>
              <a:gd name="connsiteX47" fmla="*/ 1107736 w 1216741"/>
              <a:gd name="connsiteY47" fmla="*/ 98130 h 1071563"/>
              <a:gd name="connsiteX48" fmla="*/ 938271 w 1216741"/>
              <a:gd name="connsiteY48" fmla="*/ 215186 h 1071563"/>
              <a:gd name="connsiteX49" fmla="*/ 932574 w 1216741"/>
              <a:gd name="connsiteY49" fmla="*/ 212331 h 1071563"/>
              <a:gd name="connsiteX50" fmla="*/ 946815 w 1216741"/>
              <a:gd name="connsiteY50" fmla="*/ 153803 h 1071563"/>
              <a:gd name="connsiteX51" fmla="*/ 948951 w 1216741"/>
              <a:gd name="connsiteY51" fmla="*/ 150234 h 1071563"/>
              <a:gd name="connsiteX52" fmla="*/ 1119129 w 1216741"/>
              <a:gd name="connsiteY52" fmla="*/ 33891 h 1071563"/>
              <a:gd name="connsiteX53" fmla="*/ 536139 w 1216741"/>
              <a:gd name="connsiteY53" fmla="*/ 0 h 1071563"/>
              <a:gd name="connsiteX54" fmla="*/ 908577 w 1216741"/>
              <a:gd name="connsiteY54" fmla="*/ 150533 h 1071563"/>
              <a:gd name="connsiteX55" fmla="*/ 889276 w 1216741"/>
              <a:gd name="connsiteY55" fmla="*/ 226156 h 1071563"/>
              <a:gd name="connsiteX56" fmla="*/ 870690 w 1216741"/>
              <a:gd name="connsiteY56" fmla="*/ 238997 h 1071563"/>
              <a:gd name="connsiteX57" fmla="*/ 536139 w 1216741"/>
              <a:gd name="connsiteY57" fmla="*/ 88465 h 1071563"/>
              <a:gd name="connsiteX58" fmla="*/ 88642 w 1216741"/>
              <a:gd name="connsiteY58" fmla="*/ 535782 h 1071563"/>
              <a:gd name="connsiteX59" fmla="*/ 536139 w 1216741"/>
              <a:gd name="connsiteY59" fmla="*/ 983099 h 1071563"/>
              <a:gd name="connsiteX60" fmla="*/ 983636 w 1216741"/>
              <a:gd name="connsiteY60" fmla="*/ 535782 h 1071563"/>
              <a:gd name="connsiteX61" fmla="*/ 932882 w 1216741"/>
              <a:gd name="connsiteY61" fmla="*/ 328889 h 1071563"/>
              <a:gd name="connsiteX62" fmla="*/ 951468 w 1216741"/>
              <a:gd name="connsiteY62" fmla="*/ 316047 h 1071563"/>
              <a:gd name="connsiteX63" fmla="*/ 1029387 w 1216741"/>
              <a:gd name="connsiteY63" fmla="*/ 325322 h 1071563"/>
              <a:gd name="connsiteX64" fmla="*/ 1071563 w 1216741"/>
              <a:gd name="connsiteY64" fmla="*/ 535782 h 1071563"/>
              <a:gd name="connsiteX65" fmla="*/ 536139 w 1216741"/>
              <a:gd name="connsiteY65" fmla="*/ 1071563 h 1071563"/>
              <a:gd name="connsiteX66" fmla="*/ 0 w 1216741"/>
              <a:gd name="connsiteY66" fmla="*/ 535782 h 1071563"/>
              <a:gd name="connsiteX67" fmla="*/ 536139 w 1216741"/>
              <a:gd name="connsiteY67" fmla="*/ 0 h 1071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216741" h="1071563">
                <a:moveTo>
                  <a:pt x="536139" y="336550"/>
                </a:moveTo>
                <a:cubicBezTo>
                  <a:pt x="583354" y="336550"/>
                  <a:pt x="627707" y="353688"/>
                  <a:pt x="662761" y="382252"/>
                </a:cubicBezTo>
                <a:cubicBezTo>
                  <a:pt x="584069" y="435809"/>
                  <a:pt x="584069" y="435809"/>
                  <a:pt x="584069" y="435809"/>
                </a:cubicBezTo>
                <a:cubicBezTo>
                  <a:pt x="569762" y="428668"/>
                  <a:pt x="553308" y="425097"/>
                  <a:pt x="536139" y="425097"/>
                </a:cubicBezTo>
                <a:cubicBezTo>
                  <a:pt x="474617" y="425097"/>
                  <a:pt x="425257" y="474370"/>
                  <a:pt x="425257" y="535782"/>
                </a:cubicBezTo>
                <a:cubicBezTo>
                  <a:pt x="425257" y="596479"/>
                  <a:pt x="474617" y="646466"/>
                  <a:pt x="536139" y="646466"/>
                </a:cubicBezTo>
                <a:cubicBezTo>
                  <a:pt x="596946" y="646466"/>
                  <a:pt x="646307" y="596479"/>
                  <a:pt x="646307" y="535782"/>
                </a:cubicBezTo>
                <a:cubicBezTo>
                  <a:pt x="646307" y="532211"/>
                  <a:pt x="646307" y="529355"/>
                  <a:pt x="646307" y="526498"/>
                </a:cubicBezTo>
                <a:cubicBezTo>
                  <a:pt x="724998" y="472227"/>
                  <a:pt x="724998" y="472227"/>
                  <a:pt x="724998" y="472227"/>
                </a:cubicBezTo>
                <a:cubicBezTo>
                  <a:pt x="731436" y="492222"/>
                  <a:pt x="735013" y="513645"/>
                  <a:pt x="735013" y="535782"/>
                </a:cubicBezTo>
                <a:cubicBezTo>
                  <a:pt x="735013" y="645752"/>
                  <a:pt x="645592" y="735013"/>
                  <a:pt x="536139" y="735013"/>
                </a:cubicBezTo>
                <a:cubicBezTo>
                  <a:pt x="425972" y="735013"/>
                  <a:pt x="336550" y="645752"/>
                  <a:pt x="336550" y="535782"/>
                </a:cubicBezTo>
                <a:cubicBezTo>
                  <a:pt x="336550" y="425812"/>
                  <a:pt x="425972" y="336550"/>
                  <a:pt x="536139" y="336550"/>
                </a:cubicBezTo>
                <a:close/>
                <a:moveTo>
                  <a:pt x="536933" y="171450"/>
                </a:moveTo>
                <a:cubicBezTo>
                  <a:pt x="641356" y="171450"/>
                  <a:pt x="735767" y="215655"/>
                  <a:pt x="802998" y="286240"/>
                </a:cubicBezTo>
                <a:cubicBezTo>
                  <a:pt x="802998" y="286240"/>
                  <a:pt x="802998" y="286240"/>
                  <a:pt x="728615" y="337574"/>
                </a:cubicBezTo>
                <a:cubicBezTo>
                  <a:pt x="678548" y="289091"/>
                  <a:pt x="610602" y="259859"/>
                  <a:pt x="536933" y="259859"/>
                </a:cubicBezTo>
                <a:cubicBezTo>
                  <a:pt x="383874" y="259859"/>
                  <a:pt x="260139" y="383204"/>
                  <a:pt x="260139" y="535782"/>
                </a:cubicBezTo>
                <a:cubicBezTo>
                  <a:pt x="260139" y="687646"/>
                  <a:pt x="383874" y="811704"/>
                  <a:pt x="536933" y="811704"/>
                </a:cubicBezTo>
                <a:cubicBezTo>
                  <a:pt x="688562" y="811704"/>
                  <a:pt x="813012" y="687646"/>
                  <a:pt x="813012" y="535782"/>
                </a:cubicBezTo>
                <a:cubicBezTo>
                  <a:pt x="813012" y="497281"/>
                  <a:pt x="805144" y="460919"/>
                  <a:pt x="790840" y="427409"/>
                </a:cubicBezTo>
                <a:cubicBezTo>
                  <a:pt x="790840" y="427409"/>
                  <a:pt x="790840" y="427409"/>
                  <a:pt x="865223" y="376788"/>
                </a:cubicBezTo>
                <a:cubicBezTo>
                  <a:pt x="888826" y="424557"/>
                  <a:pt x="901700" y="478743"/>
                  <a:pt x="901700" y="535782"/>
                </a:cubicBezTo>
                <a:cubicBezTo>
                  <a:pt x="901700" y="736841"/>
                  <a:pt x="737913" y="900113"/>
                  <a:pt x="536933" y="900113"/>
                </a:cubicBezTo>
                <a:cubicBezTo>
                  <a:pt x="335238" y="900113"/>
                  <a:pt x="171450" y="736841"/>
                  <a:pt x="171450" y="535782"/>
                </a:cubicBezTo>
                <a:cubicBezTo>
                  <a:pt x="171450" y="334722"/>
                  <a:pt x="335238" y="171450"/>
                  <a:pt x="536933" y="171450"/>
                </a:cubicBezTo>
                <a:close/>
                <a:moveTo>
                  <a:pt x="1150106" y="160165"/>
                </a:moveTo>
                <a:cubicBezTo>
                  <a:pt x="1150106" y="158750"/>
                  <a:pt x="1150106" y="158750"/>
                  <a:pt x="1151542" y="160165"/>
                </a:cubicBezTo>
                <a:cubicBezTo>
                  <a:pt x="1151542" y="160165"/>
                  <a:pt x="1151542" y="160165"/>
                  <a:pt x="1213303" y="165825"/>
                </a:cubicBezTo>
                <a:cubicBezTo>
                  <a:pt x="1217612" y="165825"/>
                  <a:pt x="1217612" y="170777"/>
                  <a:pt x="1214740" y="172192"/>
                </a:cubicBezTo>
                <a:cubicBezTo>
                  <a:pt x="1214740" y="172192"/>
                  <a:pt x="1214740" y="172192"/>
                  <a:pt x="1043819" y="288218"/>
                </a:cubicBezTo>
                <a:cubicBezTo>
                  <a:pt x="1042382" y="288218"/>
                  <a:pt x="1042382" y="288218"/>
                  <a:pt x="1039510" y="288925"/>
                </a:cubicBezTo>
                <a:cubicBezTo>
                  <a:pt x="1039510" y="288925"/>
                  <a:pt x="1039510" y="288925"/>
                  <a:pt x="979185" y="281850"/>
                </a:cubicBezTo>
                <a:cubicBezTo>
                  <a:pt x="976312" y="281143"/>
                  <a:pt x="976312" y="278313"/>
                  <a:pt x="977749" y="275483"/>
                </a:cubicBezTo>
                <a:cubicBezTo>
                  <a:pt x="977749" y="275483"/>
                  <a:pt x="977749" y="275483"/>
                  <a:pt x="1150106" y="160165"/>
                </a:cubicBezTo>
                <a:close/>
                <a:moveTo>
                  <a:pt x="1164252" y="89549"/>
                </a:moveTo>
                <a:cubicBezTo>
                  <a:pt x="1168268" y="90175"/>
                  <a:pt x="1172016" y="92321"/>
                  <a:pt x="1174515" y="95897"/>
                </a:cubicBezTo>
                <a:cubicBezTo>
                  <a:pt x="1179512" y="103051"/>
                  <a:pt x="1177370" y="113066"/>
                  <a:pt x="1170231" y="118073"/>
                </a:cubicBezTo>
                <a:cubicBezTo>
                  <a:pt x="546242" y="548002"/>
                  <a:pt x="546242" y="548002"/>
                  <a:pt x="546242" y="548002"/>
                </a:cubicBezTo>
                <a:cubicBezTo>
                  <a:pt x="543386" y="550148"/>
                  <a:pt x="540531" y="550863"/>
                  <a:pt x="536961" y="550863"/>
                </a:cubicBezTo>
                <a:cubicBezTo>
                  <a:pt x="531963" y="550863"/>
                  <a:pt x="526966" y="548717"/>
                  <a:pt x="524110" y="543710"/>
                </a:cubicBezTo>
                <a:cubicBezTo>
                  <a:pt x="519112" y="537271"/>
                  <a:pt x="521254" y="527972"/>
                  <a:pt x="528394" y="522964"/>
                </a:cubicBezTo>
                <a:cubicBezTo>
                  <a:pt x="1152382" y="92321"/>
                  <a:pt x="1152382" y="92321"/>
                  <a:pt x="1152382" y="92321"/>
                </a:cubicBezTo>
                <a:cubicBezTo>
                  <a:pt x="1155952" y="89817"/>
                  <a:pt x="1160236" y="88923"/>
                  <a:pt x="1164252" y="89549"/>
                </a:cubicBezTo>
                <a:close/>
                <a:moveTo>
                  <a:pt x="1119129" y="33891"/>
                </a:moveTo>
                <a:cubicBezTo>
                  <a:pt x="1121977" y="31750"/>
                  <a:pt x="1125537" y="33891"/>
                  <a:pt x="1124825" y="37460"/>
                </a:cubicBezTo>
                <a:cubicBezTo>
                  <a:pt x="1108448" y="96702"/>
                  <a:pt x="1108448" y="96702"/>
                  <a:pt x="1108448" y="96702"/>
                </a:cubicBezTo>
                <a:cubicBezTo>
                  <a:pt x="1108448" y="98130"/>
                  <a:pt x="1108448" y="98130"/>
                  <a:pt x="1107736" y="98130"/>
                </a:cubicBezTo>
                <a:cubicBezTo>
                  <a:pt x="938271" y="215186"/>
                  <a:pt x="938271" y="215186"/>
                  <a:pt x="938271" y="215186"/>
                </a:cubicBezTo>
                <a:cubicBezTo>
                  <a:pt x="935422" y="215900"/>
                  <a:pt x="931862" y="215186"/>
                  <a:pt x="932574" y="212331"/>
                </a:cubicBezTo>
                <a:cubicBezTo>
                  <a:pt x="946815" y="153803"/>
                  <a:pt x="946815" y="153803"/>
                  <a:pt x="946815" y="153803"/>
                </a:cubicBezTo>
                <a:cubicBezTo>
                  <a:pt x="948239" y="151662"/>
                  <a:pt x="948239" y="151662"/>
                  <a:pt x="948951" y="150234"/>
                </a:cubicBezTo>
                <a:cubicBezTo>
                  <a:pt x="1119129" y="33891"/>
                  <a:pt x="1119129" y="33891"/>
                  <a:pt x="1119129" y="33891"/>
                </a:cubicBezTo>
                <a:close/>
                <a:moveTo>
                  <a:pt x="536139" y="0"/>
                </a:moveTo>
                <a:cubicBezTo>
                  <a:pt x="680539" y="0"/>
                  <a:pt x="812072" y="57074"/>
                  <a:pt x="908577" y="150533"/>
                </a:cubicBezTo>
                <a:cubicBezTo>
                  <a:pt x="908577" y="150533"/>
                  <a:pt x="908577" y="150533"/>
                  <a:pt x="889276" y="226156"/>
                </a:cubicBezTo>
                <a:cubicBezTo>
                  <a:pt x="889276" y="226156"/>
                  <a:pt x="889276" y="226156"/>
                  <a:pt x="870690" y="238997"/>
                </a:cubicBezTo>
                <a:cubicBezTo>
                  <a:pt x="788482" y="146252"/>
                  <a:pt x="668387" y="88465"/>
                  <a:pt x="536139" y="88465"/>
                </a:cubicBezTo>
                <a:cubicBezTo>
                  <a:pt x="288800" y="88465"/>
                  <a:pt x="88642" y="288937"/>
                  <a:pt x="88642" y="535782"/>
                </a:cubicBezTo>
                <a:cubicBezTo>
                  <a:pt x="88642" y="782626"/>
                  <a:pt x="288800" y="983099"/>
                  <a:pt x="536139" y="983099"/>
                </a:cubicBezTo>
                <a:cubicBezTo>
                  <a:pt x="782763" y="983099"/>
                  <a:pt x="983636" y="782626"/>
                  <a:pt x="983636" y="535782"/>
                </a:cubicBezTo>
                <a:cubicBezTo>
                  <a:pt x="983636" y="460872"/>
                  <a:pt x="965050" y="390957"/>
                  <a:pt x="932882" y="328889"/>
                </a:cubicBezTo>
                <a:cubicBezTo>
                  <a:pt x="932882" y="328889"/>
                  <a:pt x="932882" y="328889"/>
                  <a:pt x="951468" y="316047"/>
                </a:cubicBezTo>
                <a:cubicBezTo>
                  <a:pt x="951468" y="316047"/>
                  <a:pt x="951468" y="316047"/>
                  <a:pt x="1029387" y="325322"/>
                </a:cubicBezTo>
                <a:cubicBezTo>
                  <a:pt x="1056551" y="390243"/>
                  <a:pt x="1071563" y="460872"/>
                  <a:pt x="1071563" y="535782"/>
                </a:cubicBezTo>
                <a:cubicBezTo>
                  <a:pt x="1071563" y="831139"/>
                  <a:pt x="831373" y="1071563"/>
                  <a:pt x="536139" y="1071563"/>
                </a:cubicBezTo>
                <a:cubicBezTo>
                  <a:pt x="240190" y="1071563"/>
                  <a:pt x="0" y="831139"/>
                  <a:pt x="0" y="535782"/>
                </a:cubicBezTo>
                <a:cubicBezTo>
                  <a:pt x="0" y="240424"/>
                  <a:pt x="240190" y="0"/>
                  <a:pt x="536139" y="0"/>
                </a:cubicBezTo>
                <a:close/>
              </a:path>
            </a:pathLst>
          </a:custGeom>
          <a:solidFill>
            <a:srgbClr val="FFFFFF">
              <a:lumMod val="100000"/>
            </a:srgbClr>
          </a:solidFill>
          <a:ln>
            <a:noFill/>
          </a:ln>
        </p:spPr>
        <p:txBody>
          <a:bodyPr vert="horz" wrap="square" lIns="91440" tIns="45720" rIns="91440" bIns="45720" numCol="1" anchor="t" anchorCtr="0" compatLnSpc="1">
            <a:prstTxWarp prst="textNoShape">
              <a:avLst/>
            </a:prstTxWarp>
            <a:noAutofit/>
          </a:bodyPr>
          <a:lstStyle/>
          <a:p>
            <a:endParaRPr lang="en-US" sz="1600">
              <a:solidFill>
                <a:srgbClr val="295E7E">
                  <a:lumMod val="100000"/>
                </a:srgbClr>
              </a:solidFill>
              <a:sym typeface="+mn-lt"/>
            </a:endParaRPr>
          </a:p>
        </p:txBody>
      </p:sp>
      <p:sp>
        <p:nvSpPr>
          <p:cNvPr id="19" name="NavigationText">
            <a:extLst>
              <a:ext uri="{FF2B5EF4-FFF2-40B4-BE49-F238E27FC236}">
                <a16:creationId xmlns:a16="http://schemas.microsoft.com/office/drawing/2014/main" id="{C93A9B35-25AE-4699-AE5A-001F06BA8CAE}"/>
              </a:ext>
            </a:extLst>
          </p:cNvPr>
          <p:cNvSpPr/>
          <p:nvPr/>
        </p:nvSpPr>
        <p:spPr>
          <a:xfrm>
            <a:off x="9862524" y="105950"/>
            <a:ext cx="1321797" cy="258077"/>
          </a:xfrm>
          <a:prstGeom prst="rect">
            <a:avLst/>
          </a:prstGeom>
          <a:noFill/>
          <a:ln w="9525" cap="rnd" cmpd="sng" algn="ctr">
            <a:noFill/>
            <a:prstDash val="sysDot"/>
            <a:round/>
          </a:ln>
          <a:effectLst/>
          <a:extLst>
            <a:ext uri="{909E8E84-426E-40DD-AFC4-6F175D3DCCD1}">
              <a14:hiddenFill xmlns:a14="http://schemas.microsoft.com/office/drawing/2010/main">
                <a:solidFill>
                  <a:schemeClr val="accent6"/>
                </a:solidFill>
              </a14:hiddenFill>
            </a:ext>
          </a:extLst>
        </p:spPr>
        <p:txBody>
          <a:bodyPr rot="0" spcFirstLastPara="0" vertOverflow="overflow" horzOverflow="overflow" vert="horz" wrap="square" lIns="0" tIns="0" rIns="9144" bIns="0" numCol="1" spcCol="0" rtlCol="0" fromWordArt="0" anchor="ctr" anchorCtr="0" forceAA="0" compatLnSpc="1">
            <a:prstTxWarp prst="textNoShape">
              <a:avLst/>
            </a:prstTxWarp>
            <a:noAutofit/>
          </a:bodyPr>
          <a:lstStyle/>
          <a:p>
            <a:pPr algn="r"/>
            <a:r>
              <a:rPr kumimoji="0" lang="en-US" sz="1000" strike="noStrike" cap="none" normalizeH="0" baseline="0" noProof="0">
                <a:ln>
                  <a:noFill/>
                </a:ln>
                <a:solidFill>
                  <a:srgbClr val="7F7F7F">
                    <a:lumMod val="100000"/>
                  </a:srgbClr>
                </a:solidFill>
                <a:effectLst/>
                <a:uLnTx/>
                <a:uFillTx/>
                <a:sym typeface="+mn-lt"/>
              </a:rPr>
              <a:t>Precision media</a:t>
            </a:r>
          </a:p>
        </p:txBody>
      </p:sp>
    </p:spTree>
    <p:extLst>
      <p:ext uri="{BB962C8B-B14F-4D97-AF65-F5344CB8AC3E}">
        <p14:creationId xmlns:p14="http://schemas.microsoft.com/office/powerpoint/2010/main" val="63324770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66096C8A-FC2F-4580-8FAC-F41732D8B6C5}"/>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7" imgW="425" imgH="426" progId="TCLayout.ActiveDocument.1">
                  <p:embed/>
                </p:oleObj>
              </mc:Choice>
              <mc:Fallback>
                <p:oleObj name="think-cell Slide" r:id="rId57" imgW="425" imgH="426" progId="TCLayout.ActiveDocument.1">
                  <p:embed/>
                  <p:pic>
                    <p:nvPicPr>
                      <p:cNvPr id="4" name="Object 3" hidden="1">
                        <a:extLst>
                          <a:ext uri="{FF2B5EF4-FFF2-40B4-BE49-F238E27FC236}">
                            <a16:creationId xmlns:a16="http://schemas.microsoft.com/office/drawing/2014/main" id="{66096C8A-FC2F-4580-8FAC-F41732D8B6C5}"/>
                          </a:ext>
                        </a:extLst>
                      </p:cNvPr>
                      <p:cNvPicPr/>
                      <p:nvPr/>
                    </p:nvPicPr>
                    <p:blipFill>
                      <a:blip r:embed="rId58"/>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E87F53E9-26D2-4A04-9271-DBDC9F315027}"/>
              </a:ext>
            </a:extLst>
          </p:cNvPr>
          <p:cNvSpPr>
            <a:spLocks noGrp="1"/>
          </p:cNvSpPr>
          <p:nvPr>
            <p:ph type="title"/>
          </p:nvPr>
        </p:nvSpPr>
        <p:spPr>
          <a:xfrm>
            <a:off x="630000" y="622800"/>
            <a:ext cx="10933350" cy="332399"/>
          </a:xfrm>
        </p:spPr>
        <p:txBody>
          <a:bodyPr vert="horz"/>
          <a:lstStyle/>
          <a:p>
            <a:r>
              <a:rPr lang="en-US"/>
              <a:t>Prioritized pockets of capabilities for the Client </a:t>
            </a:r>
          </a:p>
        </p:txBody>
      </p:sp>
      <p:sp>
        <p:nvSpPr>
          <p:cNvPr id="103" name="Rectangle: Rounded Corners 102">
            <a:extLst>
              <a:ext uri="{FF2B5EF4-FFF2-40B4-BE49-F238E27FC236}">
                <a16:creationId xmlns:a16="http://schemas.microsoft.com/office/drawing/2014/main" id="{C77BB338-6878-4528-821E-45EE9DB6E7EF}"/>
              </a:ext>
            </a:extLst>
          </p:cNvPr>
          <p:cNvSpPr/>
          <p:nvPr>
            <p:custDataLst>
              <p:tags r:id="rId2"/>
            </p:custDataLst>
          </p:nvPr>
        </p:nvSpPr>
        <p:spPr>
          <a:xfrm>
            <a:off x="979289" y="5869668"/>
            <a:ext cx="10572781" cy="223711"/>
          </a:xfrm>
          <a:prstGeom prst="roundRect">
            <a:avLst/>
          </a:prstGeom>
          <a:solidFill>
            <a:srgbClr val="F2F2F2"/>
          </a:solidFill>
          <a:ln w="952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150" b="1">
                <a:solidFill>
                  <a:srgbClr val="575757"/>
                </a:solidFill>
              </a:rPr>
              <a:t>People and operating model (org structure, process, WoW, skills, </a:t>
            </a:r>
            <a:r>
              <a:rPr lang="en-US" sz="1150" b="1" err="1">
                <a:solidFill>
                  <a:srgbClr val="575757"/>
                </a:solidFill>
              </a:rPr>
              <a:t>KPIs</a:t>
            </a:r>
            <a:r>
              <a:rPr lang="en-US" sz="1150" b="1">
                <a:solidFill>
                  <a:srgbClr val="575757"/>
                </a:solidFill>
              </a:rPr>
              <a:t>)</a:t>
            </a:r>
          </a:p>
        </p:txBody>
      </p:sp>
      <p:sp>
        <p:nvSpPr>
          <p:cNvPr id="104" name="Rectangle: Rounded Corners 103">
            <a:extLst>
              <a:ext uri="{FF2B5EF4-FFF2-40B4-BE49-F238E27FC236}">
                <a16:creationId xmlns:a16="http://schemas.microsoft.com/office/drawing/2014/main" id="{F03A2583-923C-4BC8-962F-B8EBA80FE89A}"/>
              </a:ext>
            </a:extLst>
          </p:cNvPr>
          <p:cNvSpPr/>
          <p:nvPr>
            <p:custDataLst>
              <p:tags r:id="rId3"/>
            </p:custDataLst>
          </p:nvPr>
        </p:nvSpPr>
        <p:spPr>
          <a:xfrm>
            <a:off x="979289" y="6139593"/>
            <a:ext cx="10572781" cy="223711"/>
          </a:xfrm>
          <a:prstGeom prst="roundRect">
            <a:avLst/>
          </a:prstGeom>
          <a:solidFill>
            <a:srgbClr val="F2F2F2"/>
          </a:solidFill>
          <a:ln w="952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150" b="1">
                <a:solidFill>
                  <a:srgbClr val="575757"/>
                </a:solidFill>
              </a:rPr>
              <a:t>Technology and analytics</a:t>
            </a:r>
          </a:p>
        </p:txBody>
      </p:sp>
      <p:sp>
        <p:nvSpPr>
          <p:cNvPr id="109" name="ee4pHeader1">
            <a:extLst>
              <a:ext uri="{FF2B5EF4-FFF2-40B4-BE49-F238E27FC236}">
                <a16:creationId xmlns:a16="http://schemas.microsoft.com/office/drawing/2014/main" id="{88595698-C045-4F97-BE2D-1AC1108EAB8E}"/>
              </a:ext>
            </a:extLst>
          </p:cNvPr>
          <p:cNvSpPr>
            <a:spLocks noChangeArrowheads="1"/>
          </p:cNvSpPr>
          <p:nvPr>
            <p:custDataLst>
              <p:tags r:id="rId4"/>
            </p:custDataLst>
          </p:nvPr>
        </p:nvSpPr>
        <p:spPr bwMode="gray">
          <a:xfrm rot="16200000" flipH="1">
            <a:off x="-1219926" y="3660499"/>
            <a:ext cx="3966668" cy="266814"/>
          </a:xfrm>
          <a:prstGeom prst="homePlate">
            <a:avLst>
              <a:gd name="adj" fmla="val 12004"/>
            </a:avLst>
          </a:prstGeom>
          <a:solidFill>
            <a:schemeClr val="tx2"/>
          </a:solidFill>
          <a:ln w="12700" cap="rnd" cmpd="sng" algn="ctr">
            <a:noFill/>
            <a:prstDash val="solid"/>
            <a:round/>
            <a:headEnd type="none" w="med" len="med"/>
            <a:tailEnd type="none" w="med" len="med"/>
          </a:ln>
          <a:extLst>
            <a:ext uri="{91240B29-F687-4F45-9708-019B960494DF}">
              <a14:hiddenLine xmlns:a14="http://schemas.microsoft.com/office/drawing/2010/main" w="12700" cap="rnd" cmpd="sng" algn="ctr">
                <a:solidFill>
                  <a:schemeClr val="bg1">
                    <a:lumMod val="50000"/>
                  </a:schemeClr>
                </a:solidFill>
                <a:prstDash val="solid"/>
                <a:round/>
                <a:headEnd type="none" w="med" len="med"/>
                <a:tailEnd type="none" w="med" len="med"/>
              </a14:hiddenLine>
            </a:ext>
          </a:extLst>
        </p:spPr>
        <p:txBody>
          <a:bodyPr wrap="square" lIns="0" tIns="0" rIns="0" bIns="0" rtlCol="0" anchor="ctr" anchorCtr="0">
            <a:noAutofit/>
          </a:bodyPr>
          <a:lstStyle/>
          <a:p>
            <a:pPr algn="ctr" rtl="0" eaLnBrk="0" hangingPunct="0"/>
            <a:r>
              <a:rPr lang="en-US" sz="1000" b="1">
                <a:solidFill>
                  <a:schemeClr val="bg1"/>
                </a:solidFill>
                <a:sym typeface="+mn-lt"/>
              </a:rPr>
              <a:t>Capabilities needed for increasingly advanced personalization</a:t>
            </a:r>
            <a:endParaRPr lang="ru" sz="1000" b="1">
              <a:solidFill>
                <a:schemeClr val="bg1"/>
              </a:solidFill>
              <a:sym typeface="+mn-lt"/>
            </a:endParaRPr>
          </a:p>
        </p:txBody>
      </p:sp>
      <p:sp>
        <p:nvSpPr>
          <p:cNvPr id="110" name="Rectangle: Rounded Corners 109">
            <a:extLst>
              <a:ext uri="{FF2B5EF4-FFF2-40B4-BE49-F238E27FC236}">
                <a16:creationId xmlns:a16="http://schemas.microsoft.com/office/drawing/2014/main" id="{58CD4447-3AED-40CA-84AD-CFDBFFB5B433}"/>
              </a:ext>
            </a:extLst>
          </p:cNvPr>
          <p:cNvSpPr/>
          <p:nvPr>
            <p:custDataLst>
              <p:tags r:id="rId5"/>
            </p:custDataLst>
          </p:nvPr>
        </p:nvSpPr>
        <p:spPr>
          <a:xfrm>
            <a:off x="10129879" y="2616633"/>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Control group and A/B testing for campaigns</a:t>
            </a:r>
          </a:p>
        </p:txBody>
      </p:sp>
      <p:sp>
        <p:nvSpPr>
          <p:cNvPr id="113" name="Rectangle: Rounded Corners 112">
            <a:extLst>
              <a:ext uri="{FF2B5EF4-FFF2-40B4-BE49-F238E27FC236}">
                <a16:creationId xmlns:a16="http://schemas.microsoft.com/office/drawing/2014/main" id="{977E84EC-4149-4C6A-9F76-EB319F7BAC6F}"/>
              </a:ext>
            </a:extLst>
          </p:cNvPr>
          <p:cNvSpPr/>
          <p:nvPr>
            <p:custDataLst>
              <p:tags r:id="rId6"/>
            </p:custDataLst>
          </p:nvPr>
        </p:nvSpPr>
        <p:spPr>
          <a:xfrm>
            <a:off x="979289" y="2616633"/>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Engagement data across online, offline channels</a:t>
            </a:r>
          </a:p>
        </p:txBody>
      </p:sp>
      <p:sp>
        <p:nvSpPr>
          <p:cNvPr id="114" name="Rectangle: Rounded Corners 113">
            <a:extLst>
              <a:ext uri="{FF2B5EF4-FFF2-40B4-BE49-F238E27FC236}">
                <a16:creationId xmlns:a16="http://schemas.microsoft.com/office/drawing/2014/main" id="{CE0E83E3-9024-496E-9E1F-64FC3C1CF75C}"/>
              </a:ext>
            </a:extLst>
          </p:cNvPr>
          <p:cNvSpPr/>
          <p:nvPr>
            <p:custDataLst>
              <p:tags r:id="rId7"/>
            </p:custDataLst>
          </p:nvPr>
        </p:nvSpPr>
        <p:spPr>
          <a:xfrm>
            <a:off x="2504387" y="2616633"/>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Diverse prioritization methods used–incl. ad-hoc propensity modeling</a:t>
            </a:r>
          </a:p>
        </p:txBody>
      </p:sp>
      <p:sp>
        <p:nvSpPr>
          <p:cNvPr id="115" name="Rectangle: Rounded Corners 114">
            <a:extLst>
              <a:ext uri="{FF2B5EF4-FFF2-40B4-BE49-F238E27FC236}">
                <a16:creationId xmlns:a16="http://schemas.microsoft.com/office/drawing/2014/main" id="{CEDD518E-4242-4C26-B30A-E7C767004A6E}"/>
              </a:ext>
            </a:extLst>
          </p:cNvPr>
          <p:cNvSpPr/>
          <p:nvPr>
            <p:custDataLst>
              <p:tags r:id="rId8"/>
            </p:custDataLst>
          </p:nvPr>
        </p:nvSpPr>
        <p:spPr>
          <a:xfrm>
            <a:off x="8604779" y="2616633"/>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r>
              <a:rPr lang="en-US" sz="800">
                <a:solidFill>
                  <a:srgbClr val="575757"/>
                </a:solidFill>
              </a:rPr>
              <a:t>Prioritized weekly list by frontliners across products (campaign-agnostic)</a:t>
            </a:r>
          </a:p>
        </p:txBody>
      </p:sp>
      <p:sp>
        <p:nvSpPr>
          <p:cNvPr id="116" name="Rectangle: Rounded Corners 115">
            <a:extLst>
              <a:ext uri="{FF2B5EF4-FFF2-40B4-BE49-F238E27FC236}">
                <a16:creationId xmlns:a16="http://schemas.microsoft.com/office/drawing/2014/main" id="{13FCB4A4-908E-496C-BFC0-3648F892D6DA}"/>
              </a:ext>
            </a:extLst>
          </p:cNvPr>
          <p:cNvSpPr/>
          <p:nvPr>
            <p:custDataLst>
              <p:tags r:id="rId9"/>
            </p:custDataLst>
          </p:nvPr>
        </p:nvSpPr>
        <p:spPr>
          <a:xfrm>
            <a:off x="7079681" y="2616633"/>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Targeted offers via push/in app–1:1 or specific segments</a:t>
            </a:r>
          </a:p>
        </p:txBody>
      </p:sp>
      <p:sp>
        <p:nvSpPr>
          <p:cNvPr id="117" name="Rectangle: Rounded Corners 116">
            <a:extLst>
              <a:ext uri="{FF2B5EF4-FFF2-40B4-BE49-F238E27FC236}">
                <a16:creationId xmlns:a16="http://schemas.microsoft.com/office/drawing/2014/main" id="{A9CAE3AE-752A-446C-89BD-BC6C3B713726}"/>
              </a:ext>
            </a:extLst>
          </p:cNvPr>
          <p:cNvSpPr/>
          <p:nvPr>
            <p:custDataLst>
              <p:tags r:id="rId10"/>
            </p:custDataLst>
          </p:nvPr>
        </p:nvSpPr>
        <p:spPr>
          <a:xfrm>
            <a:off x="5554583" y="2616633"/>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Segment-based targeting for campaigns</a:t>
            </a:r>
          </a:p>
        </p:txBody>
      </p:sp>
      <p:sp>
        <p:nvSpPr>
          <p:cNvPr id="118" name="Rectangle: Rounded Corners 117">
            <a:extLst>
              <a:ext uri="{FF2B5EF4-FFF2-40B4-BE49-F238E27FC236}">
                <a16:creationId xmlns:a16="http://schemas.microsoft.com/office/drawing/2014/main" id="{56004A57-16A7-4632-9863-BBE84775C63C}"/>
              </a:ext>
            </a:extLst>
          </p:cNvPr>
          <p:cNvSpPr/>
          <p:nvPr>
            <p:custDataLst>
              <p:tags r:id="rId11"/>
            </p:custDataLst>
          </p:nvPr>
        </p:nvSpPr>
        <p:spPr>
          <a:xfrm>
            <a:off x="4029485" y="2616633"/>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r>
              <a:rPr lang="en-US" sz="800">
                <a:solidFill>
                  <a:srgbClr val="575757"/>
                </a:solidFill>
              </a:rPr>
              <a:t>Central orchestration unit to coordinate all campaign comms (digital &amp; human)</a:t>
            </a:r>
          </a:p>
        </p:txBody>
      </p:sp>
      <p:grpSp>
        <p:nvGrpSpPr>
          <p:cNvPr id="119" name="Group 118">
            <a:extLst>
              <a:ext uri="{FF2B5EF4-FFF2-40B4-BE49-F238E27FC236}">
                <a16:creationId xmlns:a16="http://schemas.microsoft.com/office/drawing/2014/main" id="{3C93DDF7-1FD9-4F41-A9F6-9ED36F78D8B6}"/>
              </a:ext>
            </a:extLst>
          </p:cNvPr>
          <p:cNvGrpSpPr/>
          <p:nvPr/>
        </p:nvGrpSpPr>
        <p:grpSpPr>
          <a:xfrm>
            <a:off x="979289" y="1421936"/>
            <a:ext cx="10618544" cy="363817"/>
            <a:chOff x="979289" y="1066740"/>
            <a:chExt cx="10618544" cy="363817"/>
          </a:xfrm>
          <a:gradFill>
            <a:gsLst>
              <a:gs pos="0">
                <a:schemeClr val="tx2"/>
              </a:gs>
              <a:gs pos="100000">
                <a:schemeClr val="accent1"/>
              </a:gs>
            </a:gsLst>
            <a:lin ang="0" scaled="1"/>
          </a:gradFill>
        </p:grpSpPr>
        <p:sp>
          <p:nvSpPr>
            <p:cNvPr id="120" name="ee4pHeader1">
              <a:extLst>
                <a:ext uri="{FF2B5EF4-FFF2-40B4-BE49-F238E27FC236}">
                  <a16:creationId xmlns:a16="http://schemas.microsoft.com/office/drawing/2014/main" id="{46AB3A31-24B1-4661-A3C1-02C23CF02FF0}"/>
                </a:ext>
              </a:extLst>
            </p:cNvPr>
            <p:cNvSpPr>
              <a:spLocks noChangeArrowheads="1"/>
            </p:cNvSpPr>
            <p:nvPr>
              <p:custDataLst>
                <p:tags r:id="rId50"/>
              </p:custDataLst>
            </p:nvPr>
          </p:nvSpPr>
          <p:spPr bwMode="gray">
            <a:xfrm>
              <a:off x="979289" y="1066740"/>
              <a:ext cx="1467955" cy="363817"/>
            </a:xfrm>
            <a:prstGeom prst="homePlate">
              <a:avLst>
                <a:gd name="adj" fmla="val 12004"/>
              </a:avLst>
            </a:prstGeom>
            <a:grpFill/>
            <a:ln w="38100" cap="rnd" algn="ctr">
              <a:noFill/>
              <a:round/>
              <a:headEnd/>
              <a:tailEnd/>
            </a:ln>
          </p:spPr>
          <p:txBody>
            <a:bodyPr lIns="0" tIns="0" rIns="0" bIns="0" rtlCol="0" anchor="ctr" anchorCtr="0"/>
            <a:lstStyle/>
            <a:p>
              <a:pPr algn="ctr" rtl="0" eaLnBrk="0" hangingPunct="0"/>
              <a:r>
                <a:rPr lang="en-US" sz="1000" b="1">
                  <a:solidFill>
                    <a:srgbClr val="FFFFFF"/>
                  </a:solidFill>
                  <a:latin typeface="+mj-lt"/>
                  <a:sym typeface="+mn-lt"/>
                </a:rPr>
                <a:t>Data layer</a:t>
              </a:r>
              <a:endParaRPr lang="ru" sz="1000" b="1">
                <a:solidFill>
                  <a:srgbClr val="FFFFFF"/>
                </a:solidFill>
                <a:latin typeface="+mj-lt"/>
                <a:sym typeface="+mn-lt"/>
              </a:endParaRPr>
            </a:p>
          </p:txBody>
        </p:sp>
        <p:sp>
          <p:nvSpPr>
            <p:cNvPr id="121" name="ee4pHeader2">
              <a:extLst>
                <a:ext uri="{FF2B5EF4-FFF2-40B4-BE49-F238E27FC236}">
                  <a16:creationId xmlns:a16="http://schemas.microsoft.com/office/drawing/2014/main" id="{1C167E66-49E7-4121-9C2B-E0C4F9500A12}"/>
                </a:ext>
              </a:extLst>
            </p:cNvPr>
            <p:cNvSpPr>
              <a:spLocks noChangeArrowheads="1"/>
            </p:cNvSpPr>
            <p:nvPr>
              <p:custDataLst>
                <p:tags r:id="rId51"/>
              </p:custDataLst>
            </p:nvPr>
          </p:nvSpPr>
          <p:spPr bwMode="gray">
            <a:xfrm>
              <a:off x="2466985" y="1066740"/>
              <a:ext cx="1508105" cy="363817"/>
            </a:xfrm>
            <a:prstGeom prst="chevron">
              <a:avLst>
                <a:gd name="adj" fmla="val 12004"/>
              </a:avLst>
            </a:prstGeom>
            <a:grpFill/>
            <a:ln w="38100" cap="rnd" algn="ctr">
              <a:noFill/>
              <a:round/>
              <a:headEnd/>
              <a:tailEnd/>
            </a:ln>
          </p:spPr>
          <p:txBody>
            <a:bodyPr lIns="0" tIns="0" rIns="0" bIns="0" rtlCol="0" anchor="ctr" anchorCtr="0"/>
            <a:lstStyle/>
            <a:p>
              <a:pPr algn="ctr" rtl="0" eaLnBrk="0" hangingPunct="0"/>
              <a:r>
                <a:rPr lang="en-US" sz="1000" b="1">
                  <a:solidFill>
                    <a:srgbClr val="FFFFFF"/>
                  </a:solidFill>
                  <a:latin typeface="+mj-lt"/>
                  <a:sym typeface="+mn-lt"/>
                </a:rPr>
                <a:t>Analytical layer</a:t>
              </a:r>
              <a:endParaRPr lang="ru" sz="1000" b="1">
                <a:solidFill>
                  <a:srgbClr val="FFFFFF"/>
                </a:solidFill>
                <a:latin typeface="+mj-lt"/>
                <a:sym typeface="+mn-lt"/>
              </a:endParaRPr>
            </a:p>
          </p:txBody>
        </p:sp>
        <p:sp>
          <p:nvSpPr>
            <p:cNvPr id="122" name="ee4pHeader3">
              <a:extLst>
                <a:ext uri="{FF2B5EF4-FFF2-40B4-BE49-F238E27FC236}">
                  <a16:creationId xmlns:a16="http://schemas.microsoft.com/office/drawing/2014/main" id="{C6C586CB-7785-4282-BFEE-5498477EB619}"/>
                </a:ext>
              </a:extLst>
            </p:cNvPr>
            <p:cNvSpPr>
              <a:spLocks noChangeArrowheads="1"/>
            </p:cNvSpPr>
            <p:nvPr>
              <p:custDataLst>
                <p:tags r:id="rId52"/>
              </p:custDataLst>
            </p:nvPr>
          </p:nvSpPr>
          <p:spPr bwMode="gray">
            <a:xfrm>
              <a:off x="5522674" y="1066740"/>
              <a:ext cx="4547315" cy="363817"/>
            </a:xfrm>
            <a:prstGeom prst="chevron">
              <a:avLst>
                <a:gd name="adj" fmla="val 12004"/>
              </a:avLst>
            </a:prstGeom>
            <a:grpFill/>
            <a:ln w="38100" cap="rnd" algn="ctr">
              <a:noFill/>
              <a:round/>
              <a:headEnd/>
              <a:tailEnd/>
            </a:ln>
          </p:spPr>
          <p:txBody>
            <a:bodyPr lIns="0" tIns="0" rIns="0" bIns="0" rtlCol="0" anchor="ctr" anchorCtr="0"/>
            <a:lstStyle/>
            <a:p>
              <a:pPr algn="ctr" rtl="0" eaLnBrk="0" hangingPunct="0"/>
              <a:r>
                <a:rPr lang="en-US" sz="1000" b="1">
                  <a:solidFill>
                    <a:srgbClr val="FFFFFF"/>
                  </a:solidFill>
                  <a:latin typeface="+mj-lt"/>
                  <a:sym typeface="+mn-lt"/>
                </a:rPr>
                <a:t>Interaction layer</a:t>
              </a:r>
              <a:endParaRPr lang="ru" sz="1000" b="1">
                <a:solidFill>
                  <a:srgbClr val="FFFFFF"/>
                </a:solidFill>
                <a:latin typeface="+mj-lt"/>
                <a:sym typeface="+mn-lt"/>
              </a:endParaRPr>
            </a:p>
          </p:txBody>
        </p:sp>
        <p:sp>
          <p:nvSpPr>
            <p:cNvPr id="123" name="ee4pHeader2">
              <a:extLst>
                <a:ext uri="{FF2B5EF4-FFF2-40B4-BE49-F238E27FC236}">
                  <a16:creationId xmlns:a16="http://schemas.microsoft.com/office/drawing/2014/main" id="{7BBD2467-FC75-4A50-A6D1-1483363FD6EA}"/>
                </a:ext>
              </a:extLst>
            </p:cNvPr>
            <p:cNvSpPr>
              <a:spLocks noChangeArrowheads="1"/>
            </p:cNvSpPr>
            <p:nvPr>
              <p:custDataLst>
                <p:tags r:id="rId53"/>
              </p:custDataLst>
            </p:nvPr>
          </p:nvSpPr>
          <p:spPr bwMode="gray">
            <a:xfrm>
              <a:off x="3994829" y="1066740"/>
              <a:ext cx="1508105" cy="363817"/>
            </a:xfrm>
            <a:prstGeom prst="chevron">
              <a:avLst>
                <a:gd name="adj" fmla="val 12004"/>
              </a:avLst>
            </a:prstGeom>
            <a:grpFill/>
            <a:ln w="38100" cap="rnd" algn="ctr">
              <a:noFill/>
              <a:round/>
              <a:headEnd/>
              <a:tailEnd/>
            </a:ln>
          </p:spPr>
          <p:txBody>
            <a:bodyPr lIns="0" tIns="0" rIns="0" bIns="0" rtlCol="0" anchor="ctr" anchorCtr="0"/>
            <a:lstStyle/>
            <a:p>
              <a:pPr algn="ctr" rtl="0" eaLnBrk="0" hangingPunct="0"/>
              <a:r>
                <a:rPr lang="en-US" sz="1000" b="1">
                  <a:solidFill>
                    <a:srgbClr val="FFFFFF"/>
                  </a:solidFill>
                  <a:latin typeface="+mj-lt"/>
                  <a:sym typeface="+mn-lt"/>
                </a:rPr>
                <a:t>Orchestration layer</a:t>
              </a:r>
              <a:endParaRPr lang="ru" sz="1000" b="1">
                <a:solidFill>
                  <a:srgbClr val="FFFFFF"/>
                </a:solidFill>
                <a:latin typeface="+mj-lt"/>
                <a:sym typeface="+mn-lt"/>
              </a:endParaRPr>
            </a:p>
          </p:txBody>
        </p:sp>
        <p:sp>
          <p:nvSpPr>
            <p:cNvPr id="124" name="ee4pHeader3">
              <a:extLst>
                <a:ext uri="{FF2B5EF4-FFF2-40B4-BE49-F238E27FC236}">
                  <a16:creationId xmlns:a16="http://schemas.microsoft.com/office/drawing/2014/main" id="{8AC48841-DDB4-43C0-ADB4-CC03F799FF90}"/>
                </a:ext>
              </a:extLst>
            </p:cNvPr>
            <p:cNvSpPr>
              <a:spLocks noChangeArrowheads="1"/>
            </p:cNvSpPr>
            <p:nvPr>
              <p:custDataLst>
                <p:tags r:id="rId54"/>
              </p:custDataLst>
            </p:nvPr>
          </p:nvSpPr>
          <p:spPr bwMode="gray">
            <a:xfrm>
              <a:off x="10089728" y="1066740"/>
              <a:ext cx="1508105" cy="363817"/>
            </a:xfrm>
            <a:prstGeom prst="chevron">
              <a:avLst>
                <a:gd name="adj" fmla="val 12004"/>
              </a:avLst>
            </a:prstGeom>
            <a:grpFill/>
            <a:ln w="38100" cap="rnd" algn="ctr">
              <a:noFill/>
              <a:round/>
              <a:headEnd/>
              <a:tailEnd/>
            </a:ln>
          </p:spPr>
          <p:txBody>
            <a:bodyPr lIns="0" tIns="0" rIns="0" bIns="0" rtlCol="0" anchor="ctr" anchorCtr="0"/>
            <a:lstStyle/>
            <a:p>
              <a:pPr algn="ctr" rtl="0" eaLnBrk="0" hangingPunct="0"/>
              <a:r>
                <a:rPr lang="en-US" sz="1000" b="1">
                  <a:solidFill>
                    <a:srgbClr val="FFFFFF"/>
                  </a:solidFill>
                  <a:latin typeface="+mj-lt"/>
                  <a:sym typeface="+mn-lt"/>
                </a:rPr>
                <a:t>Measure. &amp; feedback</a:t>
              </a:r>
              <a:endParaRPr lang="ru" sz="1000" b="1">
                <a:solidFill>
                  <a:srgbClr val="FFFFFF"/>
                </a:solidFill>
                <a:latin typeface="+mj-lt"/>
                <a:sym typeface="+mn-lt"/>
              </a:endParaRPr>
            </a:p>
          </p:txBody>
        </p:sp>
      </p:grpSp>
      <p:cxnSp>
        <p:nvCxnSpPr>
          <p:cNvPr id="125" name="Connector: Elbow 124">
            <a:extLst>
              <a:ext uri="{FF2B5EF4-FFF2-40B4-BE49-F238E27FC236}">
                <a16:creationId xmlns:a16="http://schemas.microsoft.com/office/drawing/2014/main" id="{E43CCFAF-0727-469D-984D-257F6BBE1ABA}"/>
              </a:ext>
            </a:extLst>
          </p:cNvPr>
          <p:cNvCxnSpPr>
            <a:cxnSpLocks/>
          </p:cNvCxnSpPr>
          <p:nvPr/>
        </p:nvCxnSpPr>
        <p:spPr>
          <a:xfrm rot="16200000" flipV="1">
            <a:off x="6247306" y="-3130621"/>
            <a:ext cx="15312" cy="9130513"/>
          </a:xfrm>
          <a:prstGeom prst="bentConnector3">
            <a:avLst>
              <a:gd name="adj1" fmla="val 1229693"/>
            </a:avLst>
          </a:prstGeom>
          <a:gradFill>
            <a:gsLst>
              <a:gs pos="0">
                <a:schemeClr val="tx2"/>
              </a:gs>
              <a:gs pos="100000">
                <a:schemeClr val="accent1"/>
              </a:gs>
            </a:gsLst>
            <a:lin ang="0" scaled="1"/>
          </a:gradFill>
          <a:ln w="9525" cap="rnd" cmpd="sng" algn="ctr">
            <a:solidFill>
              <a:srgbClr val="7F7F7F"/>
            </a:solidFill>
            <a:prstDash val="solid"/>
            <a:roun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6" name="Rectangle 125">
            <a:extLst>
              <a:ext uri="{FF2B5EF4-FFF2-40B4-BE49-F238E27FC236}">
                <a16:creationId xmlns:a16="http://schemas.microsoft.com/office/drawing/2014/main" id="{6ACEAA5D-4AD8-4B0F-AFA8-0730E5006FA4}"/>
              </a:ext>
            </a:extLst>
          </p:cNvPr>
          <p:cNvSpPr/>
          <p:nvPr/>
        </p:nvSpPr>
        <p:spPr>
          <a:xfrm>
            <a:off x="5542900" y="1810572"/>
            <a:ext cx="1453764" cy="298676"/>
          </a:xfrm>
          <a:prstGeom prst="rect">
            <a:avLst/>
          </a:prstGeom>
          <a:no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000" b="1">
                <a:solidFill>
                  <a:schemeClr val="tx1"/>
                </a:solidFill>
              </a:rPr>
              <a:t>Digital channels</a:t>
            </a:r>
            <a:br>
              <a:rPr lang="en-US" sz="1050" b="1">
                <a:solidFill>
                  <a:schemeClr val="tx1"/>
                </a:solidFill>
              </a:rPr>
            </a:br>
            <a:r>
              <a:rPr lang="en-US" sz="900">
                <a:solidFill>
                  <a:srgbClr val="7F7F7F"/>
                </a:solidFill>
              </a:rPr>
              <a:t>(e-mail, SMS, Viber)</a:t>
            </a:r>
            <a:endParaRPr lang="en-US" sz="1050">
              <a:solidFill>
                <a:srgbClr val="7F7F7F"/>
              </a:solidFill>
            </a:endParaRPr>
          </a:p>
        </p:txBody>
      </p:sp>
      <p:sp>
        <p:nvSpPr>
          <p:cNvPr id="127" name="Rectangle 126">
            <a:extLst>
              <a:ext uri="{FF2B5EF4-FFF2-40B4-BE49-F238E27FC236}">
                <a16:creationId xmlns:a16="http://schemas.microsoft.com/office/drawing/2014/main" id="{A791ED90-3FE6-4E69-A3D7-4D26AC0FC49B}"/>
              </a:ext>
            </a:extLst>
          </p:cNvPr>
          <p:cNvSpPr/>
          <p:nvPr/>
        </p:nvSpPr>
        <p:spPr>
          <a:xfrm>
            <a:off x="7057166" y="1810572"/>
            <a:ext cx="1453764" cy="298676"/>
          </a:xfrm>
          <a:prstGeom prst="rect">
            <a:avLst/>
          </a:prstGeom>
          <a:no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000" b="1">
                <a:solidFill>
                  <a:schemeClr val="tx1"/>
                </a:solidFill>
              </a:rPr>
              <a:t>Digital platforms</a:t>
            </a:r>
            <a:br>
              <a:rPr lang="en-US" sz="1050">
                <a:solidFill>
                  <a:schemeClr val="tx1"/>
                </a:solidFill>
              </a:rPr>
            </a:br>
            <a:r>
              <a:rPr lang="en-US" sz="900">
                <a:solidFill>
                  <a:srgbClr val="7F7F7F"/>
                </a:solidFill>
              </a:rPr>
              <a:t>(Client apps, website)</a:t>
            </a:r>
            <a:endParaRPr lang="en-US" sz="1050">
              <a:solidFill>
                <a:srgbClr val="7F7F7F"/>
              </a:solidFill>
            </a:endParaRPr>
          </a:p>
        </p:txBody>
      </p:sp>
      <p:sp>
        <p:nvSpPr>
          <p:cNvPr id="128" name="Rectangle 127">
            <a:extLst>
              <a:ext uri="{FF2B5EF4-FFF2-40B4-BE49-F238E27FC236}">
                <a16:creationId xmlns:a16="http://schemas.microsoft.com/office/drawing/2014/main" id="{470785F3-B196-4091-A413-6B8AF6C40E70}"/>
              </a:ext>
            </a:extLst>
          </p:cNvPr>
          <p:cNvSpPr/>
          <p:nvPr/>
        </p:nvSpPr>
        <p:spPr>
          <a:xfrm>
            <a:off x="8571432" y="1810572"/>
            <a:ext cx="1453764" cy="298676"/>
          </a:xfrm>
          <a:prstGeom prst="rect">
            <a:avLst/>
          </a:prstGeom>
          <a:no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000" b="1">
                <a:solidFill>
                  <a:schemeClr val="tx1"/>
                </a:solidFill>
              </a:rPr>
              <a:t>Human channels</a:t>
            </a:r>
            <a:br>
              <a:rPr lang="en-US" sz="1050">
                <a:solidFill>
                  <a:schemeClr val="tx1"/>
                </a:solidFill>
              </a:rPr>
            </a:br>
            <a:r>
              <a:rPr lang="en-US" sz="900">
                <a:solidFill>
                  <a:srgbClr val="7F7F7F"/>
                </a:solidFill>
              </a:rPr>
              <a:t>(Frontliners)</a:t>
            </a:r>
          </a:p>
        </p:txBody>
      </p:sp>
      <p:sp>
        <p:nvSpPr>
          <p:cNvPr id="129" name="Rectangle: Rounded Corners 128">
            <a:extLst>
              <a:ext uri="{FF2B5EF4-FFF2-40B4-BE49-F238E27FC236}">
                <a16:creationId xmlns:a16="http://schemas.microsoft.com/office/drawing/2014/main" id="{901571EF-AF4C-4ED0-8B19-B62310991E08}"/>
              </a:ext>
            </a:extLst>
          </p:cNvPr>
          <p:cNvSpPr/>
          <p:nvPr>
            <p:custDataLst>
              <p:tags r:id="rId12"/>
            </p:custDataLst>
          </p:nvPr>
        </p:nvSpPr>
        <p:spPr>
          <a:xfrm>
            <a:off x="10129879" y="2158134"/>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Track recurring topline (e.g., billings, </a:t>
            </a:r>
            <a:r>
              <a:rPr lang="en-US" sz="800" err="1">
                <a:solidFill>
                  <a:srgbClr val="575757"/>
                </a:solidFill>
              </a:rPr>
              <a:t>acqui</a:t>
            </a:r>
            <a:r>
              <a:rPr lang="en-US" sz="800">
                <a:solidFill>
                  <a:srgbClr val="575757"/>
                </a:solidFill>
              </a:rPr>
              <a:t>.)</a:t>
            </a:r>
          </a:p>
        </p:txBody>
      </p:sp>
      <p:sp>
        <p:nvSpPr>
          <p:cNvPr id="130" name="Rectangle: Rounded Corners 129">
            <a:extLst>
              <a:ext uri="{FF2B5EF4-FFF2-40B4-BE49-F238E27FC236}">
                <a16:creationId xmlns:a16="http://schemas.microsoft.com/office/drawing/2014/main" id="{96A95DB6-215A-43E7-9375-367DD3B215D5}"/>
              </a:ext>
            </a:extLst>
          </p:cNvPr>
          <p:cNvSpPr/>
          <p:nvPr>
            <p:custDataLst>
              <p:tags r:id="rId13"/>
            </p:custDataLst>
          </p:nvPr>
        </p:nvSpPr>
        <p:spPr>
          <a:xfrm>
            <a:off x="979289" y="2158134"/>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Transaction, basic customer data captured</a:t>
            </a:r>
          </a:p>
        </p:txBody>
      </p:sp>
      <p:sp>
        <p:nvSpPr>
          <p:cNvPr id="131" name="Rectangle: Rounded Corners 130">
            <a:extLst>
              <a:ext uri="{FF2B5EF4-FFF2-40B4-BE49-F238E27FC236}">
                <a16:creationId xmlns:a16="http://schemas.microsoft.com/office/drawing/2014/main" id="{5A99749D-4321-44B3-B876-58C09208EC6B}"/>
              </a:ext>
            </a:extLst>
          </p:cNvPr>
          <p:cNvSpPr/>
          <p:nvPr>
            <p:custDataLst>
              <p:tags r:id="rId14"/>
            </p:custDataLst>
          </p:nvPr>
        </p:nvSpPr>
        <p:spPr>
          <a:xfrm>
            <a:off x="2504387" y="2158134"/>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Rule-based systems and basic segmentation models</a:t>
            </a:r>
          </a:p>
        </p:txBody>
      </p:sp>
      <p:sp>
        <p:nvSpPr>
          <p:cNvPr id="132" name="Rectangle: Rounded Corners 131">
            <a:extLst>
              <a:ext uri="{FF2B5EF4-FFF2-40B4-BE49-F238E27FC236}">
                <a16:creationId xmlns:a16="http://schemas.microsoft.com/office/drawing/2014/main" id="{ECAC0A44-73B5-4159-AADA-DC0DD664F44E}"/>
              </a:ext>
            </a:extLst>
          </p:cNvPr>
          <p:cNvSpPr/>
          <p:nvPr>
            <p:custDataLst>
              <p:tags r:id="rId15"/>
            </p:custDataLst>
          </p:nvPr>
        </p:nvSpPr>
        <p:spPr>
          <a:xfrm>
            <a:off x="8604779" y="2158134"/>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Prioritized leads generated by campaigns</a:t>
            </a:r>
          </a:p>
        </p:txBody>
      </p:sp>
      <p:sp>
        <p:nvSpPr>
          <p:cNvPr id="133" name="Rectangle: Rounded Corners 132">
            <a:extLst>
              <a:ext uri="{FF2B5EF4-FFF2-40B4-BE49-F238E27FC236}">
                <a16:creationId xmlns:a16="http://schemas.microsoft.com/office/drawing/2014/main" id="{FB26E9EF-E0E6-4BBE-8CEE-895F65B47174}"/>
              </a:ext>
            </a:extLst>
          </p:cNvPr>
          <p:cNvSpPr/>
          <p:nvPr>
            <p:custDataLst>
              <p:tags r:id="rId16"/>
            </p:custDataLst>
          </p:nvPr>
        </p:nvSpPr>
        <p:spPr>
          <a:xfrm>
            <a:off x="7079681" y="2158134"/>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Ability to use push/in app notifications for broad comms</a:t>
            </a:r>
          </a:p>
        </p:txBody>
      </p:sp>
      <p:sp>
        <p:nvSpPr>
          <p:cNvPr id="134" name="Rectangle: Rounded Corners 133">
            <a:extLst>
              <a:ext uri="{FF2B5EF4-FFF2-40B4-BE49-F238E27FC236}">
                <a16:creationId xmlns:a16="http://schemas.microsoft.com/office/drawing/2014/main" id="{892CDB08-508D-4B81-BDAF-72C49B9323A0}"/>
              </a:ext>
            </a:extLst>
          </p:cNvPr>
          <p:cNvSpPr/>
          <p:nvPr>
            <p:custDataLst>
              <p:tags r:id="rId17"/>
            </p:custDataLst>
          </p:nvPr>
        </p:nvSpPr>
        <p:spPr>
          <a:xfrm>
            <a:off x="5554583" y="2158134"/>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Email/SMS/Viber used for mass campaigns</a:t>
            </a:r>
          </a:p>
        </p:txBody>
      </p:sp>
      <p:sp>
        <p:nvSpPr>
          <p:cNvPr id="135" name="Rectangle: Rounded Corners 134">
            <a:extLst>
              <a:ext uri="{FF2B5EF4-FFF2-40B4-BE49-F238E27FC236}">
                <a16:creationId xmlns:a16="http://schemas.microsoft.com/office/drawing/2014/main" id="{61DE610A-2D7E-44D4-85A4-F2C42151F021}"/>
              </a:ext>
            </a:extLst>
          </p:cNvPr>
          <p:cNvSpPr/>
          <p:nvPr>
            <p:custDataLst>
              <p:tags r:id="rId18"/>
            </p:custDataLst>
          </p:nvPr>
        </p:nvSpPr>
        <p:spPr>
          <a:xfrm>
            <a:off x="4029485" y="2158134"/>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Ability to obtain frequency of (digital) comms to customer</a:t>
            </a:r>
          </a:p>
        </p:txBody>
      </p:sp>
      <p:sp>
        <p:nvSpPr>
          <p:cNvPr id="136" name="Freeform: Shape 135">
            <a:extLst>
              <a:ext uri="{FF2B5EF4-FFF2-40B4-BE49-F238E27FC236}">
                <a16:creationId xmlns:a16="http://schemas.microsoft.com/office/drawing/2014/main" id="{AB0DFAA9-13FE-426C-AD6B-755CD98DA83F}"/>
              </a:ext>
            </a:extLst>
          </p:cNvPr>
          <p:cNvSpPr/>
          <p:nvPr/>
        </p:nvSpPr>
        <p:spPr>
          <a:xfrm rot="16200000">
            <a:off x="437395" y="6041958"/>
            <a:ext cx="652028" cy="266816"/>
          </a:xfrm>
          <a:custGeom>
            <a:avLst/>
            <a:gdLst>
              <a:gd name="connsiteX0" fmla="*/ 665227 w 665227"/>
              <a:gd name="connsiteY0" fmla="*/ 0 h 266816"/>
              <a:gd name="connsiteX1" fmla="*/ 665227 w 665227"/>
              <a:gd name="connsiteY1" fmla="*/ 1 h 266816"/>
              <a:gd name="connsiteX2" fmla="*/ 652028 w 665227"/>
              <a:gd name="connsiteY2" fmla="*/ 1 h 266816"/>
              <a:gd name="connsiteX3" fmla="*/ 620000 w 665227"/>
              <a:gd name="connsiteY3" fmla="*/ 133408 h 266816"/>
              <a:gd name="connsiteX4" fmla="*/ 652028 w 665227"/>
              <a:gd name="connsiteY4" fmla="*/ 266815 h 266816"/>
              <a:gd name="connsiteX5" fmla="*/ 665227 w 665227"/>
              <a:gd name="connsiteY5" fmla="*/ 266815 h 266816"/>
              <a:gd name="connsiteX6" fmla="*/ 665227 w 665227"/>
              <a:gd name="connsiteY6" fmla="*/ 266816 h 266816"/>
              <a:gd name="connsiteX7" fmla="*/ 0 w 665227"/>
              <a:gd name="connsiteY7" fmla="*/ 266816 h 266816"/>
              <a:gd name="connsiteX8" fmla="*/ 0 w 665227"/>
              <a:gd name="connsiteY8" fmla="*/ 0 h 266816"/>
              <a:gd name="connsiteX0" fmla="*/ 665227 w 665227"/>
              <a:gd name="connsiteY0" fmla="*/ 0 h 266816"/>
              <a:gd name="connsiteX1" fmla="*/ 665227 w 665227"/>
              <a:gd name="connsiteY1" fmla="*/ 1 h 266816"/>
              <a:gd name="connsiteX2" fmla="*/ 652028 w 665227"/>
              <a:gd name="connsiteY2" fmla="*/ 1 h 266816"/>
              <a:gd name="connsiteX3" fmla="*/ 620000 w 665227"/>
              <a:gd name="connsiteY3" fmla="*/ 133408 h 266816"/>
              <a:gd name="connsiteX4" fmla="*/ 652028 w 665227"/>
              <a:gd name="connsiteY4" fmla="*/ 266815 h 266816"/>
              <a:gd name="connsiteX5" fmla="*/ 665227 w 665227"/>
              <a:gd name="connsiteY5" fmla="*/ 266815 h 266816"/>
              <a:gd name="connsiteX6" fmla="*/ 0 w 665227"/>
              <a:gd name="connsiteY6" fmla="*/ 266816 h 266816"/>
              <a:gd name="connsiteX7" fmla="*/ 0 w 665227"/>
              <a:gd name="connsiteY7" fmla="*/ 0 h 266816"/>
              <a:gd name="connsiteX8" fmla="*/ 665227 w 665227"/>
              <a:gd name="connsiteY8" fmla="*/ 0 h 266816"/>
              <a:gd name="connsiteX0" fmla="*/ 665227 w 665227"/>
              <a:gd name="connsiteY0" fmla="*/ 0 h 266816"/>
              <a:gd name="connsiteX1" fmla="*/ 665227 w 665227"/>
              <a:gd name="connsiteY1" fmla="*/ 1 h 266816"/>
              <a:gd name="connsiteX2" fmla="*/ 652028 w 665227"/>
              <a:gd name="connsiteY2" fmla="*/ 1 h 266816"/>
              <a:gd name="connsiteX3" fmla="*/ 620000 w 665227"/>
              <a:gd name="connsiteY3" fmla="*/ 133408 h 266816"/>
              <a:gd name="connsiteX4" fmla="*/ 652028 w 665227"/>
              <a:gd name="connsiteY4" fmla="*/ 266815 h 266816"/>
              <a:gd name="connsiteX5" fmla="*/ 0 w 665227"/>
              <a:gd name="connsiteY5" fmla="*/ 266816 h 266816"/>
              <a:gd name="connsiteX6" fmla="*/ 0 w 665227"/>
              <a:gd name="connsiteY6" fmla="*/ 0 h 266816"/>
              <a:gd name="connsiteX7" fmla="*/ 665227 w 665227"/>
              <a:gd name="connsiteY7" fmla="*/ 0 h 266816"/>
              <a:gd name="connsiteX0" fmla="*/ 0 w 665227"/>
              <a:gd name="connsiteY0" fmla="*/ 0 h 266816"/>
              <a:gd name="connsiteX1" fmla="*/ 665227 w 665227"/>
              <a:gd name="connsiteY1" fmla="*/ 1 h 266816"/>
              <a:gd name="connsiteX2" fmla="*/ 652028 w 665227"/>
              <a:gd name="connsiteY2" fmla="*/ 1 h 266816"/>
              <a:gd name="connsiteX3" fmla="*/ 620000 w 665227"/>
              <a:gd name="connsiteY3" fmla="*/ 133408 h 266816"/>
              <a:gd name="connsiteX4" fmla="*/ 652028 w 665227"/>
              <a:gd name="connsiteY4" fmla="*/ 266815 h 266816"/>
              <a:gd name="connsiteX5" fmla="*/ 0 w 665227"/>
              <a:gd name="connsiteY5" fmla="*/ 266816 h 266816"/>
              <a:gd name="connsiteX6" fmla="*/ 0 w 665227"/>
              <a:gd name="connsiteY6" fmla="*/ 0 h 266816"/>
              <a:gd name="connsiteX0" fmla="*/ 0 w 652028"/>
              <a:gd name="connsiteY0" fmla="*/ 0 h 266816"/>
              <a:gd name="connsiteX1" fmla="*/ 652028 w 652028"/>
              <a:gd name="connsiteY1" fmla="*/ 1 h 266816"/>
              <a:gd name="connsiteX2" fmla="*/ 620000 w 652028"/>
              <a:gd name="connsiteY2" fmla="*/ 133408 h 266816"/>
              <a:gd name="connsiteX3" fmla="*/ 652028 w 652028"/>
              <a:gd name="connsiteY3" fmla="*/ 266815 h 266816"/>
              <a:gd name="connsiteX4" fmla="*/ 0 w 652028"/>
              <a:gd name="connsiteY4" fmla="*/ 266816 h 266816"/>
              <a:gd name="connsiteX5" fmla="*/ 0 w 652028"/>
              <a:gd name="connsiteY5" fmla="*/ 0 h 266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2028" h="266816">
                <a:moveTo>
                  <a:pt x="0" y="0"/>
                </a:moveTo>
                <a:lnTo>
                  <a:pt x="652028" y="1"/>
                </a:lnTo>
                <a:lnTo>
                  <a:pt x="620000" y="133408"/>
                </a:lnTo>
                <a:lnTo>
                  <a:pt x="652028" y="266815"/>
                </a:lnTo>
                <a:lnTo>
                  <a:pt x="0" y="266816"/>
                </a:lnTo>
                <a:lnTo>
                  <a:pt x="0" y="0"/>
                </a:lnTo>
                <a:close/>
              </a:path>
            </a:pathLst>
          </a:custGeom>
          <a:solidFill>
            <a:schemeClr val="tx2"/>
          </a:solidFill>
          <a:ln w="12700" cap="rnd" cmpd="sng" algn="ctr">
            <a:noFill/>
            <a:prstDash val="solid"/>
            <a:round/>
            <a:headEnd type="none" w="med" len="med"/>
            <a:tailEnd type="none" w="med" len="med"/>
          </a:ln>
          <a:extLst>
            <a:ext uri="{91240B29-F687-4F45-9708-019B960494DF}">
              <a14:hiddenLine xmlns:a14="http://schemas.microsoft.com/office/drawing/2010/main" w="12700" cap="rnd" cmpd="sng" algn="ctr">
                <a:solidFill>
                  <a:schemeClr val="bg1">
                    <a:lumMod val="50000"/>
                  </a:schemeClr>
                </a:solidFill>
                <a:prstDash val="solid"/>
                <a:round/>
                <a:headEnd type="none" w="med" len="med"/>
                <a:tailEnd type="none" w="med" len="med"/>
              </a14:hiddenLine>
            </a:ext>
          </a:extLst>
        </p:spPr>
        <p:txBody>
          <a:bodyPr wrap="square" lIns="0" tIns="0" rIns="36576" bIns="0" rtlCol="0" anchor="ctr" anchorCtr="0">
            <a:noAutofit/>
          </a:bodyPr>
          <a:lstStyle/>
          <a:p>
            <a:pPr algn="ctr" eaLnBrk="0" hangingPunct="0"/>
            <a:r>
              <a:rPr lang="en-US" sz="1000" b="1">
                <a:solidFill>
                  <a:schemeClr val="bg1"/>
                </a:solidFill>
              </a:rPr>
              <a:t>Enablers</a:t>
            </a:r>
          </a:p>
        </p:txBody>
      </p:sp>
      <p:sp>
        <p:nvSpPr>
          <p:cNvPr id="137" name="Rectangle: Rounded Corners 136">
            <a:extLst>
              <a:ext uri="{FF2B5EF4-FFF2-40B4-BE49-F238E27FC236}">
                <a16:creationId xmlns:a16="http://schemas.microsoft.com/office/drawing/2014/main" id="{A74E768F-75A8-4467-95AD-EB23711860A5}"/>
              </a:ext>
            </a:extLst>
          </p:cNvPr>
          <p:cNvSpPr/>
          <p:nvPr>
            <p:custDataLst>
              <p:tags r:id="rId19"/>
            </p:custDataLst>
          </p:nvPr>
        </p:nvSpPr>
        <p:spPr>
          <a:xfrm>
            <a:off x="10129879" y="4450629"/>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Real-time offer, comms enhancement based on feedback loop</a:t>
            </a:r>
          </a:p>
        </p:txBody>
      </p:sp>
      <p:sp>
        <p:nvSpPr>
          <p:cNvPr id="138" name="Rectangle: Rounded Corners 137">
            <a:extLst>
              <a:ext uri="{FF2B5EF4-FFF2-40B4-BE49-F238E27FC236}">
                <a16:creationId xmlns:a16="http://schemas.microsoft.com/office/drawing/2014/main" id="{BAEDE096-4A64-485C-BBE4-9A66B4F72C0D}"/>
              </a:ext>
            </a:extLst>
          </p:cNvPr>
          <p:cNvSpPr/>
          <p:nvPr>
            <p:custDataLst>
              <p:tags r:id="rId20"/>
            </p:custDataLst>
          </p:nvPr>
        </p:nvSpPr>
        <p:spPr>
          <a:xfrm>
            <a:off x="2504387" y="4450629"/>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Various uplift models in production for real time lead generation</a:t>
            </a:r>
          </a:p>
        </p:txBody>
      </p:sp>
      <p:sp>
        <p:nvSpPr>
          <p:cNvPr id="139" name="Rectangle: Rounded Corners 138">
            <a:extLst>
              <a:ext uri="{FF2B5EF4-FFF2-40B4-BE49-F238E27FC236}">
                <a16:creationId xmlns:a16="http://schemas.microsoft.com/office/drawing/2014/main" id="{83761A6F-F90C-4F18-A7E1-69AD9EE84EA3}"/>
              </a:ext>
            </a:extLst>
          </p:cNvPr>
          <p:cNvSpPr/>
          <p:nvPr>
            <p:custDataLst>
              <p:tags r:id="rId21"/>
            </p:custDataLst>
          </p:nvPr>
        </p:nvSpPr>
        <p:spPr>
          <a:xfrm>
            <a:off x="8604779" y="4450629"/>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Dashboard w. forward-looking elements</a:t>
            </a:r>
          </a:p>
        </p:txBody>
      </p:sp>
      <p:sp>
        <p:nvSpPr>
          <p:cNvPr id="140" name="Rectangle: Rounded Corners 139">
            <a:extLst>
              <a:ext uri="{FF2B5EF4-FFF2-40B4-BE49-F238E27FC236}">
                <a16:creationId xmlns:a16="http://schemas.microsoft.com/office/drawing/2014/main" id="{B4CF0A75-8A71-4556-AB9E-74CE98D800B3}"/>
              </a:ext>
            </a:extLst>
          </p:cNvPr>
          <p:cNvSpPr/>
          <p:nvPr>
            <p:custDataLst>
              <p:tags r:id="rId22"/>
            </p:custDataLst>
          </p:nvPr>
        </p:nvSpPr>
        <p:spPr>
          <a:xfrm>
            <a:off x="979289" y="4450629"/>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Dynamic and seamless creation of new features</a:t>
            </a:r>
          </a:p>
        </p:txBody>
      </p:sp>
      <p:sp>
        <p:nvSpPr>
          <p:cNvPr id="141" name="Rectangle: Rounded Corners 140">
            <a:extLst>
              <a:ext uri="{FF2B5EF4-FFF2-40B4-BE49-F238E27FC236}">
                <a16:creationId xmlns:a16="http://schemas.microsoft.com/office/drawing/2014/main" id="{38F13C90-7D71-4E9D-B44F-15C567B432D9}"/>
              </a:ext>
            </a:extLst>
          </p:cNvPr>
          <p:cNvSpPr/>
          <p:nvPr>
            <p:custDataLst>
              <p:tags r:id="rId23"/>
            </p:custDataLst>
          </p:nvPr>
        </p:nvSpPr>
        <p:spPr>
          <a:xfrm>
            <a:off x="10129879" y="3533631"/>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Feedback loop from digital and human channels</a:t>
            </a:r>
          </a:p>
        </p:txBody>
      </p:sp>
      <p:sp>
        <p:nvSpPr>
          <p:cNvPr id="142" name="Rectangle: Rounded Corners 141">
            <a:extLst>
              <a:ext uri="{FF2B5EF4-FFF2-40B4-BE49-F238E27FC236}">
                <a16:creationId xmlns:a16="http://schemas.microsoft.com/office/drawing/2014/main" id="{DA1647E8-CC5E-4B7E-9BDF-96933978EF1F}"/>
              </a:ext>
            </a:extLst>
          </p:cNvPr>
          <p:cNvSpPr/>
          <p:nvPr>
            <p:custDataLst>
              <p:tags r:id="rId24"/>
            </p:custDataLst>
          </p:nvPr>
        </p:nvSpPr>
        <p:spPr>
          <a:xfrm>
            <a:off x="2504387" y="3533631"/>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Sophisticated ML models with closed feedback loop industrialized</a:t>
            </a:r>
          </a:p>
        </p:txBody>
      </p:sp>
      <p:sp>
        <p:nvSpPr>
          <p:cNvPr id="143" name="Rectangle: Rounded Corners 142">
            <a:extLst>
              <a:ext uri="{FF2B5EF4-FFF2-40B4-BE49-F238E27FC236}">
                <a16:creationId xmlns:a16="http://schemas.microsoft.com/office/drawing/2014/main" id="{1B3A4707-E569-4E54-A815-D8A4837DAC23}"/>
              </a:ext>
            </a:extLst>
          </p:cNvPr>
          <p:cNvSpPr/>
          <p:nvPr>
            <p:custDataLst>
              <p:tags r:id="rId25"/>
            </p:custDataLst>
          </p:nvPr>
        </p:nvSpPr>
        <p:spPr>
          <a:xfrm>
            <a:off x="8604779" y="3533631"/>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Basic feedback loop–e.g., short questionnaire</a:t>
            </a:r>
          </a:p>
        </p:txBody>
      </p:sp>
      <p:sp>
        <p:nvSpPr>
          <p:cNvPr id="144" name="Rectangle: Rounded Corners 143">
            <a:extLst>
              <a:ext uri="{FF2B5EF4-FFF2-40B4-BE49-F238E27FC236}">
                <a16:creationId xmlns:a16="http://schemas.microsoft.com/office/drawing/2014/main" id="{55843962-9880-4426-9F80-4DFC9CCAD1FC}"/>
              </a:ext>
            </a:extLst>
          </p:cNvPr>
          <p:cNvSpPr/>
          <p:nvPr>
            <p:custDataLst>
              <p:tags r:id="rId26"/>
            </p:custDataLst>
          </p:nvPr>
        </p:nvSpPr>
        <p:spPr>
          <a:xfrm>
            <a:off x="7079681" y="3533631"/>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Ad displayed in app/website customized for each customer</a:t>
            </a:r>
          </a:p>
        </p:txBody>
      </p:sp>
      <p:sp>
        <p:nvSpPr>
          <p:cNvPr id="145" name="Rectangle: Rounded Corners 144">
            <a:extLst>
              <a:ext uri="{FF2B5EF4-FFF2-40B4-BE49-F238E27FC236}">
                <a16:creationId xmlns:a16="http://schemas.microsoft.com/office/drawing/2014/main" id="{02730B9F-8F28-4C07-9372-28221CBB88DB}"/>
              </a:ext>
            </a:extLst>
          </p:cNvPr>
          <p:cNvSpPr/>
          <p:nvPr>
            <p:custDataLst>
              <p:tags r:id="rId27"/>
            </p:custDataLst>
          </p:nvPr>
        </p:nvSpPr>
        <p:spPr>
          <a:xfrm>
            <a:off x="4029485" y="3533631"/>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Selection of channels by customer based on inferred preference</a:t>
            </a:r>
          </a:p>
        </p:txBody>
      </p:sp>
      <p:sp>
        <p:nvSpPr>
          <p:cNvPr id="146" name="Rectangle: Rounded Corners 145">
            <a:extLst>
              <a:ext uri="{FF2B5EF4-FFF2-40B4-BE49-F238E27FC236}">
                <a16:creationId xmlns:a16="http://schemas.microsoft.com/office/drawing/2014/main" id="{6E61F74D-F711-40E5-A4F3-7DC8DCF2CD36}"/>
              </a:ext>
            </a:extLst>
          </p:cNvPr>
          <p:cNvSpPr/>
          <p:nvPr>
            <p:custDataLst>
              <p:tags r:id="rId28"/>
            </p:custDataLst>
          </p:nvPr>
        </p:nvSpPr>
        <p:spPr>
          <a:xfrm>
            <a:off x="5554583" y="3533631"/>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Dynamic content creation (comms, art, etc.) and 1:1 delivery</a:t>
            </a:r>
          </a:p>
        </p:txBody>
      </p:sp>
      <p:sp>
        <p:nvSpPr>
          <p:cNvPr id="147" name="Rectangle: Rounded Corners 146">
            <a:extLst>
              <a:ext uri="{FF2B5EF4-FFF2-40B4-BE49-F238E27FC236}">
                <a16:creationId xmlns:a16="http://schemas.microsoft.com/office/drawing/2014/main" id="{3A70A390-3BC7-4741-9FD9-25F7372B2678}"/>
              </a:ext>
            </a:extLst>
          </p:cNvPr>
          <p:cNvSpPr/>
          <p:nvPr>
            <p:custDataLst>
              <p:tags r:id="rId29"/>
            </p:custDataLst>
          </p:nvPr>
        </p:nvSpPr>
        <p:spPr>
          <a:xfrm>
            <a:off x="979289" y="3533631"/>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External data included</a:t>
            </a:r>
            <a:br>
              <a:rPr lang="en-US" sz="800">
                <a:solidFill>
                  <a:srgbClr val="575757"/>
                </a:solidFill>
              </a:rPr>
            </a:br>
            <a:r>
              <a:rPr lang="en-US" sz="800">
                <a:solidFill>
                  <a:srgbClr val="575757"/>
                </a:solidFill>
              </a:rPr>
              <a:t>(e.g., credit bureau)</a:t>
            </a:r>
          </a:p>
        </p:txBody>
      </p:sp>
      <p:sp>
        <p:nvSpPr>
          <p:cNvPr id="148" name="Rectangle: Rounded Corners 147">
            <a:extLst>
              <a:ext uri="{FF2B5EF4-FFF2-40B4-BE49-F238E27FC236}">
                <a16:creationId xmlns:a16="http://schemas.microsoft.com/office/drawing/2014/main" id="{3E494F33-A1D2-4021-869D-2C5AD5025ED7}"/>
              </a:ext>
            </a:extLst>
          </p:cNvPr>
          <p:cNvSpPr/>
          <p:nvPr>
            <p:custDataLst>
              <p:tags r:id="rId30"/>
            </p:custDataLst>
          </p:nvPr>
        </p:nvSpPr>
        <p:spPr>
          <a:xfrm>
            <a:off x="8604779" y="4909128"/>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Advanced NLP-based feedback loop</a:t>
            </a:r>
          </a:p>
        </p:txBody>
      </p:sp>
      <p:sp>
        <p:nvSpPr>
          <p:cNvPr id="149" name="Rectangle: Rounded Corners 148">
            <a:extLst>
              <a:ext uri="{FF2B5EF4-FFF2-40B4-BE49-F238E27FC236}">
                <a16:creationId xmlns:a16="http://schemas.microsoft.com/office/drawing/2014/main" id="{5D2C9A64-7B20-41C6-AEF0-740DA537E44E}"/>
              </a:ext>
            </a:extLst>
          </p:cNvPr>
          <p:cNvSpPr/>
          <p:nvPr>
            <p:custDataLst>
              <p:tags r:id="rId31"/>
            </p:custDataLst>
          </p:nvPr>
        </p:nvSpPr>
        <p:spPr>
          <a:xfrm>
            <a:off x="2504387" y="4909128"/>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Intelligent propensity, personalization, value-optimizer (NBA) models</a:t>
            </a:r>
          </a:p>
        </p:txBody>
      </p:sp>
      <p:sp>
        <p:nvSpPr>
          <p:cNvPr id="150" name="Rectangle: Rounded Corners 149">
            <a:extLst>
              <a:ext uri="{FF2B5EF4-FFF2-40B4-BE49-F238E27FC236}">
                <a16:creationId xmlns:a16="http://schemas.microsoft.com/office/drawing/2014/main" id="{30F811A9-18EF-46F0-891F-19724CC84200}"/>
              </a:ext>
            </a:extLst>
          </p:cNvPr>
          <p:cNvSpPr/>
          <p:nvPr>
            <p:custDataLst>
              <p:tags r:id="rId32"/>
            </p:custDataLst>
          </p:nvPr>
        </p:nvSpPr>
        <p:spPr>
          <a:xfrm>
            <a:off x="2504387" y="5367627"/>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Real-time offer generation part of personalization model</a:t>
            </a:r>
          </a:p>
        </p:txBody>
      </p:sp>
      <p:sp>
        <p:nvSpPr>
          <p:cNvPr id="151" name="Rectangle: Rounded Corners 150">
            <a:extLst>
              <a:ext uri="{FF2B5EF4-FFF2-40B4-BE49-F238E27FC236}">
                <a16:creationId xmlns:a16="http://schemas.microsoft.com/office/drawing/2014/main" id="{05EBF325-FB90-4EEC-9CDA-19616B92A6D8}"/>
              </a:ext>
            </a:extLst>
          </p:cNvPr>
          <p:cNvSpPr/>
          <p:nvPr>
            <p:custDataLst>
              <p:tags r:id="rId33"/>
            </p:custDataLst>
          </p:nvPr>
        </p:nvSpPr>
        <p:spPr>
          <a:xfrm>
            <a:off x="10129879" y="3992130"/>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Real time monitoring of campaign performance</a:t>
            </a:r>
          </a:p>
        </p:txBody>
      </p:sp>
      <p:sp>
        <p:nvSpPr>
          <p:cNvPr id="152" name="Rectangle: Rounded Corners 151">
            <a:extLst>
              <a:ext uri="{FF2B5EF4-FFF2-40B4-BE49-F238E27FC236}">
                <a16:creationId xmlns:a16="http://schemas.microsoft.com/office/drawing/2014/main" id="{18AF4DAB-3FB1-4BF4-A0AC-5B26FC144D21}"/>
              </a:ext>
            </a:extLst>
          </p:cNvPr>
          <p:cNvSpPr/>
          <p:nvPr>
            <p:custDataLst>
              <p:tags r:id="rId34"/>
            </p:custDataLst>
          </p:nvPr>
        </p:nvSpPr>
        <p:spPr>
          <a:xfrm>
            <a:off x="979289" y="3992130"/>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Real-time data capability</a:t>
            </a:r>
          </a:p>
        </p:txBody>
      </p:sp>
      <p:sp>
        <p:nvSpPr>
          <p:cNvPr id="153" name="Rectangle: Rounded Corners 152">
            <a:extLst>
              <a:ext uri="{FF2B5EF4-FFF2-40B4-BE49-F238E27FC236}">
                <a16:creationId xmlns:a16="http://schemas.microsoft.com/office/drawing/2014/main" id="{CCB4FD2F-85B1-490A-A81C-480D3EBC14A4}"/>
              </a:ext>
            </a:extLst>
          </p:cNvPr>
          <p:cNvSpPr/>
          <p:nvPr>
            <p:custDataLst>
              <p:tags r:id="rId35"/>
            </p:custDataLst>
          </p:nvPr>
        </p:nvSpPr>
        <p:spPr>
          <a:xfrm>
            <a:off x="5554583" y="3992130"/>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Optimal mix of care, usage, sales initiatives depending on life-stage</a:t>
            </a:r>
          </a:p>
        </p:txBody>
      </p:sp>
      <p:sp>
        <p:nvSpPr>
          <p:cNvPr id="154" name="Rectangle: Rounded Corners 153">
            <a:extLst>
              <a:ext uri="{FF2B5EF4-FFF2-40B4-BE49-F238E27FC236}">
                <a16:creationId xmlns:a16="http://schemas.microsoft.com/office/drawing/2014/main" id="{762B50BD-6564-4D6A-B319-459BEDD3E2D8}"/>
              </a:ext>
            </a:extLst>
          </p:cNvPr>
          <p:cNvSpPr/>
          <p:nvPr>
            <p:custDataLst>
              <p:tags r:id="rId36"/>
            </p:custDataLst>
          </p:nvPr>
        </p:nvSpPr>
        <p:spPr>
          <a:xfrm>
            <a:off x="4029485" y="3992130"/>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3152" tIns="45720" rIns="73152" bIns="45720" numCol="1" spcCol="0" rtlCol="0" fromWordArt="0" anchor="ctr" anchorCtr="0" forceAA="0" compatLnSpc="1">
            <a:prstTxWarp prst="textNoShape">
              <a:avLst/>
            </a:prstTxWarp>
            <a:noAutofit/>
          </a:bodyPr>
          <a:lstStyle/>
          <a:p>
            <a:pPr algn="ctr"/>
            <a:r>
              <a:rPr lang="en-US" sz="800">
                <a:solidFill>
                  <a:srgbClr val="575757"/>
                </a:solidFill>
              </a:rPr>
              <a:t>Consistent messaging, trigger-based comms coordinated w. regular</a:t>
            </a:r>
          </a:p>
        </p:txBody>
      </p:sp>
      <p:sp>
        <p:nvSpPr>
          <p:cNvPr id="155" name="Rectangle: Rounded Corners 154">
            <a:extLst>
              <a:ext uri="{FF2B5EF4-FFF2-40B4-BE49-F238E27FC236}">
                <a16:creationId xmlns:a16="http://schemas.microsoft.com/office/drawing/2014/main" id="{7EFCCE34-25E3-4275-B4BE-5BF43E11E680}"/>
              </a:ext>
            </a:extLst>
          </p:cNvPr>
          <p:cNvSpPr/>
          <p:nvPr>
            <p:custDataLst>
              <p:tags r:id="rId37"/>
            </p:custDataLst>
          </p:nvPr>
        </p:nvSpPr>
        <p:spPr>
          <a:xfrm>
            <a:off x="7079681" y="3992130"/>
            <a:ext cx="1427804" cy="409613"/>
          </a:xfrm>
          <a:prstGeom prst="roundRect">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Tracking clickstream data/engagement as part of feedback loop</a:t>
            </a:r>
          </a:p>
        </p:txBody>
      </p:sp>
      <p:sp>
        <p:nvSpPr>
          <p:cNvPr id="156" name="Rectangle: Rounded Corners 155">
            <a:extLst>
              <a:ext uri="{FF2B5EF4-FFF2-40B4-BE49-F238E27FC236}">
                <a16:creationId xmlns:a16="http://schemas.microsoft.com/office/drawing/2014/main" id="{2959C258-E317-448B-9048-EAE3AA748CF3}"/>
              </a:ext>
            </a:extLst>
          </p:cNvPr>
          <p:cNvSpPr/>
          <p:nvPr>
            <p:custDataLst>
              <p:tags r:id="rId38"/>
            </p:custDataLst>
          </p:nvPr>
        </p:nvSpPr>
        <p:spPr>
          <a:xfrm>
            <a:off x="2504387" y="3992130"/>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Transition from organic propensity models to response models</a:t>
            </a:r>
          </a:p>
        </p:txBody>
      </p:sp>
      <p:sp>
        <p:nvSpPr>
          <p:cNvPr id="157" name="Rectangle: Rounded Corners 156">
            <a:extLst>
              <a:ext uri="{FF2B5EF4-FFF2-40B4-BE49-F238E27FC236}">
                <a16:creationId xmlns:a16="http://schemas.microsoft.com/office/drawing/2014/main" id="{DC03A24D-BEFC-44D5-9EF3-27417F05AF34}"/>
              </a:ext>
            </a:extLst>
          </p:cNvPr>
          <p:cNvSpPr/>
          <p:nvPr>
            <p:custDataLst>
              <p:tags r:id="rId39"/>
            </p:custDataLst>
          </p:nvPr>
        </p:nvSpPr>
        <p:spPr>
          <a:xfrm>
            <a:off x="8604779" y="3992130"/>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Single easy-to-use dashboard with C360 view of relevant customer info</a:t>
            </a:r>
          </a:p>
        </p:txBody>
      </p:sp>
      <p:sp>
        <p:nvSpPr>
          <p:cNvPr id="158" name="Rectangle: Rounded Corners 157">
            <a:extLst>
              <a:ext uri="{FF2B5EF4-FFF2-40B4-BE49-F238E27FC236}">
                <a16:creationId xmlns:a16="http://schemas.microsoft.com/office/drawing/2014/main" id="{138DBC40-8E6C-4F09-9F30-8ED8D7BACFF8}"/>
              </a:ext>
            </a:extLst>
          </p:cNvPr>
          <p:cNvSpPr/>
          <p:nvPr>
            <p:custDataLst>
              <p:tags r:id="rId40"/>
            </p:custDataLst>
          </p:nvPr>
        </p:nvSpPr>
        <p:spPr>
          <a:xfrm>
            <a:off x="10129879" y="3075132"/>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Experimentation setup with clear hypotheses and </a:t>
            </a:r>
            <a:r>
              <a:rPr lang="en-US" sz="800" err="1">
                <a:solidFill>
                  <a:srgbClr val="575757"/>
                </a:solidFill>
              </a:rPr>
              <a:t>KPIs</a:t>
            </a:r>
            <a:r>
              <a:rPr lang="en-US" sz="800">
                <a:solidFill>
                  <a:srgbClr val="575757"/>
                </a:solidFill>
              </a:rPr>
              <a:t> used</a:t>
            </a:r>
          </a:p>
        </p:txBody>
      </p:sp>
      <p:sp>
        <p:nvSpPr>
          <p:cNvPr id="159" name="Rectangle: Rounded Corners 158">
            <a:extLst>
              <a:ext uri="{FF2B5EF4-FFF2-40B4-BE49-F238E27FC236}">
                <a16:creationId xmlns:a16="http://schemas.microsoft.com/office/drawing/2014/main" id="{DF01EA16-20AA-4BE0-A10F-5342A1FE6AE0}"/>
              </a:ext>
            </a:extLst>
          </p:cNvPr>
          <p:cNvSpPr/>
          <p:nvPr>
            <p:custDataLst>
              <p:tags r:id="rId41"/>
            </p:custDataLst>
          </p:nvPr>
        </p:nvSpPr>
        <p:spPr>
          <a:xfrm>
            <a:off x="979289" y="3075132"/>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Other internal data centralized (e.g., PQ)</a:t>
            </a:r>
          </a:p>
        </p:txBody>
      </p:sp>
      <p:sp>
        <p:nvSpPr>
          <p:cNvPr id="160" name="Rectangle: Rounded Corners 159">
            <a:extLst>
              <a:ext uri="{FF2B5EF4-FFF2-40B4-BE49-F238E27FC236}">
                <a16:creationId xmlns:a16="http://schemas.microsoft.com/office/drawing/2014/main" id="{7CA6F5D1-DD6A-4A63-9341-00B22B194009}"/>
              </a:ext>
            </a:extLst>
          </p:cNvPr>
          <p:cNvSpPr/>
          <p:nvPr>
            <p:custDataLst>
              <p:tags r:id="rId42"/>
            </p:custDataLst>
          </p:nvPr>
        </p:nvSpPr>
        <p:spPr>
          <a:xfrm>
            <a:off x="2504387" y="3075132"/>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Predictive models using contextual features and engagement data</a:t>
            </a:r>
          </a:p>
        </p:txBody>
      </p:sp>
      <p:sp>
        <p:nvSpPr>
          <p:cNvPr id="161" name="Rectangle: Rounded Corners 160">
            <a:extLst>
              <a:ext uri="{FF2B5EF4-FFF2-40B4-BE49-F238E27FC236}">
                <a16:creationId xmlns:a16="http://schemas.microsoft.com/office/drawing/2014/main" id="{9EF1C9B4-958B-4BAB-9EA9-6456E35BF356}"/>
              </a:ext>
            </a:extLst>
          </p:cNvPr>
          <p:cNvSpPr/>
          <p:nvPr>
            <p:custDataLst>
              <p:tags r:id="rId43"/>
            </p:custDataLst>
          </p:nvPr>
        </p:nvSpPr>
        <p:spPr>
          <a:xfrm>
            <a:off x="8604779" y="3075132"/>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Contextual info (the why, how) provided along with leads list</a:t>
            </a:r>
          </a:p>
        </p:txBody>
      </p:sp>
      <p:sp>
        <p:nvSpPr>
          <p:cNvPr id="162" name="Rectangle: Rounded Corners 161">
            <a:extLst>
              <a:ext uri="{FF2B5EF4-FFF2-40B4-BE49-F238E27FC236}">
                <a16:creationId xmlns:a16="http://schemas.microsoft.com/office/drawing/2014/main" id="{87D731E6-6D12-4008-BC53-CE2D90AD5EB3}"/>
              </a:ext>
            </a:extLst>
          </p:cNvPr>
          <p:cNvSpPr/>
          <p:nvPr>
            <p:custDataLst>
              <p:tags r:id="rId44"/>
            </p:custDataLst>
          </p:nvPr>
        </p:nvSpPr>
        <p:spPr>
          <a:xfrm>
            <a:off x="7079681" y="3075132"/>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Advertising/marketing within app/website (e.g., banner, inset)</a:t>
            </a:r>
          </a:p>
        </p:txBody>
      </p:sp>
      <p:sp>
        <p:nvSpPr>
          <p:cNvPr id="163" name="Rectangle: Rounded Corners 162">
            <a:extLst>
              <a:ext uri="{FF2B5EF4-FFF2-40B4-BE49-F238E27FC236}">
                <a16:creationId xmlns:a16="http://schemas.microsoft.com/office/drawing/2014/main" id="{4E3CFA44-4CE3-48A8-B3A8-FC91C0C58059}"/>
              </a:ext>
            </a:extLst>
          </p:cNvPr>
          <p:cNvSpPr/>
          <p:nvPr>
            <p:custDataLst>
              <p:tags r:id="rId45"/>
            </p:custDataLst>
          </p:nvPr>
        </p:nvSpPr>
        <p:spPr>
          <a:xfrm>
            <a:off x="5554583" y="3075132"/>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Contextual info used to personalize comms variants by </a:t>
            </a:r>
            <a:r>
              <a:rPr lang="en-US" sz="800" err="1">
                <a:solidFill>
                  <a:srgbClr val="575757"/>
                </a:solidFill>
              </a:rPr>
              <a:t>microseg</a:t>
            </a:r>
            <a:r>
              <a:rPr lang="en-US" sz="800">
                <a:solidFill>
                  <a:srgbClr val="575757"/>
                </a:solidFill>
              </a:rPr>
              <a:t>.</a:t>
            </a:r>
          </a:p>
        </p:txBody>
      </p:sp>
      <p:sp>
        <p:nvSpPr>
          <p:cNvPr id="164" name="Rectangle: Rounded Corners 163">
            <a:extLst>
              <a:ext uri="{FF2B5EF4-FFF2-40B4-BE49-F238E27FC236}">
                <a16:creationId xmlns:a16="http://schemas.microsoft.com/office/drawing/2014/main" id="{886BF48C-21CE-4576-BE84-6617DC9490F8}"/>
              </a:ext>
            </a:extLst>
          </p:cNvPr>
          <p:cNvSpPr/>
          <p:nvPr>
            <p:custDataLst>
              <p:tags r:id="rId46"/>
            </p:custDataLst>
          </p:nvPr>
        </p:nvSpPr>
        <p:spPr>
          <a:xfrm>
            <a:off x="4029485" y="3075132"/>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800">
                <a:solidFill>
                  <a:srgbClr val="575757"/>
                </a:solidFill>
              </a:rPr>
              <a:t>Central orchestration unit to coordinate all bank communications</a:t>
            </a:r>
          </a:p>
        </p:txBody>
      </p:sp>
      <p:sp>
        <p:nvSpPr>
          <p:cNvPr id="82" name="Rectangle: Rounded Corners 81">
            <a:extLst>
              <a:ext uri="{FF2B5EF4-FFF2-40B4-BE49-F238E27FC236}">
                <a16:creationId xmlns:a16="http://schemas.microsoft.com/office/drawing/2014/main" id="{BA7EFB83-47B8-4C14-B9A3-BC5160D57A1B}"/>
              </a:ext>
            </a:extLst>
          </p:cNvPr>
          <p:cNvSpPr/>
          <p:nvPr>
            <p:custDataLst>
              <p:tags r:id="rId47"/>
            </p:custDataLst>
          </p:nvPr>
        </p:nvSpPr>
        <p:spPr>
          <a:xfrm>
            <a:off x="4029485" y="4450628"/>
            <a:ext cx="1427804" cy="409613"/>
          </a:xfrm>
          <a:prstGeom prst="roundRect">
            <a:avLst>
              <a:gd name="adj" fmla="val 15626"/>
            </a:avLst>
          </a:prstGeom>
          <a:solidFill>
            <a:srgbClr val="F2F2F2"/>
          </a:solidFill>
          <a:ln w="317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3152" tIns="45720" rIns="73152" bIns="45720" numCol="1" spcCol="0" rtlCol="0" fromWordArt="0" anchor="ctr" anchorCtr="0" forceAA="0" compatLnSpc="1">
            <a:prstTxWarp prst="textNoShape">
              <a:avLst/>
            </a:prstTxWarp>
            <a:noAutofit/>
          </a:bodyPr>
          <a:lstStyle/>
          <a:p>
            <a:pPr algn="ctr"/>
            <a:r>
              <a:rPr lang="en-US" sz="800">
                <a:solidFill>
                  <a:srgbClr val="575757"/>
                </a:solidFill>
              </a:rPr>
              <a:t>One convo across digital, human channels via real-time feedback loop</a:t>
            </a:r>
          </a:p>
        </p:txBody>
      </p:sp>
      <p:sp>
        <p:nvSpPr>
          <p:cNvPr id="64" name="NavigationTriangle">
            <a:extLst>
              <a:ext uri="{FF2B5EF4-FFF2-40B4-BE49-F238E27FC236}">
                <a16:creationId xmlns:a16="http://schemas.microsoft.com/office/drawing/2014/main" id="{E9B61980-8296-4336-ACBE-70A9A22D2065}"/>
              </a:ext>
            </a:extLst>
          </p:cNvPr>
          <p:cNvSpPr/>
          <p:nvPr/>
        </p:nvSpPr>
        <p:spPr>
          <a:xfrm rot="16200000">
            <a:off x="11116165" y="-21446"/>
            <a:ext cx="1054387" cy="1097280"/>
          </a:xfrm>
          <a:prstGeom prst="triangle">
            <a:avLst>
              <a:gd name="adj" fmla="val 100000"/>
            </a:avLst>
          </a:prstGeom>
          <a:solidFill>
            <a:schemeClr val="tx2"/>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9B1C23"/>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Nova"/>
              <a:ea typeface="+mn-ea"/>
              <a:cs typeface="+mn-cs"/>
            </a:endParaRPr>
          </a:p>
        </p:txBody>
      </p:sp>
      <p:sp>
        <p:nvSpPr>
          <p:cNvPr id="65" name="NavigationIcon">
            <a:extLst>
              <a:ext uri="{FF2B5EF4-FFF2-40B4-BE49-F238E27FC236}">
                <a16:creationId xmlns:a16="http://schemas.microsoft.com/office/drawing/2014/main" id="{A4AC3775-4011-4462-8171-FE27E3EE2CB1}"/>
              </a:ext>
            </a:extLst>
          </p:cNvPr>
          <p:cNvSpPr>
            <a:spLocks noChangeAspect="1" noChangeArrowheads="1"/>
          </p:cNvSpPr>
          <p:nvPr>
            <p:custDataLst>
              <p:tags r:id="rId48"/>
            </p:custDataLst>
          </p:nvPr>
        </p:nvSpPr>
        <p:spPr bwMode="auto">
          <a:xfrm>
            <a:off x="11690544" y="132877"/>
            <a:ext cx="365760" cy="365760"/>
          </a:xfrm>
          <a:prstGeom prst="ellipse">
            <a:avLst/>
          </a:prstGeom>
          <a:solidFill>
            <a:schemeClr val="bg1"/>
          </a:solidFill>
          <a:ln>
            <a:noFill/>
          </a:ln>
        </p:spPr>
        <p:txBody>
          <a:bodyPr vert="horz" wrap="square" lIns="0" tIns="0" rIns="0" bIns="0" numCol="1" anchor="ctr"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9BA74">
                    <a:lumMod val="100000"/>
                  </a:srgbClr>
                </a:solidFill>
                <a:effectLst/>
                <a:uLnTx/>
                <a:uFillTx/>
                <a:latin typeface="Trebuchet MS" panose="020B0603020202020204" pitchFamily="34" charset="0"/>
                <a:ea typeface="+mn-ea"/>
                <a:cs typeface="+mn-cs"/>
              </a:rPr>
              <a:t>1</a:t>
            </a:r>
          </a:p>
        </p:txBody>
      </p:sp>
      <p:sp>
        <p:nvSpPr>
          <p:cNvPr id="66" name="Rectangle 65">
            <a:extLst>
              <a:ext uri="{FF2B5EF4-FFF2-40B4-BE49-F238E27FC236}">
                <a16:creationId xmlns:a16="http://schemas.microsoft.com/office/drawing/2014/main" id="{DB281782-07AA-4DAC-85B7-7DD0BFD03365}"/>
              </a:ext>
            </a:extLst>
          </p:cNvPr>
          <p:cNvSpPr>
            <a:spLocks/>
          </p:cNvSpPr>
          <p:nvPr/>
        </p:nvSpPr>
        <p:spPr>
          <a:xfrm>
            <a:off x="6638926" y="0"/>
            <a:ext cx="4425468" cy="191701"/>
          </a:xfrm>
          <a:prstGeom prst="rect">
            <a:avLst/>
          </a:prstGeom>
          <a:noFill/>
          <a:ln w="6943" cap="rnd" cmpd="sng" algn="ctr">
            <a:noFill/>
            <a:prstDash val="solid"/>
            <a:round/>
            <a:headEnd type="none" w="med" len="med"/>
            <a:tailEnd type="none" w="med" len="med"/>
          </a:ln>
          <a:effectLst/>
          <a:extLst>
            <a:ext uri="{909E8E84-426E-40DD-AFC4-6F175D3DCCD1}">
              <a14:hiddenFill xmlns:a14="http://schemas.microsoft.com/office/drawing/2010/main">
                <a:solidFill>
                  <a:srgbClr val="9B1C23"/>
                </a:solidFill>
              </a14:hiddenFill>
            </a:ext>
            <a:ext uri="{91240B29-F687-4F45-9708-019B960494DF}">
              <a14:hiddenLine xmlns:a14="http://schemas.microsoft.com/office/drawing/2010/main" w="6943" cap="rnd" cmpd="sng" algn="ctr">
                <a:solidFill>
                  <a:srgbClr val="9B1C23"/>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7F7F7F"/>
                </a:solidFill>
                <a:effectLst/>
                <a:uLnTx/>
                <a:uFillTx/>
                <a:latin typeface="Trebuchet MS" panose="020B0603020202020204" pitchFamily="34" charset="0"/>
                <a:ea typeface="+mn-ea"/>
                <a:cs typeface="+mn-cs"/>
              </a:rPr>
              <a:t>Diagnostic: Capability assessment</a:t>
            </a:r>
          </a:p>
        </p:txBody>
      </p:sp>
      <p:sp>
        <p:nvSpPr>
          <p:cNvPr id="68" name="ee4pFootnotes">
            <a:extLst>
              <a:ext uri="{FF2B5EF4-FFF2-40B4-BE49-F238E27FC236}">
                <a16:creationId xmlns:a16="http://schemas.microsoft.com/office/drawing/2014/main" id="{8F5AF7AB-D060-43E9-B043-5BB2720F9092}"/>
              </a:ext>
            </a:extLst>
          </p:cNvPr>
          <p:cNvSpPr>
            <a:spLocks noChangeArrowheads="1"/>
          </p:cNvSpPr>
          <p:nvPr/>
        </p:nvSpPr>
        <p:spPr bwMode="auto">
          <a:xfrm>
            <a:off x="628650" y="984007"/>
            <a:ext cx="10309426" cy="166199"/>
          </a:xfrm>
          <a:prstGeom prst="rect">
            <a:avLst/>
          </a:prstGeom>
          <a:noFill/>
          <a:ln w="9525" algn="ctr">
            <a:noFill/>
            <a:miter lim="800000"/>
            <a:headEnd type="none" w="lg" len="lg"/>
            <a:tailEnd type="none" w="lg" len="lg"/>
          </a:ln>
        </p:spPr>
        <p:txBody>
          <a:bodyPr vert="horz" wrap="square" lIns="0" tIns="0" rIns="0" bIns="0" anchor="b" anchorCtr="0">
            <a:spAutoFit/>
          </a:bodyPr>
          <a:lstStyle/>
          <a:p>
            <a:pPr>
              <a:lnSpc>
                <a:spcPct val="90000"/>
              </a:lnSpc>
            </a:pPr>
            <a:r>
              <a:rPr lang="en-US" sz="1200" i="1">
                <a:solidFill>
                  <a:srgbClr val="E71C57"/>
                </a:solidFill>
                <a:latin typeface="Trebuchet MS" panose="020B0603020202020204" pitchFamily="34" charset="0"/>
                <a:cs typeface="Arial" pitchFamily="34" charset="0"/>
              </a:rPr>
              <a:t>Based on diagnostic we prioritized and highlighted the ones they already had, ones that needed enhancement and priority ones to build</a:t>
            </a:r>
          </a:p>
        </p:txBody>
      </p:sp>
      <p:sp>
        <p:nvSpPr>
          <p:cNvPr id="3" name="Textfeld 1">
            <a:extLst>
              <a:ext uri="{FF2B5EF4-FFF2-40B4-BE49-F238E27FC236}">
                <a16:creationId xmlns:a16="http://schemas.microsoft.com/office/drawing/2014/main" id="{44D97564-BDCB-9390-5DE3-21E6CC1CE17D}"/>
              </a:ext>
            </a:extLst>
          </p:cNvPr>
          <p:cNvSpPr txBox="1"/>
          <p:nvPr>
            <p:custDataLst>
              <p:tags r:id="rId49"/>
            </p:custDataLst>
          </p:nvPr>
        </p:nvSpPr>
        <p:spPr>
          <a:xfrm>
            <a:off x="0" y="21505"/>
            <a:ext cx="2743200" cy="483209"/>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en-US" sz="1200" b="1">
                <a:solidFill>
                  <a:srgbClr val="575757"/>
                </a:solidFill>
                <a:sym typeface="Trebuchet MS" panose="020B0603020202020204" pitchFamily="34" charset="0"/>
              </a:rPr>
              <a:t>CA 12.Jun.24:
reference for capabilities needed</a:t>
            </a:r>
          </a:p>
        </p:txBody>
      </p:sp>
    </p:spTree>
    <p:extLst>
      <p:ext uri="{BB962C8B-B14F-4D97-AF65-F5344CB8AC3E}">
        <p14:creationId xmlns:p14="http://schemas.microsoft.com/office/powerpoint/2010/main" val="113004774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BA5E576F-0015-42E3-B18E-25D0994838ED}"/>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5" imgW="425" imgH="426" progId="TCLayout.ActiveDocument.1">
                  <p:embed/>
                </p:oleObj>
              </mc:Choice>
              <mc:Fallback>
                <p:oleObj name="think-cell Slide" r:id="rId35" imgW="425" imgH="426" progId="TCLayout.ActiveDocument.1">
                  <p:embed/>
                  <p:pic>
                    <p:nvPicPr>
                      <p:cNvPr id="4" name="Object 3" hidden="1">
                        <a:extLst>
                          <a:ext uri="{FF2B5EF4-FFF2-40B4-BE49-F238E27FC236}">
                            <a16:creationId xmlns:a16="http://schemas.microsoft.com/office/drawing/2014/main" id="{BA5E576F-0015-42E3-B18E-25D0994838ED}"/>
                          </a:ext>
                        </a:extLst>
                      </p:cNvPr>
                      <p:cNvPicPr/>
                      <p:nvPr/>
                    </p:nvPicPr>
                    <p:blipFill>
                      <a:blip r:embed="rId36"/>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4D27EE2C-9CA2-4DAF-883C-B787BD77458F}"/>
              </a:ext>
            </a:extLst>
          </p:cNvPr>
          <p:cNvSpPr>
            <a:spLocks noGrp="1"/>
          </p:cNvSpPr>
          <p:nvPr>
            <p:ph type="title"/>
          </p:nvPr>
        </p:nvSpPr>
        <p:spPr>
          <a:xfrm>
            <a:off x="630000" y="622800"/>
            <a:ext cx="10933350" cy="664797"/>
          </a:xfrm>
        </p:spPr>
        <p:txBody>
          <a:bodyPr vert="horz">
            <a:spAutoFit/>
          </a:bodyPr>
          <a:lstStyle/>
          <a:p>
            <a:r>
              <a:rPr lang="en-US"/>
              <a:t>Logical architecture: How best-in-class players enable this “under the hood” the hood”</a:t>
            </a:r>
            <a:endParaRPr lang="en-US" sz="1600"/>
          </a:p>
        </p:txBody>
      </p:sp>
      <p:grpSp>
        <p:nvGrpSpPr>
          <p:cNvPr id="94" name="Group 93">
            <a:extLst>
              <a:ext uri="{FF2B5EF4-FFF2-40B4-BE49-F238E27FC236}">
                <a16:creationId xmlns:a16="http://schemas.microsoft.com/office/drawing/2014/main" id="{FEAC0A35-6FAE-4180-8769-26167112A29C}"/>
              </a:ext>
            </a:extLst>
          </p:cNvPr>
          <p:cNvGrpSpPr/>
          <p:nvPr/>
        </p:nvGrpSpPr>
        <p:grpSpPr>
          <a:xfrm>
            <a:off x="630000" y="1356947"/>
            <a:ext cx="11091701" cy="324266"/>
            <a:chOff x="630000" y="1222678"/>
            <a:chExt cx="11091701" cy="324266"/>
          </a:xfrm>
          <a:gradFill>
            <a:gsLst>
              <a:gs pos="0">
                <a:schemeClr val="tx2"/>
              </a:gs>
              <a:gs pos="100000">
                <a:schemeClr val="accent1"/>
              </a:gs>
            </a:gsLst>
            <a:lin ang="0" scaled="1"/>
          </a:gradFill>
        </p:grpSpPr>
        <p:sp>
          <p:nvSpPr>
            <p:cNvPr id="5" name="ee4pHeader1">
              <a:extLst>
                <a:ext uri="{FF2B5EF4-FFF2-40B4-BE49-F238E27FC236}">
                  <a16:creationId xmlns:a16="http://schemas.microsoft.com/office/drawing/2014/main" id="{C56A5DA0-21C9-40CD-9A09-D8B64C92AD9D}"/>
                </a:ext>
              </a:extLst>
            </p:cNvPr>
            <p:cNvSpPr>
              <a:spLocks noChangeArrowheads="1"/>
            </p:cNvSpPr>
            <p:nvPr>
              <p:custDataLst>
                <p:tags r:id="rId29"/>
              </p:custDataLst>
            </p:nvPr>
          </p:nvSpPr>
          <p:spPr bwMode="gray">
            <a:xfrm>
              <a:off x="630000" y="1222678"/>
              <a:ext cx="3625844" cy="324266"/>
            </a:xfrm>
            <a:prstGeom prst="homePlate">
              <a:avLst>
                <a:gd name="adj" fmla="val 12004"/>
              </a:avLst>
            </a:prstGeom>
            <a:grpFill/>
            <a:ln w="38100" cap="rnd" algn="ctr">
              <a:noFill/>
              <a:round/>
              <a:headEnd/>
              <a:tailEnd/>
            </a:ln>
          </p:spPr>
          <p:txBody>
            <a:bodyPr lIns="0" tIns="0" rIns="0" bIns="0" rtlCol="0" anchor="ctr" anchorCtr="0"/>
            <a:lstStyle/>
            <a:p>
              <a:pPr algn="ctr" rtl="0" eaLnBrk="0" hangingPunct="0"/>
              <a:r>
                <a:rPr lang="en-US" sz="1200">
                  <a:solidFill>
                    <a:srgbClr val="FFFFFF"/>
                  </a:solidFill>
                  <a:latin typeface="+mj-lt"/>
                  <a:sym typeface="+mn-lt"/>
                </a:rPr>
                <a:t>Data layer</a:t>
              </a:r>
              <a:endParaRPr lang="ru" sz="1200">
                <a:solidFill>
                  <a:srgbClr val="FFFFFF"/>
                </a:solidFill>
                <a:latin typeface="+mj-lt"/>
                <a:sym typeface="+mn-lt"/>
              </a:endParaRPr>
            </a:p>
          </p:txBody>
        </p:sp>
        <p:sp>
          <p:nvSpPr>
            <p:cNvPr id="6" name="ee4pHeader2">
              <a:extLst>
                <a:ext uri="{FF2B5EF4-FFF2-40B4-BE49-F238E27FC236}">
                  <a16:creationId xmlns:a16="http://schemas.microsoft.com/office/drawing/2014/main" id="{15032A53-3006-4065-BF2B-AB378E385687}"/>
                </a:ext>
              </a:extLst>
            </p:cNvPr>
            <p:cNvSpPr>
              <a:spLocks noChangeArrowheads="1"/>
            </p:cNvSpPr>
            <p:nvPr>
              <p:custDataLst>
                <p:tags r:id="rId30"/>
              </p:custDataLst>
            </p:nvPr>
          </p:nvSpPr>
          <p:spPr bwMode="gray">
            <a:xfrm>
              <a:off x="4276818" y="1222678"/>
              <a:ext cx="2903132" cy="324266"/>
            </a:xfrm>
            <a:prstGeom prst="chevron">
              <a:avLst>
                <a:gd name="adj" fmla="val 12004"/>
              </a:avLst>
            </a:prstGeom>
            <a:grpFill/>
            <a:ln w="38100" cap="rnd" algn="ctr">
              <a:noFill/>
              <a:round/>
              <a:headEnd/>
              <a:tailEnd/>
            </a:ln>
          </p:spPr>
          <p:txBody>
            <a:bodyPr lIns="0" tIns="0" rIns="0" bIns="0" rtlCol="0" anchor="ctr" anchorCtr="0"/>
            <a:lstStyle/>
            <a:p>
              <a:pPr algn="ctr" rtl="0" eaLnBrk="0" hangingPunct="0"/>
              <a:r>
                <a:rPr lang="en-US" sz="1200">
                  <a:solidFill>
                    <a:srgbClr val="FFFFFF"/>
                  </a:solidFill>
                  <a:latin typeface="+mj-lt"/>
                  <a:sym typeface="+mn-lt"/>
                </a:rPr>
                <a:t>Analytical layer</a:t>
              </a:r>
              <a:endParaRPr lang="ru" sz="1200">
                <a:solidFill>
                  <a:srgbClr val="FFFFFF"/>
                </a:solidFill>
                <a:latin typeface="+mj-lt"/>
                <a:sym typeface="+mn-lt"/>
              </a:endParaRPr>
            </a:p>
          </p:txBody>
        </p:sp>
        <p:sp>
          <p:nvSpPr>
            <p:cNvPr id="7" name="ee4pHeader3">
              <a:extLst>
                <a:ext uri="{FF2B5EF4-FFF2-40B4-BE49-F238E27FC236}">
                  <a16:creationId xmlns:a16="http://schemas.microsoft.com/office/drawing/2014/main" id="{24027EA3-924F-4373-AE1F-6C82457D8DB7}"/>
                </a:ext>
              </a:extLst>
            </p:cNvPr>
            <p:cNvSpPr>
              <a:spLocks noChangeArrowheads="1"/>
            </p:cNvSpPr>
            <p:nvPr>
              <p:custDataLst>
                <p:tags r:id="rId31"/>
              </p:custDataLst>
            </p:nvPr>
          </p:nvSpPr>
          <p:spPr bwMode="gray">
            <a:xfrm>
              <a:off x="9158650" y="1222678"/>
              <a:ext cx="2563051" cy="324266"/>
            </a:xfrm>
            <a:prstGeom prst="chevron">
              <a:avLst>
                <a:gd name="adj" fmla="val 12004"/>
              </a:avLst>
            </a:prstGeom>
            <a:grpFill/>
            <a:ln w="38100" cap="rnd" algn="ctr">
              <a:noFill/>
              <a:round/>
              <a:headEnd/>
              <a:tailEnd/>
            </a:ln>
          </p:spPr>
          <p:txBody>
            <a:bodyPr lIns="0" tIns="0" rIns="0" bIns="0" rtlCol="0" anchor="ctr" anchorCtr="0"/>
            <a:lstStyle/>
            <a:p>
              <a:pPr algn="ctr" rtl="0" eaLnBrk="0" hangingPunct="0"/>
              <a:r>
                <a:rPr lang="en-US" sz="1200">
                  <a:solidFill>
                    <a:srgbClr val="FFFFFF"/>
                  </a:solidFill>
                  <a:latin typeface="+mj-lt"/>
                  <a:sym typeface="+mn-lt"/>
                </a:rPr>
                <a:t>Interaction layer</a:t>
              </a:r>
              <a:endParaRPr lang="ru" sz="1200">
                <a:solidFill>
                  <a:srgbClr val="FFFFFF"/>
                </a:solidFill>
                <a:latin typeface="+mj-lt"/>
                <a:sym typeface="+mn-lt"/>
              </a:endParaRPr>
            </a:p>
          </p:txBody>
        </p:sp>
        <p:sp>
          <p:nvSpPr>
            <p:cNvPr id="8" name="ee4pHeader2">
              <a:extLst>
                <a:ext uri="{FF2B5EF4-FFF2-40B4-BE49-F238E27FC236}">
                  <a16:creationId xmlns:a16="http://schemas.microsoft.com/office/drawing/2014/main" id="{8925E736-1D61-4024-95E8-A2A793014E68}"/>
                </a:ext>
              </a:extLst>
            </p:cNvPr>
            <p:cNvSpPr>
              <a:spLocks noChangeArrowheads="1"/>
            </p:cNvSpPr>
            <p:nvPr>
              <p:custDataLst>
                <p:tags r:id="rId32"/>
              </p:custDataLst>
            </p:nvPr>
          </p:nvSpPr>
          <p:spPr bwMode="gray">
            <a:xfrm>
              <a:off x="7200925" y="1222678"/>
              <a:ext cx="1936750" cy="324266"/>
            </a:xfrm>
            <a:prstGeom prst="chevron">
              <a:avLst>
                <a:gd name="adj" fmla="val 12004"/>
              </a:avLst>
            </a:prstGeom>
            <a:grpFill/>
            <a:ln w="38100" cap="rnd" algn="ctr">
              <a:noFill/>
              <a:round/>
              <a:headEnd/>
              <a:tailEnd/>
            </a:ln>
          </p:spPr>
          <p:txBody>
            <a:bodyPr lIns="0" tIns="0" rIns="0" bIns="0" rtlCol="0" anchor="ctr" anchorCtr="0"/>
            <a:lstStyle/>
            <a:p>
              <a:pPr algn="ctr" rtl="0" eaLnBrk="0" hangingPunct="0"/>
              <a:r>
                <a:rPr lang="en-US" sz="1200">
                  <a:solidFill>
                    <a:srgbClr val="FFFFFF"/>
                  </a:solidFill>
                  <a:latin typeface="+mj-lt"/>
                  <a:sym typeface="+mn-lt"/>
                </a:rPr>
                <a:t>Orchestration layer</a:t>
              </a:r>
              <a:endParaRPr lang="ru" sz="1200">
                <a:solidFill>
                  <a:srgbClr val="FFFFFF"/>
                </a:solidFill>
                <a:latin typeface="+mj-lt"/>
                <a:sym typeface="+mn-lt"/>
              </a:endParaRPr>
            </a:p>
          </p:txBody>
        </p:sp>
      </p:grpSp>
      <p:sp>
        <p:nvSpPr>
          <p:cNvPr id="9" name="Textfeld 1">
            <a:extLst>
              <a:ext uri="{FF2B5EF4-FFF2-40B4-BE49-F238E27FC236}">
                <a16:creationId xmlns:a16="http://schemas.microsoft.com/office/drawing/2014/main" id="{8B27F29F-7CC8-48AC-B134-79E596092509}"/>
              </a:ext>
            </a:extLst>
          </p:cNvPr>
          <p:cNvSpPr txBox="1"/>
          <p:nvPr>
            <p:custDataLst>
              <p:tags r:id="rId2"/>
            </p:custDataLst>
          </p:nvPr>
        </p:nvSpPr>
        <p:spPr>
          <a:xfrm>
            <a:off x="1042012" y="1732377"/>
            <a:ext cx="2801819" cy="307777"/>
          </a:xfrm>
          <a:prstGeom prst="rect">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 uri="{AF507438-7753-43E0-B8FC-AC1667EBCBE1}">
              <a14:hiddenEffects xmlns:a14="http://schemas.microsoft.com/office/drawing/2010/main">
                <a:effectLst>
                  <a:outerShdw dist="35560" dir="3498616" rotWithShape="0">
                    <a:scrgbClr r="0" g="0" b="0"/>
                  </a:outerShdw>
                </a:effectLst>
              </a14:hiddenEffects>
            </a:ext>
          </a:extLst>
        </p:spPr>
        <p:txBody>
          <a:bodyPr vert="horz" wrap="square" lIns="0" tIns="0" rIns="0" bIns="0" rtlCol="0" anchor="ctr" anchorCtr="0">
            <a:spAutoFit/>
          </a:bodyPr>
          <a:lstStyle>
            <a:defPPr>
              <a:defRPr lang="en-US"/>
            </a:defPPr>
            <a:lvl1pPr marR="0" lvl="0" indent="0" algn="ctr" fontAlgn="auto">
              <a:lnSpc>
                <a:spcPct val="100000"/>
              </a:lnSpc>
              <a:spcBef>
                <a:spcPts val="0"/>
              </a:spcBef>
              <a:spcAft>
                <a:spcPts val="0"/>
              </a:spcAft>
              <a:buClrTx/>
              <a:buSzTx/>
              <a:buFontTx/>
              <a:buNone/>
              <a:tabLst/>
              <a:defRPr sz="1000" kern="0">
                <a:solidFill>
                  <a:srgbClr val="29BA74">
                    <a:lumMod val="100000"/>
                  </a:srgbClr>
                </a:solidFill>
                <a:latin typeface="+mj-lt"/>
              </a:defRPr>
            </a:lvl1pPr>
          </a:lstStyle>
          <a:p>
            <a:r>
              <a:rPr lang="en-US">
                <a:solidFill>
                  <a:srgbClr val="575757"/>
                </a:solidFill>
                <a:latin typeface="+mn-lt"/>
                <a:sym typeface="Trebuchet MS" panose="020B0603020202020204" pitchFamily="34" charset="0"/>
              </a:rPr>
              <a:t>Single integrated data hub with real-time updates from internal and external resources</a:t>
            </a:r>
            <a:endParaRPr lang="ru">
              <a:solidFill>
                <a:srgbClr val="575757"/>
              </a:solidFill>
              <a:latin typeface="+mn-lt"/>
              <a:sym typeface="Trebuchet MS" panose="020B0603020202020204" pitchFamily="34" charset="0"/>
            </a:endParaRPr>
          </a:p>
        </p:txBody>
      </p:sp>
      <p:sp>
        <p:nvSpPr>
          <p:cNvPr id="10" name="Textfeld 1">
            <a:extLst>
              <a:ext uri="{FF2B5EF4-FFF2-40B4-BE49-F238E27FC236}">
                <a16:creationId xmlns:a16="http://schemas.microsoft.com/office/drawing/2014/main" id="{5EB1D9B6-E360-4CAB-BB24-05C6AF167503}"/>
              </a:ext>
            </a:extLst>
          </p:cNvPr>
          <p:cNvSpPr txBox="1"/>
          <p:nvPr>
            <p:custDataLst>
              <p:tags r:id="rId3"/>
            </p:custDataLst>
          </p:nvPr>
        </p:nvSpPr>
        <p:spPr>
          <a:xfrm>
            <a:off x="4288687" y="1732377"/>
            <a:ext cx="2836249" cy="307777"/>
          </a:xfrm>
          <a:prstGeom prst="rect">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 uri="{AF507438-7753-43E0-B8FC-AC1667EBCBE1}">
              <a14:hiddenEffects xmlns:a14="http://schemas.microsoft.com/office/drawing/2010/main">
                <a:effectLst>
                  <a:outerShdw dist="35560" dir="3498616" rotWithShape="0">
                    <a:scrgbClr r="0" g="0" b="0"/>
                  </a:outerShdw>
                </a:effectLst>
              </a14:hiddenEffects>
            </a:ext>
          </a:extLst>
        </p:spPr>
        <p:txBody>
          <a:bodyPr vert="horz"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kern="0">
                <a:solidFill>
                  <a:srgbClr val="575757"/>
                </a:solidFill>
                <a:sym typeface="Trebuchet MS" panose="020B0603020202020204" pitchFamily="34" charset="0"/>
              </a:rPr>
              <a:t>ML algorithms and analytics engine prioritizing value offers and optimizing over time</a:t>
            </a:r>
          </a:p>
        </p:txBody>
      </p:sp>
      <p:sp>
        <p:nvSpPr>
          <p:cNvPr id="11" name="Textfeld 1">
            <a:extLst>
              <a:ext uri="{FF2B5EF4-FFF2-40B4-BE49-F238E27FC236}">
                <a16:creationId xmlns:a16="http://schemas.microsoft.com/office/drawing/2014/main" id="{36FF597E-730C-4D84-BF48-2E775AB470D4}"/>
              </a:ext>
            </a:extLst>
          </p:cNvPr>
          <p:cNvSpPr txBox="1"/>
          <p:nvPr>
            <p:custDataLst>
              <p:tags r:id="rId4"/>
            </p:custDataLst>
          </p:nvPr>
        </p:nvSpPr>
        <p:spPr>
          <a:xfrm>
            <a:off x="9188802" y="1732377"/>
            <a:ext cx="2502749" cy="307777"/>
          </a:xfrm>
          <a:prstGeom prst="rect">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 uri="{AF507438-7753-43E0-B8FC-AC1667EBCBE1}">
              <a14:hiddenEffects xmlns:a14="http://schemas.microsoft.com/office/drawing/2010/main">
                <a:effectLst>
                  <a:outerShdw dist="35560" dir="3498616" rotWithShape="0">
                    <a:scrgbClr r="0" g="0" b="0"/>
                  </a:outerShdw>
                </a:effectLst>
              </a14:hiddenEffects>
            </a:ext>
          </a:extLst>
        </p:spPr>
        <p:txBody>
          <a:bodyPr vert="horz" wrap="square" lIns="0" tIns="0" rIns="0" bIns="0" rtlCol="0" anchor="ctr" anchorCtr="0">
            <a:spAutoFit/>
          </a:bodyPr>
          <a:lstStyle>
            <a:defPPr>
              <a:defRPr lang="en-US"/>
            </a:defPPr>
            <a:lvl1pPr marR="0" lvl="0" indent="0" algn="ctr" fontAlgn="auto">
              <a:lnSpc>
                <a:spcPct val="100000"/>
              </a:lnSpc>
              <a:spcBef>
                <a:spcPts val="0"/>
              </a:spcBef>
              <a:spcAft>
                <a:spcPts val="0"/>
              </a:spcAft>
              <a:buClrTx/>
              <a:buSzTx/>
              <a:buFontTx/>
              <a:buNone/>
              <a:tabLst/>
              <a:defRPr sz="1000" kern="0">
                <a:solidFill>
                  <a:srgbClr val="29BA74">
                    <a:lumMod val="100000"/>
                  </a:srgbClr>
                </a:solidFill>
                <a:latin typeface="+mj-lt"/>
              </a:defRPr>
            </a:lvl1pPr>
          </a:lstStyle>
          <a:p>
            <a:r>
              <a:rPr lang="en-US" err="1">
                <a:solidFill>
                  <a:srgbClr val="575757"/>
                </a:solidFill>
                <a:latin typeface="+mn-lt"/>
                <a:sym typeface="Trebuchet MS" panose="020B0603020202020204" pitchFamily="34" charset="0"/>
              </a:rPr>
              <a:t>Personalised</a:t>
            </a:r>
            <a:r>
              <a:rPr lang="en-US">
                <a:solidFill>
                  <a:srgbClr val="575757"/>
                </a:solidFill>
                <a:latin typeface="+mn-lt"/>
                <a:sym typeface="Trebuchet MS" panose="020B0603020202020204" pitchFamily="34" charset="0"/>
              </a:rPr>
              <a:t> and seamless omni-channel delivery and interaction with the client</a:t>
            </a:r>
            <a:endParaRPr lang="ru">
              <a:solidFill>
                <a:srgbClr val="575757"/>
              </a:solidFill>
              <a:latin typeface="+mn-lt"/>
              <a:sym typeface="Trebuchet MS" panose="020B0603020202020204" pitchFamily="34" charset="0"/>
            </a:endParaRPr>
          </a:p>
        </p:txBody>
      </p:sp>
      <p:sp>
        <p:nvSpPr>
          <p:cNvPr id="12" name="Textfeld 1">
            <a:extLst>
              <a:ext uri="{FF2B5EF4-FFF2-40B4-BE49-F238E27FC236}">
                <a16:creationId xmlns:a16="http://schemas.microsoft.com/office/drawing/2014/main" id="{6D64C40B-A10C-4B70-A406-7DD5EAB45E5F}"/>
              </a:ext>
            </a:extLst>
          </p:cNvPr>
          <p:cNvSpPr txBox="1"/>
          <p:nvPr>
            <p:custDataLst>
              <p:tags r:id="rId5"/>
            </p:custDataLst>
          </p:nvPr>
        </p:nvSpPr>
        <p:spPr>
          <a:xfrm>
            <a:off x="7296472" y="1732377"/>
            <a:ext cx="1727560" cy="307777"/>
          </a:xfrm>
          <a:prstGeom prst="rect">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 uri="{AF507438-7753-43E0-B8FC-AC1667EBCBE1}">
              <a14:hiddenEffects xmlns:a14="http://schemas.microsoft.com/office/drawing/2010/main">
                <a:effectLst>
                  <a:outerShdw dist="35560" dir="3498616" rotWithShape="0">
                    <a:scrgbClr r="0" g="0" b="0"/>
                  </a:outerShdw>
                </a:effectLst>
              </a14:hiddenEffects>
            </a:ext>
          </a:extLst>
        </p:spPr>
        <p:txBody>
          <a:bodyPr vert="horz" wrap="square" lIns="0" tIns="0" rIns="0" bIns="0" rtlCol="0" anchor="ctr" anchorCtr="0">
            <a:spAutoFit/>
          </a:bodyPr>
          <a:lstStyle>
            <a:defPPr>
              <a:defRPr lang="en-US"/>
            </a:defPPr>
            <a:lvl1pPr marR="0" lvl="0" indent="0" algn="ctr" fontAlgn="auto">
              <a:lnSpc>
                <a:spcPct val="100000"/>
              </a:lnSpc>
              <a:spcBef>
                <a:spcPts val="0"/>
              </a:spcBef>
              <a:spcAft>
                <a:spcPts val="0"/>
              </a:spcAft>
              <a:buClrTx/>
              <a:buSzTx/>
              <a:buFontTx/>
              <a:buNone/>
              <a:tabLst/>
              <a:defRPr sz="1000" kern="0">
                <a:solidFill>
                  <a:srgbClr val="29BA74">
                    <a:lumMod val="100000"/>
                  </a:srgbClr>
                </a:solidFill>
                <a:latin typeface="+mj-lt"/>
              </a:defRPr>
            </a:lvl1pPr>
          </a:lstStyle>
          <a:p>
            <a:r>
              <a:rPr lang="en-US">
                <a:solidFill>
                  <a:srgbClr val="575757"/>
                </a:solidFill>
                <a:latin typeface="+mn-lt"/>
                <a:sym typeface="Trebuchet MS" panose="020B0603020202020204" pitchFamily="34" charset="0"/>
              </a:rPr>
              <a:t>NBA/</a:t>
            </a:r>
            <a:r>
              <a:rPr lang="en-US" err="1">
                <a:solidFill>
                  <a:srgbClr val="575757"/>
                </a:solidFill>
                <a:latin typeface="+mn-lt"/>
                <a:sym typeface="Trebuchet MS" panose="020B0603020202020204" pitchFamily="34" charset="0"/>
              </a:rPr>
              <a:t>NBO</a:t>
            </a:r>
            <a:r>
              <a:rPr lang="en-US">
                <a:solidFill>
                  <a:srgbClr val="575757"/>
                </a:solidFill>
                <a:latin typeface="+mn-lt"/>
                <a:sym typeface="Trebuchet MS" panose="020B0603020202020204" pitchFamily="34" charset="0"/>
              </a:rPr>
              <a:t> based orchestration across all channels</a:t>
            </a:r>
            <a:endParaRPr lang="ru">
              <a:solidFill>
                <a:srgbClr val="575757"/>
              </a:solidFill>
              <a:latin typeface="+mn-lt"/>
              <a:sym typeface="Trebuchet MS" panose="020B0603020202020204" pitchFamily="34" charset="0"/>
            </a:endParaRPr>
          </a:p>
        </p:txBody>
      </p:sp>
      <p:sp>
        <p:nvSpPr>
          <p:cNvPr id="13" name="Rectangle: Rounded Corners 12">
            <a:extLst>
              <a:ext uri="{FF2B5EF4-FFF2-40B4-BE49-F238E27FC236}">
                <a16:creationId xmlns:a16="http://schemas.microsoft.com/office/drawing/2014/main" id="{D588F0F5-9CE6-4F53-910A-6E2903AFBFEE}"/>
              </a:ext>
            </a:extLst>
          </p:cNvPr>
          <p:cNvSpPr/>
          <p:nvPr>
            <p:custDataLst>
              <p:tags r:id="rId6"/>
            </p:custDataLst>
          </p:nvPr>
        </p:nvSpPr>
        <p:spPr>
          <a:xfrm>
            <a:off x="628650" y="2100839"/>
            <a:ext cx="3621618" cy="4495456"/>
          </a:xfrm>
          <a:prstGeom prst="roundRect">
            <a:avLst>
              <a:gd name="adj" fmla="val 1950"/>
            </a:avLst>
          </a:prstGeom>
          <a:solidFill>
            <a:srgbClr val="F2F2F2"/>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0" rIns="0" bIns="57600" numCol="1" spcCol="0" rtlCol="0" fromWordArt="0" anchor="b" anchorCtr="0" forceAA="0" compatLnSpc="1">
            <a:prstTxWarp prst="textNoShape">
              <a:avLst/>
            </a:prstTxWarp>
            <a:noAutofit/>
          </a:bodyPr>
          <a:lstStyle/>
          <a:p>
            <a:pPr>
              <a:spcBef>
                <a:spcPts val="140"/>
              </a:spcBef>
              <a:spcAft>
                <a:spcPts val="140"/>
              </a:spcAft>
            </a:pPr>
            <a:r>
              <a:rPr lang="en-US" sz="1000" b="1">
                <a:solidFill>
                  <a:srgbClr val="575757"/>
                </a:solidFill>
                <a:sym typeface="Trebuchet MS" panose="020B0603020202020204" pitchFamily="34" charset="0"/>
              </a:rPr>
              <a:t>Data governance: </a:t>
            </a:r>
            <a:r>
              <a:rPr lang="en-US" sz="900">
                <a:solidFill>
                  <a:srgbClr val="575757"/>
                </a:solidFill>
                <a:sym typeface="Trebuchet MS" panose="020B0603020202020204" pitchFamily="34" charset="0"/>
              </a:rPr>
              <a:t>data is a shared asset, including harmonized definitions, tools and processes, establishing single source of truth</a:t>
            </a:r>
          </a:p>
        </p:txBody>
      </p:sp>
      <p:sp>
        <p:nvSpPr>
          <p:cNvPr id="14" name="Rectangle: Rounded Corners 13">
            <a:extLst>
              <a:ext uri="{FF2B5EF4-FFF2-40B4-BE49-F238E27FC236}">
                <a16:creationId xmlns:a16="http://schemas.microsoft.com/office/drawing/2014/main" id="{F01E4063-A6B8-4693-BDCF-24EC31D36660}"/>
              </a:ext>
            </a:extLst>
          </p:cNvPr>
          <p:cNvSpPr/>
          <p:nvPr>
            <p:custDataLst>
              <p:tags r:id="rId7"/>
            </p:custDataLst>
          </p:nvPr>
        </p:nvSpPr>
        <p:spPr>
          <a:xfrm>
            <a:off x="7224076" y="2518586"/>
            <a:ext cx="1873351" cy="2510839"/>
          </a:xfrm>
          <a:prstGeom prst="roundRect">
            <a:avLst>
              <a:gd name="adj" fmla="val 3843"/>
            </a:avLst>
          </a:prstGeom>
          <a:solidFill>
            <a:srgbClr val="F2F2F2"/>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chemeClr val="bg1">
                    <a:lumMod val="85000"/>
                  </a:schemeClr>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57600" numCol="1" spcCol="0" rtlCol="0" fromWordArt="0" anchor="b" anchorCtr="0" forceAA="0" compatLnSpc="1">
            <a:prstTxWarp prst="textNoShape">
              <a:avLst/>
            </a:prstTxWarp>
            <a:noAutofit/>
          </a:bodyPr>
          <a:lstStyle/>
          <a:p>
            <a:pPr algn="ctr">
              <a:spcBef>
                <a:spcPts val="140"/>
              </a:spcBef>
              <a:spcAft>
                <a:spcPts val="140"/>
              </a:spcAft>
            </a:pPr>
            <a:endParaRPr lang="en-US" sz="900">
              <a:solidFill>
                <a:srgbClr val="575757"/>
              </a:solidFill>
              <a:sym typeface="Trebuchet MS" panose="020B0603020202020204" pitchFamily="34" charset="0"/>
            </a:endParaRPr>
          </a:p>
        </p:txBody>
      </p:sp>
      <p:sp>
        <p:nvSpPr>
          <p:cNvPr id="15" name="Rectangle: Rounded Corners 14">
            <a:extLst>
              <a:ext uri="{FF2B5EF4-FFF2-40B4-BE49-F238E27FC236}">
                <a16:creationId xmlns:a16="http://schemas.microsoft.com/office/drawing/2014/main" id="{58E29FD4-7DC2-40BE-9CB7-97CA9602455A}"/>
              </a:ext>
            </a:extLst>
          </p:cNvPr>
          <p:cNvSpPr/>
          <p:nvPr>
            <p:custDataLst>
              <p:tags r:id="rId8"/>
            </p:custDataLst>
          </p:nvPr>
        </p:nvSpPr>
        <p:spPr>
          <a:xfrm>
            <a:off x="4515079" y="5664880"/>
            <a:ext cx="6754811" cy="344455"/>
          </a:xfrm>
          <a:prstGeom prst="roundRect">
            <a:avLst>
              <a:gd name="adj" fmla="val 20903"/>
            </a:avLst>
          </a:prstGeom>
          <a:solidFill>
            <a:srgbClr val="FFFFFF"/>
          </a:solidFill>
          <a:ln w="9525" cap="rnd" cmpd="sng" algn="ctr">
            <a:solidFill>
              <a:srgbClr val="C8C8C8">
                <a:lumMod val="100000"/>
              </a:srgb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spcBef>
                <a:spcPts val="140"/>
              </a:spcBef>
              <a:spcAft>
                <a:spcPts val="140"/>
              </a:spcAft>
            </a:pPr>
            <a:r>
              <a:rPr lang="en-US" sz="1000">
                <a:solidFill>
                  <a:srgbClr val="575757"/>
                </a:solidFill>
              </a:rPr>
              <a:t>Measurements of process workflow and campaigns performance</a:t>
            </a:r>
            <a:endParaRPr lang="ru" sz="1000">
              <a:solidFill>
                <a:srgbClr val="575757"/>
              </a:solidFill>
            </a:endParaRPr>
          </a:p>
        </p:txBody>
      </p:sp>
      <p:cxnSp>
        <p:nvCxnSpPr>
          <p:cNvPr id="16" name="AutoShape 2">
            <a:extLst>
              <a:ext uri="{FF2B5EF4-FFF2-40B4-BE49-F238E27FC236}">
                <a16:creationId xmlns:a16="http://schemas.microsoft.com/office/drawing/2014/main" id="{3D7CC2CF-0ACA-439C-8B8F-46451EFFCB0C}"/>
              </a:ext>
            </a:extLst>
          </p:cNvPr>
          <p:cNvCxnSpPr>
            <a:cxnSpLocks noChangeShapeType="1"/>
            <a:stCxn id="15" idx="3"/>
            <a:endCxn id="53" idx="2"/>
          </p:cNvCxnSpPr>
          <p:nvPr/>
        </p:nvCxnSpPr>
        <p:spPr bwMode="auto">
          <a:xfrm flipV="1">
            <a:off x="11269890" y="3998263"/>
            <a:ext cx="179871" cy="1838845"/>
          </a:xfrm>
          <a:prstGeom prst="bentConnector2">
            <a:avLst/>
          </a:prstGeom>
          <a:noFill/>
          <a:ln w="12700" cap="rnd" cmpd="sng" algn="ctr">
            <a:solidFill>
              <a:schemeClr val="tx2"/>
            </a:solidFill>
            <a:prstDash val="dash"/>
            <a:round/>
            <a:headEnd type="none" w="med" len="med"/>
            <a:tailEnd type="triangle" w="med" len="med"/>
          </a:ln>
        </p:spPr>
      </p:cxnSp>
      <p:sp>
        <p:nvSpPr>
          <p:cNvPr id="18" name="Rectangle: Rounded Corners 17">
            <a:extLst>
              <a:ext uri="{FF2B5EF4-FFF2-40B4-BE49-F238E27FC236}">
                <a16:creationId xmlns:a16="http://schemas.microsoft.com/office/drawing/2014/main" id="{16DC08AB-8096-4DF8-B110-4D6B9120365D}"/>
              </a:ext>
            </a:extLst>
          </p:cNvPr>
          <p:cNvSpPr/>
          <p:nvPr>
            <p:custDataLst>
              <p:tags r:id="rId9"/>
            </p:custDataLst>
          </p:nvPr>
        </p:nvSpPr>
        <p:spPr>
          <a:xfrm>
            <a:off x="4515079" y="2677823"/>
            <a:ext cx="2472150" cy="2351604"/>
          </a:xfrm>
          <a:prstGeom prst="roundRect">
            <a:avLst>
              <a:gd name="adj" fmla="val 3872"/>
            </a:avLst>
          </a:prstGeom>
          <a:solidFill>
            <a:srgbClr val="F2F2F2"/>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chemeClr val="bg1">
                    <a:lumMod val="85000"/>
                  </a:schemeClr>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57600" numCol="1" spcCol="0" rtlCol="0" fromWordArt="0" anchor="b" anchorCtr="0" forceAA="0" compatLnSpc="1">
            <a:prstTxWarp prst="textNoShape">
              <a:avLst/>
            </a:prstTxWarp>
            <a:noAutofit/>
          </a:bodyPr>
          <a:lstStyle/>
          <a:p>
            <a:pPr algn="ctr">
              <a:spcBef>
                <a:spcPts val="140"/>
              </a:spcBef>
              <a:spcAft>
                <a:spcPts val="140"/>
              </a:spcAft>
            </a:pPr>
            <a:r>
              <a:rPr lang="en-US" sz="900">
                <a:solidFill>
                  <a:srgbClr val="575757"/>
                </a:solidFill>
                <a:sym typeface="Trebuchet MS" panose="020B0603020202020204" pitchFamily="34" charset="0"/>
              </a:rPr>
              <a:t>Repetitions check</a:t>
            </a:r>
          </a:p>
          <a:p>
            <a:pPr algn="ctr">
              <a:spcBef>
                <a:spcPts val="140"/>
              </a:spcBef>
              <a:spcAft>
                <a:spcPts val="140"/>
              </a:spcAft>
            </a:pPr>
            <a:r>
              <a:rPr lang="en-US" sz="900">
                <a:solidFill>
                  <a:srgbClr val="575757"/>
                </a:solidFill>
                <a:sym typeface="Trebuchet MS" panose="020B0603020202020204" pitchFamily="34" charset="0"/>
              </a:rPr>
              <a:t>Conflicts check</a:t>
            </a:r>
          </a:p>
          <a:p>
            <a:pPr algn="ctr">
              <a:spcBef>
                <a:spcPts val="140"/>
              </a:spcBef>
              <a:spcAft>
                <a:spcPts val="140"/>
              </a:spcAft>
            </a:pPr>
            <a:r>
              <a:rPr lang="en-US" sz="900">
                <a:solidFill>
                  <a:srgbClr val="575757"/>
                </a:solidFill>
                <a:sym typeface="Trebuchet MS" panose="020B0603020202020204" pitchFamily="34" charset="0"/>
              </a:rPr>
              <a:t>Communication policy check</a:t>
            </a:r>
          </a:p>
          <a:p>
            <a:pPr algn="ctr">
              <a:spcBef>
                <a:spcPts val="140"/>
              </a:spcBef>
              <a:spcAft>
                <a:spcPts val="140"/>
              </a:spcAft>
            </a:pPr>
            <a:r>
              <a:rPr lang="en-US" sz="900">
                <a:solidFill>
                  <a:srgbClr val="575757"/>
                </a:solidFill>
                <a:sym typeface="Trebuchet MS" panose="020B0603020202020204" pitchFamily="34" charset="0"/>
              </a:rPr>
              <a:t>Regulations check</a:t>
            </a:r>
          </a:p>
        </p:txBody>
      </p:sp>
      <p:sp>
        <p:nvSpPr>
          <p:cNvPr id="19" name="Rectangle: Rounded Corners 18">
            <a:extLst>
              <a:ext uri="{FF2B5EF4-FFF2-40B4-BE49-F238E27FC236}">
                <a16:creationId xmlns:a16="http://schemas.microsoft.com/office/drawing/2014/main" id="{3FD21F73-20DB-4FDF-AFEF-D9E4E14F4B6B}"/>
              </a:ext>
            </a:extLst>
          </p:cNvPr>
          <p:cNvSpPr/>
          <p:nvPr>
            <p:custDataLst>
              <p:tags r:id="rId10"/>
            </p:custDataLst>
          </p:nvPr>
        </p:nvSpPr>
        <p:spPr>
          <a:xfrm>
            <a:off x="4515079" y="2794631"/>
            <a:ext cx="2364765" cy="1487079"/>
          </a:xfrm>
          <a:prstGeom prst="roundRect">
            <a:avLst>
              <a:gd name="adj" fmla="val 4538"/>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chemeClr val="bg1">
                    <a:lumMod val="85000"/>
                  </a:schemeClr>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576" tIns="36576" rIns="36576" bIns="36576" numCol="1" spcCol="0" rtlCol="0" fromWordArt="0" anchor="ctr" anchorCtr="0" forceAA="0" compatLnSpc="1">
            <a:prstTxWarp prst="textNoShape">
              <a:avLst/>
            </a:prstTxWarp>
            <a:spAutoFit/>
          </a:bodyPr>
          <a:lstStyle/>
          <a:p>
            <a:pPr>
              <a:buFont typeface="Trebuchet MS" panose="020B0603020202020204" pitchFamily="34" charset="0"/>
              <a:buChar char="​"/>
            </a:pPr>
            <a:r>
              <a:rPr lang="en-US" sz="1000">
                <a:solidFill>
                  <a:schemeClr val="tx1"/>
                </a:solidFill>
                <a:sym typeface="Trebuchet MS" panose="020B0603020202020204" pitchFamily="34" charset="0"/>
              </a:rPr>
              <a:t>ML prioritization models</a:t>
            </a:r>
            <a:br>
              <a:rPr lang="en-US" sz="1000">
                <a:solidFill>
                  <a:schemeClr val="tx1"/>
                </a:solidFill>
                <a:sym typeface="Trebuchet MS" panose="020B0603020202020204" pitchFamily="34" charset="0"/>
              </a:rPr>
            </a:br>
            <a:r>
              <a:rPr lang="en-US" sz="1000">
                <a:solidFill>
                  <a:schemeClr val="tx1"/>
                </a:solidFill>
                <a:sym typeface="Trebuchet MS" panose="020B0603020202020204" pitchFamily="34" charset="0"/>
              </a:rPr>
              <a:t>(</a:t>
            </a:r>
            <a:r>
              <a:rPr lang="en-US" sz="1000" err="1">
                <a:solidFill>
                  <a:schemeClr val="tx1"/>
                </a:solidFill>
                <a:sym typeface="Trebuchet MS" panose="020B0603020202020204" pitchFamily="34" charset="0"/>
              </a:rPr>
              <a:t>Ptb</a:t>
            </a:r>
            <a:r>
              <a:rPr lang="en-US" sz="1000">
                <a:solidFill>
                  <a:schemeClr val="tx1"/>
                </a:solidFill>
                <a:sym typeface="Trebuchet MS" panose="020B0603020202020204" pitchFamily="34" charset="0"/>
              </a:rPr>
              <a:t>, </a:t>
            </a:r>
            <a:r>
              <a:rPr lang="en-US" sz="1000" err="1">
                <a:solidFill>
                  <a:schemeClr val="tx1"/>
                </a:solidFill>
                <a:sym typeface="Trebuchet MS" panose="020B0603020202020204" pitchFamily="34" charset="0"/>
              </a:rPr>
              <a:t>VBP</a:t>
            </a:r>
            <a:r>
              <a:rPr lang="en-US" sz="1000">
                <a:solidFill>
                  <a:schemeClr val="tx1"/>
                </a:solidFill>
                <a:sym typeface="Trebuchet MS" panose="020B0603020202020204" pitchFamily="34" charset="0"/>
              </a:rPr>
              <a:t>, LTV, CLI, Churn,</a:t>
            </a:r>
            <a:br>
              <a:rPr lang="en-US" sz="1000">
                <a:solidFill>
                  <a:schemeClr val="tx1"/>
                </a:solidFill>
                <a:sym typeface="Trebuchet MS" panose="020B0603020202020204" pitchFamily="34" charset="0"/>
              </a:rPr>
            </a:br>
            <a:r>
              <a:rPr lang="en-US" sz="1000">
                <a:solidFill>
                  <a:schemeClr val="tx1"/>
                </a:solidFill>
                <a:sym typeface="Trebuchet MS" panose="020B0603020202020204" pitchFamily="34" charset="0"/>
              </a:rPr>
              <a:t>Hidden Affluent, etc.)</a:t>
            </a:r>
          </a:p>
          <a:p>
            <a:pPr>
              <a:buFont typeface="Trebuchet MS" panose="020B0603020202020204" pitchFamily="34" charset="0"/>
              <a:buChar char="​"/>
            </a:pPr>
            <a:r>
              <a:rPr lang="en-US" sz="1000">
                <a:solidFill>
                  <a:schemeClr val="tx1"/>
                </a:solidFill>
                <a:sym typeface="Trebuchet MS" panose="020B0603020202020204" pitchFamily="34" charset="0"/>
              </a:rPr>
              <a:t>Single mechanism for all use cases</a:t>
            </a:r>
          </a:p>
          <a:p>
            <a:pPr>
              <a:buFont typeface="Trebuchet MS" panose="020B0603020202020204" pitchFamily="34" charset="0"/>
              <a:buChar char="​"/>
            </a:pPr>
            <a:r>
              <a:rPr lang="en-US" sz="1000">
                <a:solidFill>
                  <a:schemeClr val="tx1"/>
                </a:solidFill>
                <a:sym typeface="Trebuchet MS" panose="020B0603020202020204" pitchFamily="34" charset="0"/>
              </a:rPr>
              <a:t>Choice of product, pricing, channel, tone, message and creative driven by</a:t>
            </a:r>
            <a:br>
              <a:rPr lang="ru-RU" sz="1000">
                <a:solidFill>
                  <a:schemeClr val="tx1"/>
                </a:solidFill>
                <a:sym typeface="Trebuchet MS" panose="020B0603020202020204" pitchFamily="34" charset="0"/>
              </a:rPr>
            </a:br>
            <a:r>
              <a:rPr lang="en-US" sz="1000">
                <a:solidFill>
                  <a:schemeClr val="tx1"/>
                </a:solidFill>
                <a:sym typeface="Trebuchet MS" panose="020B0603020202020204" pitchFamily="34" charset="0"/>
              </a:rPr>
              <a:t>a mix and machine learning to optimize between competing alternatives</a:t>
            </a:r>
          </a:p>
        </p:txBody>
      </p:sp>
      <p:sp>
        <p:nvSpPr>
          <p:cNvPr id="20" name="Rectangle: Rounded Corners 19">
            <a:extLst>
              <a:ext uri="{FF2B5EF4-FFF2-40B4-BE49-F238E27FC236}">
                <a16:creationId xmlns:a16="http://schemas.microsoft.com/office/drawing/2014/main" id="{8D6BEC92-F9B4-4BDE-B4CB-6EFABCE5A5DE}"/>
              </a:ext>
            </a:extLst>
          </p:cNvPr>
          <p:cNvSpPr/>
          <p:nvPr>
            <p:custDataLst>
              <p:tags r:id="rId11"/>
            </p:custDataLst>
          </p:nvPr>
        </p:nvSpPr>
        <p:spPr>
          <a:xfrm>
            <a:off x="4515079" y="5154674"/>
            <a:ext cx="2472150" cy="339519"/>
          </a:xfrm>
          <a:prstGeom prst="roundRect">
            <a:avLst>
              <a:gd name="adj" fmla="val 18853"/>
            </a:avLst>
          </a:prstGeom>
          <a:solidFill>
            <a:srgbClr val="FFFFFF"/>
          </a:solidFill>
          <a:ln w="9525" cap="rnd" cmpd="sng" algn="ctr">
            <a:solidFill>
              <a:srgbClr val="C8C8C8">
                <a:lumMod val="100000"/>
              </a:srgb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spcBef>
                <a:spcPts val="140"/>
              </a:spcBef>
              <a:spcAft>
                <a:spcPts val="140"/>
              </a:spcAft>
            </a:pPr>
            <a:r>
              <a:rPr lang="en-US" sz="1000" b="1">
                <a:solidFill>
                  <a:schemeClr val="tx1"/>
                </a:solidFill>
                <a:sym typeface="Trebuchet MS" panose="020B0603020202020204" pitchFamily="34" charset="0"/>
              </a:rPr>
              <a:t>Real-time triggers</a:t>
            </a:r>
            <a:endParaRPr lang="ru" sz="1000" b="1">
              <a:solidFill>
                <a:schemeClr val="tx1"/>
              </a:solidFill>
              <a:sym typeface="Trebuchet MS" panose="020B0603020202020204" pitchFamily="34" charset="0"/>
            </a:endParaRPr>
          </a:p>
        </p:txBody>
      </p:sp>
      <p:sp>
        <p:nvSpPr>
          <p:cNvPr id="21" name="Rectangle: Rounded Corners 20">
            <a:extLst>
              <a:ext uri="{FF2B5EF4-FFF2-40B4-BE49-F238E27FC236}">
                <a16:creationId xmlns:a16="http://schemas.microsoft.com/office/drawing/2014/main" id="{536C8892-CF94-4CEA-B60C-7E4C419DC6E6}"/>
              </a:ext>
            </a:extLst>
          </p:cNvPr>
          <p:cNvSpPr/>
          <p:nvPr>
            <p:custDataLst>
              <p:tags r:id="rId12"/>
            </p:custDataLst>
          </p:nvPr>
        </p:nvSpPr>
        <p:spPr>
          <a:xfrm>
            <a:off x="740488" y="2143261"/>
            <a:ext cx="2061085" cy="1975050"/>
          </a:xfrm>
          <a:prstGeom prst="roundRect">
            <a:avLst>
              <a:gd name="adj" fmla="val 3241"/>
            </a:avLst>
          </a:prstGeom>
          <a:solidFill>
            <a:srgbClr val="FFFFFF"/>
          </a:solidFill>
          <a:ln w="9525" cap="rnd" cmpd="sng" algn="ctr">
            <a:solidFill>
              <a:srgbClr val="C8C8C8">
                <a:lumMod val="100000"/>
              </a:srgb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spAutoFit/>
          </a:bodyPr>
          <a:lstStyle/>
          <a:p>
            <a:r>
              <a:rPr lang="en-US" sz="1000" b="1">
                <a:solidFill>
                  <a:schemeClr val="tx1"/>
                </a:solidFill>
                <a:sym typeface="Trebuchet MS" panose="020B0603020202020204" pitchFamily="34" charset="0"/>
              </a:rPr>
              <a:t>Internal sources</a:t>
            </a:r>
          </a:p>
          <a:p>
            <a:pPr marL="324000" lvl="1" indent="-216000">
              <a:buClr>
                <a:schemeClr val="tx2"/>
              </a:buClr>
              <a:buFont typeface="Trebuchet MS" panose="020B0603020202020204" pitchFamily="34" charset="0"/>
              <a:buChar char="•"/>
            </a:pPr>
            <a:r>
              <a:rPr lang="en-US" sz="1000">
                <a:solidFill>
                  <a:schemeClr val="tx1"/>
                </a:solidFill>
                <a:sym typeface="Trebuchet MS" panose="020B0603020202020204" pitchFamily="34" charset="0"/>
              </a:rPr>
              <a:t>Proper integration between core system (deals and transactional data)</a:t>
            </a:r>
          </a:p>
          <a:p>
            <a:pPr marL="324000" lvl="1" indent="-216000">
              <a:buClr>
                <a:schemeClr val="tx2"/>
              </a:buClr>
              <a:buFont typeface="Trebuchet MS" panose="020B0603020202020204" pitchFamily="34" charset="0"/>
              <a:buChar char="•"/>
            </a:pPr>
            <a:r>
              <a:rPr lang="en-US" sz="1000">
                <a:solidFill>
                  <a:schemeClr val="tx1"/>
                </a:solidFill>
                <a:sym typeface="Trebuchet MS" panose="020B0603020202020204" pitchFamily="34" charset="0"/>
              </a:rPr>
              <a:t>Data from campaigns and organic client activity in channels (including human channels–</a:t>
            </a:r>
            <a:r>
              <a:rPr lang="en-US" sz="1000" err="1">
                <a:solidFill>
                  <a:schemeClr val="tx1"/>
                </a:solidFill>
                <a:sym typeface="Trebuchet MS" panose="020B0603020202020204" pitchFamily="34" charset="0"/>
              </a:rPr>
              <a:t>KPIs</a:t>
            </a:r>
            <a:r>
              <a:rPr lang="en-US" sz="1000">
                <a:solidFill>
                  <a:schemeClr val="tx1"/>
                </a:solidFill>
                <a:sym typeface="Trebuchet MS" panose="020B0603020202020204" pitchFamily="34" charset="0"/>
              </a:rPr>
              <a:t> and trainings on updating data)</a:t>
            </a:r>
          </a:p>
          <a:p>
            <a:pPr marL="324000" lvl="1" indent="-216000">
              <a:buClr>
                <a:schemeClr val="tx2"/>
              </a:buClr>
              <a:buFont typeface="Trebuchet MS" panose="020B0603020202020204" pitchFamily="34" charset="0"/>
              <a:buChar char="•"/>
            </a:pPr>
            <a:r>
              <a:rPr lang="en-US" sz="1000">
                <a:solidFill>
                  <a:schemeClr val="tx1"/>
                </a:solidFill>
                <a:sym typeface="Trebuchet MS" panose="020B0603020202020204" pitchFamily="34" charset="0"/>
              </a:rPr>
              <a:t>Client provided docs</a:t>
            </a:r>
          </a:p>
          <a:p>
            <a:pPr marL="324000" lvl="1" indent="-216000">
              <a:buClr>
                <a:schemeClr val="tx2"/>
              </a:buClr>
              <a:buFont typeface="Trebuchet MS" panose="020B0603020202020204" pitchFamily="34" charset="0"/>
              <a:buChar char="•"/>
            </a:pPr>
            <a:r>
              <a:rPr lang="en-US" sz="1000">
                <a:solidFill>
                  <a:schemeClr val="tx1"/>
                </a:solidFill>
                <a:sym typeface="Trebuchet MS" panose="020B0603020202020204" pitchFamily="34" charset="0"/>
              </a:rPr>
              <a:t>PQ offers base</a:t>
            </a:r>
          </a:p>
          <a:p>
            <a:pPr marL="324000" lvl="1" indent="-216000">
              <a:buClr>
                <a:schemeClr val="tx2"/>
              </a:buClr>
              <a:buFont typeface="Trebuchet MS" panose="020B0603020202020204" pitchFamily="34" charset="0"/>
              <a:buChar char="•"/>
            </a:pPr>
            <a:r>
              <a:rPr lang="en-US" sz="1000">
                <a:solidFill>
                  <a:schemeClr val="tx1"/>
                </a:solidFill>
                <a:sym typeface="Trebuchet MS" panose="020B0603020202020204" pitchFamily="34" charset="0"/>
              </a:rPr>
              <a:t>Communication policy</a:t>
            </a:r>
          </a:p>
        </p:txBody>
      </p:sp>
      <p:sp>
        <p:nvSpPr>
          <p:cNvPr id="22" name="Rectangle: Rounded Corners 21">
            <a:extLst>
              <a:ext uri="{FF2B5EF4-FFF2-40B4-BE49-F238E27FC236}">
                <a16:creationId xmlns:a16="http://schemas.microsoft.com/office/drawing/2014/main" id="{685A8390-58BD-4B45-9C7E-72580CB808D3}"/>
              </a:ext>
            </a:extLst>
          </p:cNvPr>
          <p:cNvSpPr/>
          <p:nvPr>
            <p:custDataLst>
              <p:tags r:id="rId13"/>
            </p:custDataLst>
          </p:nvPr>
        </p:nvSpPr>
        <p:spPr>
          <a:xfrm>
            <a:off x="2972230" y="3665465"/>
            <a:ext cx="952226" cy="936137"/>
          </a:xfrm>
          <a:prstGeom prst="roundRect">
            <a:avLst>
              <a:gd name="adj" fmla="val 7691"/>
            </a:avLst>
          </a:prstGeom>
          <a:solidFill>
            <a:srgbClr val="FFFFFF"/>
          </a:solidFill>
          <a:ln w="9525" cap="rnd" cmpd="sng" algn="ctr">
            <a:solidFill>
              <a:srgbClr val="C8C8C8">
                <a:lumMod val="100000"/>
              </a:srgb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45720" numCol="1" spcCol="0" rtlCol="0" fromWordArt="0" anchor="b" anchorCtr="0" forceAA="0" compatLnSpc="1">
            <a:prstTxWarp prst="textNoShape">
              <a:avLst/>
            </a:prstTxWarp>
            <a:noAutofit/>
          </a:bodyPr>
          <a:lstStyle/>
          <a:p>
            <a:pPr algn="ctr">
              <a:spcBef>
                <a:spcPts val="140"/>
              </a:spcBef>
              <a:spcAft>
                <a:spcPts val="140"/>
              </a:spcAft>
            </a:pPr>
            <a:r>
              <a:rPr lang="en-US" sz="1000" b="1">
                <a:solidFill>
                  <a:srgbClr val="575757"/>
                </a:solidFill>
                <a:sym typeface="Trebuchet MS" panose="020B0603020202020204" pitchFamily="34" charset="0"/>
              </a:rPr>
              <a:t>Single</a:t>
            </a:r>
            <a:br>
              <a:rPr lang="en-US" sz="1000" b="1">
                <a:solidFill>
                  <a:srgbClr val="575757"/>
                </a:solidFill>
                <a:sym typeface="Trebuchet MS" panose="020B0603020202020204" pitchFamily="34" charset="0"/>
              </a:rPr>
            </a:br>
            <a:r>
              <a:rPr lang="en-US" sz="1000" b="1">
                <a:solidFill>
                  <a:srgbClr val="575757"/>
                </a:solidFill>
                <a:sym typeface="Trebuchet MS" panose="020B0603020202020204" pitchFamily="34" charset="0"/>
              </a:rPr>
              <a:t>Data hub</a:t>
            </a:r>
            <a:endParaRPr lang="en-US" sz="1000">
              <a:solidFill>
                <a:srgbClr val="575757"/>
              </a:solidFill>
            </a:endParaRPr>
          </a:p>
        </p:txBody>
      </p:sp>
      <p:cxnSp>
        <p:nvCxnSpPr>
          <p:cNvPr id="24" name="AutoShape 2">
            <a:extLst>
              <a:ext uri="{FF2B5EF4-FFF2-40B4-BE49-F238E27FC236}">
                <a16:creationId xmlns:a16="http://schemas.microsoft.com/office/drawing/2014/main" id="{618A911F-9DE8-4723-A744-F0D81047B869}"/>
              </a:ext>
            </a:extLst>
          </p:cNvPr>
          <p:cNvCxnSpPr>
            <a:cxnSpLocks noChangeShapeType="1"/>
          </p:cNvCxnSpPr>
          <p:nvPr/>
        </p:nvCxnSpPr>
        <p:spPr bwMode="auto">
          <a:xfrm rot="10800000">
            <a:off x="2801573" y="3161834"/>
            <a:ext cx="182210" cy="971701"/>
          </a:xfrm>
          <a:prstGeom prst="bentConnector3">
            <a:avLst>
              <a:gd name="adj1" fmla="val 50000"/>
            </a:avLst>
          </a:prstGeom>
          <a:noFill/>
          <a:ln w="9525" cap="rnd" cmpd="sng" algn="ctr">
            <a:solidFill>
              <a:srgbClr val="9A9A9A"/>
            </a:solidFill>
            <a:prstDash val="solid"/>
            <a:round/>
            <a:headEnd type="none" w="med" len="med"/>
            <a:tailEnd type="none" w="med" len="med"/>
          </a:ln>
        </p:spPr>
      </p:cxnSp>
      <p:cxnSp>
        <p:nvCxnSpPr>
          <p:cNvPr id="25" name="AutoShape 2">
            <a:extLst>
              <a:ext uri="{FF2B5EF4-FFF2-40B4-BE49-F238E27FC236}">
                <a16:creationId xmlns:a16="http://schemas.microsoft.com/office/drawing/2014/main" id="{A036D587-4251-4338-8B9E-DD746ECA682F}"/>
              </a:ext>
            </a:extLst>
          </p:cNvPr>
          <p:cNvCxnSpPr>
            <a:cxnSpLocks noChangeShapeType="1"/>
            <a:endCxn id="22" idx="1"/>
          </p:cNvCxnSpPr>
          <p:nvPr/>
        </p:nvCxnSpPr>
        <p:spPr bwMode="auto">
          <a:xfrm>
            <a:off x="2872300" y="4133534"/>
            <a:ext cx="99930" cy="0"/>
          </a:xfrm>
          <a:prstGeom prst="straightConnector1">
            <a:avLst/>
          </a:prstGeom>
          <a:noFill/>
          <a:ln w="9525" cap="rnd" cmpd="sng" algn="ctr">
            <a:solidFill>
              <a:srgbClr val="9A9A9A"/>
            </a:solidFill>
            <a:prstDash val="solid"/>
            <a:round/>
            <a:headEnd type="none" w="med" len="med"/>
            <a:tailEnd type="none" w="med" len="med"/>
          </a:ln>
        </p:spPr>
      </p:cxnSp>
      <p:sp>
        <p:nvSpPr>
          <p:cNvPr id="26" name="Rectangle: Rounded Corners 25">
            <a:extLst>
              <a:ext uri="{FF2B5EF4-FFF2-40B4-BE49-F238E27FC236}">
                <a16:creationId xmlns:a16="http://schemas.microsoft.com/office/drawing/2014/main" id="{FC77CBE3-9C32-471B-9CA3-CA90A1629A11}"/>
              </a:ext>
            </a:extLst>
          </p:cNvPr>
          <p:cNvSpPr/>
          <p:nvPr>
            <p:custDataLst>
              <p:tags r:id="rId14"/>
            </p:custDataLst>
          </p:nvPr>
        </p:nvSpPr>
        <p:spPr>
          <a:xfrm>
            <a:off x="4515079" y="2518586"/>
            <a:ext cx="2364766" cy="223643"/>
          </a:xfrm>
          <a:prstGeom prst="roundRect">
            <a:avLst>
              <a:gd name="adj" fmla="val 28621"/>
            </a:avLst>
          </a:prstGeom>
          <a:solidFill>
            <a:srgbClr val="FFFFFF"/>
          </a:solidFill>
          <a:ln w="9525" cap="rnd" cmpd="sng" algn="ctr">
            <a:solidFill>
              <a:schemeClr val="accent1"/>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lvl="0" algn="ctr">
              <a:defRPr/>
            </a:pPr>
            <a:r>
              <a:rPr lang="en-US" sz="1000" b="1" kern="0">
                <a:solidFill>
                  <a:schemeClr val="tx1"/>
                </a:solidFill>
              </a:rPr>
              <a:t>Analytical ML engine (“single brain”)</a:t>
            </a:r>
            <a:endParaRPr lang="ru-RU" sz="1000" b="1" kern="0">
              <a:solidFill>
                <a:schemeClr val="tx1"/>
              </a:solidFill>
            </a:endParaRPr>
          </a:p>
        </p:txBody>
      </p:sp>
      <p:sp>
        <p:nvSpPr>
          <p:cNvPr id="27" name="Rectangle: Rounded Corners 26">
            <a:extLst>
              <a:ext uri="{FF2B5EF4-FFF2-40B4-BE49-F238E27FC236}">
                <a16:creationId xmlns:a16="http://schemas.microsoft.com/office/drawing/2014/main" id="{81639A14-7AD8-46CC-BDDC-35C14F9CAE1E}"/>
              </a:ext>
            </a:extLst>
          </p:cNvPr>
          <p:cNvSpPr/>
          <p:nvPr>
            <p:custDataLst>
              <p:tags r:id="rId15"/>
            </p:custDataLst>
          </p:nvPr>
        </p:nvSpPr>
        <p:spPr>
          <a:xfrm>
            <a:off x="740489" y="4265707"/>
            <a:ext cx="2061085" cy="721538"/>
          </a:xfrm>
          <a:prstGeom prst="roundRect">
            <a:avLst>
              <a:gd name="adj" fmla="val 8555"/>
            </a:avLst>
          </a:prstGeom>
          <a:solidFill>
            <a:srgbClr val="FFFFFF"/>
          </a:solidFill>
          <a:ln w="9525" cap="rnd" cmpd="sng" algn="ctr">
            <a:solidFill>
              <a:srgbClr val="C8C8C8">
                <a:lumMod val="100000"/>
              </a:srgb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spAutoFit/>
          </a:bodyPr>
          <a:lstStyle/>
          <a:p>
            <a:r>
              <a:rPr lang="en-US" sz="1000" b="1">
                <a:solidFill>
                  <a:schemeClr val="tx1"/>
                </a:solidFill>
                <a:sym typeface="Trebuchet MS" panose="020B0603020202020204" pitchFamily="34" charset="0"/>
              </a:rPr>
              <a:t>External sources</a:t>
            </a:r>
          </a:p>
          <a:p>
            <a:pPr marL="324000" lvl="1" indent="-216000">
              <a:buClr>
                <a:schemeClr val="tx2"/>
              </a:buClr>
              <a:buFont typeface="Trebuchet MS" panose="020B0603020202020204" pitchFamily="34" charset="0"/>
              <a:buChar char="•"/>
            </a:pPr>
            <a:r>
              <a:rPr lang="en-US" sz="1000">
                <a:solidFill>
                  <a:schemeClr val="tx1"/>
                </a:solidFill>
                <a:sym typeface="Trebuchet MS" panose="020B0603020202020204" pitchFamily="34" charset="0"/>
              </a:rPr>
              <a:t>Governmental platforms</a:t>
            </a:r>
          </a:p>
          <a:p>
            <a:pPr marL="324000" lvl="1" indent="-216000">
              <a:buClr>
                <a:schemeClr val="tx2"/>
              </a:buClr>
              <a:buFont typeface="Trebuchet MS" panose="020B0603020202020204" pitchFamily="34" charset="0"/>
              <a:buChar char="•"/>
            </a:pPr>
            <a:r>
              <a:rPr lang="en-US" sz="1000">
                <a:solidFill>
                  <a:schemeClr val="tx1"/>
                </a:solidFill>
                <a:sym typeface="Trebuchet MS" panose="020B0603020202020204" pitchFamily="34" charset="0"/>
              </a:rPr>
              <a:t>Credit bureaus</a:t>
            </a:r>
          </a:p>
          <a:p>
            <a:pPr marL="324000" lvl="1" indent="-216000">
              <a:buClr>
                <a:schemeClr val="tx2"/>
              </a:buClr>
              <a:buFont typeface="Trebuchet MS" panose="020B0603020202020204" pitchFamily="34" charset="0"/>
              <a:buChar char="•"/>
            </a:pPr>
            <a:r>
              <a:rPr lang="en-US" sz="1000">
                <a:solidFill>
                  <a:schemeClr val="tx1"/>
                </a:solidFill>
                <a:sym typeface="Trebuchet MS" panose="020B0603020202020204" pitchFamily="34" charset="0"/>
              </a:rPr>
              <a:t>Social media, search engines</a:t>
            </a:r>
          </a:p>
        </p:txBody>
      </p:sp>
      <p:sp>
        <p:nvSpPr>
          <p:cNvPr id="28" name="Rectangle: Rounded Corners 27">
            <a:extLst>
              <a:ext uri="{FF2B5EF4-FFF2-40B4-BE49-F238E27FC236}">
                <a16:creationId xmlns:a16="http://schemas.microsoft.com/office/drawing/2014/main" id="{CAD1AF8E-A43B-4DCC-9A1C-C3754CF2F509}"/>
              </a:ext>
            </a:extLst>
          </p:cNvPr>
          <p:cNvSpPr/>
          <p:nvPr>
            <p:custDataLst>
              <p:tags r:id="rId16"/>
            </p:custDataLst>
          </p:nvPr>
        </p:nvSpPr>
        <p:spPr>
          <a:xfrm>
            <a:off x="740488" y="5081185"/>
            <a:ext cx="2061085" cy="413597"/>
          </a:xfrm>
          <a:prstGeom prst="roundRect">
            <a:avLst>
              <a:gd name="adj" fmla="val 14448"/>
            </a:avLst>
          </a:prstGeom>
          <a:solidFill>
            <a:srgbClr val="FFFFFF"/>
          </a:solidFill>
          <a:ln w="9525" cap="rnd" cmpd="sng" algn="ctr">
            <a:solidFill>
              <a:srgbClr val="C8C8C8">
                <a:lumMod val="100000"/>
              </a:srgb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spAutoFit/>
          </a:bodyPr>
          <a:lstStyle/>
          <a:p>
            <a:r>
              <a:rPr lang="en-US" sz="1000" b="1">
                <a:solidFill>
                  <a:schemeClr val="tx1"/>
                </a:solidFill>
                <a:sym typeface="Trebuchet MS" panose="020B0603020202020204" pitchFamily="34" charset="0"/>
              </a:rPr>
              <a:t>Inputs on product and pricing catalogue</a:t>
            </a:r>
          </a:p>
        </p:txBody>
      </p:sp>
      <p:sp>
        <p:nvSpPr>
          <p:cNvPr id="29" name="Rectangle: Rounded Corners 28">
            <a:extLst>
              <a:ext uri="{FF2B5EF4-FFF2-40B4-BE49-F238E27FC236}">
                <a16:creationId xmlns:a16="http://schemas.microsoft.com/office/drawing/2014/main" id="{9657F151-FF4A-4C18-A70C-6A90A43C23B1}"/>
              </a:ext>
            </a:extLst>
          </p:cNvPr>
          <p:cNvSpPr/>
          <p:nvPr>
            <p:custDataLst>
              <p:tags r:id="rId17"/>
            </p:custDataLst>
          </p:nvPr>
        </p:nvSpPr>
        <p:spPr>
          <a:xfrm>
            <a:off x="740488" y="5620227"/>
            <a:ext cx="2061085" cy="565376"/>
          </a:xfrm>
          <a:prstGeom prst="roundRect">
            <a:avLst>
              <a:gd name="adj" fmla="val 10733"/>
            </a:avLst>
          </a:prstGeom>
          <a:solidFill>
            <a:srgbClr val="FFFFFF"/>
          </a:solidFill>
          <a:ln w="9525" cap="rnd" cmpd="sng" algn="ctr">
            <a:solidFill>
              <a:srgbClr val="C8C8C8">
                <a:lumMod val="100000"/>
              </a:srgb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spAutoFit/>
          </a:bodyPr>
          <a:lstStyle/>
          <a:p>
            <a:r>
              <a:rPr lang="en-US" sz="1000" b="1">
                <a:solidFill>
                  <a:schemeClr val="tx1"/>
                </a:solidFill>
                <a:sym typeface="Trebuchet MS" panose="020B0603020202020204" pitchFamily="34" charset="0"/>
              </a:rPr>
              <a:t>Marketing and communication scenarios (including style, channel, visuals, etc.)</a:t>
            </a:r>
          </a:p>
        </p:txBody>
      </p:sp>
      <p:cxnSp>
        <p:nvCxnSpPr>
          <p:cNvPr id="30" name="AutoShape 2">
            <a:extLst>
              <a:ext uri="{FF2B5EF4-FFF2-40B4-BE49-F238E27FC236}">
                <a16:creationId xmlns:a16="http://schemas.microsoft.com/office/drawing/2014/main" id="{3BDF52F3-9AC5-49C9-9CFD-5725B2E9EA08}"/>
              </a:ext>
            </a:extLst>
          </p:cNvPr>
          <p:cNvCxnSpPr>
            <a:cxnSpLocks noChangeShapeType="1"/>
          </p:cNvCxnSpPr>
          <p:nvPr/>
        </p:nvCxnSpPr>
        <p:spPr bwMode="auto">
          <a:xfrm rot="10800000" flipV="1">
            <a:off x="2801574" y="4133534"/>
            <a:ext cx="182210" cy="492942"/>
          </a:xfrm>
          <a:prstGeom prst="bentConnector3">
            <a:avLst>
              <a:gd name="adj1" fmla="val 50000"/>
            </a:avLst>
          </a:prstGeom>
          <a:noFill/>
          <a:ln w="9525" cap="rnd" cmpd="sng" algn="ctr">
            <a:solidFill>
              <a:srgbClr val="9A9A9A"/>
            </a:solidFill>
            <a:prstDash val="solid"/>
            <a:round/>
            <a:headEnd type="none" w="med" len="med"/>
            <a:tailEnd type="none" w="med" len="med"/>
          </a:ln>
        </p:spPr>
      </p:cxnSp>
      <p:cxnSp>
        <p:nvCxnSpPr>
          <p:cNvPr id="31" name="AutoShape 2">
            <a:extLst>
              <a:ext uri="{FF2B5EF4-FFF2-40B4-BE49-F238E27FC236}">
                <a16:creationId xmlns:a16="http://schemas.microsoft.com/office/drawing/2014/main" id="{9BD975A8-E4F9-4E00-86F8-739572BDC7E1}"/>
              </a:ext>
            </a:extLst>
          </p:cNvPr>
          <p:cNvCxnSpPr>
            <a:cxnSpLocks noChangeShapeType="1"/>
          </p:cNvCxnSpPr>
          <p:nvPr/>
        </p:nvCxnSpPr>
        <p:spPr bwMode="auto">
          <a:xfrm rot="10800000">
            <a:off x="2801573" y="5310392"/>
            <a:ext cx="182210" cy="258316"/>
          </a:xfrm>
          <a:prstGeom prst="bentConnector3">
            <a:avLst>
              <a:gd name="adj1" fmla="val 50000"/>
            </a:avLst>
          </a:prstGeom>
          <a:noFill/>
          <a:ln w="9525" cap="rnd" cmpd="sng" algn="ctr">
            <a:solidFill>
              <a:srgbClr val="9A9A9A"/>
            </a:solidFill>
            <a:prstDash val="solid"/>
            <a:round/>
            <a:headEnd type="none" w="med" len="med"/>
            <a:tailEnd type="none" w="med" len="med"/>
          </a:ln>
        </p:spPr>
      </p:cxnSp>
      <p:cxnSp>
        <p:nvCxnSpPr>
          <p:cNvPr id="32" name="AutoShape 2">
            <a:extLst>
              <a:ext uri="{FF2B5EF4-FFF2-40B4-BE49-F238E27FC236}">
                <a16:creationId xmlns:a16="http://schemas.microsoft.com/office/drawing/2014/main" id="{9265014B-B2BB-4DC5-B5B9-A7B46D79F31B}"/>
              </a:ext>
            </a:extLst>
          </p:cNvPr>
          <p:cNvCxnSpPr>
            <a:cxnSpLocks noChangeShapeType="1"/>
          </p:cNvCxnSpPr>
          <p:nvPr/>
        </p:nvCxnSpPr>
        <p:spPr bwMode="auto">
          <a:xfrm rot="10800000" flipV="1">
            <a:off x="2801573" y="5568707"/>
            <a:ext cx="182210" cy="334207"/>
          </a:xfrm>
          <a:prstGeom prst="bentConnector3">
            <a:avLst>
              <a:gd name="adj1" fmla="val 50000"/>
            </a:avLst>
          </a:prstGeom>
          <a:noFill/>
          <a:ln w="9525" cap="rnd" cmpd="sng" algn="ctr">
            <a:solidFill>
              <a:srgbClr val="9A9A9A"/>
            </a:solidFill>
            <a:prstDash val="solid"/>
            <a:round/>
            <a:headEnd type="none" w="med" len="med"/>
            <a:tailEnd type="none" w="med" len="med"/>
          </a:ln>
        </p:spPr>
      </p:cxnSp>
      <p:sp>
        <p:nvSpPr>
          <p:cNvPr id="33" name="Rectangle 32">
            <a:extLst>
              <a:ext uri="{FF2B5EF4-FFF2-40B4-BE49-F238E27FC236}">
                <a16:creationId xmlns:a16="http://schemas.microsoft.com/office/drawing/2014/main" id="{9C540CEF-D403-4D97-945C-4C7D8FA889BE}"/>
              </a:ext>
            </a:extLst>
          </p:cNvPr>
          <p:cNvSpPr/>
          <p:nvPr/>
        </p:nvSpPr>
        <p:spPr>
          <a:xfrm>
            <a:off x="2972230" y="2518586"/>
            <a:ext cx="1146317" cy="449762"/>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chemeClr val="bg1">
                    <a:lumMod val="85000"/>
                  </a:schemeClr>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lvl="0" algn="r">
              <a:defRPr/>
            </a:pPr>
            <a:r>
              <a:rPr lang="en-US" sz="800" kern="0">
                <a:solidFill>
                  <a:srgbClr val="7F7F7F"/>
                </a:solidFill>
              </a:rPr>
              <a:t>Dashboards</a:t>
            </a:r>
            <a:br>
              <a:rPr lang="en-US" sz="800" kern="0">
                <a:solidFill>
                  <a:srgbClr val="7F7F7F"/>
                </a:solidFill>
              </a:rPr>
            </a:br>
            <a:r>
              <a:rPr lang="en-US" sz="800" kern="0">
                <a:solidFill>
                  <a:srgbClr val="7F7F7F"/>
                </a:solidFill>
              </a:rPr>
              <a:t>and reporting</a:t>
            </a:r>
            <a:endParaRPr lang="ru" sz="800" kern="0">
              <a:solidFill>
                <a:srgbClr val="7F7F7F"/>
              </a:solidFill>
            </a:endParaRPr>
          </a:p>
        </p:txBody>
      </p:sp>
      <p:cxnSp>
        <p:nvCxnSpPr>
          <p:cNvPr id="34" name="AutoShape 2">
            <a:extLst>
              <a:ext uri="{FF2B5EF4-FFF2-40B4-BE49-F238E27FC236}">
                <a16:creationId xmlns:a16="http://schemas.microsoft.com/office/drawing/2014/main" id="{010B702A-B836-4DD1-9AC6-E8F862F92BF5}"/>
              </a:ext>
            </a:extLst>
          </p:cNvPr>
          <p:cNvCxnSpPr>
            <a:cxnSpLocks noChangeShapeType="1"/>
            <a:stCxn id="155" idx="1"/>
            <a:endCxn id="22" idx="3"/>
          </p:cNvCxnSpPr>
          <p:nvPr/>
        </p:nvCxnSpPr>
        <p:spPr bwMode="auto">
          <a:xfrm rot="10800000">
            <a:off x="3924457" y="4133534"/>
            <a:ext cx="590623" cy="1106020"/>
          </a:xfrm>
          <a:prstGeom prst="bentConnector3">
            <a:avLst>
              <a:gd name="adj1" fmla="val 50000"/>
            </a:avLst>
          </a:prstGeom>
          <a:noFill/>
          <a:ln w="9525" cap="rnd" cmpd="sng" algn="ctr">
            <a:solidFill>
              <a:srgbClr val="9A9A9A"/>
            </a:solidFill>
            <a:prstDash val="solid"/>
            <a:round/>
            <a:headEnd type="none" w="med" len="med"/>
            <a:tailEnd type="none" w="med" len="med"/>
          </a:ln>
        </p:spPr>
      </p:cxnSp>
      <p:cxnSp>
        <p:nvCxnSpPr>
          <p:cNvPr id="35" name="AutoShape 2">
            <a:extLst>
              <a:ext uri="{FF2B5EF4-FFF2-40B4-BE49-F238E27FC236}">
                <a16:creationId xmlns:a16="http://schemas.microsoft.com/office/drawing/2014/main" id="{E1E9EEE1-2027-44D3-A400-11B03DB66FEA}"/>
              </a:ext>
            </a:extLst>
          </p:cNvPr>
          <p:cNvCxnSpPr>
            <a:cxnSpLocks noChangeShapeType="1"/>
            <a:stCxn id="19" idx="1"/>
            <a:endCxn id="164" idx="3"/>
          </p:cNvCxnSpPr>
          <p:nvPr/>
        </p:nvCxnSpPr>
        <p:spPr bwMode="auto">
          <a:xfrm rot="10800000" flipV="1">
            <a:off x="3953661" y="3538171"/>
            <a:ext cx="561418" cy="1857100"/>
          </a:xfrm>
          <a:prstGeom prst="bentConnector3">
            <a:avLst>
              <a:gd name="adj1" fmla="val 50000"/>
            </a:avLst>
          </a:prstGeom>
          <a:noFill/>
          <a:ln w="9525" cap="rnd" cmpd="sng" algn="ctr">
            <a:solidFill>
              <a:srgbClr val="9A9A9A"/>
            </a:solidFill>
            <a:prstDash val="solid"/>
            <a:round/>
            <a:headEnd type="none" w="med" len="med"/>
            <a:tailEnd type="none" w="med" len="med"/>
          </a:ln>
        </p:spPr>
      </p:cxnSp>
      <p:cxnSp>
        <p:nvCxnSpPr>
          <p:cNvPr id="36" name="AutoShape 2">
            <a:extLst>
              <a:ext uri="{FF2B5EF4-FFF2-40B4-BE49-F238E27FC236}">
                <a16:creationId xmlns:a16="http://schemas.microsoft.com/office/drawing/2014/main" id="{3A2B35EE-E8DE-4F67-923F-B1C94FAF6106}"/>
              </a:ext>
            </a:extLst>
          </p:cNvPr>
          <p:cNvCxnSpPr>
            <a:cxnSpLocks noChangeShapeType="1"/>
            <a:stCxn id="156" idx="1"/>
            <a:endCxn id="164" idx="3"/>
          </p:cNvCxnSpPr>
          <p:nvPr/>
        </p:nvCxnSpPr>
        <p:spPr bwMode="auto">
          <a:xfrm flipH="1" flipV="1">
            <a:off x="3953661" y="5395271"/>
            <a:ext cx="561418" cy="14043"/>
          </a:xfrm>
          <a:prstGeom prst="straightConnector1">
            <a:avLst/>
          </a:prstGeom>
          <a:noFill/>
          <a:ln w="9525" cap="rnd" cmpd="sng" algn="ctr">
            <a:solidFill>
              <a:srgbClr val="9A9A9A"/>
            </a:solidFill>
            <a:prstDash val="solid"/>
            <a:round/>
            <a:headEnd type="none" w="med" len="med"/>
            <a:tailEnd type="none" w="med" len="med"/>
          </a:ln>
        </p:spPr>
      </p:cxnSp>
      <p:grpSp>
        <p:nvGrpSpPr>
          <p:cNvPr id="37" name="Group 36">
            <a:extLst>
              <a:ext uri="{FF2B5EF4-FFF2-40B4-BE49-F238E27FC236}">
                <a16:creationId xmlns:a16="http://schemas.microsoft.com/office/drawing/2014/main" id="{39676573-9B37-4A9E-A362-4917A84983BD}"/>
              </a:ext>
            </a:extLst>
          </p:cNvPr>
          <p:cNvGrpSpPr>
            <a:grpSpLocks/>
          </p:cNvGrpSpPr>
          <p:nvPr/>
        </p:nvGrpSpPr>
        <p:grpSpPr>
          <a:xfrm>
            <a:off x="3644159" y="2903771"/>
            <a:ext cx="540000" cy="540000"/>
            <a:chOff x="5273675" y="2606675"/>
            <a:chExt cx="1644650" cy="1644650"/>
          </a:xfrm>
        </p:grpSpPr>
        <p:sp>
          <p:nvSpPr>
            <p:cNvPr id="38" name="AutoShape 3">
              <a:extLst>
                <a:ext uri="{FF2B5EF4-FFF2-40B4-BE49-F238E27FC236}">
                  <a16:creationId xmlns:a16="http://schemas.microsoft.com/office/drawing/2014/main" id="{8A30631F-DC44-4586-B7E3-DFA3691E526C}"/>
                </a:ext>
              </a:extLst>
            </p:cNvPr>
            <p:cNvSpPr>
              <a:spLocks noChangeAspect="1" noChangeArrowheads="1" noTextEdit="1"/>
            </p:cNvSpPr>
            <p:nvPr/>
          </p:nvSpPr>
          <p:spPr bwMode="auto">
            <a:xfrm>
              <a:off x="5273675" y="2606675"/>
              <a:ext cx="1644650"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39" name="Group 38">
              <a:extLst>
                <a:ext uri="{FF2B5EF4-FFF2-40B4-BE49-F238E27FC236}">
                  <a16:creationId xmlns:a16="http://schemas.microsoft.com/office/drawing/2014/main" id="{3690BD3B-5712-4331-A7D5-B619A825FF37}"/>
                </a:ext>
              </a:extLst>
            </p:cNvPr>
            <p:cNvGrpSpPr/>
            <p:nvPr/>
          </p:nvGrpSpPr>
          <p:grpSpPr>
            <a:xfrm>
              <a:off x="5445124" y="2962275"/>
              <a:ext cx="1363857" cy="1236663"/>
              <a:chOff x="5445124" y="2962275"/>
              <a:chExt cx="1363857" cy="1236663"/>
            </a:xfrm>
          </p:grpSpPr>
          <p:sp>
            <p:nvSpPr>
              <p:cNvPr id="40" name="Freeform 15">
                <a:extLst>
                  <a:ext uri="{FF2B5EF4-FFF2-40B4-BE49-F238E27FC236}">
                    <a16:creationId xmlns:a16="http://schemas.microsoft.com/office/drawing/2014/main" id="{0D0AA630-CAD4-48D4-8BB5-4A8DA3131AB8}"/>
                  </a:ext>
                </a:extLst>
              </p:cNvPr>
              <p:cNvSpPr>
                <a:spLocks/>
              </p:cNvSpPr>
              <p:nvPr/>
            </p:nvSpPr>
            <p:spPr bwMode="auto">
              <a:xfrm>
                <a:off x="5508625" y="3025775"/>
                <a:ext cx="1176338" cy="806451"/>
              </a:xfrm>
              <a:custGeom>
                <a:avLst/>
                <a:gdLst>
                  <a:gd name="connsiteX0" fmla="*/ 14945 w 1176338"/>
                  <a:gd name="connsiteY0" fmla="*/ 684213 h 806451"/>
                  <a:gd name="connsiteX1" fmla="*/ 252632 w 1176338"/>
                  <a:gd name="connsiteY1" fmla="*/ 684213 h 806451"/>
                  <a:gd name="connsiteX2" fmla="*/ 268288 w 1176338"/>
                  <a:gd name="connsiteY2" fmla="*/ 699940 h 806451"/>
                  <a:gd name="connsiteX3" fmla="*/ 268288 w 1176338"/>
                  <a:gd name="connsiteY3" fmla="*/ 790725 h 806451"/>
                  <a:gd name="connsiteX4" fmla="*/ 252632 w 1176338"/>
                  <a:gd name="connsiteY4" fmla="*/ 806451 h 806451"/>
                  <a:gd name="connsiteX5" fmla="*/ 14945 w 1176338"/>
                  <a:gd name="connsiteY5" fmla="*/ 806451 h 806451"/>
                  <a:gd name="connsiteX6" fmla="*/ 0 w 1176338"/>
                  <a:gd name="connsiteY6" fmla="*/ 790725 h 806451"/>
                  <a:gd name="connsiteX7" fmla="*/ 0 w 1176338"/>
                  <a:gd name="connsiteY7" fmla="*/ 699940 h 806451"/>
                  <a:gd name="connsiteX8" fmla="*/ 14945 w 1176338"/>
                  <a:gd name="connsiteY8" fmla="*/ 684213 h 806451"/>
                  <a:gd name="connsiteX9" fmla="*/ 318056 w 1176338"/>
                  <a:gd name="connsiteY9" fmla="*/ 460375 h 806451"/>
                  <a:gd name="connsiteX10" fmla="*/ 368776 w 1176338"/>
                  <a:gd name="connsiteY10" fmla="*/ 460375 h 806451"/>
                  <a:gd name="connsiteX11" fmla="*/ 450930 w 1176338"/>
                  <a:gd name="connsiteY11" fmla="*/ 785043 h 806451"/>
                  <a:gd name="connsiteX12" fmla="*/ 473075 w 1176338"/>
                  <a:gd name="connsiteY12" fmla="*/ 806450 h 806451"/>
                  <a:gd name="connsiteX13" fmla="*/ 318056 w 1176338"/>
                  <a:gd name="connsiteY13" fmla="*/ 806450 h 806451"/>
                  <a:gd name="connsiteX14" fmla="*/ 301625 w 1176338"/>
                  <a:gd name="connsiteY14" fmla="*/ 790752 h 806451"/>
                  <a:gd name="connsiteX15" fmla="*/ 301625 w 1176338"/>
                  <a:gd name="connsiteY15" fmla="*/ 476073 h 806451"/>
                  <a:gd name="connsiteX16" fmla="*/ 318056 w 1176338"/>
                  <a:gd name="connsiteY16" fmla="*/ 460375 h 806451"/>
                  <a:gd name="connsiteX17" fmla="*/ 544513 w 1176338"/>
                  <a:gd name="connsiteY17" fmla="*/ 368300 h 806451"/>
                  <a:gd name="connsiteX18" fmla="*/ 544513 w 1176338"/>
                  <a:gd name="connsiteY18" fmla="*/ 461721 h 806451"/>
                  <a:gd name="connsiteX19" fmla="*/ 544513 w 1176338"/>
                  <a:gd name="connsiteY19" fmla="*/ 733425 h 806451"/>
                  <a:gd name="connsiteX20" fmla="*/ 524052 w 1176338"/>
                  <a:gd name="connsiteY20" fmla="*/ 714171 h 806451"/>
                  <a:gd name="connsiteX21" fmla="*/ 476780 w 1176338"/>
                  <a:gd name="connsiteY21" fmla="*/ 461721 h 806451"/>
                  <a:gd name="connsiteX22" fmla="*/ 530402 w 1176338"/>
                  <a:gd name="connsiteY22" fmla="*/ 381136 h 806451"/>
                  <a:gd name="connsiteX23" fmla="*/ 544513 w 1176338"/>
                  <a:gd name="connsiteY23" fmla="*/ 368300 h 806451"/>
                  <a:gd name="connsiteX24" fmla="*/ 693338 w 1176338"/>
                  <a:gd name="connsiteY24" fmla="*/ 312738 h 806451"/>
                  <a:gd name="connsiteX25" fmla="*/ 862099 w 1176338"/>
                  <a:gd name="connsiteY25" fmla="*/ 385739 h 806451"/>
                  <a:gd name="connsiteX26" fmla="*/ 872825 w 1176338"/>
                  <a:gd name="connsiteY26" fmla="*/ 398621 h 806451"/>
                  <a:gd name="connsiteX27" fmla="*/ 907150 w 1176338"/>
                  <a:gd name="connsiteY27" fmla="*/ 452299 h 806451"/>
                  <a:gd name="connsiteX28" fmla="*/ 907150 w 1176338"/>
                  <a:gd name="connsiteY28" fmla="*/ 647684 h 806451"/>
                  <a:gd name="connsiteX29" fmla="*/ 875686 w 1176338"/>
                  <a:gd name="connsiteY29" fmla="*/ 698498 h 806451"/>
                  <a:gd name="connsiteX30" fmla="*/ 872825 w 1176338"/>
                  <a:gd name="connsiteY30" fmla="*/ 701361 h 806451"/>
                  <a:gd name="connsiteX31" fmla="*/ 856378 w 1176338"/>
                  <a:gd name="connsiteY31" fmla="*/ 719969 h 806451"/>
                  <a:gd name="connsiteX32" fmla="*/ 837786 w 1176338"/>
                  <a:gd name="connsiteY32" fmla="*/ 736430 h 806451"/>
                  <a:gd name="connsiteX33" fmla="*/ 836356 w 1176338"/>
                  <a:gd name="connsiteY33" fmla="*/ 737146 h 806451"/>
                  <a:gd name="connsiteX34" fmla="*/ 693338 w 1176338"/>
                  <a:gd name="connsiteY34" fmla="*/ 785813 h 806451"/>
                  <a:gd name="connsiteX35" fmla="*/ 617538 w 1176338"/>
                  <a:gd name="connsiteY35" fmla="*/ 773646 h 806451"/>
                  <a:gd name="connsiteX36" fmla="*/ 617538 w 1176338"/>
                  <a:gd name="connsiteY36" fmla="*/ 324905 h 806451"/>
                  <a:gd name="connsiteX37" fmla="*/ 693338 w 1176338"/>
                  <a:gd name="connsiteY37" fmla="*/ 312738 h 806451"/>
                  <a:gd name="connsiteX38" fmla="*/ 922170 w 1176338"/>
                  <a:gd name="connsiteY38" fmla="*/ 0 h 806451"/>
                  <a:gd name="connsiteX39" fmla="*/ 1160631 w 1176338"/>
                  <a:gd name="connsiteY39" fmla="*/ 0 h 806451"/>
                  <a:gd name="connsiteX40" fmla="*/ 1176338 w 1176338"/>
                  <a:gd name="connsiteY40" fmla="*/ 15701 h 806451"/>
                  <a:gd name="connsiteX41" fmla="*/ 1176338 w 1176338"/>
                  <a:gd name="connsiteY41" fmla="*/ 790749 h 806451"/>
                  <a:gd name="connsiteX42" fmla="*/ 1160631 w 1176338"/>
                  <a:gd name="connsiteY42" fmla="*/ 806450 h 806451"/>
                  <a:gd name="connsiteX43" fmla="*/ 1094233 w 1176338"/>
                  <a:gd name="connsiteY43" fmla="*/ 806450 h 806451"/>
                  <a:gd name="connsiteX44" fmla="*/ 1092092 w 1176338"/>
                  <a:gd name="connsiteY44" fmla="*/ 804309 h 806451"/>
                  <a:gd name="connsiteX45" fmla="*/ 1063533 w 1176338"/>
                  <a:gd name="connsiteY45" fmla="*/ 790749 h 806451"/>
                  <a:gd name="connsiteX46" fmla="*/ 1060678 w 1176338"/>
                  <a:gd name="connsiteY46" fmla="*/ 790036 h 806451"/>
                  <a:gd name="connsiteX47" fmla="*/ 1058536 w 1176338"/>
                  <a:gd name="connsiteY47" fmla="*/ 790036 h 806451"/>
                  <a:gd name="connsiteX48" fmla="*/ 1042829 w 1176338"/>
                  <a:gd name="connsiteY48" fmla="*/ 792890 h 806451"/>
                  <a:gd name="connsiteX49" fmla="*/ 1034975 w 1176338"/>
                  <a:gd name="connsiteY49" fmla="*/ 782185 h 806451"/>
                  <a:gd name="connsiteX50" fmla="*/ 980715 w 1176338"/>
                  <a:gd name="connsiteY50" fmla="*/ 725805 h 806451"/>
                  <a:gd name="connsiteX51" fmla="*/ 935021 w 1176338"/>
                  <a:gd name="connsiteY51" fmla="*/ 316870 h 806451"/>
                  <a:gd name="connsiteX52" fmla="*/ 906463 w 1176338"/>
                  <a:gd name="connsiteY52" fmla="*/ 289751 h 806451"/>
                  <a:gd name="connsiteX53" fmla="*/ 906463 w 1176338"/>
                  <a:gd name="connsiteY53" fmla="*/ 15701 h 806451"/>
                  <a:gd name="connsiteX54" fmla="*/ 922170 w 1176338"/>
                  <a:gd name="connsiteY54" fmla="*/ 0 h 806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176338" h="806451">
                    <a:moveTo>
                      <a:pt x="14945" y="684213"/>
                    </a:moveTo>
                    <a:cubicBezTo>
                      <a:pt x="14945" y="684213"/>
                      <a:pt x="14945" y="684213"/>
                      <a:pt x="252632" y="684213"/>
                    </a:cubicBezTo>
                    <a:cubicBezTo>
                      <a:pt x="261172" y="684213"/>
                      <a:pt x="268288" y="691362"/>
                      <a:pt x="268288" y="699940"/>
                    </a:cubicBezTo>
                    <a:cubicBezTo>
                      <a:pt x="268288" y="699940"/>
                      <a:pt x="268288" y="699940"/>
                      <a:pt x="268288" y="790725"/>
                    </a:cubicBezTo>
                    <a:cubicBezTo>
                      <a:pt x="268288" y="800018"/>
                      <a:pt x="261172" y="806451"/>
                      <a:pt x="252632" y="806451"/>
                    </a:cubicBezTo>
                    <a:cubicBezTo>
                      <a:pt x="252632" y="806451"/>
                      <a:pt x="252632" y="806451"/>
                      <a:pt x="14945" y="806451"/>
                    </a:cubicBezTo>
                    <a:cubicBezTo>
                      <a:pt x="7117" y="806451"/>
                      <a:pt x="0" y="800018"/>
                      <a:pt x="0" y="790725"/>
                    </a:cubicBezTo>
                    <a:cubicBezTo>
                      <a:pt x="0" y="790725"/>
                      <a:pt x="0" y="790725"/>
                      <a:pt x="0" y="699940"/>
                    </a:cubicBezTo>
                    <a:cubicBezTo>
                      <a:pt x="0" y="691362"/>
                      <a:pt x="7117" y="684213"/>
                      <a:pt x="14945" y="684213"/>
                    </a:cubicBezTo>
                    <a:close/>
                    <a:moveTo>
                      <a:pt x="318056" y="460375"/>
                    </a:moveTo>
                    <a:cubicBezTo>
                      <a:pt x="318056" y="460375"/>
                      <a:pt x="318056" y="460375"/>
                      <a:pt x="368776" y="460375"/>
                    </a:cubicBezTo>
                    <a:cubicBezTo>
                      <a:pt x="338773" y="571690"/>
                      <a:pt x="365919" y="696562"/>
                      <a:pt x="450930" y="785043"/>
                    </a:cubicBezTo>
                    <a:cubicBezTo>
                      <a:pt x="458073" y="792893"/>
                      <a:pt x="465217" y="800028"/>
                      <a:pt x="473075" y="806450"/>
                    </a:cubicBezTo>
                    <a:cubicBezTo>
                      <a:pt x="473075" y="806450"/>
                      <a:pt x="473075" y="806450"/>
                      <a:pt x="318056" y="806450"/>
                    </a:cubicBezTo>
                    <a:cubicBezTo>
                      <a:pt x="308055" y="806450"/>
                      <a:pt x="301625" y="800028"/>
                      <a:pt x="301625" y="790752"/>
                    </a:cubicBezTo>
                    <a:cubicBezTo>
                      <a:pt x="301625" y="790752"/>
                      <a:pt x="301625" y="790752"/>
                      <a:pt x="301625" y="476073"/>
                    </a:cubicBezTo>
                    <a:cubicBezTo>
                      <a:pt x="301625" y="467510"/>
                      <a:pt x="308055" y="460375"/>
                      <a:pt x="318056" y="460375"/>
                    </a:cubicBezTo>
                    <a:close/>
                    <a:moveTo>
                      <a:pt x="544513" y="368300"/>
                    </a:moveTo>
                    <a:cubicBezTo>
                      <a:pt x="544513" y="368300"/>
                      <a:pt x="544513" y="368300"/>
                      <a:pt x="544513" y="461721"/>
                    </a:cubicBezTo>
                    <a:cubicBezTo>
                      <a:pt x="544513" y="461721"/>
                      <a:pt x="544513" y="461721"/>
                      <a:pt x="544513" y="733425"/>
                    </a:cubicBezTo>
                    <a:cubicBezTo>
                      <a:pt x="537458" y="727007"/>
                      <a:pt x="530402" y="721302"/>
                      <a:pt x="524052" y="714171"/>
                    </a:cubicBezTo>
                    <a:cubicBezTo>
                      <a:pt x="458435" y="644996"/>
                      <a:pt x="442913" y="545157"/>
                      <a:pt x="476780" y="461721"/>
                    </a:cubicBezTo>
                    <a:cubicBezTo>
                      <a:pt x="488069" y="432482"/>
                      <a:pt x="506413" y="404670"/>
                      <a:pt x="530402" y="381136"/>
                    </a:cubicBezTo>
                    <a:cubicBezTo>
                      <a:pt x="534635" y="376857"/>
                      <a:pt x="539574" y="372579"/>
                      <a:pt x="544513" y="368300"/>
                    </a:cubicBezTo>
                    <a:close/>
                    <a:moveTo>
                      <a:pt x="693338" y="312738"/>
                    </a:moveTo>
                    <a:cubicBezTo>
                      <a:pt x="757696" y="312738"/>
                      <a:pt x="818479" y="338503"/>
                      <a:pt x="862099" y="385739"/>
                    </a:cubicBezTo>
                    <a:cubicBezTo>
                      <a:pt x="866390" y="390033"/>
                      <a:pt x="869965" y="394327"/>
                      <a:pt x="872825" y="398621"/>
                    </a:cubicBezTo>
                    <a:cubicBezTo>
                      <a:pt x="887127" y="415082"/>
                      <a:pt x="897854" y="432975"/>
                      <a:pt x="907150" y="452299"/>
                    </a:cubicBezTo>
                    <a:cubicBezTo>
                      <a:pt x="935038" y="513848"/>
                      <a:pt x="935038" y="585418"/>
                      <a:pt x="907150" y="647684"/>
                    </a:cubicBezTo>
                    <a:cubicBezTo>
                      <a:pt x="898569" y="665576"/>
                      <a:pt x="888557" y="682753"/>
                      <a:pt x="875686" y="698498"/>
                    </a:cubicBezTo>
                    <a:cubicBezTo>
                      <a:pt x="874971" y="699214"/>
                      <a:pt x="874256" y="700645"/>
                      <a:pt x="872825" y="701361"/>
                    </a:cubicBezTo>
                    <a:cubicBezTo>
                      <a:pt x="867820" y="707802"/>
                      <a:pt x="862099" y="714244"/>
                      <a:pt x="856378" y="719969"/>
                    </a:cubicBezTo>
                    <a:cubicBezTo>
                      <a:pt x="849227" y="727126"/>
                      <a:pt x="842792" y="732136"/>
                      <a:pt x="837786" y="736430"/>
                    </a:cubicBezTo>
                    <a:cubicBezTo>
                      <a:pt x="837786" y="736430"/>
                      <a:pt x="837786" y="736430"/>
                      <a:pt x="836356" y="737146"/>
                    </a:cubicBezTo>
                    <a:cubicBezTo>
                      <a:pt x="795596" y="768636"/>
                      <a:pt x="744824" y="785813"/>
                      <a:pt x="693338" y="785813"/>
                    </a:cubicBezTo>
                    <a:cubicBezTo>
                      <a:pt x="666879" y="785813"/>
                      <a:pt x="641851" y="781519"/>
                      <a:pt x="617538" y="773646"/>
                    </a:cubicBezTo>
                    <a:cubicBezTo>
                      <a:pt x="617538" y="773646"/>
                      <a:pt x="617538" y="773646"/>
                      <a:pt x="617538" y="324905"/>
                    </a:cubicBezTo>
                    <a:cubicBezTo>
                      <a:pt x="641851" y="317032"/>
                      <a:pt x="666879" y="312738"/>
                      <a:pt x="693338" y="312738"/>
                    </a:cubicBezTo>
                    <a:close/>
                    <a:moveTo>
                      <a:pt x="922170" y="0"/>
                    </a:moveTo>
                    <a:cubicBezTo>
                      <a:pt x="922170" y="0"/>
                      <a:pt x="922170" y="0"/>
                      <a:pt x="1160631" y="0"/>
                    </a:cubicBezTo>
                    <a:cubicBezTo>
                      <a:pt x="1169199" y="0"/>
                      <a:pt x="1176338" y="6423"/>
                      <a:pt x="1176338" y="15701"/>
                    </a:cubicBezTo>
                    <a:cubicBezTo>
                      <a:pt x="1176338" y="15701"/>
                      <a:pt x="1176338" y="15701"/>
                      <a:pt x="1176338" y="790749"/>
                    </a:cubicBezTo>
                    <a:cubicBezTo>
                      <a:pt x="1176338" y="800027"/>
                      <a:pt x="1169199" y="806450"/>
                      <a:pt x="1160631" y="806450"/>
                    </a:cubicBezTo>
                    <a:cubicBezTo>
                      <a:pt x="1160631" y="806450"/>
                      <a:pt x="1160631" y="806450"/>
                      <a:pt x="1094233" y="806450"/>
                    </a:cubicBezTo>
                    <a:cubicBezTo>
                      <a:pt x="1094233" y="806450"/>
                      <a:pt x="1094233" y="806450"/>
                      <a:pt x="1092092" y="804309"/>
                    </a:cubicBezTo>
                    <a:cubicBezTo>
                      <a:pt x="1084238" y="797172"/>
                      <a:pt x="1074243" y="792177"/>
                      <a:pt x="1063533" y="790749"/>
                    </a:cubicBezTo>
                    <a:cubicBezTo>
                      <a:pt x="1063533" y="790749"/>
                      <a:pt x="1063533" y="790749"/>
                      <a:pt x="1060678" y="790036"/>
                    </a:cubicBezTo>
                    <a:cubicBezTo>
                      <a:pt x="1060678" y="790036"/>
                      <a:pt x="1060678" y="790036"/>
                      <a:pt x="1058536" y="790036"/>
                    </a:cubicBezTo>
                    <a:cubicBezTo>
                      <a:pt x="1052824" y="790036"/>
                      <a:pt x="1047826" y="790749"/>
                      <a:pt x="1042829" y="792890"/>
                    </a:cubicBezTo>
                    <a:cubicBezTo>
                      <a:pt x="1040687" y="789322"/>
                      <a:pt x="1037831" y="785754"/>
                      <a:pt x="1034975" y="782185"/>
                    </a:cubicBezTo>
                    <a:cubicBezTo>
                      <a:pt x="1034975" y="782185"/>
                      <a:pt x="1034975" y="782185"/>
                      <a:pt x="980715" y="725805"/>
                    </a:cubicBezTo>
                    <a:cubicBezTo>
                      <a:pt x="1059250" y="595916"/>
                      <a:pt x="1041401" y="427490"/>
                      <a:pt x="935021" y="316870"/>
                    </a:cubicBezTo>
                    <a:cubicBezTo>
                      <a:pt x="925740" y="306879"/>
                      <a:pt x="916459" y="298315"/>
                      <a:pt x="906463" y="289751"/>
                    </a:cubicBezTo>
                    <a:cubicBezTo>
                      <a:pt x="906463" y="289751"/>
                      <a:pt x="906463" y="289751"/>
                      <a:pt x="906463" y="15701"/>
                    </a:cubicBezTo>
                    <a:cubicBezTo>
                      <a:pt x="906463" y="6423"/>
                      <a:pt x="912889" y="0"/>
                      <a:pt x="922170"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p>
            </p:txBody>
          </p:sp>
          <p:sp>
            <p:nvSpPr>
              <p:cNvPr id="41" name="Freeform 16">
                <a:extLst>
                  <a:ext uri="{FF2B5EF4-FFF2-40B4-BE49-F238E27FC236}">
                    <a16:creationId xmlns:a16="http://schemas.microsoft.com/office/drawing/2014/main" id="{5631D682-C558-4462-8FF0-874FFEDB5E0B}"/>
                  </a:ext>
                </a:extLst>
              </p:cNvPr>
              <p:cNvSpPr>
                <a:spLocks/>
              </p:cNvSpPr>
              <p:nvPr/>
            </p:nvSpPr>
            <p:spPr bwMode="auto">
              <a:xfrm>
                <a:off x="5445124" y="2962275"/>
                <a:ext cx="1363857" cy="1236663"/>
              </a:xfrm>
              <a:custGeom>
                <a:avLst/>
                <a:gdLst>
                  <a:gd name="connsiteX0" fmla="*/ 1122942 w 1363857"/>
                  <a:gd name="connsiteY0" fmla="*/ 922338 h 1236663"/>
                  <a:gd name="connsiteX1" fmla="*/ 1112236 w 1363857"/>
                  <a:gd name="connsiteY1" fmla="*/ 931620 h 1236663"/>
                  <a:gd name="connsiteX2" fmla="*/ 1057276 w 1363857"/>
                  <a:gd name="connsiteY2" fmla="*/ 985168 h 1236663"/>
                  <a:gd name="connsiteX3" fmla="*/ 1267122 w 1363857"/>
                  <a:gd name="connsiteY3" fmla="*/ 1204359 h 1236663"/>
                  <a:gd name="connsiteX4" fmla="*/ 1279256 w 1363857"/>
                  <a:gd name="connsiteY4" fmla="*/ 1204359 h 1236663"/>
                  <a:gd name="connsiteX5" fmla="*/ 1309947 w 1363857"/>
                  <a:gd name="connsiteY5" fmla="*/ 1184368 h 1236663"/>
                  <a:gd name="connsiteX6" fmla="*/ 1330646 w 1363857"/>
                  <a:gd name="connsiteY6" fmla="*/ 1154381 h 1236663"/>
                  <a:gd name="connsiteX7" fmla="*/ 1332074 w 1363857"/>
                  <a:gd name="connsiteY7" fmla="*/ 1141529 h 1236663"/>
                  <a:gd name="connsiteX8" fmla="*/ 1131507 w 1363857"/>
                  <a:gd name="connsiteY8" fmla="*/ 931620 h 1236663"/>
                  <a:gd name="connsiteX9" fmla="*/ 1122942 w 1363857"/>
                  <a:gd name="connsiteY9" fmla="*/ 922338 h 1236663"/>
                  <a:gd name="connsiteX10" fmla="*/ 924966 w 1363857"/>
                  <a:gd name="connsiteY10" fmla="*/ 906463 h 1236663"/>
                  <a:gd name="connsiteX11" fmla="*/ 949326 w 1363857"/>
                  <a:gd name="connsiteY11" fmla="*/ 930276 h 1236663"/>
                  <a:gd name="connsiteX12" fmla="*/ 868363 w 1363857"/>
                  <a:gd name="connsiteY12" fmla="*/ 930276 h 1236663"/>
                  <a:gd name="connsiteX13" fmla="*/ 924966 w 1363857"/>
                  <a:gd name="connsiteY13" fmla="*/ 906463 h 1236663"/>
                  <a:gd name="connsiteX14" fmla="*/ 1124399 w 1363857"/>
                  <a:gd name="connsiteY14" fmla="*/ 884238 h 1236663"/>
                  <a:gd name="connsiteX15" fmla="*/ 1134353 w 1363857"/>
                  <a:gd name="connsiteY15" fmla="*/ 889232 h 1236663"/>
                  <a:gd name="connsiteX16" fmla="*/ 1145017 w 1363857"/>
                  <a:gd name="connsiteY16" fmla="*/ 900647 h 1236663"/>
                  <a:gd name="connsiteX17" fmla="*/ 1174878 w 1363857"/>
                  <a:gd name="connsiteY17" fmla="*/ 932037 h 1236663"/>
                  <a:gd name="connsiteX18" fmla="*/ 1354042 w 1363857"/>
                  <a:gd name="connsiteY18" fmla="*/ 1120377 h 1236663"/>
                  <a:gd name="connsiteX19" fmla="*/ 1360441 w 1363857"/>
                  <a:gd name="connsiteY19" fmla="*/ 1164609 h 1236663"/>
                  <a:gd name="connsiteX20" fmla="*/ 1332002 w 1363857"/>
                  <a:gd name="connsiteY20" fmla="*/ 1207413 h 1236663"/>
                  <a:gd name="connsiteX21" fmla="*/ 1287922 w 1363857"/>
                  <a:gd name="connsiteY21" fmla="*/ 1234523 h 1236663"/>
                  <a:gd name="connsiteX22" fmla="*/ 1270859 w 1363857"/>
                  <a:gd name="connsiteY22" fmla="*/ 1236663 h 1236663"/>
                  <a:gd name="connsiteX23" fmla="*/ 1244553 w 1363857"/>
                  <a:gd name="connsiteY23" fmla="*/ 1225962 h 1236663"/>
                  <a:gd name="connsiteX24" fmla="*/ 1024864 w 1363857"/>
                  <a:gd name="connsiteY24" fmla="*/ 996244 h 1236663"/>
                  <a:gd name="connsiteX25" fmla="*/ 1025575 w 1363857"/>
                  <a:gd name="connsiteY25" fmla="*/ 974128 h 1236663"/>
                  <a:gd name="connsiteX26" fmla="*/ 1068233 w 1363857"/>
                  <a:gd name="connsiteY26" fmla="*/ 932037 h 1236663"/>
                  <a:gd name="connsiteX27" fmla="*/ 1076054 w 1363857"/>
                  <a:gd name="connsiteY27" fmla="*/ 924903 h 1236663"/>
                  <a:gd name="connsiteX28" fmla="*/ 1100227 w 1363857"/>
                  <a:gd name="connsiteY28" fmla="*/ 900647 h 1236663"/>
                  <a:gd name="connsiteX29" fmla="*/ 1103781 w 1363857"/>
                  <a:gd name="connsiteY29" fmla="*/ 897793 h 1236663"/>
                  <a:gd name="connsiteX30" fmla="*/ 1113024 w 1363857"/>
                  <a:gd name="connsiteY30" fmla="*/ 889232 h 1236663"/>
                  <a:gd name="connsiteX31" fmla="*/ 1124399 w 1363857"/>
                  <a:gd name="connsiteY31" fmla="*/ 884238 h 1236663"/>
                  <a:gd name="connsiteX32" fmla="*/ 737549 w 1363857"/>
                  <a:gd name="connsiteY32" fmla="*/ 345813 h 1236663"/>
                  <a:gd name="connsiteX33" fmla="*/ 667227 w 1363857"/>
                  <a:gd name="connsiteY33" fmla="*/ 359983 h 1236663"/>
                  <a:gd name="connsiteX34" fmla="*/ 570072 w 1363857"/>
                  <a:gd name="connsiteY34" fmla="*/ 419872 h 1236663"/>
                  <a:gd name="connsiteX35" fmla="*/ 503635 w 1363857"/>
                  <a:gd name="connsiteY35" fmla="*/ 523965 h 1236663"/>
                  <a:gd name="connsiteX36" fmla="*/ 562928 w 1363857"/>
                  <a:gd name="connsiteY36" fmla="*/ 799168 h 1236663"/>
                  <a:gd name="connsiteX37" fmla="*/ 634366 w 1363857"/>
                  <a:gd name="connsiteY37" fmla="*/ 851214 h 1236663"/>
                  <a:gd name="connsiteX38" fmla="*/ 836534 w 1363857"/>
                  <a:gd name="connsiteY38" fmla="*/ 868325 h 1236663"/>
                  <a:gd name="connsiteX39" fmla="*/ 920116 w 1363857"/>
                  <a:gd name="connsiteY39" fmla="*/ 825548 h 1236663"/>
                  <a:gd name="connsiteX40" fmla="*/ 937261 w 1363857"/>
                  <a:gd name="connsiteY40" fmla="*/ 811288 h 1236663"/>
                  <a:gd name="connsiteX41" fmla="*/ 942976 w 1363857"/>
                  <a:gd name="connsiteY41" fmla="*/ 806298 h 1236663"/>
                  <a:gd name="connsiteX42" fmla="*/ 965836 w 1363857"/>
                  <a:gd name="connsiteY42" fmla="*/ 782057 h 1236663"/>
                  <a:gd name="connsiteX43" fmla="*/ 971551 w 1363857"/>
                  <a:gd name="connsiteY43" fmla="*/ 774214 h 1236663"/>
                  <a:gd name="connsiteX44" fmla="*/ 971551 w 1363857"/>
                  <a:gd name="connsiteY44" fmla="*/ 452668 h 1236663"/>
                  <a:gd name="connsiteX45" fmla="*/ 950119 w 1363857"/>
                  <a:gd name="connsiteY45" fmla="*/ 427002 h 1236663"/>
                  <a:gd name="connsiteX46" fmla="*/ 937261 w 1363857"/>
                  <a:gd name="connsiteY46" fmla="*/ 415594 h 1236663"/>
                  <a:gd name="connsiteX47" fmla="*/ 737549 w 1363857"/>
                  <a:gd name="connsiteY47" fmla="*/ 345813 h 1236663"/>
                  <a:gd name="connsiteX48" fmla="*/ 736320 w 1363857"/>
                  <a:gd name="connsiteY48" fmla="*/ 306806 h 1236663"/>
                  <a:gd name="connsiteX49" fmla="*/ 936985 w 1363857"/>
                  <a:gd name="connsiteY49" fmla="*/ 364993 h 1236663"/>
                  <a:gd name="connsiteX50" fmla="*/ 971284 w 1363857"/>
                  <a:gd name="connsiteY50" fmla="*/ 393578 h 1236663"/>
                  <a:gd name="connsiteX51" fmla="*/ 977715 w 1363857"/>
                  <a:gd name="connsiteY51" fmla="*/ 400010 h 1236663"/>
                  <a:gd name="connsiteX52" fmla="*/ 1005582 w 1363857"/>
                  <a:gd name="connsiteY52" fmla="*/ 791631 h 1236663"/>
                  <a:gd name="connsiteX53" fmla="*/ 1078466 w 1363857"/>
                  <a:gd name="connsiteY53" fmla="*/ 866668 h 1236663"/>
                  <a:gd name="connsiteX54" fmla="*/ 1079895 w 1363857"/>
                  <a:gd name="connsiteY54" fmla="*/ 868812 h 1236663"/>
                  <a:gd name="connsiteX55" fmla="*/ 1079895 w 1363857"/>
                  <a:gd name="connsiteY55" fmla="*/ 876673 h 1236663"/>
                  <a:gd name="connsiteX56" fmla="*/ 1054886 w 1363857"/>
                  <a:gd name="connsiteY56" fmla="*/ 900256 h 1236663"/>
                  <a:gd name="connsiteX57" fmla="*/ 1052742 w 1363857"/>
                  <a:gd name="connsiteY57" fmla="*/ 901685 h 1236663"/>
                  <a:gd name="connsiteX58" fmla="*/ 1021302 w 1363857"/>
                  <a:gd name="connsiteY58" fmla="*/ 931700 h 1236663"/>
                  <a:gd name="connsiteX59" fmla="*/ 1012013 w 1363857"/>
                  <a:gd name="connsiteY59" fmla="*/ 940990 h 1236663"/>
                  <a:gd name="connsiteX60" fmla="*/ 1000580 w 1363857"/>
                  <a:gd name="connsiteY60" fmla="*/ 940990 h 1236663"/>
                  <a:gd name="connsiteX61" fmla="*/ 991291 w 1363857"/>
                  <a:gd name="connsiteY61" fmla="*/ 931700 h 1236663"/>
                  <a:gd name="connsiteX62" fmla="*/ 961280 w 1363857"/>
                  <a:gd name="connsiteY62" fmla="*/ 900256 h 1236663"/>
                  <a:gd name="connsiteX63" fmla="*/ 929125 w 1363857"/>
                  <a:gd name="connsiteY63" fmla="*/ 867382 h 1236663"/>
                  <a:gd name="connsiteX64" fmla="*/ 928411 w 1363857"/>
                  <a:gd name="connsiteY64" fmla="*/ 866668 h 1236663"/>
                  <a:gd name="connsiteX65" fmla="*/ 924838 w 1363857"/>
                  <a:gd name="connsiteY65" fmla="*/ 868812 h 1236663"/>
                  <a:gd name="connsiteX66" fmla="*/ 861958 w 1363857"/>
                  <a:gd name="connsiteY66" fmla="*/ 900256 h 1236663"/>
                  <a:gd name="connsiteX67" fmla="*/ 649023 w 1363857"/>
                  <a:gd name="connsiteY67" fmla="*/ 900256 h 1236663"/>
                  <a:gd name="connsiteX68" fmla="*/ 586857 w 1363857"/>
                  <a:gd name="connsiteY68" fmla="*/ 868812 h 1236663"/>
                  <a:gd name="connsiteX69" fmla="*/ 534695 w 1363857"/>
                  <a:gd name="connsiteY69" fmla="*/ 825934 h 1236663"/>
                  <a:gd name="connsiteX70" fmla="*/ 463240 w 1363857"/>
                  <a:gd name="connsiteY70" fmla="*/ 523642 h 1236663"/>
                  <a:gd name="connsiteX71" fmla="*/ 543270 w 1363857"/>
                  <a:gd name="connsiteY71" fmla="*/ 391435 h 1236663"/>
                  <a:gd name="connsiteX72" fmla="*/ 666886 w 1363857"/>
                  <a:gd name="connsiteY72" fmla="*/ 319256 h 1236663"/>
                  <a:gd name="connsiteX73" fmla="*/ 736320 w 1363857"/>
                  <a:gd name="connsiteY73" fmla="*/ 306806 h 1236663"/>
                  <a:gd name="connsiteX74" fmla="*/ 15703 w 1363857"/>
                  <a:gd name="connsiteY74" fmla="*/ 0 h 1236663"/>
                  <a:gd name="connsiteX75" fmla="*/ 1287635 w 1363857"/>
                  <a:gd name="connsiteY75" fmla="*/ 0 h 1236663"/>
                  <a:gd name="connsiteX76" fmla="*/ 1303338 w 1363857"/>
                  <a:gd name="connsiteY76" fmla="*/ 15695 h 1236663"/>
                  <a:gd name="connsiteX77" fmla="*/ 1303338 w 1363857"/>
                  <a:gd name="connsiteY77" fmla="*/ 914580 h 1236663"/>
                  <a:gd name="connsiteX78" fmla="*/ 1287635 w 1363857"/>
                  <a:gd name="connsiteY78" fmla="*/ 930275 h 1236663"/>
                  <a:gd name="connsiteX79" fmla="*/ 1218400 w 1363857"/>
                  <a:gd name="connsiteY79" fmla="*/ 930275 h 1236663"/>
                  <a:gd name="connsiteX80" fmla="*/ 1188422 w 1363857"/>
                  <a:gd name="connsiteY80" fmla="*/ 898885 h 1236663"/>
                  <a:gd name="connsiteX81" fmla="*/ 1271932 w 1363857"/>
                  <a:gd name="connsiteY81" fmla="*/ 898885 h 1236663"/>
                  <a:gd name="connsiteX82" fmla="*/ 1271932 w 1363857"/>
                  <a:gd name="connsiteY82" fmla="*/ 31390 h 1236663"/>
                  <a:gd name="connsiteX83" fmla="*/ 31405 w 1363857"/>
                  <a:gd name="connsiteY83" fmla="*/ 31390 h 1236663"/>
                  <a:gd name="connsiteX84" fmla="*/ 31405 w 1363857"/>
                  <a:gd name="connsiteY84" fmla="*/ 898885 h 1236663"/>
                  <a:gd name="connsiteX85" fmla="*/ 578865 w 1363857"/>
                  <a:gd name="connsiteY85" fmla="*/ 898885 h 1236663"/>
                  <a:gd name="connsiteX86" fmla="*/ 644531 w 1363857"/>
                  <a:gd name="connsiteY86" fmla="*/ 930275 h 1236663"/>
                  <a:gd name="connsiteX87" fmla="*/ 15703 w 1363857"/>
                  <a:gd name="connsiteY87" fmla="*/ 930275 h 1236663"/>
                  <a:gd name="connsiteX88" fmla="*/ 0 w 1363857"/>
                  <a:gd name="connsiteY88" fmla="*/ 914580 h 1236663"/>
                  <a:gd name="connsiteX89" fmla="*/ 0 w 1363857"/>
                  <a:gd name="connsiteY89" fmla="*/ 15695 h 1236663"/>
                  <a:gd name="connsiteX90" fmla="*/ 15703 w 1363857"/>
                  <a:gd name="connsiteY90" fmla="*/ 0 h 1236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363857" h="1236663">
                    <a:moveTo>
                      <a:pt x="1122942" y="922338"/>
                    </a:moveTo>
                    <a:cubicBezTo>
                      <a:pt x="1122942" y="922338"/>
                      <a:pt x="1122942" y="922338"/>
                      <a:pt x="1112236" y="931620"/>
                    </a:cubicBezTo>
                    <a:cubicBezTo>
                      <a:pt x="1112236" y="931620"/>
                      <a:pt x="1112236" y="931620"/>
                      <a:pt x="1057276" y="985168"/>
                    </a:cubicBezTo>
                    <a:cubicBezTo>
                      <a:pt x="1267122" y="1204359"/>
                      <a:pt x="1267122" y="1204359"/>
                      <a:pt x="1267122" y="1204359"/>
                    </a:cubicBezTo>
                    <a:cubicBezTo>
                      <a:pt x="1267835" y="1205073"/>
                      <a:pt x="1271404" y="1206501"/>
                      <a:pt x="1279256" y="1204359"/>
                    </a:cubicBezTo>
                    <a:cubicBezTo>
                      <a:pt x="1289248" y="1201503"/>
                      <a:pt x="1299955" y="1194364"/>
                      <a:pt x="1309947" y="1184368"/>
                    </a:cubicBezTo>
                    <a:cubicBezTo>
                      <a:pt x="1319940" y="1175086"/>
                      <a:pt x="1327791" y="1164376"/>
                      <a:pt x="1330646" y="1154381"/>
                    </a:cubicBezTo>
                    <a:cubicBezTo>
                      <a:pt x="1333501" y="1146527"/>
                      <a:pt x="1332787" y="1142243"/>
                      <a:pt x="1332074" y="1141529"/>
                    </a:cubicBezTo>
                    <a:cubicBezTo>
                      <a:pt x="1196459" y="1000162"/>
                      <a:pt x="1147924" y="949469"/>
                      <a:pt x="1131507" y="931620"/>
                    </a:cubicBezTo>
                    <a:cubicBezTo>
                      <a:pt x="1122942" y="922338"/>
                      <a:pt x="1122942" y="922338"/>
                      <a:pt x="1122942" y="922338"/>
                    </a:cubicBezTo>
                    <a:close/>
                    <a:moveTo>
                      <a:pt x="924966" y="906463"/>
                    </a:moveTo>
                    <a:cubicBezTo>
                      <a:pt x="924966" y="906463"/>
                      <a:pt x="924966" y="906463"/>
                      <a:pt x="949326" y="930276"/>
                    </a:cubicBezTo>
                    <a:cubicBezTo>
                      <a:pt x="949326" y="930276"/>
                      <a:pt x="949326" y="930276"/>
                      <a:pt x="868363" y="930276"/>
                    </a:cubicBezTo>
                    <a:cubicBezTo>
                      <a:pt x="887708" y="923973"/>
                      <a:pt x="907054" y="915568"/>
                      <a:pt x="924966" y="906463"/>
                    </a:cubicBezTo>
                    <a:close/>
                    <a:moveTo>
                      <a:pt x="1124399" y="884238"/>
                    </a:moveTo>
                    <a:cubicBezTo>
                      <a:pt x="1127954" y="884952"/>
                      <a:pt x="1131509" y="886378"/>
                      <a:pt x="1134353" y="889232"/>
                    </a:cubicBezTo>
                    <a:cubicBezTo>
                      <a:pt x="1137908" y="893512"/>
                      <a:pt x="1141463" y="897080"/>
                      <a:pt x="1145017" y="900647"/>
                    </a:cubicBezTo>
                    <a:cubicBezTo>
                      <a:pt x="1155682" y="912061"/>
                      <a:pt x="1165636" y="922762"/>
                      <a:pt x="1174878" y="932037"/>
                    </a:cubicBezTo>
                    <a:cubicBezTo>
                      <a:pt x="1354042" y="1120377"/>
                      <a:pt x="1354042" y="1120377"/>
                      <a:pt x="1354042" y="1120377"/>
                    </a:cubicBezTo>
                    <a:cubicBezTo>
                      <a:pt x="1363995" y="1130365"/>
                      <a:pt x="1366839" y="1146773"/>
                      <a:pt x="1360441" y="1164609"/>
                    </a:cubicBezTo>
                    <a:cubicBezTo>
                      <a:pt x="1355464" y="1179590"/>
                      <a:pt x="1345510" y="1194572"/>
                      <a:pt x="1332002" y="1207413"/>
                    </a:cubicBezTo>
                    <a:cubicBezTo>
                      <a:pt x="1318493" y="1220255"/>
                      <a:pt x="1302852" y="1230242"/>
                      <a:pt x="1287922" y="1234523"/>
                    </a:cubicBezTo>
                    <a:cubicBezTo>
                      <a:pt x="1282234" y="1235950"/>
                      <a:pt x="1276546" y="1236663"/>
                      <a:pt x="1270859" y="1236663"/>
                    </a:cubicBezTo>
                    <a:cubicBezTo>
                      <a:pt x="1260905" y="1236663"/>
                      <a:pt x="1250952" y="1233096"/>
                      <a:pt x="1244553" y="1225962"/>
                    </a:cubicBezTo>
                    <a:cubicBezTo>
                      <a:pt x="1024864" y="996244"/>
                      <a:pt x="1024864" y="996244"/>
                      <a:pt x="1024864" y="996244"/>
                    </a:cubicBezTo>
                    <a:cubicBezTo>
                      <a:pt x="1019176" y="989823"/>
                      <a:pt x="1019176" y="979835"/>
                      <a:pt x="1025575" y="974128"/>
                    </a:cubicBezTo>
                    <a:cubicBezTo>
                      <a:pt x="1042638" y="957006"/>
                      <a:pt x="1056858" y="943451"/>
                      <a:pt x="1068233" y="932037"/>
                    </a:cubicBezTo>
                    <a:cubicBezTo>
                      <a:pt x="1071077" y="929896"/>
                      <a:pt x="1073210" y="927043"/>
                      <a:pt x="1076054" y="924903"/>
                    </a:cubicBezTo>
                    <a:cubicBezTo>
                      <a:pt x="1087429" y="914201"/>
                      <a:pt x="1095250" y="906354"/>
                      <a:pt x="1100227" y="900647"/>
                    </a:cubicBezTo>
                    <a:cubicBezTo>
                      <a:pt x="1101648" y="899933"/>
                      <a:pt x="1103070" y="898506"/>
                      <a:pt x="1103781" y="897793"/>
                    </a:cubicBezTo>
                    <a:cubicBezTo>
                      <a:pt x="1113024" y="889232"/>
                      <a:pt x="1113024" y="889232"/>
                      <a:pt x="1113024" y="889232"/>
                    </a:cubicBezTo>
                    <a:cubicBezTo>
                      <a:pt x="1115868" y="886378"/>
                      <a:pt x="1120134" y="884238"/>
                      <a:pt x="1124399" y="884238"/>
                    </a:cubicBezTo>
                    <a:close/>
                    <a:moveTo>
                      <a:pt x="737549" y="345813"/>
                    </a:moveTo>
                    <a:cubicBezTo>
                      <a:pt x="713751" y="347417"/>
                      <a:pt x="690087" y="352141"/>
                      <a:pt x="667227" y="359983"/>
                    </a:cubicBezTo>
                    <a:cubicBezTo>
                      <a:pt x="632223" y="372817"/>
                      <a:pt x="598647" y="392780"/>
                      <a:pt x="570072" y="419872"/>
                    </a:cubicBezTo>
                    <a:cubicBezTo>
                      <a:pt x="539354" y="449817"/>
                      <a:pt x="517208" y="485465"/>
                      <a:pt x="503635" y="523965"/>
                    </a:cubicBezTo>
                    <a:cubicBezTo>
                      <a:pt x="471488" y="616650"/>
                      <a:pt x="490776" y="723594"/>
                      <a:pt x="562928" y="799168"/>
                    </a:cubicBezTo>
                    <a:cubicBezTo>
                      <a:pt x="584359" y="821270"/>
                      <a:pt x="608648" y="838381"/>
                      <a:pt x="634366" y="851214"/>
                    </a:cubicBezTo>
                    <a:cubicBezTo>
                      <a:pt x="696516" y="883297"/>
                      <a:pt x="770097" y="889001"/>
                      <a:pt x="836534" y="868325"/>
                    </a:cubicBezTo>
                    <a:cubicBezTo>
                      <a:pt x="865823" y="859770"/>
                      <a:pt x="894398" y="844798"/>
                      <a:pt x="920116" y="825548"/>
                    </a:cubicBezTo>
                    <a:cubicBezTo>
                      <a:pt x="926545" y="821270"/>
                      <a:pt x="932260" y="816279"/>
                      <a:pt x="937261" y="811288"/>
                    </a:cubicBezTo>
                    <a:cubicBezTo>
                      <a:pt x="939404" y="809149"/>
                      <a:pt x="940833" y="807723"/>
                      <a:pt x="942976" y="806298"/>
                    </a:cubicBezTo>
                    <a:cubicBezTo>
                      <a:pt x="950834" y="798455"/>
                      <a:pt x="958692" y="790612"/>
                      <a:pt x="965836" y="782057"/>
                    </a:cubicBezTo>
                    <a:cubicBezTo>
                      <a:pt x="967264" y="779205"/>
                      <a:pt x="969408" y="777066"/>
                      <a:pt x="971551" y="774214"/>
                    </a:cubicBezTo>
                    <a:cubicBezTo>
                      <a:pt x="1042274" y="680103"/>
                      <a:pt x="1042988" y="548205"/>
                      <a:pt x="971551" y="452668"/>
                    </a:cubicBezTo>
                    <a:cubicBezTo>
                      <a:pt x="964407" y="443400"/>
                      <a:pt x="957263" y="435557"/>
                      <a:pt x="950119" y="427002"/>
                    </a:cubicBezTo>
                    <a:cubicBezTo>
                      <a:pt x="945833" y="423437"/>
                      <a:pt x="941547" y="419159"/>
                      <a:pt x="937261" y="415594"/>
                    </a:cubicBezTo>
                    <a:cubicBezTo>
                      <a:pt x="881540" y="364261"/>
                      <a:pt x="808941" y="341001"/>
                      <a:pt x="737549" y="345813"/>
                    </a:cubicBezTo>
                    <a:close/>
                    <a:moveTo>
                      <a:pt x="736320" y="306806"/>
                    </a:moveTo>
                    <a:cubicBezTo>
                      <a:pt x="806625" y="302284"/>
                      <a:pt x="878035" y="321579"/>
                      <a:pt x="936985" y="364993"/>
                    </a:cubicBezTo>
                    <a:cubicBezTo>
                      <a:pt x="949133" y="373569"/>
                      <a:pt x="960566" y="383574"/>
                      <a:pt x="971284" y="393578"/>
                    </a:cubicBezTo>
                    <a:cubicBezTo>
                      <a:pt x="973427" y="395722"/>
                      <a:pt x="975571" y="397866"/>
                      <a:pt x="977715" y="400010"/>
                    </a:cubicBezTo>
                    <a:cubicBezTo>
                      <a:pt x="1082039" y="507920"/>
                      <a:pt x="1090613" y="673716"/>
                      <a:pt x="1005582" y="791631"/>
                    </a:cubicBezTo>
                    <a:cubicBezTo>
                      <a:pt x="1078466" y="866668"/>
                      <a:pt x="1078466" y="866668"/>
                      <a:pt x="1078466" y="866668"/>
                    </a:cubicBezTo>
                    <a:cubicBezTo>
                      <a:pt x="1079180" y="867382"/>
                      <a:pt x="1079895" y="868097"/>
                      <a:pt x="1079895" y="868812"/>
                    </a:cubicBezTo>
                    <a:cubicBezTo>
                      <a:pt x="1081324" y="871670"/>
                      <a:pt x="1081324" y="874529"/>
                      <a:pt x="1079895" y="876673"/>
                    </a:cubicBezTo>
                    <a:cubicBezTo>
                      <a:pt x="1079895" y="876673"/>
                      <a:pt x="1079895" y="876673"/>
                      <a:pt x="1054886" y="900256"/>
                    </a:cubicBezTo>
                    <a:cubicBezTo>
                      <a:pt x="1054886" y="900256"/>
                      <a:pt x="1054886" y="900256"/>
                      <a:pt x="1052742" y="901685"/>
                    </a:cubicBezTo>
                    <a:cubicBezTo>
                      <a:pt x="1037022" y="917407"/>
                      <a:pt x="1027018" y="926697"/>
                      <a:pt x="1021302" y="931700"/>
                    </a:cubicBezTo>
                    <a:cubicBezTo>
                      <a:pt x="1012013" y="940990"/>
                      <a:pt x="1012013" y="940990"/>
                      <a:pt x="1012013" y="940990"/>
                    </a:cubicBezTo>
                    <a:cubicBezTo>
                      <a:pt x="1009155" y="944563"/>
                      <a:pt x="1003438" y="944563"/>
                      <a:pt x="1000580" y="940990"/>
                    </a:cubicBezTo>
                    <a:cubicBezTo>
                      <a:pt x="997007" y="938131"/>
                      <a:pt x="994149" y="934558"/>
                      <a:pt x="991291" y="931700"/>
                    </a:cubicBezTo>
                    <a:cubicBezTo>
                      <a:pt x="979144" y="919551"/>
                      <a:pt x="969140" y="908831"/>
                      <a:pt x="961280" y="900256"/>
                    </a:cubicBezTo>
                    <a:cubicBezTo>
                      <a:pt x="937700" y="875958"/>
                      <a:pt x="930555" y="869526"/>
                      <a:pt x="929125" y="867382"/>
                    </a:cubicBezTo>
                    <a:cubicBezTo>
                      <a:pt x="928411" y="866668"/>
                      <a:pt x="928411" y="866668"/>
                      <a:pt x="928411" y="866668"/>
                    </a:cubicBezTo>
                    <a:cubicBezTo>
                      <a:pt x="926982" y="867382"/>
                      <a:pt x="925553" y="868097"/>
                      <a:pt x="924838" y="868812"/>
                    </a:cubicBezTo>
                    <a:cubicBezTo>
                      <a:pt x="904831" y="881675"/>
                      <a:pt x="883394" y="892395"/>
                      <a:pt x="861958" y="900256"/>
                    </a:cubicBezTo>
                    <a:cubicBezTo>
                      <a:pt x="793361" y="925983"/>
                      <a:pt x="717619" y="925983"/>
                      <a:pt x="649023" y="900256"/>
                    </a:cubicBezTo>
                    <a:cubicBezTo>
                      <a:pt x="627586" y="892395"/>
                      <a:pt x="606864" y="882390"/>
                      <a:pt x="586857" y="868812"/>
                    </a:cubicBezTo>
                    <a:cubicBezTo>
                      <a:pt x="568279" y="856663"/>
                      <a:pt x="551130" y="842370"/>
                      <a:pt x="534695" y="825934"/>
                    </a:cubicBezTo>
                    <a:cubicBezTo>
                      <a:pt x="456095" y="743036"/>
                      <a:pt x="431800" y="626550"/>
                      <a:pt x="463240" y="523642"/>
                    </a:cubicBezTo>
                    <a:cubicBezTo>
                      <a:pt x="477531" y="475047"/>
                      <a:pt x="504684" y="429310"/>
                      <a:pt x="543270" y="391435"/>
                    </a:cubicBezTo>
                    <a:cubicBezTo>
                      <a:pt x="579712" y="357132"/>
                      <a:pt x="622584" y="332834"/>
                      <a:pt x="666886" y="319256"/>
                    </a:cubicBezTo>
                    <a:cubicBezTo>
                      <a:pt x="689573" y="312467"/>
                      <a:pt x="712885" y="308313"/>
                      <a:pt x="736320" y="306806"/>
                    </a:cubicBezTo>
                    <a:close/>
                    <a:moveTo>
                      <a:pt x="15703" y="0"/>
                    </a:moveTo>
                    <a:cubicBezTo>
                      <a:pt x="15703" y="0"/>
                      <a:pt x="15703" y="0"/>
                      <a:pt x="1287635" y="0"/>
                    </a:cubicBezTo>
                    <a:cubicBezTo>
                      <a:pt x="1296201" y="0"/>
                      <a:pt x="1303338" y="6420"/>
                      <a:pt x="1303338" y="15695"/>
                    </a:cubicBezTo>
                    <a:cubicBezTo>
                      <a:pt x="1303338" y="15695"/>
                      <a:pt x="1303338" y="15695"/>
                      <a:pt x="1303338" y="914580"/>
                    </a:cubicBezTo>
                    <a:cubicBezTo>
                      <a:pt x="1303338" y="923855"/>
                      <a:pt x="1296201" y="930275"/>
                      <a:pt x="1287635" y="930275"/>
                    </a:cubicBezTo>
                    <a:cubicBezTo>
                      <a:pt x="1287635" y="930275"/>
                      <a:pt x="1287635" y="930275"/>
                      <a:pt x="1218400" y="930275"/>
                    </a:cubicBezTo>
                    <a:cubicBezTo>
                      <a:pt x="1218400" y="930275"/>
                      <a:pt x="1218400" y="930275"/>
                      <a:pt x="1188422" y="898885"/>
                    </a:cubicBezTo>
                    <a:cubicBezTo>
                      <a:pt x="1271932" y="898885"/>
                      <a:pt x="1271932" y="898885"/>
                      <a:pt x="1271932" y="898885"/>
                    </a:cubicBezTo>
                    <a:cubicBezTo>
                      <a:pt x="1271932" y="31390"/>
                      <a:pt x="1271932" y="31390"/>
                      <a:pt x="1271932" y="31390"/>
                    </a:cubicBezTo>
                    <a:cubicBezTo>
                      <a:pt x="31405" y="31390"/>
                      <a:pt x="31405" y="31390"/>
                      <a:pt x="31405" y="31390"/>
                    </a:cubicBezTo>
                    <a:cubicBezTo>
                      <a:pt x="31405" y="898885"/>
                      <a:pt x="31405" y="898885"/>
                      <a:pt x="31405" y="898885"/>
                    </a:cubicBezTo>
                    <a:cubicBezTo>
                      <a:pt x="250532" y="898885"/>
                      <a:pt x="430401" y="898885"/>
                      <a:pt x="578865" y="898885"/>
                    </a:cubicBezTo>
                    <a:cubicBezTo>
                      <a:pt x="599564" y="911727"/>
                      <a:pt x="621691" y="922428"/>
                      <a:pt x="644531" y="930275"/>
                    </a:cubicBezTo>
                    <a:cubicBezTo>
                      <a:pt x="644531" y="930275"/>
                      <a:pt x="644531" y="930275"/>
                      <a:pt x="15703" y="930275"/>
                    </a:cubicBezTo>
                    <a:cubicBezTo>
                      <a:pt x="7137" y="930275"/>
                      <a:pt x="0" y="923855"/>
                      <a:pt x="0" y="914580"/>
                    </a:cubicBezTo>
                    <a:cubicBezTo>
                      <a:pt x="0" y="914580"/>
                      <a:pt x="0" y="914580"/>
                      <a:pt x="0" y="15695"/>
                    </a:cubicBezTo>
                    <a:cubicBezTo>
                      <a:pt x="0" y="6420"/>
                      <a:pt x="7137" y="0"/>
                      <a:pt x="15703"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p>
            </p:txBody>
          </p:sp>
        </p:grpSp>
      </p:grpSp>
      <p:cxnSp>
        <p:nvCxnSpPr>
          <p:cNvPr id="42" name="AutoShape 2">
            <a:extLst>
              <a:ext uri="{FF2B5EF4-FFF2-40B4-BE49-F238E27FC236}">
                <a16:creationId xmlns:a16="http://schemas.microsoft.com/office/drawing/2014/main" id="{6780CA74-F036-47FB-8B7C-D7EBDD9943C7}"/>
              </a:ext>
            </a:extLst>
          </p:cNvPr>
          <p:cNvCxnSpPr>
            <a:cxnSpLocks noChangeShapeType="1"/>
          </p:cNvCxnSpPr>
          <p:nvPr/>
        </p:nvCxnSpPr>
        <p:spPr bwMode="auto">
          <a:xfrm rot="10800000" flipV="1">
            <a:off x="3562913" y="3161834"/>
            <a:ext cx="81246" cy="491692"/>
          </a:xfrm>
          <a:prstGeom prst="bentConnector2">
            <a:avLst/>
          </a:prstGeom>
          <a:noFill/>
          <a:ln w="9525" cap="rnd" cmpd="sng" algn="ctr">
            <a:solidFill>
              <a:srgbClr val="9A9A9A"/>
            </a:solidFill>
            <a:prstDash val="solid"/>
            <a:round/>
            <a:headEnd type="none" w="med" len="med"/>
            <a:tailEnd type="none" w="med" len="med"/>
          </a:ln>
        </p:spPr>
      </p:cxnSp>
      <p:grpSp>
        <p:nvGrpSpPr>
          <p:cNvPr id="43" name="Group 42">
            <a:extLst>
              <a:ext uri="{FF2B5EF4-FFF2-40B4-BE49-F238E27FC236}">
                <a16:creationId xmlns:a16="http://schemas.microsoft.com/office/drawing/2014/main" id="{742BAAFC-10E4-475D-AED1-23DC8BE23844}"/>
              </a:ext>
            </a:extLst>
          </p:cNvPr>
          <p:cNvGrpSpPr>
            <a:grpSpLocks/>
          </p:cNvGrpSpPr>
          <p:nvPr/>
        </p:nvGrpSpPr>
        <p:grpSpPr>
          <a:xfrm>
            <a:off x="3207548" y="3665465"/>
            <a:ext cx="540000" cy="535929"/>
            <a:chOff x="5273675" y="2606675"/>
            <a:chExt cx="1646238" cy="1644650"/>
          </a:xfrm>
        </p:grpSpPr>
        <p:sp>
          <p:nvSpPr>
            <p:cNvPr id="44" name="AutoShape 3">
              <a:extLst>
                <a:ext uri="{FF2B5EF4-FFF2-40B4-BE49-F238E27FC236}">
                  <a16:creationId xmlns:a16="http://schemas.microsoft.com/office/drawing/2014/main" id="{97263BDA-389A-4506-A498-E3DC87909FE9}"/>
                </a:ext>
              </a:extLst>
            </p:cNvPr>
            <p:cNvSpPr>
              <a:spLocks noChangeAspect="1" noChangeArrowheads="1" noTextEdit="1"/>
            </p:cNvSpPr>
            <p:nvPr/>
          </p:nvSpPr>
          <p:spPr bwMode="auto">
            <a:xfrm>
              <a:off x="5273675"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45" name="Group 44">
              <a:extLst>
                <a:ext uri="{FF2B5EF4-FFF2-40B4-BE49-F238E27FC236}">
                  <a16:creationId xmlns:a16="http://schemas.microsoft.com/office/drawing/2014/main" id="{508AF710-9E44-4DAF-9D76-5899B5783D3D}"/>
                </a:ext>
              </a:extLst>
            </p:cNvPr>
            <p:cNvGrpSpPr/>
            <p:nvPr/>
          </p:nvGrpSpPr>
          <p:grpSpPr>
            <a:xfrm>
              <a:off x="5608638" y="2881313"/>
              <a:ext cx="977900" cy="1093788"/>
              <a:chOff x="5608638" y="2881313"/>
              <a:chExt cx="977900" cy="1093788"/>
            </a:xfrm>
          </p:grpSpPr>
          <p:sp>
            <p:nvSpPr>
              <p:cNvPr id="46" name="Freeform 17">
                <a:extLst>
                  <a:ext uri="{FF2B5EF4-FFF2-40B4-BE49-F238E27FC236}">
                    <a16:creationId xmlns:a16="http://schemas.microsoft.com/office/drawing/2014/main" id="{7BB0C6BA-10A8-49E0-A785-C5948578949D}"/>
                  </a:ext>
                </a:extLst>
              </p:cNvPr>
              <p:cNvSpPr>
                <a:spLocks/>
              </p:cNvSpPr>
              <p:nvPr/>
            </p:nvSpPr>
            <p:spPr bwMode="auto">
              <a:xfrm>
                <a:off x="5608638" y="2881313"/>
                <a:ext cx="977900" cy="1093788"/>
              </a:xfrm>
              <a:custGeom>
                <a:avLst/>
                <a:gdLst>
                  <a:gd name="connsiteX0" fmla="*/ 488514 w 977900"/>
                  <a:gd name="connsiteY0" fmla="*/ 61912 h 1093788"/>
                  <a:gd name="connsiteX1" fmla="*/ 917575 w 977900"/>
                  <a:gd name="connsiteY1" fmla="*/ 219512 h 1093788"/>
                  <a:gd name="connsiteX2" fmla="*/ 488514 w 977900"/>
                  <a:gd name="connsiteY2" fmla="*/ 377825 h 1093788"/>
                  <a:gd name="connsiteX3" fmla="*/ 58737 w 977900"/>
                  <a:gd name="connsiteY3" fmla="*/ 224504 h 1093788"/>
                  <a:gd name="connsiteX4" fmla="*/ 58737 w 977900"/>
                  <a:gd name="connsiteY4" fmla="*/ 215233 h 1093788"/>
                  <a:gd name="connsiteX5" fmla="*/ 488514 w 977900"/>
                  <a:gd name="connsiteY5" fmla="*/ 61912 h 1093788"/>
                  <a:gd name="connsiteX6" fmla="*/ 477508 w 977900"/>
                  <a:gd name="connsiteY6" fmla="*/ 28575 h 1093788"/>
                  <a:gd name="connsiteX7" fmla="*/ 173585 w 977900"/>
                  <a:gd name="connsiteY7" fmla="*/ 78482 h 1093788"/>
                  <a:gd name="connsiteX8" fmla="*/ 172155 w 977900"/>
                  <a:gd name="connsiteY8" fmla="*/ 79195 h 1093788"/>
                  <a:gd name="connsiteX9" fmla="*/ 165719 w 977900"/>
                  <a:gd name="connsiteY9" fmla="*/ 81334 h 1093788"/>
                  <a:gd name="connsiteX10" fmla="*/ 164289 w 977900"/>
                  <a:gd name="connsiteY10" fmla="*/ 82047 h 1093788"/>
                  <a:gd name="connsiteX11" fmla="*/ 157138 w 977900"/>
                  <a:gd name="connsiteY11" fmla="*/ 84899 h 1093788"/>
                  <a:gd name="connsiteX12" fmla="*/ 149271 w 977900"/>
                  <a:gd name="connsiteY12" fmla="*/ 88463 h 1093788"/>
                  <a:gd name="connsiteX13" fmla="*/ 144981 w 977900"/>
                  <a:gd name="connsiteY13" fmla="*/ 89889 h 1093788"/>
                  <a:gd name="connsiteX14" fmla="*/ 142835 w 977900"/>
                  <a:gd name="connsiteY14" fmla="*/ 91315 h 1093788"/>
                  <a:gd name="connsiteX15" fmla="*/ 50586 w 977900"/>
                  <a:gd name="connsiteY15" fmla="*/ 153342 h 1093788"/>
                  <a:gd name="connsiteX16" fmla="*/ 49156 w 977900"/>
                  <a:gd name="connsiteY16" fmla="*/ 154768 h 1093788"/>
                  <a:gd name="connsiteX17" fmla="*/ 47726 w 977900"/>
                  <a:gd name="connsiteY17" fmla="*/ 156907 h 1093788"/>
                  <a:gd name="connsiteX18" fmla="*/ 44150 w 977900"/>
                  <a:gd name="connsiteY18" fmla="*/ 161185 h 1093788"/>
                  <a:gd name="connsiteX19" fmla="*/ 43435 w 977900"/>
                  <a:gd name="connsiteY19" fmla="*/ 161898 h 1093788"/>
                  <a:gd name="connsiteX20" fmla="*/ 41289 w 977900"/>
                  <a:gd name="connsiteY20" fmla="*/ 165463 h 1093788"/>
                  <a:gd name="connsiteX21" fmla="*/ 39859 w 977900"/>
                  <a:gd name="connsiteY21" fmla="*/ 167602 h 1093788"/>
                  <a:gd name="connsiteX22" fmla="*/ 38429 w 977900"/>
                  <a:gd name="connsiteY22" fmla="*/ 169740 h 1093788"/>
                  <a:gd name="connsiteX23" fmla="*/ 36999 w 977900"/>
                  <a:gd name="connsiteY23" fmla="*/ 171879 h 1093788"/>
                  <a:gd name="connsiteX24" fmla="*/ 36284 w 977900"/>
                  <a:gd name="connsiteY24" fmla="*/ 174018 h 1093788"/>
                  <a:gd name="connsiteX25" fmla="*/ 34853 w 977900"/>
                  <a:gd name="connsiteY25" fmla="*/ 176870 h 1093788"/>
                  <a:gd name="connsiteX26" fmla="*/ 34138 w 977900"/>
                  <a:gd name="connsiteY26" fmla="*/ 178296 h 1093788"/>
                  <a:gd name="connsiteX27" fmla="*/ 32708 w 977900"/>
                  <a:gd name="connsiteY27" fmla="*/ 181148 h 1093788"/>
                  <a:gd name="connsiteX28" fmla="*/ 31993 w 977900"/>
                  <a:gd name="connsiteY28" fmla="*/ 182574 h 1093788"/>
                  <a:gd name="connsiteX29" fmla="*/ 31278 w 977900"/>
                  <a:gd name="connsiteY29" fmla="*/ 186138 h 1093788"/>
                  <a:gd name="connsiteX30" fmla="*/ 30563 w 977900"/>
                  <a:gd name="connsiteY30" fmla="*/ 187564 h 1093788"/>
                  <a:gd name="connsiteX31" fmla="*/ 29848 w 977900"/>
                  <a:gd name="connsiteY31" fmla="*/ 190416 h 1093788"/>
                  <a:gd name="connsiteX32" fmla="*/ 29133 w 977900"/>
                  <a:gd name="connsiteY32" fmla="*/ 191842 h 1093788"/>
                  <a:gd name="connsiteX33" fmla="*/ 28417 w 977900"/>
                  <a:gd name="connsiteY33" fmla="*/ 195407 h 1093788"/>
                  <a:gd name="connsiteX34" fmla="*/ 28417 w 977900"/>
                  <a:gd name="connsiteY34" fmla="*/ 196833 h 1093788"/>
                  <a:gd name="connsiteX35" fmla="*/ 27702 w 977900"/>
                  <a:gd name="connsiteY35" fmla="*/ 199685 h 1093788"/>
                  <a:gd name="connsiteX36" fmla="*/ 27702 w 977900"/>
                  <a:gd name="connsiteY36" fmla="*/ 201823 h 1093788"/>
                  <a:gd name="connsiteX37" fmla="*/ 26987 w 977900"/>
                  <a:gd name="connsiteY37" fmla="*/ 203962 h 1093788"/>
                  <a:gd name="connsiteX38" fmla="*/ 26987 w 977900"/>
                  <a:gd name="connsiteY38" fmla="*/ 208953 h 1093788"/>
                  <a:gd name="connsiteX39" fmla="*/ 26987 w 977900"/>
                  <a:gd name="connsiteY39" fmla="*/ 210379 h 1093788"/>
                  <a:gd name="connsiteX40" fmla="*/ 26987 w 977900"/>
                  <a:gd name="connsiteY40" fmla="*/ 211092 h 1093788"/>
                  <a:gd name="connsiteX41" fmla="*/ 26987 w 977900"/>
                  <a:gd name="connsiteY41" fmla="*/ 211805 h 1093788"/>
                  <a:gd name="connsiteX42" fmla="*/ 26987 w 977900"/>
                  <a:gd name="connsiteY42" fmla="*/ 215370 h 1093788"/>
                  <a:gd name="connsiteX43" fmla="*/ 27702 w 977900"/>
                  <a:gd name="connsiteY43" fmla="*/ 217508 h 1093788"/>
                  <a:gd name="connsiteX44" fmla="*/ 27702 w 977900"/>
                  <a:gd name="connsiteY44" fmla="*/ 876280 h 1093788"/>
                  <a:gd name="connsiteX45" fmla="*/ 26987 w 977900"/>
                  <a:gd name="connsiteY45" fmla="*/ 878419 h 1093788"/>
                  <a:gd name="connsiteX46" fmla="*/ 26987 w 977900"/>
                  <a:gd name="connsiteY46" fmla="*/ 881983 h 1093788"/>
                  <a:gd name="connsiteX47" fmla="*/ 26987 w 977900"/>
                  <a:gd name="connsiteY47" fmla="*/ 882696 h 1093788"/>
                  <a:gd name="connsiteX48" fmla="*/ 26987 w 977900"/>
                  <a:gd name="connsiteY48" fmla="*/ 883409 h 1093788"/>
                  <a:gd name="connsiteX49" fmla="*/ 26987 w 977900"/>
                  <a:gd name="connsiteY49" fmla="*/ 884835 h 1093788"/>
                  <a:gd name="connsiteX50" fmla="*/ 26987 w 977900"/>
                  <a:gd name="connsiteY50" fmla="*/ 889826 h 1093788"/>
                  <a:gd name="connsiteX51" fmla="*/ 27702 w 977900"/>
                  <a:gd name="connsiteY51" fmla="*/ 891965 h 1093788"/>
                  <a:gd name="connsiteX52" fmla="*/ 27702 w 977900"/>
                  <a:gd name="connsiteY52" fmla="*/ 894104 h 1093788"/>
                  <a:gd name="connsiteX53" fmla="*/ 28417 w 977900"/>
                  <a:gd name="connsiteY53" fmla="*/ 896956 h 1093788"/>
                  <a:gd name="connsiteX54" fmla="*/ 28417 w 977900"/>
                  <a:gd name="connsiteY54" fmla="*/ 898381 h 1093788"/>
                  <a:gd name="connsiteX55" fmla="*/ 29133 w 977900"/>
                  <a:gd name="connsiteY55" fmla="*/ 901946 h 1093788"/>
                  <a:gd name="connsiteX56" fmla="*/ 29848 w 977900"/>
                  <a:gd name="connsiteY56" fmla="*/ 903372 h 1093788"/>
                  <a:gd name="connsiteX57" fmla="*/ 30563 w 977900"/>
                  <a:gd name="connsiteY57" fmla="*/ 906224 h 1093788"/>
                  <a:gd name="connsiteX58" fmla="*/ 31278 w 977900"/>
                  <a:gd name="connsiteY58" fmla="*/ 907650 h 1093788"/>
                  <a:gd name="connsiteX59" fmla="*/ 31993 w 977900"/>
                  <a:gd name="connsiteY59" fmla="*/ 911215 h 1093788"/>
                  <a:gd name="connsiteX60" fmla="*/ 32708 w 977900"/>
                  <a:gd name="connsiteY60" fmla="*/ 912641 h 1093788"/>
                  <a:gd name="connsiteX61" fmla="*/ 34138 w 977900"/>
                  <a:gd name="connsiteY61" fmla="*/ 915492 h 1093788"/>
                  <a:gd name="connsiteX62" fmla="*/ 34853 w 977900"/>
                  <a:gd name="connsiteY62" fmla="*/ 916918 h 1093788"/>
                  <a:gd name="connsiteX63" fmla="*/ 36284 w 977900"/>
                  <a:gd name="connsiteY63" fmla="*/ 919770 h 1093788"/>
                  <a:gd name="connsiteX64" fmla="*/ 36999 w 977900"/>
                  <a:gd name="connsiteY64" fmla="*/ 921909 h 1093788"/>
                  <a:gd name="connsiteX65" fmla="*/ 38429 w 977900"/>
                  <a:gd name="connsiteY65" fmla="*/ 924048 h 1093788"/>
                  <a:gd name="connsiteX66" fmla="*/ 39859 w 977900"/>
                  <a:gd name="connsiteY66" fmla="*/ 926187 h 1093788"/>
                  <a:gd name="connsiteX67" fmla="*/ 41289 w 977900"/>
                  <a:gd name="connsiteY67" fmla="*/ 928326 h 1093788"/>
                  <a:gd name="connsiteX68" fmla="*/ 43435 w 977900"/>
                  <a:gd name="connsiteY68" fmla="*/ 931890 h 1093788"/>
                  <a:gd name="connsiteX69" fmla="*/ 44150 w 977900"/>
                  <a:gd name="connsiteY69" fmla="*/ 931890 h 1093788"/>
                  <a:gd name="connsiteX70" fmla="*/ 47726 w 977900"/>
                  <a:gd name="connsiteY70" fmla="*/ 936881 h 1093788"/>
                  <a:gd name="connsiteX71" fmla="*/ 49156 w 977900"/>
                  <a:gd name="connsiteY71" fmla="*/ 939020 h 1093788"/>
                  <a:gd name="connsiteX72" fmla="*/ 50586 w 977900"/>
                  <a:gd name="connsiteY72" fmla="*/ 940446 h 1093788"/>
                  <a:gd name="connsiteX73" fmla="*/ 142835 w 977900"/>
                  <a:gd name="connsiteY73" fmla="*/ 1002473 h 1093788"/>
                  <a:gd name="connsiteX74" fmla="*/ 144981 w 977900"/>
                  <a:gd name="connsiteY74" fmla="*/ 1003899 h 1093788"/>
                  <a:gd name="connsiteX75" fmla="*/ 149271 w 977900"/>
                  <a:gd name="connsiteY75" fmla="*/ 1005325 h 1093788"/>
                  <a:gd name="connsiteX76" fmla="*/ 157138 w 977900"/>
                  <a:gd name="connsiteY76" fmla="*/ 1008890 h 1093788"/>
                  <a:gd name="connsiteX77" fmla="*/ 162859 w 977900"/>
                  <a:gd name="connsiteY77" fmla="*/ 1011029 h 1093788"/>
                  <a:gd name="connsiteX78" fmla="*/ 164289 w 977900"/>
                  <a:gd name="connsiteY78" fmla="*/ 1011741 h 1093788"/>
                  <a:gd name="connsiteX79" fmla="*/ 172155 w 977900"/>
                  <a:gd name="connsiteY79" fmla="*/ 1014593 h 1093788"/>
                  <a:gd name="connsiteX80" fmla="*/ 172870 w 977900"/>
                  <a:gd name="connsiteY80" fmla="*/ 1015306 h 1093788"/>
                  <a:gd name="connsiteX81" fmla="*/ 477508 w 977900"/>
                  <a:gd name="connsiteY81" fmla="*/ 1065213 h 1093788"/>
                  <a:gd name="connsiteX82" fmla="*/ 486089 w 977900"/>
                  <a:gd name="connsiteY82" fmla="*/ 1065213 h 1093788"/>
                  <a:gd name="connsiteX83" fmla="*/ 488950 w 977900"/>
                  <a:gd name="connsiteY83" fmla="*/ 1065213 h 1093788"/>
                  <a:gd name="connsiteX84" fmla="*/ 491810 w 977900"/>
                  <a:gd name="connsiteY84" fmla="*/ 1065213 h 1093788"/>
                  <a:gd name="connsiteX85" fmla="*/ 500392 w 977900"/>
                  <a:gd name="connsiteY85" fmla="*/ 1065213 h 1093788"/>
                  <a:gd name="connsiteX86" fmla="*/ 805029 w 977900"/>
                  <a:gd name="connsiteY86" fmla="*/ 1015306 h 1093788"/>
                  <a:gd name="connsiteX87" fmla="*/ 805744 w 977900"/>
                  <a:gd name="connsiteY87" fmla="*/ 1014593 h 1093788"/>
                  <a:gd name="connsiteX88" fmla="*/ 813611 w 977900"/>
                  <a:gd name="connsiteY88" fmla="*/ 1011741 h 1093788"/>
                  <a:gd name="connsiteX89" fmla="*/ 814326 w 977900"/>
                  <a:gd name="connsiteY89" fmla="*/ 1011741 h 1093788"/>
                  <a:gd name="connsiteX90" fmla="*/ 820762 w 977900"/>
                  <a:gd name="connsiteY90" fmla="*/ 1008890 h 1093788"/>
                  <a:gd name="connsiteX91" fmla="*/ 828628 w 977900"/>
                  <a:gd name="connsiteY91" fmla="*/ 1005325 h 1093788"/>
                  <a:gd name="connsiteX92" fmla="*/ 832919 w 977900"/>
                  <a:gd name="connsiteY92" fmla="*/ 1003899 h 1093788"/>
                  <a:gd name="connsiteX93" fmla="*/ 835064 w 977900"/>
                  <a:gd name="connsiteY93" fmla="*/ 1002473 h 1093788"/>
                  <a:gd name="connsiteX94" fmla="*/ 927314 w 977900"/>
                  <a:gd name="connsiteY94" fmla="*/ 940446 h 1093788"/>
                  <a:gd name="connsiteX95" fmla="*/ 928744 w 977900"/>
                  <a:gd name="connsiteY95" fmla="*/ 939020 h 1093788"/>
                  <a:gd name="connsiteX96" fmla="*/ 930174 w 977900"/>
                  <a:gd name="connsiteY96" fmla="*/ 936881 h 1093788"/>
                  <a:gd name="connsiteX97" fmla="*/ 933750 w 977900"/>
                  <a:gd name="connsiteY97" fmla="*/ 931890 h 1093788"/>
                  <a:gd name="connsiteX98" fmla="*/ 934465 w 977900"/>
                  <a:gd name="connsiteY98" fmla="*/ 931890 h 1093788"/>
                  <a:gd name="connsiteX99" fmla="*/ 936610 w 977900"/>
                  <a:gd name="connsiteY99" fmla="*/ 928326 h 1093788"/>
                  <a:gd name="connsiteX100" fmla="*/ 938040 w 977900"/>
                  <a:gd name="connsiteY100" fmla="*/ 926187 h 1093788"/>
                  <a:gd name="connsiteX101" fmla="*/ 939470 w 977900"/>
                  <a:gd name="connsiteY101" fmla="*/ 924048 h 1093788"/>
                  <a:gd name="connsiteX102" fmla="*/ 940901 w 977900"/>
                  <a:gd name="connsiteY102" fmla="*/ 921909 h 1093788"/>
                  <a:gd name="connsiteX103" fmla="*/ 941616 w 977900"/>
                  <a:gd name="connsiteY103" fmla="*/ 919770 h 1093788"/>
                  <a:gd name="connsiteX104" fmla="*/ 943046 w 977900"/>
                  <a:gd name="connsiteY104" fmla="*/ 916918 h 1093788"/>
                  <a:gd name="connsiteX105" fmla="*/ 943761 w 977900"/>
                  <a:gd name="connsiteY105" fmla="*/ 915492 h 1093788"/>
                  <a:gd name="connsiteX106" fmla="*/ 945191 w 977900"/>
                  <a:gd name="connsiteY106" fmla="*/ 912641 h 1093788"/>
                  <a:gd name="connsiteX107" fmla="*/ 945906 w 977900"/>
                  <a:gd name="connsiteY107" fmla="*/ 911215 h 1093788"/>
                  <a:gd name="connsiteX108" fmla="*/ 946622 w 977900"/>
                  <a:gd name="connsiteY108" fmla="*/ 907650 h 1093788"/>
                  <a:gd name="connsiteX109" fmla="*/ 947337 w 977900"/>
                  <a:gd name="connsiteY109" fmla="*/ 906224 h 1093788"/>
                  <a:gd name="connsiteX110" fmla="*/ 948052 w 977900"/>
                  <a:gd name="connsiteY110" fmla="*/ 903372 h 1093788"/>
                  <a:gd name="connsiteX111" fmla="*/ 948767 w 977900"/>
                  <a:gd name="connsiteY111" fmla="*/ 901946 h 1093788"/>
                  <a:gd name="connsiteX112" fmla="*/ 949482 w 977900"/>
                  <a:gd name="connsiteY112" fmla="*/ 898381 h 1093788"/>
                  <a:gd name="connsiteX113" fmla="*/ 949482 w 977900"/>
                  <a:gd name="connsiteY113" fmla="*/ 896956 h 1093788"/>
                  <a:gd name="connsiteX114" fmla="*/ 950197 w 977900"/>
                  <a:gd name="connsiteY114" fmla="*/ 894104 h 1093788"/>
                  <a:gd name="connsiteX115" fmla="*/ 950197 w 977900"/>
                  <a:gd name="connsiteY115" fmla="*/ 891965 h 1093788"/>
                  <a:gd name="connsiteX116" fmla="*/ 950912 w 977900"/>
                  <a:gd name="connsiteY116" fmla="*/ 889826 h 1093788"/>
                  <a:gd name="connsiteX117" fmla="*/ 950912 w 977900"/>
                  <a:gd name="connsiteY117" fmla="*/ 884835 h 1093788"/>
                  <a:gd name="connsiteX118" fmla="*/ 950912 w 977900"/>
                  <a:gd name="connsiteY118" fmla="*/ 208240 h 1093788"/>
                  <a:gd name="connsiteX119" fmla="*/ 950912 w 977900"/>
                  <a:gd name="connsiteY119" fmla="*/ 206101 h 1093788"/>
                  <a:gd name="connsiteX120" fmla="*/ 950912 w 977900"/>
                  <a:gd name="connsiteY120" fmla="*/ 203249 h 1093788"/>
                  <a:gd name="connsiteX121" fmla="*/ 950197 w 977900"/>
                  <a:gd name="connsiteY121" fmla="*/ 200398 h 1093788"/>
                  <a:gd name="connsiteX122" fmla="*/ 949482 w 977900"/>
                  <a:gd name="connsiteY122" fmla="*/ 196833 h 1093788"/>
                  <a:gd name="connsiteX123" fmla="*/ 949482 w 977900"/>
                  <a:gd name="connsiteY123" fmla="*/ 195407 h 1093788"/>
                  <a:gd name="connsiteX124" fmla="*/ 948767 w 977900"/>
                  <a:gd name="connsiteY124" fmla="*/ 192555 h 1093788"/>
                  <a:gd name="connsiteX125" fmla="*/ 885122 w 977900"/>
                  <a:gd name="connsiteY125" fmla="*/ 117695 h 1093788"/>
                  <a:gd name="connsiteX126" fmla="*/ 880831 w 977900"/>
                  <a:gd name="connsiteY126" fmla="*/ 114843 h 1093788"/>
                  <a:gd name="connsiteX127" fmla="*/ 879401 w 977900"/>
                  <a:gd name="connsiteY127" fmla="*/ 114130 h 1093788"/>
                  <a:gd name="connsiteX128" fmla="*/ 875110 w 977900"/>
                  <a:gd name="connsiteY128" fmla="*/ 111278 h 1093788"/>
                  <a:gd name="connsiteX129" fmla="*/ 873680 w 977900"/>
                  <a:gd name="connsiteY129" fmla="*/ 110565 h 1093788"/>
                  <a:gd name="connsiteX130" fmla="*/ 870105 w 977900"/>
                  <a:gd name="connsiteY130" fmla="*/ 108426 h 1093788"/>
                  <a:gd name="connsiteX131" fmla="*/ 867959 w 977900"/>
                  <a:gd name="connsiteY131" fmla="*/ 107000 h 1093788"/>
                  <a:gd name="connsiteX132" fmla="*/ 864384 w 977900"/>
                  <a:gd name="connsiteY132" fmla="*/ 104861 h 1093788"/>
                  <a:gd name="connsiteX133" fmla="*/ 861523 w 977900"/>
                  <a:gd name="connsiteY133" fmla="*/ 103436 h 1093788"/>
                  <a:gd name="connsiteX134" fmla="*/ 858663 w 977900"/>
                  <a:gd name="connsiteY134" fmla="*/ 102010 h 1093788"/>
                  <a:gd name="connsiteX135" fmla="*/ 855087 w 977900"/>
                  <a:gd name="connsiteY135" fmla="*/ 99871 h 1093788"/>
                  <a:gd name="connsiteX136" fmla="*/ 852227 w 977900"/>
                  <a:gd name="connsiteY136" fmla="*/ 98445 h 1093788"/>
                  <a:gd name="connsiteX137" fmla="*/ 848651 w 977900"/>
                  <a:gd name="connsiteY137" fmla="*/ 97019 h 1093788"/>
                  <a:gd name="connsiteX138" fmla="*/ 845791 w 977900"/>
                  <a:gd name="connsiteY138" fmla="*/ 95593 h 1093788"/>
                  <a:gd name="connsiteX139" fmla="*/ 841500 w 977900"/>
                  <a:gd name="connsiteY139" fmla="*/ 93454 h 1093788"/>
                  <a:gd name="connsiteX140" fmla="*/ 839355 w 977900"/>
                  <a:gd name="connsiteY140" fmla="*/ 92028 h 1093788"/>
                  <a:gd name="connsiteX141" fmla="*/ 834349 w 977900"/>
                  <a:gd name="connsiteY141" fmla="*/ 90602 h 1093788"/>
                  <a:gd name="connsiteX142" fmla="*/ 830773 w 977900"/>
                  <a:gd name="connsiteY142" fmla="*/ 88463 h 1093788"/>
                  <a:gd name="connsiteX143" fmla="*/ 827198 w 977900"/>
                  <a:gd name="connsiteY143" fmla="*/ 87038 h 1093788"/>
                  <a:gd name="connsiteX144" fmla="*/ 821477 w 977900"/>
                  <a:gd name="connsiteY144" fmla="*/ 84899 h 1093788"/>
                  <a:gd name="connsiteX145" fmla="*/ 820047 w 977900"/>
                  <a:gd name="connsiteY145" fmla="*/ 84186 h 1093788"/>
                  <a:gd name="connsiteX146" fmla="*/ 812180 w 977900"/>
                  <a:gd name="connsiteY146" fmla="*/ 80621 h 1093788"/>
                  <a:gd name="connsiteX147" fmla="*/ 795733 w 977900"/>
                  <a:gd name="connsiteY147" fmla="*/ 74917 h 1093788"/>
                  <a:gd name="connsiteX148" fmla="*/ 795018 w 977900"/>
                  <a:gd name="connsiteY148" fmla="*/ 74917 h 1093788"/>
                  <a:gd name="connsiteX149" fmla="*/ 778570 w 977900"/>
                  <a:gd name="connsiteY149" fmla="*/ 69214 h 1093788"/>
                  <a:gd name="connsiteX150" fmla="*/ 777855 w 977900"/>
                  <a:gd name="connsiteY150" fmla="*/ 68501 h 1093788"/>
                  <a:gd name="connsiteX151" fmla="*/ 760692 w 977900"/>
                  <a:gd name="connsiteY151" fmla="*/ 63510 h 1093788"/>
                  <a:gd name="connsiteX152" fmla="*/ 759977 w 977900"/>
                  <a:gd name="connsiteY152" fmla="*/ 63510 h 1093788"/>
                  <a:gd name="connsiteX153" fmla="*/ 742815 w 977900"/>
                  <a:gd name="connsiteY153" fmla="*/ 58519 h 1093788"/>
                  <a:gd name="connsiteX154" fmla="*/ 741384 w 977900"/>
                  <a:gd name="connsiteY154" fmla="*/ 58519 h 1093788"/>
                  <a:gd name="connsiteX155" fmla="*/ 723507 w 977900"/>
                  <a:gd name="connsiteY155" fmla="*/ 54242 h 1093788"/>
                  <a:gd name="connsiteX156" fmla="*/ 722076 w 977900"/>
                  <a:gd name="connsiteY156" fmla="*/ 53529 h 1093788"/>
                  <a:gd name="connsiteX157" fmla="*/ 704198 w 977900"/>
                  <a:gd name="connsiteY157" fmla="*/ 49251 h 1093788"/>
                  <a:gd name="connsiteX158" fmla="*/ 702768 w 977900"/>
                  <a:gd name="connsiteY158" fmla="*/ 49251 h 1093788"/>
                  <a:gd name="connsiteX159" fmla="*/ 684175 w 977900"/>
                  <a:gd name="connsiteY159" fmla="*/ 45686 h 1093788"/>
                  <a:gd name="connsiteX160" fmla="*/ 682745 w 977900"/>
                  <a:gd name="connsiteY160" fmla="*/ 45686 h 1093788"/>
                  <a:gd name="connsiteX161" fmla="*/ 664152 w 977900"/>
                  <a:gd name="connsiteY161" fmla="*/ 42121 h 1093788"/>
                  <a:gd name="connsiteX162" fmla="*/ 662007 w 977900"/>
                  <a:gd name="connsiteY162" fmla="*/ 42121 h 1093788"/>
                  <a:gd name="connsiteX163" fmla="*/ 643414 w 977900"/>
                  <a:gd name="connsiteY163" fmla="*/ 39269 h 1093788"/>
                  <a:gd name="connsiteX164" fmla="*/ 641984 w 977900"/>
                  <a:gd name="connsiteY164" fmla="*/ 38557 h 1093788"/>
                  <a:gd name="connsiteX165" fmla="*/ 621961 w 977900"/>
                  <a:gd name="connsiteY165" fmla="*/ 36418 h 1093788"/>
                  <a:gd name="connsiteX166" fmla="*/ 620530 w 977900"/>
                  <a:gd name="connsiteY166" fmla="*/ 35705 h 1093788"/>
                  <a:gd name="connsiteX167" fmla="*/ 600507 w 977900"/>
                  <a:gd name="connsiteY167" fmla="*/ 33566 h 1093788"/>
                  <a:gd name="connsiteX168" fmla="*/ 599792 w 977900"/>
                  <a:gd name="connsiteY168" fmla="*/ 33566 h 1093788"/>
                  <a:gd name="connsiteX169" fmla="*/ 578339 w 977900"/>
                  <a:gd name="connsiteY169" fmla="*/ 32140 h 1093788"/>
                  <a:gd name="connsiteX170" fmla="*/ 577624 w 977900"/>
                  <a:gd name="connsiteY170" fmla="*/ 32140 h 1093788"/>
                  <a:gd name="connsiteX171" fmla="*/ 556170 w 977900"/>
                  <a:gd name="connsiteY171" fmla="*/ 30714 h 1093788"/>
                  <a:gd name="connsiteX172" fmla="*/ 534002 w 977900"/>
                  <a:gd name="connsiteY172" fmla="*/ 29288 h 1093788"/>
                  <a:gd name="connsiteX173" fmla="*/ 488950 w 977900"/>
                  <a:gd name="connsiteY173" fmla="*/ 28575 h 1093788"/>
                  <a:gd name="connsiteX174" fmla="*/ 477508 w 977900"/>
                  <a:gd name="connsiteY174" fmla="*/ 28575 h 1093788"/>
                  <a:gd name="connsiteX175" fmla="*/ 488950 w 977900"/>
                  <a:gd name="connsiteY175" fmla="*/ 0 h 1093788"/>
                  <a:gd name="connsiteX176" fmla="*/ 821579 w 977900"/>
                  <a:gd name="connsiteY176" fmla="*/ 54903 h 1093788"/>
                  <a:gd name="connsiteX177" fmla="*/ 976473 w 977900"/>
                  <a:gd name="connsiteY177" fmla="*/ 192518 h 1093788"/>
                  <a:gd name="connsiteX178" fmla="*/ 977900 w 977900"/>
                  <a:gd name="connsiteY178" fmla="*/ 198935 h 1093788"/>
                  <a:gd name="connsiteX179" fmla="*/ 977900 w 977900"/>
                  <a:gd name="connsiteY179" fmla="*/ 884870 h 1093788"/>
                  <a:gd name="connsiteX180" fmla="*/ 488950 w 977900"/>
                  <a:gd name="connsiteY180" fmla="*/ 1093788 h 1093788"/>
                  <a:gd name="connsiteX181" fmla="*/ 0 w 977900"/>
                  <a:gd name="connsiteY181" fmla="*/ 884870 h 1093788"/>
                  <a:gd name="connsiteX182" fmla="*/ 714 w 977900"/>
                  <a:gd name="connsiteY182" fmla="*/ 873462 h 1093788"/>
                  <a:gd name="connsiteX183" fmla="*/ 714 w 977900"/>
                  <a:gd name="connsiteY183" fmla="*/ 220326 h 1093788"/>
                  <a:gd name="connsiteX184" fmla="*/ 0 w 977900"/>
                  <a:gd name="connsiteY184" fmla="*/ 208918 h 1093788"/>
                  <a:gd name="connsiteX185" fmla="*/ 488950 w 977900"/>
                  <a:gd name="connsiteY185" fmla="*/ 0 h 1093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977900" h="1093788">
                    <a:moveTo>
                      <a:pt x="488514" y="61912"/>
                    </a:moveTo>
                    <a:cubicBezTo>
                      <a:pt x="725213" y="61912"/>
                      <a:pt x="917575" y="132511"/>
                      <a:pt x="917575" y="219512"/>
                    </a:cubicBezTo>
                    <a:cubicBezTo>
                      <a:pt x="917575" y="306513"/>
                      <a:pt x="725213" y="377825"/>
                      <a:pt x="488514" y="377825"/>
                    </a:cubicBezTo>
                    <a:cubicBezTo>
                      <a:pt x="255390" y="377825"/>
                      <a:pt x="65173" y="308652"/>
                      <a:pt x="58737" y="224504"/>
                    </a:cubicBezTo>
                    <a:cubicBezTo>
                      <a:pt x="58737" y="224504"/>
                      <a:pt x="58737" y="224504"/>
                      <a:pt x="58737" y="215233"/>
                    </a:cubicBezTo>
                    <a:cubicBezTo>
                      <a:pt x="65173" y="129659"/>
                      <a:pt x="255390" y="61912"/>
                      <a:pt x="488514" y="61912"/>
                    </a:cubicBezTo>
                    <a:close/>
                    <a:moveTo>
                      <a:pt x="477508" y="28575"/>
                    </a:moveTo>
                    <a:cubicBezTo>
                      <a:pt x="361660" y="30001"/>
                      <a:pt x="254393" y="48538"/>
                      <a:pt x="173585" y="78482"/>
                    </a:cubicBezTo>
                    <a:cubicBezTo>
                      <a:pt x="173585" y="78482"/>
                      <a:pt x="172870" y="78482"/>
                      <a:pt x="172155" y="79195"/>
                    </a:cubicBezTo>
                    <a:cubicBezTo>
                      <a:pt x="170010" y="79908"/>
                      <a:pt x="167864" y="80621"/>
                      <a:pt x="165719" y="81334"/>
                    </a:cubicBezTo>
                    <a:cubicBezTo>
                      <a:pt x="165719" y="81334"/>
                      <a:pt x="165004" y="82047"/>
                      <a:pt x="164289" y="82047"/>
                    </a:cubicBezTo>
                    <a:cubicBezTo>
                      <a:pt x="162143" y="82760"/>
                      <a:pt x="159283" y="84186"/>
                      <a:pt x="157138" y="84899"/>
                    </a:cubicBezTo>
                    <a:cubicBezTo>
                      <a:pt x="154277" y="86325"/>
                      <a:pt x="151417" y="87038"/>
                      <a:pt x="149271" y="88463"/>
                    </a:cubicBezTo>
                    <a:cubicBezTo>
                      <a:pt x="147841" y="89176"/>
                      <a:pt x="146411" y="89176"/>
                      <a:pt x="144981" y="89889"/>
                    </a:cubicBezTo>
                    <a:cubicBezTo>
                      <a:pt x="144266" y="90602"/>
                      <a:pt x="143551" y="90602"/>
                      <a:pt x="142835" y="91315"/>
                    </a:cubicBezTo>
                    <a:cubicBezTo>
                      <a:pt x="102074" y="109139"/>
                      <a:pt x="70609" y="130528"/>
                      <a:pt x="50586" y="153342"/>
                    </a:cubicBezTo>
                    <a:cubicBezTo>
                      <a:pt x="49871" y="154055"/>
                      <a:pt x="49871" y="154768"/>
                      <a:pt x="49156" y="154768"/>
                    </a:cubicBezTo>
                    <a:cubicBezTo>
                      <a:pt x="48441" y="155481"/>
                      <a:pt x="47726" y="156194"/>
                      <a:pt x="47726" y="156907"/>
                    </a:cubicBezTo>
                    <a:cubicBezTo>
                      <a:pt x="46295" y="158333"/>
                      <a:pt x="44865" y="159759"/>
                      <a:pt x="44150" y="161185"/>
                    </a:cubicBezTo>
                    <a:cubicBezTo>
                      <a:pt x="44150" y="161898"/>
                      <a:pt x="43435" y="161898"/>
                      <a:pt x="43435" y="161898"/>
                    </a:cubicBezTo>
                    <a:cubicBezTo>
                      <a:pt x="42720" y="163324"/>
                      <a:pt x="42005" y="164750"/>
                      <a:pt x="41289" y="165463"/>
                    </a:cubicBezTo>
                    <a:cubicBezTo>
                      <a:pt x="40574" y="166176"/>
                      <a:pt x="40574" y="166889"/>
                      <a:pt x="39859" y="167602"/>
                    </a:cubicBezTo>
                    <a:cubicBezTo>
                      <a:pt x="39859" y="168315"/>
                      <a:pt x="39144" y="169027"/>
                      <a:pt x="38429" y="169740"/>
                    </a:cubicBezTo>
                    <a:cubicBezTo>
                      <a:pt x="38429" y="170453"/>
                      <a:pt x="37714" y="171166"/>
                      <a:pt x="36999" y="171879"/>
                    </a:cubicBezTo>
                    <a:cubicBezTo>
                      <a:pt x="36999" y="172592"/>
                      <a:pt x="36284" y="173305"/>
                      <a:pt x="36284" y="174018"/>
                    </a:cubicBezTo>
                    <a:cubicBezTo>
                      <a:pt x="35569" y="174731"/>
                      <a:pt x="35569" y="176157"/>
                      <a:pt x="34853" y="176870"/>
                    </a:cubicBezTo>
                    <a:cubicBezTo>
                      <a:pt x="34853" y="177583"/>
                      <a:pt x="34138" y="177583"/>
                      <a:pt x="34138" y="178296"/>
                    </a:cubicBezTo>
                    <a:cubicBezTo>
                      <a:pt x="33423" y="179722"/>
                      <a:pt x="33423" y="180435"/>
                      <a:pt x="32708" y="181148"/>
                    </a:cubicBezTo>
                    <a:cubicBezTo>
                      <a:pt x="32708" y="181861"/>
                      <a:pt x="32708" y="182574"/>
                      <a:pt x="31993" y="182574"/>
                    </a:cubicBezTo>
                    <a:cubicBezTo>
                      <a:pt x="31993" y="184000"/>
                      <a:pt x="31278" y="184712"/>
                      <a:pt x="31278" y="186138"/>
                    </a:cubicBezTo>
                    <a:cubicBezTo>
                      <a:pt x="31278" y="186138"/>
                      <a:pt x="30563" y="186851"/>
                      <a:pt x="30563" y="187564"/>
                    </a:cubicBezTo>
                    <a:cubicBezTo>
                      <a:pt x="30563" y="188277"/>
                      <a:pt x="29848" y="189703"/>
                      <a:pt x="29848" y="190416"/>
                    </a:cubicBezTo>
                    <a:cubicBezTo>
                      <a:pt x="29848" y="191129"/>
                      <a:pt x="29133" y="191129"/>
                      <a:pt x="29133" y="191842"/>
                    </a:cubicBezTo>
                    <a:cubicBezTo>
                      <a:pt x="29133" y="193268"/>
                      <a:pt x="29133" y="193981"/>
                      <a:pt x="28417" y="195407"/>
                    </a:cubicBezTo>
                    <a:cubicBezTo>
                      <a:pt x="28417" y="195407"/>
                      <a:pt x="28417" y="196120"/>
                      <a:pt x="28417" y="196833"/>
                    </a:cubicBezTo>
                    <a:cubicBezTo>
                      <a:pt x="28417" y="197546"/>
                      <a:pt x="27702" y="198972"/>
                      <a:pt x="27702" y="199685"/>
                    </a:cubicBezTo>
                    <a:cubicBezTo>
                      <a:pt x="27702" y="200398"/>
                      <a:pt x="27702" y="201110"/>
                      <a:pt x="27702" y="201823"/>
                    </a:cubicBezTo>
                    <a:cubicBezTo>
                      <a:pt x="27702" y="202536"/>
                      <a:pt x="27702" y="203249"/>
                      <a:pt x="26987" y="203962"/>
                    </a:cubicBezTo>
                    <a:cubicBezTo>
                      <a:pt x="26987" y="206101"/>
                      <a:pt x="26987" y="207527"/>
                      <a:pt x="26987" y="208953"/>
                    </a:cubicBezTo>
                    <a:cubicBezTo>
                      <a:pt x="26987" y="209666"/>
                      <a:pt x="26987" y="209666"/>
                      <a:pt x="26987" y="210379"/>
                    </a:cubicBezTo>
                    <a:cubicBezTo>
                      <a:pt x="26987" y="211092"/>
                      <a:pt x="26987" y="211092"/>
                      <a:pt x="26987" y="211092"/>
                    </a:cubicBezTo>
                    <a:cubicBezTo>
                      <a:pt x="26987" y="211092"/>
                      <a:pt x="26987" y="211805"/>
                      <a:pt x="26987" y="211805"/>
                    </a:cubicBezTo>
                    <a:cubicBezTo>
                      <a:pt x="26987" y="211805"/>
                      <a:pt x="26987" y="211805"/>
                      <a:pt x="26987" y="215370"/>
                    </a:cubicBezTo>
                    <a:cubicBezTo>
                      <a:pt x="26987" y="215370"/>
                      <a:pt x="26987" y="215370"/>
                      <a:pt x="27702" y="217508"/>
                    </a:cubicBezTo>
                    <a:cubicBezTo>
                      <a:pt x="27702" y="217508"/>
                      <a:pt x="27702" y="217508"/>
                      <a:pt x="27702" y="876280"/>
                    </a:cubicBezTo>
                    <a:cubicBezTo>
                      <a:pt x="27702" y="876280"/>
                      <a:pt x="27702" y="876280"/>
                      <a:pt x="26987" y="878419"/>
                    </a:cubicBezTo>
                    <a:cubicBezTo>
                      <a:pt x="26987" y="878419"/>
                      <a:pt x="26987" y="878419"/>
                      <a:pt x="26987" y="881983"/>
                    </a:cubicBezTo>
                    <a:cubicBezTo>
                      <a:pt x="26987" y="881983"/>
                      <a:pt x="26987" y="882696"/>
                      <a:pt x="26987" y="882696"/>
                    </a:cubicBezTo>
                    <a:cubicBezTo>
                      <a:pt x="26987" y="882696"/>
                      <a:pt x="26987" y="882696"/>
                      <a:pt x="26987" y="883409"/>
                    </a:cubicBezTo>
                    <a:cubicBezTo>
                      <a:pt x="26987" y="884122"/>
                      <a:pt x="26987" y="884122"/>
                      <a:pt x="26987" y="884835"/>
                    </a:cubicBezTo>
                    <a:cubicBezTo>
                      <a:pt x="26987" y="886261"/>
                      <a:pt x="26987" y="887687"/>
                      <a:pt x="26987" y="889826"/>
                    </a:cubicBezTo>
                    <a:cubicBezTo>
                      <a:pt x="27702" y="890539"/>
                      <a:pt x="27702" y="891252"/>
                      <a:pt x="27702" y="891965"/>
                    </a:cubicBezTo>
                    <a:cubicBezTo>
                      <a:pt x="27702" y="892678"/>
                      <a:pt x="27702" y="893391"/>
                      <a:pt x="27702" y="894104"/>
                    </a:cubicBezTo>
                    <a:cubicBezTo>
                      <a:pt x="27702" y="894817"/>
                      <a:pt x="28417" y="896243"/>
                      <a:pt x="28417" y="896956"/>
                    </a:cubicBezTo>
                    <a:cubicBezTo>
                      <a:pt x="28417" y="897669"/>
                      <a:pt x="28417" y="898381"/>
                      <a:pt x="28417" y="898381"/>
                    </a:cubicBezTo>
                    <a:cubicBezTo>
                      <a:pt x="29133" y="899807"/>
                      <a:pt x="29133" y="900520"/>
                      <a:pt x="29133" y="901946"/>
                    </a:cubicBezTo>
                    <a:cubicBezTo>
                      <a:pt x="29133" y="902659"/>
                      <a:pt x="29848" y="902659"/>
                      <a:pt x="29848" y="903372"/>
                    </a:cubicBezTo>
                    <a:cubicBezTo>
                      <a:pt x="29848" y="904085"/>
                      <a:pt x="30563" y="905511"/>
                      <a:pt x="30563" y="906224"/>
                    </a:cubicBezTo>
                    <a:cubicBezTo>
                      <a:pt x="30563" y="906937"/>
                      <a:pt x="31278" y="907650"/>
                      <a:pt x="31278" y="907650"/>
                    </a:cubicBezTo>
                    <a:cubicBezTo>
                      <a:pt x="31278" y="909076"/>
                      <a:pt x="31993" y="909789"/>
                      <a:pt x="31993" y="911215"/>
                    </a:cubicBezTo>
                    <a:cubicBezTo>
                      <a:pt x="32708" y="911215"/>
                      <a:pt x="32708" y="911928"/>
                      <a:pt x="32708" y="912641"/>
                    </a:cubicBezTo>
                    <a:cubicBezTo>
                      <a:pt x="33423" y="913354"/>
                      <a:pt x="33423" y="914066"/>
                      <a:pt x="34138" y="915492"/>
                    </a:cubicBezTo>
                    <a:cubicBezTo>
                      <a:pt x="34138" y="916205"/>
                      <a:pt x="34853" y="916205"/>
                      <a:pt x="34853" y="916918"/>
                    </a:cubicBezTo>
                    <a:cubicBezTo>
                      <a:pt x="35569" y="917631"/>
                      <a:pt x="35569" y="919057"/>
                      <a:pt x="36284" y="919770"/>
                    </a:cubicBezTo>
                    <a:cubicBezTo>
                      <a:pt x="36284" y="920483"/>
                      <a:pt x="36999" y="921196"/>
                      <a:pt x="36999" y="921909"/>
                    </a:cubicBezTo>
                    <a:cubicBezTo>
                      <a:pt x="37714" y="922622"/>
                      <a:pt x="38429" y="923335"/>
                      <a:pt x="38429" y="924048"/>
                    </a:cubicBezTo>
                    <a:cubicBezTo>
                      <a:pt x="39144" y="924761"/>
                      <a:pt x="39859" y="925474"/>
                      <a:pt x="39859" y="926187"/>
                    </a:cubicBezTo>
                    <a:cubicBezTo>
                      <a:pt x="40574" y="926900"/>
                      <a:pt x="40574" y="927613"/>
                      <a:pt x="41289" y="928326"/>
                    </a:cubicBezTo>
                    <a:cubicBezTo>
                      <a:pt x="42005" y="929039"/>
                      <a:pt x="42720" y="930464"/>
                      <a:pt x="43435" y="931890"/>
                    </a:cubicBezTo>
                    <a:cubicBezTo>
                      <a:pt x="43435" y="931890"/>
                      <a:pt x="44150" y="931890"/>
                      <a:pt x="44150" y="931890"/>
                    </a:cubicBezTo>
                    <a:cubicBezTo>
                      <a:pt x="44865" y="934029"/>
                      <a:pt x="46295" y="935455"/>
                      <a:pt x="47726" y="936881"/>
                    </a:cubicBezTo>
                    <a:cubicBezTo>
                      <a:pt x="47726" y="937594"/>
                      <a:pt x="48441" y="938307"/>
                      <a:pt x="49156" y="939020"/>
                    </a:cubicBezTo>
                    <a:cubicBezTo>
                      <a:pt x="49871" y="939020"/>
                      <a:pt x="49871" y="939733"/>
                      <a:pt x="50586" y="940446"/>
                    </a:cubicBezTo>
                    <a:cubicBezTo>
                      <a:pt x="70609" y="963260"/>
                      <a:pt x="102074" y="984649"/>
                      <a:pt x="142835" y="1002473"/>
                    </a:cubicBezTo>
                    <a:cubicBezTo>
                      <a:pt x="143551" y="1003186"/>
                      <a:pt x="144266" y="1003186"/>
                      <a:pt x="144981" y="1003899"/>
                    </a:cubicBezTo>
                    <a:cubicBezTo>
                      <a:pt x="146411" y="1004612"/>
                      <a:pt x="147841" y="1005325"/>
                      <a:pt x="149271" y="1005325"/>
                    </a:cubicBezTo>
                    <a:cubicBezTo>
                      <a:pt x="151417" y="1006751"/>
                      <a:pt x="154277" y="1008177"/>
                      <a:pt x="157138" y="1008890"/>
                    </a:cubicBezTo>
                    <a:cubicBezTo>
                      <a:pt x="159283" y="1009603"/>
                      <a:pt x="160713" y="1010316"/>
                      <a:pt x="162859" y="1011029"/>
                    </a:cubicBezTo>
                    <a:cubicBezTo>
                      <a:pt x="163574" y="1011741"/>
                      <a:pt x="163574" y="1011741"/>
                      <a:pt x="164289" y="1011741"/>
                    </a:cubicBezTo>
                    <a:cubicBezTo>
                      <a:pt x="167149" y="1013167"/>
                      <a:pt x="170010" y="1013880"/>
                      <a:pt x="172155" y="1014593"/>
                    </a:cubicBezTo>
                    <a:cubicBezTo>
                      <a:pt x="172870" y="1015306"/>
                      <a:pt x="172870" y="1015306"/>
                      <a:pt x="172870" y="1015306"/>
                    </a:cubicBezTo>
                    <a:cubicBezTo>
                      <a:pt x="253678" y="1045250"/>
                      <a:pt x="360945" y="1063787"/>
                      <a:pt x="477508" y="1065213"/>
                    </a:cubicBezTo>
                    <a:cubicBezTo>
                      <a:pt x="480368" y="1065213"/>
                      <a:pt x="483229" y="1065213"/>
                      <a:pt x="486089" y="1065213"/>
                    </a:cubicBezTo>
                    <a:cubicBezTo>
                      <a:pt x="486804" y="1065213"/>
                      <a:pt x="488235" y="1065213"/>
                      <a:pt x="488950" y="1065213"/>
                    </a:cubicBezTo>
                    <a:cubicBezTo>
                      <a:pt x="489665" y="1065213"/>
                      <a:pt x="491095" y="1065213"/>
                      <a:pt x="491810" y="1065213"/>
                    </a:cubicBezTo>
                    <a:cubicBezTo>
                      <a:pt x="494671" y="1065213"/>
                      <a:pt x="497531" y="1065213"/>
                      <a:pt x="500392" y="1065213"/>
                    </a:cubicBezTo>
                    <a:cubicBezTo>
                      <a:pt x="616955" y="1063787"/>
                      <a:pt x="724222" y="1045250"/>
                      <a:pt x="805029" y="1015306"/>
                    </a:cubicBezTo>
                    <a:cubicBezTo>
                      <a:pt x="805029" y="1015306"/>
                      <a:pt x="805029" y="1015306"/>
                      <a:pt x="805744" y="1014593"/>
                    </a:cubicBezTo>
                    <a:cubicBezTo>
                      <a:pt x="807890" y="1013880"/>
                      <a:pt x="810750" y="1013167"/>
                      <a:pt x="813611" y="1011741"/>
                    </a:cubicBezTo>
                    <a:cubicBezTo>
                      <a:pt x="813611" y="1011741"/>
                      <a:pt x="814326" y="1011741"/>
                      <a:pt x="814326" y="1011741"/>
                    </a:cubicBezTo>
                    <a:cubicBezTo>
                      <a:pt x="816471" y="1010316"/>
                      <a:pt x="818616" y="1009603"/>
                      <a:pt x="820762" y="1008890"/>
                    </a:cubicBezTo>
                    <a:cubicBezTo>
                      <a:pt x="823622" y="1008177"/>
                      <a:pt x="826483" y="1006751"/>
                      <a:pt x="828628" y="1005325"/>
                    </a:cubicBezTo>
                    <a:cubicBezTo>
                      <a:pt x="830058" y="1005325"/>
                      <a:pt x="831488" y="1004612"/>
                      <a:pt x="832919" y="1003899"/>
                    </a:cubicBezTo>
                    <a:cubicBezTo>
                      <a:pt x="833634" y="1003186"/>
                      <a:pt x="834349" y="1003186"/>
                      <a:pt x="835064" y="1002473"/>
                    </a:cubicBezTo>
                    <a:cubicBezTo>
                      <a:pt x="875825" y="984649"/>
                      <a:pt x="907290" y="963260"/>
                      <a:pt x="927314" y="940446"/>
                    </a:cubicBezTo>
                    <a:cubicBezTo>
                      <a:pt x="928029" y="939733"/>
                      <a:pt x="928029" y="939020"/>
                      <a:pt x="928744" y="939020"/>
                    </a:cubicBezTo>
                    <a:cubicBezTo>
                      <a:pt x="929459" y="938307"/>
                      <a:pt x="930174" y="937594"/>
                      <a:pt x="930174" y="936881"/>
                    </a:cubicBezTo>
                    <a:cubicBezTo>
                      <a:pt x="931604" y="935455"/>
                      <a:pt x="933034" y="934029"/>
                      <a:pt x="933750" y="931890"/>
                    </a:cubicBezTo>
                    <a:cubicBezTo>
                      <a:pt x="933750" y="931890"/>
                      <a:pt x="934465" y="931890"/>
                      <a:pt x="934465" y="931890"/>
                    </a:cubicBezTo>
                    <a:cubicBezTo>
                      <a:pt x="935180" y="930464"/>
                      <a:pt x="935895" y="929039"/>
                      <a:pt x="936610" y="928326"/>
                    </a:cubicBezTo>
                    <a:cubicBezTo>
                      <a:pt x="937325" y="927613"/>
                      <a:pt x="937325" y="926900"/>
                      <a:pt x="938040" y="926187"/>
                    </a:cubicBezTo>
                    <a:cubicBezTo>
                      <a:pt x="938040" y="925474"/>
                      <a:pt x="938755" y="924761"/>
                      <a:pt x="939470" y="924048"/>
                    </a:cubicBezTo>
                    <a:cubicBezTo>
                      <a:pt x="939470" y="923335"/>
                      <a:pt x="940186" y="922622"/>
                      <a:pt x="940901" y="921909"/>
                    </a:cubicBezTo>
                    <a:cubicBezTo>
                      <a:pt x="940901" y="921196"/>
                      <a:pt x="941616" y="920483"/>
                      <a:pt x="941616" y="919770"/>
                    </a:cubicBezTo>
                    <a:cubicBezTo>
                      <a:pt x="942331" y="919057"/>
                      <a:pt x="942331" y="917631"/>
                      <a:pt x="943046" y="916918"/>
                    </a:cubicBezTo>
                    <a:cubicBezTo>
                      <a:pt x="943046" y="916205"/>
                      <a:pt x="943761" y="916205"/>
                      <a:pt x="943761" y="915492"/>
                    </a:cubicBezTo>
                    <a:cubicBezTo>
                      <a:pt x="944476" y="914066"/>
                      <a:pt x="944476" y="913354"/>
                      <a:pt x="945191" y="912641"/>
                    </a:cubicBezTo>
                    <a:cubicBezTo>
                      <a:pt x="945191" y="911928"/>
                      <a:pt x="945191" y="911215"/>
                      <a:pt x="945906" y="911215"/>
                    </a:cubicBezTo>
                    <a:cubicBezTo>
                      <a:pt x="945906" y="909789"/>
                      <a:pt x="946622" y="909076"/>
                      <a:pt x="946622" y="907650"/>
                    </a:cubicBezTo>
                    <a:cubicBezTo>
                      <a:pt x="946622" y="907650"/>
                      <a:pt x="947337" y="906937"/>
                      <a:pt x="947337" y="906224"/>
                    </a:cubicBezTo>
                    <a:cubicBezTo>
                      <a:pt x="947337" y="905511"/>
                      <a:pt x="948052" y="904085"/>
                      <a:pt x="948052" y="903372"/>
                    </a:cubicBezTo>
                    <a:cubicBezTo>
                      <a:pt x="948052" y="902659"/>
                      <a:pt x="948767" y="902659"/>
                      <a:pt x="948767" y="901946"/>
                    </a:cubicBezTo>
                    <a:cubicBezTo>
                      <a:pt x="948767" y="900520"/>
                      <a:pt x="948767" y="899807"/>
                      <a:pt x="949482" y="898381"/>
                    </a:cubicBezTo>
                    <a:cubicBezTo>
                      <a:pt x="949482" y="898381"/>
                      <a:pt x="949482" y="897669"/>
                      <a:pt x="949482" y="896956"/>
                    </a:cubicBezTo>
                    <a:cubicBezTo>
                      <a:pt x="949482" y="896243"/>
                      <a:pt x="950197" y="894817"/>
                      <a:pt x="950197" y="894104"/>
                    </a:cubicBezTo>
                    <a:cubicBezTo>
                      <a:pt x="950197" y="893391"/>
                      <a:pt x="950197" y="892678"/>
                      <a:pt x="950197" y="891965"/>
                    </a:cubicBezTo>
                    <a:cubicBezTo>
                      <a:pt x="950197" y="891252"/>
                      <a:pt x="950197" y="890539"/>
                      <a:pt x="950912" y="889826"/>
                    </a:cubicBezTo>
                    <a:cubicBezTo>
                      <a:pt x="950912" y="887687"/>
                      <a:pt x="950912" y="886261"/>
                      <a:pt x="950912" y="884835"/>
                    </a:cubicBezTo>
                    <a:cubicBezTo>
                      <a:pt x="950912" y="884835"/>
                      <a:pt x="950912" y="879132"/>
                      <a:pt x="950912" y="208240"/>
                    </a:cubicBezTo>
                    <a:cubicBezTo>
                      <a:pt x="950912" y="207527"/>
                      <a:pt x="950912" y="206814"/>
                      <a:pt x="950912" y="206101"/>
                    </a:cubicBezTo>
                    <a:cubicBezTo>
                      <a:pt x="950912" y="205388"/>
                      <a:pt x="950912" y="203962"/>
                      <a:pt x="950912" y="203249"/>
                    </a:cubicBezTo>
                    <a:cubicBezTo>
                      <a:pt x="950912" y="201823"/>
                      <a:pt x="950912" y="201110"/>
                      <a:pt x="950197" y="200398"/>
                    </a:cubicBezTo>
                    <a:cubicBezTo>
                      <a:pt x="950197" y="198972"/>
                      <a:pt x="949482" y="197546"/>
                      <a:pt x="949482" y="196833"/>
                    </a:cubicBezTo>
                    <a:cubicBezTo>
                      <a:pt x="949482" y="196120"/>
                      <a:pt x="949482" y="196120"/>
                      <a:pt x="949482" y="195407"/>
                    </a:cubicBezTo>
                    <a:cubicBezTo>
                      <a:pt x="948767" y="194694"/>
                      <a:pt x="948767" y="193268"/>
                      <a:pt x="948767" y="192555"/>
                    </a:cubicBezTo>
                    <a:cubicBezTo>
                      <a:pt x="942331" y="166176"/>
                      <a:pt x="920162" y="140509"/>
                      <a:pt x="885122" y="117695"/>
                    </a:cubicBezTo>
                    <a:cubicBezTo>
                      <a:pt x="883692" y="116982"/>
                      <a:pt x="882261" y="115556"/>
                      <a:pt x="880831" y="114843"/>
                    </a:cubicBezTo>
                    <a:cubicBezTo>
                      <a:pt x="880116" y="114130"/>
                      <a:pt x="880116" y="114130"/>
                      <a:pt x="879401" y="114130"/>
                    </a:cubicBezTo>
                    <a:cubicBezTo>
                      <a:pt x="877971" y="113417"/>
                      <a:pt x="876541" y="111991"/>
                      <a:pt x="875110" y="111278"/>
                    </a:cubicBezTo>
                    <a:cubicBezTo>
                      <a:pt x="875110" y="111278"/>
                      <a:pt x="874395" y="110565"/>
                      <a:pt x="873680" y="110565"/>
                    </a:cubicBezTo>
                    <a:cubicBezTo>
                      <a:pt x="872250" y="109852"/>
                      <a:pt x="871535" y="109139"/>
                      <a:pt x="870105" y="108426"/>
                    </a:cubicBezTo>
                    <a:cubicBezTo>
                      <a:pt x="869389" y="107713"/>
                      <a:pt x="868674" y="107713"/>
                      <a:pt x="867959" y="107000"/>
                    </a:cubicBezTo>
                    <a:cubicBezTo>
                      <a:pt x="866529" y="106287"/>
                      <a:pt x="865814" y="105574"/>
                      <a:pt x="864384" y="104861"/>
                    </a:cubicBezTo>
                    <a:cubicBezTo>
                      <a:pt x="863669" y="104861"/>
                      <a:pt x="862238" y="104148"/>
                      <a:pt x="861523" y="103436"/>
                    </a:cubicBezTo>
                    <a:cubicBezTo>
                      <a:pt x="860808" y="102723"/>
                      <a:pt x="859378" y="102723"/>
                      <a:pt x="858663" y="102010"/>
                    </a:cubicBezTo>
                    <a:cubicBezTo>
                      <a:pt x="857233" y="101297"/>
                      <a:pt x="856517" y="100584"/>
                      <a:pt x="855087" y="99871"/>
                    </a:cubicBezTo>
                    <a:cubicBezTo>
                      <a:pt x="854372" y="99871"/>
                      <a:pt x="852942" y="99158"/>
                      <a:pt x="852227" y="98445"/>
                    </a:cubicBezTo>
                    <a:cubicBezTo>
                      <a:pt x="850797" y="98445"/>
                      <a:pt x="849366" y="97732"/>
                      <a:pt x="848651" y="97019"/>
                    </a:cubicBezTo>
                    <a:cubicBezTo>
                      <a:pt x="847221" y="96306"/>
                      <a:pt x="846506" y="96306"/>
                      <a:pt x="845791" y="95593"/>
                    </a:cubicBezTo>
                    <a:cubicBezTo>
                      <a:pt x="844360" y="94880"/>
                      <a:pt x="842930" y="94167"/>
                      <a:pt x="841500" y="93454"/>
                    </a:cubicBezTo>
                    <a:cubicBezTo>
                      <a:pt x="840785" y="93454"/>
                      <a:pt x="840070" y="92741"/>
                      <a:pt x="839355" y="92028"/>
                    </a:cubicBezTo>
                    <a:cubicBezTo>
                      <a:pt x="837209" y="91315"/>
                      <a:pt x="835779" y="90602"/>
                      <a:pt x="834349" y="90602"/>
                    </a:cubicBezTo>
                    <a:cubicBezTo>
                      <a:pt x="833634" y="89889"/>
                      <a:pt x="832204" y="89176"/>
                      <a:pt x="830773" y="88463"/>
                    </a:cubicBezTo>
                    <a:cubicBezTo>
                      <a:pt x="830058" y="88463"/>
                      <a:pt x="828628" y="87750"/>
                      <a:pt x="827198" y="87038"/>
                    </a:cubicBezTo>
                    <a:cubicBezTo>
                      <a:pt x="825768" y="86325"/>
                      <a:pt x="823622" y="85612"/>
                      <a:pt x="821477" y="84899"/>
                    </a:cubicBezTo>
                    <a:cubicBezTo>
                      <a:pt x="820762" y="84186"/>
                      <a:pt x="820762" y="84186"/>
                      <a:pt x="820047" y="84186"/>
                    </a:cubicBezTo>
                    <a:cubicBezTo>
                      <a:pt x="817186" y="82760"/>
                      <a:pt x="815041" y="82047"/>
                      <a:pt x="812180" y="80621"/>
                    </a:cubicBezTo>
                    <a:cubicBezTo>
                      <a:pt x="806460" y="78482"/>
                      <a:pt x="801454" y="77056"/>
                      <a:pt x="795733" y="74917"/>
                    </a:cubicBezTo>
                    <a:cubicBezTo>
                      <a:pt x="795733" y="74917"/>
                      <a:pt x="795733" y="74917"/>
                      <a:pt x="795018" y="74917"/>
                    </a:cubicBezTo>
                    <a:cubicBezTo>
                      <a:pt x="790012" y="72778"/>
                      <a:pt x="784291" y="70640"/>
                      <a:pt x="778570" y="69214"/>
                    </a:cubicBezTo>
                    <a:cubicBezTo>
                      <a:pt x="778570" y="69214"/>
                      <a:pt x="777855" y="69214"/>
                      <a:pt x="777855" y="68501"/>
                    </a:cubicBezTo>
                    <a:cubicBezTo>
                      <a:pt x="772134" y="67075"/>
                      <a:pt x="766413" y="65649"/>
                      <a:pt x="760692" y="63510"/>
                    </a:cubicBezTo>
                    <a:cubicBezTo>
                      <a:pt x="760692" y="63510"/>
                      <a:pt x="759977" y="63510"/>
                      <a:pt x="759977" y="63510"/>
                    </a:cubicBezTo>
                    <a:cubicBezTo>
                      <a:pt x="754256" y="61371"/>
                      <a:pt x="748535" y="59945"/>
                      <a:pt x="742815" y="58519"/>
                    </a:cubicBezTo>
                    <a:cubicBezTo>
                      <a:pt x="742099" y="58519"/>
                      <a:pt x="741384" y="58519"/>
                      <a:pt x="741384" y="58519"/>
                    </a:cubicBezTo>
                    <a:cubicBezTo>
                      <a:pt x="735663" y="56380"/>
                      <a:pt x="729227" y="54954"/>
                      <a:pt x="723507" y="54242"/>
                    </a:cubicBezTo>
                    <a:cubicBezTo>
                      <a:pt x="722791" y="53529"/>
                      <a:pt x="722791" y="53529"/>
                      <a:pt x="722076" y="53529"/>
                    </a:cubicBezTo>
                    <a:cubicBezTo>
                      <a:pt x="716355" y="52103"/>
                      <a:pt x="709919" y="50677"/>
                      <a:pt x="704198" y="49251"/>
                    </a:cubicBezTo>
                    <a:cubicBezTo>
                      <a:pt x="703483" y="49251"/>
                      <a:pt x="703483" y="49251"/>
                      <a:pt x="702768" y="49251"/>
                    </a:cubicBezTo>
                    <a:cubicBezTo>
                      <a:pt x="696332" y="47825"/>
                      <a:pt x="690611" y="47112"/>
                      <a:pt x="684175" y="45686"/>
                    </a:cubicBezTo>
                    <a:cubicBezTo>
                      <a:pt x="683460" y="45686"/>
                      <a:pt x="683460" y="45686"/>
                      <a:pt x="682745" y="45686"/>
                    </a:cubicBezTo>
                    <a:cubicBezTo>
                      <a:pt x="676309" y="44260"/>
                      <a:pt x="670588" y="42834"/>
                      <a:pt x="664152" y="42121"/>
                    </a:cubicBezTo>
                    <a:cubicBezTo>
                      <a:pt x="663437" y="42121"/>
                      <a:pt x="662722" y="42121"/>
                      <a:pt x="662007" y="42121"/>
                    </a:cubicBezTo>
                    <a:cubicBezTo>
                      <a:pt x="656286" y="40695"/>
                      <a:pt x="649850" y="39982"/>
                      <a:pt x="643414" y="39269"/>
                    </a:cubicBezTo>
                    <a:cubicBezTo>
                      <a:pt x="642699" y="38557"/>
                      <a:pt x="641984" y="38557"/>
                      <a:pt x="641984" y="38557"/>
                    </a:cubicBezTo>
                    <a:cubicBezTo>
                      <a:pt x="635548" y="37844"/>
                      <a:pt x="628397" y="37131"/>
                      <a:pt x="621961" y="36418"/>
                    </a:cubicBezTo>
                    <a:cubicBezTo>
                      <a:pt x="621245" y="36418"/>
                      <a:pt x="621245" y="36418"/>
                      <a:pt x="620530" y="35705"/>
                    </a:cubicBezTo>
                    <a:cubicBezTo>
                      <a:pt x="614094" y="34992"/>
                      <a:pt x="606943" y="34279"/>
                      <a:pt x="600507" y="33566"/>
                    </a:cubicBezTo>
                    <a:cubicBezTo>
                      <a:pt x="599792" y="33566"/>
                      <a:pt x="599792" y="33566"/>
                      <a:pt x="599792" y="33566"/>
                    </a:cubicBezTo>
                    <a:cubicBezTo>
                      <a:pt x="592641" y="32853"/>
                      <a:pt x="585490" y="32140"/>
                      <a:pt x="578339" y="32140"/>
                    </a:cubicBezTo>
                    <a:cubicBezTo>
                      <a:pt x="578339" y="32140"/>
                      <a:pt x="578339" y="32140"/>
                      <a:pt x="577624" y="32140"/>
                    </a:cubicBezTo>
                    <a:cubicBezTo>
                      <a:pt x="570473" y="31427"/>
                      <a:pt x="563321" y="30714"/>
                      <a:pt x="556170" y="30714"/>
                    </a:cubicBezTo>
                    <a:cubicBezTo>
                      <a:pt x="549019" y="30001"/>
                      <a:pt x="541153" y="29288"/>
                      <a:pt x="534002" y="29288"/>
                    </a:cubicBezTo>
                    <a:cubicBezTo>
                      <a:pt x="518984" y="28575"/>
                      <a:pt x="503967" y="28575"/>
                      <a:pt x="488950" y="28575"/>
                    </a:cubicBezTo>
                    <a:cubicBezTo>
                      <a:pt x="485374" y="28575"/>
                      <a:pt x="481083" y="28575"/>
                      <a:pt x="477508" y="28575"/>
                    </a:cubicBezTo>
                    <a:close/>
                    <a:moveTo>
                      <a:pt x="488950" y="0"/>
                    </a:moveTo>
                    <a:cubicBezTo>
                      <a:pt x="613151" y="0"/>
                      <a:pt x="731641" y="19252"/>
                      <a:pt x="821579" y="54903"/>
                    </a:cubicBezTo>
                    <a:cubicBezTo>
                      <a:pt x="912945" y="90555"/>
                      <a:pt x="967193" y="139041"/>
                      <a:pt x="976473" y="192518"/>
                    </a:cubicBezTo>
                    <a:cubicBezTo>
                      <a:pt x="977186" y="193944"/>
                      <a:pt x="977900" y="196083"/>
                      <a:pt x="977900" y="198935"/>
                    </a:cubicBezTo>
                    <a:cubicBezTo>
                      <a:pt x="977900" y="198935"/>
                      <a:pt x="977900" y="198935"/>
                      <a:pt x="977900" y="884870"/>
                    </a:cubicBezTo>
                    <a:cubicBezTo>
                      <a:pt x="977900" y="1001807"/>
                      <a:pt x="763762" y="1093788"/>
                      <a:pt x="488950" y="1093788"/>
                    </a:cubicBezTo>
                    <a:cubicBezTo>
                      <a:pt x="214139" y="1093788"/>
                      <a:pt x="0" y="1001807"/>
                      <a:pt x="0" y="884870"/>
                    </a:cubicBezTo>
                    <a:cubicBezTo>
                      <a:pt x="0" y="881305"/>
                      <a:pt x="0" y="877027"/>
                      <a:pt x="714" y="873462"/>
                    </a:cubicBezTo>
                    <a:cubicBezTo>
                      <a:pt x="714" y="873462"/>
                      <a:pt x="714" y="873462"/>
                      <a:pt x="714" y="220326"/>
                    </a:cubicBezTo>
                    <a:cubicBezTo>
                      <a:pt x="0" y="216761"/>
                      <a:pt x="0" y="212483"/>
                      <a:pt x="0" y="208918"/>
                    </a:cubicBezTo>
                    <a:cubicBezTo>
                      <a:pt x="0" y="91981"/>
                      <a:pt x="214139" y="0"/>
                      <a:pt x="488950"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47" name="Freeform 18">
                <a:extLst>
                  <a:ext uri="{FF2B5EF4-FFF2-40B4-BE49-F238E27FC236}">
                    <a16:creationId xmlns:a16="http://schemas.microsoft.com/office/drawing/2014/main" id="{726D2D1C-B8EC-405C-80A3-E1161430E4B5}"/>
                  </a:ext>
                </a:extLst>
              </p:cNvPr>
              <p:cNvSpPr>
                <a:spLocks/>
              </p:cNvSpPr>
              <p:nvPr/>
            </p:nvSpPr>
            <p:spPr bwMode="auto">
              <a:xfrm>
                <a:off x="5667375" y="3184524"/>
                <a:ext cx="860425" cy="723900"/>
              </a:xfrm>
              <a:custGeom>
                <a:avLst/>
                <a:gdLst>
                  <a:gd name="connsiteX0" fmla="*/ 860425 w 860425"/>
                  <a:gd name="connsiteY0" fmla="*/ 434975 h 723900"/>
                  <a:gd name="connsiteX1" fmla="*/ 860425 w 860425"/>
                  <a:gd name="connsiteY1" fmla="*/ 581935 h 723900"/>
                  <a:gd name="connsiteX2" fmla="*/ 743224 w 860425"/>
                  <a:gd name="connsiteY2" fmla="*/ 679670 h 723900"/>
                  <a:gd name="connsiteX3" fmla="*/ 703919 w 860425"/>
                  <a:gd name="connsiteY3" fmla="*/ 693224 h 723900"/>
                  <a:gd name="connsiteX4" fmla="*/ 430927 w 860425"/>
                  <a:gd name="connsiteY4" fmla="*/ 723900 h 723900"/>
                  <a:gd name="connsiteX5" fmla="*/ 155791 w 860425"/>
                  <a:gd name="connsiteY5" fmla="*/ 693224 h 723900"/>
                  <a:gd name="connsiteX6" fmla="*/ 117201 w 860425"/>
                  <a:gd name="connsiteY6" fmla="*/ 679670 h 723900"/>
                  <a:gd name="connsiteX7" fmla="*/ 0 w 860425"/>
                  <a:gd name="connsiteY7" fmla="*/ 581935 h 723900"/>
                  <a:gd name="connsiteX8" fmla="*/ 0 w 860425"/>
                  <a:gd name="connsiteY8" fmla="*/ 579794 h 723900"/>
                  <a:gd name="connsiteX9" fmla="*/ 715 w 860425"/>
                  <a:gd name="connsiteY9" fmla="*/ 577654 h 723900"/>
                  <a:gd name="connsiteX10" fmla="*/ 715 w 860425"/>
                  <a:gd name="connsiteY10" fmla="*/ 436402 h 723900"/>
                  <a:gd name="connsiteX11" fmla="*/ 430927 w 860425"/>
                  <a:gd name="connsiteY11" fmla="*/ 557679 h 723900"/>
                  <a:gd name="connsiteX12" fmla="*/ 860425 w 860425"/>
                  <a:gd name="connsiteY12" fmla="*/ 434975 h 723900"/>
                  <a:gd name="connsiteX13" fmla="*/ 860425 w 860425"/>
                  <a:gd name="connsiteY13" fmla="*/ 214313 h 723900"/>
                  <a:gd name="connsiteX14" fmla="*/ 860425 w 860425"/>
                  <a:gd name="connsiteY14" fmla="*/ 384562 h 723900"/>
                  <a:gd name="connsiteX15" fmla="*/ 430570 w 860425"/>
                  <a:gd name="connsiteY15" fmla="*/ 511176 h 723900"/>
                  <a:gd name="connsiteX16" fmla="*/ 0 w 860425"/>
                  <a:gd name="connsiteY16" fmla="*/ 385993 h 723900"/>
                  <a:gd name="connsiteX17" fmla="*/ 0 w 860425"/>
                  <a:gd name="connsiteY17" fmla="*/ 215744 h 723900"/>
                  <a:gd name="connsiteX18" fmla="*/ 430570 w 860425"/>
                  <a:gd name="connsiteY18" fmla="*/ 340212 h 723900"/>
                  <a:gd name="connsiteX19" fmla="*/ 860425 w 860425"/>
                  <a:gd name="connsiteY19" fmla="*/ 214313 h 723900"/>
                  <a:gd name="connsiteX20" fmla="*/ 860425 w 860425"/>
                  <a:gd name="connsiteY20" fmla="*/ 0 h 723900"/>
                  <a:gd name="connsiteX21" fmla="*/ 860425 w 860425"/>
                  <a:gd name="connsiteY21" fmla="*/ 165508 h 723900"/>
                  <a:gd name="connsiteX22" fmla="*/ 430570 w 860425"/>
                  <a:gd name="connsiteY22" fmla="*/ 288925 h 723900"/>
                  <a:gd name="connsiteX23" fmla="*/ 0 w 860425"/>
                  <a:gd name="connsiteY23" fmla="*/ 166935 h 723900"/>
                  <a:gd name="connsiteX24" fmla="*/ 0 w 860425"/>
                  <a:gd name="connsiteY24" fmla="*/ 1427 h 723900"/>
                  <a:gd name="connsiteX25" fmla="*/ 430570 w 860425"/>
                  <a:gd name="connsiteY25" fmla="*/ 122704 h 723900"/>
                  <a:gd name="connsiteX26" fmla="*/ 860425 w 860425"/>
                  <a:gd name="connsiteY26"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60425" h="723900">
                    <a:moveTo>
                      <a:pt x="860425" y="434975"/>
                    </a:moveTo>
                    <a:cubicBezTo>
                      <a:pt x="860425" y="434975"/>
                      <a:pt x="860425" y="434975"/>
                      <a:pt x="860425" y="581935"/>
                    </a:cubicBezTo>
                    <a:cubicBezTo>
                      <a:pt x="860425" y="614037"/>
                      <a:pt x="815403" y="651847"/>
                      <a:pt x="743224" y="679670"/>
                    </a:cubicBezTo>
                    <a:cubicBezTo>
                      <a:pt x="731076" y="684663"/>
                      <a:pt x="717497" y="688944"/>
                      <a:pt x="703919" y="693224"/>
                    </a:cubicBezTo>
                    <a:cubicBezTo>
                      <a:pt x="629597" y="713199"/>
                      <a:pt x="533835" y="723900"/>
                      <a:pt x="430927" y="723900"/>
                    </a:cubicBezTo>
                    <a:cubicBezTo>
                      <a:pt x="326590" y="723900"/>
                      <a:pt x="230829" y="713199"/>
                      <a:pt x="155791" y="693224"/>
                    </a:cubicBezTo>
                    <a:cubicBezTo>
                      <a:pt x="142213" y="688944"/>
                      <a:pt x="129350" y="684663"/>
                      <a:pt x="117201" y="679670"/>
                    </a:cubicBezTo>
                    <a:cubicBezTo>
                      <a:pt x="45022" y="651847"/>
                      <a:pt x="0" y="614037"/>
                      <a:pt x="0" y="581935"/>
                    </a:cubicBezTo>
                    <a:cubicBezTo>
                      <a:pt x="0" y="581221"/>
                      <a:pt x="0" y="580508"/>
                      <a:pt x="0" y="579794"/>
                    </a:cubicBezTo>
                    <a:cubicBezTo>
                      <a:pt x="0" y="579794"/>
                      <a:pt x="0" y="579794"/>
                      <a:pt x="715" y="577654"/>
                    </a:cubicBezTo>
                    <a:cubicBezTo>
                      <a:pt x="715" y="577654"/>
                      <a:pt x="715" y="577654"/>
                      <a:pt x="715" y="436402"/>
                    </a:cubicBezTo>
                    <a:cubicBezTo>
                      <a:pt x="33588" y="509168"/>
                      <a:pt x="213677" y="557679"/>
                      <a:pt x="430927" y="557679"/>
                    </a:cubicBezTo>
                    <a:cubicBezTo>
                      <a:pt x="648178" y="557679"/>
                      <a:pt x="828981" y="508455"/>
                      <a:pt x="860425" y="434975"/>
                    </a:cubicBezTo>
                    <a:close/>
                    <a:moveTo>
                      <a:pt x="860425" y="214313"/>
                    </a:moveTo>
                    <a:cubicBezTo>
                      <a:pt x="860425" y="214313"/>
                      <a:pt x="860425" y="214313"/>
                      <a:pt x="860425" y="384562"/>
                    </a:cubicBezTo>
                    <a:cubicBezTo>
                      <a:pt x="828955" y="461103"/>
                      <a:pt x="648001" y="511176"/>
                      <a:pt x="430570" y="511176"/>
                    </a:cubicBezTo>
                    <a:cubicBezTo>
                      <a:pt x="213140" y="511176"/>
                      <a:pt x="32901" y="461818"/>
                      <a:pt x="0" y="385993"/>
                    </a:cubicBezTo>
                    <a:cubicBezTo>
                      <a:pt x="0" y="385993"/>
                      <a:pt x="0" y="385993"/>
                      <a:pt x="0" y="215744"/>
                    </a:cubicBezTo>
                    <a:cubicBezTo>
                      <a:pt x="32901" y="290854"/>
                      <a:pt x="213140" y="340212"/>
                      <a:pt x="430570" y="340212"/>
                    </a:cubicBezTo>
                    <a:cubicBezTo>
                      <a:pt x="648001" y="340212"/>
                      <a:pt x="828955" y="290138"/>
                      <a:pt x="860425" y="214313"/>
                    </a:cubicBezTo>
                    <a:close/>
                    <a:moveTo>
                      <a:pt x="860425" y="0"/>
                    </a:moveTo>
                    <a:cubicBezTo>
                      <a:pt x="860425" y="0"/>
                      <a:pt x="860425" y="0"/>
                      <a:pt x="860425" y="165508"/>
                    </a:cubicBezTo>
                    <a:cubicBezTo>
                      <a:pt x="828955" y="239701"/>
                      <a:pt x="648001" y="288925"/>
                      <a:pt x="430570" y="288925"/>
                    </a:cubicBezTo>
                    <a:cubicBezTo>
                      <a:pt x="213140" y="288925"/>
                      <a:pt x="32901" y="240414"/>
                      <a:pt x="0" y="166935"/>
                    </a:cubicBezTo>
                    <a:cubicBezTo>
                      <a:pt x="0" y="166935"/>
                      <a:pt x="0" y="166935"/>
                      <a:pt x="0" y="1427"/>
                    </a:cubicBezTo>
                    <a:cubicBezTo>
                      <a:pt x="32901" y="74193"/>
                      <a:pt x="213140" y="122704"/>
                      <a:pt x="430570" y="122704"/>
                    </a:cubicBezTo>
                    <a:cubicBezTo>
                      <a:pt x="648001" y="122704"/>
                      <a:pt x="828955" y="73480"/>
                      <a:pt x="860425" y="0"/>
                    </a:cubicBezTo>
                    <a:close/>
                  </a:path>
                </a:pathLst>
              </a:custGeom>
              <a:solidFill>
                <a:schemeClr val="tx2"/>
              </a:solidFill>
              <a:ln>
                <a:noFill/>
              </a:ln>
            </p:spPr>
            <p:txBody>
              <a:bodyPr vert="horz" wrap="square" lIns="91440" tIns="45720" rIns="91440" bIns="45720" numCol="1" anchor="t" anchorCtr="0" compatLnSpc="1">
                <a:prstTxWarp prst="textNoShape">
                  <a:avLst/>
                </a:prstTxWarp>
                <a:noAutofit/>
              </a:bodyPr>
              <a:lstStyle/>
              <a:p>
                <a:endParaRPr lang="en-US"/>
              </a:p>
            </p:txBody>
          </p:sp>
        </p:grpSp>
      </p:grpSp>
      <p:grpSp>
        <p:nvGrpSpPr>
          <p:cNvPr id="135" name="Group 134">
            <a:extLst>
              <a:ext uri="{FF2B5EF4-FFF2-40B4-BE49-F238E27FC236}">
                <a16:creationId xmlns:a16="http://schemas.microsoft.com/office/drawing/2014/main" id="{92163814-26E0-414D-9904-52584BCA914F}"/>
              </a:ext>
            </a:extLst>
          </p:cNvPr>
          <p:cNvGrpSpPr/>
          <p:nvPr/>
        </p:nvGrpSpPr>
        <p:grpSpPr>
          <a:xfrm>
            <a:off x="2972230" y="5081185"/>
            <a:ext cx="952227" cy="975046"/>
            <a:chOff x="3001434" y="5083894"/>
            <a:chExt cx="952227" cy="975046"/>
          </a:xfrm>
        </p:grpSpPr>
        <p:sp>
          <p:nvSpPr>
            <p:cNvPr id="23" name="Rectangle: Rounded Corners 22">
              <a:extLst>
                <a:ext uri="{FF2B5EF4-FFF2-40B4-BE49-F238E27FC236}">
                  <a16:creationId xmlns:a16="http://schemas.microsoft.com/office/drawing/2014/main" id="{5955654B-8DA2-4857-B165-15828F19751E}"/>
                </a:ext>
              </a:extLst>
            </p:cNvPr>
            <p:cNvSpPr/>
            <p:nvPr/>
          </p:nvSpPr>
          <p:spPr>
            <a:xfrm>
              <a:off x="3001434" y="5083894"/>
              <a:ext cx="952227" cy="975046"/>
            </a:xfrm>
            <a:prstGeom prst="roundRect">
              <a:avLst>
                <a:gd name="adj" fmla="val 7561"/>
              </a:avLst>
            </a:prstGeom>
            <a:solidFill>
              <a:srgbClr val="FFFFFF"/>
            </a:solidFill>
            <a:ln w="9525" cap="rnd" cmpd="sng" algn="ctr">
              <a:solidFill>
                <a:srgbClr val="C8C8C8">
                  <a:lumMod val="100000"/>
                </a:srgb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45720" numCol="1" spcCol="0" rtlCol="0" fromWordArt="0" anchor="b" anchorCtr="0" forceAA="0" compatLnSpc="1">
              <a:prstTxWarp prst="textNoShape">
                <a:avLst/>
              </a:prstTxWarp>
              <a:noAutofit/>
            </a:bodyPr>
            <a:lstStyle/>
            <a:p>
              <a:pPr algn="ctr">
                <a:spcBef>
                  <a:spcPts val="140"/>
                </a:spcBef>
                <a:spcAft>
                  <a:spcPts val="140"/>
                </a:spcAft>
              </a:pPr>
              <a:r>
                <a:rPr lang="en-US" sz="1000" b="1">
                  <a:solidFill>
                    <a:srgbClr val="575757"/>
                  </a:solidFill>
                  <a:sym typeface="Trebuchet MS" panose="020B0603020202020204" pitchFamily="34" charset="0"/>
                </a:rPr>
                <a:t>Action</a:t>
              </a:r>
              <a:br>
                <a:rPr lang="en-US" sz="1000" b="1">
                  <a:solidFill>
                    <a:srgbClr val="575757"/>
                  </a:solidFill>
                  <a:sym typeface="Trebuchet MS" panose="020B0603020202020204" pitchFamily="34" charset="0"/>
                </a:rPr>
              </a:br>
              <a:r>
                <a:rPr lang="en-US" sz="1000" b="1">
                  <a:solidFill>
                    <a:srgbClr val="575757"/>
                  </a:solidFill>
                  <a:sym typeface="Trebuchet MS" panose="020B0603020202020204" pitchFamily="34" charset="0"/>
                </a:rPr>
                <a:t>library</a:t>
              </a:r>
            </a:p>
          </p:txBody>
        </p:sp>
        <p:grpSp>
          <p:nvGrpSpPr>
            <p:cNvPr id="48" name="Group 47">
              <a:extLst>
                <a:ext uri="{FF2B5EF4-FFF2-40B4-BE49-F238E27FC236}">
                  <a16:creationId xmlns:a16="http://schemas.microsoft.com/office/drawing/2014/main" id="{32936FD8-7D30-4BCA-AF89-AF158A6C3EDD}"/>
                </a:ext>
              </a:extLst>
            </p:cNvPr>
            <p:cNvGrpSpPr>
              <a:grpSpLocks/>
            </p:cNvGrpSpPr>
            <p:nvPr/>
          </p:nvGrpSpPr>
          <p:grpSpPr>
            <a:xfrm>
              <a:off x="3207547" y="5152123"/>
              <a:ext cx="540000" cy="535929"/>
              <a:chOff x="5273675" y="2606675"/>
              <a:chExt cx="1644650" cy="1644650"/>
            </a:xfrm>
          </p:grpSpPr>
          <p:sp>
            <p:nvSpPr>
              <p:cNvPr id="49" name="AutoShape 9">
                <a:extLst>
                  <a:ext uri="{FF2B5EF4-FFF2-40B4-BE49-F238E27FC236}">
                    <a16:creationId xmlns:a16="http://schemas.microsoft.com/office/drawing/2014/main" id="{57A9D038-EAB7-467D-9C62-4B8F0A5FD843}"/>
                  </a:ext>
                </a:extLst>
              </p:cNvPr>
              <p:cNvSpPr>
                <a:spLocks noChangeAspect="1" noChangeArrowheads="1" noTextEdit="1"/>
              </p:cNvSpPr>
              <p:nvPr/>
            </p:nvSpPr>
            <p:spPr bwMode="auto">
              <a:xfrm>
                <a:off x="5273675" y="2606675"/>
                <a:ext cx="1644650"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50" name="Group 49">
                <a:extLst>
                  <a:ext uri="{FF2B5EF4-FFF2-40B4-BE49-F238E27FC236}">
                    <a16:creationId xmlns:a16="http://schemas.microsoft.com/office/drawing/2014/main" id="{4E363D94-1ABA-4DC3-94B1-DEDC70345E93}"/>
                  </a:ext>
                </a:extLst>
              </p:cNvPr>
              <p:cNvGrpSpPr/>
              <p:nvPr/>
            </p:nvGrpSpPr>
            <p:grpSpPr>
              <a:xfrm>
                <a:off x="5640388" y="2825750"/>
                <a:ext cx="909638" cy="1370328"/>
                <a:chOff x="5640388" y="2825750"/>
                <a:chExt cx="909638" cy="1370328"/>
              </a:xfrm>
            </p:grpSpPr>
            <p:sp>
              <p:nvSpPr>
                <p:cNvPr id="51" name="Freeform 13">
                  <a:extLst>
                    <a:ext uri="{FF2B5EF4-FFF2-40B4-BE49-F238E27FC236}">
                      <a16:creationId xmlns:a16="http://schemas.microsoft.com/office/drawing/2014/main" id="{EA9B22DC-DCDD-4DBB-870D-13230CABC140}"/>
                    </a:ext>
                  </a:extLst>
                </p:cNvPr>
                <p:cNvSpPr>
                  <a:spLocks/>
                </p:cNvSpPr>
                <p:nvPr/>
              </p:nvSpPr>
              <p:spPr bwMode="auto">
                <a:xfrm>
                  <a:off x="5859463" y="2890838"/>
                  <a:ext cx="623888" cy="1073150"/>
                </a:xfrm>
                <a:custGeom>
                  <a:avLst/>
                  <a:gdLst>
                    <a:gd name="T0" fmla="*/ 324 w 393"/>
                    <a:gd name="T1" fmla="*/ 0 h 676"/>
                    <a:gd name="T2" fmla="*/ 0 w 393"/>
                    <a:gd name="T3" fmla="*/ 0 h 676"/>
                    <a:gd name="T4" fmla="*/ 0 w 393"/>
                    <a:gd name="T5" fmla="*/ 676 h 676"/>
                    <a:gd name="T6" fmla="*/ 330 w 393"/>
                    <a:gd name="T7" fmla="*/ 676 h 676"/>
                    <a:gd name="T8" fmla="*/ 393 w 393"/>
                    <a:gd name="T9" fmla="*/ 607 h 676"/>
                    <a:gd name="T10" fmla="*/ 393 w 393"/>
                    <a:gd name="T11" fmla="*/ 63 h 676"/>
                    <a:gd name="T12" fmla="*/ 324 w 393"/>
                    <a:gd name="T13" fmla="*/ 0 h 676"/>
                    <a:gd name="T14" fmla="*/ 324 w 393"/>
                    <a:gd name="T15" fmla="*/ 0 h 676"/>
                    <a:gd name="T16" fmla="*/ 324 w 393"/>
                    <a:gd name="T17" fmla="*/ 0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3" h="676">
                      <a:moveTo>
                        <a:pt x="324" y="0"/>
                      </a:moveTo>
                      <a:lnTo>
                        <a:pt x="0" y="0"/>
                      </a:lnTo>
                      <a:lnTo>
                        <a:pt x="0" y="676"/>
                      </a:lnTo>
                      <a:lnTo>
                        <a:pt x="330" y="676"/>
                      </a:lnTo>
                      <a:lnTo>
                        <a:pt x="393" y="607"/>
                      </a:lnTo>
                      <a:lnTo>
                        <a:pt x="393" y="63"/>
                      </a:lnTo>
                      <a:lnTo>
                        <a:pt x="324" y="0"/>
                      </a:lnTo>
                      <a:lnTo>
                        <a:pt x="324" y="0"/>
                      </a:lnTo>
                      <a:lnTo>
                        <a:pt x="324" y="0"/>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2">
                  <a:extLst>
                    <a:ext uri="{FF2B5EF4-FFF2-40B4-BE49-F238E27FC236}">
                      <a16:creationId xmlns:a16="http://schemas.microsoft.com/office/drawing/2014/main" id="{2879E06A-8B5A-4079-92BA-C65482A7273A}"/>
                    </a:ext>
                  </a:extLst>
                </p:cNvPr>
                <p:cNvSpPr>
                  <a:spLocks/>
                </p:cNvSpPr>
                <p:nvPr/>
              </p:nvSpPr>
              <p:spPr bwMode="auto">
                <a:xfrm>
                  <a:off x="5640388" y="2825750"/>
                  <a:ext cx="909638" cy="1370328"/>
                </a:xfrm>
                <a:custGeom>
                  <a:avLst/>
                  <a:gdLst>
                    <a:gd name="connsiteX0" fmla="*/ 66675 w 909638"/>
                    <a:gd name="connsiteY0" fmla="*/ 65088 h 1370328"/>
                    <a:gd name="connsiteX1" fmla="*/ 187325 w 909638"/>
                    <a:gd name="connsiteY1" fmla="*/ 65088 h 1370328"/>
                    <a:gd name="connsiteX2" fmla="*/ 187325 w 909638"/>
                    <a:gd name="connsiteY2" fmla="*/ 1138238 h 1370328"/>
                    <a:gd name="connsiteX3" fmla="*/ 66675 w 909638"/>
                    <a:gd name="connsiteY3" fmla="*/ 1138238 h 1370328"/>
                    <a:gd name="connsiteX4" fmla="*/ 31750 w 909638"/>
                    <a:gd name="connsiteY4" fmla="*/ 30163 h 1370328"/>
                    <a:gd name="connsiteX5" fmla="*/ 31750 w 909638"/>
                    <a:gd name="connsiteY5" fmla="*/ 1173163 h 1370328"/>
                    <a:gd name="connsiteX6" fmla="*/ 711657 w 909638"/>
                    <a:gd name="connsiteY6" fmla="*/ 1173163 h 1370328"/>
                    <a:gd name="connsiteX7" fmla="*/ 732347 w 909638"/>
                    <a:gd name="connsiteY7" fmla="*/ 1173163 h 1370328"/>
                    <a:gd name="connsiteX8" fmla="*/ 753750 w 909638"/>
                    <a:gd name="connsiteY8" fmla="*/ 1173163 h 1370328"/>
                    <a:gd name="connsiteX9" fmla="*/ 785141 w 909638"/>
                    <a:gd name="connsiteY9" fmla="*/ 1138181 h 1370328"/>
                    <a:gd name="connsiteX10" fmla="*/ 842216 w 909638"/>
                    <a:gd name="connsiteY10" fmla="*/ 1075355 h 1370328"/>
                    <a:gd name="connsiteX11" fmla="*/ 877888 w 909638"/>
                    <a:gd name="connsiteY11" fmla="*/ 1036089 h 1370328"/>
                    <a:gd name="connsiteX12" fmla="*/ 877888 w 909638"/>
                    <a:gd name="connsiteY12" fmla="*/ 1012529 h 1370328"/>
                    <a:gd name="connsiteX13" fmla="*/ 877888 w 909638"/>
                    <a:gd name="connsiteY13" fmla="*/ 988970 h 1370328"/>
                    <a:gd name="connsiteX14" fmla="*/ 877888 w 909638"/>
                    <a:gd name="connsiteY14" fmla="*/ 196509 h 1370328"/>
                    <a:gd name="connsiteX15" fmla="*/ 877888 w 909638"/>
                    <a:gd name="connsiteY15" fmla="*/ 175805 h 1370328"/>
                    <a:gd name="connsiteX16" fmla="*/ 877888 w 909638"/>
                    <a:gd name="connsiteY16" fmla="*/ 154387 h 1370328"/>
                    <a:gd name="connsiteX17" fmla="*/ 842216 w 909638"/>
                    <a:gd name="connsiteY17" fmla="*/ 122260 h 1370328"/>
                    <a:gd name="connsiteX18" fmla="*/ 779434 w 909638"/>
                    <a:gd name="connsiteY18" fmla="*/ 65146 h 1370328"/>
                    <a:gd name="connsiteX19" fmla="*/ 740908 w 909638"/>
                    <a:gd name="connsiteY19" fmla="*/ 30163 h 1370328"/>
                    <a:gd name="connsiteX20" fmla="*/ 717365 w 909638"/>
                    <a:gd name="connsiteY20" fmla="*/ 30163 h 1370328"/>
                    <a:gd name="connsiteX21" fmla="*/ 693821 w 909638"/>
                    <a:gd name="connsiteY21" fmla="*/ 30163 h 1370328"/>
                    <a:gd name="connsiteX22" fmla="*/ 31750 w 909638"/>
                    <a:gd name="connsiteY22" fmla="*/ 30163 h 1370328"/>
                    <a:gd name="connsiteX23" fmla="*/ 15708 w 909638"/>
                    <a:gd name="connsiteY23" fmla="*/ 0 h 1370328"/>
                    <a:gd name="connsiteX24" fmla="*/ 659738 w 909638"/>
                    <a:gd name="connsiteY24" fmla="*/ 0 h 1370328"/>
                    <a:gd name="connsiteX25" fmla="*/ 893930 w 909638"/>
                    <a:gd name="connsiteY25" fmla="*/ 0 h 1370328"/>
                    <a:gd name="connsiteX26" fmla="*/ 909638 w 909638"/>
                    <a:gd name="connsiteY26" fmla="*/ 15700 h 1370328"/>
                    <a:gd name="connsiteX27" fmla="*/ 909638 w 909638"/>
                    <a:gd name="connsiteY27" fmla="*/ 226221 h 1370328"/>
                    <a:gd name="connsiteX28" fmla="*/ 909638 w 909638"/>
                    <a:gd name="connsiteY28" fmla="*/ 955553 h 1370328"/>
                    <a:gd name="connsiteX29" fmla="*/ 909638 w 909638"/>
                    <a:gd name="connsiteY29" fmla="*/ 1189624 h 1370328"/>
                    <a:gd name="connsiteX30" fmla="*/ 893930 w 909638"/>
                    <a:gd name="connsiteY30" fmla="*/ 1205324 h 1370328"/>
                    <a:gd name="connsiteX31" fmla="*/ 683300 w 909638"/>
                    <a:gd name="connsiteY31" fmla="*/ 1205324 h 1370328"/>
                    <a:gd name="connsiteX32" fmla="*/ 182785 w 909638"/>
                    <a:gd name="connsiteY32" fmla="*/ 1205324 h 1370328"/>
                    <a:gd name="connsiteX33" fmla="*/ 182785 w 909638"/>
                    <a:gd name="connsiteY33" fmla="*/ 1366605 h 1370328"/>
                    <a:gd name="connsiteX34" fmla="*/ 177073 w 909638"/>
                    <a:gd name="connsiteY34" fmla="*/ 1369459 h 1370328"/>
                    <a:gd name="connsiteX35" fmla="*/ 129235 w 909638"/>
                    <a:gd name="connsiteY35" fmla="*/ 1330210 h 1370328"/>
                    <a:gd name="connsiteX36" fmla="*/ 124951 w 909638"/>
                    <a:gd name="connsiteY36" fmla="*/ 1330210 h 1370328"/>
                    <a:gd name="connsiteX37" fmla="*/ 77826 w 909638"/>
                    <a:gd name="connsiteY37" fmla="*/ 1369459 h 1370328"/>
                    <a:gd name="connsiteX38" fmla="*/ 72114 w 909638"/>
                    <a:gd name="connsiteY38" fmla="*/ 1366605 h 1370328"/>
                    <a:gd name="connsiteX39" fmla="*/ 72114 w 909638"/>
                    <a:gd name="connsiteY39" fmla="*/ 1205324 h 1370328"/>
                    <a:gd name="connsiteX40" fmla="*/ 15708 w 909638"/>
                    <a:gd name="connsiteY40" fmla="*/ 1205324 h 1370328"/>
                    <a:gd name="connsiteX41" fmla="*/ 0 w 909638"/>
                    <a:gd name="connsiteY41" fmla="*/ 1189624 h 1370328"/>
                    <a:gd name="connsiteX42" fmla="*/ 0 w 909638"/>
                    <a:gd name="connsiteY42" fmla="*/ 15700 h 1370328"/>
                    <a:gd name="connsiteX43" fmla="*/ 15708 w 909638"/>
                    <a:gd name="connsiteY43" fmla="*/ 0 h 1370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909638" h="1370328">
                      <a:moveTo>
                        <a:pt x="66675" y="65088"/>
                      </a:moveTo>
                      <a:lnTo>
                        <a:pt x="187325" y="65088"/>
                      </a:lnTo>
                      <a:lnTo>
                        <a:pt x="187325" y="1138238"/>
                      </a:lnTo>
                      <a:lnTo>
                        <a:pt x="66675" y="1138238"/>
                      </a:lnTo>
                      <a:close/>
                      <a:moveTo>
                        <a:pt x="31750" y="30163"/>
                      </a:moveTo>
                      <a:cubicBezTo>
                        <a:pt x="31750" y="30163"/>
                        <a:pt x="31750" y="30163"/>
                        <a:pt x="31750" y="1173163"/>
                      </a:cubicBezTo>
                      <a:cubicBezTo>
                        <a:pt x="31750" y="1173163"/>
                        <a:pt x="31750" y="1173163"/>
                        <a:pt x="711657" y="1173163"/>
                      </a:cubicBezTo>
                      <a:cubicBezTo>
                        <a:pt x="711657" y="1173163"/>
                        <a:pt x="711657" y="1173163"/>
                        <a:pt x="732347" y="1173163"/>
                      </a:cubicBezTo>
                      <a:cubicBezTo>
                        <a:pt x="732347" y="1173163"/>
                        <a:pt x="732347" y="1173163"/>
                        <a:pt x="753750" y="1173163"/>
                      </a:cubicBezTo>
                      <a:cubicBezTo>
                        <a:pt x="753750" y="1173163"/>
                        <a:pt x="753750" y="1173163"/>
                        <a:pt x="785141" y="1138181"/>
                      </a:cubicBezTo>
                      <a:cubicBezTo>
                        <a:pt x="785141" y="1138181"/>
                        <a:pt x="785141" y="1138181"/>
                        <a:pt x="842216" y="1075355"/>
                      </a:cubicBezTo>
                      <a:cubicBezTo>
                        <a:pt x="842216" y="1075355"/>
                        <a:pt x="842216" y="1075355"/>
                        <a:pt x="877888" y="1036089"/>
                      </a:cubicBezTo>
                      <a:cubicBezTo>
                        <a:pt x="877888" y="1036089"/>
                        <a:pt x="877888" y="1036089"/>
                        <a:pt x="877888" y="1012529"/>
                      </a:cubicBezTo>
                      <a:cubicBezTo>
                        <a:pt x="877888" y="1012529"/>
                        <a:pt x="877888" y="1012529"/>
                        <a:pt x="877888" y="988970"/>
                      </a:cubicBezTo>
                      <a:cubicBezTo>
                        <a:pt x="877888" y="988970"/>
                        <a:pt x="877888" y="988970"/>
                        <a:pt x="877888" y="196509"/>
                      </a:cubicBezTo>
                      <a:cubicBezTo>
                        <a:pt x="877888" y="196509"/>
                        <a:pt x="877888" y="196509"/>
                        <a:pt x="877888" y="175805"/>
                      </a:cubicBezTo>
                      <a:cubicBezTo>
                        <a:pt x="877888" y="175805"/>
                        <a:pt x="877888" y="175805"/>
                        <a:pt x="877888" y="154387"/>
                      </a:cubicBezTo>
                      <a:cubicBezTo>
                        <a:pt x="877888" y="154387"/>
                        <a:pt x="877888" y="154387"/>
                        <a:pt x="842216" y="122260"/>
                      </a:cubicBezTo>
                      <a:cubicBezTo>
                        <a:pt x="842216" y="122260"/>
                        <a:pt x="842216" y="122260"/>
                        <a:pt x="779434" y="65146"/>
                      </a:cubicBezTo>
                      <a:cubicBezTo>
                        <a:pt x="779434" y="65146"/>
                        <a:pt x="779434" y="65146"/>
                        <a:pt x="740908" y="30163"/>
                      </a:cubicBezTo>
                      <a:cubicBezTo>
                        <a:pt x="740908" y="30163"/>
                        <a:pt x="740908" y="30163"/>
                        <a:pt x="717365" y="30163"/>
                      </a:cubicBezTo>
                      <a:cubicBezTo>
                        <a:pt x="717365" y="30163"/>
                        <a:pt x="717365" y="30163"/>
                        <a:pt x="693821" y="30163"/>
                      </a:cubicBezTo>
                      <a:cubicBezTo>
                        <a:pt x="693821" y="30163"/>
                        <a:pt x="693821" y="30163"/>
                        <a:pt x="31750" y="30163"/>
                      </a:cubicBezTo>
                      <a:close/>
                      <a:moveTo>
                        <a:pt x="15708" y="0"/>
                      </a:moveTo>
                      <a:cubicBezTo>
                        <a:pt x="15708" y="0"/>
                        <a:pt x="15708" y="0"/>
                        <a:pt x="659738" y="0"/>
                      </a:cubicBezTo>
                      <a:cubicBezTo>
                        <a:pt x="659738" y="0"/>
                        <a:pt x="659738" y="0"/>
                        <a:pt x="893930" y="0"/>
                      </a:cubicBezTo>
                      <a:cubicBezTo>
                        <a:pt x="902498" y="0"/>
                        <a:pt x="909638" y="7136"/>
                        <a:pt x="909638" y="15700"/>
                      </a:cubicBezTo>
                      <a:cubicBezTo>
                        <a:pt x="909638" y="15700"/>
                        <a:pt x="909638" y="15700"/>
                        <a:pt x="909638" y="226221"/>
                      </a:cubicBezTo>
                      <a:cubicBezTo>
                        <a:pt x="909638" y="226221"/>
                        <a:pt x="909638" y="226221"/>
                        <a:pt x="909638" y="955553"/>
                      </a:cubicBezTo>
                      <a:cubicBezTo>
                        <a:pt x="909638" y="955553"/>
                        <a:pt x="909638" y="955553"/>
                        <a:pt x="909638" y="1189624"/>
                      </a:cubicBezTo>
                      <a:cubicBezTo>
                        <a:pt x="909638" y="1198188"/>
                        <a:pt x="902498" y="1205324"/>
                        <a:pt x="893930" y="1205324"/>
                      </a:cubicBezTo>
                      <a:cubicBezTo>
                        <a:pt x="893930" y="1205324"/>
                        <a:pt x="893930" y="1205324"/>
                        <a:pt x="683300" y="1205324"/>
                      </a:cubicBezTo>
                      <a:cubicBezTo>
                        <a:pt x="683300" y="1205324"/>
                        <a:pt x="683300" y="1205324"/>
                        <a:pt x="182785" y="1205324"/>
                      </a:cubicBezTo>
                      <a:cubicBezTo>
                        <a:pt x="182785" y="1341628"/>
                        <a:pt x="182785" y="1366605"/>
                        <a:pt x="182785" y="1366605"/>
                      </a:cubicBezTo>
                      <a:cubicBezTo>
                        <a:pt x="182785" y="1369459"/>
                        <a:pt x="179215" y="1371600"/>
                        <a:pt x="177073" y="1369459"/>
                      </a:cubicBezTo>
                      <a:cubicBezTo>
                        <a:pt x="129235" y="1330210"/>
                        <a:pt x="129235" y="1330210"/>
                        <a:pt x="129235" y="1330210"/>
                      </a:cubicBezTo>
                      <a:cubicBezTo>
                        <a:pt x="127807" y="1329496"/>
                        <a:pt x="126379" y="1329496"/>
                        <a:pt x="124951" y="1330210"/>
                      </a:cubicBezTo>
                      <a:cubicBezTo>
                        <a:pt x="77826" y="1369459"/>
                        <a:pt x="77826" y="1369459"/>
                        <a:pt x="77826" y="1369459"/>
                      </a:cubicBezTo>
                      <a:cubicBezTo>
                        <a:pt x="74970" y="1371600"/>
                        <a:pt x="72114" y="1369459"/>
                        <a:pt x="72114" y="1366605"/>
                      </a:cubicBezTo>
                      <a:cubicBezTo>
                        <a:pt x="72114" y="1277401"/>
                        <a:pt x="72114" y="1230301"/>
                        <a:pt x="72114" y="1205324"/>
                      </a:cubicBezTo>
                      <a:cubicBezTo>
                        <a:pt x="72114" y="1205324"/>
                        <a:pt x="72114" y="1205324"/>
                        <a:pt x="15708" y="1205324"/>
                      </a:cubicBezTo>
                      <a:cubicBezTo>
                        <a:pt x="7140" y="1205324"/>
                        <a:pt x="0" y="1198188"/>
                        <a:pt x="0" y="1189624"/>
                      </a:cubicBezTo>
                      <a:cubicBezTo>
                        <a:pt x="0" y="1189624"/>
                        <a:pt x="0" y="1189624"/>
                        <a:pt x="0" y="15700"/>
                      </a:cubicBezTo>
                      <a:cubicBezTo>
                        <a:pt x="0" y="7136"/>
                        <a:pt x="7140" y="0"/>
                        <a:pt x="15708"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grpSp>
        </p:grpSp>
      </p:grpSp>
      <p:sp>
        <p:nvSpPr>
          <p:cNvPr id="54" name="Rectangle: Rounded Corners 53">
            <a:extLst>
              <a:ext uri="{FF2B5EF4-FFF2-40B4-BE49-F238E27FC236}">
                <a16:creationId xmlns:a16="http://schemas.microsoft.com/office/drawing/2014/main" id="{77192FD3-0D4E-4FE8-AED7-42C716D74E10}"/>
              </a:ext>
            </a:extLst>
          </p:cNvPr>
          <p:cNvSpPr/>
          <p:nvPr>
            <p:custDataLst>
              <p:tags r:id="rId18"/>
            </p:custDataLst>
          </p:nvPr>
        </p:nvSpPr>
        <p:spPr>
          <a:xfrm>
            <a:off x="9402735" y="2518586"/>
            <a:ext cx="1551179" cy="382003"/>
          </a:xfrm>
          <a:prstGeom prst="roundRect">
            <a:avLst>
              <a:gd name="adj" fmla="val 18848"/>
            </a:avLst>
          </a:prstGeom>
          <a:solidFill>
            <a:srgbClr val="FFFFFF"/>
          </a:solidFill>
          <a:ln w="9525" cap="rnd" cmpd="sng" algn="ctr">
            <a:solidFill>
              <a:srgbClr val="C8C8C8">
                <a:lumMod val="100000"/>
              </a:srgb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68000" tIns="45720" rIns="91440" bIns="45720" numCol="1" spcCol="0" rtlCol="0" fromWordArt="0" anchor="ctr" anchorCtr="0" forceAA="0" compatLnSpc="1">
            <a:prstTxWarp prst="textNoShape">
              <a:avLst/>
            </a:prstTxWarp>
            <a:noAutofit/>
          </a:bodyPr>
          <a:lstStyle/>
          <a:p>
            <a:r>
              <a:rPr lang="en-US" sz="1000">
                <a:solidFill>
                  <a:srgbClr val="575757"/>
                </a:solidFill>
                <a:sym typeface="Trebuchet MS" panose="020B0603020202020204" pitchFamily="34" charset="0"/>
              </a:rPr>
              <a:t>Call Center</a:t>
            </a:r>
            <a:endParaRPr lang="ru" sz="1000">
              <a:solidFill>
                <a:srgbClr val="575757"/>
              </a:solidFill>
              <a:sym typeface="Trebuchet MS" panose="020B0603020202020204" pitchFamily="34" charset="0"/>
            </a:endParaRPr>
          </a:p>
        </p:txBody>
      </p:sp>
      <p:sp>
        <p:nvSpPr>
          <p:cNvPr id="55" name="Rectangle: Rounded Corners 54">
            <a:extLst>
              <a:ext uri="{FF2B5EF4-FFF2-40B4-BE49-F238E27FC236}">
                <a16:creationId xmlns:a16="http://schemas.microsoft.com/office/drawing/2014/main" id="{8DA4A340-0CD1-432C-B2E4-FF73F4133C7E}"/>
              </a:ext>
            </a:extLst>
          </p:cNvPr>
          <p:cNvSpPr/>
          <p:nvPr>
            <p:custDataLst>
              <p:tags r:id="rId19"/>
            </p:custDataLst>
          </p:nvPr>
        </p:nvSpPr>
        <p:spPr>
          <a:xfrm>
            <a:off x="9402735" y="3031126"/>
            <a:ext cx="1551179" cy="382003"/>
          </a:xfrm>
          <a:prstGeom prst="roundRect">
            <a:avLst>
              <a:gd name="adj" fmla="val 18848"/>
            </a:avLst>
          </a:prstGeom>
          <a:solidFill>
            <a:srgbClr val="FFFFFF"/>
          </a:solidFill>
          <a:ln w="9525" cap="rnd" cmpd="sng" algn="ctr">
            <a:solidFill>
              <a:srgbClr val="C8C8C8">
                <a:lumMod val="100000"/>
              </a:srgb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68000" tIns="45720" rIns="91440" bIns="45720" numCol="1" spcCol="0" rtlCol="0" fromWordArt="0" anchor="ctr" anchorCtr="0" forceAA="0" compatLnSpc="1">
            <a:prstTxWarp prst="textNoShape">
              <a:avLst/>
            </a:prstTxWarp>
            <a:noAutofit/>
          </a:bodyPr>
          <a:lstStyle/>
          <a:p>
            <a:r>
              <a:rPr lang="en-US" sz="1000">
                <a:solidFill>
                  <a:srgbClr val="575757"/>
                </a:solidFill>
                <a:sym typeface="Trebuchet MS" panose="020B0603020202020204" pitchFamily="34" charset="0"/>
              </a:rPr>
              <a:t>Relationship Managers</a:t>
            </a:r>
            <a:endParaRPr lang="ru" sz="1000">
              <a:solidFill>
                <a:srgbClr val="575757"/>
              </a:solidFill>
              <a:sym typeface="Trebuchet MS" panose="020B0603020202020204" pitchFamily="34" charset="0"/>
            </a:endParaRPr>
          </a:p>
        </p:txBody>
      </p:sp>
      <p:sp>
        <p:nvSpPr>
          <p:cNvPr id="56" name="Rectangle: Rounded Corners 55">
            <a:extLst>
              <a:ext uri="{FF2B5EF4-FFF2-40B4-BE49-F238E27FC236}">
                <a16:creationId xmlns:a16="http://schemas.microsoft.com/office/drawing/2014/main" id="{0B37CD42-EA11-40CE-ABC9-EE23A5F20FD3}"/>
              </a:ext>
            </a:extLst>
          </p:cNvPr>
          <p:cNvSpPr/>
          <p:nvPr>
            <p:custDataLst>
              <p:tags r:id="rId20"/>
            </p:custDataLst>
          </p:nvPr>
        </p:nvSpPr>
        <p:spPr>
          <a:xfrm>
            <a:off x="9402735" y="3459532"/>
            <a:ext cx="1551179" cy="382003"/>
          </a:xfrm>
          <a:prstGeom prst="roundRect">
            <a:avLst>
              <a:gd name="adj" fmla="val 18848"/>
            </a:avLst>
          </a:prstGeom>
          <a:solidFill>
            <a:srgbClr val="FFFFFF"/>
          </a:solidFill>
          <a:ln w="9525" cap="rnd" cmpd="sng" algn="ctr">
            <a:solidFill>
              <a:srgbClr val="C8C8C8">
                <a:lumMod val="100000"/>
              </a:srgb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68000" tIns="45720" rIns="91440" bIns="45720" numCol="1" spcCol="0" rtlCol="0" fromWordArt="0" anchor="ctr" anchorCtr="0" forceAA="0" compatLnSpc="1">
            <a:prstTxWarp prst="textNoShape">
              <a:avLst/>
            </a:prstTxWarp>
            <a:noAutofit/>
          </a:bodyPr>
          <a:lstStyle/>
          <a:p>
            <a:r>
              <a:rPr lang="en-US" sz="1000">
                <a:solidFill>
                  <a:srgbClr val="575757"/>
                </a:solidFill>
                <a:sym typeface="Trebuchet MS" panose="020B0603020202020204" pitchFamily="34" charset="0"/>
              </a:rPr>
              <a:t>Web banners and landings</a:t>
            </a:r>
            <a:endParaRPr lang="ru" sz="1000">
              <a:solidFill>
                <a:srgbClr val="575757"/>
              </a:solidFill>
              <a:sym typeface="Trebuchet MS" panose="020B0603020202020204" pitchFamily="34" charset="0"/>
            </a:endParaRPr>
          </a:p>
        </p:txBody>
      </p:sp>
      <p:sp>
        <p:nvSpPr>
          <p:cNvPr id="57" name="Rectangle: Rounded Corners 56">
            <a:extLst>
              <a:ext uri="{FF2B5EF4-FFF2-40B4-BE49-F238E27FC236}">
                <a16:creationId xmlns:a16="http://schemas.microsoft.com/office/drawing/2014/main" id="{9DBE0846-7384-4B35-9B51-E97295A9FAD0}"/>
              </a:ext>
            </a:extLst>
          </p:cNvPr>
          <p:cNvSpPr/>
          <p:nvPr>
            <p:custDataLst>
              <p:tags r:id="rId21"/>
            </p:custDataLst>
          </p:nvPr>
        </p:nvSpPr>
        <p:spPr>
          <a:xfrm>
            <a:off x="9402735" y="3887935"/>
            <a:ext cx="1551179" cy="382003"/>
          </a:xfrm>
          <a:prstGeom prst="roundRect">
            <a:avLst>
              <a:gd name="adj" fmla="val 18848"/>
            </a:avLst>
          </a:prstGeom>
          <a:solidFill>
            <a:srgbClr val="FFFFFF"/>
          </a:solidFill>
          <a:ln w="9525" cap="rnd" cmpd="sng" algn="ctr">
            <a:solidFill>
              <a:srgbClr val="C8C8C8">
                <a:lumMod val="100000"/>
              </a:srgb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68000" tIns="45720" rIns="91440" bIns="45720" numCol="1" spcCol="0" rtlCol="0" fromWordArt="0" anchor="ctr" anchorCtr="0" forceAA="0" compatLnSpc="1">
            <a:prstTxWarp prst="textNoShape">
              <a:avLst/>
            </a:prstTxWarp>
            <a:noAutofit/>
          </a:bodyPr>
          <a:lstStyle/>
          <a:p>
            <a:r>
              <a:rPr lang="en-US" sz="1000">
                <a:solidFill>
                  <a:srgbClr val="575757"/>
                </a:solidFill>
                <a:sym typeface="Trebuchet MS" panose="020B0603020202020204" pitchFamily="34" charset="0"/>
              </a:rPr>
              <a:t>In-app and push notifications</a:t>
            </a:r>
            <a:endParaRPr lang="ru" sz="1000">
              <a:solidFill>
                <a:srgbClr val="575757"/>
              </a:solidFill>
              <a:sym typeface="Trebuchet MS" panose="020B0603020202020204" pitchFamily="34" charset="0"/>
            </a:endParaRPr>
          </a:p>
        </p:txBody>
      </p:sp>
      <p:sp>
        <p:nvSpPr>
          <p:cNvPr id="58" name="Rectangle: Rounded Corners 57">
            <a:extLst>
              <a:ext uri="{FF2B5EF4-FFF2-40B4-BE49-F238E27FC236}">
                <a16:creationId xmlns:a16="http://schemas.microsoft.com/office/drawing/2014/main" id="{5A83AF50-58AD-42D1-86F6-22FB349B25D8}"/>
              </a:ext>
            </a:extLst>
          </p:cNvPr>
          <p:cNvSpPr/>
          <p:nvPr>
            <p:custDataLst>
              <p:tags r:id="rId22"/>
            </p:custDataLst>
          </p:nvPr>
        </p:nvSpPr>
        <p:spPr>
          <a:xfrm>
            <a:off x="9402735" y="4316340"/>
            <a:ext cx="1551179" cy="382003"/>
          </a:xfrm>
          <a:prstGeom prst="roundRect">
            <a:avLst>
              <a:gd name="adj" fmla="val 18848"/>
            </a:avLst>
          </a:prstGeom>
          <a:solidFill>
            <a:srgbClr val="FFFFFF"/>
          </a:solidFill>
          <a:ln w="9525" cap="rnd" cmpd="sng" algn="ctr">
            <a:solidFill>
              <a:srgbClr val="C8C8C8">
                <a:lumMod val="100000"/>
              </a:srgb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68000" tIns="45720" rIns="91440" bIns="45720" numCol="1" spcCol="0" rtlCol="0" fromWordArt="0" anchor="ctr" anchorCtr="0" forceAA="0" compatLnSpc="1">
            <a:prstTxWarp prst="textNoShape">
              <a:avLst/>
            </a:prstTxWarp>
            <a:noAutofit/>
          </a:bodyPr>
          <a:lstStyle/>
          <a:p>
            <a:r>
              <a:rPr lang="ru" sz="1000">
                <a:solidFill>
                  <a:srgbClr val="575757"/>
                </a:solidFill>
                <a:sym typeface="Trebuchet MS" panose="020B0603020202020204" pitchFamily="34" charset="0"/>
              </a:rPr>
              <a:t>SMS</a:t>
            </a:r>
          </a:p>
        </p:txBody>
      </p:sp>
      <p:sp>
        <p:nvSpPr>
          <p:cNvPr id="59" name="Rectangle: Rounded Corners 58">
            <a:extLst>
              <a:ext uri="{FF2B5EF4-FFF2-40B4-BE49-F238E27FC236}">
                <a16:creationId xmlns:a16="http://schemas.microsoft.com/office/drawing/2014/main" id="{9B2A6560-83CF-4A02-8EC1-526B6F22346F}"/>
              </a:ext>
            </a:extLst>
          </p:cNvPr>
          <p:cNvSpPr/>
          <p:nvPr>
            <p:custDataLst>
              <p:tags r:id="rId23"/>
            </p:custDataLst>
          </p:nvPr>
        </p:nvSpPr>
        <p:spPr>
          <a:xfrm>
            <a:off x="9402735" y="4744744"/>
            <a:ext cx="1551179" cy="382003"/>
          </a:xfrm>
          <a:prstGeom prst="roundRect">
            <a:avLst>
              <a:gd name="adj" fmla="val 18848"/>
            </a:avLst>
          </a:prstGeom>
          <a:solidFill>
            <a:srgbClr val="FFFFFF"/>
          </a:solidFill>
          <a:ln w="9525" cap="rnd" cmpd="sng" algn="ctr">
            <a:solidFill>
              <a:srgbClr val="C8C8C8">
                <a:lumMod val="100000"/>
              </a:srgb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68000" tIns="45720" rIns="91440" bIns="45720" numCol="1" spcCol="0" rtlCol="0" fromWordArt="0" anchor="ctr" anchorCtr="0" forceAA="0" compatLnSpc="1">
            <a:prstTxWarp prst="textNoShape">
              <a:avLst/>
            </a:prstTxWarp>
            <a:noAutofit/>
          </a:bodyPr>
          <a:lstStyle/>
          <a:p>
            <a:r>
              <a:rPr lang="en-US" sz="1000">
                <a:solidFill>
                  <a:srgbClr val="575757"/>
                </a:solidFill>
                <a:sym typeface="Trebuchet MS" panose="020B0603020202020204" pitchFamily="34" charset="0"/>
              </a:rPr>
              <a:t>Emails</a:t>
            </a:r>
            <a:endParaRPr lang="ru" sz="1000">
              <a:solidFill>
                <a:srgbClr val="575757"/>
              </a:solidFill>
              <a:sym typeface="Trebuchet MS" panose="020B0603020202020204" pitchFamily="34" charset="0"/>
            </a:endParaRPr>
          </a:p>
        </p:txBody>
      </p:sp>
      <p:sp>
        <p:nvSpPr>
          <p:cNvPr id="60" name="Freeform: Shape 59">
            <a:extLst>
              <a:ext uri="{FF2B5EF4-FFF2-40B4-BE49-F238E27FC236}">
                <a16:creationId xmlns:a16="http://schemas.microsoft.com/office/drawing/2014/main" id="{BD80D5A1-8703-494F-83BF-69A13751572B}"/>
              </a:ext>
            </a:extLst>
          </p:cNvPr>
          <p:cNvSpPr/>
          <p:nvPr/>
        </p:nvSpPr>
        <p:spPr>
          <a:xfrm flipH="1">
            <a:off x="9402735" y="2518586"/>
            <a:ext cx="415911" cy="810408"/>
          </a:xfrm>
          <a:custGeom>
            <a:avLst/>
            <a:gdLst>
              <a:gd name="connsiteX0" fmla="*/ 0 w 530224"/>
              <a:gd name="connsiteY0" fmla="*/ 0 h 1441677"/>
              <a:gd name="connsiteX1" fmla="*/ 476219 w 530224"/>
              <a:gd name="connsiteY1" fmla="*/ 0 h 1441677"/>
              <a:gd name="connsiteX2" fmla="*/ 530224 w 530224"/>
              <a:gd name="connsiteY2" fmla="*/ 54005 h 1441677"/>
              <a:gd name="connsiteX3" fmla="*/ 530224 w 530224"/>
              <a:gd name="connsiteY3" fmla="*/ 1387672 h 1441677"/>
              <a:gd name="connsiteX4" fmla="*/ 476219 w 530224"/>
              <a:gd name="connsiteY4" fmla="*/ 1441677 h 1441677"/>
              <a:gd name="connsiteX5" fmla="*/ 0 w 530224"/>
              <a:gd name="connsiteY5" fmla="*/ 1441677 h 1441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0224" h="1441677">
                <a:moveTo>
                  <a:pt x="0" y="0"/>
                </a:moveTo>
                <a:lnTo>
                  <a:pt x="476219" y="0"/>
                </a:lnTo>
                <a:cubicBezTo>
                  <a:pt x="506045" y="0"/>
                  <a:pt x="530224" y="24179"/>
                  <a:pt x="530224" y="54005"/>
                </a:cubicBezTo>
                <a:lnTo>
                  <a:pt x="530224" y="1387672"/>
                </a:lnTo>
                <a:cubicBezTo>
                  <a:pt x="530224" y="1417498"/>
                  <a:pt x="506045" y="1441677"/>
                  <a:pt x="476219" y="1441677"/>
                </a:cubicBezTo>
                <a:lnTo>
                  <a:pt x="0" y="1441677"/>
                </a:lnTo>
                <a:close/>
              </a:path>
            </a:pathLst>
          </a:custGeom>
          <a:solidFill>
            <a:srgbClr val="F2F2F2"/>
          </a:solidFill>
          <a:ln w="9525" cap="rnd" cmpd="sng" algn="ctr">
            <a:solidFill>
              <a:srgbClr val="C8C8C8">
                <a:lumMod val="100000"/>
              </a:srgb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buSzPct val="100000"/>
              <a:buFont typeface="Trebuchet MS" panose="020B0603020202020204" pitchFamily="34" charset="0"/>
              <a:buChar char="​"/>
            </a:pPr>
            <a:r>
              <a:rPr lang="en-US" sz="1000" b="1">
                <a:solidFill>
                  <a:schemeClr val="accent1"/>
                </a:solidFill>
                <a:sym typeface="Trebuchet MS" panose="020B0603020202020204" pitchFamily="34" charset="0"/>
              </a:rPr>
              <a:t>Human channels</a:t>
            </a:r>
            <a:endParaRPr lang="ru" sz="1000" b="1">
              <a:solidFill>
                <a:schemeClr val="accent1"/>
              </a:solidFill>
              <a:sym typeface="Trebuchet MS" panose="020B0603020202020204" pitchFamily="34" charset="0"/>
            </a:endParaRPr>
          </a:p>
        </p:txBody>
      </p:sp>
      <p:sp>
        <p:nvSpPr>
          <p:cNvPr id="61" name="Freeform: Shape 60">
            <a:extLst>
              <a:ext uri="{FF2B5EF4-FFF2-40B4-BE49-F238E27FC236}">
                <a16:creationId xmlns:a16="http://schemas.microsoft.com/office/drawing/2014/main" id="{0BC94049-686E-4AD0-8DB1-EEBEFB152521}"/>
              </a:ext>
            </a:extLst>
          </p:cNvPr>
          <p:cNvSpPr/>
          <p:nvPr/>
        </p:nvSpPr>
        <p:spPr>
          <a:xfrm flipH="1">
            <a:off x="9402735" y="3459532"/>
            <a:ext cx="415910" cy="1667215"/>
          </a:xfrm>
          <a:custGeom>
            <a:avLst/>
            <a:gdLst>
              <a:gd name="connsiteX0" fmla="*/ 0 w 530224"/>
              <a:gd name="connsiteY0" fmla="*/ 0 h 1940236"/>
              <a:gd name="connsiteX1" fmla="*/ 476219 w 530224"/>
              <a:gd name="connsiteY1" fmla="*/ 0 h 1940236"/>
              <a:gd name="connsiteX2" fmla="*/ 530224 w 530224"/>
              <a:gd name="connsiteY2" fmla="*/ 54005 h 1940236"/>
              <a:gd name="connsiteX3" fmla="*/ 530224 w 530224"/>
              <a:gd name="connsiteY3" fmla="*/ 552564 h 1940236"/>
              <a:gd name="connsiteX4" fmla="*/ 530224 w 530224"/>
              <a:gd name="connsiteY4" fmla="*/ 1387672 h 1940236"/>
              <a:gd name="connsiteX5" fmla="*/ 530224 w 530224"/>
              <a:gd name="connsiteY5" fmla="*/ 1886231 h 1940236"/>
              <a:gd name="connsiteX6" fmla="*/ 476219 w 530224"/>
              <a:gd name="connsiteY6" fmla="*/ 1940236 h 1940236"/>
              <a:gd name="connsiteX7" fmla="*/ 0 w 530224"/>
              <a:gd name="connsiteY7" fmla="*/ 1940236 h 1940236"/>
              <a:gd name="connsiteX8" fmla="*/ 0 w 530224"/>
              <a:gd name="connsiteY8" fmla="*/ 1441677 h 1940236"/>
              <a:gd name="connsiteX9" fmla="*/ 0 w 530224"/>
              <a:gd name="connsiteY9" fmla="*/ 498559 h 1940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0224" h="1940236">
                <a:moveTo>
                  <a:pt x="0" y="0"/>
                </a:moveTo>
                <a:lnTo>
                  <a:pt x="476219" y="0"/>
                </a:lnTo>
                <a:cubicBezTo>
                  <a:pt x="506045" y="0"/>
                  <a:pt x="530224" y="24179"/>
                  <a:pt x="530224" y="54005"/>
                </a:cubicBezTo>
                <a:lnTo>
                  <a:pt x="530224" y="552564"/>
                </a:lnTo>
                <a:lnTo>
                  <a:pt x="530224" y="1387672"/>
                </a:lnTo>
                <a:lnTo>
                  <a:pt x="530224" y="1886231"/>
                </a:lnTo>
                <a:cubicBezTo>
                  <a:pt x="530224" y="1916057"/>
                  <a:pt x="506045" y="1940236"/>
                  <a:pt x="476219" y="1940236"/>
                </a:cubicBezTo>
                <a:lnTo>
                  <a:pt x="0" y="1940236"/>
                </a:lnTo>
                <a:lnTo>
                  <a:pt x="0" y="1441677"/>
                </a:lnTo>
                <a:lnTo>
                  <a:pt x="0" y="498559"/>
                </a:lnTo>
                <a:close/>
              </a:path>
            </a:pathLst>
          </a:custGeom>
          <a:solidFill>
            <a:srgbClr val="F2F2F2"/>
          </a:solidFill>
          <a:ln w="9525" cap="rnd" cmpd="sng" algn="ctr">
            <a:solidFill>
              <a:srgbClr val="C8C8C8">
                <a:lumMod val="100000"/>
              </a:srgb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buSzPct val="100000"/>
              <a:buFont typeface="Trebuchet MS" panose="020B0603020202020204" pitchFamily="34" charset="0"/>
              <a:buChar char="​"/>
            </a:pPr>
            <a:r>
              <a:rPr lang="en-US" sz="1000" b="1">
                <a:solidFill>
                  <a:schemeClr val="accent1"/>
                </a:solidFill>
                <a:sym typeface="Trebuchet MS" panose="020B0603020202020204" pitchFamily="34" charset="0"/>
              </a:rPr>
              <a:t>Non-human</a:t>
            </a:r>
            <a:br>
              <a:rPr lang="ru-RU" sz="1000" b="1">
                <a:solidFill>
                  <a:schemeClr val="accent1"/>
                </a:solidFill>
                <a:sym typeface="Trebuchet MS" panose="020B0603020202020204" pitchFamily="34" charset="0"/>
              </a:rPr>
            </a:br>
            <a:r>
              <a:rPr lang="en-US" sz="1000" b="1">
                <a:solidFill>
                  <a:schemeClr val="accent1"/>
                </a:solidFill>
                <a:sym typeface="Trebuchet MS" panose="020B0603020202020204" pitchFamily="34" charset="0"/>
              </a:rPr>
              <a:t>channels</a:t>
            </a:r>
            <a:endParaRPr lang="ru" sz="1000" b="1">
              <a:solidFill>
                <a:schemeClr val="accent1"/>
              </a:solidFill>
              <a:sym typeface="Trebuchet MS" panose="020B0603020202020204" pitchFamily="34" charset="0"/>
            </a:endParaRPr>
          </a:p>
        </p:txBody>
      </p:sp>
      <p:sp>
        <p:nvSpPr>
          <p:cNvPr id="63" name="Freeform 51">
            <a:extLst>
              <a:ext uri="{FF2B5EF4-FFF2-40B4-BE49-F238E27FC236}">
                <a16:creationId xmlns:a16="http://schemas.microsoft.com/office/drawing/2014/main" id="{F55821A0-A743-4E80-8237-BEF307D1C995}"/>
              </a:ext>
            </a:extLst>
          </p:cNvPr>
          <p:cNvSpPr>
            <a:spLocks/>
          </p:cNvSpPr>
          <p:nvPr/>
        </p:nvSpPr>
        <p:spPr bwMode="auto">
          <a:xfrm>
            <a:off x="9188802" y="2903771"/>
            <a:ext cx="74537" cy="140043"/>
          </a:xfrm>
          <a:custGeom>
            <a:avLst/>
            <a:gdLst>
              <a:gd name="T0" fmla="*/ 6 w 61"/>
              <a:gd name="T1" fmla="*/ 0 h 110"/>
              <a:gd name="T2" fmla="*/ 0 w 61"/>
              <a:gd name="T3" fmla="*/ 7 h 110"/>
              <a:gd name="T4" fmla="*/ 48 w 61"/>
              <a:gd name="T5" fmla="*/ 55 h 110"/>
              <a:gd name="T6" fmla="*/ 0 w 61"/>
              <a:gd name="T7" fmla="*/ 104 h 110"/>
              <a:gd name="T8" fmla="*/ 6 w 61"/>
              <a:gd name="T9" fmla="*/ 110 h 110"/>
              <a:gd name="T10" fmla="*/ 54 w 61"/>
              <a:gd name="T11" fmla="*/ 62 h 110"/>
              <a:gd name="T12" fmla="*/ 61 w 61"/>
              <a:gd name="T13" fmla="*/ 55 h 110"/>
              <a:gd name="T14" fmla="*/ 54 w 61"/>
              <a:gd name="T15" fmla="*/ 49 h 110"/>
              <a:gd name="T16" fmla="*/ 6 w 61"/>
              <a:gd name="T1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110">
                <a:moveTo>
                  <a:pt x="6" y="0"/>
                </a:moveTo>
                <a:lnTo>
                  <a:pt x="0" y="7"/>
                </a:lnTo>
                <a:lnTo>
                  <a:pt x="48" y="55"/>
                </a:lnTo>
                <a:lnTo>
                  <a:pt x="0" y="104"/>
                </a:lnTo>
                <a:lnTo>
                  <a:pt x="6" y="110"/>
                </a:lnTo>
                <a:lnTo>
                  <a:pt x="54" y="62"/>
                </a:lnTo>
                <a:lnTo>
                  <a:pt x="61" y="55"/>
                </a:lnTo>
                <a:lnTo>
                  <a:pt x="54" y="49"/>
                </a:lnTo>
                <a:lnTo>
                  <a:pt x="6" y="0"/>
                </a:lnTo>
                <a:close/>
              </a:path>
            </a:pathLst>
          </a:custGeom>
          <a:solidFill>
            <a:srgbClr val="9A9A9A"/>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64" name="Freeform 51">
            <a:extLst>
              <a:ext uri="{FF2B5EF4-FFF2-40B4-BE49-F238E27FC236}">
                <a16:creationId xmlns:a16="http://schemas.microsoft.com/office/drawing/2014/main" id="{359836BA-3389-48E1-8753-E9A9FFB433EE}"/>
              </a:ext>
            </a:extLst>
          </p:cNvPr>
          <p:cNvSpPr>
            <a:spLocks/>
          </p:cNvSpPr>
          <p:nvPr/>
        </p:nvSpPr>
        <p:spPr bwMode="auto">
          <a:xfrm>
            <a:off x="9188802" y="4039568"/>
            <a:ext cx="74537" cy="140043"/>
          </a:xfrm>
          <a:custGeom>
            <a:avLst/>
            <a:gdLst>
              <a:gd name="T0" fmla="*/ 6 w 61"/>
              <a:gd name="T1" fmla="*/ 0 h 110"/>
              <a:gd name="T2" fmla="*/ 0 w 61"/>
              <a:gd name="T3" fmla="*/ 7 h 110"/>
              <a:gd name="T4" fmla="*/ 48 w 61"/>
              <a:gd name="T5" fmla="*/ 55 h 110"/>
              <a:gd name="T6" fmla="*/ 0 w 61"/>
              <a:gd name="T7" fmla="*/ 104 h 110"/>
              <a:gd name="T8" fmla="*/ 6 w 61"/>
              <a:gd name="T9" fmla="*/ 110 h 110"/>
              <a:gd name="T10" fmla="*/ 54 w 61"/>
              <a:gd name="T11" fmla="*/ 62 h 110"/>
              <a:gd name="T12" fmla="*/ 61 w 61"/>
              <a:gd name="T13" fmla="*/ 55 h 110"/>
              <a:gd name="T14" fmla="*/ 54 w 61"/>
              <a:gd name="T15" fmla="*/ 49 h 110"/>
              <a:gd name="T16" fmla="*/ 6 w 61"/>
              <a:gd name="T1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110">
                <a:moveTo>
                  <a:pt x="6" y="0"/>
                </a:moveTo>
                <a:lnTo>
                  <a:pt x="0" y="7"/>
                </a:lnTo>
                <a:lnTo>
                  <a:pt x="48" y="55"/>
                </a:lnTo>
                <a:lnTo>
                  <a:pt x="0" y="104"/>
                </a:lnTo>
                <a:lnTo>
                  <a:pt x="6" y="110"/>
                </a:lnTo>
                <a:lnTo>
                  <a:pt x="54" y="62"/>
                </a:lnTo>
                <a:lnTo>
                  <a:pt x="61" y="55"/>
                </a:lnTo>
                <a:lnTo>
                  <a:pt x="54" y="49"/>
                </a:lnTo>
                <a:lnTo>
                  <a:pt x="6" y="0"/>
                </a:lnTo>
                <a:close/>
              </a:path>
            </a:pathLst>
          </a:custGeom>
          <a:solidFill>
            <a:srgbClr val="9A9A9A"/>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grpSp>
        <p:nvGrpSpPr>
          <p:cNvPr id="65" name="Group 64">
            <a:extLst>
              <a:ext uri="{FF2B5EF4-FFF2-40B4-BE49-F238E27FC236}">
                <a16:creationId xmlns:a16="http://schemas.microsoft.com/office/drawing/2014/main" id="{477C2E19-44E9-4CFC-B254-E57AE98CF0ED}"/>
              </a:ext>
            </a:extLst>
          </p:cNvPr>
          <p:cNvGrpSpPr/>
          <p:nvPr/>
        </p:nvGrpSpPr>
        <p:grpSpPr>
          <a:xfrm>
            <a:off x="11056488" y="2903771"/>
            <a:ext cx="74537" cy="1194778"/>
            <a:chOff x="9101668" y="2789985"/>
            <a:chExt cx="110126" cy="1694266"/>
          </a:xfrm>
        </p:grpSpPr>
        <p:sp>
          <p:nvSpPr>
            <p:cNvPr id="66" name="Freeform 51">
              <a:extLst>
                <a:ext uri="{FF2B5EF4-FFF2-40B4-BE49-F238E27FC236}">
                  <a16:creationId xmlns:a16="http://schemas.microsoft.com/office/drawing/2014/main" id="{8310172C-0C83-44CD-B173-281E106C266E}"/>
                </a:ext>
              </a:extLst>
            </p:cNvPr>
            <p:cNvSpPr>
              <a:spLocks/>
            </p:cNvSpPr>
            <p:nvPr/>
          </p:nvSpPr>
          <p:spPr bwMode="auto">
            <a:xfrm>
              <a:off x="9101668" y="2789985"/>
              <a:ext cx="110126" cy="198589"/>
            </a:xfrm>
            <a:custGeom>
              <a:avLst/>
              <a:gdLst>
                <a:gd name="T0" fmla="*/ 6 w 61"/>
                <a:gd name="T1" fmla="*/ 0 h 110"/>
                <a:gd name="T2" fmla="*/ 0 w 61"/>
                <a:gd name="T3" fmla="*/ 7 h 110"/>
                <a:gd name="T4" fmla="*/ 48 w 61"/>
                <a:gd name="T5" fmla="*/ 55 h 110"/>
                <a:gd name="T6" fmla="*/ 0 w 61"/>
                <a:gd name="T7" fmla="*/ 104 h 110"/>
                <a:gd name="T8" fmla="*/ 6 w 61"/>
                <a:gd name="T9" fmla="*/ 110 h 110"/>
                <a:gd name="T10" fmla="*/ 54 w 61"/>
                <a:gd name="T11" fmla="*/ 62 h 110"/>
                <a:gd name="T12" fmla="*/ 61 w 61"/>
                <a:gd name="T13" fmla="*/ 55 h 110"/>
                <a:gd name="T14" fmla="*/ 54 w 61"/>
                <a:gd name="T15" fmla="*/ 49 h 110"/>
                <a:gd name="T16" fmla="*/ 6 w 61"/>
                <a:gd name="T1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110">
                  <a:moveTo>
                    <a:pt x="6" y="0"/>
                  </a:moveTo>
                  <a:lnTo>
                    <a:pt x="0" y="7"/>
                  </a:lnTo>
                  <a:lnTo>
                    <a:pt x="48" y="55"/>
                  </a:lnTo>
                  <a:lnTo>
                    <a:pt x="0" y="104"/>
                  </a:lnTo>
                  <a:lnTo>
                    <a:pt x="6" y="110"/>
                  </a:lnTo>
                  <a:lnTo>
                    <a:pt x="54" y="62"/>
                  </a:lnTo>
                  <a:lnTo>
                    <a:pt x="61" y="55"/>
                  </a:lnTo>
                  <a:lnTo>
                    <a:pt x="54" y="49"/>
                  </a:lnTo>
                  <a:lnTo>
                    <a:pt x="6" y="0"/>
                  </a:lnTo>
                  <a:close/>
                </a:path>
              </a:pathLst>
            </a:custGeom>
            <a:solidFill>
              <a:srgbClr val="9A9A9A"/>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67" name="Freeform 51">
              <a:extLst>
                <a:ext uri="{FF2B5EF4-FFF2-40B4-BE49-F238E27FC236}">
                  <a16:creationId xmlns:a16="http://schemas.microsoft.com/office/drawing/2014/main" id="{2C8B95D7-C82F-4EC1-B8DE-69E31CD6028B}"/>
                </a:ext>
              </a:extLst>
            </p:cNvPr>
            <p:cNvSpPr>
              <a:spLocks/>
            </p:cNvSpPr>
            <p:nvPr/>
          </p:nvSpPr>
          <p:spPr bwMode="auto">
            <a:xfrm>
              <a:off x="9101668" y="4285662"/>
              <a:ext cx="110126" cy="198589"/>
            </a:xfrm>
            <a:custGeom>
              <a:avLst/>
              <a:gdLst>
                <a:gd name="T0" fmla="*/ 6 w 61"/>
                <a:gd name="T1" fmla="*/ 0 h 110"/>
                <a:gd name="T2" fmla="*/ 0 w 61"/>
                <a:gd name="T3" fmla="*/ 7 h 110"/>
                <a:gd name="T4" fmla="*/ 48 w 61"/>
                <a:gd name="T5" fmla="*/ 55 h 110"/>
                <a:gd name="T6" fmla="*/ 0 w 61"/>
                <a:gd name="T7" fmla="*/ 104 h 110"/>
                <a:gd name="T8" fmla="*/ 6 w 61"/>
                <a:gd name="T9" fmla="*/ 110 h 110"/>
                <a:gd name="T10" fmla="*/ 54 w 61"/>
                <a:gd name="T11" fmla="*/ 62 h 110"/>
                <a:gd name="T12" fmla="*/ 61 w 61"/>
                <a:gd name="T13" fmla="*/ 55 h 110"/>
                <a:gd name="T14" fmla="*/ 54 w 61"/>
                <a:gd name="T15" fmla="*/ 49 h 110"/>
                <a:gd name="T16" fmla="*/ 6 w 61"/>
                <a:gd name="T1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110">
                  <a:moveTo>
                    <a:pt x="6" y="0"/>
                  </a:moveTo>
                  <a:lnTo>
                    <a:pt x="0" y="7"/>
                  </a:lnTo>
                  <a:lnTo>
                    <a:pt x="48" y="55"/>
                  </a:lnTo>
                  <a:lnTo>
                    <a:pt x="0" y="104"/>
                  </a:lnTo>
                  <a:lnTo>
                    <a:pt x="6" y="110"/>
                  </a:lnTo>
                  <a:lnTo>
                    <a:pt x="54" y="62"/>
                  </a:lnTo>
                  <a:lnTo>
                    <a:pt x="61" y="55"/>
                  </a:lnTo>
                  <a:lnTo>
                    <a:pt x="54" y="49"/>
                  </a:lnTo>
                  <a:lnTo>
                    <a:pt x="6" y="0"/>
                  </a:lnTo>
                  <a:close/>
                </a:path>
              </a:pathLst>
            </a:custGeom>
            <a:solidFill>
              <a:srgbClr val="9A9A9A"/>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grpSp>
      <p:sp>
        <p:nvSpPr>
          <p:cNvPr id="73" name="Rectangle: Rounded Corners 72">
            <a:extLst>
              <a:ext uri="{FF2B5EF4-FFF2-40B4-BE49-F238E27FC236}">
                <a16:creationId xmlns:a16="http://schemas.microsoft.com/office/drawing/2014/main" id="{309CB665-9260-468C-B032-2E1D4ED9F691}"/>
              </a:ext>
            </a:extLst>
          </p:cNvPr>
          <p:cNvSpPr/>
          <p:nvPr>
            <p:custDataLst>
              <p:tags r:id="rId24"/>
            </p:custDataLst>
          </p:nvPr>
        </p:nvSpPr>
        <p:spPr>
          <a:xfrm>
            <a:off x="7296472" y="2518586"/>
            <a:ext cx="1727560" cy="1444948"/>
          </a:xfrm>
          <a:prstGeom prst="roundRect">
            <a:avLst>
              <a:gd name="adj" fmla="val 4983"/>
            </a:avLst>
          </a:prstGeom>
          <a:solidFill>
            <a:srgbClr val="FFFFFF"/>
          </a:solidFill>
          <a:ln w="9525" cap="rnd" cmpd="sng" algn="ctr">
            <a:solidFill>
              <a:srgbClr val="C8C8C8">
                <a:lumMod val="100000"/>
              </a:srgb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1000" b="1">
                <a:solidFill>
                  <a:schemeClr val="tx1"/>
                </a:solidFill>
                <a:sym typeface="Trebuchet MS" panose="020B0603020202020204" pitchFamily="34" charset="0"/>
              </a:rPr>
              <a:t>NBA/</a:t>
            </a:r>
            <a:r>
              <a:rPr lang="en-US" sz="1000" b="1" err="1">
                <a:solidFill>
                  <a:schemeClr val="tx1"/>
                </a:solidFill>
                <a:sym typeface="Trebuchet MS" panose="020B0603020202020204" pitchFamily="34" charset="0"/>
              </a:rPr>
              <a:t>NBO</a:t>
            </a:r>
            <a:r>
              <a:rPr lang="en-US" sz="1000" b="1">
                <a:solidFill>
                  <a:schemeClr val="tx1"/>
                </a:solidFill>
                <a:sym typeface="Trebuchet MS" panose="020B0603020202020204" pitchFamily="34" charset="0"/>
              </a:rPr>
              <a:t> based</a:t>
            </a:r>
          </a:p>
          <a:p>
            <a:pPr marL="324000" lvl="1" indent="-216000">
              <a:buClr>
                <a:schemeClr val="tx2"/>
              </a:buClr>
              <a:buFont typeface="Trebuchet MS" panose="020B0603020202020204" pitchFamily="34" charset="0"/>
              <a:buChar char="•"/>
            </a:pPr>
            <a:r>
              <a:rPr lang="en-US" sz="1000">
                <a:solidFill>
                  <a:schemeClr val="tx1"/>
                </a:solidFill>
                <a:sym typeface="Trebuchet MS" panose="020B0603020202020204" pitchFamily="34" charset="0"/>
              </a:rPr>
              <a:t>Orchestration across channels based on predictions of analytical engine with chosen product and marketing scenario</a:t>
            </a:r>
          </a:p>
        </p:txBody>
      </p:sp>
      <p:sp>
        <p:nvSpPr>
          <p:cNvPr id="74" name="Rectangle: Rounded Corners 73">
            <a:extLst>
              <a:ext uri="{FF2B5EF4-FFF2-40B4-BE49-F238E27FC236}">
                <a16:creationId xmlns:a16="http://schemas.microsoft.com/office/drawing/2014/main" id="{40156BBA-1CC4-443B-89B3-E14E2D348CEC}"/>
              </a:ext>
            </a:extLst>
          </p:cNvPr>
          <p:cNvSpPr/>
          <p:nvPr>
            <p:custDataLst>
              <p:tags r:id="rId25"/>
            </p:custDataLst>
          </p:nvPr>
        </p:nvSpPr>
        <p:spPr>
          <a:xfrm>
            <a:off x="7296472" y="4204614"/>
            <a:ext cx="1727560" cy="599264"/>
          </a:xfrm>
          <a:prstGeom prst="roundRect">
            <a:avLst>
              <a:gd name="adj" fmla="val 12015"/>
            </a:avLst>
          </a:prstGeom>
          <a:solidFill>
            <a:srgbClr val="FFFFFF"/>
          </a:solidFill>
          <a:ln w="9525" cap="rnd" cmpd="sng" algn="ctr">
            <a:solidFill>
              <a:srgbClr val="C8C8C8">
                <a:lumMod val="100000"/>
              </a:srgb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1000" b="1">
                <a:solidFill>
                  <a:schemeClr val="tx1"/>
                </a:solidFill>
                <a:sym typeface="Trebuchet MS" panose="020B0603020202020204" pitchFamily="34" charset="0"/>
              </a:rPr>
              <a:t>Testing and</a:t>
            </a:r>
            <a:br>
              <a:rPr lang="en-US" sz="1000" b="1">
                <a:solidFill>
                  <a:schemeClr val="tx1"/>
                </a:solidFill>
                <a:sym typeface="Trebuchet MS" panose="020B0603020202020204" pitchFamily="34" charset="0"/>
              </a:rPr>
            </a:br>
            <a:r>
              <a:rPr lang="en-US" sz="1000" b="1">
                <a:solidFill>
                  <a:schemeClr val="tx1"/>
                </a:solidFill>
                <a:sym typeface="Trebuchet MS" panose="020B0603020202020204" pitchFamily="34" charset="0"/>
              </a:rPr>
              <a:t>experiments</a:t>
            </a:r>
          </a:p>
        </p:txBody>
      </p:sp>
      <p:cxnSp>
        <p:nvCxnSpPr>
          <p:cNvPr id="75" name="AutoShape 2">
            <a:extLst>
              <a:ext uri="{FF2B5EF4-FFF2-40B4-BE49-F238E27FC236}">
                <a16:creationId xmlns:a16="http://schemas.microsoft.com/office/drawing/2014/main" id="{238E0F9D-9461-4F94-85A3-1439FA26DDD8}"/>
              </a:ext>
            </a:extLst>
          </p:cNvPr>
          <p:cNvCxnSpPr>
            <a:cxnSpLocks noChangeShapeType="1"/>
            <a:stCxn id="22" idx="0"/>
            <a:endCxn id="87" idx="2"/>
          </p:cNvCxnSpPr>
          <p:nvPr/>
        </p:nvCxnSpPr>
        <p:spPr bwMode="auto">
          <a:xfrm rot="5400000" flipH="1" flipV="1">
            <a:off x="4740176" y="996000"/>
            <a:ext cx="1377633" cy="3961298"/>
          </a:xfrm>
          <a:prstGeom prst="bentConnector2">
            <a:avLst/>
          </a:prstGeom>
          <a:noFill/>
          <a:ln w="12700" cap="rnd" cmpd="sng" algn="ctr">
            <a:solidFill>
              <a:schemeClr val="tx2"/>
            </a:solidFill>
            <a:prstDash val="solid"/>
            <a:round/>
            <a:headEnd type="triangle" w="med" len="med"/>
            <a:tailEnd type="none" w="med" len="med"/>
          </a:ln>
        </p:spPr>
      </p:cxnSp>
      <p:cxnSp>
        <p:nvCxnSpPr>
          <p:cNvPr id="76" name="AutoShape 2">
            <a:extLst>
              <a:ext uri="{FF2B5EF4-FFF2-40B4-BE49-F238E27FC236}">
                <a16:creationId xmlns:a16="http://schemas.microsoft.com/office/drawing/2014/main" id="{FF1E2414-E181-406A-AB54-84077CCFA316}"/>
              </a:ext>
            </a:extLst>
          </p:cNvPr>
          <p:cNvCxnSpPr>
            <a:cxnSpLocks noChangeShapeType="1"/>
            <a:stCxn id="171" idx="1"/>
            <a:endCxn id="20" idx="3"/>
          </p:cNvCxnSpPr>
          <p:nvPr/>
        </p:nvCxnSpPr>
        <p:spPr bwMode="auto">
          <a:xfrm rot="10800000" flipV="1">
            <a:off x="6987230" y="4654062"/>
            <a:ext cx="309243" cy="670372"/>
          </a:xfrm>
          <a:prstGeom prst="bentConnector3">
            <a:avLst>
              <a:gd name="adj1" fmla="val 50000"/>
            </a:avLst>
          </a:prstGeom>
          <a:noFill/>
          <a:ln w="9525" cap="rnd" cmpd="sng" algn="ctr">
            <a:solidFill>
              <a:srgbClr val="9A9A9A"/>
            </a:solidFill>
            <a:prstDash val="solid"/>
            <a:round/>
            <a:headEnd type="none" w="med" len="med"/>
            <a:tailEnd type="none" w="med" len="med"/>
          </a:ln>
        </p:spPr>
      </p:cxnSp>
      <p:cxnSp>
        <p:nvCxnSpPr>
          <p:cNvPr id="77" name="AutoShape 2">
            <a:extLst>
              <a:ext uri="{FF2B5EF4-FFF2-40B4-BE49-F238E27FC236}">
                <a16:creationId xmlns:a16="http://schemas.microsoft.com/office/drawing/2014/main" id="{1FA11E67-3EE6-4332-86D4-320A625183D3}"/>
              </a:ext>
            </a:extLst>
          </p:cNvPr>
          <p:cNvCxnSpPr>
            <a:cxnSpLocks noChangeShapeType="1"/>
            <a:stCxn id="73" idx="1"/>
            <a:endCxn id="19" idx="3"/>
          </p:cNvCxnSpPr>
          <p:nvPr/>
        </p:nvCxnSpPr>
        <p:spPr bwMode="auto">
          <a:xfrm rot="10800000" flipV="1">
            <a:off x="6879844" y="3241059"/>
            <a:ext cx="416628" cy="297111"/>
          </a:xfrm>
          <a:prstGeom prst="bentConnector3">
            <a:avLst>
              <a:gd name="adj1" fmla="val 50000"/>
            </a:avLst>
          </a:prstGeom>
          <a:noFill/>
          <a:ln w="9525" cap="rnd" cmpd="sng" algn="ctr">
            <a:solidFill>
              <a:srgbClr val="9A9A9A"/>
            </a:solidFill>
            <a:prstDash val="solid"/>
            <a:round/>
            <a:headEnd type="none" w="med" len="med"/>
            <a:tailEnd type="none" w="med" len="med"/>
          </a:ln>
        </p:spPr>
      </p:cxnSp>
      <p:cxnSp>
        <p:nvCxnSpPr>
          <p:cNvPr id="78" name="AutoShape 2">
            <a:extLst>
              <a:ext uri="{FF2B5EF4-FFF2-40B4-BE49-F238E27FC236}">
                <a16:creationId xmlns:a16="http://schemas.microsoft.com/office/drawing/2014/main" id="{DAB11E4C-C0C3-4C72-A1B0-5192B9AC9788}"/>
              </a:ext>
            </a:extLst>
          </p:cNvPr>
          <p:cNvCxnSpPr>
            <a:cxnSpLocks noChangeShapeType="1"/>
            <a:stCxn id="170" idx="1"/>
            <a:endCxn id="19" idx="3"/>
          </p:cNvCxnSpPr>
          <p:nvPr/>
        </p:nvCxnSpPr>
        <p:spPr bwMode="auto">
          <a:xfrm rot="10800000">
            <a:off x="6879844" y="3538172"/>
            <a:ext cx="416628" cy="816259"/>
          </a:xfrm>
          <a:prstGeom prst="bentConnector3">
            <a:avLst>
              <a:gd name="adj1" fmla="val 50000"/>
            </a:avLst>
          </a:prstGeom>
          <a:noFill/>
          <a:ln w="9525" cap="rnd" cmpd="sng" algn="ctr">
            <a:solidFill>
              <a:srgbClr val="9A9A9A"/>
            </a:solidFill>
            <a:prstDash val="solid"/>
            <a:round/>
            <a:headEnd type="none" w="med" len="med"/>
            <a:tailEnd type="none" w="med" len="med"/>
          </a:ln>
        </p:spPr>
      </p:cxnSp>
      <p:sp>
        <p:nvSpPr>
          <p:cNvPr id="79" name="Oval 78">
            <a:extLst>
              <a:ext uri="{FF2B5EF4-FFF2-40B4-BE49-F238E27FC236}">
                <a16:creationId xmlns:a16="http://schemas.microsoft.com/office/drawing/2014/main" id="{08463C45-9BEC-4C5E-AC25-8793A5B388DB}"/>
              </a:ext>
            </a:extLst>
          </p:cNvPr>
          <p:cNvSpPr/>
          <p:nvPr/>
        </p:nvSpPr>
        <p:spPr>
          <a:xfrm>
            <a:off x="8689424" y="2518586"/>
            <a:ext cx="289142" cy="289142"/>
          </a:xfrm>
          <a:prstGeom prst="ellipse">
            <a:avLst/>
          </a:prstGeom>
          <a:gradFill flip="none" rotWithShape="1">
            <a:gsLst>
              <a:gs pos="22000">
                <a:srgbClr val="29BA74">
                  <a:lumMod val="100000"/>
                </a:srgbClr>
              </a:gs>
              <a:gs pos="100000">
                <a:srgbClr val="FFDE4A"/>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r>
              <a:rPr lang="en-US" sz="1400" kern="0">
                <a:solidFill>
                  <a:schemeClr val="bg1"/>
                </a:solidFill>
                <a:latin typeface="+mj-lt"/>
              </a:rPr>
              <a:t>4</a:t>
            </a:r>
            <a:endParaRPr lang="ru-RU" sz="1400" kern="0">
              <a:solidFill>
                <a:schemeClr val="bg1"/>
              </a:solidFill>
              <a:latin typeface="+mj-lt"/>
            </a:endParaRPr>
          </a:p>
        </p:txBody>
      </p:sp>
      <p:sp>
        <p:nvSpPr>
          <p:cNvPr id="80" name="Oval 79">
            <a:extLst>
              <a:ext uri="{FF2B5EF4-FFF2-40B4-BE49-F238E27FC236}">
                <a16:creationId xmlns:a16="http://schemas.microsoft.com/office/drawing/2014/main" id="{CCBC05E2-C3DE-4B98-BBE7-599C5839015A}"/>
              </a:ext>
            </a:extLst>
          </p:cNvPr>
          <p:cNvSpPr/>
          <p:nvPr/>
        </p:nvSpPr>
        <p:spPr>
          <a:xfrm>
            <a:off x="8689424" y="4359675"/>
            <a:ext cx="289142" cy="289142"/>
          </a:xfrm>
          <a:prstGeom prst="ellipse">
            <a:avLst/>
          </a:prstGeom>
          <a:gradFill flip="none" rotWithShape="1">
            <a:gsLst>
              <a:gs pos="22000">
                <a:srgbClr val="29BA74">
                  <a:lumMod val="100000"/>
                </a:srgbClr>
              </a:gs>
              <a:gs pos="100000">
                <a:srgbClr val="FFDE4A"/>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r>
              <a:rPr lang="en-US" sz="1400" kern="0">
                <a:solidFill>
                  <a:schemeClr val="bg1"/>
                </a:solidFill>
                <a:latin typeface="+mj-lt"/>
              </a:rPr>
              <a:t>5</a:t>
            </a:r>
            <a:endParaRPr lang="ru-RU" sz="1400" kern="0">
              <a:solidFill>
                <a:schemeClr val="bg1"/>
              </a:solidFill>
              <a:latin typeface="+mj-lt"/>
            </a:endParaRPr>
          </a:p>
        </p:txBody>
      </p:sp>
      <p:sp>
        <p:nvSpPr>
          <p:cNvPr id="81" name="Oval 80">
            <a:extLst>
              <a:ext uri="{FF2B5EF4-FFF2-40B4-BE49-F238E27FC236}">
                <a16:creationId xmlns:a16="http://schemas.microsoft.com/office/drawing/2014/main" id="{0D3364FF-743B-49FE-83C4-782D9BF8AD06}"/>
              </a:ext>
            </a:extLst>
          </p:cNvPr>
          <p:cNvSpPr/>
          <p:nvPr/>
        </p:nvSpPr>
        <p:spPr>
          <a:xfrm>
            <a:off x="2972230" y="3538466"/>
            <a:ext cx="289142" cy="289142"/>
          </a:xfrm>
          <a:prstGeom prst="ellipse">
            <a:avLst/>
          </a:prstGeom>
          <a:gradFill flip="none" rotWithShape="1">
            <a:gsLst>
              <a:gs pos="22000">
                <a:srgbClr val="29BA74">
                  <a:lumMod val="100000"/>
                </a:srgbClr>
              </a:gs>
              <a:gs pos="100000">
                <a:srgbClr val="FFDE4A"/>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r>
              <a:rPr lang="en-US" sz="1400" kern="0">
                <a:solidFill>
                  <a:schemeClr val="bg1"/>
                </a:solidFill>
                <a:latin typeface="+mj-lt"/>
              </a:rPr>
              <a:t>1</a:t>
            </a:r>
            <a:endParaRPr lang="ru-RU" sz="1400" kern="0">
              <a:solidFill>
                <a:schemeClr val="bg1"/>
              </a:solidFill>
              <a:latin typeface="+mj-lt"/>
            </a:endParaRPr>
          </a:p>
        </p:txBody>
      </p:sp>
      <p:sp>
        <p:nvSpPr>
          <p:cNvPr id="82" name="Oval 81">
            <a:extLst>
              <a:ext uri="{FF2B5EF4-FFF2-40B4-BE49-F238E27FC236}">
                <a16:creationId xmlns:a16="http://schemas.microsoft.com/office/drawing/2014/main" id="{85FC0D54-3B1B-4645-9674-53DA1112B5A9}"/>
              </a:ext>
            </a:extLst>
          </p:cNvPr>
          <p:cNvSpPr/>
          <p:nvPr/>
        </p:nvSpPr>
        <p:spPr>
          <a:xfrm>
            <a:off x="6566462" y="2903771"/>
            <a:ext cx="289142" cy="289142"/>
          </a:xfrm>
          <a:prstGeom prst="ellipse">
            <a:avLst/>
          </a:prstGeom>
          <a:gradFill flip="none" rotWithShape="1">
            <a:gsLst>
              <a:gs pos="22000">
                <a:srgbClr val="29BA74">
                  <a:lumMod val="100000"/>
                </a:srgbClr>
              </a:gs>
              <a:gs pos="100000">
                <a:srgbClr val="FFDE4A"/>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r>
              <a:rPr lang="en-US" sz="1400" kern="0">
                <a:solidFill>
                  <a:schemeClr val="bg1"/>
                </a:solidFill>
                <a:latin typeface="+mj-lt"/>
              </a:rPr>
              <a:t>3</a:t>
            </a:r>
            <a:endParaRPr lang="ru-RU" sz="1400" kern="0">
              <a:solidFill>
                <a:schemeClr val="bg1"/>
              </a:solidFill>
              <a:latin typeface="+mj-lt"/>
            </a:endParaRPr>
          </a:p>
        </p:txBody>
      </p:sp>
      <p:sp>
        <p:nvSpPr>
          <p:cNvPr id="83" name="Oval 82">
            <a:extLst>
              <a:ext uri="{FF2B5EF4-FFF2-40B4-BE49-F238E27FC236}">
                <a16:creationId xmlns:a16="http://schemas.microsoft.com/office/drawing/2014/main" id="{AA8A5C06-BE0D-4AEE-9E7A-55FEFB1DB3CC}"/>
              </a:ext>
            </a:extLst>
          </p:cNvPr>
          <p:cNvSpPr/>
          <p:nvPr/>
        </p:nvSpPr>
        <p:spPr>
          <a:xfrm>
            <a:off x="10732127" y="3077557"/>
            <a:ext cx="289142" cy="289142"/>
          </a:xfrm>
          <a:prstGeom prst="ellipse">
            <a:avLst/>
          </a:prstGeom>
          <a:gradFill flip="none" rotWithShape="1">
            <a:gsLst>
              <a:gs pos="22000">
                <a:srgbClr val="29BA74">
                  <a:lumMod val="100000"/>
                </a:srgbClr>
              </a:gs>
              <a:gs pos="100000">
                <a:srgbClr val="FFDE4A"/>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r>
              <a:rPr lang="en-US" sz="1400" kern="0">
                <a:solidFill>
                  <a:schemeClr val="bg1"/>
                </a:solidFill>
                <a:latin typeface="+mj-lt"/>
              </a:rPr>
              <a:t>7</a:t>
            </a:r>
            <a:endParaRPr lang="ru-RU" sz="1400" kern="0">
              <a:solidFill>
                <a:schemeClr val="bg1"/>
              </a:solidFill>
              <a:latin typeface="+mj-lt"/>
            </a:endParaRPr>
          </a:p>
        </p:txBody>
      </p:sp>
      <p:sp>
        <p:nvSpPr>
          <p:cNvPr id="84" name="Oval 83">
            <a:extLst>
              <a:ext uri="{FF2B5EF4-FFF2-40B4-BE49-F238E27FC236}">
                <a16:creationId xmlns:a16="http://schemas.microsoft.com/office/drawing/2014/main" id="{119FF282-CF79-4AF4-B891-33805BBCAC50}"/>
              </a:ext>
            </a:extLst>
          </p:cNvPr>
          <p:cNvSpPr/>
          <p:nvPr/>
        </p:nvSpPr>
        <p:spPr>
          <a:xfrm>
            <a:off x="4515079" y="5664880"/>
            <a:ext cx="289142" cy="289142"/>
          </a:xfrm>
          <a:prstGeom prst="ellipse">
            <a:avLst/>
          </a:prstGeom>
          <a:gradFill flip="none" rotWithShape="1">
            <a:gsLst>
              <a:gs pos="22000">
                <a:srgbClr val="29BA74">
                  <a:lumMod val="100000"/>
                </a:srgbClr>
              </a:gs>
              <a:gs pos="100000">
                <a:srgbClr val="FFDE4A"/>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r>
              <a:rPr lang="en-US" sz="1400" kern="0">
                <a:solidFill>
                  <a:schemeClr val="bg1"/>
                </a:solidFill>
                <a:latin typeface="+mj-lt"/>
              </a:rPr>
              <a:t>6</a:t>
            </a:r>
            <a:endParaRPr lang="ru-RU" sz="1400" kern="0">
              <a:solidFill>
                <a:schemeClr val="bg1"/>
              </a:solidFill>
              <a:latin typeface="+mj-lt"/>
            </a:endParaRPr>
          </a:p>
        </p:txBody>
      </p:sp>
      <p:cxnSp>
        <p:nvCxnSpPr>
          <p:cNvPr id="85" name="AutoShape 2">
            <a:extLst>
              <a:ext uri="{FF2B5EF4-FFF2-40B4-BE49-F238E27FC236}">
                <a16:creationId xmlns:a16="http://schemas.microsoft.com/office/drawing/2014/main" id="{DE3E2836-8A82-405E-9DCA-69B98EE5CA37}"/>
              </a:ext>
            </a:extLst>
          </p:cNvPr>
          <p:cNvCxnSpPr>
            <a:cxnSpLocks noChangeShapeType="1"/>
          </p:cNvCxnSpPr>
          <p:nvPr/>
        </p:nvCxnSpPr>
        <p:spPr bwMode="auto">
          <a:xfrm rot="16200000" flipH="1">
            <a:off x="9724178" y="955161"/>
            <a:ext cx="162156" cy="3289009"/>
          </a:xfrm>
          <a:prstGeom prst="bentConnector3">
            <a:avLst>
              <a:gd name="adj1" fmla="val -140975"/>
            </a:avLst>
          </a:prstGeom>
          <a:noFill/>
          <a:ln w="12700" cap="rnd" cmpd="sng" algn="ctr">
            <a:solidFill>
              <a:schemeClr val="tx2"/>
            </a:solidFill>
            <a:prstDash val="solid"/>
            <a:round/>
            <a:headEnd type="triangle" w="med" len="med"/>
            <a:tailEnd type="none" w="med" len="med"/>
          </a:ln>
        </p:spPr>
      </p:cxnSp>
      <p:sp>
        <p:nvSpPr>
          <p:cNvPr id="86" name="Rectangle: Rounded Corners 85">
            <a:extLst>
              <a:ext uri="{FF2B5EF4-FFF2-40B4-BE49-F238E27FC236}">
                <a16:creationId xmlns:a16="http://schemas.microsoft.com/office/drawing/2014/main" id="{D83E9C43-DDE1-45FD-9AAA-E35DB218A7AA}"/>
              </a:ext>
            </a:extLst>
          </p:cNvPr>
          <p:cNvSpPr/>
          <p:nvPr>
            <p:custDataLst>
              <p:tags r:id="rId26"/>
            </p:custDataLst>
          </p:nvPr>
        </p:nvSpPr>
        <p:spPr>
          <a:xfrm>
            <a:off x="7556020" y="2143261"/>
            <a:ext cx="1873714" cy="239570"/>
          </a:xfrm>
          <a:prstGeom prst="roundRect">
            <a:avLst>
              <a:gd name="adj" fmla="val 43719"/>
            </a:avLst>
          </a:prstGeom>
          <a:solidFill>
            <a:srgbClr val="9A9A9A"/>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000">
                <a:solidFill>
                  <a:srgbClr val="FFFFFF"/>
                </a:solidFill>
              </a:rPr>
              <a:t>Feedback loop</a:t>
            </a:r>
          </a:p>
        </p:txBody>
      </p:sp>
      <p:sp>
        <p:nvSpPr>
          <p:cNvPr id="87" name="Oval 86">
            <a:extLst>
              <a:ext uri="{FF2B5EF4-FFF2-40B4-BE49-F238E27FC236}">
                <a16:creationId xmlns:a16="http://schemas.microsoft.com/office/drawing/2014/main" id="{CAAA7D16-3D96-4E24-B748-D16EBBB0C52E}"/>
              </a:ext>
            </a:extLst>
          </p:cNvPr>
          <p:cNvSpPr/>
          <p:nvPr/>
        </p:nvSpPr>
        <p:spPr>
          <a:xfrm>
            <a:off x="7409641" y="2143261"/>
            <a:ext cx="289142" cy="289142"/>
          </a:xfrm>
          <a:prstGeom prst="ellipse">
            <a:avLst/>
          </a:prstGeom>
          <a:gradFill flip="none" rotWithShape="1">
            <a:gsLst>
              <a:gs pos="22000">
                <a:srgbClr val="29BA74">
                  <a:lumMod val="100000"/>
                </a:srgbClr>
              </a:gs>
              <a:gs pos="100000">
                <a:srgbClr val="FFDE4A"/>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r>
              <a:rPr lang="en-US" sz="1400" kern="0">
                <a:solidFill>
                  <a:schemeClr val="bg1"/>
                </a:solidFill>
                <a:latin typeface="+mj-lt"/>
              </a:rPr>
              <a:t>2</a:t>
            </a:r>
            <a:endParaRPr lang="ru-RU" sz="1400" kern="0">
              <a:solidFill>
                <a:schemeClr val="bg1"/>
              </a:solidFill>
              <a:latin typeface="+mj-lt"/>
            </a:endParaRPr>
          </a:p>
        </p:txBody>
      </p:sp>
      <p:sp>
        <p:nvSpPr>
          <p:cNvPr id="93" name="Oval 92">
            <a:extLst>
              <a:ext uri="{FF2B5EF4-FFF2-40B4-BE49-F238E27FC236}">
                <a16:creationId xmlns:a16="http://schemas.microsoft.com/office/drawing/2014/main" id="{A29196A3-029A-4EC6-8B5F-60ACE4E647BB}"/>
              </a:ext>
            </a:extLst>
          </p:cNvPr>
          <p:cNvSpPr/>
          <p:nvPr/>
        </p:nvSpPr>
        <p:spPr>
          <a:xfrm>
            <a:off x="10732127" y="4362771"/>
            <a:ext cx="289142" cy="289142"/>
          </a:xfrm>
          <a:prstGeom prst="ellipse">
            <a:avLst/>
          </a:prstGeom>
          <a:gradFill flip="none" rotWithShape="1">
            <a:gsLst>
              <a:gs pos="22000">
                <a:srgbClr val="29BA74">
                  <a:lumMod val="100000"/>
                </a:srgbClr>
              </a:gs>
              <a:gs pos="100000">
                <a:srgbClr val="FFDE4A"/>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r>
              <a:rPr lang="en-US" sz="1400" kern="0">
                <a:solidFill>
                  <a:schemeClr val="bg1"/>
                </a:solidFill>
                <a:latin typeface="+mj-lt"/>
              </a:rPr>
              <a:t>8</a:t>
            </a:r>
            <a:endParaRPr lang="ru-RU" sz="1400" kern="0">
              <a:solidFill>
                <a:schemeClr val="bg1"/>
              </a:solidFill>
              <a:latin typeface="+mj-lt"/>
            </a:endParaRPr>
          </a:p>
        </p:txBody>
      </p:sp>
      <p:sp>
        <p:nvSpPr>
          <p:cNvPr id="151" name="Arc 150">
            <a:extLst>
              <a:ext uri="{FF2B5EF4-FFF2-40B4-BE49-F238E27FC236}">
                <a16:creationId xmlns:a16="http://schemas.microsoft.com/office/drawing/2014/main" id="{934FE44D-F4E3-4280-B1A1-55E54215A5AC}"/>
              </a:ext>
            </a:extLst>
          </p:cNvPr>
          <p:cNvSpPr/>
          <p:nvPr/>
        </p:nvSpPr>
        <p:spPr>
          <a:xfrm>
            <a:off x="4288687" y="5154675"/>
            <a:ext cx="160141" cy="160141"/>
          </a:xfrm>
          <a:prstGeom prst="arc">
            <a:avLst>
              <a:gd name="adj1" fmla="val 10801594"/>
              <a:gd name="adj2" fmla="val 0"/>
            </a:avLst>
          </a:prstGeom>
          <a:solidFill>
            <a:schemeClr val="bg1"/>
          </a:solidFill>
          <a:ln w="9525" cap="flat" cmpd="sng" algn="ctr">
            <a:solidFill>
              <a:srgbClr val="9A9A9A"/>
            </a:solidFill>
            <a:prstDash val="solid"/>
            <a:round/>
            <a:headEnd type="none" w="med" len="med"/>
            <a:tailEnd type="none" w="med" len="med"/>
          </a:ln>
        </p:spPr>
        <p:txBody>
          <a:bodyPr rtlCol="0" anchor="ctr"/>
          <a:lstStyle/>
          <a:p>
            <a:pPr algn="ctr"/>
            <a:endParaRPr lang="en-US"/>
          </a:p>
        </p:txBody>
      </p:sp>
      <p:grpSp>
        <p:nvGrpSpPr>
          <p:cNvPr id="157" name="Group 156">
            <a:extLst>
              <a:ext uri="{FF2B5EF4-FFF2-40B4-BE49-F238E27FC236}">
                <a16:creationId xmlns:a16="http://schemas.microsoft.com/office/drawing/2014/main" id="{AE32C4B8-9DED-47A8-BCA7-3C9AC60A0739}"/>
              </a:ext>
            </a:extLst>
          </p:cNvPr>
          <p:cNvGrpSpPr/>
          <p:nvPr/>
        </p:nvGrpSpPr>
        <p:grpSpPr>
          <a:xfrm>
            <a:off x="4515079" y="5154674"/>
            <a:ext cx="206666" cy="339519"/>
            <a:chOff x="4362106" y="4302886"/>
            <a:chExt cx="206666" cy="413332"/>
          </a:xfrm>
        </p:grpSpPr>
        <p:sp>
          <p:nvSpPr>
            <p:cNvPr id="155" name="Rectangle 154">
              <a:extLst>
                <a:ext uri="{FF2B5EF4-FFF2-40B4-BE49-F238E27FC236}">
                  <a16:creationId xmlns:a16="http://schemas.microsoft.com/office/drawing/2014/main" id="{208006F1-14A2-435E-8B05-E925E00898D7}"/>
                </a:ext>
              </a:extLst>
            </p:cNvPr>
            <p:cNvSpPr/>
            <p:nvPr/>
          </p:nvSpPr>
          <p:spPr>
            <a:xfrm>
              <a:off x="4362106" y="4302886"/>
              <a:ext cx="206666" cy="206666"/>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9B1C23"/>
                  </a:solidFill>
                </a14:hiddenFill>
              </a:ext>
              <a:ext uri="{91240B29-F687-4F45-9708-019B960494DF}">
                <a14:hiddenLine xmlns:a14="http://schemas.microsoft.com/office/drawing/2010/main" w="9525" cap="rnd" cmpd="sng" algn="ctr">
                  <a:solidFill>
                    <a:srgbClr val="9B1C23"/>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156" name="Rectangle 155">
              <a:extLst>
                <a:ext uri="{FF2B5EF4-FFF2-40B4-BE49-F238E27FC236}">
                  <a16:creationId xmlns:a16="http://schemas.microsoft.com/office/drawing/2014/main" id="{635EBB1A-3D2B-4861-90B6-909C54AAF07C}"/>
                </a:ext>
              </a:extLst>
            </p:cNvPr>
            <p:cNvSpPr/>
            <p:nvPr/>
          </p:nvSpPr>
          <p:spPr>
            <a:xfrm>
              <a:off x="4362106" y="4509552"/>
              <a:ext cx="206666" cy="206666"/>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9B1C23"/>
                  </a:solidFill>
                </a14:hiddenFill>
              </a:ext>
              <a:ext uri="{91240B29-F687-4F45-9708-019B960494DF}">
                <a14:hiddenLine xmlns:a14="http://schemas.microsoft.com/office/drawing/2010/main" w="9525" cap="rnd" cmpd="sng" algn="ctr">
                  <a:solidFill>
                    <a:srgbClr val="9B1C23"/>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200">
                <a:solidFill>
                  <a:srgbClr val="FFFFFF"/>
                </a:solidFill>
              </a:endParaRPr>
            </a:p>
          </p:txBody>
        </p:sp>
      </p:grpSp>
      <p:sp>
        <p:nvSpPr>
          <p:cNvPr id="164" name="Rectangle 163">
            <a:extLst>
              <a:ext uri="{FF2B5EF4-FFF2-40B4-BE49-F238E27FC236}">
                <a16:creationId xmlns:a16="http://schemas.microsoft.com/office/drawing/2014/main" id="{7092F7E4-1EB2-4588-9731-4E4662ADEB71}"/>
              </a:ext>
            </a:extLst>
          </p:cNvPr>
          <p:cNvSpPr/>
          <p:nvPr/>
        </p:nvSpPr>
        <p:spPr>
          <a:xfrm>
            <a:off x="3746995" y="5310391"/>
            <a:ext cx="206666" cy="169760"/>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9B1C23"/>
                </a:solidFill>
              </a14:hiddenFill>
            </a:ext>
            <a:ext uri="{91240B29-F687-4F45-9708-019B960494DF}">
              <a14:hiddenLine xmlns:a14="http://schemas.microsoft.com/office/drawing/2010/main" w="9525" cap="rnd" cmpd="sng" algn="ctr">
                <a:solidFill>
                  <a:srgbClr val="9B1C23"/>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200">
              <a:solidFill>
                <a:srgbClr val="FFFFFF"/>
              </a:solidFill>
            </a:endParaRPr>
          </a:p>
        </p:txBody>
      </p:sp>
      <p:grpSp>
        <p:nvGrpSpPr>
          <p:cNvPr id="169" name="Group 168">
            <a:extLst>
              <a:ext uri="{FF2B5EF4-FFF2-40B4-BE49-F238E27FC236}">
                <a16:creationId xmlns:a16="http://schemas.microsoft.com/office/drawing/2014/main" id="{DBDEFECF-147A-442D-A89F-41F05A48C16D}"/>
              </a:ext>
            </a:extLst>
          </p:cNvPr>
          <p:cNvGrpSpPr/>
          <p:nvPr/>
        </p:nvGrpSpPr>
        <p:grpSpPr>
          <a:xfrm>
            <a:off x="7296472" y="4204614"/>
            <a:ext cx="206666" cy="599264"/>
            <a:chOff x="4362106" y="4302886"/>
            <a:chExt cx="206666" cy="413332"/>
          </a:xfrm>
        </p:grpSpPr>
        <p:sp>
          <p:nvSpPr>
            <p:cNvPr id="170" name="Rectangle 169">
              <a:extLst>
                <a:ext uri="{FF2B5EF4-FFF2-40B4-BE49-F238E27FC236}">
                  <a16:creationId xmlns:a16="http://schemas.microsoft.com/office/drawing/2014/main" id="{AAEA9938-C741-4317-B595-0BAD7D33761E}"/>
                </a:ext>
              </a:extLst>
            </p:cNvPr>
            <p:cNvSpPr/>
            <p:nvPr/>
          </p:nvSpPr>
          <p:spPr>
            <a:xfrm>
              <a:off x="4362106" y="4302886"/>
              <a:ext cx="206666" cy="206666"/>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9B1C23"/>
                  </a:solidFill>
                </a14:hiddenFill>
              </a:ext>
              <a:ext uri="{91240B29-F687-4F45-9708-019B960494DF}">
                <a14:hiddenLine xmlns:a14="http://schemas.microsoft.com/office/drawing/2010/main" w="9525" cap="rnd" cmpd="sng" algn="ctr">
                  <a:solidFill>
                    <a:schemeClr val="tx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171" name="Rectangle 170">
              <a:extLst>
                <a:ext uri="{FF2B5EF4-FFF2-40B4-BE49-F238E27FC236}">
                  <a16:creationId xmlns:a16="http://schemas.microsoft.com/office/drawing/2014/main" id="{2886D8A4-A654-4FF9-9AA6-B3B9B1605882}"/>
                </a:ext>
              </a:extLst>
            </p:cNvPr>
            <p:cNvSpPr/>
            <p:nvPr/>
          </p:nvSpPr>
          <p:spPr>
            <a:xfrm>
              <a:off x="4362106" y="4509552"/>
              <a:ext cx="206666" cy="206666"/>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9B1C23"/>
                  </a:solidFill>
                </a14:hiddenFill>
              </a:ext>
              <a:ext uri="{91240B29-F687-4F45-9708-019B960494DF}">
                <a14:hiddenLine xmlns:a14="http://schemas.microsoft.com/office/drawing/2010/main" w="9525" cap="rnd" cmpd="sng" algn="ctr">
                  <a:solidFill>
                    <a:schemeClr val="tx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200">
                <a:solidFill>
                  <a:srgbClr val="FFFFFF"/>
                </a:solidFill>
              </a:endParaRPr>
            </a:p>
          </p:txBody>
        </p:sp>
      </p:grpSp>
      <p:sp>
        <p:nvSpPr>
          <p:cNvPr id="53" name="Rectangle: Rounded Corners 52">
            <a:extLst>
              <a:ext uri="{FF2B5EF4-FFF2-40B4-BE49-F238E27FC236}">
                <a16:creationId xmlns:a16="http://schemas.microsoft.com/office/drawing/2014/main" id="{9FFDDB52-1DE8-4E6E-9950-C94D6D1AD85D}"/>
              </a:ext>
            </a:extLst>
          </p:cNvPr>
          <p:cNvSpPr/>
          <p:nvPr>
            <p:custDataLst>
              <p:tags r:id="rId27"/>
            </p:custDataLst>
          </p:nvPr>
        </p:nvSpPr>
        <p:spPr>
          <a:xfrm>
            <a:off x="11190735" y="2680743"/>
            <a:ext cx="518051" cy="1317520"/>
          </a:xfrm>
          <a:prstGeom prst="roundRect">
            <a:avLst>
              <a:gd name="adj" fmla="val 13898"/>
            </a:avLst>
          </a:prstGeom>
          <a:solidFill>
            <a:srgbClr val="FFFFFF"/>
          </a:solidFill>
          <a:ln w="9525" cap="rnd" cmpd="sng" algn="ctr">
            <a:solidFill>
              <a:srgbClr val="C8C8C8">
                <a:lumMod val="100000"/>
              </a:srgb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noAutofit/>
          </a:bodyPr>
          <a:lstStyle/>
          <a:p>
            <a:pPr algn="ctr">
              <a:spcBef>
                <a:spcPts val="140"/>
              </a:spcBef>
              <a:spcAft>
                <a:spcPts val="140"/>
              </a:spcAft>
            </a:pPr>
            <a:r>
              <a:rPr lang="en-US" sz="1000" b="1">
                <a:solidFill>
                  <a:srgbClr val="575757"/>
                </a:solidFill>
                <a:sym typeface="Trebuchet MS" panose="020B0603020202020204" pitchFamily="34" charset="0"/>
              </a:rPr>
              <a:t>Single</a:t>
            </a:r>
            <a:br>
              <a:rPr lang="en-US" sz="1000" b="1">
                <a:solidFill>
                  <a:srgbClr val="575757"/>
                </a:solidFill>
                <a:sym typeface="Trebuchet MS" panose="020B0603020202020204" pitchFamily="34" charset="0"/>
              </a:rPr>
            </a:br>
            <a:r>
              <a:rPr lang="en-US" sz="1000" b="1">
                <a:solidFill>
                  <a:srgbClr val="575757"/>
                </a:solidFill>
                <a:sym typeface="Trebuchet MS" panose="020B0603020202020204" pitchFamily="34" charset="0"/>
              </a:rPr>
              <a:t>Data hub</a:t>
            </a:r>
            <a:endParaRPr lang="en-US" sz="1000">
              <a:solidFill>
                <a:srgbClr val="575757"/>
              </a:solidFill>
            </a:endParaRPr>
          </a:p>
        </p:txBody>
      </p:sp>
      <p:grpSp>
        <p:nvGrpSpPr>
          <p:cNvPr id="68" name="Group 67">
            <a:extLst>
              <a:ext uri="{FF2B5EF4-FFF2-40B4-BE49-F238E27FC236}">
                <a16:creationId xmlns:a16="http://schemas.microsoft.com/office/drawing/2014/main" id="{340AB067-CDCD-44CB-B707-25AE21D6FFEE}"/>
              </a:ext>
            </a:extLst>
          </p:cNvPr>
          <p:cNvGrpSpPr>
            <a:grpSpLocks/>
          </p:cNvGrpSpPr>
          <p:nvPr/>
        </p:nvGrpSpPr>
        <p:grpSpPr>
          <a:xfrm>
            <a:off x="11190735" y="2903771"/>
            <a:ext cx="453367" cy="457200"/>
            <a:chOff x="5273675" y="2606675"/>
            <a:chExt cx="1646238" cy="1644650"/>
          </a:xfrm>
        </p:grpSpPr>
        <p:sp>
          <p:nvSpPr>
            <p:cNvPr id="69" name="AutoShape 3">
              <a:extLst>
                <a:ext uri="{FF2B5EF4-FFF2-40B4-BE49-F238E27FC236}">
                  <a16:creationId xmlns:a16="http://schemas.microsoft.com/office/drawing/2014/main" id="{3BCF561F-585F-4F45-ABB2-2BA227AC9B4F}"/>
                </a:ext>
              </a:extLst>
            </p:cNvPr>
            <p:cNvSpPr>
              <a:spLocks noChangeAspect="1" noChangeArrowheads="1" noTextEdit="1"/>
            </p:cNvSpPr>
            <p:nvPr/>
          </p:nvSpPr>
          <p:spPr bwMode="auto">
            <a:xfrm>
              <a:off x="5273675"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70" name="Group 69">
              <a:extLst>
                <a:ext uri="{FF2B5EF4-FFF2-40B4-BE49-F238E27FC236}">
                  <a16:creationId xmlns:a16="http://schemas.microsoft.com/office/drawing/2014/main" id="{84A5D9D5-75AC-4D47-AF3C-4FCF9C6D417C}"/>
                </a:ext>
              </a:extLst>
            </p:cNvPr>
            <p:cNvGrpSpPr/>
            <p:nvPr/>
          </p:nvGrpSpPr>
          <p:grpSpPr>
            <a:xfrm>
              <a:off x="5608638" y="2881313"/>
              <a:ext cx="977900" cy="1093788"/>
              <a:chOff x="5608638" y="2881313"/>
              <a:chExt cx="977900" cy="1093788"/>
            </a:xfrm>
          </p:grpSpPr>
          <p:sp>
            <p:nvSpPr>
              <p:cNvPr id="71" name="Freeform 17">
                <a:extLst>
                  <a:ext uri="{FF2B5EF4-FFF2-40B4-BE49-F238E27FC236}">
                    <a16:creationId xmlns:a16="http://schemas.microsoft.com/office/drawing/2014/main" id="{30C481C0-6203-43C0-AC11-A9D919DA18AF}"/>
                  </a:ext>
                </a:extLst>
              </p:cNvPr>
              <p:cNvSpPr>
                <a:spLocks/>
              </p:cNvSpPr>
              <p:nvPr/>
            </p:nvSpPr>
            <p:spPr bwMode="auto">
              <a:xfrm>
                <a:off x="5608638" y="2881313"/>
                <a:ext cx="977900" cy="1093788"/>
              </a:xfrm>
              <a:custGeom>
                <a:avLst/>
                <a:gdLst>
                  <a:gd name="connsiteX0" fmla="*/ 488514 w 977900"/>
                  <a:gd name="connsiteY0" fmla="*/ 61912 h 1093788"/>
                  <a:gd name="connsiteX1" fmla="*/ 917575 w 977900"/>
                  <a:gd name="connsiteY1" fmla="*/ 219512 h 1093788"/>
                  <a:gd name="connsiteX2" fmla="*/ 488514 w 977900"/>
                  <a:gd name="connsiteY2" fmla="*/ 377825 h 1093788"/>
                  <a:gd name="connsiteX3" fmla="*/ 58737 w 977900"/>
                  <a:gd name="connsiteY3" fmla="*/ 224504 h 1093788"/>
                  <a:gd name="connsiteX4" fmla="*/ 58737 w 977900"/>
                  <a:gd name="connsiteY4" fmla="*/ 215233 h 1093788"/>
                  <a:gd name="connsiteX5" fmla="*/ 488514 w 977900"/>
                  <a:gd name="connsiteY5" fmla="*/ 61912 h 1093788"/>
                  <a:gd name="connsiteX6" fmla="*/ 477508 w 977900"/>
                  <a:gd name="connsiteY6" fmla="*/ 28575 h 1093788"/>
                  <a:gd name="connsiteX7" fmla="*/ 173585 w 977900"/>
                  <a:gd name="connsiteY7" fmla="*/ 78482 h 1093788"/>
                  <a:gd name="connsiteX8" fmla="*/ 172155 w 977900"/>
                  <a:gd name="connsiteY8" fmla="*/ 79195 h 1093788"/>
                  <a:gd name="connsiteX9" fmla="*/ 165719 w 977900"/>
                  <a:gd name="connsiteY9" fmla="*/ 81334 h 1093788"/>
                  <a:gd name="connsiteX10" fmla="*/ 164289 w 977900"/>
                  <a:gd name="connsiteY10" fmla="*/ 82047 h 1093788"/>
                  <a:gd name="connsiteX11" fmla="*/ 157138 w 977900"/>
                  <a:gd name="connsiteY11" fmla="*/ 84899 h 1093788"/>
                  <a:gd name="connsiteX12" fmla="*/ 149271 w 977900"/>
                  <a:gd name="connsiteY12" fmla="*/ 88463 h 1093788"/>
                  <a:gd name="connsiteX13" fmla="*/ 144981 w 977900"/>
                  <a:gd name="connsiteY13" fmla="*/ 89889 h 1093788"/>
                  <a:gd name="connsiteX14" fmla="*/ 142835 w 977900"/>
                  <a:gd name="connsiteY14" fmla="*/ 91315 h 1093788"/>
                  <a:gd name="connsiteX15" fmla="*/ 50586 w 977900"/>
                  <a:gd name="connsiteY15" fmla="*/ 153342 h 1093788"/>
                  <a:gd name="connsiteX16" fmla="*/ 49156 w 977900"/>
                  <a:gd name="connsiteY16" fmla="*/ 154768 h 1093788"/>
                  <a:gd name="connsiteX17" fmla="*/ 47726 w 977900"/>
                  <a:gd name="connsiteY17" fmla="*/ 156907 h 1093788"/>
                  <a:gd name="connsiteX18" fmla="*/ 44150 w 977900"/>
                  <a:gd name="connsiteY18" fmla="*/ 161185 h 1093788"/>
                  <a:gd name="connsiteX19" fmla="*/ 43435 w 977900"/>
                  <a:gd name="connsiteY19" fmla="*/ 161898 h 1093788"/>
                  <a:gd name="connsiteX20" fmla="*/ 41289 w 977900"/>
                  <a:gd name="connsiteY20" fmla="*/ 165463 h 1093788"/>
                  <a:gd name="connsiteX21" fmla="*/ 39859 w 977900"/>
                  <a:gd name="connsiteY21" fmla="*/ 167602 h 1093788"/>
                  <a:gd name="connsiteX22" fmla="*/ 38429 w 977900"/>
                  <a:gd name="connsiteY22" fmla="*/ 169740 h 1093788"/>
                  <a:gd name="connsiteX23" fmla="*/ 36999 w 977900"/>
                  <a:gd name="connsiteY23" fmla="*/ 171879 h 1093788"/>
                  <a:gd name="connsiteX24" fmla="*/ 36284 w 977900"/>
                  <a:gd name="connsiteY24" fmla="*/ 174018 h 1093788"/>
                  <a:gd name="connsiteX25" fmla="*/ 34853 w 977900"/>
                  <a:gd name="connsiteY25" fmla="*/ 176870 h 1093788"/>
                  <a:gd name="connsiteX26" fmla="*/ 34138 w 977900"/>
                  <a:gd name="connsiteY26" fmla="*/ 178296 h 1093788"/>
                  <a:gd name="connsiteX27" fmla="*/ 32708 w 977900"/>
                  <a:gd name="connsiteY27" fmla="*/ 181148 h 1093788"/>
                  <a:gd name="connsiteX28" fmla="*/ 31993 w 977900"/>
                  <a:gd name="connsiteY28" fmla="*/ 182574 h 1093788"/>
                  <a:gd name="connsiteX29" fmla="*/ 31278 w 977900"/>
                  <a:gd name="connsiteY29" fmla="*/ 186138 h 1093788"/>
                  <a:gd name="connsiteX30" fmla="*/ 30563 w 977900"/>
                  <a:gd name="connsiteY30" fmla="*/ 187564 h 1093788"/>
                  <a:gd name="connsiteX31" fmla="*/ 29848 w 977900"/>
                  <a:gd name="connsiteY31" fmla="*/ 190416 h 1093788"/>
                  <a:gd name="connsiteX32" fmla="*/ 29133 w 977900"/>
                  <a:gd name="connsiteY32" fmla="*/ 191842 h 1093788"/>
                  <a:gd name="connsiteX33" fmla="*/ 28417 w 977900"/>
                  <a:gd name="connsiteY33" fmla="*/ 195407 h 1093788"/>
                  <a:gd name="connsiteX34" fmla="*/ 28417 w 977900"/>
                  <a:gd name="connsiteY34" fmla="*/ 196833 h 1093788"/>
                  <a:gd name="connsiteX35" fmla="*/ 27702 w 977900"/>
                  <a:gd name="connsiteY35" fmla="*/ 199685 h 1093788"/>
                  <a:gd name="connsiteX36" fmla="*/ 27702 w 977900"/>
                  <a:gd name="connsiteY36" fmla="*/ 201823 h 1093788"/>
                  <a:gd name="connsiteX37" fmla="*/ 26987 w 977900"/>
                  <a:gd name="connsiteY37" fmla="*/ 203962 h 1093788"/>
                  <a:gd name="connsiteX38" fmla="*/ 26987 w 977900"/>
                  <a:gd name="connsiteY38" fmla="*/ 208953 h 1093788"/>
                  <a:gd name="connsiteX39" fmla="*/ 26987 w 977900"/>
                  <a:gd name="connsiteY39" fmla="*/ 210379 h 1093788"/>
                  <a:gd name="connsiteX40" fmla="*/ 26987 w 977900"/>
                  <a:gd name="connsiteY40" fmla="*/ 211092 h 1093788"/>
                  <a:gd name="connsiteX41" fmla="*/ 26987 w 977900"/>
                  <a:gd name="connsiteY41" fmla="*/ 211805 h 1093788"/>
                  <a:gd name="connsiteX42" fmla="*/ 26987 w 977900"/>
                  <a:gd name="connsiteY42" fmla="*/ 215370 h 1093788"/>
                  <a:gd name="connsiteX43" fmla="*/ 27702 w 977900"/>
                  <a:gd name="connsiteY43" fmla="*/ 217508 h 1093788"/>
                  <a:gd name="connsiteX44" fmla="*/ 27702 w 977900"/>
                  <a:gd name="connsiteY44" fmla="*/ 876280 h 1093788"/>
                  <a:gd name="connsiteX45" fmla="*/ 26987 w 977900"/>
                  <a:gd name="connsiteY45" fmla="*/ 878419 h 1093788"/>
                  <a:gd name="connsiteX46" fmla="*/ 26987 w 977900"/>
                  <a:gd name="connsiteY46" fmla="*/ 881983 h 1093788"/>
                  <a:gd name="connsiteX47" fmla="*/ 26987 w 977900"/>
                  <a:gd name="connsiteY47" fmla="*/ 882696 h 1093788"/>
                  <a:gd name="connsiteX48" fmla="*/ 26987 w 977900"/>
                  <a:gd name="connsiteY48" fmla="*/ 883409 h 1093788"/>
                  <a:gd name="connsiteX49" fmla="*/ 26987 w 977900"/>
                  <a:gd name="connsiteY49" fmla="*/ 884835 h 1093788"/>
                  <a:gd name="connsiteX50" fmla="*/ 26987 w 977900"/>
                  <a:gd name="connsiteY50" fmla="*/ 889826 h 1093788"/>
                  <a:gd name="connsiteX51" fmla="*/ 27702 w 977900"/>
                  <a:gd name="connsiteY51" fmla="*/ 891965 h 1093788"/>
                  <a:gd name="connsiteX52" fmla="*/ 27702 w 977900"/>
                  <a:gd name="connsiteY52" fmla="*/ 894104 h 1093788"/>
                  <a:gd name="connsiteX53" fmla="*/ 28417 w 977900"/>
                  <a:gd name="connsiteY53" fmla="*/ 896956 h 1093788"/>
                  <a:gd name="connsiteX54" fmla="*/ 28417 w 977900"/>
                  <a:gd name="connsiteY54" fmla="*/ 898381 h 1093788"/>
                  <a:gd name="connsiteX55" fmla="*/ 29133 w 977900"/>
                  <a:gd name="connsiteY55" fmla="*/ 901946 h 1093788"/>
                  <a:gd name="connsiteX56" fmla="*/ 29848 w 977900"/>
                  <a:gd name="connsiteY56" fmla="*/ 903372 h 1093788"/>
                  <a:gd name="connsiteX57" fmla="*/ 30563 w 977900"/>
                  <a:gd name="connsiteY57" fmla="*/ 906224 h 1093788"/>
                  <a:gd name="connsiteX58" fmla="*/ 31278 w 977900"/>
                  <a:gd name="connsiteY58" fmla="*/ 907650 h 1093788"/>
                  <a:gd name="connsiteX59" fmla="*/ 31993 w 977900"/>
                  <a:gd name="connsiteY59" fmla="*/ 911215 h 1093788"/>
                  <a:gd name="connsiteX60" fmla="*/ 32708 w 977900"/>
                  <a:gd name="connsiteY60" fmla="*/ 912641 h 1093788"/>
                  <a:gd name="connsiteX61" fmla="*/ 34138 w 977900"/>
                  <a:gd name="connsiteY61" fmla="*/ 915492 h 1093788"/>
                  <a:gd name="connsiteX62" fmla="*/ 34853 w 977900"/>
                  <a:gd name="connsiteY62" fmla="*/ 916918 h 1093788"/>
                  <a:gd name="connsiteX63" fmla="*/ 36284 w 977900"/>
                  <a:gd name="connsiteY63" fmla="*/ 919770 h 1093788"/>
                  <a:gd name="connsiteX64" fmla="*/ 36999 w 977900"/>
                  <a:gd name="connsiteY64" fmla="*/ 921909 h 1093788"/>
                  <a:gd name="connsiteX65" fmla="*/ 38429 w 977900"/>
                  <a:gd name="connsiteY65" fmla="*/ 924048 h 1093788"/>
                  <a:gd name="connsiteX66" fmla="*/ 39859 w 977900"/>
                  <a:gd name="connsiteY66" fmla="*/ 926187 h 1093788"/>
                  <a:gd name="connsiteX67" fmla="*/ 41289 w 977900"/>
                  <a:gd name="connsiteY67" fmla="*/ 928326 h 1093788"/>
                  <a:gd name="connsiteX68" fmla="*/ 43435 w 977900"/>
                  <a:gd name="connsiteY68" fmla="*/ 931890 h 1093788"/>
                  <a:gd name="connsiteX69" fmla="*/ 44150 w 977900"/>
                  <a:gd name="connsiteY69" fmla="*/ 931890 h 1093788"/>
                  <a:gd name="connsiteX70" fmla="*/ 47726 w 977900"/>
                  <a:gd name="connsiteY70" fmla="*/ 936881 h 1093788"/>
                  <a:gd name="connsiteX71" fmla="*/ 49156 w 977900"/>
                  <a:gd name="connsiteY71" fmla="*/ 939020 h 1093788"/>
                  <a:gd name="connsiteX72" fmla="*/ 50586 w 977900"/>
                  <a:gd name="connsiteY72" fmla="*/ 940446 h 1093788"/>
                  <a:gd name="connsiteX73" fmla="*/ 142835 w 977900"/>
                  <a:gd name="connsiteY73" fmla="*/ 1002473 h 1093788"/>
                  <a:gd name="connsiteX74" fmla="*/ 144981 w 977900"/>
                  <a:gd name="connsiteY74" fmla="*/ 1003899 h 1093788"/>
                  <a:gd name="connsiteX75" fmla="*/ 149271 w 977900"/>
                  <a:gd name="connsiteY75" fmla="*/ 1005325 h 1093788"/>
                  <a:gd name="connsiteX76" fmla="*/ 157138 w 977900"/>
                  <a:gd name="connsiteY76" fmla="*/ 1008890 h 1093788"/>
                  <a:gd name="connsiteX77" fmla="*/ 162859 w 977900"/>
                  <a:gd name="connsiteY77" fmla="*/ 1011029 h 1093788"/>
                  <a:gd name="connsiteX78" fmla="*/ 164289 w 977900"/>
                  <a:gd name="connsiteY78" fmla="*/ 1011741 h 1093788"/>
                  <a:gd name="connsiteX79" fmla="*/ 172155 w 977900"/>
                  <a:gd name="connsiteY79" fmla="*/ 1014593 h 1093788"/>
                  <a:gd name="connsiteX80" fmla="*/ 172870 w 977900"/>
                  <a:gd name="connsiteY80" fmla="*/ 1015306 h 1093788"/>
                  <a:gd name="connsiteX81" fmla="*/ 477508 w 977900"/>
                  <a:gd name="connsiteY81" fmla="*/ 1065213 h 1093788"/>
                  <a:gd name="connsiteX82" fmla="*/ 486089 w 977900"/>
                  <a:gd name="connsiteY82" fmla="*/ 1065213 h 1093788"/>
                  <a:gd name="connsiteX83" fmla="*/ 488950 w 977900"/>
                  <a:gd name="connsiteY83" fmla="*/ 1065213 h 1093788"/>
                  <a:gd name="connsiteX84" fmla="*/ 491810 w 977900"/>
                  <a:gd name="connsiteY84" fmla="*/ 1065213 h 1093788"/>
                  <a:gd name="connsiteX85" fmla="*/ 500392 w 977900"/>
                  <a:gd name="connsiteY85" fmla="*/ 1065213 h 1093788"/>
                  <a:gd name="connsiteX86" fmla="*/ 805029 w 977900"/>
                  <a:gd name="connsiteY86" fmla="*/ 1015306 h 1093788"/>
                  <a:gd name="connsiteX87" fmla="*/ 805744 w 977900"/>
                  <a:gd name="connsiteY87" fmla="*/ 1014593 h 1093788"/>
                  <a:gd name="connsiteX88" fmla="*/ 813611 w 977900"/>
                  <a:gd name="connsiteY88" fmla="*/ 1011741 h 1093788"/>
                  <a:gd name="connsiteX89" fmla="*/ 814326 w 977900"/>
                  <a:gd name="connsiteY89" fmla="*/ 1011741 h 1093788"/>
                  <a:gd name="connsiteX90" fmla="*/ 820762 w 977900"/>
                  <a:gd name="connsiteY90" fmla="*/ 1008890 h 1093788"/>
                  <a:gd name="connsiteX91" fmla="*/ 828628 w 977900"/>
                  <a:gd name="connsiteY91" fmla="*/ 1005325 h 1093788"/>
                  <a:gd name="connsiteX92" fmla="*/ 832919 w 977900"/>
                  <a:gd name="connsiteY92" fmla="*/ 1003899 h 1093788"/>
                  <a:gd name="connsiteX93" fmla="*/ 835064 w 977900"/>
                  <a:gd name="connsiteY93" fmla="*/ 1002473 h 1093788"/>
                  <a:gd name="connsiteX94" fmla="*/ 927314 w 977900"/>
                  <a:gd name="connsiteY94" fmla="*/ 940446 h 1093788"/>
                  <a:gd name="connsiteX95" fmla="*/ 928744 w 977900"/>
                  <a:gd name="connsiteY95" fmla="*/ 939020 h 1093788"/>
                  <a:gd name="connsiteX96" fmla="*/ 930174 w 977900"/>
                  <a:gd name="connsiteY96" fmla="*/ 936881 h 1093788"/>
                  <a:gd name="connsiteX97" fmla="*/ 933750 w 977900"/>
                  <a:gd name="connsiteY97" fmla="*/ 931890 h 1093788"/>
                  <a:gd name="connsiteX98" fmla="*/ 934465 w 977900"/>
                  <a:gd name="connsiteY98" fmla="*/ 931890 h 1093788"/>
                  <a:gd name="connsiteX99" fmla="*/ 936610 w 977900"/>
                  <a:gd name="connsiteY99" fmla="*/ 928326 h 1093788"/>
                  <a:gd name="connsiteX100" fmla="*/ 938040 w 977900"/>
                  <a:gd name="connsiteY100" fmla="*/ 926187 h 1093788"/>
                  <a:gd name="connsiteX101" fmla="*/ 939470 w 977900"/>
                  <a:gd name="connsiteY101" fmla="*/ 924048 h 1093788"/>
                  <a:gd name="connsiteX102" fmla="*/ 940901 w 977900"/>
                  <a:gd name="connsiteY102" fmla="*/ 921909 h 1093788"/>
                  <a:gd name="connsiteX103" fmla="*/ 941616 w 977900"/>
                  <a:gd name="connsiteY103" fmla="*/ 919770 h 1093788"/>
                  <a:gd name="connsiteX104" fmla="*/ 943046 w 977900"/>
                  <a:gd name="connsiteY104" fmla="*/ 916918 h 1093788"/>
                  <a:gd name="connsiteX105" fmla="*/ 943761 w 977900"/>
                  <a:gd name="connsiteY105" fmla="*/ 915492 h 1093788"/>
                  <a:gd name="connsiteX106" fmla="*/ 945191 w 977900"/>
                  <a:gd name="connsiteY106" fmla="*/ 912641 h 1093788"/>
                  <a:gd name="connsiteX107" fmla="*/ 945906 w 977900"/>
                  <a:gd name="connsiteY107" fmla="*/ 911215 h 1093788"/>
                  <a:gd name="connsiteX108" fmla="*/ 946622 w 977900"/>
                  <a:gd name="connsiteY108" fmla="*/ 907650 h 1093788"/>
                  <a:gd name="connsiteX109" fmla="*/ 947337 w 977900"/>
                  <a:gd name="connsiteY109" fmla="*/ 906224 h 1093788"/>
                  <a:gd name="connsiteX110" fmla="*/ 948052 w 977900"/>
                  <a:gd name="connsiteY110" fmla="*/ 903372 h 1093788"/>
                  <a:gd name="connsiteX111" fmla="*/ 948767 w 977900"/>
                  <a:gd name="connsiteY111" fmla="*/ 901946 h 1093788"/>
                  <a:gd name="connsiteX112" fmla="*/ 949482 w 977900"/>
                  <a:gd name="connsiteY112" fmla="*/ 898381 h 1093788"/>
                  <a:gd name="connsiteX113" fmla="*/ 949482 w 977900"/>
                  <a:gd name="connsiteY113" fmla="*/ 896956 h 1093788"/>
                  <a:gd name="connsiteX114" fmla="*/ 950197 w 977900"/>
                  <a:gd name="connsiteY114" fmla="*/ 894104 h 1093788"/>
                  <a:gd name="connsiteX115" fmla="*/ 950197 w 977900"/>
                  <a:gd name="connsiteY115" fmla="*/ 891965 h 1093788"/>
                  <a:gd name="connsiteX116" fmla="*/ 950912 w 977900"/>
                  <a:gd name="connsiteY116" fmla="*/ 889826 h 1093788"/>
                  <a:gd name="connsiteX117" fmla="*/ 950912 w 977900"/>
                  <a:gd name="connsiteY117" fmla="*/ 884835 h 1093788"/>
                  <a:gd name="connsiteX118" fmla="*/ 950912 w 977900"/>
                  <a:gd name="connsiteY118" fmla="*/ 208240 h 1093788"/>
                  <a:gd name="connsiteX119" fmla="*/ 950912 w 977900"/>
                  <a:gd name="connsiteY119" fmla="*/ 206101 h 1093788"/>
                  <a:gd name="connsiteX120" fmla="*/ 950912 w 977900"/>
                  <a:gd name="connsiteY120" fmla="*/ 203249 h 1093788"/>
                  <a:gd name="connsiteX121" fmla="*/ 950197 w 977900"/>
                  <a:gd name="connsiteY121" fmla="*/ 200398 h 1093788"/>
                  <a:gd name="connsiteX122" fmla="*/ 949482 w 977900"/>
                  <a:gd name="connsiteY122" fmla="*/ 196833 h 1093788"/>
                  <a:gd name="connsiteX123" fmla="*/ 949482 w 977900"/>
                  <a:gd name="connsiteY123" fmla="*/ 195407 h 1093788"/>
                  <a:gd name="connsiteX124" fmla="*/ 948767 w 977900"/>
                  <a:gd name="connsiteY124" fmla="*/ 192555 h 1093788"/>
                  <a:gd name="connsiteX125" fmla="*/ 885122 w 977900"/>
                  <a:gd name="connsiteY125" fmla="*/ 117695 h 1093788"/>
                  <a:gd name="connsiteX126" fmla="*/ 880831 w 977900"/>
                  <a:gd name="connsiteY126" fmla="*/ 114843 h 1093788"/>
                  <a:gd name="connsiteX127" fmla="*/ 879401 w 977900"/>
                  <a:gd name="connsiteY127" fmla="*/ 114130 h 1093788"/>
                  <a:gd name="connsiteX128" fmla="*/ 875110 w 977900"/>
                  <a:gd name="connsiteY128" fmla="*/ 111278 h 1093788"/>
                  <a:gd name="connsiteX129" fmla="*/ 873680 w 977900"/>
                  <a:gd name="connsiteY129" fmla="*/ 110565 h 1093788"/>
                  <a:gd name="connsiteX130" fmla="*/ 870105 w 977900"/>
                  <a:gd name="connsiteY130" fmla="*/ 108426 h 1093788"/>
                  <a:gd name="connsiteX131" fmla="*/ 867959 w 977900"/>
                  <a:gd name="connsiteY131" fmla="*/ 107000 h 1093788"/>
                  <a:gd name="connsiteX132" fmla="*/ 864384 w 977900"/>
                  <a:gd name="connsiteY132" fmla="*/ 104861 h 1093788"/>
                  <a:gd name="connsiteX133" fmla="*/ 861523 w 977900"/>
                  <a:gd name="connsiteY133" fmla="*/ 103436 h 1093788"/>
                  <a:gd name="connsiteX134" fmla="*/ 858663 w 977900"/>
                  <a:gd name="connsiteY134" fmla="*/ 102010 h 1093788"/>
                  <a:gd name="connsiteX135" fmla="*/ 855087 w 977900"/>
                  <a:gd name="connsiteY135" fmla="*/ 99871 h 1093788"/>
                  <a:gd name="connsiteX136" fmla="*/ 852227 w 977900"/>
                  <a:gd name="connsiteY136" fmla="*/ 98445 h 1093788"/>
                  <a:gd name="connsiteX137" fmla="*/ 848651 w 977900"/>
                  <a:gd name="connsiteY137" fmla="*/ 97019 h 1093788"/>
                  <a:gd name="connsiteX138" fmla="*/ 845791 w 977900"/>
                  <a:gd name="connsiteY138" fmla="*/ 95593 h 1093788"/>
                  <a:gd name="connsiteX139" fmla="*/ 841500 w 977900"/>
                  <a:gd name="connsiteY139" fmla="*/ 93454 h 1093788"/>
                  <a:gd name="connsiteX140" fmla="*/ 839355 w 977900"/>
                  <a:gd name="connsiteY140" fmla="*/ 92028 h 1093788"/>
                  <a:gd name="connsiteX141" fmla="*/ 834349 w 977900"/>
                  <a:gd name="connsiteY141" fmla="*/ 90602 h 1093788"/>
                  <a:gd name="connsiteX142" fmla="*/ 830773 w 977900"/>
                  <a:gd name="connsiteY142" fmla="*/ 88463 h 1093788"/>
                  <a:gd name="connsiteX143" fmla="*/ 827198 w 977900"/>
                  <a:gd name="connsiteY143" fmla="*/ 87038 h 1093788"/>
                  <a:gd name="connsiteX144" fmla="*/ 821477 w 977900"/>
                  <a:gd name="connsiteY144" fmla="*/ 84899 h 1093788"/>
                  <a:gd name="connsiteX145" fmla="*/ 820047 w 977900"/>
                  <a:gd name="connsiteY145" fmla="*/ 84186 h 1093788"/>
                  <a:gd name="connsiteX146" fmla="*/ 812180 w 977900"/>
                  <a:gd name="connsiteY146" fmla="*/ 80621 h 1093788"/>
                  <a:gd name="connsiteX147" fmla="*/ 795733 w 977900"/>
                  <a:gd name="connsiteY147" fmla="*/ 74917 h 1093788"/>
                  <a:gd name="connsiteX148" fmla="*/ 795018 w 977900"/>
                  <a:gd name="connsiteY148" fmla="*/ 74917 h 1093788"/>
                  <a:gd name="connsiteX149" fmla="*/ 778570 w 977900"/>
                  <a:gd name="connsiteY149" fmla="*/ 69214 h 1093788"/>
                  <a:gd name="connsiteX150" fmla="*/ 777855 w 977900"/>
                  <a:gd name="connsiteY150" fmla="*/ 68501 h 1093788"/>
                  <a:gd name="connsiteX151" fmla="*/ 760692 w 977900"/>
                  <a:gd name="connsiteY151" fmla="*/ 63510 h 1093788"/>
                  <a:gd name="connsiteX152" fmla="*/ 759977 w 977900"/>
                  <a:gd name="connsiteY152" fmla="*/ 63510 h 1093788"/>
                  <a:gd name="connsiteX153" fmla="*/ 742815 w 977900"/>
                  <a:gd name="connsiteY153" fmla="*/ 58519 h 1093788"/>
                  <a:gd name="connsiteX154" fmla="*/ 741384 w 977900"/>
                  <a:gd name="connsiteY154" fmla="*/ 58519 h 1093788"/>
                  <a:gd name="connsiteX155" fmla="*/ 723507 w 977900"/>
                  <a:gd name="connsiteY155" fmla="*/ 54242 h 1093788"/>
                  <a:gd name="connsiteX156" fmla="*/ 722076 w 977900"/>
                  <a:gd name="connsiteY156" fmla="*/ 53529 h 1093788"/>
                  <a:gd name="connsiteX157" fmla="*/ 704198 w 977900"/>
                  <a:gd name="connsiteY157" fmla="*/ 49251 h 1093788"/>
                  <a:gd name="connsiteX158" fmla="*/ 702768 w 977900"/>
                  <a:gd name="connsiteY158" fmla="*/ 49251 h 1093788"/>
                  <a:gd name="connsiteX159" fmla="*/ 684175 w 977900"/>
                  <a:gd name="connsiteY159" fmla="*/ 45686 h 1093788"/>
                  <a:gd name="connsiteX160" fmla="*/ 682745 w 977900"/>
                  <a:gd name="connsiteY160" fmla="*/ 45686 h 1093788"/>
                  <a:gd name="connsiteX161" fmla="*/ 664152 w 977900"/>
                  <a:gd name="connsiteY161" fmla="*/ 42121 h 1093788"/>
                  <a:gd name="connsiteX162" fmla="*/ 662007 w 977900"/>
                  <a:gd name="connsiteY162" fmla="*/ 42121 h 1093788"/>
                  <a:gd name="connsiteX163" fmla="*/ 643414 w 977900"/>
                  <a:gd name="connsiteY163" fmla="*/ 39269 h 1093788"/>
                  <a:gd name="connsiteX164" fmla="*/ 641984 w 977900"/>
                  <a:gd name="connsiteY164" fmla="*/ 38557 h 1093788"/>
                  <a:gd name="connsiteX165" fmla="*/ 621961 w 977900"/>
                  <a:gd name="connsiteY165" fmla="*/ 36418 h 1093788"/>
                  <a:gd name="connsiteX166" fmla="*/ 620530 w 977900"/>
                  <a:gd name="connsiteY166" fmla="*/ 35705 h 1093788"/>
                  <a:gd name="connsiteX167" fmla="*/ 600507 w 977900"/>
                  <a:gd name="connsiteY167" fmla="*/ 33566 h 1093788"/>
                  <a:gd name="connsiteX168" fmla="*/ 599792 w 977900"/>
                  <a:gd name="connsiteY168" fmla="*/ 33566 h 1093788"/>
                  <a:gd name="connsiteX169" fmla="*/ 578339 w 977900"/>
                  <a:gd name="connsiteY169" fmla="*/ 32140 h 1093788"/>
                  <a:gd name="connsiteX170" fmla="*/ 577624 w 977900"/>
                  <a:gd name="connsiteY170" fmla="*/ 32140 h 1093788"/>
                  <a:gd name="connsiteX171" fmla="*/ 556170 w 977900"/>
                  <a:gd name="connsiteY171" fmla="*/ 30714 h 1093788"/>
                  <a:gd name="connsiteX172" fmla="*/ 534002 w 977900"/>
                  <a:gd name="connsiteY172" fmla="*/ 29288 h 1093788"/>
                  <a:gd name="connsiteX173" fmla="*/ 488950 w 977900"/>
                  <a:gd name="connsiteY173" fmla="*/ 28575 h 1093788"/>
                  <a:gd name="connsiteX174" fmla="*/ 477508 w 977900"/>
                  <a:gd name="connsiteY174" fmla="*/ 28575 h 1093788"/>
                  <a:gd name="connsiteX175" fmla="*/ 488950 w 977900"/>
                  <a:gd name="connsiteY175" fmla="*/ 0 h 1093788"/>
                  <a:gd name="connsiteX176" fmla="*/ 821579 w 977900"/>
                  <a:gd name="connsiteY176" fmla="*/ 54903 h 1093788"/>
                  <a:gd name="connsiteX177" fmla="*/ 976473 w 977900"/>
                  <a:gd name="connsiteY177" fmla="*/ 192518 h 1093788"/>
                  <a:gd name="connsiteX178" fmla="*/ 977900 w 977900"/>
                  <a:gd name="connsiteY178" fmla="*/ 198935 h 1093788"/>
                  <a:gd name="connsiteX179" fmla="*/ 977900 w 977900"/>
                  <a:gd name="connsiteY179" fmla="*/ 884870 h 1093788"/>
                  <a:gd name="connsiteX180" fmla="*/ 488950 w 977900"/>
                  <a:gd name="connsiteY180" fmla="*/ 1093788 h 1093788"/>
                  <a:gd name="connsiteX181" fmla="*/ 0 w 977900"/>
                  <a:gd name="connsiteY181" fmla="*/ 884870 h 1093788"/>
                  <a:gd name="connsiteX182" fmla="*/ 714 w 977900"/>
                  <a:gd name="connsiteY182" fmla="*/ 873462 h 1093788"/>
                  <a:gd name="connsiteX183" fmla="*/ 714 w 977900"/>
                  <a:gd name="connsiteY183" fmla="*/ 220326 h 1093788"/>
                  <a:gd name="connsiteX184" fmla="*/ 0 w 977900"/>
                  <a:gd name="connsiteY184" fmla="*/ 208918 h 1093788"/>
                  <a:gd name="connsiteX185" fmla="*/ 488950 w 977900"/>
                  <a:gd name="connsiteY185" fmla="*/ 0 h 1093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977900" h="1093788">
                    <a:moveTo>
                      <a:pt x="488514" y="61912"/>
                    </a:moveTo>
                    <a:cubicBezTo>
                      <a:pt x="725213" y="61912"/>
                      <a:pt x="917575" y="132511"/>
                      <a:pt x="917575" y="219512"/>
                    </a:cubicBezTo>
                    <a:cubicBezTo>
                      <a:pt x="917575" y="306513"/>
                      <a:pt x="725213" y="377825"/>
                      <a:pt x="488514" y="377825"/>
                    </a:cubicBezTo>
                    <a:cubicBezTo>
                      <a:pt x="255390" y="377825"/>
                      <a:pt x="65173" y="308652"/>
                      <a:pt x="58737" y="224504"/>
                    </a:cubicBezTo>
                    <a:cubicBezTo>
                      <a:pt x="58737" y="224504"/>
                      <a:pt x="58737" y="224504"/>
                      <a:pt x="58737" y="215233"/>
                    </a:cubicBezTo>
                    <a:cubicBezTo>
                      <a:pt x="65173" y="129659"/>
                      <a:pt x="255390" y="61912"/>
                      <a:pt x="488514" y="61912"/>
                    </a:cubicBezTo>
                    <a:close/>
                    <a:moveTo>
                      <a:pt x="477508" y="28575"/>
                    </a:moveTo>
                    <a:cubicBezTo>
                      <a:pt x="361660" y="30001"/>
                      <a:pt x="254393" y="48538"/>
                      <a:pt x="173585" y="78482"/>
                    </a:cubicBezTo>
                    <a:cubicBezTo>
                      <a:pt x="173585" y="78482"/>
                      <a:pt x="172870" y="78482"/>
                      <a:pt x="172155" y="79195"/>
                    </a:cubicBezTo>
                    <a:cubicBezTo>
                      <a:pt x="170010" y="79908"/>
                      <a:pt x="167864" y="80621"/>
                      <a:pt x="165719" y="81334"/>
                    </a:cubicBezTo>
                    <a:cubicBezTo>
                      <a:pt x="165719" y="81334"/>
                      <a:pt x="165004" y="82047"/>
                      <a:pt x="164289" y="82047"/>
                    </a:cubicBezTo>
                    <a:cubicBezTo>
                      <a:pt x="162143" y="82760"/>
                      <a:pt x="159283" y="84186"/>
                      <a:pt x="157138" y="84899"/>
                    </a:cubicBezTo>
                    <a:cubicBezTo>
                      <a:pt x="154277" y="86325"/>
                      <a:pt x="151417" y="87038"/>
                      <a:pt x="149271" y="88463"/>
                    </a:cubicBezTo>
                    <a:cubicBezTo>
                      <a:pt x="147841" y="89176"/>
                      <a:pt x="146411" y="89176"/>
                      <a:pt x="144981" y="89889"/>
                    </a:cubicBezTo>
                    <a:cubicBezTo>
                      <a:pt x="144266" y="90602"/>
                      <a:pt x="143551" y="90602"/>
                      <a:pt x="142835" y="91315"/>
                    </a:cubicBezTo>
                    <a:cubicBezTo>
                      <a:pt x="102074" y="109139"/>
                      <a:pt x="70609" y="130528"/>
                      <a:pt x="50586" y="153342"/>
                    </a:cubicBezTo>
                    <a:cubicBezTo>
                      <a:pt x="49871" y="154055"/>
                      <a:pt x="49871" y="154768"/>
                      <a:pt x="49156" y="154768"/>
                    </a:cubicBezTo>
                    <a:cubicBezTo>
                      <a:pt x="48441" y="155481"/>
                      <a:pt x="47726" y="156194"/>
                      <a:pt x="47726" y="156907"/>
                    </a:cubicBezTo>
                    <a:cubicBezTo>
                      <a:pt x="46295" y="158333"/>
                      <a:pt x="44865" y="159759"/>
                      <a:pt x="44150" y="161185"/>
                    </a:cubicBezTo>
                    <a:cubicBezTo>
                      <a:pt x="44150" y="161898"/>
                      <a:pt x="43435" y="161898"/>
                      <a:pt x="43435" y="161898"/>
                    </a:cubicBezTo>
                    <a:cubicBezTo>
                      <a:pt x="42720" y="163324"/>
                      <a:pt x="42005" y="164750"/>
                      <a:pt x="41289" y="165463"/>
                    </a:cubicBezTo>
                    <a:cubicBezTo>
                      <a:pt x="40574" y="166176"/>
                      <a:pt x="40574" y="166889"/>
                      <a:pt x="39859" y="167602"/>
                    </a:cubicBezTo>
                    <a:cubicBezTo>
                      <a:pt x="39859" y="168315"/>
                      <a:pt x="39144" y="169027"/>
                      <a:pt x="38429" y="169740"/>
                    </a:cubicBezTo>
                    <a:cubicBezTo>
                      <a:pt x="38429" y="170453"/>
                      <a:pt x="37714" y="171166"/>
                      <a:pt x="36999" y="171879"/>
                    </a:cubicBezTo>
                    <a:cubicBezTo>
                      <a:pt x="36999" y="172592"/>
                      <a:pt x="36284" y="173305"/>
                      <a:pt x="36284" y="174018"/>
                    </a:cubicBezTo>
                    <a:cubicBezTo>
                      <a:pt x="35569" y="174731"/>
                      <a:pt x="35569" y="176157"/>
                      <a:pt x="34853" y="176870"/>
                    </a:cubicBezTo>
                    <a:cubicBezTo>
                      <a:pt x="34853" y="177583"/>
                      <a:pt x="34138" y="177583"/>
                      <a:pt x="34138" y="178296"/>
                    </a:cubicBezTo>
                    <a:cubicBezTo>
                      <a:pt x="33423" y="179722"/>
                      <a:pt x="33423" y="180435"/>
                      <a:pt x="32708" y="181148"/>
                    </a:cubicBezTo>
                    <a:cubicBezTo>
                      <a:pt x="32708" y="181861"/>
                      <a:pt x="32708" y="182574"/>
                      <a:pt x="31993" y="182574"/>
                    </a:cubicBezTo>
                    <a:cubicBezTo>
                      <a:pt x="31993" y="184000"/>
                      <a:pt x="31278" y="184712"/>
                      <a:pt x="31278" y="186138"/>
                    </a:cubicBezTo>
                    <a:cubicBezTo>
                      <a:pt x="31278" y="186138"/>
                      <a:pt x="30563" y="186851"/>
                      <a:pt x="30563" y="187564"/>
                    </a:cubicBezTo>
                    <a:cubicBezTo>
                      <a:pt x="30563" y="188277"/>
                      <a:pt x="29848" y="189703"/>
                      <a:pt x="29848" y="190416"/>
                    </a:cubicBezTo>
                    <a:cubicBezTo>
                      <a:pt x="29848" y="191129"/>
                      <a:pt x="29133" y="191129"/>
                      <a:pt x="29133" y="191842"/>
                    </a:cubicBezTo>
                    <a:cubicBezTo>
                      <a:pt x="29133" y="193268"/>
                      <a:pt x="29133" y="193981"/>
                      <a:pt x="28417" y="195407"/>
                    </a:cubicBezTo>
                    <a:cubicBezTo>
                      <a:pt x="28417" y="195407"/>
                      <a:pt x="28417" y="196120"/>
                      <a:pt x="28417" y="196833"/>
                    </a:cubicBezTo>
                    <a:cubicBezTo>
                      <a:pt x="28417" y="197546"/>
                      <a:pt x="27702" y="198972"/>
                      <a:pt x="27702" y="199685"/>
                    </a:cubicBezTo>
                    <a:cubicBezTo>
                      <a:pt x="27702" y="200398"/>
                      <a:pt x="27702" y="201110"/>
                      <a:pt x="27702" y="201823"/>
                    </a:cubicBezTo>
                    <a:cubicBezTo>
                      <a:pt x="27702" y="202536"/>
                      <a:pt x="27702" y="203249"/>
                      <a:pt x="26987" y="203962"/>
                    </a:cubicBezTo>
                    <a:cubicBezTo>
                      <a:pt x="26987" y="206101"/>
                      <a:pt x="26987" y="207527"/>
                      <a:pt x="26987" y="208953"/>
                    </a:cubicBezTo>
                    <a:cubicBezTo>
                      <a:pt x="26987" y="209666"/>
                      <a:pt x="26987" y="209666"/>
                      <a:pt x="26987" y="210379"/>
                    </a:cubicBezTo>
                    <a:cubicBezTo>
                      <a:pt x="26987" y="211092"/>
                      <a:pt x="26987" y="211092"/>
                      <a:pt x="26987" y="211092"/>
                    </a:cubicBezTo>
                    <a:cubicBezTo>
                      <a:pt x="26987" y="211092"/>
                      <a:pt x="26987" y="211805"/>
                      <a:pt x="26987" y="211805"/>
                    </a:cubicBezTo>
                    <a:cubicBezTo>
                      <a:pt x="26987" y="211805"/>
                      <a:pt x="26987" y="211805"/>
                      <a:pt x="26987" y="215370"/>
                    </a:cubicBezTo>
                    <a:cubicBezTo>
                      <a:pt x="26987" y="215370"/>
                      <a:pt x="26987" y="215370"/>
                      <a:pt x="27702" y="217508"/>
                    </a:cubicBezTo>
                    <a:cubicBezTo>
                      <a:pt x="27702" y="217508"/>
                      <a:pt x="27702" y="217508"/>
                      <a:pt x="27702" y="876280"/>
                    </a:cubicBezTo>
                    <a:cubicBezTo>
                      <a:pt x="27702" y="876280"/>
                      <a:pt x="27702" y="876280"/>
                      <a:pt x="26987" y="878419"/>
                    </a:cubicBezTo>
                    <a:cubicBezTo>
                      <a:pt x="26987" y="878419"/>
                      <a:pt x="26987" y="878419"/>
                      <a:pt x="26987" y="881983"/>
                    </a:cubicBezTo>
                    <a:cubicBezTo>
                      <a:pt x="26987" y="881983"/>
                      <a:pt x="26987" y="882696"/>
                      <a:pt x="26987" y="882696"/>
                    </a:cubicBezTo>
                    <a:cubicBezTo>
                      <a:pt x="26987" y="882696"/>
                      <a:pt x="26987" y="882696"/>
                      <a:pt x="26987" y="883409"/>
                    </a:cubicBezTo>
                    <a:cubicBezTo>
                      <a:pt x="26987" y="884122"/>
                      <a:pt x="26987" y="884122"/>
                      <a:pt x="26987" y="884835"/>
                    </a:cubicBezTo>
                    <a:cubicBezTo>
                      <a:pt x="26987" y="886261"/>
                      <a:pt x="26987" y="887687"/>
                      <a:pt x="26987" y="889826"/>
                    </a:cubicBezTo>
                    <a:cubicBezTo>
                      <a:pt x="27702" y="890539"/>
                      <a:pt x="27702" y="891252"/>
                      <a:pt x="27702" y="891965"/>
                    </a:cubicBezTo>
                    <a:cubicBezTo>
                      <a:pt x="27702" y="892678"/>
                      <a:pt x="27702" y="893391"/>
                      <a:pt x="27702" y="894104"/>
                    </a:cubicBezTo>
                    <a:cubicBezTo>
                      <a:pt x="27702" y="894817"/>
                      <a:pt x="28417" y="896243"/>
                      <a:pt x="28417" y="896956"/>
                    </a:cubicBezTo>
                    <a:cubicBezTo>
                      <a:pt x="28417" y="897669"/>
                      <a:pt x="28417" y="898381"/>
                      <a:pt x="28417" y="898381"/>
                    </a:cubicBezTo>
                    <a:cubicBezTo>
                      <a:pt x="29133" y="899807"/>
                      <a:pt x="29133" y="900520"/>
                      <a:pt x="29133" y="901946"/>
                    </a:cubicBezTo>
                    <a:cubicBezTo>
                      <a:pt x="29133" y="902659"/>
                      <a:pt x="29848" y="902659"/>
                      <a:pt x="29848" y="903372"/>
                    </a:cubicBezTo>
                    <a:cubicBezTo>
                      <a:pt x="29848" y="904085"/>
                      <a:pt x="30563" y="905511"/>
                      <a:pt x="30563" y="906224"/>
                    </a:cubicBezTo>
                    <a:cubicBezTo>
                      <a:pt x="30563" y="906937"/>
                      <a:pt x="31278" y="907650"/>
                      <a:pt x="31278" y="907650"/>
                    </a:cubicBezTo>
                    <a:cubicBezTo>
                      <a:pt x="31278" y="909076"/>
                      <a:pt x="31993" y="909789"/>
                      <a:pt x="31993" y="911215"/>
                    </a:cubicBezTo>
                    <a:cubicBezTo>
                      <a:pt x="32708" y="911215"/>
                      <a:pt x="32708" y="911928"/>
                      <a:pt x="32708" y="912641"/>
                    </a:cubicBezTo>
                    <a:cubicBezTo>
                      <a:pt x="33423" y="913354"/>
                      <a:pt x="33423" y="914066"/>
                      <a:pt x="34138" y="915492"/>
                    </a:cubicBezTo>
                    <a:cubicBezTo>
                      <a:pt x="34138" y="916205"/>
                      <a:pt x="34853" y="916205"/>
                      <a:pt x="34853" y="916918"/>
                    </a:cubicBezTo>
                    <a:cubicBezTo>
                      <a:pt x="35569" y="917631"/>
                      <a:pt x="35569" y="919057"/>
                      <a:pt x="36284" y="919770"/>
                    </a:cubicBezTo>
                    <a:cubicBezTo>
                      <a:pt x="36284" y="920483"/>
                      <a:pt x="36999" y="921196"/>
                      <a:pt x="36999" y="921909"/>
                    </a:cubicBezTo>
                    <a:cubicBezTo>
                      <a:pt x="37714" y="922622"/>
                      <a:pt x="38429" y="923335"/>
                      <a:pt x="38429" y="924048"/>
                    </a:cubicBezTo>
                    <a:cubicBezTo>
                      <a:pt x="39144" y="924761"/>
                      <a:pt x="39859" y="925474"/>
                      <a:pt x="39859" y="926187"/>
                    </a:cubicBezTo>
                    <a:cubicBezTo>
                      <a:pt x="40574" y="926900"/>
                      <a:pt x="40574" y="927613"/>
                      <a:pt x="41289" y="928326"/>
                    </a:cubicBezTo>
                    <a:cubicBezTo>
                      <a:pt x="42005" y="929039"/>
                      <a:pt x="42720" y="930464"/>
                      <a:pt x="43435" y="931890"/>
                    </a:cubicBezTo>
                    <a:cubicBezTo>
                      <a:pt x="43435" y="931890"/>
                      <a:pt x="44150" y="931890"/>
                      <a:pt x="44150" y="931890"/>
                    </a:cubicBezTo>
                    <a:cubicBezTo>
                      <a:pt x="44865" y="934029"/>
                      <a:pt x="46295" y="935455"/>
                      <a:pt x="47726" y="936881"/>
                    </a:cubicBezTo>
                    <a:cubicBezTo>
                      <a:pt x="47726" y="937594"/>
                      <a:pt x="48441" y="938307"/>
                      <a:pt x="49156" y="939020"/>
                    </a:cubicBezTo>
                    <a:cubicBezTo>
                      <a:pt x="49871" y="939020"/>
                      <a:pt x="49871" y="939733"/>
                      <a:pt x="50586" y="940446"/>
                    </a:cubicBezTo>
                    <a:cubicBezTo>
                      <a:pt x="70609" y="963260"/>
                      <a:pt x="102074" y="984649"/>
                      <a:pt x="142835" y="1002473"/>
                    </a:cubicBezTo>
                    <a:cubicBezTo>
                      <a:pt x="143551" y="1003186"/>
                      <a:pt x="144266" y="1003186"/>
                      <a:pt x="144981" y="1003899"/>
                    </a:cubicBezTo>
                    <a:cubicBezTo>
                      <a:pt x="146411" y="1004612"/>
                      <a:pt x="147841" y="1005325"/>
                      <a:pt x="149271" y="1005325"/>
                    </a:cubicBezTo>
                    <a:cubicBezTo>
                      <a:pt x="151417" y="1006751"/>
                      <a:pt x="154277" y="1008177"/>
                      <a:pt x="157138" y="1008890"/>
                    </a:cubicBezTo>
                    <a:cubicBezTo>
                      <a:pt x="159283" y="1009603"/>
                      <a:pt x="160713" y="1010316"/>
                      <a:pt x="162859" y="1011029"/>
                    </a:cubicBezTo>
                    <a:cubicBezTo>
                      <a:pt x="163574" y="1011741"/>
                      <a:pt x="163574" y="1011741"/>
                      <a:pt x="164289" y="1011741"/>
                    </a:cubicBezTo>
                    <a:cubicBezTo>
                      <a:pt x="167149" y="1013167"/>
                      <a:pt x="170010" y="1013880"/>
                      <a:pt x="172155" y="1014593"/>
                    </a:cubicBezTo>
                    <a:cubicBezTo>
                      <a:pt x="172870" y="1015306"/>
                      <a:pt x="172870" y="1015306"/>
                      <a:pt x="172870" y="1015306"/>
                    </a:cubicBezTo>
                    <a:cubicBezTo>
                      <a:pt x="253678" y="1045250"/>
                      <a:pt x="360945" y="1063787"/>
                      <a:pt x="477508" y="1065213"/>
                    </a:cubicBezTo>
                    <a:cubicBezTo>
                      <a:pt x="480368" y="1065213"/>
                      <a:pt x="483229" y="1065213"/>
                      <a:pt x="486089" y="1065213"/>
                    </a:cubicBezTo>
                    <a:cubicBezTo>
                      <a:pt x="486804" y="1065213"/>
                      <a:pt x="488235" y="1065213"/>
                      <a:pt x="488950" y="1065213"/>
                    </a:cubicBezTo>
                    <a:cubicBezTo>
                      <a:pt x="489665" y="1065213"/>
                      <a:pt x="491095" y="1065213"/>
                      <a:pt x="491810" y="1065213"/>
                    </a:cubicBezTo>
                    <a:cubicBezTo>
                      <a:pt x="494671" y="1065213"/>
                      <a:pt x="497531" y="1065213"/>
                      <a:pt x="500392" y="1065213"/>
                    </a:cubicBezTo>
                    <a:cubicBezTo>
                      <a:pt x="616955" y="1063787"/>
                      <a:pt x="724222" y="1045250"/>
                      <a:pt x="805029" y="1015306"/>
                    </a:cubicBezTo>
                    <a:cubicBezTo>
                      <a:pt x="805029" y="1015306"/>
                      <a:pt x="805029" y="1015306"/>
                      <a:pt x="805744" y="1014593"/>
                    </a:cubicBezTo>
                    <a:cubicBezTo>
                      <a:pt x="807890" y="1013880"/>
                      <a:pt x="810750" y="1013167"/>
                      <a:pt x="813611" y="1011741"/>
                    </a:cubicBezTo>
                    <a:cubicBezTo>
                      <a:pt x="813611" y="1011741"/>
                      <a:pt x="814326" y="1011741"/>
                      <a:pt x="814326" y="1011741"/>
                    </a:cubicBezTo>
                    <a:cubicBezTo>
                      <a:pt x="816471" y="1010316"/>
                      <a:pt x="818616" y="1009603"/>
                      <a:pt x="820762" y="1008890"/>
                    </a:cubicBezTo>
                    <a:cubicBezTo>
                      <a:pt x="823622" y="1008177"/>
                      <a:pt x="826483" y="1006751"/>
                      <a:pt x="828628" y="1005325"/>
                    </a:cubicBezTo>
                    <a:cubicBezTo>
                      <a:pt x="830058" y="1005325"/>
                      <a:pt x="831488" y="1004612"/>
                      <a:pt x="832919" y="1003899"/>
                    </a:cubicBezTo>
                    <a:cubicBezTo>
                      <a:pt x="833634" y="1003186"/>
                      <a:pt x="834349" y="1003186"/>
                      <a:pt x="835064" y="1002473"/>
                    </a:cubicBezTo>
                    <a:cubicBezTo>
                      <a:pt x="875825" y="984649"/>
                      <a:pt x="907290" y="963260"/>
                      <a:pt x="927314" y="940446"/>
                    </a:cubicBezTo>
                    <a:cubicBezTo>
                      <a:pt x="928029" y="939733"/>
                      <a:pt x="928029" y="939020"/>
                      <a:pt x="928744" y="939020"/>
                    </a:cubicBezTo>
                    <a:cubicBezTo>
                      <a:pt x="929459" y="938307"/>
                      <a:pt x="930174" y="937594"/>
                      <a:pt x="930174" y="936881"/>
                    </a:cubicBezTo>
                    <a:cubicBezTo>
                      <a:pt x="931604" y="935455"/>
                      <a:pt x="933034" y="934029"/>
                      <a:pt x="933750" y="931890"/>
                    </a:cubicBezTo>
                    <a:cubicBezTo>
                      <a:pt x="933750" y="931890"/>
                      <a:pt x="934465" y="931890"/>
                      <a:pt x="934465" y="931890"/>
                    </a:cubicBezTo>
                    <a:cubicBezTo>
                      <a:pt x="935180" y="930464"/>
                      <a:pt x="935895" y="929039"/>
                      <a:pt x="936610" y="928326"/>
                    </a:cubicBezTo>
                    <a:cubicBezTo>
                      <a:pt x="937325" y="927613"/>
                      <a:pt x="937325" y="926900"/>
                      <a:pt x="938040" y="926187"/>
                    </a:cubicBezTo>
                    <a:cubicBezTo>
                      <a:pt x="938040" y="925474"/>
                      <a:pt x="938755" y="924761"/>
                      <a:pt x="939470" y="924048"/>
                    </a:cubicBezTo>
                    <a:cubicBezTo>
                      <a:pt x="939470" y="923335"/>
                      <a:pt x="940186" y="922622"/>
                      <a:pt x="940901" y="921909"/>
                    </a:cubicBezTo>
                    <a:cubicBezTo>
                      <a:pt x="940901" y="921196"/>
                      <a:pt x="941616" y="920483"/>
                      <a:pt x="941616" y="919770"/>
                    </a:cubicBezTo>
                    <a:cubicBezTo>
                      <a:pt x="942331" y="919057"/>
                      <a:pt x="942331" y="917631"/>
                      <a:pt x="943046" y="916918"/>
                    </a:cubicBezTo>
                    <a:cubicBezTo>
                      <a:pt x="943046" y="916205"/>
                      <a:pt x="943761" y="916205"/>
                      <a:pt x="943761" y="915492"/>
                    </a:cubicBezTo>
                    <a:cubicBezTo>
                      <a:pt x="944476" y="914066"/>
                      <a:pt x="944476" y="913354"/>
                      <a:pt x="945191" y="912641"/>
                    </a:cubicBezTo>
                    <a:cubicBezTo>
                      <a:pt x="945191" y="911928"/>
                      <a:pt x="945191" y="911215"/>
                      <a:pt x="945906" y="911215"/>
                    </a:cubicBezTo>
                    <a:cubicBezTo>
                      <a:pt x="945906" y="909789"/>
                      <a:pt x="946622" y="909076"/>
                      <a:pt x="946622" y="907650"/>
                    </a:cubicBezTo>
                    <a:cubicBezTo>
                      <a:pt x="946622" y="907650"/>
                      <a:pt x="947337" y="906937"/>
                      <a:pt x="947337" y="906224"/>
                    </a:cubicBezTo>
                    <a:cubicBezTo>
                      <a:pt x="947337" y="905511"/>
                      <a:pt x="948052" y="904085"/>
                      <a:pt x="948052" y="903372"/>
                    </a:cubicBezTo>
                    <a:cubicBezTo>
                      <a:pt x="948052" y="902659"/>
                      <a:pt x="948767" y="902659"/>
                      <a:pt x="948767" y="901946"/>
                    </a:cubicBezTo>
                    <a:cubicBezTo>
                      <a:pt x="948767" y="900520"/>
                      <a:pt x="948767" y="899807"/>
                      <a:pt x="949482" y="898381"/>
                    </a:cubicBezTo>
                    <a:cubicBezTo>
                      <a:pt x="949482" y="898381"/>
                      <a:pt x="949482" y="897669"/>
                      <a:pt x="949482" y="896956"/>
                    </a:cubicBezTo>
                    <a:cubicBezTo>
                      <a:pt x="949482" y="896243"/>
                      <a:pt x="950197" y="894817"/>
                      <a:pt x="950197" y="894104"/>
                    </a:cubicBezTo>
                    <a:cubicBezTo>
                      <a:pt x="950197" y="893391"/>
                      <a:pt x="950197" y="892678"/>
                      <a:pt x="950197" y="891965"/>
                    </a:cubicBezTo>
                    <a:cubicBezTo>
                      <a:pt x="950197" y="891252"/>
                      <a:pt x="950197" y="890539"/>
                      <a:pt x="950912" y="889826"/>
                    </a:cubicBezTo>
                    <a:cubicBezTo>
                      <a:pt x="950912" y="887687"/>
                      <a:pt x="950912" y="886261"/>
                      <a:pt x="950912" y="884835"/>
                    </a:cubicBezTo>
                    <a:cubicBezTo>
                      <a:pt x="950912" y="884835"/>
                      <a:pt x="950912" y="879132"/>
                      <a:pt x="950912" y="208240"/>
                    </a:cubicBezTo>
                    <a:cubicBezTo>
                      <a:pt x="950912" y="207527"/>
                      <a:pt x="950912" y="206814"/>
                      <a:pt x="950912" y="206101"/>
                    </a:cubicBezTo>
                    <a:cubicBezTo>
                      <a:pt x="950912" y="205388"/>
                      <a:pt x="950912" y="203962"/>
                      <a:pt x="950912" y="203249"/>
                    </a:cubicBezTo>
                    <a:cubicBezTo>
                      <a:pt x="950912" y="201823"/>
                      <a:pt x="950912" y="201110"/>
                      <a:pt x="950197" y="200398"/>
                    </a:cubicBezTo>
                    <a:cubicBezTo>
                      <a:pt x="950197" y="198972"/>
                      <a:pt x="949482" y="197546"/>
                      <a:pt x="949482" y="196833"/>
                    </a:cubicBezTo>
                    <a:cubicBezTo>
                      <a:pt x="949482" y="196120"/>
                      <a:pt x="949482" y="196120"/>
                      <a:pt x="949482" y="195407"/>
                    </a:cubicBezTo>
                    <a:cubicBezTo>
                      <a:pt x="948767" y="194694"/>
                      <a:pt x="948767" y="193268"/>
                      <a:pt x="948767" y="192555"/>
                    </a:cubicBezTo>
                    <a:cubicBezTo>
                      <a:pt x="942331" y="166176"/>
                      <a:pt x="920162" y="140509"/>
                      <a:pt x="885122" y="117695"/>
                    </a:cubicBezTo>
                    <a:cubicBezTo>
                      <a:pt x="883692" y="116982"/>
                      <a:pt x="882261" y="115556"/>
                      <a:pt x="880831" y="114843"/>
                    </a:cubicBezTo>
                    <a:cubicBezTo>
                      <a:pt x="880116" y="114130"/>
                      <a:pt x="880116" y="114130"/>
                      <a:pt x="879401" y="114130"/>
                    </a:cubicBezTo>
                    <a:cubicBezTo>
                      <a:pt x="877971" y="113417"/>
                      <a:pt x="876541" y="111991"/>
                      <a:pt x="875110" y="111278"/>
                    </a:cubicBezTo>
                    <a:cubicBezTo>
                      <a:pt x="875110" y="111278"/>
                      <a:pt x="874395" y="110565"/>
                      <a:pt x="873680" y="110565"/>
                    </a:cubicBezTo>
                    <a:cubicBezTo>
                      <a:pt x="872250" y="109852"/>
                      <a:pt x="871535" y="109139"/>
                      <a:pt x="870105" y="108426"/>
                    </a:cubicBezTo>
                    <a:cubicBezTo>
                      <a:pt x="869389" y="107713"/>
                      <a:pt x="868674" y="107713"/>
                      <a:pt x="867959" y="107000"/>
                    </a:cubicBezTo>
                    <a:cubicBezTo>
                      <a:pt x="866529" y="106287"/>
                      <a:pt x="865814" y="105574"/>
                      <a:pt x="864384" y="104861"/>
                    </a:cubicBezTo>
                    <a:cubicBezTo>
                      <a:pt x="863669" y="104861"/>
                      <a:pt x="862238" y="104148"/>
                      <a:pt x="861523" y="103436"/>
                    </a:cubicBezTo>
                    <a:cubicBezTo>
                      <a:pt x="860808" y="102723"/>
                      <a:pt x="859378" y="102723"/>
                      <a:pt x="858663" y="102010"/>
                    </a:cubicBezTo>
                    <a:cubicBezTo>
                      <a:pt x="857233" y="101297"/>
                      <a:pt x="856517" y="100584"/>
                      <a:pt x="855087" y="99871"/>
                    </a:cubicBezTo>
                    <a:cubicBezTo>
                      <a:pt x="854372" y="99871"/>
                      <a:pt x="852942" y="99158"/>
                      <a:pt x="852227" y="98445"/>
                    </a:cubicBezTo>
                    <a:cubicBezTo>
                      <a:pt x="850797" y="98445"/>
                      <a:pt x="849366" y="97732"/>
                      <a:pt x="848651" y="97019"/>
                    </a:cubicBezTo>
                    <a:cubicBezTo>
                      <a:pt x="847221" y="96306"/>
                      <a:pt x="846506" y="96306"/>
                      <a:pt x="845791" y="95593"/>
                    </a:cubicBezTo>
                    <a:cubicBezTo>
                      <a:pt x="844360" y="94880"/>
                      <a:pt x="842930" y="94167"/>
                      <a:pt x="841500" y="93454"/>
                    </a:cubicBezTo>
                    <a:cubicBezTo>
                      <a:pt x="840785" y="93454"/>
                      <a:pt x="840070" y="92741"/>
                      <a:pt x="839355" y="92028"/>
                    </a:cubicBezTo>
                    <a:cubicBezTo>
                      <a:pt x="837209" y="91315"/>
                      <a:pt x="835779" y="90602"/>
                      <a:pt x="834349" y="90602"/>
                    </a:cubicBezTo>
                    <a:cubicBezTo>
                      <a:pt x="833634" y="89889"/>
                      <a:pt x="832204" y="89176"/>
                      <a:pt x="830773" y="88463"/>
                    </a:cubicBezTo>
                    <a:cubicBezTo>
                      <a:pt x="830058" y="88463"/>
                      <a:pt x="828628" y="87750"/>
                      <a:pt x="827198" y="87038"/>
                    </a:cubicBezTo>
                    <a:cubicBezTo>
                      <a:pt x="825768" y="86325"/>
                      <a:pt x="823622" y="85612"/>
                      <a:pt x="821477" y="84899"/>
                    </a:cubicBezTo>
                    <a:cubicBezTo>
                      <a:pt x="820762" y="84186"/>
                      <a:pt x="820762" y="84186"/>
                      <a:pt x="820047" y="84186"/>
                    </a:cubicBezTo>
                    <a:cubicBezTo>
                      <a:pt x="817186" y="82760"/>
                      <a:pt x="815041" y="82047"/>
                      <a:pt x="812180" y="80621"/>
                    </a:cubicBezTo>
                    <a:cubicBezTo>
                      <a:pt x="806460" y="78482"/>
                      <a:pt x="801454" y="77056"/>
                      <a:pt x="795733" y="74917"/>
                    </a:cubicBezTo>
                    <a:cubicBezTo>
                      <a:pt x="795733" y="74917"/>
                      <a:pt x="795733" y="74917"/>
                      <a:pt x="795018" y="74917"/>
                    </a:cubicBezTo>
                    <a:cubicBezTo>
                      <a:pt x="790012" y="72778"/>
                      <a:pt x="784291" y="70640"/>
                      <a:pt x="778570" y="69214"/>
                    </a:cubicBezTo>
                    <a:cubicBezTo>
                      <a:pt x="778570" y="69214"/>
                      <a:pt x="777855" y="69214"/>
                      <a:pt x="777855" y="68501"/>
                    </a:cubicBezTo>
                    <a:cubicBezTo>
                      <a:pt x="772134" y="67075"/>
                      <a:pt x="766413" y="65649"/>
                      <a:pt x="760692" y="63510"/>
                    </a:cubicBezTo>
                    <a:cubicBezTo>
                      <a:pt x="760692" y="63510"/>
                      <a:pt x="759977" y="63510"/>
                      <a:pt x="759977" y="63510"/>
                    </a:cubicBezTo>
                    <a:cubicBezTo>
                      <a:pt x="754256" y="61371"/>
                      <a:pt x="748535" y="59945"/>
                      <a:pt x="742815" y="58519"/>
                    </a:cubicBezTo>
                    <a:cubicBezTo>
                      <a:pt x="742099" y="58519"/>
                      <a:pt x="741384" y="58519"/>
                      <a:pt x="741384" y="58519"/>
                    </a:cubicBezTo>
                    <a:cubicBezTo>
                      <a:pt x="735663" y="56380"/>
                      <a:pt x="729227" y="54954"/>
                      <a:pt x="723507" y="54242"/>
                    </a:cubicBezTo>
                    <a:cubicBezTo>
                      <a:pt x="722791" y="53529"/>
                      <a:pt x="722791" y="53529"/>
                      <a:pt x="722076" y="53529"/>
                    </a:cubicBezTo>
                    <a:cubicBezTo>
                      <a:pt x="716355" y="52103"/>
                      <a:pt x="709919" y="50677"/>
                      <a:pt x="704198" y="49251"/>
                    </a:cubicBezTo>
                    <a:cubicBezTo>
                      <a:pt x="703483" y="49251"/>
                      <a:pt x="703483" y="49251"/>
                      <a:pt x="702768" y="49251"/>
                    </a:cubicBezTo>
                    <a:cubicBezTo>
                      <a:pt x="696332" y="47825"/>
                      <a:pt x="690611" y="47112"/>
                      <a:pt x="684175" y="45686"/>
                    </a:cubicBezTo>
                    <a:cubicBezTo>
                      <a:pt x="683460" y="45686"/>
                      <a:pt x="683460" y="45686"/>
                      <a:pt x="682745" y="45686"/>
                    </a:cubicBezTo>
                    <a:cubicBezTo>
                      <a:pt x="676309" y="44260"/>
                      <a:pt x="670588" y="42834"/>
                      <a:pt x="664152" y="42121"/>
                    </a:cubicBezTo>
                    <a:cubicBezTo>
                      <a:pt x="663437" y="42121"/>
                      <a:pt x="662722" y="42121"/>
                      <a:pt x="662007" y="42121"/>
                    </a:cubicBezTo>
                    <a:cubicBezTo>
                      <a:pt x="656286" y="40695"/>
                      <a:pt x="649850" y="39982"/>
                      <a:pt x="643414" y="39269"/>
                    </a:cubicBezTo>
                    <a:cubicBezTo>
                      <a:pt x="642699" y="38557"/>
                      <a:pt x="641984" y="38557"/>
                      <a:pt x="641984" y="38557"/>
                    </a:cubicBezTo>
                    <a:cubicBezTo>
                      <a:pt x="635548" y="37844"/>
                      <a:pt x="628397" y="37131"/>
                      <a:pt x="621961" y="36418"/>
                    </a:cubicBezTo>
                    <a:cubicBezTo>
                      <a:pt x="621245" y="36418"/>
                      <a:pt x="621245" y="36418"/>
                      <a:pt x="620530" y="35705"/>
                    </a:cubicBezTo>
                    <a:cubicBezTo>
                      <a:pt x="614094" y="34992"/>
                      <a:pt x="606943" y="34279"/>
                      <a:pt x="600507" y="33566"/>
                    </a:cubicBezTo>
                    <a:cubicBezTo>
                      <a:pt x="599792" y="33566"/>
                      <a:pt x="599792" y="33566"/>
                      <a:pt x="599792" y="33566"/>
                    </a:cubicBezTo>
                    <a:cubicBezTo>
                      <a:pt x="592641" y="32853"/>
                      <a:pt x="585490" y="32140"/>
                      <a:pt x="578339" y="32140"/>
                    </a:cubicBezTo>
                    <a:cubicBezTo>
                      <a:pt x="578339" y="32140"/>
                      <a:pt x="578339" y="32140"/>
                      <a:pt x="577624" y="32140"/>
                    </a:cubicBezTo>
                    <a:cubicBezTo>
                      <a:pt x="570473" y="31427"/>
                      <a:pt x="563321" y="30714"/>
                      <a:pt x="556170" y="30714"/>
                    </a:cubicBezTo>
                    <a:cubicBezTo>
                      <a:pt x="549019" y="30001"/>
                      <a:pt x="541153" y="29288"/>
                      <a:pt x="534002" y="29288"/>
                    </a:cubicBezTo>
                    <a:cubicBezTo>
                      <a:pt x="518984" y="28575"/>
                      <a:pt x="503967" y="28575"/>
                      <a:pt x="488950" y="28575"/>
                    </a:cubicBezTo>
                    <a:cubicBezTo>
                      <a:pt x="485374" y="28575"/>
                      <a:pt x="481083" y="28575"/>
                      <a:pt x="477508" y="28575"/>
                    </a:cubicBezTo>
                    <a:close/>
                    <a:moveTo>
                      <a:pt x="488950" y="0"/>
                    </a:moveTo>
                    <a:cubicBezTo>
                      <a:pt x="613151" y="0"/>
                      <a:pt x="731641" y="19252"/>
                      <a:pt x="821579" y="54903"/>
                    </a:cubicBezTo>
                    <a:cubicBezTo>
                      <a:pt x="912945" y="90555"/>
                      <a:pt x="967193" y="139041"/>
                      <a:pt x="976473" y="192518"/>
                    </a:cubicBezTo>
                    <a:cubicBezTo>
                      <a:pt x="977186" y="193944"/>
                      <a:pt x="977900" y="196083"/>
                      <a:pt x="977900" y="198935"/>
                    </a:cubicBezTo>
                    <a:cubicBezTo>
                      <a:pt x="977900" y="198935"/>
                      <a:pt x="977900" y="198935"/>
                      <a:pt x="977900" y="884870"/>
                    </a:cubicBezTo>
                    <a:cubicBezTo>
                      <a:pt x="977900" y="1001807"/>
                      <a:pt x="763762" y="1093788"/>
                      <a:pt x="488950" y="1093788"/>
                    </a:cubicBezTo>
                    <a:cubicBezTo>
                      <a:pt x="214139" y="1093788"/>
                      <a:pt x="0" y="1001807"/>
                      <a:pt x="0" y="884870"/>
                    </a:cubicBezTo>
                    <a:cubicBezTo>
                      <a:pt x="0" y="881305"/>
                      <a:pt x="0" y="877027"/>
                      <a:pt x="714" y="873462"/>
                    </a:cubicBezTo>
                    <a:cubicBezTo>
                      <a:pt x="714" y="873462"/>
                      <a:pt x="714" y="873462"/>
                      <a:pt x="714" y="220326"/>
                    </a:cubicBezTo>
                    <a:cubicBezTo>
                      <a:pt x="0" y="216761"/>
                      <a:pt x="0" y="212483"/>
                      <a:pt x="0" y="208918"/>
                    </a:cubicBezTo>
                    <a:cubicBezTo>
                      <a:pt x="0" y="91981"/>
                      <a:pt x="214139" y="0"/>
                      <a:pt x="488950"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72" name="Freeform 18">
                <a:extLst>
                  <a:ext uri="{FF2B5EF4-FFF2-40B4-BE49-F238E27FC236}">
                    <a16:creationId xmlns:a16="http://schemas.microsoft.com/office/drawing/2014/main" id="{9E6465D7-8CF3-4051-BB41-F43D180FD5E7}"/>
                  </a:ext>
                </a:extLst>
              </p:cNvPr>
              <p:cNvSpPr>
                <a:spLocks/>
              </p:cNvSpPr>
              <p:nvPr/>
            </p:nvSpPr>
            <p:spPr bwMode="auto">
              <a:xfrm>
                <a:off x="5667375" y="3184524"/>
                <a:ext cx="860425" cy="723900"/>
              </a:xfrm>
              <a:custGeom>
                <a:avLst/>
                <a:gdLst>
                  <a:gd name="connsiteX0" fmla="*/ 860425 w 860425"/>
                  <a:gd name="connsiteY0" fmla="*/ 434975 h 723900"/>
                  <a:gd name="connsiteX1" fmla="*/ 860425 w 860425"/>
                  <a:gd name="connsiteY1" fmla="*/ 581935 h 723900"/>
                  <a:gd name="connsiteX2" fmla="*/ 743224 w 860425"/>
                  <a:gd name="connsiteY2" fmla="*/ 679670 h 723900"/>
                  <a:gd name="connsiteX3" fmla="*/ 703919 w 860425"/>
                  <a:gd name="connsiteY3" fmla="*/ 693224 h 723900"/>
                  <a:gd name="connsiteX4" fmla="*/ 430927 w 860425"/>
                  <a:gd name="connsiteY4" fmla="*/ 723900 h 723900"/>
                  <a:gd name="connsiteX5" fmla="*/ 155791 w 860425"/>
                  <a:gd name="connsiteY5" fmla="*/ 693224 h 723900"/>
                  <a:gd name="connsiteX6" fmla="*/ 117201 w 860425"/>
                  <a:gd name="connsiteY6" fmla="*/ 679670 h 723900"/>
                  <a:gd name="connsiteX7" fmla="*/ 0 w 860425"/>
                  <a:gd name="connsiteY7" fmla="*/ 581935 h 723900"/>
                  <a:gd name="connsiteX8" fmla="*/ 0 w 860425"/>
                  <a:gd name="connsiteY8" fmla="*/ 579794 h 723900"/>
                  <a:gd name="connsiteX9" fmla="*/ 715 w 860425"/>
                  <a:gd name="connsiteY9" fmla="*/ 577654 h 723900"/>
                  <a:gd name="connsiteX10" fmla="*/ 715 w 860425"/>
                  <a:gd name="connsiteY10" fmla="*/ 436402 h 723900"/>
                  <a:gd name="connsiteX11" fmla="*/ 430927 w 860425"/>
                  <a:gd name="connsiteY11" fmla="*/ 557679 h 723900"/>
                  <a:gd name="connsiteX12" fmla="*/ 860425 w 860425"/>
                  <a:gd name="connsiteY12" fmla="*/ 434975 h 723900"/>
                  <a:gd name="connsiteX13" fmla="*/ 860425 w 860425"/>
                  <a:gd name="connsiteY13" fmla="*/ 214313 h 723900"/>
                  <a:gd name="connsiteX14" fmla="*/ 860425 w 860425"/>
                  <a:gd name="connsiteY14" fmla="*/ 384562 h 723900"/>
                  <a:gd name="connsiteX15" fmla="*/ 430570 w 860425"/>
                  <a:gd name="connsiteY15" fmla="*/ 511176 h 723900"/>
                  <a:gd name="connsiteX16" fmla="*/ 0 w 860425"/>
                  <a:gd name="connsiteY16" fmla="*/ 385993 h 723900"/>
                  <a:gd name="connsiteX17" fmla="*/ 0 w 860425"/>
                  <a:gd name="connsiteY17" fmla="*/ 215744 h 723900"/>
                  <a:gd name="connsiteX18" fmla="*/ 430570 w 860425"/>
                  <a:gd name="connsiteY18" fmla="*/ 340212 h 723900"/>
                  <a:gd name="connsiteX19" fmla="*/ 860425 w 860425"/>
                  <a:gd name="connsiteY19" fmla="*/ 214313 h 723900"/>
                  <a:gd name="connsiteX20" fmla="*/ 860425 w 860425"/>
                  <a:gd name="connsiteY20" fmla="*/ 0 h 723900"/>
                  <a:gd name="connsiteX21" fmla="*/ 860425 w 860425"/>
                  <a:gd name="connsiteY21" fmla="*/ 165508 h 723900"/>
                  <a:gd name="connsiteX22" fmla="*/ 430570 w 860425"/>
                  <a:gd name="connsiteY22" fmla="*/ 288925 h 723900"/>
                  <a:gd name="connsiteX23" fmla="*/ 0 w 860425"/>
                  <a:gd name="connsiteY23" fmla="*/ 166935 h 723900"/>
                  <a:gd name="connsiteX24" fmla="*/ 0 w 860425"/>
                  <a:gd name="connsiteY24" fmla="*/ 1427 h 723900"/>
                  <a:gd name="connsiteX25" fmla="*/ 430570 w 860425"/>
                  <a:gd name="connsiteY25" fmla="*/ 122704 h 723900"/>
                  <a:gd name="connsiteX26" fmla="*/ 860425 w 860425"/>
                  <a:gd name="connsiteY26"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60425" h="723900">
                    <a:moveTo>
                      <a:pt x="860425" y="434975"/>
                    </a:moveTo>
                    <a:cubicBezTo>
                      <a:pt x="860425" y="434975"/>
                      <a:pt x="860425" y="434975"/>
                      <a:pt x="860425" y="581935"/>
                    </a:cubicBezTo>
                    <a:cubicBezTo>
                      <a:pt x="860425" y="614037"/>
                      <a:pt x="815403" y="651847"/>
                      <a:pt x="743224" y="679670"/>
                    </a:cubicBezTo>
                    <a:cubicBezTo>
                      <a:pt x="731076" y="684663"/>
                      <a:pt x="717497" y="688944"/>
                      <a:pt x="703919" y="693224"/>
                    </a:cubicBezTo>
                    <a:cubicBezTo>
                      <a:pt x="629597" y="713199"/>
                      <a:pt x="533835" y="723900"/>
                      <a:pt x="430927" y="723900"/>
                    </a:cubicBezTo>
                    <a:cubicBezTo>
                      <a:pt x="326590" y="723900"/>
                      <a:pt x="230829" y="713199"/>
                      <a:pt x="155791" y="693224"/>
                    </a:cubicBezTo>
                    <a:cubicBezTo>
                      <a:pt x="142213" y="688944"/>
                      <a:pt x="129350" y="684663"/>
                      <a:pt x="117201" y="679670"/>
                    </a:cubicBezTo>
                    <a:cubicBezTo>
                      <a:pt x="45022" y="651847"/>
                      <a:pt x="0" y="614037"/>
                      <a:pt x="0" y="581935"/>
                    </a:cubicBezTo>
                    <a:cubicBezTo>
                      <a:pt x="0" y="581221"/>
                      <a:pt x="0" y="580508"/>
                      <a:pt x="0" y="579794"/>
                    </a:cubicBezTo>
                    <a:cubicBezTo>
                      <a:pt x="0" y="579794"/>
                      <a:pt x="0" y="579794"/>
                      <a:pt x="715" y="577654"/>
                    </a:cubicBezTo>
                    <a:cubicBezTo>
                      <a:pt x="715" y="577654"/>
                      <a:pt x="715" y="577654"/>
                      <a:pt x="715" y="436402"/>
                    </a:cubicBezTo>
                    <a:cubicBezTo>
                      <a:pt x="33588" y="509168"/>
                      <a:pt x="213677" y="557679"/>
                      <a:pt x="430927" y="557679"/>
                    </a:cubicBezTo>
                    <a:cubicBezTo>
                      <a:pt x="648178" y="557679"/>
                      <a:pt x="828981" y="508455"/>
                      <a:pt x="860425" y="434975"/>
                    </a:cubicBezTo>
                    <a:close/>
                    <a:moveTo>
                      <a:pt x="860425" y="214313"/>
                    </a:moveTo>
                    <a:cubicBezTo>
                      <a:pt x="860425" y="214313"/>
                      <a:pt x="860425" y="214313"/>
                      <a:pt x="860425" y="384562"/>
                    </a:cubicBezTo>
                    <a:cubicBezTo>
                      <a:pt x="828955" y="461103"/>
                      <a:pt x="648001" y="511176"/>
                      <a:pt x="430570" y="511176"/>
                    </a:cubicBezTo>
                    <a:cubicBezTo>
                      <a:pt x="213140" y="511176"/>
                      <a:pt x="32901" y="461818"/>
                      <a:pt x="0" y="385993"/>
                    </a:cubicBezTo>
                    <a:cubicBezTo>
                      <a:pt x="0" y="385993"/>
                      <a:pt x="0" y="385993"/>
                      <a:pt x="0" y="215744"/>
                    </a:cubicBezTo>
                    <a:cubicBezTo>
                      <a:pt x="32901" y="290854"/>
                      <a:pt x="213140" y="340212"/>
                      <a:pt x="430570" y="340212"/>
                    </a:cubicBezTo>
                    <a:cubicBezTo>
                      <a:pt x="648001" y="340212"/>
                      <a:pt x="828955" y="290138"/>
                      <a:pt x="860425" y="214313"/>
                    </a:cubicBezTo>
                    <a:close/>
                    <a:moveTo>
                      <a:pt x="860425" y="0"/>
                    </a:moveTo>
                    <a:cubicBezTo>
                      <a:pt x="860425" y="0"/>
                      <a:pt x="860425" y="0"/>
                      <a:pt x="860425" y="165508"/>
                    </a:cubicBezTo>
                    <a:cubicBezTo>
                      <a:pt x="828955" y="239701"/>
                      <a:pt x="648001" y="288925"/>
                      <a:pt x="430570" y="288925"/>
                    </a:cubicBezTo>
                    <a:cubicBezTo>
                      <a:pt x="213140" y="288925"/>
                      <a:pt x="32901" y="240414"/>
                      <a:pt x="0" y="166935"/>
                    </a:cubicBezTo>
                    <a:cubicBezTo>
                      <a:pt x="0" y="166935"/>
                      <a:pt x="0" y="166935"/>
                      <a:pt x="0" y="1427"/>
                    </a:cubicBezTo>
                    <a:cubicBezTo>
                      <a:pt x="32901" y="74193"/>
                      <a:pt x="213140" y="122704"/>
                      <a:pt x="430570" y="122704"/>
                    </a:cubicBezTo>
                    <a:cubicBezTo>
                      <a:pt x="648001" y="122704"/>
                      <a:pt x="828955" y="73480"/>
                      <a:pt x="860425" y="0"/>
                    </a:cubicBezTo>
                    <a:close/>
                  </a:path>
                </a:pathLst>
              </a:custGeom>
              <a:solidFill>
                <a:schemeClr val="tx2"/>
              </a:solidFill>
              <a:ln>
                <a:noFill/>
              </a:ln>
            </p:spPr>
            <p:txBody>
              <a:bodyPr vert="horz" wrap="square" lIns="91440" tIns="45720" rIns="91440" bIns="45720" numCol="1" anchor="t" anchorCtr="0" compatLnSpc="1">
                <a:prstTxWarp prst="textNoShape">
                  <a:avLst/>
                </a:prstTxWarp>
                <a:noAutofit/>
              </a:bodyPr>
              <a:lstStyle/>
              <a:p>
                <a:endParaRPr lang="en-US"/>
              </a:p>
            </p:txBody>
          </p:sp>
        </p:grpSp>
      </p:grpSp>
      <p:grpSp>
        <p:nvGrpSpPr>
          <p:cNvPr id="3" name="Group 2">
            <a:extLst>
              <a:ext uri="{FF2B5EF4-FFF2-40B4-BE49-F238E27FC236}">
                <a16:creationId xmlns:a16="http://schemas.microsoft.com/office/drawing/2014/main" id="{2F8F9F61-ADC1-4F8F-8CB1-B21560BE6F5D}"/>
              </a:ext>
            </a:extLst>
          </p:cNvPr>
          <p:cNvGrpSpPr/>
          <p:nvPr/>
        </p:nvGrpSpPr>
        <p:grpSpPr>
          <a:xfrm>
            <a:off x="7296472" y="6188666"/>
            <a:ext cx="3792930" cy="363091"/>
            <a:chOff x="4624358" y="6095416"/>
            <a:chExt cx="3792930" cy="363091"/>
          </a:xfrm>
        </p:grpSpPr>
        <p:pic>
          <p:nvPicPr>
            <p:cNvPr id="91" name="Picture 16">
              <a:extLst>
                <a:ext uri="{FF2B5EF4-FFF2-40B4-BE49-F238E27FC236}">
                  <a16:creationId xmlns:a16="http://schemas.microsoft.com/office/drawing/2014/main" id="{9B921F79-F383-4380-BFEE-5CB184B3E323}"/>
                </a:ext>
              </a:extLst>
            </p:cNvPr>
            <p:cNvPicPr>
              <a:picLocks noChangeAspect="1" noChangeArrowheads="1"/>
            </p:cNvPicPr>
            <p:nvPr/>
          </p:nvPicPr>
          <p:blipFill>
            <a:blip r:embed="rId37" cstate="hqprint">
              <a:extLst>
                <a:ext uri="{28A0092B-C50C-407E-A947-70E740481C1C}">
                  <a14:useLocalDpi xmlns:a14="http://schemas.microsoft.com/office/drawing/2010/main"/>
                </a:ext>
              </a:extLst>
            </a:blip>
            <a:srcRect/>
            <a:stretch>
              <a:fillRect/>
            </a:stretch>
          </p:blipFill>
          <p:spPr bwMode="auto">
            <a:xfrm>
              <a:off x="5842125" y="6126231"/>
              <a:ext cx="457200" cy="311346"/>
            </a:xfrm>
            <a:prstGeom prst="rect">
              <a:avLst/>
            </a:prstGeom>
            <a:noFill/>
            <a:extLst>
              <a:ext uri="{909E8E84-426E-40DD-AFC4-6F175D3DCCD1}">
                <a14:hiddenFill xmlns:a14="http://schemas.microsoft.com/office/drawing/2010/main">
                  <a:solidFill>
                    <a:srgbClr val="FFFFFF"/>
                  </a:solidFill>
                </a14:hiddenFill>
              </a:ext>
            </a:extLst>
          </p:spPr>
        </p:pic>
        <p:pic>
          <p:nvPicPr>
            <p:cNvPr id="92" name="Picture 26">
              <a:extLst>
                <a:ext uri="{FF2B5EF4-FFF2-40B4-BE49-F238E27FC236}">
                  <a16:creationId xmlns:a16="http://schemas.microsoft.com/office/drawing/2014/main" id="{AF562481-C1E4-4D69-8CF9-FC6922C80A82}"/>
                </a:ext>
              </a:extLst>
            </p:cNvPr>
            <p:cNvPicPr>
              <a:picLocks noChangeAspect="1" noChangeArrowheads="1"/>
            </p:cNvPicPr>
            <p:nvPr/>
          </p:nvPicPr>
          <p:blipFill>
            <a:blip r:embed="rId38" cstate="hqprint">
              <a:extLst>
                <a:ext uri="{28A0092B-C50C-407E-A947-70E740481C1C}">
                  <a14:useLocalDpi xmlns:a14="http://schemas.microsoft.com/office/drawing/2010/main"/>
                </a:ext>
              </a:extLst>
            </a:blip>
            <a:srcRect/>
            <a:stretch>
              <a:fillRect/>
            </a:stretch>
          </p:blipFill>
          <p:spPr bwMode="auto">
            <a:xfrm>
              <a:off x="6319729" y="6095416"/>
              <a:ext cx="365760" cy="363091"/>
            </a:xfrm>
            <a:prstGeom prst="rect">
              <a:avLst/>
            </a:prstGeom>
            <a:noFill/>
            <a:extLst>
              <a:ext uri="{909E8E84-426E-40DD-AFC4-6F175D3DCCD1}">
                <a14:hiddenFill xmlns:a14="http://schemas.microsoft.com/office/drawing/2010/main">
                  <a:solidFill>
                    <a:srgbClr val="FFFFFF"/>
                  </a:solidFill>
                </a14:hiddenFill>
              </a:ext>
            </a:extLst>
          </p:spPr>
        </p:pic>
        <p:pic>
          <p:nvPicPr>
            <p:cNvPr id="103" name="Picture 4">
              <a:extLst>
                <a:ext uri="{FF2B5EF4-FFF2-40B4-BE49-F238E27FC236}">
                  <a16:creationId xmlns:a16="http://schemas.microsoft.com/office/drawing/2014/main" id="{5B6C7F91-2768-4CA1-85E3-D83ED94C4FB1}"/>
                </a:ext>
              </a:extLst>
            </p:cNvPr>
            <p:cNvPicPr>
              <a:picLocks noChangeAspect="1"/>
            </p:cNvPicPr>
            <p:nvPr/>
          </p:nvPicPr>
          <p:blipFill>
            <a:blip r:embed="rId39" cstate="screen">
              <a:extLst>
                <a:ext uri="{28A0092B-C50C-407E-A947-70E740481C1C}">
                  <a14:useLocalDpi xmlns:a14="http://schemas.microsoft.com/office/drawing/2010/main"/>
                </a:ext>
              </a:extLst>
            </a:blip>
            <a:srcRect/>
            <a:stretch>
              <a:fillRect/>
            </a:stretch>
          </p:blipFill>
          <p:spPr bwMode="auto">
            <a:xfrm>
              <a:off x="6845472" y="6183231"/>
              <a:ext cx="494429" cy="1901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4" name="Picture 3" descr="Standard Bank Eliminating Remote Access Security Concerns | Case Study |  OneSpan">
              <a:extLst>
                <a:ext uri="{FF2B5EF4-FFF2-40B4-BE49-F238E27FC236}">
                  <a16:creationId xmlns:a16="http://schemas.microsoft.com/office/drawing/2014/main" id="{1CDAE304-752D-4762-9D07-606C8D93AAEF}"/>
                </a:ext>
              </a:extLst>
            </p:cNvPr>
            <p:cNvPicPr>
              <a:picLocks noChangeAspect="1" noChangeArrowheads="1"/>
            </p:cNvPicPr>
            <p:nvPr/>
          </p:nvPicPr>
          <p:blipFill>
            <a:blip r:embed="rId40" cstate="hqprint">
              <a:extLst>
                <a:ext uri="{28A0092B-C50C-407E-A947-70E740481C1C}">
                  <a14:useLocalDpi xmlns:a14="http://schemas.microsoft.com/office/drawing/2010/main"/>
                </a:ext>
              </a:extLst>
            </a:blip>
            <a:srcRect/>
            <a:stretch>
              <a:fillRect/>
            </a:stretch>
          </p:blipFill>
          <p:spPr bwMode="auto">
            <a:xfrm>
              <a:off x="7473499" y="6120280"/>
              <a:ext cx="943789" cy="323248"/>
            </a:xfrm>
            <a:prstGeom prst="rect">
              <a:avLst/>
            </a:prstGeom>
            <a:noFill/>
            <a:extLst>
              <a:ext uri="{909E8E84-426E-40DD-AFC4-6F175D3DCCD1}">
                <a14:hiddenFill xmlns:a14="http://schemas.microsoft.com/office/drawing/2010/main">
                  <a:solidFill>
                    <a:srgbClr val="FFFFFF"/>
                  </a:solidFill>
                </a14:hiddenFill>
              </a:ext>
            </a:extLst>
          </p:spPr>
        </p:pic>
        <p:pic>
          <p:nvPicPr>
            <p:cNvPr id="438274" name="Picture 2" descr="See the source image">
              <a:extLst>
                <a:ext uri="{FF2B5EF4-FFF2-40B4-BE49-F238E27FC236}">
                  <a16:creationId xmlns:a16="http://schemas.microsoft.com/office/drawing/2014/main" id="{13A37AD3-4D72-42CB-A64E-B179EC07D93D}"/>
                </a:ext>
              </a:extLst>
            </p:cNvPr>
            <p:cNvPicPr>
              <a:picLocks noChangeAspect="1" noChangeArrowheads="1"/>
            </p:cNvPicPr>
            <p:nvPr/>
          </p:nvPicPr>
          <p:blipFill>
            <a:blip r:embed="rId41" cstate="hqprint">
              <a:extLst>
                <a:ext uri="{28A0092B-C50C-407E-A947-70E740481C1C}">
                  <a14:useLocalDpi xmlns:a14="http://schemas.microsoft.com/office/drawing/2010/main"/>
                </a:ext>
              </a:extLst>
            </a:blip>
            <a:srcRect/>
            <a:stretch>
              <a:fillRect/>
            </a:stretch>
          </p:blipFill>
          <p:spPr bwMode="auto">
            <a:xfrm>
              <a:off x="4624358" y="6175372"/>
              <a:ext cx="457200" cy="262890"/>
            </a:xfrm>
            <a:prstGeom prst="rect">
              <a:avLst/>
            </a:prstGeom>
            <a:noFill/>
            <a:extLst>
              <a:ext uri="{909E8E84-426E-40DD-AFC4-6F175D3DCCD1}">
                <a14:hiddenFill xmlns:a14="http://schemas.microsoft.com/office/drawing/2010/main">
                  <a:solidFill>
                    <a:srgbClr val="FFFFFF"/>
                  </a:solidFill>
                </a14:hiddenFill>
              </a:ext>
            </a:extLst>
          </p:spPr>
        </p:pic>
        <p:pic>
          <p:nvPicPr>
            <p:cNvPr id="438276" name="Picture 4" descr="See the source image">
              <a:extLst>
                <a:ext uri="{FF2B5EF4-FFF2-40B4-BE49-F238E27FC236}">
                  <a16:creationId xmlns:a16="http://schemas.microsoft.com/office/drawing/2014/main" id="{0B3D2D08-95CA-403C-8379-3EDA701084A9}"/>
                </a:ext>
              </a:extLst>
            </p:cNvPr>
            <p:cNvPicPr>
              <a:picLocks noChangeAspect="1" noChangeArrowheads="1"/>
            </p:cNvPicPr>
            <p:nvPr/>
          </p:nvPicPr>
          <p:blipFill>
            <a:blip r:embed="rId42" cstate="hqprint">
              <a:extLst>
                <a:ext uri="{28A0092B-C50C-407E-A947-70E740481C1C}">
                  <a14:useLocalDpi xmlns:a14="http://schemas.microsoft.com/office/drawing/2010/main"/>
                </a:ext>
              </a:extLst>
            </a:blip>
            <a:srcRect/>
            <a:stretch>
              <a:fillRect/>
            </a:stretch>
          </p:blipFill>
          <p:spPr bwMode="auto">
            <a:xfrm>
              <a:off x="5100329" y="6125272"/>
              <a:ext cx="914400" cy="315311"/>
            </a:xfrm>
            <a:prstGeom prst="rect">
              <a:avLst/>
            </a:prstGeom>
            <a:noFill/>
            <a:extLst>
              <a:ext uri="{909E8E84-426E-40DD-AFC4-6F175D3DCCD1}">
                <a14:hiddenFill xmlns:a14="http://schemas.microsoft.com/office/drawing/2010/main">
                  <a:solidFill>
                    <a:srgbClr val="FFFFFF"/>
                  </a:solidFill>
                </a14:hiddenFill>
              </a:ext>
            </a:extLst>
          </p:spPr>
        </p:pic>
      </p:grpSp>
      <p:sp>
        <p:nvSpPr>
          <p:cNvPr id="108" name="NavigationTriangle">
            <a:extLst>
              <a:ext uri="{FF2B5EF4-FFF2-40B4-BE49-F238E27FC236}">
                <a16:creationId xmlns:a16="http://schemas.microsoft.com/office/drawing/2014/main" id="{9F1EC587-CEDB-4901-9B45-C708B9C0BA0B}"/>
              </a:ext>
            </a:extLst>
          </p:cNvPr>
          <p:cNvSpPr/>
          <p:nvPr/>
        </p:nvSpPr>
        <p:spPr>
          <a:xfrm rot="16200000">
            <a:off x="11116165" y="-21446"/>
            <a:ext cx="1054387" cy="1097280"/>
          </a:xfrm>
          <a:prstGeom prst="triangle">
            <a:avLst>
              <a:gd name="adj" fmla="val 100000"/>
            </a:avLst>
          </a:prstGeom>
          <a:solidFill>
            <a:schemeClr val="tx2"/>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9B1C23"/>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Nova"/>
              <a:ea typeface="+mn-ea"/>
              <a:cs typeface="+mn-cs"/>
            </a:endParaRPr>
          </a:p>
        </p:txBody>
      </p:sp>
      <p:sp>
        <p:nvSpPr>
          <p:cNvPr id="109" name="NavigationIcon">
            <a:extLst>
              <a:ext uri="{FF2B5EF4-FFF2-40B4-BE49-F238E27FC236}">
                <a16:creationId xmlns:a16="http://schemas.microsoft.com/office/drawing/2014/main" id="{FF56D881-BF40-4FD2-A034-00E7F71985A4}"/>
              </a:ext>
            </a:extLst>
          </p:cNvPr>
          <p:cNvSpPr>
            <a:spLocks noChangeAspect="1" noChangeArrowheads="1"/>
          </p:cNvSpPr>
          <p:nvPr>
            <p:custDataLst>
              <p:tags r:id="rId28"/>
            </p:custDataLst>
          </p:nvPr>
        </p:nvSpPr>
        <p:spPr bwMode="auto">
          <a:xfrm>
            <a:off x="11690544" y="132877"/>
            <a:ext cx="365760" cy="365760"/>
          </a:xfrm>
          <a:prstGeom prst="ellipse">
            <a:avLst/>
          </a:prstGeom>
          <a:solidFill>
            <a:schemeClr val="bg1"/>
          </a:solidFill>
          <a:ln>
            <a:noFill/>
          </a:ln>
        </p:spPr>
        <p:txBody>
          <a:bodyPr vert="horz" wrap="square" lIns="0" tIns="0" rIns="0" bIns="0" numCol="1" anchor="ctr" anchorCtr="0" compatLnSpc="1">
            <a:prstTxWarp prst="textNoShape">
              <a:avLst/>
            </a:prstTxWarp>
          </a:bodyPr>
          <a:lstStyle/>
          <a:p>
            <a:pPr algn="ctr">
              <a:buFontTx/>
              <a:buChar char="​"/>
              <a:defRPr/>
            </a:pPr>
            <a:r>
              <a:rPr kumimoji="0" lang="en-US" sz="1600" b="0" i="0" u="none" strike="noStrike" kern="1200" cap="none" spc="0" normalizeH="0" baseline="0" noProof="0">
                <a:ln>
                  <a:noFill/>
                </a:ln>
                <a:solidFill>
                  <a:srgbClr val="29BA74"/>
                </a:solidFill>
                <a:effectLst/>
                <a:uLnTx/>
                <a:uFillTx/>
                <a:latin typeface="Trebuchet MS" panose="020B0603020202020204" pitchFamily="34" charset="0"/>
                <a:ea typeface="+mn-ea"/>
                <a:cs typeface="+mn-cs"/>
              </a:rPr>
              <a:t>3</a:t>
            </a:r>
          </a:p>
        </p:txBody>
      </p:sp>
      <p:sp>
        <p:nvSpPr>
          <p:cNvPr id="106" name="Rectangle 105">
            <a:extLst>
              <a:ext uri="{FF2B5EF4-FFF2-40B4-BE49-F238E27FC236}">
                <a16:creationId xmlns:a16="http://schemas.microsoft.com/office/drawing/2014/main" id="{A644AA06-20B4-4085-9988-BD0F26655DB7}"/>
              </a:ext>
            </a:extLst>
          </p:cNvPr>
          <p:cNvSpPr>
            <a:spLocks/>
          </p:cNvSpPr>
          <p:nvPr/>
        </p:nvSpPr>
        <p:spPr>
          <a:xfrm>
            <a:off x="6638926" y="0"/>
            <a:ext cx="4425468" cy="191701"/>
          </a:xfrm>
          <a:prstGeom prst="rect">
            <a:avLst/>
          </a:prstGeom>
          <a:noFill/>
          <a:ln w="6943" cap="rnd" cmpd="sng" algn="ctr">
            <a:noFill/>
            <a:prstDash val="solid"/>
            <a:round/>
            <a:headEnd type="none" w="med" len="med"/>
            <a:tailEnd type="none" w="med" len="med"/>
          </a:ln>
          <a:effectLst/>
          <a:extLst>
            <a:ext uri="{909E8E84-426E-40DD-AFC4-6F175D3DCCD1}">
              <a14:hiddenFill xmlns:a14="http://schemas.microsoft.com/office/drawing/2010/main">
                <a:solidFill>
                  <a:srgbClr val="9B1C23"/>
                </a:solidFill>
              </a14:hiddenFill>
            </a:ext>
            <a:ext uri="{91240B29-F687-4F45-9708-019B960494DF}">
              <a14:hiddenLine xmlns:a14="http://schemas.microsoft.com/office/drawing/2010/main" w="6943" cap="rnd" cmpd="sng" algn="ctr">
                <a:solidFill>
                  <a:srgbClr val="9B1C23"/>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7F7F7F"/>
                </a:solidFill>
                <a:effectLst/>
                <a:uLnTx/>
                <a:uFillTx/>
                <a:latin typeface="Trebuchet MS" panose="020B0603020202020204" pitchFamily="34" charset="0"/>
                <a:ea typeface="+mn-ea"/>
                <a:cs typeface="+mn-cs"/>
              </a:rPr>
              <a:t>Logical architecture</a:t>
            </a:r>
          </a:p>
        </p:txBody>
      </p:sp>
    </p:spTree>
    <p:extLst>
      <p:ext uri="{BB962C8B-B14F-4D97-AF65-F5344CB8AC3E}">
        <p14:creationId xmlns:p14="http://schemas.microsoft.com/office/powerpoint/2010/main" val="403083035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8" name="Object 107" hidden="1">
            <a:extLst>
              <a:ext uri="{FF2B5EF4-FFF2-40B4-BE49-F238E27FC236}">
                <a16:creationId xmlns:a16="http://schemas.microsoft.com/office/drawing/2014/main" id="{7DEAD11F-74F0-42AC-A607-3ACDA336B0C0}"/>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395" imgH="396" progId="TCLayout.ActiveDocument.1">
                  <p:embed/>
                </p:oleObj>
              </mc:Choice>
              <mc:Fallback>
                <p:oleObj name="think-cell Slide" r:id="rId6" imgW="395" imgH="396" progId="TCLayout.ActiveDocument.1">
                  <p:embed/>
                  <p:pic>
                    <p:nvPicPr>
                      <p:cNvPr id="108" name="Object 107" hidden="1">
                        <a:extLst>
                          <a:ext uri="{FF2B5EF4-FFF2-40B4-BE49-F238E27FC236}">
                            <a16:creationId xmlns:a16="http://schemas.microsoft.com/office/drawing/2014/main" id="{7DEAD11F-74F0-42AC-A607-3ACDA336B0C0}"/>
                          </a:ext>
                        </a:extLst>
                      </p:cNvPr>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Rectangle 1">
            <a:extLst>
              <a:ext uri="{FF2B5EF4-FFF2-40B4-BE49-F238E27FC236}">
                <a16:creationId xmlns:a16="http://schemas.microsoft.com/office/drawing/2014/main" id="{7EC1D60B-179D-4196-8C11-9379454EC3D4}"/>
              </a:ext>
            </a:extLst>
          </p:cNvPr>
          <p:cNvSpPr/>
          <p:nvPr/>
        </p:nvSpPr>
        <p:spPr>
          <a:xfrm>
            <a:off x="7213312" y="1642678"/>
            <a:ext cx="4389590" cy="5060577"/>
          </a:xfrm>
          <a:prstGeom prst="rect">
            <a:avLst/>
          </a:prstGeom>
          <a:solidFill>
            <a:schemeClr val="tx2">
              <a:lumMod val="20000"/>
              <a:lumOff val="80000"/>
            </a:schemeClr>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200">
              <a:solidFill>
                <a:srgbClr val="FFFFFF"/>
              </a:solidFill>
            </a:endParaRPr>
          </a:p>
        </p:txBody>
      </p:sp>
      <p:grpSp>
        <p:nvGrpSpPr>
          <p:cNvPr id="3" name="Group 2">
            <a:extLst>
              <a:ext uri="{FF2B5EF4-FFF2-40B4-BE49-F238E27FC236}">
                <a16:creationId xmlns:a16="http://schemas.microsoft.com/office/drawing/2014/main" id="{D310BA60-F491-4FA9-965F-B891E096044A}"/>
              </a:ext>
            </a:extLst>
          </p:cNvPr>
          <p:cNvGrpSpPr/>
          <p:nvPr/>
        </p:nvGrpSpPr>
        <p:grpSpPr>
          <a:xfrm>
            <a:off x="5087742" y="2346812"/>
            <a:ext cx="1105134" cy="1463594"/>
            <a:chOff x="2202474" y="2204729"/>
            <a:chExt cx="1105134" cy="1463594"/>
          </a:xfrm>
        </p:grpSpPr>
        <p:cxnSp>
          <p:nvCxnSpPr>
            <p:cNvPr id="4" name="Straight Connector 3">
              <a:extLst>
                <a:ext uri="{FF2B5EF4-FFF2-40B4-BE49-F238E27FC236}">
                  <a16:creationId xmlns:a16="http://schemas.microsoft.com/office/drawing/2014/main" id="{0FA0EB20-8BBB-4E3B-862C-C2F0D38CCA4A}"/>
                </a:ext>
              </a:extLst>
            </p:cNvPr>
            <p:cNvCxnSpPr>
              <a:cxnSpLocks/>
            </p:cNvCxnSpPr>
            <p:nvPr/>
          </p:nvCxnSpPr>
          <p:spPr>
            <a:xfrm>
              <a:off x="2202474" y="3551013"/>
              <a:ext cx="1105134" cy="0"/>
            </a:xfrm>
            <a:prstGeom prst="line">
              <a:avLst/>
            </a:prstGeom>
            <a:ln w="12700" cap="rnd">
              <a:solidFill>
                <a:srgbClr val="7F7F7F">
                  <a:lumMod val="100000"/>
                </a:srgbClr>
              </a:solidFill>
              <a:prstDash val="solid"/>
              <a:round/>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A0085E98-8E4C-4E11-942D-F697EE1E2DD3}"/>
                </a:ext>
              </a:extLst>
            </p:cNvPr>
            <p:cNvCxnSpPr>
              <a:cxnSpLocks/>
            </p:cNvCxnSpPr>
            <p:nvPr/>
          </p:nvCxnSpPr>
          <p:spPr>
            <a:xfrm flipV="1">
              <a:off x="2202474" y="2220771"/>
              <a:ext cx="0" cy="1330242"/>
            </a:xfrm>
            <a:prstGeom prst="line">
              <a:avLst/>
            </a:prstGeom>
            <a:ln w="12700" cap="rnd">
              <a:solidFill>
                <a:srgbClr val="7F7F7F">
                  <a:lumMod val="100000"/>
                </a:srgbClr>
              </a:solidFill>
              <a:prstDash val="solid"/>
              <a:round/>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C2322C6A-5CAB-4626-9ADD-18138C1001CF}"/>
                </a:ext>
              </a:extLst>
            </p:cNvPr>
            <p:cNvCxnSpPr>
              <a:cxnSpLocks/>
            </p:cNvCxnSpPr>
            <p:nvPr/>
          </p:nvCxnSpPr>
          <p:spPr>
            <a:xfrm flipV="1">
              <a:off x="3307608" y="2204729"/>
              <a:ext cx="0" cy="1346284"/>
            </a:xfrm>
            <a:prstGeom prst="line">
              <a:avLst/>
            </a:prstGeom>
            <a:ln w="12700" cap="rnd">
              <a:solidFill>
                <a:srgbClr val="7F7F7F">
                  <a:lumMod val="100000"/>
                </a:srgbClr>
              </a:solidFill>
              <a:prstDash val="solid"/>
              <a:round/>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20B210D6-589E-432B-8E63-E052A0DFA0F9}"/>
                </a:ext>
              </a:extLst>
            </p:cNvPr>
            <p:cNvCxnSpPr>
              <a:cxnSpLocks/>
            </p:cNvCxnSpPr>
            <p:nvPr/>
          </p:nvCxnSpPr>
          <p:spPr>
            <a:xfrm flipV="1">
              <a:off x="2755041" y="2211146"/>
              <a:ext cx="0" cy="1457177"/>
            </a:xfrm>
            <a:prstGeom prst="line">
              <a:avLst/>
            </a:prstGeom>
            <a:ln w="12700" cap="rnd">
              <a:solidFill>
                <a:srgbClr val="7F7F7F">
                  <a:lumMod val="100000"/>
                </a:srgbClr>
              </a:solidFill>
              <a:prstDash val="solid"/>
              <a:round/>
            </a:ln>
          </p:spPr>
          <p:style>
            <a:lnRef idx="1">
              <a:schemeClr val="accent1"/>
            </a:lnRef>
            <a:fillRef idx="0">
              <a:schemeClr val="accent1"/>
            </a:fillRef>
            <a:effectRef idx="0">
              <a:schemeClr val="accent1"/>
            </a:effectRef>
            <a:fontRef idx="minor">
              <a:schemeClr val="tx1"/>
            </a:fontRef>
          </p:style>
        </p:cxnSp>
      </p:grpSp>
      <p:cxnSp>
        <p:nvCxnSpPr>
          <p:cNvPr id="8" name="Straight Connector 7">
            <a:extLst>
              <a:ext uri="{FF2B5EF4-FFF2-40B4-BE49-F238E27FC236}">
                <a16:creationId xmlns:a16="http://schemas.microsoft.com/office/drawing/2014/main" id="{A7B08282-DAA0-44D6-A2F0-553F02B6369A}"/>
              </a:ext>
            </a:extLst>
          </p:cNvPr>
          <p:cNvCxnSpPr/>
          <p:nvPr/>
        </p:nvCxnSpPr>
        <p:spPr>
          <a:xfrm>
            <a:off x="630000" y="2792683"/>
            <a:ext cx="10897002" cy="0"/>
          </a:xfrm>
          <a:prstGeom prst="line">
            <a:avLst/>
          </a:prstGeom>
          <a:ln w="3175" cap="rnd">
            <a:solidFill>
              <a:srgbClr val="C8C8C8">
                <a:lumMod val="100000"/>
              </a:srgbClr>
            </a:solidFill>
            <a:prstDash val="solid"/>
            <a:round/>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65545AEC-6C5A-4503-BA91-0798DA2BCAD9}"/>
              </a:ext>
            </a:extLst>
          </p:cNvPr>
          <p:cNvCxnSpPr/>
          <p:nvPr/>
        </p:nvCxnSpPr>
        <p:spPr>
          <a:xfrm>
            <a:off x="630000" y="3278297"/>
            <a:ext cx="10897002" cy="0"/>
          </a:xfrm>
          <a:prstGeom prst="line">
            <a:avLst/>
          </a:prstGeom>
          <a:ln w="3175" cap="rnd">
            <a:solidFill>
              <a:srgbClr val="C8C8C8">
                <a:lumMod val="100000"/>
              </a:srgbClr>
            </a:solidFill>
            <a:prstDash val="solid"/>
            <a:round/>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AF2F2A91-A06E-4282-8C93-1E425ECC9FF6}"/>
              </a:ext>
            </a:extLst>
          </p:cNvPr>
          <p:cNvSpPr txBox="1"/>
          <p:nvPr/>
        </p:nvSpPr>
        <p:spPr>
          <a:xfrm>
            <a:off x="630000" y="2346812"/>
            <a:ext cx="1029029" cy="356616"/>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buFont typeface="Trebuchet MS" panose="020B0603020202020204" pitchFamily="34" charset="0"/>
              <a:buChar char="​"/>
            </a:pPr>
            <a:r>
              <a:rPr lang="en-US" sz="1100" b="1">
                <a:solidFill>
                  <a:schemeClr val="tx1"/>
                </a:solidFill>
                <a:latin typeface="Trebuchet MS" panose="020B0603020202020204" pitchFamily="34" charset="0"/>
                <a:cs typeface="Arial" panose="020B0604020202020204" pitchFamily="34" charset="0"/>
              </a:rPr>
              <a:t>Campaign commissioning</a:t>
            </a:r>
          </a:p>
        </p:txBody>
      </p:sp>
      <p:sp>
        <p:nvSpPr>
          <p:cNvPr id="12" name="TextBox 11">
            <a:extLst>
              <a:ext uri="{FF2B5EF4-FFF2-40B4-BE49-F238E27FC236}">
                <a16:creationId xmlns:a16="http://schemas.microsoft.com/office/drawing/2014/main" id="{C56825E1-0F3B-425B-82C9-1B8E4D2521E9}"/>
              </a:ext>
            </a:extLst>
          </p:cNvPr>
          <p:cNvSpPr txBox="1"/>
          <p:nvPr/>
        </p:nvSpPr>
        <p:spPr>
          <a:xfrm>
            <a:off x="630000" y="2839178"/>
            <a:ext cx="1029029" cy="356616"/>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buFont typeface="Trebuchet MS" panose="020B0603020202020204" pitchFamily="34" charset="0"/>
              <a:buChar char="​"/>
            </a:pPr>
            <a:r>
              <a:rPr lang="en-US" sz="1100" b="1">
                <a:solidFill>
                  <a:schemeClr val="tx1"/>
                </a:solidFill>
                <a:latin typeface="Trebuchet MS" panose="020B0603020202020204" pitchFamily="34" charset="0"/>
                <a:cs typeface="Arial" panose="020B0604020202020204" pitchFamily="34" charset="0"/>
              </a:rPr>
              <a:t>Campaign prioritization</a:t>
            </a:r>
          </a:p>
        </p:txBody>
      </p:sp>
      <p:sp>
        <p:nvSpPr>
          <p:cNvPr id="13" name="TextBox 12">
            <a:extLst>
              <a:ext uri="{FF2B5EF4-FFF2-40B4-BE49-F238E27FC236}">
                <a16:creationId xmlns:a16="http://schemas.microsoft.com/office/drawing/2014/main" id="{7A15BDC7-AE18-4943-B31C-AD94F074E560}"/>
              </a:ext>
            </a:extLst>
          </p:cNvPr>
          <p:cNvSpPr txBox="1"/>
          <p:nvPr/>
        </p:nvSpPr>
        <p:spPr>
          <a:xfrm>
            <a:off x="630000" y="3324792"/>
            <a:ext cx="1029029" cy="392624"/>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buFont typeface="Trebuchet MS" panose="020B0603020202020204" pitchFamily="34" charset="0"/>
              <a:buChar char="​"/>
            </a:pPr>
            <a:r>
              <a:rPr lang="en-US" sz="1100" b="1">
                <a:solidFill>
                  <a:schemeClr val="tx1"/>
                </a:solidFill>
                <a:latin typeface="Trebuchet MS" panose="020B0603020202020204" pitchFamily="34" charset="0"/>
                <a:cs typeface="Arial" panose="020B0604020202020204" pitchFamily="34" charset="0"/>
              </a:rPr>
              <a:t>Campaign strategy design</a:t>
            </a:r>
          </a:p>
        </p:txBody>
      </p:sp>
      <p:sp>
        <p:nvSpPr>
          <p:cNvPr id="14" name="TextBox 13">
            <a:extLst>
              <a:ext uri="{FF2B5EF4-FFF2-40B4-BE49-F238E27FC236}">
                <a16:creationId xmlns:a16="http://schemas.microsoft.com/office/drawing/2014/main" id="{11375444-67DD-4C57-B3B8-1312A17DA2B2}"/>
              </a:ext>
            </a:extLst>
          </p:cNvPr>
          <p:cNvSpPr txBox="1"/>
          <p:nvPr/>
        </p:nvSpPr>
        <p:spPr>
          <a:xfrm>
            <a:off x="630000" y="3810406"/>
            <a:ext cx="929899" cy="392624"/>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buFont typeface="Trebuchet MS" panose="020B0603020202020204" pitchFamily="34" charset="0"/>
              <a:buChar char="​"/>
            </a:pPr>
            <a:r>
              <a:rPr lang="en-US" sz="1100" b="1">
                <a:solidFill>
                  <a:schemeClr val="tx1"/>
                </a:solidFill>
                <a:latin typeface="Trebuchet MS" panose="020B0603020202020204" pitchFamily="34" charset="0"/>
                <a:cs typeface="Arial" panose="020B0604020202020204" pitchFamily="34" charset="0"/>
              </a:rPr>
              <a:t>Creative design</a:t>
            </a:r>
          </a:p>
        </p:txBody>
      </p:sp>
      <p:cxnSp>
        <p:nvCxnSpPr>
          <p:cNvPr id="15" name="Straight Connector 14">
            <a:extLst>
              <a:ext uri="{FF2B5EF4-FFF2-40B4-BE49-F238E27FC236}">
                <a16:creationId xmlns:a16="http://schemas.microsoft.com/office/drawing/2014/main" id="{738EA421-4A9D-44CA-8DF9-B5973B22D2D3}"/>
              </a:ext>
            </a:extLst>
          </p:cNvPr>
          <p:cNvCxnSpPr>
            <a:cxnSpLocks/>
          </p:cNvCxnSpPr>
          <p:nvPr/>
        </p:nvCxnSpPr>
        <p:spPr>
          <a:xfrm flipV="1">
            <a:off x="630000" y="3717416"/>
            <a:ext cx="10897002" cy="46495"/>
          </a:xfrm>
          <a:prstGeom prst="line">
            <a:avLst/>
          </a:prstGeom>
          <a:ln w="3175" cap="rnd">
            <a:solidFill>
              <a:srgbClr val="C8C8C8">
                <a:lumMod val="100000"/>
              </a:srgbClr>
            </a:solidFill>
            <a:prstDash val="solid"/>
            <a:round/>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5A07D7AF-C537-4F76-8510-D873334D05C7}"/>
              </a:ext>
            </a:extLst>
          </p:cNvPr>
          <p:cNvSpPr txBox="1"/>
          <p:nvPr/>
        </p:nvSpPr>
        <p:spPr>
          <a:xfrm>
            <a:off x="630000" y="4296020"/>
            <a:ext cx="929899" cy="356616"/>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buFont typeface="Trebuchet MS" panose="020B0603020202020204" pitchFamily="34" charset="0"/>
              <a:buChar char="​"/>
            </a:pPr>
            <a:r>
              <a:rPr lang="en-US" sz="1100" b="1">
                <a:solidFill>
                  <a:schemeClr val="tx1"/>
                </a:solidFill>
                <a:latin typeface="Trebuchet MS" panose="020B0603020202020204" pitchFamily="34" charset="0"/>
                <a:cs typeface="Arial" panose="020B0604020202020204" pitchFamily="34" charset="0"/>
              </a:rPr>
              <a:t>Campaign orchestration</a:t>
            </a:r>
          </a:p>
        </p:txBody>
      </p:sp>
      <p:sp>
        <p:nvSpPr>
          <p:cNvPr id="17" name="TextBox 16">
            <a:extLst>
              <a:ext uri="{FF2B5EF4-FFF2-40B4-BE49-F238E27FC236}">
                <a16:creationId xmlns:a16="http://schemas.microsoft.com/office/drawing/2014/main" id="{427DF38D-B91B-47DF-B299-3FF2AFA13370}"/>
              </a:ext>
            </a:extLst>
          </p:cNvPr>
          <p:cNvSpPr txBox="1"/>
          <p:nvPr/>
        </p:nvSpPr>
        <p:spPr>
          <a:xfrm>
            <a:off x="630000" y="4781634"/>
            <a:ext cx="929899" cy="356616"/>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buFont typeface="Trebuchet MS" panose="020B0603020202020204" pitchFamily="34" charset="0"/>
              <a:buChar char="​"/>
            </a:pPr>
            <a:r>
              <a:rPr lang="en-US" sz="1100" b="1">
                <a:solidFill>
                  <a:schemeClr val="tx1"/>
                </a:solidFill>
                <a:latin typeface="Trebuchet MS" panose="020B0603020202020204" pitchFamily="34" charset="0"/>
                <a:cs typeface="Arial" panose="020B0604020202020204" pitchFamily="34" charset="0"/>
              </a:rPr>
              <a:t>Tracking and measurement</a:t>
            </a:r>
          </a:p>
        </p:txBody>
      </p:sp>
      <p:cxnSp>
        <p:nvCxnSpPr>
          <p:cNvPr id="18" name="Straight Connector 17">
            <a:extLst>
              <a:ext uri="{FF2B5EF4-FFF2-40B4-BE49-F238E27FC236}">
                <a16:creationId xmlns:a16="http://schemas.microsoft.com/office/drawing/2014/main" id="{E80C3A43-A666-40DF-B476-45E2AAEB763C}"/>
              </a:ext>
            </a:extLst>
          </p:cNvPr>
          <p:cNvCxnSpPr/>
          <p:nvPr/>
        </p:nvCxnSpPr>
        <p:spPr>
          <a:xfrm>
            <a:off x="630000" y="4735139"/>
            <a:ext cx="10897002" cy="0"/>
          </a:xfrm>
          <a:prstGeom prst="line">
            <a:avLst/>
          </a:prstGeom>
          <a:ln w="3175" cap="rnd">
            <a:solidFill>
              <a:srgbClr val="C8C8C8">
                <a:lumMod val="100000"/>
              </a:srgbClr>
            </a:solidFill>
            <a:prstDash val="solid"/>
            <a:round/>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AEE930B8-A7CE-4ABA-B2E4-1FB9E2BE21BC}"/>
              </a:ext>
            </a:extLst>
          </p:cNvPr>
          <p:cNvSpPr txBox="1"/>
          <p:nvPr/>
        </p:nvSpPr>
        <p:spPr>
          <a:xfrm>
            <a:off x="630000" y="5267246"/>
            <a:ext cx="929899" cy="356616"/>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buFont typeface="Trebuchet MS" panose="020B0603020202020204" pitchFamily="34" charset="0"/>
              <a:buChar char="​"/>
            </a:pPr>
            <a:r>
              <a:rPr lang="en-US" sz="1100" b="1">
                <a:solidFill>
                  <a:schemeClr val="tx1"/>
                </a:solidFill>
                <a:latin typeface="Trebuchet MS" panose="020B0603020202020204" pitchFamily="34" charset="0"/>
                <a:cs typeface="Arial" panose="020B0604020202020204" pitchFamily="34" charset="0"/>
              </a:rPr>
              <a:t>System maintenance</a:t>
            </a:r>
          </a:p>
        </p:txBody>
      </p:sp>
      <p:cxnSp>
        <p:nvCxnSpPr>
          <p:cNvPr id="20" name="Straight Connector 19">
            <a:extLst>
              <a:ext uri="{FF2B5EF4-FFF2-40B4-BE49-F238E27FC236}">
                <a16:creationId xmlns:a16="http://schemas.microsoft.com/office/drawing/2014/main" id="{EBDA353D-6148-48F4-98FB-24859F70F829}"/>
              </a:ext>
            </a:extLst>
          </p:cNvPr>
          <p:cNvCxnSpPr/>
          <p:nvPr/>
        </p:nvCxnSpPr>
        <p:spPr>
          <a:xfrm>
            <a:off x="630000" y="5220753"/>
            <a:ext cx="10897002" cy="0"/>
          </a:xfrm>
          <a:prstGeom prst="line">
            <a:avLst/>
          </a:prstGeom>
          <a:ln w="3175" cap="rnd">
            <a:solidFill>
              <a:srgbClr val="C8C8C8">
                <a:lumMod val="100000"/>
              </a:srgbClr>
            </a:solidFill>
            <a:prstDash val="solid"/>
            <a:round/>
          </a:ln>
        </p:spPr>
        <p:style>
          <a:lnRef idx="1">
            <a:schemeClr val="accent1"/>
          </a:lnRef>
          <a:fillRef idx="0">
            <a:schemeClr val="accent1"/>
          </a:fillRef>
          <a:effectRef idx="0">
            <a:schemeClr val="accent1"/>
          </a:effectRef>
          <a:fontRef idx="minor">
            <a:schemeClr val="tx1"/>
          </a:fontRef>
        </p:style>
      </p:cxnSp>
      <p:cxnSp>
        <p:nvCxnSpPr>
          <p:cNvPr id="21" name="Straight Arrow Connector 20">
            <a:extLst>
              <a:ext uri="{FF2B5EF4-FFF2-40B4-BE49-F238E27FC236}">
                <a16:creationId xmlns:a16="http://schemas.microsoft.com/office/drawing/2014/main" id="{8529505F-37DD-4E11-90D4-340E3C1AF4C7}"/>
              </a:ext>
            </a:extLst>
          </p:cNvPr>
          <p:cNvCxnSpPr>
            <a:cxnSpLocks/>
          </p:cNvCxnSpPr>
          <p:nvPr/>
        </p:nvCxnSpPr>
        <p:spPr>
          <a:xfrm>
            <a:off x="2159833" y="1642678"/>
            <a:ext cx="9443069" cy="9740"/>
          </a:xfrm>
          <a:prstGeom prst="straightConnector1">
            <a:avLst/>
          </a:prstGeom>
          <a:ln w="12700" cap="rnd">
            <a:solidFill>
              <a:schemeClr val="tx2"/>
            </a:solidFill>
            <a:prstDash val="solid"/>
            <a:round/>
            <a:headEnd type="triangle"/>
            <a:tailEnd type="triangle"/>
          </a:ln>
        </p:spPr>
        <p:style>
          <a:lnRef idx="1">
            <a:schemeClr val="accent1"/>
          </a:lnRef>
          <a:fillRef idx="0">
            <a:schemeClr val="accent1"/>
          </a:fillRef>
          <a:effectRef idx="0">
            <a:schemeClr val="accent1"/>
          </a:effectRef>
          <a:fontRef idx="minor">
            <a:schemeClr val="tx1"/>
          </a:fontRef>
        </p:style>
      </p:cxnSp>
      <p:pic>
        <p:nvPicPr>
          <p:cNvPr id="22" name="Picture 2" descr="Capital One logo and symbol, meaning, history, PNG">
            <a:extLst>
              <a:ext uri="{FF2B5EF4-FFF2-40B4-BE49-F238E27FC236}">
                <a16:creationId xmlns:a16="http://schemas.microsoft.com/office/drawing/2014/main" id="{3A27CCE2-8907-47A6-85CA-E2551ECADDF2}"/>
              </a:ext>
            </a:extLst>
          </p:cNvPr>
          <p:cNvPicPr>
            <a:picLocks noChangeAspect="1" noChangeArrowheads="1"/>
          </p:cNvPicPr>
          <p:nvPr/>
        </p:nvPicPr>
        <p:blipFill>
          <a:blip r:embed="rId8" cstate="print">
            <a:extLst>
              <a:ext uri="{28A0092B-C50C-407E-A947-70E740481C1C}">
                <a14:useLocalDpi xmlns:a14="http://schemas.microsoft.com/office/drawing/2010/main"/>
              </a:ext>
            </a:extLst>
          </a:blip>
          <a:srcRect/>
          <a:stretch>
            <a:fillRect/>
          </a:stretch>
        </p:blipFill>
        <p:spPr bwMode="auto">
          <a:xfrm>
            <a:off x="2611799" y="1768203"/>
            <a:ext cx="928654" cy="410840"/>
          </a:xfrm>
          <a:prstGeom prst="rect">
            <a:avLst/>
          </a:prstGeom>
          <a:noFill/>
          <a:extLst>
            <a:ext uri="{909E8E84-426E-40DD-AFC4-6F175D3DCCD1}">
              <a14:hiddenFill xmlns:a14="http://schemas.microsoft.com/office/drawing/2010/main">
                <a:solidFill>
                  <a:srgbClr val="FFFFFF"/>
                </a:solidFill>
              </a14:hiddenFill>
            </a:ext>
          </a:extLst>
        </p:spPr>
      </p:pic>
      <p:pic>
        <p:nvPicPr>
          <p:cNvPr id="6146" name="Picture 2" descr="Deutsche Bank Logo PNG Transparent &amp; SVG Vector - Freebie Supply">
            <a:extLst>
              <a:ext uri="{FF2B5EF4-FFF2-40B4-BE49-F238E27FC236}">
                <a16:creationId xmlns:a16="http://schemas.microsoft.com/office/drawing/2014/main" id="{2D87E1E0-143C-4BAC-A072-309EA8764F30}"/>
              </a:ext>
            </a:extLst>
          </p:cNvPr>
          <p:cNvPicPr>
            <a:picLocks noChangeAspect="1" noChangeArrowheads="1"/>
          </p:cNvPicPr>
          <p:nvPr/>
        </p:nvPicPr>
        <p:blipFill rotWithShape="1">
          <a:blip r:embed="rId9" cstate="print">
            <a:extLst>
              <a:ext uri="{28A0092B-C50C-407E-A947-70E740481C1C}">
                <a14:useLocalDpi xmlns:a14="http://schemas.microsoft.com/office/drawing/2010/main"/>
              </a:ext>
            </a:extLst>
          </a:blip>
          <a:srcRect/>
          <a:stretch/>
        </p:blipFill>
        <p:spPr bwMode="auto">
          <a:xfrm>
            <a:off x="4838435" y="1768203"/>
            <a:ext cx="1371600" cy="335828"/>
          </a:xfrm>
          <a:prstGeom prst="rect">
            <a:avLst/>
          </a:prstGeom>
          <a:noFill/>
          <a:extLst>
            <a:ext uri="{909E8E84-426E-40DD-AFC4-6F175D3DCCD1}">
              <a14:hiddenFill xmlns:a14="http://schemas.microsoft.com/office/drawing/2010/main">
                <a:solidFill>
                  <a:srgbClr val="FFFFFF"/>
                </a:solidFill>
              </a14:hiddenFill>
            </a:ext>
          </a:extLst>
        </p:spPr>
      </p:pic>
      <p:grpSp>
        <p:nvGrpSpPr>
          <p:cNvPr id="27" name="Group 26">
            <a:extLst>
              <a:ext uri="{FF2B5EF4-FFF2-40B4-BE49-F238E27FC236}">
                <a16:creationId xmlns:a16="http://schemas.microsoft.com/office/drawing/2014/main" id="{EA7D3892-B592-4B0F-A62B-EE6C6BFA08EE}"/>
              </a:ext>
            </a:extLst>
          </p:cNvPr>
          <p:cNvGrpSpPr/>
          <p:nvPr/>
        </p:nvGrpSpPr>
        <p:grpSpPr>
          <a:xfrm>
            <a:off x="8128118" y="1963988"/>
            <a:ext cx="1878901" cy="274068"/>
            <a:chOff x="7151136" y="1706795"/>
            <a:chExt cx="1878901" cy="274068"/>
          </a:xfrm>
        </p:grpSpPr>
        <p:pic>
          <p:nvPicPr>
            <p:cNvPr id="28" name="Picture 2" descr="See the source image">
              <a:extLst>
                <a:ext uri="{FF2B5EF4-FFF2-40B4-BE49-F238E27FC236}">
                  <a16:creationId xmlns:a16="http://schemas.microsoft.com/office/drawing/2014/main" id="{5DA14EE5-3411-4F2C-977D-500933A2F493}"/>
                </a:ext>
              </a:extLst>
            </p:cNvPr>
            <p:cNvPicPr>
              <a:picLocks noChangeAspect="1" noChangeArrowheads="1"/>
            </p:cNvPicPr>
            <p:nvPr/>
          </p:nvPicPr>
          <p:blipFill rotWithShape="1">
            <a:blip r:embed="rId10" cstate="print">
              <a:extLst>
                <a:ext uri="{28A0092B-C50C-407E-A947-70E740481C1C}">
                  <a14:useLocalDpi xmlns:a14="http://schemas.microsoft.com/office/drawing/2010/main"/>
                </a:ext>
              </a:extLst>
            </a:blip>
            <a:srcRect t="34166" b="34489"/>
            <a:stretch/>
          </p:blipFill>
          <p:spPr bwMode="auto">
            <a:xfrm>
              <a:off x="7151136" y="1752389"/>
              <a:ext cx="1037273" cy="182880"/>
            </a:xfrm>
            <a:prstGeom prst="rect">
              <a:avLst/>
            </a:prstGeom>
            <a:noFill/>
            <a:extLst>
              <a:ext uri="{909E8E84-426E-40DD-AFC4-6F175D3DCCD1}">
                <a14:hiddenFill xmlns:a14="http://schemas.microsoft.com/office/drawing/2010/main">
                  <a:solidFill>
                    <a:srgbClr val="FFFFFF"/>
                  </a:solidFill>
                </a14:hiddenFill>
              </a:ext>
            </a:extLst>
          </p:spPr>
        </p:pic>
        <p:pic>
          <p:nvPicPr>
            <p:cNvPr id="29" name="Picture 4" descr="See the source image">
              <a:extLst>
                <a:ext uri="{FF2B5EF4-FFF2-40B4-BE49-F238E27FC236}">
                  <a16:creationId xmlns:a16="http://schemas.microsoft.com/office/drawing/2014/main" id="{F3395AC6-7693-441B-BA6E-148CC2E2EFD1}"/>
                </a:ext>
              </a:extLst>
            </p:cNvPr>
            <p:cNvPicPr>
              <a:picLocks noChangeAspect="1" noChangeArrowheads="1"/>
            </p:cNvPicPr>
            <p:nvPr/>
          </p:nvPicPr>
          <p:blipFill>
            <a:blip r:embed="rId11" cstate="print">
              <a:extLst>
                <a:ext uri="{28A0092B-C50C-407E-A947-70E740481C1C}">
                  <a14:useLocalDpi xmlns:a14="http://schemas.microsoft.com/office/drawing/2010/main"/>
                </a:ext>
              </a:extLst>
            </a:blip>
            <a:srcRect/>
            <a:stretch>
              <a:fillRect/>
            </a:stretch>
          </p:blipFill>
          <p:spPr bwMode="auto">
            <a:xfrm>
              <a:off x="8271535" y="1706795"/>
              <a:ext cx="758502" cy="274068"/>
            </a:xfrm>
            <a:prstGeom prst="rect">
              <a:avLst/>
            </a:prstGeom>
            <a:noFill/>
            <a:extLst>
              <a:ext uri="{909E8E84-426E-40DD-AFC4-6F175D3DCCD1}">
                <a14:hiddenFill xmlns:a14="http://schemas.microsoft.com/office/drawing/2010/main">
                  <a:solidFill>
                    <a:srgbClr val="FFFFFF"/>
                  </a:solidFill>
                </a14:hiddenFill>
              </a:ext>
            </a:extLst>
          </p:spPr>
        </p:pic>
      </p:grpSp>
      <p:cxnSp>
        <p:nvCxnSpPr>
          <p:cNvPr id="30" name="Straight Connector 29">
            <a:extLst>
              <a:ext uri="{FF2B5EF4-FFF2-40B4-BE49-F238E27FC236}">
                <a16:creationId xmlns:a16="http://schemas.microsoft.com/office/drawing/2014/main" id="{FE62353B-A4E7-40B6-B443-567FD5976CA3}"/>
              </a:ext>
            </a:extLst>
          </p:cNvPr>
          <p:cNvCxnSpPr>
            <a:cxnSpLocks/>
          </p:cNvCxnSpPr>
          <p:nvPr/>
        </p:nvCxnSpPr>
        <p:spPr>
          <a:xfrm>
            <a:off x="4545571" y="1696468"/>
            <a:ext cx="0" cy="3888744"/>
          </a:xfrm>
          <a:prstGeom prst="line">
            <a:avLst/>
          </a:prstGeom>
          <a:ln w="9525" cap="rnd">
            <a:solidFill>
              <a:srgbClr val="C8C8C8">
                <a:lumMod val="100000"/>
              </a:srgbClr>
            </a:solidFill>
            <a:prstDash val="solid"/>
            <a:round/>
          </a:ln>
        </p:spPr>
        <p:style>
          <a:lnRef idx="1">
            <a:schemeClr val="accent1"/>
          </a:lnRef>
          <a:fillRef idx="0">
            <a:schemeClr val="accent1"/>
          </a:fillRef>
          <a:effectRef idx="0">
            <a:schemeClr val="accent1"/>
          </a:effectRef>
          <a:fontRef idx="minor">
            <a:schemeClr val="tx1"/>
          </a:fontRef>
        </p:style>
      </p:cxnSp>
      <p:sp>
        <p:nvSpPr>
          <p:cNvPr id="31" name="AutoShape 15">
            <a:extLst>
              <a:ext uri="{FF2B5EF4-FFF2-40B4-BE49-F238E27FC236}">
                <a16:creationId xmlns:a16="http://schemas.microsoft.com/office/drawing/2014/main" id="{5C3A1FB5-5F62-4D4A-B634-5884A27E6015}"/>
              </a:ext>
            </a:extLst>
          </p:cNvPr>
          <p:cNvSpPr>
            <a:spLocks noChangeAspect="1" noChangeArrowheads="1" noTextEdit="1"/>
          </p:cNvSpPr>
          <p:nvPr/>
        </p:nvSpPr>
        <p:spPr bwMode="auto">
          <a:xfrm>
            <a:off x="2611799" y="2205585"/>
            <a:ext cx="517525" cy="143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lgn="ctr"/>
            <a:endParaRPr lang="en-US" sz="2000"/>
          </a:p>
        </p:txBody>
      </p:sp>
      <p:sp>
        <p:nvSpPr>
          <p:cNvPr id="32" name="AutoShape 19">
            <a:extLst>
              <a:ext uri="{FF2B5EF4-FFF2-40B4-BE49-F238E27FC236}">
                <a16:creationId xmlns:a16="http://schemas.microsoft.com/office/drawing/2014/main" id="{1716A763-7700-4D61-A70F-20A7C2A14431}"/>
              </a:ext>
            </a:extLst>
          </p:cNvPr>
          <p:cNvSpPr>
            <a:spLocks noChangeAspect="1" noChangeArrowheads="1" noTextEdit="1"/>
          </p:cNvSpPr>
          <p:nvPr/>
        </p:nvSpPr>
        <p:spPr bwMode="auto">
          <a:xfrm>
            <a:off x="3209559" y="2205585"/>
            <a:ext cx="517525" cy="143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lgn="ctr"/>
            <a:endParaRPr lang="en-US" sz="2000"/>
          </a:p>
        </p:txBody>
      </p:sp>
      <p:sp>
        <p:nvSpPr>
          <p:cNvPr id="33" name="AutoShape 23">
            <a:extLst>
              <a:ext uri="{FF2B5EF4-FFF2-40B4-BE49-F238E27FC236}">
                <a16:creationId xmlns:a16="http://schemas.microsoft.com/office/drawing/2014/main" id="{175B6071-776B-4D4A-B129-7880147D9B66}"/>
              </a:ext>
            </a:extLst>
          </p:cNvPr>
          <p:cNvSpPr>
            <a:spLocks noChangeAspect="1" noChangeArrowheads="1" noTextEdit="1"/>
          </p:cNvSpPr>
          <p:nvPr/>
        </p:nvSpPr>
        <p:spPr bwMode="auto">
          <a:xfrm>
            <a:off x="3757246" y="2205585"/>
            <a:ext cx="517525" cy="143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lgn="ctr"/>
            <a:endParaRPr lang="en-US" sz="2000"/>
          </a:p>
        </p:txBody>
      </p:sp>
      <p:sp>
        <p:nvSpPr>
          <p:cNvPr id="34" name="TextBox 33">
            <a:extLst>
              <a:ext uri="{FF2B5EF4-FFF2-40B4-BE49-F238E27FC236}">
                <a16:creationId xmlns:a16="http://schemas.microsoft.com/office/drawing/2014/main" id="{686EA513-2EF2-4E87-9759-AA2376ECF38B}"/>
              </a:ext>
            </a:extLst>
          </p:cNvPr>
          <p:cNvSpPr txBox="1"/>
          <p:nvPr/>
        </p:nvSpPr>
        <p:spPr>
          <a:xfrm>
            <a:off x="2406588" y="5699397"/>
            <a:ext cx="4730821" cy="577290"/>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324000" lvl="1" indent="-216000">
              <a:buClr>
                <a:schemeClr val="tx2"/>
              </a:buClr>
              <a:buFont typeface="Trebuchet MS" panose="020B0603020202020204" pitchFamily="34" charset="0"/>
              <a:buChar char="•"/>
            </a:pPr>
            <a:r>
              <a:rPr lang="en-US" sz="1050">
                <a:solidFill>
                  <a:schemeClr val="tx1"/>
                </a:solidFill>
                <a:latin typeface="Trebuchet MS" panose="020B0603020202020204" pitchFamily="34" charset="0"/>
                <a:cs typeface="Arial" panose="020B0604020202020204" pitchFamily="34" charset="0"/>
              </a:rPr>
              <a:t>BUs in charge of campaign strategy to meet objectives</a:t>
            </a:r>
          </a:p>
          <a:p>
            <a:pPr marL="324000" lvl="1" indent="-216000">
              <a:buClr>
                <a:schemeClr val="tx2"/>
              </a:buClr>
              <a:buFont typeface="Trebuchet MS" panose="020B0603020202020204" pitchFamily="34" charset="0"/>
              <a:buChar char="•"/>
            </a:pPr>
            <a:r>
              <a:rPr lang="en-US" sz="1050">
                <a:solidFill>
                  <a:schemeClr val="tx1"/>
                </a:solidFill>
                <a:latin typeface="Trebuchet MS" panose="020B0603020202020204" pitchFamily="34" charset="0"/>
                <a:cs typeface="Arial" panose="020B0604020202020204" pitchFamily="34" charset="0"/>
              </a:rPr>
              <a:t>Requires high degree of maturity dispersed across BUs (e.g., designing propensity models within each BU team)</a:t>
            </a:r>
          </a:p>
          <a:p>
            <a:pPr marL="324000" lvl="1" indent="-216000">
              <a:buClr>
                <a:schemeClr val="tx2"/>
              </a:buClr>
              <a:buFont typeface="Trebuchet MS" panose="020B0603020202020204" pitchFamily="34" charset="0"/>
              <a:buChar char="•"/>
            </a:pPr>
            <a:r>
              <a:rPr lang="en-US" sz="1050">
                <a:solidFill>
                  <a:schemeClr val="tx1"/>
                </a:solidFill>
                <a:latin typeface="Trebuchet MS" panose="020B0603020202020204" pitchFamily="34" charset="0"/>
                <a:cs typeface="Arial" panose="020B0604020202020204" pitchFamily="34" charset="0"/>
              </a:rPr>
              <a:t>Allows specialization in products and services (e.g., credit vs insurance)</a:t>
            </a:r>
          </a:p>
        </p:txBody>
      </p:sp>
      <p:sp>
        <p:nvSpPr>
          <p:cNvPr id="35" name="TextBox 34">
            <a:extLst>
              <a:ext uri="{FF2B5EF4-FFF2-40B4-BE49-F238E27FC236}">
                <a16:creationId xmlns:a16="http://schemas.microsoft.com/office/drawing/2014/main" id="{EE0BFD5B-CC5F-4EEB-AB9F-2701DE204E0E}"/>
              </a:ext>
            </a:extLst>
          </p:cNvPr>
          <p:cNvSpPr txBox="1"/>
          <p:nvPr/>
        </p:nvSpPr>
        <p:spPr>
          <a:xfrm>
            <a:off x="7310883" y="5784764"/>
            <a:ext cx="4194447" cy="836396"/>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324000" lvl="1" indent="-216000">
              <a:buClr>
                <a:schemeClr val="tx2"/>
              </a:buClr>
              <a:buFont typeface="Trebuchet MS" panose="020B0603020202020204" pitchFamily="34" charset="0"/>
              <a:buChar char="•"/>
            </a:pPr>
            <a:r>
              <a:rPr lang="en-US" sz="1050">
                <a:solidFill>
                  <a:schemeClr val="tx1"/>
                </a:solidFill>
                <a:latin typeface="Trebuchet MS" panose="020B0603020202020204" pitchFamily="34" charset="0"/>
                <a:cs typeface="Arial" panose="020B0604020202020204" pitchFamily="34" charset="0"/>
              </a:rPr>
              <a:t>Allows pooling of capabilities and consistency</a:t>
            </a:r>
          </a:p>
          <a:p>
            <a:pPr marL="324000" lvl="1" indent="-216000">
              <a:buClr>
                <a:schemeClr val="tx2"/>
              </a:buClr>
              <a:buFont typeface="Trebuchet MS" panose="020B0603020202020204" pitchFamily="34" charset="0"/>
              <a:buChar char="•"/>
            </a:pPr>
            <a:r>
              <a:rPr lang="en-US" sz="1050">
                <a:solidFill>
                  <a:schemeClr val="tx1"/>
                </a:solidFill>
                <a:latin typeface="Trebuchet MS" panose="020B0603020202020204" pitchFamily="34" charset="0"/>
                <a:cs typeface="Arial" panose="020B0604020202020204" pitchFamily="34" charset="0"/>
              </a:rPr>
              <a:t>Simpler management of campaign portfolio (e.g., interactions between campaign A &amp; B)</a:t>
            </a:r>
          </a:p>
          <a:p>
            <a:pPr marL="324000" lvl="1" indent="-216000">
              <a:buClr>
                <a:schemeClr val="tx2"/>
              </a:buClr>
              <a:buFont typeface="Trebuchet MS" panose="020B0603020202020204" pitchFamily="34" charset="0"/>
              <a:buChar char="•"/>
            </a:pPr>
            <a:r>
              <a:rPr lang="en-US" sz="1050">
                <a:solidFill>
                  <a:schemeClr val="tx1"/>
                </a:solidFill>
                <a:latin typeface="Trebuchet MS" panose="020B0603020202020204" pitchFamily="34" charset="0"/>
                <a:cs typeface="Arial" panose="020B0604020202020204" pitchFamily="34" charset="0"/>
              </a:rPr>
              <a:t>Easier cross-pollination of learnings for similar campaigns</a:t>
            </a:r>
          </a:p>
          <a:p>
            <a:pPr marL="324000" lvl="1" indent="-216000">
              <a:buClr>
                <a:schemeClr val="tx2"/>
              </a:buClr>
              <a:buFont typeface="Trebuchet MS" panose="020B0603020202020204" pitchFamily="34" charset="0"/>
              <a:buChar char="•"/>
            </a:pPr>
            <a:r>
              <a:rPr lang="en-US" sz="1050">
                <a:solidFill>
                  <a:schemeClr val="tx1"/>
                </a:solidFill>
                <a:latin typeface="Trebuchet MS" panose="020B0603020202020204" pitchFamily="34" charset="0"/>
                <a:cs typeface="Arial" panose="020B0604020202020204" pitchFamily="34" charset="0"/>
              </a:rPr>
              <a:t>Allows easier reorientation to shifting priorities</a:t>
            </a:r>
          </a:p>
        </p:txBody>
      </p:sp>
      <p:sp>
        <p:nvSpPr>
          <p:cNvPr id="36" name="TextBox 35">
            <a:extLst>
              <a:ext uri="{FF2B5EF4-FFF2-40B4-BE49-F238E27FC236}">
                <a16:creationId xmlns:a16="http://schemas.microsoft.com/office/drawing/2014/main" id="{A8BEE2FC-BEB0-46B9-B993-2C83A673B692}"/>
              </a:ext>
            </a:extLst>
          </p:cNvPr>
          <p:cNvSpPr txBox="1"/>
          <p:nvPr/>
        </p:nvSpPr>
        <p:spPr>
          <a:xfrm>
            <a:off x="2207373" y="1419152"/>
            <a:ext cx="1676797" cy="213970"/>
          </a:xfrm>
          <a:prstGeom prst="rect">
            <a:avLst/>
          </a:prstGeom>
          <a:noFill/>
          <a:ln w="9525" cap="flat" cmpd="sng" algn="ctr">
            <a:noFill/>
            <a:prstDash val="solid"/>
            <a:round/>
            <a:headEnd type="none" w="med" len="med"/>
            <a:tailEnd type="none" w="med" len="med"/>
          </a:ln>
          <a:extLst>
            <a:ext uri="{909E8E84-426E-40DD-AFC4-6F175D3DCCD1}">
              <a14:hiddenFill xmlns:a14="http://schemas.microsoft.com/office/drawing/2010/main">
                <a:solidFill>
                  <a:schemeClr val="bg1"/>
                </a:solidFill>
              </a14:hiddenFill>
            </a:ext>
          </a:extLst>
        </p:spPr>
        <p:txBody>
          <a:bodyPr wrap="square" lIns="0" tIns="0" rIns="0" bIns="0" rtlCol="0" anchor="ctr">
            <a:noAutofit/>
          </a:bodyPr>
          <a:lstStyle>
            <a:defPPr>
              <a:defRPr lang="en-US"/>
            </a:defPPr>
            <a:lvl1pPr algn="ctr">
              <a:lnSpc>
                <a:spcPct val="90000"/>
              </a:lnSpc>
              <a:spcAft>
                <a:spcPts val="600"/>
              </a:spcAft>
              <a:defRPr sz="1400" b="1">
                <a:solidFill>
                  <a:schemeClr val="tx2"/>
                </a:solidFill>
              </a:defRPr>
            </a:lvl1pPr>
          </a:lstStyle>
          <a:p>
            <a:pPr>
              <a:lnSpc>
                <a:spcPct val="100000"/>
              </a:lnSpc>
              <a:spcAft>
                <a:spcPts val="0"/>
              </a:spcAft>
              <a:buFont typeface="Trebuchet MS" panose="020B0603020202020204" pitchFamily="34" charset="0"/>
              <a:buChar char="​"/>
            </a:pPr>
            <a:r>
              <a:rPr lang="en-US" sz="1000">
                <a:solidFill>
                  <a:srgbClr val="295E7E"/>
                </a:solidFill>
                <a:latin typeface="Trebuchet MS" panose="020B0603020202020204" pitchFamily="34" charset="0"/>
                <a:cs typeface="Arial" panose="020B0604020202020204" pitchFamily="34" charset="0"/>
              </a:rPr>
              <a:t>Highly Decentralized</a:t>
            </a:r>
          </a:p>
        </p:txBody>
      </p:sp>
      <p:sp>
        <p:nvSpPr>
          <p:cNvPr id="37" name="TextBox 36">
            <a:extLst>
              <a:ext uri="{FF2B5EF4-FFF2-40B4-BE49-F238E27FC236}">
                <a16:creationId xmlns:a16="http://schemas.microsoft.com/office/drawing/2014/main" id="{96406F87-1DE3-45D9-ADA8-89FCF5DF442F}"/>
              </a:ext>
            </a:extLst>
          </p:cNvPr>
          <p:cNvSpPr txBox="1"/>
          <p:nvPr/>
        </p:nvSpPr>
        <p:spPr>
          <a:xfrm>
            <a:off x="7310883" y="1419152"/>
            <a:ext cx="1863108" cy="213970"/>
          </a:xfrm>
          <a:prstGeom prst="rect">
            <a:avLst/>
          </a:prstGeom>
          <a:noFill/>
          <a:ln w="9525" cap="flat" cmpd="sng" algn="ctr">
            <a:noFill/>
            <a:prstDash val="solid"/>
            <a:round/>
            <a:headEnd type="none" w="med" len="med"/>
            <a:tailEnd type="none" w="med" len="med"/>
          </a:ln>
          <a:extLst>
            <a:ext uri="{909E8E84-426E-40DD-AFC4-6F175D3DCCD1}">
              <a14:hiddenFill xmlns:a14="http://schemas.microsoft.com/office/drawing/2010/main">
                <a:solidFill>
                  <a:schemeClr val="bg1"/>
                </a:solidFill>
              </a14:hiddenFill>
            </a:ext>
          </a:extLst>
        </p:spPr>
        <p:txBody>
          <a:bodyPr wrap="square" lIns="0" tIns="0" rIns="0" bIns="0" rtlCol="0" anchor="ctr">
            <a:noAutofit/>
          </a:bodyPr>
          <a:lstStyle>
            <a:defPPr>
              <a:defRPr lang="en-US"/>
            </a:defPPr>
            <a:lvl1pPr algn="ctr">
              <a:lnSpc>
                <a:spcPct val="90000"/>
              </a:lnSpc>
              <a:spcAft>
                <a:spcPts val="600"/>
              </a:spcAft>
              <a:defRPr sz="1400" b="1">
                <a:solidFill>
                  <a:schemeClr val="tx2"/>
                </a:solidFill>
              </a:defRPr>
            </a:lvl1pPr>
          </a:lstStyle>
          <a:p>
            <a:pPr>
              <a:lnSpc>
                <a:spcPct val="100000"/>
              </a:lnSpc>
              <a:spcAft>
                <a:spcPts val="0"/>
              </a:spcAft>
              <a:buFont typeface="Trebuchet MS" panose="020B0603020202020204" pitchFamily="34" charset="0"/>
              <a:buChar char="​"/>
            </a:pPr>
            <a:r>
              <a:rPr lang="en-US" sz="1000">
                <a:solidFill>
                  <a:srgbClr val="295E7E"/>
                </a:solidFill>
                <a:latin typeface="Trebuchet MS" panose="020B0603020202020204" pitchFamily="34" charset="0"/>
                <a:cs typeface="Arial" panose="020B0604020202020204" pitchFamily="34" charset="0"/>
              </a:rPr>
              <a:t>Highly Centralized</a:t>
            </a:r>
          </a:p>
        </p:txBody>
      </p:sp>
      <p:sp>
        <p:nvSpPr>
          <p:cNvPr id="38" name="TextBox 37">
            <a:extLst>
              <a:ext uri="{FF2B5EF4-FFF2-40B4-BE49-F238E27FC236}">
                <a16:creationId xmlns:a16="http://schemas.microsoft.com/office/drawing/2014/main" id="{F5B40D1E-D1AE-4876-89DE-EC2AA97F0CD7}"/>
              </a:ext>
            </a:extLst>
          </p:cNvPr>
          <p:cNvSpPr txBox="1"/>
          <p:nvPr/>
        </p:nvSpPr>
        <p:spPr>
          <a:xfrm>
            <a:off x="4154701" y="1504410"/>
            <a:ext cx="2813218" cy="65366"/>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tx1"/>
                </a:solidFill>
                <a:latin typeface="Trebuchet MS" panose="020B0603020202020204" pitchFamily="34" charset="0"/>
                <a:cs typeface="Arial" panose="020B0604020202020204" pitchFamily="34" charset="0"/>
              </a:rPr>
              <a:t>Extent of decentralization based on level of maturity</a:t>
            </a:r>
          </a:p>
        </p:txBody>
      </p:sp>
      <p:sp>
        <p:nvSpPr>
          <p:cNvPr id="39" name="AutoShape 53">
            <a:extLst>
              <a:ext uri="{FF2B5EF4-FFF2-40B4-BE49-F238E27FC236}">
                <a16:creationId xmlns:a16="http://schemas.microsoft.com/office/drawing/2014/main" id="{79176715-4CD6-46B2-A8F4-90E0E1920AE4}"/>
              </a:ext>
            </a:extLst>
          </p:cNvPr>
          <p:cNvSpPr>
            <a:spLocks noChangeAspect="1" noChangeArrowheads="1" noTextEdit="1"/>
          </p:cNvSpPr>
          <p:nvPr/>
        </p:nvSpPr>
        <p:spPr bwMode="auto">
          <a:xfrm>
            <a:off x="4837814" y="2696781"/>
            <a:ext cx="1289050" cy="452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lgn="ctr"/>
            <a:endParaRPr lang="en-US" sz="2000"/>
          </a:p>
        </p:txBody>
      </p:sp>
      <p:grpSp>
        <p:nvGrpSpPr>
          <p:cNvPr id="40" name="Group 39">
            <a:extLst>
              <a:ext uri="{FF2B5EF4-FFF2-40B4-BE49-F238E27FC236}">
                <a16:creationId xmlns:a16="http://schemas.microsoft.com/office/drawing/2014/main" id="{D1C85A95-FF96-487C-800F-47786D4D63FA}"/>
              </a:ext>
            </a:extLst>
          </p:cNvPr>
          <p:cNvGrpSpPr/>
          <p:nvPr/>
        </p:nvGrpSpPr>
        <p:grpSpPr>
          <a:xfrm>
            <a:off x="2866553" y="3471640"/>
            <a:ext cx="1105134" cy="338765"/>
            <a:chOff x="2202474" y="3329557"/>
            <a:chExt cx="1105134" cy="338765"/>
          </a:xfrm>
        </p:grpSpPr>
        <p:cxnSp>
          <p:nvCxnSpPr>
            <p:cNvPr id="41" name="Straight Connector 40">
              <a:extLst>
                <a:ext uri="{FF2B5EF4-FFF2-40B4-BE49-F238E27FC236}">
                  <a16:creationId xmlns:a16="http://schemas.microsoft.com/office/drawing/2014/main" id="{3B86A522-5866-4882-975A-9076172456F6}"/>
                </a:ext>
              </a:extLst>
            </p:cNvPr>
            <p:cNvCxnSpPr>
              <a:cxnSpLocks/>
            </p:cNvCxnSpPr>
            <p:nvPr/>
          </p:nvCxnSpPr>
          <p:spPr>
            <a:xfrm>
              <a:off x="2202474" y="3551013"/>
              <a:ext cx="1105134" cy="0"/>
            </a:xfrm>
            <a:prstGeom prst="line">
              <a:avLst/>
            </a:prstGeom>
            <a:ln w="12700" cap="rnd">
              <a:solidFill>
                <a:srgbClr val="7F7F7F">
                  <a:lumMod val="100000"/>
                </a:srgbClr>
              </a:solidFill>
              <a:prstDash val="solid"/>
              <a:roun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302FC980-0431-44AD-B490-9F2682885F0F}"/>
                </a:ext>
              </a:extLst>
            </p:cNvPr>
            <p:cNvCxnSpPr/>
            <p:nvPr/>
          </p:nvCxnSpPr>
          <p:spPr>
            <a:xfrm flipV="1">
              <a:off x="2202474" y="3329557"/>
              <a:ext cx="0" cy="221456"/>
            </a:xfrm>
            <a:prstGeom prst="line">
              <a:avLst/>
            </a:prstGeom>
            <a:ln w="12700" cap="rnd">
              <a:solidFill>
                <a:srgbClr val="7F7F7F">
                  <a:lumMod val="100000"/>
                </a:srgbClr>
              </a:solidFill>
              <a:prstDash val="solid"/>
              <a:roun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D7445BDE-9F69-4415-B6AB-8040B57DBC4A}"/>
                </a:ext>
              </a:extLst>
            </p:cNvPr>
            <p:cNvCxnSpPr/>
            <p:nvPr/>
          </p:nvCxnSpPr>
          <p:spPr>
            <a:xfrm flipV="1">
              <a:off x="3307608" y="3329557"/>
              <a:ext cx="0" cy="221456"/>
            </a:xfrm>
            <a:prstGeom prst="line">
              <a:avLst/>
            </a:prstGeom>
            <a:ln w="12700" cap="rnd">
              <a:solidFill>
                <a:srgbClr val="7F7F7F">
                  <a:lumMod val="100000"/>
                </a:srgbClr>
              </a:solidFill>
              <a:prstDash val="solid"/>
              <a:round/>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CD1AF085-E7A1-4E6D-A4C2-4C7EDE7CB17E}"/>
                </a:ext>
              </a:extLst>
            </p:cNvPr>
            <p:cNvCxnSpPr>
              <a:cxnSpLocks/>
            </p:cNvCxnSpPr>
            <p:nvPr/>
          </p:nvCxnSpPr>
          <p:spPr>
            <a:xfrm flipV="1">
              <a:off x="2755041" y="3329557"/>
              <a:ext cx="0" cy="338765"/>
            </a:xfrm>
            <a:prstGeom prst="line">
              <a:avLst/>
            </a:prstGeom>
            <a:ln w="12700" cap="rnd">
              <a:solidFill>
                <a:srgbClr val="7F7F7F">
                  <a:lumMod val="100000"/>
                </a:srgbClr>
              </a:solidFill>
              <a:prstDash val="solid"/>
              <a:round/>
            </a:ln>
          </p:spPr>
          <p:style>
            <a:lnRef idx="1">
              <a:schemeClr val="accent1"/>
            </a:lnRef>
            <a:fillRef idx="0">
              <a:schemeClr val="accent1"/>
            </a:fillRef>
            <a:effectRef idx="0">
              <a:schemeClr val="accent1"/>
            </a:effectRef>
            <a:fontRef idx="minor">
              <a:schemeClr val="tx1"/>
            </a:fontRef>
          </p:style>
        </p:cxnSp>
      </p:grpSp>
      <p:cxnSp>
        <p:nvCxnSpPr>
          <p:cNvPr id="45" name="Straight Connector 44">
            <a:extLst>
              <a:ext uri="{FF2B5EF4-FFF2-40B4-BE49-F238E27FC236}">
                <a16:creationId xmlns:a16="http://schemas.microsoft.com/office/drawing/2014/main" id="{0B44E6E6-6C73-4BC9-A690-70EAD095B760}"/>
              </a:ext>
            </a:extLst>
          </p:cNvPr>
          <p:cNvCxnSpPr/>
          <p:nvPr/>
        </p:nvCxnSpPr>
        <p:spPr>
          <a:xfrm>
            <a:off x="630000" y="4249525"/>
            <a:ext cx="10897002" cy="0"/>
          </a:xfrm>
          <a:prstGeom prst="line">
            <a:avLst/>
          </a:prstGeom>
          <a:ln w="3175" cap="rnd">
            <a:solidFill>
              <a:srgbClr val="C8C8C8">
                <a:lumMod val="100000"/>
              </a:srgbClr>
            </a:solidFill>
            <a:prstDash val="solid"/>
            <a:round/>
          </a:ln>
        </p:spPr>
        <p:style>
          <a:lnRef idx="1">
            <a:schemeClr val="accent1"/>
          </a:lnRef>
          <a:fillRef idx="0">
            <a:schemeClr val="accent1"/>
          </a:fillRef>
          <a:effectRef idx="0">
            <a:schemeClr val="accent1"/>
          </a:effectRef>
          <a:fontRef idx="minor">
            <a:schemeClr val="tx1"/>
          </a:fontRef>
        </p:style>
      </p:cxnSp>
      <p:grpSp>
        <p:nvGrpSpPr>
          <p:cNvPr id="46" name="Group 45">
            <a:extLst>
              <a:ext uri="{FF2B5EF4-FFF2-40B4-BE49-F238E27FC236}">
                <a16:creationId xmlns:a16="http://schemas.microsoft.com/office/drawing/2014/main" id="{6D9569F5-8895-4469-A195-958761E194DE}"/>
              </a:ext>
            </a:extLst>
          </p:cNvPr>
          <p:cNvGrpSpPr/>
          <p:nvPr/>
        </p:nvGrpSpPr>
        <p:grpSpPr>
          <a:xfrm>
            <a:off x="2611799" y="2205585"/>
            <a:ext cx="1603748" cy="1385066"/>
            <a:chOff x="1953982" y="2056191"/>
            <a:chExt cx="1603748" cy="1470740"/>
          </a:xfrm>
        </p:grpSpPr>
        <p:sp>
          <p:nvSpPr>
            <p:cNvPr id="47" name="Rectangle: Rounded Corners 46">
              <a:extLst>
                <a:ext uri="{FF2B5EF4-FFF2-40B4-BE49-F238E27FC236}">
                  <a16:creationId xmlns:a16="http://schemas.microsoft.com/office/drawing/2014/main" id="{060B50F1-EA16-4377-AF8D-ED148BA6BF12}"/>
                </a:ext>
              </a:extLst>
            </p:cNvPr>
            <p:cNvSpPr/>
            <p:nvPr/>
          </p:nvSpPr>
          <p:spPr>
            <a:xfrm>
              <a:off x="1953982" y="2056191"/>
              <a:ext cx="508114" cy="1470740"/>
            </a:xfrm>
            <a:prstGeom prst="roundRect">
              <a:avLst/>
            </a:prstGeom>
            <a:solidFill>
              <a:srgbClr val="C8C8C8"/>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tx1"/>
                  </a:solidFill>
                  <a:latin typeface="Trebuchet MS" panose="020B0603020202020204" pitchFamily="34" charset="0"/>
                  <a:cs typeface="Arial" panose="020B0604020202020204" pitchFamily="34" charset="0"/>
                </a:rPr>
                <a:t>BU1</a:t>
              </a:r>
              <a:endParaRPr lang="en-US" sz="1000">
                <a:solidFill>
                  <a:schemeClr val="tx1"/>
                </a:solidFill>
                <a:latin typeface="Trebuchet MS" panose="020B0603020202020204" pitchFamily="34" charset="0"/>
                <a:cs typeface="Arial" panose="020B0604020202020204" pitchFamily="34" charset="0"/>
              </a:endParaRPr>
            </a:p>
          </p:txBody>
        </p:sp>
        <p:sp>
          <p:nvSpPr>
            <p:cNvPr id="48" name="Rectangle: Rounded Corners 47">
              <a:extLst>
                <a:ext uri="{FF2B5EF4-FFF2-40B4-BE49-F238E27FC236}">
                  <a16:creationId xmlns:a16="http://schemas.microsoft.com/office/drawing/2014/main" id="{B662E478-A57B-4B92-93DD-130D46F7E58A}"/>
                </a:ext>
              </a:extLst>
            </p:cNvPr>
            <p:cNvSpPr/>
            <p:nvPr/>
          </p:nvSpPr>
          <p:spPr>
            <a:xfrm>
              <a:off x="2501800" y="2056191"/>
              <a:ext cx="508114" cy="1470740"/>
            </a:xfrm>
            <a:prstGeom prst="roundRect">
              <a:avLst/>
            </a:prstGeom>
            <a:solidFill>
              <a:srgbClr val="C8C8C8"/>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tx1"/>
                  </a:solidFill>
                  <a:latin typeface="Trebuchet MS" panose="020B0603020202020204" pitchFamily="34" charset="0"/>
                  <a:cs typeface="Arial" panose="020B0604020202020204" pitchFamily="34" charset="0"/>
                </a:rPr>
                <a:t>BU2</a:t>
              </a:r>
            </a:p>
          </p:txBody>
        </p:sp>
        <p:sp>
          <p:nvSpPr>
            <p:cNvPr id="49" name="Rectangle: Rounded Corners 48">
              <a:extLst>
                <a:ext uri="{FF2B5EF4-FFF2-40B4-BE49-F238E27FC236}">
                  <a16:creationId xmlns:a16="http://schemas.microsoft.com/office/drawing/2014/main" id="{A090409B-1789-45CC-BC36-BBEE2FE9FF67}"/>
                </a:ext>
              </a:extLst>
            </p:cNvPr>
            <p:cNvSpPr/>
            <p:nvPr/>
          </p:nvSpPr>
          <p:spPr>
            <a:xfrm>
              <a:off x="3049616" y="2056191"/>
              <a:ext cx="508114" cy="1470740"/>
            </a:xfrm>
            <a:prstGeom prst="roundRect">
              <a:avLst/>
            </a:prstGeom>
            <a:solidFill>
              <a:srgbClr val="C8C8C8"/>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tx1"/>
                  </a:solidFill>
                  <a:latin typeface="Trebuchet MS" panose="020B0603020202020204" pitchFamily="34" charset="0"/>
                  <a:cs typeface="Arial" panose="020B0604020202020204" pitchFamily="34" charset="0"/>
                </a:rPr>
                <a:t>BU3</a:t>
              </a:r>
            </a:p>
          </p:txBody>
        </p:sp>
      </p:grpSp>
      <p:grpSp>
        <p:nvGrpSpPr>
          <p:cNvPr id="50" name="Group 49">
            <a:extLst>
              <a:ext uri="{FF2B5EF4-FFF2-40B4-BE49-F238E27FC236}">
                <a16:creationId xmlns:a16="http://schemas.microsoft.com/office/drawing/2014/main" id="{C0727797-AEA8-416F-9057-5B1309065B35}"/>
              </a:ext>
            </a:extLst>
          </p:cNvPr>
          <p:cNvGrpSpPr/>
          <p:nvPr/>
        </p:nvGrpSpPr>
        <p:grpSpPr>
          <a:xfrm>
            <a:off x="4839402" y="2262807"/>
            <a:ext cx="1603748" cy="356616"/>
            <a:chOff x="1953982" y="2056191"/>
            <a:chExt cx="1603748" cy="1470740"/>
          </a:xfrm>
        </p:grpSpPr>
        <p:sp>
          <p:nvSpPr>
            <p:cNvPr id="51" name="Rectangle: Rounded Corners 50">
              <a:extLst>
                <a:ext uri="{FF2B5EF4-FFF2-40B4-BE49-F238E27FC236}">
                  <a16:creationId xmlns:a16="http://schemas.microsoft.com/office/drawing/2014/main" id="{A1D5082B-3921-4353-833A-6CDB466A0684}"/>
                </a:ext>
              </a:extLst>
            </p:cNvPr>
            <p:cNvSpPr/>
            <p:nvPr/>
          </p:nvSpPr>
          <p:spPr>
            <a:xfrm>
              <a:off x="1953982" y="2056191"/>
              <a:ext cx="508114" cy="1470740"/>
            </a:xfrm>
            <a:prstGeom prst="roundRect">
              <a:avLst/>
            </a:prstGeom>
            <a:solidFill>
              <a:srgbClr val="C8C8C8"/>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tx1"/>
                  </a:solidFill>
                  <a:latin typeface="Trebuchet MS" panose="020B0603020202020204" pitchFamily="34" charset="0"/>
                  <a:cs typeface="Arial" panose="020B0604020202020204" pitchFamily="34" charset="0"/>
                </a:rPr>
                <a:t>BU1</a:t>
              </a:r>
            </a:p>
          </p:txBody>
        </p:sp>
        <p:sp>
          <p:nvSpPr>
            <p:cNvPr id="52" name="Rectangle: Rounded Corners 51">
              <a:extLst>
                <a:ext uri="{FF2B5EF4-FFF2-40B4-BE49-F238E27FC236}">
                  <a16:creationId xmlns:a16="http://schemas.microsoft.com/office/drawing/2014/main" id="{50D93E02-62BB-45BD-9BF0-F3E7283C245F}"/>
                </a:ext>
              </a:extLst>
            </p:cNvPr>
            <p:cNvSpPr/>
            <p:nvPr/>
          </p:nvSpPr>
          <p:spPr>
            <a:xfrm>
              <a:off x="2501800" y="2056191"/>
              <a:ext cx="508114" cy="1470740"/>
            </a:xfrm>
            <a:prstGeom prst="roundRect">
              <a:avLst/>
            </a:prstGeom>
            <a:solidFill>
              <a:srgbClr val="C8C8C8"/>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tx1"/>
                  </a:solidFill>
                  <a:latin typeface="Trebuchet MS" panose="020B0603020202020204" pitchFamily="34" charset="0"/>
                  <a:cs typeface="Arial" panose="020B0604020202020204" pitchFamily="34" charset="0"/>
                </a:rPr>
                <a:t>BU2</a:t>
              </a:r>
            </a:p>
          </p:txBody>
        </p:sp>
        <p:sp>
          <p:nvSpPr>
            <p:cNvPr id="53" name="Rectangle: Rounded Corners 52">
              <a:extLst>
                <a:ext uri="{FF2B5EF4-FFF2-40B4-BE49-F238E27FC236}">
                  <a16:creationId xmlns:a16="http://schemas.microsoft.com/office/drawing/2014/main" id="{70CEA237-40DB-4A85-91B8-A2DF6AF9171C}"/>
                </a:ext>
              </a:extLst>
            </p:cNvPr>
            <p:cNvSpPr/>
            <p:nvPr/>
          </p:nvSpPr>
          <p:spPr>
            <a:xfrm>
              <a:off x="3049616" y="2056191"/>
              <a:ext cx="508114" cy="1470740"/>
            </a:xfrm>
            <a:prstGeom prst="roundRect">
              <a:avLst/>
            </a:prstGeom>
            <a:solidFill>
              <a:srgbClr val="C8C8C8"/>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tx1"/>
                  </a:solidFill>
                  <a:latin typeface="Trebuchet MS" panose="020B0603020202020204" pitchFamily="34" charset="0"/>
                  <a:cs typeface="Arial" panose="020B0604020202020204" pitchFamily="34" charset="0"/>
                </a:rPr>
                <a:t>BU3</a:t>
              </a:r>
            </a:p>
          </p:txBody>
        </p:sp>
      </p:grpSp>
      <p:grpSp>
        <p:nvGrpSpPr>
          <p:cNvPr id="54" name="Group 53">
            <a:extLst>
              <a:ext uri="{FF2B5EF4-FFF2-40B4-BE49-F238E27FC236}">
                <a16:creationId xmlns:a16="http://schemas.microsoft.com/office/drawing/2014/main" id="{BE4B7556-568D-44A4-99DA-AF325BA7BB0E}"/>
              </a:ext>
            </a:extLst>
          </p:cNvPr>
          <p:cNvGrpSpPr/>
          <p:nvPr/>
        </p:nvGrpSpPr>
        <p:grpSpPr>
          <a:xfrm>
            <a:off x="4839402" y="3234035"/>
            <a:ext cx="1603748" cy="356616"/>
            <a:chOff x="1953982" y="2056191"/>
            <a:chExt cx="1603748" cy="1470740"/>
          </a:xfrm>
        </p:grpSpPr>
        <p:sp>
          <p:nvSpPr>
            <p:cNvPr id="55" name="Rectangle: Rounded Corners 54">
              <a:extLst>
                <a:ext uri="{FF2B5EF4-FFF2-40B4-BE49-F238E27FC236}">
                  <a16:creationId xmlns:a16="http://schemas.microsoft.com/office/drawing/2014/main" id="{649CCFC8-F6E4-4E67-A82F-482C706F20FD}"/>
                </a:ext>
              </a:extLst>
            </p:cNvPr>
            <p:cNvSpPr/>
            <p:nvPr/>
          </p:nvSpPr>
          <p:spPr>
            <a:xfrm>
              <a:off x="1953982" y="2056191"/>
              <a:ext cx="508114" cy="1470740"/>
            </a:xfrm>
            <a:prstGeom prst="roundRect">
              <a:avLst/>
            </a:prstGeom>
            <a:solidFill>
              <a:srgbClr val="C8C8C8"/>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000">
                  <a:solidFill>
                    <a:schemeClr val="tx1"/>
                  </a:solidFill>
                  <a:latin typeface="Trebuchet MS" panose="020B0603020202020204" pitchFamily="34" charset="0"/>
                  <a:cs typeface="Arial" panose="020B0604020202020204" pitchFamily="34" charset="0"/>
                </a:rPr>
                <a:t>BU1</a:t>
              </a:r>
            </a:p>
          </p:txBody>
        </p:sp>
        <p:sp>
          <p:nvSpPr>
            <p:cNvPr id="56" name="Rectangle: Rounded Corners 55">
              <a:extLst>
                <a:ext uri="{FF2B5EF4-FFF2-40B4-BE49-F238E27FC236}">
                  <a16:creationId xmlns:a16="http://schemas.microsoft.com/office/drawing/2014/main" id="{EB43B34D-7C16-4165-8301-DC14C8101765}"/>
                </a:ext>
              </a:extLst>
            </p:cNvPr>
            <p:cNvSpPr/>
            <p:nvPr/>
          </p:nvSpPr>
          <p:spPr>
            <a:xfrm>
              <a:off x="2501800" y="2056191"/>
              <a:ext cx="508114" cy="1470740"/>
            </a:xfrm>
            <a:prstGeom prst="roundRect">
              <a:avLst/>
            </a:prstGeom>
            <a:solidFill>
              <a:srgbClr val="C8C8C8"/>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000">
                  <a:solidFill>
                    <a:schemeClr val="tx1"/>
                  </a:solidFill>
                  <a:latin typeface="Trebuchet MS" panose="020B0603020202020204" pitchFamily="34" charset="0"/>
                  <a:cs typeface="Arial" panose="020B0604020202020204" pitchFamily="34" charset="0"/>
                </a:rPr>
                <a:t>BU2</a:t>
              </a:r>
            </a:p>
          </p:txBody>
        </p:sp>
        <p:sp>
          <p:nvSpPr>
            <p:cNvPr id="57" name="Rectangle: Rounded Corners 56">
              <a:extLst>
                <a:ext uri="{FF2B5EF4-FFF2-40B4-BE49-F238E27FC236}">
                  <a16:creationId xmlns:a16="http://schemas.microsoft.com/office/drawing/2014/main" id="{E1A4C44A-15CB-4C37-9035-5FFB189AB072}"/>
                </a:ext>
              </a:extLst>
            </p:cNvPr>
            <p:cNvSpPr/>
            <p:nvPr/>
          </p:nvSpPr>
          <p:spPr>
            <a:xfrm>
              <a:off x="3049616" y="2056191"/>
              <a:ext cx="508114" cy="1470740"/>
            </a:xfrm>
            <a:prstGeom prst="roundRect">
              <a:avLst/>
            </a:prstGeom>
            <a:solidFill>
              <a:srgbClr val="C8C8C8"/>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000">
                  <a:solidFill>
                    <a:schemeClr val="tx1"/>
                  </a:solidFill>
                  <a:latin typeface="Trebuchet MS" panose="020B0603020202020204" pitchFamily="34" charset="0"/>
                  <a:cs typeface="Arial" panose="020B0604020202020204" pitchFamily="34" charset="0"/>
                </a:rPr>
                <a:t>BU3</a:t>
              </a:r>
            </a:p>
          </p:txBody>
        </p:sp>
      </p:grpSp>
      <p:sp>
        <p:nvSpPr>
          <p:cNvPr id="58" name="Rectangle: Rounded Corners 57">
            <a:extLst>
              <a:ext uri="{FF2B5EF4-FFF2-40B4-BE49-F238E27FC236}">
                <a16:creationId xmlns:a16="http://schemas.microsoft.com/office/drawing/2014/main" id="{56720CF6-BC63-44A5-9185-40469AC5D1B7}"/>
              </a:ext>
            </a:extLst>
          </p:cNvPr>
          <p:cNvSpPr/>
          <p:nvPr/>
        </p:nvSpPr>
        <p:spPr>
          <a:xfrm>
            <a:off x="2552111" y="3717416"/>
            <a:ext cx="1771304" cy="1403639"/>
          </a:xfrm>
          <a:prstGeom prst="roundRect">
            <a:avLst>
              <a:gd name="adj" fmla="val 6896"/>
            </a:avLst>
          </a:prstGeom>
          <a:solidFill>
            <a:schemeClr val="tx2"/>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algn="ctr"/>
            <a:r>
              <a:rPr lang="en-US" sz="1000" b="1" err="1">
                <a:solidFill>
                  <a:schemeClr val="tx1"/>
                </a:solidFill>
                <a:latin typeface="Trebuchet MS" panose="020B0603020202020204" pitchFamily="34" charset="0"/>
                <a:cs typeface="Arial" panose="020B0604020202020204" pitchFamily="34" charset="0"/>
              </a:rPr>
              <a:t>CLM</a:t>
            </a:r>
            <a:r>
              <a:rPr lang="en-US" sz="1000" b="1">
                <a:solidFill>
                  <a:schemeClr val="tx1"/>
                </a:solidFill>
                <a:latin typeface="Trebuchet MS" panose="020B0603020202020204" pitchFamily="34" charset="0"/>
                <a:cs typeface="Arial" panose="020B0604020202020204" pitchFamily="34" charset="0"/>
              </a:rPr>
              <a:t> Team</a:t>
            </a:r>
          </a:p>
        </p:txBody>
      </p:sp>
      <p:sp>
        <p:nvSpPr>
          <p:cNvPr id="59" name="Rectangle: Rounded Corners 58">
            <a:extLst>
              <a:ext uri="{FF2B5EF4-FFF2-40B4-BE49-F238E27FC236}">
                <a16:creationId xmlns:a16="http://schemas.microsoft.com/office/drawing/2014/main" id="{9693CBF5-2186-4146-9633-095B9CF809C8}"/>
              </a:ext>
            </a:extLst>
          </p:cNvPr>
          <p:cNvSpPr/>
          <p:nvPr/>
        </p:nvSpPr>
        <p:spPr>
          <a:xfrm>
            <a:off x="4767726" y="3717416"/>
            <a:ext cx="1771304" cy="1403639"/>
          </a:xfrm>
          <a:prstGeom prst="roundRect">
            <a:avLst>
              <a:gd name="adj" fmla="val 6896"/>
            </a:avLst>
          </a:prstGeom>
          <a:solidFill>
            <a:schemeClr val="tx2"/>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algn="ctr"/>
            <a:r>
              <a:rPr lang="en-US" sz="1000" b="1">
                <a:solidFill>
                  <a:schemeClr val="tx1"/>
                </a:solidFill>
                <a:latin typeface="Trebuchet MS" panose="020B0603020202020204" pitchFamily="34" charset="0"/>
                <a:cs typeface="Arial" panose="020B0604020202020204" pitchFamily="34" charset="0"/>
              </a:rPr>
              <a:t>Centralized Offer Factory</a:t>
            </a:r>
          </a:p>
        </p:txBody>
      </p:sp>
      <p:sp>
        <p:nvSpPr>
          <p:cNvPr id="60" name="Rectangle: Rounded Corners 59">
            <a:extLst>
              <a:ext uri="{FF2B5EF4-FFF2-40B4-BE49-F238E27FC236}">
                <a16:creationId xmlns:a16="http://schemas.microsoft.com/office/drawing/2014/main" id="{106B1F96-010A-4BBD-8A3F-F431E3B92A2D}"/>
              </a:ext>
            </a:extLst>
          </p:cNvPr>
          <p:cNvSpPr/>
          <p:nvPr/>
        </p:nvSpPr>
        <p:spPr>
          <a:xfrm>
            <a:off x="2611799" y="5176489"/>
            <a:ext cx="1600200" cy="356616"/>
          </a:xfrm>
          <a:prstGeom prst="roundRect">
            <a:avLst>
              <a:gd name="adj" fmla="val 16667"/>
            </a:avLst>
          </a:prstGeom>
          <a:solidFill>
            <a:srgbClr val="EEE89A">
              <a:lumMod val="100000"/>
            </a:srgbClr>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tx1"/>
                </a:solidFill>
                <a:latin typeface="Trebuchet MS" panose="020B0603020202020204" pitchFamily="34" charset="0"/>
                <a:cs typeface="Arial" panose="020B0604020202020204" pitchFamily="34" charset="0"/>
              </a:rPr>
              <a:t>Configuration/</a:t>
            </a:r>
            <a:br>
              <a:rPr lang="en-US" sz="900">
                <a:solidFill>
                  <a:schemeClr val="tx1"/>
                </a:solidFill>
                <a:latin typeface="Trebuchet MS" panose="020B0603020202020204" pitchFamily="34" charset="0"/>
                <a:cs typeface="Arial" panose="020B0604020202020204" pitchFamily="34" charset="0"/>
              </a:rPr>
            </a:br>
            <a:r>
              <a:rPr lang="en-US" sz="900">
                <a:solidFill>
                  <a:schemeClr val="tx1"/>
                </a:solidFill>
                <a:latin typeface="Trebuchet MS" panose="020B0603020202020204" pitchFamily="34" charset="0"/>
                <a:cs typeface="Arial" panose="020B0604020202020204" pitchFamily="34" charset="0"/>
              </a:rPr>
              <a:t>maintenance team</a:t>
            </a:r>
          </a:p>
        </p:txBody>
      </p:sp>
      <p:sp>
        <p:nvSpPr>
          <p:cNvPr id="61" name="Rectangle: Rounded Corners 60">
            <a:extLst>
              <a:ext uri="{FF2B5EF4-FFF2-40B4-BE49-F238E27FC236}">
                <a16:creationId xmlns:a16="http://schemas.microsoft.com/office/drawing/2014/main" id="{D1D327C3-F418-4CF5-B0AC-F3500B75BAE5}"/>
              </a:ext>
            </a:extLst>
          </p:cNvPr>
          <p:cNvSpPr/>
          <p:nvPr/>
        </p:nvSpPr>
        <p:spPr>
          <a:xfrm>
            <a:off x="4838435" y="5176489"/>
            <a:ext cx="1600200" cy="356616"/>
          </a:xfrm>
          <a:prstGeom prst="roundRect">
            <a:avLst>
              <a:gd name="adj" fmla="val 16667"/>
            </a:avLst>
          </a:prstGeom>
          <a:solidFill>
            <a:srgbClr val="EEE89A">
              <a:lumMod val="100000"/>
            </a:srgbClr>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tx1"/>
                </a:solidFill>
                <a:latin typeface="Trebuchet MS" panose="020B0603020202020204" pitchFamily="34" charset="0"/>
                <a:cs typeface="Arial" panose="020B0604020202020204" pitchFamily="34" charset="0"/>
              </a:rPr>
              <a:t>Configuration/</a:t>
            </a:r>
            <a:br>
              <a:rPr lang="en-US" sz="900">
                <a:solidFill>
                  <a:schemeClr val="tx1"/>
                </a:solidFill>
                <a:latin typeface="Trebuchet MS" panose="020B0603020202020204" pitchFamily="34" charset="0"/>
                <a:cs typeface="Arial" panose="020B0604020202020204" pitchFamily="34" charset="0"/>
              </a:rPr>
            </a:br>
            <a:r>
              <a:rPr lang="en-US" sz="900">
                <a:solidFill>
                  <a:schemeClr val="tx1"/>
                </a:solidFill>
                <a:latin typeface="Trebuchet MS" panose="020B0603020202020204" pitchFamily="34" charset="0"/>
                <a:cs typeface="Arial" panose="020B0604020202020204" pitchFamily="34" charset="0"/>
              </a:rPr>
              <a:t>maintenance team</a:t>
            </a:r>
          </a:p>
        </p:txBody>
      </p:sp>
      <p:sp>
        <p:nvSpPr>
          <p:cNvPr id="62" name="Rectangle: Rounded Corners 61">
            <a:extLst>
              <a:ext uri="{FF2B5EF4-FFF2-40B4-BE49-F238E27FC236}">
                <a16:creationId xmlns:a16="http://schemas.microsoft.com/office/drawing/2014/main" id="{6B9D75B9-7704-4724-A730-FACE5CD56C2B}"/>
              </a:ext>
            </a:extLst>
          </p:cNvPr>
          <p:cNvSpPr/>
          <p:nvPr/>
        </p:nvSpPr>
        <p:spPr>
          <a:xfrm>
            <a:off x="8128118" y="5267246"/>
            <a:ext cx="1600200" cy="356616"/>
          </a:xfrm>
          <a:prstGeom prst="roundRect">
            <a:avLst>
              <a:gd name="adj" fmla="val 16667"/>
            </a:avLst>
          </a:prstGeom>
          <a:solidFill>
            <a:srgbClr val="EEE89A">
              <a:lumMod val="100000"/>
            </a:srgbClr>
          </a:solidFill>
          <a:ln w="9525" cap="rnd" cmpd="sng" algn="ctr">
            <a:solidFill>
              <a:srgbClr val="F2F2F2"/>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tx1"/>
                </a:solidFill>
                <a:latin typeface="Trebuchet MS" panose="020B0603020202020204" pitchFamily="34" charset="0"/>
                <a:cs typeface="Arial" panose="020B0604020202020204" pitchFamily="34" charset="0"/>
              </a:rPr>
              <a:t>Technology team</a:t>
            </a:r>
          </a:p>
        </p:txBody>
      </p:sp>
      <p:sp>
        <p:nvSpPr>
          <p:cNvPr id="63" name="Rectangle: Rounded Corners 62">
            <a:extLst>
              <a:ext uri="{FF2B5EF4-FFF2-40B4-BE49-F238E27FC236}">
                <a16:creationId xmlns:a16="http://schemas.microsoft.com/office/drawing/2014/main" id="{856D6F53-9D28-4321-8D35-FD4E2DA90DE1}"/>
              </a:ext>
            </a:extLst>
          </p:cNvPr>
          <p:cNvSpPr/>
          <p:nvPr/>
        </p:nvSpPr>
        <p:spPr>
          <a:xfrm>
            <a:off x="2611799" y="4690877"/>
            <a:ext cx="1600200" cy="356616"/>
          </a:xfrm>
          <a:prstGeom prst="roundRect">
            <a:avLst>
              <a:gd name="adj" fmla="val 16667"/>
            </a:avLst>
          </a:prstGeom>
          <a:solidFill>
            <a:srgbClr val="C9E7CA">
              <a:lumMod val="100000"/>
            </a:srgbClr>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tx1"/>
                </a:solidFill>
                <a:latin typeface="Trebuchet MS" panose="020B0603020202020204" pitchFamily="34" charset="0"/>
                <a:cs typeface="Arial" panose="020B0604020202020204" pitchFamily="34" charset="0"/>
              </a:rPr>
              <a:t>Business analytics</a:t>
            </a:r>
          </a:p>
        </p:txBody>
      </p:sp>
      <p:sp>
        <p:nvSpPr>
          <p:cNvPr id="64" name="Rectangle: Rounded Corners 63">
            <a:extLst>
              <a:ext uri="{FF2B5EF4-FFF2-40B4-BE49-F238E27FC236}">
                <a16:creationId xmlns:a16="http://schemas.microsoft.com/office/drawing/2014/main" id="{B4E3B3A3-3BF2-4EDA-8954-951B735602F3}"/>
              </a:ext>
            </a:extLst>
          </p:cNvPr>
          <p:cNvSpPr/>
          <p:nvPr/>
        </p:nvSpPr>
        <p:spPr>
          <a:xfrm>
            <a:off x="2611799" y="4205263"/>
            <a:ext cx="1600200" cy="356616"/>
          </a:xfrm>
          <a:prstGeom prst="roundRect">
            <a:avLst>
              <a:gd name="adj" fmla="val 16667"/>
            </a:avLst>
          </a:prstGeom>
          <a:solidFill>
            <a:srgbClr val="F2F2F2"/>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tx1"/>
                </a:solidFill>
                <a:latin typeface="Trebuchet MS" panose="020B0603020202020204" pitchFamily="34" charset="0"/>
                <a:cs typeface="Arial" panose="020B0604020202020204" pitchFamily="34" charset="0"/>
              </a:rPr>
              <a:t>Central clearinghouse</a:t>
            </a:r>
          </a:p>
        </p:txBody>
      </p:sp>
      <p:sp>
        <p:nvSpPr>
          <p:cNvPr id="65" name="Rectangle: Rounded Corners 64">
            <a:extLst>
              <a:ext uri="{FF2B5EF4-FFF2-40B4-BE49-F238E27FC236}">
                <a16:creationId xmlns:a16="http://schemas.microsoft.com/office/drawing/2014/main" id="{61BBE254-B7E4-4F28-BB6E-0AE715DB5B31}"/>
              </a:ext>
            </a:extLst>
          </p:cNvPr>
          <p:cNvSpPr/>
          <p:nvPr/>
        </p:nvSpPr>
        <p:spPr>
          <a:xfrm>
            <a:off x="2611799" y="3936077"/>
            <a:ext cx="1600200" cy="140189"/>
          </a:xfrm>
          <a:prstGeom prst="roundRect">
            <a:avLst>
              <a:gd name="adj" fmla="val 16667"/>
            </a:avLst>
          </a:prstGeom>
          <a:solidFill>
            <a:srgbClr val="C9E7CA">
              <a:lumMod val="100000"/>
            </a:srgbClr>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tx1"/>
                </a:solidFill>
                <a:latin typeface="Trebuchet MS" panose="020B0603020202020204" pitchFamily="34" charset="0"/>
                <a:cs typeface="Arial" panose="020B0604020202020204" pitchFamily="34" charset="0"/>
              </a:rPr>
              <a:t>Build teams</a:t>
            </a:r>
          </a:p>
        </p:txBody>
      </p:sp>
      <p:sp>
        <p:nvSpPr>
          <p:cNvPr id="66" name="Rectangle: Rounded Corners 65">
            <a:extLst>
              <a:ext uri="{FF2B5EF4-FFF2-40B4-BE49-F238E27FC236}">
                <a16:creationId xmlns:a16="http://schemas.microsoft.com/office/drawing/2014/main" id="{9D74C425-B35C-4B90-8AB5-508782D3DAF9}"/>
              </a:ext>
            </a:extLst>
          </p:cNvPr>
          <p:cNvSpPr/>
          <p:nvPr/>
        </p:nvSpPr>
        <p:spPr>
          <a:xfrm>
            <a:off x="8038851" y="3324792"/>
            <a:ext cx="1771304" cy="1913633"/>
          </a:xfrm>
          <a:prstGeom prst="roundRect">
            <a:avLst>
              <a:gd name="adj" fmla="val 6896"/>
            </a:avLst>
          </a:prstGeom>
          <a:solidFill>
            <a:schemeClr val="tx2"/>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algn="ctr"/>
            <a:r>
              <a:rPr lang="en-US" sz="1000" b="1">
                <a:solidFill>
                  <a:schemeClr val="tx1"/>
                </a:solidFill>
                <a:latin typeface="Trebuchet MS" panose="020B0603020202020204" pitchFamily="34" charset="0"/>
                <a:cs typeface="Arial" panose="020B0604020202020204" pitchFamily="34" charset="0"/>
              </a:rPr>
              <a:t>CRM Squads</a:t>
            </a:r>
          </a:p>
        </p:txBody>
      </p:sp>
      <p:sp>
        <p:nvSpPr>
          <p:cNvPr id="67" name="Rectangle: Rounded Corners 66">
            <a:extLst>
              <a:ext uri="{FF2B5EF4-FFF2-40B4-BE49-F238E27FC236}">
                <a16:creationId xmlns:a16="http://schemas.microsoft.com/office/drawing/2014/main" id="{5EC772E9-A93E-461E-8AC9-008C659EF343}"/>
              </a:ext>
            </a:extLst>
          </p:cNvPr>
          <p:cNvSpPr/>
          <p:nvPr/>
        </p:nvSpPr>
        <p:spPr>
          <a:xfrm>
            <a:off x="4839402" y="4690877"/>
            <a:ext cx="1600200" cy="356616"/>
          </a:xfrm>
          <a:prstGeom prst="roundRect">
            <a:avLst>
              <a:gd name="adj" fmla="val 16667"/>
            </a:avLst>
          </a:prstGeom>
          <a:solidFill>
            <a:srgbClr val="C9E7CA">
              <a:lumMod val="100000"/>
            </a:srgbClr>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tx1"/>
                </a:solidFill>
                <a:latin typeface="Trebuchet MS" panose="020B0603020202020204" pitchFamily="34" charset="0"/>
                <a:cs typeface="Arial" panose="020B0604020202020204" pitchFamily="34" charset="0"/>
              </a:rPr>
              <a:t>Squads</a:t>
            </a:r>
          </a:p>
        </p:txBody>
      </p:sp>
      <p:sp>
        <p:nvSpPr>
          <p:cNvPr id="68" name="Rectangle: Rounded Corners 67">
            <a:extLst>
              <a:ext uri="{FF2B5EF4-FFF2-40B4-BE49-F238E27FC236}">
                <a16:creationId xmlns:a16="http://schemas.microsoft.com/office/drawing/2014/main" id="{6F03295D-5CAD-41D3-804F-2CB70857B061}"/>
              </a:ext>
            </a:extLst>
          </p:cNvPr>
          <p:cNvSpPr/>
          <p:nvPr/>
        </p:nvSpPr>
        <p:spPr>
          <a:xfrm>
            <a:off x="4839402" y="4205263"/>
            <a:ext cx="1600200" cy="356616"/>
          </a:xfrm>
          <a:prstGeom prst="roundRect">
            <a:avLst>
              <a:gd name="adj" fmla="val 16667"/>
            </a:avLst>
          </a:prstGeom>
          <a:solidFill>
            <a:srgbClr val="F2F2F2"/>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tx1"/>
                </a:solidFill>
                <a:latin typeface="Trebuchet MS" panose="020B0603020202020204" pitchFamily="34" charset="0"/>
                <a:cs typeface="Arial" panose="020B0604020202020204" pitchFamily="34" charset="0"/>
              </a:rPr>
              <a:t>Bionic orch. function</a:t>
            </a:r>
          </a:p>
        </p:txBody>
      </p:sp>
      <p:sp>
        <p:nvSpPr>
          <p:cNvPr id="69" name="Rectangle: Rounded Corners 68">
            <a:extLst>
              <a:ext uri="{FF2B5EF4-FFF2-40B4-BE49-F238E27FC236}">
                <a16:creationId xmlns:a16="http://schemas.microsoft.com/office/drawing/2014/main" id="{2E809C6C-265F-4008-A581-7D43544C2A22}"/>
              </a:ext>
            </a:extLst>
          </p:cNvPr>
          <p:cNvSpPr/>
          <p:nvPr/>
        </p:nvSpPr>
        <p:spPr>
          <a:xfrm>
            <a:off x="4839402" y="3936077"/>
            <a:ext cx="1600200" cy="140189"/>
          </a:xfrm>
          <a:prstGeom prst="roundRect">
            <a:avLst>
              <a:gd name="adj" fmla="val 16667"/>
            </a:avLst>
          </a:prstGeom>
          <a:solidFill>
            <a:srgbClr val="C9E7CA">
              <a:lumMod val="100000"/>
            </a:srgbClr>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tx1"/>
                </a:solidFill>
                <a:latin typeface="Trebuchet MS" panose="020B0603020202020204" pitchFamily="34" charset="0"/>
                <a:cs typeface="Arial" panose="020B0604020202020204" pitchFamily="34" charset="0"/>
              </a:rPr>
              <a:t>Squads</a:t>
            </a:r>
          </a:p>
        </p:txBody>
      </p:sp>
      <p:sp>
        <p:nvSpPr>
          <p:cNvPr id="70" name="Rectangle: Rounded Corners 69">
            <a:extLst>
              <a:ext uri="{FF2B5EF4-FFF2-40B4-BE49-F238E27FC236}">
                <a16:creationId xmlns:a16="http://schemas.microsoft.com/office/drawing/2014/main" id="{B5913C0E-CF65-4383-A1C2-5ADDD643B3C1}"/>
              </a:ext>
            </a:extLst>
          </p:cNvPr>
          <p:cNvSpPr/>
          <p:nvPr/>
        </p:nvSpPr>
        <p:spPr>
          <a:xfrm>
            <a:off x="8128118" y="4781634"/>
            <a:ext cx="1600200" cy="356616"/>
          </a:xfrm>
          <a:prstGeom prst="roundRect">
            <a:avLst>
              <a:gd name="adj" fmla="val 16667"/>
            </a:avLst>
          </a:prstGeom>
          <a:solidFill>
            <a:srgbClr val="C9E7CA">
              <a:lumMod val="100000"/>
            </a:srgbClr>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tx1"/>
                </a:solidFill>
                <a:latin typeface="Trebuchet MS" panose="020B0603020202020204" pitchFamily="34" charset="0"/>
                <a:cs typeface="Arial" panose="020B0604020202020204" pitchFamily="34" charset="0"/>
              </a:rPr>
              <a:t>Squads</a:t>
            </a:r>
          </a:p>
        </p:txBody>
      </p:sp>
      <p:sp>
        <p:nvSpPr>
          <p:cNvPr id="71" name="Rectangle: Rounded Corners 70">
            <a:extLst>
              <a:ext uri="{FF2B5EF4-FFF2-40B4-BE49-F238E27FC236}">
                <a16:creationId xmlns:a16="http://schemas.microsoft.com/office/drawing/2014/main" id="{73A36452-9F28-41C7-A4BB-EF7FB3C3E6C7}"/>
              </a:ext>
            </a:extLst>
          </p:cNvPr>
          <p:cNvSpPr/>
          <p:nvPr/>
        </p:nvSpPr>
        <p:spPr>
          <a:xfrm>
            <a:off x="8128118" y="4296020"/>
            <a:ext cx="1600200" cy="356616"/>
          </a:xfrm>
          <a:prstGeom prst="roundRect">
            <a:avLst>
              <a:gd name="adj" fmla="val 16667"/>
            </a:avLst>
          </a:prstGeom>
          <a:solidFill>
            <a:srgbClr val="F2F2F2"/>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tx1"/>
                </a:solidFill>
                <a:latin typeface="Trebuchet MS" panose="020B0603020202020204" pitchFamily="34" charset="0"/>
                <a:cs typeface="Arial" panose="020B0604020202020204" pitchFamily="34" charset="0"/>
              </a:rPr>
              <a:t>Last mile prioritization</a:t>
            </a:r>
          </a:p>
        </p:txBody>
      </p:sp>
      <p:sp>
        <p:nvSpPr>
          <p:cNvPr id="72" name="Rectangle: Rounded Corners 71">
            <a:extLst>
              <a:ext uri="{FF2B5EF4-FFF2-40B4-BE49-F238E27FC236}">
                <a16:creationId xmlns:a16="http://schemas.microsoft.com/office/drawing/2014/main" id="{FD3B0AFB-77AD-4C5A-BA7F-493AD62D29A3}"/>
              </a:ext>
            </a:extLst>
          </p:cNvPr>
          <p:cNvSpPr/>
          <p:nvPr/>
        </p:nvSpPr>
        <p:spPr>
          <a:xfrm>
            <a:off x="8128118" y="3606618"/>
            <a:ext cx="1600200" cy="597048"/>
          </a:xfrm>
          <a:prstGeom prst="roundRect">
            <a:avLst>
              <a:gd name="adj" fmla="val 16667"/>
            </a:avLst>
          </a:prstGeom>
          <a:solidFill>
            <a:srgbClr val="C9E7CA">
              <a:lumMod val="100000"/>
            </a:srgbClr>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tx1"/>
                </a:solidFill>
                <a:latin typeface="Trebuchet MS" panose="020B0603020202020204" pitchFamily="34" charset="0"/>
                <a:cs typeface="Arial" panose="020B0604020202020204" pitchFamily="34" charset="0"/>
              </a:rPr>
              <a:t>Squads</a:t>
            </a:r>
          </a:p>
        </p:txBody>
      </p:sp>
      <p:sp>
        <p:nvSpPr>
          <p:cNvPr id="73" name="Rectangle: Rounded Corners 72">
            <a:extLst>
              <a:ext uri="{FF2B5EF4-FFF2-40B4-BE49-F238E27FC236}">
                <a16:creationId xmlns:a16="http://schemas.microsoft.com/office/drawing/2014/main" id="{FAAEC01D-87C7-4B0D-8BDD-C5DC60D58E69}"/>
              </a:ext>
            </a:extLst>
          </p:cNvPr>
          <p:cNvSpPr/>
          <p:nvPr/>
        </p:nvSpPr>
        <p:spPr>
          <a:xfrm>
            <a:off x="4838435" y="2748421"/>
            <a:ext cx="1600200" cy="356616"/>
          </a:xfrm>
          <a:prstGeom prst="roundRect">
            <a:avLst>
              <a:gd name="adj" fmla="val 16667"/>
            </a:avLst>
          </a:prstGeom>
          <a:solidFill>
            <a:schemeClr val="accent4">
              <a:lumMod val="75000"/>
            </a:schemeClr>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bg1"/>
                </a:solidFill>
                <a:latin typeface="Trebuchet MS" panose="020B0603020202020204" pitchFamily="34" charset="0"/>
                <a:cs typeface="Arial" panose="020B0604020202020204" pitchFamily="34" charset="0"/>
              </a:rPr>
              <a:t>Governance forum</a:t>
            </a:r>
          </a:p>
        </p:txBody>
      </p:sp>
      <p:sp>
        <p:nvSpPr>
          <p:cNvPr id="84" name="TextBox 83">
            <a:extLst>
              <a:ext uri="{FF2B5EF4-FFF2-40B4-BE49-F238E27FC236}">
                <a16:creationId xmlns:a16="http://schemas.microsoft.com/office/drawing/2014/main" id="{31A5D59E-0274-4991-8FE3-3F14103F9294}"/>
              </a:ext>
            </a:extLst>
          </p:cNvPr>
          <p:cNvSpPr txBox="1"/>
          <p:nvPr/>
        </p:nvSpPr>
        <p:spPr>
          <a:xfrm>
            <a:off x="630000" y="5871635"/>
            <a:ext cx="1137972" cy="392624"/>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r>
              <a:rPr lang="en-US" sz="1100" b="1">
                <a:solidFill>
                  <a:schemeClr val="tx2"/>
                </a:solidFill>
                <a:latin typeface="Trebuchet MS" panose="020B0603020202020204" pitchFamily="34" charset="0"/>
                <a:cs typeface="Arial" panose="020B0604020202020204" pitchFamily="34" charset="0"/>
              </a:rPr>
              <a:t>Key</a:t>
            </a:r>
            <a:br>
              <a:rPr lang="en-US" sz="1100" b="1">
                <a:solidFill>
                  <a:schemeClr val="tx2"/>
                </a:solidFill>
                <a:latin typeface="Trebuchet MS" panose="020B0603020202020204" pitchFamily="34" charset="0"/>
                <a:cs typeface="Arial" panose="020B0604020202020204" pitchFamily="34" charset="0"/>
              </a:rPr>
            </a:br>
            <a:r>
              <a:rPr lang="en-US" sz="1100" b="1">
                <a:solidFill>
                  <a:schemeClr val="tx2"/>
                </a:solidFill>
                <a:latin typeface="Trebuchet MS" panose="020B0603020202020204" pitchFamily="34" charset="0"/>
                <a:cs typeface="Arial" panose="020B0604020202020204" pitchFamily="34" charset="0"/>
              </a:rPr>
              <a:t>considerations</a:t>
            </a:r>
          </a:p>
        </p:txBody>
      </p:sp>
      <p:sp>
        <p:nvSpPr>
          <p:cNvPr id="86" name="TextBox 85">
            <a:extLst>
              <a:ext uri="{FF2B5EF4-FFF2-40B4-BE49-F238E27FC236}">
                <a16:creationId xmlns:a16="http://schemas.microsoft.com/office/drawing/2014/main" id="{C10F4569-0E0A-4F33-BE6C-E53EFFBB205B}"/>
              </a:ext>
            </a:extLst>
          </p:cNvPr>
          <p:cNvSpPr txBox="1"/>
          <p:nvPr/>
        </p:nvSpPr>
        <p:spPr>
          <a:xfrm>
            <a:off x="8038851" y="1696468"/>
            <a:ext cx="2340060" cy="235543"/>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r>
              <a:rPr lang="en-US" sz="1100" b="1">
                <a:solidFill>
                  <a:schemeClr val="tx2"/>
                </a:solidFill>
                <a:latin typeface="Trebuchet MS" panose="020B0603020202020204" pitchFamily="34" charset="0"/>
                <a:cs typeface="Arial" panose="020B0604020202020204" pitchFamily="34" charset="0"/>
              </a:rPr>
              <a:t>Recommended starting model</a:t>
            </a:r>
          </a:p>
        </p:txBody>
      </p:sp>
      <p:sp>
        <p:nvSpPr>
          <p:cNvPr id="87" name="Speech Bubble: Rectangle 86">
            <a:extLst>
              <a:ext uri="{FF2B5EF4-FFF2-40B4-BE49-F238E27FC236}">
                <a16:creationId xmlns:a16="http://schemas.microsoft.com/office/drawing/2014/main" id="{90ADCF22-3212-47B4-B0DE-151FCA7BD659}"/>
              </a:ext>
            </a:extLst>
          </p:cNvPr>
          <p:cNvSpPr/>
          <p:nvPr/>
        </p:nvSpPr>
        <p:spPr>
          <a:xfrm>
            <a:off x="9864509" y="2441173"/>
            <a:ext cx="1013524" cy="332399"/>
          </a:xfrm>
          <a:prstGeom prst="wedgeRectCallout">
            <a:avLst>
              <a:gd name="adj1" fmla="val -61007"/>
              <a:gd name="adj2" fmla="val -29614"/>
            </a:avLst>
          </a:prstGeom>
          <a:solidFill>
            <a:schemeClr val="bg1"/>
          </a:solidFill>
          <a:ln w="3175" cap="rnd" cmpd="sng" algn="ctr">
            <a:solidFill>
              <a:schemeClr val="tx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4008" tIns="27432" rIns="64008" bIns="27432" numCol="1" spcCol="0" rtlCol="0" fromWordArt="0" anchor="ctr" anchorCtr="0" forceAA="0" compatLnSpc="1">
            <a:prstTxWarp prst="textNoShape">
              <a:avLst/>
            </a:prstTxWarp>
            <a:spAutoFit/>
          </a:bodyPr>
          <a:lstStyle/>
          <a:p>
            <a:r>
              <a:rPr kumimoji="1" lang="en-US" sz="900">
                <a:solidFill>
                  <a:schemeClr val="tx1"/>
                </a:solidFill>
                <a:latin typeface="Trebuchet MS" panose="020B0603020202020204" pitchFamily="34" charset="0"/>
                <a:cs typeface="Arial" panose="020B0604020202020204" pitchFamily="34" charset="0"/>
              </a:rPr>
              <a:t>BUs provide campaign needs</a:t>
            </a:r>
          </a:p>
        </p:txBody>
      </p:sp>
      <p:sp>
        <p:nvSpPr>
          <p:cNvPr id="88" name="Speech Bubble: Rectangle 87">
            <a:extLst>
              <a:ext uri="{FF2B5EF4-FFF2-40B4-BE49-F238E27FC236}">
                <a16:creationId xmlns:a16="http://schemas.microsoft.com/office/drawing/2014/main" id="{23F5AA92-AF86-41CF-B54D-AE25CCC3E51B}"/>
              </a:ext>
            </a:extLst>
          </p:cNvPr>
          <p:cNvSpPr/>
          <p:nvPr/>
        </p:nvSpPr>
        <p:spPr>
          <a:xfrm>
            <a:off x="9864509" y="2840965"/>
            <a:ext cx="1013524" cy="609398"/>
          </a:xfrm>
          <a:prstGeom prst="wedgeRectCallout">
            <a:avLst>
              <a:gd name="adj1" fmla="val -61007"/>
              <a:gd name="adj2" fmla="val -29614"/>
            </a:avLst>
          </a:prstGeom>
          <a:solidFill>
            <a:schemeClr val="bg1"/>
          </a:solidFill>
          <a:ln w="3175" cap="rnd" cmpd="sng" algn="ctr">
            <a:solidFill>
              <a:schemeClr val="tx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4008" tIns="27432" rIns="64008" bIns="27432" numCol="1" spcCol="0" rtlCol="0" fromWordArt="0" anchor="ctr" anchorCtr="0" forceAA="0" compatLnSpc="1">
            <a:prstTxWarp prst="textNoShape">
              <a:avLst/>
            </a:prstTxWarp>
            <a:spAutoFit/>
          </a:bodyPr>
          <a:lstStyle/>
          <a:p>
            <a:r>
              <a:rPr kumimoji="1" lang="en-US" sz="900">
                <a:solidFill>
                  <a:schemeClr val="tx1"/>
                </a:solidFill>
                <a:latin typeface="Trebuchet MS" panose="020B0603020202020204" pitchFamily="34" charset="0"/>
                <a:cs typeface="Arial" panose="020B0604020202020204" pitchFamily="34" charset="0"/>
              </a:rPr>
              <a:t>Forums to assign limited resources (incl. business)</a:t>
            </a:r>
          </a:p>
        </p:txBody>
      </p:sp>
      <p:sp>
        <p:nvSpPr>
          <p:cNvPr id="89" name="Speech Bubble: Rectangle 88">
            <a:extLst>
              <a:ext uri="{FF2B5EF4-FFF2-40B4-BE49-F238E27FC236}">
                <a16:creationId xmlns:a16="http://schemas.microsoft.com/office/drawing/2014/main" id="{6899B5C2-9410-46F0-BB9B-6813837AD36A}"/>
              </a:ext>
            </a:extLst>
          </p:cNvPr>
          <p:cNvSpPr/>
          <p:nvPr/>
        </p:nvSpPr>
        <p:spPr>
          <a:xfrm>
            <a:off x="9864509" y="3499109"/>
            <a:ext cx="1013524" cy="747897"/>
          </a:xfrm>
          <a:prstGeom prst="wedgeRectCallout">
            <a:avLst>
              <a:gd name="adj1" fmla="val -61007"/>
              <a:gd name="adj2" fmla="val -4334"/>
            </a:avLst>
          </a:prstGeom>
          <a:solidFill>
            <a:schemeClr val="bg1"/>
          </a:solidFill>
          <a:ln w="3175" cap="rnd" cmpd="sng" algn="ctr">
            <a:solidFill>
              <a:schemeClr val="tx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4008" tIns="27432" rIns="64008" bIns="27432" numCol="1" spcCol="0" rtlCol="0" fromWordArt="0" anchor="ctr" anchorCtr="0" forceAA="0" compatLnSpc="1">
            <a:prstTxWarp prst="textNoShape">
              <a:avLst/>
            </a:prstTxWarp>
            <a:spAutoFit/>
          </a:bodyPr>
          <a:lstStyle/>
          <a:p>
            <a:r>
              <a:rPr kumimoji="1" lang="en-US" sz="900">
                <a:solidFill>
                  <a:schemeClr val="tx1"/>
                </a:solidFill>
                <a:latin typeface="Trebuchet MS" panose="020B0603020202020204" pitchFamily="34" charset="0"/>
                <a:cs typeface="Arial" panose="020B0604020202020204" pitchFamily="34" charset="0"/>
              </a:rPr>
              <a:t>Centralized team designs &amp; builds offers with</a:t>
            </a:r>
            <a:br>
              <a:rPr kumimoji="1" lang="en-US" sz="900">
                <a:solidFill>
                  <a:schemeClr val="tx1"/>
                </a:solidFill>
                <a:latin typeface="Trebuchet MS" panose="020B0603020202020204" pitchFamily="34" charset="0"/>
                <a:cs typeface="Arial" panose="020B0604020202020204" pitchFamily="34" charset="0"/>
              </a:rPr>
            </a:br>
            <a:r>
              <a:rPr kumimoji="1" lang="en-US" sz="900">
                <a:solidFill>
                  <a:schemeClr val="tx1"/>
                </a:solidFill>
                <a:latin typeface="Trebuchet MS" panose="020B0603020202020204" pitchFamily="34" charset="0"/>
                <a:cs typeface="Arial" panose="020B0604020202020204" pitchFamily="34" charset="0"/>
              </a:rPr>
              <a:t>BU input</a:t>
            </a:r>
          </a:p>
        </p:txBody>
      </p:sp>
      <p:sp>
        <p:nvSpPr>
          <p:cNvPr id="90" name="Speech Bubble: Rectangle 89">
            <a:extLst>
              <a:ext uri="{FF2B5EF4-FFF2-40B4-BE49-F238E27FC236}">
                <a16:creationId xmlns:a16="http://schemas.microsoft.com/office/drawing/2014/main" id="{4DB88E5E-7CFE-42C5-953B-B7E082D96C76}"/>
              </a:ext>
            </a:extLst>
          </p:cNvPr>
          <p:cNvSpPr/>
          <p:nvPr/>
        </p:nvSpPr>
        <p:spPr>
          <a:xfrm>
            <a:off x="9864509" y="4311614"/>
            <a:ext cx="1013524" cy="747897"/>
          </a:xfrm>
          <a:prstGeom prst="wedgeRectCallout">
            <a:avLst>
              <a:gd name="adj1" fmla="val -61007"/>
              <a:gd name="adj2" fmla="val -29614"/>
            </a:avLst>
          </a:prstGeom>
          <a:solidFill>
            <a:schemeClr val="bg1"/>
          </a:solidFill>
          <a:ln w="3175" cap="rnd" cmpd="sng" algn="ctr">
            <a:solidFill>
              <a:schemeClr val="tx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4008" tIns="27432" rIns="64008" bIns="27432" numCol="1" spcCol="0" rtlCol="0" fromWordArt="0" anchor="ctr" anchorCtr="0" forceAA="0" compatLnSpc="1">
            <a:prstTxWarp prst="textNoShape">
              <a:avLst/>
            </a:prstTxWarp>
            <a:spAutoFit/>
          </a:bodyPr>
          <a:lstStyle/>
          <a:p>
            <a:r>
              <a:rPr kumimoji="1" lang="en-US" sz="900">
                <a:solidFill>
                  <a:schemeClr val="tx1"/>
                </a:solidFill>
                <a:latin typeface="Trebuchet MS" panose="020B0603020202020204" pitchFamily="34" charset="0"/>
                <a:cs typeface="Arial" panose="020B0604020202020204" pitchFamily="34" charset="0"/>
              </a:rPr>
              <a:t>Orchestration unit to prioritize campaigns sent to each customer</a:t>
            </a:r>
          </a:p>
        </p:txBody>
      </p:sp>
      <p:grpSp>
        <p:nvGrpSpPr>
          <p:cNvPr id="98" name="Group 97">
            <a:extLst>
              <a:ext uri="{FF2B5EF4-FFF2-40B4-BE49-F238E27FC236}">
                <a16:creationId xmlns:a16="http://schemas.microsoft.com/office/drawing/2014/main" id="{549514C1-A4AD-4FE2-8853-B68F32B0D1B2}"/>
              </a:ext>
            </a:extLst>
          </p:cNvPr>
          <p:cNvGrpSpPr/>
          <p:nvPr/>
        </p:nvGrpSpPr>
        <p:grpSpPr>
          <a:xfrm>
            <a:off x="8377425" y="2698749"/>
            <a:ext cx="1105134" cy="657570"/>
            <a:chOff x="2202474" y="3010753"/>
            <a:chExt cx="1105134" cy="657570"/>
          </a:xfrm>
        </p:grpSpPr>
        <p:cxnSp>
          <p:nvCxnSpPr>
            <p:cNvPr id="99" name="Straight Connector 98">
              <a:extLst>
                <a:ext uri="{FF2B5EF4-FFF2-40B4-BE49-F238E27FC236}">
                  <a16:creationId xmlns:a16="http://schemas.microsoft.com/office/drawing/2014/main" id="{90B5BBAD-BB2C-480C-B25E-3C3922CC34E8}"/>
                </a:ext>
              </a:extLst>
            </p:cNvPr>
            <p:cNvCxnSpPr>
              <a:cxnSpLocks/>
            </p:cNvCxnSpPr>
            <p:nvPr/>
          </p:nvCxnSpPr>
          <p:spPr>
            <a:xfrm flipV="1">
              <a:off x="2202474" y="3022927"/>
              <a:ext cx="0" cy="457200"/>
            </a:xfrm>
            <a:prstGeom prst="line">
              <a:avLst/>
            </a:prstGeom>
            <a:ln w="12700" cap="rnd">
              <a:solidFill>
                <a:srgbClr val="7F7F7F">
                  <a:lumMod val="100000"/>
                </a:srgbClr>
              </a:solidFill>
              <a:prstDash val="solid"/>
              <a:round/>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40D769E3-2626-404C-940A-9D18F8D19956}"/>
                </a:ext>
              </a:extLst>
            </p:cNvPr>
            <p:cNvCxnSpPr>
              <a:cxnSpLocks/>
            </p:cNvCxnSpPr>
            <p:nvPr/>
          </p:nvCxnSpPr>
          <p:spPr>
            <a:xfrm flipV="1">
              <a:off x="3307608" y="3014811"/>
              <a:ext cx="0" cy="457200"/>
            </a:xfrm>
            <a:prstGeom prst="line">
              <a:avLst/>
            </a:prstGeom>
            <a:ln w="12700" cap="rnd">
              <a:solidFill>
                <a:srgbClr val="7F7F7F">
                  <a:lumMod val="100000"/>
                </a:srgbClr>
              </a:solidFill>
              <a:prstDash val="solid"/>
              <a:round/>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6BB5F7CC-2D1F-42B2-87EE-0C301E508460}"/>
                </a:ext>
              </a:extLst>
            </p:cNvPr>
            <p:cNvCxnSpPr>
              <a:cxnSpLocks/>
            </p:cNvCxnSpPr>
            <p:nvPr/>
          </p:nvCxnSpPr>
          <p:spPr>
            <a:xfrm flipV="1">
              <a:off x="2755041" y="3010753"/>
              <a:ext cx="0" cy="657570"/>
            </a:xfrm>
            <a:prstGeom prst="line">
              <a:avLst/>
            </a:prstGeom>
            <a:ln w="12700" cap="rnd">
              <a:solidFill>
                <a:srgbClr val="7F7F7F">
                  <a:lumMod val="100000"/>
                </a:srgbClr>
              </a:solidFill>
              <a:prstDash val="solid"/>
              <a:round/>
            </a:ln>
          </p:spPr>
          <p:style>
            <a:lnRef idx="1">
              <a:schemeClr val="accent1"/>
            </a:lnRef>
            <a:fillRef idx="0">
              <a:schemeClr val="accent1"/>
            </a:fillRef>
            <a:effectRef idx="0">
              <a:schemeClr val="accent1"/>
            </a:effectRef>
            <a:fontRef idx="minor">
              <a:schemeClr val="tx1"/>
            </a:fontRef>
          </p:style>
        </p:cxnSp>
      </p:grpSp>
      <p:sp>
        <p:nvSpPr>
          <p:cNvPr id="102" name="Rectangle: Rounded Corners 101">
            <a:extLst>
              <a:ext uri="{FF2B5EF4-FFF2-40B4-BE49-F238E27FC236}">
                <a16:creationId xmlns:a16="http://schemas.microsoft.com/office/drawing/2014/main" id="{FE569D61-B02F-4A91-93FA-872B3B77D867}"/>
              </a:ext>
            </a:extLst>
          </p:cNvPr>
          <p:cNvSpPr/>
          <p:nvPr/>
        </p:nvSpPr>
        <p:spPr>
          <a:xfrm>
            <a:off x="8128118" y="2839178"/>
            <a:ext cx="1600200" cy="356616"/>
          </a:xfrm>
          <a:prstGeom prst="roundRect">
            <a:avLst>
              <a:gd name="adj" fmla="val 16667"/>
            </a:avLst>
          </a:prstGeom>
          <a:solidFill>
            <a:schemeClr val="accent4">
              <a:lumMod val="75000"/>
            </a:schemeClr>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900">
                <a:solidFill>
                  <a:schemeClr val="bg1"/>
                </a:solidFill>
                <a:latin typeface="Trebuchet MS" panose="020B0603020202020204" pitchFamily="34" charset="0"/>
                <a:cs typeface="Arial" panose="020B0604020202020204" pitchFamily="34" charset="0"/>
              </a:rPr>
              <a:t>CRM forum</a:t>
            </a:r>
          </a:p>
        </p:txBody>
      </p:sp>
      <p:grpSp>
        <p:nvGrpSpPr>
          <p:cNvPr id="103" name="Group 102">
            <a:extLst>
              <a:ext uri="{FF2B5EF4-FFF2-40B4-BE49-F238E27FC236}">
                <a16:creationId xmlns:a16="http://schemas.microsoft.com/office/drawing/2014/main" id="{7D10C0EC-E328-46E9-A053-9E4606D97D7E}"/>
              </a:ext>
            </a:extLst>
          </p:cNvPr>
          <p:cNvGrpSpPr/>
          <p:nvPr/>
        </p:nvGrpSpPr>
        <p:grpSpPr>
          <a:xfrm>
            <a:off x="8128118" y="2346812"/>
            <a:ext cx="1603748" cy="356616"/>
            <a:chOff x="1953982" y="2056191"/>
            <a:chExt cx="1603748" cy="1470740"/>
          </a:xfrm>
        </p:grpSpPr>
        <p:sp>
          <p:nvSpPr>
            <p:cNvPr id="104" name="Rectangle: Rounded Corners 103">
              <a:extLst>
                <a:ext uri="{FF2B5EF4-FFF2-40B4-BE49-F238E27FC236}">
                  <a16:creationId xmlns:a16="http://schemas.microsoft.com/office/drawing/2014/main" id="{3FE8470D-C19E-4265-88A7-AA5E7CB57177}"/>
                </a:ext>
              </a:extLst>
            </p:cNvPr>
            <p:cNvSpPr/>
            <p:nvPr/>
          </p:nvSpPr>
          <p:spPr>
            <a:xfrm>
              <a:off x="1953982" y="2056191"/>
              <a:ext cx="508114" cy="1470740"/>
            </a:xfrm>
            <a:prstGeom prst="roundRect">
              <a:avLst/>
            </a:prstGeom>
            <a:solidFill>
              <a:srgbClr val="C8C8C8"/>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000">
                  <a:solidFill>
                    <a:schemeClr val="tx1"/>
                  </a:solidFill>
                  <a:latin typeface="Trebuchet MS" panose="020B0603020202020204" pitchFamily="34" charset="0"/>
                  <a:cs typeface="Arial" panose="020B0604020202020204" pitchFamily="34" charset="0"/>
                </a:rPr>
                <a:t>BU1</a:t>
              </a:r>
            </a:p>
          </p:txBody>
        </p:sp>
        <p:sp>
          <p:nvSpPr>
            <p:cNvPr id="105" name="Rectangle: Rounded Corners 104">
              <a:extLst>
                <a:ext uri="{FF2B5EF4-FFF2-40B4-BE49-F238E27FC236}">
                  <a16:creationId xmlns:a16="http://schemas.microsoft.com/office/drawing/2014/main" id="{AC6ECEAD-E5FB-4732-BD03-73145AF1E6DD}"/>
                </a:ext>
              </a:extLst>
            </p:cNvPr>
            <p:cNvSpPr/>
            <p:nvPr/>
          </p:nvSpPr>
          <p:spPr>
            <a:xfrm>
              <a:off x="2501800" y="2056191"/>
              <a:ext cx="508114" cy="1470740"/>
            </a:xfrm>
            <a:prstGeom prst="roundRect">
              <a:avLst/>
            </a:prstGeom>
            <a:solidFill>
              <a:srgbClr val="C8C8C8"/>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000">
                  <a:solidFill>
                    <a:schemeClr val="tx1"/>
                  </a:solidFill>
                  <a:latin typeface="Trebuchet MS" panose="020B0603020202020204" pitchFamily="34" charset="0"/>
                  <a:cs typeface="Arial" panose="020B0604020202020204" pitchFamily="34" charset="0"/>
                </a:rPr>
                <a:t>BU2</a:t>
              </a:r>
            </a:p>
          </p:txBody>
        </p:sp>
        <p:sp>
          <p:nvSpPr>
            <p:cNvPr id="106" name="Rectangle: Rounded Corners 105">
              <a:extLst>
                <a:ext uri="{FF2B5EF4-FFF2-40B4-BE49-F238E27FC236}">
                  <a16:creationId xmlns:a16="http://schemas.microsoft.com/office/drawing/2014/main" id="{131A90B8-C964-4F7C-A5FE-63A37937E329}"/>
                </a:ext>
              </a:extLst>
            </p:cNvPr>
            <p:cNvSpPr/>
            <p:nvPr/>
          </p:nvSpPr>
          <p:spPr>
            <a:xfrm>
              <a:off x="3049616" y="2056191"/>
              <a:ext cx="508114" cy="1470740"/>
            </a:xfrm>
            <a:prstGeom prst="roundRect">
              <a:avLst/>
            </a:prstGeom>
            <a:solidFill>
              <a:srgbClr val="C8C8C8"/>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000">
                  <a:solidFill>
                    <a:schemeClr val="tx1"/>
                  </a:solidFill>
                  <a:latin typeface="Trebuchet MS" panose="020B0603020202020204" pitchFamily="34" charset="0"/>
                  <a:cs typeface="Arial" panose="020B0604020202020204" pitchFamily="34" charset="0"/>
                </a:rPr>
                <a:t>BU3</a:t>
              </a:r>
            </a:p>
          </p:txBody>
        </p:sp>
      </p:grpSp>
      <p:sp>
        <p:nvSpPr>
          <p:cNvPr id="110" name="NavigationTriangle">
            <a:extLst>
              <a:ext uri="{FF2B5EF4-FFF2-40B4-BE49-F238E27FC236}">
                <a16:creationId xmlns:a16="http://schemas.microsoft.com/office/drawing/2014/main" id="{B36A5663-9D72-404D-B5E2-EC8D3584F206}"/>
              </a:ext>
            </a:extLst>
          </p:cNvPr>
          <p:cNvSpPr/>
          <p:nvPr/>
        </p:nvSpPr>
        <p:spPr>
          <a:xfrm rot="16200000">
            <a:off x="11116165" y="-21446"/>
            <a:ext cx="1054387" cy="1097280"/>
          </a:xfrm>
          <a:prstGeom prst="triangle">
            <a:avLst>
              <a:gd name="adj" fmla="val 100000"/>
            </a:avLst>
          </a:prstGeom>
          <a:solidFill>
            <a:srgbClr val="29BA74">
              <a:lumMod val="100000"/>
            </a:srgbClr>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9B1C23"/>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111" name="NavigationIcon">
            <a:extLst>
              <a:ext uri="{FF2B5EF4-FFF2-40B4-BE49-F238E27FC236}">
                <a16:creationId xmlns:a16="http://schemas.microsoft.com/office/drawing/2014/main" id="{64084147-2126-44C1-9C60-8BCBD2C7C8AA}"/>
              </a:ext>
            </a:extLst>
          </p:cNvPr>
          <p:cNvSpPr>
            <a:spLocks noChangeAspect="1" noChangeArrowheads="1"/>
          </p:cNvSpPr>
          <p:nvPr>
            <p:custDataLst>
              <p:tags r:id="rId2"/>
            </p:custDataLst>
          </p:nvPr>
        </p:nvSpPr>
        <p:spPr bwMode="auto">
          <a:xfrm>
            <a:off x="11690544" y="132877"/>
            <a:ext cx="365760" cy="365760"/>
          </a:xfrm>
          <a:prstGeom prst="ellipse">
            <a:avLst/>
          </a:prstGeom>
          <a:solidFill>
            <a:srgbClr val="FFFFFF"/>
          </a:solidFill>
          <a:ln>
            <a:noFill/>
          </a:ln>
        </p:spPr>
        <p:txBody>
          <a:bodyPr vert="horz" wrap="square" lIns="0" tIns="0" rIns="0" bIns="0" numCol="1" anchor="ctr" anchorCtr="0" compatLnSpc="1">
            <a:prstTxWarp prst="textNoShape">
              <a:avLst/>
            </a:prstTxWarp>
          </a:bodyPr>
          <a:lstStyle/>
          <a:p>
            <a:pPr algn="ctr"/>
            <a:r>
              <a:rPr lang="en-US" sz="2000">
                <a:solidFill>
                  <a:srgbClr val="29BA74">
                    <a:lumMod val="100000"/>
                  </a:srgbClr>
                </a:solidFill>
                <a:latin typeface="+mj-lt"/>
              </a:rPr>
              <a:t>4</a:t>
            </a:r>
          </a:p>
        </p:txBody>
      </p:sp>
      <p:sp>
        <p:nvSpPr>
          <p:cNvPr id="24" name="Title 23">
            <a:extLst>
              <a:ext uri="{FF2B5EF4-FFF2-40B4-BE49-F238E27FC236}">
                <a16:creationId xmlns:a16="http://schemas.microsoft.com/office/drawing/2014/main" id="{6A822EC2-8B34-4049-8221-20CDC9BC3244}"/>
              </a:ext>
            </a:extLst>
          </p:cNvPr>
          <p:cNvSpPr>
            <a:spLocks noGrp="1"/>
          </p:cNvSpPr>
          <p:nvPr>
            <p:ph type="title"/>
          </p:nvPr>
        </p:nvSpPr>
        <p:spPr>
          <a:xfrm>
            <a:off x="630000" y="622800"/>
            <a:ext cx="10933350" cy="664797"/>
          </a:xfrm>
        </p:spPr>
        <p:txBody>
          <a:bodyPr vert="horz"/>
          <a:lstStyle/>
          <a:p>
            <a:r>
              <a:rPr lang="en-US">
                <a:cs typeface="Arial" panose="020B0604020202020204" pitchFamily="34" charset="0"/>
              </a:rPr>
              <a:t>Best-in-class players enable personalization through cross-functional</a:t>
            </a:r>
            <a:br>
              <a:rPr lang="en-US">
                <a:cs typeface="Arial" panose="020B0604020202020204" pitchFamily="34" charset="0"/>
              </a:rPr>
            </a:br>
            <a:r>
              <a:rPr lang="en-US">
                <a:cs typeface="Arial" panose="020B0604020202020204" pitchFamily="34" charset="0"/>
              </a:rPr>
              <a:t>agile squads, along with a centralized prioritization &amp; orchestration layer</a:t>
            </a:r>
            <a:endParaRPr lang="en-US"/>
          </a:p>
        </p:txBody>
      </p:sp>
      <p:sp>
        <p:nvSpPr>
          <p:cNvPr id="117" name="ee4pFootnotes">
            <a:extLst>
              <a:ext uri="{FF2B5EF4-FFF2-40B4-BE49-F238E27FC236}">
                <a16:creationId xmlns:a16="http://schemas.microsoft.com/office/drawing/2014/main" id="{C51F6810-AB42-4A5E-916E-AC38DF1C1F70}"/>
              </a:ext>
            </a:extLst>
          </p:cNvPr>
          <p:cNvSpPr>
            <a:spLocks noChangeArrowheads="1"/>
          </p:cNvSpPr>
          <p:nvPr/>
        </p:nvSpPr>
        <p:spPr bwMode="auto">
          <a:xfrm>
            <a:off x="630000" y="6421441"/>
            <a:ext cx="9030914" cy="138499"/>
          </a:xfrm>
          <a:prstGeom prst="rect">
            <a:avLst/>
          </a:prstGeom>
          <a:noFill/>
          <a:ln w="9525" algn="ctr">
            <a:noFill/>
            <a:miter lim="800000"/>
            <a:headEnd type="none" w="lg" len="lg"/>
            <a:tailEnd type="none" w="lg" len="lg"/>
          </a:ln>
        </p:spPr>
        <p:txBody>
          <a:bodyPr vert="horz" wrap="square" lIns="0" tIns="0" rIns="0" bIns="0" anchor="b" anchorCtr="0">
            <a:spAutoFit/>
          </a:bodyPr>
          <a:lstStyle/>
          <a:p>
            <a:pPr>
              <a:lnSpc>
                <a:spcPct val="90000"/>
              </a:lnSpc>
            </a:pPr>
            <a:r>
              <a:rPr lang="en-US" sz="1000" kern="1200">
                <a:solidFill>
                  <a:schemeClr val="bg1">
                    <a:lumMod val="50000"/>
                  </a:schemeClr>
                </a:solidFill>
                <a:effectLst/>
                <a:latin typeface="Trebuchet MS" panose="020B0603020202020204" pitchFamily="34" charset="0"/>
                <a:ea typeface="+mn-ea"/>
                <a:cs typeface="+mn-cs"/>
              </a:rPr>
              <a:t>Source: BCG experience, Client internal interviews</a:t>
            </a:r>
            <a:endParaRPr lang="en-US" sz="1000">
              <a:solidFill>
                <a:schemeClr val="bg1">
                  <a:lumMod val="50000"/>
                </a:schemeClr>
              </a:solidFill>
              <a:effectLst/>
            </a:endParaRPr>
          </a:p>
        </p:txBody>
      </p:sp>
      <p:sp>
        <p:nvSpPr>
          <p:cNvPr id="91" name="Rectangle 90">
            <a:extLst>
              <a:ext uri="{FF2B5EF4-FFF2-40B4-BE49-F238E27FC236}">
                <a16:creationId xmlns:a16="http://schemas.microsoft.com/office/drawing/2014/main" id="{D41FEC1E-6C7A-4434-BCF8-F11650C1D58B}"/>
              </a:ext>
            </a:extLst>
          </p:cNvPr>
          <p:cNvSpPr>
            <a:spLocks/>
          </p:cNvSpPr>
          <p:nvPr/>
        </p:nvSpPr>
        <p:spPr>
          <a:xfrm>
            <a:off x="6638926" y="0"/>
            <a:ext cx="4425468" cy="191701"/>
          </a:xfrm>
          <a:prstGeom prst="rect">
            <a:avLst/>
          </a:prstGeom>
          <a:noFill/>
          <a:ln w="6943" cap="rnd" cmpd="sng" algn="ctr">
            <a:noFill/>
            <a:prstDash val="solid"/>
            <a:round/>
            <a:headEnd type="none" w="med" len="med"/>
            <a:tailEnd type="none" w="med" len="med"/>
          </a:ln>
          <a:effectLst/>
          <a:extLst>
            <a:ext uri="{909E8E84-426E-40DD-AFC4-6F175D3DCCD1}">
              <a14:hiddenFill xmlns:a14="http://schemas.microsoft.com/office/drawing/2010/main">
                <a:solidFill>
                  <a:srgbClr val="9B1C23"/>
                </a:solidFill>
              </a14:hiddenFill>
            </a:ext>
            <a:ext uri="{91240B29-F687-4F45-9708-019B960494DF}">
              <a14:hiddenLine xmlns:a14="http://schemas.microsoft.com/office/drawing/2010/main" w="6943" cap="rnd" cmpd="sng" algn="ctr">
                <a:solidFill>
                  <a:srgbClr val="9B1C23"/>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7F7F7F"/>
                </a:solidFill>
                <a:effectLst/>
                <a:uLnTx/>
                <a:uFillTx/>
                <a:latin typeface="Trebuchet MS" panose="020B0603020202020204" pitchFamily="34" charset="0"/>
                <a:ea typeface="+mn-ea"/>
                <a:cs typeface="+mn-cs"/>
              </a:rPr>
              <a:t>Future operating model</a:t>
            </a:r>
          </a:p>
        </p:txBody>
      </p:sp>
      <p:sp>
        <p:nvSpPr>
          <p:cNvPr id="10" name="Textfeld 1">
            <a:extLst>
              <a:ext uri="{FF2B5EF4-FFF2-40B4-BE49-F238E27FC236}">
                <a16:creationId xmlns:a16="http://schemas.microsoft.com/office/drawing/2014/main" id="{6CDBA8B7-C295-84D1-8BB2-8F1540D662B9}"/>
              </a:ext>
            </a:extLst>
          </p:cNvPr>
          <p:cNvSpPr txBox="1"/>
          <p:nvPr>
            <p:custDataLst>
              <p:tags r:id="rId3"/>
            </p:custDataLst>
          </p:nvPr>
        </p:nvSpPr>
        <p:spPr>
          <a:xfrm>
            <a:off x="150955" y="20641"/>
            <a:ext cx="2743200" cy="483209"/>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en-US" sz="1200" b="1">
                <a:solidFill>
                  <a:srgbClr val="575757"/>
                </a:solidFill>
                <a:sym typeface="Trebuchet MS" panose="020B0603020202020204" pitchFamily="34" charset="0"/>
              </a:rPr>
              <a:t>TM 21.Jun.24:
</a:t>
            </a:r>
          </a:p>
        </p:txBody>
      </p:sp>
    </p:spTree>
    <p:extLst>
      <p:ext uri="{BB962C8B-B14F-4D97-AF65-F5344CB8AC3E}">
        <p14:creationId xmlns:p14="http://schemas.microsoft.com/office/powerpoint/2010/main" val="274728372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6" name="Object 255" hidden="1">
            <a:extLst>
              <a:ext uri="{FF2B5EF4-FFF2-40B4-BE49-F238E27FC236}">
                <a16:creationId xmlns:a16="http://schemas.microsoft.com/office/drawing/2014/main" id="{1BCFB7F4-6D32-46FC-94F9-33CB5046B039}"/>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395" imgH="396" progId="TCLayout.ActiveDocument.1">
                  <p:embed/>
                </p:oleObj>
              </mc:Choice>
              <mc:Fallback>
                <p:oleObj name="think-cell Slide" r:id="rId6" imgW="395" imgH="396" progId="TCLayout.ActiveDocument.1">
                  <p:embed/>
                  <p:pic>
                    <p:nvPicPr>
                      <p:cNvPr id="256" name="Object 255" hidden="1">
                        <a:extLst>
                          <a:ext uri="{FF2B5EF4-FFF2-40B4-BE49-F238E27FC236}">
                            <a16:creationId xmlns:a16="http://schemas.microsoft.com/office/drawing/2014/main" id="{1BCFB7F4-6D32-46FC-94F9-33CB5046B039}"/>
                          </a:ext>
                        </a:extLst>
                      </p:cNvPr>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155" name="object 2">
            <a:extLst>
              <a:ext uri="{FF2B5EF4-FFF2-40B4-BE49-F238E27FC236}">
                <a16:creationId xmlns:a16="http://schemas.microsoft.com/office/drawing/2014/main" id="{A3134A22-EDC9-4C28-9E6C-7813E9E7F2E2}"/>
              </a:ext>
            </a:extLst>
          </p:cNvPr>
          <p:cNvSpPr txBox="1"/>
          <p:nvPr/>
        </p:nvSpPr>
        <p:spPr>
          <a:xfrm>
            <a:off x="873522" y="2284599"/>
            <a:ext cx="1980000" cy="307777"/>
          </a:xfrm>
          <a:prstGeom prst="rect">
            <a:avLst/>
          </a:prstGeom>
        </p:spPr>
        <p:txBody>
          <a:bodyPr vert="horz" wrap="square" lIns="0" tIns="0" rIns="0" bIns="0" rtlCol="0" anchor="t" anchorCtr="0">
            <a:noAutofit/>
          </a:bodyPr>
          <a:lstStyle/>
          <a:p>
            <a:pPr marR="3081" defTabSz="554492">
              <a:buFont typeface="Trebuchet MS" panose="020B0603020202020204" pitchFamily="34" charset="0"/>
              <a:buChar char="​"/>
            </a:pPr>
            <a:r>
              <a:rPr sz="1000" b="1">
                <a:latin typeface="Trebuchet MS" panose="020B0603020202020204" pitchFamily="34" charset="0"/>
                <a:cs typeface="Proxima Nova Semibold"/>
              </a:rPr>
              <a:t>Product/Segment</a:t>
            </a:r>
            <a:br>
              <a:rPr lang="en-US" sz="1000" b="1">
                <a:latin typeface="Trebuchet MS" panose="020B0603020202020204" pitchFamily="34" charset="0"/>
                <a:cs typeface="Proxima Nova Semibold"/>
              </a:rPr>
            </a:br>
            <a:r>
              <a:rPr sz="1000">
                <a:latin typeface="Trebuchet MS" panose="020B0603020202020204" pitchFamily="34" charset="0"/>
                <a:cs typeface="Proxima Nova"/>
              </a:rPr>
              <a:t>commissions new</a:t>
            </a:r>
            <a:r>
              <a:rPr lang="en-US" sz="1000">
                <a:latin typeface="Trebuchet MS" panose="020B0603020202020204" pitchFamily="34" charset="0"/>
                <a:cs typeface="Proxima Nova"/>
              </a:rPr>
              <a:t> </a:t>
            </a:r>
            <a:r>
              <a:rPr sz="1000">
                <a:latin typeface="Trebuchet MS" panose="020B0603020202020204" pitchFamily="34" charset="0"/>
                <a:cs typeface="Proxima Nova"/>
              </a:rPr>
              <a:t>campaigns</a:t>
            </a:r>
          </a:p>
        </p:txBody>
      </p:sp>
      <p:sp>
        <p:nvSpPr>
          <p:cNvPr id="156" name="object 3">
            <a:extLst>
              <a:ext uri="{FF2B5EF4-FFF2-40B4-BE49-F238E27FC236}">
                <a16:creationId xmlns:a16="http://schemas.microsoft.com/office/drawing/2014/main" id="{77AC392B-28E4-489D-8318-429BD41F606C}"/>
              </a:ext>
            </a:extLst>
          </p:cNvPr>
          <p:cNvSpPr txBox="1"/>
          <p:nvPr/>
        </p:nvSpPr>
        <p:spPr>
          <a:xfrm>
            <a:off x="873522" y="3869125"/>
            <a:ext cx="1980000" cy="615553"/>
          </a:xfrm>
          <a:prstGeom prst="rect">
            <a:avLst/>
          </a:prstGeom>
        </p:spPr>
        <p:txBody>
          <a:bodyPr vert="horz" wrap="square" lIns="0" tIns="0" rIns="0" bIns="0" rtlCol="0" anchor="t" anchorCtr="0">
            <a:noAutofit/>
          </a:bodyPr>
          <a:lstStyle/>
          <a:p>
            <a:pPr marR="3081" defTabSz="554492">
              <a:buFont typeface="Trebuchet MS" panose="020B0603020202020204" pitchFamily="34" charset="0"/>
              <a:buChar char="​"/>
            </a:pPr>
            <a:r>
              <a:rPr sz="1000" b="1">
                <a:latin typeface="Trebuchet MS" panose="020B0603020202020204" pitchFamily="34" charset="0"/>
                <a:cs typeface="Proxima Nova Semibold"/>
              </a:rPr>
              <a:t>Prioritization Committee</a:t>
            </a:r>
            <a:r>
              <a:rPr lang="en-US" sz="1000" b="1">
                <a:latin typeface="Trebuchet MS" panose="020B0603020202020204" pitchFamily="34" charset="0"/>
                <a:cs typeface="Proxima Nova Semibold"/>
              </a:rPr>
              <a:t> </a:t>
            </a:r>
            <a:r>
              <a:rPr sz="1000" b="1">
                <a:latin typeface="Trebuchet MS" panose="020B0603020202020204" pitchFamily="34" charset="0"/>
                <a:cs typeface="Proxima Nova Semibold"/>
              </a:rPr>
              <a:t>(Segments (chair), Product</a:t>
            </a:r>
            <a:r>
              <a:rPr lang="en-US" sz="1000" b="1">
                <a:latin typeface="Trebuchet MS" panose="020B0603020202020204" pitchFamily="34" charset="0"/>
                <a:cs typeface="Proxima Nova Semibold"/>
              </a:rPr>
              <a:t>, </a:t>
            </a:r>
            <a:r>
              <a:rPr lang="en-US" sz="1000" b="1" err="1">
                <a:latin typeface="Trebuchet MS" panose="020B0603020202020204" pitchFamily="34" charset="0"/>
                <a:cs typeface="Proxima Nova Semibold"/>
              </a:rPr>
              <a:t>CLM</a:t>
            </a:r>
            <a:r>
              <a:rPr sz="1000" b="1">
                <a:latin typeface="Trebuchet MS" panose="020B0603020202020204" pitchFamily="34" charset="0"/>
                <a:cs typeface="Proxima Nova Semibold"/>
              </a:rPr>
              <a:t>) </a:t>
            </a:r>
            <a:r>
              <a:rPr sz="1000">
                <a:latin typeface="Trebuchet MS" panose="020B0603020202020204" pitchFamily="34" charset="0"/>
                <a:cs typeface="Proxima Nova"/>
              </a:rPr>
              <a:t>to evaluate</a:t>
            </a:r>
            <a:r>
              <a:rPr lang="en-US" sz="1000">
                <a:latin typeface="Trebuchet MS" panose="020B0603020202020204" pitchFamily="34" charset="0"/>
                <a:cs typeface="Proxima Nova"/>
              </a:rPr>
              <a:t> </a:t>
            </a:r>
            <a:r>
              <a:rPr sz="1000">
                <a:latin typeface="Trebuchet MS" panose="020B0603020202020204" pitchFamily="34" charset="0"/>
                <a:cs typeface="Proxima Nova"/>
              </a:rPr>
              <a:t>campaign</a:t>
            </a:r>
            <a:r>
              <a:rPr lang="en-US" sz="1000">
                <a:latin typeface="Trebuchet MS" panose="020B0603020202020204" pitchFamily="34" charset="0"/>
                <a:cs typeface="Proxima Nova"/>
              </a:rPr>
              <a:t> pitches VC-style, </a:t>
            </a:r>
            <a:r>
              <a:rPr sz="1000">
                <a:latin typeface="Trebuchet MS" panose="020B0603020202020204" pitchFamily="34" charset="0"/>
                <a:cs typeface="Proxima Nova"/>
              </a:rPr>
              <a:t>and assign</a:t>
            </a:r>
            <a:r>
              <a:rPr lang="en-US" sz="1000">
                <a:latin typeface="Trebuchet MS" panose="020B0603020202020204" pitchFamily="34" charset="0"/>
                <a:cs typeface="Proxima Nova"/>
              </a:rPr>
              <a:t> </a:t>
            </a:r>
            <a:r>
              <a:rPr sz="1000">
                <a:latin typeface="Trebuchet MS" panose="020B0603020202020204" pitchFamily="34" charset="0"/>
                <a:cs typeface="Proxima Nova"/>
              </a:rPr>
              <a:t>squad resources</a:t>
            </a:r>
          </a:p>
        </p:txBody>
      </p:sp>
      <p:sp>
        <p:nvSpPr>
          <p:cNvPr id="157" name="object 3">
            <a:extLst>
              <a:ext uri="{FF2B5EF4-FFF2-40B4-BE49-F238E27FC236}">
                <a16:creationId xmlns:a16="http://schemas.microsoft.com/office/drawing/2014/main" id="{766C320C-6F8D-4BF2-B6E5-0D1BF0959366}"/>
              </a:ext>
            </a:extLst>
          </p:cNvPr>
          <p:cNvSpPr txBox="1"/>
          <p:nvPr/>
        </p:nvSpPr>
        <p:spPr>
          <a:xfrm>
            <a:off x="873522" y="5725154"/>
            <a:ext cx="1980000" cy="307777"/>
          </a:xfrm>
          <a:prstGeom prst="rect">
            <a:avLst/>
          </a:prstGeom>
        </p:spPr>
        <p:txBody>
          <a:bodyPr vert="horz" wrap="square" lIns="0" tIns="0" rIns="0" bIns="0" rtlCol="0" anchor="t" anchorCtr="0">
            <a:noAutofit/>
          </a:bodyPr>
          <a:lstStyle/>
          <a:p>
            <a:pPr marR="3081" defTabSz="554492">
              <a:buFont typeface="Trebuchet MS" panose="020B0603020202020204" pitchFamily="34" charset="0"/>
              <a:buChar char="​"/>
            </a:pPr>
            <a:r>
              <a:rPr lang="en-US" sz="1000" b="1" err="1">
                <a:latin typeface="Trebuchet MS" panose="020B0603020202020204" pitchFamily="34" charset="0"/>
                <a:cs typeface="Proxima Nova Semibold"/>
              </a:rPr>
              <a:t>CLM</a:t>
            </a:r>
            <a:r>
              <a:rPr lang="en-US" sz="1000">
                <a:latin typeface="Trebuchet MS" panose="020B0603020202020204" pitchFamily="34" charset="0"/>
                <a:cs typeface="Proxima Nova Semibold"/>
              </a:rPr>
              <a:t> to translate business problem to customer needs</a:t>
            </a:r>
            <a:endParaRPr sz="1000">
              <a:latin typeface="Trebuchet MS" panose="020B0603020202020204" pitchFamily="34" charset="0"/>
              <a:cs typeface="Proxima Nova"/>
            </a:endParaRPr>
          </a:p>
        </p:txBody>
      </p:sp>
      <p:cxnSp>
        <p:nvCxnSpPr>
          <p:cNvPr id="158" name="Straight Connector 157">
            <a:extLst>
              <a:ext uri="{FF2B5EF4-FFF2-40B4-BE49-F238E27FC236}">
                <a16:creationId xmlns:a16="http://schemas.microsoft.com/office/drawing/2014/main" id="{9744D2C2-3F0C-47A9-9AA7-4034B4F65BCF}"/>
              </a:ext>
            </a:extLst>
          </p:cNvPr>
          <p:cNvCxnSpPr>
            <a:cxnSpLocks/>
          </p:cNvCxnSpPr>
          <p:nvPr/>
        </p:nvCxnSpPr>
        <p:spPr>
          <a:xfrm>
            <a:off x="683999" y="2284599"/>
            <a:ext cx="0" cy="3534822"/>
          </a:xfrm>
          <a:prstGeom prst="line">
            <a:avLst/>
          </a:prstGeom>
          <a:ln w="25400" cap="rnd">
            <a:solidFill>
              <a:schemeClr val="bg1">
                <a:lumMod val="85000"/>
              </a:schemeClr>
            </a:solidFill>
            <a:prstDash val="solid"/>
            <a:round/>
            <a:tailEnd type="none" w="med" len="sm"/>
          </a:ln>
        </p:spPr>
        <p:style>
          <a:lnRef idx="1">
            <a:schemeClr val="accent1"/>
          </a:lnRef>
          <a:fillRef idx="0">
            <a:schemeClr val="accent1"/>
          </a:fillRef>
          <a:effectRef idx="0">
            <a:schemeClr val="accent1"/>
          </a:effectRef>
          <a:fontRef idx="minor">
            <a:schemeClr val="tx1"/>
          </a:fontRef>
        </p:style>
      </p:cxnSp>
      <p:sp>
        <p:nvSpPr>
          <p:cNvPr id="159" name="Oval 158">
            <a:extLst>
              <a:ext uri="{FF2B5EF4-FFF2-40B4-BE49-F238E27FC236}">
                <a16:creationId xmlns:a16="http://schemas.microsoft.com/office/drawing/2014/main" id="{524D4214-E048-423B-8623-6689C348D630}"/>
              </a:ext>
            </a:extLst>
          </p:cNvPr>
          <p:cNvSpPr>
            <a:spLocks noChangeAspect="1"/>
          </p:cNvSpPr>
          <p:nvPr/>
        </p:nvSpPr>
        <p:spPr>
          <a:xfrm>
            <a:off x="629999" y="2284599"/>
            <a:ext cx="108000" cy="108000"/>
          </a:xfrm>
          <a:prstGeom prst="ellipse">
            <a:avLst/>
          </a:prstGeom>
          <a:solidFill>
            <a:schemeClr val="tx2"/>
          </a:solidFill>
          <a:ln w="38100" cap="rnd" cmpd="sng" algn="ctr">
            <a:solidFill>
              <a:srgbClr val="F7F7F7"/>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200">
              <a:solidFill>
                <a:srgbClr val="FFFFFF"/>
              </a:solidFill>
            </a:endParaRPr>
          </a:p>
        </p:txBody>
      </p:sp>
      <p:grpSp>
        <p:nvGrpSpPr>
          <p:cNvPr id="160" name="Group 159">
            <a:extLst>
              <a:ext uri="{FF2B5EF4-FFF2-40B4-BE49-F238E27FC236}">
                <a16:creationId xmlns:a16="http://schemas.microsoft.com/office/drawing/2014/main" id="{FAA1E743-BD96-4F79-9610-BC870361CB58}"/>
              </a:ext>
            </a:extLst>
          </p:cNvPr>
          <p:cNvGrpSpPr/>
          <p:nvPr/>
        </p:nvGrpSpPr>
        <p:grpSpPr>
          <a:xfrm>
            <a:off x="873522" y="1482530"/>
            <a:ext cx="1081432" cy="642387"/>
            <a:chOff x="873524" y="1482530"/>
            <a:chExt cx="1081432" cy="642387"/>
          </a:xfrm>
        </p:grpSpPr>
        <p:sp>
          <p:nvSpPr>
            <p:cNvPr id="161" name="Freeform: Shape 160">
              <a:extLst>
                <a:ext uri="{FF2B5EF4-FFF2-40B4-BE49-F238E27FC236}">
                  <a16:creationId xmlns:a16="http://schemas.microsoft.com/office/drawing/2014/main" id="{B28B8CCD-E745-491B-889A-6A1106ABB4F8}"/>
                </a:ext>
              </a:extLst>
            </p:cNvPr>
            <p:cNvSpPr/>
            <p:nvPr/>
          </p:nvSpPr>
          <p:spPr>
            <a:xfrm>
              <a:off x="1713251" y="1524031"/>
              <a:ext cx="241704" cy="241744"/>
            </a:xfrm>
            <a:custGeom>
              <a:avLst/>
              <a:gdLst>
                <a:gd name="connsiteX0" fmla="*/ 237361 w 241704"/>
                <a:gd name="connsiteY0" fmla="*/ 241744 h 241744"/>
                <a:gd name="connsiteX1" fmla="*/ 232977 w 241704"/>
                <a:gd name="connsiteY1" fmla="*/ 237361 h 241744"/>
                <a:gd name="connsiteX2" fmla="*/ 232977 w 241704"/>
                <a:gd name="connsiteY2" fmla="*/ 8768 h 241744"/>
                <a:gd name="connsiteX3" fmla="*/ 8768 w 241704"/>
                <a:gd name="connsiteY3" fmla="*/ 8768 h 241744"/>
                <a:gd name="connsiteX4" fmla="*/ 8768 w 241704"/>
                <a:gd name="connsiteY4" fmla="*/ 139164 h 241744"/>
                <a:gd name="connsiteX5" fmla="*/ 4384 w 241704"/>
                <a:gd name="connsiteY5" fmla="*/ 143548 h 241744"/>
                <a:gd name="connsiteX6" fmla="*/ 0 w 241704"/>
                <a:gd name="connsiteY6" fmla="*/ 139164 h 241744"/>
                <a:gd name="connsiteX7" fmla="*/ 0 w 241704"/>
                <a:gd name="connsiteY7" fmla="*/ 4384 h 241744"/>
                <a:gd name="connsiteX8" fmla="*/ 4384 w 241704"/>
                <a:gd name="connsiteY8" fmla="*/ 0 h 241744"/>
                <a:gd name="connsiteX9" fmla="*/ 237321 w 241704"/>
                <a:gd name="connsiteY9" fmla="*/ 0 h 241744"/>
                <a:gd name="connsiteX10" fmla="*/ 241705 w 241704"/>
                <a:gd name="connsiteY10" fmla="*/ 4384 h 241744"/>
                <a:gd name="connsiteX11" fmla="*/ 241705 w 241704"/>
                <a:gd name="connsiteY11" fmla="*/ 237321 h 241744"/>
                <a:gd name="connsiteX12" fmla="*/ 237321 w 241704"/>
                <a:gd name="connsiteY12" fmla="*/ 241705 h 241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704" h="241744">
                  <a:moveTo>
                    <a:pt x="237361" y="241744"/>
                  </a:moveTo>
                  <a:cubicBezTo>
                    <a:pt x="234930" y="241744"/>
                    <a:pt x="232977" y="239792"/>
                    <a:pt x="232977" y="237361"/>
                  </a:cubicBezTo>
                  <a:lnTo>
                    <a:pt x="232977" y="8768"/>
                  </a:lnTo>
                  <a:lnTo>
                    <a:pt x="8768" y="8768"/>
                  </a:lnTo>
                  <a:lnTo>
                    <a:pt x="8768" y="139164"/>
                  </a:lnTo>
                  <a:cubicBezTo>
                    <a:pt x="8768" y="141595"/>
                    <a:pt x="6815" y="143548"/>
                    <a:pt x="4384" y="143548"/>
                  </a:cubicBezTo>
                  <a:cubicBezTo>
                    <a:pt x="1953" y="143548"/>
                    <a:pt x="0" y="141595"/>
                    <a:pt x="0" y="139164"/>
                  </a:cubicBezTo>
                  <a:lnTo>
                    <a:pt x="0" y="4384"/>
                  </a:lnTo>
                  <a:cubicBezTo>
                    <a:pt x="0" y="1953"/>
                    <a:pt x="1953" y="0"/>
                    <a:pt x="4384" y="0"/>
                  </a:cubicBezTo>
                  <a:lnTo>
                    <a:pt x="237321" y="0"/>
                  </a:lnTo>
                  <a:cubicBezTo>
                    <a:pt x="239752" y="0"/>
                    <a:pt x="241705" y="1953"/>
                    <a:pt x="241705" y="4384"/>
                  </a:cubicBezTo>
                  <a:lnTo>
                    <a:pt x="241705" y="237321"/>
                  </a:lnTo>
                  <a:cubicBezTo>
                    <a:pt x="241705" y="239752"/>
                    <a:pt x="239752" y="241705"/>
                    <a:pt x="237321" y="241705"/>
                  </a:cubicBezTo>
                  <a:close/>
                </a:path>
              </a:pathLst>
            </a:custGeom>
            <a:solidFill>
              <a:srgbClr val="70B347"/>
            </a:solidFill>
            <a:ln w="3972" cap="flat" cmpd="sng" algn="ctr">
              <a:noFill/>
              <a:prstDash val="solid"/>
              <a:miter lim="800000"/>
              <a:headEnd type="none" w="med" len="med"/>
              <a:tailEnd type="none" w="med" len="med"/>
            </a:ln>
          </p:spPr>
          <p:txBody>
            <a:bodyPr rtlCol="0" anchor="ctr"/>
            <a:lstStyle/>
            <a:p>
              <a:endParaRPr lang="en-US"/>
            </a:p>
          </p:txBody>
        </p:sp>
        <p:sp>
          <p:nvSpPr>
            <p:cNvPr id="162" name="Freeform: Shape 161">
              <a:extLst>
                <a:ext uri="{FF2B5EF4-FFF2-40B4-BE49-F238E27FC236}">
                  <a16:creationId xmlns:a16="http://schemas.microsoft.com/office/drawing/2014/main" id="{009FC0DC-B466-40AE-856B-0BEC0DCF5FF2}"/>
                </a:ext>
              </a:extLst>
            </p:cNvPr>
            <p:cNvSpPr/>
            <p:nvPr/>
          </p:nvSpPr>
          <p:spPr>
            <a:xfrm>
              <a:off x="1713270" y="1603386"/>
              <a:ext cx="241686" cy="162389"/>
            </a:xfrm>
            <a:custGeom>
              <a:avLst/>
              <a:gdLst>
                <a:gd name="connsiteX0" fmla="*/ 237343 w 241686"/>
                <a:gd name="connsiteY0" fmla="*/ 162390 h 162389"/>
                <a:gd name="connsiteX1" fmla="*/ 232959 w 241686"/>
                <a:gd name="connsiteY1" fmla="*/ 158006 h 162389"/>
                <a:gd name="connsiteX2" fmla="*/ 232959 w 241686"/>
                <a:gd name="connsiteY2" fmla="*/ 65987 h 162389"/>
                <a:gd name="connsiteX3" fmla="*/ 210203 w 241686"/>
                <a:gd name="connsiteY3" fmla="*/ 74356 h 162389"/>
                <a:gd name="connsiteX4" fmla="*/ 178202 w 241686"/>
                <a:gd name="connsiteY4" fmla="*/ 84518 h 162389"/>
                <a:gd name="connsiteX5" fmla="*/ 123763 w 241686"/>
                <a:gd name="connsiteY5" fmla="*/ 54111 h 162389"/>
                <a:gd name="connsiteX6" fmla="*/ 79368 w 241686"/>
                <a:gd name="connsiteY6" fmla="*/ 16331 h 162389"/>
                <a:gd name="connsiteX7" fmla="*/ 30070 w 241686"/>
                <a:gd name="connsiteY7" fmla="*/ 9755 h 162389"/>
                <a:gd name="connsiteX8" fmla="*/ 6318 w 241686"/>
                <a:gd name="connsiteY8" fmla="*/ 17327 h 162389"/>
                <a:gd name="connsiteX9" fmla="*/ 460 w 241686"/>
                <a:gd name="connsiteY9" fmla="*/ 15374 h 162389"/>
                <a:gd name="connsiteX10" fmla="*/ 2413 w 241686"/>
                <a:gd name="connsiteY10" fmla="*/ 9516 h 162389"/>
                <a:gd name="connsiteX11" fmla="*/ 28755 w 241686"/>
                <a:gd name="connsiteY11" fmla="*/ 1107 h 162389"/>
                <a:gd name="connsiteX12" fmla="*/ 82875 w 241686"/>
                <a:gd name="connsiteY12" fmla="*/ 8320 h 162389"/>
                <a:gd name="connsiteX13" fmla="*/ 130379 w 241686"/>
                <a:gd name="connsiteY13" fmla="*/ 48412 h 162389"/>
                <a:gd name="connsiteX14" fmla="*/ 177285 w 241686"/>
                <a:gd name="connsiteY14" fmla="*/ 75830 h 162389"/>
                <a:gd name="connsiteX15" fmla="*/ 206656 w 241686"/>
                <a:gd name="connsiteY15" fmla="*/ 66345 h 162389"/>
                <a:gd name="connsiteX16" fmla="*/ 232560 w 241686"/>
                <a:gd name="connsiteY16" fmla="*/ 57100 h 162389"/>
                <a:gd name="connsiteX17" fmla="*/ 236585 w 241686"/>
                <a:gd name="connsiteY17" fmla="*/ 56342 h 162389"/>
                <a:gd name="connsiteX18" fmla="*/ 240132 w 241686"/>
                <a:gd name="connsiteY18" fmla="*/ 57339 h 162389"/>
                <a:gd name="connsiteX19" fmla="*/ 241686 w 241686"/>
                <a:gd name="connsiteY19" fmla="*/ 60686 h 162389"/>
                <a:gd name="connsiteX20" fmla="*/ 241686 w 241686"/>
                <a:gd name="connsiteY20" fmla="*/ 158006 h 162389"/>
                <a:gd name="connsiteX21" fmla="*/ 237303 w 241686"/>
                <a:gd name="connsiteY21" fmla="*/ 162390 h 16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1686" h="162389">
                  <a:moveTo>
                    <a:pt x="237343" y="162390"/>
                  </a:moveTo>
                  <a:cubicBezTo>
                    <a:pt x="234912" y="162390"/>
                    <a:pt x="232959" y="160437"/>
                    <a:pt x="232959" y="158006"/>
                  </a:cubicBezTo>
                  <a:lnTo>
                    <a:pt x="232959" y="65987"/>
                  </a:lnTo>
                  <a:cubicBezTo>
                    <a:pt x="225267" y="67780"/>
                    <a:pt x="217934" y="70968"/>
                    <a:pt x="210203" y="74356"/>
                  </a:cubicBezTo>
                  <a:cubicBezTo>
                    <a:pt x="200081" y="78779"/>
                    <a:pt x="189600" y="83362"/>
                    <a:pt x="178202" y="84518"/>
                  </a:cubicBezTo>
                  <a:cubicBezTo>
                    <a:pt x="155446" y="86829"/>
                    <a:pt x="138588" y="71287"/>
                    <a:pt x="123763" y="54111"/>
                  </a:cubicBezTo>
                  <a:cubicBezTo>
                    <a:pt x="111250" y="39604"/>
                    <a:pt x="98298" y="24620"/>
                    <a:pt x="79368" y="16331"/>
                  </a:cubicBezTo>
                  <a:cubicBezTo>
                    <a:pt x="63706" y="9516"/>
                    <a:pt x="46689" y="7244"/>
                    <a:pt x="30070" y="9755"/>
                  </a:cubicBezTo>
                  <a:cubicBezTo>
                    <a:pt x="21861" y="10990"/>
                    <a:pt x="13890" y="13541"/>
                    <a:pt x="6318" y="17327"/>
                  </a:cubicBezTo>
                  <a:cubicBezTo>
                    <a:pt x="4166" y="18403"/>
                    <a:pt x="1536" y="17526"/>
                    <a:pt x="460" y="15374"/>
                  </a:cubicBezTo>
                  <a:cubicBezTo>
                    <a:pt x="-616" y="13222"/>
                    <a:pt x="261" y="10592"/>
                    <a:pt x="2413" y="9516"/>
                  </a:cubicBezTo>
                  <a:cubicBezTo>
                    <a:pt x="10822" y="5331"/>
                    <a:pt x="19669" y="2502"/>
                    <a:pt x="28755" y="1107"/>
                  </a:cubicBezTo>
                  <a:cubicBezTo>
                    <a:pt x="47008" y="-1683"/>
                    <a:pt x="65698" y="828"/>
                    <a:pt x="82875" y="8320"/>
                  </a:cubicBezTo>
                  <a:cubicBezTo>
                    <a:pt x="103638" y="17407"/>
                    <a:pt x="117228" y="33148"/>
                    <a:pt x="130379" y="48412"/>
                  </a:cubicBezTo>
                  <a:cubicBezTo>
                    <a:pt x="143650" y="63795"/>
                    <a:pt x="158475" y="77743"/>
                    <a:pt x="177285" y="75830"/>
                  </a:cubicBezTo>
                  <a:cubicBezTo>
                    <a:pt x="187328" y="74794"/>
                    <a:pt x="196733" y="70689"/>
                    <a:pt x="206656" y="66345"/>
                  </a:cubicBezTo>
                  <a:cubicBezTo>
                    <a:pt x="214906" y="62719"/>
                    <a:pt x="223474" y="59013"/>
                    <a:pt x="232560" y="57100"/>
                  </a:cubicBezTo>
                  <a:cubicBezTo>
                    <a:pt x="233915" y="56821"/>
                    <a:pt x="235230" y="56582"/>
                    <a:pt x="236585" y="56342"/>
                  </a:cubicBezTo>
                  <a:cubicBezTo>
                    <a:pt x="237861" y="56143"/>
                    <a:pt x="239136" y="56502"/>
                    <a:pt x="240132" y="57339"/>
                  </a:cubicBezTo>
                  <a:cubicBezTo>
                    <a:pt x="241129" y="58176"/>
                    <a:pt x="241686" y="59371"/>
                    <a:pt x="241686" y="60686"/>
                  </a:cubicBezTo>
                  <a:lnTo>
                    <a:pt x="241686" y="158006"/>
                  </a:lnTo>
                  <a:cubicBezTo>
                    <a:pt x="241686" y="160437"/>
                    <a:pt x="239734" y="162390"/>
                    <a:pt x="237303" y="162390"/>
                  </a:cubicBezTo>
                  <a:close/>
                </a:path>
              </a:pathLst>
            </a:custGeom>
            <a:solidFill>
              <a:srgbClr val="70B347"/>
            </a:solidFill>
            <a:ln w="3972" cap="flat" cmpd="sng" algn="ctr">
              <a:noFill/>
              <a:prstDash val="solid"/>
              <a:miter lim="800000"/>
              <a:headEnd type="none" w="med" len="med"/>
              <a:tailEnd type="none" w="med" len="med"/>
            </a:ln>
          </p:spPr>
          <p:txBody>
            <a:bodyPr rtlCol="0" anchor="ctr"/>
            <a:lstStyle/>
            <a:p>
              <a:endParaRPr lang="en-US"/>
            </a:p>
          </p:txBody>
        </p:sp>
        <p:sp>
          <p:nvSpPr>
            <p:cNvPr id="163" name="Freeform: Shape 162">
              <a:extLst>
                <a:ext uri="{FF2B5EF4-FFF2-40B4-BE49-F238E27FC236}">
                  <a16:creationId xmlns:a16="http://schemas.microsoft.com/office/drawing/2014/main" id="{EAF38E62-ABE6-433F-B9D2-EA902B460159}"/>
                </a:ext>
              </a:extLst>
            </p:cNvPr>
            <p:cNvSpPr/>
            <p:nvPr/>
          </p:nvSpPr>
          <p:spPr>
            <a:xfrm>
              <a:off x="1859709" y="1554956"/>
              <a:ext cx="67908" cy="67908"/>
            </a:xfrm>
            <a:custGeom>
              <a:avLst/>
              <a:gdLst>
                <a:gd name="connsiteX0" fmla="*/ 67908 w 67908"/>
                <a:gd name="connsiteY0" fmla="*/ 33954 h 67908"/>
                <a:gd name="connsiteX1" fmla="*/ 33954 w 67908"/>
                <a:gd name="connsiteY1" fmla="*/ 67908 h 67908"/>
                <a:gd name="connsiteX2" fmla="*/ 0 w 67908"/>
                <a:gd name="connsiteY2" fmla="*/ 33954 h 67908"/>
                <a:gd name="connsiteX3" fmla="*/ 33954 w 67908"/>
                <a:gd name="connsiteY3" fmla="*/ 0 h 67908"/>
                <a:gd name="connsiteX4" fmla="*/ 67908 w 67908"/>
                <a:gd name="connsiteY4" fmla="*/ 33954 h 67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908" h="67908">
                  <a:moveTo>
                    <a:pt x="67908" y="33954"/>
                  </a:moveTo>
                  <a:cubicBezTo>
                    <a:pt x="67908" y="52707"/>
                    <a:pt x="52707" y="67908"/>
                    <a:pt x="33954" y="67908"/>
                  </a:cubicBezTo>
                  <a:cubicBezTo>
                    <a:pt x="15202" y="67908"/>
                    <a:pt x="0" y="52707"/>
                    <a:pt x="0" y="33954"/>
                  </a:cubicBezTo>
                  <a:cubicBezTo>
                    <a:pt x="0" y="15202"/>
                    <a:pt x="15202" y="0"/>
                    <a:pt x="33954" y="0"/>
                  </a:cubicBezTo>
                  <a:cubicBezTo>
                    <a:pt x="52707" y="0"/>
                    <a:pt x="67908" y="15202"/>
                    <a:pt x="67908" y="33954"/>
                  </a:cubicBezTo>
                  <a:close/>
                </a:path>
              </a:pathLst>
            </a:custGeom>
            <a:solidFill>
              <a:srgbClr val="D7B728"/>
            </a:solidFill>
            <a:ln w="3972" cap="flat">
              <a:no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id="{908BD0AE-0C53-49CE-BFB7-FB384496A15C}"/>
                </a:ext>
              </a:extLst>
            </p:cNvPr>
            <p:cNvSpPr/>
            <p:nvPr/>
          </p:nvSpPr>
          <p:spPr>
            <a:xfrm>
              <a:off x="873524" y="1713051"/>
              <a:ext cx="774416" cy="399360"/>
            </a:xfrm>
            <a:custGeom>
              <a:avLst/>
              <a:gdLst>
                <a:gd name="connsiteX0" fmla="*/ 9004 w 774416"/>
                <a:gd name="connsiteY0" fmla="*/ 335397 h 399360"/>
                <a:gd name="connsiteX1" fmla="*/ 118399 w 774416"/>
                <a:gd name="connsiteY1" fmla="*/ 111427 h 399360"/>
                <a:gd name="connsiteX2" fmla="*/ 356636 w 774416"/>
                <a:gd name="connsiteY2" fmla="*/ 0 h 399360"/>
                <a:gd name="connsiteX3" fmla="*/ 487193 w 774416"/>
                <a:gd name="connsiteY3" fmla="*/ 3547 h 399360"/>
                <a:gd name="connsiteX4" fmla="*/ 626716 w 774416"/>
                <a:gd name="connsiteY4" fmla="*/ 123662 h 399360"/>
                <a:gd name="connsiteX5" fmla="*/ 759265 w 774416"/>
                <a:gd name="connsiteY5" fmla="*/ 128086 h 399360"/>
                <a:gd name="connsiteX6" fmla="*/ 771579 w 774416"/>
                <a:gd name="connsiteY6" fmla="*/ 233933 h 399360"/>
                <a:gd name="connsiteX7" fmla="*/ 704906 w 774416"/>
                <a:gd name="connsiteY7" fmla="*/ 392865 h 399360"/>
                <a:gd name="connsiteX8" fmla="*/ 605076 w 774416"/>
                <a:gd name="connsiteY8" fmla="*/ 382543 h 399360"/>
                <a:gd name="connsiteX9" fmla="*/ 603681 w 774416"/>
                <a:gd name="connsiteY9" fmla="*/ 399361 h 399360"/>
                <a:gd name="connsiteX10" fmla="*/ 224924 w 774416"/>
                <a:gd name="connsiteY10" fmla="*/ 399361 h 399360"/>
                <a:gd name="connsiteX11" fmla="*/ 224924 w 774416"/>
                <a:gd name="connsiteY11" fmla="*/ 326152 h 399360"/>
                <a:gd name="connsiteX12" fmla="*/ 8964 w 774416"/>
                <a:gd name="connsiteY12" fmla="*/ 335397 h 399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16" h="399360">
                  <a:moveTo>
                    <a:pt x="9004" y="335397"/>
                  </a:moveTo>
                  <a:cubicBezTo>
                    <a:pt x="-25867" y="274662"/>
                    <a:pt x="46903" y="180491"/>
                    <a:pt x="118399" y="111427"/>
                  </a:cubicBezTo>
                  <a:cubicBezTo>
                    <a:pt x="184036" y="48062"/>
                    <a:pt x="242021" y="7373"/>
                    <a:pt x="356636" y="0"/>
                  </a:cubicBezTo>
                  <a:lnTo>
                    <a:pt x="487193" y="3547"/>
                  </a:lnTo>
                  <a:cubicBezTo>
                    <a:pt x="603641" y="13351"/>
                    <a:pt x="626716" y="123662"/>
                    <a:pt x="626716" y="123662"/>
                  </a:cubicBezTo>
                  <a:lnTo>
                    <a:pt x="759265" y="128086"/>
                  </a:lnTo>
                  <a:cubicBezTo>
                    <a:pt x="759265" y="128086"/>
                    <a:pt x="764765" y="179017"/>
                    <a:pt x="771579" y="233933"/>
                  </a:cubicBezTo>
                  <a:cubicBezTo>
                    <a:pt x="776960" y="277173"/>
                    <a:pt x="782977" y="376645"/>
                    <a:pt x="704906" y="392865"/>
                  </a:cubicBezTo>
                  <a:cubicBezTo>
                    <a:pt x="661348" y="401911"/>
                    <a:pt x="626955" y="392586"/>
                    <a:pt x="605076" y="382543"/>
                  </a:cubicBezTo>
                  <a:lnTo>
                    <a:pt x="603681" y="399361"/>
                  </a:lnTo>
                  <a:lnTo>
                    <a:pt x="224924" y="399361"/>
                  </a:lnTo>
                  <a:lnTo>
                    <a:pt x="224924" y="326152"/>
                  </a:lnTo>
                  <a:cubicBezTo>
                    <a:pt x="175786" y="366961"/>
                    <a:pt x="63004" y="429569"/>
                    <a:pt x="8964" y="335397"/>
                  </a:cubicBezTo>
                  <a:close/>
                </a:path>
              </a:pathLst>
            </a:custGeom>
            <a:solidFill>
              <a:schemeClr val="tx2">
                <a:lumMod val="40000"/>
                <a:lumOff val="60000"/>
              </a:schemeClr>
            </a:solidFill>
            <a:ln w="3972" cap="flat">
              <a:noFill/>
              <a:prstDash val="solid"/>
              <a:miter/>
            </a:ln>
          </p:spPr>
          <p:txBody>
            <a:bodyPr rtlCol="0" anchor="ctr"/>
            <a:lstStyle/>
            <a:p>
              <a:endParaRPr lang="en-US"/>
            </a:p>
          </p:txBody>
        </p:sp>
        <p:sp>
          <p:nvSpPr>
            <p:cNvPr id="165" name="Freeform: Shape 164">
              <a:extLst>
                <a:ext uri="{FF2B5EF4-FFF2-40B4-BE49-F238E27FC236}">
                  <a16:creationId xmlns:a16="http://schemas.microsoft.com/office/drawing/2014/main" id="{C0C005D5-25EB-4853-A780-B5A8834840AF}"/>
                </a:ext>
              </a:extLst>
            </p:cNvPr>
            <p:cNvSpPr/>
            <p:nvPr/>
          </p:nvSpPr>
          <p:spPr>
            <a:xfrm rot="2700000">
              <a:off x="1788150" y="1937440"/>
              <a:ext cx="62687" cy="62687"/>
            </a:xfrm>
            <a:custGeom>
              <a:avLst/>
              <a:gdLst>
                <a:gd name="connsiteX0" fmla="*/ 56471 w 62687"/>
                <a:gd name="connsiteY0" fmla="*/ 0 h 62687"/>
                <a:gd name="connsiteX1" fmla="*/ 62688 w 62687"/>
                <a:gd name="connsiteY1" fmla="*/ 6217 h 62687"/>
                <a:gd name="connsiteX2" fmla="*/ 62688 w 62687"/>
                <a:gd name="connsiteY2" fmla="*/ 56471 h 62687"/>
                <a:gd name="connsiteX3" fmla="*/ 56471 w 62687"/>
                <a:gd name="connsiteY3" fmla="*/ 62688 h 62687"/>
                <a:gd name="connsiteX4" fmla="*/ 6217 w 62687"/>
                <a:gd name="connsiteY4" fmla="*/ 62688 h 62687"/>
                <a:gd name="connsiteX5" fmla="*/ 0 w 62687"/>
                <a:gd name="connsiteY5" fmla="*/ 56471 h 62687"/>
                <a:gd name="connsiteX6" fmla="*/ 0 w 62687"/>
                <a:gd name="connsiteY6" fmla="*/ 6217 h 62687"/>
                <a:gd name="connsiteX7" fmla="*/ 6217 w 62687"/>
                <a:gd name="connsiteY7" fmla="*/ 0 h 62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687" h="62687">
                  <a:moveTo>
                    <a:pt x="56471" y="0"/>
                  </a:moveTo>
                  <a:cubicBezTo>
                    <a:pt x="59904" y="0"/>
                    <a:pt x="62688" y="2783"/>
                    <a:pt x="62688" y="6217"/>
                  </a:cubicBezTo>
                  <a:lnTo>
                    <a:pt x="62688" y="56471"/>
                  </a:lnTo>
                  <a:cubicBezTo>
                    <a:pt x="62688" y="59904"/>
                    <a:pt x="59904" y="62688"/>
                    <a:pt x="56471" y="62688"/>
                  </a:cubicBezTo>
                  <a:lnTo>
                    <a:pt x="6217" y="62688"/>
                  </a:lnTo>
                  <a:cubicBezTo>
                    <a:pt x="2783" y="62688"/>
                    <a:pt x="0" y="59904"/>
                    <a:pt x="0" y="56471"/>
                  </a:cubicBezTo>
                  <a:lnTo>
                    <a:pt x="0" y="6217"/>
                  </a:lnTo>
                  <a:cubicBezTo>
                    <a:pt x="0" y="2783"/>
                    <a:pt x="2783" y="0"/>
                    <a:pt x="6217" y="0"/>
                  </a:cubicBezTo>
                  <a:close/>
                </a:path>
              </a:pathLst>
            </a:custGeom>
            <a:solidFill>
              <a:schemeClr val="tx2">
                <a:lumMod val="40000"/>
                <a:lumOff val="60000"/>
              </a:schemeClr>
            </a:solidFill>
            <a:ln w="3972" cap="flat">
              <a:no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id="{15AD6CB6-9FCD-4CE6-B763-551A44AB1D58}"/>
                </a:ext>
              </a:extLst>
            </p:cNvPr>
            <p:cNvSpPr/>
            <p:nvPr/>
          </p:nvSpPr>
          <p:spPr>
            <a:xfrm rot="18964200">
              <a:off x="1204857" y="1482530"/>
              <a:ext cx="176307" cy="176306"/>
            </a:xfrm>
            <a:custGeom>
              <a:avLst/>
              <a:gdLst>
                <a:gd name="connsiteX0" fmla="*/ 176307 w 176307"/>
                <a:gd name="connsiteY0" fmla="*/ 88153 h 176306"/>
                <a:gd name="connsiteX1" fmla="*/ 88153 w 176307"/>
                <a:gd name="connsiteY1" fmla="*/ 176307 h 176306"/>
                <a:gd name="connsiteX2" fmla="*/ 0 w 176307"/>
                <a:gd name="connsiteY2" fmla="*/ 88153 h 176306"/>
                <a:gd name="connsiteX3" fmla="*/ 88153 w 176307"/>
                <a:gd name="connsiteY3" fmla="*/ 0 h 176306"/>
                <a:gd name="connsiteX4" fmla="*/ 176307 w 176307"/>
                <a:gd name="connsiteY4" fmla="*/ 88153 h 1763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307" h="176306">
                  <a:moveTo>
                    <a:pt x="176307" y="88153"/>
                  </a:moveTo>
                  <a:cubicBezTo>
                    <a:pt x="176307" y="136839"/>
                    <a:pt x="136839" y="176307"/>
                    <a:pt x="88153" y="176307"/>
                  </a:cubicBezTo>
                  <a:cubicBezTo>
                    <a:pt x="39468" y="176307"/>
                    <a:pt x="0" y="136839"/>
                    <a:pt x="0" y="88153"/>
                  </a:cubicBezTo>
                  <a:cubicBezTo>
                    <a:pt x="0" y="39468"/>
                    <a:pt x="39468" y="0"/>
                    <a:pt x="88153" y="0"/>
                  </a:cubicBezTo>
                  <a:cubicBezTo>
                    <a:pt x="136839" y="0"/>
                    <a:pt x="176307" y="39468"/>
                    <a:pt x="176307" y="88153"/>
                  </a:cubicBezTo>
                  <a:close/>
                </a:path>
              </a:pathLst>
            </a:custGeom>
            <a:solidFill>
              <a:srgbClr val="1D2333"/>
            </a:solidFill>
            <a:ln w="3972"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id="{1ABE18E5-AEE1-4D06-8775-611F92476520}"/>
                </a:ext>
              </a:extLst>
            </p:cNvPr>
            <p:cNvSpPr/>
            <p:nvPr/>
          </p:nvSpPr>
          <p:spPr>
            <a:xfrm>
              <a:off x="1244388" y="1534846"/>
              <a:ext cx="142370" cy="193586"/>
            </a:xfrm>
            <a:custGeom>
              <a:avLst/>
              <a:gdLst>
                <a:gd name="connsiteX0" fmla="*/ 138288 w 142370"/>
                <a:gd name="connsiteY0" fmla="*/ 41471 h 193586"/>
                <a:gd name="connsiteX1" fmla="*/ 131433 w 142370"/>
                <a:gd name="connsiteY1" fmla="*/ 4329 h 193586"/>
                <a:gd name="connsiteX2" fmla="*/ 127767 w 142370"/>
                <a:gd name="connsiteY2" fmla="*/ 6441 h 193586"/>
                <a:gd name="connsiteX3" fmla="*/ 125336 w 142370"/>
                <a:gd name="connsiteY3" fmla="*/ 7756 h 193586"/>
                <a:gd name="connsiteX4" fmla="*/ 100069 w 142370"/>
                <a:gd name="connsiteY4" fmla="*/ 7756 h 193586"/>
                <a:gd name="connsiteX5" fmla="*/ 53442 w 142370"/>
                <a:gd name="connsiteY5" fmla="*/ 5046 h 193586"/>
                <a:gd name="connsiteX6" fmla="*/ 50573 w 142370"/>
                <a:gd name="connsiteY6" fmla="*/ 14212 h 193586"/>
                <a:gd name="connsiteX7" fmla="*/ 43001 w 142370"/>
                <a:gd name="connsiteY7" fmla="*/ 66499 h 193586"/>
                <a:gd name="connsiteX8" fmla="*/ 1833 w 142370"/>
                <a:gd name="connsiteY8" fmla="*/ 109260 h 193586"/>
                <a:gd name="connsiteX9" fmla="*/ 0 w 142370"/>
                <a:gd name="connsiteY9" fmla="*/ 165093 h 193586"/>
                <a:gd name="connsiteX10" fmla="*/ 67311 w 142370"/>
                <a:gd name="connsiteY10" fmla="*/ 193349 h 193586"/>
                <a:gd name="connsiteX11" fmla="*/ 100587 w 142370"/>
                <a:gd name="connsiteY11" fmla="*/ 170154 h 193586"/>
                <a:gd name="connsiteX12" fmla="*/ 100269 w 142370"/>
                <a:gd name="connsiteY12" fmla="*/ 144131 h 193586"/>
                <a:gd name="connsiteX13" fmla="*/ 138288 w 142370"/>
                <a:gd name="connsiteY13" fmla="*/ 41471 h 193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2370" h="193586">
                  <a:moveTo>
                    <a:pt x="138288" y="41471"/>
                  </a:moveTo>
                  <a:cubicBezTo>
                    <a:pt x="137013" y="21864"/>
                    <a:pt x="134821" y="10625"/>
                    <a:pt x="131433" y="4329"/>
                  </a:cubicBezTo>
                  <a:cubicBezTo>
                    <a:pt x="130278" y="5166"/>
                    <a:pt x="129042" y="5843"/>
                    <a:pt x="127767" y="6441"/>
                  </a:cubicBezTo>
                  <a:cubicBezTo>
                    <a:pt x="127010" y="6959"/>
                    <a:pt x="126213" y="7397"/>
                    <a:pt x="125336" y="7756"/>
                  </a:cubicBezTo>
                  <a:cubicBezTo>
                    <a:pt x="119478" y="10107"/>
                    <a:pt x="110989" y="11423"/>
                    <a:pt x="100069" y="7756"/>
                  </a:cubicBezTo>
                  <a:cubicBezTo>
                    <a:pt x="80223" y="1180"/>
                    <a:pt x="63764" y="-4439"/>
                    <a:pt x="53442" y="5046"/>
                  </a:cubicBezTo>
                  <a:cubicBezTo>
                    <a:pt x="50931" y="7358"/>
                    <a:pt x="49895" y="10865"/>
                    <a:pt x="50573" y="14212"/>
                  </a:cubicBezTo>
                  <a:cubicBezTo>
                    <a:pt x="52605" y="24574"/>
                    <a:pt x="56032" y="50757"/>
                    <a:pt x="43001" y="66499"/>
                  </a:cubicBezTo>
                  <a:cubicBezTo>
                    <a:pt x="43001" y="66499"/>
                    <a:pt x="27777" y="100373"/>
                    <a:pt x="1833" y="109260"/>
                  </a:cubicBezTo>
                  <a:cubicBezTo>
                    <a:pt x="996" y="135762"/>
                    <a:pt x="0" y="165093"/>
                    <a:pt x="0" y="165093"/>
                  </a:cubicBezTo>
                  <a:cubicBezTo>
                    <a:pt x="0" y="165093"/>
                    <a:pt x="27140" y="196616"/>
                    <a:pt x="67311" y="193349"/>
                  </a:cubicBezTo>
                  <a:cubicBezTo>
                    <a:pt x="107482" y="190081"/>
                    <a:pt x="100587" y="170154"/>
                    <a:pt x="100587" y="170154"/>
                  </a:cubicBezTo>
                  <a:lnTo>
                    <a:pt x="100269" y="144131"/>
                  </a:lnTo>
                  <a:cubicBezTo>
                    <a:pt x="154587" y="137595"/>
                    <a:pt x="142353" y="103920"/>
                    <a:pt x="138288" y="41471"/>
                  </a:cubicBezTo>
                  <a:close/>
                </a:path>
              </a:pathLst>
            </a:custGeom>
            <a:solidFill>
              <a:srgbClr val="FFBEBB"/>
            </a:solidFill>
            <a:ln w="3972" cap="flat">
              <a:no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id="{485DB17D-CEA3-440C-9A7B-0DD4317149B4}"/>
                </a:ext>
              </a:extLst>
            </p:cNvPr>
            <p:cNvSpPr/>
            <p:nvPr/>
          </p:nvSpPr>
          <p:spPr>
            <a:xfrm>
              <a:off x="1297221" y="1673108"/>
              <a:ext cx="48226" cy="47793"/>
            </a:xfrm>
            <a:custGeom>
              <a:avLst/>
              <a:gdLst>
                <a:gd name="connsiteX0" fmla="*/ 609 w 48226"/>
                <a:gd name="connsiteY0" fmla="*/ 3877 h 47793"/>
                <a:gd name="connsiteX1" fmla="*/ 40660 w 48226"/>
                <a:gd name="connsiteY1" fmla="*/ 47794 h 47793"/>
                <a:gd name="connsiteX2" fmla="*/ 47794 w 48226"/>
                <a:gd name="connsiteY2" fmla="*/ 31853 h 47793"/>
                <a:gd name="connsiteX3" fmla="*/ 47475 w 48226"/>
                <a:gd name="connsiteY3" fmla="*/ 5829 h 47793"/>
                <a:gd name="connsiteX4" fmla="*/ 3040 w 48226"/>
                <a:gd name="connsiteY4" fmla="*/ 130 h 47793"/>
                <a:gd name="connsiteX5" fmla="*/ 609 w 48226"/>
                <a:gd name="connsiteY5" fmla="*/ 3837 h 47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226" h="47793">
                  <a:moveTo>
                    <a:pt x="609" y="3877"/>
                  </a:moveTo>
                  <a:lnTo>
                    <a:pt x="40660" y="47794"/>
                  </a:lnTo>
                  <a:cubicBezTo>
                    <a:pt x="50862" y="40899"/>
                    <a:pt x="47794" y="31853"/>
                    <a:pt x="47794" y="31853"/>
                  </a:cubicBezTo>
                  <a:lnTo>
                    <a:pt x="47475" y="5829"/>
                  </a:lnTo>
                  <a:cubicBezTo>
                    <a:pt x="47475" y="5829"/>
                    <a:pt x="21133" y="6148"/>
                    <a:pt x="3040" y="130"/>
                  </a:cubicBezTo>
                  <a:cubicBezTo>
                    <a:pt x="808" y="-627"/>
                    <a:pt x="-986" y="2083"/>
                    <a:pt x="609" y="3837"/>
                  </a:cubicBezTo>
                  <a:close/>
                </a:path>
              </a:pathLst>
            </a:custGeom>
            <a:solidFill>
              <a:srgbClr val="F47C73"/>
            </a:solidFill>
            <a:ln w="3972" cap="flat">
              <a:no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id="{92B0F099-70A2-4AB9-8BE8-03B82EACF0E7}"/>
                </a:ext>
              </a:extLst>
            </p:cNvPr>
            <p:cNvSpPr/>
            <p:nvPr/>
          </p:nvSpPr>
          <p:spPr>
            <a:xfrm>
              <a:off x="1327370" y="1586173"/>
              <a:ext cx="5959" cy="11425"/>
            </a:xfrm>
            <a:custGeom>
              <a:avLst/>
              <a:gdLst>
                <a:gd name="connsiteX0" fmla="*/ 5928 w 5959"/>
                <a:gd name="connsiteY0" fmla="*/ 6802 h 11425"/>
                <a:gd name="connsiteX1" fmla="*/ 5769 w 5959"/>
                <a:gd name="connsiteY1" fmla="*/ 2737 h 11425"/>
                <a:gd name="connsiteX2" fmla="*/ 5171 w 5959"/>
                <a:gd name="connsiteY2" fmla="*/ 1024 h 11425"/>
                <a:gd name="connsiteX3" fmla="*/ 429 w 5959"/>
                <a:gd name="connsiteY3" fmla="*/ 1582 h 11425"/>
                <a:gd name="connsiteX4" fmla="*/ 70 w 5959"/>
                <a:gd name="connsiteY4" fmla="*/ 5128 h 11425"/>
                <a:gd name="connsiteX5" fmla="*/ 947 w 5959"/>
                <a:gd name="connsiteY5" fmla="*/ 10389 h 11425"/>
                <a:gd name="connsiteX6" fmla="*/ 2940 w 5959"/>
                <a:gd name="connsiteY6" fmla="*/ 11425 h 11425"/>
                <a:gd name="connsiteX7" fmla="*/ 5769 w 5959"/>
                <a:gd name="connsiteY7" fmla="*/ 8356 h 11425"/>
                <a:gd name="connsiteX8" fmla="*/ 5928 w 5959"/>
                <a:gd name="connsiteY8" fmla="*/ 6842 h 11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59" h="11425">
                  <a:moveTo>
                    <a:pt x="5928" y="6802"/>
                  </a:moveTo>
                  <a:cubicBezTo>
                    <a:pt x="6008" y="5447"/>
                    <a:pt x="5928" y="4013"/>
                    <a:pt x="5769" y="2737"/>
                  </a:cubicBezTo>
                  <a:cubicBezTo>
                    <a:pt x="5689" y="2139"/>
                    <a:pt x="5570" y="1502"/>
                    <a:pt x="5171" y="1024"/>
                  </a:cubicBezTo>
                  <a:cubicBezTo>
                    <a:pt x="4016" y="-531"/>
                    <a:pt x="947" y="-292"/>
                    <a:pt x="429" y="1582"/>
                  </a:cubicBezTo>
                  <a:cubicBezTo>
                    <a:pt x="110" y="2737"/>
                    <a:pt x="30" y="3933"/>
                    <a:pt x="70" y="5128"/>
                  </a:cubicBezTo>
                  <a:cubicBezTo>
                    <a:pt x="70" y="6962"/>
                    <a:pt x="-368" y="8795"/>
                    <a:pt x="947" y="10389"/>
                  </a:cubicBezTo>
                  <a:cubicBezTo>
                    <a:pt x="1425" y="10947"/>
                    <a:pt x="2142" y="11425"/>
                    <a:pt x="2940" y="11425"/>
                  </a:cubicBezTo>
                  <a:cubicBezTo>
                    <a:pt x="4813" y="11425"/>
                    <a:pt x="5570" y="9711"/>
                    <a:pt x="5769" y="8356"/>
                  </a:cubicBezTo>
                  <a:cubicBezTo>
                    <a:pt x="5849" y="7878"/>
                    <a:pt x="5889" y="7360"/>
                    <a:pt x="5928" y="6842"/>
                  </a:cubicBezTo>
                  <a:close/>
                </a:path>
              </a:pathLst>
            </a:custGeom>
            <a:solidFill>
              <a:srgbClr val="1D2333"/>
            </a:solidFill>
            <a:ln w="3972" cap="flat">
              <a:no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id="{239A9F7B-0660-459B-8735-24EE8CB3AE71}"/>
                </a:ext>
              </a:extLst>
            </p:cNvPr>
            <p:cNvSpPr/>
            <p:nvPr/>
          </p:nvSpPr>
          <p:spPr>
            <a:xfrm>
              <a:off x="1372682" y="1586173"/>
              <a:ext cx="5959" cy="11425"/>
            </a:xfrm>
            <a:custGeom>
              <a:avLst/>
              <a:gdLst>
                <a:gd name="connsiteX0" fmla="*/ 5928 w 5959"/>
                <a:gd name="connsiteY0" fmla="*/ 6802 h 11425"/>
                <a:gd name="connsiteX1" fmla="*/ 5769 w 5959"/>
                <a:gd name="connsiteY1" fmla="*/ 2737 h 11425"/>
                <a:gd name="connsiteX2" fmla="*/ 5171 w 5959"/>
                <a:gd name="connsiteY2" fmla="*/ 1024 h 11425"/>
                <a:gd name="connsiteX3" fmla="*/ 429 w 5959"/>
                <a:gd name="connsiteY3" fmla="*/ 1582 h 11425"/>
                <a:gd name="connsiteX4" fmla="*/ 70 w 5959"/>
                <a:gd name="connsiteY4" fmla="*/ 5128 h 11425"/>
                <a:gd name="connsiteX5" fmla="*/ 947 w 5959"/>
                <a:gd name="connsiteY5" fmla="*/ 10389 h 11425"/>
                <a:gd name="connsiteX6" fmla="*/ 2940 w 5959"/>
                <a:gd name="connsiteY6" fmla="*/ 11425 h 11425"/>
                <a:gd name="connsiteX7" fmla="*/ 5769 w 5959"/>
                <a:gd name="connsiteY7" fmla="*/ 8356 h 11425"/>
                <a:gd name="connsiteX8" fmla="*/ 5928 w 5959"/>
                <a:gd name="connsiteY8" fmla="*/ 6842 h 11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59" h="11425">
                  <a:moveTo>
                    <a:pt x="5928" y="6802"/>
                  </a:moveTo>
                  <a:cubicBezTo>
                    <a:pt x="6008" y="5447"/>
                    <a:pt x="5928" y="4013"/>
                    <a:pt x="5769" y="2737"/>
                  </a:cubicBezTo>
                  <a:cubicBezTo>
                    <a:pt x="5689" y="2139"/>
                    <a:pt x="5570" y="1502"/>
                    <a:pt x="5171" y="1024"/>
                  </a:cubicBezTo>
                  <a:cubicBezTo>
                    <a:pt x="4016" y="-531"/>
                    <a:pt x="947" y="-292"/>
                    <a:pt x="429" y="1582"/>
                  </a:cubicBezTo>
                  <a:cubicBezTo>
                    <a:pt x="110" y="2737"/>
                    <a:pt x="30" y="3933"/>
                    <a:pt x="70" y="5128"/>
                  </a:cubicBezTo>
                  <a:cubicBezTo>
                    <a:pt x="70" y="6962"/>
                    <a:pt x="-368" y="8795"/>
                    <a:pt x="947" y="10389"/>
                  </a:cubicBezTo>
                  <a:cubicBezTo>
                    <a:pt x="1425" y="10947"/>
                    <a:pt x="2142" y="11425"/>
                    <a:pt x="2940" y="11425"/>
                  </a:cubicBezTo>
                  <a:cubicBezTo>
                    <a:pt x="4813" y="11425"/>
                    <a:pt x="5570" y="9711"/>
                    <a:pt x="5769" y="8356"/>
                  </a:cubicBezTo>
                  <a:cubicBezTo>
                    <a:pt x="5849" y="7878"/>
                    <a:pt x="5889" y="7360"/>
                    <a:pt x="5928" y="6842"/>
                  </a:cubicBezTo>
                  <a:close/>
                </a:path>
              </a:pathLst>
            </a:custGeom>
            <a:solidFill>
              <a:srgbClr val="1D2333"/>
            </a:solidFill>
            <a:ln w="3972" cap="flat">
              <a:noFill/>
              <a:prstDash val="solid"/>
              <a:miter/>
            </a:ln>
          </p:spPr>
          <p:txBody>
            <a:bodyPr rtlCol="0" anchor="ctr"/>
            <a:lstStyle/>
            <a:p>
              <a:endParaRPr lang="en-US"/>
            </a:p>
          </p:txBody>
        </p:sp>
        <p:sp>
          <p:nvSpPr>
            <p:cNvPr id="178" name="Freeform: Shape 177">
              <a:extLst>
                <a:ext uri="{FF2B5EF4-FFF2-40B4-BE49-F238E27FC236}">
                  <a16:creationId xmlns:a16="http://schemas.microsoft.com/office/drawing/2014/main" id="{F47CFE44-84EB-418C-9301-34074C28520B}"/>
                </a:ext>
              </a:extLst>
            </p:cNvPr>
            <p:cNvSpPr/>
            <p:nvPr/>
          </p:nvSpPr>
          <p:spPr>
            <a:xfrm>
              <a:off x="1304759" y="1606241"/>
              <a:ext cx="24878" cy="24878"/>
            </a:xfrm>
            <a:custGeom>
              <a:avLst/>
              <a:gdLst>
                <a:gd name="connsiteX0" fmla="*/ 12081 w 24878"/>
                <a:gd name="connsiteY0" fmla="*/ 24873 h 24878"/>
                <a:gd name="connsiteX1" fmla="*/ 24873 w 24878"/>
                <a:gd name="connsiteY1" fmla="*/ 12798 h 24878"/>
                <a:gd name="connsiteX2" fmla="*/ 12798 w 24878"/>
                <a:gd name="connsiteY2" fmla="*/ 5 h 24878"/>
                <a:gd name="connsiteX3" fmla="*/ 5 w 24878"/>
                <a:gd name="connsiteY3" fmla="*/ 12081 h 24878"/>
                <a:gd name="connsiteX4" fmla="*/ 12081 w 24878"/>
                <a:gd name="connsiteY4" fmla="*/ 24873 h 24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78" h="24878">
                  <a:moveTo>
                    <a:pt x="12081" y="24873"/>
                  </a:moveTo>
                  <a:cubicBezTo>
                    <a:pt x="18935" y="25073"/>
                    <a:pt x="24674" y="19692"/>
                    <a:pt x="24873" y="12798"/>
                  </a:cubicBezTo>
                  <a:cubicBezTo>
                    <a:pt x="25073" y="5943"/>
                    <a:pt x="19692" y="205"/>
                    <a:pt x="12798" y="5"/>
                  </a:cubicBezTo>
                  <a:cubicBezTo>
                    <a:pt x="5943" y="-194"/>
                    <a:pt x="205" y="5186"/>
                    <a:pt x="5" y="12081"/>
                  </a:cubicBezTo>
                  <a:cubicBezTo>
                    <a:pt x="-194" y="18935"/>
                    <a:pt x="5186" y="24674"/>
                    <a:pt x="12081" y="24873"/>
                  </a:cubicBezTo>
                  <a:close/>
                </a:path>
              </a:pathLst>
            </a:custGeom>
            <a:solidFill>
              <a:srgbClr val="F47C73"/>
            </a:solidFill>
            <a:ln w="3972" cap="flat">
              <a:noFill/>
              <a:prstDash val="solid"/>
              <a:miter/>
            </a:ln>
          </p:spPr>
          <p:txBody>
            <a:bodyPr rtlCol="0" anchor="ctr"/>
            <a:lstStyle/>
            <a:p>
              <a:endParaRPr lang="en-US"/>
            </a:p>
          </p:txBody>
        </p:sp>
        <p:sp>
          <p:nvSpPr>
            <p:cNvPr id="237" name="Freeform: Shape 236">
              <a:extLst>
                <a:ext uri="{FF2B5EF4-FFF2-40B4-BE49-F238E27FC236}">
                  <a16:creationId xmlns:a16="http://schemas.microsoft.com/office/drawing/2014/main" id="{81A143EB-CB42-4819-9507-929098F0BE40}"/>
                </a:ext>
              </a:extLst>
            </p:cNvPr>
            <p:cNvSpPr/>
            <p:nvPr/>
          </p:nvSpPr>
          <p:spPr>
            <a:xfrm>
              <a:off x="1377090" y="1604453"/>
              <a:ext cx="9571" cy="23712"/>
            </a:xfrm>
            <a:custGeom>
              <a:avLst/>
              <a:gdLst>
                <a:gd name="connsiteX0" fmla="*/ 7898 w 9571"/>
                <a:gd name="connsiteY0" fmla="*/ 40 h 23712"/>
                <a:gd name="connsiteX1" fmla="*/ 7 w 9571"/>
                <a:gd name="connsiteY1" fmla="*/ 11238 h 23712"/>
                <a:gd name="connsiteX2" fmla="*/ 9571 w 9571"/>
                <a:gd name="connsiteY2" fmla="*/ 23712 h 23712"/>
                <a:gd name="connsiteX3" fmla="*/ 7898 w 9571"/>
                <a:gd name="connsiteY3" fmla="*/ 0 h 23712"/>
              </a:gdLst>
              <a:ahLst/>
              <a:cxnLst>
                <a:cxn ang="0">
                  <a:pos x="connsiteX0" y="connsiteY0"/>
                </a:cxn>
                <a:cxn ang="0">
                  <a:pos x="connsiteX1" y="connsiteY1"/>
                </a:cxn>
                <a:cxn ang="0">
                  <a:pos x="connsiteX2" y="connsiteY2"/>
                </a:cxn>
                <a:cxn ang="0">
                  <a:pos x="connsiteX3" y="connsiteY3"/>
                </a:cxn>
              </a:cxnLst>
              <a:rect l="l" t="t" r="r" b="b"/>
              <a:pathLst>
                <a:path w="9571" h="23712">
                  <a:moveTo>
                    <a:pt x="7898" y="40"/>
                  </a:moveTo>
                  <a:cubicBezTo>
                    <a:pt x="3394" y="1793"/>
                    <a:pt x="166" y="6097"/>
                    <a:pt x="7" y="11238"/>
                  </a:cubicBezTo>
                  <a:cubicBezTo>
                    <a:pt x="-192" y="17256"/>
                    <a:pt x="3952" y="22397"/>
                    <a:pt x="9571" y="23712"/>
                  </a:cubicBezTo>
                  <a:cubicBezTo>
                    <a:pt x="9332" y="16579"/>
                    <a:pt x="8655" y="8648"/>
                    <a:pt x="7898" y="0"/>
                  </a:cubicBezTo>
                  <a:close/>
                </a:path>
              </a:pathLst>
            </a:custGeom>
            <a:solidFill>
              <a:srgbClr val="F47C73"/>
            </a:solidFill>
            <a:ln w="3972" cap="flat">
              <a:noFill/>
              <a:prstDash val="solid"/>
              <a:miter/>
            </a:ln>
          </p:spPr>
          <p:txBody>
            <a:bodyPr rtlCol="0" anchor="ctr"/>
            <a:lstStyle/>
            <a:p>
              <a:endParaRPr lang="en-US"/>
            </a:p>
          </p:txBody>
        </p:sp>
        <p:sp>
          <p:nvSpPr>
            <p:cNvPr id="238" name="Freeform: Shape 237">
              <a:extLst>
                <a:ext uri="{FF2B5EF4-FFF2-40B4-BE49-F238E27FC236}">
                  <a16:creationId xmlns:a16="http://schemas.microsoft.com/office/drawing/2014/main" id="{2206ECE6-8083-4153-B407-1A8CB909EAD1}"/>
                </a:ext>
              </a:extLst>
            </p:cNvPr>
            <p:cNvSpPr/>
            <p:nvPr/>
          </p:nvSpPr>
          <p:spPr>
            <a:xfrm>
              <a:off x="1296276" y="1562568"/>
              <a:ext cx="59180" cy="59140"/>
            </a:xfrm>
            <a:custGeom>
              <a:avLst/>
              <a:gdLst>
                <a:gd name="connsiteX0" fmla="*/ 29570 w 59180"/>
                <a:gd name="connsiteY0" fmla="*/ 59141 h 59140"/>
                <a:gd name="connsiteX1" fmla="*/ 0 w 59180"/>
                <a:gd name="connsiteY1" fmla="*/ 29570 h 59140"/>
                <a:gd name="connsiteX2" fmla="*/ 29570 w 59180"/>
                <a:gd name="connsiteY2" fmla="*/ 0 h 59140"/>
                <a:gd name="connsiteX3" fmla="*/ 59181 w 59180"/>
                <a:gd name="connsiteY3" fmla="*/ 29570 h 59140"/>
                <a:gd name="connsiteX4" fmla="*/ 29570 w 59180"/>
                <a:gd name="connsiteY4" fmla="*/ 59141 h 59140"/>
                <a:gd name="connsiteX5" fmla="*/ 29570 w 59180"/>
                <a:gd name="connsiteY5" fmla="*/ 6018 h 59140"/>
                <a:gd name="connsiteX6" fmla="*/ 6058 w 59180"/>
                <a:gd name="connsiteY6" fmla="*/ 29531 h 59140"/>
                <a:gd name="connsiteX7" fmla="*/ 29570 w 59180"/>
                <a:gd name="connsiteY7" fmla="*/ 53043 h 59140"/>
                <a:gd name="connsiteX8" fmla="*/ 53083 w 59180"/>
                <a:gd name="connsiteY8" fmla="*/ 29531 h 59140"/>
                <a:gd name="connsiteX9" fmla="*/ 29570 w 59180"/>
                <a:gd name="connsiteY9" fmla="*/ 6018 h 5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180" h="59140">
                  <a:moveTo>
                    <a:pt x="29570" y="59141"/>
                  </a:moveTo>
                  <a:cubicBezTo>
                    <a:pt x="13271" y="59141"/>
                    <a:pt x="0" y="45870"/>
                    <a:pt x="0" y="29570"/>
                  </a:cubicBezTo>
                  <a:cubicBezTo>
                    <a:pt x="0" y="13271"/>
                    <a:pt x="13271" y="0"/>
                    <a:pt x="29570" y="0"/>
                  </a:cubicBezTo>
                  <a:cubicBezTo>
                    <a:pt x="45870" y="0"/>
                    <a:pt x="59181" y="13271"/>
                    <a:pt x="59181" y="29570"/>
                  </a:cubicBezTo>
                  <a:cubicBezTo>
                    <a:pt x="59181" y="45870"/>
                    <a:pt x="45910" y="59141"/>
                    <a:pt x="29570" y="59141"/>
                  </a:cubicBezTo>
                  <a:close/>
                  <a:moveTo>
                    <a:pt x="29570" y="6018"/>
                  </a:moveTo>
                  <a:cubicBezTo>
                    <a:pt x="16579" y="6018"/>
                    <a:pt x="6058" y="16579"/>
                    <a:pt x="6058" y="29531"/>
                  </a:cubicBezTo>
                  <a:cubicBezTo>
                    <a:pt x="6058" y="42483"/>
                    <a:pt x="16618" y="53043"/>
                    <a:pt x="29570" y="53043"/>
                  </a:cubicBezTo>
                  <a:cubicBezTo>
                    <a:pt x="42523" y="53043"/>
                    <a:pt x="53083" y="42483"/>
                    <a:pt x="53083" y="29531"/>
                  </a:cubicBezTo>
                  <a:cubicBezTo>
                    <a:pt x="53083" y="16579"/>
                    <a:pt x="42523" y="6018"/>
                    <a:pt x="29570" y="6018"/>
                  </a:cubicBezTo>
                  <a:close/>
                </a:path>
              </a:pathLst>
            </a:custGeom>
            <a:solidFill>
              <a:schemeClr val="accent6"/>
            </a:solidFill>
            <a:ln w="3972" cap="flat">
              <a:no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id="{A2372B45-3D4A-4D51-9936-0EDB67FFA2FD}"/>
                </a:ext>
              </a:extLst>
            </p:cNvPr>
            <p:cNvSpPr/>
            <p:nvPr/>
          </p:nvSpPr>
          <p:spPr>
            <a:xfrm>
              <a:off x="1361195" y="1562568"/>
              <a:ext cx="59180" cy="59140"/>
            </a:xfrm>
            <a:custGeom>
              <a:avLst/>
              <a:gdLst>
                <a:gd name="connsiteX0" fmla="*/ 29570 w 59180"/>
                <a:gd name="connsiteY0" fmla="*/ 59141 h 59140"/>
                <a:gd name="connsiteX1" fmla="*/ 0 w 59180"/>
                <a:gd name="connsiteY1" fmla="*/ 29570 h 59140"/>
                <a:gd name="connsiteX2" fmla="*/ 29570 w 59180"/>
                <a:gd name="connsiteY2" fmla="*/ 0 h 59140"/>
                <a:gd name="connsiteX3" fmla="*/ 59181 w 59180"/>
                <a:gd name="connsiteY3" fmla="*/ 29570 h 59140"/>
                <a:gd name="connsiteX4" fmla="*/ 29570 w 59180"/>
                <a:gd name="connsiteY4" fmla="*/ 59141 h 59140"/>
                <a:gd name="connsiteX5" fmla="*/ 29570 w 59180"/>
                <a:gd name="connsiteY5" fmla="*/ 6018 h 59140"/>
                <a:gd name="connsiteX6" fmla="*/ 6058 w 59180"/>
                <a:gd name="connsiteY6" fmla="*/ 29531 h 59140"/>
                <a:gd name="connsiteX7" fmla="*/ 29570 w 59180"/>
                <a:gd name="connsiteY7" fmla="*/ 53043 h 59140"/>
                <a:gd name="connsiteX8" fmla="*/ 53083 w 59180"/>
                <a:gd name="connsiteY8" fmla="*/ 29531 h 59140"/>
                <a:gd name="connsiteX9" fmla="*/ 29570 w 59180"/>
                <a:gd name="connsiteY9" fmla="*/ 6018 h 5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180" h="59140">
                  <a:moveTo>
                    <a:pt x="29570" y="59141"/>
                  </a:moveTo>
                  <a:cubicBezTo>
                    <a:pt x="13271" y="59141"/>
                    <a:pt x="0" y="45870"/>
                    <a:pt x="0" y="29570"/>
                  </a:cubicBezTo>
                  <a:cubicBezTo>
                    <a:pt x="0" y="13271"/>
                    <a:pt x="13271" y="0"/>
                    <a:pt x="29570" y="0"/>
                  </a:cubicBezTo>
                  <a:cubicBezTo>
                    <a:pt x="45870" y="0"/>
                    <a:pt x="59181" y="13271"/>
                    <a:pt x="59181" y="29570"/>
                  </a:cubicBezTo>
                  <a:cubicBezTo>
                    <a:pt x="59181" y="45870"/>
                    <a:pt x="45910" y="59141"/>
                    <a:pt x="29570" y="59141"/>
                  </a:cubicBezTo>
                  <a:close/>
                  <a:moveTo>
                    <a:pt x="29570" y="6018"/>
                  </a:moveTo>
                  <a:cubicBezTo>
                    <a:pt x="16579" y="6018"/>
                    <a:pt x="6058" y="16579"/>
                    <a:pt x="6058" y="29531"/>
                  </a:cubicBezTo>
                  <a:cubicBezTo>
                    <a:pt x="6058" y="42483"/>
                    <a:pt x="16618" y="53043"/>
                    <a:pt x="29570" y="53043"/>
                  </a:cubicBezTo>
                  <a:cubicBezTo>
                    <a:pt x="42522" y="53043"/>
                    <a:pt x="53083" y="42483"/>
                    <a:pt x="53083" y="29531"/>
                  </a:cubicBezTo>
                  <a:cubicBezTo>
                    <a:pt x="53083" y="16579"/>
                    <a:pt x="42522" y="6018"/>
                    <a:pt x="29570" y="6018"/>
                  </a:cubicBezTo>
                  <a:close/>
                </a:path>
              </a:pathLst>
            </a:custGeom>
            <a:solidFill>
              <a:schemeClr val="accent6"/>
            </a:solidFill>
            <a:ln w="3972" cap="flat">
              <a:noFill/>
              <a:prstDash val="solid"/>
              <a:miter/>
            </a:ln>
          </p:spPr>
          <p:txBody>
            <a:bodyPr rtlCol="0" anchor="ctr"/>
            <a:lstStyle/>
            <a:p>
              <a:endParaRPr lang="en-US"/>
            </a:p>
          </p:txBody>
        </p:sp>
        <p:sp>
          <p:nvSpPr>
            <p:cNvPr id="240" name="Freeform: Shape 239">
              <a:extLst>
                <a:ext uri="{FF2B5EF4-FFF2-40B4-BE49-F238E27FC236}">
                  <a16:creationId xmlns:a16="http://schemas.microsoft.com/office/drawing/2014/main" id="{2F3E4B6D-08E9-4E59-9993-066347EC3C89}"/>
                </a:ext>
              </a:extLst>
            </p:cNvPr>
            <p:cNvSpPr/>
            <p:nvPr/>
          </p:nvSpPr>
          <p:spPr>
            <a:xfrm>
              <a:off x="1355775" y="1581857"/>
              <a:ext cx="16026" cy="43598"/>
            </a:xfrm>
            <a:custGeom>
              <a:avLst/>
              <a:gdLst>
                <a:gd name="connsiteX0" fmla="*/ 8409 w 16026"/>
                <a:gd name="connsiteY0" fmla="*/ 43519 h 43598"/>
                <a:gd name="connsiteX1" fmla="*/ 6257 w 16026"/>
                <a:gd name="connsiteY1" fmla="*/ 42602 h 43598"/>
                <a:gd name="connsiteX2" fmla="*/ 6297 w 16026"/>
                <a:gd name="connsiteY2" fmla="*/ 38338 h 43598"/>
                <a:gd name="connsiteX3" fmla="*/ 9963 w 16026"/>
                <a:gd name="connsiteY3" fmla="*/ 30049 h 43598"/>
                <a:gd name="connsiteX4" fmla="*/ 1036 w 16026"/>
                <a:gd name="connsiteY4" fmla="*/ 14227 h 43598"/>
                <a:gd name="connsiteX5" fmla="*/ 0 w 16026"/>
                <a:gd name="connsiteY5" fmla="*/ 11956 h 43598"/>
                <a:gd name="connsiteX6" fmla="*/ 0 w 16026"/>
                <a:gd name="connsiteY6" fmla="*/ 3029 h 43598"/>
                <a:gd name="connsiteX7" fmla="*/ 3029 w 16026"/>
                <a:gd name="connsiteY7" fmla="*/ 0 h 43598"/>
                <a:gd name="connsiteX8" fmla="*/ 6058 w 16026"/>
                <a:gd name="connsiteY8" fmla="*/ 3029 h 43598"/>
                <a:gd name="connsiteX9" fmla="*/ 6058 w 16026"/>
                <a:gd name="connsiteY9" fmla="*/ 10680 h 43598"/>
                <a:gd name="connsiteX10" fmla="*/ 16021 w 16026"/>
                <a:gd name="connsiteY10" fmla="*/ 29929 h 43598"/>
                <a:gd name="connsiteX11" fmla="*/ 10561 w 16026"/>
                <a:gd name="connsiteY11" fmla="*/ 42722 h 43598"/>
                <a:gd name="connsiteX12" fmla="*/ 8449 w 16026"/>
                <a:gd name="connsiteY12" fmla="*/ 43598 h 43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026" h="43598">
                  <a:moveTo>
                    <a:pt x="8409" y="43519"/>
                  </a:moveTo>
                  <a:cubicBezTo>
                    <a:pt x="7612" y="43519"/>
                    <a:pt x="6855" y="43200"/>
                    <a:pt x="6257" y="42602"/>
                  </a:cubicBezTo>
                  <a:cubicBezTo>
                    <a:pt x="5101" y="41407"/>
                    <a:pt x="5101" y="39494"/>
                    <a:pt x="6297" y="38338"/>
                  </a:cubicBezTo>
                  <a:cubicBezTo>
                    <a:pt x="8847" y="35867"/>
                    <a:pt x="10043" y="33157"/>
                    <a:pt x="9963" y="30049"/>
                  </a:cubicBezTo>
                  <a:cubicBezTo>
                    <a:pt x="9804" y="23353"/>
                    <a:pt x="3467" y="16339"/>
                    <a:pt x="1036" y="14227"/>
                  </a:cubicBezTo>
                  <a:cubicBezTo>
                    <a:pt x="399" y="13669"/>
                    <a:pt x="0" y="12832"/>
                    <a:pt x="0" y="11956"/>
                  </a:cubicBezTo>
                  <a:lnTo>
                    <a:pt x="0" y="3029"/>
                  </a:lnTo>
                  <a:cubicBezTo>
                    <a:pt x="0" y="1355"/>
                    <a:pt x="1355" y="0"/>
                    <a:pt x="3029" y="0"/>
                  </a:cubicBezTo>
                  <a:cubicBezTo>
                    <a:pt x="4703" y="0"/>
                    <a:pt x="6058" y="1355"/>
                    <a:pt x="6058" y="3029"/>
                  </a:cubicBezTo>
                  <a:lnTo>
                    <a:pt x="6058" y="10680"/>
                  </a:lnTo>
                  <a:cubicBezTo>
                    <a:pt x="8768" y="13351"/>
                    <a:pt x="15782" y="21122"/>
                    <a:pt x="16021" y="29929"/>
                  </a:cubicBezTo>
                  <a:cubicBezTo>
                    <a:pt x="16140" y="34711"/>
                    <a:pt x="14307" y="39015"/>
                    <a:pt x="10561" y="42722"/>
                  </a:cubicBezTo>
                  <a:cubicBezTo>
                    <a:pt x="9963" y="43320"/>
                    <a:pt x="9206" y="43598"/>
                    <a:pt x="8449" y="43598"/>
                  </a:cubicBezTo>
                  <a:close/>
                </a:path>
              </a:pathLst>
            </a:custGeom>
            <a:solidFill>
              <a:srgbClr val="F47C73"/>
            </a:solidFill>
            <a:ln w="3972" cap="flat">
              <a:noFill/>
              <a:prstDash val="solid"/>
              <a:miter/>
            </a:ln>
          </p:spPr>
          <p:txBody>
            <a:bodyPr rtlCol="0" anchor="ctr"/>
            <a:lstStyle/>
            <a:p>
              <a:endParaRPr lang="en-US"/>
            </a:p>
          </p:txBody>
        </p:sp>
        <p:sp>
          <p:nvSpPr>
            <p:cNvPr id="241" name="Freeform: Shape 240">
              <a:extLst>
                <a:ext uri="{FF2B5EF4-FFF2-40B4-BE49-F238E27FC236}">
                  <a16:creationId xmlns:a16="http://schemas.microsoft.com/office/drawing/2014/main" id="{0C636234-2D3E-4C06-A367-4DD1E55047C9}"/>
                </a:ext>
              </a:extLst>
            </p:cNvPr>
            <p:cNvSpPr/>
            <p:nvPr/>
          </p:nvSpPr>
          <p:spPr>
            <a:xfrm>
              <a:off x="1349359" y="1588034"/>
              <a:ext cx="17574" cy="6057"/>
            </a:xfrm>
            <a:custGeom>
              <a:avLst/>
              <a:gdLst>
                <a:gd name="connsiteX0" fmla="*/ 14546 w 17574"/>
                <a:gd name="connsiteY0" fmla="*/ 6058 h 6057"/>
                <a:gd name="connsiteX1" fmla="*/ 3029 w 17574"/>
                <a:gd name="connsiteY1" fmla="*/ 6058 h 6057"/>
                <a:gd name="connsiteX2" fmla="*/ 0 w 17574"/>
                <a:gd name="connsiteY2" fmla="*/ 3029 h 6057"/>
                <a:gd name="connsiteX3" fmla="*/ 3029 w 17574"/>
                <a:gd name="connsiteY3" fmla="*/ 0 h 6057"/>
                <a:gd name="connsiteX4" fmla="*/ 14546 w 17574"/>
                <a:gd name="connsiteY4" fmla="*/ 0 h 6057"/>
                <a:gd name="connsiteX5" fmla="*/ 17575 w 17574"/>
                <a:gd name="connsiteY5" fmla="*/ 3029 h 6057"/>
                <a:gd name="connsiteX6" fmla="*/ 14546 w 17574"/>
                <a:gd name="connsiteY6" fmla="*/ 6058 h 6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574" h="6057">
                  <a:moveTo>
                    <a:pt x="14546" y="6058"/>
                  </a:moveTo>
                  <a:lnTo>
                    <a:pt x="3029" y="6058"/>
                  </a:lnTo>
                  <a:cubicBezTo>
                    <a:pt x="1355" y="6058"/>
                    <a:pt x="0" y="4703"/>
                    <a:pt x="0" y="3029"/>
                  </a:cubicBezTo>
                  <a:cubicBezTo>
                    <a:pt x="0" y="1355"/>
                    <a:pt x="1355" y="0"/>
                    <a:pt x="3029" y="0"/>
                  </a:cubicBezTo>
                  <a:lnTo>
                    <a:pt x="14546" y="0"/>
                  </a:lnTo>
                  <a:cubicBezTo>
                    <a:pt x="16220" y="0"/>
                    <a:pt x="17575" y="1355"/>
                    <a:pt x="17575" y="3029"/>
                  </a:cubicBezTo>
                  <a:cubicBezTo>
                    <a:pt x="17575" y="4703"/>
                    <a:pt x="16220" y="6058"/>
                    <a:pt x="14546" y="6058"/>
                  </a:cubicBezTo>
                  <a:close/>
                </a:path>
              </a:pathLst>
            </a:custGeom>
            <a:solidFill>
              <a:schemeClr val="accent6"/>
            </a:solidFill>
            <a:ln w="3972" cap="flat">
              <a:noFill/>
              <a:prstDash val="solid"/>
              <a:miter/>
            </a:ln>
          </p:spPr>
          <p:txBody>
            <a:bodyPr rtlCol="0" anchor="ctr"/>
            <a:lstStyle/>
            <a:p>
              <a:endParaRPr lang="en-US"/>
            </a:p>
          </p:txBody>
        </p:sp>
        <p:sp>
          <p:nvSpPr>
            <p:cNvPr id="242" name="Freeform: Shape 241">
              <a:extLst>
                <a:ext uri="{FF2B5EF4-FFF2-40B4-BE49-F238E27FC236}">
                  <a16:creationId xmlns:a16="http://schemas.microsoft.com/office/drawing/2014/main" id="{650D2B5E-72AA-4DCE-9F74-A208EB9A5743}"/>
                </a:ext>
              </a:extLst>
            </p:cNvPr>
            <p:cNvSpPr/>
            <p:nvPr/>
          </p:nvSpPr>
          <p:spPr>
            <a:xfrm>
              <a:off x="1346875" y="1626717"/>
              <a:ext cx="31831" cy="11251"/>
            </a:xfrm>
            <a:custGeom>
              <a:avLst/>
              <a:gdLst>
                <a:gd name="connsiteX0" fmla="*/ 18026 w 31831"/>
                <a:gd name="connsiteY0" fmla="*/ 11211 h 11251"/>
                <a:gd name="connsiteX1" fmla="*/ 1208 w 31831"/>
                <a:gd name="connsiteY1" fmla="*/ 5433 h 11251"/>
                <a:gd name="connsiteX2" fmla="*/ 611 w 31831"/>
                <a:gd name="connsiteY2" fmla="*/ 1208 h 11251"/>
                <a:gd name="connsiteX3" fmla="*/ 4835 w 31831"/>
                <a:gd name="connsiteY3" fmla="*/ 611 h 11251"/>
                <a:gd name="connsiteX4" fmla="*/ 26873 w 31831"/>
                <a:gd name="connsiteY4" fmla="*/ 2085 h 11251"/>
                <a:gd name="connsiteX5" fmla="*/ 31138 w 31831"/>
                <a:gd name="connsiteY5" fmla="*/ 2524 h 11251"/>
                <a:gd name="connsiteX6" fmla="*/ 30699 w 31831"/>
                <a:gd name="connsiteY6" fmla="*/ 6788 h 11251"/>
                <a:gd name="connsiteX7" fmla="*/ 18026 w 31831"/>
                <a:gd name="connsiteY7" fmla="*/ 11251 h 11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831" h="11251">
                  <a:moveTo>
                    <a:pt x="18026" y="11211"/>
                  </a:moveTo>
                  <a:cubicBezTo>
                    <a:pt x="11132" y="11211"/>
                    <a:pt x="4676" y="8023"/>
                    <a:pt x="1208" y="5433"/>
                  </a:cubicBezTo>
                  <a:cubicBezTo>
                    <a:pt x="-147" y="4437"/>
                    <a:pt x="-386" y="2524"/>
                    <a:pt x="611" y="1208"/>
                  </a:cubicBezTo>
                  <a:cubicBezTo>
                    <a:pt x="1607" y="-147"/>
                    <a:pt x="3520" y="-386"/>
                    <a:pt x="4835" y="611"/>
                  </a:cubicBezTo>
                  <a:cubicBezTo>
                    <a:pt x="5353" y="969"/>
                    <a:pt x="17389" y="9817"/>
                    <a:pt x="26873" y="2085"/>
                  </a:cubicBezTo>
                  <a:cubicBezTo>
                    <a:pt x="28149" y="1009"/>
                    <a:pt x="30062" y="1208"/>
                    <a:pt x="31138" y="2524"/>
                  </a:cubicBezTo>
                  <a:cubicBezTo>
                    <a:pt x="32214" y="3799"/>
                    <a:pt x="32014" y="5712"/>
                    <a:pt x="30699" y="6788"/>
                  </a:cubicBezTo>
                  <a:cubicBezTo>
                    <a:pt x="26714" y="10056"/>
                    <a:pt x="22290" y="11251"/>
                    <a:pt x="18026" y="11251"/>
                  </a:cubicBezTo>
                  <a:close/>
                </a:path>
              </a:pathLst>
            </a:custGeom>
            <a:solidFill>
              <a:srgbClr val="F47C73"/>
            </a:solidFill>
            <a:ln w="3972" cap="flat">
              <a:noFill/>
              <a:prstDash val="solid"/>
              <a:miter/>
            </a:ln>
          </p:spPr>
          <p:txBody>
            <a:bodyPr rtlCol="0" anchor="ctr"/>
            <a:lstStyle/>
            <a:p>
              <a:endParaRPr lang="en-US"/>
            </a:p>
          </p:txBody>
        </p:sp>
        <p:sp>
          <p:nvSpPr>
            <p:cNvPr id="243" name="Freeform: Shape 242">
              <a:extLst>
                <a:ext uri="{FF2B5EF4-FFF2-40B4-BE49-F238E27FC236}">
                  <a16:creationId xmlns:a16="http://schemas.microsoft.com/office/drawing/2014/main" id="{BA4A3FC0-916C-4654-9EB7-E1D901673D80}"/>
                </a:ext>
              </a:extLst>
            </p:cNvPr>
            <p:cNvSpPr/>
            <p:nvPr/>
          </p:nvSpPr>
          <p:spPr>
            <a:xfrm>
              <a:off x="1256715" y="1586136"/>
              <a:ext cx="40236" cy="43279"/>
            </a:xfrm>
            <a:custGeom>
              <a:avLst/>
              <a:gdLst>
                <a:gd name="connsiteX0" fmla="*/ 10070 w 40236"/>
                <a:gd name="connsiteY0" fmla="*/ 33381 h 43279"/>
                <a:gd name="connsiteX1" fmla="*/ 2777 w 40236"/>
                <a:gd name="connsiteY1" fmla="*/ 7835 h 43279"/>
                <a:gd name="connsiteX2" fmla="*/ 39441 w 40236"/>
                <a:gd name="connsiteY2" fmla="*/ 26008 h 43279"/>
                <a:gd name="connsiteX3" fmla="*/ 10070 w 40236"/>
                <a:gd name="connsiteY3" fmla="*/ 33381 h 43279"/>
              </a:gdLst>
              <a:ahLst/>
              <a:cxnLst>
                <a:cxn ang="0">
                  <a:pos x="connsiteX0" y="connsiteY0"/>
                </a:cxn>
                <a:cxn ang="0">
                  <a:pos x="connsiteX1" y="connsiteY1"/>
                </a:cxn>
                <a:cxn ang="0">
                  <a:pos x="connsiteX2" y="connsiteY2"/>
                </a:cxn>
                <a:cxn ang="0">
                  <a:pos x="connsiteX3" y="connsiteY3"/>
                </a:cxn>
              </a:cxnLst>
              <a:rect l="l" t="t" r="r" b="b"/>
              <a:pathLst>
                <a:path w="40236" h="43279">
                  <a:moveTo>
                    <a:pt x="10070" y="33381"/>
                  </a:moveTo>
                  <a:cubicBezTo>
                    <a:pt x="10070" y="33381"/>
                    <a:pt x="-6389" y="18037"/>
                    <a:pt x="2777" y="7835"/>
                  </a:cubicBezTo>
                  <a:cubicBezTo>
                    <a:pt x="11943" y="-2367"/>
                    <a:pt x="32906" y="-7986"/>
                    <a:pt x="39441" y="26008"/>
                  </a:cubicBezTo>
                  <a:cubicBezTo>
                    <a:pt x="45977" y="59962"/>
                    <a:pt x="10070" y="33381"/>
                    <a:pt x="10070" y="33381"/>
                  </a:cubicBezTo>
                  <a:close/>
                </a:path>
              </a:pathLst>
            </a:custGeom>
            <a:solidFill>
              <a:srgbClr val="FFBEBB"/>
            </a:solidFill>
            <a:ln w="3972" cap="flat">
              <a:noFill/>
              <a:prstDash val="solid"/>
              <a:miter/>
            </a:ln>
          </p:spPr>
          <p:txBody>
            <a:bodyPr rtlCol="0" anchor="ctr"/>
            <a:lstStyle/>
            <a:p>
              <a:endParaRPr lang="en-US"/>
            </a:p>
          </p:txBody>
        </p:sp>
        <p:sp>
          <p:nvSpPr>
            <p:cNvPr id="245" name="Freeform: Shape 244">
              <a:extLst>
                <a:ext uri="{FF2B5EF4-FFF2-40B4-BE49-F238E27FC236}">
                  <a16:creationId xmlns:a16="http://schemas.microsoft.com/office/drawing/2014/main" id="{BDA48EDC-DBCD-4847-A336-B4FCE1427552}"/>
                </a:ext>
              </a:extLst>
            </p:cNvPr>
            <p:cNvSpPr/>
            <p:nvPr/>
          </p:nvSpPr>
          <p:spPr>
            <a:xfrm>
              <a:off x="1265050" y="1594170"/>
              <a:ext cx="20304" cy="22128"/>
            </a:xfrm>
            <a:custGeom>
              <a:avLst/>
              <a:gdLst>
                <a:gd name="connsiteX0" fmla="*/ 5282 w 20304"/>
                <a:gd name="connsiteY0" fmla="*/ 16779 h 22128"/>
                <a:gd name="connsiteX1" fmla="*/ 1695 w 20304"/>
                <a:gd name="connsiteY1" fmla="*/ 4225 h 22128"/>
                <a:gd name="connsiteX2" fmla="*/ 19310 w 20304"/>
                <a:gd name="connsiteY2" fmla="*/ 11199 h 22128"/>
                <a:gd name="connsiteX3" fmla="*/ 5322 w 20304"/>
                <a:gd name="connsiteY3" fmla="*/ 16739 h 22128"/>
              </a:gdLst>
              <a:ahLst/>
              <a:cxnLst>
                <a:cxn ang="0">
                  <a:pos x="connsiteX0" y="connsiteY0"/>
                </a:cxn>
                <a:cxn ang="0">
                  <a:pos x="connsiteX1" y="connsiteY1"/>
                </a:cxn>
                <a:cxn ang="0">
                  <a:pos x="connsiteX2" y="connsiteY2"/>
                </a:cxn>
                <a:cxn ang="0">
                  <a:pos x="connsiteX3" y="connsiteY3"/>
                </a:cxn>
              </a:cxnLst>
              <a:rect l="l" t="t" r="r" b="b"/>
              <a:pathLst>
                <a:path w="20304" h="22128">
                  <a:moveTo>
                    <a:pt x="5282" y="16779"/>
                  </a:moveTo>
                  <a:cubicBezTo>
                    <a:pt x="2811" y="14627"/>
                    <a:pt x="-2808" y="9247"/>
                    <a:pt x="1695" y="4225"/>
                  </a:cubicBezTo>
                  <a:cubicBezTo>
                    <a:pt x="6198" y="-796"/>
                    <a:pt x="15006" y="-4184"/>
                    <a:pt x="19310" y="11199"/>
                  </a:cubicBezTo>
                  <a:cubicBezTo>
                    <a:pt x="23893" y="27579"/>
                    <a:pt x="11499" y="22119"/>
                    <a:pt x="5322" y="16739"/>
                  </a:cubicBezTo>
                  <a:close/>
                </a:path>
              </a:pathLst>
            </a:custGeom>
            <a:solidFill>
              <a:srgbClr val="F47C73"/>
            </a:solidFill>
            <a:ln w="3972" cap="flat">
              <a:noFill/>
              <a:prstDash val="solid"/>
              <a:miter/>
            </a:ln>
          </p:spPr>
          <p:txBody>
            <a:bodyPr rtlCol="0" anchor="ctr"/>
            <a:lstStyle/>
            <a:p>
              <a:endParaRPr lang="en-US"/>
            </a:p>
          </p:txBody>
        </p:sp>
        <p:sp>
          <p:nvSpPr>
            <p:cNvPr id="246" name="Freeform: Shape 245">
              <a:extLst>
                <a:ext uri="{FF2B5EF4-FFF2-40B4-BE49-F238E27FC236}">
                  <a16:creationId xmlns:a16="http://schemas.microsoft.com/office/drawing/2014/main" id="{9B523DC0-BF35-4DE6-9E05-DADF9FAB25C8}"/>
                </a:ext>
              </a:extLst>
            </p:cNvPr>
            <p:cNvSpPr/>
            <p:nvPr/>
          </p:nvSpPr>
          <p:spPr>
            <a:xfrm>
              <a:off x="1543122" y="1482545"/>
              <a:ext cx="77313" cy="77313"/>
            </a:xfrm>
            <a:custGeom>
              <a:avLst/>
              <a:gdLst>
                <a:gd name="connsiteX0" fmla="*/ 77314 w 77313"/>
                <a:gd name="connsiteY0" fmla="*/ 38657 h 77313"/>
                <a:gd name="connsiteX1" fmla="*/ 38657 w 77313"/>
                <a:gd name="connsiteY1" fmla="*/ 77314 h 77313"/>
                <a:gd name="connsiteX2" fmla="*/ 0 w 77313"/>
                <a:gd name="connsiteY2" fmla="*/ 38657 h 77313"/>
                <a:gd name="connsiteX3" fmla="*/ 38657 w 77313"/>
                <a:gd name="connsiteY3" fmla="*/ 0 h 77313"/>
                <a:gd name="connsiteX4" fmla="*/ 77314 w 77313"/>
                <a:gd name="connsiteY4" fmla="*/ 38657 h 773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313" h="77313">
                  <a:moveTo>
                    <a:pt x="77314" y="38657"/>
                  </a:moveTo>
                  <a:cubicBezTo>
                    <a:pt x="77314" y="60006"/>
                    <a:pt x="60006" y="77314"/>
                    <a:pt x="38657" y="77314"/>
                  </a:cubicBezTo>
                  <a:cubicBezTo>
                    <a:pt x="17307" y="77314"/>
                    <a:pt x="0" y="60006"/>
                    <a:pt x="0" y="38657"/>
                  </a:cubicBezTo>
                  <a:cubicBezTo>
                    <a:pt x="0" y="17307"/>
                    <a:pt x="17307" y="0"/>
                    <a:pt x="38657" y="0"/>
                  </a:cubicBezTo>
                  <a:cubicBezTo>
                    <a:pt x="60006" y="0"/>
                    <a:pt x="77314" y="17307"/>
                    <a:pt x="77314" y="38657"/>
                  </a:cubicBezTo>
                  <a:close/>
                </a:path>
              </a:pathLst>
            </a:custGeom>
            <a:solidFill>
              <a:schemeClr val="accent6"/>
            </a:solidFill>
            <a:ln w="3972" cap="flat">
              <a:noFill/>
              <a:prstDash val="solid"/>
              <a:miter/>
            </a:ln>
          </p:spPr>
          <p:txBody>
            <a:bodyPr rtlCol="0" anchor="ctr"/>
            <a:lstStyle/>
            <a:p>
              <a:endParaRPr lang="en-US"/>
            </a:p>
          </p:txBody>
        </p:sp>
        <p:sp>
          <p:nvSpPr>
            <p:cNvPr id="247" name="Freeform: Shape 246">
              <a:extLst>
                <a:ext uri="{FF2B5EF4-FFF2-40B4-BE49-F238E27FC236}">
                  <a16:creationId xmlns:a16="http://schemas.microsoft.com/office/drawing/2014/main" id="{C967323B-6E92-41FC-8E92-E42A8F793A99}"/>
                </a:ext>
              </a:extLst>
            </p:cNvPr>
            <p:cNvSpPr/>
            <p:nvPr/>
          </p:nvSpPr>
          <p:spPr>
            <a:xfrm>
              <a:off x="1477166" y="1824478"/>
              <a:ext cx="45391" cy="283708"/>
            </a:xfrm>
            <a:custGeom>
              <a:avLst/>
              <a:gdLst>
                <a:gd name="connsiteX0" fmla="*/ 45392 w 45391"/>
                <a:gd name="connsiteY0" fmla="*/ 283709 h 283708"/>
                <a:gd name="connsiteX1" fmla="*/ 0 w 45391"/>
                <a:gd name="connsiteY1" fmla="*/ 0 h 283708"/>
                <a:gd name="connsiteX2" fmla="*/ 1395 w 45391"/>
                <a:gd name="connsiteY2" fmla="*/ 271116 h 283708"/>
                <a:gd name="connsiteX3" fmla="*/ 45392 w 45391"/>
                <a:gd name="connsiteY3" fmla="*/ 283709 h 283708"/>
              </a:gdLst>
              <a:ahLst/>
              <a:cxnLst>
                <a:cxn ang="0">
                  <a:pos x="connsiteX0" y="connsiteY0"/>
                </a:cxn>
                <a:cxn ang="0">
                  <a:pos x="connsiteX1" y="connsiteY1"/>
                </a:cxn>
                <a:cxn ang="0">
                  <a:pos x="connsiteX2" y="connsiteY2"/>
                </a:cxn>
                <a:cxn ang="0">
                  <a:pos x="connsiteX3" y="connsiteY3"/>
                </a:cxn>
              </a:cxnLst>
              <a:rect l="l" t="t" r="r" b="b"/>
              <a:pathLst>
                <a:path w="45391" h="283708">
                  <a:moveTo>
                    <a:pt x="45392" y="283709"/>
                  </a:moveTo>
                  <a:lnTo>
                    <a:pt x="0" y="0"/>
                  </a:lnTo>
                  <a:lnTo>
                    <a:pt x="1395" y="271116"/>
                  </a:lnTo>
                  <a:cubicBezTo>
                    <a:pt x="12832" y="276336"/>
                    <a:pt x="27658" y="281358"/>
                    <a:pt x="45392" y="283709"/>
                  </a:cubicBezTo>
                  <a:close/>
                </a:path>
              </a:pathLst>
            </a:custGeom>
            <a:solidFill>
              <a:schemeClr val="tx2">
                <a:lumMod val="60000"/>
                <a:lumOff val="40000"/>
              </a:schemeClr>
            </a:solidFill>
            <a:ln w="3972" cap="flat">
              <a:noFill/>
              <a:prstDash val="solid"/>
              <a:miter/>
            </a:ln>
          </p:spPr>
          <p:txBody>
            <a:bodyPr rtlCol="0" anchor="ctr"/>
            <a:lstStyle/>
            <a:p>
              <a:endParaRPr lang="en-US"/>
            </a:p>
          </p:txBody>
        </p:sp>
        <p:sp>
          <p:nvSpPr>
            <p:cNvPr id="248" name="Freeform: Shape 247">
              <a:extLst>
                <a:ext uri="{FF2B5EF4-FFF2-40B4-BE49-F238E27FC236}">
                  <a16:creationId xmlns:a16="http://schemas.microsoft.com/office/drawing/2014/main" id="{763D2229-4EA5-4CA5-A0C7-C4506617DC3B}"/>
                </a:ext>
              </a:extLst>
            </p:cNvPr>
            <p:cNvSpPr/>
            <p:nvPr/>
          </p:nvSpPr>
          <p:spPr>
            <a:xfrm>
              <a:off x="1131645" y="1821449"/>
              <a:ext cx="6057" cy="293990"/>
            </a:xfrm>
            <a:custGeom>
              <a:avLst/>
              <a:gdLst>
                <a:gd name="connsiteX0" fmla="*/ 3029 w 6057"/>
                <a:gd name="connsiteY0" fmla="*/ 293991 h 293990"/>
                <a:gd name="connsiteX1" fmla="*/ 0 w 6057"/>
                <a:gd name="connsiteY1" fmla="*/ 290962 h 293990"/>
                <a:gd name="connsiteX2" fmla="*/ 0 w 6057"/>
                <a:gd name="connsiteY2" fmla="*/ 3029 h 293990"/>
                <a:gd name="connsiteX3" fmla="*/ 3029 w 6057"/>
                <a:gd name="connsiteY3" fmla="*/ 0 h 293990"/>
                <a:gd name="connsiteX4" fmla="*/ 6058 w 6057"/>
                <a:gd name="connsiteY4" fmla="*/ 3029 h 293990"/>
                <a:gd name="connsiteX5" fmla="*/ 6058 w 6057"/>
                <a:gd name="connsiteY5" fmla="*/ 290962 h 293990"/>
                <a:gd name="connsiteX6" fmla="*/ 3029 w 6057"/>
                <a:gd name="connsiteY6" fmla="*/ 293991 h 29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57" h="293990">
                  <a:moveTo>
                    <a:pt x="3029" y="293991"/>
                  </a:moveTo>
                  <a:cubicBezTo>
                    <a:pt x="1355" y="293991"/>
                    <a:pt x="0" y="292636"/>
                    <a:pt x="0" y="290962"/>
                  </a:cubicBezTo>
                  <a:lnTo>
                    <a:pt x="0" y="3029"/>
                  </a:lnTo>
                  <a:cubicBezTo>
                    <a:pt x="0" y="1355"/>
                    <a:pt x="1355" y="0"/>
                    <a:pt x="3029" y="0"/>
                  </a:cubicBezTo>
                  <a:cubicBezTo>
                    <a:pt x="4703" y="0"/>
                    <a:pt x="6058" y="1355"/>
                    <a:pt x="6058" y="3029"/>
                  </a:cubicBezTo>
                  <a:lnTo>
                    <a:pt x="6058" y="290962"/>
                  </a:lnTo>
                  <a:cubicBezTo>
                    <a:pt x="6058" y="292636"/>
                    <a:pt x="4703" y="293991"/>
                    <a:pt x="3029" y="293991"/>
                  </a:cubicBezTo>
                  <a:close/>
                </a:path>
              </a:pathLst>
            </a:custGeom>
            <a:solidFill>
              <a:schemeClr val="tx2">
                <a:lumMod val="60000"/>
                <a:lumOff val="40000"/>
              </a:schemeClr>
            </a:solidFill>
            <a:ln w="3972" cap="flat">
              <a:noFill/>
              <a:prstDash val="solid"/>
              <a:miter/>
            </a:ln>
          </p:spPr>
          <p:txBody>
            <a:bodyPr rtlCol="0" anchor="ctr"/>
            <a:lstStyle/>
            <a:p>
              <a:endParaRPr lang="en-US"/>
            </a:p>
          </p:txBody>
        </p:sp>
        <p:sp>
          <p:nvSpPr>
            <p:cNvPr id="249" name="Freeform: Shape 248">
              <a:extLst>
                <a:ext uri="{FF2B5EF4-FFF2-40B4-BE49-F238E27FC236}">
                  <a16:creationId xmlns:a16="http://schemas.microsoft.com/office/drawing/2014/main" id="{A3F5E9E8-4182-4C8C-94E5-90C0D522F4F1}"/>
                </a:ext>
              </a:extLst>
            </p:cNvPr>
            <p:cNvSpPr/>
            <p:nvPr/>
          </p:nvSpPr>
          <p:spPr>
            <a:xfrm>
              <a:off x="1230121" y="1668854"/>
              <a:ext cx="130807" cy="119039"/>
            </a:xfrm>
            <a:custGeom>
              <a:avLst/>
              <a:gdLst>
                <a:gd name="connsiteX0" fmla="*/ 15303 w 130807"/>
                <a:gd name="connsiteY0" fmla="*/ 0 h 119039"/>
                <a:gd name="connsiteX1" fmla="*/ 88153 w 130807"/>
                <a:gd name="connsiteY1" fmla="*/ 41486 h 119039"/>
                <a:gd name="connsiteX2" fmla="*/ 114536 w 130807"/>
                <a:gd name="connsiteY2" fmla="*/ 10123 h 119039"/>
                <a:gd name="connsiteX3" fmla="*/ 130556 w 130807"/>
                <a:gd name="connsiteY3" fmla="*/ 47703 h 119039"/>
                <a:gd name="connsiteX4" fmla="*/ 85444 w 130807"/>
                <a:gd name="connsiteY4" fmla="*/ 119039 h 119039"/>
                <a:gd name="connsiteX5" fmla="*/ 0 w 130807"/>
                <a:gd name="connsiteY5" fmla="*/ 44196 h 119039"/>
                <a:gd name="connsiteX6" fmla="*/ 15303 w 130807"/>
                <a:gd name="connsiteY6" fmla="*/ 0 h 119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807" h="119039">
                  <a:moveTo>
                    <a:pt x="15303" y="0"/>
                  </a:moveTo>
                  <a:cubicBezTo>
                    <a:pt x="15303" y="0"/>
                    <a:pt x="60097" y="42004"/>
                    <a:pt x="88153" y="41486"/>
                  </a:cubicBezTo>
                  <a:cubicBezTo>
                    <a:pt x="116210" y="40968"/>
                    <a:pt x="114536" y="10123"/>
                    <a:pt x="114536" y="10123"/>
                  </a:cubicBezTo>
                  <a:lnTo>
                    <a:pt x="130556" y="47703"/>
                  </a:lnTo>
                  <a:cubicBezTo>
                    <a:pt x="130556" y="47703"/>
                    <a:pt x="136933" y="119039"/>
                    <a:pt x="85444" y="119039"/>
                  </a:cubicBezTo>
                  <a:cubicBezTo>
                    <a:pt x="33954" y="119039"/>
                    <a:pt x="0" y="44196"/>
                    <a:pt x="0" y="44196"/>
                  </a:cubicBezTo>
                  <a:lnTo>
                    <a:pt x="15303" y="0"/>
                  </a:lnTo>
                  <a:close/>
                </a:path>
              </a:pathLst>
            </a:custGeom>
            <a:solidFill>
              <a:srgbClr val="F3F2FF"/>
            </a:solidFill>
            <a:ln w="3972" cap="flat">
              <a:noFill/>
              <a:prstDash val="solid"/>
              <a:miter/>
            </a:ln>
          </p:spPr>
          <p:txBody>
            <a:bodyPr rtlCol="0" anchor="ctr"/>
            <a:lstStyle/>
            <a:p>
              <a:endParaRPr lang="en-US"/>
            </a:p>
          </p:txBody>
        </p:sp>
        <p:sp>
          <p:nvSpPr>
            <p:cNvPr id="250" name="Freeform: Shape 249">
              <a:extLst>
                <a:ext uri="{FF2B5EF4-FFF2-40B4-BE49-F238E27FC236}">
                  <a16:creationId xmlns:a16="http://schemas.microsoft.com/office/drawing/2014/main" id="{9931EA96-266A-4B2A-BFDC-61986212DE00}"/>
                </a:ext>
              </a:extLst>
            </p:cNvPr>
            <p:cNvSpPr/>
            <p:nvPr/>
          </p:nvSpPr>
          <p:spPr>
            <a:xfrm>
              <a:off x="1276247" y="1719982"/>
              <a:ext cx="76714" cy="59063"/>
            </a:xfrm>
            <a:custGeom>
              <a:avLst/>
              <a:gdLst>
                <a:gd name="connsiteX0" fmla="*/ 3012 w 76714"/>
                <a:gd name="connsiteY0" fmla="*/ 59064 h 59063"/>
                <a:gd name="connsiteX1" fmla="*/ 1139 w 76714"/>
                <a:gd name="connsiteY1" fmla="*/ 58386 h 59063"/>
                <a:gd name="connsiteX2" fmla="*/ 661 w 76714"/>
                <a:gd name="connsiteY2" fmla="*/ 54122 h 59063"/>
                <a:gd name="connsiteX3" fmla="*/ 42745 w 76714"/>
                <a:gd name="connsiteY3" fmla="*/ 1158 h 59063"/>
                <a:gd name="connsiteX4" fmla="*/ 45256 w 76714"/>
                <a:gd name="connsiteY4" fmla="*/ 3 h 59063"/>
                <a:gd name="connsiteX5" fmla="*/ 47647 w 76714"/>
                <a:gd name="connsiteY5" fmla="*/ 1357 h 59063"/>
                <a:gd name="connsiteX6" fmla="*/ 76221 w 76714"/>
                <a:gd name="connsiteY6" fmla="*/ 44717 h 59063"/>
                <a:gd name="connsiteX7" fmla="*/ 75344 w 76714"/>
                <a:gd name="connsiteY7" fmla="*/ 48901 h 59063"/>
                <a:gd name="connsiteX8" fmla="*/ 71160 w 76714"/>
                <a:gd name="connsiteY8" fmla="*/ 48025 h 59063"/>
                <a:gd name="connsiteX9" fmla="*/ 44897 w 76714"/>
                <a:gd name="connsiteY9" fmla="*/ 8172 h 59063"/>
                <a:gd name="connsiteX10" fmla="*/ 5403 w 76714"/>
                <a:gd name="connsiteY10" fmla="*/ 57868 h 59063"/>
                <a:gd name="connsiteX11" fmla="*/ 3052 w 76714"/>
                <a:gd name="connsiteY11" fmla="*/ 59024 h 59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714" h="59063">
                  <a:moveTo>
                    <a:pt x="3012" y="59064"/>
                  </a:moveTo>
                  <a:cubicBezTo>
                    <a:pt x="2335" y="59064"/>
                    <a:pt x="1697" y="58864"/>
                    <a:pt x="1139" y="58386"/>
                  </a:cubicBezTo>
                  <a:cubicBezTo>
                    <a:pt x="-176" y="57350"/>
                    <a:pt x="-375" y="55437"/>
                    <a:pt x="661" y="54122"/>
                  </a:cubicBezTo>
                  <a:lnTo>
                    <a:pt x="42745" y="1158"/>
                  </a:lnTo>
                  <a:cubicBezTo>
                    <a:pt x="43343" y="401"/>
                    <a:pt x="44259" y="-37"/>
                    <a:pt x="45256" y="3"/>
                  </a:cubicBezTo>
                  <a:cubicBezTo>
                    <a:pt x="46212" y="42"/>
                    <a:pt x="47129" y="560"/>
                    <a:pt x="47647" y="1357"/>
                  </a:cubicBezTo>
                  <a:lnTo>
                    <a:pt x="76221" y="44717"/>
                  </a:lnTo>
                  <a:cubicBezTo>
                    <a:pt x="77138" y="46112"/>
                    <a:pt x="76739" y="47985"/>
                    <a:pt x="75344" y="48901"/>
                  </a:cubicBezTo>
                  <a:cubicBezTo>
                    <a:pt x="73949" y="49818"/>
                    <a:pt x="72076" y="49419"/>
                    <a:pt x="71160" y="48025"/>
                  </a:cubicBezTo>
                  <a:lnTo>
                    <a:pt x="44897" y="8172"/>
                  </a:lnTo>
                  <a:lnTo>
                    <a:pt x="5403" y="57868"/>
                  </a:lnTo>
                  <a:cubicBezTo>
                    <a:pt x="4806" y="58625"/>
                    <a:pt x="3929" y="59024"/>
                    <a:pt x="3052" y="59024"/>
                  </a:cubicBezTo>
                  <a:close/>
                </a:path>
              </a:pathLst>
            </a:custGeom>
            <a:solidFill>
              <a:srgbClr val="B3D2FF"/>
            </a:solidFill>
            <a:ln w="3972" cap="flat">
              <a:noFill/>
              <a:prstDash val="solid"/>
              <a:miter/>
            </a:ln>
          </p:spPr>
          <p:txBody>
            <a:bodyPr rtlCol="0" anchor="ctr"/>
            <a:lstStyle/>
            <a:p>
              <a:endParaRPr lang="en-US"/>
            </a:p>
          </p:txBody>
        </p:sp>
        <p:grpSp>
          <p:nvGrpSpPr>
            <p:cNvPr id="252" name="Graphic 371">
              <a:extLst>
                <a:ext uri="{FF2B5EF4-FFF2-40B4-BE49-F238E27FC236}">
                  <a16:creationId xmlns:a16="http://schemas.microsoft.com/office/drawing/2014/main" id="{F7897027-B94E-4E19-A3C6-203DC3306FFC}"/>
                </a:ext>
              </a:extLst>
            </p:cNvPr>
            <p:cNvGrpSpPr/>
            <p:nvPr/>
          </p:nvGrpSpPr>
          <p:grpSpPr>
            <a:xfrm>
              <a:off x="1012892" y="1667738"/>
              <a:ext cx="702630" cy="457179"/>
              <a:chOff x="1012892" y="1667738"/>
              <a:chExt cx="702630" cy="457179"/>
            </a:xfrm>
          </p:grpSpPr>
          <p:sp>
            <p:nvSpPr>
              <p:cNvPr id="268" name="Freeform: Shape 267">
                <a:extLst>
                  <a:ext uri="{FF2B5EF4-FFF2-40B4-BE49-F238E27FC236}">
                    <a16:creationId xmlns:a16="http://schemas.microsoft.com/office/drawing/2014/main" id="{47A33106-249A-4902-B309-EB25BF6E0F05}"/>
                  </a:ext>
                </a:extLst>
              </p:cNvPr>
              <p:cNvSpPr/>
              <p:nvPr/>
            </p:nvSpPr>
            <p:spPr>
              <a:xfrm rot="-7258199">
                <a:off x="1258512" y="1612327"/>
                <a:ext cx="177582" cy="552831"/>
              </a:xfrm>
              <a:custGeom>
                <a:avLst/>
                <a:gdLst>
                  <a:gd name="connsiteX0" fmla="*/ 0 w 177582"/>
                  <a:gd name="connsiteY0" fmla="*/ 0 h 552831"/>
                  <a:gd name="connsiteX1" fmla="*/ 177582 w 177582"/>
                  <a:gd name="connsiteY1" fmla="*/ 0 h 552831"/>
                  <a:gd name="connsiteX2" fmla="*/ 177582 w 177582"/>
                  <a:gd name="connsiteY2" fmla="*/ 552832 h 552831"/>
                  <a:gd name="connsiteX3" fmla="*/ 0 w 177582"/>
                  <a:gd name="connsiteY3" fmla="*/ 552832 h 552831"/>
                </a:gdLst>
                <a:ahLst/>
                <a:cxnLst>
                  <a:cxn ang="0">
                    <a:pos x="connsiteX0" y="connsiteY0"/>
                  </a:cxn>
                  <a:cxn ang="0">
                    <a:pos x="connsiteX1" y="connsiteY1"/>
                  </a:cxn>
                  <a:cxn ang="0">
                    <a:pos x="connsiteX2" y="connsiteY2"/>
                  </a:cxn>
                  <a:cxn ang="0">
                    <a:pos x="connsiteX3" y="connsiteY3"/>
                  </a:cxn>
                </a:cxnLst>
                <a:rect l="l" t="t" r="r" b="b"/>
                <a:pathLst>
                  <a:path w="177582" h="552831">
                    <a:moveTo>
                      <a:pt x="0" y="0"/>
                    </a:moveTo>
                    <a:lnTo>
                      <a:pt x="177582" y="0"/>
                    </a:lnTo>
                    <a:lnTo>
                      <a:pt x="177582" y="552832"/>
                    </a:lnTo>
                    <a:lnTo>
                      <a:pt x="0" y="552832"/>
                    </a:lnTo>
                    <a:close/>
                  </a:path>
                </a:pathLst>
              </a:custGeom>
              <a:solidFill>
                <a:srgbClr val="FFDE4A"/>
              </a:solidFill>
              <a:ln w="3972" cap="flat">
                <a:noFill/>
                <a:prstDash val="solid"/>
                <a:miter/>
              </a:ln>
            </p:spPr>
            <p:txBody>
              <a:bodyPr rtlCol="0" anchor="ctr"/>
              <a:lstStyle/>
              <a:p>
                <a:endParaRPr lang="en-US"/>
              </a:p>
            </p:txBody>
          </p:sp>
          <p:sp>
            <p:nvSpPr>
              <p:cNvPr id="269" name="Freeform: Shape 268">
                <a:extLst>
                  <a:ext uri="{FF2B5EF4-FFF2-40B4-BE49-F238E27FC236}">
                    <a16:creationId xmlns:a16="http://schemas.microsoft.com/office/drawing/2014/main" id="{3F114E6A-E1AA-4E45-BEA9-D49DC4A1EAF0}"/>
                  </a:ext>
                </a:extLst>
              </p:cNvPr>
              <p:cNvSpPr/>
              <p:nvPr/>
            </p:nvSpPr>
            <p:spPr>
              <a:xfrm>
                <a:off x="1538618" y="1667738"/>
                <a:ext cx="176904" cy="154906"/>
              </a:xfrm>
              <a:custGeom>
                <a:avLst/>
                <a:gdLst>
                  <a:gd name="connsiteX0" fmla="*/ 91382 w 176904"/>
                  <a:gd name="connsiteY0" fmla="*/ 154906 h 154906"/>
                  <a:gd name="connsiteX1" fmla="*/ 176905 w 176904"/>
                  <a:gd name="connsiteY1" fmla="*/ 0 h 154906"/>
                  <a:gd name="connsiteX2" fmla="*/ 0 w 176904"/>
                  <a:gd name="connsiteY2" fmla="*/ 2630 h 154906"/>
                  <a:gd name="connsiteX3" fmla="*/ 91382 w 176904"/>
                  <a:gd name="connsiteY3" fmla="*/ 154906 h 154906"/>
                </a:gdLst>
                <a:ahLst/>
                <a:cxnLst>
                  <a:cxn ang="0">
                    <a:pos x="connsiteX0" y="connsiteY0"/>
                  </a:cxn>
                  <a:cxn ang="0">
                    <a:pos x="connsiteX1" y="connsiteY1"/>
                  </a:cxn>
                  <a:cxn ang="0">
                    <a:pos x="connsiteX2" y="connsiteY2"/>
                  </a:cxn>
                  <a:cxn ang="0">
                    <a:pos x="connsiteX3" y="connsiteY3"/>
                  </a:cxn>
                </a:cxnLst>
                <a:rect l="l" t="t" r="r" b="b"/>
                <a:pathLst>
                  <a:path w="176904" h="154906">
                    <a:moveTo>
                      <a:pt x="91382" y="154906"/>
                    </a:moveTo>
                    <a:lnTo>
                      <a:pt x="176905" y="0"/>
                    </a:lnTo>
                    <a:lnTo>
                      <a:pt x="0" y="2630"/>
                    </a:lnTo>
                    <a:lnTo>
                      <a:pt x="91382" y="154906"/>
                    </a:lnTo>
                    <a:close/>
                  </a:path>
                </a:pathLst>
              </a:custGeom>
              <a:solidFill>
                <a:srgbClr val="F3F2FF"/>
              </a:solidFill>
              <a:ln w="3972" cap="flat">
                <a:noFill/>
                <a:prstDash val="solid"/>
                <a:miter/>
              </a:ln>
            </p:spPr>
            <p:txBody>
              <a:bodyPr rtlCol="0" anchor="ctr"/>
              <a:lstStyle/>
              <a:p>
                <a:endParaRPr lang="en-US"/>
              </a:p>
            </p:txBody>
          </p:sp>
          <p:sp>
            <p:nvSpPr>
              <p:cNvPr id="270" name="Freeform: Shape 269">
                <a:extLst>
                  <a:ext uri="{FF2B5EF4-FFF2-40B4-BE49-F238E27FC236}">
                    <a16:creationId xmlns:a16="http://schemas.microsoft.com/office/drawing/2014/main" id="{31AF45AB-9621-40C8-ABA0-E3E45C3EE3F5}"/>
                  </a:ext>
                </a:extLst>
              </p:cNvPr>
              <p:cNvSpPr/>
              <p:nvPr/>
            </p:nvSpPr>
            <p:spPr>
              <a:xfrm>
                <a:off x="1624620" y="1667738"/>
                <a:ext cx="90903" cy="79624"/>
              </a:xfrm>
              <a:custGeom>
                <a:avLst/>
                <a:gdLst>
                  <a:gd name="connsiteX0" fmla="*/ 90903 w 90903"/>
                  <a:gd name="connsiteY0" fmla="*/ 0 h 79624"/>
                  <a:gd name="connsiteX1" fmla="*/ 46946 w 90903"/>
                  <a:gd name="connsiteY1" fmla="*/ 79625 h 79624"/>
                  <a:gd name="connsiteX2" fmla="*/ 0 w 90903"/>
                  <a:gd name="connsiteY2" fmla="*/ 1355 h 79624"/>
                  <a:gd name="connsiteX3" fmla="*/ 90903 w 90903"/>
                  <a:gd name="connsiteY3" fmla="*/ 0 h 79624"/>
                  <a:gd name="connsiteX4" fmla="*/ 90903 w 90903"/>
                  <a:gd name="connsiteY4" fmla="*/ 0 h 79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903" h="79624">
                    <a:moveTo>
                      <a:pt x="90903" y="0"/>
                    </a:moveTo>
                    <a:lnTo>
                      <a:pt x="46946" y="79625"/>
                    </a:lnTo>
                    <a:lnTo>
                      <a:pt x="0" y="1355"/>
                    </a:lnTo>
                    <a:lnTo>
                      <a:pt x="90903" y="0"/>
                    </a:lnTo>
                    <a:lnTo>
                      <a:pt x="90903" y="0"/>
                    </a:lnTo>
                    <a:close/>
                  </a:path>
                </a:pathLst>
              </a:custGeom>
              <a:solidFill>
                <a:srgbClr val="1D2333"/>
              </a:solidFill>
              <a:ln w="3972" cap="flat">
                <a:noFill/>
                <a:prstDash val="solid"/>
                <a:miter/>
              </a:ln>
            </p:spPr>
            <p:txBody>
              <a:bodyPr rtlCol="0" anchor="ctr"/>
              <a:lstStyle/>
              <a:p>
                <a:endParaRPr lang="en-US"/>
              </a:p>
            </p:txBody>
          </p:sp>
          <p:sp>
            <p:nvSpPr>
              <p:cNvPr id="271" name="Freeform: Shape 270">
                <a:extLst>
                  <a:ext uri="{FF2B5EF4-FFF2-40B4-BE49-F238E27FC236}">
                    <a16:creationId xmlns:a16="http://schemas.microsoft.com/office/drawing/2014/main" id="{B71FB6C9-60A5-479B-B45D-6B9DF9B4013F}"/>
                  </a:ext>
                </a:extLst>
              </p:cNvPr>
              <p:cNvSpPr/>
              <p:nvPr/>
            </p:nvSpPr>
            <p:spPr>
              <a:xfrm>
                <a:off x="1170101" y="1779301"/>
                <a:ext cx="438698" cy="265679"/>
              </a:xfrm>
              <a:custGeom>
                <a:avLst/>
                <a:gdLst>
                  <a:gd name="connsiteX0" fmla="*/ 3030 w 438698"/>
                  <a:gd name="connsiteY0" fmla="*/ 265680 h 265679"/>
                  <a:gd name="connsiteX1" fmla="*/ 440 w 438698"/>
                  <a:gd name="connsiteY1" fmla="*/ 264205 h 265679"/>
                  <a:gd name="connsiteX2" fmla="*/ 1476 w 438698"/>
                  <a:gd name="connsiteY2" fmla="*/ 260060 h 265679"/>
                  <a:gd name="connsiteX3" fmla="*/ 434114 w 438698"/>
                  <a:gd name="connsiteY3" fmla="*/ 422 h 265679"/>
                  <a:gd name="connsiteX4" fmla="*/ 438259 w 438698"/>
                  <a:gd name="connsiteY4" fmla="*/ 1459 h 265679"/>
                  <a:gd name="connsiteX5" fmla="*/ 437222 w 438698"/>
                  <a:gd name="connsiteY5" fmla="*/ 5603 h 265679"/>
                  <a:gd name="connsiteX6" fmla="*/ 4585 w 438698"/>
                  <a:gd name="connsiteY6" fmla="*/ 265241 h 265679"/>
                  <a:gd name="connsiteX7" fmla="*/ 3030 w 438698"/>
                  <a:gd name="connsiteY7" fmla="*/ 265680 h 26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8698" h="265679">
                    <a:moveTo>
                      <a:pt x="3030" y="265680"/>
                    </a:moveTo>
                    <a:cubicBezTo>
                      <a:pt x="1994" y="265680"/>
                      <a:pt x="998" y="265162"/>
                      <a:pt x="440" y="264205"/>
                    </a:cubicBezTo>
                    <a:cubicBezTo>
                      <a:pt x="-437" y="262770"/>
                      <a:pt x="42" y="260897"/>
                      <a:pt x="1476" y="260060"/>
                    </a:cubicBezTo>
                    <a:lnTo>
                      <a:pt x="434114" y="422"/>
                    </a:lnTo>
                    <a:cubicBezTo>
                      <a:pt x="435549" y="-415"/>
                      <a:pt x="437422" y="24"/>
                      <a:pt x="438259" y="1459"/>
                    </a:cubicBezTo>
                    <a:cubicBezTo>
                      <a:pt x="439135" y="2893"/>
                      <a:pt x="438657" y="4766"/>
                      <a:pt x="437222" y="5603"/>
                    </a:cubicBezTo>
                    <a:lnTo>
                      <a:pt x="4585" y="265241"/>
                    </a:lnTo>
                    <a:cubicBezTo>
                      <a:pt x="4106" y="265520"/>
                      <a:pt x="3549" y="265680"/>
                      <a:pt x="3030" y="265680"/>
                    </a:cubicBezTo>
                    <a:close/>
                  </a:path>
                </a:pathLst>
              </a:custGeom>
              <a:solidFill>
                <a:srgbClr val="D7B728"/>
              </a:solidFill>
              <a:ln w="3972" cap="flat">
                <a:noFill/>
                <a:prstDash val="solid"/>
                <a:miter/>
              </a:ln>
            </p:spPr>
            <p:txBody>
              <a:bodyPr rtlCol="0" anchor="ctr"/>
              <a:lstStyle/>
              <a:p>
                <a:endParaRPr lang="en-US"/>
              </a:p>
            </p:txBody>
          </p:sp>
          <p:sp>
            <p:nvSpPr>
              <p:cNvPr id="272" name="Freeform: Shape 271">
                <a:extLst>
                  <a:ext uri="{FF2B5EF4-FFF2-40B4-BE49-F238E27FC236}">
                    <a16:creationId xmlns:a16="http://schemas.microsoft.com/office/drawing/2014/main" id="{62DFF053-F739-4B69-A63B-8C71D3F3C07C}"/>
                  </a:ext>
                </a:extLst>
              </p:cNvPr>
              <p:cNvSpPr/>
              <p:nvPr/>
            </p:nvSpPr>
            <p:spPr>
              <a:xfrm>
                <a:off x="1127140" y="1707669"/>
                <a:ext cx="438698" cy="265737"/>
              </a:xfrm>
              <a:custGeom>
                <a:avLst/>
                <a:gdLst>
                  <a:gd name="connsiteX0" fmla="*/ 3030 w 438698"/>
                  <a:gd name="connsiteY0" fmla="*/ 265737 h 265737"/>
                  <a:gd name="connsiteX1" fmla="*/ 440 w 438698"/>
                  <a:gd name="connsiteY1" fmla="*/ 264263 h 265737"/>
                  <a:gd name="connsiteX2" fmla="*/ 1476 w 438698"/>
                  <a:gd name="connsiteY2" fmla="*/ 260118 h 265737"/>
                  <a:gd name="connsiteX3" fmla="*/ 434114 w 438698"/>
                  <a:gd name="connsiteY3" fmla="*/ 440 h 265737"/>
                  <a:gd name="connsiteX4" fmla="*/ 438259 w 438698"/>
                  <a:gd name="connsiteY4" fmla="*/ 1476 h 265737"/>
                  <a:gd name="connsiteX5" fmla="*/ 437222 w 438698"/>
                  <a:gd name="connsiteY5" fmla="*/ 5621 h 265737"/>
                  <a:gd name="connsiteX6" fmla="*/ 4585 w 438698"/>
                  <a:gd name="connsiteY6" fmla="*/ 265299 h 265737"/>
                  <a:gd name="connsiteX7" fmla="*/ 3030 w 438698"/>
                  <a:gd name="connsiteY7" fmla="*/ 265737 h 265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8698" h="265737">
                    <a:moveTo>
                      <a:pt x="3030" y="265737"/>
                    </a:moveTo>
                    <a:cubicBezTo>
                      <a:pt x="1994" y="265737"/>
                      <a:pt x="998" y="265219"/>
                      <a:pt x="440" y="264263"/>
                    </a:cubicBezTo>
                    <a:cubicBezTo>
                      <a:pt x="-437" y="262828"/>
                      <a:pt x="42" y="260955"/>
                      <a:pt x="1476" y="260118"/>
                    </a:cubicBezTo>
                    <a:lnTo>
                      <a:pt x="434114" y="440"/>
                    </a:lnTo>
                    <a:cubicBezTo>
                      <a:pt x="435549" y="-437"/>
                      <a:pt x="437422" y="42"/>
                      <a:pt x="438259" y="1476"/>
                    </a:cubicBezTo>
                    <a:cubicBezTo>
                      <a:pt x="439135" y="2911"/>
                      <a:pt x="438657" y="4784"/>
                      <a:pt x="437222" y="5621"/>
                    </a:cubicBezTo>
                    <a:lnTo>
                      <a:pt x="4585" y="265299"/>
                    </a:lnTo>
                    <a:cubicBezTo>
                      <a:pt x="4106" y="265578"/>
                      <a:pt x="3549" y="265737"/>
                      <a:pt x="3030" y="265737"/>
                    </a:cubicBezTo>
                    <a:close/>
                  </a:path>
                </a:pathLst>
              </a:custGeom>
              <a:solidFill>
                <a:srgbClr val="D7B728"/>
              </a:solidFill>
              <a:ln w="3972" cap="flat">
                <a:noFill/>
                <a:prstDash val="solid"/>
                <a:miter/>
              </a:ln>
            </p:spPr>
            <p:txBody>
              <a:bodyPr rtlCol="0" anchor="ctr"/>
              <a:lstStyle/>
              <a:p>
                <a:endParaRPr lang="en-US"/>
              </a:p>
            </p:txBody>
          </p:sp>
          <p:sp>
            <p:nvSpPr>
              <p:cNvPr id="273" name="Freeform: Shape 272">
                <a:extLst>
                  <a:ext uri="{FF2B5EF4-FFF2-40B4-BE49-F238E27FC236}">
                    <a16:creationId xmlns:a16="http://schemas.microsoft.com/office/drawing/2014/main" id="{B9526159-0B92-426E-9505-64E32AA084C5}"/>
                  </a:ext>
                </a:extLst>
              </p:cNvPr>
              <p:cNvSpPr/>
              <p:nvPr/>
            </p:nvSpPr>
            <p:spPr>
              <a:xfrm>
                <a:off x="1012892" y="1930007"/>
                <a:ext cx="184469" cy="194911"/>
              </a:xfrm>
              <a:custGeom>
                <a:avLst/>
                <a:gdLst>
                  <a:gd name="connsiteX0" fmla="*/ 184470 w 184469"/>
                  <a:gd name="connsiteY0" fmla="*/ 152276 h 194911"/>
                  <a:gd name="connsiteX1" fmla="*/ 134495 w 184469"/>
                  <a:gd name="connsiteY1" fmla="*/ 182245 h 194911"/>
                  <a:gd name="connsiteX2" fmla="*/ 12666 w 184469"/>
                  <a:gd name="connsiteY2" fmla="*/ 151798 h 194911"/>
                  <a:gd name="connsiteX3" fmla="*/ 43113 w 184469"/>
                  <a:gd name="connsiteY3" fmla="*/ 29969 h 194911"/>
                  <a:gd name="connsiteX4" fmla="*/ 93088 w 184469"/>
                  <a:gd name="connsiteY4" fmla="*/ 0 h 194911"/>
                  <a:gd name="connsiteX5" fmla="*/ 184470 w 184469"/>
                  <a:gd name="connsiteY5" fmla="*/ 152276 h 194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4469" h="194911">
                    <a:moveTo>
                      <a:pt x="184470" y="152276"/>
                    </a:moveTo>
                    <a:lnTo>
                      <a:pt x="134495" y="182245"/>
                    </a:lnTo>
                    <a:cubicBezTo>
                      <a:pt x="92451" y="207471"/>
                      <a:pt x="37893" y="193842"/>
                      <a:pt x="12666" y="151798"/>
                    </a:cubicBezTo>
                    <a:cubicBezTo>
                      <a:pt x="-12560" y="109753"/>
                      <a:pt x="1069" y="55196"/>
                      <a:pt x="43113" y="29969"/>
                    </a:cubicBezTo>
                    <a:lnTo>
                      <a:pt x="93088" y="0"/>
                    </a:lnTo>
                    <a:lnTo>
                      <a:pt x="184470" y="152276"/>
                    </a:lnTo>
                    <a:close/>
                  </a:path>
                </a:pathLst>
              </a:custGeom>
              <a:solidFill>
                <a:srgbClr val="FFBBCD"/>
              </a:solidFill>
              <a:ln w="3972" cap="flat">
                <a:noFill/>
                <a:prstDash val="solid"/>
                <a:miter/>
              </a:ln>
            </p:spPr>
            <p:txBody>
              <a:bodyPr rtlCol="0" anchor="ctr"/>
              <a:lstStyle/>
              <a:p>
                <a:endParaRPr lang="en-US"/>
              </a:p>
            </p:txBody>
          </p:sp>
          <p:sp>
            <p:nvSpPr>
              <p:cNvPr id="274" name="Freeform: Shape 273">
                <a:extLst>
                  <a:ext uri="{FF2B5EF4-FFF2-40B4-BE49-F238E27FC236}">
                    <a16:creationId xmlns:a16="http://schemas.microsoft.com/office/drawing/2014/main" id="{8DE0183C-F77F-4D0A-AEF9-2ADF09DFB5D9}"/>
                  </a:ext>
                </a:extLst>
              </p:cNvPr>
              <p:cNvSpPr/>
              <p:nvPr/>
            </p:nvSpPr>
            <p:spPr>
              <a:xfrm rot="-1858199">
                <a:off x="1097536" y="1932342"/>
                <a:ext cx="58264" cy="177582"/>
              </a:xfrm>
              <a:custGeom>
                <a:avLst/>
                <a:gdLst>
                  <a:gd name="connsiteX0" fmla="*/ 0 w 58264"/>
                  <a:gd name="connsiteY0" fmla="*/ 0 h 177582"/>
                  <a:gd name="connsiteX1" fmla="*/ 58264 w 58264"/>
                  <a:gd name="connsiteY1" fmla="*/ 0 h 177582"/>
                  <a:gd name="connsiteX2" fmla="*/ 58264 w 58264"/>
                  <a:gd name="connsiteY2" fmla="*/ 177582 h 177582"/>
                  <a:gd name="connsiteX3" fmla="*/ 0 w 58264"/>
                  <a:gd name="connsiteY3" fmla="*/ 177582 h 177582"/>
                </a:gdLst>
                <a:ahLst/>
                <a:cxnLst>
                  <a:cxn ang="0">
                    <a:pos x="connsiteX0" y="connsiteY0"/>
                  </a:cxn>
                  <a:cxn ang="0">
                    <a:pos x="connsiteX1" y="connsiteY1"/>
                  </a:cxn>
                  <a:cxn ang="0">
                    <a:pos x="connsiteX2" y="connsiteY2"/>
                  </a:cxn>
                  <a:cxn ang="0">
                    <a:pos x="connsiteX3" y="connsiteY3"/>
                  </a:cxn>
                </a:cxnLst>
                <a:rect l="l" t="t" r="r" b="b"/>
                <a:pathLst>
                  <a:path w="58264" h="177582">
                    <a:moveTo>
                      <a:pt x="0" y="0"/>
                    </a:moveTo>
                    <a:lnTo>
                      <a:pt x="58264" y="0"/>
                    </a:lnTo>
                    <a:lnTo>
                      <a:pt x="58264" y="177582"/>
                    </a:lnTo>
                    <a:lnTo>
                      <a:pt x="0" y="177582"/>
                    </a:lnTo>
                    <a:close/>
                  </a:path>
                </a:pathLst>
              </a:custGeom>
              <a:solidFill>
                <a:schemeClr val="accent6"/>
              </a:solidFill>
              <a:ln w="3972" cap="flat">
                <a:noFill/>
                <a:prstDash val="solid"/>
                <a:miter/>
              </a:ln>
            </p:spPr>
            <p:txBody>
              <a:bodyPr rtlCol="0" anchor="ctr"/>
              <a:lstStyle/>
              <a:p>
                <a:endParaRPr lang="en-US"/>
              </a:p>
            </p:txBody>
          </p:sp>
        </p:grpSp>
        <p:sp>
          <p:nvSpPr>
            <p:cNvPr id="253" name="Freeform: Shape 252">
              <a:extLst>
                <a:ext uri="{FF2B5EF4-FFF2-40B4-BE49-F238E27FC236}">
                  <a16:creationId xmlns:a16="http://schemas.microsoft.com/office/drawing/2014/main" id="{B49A039D-906D-422A-A8AD-809C93BC7E82}"/>
                </a:ext>
              </a:extLst>
            </p:cNvPr>
            <p:cNvSpPr/>
            <p:nvPr/>
          </p:nvSpPr>
          <p:spPr>
            <a:xfrm>
              <a:off x="1535588" y="1667338"/>
              <a:ext cx="97442" cy="158335"/>
            </a:xfrm>
            <a:custGeom>
              <a:avLst/>
              <a:gdLst>
                <a:gd name="connsiteX0" fmla="*/ 94412 w 97442"/>
                <a:gd name="connsiteY0" fmla="*/ 158335 h 158335"/>
                <a:gd name="connsiteX1" fmla="*/ 91822 w 97442"/>
                <a:gd name="connsiteY1" fmla="*/ 156861 h 158335"/>
                <a:gd name="connsiteX2" fmla="*/ 440 w 97442"/>
                <a:gd name="connsiteY2" fmla="*/ 4585 h 158335"/>
                <a:gd name="connsiteX3" fmla="*/ 1476 w 97442"/>
                <a:gd name="connsiteY3" fmla="*/ 440 h 158335"/>
                <a:gd name="connsiteX4" fmla="*/ 5621 w 97442"/>
                <a:gd name="connsiteY4" fmla="*/ 1476 h 158335"/>
                <a:gd name="connsiteX5" fmla="*/ 97002 w 97442"/>
                <a:gd name="connsiteY5" fmla="*/ 153752 h 158335"/>
                <a:gd name="connsiteX6" fmla="*/ 95966 w 97442"/>
                <a:gd name="connsiteY6" fmla="*/ 157897 h 158335"/>
                <a:gd name="connsiteX7" fmla="*/ 94412 w 97442"/>
                <a:gd name="connsiteY7" fmla="*/ 158335 h 158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7442" h="158335">
                  <a:moveTo>
                    <a:pt x="94412" y="158335"/>
                  </a:moveTo>
                  <a:cubicBezTo>
                    <a:pt x="93376" y="158335"/>
                    <a:pt x="92380" y="157817"/>
                    <a:pt x="91822" y="156861"/>
                  </a:cubicBezTo>
                  <a:lnTo>
                    <a:pt x="440" y="4585"/>
                  </a:lnTo>
                  <a:cubicBezTo>
                    <a:pt x="-437" y="3150"/>
                    <a:pt x="42" y="1277"/>
                    <a:pt x="1476" y="440"/>
                  </a:cubicBezTo>
                  <a:cubicBezTo>
                    <a:pt x="2911" y="-437"/>
                    <a:pt x="4784" y="42"/>
                    <a:pt x="5621" y="1476"/>
                  </a:cubicBezTo>
                  <a:lnTo>
                    <a:pt x="97002" y="153752"/>
                  </a:lnTo>
                  <a:cubicBezTo>
                    <a:pt x="97879" y="155187"/>
                    <a:pt x="97401" y="157060"/>
                    <a:pt x="95966" y="157897"/>
                  </a:cubicBezTo>
                  <a:cubicBezTo>
                    <a:pt x="95488" y="158176"/>
                    <a:pt x="94930" y="158335"/>
                    <a:pt x="94412" y="158335"/>
                  </a:cubicBezTo>
                  <a:close/>
                </a:path>
              </a:pathLst>
            </a:custGeom>
            <a:solidFill>
              <a:srgbClr val="D7B728"/>
            </a:solidFill>
            <a:ln w="3972" cap="flat">
              <a:noFill/>
              <a:prstDash val="solid"/>
              <a:miter/>
            </a:ln>
          </p:spPr>
          <p:txBody>
            <a:bodyPr rtlCol="0" anchor="ctr"/>
            <a:lstStyle/>
            <a:p>
              <a:endParaRPr lang="en-US"/>
            </a:p>
          </p:txBody>
        </p:sp>
        <p:sp>
          <p:nvSpPr>
            <p:cNvPr id="257" name="Freeform: Shape 256">
              <a:extLst>
                <a:ext uri="{FF2B5EF4-FFF2-40B4-BE49-F238E27FC236}">
                  <a16:creationId xmlns:a16="http://schemas.microsoft.com/office/drawing/2014/main" id="{514A60D7-F607-4814-BF3A-35A15EFD8C91}"/>
                </a:ext>
              </a:extLst>
            </p:cNvPr>
            <p:cNvSpPr/>
            <p:nvPr/>
          </p:nvSpPr>
          <p:spPr>
            <a:xfrm>
              <a:off x="1498168" y="1757723"/>
              <a:ext cx="149787" cy="150373"/>
            </a:xfrm>
            <a:custGeom>
              <a:avLst/>
              <a:gdLst>
                <a:gd name="connsiteX0" fmla="*/ 0 w 149787"/>
                <a:gd name="connsiteY0" fmla="*/ 144028 h 150373"/>
                <a:gd name="connsiteX1" fmla="*/ 113380 w 149787"/>
                <a:gd name="connsiteY1" fmla="*/ 120635 h 150373"/>
                <a:gd name="connsiteX2" fmla="*/ 142871 w 149787"/>
                <a:gd name="connsiteY2" fmla="*/ 68309 h 150373"/>
                <a:gd name="connsiteX3" fmla="*/ 149526 w 149787"/>
                <a:gd name="connsiteY3" fmla="*/ 23714 h 150373"/>
                <a:gd name="connsiteX4" fmla="*/ 131035 w 149787"/>
                <a:gd name="connsiteY4" fmla="*/ 3071 h 150373"/>
                <a:gd name="connsiteX5" fmla="*/ 122267 w 149787"/>
                <a:gd name="connsiteY5" fmla="*/ 14070 h 150373"/>
                <a:gd name="connsiteX6" fmla="*/ 120952 w 149787"/>
                <a:gd name="connsiteY6" fmla="*/ 17696 h 150373"/>
                <a:gd name="connsiteX7" fmla="*/ 116329 w 149787"/>
                <a:gd name="connsiteY7" fmla="*/ 4984 h 150373"/>
                <a:gd name="connsiteX8" fmla="*/ 95088 w 149787"/>
                <a:gd name="connsiteY8" fmla="*/ 8650 h 150373"/>
                <a:gd name="connsiteX9" fmla="*/ 85165 w 149787"/>
                <a:gd name="connsiteY9" fmla="*/ 31725 h 150373"/>
                <a:gd name="connsiteX10" fmla="*/ 76955 w 149787"/>
                <a:gd name="connsiteY10" fmla="*/ 15305 h 150373"/>
                <a:gd name="connsiteX11" fmla="*/ 55554 w 149787"/>
                <a:gd name="connsiteY11" fmla="*/ 28377 h 150373"/>
                <a:gd name="connsiteX12" fmla="*/ 47743 w 149787"/>
                <a:gd name="connsiteY12" fmla="*/ 61773 h 150373"/>
                <a:gd name="connsiteX13" fmla="*/ 47504 w 149787"/>
                <a:gd name="connsiteY13" fmla="*/ 60458 h 150373"/>
                <a:gd name="connsiteX14" fmla="*/ 30128 w 149787"/>
                <a:gd name="connsiteY14" fmla="*/ 43441 h 150373"/>
                <a:gd name="connsiteX15" fmla="*/ 21879 w 149787"/>
                <a:gd name="connsiteY15" fmla="*/ 54600 h 150373"/>
                <a:gd name="connsiteX16" fmla="*/ 17655 w 149787"/>
                <a:gd name="connsiteY16" fmla="*/ 71457 h 150373"/>
                <a:gd name="connsiteX17" fmla="*/ 13390 w 149787"/>
                <a:gd name="connsiteY17" fmla="*/ 135978 h 150373"/>
                <a:gd name="connsiteX18" fmla="*/ 40 w 149787"/>
                <a:gd name="connsiteY18" fmla="*/ 143989 h 15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9787" h="150373">
                  <a:moveTo>
                    <a:pt x="0" y="144028"/>
                  </a:moveTo>
                  <a:cubicBezTo>
                    <a:pt x="0" y="144028"/>
                    <a:pt x="32360" y="168737"/>
                    <a:pt x="113380" y="120635"/>
                  </a:cubicBezTo>
                  <a:cubicBezTo>
                    <a:pt x="130915" y="110234"/>
                    <a:pt x="137451" y="91662"/>
                    <a:pt x="142871" y="68309"/>
                  </a:cubicBezTo>
                  <a:cubicBezTo>
                    <a:pt x="146179" y="54042"/>
                    <a:pt x="150961" y="38340"/>
                    <a:pt x="149526" y="23714"/>
                  </a:cubicBezTo>
                  <a:cubicBezTo>
                    <a:pt x="148689" y="15026"/>
                    <a:pt x="143389" y="-2668"/>
                    <a:pt x="131035" y="3071"/>
                  </a:cubicBezTo>
                  <a:cubicBezTo>
                    <a:pt x="126691" y="5103"/>
                    <a:pt x="124021" y="9806"/>
                    <a:pt x="122267" y="14070"/>
                  </a:cubicBezTo>
                  <a:cubicBezTo>
                    <a:pt x="121789" y="15265"/>
                    <a:pt x="121351" y="16461"/>
                    <a:pt x="120952" y="17696"/>
                  </a:cubicBezTo>
                  <a:cubicBezTo>
                    <a:pt x="120235" y="13113"/>
                    <a:pt x="118800" y="8730"/>
                    <a:pt x="116329" y="4984"/>
                  </a:cubicBezTo>
                  <a:cubicBezTo>
                    <a:pt x="110112" y="-4501"/>
                    <a:pt x="99990" y="1158"/>
                    <a:pt x="95088" y="8650"/>
                  </a:cubicBezTo>
                  <a:cubicBezTo>
                    <a:pt x="90624" y="15505"/>
                    <a:pt x="87556" y="23595"/>
                    <a:pt x="85165" y="31725"/>
                  </a:cubicBezTo>
                  <a:cubicBezTo>
                    <a:pt x="84447" y="25069"/>
                    <a:pt x="82335" y="18374"/>
                    <a:pt x="76955" y="15305"/>
                  </a:cubicBezTo>
                  <a:cubicBezTo>
                    <a:pt x="68347" y="10404"/>
                    <a:pt x="58902" y="21722"/>
                    <a:pt x="55554" y="28377"/>
                  </a:cubicBezTo>
                  <a:cubicBezTo>
                    <a:pt x="50453" y="38579"/>
                    <a:pt x="49258" y="50654"/>
                    <a:pt x="47743" y="61773"/>
                  </a:cubicBezTo>
                  <a:cubicBezTo>
                    <a:pt x="47663" y="61375"/>
                    <a:pt x="47584" y="60896"/>
                    <a:pt x="47504" y="60458"/>
                  </a:cubicBezTo>
                  <a:cubicBezTo>
                    <a:pt x="46029" y="53085"/>
                    <a:pt x="40649" y="37543"/>
                    <a:pt x="30128" y="43441"/>
                  </a:cubicBezTo>
                  <a:cubicBezTo>
                    <a:pt x="26143" y="45673"/>
                    <a:pt x="23672" y="50575"/>
                    <a:pt x="21879" y="54600"/>
                  </a:cubicBezTo>
                  <a:cubicBezTo>
                    <a:pt x="19528" y="59900"/>
                    <a:pt x="18213" y="65719"/>
                    <a:pt x="17655" y="71457"/>
                  </a:cubicBezTo>
                  <a:cubicBezTo>
                    <a:pt x="16379" y="83812"/>
                    <a:pt x="13390" y="135978"/>
                    <a:pt x="13390" y="135978"/>
                  </a:cubicBezTo>
                  <a:lnTo>
                    <a:pt x="40" y="143989"/>
                  </a:lnTo>
                  <a:close/>
                </a:path>
              </a:pathLst>
            </a:custGeom>
            <a:solidFill>
              <a:srgbClr val="FFBEBB"/>
            </a:solidFill>
            <a:ln w="3972" cap="flat">
              <a:noFill/>
              <a:prstDash val="solid"/>
              <a:miter/>
            </a:ln>
          </p:spPr>
          <p:txBody>
            <a:bodyPr rtlCol="0" anchor="ctr"/>
            <a:lstStyle/>
            <a:p>
              <a:endParaRPr lang="en-US"/>
            </a:p>
          </p:txBody>
        </p:sp>
        <p:sp>
          <p:nvSpPr>
            <p:cNvPr id="258" name="Freeform: Shape 257">
              <a:extLst>
                <a:ext uri="{FF2B5EF4-FFF2-40B4-BE49-F238E27FC236}">
                  <a16:creationId xmlns:a16="http://schemas.microsoft.com/office/drawing/2014/main" id="{C5C919AF-8949-4BE6-8704-2E41DC5485EB}"/>
                </a:ext>
              </a:extLst>
            </p:cNvPr>
            <p:cNvSpPr/>
            <p:nvPr/>
          </p:nvSpPr>
          <p:spPr>
            <a:xfrm>
              <a:off x="1607182" y="1774090"/>
              <a:ext cx="15426" cy="85776"/>
            </a:xfrm>
            <a:custGeom>
              <a:avLst/>
              <a:gdLst>
                <a:gd name="connsiteX0" fmla="*/ 3050 w 15426"/>
                <a:gd name="connsiteY0" fmla="*/ 85777 h 85776"/>
                <a:gd name="connsiteX1" fmla="*/ 2692 w 15426"/>
                <a:gd name="connsiteY1" fmla="*/ 85777 h 85776"/>
                <a:gd name="connsiteX2" fmla="*/ 22 w 15426"/>
                <a:gd name="connsiteY2" fmla="*/ 82429 h 85776"/>
                <a:gd name="connsiteX3" fmla="*/ 9387 w 15426"/>
                <a:gd name="connsiteY3" fmla="*/ 2685 h 85776"/>
                <a:gd name="connsiteX4" fmla="*/ 12735 w 15426"/>
                <a:gd name="connsiteY4" fmla="*/ 15 h 85776"/>
                <a:gd name="connsiteX5" fmla="*/ 15405 w 15426"/>
                <a:gd name="connsiteY5" fmla="*/ 3362 h 85776"/>
                <a:gd name="connsiteX6" fmla="*/ 6039 w 15426"/>
                <a:gd name="connsiteY6" fmla="*/ 83107 h 85776"/>
                <a:gd name="connsiteX7" fmla="*/ 3050 w 15426"/>
                <a:gd name="connsiteY7" fmla="*/ 85777 h 85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26" h="85776">
                  <a:moveTo>
                    <a:pt x="3050" y="85777"/>
                  </a:moveTo>
                  <a:cubicBezTo>
                    <a:pt x="3050" y="85777"/>
                    <a:pt x="2811" y="85777"/>
                    <a:pt x="2692" y="85777"/>
                  </a:cubicBezTo>
                  <a:cubicBezTo>
                    <a:pt x="1018" y="85578"/>
                    <a:pt x="-178" y="84063"/>
                    <a:pt x="22" y="82429"/>
                  </a:cubicBezTo>
                  <a:lnTo>
                    <a:pt x="9387" y="2685"/>
                  </a:lnTo>
                  <a:cubicBezTo>
                    <a:pt x="9586" y="1011"/>
                    <a:pt x="11140" y="-145"/>
                    <a:pt x="12735" y="15"/>
                  </a:cubicBezTo>
                  <a:cubicBezTo>
                    <a:pt x="14408" y="214"/>
                    <a:pt x="15604" y="1728"/>
                    <a:pt x="15405" y="3362"/>
                  </a:cubicBezTo>
                  <a:lnTo>
                    <a:pt x="6039" y="83107"/>
                  </a:lnTo>
                  <a:cubicBezTo>
                    <a:pt x="5880" y="84661"/>
                    <a:pt x="4565" y="85777"/>
                    <a:pt x="3050" y="85777"/>
                  </a:cubicBezTo>
                  <a:close/>
                </a:path>
              </a:pathLst>
            </a:custGeom>
            <a:solidFill>
              <a:srgbClr val="F47C73"/>
            </a:solidFill>
            <a:ln w="3972" cap="flat">
              <a:noFill/>
              <a:prstDash val="solid"/>
              <a:miter/>
            </a:ln>
          </p:spPr>
          <p:txBody>
            <a:bodyPr rtlCol="0" anchor="ctr"/>
            <a:lstStyle/>
            <a:p>
              <a:endParaRPr lang="en-US"/>
            </a:p>
          </p:txBody>
        </p:sp>
        <p:sp>
          <p:nvSpPr>
            <p:cNvPr id="259" name="Freeform: Shape 258">
              <a:extLst>
                <a:ext uri="{FF2B5EF4-FFF2-40B4-BE49-F238E27FC236}">
                  <a16:creationId xmlns:a16="http://schemas.microsoft.com/office/drawing/2014/main" id="{2604A48C-9E62-4E77-A8E6-07CE0D648315}"/>
                </a:ext>
              </a:extLst>
            </p:cNvPr>
            <p:cNvSpPr/>
            <p:nvPr/>
          </p:nvSpPr>
          <p:spPr>
            <a:xfrm>
              <a:off x="1570837" y="1786437"/>
              <a:ext cx="15545" cy="94471"/>
            </a:xfrm>
            <a:custGeom>
              <a:avLst/>
              <a:gdLst>
                <a:gd name="connsiteX0" fmla="*/ 3011 w 15545"/>
                <a:gd name="connsiteY0" fmla="*/ 94432 h 94471"/>
                <a:gd name="connsiteX1" fmla="*/ 2692 w 15545"/>
                <a:gd name="connsiteY1" fmla="*/ 94432 h 94471"/>
                <a:gd name="connsiteX2" fmla="*/ 22 w 15545"/>
                <a:gd name="connsiteY2" fmla="*/ 91084 h 94471"/>
                <a:gd name="connsiteX3" fmla="*/ 9507 w 15545"/>
                <a:gd name="connsiteY3" fmla="*/ 2692 h 94471"/>
                <a:gd name="connsiteX4" fmla="*/ 12854 w 15545"/>
                <a:gd name="connsiteY4" fmla="*/ 22 h 94471"/>
                <a:gd name="connsiteX5" fmla="*/ 15524 w 15545"/>
                <a:gd name="connsiteY5" fmla="*/ 3369 h 94471"/>
                <a:gd name="connsiteX6" fmla="*/ 6039 w 15545"/>
                <a:gd name="connsiteY6" fmla="*/ 91762 h 94471"/>
                <a:gd name="connsiteX7" fmla="*/ 3051 w 15545"/>
                <a:gd name="connsiteY7" fmla="*/ 94472 h 94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545" h="94471">
                  <a:moveTo>
                    <a:pt x="3011" y="94432"/>
                  </a:moveTo>
                  <a:cubicBezTo>
                    <a:pt x="3011" y="94432"/>
                    <a:pt x="2811" y="94432"/>
                    <a:pt x="2692" y="94432"/>
                  </a:cubicBezTo>
                  <a:cubicBezTo>
                    <a:pt x="1018" y="94233"/>
                    <a:pt x="-178" y="92758"/>
                    <a:pt x="22" y="91084"/>
                  </a:cubicBezTo>
                  <a:lnTo>
                    <a:pt x="9507" y="2692"/>
                  </a:lnTo>
                  <a:cubicBezTo>
                    <a:pt x="9666" y="1018"/>
                    <a:pt x="11180" y="-178"/>
                    <a:pt x="12854" y="22"/>
                  </a:cubicBezTo>
                  <a:cubicBezTo>
                    <a:pt x="14528" y="221"/>
                    <a:pt x="15724" y="1695"/>
                    <a:pt x="15524" y="3369"/>
                  </a:cubicBezTo>
                  <a:lnTo>
                    <a:pt x="6039" y="91762"/>
                  </a:lnTo>
                  <a:cubicBezTo>
                    <a:pt x="5880" y="93316"/>
                    <a:pt x="4565" y="94472"/>
                    <a:pt x="3051" y="94472"/>
                  </a:cubicBezTo>
                  <a:close/>
                </a:path>
              </a:pathLst>
            </a:custGeom>
            <a:solidFill>
              <a:srgbClr val="F47C73"/>
            </a:solidFill>
            <a:ln w="3972" cap="flat">
              <a:noFill/>
              <a:prstDash val="solid"/>
              <a:miter/>
            </a:ln>
          </p:spPr>
          <p:txBody>
            <a:bodyPr rtlCol="0" anchor="ctr"/>
            <a:lstStyle/>
            <a:p>
              <a:endParaRPr lang="en-US"/>
            </a:p>
          </p:txBody>
        </p:sp>
        <p:sp>
          <p:nvSpPr>
            <p:cNvPr id="260" name="Freeform: Shape 259">
              <a:extLst>
                <a:ext uri="{FF2B5EF4-FFF2-40B4-BE49-F238E27FC236}">
                  <a16:creationId xmlns:a16="http://schemas.microsoft.com/office/drawing/2014/main" id="{203F63EB-65B5-42EC-8F18-3469DE4FFA82}"/>
                </a:ext>
              </a:extLst>
            </p:cNvPr>
            <p:cNvSpPr/>
            <p:nvPr/>
          </p:nvSpPr>
          <p:spPr>
            <a:xfrm>
              <a:off x="1534651" y="1816486"/>
              <a:ext cx="14270" cy="76059"/>
            </a:xfrm>
            <a:custGeom>
              <a:avLst/>
              <a:gdLst>
                <a:gd name="connsiteX0" fmla="*/ 3051 w 14270"/>
                <a:gd name="connsiteY0" fmla="*/ 76060 h 76059"/>
                <a:gd name="connsiteX1" fmla="*/ 2692 w 14270"/>
                <a:gd name="connsiteY1" fmla="*/ 76060 h 76059"/>
                <a:gd name="connsiteX2" fmla="*/ 22 w 14270"/>
                <a:gd name="connsiteY2" fmla="*/ 72712 h 76059"/>
                <a:gd name="connsiteX3" fmla="*/ 8231 w 14270"/>
                <a:gd name="connsiteY3" fmla="*/ 2692 h 76059"/>
                <a:gd name="connsiteX4" fmla="*/ 11579 w 14270"/>
                <a:gd name="connsiteY4" fmla="*/ 22 h 76059"/>
                <a:gd name="connsiteX5" fmla="*/ 14249 w 14270"/>
                <a:gd name="connsiteY5" fmla="*/ 3369 h 76059"/>
                <a:gd name="connsiteX6" fmla="*/ 6039 w 14270"/>
                <a:gd name="connsiteY6" fmla="*/ 73390 h 76059"/>
                <a:gd name="connsiteX7" fmla="*/ 3051 w 14270"/>
                <a:gd name="connsiteY7" fmla="*/ 76060 h 7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70" h="76059">
                  <a:moveTo>
                    <a:pt x="3051" y="76060"/>
                  </a:moveTo>
                  <a:cubicBezTo>
                    <a:pt x="3051" y="76060"/>
                    <a:pt x="2811" y="76060"/>
                    <a:pt x="2692" y="76060"/>
                  </a:cubicBezTo>
                  <a:cubicBezTo>
                    <a:pt x="1018" y="75861"/>
                    <a:pt x="-178" y="74346"/>
                    <a:pt x="22" y="72712"/>
                  </a:cubicBezTo>
                  <a:lnTo>
                    <a:pt x="8231" y="2692"/>
                  </a:lnTo>
                  <a:cubicBezTo>
                    <a:pt x="8431" y="1018"/>
                    <a:pt x="9945" y="-178"/>
                    <a:pt x="11579" y="22"/>
                  </a:cubicBezTo>
                  <a:cubicBezTo>
                    <a:pt x="13253" y="221"/>
                    <a:pt x="14448" y="1735"/>
                    <a:pt x="14249" y="3369"/>
                  </a:cubicBezTo>
                  <a:lnTo>
                    <a:pt x="6039" y="73390"/>
                  </a:lnTo>
                  <a:cubicBezTo>
                    <a:pt x="5880" y="74944"/>
                    <a:pt x="4565" y="76060"/>
                    <a:pt x="3051" y="76060"/>
                  </a:cubicBezTo>
                  <a:close/>
                </a:path>
              </a:pathLst>
            </a:custGeom>
            <a:solidFill>
              <a:srgbClr val="F47C73"/>
            </a:solidFill>
            <a:ln w="3972" cap="flat">
              <a:noFill/>
              <a:prstDash val="solid"/>
              <a:miter/>
            </a:ln>
          </p:spPr>
          <p:txBody>
            <a:bodyPr rtlCol="0" anchor="ctr"/>
            <a:lstStyle/>
            <a:p>
              <a:endParaRPr lang="en-US"/>
            </a:p>
          </p:txBody>
        </p:sp>
        <p:sp>
          <p:nvSpPr>
            <p:cNvPr id="261" name="Freeform: Shape 260">
              <a:extLst>
                <a:ext uri="{FF2B5EF4-FFF2-40B4-BE49-F238E27FC236}">
                  <a16:creationId xmlns:a16="http://schemas.microsoft.com/office/drawing/2014/main" id="{F5E36E13-90CD-49BC-AA6D-89B119949F9D}"/>
                </a:ext>
              </a:extLst>
            </p:cNvPr>
            <p:cNvSpPr/>
            <p:nvPr/>
          </p:nvSpPr>
          <p:spPr>
            <a:xfrm>
              <a:off x="1059592" y="1796676"/>
              <a:ext cx="301527" cy="228657"/>
            </a:xfrm>
            <a:custGeom>
              <a:avLst/>
              <a:gdLst>
                <a:gd name="connsiteX0" fmla="*/ 220623 w 301527"/>
                <a:gd name="connsiteY0" fmla="*/ 47648 h 228657"/>
                <a:gd name="connsiteX1" fmla="*/ 168855 w 301527"/>
                <a:gd name="connsiteY1" fmla="*/ 65462 h 228657"/>
                <a:gd name="connsiteX2" fmla="*/ 189140 w 301527"/>
                <a:gd name="connsiteY2" fmla="*/ 3651 h 228657"/>
                <a:gd name="connsiteX3" fmla="*/ 135578 w 301527"/>
                <a:gd name="connsiteY3" fmla="*/ 28001 h 228657"/>
                <a:gd name="connsiteX4" fmla="*/ 85723 w 301527"/>
                <a:gd name="connsiteY4" fmla="*/ 71161 h 228657"/>
                <a:gd name="connsiteX5" fmla="*/ 0 w 301527"/>
                <a:gd name="connsiteY5" fmla="*/ 106032 h 228657"/>
                <a:gd name="connsiteX6" fmla="*/ 57467 w 301527"/>
                <a:gd name="connsiteY6" fmla="*/ 228657 h 228657"/>
                <a:gd name="connsiteX7" fmla="*/ 129999 w 301527"/>
                <a:gd name="connsiteY7" fmla="*/ 195500 h 228657"/>
                <a:gd name="connsiteX8" fmla="*/ 262030 w 301527"/>
                <a:gd name="connsiteY8" fmla="*/ 162502 h 228657"/>
                <a:gd name="connsiteX9" fmla="*/ 257686 w 301527"/>
                <a:gd name="connsiteY9" fmla="*/ 154970 h 228657"/>
                <a:gd name="connsiteX10" fmla="*/ 298255 w 301527"/>
                <a:gd name="connsiteY10" fmla="*/ 126356 h 228657"/>
                <a:gd name="connsiteX11" fmla="*/ 278369 w 301527"/>
                <a:gd name="connsiteY11" fmla="*/ 108861 h 228657"/>
                <a:gd name="connsiteX12" fmla="*/ 300846 w 301527"/>
                <a:gd name="connsiteY12" fmla="*/ 83475 h 228657"/>
                <a:gd name="connsiteX13" fmla="*/ 271993 w 301527"/>
                <a:gd name="connsiteY13" fmla="*/ 71400 h 228657"/>
                <a:gd name="connsiteX14" fmla="*/ 291959 w 301527"/>
                <a:gd name="connsiteY14" fmla="*/ 47210 h 228657"/>
                <a:gd name="connsiteX15" fmla="*/ 220583 w 301527"/>
                <a:gd name="connsiteY15" fmla="*/ 47648 h 22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1527" h="228657">
                  <a:moveTo>
                    <a:pt x="220623" y="47648"/>
                  </a:moveTo>
                  <a:cubicBezTo>
                    <a:pt x="203327" y="53267"/>
                    <a:pt x="168855" y="65462"/>
                    <a:pt x="168855" y="65462"/>
                  </a:cubicBezTo>
                  <a:cubicBezTo>
                    <a:pt x="197588" y="37645"/>
                    <a:pt x="209106" y="16244"/>
                    <a:pt x="189140" y="3651"/>
                  </a:cubicBezTo>
                  <a:cubicBezTo>
                    <a:pt x="169173" y="-8942"/>
                    <a:pt x="150403" y="13973"/>
                    <a:pt x="135578" y="28001"/>
                  </a:cubicBezTo>
                  <a:cubicBezTo>
                    <a:pt x="120753" y="42029"/>
                    <a:pt x="85723" y="71161"/>
                    <a:pt x="85723" y="71161"/>
                  </a:cubicBezTo>
                  <a:lnTo>
                    <a:pt x="0" y="106032"/>
                  </a:lnTo>
                  <a:lnTo>
                    <a:pt x="57467" y="228657"/>
                  </a:lnTo>
                  <a:lnTo>
                    <a:pt x="129999" y="195500"/>
                  </a:lnTo>
                  <a:cubicBezTo>
                    <a:pt x="222058" y="181950"/>
                    <a:pt x="265975" y="181233"/>
                    <a:pt x="262030" y="162502"/>
                  </a:cubicBezTo>
                  <a:cubicBezTo>
                    <a:pt x="261153" y="158358"/>
                    <a:pt x="259320" y="156126"/>
                    <a:pt x="257686" y="154970"/>
                  </a:cubicBezTo>
                  <a:cubicBezTo>
                    <a:pt x="275779" y="147677"/>
                    <a:pt x="297219" y="141261"/>
                    <a:pt x="298255" y="126356"/>
                  </a:cubicBezTo>
                  <a:cubicBezTo>
                    <a:pt x="299252" y="112209"/>
                    <a:pt x="278369" y="108861"/>
                    <a:pt x="278369" y="108861"/>
                  </a:cubicBezTo>
                  <a:cubicBezTo>
                    <a:pt x="293951" y="103043"/>
                    <a:pt x="304353" y="96507"/>
                    <a:pt x="300846" y="83475"/>
                  </a:cubicBezTo>
                  <a:cubicBezTo>
                    <a:pt x="297618" y="71519"/>
                    <a:pt x="285144" y="69726"/>
                    <a:pt x="271993" y="71400"/>
                  </a:cubicBezTo>
                  <a:cubicBezTo>
                    <a:pt x="290245" y="64346"/>
                    <a:pt x="294987" y="56814"/>
                    <a:pt x="291959" y="47210"/>
                  </a:cubicBezTo>
                  <a:cubicBezTo>
                    <a:pt x="286858" y="30990"/>
                    <a:pt x="261751" y="34218"/>
                    <a:pt x="220583" y="47648"/>
                  </a:cubicBezTo>
                  <a:close/>
                </a:path>
              </a:pathLst>
            </a:custGeom>
            <a:solidFill>
              <a:srgbClr val="FFBEBB"/>
            </a:solidFill>
            <a:ln w="3972" cap="flat">
              <a:noFill/>
              <a:prstDash val="solid"/>
              <a:miter/>
            </a:ln>
          </p:spPr>
          <p:txBody>
            <a:bodyPr rtlCol="0" anchor="ctr"/>
            <a:lstStyle/>
            <a:p>
              <a:endParaRPr lang="en-US"/>
            </a:p>
          </p:txBody>
        </p:sp>
        <p:sp>
          <p:nvSpPr>
            <p:cNvPr id="262" name="Freeform: Shape 261">
              <a:extLst>
                <a:ext uri="{FF2B5EF4-FFF2-40B4-BE49-F238E27FC236}">
                  <a16:creationId xmlns:a16="http://schemas.microsoft.com/office/drawing/2014/main" id="{10F6EB47-4D74-4434-910F-8502FBB76552}"/>
                </a:ext>
              </a:extLst>
            </p:cNvPr>
            <p:cNvSpPr/>
            <p:nvPr/>
          </p:nvSpPr>
          <p:spPr>
            <a:xfrm>
              <a:off x="1234617" y="1865040"/>
              <a:ext cx="100044" cy="34320"/>
            </a:xfrm>
            <a:custGeom>
              <a:avLst/>
              <a:gdLst>
                <a:gd name="connsiteX0" fmla="*/ 3036 w 100044"/>
                <a:gd name="connsiteY0" fmla="*/ 34320 h 34320"/>
                <a:gd name="connsiteX1" fmla="*/ 127 w 100044"/>
                <a:gd name="connsiteY1" fmla="*/ 32168 h 34320"/>
                <a:gd name="connsiteX2" fmla="*/ 2159 w 100044"/>
                <a:gd name="connsiteY2" fmla="*/ 28382 h 34320"/>
                <a:gd name="connsiteX3" fmla="*/ 96131 w 100044"/>
                <a:gd name="connsiteY3" fmla="*/ 127 h 34320"/>
                <a:gd name="connsiteX4" fmla="*/ 99917 w 100044"/>
                <a:gd name="connsiteY4" fmla="*/ 2159 h 34320"/>
                <a:gd name="connsiteX5" fmla="*/ 97885 w 100044"/>
                <a:gd name="connsiteY5" fmla="*/ 5945 h 34320"/>
                <a:gd name="connsiteX6" fmla="*/ 3913 w 100044"/>
                <a:gd name="connsiteY6" fmla="*/ 34201 h 34320"/>
                <a:gd name="connsiteX7" fmla="*/ 3036 w 100044"/>
                <a:gd name="connsiteY7" fmla="*/ 34320 h 3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44" h="34320">
                  <a:moveTo>
                    <a:pt x="3036" y="34320"/>
                  </a:moveTo>
                  <a:cubicBezTo>
                    <a:pt x="1721" y="34320"/>
                    <a:pt x="525" y="33483"/>
                    <a:pt x="127" y="32168"/>
                  </a:cubicBezTo>
                  <a:cubicBezTo>
                    <a:pt x="-351" y="30574"/>
                    <a:pt x="565" y="28860"/>
                    <a:pt x="2159" y="28382"/>
                  </a:cubicBezTo>
                  <a:lnTo>
                    <a:pt x="96131" y="127"/>
                  </a:lnTo>
                  <a:cubicBezTo>
                    <a:pt x="97725" y="-351"/>
                    <a:pt x="99439" y="565"/>
                    <a:pt x="99917" y="2159"/>
                  </a:cubicBezTo>
                  <a:cubicBezTo>
                    <a:pt x="100396" y="3753"/>
                    <a:pt x="99479" y="5467"/>
                    <a:pt x="97885" y="5945"/>
                  </a:cubicBezTo>
                  <a:lnTo>
                    <a:pt x="3913" y="34201"/>
                  </a:lnTo>
                  <a:cubicBezTo>
                    <a:pt x="3634" y="34280"/>
                    <a:pt x="3315" y="34320"/>
                    <a:pt x="3036" y="34320"/>
                  </a:cubicBezTo>
                  <a:close/>
                </a:path>
              </a:pathLst>
            </a:custGeom>
            <a:solidFill>
              <a:srgbClr val="F47C73"/>
            </a:solidFill>
            <a:ln w="3972" cap="flat">
              <a:noFill/>
              <a:prstDash val="solid"/>
              <a:miter/>
            </a:ln>
          </p:spPr>
          <p:txBody>
            <a:bodyPr rtlCol="0" anchor="ctr"/>
            <a:lstStyle/>
            <a:p>
              <a:endParaRPr lang="en-US"/>
            </a:p>
          </p:txBody>
        </p:sp>
        <p:sp>
          <p:nvSpPr>
            <p:cNvPr id="263" name="Freeform: Shape 262">
              <a:extLst>
                <a:ext uri="{FF2B5EF4-FFF2-40B4-BE49-F238E27FC236}">
                  <a16:creationId xmlns:a16="http://schemas.microsoft.com/office/drawing/2014/main" id="{F64872E7-E123-4963-958F-A7488A0F0D63}"/>
                </a:ext>
              </a:extLst>
            </p:cNvPr>
            <p:cNvSpPr/>
            <p:nvPr/>
          </p:nvSpPr>
          <p:spPr>
            <a:xfrm>
              <a:off x="1253164" y="1948666"/>
              <a:ext cx="67173" cy="19239"/>
            </a:xfrm>
            <a:custGeom>
              <a:avLst/>
              <a:gdLst>
                <a:gd name="connsiteX0" fmla="*/ 3020 w 67173"/>
                <a:gd name="connsiteY0" fmla="*/ 19240 h 19239"/>
                <a:gd name="connsiteX1" fmla="*/ 71 w 67173"/>
                <a:gd name="connsiteY1" fmla="*/ 16849 h 19239"/>
                <a:gd name="connsiteX2" fmla="*/ 2382 w 67173"/>
                <a:gd name="connsiteY2" fmla="*/ 13262 h 19239"/>
                <a:gd name="connsiteX3" fmla="*/ 63516 w 67173"/>
                <a:gd name="connsiteY3" fmla="*/ 71 h 19239"/>
                <a:gd name="connsiteX4" fmla="*/ 67103 w 67173"/>
                <a:gd name="connsiteY4" fmla="*/ 2382 h 19239"/>
                <a:gd name="connsiteX5" fmla="*/ 64791 w 67173"/>
                <a:gd name="connsiteY5" fmla="*/ 5969 h 19239"/>
                <a:gd name="connsiteX6" fmla="*/ 3658 w 67173"/>
                <a:gd name="connsiteY6" fmla="*/ 19160 h 19239"/>
                <a:gd name="connsiteX7" fmla="*/ 3020 w 67173"/>
                <a:gd name="connsiteY7" fmla="*/ 19240 h 19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173" h="19239">
                  <a:moveTo>
                    <a:pt x="3020" y="19240"/>
                  </a:moveTo>
                  <a:cubicBezTo>
                    <a:pt x="1625" y="19240"/>
                    <a:pt x="350" y="18284"/>
                    <a:pt x="71" y="16849"/>
                  </a:cubicBezTo>
                  <a:cubicBezTo>
                    <a:pt x="-288" y="15215"/>
                    <a:pt x="748" y="13581"/>
                    <a:pt x="2382" y="13262"/>
                  </a:cubicBezTo>
                  <a:lnTo>
                    <a:pt x="63516" y="71"/>
                  </a:lnTo>
                  <a:cubicBezTo>
                    <a:pt x="65150" y="-288"/>
                    <a:pt x="66784" y="748"/>
                    <a:pt x="67103" y="2382"/>
                  </a:cubicBezTo>
                  <a:cubicBezTo>
                    <a:pt x="67461" y="4016"/>
                    <a:pt x="66425" y="5650"/>
                    <a:pt x="64791" y="5969"/>
                  </a:cubicBezTo>
                  <a:lnTo>
                    <a:pt x="3658" y="19160"/>
                  </a:lnTo>
                  <a:cubicBezTo>
                    <a:pt x="3458" y="19200"/>
                    <a:pt x="3219" y="19240"/>
                    <a:pt x="3020" y="19240"/>
                  </a:cubicBezTo>
                  <a:close/>
                </a:path>
              </a:pathLst>
            </a:custGeom>
            <a:solidFill>
              <a:srgbClr val="F47C73"/>
            </a:solidFill>
            <a:ln w="3972" cap="flat">
              <a:noFill/>
              <a:prstDash val="solid"/>
              <a:miter/>
            </a:ln>
          </p:spPr>
          <p:txBody>
            <a:bodyPr rtlCol="0" anchor="ctr"/>
            <a:lstStyle/>
            <a:p>
              <a:endParaRPr lang="en-US"/>
            </a:p>
          </p:txBody>
        </p:sp>
        <p:sp>
          <p:nvSpPr>
            <p:cNvPr id="264" name="Freeform: Shape 263">
              <a:extLst>
                <a:ext uri="{FF2B5EF4-FFF2-40B4-BE49-F238E27FC236}">
                  <a16:creationId xmlns:a16="http://schemas.microsoft.com/office/drawing/2014/main" id="{9AEF33AA-77F6-49D7-9052-89C0DA6C65DA}"/>
                </a:ext>
              </a:extLst>
            </p:cNvPr>
            <p:cNvSpPr/>
            <p:nvPr/>
          </p:nvSpPr>
          <p:spPr>
            <a:xfrm>
              <a:off x="1244043" y="1902562"/>
              <a:ext cx="97014" cy="30433"/>
            </a:xfrm>
            <a:custGeom>
              <a:avLst/>
              <a:gdLst>
                <a:gd name="connsiteX0" fmla="*/ 3016 w 97014"/>
                <a:gd name="connsiteY0" fmla="*/ 30394 h 30433"/>
                <a:gd name="connsiteX1" fmla="*/ 106 w 97014"/>
                <a:gd name="connsiteY1" fmla="*/ 28162 h 30433"/>
                <a:gd name="connsiteX2" fmla="*/ 2258 w 97014"/>
                <a:gd name="connsiteY2" fmla="*/ 24456 h 30433"/>
                <a:gd name="connsiteX3" fmla="*/ 93202 w 97014"/>
                <a:gd name="connsiteY3" fmla="*/ 106 h 30433"/>
                <a:gd name="connsiteX4" fmla="*/ 96908 w 97014"/>
                <a:gd name="connsiteY4" fmla="*/ 2258 h 30433"/>
                <a:gd name="connsiteX5" fmla="*/ 94756 w 97014"/>
                <a:gd name="connsiteY5" fmla="*/ 5965 h 30433"/>
                <a:gd name="connsiteX6" fmla="*/ 3813 w 97014"/>
                <a:gd name="connsiteY6" fmla="*/ 30314 h 30433"/>
                <a:gd name="connsiteX7" fmla="*/ 3016 w 97014"/>
                <a:gd name="connsiteY7" fmla="*/ 30434 h 30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7014" h="30433">
                  <a:moveTo>
                    <a:pt x="3016" y="30394"/>
                  </a:moveTo>
                  <a:cubicBezTo>
                    <a:pt x="1661" y="30394"/>
                    <a:pt x="465" y="29517"/>
                    <a:pt x="106" y="28162"/>
                  </a:cubicBezTo>
                  <a:cubicBezTo>
                    <a:pt x="-332" y="26528"/>
                    <a:pt x="624" y="24894"/>
                    <a:pt x="2258" y="24456"/>
                  </a:cubicBezTo>
                  <a:lnTo>
                    <a:pt x="93202" y="106"/>
                  </a:lnTo>
                  <a:cubicBezTo>
                    <a:pt x="94835" y="-332"/>
                    <a:pt x="96469" y="624"/>
                    <a:pt x="96908" y="2258"/>
                  </a:cubicBezTo>
                  <a:cubicBezTo>
                    <a:pt x="97346" y="3892"/>
                    <a:pt x="96390" y="5526"/>
                    <a:pt x="94756" y="5965"/>
                  </a:cubicBezTo>
                  <a:lnTo>
                    <a:pt x="3813" y="30314"/>
                  </a:lnTo>
                  <a:cubicBezTo>
                    <a:pt x="3534" y="30394"/>
                    <a:pt x="3295" y="30434"/>
                    <a:pt x="3016" y="30434"/>
                  </a:cubicBezTo>
                  <a:close/>
                </a:path>
              </a:pathLst>
            </a:custGeom>
            <a:solidFill>
              <a:srgbClr val="F47C73"/>
            </a:solidFill>
            <a:ln w="3972" cap="flat">
              <a:noFill/>
              <a:prstDash val="solid"/>
              <a:miter/>
            </a:ln>
          </p:spPr>
          <p:txBody>
            <a:bodyPr rtlCol="0" anchor="ctr"/>
            <a:lstStyle/>
            <a:p>
              <a:endParaRPr lang="en-US"/>
            </a:p>
          </p:txBody>
        </p:sp>
        <p:sp>
          <p:nvSpPr>
            <p:cNvPr id="265" name="Freeform: Shape 264">
              <a:extLst>
                <a:ext uri="{FF2B5EF4-FFF2-40B4-BE49-F238E27FC236}">
                  <a16:creationId xmlns:a16="http://schemas.microsoft.com/office/drawing/2014/main" id="{A775A00D-5E12-4735-BAD9-6A6C0F3173D7}"/>
                </a:ext>
              </a:extLst>
            </p:cNvPr>
            <p:cNvSpPr/>
            <p:nvPr/>
          </p:nvSpPr>
          <p:spPr>
            <a:xfrm>
              <a:off x="1202201" y="1859047"/>
              <a:ext cx="29217" cy="16203"/>
            </a:xfrm>
            <a:custGeom>
              <a:avLst/>
              <a:gdLst>
                <a:gd name="connsiteX0" fmla="*/ 3052 w 29217"/>
                <a:gd name="connsiteY0" fmla="*/ 16203 h 16203"/>
                <a:gd name="connsiteX1" fmla="*/ 262 w 29217"/>
                <a:gd name="connsiteY1" fmla="*/ 14370 h 16203"/>
                <a:gd name="connsiteX2" fmla="*/ 1816 w 29217"/>
                <a:gd name="connsiteY2" fmla="*/ 10385 h 16203"/>
                <a:gd name="connsiteX3" fmla="*/ 24971 w 29217"/>
                <a:gd name="connsiteY3" fmla="*/ 262 h 16203"/>
                <a:gd name="connsiteX4" fmla="*/ 28956 w 29217"/>
                <a:gd name="connsiteY4" fmla="*/ 1816 h 16203"/>
                <a:gd name="connsiteX5" fmla="*/ 27402 w 29217"/>
                <a:gd name="connsiteY5" fmla="*/ 5802 h 16203"/>
                <a:gd name="connsiteX6" fmla="*/ 4247 w 29217"/>
                <a:gd name="connsiteY6" fmla="*/ 15924 h 16203"/>
                <a:gd name="connsiteX7" fmla="*/ 3052 w 29217"/>
                <a:gd name="connsiteY7" fmla="*/ 16163 h 1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217" h="16203">
                  <a:moveTo>
                    <a:pt x="3052" y="16203"/>
                  </a:moveTo>
                  <a:cubicBezTo>
                    <a:pt x="1896" y="16203"/>
                    <a:pt x="780" y="15526"/>
                    <a:pt x="262" y="14370"/>
                  </a:cubicBezTo>
                  <a:cubicBezTo>
                    <a:pt x="-415" y="12855"/>
                    <a:pt x="262" y="11062"/>
                    <a:pt x="1816" y="10385"/>
                  </a:cubicBezTo>
                  <a:lnTo>
                    <a:pt x="24971" y="262"/>
                  </a:lnTo>
                  <a:cubicBezTo>
                    <a:pt x="26485" y="-415"/>
                    <a:pt x="28278" y="262"/>
                    <a:pt x="28956" y="1816"/>
                  </a:cubicBezTo>
                  <a:cubicBezTo>
                    <a:pt x="29633" y="3331"/>
                    <a:pt x="28956" y="5124"/>
                    <a:pt x="27402" y="5802"/>
                  </a:cubicBezTo>
                  <a:lnTo>
                    <a:pt x="4247" y="15924"/>
                  </a:lnTo>
                  <a:cubicBezTo>
                    <a:pt x="3849" y="16083"/>
                    <a:pt x="3450" y="16163"/>
                    <a:pt x="3052" y="16163"/>
                  </a:cubicBezTo>
                  <a:close/>
                </a:path>
              </a:pathLst>
            </a:custGeom>
            <a:solidFill>
              <a:srgbClr val="F47C73"/>
            </a:solidFill>
            <a:ln w="3972" cap="flat">
              <a:noFill/>
              <a:prstDash val="solid"/>
              <a:miter/>
            </a:ln>
          </p:spPr>
          <p:txBody>
            <a:bodyPr rtlCol="0" anchor="ctr"/>
            <a:lstStyle/>
            <a:p>
              <a:endParaRPr lang="en-US"/>
            </a:p>
          </p:txBody>
        </p:sp>
        <p:sp>
          <p:nvSpPr>
            <p:cNvPr id="266" name="Freeform: Shape 265">
              <a:extLst>
                <a:ext uri="{FF2B5EF4-FFF2-40B4-BE49-F238E27FC236}">
                  <a16:creationId xmlns:a16="http://schemas.microsoft.com/office/drawing/2014/main" id="{01CB920D-F744-49CC-A9FB-1CB01BB36C73}"/>
                </a:ext>
              </a:extLst>
            </p:cNvPr>
            <p:cNvSpPr/>
            <p:nvPr/>
          </p:nvSpPr>
          <p:spPr>
            <a:xfrm>
              <a:off x="941208" y="1882224"/>
              <a:ext cx="188963" cy="204721"/>
            </a:xfrm>
            <a:custGeom>
              <a:avLst/>
              <a:gdLst>
                <a:gd name="connsiteX0" fmla="*/ 23 w 188963"/>
                <a:gd name="connsiteY0" fmla="*/ 41805 h 204721"/>
                <a:gd name="connsiteX1" fmla="*/ 107664 w 188963"/>
                <a:gd name="connsiteY1" fmla="*/ 0 h 204721"/>
                <a:gd name="connsiteX2" fmla="*/ 188963 w 188963"/>
                <a:gd name="connsiteY2" fmla="*/ 163275 h 204721"/>
                <a:gd name="connsiteX3" fmla="*/ 76221 w 188963"/>
                <a:gd name="connsiteY3" fmla="*/ 204722 h 204721"/>
                <a:gd name="connsiteX4" fmla="*/ 23 w 188963"/>
                <a:gd name="connsiteY4" fmla="*/ 41805 h 2047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963" h="204721">
                  <a:moveTo>
                    <a:pt x="23" y="41805"/>
                  </a:moveTo>
                  <a:cubicBezTo>
                    <a:pt x="1577" y="41287"/>
                    <a:pt x="107664" y="0"/>
                    <a:pt x="107664" y="0"/>
                  </a:cubicBezTo>
                  <a:lnTo>
                    <a:pt x="188963" y="163275"/>
                  </a:lnTo>
                  <a:lnTo>
                    <a:pt x="76221" y="204722"/>
                  </a:lnTo>
                  <a:cubicBezTo>
                    <a:pt x="76221" y="204722"/>
                    <a:pt x="-1531" y="42323"/>
                    <a:pt x="23" y="41805"/>
                  </a:cubicBezTo>
                  <a:close/>
                </a:path>
              </a:pathLst>
            </a:custGeom>
            <a:solidFill>
              <a:schemeClr val="tx2">
                <a:lumMod val="40000"/>
                <a:lumOff val="60000"/>
              </a:schemeClr>
            </a:solidFill>
            <a:ln w="3972" cap="flat">
              <a:noFill/>
              <a:prstDash val="solid"/>
              <a:miter/>
            </a:ln>
          </p:spPr>
          <p:txBody>
            <a:bodyPr rtlCol="0" anchor="ctr"/>
            <a:lstStyle/>
            <a:p>
              <a:endParaRPr lang="en-US"/>
            </a:p>
          </p:txBody>
        </p:sp>
        <p:sp>
          <p:nvSpPr>
            <p:cNvPr id="267" name="Freeform: Shape 266">
              <a:extLst>
                <a:ext uri="{FF2B5EF4-FFF2-40B4-BE49-F238E27FC236}">
                  <a16:creationId xmlns:a16="http://schemas.microsoft.com/office/drawing/2014/main" id="{3E95917C-FC63-4159-8229-DFC79D0B908F}"/>
                </a:ext>
              </a:extLst>
            </p:cNvPr>
            <p:cNvSpPr/>
            <p:nvPr/>
          </p:nvSpPr>
          <p:spPr>
            <a:xfrm>
              <a:off x="924334" y="1861578"/>
              <a:ext cx="208906" cy="186989"/>
            </a:xfrm>
            <a:custGeom>
              <a:avLst/>
              <a:gdLst>
                <a:gd name="connsiteX0" fmla="*/ 205837 w 208906"/>
                <a:gd name="connsiteY0" fmla="*/ 186949 h 186989"/>
                <a:gd name="connsiteX1" fmla="*/ 203127 w 208906"/>
                <a:gd name="connsiteY1" fmla="*/ 185276 h 186989"/>
                <a:gd name="connsiteX2" fmla="*/ 115014 w 208906"/>
                <a:gd name="connsiteY2" fmla="*/ 6817 h 186989"/>
                <a:gd name="connsiteX3" fmla="*/ 4104 w 208906"/>
                <a:gd name="connsiteY3" fmla="*/ 49020 h 186989"/>
                <a:gd name="connsiteX4" fmla="*/ 199 w 208906"/>
                <a:gd name="connsiteY4" fmla="*/ 47267 h 186989"/>
                <a:gd name="connsiteX5" fmla="*/ 1952 w 208906"/>
                <a:gd name="connsiteY5" fmla="*/ 43361 h 186989"/>
                <a:gd name="connsiteX6" fmla="*/ 115452 w 208906"/>
                <a:gd name="connsiteY6" fmla="*/ 201 h 186989"/>
                <a:gd name="connsiteX7" fmla="*/ 119238 w 208906"/>
                <a:gd name="connsiteY7" fmla="*/ 1676 h 186989"/>
                <a:gd name="connsiteX8" fmla="*/ 208587 w 208906"/>
                <a:gd name="connsiteY8" fmla="*/ 182605 h 186989"/>
                <a:gd name="connsiteX9" fmla="*/ 207192 w 208906"/>
                <a:gd name="connsiteY9" fmla="*/ 186670 h 186989"/>
                <a:gd name="connsiteX10" fmla="*/ 205837 w 208906"/>
                <a:gd name="connsiteY10" fmla="*/ 186989 h 186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8906" h="186989">
                  <a:moveTo>
                    <a:pt x="205837" y="186949"/>
                  </a:moveTo>
                  <a:cubicBezTo>
                    <a:pt x="204721" y="186949"/>
                    <a:pt x="203645" y="186312"/>
                    <a:pt x="203127" y="185276"/>
                  </a:cubicBezTo>
                  <a:lnTo>
                    <a:pt x="115014" y="6817"/>
                  </a:lnTo>
                  <a:lnTo>
                    <a:pt x="4104" y="49020"/>
                  </a:lnTo>
                  <a:cubicBezTo>
                    <a:pt x="2550" y="49618"/>
                    <a:pt x="797" y="48821"/>
                    <a:pt x="199" y="47267"/>
                  </a:cubicBezTo>
                  <a:cubicBezTo>
                    <a:pt x="-399" y="45713"/>
                    <a:pt x="398" y="43959"/>
                    <a:pt x="1952" y="43361"/>
                  </a:cubicBezTo>
                  <a:lnTo>
                    <a:pt x="115452" y="201"/>
                  </a:lnTo>
                  <a:cubicBezTo>
                    <a:pt x="116887" y="-357"/>
                    <a:pt x="118561" y="281"/>
                    <a:pt x="119238" y="1676"/>
                  </a:cubicBezTo>
                  <a:lnTo>
                    <a:pt x="208587" y="182605"/>
                  </a:lnTo>
                  <a:cubicBezTo>
                    <a:pt x="209344" y="184120"/>
                    <a:pt x="208707" y="185913"/>
                    <a:pt x="207192" y="186670"/>
                  </a:cubicBezTo>
                  <a:cubicBezTo>
                    <a:pt x="206754" y="186870"/>
                    <a:pt x="206316" y="186989"/>
                    <a:pt x="205837" y="186989"/>
                  </a:cubicBezTo>
                  <a:close/>
                </a:path>
              </a:pathLst>
            </a:custGeom>
            <a:solidFill>
              <a:schemeClr val="tx2">
                <a:lumMod val="60000"/>
                <a:lumOff val="40000"/>
              </a:schemeClr>
            </a:solidFill>
            <a:ln w="3972" cap="flat">
              <a:noFill/>
              <a:prstDash val="solid"/>
              <a:miter/>
            </a:ln>
          </p:spPr>
          <p:txBody>
            <a:bodyPr rtlCol="0" anchor="ctr"/>
            <a:lstStyle/>
            <a:p>
              <a:endParaRPr lang="en-US"/>
            </a:p>
          </p:txBody>
        </p:sp>
      </p:grpSp>
      <p:cxnSp>
        <p:nvCxnSpPr>
          <p:cNvPr id="275" name="Straight Connector 274">
            <a:extLst>
              <a:ext uri="{FF2B5EF4-FFF2-40B4-BE49-F238E27FC236}">
                <a16:creationId xmlns:a16="http://schemas.microsoft.com/office/drawing/2014/main" id="{5941214F-98E5-4CFC-B4BE-2F3A1CDA60C6}"/>
              </a:ext>
            </a:extLst>
          </p:cNvPr>
          <p:cNvCxnSpPr>
            <a:cxnSpLocks/>
          </p:cNvCxnSpPr>
          <p:nvPr/>
        </p:nvCxnSpPr>
        <p:spPr>
          <a:xfrm rot="5400000">
            <a:off x="363187" y="1803357"/>
            <a:ext cx="641623" cy="0"/>
          </a:xfrm>
          <a:prstGeom prst="line">
            <a:avLst/>
          </a:prstGeom>
          <a:ln w="25400" cap="rnd">
            <a:solidFill>
              <a:schemeClr val="bg1">
                <a:lumMod val="85000"/>
              </a:schemeClr>
            </a:solidFill>
            <a:prstDash val="solid"/>
            <a:round/>
            <a:tailEnd type="arrow" w="med" len="sm"/>
          </a:ln>
        </p:spPr>
        <p:style>
          <a:lnRef idx="1">
            <a:schemeClr val="accent1"/>
          </a:lnRef>
          <a:fillRef idx="0">
            <a:schemeClr val="accent1"/>
          </a:fillRef>
          <a:effectRef idx="0">
            <a:schemeClr val="accent1"/>
          </a:effectRef>
          <a:fontRef idx="minor">
            <a:schemeClr val="tx1"/>
          </a:fontRef>
        </p:style>
      </p:cxnSp>
      <p:sp>
        <p:nvSpPr>
          <p:cNvPr id="276" name="Oval 275">
            <a:extLst>
              <a:ext uri="{FF2B5EF4-FFF2-40B4-BE49-F238E27FC236}">
                <a16:creationId xmlns:a16="http://schemas.microsoft.com/office/drawing/2014/main" id="{163AE14F-B2C9-4A4B-A954-45469A49DDC2}"/>
              </a:ext>
            </a:extLst>
          </p:cNvPr>
          <p:cNvSpPr>
            <a:spLocks noChangeAspect="1"/>
          </p:cNvSpPr>
          <p:nvPr/>
        </p:nvSpPr>
        <p:spPr>
          <a:xfrm>
            <a:off x="629999" y="3869125"/>
            <a:ext cx="108000" cy="108000"/>
          </a:xfrm>
          <a:prstGeom prst="ellipse">
            <a:avLst/>
          </a:prstGeom>
          <a:solidFill>
            <a:schemeClr val="tx2"/>
          </a:solidFill>
          <a:ln w="38100" cap="rnd" cmpd="sng" algn="ctr">
            <a:solidFill>
              <a:srgbClr val="F7F7F7"/>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200">
              <a:solidFill>
                <a:srgbClr val="FFFFFF"/>
              </a:solidFill>
            </a:endParaRPr>
          </a:p>
        </p:txBody>
      </p:sp>
      <p:grpSp>
        <p:nvGrpSpPr>
          <p:cNvPr id="277" name="Group 276">
            <a:extLst>
              <a:ext uri="{FF2B5EF4-FFF2-40B4-BE49-F238E27FC236}">
                <a16:creationId xmlns:a16="http://schemas.microsoft.com/office/drawing/2014/main" id="{3D820740-9A5C-4218-B89A-F8AE98E60A62}"/>
              </a:ext>
            </a:extLst>
          </p:cNvPr>
          <p:cNvGrpSpPr/>
          <p:nvPr/>
        </p:nvGrpSpPr>
        <p:grpSpPr>
          <a:xfrm>
            <a:off x="873522" y="4950390"/>
            <a:ext cx="893872" cy="650783"/>
            <a:chOff x="873522" y="4950390"/>
            <a:chExt cx="893872" cy="650783"/>
          </a:xfrm>
        </p:grpSpPr>
        <p:sp>
          <p:nvSpPr>
            <p:cNvPr id="278" name="Freeform: Shape 277">
              <a:extLst>
                <a:ext uri="{FF2B5EF4-FFF2-40B4-BE49-F238E27FC236}">
                  <a16:creationId xmlns:a16="http://schemas.microsoft.com/office/drawing/2014/main" id="{2E48DA5E-C09B-4142-BEC6-FDFBD5D4DB29}"/>
                </a:ext>
              </a:extLst>
            </p:cNvPr>
            <p:cNvSpPr/>
            <p:nvPr/>
          </p:nvSpPr>
          <p:spPr>
            <a:xfrm>
              <a:off x="913704" y="5189911"/>
              <a:ext cx="835212" cy="307506"/>
            </a:xfrm>
            <a:custGeom>
              <a:avLst/>
              <a:gdLst>
                <a:gd name="connsiteX0" fmla="*/ 835212 w 835212"/>
                <a:gd name="connsiteY0" fmla="*/ 307506 h 307506"/>
                <a:gd name="connsiteX1" fmla="*/ 697430 w 835212"/>
                <a:gd name="connsiteY1" fmla="*/ 122360 h 307506"/>
                <a:gd name="connsiteX2" fmla="*/ 416597 w 835212"/>
                <a:gd name="connsiteY2" fmla="*/ 0 h 307506"/>
                <a:gd name="connsiteX3" fmla="*/ 138433 w 835212"/>
                <a:gd name="connsiteY3" fmla="*/ 122360 h 307506"/>
                <a:gd name="connsiteX4" fmla="*/ 0 w 835212"/>
                <a:gd name="connsiteY4" fmla="*/ 307506 h 307506"/>
                <a:gd name="connsiteX5" fmla="*/ 835212 w 835212"/>
                <a:gd name="connsiteY5" fmla="*/ 307506 h 30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5212" h="307506">
                  <a:moveTo>
                    <a:pt x="835212" y="307506"/>
                  </a:moveTo>
                  <a:cubicBezTo>
                    <a:pt x="835212" y="307506"/>
                    <a:pt x="735013" y="167125"/>
                    <a:pt x="697430" y="122360"/>
                  </a:cubicBezTo>
                  <a:cubicBezTo>
                    <a:pt x="648424" y="64018"/>
                    <a:pt x="600239" y="0"/>
                    <a:pt x="416597" y="0"/>
                  </a:cubicBezTo>
                  <a:cubicBezTo>
                    <a:pt x="232955" y="0"/>
                    <a:pt x="188259" y="65591"/>
                    <a:pt x="138433" y="122360"/>
                  </a:cubicBezTo>
                  <a:cubicBezTo>
                    <a:pt x="99823" y="166338"/>
                    <a:pt x="0" y="307506"/>
                    <a:pt x="0" y="307506"/>
                  </a:cubicBezTo>
                  <a:lnTo>
                    <a:pt x="835212" y="307506"/>
                  </a:lnTo>
                  <a:close/>
                </a:path>
              </a:pathLst>
            </a:custGeom>
            <a:solidFill>
              <a:schemeClr val="tx2">
                <a:lumMod val="40000"/>
                <a:lumOff val="60000"/>
              </a:schemeClr>
            </a:solidFill>
            <a:ln w="3394" cap="flat">
              <a:noFill/>
              <a:prstDash val="solid"/>
              <a:miter/>
            </a:ln>
          </p:spPr>
          <p:txBody>
            <a:bodyPr rtlCol="0" anchor="ctr"/>
            <a:lstStyle/>
            <a:p>
              <a:endParaRPr lang="en-US"/>
            </a:p>
          </p:txBody>
        </p:sp>
        <p:sp>
          <p:nvSpPr>
            <p:cNvPr id="279" name="Freeform: Shape 278">
              <a:extLst>
                <a:ext uri="{FF2B5EF4-FFF2-40B4-BE49-F238E27FC236}">
                  <a16:creationId xmlns:a16="http://schemas.microsoft.com/office/drawing/2014/main" id="{2730B8F7-CE7D-460B-9343-7CF2DA42B0F5}"/>
                </a:ext>
              </a:extLst>
            </p:cNvPr>
            <p:cNvSpPr/>
            <p:nvPr/>
          </p:nvSpPr>
          <p:spPr>
            <a:xfrm>
              <a:off x="1279312" y="5132630"/>
              <a:ext cx="99960" cy="100131"/>
            </a:xfrm>
            <a:custGeom>
              <a:avLst/>
              <a:gdLst>
                <a:gd name="connsiteX0" fmla="*/ 0 w 99960"/>
                <a:gd name="connsiteY0" fmla="*/ 0 h 100131"/>
                <a:gd name="connsiteX1" fmla="*/ 99960 w 99960"/>
                <a:gd name="connsiteY1" fmla="*/ 0 h 100131"/>
                <a:gd name="connsiteX2" fmla="*/ 99960 w 99960"/>
                <a:gd name="connsiteY2" fmla="*/ 100131 h 100131"/>
                <a:gd name="connsiteX3" fmla="*/ 0 w 99960"/>
                <a:gd name="connsiteY3" fmla="*/ 100131 h 100131"/>
              </a:gdLst>
              <a:ahLst/>
              <a:cxnLst>
                <a:cxn ang="0">
                  <a:pos x="connsiteX0" y="connsiteY0"/>
                </a:cxn>
                <a:cxn ang="0">
                  <a:pos x="connsiteX1" y="connsiteY1"/>
                </a:cxn>
                <a:cxn ang="0">
                  <a:pos x="connsiteX2" y="connsiteY2"/>
                </a:cxn>
                <a:cxn ang="0">
                  <a:pos x="connsiteX3" y="connsiteY3"/>
                </a:cxn>
              </a:cxnLst>
              <a:rect l="l" t="t" r="r" b="b"/>
              <a:pathLst>
                <a:path w="99960" h="100131">
                  <a:moveTo>
                    <a:pt x="0" y="0"/>
                  </a:moveTo>
                  <a:lnTo>
                    <a:pt x="99960" y="0"/>
                  </a:lnTo>
                  <a:lnTo>
                    <a:pt x="99960" y="100131"/>
                  </a:lnTo>
                  <a:lnTo>
                    <a:pt x="0" y="100131"/>
                  </a:lnTo>
                  <a:close/>
                </a:path>
              </a:pathLst>
            </a:custGeom>
            <a:solidFill>
              <a:srgbClr val="F47C73"/>
            </a:solidFill>
            <a:ln w="3394" cap="flat">
              <a:noFill/>
              <a:prstDash val="solid"/>
              <a:miter/>
            </a:ln>
          </p:spPr>
          <p:txBody>
            <a:bodyPr rtlCol="0" anchor="ctr"/>
            <a:lstStyle/>
            <a:p>
              <a:endParaRPr lang="en-US"/>
            </a:p>
          </p:txBody>
        </p:sp>
        <p:sp>
          <p:nvSpPr>
            <p:cNvPr id="280" name="Freeform: Shape 279">
              <a:extLst>
                <a:ext uri="{FF2B5EF4-FFF2-40B4-BE49-F238E27FC236}">
                  <a16:creationId xmlns:a16="http://schemas.microsoft.com/office/drawing/2014/main" id="{CB1B6108-04BB-444D-8E21-0B14DDB4704D}"/>
                </a:ext>
              </a:extLst>
            </p:cNvPr>
            <p:cNvSpPr/>
            <p:nvPr/>
          </p:nvSpPr>
          <p:spPr>
            <a:xfrm>
              <a:off x="1265360" y="5179720"/>
              <a:ext cx="128344" cy="93638"/>
            </a:xfrm>
            <a:custGeom>
              <a:avLst/>
              <a:gdLst>
                <a:gd name="connsiteX0" fmla="*/ 128344 w 128344"/>
                <a:gd name="connsiteY0" fmla="*/ 13132 h 93638"/>
                <a:gd name="connsiteX1" fmla="*/ 113879 w 128344"/>
                <a:gd name="connsiteY1" fmla="*/ 0 h 93638"/>
                <a:gd name="connsiteX2" fmla="*/ 63950 w 128344"/>
                <a:gd name="connsiteY2" fmla="*/ 23460 h 93638"/>
                <a:gd name="connsiteX3" fmla="*/ 14021 w 128344"/>
                <a:gd name="connsiteY3" fmla="*/ 0 h 93638"/>
                <a:gd name="connsiteX4" fmla="*/ 0 w 128344"/>
                <a:gd name="connsiteY4" fmla="*/ 13577 h 93638"/>
                <a:gd name="connsiteX5" fmla="*/ 4138 w 128344"/>
                <a:gd name="connsiteY5" fmla="*/ 79989 h 93638"/>
                <a:gd name="connsiteX6" fmla="*/ 32180 w 128344"/>
                <a:gd name="connsiteY6" fmla="*/ 87786 h 93638"/>
                <a:gd name="connsiteX7" fmla="*/ 63950 w 128344"/>
                <a:gd name="connsiteY7" fmla="*/ 48903 h 93638"/>
                <a:gd name="connsiteX8" fmla="*/ 95720 w 128344"/>
                <a:gd name="connsiteY8" fmla="*/ 87786 h 93638"/>
                <a:gd name="connsiteX9" fmla="*/ 123762 w 128344"/>
                <a:gd name="connsiteY9" fmla="*/ 79989 h 93638"/>
                <a:gd name="connsiteX10" fmla="*/ 128344 w 128344"/>
                <a:gd name="connsiteY10" fmla="*/ 13132 h 93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344" h="93638">
                  <a:moveTo>
                    <a:pt x="128344" y="13132"/>
                  </a:moveTo>
                  <a:lnTo>
                    <a:pt x="113879" y="0"/>
                  </a:lnTo>
                  <a:cubicBezTo>
                    <a:pt x="113879" y="0"/>
                    <a:pt x="99926" y="23460"/>
                    <a:pt x="63950" y="23460"/>
                  </a:cubicBezTo>
                  <a:cubicBezTo>
                    <a:pt x="30402" y="23460"/>
                    <a:pt x="14021" y="0"/>
                    <a:pt x="14021" y="0"/>
                  </a:cubicBezTo>
                  <a:lnTo>
                    <a:pt x="0" y="13577"/>
                  </a:lnTo>
                  <a:lnTo>
                    <a:pt x="4138" y="79989"/>
                  </a:lnTo>
                  <a:cubicBezTo>
                    <a:pt x="6121" y="93668"/>
                    <a:pt x="23425" y="98490"/>
                    <a:pt x="32180" y="87786"/>
                  </a:cubicBezTo>
                  <a:lnTo>
                    <a:pt x="63950" y="48903"/>
                  </a:lnTo>
                  <a:lnTo>
                    <a:pt x="95720" y="87786"/>
                  </a:lnTo>
                  <a:cubicBezTo>
                    <a:pt x="104474" y="98490"/>
                    <a:pt x="121778" y="93702"/>
                    <a:pt x="123762" y="79989"/>
                  </a:cubicBezTo>
                  <a:lnTo>
                    <a:pt x="128344" y="13132"/>
                  </a:lnTo>
                  <a:close/>
                </a:path>
              </a:pathLst>
            </a:custGeom>
            <a:solidFill>
              <a:schemeClr val="accent3"/>
            </a:solidFill>
            <a:ln w="3394" cap="flat">
              <a:noFill/>
              <a:prstDash val="solid"/>
              <a:miter/>
            </a:ln>
          </p:spPr>
          <p:txBody>
            <a:bodyPr rtlCol="0" anchor="ctr"/>
            <a:lstStyle/>
            <a:p>
              <a:endParaRPr lang="en-US"/>
            </a:p>
          </p:txBody>
        </p:sp>
        <p:sp>
          <p:nvSpPr>
            <p:cNvPr id="281" name="Freeform: Shape 280">
              <a:extLst>
                <a:ext uri="{FF2B5EF4-FFF2-40B4-BE49-F238E27FC236}">
                  <a16:creationId xmlns:a16="http://schemas.microsoft.com/office/drawing/2014/main" id="{F25612ED-36E7-4556-A4E5-B7C817EA9854}"/>
                </a:ext>
              </a:extLst>
            </p:cNvPr>
            <p:cNvSpPr/>
            <p:nvPr/>
          </p:nvSpPr>
          <p:spPr>
            <a:xfrm>
              <a:off x="1326676" y="5209062"/>
              <a:ext cx="5403" cy="26434"/>
            </a:xfrm>
            <a:custGeom>
              <a:avLst/>
              <a:gdLst>
                <a:gd name="connsiteX0" fmla="*/ 2702 w 5403"/>
                <a:gd name="connsiteY0" fmla="*/ 26435 h 26434"/>
                <a:gd name="connsiteX1" fmla="*/ 0 w 5403"/>
                <a:gd name="connsiteY1" fmla="*/ 23733 h 26434"/>
                <a:gd name="connsiteX2" fmla="*/ 0 w 5403"/>
                <a:gd name="connsiteY2" fmla="*/ 2702 h 26434"/>
                <a:gd name="connsiteX3" fmla="*/ 2702 w 5403"/>
                <a:gd name="connsiteY3" fmla="*/ 0 h 26434"/>
                <a:gd name="connsiteX4" fmla="*/ 5403 w 5403"/>
                <a:gd name="connsiteY4" fmla="*/ 2702 h 26434"/>
                <a:gd name="connsiteX5" fmla="*/ 5403 w 5403"/>
                <a:gd name="connsiteY5" fmla="*/ 23733 h 26434"/>
                <a:gd name="connsiteX6" fmla="*/ 2702 w 5403"/>
                <a:gd name="connsiteY6" fmla="*/ 26435 h 26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03" h="26434">
                  <a:moveTo>
                    <a:pt x="2702" y="26435"/>
                  </a:moveTo>
                  <a:cubicBezTo>
                    <a:pt x="1197" y="26435"/>
                    <a:pt x="0" y="25204"/>
                    <a:pt x="0" y="23733"/>
                  </a:cubicBezTo>
                  <a:lnTo>
                    <a:pt x="0" y="2702"/>
                  </a:lnTo>
                  <a:cubicBezTo>
                    <a:pt x="0" y="1197"/>
                    <a:pt x="1231" y="0"/>
                    <a:pt x="2702" y="0"/>
                  </a:cubicBezTo>
                  <a:cubicBezTo>
                    <a:pt x="4172" y="0"/>
                    <a:pt x="5403" y="1231"/>
                    <a:pt x="5403" y="2702"/>
                  </a:cubicBezTo>
                  <a:lnTo>
                    <a:pt x="5403" y="23733"/>
                  </a:lnTo>
                  <a:cubicBezTo>
                    <a:pt x="5403" y="25238"/>
                    <a:pt x="4172" y="26435"/>
                    <a:pt x="2702" y="26435"/>
                  </a:cubicBezTo>
                  <a:close/>
                </a:path>
              </a:pathLst>
            </a:custGeom>
            <a:solidFill>
              <a:srgbClr val="4D8C5D"/>
            </a:solidFill>
            <a:ln w="3394" cap="flat">
              <a:noFill/>
              <a:prstDash val="solid"/>
              <a:miter/>
            </a:ln>
          </p:spPr>
          <p:txBody>
            <a:bodyPr rtlCol="0" anchor="ctr"/>
            <a:lstStyle/>
            <a:p>
              <a:endParaRPr lang="en-US"/>
            </a:p>
          </p:txBody>
        </p:sp>
        <p:sp>
          <p:nvSpPr>
            <p:cNvPr id="282" name="Freeform: Shape 281">
              <a:extLst>
                <a:ext uri="{FF2B5EF4-FFF2-40B4-BE49-F238E27FC236}">
                  <a16:creationId xmlns:a16="http://schemas.microsoft.com/office/drawing/2014/main" id="{ED81A686-541F-4085-A500-8F4BEF79B7C8}"/>
                </a:ext>
              </a:extLst>
            </p:cNvPr>
            <p:cNvSpPr/>
            <p:nvPr/>
          </p:nvSpPr>
          <p:spPr>
            <a:xfrm>
              <a:off x="1029291" y="5389127"/>
              <a:ext cx="105603" cy="91020"/>
            </a:xfrm>
            <a:custGeom>
              <a:avLst/>
              <a:gdLst>
                <a:gd name="connsiteX0" fmla="*/ 102903 w 105603"/>
                <a:gd name="connsiteY0" fmla="*/ 91021 h 91020"/>
                <a:gd name="connsiteX1" fmla="*/ 100406 w 105603"/>
                <a:gd name="connsiteY1" fmla="*/ 89413 h 91020"/>
                <a:gd name="connsiteX2" fmla="*/ 3182 w 105603"/>
                <a:gd name="connsiteY2" fmla="*/ 6142 h 91020"/>
                <a:gd name="connsiteX3" fmla="*/ 36 w 105603"/>
                <a:gd name="connsiteY3" fmla="*/ 3919 h 91020"/>
                <a:gd name="connsiteX4" fmla="*/ 2258 w 105603"/>
                <a:gd name="connsiteY4" fmla="*/ 773 h 91020"/>
                <a:gd name="connsiteX5" fmla="*/ 105365 w 105603"/>
                <a:gd name="connsiteY5" fmla="*/ 87191 h 91020"/>
                <a:gd name="connsiteX6" fmla="*/ 103997 w 105603"/>
                <a:gd name="connsiteY6" fmla="*/ 90781 h 91020"/>
                <a:gd name="connsiteX7" fmla="*/ 102903 w 105603"/>
                <a:gd name="connsiteY7" fmla="*/ 91021 h 9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5603" h="91020">
                  <a:moveTo>
                    <a:pt x="102903" y="91021"/>
                  </a:moveTo>
                  <a:cubicBezTo>
                    <a:pt x="101877" y="91021"/>
                    <a:pt x="100885" y="90405"/>
                    <a:pt x="100406" y="89413"/>
                  </a:cubicBezTo>
                  <a:cubicBezTo>
                    <a:pt x="99996" y="88490"/>
                    <a:pt x="58377" y="-3331"/>
                    <a:pt x="3182" y="6142"/>
                  </a:cubicBezTo>
                  <a:cubicBezTo>
                    <a:pt x="1677" y="6381"/>
                    <a:pt x="309" y="5389"/>
                    <a:pt x="36" y="3919"/>
                  </a:cubicBezTo>
                  <a:cubicBezTo>
                    <a:pt x="-204" y="2448"/>
                    <a:pt x="788" y="1046"/>
                    <a:pt x="2258" y="773"/>
                  </a:cubicBezTo>
                  <a:cubicBezTo>
                    <a:pt x="61626" y="-9350"/>
                    <a:pt x="103621" y="83258"/>
                    <a:pt x="105365" y="87191"/>
                  </a:cubicBezTo>
                  <a:cubicBezTo>
                    <a:pt x="105980" y="88558"/>
                    <a:pt x="105365" y="90166"/>
                    <a:pt x="103997" y="90781"/>
                  </a:cubicBezTo>
                  <a:cubicBezTo>
                    <a:pt x="103655" y="90952"/>
                    <a:pt x="103279" y="91021"/>
                    <a:pt x="102903" y="91021"/>
                  </a:cubicBezTo>
                  <a:close/>
                </a:path>
              </a:pathLst>
            </a:custGeom>
            <a:solidFill>
              <a:srgbClr val="ED3F3B"/>
            </a:solidFill>
            <a:ln w="3394" cap="flat">
              <a:noFill/>
              <a:prstDash val="solid"/>
              <a:miter/>
            </a:ln>
          </p:spPr>
          <p:txBody>
            <a:bodyPr rtlCol="0" anchor="ctr"/>
            <a:lstStyle/>
            <a:p>
              <a:endParaRPr lang="en-US"/>
            </a:p>
          </p:txBody>
        </p:sp>
        <p:sp>
          <p:nvSpPr>
            <p:cNvPr id="283" name="Freeform: Shape 282">
              <a:extLst>
                <a:ext uri="{FF2B5EF4-FFF2-40B4-BE49-F238E27FC236}">
                  <a16:creationId xmlns:a16="http://schemas.microsoft.com/office/drawing/2014/main" id="{3F51F864-7056-4E83-9D12-07710311AB5D}"/>
                </a:ext>
              </a:extLst>
            </p:cNvPr>
            <p:cNvSpPr/>
            <p:nvPr/>
          </p:nvSpPr>
          <p:spPr>
            <a:xfrm>
              <a:off x="1527752" y="5389089"/>
              <a:ext cx="102191" cy="91059"/>
            </a:xfrm>
            <a:custGeom>
              <a:avLst/>
              <a:gdLst>
                <a:gd name="connsiteX0" fmla="*/ 2709 w 102191"/>
                <a:gd name="connsiteY0" fmla="*/ 91059 h 91059"/>
                <a:gd name="connsiteX1" fmla="*/ 1683 w 102191"/>
                <a:gd name="connsiteY1" fmla="*/ 90854 h 91059"/>
                <a:gd name="connsiteX2" fmla="*/ 213 w 102191"/>
                <a:gd name="connsiteY2" fmla="*/ 87297 h 91059"/>
                <a:gd name="connsiteX3" fmla="*/ 99933 w 102191"/>
                <a:gd name="connsiteY3" fmla="*/ 777 h 91059"/>
                <a:gd name="connsiteX4" fmla="*/ 102156 w 102191"/>
                <a:gd name="connsiteY4" fmla="*/ 3923 h 91059"/>
                <a:gd name="connsiteX5" fmla="*/ 99010 w 102191"/>
                <a:gd name="connsiteY5" fmla="*/ 6146 h 91059"/>
                <a:gd name="connsiteX6" fmla="*/ 5240 w 102191"/>
                <a:gd name="connsiteY6" fmla="*/ 89349 h 91059"/>
                <a:gd name="connsiteX7" fmla="*/ 2709 w 102191"/>
                <a:gd name="connsiteY7" fmla="*/ 91025 h 91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191" h="91059">
                  <a:moveTo>
                    <a:pt x="2709" y="91059"/>
                  </a:moveTo>
                  <a:cubicBezTo>
                    <a:pt x="2367" y="91059"/>
                    <a:pt x="2025" y="90991"/>
                    <a:pt x="1683" y="90854"/>
                  </a:cubicBezTo>
                  <a:cubicBezTo>
                    <a:pt x="281" y="90273"/>
                    <a:pt x="-369" y="88699"/>
                    <a:pt x="213" y="87297"/>
                  </a:cubicBezTo>
                  <a:cubicBezTo>
                    <a:pt x="1820" y="83330"/>
                    <a:pt x="40463" y="-9380"/>
                    <a:pt x="99933" y="777"/>
                  </a:cubicBezTo>
                  <a:cubicBezTo>
                    <a:pt x="101404" y="1016"/>
                    <a:pt x="102396" y="2418"/>
                    <a:pt x="102156" y="3923"/>
                  </a:cubicBezTo>
                  <a:cubicBezTo>
                    <a:pt x="101917" y="5394"/>
                    <a:pt x="100515" y="6420"/>
                    <a:pt x="99010" y="6146"/>
                  </a:cubicBezTo>
                  <a:cubicBezTo>
                    <a:pt x="43849" y="-3293"/>
                    <a:pt x="5616" y="88426"/>
                    <a:pt x="5240" y="89349"/>
                  </a:cubicBezTo>
                  <a:cubicBezTo>
                    <a:pt x="4795" y="90409"/>
                    <a:pt x="3803" y="91025"/>
                    <a:pt x="2709" y="91025"/>
                  </a:cubicBezTo>
                  <a:close/>
                </a:path>
              </a:pathLst>
            </a:custGeom>
            <a:solidFill>
              <a:srgbClr val="ED3F3B"/>
            </a:solidFill>
            <a:ln w="3394" cap="flat">
              <a:noFill/>
              <a:prstDash val="solid"/>
              <a:miter/>
            </a:ln>
          </p:spPr>
          <p:txBody>
            <a:bodyPr rtlCol="0" anchor="ctr"/>
            <a:lstStyle/>
            <a:p>
              <a:endParaRPr lang="en-US"/>
            </a:p>
          </p:txBody>
        </p:sp>
        <p:sp>
          <p:nvSpPr>
            <p:cNvPr id="284" name="Freeform: Shape 283">
              <a:extLst>
                <a:ext uri="{FF2B5EF4-FFF2-40B4-BE49-F238E27FC236}">
                  <a16:creationId xmlns:a16="http://schemas.microsoft.com/office/drawing/2014/main" id="{A6171952-B758-4F5B-8DDD-A0CF378FE964}"/>
                </a:ext>
              </a:extLst>
            </p:cNvPr>
            <p:cNvSpPr/>
            <p:nvPr/>
          </p:nvSpPr>
          <p:spPr>
            <a:xfrm>
              <a:off x="1238480" y="4956135"/>
              <a:ext cx="81664" cy="81664"/>
            </a:xfrm>
            <a:custGeom>
              <a:avLst/>
              <a:gdLst>
                <a:gd name="connsiteX0" fmla="*/ 40832 w 81664"/>
                <a:gd name="connsiteY0" fmla="*/ 81664 h 81664"/>
                <a:gd name="connsiteX1" fmla="*/ 0 w 81664"/>
                <a:gd name="connsiteY1" fmla="*/ 40832 h 81664"/>
                <a:gd name="connsiteX2" fmla="*/ 40832 w 81664"/>
                <a:gd name="connsiteY2" fmla="*/ 0 h 81664"/>
                <a:gd name="connsiteX3" fmla="*/ 81664 w 81664"/>
                <a:gd name="connsiteY3" fmla="*/ 40832 h 81664"/>
                <a:gd name="connsiteX4" fmla="*/ 40832 w 81664"/>
                <a:gd name="connsiteY4" fmla="*/ 81664 h 81664"/>
                <a:gd name="connsiteX5" fmla="*/ 40832 w 81664"/>
                <a:gd name="connsiteY5" fmla="*/ 5403 h 81664"/>
                <a:gd name="connsiteX6" fmla="*/ 5403 w 81664"/>
                <a:gd name="connsiteY6" fmla="*/ 40798 h 81664"/>
                <a:gd name="connsiteX7" fmla="*/ 40832 w 81664"/>
                <a:gd name="connsiteY7" fmla="*/ 76227 h 81664"/>
                <a:gd name="connsiteX8" fmla="*/ 76261 w 81664"/>
                <a:gd name="connsiteY8" fmla="*/ 40798 h 81664"/>
                <a:gd name="connsiteX9" fmla="*/ 40832 w 81664"/>
                <a:gd name="connsiteY9" fmla="*/ 5403 h 8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664" h="81664">
                  <a:moveTo>
                    <a:pt x="40832" y="81664"/>
                  </a:moveTo>
                  <a:cubicBezTo>
                    <a:pt x="18296" y="81664"/>
                    <a:pt x="0" y="63334"/>
                    <a:pt x="0" y="40832"/>
                  </a:cubicBezTo>
                  <a:cubicBezTo>
                    <a:pt x="0" y="18330"/>
                    <a:pt x="18330" y="0"/>
                    <a:pt x="40832" y="0"/>
                  </a:cubicBezTo>
                  <a:cubicBezTo>
                    <a:pt x="63334" y="0"/>
                    <a:pt x="81664" y="18330"/>
                    <a:pt x="81664" y="40832"/>
                  </a:cubicBezTo>
                  <a:cubicBezTo>
                    <a:pt x="81664" y="63334"/>
                    <a:pt x="63334" y="81664"/>
                    <a:pt x="40832" y="81664"/>
                  </a:cubicBezTo>
                  <a:close/>
                  <a:moveTo>
                    <a:pt x="40832" y="5403"/>
                  </a:moveTo>
                  <a:cubicBezTo>
                    <a:pt x="21305" y="5403"/>
                    <a:pt x="5403" y="21271"/>
                    <a:pt x="5403" y="40798"/>
                  </a:cubicBezTo>
                  <a:cubicBezTo>
                    <a:pt x="5403" y="60325"/>
                    <a:pt x="21305" y="76227"/>
                    <a:pt x="40832" y="76227"/>
                  </a:cubicBezTo>
                  <a:cubicBezTo>
                    <a:pt x="60359" y="76227"/>
                    <a:pt x="76261" y="60325"/>
                    <a:pt x="76261" y="40798"/>
                  </a:cubicBezTo>
                  <a:cubicBezTo>
                    <a:pt x="76261" y="21271"/>
                    <a:pt x="60359" y="5403"/>
                    <a:pt x="40832" y="5403"/>
                  </a:cubicBezTo>
                  <a:close/>
                </a:path>
              </a:pathLst>
            </a:custGeom>
            <a:solidFill>
              <a:srgbClr val="1D2333"/>
            </a:solidFill>
            <a:ln w="3394" cap="flat">
              <a:noFill/>
              <a:prstDash val="solid"/>
              <a:miter/>
            </a:ln>
          </p:spPr>
          <p:txBody>
            <a:bodyPr rtlCol="0" anchor="ctr"/>
            <a:lstStyle/>
            <a:p>
              <a:endParaRPr lang="en-US"/>
            </a:p>
          </p:txBody>
        </p:sp>
        <p:sp>
          <p:nvSpPr>
            <p:cNvPr id="285" name="Freeform: Shape 284">
              <a:extLst>
                <a:ext uri="{FF2B5EF4-FFF2-40B4-BE49-F238E27FC236}">
                  <a16:creationId xmlns:a16="http://schemas.microsoft.com/office/drawing/2014/main" id="{D7FBD9B1-14CF-4EF8-B5F8-13F0F279AD28}"/>
                </a:ext>
              </a:extLst>
            </p:cNvPr>
            <p:cNvSpPr/>
            <p:nvPr/>
          </p:nvSpPr>
          <p:spPr>
            <a:xfrm>
              <a:off x="1344527" y="4970293"/>
              <a:ext cx="81664" cy="81664"/>
            </a:xfrm>
            <a:custGeom>
              <a:avLst/>
              <a:gdLst>
                <a:gd name="connsiteX0" fmla="*/ 40832 w 81664"/>
                <a:gd name="connsiteY0" fmla="*/ 81664 h 81664"/>
                <a:gd name="connsiteX1" fmla="*/ 0 w 81664"/>
                <a:gd name="connsiteY1" fmla="*/ 40832 h 81664"/>
                <a:gd name="connsiteX2" fmla="*/ 40832 w 81664"/>
                <a:gd name="connsiteY2" fmla="*/ 0 h 81664"/>
                <a:gd name="connsiteX3" fmla="*/ 81664 w 81664"/>
                <a:gd name="connsiteY3" fmla="*/ 40832 h 81664"/>
                <a:gd name="connsiteX4" fmla="*/ 40832 w 81664"/>
                <a:gd name="connsiteY4" fmla="*/ 81664 h 81664"/>
                <a:gd name="connsiteX5" fmla="*/ 40832 w 81664"/>
                <a:gd name="connsiteY5" fmla="*/ 5403 h 81664"/>
                <a:gd name="connsiteX6" fmla="*/ 5403 w 81664"/>
                <a:gd name="connsiteY6" fmla="*/ 40798 h 81664"/>
                <a:gd name="connsiteX7" fmla="*/ 40832 w 81664"/>
                <a:gd name="connsiteY7" fmla="*/ 76193 h 81664"/>
                <a:gd name="connsiteX8" fmla="*/ 76227 w 81664"/>
                <a:gd name="connsiteY8" fmla="*/ 40798 h 81664"/>
                <a:gd name="connsiteX9" fmla="*/ 40832 w 81664"/>
                <a:gd name="connsiteY9" fmla="*/ 5403 h 8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664" h="81664">
                  <a:moveTo>
                    <a:pt x="40832" y="81664"/>
                  </a:moveTo>
                  <a:cubicBezTo>
                    <a:pt x="18296" y="81664"/>
                    <a:pt x="0" y="63334"/>
                    <a:pt x="0" y="40832"/>
                  </a:cubicBezTo>
                  <a:cubicBezTo>
                    <a:pt x="0" y="18330"/>
                    <a:pt x="18330" y="0"/>
                    <a:pt x="40832" y="0"/>
                  </a:cubicBezTo>
                  <a:cubicBezTo>
                    <a:pt x="63334" y="0"/>
                    <a:pt x="81664" y="18330"/>
                    <a:pt x="81664" y="40832"/>
                  </a:cubicBezTo>
                  <a:cubicBezTo>
                    <a:pt x="81664" y="63334"/>
                    <a:pt x="63334" y="81664"/>
                    <a:pt x="40832" y="81664"/>
                  </a:cubicBezTo>
                  <a:close/>
                  <a:moveTo>
                    <a:pt x="40832" y="5403"/>
                  </a:moveTo>
                  <a:cubicBezTo>
                    <a:pt x="21305" y="5403"/>
                    <a:pt x="5403" y="21305"/>
                    <a:pt x="5403" y="40798"/>
                  </a:cubicBezTo>
                  <a:cubicBezTo>
                    <a:pt x="5403" y="60291"/>
                    <a:pt x="21305" y="76193"/>
                    <a:pt x="40832" y="76193"/>
                  </a:cubicBezTo>
                  <a:cubicBezTo>
                    <a:pt x="60359" y="76193"/>
                    <a:pt x="76227" y="60325"/>
                    <a:pt x="76227" y="40798"/>
                  </a:cubicBezTo>
                  <a:cubicBezTo>
                    <a:pt x="76227" y="21271"/>
                    <a:pt x="60359" y="5403"/>
                    <a:pt x="40832" y="5403"/>
                  </a:cubicBezTo>
                  <a:close/>
                </a:path>
              </a:pathLst>
            </a:custGeom>
            <a:solidFill>
              <a:srgbClr val="1D2333"/>
            </a:solidFill>
            <a:ln w="3394" cap="flat">
              <a:noFill/>
              <a:prstDash val="solid"/>
              <a:miter/>
            </a:ln>
          </p:spPr>
          <p:txBody>
            <a:bodyPr rtlCol="0" anchor="ctr"/>
            <a:lstStyle/>
            <a:p>
              <a:endParaRPr lang="en-US"/>
            </a:p>
          </p:txBody>
        </p:sp>
        <p:sp>
          <p:nvSpPr>
            <p:cNvPr id="286" name="Freeform: Shape 285">
              <a:extLst>
                <a:ext uri="{FF2B5EF4-FFF2-40B4-BE49-F238E27FC236}">
                  <a16:creationId xmlns:a16="http://schemas.microsoft.com/office/drawing/2014/main" id="{CE715776-5786-4219-A462-F57BBC5C8943}"/>
                </a:ext>
              </a:extLst>
            </p:cNvPr>
            <p:cNvSpPr/>
            <p:nvPr/>
          </p:nvSpPr>
          <p:spPr>
            <a:xfrm>
              <a:off x="1223160" y="4950390"/>
              <a:ext cx="208367" cy="132037"/>
            </a:xfrm>
            <a:custGeom>
              <a:avLst/>
              <a:gdLst>
                <a:gd name="connsiteX0" fmla="*/ 199236 w 208367"/>
                <a:gd name="connsiteY0" fmla="*/ 78587 h 132037"/>
                <a:gd name="connsiteX1" fmla="*/ 200365 w 208367"/>
                <a:gd name="connsiteY1" fmla="*/ 69422 h 132037"/>
                <a:gd name="connsiteX2" fmla="*/ 162234 w 208367"/>
                <a:gd name="connsiteY2" fmla="*/ 31291 h 132037"/>
                <a:gd name="connsiteX3" fmla="*/ 161619 w 208367"/>
                <a:gd name="connsiteY3" fmla="*/ 31291 h 132037"/>
                <a:gd name="connsiteX4" fmla="*/ 124104 w 208367"/>
                <a:gd name="connsiteY4" fmla="*/ 0 h 132037"/>
                <a:gd name="connsiteX5" fmla="*/ 89769 w 208367"/>
                <a:gd name="connsiteY5" fmla="*/ 21510 h 132037"/>
                <a:gd name="connsiteX6" fmla="*/ 67575 w 208367"/>
                <a:gd name="connsiteY6" fmla="*/ 14397 h 132037"/>
                <a:gd name="connsiteX7" fmla="*/ 29444 w 208367"/>
                <a:gd name="connsiteY7" fmla="*/ 52528 h 132037"/>
                <a:gd name="connsiteX8" fmla="*/ 33411 w 208367"/>
                <a:gd name="connsiteY8" fmla="*/ 69490 h 132037"/>
                <a:gd name="connsiteX9" fmla="*/ 31291 w 208367"/>
                <a:gd name="connsiteY9" fmla="*/ 69422 h 132037"/>
                <a:gd name="connsiteX10" fmla="*/ 0 w 208367"/>
                <a:gd name="connsiteY10" fmla="*/ 100712 h 132037"/>
                <a:gd name="connsiteX11" fmla="*/ 31291 w 208367"/>
                <a:gd name="connsiteY11" fmla="*/ 132003 h 132037"/>
                <a:gd name="connsiteX12" fmla="*/ 62582 w 208367"/>
                <a:gd name="connsiteY12" fmla="*/ 100712 h 132037"/>
                <a:gd name="connsiteX13" fmla="*/ 60701 w 208367"/>
                <a:gd name="connsiteY13" fmla="*/ 90043 h 132037"/>
                <a:gd name="connsiteX14" fmla="*/ 67541 w 208367"/>
                <a:gd name="connsiteY14" fmla="*/ 90658 h 132037"/>
                <a:gd name="connsiteX15" fmla="*/ 101875 w 208367"/>
                <a:gd name="connsiteY15" fmla="*/ 69148 h 132037"/>
                <a:gd name="connsiteX16" fmla="*/ 124070 w 208367"/>
                <a:gd name="connsiteY16" fmla="*/ 76261 h 132037"/>
                <a:gd name="connsiteX17" fmla="*/ 124685 w 208367"/>
                <a:gd name="connsiteY17" fmla="*/ 76261 h 132037"/>
                <a:gd name="connsiteX18" fmla="*/ 145956 w 208367"/>
                <a:gd name="connsiteY18" fmla="*/ 103927 h 132037"/>
                <a:gd name="connsiteX19" fmla="*/ 177076 w 208367"/>
                <a:gd name="connsiteY19" fmla="*/ 132038 h 132037"/>
                <a:gd name="connsiteX20" fmla="*/ 208367 w 208367"/>
                <a:gd name="connsiteY20" fmla="*/ 100747 h 132037"/>
                <a:gd name="connsiteX21" fmla="*/ 199202 w 208367"/>
                <a:gd name="connsiteY21" fmla="*/ 78621 h 132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8367" h="132037">
                  <a:moveTo>
                    <a:pt x="199236" y="78587"/>
                  </a:moveTo>
                  <a:cubicBezTo>
                    <a:pt x="199954" y="75645"/>
                    <a:pt x="200365" y="72568"/>
                    <a:pt x="200365" y="69422"/>
                  </a:cubicBezTo>
                  <a:cubicBezTo>
                    <a:pt x="200365" y="48356"/>
                    <a:pt x="183300" y="31291"/>
                    <a:pt x="162234" y="31291"/>
                  </a:cubicBezTo>
                  <a:cubicBezTo>
                    <a:pt x="162029" y="31291"/>
                    <a:pt x="161824" y="31291"/>
                    <a:pt x="161619" y="31291"/>
                  </a:cubicBezTo>
                  <a:cubicBezTo>
                    <a:pt x="158404" y="13508"/>
                    <a:pt x="142810" y="0"/>
                    <a:pt x="124104" y="0"/>
                  </a:cubicBezTo>
                  <a:cubicBezTo>
                    <a:pt x="108988" y="0"/>
                    <a:pt x="95959" y="8789"/>
                    <a:pt x="89769" y="21510"/>
                  </a:cubicBezTo>
                  <a:cubicBezTo>
                    <a:pt x="83511" y="17030"/>
                    <a:pt x="75851" y="14397"/>
                    <a:pt x="67575" y="14397"/>
                  </a:cubicBezTo>
                  <a:cubicBezTo>
                    <a:pt x="46509" y="14397"/>
                    <a:pt x="29444" y="31462"/>
                    <a:pt x="29444" y="52528"/>
                  </a:cubicBezTo>
                  <a:cubicBezTo>
                    <a:pt x="29444" y="58615"/>
                    <a:pt x="30881" y="64360"/>
                    <a:pt x="33411" y="69490"/>
                  </a:cubicBezTo>
                  <a:cubicBezTo>
                    <a:pt x="32727" y="69456"/>
                    <a:pt x="32009" y="69422"/>
                    <a:pt x="31291" y="69422"/>
                  </a:cubicBezTo>
                  <a:cubicBezTo>
                    <a:pt x="14021" y="69422"/>
                    <a:pt x="0" y="83443"/>
                    <a:pt x="0" y="100712"/>
                  </a:cubicBezTo>
                  <a:cubicBezTo>
                    <a:pt x="0" y="117982"/>
                    <a:pt x="14021" y="132003"/>
                    <a:pt x="31291" y="132003"/>
                  </a:cubicBezTo>
                  <a:cubicBezTo>
                    <a:pt x="48561" y="132003"/>
                    <a:pt x="62582" y="117982"/>
                    <a:pt x="62582" y="100712"/>
                  </a:cubicBezTo>
                  <a:cubicBezTo>
                    <a:pt x="62582" y="96985"/>
                    <a:pt x="61932" y="93394"/>
                    <a:pt x="60701" y="90043"/>
                  </a:cubicBezTo>
                  <a:cubicBezTo>
                    <a:pt x="62924" y="90453"/>
                    <a:pt x="65215" y="90658"/>
                    <a:pt x="67541" y="90658"/>
                  </a:cubicBezTo>
                  <a:cubicBezTo>
                    <a:pt x="82656" y="90658"/>
                    <a:pt x="95685" y="81870"/>
                    <a:pt x="101875" y="69148"/>
                  </a:cubicBezTo>
                  <a:cubicBezTo>
                    <a:pt x="108133" y="73628"/>
                    <a:pt x="115794" y="76261"/>
                    <a:pt x="124070" y="76261"/>
                  </a:cubicBezTo>
                  <a:cubicBezTo>
                    <a:pt x="124275" y="76261"/>
                    <a:pt x="124480" y="76261"/>
                    <a:pt x="124685" y="76261"/>
                  </a:cubicBezTo>
                  <a:cubicBezTo>
                    <a:pt x="126908" y="88538"/>
                    <a:pt x="135013" y="98763"/>
                    <a:pt x="145956" y="103927"/>
                  </a:cubicBezTo>
                  <a:cubicBezTo>
                    <a:pt x="147563" y="119692"/>
                    <a:pt x="160901" y="132038"/>
                    <a:pt x="177076" y="132038"/>
                  </a:cubicBezTo>
                  <a:cubicBezTo>
                    <a:pt x="194346" y="132038"/>
                    <a:pt x="208367" y="118017"/>
                    <a:pt x="208367" y="100747"/>
                  </a:cubicBezTo>
                  <a:cubicBezTo>
                    <a:pt x="208367" y="92095"/>
                    <a:pt x="204879" y="84263"/>
                    <a:pt x="199202" y="78621"/>
                  </a:cubicBezTo>
                  <a:close/>
                </a:path>
              </a:pathLst>
            </a:custGeom>
            <a:solidFill>
              <a:srgbClr val="1D2333"/>
            </a:solidFill>
            <a:ln w="3394" cap="flat">
              <a:noFill/>
              <a:prstDash val="solid"/>
              <a:miter/>
            </a:ln>
          </p:spPr>
          <p:txBody>
            <a:bodyPr rtlCol="0" anchor="ctr"/>
            <a:lstStyle/>
            <a:p>
              <a:endParaRPr lang="en-US"/>
            </a:p>
          </p:txBody>
        </p:sp>
        <p:sp>
          <p:nvSpPr>
            <p:cNvPr id="287" name="Freeform: Shape 286">
              <a:extLst>
                <a:ext uri="{FF2B5EF4-FFF2-40B4-BE49-F238E27FC236}">
                  <a16:creationId xmlns:a16="http://schemas.microsoft.com/office/drawing/2014/main" id="{B7FFB67A-6972-4CDC-8F91-B0A69951C32D}"/>
                </a:ext>
              </a:extLst>
            </p:cNvPr>
            <p:cNvSpPr/>
            <p:nvPr/>
          </p:nvSpPr>
          <p:spPr>
            <a:xfrm>
              <a:off x="1262863" y="5018272"/>
              <a:ext cx="131148" cy="166201"/>
            </a:xfrm>
            <a:custGeom>
              <a:avLst/>
              <a:gdLst>
                <a:gd name="connsiteX0" fmla="*/ 75919 w 131148"/>
                <a:gd name="connsiteY0" fmla="*/ 0 h 166201"/>
                <a:gd name="connsiteX1" fmla="*/ 131148 w 131148"/>
                <a:gd name="connsiteY1" fmla="*/ 55229 h 166201"/>
                <a:gd name="connsiteX2" fmla="*/ 131148 w 131148"/>
                <a:gd name="connsiteY2" fmla="*/ 110972 h 166201"/>
                <a:gd name="connsiteX3" fmla="*/ 75919 w 131148"/>
                <a:gd name="connsiteY3" fmla="*/ 166201 h 166201"/>
                <a:gd name="connsiteX4" fmla="*/ 55229 w 131148"/>
                <a:gd name="connsiteY4" fmla="*/ 166201 h 166201"/>
                <a:gd name="connsiteX5" fmla="*/ 0 w 131148"/>
                <a:gd name="connsiteY5" fmla="*/ 110972 h 166201"/>
                <a:gd name="connsiteX6" fmla="*/ 0 w 131148"/>
                <a:gd name="connsiteY6" fmla="*/ 55229 h 166201"/>
                <a:gd name="connsiteX7" fmla="*/ 55229 w 131148"/>
                <a:gd name="connsiteY7" fmla="*/ 0 h 166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148" h="166201">
                  <a:moveTo>
                    <a:pt x="75919" y="0"/>
                  </a:moveTo>
                  <a:cubicBezTo>
                    <a:pt x="106421" y="0"/>
                    <a:pt x="131148" y="24727"/>
                    <a:pt x="131148" y="55229"/>
                  </a:cubicBezTo>
                  <a:lnTo>
                    <a:pt x="131148" y="110972"/>
                  </a:lnTo>
                  <a:cubicBezTo>
                    <a:pt x="131148" y="141474"/>
                    <a:pt x="106421" y="166201"/>
                    <a:pt x="75919" y="166201"/>
                  </a:cubicBezTo>
                  <a:lnTo>
                    <a:pt x="55229" y="166201"/>
                  </a:lnTo>
                  <a:cubicBezTo>
                    <a:pt x="24727" y="166201"/>
                    <a:pt x="0" y="141474"/>
                    <a:pt x="0" y="110972"/>
                  </a:cubicBezTo>
                  <a:lnTo>
                    <a:pt x="0" y="55229"/>
                  </a:lnTo>
                  <a:cubicBezTo>
                    <a:pt x="0" y="24727"/>
                    <a:pt x="24727" y="0"/>
                    <a:pt x="55229" y="0"/>
                  </a:cubicBezTo>
                  <a:close/>
                </a:path>
              </a:pathLst>
            </a:custGeom>
            <a:solidFill>
              <a:srgbClr val="FFBEBB"/>
            </a:solidFill>
            <a:ln w="3394" cap="flat">
              <a:noFill/>
              <a:prstDash val="solid"/>
              <a:miter/>
            </a:ln>
          </p:spPr>
          <p:txBody>
            <a:bodyPr rtlCol="0" anchor="ctr"/>
            <a:lstStyle/>
            <a:p>
              <a:endParaRPr lang="en-US"/>
            </a:p>
          </p:txBody>
        </p:sp>
        <p:sp>
          <p:nvSpPr>
            <p:cNvPr id="288" name="Freeform: Shape 287">
              <a:extLst>
                <a:ext uri="{FF2B5EF4-FFF2-40B4-BE49-F238E27FC236}">
                  <a16:creationId xmlns:a16="http://schemas.microsoft.com/office/drawing/2014/main" id="{00E4C1A7-715D-49F0-B970-D90A8BE8E72C}"/>
                </a:ext>
              </a:extLst>
            </p:cNvPr>
            <p:cNvSpPr/>
            <p:nvPr/>
          </p:nvSpPr>
          <p:spPr>
            <a:xfrm>
              <a:off x="1344543" y="5062356"/>
              <a:ext cx="31795" cy="11624"/>
            </a:xfrm>
            <a:custGeom>
              <a:avLst/>
              <a:gdLst>
                <a:gd name="connsiteX0" fmla="*/ 2686 w 31795"/>
                <a:gd name="connsiteY0" fmla="*/ 11625 h 11624"/>
                <a:gd name="connsiteX1" fmla="*/ 1113 w 31795"/>
                <a:gd name="connsiteY1" fmla="*/ 11112 h 11624"/>
                <a:gd name="connsiteX2" fmla="*/ 498 w 31795"/>
                <a:gd name="connsiteY2" fmla="*/ 7350 h 11624"/>
                <a:gd name="connsiteX3" fmla="*/ 15989 w 31795"/>
                <a:gd name="connsiteY3" fmla="*/ 32 h 11624"/>
                <a:gd name="connsiteX4" fmla="*/ 31070 w 31795"/>
                <a:gd name="connsiteY4" fmla="*/ 6769 h 11624"/>
                <a:gd name="connsiteX5" fmla="*/ 30899 w 31795"/>
                <a:gd name="connsiteY5" fmla="*/ 10599 h 11624"/>
                <a:gd name="connsiteX6" fmla="*/ 27069 w 31795"/>
                <a:gd name="connsiteY6" fmla="*/ 10462 h 11624"/>
                <a:gd name="connsiteX7" fmla="*/ 15647 w 31795"/>
                <a:gd name="connsiteY7" fmla="*/ 5435 h 11624"/>
                <a:gd name="connsiteX8" fmla="*/ 4909 w 31795"/>
                <a:gd name="connsiteY8" fmla="*/ 10496 h 11624"/>
                <a:gd name="connsiteX9" fmla="*/ 2720 w 31795"/>
                <a:gd name="connsiteY9" fmla="*/ 11625 h 11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795" h="11624">
                  <a:moveTo>
                    <a:pt x="2686" y="11625"/>
                  </a:moveTo>
                  <a:cubicBezTo>
                    <a:pt x="2139" y="11625"/>
                    <a:pt x="1592" y="11454"/>
                    <a:pt x="1113" y="11112"/>
                  </a:cubicBezTo>
                  <a:cubicBezTo>
                    <a:pt x="-84" y="10223"/>
                    <a:pt x="-357" y="8547"/>
                    <a:pt x="498" y="7350"/>
                  </a:cubicBezTo>
                  <a:cubicBezTo>
                    <a:pt x="737" y="7042"/>
                    <a:pt x="6311" y="-550"/>
                    <a:pt x="15989" y="32"/>
                  </a:cubicBezTo>
                  <a:cubicBezTo>
                    <a:pt x="25291" y="613"/>
                    <a:pt x="30831" y="6529"/>
                    <a:pt x="31070" y="6769"/>
                  </a:cubicBezTo>
                  <a:cubicBezTo>
                    <a:pt x="32096" y="7863"/>
                    <a:pt x="32028" y="9573"/>
                    <a:pt x="30899" y="10599"/>
                  </a:cubicBezTo>
                  <a:cubicBezTo>
                    <a:pt x="29805" y="11625"/>
                    <a:pt x="28095" y="11556"/>
                    <a:pt x="27069" y="10462"/>
                  </a:cubicBezTo>
                  <a:cubicBezTo>
                    <a:pt x="27035" y="10428"/>
                    <a:pt x="22692" y="5880"/>
                    <a:pt x="15647" y="5435"/>
                  </a:cubicBezTo>
                  <a:cubicBezTo>
                    <a:pt x="8944" y="5025"/>
                    <a:pt x="5080" y="10291"/>
                    <a:pt x="4909" y="10496"/>
                  </a:cubicBezTo>
                  <a:cubicBezTo>
                    <a:pt x="4362" y="11214"/>
                    <a:pt x="3541" y="11625"/>
                    <a:pt x="2720" y="11625"/>
                  </a:cubicBezTo>
                  <a:close/>
                </a:path>
              </a:pathLst>
            </a:custGeom>
            <a:solidFill>
              <a:srgbClr val="1D2333"/>
            </a:solidFill>
            <a:ln w="3394" cap="flat">
              <a:noFill/>
              <a:prstDash val="solid"/>
              <a:miter/>
            </a:ln>
          </p:spPr>
          <p:txBody>
            <a:bodyPr rtlCol="0" anchor="ctr"/>
            <a:lstStyle/>
            <a:p>
              <a:endParaRPr lang="en-US"/>
            </a:p>
          </p:txBody>
        </p:sp>
        <p:sp>
          <p:nvSpPr>
            <p:cNvPr id="289" name="Freeform: Shape 288">
              <a:extLst>
                <a:ext uri="{FF2B5EF4-FFF2-40B4-BE49-F238E27FC236}">
                  <a16:creationId xmlns:a16="http://schemas.microsoft.com/office/drawing/2014/main" id="{B72A3F26-EA36-43CD-BA24-B0B09003E7BD}"/>
                </a:ext>
              </a:extLst>
            </p:cNvPr>
            <p:cNvSpPr/>
            <p:nvPr/>
          </p:nvSpPr>
          <p:spPr>
            <a:xfrm>
              <a:off x="1282142" y="5062322"/>
              <a:ext cx="31819" cy="11658"/>
            </a:xfrm>
            <a:custGeom>
              <a:avLst/>
              <a:gdLst>
                <a:gd name="connsiteX0" fmla="*/ 2711 w 31819"/>
                <a:gd name="connsiteY0" fmla="*/ 11659 h 11658"/>
                <a:gd name="connsiteX1" fmla="*/ 1138 w 31819"/>
                <a:gd name="connsiteY1" fmla="*/ 11146 h 11658"/>
                <a:gd name="connsiteX2" fmla="*/ 522 w 31819"/>
                <a:gd name="connsiteY2" fmla="*/ 7350 h 11658"/>
                <a:gd name="connsiteX3" fmla="*/ 16014 w 31819"/>
                <a:gd name="connsiteY3" fmla="*/ 32 h 11658"/>
                <a:gd name="connsiteX4" fmla="*/ 31095 w 31819"/>
                <a:gd name="connsiteY4" fmla="*/ 6769 h 11658"/>
                <a:gd name="connsiteX5" fmla="*/ 30924 w 31819"/>
                <a:gd name="connsiteY5" fmla="*/ 10599 h 11658"/>
                <a:gd name="connsiteX6" fmla="*/ 27094 w 31819"/>
                <a:gd name="connsiteY6" fmla="*/ 10462 h 11658"/>
                <a:gd name="connsiteX7" fmla="*/ 15672 w 31819"/>
                <a:gd name="connsiteY7" fmla="*/ 5435 h 11658"/>
                <a:gd name="connsiteX8" fmla="*/ 4934 w 31819"/>
                <a:gd name="connsiteY8" fmla="*/ 10496 h 11658"/>
                <a:gd name="connsiteX9" fmla="*/ 2711 w 31819"/>
                <a:gd name="connsiteY9" fmla="*/ 11625 h 11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819" h="11658">
                  <a:moveTo>
                    <a:pt x="2711" y="11659"/>
                  </a:moveTo>
                  <a:cubicBezTo>
                    <a:pt x="2164" y="11659"/>
                    <a:pt x="1616" y="11488"/>
                    <a:pt x="1138" y="11146"/>
                  </a:cubicBezTo>
                  <a:cubicBezTo>
                    <a:pt x="-94" y="10257"/>
                    <a:pt x="-367" y="8581"/>
                    <a:pt x="522" y="7350"/>
                  </a:cubicBezTo>
                  <a:cubicBezTo>
                    <a:pt x="761" y="7042"/>
                    <a:pt x="6336" y="-550"/>
                    <a:pt x="16014" y="32"/>
                  </a:cubicBezTo>
                  <a:cubicBezTo>
                    <a:pt x="25315" y="613"/>
                    <a:pt x="30855" y="6529"/>
                    <a:pt x="31095" y="6769"/>
                  </a:cubicBezTo>
                  <a:cubicBezTo>
                    <a:pt x="32121" y="7863"/>
                    <a:pt x="32052" y="9573"/>
                    <a:pt x="30924" y="10599"/>
                  </a:cubicBezTo>
                  <a:cubicBezTo>
                    <a:pt x="29830" y="11625"/>
                    <a:pt x="28120" y="11556"/>
                    <a:pt x="27094" y="10462"/>
                  </a:cubicBezTo>
                  <a:cubicBezTo>
                    <a:pt x="26957" y="10325"/>
                    <a:pt x="22648" y="5880"/>
                    <a:pt x="15672" y="5435"/>
                  </a:cubicBezTo>
                  <a:cubicBezTo>
                    <a:pt x="8935" y="5025"/>
                    <a:pt x="4968" y="10428"/>
                    <a:pt x="4934" y="10496"/>
                  </a:cubicBezTo>
                  <a:cubicBezTo>
                    <a:pt x="4421" y="11249"/>
                    <a:pt x="3566" y="11625"/>
                    <a:pt x="2711" y="11625"/>
                  </a:cubicBezTo>
                  <a:close/>
                </a:path>
              </a:pathLst>
            </a:custGeom>
            <a:solidFill>
              <a:srgbClr val="1D2333"/>
            </a:solidFill>
            <a:ln w="3394" cap="flat">
              <a:noFill/>
              <a:prstDash val="solid"/>
              <a:miter/>
            </a:ln>
          </p:spPr>
          <p:txBody>
            <a:bodyPr rtlCol="0" anchor="ctr"/>
            <a:lstStyle/>
            <a:p>
              <a:endParaRPr lang="en-US"/>
            </a:p>
          </p:txBody>
        </p:sp>
        <p:sp>
          <p:nvSpPr>
            <p:cNvPr id="290" name="Freeform: Shape 289">
              <a:extLst>
                <a:ext uri="{FF2B5EF4-FFF2-40B4-BE49-F238E27FC236}">
                  <a16:creationId xmlns:a16="http://schemas.microsoft.com/office/drawing/2014/main" id="{817127BD-8A4E-4B53-9F48-7690909036BD}"/>
                </a:ext>
              </a:extLst>
            </p:cNvPr>
            <p:cNvSpPr/>
            <p:nvPr/>
          </p:nvSpPr>
          <p:spPr>
            <a:xfrm>
              <a:off x="1354718" y="5081299"/>
              <a:ext cx="9028" cy="12550"/>
            </a:xfrm>
            <a:custGeom>
              <a:avLst/>
              <a:gdLst>
                <a:gd name="connsiteX0" fmla="*/ 4514 w 9028"/>
                <a:gd name="connsiteY0" fmla="*/ 12551 h 12550"/>
                <a:gd name="connsiteX1" fmla="*/ 0 w 9028"/>
                <a:gd name="connsiteY1" fmla="*/ 8036 h 12550"/>
                <a:gd name="connsiteX2" fmla="*/ 0 w 9028"/>
                <a:gd name="connsiteY2" fmla="*/ 4514 h 12550"/>
                <a:gd name="connsiteX3" fmla="*/ 4514 w 9028"/>
                <a:gd name="connsiteY3" fmla="*/ 0 h 12550"/>
                <a:gd name="connsiteX4" fmla="*/ 9028 w 9028"/>
                <a:gd name="connsiteY4" fmla="*/ 4514 h 12550"/>
                <a:gd name="connsiteX5" fmla="*/ 9028 w 9028"/>
                <a:gd name="connsiteY5" fmla="*/ 8036 h 12550"/>
                <a:gd name="connsiteX6" fmla="*/ 4514 w 9028"/>
                <a:gd name="connsiteY6" fmla="*/ 12551 h 12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28" h="12550">
                  <a:moveTo>
                    <a:pt x="4514" y="12551"/>
                  </a:moveTo>
                  <a:cubicBezTo>
                    <a:pt x="2018" y="12551"/>
                    <a:pt x="0" y="10499"/>
                    <a:pt x="0" y="8036"/>
                  </a:cubicBezTo>
                  <a:lnTo>
                    <a:pt x="0" y="4514"/>
                  </a:lnTo>
                  <a:cubicBezTo>
                    <a:pt x="0" y="2018"/>
                    <a:pt x="2052" y="0"/>
                    <a:pt x="4514" y="0"/>
                  </a:cubicBezTo>
                  <a:cubicBezTo>
                    <a:pt x="6976" y="0"/>
                    <a:pt x="9028" y="2052"/>
                    <a:pt x="9028" y="4514"/>
                  </a:cubicBezTo>
                  <a:lnTo>
                    <a:pt x="9028" y="8036"/>
                  </a:lnTo>
                  <a:cubicBezTo>
                    <a:pt x="9028" y="10533"/>
                    <a:pt x="6976" y="12551"/>
                    <a:pt x="4514" y="12551"/>
                  </a:cubicBezTo>
                  <a:close/>
                </a:path>
              </a:pathLst>
            </a:custGeom>
            <a:solidFill>
              <a:srgbClr val="1D2333"/>
            </a:solidFill>
            <a:ln w="3394" cap="flat">
              <a:noFill/>
              <a:prstDash val="solid"/>
              <a:miter/>
            </a:ln>
          </p:spPr>
          <p:txBody>
            <a:bodyPr rtlCol="0" anchor="ctr"/>
            <a:lstStyle/>
            <a:p>
              <a:endParaRPr lang="en-US"/>
            </a:p>
          </p:txBody>
        </p:sp>
        <p:sp>
          <p:nvSpPr>
            <p:cNvPr id="291" name="Freeform: Shape 290">
              <a:extLst>
                <a:ext uri="{FF2B5EF4-FFF2-40B4-BE49-F238E27FC236}">
                  <a16:creationId xmlns:a16="http://schemas.microsoft.com/office/drawing/2014/main" id="{633E1B2C-5782-44F9-B07A-2C8681D7ADAA}"/>
                </a:ext>
              </a:extLst>
            </p:cNvPr>
            <p:cNvSpPr/>
            <p:nvPr/>
          </p:nvSpPr>
          <p:spPr>
            <a:xfrm>
              <a:off x="1294530" y="5081299"/>
              <a:ext cx="9028" cy="12550"/>
            </a:xfrm>
            <a:custGeom>
              <a:avLst/>
              <a:gdLst>
                <a:gd name="connsiteX0" fmla="*/ 4514 w 9028"/>
                <a:gd name="connsiteY0" fmla="*/ 12551 h 12550"/>
                <a:gd name="connsiteX1" fmla="*/ 0 w 9028"/>
                <a:gd name="connsiteY1" fmla="*/ 8036 h 12550"/>
                <a:gd name="connsiteX2" fmla="*/ 0 w 9028"/>
                <a:gd name="connsiteY2" fmla="*/ 4514 h 12550"/>
                <a:gd name="connsiteX3" fmla="*/ 4514 w 9028"/>
                <a:gd name="connsiteY3" fmla="*/ 0 h 12550"/>
                <a:gd name="connsiteX4" fmla="*/ 9028 w 9028"/>
                <a:gd name="connsiteY4" fmla="*/ 4514 h 12550"/>
                <a:gd name="connsiteX5" fmla="*/ 9028 w 9028"/>
                <a:gd name="connsiteY5" fmla="*/ 8036 h 12550"/>
                <a:gd name="connsiteX6" fmla="*/ 4514 w 9028"/>
                <a:gd name="connsiteY6" fmla="*/ 12551 h 12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28" h="12550">
                  <a:moveTo>
                    <a:pt x="4514" y="12551"/>
                  </a:moveTo>
                  <a:cubicBezTo>
                    <a:pt x="2018" y="12551"/>
                    <a:pt x="0" y="10499"/>
                    <a:pt x="0" y="8036"/>
                  </a:cubicBezTo>
                  <a:lnTo>
                    <a:pt x="0" y="4514"/>
                  </a:lnTo>
                  <a:cubicBezTo>
                    <a:pt x="0" y="2018"/>
                    <a:pt x="2052" y="0"/>
                    <a:pt x="4514" y="0"/>
                  </a:cubicBezTo>
                  <a:cubicBezTo>
                    <a:pt x="6976" y="0"/>
                    <a:pt x="9028" y="2052"/>
                    <a:pt x="9028" y="4514"/>
                  </a:cubicBezTo>
                  <a:lnTo>
                    <a:pt x="9028" y="8036"/>
                  </a:lnTo>
                  <a:cubicBezTo>
                    <a:pt x="9028" y="10533"/>
                    <a:pt x="6976" y="12551"/>
                    <a:pt x="4514" y="12551"/>
                  </a:cubicBezTo>
                  <a:close/>
                </a:path>
              </a:pathLst>
            </a:custGeom>
            <a:solidFill>
              <a:srgbClr val="1D2333"/>
            </a:solidFill>
            <a:ln w="3394" cap="flat">
              <a:noFill/>
              <a:prstDash val="solid"/>
              <a:miter/>
            </a:ln>
          </p:spPr>
          <p:txBody>
            <a:bodyPr rtlCol="0" anchor="ctr"/>
            <a:lstStyle/>
            <a:p>
              <a:endParaRPr lang="en-US"/>
            </a:p>
          </p:txBody>
        </p:sp>
        <p:sp>
          <p:nvSpPr>
            <p:cNvPr id="292" name="Freeform: Shape 291">
              <a:extLst>
                <a:ext uri="{FF2B5EF4-FFF2-40B4-BE49-F238E27FC236}">
                  <a16:creationId xmlns:a16="http://schemas.microsoft.com/office/drawing/2014/main" id="{862600CC-A586-4290-91BA-0154C737AF0A}"/>
                </a:ext>
              </a:extLst>
            </p:cNvPr>
            <p:cNvSpPr/>
            <p:nvPr/>
          </p:nvSpPr>
          <p:spPr>
            <a:xfrm>
              <a:off x="1320520" y="5076953"/>
              <a:ext cx="10917" cy="42715"/>
            </a:xfrm>
            <a:custGeom>
              <a:avLst/>
              <a:gdLst>
                <a:gd name="connsiteX0" fmla="*/ 5267 w 10917"/>
                <a:gd name="connsiteY0" fmla="*/ 42716 h 42715"/>
                <a:gd name="connsiteX1" fmla="*/ 3010 w 10917"/>
                <a:gd name="connsiteY1" fmla="*/ 41519 h 42715"/>
                <a:gd name="connsiteX2" fmla="*/ 2360 w 10917"/>
                <a:gd name="connsiteY2" fmla="*/ 24557 h 42715"/>
                <a:gd name="connsiteX3" fmla="*/ 3557 w 10917"/>
                <a:gd name="connsiteY3" fmla="*/ 21753 h 42715"/>
                <a:gd name="connsiteX4" fmla="*/ 5472 w 10917"/>
                <a:gd name="connsiteY4" fmla="*/ 2773 h 42715"/>
                <a:gd name="connsiteX5" fmla="*/ 8139 w 10917"/>
                <a:gd name="connsiteY5" fmla="*/ 3 h 42715"/>
                <a:gd name="connsiteX6" fmla="*/ 10909 w 10917"/>
                <a:gd name="connsiteY6" fmla="*/ 2670 h 42715"/>
                <a:gd name="connsiteX7" fmla="*/ 8618 w 10917"/>
                <a:gd name="connsiteY7" fmla="*/ 23736 h 42715"/>
                <a:gd name="connsiteX8" fmla="*/ 7319 w 10917"/>
                <a:gd name="connsiteY8" fmla="*/ 26780 h 42715"/>
                <a:gd name="connsiteX9" fmla="*/ 7490 w 10917"/>
                <a:gd name="connsiteY9" fmla="*/ 38441 h 42715"/>
                <a:gd name="connsiteX10" fmla="*/ 6772 w 10917"/>
                <a:gd name="connsiteY10" fmla="*/ 42203 h 42715"/>
                <a:gd name="connsiteX11" fmla="*/ 5233 w 10917"/>
                <a:gd name="connsiteY11" fmla="*/ 42682 h 4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17" h="42715">
                  <a:moveTo>
                    <a:pt x="5267" y="42716"/>
                  </a:moveTo>
                  <a:cubicBezTo>
                    <a:pt x="4412" y="42716"/>
                    <a:pt x="3557" y="42305"/>
                    <a:pt x="3010" y="41519"/>
                  </a:cubicBezTo>
                  <a:cubicBezTo>
                    <a:pt x="-1949" y="34235"/>
                    <a:pt x="240" y="29310"/>
                    <a:pt x="2360" y="24557"/>
                  </a:cubicBezTo>
                  <a:cubicBezTo>
                    <a:pt x="2770" y="23668"/>
                    <a:pt x="3181" y="22744"/>
                    <a:pt x="3557" y="21753"/>
                  </a:cubicBezTo>
                  <a:cubicBezTo>
                    <a:pt x="5335" y="17170"/>
                    <a:pt x="5540" y="6500"/>
                    <a:pt x="5472" y="2773"/>
                  </a:cubicBezTo>
                  <a:cubicBezTo>
                    <a:pt x="5472" y="1268"/>
                    <a:pt x="6635" y="37"/>
                    <a:pt x="8139" y="3"/>
                  </a:cubicBezTo>
                  <a:cubicBezTo>
                    <a:pt x="9678" y="-66"/>
                    <a:pt x="10875" y="1165"/>
                    <a:pt x="10909" y="2670"/>
                  </a:cubicBezTo>
                  <a:cubicBezTo>
                    <a:pt x="10909" y="3252"/>
                    <a:pt x="11183" y="17204"/>
                    <a:pt x="8618" y="23736"/>
                  </a:cubicBezTo>
                  <a:cubicBezTo>
                    <a:pt x="8208" y="24796"/>
                    <a:pt x="7763" y="25822"/>
                    <a:pt x="7319" y="26780"/>
                  </a:cubicBezTo>
                  <a:cubicBezTo>
                    <a:pt x="5335" y="31225"/>
                    <a:pt x="4241" y="33688"/>
                    <a:pt x="7490" y="38441"/>
                  </a:cubicBezTo>
                  <a:cubicBezTo>
                    <a:pt x="8345" y="39672"/>
                    <a:pt x="8003" y="41382"/>
                    <a:pt x="6772" y="42203"/>
                  </a:cubicBezTo>
                  <a:cubicBezTo>
                    <a:pt x="6293" y="42511"/>
                    <a:pt x="5780" y="42682"/>
                    <a:pt x="5233" y="42682"/>
                  </a:cubicBezTo>
                  <a:close/>
                </a:path>
              </a:pathLst>
            </a:custGeom>
            <a:solidFill>
              <a:srgbClr val="F47C73"/>
            </a:solidFill>
            <a:ln w="3394" cap="flat">
              <a:noFill/>
              <a:prstDash val="solid"/>
              <a:miter/>
            </a:ln>
          </p:spPr>
          <p:txBody>
            <a:bodyPr rtlCol="0" anchor="ctr"/>
            <a:lstStyle/>
            <a:p>
              <a:endParaRPr lang="en-US"/>
            </a:p>
          </p:txBody>
        </p:sp>
        <p:sp>
          <p:nvSpPr>
            <p:cNvPr id="293" name="Freeform: Shape 292">
              <a:extLst>
                <a:ext uri="{FF2B5EF4-FFF2-40B4-BE49-F238E27FC236}">
                  <a16:creationId xmlns:a16="http://schemas.microsoft.com/office/drawing/2014/main" id="{274F261A-E25C-4421-B9C8-34157A0FFF18}"/>
                </a:ext>
              </a:extLst>
            </p:cNvPr>
            <p:cNvSpPr/>
            <p:nvPr/>
          </p:nvSpPr>
          <p:spPr>
            <a:xfrm>
              <a:off x="1418224" y="5463059"/>
              <a:ext cx="330702" cy="123753"/>
            </a:xfrm>
            <a:custGeom>
              <a:avLst/>
              <a:gdLst>
                <a:gd name="connsiteX0" fmla="*/ 323135 w 330702"/>
                <a:gd name="connsiteY0" fmla="*/ 29263 h 123753"/>
                <a:gd name="connsiteX1" fmla="*/ 311884 w 330702"/>
                <a:gd name="connsiteY1" fmla="*/ 14353 h 123753"/>
                <a:gd name="connsiteX2" fmla="*/ 233263 w 330702"/>
                <a:gd name="connsiteY2" fmla="*/ 2076 h 123753"/>
                <a:gd name="connsiteX3" fmla="*/ 142844 w 330702"/>
                <a:gd name="connsiteY3" fmla="*/ 21568 h 123753"/>
                <a:gd name="connsiteX4" fmla="*/ 82759 w 330702"/>
                <a:gd name="connsiteY4" fmla="*/ 29742 h 123753"/>
                <a:gd name="connsiteX5" fmla="*/ 15765 w 330702"/>
                <a:gd name="connsiteY5" fmla="*/ 31451 h 123753"/>
                <a:gd name="connsiteX6" fmla="*/ 0 w 330702"/>
                <a:gd name="connsiteY6" fmla="*/ 101762 h 123753"/>
                <a:gd name="connsiteX7" fmla="*/ 156489 w 330702"/>
                <a:gd name="connsiteY7" fmla="*/ 120708 h 123753"/>
                <a:gd name="connsiteX8" fmla="*/ 176221 w 330702"/>
                <a:gd name="connsiteY8" fmla="*/ 121494 h 123753"/>
                <a:gd name="connsiteX9" fmla="*/ 283602 w 330702"/>
                <a:gd name="connsiteY9" fmla="*/ 118861 h 123753"/>
                <a:gd name="connsiteX10" fmla="*/ 320775 w 330702"/>
                <a:gd name="connsiteY10" fmla="*/ 98137 h 123753"/>
                <a:gd name="connsiteX11" fmla="*/ 330145 w 330702"/>
                <a:gd name="connsiteY11" fmla="*/ 54398 h 123753"/>
                <a:gd name="connsiteX12" fmla="*/ 323135 w 330702"/>
                <a:gd name="connsiteY12" fmla="*/ 29263 h 123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0702" h="123753">
                  <a:moveTo>
                    <a:pt x="323135" y="29263"/>
                  </a:moveTo>
                  <a:cubicBezTo>
                    <a:pt x="320331" y="23586"/>
                    <a:pt x="316603" y="18456"/>
                    <a:pt x="311884" y="14353"/>
                  </a:cubicBezTo>
                  <a:cubicBezTo>
                    <a:pt x="291707" y="-3157"/>
                    <a:pt x="257509" y="-968"/>
                    <a:pt x="233263" y="2076"/>
                  </a:cubicBezTo>
                  <a:cubicBezTo>
                    <a:pt x="202656" y="5906"/>
                    <a:pt x="173075" y="15618"/>
                    <a:pt x="142844" y="21568"/>
                  </a:cubicBezTo>
                  <a:cubicBezTo>
                    <a:pt x="123009" y="25467"/>
                    <a:pt x="102867" y="28032"/>
                    <a:pt x="82759" y="29742"/>
                  </a:cubicBezTo>
                  <a:cubicBezTo>
                    <a:pt x="76911" y="30220"/>
                    <a:pt x="15902" y="30870"/>
                    <a:pt x="15765" y="31451"/>
                  </a:cubicBezTo>
                  <a:lnTo>
                    <a:pt x="0" y="101762"/>
                  </a:lnTo>
                  <a:cubicBezTo>
                    <a:pt x="0" y="101762"/>
                    <a:pt x="11490" y="112945"/>
                    <a:pt x="156489" y="120708"/>
                  </a:cubicBezTo>
                  <a:cubicBezTo>
                    <a:pt x="163055" y="121050"/>
                    <a:pt x="169655" y="121323"/>
                    <a:pt x="176221" y="121494"/>
                  </a:cubicBezTo>
                  <a:cubicBezTo>
                    <a:pt x="212231" y="122418"/>
                    <a:pt x="247900" y="127342"/>
                    <a:pt x="283602" y="118861"/>
                  </a:cubicBezTo>
                  <a:cubicBezTo>
                    <a:pt x="297555" y="115544"/>
                    <a:pt x="311850" y="109901"/>
                    <a:pt x="320775" y="98137"/>
                  </a:cubicBezTo>
                  <a:cubicBezTo>
                    <a:pt x="329872" y="86134"/>
                    <a:pt x="331855" y="69616"/>
                    <a:pt x="330145" y="54398"/>
                  </a:cubicBezTo>
                  <a:cubicBezTo>
                    <a:pt x="329154" y="45712"/>
                    <a:pt x="326965" y="36957"/>
                    <a:pt x="323135" y="29263"/>
                  </a:cubicBezTo>
                  <a:close/>
                </a:path>
              </a:pathLst>
            </a:custGeom>
            <a:solidFill>
              <a:srgbClr val="FFBEBB"/>
            </a:solidFill>
            <a:ln w="3394" cap="flat">
              <a:noFill/>
              <a:prstDash val="solid"/>
              <a:miter/>
            </a:ln>
          </p:spPr>
          <p:txBody>
            <a:bodyPr rtlCol="0" anchor="ctr"/>
            <a:lstStyle/>
            <a:p>
              <a:endParaRPr lang="en-US"/>
            </a:p>
          </p:txBody>
        </p:sp>
        <p:sp>
          <p:nvSpPr>
            <p:cNvPr id="294" name="Freeform: Shape 293">
              <a:extLst>
                <a:ext uri="{FF2B5EF4-FFF2-40B4-BE49-F238E27FC236}">
                  <a16:creationId xmlns:a16="http://schemas.microsoft.com/office/drawing/2014/main" id="{3505F52F-6BA5-409C-986E-735BADBEFACA}"/>
                </a:ext>
              </a:extLst>
            </p:cNvPr>
            <p:cNvSpPr/>
            <p:nvPr/>
          </p:nvSpPr>
          <p:spPr>
            <a:xfrm>
              <a:off x="913694" y="5463059"/>
              <a:ext cx="330702" cy="123753"/>
            </a:xfrm>
            <a:custGeom>
              <a:avLst/>
              <a:gdLst>
                <a:gd name="connsiteX0" fmla="*/ 7567 w 330702"/>
                <a:gd name="connsiteY0" fmla="*/ 29263 h 123753"/>
                <a:gd name="connsiteX1" fmla="*/ 18819 w 330702"/>
                <a:gd name="connsiteY1" fmla="*/ 14353 h 123753"/>
                <a:gd name="connsiteX2" fmla="*/ 97439 w 330702"/>
                <a:gd name="connsiteY2" fmla="*/ 2076 h 123753"/>
                <a:gd name="connsiteX3" fmla="*/ 187858 w 330702"/>
                <a:gd name="connsiteY3" fmla="*/ 21568 h 123753"/>
                <a:gd name="connsiteX4" fmla="*/ 247944 w 330702"/>
                <a:gd name="connsiteY4" fmla="*/ 29742 h 123753"/>
                <a:gd name="connsiteX5" fmla="*/ 314937 w 330702"/>
                <a:gd name="connsiteY5" fmla="*/ 31451 h 123753"/>
                <a:gd name="connsiteX6" fmla="*/ 330702 w 330702"/>
                <a:gd name="connsiteY6" fmla="*/ 101762 h 123753"/>
                <a:gd name="connsiteX7" fmla="*/ 174213 w 330702"/>
                <a:gd name="connsiteY7" fmla="*/ 120708 h 123753"/>
                <a:gd name="connsiteX8" fmla="*/ 154481 w 330702"/>
                <a:gd name="connsiteY8" fmla="*/ 121494 h 123753"/>
                <a:gd name="connsiteX9" fmla="*/ 47100 w 330702"/>
                <a:gd name="connsiteY9" fmla="*/ 118861 h 123753"/>
                <a:gd name="connsiteX10" fmla="*/ 9927 w 330702"/>
                <a:gd name="connsiteY10" fmla="*/ 98137 h 123753"/>
                <a:gd name="connsiteX11" fmla="*/ 557 w 330702"/>
                <a:gd name="connsiteY11" fmla="*/ 54398 h 123753"/>
                <a:gd name="connsiteX12" fmla="*/ 7567 w 330702"/>
                <a:gd name="connsiteY12" fmla="*/ 29263 h 123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0702" h="123753">
                  <a:moveTo>
                    <a:pt x="7567" y="29263"/>
                  </a:moveTo>
                  <a:cubicBezTo>
                    <a:pt x="10372" y="23586"/>
                    <a:pt x="14099" y="18456"/>
                    <a:pt x="18819" y="14353"/>
                  </a:cubicBezTo>
                  <a:cubicBezTo>
                    <a:pt x="38995" y="-3157"/>
                    <a:pt x="73193" y="-968"/>
                    <a:pt x="97439" y="2076"/>
                  </a:cubicBezTo>
                  <a:cubicBezTo>
                    <a:pt x="128046" y="5906"/>
                    <a:pt x="157627" y="15618"/>
                    <a:pt x="187858" y="21568"/>
                  </a:cubicBezTo>
                  <a:cubicBezTo>
                    <a:pt x="207693" y="25467"/>
                    <a:pt x="227835" y="28032"/>
                    <a:pt x="247944" y="29742"/>
                  </a:cubicBezTo>
                  <a:cubicBezTo>
                    <a:pt x="253791" y="30220"/>
                    <a:pt x="314800" y="30870"/>
                    <a:pt x="314937" y="31451"/>
                  </a:cubicBezTo>
                  <a:lnTo>
                    <a:pt x="330702" y="101762"/>
                  </a:lnTo>
                  <a:cubicBezTo>
                    <a:pt x="330702" y="101762"/>
                    <a:pt x="319212" y="112945"/>
                    <a:pt x="174213" y="120708"/>
                  </a:cubicBezTo>
                  <a:cubicBezTo>
                    <a:pt x="167647" y="121050"/>
                    <a:pt x="161047" y="121323"/>
                    <a:pt x="154481" y="121494"/>
                  </a:cubicBezTo>
                  <a:cubicBezTo>
                    <a:pt x="118471" y="122418"/>
                    <a:pt x="82803" y="127342"/>
                    <a:pt x="47100" y="118861"/>
                  </a:cubicBezTo>
                  <a:cubicBezTo>
                    <a:pt x="33147" y="115544"/>
                    <a:pt x="18853" y="109901"/>
                    <a:pt x="9927" y="98137"/>
                  </a:cubicBezTo>
                  <a:cubicBezTo>
                    <a:pt x="831" y="86134"/>
                    <a:pt x="-1153" y="69616"/>
                    <a:pt x="557" y="54398"/>
                  </a:cubicBezTo>
                  <a:cubicBezTo>
                    <a:pt x="1549" y="45712"/>
                    <a:pt x="3737" y="36957"/>
                    <a:pt x="7567" y="29263"/>
                  </a:cubicBezTo>
                  <a:close/>
                </a:path>
              </a:pathLst>
            </a:custGeom>
            <a:solidFill>
              <a:srgbClr val="FFBEBB"/>
            </a:solidFill>
            <a:ln w="3394" cap="flat">
              <a:noFill/>
              <a:prstDash val="solid"/>
              <a:miter/>
            </a:ln>
          </p:spPr>
          <p:txBody>
            <a:bodyPr rtlCol="0" anchor="ctr"/>
            <a:lstStyle/>
            <a:p>
              <a:endParaRPr lang="en-US"/>
            </a:p>
          </p:txBody>
        </p:sp>
        <p:sp>
          <p:nvSpPr>
            <p:cNvPr id="295" name="Freeform: Shape 294">
              <a:extLst>
                <a:ext uri="{FF2B5EF4-FFF2-40B4-BE49-F238E27FC236}">
                  <a16:creationId xmlns:a16="http://schemas.microsoft.com/office/drawing/2014/main" id="{E59F9835-6FC0-4A41-AA9E-9C185640E865}"/>
                </a:ext>
              </a:extLst>
            </p:cNvPr>
            <p:cNvSpPr/>
            <p:nvPr/>
          </p:nvSpPr>
          <p:spPr>
            <a:xfrm rot="13500000">
              <a:off x="1020870" y="4951139"/>
              <a:ext cx="81972" cy="81972"/>
            </a:xfrm>
            <a:custGeom>
              <a:avLst/>
              <a:gdLst>
                <a:gd name="connsiteX0" fmla="*/ 73833 w 81972"/>
                <a:gd name="connsiteY0" fmla="*/ 0 h 81972"/>
                <a:gd name="connsiteX1" fmla="*/ 81972 w 81972"/>
                <a:gd name="connsiteY1" fmla="*/ 8139 h 81972"/>
                <a:gd name="connsiteX2" fmla="*/ 81972 w 81972"/>
                <a:gd name="connsiteY2" fmla="*/ 73833 h 81972"/>
                <a:gd name="connsiteX3" fmla="*/ 73833 w 81972"/>
                <a:gd name="connsiteY3" fmla="*/ 81972 h 81972"/>
                <a:gd name="connsiteX4" fmla="*/ 8139 w 81972"/>
                <a:gd name="connsiteY4" fmla="*/ 81972 h 81972"/>
                <a:gd name="connsiteX5" fmla="*/ 0 w 81972"/>
                <a:gd name="connsiteY5" fmla="*/ 73833 h 81972"/>
                <a:gd name="connsiteX6" fmla="*/ 0 w 81972"/>
                <a:gd name="connsiteY6" fmla="*/ 8139 h 81972"/>
                <a:gd name="connsiteX7" fmla="*/ 8139 w 81972"/>
                <a:gd name="connsiteY7" fmla="*/ 0 h 81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972" h="81972">
                  <a:moveTo>
                    <a:pt x="73833" y="0"/>
                  </a:moveTo>
                  <a:cubicBezTo>
                    <a:pt x="78328" y="0"/>
                    <a:pt x="81972" y="3644"/>
                    <a:pt x="81972" y="8139"/>
                  </a:cubicBezTo>
                  <a:lnTo>
                    <a:pt x="81972" y="73833"/>
                  </a:lnTo>
                  <a:cubicBezTo>
                    <a:pt x="81972" y="78328"/>
                    <a:pt x="78328" y="81972"/>
                    <a:pt x="73833" y="81972"/>
                  </a:cubicBezTo>
                  <a:lnTo>
                    <a:pt x="8139" y="81972"/>
                  </a:lnTo>
                  <a:cubicBezTo>
                    <a:pt x="3644" y="81972"/>
                    <a:pt x="0" y="78328"/>
                    <a:pt x="0" y="73833"/>
                  </a:cubicBezTo>
                  <a:lnTo>
                    <a:pt x="0" y="8139"/>
                  </a:lnTo>
                  <a:cubicBezTo>
                    <a:pt x="0" y="3644"/>
                    <a:pt x="3644" y="0"/>
                    <a:pt x="8139" y="0"/>
                  </a:cubicBezTo>
                  <a:close/>
                </a:path>
              </a:pathLst>
            </a:custGeom>
            <a:solidFill>
              <a:schemeClr val="tx2">
                <a:lumMod val="40000"/>
                <a:lumOff val="60000"/>
              </a:schemeClr>
            </a:solidFill>
            <a:ln w="3394" cap="flat">
              <a:noFill/>
              <a:prstDash val="solid"/>
              <a:miter/>
            </a:ln>
          </p:spPr>
          <p:txBody>
            <a:bodyPr rtlCol="0" anchor="ctr"/>
            <a:lstStyle/>
            <a:p>
              <a:endParaRPr lang="en-US"/>
            </a:p>
          </p:txBody>
        </p:sp>
        <p:sp>
          <p:nvSpPr>
            <p:cNvPr id="296" name="Freeform: Shape 295">
              <a:extLst>
                <a:ext uri="{FF2B5EF4-FFF2-40B4-BE49-F238E27FC236}">
                  <a16:creationId xmlns:a16="http://schemas.microsoft.com/office/drawing/2014/main" id="{12CA3945-EFDE-4024-8DE4-9DD0FBBD0D18}"/>
                </a:ext>
              </a:extLst>
            </p:cNvPr>
            <p:cNvSpPr/>
            <p:nvPr/>
          </p:nvSpPr>
          <p:spPr>
            <a:xfrm>
              <a:off x="1385967" y="5073433"/>
              <a:ext cx="39994" cy="44847"/>
            </a:xfrm>
            <a:custGeom>
              <a:avLst/>
              <a:gdLst>
                <a:gd name="connsiteX0" fmla="*/ 32736 w 39994"/>
                <a:gd name="connsiteY0" fmla="*/ 2189 h 44847"/>
                <a:gd name="connsiteX1" fmla="*/ 35403 w 39994"/>
                <a:gd name="connsiteY1" fmla="*/ 32112 h 44847"/>
                <a:gd name="connsiteX2" fmla="*/ 7258 w 39994"/>
                <a:gd name="connsiteY2" fmla="*/ 42645 h 44847"/>
                <a:gd name="connsiteX3" fmla="*/ 4591 w 39994"/>
                <a:gd name="connsiteY3" fmla="*/ 12722 h 44847"/>
                <a:gd name="connsiteX4" fmla="*/ 32736 w 39994"/>
                <a:gd name="connsiteY4" fmla="*/ 2223 h 448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94" h="44847">
                  <a:moveTo>
                    <a:pt x="32736" y="2189"/>
                  </a:moveTo>
                  <a:cubicBezTo>
                    <a:pt x="41251" y="7558"/>
                    <a:pt x="42448" y="20964"/>
                    <a:pt x="35403" y="32112"/>
                  </a:cubicBezTo>
                  <a:cubicBezTo>
                    <a:pt x="28358" y="43295"/>
                    <a:pt x="15774" y="47980"/>
                    <a:pt x="7258" y="42645"/>
                  </a:cubicBezTo>
                  <a:cubicBezTo>
                    <a:pt x="-1257" y="37310"/>
                    <a:pt x="-2454" y="23871"/>
                    <a:pt x="4591" y="12722"/>
                  </a:cubicBezTo>
                  <a:cubicBezTo>
                    <a:pt x="11636" y="1539"/>
                    <a:pt x="24221" y="-3146"/>
                    <a:pt x="32736" y="2223"/>
                  </a:cubicBezTo>
                  <a:close/>
                </a:path>
              </a:pathLst>
            </a:custGeom>
            <a:solidFill>
              <a:srgbClr val="FFBEBB"/>
            </a:solidFill>
            <a:ln w="3394" cap="flat">
              <a:noFill/>
              <a:prstDash val="solid"/>
              <a:miter/>
            </a:ln>
          </p:spPr>
          <p:txBody>
            <a:bodyPr rtlCol="0" anchor="ctr"/>
            <a:lstStyle/>
            <a:p>
              <a:endParaRPr lang="en-US"/>
            </a:p>
          </p:txBody>
        </p:sp>
        <p:sp>
          <p:nvSpPr>
            <p:cNvPr id="297" name="Freeform: Shape 296">
              <a:extLst>
                <a:ext uri="{FF2B5EF4-FFF2-40B4-BE49-F238E27FC236}">
                  <a16:creationId xmlns:a16="http://schemas.microsoft.com/office/drawing/2014/main" id="{8D071F85-4C73-4F8E-A63D-2CEAFAA1B225}"/>
                </a:ext>
              </a:extLst>
            </p:cNvPr>
            <p:cNvSpPr/>
            <p:nvPr/>
          </p:nvSpPr>
          <p:spPr>
            <a:xfrm>
              <a:off x="1394046" y="5079714"/>
              <a:ext cx="22296" cy="13040"/>
            </a:xfrm>
            <a:custGeom>
              <a:avLst/>
              <a:gdLst>
                <a:gd name="connsiteX0" fmla="*/ 2702 w 22296"/>
                <a:gd name="connsiteY0" fmla="*/ 13041 h 13040"/>
                <a:gd name="connsiteX1" fmla="*/ 1265 w 22296"/>
                <a:gd name="connsiteY1" fmla="*/ 12631 h 13040"/>
                <a:gd name="connsiteX2" fmla="*/ 410 w 22296"/>
                <a:gd name="connsiteY2" fmla="*/ 8869 h 13040"/>
                <a:gd name="connsiteX3" fmla="*/ 21032 w 22296"/>
                <a:gd name="connsiteY3" fmla="*/ 1721 h 13040"/>
                <a:gd name="connsiteX4" fmla="*/ 21887 w 22296"/>
                <a:gd name="connsiteY4" fmla="*/ 5449 h 13040"/>
                <a:gd name="connsiteX5" fmla="*/ 18125 w 22296"/>
                <a:gd name="connsiteY5" fmla="*/ 6304 h 13040"/>
                <a:gd name="connsiteX6" fmla="*/ 4993 w 22296"/>
                <a:gd name="connsiteY6" fmla="*/ 11741 h 13040"/>
                <a:gd name="connsiteX7" fmla="*/ 2702 w 22296"/>
                <a:gd name="connsiteY7" fmla="*/ 13007 h 13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296" h="13040">
                  <a:moveTo>
                    <a:pt x="2702" y="13041"/>
                  </a:moveTo>
                  <a:cubicBezTo>
                    <a:pt x="2223" y="13041"/>
                    <a:pt x="1710" y="12904"/>
                    <a:pt x="1265" y="12631"/>
                  </a:cubicBezTo>
                  <a:cubicBezTo>
                    <a:pt x="0" y="11844"/>
                    <a:pt x="-376" y="10168"/>
                    <a:pt x="410" y="8869"/>
                  </a:cubicBezTo>
                  <a:cubicBezTo>
                    <a:pt x="5437" y="935"/>
                    <a:pt x="14671" y="-2280"/>
                    <a:pt x="21032" y="1721"/>
                  </a:cubicBezTo>
                  <a:cubicBezTo>
                    <a:pt x="22297" y="2508"/>
                    <a:pt x="22673" y="4184"/>
                    <a:pt x="21887" y="5449"/>
                  </a:cubicBezTo>
                  <a:cubicBezTo>
                    <a:pt x="21100" y="6714"/>
                    <a:pt x="19424" y="7090"/>
                    <a:pt x="18125" y="6304"/>
                  </a:cubicBezTo>
                  <a:cubicBezTo>
                    <a:pt x="14363" y="3944"/>
                    <a:pt x="8344" y="6441"/>
                    <a:pt x="4993" y="11741"/>
                  </a:cubicBezTo>
                  <a:cubicBezTo>
                    <a:pt x="4480" y="12562"/>
                    <a:pt x="3591" y="13007"/>
                    <a:pt x="2702" y="13007"/>
                  </a:cubicBezTo>
                  <a:close/>
                </a:path>
              </a:pathLst>
            </a:custGeom>
            <a:solidFill>
              <a:srgbClr val="541E0B"/>
            </a:solidFill>
            <a:ln w="3394" cap="flat">
              <a:noFill/>
              <a:prstDash val="solid"/>
              <a:miter/>
            </a:ln>
          </p:spPr>
          <p:txBody>
            <a:bodyPr rtlCol="0" anchor="ctr"/>
            <a:lstStyle/>
            <a:p>
              <a:endParaRPr lang="en-US"/>
            </a:p>
          </p:txBody>
        </p:sp>
        <p:sp>
          <p:nvSpPr>
            <p:cNvPr id="298" name="Freeform: Shape 297">
              <a:extLst>
                <a:ext uri="{FF2B5EF4-FFF2-40B4-BE49-F238E27FC236}">
                  <a16:creationId xmlns:a16="http://schemas.microsoft.com/office/drawing/2014/main" id="{5BFC0E33-496A-4464-878B-0F827DAD05AA}"/>
                </a:ext>
              </a:extLst>
            </p:cNvPr>
            <p:cNvSpPr/>
            <p:nvPr/>
          </p:nvSpPr>
          <p:spPr>
            <a:xfrm>
              <a:off x="1306509" y="5118027"/>
              <a:ext cx="19611" cy="15184"/>
            </a:xfrm>
            <a:custGeom>
              <a:avLst/>
              <a:gdLst>
                <a:gd name="connsiteX0" fmla="*/ 15961 w 19611"/>
                <a:gd name="connsiteY0" fmla="*/ 15184 h 15184"/>
                <a:gd name="connsiteX1" fmla="*/ 1974 w 19611"/>
                <a:gd name="connsiteY1" fmla="*/ 5917 h 15184"/>
                <a:gd name="connsiteX2" fmla="*/ 1187 w 19611"/>
                <a:gd name="connsiteY2" fmla="*/ 4959 h 15184"/>
                <a:gd name="connsiteX3" fmla="*/ 93 w 19611"/>
                <a:gd name="connsiteY3" fmla="*/ 1984 h 15184"/>
                <a:gd name="connsiteX4" fmla="*/ 3444 w 19611"/>
                <a:gd name="connsiteY4" fmla="*/ 103 h 15184"/>
                <a:gd name="connsiteX5" fmla="*/ 6180 w 19611"/>
                <a:gd name="connsiteY5" fmla="*/ 2463 h 15184"/>
                <a:gd name="connsiteX6" fmla="*/ 16542 w 19611"/>
                <a:gd name="connsiteY6" fmla="*/ 9713 h 15184"/>
                <a:gd name="connsiteX7" fmla="*/ 19586 w 19611"/>
                <a:gd name="connsiteY7" fmla="*/ 12072 h 15184"/>
                <a:gd name="connsiteX8" fmla="*/ 17226 w 19611"/>
                <a:gd name="connsiteY8" fmla="*/ 15116 h 15184"/>
                <a:gd name="connsiteX9" fmla="*/ 15961 w 19611"/>
                <a:gd name="connsiteY9" fmla="*/ 15184 h 15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11" h="15184">
                  <a:moveTo>
                    <a:pt x="15961" y="15184"/>
                  </a:moveTo>
                  <a:cubicBezTo>
                    <a:pt x="9600" y="15184"/>
                    <a:pt x="4505" y="8994"/>
                    <a:pt x="1974" y="5917"/>
                  </a:cubicBezTo>
                  <a:cubicBezTo>
                    <a:pt x="1632" y="5506"/>
                    <a:pt x="1393" y="5198"/>
                    <a:pt x="1187" y="4959"/>
                  </a:cubicBezTo>
                  <a:cubicBezTo>
                    <a:pt x="264" y="4309"/>
                    <a:pt x="-215" y="3147"/>
                    <a:pt x="93" y="1984"/>
                  </a:cubicBezTo>
                  <a:cubicBezTo>
                    <a:pt x="503" y="548"/>
                    <a:pt x="1974" y="-307"/>
                    <a:pt x="3444" y="103"/>
                  </a:cubicBezTo>
                  <a:cubicBezTo>
                    <a:pt x="4470" y="377"/>
                    <a:pt x="4983" y="1026"/>
                    <a:pt x="6180" y="2463"/>
                  </a:cubicBezTo>
                  <a:cubicBezTo>
                    <a:pt x="8095" y="4788"/>
                    <a:pt x="12507" y="10191"/>
                    <a:pt x="16542" y="9713"/>
                  </a:cubicBezTo>
                  <a:cubicBezTo>
                    <a:pt x="18047" y="9507"/>
                    <a:pt x="19381" y="10567"/>
                    <a:pt x="19586" y="12072"/>
                  </a:cubicBezTo>
                  <a:cubicBezTo>
                    <a:pt x="19791" y="13577"/>
                    <a:pt x="18731" y="14911"/>
                    <a:pt x="17226" y="15116"/>
                  </a:cubicBezTo>
                  <a:cubicBezTo>
                    <a:pt x="16816" y="15184"/>
                    <a:pt x="16371" y="15184"/>
                    <a:pt x="15961" y="15184"/>
                  </a:cubicBezTo>
                  <a:close/>
                </a:path>
              </a:pathLst>
            </a:custGeom>
            <a:solidFill>
              <a:srgbClr val="F47C73"/>
            </a:solidFill>
            <a:ln w="3394" cap="flat">
              <a:noFill/>
              <a:prstDash val="solid"/>
              <a:miter/>
            </a:ln>
          </p:spPr>
          <p:txBody>
            <a:bodyPr rtlCol="0" anchor="ctr"/>
            <a:lstStyle/>
            <a:p>
              <a:endParaRPr lang="en-US"/>
            </a:p>
          </p:txBody>
        </p:sp>
        <p:sp>
          <p:nvSpPr>
            <p:cNvPr id="299" name="Freeform: Shape 298">
              <a:extLst>
                <a:ext uri="{FF2B5EF4-FFF2-40B4-BE49-F238E27FC236}">
                  <a16:creationId xmlns:a16="http://schemas.microsoft.com/office/drawing/2014/main" id="{6DF06A06-1135-4D23-8CA2-018774FC2622}"/>
                </a:ext>
              </a:extLst>
            </p:cNvPr>
            <p:cNvSpPr/>
            <p:nvPr/>
          </p:nvSpPr>
          <p:spPr>
            <a:xfrm>
              <a:off x="1358280" y="5093821"/>
              <a:ext cx="32237" cy="32237"/>
            </a:xfrm>
            <a:custGeom>
              <a:avLst/>
              <a:gdLst>
                <a:gd name="connsiteX0" fmla="*/ 32072 w 32237"/>
                <a:gd name="connsiteY0" fmla="*/ 18393 h 32237"/>
                <a:gd name="connsiteX1" fmla="*/ 13845 w 32237"/>
                <a:gd name="connsiteY1" fmla="*/ 32072 h 32237"/>
                <a:gd name="connsiteX2" fmla="*/ 166 w 32237"/>
                <a:gd name="connsiteY2" fmla="*/ 13845 h 32237"/>
                <a:gd name="connsiteX3" fmla="*/ 18393 w 32237"/>
                <a:gd name="connsiteY3" fmla="*/ 166 h 32237"/>
                <a:gd name="connsiteX4" fmla="*/ 32072 w 32237"/>
                <a:gd name="connsiteY4" fmla="*/ 18393 h 32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237" h="32237">
                  <a:moveTo>
                    <a:pt x="32072" y="18393"/>
                  </a:moveTo>
                  <a:cubicBezTo>
                    <a:pt x="30807" y="27216"/>
                    <a:pt x="22668" y="33337"/>
                    <a:pt x="13845" y="32072"/>
                  </a:cubicBezTo>
                  <a:cubicBezTo>
                    <a:pt x="5022" y="30807"/>
                    <a:pt x="-1100" y="22668"/>
                    <a:pt x="166" y="13845"/>
                  </a:cubicBezTo>
                  <a:cubicBezTo>
                    <a:pt x="1431" y="5022"/>
                    <a:pt x="9570" y="-1100"/>
                    <a:pt x="18393" y="166"/>
                  </a:cubicBezTo>
                  <a:cubicBezTo>
                    <a:pt x="27216" y="1431"/>
                    <a:pt x="33337" y="9570"/>
                    <a:pt x="32072" y="18393"/>
                  </a:cubicBezTo>
                  <a:close/>
                </a:path>
              </a:pathLst>
            </a:custGeom>
            <a:solidFill>
              <a:srgbClr val="F47C73"/>
            </a:solidFill>
            <a:ln w="3394" cap="flat">
              <a:noFill/>
              <a:prstDash val="solid"/>
              <a:miter/>
            </a:ln>
          </p:spPr>
          <p:txBody>
            <a:bodyPr rtlCol="0" anchor="ctr"/>
            <a:lstStyle/>
            <a:p>
              <a:endParaRPr lang="en-US"/>
            </a:p>
          </p:txBody>
        </p:sp>
        <p:sp>
          <p:nvSpPr>
            <p:cNvPr id="300" name="Freeform: Shape 299">
              <a:extLst>
                <a:ext uri="{FF2B5EF4-FFF2-40B4-BE49-F238E27FC236}">
                  <a16:creationId xmlns:a16="http://schemas.microsoft.com/office/drawing/2014/main" id="{DAC5328C-CA1D-48A9-A6C2-21E214B7EA40}"/>
                </a:ext>
              </a:extLst>
            </p:cNvPr>
            <p:cNvSpPr/>
            <p:nvPr/>
          </p:nvSpPr>
          <p:spPr>
            <a:xfrm>
              <a:off x="1232590" y="5073433"/>
              <a:ext cx="39994" cy="44847"/>
            </a:xfrm>
            <a:custGeom>
              <a:avLst/>
              <a:gdLst>
                <a:gd name="connsiteX0" fmla="*/ 7258 w 39994"/>
                <a:gd name="connsiteY0" fmla="*/ 2189 h 44847"/>
                <a:gd name="connsiteX1" fmla="*/ 4591 w 39994"/>
                <a:gd name="connsiteY1" fmla="*/ 32112 h 44847"/>
                <a:gd name="connsiteX2" fmla="*/ 32736 w 39994"/>
                <a:gd name="connsiteY2" fmla="*/ 42645 h 44847"/>
                <a:gd name="connsiteX3" fmla="*/ 35403 w 39994"/>
                <a:gd name="connsiteY3" fmla="*/ 12722 h 44847"/>
                <a:gd name="connsiteX4" fmla="*/ 7258 w 39994"/>
                <a:gd name="connsiteY4" fmla="*/ 2223 h 448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94" h="44847">
                  <a:moveTo>
                    <a:pt x="7258" y="2189"/>
                  </a:moveTo>
                  <a:cubicBezTo>
                    <a:pt x="-1257" y="7558"/>
                    <a:pt x="-2454" y="20964"/>
                    <a:pt x="4591" y="32112"/>
                  </a:cubicBezTo>
                  <a:cubicBezTo>
                    <a:pt x="11636" y="43295"/>
                    <a:pt x="24221" y="47980"/>
                    <a:pt x="32736" y="42645"/>
                  </a:cubicBezTo>
                  <a:cubicBezTo>
                    <a:pt x="41251" y="37276"/>
                    <a:pt x="42448" y="23871"/>
                    <a:pt x="35403" y="12722"/>
                  </a:cubicBezTo>
                  <a:cubicBezTo>
                    <a:pt x="28359" y="1539"/>
                    <a:pt x="15774" y="-3146"/>
                    <a:pt x="7258" y="2223"/>
                  </a:cubicBezTo>
                  <a:close/>
                </a:path>
              </a:pathLst>
            </a:custGeom>
            <a:solidFill>
              <a:srgbClr val="FFBEBB"/>
            </a:solidFill>
            <a:ln w="3394" cap="flat">
              <a:noFill/>
              <a:prstDash val="solid"/>
              <a:miter/>
            </a:ln>
          </p:spPr>
          <p:txBody>
            <a:bodyPr rtlCol="0" anchor="ctr"/>
            <a:lstStyle/>
            <a:p>
              <a:endParaRPr lang="en-US"/>
            </a:p>
          </p:txBody>
        </p:sp>
        <p:sp>
          <p:nvSpPr>
            <p:cNvPr id="301" name="Freeform: Shape 300">
              <a:extLst>
                <a:ext uri="{FF2B5EF4-FFF2-40B4-BE49-F238E27FC236}">
                  <a16:creationId xmlns:a16="http://schemas.microsoft.com/office/drawing/2014/main" id="{706C98C4-0543-430B-8A7F-08282EC2B409}"/>
                </a:ext>
              </a:extLst>
            </p:cNvPr>
            <p:cNvSpPr/>
            <p:nvPr/>
          </p:nvSpPr>
          <p:spPr>
            <a:xfrm>
              <a:off x="1242242" y="5079749"/>
              <a:ext cx="22296" cy="13040"/>
            </a:xfrm>
            <a:custGeom>
              <a:avLst/>
              <a:gdLst>
                <a:gd name="connsiteX0" fmla="*/ 19595 w 22296"/>
                <a:gd name="connsiteY0" fmla="*/ 13007 h 13040"/>
                <a:gd name="connsiteX1" fmla="*/ 17304 w 22296"/>
                <a:gd name="connsiteY1" fmla="*/ 11741 h 13040"/>
                <a:gd name="connsiteX2" fmla="*/ 4172 w 22296"/>
                <a:gd name="connsiteY2" fmla="*/ 6304 h 13040"/>
                <a:gd name="connsiteX3" fmla="*/ 410 w 22296"/>
                <a:gd name="connsiteY3" fmla="*/ 5449 h 13040"/>
                <a:gd name="connsiteX4" fmla="*/ 1265 w 22296"/>
                <a:gd name="connsiteY4" fmla="*/ 1721 h 13040"/>
                <a:gd name="connsiteX5" fmla="*/ 21887 w 22296"/>
                <a:gd name="connsiteY5" fmla="*/ 8869 h 13040"/>
                <a:gd name="connsiteX6" fmla="*/ 21032 w 22296"/>
                <a:gd name="connsiteY6" fmla="*/ 12631 h 13040"/>
                <a:gd name="connsiteX7" fmla="*/ 19595 w 22296"/>
                <a:gd name="connsiteY7" fmla="*/ 13041 h 13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296" h="13040">
                  <a:moveTo>
                    <a:pt x="19595" y="13007"/>
                  </a:moveTo>
                  <a:cubicBezTo>
                    <a:pt x="18706" y="13007"/>
                    <a:pt x="17817" y="12562"/>
                    <a:pt x="17304" y="11741"/>
                  </a:cubicBezTo>
                  <a:cubicBezTo>
                    <a:pt x="13953" y="6407"/>
                    <a:pt x="7934" y="3944"/>
                    <a:pt x="4172" y="6304"/>
                  </a:cubicBezTo>
                  <a:cubicBezTo>
                    <a:pt x="2907" y="7090"/>
                    <a:pt x="1231" y="6714"/>
                    <a:pt x="410" y="5449"/>
                  </a:cubicBezTo>
                  <a:cubicBezTo>
                    <a:pt x="-376" y="4184"/>
                    <a:pt x="0" y="2508"/>
                    <a:pt x="1265" y="1721"/>
                  </a:cubicBezTo>
                  <a:cubicBezTo>
                    <a:pt x="7626" y="-2280"/>
                    <a:pt x="16859" y="935"/>
                    <a:pt x="21887" y="8869"/>
                  </a:cubicBezTo>
                  <a:cubicBezTo>
                    <a:pt x="22673" y="10134"/>
                    <a:pt x="22297" y="11810"/>
                    <a:pt x="21032" y="12631"/>
                  </a:cubicBezTo>
                  <a:cubicBezTo>
                    <a:pt x="20587" y="12904"/>
                    <a:pt x="20074" y="13041"/>
                    <a:pt x="19595" y="13041"/>
                  </a:cubicBezTo>
                  <a:close/>
                </a:path>
              </a:pathLst>
            </a:custGeom>
            <a:solidFill>
              <a:srgbClr val="541E0B"/>
            </a:solidFill>
            <a:ln w="3394" cap="flat">
              <a:noFill/>
              <a:prstDash val="solid"/>
              <a:miter/>
            </a:ln>
          </p:spPr>
          <p:txBody>
            <a:bodyPr rtlCol="0" anchor="ctr"/>
            <a:lstStyle/>
            <a:p>
              <a:endParaRPr lang="en-US"/>
            </a:p>
          </p:txBody>
        </p:sp>
        <p:sp>
          <p:nvSpPr>
            <p:cNvPr id="302" name="Freeform: Shape 301">
              <a:extLst>
                <a:ext uri="{FF2B5EF4-FFF2-40B4-BE49-F238E27FC236}">
                  <a16:creationId xmlns:a16="http://schemas.microsoft.com/office/drawing/2014/main" id="{46CBDD0E-7DFA-4531-BFC3-3CE47EC04D84}"/>
                </a:ext>
              </a:extLst>
            </p:cNvPr>
            <p:cNvSpPr/>
            <p:nvPr/>
          </p:nvSpPr>
          <p:spPr>
            <a:xfrm>
              <a:off x="1268032" y="5093821"/>
              <a:ext cx="32237" cy="32237"/>
            </a:xfrm>
            <a:custGeom>
              <a:avLst/>
              <a:gdLst>
                <a:gd name="connsiteX0" fmla="*/ 32072 w 32237"/>
                <a:gd name="connsiteY0" fmla="*/ 18393 h 32237"/>
                <a:gd name="connsiteX1" fmla="*/ 13845 w 32237"/>
                <a:gd name="connsiteY1" fmla="*/ 32072 h 32237"/>
                <a:gd name="connsiteX2" fmla="*/ 166 w 32237"/>
                <a:gd name="connsiteY2" fmla="*/ 13845 h 32237"/>
                <a:gd name="connsiteX3" fmla="*/ 18393 w 32237"/>
                <a:gd name="connsiteY3" fmla="*/ 166 h 32237"/>
                <a:gd name="connsiteX4" fmla="*/ 32072 w 32237"/>
                <a:gd name="connsiteY4" fmla="*/ 18393 h 32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237" h="32237">
                  <a:moveTo>
                    <a:pt x="32072" y="18393"/>
                  </a:moveTo>
                  <a:cubicBezTo>
                    <a:pt x="30807" y="27216"/>
                    <a:pt x="22668" y="33337"/>
                    <a:pt x="13845" y="32072"/>
                  </a:cubicBezTo>
                  <a:cubicBezTo>
                    <a:pt x="5022" y="30807"/>
                    <a:pt x="-1100" y="22668"/>
                    <a:pt x="166" y="13845"/>
                  </a:cubicBezTo>
                  <a:cubicBezTo>
                    <a:pt x="1431" y="5022"/>
                    <a:pt x="9570" y="-1100"/>
                    <a:pt x="18393" y="166"/>
                  </a:cubicBezTo>
                  <a:cubicBezTo>
                    <a:pt x="27216" y="1431"/>
                    <a:pt x="33337" y="9570"/>
                    <a:pt x="32072" y="18393"/>
                  </a:cubicBezTo>
                  <a:close/>
                </a:path>
              </a:pathLst>
            </a:custGeom>
            <a:solidFill>
              <a:srgbClr val="F47C73"/>
            </a:solidFill>
            <a:ln w="3394" cap="flat">
              <a:noFill/>
              <a:prstDash val="solid"/>
              <a:miter/>
            </a:ln>
          </p:spPr>
          <p:txBody>
            <a:bodyPr rtlCol="0" anchor="ctr"/>
            <a:lstStyle/>
            <a:p>
              <a:endParaRPr lang="en-US"/>
            </a:p>
          </p:txBody>
        </p:sp>
        <p:sp>
          <p:nvSpPr>
            <p:cNvPr id="303" name="Freeform: Shape 302">
              <a:extLst>
                <a:ext uri="{FF2B5EF4-FFF2-40B4-BE49-F238E27FC236}">
                  <a16:creationId xmlns:a16="http://schemas.microsoft.com/office/drawing/2014/main" id="{BB2753B6-E2EE-49B3-9ACA-9D6CD9A9509E}"/>
                </a:ext>
              </a:extLst>
            </p:cNvPr>
            <p:cNvSpPr/>
            <p:nvPr/>
          </p:nvSpPr>
          <p:spPr>
            <a:xfrm>
              <a:off x="1382863" y="5019846"/>
              <a:ext cx="22296" cy="79886"/>
            </a:xfrm>
            <a:custGeom>
              <a:avLst/>
              <a:gdLst>
                <a:gd name="connsiteX0" fmla="*/ 11148 w 22296"/>
                <a:gd name="connsiteY0" fmla="*/ 79886 h 79886"/>
                <a:gd name="connsiteX1" fmla="*/ 0 w 22296"/>
                <a:gd name="connsiteY1" fmla="*/ 68738 h 79886"/>
                <a:gd name="connsiteX2" fmla="*/ 0 w 22296"/>
                <a:gd name="connsiteY2" fmla="*/ 11148 h 79886"/>
                <a:gd name="connsiteX3" fmla="*/ 11148 w 22296"/>
                <a:gd name="connsiteY3" fmla="*/ 0 h 79886"/>
                <a:gd name="connsiteX4" fmla="*/ 22297 w 22296"/>
                <a:gd name="connsiteY4" fmla="*/ 11148 h 79886"/>
                <a:gd name="connsiteX5" fmla="*/ 22297 w 22296"/>
                <a:gd name="connsiteY5" fmla="*/ 68738 h 79886"/>
                <a:gd name="connsiteX6" fmla="*/ 11148 w 22296"/>
                <a:gd name="connsiteY6" fmla="*/ 79886 h 79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96" h="79886">
                  <a:moveTo>
                    <a:pt x="11148" y="79886"/>
                  </a:moveTo>
                  <a:cubicBezTo>
                    <a:pt x="5027" y="79886"/>
                    <a:pt x="0" y="74859"/>
                    <a:pt x="0" y="68738"/>
                  </a:cubicBezTo>
                  <a:lnTo>
                    <a:pt x="0" y="11148"/>
                  </a:lnTo>
                  <a:cubicBezTo>
                    <a:pt x="0" y="5027"/>
                    <a:pt x="5027" y="0"/>
                    <a:pt x="11148" y="0"/>
                  </a:cubicBezTo>
                  <a:cubicBezTo>
                    <a:pt x="17270" y="0"/>
                    <a:pt x="22297" y="5027"/>
                    <a:pt x="22297" y="11148"/>
                  </a:cubicBezTo>
                  <a:lnTo>
                    <a:pt x="22297" y="68738"/>
                  </a:lnTo>
                  <a:cubicBezTo>
                    <a:pt x="22297" y="74859"/>
                    <a:pt x="17270" y="79886"/>
                    <a:pt x="11148" y="79886"/>
                  </a:cubicBezTo>
                  <a:close/>
                </a:path>
              </a:pathLst>
            </a:custGeom>
            <a:solidFill>
              <a:srgbClr val="1D2333"/>
            </a:solidFill>
            <a:ln w="3394" cap="flat">
              <a:noFill/>
              <a:prstDash val="solid"/>
              <a:miter/>
            </a:ln>
          </p:spPr>
          <p:txBody>
            <a:bodyPr rtlCol="0" anchor="ctr"/>
            <a:lstStyle/>
            <a:p>
              <a:endParaRPr lang="en-US"/>
            </a:p>
          </p:txBody>
        </p:sp>
        <p:sp>
          <p:nvSpPr>
            <p:cNvPr id="304" name="Freeform: Shape 303">
              <a:extLst>
                <a:ext uri="{FF2B5EF4-FFF2-40B4-BE49-F238E27FC236}">
                  <a16:creationId xmlns:a16="http://schemas.microsoft.com/office/drawing/2014/main" id="{8FFB1726-2203-4DB6-9832-BA5FBCD4A817}"/>
                </a:ext>
              </a:extLst>
            </p:cNvPr>
            <p:cNvSpPr/>
            <p:nvPr/>
          </p:nvSpPr>
          <p:spPr>
            <a:xfrm>
              <a:off x="1250689" y="5019846"/>
              <a:ext cx="22296" cy="79886"/>
            </a:xfrm>
            <a:custGeom>
              <a:avLst/>
              <a:gdLst>
                <a:gd name="connsiteX0" fmla="*/ 11148 w 22296"/>
                <a:gd name="connsiteY0" fmla="*/ 79886 h 79886"/>
                <a:gd name="connsiteX1" fmla="*/ 0 w 22296"/>
                <a:gd name="connsiteY1" fmla="*/ 68738 h 79886"/>
                <a:gd name="connsiteX2" fmla="*/ 0 w 22296"/>
                <a:gd name="connsiteY2" fmla="*/ 11148 h 79886"/>
                <a:gd name="connsiteX3" fmla="*/ 11148 w 22296"/>
                <a:gd name="connsiteY3" fmla="*/ 0 h 79886"/>
                <a:gd name="connsiteX4" fmla="*/ 22297 w 22296"/>
                <a:gd name="connsiteY4" fmla="*/ 11148 h 79886"/>
                <a:gd name="connsiteX5" fmla="*/ 22297 w 22296"/>
                <a:gd name="connsiteY5" fmla="*/ 68738 h 79886"/>
                <a:gd name="connsiteX6" fmla="*/ 11148 w 22296"/>
                <a:gd name="connsiteY6" fmla="*/ 79886 h 79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96" h="79886">
                  <a:moveTo>
                    <a:pt x="11148" y="79886"/>
                  </a:moveTo>
                  <a:cubicBezTo>
                    <a:pt x="5027" y="79886"/>
                    <a:pt x="0" y="74859"/>
                    <a:pt x="0" y="68738"/>
                  </a:cubicBezTo>
                  <a:lnTo>
                    <a:pt x="0" y="11148"/>
                  </a:lnTo>
                  <a:cubicBezTo>
                    <a:pt x="0" y="5027"/>
                    <a:pt x="5027" y="0"/>
                    <a:pt x="11148" y="0"/>
                  </a:cubicBezTo>
                  <a:cubicBezTo>
                    <a:pt x="17270" y="0"/>
                    <a:pt x="22297" y="5027"/>
                    <a:pt x="22297" y="11148"/>
                  </a:cubicBezTo>
                  <a:lnTo>
                    <a:pt x="22297" y="68738"/>
                  </a:lnTo>
                  <a:cubicBezTo>
                    <a:pt x="22297" y="74859"/>
                    <a:pt x="17270" y="79886"/>
                    <a:pt x="11148" y="79886"/>
                  </a:cubicBezTo>
                  <a:close/>
                </a:path>
              </a:pathLst>
            </a:custGeom>
            <a:solidFill>
              <a:srgbClr val="1D2333"/>
            </a:solidFill>
            <a:ln w="3394" cap="flat">
              <a:noFill/>
              <a:prstDash val="solid"/>
              <a:miter/>
            </a:ln>
          </p:spPr>
          <p:txBody>
            <a:bodyPr rtlCol="0" anchor="ctr"/>
            <a:lstStyle/>
            <a:p>
              <a:endParaRPr lang="en-US"/>
            </a:p>
          </p:txBody>
        </p:sp>
        <p:sp>
          <p:nvSpPr>
            <p:cNvPr id="305" name="Freeform: Shape 304">
              <a:extLst>
                <a:ext uri="{FF2B5EF4-FFF2-40B4-BE49-F238E27FC236}">
                  <a16:creationId xmlns:a16="http://schemas.microsoft.com/office/drawing/2014/main" id="{05A5FC52-4278-490C-9ACC-966468E0A686}"/>
                </a:ext>
              </a:extLst>
            </p:cNvPr>
            <p:cNvSpPr/>
            <p:nvPr/>
          </p:nvSpPr>
          <p:spPr>
            <a:xfrm>
              <a:off x="1262829" y="5007705"/>
              <a:ext cx="45825" cy="45825"/>
            </a:xfrm>
            <a:custGeom>
              <a:avLst/>
              <a:gdLst>
                <a:gd name="connsiteX0" fmla="*/ 45825 w 45825"/>
                <a:gd name="connsiteY0" fmla="*/ 22913 h 45825"/>
                <a:gd name="connsiteX1" fmla="*/ 22913 w 45825"/>
                <a:gd name="connsiteY1" fmla="*/ 45825 h 45825"/>
                <a:gd name="connsiteX2" fmla="*/ 0 w 45825"/>
                <a:gd name="connsiteY2" fmla="*/ 22913 h 45825"/>
                <a:gd name="connsiteX3" fmla="*/ 22913 w 45825"/>
                <a:gd name="connsiteY3" fmla="*/ 0 h 45825"/>
                <a:gd name="connsiteX4" fmla="*/ 45825 w 45825"/>
                <a:gd name="connsiteY4" fmla="*/ 22913 h 45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825" h="45825">
                  <a:moveTo>
                    <a:pt x="45825" y="22913"/>
                  </a:moveTo>
                  <a:cubicBezTo>
                    <a:pt x="45825" y="35566"/>
                    <a:pt x="35566" y="45825"/>
                    <a:pt x="22913" y="45825"/>
                  </a:cubicBezTo>
                  <a:cubicBezTo>
                    <a:pt x="10259" y="45825"/>
                    <a:pt x="0" y="35566"/>
                    <a:pt x="0" y="22913"/>
                  </a:cubicBezTo>
                  <a:cubicBezTo>
                    <a:pt x="0" y="10259"/>
                    <a:pt x="10259" y="0"/>
                    <a:pt x="22913" y="0"/>
                  </a:cubicBezTo>
                  <a:cubicBezTo>
                    <a:pt x="35566" y="0"/>
                    <a:pt x="45825" y="10259"/>
                    <a:pt x="45825" y="22913"/>
                  </a:cubicBezTo>
                  <a:close/>
                </a:path>
              </a:pathLst>
            </a:custGeom>
            <a:solidFill>
              <a:srgbClr val="1D2333"/>
            </a:solidFill>
            <a:ln w="3394" cap="flat">
              <a:noFill/>
              <a:prstDash val="solid"/>
              <a:miter/>
            </a:ln>
          </p:spPr>
          <p:txBody>
            <a:bodyPr rtlCol="0" anchor="ctr"/>
            <a:lstStyle/>
            <a:p>
              <a:endParaRPr lang="en-US"/>
            </a:p>
          </p:txBody>
        </p:sp>
        <p:sp>
          <p:nvSpPr>
            <p:cNvPr id="306" name="Freeform: Shape 305">
              <a:extLst>
                <a:ext uri="{FF2B5EF4-FFF2-40B4-BE49-F238E27FC236}">
                  <a16:creationId xmlns:a16="http://schemas.microsoft.com/office/drawing/2014/main" id="{2222C0D3-B48D-4E9B-BFEA-296D92A33AFF}"/>
                </a:ext>
              </a:extLst>
            </p:cNvPr>
            <p:cNvSpPr/>
            <p:nvPr/>
          </p:nvSpPr>
          <p:spPr>
            <a:xfrm>
              <a:off x="1294394" y="4992111"/>
              <a:ext cx="52322" cy="52322"/>
            </a:xfrm>
            <a:custGeom>
              <a:avLst/>
              <a:gdLst>
                <a:gd name="connsiteX0" fmla="*/ 52323 w 52322"/>
                <a:gd name="connsiteY0" fmla="*/ 26161 h 52322"/>
                <a:gd name="connsiteX1" fmla="*/ 26161 w 52322"/>
                <a:gd name="connsiteY1" fmla="*/ 52323 h 52322"/>
                <a:gd name="connsiteX2" fmla="*/ 0 w 52322"/>
                <a:gd name="connsiteY2" fmla="*/ 26161 h 52322"/>
                <a:gd name="connsiteX3" fmla="*/ 26161 w 52322"/>
                <a:gd name="connsiteY3" fmla="*/ 0 h 52322"/>
                <a:gd name="connsiteX4" fmla="*/ 52323 w 52322"/>
                <a:gd name="connsiteY4" fmla="*/ 26161 h 523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22" h="52322">
                  <a:moveTo>
                    <a:pt x="52323" y="26161"/>
                  </a:moveTo>
                  <a:cubicBezTo>
                    <a:pt x="52323" y="40593"/>
                    <a:pt x="40627" y="52323"/>
                    <a:pt x="26161" y="52323"/>
                  </a:cubicBezTo>
                  <a:cubicBezTo>
                    <a:pt x="11696" y="52323"/>
                    <a:pt x="0" y="40627"/>
                    <a:pt x="0" y="26161"/>
                  </a:cubicBezTo>
                  <a:cubicBezTo>
                    <a:pt x="0" y="11696"/>
                    <a:pt x="11696" y="0"/>
                    <a:pt x="26161" y="0"/>
                  </a:cubicBezTo>
                  <a:cubicBezTo>
                    <a:pt x="40627" y="0"/>
                    <a:pt x="52323" y="11696"/>
                    <a:pt x="52323" y="26161"/>
                  </a:cubicBezTo>
                  <a:close/>
                </a:path>
              </a:pathLst>
            </a:custGeom>
            <a:solidFill>
              <a:srgbClr val="1D2333"/>
            </a:solidFill>
            <a:ln w="3394" cap="flat">
              <a:noFill/>
              <a:prstDash val="solid"/>
              <a:miter/>
            </a:ln>
          </p:spPr>
          <p:txBody>
            <a:bodyPr rtlCol="0" anchor="ctr"/>
            <a:lstStyle/>
            <a:p>
              <a:endParaRPr lang="en-US"/>
            </a:p>
          </p:txBody>
        </p:sp>
        <p:sp>
          <p:nvSpPr>
            <p:cNvPr id="307" name="Freeform: Shape 306">
              <a:extLst>
                <a:ext uri="{FF2B5EF4-FFF2-40B4-BE49-F238E27FC236}">
                  <a16:creationId xmlns:a16="http://schemas.microsoft.com/office/drawing/2014/main" id="{3BEE4A9C-20D1-4255-9EFC-0C0385400B78}"/>
                </a:ext>
              </a:extLst>
            </p:cNvPr>
            <p:cNvSpPr/>
            <p:nvPr/>
          </p:nvSpPr>
          <p:spPr>
            <a:xfrm>
              <a:off x="1337585" y="4993650"/>
              <a:ext cx="52322" cy="52322"/>
            </a:xfrm>
            <a:custGeom>
              <a:avLst/>
              <a:gdLst>
                <a:gd name="connsiteX0" fmla="*/ 52323 w 52322"/>
                <a:gd name="connsiteY0" fmla="*/ 26161 h 52322"/>
                <a:gd name="connsiteX1" fmla="*/ 26161 w 52322"/>
                <a:gd name="connsiteY1" fmla="*/ 52323 h 52322"/>
                <a:gd name="connsiteX2" fmla="*/ 0 w 52322"/>
                <a:gd name="connsiteY2" fmla="*/ 26161 h 52322"/>
                <a:gd name="connsiteX3" fmla="*/ 26161 w 52322"/>
                <a:gd name="connsiteY3" fmla="*/ 0 h 52322"/>
                <a:gd name="connsiteX4" fmla="*/ 52323 w 52322"/>
                <a:gd name="connsiteY4" fmla="*/ 26161 h 523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22" h="52322">
                  <a:moveTo>
                    <a:pt x="52323" y="26161"/>
                  </a:moveTo>
                  <a:cubicBezTo>
                    <a:pt x="52323" y="40593"/>
                    <a:pt x="40627" y="52323"/>
                    <a:pt x="26161" y="52323"/>
                  </a:cubicBezTo>
                  <a:cubicBezTo>
                    <a:pt x="11696" y="52323"/>
                    <a:pt x="0" y="40627"/>
                    <a:pt x="0" y="26161"/>
                  </a:cubicBezTo>
                  <a:cubicBezTo>
                    <a:pt x="0" y="11696"/>
                    <a:pt x="11696" y="0"/>
                    <a:pt x="26161" y="0"/>
                  </a:cubicBezTo>
                  <a:cubicBezTo>
                    <a:pt x="40627" y="0"/>
                    <a:pt x="52323" y="11696"/>
                    <a:pt x="52323" y="26161"/>
                  </a:cubicBezTo>
                  <a:close/>
                </a:path>
              </a:pathLst>
            </a:custGeom>
            <a:solidFill>
              <a:srgbClr val="1D2333"/>
            </a:solidFill>
            <a:ln w="3394" cap="flat">
              <a:noFill/>
              <a:prstDash val="solid"/>
              <a:miter/>
            </a:ln>
          </p:spPr>
          <p:txBody>
            <a:bodyPr rtlCol="0" anchor="ctr"/>
            <a:lstStyle/>
            <a:p>
              <a:endParaRPr lang="en-US"/>
            </a:p>
          </p:txBody>
        </p:sp>
        <p:sp>
          <p:nvSpPr>
            <p:cNvPr id="308" name="Freeform: Shape 307">
              <a:extLst>
                <a:ext uri="{FF2B5EF4-FFF2-40B4-BE49-F238E27FC236}">
                  <a16:creationId xmlns:a16="http://schemas.microsoft.com/office/drawing/2014/main" id="{F5B6948B-7901-4CF1-B418-5162C72CA523}"/>
                </a:ext>
              </a:extLst>
            </p:cNvPr>
            <p:cNvSpPr/>
            <p:nvPr/>
          </p:nvSpPr>
          <p:spPr>
            <a:xfrm>
              <a:off x="1062020" y="5245277"/>
              <a:ext cx="536597" cy="320843"/>
            </a:xfrm>
            <a:custGeom>
              <a:avLst/>
              <a:gdLst>
                <a:gd name="connsiteX0" fmla="*/ 498809 w 536597"/>
                <a:gd name="connsiteY0" fmla="*/ 0 h 320843"/>
                <a:gd name="connsiteX1" fmla="*/ 536597 w 536597"/>
                <a:gd name="connsiteY1" fmla="*/ 37789 h 320843"/>
                <a:gd name="connsiteX2" fmla="*/ 536597 w 536597"/>
                <a:gd name="connsiteY2" fmla="*/ 283055 h 320843"/>
                <a:gd name="connsiteX3" fmla="*/ 498809 w 536597"/>
                <a:gd name="connsiteY3" fmla="*/ 320844 h 320843"/>
                <a:gd name="connsiteX4" fmla="*/ 37789 w 536597"/>
                <a:gd name="connsiteY4" fmla="*/ 320844 h 320843"/>
                <a:gd name="connsiteX5" fmla="*/ 0 w 536597"/>
                <a:gd name="connsiteY5" fmla="*/ 283055 h 320843"/>
                <a:gd name="connsiteX6" fmla="*/ 0 w 536597"/>
                <a:gd name="connsiteY6" fmla="*/ 37789 h 320843"/>
                <a:gd name="connsiteX7" fmla="*/ 37789 w 536597"/>
                <a:gd name="connsiteY7" fmla="*/ 0 h 32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6597" h="320843">
                  <a:moveTo>
                    <a:pt x="498809" y="0"/>
                  </a:moveTo>
                  <a:cubicBezTo>
                    <a:pt x="519679" y="0"/>
                    <a:pt x="536597" y="16918"/>
                    <a:pt x="536597" y="37789"/>
                  </a:cubicBezTo>
                  <a:lnTo>
                    <a:pt x="536597" y="283055"/>
                  </a:lnTo>
                  <a:cubicBezTo>
                    <a:pt x="536597" y="303925"/>
                    <a:pt x="519679" y="320844"/>
                    <a:pt x="498809" y="320844"/>
                  </a:cubicBezTo>
                  <a:lnTo>
                    <a:pt x="37789" y="320844"/>
                  </a:lnTo>
                  <a:cubicBezTo>
                    <a:pt x="16919" y="320844"/>
                    <a:pt x="0" y="303925"/>
                    <a:pt x="0" y="283055"/>
                  </a:cubicBezTo>
                  <a:lnTo>
                    <a:pt x="0" y="37789"/>
                  </a:lnTo>
                  <a:cubicBezTo>
                    <a:pt x="0" y="16918"/>
                    <a:pt x="16919" y="0"/>
                    <a:pt x="37789" y="0"/>
                  </a:cubicBezTo>
                  <a:close/>
                </a:path>
              </a:pathLst>
            </a:custGeom>
            <a:solidFill>
              <a:schemeClr val="bg1"/>
            </a:solidFill>
            <a:ln w="3394" cap="flat">
              <a:noFill/>
              <a:prstDash val="solid"/>
              <a:miter/>
            </a:ln>
          </p:spPr>
          <p:txBody>
            <a:bodyPr rtlCol="0" anchor="ctr"/>
            <a:lstStyle/>
            <a:p>
              <a:endParaRPr lang="en-US"/>
            </a:p>
          </p:txBody>
        </p:sp>
        <p:sp>
          <p:nvSpPr>
            <p:cNvPr id="309" name="Freeform: Shape 308">
              <a:extLst>
                <a:ext uri="{FF2B5EF4-FFF2-40B4-BE49-F238E27FC236}">
                  <a16:creationId xmlns:a16="http://schemas.microsoft.com/office/drawing/2014/main" id="{8DEC4AF0-3DF8-4959-896B-383A5C150762}"/>
                </a:ext>
              </a:extLst>
            </p:cNvPr>
            <p:cNvSpPr/>
            <p:nvPr/>
          </p:nvSpPr>
          <p:spPr>
            <a:xfrm>
              <a:off x="1296548" y="5370612"/>
              <a:ext cx="70173" cy="70173"/>
            </a:xfrm>
            <a:custGeom>
              <a:avLst/>
              <a:gdLst>
                <a:gd name="connsiteX0" fmla="*/ 70174 w 70173"/>
                <a:gd name="connsiteY0" fmla="*/ 35087 h 70173"/>
                <a:gd name="connsiteX1" fmla="*/ 35087 w 70173"/>
                <a:gd name="connsiteY1" fmla="*/ 70174 h 70173"/>
                <a:gd name="connsiteX2" fmla="*/ 0 w 70173"/>
                <a:gd name="connsiteY2" fmla="*/ 35087 h 70173"/>
                <a:gd name="connsiteX3" fmla="*/ 35087 w 70173"/>
                <a:gd name="connsiteY3" fmla="*/ 0 h 70173"/>
                <a:gd name="connsiteX4" fmla="*/ 70174 w 70173"/>
                <a:gd name="connsiteY4" fmla="*/ 35087 h 701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73" h="70173">
                  <a:moveTo>
                    <a:pt x="70174" y="35087"/>
                  </a:moveTo>
                  <a:cubicBezTo>
                    <a:pt x="70174" y="54465"/>
                    <a:pt x="54465" y="70174"/>
                    <a:pt x="35087" y="70174"/>
                  </a:cubicBezTo>
                  <a:cubicBezTo>
                    <a:pt x="15709" y="70174"/>
                    <a:pt x="0" y="54465"/>
                    <a:pt x="0" y="35087"/>
                  </a:cubicBezTo>
                  <a:cubicBezTo>
                    <a:pt x="0" y="15709"/>
                    <a:pt x="15709" y="0"/>
                    <a:pt x="35087" y="0"/>
                  </a:cubicBezTo>
                  <a:cubicBezTo>
                    <a:pt x="54465" y="0"/>
                    <a:pt x="70174" y="15709"/>
                    <a:pt x="70174" y="35087"/>
                  </a:cubicBezTo>
                  <a:close/>
                </a:path>
              </a:pathLst>
            </a:custGeom>
            <a:solidFill>
              <a:schemeClr val="accent5"/>
            </a:solidFill>
            <a:ln w="3394" cap="flat">
              <a:noFill/>
              <a:prstDash val="solid"/>
              <a:miter/>
            </a:ln>
          </p:spPr>
          <p:txBody>
            <a:bodyPr rtlCol="0" anchor="ctr"/>
            <a:lstStyle/>
            <a:p>
              <a:endParaRPr lang="en-US"/>
            </a:p>
          </p:txBody>
        </p:sp>
        <p:sp>
          <p:nvSpPr>
            <p:cNvPr id="310" name="Freeform: Shape 309">
              <a:extLst>
                <a:ext uri="{FF2B5EF4-FFF2-40B4-BE49-F238E27FC236}">
                  <a16:creationId xmlns:a16="http://schemas.microsoft.com/office/drawing/2014/main" id="{CA99E495-5378-4088-AAA4-698A8CF798DD}"/>
                </a:ext>
              </a:extLst>
            </p:cNvPr>
            <p:cNvSpPr/>
            <p:nvPr/>
          </p:nvSpPr>
          <p:spPr>
            <a:xfrm>
              <a:off x="1527930" y="5059857"/>
              <a:ext cx="198518" cy="93804"/>
            </a:xfrm>
            <a:custGeom>
              <a:avLst/>
              <a:gdLst>
                <a:gd name="connsiteX0" fmla="*/ 163978 w 198518"/>
                <a:gd name="connsiteY0" fmla="*/ 0 h 93804"/>
                <a:gd name="connsiteX1" fmla="*/ 34540 w 198518"/>
                <a:gd name="connsiteY1" fmla="*/ 0 h 93804"/>
                <a:gd name="connsiteX2" fmla="*/ 0 w 198518"/>
                <a:gd name="connsiteY2" fmla="*/ 34540 h 93804"/>
                <a:gd name="connsiteX3" fmla="*/ 28350 w 198518"/>
                <a:gd name="connsiteY3" fmla="*/ 68498 h 93804"/>
                <a:gd name="connsiteX4" fmla="*/ 28350 w 198518"/>
                <a:gd name="connsiteY4" fmla="*/ 93805 h 93804"/>
                <a:gd name="connsiteX5" fmla="*/ 53075 w 198518"/>
                <a:gd name="connsiteY5" fmla="*/ 69080 h 93804"/>
                <a:gd name="connsiteX6" fmla="*/ 163978 w 198518"/>
                <a:gd name="connsiteY6" fmla="*/ 69080 h 93804"/>
                <a:gd name="connsiteX7" fmla="*/ 198518 w 198518"/>
                <a:gd name="connsiteY7" fmla="*/ 34540 h 93804"/>
                <a:gd name="connsiteX8" fmla="*/ 163978 w 198518"/>
                <a:gd name="connsiteY8" fmla="*/ 0 h 93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518" h="93804">
                  <a:moveTo>
                    <a:pt x="163978" y="0"/>
                  </a:moveTo>
                  <a:lnTo>
                    <a:pt x="34540" y="0"/>
                  </a:lnTo>
                  <a:cubicBezTo>
                    <a:pt x="15560" y="0"/>
                    <a:pt x="0" y="15526"/>
                    <a:pt x="0" y="34540"/>
                  </a:cubicBezTo>
                  <a:cubicBezTo>
                    <a:pt x="0" y="51433"/>
                    <a:pt x="12277" y="65557"/>
                    <a:pt x="28350" y="68498"/>
                  </a:cubicBezTo>
                  <a:lnTo>
                    <a:pt x="28350" y="93805"/>
                  </a:lnTo>
                  <a:lnTo>
                    <a:pt x="53075" y="69080"/>
                  </a:lnTo>
                  <a:lnTo>
                    <a:pt x="163978" y="69080"/>
                  </a:lnTo>
                  <a:cubicBezTo>
                    <a:pt x="182958" y="69080"/>
                    <a:pt x="198518" y="53554"/>
                    <a:pt x="198518" y="34540"/>
                  </a:cubicBezTo>
                  <a:cubicBezTo>
                    <a:pt x="198518" y="15526"/>
                    <a:pt x="182992" y="0"/>
                    <a:pt x="163978" y="0"/>
                  </a:cubicBezTo>
                  <a:close/>
                </a:path>
              </a:pathLst>
            </a:custGeom>
            <a:solidFill>
              <a:schemeClr val="accent6"/>
            </a:solidFill>
            <a:ln w="3394" cap="flat">
              <a:noFill/>
              <a:prstDash val="solid"/>
              <a:miter/>
            </a:ln>
          </p:spPr>
          <p:txBody>
            <a:bodyPr rtlCol="0" anchor="ctr"/>
            <a:lstStyle/>
            <a:p>
              <a:endParaRPr lang="en-US"/>
            </a:p>
          </p:txBody>
        </p:sp>
        <p:grpSp>
          <p:nvGrpSpPr>
            <p:cNvPr id="311" name="Graphic 380">
              <a:extLst>
                <a:ext uri="{FF2B5EF4-FFF2-40B4-BE49-F238E27FC236}">
                  <a16:creationId xmlns:a16="http://schemas.microsoft.com/office/drawing/2014/main" id="{3A32756A-6699-4EE7-8E95-208F07E83458}"/>
                </a:ext>
              </a:extLst>
            </p:cNvPr>
            <p:cNvGrpSpPr/>
            <p:nvPr/>
          </p:nvGrpSpPr>
          <p:grpSpPr>
            <a:xfrm>
              <a:off x="873522" y="5101647"/>
              <a:ext cx="255525" cy="120752"/>
              <a:chOff x="873522" y="5101647"/>
              <a:chExt cx="255525" cy="120752"/>
            </a:xfrm>
          </p:grpSpPr>
          <p:sp>
            <p:nvSpPr>
              <p:cNvPr id="316" name="Freeform: Shape 315">
                <a:extLst>
                  <a:ext uri="{FF2B5EF4-FFF2-40B4-BE49-F238E27FC236}">
                    <a16:creationId xmlns:a16="http://schemas.microsoft.com/office/drawing/2014/main" id="{9F58A49A-0A23-4014-AE81-6F2F3A2A9D71}"/>
                  </a:ext>
                </a:extLst>
              </p:cNvPr>
              <p:cNvSpPr/>
              <p:nvPr/>
            </p:nvSpPr>
            <p:spPr>
              <a:xfrm>
                <a:off x="873522" y="5101647"/>
                <a:ext cx="255525" cy="88914"/>
              </a:xfrm>
              <a:custGeom>
                <a:avLst/>
                <a:gdLst>
                  <a:gd name="connsiteX0" fmla="*/ 44457 w 255525"/>
                  <a:gd name="connsiteY0" fmla="*/ 88914 h 88914"/>
                  <a:gd name="connsiteX1" fmla="*/ 211069 w 255525"/>
                  <a:gd name="connsiteY1" fmla="*/ 88914 h 88914"/>
                  <a:gd name="connsiteX2" fmla="*/ 255526 w 255525"/>
                  <a:gd name="connsiteY2" fmla="*/ 44457 h 88914"/>
                  <a:gd name="connsiteX3" fmla="*/ 211069 w 255525"/>
                  <a:gd name="connsiteY3" fmla="*/ 0 h 88914"/>
                  <a:gd name="connsiteX4" fmla="*/ 44457 w 255525"/>
                  <a:gd name="connsiteY4" fmla="*/ 0 h 88914"/>
                  <a:gd name="connsiteX5" fmla="*/ 0 w 255525"/>
                  <a:gd name="connsiteY5" fmla="*/ 44457 h 88914"/>
                  <a:gd name="connsiteX6" fmla="*/ 44457 w 255525"/>
                  <a:gd name="connsiteY6" fmla="*/ 88914 h 88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5525" h="88914">
                    <a:moveTo>
                      <a:pt x="44457" y="88914"/>
                    </a:moveTo>
                    <a:lnTo>
                      <a:pt x="211069" y="88914"/>
                    </a:lnTo>
                    <a:cubicBezTo>
                      <a:pt x="235520" y="88914"/>
                      <a:pt x="255526" y="68909"/>
                      <a:pt x="255526" y="44457"/>
                    </a:cubicBezTo>
                    <a:cubicBezTo>
                      <a:pt x="255526" y="20006"/>
                      <a:pt x="235520" y="0"/>
                      <a:pt x="211069" y="0"/>
                    </a:cubicBezTo>
                    <a:lnTo>
                      <a:pt x="44457" y="0"/>
                    </a:lnTo>
                    <a:cubicBezTo>
                      <a:pt x="20006" y="0"/>
                      <a:pt x="0" y="20006"/>
                      <a:pt x="0" y="44457"/>
                    </a:cubicBezTo>
                    <a:cubicBezTo>
                      <a:pt x="0" y="68909"/>
                      <a:pt x="20006" y="88914"/>
                      <a:pt x="44457" y="88914"/>
                    </a:cubicBezTo>
                    <a:close/>
                  </a:path>
                </a:pathLst>
              </a:custGeom>
              <a:solidFill>
                <a:schemeClr val="accent3"/>
              </a:solidFill>
              <a:ln w="3394" cap="flat">
                <a:noFill/>
                <a:prstDash val="solid"/>
                <a:miter/>
              </a:ln>
            </p:spPr>
            <p:txBody>
              <a:bodyPr rtlCol="0" anchor="ctr"/>
              <a:lstStyle/>
              <a:p>
                <a:endParaRPr lang="en-US"/>
              </a:p>
            </p:txBody>
          </p:sp>
          <p:sp>
            <p:nvSpPr>
              <p:cNvPr id="317" name="Freeform: Shape 316">
                <a:extLst>
                  <a:ext uri="{FF2B5EF4-FFF2-40B4-BE49-F238E27FC236}">
                    <a16:creationId xmlns:a16="http://schemas.microsoft.com/office/drawing/2014/main" id="{CC41C9F9-2E34-49F0-86C2-6B51B9645001}"/>
                  </a:ext>
                </a:extLst>
              </p:cNvPr>
              <p:cNvSpPr/>
              <p:nvPr/>
            </p:nvSpPr>
            <p:spPr>
              <a:xfrm>
                <a:off x="987400" y="5132185"/>
                <a:ext cx="27768" cy="27768"/>
              </a:xfrm>
              <a:custGeom>
                <a:avLst/>
                <a:gdLst>
                  <a:gd name="connsiteX0" fmla="*/ 0 w 27768"/>
                  <a:gd name="connsiteY0" fmla="*/ 13884 h 27768"/>
                  <a:gd name="connsiteX1" fmla="*/ 13884 w 27768"/>
                  <a:gd name="connsiteY1" fmla="*/ 27769 h 27768"/>
                  <a:gd name="connsiteX2" fmla="*/ 27769 w 27768"/>
                  <a:gd name="connsiteY2" fmla="*/ 13884 h 27768"/>
                  <a:gd name="connsiteX3" fmla="*/ 13884 w 27768"/>
                  <a:gd name="connsiteY3" fmla="*/ 0 h 27768"/>
                  <a:gd name="connsiteX4" fmla="*/ 0 w 27768"/>
                  <a:gd name="connsiteY4" fmla="*/ 13884 h 27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68" h="27768">
                    <a:moveTo>
                      <a:pt x="0" y="13884"/>
                    </a:moveTo>
                    <a:cubicBezTo>
                      <a:pt x="0" y="21545"/>
                      <a:pt x="6224" y="27769"/>
                      <a:pt x="13884" y="27769"/>
                    </a:cubicBezTo>
                    <a:cubicBezTo>
                      <a:pt x="21545" y="27769"/>
                      <a:pt x="27769" y="21545"/>
                      <a:pt x="27769" y="13884"/>
                    </a:cubicBezTo>
                    <a:cubicBezTo>
                      <a:pt x="27769" y="6224"/>
                      <a:pt x="21545" y="0"/>
                      <a:pt x="13884" y="0"/>
                    </a:cubicBezTo>
                    <a:cubicBezTo>
                      <a:pt x="6224" y="0"/>
                      <a:pt x="0" y="6224"/>
                      <a:pt x="0" y="13884"/>
                    </a:cubicBezTo>
                    <a:close/>
                  </a:path>
                </a:pathLst>
              </a:custGeom>
              <a:solidFill>
                <a:srgbClr val="FFFFFF"/>
              </a:solidFill>
              <a:ln w="3394" cap="flat">
                <a:noFill/>
                <a:prstDash val="solid"/>
                <a:miter/>
              </a:ln>
            </p:spPr>
            <p:txBody>
              <a:bodyPr rtlCol="0" anchor="ctr"/>
              <a:lstStyle/>
              <a:p>
                <a:endParaRPr lang="en-US"/>
              </a:p>
            </p:txBody>
          </p:sp>
          <p:sp>
            <p:nvSpPr>
              <p:cNvPr id="318" name="Freeform: Shape 317">
                <a:extLst>
                  <a:ext uri="{FF2B5EF4-FFF2-40B4-BE49-F238E27FC236}">
                    <a16:creationId xmlns:a16="http://schemas.microsoft.com/office/drawing/2014/main" id="{31C54D78-B1C5-4EBE-946B-19A9436D6FBA}"/>
                  </a:ext>
                </a:extLst>
              </p:cNvPr>
              <p:cNvSpPr/>
              <p:nvPr/>
            </p:nvSpPr>
            <p:spPr>
              <a:xfrm>
                <a:off x="1059386" y="5132185"/>
                <a:ext cx="27768" cy="27768"/>
              </a:xfrm>
              <a:custGeom>
                <a:avLst/>
                <a:gdLst>
                  <a:gd name="connsiteX0" fmla="*/ 0 w 27768"/>
                  <a:gd name="connsiteY0" fmla="*/ 13884 h 27768"/>
                  <a:gd name="connsiteX1" fmla="*/ 13884 w 27768"/>
                  <a:gd name="connsiteY1" fmla="*/ 27769 h 27768"/>
                  <a:gd name="connsiteX2" fmla="*/ 27769 w 27768"/>
                  <a:gd name="connsiteY2" fmla="*/ 13884 h 27768"/>
                  <a:gd name="connsiteX3" fmla="*/ 13884 w 27768"/>
                  <a:gd name="connsiteY3" fmla="*/ 0 h 27768"/>
                  <a:gd name="connsiteX4" fmla="*/ 0 w 27768"/>
                  <a:gd name="connsiteY4" fmla="*/ 13884 h 27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68" h="27768">
                    <a:moveTo>
                      <a:pt x="0" y="13884"/>
                    </a:moveTo>
                    <a:cubicBezTo>
                      <a:pt x="0" y="21545"/>
                      <a:pt x="6224" y="27769"/>
                      <a:pt x="13884" y="27769"/>
                    </a:cubicBezTo>
                    <a:cubicBezTo>
                      <a:pt x="21545" y="27769"/>
                      <a:pt x="27769" y="21545"/>
                      <a:pt x="27769" y="13884"/>
                    </a:cubicBezTo>
                    <a:cubicBezTo>
                      <a:pt x="27769" y="6224"/>
                      <a:pt x="21545" y="0"/>
                      <a:pt x="13884" y="0"/>
                    </a:cubicBezTo>
                    <a:cubicBezTo>
                      <a:pt x="6224" y="0"/>
                      <a:pt x="0" y="6224"/>
                      <a:pt x="0" y="13884"/>
                    </a:cubicBezTo>
                    <a:close/>
                  </a:path>
                </a:pathLst>
              </a:custGeom>
              <a:solidFill>
                <a:srgbClr val="FFFFFF"/>
              </a:solidFill>
              <a:ln w="3394" cap="flat">
                <a:noFill/>
                <a:prstDash val="solid"/>
                <a:miter/>
              </a:ln>
            </p:spPr>
            <p:txBody>
              <a:bodyPr rtlCol="0" anchor="ctr"/>
              <a:lstStyle/>
              <a:p>
                <a:endParaRPr lang="en-US"/>
              </a:p>
            </p:txBody>
          </p:sp>
          <p:sp>
            <p:nvSpPr>
              <p:cNvPr id="319" name="Freeform: Shape 318">
                <a:extLst>
                  <a:ext uri="{FF2B5EF4-FFF2-40B4-BE49-F238E27FC236}">
                    <a16:creationId xmlns:a16="http://schemas.microsoft.com/office/drawing/2014/main" id="{B3394B0F-D659-4F46-A37A-DF0B0BE34F10}"/>
                  </a:ext>
                </a:extLst>
              </p:cNvPr>
              <p:cNvSpPr/>
              <p:nvPr/>
            </p:nvSpPr>
            <p:spPr>
              <a:xfrm>
                <a:off x="915414" y="5132185"/>
                <a:ext cx="27768" cy="27768"/>
              </a:xfrm>
              <a:custGeom>
                <a:avLst/>
                <a:gdLst>
                  <a:gd name="connsiteX0" fmla="*/ 0 w 27768"/>
                  <a:gd name="connsiteY0" fmla="*/ 13884 h 27768"/>
                  <a:gd name="connsiteX1" fmla="*/ 13884 w 27768"/>
                  <a:gd name="connsiteY1" fmla="*/ 27769 h 27768"/>
                  <a:gd name="connsiteX2" fmla="*/ 27769 w 27768"/>
                  <a:gd name="connsiteY2" fmla="*/ 13884 h 27768"/>
                  <a:gd name="connsiteX3" fmla="*/ 13884 w 27768"/>
                  <a:gd name="connsiteY3" fmla="*/ 0 h 27768"/>
                  <a:gd name="connsiteX4" fmla="*/ 0 w 27768"/>
                  <a:gd name="connsiteY4" fmla="*/ 13884 h 27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68" h="27768">
                    <a:moveTo>
                      <a:pt x="0" y="13884"/>
                    </a:moveTo>
                    <a:cubicBezTo>
                      <a:pt x="0" y="21545"/>
                      <a:pt x="6224" y="27769"/>
                      <a:pt x="13884" y="27769"/>
                    </a:cubicBezTo>
                    <a:cubicBezTo>
                      <a:pt x="21545" y="27769"/>
                      <a:pt x="27769" y="21545"/>
                      <a:pt x="27769" y="13884"/>
                    </a:cubicBezTo>
                    <a:cubicBezTo>
                      <a:pt x="27769" y="6224"/>
                      <a:pt x="21545" y="0"/>
                      <a:pt x="13884" y="0"/>
                    </a:cubicBezTo>
                    <a:cubicBezTo>
                      <a:pt x="6224" y="0"/>
                      <a:pt x="0" y="6224"/>
                      <a:pt x="0" y="13884"/>
                    </a:cubicBezTo>
                    <a:close/>
                  </a:path>
                </a:pathLst>
              </a:custGeom>
              <a:solidFill>
                <a:srgbClr val="FFFFFF"/>
              </a:solidFill>
              <a:ln w="3394" cap="flat">
                <a:noFill/>
                <a:prstDash val="solid"/>
                <a:miter/>
              </a:ln>
            </p:spPr>
            <p:txBody>
              <a:bodyPr rtlCol="0" anchor="ctr"/>
              <a:lstStyle/>
              <a:p>
                <a:endParaRPr lang="en-US"/>
              </a:p>
            </p:txBody>
          </p:sp>
          <p:sp>
            <p:nvSpPr>
              <p:cNvPr id="320" name="Freeform: Shape 319">
                <a:extLst>
                  <a:ext uri="{FF2B5EF4-FFF2-40B4-BE49-F238E27FC236}">
                    <a16:creationId xmlns:a16="http://schemas.microsoft.com/office/drawing/2014/main" id="{D2308B88-D031-480B-96C6-3AA3E2583ECE}"/>
                  </a:ext>
                </a:extLst>
              </p:cNvPr>
              <p:cNvSpPr/>
              <p:nvPr/>
            </p:nvSpPr>
            <p:spPr>
              <a:xfrm>
                <a:off x="1048819" y="5178626"/>
                <a:ext cx="43773" cy="43773"/>
              </a:xfrm>
              <a:custGeom>
                <a:avLst/>
                <a:gdLst>
                  <a:gd name="connsiteX0" fmla="*/ 43773 w 43773"/>
                  <a:gd name="connsiteY0" fmla="*/ 8549 h 43773"/>
                  <a:gd name="connsiteX1" fmla="*/ 43773 w 43773"/>
                  <a:gd name="connsiteY1" fmla="*/ 43773 h 43773"/>
                  <a:gd name="connsiteX2" fmla="*/ 0 w 43773"/>
                  <a:gd name="connsiteY2" fmla="*/ 0 h 43773"/>
                  <a:gd name="connsiteX3" fmla="*/ 43773 w 43773"/>
                  <a:gd name="connsiteY3" fmla="*/ 8549 h 43773"/>
                </a:gdLst>
                <a:ahLst/>
                <a:cxnLst>
                  <a:cxn ang="0">
                    <a:pos x="connsiteX0" y="connsiteY0"/>
                  </a:cxn>
                  <a:cxn ang="0">
                    <a:pos x="connsiteX1" y="connsiteY1"/>
                  </a:cxn>
                  <a:cxn ang="0">
                    <a:pos x="connsiteX2" y="connsiteY2"/>
                  </a:cxn>
                  <a:cxn ang="0">
                    <a:pos x="connsiteX3" y="connsiteY3"/>
                  </a:cxn>
                </a:cxnLst>
                <a:rect l="l" t="t" r="r" b="b"/>
                <a:pathLst>
                  <a:path w="43773" h="43773">
                    <a:moveTo>
                      <a:pt x="43773" y="8549"/>
                    </a:moveTo>
                    <a:lnTo>
                      <a:pt x="43773" y="43773"/>
                    </a:lnTo>
                    <a:lnTo>
                      <a:pt x="0" y="0"/>
                    </a:lnTo>
                    <a:lnTo>
                      <a:pt x="43773" y="8549"/>
                    </a:lnTo>
                    <a:close/>
                  </a:path>
                </a:pathLst>
              </a:custGeom>
              <a:solidFill>
                <a:schemeClr val="accent3"/>
              </a:solidFill>
              <a:ln w="3394" cap="flat">
                <a:noFill/>
                <a:prstDash val="solid"/>
                <a:miter/>
              </a:ln>
            </p:spPr>
            <p:txBody>
              <a:bodyPr rtlCol="0" anchor="ctr"/>
              <a:lstStyle/>
              <a:p>
                <a:endParaRPr lang="en-US"/>
              </a:p>
            </p:txBody>
          </p:sp>
        </p:grpSp>
        <p:sp>
          <p:nvSpPr>
            <p:cNvPr id="312" name="Freeform: Shape 311">
              <a:extLst>
                <a:ext uri="{FF2B5EF4-FFF2-40B4-BE49-F238E27FC236}">
                  <a16:creationId xmlns:a16="http://schemas.microsoft.com/office/drawing/2014/main" id="{AE081DDA-892F-43E9-BA2B-BED50F17A5F8}"/>
                </a:ext>
              </a:extLst>
            </p:cNvPr>
            <p:cNvSpPr/>
            <p:nvPr/>
          </p:nvSpPr>
          <p:spPr>
            <a:xfrm>
              <a:off x="895192" y="5458356"/>
              <a:ext cx="147061" cy="121990"/>
            </a:xfrm>
            <a:custGeom>
              <a:avLst/>
              <a:gdLst>
                <a:gd name="connsiteX0" fmla="*/ 147061 w 147061"/>
                <a:gd name="connsiteY0" fmla="*/ 12353 h 121990"/>
                <a:gd name="connsiteX1" fmla="*/ 59686 w 147061"/>
                <a:gd name="connsiteY1" fmla="*/ 121991 h 121990"/>
                <a:gd name="connsiteX2" fmla="*/ 26480 w 147061"/>
                <a:gd name="connsiteY2" fmla="*/ 111492 h 121990"/>
                <a:gd name="connsiteX3" fmla="*/ 4833 w 147061"/>
                <a:gd name="connsiteY3" fmla="*/ 54929 h 121990"/>
                <a:gd name="connsiteX4" fmla="*/ 147061 w 147061"/>
                <a:gd name="connsiteY4" fmla="*/ 12319 h 1219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061" h="121990">
                  <a:moveTo>
                    <a:pt x="147061" y="12353"/>
                  </a:moveTo>
                  <a:cubicBezTo>
                    <a:pt x="147061" y="12353"/>
                    <a:pt x="63037" y="18201"/>
                    <a:pt x="59686" y="121991"/>
                  </a:cubicBezTo>
                  <a:lnTo>
                    <a:pt x="26480" y="111492"/>
                  </a:lnTo>
                  <a:cubicBezTo>
                    <a:pt x="3739" y="104311"/>
                    <a:pt x="-6931" y="76679"/>
                    <a:pt x="4833" y="54929"/>
                  </a:cubicBezTo>
                  <a:cubicBezTo>
                    <a:pt x="24326" y="18987"/>
                    <a:pt x="65260" y="-20614"/>
                    <a:pt x="147061" y="12319"/>
                  </a:cubicBezTo>
                  <a:close/>
                </a:path>
              </a:pathLst>
            </a:custGeom>
            <a:solidFill>
              <a:schemeClr val="accent3"/>
            </a:solidFill>
            <a:ln w="3394" cap="flat">
              <a:noFill/>
              <a:prstDash val="solid"/>
              <a:miter/>
            </a:ln>
          </p:spPr>
          <p:txBody>
            <a:bodyPr rtlCol="0" anchor="ctr"/>
            <a:lstStyle/>
            <a:p>
              <a:endParaRPr lang="en-US"/>
            </a:p>
          </p:txBody>
        </p:sp>
        <p:sp>
          <p:nvSpPr>
            <p:cNvPr id="313" name="Freeform: Shape 312">
              <a:extLst>
                <a:ext uri="{FF2B5EF4-FFF2-40B4-BE49-F238E27FC236}">
                  <a16:creationId xmlns:a16="http://schemas.microsoft.com/office/drawing/2014/main" id="{70F585A9-8CFB-4583-B2A1-4B5C5079E422}"/>
                </a:ext>
              </a:extLst>
            </p:cNvPr>
            <p:cNvSpPr/>
            <p:nvPr/>
          </p:nvSpPr>
          <p:spPr>
            <a:xfrm>
              <a:off x="1620333" y="5458356"/>
              <a:ext cx="147061" cy="121990"/>
            </a:xfrm>
            <a:custGeom>
              <a:avLst/>
              <a:gdLst>
                <a:gd name="connsiteX0" fmla="*/ 0 w 147061"/>
                <a:gd name="connsiteY0" fmla="*/ 12353 h 121990"/>
                <a:gd name="connsiteX1" fmla="*/ 87375 w 147061"/>
                <a:gd name="connsiteY1" fmla="*/ 121991 h 121990"/>
                <a:gd name="connsiteX2" fmla="*/ 120581 w 147061"/>
                <a:gd name="connsiteY2" fmla="*/ 111492 h 121990"/>
                <a:gd name="connsiteX3" fmla="*/ 142229 w 147061"/>
                <a:gd name="connsiteY3" fmla="*/ 54929 h 121990"/>
                <a:gd name="connsiteX4" fmla="*/ 0 w 147061"/>
                <a:gd name="connsiteY4" fmla="*/ 12319 h 1219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061" h="121990">
                  <a:moveTo>
                    <a:pt x="0" y="12353"/>
                  </a:moveTo>
                  <a:cubicBezTo>
                    <a:pt x="0" y="12353"/>
                    <a:pt x="84024" y="18201"/>
                    <a:pt x="87375" y="121991"/>
                  </a:cubicBezTo>
                  <a:lnTo>
                    <a:pt x="120581" y="111492"/>
                  </a:lnTo>
                  <a:cubicBezTo>
                    <a:pt x="143323" y="104311"/>
                    <a:pt x="153993" y="76679"/>
                    <a:pt x="142229" y="54929"/>
                  </a:cubicBezTo>
                  <a:cubicBezTo>
                    <a:pt x="122736" y="18987"/>
                    <a:pt x="81801" y="-20614"/>
                    <a:pt x="0" y="12319"/>
                  </a:cubicBezTo>
                  <a:close/>
                </a:path>
              </a:pathLst>
            </a:custGeom>
            <a:solidFill>
              <a:schemeClr val="accent3"/>
            </a:solidFill>
            <a:ln w="3394" cap="flat">
              <a:noFill/>
              <a:prstDash val="solid"/>
              <a:miter/>
            </a:ln>
          </p:spPr>
          <p:txBody>
            <a:bodyPr rtlCol="0" anchor="ctr"/>
            <a:lstStyle/>
            <a:p>
              <a:endParaRPr lang="en-US"/>
            </a:p>
          </p:txBody>
        </p:sp>
        <p:sp>
          <p:nvSpPr>
            <p:cNvPr id="314" name="Freeform: Shape 313">
              <a:extLst>
                <a:ext uri="{FF2B5EF4-FFF2-40B4-BE49-F238E27FC236}">
                  <a16:creationId xmlns:a16="http://schemas.microsoft.com/office/drawing/2014/main" id="{EA1C4E5F-46F7-4334-98BF-3937E5E60271}"/>
                </a:ext>
              </a:extLst>
            </p:cNvPr>
            <p:cNvSpPr/>
            <p:nvPr/>
          </p:nvSpPr>
          <p:spPr>
            <a:xfrm>
              <a:off x="1060241" y="5563693"/>
              <a:ext cx="542752" cy="37480"/>
            </a:xfrm>
            <a:custGeom>
              <a:avLst/>
              <a:gdLst>
                <a:gd name="connsiteX0" fmla="*/ 524013 w 542752"/>
                <a:gd name="connsiteY0" fmla="*/ 0 h 37480"/>
                <a:gd name="connsiteX1" fmla="*/ 18740 w 542752"/>
                <a:gd name="connsiteY1" fmla="*/ 0 h 37480"/>
                <a:gd name="connsiteX2" fmla="*/ 0 w 542752"/>
                <a:gd name="connsiteY2" fmla="*/ 18740 h 37480"/>
                <a:gd name="connsiteX3" fmla="*/ 18740 w 542752"/>
                <a:gd name="connsiteY3" fmla="*/ 37481 h 37480"/>
                <a:gd name="connsiteX4" fmla="*/ 524013 w 542752"/>
                <a:gd name="connsiteY4" fmla="*/ 37481 h 37480"/>
                <a:gd name="connsiteX5" fmla="*/ 542753 w 542752"/>
                <a:gd name="connsiteY5" fmla="*/ 18740 h 37480"/>
                <a:gd name="connsiteX6" fmla="*/ 524013 w 542752"/>
                <a:gd name="connsiteY6" fmla="*/ 0 h 3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2752" h="37480">
                  <a:moveTo>
                    <a:pt x="524013" y="0"/>
                  </a:moveTo>
                  <a:lnTo>
                    <a:pt x="18740" y="0"/>
                  </a:lnTo>
                  <a:cubicBezTo>
                    <a:pt x="8378" y="0"/>
                    <a:pt x="0" y="8378"/>
                    <a:pt x="0" y="18740"/>
                  </a:cubicBezTo>
                  <a:cubicBezTo>
                    <a:pt x="0" y="29102"/>
                    <a:pt x="8378" y="37481"/>
                    <a:pt x="18740" y="37481"/>
                  </a:cubicBezTo>
                  <a:lnTo>
                    <a:pt x="524013" y="37481"/>
                  </a:lnTo>
                  <a:cubicBezTo>
                    <a:pt x="534375" y="37481"/>
                    <a:pt x="542753" y="29102"/>
                    <a:pt x="542753" y="18740"/>
                  </a:cubicBezTo>
                  <a:cubicBezTo>
                    <a:pt x="542753" y="8378"/>
                    <a:pt x="534375" y="0"/>
                    <a:pt x="524013" y="0"/>
                  </a:cubicBezTo>
                  <a:close/>
                </a:path>
              </a:pathLst>
            </a:custGeom>
            <a:solidFill>
              <a:schemeClr val="bg1"/>
            </a:solidFill>
            <a:ln w="3394" cap="flat">
              <a:noFill/>
              <a:prstDash val="solid"/>
              <a:miter/>
            </a:ln>
          </p:spPr>
          <p:txBody>
            <a:bodyPr rtlCol="0" anchor="ctr"/>
            <a:lstStyle/>
            <a:p>
              <a:endParaRPr lang="en-US"/>
            </a:p>
          </p:txBody>
        </p:sp>
        <p:sp>
          <p:nvSpPr>
            <p:cNvPr id="315" name="Freeform: Shape 314">
              <a:extLst>
                <a:ext uri="{FF2B5EF4-FFF2-40B4-BE49-F238E27FC236}">
                  <a16:creationId xmlns:a16="http://schemas.microsoft.com/office/drawing/2014/main" id="{20DCDFCC-E1DE-4FC9-8502-8196787C2158}"/>
                </a:ext>
              </a:extLst>
            </p:cNvPr>
            <p:cNvSpPr/>
            <p:nvPr/>
          </p:nvSpPr>
          <p:spPr>
            <a:xfrm>
              <a:off x="1082607" y="5559760"/>
              <a:ext cx="496620" cy="7865"/>
            </a:xfrm>
            <a:custGeom>
              <a:avLst/>
              <a:gdLst>
                <a:gd name="connsiteX0" fmla="*/ 492687 w 496620"/>
                <a:gd name="connsiteY0" fmla="*/ 7866 h 7865"/>
                <a:gd name="connsiteX1" fmla="*/ 3933 w 496620"/>
                <a:gd name="connsiteY1" fmla="*/ 7866 h 7865"/>
                <a:gd name="connsiteX2" fmla="*/ 0 w 496620"/>
                <a:gd name="connsiteY2" fmla="*/ 3933 h 7865"/>
                <a:gd name="connsiteX3" fmla="*/ 3933 w 496620"/>
                <a:gd name="connsiteY3" fmla="*/ 0 h 7865"/>
                <a:gd name="connsiteX4" fmla="*/ 492687 w 496620"/>
                <a:gd name="connsiteY4" fmla="*/ 0 h 7865"/>
                <a:gd name="connsiteX5" fmla="*/ 496620 w 496620"/>
                <a:gd name="connsiteY5" fmla="*/ 3933 h 7865"/>
                <a:gd name="connsiteX6" fmla="*/ 492687 w 496620"/>
                <a:gd name="connsiteY6" fmla="*/ 7866 h 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6620" h="7865">
                  <a:moveTo>
                    <a:pt x="492687" y="7866"/>
                  </a:moveTo>
                  <a:lnTo>
                    <a:pt x="3933" y="7866"/>
                  </a:lnTo>
                  <a:cubicBezTo>
                    <a:pt x="1778" y="7866"/>
                    <a:pt x="0" y="6121"/>
                    <a:pt x="0" y="3933"/>
                  </a:cubicBezTo>
                  <a:cubicBezTo>
                    <a:pt x="0" y="1744"/>
                    <a:pt x="1744" y="0"/>
                    <a:pt x="3933" y="0"/>
                  </a:cubicBezTo>
                  <a:lnTo>
                    <a:pt x="492687" y="0"/>
                  </a:lnTo>
                  <a:cubicBezTo>
                    <a:pt x="494842" y="0"/>
                    <a:pt x="496620" y="1744"/>
                    <a:pt x="496620" y="3933"/>
                  </a:cubicBezTo>
                  <a:cubicBezTo>
                    <a:pt x="496620" y="6121"/>
                    <a:pt x="494876" y="7866"/>
                    <a:pt x="492687" y="7866"/>
                  </a:cubicBezTo>
                  <a:close/>
                </a:path>
              </a:pathLst>
            </a:custGeom>
            <a:solidFill>
              <a:schemeClr val="accent5"/>
            </a:solidFill>
            <a:ln w="3394" cap="flat">
              <a:noFill/>
              <a:prstDash val="solid"/>
              <a:miter/>
            </a:ln>
          </p:spPr>
          <p:txBody>
            <a:bodyPr rtlCol="0" anchor="ctr"/>
            <a:lstStyle/>
            <a:p>
              <a:endParaRPr lang="en-US"/>
            </a:p>
          </p:txBody>
        </p:sp>
      </p:grpSp>
      <p:sp>
        <p:nvSpPr>
          <p:cNvPr id="321" name="Oval 320">
            <a:extLst>
              <a:ext uri="{FF2B5EF4-FFF2-40B4-BE49-F238E27FC236}">
                <a16:creationId xmlns:a16="http://schemas.microsoft.com/office/drawing/2014/main" id="{B82D6CDC-2B00-4E42-8290-D7EC5CF1FB33}"/>
              </a:ext>
            </a:extLst>
          </p:cNvPr>
          <p:cNvSpPr>
            <a:spLocks noChangeAspect="1"/>
          </p:cNvSpPr>
          <p:nvPr/>
        </p:nvSpPr>
        <p:spPr>
          <a:xfrm>
            <a:off x="629999" y="5725154"/>
            <a:ext cx="108000" cy="108000"/>
          </a:xfrm>
          <a:prstGeom prst="ellipse">
            <a:avLst/>
          </a:prstGeom>
          <a:solidFill>
            <a:schemeClr val="tx2"/>
          </a:solidFill>
          <a:ln w="38100" cap="rnd" cmpd="sng" algn="ctr">
            <a:solidFill>
              <a:srgbClr val="F7F7F7"/>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322" name="Oval 25">
            <a:extLst>
              <a:ext uri="{FF2B5EF4-FFF2-40B4-BE49-F238E27FC236}">
                <a16:creationId xmlns:a16="http://schemas.microsoft.com/office/drawing/2014/main" id="{A410CD11-B069-43CD-B6B7-A16444797FA0}"/>
              </a:ext>
            </a:extLst>
          </p:cNvPr>
          <p:cNvSpPr/>
          <p:nvPr/>
        </p:nvSpPr>
        <p:spPr>
          <a:xfrm rot="16200000">
            <a:off x="683999" y="5851098"/>
            <a:ext cx="360000" cy="360000"/>
          </a:xfrm>
          <a:custGeom>
            <a:avLst/>
            <a:gdLst>
              <a:gd name="connsiteX0" fmla="*/ 0 w 269758"/>
              <a:gd name="connsiteY0" fmla="*/ 134879 h 269758"/>
              <a:gd name="connsiteX1" fmla="*/ 134879 w 269758"/>
              <a:gd name="connsiteY1" fmla="*/ 0 h 269758"/>
              <a:gd name="connsiteX2" fmla="*/ 269758 w 269758"/>
              <a:gd name="connsiteY2" fmla="*/ 134879 h 269758"/>
              <a:gd name="connsiteX3" fmla="*/ 134879 w 269758"/>
              <a:gd name="connsiteY3" fmla="*/ 269758 h 269758"/>
              <a:gd name="connsiteX4" fmla="*/ 0 w 269758"/>
              <a:gd name="connsiteY4" fmla="*/ 134879 h 269758"/>
              <a:gd name="connsiteX0" fmla="*/ 269758 w 361198"/>
              <a:gd name="connsiteY0" fmla="*/ 134879 h 269758"/>
              <a:gd name="connsiteX1" fmla="*/ 134879 w 361198"/>
              <a:gd name="connsiteY1" fmla="*/ 269758 h 269758"/>
              <a:gd name="connsiteX2" fmla="*/ 0 w 361198"/>
              <a:gd name="connsiteY2" fmla="*/ 134879 h 269758"/>
              <a:gd name="connsiteX3" fmla="*/ 134879 w 361198"/>
              <a:gd name="connsiteY3" fmla="*/ 0 h 269758"/>
              <a:gd name="connsiteX4" fmla="*/ 361198 w 361198"/>
              <a:gd name="connsiteY4" fmla="*/ 226319 h 269758"/>
              <a:gd name="connsiteX0" fmla="*/ 269758 w 269758"/>
              <a:gd name="connsiteY0" fmla="*/ 134879 h 269758"/>
              <a:gd name="connsiteX1" fmla="*/ 134879 w 269758"/>
              <a:gd name="connsiteY1" fmla="*/ 269758 h 269758"/>
              <a:gd name="connsiteX2" fmla="*/ 0 w 269758"/>
              <a:gd name="connsiteY2" fmla="*/ 134879 h 269758"/>
              <a:gd name="connsiteX3" fmla="*/ 134879 w 269758"/>
              <a:gd name="connsiteY3" fmla="*/ 0 h 269758"/>
              <a:gd name="connsiteX0" fmla="*/ 134879 w 134879"/>
              <a:gd name="connsiteY0" fmla="*/ 269758 h 269758"/>
              <a:gd name="connsiteX1" fmla="*/ 0 w 134879"/>
              <a:gd name="connsiteY1" fmla="*/ 134879 h 269758"/>
              <a:gd name="connsiteX2" fmla="*/ 134879 w 134879"/>
              <a:gd name="connsiteY2" fmla="*/ 0 h 269758"/>
              <a:gd name="connsiteX0" fmla="*/ 0 w 134879"/>
              <a:gd name="connsiteY0" fmla="*/ 134879 h 134879"/>
              <a:gd name="connsiteX1" fmla="*/ 134879 w 134879"/>
              <a:gd name="connsiteY1" fmla="*/ 0 h 134879"/>
            </a:gdLst>
            <a:ahLst/>
            <a:cxnLst>
              <a:cxn ang="0">
                <a:pos x="connsiteX0" y="connsiteY0"/>
              </a:cxn>
              <a:cxn ang="0">
                <a:pos x="connsiteX1" y="connsiteY1"/>
              </a:cxn>
            </a:cxnLst>
            <a:rect l="l" t="t" r="r" b="b"/>
            <a:pathLst>
              <a:path w="134879" h="134879">
                <a:moveTo>
                  <a:pt x="0" y="134879"/>
                </a:moveTo>
                <a:cubicBezTo>
                  <a:pt x="0" y="60387"/>
                  <a:pt x="60387" y="0"/>
                  <a:pt x="134879" y="0"/>
                </a:cubicBezTo>
              </a:path>
            </a:pathLst>
          </a:custGeom>
          <a:ln w="25400" cap="rnd">
            <a:solidFill>
              <a:schemeClr val="bg1">
                <a:lumMod val="85000"/>
              </a:schemeClr>
            </a:solidFill>
            <a:prstDash val="solid"/>
            <a:round/>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cxnSp>
        <p:nvCxnSpPr>
          <p:cNvPr id="323" name="Straight Connector 322">
            <a:extLst>
              <a:ext uri="{FF2B5EF4-FFF2-40B4-BE49-F238E27FC236}">
                <a16:creationId xmlns:a16="http://schemas.microsoft.com/office/drawing/2014/main" id="{6EF0C6F6-B9A0-4323-980F-F541115358B5}"/>
              </a:ext>
            </a:extLst>
          </p:cNvPr>
          <p:cNvCxnSpPr>
            <a:cxnSpLocks/>
          </p:cNvCxnSpPr>
          <p:nvPr/>
        </p:nvCxnSpPr>
        <p:spPr>
          <a:xfrm>
            <a:off x="1065133" y="6221245"/>
            <a:ext cx="1809523" cy="0"/>
          </a:xfrm>
          <a:prstGeom prst="line">
            <a:avLst/>
          </a:prstGeom>
          <a:ln w="25400" cap="rnd">
            <a:solidFill>
              <a:schemeClr val="bg1">
                <a:lumMod val="85000"/>
              </a:schemeClr>
            </a:solidFill>
            <a:prstDash val="solid"/>
            <a:round/>
            <a:tailEnd type="none" w="med" len="sm"/>
          </a:ln>
        </p:spPr>
        <p:style>
          <a:lnRef idx="1">
            <a:schemeClr val="accent1"/>
          </a:lnRef>
          <a:fillRef idx="0">
            <a:schemeClr val="accent1"/>
          </a:fillRef>
          <a:effectRef idx="0">
            <a:schemeClr val="accent1"/>
          </a:effectRef>
          <a:fontRef idx="minor">
            <a:schemeClr val="tx1"/>
          </a:fontRef>
        </p:style>
      </p:cxnSp>
      <p:grpSp>
        <p:nvGrpSpPr>
          <p:cNvPr id="324" name="Group 323">
            <a:extLst>
              <a:ext uri="{FF2B5EF4-FFF2-40B4-BE49-F238E27FC236}">
                <a16:creationId xmlns:a16="http://schemas.microsoft.com/office/drawing/2014/main" id="{55B2E65D-ADD1-4376-B6D0-E9DCBEFE30FE}"/>
              </a:ext>
            </a:extLst>
          </p:cNvPr>
          <p:cNvGrpSpPr/>
          <p:nvPr/>
        </p:nvGrpSpPr>
        <p:grpSpPr>
          <a:xfrm>
            <a:off x="3325498" y="5275040"/>
            <a:ext cx="2136790" cy="1000466"/>
            <a:chOff x="3529880" y="5826570"/>
            <a:chExt cx="2136790" cy="1000466"/>
          </a:xfrm>
        </p:grpSpPr>
        <p:sp>
          <p:nvSpPr>
            <p:cNvPr id="325" name="object 4">
              <a:extLst>
                <a:ext uri="{FF2B5EF4-FFF2-40B4-BE49-F238E27FC236}">
                  <a16:creationId xmlns:a16="http://schemas.microsoft.com/office/drawing/2014/main" id="{5D8A1812-D6FA-47AE-A8DE-7AAB85560D1A}"/>
                </a:ext>
              </a:extLst>
            </p:cNvPr>
            <p:cNvSpPr txBox="1"/>
            <p:nvPr/>
          </p:nvSpPr>
          <p:spPr>
            <a:xfrm>
              <a:off x="3686669" y="5826570"/>
              <a:ext cx="1980000" cy="461665"/>
            </a:xfrm>
            <a:prstGeom prst="rect">
              <a:avLst/>
            </a:prstGeom>
          </p:spPr>
          <p:txBody>
            <a:bodyPr vert="horz" wrap="square" lIns="0" tIns="0" rIns="0" bIns="0" rtlCol="0" anchor="t" anchorCtr="0">
              <a:noAutofit/>
            </a:bodyPr>
            <a:lstStyle/>
            <a:p>
              <a:pPr marR="3081" algn="r" defTabSz="554492">
                <a:buClr>
                  <a:srgbClr val="9B1C23"/>
                </a:buClr>
                <a:buFont typeface="Trebuchet MS" panose="020B0603020202020204" pitchFamily="34" charset="0"/>
                <a:buChar char="​"/>
              </a:pPr>
              <a:endParaRPr sz="1000">
                <a:solidFill>
                  <a:srgbClr val="000000"/>
                </a:solidFill>
                <a:latin typeface="Arial Nova" panose="020B0504020202020204" pitchFamily="34" charset="0"/>
                <a:cs typeface="Proxima Nova"/>
              </a:endParaRPr>
            </a:p>
          </p:txBody>
        </p:sp>
        <p:sp>
          <p:nvSpPr>
            <p:cNvPr id="326" name="object 28">
              <a:extLst>
                <a:ext uri="{FF2B5EF4-FFF2-40B4-BE49-F238E27FC236}">
                  <a16:creationId xmlns:a16="http://schemas.microsoft.com/office/drawing/2014/main" id="{7FE7CBC8-5855-4F6E-80E2-086452F2B9C2}"/>
                </a:ext>
              </a:extLst>
            </p:cNvPr>
            <p:cNvSpPr txBox="1"/>
            <p:nvPr/>
          </p:nvSpPr>
          <p:spPr>
            <a:xfrm>
              <a:off x="3529880" y="6359461"/>
              <a:ext cx="2136790" cy="467575"/>
            </a:xfrm>
            <a:prstGeom prst="rect">
              <a:avLst/>
            </a:prstGeom>
          </p:spPr>
          <p:txBody>
            <a:bodyPr vert="horz" wrap="square" lIns="0" tIns="5853" rIns="0" bIns="0" rtlCol="0">
              <a:spAutoFit/>
            </a:bodyPr>
            <a:lstStyle/>
            <a:p>
              <a:pPr marR="3081" algn="ctr" defTabSz="554492">
                <a:buFont typeface="Trebuchet MS" panose="020B0603020202020204" pitchFamily="34" charset="0"/>
                <a:buChar char="​"/>
              </a:pPr>
              <a:r>
                <a:rPr sz="1000">
                  <a:latin typeface="Trebuchet MS" panose="020B0603020202020204" pitchFamily="34" charset="0"/>
                  <a:cs typeface="Proxima Nova"/>
                </a:rPr>
                <a:t>Evergreen campaigns to be</a:t>
              </a:r>
              <a:r>
                <a:rPr lang="en-US" sz="1000">
                  <a:latin typeface="Trebuchet MS" panose="020B0603020202020204" pitchFamily="34" charset="0"/>
                  <a:cs typeface="Proxima Nova"/>
                </a:rPr>
                <a:t> </a:t>
              </a:r>
              <a:r>
                <a:rPr sz="1000">
                  <a:latin typeface="Trebuchet MS" panose="020B0603020202020204" pitchFamily="34" charset="0"/>
                  <a:cs typeface="Proxima Nova"/>
                </a:rPr>
                <a:t>automated</a:t>
              </a:r>
              <a:r>
                <a:rPr lang="en-US" sz="1000">
                  <a:latin typeface="Trebuchet MS" panose="020B0603020202020204" pitchFamily="34" charset="0"/>
                  <a:cs typeface="Proxima Nova"/>
                </a:rPr>
                <a:t> </a:t>
              </a:r>
              <a:r>
                <a:rPr sz="1000">
                  <a:latin typeface="Trebuchet MS" panose="020B0603020202020204" pitchFamily="34" charset="0"/>
                  <a:cs typeface="Proxima Nova"/>
                </a:rPr>
                <a:t>in the future by</a:t>
              </a:r>
              <a:r>
                <a:rPr lang="en-US" sz="1000">
                  <a:latin typeface="Trebuchet MS" panose="020B0603020202020204" pitchFamily="34" charset="0"/>
                  <a:cs typeface="Proxima Nova"/>
                </a:rPr>
                <a:t> </a:t>
              </a:r>
              <a:r>
                <a:rPr sz="1000" b="1">
                  <a:latin typeface="Trebuchet MS" panose="020B0603020202020204" pitchFamily="34" charset="0"/>
                  <a:cs typeface="Proxima Nova Semibold"/>
                </a:rPr>
                <a:t>centralized capability teams</a:t>
              </a:r>
            </a:p>
          </p:txBody>
        </p:sp>
      </p:grpSp>
      <p:grpSp>
        <p:nvGrpSpPr>
          <p:cNvPr id="328" name="Group 327">
            <a:extLst>
              <a:ext uri="{FF2B5EF4-FFF2-40B4-BE49-F238E27FC236}">
                <a16:creationId xmlns:a16="http://schemas.microsoft.com/office/drawing/2014/main" id="{CC8692AD-669F-4A5A-8337-384C1F100B08}"/>
              </a:ext>
            </a:extLst>
          </p:cNvPr>
          <p:cNvGrpSpPr/>
          <p:nvPr/>
        </p:nvGrpSpPr>
        <p:grpSpPr>
          <a:xfrm>
            <a:off x="4584974" y="2418465"/>
            <a:ext cx="1386000" cy="1386019"/>
            <a:chOff x="4669200" y="2683043"/>
            <a:chExt cx="1980000" cy="1980028"/>
          </a:xfrm>
        </p:grpSpPr>
        <p:sp>
          <p:nvSpPr>
            <p:cNvPr id="329" name="Freeform: Shape 328">
              <a:extLst>
                <a:ext uri="{FF2B5EF4-FFF2-40B4-BE49-F238E27FC236}">
                  <a16:creationId xmlns:a16="http://schemas.microsoft.com/office/drawing/2014/main" id="{53435929-2AB9-465B-AFE0-4FDEF21029CA}"/>
                </a:ext>
              </a:extLst>
            </p:cNvPr>
            <p:cNvSpPr/>
            <p:nvPr/>
          </p:nvSpPr>
          <p:spPr>
            <a:xfrm>
              <a:off x="4669200" y="3701682"/>
              <a:ext cx="692440" cy="631073"/>
            </a:xfrm>
            <a:custGeom>
              <a:avLst/>
              <a:gdLst>
                <a:gd name="connsiteX0" fmla="*/ 1043946 w 1258227"/>
                <a:gd name="connsiteY0" fmla="*/ 0 h 1146716"/>
                <a:gd name="connsiteX1" fmla="*/ 89757 w 1258227"/>
                <a:gd name="connsiteY1" fmla="*/ 0 h 1146716"/>
                <a:gd name="connsiteX2" fmla="*/ 289 w 1258227"/>
                <a:gd name="connsiteY2" fmla="*/ 94444 h 1146716"/>
                <a:gd name="connsiteX3" fmla="*/ 423481 w 1258227"/>
                <a:gd name="connsiteY3" fmla="*/ 1116160 h 1146716"/>
                <a:gd name="connsiteX4" fmla="*/ 553561 w 1258227"/>
                <a:gd name="connsiteY4" fmla="*/ 1119709 h 1146716"/>
                <a:gd name="connsiteX5" fmla="*/ 1228221 w 1258227"/>
                <a:gd name="connsiteY5" fmla="*/ 444966 h 1146716"/>
                <a:gd name="connsiteX6" fmla="*/ 1239094 w 1258227"/>
                <a:gd name="connsiteY6" fmla="*/ 302029 h 1146716"/>
                <a:gd name="connsiteX7" fmla="*/ 1152700 w 1258227"/>
                <a:gd name="connsiteY7" fmla="*/ 93549 h 1146716"/>
                <a:gd name="connsiteX8" fmla="*/ 1043918 w 1258227"/>
                <a:gd name="connsiteY8" fmla="*/ 0 h 1146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8227" h="1146716">
                  <a:moveTo>
                    <a:pt x="1043946" y="0"/>
                  </a:moveTo>
                  <a:lnTo>
                    <a:pt x="89757" y="0"/>
                  </a:lnTo>
                  <a:cubicBezTo>
                    <a:pt x="37546" y="0"/>
                    <a:pt x="-3876" y="42428"/>
                    <a:pt x="289" y="94444"/>
                  </a:cubicBezTo>
                  <a:cubicBezTo>
                    <a:pt x="31481" y="482754"/>
                    <a:pt x="185458" y="836184"/>
                    <a:pt x="423481" y="1116160"/>
                  </a:cubicBezTo>
                  <a:cubicBezTo>
                    <a:pt x="457385" y="1155961"/>
                    <a:pt x="516583" y="1156604"/>
                    <a:pt x="553561" y="1119709"/>
                  </a:cubicBezTo>
                  <a:lnTo>
                    <a:pt x="1228221" y="444966"/>
                  </a:lnTo>
                  <a:cubicBezTo>
                    <a:pt x="1265199" y="408072"/>
                    <a:pt x="1267016" y="346162"/>
                    <a:pt x="1239094" y="302029"/>
                  </a:cubicBezTo>
                  <a:cubicBezTo>
                    <a:pt x="1199013" y="238945"/>
                    <a:pt x="1169470" y="168595"/>
                    <a:pt x="1152700" y="93549"/>
                  </a:cubicBezTo>
                  <a:cubicBezTo>
                    <a:pt x="1141184" y="42596"/>
                    <a:pt x="1096241" y="0"/>
                    <a:pt x="1043918" y="0"/>
                  </a:cubicBezTo>
                  <a:close/>
                </a:path>
              </a:pathLst>
            </a:custGeom>
            <a:solidFill>
              <a:schemeClr val="bg1">
                <a:lumMod val="85000"/>
              </a:schemeClr>
            </a:solidFill>
            <a:ln w="2790" cap="flat">
              <a:noFill/>
              <a:prstDash val="solid"/>
              <a:miter/>
            </a:ln>
          </p:spPr>
          <p:txBody>
            <a:bodyPr lIns="64008" tIns="32004" rIns="64008" bIns="32004" rtlCol="0" anchor="ctr"/>
            <a:lstStyle/>
            <a:p>
              <a:endParaRPr lang="en-US" sz="1000"/>
            </a:p>
          </p:txBody>
        </p:sp>
        <p:sp>
          <p:nvSpPr>
            <p:cNvPr id="330" name="Freeform: Shape 329">
              <a:extLst>
                <a:ext uri="{FF2B5EF4-FFF2-40B4-BE49-F238E27FC236}">
                  <a16:creationId xmlns:a16="http://schemas.microsoft.com/office/drawing/2014/main" id="{E3B1C42B-19DF-4FA3-AA37-CB78A9F3CA33}"/>
                </a:ext>
              </a:extLst>
            </p:cNvPr>
            <p:cNvSpPr/>
            <p:nvPr/>
          </p:nvSpPr>
          <p:spPr>
            <a:xfrm>
              <a:off x="4999482" y="3970594"/>
              <a:ext cx="631101" cy="692462"/>
            </a:xfrm>
            <a:custGeom>
              <a:avLst/>
              <a:gdLst>
                <a:gd name="connsiteX0" fmla="*/ 701774 w 1146767"/>
                <a:gd name="connsiteY0" fmla="*/ 30035 h 1258266"/>
                <a:gd name="connsiteX1" fmla="*/ 27030 w 1146767"/>
                <a:gd name="connsiteY1" fmla="*/ 704695 h 1258266"/>
                <a:gd name="connsiteX2" fmla="*/ 30664 w 1146767"/>
                <a:gd name="connsiteY2" fmla="*/ 834775 h 1258266"/>
                <a:gd name="connsiteX3" fmla="*/ 1052212 w 1146767"/>
                <a:gd name="connsiteY3" fmla="*/ 1257967 h 1258266"/>
                <a:gd name="connsiteX4" fmla="*/ 1146767 w 1146767"/>
                <a:gd name="connsiteY4" fmla="*/ 1168499 h 1258266"/>
                <a:gd name="connsiteX5" fmla="*/ 1146767 w 1146767"/>
                <a:gd name="connsiteY5" fmla="*/ 214198 h 1258266"/>
                <a:gd name="connsiteX6" fmla="*/ 1053218 w 1146767"/>
                <a:gd name="connsiteY6" fmla="*/ 105612 h 1258266"/>
                <a:gd name="connsiteX7" fmla="*/ 844738 w 1146767"/>
                <a:gd name="connsiteY7" fmla="*/ 19135 h 1258266"/>
                <a:gd name="connsiteX8" fmla="*/ 701802 w 1146767"/>
                <a:gd name="connsiteY8" fmla="*/ 30007 h 125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6767" h="1258266">
                  <a:moveTo>
                    <a:pt x="701774" y="30035"/>
                  </a:moveTo>
                  <a:lnTo>
                    <a:pt x="27030" y="704695"/>
                  </a:lnTo>
                  <a:cubicBezTo>
                    <a:pt x="-9948" y="741589"/>
                    <a:pt x="-9221" y="800871"/>
                    <a:pt x="30664" y="834775"/>
                  </a:cubicBezTo>
                  <a:cubicBezTo>
                    <a:pt x="310584" y="1072798"/>
                    <a:pt x="664069" y="1226803"/>
                    <a:pt x="1052212" y="1257967"/>
                  </a:cubicBezTo>
                  <a:cubicBezTo>
                    <a:pt x="1104339" y="1262216"/>
                    <a:pt x="1146767" y="1220710"/>
                    <a:pt x="1146767" y="1168499"/>
                  </a:cubicBezTo>
                  <a:lnTo>
                    <a:pt x="1146767" y="214198"/>
                  </a:lnTo>
                  <a:cubicBezTo>
                    <a:pt x="1146767" y="161988"/>
                    <a:pt x="1104255" y="117016"/>
                    <a:pt x="1053218" y="105612"/>
                  </a:cubicBezTo>
                  <a:cubicBezTo>
                    <a:pt x="978172" y="88758"/>
                    <a:pt x="907822" y="59215"/>
                    <a:pt x="844738" y="19135"/>
                  </a:cubicBezTo>
                  <a:cubicBezTo>
                    <a:pt x="800605" y="-8788"/>
                    <a:pt x="738780" y="-6971"/>
                    <a:pt x="701802" y="30007"/>
                  </a:cubicBezTo>
                  <a:close/>
                </a:path>
              </a:pathLst>
            </a:custGeom>
            <a:solidFill>
              <a:schemeClr val="bg1">
                <a:lumMod val="85000"/>
              </a:schemeClr>
            </a:solidFill>
            <a:ln w="2790" cap="flat">
              <a:noFill/>
              <a:prstDash val="solid"/>
              <a:miter/>
            </a:ln>
          </p:spPr>
          <p:txBody>
            <a:bodyPr lIns="64008" tIns="32004" rIns="64008" bIns="32004" rtlCol="0" anchor="ctr"/>
            <a:lstStyle/>
            <a:p>
              <a:endParaRPr lang="en-US" sz="1000"/>
            </a:p>
          </p:txBody>
        </p:sp>
        <p:sp>
          <p:nvSpPr>
            <p:cNvPr id="331" name="Freeform: Shape 330">
              <a:extLst>
                <a:ext uri="{FF2B5EF4-FFF2-40B4-BE49-F238E27FC236}">
                  <a16:creationId xmlns:a16="http://schemas.microsoft.com/office/drawing/2014/main" id="{0A037299-1874-4A55-B265-04CBE156E46F}"/>
                </a:ext>
              </a:extLst>
            </p:cNvPr>
            <p:cNvSpPr/>
            <p:nvPr/>
          </p:nvSpPr>
          <p:spPr>
            <a:xfrm>
              <a:off x="5687833" y="3970632"/>
              <a:ext cx="631075" cy="692439"/>
            </a:xfrm>
            <a:custGeom>
              <a:avLst/>
              <a:gdLst>
                <a:gd name="connsiteX0" fmla="*/ 0 w 1146720"/>
                <a:gd name="connsiteY0" fmla="*/ 214157 h 1258224"/>
                <a:gd name="connsiteX1" fmla="*/ 0 w 1146720"/>
                <a:gd name="connsiteY1" fmla="*/ 1168457 h 1258224"/>
                <a:gd name="connsiteX2" fmla="*/ 94555 w 1146720"/>
                <a:gd name="connsiteY2" fmla="*/ 1257925 h 1258224"/>
                <a:gd name="connsiteX3" fmla="*/ 1116104 w 1146720"/>
                <a:gd name="connsiteY3" fmla="*/ 834733 h 1258224"/>
                <a:gd name="connsiteX4" fmla="*/ 1119709 w 1146720"/>
                <a:gd name="connsiteY4" fmla="*/ 704653 h 1258224"/>
                <a:gd name="connsiteX5" fmla="*/ 444966 w 1146720"/>
                <a:gd name="connsiteY5" fmla="*/ 29993 h 1258224"/>
                <a:gd name="connsiteX6" fmla="*/ 302029 w 1146720"/>
                <a:gd name="connsiteY6" fmla="*/ 19205 h 1258224"/>
                <a:gd name="connsiteX7" fmla="*/ 93549 w 1146720"/>
                <a:gd name="connsiteY7" fmla="*/ 105598 h 1258224"/>
                <a:gd name="connsiteX8" fmla="*/ 0 w 1146720"/>
                <a:gd name="connsiteY8" fmla="*/ 214184 h 1258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6720" h="1258224">
                  <a:moveTo>
                    <a:pt x="0" y="214157"/>
                  </a:moveTo>
                  <a:lnTo>
                    <a:pt x="0" y="1168457"/>
                  </a:lnTo>
                  <a:cubicBezTo>
                    <a:pt x="0" y="1220668"/>
                    <a:pt x="42428" y="1262174"/>
                    <a:pt x="94555" y="1257925"/>
                  </a:cubicBezTo>
                  <a:cubicBezTo>
                    <a:pt x="482670" y="1226761"/>
                    <a:pt x="836184" y="1072756"/>
                    <a:pt x="1116104" y="834733"/>
                  </a:cubicBezTo>
                  <a:cubicBezTo>
                    <a:pt x="1155989" y="800829"/>
                    <a:pt x="1156604" y="741547"/>
                    <a:pt x="1119709" y="704653"/>
                  </a:cubicBezTo>
                  <a:lnTo>
                    <a:pt x="444966" y="29993"/>
                  </a:lnTo>
                  <a:cubicBezTo>
                    <a:pt x="408072" y="-6985"/>
                    <a:pt x="346162" y="-8802"/>
                    <a:pt x="302029" y="19205"/>
                  </a:cubicBezTo>
                  <a:cubicBezTo>
                    <a:pt x="238945" y="59173"/>
                    <a:pt x="168595" y="88744"/>
                    <a:pt x="93549" y="105598"/>
                  </a:cubicBezTo>
                  <a:cubicBezTo>
                    <a:pt x="42512" y="117002"/>
                    <a:pt x="0" y="161974"/>
                    <a:pt x="0" y="214184"/>
                  </a:cubicBezTo>
                  <a:close/>
                </a:path>
              </a:pathLst>
            </a:custGeom>
            <a:solidFill>
              <a:schemeClr val="bg1">
                <a:lumMod val="85000"/>
              </a:schemeClr>
            </a:solidFill>
            <a:ln w="2790" cap="flat">
              <a:noFill/>
              <a:prstDash val="solid"/>
              <a:miter/>
            </a:ln>
          </p:spPr>
          <p:txBody>
            <a:bodyPr lIns="64008" tIns="32004" rIns="64008" bIns="32004" rtlCol="0" anchor="ctr"/>
            <a:lstStyle/>
            <a:p>
              <a:endParaRPr lang="en-US" sz="1000"/>
            </a:p>
          </p:txBody>
        </p:sp>
        <p:sp>
          <p:nvSpPr>
            <p:cNvPr id="332" name="Freeform: Shape 331">
              <a:extLst>
                <a:ext uri="{FF2B5EF4-FFF2-40B4-BE49-F238E27FC236}">
                  <a16:creationId xmlns:a16="http://schemas.microsoft.com/office/drawing/2014/main" id="{C7F96E58-7005-49EB-8A10-B647FF8167AB}"/>
                </a:ext>
              </a:extLst>
            </p:cNvPr>
            <p:cNvSpPr/>
            <p:nvPr/>
          </p:nvSpPr>
          <p:spPr>
            <a:xfrm>
              <a:off x="5956752" y="3701682"/>
              <a:ext cx="692433" cy="631073"/>
            </a:xfrm>
            <a:custGeom>
              <a:avLst/>
              <a:gdLst>
                <a:gd name="connsiteX0" fmla="*/ 29993 w 1258214"/>
                <a:gd name="connsiteY0" fmla="*/ 444966 h 1146716"/>
                <a:gd name="connsiteX1" fmla="*/ 704653 w 1258214"/>
                <a:gd name="connsiteY1" fmla="*/ 1119709 h 1146716"/>
                <a:gd name="connsiteX2" fmla="*/ 834733 w 1258214"/>
                <a:gd name="connsiteY2" fmla="*/ 1116160 h 1146716"/>
                <a:gd name="connsiteX3" fmla="*/ 1257925 w 1258214"/>
                <a:gd name="connsiteY3" fmla="*/ 94444 h 1146716"/>
                <a:gd name="connsiteX4" fmla="*/ 1168457 w 1258214"/>
                <a:gd name="connsiteY4" fmla="*/ 0 h 1146716"/>
                <a:gd name="connsiteX5" fmla="*/ 214268 w 1258214"/>
                <a:gd name="connsiteY5" fmla="*/ 0 h 1146716"/>
                <a:gd name="connsiteX6" fmla="*/ 105598 w 1258214"/>
                <a:gd name="connsiteY6" fmla="*/ 93549 h 1146716"/>
                <a:gd name="connsiteX7" fmla="*/ 19205 w 1258214"/>
                <a:gd name="connsiteY7" fmla="*/ 302029 h 1146716"/>
                <a:gd name="connsiteX8" fmla="*/ 29993 w 1258214"/>
                <a:gd name="connsiteY8" fmla="*/ 444966 h 1146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8214" h="1146716">
                  <a:moveTo>
                    <a:pt x="29993" y="444966"/>
                  </a:moveTo>
                  <a:lnTo>
                    <a:pt x="704653" y="1119709"/>
                  </a:lnTo>
                  <a:cubicBezTo>
                    <a:pt x="741547" y="1156604"/>
                    <a:pt x="800829" y="1155961"/>
                    <a:pt x="834733" y="1116160"/>
                  </a:cubicBezTo>
                  <a:cubicBezTo>
                    <a:pt x="1072756" y="836156"/>
                    <a:pt x="1226761" y="482754"/>
                    <a:pt x="1257925" y="94444"/>
                  </a:cubicBezTo>
                  <a:cubicBezTo>
                    <a:pt x="1262090" y="42428"/>
                    <a:pt x="1220668" y="0"/>
                    <a:pt x="1168457" y="0"/>
                  </a:cubicBezTo>
                  <a:lnTo>
                    <a:pt x="214268" y="0"/>
                  </a:lnTo>
                  <a:cubicBezTo>
                    <a:pt x="161974" y="0"/>
                    <a:pt x="117002" y="42596"/>
                    <a:pt x="105598" y="93549"/>
                  </a:cubicBezTo>
                  <a:cubicBezTo>
                    <a:pt x="88744" y="168595"/>
                    <a:pt x="59201" y="238945"/>
                    <a:pt x="19205" y="302029"/>
                  </a:cubicBezTo>
                  <a:cubicBezTo>
                    <a:pt x="-8802" y="346162"/>
                    <a:pt x="-6985" y="408072"/>
                    <a:pt x="29993" y="444966"/>
                  </a:cubicBezTo>
                  <a:close/>
                </a:path>
              </a:pathLst>
            </a:custGeom>
            <a:solidFill>
              <a:schemeClr val="bg1">
                <a:lumMod val="85000"/>
              </a:schemeClr>
            </a:solidFill>
            <a:ln w="2790" cap="flat">
              <a:noFill/>
              <a:prstDash val="solid"/>
              <a:miter/>
            </a:ln>
          </p:spPr>
          <p:txBody>
            <a:bodyPr lIns="64008" tIns="32004" rIns="64008" bIns="32004" rtlCol="0" anchor="ctr"/>
            <a:lstStyle/>
            <a:p>
              <a:endParaRPr lang="en-US" sz="1000"/>
            </a:p>
          </p:txBody>
        </p:sp>
        <p:sp>
          <p:nvSpPr>
            <p:cNvPr id="333" name="Freeform: Shape 332">
              <a:extLst>
                <a:ext uri="{FF2B5EF4-FFF2-40B4-BE49-F238E27FC236}">
                  <a16:creationId xmlns:a16="http://schemas.microsoft.com/office/drawing/2014/main" id="{95120F33-E7C2-435D-AD8C-475C13F936FF}"/>
                </a:ext>
              </a:extLst>
            </p:cNvPr>
            <p:cNvSpPr/>
            <p:nvPr/>
          </p:nvSpPr>
          <p:spPr>
            <a:xfrm>
              <a:off x="5956767" y="3013359"/>
              <a:ext cx="692433" cy="631073"/>
            </a:xfrm>
            <a:custGeom>
              <a:avLst/>
              <a:gdLst>
                <a:gd name="connsiteX0" fmla="*/ 214268 w 1258214"/>
                <a:gd name="connsiteY0" fmla="*/ 1146717 h 1146716"/>
                <a:gd name="connsiteX1" fmla="*/ 1168457 w 1258214"/>
                <a:gd name="connsiteY1" fmla="*/ 1146717 h 1146716"/>
                <a:gd name="connsiteX2" fmla="*/ 1257925 w 1258214"/>
                <a:gd name="connsiteY2" fmla="*/ 1052273 h 1146716"/>
                <a:gd name="connsiteX3" fmla="*/ 834733 w 1258214"/>
                <a:gd name="connsiteY3" fmla="*/ 30557 h 1146716"/>
                <a:gd name="connsiteX4" fmla="*/ 704653 w 1258214"/>
                <a:gd name="connsiteY4" fmla="*/ 27007 h 1146716"/>
                <a:gd name="connsiteX5" fmla="*/ 29993 w 1258214"/>
                <a:gd name="connsiteY5" fmla="*/ 701751 h 1146716"/>
                <a:gd name="connsiteX6" fmla="*/ 19205 w 1258214"/>
                <a:gd name="connsiteY6" fmla="*/ 844688 h 1146716"/>
                <a:gd name="connsiteX7" fmla="*/ 105598 w 1258214"/>
                <a:gd name="connsiteY7" fmla="*/ 1053168 h 1146716"/>
                <a:gd name="connsiteX8" fmla="*/ 214268 w 1258214"/>
                <a:gd name="connsiteY8" fmla="*/ 1146717 h 1146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8214" h="1146716">
                  <a:moveTo>
                    <a:pt x="214268" y="1146717"/>
                  </a:moveTo>
                  <a:lnTo>
                    <a:pt x="1168457" y="1146717"/>
                  </a:lnTo>
                  <a:cubicBezTo>
                    <a:pt x="1220668" y="1146717"/>
                    <a:pt x="1262090" y="1104288"/>
                    <a:pt x="1257925" y="1052273"/>
                  </a:cubicBezTo>
                  <a:cubicBezTo>
                    <a:pt x="1226761" y="663962"/>
                    <a:pt x="1072756" y="310533"/>
                    <a:pt x="834733" y="30557"/>
                  </a:cubicBezTo>
                  <a:cubicBezTo>
                    <a:pt x="800829" y="-9244"/>
                    <a:pt x="741631" y="-9887"/>
                    <a:pt x="704653" y="27007"/>
                  </a:cubicBezTo>
                  <a:lnTo>
                    <a:pt x="29993" y="701751"/>
                  </a:lnTo>
                  <a:cubicBezTo>
                    <a:pt x="-6985" y="738645"/>
                    <a:pt x="-8802" y="800555"/>
                    <a:pt x="19205" y="844688"/>
                  </a:cubicBezTo>
                  <a:cubicBezTo>
                    <a:pt x="59173" y="907771"/>
                    <a:pt x="88744" y="978122"/>
                    <a:pt x="105598" y="1053168"/>
                  </a:cubicBezTo>
                  <a:cubicBezTo>
                    <a:pt x="117002" y="1104121"/>
                    <a:pt x="161974" y="1146717"/>
                    <a:pt x="214268" y="1146717"/>
                  </a:cubicBezTo>
                  <a:close/>
                </a:path>
              </a:pathLst>
            </a:custGeom>
            <a:solidFill>
              <a:schemeClr val="tx2">
                <a:lumMod val="20000"/>
                <a:lumOff val="80000"/>
              </a:schemeClr>
            </a:solidFill>
            <a:ln w="2790" cap="flat">
              <a:noFill/>
              <a:prstDash val="solid"/>
              <a:miter/>
            </a:ln>
          </p:spPr>
          <p:txBody>
            <a:bodyPr lIns="64008" tIns="32004" rIns="64008" bIns="32004" rtlCol="0" anchor="ctr"/>
            <a:lstStyle/>
            <a:p>
              <a:endParaRPr lang="en-US" sz="1000"/>
            </a:p>
          </p:txBody>
        </p:sp>
        <p:sp>
          <p:nvSpPr>
            <p:cNvPr id="334" name="Freeform: Shape 333">
              <a:extLst>
                <a:ext uri="{FF2B5EF4-FFF2-40B4-BE49-F238E27FC236}">
                  <a16:creationId xmlns:a16="http://schemas.microsoft.com/office/drawing/2014/main" id="{6337D39E-560D-4099-BD38-CA6D1E303B5A}"/>
                </a:ext>
              </a:extLst>
            </p:cNvPr>
            <p:cNvSpPr/>
            <p:nvPr/>
          </p:nvSpPr>
          <p:spPr>
            <a:xfrm>
              <a:off x="5687818" y="2683058"/>
              <a:ext cx="631102" cy="692447"/>
            </a:xfrm>
            <a:custGeom>
              <a:avLst/>
              <a:gdLst>
                <a:gd name="connsiteX0" fmla="*/ 444994 w 1146770"/>
                <a:gd name="connsiteY0" fmla="*/ 1228232 h 1258238"/>
                <a:gd name="connsiteX1" fmla="*/ 1119737 w 1146770"/>
                <a:gd name="connsiteY1" fmla="*/ 553572 h 1258238"/>
                <a:gd name="connsiteX2" fmla="*/ 1116132 w 1146770"/>
                <a:gd name="connsiteY2" fmla="*/ 423492 h 1258238"/>
                <a:gd name="connsiteX3" fmla="*/ 94555 w 1146770"/>
                <a:gd name="connsiteY3" fmla="*/ 299 h 1258238"/>
                <a:gd name="connsiteX4" fmla="*/ 0 w 1146770"/>
                <a:gd name="connsiteY4" fmla="*/ 89768 h 1258238"/>
                <a:gd name="connsiteX5" fmla="*/ 0 w 1146770"/>
                <a:gd name="connsiteY5" fmla="*/ 1044040 h 1258238"/>
                <a:gd name="connsiteX6" fmla="*/ 93549 w 1146770"/>
                <a:gd name="connsiteY6" fmla="*/ 1152627 h 1258238"/>
                <a:gd name="connsiteX7" fmla="*/ 302029 w 1146770"/>
                <a:gd name="connsiteY7" fmla="*/ 1239104 h 1258238"/>
                <a:gd name="connsiteX8" fmla="*/ 444966 w 1146770"/>
                <a:gd name="connsiteY8" fmla="*/ 1228232 h 1258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6770" h="1258238">
                  <a:moveTo>
                    <a:pt x="444994" y="1228232"/>
                  </a:moveTo>
                  <a:lnTo>
                    <a:pt x="1119737" y="553572"/>
                  </a:lnTo>
                  <a:cubicBezTo>
                    <a:pt x="1156715" y="516678"/>
                    <a:pt x="1155989" y="457396"/>
                    <a:pt x="1116132" y="423492"/>
                  </a:cubicBezTo>
                  <a:cubicBezTo>
                    <a:pt x="836212" y="185469"/>
                    <a:pt x="482698" y="31464"/>
                    <a:pt x="94555" y="299"/>
                  </a:cubicBezTo>
                  <a:cubicBezTo>
                    <a:pt x="42428" y="-3949"/>
                    <a:pt x="0" y="37557"/>
                    <a:pt x="0" y="89768"/>
                  </a:cubicBezTo>
                  <a:lnTo>
                    <a:pt x="0" y="1044040"/>
                  </a:lnTo>
                  <a:cubicBezTo>
                    <a:pt x="0" y="1096251"/>
                    <a:pt x="42512" y="1141223"/>
                    <a:pt x="93549" y="1152627"/>
                  </a:cubicBezTo>
                  <a:cubicBezTo>
                    <a:pt x="168679" y="1169481"/>
                    <a:pt x="238946" y="1199024"/>
                    <a:pt x="302029" y="1239104"/>
                  </a:cubicBezTo>
                  <a:cubicBezTo>
                    <a:pt x="346162" y="1267026"/>
                    <a:pt x="408072" y="1265210"/>
                    <a:pt x="444966" y="1228232"/>
                  </a:cubicBezTo>
                  <a:close/>
                </a:path>
              </a:pathLst>
            </a:custGeom>
            <a:solidFill>
              <a:schemeClr val="tx2">
                <a:lumMod val="20000"/>
                <a:lumOff val="80000"/>
              </a:schemeClr>
            </a:solidFill>
            <a:ln w="2790" cap="flat">
              <a:noFill/>
              <a:prstDash val="solid"/>
              <a:miter/>
            </a:ln>
          </p:spPr>
          <p:txBody>
            <a:bodyPr lIns="64008" tIns="32004" rIns="64008" bIns="32004" rtlCol="0" anchor="ctr"/>
            <a:lstStyle/>
            <a:p>
              <a:endParaRPr lang="en-US" sz="1000"/>
            </a:p>
          </p:txBody>
        </p:sp>
        <p:sp>
          <p:nvSpPr>
            <p:cNvPr id="335" name="Freeform: Shape 334">
              <a:extLst>
                <a:ext uri="{FF2B5EF4-FFF2-40B4-BE49-F238E27FC236}">
                  <a16:creationId xmlns:a16="http://schemas.microsoft.com/office/drawing/2014/main" id="{D4710A72-AEB2-4662-9548-EA97C257F8B5}"/>
                </a:ext>
              </a:extLst>
            </p:cNvPr>
            <p:cNvSpPr/>
            <p:nvPr/>
          </p:nvSpPr>
          <p:spPr>
            <a:xfrm>
              <a:off x="4999482" y="2683043"/>
              <a:ext cx="631085" cy="692455"/>
            </a:xfrm>
            <a:custGeom>
              <a:avLst/>
              <a:gdLst>
                <a:gd name="connsiteX0" fmla="*/ 1146739 w 1146739"/>
                <a:gd name="connsiteY0" fmla="*/ 1044068 h 1258252"/>
                <a:gd name="connsiteX1" fmla="*/ 1146739 w 1146739"/>
                <a:gd name="connsiteY1" fmla="*/ 89768 h 1258252"/>
                <a:gd name="connsiteX2" fmla="*/ 1052184 w 1146739"/>
                <a:gd name="connsiteY2" fmla="*/ 299 h 1258252"/>
                <a:gd name="connsiteX3" fmla="*/ 30664 w 1146739"/>
                <a:gd name="connsiteY3" fmla="*/ 423520 h 1258252"/>
                <a:gd name="connsiteX4" fmla="*/ 27030 w 1146739"/>
                <a:gd name="connsiteY4" fmla="*/ 553600 h 1258252"/>
                <a:gd name="connsiteX5" fmla="*/ 701774 w 1146739"/>
                <a:gd name="connsiteY5" fmla="*/ 1228260 h 1258252"/>
                <a:gd name="connsiteX6" fmla="*/ 844794 w 1146739"/>
                <a:gd name="connsiteY6" fmla="*/ 1239048 h 1258252"/>
                <a:gd name="connsiteX7" fmla="*/ 1053190 w 1146739"/>
                <a:gd name="connsiteY7" fmla="*/ 1152655 h 1258252"/>
                <a:gd name="connsiteX8" fmla="*/ 1146739 w 1146739"/>
                <a:gd name="connsiteY8" fmla="*/ 1044068 h 125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6739" h="1258252">
                  <a:moveTo>
                    <a:pt x="1146739" y="1044068"/>
                  </a:moveTo>
                  <a:lnTo>
                    <a:pt x="1146739" y="89768"/>
                  </a:lnTo>
                  <a:cubicBezTo>
                    <a:pt x="1146739" y="37557"/>
                    <a:pt x="1104311" y="-3949"/>
                    <a:pt x="1052184" y="299"/>
                  </a:cubicBezTo>
                  <a:cubicBezTo>
                    <a:pt x="664069" y="31492"/>
                    <a:pt x="310556" y="185497"/>
                    <a:pt x="30664" y="423520"/>
                  </a:cubicBezTo>
                  <a:cubicBezTo>
                    <a:pt x="-9221" y="457423"/>
                    <a:pt x="-9948" y="516706"/>
                    <a:pt x="27030" y="553600"/>
                  </a:cubicBezTo>
                  <a:lnTo>
                    <a:pt x="701774" y="1228260"/>
                  </a:lnTo>
                  <a:cubicBezTo>
                    <a:pt x="738752" y="1265238"/>
                    <a:pt x="800577" y="1267054"/>
                    <a:pt x="844794" y="1239048"/>
                  </a:cubicBezTo>
                  <a:cubicBezTo>
                    <a:pt x="907794" y="1199080"/>
                    <a:pt x="978116" y="1169536"/>
                    <a:pt x="1053190" y="1152655"/>
                  </a:cubicBezTo>
                  <a:cubicBezTo>
                    <a:pt x="1104227" y="1141251"/>
                    <a:pt x="1146739" y="1096279"/>
                    <a:pt x="1146739" y="1044068"/>
                  </a:cubicBezTo>
                  <a:close/>
                </a:path>
              </a:pathLst>
            </a:custGeom>
            <a:solidFill>
              <a:schemeClr val="tx2">
                <a:lumMod val="20000"/>
                <a:lumOff val="80000"/>
              </a:schemeClr>
            </a:solidFill>
            <a:ln w="2790" cap="flat">
              <a:noFill/>
              <a:prstDash val="solid"/>
              <a:miter/>
            </a:ln>
          </p:spPr>
          <p:txBody>
            <a:bodyPr lIns="64008" tIns="32004" rIns="64008" bIns="32004" rtlCol="0" anchor="ctr"/>
            <a:lstStyle/>
            <a:p>
              <a:endParaRPr lang="en-US" sz="1000"/>
            </a:p>
          </p:txBody>
        </p:sp>
        <p:sp>
          <p:nvSpPr>
            <p:cNvPr id="336" name="Freeform: Shape 335">
              <a:extLst>
                <a:ext uri="{FF2B5EF4-FFF2-40B4-BE49-F238E27FC236}">
                  <a16:creationId xmlns:a16="http://schemas.microsoft.com/office/drawing/2014/main" id="{AAE29940-356E-4565-9899-DA57C5A4AD84}"/>
                </a:ext>
              </a:extLst>
            </p:cNvPr>
            <p:cNvSpPr/>
            <p:nvPr/>
          </p:nvSpPr>
          <p:spPr>
            <a:xfrm>
              <a:off x="4669200" y="3013343"/>
              <a:ext cx="692460" cy="631073"/>
            </a:xfrm>
            <a:custGeom>
              <a:avLst/>
              <a:gdLst>
                <a:gd name="connsiteX0" fmla="*/ 1228333 w 1258263"/>
                <a:gd name="connsiteY0" fmla="*/ 701751 h 1146716"/>
                <a:gd name="connsiteX1" fmla="*/ 553589 w 1258263"/>
                <a:gd name="connsiteY1" fmla="*/ 27007 h 1146716"/>
                <a:gd name="connsiteX2" fmla="*/ 423509 w 1258263"/>
                <a:gd name="connsiteY2" fmla="*/ 30557 h 1146716"/>
                <a:gd name="connsiteX3" fmla="*/ 289 w 1258263"/>
                <a:gd name="connsiteY3" fmla="*/ 1052273 h 1146716"/>
                <a:gd name="connsiteX4" fmla="*/ 89757 w 1258263"/>
                <a:gd name="connsiteY4" fmla="*/ 1146717 h 1146716"/>
                <a:gd name="connsiteX5" fmla="*/ 1043946 w 1258263"/>
                <a:gd name="connsiteY5" fmla="*/ 1146717 h 1146716"/>
                <a:gd name="connsiteX6" fmla="*/ 1152728 w 1258263"/>
                <a:gd name="connsiteY6" fmla="*/ 1053168 h 1146716"/>
                <a:gd name="connsiteX7" fmla="*/ 1239121 w 1258263"/>
                <a:gd name="connsiteY7" fmla="*/ 844688 h 1146716"/>
                <a:gd name="connsiteX8" fmla="*/ 1228333 w 1258263"/>
                <a:gd name="connsiteY8" fmla="*/ 701751 h 1146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8263" h="1146716">
                  <a:moveTo>
                    <a:pt x="1228333" y="701751"/>
                  </a:moveTo>
                  <a:lnTo>
                    <a:pt x="553589" y="27007"/>
                  </a:lnTo>
                  <a:cubicBezTo>
                    <a:pt x="516611" y="-9887"/>
                    <a:pt x="457413" y="-9244"/>
                    <a:pt x="423509" y="30557"/>
                  </a:cubicBezTo>
                  <a:cubicBezTo>
                    <a:pt x="185486" y="310561"/>
                    <a:pt x="31481" y="663962"/>
                    <a:pt x="289" y="1052273"/>
                  </a:cubicBezTo>
                  <a:cubicBezTo>
                    <a:pt x="-3876" y="1104288"/>
                    <a:pt x="37546" y="1146717"/>
                    <a:pt x="89757" y="1146717"/>
                  </a:cubicBezTo>
                  <a:lnTo>
                    <a:pt x="1043946" y="1146717"/>
                  </a:lnTo>
                  <a:cubicBezTo>
                    <a:pt x="1096241" y="1146717"/>
                    <a:pt x="1141212" y="1104121"/>
                    <a:pt x="1152728" y="1053168"/>
                  </a:cubicBezTo>
                  <a:cubicBezTo>
                    <a:pt x="1169498" y="978122"/>
                    <a:pt x="1199041" y="907771"/>
                    <a:pt x="1239121" y="844688"/>
                  </a:cubicBezTo>
                  <a:cubicBezTo>
                    <a:pt x="1267044" y="800555"/>
                    <a:pt x="1265227" y="738645"/>
                    <a:pt x="1228333" y="701751"/>
                  </a:cubicBezTo>
                  <a:close/>
                </a:path>
              </a:pathLst>
            </a:custGeom>
            <a:solidFill>
              <a:schemeClr val="tx2">
                <a:lumMod val="20000"/>
                <a:lumOff val="80000"/>
              </a:schemeClr>
            </a:solidFill>
            <a:ln w="2790" cap="flat">
              <a:noFill/>
              <a:prstDash val="solid"/>
              <a:miter/>
            </a:ln>
          </p:spPr>
          <p:txBody>
            <a:bodyPr lIns="64008" tIns="32004" rIns="64008" bIns="32004" rtlCol="0" anchor="ctr"/>
            <a:lstStyle/>
            <a:p>
              <a:endParaRPr lang="en-US" sz="1000"/>
            </a:p>
          </p:txBody>
        </p:sp>
      </p:grpSp>
      <p:sp>
        <p:nvSpPr>
          <p:cNvPr id="337" name="TextBox 336">
            <a:extLst>
              <a:ext uri="{FF2B5EF4-FFF2-40B4-BE49-F238E27FC236}">
                <a16:creationId xmlns:a16="http://schemas.microsoft.com/office/drawing/2014/main" id="{F18002B5-7B41-4B9E-95D0-D748D59569B7}"/>
              </a:ext>
            </a:extLst>
          </p:cNvPr>
          <p:cNvSpPr txBox="1"/>
          <p:nvPr/>
        </p:nvSpPr>
        <p:spPr>
          <a:xfrm>
            <a:off x="4247474" y="2033568"/>
            <a:ext cx="936000" cy="307777"/>
          </a:xfrm>
          <a:prstGeom prst="rect">
            <a:avLst/>
          </a:prstGeom>
          <a:noFill/>
        </p:spPr>
        <p:txBody>
          <a:bodyPr vert="horz" wrap="square" lIns="0" tIns="0" rIns="0" bIns="0" rtlCol="0" anchor="b" anchorCtr="0">
            <a:noAutofit/>
          </a:bodyPr>
          <a:lstStyle/>
          <a:p>
            <a:pPr algn="r">
              <a:buClr>
                <a:srgbClr val="29BA74">
                  <a:lumMod val="100000"/>
                </a:srgbClr>
              </a:buClr>
              <a:buSzPct val="100000"/>
              <a:buFont typeface="Trebuchet MS" panose="020B0603020202020204" pitchFamily="34" charset="0"/>
              <a:buChar char="​"/>
            </a:pPr>
            <a:r>
              <a:rPr lang="en-US" sz="1000" b="1">
                <a:solidFill>
                  <a:schemeClr val="tx2"/>
                </a:solidFill>
                <a:latin typeface="Trebuchet MS" panose="020B0603020202020204" pitchFamily="34" charset="0"/>
                <a:sym typeface="+mn-lt"/>
              </a:rPr>
              <a:t>Squad Lead </a:t>
            </a:r>
            <a:r>
              <a:rPr lang="en-US" sz="1000">
                <a:solidFill>
                  <a:schemeClr val="tx2"/>
                </a:solidFill>
                <a:latin typeface="Trebuchet MS" panose="020B0603020202020204" pitchFamily="34" charset="0"/>
                <a:sym typeface="+mn-lt"/>
              </a:rPr>
              <a:t>(</a:t>
            </a:r>
            <a:r>
              <a:rPr lang="en-US" sz="1000" err="1">
                <a:solidFill>
                  <a:schemeClr val="tx2"/>
                </a:solidFill>
                <a:latin typeface="Trebuchet MS" panose="020B0603020202020204" pitchFamily="34" charset="0"/>
                <a:sym typeface="+mn-lt"/>
              </a:rPr>
              <a:t>CLM</a:t>
            </a:r>
            <a:r>
              <a:rPr lang="en-US" sz="1000">
                <a:solidFill>
                  <a:schemeClr val="tx2"/>
                </a:solidFill>
                <a:latin typeface="Trebuchet MS" panose="020B0603020202020204" pitchFamily="34" charset="0"/>
                <a:sym typeface="+mn-lt"/>
              </a:rPr>
              <a:t>)</a:t>
            </a:r>
          </a:p>
        </p:txBody>
      </p:sp>
      <p:sp>
        <p:nvSpPr>
          <p:cNvPr id="338" name="TextBox 337">
            <a:extLst>
              <a:ext uri="{FF2B5EF4-FFF2-40B4-BE49-F238E27FC236}">
                <a16:creationId xmlns:a16="http://schemas.microsoft.com/office/drawing/2014/main" id="{DE2CDCD3-3B96-4DFD-9464-B52BFCD544C8}"/>
              </a:ext>
            </a:extLst>
          </p:cNvPr>
          <p:cNvSpPr txBox="1"/>
          <p:nvPr/>
        </p:nvSpPr>
        <p:spPr>
          <a:xfrm>
            <a:off x="5372474" y="2033568"/>
            <a:ext cx="720000" cy="307777"/>
          </a:xfrm>
          <a:prstGeom prst="rect">
            <a:avLst/>
          </a:prstGeom>
          <a:noFill/>
        </p:spPr>
        <p:txBody>
          <a:bodyPr vert="horz" wrap="square" lIns="0" tIns="0" rIns="0" bIns="0" rtlCol="0" anchor="t" anchorCtr="0">
            <a:noAutofit/>
          </a:bodyPr>
          <a:lstStyle/>
          <a:p>
            <a:pPr>
              <a:buSzPct val="100000"/>
            </a:pPr>
            <a:r>
              <a:rPr lang="en-US" sz="1000" b="1">
                <a:sym typeface="+mn-lt"/>
              </a:rPr>
              <a:t>Data Scientist</a:t>
            </a:r>
          </a:p>
        </p:txBody>
      </p:sp>
      <p:sp>
        <p:nvSpPr>
          <p:cNvPr id="339" name="TextBox 338">
            <a:extLst>
              <a:ext uri="{FF2B5EF4-FFF2-40B4-BE49-F238E27FC236}">
                <a16:creationId xmlns:a16="http://schemas.microsoft.com/office/drawing/2014/main" id="{81114776-27C1-4D49-8F87-6BDF20B4BB91}"/>
              </a:ext>
            </a:extLst>
          </p:cNvPr>
          <p:cNvSpPr txBox="1"/>
          <p:nvPr/>
        </p:nvSpPr>
        <p:spPr>
          <a:xfrm>
            <a:off x="6048093" y="2701316"/>
            <a:ext cx="720000" cy="307777"/>
          </a:xfrm>
          <a:prstGeom prst="rect">
            <a:avLst/>
          </a:prstGeom>
          <a:noFill/>
        </p:spPr>
        <p:txBody>
          <a:bodyPr vert="horz" wrap="square" lIns="0" tIns="0" rIns="0" bIns="0" rtlCol="0" anchor="t" anchorCtr="0">
            <a:noAutofit/>
          </a:bodyPr>
          <a:lstStyle/>
          <a:p>
            <a:pPr>
              <a:buClr>
                <a:srgbClr val="29BA74">
                  <a:lumMod val="100000"/>
                </a:srgbClr>
              </a:buClr>
              <a:buSzPct val="100000"/>
              <a:buFont typeface="Trebuchet MS" panose="020B0603020202020204" pitchFamily="34" charset="0"/>
              <a:buChar char="​"/>
            </a:pPr>
            <a:r>
              <a:rPr lang="en-US" sz="1000" b="1">
                <a:sym typeface="+mn-lt"/>
              </a:rPr>
              <a:t>Business Analyst</a:t>
            </a:r>
          </a:p>
        </p:txBody>
      </p:sp>
      <p:sp>
        <p:nvSpPr>
          <p:cNvPr id="340" name="TextBox 339">
            <a:extLst>
              <a:ext uri="{FF2B5EF4-FFF2-40B4-BE49-F238E27FC236}">
                <a16:creationId xmlns:a16="http://schemas.microsoft.com/office/drawing/2014/main" id="{04E264F2-6838-42BD-AECA-1319CA536F2A}"/>
              </a:ext>
            </a:extLst>
          </p:cNvPr>
          <p:cNvSpPr txBox="1"/>
          <p:nvPr/>
        </p:nvSpPr>
        <p:spPr>
          <a:xfrm>
            <a:off x="3787855" y="3237988"/>
            <a:ext cx="720000" cy="307777"/>
          </a:xfrm>
          <a:prstGeom prst="rect">
            <a:avLst/>
          </a:prstGeom>
          <a:noFill/>
        </p:spPr>
        <p:txBody>
          <a:bodyPr vert="horz" wrap="square" lIns="0" tIns="0" rIns="0" bIns="0" rtlCol="0" anchor="t" anchorCtr="0">
            <a:noAutofit/>
          </a:bodyPr>
          <a:lstStyle/>
          <a:p>
            <a:pPr algn="r">
              <a:buClr>
                <a:srgbClr val="29BA74">
                  <a:lumMod val="100000"/>
                </a:srgbClr>
              </a:buClr>
              <a:buSzPct val="100000"/>
              <a:buFont typeface="Trebuchet MS" panose="020B0603020202020204" pitchFamily="34" charset="0"/>
              <a:buChar char="​"/>
            </a:pPr>
            <a:r>
              <a:rPr lang="en-US" sz="1000" b="1">
                <a:sym typeface="+mn-lt"/>
              </a:rPr>
              <a:t>Data Engineer</a:t>
            </a:r>
          </a:p>
        </p:txBody>
      </p:sp>
      <p:sp>
        <p:nvSpPr>
          <p:cNvPr id="341" name="TextBox 340">
            <a:extLst>
              <a:ext uri="{FF2B5EF4-FFF2-40B4-BE49-F238E27FC236}">
                <a16:creationId xmlns:a16="http://schemas.microsoft.com/office/drawing/2014/main" id="{285BF45E-00DC-4ADF-B7CA-D785FD8F8324}"/>
              </a:ext>
            </a:extLst>
          </p:cNvPr>
          <p:cNvSpPr txBox="1"/>
          <p:nvPr/>
        </p:nvSpPr>
        <p:spPr>
          <a:xfrm>
            <a:off x="3534924" y="2701316"/>
            <a:ext cx="936000" cy="307777"/>
          </a:xfrm>
          <a:prstGeom prst="rect">
            <a:avLst/>
          </a:prstGeom>
          <a:noFill/>
        </p:spPr>
        <p:txBody>
          <a:bodyPr vert="horz" wrap="square" lIns="0" tIns="0" rIns="0" bIns="0" rtlCol="0" anchor="t" anchorCtr="0">
            <a:noAutofit/>
          </a:bodyPr>
          <a:lstStyle/>
          <a:p>
            <a:pPr algn="r">
              <a:buClr>
                <a:srgbClr val="29BA74">
                  <a:lumMod val="100000"/>
                </a:srgbClr>
              </a:buClr>
              <a:buSzPct val="100000"/>
              <a:buFont typeface="Trebuchet MS" panose="020B0603020202020204" pitchFamily="34" charset="0"/>
              <a:buChar char="​"/>
            </a:pPr>
            <a:r>
              <a:rPr lang="en-US" sz="1000" b="1">
                <a:sym typeface="+mn-lt"/>
              </a:rPr>
              <a:t>Product Representative</a:t>
            </a:r>
          </a:p>
        </p:txBody>
      </p:sp>
      <p:sp>
        <p:nvSpPr>
          <p:cNvPr id="342" name="TextBox 341">
            <a:extLst>
              <a:ext uri="{FF2B5EF4-FFF2-40B4-BE49-F238E27FC236}">
                <a16:creationId xmlns:a16="http://schemas.microsoft.com/office/drawing/2014/main" id="{A94ADE51-C208-465C-9BD6-DF7599072140}"/>
              </a:ext>
            </a:extLst>
          </p:cNvPr>
          <p:cNvSpPr txBox="1"/>
          <p:nvPr/>
        </p:nvSpPr>
        <p:spPr>
          <a:xfrm>
            <a:off x="6048093" y="3237988"/>
            <a:ext cx="720000" cy="30777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buClr>
                <a:srgbClr val="29BA74">
                  <a:lumMod val="100000"/>
                </a:srgbClr>
              </a:buClr>
              <a:buSzPct val="100000"/>
              <a:buFont typeface="Trebuchet MS" panose="020B0603020202020204" pitchFamily="34" charset="0"/>
              <a:buChar char="​"/>
            </a:pPr>
            <a:r>
              <a:rPr lang="en-US" sz="1000" b="1">
                <a:solidFill>
                  <a:schemeClr val="tx1"/>
                </a:solidFill>
              </a:rPr>
              <a:t>Segment PIC</a:t>
            </a:r>
          </a:p>
        </p:txBody>
      </p:sp>
      <p:sp>
        <p:nvSpPr>
          <p:cNvPr id="343" name="TextBox 342">
            <a:extLst>
              <a:ext uri="{FF2B5EF4-FFF2-40B4-BE49-F238E27FC236}">
                <a16:creationId xmlns:a16="http://schemas.microsoft.com/office/drawing/2014/main" id="{E380EAAC-7457-4D5A-8402-0F4F99784C41}"/>
              </a:ext>
            </a:extLst>
          </p:cNvPr>
          <p:cNvSpPr txBox="1"/>
          <p:nvPr/>
        </p:nvSpPr>
        <p:spPr>
          <a:xfrm>
            <a:off x="4463474" y="3869125"/>
            <a:ext cx="720000" cy="30777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algn="r">
              <a:buClr>
                <a:srgbClr val="29BA74">
                  <a:lumMod val="100000"/>
                </a:srgbClr>
              </a:buClr>
              <a:buSzPct val="100000"/>
              <a:buFont typeface="Trebuchet MS" panose="020B0603020202020204" pitchFamily="34" charset="0"/>
              <a:buChar char="​"/>
            </a:pPr>
            <a:r>
              <a:rPr lang="en-US" sz="1000" b="1">
                <a:solidFill>
                  <a:schemeClr val="tx1"/>
                </a:solidFill>
              </a:rPr>
              <a:t>Go-to-Market PIC</a:t>
            </a:r>
          </a:p>
        </p:txBody>
      </p:sp>
      <p:sp>
        <p:nvSpPr>
          <p:cNvPr id="344" name="TextBox 343">
            <a:extLst>
              <a:ext uri="{FF2B5EF4-FFF2-40B4-BE49-F238E27FC236}">
                <a16:creationId xmlns:a16="http://schemas.microsoft.com/office/drawing/2014/main" id="{0A82FBBC-0B13-460B-BBF4-55A72AD81ABC}"/>
              </a:ext>
            </a:extLst>
          </p:cNvPr>
          <p:cNvSpPr txBox="1"/>
          <p:nvPr/>
        </p:nvSpPr>
        <p:spPr>
          <a:xfrm>
            <a:off x="5372474" y="3869125"/>
            <a:ext cx="720000" cy="30777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buClr>
                <a:srgbClr val="29BA74">
                  <a:lumMod val="100000"/>
                </a:srgbClr>
              </a:buClr>
              <a:buSzPct val="100000"/>
              <a:buFont typeface="Trebuchet MS" panose="020B0603020202020204" pitchFamily="34" charset="0"/>
              <a:buChar char="​"/>
            </a:pPr>
            <a:r>
              <a:rPr lang="en-US" sz="1000" b="1">
                <a:solidFill>
                  <a:schemeClr val="tx1"/>
                </a:solidFill>
              </a:rPr>
              <a:t>Marketing Comms PIC</a:t>
            </a:r>
          </a:p>
        </p:txBody>
      </p:sp>
      <p:sp>
        <p:nvSpPr>
          <p:cNvPr id="345" name="Oval 25">
            <a:extLst>
              <a:ext uri="{FF2B5EF4-FFF2-40B4-BE49-F238E27FC236}">
                <a16:creationId xmlns:a16="http://schemas.microsoft.com/office/drawing/2014/main" id="{FBDDFAB6-1F03-4289-8117-66062BEA5116}"/>
              </a:ext>
            </a:extLst>
          </p:cNvPr>
          <p:cNvSpPr/>
          <p:nvPr/>
        </p:nvSpPr>
        <p:spPr>
          <a:xfrm rot="5400000" flipH="1">
            <a:off x="2853522" y="5851098"/>
            <a:ext cx="360000" cy="360000"/>
          </a:xfrm>
          <a:custGeom>
            <a:avLst/>
            <a:gdLst>
              <a:gd name="connsiteX0" fmla="*/ 0 w 269758"/>
              <a:gd name="connsiteY0" fmla="*/ 134879 h 269758"/>
              <a:gd name="connsiteX1" fmla="*/ 134879 w 269758"/>
              <a:gd name="connsiteY1" fmla="*/ 0 h 269758"/>
              <a:gd name="connsiteX2" fmla="*/ 269758 w 269758"/>
              <a:gd name="connsiteY2" fmla="*/ 134879 h 269758"/>
              <a:gd name="connsiteX3" fmla="*/ 134879 w 269758"/>
              <a:gd name="connsiteY3" fmla="*/ 269758 h 269758"/>
              <a:gd name="connsiteX4" fmla="*/ 0 w 269758"/>
              <a:gd name="connsiteY4" fmla="*/ 134879 h 269758"/>
              <a:gd name="connsiteX0" fmla="*/ 269758 w 361198"/>
              <a:gd name="connsiteY0" fmla="*/ 134879 h 269758"/>
              <a:gd name="connsiteX1" fmla="*/ 134879 w 361198"/>
              <a:gd name="connsiteY1" fmla="*/ 269758 h 269758"/>
              <a:gd name="connsiteX2" fmla="*/ 0 w 361198"/>
              <a:gd name="connsiteY2" fmla="*/ 134879 h 269758"/>
              <a:gd name="connsiteX3" fmla="*/ 134879 w 361198"/>
              <a:gd name="connsiteY3" fmla="*/ 0 h 269758"/>
              <a:gd name="connsiteX4" fmla="*/ 361198 w 361198"/>
              <a:gd name="connsiteY4" fmla="*/ 226319 h 269758"/>
              <a:gd name="connsiteX0" fmla="*/ 269758 w 269758"/>
              <a:gd name="connsiteY0" fmla="*/ 134879 h 269758"/>
              <a:gd name="connsiteX1" fmla="*/ 134879 w 269758"/>
              <a:gd name="connsiteY1" fmla="*/ 269758 h 269758"/>
              <a:gd name="connsiteX2" fmla="*/ 0 w 269758"/>
              <a:gd name="connsiteY2" fmla="*/ 134879 h 269758"/>
              <a:gd name="connsiteX3" fmla="*/ 134879 w 269758"/>
              <a:gd name="connsiteY3" fmla="*/ 0 h 269758"/>
              <a:gd name="connsiteX0" fmla="*/ 134879 w 134879"/>
              <a:gd name="connsiteY0" fmla="*/ 269758 h 269758"/>
              <a:gd name="connsiteX1" fmla="*/ 0 w 134879"/>
              <a:gd name="connsiteY1" fmla="*/ 134879 h 269758"/>
              <a:gd name="connsiteX2" fmla="*/ 134879 w 134879"/>
              <a:gd name="connsiteY2" fmla="*/ 0 h 269758"/>
              <a:gd name="connsiteX0" fmla="*/ 0 w 134879"/>
              <a:gd name="connsiteY0" fmla="*/ 134879 h 134879"/>
              <a:gd name="connsiteX1" fmla="*/ 134879 w 134879"/>
              <a:gd name="connsiteY1" fmla="*/ 0 h 134879"/>
            </a:gdLst>
            <a:ahLst/>
            <a:cxnLst>
              <a:cxn ang="0">
                <a:pos x="connsiteX0" y="connsiteY0"/>
              </a:cxn>
              <a:cxn ang="0">
                <a:pos x="connsiteX1" y="connsiteY1"/>
              </a:cxn>
            </a:cxnLst>
            <a:rect l="l" t="t" r="r" b="b"/>
            <a:pathLst>
              <a:path w="134879" h="134879">
                <a:moveTo>
                  <a:pt x="0" y="134879"/>
                </a:moveTo>
                <a:cubicBezTo>
                  <a:pt x="0" y="60387"/>
                  <a:pt x="60387" y="0"/>
                  <a:pt x="134879" y="0"/>
                </a:cubicBezTo>
              </a:path>
            </a:pathLst>
          </a:custGeom>
          <a:ln w="25400" cap="rnd">
            <a:solidFill>
              <a:schemeClr val="bg1">
                <a:lumMod val="85000"/>
              </a:schemeClr>
            </a:solidFill>
            <a:prstDash val="solid"/>
            <a:round/>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cxnSp>
        <p:nvCxnSpPr>
          <p:cNvPr id="346" name="Straight Connector 345">
            <a:extLst>
              <a:ext uri="{FF2B5EF4-FFF2-40B4-BE49-F238E27FC236}">
                <a16:creationId xmlns:a16="http://schemas.microsoft.com/office/drawing/2014/main" id="{CC0CD7FC-55D2-4CA1-8904-DFC10A6F3928}"/>
              </a:ext>
            </a:extLst>
          </p:cNvPr>
          <p:cNvCxnSpPr>
            <a:cxnSpLocks/>
            <a:stCxn id="345" idx="1"/>
            <a:endCxn id="352" idx="1"/>
          </p:cNvCxnSpPr>
          <p:nvPr/>
        </p:nvCxnSpPr>
        <p:spPr>
          <a:xfrm flipH="1" flipV="1">
            <a:off x="3213520" y="1842546"/>
            <a:ext cx="2" cy="4008552"/>
          </a:xfrm>
          <a:prstGeom prst="line">
            <a:avLst/>
          </a:prstGeom>
          <a:ln w="25400" cap="rnd">
            <a:solidFill>
              <a:schemeClr val="bg1">
                <a:lumMod val="85000"/>
              </a:schemeClr>
            </a:solidFill>
            <a:prstDash val="solid"/>
            <a:round/>
            <a:tailEnd type="none" w="med" len="sm"/>
          </a:ln>
        </p:spPr>
        <p:style>
          <a:lnRef idx="1">
            <a:schemeClr val="accent1"/>
          </a:lnRef>
          <a:fillRef idx="0">
            <a:schemeClr val="accent1"/>
          </a:fillRef>
          <a:effectRef idx="0">
            <a:schemeClr val="accent1"/>
          </a:effectRef>
          <a:fontRef idx="minor">
            <a:schemeClr val="tx1"/>
          </a:fontRef>
        </p:style>
      </p:cxnSp>
      <p:sp>
        <p:nvSpPr>
          <p:cNvPr id="347" name="Oval 346">
            <a:extLst>
              <a:ext uri="{FF2B5EF4-FFF2-40B4-BE49-F238E27FC236}">
                <a16:creationId xmlns:a16="http://schemas.microsoft.com/office/drawing/2014/main" id="{5569FE52-9C0F-4476-AEEF-FCD2ECFCE83B}"/>
              </a:ext>
            </a:extLst>
          </p:cNvPr>
          <p:cNvSpPr>
            <a:spLocks noChangeAspect="1"/>
          </p:cNvSpPr>
          <p:nvPr/>
        </p:nvSpPr>
        <p:spPr>
          <a:xfrm>
            <a:off x="3159521" y="4190360"/>
            <a:ext cx="108000" cy="108000"/>
          </a:xfrm>
          <a:prstGeom prst="ellipse">
            <a:avLst/>
          </a:prstGeom>
          <a:solidFill>
            <a:schemeClr val="tx2"/>
          </a:solidFill>
          <a:ln w="38100" cap="rnd" cmpd="sng" algn="ctr">
            <a:solidFill>
              <a:srgbClr val="F7F7F7"/>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348" name="TextBox 347">
            <a:extLst>
              <a:ext uri="{FF2B5EF4-FFF2-40B4-BE49-F238E27FC236}">
                <a16:creationId xmlns:a16="http://schemas.microsoft.com/office/drawing/2014/main" id="{BC889B46-2E5A-4D5E-A39C-96A4FBEC1AD8}"/>
              </a:ext>
            </a:extLst>
          </p:cNvPr>
          <p:cNvSpPr txBox="1"/>
          <p:nvPr/>
        </p:nvSpPr>
        <p:spPr>
          <a:xfrm>
            <a:off x="3855480" y="3791234"/>
            <a:ext cx="612000" cy="123111"/>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r>
              <a:rPr lang="en-US" sz="800">
                <a:solidFill>
                  <a:srgbClr val="7F7F7F"/>
                </a:solidFill>
              </a:rPr>
              <a:t>Dedicated</a:t>
            </a:r>
          </a:p>
        </p:txBody>
      </p:sp>
      <p:sp>
        <p:nvSpPr>
          <p:cNvPr id="349" name="TextBox 348">
            <a:extLst>
              <a:ext uri="{FF2B5EF4-FFF2-40B4-BE49-F238E27FC236}">
                <a16:creationId xmlns:a16="http://schemas.microsoft.com/office/drawing/2014/main" id="{44BCCCB6-CE08-4BC1-BDCB-67A153B8AB58}"/>
              </a:ext>
            </a:extLst>
          </p:cNvPr>
          <p:cNvSpPr txBox="1"/>
          <p:nvPr/>
        </p:nvSpPr>
        <p:spPr>
          <a:xfrm>
            <a:off x="3855480" y="4011606"/>
            <a:ext cx="612000" cy="123111"/>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r>
              <a:rPr lang="en-US" sz="800">
                <a:solidFill>
                  <a:srgbClr val="7F7F7F"/>
                </a:solidFill>
              </a:rPr>
              <a:t>Shared</a:t>
            </a:r>
          </a:p>
        </p:txBody>
      </p:sp>
      <p:sp>
        <p:nvSpPr>
          <p:cNvPr id="350" name="Rectangle: Rounded Corners 349">
            <a:extLst>
              <a:ext uri="{FF2B5EF4-FFF2-40B4-BE49-F238E27FC236}">
                <a16:creationId xmlns:a16="http://schemas.microsoft.com/office/drawing/2014/main" id="{342A9CF9-D802-4127-8DB9-F1A20722FEE0}"/>
              </a:ext>
            </a:extLst>
          </p:cNvPr>
          <p:cNvSpPr/>
          <p:nvPr/>
        </p:nvSpPr>
        <p:spPr>
          <a:xfrm>
            <a:off x="3534924" y="3791234"/>
            <a:ext cx="198304" cy="123111"/>
          </a:xfrm>
          <a:prstGeom prst="roundRect">
            <a:avLst/>
          </a:prstGeom>
          <a:solidFill>
            <a:schemeClr val="tx2">
              <a:lumMod val="20000"/>
              <a:lumOff val="8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351" name="Rectangle: Rounded Corners 350">
            <a:extLst>
              <a:ext uri="{FF2B5EF4-FFF2-40B4-BE49-F238E27FC236}">
                <a16:creationId xmlns:a16="http://schemas.microsoft.com/office/drawing/2014/main" id="{2CFE55E0-4A35-4137-AECE-AA5EE5FFA605}"/>
              </a:ext>
            </a:extLst>
          </p:cNvPr>
          <p:cNvSpPr/>
          <p:nvPr/>
        </p:nvSpPr>
        <p:spPr>
          <a:xfrm>
            <a:off x="3534924" y="4011606"/>
            <a:ext cx="198304" cy="123111"/>
          </a:xfrm>
          <a:prstGeom prst="roundRect">
            <a:avLst/>
          </a:prstGeom>
          <a:solidFill>
            <a:schemeClr val="bg1">
              <a:lumMod val="85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364" name="object 92">
            <a:extLst>
              <a:ext uri="{FF2B5EF4-FFF2-40B4-BE49-F238E27FC236}">
                <a16:creationId xmlns:a16="http://schemas.microsoft.com/office/drawing/2014/main" id="{1231A7CB-1942-4797-AFAE-6AC4AE0E6D88}"/>
              </a:ext>
            </a:extLst>
          </p:cNvPr>
          <p:cNvSpPr txBox="1"/>
          <p:nvPr/>
        </p:nvSpPr>
        <p:spPr>
          <a:xfrm>
            <a:off x="7084565" y="1678593"/>
            <a:ext cx="1944000" cy="615553"/>
          </a:xfrm>
          <a:prstGeom prst="rect">
            <a:avLst/>
          </a:prstGeom>
        </p:spPr>
        <p:txBody>
          <a:bodyPr vert="horz" wrap="square" lIns="0" tIns="0" rIns="0" bIns="0" rtlCol="0" anchor="t" anchorCtr="0">
            <a:noAutofit/>
          </a:bodyPr>
          <a:lstStyle/>
          <a:p>
            <a:pPr marR="3081" defTabSz="554492">
              <a:buFont typeface="Trebuchet MS" panose="020B0603020202020204" pitchFamily="34" charset="0"/>
              <a:buChar char="​"/>
            </a:pPr>
            <a:r>
              <a:rPr sz="1000" b="1">
                <a:latin typeface="Trebuchet MS" panose="020B0603020202020204" pitchFamily="34" charset="0"/>
                <a:cs typeface="Proxima Nova Semibold"/>
              </a:rPr>
              <a:t>Orchestration Unit (</a:t>
            </a:r>
            <a:r>
              <a:rPr lang="en-US" sz="1000" b="1">
                <a:latin typeface="Trebuchet MS" panose="020B0603020202020204" pitchFamily="34" charset="0"/>
                <a:cs typeface="Proxima Nova Semibold"/>
              </a:rPr>
              <a:t>rules-based</a:t>
            </a:r>
            <a:r>
              <a:rPr sz="1000" b="1">
                <a:latin typeface="Trebuchet MS" panose="020B0603020202020204" pitchFamily="34" charset="0"/>
                <a:cs typeface="Proxima Nova Semibold"/>
              </a:rPr>
              <a:t>, </a:t>
            </a:r>
            <a:r>
              <a:rPr lang="en-US" sz="1000" b="1">
                <a:latin typeface="Trebuchet MS" panose="020B0603020202020204" pitchFamily="34" charset="0"/>
                <a:cs typeface="Proxima Nova Semibold"/>
              </a:rPr>
              <a:t>later automated</a:t>
            </a:r>
            <a:r>
              <a:rPr sz="1000" b="1">
                <a:latin typeface="Trebuchet MS" panose="020B0603020202020204" pitchFamily="34" charset="0"/>
                <a:cs typeface="Proxima Nova Semibold"/>
              </a:rPr>
              <a:t>) to assign </a:t>
            </a:r>
            <a:r>
              <a:rPr lang="en-US" sz="1000" b="1">
                <a:latin typeface="Trebuchet MS" panose="020B0603020202020204" pitchFamily="34" charset="0"/>
                <a:cs typeface="Proxima Nova Semibold"/>
              </a:rPr>
              <a:t>most relevant </a:t>
            </a:r>
            <a:r>
              <a:rPr sz="1000" b="1">
                <a:latin typeface="Trebuchet MS" panose="020B0603020202020204" pitchFamily="34" charset="0"/>
                <a:cs typeface="Proxima Nova Semibold"/>
              </a:rPr>
              <a:t>campaign </a:t>
            </a:r>
            <a:r>
              <a:rPr sz="1000">
                <a:latin typeface="Trebuchet MS" panose="020B0603020202020204" pitchFamily="34" charset="0"/>
                <a:cs typeface="Proxima Nova"/>
              </a:rPr>
              <a:t>to </a:t>
            </a:r>
            <a:r>
              <a:rPr lang="en-US" sz="1000">
                <a:latin typeface="Trebuchet MS" panose="020B0603020202020204" pitchFamily="34" charset="0"/>
                <a:cs typeface="Proxima Nova"/>
              </a:rPr>
              <a:t>customers</a:t>
            </a:r>
            <a:endParaRPr sz="1000">
              <a:latin typeface="Trebuchet MS" panose="020B0603020202020204" pitchFamily="34" charset="0"/>
              <a:cs typeface="Proxima Nova"/>
            </a:endParaRPr>
          </a:p>
        </p:txBody>
      </p:sp>
      <p:sp>
        <p:nvSpPr>
          <p:cNvPr id="365" name="Oval 25">
            <a:extLst>
              <a:ext uri="{FF2B5EF4-FFF2-40B4-BE49-F238E27FC236}">
                <a16:creationId xmlns:a16="http://schemas.microsoft.com/office/drawing/2014/main" id="{6965FFC7-8E89-434A-B48F-029C1ADC6E54}"/>
              </a:ext>
            </a:extLst>
          </p:cNvPr>
          <p:cNvSpPr/>
          <p:nvPr/>
        </p:nvSpPr>
        <p:spPr>
          <a:xfrm flipH="1">
            <a:off x="6535044" y="1482546"/>
            <a:ext cx="360000" cy="360000"/>
          </a:xfrm>
          <a:custGeom>
            <a:avLst/>
            <a:gdLst>
              <a:gd name="connsiteX0" fmla="*/ 0 w 269758"/>
              <a:gd name="connsiteY0" fmla="*/ 134879 h 269758"/>
              <a:gd name="connsiteX1" fmla="*/ 134879 w 269758"/>
              <a:gd name="connsiteY1" fmla="*/ 0 h 269758"/>
              <a:gd name="connsiteX2" fmla="*/ 269758 w 269758"/>
              <a:gd name="connsiteY2" fmla="*/ 134879 h 269758"/>
              <a:gd name="connsiteX3" fmla="*/ 134879 w 269758"/>
              <a:gd name="connsiteY3" fmla="*/ 269758 h 269758"/>
              <a:gd name="connsiteX4" fmla="*/ 0 w 269758"/>
              <a:gd name="connsiteY4" fmla="*/ 134879 h 269758"/>
              <a:gd name="connsiteX0" fmla="*/ 269758 w 361198"/>
              <a:gd name="connsiteY0" fmla="*/ 134879 h 269758"/>
              <a:gd name="connsiteX1" fmla="*/ 134879 w 361198"/>
              <a:gd name="connsiteY1" fmla="*/ 269758 h 269758"/>
              <a:gd name="connsiteX2" fmla="*/ 0 w 361198"/>
              <a:gd name="connsiteY2" fmla="*/ 134879 h 269758"/>
              <a:gd name="connsiteX3" fmla="*/ 134879 w 361198"/>
              <a:gd name="connsiteY3" fmla="*/ 0 h 269758"/>
              <a:gd name="connsiteX4" fmla="*/ 361198 w 361198"/>
              <a:gd name="connsiteY4" fmla="*/ 226319 h 269758"/>
              <a:gd name="connsiteX0" fmla="*/ 269758 w 269758"/>
              <a:gd name="connsiteY0" fmla="*/ 134879 h 269758"/>
              <a:gd name="connsiteX1" fmla="*/ 134879 w 269758"/>
              <a:gd name="connsiteY1" fmla="*/ 269758 h 269758"/>
              <a:gd name="connsiteX2" fmla="*/ 0 w 269758"/>
              <a:gd name="connsiteY2" fmla="*/ 134879 h 269758"/>
              <a:gd name="connsiteX3" fmla="*/ 134879 w 269758"/>
              <a:gd name="connsiteY3" fmla="*/ 0 h 269758"/>
              <a:gd name="connsiteX0" fmla="*/ 134879 w 134879"/>
              <a:gd name="connsiteY0" fmla="*/ 269758 h 269758"/>
              <a:gd name="connsiteX1" fmla="*/ 0 w 134879"/>
              <a:gd name="connsiteY1" fmla="*/ 134879 h 269758"/>
              <a:gd name="connsiteX2" fmla="*/ 134879 w 134879"/>
              <a:gd name="connsiteY2" fmla="*/ 0 h 269758"/>
              <a:gd name="connsiteX0" fmla="*/ 0 w 134879"/>
              <a:gd name="connsiteY0" fmla="*/ 134879 h 134879"/>
              <a:gd name="connsiteX1" fmla="*/ 134879 w 134879"/>
              <a:gd name="connsiteY1" fmla="*/ 0 h 134879"/>
            </a:gdLst>
            <a:ahLst/>
            <a:cxnLst>
              <a:cxn ang="0">
                <a:pos x="connsiteX0" y="connsiteY0"/>
              </a:cxn>
              <a:cxn ang="0">
                <a:pos x="connsiteX1" y="connsiteY1"/>
              </a:cxn>
            </a:cxnLst>
            <a:rect l="l" t="t" r="r" b="b"/>
            <a:pathLst>
              <a:path w="134879" h="134879">
                <a:moveTo>
                  <a:pt x="0" y="134879"/>
                </a:moveTo>
                <a:cubicBezTo>
                  <a:pt x="0" y="60387"/>
                  <a:pt x="60387" y="0"/>
                  <a:pt x="134879" y="0"/>
                </a:cubicBezTo>
              </a:path>
            </a:pathLst>
          </a:custGeom>
          <a:ln w="25400" cap="rnd">
            <a:solidFill>
              <a:schemeClr val="bg1">
                <a:lumMod val="85000"/>
              </a:schemeClr>
            </a:solidFill>
            <a:prstDash val="solid"/>
            <a:round/>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cxnSp>
        <p:nvCxnSpPr>
          <p:cNvPr id="366" name="Straight Connector 365">
            <a:extLst>
              <a:ext uri="{FF2B5EF4-FFF2-40B4-BE49-F238E27FC236}">
                <a16:creationId xmlns:a16="http://schemas.microsoft.com/office/drawing/2014/main" id="{CC354330-1D46-4373-88A6-DCF2040B860A}"/>
              </a:ext>
            </a:extLst>
          </p:cNvPr>
          <p:cNvCxnSpPr>
            <a:cxnSpLocks/>
          </p:cNvCxnSpPr>
          <p:nvPr/>
        </p:nvCxnSpPr>
        <p:spPr>
          <a:xfrm flipV="1">
            <a:off x="6885628" y="4700008"/>
            <a:ext cx="0" cy="462865"/>
          </a:xfrm>
          <a:prstGeom prst="line">
            <a:avLst/>
          </a:prstGeom>
          <a:ln w="25400" cap="rnd">
            <a:solidFill>
              <a:schemeClr val="bg1">
                <a:lumMod val="85000"/>
              </a:schemeClr>
            </a:solidFill>
            <a:prstDash val="solid"/>
            <a:round/>
            <a:tailEnd type="none" w="med" len="sm"/>
          </a:ln>
        </p:spPr>
        <p:style>
          <a:lnRef idx="1">
            <a:schemeClr val="accent1"/>
          </a:lnRef>
          <a:fillRef idx="0">
            <a:schemeClr val="accent1"/>
          </a:fillRef>
          <a:effectRef idx="0">
            <a:schemeClr val="accent1"/>
          </a:effectRef>
          <a:fontRef idx="minor">
            <a:schemeClr val="tx1"/>
          </a:fontRef>
        </p:style>
      </p:cxnSp>
      <p:sp>
        <p:nvSpPr>
          <p:cNvPr id="367" name="object 60">
            <a:extLst>
              <a:ext uri="{FF2B5EF4-FFF2-40B4-BE49-F238E27FC236}">
                <a16:creationId xmlns:a16="http://schemas.microsoft.com/office/drawing/2014/main" id="{1046955B-B36D-4E54-98CC-08CE78397BFE}"/>
              </a:ext>
            </a:extLst>
          </p:cNvPr>
          <p:cNvSpPr txBox="1"/>
          <p:nvPr/>
        </p:nvSpPr>
        <p:spPr>
          <a:xfrm>
            <a:off x="7084565" y="5275040"/>
            <a:ext cx="1944000" cy="153888"/>
          </a:xfrm>
          <a:prstGeom prst="rect">
            <a:avLst/>
          </a:prstGeom>
        </p:spPr>
        <p:txBody>
          <a:bodyPr vert="horz" wrap="square" lIns="0" tIns="0" rIns="0" bIns="0" rtlCol="0" anchor="t" anchorCtr="0">
            <a:spAutoFit/>
          </a:bodyPr>
          <a:lstStyle/>
          <a:p>
            <a:pPr algn="ctr" defTabSz="554492">
              <a:buFont typeface="Trebuchet MS" panose="020B0603020202020204" pitchFamily="34" charset="0"/>
              <a:buChar char="​"/>
            </a:pPr>
            <a:r>
              <a:rPr sz="1000" b="1">
                <a:latin typeface="Trebuchet MS" panose="020B0603020202020204" pitchFamily="34" charset="0"/>
                <a:cs typeface="Proxima Nova"/>
              </a:rPr>
              <a:t>CHANNEL AND TIMING</a:t>
            </a:r>
          </a:p>
        </p:txBody>
      </p:sp>
      <p:sp>
        <p:nvSpPr>
          <p:cNvPr id="368" name="Oval 367">
            <a:extLst>
              <a:ext uri="{FF2B5EF4-FFF2-40B4-BE49-F238E27FC236}">
                <a16:creationId xmlns:a16="http://schemas.microsoft.com/office/drawing/2014/main" id="{D24A8B09-1FC3-4F2E-87FA-19B164A21230}"/>
              </a:ext>
            </a:extLst>
          </p:cNvPr>
          <p:cNvSpPr>
            <a:spLocks noChangeAspect="1"/>
          </p:cNvSpPr>
          <p:nvPr/>
        </p:nvSpPr>
        <p:spPr>
          <a:xfrm>
            <a:off x="6841042" y="1678593"/>
            <a:ext cx="108000" cy="108000"/>
          </a:xfrm>
          <a:prstGeom prst="ellipse">
            <a:avLst/>
          </a:prstGeom>
          <a:solidFill>
            <a:schemeClr val="tx2"/>
          </a:solidFill>
          <a:ln w="38100" cap="rnd" cmpd="sng" algn="ctr">
            <a:solidFill>
              <a:srgbClr val="F7F7F7"/>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373" name="Oval 25">
            <a:extLst>
              <a:ext uri="{FF2B5EF4-FFF2-40B4-BE49-F238E27FC236}">
                <a16:creationId xmlns:a16="http://schemas.microsoft.com/office/drawing/2014/main" id="{0D45E183-96CD-4ABC-B00A-4CBA986996BB}"/>
              </a:ext>
            </a:extLst>
          </p:cNvPr>
          <p:cNvSpPr/>
          <p:nvPr/>
        </p:nvSpPr>
        <p:spPr>
          <a:xfrm rot="16200000">
            <a:off x="6885629" y="5275040"/>
            <a:ext cx="360000" cy="360000"/>
          </a:xfrm>
          <a:custGeom>
            <a:avLst/>
            <a:gdLst>
              <a:gd name="connsiteX0" fmla="*/ 0 w 269758"/>
              <a:gd name="connsiteY0" fmla="*/ 134879 h 269758"/>
              <a:gd name="connsiteX1" fmla="*/ 134879 w 269758"/>
              <a:gd name="connsiteY1" fmla="*/ 0 h 269758"/>
              <a:gd name="connsiteX2" fmla="*/ 269758 w 269758"/>
              <a:gd name="connsiteY2" fmla="*/ 134879 h 269758"/>
              <a:gd name="connsiteX3" fmla="*/ 134879 w 269758"/>
              <a:gd name="connsiteY3" fmla="*/ 269758 h 269758"/>
              <a:gd name="connsiteX4" fmla="*/ 0 w 269758"/>
              <a:gd name="connsiteY4" fmla="*/ 134879 h 269758"/>
              <a:gd name="connsiteX0" fmla="*/ 269758 w 361198"/>
              <a:gd name="connsiteY0" fmla="*/ 134879 h 269758"/>
              <a:gd name="connsiteX1" fmla="*/ 134879 w 361198"/>
              <a:gd name="connsiteY1" fmla="*/ 269758 h 269758"/>
              <a:gd name="connsiteX2" fmla="*/ 0 w 361198"/>
              <a:gd name="connsiteY2" fmla="*/ 134879 h 269758"/>
              <a:gd name="connsiteX3" fmla="*/ 134879 w 361198"/>
              <a:gd name="connsiteY3" fmla="*/ 0 h 269758"/>
              <a:gd name="connsiteX4" fmla="*/ 361198 w 361198"/>
              <a:gd name="connsiteY4" fmla="*/ 226319 h 269758"/>
              <a:gd name="connsiteX0" fmla="*/ 269758 w 269758"/>
              <a:gd name="connsiteY0" fmla="*/ 134879 h 269758"/>
              <a:gd name="connsiteX1" fmla="*/ 134879 w 269758"/>
              <a:gd name="connsiteY1" fmla="*/ 269758 h 269758"/>
              <a:gd name="connsiteX2" fmla="*/ 0 w 269758"/>
              <a:gd name="connsiteY2" fmla="*/ 134879 h 269758"/>
              <a:gd name="connsiteX3" fmla="*/ 134879 w 269758"/>
              <a:gd name="connsiteY3" fmla="*/ 0 h 269758"/>
              <a:gd name="connsiteX0" fmla="*/ 134879 w 134879"/>
              <a:gd name="connsiteY0" fmla="*/ 269758 h 269758"/>
              <a:gd name="connsiteX1" fmla="*/ 0 w 134879"/>
              <a:gd name="connsiteY1" fmla="*/ 134879 h 269758"/>
              <a:gd name="connsiteX2" fmla="*/ 134879 w 134879"/>
              <a:gd name="connsiteY2" fmla="*/ 0 h 269758"/>
              <a:gd name="connsiteX0" fmla="*/ 0 w 134879"/>
              <a:gd name="connsiteY0" fmla="*/ 134879 h 134879"/>
              <a:gd name="connsiteX1" fmla="*/ 134879 w 134879"/>
              <a:gd name="connsiteY1" fmla="*/ 0 h 134879"/>
            </a:gdLst>
            <a:ahLst/>
            <a:cxnLst>
              <a:cxn ang="0">
                <a:pos x="connsiteX0" y="connsiteY0"/>
              </a:cxn>
              <a:cxn ang="0">
                <a:pos x="connsiteX1" y="connsiteY1"/>
              </a:cxn>
            </a:cxnLst>
            <a:rect l="l" t="t" r="r" b="b"/>
            <a:pathLst>
              <a:path w="134879" h="134879">
                <a:moveTo>
                  <a:pt x="0" y="134879"/>
                </a:moveTo>
                <a:cubicBezTo>
                  <a:pt x="0" y="60387"/>
                  <a:pt x="60387" y="0"/>
                  <a:pt x="134879" y="0"/>
                </a:cubicBezTo>
              </a:path>
            </a:pathLst>
          </a:custGeom>
          <a:ln w="25400" cap="rnd">
            <a:solidFill>
              <a:schemeClr val="bg1">
                <a:lumMod val="85000"/>
              </a:schemeClr>
            </a:solidFill>
            <a:prstDash val="solid"/>
            <a:round/>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cxnSp>
        <p:nvCxnSpPr>
          <p:cNvPr id="374" name="Straight Connector 373">
            <a:extLst>
              <a:ext uri="{FF2B5EF4-FFF2-40B4-BE49-F238E27FC236}">
                <a16:creationId xmlns:a16="http://schemas.microsoft.com/office/drawing/2014/main" id="{5E07C8DE-0ACA-4719-9739-60F9D8EA87A3}"/>
              </a:ext>
            </a:extLst>
          </p:cNvPr>
          <p:cNvCxnSpPr>
            <a:cxnSpLocks/>
            <a:stCxn id="373" idx="0"/>
            <a:endCxn id="375" idx="0"/>
          </p:cNvCxnSpPr>
          <p:nvPr/>
        </p:nvCxnSpPr>
        <p:spPr>
          <a:xfrm>
            <a:off x="7245629" y="5635040"/>
            <a:ext cx="1612460" cy="0"/>
          </a:xfrm>
          <a:prstGeom prst="line">
            <a:avLst/>
          </a:prstGeom>
          <a:ln w="25400" cap="rnd">
            <a:solidFill>
              <a:schemeClr val="bg1">
                <a:lumMod val="85000"/>
              </a:schemeClr>
            </a:solidFill>
            <a:prstDash val="solid"/>
            <a:round/>
            <a:tailEnd type="none" w="med" len="sm"/>
          </a:ln>
        </p:spPr>
        <p:style>
          <a:lnRef idx="1">
            <a:schemeClr val="accent1"/>
          </a:lnRef>
          <a:fillRef idx="0">
            <a:schemeClr val="accent1"/>
          </a:fillRef>
          <a:effectRef idx="0">
            <a:schemeClr val="accent1"/>
          </a:effectRef>
          <a:fontRef idx="minor">
            <a:schemeClr val="tx1"/>
          </a:fontRef>
        </p:style>
      </p:cxnSp>
      <p:sp>
        <p:nvSpPr>
          <p:cNvPr id="375" name="Oval 25">
            <a:extLst>
              <a:ext uri="{FF2B5EF4-FFF2-40B4-BE49-F238E27FC236}">
                <a16:creationId xmlns:a16="http://schemas.microsoft.com/office/drawing/2014/main" id="{0E6AF500-22E9-49F8-961B-59C7BFFA5ABF}"/>
              </a:ext>
            </a:extLst>
          </p:cNvPr>
          <p:cNvSpPr/>
          <p:nvPr/>
        </p:nvSpPr>
        <p:spPr>
          <a:xfrm rot="5400000" flipH="1">
            <a:off x="8858089" y="5275040"/>
            <a:ext cx="360000" cy="360000"/>
          </a:xfrm>
          <a:custGeom>
            <a:avLst/>
            <a:gdLst>
              <a:gd name="connsiteX0" fmla="*/ 0 w 269758"/>
              <a:gd name="connsiteY0" fmla="*/ 134879 h 269758"/>
              <a:gd name="connsiteX1" fmla="*/ 134879 w 269758"/>
              <a:gd name="connsiteY1" fmla="*/ 0 h 269758"/>
              <a:gd name="connsiteX2" fmla="*/ 269758 w 269758"/>
              <a:gd name="connsiteY2" fmla="*/ 134879 h 269758"/>
              <a:gd name="connsiteX3" fmla="*/ 134879 w 269758"/>
              <a:gd name="connsiteY3" fmla="*/ 269758 h 269758"/>
              <a:gd name="connsiteX4" fmla="*/ 0 w 269758"/>
              <a:gd name="connsiteY4" fmla="*/ 134879 h 269758"/>
              <a:gd name="connsiteX0" fmla="*/ 269758 w 361198"/>
              <a:gd name="connsiteY0" fmla="*/ 134879 h 269758"/>
              <a:gd name="connsiteX1" fmla="*/ 134879 w 361198"/>
              <a:gd name="connsiteY1" fmla="*/ 269758 h 269758"/>
              <a:gd name="connsiteX2" fmla="*/ 0 w 361198"/>
              <a:gd name="connsiteY2" fmla="*/ 134879 h 269758"/>
              <a:gd name="connsiteX3" fmla="*/ 134879 w 361198"/>
              <a:gd name="connsiteY3" fmla="*/ 0 h 269758"/>
              <a:gd name="connsiteX4" fmla="*/ 361198 w 361198"/>
              <a:gd name="connsiteY4" fmla="*/ 226319 h 269758"/>
              <a:gd name="connsiteX0" fmla="*/ 269758 w 269758"/>
              <a:gd name="connsiteY0" fmla="*/ 134879 h 269758"/>
              <a:gd name="connsiteX1" fmla="*/ 134879 w 269758"/>
              <a:gd name="connsiteY1" fmla="*/ 269758 h 269758"/>
              <a:gd name="connsiteX2" fmla="*/ 0 w 269758"/>
              <a:gd name="connsiteY2" fmla="*/ 134879 h 269758"/>
              <a:gd name="connsiteX3" fmla="*/ 134879 w 269758"/>
              <a:gd name="connsiteY3" fmla="*/ 0 h 269758"/>
              <a:gd name="connsiteX0" fmla="*/ 134879 w 134879"/>
              <a:gd name="connsiteY0" fmla="*/ 269758 h 269758"/>
              <a:gd name="connsiteX1" fmla="*/ 0 w 134879"/>
              <a:gd name="connsiteY1" fmla="*/ 134879 h 269758"/>
              <a:gd name="connsiteX2" fmla="*/ 134879 w 134879"/>
              <a:gd name="connsiteY2" fmla="*/ 0 h 269758"/>
              <a:gd name="connsiteX0" fmla="*/ 0 w 134879"/>
              <a:gd name="connsiteY0" fmla="*/ 134879 h 134879"/>
              <a:gd name="connsiteX1" fmla="*/ 134879 w 134879"/>
              <a:gd name="connsiteY1" fmla="*/ 0 h 134879"/>
            </a:gdLst>
            <a:ahLst/>
            <a:cxnLst>
              <a:cxn ang="0">
                <a:pos x="connsiteX0" y="connsiteY0"/>
              </a:cxn>
              <a:cxn ang="0">
                <a:pos x="connsiteX1" y="connsiteY1"/>
              </a:cxn>
            </a:cxnLst>
            <a:rect l="l" t="t" r="r" b="b"/>
            <a:pathLst>
              <a:path w="134879" h="134879">
                <a:moveTo>
                  <a:pt x="0" y="134879"/>
                </a:moveTo>
                <a:cubicBezTo>
                  <a:pt x="0" y="60387"/>
                  <a:pt x="60387" y="0"/>
                  <a:pt x="134879" y="0"/>
                </a:cubicBezTo>
              </a:path>
            </a:pathLst>
          </a:custGeom>
          <a:ln w="25400" cap="rnd">
            <a:solidFill>
              <a:schemeClr val="bg1">
                <a:lumMod val="85000"/>
              </a:schemeClr>
            </a:solidFill>
            <a:prstDash val="solid"/>
            <a:round/>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cxnSp>
        <p:nvCxnSpPr>
          <p:cNvPr id="386" name="Straight Connector 385">
            <a:extLst>
              <a:ext uri="{FF2B5EF4-FFF2-40B4-BE49-F238E27FC236}">
                <a16:creationId xmlns:a16="http://schemas.microsoft.com/office/drawing/2014/main" id="{71F32E6A-4368-4E02-A37B-419D1AEF2BC6}"/>
              </a:ext>
            </a:extLst>
          </p:cNvPr>
          <p:cNvCxnSpPr>
            <a:cxnSpLocks/>
          </p:cNvCxnSpPr>
          <p:nvPr/>
        </p:nvCxnSpPr>
        <p:spPr>
          <a:xfrm flipV="1">
            <a:off x="9218090" y="1842546"/>
            <a:ext cx="0" cy="1341158"/>
          </a:xfrm>
          <a:prstGeom prst="line">
            <a:avLst/>
          </a:prstGeom>
          <a:ln w="25400" cap="rnd">
            <a:solidFill>
              <a:schemeClr val="bg1">
                <a:lumMod val="85000"/>
              </a:schemeClr>
            </a:solidFill>
            <a:prstDash val="solid"/>
            <a:round/>
            <a:tailEnd type="none" w="med" len="sm"/>
          </a:ln>
        </p:spPr>
        <p:style>
          <a:lnRef idx="1">
            <a:schemeClr val="accent1"/>
          </a:lnRef>
          <a:fillRef idx="0">
            <a:schemeClr val="accent1"/>
          </a:fillRef>
          <a:effectRef idx="0">
            <a:schemeClr val="accent1"/>
          </a:effectRef>
          <a:fontRef idx="minor">
            <a:schemeClr val="tx1"/>
          </a:fontRef>
        </p:style>
      </p:cxnSp>
      <p:cxnSp>
        <p:nvCxnSpPr>
          <p:cNvPr id="387" name="Straight Connector 386">
            <a:extLst>
              <a:ext uri="{FF2B5EF4-FFF2-40B4-BE49-F238E27FC236}">
                <a16:creationId xmlns:a16="http://schemas.microsoft.com/office/drawing/2014/main" id="{932FF32C-78DC-4C9C-B8B6-94910B707EDA}"/>
              </a:ext>
            </a:extLst>
          </p:cNvPr>
          <p:cNvCxnSpPr>
            <a:cxnSpLocks/>
            <a:stCxn id="375" idx="1"/>
          </p:cNvCxnSpPr>
          <p:nvPr/>
        </p:nvCxnSpPr>
        <p:spPr>
          <a:xfrm flipV="1">
            <a:off x="9218089" y="3321036"/>
            <a:ext cx="2" cy="1954004"/>
          </a:xfrm>
          <a:prstGeom prst="line">
            <a:avLst/>
          </a:prstGeom>
          <a:ln w="25400" cap="rnd">
            <a:solidFill>
              <a:schemeClr val="bg1">
                <a:lumMod val="85000"/>
              </a:schemeClr>
            </a:solidFill>
            <a:prstDash val="solid"/>
            <a:round/>
            <a:tailEnd type="arrow" w="med" len="sm"/>
          </a:ln>
        </p:spPr>
        <p:style>
          <a:lnRef idx="1">
            <a:schemeClr val="accent1"/>
          </a:lnRef>
          <a:fillRef idx="0">
            <a:schemeClr val="accent1"/>
          </a:fillRef>
          <a:effectRef idx="0">
            <a:schemeClr val="accent1"/>
          </a:effectRef>
          <a:fontRef idx="minor">
            <a:schemeClr val="tx1"/>
          </a:fontRef>
        </p:style>
      </p:cxnSp>
      <p:cxnSp>
        <p:nvCxnSpPr>
          <p:cNvPr id="388" name="Straight Connector 387">
            <a:extLst>
              <a:ext uri="{FF2B5EF4-FFF2-40B4-BE49-F238E27FC236}">
                <a16:creationId xmlns:a16="http://schemas.microsoft.com/office/drawing/2014/main" id="{93DFA856-0B9D-4554-BCC7-02763751E798}"/>
              </a:ext>
            </a:extLst>
          </p:cNvPr>
          <p:cNvCxnSpPr>
            <a:cxnSpLocks/>
          </p:cNvCxnSpPr>
          <p:nvPr/>
        </p:nvCxnSpPr>
        <p:spPr>
          <a:xfrm rot="10800000" flipV="1">
            <a:off x="6885629" y="1842547"/>
            <a:ext cx="2" cy="2712941"/>
          </a:xfrm>
          <a:prstGeom prst="line">
            <a:avLst/>
          </a:prstGeom>
          <a:ln w="25400" cap="rnd">
            <a:solidFill>
              <a:schemeClr val="bg1">
                <a:lumMod val="85000"/>
              </a:schemeClr>
            </a:solidFill>
            <a:prstDash val="solid"/>
            <a:round/>
            <a:tailEnd type="arrow" w="med" len="sm"/>
          </a:ln>
        </p:spPr>
        <p:style>
          <a:lnRef idx="1">
            <a:schemeClr val="accent1"/>
          </a:lnRef>
          <a:fillRef idx="0">
            <a:schemeClr val="accent1"/>
          </a:fillRef>
          <a:effectRef idx="0">
            <a:schemeClr val="accent1"/>
          </a:effectRef>
          <a:fontRef idx="minor">
            <a:schemeClr val="tx1"/>
          </a:fontRef>
        </p:style>
      </p:cxnSp>
      <p:sp>
        <p:nvSpPr>
          <p:cNvPr id="389" name="Oval 25">
            <a:extLst>
              <a:ext uri="{FF2B5EF4-FFF2-40B4-BE49-F238E27FC236}">
                <a16:creationId xmlns:a16="http://schemas.microsoft.com/office/drawing/2014/main" id="{4AD5E5BD-9CE1-4881-B549-5572181D3BE7}"/>
              </a:ext>
            </a:extLst>
          </p:cNvPr>
          <p:cNvSpPr/>
          <p:nvPr/>
        </p:nvSpPr>
        <p:spPr>
          <a:xfrm rot="16200000" flipH="1">
            <a:off x="9218091" y="1482546"/>
            <a:ext cx="360000" cy="360000"/>
          </a:xfrm>
          <a:custGeom>
            <a:avLst/>
            <a:gdLst>
              <a:gd name="connsiteX0" fmla="*/ 0 w 269758"/>
              <a:gd name="connsiteY0" fmla="*/ 134879 h 269758"/>
              <a:gd name="connsiteX1" fmla="*/ 134879 w 269758"/>
              <a:gd name="connsiteY1" fmla="*/ 0 h 269758"/>
              <a:gd name="connsiteX2" fmla="*/ 269758 w 269758"/>
              <a:gd name="connsiteY2" fmla="*/ 134879 h 269758"/>
              <a:gd name="connsiteX3" fmla="*/ 134879 w 269758"/>
              <a:gd name="connsiteY3" fmla="*/ 269758 h 269758"/>
              <a:gd name="connsiteX4" fmla="*/ 0 w 269758"/>
              <a:gd name="connsiteY4" fmla="*/ 134879 h 269758"/>
              <a:gd name="connsiteX0" fmla="*/ 269758 w 361198"/>
              <a:gd name="connsiteY0" fmla="*/ 134879 h 269758"/>
              <a:gd name="connsiteX1" fmla="*/ 134879 w 361198"/>
              <a:gd name="connsiteY1" fmla="*/ 269758 h 269758"/>
              <a:gd name="connsiteX2" fmla="*/ 0 w 361198"/>
              <a:gd name="connsiteY2" fmla="*/ 134879 h 269758"/>
              <a:gd name="connsiteX3" fmla="*/ 134879 w 361198"/>
              <a:gd name="connsiteY3" fmla="*/ 0 h 269758"/>
              <a:gd name="connsiteX4" fmla="*/ 361198 w 361198"/>
              <a:gd name="connsiteY4" fmla="*/ 226319 h 269758"/>
              <a:gd name="connsiteX0" fmla="*/ 269758 w 269758"/>
              <a:gd name="connsiteY0" fmla="*/ 134879 h 269758"/>
              <a:gd name="connsiteX1" fmla="*/ 134879 w 269758"/>
              <a:gd name="connsiteY1" fmla="*/ 269758 h 269758"/>
              <a:gd name="connsiteX2" fmla="*/ 0 w 269758"/>
              <a:gd name="connsiteY2" fmla="*/ 134879 h 269758"/>
              <a:gd name="connsiteX3" fmla="*/ 134879 w 269758"/>
              <a:gd name="connsiteY3" fmla="*/ 0 h 269758"/>
              <a:gd name="connsiteX0" fmla="*/ 134879 w 134879"/>
              <a:gd name="connsiteY0" fmla="*/ 269758 h 269758"/>
              <a:gd name="connsiteX1" fmla="*/ 0 w 134879"/>
              <a:gd name="connsiteY1" fmla="*/ 134879 h 269758"/>
              <a:gd name="connsiteX2" fmla="*/ 134879 w 134879"/>
              <a:gd name="connsiteY2" fmla="*/ 0 h 269758"/>
              <a:gd name="connsiteX0" fmla="*/ 0 w 134879"/>
              <a:gd name="connsiteY0" fmla="*/ 134879 h 134879"/>
              <a:gd name="connsiteX1" fmla="*/ 134879 w 134879"/>
              <a:gd name="connsiteY1" fmla="*/ 0 h 134879"/>
            </a:gdLst>
            <a:ahLst/>
            <a:cxnLst>
              <a:cxn ang="0">
                <a:pos x="connsiteX0" y="connsiteY0"/>
              </a:cxn>
              <a:cxn ang="0">
                <a:pos x="connsiteX1" y="connsiteY1"/>
              </a:cxn>
            </a:cxnLst>
            <a:rect l="l" t="t" r="r" b="b"/>
            <a:pathLst>
              <a:path w="134879" h="134879">
                <a:moveTo>
                  <a:pt x="0" y="134879"/>
                </a:moveTo>
                <a:cubicBezTo>
                  <a:pt x="0" y="60387"/>
                  <a:pt x="60387" y="0"/>
                  <a:pt x="134879" y="0"/>
                </a:cubicBezTo>
              </a:path>
            </a:pathLst>
          </a:custGeom>
          <a:ln w="25400" cap="rnd">
            <a:solidFill>
              <a:schemeClr val="bg1">
                <a:lumMod val="85000"/>
              </a:schemeClr>
            </a:solidFill>
            <a:prstDash val="solid"/>
            <a:round/>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91" name="Oval 25">
            <a:extLst>
              <a:ext uri="{FF2B5EF4-FFF2-40B4-BE49-F238E27FC236}">
                <a16:creationId xmlns:a16="http://schemas.microsoft.com/office/drawing/2014/main" id="{FD3B2893-5AB5-4A5C-B151-C5BAF2F1FDDD}"/>
              </a:ext>
            </a:extLst>
          </p:cNvPr>
          <p:cNvSpPr/>
          <p:nvPr/>
        </p:nvSpPr>
        <p:spPr>
          <a:xfrm flipH="1">
            <a:off x="11203349" y="1482546"/>
            <a:ext cx="360000" cy="360000"/>
          </a:xfrm>
          <a:custGeom>
            <a:avLst/>
            <a:gdLst>
              <a:gd name="connsiteX0" fmla="*/ 0 w 269758"/>
              <a:gd name="connsiteY0" fmla="*/ 134879 h 269758"/>
              <a:gd name="connsiteX1" fmla="*/ 134879 w 269758"/>
              <a:gd name="connsiteY1" fmla="*/ 0 h 269758"/>
              <a:gd name="connsiteX2" fmla="*/ 269758 w 269758"/>
              <a:gd name="connsiteY2" fmla="*/ 134879 h 269758"/>
              <a:gd name="connsiteX3" fmla="*/ 134879 w 269758"/>
              <a:gd name="connsiteY3" fmla="*/ 269758 h 269758"/>
              <a:gd name="connsiteX4" fmla="*/ 0 w 269758"/>
              <a:gd name="connsiteY4" fmla="*/ 134879 h 269758"/>
              <a:gd name="connsiteX0" fmla="*/ 269758 w 361198"/>
              <a:gd name="connsiteY0" fmla="*/ 134879 h 269758"/>
              <a:gd name="connsiteX1" fmla="*/ 134879 w 361198"/>
              <a:gd name="connsiteY1" fmla="*/ 269758 h 269758"/>
              <a:gd name="connsiteX2" fmla="*/ 0 w 361198"/>
              <a:gd name="connsiteY2" fmla="*/ 134879 h 269758"/>
              <a:gd name="connsiteX3" fmla="*/ 134879 w 361198"/>
              <a:gd name="connsiteY3" fmla="*/ 0 h 269758"/>
              <a:gd name="connsiteX4" fmla="*/ 361198 w 361198"/>
              <a:gd name="connsiteY4" fmla="*/ 226319 h 269758"/>
              <a:gd name="connsiteX0" fmla="*/ 269758 w 269758"/>
              <a:gd name="connsiteY0" fmla="*/ 134879 h 269758"/>
              <a:gd name="connsiteX1" fmla="*/ 134879 w 269758"/>
              <a:gd name="connsiteY1" fmla="*/ 269758 h 269758"/>
              <a:gd name="connsiteX2" fmla="*/ 0 w 269758"/>
              <a:gd name="connsiteY2" fmla="*/ 134879 h 269758"/>
              <a:gd name="connsiteX3" fmla="*/ 134879 w 269758"/>
              <a:gd name="connsiteY3" fmla="*/ 0 h 269758"/>
              <a:gd name="connsiteX0" fmla="*/ 134879 w 134879"/>
              <a:gd name="connsiteY0" fmla="*/ 269758 h 269758"/>
              <a:gd name="connsiteX1" fmla="*/ 0 w 134879"/>
              <a:gd name="connsiteY1" fmla="*/ 134879 h 269758"/>
              <a:gd name="connsiteX2" fmla="*/ 134879 w 134879"/>
              <a:gd name="connsiteY2" fmla="*/ 0 h 269758"/>
              <a:gd name="connsiteX0" fmla="*/ 0 w 134879"/>
              <a:gd name="connsiteY0" fmla="*/ 134879 h 134879"/>
              <a:gd name="connsiteX1" fmla="*/ 134879 w 134879"/>
              <a:gd name="connsiteY1" fmla="*/ 0 h 134879"/>
            </a:gdLst>
            <a:ahLst/>
            <a:cxnLst>
              <a:cxn ang="0">
                <a:pos x="connsiteX0" y="connsiteY0"/>
              </a:cxn>
              <a:cxn ang="0">
                <a:pos x="connsiteX1" y="connsiteY1"/>
              </a:cxn>
            </a:cxnLst>
            <a:rect l="l" t="t" r="r" b="b"/>
            <a:pathLst>
              <a:path w="134879" h="134879">
                <a:moveTo>
                  <a:pt x="0" y="134879"/>
                </a:moveTo>
                <a:cubicBezTo>
                  <a:pt x="0" y="60387"/>
                  <a:pt x="60387" y="0"/>
                  <a:pt x="134879" y="0"/>
                </a:cubicBezTo>
              </a:path>
            </a:pathLst>
          </a:custGeom>
          <a:ln w="25400" cap="rnd">
            <a:solidFill>
              <a:schemeClr val="bg1">
                <a:lumMod val="85000"/>
              </a:schemeClr>
            </a:solidFill>
            <a:prstDash val="solid"/>
            <a:round/>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93" name="Oval 25">
            <a:extLst>
              <a:ext uri="{FF2B5EF4-FFF2-40B4-BE49-F238E27FC236}">
                <a16:creationId xmlns:a16="http://schemas.microsoft.com/office/drawing/2014/main" id="{912F5993-4382-4CF5-82BD-387BBC550C60}"/>
              </a:ext>
            </a:extLst>
          </p:cNvPr>
          <p:cNvSpPr/>
          <p:nvPr/>
        </p:nvSpPr>
        <p:spPr>
          <a:xfrm rot="5400000" flipH="1">
            <a:off x="11203352" y="5725155"/>
            <a:ext cx="360000" cy="360000"/>
          </a:xfrm>
          <a:custGeom>
            <a:avLst/>
            <a:gdLst>
              <a:gd name="connsiteX0" fmla="*/ 0 w 269758"/>
              <a:gd name="connsiteY0" fmla="*/ 134879 h 269758"/>
              <a:gd name="connsiteX1" fmla="*/ 134879 w 269758"/>
              <a:gd name="connsiteY1" fmla="*/ 0 h 269758"/>
              <a:gd name="connsiteX2" fmla="*/ 269758 w 269758"/>
              <a:gd name="connsiteY2" fmla="*/ 134879 h 269758"/>
              <a:gd name="connsiteX3" fmla="*/ 134879 w 269758"/>
              <a:gd name="connsiteY3" fmla="*/ 269758 h 269758"/>
              <a:gd name="connsiteX4" fmla="*/ 0 w 269758"/>
              <a:gd name="connsiteY4" fmla="*/ 134879 h 269758"/>
              <a:gd name="connsiteX0" fmla="*/ 269758 w 361198"/>
              <a:gd name="connsiteY0" fmla="*/ 134879 h 269758"/>
              <a:gd name="connsiteX1" fmla="*/ 134879 w 361198"/>
              <a:gd name="connsiteY1" fmla="*/ 269758 h 269758"/>
              <a:gd name="connsiteX2" fmla="*/ 0 w 361198"/>
              <a:gd name="connsiteY2" fmla="*/ 134879 h 269758"/>
              <a:gd name="connsiteX3" fmla="*/ 134879 w 361198"/>
              <a:gd name="connsiteY3" fmla="*/ 0 h 269758"/>
              <a:gd name="connsiteX4" fmla="*/ 361198 w 361198"/>
              <a:gd name="connsiteY4" fmla="*/ 226319 h 269758"/>
              <a:gd name="connsiteX0" fmla="*/ 269758 w 269758"/>
              <a:gd name="connsiteY0" fmla="*/ 134879 h 269758"/>
              <a:gd name="connsiteX1" fmla="*/ 134879 w 269758"/>
              <a:gd name="connsiteY1" fmla="*/ 269758 h 269758"/>
              <a:gd name="connsiteX2" fmla="*/ 0 w 269758"/>
              <a:gd name="connsiteY2" fmla="*/ 134879 h 269758"/>
              <a:gd name="connsiteX3" fmla="*/ 134879 w 269758"/>
              <a:gd name="connsiteY3" fmla="*/ 0 h 269758"/>
              <a:gd name="connsiteX0" fmla="*/ 134879 w 134879"/>
              <a:gd name="connsiteY0" fmla="*/ 269758 h 269758"/>
              <a:gd name="connsiteX1" fmla="*/ 0 w 134879"/>
              <a:gd name="connsiteY1" fmla="*/ 134879 h 269758"/>
              <a:gd name="connsiteX2" fmla="*/ 134879 w 134879"/>
              <a:gd name="connsiteY2" fmla="*/ 0 h 269758"/>
              <a:gd name="connsiteX0" fmla="*/ 0 w 134879"/>
              <a:gd name="connsiteY0" fmla="*/ 134879 h 134879"/>
              <a:gd name="connsiteX1" fmla="*/ 134879 w 134879"/>
              <a:gd name="connsiteY1" fmla="*/ 0 h 134879"/>
            </a:gdLst>
            <a:ahLst/>
            <a:cxnLst>
              <a:cxn ang="0">
                <a:pos x="connsiteX0" y="connsiteY0"/>
              </a:cxn>
              <a:cxn ang="0">
                <a:pos x="connsiteX1" y="connsiteY1"/>
              </a:cxn>
            </a:cxnLst>
            <a:rect l="l" t="t" r="r" b="b"/>
            <a:pathLst>
              <a:path w="134879" h="134879">
                <a:moveTo>
                  <a:pt x="0" y="134879"/>
                </a:moveTo>
                <a:cubicBezTo>
                  <a:pt x="0" y="60387"/>
                  <a:pt x="60387" y="0"/>
                  <a:pt x="134879" y="0"/>
                </a:cubicBezTo>
              </a:path>
            </a:pathLst>
          </a:custGeom>
          <a:ln w="25400" cap="rnd">
            <a:solidFill>
              <a:schemeClr val="bg1">
                <a:lumMod val="85000"/>
              </a:schemeClr>
            </a:solidFill>
            <a:prstDash val="solid"/>
            <a:round/>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cxnSp>
        <p:nvCxnSpPr>
          <p:cNvPr id="394" name="Straight Connector 393">
            <a:extLst>
              <a:ext uri="{FF2B5EF4-FFF2-40B4-BE49-F238E27FC236}">
                <a16:creationId xmlns:a16="http://schemas.microsoft.com/office/drawing/2014/main" id="{9D148462-6CB5-4AA7-A89E-02890BE2CC38}"/>
              </a:ext>
            </a:extLst>
          </p:cNvPr>
          <p:cNvCxnSpPr>
            <a:cxnSpLocks/>
          </p:cNvCxnSpPr>
          <p:nvPr/>
        </p:nvCxnSpPr>
        <p:spPr>
          <a:xfrm flipH="1">
            <a:off x="6770240" y="6085154"/>
            <a:ext cx="4433110" cy="0"/>
          </a:xfrm>
          <a:prstGeom prst="line">
            <a:avLst/>
          </a:prstGeom>
          <a:ln w="25400" cap="rnd">
            <a:solidFill>
              <a:schemeClr val="bg1">
                <a:lumMod val="85000"/>
              </a:schemeClr>
            </a:solidFill>
            <a:prstDash val="solid"/>
            <a:round/>
            <a:tailEnd type="arrow" w="med" len="sm"/>
          </a:ln>
        </p:spPr>
        <p:style>
          <a:lnRef idx="1">
            <a:schemeClr val="accent1"/>
          </a:lnRef>
          <a:fillRef idx="0">
            <a:schemeClr val="accent1"/>
          </a:fillRef>
          <a:effectRef idx="0">
            <a:schemeClr val="accent1"/>
          </a:effectRef>
          <a:fontRef idx="minor">
            <a:schemeClr val="tx1"/>
          </a:fontRef>
        </p:style>
      </p:cxnSp>
      <p:cxnSp>
        <p:nvCxnSpPr>
          <p:cNvPr id="395" name="Straight Connector 394">
            <a:extLst>
              <a:ext uri="{FF2B5EF4-FFF2-40B4-BE49-F238E27FC236}">
                <a16:creationId xmlns:a16="http://schemas.microsoft.com/office/drawing/2014/main" id="{CF27FF15-719C-4488-8731-86099821EC27}"/>
              </a:ext>
            </a:extLst>
          </p:cNvPr>
          <p:cNvCxnSpPr>
            <a:cxnSpLocks/>
          </p:cNvCxnSpPr>
          <p:nvPr/>
        </p:nvCxnSpPr>
        <p:spPr>
          <a:xfrm rot="10800000" flipV="1">
            <a:off x="11563348" y="1842548"/>
            <a:ext cx="2" cy="2952000"/>
          </a:xfrm>
          <a:prstGeom prst="line">
            <a:avLst/>
          </a:prstGeom>
          <a:ln w="25400" cap="rnd">
            <a:solidFill>
              <a:schemeClr val="bg1">
                <a:lumMod val="85000"/>
              </a:schemeClr>
            </a:solidFill>
            <a:prstDash val="solid"/>
            <a:round/>
            <a:tailEnd type="arrow" w="med" len="sm"/>
          </a:ln>
        </p:spPr>
        <p:style>
          <a:lnRef idx="1">
            <a:schemeClr val="accent1"/>
          </a:lnRef>
          <a:fillRef idx="0">
            <a:schemeClr val="accent1"/>
          </a:fillRef>
          <a:effectRef idx="0">
            <a:schemeClr val="accent1"/>
          </a:effectRef>
          <a:fontRef idx="minor">
            <a:schemeClr val="tx1"/>
          </a:fontRef>
        </p:style>
      </p:cxnSp>
      <p:cxnSp>
        <p:nvCxnSpPr>
          <p:cNvPr id="396" name="Straight Connector 395">
            <a:extLst>
              <a:ext uri="{FF2B5EF4-FFF2-40B4-BE49-F238E27FC236}">
                <a16:creationId xmlns:a16="http://schemas.microsoft.com/office/drawing/2014/main" id="{AE22A143-C6FC-457C-AC2F-17FD3162098E}"/>
              </a:ext>
            </a:extLst>
          </p:cNvPr>
          <p:cNvCxnSpPr>
            <a:cxnSpLocks/>
          </p:cNvCxnSpPr>
          <p:nvPr/>
        </p:nvCxnSpPr>
        <p:spPr>
          <a:xfrm flipV="1">
            <a:off x="8056564" y="5851097"/>
            <a:ext cx="0" cy="234057"/>
          </a:xfrm>
          <a:prstGeom prst="line">
            <a:avLst/>
          </a:prstGeom>
          <a:ln w="25400" cap="rnd">
            <a:solidFill>
              <a:schemeClr val="bg1">
                <a:lumMod val="85000"/>
              </a:schemeClr>
            </a:solidFill>
            <a:prstDash val="solid"/>
            <a:round/>
            <a:tailEnd type="arrow" w="med" len="sm"/>
          </a:ln>
        </p:spPr>
        <p:style>
          <a:lnRef idx="1">
            <a:schemeClr val="accent1"/>
          </a:lnRef>
          <a:fillRef idx="0">
            <a:schemeClr val="accent1"/>
          </a:fillRef>
          <a:effectRef idx="0">
            <a:schemeClr val="accent1"/>
          </a:effectRef>
          <a:fontRef idx="minor">
            <a:schemeClr val="tx1"/>
          </a:fontRef>
        </p:style>
      </p:cxnSp>
      <p:sp>
        <p:nvSpPr>
          <p:cNvPr id="560" name="Oval 559">
            <a:extLst>
              <a:ext uri="{FF2B5EF4-FFF2-40B4-BE49-F238E27FC236}">
                <a16:creationId xmlns:a16="http://schemas.microsoft.com/office/drawing/2014/main" id="{44798234-6987-44FA-8065-654E41DA2B7D}"/>
              </a:ext>
            </a:extLst>
          </p:cNvPr>
          <p:cNvSpPr>
            <a:spLocks noChangeAspect="1"/>
          </p:cNvSpPr>
          <p:nvPr/>
        </p:nvSpPr>
        <p:spPr>
          <a:xfrm>
            <a:off x="9164088" y="2284599"/>
            <a:ext cx="108000" cy="108000"/>
          </a:xfrm>
          <a:prstGeom prst="ellipse">
            <a:avLst/>
          </a:prstGeom>
          <a:solidFill>
            <a:schemeClr val="tx2"/>
          </a:solidFill>
          <a:ln w="38100" cap="rnd" cmpd="sng" algn="ctr">
            <a:solidFill>
              <a:srgbClr val="F7F7F7"/>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200">
              <a:solidFill>
                <a:srgbClr val="FFFFFF"/>
              </a:solidFill>
            </a:endParaRPr>
          </a:p>
        </p:txBody>
      </p:sp>
      <p:grpSp>
        <p:nvGrpSpPr>
          <p:cNvPr id="565" name="Group 564">
            <a:extLst>
              <a:ext uri="{FF2B5EF4-FFF2-40B4-BE49-F238E27FC236}">
                <a16:creationId xmlns:a16="http://schemas.microsoft.com/office/drawing/2014/main" id="{FC60D2C3-CFA0-42C8-8534-F360AE8EDA73}"/>
              </a:ext>
            </a:extLst>
          </p:cNvPr>
          <p:cNvGrpSpPr/>
          <p:nvPr/>
        </p:nvGrpSpPr>
        <p:grpSpPr>
          <a:xfrm>
            <a:off x="5740133" y="5546396"/>
            <a:ext cx="906220" cy="919941"/>
            <a:chOff x="5803149" y="7153110"/>
            <a:chExt cx="823836" cy="836310"/>
          </a:xfrm>
        </p:grpSpPr>
        <p:sp>
          <p:nvSpPr>
            <p:cNvPr id="566" name="Freeform: Shape 565">
              <a:extLst>
                <a:ext uri="{FF2B5EF4-FFF2-40B4-BE49-F238E27FC236}">
                  <a16:creationId xmlns:a16="http://schemas.microsoft.com/office/drawing/2014/main" id="{9F31E686-D33D-4004-98C1-9A0D2D7298FE}"/>
                </a:ext>
              </a:extLst>
            </p:cNvPr>
            <p:cNvSpPr/>
            <p:nvPr/>
          </p:nvSpPr>
          <p:spPr>
            <a:xfrm rot="10800000">
              <a:off x="5927288" y="7343407"/>
              <a:ext cx="597822" cy="471460"/>
            </a:xfrm>
            <a:custGeom>
              <a:avLst/>
              <a:gdLst>
                <a:gd name="connsiteX0" fmla="*/ 0 w 597822"/>
                <a:gd name="connsiteY0" fmla="*/ 0 h 471460"/>
                <a:gd name="connsiteX1" fmla="*/ 597822 w 597822"/>
                <a:gd name="connsiteY1" fmla="*/ 0 h 471460"/>
                <a:gd name="connsiteX2" fmla="*/ 597822 w 597822"/>
                <a:gd name="connsiteY2" fmla="*/ 471460 h 471460"/>
                <a:gd name="connsiteX3" fmla="*/ 0 w 597822"/>
                <a:gd name="connsiteY3" fmla="*/ 471460 h 471460"/>
              </a:gdLst>
              <a:ahLst/>
              <a:cxnLst>
                <a:cxn ang="0">
                  <a:pos x="connsiteX0" y="connsiteY0"/>
                </a:cxn>
                <a:cxn ang="0">
                  <a:pos x="connsiteX1" y="connsiteY1"/>
                </a:cxn>
                <a:cxn ang="0">
                  <a:pos x="connsiteX2" y="connsiteY2"/>
                </a:cxn>
                <a:cxn ang="0">
                  <a:pos x="connsiteX3" y="connsiteY3"/>
                </a:cxn>
              </a:cxnLst>
              <a:rect l="l" t="t" r="r" b="b"/>
              <a:pathLst>
                <a:path w="597822" h="471460">
                  <a:moveTo>
                    <a:pt x="0" y="0"/>
                  </a:moveTo>
                  <a:lnTo>
                    <a:pt x="597822" y="0"/>
                  </a:lnTo>
                  <a:lnTo>
                    <a:pt x="597822" y="471460"/>
                  </a:lnTo>
                  <a:lnTo>
                    <a:pt x="0" y="471460"/>
                  </a:lnTo>
                  <a:close/>
                </a:path>
              </a:pathLst>
            </a:custGeom>
            <a:solidFill>
              <a:schemeClr val="bg1"/>
            </a:solidFill>
            <a:ln w="3745" cap="flat">
              <a:noFill/>
              <a:prstDash val="solid"/>
              <a:miter/>
            </a:ln>
            <a:effectLst>
              <a:outerShdw blurRad="127000" algn="ctr" rotWithShape="0">
                <a:schemeClr val="bg1">
                  <a:lumMod val="75000"/>
                  <a:alpha val="40000"/>
                </a:schemeClr>
              </a:outerShdw>
            </a:effectLst>
          </p:spPr>
          <p:txBody>
            <a:bodyPr rtlCol="0" anchor="ctr"/>
            <a:lstStyle/>
            <a:p>
              <a:endParaRPr lang="en-US"/>
            </a:p>
          </p:txBody>
        </p:sp>
        <p:sp>
          <p:nvSpPr>
            <p:cNvPr id="567" name="Freeform: Shape 566">
              <a:extLst>
                <a:ext uri="{FF2B5EF4-FFF2-40B4-BE49-F238E27FC236}">
                  <a16:creationId xmlns:a16="http://schemas.microsoft.com/office/drawing/2014/main" id="{2031A7E2-F52E-46F9-9522-7D5486465369}"/>
                </a:ext>
              </a:extLst>
            </p:cNvPr>
            <p:cNvSpPr/>
            <p:nvPr/>
          </p:nvSpPr>
          <p:spPr>
            <a:xfrm>
              <a:off x="5812693" y="7504733"/>
              <a:ext cx="122464" cy="122464"/>
            </a:xfrm>
            <a:custGeom>
              <a:avLst/>
              <a:gdLst>
                <a:gd name="connsiteX0" fmla="*/ 122465 w 122464"/>
                <a:gd name="connsiteY0" fmla="*/ 61232 h 122464"/>
                <a:gd name="connsiteX1" fmla="*/ 61232 w 122464"/>
                <a:gd name="connsiteY1" fmla="*/ 122465 h 122464"/>
                <a:gd name="connsiteX2" fmla="*/ 0 w 122464"/>
                <a:gd name="connsiteY2" fmla="*/ 61232 h 122464"/>
                <a:gd name="connsiteX3" fmla="*/ 61232 w 122464"/>
                <a:gd name="connsiteY3" fmla="*/ 0 h 122464"/>
                <a:gd name="connsiteX4" fmla="*/ 122465 w 122464"/>
                <a:gd name="connsiteY4" fmla="*/ 61232 h 1224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64" h="122464">
                  <a:moveTo>
                    <a:pt x="122465" y="61232"/>
                  </a:moveTo>
                  <a:cubicBezTo>
                    <a:pt x="122465" y="95050"/>
                    <a:pt x="95050" y="122465"/>
                    <a:pt x="61232" y="122465"/>
                  </a:cubicBezTo>
                  <a:cubicBezTo>
                    <a:pt x="27415" y="122465"/>
                    <a:pt x="0" y="95050"/>
                    <a:pt x="0" y="61232"/>
                  </a:cubicBezTo>
                  <a:cubicBezTo>
                    <a:pt x="0" y="27415"/>
                    <a:pt x="27415" y="0"/>
                    <a:pt x="61232" y="0"/>
                  </a:cubicBezTo>
                  <a:cubicBezTo>
                    <a:pt x="95050" y="0"/>
                    <a:pt x="122465" y="27415"/>
                    <a:pt x="122465" y="61232"/>
                  </a:cubicBezTo>
                  <a:close/>
                </a:path>
              </a:pathLst>
            </a:custGeom>
            <a:solidFill>
              <a:srgbClr val="1D2333"/>
            </a:solidFill>
            <a:ln w="3745" cap="flat">
              <a:noFill/>
              <a:prstDash val="solid"/>
              <a:miter/>
            </a:ln>
          </p:spPr>
          <p:txBody>
            <a:bodyPr rtlCol="0" anchor="ctr"/>
            <a:lstStyle/>
            <a:p>
              <a:endParaRPr lang="en-US"/>
            </a:p>
          </p:txBody>
        </p:sp>
        <p:sp>
          <p:nvSpPr>
            <p:cNvPr id="568" name="Freeform: Shape 567">
              <a:extLst>
                <a:ext uri="{FF2B5EF4-FFF2-40B4-BE49-F238E27FC236}">
                  <a16:creationId xmlns:a16="http://schemas.microsoft.com/office/drawing/2014/main" id="{9C43D732-B436-4C4D-AF64-AAF2AFF0925E}"/>
                </a:ext>
              </a:extLst>
            </p:cNvPr>
            <p:cNvSpPr/>
            <p:nvPr/>
          </p:nvSpPr>
          <p:spPr>
            <a:xfrm>
              <a:off x="6159215" y="7452269"/>
              <a:ext cx="133969" cy="36424"/>
            </a:xfrm>
            <a:custGeom>
              <a:avLst/>
              <a:gdLst>
                <a:gd name="connsiteX0" fmla="*/ 18212 w 133969"/>
                <a:gd name="connsiteY0" fmla="*/ 36425 h 36424"/>
                <a:gd name="connsiteX1" fmla="*/ 115757 w 133969"/>
                <a:gd name="connsiteY1" fmla="*/ 36425 h 36424"/>
                <a:gd name="connsiteX2" fmla="*/ 133969 w 133969"/>
                <a:gd name="connsiteY2" fmla="*/ 18212 h 36424"/>
                <a:gd name="connsiteX3" fmla="*/ 115757 w 133969"/>
                <a:gd name="connsiteY3" fmla="*/ 0 h 36424"/>
                <a:gd name="connsiteX4" fmla="*/ 18212 w 133969"/>
                <a:gd name="connsiteY4" fmla="*/ 0 h 36424"/>
                <a:gd name="connsiteX5" fmla="*/ 0 w 133969"/>
                <a:gd name="connsiteY5" fmla="*/ 18212 h 36424"/>
                <a:gd name="connsiteX6" fmla="*/ 18212 w 133969"/>
                <a:gd name="connsiteY6" fmla="*/ 36425 h 36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969" h="36424">
                  <a:moveTo>
                    <a:pt x="18212" y="36425"/>
                  </a:moveTo>
                  <a:lnTo>
                    <a:pt x="115757" y="36425"/>
                  </a:lnTo>
                  <a:cubicBezTo>
                    <a:pt x="125800" y="36425"/>
                    <a:pt x="133969" y="28255"/>
                    <a:pt x="133969" y="18212"/>
                  </a:cubicBezTo>
                  <a:cubicBezTo>
                    <a:pt x="133969" y="8169"/>
                    <a:pt x="125800" y="0"/>
                    <a:pt x="115757" y="0"/>
                  </a:cubicBezTo>
                  <a:lnTo>
                    <a:pt x="18212" y="0"/>
                  </a:lnTo>
                  <a:cubicBezTo>
                    <a:pt x="8169" y="0"/>
                    <a:pt x="0" y="8169"/>
                    <a:pt x="0" y="18212"/>
                  </a:cubicBezTo>
                  <a:cubicBezTo>
                    <a:pt x="0" y="28255"/>
                    <a:pt x="8169" y="36425"/>
                    <a:pt x="18212" y="36425"/>
                  </a:cubicBezTo>
                  <a:close/>
                </a:path>
              </a:pathLst>
            </a:custGeom>
            <a:solidFill>
              <a:schemeClr val="accent6"/>
            </a:solidFill>
            <a:ln w="3745" cap="flat">
              <a:noFill/>
              <a:prstDash val="solid"/>
              <a:miter/>
            </a:ln>
          </p:spPr>
          <p:txBody>
            <a:bodyPr rtlCol="0" anchor="ctr"/>
            <a:lstStyle/>
            <a:p>
              <a:endParaRPr lang="en-US"/>
            </a:p>
          </p:txBody>
        </p:sp>
        <p:sp>
          <p:nvSpPr>
            <p:cNvPr id="569" name="Freeform: Shape 568">
              <a:extLst>
                <a:ext uri="{FF2B5EF4-FFF2-40B4-BE49-F238E27FC236}">
                  <a16:creationId xmlns:a16="http://schemas.microsoft.com/office/drawing/2014/main" id="{7B9BFDF5-E917-40F0-8308-40ECBDA01C0C}"/>
                </a:ext>
              </a:extLst>
            </p:cNvPr>
            <p:cNvSpPr/>
            <p:nvPr/>
          </p:nvSpPr>
          <p:spPr>
            <a:xfrm>
              <a:off x="6053201" y="7589986"/>
              <a:ext cx="352929" cy="103840"/>
            </a:xfrm>
            <a:custGeom>
              <a:avLst/>
              <a:gdLst>
                <a:gd name="connsiteX0" fmla="*/ 348433 w 352929"/>
                <a:gd name="connsiteY0" fmla="*/ 103803 h 103840"/>
                <a:gd name="connsiteX1" fmla="*/ 343899 w 352929"/>
                <a:gd name="connsiteY1" fmla="*/ 99269 h 103840"/>
                <a:gd name="connsiteX2" fmla="*/ 343899 w 352929"/>
                <a:gd name="connsiteY2" fmla="*/ 9031 h 103840"/>
                <a:gd name="connsiteX3" fmla="*/ 9069 w 352929"/>
                <a:gd name="connsiteY3" fmla="*/ 9031 h 103840"/>
                <a:gd name="connsiteX4" fmla="*/ 9069 w 352929"/>
                <a:gd name="connsiteY4" fmla="*/ 81094 h 103840"/>
                <a:gd name="connsiteX5" fmla="*/ 4534 w 352929"/>
                <a:gd name="connsiteY5" fmla="*/ 85628 h 103840"/>
                <a:gd name="connsiteX6" fmla="*/ 0 w 352929"/>
                <a:gd name="connsiteY6" fmla="*/ 81094 h 103840"/>
                <a:gd name="connsiteX7" fmla="*/ 0 w 352929"/>
                <a:gd name="connsiteY7" fmla="*/ 4534 h 103840"/>
                <a:gd name="connsiteX8" fmla="*/ 4534 w 352929"/>
                <a:gd name="connsiteY8" fmla="*/ 0 h 103840"/>
                <a:gd name="connsiteX9" fmla="*/ 348396 w 352929"/>
                <a:gd name="connsiteY9" fmla="*/ 0 h 103840"/>
                <a:gd name="connsiteX10" fmla="*/ 352930 w 352929"/>
                <a:gd name="connsiteY10" fmla="*/ 4534 h 103840"/>
                <a:gd name="connsiteX11" fmla="*/ 352930 w 352929"/>
                <a:gd name="connsiteY11" fmla="*/ 99306 h 103840"/>
                <a:gd name="connsiteX12" fmla="*/ 348396 w 352929"/>
                <a:gd name="connsiteY12" fmla="*/ 103840 h 10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2929" h="103840">
                  <a:moveTo>
                    <a:pt x="348433" y="103803"/>
                  </a:moveTo>
                  <a:cubicBezTo>
                    <a:pt x="345922" y="103803"/>
                    <a:pt x="343899" y="101779"/>
                    <a:pt x="343899" y="99269"/>
                  </a:cubicBezTo>
                  <a:lnTo>
                    <a:pt x="343899" y="9031"/>
                  </a:lnTo>
                  <a:lnTo>
                    <a:pt x="9069" y="9031"/>
                  </a:lnTo>
                  <a:lnTo>
                    <a:pt x="9069" y="81094"/>
                  </a:lnTo>
                  <a:cubicBezTo>
                    <a:pt x="9069" y="83604"/>
                    <a:pt x="7045" y="85628"/>
                    <a:pt x="4534" y="85628"/>
                  </a:cubicBezTo>
                  <a:cubicBezTo>
                    <a:pt x="2024" y="85628"/>
                    <a:pt x="0" y="83604"/>
                    <a:pt x="0" y="81094"/>
                  </a:cubicBezTo>
                  <a:lnTo>
                    <a:pt x="0" y="4534"/>
                  </a:lnTo>
                  <a:cubicBezTo>
                    <a:pt x="0" y="2024"/>
                    <a:pt x="2024" y="0"/>
                    <a:pt x="4534" y="0"/>
                  </a:cubicBezTo>
                  <a:lnTo>
                    <a:pt x="348396" y="0"/>
                  </a:lnTo>
                  <a:cubicBezTo>
                    <a:pt x="350906" y="0"/>
                    <a:pt x="352930" y="2024"/>
                    <a:pt x="352930" y="4534"/>
                  </a:cubicBezTo>
                  <a:lnTo>
                    <a:pt x="352930" y="99306"/>
                  </a:lnTo>
                  <a:cubicBezTo>
                    <a:pt x="352930" y="101817"/>
                    <a:pt x="350906" y="103840"/>
                    <a:pt x="348396" y="103840"/>
                  </a:cubicBezTo>
                  <a:close/>
                </a:path>
              </a:pathLst>
            </a:custGeom>
            <a:solidFill>
              <a:schemeClr val="accent6"/>
            </a:solidFill>
            <a:ln w="3745" cap="flat">
              <a:noFill/>
              <a:prstDash val="solid"/>
              <a:miter/>
            </a:ln>
          </p:spPr>
          <p:txBody>
            <a:bodyPr rtlCol="0" anchor="ctr"/>
            <a:lstStyle/>
            <a:p>
              <a:endParaRPr lang="en-US"/>
            </a:p>
          </p:txBody>
        </p:sp>
        <p:sp>
          <p:nvSpPr>
            <p:cNvPr id="570" name="Freeform: Shape 569">
              <a:extLst>
                <a:ext uri="{FF2B5EF4-FFF2-40B4-BE49-F238E27FC236}">
                  <a16:creationId xmlns:a16="http://schemas.microsoft.com/office/drawing/2014/main" id="{1513EE11-11CF-4A4E-A241-0D557928DE95}"/>
                </a:ext>
              </a:extLst>
            </p:cNvPr>
            <p:cNvSpPr/>
            <p:nvPr/>
          </p:nvSpPr>
          <p:spPr>
            <a:xfrm>
              <a:off x="6221684" y="7465947"/>
              <a:ext cx="9068" cy="133070"/>
            </a:xfrm>
            <a:custGeom>
              <a:avLst/>
              <a:gdLst>
                <a:gd name="connsiteX0" fmla="*/ 4534 w 9068"/>
                <a:gd name="connsiteY0" fmla="*/ 133070 h 133070"/>
                <a:gd name="connsiteX1" fmla="*/ 0 w 9068"/>
                <a:gd name="connsiteY1" fmla="*/ 128536 h 133070"/>
                <a:gd name="connsiteX2" fmla="*/ 0 w 9068"/>
                <a:gd name="connsiteY2" fmla="*/ 4534 h 133070"/>
                <a:gd name="connsiteX3" fmla="*/ 4534 w 9068"/>
                <a:gd name="connsiteY3" fmla="*/ 0 h 133070"/>
                <a:gd name="connsiteX4" fmla="*/ 9069 w 9068"/>
                <a:gd name="connsiteY4" fmla="*/ 4534 h 133070"/>
                <a:gd name="connsiteX5" fmla="*/ 9069 w 9068"/>
                <a:gd name="connsiteY5" fmla="*/ 128536 h 133070"/>
                <a:gd name="connsiteX6" fmla="*/ 4534 w 9068"/>
                <a:gd name="connsiteY6" fmla="*/ 133070 h 133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68" h="133070">
                  <a:moveTo>
                    <a:pt x="4534" y="133070"/>
                  </a:moveTo>
                  <a:cubicBezTo>
                    <a:pt x="2024" y="133070"/>
                    <a:pt x="0" y="131046"/>
                    <a:pt x="0" y="128536"/>
                  </a:cubicBezTo>
                  <a:lnTo>
                    <a:pt x="0" y="4534"/>
                  </a:lnTo>
                  <a:cubicBezTo>
                    <a:pt x="0" y="2024"/>
                    <a:pt x="2024" y="0"/>
                    <a:pt x="4534" y="0"/>
                  </a:cubicBezTo>
                  <a:cubicBezTo>
                    <a:pt x="7045" y="0"/>
                    <a:pt x="9069" y="2024"/>
                    <a:pt x="9069" y="4534"/>
                  </a:cubicBezTo>
                  <a:lnTo>
                    <a:pt x="9069" y="128536"/>
                  </a:lnTo>
                  <a:cubicBezTo>
                    <a:pt x="9069" y="131046"/>
                    <a:pt x="7045" y="133070"/>
                    <a:pt x="4534" y="133070"/>
                  </a:cubicBezTo>
                  <a:close/>
                </a:path>
              </a:pathLst>
            </a:custGeom>
            <a:solidFill>
              <a:schemeClr val="accent6"/>
            </a:solidFill>
            <a:ln w="3745" cap="flat">
              <a:noFill/>
              <a:prstDash val="solid"/>
              <a:miter/>
            </a:ln>
          </p:spPr>
          <p:txBody>
            <a:bodyPr rtlCol="0" anchor="ctr"/>
            <a:lstStyle/>
            <a:p>
              <a:endParaRPr lang="en-US"/>
            </a:p>
          </p:txBody>
        </p:sp>
        <p:sp>
          <p:nvSpPr>
            <p:cNvPr id="571" name="Freeform: Shape 570">
              <a:extLst>
                <a:ext uri="{FF2B5EF4-FFF2-40B4-BE49-F238E27FC236}">
                  <a16:creationId xmlns:a16="http://schemas.microsoft.com/office/drawing/2014/main" id="{2F69577C-A7F9-49D6-BEB8-3B8E7F19E404}"/>
                </a:ext>
              </a:extLst>
            </p:cNvPr>
            <p:cNvSpPr/>
            <p:nvPr/>
          </p:nvSpPr>
          <p:spPr>
            <a:xfrm>
              <a:off x="6334630" y="7671080"/>
              <a:ext cx="133969" cy="36424"/>
            </a:xfrm>
            <a:custGeom>
              <a:avLst/>
              <a:gdLst>
                <a:gd name="connsiteX0" fmla="*/ 18212 w 133969"/>
                <a:gd name="connsiteY0" fmla="*/ 36425 h 36424"/>
                <a:gd name="connsiteX1" fmla="*/ 115757 w 133969"/>
                <a:gd name="connsiteY1" fmla="*/ 36425 h 36424"/>
                <a:gd name="connsiteX2" fmla="*/ 133969 w 133969"/>
                <a:gd name="connsiteY2" fmla="*/ 18212 h 36424"/>
                <a:gd name="connsiteX3" fmla="*/ 115757 w 133969"/>
                <a:gd name="connsiteY3" fmla="*/ 0 h 36424"/>
                <a:gd name="connsiteX4" fmla="*/ 18212 w 133969"/>
                <a:gd name="connsiteY4" fmla="*/ 0 h 36424"/>
                <a:gd name="connsiteX5" fmla="*/ 0 w 133969"/>
                <a:gd name="connsiteY5" fmla="*/ 18212 h 36424"/>
                <a:gd name="connsiteX6" fmla="*/ 18212 w 133969"/>
                <a:gd name="connsiteY6" fmla="*/ 36425 h 36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969" h="36424">
                  <a:moveTo>
                    <a:pt x="18212" y="36425"/>
                  </a:moveTo>
                  <a:lnTo>
                    <a:pt x="115757" y="36425"/>
                  </a:lnTo>
                  <a:cubicBezTo>
                    <a:pt x="125800" y="36425"/>
                    <a:pt x="133969" y="28255"/>
                    <a:pt x="133969" y="18212"/>
                  </a:cubicBezTo>
                  <a:cubicBezTo>
                    <a:pt x="133969" y="8169"/>
                    <a:pt x="125800" y="0"/>
                    <a:pt x="115757" y="0"/>
                  </a:cubicBezTo>
                  <a:lnTo>
                    <a:pt x="18212" y="0"/>
                  </a:lnTo>
                  <a:cubicBezTo>
                    <a:pt x="8169" y="0"/>
                    <a:pt x="0" y="8169"/>
                    <a:pt x="0" y="18212"/>
                  </a:cubicBezTo>
                  <a:cubicBezTo>
                    <a:pt x="0" y="28255"/>
                    <a:pt x="8169" y="36425"/>
                    <a:pt x="18212" y="36425"/>
                  </a:cubicBezTo>
                  <a:close/>
                </a:path>
              </a:pathLst>
            </a:custGeom>
            <a:solidFill>
              <a:schemeClr val="accent6"/>
            </a:solidFill>
            <a:ln w="3745" cap="flat">
              <a:noFill/>
              <a:prstDash val="solid"/>
              <a:miter/>
            </a:ln>
          </p:spPr>
          <p:txBody>
            <a:bodyPr rtlCol="0" anchor="ctr"/>
            <a:lstStyle/>
            <a:p>
              <a:endParaRPr lang="en-US"/>
            </a:p>
          </p:txBody>
        </p:sp>
        <p:sp>
          <p:nvSpPr>
            <p:cNvPr id="572" name="Freeform: Shape 571">
              <a:extLst>
                <a:ext uri="{FF2B5EF4-FFF2-40B4-BE49-F238E27FC236}">
                  <a16:creationId xmlns:a16="http://schemas.microsoft.com/office/drawing/2014/main" id="{666AE779-57EA-46DE-9025-F11934E71F8F}"/>
                </a:ext>
              </a:extLst>
            </p:cNvPr>
            <p:cNvSpPr/>
            <p:nvPr/>
          </p:nvSpPr>
          <p:spPr>
            <a:xfrm>
              <a:off x="5990769" y="7671080"/>
              <a:ext cx="133969" cy="36424"/>
            </a:xfrm>
            <a:custGeom>
              <a:avLst/>
              <a:gdLst>
                <a:gd name="connsiteX0" fmla="*/ 18212 w 133969"/>
                <a:gd name="connsiteY0" fmla="*/ 36425 h 36424"/>
                <a:gd name="connsiteX1" fmla="*/ 115757 w 133969"/>
                <a:gd name="connsiteY1" fmla="*/ 36425 h 36424"/>
                <a:gd name="connsiteX2" fmla="*/ 133969 w 133969"/>
                <a:gd name="connsiteY2" fmla="*/ 18212 h 36424"/>
                <a:gd name="connsiteX3" fmla="*/ 115757 w 133969"/>
                <a:gd name="connsiteY3" fmla="*/ 0 h 36424"/>
                <a:gd name="connsiteX4" fmla="*/ 18212 w 133969"/>
                <a:gd name="connsiteY4" fmla="*/ 0 h 36424"/>
                <a:gd name="connsiteX5" fmla="*/ 0 w 133969"/>
                <a:gd name="connsiteY5" fmla="*/ 18212 h 36424"/>
                <a:gd name="connsiteX6" fmla="*/ 18212 w 133969"/>
                <a:gd name="connsiteY6" fmla="*/ 36425 h 36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969" h="36424">
                  <a:moveTo>
                    <a:pt x="18212" y="36425"/>
                  </a:moveTo>
                  <a:lnTo>
                    <a:pt x="115757" y="36425"/>
                  </a:lnTo>
                  <a:cubicBezTo>
                    <a:pt x="125800" y="36425"/>
                    <a:pt x="133969" y="28255"/>
                    <a:pt x="133969" y="18212"/>
                  </a:cubicBezTo>
                  <a:cubicBezTo>
                    <a:pt x="133969" y="8169"/>
                    <a:pt x="125800" y="0"/>
                    <a:pt x="115757" y="0"/>
                  </a:cubicBezTo>
                  <a:lnTo>
                    <a:pt x="18212" y="0"/>
                  </a:lnTo>
                  <a:cubicBezTo>
                    <a:pt x="8169" y="0"/>
                    <a:pt x="0" y="8169"/>
                    <a:pt x="0" y="18212"/>
                  </a:cubicBezTo>
                  <a:cubicBezTo>
                    <a:pt x="0" y="28255"/>
                    <a:pt x="8169" y="36425"/>
                    <a:pt x="18212" y="36425"/>
                  </a:cubicBezTo>
                  <a:close/>
                </a:path>
              </a:pathLst>
            </a:custGeom>
            <a:solidFill>
              <a:srgbClr val="62B276"/>
            </a:solidFill>
            <a:ln w="3745" cap="flat">
              <a:noFill/>
              <a:prstDash val="solid"/>
              <a:miter/>
            </a:ln>
          </p:spPr>
          <p:txBody>
            <a:bodyPr rtlCol="0" anchor="ctr"/>
            <a:lstStyle/>
            <a:p>
              <a:endParaRPr lang="en-US"/>
            </a:p>
          </p:txBody>
        </p:sp>
        <p:sp>
          <p:nvSpPr>
            <p:cNvPr id="573" name="Freeform: Shape 572">
              <a:extLst>
                <a:ext uri="{FF2B5EF4-FFF2-40B4-BE49-F238E27FC236}">
                  <a16:creationId xmlns:a16="http://schemas.microsoft.com/office/drawing/2014/main" id="{EDF5B82A-7046-496E-B2DA-2D528F35B99F}"/>
                </a:ext>
              </a:extLst>
            </p:cNvPr>
            <p:cNvSpPr/>
            <p:nvPr/>
          </p:nvSpPr>
          <p:spPr>
            <a:xfrm>
              <a:off x="5977091" y="7400855"/>
              <a:ext cx="498216" cy="9068"/>
            </a:xfrm>
            <a:custGeom>
              <a:avLst/>
              <a:gdLst>
                <a:gd name="connsiteX0" fmla="*/ 493682 w 498216"/>
                <a:gd name="connsiteY0" fmla="*/ 9069 h 9068"/>
                <a:gd name="connsiteX1" fmla="*/ 4534 w 498216"/>
                <a:gd name="connsiteY1" fmla="*/ 9069 h 9068"/>
                <a:gd name="connsiteX2" fmla="*/ 0 w 498216"/>
                <a:gd name="connsiteY2" fmla="*/ 4534 h 9068"/>
                <a:gd name="connsiteX3" fmla="*/ 4534 w 498216"/>
                <a:gd name="connsiteY3" fmla="*/ 0 h 9068"/>
                <a:gd name="connsiteX4" fmla="*/ 493682 w 498216"/>
                <a:gd name="connsiteY4" fmla="*/ 0 h 9068"/>
                <a:gd name="connsiteX5" fmla="*/ 498216 w 498216"/>
                <a:gd name="connsiteY5" fmla="*/ 4534 h 9068"/>
                <a:gd name="connsiteX6" fmla="*/ 493682 w 498216"/>
                <a:gd name="connsiteY6" fmla="*/ 9069 h 9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8216" h="9068">
                  <a:moveTo>
                    <a:pt x="493682" y="9069"/>
                  </a:moveTo>
                  <a:lnTo>
                    <a:pt x="4534" y="9069"/>
                  </a:lnTo>
                  <a:cubicBezTo>
                    <a:pt x="2024" y="9069"/>
                    <a:pt x="0" y="7045"/>
                    <a:pt x="0" y="4534"/>
                  </a:cubicBezTo>
                  <a:cubicBezTo>
                    <a:pt x="0" y="2024"/>
                    <a:pt x="2024" y="0"/>
                    <a:pt x="4534" y="0"/>
                  </a:cubicBezTo>
                  <a:lnTo>
                    <a:pt x="493682" y="0"/>
                  </a:lnTo>
                  <a:cubicBezTo>
                    <a:pt x="496193" y="0"/>
                    <a:pt x="498216" y="2024"/>
                    <a:pt x="498216" y="4534"/>
                  </a:cubicBezTo>
                  <a:cubicBezTo>
                    <a:pt x="498216" y="7045"/>
                    <a:pt x="496193" y="9069"/>
                    <a:pt x="493682" y="9069"/>
                  </a:cubicBezTo>
                  <a:close/>
                </a:path>
              </a:pathLst>
            </a:custGeom>
            <a:solidFill>
              <a:schemeClr val="accent6">
                <a:lumMod val="75000"/>
              </a:schemeClr>
            </a:solidFill>
            <a:ln w="3745" cap="flat">
              <a:noFill/>
              <a:prstDash val="solid"/>
              <a:miter/>
            </a:ln>
          </p:spPr>
          <p:txBody>
            <a:bodyPr rtlCol="0" anchor="ctr"/>
            <a:lstStyle/>
            <a:p>
              <a:endParaRPr lang="en-US"/>
            </a:p>
          </p:txBody>
        </p:sp>
        <p:sp>
          <p:nvSpPr>
            <p:cNvPr id="574" name="Freeform: Shape 573">
              <a:extLst>
                <a:ext uri="{FF2B5EF4-FFF2-40B4-BE49-F238E27FC236}">
                  <a16:creationId xmlns:a16="http://schemas.microsoft.com/office/drawing/2014/main" id="{AD2BBCCF-4301-43F6-B88E-E3FD41D750DF}"/>
                </a:ext>
              </a:extLst>
            </p:cNvPr>
            <p:cNvSpPr/>
            <p:nvPr/>
          </p:nvSpPr>
          <p:spPr>
            <a:xfrm rot="19888199">
              <a:off x="6316326" y="7206027"/>
              <a:ext cx="310659" cy="310659"/>
            </a:xfrm>
            <a:custGeom>
              <a:avLst/>
              <a:gdLst>
                <a:gd name="connsiteX0" fmla="*/ 310659 w 310659"/>
                <a:gd name="connsiteY0" fmla="*/ 155330 h 310659"/>
                <a:gd name="connsiteX1" fmla="*/ 155330 w 310659"/>
                <a:gd name="connsiteY1" fmla="*/ 310659 h 310659"/>
                <a:gd name="connsiteX2" fmla="*/ 0 w 310659"/>
                <a:gd name="connsiteY2" fmla="*/ 155330 h 310659"/>
                <a:gd name="connsiteX3" fmla="*/ 155330 w 310659"/>
                <a:gd name="connsiteY3" fmla="*/ 0 h 310659"/>
                <a:gd name="connsiteX4" fmla="*/ 310659 w 310659"/>
                <a:gd name="connsiteY4" fmla="*/ 155330 h 310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659" h="310659">
                  <a:moveTo>
                    <a:pt x="310659" y="155330"/>
                  </a:moveTo>
                  <a:cubicBezTo>
                    <a:pt x="310659" y="241116"/>
                    <a:pt x="241116" y="310659"/>
                    <a:pt x="155330" y="310659"/>
                  </a:cubicBezTo>
                  <a:cubicBezTo>
                    <a:pt x="69543" y="310659"/>
                    <a:pt x="0" y="241116"/>
                    <a:pt x="0" y="155330"/>
                  </a:cubicBezTo>
                  <a:cubicBezTo>
                    <a:pt x="0" y="69543"/>
                    <a:pt x="69543" y="0"/>
                    <a:pt x="155330" y="0"/>
                  </a:cubicBezTo>
                  <a:cubicBezTo>
                    <a:pt x="241116" y="0"/>
                    <a:pt x="310659" y="69543"/>
                    <a:pt x="310659" y="155330"/>
                  </a:cubicBezTo>
                  <a:close/>
                </a:path>
              </a:pathLst>
            </a:custGeom>
            <a:solidFill>
              <a:schemeClr val="accent3"/>
            </a:solidFill>
            <a:ln w="3745" cap="flat">
              <a:noFill/>
              <a:prstDash val="solid"/>
              <a:miter/>
            </a:ln>
          </p:spPr>
          <p:txBody>
            <a:bodyPr rtlCol="0" anchor="ctr"/>
            <a:lstStyle/>
            <a:p>
              <a:endParaRPr lang="en-US"/>
            </a:p>
          </p:txBody>
        </p:sp>
        <p:grpSp>
          <p:nvGrpSpPr>
            <p:cNvPr id="575" name="Graphic 826">
              <a:extLst>
                <a:ext uri="{FF2B5EF4-FFF2-40B4-BE49-F238E27FC236}">
                  <a16:creationId xmlns:a16="http://schemas.microsoft.com/office/drawing/2014/main" id="{0736DA26-6362-4D56-9928-D1D7D8144CB8}"/>
                </a:ext>
              </a:extLst>
            </p:cNvPr>
            <p:cNvGrpSpPr/>
            <p:nvPr/>
          </p:nvGrpSpPr>
          <p:grpSpPr>
            <a:xfrm>
              <a:off x="6373004" y="7263176"/>
              <a:ext cx="196588" cy="196588"/>
              <a:chOff x="6373004" y="5738033"/>
              <a:chExt cx="196588" cy="196588"/>
            </a:xfrm>
            <a:solidFill>
              <a:srgbClr val="FFFFFF"/>
            </a:solidFill>
          </p:grpSpPr>
          <p:sp>
            <p:nvSpPr>
              <p:cNvPr id="603" name="Freeform: Shape 602">
                <a:extLst>
                  <a:ext uri="{FF2B5EF4-FFF2-40B4-BE49-F238E27FC236}">
                    <a16:creationId xmlns:a16="http://schemas.microsoft.com/office/drawing/2014/main" id="{BE0D2818-4EBD-4BB1-9011-94BF45DFE86F}"/>
                  </a:ext>
                </a:extLst>
              </p:cNvPr>
              <p:cNvSpPr/>
              <p:nvPr/>
            </p:nvSpPr>
            <p:spPr>
              <a:xfrm>
                <a:off x="6373004" y="5738033"/>
                <a:ext cx="196588" cy="196588"/>
              </a:xfrm>
              <a:custGeom>
                <a:avLst/>
                <a:gdLst>
                  <a:gd name="connsiteX0" fmla="*/ 98294 w 196588"/>
                  <a:gd name="connsiteY0" fmla="*/ 196588 h 196588"/>
                  <a:gd name="connsiteX1" fmla="*/ 0 w 196588"/>
                  <a:gd name="connsiteY1" fmla="*/ 98294 h 196588"/>
                  <a:gd name="connsiteX2" fmla="*/ 98294 w 196588"/>
                  <a:gd name="connsiteY2" fmla="*/ 0 h 196588"/>
                  <a:gd name="connsiteX3" fmla="*/ 196588 w 196588"/>
                  <a:gd name="connsiteY3" fmla="*/ 98294 h 196588"/>
                  <a:gd name="connsiteX4" fmla="*/ 98294 w 196588"/>
                  <a:gd name="connsiteY4" fmla="*/ 196588 h 196588"/>
                  <a:gd name="connsiteX5" fmla="*/ 98294 w 196588"/>
                  <a:gd name="connsiteY5" fmla="*/ 6258 h 196588"/>
                  <a:gd name="connsiteX6" fmla="*/ 6258 w 196588"/>
                  <a:gd name="connsiteY6" fmla="*/ 98294 h 196588"/>
                  <a:gd name="connsiteX7" fmla="*/ 98294 w 196588"/>
                  <a:gd name="connsiteY7" fmla="*/ 190330 h 196588"/>
                  <a:gd name="connsiteX8" fmla="*/ 190330 w 196588"/>
                  <a:gd name="connsiteY8" fmla="*/ 98294 h 196588"/>
                  <a:gd name="connsiteX9" fmla="*/ 98294 w 196588"/>
                  <a:gd name="connsiteY9" fmla="*/ 6258 h 196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588" h="196588">
                    <a:moveTo>
                      <a:pt x="98294" y="196588"/>
                    </a:moveTo>
                    <a:cubicBezTo>
                      <a:pt x="44107" y="196588"/>
                      <a:pt x="0" y="152482"/>
                      <a:pt x="0" y="98294"/>
                    </a:cubicBezTo>
                    <a:cubicBezTo>
                      <a:pt x="0" y="44107"/>
                      <a:pt x="44107" y="0"/>
                      <a:pt x="98294" y="0"/>
                    </a:cubicBezTo>
                    <a:cubicBezTo>
                      <a:pt x="152482" y="0"/>
                      <a:pt x="196588" y="44107"/>
                      <a:pt x="196588" y="98294"/>
                    </a:cubicBezTo>
                    <a:cubicBezTo>
                      <a:pt x="196588" y="152482"/>
                      <a:pt x="152482" y="196588"/>
                      <a:pt x="98294" y="196588"/>
                    </a:cubicBezTo>
                    <a:close/>
                    <a:moveTo>
                      <a:pt x="98294" y="6258"/>
                    </a:moveTo>
                    <a:cubicBezTo>
                      <a:pt x="47554" y="6258"/>
                      <a:pt x="6258" y="47554"/>
                      <a:pt x="6258" y="98294"/>
                    </a:cubicBezTo>
                    <a:cubicBezTo>
                      <a:pt x="6258" y="149034"/>
                      <a:pt x="47554" y="190330"/>
                      <a:pt x="98294" y="190330"/>
                    </a:cubicBezTo>
                    <a:cubicBezTo>
                      <a:pt x="149034" y="190330"/>
                      <a:pt x="190330" y="149034"/>
                      <a:pt x="190330" y="98294"/>
                    </a:cubicBezTo>
                    <a:cubicBezTo>
                      <a:pt x="190330" y="47554"/>
                      <a:pt x="149034" y="6258"/>
                      <a:pt x="98294" y="6258"/>
                    </a:cubicBezTo>
                    <a:close/>
                  </a:path>
                </a:pathLst>
              </a:custGeom>
              <a:solidFill>
                <a:srgbClr val="FFFFFF"/>
              </a:solidFill>
              <a:ln w="3745" cap="flat">
                <a:noFill/>
                <a:prstDash val="solid"/>
                <a:miter/>
              </a:ln>
            </p:spPr>
            <p:txBody>
              <a:bodyPr rtlCol="0" anchor="ctr"/>
              <a:lstStyle/>
              <a:p>
                <a:endParaRPr lang="en-US"/>
              </a:p>
            </p:txBody>
          </p:sp>
          <p:sp>
            <p:nvSpPr>
              <p:cNvPr id="604" name="Freeform: Shape 603">
                <a:extLst>
                  <a:ext uri="{FF2B5EF4-FFF2-40B4-BE49-F238E27FC236}">
                    <a16:creationId xmlns:a16="http://schemas.microsoft.com/office/drawing/2014/main" id="{A0FE467A-DA37-41A9-ABD8-139548A68C5B}"/>
                  </a:ext>
                </a:extLst>
              </p:cNvPr>
              <p:cNvSpPr/>
              <p:nvPr/>
            </p:nvSpPr>
            <p:spPr>
              <a:xfrm>
                <a:off x="6405231" y="5738033"/>
                <a:ext cx="132133" cy="196588"/>
              </a:xfrm>
              <a:custGeom>
                <a:avLst/>
                <a:gdLst>
                  <a:gd name="connsiteX0" fmla="*/ 66067 w 132133"/>
                  <a:gd name="connsiteY0" fmla="*/ 196588 h 196588"/>
                  <a:gd name="connsiteX1" fmla="*/ 0 w 132133"/>
                  <a:gd name="connsiteY1" fmla="*/ 98294 h 196588"/>
                  <a:gd name="connsiteX2" fmla="*/ 66067 w 132133"/>
                  <a:gd name="connsiteY2" fmla="*/ 0 h 196588"/>
                  <a:gd name="connsiteX3" fmla="*/ 132133 w 132133"/>
                  <a:gd name="connsiteY3" fmla="*/ 98294 h 196588"/>
                  <a:gd name="connsiteX4" fmla="*/ 66067 w 132133"/>
                  <a:gd name="connsiteY4" fmla="*/ 196588 h 196588"/>
                  <a:gd name="connsiteX5" fmla="*/ 66067 w 132133"/>
                  <a:gd name="connsiteY5" fmla="*/ 6258 h 196588"/>
                  <a:gd name="connsiteX6" fmla="*/ 6258 w 132133"/>
                  <a:gd name="connsiteY6" fmla="*/ 98294 h 196588"/>
                  <a:gd name="connsiteX7" fmla="*/ 66067 w 132133"/>
                  <a:gd name="connsiteY7" fmla="*/ 190330 h 196588"/>
                  <a:gd name="connsiteX8" fmla="*/ 125875 w 132133"/>
                  <a:gd name="connsiteY8" fmla="*/ 98294 h 196588"/>
                  <a:gd name="connsiteX9" fmla="*/ 66067 w 132133"/>
                  <a:gd name="connsiteY9" fmla="*/ 6258 h 196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2133" h="196588">
                    <a:moveTo>
                      <a:pt x="66067" y="196588"/>
                    </a:moveTo>
                    <a:cubicBezTo>
                      <a:pt x="29642" y="196588"/>
                      <a:pt x="0" y="152482"/>
                      <a:pt x="0" y="98294"/>
                    </a:cubicBezTo>
                    <a:cubicBezTo>
                      <a:pt x="0" y="44107"/>
                      <a:pt x="29642" y="0"/>
                      <a:pt x="66067" y="0"/>
                    </a:cubicBezTo>
                    <a:cubicBezTo>
                      <a:pt x="102491" y="0"/>
                      <a:pt x="132133" y="44107"/>
                      <a:pt x="132133" y="98294"/>
                    </a:cubicBezTo>
                    <a:cubicBezTo>
                      <a:pt x="132133" y="152482"/>
                      <a:pt x="102491" y="196588"/>
                      <a:pt x="66067" y="196588"/>
                    </a:cubicBezTo>
                    <a:close/>
                    <a:moveTo>
                      <a:pt x="66067" y="6258"/>
                    </a:moveTo>
                    <a:cubicBezTo>
                      <a:pt x="33089" y="6258"/>
                      <a:pt x="6258" y="47554"/>
                      <a:pt x="6258" y="98294"/>
                    </a:cubicBezTo>
                    <a:cubicBezTo>
                      <a:pt x="6258" y="149034"/>
                      <a:pt x="33089" y="190330"/>
                      <a:pt x="66067" y="190330"/>
                    </a:cubicBezTo>
                    <a:cubicBezTo>
                      <a:pt x="99044" y="190330"/>
                      <a:pt x="125875" y="149034"/>
                      <a:pt x="125875" y="98294"/>
                    </a:cubicBezTo>
                    <a:cubicBezTo>
                      <a:pt x="125875" y="47554"/>
                      <a:pt x="99044" y="6258"/>
                      <a:pt x="66067" y="6258"/>
                    </a:cubicBezTo>
                    <a:close/>
                  </a:path>
                </a:pathLst>
              </a:custGeom>
              <a:solidFill>
                <a:srgbClr val="FFFFFF"/>
              </a:solidFill>
              <a:ln w="3745" cap="flat">
                <a:noFill/>
                <a:prstDash val="solid"/>
                <a:miter/>
              </a:ln>
            </p:spPr>
            <p:txBody>
              <a:bodyPr rtlCol="0" anchor="ctr"/>
              <a:lstStyle/>
              <a:p>
                <a:endParaRPr lang="en-US"/>
              </a:p>
            </p:txBody>
          </p:sp>
          <p:sp>
            <p:nvSpPr>
              <p:cNvPr id="605" name="Freeform: Shape 604">
                <a:extLst>
                  <a:ext uri="{FF2B5EF4-FFF2-40B4-BE49-F238E27FC236}">
                    <a16:creationId xmlns:a16="http://schemas.microsoft.com/office/drawing/2014/main" id="{63718384-6BA7-46A7-A04E-2DBD16518BDA}"/>
                  </a:ext>
                </a:extLst>
              </p:cNvPr>
              <p:cNvSpPr/>
              <p:nvPr/>
            </p:nvSpPr>
            <p:spPr>
              <a:xfrm>
                <a:off x="6373004" y="5833254"/>
                <a:ext cx="196550" cy="6220"/>
              </a:xfrm>
              <a:custGeom>
                <a:avLst/>
                <a:gdLst>
                  <a:gd name="connsiteX0" fmla="*/ 193441 w 196550"/>
                  <a:gd name="connsiteY0" fmla="*/ 6221 h 6220"/>
                  <a:gd name="connsiteX1" fmla="*/ 3110 w 196550"/>
                  <a:gd name="connsiteY1" fmla="*/ 6221 h 6220"/>
                  <a:gd name="connsiteX2" fmla="*/ 0 w 196550"/>
                  <a:gd name="connsiteY2" fmla="*/ 3110 h 6220"/>
                  <a:gd name="connsiteX3" fmla="*/ 3110 w 196550"/>
                  <a:gd name="connsiteY3" fmla="*/ 0 h 6220"/>
                  <a:gd name="connsiteX4" fmla="*/ 193441 w 196550"/>
                  <a:gd name="connsiteY4" fmla="*/ 0 h 6220"/>
                  <a:gd name="connsiteX5" fmla="*/ 196551 w 196550"/>
                  <a:gd name="connsiteY5" fmla="*/ 3110 h 6220"/>
                  <a:gd name="connsiteX6" fmla="*/ 193441 w 196550"/>
                  <a:gd name="connsiteY6" fmla="*/ 6221 h 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550" h="6220">
                    <a:moveTo>
                      <a:pt x="193441" y="6221"/>
                    </a:moveTo>
                    <a:lnTo>
                      <a:pt x="3110" y="6221"/>
                    </a:lnTo>
                    <a:cubicBezTo>
                      <a:pt x="1387" y="6221"/>
                      <a:pt x="0" y="4834"/>
                      <a:pt x="0" y="3110"/>
                    </a:cubicBezTo>
                    <a:cubicBezTo>
                      <a:pt x="0" y="1387"/>
                      <a:pt x="1387" y="0"/>
                      <a:pt x="3110" y="0"/>
                    </a:cubicBezTo>
                    <a:lnTo>
                      <a:pt x="193441" y="0"/>
                    </a:lnTo>
                    <a:cubicBezTo>
                      <a:pt x="195164" y="0"/>
                      <a:pt x="196551" y="1387"/>
                      <a:pt x="196551" y="3110"/>
                    </a:cubicBezTo>
                    <a:cubicBezTo>
                      <a:pt x="196551" y="4834"/>
                      <a:pt x="195164" y="6221"/>
                      <a:pt x="193441" y="6221"/>
                    </a:cubicBezTo>
                    <a:close/>
                  </a:path>
                </a:pathLst>
              </a:custGeom>
              <a:solidFill>
                <a:srgbClr val="FFFFFF"/>
              </a:solidFill>
              <a:ln w="3745" cap="flat">
                <a:noFill/>
                <a:prstDash val="solid"/>
                <a:miter/>
              </a:ln>
            </p:spPr>
            <p:txBody>
              <a:bodyPr rtlCol="0" anchor="ctr"/>
              <a:lstStyle/>
              <a:p>
                <a:endParaRPr lang="en-US"/>
              </a:p>
            </p:txBody>
          </p:sp>
          <p:sp>
            <p:nvSpPr>
              <p:cNvPr id="606" name="Freeform: Shape 605">
                <a:extLst>
                  <a:ext uri="{FF2B5EF4-FFF2-40B4-BE49-F238E27FC236}">
                    <a16:creationId xmlns:a16="http://schemas.microsoft.com/office/drawing/2014/main" id="{47EC7216-7A0B-4DC1-9EA3-5EF7C1EB03B6}"/>
                  </a:ext>
                </a:extLst>
              </p:cNvPr>
              <p:cNvSpPr/>
              <p:nvPr/>
            </p:nvSpPr>
            <p:spPr>
              <a:xfrm>
                <a:off x="6468188" y="5738070"/>
                <a:ext cx="6220" cy="196551"/>
              </a:xfrm>
              <a:custGeom>
                <a:avLst/>
                <a:gdLst>
                  <a:gd name="connsiteX0" fmla="*/ 3110 w 6220"/>
                  <a:gd name="connsiteY0" fmla="*/ 196551 h 196551"/>
                  <a:gd name="connsiteX1" fmla="*/ 0 w 6220"/>
                  <a:gd name="connsiteY1" fmla="*/ 193441 h 196551"/>
                  <a:gd name="connsiteX2" fmla="*/ 0 w 6220"/>
                  <a:gd name="connsiteY2" fmla="*/ 3110 h 196551"/>
                  <a:gd name="connsiteX3" fmla="*/ 3110 w 6220"/>
                  <a:gd name="connsiteY3" fmla="*/ 0 h 196551"/>
                  <a:gd name="connsiteX4" fmla="*/ 6221 w 6220"/>
                  <a:gd name="connsiteY4" fmla="*/ 3110 h 196551"/>
                  <a:gd name="connsiteX5" fmla="*/ 6221 w 6220"/>
                  <a:gd name="connsiteY5" fmla="*/ 193441 h 196551"/>
                  <a:gd name="connsiteX6" fmla="*/ 3110 w 6220"/>
                  <a:gd name="connsiteY6" fmla="*/ 196551 h 196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20" h="196551">
                    <a:moveTo>
                      <a:pt x="3110" y="196551"/>
                    </a:moveTo>
                    <a:cubicBezTo>
                      <a:pt x="1387" y="196551"/>
                      <a:pt x="0" y="195164"/>
                      <a:pt x="0" y="193441"/>
                    </a:cubicBezTo>
                    <a:lnTo>
                      <a:pt x="0" y="3110"/>
                    </a:lnTo>
                    <a:cubicBezTo>
                      <a:pt x="0" y="1387"/>
                      <a:pt x="1387" y="0"/>
                      <a:pt x="3110" y="0"/>
                    </a:cubicBezTo>
                    <a:cubicBezTo>
                      <a:pt x="4834" y="0"/>
                      <a:pt x="6221" y="1387"/>
                      <a:pt x="6221" y="3110"/>
                    </a:cubicBezTo>
                    <a:lnTo>
                      <a:pt x="6221" y="193441"/>
                    </a:lnTo>
                    <a:cubicBezTo>
                      <a:pt x="6221" y="195164"/>
                      <a:pt x="4834" y="196551"/>
                      <a:pt x="3110" y="196551"/>
                    </a:cubicBezTo>
                    <a:close/>
                  </a:path>
                </a:pathLst>
              </a:custGeom>
              <a:solidFill>
                <a:srgbClr val="FFFFFF"/>
              </a:solidFill>
              <a:ln w="3745" cap="flat">
                <a:noFill/>
                <a:prstDash val="solid"/>
                <a:miter/>
              </a:ln>
            </p:spPr>
            <p:txBody>
              <a:bodyPr rtlCol="0" anchor="ctr"/>
              <a:lstStyle/>
              <a:p>
                <a:endParaRPr lang="en-US"/>
              </a:p>
            </p:txBody>
          </p:sp>
        </p:grpSp>
        <p:sp>
          <p:nvSpPr>
            <p:cNvPr id="576" name="Freeform: Shape 575">
              <a:extLst>
                <a:ext uri="{FF2B5EF4-FFF2-40B4-BE49-F238E27FC236}">
                  <a16:creationId xmlns:a16="http://schemas.microsoft.com/office/drawing/2014/main" id="{E3CBC11F-A75C-48DA-90AC-CFC44DE7BAF4}"/>
                </a:ext>
              </a:extLst>
            </p:cNvPr>
            <p:cNvSpPr/>
            <p:nvPr/>
          </p:nvSpPr>
          <p:spPr>
            <a:xfrm>
              <a:off x="5851366" y="7537260"/>
              <a:ext cx="100368" cy="131870"/>
            </a:xfrm>
            <a:custGeom>
              <a:avLst/>
              <a:gdLst>
                <a:gd name="connsiteX0" fmla="*/ 0 w 100368"/>
                <a:gd name="connsiteY0" fmla="*/ 131871 h 131870"/>
                <a:gd name="connsiteX1" fmla="*/ 1387 w 100368"/>
                <a:gd name="connsiteY1" fmla="*/ 86190 h 131870"/>
                <a:gd name="connsiteX2" fmla="*/ 47255 w 100368"/>
                <a:gd name="connsiteY2" fmla="*/ 59733 h 131870"/>
                <a:gd name="connsiteX3" fmla="*/ 44744 w 100368"/>
                <a:gd name="connsiteY3" fmla="*/ 59022 h 131870"/>
                <a:gd name="connsiteX4" fmla="*/ 36087 w 100368"/>
                <a:gd name="connsiteY4" fmla="*/ 34139 h 131870"/>
                <a:gd name="connsiteX5" fmla="*/ 49203 w 100368"/>
                <a:gd name="connsiteY5" fmla="*/ 36575 h 131870"/>
                <a:gd name="connsiteX6" fmla="*/ 52314 w 100368"/>
                <a:gd name="connsiteY6" fmla="*/ 7532 h 131870"/>
                <a:gd name="connsiteX7" fmla="*/ 77983 w 100368"/>
                <a:gd name="connsiteY7" fmla="*/ 0 h 131870"/>
                <a:gd name="connsiteX8" fmla="*/ 87314 w 100368"/>
                <a:gd name="connsiteY8" fmla="*/ 30579 h 131870"/>
                <a:gd name="connsiteX9" fmla="*/ 95259 w 100368"/>
                <a:gd name="connsiteY9" fmla="*/ 32415 h 131870"/>
                <a:gd name="connsiteX10" fmla="*/ 99269 w 100368"/>
                <a:gd name="connsiteY10" fmla="*/ 40772 h 131870"/>
                <a:gd name="connsiteX11" fmla="*/ 93985 w 100368"/>
                <a:gd name="connsiteY11" fmla="*/ 47704 h 131870"/>
                <a:gd name="connsiteX12" fmla="*/ 66104 w 100368"/>
                <a:gd name="connsiteY12" fmla="*/ 91924 h 131870"/>
                <a:gd name="connsiteX13" fmla="*/ 71463 w 100368"/>
                <a:gd name="connsiteY13" fmla="*/ 128236 h 131870"/>
                <a:gd name="connsiteX14" fmla="*/ 0 w 100368"/>
                <a:gd name="connsiteY14" fmla="*/ 131833 h 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368" h="131870">
                  <a:moveTo>
                    <a:pt x="0" y="131871"/>
                  </a:moveTo>
                  <a:lnTo>
                    <a:pt x="1387" y="86190"/>
                  </a:lnTo>
                  <a:cubicBezTo>
                    <a:pt x="1387" y="86190"/>
                    <a:pt x="41783" y="91924"/>
                    <a:pt x="47255" y="59733"/>
                  </a:cubicBezTo>
                  <a:cubicBezTo>
                    <a:pt x="46468" y="59546"/>
                    <a:pt x="45643" y="59321"/>
                    <a:pt x="44744" y="59022"/>
                  </a:cubicBezTo>
                  <a:cubicBezTo>
                    <a:pt x="23571" y="52126"/>
                    <a:pt x="28855" y="39198"/>
                    <a:pt x="36087" y="34139"/>
                  </a:cubicBezTo>
                  <a:cubicBezTo>
                    <a:pt x="39273" y="31928"/>
                    <a:pt x="43919" y="32902"/>
                    <a:pt x="49203" y="36575"/>
                  </a:cubicBezTo>
                  <a:cubicBezTo>
                    <a:pt x="60408" y="32452"/>
                    <a:pt x="52314" y="7532"/>
                    <a:pt x="52314" y="7532"/>
                  </a:cubicBezTo>
                  <a:lnTo>
                    <a:pt x="77983" y="0"/>
                  </a:lnTo>
                  <a:cubicBezTo>
                    <a:pt x="77983" y="0"/>
                    <a:pt x="84879" y="23833"/>
                    <a:pt x="87314" y="30579"/>
                  </a:cubicBezTo>
                  <a:lnTo>
                    <a:pt x="95259" y="32415"/>
                  </a:lnTo>
                  <a:cubicBezTo>
                    <a:pt x="99531" y="32490"/>
                    <a:pt x="101892" y="37399"/>
                    <a:pt x="99269" y="40772"/>
                  </a:cubicBezTo>
                  <a:cubicBezTo>
                    <a:pt x="96908" y="43807"/>
                    <a:pt x="94622" y="46730"/>
                    <a:pt x="93985" y="47704"/>
                  </a:cubicBezTo>
                  <a:cubicBezTo>
                    <a:pt x="97994" y="63743"/>
                    <a:pt x="97732" y="87577"/>
                    <a:pt x="66104" y="91924"/>
                  </a:cubicBezTo>
                  <a:lnTo>
                    <a:pt x="71463" y="128236"/>
                  </a:lnTo>
                  <a:lnTo>
                    <a:pt x="0" y="131833"/>
                  </a:lnTo>
                  <a:close/>
                </a:path>
              </a:pathLst>
            </a:custGeom>
            <a:solidFill>
              <a:srgbClr val="FFBEBB"/>
            </a:solidFill>
            <a:ln w="3745" cap="flat">
              <a:noFill/>
              <a:prstDash val="solid"/>
              <a:miter/>
            </a:ln>
          </p:spPr>
          <p:txBody>
            <a:bodyPr rtlCol="0" anchor="ctr"/>
            <a:lstStyle/>
            <a:p>
              <a:endParaRPr lang="en-US"/>
            </a:p>
          </p:txBody>
        </p:sp>
        <p:sp>
          <p:nvSpPr>
            <p:cNvPr id="577" name="Freeform: Shape 576">
              <a:extLst>
                <a:ext uri="{FF2B5EF4-FFF2-40B4-BE49-F238E27FC236}">
                  <a16:creationId xmlns:a16="http://schemas.microsoft.com/office/drawing/2014/main" id="{CD095923-5A16-468C-AC68-8F98A97B6E35}"/>
                </a:ext>
              </a:extLst>
            </p:cNvPr>
            <p:cNvSpPr/>
            <p:nvPr/>
          </p:nvSpPr>
          <p:spPr>
            <a:xfrm>
              <a:off x="5914357" y="7552478"/>
              <a:ext cx="18648" cy="11426"/>
            </a:xfrm>
            <a:custGeom>
              <a:avLst/>
              <a:gdLst>
                <a:gd name="connsiteX0" fmla="*/ 3113 w 18648"/>
                <a:gd name="connsiteY0" fmla="*/ 11389 h 11426"/>
                <a:gd name="connsiteX1" fmla="*/ 1502 w 18648"/>
                <a:gd name="connsiteY1" fmla="*/ 10939 h 11426"/>
                <a:gd name="connsiteX2" fmla="*/ 453 w 18648"/>
                <a:gd name="connsiteY2" fmla="*/ 6667 h 11426"/>
                <a:gd name="connsiteX3" fmla="*/ 16829 w 18648"/>
                <a:gd name="connsiteY3" fmla="*/ 1234 h 11426"/>
                <a:gd name="connsiteX4" fmla="*/ 18365 w 18648"/>
                <a:gd name="connsiteY4" fmla="*/ 5393 h 11426"/>
                <a:gd name="connsiteX5" fmla="*/ 14206 w 18648"/>
                <a:gd name="connsiteY5" fmla="*/ 6930 h 11426"/>
                <a:gd name="connsiteX6" fmla="*/ 5811 w 18648"/>
                <a:gd name="connsiteY6" fmla="*/ 9965 h 11426"/>
                <a:gd name="connsiteX7" fmla="*/ 3151 w 18648"/>
                <a:gd name="connsiteY7" fmla="*/ 11426 h 11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48" h="11426">
                  <a:moveTo>
                    <a:pt x="3113" y="11389"/>
                  </a:moveTo>
                  <a:cubicBezTo>
                    <a:pt x="2551" y="11389"/>
                    <a:pt x="1989" y="11239"/>
                    <a:pt x="1502" y="10939"/>
                  </a:cubicBezTo>
                  <a:cubicBezTo>
                    <a:pt x="41" y="10040"/>
                    <a:pt x="-447" y="8129"/>
                    <a:pt x="453" y="6667"/>
                  </a:cubicBezTo>
                  <a:cubicBezTo>
                    <a:pt x="2589" y="3145"/>
                    <a:pt x="8772" y="-2514"/>
                    <a:pt x="16829" y="1234"/>
                  </a:cubicBezTo>
                  <a:cubicBezTo>
                    <a:pt x="18403" y="1946"/>
                    <a:pt x="19077" y="3819"/>
                    <a:pt x="18365" y="5393"/>
                  </a:cubicBezTo>
                  <a:cubicBezTo>
                    <a:pt x="17653" y="6967"/>
                    <a:pt x="15780" y="7642"/>
                    <a:pt x="14206" y="6930"/>
                  </a:cubicBezTo>
                  <a:cubicBezTo>
                    <a:pt x="9297" y="4644"/>
                    <a:pt x="6149" y="9403"/>
                    <a:pt x="5811" y="9965"/>
                  </a:cubicBezTo>
                  <a:cubicBezTo>
                    <a:pt x="5212" y="10902"/>
                    <a:pt x="4200" y="11426"/>
                    <a:pt x="3151" y="11426"/>
                  </a:cubicBezTo>
                  <a:close/>
                </a:path>
              </a:pathLst>
            </a:custGeom>
            <a:solidFill>
              <a:srgbClr val="1D2333"/>
            </a:solidFill>
            <a:ln w="3745" cap="flat">
              <a:noFill/>
              <a:prstDash val="solid"/>
              <a:miter/>
            </a:ln>
          </p:spPr>
          <p:txBody>
            <a:bodyPr rtlCol="0" anchor="ctr"/>
            <a:lstStyle/>
            <a:p>
              <a:endParaRPr lang="en-US"/>
            </a:p>
          </p:txBody>
        </p:sp>
        <p:sp>
          <p:nvSpPr>
            <p:cNvPr id="578" name="Freeform: Shape 577">
              <a:extLst>
                <a:ext uri="{FF2B5EF4-FFF2-40B4-BE49-F238E27FC236}">
                  <a16:creationId xmlns:a16="http://schemas.microsoft.com/office/drawing/2014/main" id="{F6FAAF72-3A58-44CF-B1E2-FFEF61D770C0}"/>
                </a:ext>
              </a:extLst>
            </p:cNvPr>
            <p:cNvSpPr/>
            <p:nvPr/>
          </p:nvSpPr>
          <p:spPr>
            <a:xfrm>
              <a:off x="5841023" y="7633003"/>
              <a:ext cx="106875" cy="34816"/>
            </a:xfrm>
            <a:custGeom>
              <a:avLst/>
              <a:gdLst>
                <a:gd name="connsiteX0" fmla="*/ 37 w 106875"/>
                <a:gd name="connsiteY0" fmla="*/ 34779 h 34816"/>
                <a:gd name="connsiteX1" fmla="*/ 7944 w 106875"/>
                <a:gd name="connsiteY1" fmla="*/ 3226 h 34816"/>
                <a:gd name="connsiteX2" fmla="*/ 11617 w 106875"/>
                <a:gd name="connsiteY2" fmla="*/ 3 h 34816"/>
                <a:gd name="connsiteX3" fmla="*/ 88738 w 106875"/>
                <a:gd name="connsiteY3" fmla="*/ 2626 h 34816"/>
                <a:gd name="connsiteX4" fmla="*/ 91774 w 106875"/>
                <a:gd name="connsiteY4" fmla="*/ 4725 h 34816"/>
                <a:gd name="connsiteX5" fmla="*/ 106876 w 106875"/>
                <a:gd name="connsiteY5" fmla="*/ 33168 h 34816"/>
                <a:gd name="connsiteX6" fmla="*/ 0 w 106875"/>
                <a:gd name="connsiteY6" fmla="*/ 34816 h 34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875" h="34816">
                  <a:moveTo>
                    <a:pt x="37" y="34779"/>
                  </a:moveTo>
                  <a:lnTo>
                    <a:pt x="7944" y="3226"/>
                  </a:lnTo>
                  <a:cubicBezTo>
                    <a:pt x="8432" y="1240"/>
                    <a:pt x="9931" y="-72"/>
                    <a:pt x="11617" y="3"/>
                  </a:cubicBezTo>
                  <a:lnTo>
                    <a:pt x="88738" y="2626"/>
                  </a:lnTo>
                  <a:cubicBezTo>
                    <a:pt x="89975" y="2664"/>
                    <a:pt x="91099" y="3451"/>
                    <a:pt x="91774" y="4725"/>
                  </a:cubicBezTo>
                  <a:lnTo>
                    <a:pt x="106876" y="33168"/>
                  </a:lnTo>
                  <a:lnTo>
                    <a:pt x="0" y="34816"/>
                  </a:lnTo>
                  <a:close/>
                </a:path>
              </a:pathLst>
            </a:custGeom>
            <a:solidFill>
              <a:srgbClr val="FFDE4A"/>
            </a:solidFill>
            <a:ln w="3745" cap="flat">
              <a:noFill/>
              <a:prstDash val="solid"/>
              <a:miter/>
            </a:ln>
          </p:spPr>
          <p:txBody>
            <a:bodyPr rtlCol="0" anchor="ctr"/>
            <a:lstStyle/>
            <a:p>
              <a:endParaRPr lang="en-US"/>
            </a:p>
          </p:txBody>
        </p:sp>
        <p:sp>
          <p:nvSpPr>
            <p:cNvPr id="579" name="Freeform: Shape 578">
              <a:extLst>
                <a:ext uri="{FF2B5EF4-FFF2-40B4-BE49-F238E27FC236}">
                  <a16:creationId xmlns:a16="http://schemas.microsoft.com/office/drawing/2014/main" id="{61EBEAFF-38EC-45E2-B704-E9AC112130EA}"/>
                </a:ext>
              </a:extLst>
            </p:cNvPr>
            <p:cNvSpPr/>
            <p:nvPr/>
          </p:nvSpPr>
          <p:spPr>
            <a:xfrm>
              <a:off x="5886334" y="7575636"/>
              <a:ext cx="13695" cy="13752"/>
            </a:xfrm>
            <a:custGeom>
              <a:avLst/>
              <a:gdLst>
                <a:gd name="connsiteX0" fmla="*/ 11088 w 13695"/>
                <a:gd name="connsiteY0" fmla="*/ 4082 h 13752"/>
                <a:gd name="connsiteX1" fmla="*/ 3368 w 13695"/>
                <a:gd name="connsiteY1" fmla="*/ 784 h 13752"/>
                <a:gd name="connsiteX2" fmla="*/ 6441 w 13695"/>
                <a:gd name="connsiteY2" fmla="*/ 12589 h 13752"/>
                <a:gd name="connsiteX3" fmla="*/ 11125 w 13695"/>
                <a:gd name="connsiteY3" fmla="*/ 4082 h 13752"/>
              </a:gdLst>
              <a:ahLst/>
              <a:cxnLst>
                <a:cxn ang="0">
                  <a:pos x="connsiteX0" y="connsiteY0"/>
                </a:cxn>
                <a:cxn ang="0">
                  <a:pos x="connsiteX1" y="connsiteY1"/>
                </a:cxn>
                <a:cxn ang="0">
                  <a:pos x="connsiteX2" y="connsiteY2"/>
                </a:cxn>
                <a:cxn ang="0">
                  <a:pos x="connsiteX3" y="connsiteY3"/>
                </a:cxn>
              </a:cxnLst>
              <a:rect l="l" t="t" r="r" b="b"/>
              <a:pathLst>
                <a:path w="13695" h="13752">
                  <a:moveTo>
                    <a:pt x="11088" y="4082"/>
                  </a:moveTo>
                  <a:cubicBezTo>
                    <a:pt x="9926" y="2321"/>
                    <a:pt x="6928" y="-1689"/>
                    <a:pt x="3368" y="784"/>
                  </a:cubicBezTo>
                  <a:cubicBezTo>
                    <a:pt x="-192" y="3258"/>
                    <a:pt x="-3077" y="8616"/>
                    <a:pt x="6441" y="12589"/>
                  </a:cubicBezTo>
                  <a:cubicBezTo>
                    <a:pt x="16522" y="16823"/>
                    <a:pt x="14048" y="8466"/>
                    <a:pt x="11125" y="4082"/>
                  </a:cubicBezTo>
                  <a:close/>
                </a:path>
              </a:pathLst>
            </a:custGeom>
            <a:solidFill>
              <a:srgbClr val="F47C73"/>
            </a:solidFill>
            <a:ln w="3745" cap="flat">
              <a:noFill/>
              <a:prstDash val="solid"/>
              <a:miter/>
            </a:ln>
          </p:spPr>
          <p:txBody>
            <a:bodyPr rtlCol="0" anchor="ctr"/>
            <a:lstStyle/>
            <a:p>
              <a:endParaRPr lang="en-US"/>
            </a:p>
          </p:txBody>
        </p:sp>
        <p:sp>
          <p:nvSpPr>
            <p:cNvPr id="580" name="Freeform: Shape 579">
              <a:extLst>
                <a:ext uri="{FF2B5EF4-FFF2-40B4-BE49-F238E27FC236}">
                  <a16:creationId xmlns:a16="http://schemas.microsoft.com/office/drawing/2014/main" id="{ADF4E95D-4A29-4F71-80C4-0C77E797A5DA}"/>
                </a:ext>
              </a:extLst>
            </p:cNvPr>
            <p:cNvSpPr/>
            <p:nvPr/>
          </p:nvSpPr>
          <p:spPr>
            <a:xfrm>
              <a:off x="5924744" y="7563547"/>
              <a:ext cx="4599" cy="7358"/>
            </a:xfrm>
            <a:custGeom>
              <a:avLst/>
              <a:gdLst>
                <a:gd name="connsiteX0" fmla="*/ 633 w 4599"/>
                <a:gd name="connsiteY0" fmla="*/ 4929 h 7358"/>
                <a:gd name="connsiteX1" fmla="*/ 34 w 4599"/>
                <a:gd name="connsiteY1" fmla="*/ 2306 h 7358"/>
                <a:gd name="connsiteX2" fmla="*/ 108 w 4599"/>
                <a:gd name="connsiteY2" fmla="*/ 1107 h 7358"/>
                <a:gd name="connsiteX3" fmla="*/ 3219 w 4599"/>
                <a:gd name="connsiteY3" fmla="*/ 657 h 7358"/>
                <a:gd name="connsiteX4" fmla="*/ 4043 w 4599"/>
                <a:gd name="connsiteY4" fmla="*/ 2831 h 7358"/>
                <a:gd name="connsiteX5" fmla="*/ 4343 w 4599"/>
                <a:gd name="connsiteY5" fmla="*/ 6316 h 7358"/>
                <a:gd name="connsiteX6" fmla="*/ 3256 w 4599"/>
                <a:gd name="connsiteY6" fmla="*/ 7290 h 7358"/>
                <a:gd name="connsiteX7" fmla="*/ 970 w 4599"/>
                <a:gd name="connsiteY7" fmla="*/ 5829 h 7358"/>
                <a:gd name="connsiteX8" fmla="*/ 633 w 4599"/>
                <a:gd name="connsiteY8" fmla="*/ 4892 h 7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99" h="7358">
                  <a:moveTo>
                    <a:pt x="633" y="4929"/>
                  </a:moveTo>
                  <a:cubicBezTo>
                    <a:pt x="371" y="4068"/>
                    <a:pt x="146" y="3168"/>
                    <a:pt x="34" y="2306"/>
                  </a:cubicBezTo>
                  <a:cubicBezTo>
                    <a:pt x="-4" y="1932"/>
                    <a:pt x="-41" y="1482"/>
                    <a:pt x="108" y="1107"/>
                  </a:cubicBezTo>
                  <a:cubicBezTo>
                    <a:pt x="596" y="-92"/>
                    <a:pt x="2544" y="-429"/>
                    <a:pt x="3219" y="657"/>
                  </a:cubicBezTo>
                  <a:cubicBezTo>
                    <a:pt x="3631" y="1332"/>
                    <a:pt x="3856" y="2081"/>
                    <a:pt x="4043" y="2831"/>
                  </a:cubicBezTo>
                  <a:cubicBezTo>
                    <a:pt x="4343" y="3993"/>
                    <a:pt x="4943" y="5079"/>
                    <a:pt x="4343" y="6316"/>
                  </a:cubicBezTo>
                  <a:cubicBezTo>
                    <a:pt x="4156" y="6766"/>
                    <a:pt x="3743" y="7178"/>
                    <a:pt x="3256" y="7290"/>
                  </a:cubicBezTo>
                  <a:cubicBezTo>
                    <a:pt x="2057" y="7628"/>
                    <a:pt x="1308" y="6653"/>
                    <a:pt x="970" y="5829"/>
                  </a:cubicBezTo>
                  <a:cubicBezTo>
                    <a:pt x="858" y="5529"/>
                    <a:pt x="708" y="5229"/>
                    <a:pt x="633" y="4892"/>
                  </a:cubicBezTo>
                  <a:close/>
                </a:path>
              </a:pathLst>
            </a:custGeom>
            <a:solidFill>
              <a:srgbClr val="1D2333"/>
            </a:solidFill>
            <a:ln w="3745" cap="flat">
              <a:noFill/>
              <a:prstDash val="solid"/>
              <a:miter/>
            </a:ln>
          </p:spPr>
          <p:txBody>
            <a:bodyPr rtlCol="0" anchor="ctr"/>
            <a:lstStyle/>
            <a:p>
              <a:endParaRPr lang="en-US"/>
            </a:p>
          </p:txBody>
        </p:sp>
        <p:sp>
          <p:nvSpPr>
            <p:cNvPr id="581" name="Freeform: Shape 580">
              <a:extLst>
                <a:ext uri="{FF2B5EF4-FFF2-40B4-BE49-F238E27FC236}">
                  <a16:creationId xmlns:a16="http://schemas.microsoft.com/office/drawing/2014/main" id="{CCB62D1F-9B81-485A-BDCC-90D66A79985E}"/>
                </a:ext>
              </a:extLst>
            </p:cNvPr>
            <p:cNvSpPr/>
            <p:nvPr/>
          </p:nvSpPr>
          <p:spPr>
            <a:xfrm>
              <a:off x="5909923" y="7574944"/>
              <a:ext cx="20077" cy="20077"/>
            </a:xfrm>
            <a:custGeom>
              <a:avLst/>
              <a:gdLst>
                <a:gd name="connsiteX0" fmla="*/ 52 w 20077"/>
                <a:gd name="connsiteY0" fmla="*/ 11032 h 20077"/>
                <a:gd name="connsiteX1" fmla="*/ 11032 w 20077"/>
                <a:gd name="connsiteY1" fmla="*/ 20026 h 20077"/>
                <a:gd name="connsiteX2" fmla="*/ 20026 w 20077"/>
                <a:gd name="connsiteY2" fmla="*/ 9046 h 20077"/>
                <a:gd name="connsiteX3" fmla="*/ 9046 w 20077"/>
                <a:gd name="connsiteY3" fmla="*/ 52 h 20077"/>
                <a:gd name="connsiteX4" fmla="*/ 52 w 20077"/>
                <a:gd name="connsiteY4" fmla="*/ 11032 h 20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77" h="20077">
                  <a:moveTo>
                    <a:pt x="52" y="11032"/>
                  </a:moveTo>
                  <a:cubicBezTo>
                    <a:pt x="614" y="16541"/>
                    <a:pt x="5523" y="20588"/>
                    <a:pt x="11032" y="20026"/>
                  </a:cubicBezTo>
                  <a:cubicBezTo>
                    <a:pt x="16541" y="19464"/>
                    <a:pt x="20588" y="14555"/>
                    <a:pt x="20026" y="9046"/>
                  </a:cubicBezTo>
                  <a:cubicBezTo>
                    <a:pt x="19464" y="3537"/>
                    <a:pt x="14555" y="-510"/>
                    <a:pt x="9046" y="52"/>
                  </a:cubicBezTo>
                  <a:cubicBezTo>
                    <a:pt x="3537" y="614"/>
                    <a:pt x="-510" y="5523"/>
                    <a:pt x="52" y="11032"/>
                  </a:cubicBezTo>
                  <a:close/>
                </a:path>
              </a:pathLst>
            </a:custGeom>
            <a:solidFill>
              <a:srgbClr val="F47C73"/>
            </a:solidFill>
            <a:ln w="3745" cap="flat">
              <a:noFill/>
              <a:prstDash val="solid"/>
              <a:miter/>
            </a:ln>
          </p:spPr>
          <p:txBody>
            <a:bodyPr rtlCol="0" anchor="ctr"/>
            <a:lstStyle/>
            <a:p>
              <a:endParaRPr lang="en-US"/>
            </a:p>
          </p:txBody>
        </p:sp>
        <p:sp>
          <p:nvSpPr>
            <p:cNvPr id="582" name="Freeform: Shape 581">
              <a:extLst>
                <a:ext uri="{FF2B5EF4-FFF2-40B4-BE49-F238E27FC236}">
                  <a16:creationId xmlns:a16="http://schemas.microsoft.com/office/drawing/2014/main" id="{73DF0725-AD34-4FC2-A282-776EC87134C2}"/>
                </a:ext>
              </a:extLst>
            </p:cNvPr>
            <p:cNvSpPr/>
            <p:nvPr/>
          </p:nvSpPr>
          <p:spPr>
            <a:xfrm>
              <a:off x="6100678" y="7647964"/>
              <a:ext cx="72099" cy="119611"/>
            </a:xfrm>
            <a:custGeom>
              <a:avLst/>
              <a:gdLst>
                <a:gd name="connsiteX0" fmla="*/ 3862 w 72099"/>
                <a:gd name="connsiteY0" fmla="*/ 105971 h 119611"/>
                <a:gd name="connsiteX1" fmla="*/ 9895 w 72099"/>
                <a:gd name="connsiteY1" fmla="*/ 84836 h 119611"/>
                <a:gd name="connsiteX2" fmla="*/ 4724 w 72099"/>
                <a:gd name="connsiteY2" fmla="*/ 51409 h 119611"/>
                <a:gd name="connsiteX3" fmla="*/ 6335 w 72099"/>
                <a:gd name="connsiteY3" fmla="*/ 6440 h 119611"/>
                <a:gd name="connsiteX4" fmla="*/ 26496 w 72099"/>
                <a:gd name="connsiteY4" fmla="*/ 30011 h 119611"/>
                <a:gd name="connsiteX5" fmla="*/ 35865 w 72099"/>
                <a:gd name="connsiteY5" fmla="*/ 33234 h 119611"/>
                <a:gd name="connsiteX6" fmla="*/ 44859 w 72099"/>
                <a:gd name="connsiteY6" fmla="*/ 20118 h 119611"/>
                <a:gd name="connsiteX7" fmla="*/ 49318 w 72099"/>
                <a:gd name="connsiteY7" fmla="*/ 1569 h 119611"/>
                <a:gd name="connsiteX8" fmla="*/ 52278 w 72099"/>
                <a:gd name="connsiteY8" fmla="*/ 519 h 119611"/>
                <a:gd name="connsiteX9" fmla="*/ 64158 w 72099"/>
                <a:gd name="connsiteY9" fmla="*/ 26676 h 119611"/>
                <a:gd name="connsiteX10" fmla="*/ 71727 w 72099"/>
                <a:gd name="connsiteY10" fmla="*/ 46762 h 119611"/>
                <a:gd name="connsiteX11" fmla="*/ 62921 w 72099"/>
                <a:gd name="connsiteY11" fmla="*/ 88920 h 119611"/>
                <a:gd name="connsiteX12" fmla="*/ 58986 w 72099"/>
                <a:gd name="connsiteY12" fmla="*/ 119612 h 119611"/>
                <a:gd name="connsiteX13" fmla="*/ 3937 w 72099"/>
                <a:gd name="connsiteY13" fmla="*/ 105971 h 119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2099" h="119611">
                  <a:moveTo>
                    <a:pt x="3862" y="105971"/>
                  </a:moveTo>
                  <a:lnTo>
                    <a:pt x="9895" y="84836"/>
                  </a:lnTo>
                  <a:cubicBezTo>
                    <a:pt x="9895" y="84836"/>
                    <a:pt x="-148" y="69696"/>
                    <a:pt x="4724" y="51409"/>
                  </a:cubicBezTo>
                  <a:cubicBezTo>
                    <a:pt x="7797" y="39942"/>
                    <a:pt x="-8504" y="9888"/>
                    <a:pt x="6335" y="6440"/>
                  </a:cubicBezTo>
                  <a:cubicBezTo>
                    <a:pt x="19001" y="3517"/>
                    <a:pt x="22786" y="15621"/>
                    <a:pt x="26496" y="30011"/>
                  </a:cubicBezTo>
                  <a:cubicBezTo>
                    <a:pt x="27545" y="34133"/>
                    <a:pt x="32530" y="35895"/>
                    <a:pt x="35865" y="33234"/>
                  </a:cubicBezTo>
                  <a:cubicBezTo>
                    <a:pt x="39237" y="30536"/>
                    <a:pt x="42722" y="26264"/>
                    <a:pt x="44859" y="20118"/>
                  </a:cubicBezTo>
                  <a:cubicBezTo>
                    <a:pt x="47856" y="11387"/>
                    <a:pt x="48943" y="5166"/>
                    <a:pt x="49318" y="1569"/>
                  </a:cubicBezTo>
                  <a:cubicBezTo>
                    <a:pt x="49468" y="107"/>
                    <a:pt x="51229" y="-530"/>
                    <a:pt x="52278" y="519"/>
                  </a:cubicBezTo>
                  <a:cubicBezTo>
                    <a:pt x="57112" y="5466"/>
                    <a:pt x="66369" y="16558"/>
                    <a:pt x="64158" y="26676"/>
                  </a:cubicBezTo>
                  <a:cubicBezTo>
                    <a:pt x="64158" y="26676"/>
                    <a:pt x="74126" y="35220"/>
                    <a:pt x="71727" y="46762"/>
                  </a:cubicBezTo>
                  <a:cubicBezTo>
                    <a:pt x="69329" y="58304"/>
                    <a:pt x="62921" y="88920"/>
                    <a:pt x="62921" y="88920"/>
                  </a:cubicBezTo>
                  <a:lnTo>
                    <a:pt x="58986" y="119612"/>
                  </a:lnTo>
                  <a:lnTo>
                    <a:pt x="3937" y="105971"/>
                  </a:lnTo>
                  <a:close/>
                </a:path>
              </a:pathLst>
            </a:custGeom>
            <a:solidFill>
              <a:srgbClr val="FFBEBB"/>
            </a:solidFill>
            <a:ln w="3745" cap="flat">
              <a:noFill/>
              <a:prstDash val="solid"/>
              <a:miter/>
            </a:ln>
          </p:spPr>
          <p:txBody>
            <a:bodyPr rtlCol="0" anchor="ctr"/>
            <a:lstStyle/>
            <a:p>
              <a:endParaRPr lang="en-US"/>
            </a:p>
          </p:txBody>
        </p:sp>
        <p:sp>
          <p:nvSpPr>
            <p:cNvPr id="583" name="Freeform: Shape 582">
              <a:extLst>
                <a:ext uri="{FF2B5EF4-FFF2-40B4-BE49-F238E27FC236}">
                  <a16:creationId xmlns:a16="http://schemas.microsoft.com/office/drawing/2014/main" id="{A2C3334A-B805-45B3-8926-C473376F23DE}"/>
                </a:ext>
              </a:extLst>
            </p:cNvPr>
            <p:cNvSpPr/>
            <p:nvPr/>
          </p:nvSpPr>
          <p:spPr>
            <a:xfrm>
              <a:off x="5866431" y="7494441"/>
              <a:ext cx="74537" cy="50631"/>
            </a:xfrm>
            <a:custGeom>
              <a:avLst/>
              <a:gdLst>
                <a:gd name="connsiteX0" fmla="*/ 58347 w 74537"/>
                <a:gd name="connsiteY0" fmla="*/ 4634 h 50631"/>
                <a:gd name="connsiteX1" fmla="*/ 36612 w 74537"/>
                <a:gd name="connsiteY1" fmla="*/ 7069 h 50631"/>
                <a:gd name="connsiteX2" fmla="*/ 24995 w 74537"/>
                <a:gd name="connsiteY2" fmla="*/ 24 h 50631"/>
                <a:gd name="connsiteX3" fmla="*/ 0 w 74537"/>
                <a:gd name="connsiteY3" fmla="*/ 25544 h 50631"/>
                <a:gd name="connsiteX4" fmla="*/ 10755 w 74537"/>
                <a:gd name="connsiteY4" fmla="*/ 43906 h 50631"/>
                <a:gd name="connsiteX5" fmla="*/ 37287 w 74537"/>
                <a:gd name="connsiteY5" fmla="*/ 50389 h 50631"/>
                <a:gd name="connsiteX6" fmla="*/ 69851 w 74537"/>
                <a:gd name="connsiteY6" fmla="*/ 41508 h 50631"/>
                <a:gd name="connsiteX7" fmla="*/ 58347 w 74537"/>
                <a:gd name="connsiteY7" fmla="*/ 4671 h 50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4537" h="50631">
                  <a:moveTo>
                    <a:pt x="58347" y="4634"/>
                  </a:moveTo>
                  <a:cubicBezTo>
                    <a:pt x="46880" y="-13"/>
                    <a:pt x="36612" y="7069"/>
                    <a:pt x="36612" y="7069"/>
                  </a:cubicBezTo>
                  <a:cubicBezTo>
                    <a:pt x="35638" y="3547"/>
                    <a:pt x="32565" y="399"/>
                    <a:pt x="24995" y="24"/>
                  </a:cubicBezTo>
                  <a:cubicBezTo>
                    <a:pt x="7045" y="-913"/>
                    <a:pt x="0" y="25544"/>
                    <a:pt x="0" y="25544"/>
                  </a:cubicBezTo>
                  <a:lnTo>
                    <a:pt x="10755" y="43906"/>
                  </a:lnTo>
                  <a:lnTo>
                    <a:pt x="37287" y="50389"/>
                  </a:lnTo>
                  <a:cubicBezTo>
                    <a:pt x="37287" y="50389"/>
                    <a:pt x="61720" y="52938"/>
                    <a:pt x="69851" y="41508"/>
                  </a:cubicBezTo>
                  <a:cubicBezTo>
                    <a:pt x="80232" y="26893"/>
                    <a:pt x="72025" y="10180"/>
                    <a:pt x="58347" y="4671"/>
                  </a:cubicBezTo>
                  <a:close/>
                </a:path>
              </a:pathLst>
            </a:custGeom>
            <a:solidFill>
              <a:srgbClr val="1D2333"/>
            </a:solidFill>
            <a:ln w="3745" cap="flat">
              <a:noFill/>
              <a:prstDash val="solid"/>
              <a:miter/>
            </a:ln>
          </p:spPr>
          <p:txBody>
            <a:bodyPr rtlCol="0" anchor="ctr"/>
            <a:lstStyle/>
            <a:p>
              <a:endParaRPr lang="en-US"/>
            </a:p>
          </p:txBody>
        </p:sp>
        <p:sp>
          <p:nvSpPr>
            <p:cNvPr id="584" name="Freeform: Shape 583">
              <a:extLst>
                <a:ext uri="{FF2B5EF4-FFF2-40B4-BE49-F238E27FC236}">
                  <a16:creationId xmlns:a16="http://schemas.microsoft.com/office/drawing/2014/main" id="{FB067154-76EA-4BF6-A450-07E9336661B5}"/>
                </a:ext>
              </a:extLst>
            </p:cNvPr>
            <p:cNvSpPr/>
            <p:nvPr/>
          </p:nvSpPr>
          <p:spPr>
            <a:xfrm>
              <a:off x="5895585" y="7544830"/>
              <a:ext cx="62268" cy="85035"/>
            </a:xfrm>
            <a:custGeom>
              <a:avLst/>
              <a:gdLst>
                <a:gd name="connsiteX0" fmla="*/ 0 w 62268"/>
                <a:gd name="connsiteY0" fmla="*/ 23759 h 85035"/>
                <a:gd name="connsiteX1" fmla="*/ 8619 w 62268"/>
                <a:gd name="connsiteY1" fmla="*/ 78171 h 85035"/>
                <a:gd name="connsiteX2" fmla="*/ 17388 w 62268"/>
                <a:gd name="connsiteY2" fmla="*/ 84991 h 85035"/>
                <a:gd name="connsiteX3" fmla="*/ 33802 w 62268"/>
                <a:gd name="connsiteY3" fmla="*/ 83342 h 85035"/>
                <a:gd name="connsiteX4" fmla="*/ 62169 w 62268"/>
                <a:gd name="connsiteY4" fmla="*/ 64343 h 85035"/>
                <a:gd name="connsiteX5" fmla="*/ 49803 w 62268"/>
                <a:gd name="connsiteY5" fmla="*/ 40210 h 85035"/>
                <a:gd name="connsiteX6" fmla="*/ 31516 w 62268"/>
                <a:gd name="connsiteY6" fmla="*/ 42608 h 85035"/>
                <a:gd name="connsiteX7" fmla="*/ 18662 w 62268"/>
                <a:gd name="connsiteY7" fmla="*/ 44482 h 85035"/>
                <a:gd name="connsiteX8" fmla="*/ 8132 w 62268"/>
                <a:gd name="connsiteY8" fmla="*/ 0 h 85035"/>
                <a:gd name="connsiteX9" fmla="*/ 37 w 62268"/>
                <a:gd name="connsiteY9" fmla="*/ 23759 h 8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68" h="85035">
                  <a:moveTo>
                    <a:pt x="0" y="23759"/>
                  </a:moveTo>
                  <a:cubicBezTo>
                    <a:pt x="0" y="23759"/>
                    <a:pt x="6108" y="60895"/>
                    <a:pt x="8619" y="78171"/>
                  </a:cubicBezTo>
                  <a:cubicBezTo>
                    <a:pt x="9256" y="82443"/>
                    <a:pt x="13116" y="85441"/>
                    <a:pt x="17388" y="84991"/>
                  </a:cubicBezTo>
                  <a:cubicBezTo>
                    <a:pt x="22072" y="84504"/>
                    <a:pt x="28180" y="83867"/>
                    <a:pt x="33802" y="83342"/>
                  </a:cubicBezTo>
                  <a:cubicBezTo>
                    <a:pt x="54974" y="81281"/>
                    <a:pt x="63294" y="75248"/>
                    <a:pt x="62169" y="64343"/>
                  </a:cubicBezTo>
                  <a:cubicBezTo>
                    <a:pt x="61045" y="53400"/>
                    <a:pt x="49803" y="40210"/>
                    <a:pt x="49803" y="40210"/>
                  </a:cubicBezTo>
                  <a:lnTo>
                    <a:pt x="31516" y="42608"/>
                  </a:lnTo>
                  <a:lnTo>
                    <a:pt x="18662" y="44482"/>
                  </a:lnTo>
                  <a:lnTo>
                    <a:pt x="8132" y="0"/>
                  </a:lnTo>
                  <a:lnTo>
                    <a:pt x="37" y="23759"/>
                  </a:lnTo>
                  <a:close/>
                </a:path>
              </a:pathLst>
            </a:custGeom>
            <a:solidFill>
              <a:srgbClr val="1D2333"/>
            </a:solidFill>
            <a:ln w="3745" cap="flat">
              <a:noFill/>
              <a:prstDash val="solid"/>
              <a:miter/>
            </a:ln>
          </p:spPr>
          <p:txBody>
            <a:bodyPr rtlCol="0" anchor="ctr"/>
            <a:lstStyle/>
            <a:p>
              <a:endParaRPr lang="en-US"/>
            </a:p>
          </p:txBody>
        </p:sp>
        <p:sp>
          <p:nvSpPr>
            <p:cNvPr id="585" name="Freeform: Shape 584">
              <a:extLst>
                <a:ext uri="{FF2B5EF4-FFF2-40B4-BE49-F238E27FC236}">
                  <a16:creationId xmlns:a16="http://schemas.microsoft.com/office/drawing/2014/main" id="{A77B1D23-CBAF-4755-851C-7E0593E5136A}"/>
                </a:ext>
              </a:extLst>
            </p:cNvPr>
            <p:cNvSpPr/>
            <p:nvPr/>
          </p:nvSpPr>
          <p:spPr>
            <a:xfrm>
              <a:off x="5927403" y="7588826"/>
              <a:ext cx="15413" cy="8579"/>
            </a:xfrm>
            <a:custGeom>
              <a:avLst/>
              <a:gdLst>
                <a:gd name="connsiteX0" fmla="*/ 8542 w 15413"/>
                <a:gd name="connsiteY0" fmla="*/ 8579 h 8579"/>
                <a:gd name="connsiteX1" fmla="*/ 1010 w 15413"/>
                <a:gd name="connsiteY1" fmla="*/ 5432 h 8579"/>
                <a:gd name="connsiteX2" fmla="*/ 822 w 15413"/>
                <a:gd name="connsiteY2" fmla="*/ 1010 h 8579"/>
                <a:gd name="connsiteX3" fmla="*/ 5244 w 15413"/>
                <a:gd name="connsiteY3" fmla="*/ 822 h 8579"/>
                <a:gd name="connsiteX4" fmla="*/ 10566 w 15413"/>
                <a:gd name="connsiteY4" fmla="*/ 1759 h 8579"/>
                <a:gd name="connsiteX5" fmla="*/ 14875 w 15413"/>
                <a:gd name="connsiteY5" fmla="*/ 2621 h 8579"/>
                <a:gd name="connsiteX6" fmla="*/ 14088 w 15413"/>
                <a:gd name="connsiteY6" fmla="*/ 6893 h 8579"/>
                <a:gd name="connsiteX7" fmla="*/ 8505 w 15413"/>
                <a:gd name="connsiteY7" fmla="*/ 8542 h 8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13" h="8579">
                  <a:moveTo>
                    <a:pt x="8542" y="8579"/>
                  </a:moveTo>
                  <a:cubicBezTo>
                    <a:pt x="6219" y="8579"/>
                    <a:pt x="3558" y="7793"/>
                    <a:pt x="1010" y="5432"/>
                  </a:cubicBezTo>
                  <a:cubicBezTo>
                    <a:pt x="-264" y="4270"/>
                    <a:pt x="-339" y="2284"/>
                    <a:pt x="822" y="1010"/>
                  </a:cubicBezTo>
                  <a:cubicBezTo>
                    <a:pt x="1984" y="-264"/>
                    <a:pt x="3970" y="-339"/>
                    <a:pt x="5244" y="822"/>
                  </a:cubicBezTo>
                  <a:cubicBezTo>
                    <a:pt x="7830" y="3221"/>
                    <a:pt x="9966" y="2134"/>
                    <a:pt x="10566" y="1759"/>
                  </a:cubicBezTo>
                  <a:cubicBezTo>
                    <a:pt x="11990" y="822"/>
                    <a:pt x="13938" y="1235"/>
                    <a:pt x="14875" y="2621"/>
                  </a:cubicBezTo>
                  <a:cubicBezTo>
                    <a:pt x="15812" y="4045"/>
                    <a:pt x="15512" y="5919"/>
                    <a:pt x="14088" y="6893"/>
                  </a:cubicBezTo>
                  <a:cubicBezTo>
                    <a:pt x="12926" y="7680"/>
                    <a:pt x="10903" y="8542"/>
                    <a:pt x="8505" y="8542"/>
                  </a:cubicBezTo>
                  <a:close/>
                </a:path>
              </a:pathLst>
            </a:custGeom>
            <a:solidFill>
              <a:srgbClr val="E55955"/>
            </a:solidFill>
            <a:ln w="3745" cap="flat">
              <a:noFill/>
              <a:prstDash val="solid"/>
              <a:miter/>
            </a:ln>
          </p:spPr>
          <p:txBody>
            <a:bodyPr rtlCol="0" anchor="ctr"/>
            <a:lstStyle/>
            <a:p>
              <a:endParaRPr lang="en-US"/>
            </a:p>
          </p:txBody>
        </p:sp>
        <p:sp>
          <p:nvSpPr>
            <p:cNvPr id="586" name="Freeform: Shape 585">
              <a:extLst>
                <a:ext uri="{FF2B5EF4-FFF2-40B4-BE49-F238E27FC236}">
                  <a16:creationId xmlns:a16="http://schemas.microsoft.com/office/drawing/2014/main" id="{50B73D78-8AF1-4D51-9822-1B9B133D9FC3}"/>
                </a:ext>
              </a:extLst>
            </p:cNvPr>
            <p:cNvSpPr/>
            <p:nvPr/>
          </p:nvSpPr>
          <p:spPr>
            <a:xfrm>
              <a:off x="5870754" y="7486368"/>
              <a:ext cx="37668" cy="25259"/>
            </a:xfrm>
            <a:custGeom>
              <a:avLst/>
              <a:gdLst>
                <a:gd name="connsiteX0" fmla="*/ 32926 w 37668"/>
                <a:gd name="connsiteY0" fmla="*/ 25260 h 25259"/>
                <a:gd name="connsiteX1" fmla="*/ 31839 w 37668"/>
                <a:gd name="connsiteY1" fmla="*/ 25072 h 25259"/>
                <a:gd name="connsiteX2" fmla="*/ 30003 w 37668"/>
                <a:gd name="connsiteY2" fmla="*/ 21063 h 25259"/>
                <a:gd name="connsiteX3" fmla="*/ 30302 w 37668"/>
                <a:gd name="connsiteY3" fmla="*/ 8509 h 25259"/>
                <a:gd name="connsiteX4" fmla="*/ 24794 w 37668"/>
                <a:gd name="connsiteY4" fmla="*/ 6260 h 25259"/>
                <a:gd name="connsiteX5" fmla="*/ 24494 w 37668"/>
                <a:gd name="connsiteY5" fmla="*/ 6260 h 25259"/>
                <a:gd name="connsiteX6" fmla="*/ 6019 w 37668"/>
                <a:gd name="connsiteY6" fmla="*/ 19601 h 25259"/>
                <a:gd name="connsiteX7" fmla="*/ 1897 w 37668"/>
                <a:gd name="connsiteY7" fmla="*/ 21250 h 25259"/>
                <a:gd name="connsiteX8" fmla="*/ 248 w 37668"/>
                <a:gd name="connsiteY8" fmla="*/ 17165 h 25259"/>
                <a:gd name="connsiteX9" fmla="*/ 24869 w 37668"/>
                <a:gd name="connsiteY9" fmla="*/ 2 h 25259"/>
                <a:gd name="connsiteX10" fmla="*/ 35436 w 37668"/>
                <a:gd name="connsiteY10" fmla="*/ 4986 h 25259"/>
                <a:gd name="connsiteX11" fmla="*/ 35849 w 37668"/>
                <a:gd name="connsiteY11" fmla="*/ 23236 h 25259"/>
                <a:gd name="connsiteX12" fmla="*/ 32926 w 37668"/>
                <a:gd name="connsiteY12" fmla="*/ 25260 h 25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668" h="25259">
                  <a:moveTo>
                    <a:pt x="32926" y="25260"/>
                  </a:moveTo>
                  <a:cubicBezTo>
                    <a:pt x="32551" y="25260"/>
                    <a:pt x="32176" y="25185"/>
                    <a:pt x="31839" y="25072"/>
                  </a:cubicBezTo>
                  <a:cubicBezTo>
                    <a:pt x="30227" y="24473"/>
                    <a:pt x="29403" y="22674"/>
                    <a:pt x="30003" y="21063"/>
                  </a:cubicBezTo>
                  <a:cubicBezTo>
                    <a:pt x="30827" y="18889"/>
                    <a:pt x="32588" y="11881"/>
                    <a:pt x="30302" y="8509"/>
                  </a:cubicBezTo>
                  <a:cubicBezTo>
                    <a:pt x="29928" y="7984"/>
                    <a:pt x="28803" y="6335"/>
                    <a:pt x="24794" y="6260"/>
                  </a:cubicBezTo>
                  <a:cubicBezTo>
                    <a:pt x="24681" y="6260"/>
                    <a:pt x="24606" y="6260"/>
                    <a:pt x="24494" y="6260"/>
                  </a:cubicBezTo>
                  <a:cubicBezTo>
                    <a:pt x="11903" y="6260"/>
                    <a:pt x="6282" y="19039"/>
                    <a:pt x="6019" y="19601"/>
                  </a:cubicBezTo>
                  <a:cubicBezTo>
                    <a:pt x="5345" y="21175"/>
                    <a:pt x="3509" y="21925"/>
                    <a:pt x="1897" y="21250"/>
                  </a:cubicBezTo>
                  <a:cubicBezTo>
                    <a:pt x="323" y="20575"/>
                    <a:pt x="-426" y="18739"/>
                    <a:pt x="248" y="17165"/>
                  </a:cubicBezTo>
                  <a:cubicBezTo>
                    <a:pt x="548" y="16453"/>
                    <a:pt x="7706" y="-223"/>
                    <a:pt x="24869" y="2"/>
                  </a:cubicBezTo>
                  <a:cubicBezTo>
                    <a:pt x="30865" y="115"/>
                    <a:pt x="33937" y="2775"/>
                    <a:pt x="35436" y="4986"/>
                  </a:cubicBezTo>
                  <a:cubicBezTo>
                    <a:pt x="39971" y="11657"/>
                    <a:pt x="36261" y="22074"/>
                    <a:pt x="35849" y="23236"/>
                  </a:cubicBezTo>
                  <a:cubicBezTo>
                    <a:pt x="35399" y="24510"/>
                    <a:pt x="34200" y="25260"/>
                    <a:pt x="32926" y="25260"/>
                  </a:cubicBezTo>
                  <a:close/>
                </a:path>
              </a:pathLst>
            </a:custGeom>
            <a:solidFill>
              <a:srgbClr val="1D2333"/>
            </a:solidFill>
            <a:ln w="3745" cap="flat">
              <a:noFill/>
              <a:prstDash val="solid"/>
              <a:miter/>
            </a:ln>
          </p:spPr>
          <p:txBody>
            <a:bodyPr rtlCol="0" anchor="ctr"/>
            <a:lstStyle/>
            <a:p>
              <a:endParaRPr lang="en-US"/>
            </a:p>
          </p:txBody>
        </p:sp>
        <p:sp>
          <p:nvSpPr>
            <p:cNvPr id="587" name="Freeform: Shape 586">
              <a:extLst>
                <a:ext uri="{FF2B5EF4-FFF2-40B4-BE49-F238E27FC236}">
                  <a16:creationId xmlns:a16="http://schemas.microsoft.com/office/drawing/2014/main" id="{512EE972-26DA-4260-AB08-94812F325FDD}"/>
                </a:ext>
              </a:extLst>
            </p:cNvPr>
            <p:cNvSpPr/>
            <p:nvPr/>
          </p:nvSpPr>
          <p:spPr>
            <a:xfrm>
              <a:off x="6154255" y="7671554"/>
              <a:ext cx="13667" cy="31603"/>
            </a:xfrm>
            <a:custGeom>
              <a:avLst/>
              <a:gdLst>
                <a:gd name="connsiteX0" fmla="*/ 3124 w 13667"/>
                <a:gd name="connsiteY0" fmla="*/ 31604 h 31603"/>
                <a:gd name="connsiteX1" fmla="*/ 2262 w 13667"/>
                <a:gd name="connsiteY1" fmla="*/ 31491 h 31603"/>
                <a:gd name="connsiteX2" fmla="*/ 126 w 13667"/>
                <a:gd name="connsiteY2" fmla="*/ 27632 h 31603"/>
                <a:gd name="connsiteX3" fmla="*/ 7546 w 13667"/>
                <a:gd name="connsiteY3" fmla="*/ 2262 h 31603"/>
                <a:gd name="connsiteX4" fmla="*/ 11405 w 13667"/>
                <a:gd name="connsiteY4" fmla="*/ 126 h 31603"/>
                <a:gd name="connsiteX5" fmla="*/ 13541 w 13667"/>
                <a:gd name="connsiteY5" fmla="*/ 3986 h 31603"/>
                <a:gd name="connsiteX6" fmla="*/ 6122 w 13667"/>
                <a:gd name="connsiteY6" fmla="*/ 29355 h 31603"/>
                <a:gd name="connsiteX7" fmla="*/ 3124 w 13667"/>
                <a:gd name="connsiteY7" fmla="*/ 31604 h 31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67" h="31603">
                  <a:moveTo>
                    <a:pt x="3124" y="31604"/>
                  </a:moveTo>
                  <a:cubicBezTo>
                    <a:pt x="2824" y="31604"/>
                    <a:pt x="2524" y="31566"/>
                    <a:pt x="2262" y="31491"/>
                  </a:cubicBezTo>
                  <a:cubicBezTo>
                    <a:pt x="613" y="31004"/>
                    <a:pt x="-361" y="29280"/>
                    <a:pt x="126" y="27632"/>
                  </a:cubicBezTo>
                  <a:lnTo>
                    <a:pt x="7546" y="2262"/>
                  </a:lnTo>
                  <a:cubicBezTo>
                    <a:pt x="8033" y="613"/>
                    <a:pt x="9756" y="-361"/>
                    <a:pt x="11405" y="126"/>
                  </a:cubicBezTo>
                  <a:cubicBezTo>
                    <a:pt x="13054" y="613"/>
                    <a:pt x="14029" y="2337"/>
                    <a:pt x="13541" y="3986"/>
                  </a:cubicBezTo>
                  <a:lnTo>
                    <a:pt x="6122" y="29355"/>
                  </a:lnTo>
                  <a:cubicBezTo>
                    <a:pt x="5709" y="30704"/>
                    <a:pt x="4473" y="31604"/>
                    <a:pt x="3124" y="31604"/>
                  </a:cubicBezTo>
                  <a:close/>
                </a:path>
              </a:pathLst>
            </a:custGeom>
            <a:solidFill>
              <a:srgbClr val="F47C73"/>
            </a:solidFill>
            <a:ln w="3745" cap="flat">
              <a:noFill/>
              <a:prstDash val="solid"/>
              <a:miter/>
            </a:ln>
          </p:spPr>
          <p:txBody>
            <a:bodyPr rtlCol="0" anchor="ctr"/>
            <a:lstStyle/>
            <a:p>
              <a:endParaRPr lang="en-US"/>
            </a:p>
          </p:txBody>
        </p:sp>
        <p:grpSp>
          <p:nvGrpSpPr>
            <p:cNvPr id="588" name="Graphic 826">
              <a:extLst>
                <a:ext uri="{FF2B5EF4-FFF2-40B4-BE49-F238E27FC236}">
                  <a16:creationId xmlns:a16="http://schemas.microsoft.com/office/drawing/2014/main" id="{369CF2BA-1F48-4495-A0EE-1F4AB40F117D}"/>
                </a:ext>
              </a:extLst>
            </p:cNvPr>
            <p:cNvGrpSpPr/>
            <p:nvPr/>
          </p:nvGrpSpPr>
          <p:grpSpPr>
            <a:xfrm>
              <a:off x="5914699" y="7627160"/>
              <a:ext cx="236118" cy="145698"/>
              <a:chOff x="5914699" y="6102017"/>
              <a:chExt cx="236118" cy="145698"/>
            </a:xfrm>
          </p:grpSpPr>
          <p:sp>
            <p:nvSpPr>
              <p:cNvPr id="599" name="Freeform: Shape 598">
                <a:extLst>
                  <a:ext uri="{FF2B5EF4-FFF2-40B4-BE49-F238E27FC236}">
                    <a16:creationId xmlns:a16="http://schemas.microsoft.com/office/drawing/2014/main" id="{0003AFC7-9705-4B44-BBD3-5C4D800001C1}"/>
                  </a:ext>
                </a:extLst>
              </p:cNvPr>
              <p:cNvSpPr/>
              <p:nvPr/>
            </p:nvSpPr>
            <p:spPr>
              <a:xfrm>
                <a:off x="5914699" y="6102017"/>
                <a:ext cx="236118" cy="145698"/>
              </a:xfrm>
              <a:custGeom>
                <a:avLst/>
                <a:gdLst>
                  <a:gd name="connsiteX0" fmla="*/ 187405 w 236118"/>
                  <a:gd name="connsiteY0" fmla="*/ 145699 h 145698"/>
                  <a:gd name="connsiteX1" fmla="*/ 24281 w 236118"/>
                  <a:gd name="connsiteY1" fmla="*/ 145699 h 145698"/>
                  <a:gd name="connsiteX2" fmla="*/ 747 w 236118"/>
                  <a:gd name="connsiteY2" fmla="*/ 115495 h 145698"/>
                  <a:gd name="connsiteX3" fmla="*/ 25180 w 236118"/>
                  <a:gd name="connsiteY3" fmla="*/ 18362 h 145698"/>
                  <a:gd name="connsiteX4" fmla="*/ 48714 w 236118"/>
                  <a:gd name="connsiteY4" fmla="*/ 0 h 145698"/>
                  <a:gd name="connsiteX5" fmla="*/ 211838 w 236118"/>
                  <a:gd name="connsiteY5" fmla="*/ 0 h 145698"/>
                  <a:gd name="connsiteX6" fmla="*/ 235372 w 236118"/>
                  <a:gd name="connsiteY6" fmla="*/ 30204 h 145698"/>
                  <a:gd name="connsiteX7" fmla="*/ 210939 w 236118"/>
                  <a:gd name="connsiteY7" fmla="*/ 127337 h 145698"/>
                  <a:gd name="connsiteX8" fmla="*/ 187405 w 236118"/>
                  <a:gd name="connsiteY8" fmla="*/ 145699 h 14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118" h="145698">
                    <a:moveTo>
                      <a:pt x="187405" y="145699"/>
                    </a:moveTo>
                    <a:lnTo>
                      <a:pt x="24281" y="145699"/>
                    </a:lnTo>
                    <a:cubicBezTo>
                      <a:pt x="8467" y="145699"/>
                      <a:pt x="-3113" y="130822"/>
                      <a:pt x="747" y="115495"/>
                    </a:cubicBezTo>
                    <a:lnTo>
                      <a:pt x="25180" y="18362"/>
                    </a:lnTo>
                    <a:cubicBezTo>
                      <a:pt x="27878" y="7570"/>
                      <a:pt x="37584" y="0"/>
                      <a:pt x="48714" y="0"/>
                    </a:cubicBezTo>
                    <a:lnTo>
                      <a:pt x="211838" y="0"/>
                    </a:lnTo>
                    <a:cubicBezTo>
                      <a:pt x="227652" y="0"/>
                      <a:pt x="239232" y="14877"/>
                      <a:pt x="235372" y="30204"/>
                    </a:cubicBezTo>
                    <a:lnTo>
                      <a:pt x="210939" y="127337"/>
                    </a:lnTo>
                    <a:cubicBezTo>
                      <a:pt x="208241" y="138129"/>
                      <a:pt x="198535" y="145699"/>
                      <a:pt x="187405" y="145699"/>
                    </a:cubicBezTo>
                    <a:close/>
                  </a:path>
                </a:pathLst>
              </a:custGeom>
              <a:solidFill>
                <a:srgbClr val="1D2333"/>
              </a:solidFill>
              <a:ln w="3745" cap="flat">
                <a:noFill/>
                <a:prstDash val="solid"/>
                <a:miter/>
              </a:ln>
            </p:spPr>
            <p:txBody>
              <a:bodyPr rtlCol="0" anchor="ctr"/>
              <a:lstStyle/>
              <a:p>
                <a:endParaRPr lang="en-US"/>
              </a:p>
            </p:txBody>
          </p:sp>
          <p:sp>
            <p:nvSpPr>
              <p:cNvPr id="600" name="Freeform: Shape 599">
                <a:extLst>
                  <a:ext uri="{FF2B5EF4-FFF2-40B4-BE49-F238E27FC236}">
                    <a16:creationId xmlns:a16="http://schemas.microsoft.com/office/drawing/2014/main" id="{BA9CC074-F3BA-4335-B6E9-B03DECFD5449}"/>
                  </a:ext>
                </a:extLst>
              </p:cNvPr>
              <p:cNvSpPr/>
              <p:nvPr/>
            </p:nvSpPr>
            <p:spPr>
              <a:xfrm>
                <a:off x="5929371" y="6116782"/>
                <a:ext cx="206775" cy="116244"/>
              </a:xfrm>
              <a:custGeom>
                <a:avLst/>
                <a:gdLst>
                  <a:gd name="connsiteX0" fmla="*/ 9572 w 206775"/>
                  <a:gd name="connsiteY0" fmla="*/ 116244 h 116244"/>
                  <a:gd name="connsiteX1" fmla="*/ 2040 w 206775"/>
                  <a:gd name="connsiteY1" fmla="*/ 112572 h 116244"/>
                  <a:gd name="connsiteX2" fmla="*/ 316 w 206775"/>
                  <a:gd name="connsiteY2" fmla="*/ 104365 h 116244"/>
                  <a:gd name="connsiteX3" fmla="*/ 24749 w 206775"/>
                  <a:gd name="connsiteY3" fmla="*/ 7232 h 116244"/>
                  <a:gd name="connsiteX4" fmla="*/ 34042 w 206775"/>
                  <a:gd name="connsiteY4" fmla="*/ 0 h 116244"/>
                  <a:gd name="connsiteX5" fmla="*/ 197167 w 206775"/>
                  <a:gd name="connsiteY5" fmla="*/ 0 h 116244"/>
                  <a:gd name="connsiteX6" fmla="*/ 204736 w 206775"/>
                  <a:gd name="connsiteY6" fmla="*/ 3672 h 116244"/>
                  <a:gd name="connsiteX7" fmla="*/ 206460 w 206775"/>
                  <a:gd name="connsiteY7" fmla="*/ 11879 h 116244"/>
                  <a:gd name="connsiteX8" fmla="*/ 182027 w 206775"/>
                  <a:gd name="connsiteY8" fmla="*/ 109012 h 116244"/>
                  <a:gd name="connsiteX9" fmla="*/ 172734 w 206775"/>
                  <a:gd name="connsiteY9" fmla="*/ 116244 h 116244"/>
                  <a:gd name="connsiteX10" fmla="*/ 9609 w 206775"/>
                  <a:gd name="connsiteY10" fmla="*/ 116244 h 116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6775" h="116244">
                    <a:moveTo>
                      <a:pt x="9572" y="116244"/>
                    </a:moveTo>
                    <a:cubicBezTo>
                      <a:pt x="5487" y="116244"/>
                      <a:pt x="3089" y="113921"/>
                      <a:pt x="2040" y="112572"/>
                    </a:cubicBezTo>
                    <a:cubicBezTo>
                      <a:pt x="953" y="111185"/>
                      <a:pt x="-696" y="108300"/>
                      <a:pt x="316" y="104365"/>
                    </a:cubicBezTo>
                    <a:lnTo>
                      <a:pt x="24749" y="7232"/>
                    </a:lnTo>
                    <a:cubicBezTo>
                      <a:pt x="25836" y="2960"/>
                      <a:pt x="29658" y="0"/>
                      <a:pt x="34042" y="0"/>
                    </a:cubicBezTo>
                    <a:lnTo>
                      <a:pt x="197167" y="0"/>
                    </a:lnTo>
                    <a:cubicBezTo>
                      <a:pt x="201251" y="0"/>
                      <a:pt x="203650" y="2323"/>
                      <a:pt x="204736" y="3672"/>
                    </a:cubicBezTo>
                    <a:cubicBezTo>
                      <a:pt x="205823" y="5059"/>
                      <a:pt x="207472" y="7944"/>
                      <a:pt x="206460" y="11879"/>
                    </a:cubicBezTo>
                    <a:lnTo>
                      <a:pt x="182027" y="109012"/>
                    </a:lnTo>
                    <a:cubicBezTo>
                      <a:pt x="180940" y="113284"/>
                      <a:pt x="177118" y="116244"/>
                      <a:pt x="172734" y="116244"/>
                    </a:cubicBezTo>
                    <a:lnTo>
                      <a:pt x="9609" y="116244"/>
                    </a:lnTo>
                    <a:close/>
                  </a:path>
                </a:pathLst>
              </a:custGeom>
              <a:solidFill>
                <a:srgbClr val="FFFFFF"/>
              </a:solidFill>
              <a:ln w="3745" cap="flat">
                <a:noFill/>
                <a:prstDash val="solid"/>
                <a:miter/>
              </a:ln>
            </p:spPr>
            <p:txBody>
              <a:bodyPr rtlCol="0" anchor="ctr"/>
              <a:lstStyle/>
              <a:p>
                <a:endParaRPr lang="en-US"/>
              </a:p>
            </p:txBody>
          </p:sp>
          <p:sp>
            <p:nvSpPr>
              <p:cNvPr id="601" name="Freeform: Shape 600">
                <a:extLst>
                  <a:ext uri="{FF2B5EF4-FFF2-40B4-BE49-F238E27FC236}">
                    <a16:creationId xmlns:a16="http://schemas.microsoft.com/office/drawing/2014/main" id="{AC7135C5-544D-424C-86BE-B950D501292E}"/>
                  </a:ext>
                </a:extLst>
              </p:cNvPr>
              <p:cNvSpPr/>
              <p:nvPr/>
            </p:nvSpPr>
            <p:spPr>
              <a:xfrm>
                <a:off x="5963376" y="6131697"/>
                <a:ext cx="42158" cy="24582"/>
              </a:xfrm>
              <a:custGeom>
                <a:avLst/>
                <a:gdLst>
                  <a:gd name="connsiteX0" fmla="*/ 35975 w 42158"/>
                  <a:gd name="connsiteY0" fmla="*/ 24583 h 24582"/>
                  <a:gd name="connsiteX1" fmla="*/ 0 w 42158"/>
                  <a:gd name="connsiteY1" fmla="*/ 24583 h 24582"/>
                  <a:gd name="connsiteX2" fmla="*/ 6183 w 42158"/>
                  <a:gd name="connsiteY2" fmla="*/ 0 h 24582"/>
                  <a:gd name="connsiteX3" fmla="*/ 42158 w 42158"/>
                  <a:gd name="connsiteY3" fmla="*/ 0 h 24582"/>
                  <a:gd name="connsiteX4" fmla="*/ 35975 w 42158"/>
                  <a:gd name="connsiteY4" fmla="*/ 24583 h 245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158" h="24582">
                    <a:moveTo>
                      <a:pt x="35975" y="24583"/>
                    </a:moveTo>
                    <a:lnTo>
                      <a:pt x="0" y="24583"/>
                    </a:lnTo>
                    <a:lnTo>
                      <a:pt x="6183" y="0"/>
                    </a:lnTo>
                    <a:lnTo>
                      <a:pt x="42158" y="0"/>
                    </a:lnTo>
                    <a:lnTo>
                      <a:pt x="35975" y="24583"/>
                    </a:lnTo>
                    <a:close/>
                  </a:path>
                </a:pathLst>
              </a:custGeom>
              <a:solidFill>
                <a:srgbClr val="36ABD9"/>
              </a:solidFill>
              <a:ln w="3745" cap="flat">
                <a:noFill/>
                <a:prstDash val="solid"/>
                <a:miter/>
              </a:ln>
            </p:spPr>
            <p:txBody>
              <a:bodyPr rtlCol="0" anchor="ctr"/>
              <a:lstStyle/>
              <a:p>
                <a:endParaRPr lang="en-US"/>
              </a:p>
            </p:txBody>
          </p:sp>
          <p:sp>
            <p:nvSpPr>
              <p:cNvPr id="602" name="Freeform: Shape 601">
                <a:extLst>
                  <a:ext uri="{FF2B5EF4-FFF2-40B4-BE49-F238E27FC236}">
                    <a16:creationId xmlns:a16="http://schemas.microsoft.com/office/drawing/2014/main" id="{91077BCF-3276-4F21-8EBC-3D9ADA594345}"/>
                  </a:ext>
                </a:extLst>
              </p:cNvPr>
              <p:cNvSpPr/>
              <p:nvPr/>
            </p:nvSpPr>
            <p:spPr>
              <a:xfrm>
                <a:off x="6010556" y="6131697"/>
                <a:ext cx="42195" cy="24582"/>
              </a:xfrm>
              <a:custGeom>
                <a:avLst/>
                <a:gdLst>
                  <a:gd name="connsiteX0" fmla="*/ 35975 w 42195"/>
                  <a:gd name="connsiteY0" fmla="*/ 24583 h 24582"/>
                  <a:gd name="connsiteX1" fmla="*/ 0 w 42195"/>
                  <a:gd name="connsiteY1" fmla="*/ 24583 h 24582"/>
                  <a:gd name="connsiteX2" fmla="*/ 6183 w 42195"/>
                  <a:gd name="connsiteY2" fmla="*/ 0 h 24582"/>
                  <a:gd name="connsiteX3" fmla="*/ 42196 w 42195"/>
                  <a:gd name="connsiteY3" fmla="*/ 0 h 24582"/>
                  <a:gd name="connsiteX4" fmla="*/ 35975 w 42195"/>
                  <a:gd name="connsiteY4" fmla="*/ 24583 h 245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195" h="24582">
                    <a:moveTo>
                      <a:pt x="35975" y="24583"/>
                    </a:moveTo>
                    <a:lnTo>
                      <a:pt x="0" y="24583"/>
                    </a:lnTo>
                    <a:lnTo>
                      <a:pt x="6183" y="0"/>
                    </a:lnTo>
                    <a:lnTo>
                      <a:pt x="42196" y="0"/>
                    </a:lnTo>
                    <a:lnTo>
                      <a:pt x="35975" y="24583"/>
                    </a:lnTo>
                    <a:close/>
                  </a:path>
                </a:pathLst>
              </a:custGeom>
              <a:solidFill>
                <a:srgbClr val="70B347"/>
              </a:solidFill>
              <a:ln w="3745" cap="flat">
                <a:noFill/>
                <a:prstDash val="solid"/>
                <a:miter/>
              </a:ln>
            </p:spPr>
            <p:txBody>
              <a:bodyPr rtlCol="0" anchor="ctr"/>
              <a:lstStyle/>
              <a:p>
                <a:endParaRPr lang="en-US"/>
              </a:p>
            </p:txBody>
          </p:sp>
        </p:grpSp>
        <p:sp>
          <p:nvSpPr>
            <p:cNvPr id="589" name="Freeform: Shape 588">
              <a:extLst>
                <a:ext uri="{FF2B5EF4-FFF2-40B4-BE49-F238E27FC236}">
                  <a16:creationId xmlns:a16="http://schemas.microsoft.com/office/drawing/2014/main" id="{4DAD2049-2D5E-4695-BB15-B1A7CEE5993F}"/>
                </a:ext>
              </a:extLst>
            </p:cNvPr>
            <p:cNvSpPr/>
            <p:nvPr/>
          </p:nvSpPr>
          <p:spPr>
            <a:xfrm>
              <a:off x="6237910" y="7295601"/>
              <a:ext cx="50515" cy="16477"/>
            </a:xfrm>
            <a:custGeom>
              <a:avLst/>
              <a:gdLst>
                <a:gd name="connsiteX0" fmla="*/ 45981 w 50515"/>
                <a:gd name="connsiteY0" fmla="*/ 16478 h 16477"/>
                <a:gd name="connsiteX1" fmla="*/ 45194 w 50515"/>
                <a:gd name="connsiteY1" fmla="*/ 16403 h 16477"/>
                <a:gd name="connsiteX2" fmla="*/ 3710 w 50515"/>
                <a:gd name="connsiteY2" fmla="*/ 8983 h 16477"/>
                <a:gd name="connsiteX3" fmla="*/ 75 w 50515"/>
                <a:gd name="connsiteY3" fmla="*/ 3737 h 16477"/>
                <a:gd name="connsiteX4" fmla="*/ 5322 w 50515"/>
                <a:gd name="connsiteY4" fmla="*/ 64 h 16477"/>
                <a:gd name="connsiteX5" fmla="*/ 46805 w 50515"/>
                <a:gd name="connsiteY5" fmla="*/ 7484 h 16477"/>
                <a:gd name="connsiteX6" fmla="*/ 50440 w 50515"/>
                <a:gd name="connsiteY6" fmla="*/ 12730 h 16477"/>
                <a:gd name="connsiteX7" fmla="*/ 45981 w 50515"/>
                <a:gd name="connsiteY7" fmla="*/ 16440 h 16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15" h="16477">
                  <a:moveTo>
                    <a:pt x="45981" y="16478"/>
                  </a:moveTo>
                  <a:cubicBezTo>
                    <a:pt x="45718" y="16478"/>
                    <a:pt x="45456" y="16478"/>
                    <a:pt x="45194" y="16403"/>
                  </a:cubicBezTo>
                  <a:lnTo>
                    <a:pt x="3710" y="8983"/>
                  </a:lnTo>
                  <a:cubicBezTo>
                    <a:pt x="1237" y="8533"/>
                    <a:pt x="-374" y="6210"/>
                    <a:pt x="75" y="3737"/>
                  </a:cubicBezTo>
                  <a:cubicBezTo>
                    <a:pt x="525" y="1263"/>
                    <a:pt x="2848" y="-348"/>
                    <a:pt x="5322" y="64"/>
                  </a:cubicBezTo>
                  <a:lnTo>
                    <a:pt x="46805" y="7484"/>
                  </a:lnTo>
                  <a:cubicBezTo>
                    <a:pt x="49279" y="7934"/>
                    <a:pt x="50890" y="10257"/>
                    <a:pt x="50440" y="12730"/>
                  </a:cubicBezTo>
                  <a:cubicBezTo>
                    <a:pt x="50065" y="14904"/>
                    <a:pt x="48154" y="16440"/>
                    <a:pt x="45981" y="16440"/>
                  </a:cubicBezTo>
                  <a:close/>
                </a:path>
              </a:pathLst>
            </a:custGeom>
            <a:solidFill>
              <a:schemeClr val="accent3"/>
            </a:solidFill>
            <a:ln w="3745" cap="flat">
              <a:noFill/>
              <a:prstDash val="solid"/>
              <a:miter/>
            </a:ln>
          </p:spPr>
          <p:txBody>
            <a:bodyPr rtlCol="0" anchor="ctr"/>
            <a:lstStyle/>
            <a:p>
              <a:endParaRPr lang="en-US"/>
            </a:p>
          </p:txBody>
        </p:sp>
        <p:sp>
          <p:nvSpPr>
            <p:cNvPr id="590" name="Freeform: Shape 589">
              <a:extLst>
                <a:ext uri="{FF2B5EF4-FFF2-40B4-BE49-F238E27FC236}">
                  <a16:creationId xmlns:a16="http://schemas.microsoft.com/office/drawing/2014/main" id="{F240D5A2-93B0-4946-BD55-EA044E2F35D6}"/>
                </a:ext>
              </a:extLst>
            </p:cNvPr>
            <p:cNvSpPr/>
            <p:nvPr/>
          </p:nvSpPr>
          <p:spPr>
            <a:xfrm>
              <a:off x="6292688" y="7196388"/>
              <a:ext cx="35693" cy="35722"/>
            </a:xfrm>
            <a:custGeom>
              <a:avLst/>
              <a:gdLst>
                <a:gd name="connsiteX0" fmla="*/ 31188 w 35693"/>
                <a:gd name="connsiteY0" fmla="*/ 35722 h 35722"/>
                <a:gd name="connsiteX1" fmla="*/ 28002 w 35693"/>
                <a:gd name="connsiteY1" fmla="*/ 34410 h 35722"/>
                <a:gd name="connsiteX2" fmla="*/ 1321 w 35693"/>
                <a:gd name="connsiteY2" fmla="*/ 7692 h 35722"/>
                <a:gd name="connsiteX3" fmla="*/ 1321 w 35693"/>
                <a:gd name="connsiteY3" fmla="*/ 1321 h 35722"/>
                <a:gd name="connsiteX4" fmla="*/ 7692 w 35693"/>
                <a:gd name="connsiteY4" fmla="*/ 1321 h 35722"/>
                <a:gd name="connsiteX5" fmla="*/ 34373 w 35693"/>
                <a:gd name="connsiteY5" fmla="*/ 28040 h 35722"/>
                <a:gd name="connsiteX6" fmla="*/ 34373 w 35693"/>
                <a:gd name="connsiteY6" fmla="*/ 34410 h 35722"/>
                <a:gd name="connsiteX7" fmla="*/ 31188 w 35693"/>
                <a:gd name="connsiteY7" fmla="*/ 35722 h 35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93" h="35722">
                  <a:moveTo>
                    <a:pt x="31188" y="35722"/>
                  </a:moveTo>
                  <a:cubicBezTo>
                    <a:pt x="30026" y="35722"/>
                    <a:pt x="28864" y="35272"/>
                    <a:pt x="28002" y="34410"/>
                  </a:cubicBezTo>
                  <a:lnTo>
                    <a:pt x="1321" y="7692"/>
                  </a:lnTo>
                  <a:cubicBezTo>
                    <a:pt x="-440" y="5930"/>
                    <a:pt x="-440" y="3082"/>
                    <a:pt x="1321" y="1321"/>
                  </a:cubicBezTo>
                  <a:cubicBezTo>
                    <a:pt x="3082" y="-440"/>
                    <a:pt x="5930" y="-440"/>
                    <a:pt x="7692" y="1321"/>
                  </a:cubicBezTo>
                  <a:lnTo>
                    <a:pt x="34373" y="28040"/>
                  </a:lnTo>
                  <a:cubicBezTo>
                    <a:pt x="36134" y="29801"/>
                    <a:pt x="36134" y="32649"/>
                    <a:pt x="34373" y="34410"/>
                  </a:cubicBezTo>
                  <a:cubicBezTo>
                    <a:pt x="33511" y="35272"/>
                    <a:pt x="32349" y="35722"/>
                    <a:pt x="31188" y="35722"/>
                  </a:cubicBezTo>
                  <a:close/>
                </a:path>
              </a:pathLst>
            </a:custGeom>
            <a:solidFill>
              <a:schemeClr val="accent3"/>
            </a:solidFill>
            <a:ln w="3745" cap="flat">
              <a:noFill/>
              <a:prstDash val="solid"/>
              <a:miter/>
            </a:ln>
          </p:spPr>
          <p:txBody>
            <a:bodyPr rtlCol="0" anchor="ctr"/>
            <a:lstStyle/>
            <a:p>
              <a:endParaRPr lang="en-US"/>
            </a:p>
          </p:txBody>
        </p:sp>
        <p:sp>
          <p:nvSpPr>
            <p:cNvPr id="591" name="Freeform: Shape 590">
              <a:extLst>
                <a:ext uri="{FF2B5EF4-FFF2-40B4-BE49-F238E27FC236}">
                  <a16:creationId xmlns:a16="http://schemas.microsoft.com/office/drawing/2014/main" id="{F8036AF6-87FF-439F-8ED3-022EF4E4E3B3}"/>
                </a:ext>
              </a:extLst>
            </p:cNvPr>
            <p:cNvSpPr/>
            <p:nvPr/>
          </p:nvSpPr>
          <p:spPr>
            <a:xfrm>
              <a:off x="5981588" y="7356786"/>
              <a:ext cx="28105" cy="28105"/>
            </a:xfrm>
            <a:custGeom>
              <a:avLst/>
              <a:gdLst>
                <a:gd name="connsiteX0" fmla="*/ 28105 w 28105"/>
                <a:gd name="connsiteY0" fmla="*/ 14053 h 28105"/>
                <a:gd name="connsiteX1" fmla="*/ 14053 w 28105"/>
                <a:gd name="connsiteY1" fmla="*/ 28105 h 28105"/>
                <a:gd name="connsiteX2" fmla="*/ 0 w 28105"/>
                <a:gd name="connsiteY2" fmla="*/ 14053 h 28105"/>
                <a:gd name="connsiteX3" fmla="*/ 14053 w 28105"/>
                <a:gd name="connsiteY3" fmla="*/ 0 h 28105"/>
                <a:gd name="connsiteX4" fmla="*/ 28105 w 28105"/>
                <a:gd name="connsiteY4" fmla="*/ 14053 h 28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05" h="28105">
                  <a:moveTo>
                    <a:pt x="28105" y="14053"/>
                  </a:moveTo>
                  <a:cubicBezTo>
                    <a:pt x="28105" y="21810"/>
                    <a:pt x="21810" y="28105"/>
                    <a:pt x="14053" y="28105"/>
                  </a:cubicBezTo>
                  <a:cubicBezTo>
                    <a:pt x="6296" y="28105"/>
                    <a:pt x="0" y="21810"/>
                    <a:pt x="0" y="14053"/>
                  </a:cubicBezTo>
                  <a:cubicBezTo>
                    <a:pt x="0" y="6296"/>
                    <a:pt x="6296" y="0"/>
                    <a:pt x="14053" y="0"/>
                  </a:cubicBezTo>
                  <a:cubicBezTo>
                    <a:pt x="21810" y="0"/>
                    <a:pt x="28105" y="6296"/>
                    <a:pt x="28105" y="14053"/>
                  </a:cubicBezTo>
                  <a:close/>
                </a:path>
              </a:pathLst>
            </a:custGeom>
            <a:solidFill>
              <a:srgbClr val="FFDE4A"/>
            </a:solidFill>
            <a:ln w="3745" cap="flat">
              <a:noFill/>
              <a:prstDash val="solid"/>
              <a:miter/>
            </a:ln>
          </p:spPr>
          <p:txBody>
            <a:bodyPr rtlCol="0" anchor="ctr"/>
            <a:lstStyle/>
            <a:p>
              <a:endParaRPr lang="en-US"/>
            </a:p>
          </p:txBody>
        </p:sp>
        <p:sp>
          <p:nvSpPr>
            <p:cNvPr id="592" name="Freeform: Shape 591">
              <a:extLst>
                <a:ext uri="{FF2B5EF4-FFF2-40B4-BE49-F238E27FC236}">
                  <a16:creationId xmlns:a16="http://schemas.microsoft.com/office/drawing/2014/main" id="{7F44493F-CCD3-4726-B0E9-75AEE0D3D9B6}"/>
                </a:ext>
              </a:extLst>
            </p:cNvPr>
            <p:cNvSpPr/>
            <p:nvPr/>
          </p:nvSpPr>
          <p:spPr>
            <a:xfrm>
              <a:off x="6023615" y="7356804"/>
              <a:ext cx="28067" cy="28067"/>
            </a:xfrm>
            <a:custGeom>
              <a:avLst/>
              <a:gdLst>
                <a:gd name="connsiteX0" fmla="*/ 23965 w 28067"/>
                <a:gd name="connsiteY0" fmla="*/ 4103 h 28067"/>
                <a:gd name="connsiteX1" fmla="*/ 23965 w 28067"/>
                <a:gd name="connsiteY1" fmla="*/ 23965 h 28067"/>
                <a:gd name="connsiteX2" fmla="*/ 4103 w 28067"/>
                <a:gd name="connsiteY2" fmla="*/ 23965 h 28067"/>
                <a:gd name="connsiteX3" fmla="*/ 4103 w 28067"/>
                <a:gd name="connsiteY3" fmla="*/ 4103 h 28067"/>
                <a:gd name="connsiteX4" fmla="*/ 23965 w 28067"/>
                <a:gd name="connsiteY4" fmla="*/ 4103 h 28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67" h="28067">
                  <a:moveTo>
                    <a:pt x="23965" y="4103"/>
                  </a:moveTo>
                  <a:cubicBezTo>
                    <a:pt x="29436" y="9575"/>
                    <a:pt x="29436" y="18493"/>
                    <a:pt x="23965" y="23965"/>
                  </a:cubicBezTo>
                  <a:cubicBezTo>
                    <a:pt x="18493" y="29436"/>
                    <a:pt x="9575" y="29436"/>
                    <a:pt x="4103" y="23965"/>
                  </a:cubicBezTo>
                  <a:cubicBezTo>
                    <a:pt x="-1368" y="18493"/>
                    <a:pt x="-1368" y="9575"/>
                    <a:pt x="4103" y="4103"/>
                  </a:cubicBezTo>
                  <a:cubicBezTo>
                    <a:pt x="9575" y="-1368"/>
                    <a:pt x="18493" y="-1368"/>
                    <a:pt x="23965" y="4103"/>
                  </a:cubicBezTo>
                  <a:close/>
                </a:path>
              </a:pathLst>
            </a:custGeom>
            <a:solidFill>
              <a:srgbClr val="C5202B"/>
            </a:solidFill>
            <a:ln w="3745" cap="flat">
              <a:noFill/>
              <a:prstDash val="solid"/>
              <a:miter/>
            </a:ln>
          </p:spPr>
          <p:txBody>
            <a:bodyPr rtlCol="0" anchor="ctr"/>
            <a:lstStyle/>
            <a:p>
              <a:endParaRPr lang="en-US"/>
            </a:p>
          </p:txBody>
        </p:sp>
        <p:sp>
          <p:nvSpPr>
            <p:cNvPr id="593" name="Freeform: Shape 592">
              <a:extLst>
                <a:ext uri="{FF2B5EF4-FFF2-40B4-BE49-F238E27FC236}">
                  <a16:creationId xmlns:a16="http://schemas.microsoft.com/office/drawing/2014/main" id="{600B0F37-BD79-42B0-BF00-DEC76662DDD1}"/>
                </a:ext>
              </a:extLst>
            </p:cNvPr>
            <p:cNvSpPr/>
            <p:nvPr/>
          </p:nvSpPr>
          <p:spPr>
            <a:xfrm>
              <a:off x="6065567" y="7356786"/>
              <a:ext cx="28105" cy="28105"/>
            </a:xfrm>
            <a:custGeom>
              <a:avLst/>
              <a:gdLst>
                <a:gd name="connsiteX0" fmla="*/ 28105 w 28105"/>
                <a:gd name="connsiteY0" fmla="*/ 14053 h 28105"/>
                <a:gd name="connsiteX1" fmla="*/ 14053 w 28105"/>
                <a:gd name="connsiteY1" fmla="*/ 28105 h 28105"/>
                <a:gd name="connsiteX2" fmla="*/ 0 w 28105"/>
                <a:gd name="connsiteY2" fmla="*/ 14053 h 28105"/>
                <a:gd name="connsiteX3" fmla="*/ 14053 w 28105"/>
                <a:gd name="connsiteY3" fmla="*/ 0 h 28105"/>
                <a:gd name="connsiteX4" fmla="*/ 28105 w 28105"/>
                <a:gd name="connsiteY4" fmla="*/ 14053 h 28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05" h="28105">
                  <a:moveTo>
                    <a:pt x="28105" y="14053"/>
                  </a:moveTo>
                  <a:cubicBezTo>
                    <a:pt x="28105" y="21814"/>
                    <a:pt x="21814" y="28105"/>
                    <a:pt x="14053" y="28105"/>
                  </a:cubicBezTo>
                  <a:cubicBezTo>
                    <a:pt x="6292" y="28105"/>
                    <a:pt x="0" y="21814"/>
                    <a:pt x="0" y="14053"/>
                  </a:cubicBezTo>
                  <a:cubicBezTo>
                    <a:pt x="0" y="6292"/>
                    <a:pt x="6292" y="0"/>
                    <a:pt x="14053" y="0"/>
                  </a:cubicBezTo>
                  <a:cubicBezTo>
                    <a:pt x="21814" y="0"/>
                    <a:pt x="28105" y="6292"/>
                    <a:pt x="28105" y="14053"/>
                  </a:cubicBezTo>
                  <a:close/>
                </a:path>
              </a:pathLst>
            </a:custGeom>
            <a:solidFill>
              <a:srgbClr val="70B347"/>
            </a:solidFill>
            <a:ln w="3745" cap="flat">
              <a:noFill/>
              <a:prstDash val="solid"/>
              <a:miter/>
            </a:ln>
          </p:spPr>
          <p:txBody>
            <a:bodyPr rtlCol="0" anchor="ctr"/>
            <a:lstStyle/>
            <a:p>
              <a:endParaRPr lang="en-US"/>
            </a:p>
          </p:txBody>
        </p:sp>
        <p:sp>
          <p:nvSpPr>
            <p:cNvPr id="594" name="Freeform: Shape 593">
              <a:extLst>
                <a:ext uri="{FF2B5EF4-FFF2-40B4-BE49-F238E27FC236}">
                  <a16:creationId xmlns:a16="http://schemas.microsoft.com/office/drawing/2014/main" id="{C7979957-D744-49B7-9E61-DDA023FC51EE}"/>
                </a:ext>
              </a:extLst>
            </p:cNvPr>
            <p:cNvSpPr/>
            <p:nvPr/>
          </p:nvSpPr>
          <p:spPr>
            <a:xfrm>
              <a:off x="6384316" y="7153110"/>
              <a:ext cx="14024" cy="44598"/>
            </a:xfrm>
            <a:custGeom>
              <a:avLst/>
              <a:gdLst>
                <a:gd name="connsiteX0" fmla="*/ 9523 w 14024"/>
                <a:gd name="connsiteY0" fmla="*/ 44599 h 44598"/>
                <a:gd name="connsiteX1" fmla="*/ 5064 w 14024"/>
                <a:gd name="connsiteY1" fmla="*/ 40701 h 44598"/>
                <a:gd name="connsiteX2" fmla="*/ 42 w 14024"/>
                <a:gd name="connsiteY2" fmla="*/ 5139 h 44598"/>
                <a:gd name="connsiteX3" fmla="*/ 3865 w 14024"/>
                <a:gd name="connsiteY3" fmla="*/ 42 h 44598"/>
                <a:gd name="connsiteX4" fmla="*/ 8961 w 14024"/>
                <a:gd name="connsiteY4" fmla="*/ 3865 h 44598"/>
                <a:gd name="connsiteX5" fmla="*/ 13982 w 14024"/>
                <a:gd name="connsiteY5" fmla="*/ 39427 h 44598"/>
                <a:gd name="connsiteX6" fmla="*/ 10160 w 14024"/>
                <a:gd name="connsiteY6" fmla="*/ 44524 h 44598"/>
                <a:gd name="connsiteX7" fmla="*/ 9523 w 14024"/>
                <a:gd name="connsiteY7" fmla="*/ 44561 h 44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24" h="44598">
                  <a:moveTo>
                    <a:pt x="9523" y="44599"/>
                  </a:moveTo>
                  <a:cubicBezTo>
                    <a:pt x="7312" y="44599"/>
                    <a:pt x="5363" y="42950"/>
                    <a:pt x="5064" y="40701"/>
                  </a:cubicBezTo>
                  <a:lnTo>
                    <a:pt x="42" y="5139"/>
                  </a:lnTo>
                  <a:cubicBezTo>
                    <a:pt x="-295" y="2665"/>
                    <a:pt x="1429" y="379"/>
                    <a:pt x="3865" y="42"/>
                  </a:cubicBezTo>
                  <a:cubicBezTo>
                    <a:pt x="6300" y="-295"/>
                    <a:pt x="8624" y="1429"/>
                    <a:pt x="8961" y="3865"/>
                  </a:cubicBezTo>
                  <a:lnTo>
                    <a:pt x="13982" y="39427"/>
                  </a:lnTo>
                  <a:cubicBezTo>
                    <a:pt x="14320" y="41901"/>
                    <a:pt x="12596" y="44187"/>
                    <a:pt x="10160" y="44524"/>
                  </a:cubicBezTo>
                  <a:cubicBezTo>
                    <a:pt x="9935" y="44524"/>
                    <a:pt x="9748" y="44561"/>
                    <a:pt x="9523" y="44561"/>
                  </a:cubicBezTo>
                  <a:close/>
                </a:path>
              </a:pathLst>
            </a:custGeom>
            <a:solidFill>
              <a:schemeClr val="accent3"/>
            </a:solidFill>
            <a:ln w="3745" cap="flat">
              <a:noFill/>
              <a:prstDash val="solid"/>
              <a:miter/>
            </a:ln>
          </p:spPr>
          <p:txBody>
            <a:bodyPr rtlCol="0" anchor="ctr"/>
            <a:lstStyle/>
            <a:p>
              <a:endParaRPr lang="en-US"/>
            </a:p>
          </p:txBody>
        </p:sp>
        <p:sp>
          <p:nvSpPr>
            <p:cNvPr id="595" name="Freeform: Shape 594">
              <a:extLst>
                <a:ext uri="{FF2B5EF4-FFF2-40B4-BE49-F238E27FC236}">
                  <a16:creationId xmlns:a16="http://schemas.microsoft.com/office/drawing/2014/main" id="{FC54363D-ECA0-460B-A1DA-7C75416646EF}"/>
                </a:ext>
              </a:extLst>
            </p:cNvPr>
            <p:cNvSpPr/>
            <p:nvPr/>
          </p:nvSpPr>
          <p:spPr>
            <a:xfrm>
              <a:off x="5803149" y="7654683"/>
              <a:ext cx="374727" cy="334737"/>
            </a:xfrm>
            <a:custGeom>
              <a:avLst/>
              <a:gdLst>
                <a:gd name="connsiteX0" fmla="*/ 278607 w 374727"/>
                <a:gd name="connsiteY0" fmla="*/ 63014 h 334737"/>
                <a:gd name="connsiteX1" fmla="*/ 263580 w 374727"/>
                <a:gd name="connsiteY1" fmla="*/ 102774 h 334737"/>
                <a:gd name="connsiteX2" fmla="*/ 263580 w 374727"/>
                <a:gd name="connsiteY2" fmla="*/ 102774 h 334737"/>
                <a:gd name="connsiteX3" fmla="*/ 91312 w 374727"/>
                <a:gd name="connsiteY3" fmla="*/ 170 h 334737"/>
                <a:gd name="connsiteX4" fmla="*/ 27682 w 374727"/>
                <a:gd name="connsiteY4" fmla="*/ 11750 h 334737"/>
                <a:gd name="connsiteX5" fmla="*/ 13704 w 374727"/>
                <a:gd name="connsiteY5" fmla="*/ 216395 h 334737"/>
                <a:gd name="connsiteX6" fmla="*/ 6809 w 374727"/>
                <a:gd name="connsiteY6" fmla="*/ 334738 h 334737"/>
                <a:gd name="connsiteX7" fmla="*/ 234463 w 374727"/>
                <a:gd name="connsiteY7" fmla="*/ 334738 h 334737"/>
                <a:gd name="connsiteX8" fmla="*/ 226294 w 374727"/>
                <a:gd name="connsiteY8" fmla="*/ 242215 h 334737"/>
                <a:gd name="connsiteX9" fmla="*/ 374728 w 374727"/>
                <a:gd name="connsiteY9" fmla="*/ 84112 h 334737"/>
                <a:gd name="connsiteX10" fmla="*/ 278570 w 374727"/>
                <a:gd name="connsiteY10" fmla="*/ 62977 h 334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4727" h="334737">
                  <a:moveTo>
                    <a:pt x="278607" y="63014"/>
                  </a:moveTo>
                  <a:lnTo>
                    <a:pt x="263580" y="102774"/>
                  </a:lnTo>
                  <a:cubicBezTo>
                    <a:pt x="262493" y="105659"/>
                    <a:pt x="263580" y="102774"/>
                    <a:pt x="263580" y="102774"/>
                  </a:cubicBezTo>
                  <a:cubicBezTo>
                    <a:pt x="184098" y="13099"/>
                    <a:pt x="134745" y="-1853"/>
                    <a:pt x="91312" y="170"/>
                  </a:cubicBezTo>
                  <a:cubicBezTo>
                    <a:pt x="65155" y="1369"/>
                    <a:pt x="47543" y="20"/>
                    <a:pt x="27682" y="11750"/>
                  </a:cubicBezTo>
                  <a:cubicBezTo>
                    <a:pt x="-761" y="28538"/>
                    <a:pt x="-10430" y="102774"/>
                    <a:pt x="13704" y="216395"/>
                  </a:cubicBezTo>
                  <a:lnTo>
                    <a:pt x="6809" y="334738"/>
                  </a:lnTo>
                  <a:lnTo>
                    <a:pt x="234463" y="334738"/>
                  </a:lnTo>
                  <a:lnTo>
                    <a:pt x="226294" y="242215"/>
                  </a:lnTo>
                  <a:cubicBezTo>
                    <a:pt x="310498" y="284185"/>
                    <a:pt x="344074" y="242215"/>
                    <a:pt x="374728" y="84112"/>
                  </a:cubicBezTo>
                  <a:lnTo>
                    <a:pt x="278570" y="62977"/>
                  </a:lnTo>
                  <a:close/>
                </a:path>
              </a:pathLst>
            </a:custGeom>
            <a:solidFill>
              <a:schemeClr val="tx2">
                <a:lumMod val="60000"/>
                <a:lumOff val="40000"/>
              </a:schemeClr>
            </a:solidFill>
            <a:ln w="3745" cap="flat">
              <a:noFill/>
              <a:prstDash val="solid"/>
              <a:miter/>
            </a:ln>
          </p:spPr>
          <p:txBody>
            <a:bodyPr rtlCol="0" anchor="ctr"/>
            <a:lstStyle/>
            <a:p>
              <a:endParaRPr lang="en-US"/>
            </a:p>
          </p:txBody>
        </p:sp>
        <p:sp>
          <p:nvSpPr>
            <p:cNvPr id="596" name="Freeform: Shape 595">
              <a:extLst>
                <a:ext uri="{FF2B5EF4-FFF2-40B4-BE49-F238E27FC236}">
                  <a16:creationId xmlns:a16="http://schemas.microsoft.com/office/drawing/2014/main" id="{39C25558-28C0-490D-A3A2-974D63B93705}"/>
                </a:ext>
              </a:extLst>
            </p:cNvPr>
            <p:cNvSpPr/>
            <p:nvPr/>
          </p:nvSpPr>
          <p:spPr>
            <a:xfrm>
              <a:off x="5938484" y="7806751"/>
              <a:ext cx="96055" cy="147968"/>
            </a:xfrm>
            <a:custGeom>
              <a:avLst/>
              <a:gdLst>
                <a:gd name="connsiteX0" fmla="*/ 90996 w 96055"/>
                <a:gd name="connsiteY0" fmla="*/ 90184 h 147968"/>
                <a:gd name="connsiteX1" fmla="*/ 7242 w 96055"/>
                <a:gd name="connsiteY1" fmla="*/ 1633 h 147968"/>
                <a:gd name="connsiteX2" fmla="*/ 384 w 96055"/>
                <a:gd name="connsiteY2" fmla="*/ 5680 h 147968"/>
                <a:gd name="connsiteX3" fmla="*/ 96055 w 96055"/>
                <a:gd name="connsiteY3" fmla="*/ 147969 h 147968"/>
                <a:gd name="connsiteX4" fmla="*/ 90959 w 96055"/>
                <a:gd name="connsiteY4" fmla="*/ 90184 h 1479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055" h="147968">
                  <a:moveTo>
                    <a:pt x="90996" y="90184"/>
                  </a:moveTo>
                  <a:cubicBezTo>
                    <a:pt x="62328" y="71372"/>
                    <a:pt x="28302" y="29664"/>
                    <a:pt x="7242" y="1633"/>
                  </a:cubicBezTo>
                  <a:cubicBezTo>
                    <a:pt x="4394" y="-2189"/>
                    <a:pt x="-1565" y="1333"/>
                    <a:pt x="384" y="5680"/>
                  </a:cubicBezTo>
                  <a:cubicBezTo>
                    <a:pt x="17022" y="42480"/>
                    <a:pt x="49288" y="103712"/>
                    <a:pt x="96055" y="147969"/>
                  </a:cubicBezTo>
                  <a:lnTo>
                    <a:pt x="90959" y="90184"/>
                  </a:lnTo>
                  <a:close/>
                </a:path>
              </a:pathLst>
            </a:custGeom>
            <a:solidFill>
              <a:schemeClr val="tx2"/>
            </a:solidFill>
            <a:ln w="3745" cap="flat">
              <a:noFill/>
              <a:prstDash val="solid"/>
              <a:miter/>
            </a:ln>
          </p:spPr>
          <p:txBody>
            <a:bodyPr rtlCol="0" anchor="ctr"/>
            <a:lstStyle/>
            <a:p>
              <a:endParaRPr lang="en-US"/>
            </a:p>
          </p:txBody>
        </p:sp>
        <p:sp>
          <p:nvSpPr>
            <p:cNvPr id="597" name="Freeform: Shape 596">
              <a:extLst>
                <a:ext uri="{FF2B5EF4-FFF2-40B4-BE49-F238E27FC236}">
                  <a16:creationId xmlns:a16="http://schemas.microsoft.com/office/drawing/2014/main" id="{D9BF4954-642A-4985-8D28-E20E26B49F02}"/>
                </a:ext>
              </a:extLst>
            </p:cNvPr>
            <p:cNvSpPr/>
            <p:nvPr/>
          </p:nvSpPr>
          <p:spPr>
            <a:xfrm>
              <a:off x="6045390" y="7754331"/>
              <a:ext cx="24503" cy="66720"/>
            </a:xfrm>
            <a:custGeom>
              <a:avLst/>
              <a:gdLst>
                <a:gd name="connsiteX0" fmla="*/ 3127 w 24503"/>
                <a:gd name="connsiteY0" fmla="*/ 66720 h 66720"/>
                <a:gd name="connsiteX1" fmla="*/ 2227 w 24503"/>
                <a:gd name="connsiteY1" fmla="*/ 66570 h 66720"/>
                <a:gd name="connsiteX2" fmla="*/ 129 w 24503"/>
                <a:gd name="connsiteY2" fmla="*/ 62673 h 66720"/>
                <a:gd name="connsiteX3" fmla="*/ 18379 w 24503"/>
                <a:gd name="connsiteY3" fmla="*/ 2227 h 66720"/>
                <a:gd name="connsiteX4" fmla="*/ 22276 w 24503"/>
                <a:gd name="connsiteY4" fmla="*/ 129 h 66720"/>
                <a:gd name="connsiteX5" fmla="*/ 24374 w 24503"/>
                <a:gd name="connsiteY5" fmla="*/ 4026 h 66720"/>
                <a:gd name="connsiteX6" fmla="*/ 6125 w 24503"/>
                <a:gd name="connsiteY6" fmla="*/ 64472 h 66720"/>
                <a:gd name="connsiteX7" fmla="*/ 3127 w 24503"/>
                <a:gd name="connsiteY7" fmla="*/ 66683 h 66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03" h="66720">
                  <a:moveTo>
                    <a:pt x="3127" y="66720"/>
                  </a:moveTo>
                  <a:cubicBezTo>
                    <a:pt x="2827" y="66720"/>
                    <a:pt x="2527" y="66683"/>
                    <a:pt x="2227" y="66570"/>
                  </a:cubicBezTo>
                  <a:cubicBezTo>
                    <a:pt x="578" y="66083"/>
                    <a:pt x="-358" y="64322"/>
                    <a:pt x="129" y="62673"/>
                  </a:cubicBezTo>
                  <a:lnTo>
                    <a:pt x="18379" y="2227"/>
                  </a:lnTo>
                  <a:cubicBezTo>
                    <a:pt x="18866" y="578"/>
                    <a:pt x="20590" y="-358"/>
                    <a:pt x="22276" y="129"/>
                  </a:cubicBezTo>
                  <a:cubicBezTo>
                    <a:pt x="23925" y="616"/>
                    <a:pt x="24862" y="2377"/>
                    <a:pt x="24374" y="4026"/>
                  </a:cubicBezTo>
                  <a:lnTo>
                    <a:pt x="6125" y="64472"/>
                  </a:lnTo>
                  <a:cubicBezTo>
                    <a:pt x="5712" y="65821"/>
                    <a:pt x="4476" y="66683"/>
                    <a:pt x="3127" y="66683"/>
                  </a:cubicBezTo>
                  <a:close/>
                </a:path>
              </a:pathLst>
            </a:custGeom>
            <a:solidFill>
              <a:schemeClr val="tx2"/>
            </a:solidFill>
            <a:ln w="3745" cap="flat">
              <a:noFill/>
              <a:prstDash val="solid"/>
              <a:miter/>
            </a:ln>
          </p:spPr>
          <p:txBody>
            <a:bodyPr rtlCol="0" anchor="ctr"/>
            <a:lstStyle/>
            <a:p>
              <a:endParaRPr lang="en-US"/>
            </a:p>
          </p:txBody>
        </p:sp>
        <p:sp>
          <p:nvSpPr>
            <p:cNvPr id="598" name="Freeform: Shape 597">
              <a:extLst>
                <a:ext uri="{FF2B5EF4-FFF2-40B4-BE49-F238E27FC236}">
                  <a16:creationId xmlns:a16="http://schemas.microsoft.com/office/drawing/2014/main" id="{CE2EFD6D-EFE2-4CAE-B01E-BBC6C48F6CD8}"/>
                </a:ext>
              </a:extLst>
            </p:cNvPr>
            <p:cNvSpPr/>
            <p:nvPr/>
          </p:nvSpPr>
          <p:spPr>
            <a:xfrm>
              <a:off x="6148947" y="7747264"/>
              <a:ext cx="16863" cy="16863"/>
            </a:xfrm>
            <a:custGeom>
              <a:avLst/>
              <a:gdLst>
                <a:gd name="connsiteX0" fmla="*/ 16863 w 16863"/>
                <a:gd name="connsiteY0" fmla="*/ 8432 h 16863"/>
                <a:gd name="connsiteX1" fmla="*/ 8432 w 16863"/>
                <a:gd name="connsiteY1" fmla="*/ 16863 h 16863"/>
                <a:gd name="connsiteX2" fmla="*/ 0 w 16863"/>
                <a:gd name="connsiteY2" fmla="*/ 8432 h 16863"/>
                <a:gd name="connsiteX3" fmla="*/ 8432 w 16863"/>
                <a:gd name="connsiteY3" fmla="*/ 0 h 16863"/>
                <a:gd name="connsiteX4" fmla="*/ 16863 w 16863"/>
                <a:gd name="connsiteY4" fmla="*/ 8432 h 168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63" h="16863">
                  <a:moveTo>
                    <a:pt x="16863" y="8432"/>
                  </a:moveTo>
                  <a:cubicBezTo>
                    <a:pt x="16863" y="13078"/>
                    <a:pt x="13078" y="16863"/>
                    <a:pt x="8432" y="16863"/>
                  </a:cubicBezTo>
                  <a:cubicBezTo>
                    <a:pt x="3785" y="16863"/>
                    <a:pt x="0" y="13078"/>
                    <a:pt x="0" y="8432"/>
                  </a:cubicBezTo>
                  <a:cubicBezTo>
                    <a:pt x="0" y="3785"/>
                    <a:pt x="3785" y="0"/>
                    <a:pt x="8432" y="0"/>
                  </a:cubicBezTo>
                  <a:cubicBezTo>
                    <a:pt x="13078" y="0"/>
                    <a:pt x="16863" y="3785"/>
                    <a:pt x="16863" y="8432"/>
                  </a:cubicBezTo>
                  <a:close/>
                </a:path>
              </a:pathLst>
            </a:custGeom>
            <a:solidFill>
              <a:srgbClr val="F3F2FF"/>
            </a:solidFill>
            <a:ln w="3745" cap="flat">
              <a:noFill/>
              <a:prstDash val="solid"/>
              <a:miter/>
            </a:ln>
          </p:spPr>
          <p:txBody>
            <a:bodyPr rtlCol="0" anchor="ctr"/>
            <a:lstStyle/>
            <a:p>
              <a:endParaRPr lang="en-US"/>
            </a:p>
          </p:txBody>
        </p:sp>
      </p:grpSp>
      <p:grpSp>
        <p:nvGrpSpPr>
          <p:cNvPr id="607" name="Group 606">
            <a:extLst>
              <a:ext uri="{FF2B5EF4-FFF2-40B4-BE49-F238E27FC236}">
                <a16:creationId xmlns:a16="http://schemas.microsoft.com/office/drawing/2014/main" id="{AE92BF33-3BB9-43F9-A9AF-C3F1EB334DEA}"/>
              </a:ext>
            </a:extLst>
          </p:cNvPr>
          <p:cNvGrpSpPr>
            <a:grpSpLocks noChangeAspect="1"/>
          </p:cNvGrpSpPr>
          <p:nvPr/>
        </p:nvGrpSpPr>
        <p:grpSpPr>
          <a:xfrm>
            <a:off x="9323534" y="1545480"/>
            <a:ext cx="856273" cy="689200"/>
            <a:chOff x="9343040" y="1534019"/>
            <a:chExt cx="864919" cy="696162"/>
          </a:xfrm>
        </p:grpSpPr>
        <p:sp>
          <p:nvSpPr>
            <p:cNvPr id="608" name="Freeform: Shape 607">
              <a:extLst>
                <a:ext uri="{FF2B5EF4-FFF2-40B4-BE49-F238E27FC236}">
                  <a16:creationId xmlns:a16="http://schemas.microsoft.com/office/drawing/2014/main" id="{CC02D75B-267D-429C-999A-A3F244D833CE}"/>
                </a:ext>
              </a:extLst>
            </p:cNvPr>
            <p:cNvSpPr/>
            <p:nvPr/>
          </p:nvSpPr>
          <p:spPr>
            <a:xfrm>
              <a:off x="9940880" y="1762908"/>
              <a:ext cx="121639" cy="186364"/>
            </a:xfrm>
            <a:custGeom>
              <a:avLst/>
              <a:gdLst>
                <a:gd name="connsiteX0" fmla="*/ 117592 w 121639"/>
                <a:gd name="connsiteY0" fmla="*/ 51382 h 186364"/>
                <a:gd name="connsiteX1" fmla="*/ 96871 w 121639"/>
                <a:gd name="connsiteY1" fmla="*/ 62823 h 186364"/>
                <a:gd name="connsiteX2" fmla="*/ 95738 w 121639"/>
                <a:gd name="connsiteY2" fmla="*/ 15573 h 186364"/>
                <a:gd name="connsiteX3" fmla="*/ 83873 w 121639"/>
                <a:gd name="connsiteY3" fmla="*/ 20497 h 186364"/>
                <a:gd name="connsiteX4" fmla="*/ 72893 w 121639"/>
                <a:gd name="connsiteY4" fmla="*/ 414 h 186364"/>
                <a:gd name="connsiteX5" fmla="*/ 54085 w 121639"/>
                <a:gd name="connsiteY5" fmla="*/ 14050 h 186364"/>
                <a:gd name="connsiteX6" fmla="*/ 46576 w 121639"/>
                <a:gd name="connsiteY6" fmla="*/ 414 h 186364"/>
                <a:gd name="connsiteX7" fmla="*/ 19870 w 121639"/>
                <a:gd name="connsiteY7" fmla="*/ 43059 h 186364"/>
                <a:gd name="connsiteX8" fmla="*/ 0 w 121639"/>
                <a:gd name="connsiteY8" fmla="*/ 104298 h 186364"/>
                <a:gd name="connsiteX9" fmla="*/ 11795 w 121639"/>
                <a:gd name="connsiteY9" fmla="*/ 142728 h 186364"/>
                <a:gd name="connsiteX10" fmla="*/ 8394 w 121639"/>
                <a:gd name="connsiteY10" fmla="*/ 171913 h 186364"/>
                <a:gd name="connsiteX11" fmla="*/ 8359 w 121639"/>
                <a:gd name="connsiteY11" fmla="*/ 173436 h 186364"/>
                <a:gd name="connsiteX12" fmla="*/ 97084 w 121639"/>
                <a:gd name="connsiteY12" fmla="*/ 186364 h 186364"/>
                <a:gd name="connsiteX13" fmla="*/ 103459 w 121639"/>
                <a:gd name="connsiteY13" fmla="*/ 102421 h 186364"/>
                <a:gd name="connsiteX14" fmla="*/ 117556 w 121639"/>
                <a:gd name="connsiteY14" fmla="*/ 51382 h 18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639" h="186364">
                  <a:moveTo>
                    <a:pt x="117592" y="51382"/>
                  </a:moveTo>
                  <a:cubicBezTo>
                    <a:pt x="110685" y="48478"/>
                    <a:pt x="102999" y="55137"/>
                    <a:pt x="96871" y="62823"/>
                  </a:cubicBezTo>
                  <a:cubicBezTo>
                    <a:pt x="102184" y="43803"/>
                    <a:pt x="106753" y="18938"/>
                    <a:pt x="95738" y="15573"/>
                  </a:cubicBezTo>
                  <a:cubicBezTo>
                    <a:pt x="91346" y="14228"/>
                    <a:pt x="87379" y="16424"/>
                    <a:pt x="83873" y="20497"/>
                  </a:cubicBezTo>
                  <a:cubicBezTo>
                    <a:pt x="83873" y="10686"/>
                    <a:pt x="81110" y="2610"/>
                    <a:pt x="72893" y="414"/>
                  </a:cubicBezTo>
                  <a:cubicBezTo>
                    <a:pt x="64888" y="-1746"/>
                    <a:pt x="58725" y="4806"/>
                    <a:pt x="54085" y="14050"/>
                  </a:cubicBezTo>
                  <a:cubicBezTo>
                    <a:pt x="53625" y="7179"/>
                    <a:pt x="51535" y="1902"/>
                    <a:pt x="46576" y="414"/>
                  </a:cubicBezTo>
                  <a:cubicBezTo>
                    <a:pt x="30992" y="-4226"/>
                    <a:pt x="23235" y="36258"/>
                    <a:pt x="19870" y="43059"/>
                  </a:cubicBezTo>
                  <a:cubicBezTo>
                    <a:pt x="16505" y="49824"/>
                    <a:pt x="0" y="104298"/>
                    <a:pt x="0" y="104298"/>
                  </a:cubicBezTo>
                  <a:lnTo>
                    <a:pt x="11795" y="142728"/>
                  </a:lnTo>
                  <a:cubicBezTo>
                    <a:pt x="11795" y="142728"/>
                    <a:pt x="8890" y="165680"/>
                    <a:pt x="8394" y="171913"/>
                  </a:cubicBezTo>
                  <a:cubicBezTo>
                    <a:pt x="8324" y="172834"/>
                    <a:pt x="8288" y="173366"/>
                    <a:pt x="8359" y="173436"/>
                  </a:cubicBezTo>
                  <a:lnTo>
                    <a:pt x="97084" y="186364"/>
                  </a:lnTo>
                  <a:lnTo>
                    <a:pt x="103459" y="102421"/>
                  </a:lnTo>
                  <a:cubicBezTo>
                    <a:pt x="103459" y="102421"/>
                    <a:pt x="132007" y="57439"/>
                    <a:pt x="117556" y="51382"/>
                  </a:cubicBezTo>
                  <a:close/>
                </a:path>
              </a:pathLst>
            </a:custGeom>
            <a:solidFill>
              <a:srgbClr val="FFBEBB"/>
            </a:solidFill>
            <a:ln w="3515" cap="flat">
              <a:noFill/>
              <a:prstDash val="solid"/>
              <a:miter/>
            </a:ln>
          </p:spPr>
          <p:txBody>
            <a:bodyPr lIns="82296" tIns="41148" rIns="82296" bIns="41148" rtlCol="0" anchor="ctr"/>
            <a:lstStyle/>
            <a:p>
              <a:endParaRPr lang="en-US"/>
            </a:p>
          </p:txBody>
        </p:sp>
        <p:sp>
          <p:nvSpPr>
            <p:cNvPr id="609" name="Freeform: Shape 608">
              <a:extLst>
                <a:ext uri="{FF2B5EF4-FFF2-40B4-BE49-F238E27FC236}">
                  <a16:creationId xmlns:a16="http://schemas.microsoft.com/office/drawing/2014/main" id="{186F1121-7088-4D75-AFF9-CEB400B68702}"/>
                </a:ext>
              </a:extLst>
            </p:cNvPr>
            <p:cNvSpPr/>
            <p:nvPr/>
          </p:nvSpPr>
          <p:spPr>
            <a:xfrm>
              <a:off x="9459214" y="1861858"/>
              <a:ext cx="586975" cy="365489"/>
            </a:xfrm>
            <a:custGeom>
              <a:avLst/>
              <a:gdLst>
                <a:gd name="connsiteX0" fmla="*/ 586755 w 586975"/>
                <a:gd name="connsiteY0" fmla="*/ 80756 h 365489"/>
                <a:gd name="connsiteX1" fmla="*/ 482268 w 586975"/>
                <a:gd name="connsiteY1" fmla="*/ 59894 h 365489"/>
                <a:gd name="connsiteX2" fmla="*/ 478620 w 586975"/>
                <a:gd name="connsiteY2" fmla="*/ 82491 h 365489"/>
                <a:gd name="connsiteX3" fmla="*/ 466861 w 586975"/>
                <a:gd name="connsiteY3" fmla="*/ 68713 h 365489"/>
                <a:gd name="connsiteX4" fmla="*/ 317888 w 586975"/>
                <a:gd name="connsiteY4" fmla="*/ 1736 h 365489"/>
                <a:gd name="connsiteX5" fmla="*/ 257747 w 586975"/>
                <a:gd name="connsiteY5" fmla="*/ 0 h 365489"/>
                <a:gd name="connsiteX6" fmla="*/ 127404 w 586975"/>
                <a:gd name="connsiteY6" fmla="*/ 49374 h 365489"/>
                <a:gd name="connsiteX7" fmla="*/ 76117 w 586975"/>
                <a:gd name="connsiteY7" fmla="*/ 121842 h 365489"/>
                <a:gd name="connsiteX8" fmla="*/ 2339 w 586975"/>
                <a:gd name="connsiteY8" fmla="*/ 314805 h 365489"/>
                <a:gd name="connsiteX9" fmla="*/ 147168 w 586975"/>
                <a:gd name="connsiteY9" fmla="*/ 322314 h 365489"/>
                <a:gd name="connsiteX10" fmla="*/ 145610 w 586975"/>
                <a:gd name="connsiteY10" fmla="*/ 365490 h 365489"/>
                <a:gd name="connsiteX11" fmla="*/ 457758 w 586975"/>
                <a:gd name="connsiteY11" fmla="*/ 365490 h 365489"/>
                <a:gd name="connsiteX12" fmla="*/ 446318 w 586975"/>
                <a:gd name="connsiteY12" fmla="*/ 309032 h 365489"/>
                <a:gd name="connsiteX13" fmla="*/ 584736 w 586975"/>
                <a:gd name="connsiteY13" fmla="*/ 264793 h 365489"/>
                <a:gd name="connsiteX14" fmla="*/ 586790 w 586975"/>
                <a:gd name="connsiteY14" fmla="*/ 80756 h 36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6975" h="365489">
                  <a:moveTo>
                    <a:pt x="586755" y="80756"/>
                  </a:moveTo>
                  <a:lnTo>
                    <a:pt x="482268" y="59894"/>
                  </a:lnTo>
                  <a:lnTo>
                    <a:pt x="478620" y="82491"/>
                  </a:lnTo>
                  <a:cubicBezTo>
                    <a:pt x="474335" y="77639"/>
                    <a:pt x="470332" y="72999"/>
                    <a:pt x="466861" y="68713"/>
                  </a:cubicBezTo>
                  <a:cubicBezTo>
                    <a:pt x="433921" y="28194"/>
                    <a:pt x="392941" y="6269"/>
                    <a:pt x="317888" y="1736"/>
                  </a:cubicBezTo>
                  <a:lnTo>
                    <a:pt x="257747" y="0"/>
                  </a:lnTo>
                  <a:cubicBezTo>
                    <a:pt x="206035" y="2408"/>
                    <a:pt x="150214" y="20401"/>
                    <a:pt x="127404" y="49374"/>
                  </a:cubicBezTo>
                  <a:cubicBezTo>
                    <a:pt x="113307" y="67296"/>
                    <a:pt x="87664" y="102290"/>
                    <a:pt x="76117" y="121842"/>
                  </a:cubicBezTo>
                  <a:cubicBezTo>
                    <a:pt x="38290" y="185702"/>
                    <a:pt x="-11403" y="248359"/>
                    <a:pt x="2339" y="314805"/>
                  </a:cubicBezTo>
                  <a:cubicBezTo>
                    <a:pt x="7581" y="340094"/>
                    <a:pt x="65279" y="386068"/>
                    <a:pt x="147168" y="322314"/>
                  </a:cubicBezTo>
                  <a:lnTo>
                    <a:pt x="145610" y="365490"/>
                  </a:lnTo>
                  <a:lnTo>
                    <a:pt x="457758" y="365490"/>
                  </a:lnTo>
                  <a:lnTo>
                    <a:pt x="446318" y="309032"/>
                  </a:lnTo>
                  <a:cubicBezTo>
                    <a:pt x="511312" y="351145"/>
                    <a:pt x="580769" y="318914"/>
                    <a:pt x="584736" y="264793"/>
                  </a:cubicBezTo>
                  <a:cubicBezTo>
                    <a:pt x="587888" y="222078"/>
                    <a:pt x="586790" y="80756"/>
                    <a:pt x="586790" y="80756"/>
                  </a:cubicBezTo>
                  <a:close/>
                </a:path>
              </a:pathLst>
            </a:custGeom>
            <a:solidFill>
              <a:schemeClr val="accent6"/>
            </a:solidFill>
            <a:ln w="3515" cap="flat">
              <a:noFill/>
              <a:prstDash val="solid"/>
              <a:miter/>
            </a:ln>
          </p:spPr>
          <p:txBody>
            <a:bodyPr lIns="82296" tIns="41148" rIns="82296" bIns="41148" rtlCol="0" anchor="ctr"/>
            <a:lstStyle/>
            <a:p>
              <a:endParaRPr lang="en-US"/>
            </a:p>
          </p:txBody>
        </p:sp>
        <p:sp>
          <p:nvSpPr>
            <p:cNvPr id="610" name="Freeform: Shape 609">
              <a:extLst>
                <a:ext uri="{FF2B5EF4-FFF2-40B4-BE49-F238E27FC236}">
                  <a16:creationId xmlns:a16="http://schemas.microsoft.com/office/drawing/2014/main" id="{C584F194-5EB8-4698-8A94-E2A5964F54BA}"/>
                </a:ext>
              </a:extLst>
            </p:cNvPr>
            <p:cNvSpPr/>
            <p:nvPr/>
          </p:nvSpPr>
          <p:spPr>
            <a:xfrm rot="20250002">
              <a:off x="9932186" y="1551443"/>
              <a:ext cx="275773" cy="275773"/>
            </a:xfrm>
            <a:custGeom>
              <a:avLst/>
              <a:gdLst>
                <a:gd name="connsiteX0" fmla="*/ 275773 w 275773"/>
                <a:gd name="connsiteY0" fmla="*/ 137887 h 275773"/>
                <a:gd name="connsiteX1" fmla="*/ 137887 w 275773"/>
                <a:gd name="connsiteY1" fmla="*/ 275773 h 275773"/>
                <a:gd name="connsiteX2" fmla="*/ 0 w 275773"/>
                <a:gd name="connsiteY2" fmla="*/ 137887 h 275773"/>
                <a:gd name="connsiteX3" fmla="*/ 137887 w 275773"/>
                <a:gd name="connsiteY3" fmla="*/ 0 h 275773"/>
                <a:gd name="connsiteX4" fmla="*/ 275773 w 275773"/>
                <a:gd name="connsiteY4" fmla="*/ 137887 h 2757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773" h="275773">
                  <a:moveTo>
                    <a:pt x="275773" y="137887"/>
                  </a:moveTo>
                  <a:cubicBezTo>
                    <a:pt x="275773" y="214039"/>
                    <a:pt x="214039" y="275773"/>
                    <a:pt x="137887" y="275773"/>
                  </a:cubicBezTo>
                  <a:cubicBezTo>
                    <a:pt x="61734" y="275773"/>
                    <a:pt x="0" y="214039"/>
                    <a:pt x="0" y="137887"/>
                  </a:cubicBezTo>
                  <a:cubicBezTo>
                    <a:pt x="0" y="61734"/>
                    <a:pt x="61734" y="0"/>
                    <a:pt x="137887" y="0"/>
                  </a:cubicBezTo>
                  <a:cubicBezTo>
                    <a:pt x="214039" y="0"/>
                    <a:pt x="275773" y="61734"/>
                    <a:pt x="275773" y="137887"/>
                  </a:cubicBezTo>
                  <a:close/>
                </a:path>
              </a:pathLst>
            </a:custGeom>
            <a:solidFill>
              <a:srgbClr val="62B276"/>
            </a:solidFill>
            <a:ln w="3515" cap="flat">
              <a:noFill/>
              <a:prstDash val="solid"/>
              <a:miter/>
            </a:ln>
          </p:spPr>
          <p:txBody>
            <a:bodyPr lIns="82296" tIns="41148" rIns="82296" bIns="41148" rtlCol="0" anchor="ctr"/>
            <a:lstStyle/>
            <a:p>
              <a:endParaRPr lang="en-US"/>
            </a:p>
          </p:txBody>
        </p:sp>
        <p:sp>
          <p:nvSpPr>
            <p:cNvPr id="611" name="Freeform: Shape 610">
              <a:extLst>
                <a:ext uri="{FF2B5EF4-FFF2-40B4-BE49-F238E27FC236}">
                  <a16:creationId xmlns:a16="http://schemas.microsoft.com/office/drawing/2014/main" id="{2D55F29B-A2D2-42DF-BB4A-3CD1DD31214E}"/>
                </a:ext>
              </a:extLst>
            </p:cNvPr>
            <p:cNvSpPr/>
            <p:nvPr/>
          </p:nvSpPr>
          <p:spPr>
            <a:xfrm>
              <a:off x="9911907" y="1534019"/>
              <a:ext cx="149752" cy="151133"/>
            </a:xfrm>
            <a:custGeom>
              <a:avLst/>
              <a:gdLst>
                <a:gd name="connsiteX0" fmla="*/ 149752 w 149752"/>
                <a:gd name="connsiteY0" fmla="*/ 0 h 151133"/>
                <a:gd name="connsiteX1" fmla="*/ 149752 w 149752"/>
                <a:gd name="connsiteY1" fmla="*/ 151133 h 151133"/>
                <a:gd name="connsiteX2" fmla="*/ 0 w 149752"/>
                <a:gd name="connsiteY2" fmla="*/ 151133 h 151133"/>
                <a:gd name="connsiteX3" fmla="*/ 0 w 149752"/>
                <a:gd name="connsiteY3" fmla="*/ 149752 h 151133"/>
                <a:gd name="connsiteX4" fmla="*/ 149752 w 149752"/>
                <a:gd name="connsiteY4" fmla="*/ 0 h 15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752" h="151133">
                  <a:moveTo>
                    <a:pt x="149752" y="0"/>
                  </a:moveTo>
                  <a:lnTo>
                    <a:pt x="149752" y="151133"/>
                  </a:lnTo>
                  <a:lnTo>
                    <a:pt x="0" y="151133"/>
                  </a:lnTo>
                  <a:cubicBezTo>
                    <a:pt x="0" y="150673"/>
                    <a:pt x="0" y="150212"/>
                    <a:pt x="0" y="149752"/>
                  </a:cubicBezTo>
                  <a:cubicBezTo>
                    <a:pt x="0" y="67048"/>
                    <a:pt x="67048" y="0"/>
                    <a:pt x="149752" y="0"/>
                  </a:cubicBezTo>
                  <a:close/>
                </a:path>
              </a:pathLst>
            </a:custGeom>
            <a:solidFill>
              <a:srgbClr val="FFB726"/>
            </a:solidFill>
            <a:ln w="3515" cap="flat">
              <a:noFill/>
              <a:prstDash val="solid"/>
              <a:miter/>
            </a:ln>
          </p:spPr>
          <p:txBody>
            <a:bodyPr lIns="82296" tIns="41148" rIns="82296" bIns="41148" rtlCol="0" anchor="ctr"/>
            <a:lstStyle/>
            <a:p>
              <a:endParaRPr lang="en-US"/>
            </a:p>
          </p:txBody>
        </p:sp>
        <p:sp>
          <p:nvSpPr>
            <p:cNvPr id="612" name="Freeform: Shape 611">
              <a:extLst>
                <a:ext uri="{FF2B5EF4-FFF2-40B4-BE49-F238E27FC236}">
                  <a16:creationId xmlns:a16="http://schemas.microsoft.com/office/drawing/2014/main" id="{28D88395-717A-48AD-B327-1259E0F0504C}"/>
                </a:ext>
              </a:extLst>
            </p:cNvPr>
            <p:cNvSpPr/>
            <p:nvPr/>
          </p:nvSpPr>
          <p:spPr>
            <a:xfrm rot="20250002">
              <a:off x="9932186" y="1551443"/>
              <a:ext cx="275773" cy="275773"/>
            </a:xfrm>
            <a:custGeom>
              <a:avLst/>
              <a:gdLst>
                <a:gd name="connsiteX0" fmla="*/ 275773 w 275773"/>
                <a:gd name="connsiteY0" fmla="*/ 137887 h 275773"/>
                <a:gd name="connsiteX1" fmla="*/ 137887 w 275773"/>
                <a:gd name="connsiteY1" fmla="*/ 275773 h 275773"/>
                <a:gd name="connsiteX2" fmla="*/ 0 w 275773"/>
                <a:gd name="connsiteY2" fmla="*/ 137887 h 275773"/>
                <a:gd name="connsiteX3" fmla="*/ 137887 w 275773"/>
                <a:gd name="connsiteY3" fmla="*/ 0 h 275773"/>
                <a:gd name="connsiteX4" fmla="*/ 275773 w 275773"/>
                <a:gd name="connsiteY4" fmla="*/ 137887 h 2757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773" h="275773">
                  <a:moveTo>
                    <a:pt x="275773" y="137887"/>
                  </a:moveTo>
                  <a:cubicBezTo>
                    <a:pt x="275773" y="214039"/>
                    <a:pt x="214039" y="275773"/>
                    <a:pt x="137887" y="275773"/>
                  </a:cubicBezTo>
                  <a:cubicBezTo>
                    <a:pt x="61734" y="275773"/>
                    <a:pt x="0" y="214039"/>
                    <a:pt x="0" y="137887"/>
                  </a:cubicBezTo>
                  <a:cubicBezTo>
                    <a:pt x="0" y="61734"/>
                    <a:pt x="61734" y="0"/>
                    <a:pt x="137887" y="0"/>
                  </a:cubicBezTo>
                  <a:cubicBezTo>
                    <a:pt x="214039" y="0"/>
                    <a:pt x="275773" y="61734"/>
                    <a:pt x="275773" y="137887"/>
                  </a:cubicBezTo>
                  <a:close/>
                </a:path>
              </a:pathLst>
            </a:custGeom>
            <a:solidFill>
              <a:srgbClr val="70B347"/>
            </a:solidFill>
            <a:ln w="3515" cap="flat">
              <a:noFill/>
              <a:prstDash val="solid"/>
              <a:miter/>
            </a:ln>
          </p:spPr>
          <p:txBody>
            <a:bodyPr lIns="82296" tIns="41148" rIns="82296" bIns="41148" rtlCol="0" anchor="ctr"/>
            <a:lstStyle/>
            <a:p>
              <a:endParaRPr lang="en-US"/>
            </a:p>
          </p:txBody>
        </p:sp>
        <p:sp>
          <p:nvSpPr>
            <p:cNvPr id="613" name="Freeform: Shape 612">
              <a:extLst>
                <a:ext uri="{FF2B5EF4-FFF2-40B4-BE49-F238E27FC236}">
                  <a16:creationId xmlns:a16="http://schemas.microsoft.com/office/drawing/2014/main" id="{6A11BF32-EA76-4873-8D13-21ECE698054F}"/>
                </a:ext>
              </a:extLst>
            </p:cNvPr>
            <p:cNvSpPr/>
            <p:nvPr/>
          </p:nvSpPr>
          <p:spPr>
            <a:xfrm>
              <a:off x="9626854" y="1861823"/>
              <a:ext cx="243896" cy="55289"/>
            </a:xfrm>
            <a:custGeom>
              <a:avLst/>
              <a:gdLst>
                <a:gd name="connsiteX0" fmla="*/ 18489 w 243896"/>
                <a:gd name="connsiteY0" fmla="*/ 27662 h 55289"/>
                <a:gd name="connsiteX1" fmla="*/ 144439 w 243896"/>
                <a:gd name="connsiteY1" fmla="*/ 55289 h 55289"/>
                <a:gd name="connsiteX2" fmla="*/ 231889 w 243896"/>
                <a:gd name="connsiteY2" fmla="*/ 30177 h 55289"/>
                <a:gd name="connsiteX3" fmla="*/ 243896 w 243896"/>
                <a:gd name="connsiteY3" fmla="*/ 23377 h 55289"/>
                <a:gd name="connsiteX4" fmla="*/ 150213 w 243896"/>
                <a:gd name="connsiteY4" fmla="*/ 1736 h 55289"/>
                <a:gd name="connsiteX5" fmla="*/ 90071 w 243896"/>
                <a:gd name="connsiteY5" fmla="*/ 0 h 55289"/>
                <a:gd name="connsiteX6" fmla="*/ 0 w 243896"/>
                <a:gd name="connsiteY6" fmla="*/ 20437 h 55289"/>
                <a:gd name="connsiteX7" fmla="*/ 18453 w 243896"/>
                <a:gd name="connsiteY7" fmla="*/ 27627 h 55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896" h="55289">
                  <a:moveTo>
                    <a:pt x="18489" y="27662"/>
                  </a:moveTo>
                  <a:cubicBezTo>
                    <a:pt x="50862" y="40272"/>
                    <a:pt x="98961" y="55289"/>
                    <a:pt x="144439" y="55289"/>
                  </a:cubicBezTo>
                  <a:cubicBezTo>
                    <a:pt x="173093" y="55289"/>
                    <a:pt x="202527" y="46859"/>
                    <a:pt x="231889" y="30177"/>
                  </a:cubicBezTo>
                  <a:lnTo>
                    <a:pt x="243896" y="23377"/>
                  </a:lnTo>
                  <a:cubicBezTo>
                    <a:pt x="219528" y="11263"/>
                    <a:pt x="189563" y="4109"/>
                    <a:pt x="150213" y="1736"/>
                  </a:cubicBezTo>
                  <a:lnTo>
                    <a:pt x="90071" y="0"/>
                  </a:lnTo>
                  <a:cubicBezTo>
                    <a:pt x="58831" y="1452"/>
                    <a:pt x="26068" y="8607"/>
                    <a:pt x="0" y="20437"/>
                  </a:cubicBezTo>
                  <a:lnTo>
                    <a:pt x="18453" y="27627"/>
                  </a:lnTo>
                  <a:close/>
                </a:path>
              </a:pathLst>
            </a:custGeom>
            <a:solidFill>
              <a:srgbClr val="F3F2FF"/>
            </a:solidFill>
            <a:ln w="3515" cap="flat">
              <a:noFill/>
              <a:prstDash val="solid"/>
              <a:miter/>
            </a:ln>
          </p:spPr>
          <p:txBody>
            <a:bodyPr lIns="82296" tIns="41148" rIns="82296" bIns="41148" rtlCol="0" anchor="ctr"/>
            <a:lstStyle/>
            <a:p>
              <a:endParaRPr lang="en-US"/>
            </a:p>
          </p:txBody>
        </p:sp>
        <p:sp>
          <p:nvSpPr>
            <p:cNvPr id="614" name="Freeform: Shape 613">
              <a:extLst>
                <a:ext uri="{FF2B5EF4-FFF2-40B4-BE49-F238E27FC236}">
                  <a16:creationId xmlns:a16="http://schemas.microsoft.com/office/drawing/2014/main" id="{46ADDCAF-95D7-4838-8638-DFE8B69094DE}"/>
                </a:ext>
              </a:extLst>
            </p:cNvPr>
            <p:cNvSpPr/>
            <p:nvPr/>
          </p:nvSpPr>
          <p:spPr>
            <a:xfrm>
              <a:off x="9651789" y="1861858"/>
              <a:ext cx="198276" cy="37544"/>
            </a:xfrm>
            <a:custGeom>
              <a:avLst/>
              <a:gdLst>
                <a:gd name="connsiteX0" fmla="*/ 125313 w 198276"/>
                <a:gd name="connsiteY0" fmla="*/ 1736 h 37544"/>
                <a:gd name="connsiteX1" fmla="*/ 65171 w 198276"/>
                <a:gd name="connsiteY1" fmla="*/ 0 h 37544"/>
                <a:gd name="connsiteX2" fmla="*/ 0 w 198276"/>
                <a:gd name="connsiteY2" fmla="*/ 11122 h 37544"/>
                <a:gd name="connsiteX3" fmla="*/ 119540 w 198276"/>
                <a:gd name="connsiteY3" fmla="*/ 37544 h 37544"/>
                <a:gd name="connsiteX4" fmla="*/ 198276 w 198276"/>
                <a:gd name="connsiteY4" fmla="*/ 14734 h 37544"/>
                <a:gd name="connsiteX5" fmla="*/ 125313 w 198276"/>
                <a:gd name="connsiteY5" fmla="*/ 1736 h 37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276" h="37544">
                  <a:moveTo>
                    <a:pt x="125313" y="1736"/>
                  </a:moveTo>
                  <a:lnTo>
                    <a:pt x="65171" y="0"/>
                  </a:lnTo>
                  <a:cubicBezTo>
                    <a:pt x="43247" y="1027"/>
                    <a:pt x="20579" y="4852"/>
                    <a:pt x="0" y="11122"/>
                  </a:cubicBezTo>
                  <a:cubicBezTo>
                    <a:pt x="31452" y="23377"/>
                    <a:pt x="77037" y="37544"/>
                    <a:pt x="119540" y="37544"/>
                  </a:cubicBezTo>
                  <a:cubicBezTo>
                    <a:pt x="149115" y="37544"/>
                    <a:pt x="176246" y="27237"/>
                    <a:pt x="198276" y="14734"/>
                  </a:cubicBezTo>
                  <a:cubicBezTo>
                    <a:pt x="178017" y="7792"/>
                    <a:pt x="154179" y="3471"/>
                    <a:pt x="125313" y="1736"/>
                  </a:cubicBezTo>
                  <a:close/>
                </a:path>
              </a:pathLst>
            </a:custGeom>
            <a:solidFill>
              <a:srgbClr val="FFBEBB"/>
            </a:solidFill>
            <a:ln w="3515" cap="flat">
              <a:noFill/>
              <a:prstDash val="solid"/>
              <a:miter/>
            </a:ln>
          </p:spPr>
          <p:txBody>
            <a:bodyPr lIns="82296" tIns="41148" rIns="82296" bIns="41148" rtlCol="0" anchor="ctr"/>
            <a:lstStyle/>
            <a:p>
              <a:endParaRPr lang="en-US"/>
            </a:p>
          </p:txBody>
        </p:sp>
        <p:sp>
          <p:nvSpPr>
            <p:cNvPr id="615" name="Freeform: Shape 614">
              <a:extLst>
                <a:ext uri="{FF2B5EF4-FFF2-40B4-BE49-F238E27FC236}">
                  <a16:creationId xmlns:a16="http://schemas.microsoft.com/office/drawing/2014/main" id="{F632A256-BE90-4831-9663-D67EFF280FE2}"/>
                </a:ext>
              </a:extLst>
            </p:cNvPr>
            <p:cNvSpPr/>
            <p:nvPr/>
          </p:nvSpPr>
          <p:spPr>
            <a:xfrm>
              <a:off x="9616441" y="1946443"/>
              <a:ext cx="29468" cy="151908"/>
            </a:xfrm>
            <a:custGeom>
              <a:avLst/>
              <a:gdLst>
                <a:gd name="connsiteX0" fmla="*/ 29433 w 29468"/>
                <a:gd name="connsiteY0" fmla="*/ 151908 h 151908"/>
                <a:gd name="connsiteX1" fmla="*/ 15336 w 29468"/>
                <a:gd name="connsiteY1" fmla="*/ 2192 h 151908"/>
                <a:gd name="connsiteX2" fmla="*/ 10519 w 29468"/>
                <a:gd name="connsiteY2" fmla="*/ 2192 h 151908"/>
                <a:gd name="connsiteX3" fmla="*/ 0 w 29468"/>
                <a:gd name="connsiteY3" fmla="*/ 127823 h 151908"/>
                <a:gd name="connsiteX4" fmla="*/ 29469 w 29468"/>
                <a:gd name="connsiteY4" fmla="*/ 151873 h 151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68" h="151908">
                  <a:moveTo>
                    <a:pt x="29433" y="151908"/>
                  </a:moveTo>
                  <a:lnTo>
                    <a:pt x="15336" y="2192"/>
                  </a:lnTo>
                  <a:cubicBezTo>
                    <a:pt x="15053" y="-748"/>
                    <a:pt x="10767" y="-713"/>
                    <a:pt x="10519" y="2192"/>
                  </a:cubicBezTo>
                  <a:lnTo>
                    <a:pt x="0" y="127823"/>
                  </a:lnTo>
                  <a:lnTo>
                    <a:pt x="29469" y="151873"/>
                  </a:lnTo>
                  <a:close/>
                </a:path>
              </a:pathLst>
            </a:custGeom>
            <a:solidFill>
              <a:schemeClr val="accent6">
                <a:lumMod val="75000"/>
              </a:schemeClr>
            </a:solidFill>
            <a:ln w="3515" cap="flat">
              <a:noFill/>
              <a:prstDash val="solid"/>
              <a:miter/>
            </a:ln>
          </p:spPr>
          <p:txBody>
            <a:bodyPr lIns="82296" tIns="41148" rIns="82296" bIns="41148" rtlCol="0" anchor="ctr"/>
            <a:lstStyle/>
            <a:p>
              <a:endParaRPr lang="en-US"/>
            </a:p>
          </p:txBody>
        </p:sp>
        <p:sp>
          <p:nvSpPr>
            <p:cNvPr id="616" name="Freeform: Shape 615">
              <a:extLst>
                <a:ext uri="{FF2B5EF4-FFF2-40B4-BE49-F238E27FC236}">
                  <a16:creationId xmlns:a16="http://schemas.microsoft.com/office/drawing/2014/main" id="{DC821BD9-5BC5-41F1-9E7C-8653CF89F16F}"/>
                </a:ext>
              </a:extLst>
            </p:cNvPr>
            <p:cNvSpPr/>
            <p:nvPr/>
          </p:nvSpPr>
          <p:spPr>
            <a:xfrm rot="2700000">
              <a:off x="9790861" y="1576476"/>
              <a:ext cx="50755" cy="50755"/>
            </a:xfrm>
            <a:custGeom>
              <a:avLst/>
              <a:gdLst>
                <a:gd name="connsiteX0" fmla="*/ 45726 w 50755"/>
                <a:gd name="connsiteY0" fmla="*/ 0 h 50755"/>
                <a:gd name="connsiteX1" fmla="*/ 50756 w 50755"/>
                <a:gd name="connsiteY1" fmla="*/ 5030 h 50755"/>
                <a:gd name="connsiteX2" fmla="*/ 50756 w 50755"/>
                <a:gd name="connsiteY2" fmla="*/ 45726 h 50755"/>
                <a:gd name="connsiteX3" fmla="*/ 45726 w 50755"/>
                <a:gd name="connsiteY3" fmla="*/ 50756 h 50755"/>
                <a:gd name="connsiteX4" fmla="*/ 5030 w 50755"/>
                <a:gd name="connsiteY4" fmla="*/ 50756 h 50755"/>
                <a:gd name="connsiteX5" fmla="*/ 0 w 50755"/>
                <a:gd name="connsiteY5" fmla="*/ 45726 h 50755"/>
                <a:gd name="connsiteX6" fmla="*/ 0 w 50755"/>
                <a:gd name="connsiteY6" fmla="*/ 5029 h 50755"/>
                <a:gd name="connsiteX7" fmla="*/ 5030 w 50755"/>
                <a:gd name="connsiteY7" fmla="*/ 0 h 50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55" h="50755">
                  <a:moveTo>
                    <a:pt x="45726" y="0"/>
                  </a:moveTo>
                  <a:cubicBezTo>
                    <a:pt x="48504" y="0"/>
                    <a:pt x="50756" y="2252"/>
                    <a:pt x="50756" y="5030"/>
                  </a:cubicBezTo>
                  <a:lnTo>
                    <a:pt x="50756" y="45726"/>
                  </a:lnTo>
                  <a:cubicBezTo>
                    <a:pt x="50756" y="48504"/>
                    <a:pt x="48504" y="50756"/>
                    <a:pt x="45726" y="50756"/>
                  </a:cubicBezTo>
                  <a:lnTo>
                    <a:pt x="5030" y="50756"/>
                  </a:lnTo>
                  <a:cubicBezTo>
                    <a:pt x="2252" y="50756"/>
                    <a:pt x="0" y="48504"/>
                    <a:pt x="0" y="45726"/>
                  </a:cubicBezTo>
                  <a:lnTo>
                    <a:pt x="0" y="5029"/>
                  </a:lnTo>
                  <a:cubicBezTo>
                    <a:pt x="0" y="2252"/>
                    <a:pt x="2252" y="0"/>
                    <a:pt x="5030" y="0"/>
                  </a:cubicBezTo>
                  <a:close/>
                </a:path>
              </a:pathLst>
            </a:custGeom>
            <a:solidFill>
              <a:srgbClr val="235789"/>
            </a:solidFill>
            <a:ln w="3515" cap="flat">
              <a:noFill/>
              <a:prstDash val="solid"/>
              <a:miter/>
            </a:ln>
          </p:spPr>
          <p:txBody>
            <a:bodyPr lIns="82296" tIns="41148" rIns="82296" bIns="41148" rtlCol="0" anchor="ctr"/>
            <a:lstStyle/>
            <a:p>
              <a:endParaRPr lang="en-US"/>
            </a:p>
          </p:txBody>
        </p:sp>
        <p:sp>
          <p:nvSpPr>
            <p:cNvPr id="617" name="Freeform: Shape 616">
              <a:extLst>
                <a:ext uri="{FF2B5EF4-FFF2-40B4-BE49-F238E27FC236}">
                  <a16:creationId xmlns:a16="http://schemas.microsoft.com/office/drawing/2014/main" id="{DFFCC02E-5614-4BC7-9B13-CCEAB3B119FF}"/>
                </a:ext>
              </a:extLst>
            </p:cNvPr>
            <p:cNvSpPr/>
            <p:nvPr/>
          </p:nvSpPr>
          <p:spPr>
            <a:xfrm>
              <a:off x="10114044" y="1890264"/>
              <a:ext cx="62621" cy="62620"/>
            </a:xfrm>
            <a:custGeom>
              <a:avLst/>
              <a:gdLst>
                <a:gd name="connsiteX0" fmla="*/ 0 w 62621"/>
                <a:gd name="connsiteY0" fmla="*/ 31310 h 62620"/>
                <a:gd name="connsiteX1" fmla="*/ 31311 w 62621"/>
                <a:gd name="connsiteY1" fmla="*/ 62621 h 62620"/>
                <a:gd name="connsiteX2" fmla="*/ 62621 w 62621"/>
                <a:gd name="connsiteY2" fmla="*/ 31310 h 62620"/>
                <a:gd name="connsiteX3" fmla="*/ 31311 w 62621"/>
                <a:gd name="connsiteY3" fmla="*/ 0 h 62620"/>
                <a:gd name="connsiteX4" fmla="*/ 0 w 62621"/>
                <a:gd name="connsiteY4" fmla="*/ 31310 h 62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21" h="62620">
                  <a:moveTo>
                    <a:pt x="0" y="31310"/>
                  </a:moveTo>
                  <a:cubicBezTo>
                    <a:pt x="0" y="48595"/>
                    <a:pt x="14026" y="62621"/>
                    <a:pt x="31311" y="62621"/>
                  </a:cubicBezTo>
                  <a:cubicBezTo>
                    <a:pt x="48595" y="62621"/>
                    <a:pt x="62621" y="48595"/>
                    <a:pt x="62621" y="31310"/>
                  </a:cubicBezTo>
                  <a:cubicBezTo>
                    <a:pt x="62621" y="14026"/>
                    <a:pt x="48595" y="0"/>
                    <a:pt x="31311" y="0"/>
                  </a:cubicBezTo>
                  <a:cubicBezTo>
                    <a:pt x="14026" y="0"/>
                    <a:pt x="0" y="14026"/>
                    <a:pt x="0" y="31310"/>
                  </a:cubicBezTo>
                  <a:close/>
                </a:path>
              </a:pathLst>
            </a:custGeom>
            <a:solidFill>
              <a:srgbClr val="FFDE4A"/>
            </a:solidFill>
            <a:ln w="3515" cap="flat">
              <a:noFill/>
              <a:prstDash val="solid"/>
              <a:miter/>
            </a:ln>
          </p:spPr>
          <p:txBody>
            <a:bodyPr lIns="82296" tIns="41148" rIns="82296" bIns="41148" rtlCol="0" anchor="ctr"/>
            <a:lstStyle/>
            <a:p>
              <a:endParaRPr lang="en-US"/>
            </a:p>
          </p:txBody>
        </p:sp>
        <p:sp>
          <p:nvSpPr>
            <p:cNvPr id="618" name="Freeform: Shape 617">
              <a:extLst>
                <a:ext uri="{FF2B5EF4-FFF2-40B4-BE49-F238E27FC236}">
                  <a16:creationId xmlns:a16="http://schemas.microsoft.com/office/drawing/2014/main" id="{963945E5-9D37-4408-ACAA-B1C609E8AA39}"/>
                </a:ext>
              </a:extLst>
            </p:cNvPr>
            <p:cNvSpPr/>
            <p:nvPr/>
          </p:nvSpPr>
          <p:spPr>
            <a:xfrm rot="21046799">
              <a:off x="9640823" y="1668830"/>
              <a:ext cx="171711" cy="171711"/>
            </a:xfrm>
            <a:custGeom>
              <a:avLst/>
              <a:gdLst>
                <a:gd name="connsiteX0" fmla="*/ 171712 w 171711"/>
                <a:gd name="connsiteY0" fmla="*/ 85856 h 171711"/>
                <a:gd name="connsiteX1" fmla="*/ 85856 w 171711"/>
                <a:gd name="connsiteY1" fmla="*/ 171712 h 171711"/>
                <a:gd name="connsiteX2" fmla="*/ 0 w 171711"/>
                <a:gd name="connsiteY2" fmla="*/ 85856 h 171711"/>
                <a:gd name="connsiteX3" fmla="*/ 85856 w 171711"/>
                <a:gd name="connsiteY3" fmla="*/ 0 h 171711"/>
                <a:gd name="connsiteX4" fmla="*/ 171712 w 171711"/>
                <a:gd name="connsiteY4" fmla="*/ 85856 h 171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711" h="171711">
                  <a:moveTo>
                    <a:pt x="171712" y="85856"/>
                  </a:moveTo>
                  <a:cubicBezTo>
                    <a:pt x="171712" y="133273"/>
                    <a:pt x="133273" y="171712"/>
                    <a:pt x="85856" y="171712"/>
                  </a:cubicBezTo>
                  <a:cubicBezTo>
                    <a:pt x="38439" y="171712"/>
                    <a:pt x="0" y="133273"/>
                    <a:pt x="0" y="85856"/>
                  </a:cubicBezTo>
                  <a:cubicBezTo>
                    <a:pt x="0" y="38439"/>
                    <a:pt x="38439" y="0"/>
                    <a:pt x="85856" y="0"/>
                  </a:cubicBezTo>
                  <a:cubicBezTo>
                    <a:pt x="133273" y="0"/>
                    <a:pt x="171712" y="38439"/>
                    <a:pt x="171712" y="85856"/>
                  </a:cubicBezTo>
                  <a:close/>
                </a:path>
              </a:pathLst>
            </a:custGeom>
            <a:solidFill>
              <a:schemeClr val="accent2"/>
            </a:solidFill>
            <a:ln w="3515" cap="flat">
              <a:noFill/>
              <a:prstDash val="solid"/>
              <a:miter/>
            </a:ln>
          </p:spPr>
          <p:txBody>
            <a:bodyPr lIns="82296" tIns="41148" rIns="82296" bIns="41148" rtlCol="0" anchor="ctr"/>
            <a:lstStyle/>
            <a:p>
              <a:endParaRPr lang="en-US"/>
            </a:p>
          </p:txBody>
        </p:sp>
        <p:sp>
          <p:nvSpPr>
            <p:cNvPr id="619" name="Freeform: Shape 618">
              <a:extLst>
                <a:ext uri="{FF2B5EF4-FFF2-40B4-BE49-F238E27FC236}">
                  <a16:creationId xmlns:a16="http://schemas.microsoft.com/office/drawing/2014/main" id="{7B70A5C9-4F28-438C-BA34-4C719C93128D}"/>
                </a:ext>
              </a:extLst>
            </p:cNvPr>
            <p:cNvSpPr/>
            <p:nvPr/>
          </p:nvSpPr>
          <p:spPr>
            <a:xfrm>
              <a:off x="9707503" y="1714199"/>
              <a:ext cx="117431" cy="162819"/>
            </a:xfrm>
            <a:custGeom>
              <a:avLst/>
              <a:gdLst>
                <a:gd name="connsiteX0" fmla="*/ 104168 w 117431"/>
                <a:gd name="connsiteY0" fmla="*/ 26137 h 162819"/>
                <a:gd name="connsiteX1" fmla="*/ 99988 w 117431"/>
                <a:gd name="connsiteY1" fmla="*/ 11190 h 162819"/>
                <a:gd name="connsiteX2" fmla="*/ 98996 w 117431"/>
                <a:gd name="connsiteY2" fmla="*/ 9525 h 162819"/>
                <a:gd name="connsiteX3" fmla="*/ 44203 w 117431"/>
                <a:gd name="connsiteY3" fmla="*/ 5027 h 162819"/>
                <a:gd name="connsiteX4" fmla="*/ 41299 w 117431"/>
                <a:gd name="connsiteY4" fmla="*/ 10411 h 162819"/>
                <a:gd name="connsiteX5" fmla="*/ 30319 w 117431"/>
                <a:gd name="connsiteY5" fmla="*/ 76113 h 162819"/>
                <a:gd name="connsiteX6" fmla="*/ 0 w 117431"/>
                <a:gd name="connsiteY6" fmla="*/ 124248 h 162819"/>
                <a:gd name="connsiteX7" fmla="*/ 0 w 117431"/>
                <a:gd name="connsiteY7" fmla="*/ 159915 h 162819"/>
                <a:gd name="connsiteX8" fmla="*/ 71795 w 117431"/>
                <a:gd name="connsiteY8" fmla="*/ 162819 h 162819"/>
                <a:gd name="connsiteX9" fmla="*/ 68146 w 117431"/>
                <a:gd name="connsiteY9" fmla="*/ 130800 h 162819"/>
                <a:gd name="connsiteX10" fmla="*/ 110720 w 117431"/>
                <a:gd name="connsiteY10" fmla="*/ 116030 h 162819"/>
                <a:gd name="connsiteX11" fmla="*/ 104097 w 117431"/>
                <a:gd name="connsiteY11" fmla="*/ 26137 h 16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7431" h="162819">
                  <a:moveTo>
                    <a:pt x="104168" y="26137"/>
                  </a:moveTo>
                  <a:cubicBezTo>
                    <a:pt x="103176" y="21568"/>
                    <a:pt x="100803" y="13775"/>
                    <a:pt x="99988" y="11190"/>
                  </a:cubicBezTo>
                  <a:cubicBezTo>
                    <a:pt x="99776" y="10552"/>
                    <a:pt x="99457" y="9986"/>
                    <a:pt x="98996" y="9525"/>
                  </a:cubicBezTo>
                  <a:cubicBezTo>
                    <a:pt x="95596" y="6054"/>
                    <a:pt x="79799" y="-7086"/>
                    <a:pt x="44203" y="5027"/>
                  </a:cubicBezTo>
                  <a:cubicBezTo>
                    <a:pt x="41972" y="5771"/>
                    <a:pt x="40697" y="8144"/>
                    <a:pt x="41299" y="10411"/>
                  </a:cubicBezTo>
                  <a:cubicBezTo>
                    <a:pt x="44664" y="23126"/>
                    <a:pt x="53093" y="63043"/>
                    <a:pt x="30319" y="76113"/>
                  </a:cubicBezTo>
                  <a:cubicBezTo>
                    <a:pt x="30319" y="76113"/>
                    <a:pt x="30992" y="117235"/>
                    <a:pt x="0" y="124248"/>
                  </a:cubicBezTo>
                  <a:lnTo>
                    <a:pt x="0" y="159915"/>
                  </a:lnTo>
                  <a:lnTo>
                    <a:pt x="71795" y="162819"/>
                  </a:lnTo>
                  <a:lnTo>
                    <a:pt x="68146" y="130800"/>
                  </a:lnTo>
                  <a:cubicBezTo>
                    <a:pt x="70661" y="130977"/>
                    <a:pt x="99421" y="132890"/>
                    <a:pt x="110720" y="116030"/>
                  </a:cubicBezTo>
                  <a:cubicBezTo>
                    <a:pt x="127721" y="90600"/>
                    <a:pt x="107462" y="41898"/>
                    <a:pt x="104097" y="26137"/>
                  </a:cubicBezTo>
                  <a:close/>
                </a:path>
              </a:pathLst>
            </a:custGeom>
            <a:solidFill>
              <a:srgbClr val="FFBEBB"/>
            </a:solidFill>
            <a:ln w="3515" cap="flat">
              <a:noFill/>
              <a:prstDash val="solid"/>
              <a:miter/>
            </a:ln>
          </p:spPr>
          <p:txBody>
            <a:bodyPr lIns="82296" tIns="41148" rIns="82296" bIns="41148" rtlCol="0" anchor="ctr"/>
            <a:lstStyle/>
            <a:p>
              <a:endParaRPr lang="en-US"/>
            </a:p>
          </p:txBody>
        </p:sp>
        <p:sp>
          <p:nvSpPr>
            <p:cNvPr id="620" name="Freeform: Shape 619">
              <a:extLst>
                <a:ext uri="{FF2B5EF4-FFF2-40B4-BE49-F238E27FC236}">
                  <a16:creationId xmlns:a16="http://schemas.microsoft.com/office/drawing/2014/main" id="{8081B3C4-54F7-4DF2-BFC9-A7E381DA8305}"/>
                </a:ext>
              </a:extLst>
            </p:cNvPr>
            <p:cNvSpPr/>
            <p:nvPr/>
          </p:nvSpPr>
          <p:spPr>
            <a:xfrm>
              <a:off x="9751307" y="1840621"/>
              <a:ext cx="26587" cy="27510"/>
            </a:xfrm>
            <a:custGeom>
              <a:avLst/>
              <a:gdLst>
                <a:gd name="connsiteX0" fmla="*/ 577 w 26587"/>
                <a:gd name="connsiteY0" fmla="*/ 3386 h 27510"/>
                <a:gd name="connsiteX1" fmla="*/ 22856 w 26587"/>
                <a:gd name="connsiteY1" fmla="*/ 26833 h 27510"/>
                <a:gd name="connsiteX2" fmla="*/ 26575 w 26587"/>
                <a:gd name="connsiteY2" fmla="*/ 25098 h 27510"/>
                <a:gd name="connsiteX3" fmla="*/ 24414 w 26587"/>
                <a:gd name="connsiteY3" fmla="*/ 4342 h 27510"/>
                <a:gd name="connsiteX4" fmla="*/ 2667 w 26587"/>
                <a:gd name="connsiteY4" fmla="*/ 127 h 27510"/>
                <a:gd name="connsiteX5" fmla="*/ 542 w 26587"/>
                <a:gd name="connsiteY5" fmla="*/ 3351 h 27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587" h="27510">
                  <a:moveTo>
                    <a:pt x="577" y="3386"/>
                  </a:moveTo>
                  <a:lnTo>
                    <a:pt x="22856" y="26833"/>
                  </a:lnTo>
                  <a:cubicBezTo>
                    <a:pt x="24272" y="28321"/>
                    <a:pt x="26787" y="27188"/>
                    <a:pt x="26575" y="25098"/>
                  </a:cubicBezTo>
                  <a:lnTo>
                    <a:pt x="24414" y="4342"/>
                  </a:lnTo>
                  <a:cubicBezTo>
                    <a:pt x="24414" y="4342"/>
                    <a:pt x="16232" y="5015"/>
                    <a:pt x="2667" y="127"/>
                  </a:cubicBezTo>
                  <a:cubicBezTo>
                    <a:pt x="719" y="-581"/>
                    <a:pt x="-875" y="1827"/>
                    <a:pt x="542" y="3351"/>
                  </a:cubicBezTo>
                  <a:close/>
                </a:path>
              </a:pathLst>
            </a:custGeom>
            <a:solidFill>
              <a:srgbClr val="F47C73"/>
            </a:solidFill>
            <a:ln w="3515" cap="flat">
              <a:noFill/>
              <a:prstDash val="solid"/>
              <a:miter/>
            </a:ln>
          </p:spPr>
          <p:txBody>
            <a:bodyPr lIns="82296" tIns="41148" rIns="82296" bIns="41148" rtlCol="0" anchor="ctr"/>
            <a:lstStyle/>
            <a:p>
              <a:endParaRPr lang="en-US"/>
            </a:p>
          </p:txBody>
        </p:sp>
        <p:sp>
          <p:nvSpPr>
            <p:cNvPr id="621" name="Freeform: Shape 620">
              <a:extLst>
                <a:ext uri="{FF2B5EF4-FFF2-40B4-BE49-F238E27FC236}">
                  <a16:creationId xmlns:a16="http://schemas.microsoft.com/office/drawing/2014/main" id="{451D27FE-0879-4AA3-8355-206AF786BA6C}"/>
                </a:ext>
              </a:extLst>
            </p:cNvPr>
            <p:cNvSpPr/>
            <p:nvPr/>
          </p:nvSpPr>
          <p:spPr>
            <a:xfrm>
              <a:off x="9776543" y="1735284"/>
              <a:ext cx="29716" cy="16031"/>
            </a:xfrm>
            <a:custGeom>
              <a:avLst/>
              <a:gdLst>
                <a:gd name="connsiteX0" fmla="*/ 2825 w 29716"/>
                <a:gd name="connsiteY0" fmla="*/ 16031 h 16031"/>
                <a:gd name="connsiteX1" fmla="*/ 1444 w 29716"/>
                <a:gd name="connsiteY1" fmla="*/ 15677 h 16031"/>
                <a:gd name="connsiteX2" fmla="*/ 346 w 29716"/>
                <a:gd name="connsiteY2" fmla="*/ 11852 h 16031"/>
                <a:gd name="connsiteX3" fmla="*/ 27831 w 29716"/>
                <a:gd name="connsiteY3" fmla="*/ 1403 h 16031"/>
                <a:gd name="connsiteX4" fmla="*/ 29567 w 29716"/>
                <a:gd name="connsiteY4" fmla="*/ 4980 h 16031"/>
                <a:gd name="connsiteX5" fmla="*/ 25989 w 29716"/>
                <a:gd name="connsiteY5" fmla="*/ 6716 h 16031"/>
                <a:gd name="connsiteX6" fmla="*/ 5305 w 29716"/>
                <a:gd name="connsiteY6" fmla="*/ 14579 h 16031"/>
                <a:gd name="connsiteX7" fmla="*/ 2861 w 29716"/>
                <a:gd name="connsiteY7" fmla="*/ 16031 h 16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716" h="16031">
                  <a:moveTo>
                    <a:pt x="2825" y="16031"/>
                  </a:moveTo>
                  <a:cubicBezTo>
                    <a:pt x="2365" y="16031"/>
                    <a:pt x="1905" y="15925"/>
                    <a:pt x="1444" y="15677"/>
                  </a:cubicBezTo>
                  <a:cubicBezTo>
                    <a:pt x="98" y="14933"/>
                    <a:pt x="-398" y="13198"/>
                    <a:pt x="346" y="11852"/>
                  </a:cubicBezTo>
                  <a:cubicBezTo>
                    <a:pt x="3605" y="6043"/>
                    <a:pt x="13487" y="-3626"/>
                    <a:pt x="27831" y="1403"/>
                  </a:cubicBezTo>
                  <a:cubicBezTo>
                    <a:pt x="29283" y="1934"/>
                    <a:pt x="30063" y="3528"/>
                    <a:pt x="29567" y="4980"/>
                  </a:cubicBezTo>
                  <a:cubicBezTo>
                    <a:pt x="29036" y="6433"/>
                    <a:pt x="27442" y="7212"/>
                    <a:pt x="25989" y="6716"/>
                  </a:cubicBezTo>
                  <a:cubicBezTo>
                    <a:pt x="12495" y="1970"/>
                    <a:pt x="5588" y="14083"/>
                    <a:pt x="5305" y="14579"/>
                  </a:cubicBezTo>
                  <a:cubicBezTo>
                    <a:pt x="4773" y="15500"/>
                    <a:pt x="3817" y="16031"/>
                    <a:pt x="2861" y="16031"/>
                  </a:cubicBezTo>
                  <a:close/>
                </a:path>
              </a:pathLst>
            </a:custGeom>
            <a:solidFill>
              <a:srgbClr val="8E1E00"/>
            </a:solidFill>
            <a:ln w="3515" cap="flat">
              <a:noFill/>
              <a:prstDash val="solid"/>
              <a:miter/>
            </a:ln>
          </p:spPr>
          <p:txBody>
            <a:bodyPr lIns="82296" tIns="41148" rIns="82296" bIns="41148" rtlCol="0" anchor="ctr"/>
            <a:lstStyle/>
            <a:p>
              <a:endParaRPr lang="en-US"/>
            </a:p>
          </p:txBody>
        </p:sp>
        <p:sp>
          <p:nvSpPr>
            <p:cNvPr id="622" name="Freeform: Shape 621">
              <a:extLst>
                <a:ext uri="{FF2B5EF4-FFF2-40B4-BE49-F238E27FC236}">
                  <a16:creationId xmlns:a16="http://schemas.microsoft.com/office/drawing/2014/main" id="{75758411-155D-4833-982E-96F9D6447224}"/>
                </a:ext>
              </a:extLst>
            </p:cNvPr>
            <p:cNvSpPr/>
            <p:nvPr/>
          </p:nvSpPr>
          <p:spPr>
            <a:xfrm>
              <a:off x="9816205" y="1759037"/>
              <a:ext cx="17789" cy="31275"/>
            </a:xfrm>
            <a:custGeom>
              <a:avLst/>
              <a:gdLst>
                <a:gd name="connsiteX0" fmla="*/ 0 w 17789"/>
                <a:gd name="connsiteY0" fmla="*/ 0 h 31275"/>
                <a:gd name="connsiteX1" fmla="*/ 17674 w 17789"/>
                <a:gd name="connsiteY1" fmla="*/ 11299 h 31275"/>
                <a:gd name="connsiteX2" fmla="*/ 7544 w 17789"/>
                <a:gd name="connsiteY2" fmla="*/ 31275 h 31275"/>
                <a:gd name="connsiteX3" fmla="*/ 1027 w 17789"/>
                <a:gd name="connsiteY3" fmla="*/ 19693 h 31275"/>
                <a:gd name="connsiteX4" fmla="*/ 0 w 17789"/>
                <a:gd name="connsiteY4" fmla="*/ 0 h 312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89" h="31275">
                  <a:moveTo>
                    <a:pt x="0" y="0"/>
                  </a:moveTo>
                  <a:cubicBezTo>
                    <a:pt x="0" y="0"/>
                    <a:pt x="16293" y="5950"/>
                    <a:pt x="17674" y="11299"/>
                  </a:cubicBezTo>
                  <a:cubicBezTo>
                    <a:pt x="19056" y="16647"/>
                    <a:pt x="7544" y="31275"/>
                    <a:pt x="7544" y="31275"/>
                  </a:cubicBezTo>
                  <a:lnTo>
                    <a:pt x="1027" y="19693"/>
                  </a:lnTo>
                  <a:lnTo>
                    <a:pt x="0" y="0"/>
                  </a:lnTo>
                  <a:close/>
                </a:path>
              </a:pathLst>
            </a:custGeom>
            <a:solidFill>
              <a:srgbClr val="FFBEBB"/>
            </a:solidFill>
            <a:ln w="3515" cap="flat">
              <a:noFill/>
              <a:prstDash val="solid"/>
              <a:miter/>
            </a:ln>
          </p:spPr>
          <p:txBody>
            <a:bodyPr lIns="82296" tIns="41148" rIns="82296" bIns="41148" rtlCol="0" anchor="ctr"/>
            <a:lstStyle/>
            <a:p>
              <a:endParaRPr lang="en-US"/>
            </a:p>
          </p:txBody>
        </p:sp>
        <p:sp>
          <p:nvSpPr>
            <p:cNvPr id="623" name="Freeform: Shape 622">
              <a:extLst>
                <a:ext uri="{FF2B5EF4-FFF2-40B4-BE49-F238E27FC236}">
                  <a16:creationId xmlns:a16="http://schemas.microsoft.com/office/drawing/2014/main" id="{08BE603B-BE59-4AD4-AD7E-5728EF0C1B29}"/>
                </a:ext>
              </a:extLst>
            </p:cNvPr>
            <p:cNvSpPr/>
            <p:nvPr/>
          </p:nvSpPr>
          <p:spPr>
            <a:xfrm>
              <a:off x="9765053" y="1766751"/>
              <a:ext cx="30686" cy="30686"/>
            </a:xfrm>
            <a:custGeom>
              <a:avLst/>
              <a:gdLst>
                <a:gd name="connsiteX0" fmla="*/ 30680 w 30686"/>
                <a:gd name="connsiteY0" fmla="*/ 14918 h 30686"/>
                <a:gd name="connsiteX1" fmla="*/ 15768 w 30686"/>
                <a:gd name="connsiteY1" fmla="*/ 30680 h 30686"/>
                <a:gd name="connsiteX2" fmla="*/ 7 w 30686"/>
                <a:gd name="connsiteY2" fmla="*/ 15768 h 30686"/>
                <a:gd name="connsiteX3" fmla="*/ 14918 w 30686"/>
                <a:gd name="connsiteY3" fmla="*/ 7 h 30686"/>
                <a:gd name="connsiteX4" fmla="*/ 30680 w 30686"/>
                <a:gd name="connsiteY4" fmla="*/ 14918 h 306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86" h="30686">
                  <a:moveTo>
                    <a:pt x="30680" y="14918"/>
                  </a:moveTo>
                  <a:cubicBezTo>
                    <a:pt x="30928" y="23383"/>
                    <a:pt x="24233" y="30432"/>
                    <a:pt x="15768" y="30680"/>
                  </a:cubicBezTo>
                  <a:cubicBezTo>
                    <a:pt x="7303" y="30928"/>
                    <a:pt x="255" y="24233"/>
                    <a:pt x="7" y="15768"/>
                  </a:cubicBezTo>
                  <a:cubicBezTo>
                    <a:pt x="-241" y="7303"/>
                    <a:pt x="6453" y="255"/>
                    <a:pt x="14918" y="7"/>
                  </a:cubicBezTo>
                  <a:cubicBezTo>
                    <a:pt x="23383" y="-241"/>
                    <a:pt x="30432" y="6453"/>
                    <a:pt x="30680" y="14918"/>
                  </a:cubicBezTo>
                  <a:close/>
                </a:path>
              </a:pathLst>
            </a:custGeom>
            <a:solidFill>
              <a:srgbClr val="F47C73"/>
            </a:solidFill>
            <a:ln w="3515" cap="flat">
              <a:noFill/>
              <a:prstDash val="solid"/>
              <a:miter/>
            </a:ln>
          </p:spPr>
          <p:txBody>
            <a:bodyPr lIns="82296" tIns="41148" rIns="82296" bIns="41148" rtlCol="0" anchor="ctr"/>
            <a:lstStyle/>
            <a:p>
              <a:endParaRPr lang="en-US"/>
            </a:p>
          </p:txBody>
        </p:sp>
        <p:sp>
          <p:nvSpPr>
            <p:cNvPr id="624" name="Freeform: Shape 623">
              <a:extLst>
                <a:ext uri="{FF2B5EF4-FFF2-40B4-BE49-F238E27FC236}">
                  <a16:creationId xmlns:a16="http://schemas.microsoft.com/office/drawing/2014/main" id="{5FB03F8A-3FBE-43EA-815A-52B4C3DB5541}"/>
                </a:ext>
              </a:extLst>
            </p:cNvPr>
            <p:cNvSpPr/>
            <p:nvPr/>
          </p:nvSpPr>
          <p:spPr>
            <a:xfrm>
              <a:off x="9715535" y="1765256"/>
              <a:ext cx="41811" cy="38175"/>
            </a:xfrm>
            <a:custGeom>
              <a:avLst/>
              <a:gdLst>
                <a:gd name="connsiteX0" fmla="*/ 2452 w 41811"/>
                <a:gd name="connsiteY0" fmla="*/ 6213 h 38175"/>
                <a:gd name="connsiteX1" fmla="*/ 11095 w 41811"/>
                <a:gd name="connsiteY1" fmla="*/ 33167 h 38175"/>
                <a:gd name="connsiteX2" fmla="*/ 39359 w 41811"/>
                <a:gd name="connsiteY2" fmla="*/ 31963 h 38175"/>
                <a:gd name="connsiteX3" fmla="*/ 30717 w 41811"/>
                <a:gd name="connsiteY3" fmla="*/ 5009 h 38175"/>
                <a:gd name="connsiteX4" fmla="*/ 2452 w 41811"/>
                <a:gd name="connsiteY4" fmla="*/ 6213 h 38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1" h="38175">
                  <a:moveTo>
                    <a:pt x="2452" y="6213"/>
                  </a:moveTo>
                  <a:cubicBezTo>
                    <a:pt x="-2967" y="13970"/>
                    <a:pt x="894" y="26048"/>
                    <a:pt x="11095" y="33167"/>
                  </a:cubicBezTo>
                  <a:cubicBezTo>
                    <a:pt x="21295" y="40286"/>
                    <a:pt x="33940" y="39755"/>
                    <a:pt x="39359" y="31963"/>
                  </a:cubicBezTo>
                  <a:cubicBezTo>
                    <a:pt x="44778" y="24206"/>
                    <a:pt x="40917" y="12128"/>
                    <a:pt x="30717" y="5009"/>
                  </a:cubicBezTo>
                  <a:cubicBezTo>
                    <a:pt x="20516" y="-2111"/>
                    <a:pt x="7871" y="-1579"/>
                    <a:pt x="2452" y="6213"/>
                  </a:cubicBezTo>
                  <a:close/>
                </a:path>
              </a:pathLst>
            </a:custGeom>
            <a:solidFill>
              <a:srgbClr val="FFBEBB"/>
            </a:solidFill>
            <a:ln w="3515" cap="flat">
              <a:noFill/>
              <a:prstDash val="solid"/>
              <a:miter/>
            </a:ln>
          </p:spPr>
          <p:txBody>
            <a:bodyPr lIns="82296" tIns="41148" rIns="82296" bIns="41148" rtlCol="0" anchor="ctr"/>
            <a:lstStyle/>
            <a:p>
              <a:endParaRPr lang="en-US"/>
            </a:p>
          </p:txBody>
        </p:sp>
        <p:sp>
          <p:nvSpPr>
            <p:cNvPr id="625" name="Freeform: Shape 624">
              <a:extLst>
                <a:ext uri="{FF2B5EF4-FFF2-40B4-BE49-F238E27FC236}">
                  <a16:creationId xmlns:a16="http://schemas.microsoft.com/office/drawing/2014/main" id="{83F73B1C-E850-4206-ACA0-0C6F86075958}"/>
                </a:ext>
              </a:extLst>
            </p:cNvPr>
            <p:cNvSpPr/>
            <p:nvPr/>
          </p:nvSpPr>
          <p:spPr>
            <a:xfrm>
              <a:off x="9724717" y="1773668"/>
              <a:ext cx="23376" cy="21316"/>
            </a:xfrm>
            <a:custGeom>
              <a:avLst/>
              <a:gdLst>
                <a:gd name="connsiteX0" fmla="*/ 1381 w 23376"/>
                <a:gd name="connsiteY0" fmla="*/ 3468 h 21316"/>
                <a:gd name="connsiteX1" fmla="*/ 6198 w 23376"/>
                <a:gd name="connsiteY1" fmla="*/ 18521 h 21316"/>
                <a:gd name="connsiteX2" fmla="*/ 21995 w 23376"/>
                <a:gd name="connsiteY2" fmla="*/ 17848 h 21316"/>
                <a:gd name="connsiteX3" fmla="*/ 17178 w 23376"/>
                <a:gd name="connsiteY3" fmla="*/ 2795 h 21316"/>
                <a:gd name="connsiteX4" fmla="*/ 1381 w 23376"/>
                <a:gd name="connsiteY4" fmla="*/ 3468 h 21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76" h="21316">
                  <a:moveTo>
                    <a:pt x="1381" y="3468"/>
                  </a:moveTo>
                  <a:cubicBezTo>
                    <a:pt x="-1665" y="7825"/>
                    <a:pt x="496" y="14554"/>
                    <a:pt x="6198" y="18521"/>
                  </a:cubicBezTo>
                  <a:cubicBezTo>
                    <a:pt x="11901" y="22488"/>
                    <a:pt x="18949" y="22205"/>
                    <a:pt x="21995" y="17848"/>
                  </a:cubicBezTo>
                  <a:cubicBezTo>
                    <a:pt x="25041" y="13492"/>
                    <a:pt x="22881" y="6762"/>
                    <a:pt x="17178" y="2795"/>
                  </a:cubicBezTo>
                  <a:cubicBezTo>
                    <a:pt x="11476" y="-1172"/>
                    <a:pt x="4427" y="-888"/>
                    <a:pt x="1381" y="3468"/>
                  </a:cubicBezTo>
                  <a:close/>
                </a:path>
              </a:pathLst>
            </a:custGeom>
            <a:solidFill>
              <a:srgbClr val="F47C73"/>
            </a:solidFill>
            <a:ln w="3515" cap="flat">
              <a:noFill/>
              <a:prstDash val="solid"/>
              <a:miter/>
            </a:ln>
          </p:spPr>
          <p:txBody>
            <a:bodyPr lIns="82296" tIns="41148" rIns="82296" bIns="41148" rtlCol="0" anchor="ctr"/>
            <a:lstStyle/>
            <a:p>
              <a:endParaRPr lang="en-US"/>
            </a:p>
          </p:txBody>
        </p:sp>
        <p:sp>
          <p:nvSpPr>
            <p:cNvPr id="626" name="Freeform: Shape 625">
              <a:extLst>
                <a:ext uri="{FF2B5EF4-FFF2-40B4-BE49-F238E27FC236}">
                  <a16:creationId xmlns:a16="http://schemas.microsoft.com/office/drawing/2014/main" id="{0E85B2DD-F9F2-48C1-8978-15B932D72C75}"/>
                </a:ext>
              </a:extLst>
            </p:cNvPr>
            <p:cNvSpPr/>
            <p:nvPr/>
          </p:nvSpPr>
          <p:spPr>
            <a:xfrm>
              <a:off x="9729034" y="1797215"/>
              <a:ext cx="18248" cy="18248"/>
            </a:xfrm>
            <a:custGeom>
              <a:avLst/>
              <a:gdLst>
                <a:gd name="connsiteX0" fmla="*/ 18245 w 18248"/>
                <a:gd name="connsiteY0" fmla="*/ 8858 h 18248"/>
                <a:gd name="connsiteX1" fmla="*/ 9390 w 18248"/>
                <a:gd name="connsiteY1" fmla="*/ 18245 h 18248"/>
                <a:gd name="connsiteX2" fmla="*/ 4 w 18248"/>
                <a:gd name="connsiteY2" fmla="*/ 9390 h 18248"/>
                <a:gd name="connsiteX3" fmla="*/ 8858 w 18248"/>
                <a:gd name="connsiteY3" fmla="*/ 4 h 18248"/>
                <a:gd name="connsiteX4" fmla="*/ 18245 w 18248"/>
                <a:gd name="connsiteY4" fmla="*/ 8858 h 182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48" h="18248">
                  <a:moveTo>
                    <a:pt x="18245" y="8858"/>
                  </a:moveTo>
                  <a:cubicBezTo>
                    <a:pt x="18386" y="13888"/>
                    <a:pt x="14419" y="18103"/>
                    <a:pt x="9390" y="18245"/>
                  </a:cubicBezTo>
                  <a:cubicBezTo>
                    <a:pt x="4360" y="18386"/>
                    <a:pt x="145" y="14419"/>
                    <a:pt x="4" y="9390"/>
                  </a:cubicBezTo>
                  <a:cubicBezTo>
                    <a:pt x="-138" y="4360"/>
                    <a:pt x="3829" y="145"/>
                    <a:pt x="8858" y="4"/>
                  </a:cubicBezTo>
                  <a:cubicBezTo>
                    <a:pt x="13888" y="-138"/>
                    <a:pt x="18103" y="3829"/>
                    <a:pt x="18245" y="8858"/>
                  </a:cubicBezTo>
                  <a:close/>
                </a:path>
              </a:pathLst>
            </a:custGeom>
            <a:solidFill>
              <a:srgbClr val="FFFFFF"/>
            </a:solidFill>
            <a:ln w="3515" cap="flat">
              <a:noFill/>
              <a:prstDash val="solid"/>
              <a:miter/>
            </a:ln>
          </p:spPr>
          <p:txBody>
            <a:bodyPr lIns="82296" tIns="41148" rIns="82296" bIns="41148" rtlCol="0" anchor="ctr"/>
            <a:lstStyle/>
            <a:p>
              <a:endParaRPr lang="en-US"/>
            </a:p>
          </p:txBody>
        </p:sp>
        <p:sp>
          <p:nvSpPr>
            <p:cNvPr id="627" name="Freeform: Shape 626">
              <a:extLst>
                <a:ext uri="{FF2B5EF4-FFF2-40B4-BE49-F238E27FC236}">
                  <a16:creationId xmlns:a16="http://schemas.microsoft.com/office/drawing/2014/main" id="{A58A1CF3-5817-423D-BBDA-44585CF32F3E}"/>
                </a:ext>
              </a:extLst>
            </p:cNvPr>
            <p:cNvSpPr/>
            <p:nvPr/>
          </p:nvSpPr>
          <p:spPr>
            <a:xfrm>
              <a:off x="9795263" y="1753531"/>
              <a:ext cx="7047" cy="10984"/>
            </a:xfrm>
            <a:custGeom>
              <a:avLst/>
              <a:gdLst>
                <a:gd name="connsiteX0" fmla="*/ 540 w 7047"/>
                <a:gd name="connsiteY0" fmla="*/ 6993 h 10984"/>
                <a:gd name="connsiteX1" fmla="*/ 44 w 7047"/>
                <a:gd name="connsiteY1" fmla="*/ 2743 h 10984"/>
                <a:gd name="connsiteX2" fmla="*/ 2701 w 7047"/>
                <a:gd name="connsiteY2" fmla="*/ 16 h 10984"/>
                <a:gd name="connsiteX3" fmla="*/ 3409 w 7047"/>
                <a:gd name="connsiteY3" fmla="*/ 16 h 10984"/>
                <a:gd name="connsiteX4" fmla="*/ 5641 w 7047"/>
                <a:gd name="connsiteY4" fmla="*/ 937 h 10984"/>
                <a:gd name="connsiteX5" fmla="*/ 6030 w 7047"/>
                <a:gd name="connsiteY5" fmla="*/ 1751 h 10984"/>
                <a:gd name="connsiteX6" fmla="*/ 6809 w 7047"/>
                <a:gd name="connsiteY6" fmla="*/ 5931 h 10984"/>
                <a:gd name="connsiteX7" fmla="*/ 6101 w 7047"/>
                <a:gd name="connsiteY7" fmla="*/ 10039 h 10984"/>
                <a:gd name="connsiteX8" fmla="*/ 2382 w 7047"/>
                <a:gd name="connsiteY8" fmla="*/ 10677 h 10984"/>
                <a:gd name="connsiteX9" fmla="*/ 505 w 7047"/>
                <a:gd name="connsiteY9" fmla="*/ 6993 h 10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47" h="10984">
                  <a:moveTo>
                    <a:pt x="540" y="6993"/>
                  </a:moveTo>
                  <a:cubicBezTo>
                    <a:pt x="363" y="5577"/>
                    <a:pt x="44" y="4195"/>
                    <a:pt x="44" y="2743"/>
                  </a:cubicBezTo>
                  <a:cubicBezTo>
                    <a:pt x="-274" y="1574"/>
                    <a:pt x="1178" y="264"/>
                    <a:pt x="2701" y="16"/>
                  </a:cubicBezTo>
                  <a:cubicBezTo>
                    <a:pt x="2949" y="-20"/>
                    <a:pt x="3161" y="16"/>
                    <a:pt x="3409" y="16"/>
                  </a:cubicBezTo>
                  <a:cubicBezTo>
                    <a:pt x="4401" y="-55"/>
                    <a:pt x="5357" y="193"/>
                    <a:pt x="5641" y="937"/>
                  </a:cubicBezTo>
                  <a:cubicBezTo>
                    <a:pt x="5818" y="1291"/>
                    <a:pt x="5959" y="1503"/>
                    <a:pt x="6030" y="1751"/>
                  </a:cubicBezTo>
                  <a:cubicBezTo>
                    <a:pt x="6455" y="3097"/>
                    <a:pt x="6561" y="4549"/>
                    <a:pt x="6809" y="5931"/>
                  </a:cubicBezTo>
                  <a:cubicBezTo>
                    <a:pt x="7057" y="7454"/>
                    <a:pt x="7412" y="8623"/>
                    <a:pt x="6101" y="10039"/>
                  </a:cubicBezTo>
                  <a:cubicBezTo>
                    <a:pt x="5286" y="10960"/>
                    <a:pt x="3445" y="11279"/>
                    <a:pt x="2382" y="10677"/>
                  </a:cubicBezTo>
                  <a:cubicBezTo>
                    <a:pt x="717" y="9756"/>
                    <a:pt x="717" y="8516"/>
                    <a:pt x="505" y="6993"/>
                  </a:cubicBezTo>
                  <a:close/>
                </a:path>
              </a:pathLst>
            </a:custGeom>
            <a:solidFill>
              <a:srgbClr val="1D2333"/>
            </a:solidFill>
            <a:ln w="3515" cap="flat">
              <a:noFill/>
              <a:prstDash val="solid"/>
              <a:miter/>
            </a:ln>
          </p:spPr>
          <p:txBody>
            <a:bodyPr lIns="82296" tIns="41148" rIns="82296" bIns="41148" rtlCol="0" anchor="ctr"/>
            <a:lstStyle/>
            <a:p>
              <a:endParaRPr lang="en-US"/>
            </a:p>
          </p:txBody>
        </p:sp>
        <p:sp>
          <p:nvSpPr>
            <p:cNvPr id="628" name="Freeform: Shape 627">
              <a:extLst>
                <a:ext uri="{FF2B5EF4-FFF2-40B4-BE49-F238E27FC236}">
                  <a16:creationId xmlns:a16="http://schemas.microsoft.com/office/drawing/2014/main" id="{9B2D9F52-4E29-4286-AA01-6C67A58F497B}"/>
                </a:ext>
              </a:extLst>
            </p:cNvPr>
            <p:cNvSpPr/>
            <p:nvPr/>
          </p:nvSpPr>
          <p:spPr>
            <a:xfrm>
              <a:off x="9343040" y="1601852"/>
              <a:ext cx="340378" cy="219230"/>
            </a:xfrm>
            <a:custGeom>
              <a:avLst/>
              <a:gdLst>
                <a:gd name="connsiteX0" fmla="*/ 340343 w 340378"/>
                <a:gd name="connsiteY0" fmla="*/ 85744 h 219230"/>
                <a:gd name="connsiteX1" fmla="*/ 282043 w 340378"/>
                <a:gd name="connsiteY1" fmla="*/ 9735 h 219230"/>
                <a:gd name="connsiteX2" fmla="*/ 151134 w 340378"/>
                <a:gd name="connsiteY2" fmla="*/ 44871 h 219230"/>
                <a:gd name="connsiteX3" fmla="*/ 98962 w 340378"/>
                <a:gd name="connsiteY3" fmla="*/ 56205 h 219230"/>
                <a:gd name="connsiteX4" fmla="*/ 5738 w 340378"/>
                <a:gd name="connsiteY4" fmla="*/ 100266 h 219230"/>
                <a:gd name="connsiteX5" fmla="*/ 32622 w 340378"/>
                <a:gd name="connsiteY5" fmla="*/ 198271 h 219230"/>
                <a:gd name="connsiteX6" fmla="*/ 162539 w 340378"/>
                <a:gd name="connsiteY6" fmla="*/ 199865 h 219230"/>
                <a:gd name="connsiteX7" fmla="*/ 202952 w 340378"/>
                <a:gd name="connsiteY7" fmla="*/ 145072 h 219230"/>
                <a:gd name="connsiteX8" fmla="*/ 242692 w 340378"/>
                <a:gd name="connsiteY8" fmla="*/ 96937 h 219230"/>
                <a:gd name="connsiteX9" fmla="*/ 328903 w 340378"/>
                <a:gd name="connsiteY9" fmla="*/ 148507 h 219230"/>
                <a:gd name="connsiteX10" fmla="*/ 340378 w 340378"/>
                <a:gd name="connsiteY10" fmla="*/ 93005 h 219230"/>
                <a:gd name="connsiteX11" fmla="*/ 340378 w 340378"/>
                <a:gd name="connsiteY11" fmla="*/ 85709 h 219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378" h="219230">
                  <a:moveTo>
                    <a:pt x="340343" y="85744"/>
                  </a:moveTo>
                  <a:cubicBezTo>
                    <a:pt x="340343" y="85744"/>
                    <a:pt x="316400" y="23478"/>
                    <a:pt x="282043" y="9735"/>
                  </a:cubicBezTo>
                  <a:cubicBezTo>
                    <a:pt x="247687" y="-4008"/>
                    <a:pt x="194629" y="-11233"/>
                    <a:pt x="151134" y="44871"/>
                  </a:cubicBezTo>
                  <a:cubicBezTo>
                    <a:pt x="135691" y="64812"/>
                    <a:pt x="120142" y="61978"/>
                    <a:pt x="98962" y="56205"/>
                  </a:cubicBezTo>
                  <a:cubicBezTo>
                    <a:pt x="62197" y="46217"/>
                    <a:pt x="20614" y="65095"/>
                    <a:pt x="5738" y="100266"/>
                  </a:cubicBezTo>
                  <a:cubicBezTo>
                    <a:pt x="-8394" y="133667"/>
                    <a:pt x="4711" y="175992"/>
                    <a:pt x="32622" y="198271"/>
                  </a:cubicBezTo>
                  <a:cubicBezTo>
                    <a:pt x="68218" y="226713"/>
                    <a:pt x="125809" y="225190"/>
                    <a:pt x="162539" y="199865"/>
                  </a:cubicBezTo>
                  <a:cubicBezTo>
                    <a:pt x="182586" y="186051"/>
                    <a:pt x="194239" y="167244"/>
                    <a:pt x="202952" y="145072"/>
                  </a:cubicBezTo>
                  <a:cubicBezTo>
                    <a:pt x="210355" y="126299"/>
                    <a:pt x="219847" y="100621"/>
                    <a:pt x="242692" y="96937"/>
                  </a:cubicBezTo>
                  <a:cubicBezTo>
                    <a:pt x="287073" y="89747"/>
                    <a:pt x="328903" y="148507"/>
                    <a:pt x="328903" y="148507"/>
                  </a:cubicBezTo>
                  <a:lnTo>
                    <a:pt x="340378" y="93005"/>
                  </a:lnTo>
                  <a:lnTo>
                    <a:pt x="340378" y="85709"/>
                  </a:lnTo>
                  <a:close/>
                </a:path>
              </a:pathLst>
            </a:custGeom>
            <a:solidFill>
              <a:schemeClr val="accent2"/>
            </a:solidFill>
            <a:ln w="3515" cap="flat">
              <a:noFill/>
              <a:prstDash val="solid"/>
              <a:miter/>
            </a:ln>
          </p:spPr>
          <p:txBody>
            <a:bodyPr lIns="82296" tIns="41148" rIns="82296" bIns="41148" rtlCol="0" anchor="ctr"/>
            <a:lstStyle/>
            <a:p>
              <a:endParaRPr lang="en-US"/>
            </a:p>
          </p:txBody>
        </p:sp>
        <p:sp>
          <p:nvSpPr>
            <p:cNvPr id="629" name="Freeform: Shape 628">
              <a:extLst>
                <a:ext uri="{FF2B5EF4-FFF2-40B4-BE49-F238E27FC236}">
                  <a16:creationId xmlns:a16="http://schemas.microsoft.com/office/drawing/2014/main" id="{016B90A9-DD8E-4D39-97EE-2972B224D119}"/>
                </a:ext>
              </a:extLst>
            </p:cNvPr>
            <p:cNvSpPr/>
            <p:nvPr/>
          </p:nvSpPr>
          <p:spPr>
            <a:xfrm>
              <a:off x="9509601" y="1591787"/>
              <a:ext cx="181070" cy="103459"/>
            </a:xfrm>
            <a:custGeom>
              <a:avLst/>
              <a:gdLst>
                <a:gd name="connsiteX0" fmla="*/ 178210 w 181070"/>
                <a:gd name="connsiteY0" fmla="*/ 103459 h 103459"/>
                <a:gd name="connsiteX1" fmla="*/ 175447 w 181070"/>
                <a:gd name="connsiteY1" fmla="*/ 101051 h 103459"/>
                <a:gd name="connsiteX2" fmla="*/ 110134 w 181070"/>
                <a:gd name="connsiteY2" fmla="*/ 10343 h 103459"/>
                <a:gd name="connsiteX3" fmla="*/ 4868 w 181070"/>
                <a:gd name="connsiteY3" fmla="*/ 44203 h 103459"/>
                <a:gd name="connsiteX4" fmla="*/ 901 w 181070"/>
                <a:gd name="connsiteY4" fmla="*/ 44380 h 103459"/>
                <a:gd name="connsiteX5" fmla="*/ 724 w 181070"/>
                <a:gd name="connsiteY5" fmla="*/ 40413 h 103459"/>
                <a:gd name="connsiteX6" fmla="*/ 112153 w 181070"/>
                <a:gd name="connsiteY6" fmla="*/ 5101 h 103459"/>
                <a:gd name="connsiteX7" fmla="*/ 181043 w 181070"/>
                <a:gd name="connsiteY7" fmla="*/ 100236 h 103459"/>
                <a:gd name="connsiteX8" fmla="*/ 178670 w 181070"/>
                <a:gd name="connsiteY8" fmla="*/ 103424 h 103459"/>
                <a:gd name="connsiteX9" fmla="*/ 178245 w 181070"/>
                <a:gd name="connsiteY9" fmla="*/ 103424 h 10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070" h="103459">
                  <a:moveTo>
                    <a:pt x="178210" y="103459"/>
                  </a:moveTo>
                  <a:cubicBezTo>
                    <a:pt x="176828" y="103459"/>
                    <a:pt x="175624" y="102468"/>
                    <a:pt x="175447" y="101051"/>
                  </a:cubicBezTo>
                  <a:cubicBezTo>
                    <a:pt x="175341" y="100343"/>
                    <a:pt x="164573" y="31169"/>
                    <a:pt x="110134" y="10343"/>
                  </a:cubicBezTo>
                  <a:cubicBezTo>
                    <a:pt x="55907" y="-10378"/>
                    <a:pt x="5364" y="43672"/>
                    <a:pt x="4868" y="44203"/>
                  </a:cubicBezTo>
                  <a:cubicBezTo>
                    <a:pt x="3806" y="45337"/>
                    <a:pt x="2035" y="45407"/>
                    <a:pt x="901" y="44380"/>
                  </a:cubicBezTo>
                  <a:cubicBezTo>
                    <a:pt x="-232" y="43318"/>
                    <a:pt x="-303" y="41547"/>
                    <a:pt x="724" y="40413"/>
                  </a:cubicBezTo>
                  <a:cubicBezTo>
                    <a:pt x="1256" y="39847"/>
                    <a:pt x="54349" y="-17001"/>
                    <a:pt x="112153" y="5101"/>
                  </a:cubicBezTo>
                  <a:cubicBezTo>
                    <a:pt x="169709" y="27096"/>
                    <a:pt x="180901" y="99528"/>
                    <a:pt x="181043" y="100236"/>
                  </a:cubicBezTo>
                  <a:cubicBezTo>
                    <a:pt x="181256" y="101759"/>
                    <a:pt x="180193" y="103211"/>
                    <a:pt x="178670" y="103424"/>
                  </a:cubicBezTo>
                  <a:cubicBezTo>
                    <a:pt x="178528" y="103424"/>
                    <a:pt x="178387" y="103424"/>
                    <a:pt x="178245" y="103424"/>
                  </a:cubicBezTo>
                  <a:close/>
                </a:path>
              </a:pathLst>
            </a:custGeom>
            <a:solidFill>
              <a:schemeClr val="accent2"/>
            </a:solidFill>
            <a:ln w="3515" cap="flat">
              <a:noFill/>
              <a:prstDash val="solid"/>
              <a:miter/>
            </a:ln>
          </p:spPr>
          <p:txBody>
            <a:bodyPr lIns="82296" tIns="41148" rIns="82296" bIns="41148" rtlCol="0" anchor="ctr"/>
            <a:lstStyle/>
            <a:p>
              <a:endParaRPr lang="en-US"/>
            </a:p>
          </p:txBody>
        </p:sp>
        <p:sp>
          <p:nvSpPr>
            <p:cNvPr id="630" name="Freeform: Shape 629">
              <a:extLst>
                <a:ext uri="{FF2B5EF4-FFF2-40B4-BE49-F238E27FC236}">
                  <a16:creationId xmlns:a16="http://schemas.microsoft.com/office/drawing/2014/main" id="{DF0BF2D1-F36F-4B03-9095-06FBF7B23B28}"/>
                </a:ext>
              </a:extLst>
            </p:cNvPr>
            <p:cNvSpPr/>
            <p:nvPr/>
          </p:nvSpPr>
          <p:spPr>
            <a:xfrm>
              <a:off x="9802285" y="1791516"/>
              <a:ext cx="25018" cy="8500"/>
            </a:xfrm>
            <a:custGeom>
              <a:avLst/>
              <a:gdLst>
                <a:gd name="connsiteX0" fmla="*/ 15938 w 25018"/>
                <a:gd name="connsiteY0" fmla="*/ 8500 h 8500"/>
                <a:gd name="connsiteX1" fmla="*/ 1664 w 25018"/>
                <a:gd name="connsiteY1" fmla="*/ 5383 h 8500"/>
                <a:gd name="connsiteX2" fmla="*/ 247 w 25018"/>
                <a:gd name="connsiteY2" fmla="*/ 1664 h 8500"/>
                <a:gd name="connsiteX3" fmla="*/ 3966 w 25018"/>
                <a:gd name="connsiteY3" fmla="*/ 247 h 8500"/>
                <a:gd name="connsiteX4" fmla="*/ 21216 w 25018"/>
                <a:gd name="connsiteY4" fmla="*/ 2018 h 8500"/>
                <a:gd name="connsiteX5" fmla="*/ 24828 w 25018"/>
                <a:gd name="connsiteY5" fmla="*/ 3648 h 8500"/>
                <a:gd name="connsiteX6" fmla="*/ 23199 w 25018"/>
                <a:gd name="connsiteY6" fmla="*/ 7260 h 8500"/>
                <a:gd name="connsiteX7" fmla="*/ 15938 w 25018"/>
                <a:gd name="connsiteY7" fmla="*/ 8500 h 8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18" h="8500">
                  <a:moveTo>
                    <a:pt x="15938" y="8500"/>
                  </a:moveTo>
                  <a:cubicBezTo>
                    <a:pt x="8713" y="8500"/>
                    <a:pt x="2018" y="5525"/>
                    <a:pt x="1664" y="5383"/>
                  </a:cubicBezTo>
                  <a:cubicBezTo>
                    <a:pt x="247" y="4746"/>
                    <a:pt x="-390" y="3081"/>
                    <a:pt x="247" y="1664"/>
                  </a:cubicBezTo>
                  <a:cubicBezTo>
                    <a:pt x="885" y="247"/>
                    <a:pt x="2550" y="-390"/>
                    <a:pt x="3966" y="247"/>
                  </a:cubicBezTo>
                  <a:cubicBezTo>
                    <a:pt x="4073" y="283"/>
                    <a:pt x="14096" y="4710"/>
                    <a:pt x="21216" y="2018"/>
                  </a:cubicBezTo>
                  <a:cubicBezTo>
                    <a:pt x="22632" y="1487"/>
                    <a:pt x="24297" y="2196"/>
                    <a:pt x="24828" y="3648"/>
                  </a:cubicBezTo>
                  <a:cubicBezTo>
                    <a:pt x="25395" y="5100"/>
                    <a:pt x="24651" y="6729"/>
                    <a:pt x="23199" y="7260"/>
                  </a:cubicBezTo>
                  <a:cubicBezTo>
                    <a:pt x="20861" y="8146"/>
                    <a:pt x="18347" y="8500"/>
                    <a:pt x="15938" y="8500"/>
                  </a:cubicBezTo>
                  <a:close/>
                </a:path>
              </a:pathLst>
            </a:custGeom>
            <a:solidFill>
              <a:srgbClr val="E55955"/>
            </a:solidFill>
            <a:ln w="3515" cap="flat">
              <a:noFill/>
              <a:prstDash val="solid"/>
              <a:miter/>
            </a:ln>
          </p:spPr>
          <p:txBody>
            <a:bodyPr lIns="82296" tIns="41148" rIns="82296" bIns="41148" rtlCol="0" anchor="ctr"/>
            <a:lstStyle/>
            <a:p>
              <a:endParaRPr lang="en-US"/>
            </a:p>
          </p:txBody>
        </p:sp>
        <p:sp>
          <p:nvSpPr>
            <p:cNvPr id="631" name="Freeform: Shape 630">
              <a:extLst>
                <a:ext uri="{FF2B5EF4-FFF2-40B4-BE49-F238E27FC236}">
                  <a16:creationId xmlns:a16="http://schemas.microsoft.com/office/drawing/2014/main" id="{F2FD3D8C-CC3D-4D50-A9FF-05087F7607BA}"/>
                </a:ext>
              </a:extLst>
            </p:cNvPr>
            <p:cNvSpPr/>
            <p:nvPr/>
          </p:nvSpPr>
          <p:spPr>
            <a:xfrm>
              <a:off x="9922320" y="1730524"/>
              <a:ext cx="123825" cy="133848"/>
            </a:xfrm>
            <a:custGeom>
              <a:avLst/>
              <a:gdLst>
                <a:gd name="connsiteX0" fmla="*/ 123825 w 123825"/>
                <a:gd name="connsiteY0" fmla="*/ 0 h 133848"/>
                <a:gd name="connsiteX1" fmla="*/ 0 w 123825"/>
                <a:gd name="connsiteY1" fmla="*/ 60708 h 133848"/>
                <a:gd name="connsiteX2" fmla="*/ 90531 w 123825"/>
                <a:gd name="connsiteY2" fmla="*/ 133849 h 133848"/>
                <a:gd name="connsiteX3" fmla="*/ 123825 w 123825"/>
                <a:gd name="connsiteY3" fmla="*/ 0 h 133848"/>
              </a:gdLst>
              <a:ahLst/>
              <a:cxnLst>
                <a:cxn ang="0">
                  <a:pos x="connsiteX0" y="connsiteY0"/>
                </a:cxn>
                <a:cxn ang="0">
                  <a:pos x="connsiteX1" y="connsiteY1"/>
                </a:cxn>
                <a:cxn ang="0">
                  <a:pos x="connsiteX2" y="connsiteY2"/>
                </a:cxn>
                <a:cxn ang="0">
                  <a:pos x="connsiteX3" y="connsiteY3"/>
                </a:cxn>
              </a:cxnLst>
              <a:rect l="l" t="t" r="r" b="b"/>
              <a:pathLst>
                <a:path w="123825" h="133848">
                  <a:moveTo>
                    <a:pt x="123825" y="0"/>
                  </a:moveTo>
                  <a:cubicBezTo>
                    <a:pt x="123825" y="0"/>
                    <a:pt x="35136" y="42255"/>
                    <a:pt x="0" y="60708"/>
                  </a:cubicBezTo>
                  <a:cubicBezTo>
                    <a:pt x="17710" y="96765"/>
                    <a:pt x="50720" y="123967"/>
                    <a:pt x="90531" y="133849"/>
                  </a:cubicBezTo>
                  <a:lnTo>
                    <a:pt x="123825" y="0"/>
                  </a:lnTo>
                  <a:close/>
                </a:path>
              </a:pathLst>
            </a:custGeom>
            <a:solidFill>
              <a:srgbClr val="235789"/>
            </a:solidFill>
            <a:ln w="3515" cap="flat">
              <a:noFill/>
              <a:prstDash val="solid"/>
              <a:miter/>
            </a:ln>
          </p:spPr>
          <p:txBody>
            <a:bodyPr lIns="82296" tIns="41148" rIns="82296" bIns="41148" rtlCol="0" anchor="ctr"/>
            <a:lstStyle/>
            <a:p>
              <a:endParaRPr lang="en-US"/>
            </a:p>
          </p:txBody>
        </p:sp>
        <p:sp>
          <p:nvSpPr>
            <p:cNvPr id="632" name="Freeform: Shape 631">
              <a:extLst>
                <a:ext uri="{FF2B5EF4-FFF2-40B4-BE49-F238E27FC236}">
                  <a16:creationId xmlns:a16="http://schemas.microsoft.com/office/drawing/2014/main" id="{459A9834-A812-4895-A2F4-FA9E6463C89C}"/>
                </a:ext>
              </a:extLst>
            </p:cNvPr>
            <p:cNvSpPr/>
            <p:nvPr/>
          </p:nvSpPr>
          <p:spPr>
            <a:xfrm>
              <a:off x="9872096" y="1938186"/>
              <a:ext cx="47651" cy="291995"/>
            </a:xfrm>
            <a:custGeom>
              <a:avLst/>
              <a:gdLst>
                <a:gd name="connsiteX0" fmla="*/ 44841 w 47651"/>
                <a:gd name="connsiteY0" fmla="*/ 291960 h 291995"/>
                <a:gd name="connsiteX1" fmla="*/ 42078 w 47651"/>
                <a:gd name="connsiteY1" fmla="*/ 289693 h 291995"/>
                <a:gd name="connsiteX2" fmla="*/ 14097 w 47651"/>
                <a:gd name="connsiteY2" fmla="*/ 146493 h 291995"/>
                <a:gd name="connsiteX3" fmla="*/ 14770 w 47651"/>
                <a:gd name="connsiteY3" fmla="*/ 144085 h 291995"/>
                <a:gd name="connsiteX4" fmla="*/ 34250 w 47651"/>
                <a:gd name="connsiteY4" fmla="*/ 93188 h 291995"/>
                <a:gd name="connsiteX5" fmla="*/ 1240 w 47651"/>
                <a:gd name="connsiteY5" fmla="*/ 43388 h 291995"/>
                <a:gd name="connsiteX6" fmla="*/ 0 w 47651"/>
                <a:gd name="connsiteY6" fmla="*/ 41051 h 291995"/>
                <a:gd name="connsiteX7" fmla="*/ 0 w 47651"/>
                <a:gd name="connsiteY7" fmla="*/ 2798 h 291995"/>
                <a:gd name="connsiteX8" fmla="*/ 2798 w 47651"/>
                <a:gd name="connsiteY8" fmla="*/ 0 h 291995"/>
                <a:gd name="connsiteX9" fmla="*/ 5596 w 47651"/>
                <a:gd name="connsiteY9" fmla="*/ 2798 h 291995"/>
                <a:gd name="connsiteX10" fmla="*/ 5596 w 47651"/>
                <a:gd name="connsiteY10" fmla="*/ 39599 h 291995"/>
                <a:gd name="connsiteX11" fmla="*/ 39811 w 47651"/>
                <a:gd name="connsiteY11" fmla="*/ 92479 h 291995"/>
                <a:gd name="connsiteX12" fmla="*/ 19870 w 47651"/>
                <a:gd name="connsiteY12" fmla="*/ 146812 h 291995"/>
                <a:gd name="connsiteX13" fmla="*/ 47603 w 47651"/>
                <a:gd name="connsiteY13" fmla="*/ 288630 h 291995"/>
                <a:gd name="connsiteX14" fmla="*/ 45372 w 47651"/>
                <a:gd name="connsiteY14" fmla="*/ 291924 h 291995"/>
                <a:gd name="connsiteX15" fmla="*/ 44841 w 47651"/>
                <a:gd name="connsiteY15" fmla="*/ 291995 h 291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651" h="291995">
                  <a:moveTo>
                    <a:pt x="44841" y="291960"/>
                  </a:moveTo>
                  <a:cubicBezTo>
                    <a:pt x="43530" y="291960"/>
                    <a:pt x="42361" y="291039"/>
                    <a:pt x="42078" y="289693"/>
                  </a:cubicBezTo>
                  <a:lnTo>
                    <a:pt x="14097" y="146493"/>
                  </a:lnTo>
                  <a:cubicBezTo>
                    <a:pt x="13920" y="145643"/>
                    <a:pt x="14168" y="144723"/>
                    <a:pt x="14770" y="144085"/>
                  </a:cubicBezTo>
                  <a:cubicBezTo>
                    <a:pt x="29787" y="127332"/>
                    <a:pt x="36340" y="110189"/>
                    <a:pt x="34250" y="93188"/>
                  </a:cubicBezTo>
                  <a:cubicBezTo>
                    <a:pt x="30567" y="63471"/>
                    <a:pt x="1523" y="43566"/>
                    <a:pt x="1240" y="43388"/>
                  </a:cubicBezTo>
                  <a:cubicBezTo>
                    <a:pt x="460" y="42857"/>
                    <a:pt x="0" y="41972"/>
                    <a:pt x="0" y="41051"/>
                  </a:cubicBezTo>
                  <a:lnTo>
                    <a:pt x="0" y="2798"/>
                  </a:lnTo>
                  <a:cubicBezTo>
                    <a:pt x="0" y="1240"/>
                    <a:pt x="1275" y="0"/>
                    <a:pt x="2798" y="0"/>
                  </a:cubicBezTo>
                  <a:cubicBezTo>
                    <a:pt x="4321" y="0"/>
                    <a:pt x="5596" y="1275"/>
                    <a:pt x="5596" y="2798"/>
                  </a:cubicBezTo>
                  <a:lnTo>
                    <a:pt x="5596" y="39599"/>
                  </a:lnTo>
                  <a:cubicBezTo>
                    <a:pt x="11547" y="43920"/>
                    <a:pt x="36198" y="63506"/>
                    <a:pt x="39811" y="92479"/>
                  </a:cubicBezTo>
                  <a:cubicBezTo>
                    <a:pt x="42113" y="110826"/>
                    <a:pt x="35384" y="129103"/>
                    <a:pt x="19870" y="146812"/>
                  </a:cubicBezTo>
                  <a:lnTo>
                    <a:pt x="47603" y="288630"/>
                  </a:lnTo>
                  <a:cubicBezTo>
                    <a:pt x="47887" y="290153"/>
                    <a:pt x="46895" y="291641"/>
                    <a:pt x="45372" y="291924"/>
                  </a:cubicBezTo>
                  <a:cubicBezTo>
                    <a:pt x="45195" y="291960"/>
                    <a:pt x="45018" y="291995"/>
                    <a:pt x="44841" y="291995"/>
                  </a:cubicBezTo>
                  <a:close/>
                </a:path>
              </a:pathLst>
            </a:custGeom>
            <a:solidFill>
              <a:schemeClr val="accent6">
                <a:lumMod val="75000"/>
              </a:schemeClr>
            </a:solidFill>
            <a:ln w="3515" cap="flat">
              <a:noFill/>
              <a:prstDash val="solid"/>
              <a:miter/>
            </a:ln>
          </p:spPr>
          <p:txBody>
            <a:bodyPr lIns="82296" tIns="41148" rIns="82296" bIns="41148" rtlCol="0" anchor="ctr"/>
            <a:lstStyle/>
            <a:p>
              <a:endParaRPr lang="en-US"/>
            </a:p>
          </p:txBody>
        </p:sp>
        <p:sp>
          <p:nvSpPr>
            <p:cNvPr id="633" name="Freeform: Shape 632">
              <a:extLst>
                <a:ext uri="{FF2B5EF4-FFF2-40B4-BE49-F238E27FC236}">
                  <a16:creationId xmlns:a16="http://schemas.microsoft.com/office/drawing/2014/main" id="{D4214AA1-D000-4978-9B1B-334ED70B6219}"/>
                </a:ext>
              </a:extLst>
            </p:cNvPr>
            <p:cNvSpPr/>
            <p:nvPr/>
          </p:nvSpPr>
          <p:spPr>
            <a:xfrm>
              <a:off x="9689121" y="1921575"/>
              <a:ext cx="266316" cy="181947"/>
            </a:xfrm>
            <a:custGeom>
              <a:avLst/>
              <a:gdLst>
                <a:gd name="connsiteX0" fmla="*/ 37048 w 266316"/>
                <a:gd name="connsiteY0" fmla="*/ 0 h 181947"/>
                <a:gd name="connsiteX1" fmla="*/ 229268 w 266316"/>
                <a:gd name="connsiteY1" fmla="*/ 0 h 181947"/>
                <a:gd name="connsiteX2" fmla="*/ 266316 w 266316"/>
                <a:gd name="connsiteY2" fmla="*/ 37048 h 181947"/>
                <a:gd name="connsiteX3" fmla="*/ 266316 w 266316"/>
                <a:gd name="connsiteY3" fmla="*/ 144900 h 181947"/>
                <a:gd name="connsiteX4" fmla="*/ 229268 w 266316"/>
                <a:gd name="connsiteY4" fmla="*/ 181948 h 181947"/>
                <a:gd name="connsiteX5" fmla="*/ 37048 w 266316"/>
                <a:gd name="connsiteY5" fmla="*/ 181948 h 181947"/>
                <a:gd name="connsiteX6" fmla="*/ 0 w 266316"/>
                <a:gd name="connsiteY6" fmla="*/ 144900 h 181947"/>
                <a:gd name="connsiteX7" fmla="*/ 0 w 266316"/>
                <a:gd name="connsiteY7" fmla="*/ 37048 h 181947"/>
                <a:gd name="connsiteX8" fmla="*/ 37048 w 266316"/>
                <a:gd name="connsiteY8" fmla="*/ 0 h 18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6316" h="181947">
                  <a:moveTo>
                    <a:pt x="37048" y="0"/>
                  </a:moveTo>
                  <a:lnTo>
                    <a:pt x="229268" y="0"/>
                  </a:lnTo>
                  <a:cubicBezTo>
                    <a:pt x="249705" y="0"/>
                    <a:pt x="266316" y="16612"/>
                    <a:pt x="266316" y="37048"/>
                  </a:cubicBezTo>
                  <a:lnTo>
                    <a:pt x="266316" y="144900"/>
                  </a:lnTo>
                  <a:cubicBezTo>
                    <a:pt x="266316" y="165336"/>
                    <a:pt x="249705" y="181948"/>
                    <a:pt x="229268" y="181948"/>
                  </a:cubicBezTo>
                  <a:lnTo>
                    <a:pt x="37048" y="181948"/>
                  </a:lnTo>
                  <a:cubicBezTo>
                    <a:pt x="16612" y="181948"/>
                    <a:pt x="0" y="165336"/>
                    <a:pt x="0" y="144900"/>
                  </a:cubicBezTo>
                  <a:lnTo>
                    <a:pt x="0" y="37048"/>
                  </a:lnTo>
                  <a:cubicBezTo>
                    <a:pt x="0" y="16612"/>
                    <a:pt x="16612" y="0"/>
                    <a:pt x="37048" y="0"/>
                  </a:cubicBezTo>
                  <a:close/>
                </a:path>
              </a:pathLst>
            </a:custGeom>
            <a:solidFill>
              <a:srgbClr val="1D2333"/>
            </a:solidFill>
            <a:ln w="3515" cap="flat">
              <a:noFill/>
              <a:prstDash val="solid"/>
              <a:miter/>
            </a:ln>
          </p:spPr>
          <p:txBody>
            <a:bodyPr lIns="82296" tIns="41148" rIns="82296" bIns="41148" rtlCol="0" anchor="ctr"/>
            <a:lstStyle/>
            <a:p>
              <a:endParaRPr lang="en-US"/>
            </a:p>
          </p:txBody>
        </p:sp>
        <p:sp>
          <p:nvSpPr>
            <p:cNvPr id="634" name="Freeform: Shape 633">
              <a:extLst>
                <a:ext uri="{FF2B5EF4-FFF2-40B4-BE49-F238E27FC236}">
                  <a16:creationId xmlns:a16="http://schemas.microsoft.com/office/drawing/2014/main" id="{372BECEE-0497-489F-A621-2D9440562EB5}"/>
                </a:ext>
              </a:extLst>
            </p:cNvPr>
            <p:cNvSpPr/>
            <p:nvPr/>
          </p:nvSpPr>
          <p:spPr>
            <a:xfrm>
              <a:off x="9802533" y="1992767"/>
              <a:ext cx="39527" cy="39527"/>
            </a:xfrm>
            <a:custGeom>
              <a:avLst/>
              <a:gdLst>
                <a:gd name="connsiteX0" fmla="*/ 39528 w 39527"/>
                <a:gd name="connsiteY0" fmla="*/ 19764 h 39527"/>
                <a:gd name="connsiteX1" fmla="*/ 19764 w 39527"/>
                <a:gd name="connsiteY1" fmla="*/ 39528 h 39527"/>
                <a:gd name="connsiteX2" fmla="*/ 0 w 39527"/>
                <a:gd name="connsiteY2" fmla="*/ 19764 h 39527"/>
                <a:gd name="connsiteX3" fmla="*/ 19764 w 39527"/>
                <a:gd name="connsiteY3" fmla="*/ 0 h 39527"/>
                <a:gd name="connsiteX4" fmla="*/ 39528 w 39527"/>
                <a:gd name="connsiteY4" fmla="*/ 19764 h 39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27" h="39527">
                  <a:moveTo>
                    <a:pt x="39528" y="19764"/>
                  </a:moveTo>
                  <a:cubicBezTo>
                    <a:pt x="39528" y="30673"/>
                    <a:pt x="30673" y="39528"/>
                    <a:pt x="19764" y="39528"/>
                  </a:cubicBezTo>
                  <a:cubicBezTo>
                    <a:pt x="8855" y="39528"/>
                    <a:pt x="0" y="30673"/>
                    <a:pt x="0" y="19764"/>
                  </a:cubicBezTo>
                  <a:cubicBezTo>
                    <a:pt x="0" y="8855"/>
                    <a:pt x="8855" y="0"/>
                    <a:pt x="19764" y="0"/>
                  </a:cubicBezTo>
                  <a:cubicBezTo>
                    <a:pt x="30673" y="0"/>
                    <a:pt x="39528" y="8855"/>
                    <a:pt x="39528" y="19764"/>
                  </a:cubicBezTo>
                  <a:close/>
                </a:path>
              </a:pathLst>
            </a:custGeom>
            <a:solidFill>
              <a:srgbClr val="F3F2FF"/>
            </a:solidFill>
            <a:ln w="3515" cap="flat">
              <a:noFill/>
              <a:prstDash val="solid"/>
              <a:miter/>
            </a:ln>
          </p:spPr>
          <p:txBody>
            <a:bodyPr lIns="82296" tIns="41148" rIns="82296" bIns="41148" rtlCol="0" anchor="ctr"/>
            <a:lstStyle/>
            <a:p>
              <a:endParaRPr lang="en-US"/>
            </a:p>
          </p:txBody>
        </p:sp>
        <p:sp>
          <p:nvSpPr>
            <p:cNvPr id="635" name="Freeform: Shape 634">
              <a:extLst>
                <a:ext uri="{FF2B5EF4-FFF2-40B4-BE49-F238E27FC236}">
                  <a16:creationId xmlns:a16="http://schemas.microsoft.com/office/drawing/2014/main" id="{28AD053E-45A7-41E8-BD11-56642DB9B602}"/>
                </a:ext>
              </a:extLst>
            </p:cNvPr>
            <p:cNvSpPr/>
            <p:nvPr/>
          </p:nvSpPr>
          <p:spPr>
            <a:xfrm>
              <a:off x="9596252" y="1940941"/>
              <a:ext cx="188395" cy="176112"/>
            </a:xfrm>
            <a:custGeom>
              <a:avLst/>
              <a:gdLst>
                <a:gd name="connsiteX0" fmla="*/ 181842 w 188395"/>
                <a:gd name="connsiteY0" fmla="*/ 78355 h 176112"/>
                <a:gd name="connsiteX1" fmla="*/ 159669 w 188395"/>
                <a:gd name="connsiteY1" fmla="*/ 76159 h 176112"/>
                <a:gd name="connsiteX2" fmla="*/ 187332 w 188395"/>
                <a:gd name="connsiteY2" fmla="*/ 49099 h 176112"/>
                <a:gd name="connsiteX3" fmla="*/ 167532 w 188395"/>
                <a:gd name="connsiteY3" fmla="*/ 45309 h 176112"/>
                <a:gd name="connsiteX4" fmla="*/ 177521 w 188395"/>
                <a:gd name="connsiteY4" fmla="*/ 24731 h 176112"/>
                <a:gd name="connsiteX5" fmla="*/ 134699 w 188395"/>
                <a:gd name="connsiteY5" fmla="*/ 28379 h 176112"/>
                <a:gd name="connsiteX6" fmla="*/ 113731 w 188395"/>
                <a:gd name="connsiteY6" fmla="*/ 36596 h 176112"/>
                <a:gd name="connsiteX7" fmla="*/ 132822 w 188395"/>
                <a:gd name="connsiteY7" fmla="*/ 21083 h 176112"/>
                <a:gd name="connsiteX8" fmla="*/ 114475 w 188395"/>
                <a:gd name="connsiteY8" fmla="*/ 3160 h 176112"/>
                <a:gd name="connsiteX9" fmla="*/ 73849 w 188395"/>
                <a:gd name="connsiteY9" fmla="*/ 31283 h 176112"/>
                <a:gd name="connsiteX10" fmla="*/ 55148 w 188395"/>
                <a:gd name="connsiteY10" fmla="*/ 68934 h 176112"/>
                <a:gd name="connsiteX11" fmla="*/ 0 w 188395"/>
                <a:gd name="connsiteY11" fmla="*/ 95356 h 176112"/>
                <a:gd name="connsiteX12" fmla="*/ 43247 w 188395"/>
                <a:gd name="connsiteY12" fmla="*/ 176112 h 176112"/>
                <a:gd name="connsiteX13" fmla="*/ 91594 w 188395"/>
                <a:gd name="connsiteY13" fmla="*/ 143810 h 176112"/>
                <a:gd name="connsiteX14" fmla="*/ 144510 w 188395"/>
                <a:gd name="connsiteY14" fmla="*/ 110693 h 176112"/>
                <a:gd name="connsiteX15" fmla="*/ 181877 w 188395"/>
                <a:gd name="connsiteY15" fmla="*/ 78355 h 176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8395" h="176112">
                  <a:moveTo>
                    <a:pt x="181842" y="78355"/>
                  </a:moveTo>
                  <a:cubicBezTo>
                    <a:pt x="179752" y="73609"/>
                    <a:pt x="159669" y="76159"/>
                    <a:pt x="159669" y="76159"/>
                  </a:cubicBezTo>
                  <a:cubicBezTo>
                    <a:pt x="180602" y="68013"/>
                    <a:pt x="192078" y="60150"/>
                    <a:pt x="187332" y="49099"/>
                  </a:cubicBezTo>
                  <a:cubicBezTo>
                    <a:pt x="184817" y="43219"/>
                    <a:pt x="177485" y="43467"/>
                    <a:pt x="167532" y="45309"/>
                  </a:cubicBezTo>
                  <a:cubicBezTo>
                    <a:pt x="178477" y="39111"/>
                    <a:pt x="180779" y="30469"/>
                    <a:pt x="177521" y="24731"/>
                  </a:cubicBezTo>
                  <a:cubicBezTo>
                    <a:pt x="172739" y="16266"/>
                    <a:pt x="144687" y="25049"/>
                    <a:pt x="134699" y="28379"/>
                  </a:cubicBezTo>
                  <a:cubicBezTo>
                    <a:pt x="124711" y="31708"/>
                    <a:pt x="113731" y="36596"/>
                    <a:pt x="113731" y="36596"/>
                  </a:cubicBezTo>
                  <a:cubicBezTo>
                    <a:pt x="113731" y="36596"/>
                    <a:pt x="119185" y="30646"/>
                    <a:pt x="132822" y="21083"/>
                  </a:cubicBezTo>
                  <a:cubicBezTo>
                    <a:pt x="146777" y="11307"/>
                    <a:pt x="136789" y="-7465"/>
                    <a:pt x="114475" y="3160"/>
                  </a:cubicBezTo>
                  <a:cubicBezTo>
                    <a:pt x="101334" y="9430"/>
                    <a:pt x="82527" y="23172"/>
                    <a:pt x="73849" y="31283"/>
                  </a:cubicBezTo>
                  <a:cubicBezTo>
                    <a:pt x="68394" y="36384"/>
                    <a:pt x="55148" y="68934"/>
                    <a:pt x="55148" y="68934"/>
                  </a:cubicBezTo>
                  <a:lnTo>
                    <a:pt x="0" y="95356"/>
                  </a:lnTo>
                  <a:lnTo>
                    <a:pt x="43247" y="176112"/>
                  </a:lnTo>
                  <a:lnTo>
                    <a:pt x="91594" y="143810"/>
                  </a:lnTo>
                  <a:cubicBezTo>
                    <a:pt x="125915" y="143810"/>
                    <a:pt x="144510" y="110693"/>
                    <a:pt x="144510" y="110693"/>
                  </a:cubicBezTo>
                  <a:cubicBezTo>
                    <a:pt x="176246" y="96454"/>
                    <a:pt x="187686" y="91673"/>
                    <a:pt x="181877" y="78355"/>
                  </a:cubicBezTo>
                  <a:close/>
                </a:path>
              </a:pathLst>
            </a:custGeom>
            <a:solidFill>
              <a:srgbClr val="FFBEBB"/>
            </a:solidFill>
            <a:ln w="3515" cap="flat">
              <a:noFill/>
              <a:prstDash val="solid"/>
              <a:miter/>
            </a:ln>
          </p:spPr>
          <p:txBody>
            <a:bodyPr lIns="82296" tIns="41148" rIns="82296" bIns="41148" rtlCol="0" anchor="ctr"/>
            <a:lstStyle/>
            <a:p>
              <a:endParaRPr lang="en-US"/>
            </a:p>
          </p:txBody>
        </p:sp>
        <p:sp>
          <p:nvSpPr>
            <p:cNvPr id="636" name="Freeform: Shape 635">
              <a:extLst>
                <a:ext uri="{FF2B5EF4-FFF2-40B4-BE49-F238E27FC236}">
                  <a16:creationId xmlns:a16="http://schemas.microsoft.com/office/drawing/2014/main" id="{0BFFCF57-8CF0-4365-BCE2-B45529C4B828}"/>
                </a:ext>
              </a:extLst>
            </p:cNvPr>
            <p:cNvSpPr/>
            <p:nvPr/>
          </p:nvSpPr>
          <p:spPr>
            <a:xfrm>
              <a:off x="9504120" y="2033479"/>
              <a:ext cx="149210" cy="153491"/>
            </a:xfrm>
            <a:custGeom>
              <a:avLst/>
              <a:gdLst>
                <a:gd name="connsiteX0" fmla="*/ 102226 w 149210"/>
                <a:gd name="connsiteY0" fmla="*/ 153492 h 153491"/>
                <a:gd name="connsiteX1" fmla="*/ 99853 w 149210"/>
                <a:gd name="connsiteY1" fmla="*/ 152216 h 153491"/>
                <a:gd name="connsiteX2" fmla="*/ 100668 w 149210"/>
                <a:gd name="connsiteY2" fmla="*/ 148320 h 153491"/>
                <a:gd name="connsiteX3" fmla="*/ 143064 w 149210"/>
                <a:gd name="connsiteY3" fmla="*/ 104755 h 153491"/>
                <a:gd name="connsiteX4" fmla="*/ 90856 w 149210"/>
                <a:gd name="connsiteY4" fmla="*/ 6502 h 153491"/>
                <a:gd name="connsiteX5" fmla="*/ 4009 w 149210"/>
                <a:gd name="connsiteY5" fmla="*/ 46951 h 153491"/>
                <a:gd name="connsiteX6" fmla="*/ 254 w 149210"/>
                <a:gd name="connsiteY6" fmla="*/ 45605 h 153491"/>
                <a:gd name="connsiteX7" fmla="*/ 1600 w 149210"/>
                <a:gd name="connsiteY7" fmla="*/ 41851 h 153491"/>
                <a:gd name="connsiteX8" fmla="*/ 90856 w 149210"/>
                <a:gd name="connsiteY8" fmla="*/ 268 h 153491"/>
                <a:gd name="connsiteX9" fmla="*/ 94540 w 149210"/>
                <a:gd name="connsiteY9" fmla="*/ 1508 h 153491"/>
                <a:gd name="connsiteX10" fmla="*/ 148873 w 149210"/>
                <a:gd name="connsiteY10" fmla="*/ 103728 h 153491"/>
                <a:gd name="connsiteX11" fmla="*/ 148625 w 149210"/>
                <a:gd name="connsiteY11" fmla="*/ 106774 h 153491"/>
                <a:gd name="connsiteX12" fmla="*/ 103749 w 149210"/>
                <a:gd name="connsiteY12" fmla="*/ 153031 h 153491"/>
                <a:gd name="connsiteX13" fmla="*/ 102226 w 149210"/>
                <a:gd name="connsiteY13" fmla="*/ 153492 h 15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9210" h="153491">
                  <a:moveTo>
                    <a:pt x="102226" y="153492"/>
                  </a:moveTo>
                  <a:cubicBezTo>
                    <a:pt x="101305" y="153492"/>
                    <a:pt x="100420" y="153031"/>
                    <a:pt x="99853" y="152216"/>
                  </a:cubicBezTo>
                  <a:cubicBezTo>
                    <a:pt x="99003" y="150906"/>
                    <a:pt x="99357" y="149170"/>
                    <a:pt x="100668" y="148320"/>
                  </a:cubicBezTo>
                  <a:cubicBezTo>
                    <a:pt x="116110" y="138191"/>
                    <a:pt x="137929" y="111237"/>
                    <a:pt x="143064" y="104755"/>
                  </a:cubicBezTo>
                  <a:lnTo>
                    <a:pt x="90856" y="6502"/>
                  </a:lnTo>
                  <a:lnTo>
                    <a:pt x="4009" y="46951"/>
                  </a:lnTo>
                  <a:cubicBezTo>
                    <a:pt x="2592" y="47624"/>
                    <a:pt x="927" y="46986"/>
                    <a:pt x="254" y="45605"/>
                  </a:cubicBezTo>
                  <a:cubicBezTo>
                    <a:pt x="-383" y="44188"/>
                    <a:pt x="219" y="42524"/>
                    <a:pt x="1600" y="41851"/>
                  </a:cubicBezTo>
                  <a:lnTo>
                    <a:pt x="90856" y="268"/>
                  </a:lnTo>
                  <a:cubicBezTo>
                    <a:pt x="92202" y="-369"/>
                    <a:pt x="93832" y="162"/>
                    <a:pt x="94540" y="1508"/>
                  </a:cubicBezTo>
                  <a:lnTo>
                    <a:pt x="148873" y="103728"/>
                  </a:lnTo>
                  <a:cubicBezTo>
                    <a:pt x="149404" y="104719"/>
                    <a:pt x="149298" y="105888"/>
                    <a:pt x="148625" y="106774"/>
                  </a:cubicBezTo>
                  <a:cubicBezTo>
                    <a:pt x="147563" y="108155"/>
                    <a:pt x="122061" y="141024"/>
                    <a:pt x="103749" y="153031"/>
                  </a:cubicBezTo>
                  <a:cubicBezTo>
                    <a:pt x="103253" y="153350"/>
                    <a:pt x="102722" y="153492"/>
                    <a:pt x="102226" y="153492"/>
                  </a:cubicBezTo>
                  <a:close/>
                </a:path>
              </a:pathLst>
            </a:custGeom>
            <a:solidFill>
              <a:schemeClr val="accent6">
                <a:lumMod val="75000"/>
              </a:schemeClr>
            </a:solidFill>
            <a:ln w="3515" cap="flat">
              <a:noFill/>
              <a:prstDash val="solid"/>
              <a:miter/>
            </a:ln>
          </p:spPr>
          <p:txBody>
            <a:bodyPr lIns="82296" tIns="41148" rIns="82296" bIns="41148" rtlCol="0" anchor="ctr"/>
            <a:lstStyle/>
            <a:p>
              <a:endParaRPr lang="en-US"/>
            </a:p>
          </p:txBody>
        </p:sp>
        <p:sp>
          <p:nvSpPr>
            <p:cNvPr id="637" name="Freeform: Shape 636">
              <a:extLst>
                <a:ext uri="{FF2B5EF4-FFF2-40B4-BE49-F238E27FC236}">
                  <a16:creationId xmlns:a16="http://schemas.microsoft.com/office/drawing/2014/main" id="{FBFEE194-7D16-44A8-A32D-C6F7FEE9E7A7}"/>
                </a:ext>
              </a:extLst>
            </p:cNvPr>
            <p:cNvSpPr/>
            <p:nvPr/>
          </p:nvSpPr>
          <p:spPr>
            <a:xfrm>
              <a:off x="9687620" y="1970688"/>
              <a:ext cx="35977" cy="17085"/>
            </a:xfrm>
            <a:custGeom>
              <a:avLst/>
              <a:gdLst>
                <a:gd name="connsiteX0" fmla="*/ 2811 w 35977"/>
                <a:gd name="connsiteY0" fmla="*/ 17085 h 17085"/>
                <a:gd name="connsiteX1" fmla="*/ 190 w 35977"/>
                <a:gd name="connsiteY1" fmla="*/ 15279 h 17085"/>
                <a:gd name="connsiteX2" fmla="*/ 1820 w 35977"/>
                <a:gd name="connsiteY2" fmla="*/ 11666 h 17085"/>
                <a:gd name="connsiteX3" fmla="*/ 32174 w 35977"/>
                <a:gd name="connsiteY3" fmla="*/ 190 h 17085"/>
                <a:gd name="connsiteX4" fmla="*/ 35787 w 35977"/>
                <a:gd name="connsiteY4" fmla="*/ 1820 h 17085"/>
                <a:gd name="connsiteX5" fmla="*/ 34157 w 35977"/>
                <a:gd name="connsiteY5" fmla="*/ 5432 h 17085"/>
                <a:gd name="connsiteX6" fmla="*/ 3803 w 35977"/>
                <a:gd name="connsiteY6" fmla="*/ 16908 h 17085"/>
                <a:gd name="connsiteX7" fmla="*/ 2811 w 35977"/>
                <a:gd name="connsiteY7" fmla="*/ 17085 h 17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977" h="17085">
                  <a:moveTo>
                    <a:pt x="2811" y="17085"/>
                  </a:moveTo>
                  <a:cubicBezTo>
                    <a:pt x="1678" y="17085"/>
                    <a:pt x="615" y="16412"/>
                    <a:pt x="190" y="15279"/>
                  </a:cubicBezTo>
                  <a:cubicBezTo>
                    <a:pt x="-376" y="13827"/>
                    <a:pt x="367" y="12197"/>
                    <a:pt x="1820" y="11666"/>
                  </a:cubicBezTo>
                  <a:lnTo>
                    <a:pt x="32174" y="190"/>
                  </a:lnTo>
                  <a:cubicBezTo>
                    <a:pt x="33626" y="-376"/>
                    <a:pt x="35255" y="367"/>
                    <a:pt x="35787" y="1820"/>
                  </a:cubicBezTo>
                  <a:cubicBezTo>
                    <a:pt x="36353" y="3272"/>
                    <a:pt x="35610" y="4901"/>
                    <a:pt x="34157" y="5432"/>
                  </a:cubicBezTo>
                  <a:lnTo>
                    <a:pt x="3803" y="16908"/>
                  </a:lnTo>
                  <a:cubicBezTo>
                    <a:pt x="3484" y="17050"/>
                    <a:pt x="3130" y="17085"/>
                    <a:pt x="2811" y="17085"/>
                  </a:cubicBezTo>
                  <a:close/>
                </a:path>
              </a:pathLst>
            </a:custGeom>
            <a:solidFill>
              <a:srgbClr val="F47C73"/>
            </a:solidFill>
            <a:ln w="3515" cap="flat">
              <a:noFill/>
              <a:prstDash val="solid"/>
              <a:miter/>
            </a:ln>
          </p:spPr>
          <p:txBody>
            <a:bodyPr lIns="82296" tIns="41148" rIns="82296" bIns="41148" rtlCol="0" anchor="ctr"/>
            <a:lstStyle/>
            <a:p>
              <a:endParaRPr lang="en-US"/>
            </a:p>
          </p:txBody>
        </p:sp>
        <p:sp>
          <p:nvSpPr>
            <p:cNvPr id="638" name="Freeform: Shape 637">
              <a:extLst>
                <a:ext uri="{FF2B5EF4-FFF2-40B4-BE49-F238E27FC236}">
                  <a16:creationId xmlns:a16="http://schemas.microsoft.com/office/drawing/2014/main" id="{056D409E-9090-42E1-8349-CC7BE1098A6F}"/>
                </a:ext>
              </a:extLst>
            </p:cNvPr>
            <p:cNvSpPr/>
            <p:nvPr/>
          </p:nvSpPr>
          <p:spPr>
            <a:xfrm>
              <a:off x="9700390" y="1983458"/>
              <a:ext cx="66151" cy="27656"/>
            </a:xfrm>
            <a:custGeom>
              <a:avLst/>
              <a:gdLst>
                <a:gd name="connsiteX0" fmla="*/ 2828 w 66151"/>
                <a:gd name="connsiteY0" fmla="*/ 27657 h 27656"/>
                <a:gd name="connsiteX1" fmla="*/ 172 w 66151"/>
                <a:gd name="connsiteY1" fmla="*/ 25815 h 27656"/>
                <a:gd name="connsiteX2" fmla="*/ 1836 w 66151"/>
                <a:gd name="connsiteY2" fmla="*/ 22202 h 27656"/>
                <a:gd name="connsiteX3" fmla="*/ 62368 w 66151"/>
                <a:gd name="connsiteY3" fmla="*/ 172 h 27656"/>
                <a:gd name="connsiteX4" fmla="*/ 65980 w 66151"/>
                <a:gd name="connsiteY4" fmla="*/ 1836 h 27656"/>
                <a:gd name="connsiteX5" fmla="*/ 64316 w 66151"/>
                <a:gd name="connsiteY5" fmla="*/ 5449 h 27656"/>
                <a:gd name="connsiteX6" fmla="*/ 3784 w 66151"/>
                <a:gd name="connsiteY6" fmla="*/ 27480 h 27656"/>
                <a:gd name="connsiteX7" fmla="*/ 2828 w 66151"/>
                <a:gd name="connsiteY7" fmla="*/ 27657 h 27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151" h="27656">
                  <a:moveTo>
                    <a:pt x="2828" y="27657"/>
                  </a:moveTo>
                  <a:cubicBezTo>
                    <a:pt x="1695" y="27657"/>
                    <a:pt x="597" y="26948"/>
                    <a:pt x="172" y="25815"/>
                  </a:cubicBezTo>
                  <a:cubicBezTo>
                    <a:pt x="-360" y="24363"/>
                    <a:pt x="384" y="22734"/>
                    <a:pt x="1836" y="22202"/>
                  </a:cubicBezTo>
                  <a:lnTo>
                    <a:pt x="62368" y="172"/>
                  </a:lnTo>
                  <a:cubicBezTo>
                    <a:pt x="63855" y="-360"/>
                    <a:pt x="65449" y="384"/>
                    <a:pt x="65980" y="1836"/>
                  </a:cubicBezTo>
                  <a:cubicBezTo>
                    <a:pt x="66512" y="3288"/>
                    <a:pt x="65768" y="4918"/>
                    <a:pt x="64316" y="5449"/>
                  </a:cubicBezTo>
                  <a:lnTo>
                    <a:pt x="3784" y="27480"/>
                  </a:lnTo>
                  <a:cubicBezTo>
                    <a:pt x="3466" y="27586"/>
                    <a:pt x="3147" y="27657"/>
                    <a:pt x="2828" y="27657"/>
                  </a:cubicBezTo>
                  <a:close/>
                </a:path>
              </a:pathLst>
            </a:custGeom>
            <a:solidFill>
              <a:srgbClr val="F47C73"/>
            </a:solidFill>
            <a:ln w="3515" cap="flat">
              <a:noFill/>
              <a:prstDash val="solid"/>
              <a:miter/>
            </a:ln>
          </p:spPr>
          <p:txBody>
            <a:bodyPr lIns="82296" tIns="41148" rIns="82296" bIns="41148" rtlCol="0" anchor="ctr"/>
            <a:lstStyle/>
            <a:p>
              <a:endParaRPr lang="en-US"/>
            </a:p>
          </p:txBody>
        </p:sp>
        <p:sp>
          <p:nvSpPr>
            <p:cNvPr id="639" name="Freeform: Shape 638">
              <a:extLst>
                <a:ext uri="{FF2B5EF4-FFF2-40B4-BE49-F238E27FC236}">
                  <a16:creationId xmlns:a16="http://schemas.microsoft.com/office/drawing/2014/main" id="{11A0B23D-11F4-4FAB-96FB-7876E8130235}"/>
                </a:ext>
              </a:extLst>
            </p:cNvPr>
            <p:cNvSpPr/>
            <p:nvPr/>
          </p:nvSpPr>
          <p:spPr>
            <a:xfrm>
              <a:off x="9707544" y="2012820"/>
              <a:ext cx="54853" cy="23548"/>
            </a:xfrm>
            <a:custGeom>
              <a:avLst/>
              <a:gdLst>
                <a:gd name="connsiteX0" fmla="*/ 2828 w 54853"/>
                <a:gd name="connsiteY0" fmla="*/ 23548 h 23548"/>
                <a:gd name="connsiteX1" fmla="*/ 172 w 54853"/>
                <a:gd name="connsiteY1" fmla="*/ 21706 h 23548"/>
                <a:gd name="connsiteX2" fmla="*/ 1836 w 54853"/>
                <a:gd name="connsiteY2" fmla="*/ 18094 h 23548"/>
                <a:gd name="connsiteX3" fmla="*/ 51069 w 54853"/>
                <a:gd name="connsiteY3" fmla="*/ 172 h 23548"/>
                <a:gd name="connsiteX4" fmla="*/ 54682 w 54853"/>
                <a:gd name="connsiteY4" fmla="*/ 1836 h 23548"/>
                <a:gd name="connsiteX5" fmla="*/ 53017 w 54853"/>
                <a:gd name="connsiteY5" fmla="*/ 5449 h 23548"/>
                <a:gd name="connsiteX6" fmla="*/ 3784 w 54853"/>
                <a:gd name="connsiteY6" fmla="*/ 23371 h 23548"/>
                <a:gd name="connsiteX7" fmla="*/ 2828 w 54853"/>
                <a:gd name="connsiteY7" fmla="*/ 23548 h 23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53" h="23548">
                  <a:moveTo>
                    <a:pt x="2828" y="23548"/>
                  </a:moveTo>
                  <a:cubicBezTo>
                    <a:pt x="1695" y="23548"/>
                    <a:pt x="597" y="22840"/>
                    <a:pt x="172" y="21706"/>
                  </a:cubicBezTo>
                  <a:cubicBezTo>
                    <a:pt x="-360" y="20254"/>
                    <a:pt x="384" y="18625"/>
                    <a:pt x="1836" y="18094"/>
                  </a:cubicBezTo>
                  <a:lnTo>
                    <a:pt x="51069" y="172"/>
                  </a:lnTo>
                  <a:cubicBezTo>
                    <a:pt x="52521" y="-360"/>
                    <a:pt x="54150" y="384"/>
                    <a:pt x="54682" y="1836"/>
                  </a:cubicBezTo>
                  <a:cubicBezTo>
                    <a:pt x="55213" y="3288"/>
                    <a:pt x="54469" y="4918"/>
                    <a:pt x="53017" y="5449"/>
                  </a:cubicBezTo>
                  <a:lnTo>
                    <a:pt x="3784" y="23371"/>
                  </a:lnTo>
                  <a:cubicBezTo>
                    <a:pt x="3466" y="23477"/>
                    <a:pt x="3147" y="23548"/>
                    <a:pt x="2828" y="23548"/>
                  </a:cubicBezTo>
                  <a:close/>
                </a:path>
              </a:pathLst>
            </a:custGeom>
            <a:solidFill>
              <a:srgbClr val="F47C73"/>
            </a:solidFill>
            <a:ln w="3515" cap="flat">
              <a:noFill/>
              <a:prstDash val="solid"/>
              <a:miter/>
            </a:ln>
          </p:spPr>
          <p:txBody>
            <a:bodyPr lIns="82296" tIns="41148" rIns="82296" bIns="41148" rtlCol="0" anchor="ctr"/>
            <a:lstStyle/>
            <a:p>
              <a:endParaRPr lang="en-US"/>
            </a:p>
          </p:txBody>
        </p:sp>
        <p:sp>
          <p:nvSpPr>
            <p:cNvPr id="640" name="Freeform: Shape 639">
              <a:extLst>
                <a:ext uri="{FF2B5EF4-FFF2-40B4-BE49-F238E27FC236}">
                  <a16:creationId xmlns:a16="http://schemas.microsoft.com/office/drawing/2014/main" id="{29CD8597-6C21-4C0F-8380-CB7336A57AFE}"/>
                </a:ext>
              </a:extLst>
            </p:cNvPr>
            <p:cNvSpPr/>
            <p:nvPr/>
          </p:nvSpPr>
          <p:spPr>
            <a:xfrm>
              <a:off x="9919151" y="1811616"/>
              <a:ext cx="87468" cy="75155"/>
            </a:xfrm>
            <a:custGeom>
              <a:avLst/>
              <a:gdLst>
                <a:gd name="connsiteX0" fmla="*/ 6251 w 87468"/>
                <a:gd name="connsiteY0" fmla="*/ 23961 h 75155"/>
                <a:gd name="connsiteX1" fmla="*/ 21729 w 87468"/>
                <a:gd name="connsiteY1" fmla="*/ 55555 h 75155"/>
                <a:gd name="connsiteX2" fmla="*/ 48045 w 87468"/>
                <a:gd name="connsiteY2" fmla="*/ 73619 h 75155"/>
                <a:gd name="connsiteX3" fmla="*/ 84173 w 87468"/>
                <a:gd name="connsiteY3" fmla="*/ 74610 h 75155"/>
                <a:gd name="connsiteX4" fmla="*/ 84633 w 87468"/>
                <a:gd name="connsiteY4" fmla="*/ 74539 h 75155"/>
                <a:gd name="connsiteX5" fmla="*/ 87467 w 87468"/>
                <a:gd name="connsiteY5" fmla="*/ 72627 h 75155"/>
                <a:gd name="connsiteX6" fmla="*/ 69757 w 87468"/>
                <a:gd name="connsiteY6" fmla="*/ 38518 h 75155"/>
                <a:gd name="connsiteX7" fmla="*/ 50914 w 87468"/>
                <a:gd name="connsiteY7" fmla="*/ 35791 h 75155"/>
                <a:gd name="connsiteX8" fmla="*/ 43972 w 87468"/>
                <a:gd name="connsiteY8" fmla="*/ 22190 h 75155"/>
                <a:gd name="connsiteX9" fmla="*/ 39155 w 87468"/>
                <a:gd name="connsiteY9" fmla="*/ 14823 h 75155"/>
                <a:gd name="connsiteX10" fmla="*/ 10430 w 87468"/>
                <a:gd name="connsiteY10" fmla="*/ 195 h 75155"/>
                <a:gd name="connsiteX11" fmla="*/ 159 w 87468"/>
                <a:gd name="connsiteY11" fmla="*/ 9085 h 75155"/>
                <a:gd name="connsiteX12" fmla="*/ 6180 w 87468"/>
                <a:gd name="connsiteY12" fmla="*/ 23925 h 7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7468" h="75155">
                  <a:moveTo>
                    <a:pt x="6251" y="23961"/>
                  </a:moveTo>
                  <a:cubicBezTo>
                    <a:pt x="11457" y="30230"/>
                    <a:pt x="19816" y="47656"/>
                    <a:pt x="21729" y="55555"/>
                  </a:cubicBezTo>
                  <a:cubicBezTo>
                    <a:pt x="21729" y="55555"/>
                    <a:pt x="40784" y="72627"/>
                    <a:pt x="48045" y="73619"/>
                  </a:cubicBezTo>
                  <a:cubicBezTo>
                    <a:pt x="60052" y="75283"/>
                    <a:pt x="72130" y="75567"/>
                    <a:pt x="84173" y="74610"/>
                  </a:cubicBezTo>
                  <a:cubicBezTo>
                    <a:pt x="84350" y="74610"/>
                    <a:pt x="84491" y="74575"/>
                    <a:pt x="84633" y="74539"/>
                  </a:cubicBezTo>
                  <a:cubicBezTo>
                    <a:pt x="85908" y="75000"/>
                    <a:pt x="87538" y="74362"/>
                    <a:pt x="87467" y="72627"/>
                  </a:cubicBezTo>
                  <a:cubicBezTo>
                    <a:pt x="86794" y="59097"/>
                    <a:pt x="83358" y="44469"/>
                    <a:pt x="69757" y="38518"/>
                  </a:cubicBezTo>
                  <a:cubicBezTo>
                    <a:pt x="66853" y="37243"/>
                    <a:pt x="50914" y="35791"/>
                    <a:pt x="50914" y="35791"/>
                  </a:cubicBezTo>
                  <a:cubicBezTo>
                    <a:pt x="50914" y="35791"/>
                    <a:pt x="45424" y="24846"/>
                    <a:pt x="43972" y="22190"/>
                  </a:cubicBezTo>
                  <a:cubicBezTo>
                    <a:pt x="42591" y="19604"/>
                    <a:pt x="40961" y="17160"/>
                    <a:pt x="39155" y="14823"/>
                  </a:cubicBezTo>
                  <a:cubicBezTo>
                    <a:pt x="32567" y="6322"/>
                    <a:pt x="21764" y="-1328"/>
                    <a:pt x="10430" y="195"/>
                  </a:cubicBezTo>
                  <a:cubicBezTo>
                    <a:pt x="5436" y="868"/>
                    <a:pt x="1009" y="3843"/>
                    <a:pt x="159" y="9085"/>
                  </a:cubicBezTo>
                  <a:cubicBezTo>
                    <a:pt x="-798" y="14823"/>
                    <a:pt x="2744" y="19781"/>
                    <a:pt x="6180" y="23925"/>
                  </a:cubicBezTo>
                  <a:close/>
                </a:path>
              </a:pathLst>
            </a:custGeom>
            <a:solidFill>
              <a:srgbClr val="FFBEBB"/>
            </a:solidFill>
            <a:ln w="3515" cap="flat">
              <a:noFill/>
              <a:prstDash val="solid"/>
              <a:miter/>
            </a:ln>
          </p:spPr>
          <p:txBody>
            <a:bodyPr lIns="82296" tIns="41148" rIns="82296" bIns="41148" rtlCol="0" anchor="ctr"/>
            <a:lstStyle/>
            <a:p>
              <a:endParaRPr lang="en-US"/>
            </a:p>
          </p:txBody>
        </p:sp>
        <p:sp>
          <p:nvSpPr>
            <p:cNvPr id="641" name="Freeform: Shape 640">
              <a:extLst>
                <a:ext uri="{FF2B5EF4-FFF2-40B4-BE49-F238E27FC236}">
                  <a16:creationId xmlns:a16="http://schemas.microsoft.com/office/drawing/2014/main" id="{052CC9A4-8C4D-46DF-838D-45675C25A4E5}"/>
                </a:ext>
              </a:extLst>
            </p:cNvPr>
            <p:cNvSpPr/>
            <p:nvPr/>
          </p:nvSpPr>
          <p:spPr>
            <a:xfrm>
              <a:off x="9969153" y="1844582"/>
              <a:ext cx="41877" cy="51349"/>
            </a:xfrm>
            <a:custGeom>
              <a:avLst/>
              <a:gdLst>
                <a:gd name="connsiteX0" fmla="*/ 38421 w 41877"/>
                <a:gd name="connsiteY0" fmla="*/ 51349 h 51349"/>
                <a:gd name="connsiteX1" fmla="*/ 37854 w 41877"/>
                <a:gd name="connsiteY1" fmla="*/ 51279 h 51349"/>
                <a:gd name="connsiteX2" fmla="*/ 35658 w 41877"/>
                <a:gd name="connsiteY2" fmla="*/ 47949 h 51349"/>
                <a:gd name="connsiteX3" fmla="*/ 30133 w 41877"/>
                <a:gd name="connsiteY3" fmla="*/ 20074 h 51349"/>
                <a:gd name="connsiteX4" fmla="*/ 2435 w 41877"/>
                <a:gd name="connsiteY4" fmla="*/ 5588 h 51349"/>
                <a:gd name="connsiteX5" fmla="*/ 26 w 41877"/>
                <a:gd name="connsiteY5" fmla="*/ 2436 h 51349"/>
                <a:gd name="connsiteX6" fmla="*/ 3179 w 41877"/>
                <a:gd name="connsiteY6" fmla="*/ 27 h 51349"/>
                <a:gd name="connsiteX7" fmla="*/ 34772 w 41877"/>
                <a:gd name="connsiteY7" fmla="*/ 16887 h 51349"/>
                <a:gd name="connsiteX8" fmla="*/ 41183 w 41877"/>
                <a:gd name="connsiteY8" fmla="*/ 49118 h 51349"/>
                <a:gd name="connsiteX9" fmla="*/ 38421 w 41877"/>
                <a:gd name="connsiteY9" fmla="*/ 51349 h 51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877" h="51349">
                  <a:moveTo>
                    <a:pt x="38421" y="51349"/>
                  </a:moveTo>
                  <a:cubicBezTo>
                    <a:pt x="38244" y="51349"/>
                    <a:pt x="38031" y="51349"/>
                    <a:pt x="37854" y="51279"/>
                  </a:cubicBezTo>
                  <a:cubicBezTo>
                    <a:pt x="36331" y="50960"/>
                    <a:pt x="35375" y="49472"/>
                    <a:pt x="35658" y="47949"/>
                  </a:cubicBezTo>
                  <a:cubicBezTo>
                    <a:pt x="35658" y="47807"/>
                    <a:pt x="38775" y="32223"/>
                    <a:pt x="30133" y="20074"/>
                  </a:cubicBezTo>
                  <a:cubicBezTo>
                    <a:pt x="24536" y="12176"/>
                    <a:pt x="15221" y="7323"/>
                    <a:pt x="2435" y="5588"/>
                  </a:cubicBezTo>
                  <a:cubicBezTo>
                    <a:pt x="912" y="5375"/>
                    <a:pt x="-186" y="3959"/>
                    <a:pt x="26" y="2436"/>
                  </a:cubicBezTo>
                  <a:cubicBezTo>
                    <a:pt x="239" y="877"/>
                    <a:pt x="1656" y="-185"/>
                    <a:pt x="3179" y="27"/>
                  </a:cubicBezTo>
                  <a:cubicBezTo>
                    <a:pt x="17594" y="1975"/>
                    <a:pt x="28255" y="7642"/>
                    <a:pt x="34772" y="16887"/>
                  </a:cubicBezTo>
                  <a:cubicBezTo>
                    <a:pt x="44796" y="31090"/>
                    <a:pt x="41325" y="48410"/>
                    <a:pt x="41183" y="49118"/>
                  </a:cubicBezTo>
                  <a:cubicBezTo>
                    <a:pt x="40900" y="50428"/>
                    <a:pt x="39731" y="51349"/>
                    <a:pt x="38421" y="51349"/>
                  </a:cubicBezTo>
                  <a:close/>
                </a:path>
              </a:pathLst>
            </a:custGeom>
            <a:solidFill>
              <a:srgbClr val="F47C73"/>
            </a:solidFill>
            <a:ln w="3515" cap="flat">
              <a:noFill/>
              <a:prstDash val="solid"/>
              <a:miter/>
            </a:ln>
          </p:spPr>
          <p:txBody>
            <a:bodyPr lIns="82296" tIns="41148" rIns="82296" bIns="41148" rtlCol="0" anchor="ctr"/>
            <a:lstStyle/>
            <a:p>
              <a:endParaRPr lang="en-US"/>
            </a:p>
          </p:txBody>
        </p:sp>
        <p:sp>
          <p:nvSpPr>
            <p:cNvPr id="642" name="Freeform: Shape 641">
              <a:extLst>
                <a:ext uri="{FF2B5EF4-FFF2-40B4-BE49-F238E27FC236}">
                  <a16:creationId xmlns:a16="http://schemas.microsoft.com/office/drawing/2014/main" id="{13465EC5-7F37-43F5-BE51-778EAEE949F8}"/>
                </a:ext>
              </a:extLst>
            </p:cNvPr>
            <p:cNvSpPr/>
            <p:nvPr/>
          </p:nvSpPr>
          <p:spPr>
            <a:xfrm>
              <a:off x="10023105" y="1822915"/>
              <a:ext cx="17462" cy="36003"/>
            </a:xfrm>
            <a:custGeom>
              <a:avLst/>
              <a:gdLst>
                <a:gd name="connsiteX0" fmla="*/ 2816 w 17462"/>
                <a:gd name="connsiteY0" fmla="*/ 35969 h 36003"/>
                <a:gd name="connsiteX1" fmla="*/ 1789 w 17462"/>
                <a:gd name="connsiteY1" fmla="*/ 35791 h 36003"/>
                <a:gd name="connsiteX2" fmla="*/ 195 w 17462"/>
                <a:gd name="connsiteY2" fmla="*/ 32143 h 36003"/>
                <a:gd name="connsiteX3" fmla="*/ 12025 w 17462"/>
                <a:gd name="connsiteY3" fmla="*/ 1789 h 36003"/>
                <a:gd name="connsiteX4" fmla="*/ 15673 w 17462"/>
                <a:gd name="connsiteY4" fmla="*/ 195 h 36003"/>
                <a:gd name="connsiteX5" fmla="*/ 17267 w 17462"/>
                <a:gd name="connsiteY5" fmla="*/ 3843 h 36003"/>
                <a:gd name="connsiteX6" fmla="*/ 5437 w 17462"/>
                <a:gd name="connsiteY6" fmla="*/ 34198 h 36003"/>
                <a:gd name="connsiteX7" fmla="*/ 2816 w 17462"/>
                <a:gd name="connsiteY7" fmla="*/ 36004 h 36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62" h="36003">
                  <a:moveTo>
                    <a:pt x="2816" y="35969"/>
                  </a:moveTo>
                  <a:cubicBezTo>
                    <a:pt x="2462" y="35969"/>
                    <a:pt x="2143" y="35898"/>
                    <a:pt x="1789" y="35791"/>
                  </a:cubicBezTo>
                  <a:cubicBezTo>
                    <a:pt x="337" y="35225"/>
                    <a:pt x="-372" y="33595"/>
                    <a:pt x="195" y="32143"/>
                  </a:cubicBezTo>
                  <a:lnTo>
                    <a:pt x="12025" y="1789"/>
                  </a:lnTo>
                  <a:cubicBezTo>
                    <a:pt x="12592" y="337"/>
                    <a:pt x="14221" y="-372"/>
                    <a:pt x="15673" y="195"/>
                  </a:cubicBezTo>
                  <a:cubicBezTo>
                    <a:pt x="17126" y="762"/>
                    <a:pt x="17834" y="2391"/>
                    <a:pt x="17267" y="3843"/>
                  </a:cubicBezTo>
                  <a:lnTo>
                    <a:pt x="5437" y="34198"/>
                  </a:lnTo>
                  <a:cubicBezTo>
                    <a:pt x="5012" y="35296"/>
                    <a:pt x="3950" y="36004"/>
                    <a:pt x="2816" y="36004"/>
                  </a:cubicBezTo>
                  <a:close/>
                </a:path>
              </a:pathLst>
            </a:custGeom>
            <a:solidFill>
              <a:srgbClr val="F47C73"/>
            </a:solidFill>
            <a:ln w="3515" cap="flat">
              <a:noFill/>
              <a:prstDash val="solid"/>
              <a:miter/>
            </a:ln>
          </p:spPr>
          <p:txBody>
            <a:bodyPr lIns="82296" tIns="41148" rIns="82296" bIns="41148" rtlCol="0" anchor="ctr"/>
            <a:lstStyle/>
            <a:p>
              <a:endParaRPr lang="en-US"/>
            </a:p>
          </p:txBody>
        </p:sp>
        <p:sp>
          <p:nvSpPr>
            <p:cNvPr id="643" name="Freeform: Shape 642">
              <a:extLst>
                <a:ext uri="{FF2B5EF4-FFF2-40B4-BE49-F238E27FC236}">
                  <a16:creationId xmlns:a16="http://schemas.microsoft.com/office/drawing/2014/main" id="{06E0CDC9-0524-4B41-B441-509F4B3BB7FF}"/>
                </a:ext>
              </a:extLst>
            </p:cNvPr>
            <p:cNvSpPr/>
            <p:nvPr/>
          </p:nvSpPr>
          <p:spPr>
            <a:xfrm>
              <a:off x="9911907" y="1534019"/>
              <a:ext cx="149752" cy="151133"/>
            </a:xfrm>
            <a:custGeom>
              <a:avLst/>
              <a:gdLst>
                <a:gd name="connsiteX0" fmla="*/ 149752 w 149752"/>
                <a:gd name="connsiteY0" fmla="*/ 0 h 151133"/>
                <a:gd name="connsiteX1" fmla="*/ 149752 w 149752"/>
                <a:gd name="connsiteY1" fmla="*/ 151133 h 151133"/>
                <a:gd name="connsiteX2" fmla="*/ 0 w 149752"/>
                <a:gd name="connsiteY2" fmla="*/ 151133 h 151133"/>
                <a:gd name="connsiteX3" fmla="*/ 0 w 149752"/>
                <a:gd name="connsiteY3" fmla="*/ 149752 h 151133"/>
                <a:gd name="connsiteX4" fmla="*/ 149752 w 149752"/>
                <a:gd name="connsiteY4" fmla="*/ 0 h 15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752" h="151133">
                  <a:moveTo>
                    <a:pt x="149752" y="0"/>
                  </a:moveTo>
                  <a:lnTo>
                    <a:pt x="149752" y="151133"/>
                  </a:lnTo>
                  <a:lnTo>
                    <a:pt x="0" y="151133"/>
                  </a:lnTo>
                  <a:cubicBezTo>
                    <a:pt x="0" y="150673"/>
                    <a:pt x="0" y="150212"/>
                    <a:pt x="0" y="149752"/>
                  </a:cubicBezTo>
                  <a:cubicBezTo>
                    <a:pt x="0" y="67048"/>
                    <a:pt x="67048" y="0"/>
                    <a:pt x="149752" y="0"/>
                  </a:cubicBezTo>
                  <a:close/>
                </a:path>
              </a:pathLst>
            </a:custGeom>
            <a:solidFill>
              <a:srgbClr val="FFDE4A"/>
            </a:solidFill>
            <a:ln w="3515" cap="flat">
              <a:noFill/>
              <a:prstDash val="solid"/>
              <a:miter/>
            </a:ln>
          </p:spPr>
          <p:txBody>
            <a:bodyPr lIns="82296" tIns="41148" rIns="82296" bIns="41148" rtlCol="0" anchor="ctr"/>
            <a:lstStyle/>
            <a:p>
              <a:endParaRPr lang="en-US"/>
            </a:p>
          </p:txBody>
        </p:sp>
      </p:grpSp>
      <p:grpSp>
        <p:nvGrpSpPr>
          <p:cNvPr id="677" name="Group 676">
            <a:extLst>
              <a:ext uri="{FF2B5EF4-FFF2-40B4-BE49-F238E27FC236}">
                <a16:creationId xmlns:a16="http://schemas.microsoft.com/office/drawing/2014/main" id="{03ECE47A-59D8-4BC3-A5D1-8059FDEEC07A}"/>
              </a:ext>
            </a:extLst>
          </p:cNvPr>
          <p:cNvGrpSpPr/>
          <p:nvPr/>
        </p:nvGrpSpPr>
        <p:grpSpPr>
          <a:xfrm>
            <a:off x="873522" y="2823512"/>
            <a:ext cx="852324" cy="890380"/>
            <a:chOff x="883025" y="2823512"/>
            <a:chExt cx="852324" cy="890380"/>
          </a:xfrm>
        </p:grpSpPr>
        <p:sp>
          <p:nvSpPr>
            <p:cNvPr id="678" name="Freeform: Shape 677">
              <a:extLst>
                <a:ext uri="{FF2B5EF4-FFF2-40B4-BE49-F238E27FC236}">
                  <a16:creationId xmlns:a16="http://schemas.microsoft.com/office/drawing/2014/main" id="{D1111EF4-CE33-4226-8C66-540D13E8AA1E}"/>
                </a:ext>
              </a:extLst>
            </p:cNvPr>
            <p:cNvSpPr/>
            <p:nvPr/>
          </p:nvSpPr>
          <p:spPr>
            <a:xfrm>
              <a:off x="1332857" y="2908578"/>
              <a:ext cx="174966" cy="173792"/>
            </a:xfrm>
            <a:custGeom>
              <a:avLst/>
              <a:gdLst>
                <a:gd name="connsiteX0" fmla="*/ 139024 w 174966"/>
                <a:gd name="connsiteY0" fmla="*/ 91405 h 173792"/>
                <a:gd name="connsiteX1" fmla="*/ 129718 w 174966"/>
                <a:gd name="connsiteY1" fmla="*/ 46967 h 173792"/>
                <a:gd name="connsiteX2" fmla="*/ 107349 w 174966"/>
                <a:gd name="connsiteY2" fmla="*/ 36295 h 173792"/>
                <a:gd name="connsiteX3" fmla="*/ 80883 w 174966"/>
                <a:gd name="connsiteY3" fmla="*/ 21525 h 173792"/>
                <a:gd name="connsiteX4" fmla="*/ 55654 w 174966"/>
                <a:gd name="connsiteY4" fmla="*/ 20159 h 173792"/>
                <a:gd name="connsiteX5" fmla="*/ 4600 w 174966"/>
                <a:gd name="connsiteY5" fmla="*/ 2657 h 173792"/>
                <a:gd name="connsiteX6" fmla="*/ 5197 w 174966"/>
                <a:gd name="connsiteY6" fmla="*/ 22592 h 173792"/>
                <a:gd name="connsiteX7" fmla="*/ 46476 w 174966"/>
                <a:gd name="connsiteY7" fmla="*/ 53712 h 173792"/>
                <a:gd name="connsiteX8" fmla="*/ 47842 w 174966"/>
                <a:gd name="connsiteY8" fmla="*/ 64384 h 173792"/>
                <a:gd name="connsiteX9" fmla="*/ 15016 w 174966"/>
                <a:gd name="connsiteY9" fmla="*/ 52943 h 173792"/>
                <a:gd name="connsiteX10" fmla="*/ 12796 w 174966"/>
                <a:gd name="connsiteY10" fmla="*/ 76678 h 173792"/>
                <a:gd name="connsiteX11" fmla="*/ 39262 w 174966"/>
                <a:gd name="connsiteY11" fmla="*/ 102546 h 173792"/>
                <a:gd name="connsiteX12" fmla="*/ 56892 w 174966"/>
                <a:gd name="connsiteY12" fmla="*/ 126153 h 173792"/>
                <a:gd name="connsiteX13" fmla="*/ 83572 w 174966"/>
                <a:gd name="connsiteY13" fmla="*/ 173792 h 173792"/>
                <a:gd name="connsiteX14" fmla="*/ 174967 w 174966"/>
                <a:gd name="connsiteY14" fmla="*/ 142545 h 173792"/>
                <a:gd name="connsiteX15" fmla="*/ 139066 w 174966"/>
                <a:gd name="connsiteY15" fmla="*/ 91362 h 173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4966" h="173792">
                  <a:moveTo>
                    <a:pt x="139024" y="91405"/>
                  </a:moveTo>
                  <a:cubicBezTo>
                    <a:pt x="139024" y="91405"/>
                    <a:pt x="137487" y="60286"/>
                    <a:pt x="129718" y="46967"/>
                  </a:cubicBezTo>
                  <a:cubicBezTo>
                    <a:pt x="121948" y="33648"/>
                    <a:pt x="107349" y="36295"/>
                    <a:pt x="107349" y="36295"/>
                  </a:cubicBezTo>
                  <a:cubicBezTo>
                    <a:pt x="103849" y="22592"/>
                    <a:pt x="80883" y="21525"/>
                    <a:pt x="80883" y="21525"/>
                  </a:cubicBezTo>
                  <a:cubicBezTo>
                    <a:pt x="70467" y="12390"/>
                    <a:pt x="55654" y="20159"/>
                    <a:pt x="55654" y="20159"/>
                  </a:cubicBezTo>
                  <a:cubicBezTo>
                    <a:pt x="27779" y="181"/>
                    <a:pt x="12540" y="-3362"/>
                    <a:pt x="4600" y="2657"/>
                  </a:cubicBezTo>
                  <a:cubicBezTo>
                    <a:pt x="-1419" y="7225"/>
                    <a:pt x="-1846" y="18110"/>
                    <a:pt x="5197" y="22592"/>
                  </a:cubicBezTo>
                  <a:cubicBezTo>
                    <a:pt x="12241" y="27074"/>
                    <a:pt x="46476" y="53712"/>
                    <a:pt x="46476" y="53712"/>
                  </a:cubicBezTo>
                  <a:lnTo>
                    <a:pt x="47842" y="64384"/>
                  </a:lnTo>
                  <a:cubicBezTo>
                    <a:pt x="47842" y="64384"/>
                    <a:pt x="29572" y="45046"/>
                    <a:pt x="15016" y="52943"/>
                  </a:cubicBezTo>
                  <a:cubicBezTo>
                    <a:pt x="8570" y="56444"/>
                    <a:pt x="4856" y="67073"/>
                    <a:pt x="12796" y="76678"/>
                  </a:cubicBezTo>
                  <a:cubicBezTo>
                    <a:pt x="20736" y="86282"/>
                    <a:pt x="32859" y="92003"/>
                    <a:pt x="39262" y="102546"/>
                  </a:cubicBezTo>
                  <a:cubicBezTo>
                    <a:pt x="45665" y="113090"/>
                    <a:pt x="56892" y="126153"/>
                    <a:pt x="56892" y="126153"/>
                  </a:cubicBezTo>
                  <a:lnTo>
                    <a:pt x="83572" y="173792"/>
                  </a:lnTo>
                  <a:lnTo>
                    <a:pt x="174967" y="142545"/>
                  </a:lnTo>
                  <a:lnTo>
                    <a:pt x="139066" y="91362"/>
                  </a:lnTo>
                  <a:close/>
                </a:path>
              </a:pathLst>
            </a:custGeom>
            <a:solidFill>
              <a:srgbClr val="FFBEBB"/>
            </a:solidFill>
            <a:ln w="4254" cap="flat">
              <a:noFill/>
              <a:prstDash val="solid"/>
              <a:miter/>
            </a:ln>
          </p:spPr>
          <p:txBody>
            <a:bodyPr rtlCol="0" anchor="ctr"/>
            <a:lstStyle/>
            <a:p>
              <a:endParaRPr lang="en-US"/>
            </a:p>
          </p:txBody>
        </p:sp>
        <p:grpSp>
          <p:nvGrpSpPr>
            <p:cNvPr id="679" name="Graphic 373">
              <a:extLst>
                <a:ext uri="{FF2B5EF4-FFF2-40B4-BE49-F238E27FC236}">
                  <a16:creationId xmlns:a16="http://schemas.microsoft.com/office/drawing/2014/main" id="{09C863DF-261C-4008-BA5D-FBA03FF03D73}"/>
                </a:ext>
              </a:extLst>
            </p:cNvPr>
            <p:cNvGrpSpPr/>
            <p:nvPr/>
          </p:nvGrpSpPr>
          <p:grpSpPr>
            <a:xfrm>
              <a:off x="1377109" y="2925350"/>
              <a:ext cx="88894" cy="73736"/>
              <a:chOff x="1377109" y="2925350"/>
              <a:chExt cx="88894" cy="73736"/>
            </a:xfrm>
            <a:solidFill>
              <a:srgbClr val="F47C73"/>
            </a:solidFill>
          </p:grpSpPr>
          <p:sp>
            <p:nvSpPr>
              <p:cNvPr id="726" name="Freeform: Shape 725">
                <a:extLst>
                  <a:ext uri="{FF2B5EF4-FFF2-40B4-BE49-F238E27FC236}">
                    <a16:creationId xmlns:a16="http://schemas.microsoft.com/office/drawing/2014/main" id="{11A57D82-30FE-4E27-BC1A-194B0C2EF9D8}"/>
                  </a:ext>
                </a:extLst>
              </p:cNvPr>
              <p:cNvSpPr/>
              <p:nvPr/>
            </p:nvSpPr>
            <p:spPr>
              <a:xfrm>
                <a:off x="1430821" y="2941474"/>
                <a:ext cx="35182" cy="57612"/>
              </a:xfrm>
              <a:custGeom>
                <a:avLst/>
                <a:gdLst>
                  <a:gd name="connsiteX0" fmla="*/ 15276 w 35182"/>
                  <a:gd name="connsiteY0" fmla="*/ 57613 h 57612"/>
                  <a:gd name="connsiteX1" fmla="*/ 4433 w 35182"/>
                  <a:gd name="connsiteY1" fmla="*/ 53130 h 57612"/>
                  <a:gd name="connsiteX2" fmla="*/ 1061 w 35182"/>
                  <a:gd name="connsiteY2" fmla="*/ 23889 h 57612"/>
                  <a:gd name="connsiteX3" fmla="*/ 6183 w 35182"/>
                  <a:gd name="connsiteY3" fmla="*/ 2375 h 57612"/>
                  <a:gd name="connsiteX4" fmla="*/ 10452 w 35182"/>
                  <a:gd name="connsiteY4" fmla="*/ 155 h 57612"/>
                  <a:gd name="connsiteX5" fmla="*/ 12672 w 35182"/>
                  <a:gd name="connsiteY5" fmla="*/ 4424 h 57612"/>
                  <a:gd name="connsiteX6" fmla="*/ 7763 w 35182"/>
                  <a:gd name="connsiteY6" fmla="*/ 24871 h 57612"/>
                  <a:gd name="connsiteX7" fmla="*/ 9556 w 35182"/>
                  <a:gd name="connsiteY7" fmla="*/ 48691 h 57612"/>
                  <a:gd name="connsiteX8" fmla="*/ 15319 w 35182"/>
                  <a:gd name="connsiteY8" fmla="*/ 50825 h 57612"/>
                  <a:gd name="connsiteX9" fmla="*/ 28424 w 35182"/>
                  <a:gd name="connsiteY9" fmla="*/ 33366 h 57612"/>
                  <a:gd name="connsiteX10" fmla="*/ 32095 w 35182"/>
                  <a:gd name="connsiteY10" fmla="*/ 30292 h 57612"/>
                  <a:gd name="connsiteX11" fmla="*/ 35168 w 35182"/>
                  <a:gd name="connsiteY11" fmla="*/ 33964 h 57612"/>
                  <a:gd name="connsiteX12" fmla="*/ 15447 w 35182"/>
                  <a:gd name="connsiteY12" fmla="*/ 57613 h 57612"/>
                  <a:gd name="connsiteX13" fmla="*/ 15319 w 35182"/>
                  <a:gd name="connsiteY13" fmla="*/ 57613 h 5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182" h="57612">
                    <a:moveTo>
                      <a:pt x="15276" y="57613"/>
                    </a:moveTo>
                    <a:cubicBezTo>
                      <a:pt x="10666" y="57613"/>
                      <a:pt x="6995" y="56119"/>
                      <a:pt x="4433" y="53130"/>
                    </a:cubicBezTo>
                    <a:cubicBezTo>
                      <a:pt x="-6" y="48051"/>
                      <a:pt x="-1073" y="38745"/>
                      <a:pt x="1061" y="23889"/>
                    </a:cubicBezTo>
                    <a:cubicBezTo>
                      <a:pt x="2427" y="14327"/>
                      <a:pt x="6055" y="2844"/>
                      <a:pt x="6183" y="2375"/>
                    </a:cubicBezTo>
                    <a:cubicBezTo>
                      <a:pt x="6738" y="582"/>
                      <a:pt x="8659" y="-400"/>
                      <a:pt x="10452" y="155"/>
                    </a:cubicBezTo>
                    <a:cubicBezTo>
                      <a:pt x="12245" y="710"/>
                      <a:pt x="13227" y="2631"/>
                      <a:pt x="12672" y="4424"/>
                    </a:cubicBezTo>
                    <a:cubicBezTo>
                      <a:pt x="12672" y="4552"/>
                      <a:pt x="9086" y="15864"/>
                      <a:pt x="7763" y="24871"/>
                    </a:cubicBezTo>
                    <a:cubicBezTo>
                      <a:pt x="5970" y="37293"/>
                      <a:pt x="6568" y="45318"/>
                      <a:pt x="9556" y="48691"/>
                    </a:cubicBezTo>
                    <a:cubicBezTo>
                      <a:pt x="10367" y="49630"/>
                      <a:pt x="11818" y="50825"/>
                      <a:pt x="15319" y="50825"/>
                    </a:cubicBezTo>
                    <a:cubicBezTo>
                      <a:pt x="26674" y="50740"/>
                      <a:pt x="28424" y="33537"/>
                      <a:pt x="28424" y="33366"/>
                    </a:cubicBezTo>
                    <a:cubicBezTo>
                      <a:pt x="28595" y="31488"/>
                      <a:pt x="30302" y="30164"/>
                      <a:pt x="32095" y="30292"/>
                    </a:cubicBezTo>
                    <a:cubicBezTo>
                      <a:pt x="33973" y="30463"/>
                      <a:pt x="35339" y="32128"/>
                      <a:pt x="35168" y="33964"/>
                    </a:cubicBezTo>
                    <a:cubicBezTo>
                      <a:pt x="34443" y="42117"/>
                      <a:pt x="29363" y="57527"/>
                      <a:pt x="15447" y="57613"/>
                    </a:cubicBezTo>
                    <a:lnTo>
                      <a:pt x="15319" y="57613"/>
                    </a:lnTo>
                    <a:close/>
                  </a:path>
                </a:pathLst>
              </a:custGeom>
              <a:solidFill>
                <a:srgbClr val="F47C73"/>
              </a:solidFill>
              <a:ln w="4254" cap="flat">
                <a:noFill/>
                <a:prstDash val="solid"/>
                <a:miter/>
              </a:ln>
            </p:spPr>
            <p:txBody>
              <a:bodyPr rtlCol="0" anchor="ctr"/>
              <a:lstStyle/>
              <a:p>
                <a:endParaRPr lang="en-US"/>
              </a:p>
            </p:txBody>
          </p:sp>
          <p:sp>
            <p:nvSpPr>
              <p:cNvPr id="727" name="Freeform: Shape 726">
                <a:extLst>
                  <a:ext uri="{FF2B5EF4-FFF2-40B4-BE49-F238E27FC236}">
                    <a16:creationId xmlns:a16="http://schemas.microsoft.com/office/drawing/2014/main" id="{5697FC53-1E93-464F-8B7F-17F26F70C3AF}"/>
                  </a:ext>
                </a:extLst>
              </p:cNvPr>
              <p:cNvSpPr/>
              <p:nvPr/>
            </p:nvSpPr>
            <p:spPr>
              <a:xfrm>
                <a:off x="1403802" y="2926685"/>
                <a:ext cx="33929" cy="69840"/>
              </a:xfrm>
              <a:custGeom>
                <a:avLst/>
                <a:gdLst>
                  <a:gd name="connsiteX0" fmla="*/ 17835 w 33929"/>
                  <a:gd name="connsiteY0" fmla="*/ 69841 h 69840"/>
                  <a:gd name="connsiteX1" fmla="*/ 14847 w 33929"/>
                  <a:gd name="connsiteY1" fmla="*/ 69670 h 69840"/>
                  <a:gd name="connsiteX2" fmla="*/ 375 w 33929"/>
                  <a:gd name="connsiteY2" fmla="*/ 35349 h 69840"/>
                  <a:gd name="connsiteX3" fmla="*/ 6693 w 33929"/>
                  <a:gd name="connsiteY3" fmla="*/ 2437 h 69840"/>
                  <a:gd name="connsiteX4" fmla="*/ 10919 w 33929"/>
                  <a:gd name="connsiteY4" fmla="*/ 132 h 69840"/>
                  <a:gd name="connsiteX5" fmla="*/ 13225 w 33929"/>
                  <a:gd name="connsiteY5" fmla="*/ 4358 h 69840"/>
                  <a:gd name="connsiteX6" fmla="*/ 7163 w 33929"/>
                  <a:gd name="connsiteY6" fmla="*/ 35819 h 69840"/>
                  <a:gd name="connsiteX7" fmla="*/ 15615 w 33929"/>
                  <a:gd name="connsiteY7" fmla="*/ 62926 h 69840"/>
                  <a:gd name="connsiteX8" fmla="*/ 27226 w 33929"/>
                  <a:gd name="connsiteY8" fmla="*/ 56864 h 69840"/>
                  <a:gd name="connsiteX9" fmla="*/ 31111 w 33929"/>
                  <a:gd name="connsiteY9" fmla="*/ 54089 h 69840"/>
                  <a:gd name="connsiteX10" fmla="*/ 33885 w 33929"/>
                  <a:gd name="connsiteY10" fmla="*/ 57931 h 69840"/>
                  <a:gd name="connsiteX11" fmla="*/ 17835 w 33929"/>
                  <a:gd name="connsiteY11" fmla="*/ 69798 h 69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929" h="69840">
                    <a:moveTo>
                      <a:pt x="17835" y="69841"/>
                    </a:moveTo>
                    <a:cubicBezTo>
                      <a:pt x="16896" y="69841"/>
                      <a:pt x="15914" y="69798"/>
                      <a:pt x="14847" y="69670"/>
                    </a:cubicBezTo>
                    <a:cubicBezTo>
                      <a:pt x="-1844" y="67835"/>
                      <a:pt x="-307" y="45082"/>
                      <a:pt x="375" y="35349"/>
                    </a:cubicBezTo>
                    <a:cubicBezTo>
                      <a:pt x="1357" y="20750"/>
                      <a:pt x="6480" y="3205"/>
                      <a:pt x="6693" y="2437"/>
                    </a:cubicBezTo>
                    <a:cubicBezTo>
                      <a:pt x="7206" y="644"/>
                      <a:pt x="9084" y="-380"/>
                      <a:pt x="10919" y="132"/>
                    </a:cubicBezTo>
                    <a:cubicBezTo>
                      <a:pt x="12712" y="644"/>
                      <a:pt x="13737" y="2522"/>
                      <a:pt x="13225" y="4358"/>
                    </a:cubicBezTo>
                    <a:cubicBezTo>
                      <a:pt x="13182" y="4529"/>
                      <a:pt x="8102" y="21945"/>
                      <a:pt x="7163" y="35819"/>
                    </a:cubicBezTo>
                    <a:cubicBezTo>
                      <a:pt x="5925" y="54046"/>
                      <a:pt x="8443" y="62114"/>
                      <a:pt x="15615" y="62926"/>
                    </a:cubicBezTo>
                    <a:cubicBezTo>
                      <a:pt x="25391" y="64035"/>
                      <a:pt x="27013" y="58059"/>
                      <a:pt x="27226" y="56864"/>
                    </a:cubicBezTo>
                    <a:cubicBezTo>
                      <a:pt x="27568" y="55028"/>
                      <a:pt x="29318" y="53790"/>
                      <a:pt x="31111" y="54089"/>
                    </a:cubicBezTo>
                    <a:cubicBezTo>
                      <a:pt x="32946" y="54388"/>
                      <a:pt x="34184" y="56095"/>
                      <a:pt x="33885" y="57931"/>
                    </a:cubicBezTo>
                    <a:cubicBezTo>
                      <a:pt x="33202" y="62243"/>
                      <a:pt x="28976" y="69798"/>
                      <a:pt x="17835" y="69798"/>
                    </a:cubicBezTo>
                    <a:close/>
                  </a:path>
                </a:pathLst>
              </a:custGeom>
              <a:solidFill>
                <a:srgbClr val="F47C73"/>
              </a:solidFill>
              <a:ln w="4254" cap="flat">
                <a:noFill/>
                <a:prstDash val="solid"/>
                <a:miter/>
              </a:ln>
            </p:spPr>
            <p:txBody>
              <a:bodyPr rtlCol="0" anchor="ctr"/>
              <a:lstStyle/>
              <a:p>
                <a:endParaRPr lang="en-US"/>
              </a:p>
            </p:txBody>
          </p:sp>
          <p:sp>
            <p:nvSpPr>
              <p:cNvPr id="728" name="Freeform: Shape 727">
                <a:extLst>
                  <a:ext uri="{FF2B5EF4-FFF2-40B4-BE49-F238E27FC236}">
                    <a16:creationId xmlns:a16="http://schemas.microsoft.com/office/drawing/2014/main" id="{46034F15-2DD2-4FEC-ADD2-B5B652EACAE7}"/>
                  </a:ext>
                </a:extLst>
              </p:cNvPr>
              <p:cNvSpPr/>
              <p:nvPr/>
            </p:nvSpPr>
            <p:spPr>
              <a:xfrm>
                <a:off x="1377109" y="2925350"/>
                <a:ext cx="34027" cy="67247"/>
              </a:xfrm>
              <a:custGeom>
                <a:avLst/>
                <a:gdLst>
                  <a:gd name="connsiteX0" fmla="*/ 18745 w 34027"/>
                  <a:gd name="connsiteY0" fmla="*/ 67205 h 67247"/>
                  <a:gd name="connsiteX1" fmla="*/ 14946 w 34027"/>
                  <a:gd name="connsiteY1" fmla="*/ 66864 h 67247"/>
                  <a:gd name="connsiteX2" fmla="*/ 218 w 34027"/>
                  <a:gd name="connsiteY2" fmla="*/ 37537 h 67247"/>
                  <a:gd name="connsiteX3" fmla="*/ 8329 w 34027"/>
                  <a:gd name="connsiteY3" fmla="*/ 1936 h 67247"/>
                  <a:gd name="connsiteX4" fmla="*/ 12854 w 34027"/>
                  <a:gd name="connsiteY4" fmla="*/ 314 h 67247"/>
                  <a:gd name="connsiteX5" fmla="*/ 14476 w 34027"/>
                  <a:gd name="connsiteY5" fmla="*/ 4838 h 67247"/>
                  <a:gd name="connsiteX6" fmla="*/ 7006 w 34027"/>
                  <a:gd name="connsiteY6" fmla="*/ 37921 h 67247"/>
                  <a:gd name="connsiteX7" fmla="*/ 16141 w 34027"/>
                  <a:gd name="connsiteY7" fmla="*/ 60204 h 67247"/>
                  <a:gd name="connsiteX8" fmla="*/ 23697 w 34027"/>
                  <a:gd name="connsiteY8" fmla="*/ 59009 h 67247"/>
                  <a:gd name="connsiteX9" fmla="*/ 27282 w 34027"/>
                  <a:gd name="connsiteY9" fmla="*/ 53118 h 67247"/>
                  <a:gd name="connsiteX10" fmla="*/ 31167 w 34027"/>
                  <a:gd name="connsiteY10" fmla="*/ 50301 h 67247"/>
                  <a:gd name="connsiteX11" fmla="*/ 33984 w 34027"/>
                  <a:gd name="connsiteY11" fmla="*/ 54185 h 67247"/>
                  <a:gd name="connsiteX12" fmla="*/ 27624 w 34027"/>
                  <a:gd name="connsiteY12" fmla="*/ 64559 h 67247"/>
                  <a:gd name="connsiteX13" fmla="*/ 18745 w 34027"/>
                  <a:gd name="connsiteY13" fmla="*/ 67248 h 67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027" h="67247">
                    <a:moveTo>
                      <a:pt x="18745" y="67205"/>
                    </a:moveTo>
                    <a:cubicBezTo>
                      <a:pt x="17550" y="67205"/>
                      <a:pt x="16269" y="67077"/>
                      <a:pt x="14946" y="66864"/>
                    </a:cubicBezTo>
                    <a:cubicBezTo>
                      <a:pt x="-1233" y="64004"/>
                      <a:pt x="-294" y="46800"/>
                      <a:pt x="218" y="37537"/>
                    </a:cubicBezTo>
                    <a:cubicBezTo>
                      <a:pt x="1371" y="16748"/>
                      <a:pt x="8030" y="2533"/>
                      <a:pt x="8329" y="1936"/>
                    </a:cubicBezTo>
                    <a:cubicBezTo>
                      <a:pt x="9140" y="228"/>
                      <a:pt x="11146" y="-455"/>
                      <a:pt x="12854" y="314"/>
                    </a:cubicBezTo>
                    <a:cubicBezTo>
                      <a:pt x="14561" y="1125"/>
                      <a:pt x="15244" y="3131"/>
                      <a:pt x="14476" y="4838"/>
                    </a:cubicBezTo>
                    <a:cubicBezTo>
                      <a:pt x="14391" y="4966"/>
                      <a:pt x="8073" y="18541"/>
                      <a:pt x="7006" y="37921"/>
                    </a:cubicBezTo>
                    <a:cubicBezTo>
                      <a:pt x="6152" y="53033"/>
                      <a:pt x="8542" y="58838"/>
                      <a:pt x="16141" y="60204"/>
                    </a:cubicBezTo>
                    <a:cubicBezTo>
                      <a:pt x="19300" y="60759"/>
                      <a:pt x="21818" y="60375"/>
                      <a:pt x="23697" y="59009"/>
                    </a:cubicBezTo>
                    <a:cubicBezTo>
                      <a:pt x="26557" y="56960"/>
                      <a:pt x="27282" y="53161"/>
                      <a:pt x="27282" y="53118"/>
                    </a:cubicBezTo>
                    <a:cubicBezTo>
                      <a:pt x="27581" y="51283"/>
                      <a:pt x="29289" y="50002"/>
                      <a:pt x="31167" y="50301"/>
                    </a:cubicBezTo>
                    <a:cubicBezTo>
                      <a:pt x="33002" y="50600"/>
                      <a:pt x="34283" y="52307"/>
                      <a:pt x="33984" y="54185"/>
                    </a:cubicBezTo>
                    <a:cubicBezTo>
                      <a:pt x="33856" y="54868"/>
                      <a:pt x="32789" y="60845"/>
                      <a:pt x="27624" y="64559"/>
                    </a:cubicBezTo>
                    <a:cubicBezTo>
                      <a:pt x="25105" y="66351"/>
                      <a:pt x="22117" y="67248"/>
                      <a:pt x="18745" y="67248"/>
                    </a:cubicBezTo>
                    <a:close/>
                  </a:path>
                </a:pathLst>
              </a:custGeom>
              <a:solidFill>
                <a:srgbClr val="F47C73"/>
              </a:solidFill>
              <a:ln w="4254" cap="flat">
                <a:noFill/>
                <a:prstDash val="solid"/>
                <a:miter/>
              </a:ln>
            </p:spPr>
            <p:txBody>
              <a:bodyPr rtlCol="0" anchor="ctr"/>
              <a:lstStyle/>
              <a:p>
                <a:endParaRPr lang="en-US"/>
              </a:p>
            </p:txBody>
          </p:sp>
        </p:grpSp>
        <p:sp>
          <p:nvSpPr>
            <p:cNvPr id="680" name="Freeform: Shape 679">
              <a:extLst>
                <a:ext uri="{FF2B5EF4-FFF2-40B4-BE49-F238E27FC236}">
                  <a16:creationId xmlns:a16="http://schemas.microsoft.com/office/drawing/2014/main" id="{2C084FBF-6FD8-49C0-AABF-4B322E63A12C}"/>
                </a:ext>
              </a:extLst>
            </p:cNvPr>
            <p:cNvSpPr/>
            <p:nvPr/>
          </p:nvSpPr>
          <p:spPr>
            <a:xfrm>
              <a:off x="883025" y="3029139"/>
              <a:ext cx="715532" cy="518784"/>
            </a:xfrm>
            <a:custGeom>
              <a:avLst/>
              <a:gdLst>
                <a:gd name="connsiteX0" fmla="*/ 82408 w 715532"/>
                <a:gd name="connsiteY0" fmla="*/ 139333 h 518784"/>
                <a:gd name="connsiteX1" fmla="*/ 301695 w 715532"/>
                <a:gd name="connsiteY1" fmla="*/ 36754 h 518784"/>
                <a:gd name="connsiteX2" fmla="*/ 421861 w 715532"/>
                <a:gd name="connsiteY2" fmla="*/ 39998 h 518784"/>
                <a:gd name="connsiteX3" fmla="*/ 521665 w 715532"/>
                <a:gd name="connsiteY3" fmla="*/ 92462 h 518784"/>
                <a:gd name="connsiteX4" fmla="*/ 501175 w 715532"/>
                <a:gd name="connsiteY4" fmla="*/ 50841 h 518784"/>
                <a:gd name="connsiteX5" fmla="*/ 622109 w 715532"/>
                <a:gd name="connsiteY5" fmla="*/ 0 h 518784"/>
                <a:gd name="connsiteX6" fmla="*/ 700142 w 715532"/>
                <a:gd name="connsiteY6" fmla="*/ 139290 h 518784"/>
                <a:gd name="connsiteX7" fmla="*/ 663900 w 715532"/>
                <a:gd name="connsiteY7" fmla="*/ 308803 h 518784"/>
                <a:gd name="connsiteX8" fmla="*/ 526787 w 715532"/>
                <a:gd name="connsiteY8" fmla="*/ 323274 h 518784"/>
                <a:gd name="connsiteX9" fmla="*/ 529092 w 715532"/>
                <a:gd name="connsiteY9" fmla="*/ 518784 h 518784"/>
                <a:gd name="connsiteX10" fmla="*/ 180461 w 715532"/>
                <a:gd name="connsiteY10" fmla="*/ 518784 h 518784"/>
                <a:gd name="connsiteX11" fmla="*/ 180461 w 715532"/>
                <a:gd name="connsiteY11" fmla="*/ 373475 h 518784"/>
                <a:gd name="connsiteX12" fmla="*/ 14790 w 715532"/>
                <a:gd name="connsiteY12" fmla="*/ 362974 h 518784"/>
                <a:gd name="connsiteX13" fmla="*/ 82365 w 715532"/>
                <a:gd name="connsiteY13" fmla="*/ 139247 h 518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15532" h="518784">
                  <a:moveTo>
                    <a:pt x="82408" y="139333"/>
                  </a:moveTo>
                  <a:cubicBezTo>
                    <a:pt x="142811" y="80979"/>
                    <a:pt x="196213" y="43542"/>
                    <a:pt x="301695" y="36754"/>
                  </a:cubicBezTo>
                  <a:lnTo>
                    <a:pt x="421861" y="39998"/>
                  </a:lnTo>
                  <a:cubicBezTo>
                    <a:pt x="471293" y="44182"/>
                    <a:pt x="502455" y="68002"/>
                    <a:pt x="521665" y="92462"/>
                  </a:cubicBezTo>
                  <a:lnTo>
                    <a:pt x="501175" y="50841"/>
                  </a:lnTo>
                  <a:lnTo>
                    <a:pt x="622109" y="0"/>
                  </a:lnTo>
                  <a:cubicBezTo>
                    <a:pt x="622109" y="0"/>
                    <a:pt x="671669" y="73636"/>
                    <a:pt x="700142" y="139290"/>
                  </a:cubicBezTo>
                  <a:cubicBezTo>
                    <a:pt x="735829" y="221635"/>
                    <a:pt x="703472" y="287075"/>
                    <a:pt x="663900" y="308803"/>
                  </a:cubicBezTo>
                  <a:cubicBezTo>
                    <a:pt x="627360" y="328866"/>
                    <a:pt x="546978" y="332538"/>
                    <a:pt x="526787" y="323274"/>
                  </a:cubicBezTo>
                  <a:lnTo>
                    <a:pt x="529092" y="518784"/>
                  </a:lnTo>
                  <a:lnTo>
                    <a:pt x="180461" y="518784"/>
                  </a:lnTo>
                  <a:lnTo>
                    <a:pt x="180461" y="373475"/>
                  </a:lnTo>
                  <a:cubicBezTo>
                    <a:pt x="145799" y="393794"/>
                    <a:pt x="57307" y="413516"/>
                    <a:pt x="14790" y="362974"/>
                  </a:cubicBezTo>
                  <a:cubicBezTo>
                    <a:pt x="-23202" y="317810"/>
                    <a:pt x="16541" y="202852"/>
                    <a:pt x="82365" y="139247"/>
                  </a:cubicBezTo>
                  <a:close/>
                </a:path>
              </a:pathLst>
            </a:custGeom>
            <a:solidFill>
              <a:schemeClr val="accent6"/>
            </a:solidFill>
            <a:ln w="4254" cap="flat">
              <a:noFill/>
              <a:prstDash val="solid"/>
              <a:miter/>
            </a:ln>
          </p:spPr>
          <p:txBody>
            <a:bodyPr rtlCol="0" anchor="ctr"/>
            <a:lstStyle/>
            <a:p>
              <a:endParaRPr lang="en-US"/>
            </a:p>
          </p:txBody>
        </p:sp>
        <p:sp>
          <p:nvSpPr>
            <p:cNvPr id="681" name="Freeform: Shape 680">
              <a:extLst>
                <a:ext uri="{FF2B5EF4-FFF2-40B4-BE49-F238E27FC236}">
                  <a16:creationId xmlns:a16="http://schemas.microsoft.com/office/drawing/2014/main" id="{DBDA2A47-4363-4114-892D-0E0DF1A789DB}"/>
                </a:ext>
              </a:extLst>
            </p:cNvPr>
            <p:cNvSpPr/>
            <p:nvPr/>
          </p:nvSpPr>
          <p:spPr>
            <a:xfrm>
              <a:off x="1139129" y="3065850"/>
              <a:ext cx="203193" cy="119141"/>
            </a:xfrm>
            <a:custGeom>
              <a:avLst/>
              <a:gdLst>
                <a:gd name="connsiteX0" fmla="*/ 45591 w 203193"/>
                <a:gd name="connsiteY0" fmla="*/ 0 h 119141"/>
                <a:gd name="connsiteX1" fmla="*/ 165757 w 203193"/>
                <a:gd name="connsiteY1" fmla="*/ 3244 h 119141"/>
                <a:gd name="connsiteX2" fmla="*/ 203194 w 203193"/>
                <a:gd name="connsiteY2" fmla="*/ 10971 h 119141"/>
                <a:gd name="connsiteX3" fmla="*/ 127850 w 203193"/>
                <a:gd name="connsiteY3" fmla="*/ 119142 h 119141"/>
                <a:gd name="connsiteX4" fmla="*/ 0 w 203193"/>
                <a:gd name="connsiteY4" fmla="*/ 5336 h 119141"/>
                <a:gd name="connsiteX5" fmla="*/ 45591 w 203193"/>
                <a:gd name="connsiteY5" fmla="*/ 0 h 119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3193" h="119141">
                  <a:moveTo>
                    <a:pt x="45591" y="0"/>
                  </a:moveTo>
                  <a:lnTo>
                    <a:pt x="165757" y="3244"/>
                  </a:lnTo>
                  <a:cubicBezTo>
                    <a:pt x="179630" y="4397"/>
                    <a:pt x="192052" y="7129"/>
                    <a:pt x="203194" y="10971"/>
                  </a:cubicBezTo>
                  <a:cubicBezTo>
                    <a:pt x="203194" y="10971"/>
                    <a:pt x="171989" y="119312"/>
                    <a:pt x="127850" y="119142"/>
                  </a:cubicBezTo>
                  <a:cubicBezTo>
                    <a:pt x="77991" y="118928"/>
                    <a:pt x="0" y="5336"/>
                    <a:pt x="0" y="5336"/>
                  </a:cubicBezTo>
                  <a:cubicBezTo>
                    <a:pt x="14087" y="2860"/>
                    <a:pt x="29198" y="1067"/>
                    <a:pt x="45591" y="0"/>
                  </a:cubicBezTo>
                  <a:close/>
                </a:path>
              </a:pathLst>
            </a:custGeom>
            <a:solidFill>
              <a:schemeClr val="bg1"/>
            </a:solidFill>
            <a:ln w="4254" cap="flat">
              <a:noFill/>
              <a:prstDash val="solid"/>
              <a:miter/>
            </a:ln>
          </p:spPr>
          <p:txBody>
            <a:bodyPr rtlCol="0" anchor="ctr"/>
            <a:lstStyle/>
            <a:p>
              <a:endParaRPr lang="en-US"/>
            </a:p>
          </p:txBody>
        </p:sp>
        <p:grpSp>
          <p:nvGrpSpPr>
            <p:cNvPr id="682" name="Graphic 373">
              <a:extLst>
                <a:ext uri="{FF2B5EF4-FFF2-40B4-BE49-F238E27FC236}">
                  <a16:creationId xmlns:a16="http://schemas.microsoft.com/office/drawing/2014/main" id="{5F935037-B0E5-41F0-B911-E1D8D2EC93CF}"/>
                </a:ext>
              </a:extLst>
            </p:cNvPr>
            <p:cNvGrpSpPr/>
            <p:nvPr/>
          </p:nvGrpSpPr>
          <p:grpSpPr>
            <a:xfrm>
              <a:off x="1576699" y="2864066"/>
              <a:ext cx="149793" cy="152842"/>
              <a:chOff x="1576699" y="2864066"/>
              <a:chExt cx="149793" cy="152842"/>
            </a:xfrm>
            <a:solidFill>
              <a:srgbClr val="FFB726"/>
            </a:solidFill>
          </p:grpSpPr>
          <p:sp>
            <p:nvSpPr>
              <p:cNvPr id="721" name="Freeform: Shape 720">
                <a:extLst>
                  <a:ext uri="{FF2B5EF4-FFF2-40B4-BE49-F238E27FC236}">
                    <a16:creationId xmlns:a16="http://schemas.microsoft.com/office/drawing/2014/main" id="{9FAA407E-DD89-41DF-BC14-94805AB01B99}"/>
                  </a:ext>
                </a:extLst>
              </p:cNvPr>
              <p:cNvSpPr/>
              <p:nvPr/>
            </p:nvSpPr>
            <p:spPr>
              <a:xfrm rot="16753201">
                <a:off x="1609780" y="2933155"/>
                <a:ext cx="83753" cy="83753"/>
              </a:xfrm>
              <a:custGeom>
                <a:avLst/>
                <a:gdLst>
                  <a:gd name="connsiteX0" fmla="*/ 83753 w 83753"/>
                  <a:gd name="connsiteY0" fmla="*/ 41877 h 83753"/>
                  <a:gd name="connsiteX1" fmla="*/ 41877 w 83753"/>
                  <a:gd name="connsiteY1" fmla="*/ 83753 h 83753"/>
                  <a:gd name="connsiteX2" fmla="*/ 0 w 83753"/>
                  <a:gd name="connsiteY2" fmla="*/ 41877 h 83753"/>
                  <a:gd name="connsiteX3" fmla="*/ 41877 w 83753"/>
                  <a:gd name="connsiteY3" fmla="*/ 0 h 83753"/>
                  <a:gd name="connsiteX4" fmla="*/ 83753 w 83753"/>
                  <a:gd name="connsiteY4" fmla="*/ 41877 h 837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753" h="83753">
                    <a:moveTo>
                      <a:pt x="83753" y="41877"/>
                    </a:moveTo>
                    <a:cubicBezTo>
                      <a:pt x="83753" y="65004"/>
                      <a:pt x="65005" y="83753"/>
                      <a:pt x="41877" y="83753"/>
                    </a:cubicBezTo>
                    <a:cubicBezTo>
                      <a:pt x="18749" y="83753"/>
                      <a:pt x="0" y="65004"/>
                      <a:pt x="0" y="41877"/>
                    </a:cubicBezTo>
                    <a:cubicBezTo>
                      <a:pt x="0" y="18749"/>
                      <a:pt x="18749" y="0"/>
                      <a:pt x="41877" y="0"/>
                    </a:cubicBezTo>
                    <a:cubicBezTo>
                      <a:pt x="65005" y="0"/>
                      <a:pt x="83753" y="18749"/>
                      <a:pt x="83753" y="41877"/>
                    </a:cubicBezTo>
                    <a:close/>
                  </a:path>
                </a:pathLst>
              </a:custGeom>
              <a:solidFill>
                <a:srgbClr val="D7B728"/>
              </a:solidFill>
              <a:ln w="4254" cap="flat">
                <a:noFill/>
                <a:prstDash val="solid"/>
                <a:miter/>
              </a:ln>
            </p:spPr>
            <p:txBody>
              <a:bodyPr rtlCol="0" anchor="ctr"/>
              <a:lstStyle/>
              <a:p>
                <a:endParaRPr lang="en-US"/>
              </a:p>
            </p:txBody>
          </p:sp>
          <p:grpSp>
            <p:nvGrpSpPr>
              <p:cNvPr id="722" name="Graphic 373">
                <a:extLst>
                  <a:ext uri="{FF2B5EF4-FFF2-40B4-BE49-F238E27FC236}">
                    <a16:creationId xmlns:a16="http://schemas.microsoft.com/office/drawing/2014/main" id="{7C59D702-6722-4AE8-9F43-5FA8C21B7A0A}"/>
                  </a:ext>
                </a:extLst>
              </p:cNvPr>
              <p:cNvGrpSpPr/>
              <p:nvPr/>
            </p:nvGrpSpPr>
            <p:grpSpPr>
              <a:xfrm>
                <a:off x="1576699" y="2864066"/>
                <a:ext cx="149793" cy="68428"/>
                <a:chOff x="1576699" y="2864066"/>
                <a:chExt cx="149793" cy="68428"/>
              </a:xfrm>
              <a:solidFill>
                <a:srgbClr val="FFB726"/>
              </a:solidFill>
            </p:grpSpPr>
            <p:sp>
              <p:nvSpPr>
                <p:cNvPr id="723" name="Freeform: Shape 722">
                  <a:extLst>
                    <a:ext uri="{FF2B5EF4-FFF2-40B4-BE49-F238E27FC236}">
                      <a16:creationId xmlns:a16="http://schemas.microsoft.com/office/drawing/2014/main" id="{CBF5E71D-F694-4564-960B-4EBC986E4243}"/>
                    </a:ext>
                  </a:extLst>
                </p:cNvPr>
                <p:cNvSpPr/>
                <p:nvPr/>
              </p:nvSpPr>
              <p:spPr>
                <a:xfrm>
                  <a:off x="1688370" y="2902334"/>
                  <a:ext cx="38122" cy="30160"/>
                </a:xfrm>
                <a:custGeom>
                  <a:avLst/>
                  <a:gdLst>
                    <a:gd name="connsiteX0" fmla="*/ 4889 w 38122"/>
                    <a:gd name="connsiteY0" fmla="*/ 30160 h 30160"/>
                    <a:gd name="connsiteX1" fmla="*/ 919 w 38122"/>
                    <a:gd name="connsiteY1" fmla="*/ 28111 h 30160"/>
                    <a:gd name="connsiteX2" fmla="*/ 2029 w 38122"/>
                    <a:gd name="connsiteY2" fmla="*/ 21281 h 30160"/>
                    <a:gd name="connsiteX3" fmla="*/ 30373 w 38122"/>
                    <a:gd name="connsiteY3" fmla="*/ 919 h 30160"/>
                    <a:gd name="connsiteX4" fmla="*/ 37203 w 38122"/>
                    <a:gd name="connsiteY4" fmla="*/ 2029 h 30160"/>
                    <a:gd name="connsiteX5" fmla="*/ 36094 w 38122"/>
                    <a:gd name="connsiteY5" fmla="*/ 8859 h 30160"/>
                    <a:gd name="connsiteX6" fmla="*/ 7749 w 38122"/>
                    <a:gd name="connsiteY6" fmla="*/ 29221 h 30160"/>
                    <a:gd name="connsiteX7" fmla="*/ 4889 w 38122"/>
                    <a:gd name="connsiteY7" fmla="*/ 30160 h 3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22" h="30160">
                      <a:moveTo>
                        <a:pt x="4889" y="30160"/>
                      </a:moveTo>
                      <a:cubicBezTo>
                        <a:pt x="3352" y="30160"/>
                        <a:pt x="1858" y="29434"/>
                        <a:pt x="919" y="28111"/>
                      </a:cubicBezTo>
                      <a:cubicBezTo>
                        <a:pt x="-661" y="25934"/>
                        <a:pt x="-148" y="22860"/>
                        <a:pt x="2029" y="21281"/>
                      </a:cubicBezTo>
                      <a:lnTo>
                        <a:pt x="30373" y="919"/>
                      </a:lnTo>
                      <a:cubicBezTo>
                        <a:pt x="32551" y="-661"/>
                        <a:pt x="35624" y="-148"/>
                        <a:pt x="37203" y="2029"/>
                      </a:cubicBezTo>
                      <a:cubicBezTo>
                        <a:pt x="38783" y="4206"/>
                        <a:pt x="38271" y="7279"/>
                        <a:pt x="36094" y="8859"/>
                      </a:cubicBezTo>
                      <a:lnTo>
                        <a:pt x="7749" y="29221"/>
                      </a:lnTo>
                      <a:cubicBezTo>
                        <a:pt x="6895" y="29861"/>
                        <a:pt x="5871" y="30160"/>
                        <a:pt x="4889" y="30160"/>
                      </a:cubicBezTo>
                      <a:close/>
                    </a:path>
                  </a:pathLst>
                </a:custGeom>
                <a:solidFill>
                  <a:srgbClr val="D7B728"/>
                </a:solidFill>
                <a:ln w="4254" cap="flat">
                  <a:noFill/>
                  <a:prstDash val="solid"/>
                  <a:miter/>
                </a:ln>
              </p:spPr>
              <p:txBody>
                <a:bodyPr rtlCol="0" anchor="ctr"/>
                <a:lstStyle/>
                <a:p>
                  <a:endParaRPr lang="en-US"/>
                </a:p>
              </p:txBody>
            </p:sp>
            <p:sp>
              <p:nvSpPr>
                <p:cNvPr id="724" name="Freeform: Shape 723">
                  <a:extLst>
                    <a:ext uri="{FF2B5EF4-FFF2-40B4-BE49-F238E27FC236}">
                      <a16:creationId xmlns:a16="http://schemas.microsoft.com/office/drawing/2014/main" id="{B77B0E38-7AC5-4889-BBCC-418A8B96F9DA}"/>
                    </a:ext>
                  </a:extLst>
                </p:cNvPr>
                <p:cNvSpPr/>
                <p:nvPr/>
              </p:nvSpPr>
              <p:spPr>
                <a:xfrm>
                  <a:off x="1576699" y="2902334"/>
                  <a:ext cx="38122" cy="30160"/>
                </a:xfrm>
                <a:custGeom>
                  <a:avLst/>
                  <a:gdLst>
                    <a:gd name="connsiteX0" fmla="*/ 33234 w 38122"/>
                    <a:gd name="connsiteY0" fmla="*/ 30160 h 30160"/>
                    <a:gd name="connsiteX1" fmla="*/ 30373 w 38122"/>
                    <a:gd name="connsiteY1" fmla="*/ 29221 h 30160"/>
                    <a:gd name="connsiteX2" fmla="*/ 2029 w 38122"/>
                    <a:gd name="connsiteY2" fmla="*/ 8859 h 30160"/>
                    <a:gd name="connsiteX3" fmla="*/ 919 w 38122"/>
                    <a:gd name="connsiteY3" fmla="*/ 2029 h 30160"/>
                    <a:gd name="connsiteX4" fmla="*/ 7749 w 38122"/>
                    <a:gd name="connsiteY4" fmla="*/ 919 h 30160"/>
                    <a:gd name="connsiteX5" fmla="*/ 36094 w 38122"/>
                    <a:gd name="connsiteY5" fmla="*/ 21281 h 30160"/>
                    <a:gd name="connsiteX6" fmla="*/ 37203 w 38122"/>
                    <a:gd name="connsiteY6" fmla="*/ 28111 h 30160"/>
                    <a:gd name="connsiteX7" fmla="*/ 33234 w 38122"/>
                    <a:gd name="connsiteY7" fmla="*/ 30160 h 3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22" h="30160">
                      <a:moveTo>
                        <a:pt x="33234" y="30160"/>
                      </a:moveTo>
                      <a:cubicBezTo>
                        <a:pt x="32252" y="30160"/>
                        <a:pt x="31227" y="29861"/>
                        <a:pt x="30373" y="29221"/>
                      </a:cubicBezTo>
                      <a:lnTo>
                        <a:pt x="2029" y="8859"/>
                      </a:lnTo>
                      <a:cubicBezTo>
                        <a:pt x="-148" y="7279"/>
                        <a:pt x="-661" y="4206"/>
                        <a:pt x="919" y="2029"/>
                      </a:cubicBezTo>
                      <a:cubicBezTo>
                        <a:pt x="2498" y="-148"/>
                        <a:pt x="5572" y="-661"/>
                        <a:pt x="7749" y="919"/>
                      </a:cubicBezTo>
                      <a:lnTo>
                        <a:pt x="36094" y="21281"/>
                      </a:lnTo>
                      <a:cubicBezTo>
                        <a:pt x="38271" y="22860"/>
                        <a:pt x="38783" y="25934"/>
                        <a:pt x="37203" y="28111"/>
                      </a:cubicBezTo>
                      <a:cubicBezTo>
                        <a:pt x="36264" y="29434"/>
                        <a:pt x="34728" y="30160"/>
                        <a:pt x="33234" y="30160"/>
                      </a:cubicBezTo>
                      <a:close/>
                    </a:path>
                  </a:pathLst>
                </a:custGeom>
                <a:solidFill>
                  <a:srgbClr val="D7B728"/>
                </a:solidFill>
                <a:ln w="4254" cap="flat">
                  <a:noFill/>
                  <a:prstDash val="solid"/>
                  <a:miter/>
                </a:ln>
              </p:spPr>
              <p:txBody>
                <a:bodyPr rtlCol="0" anchor="ctr"/>
                <a:lstStyle/>
                <a:p>
                  <a:endParaRPr lang="en-US"/>
                </a:p>
              </p:txBody>
            </p:sp>
            <p:sp>
              <p:nvSpPr>
                <p:cNvPr id="725" name="Freeform: Shape 724">
                  <a:extLst>
                    <a:ext uri="{FF2B5EF4-FFF2-40B4-BE49-F238E27FC236}">
                      <a16:creationId xmlns:a16="http://schemas.microsoft.com/office/drawing/2014/main" id="{17796FFE-CDCB-40D4-8DAC-8AE77640694D}"/>
                    </a:ext>
                  </a:extLst>
                </p:cNvPr>
                <p:cNvSpPr/>
                <p:nvPr/>
              </p:nvSpPr>
              <p:spPr>
                <a:xfrm>
                  <a:off x="1646687" y="2864066"/>
                  <a:ext cx="9818" cy="45249"/>
                </a:xfrm>
                <a:custGeom>
                  <a:avLst/>
                  <a:gdLst>
                    <a:gd name="connsiteX0" fmla="*/ 4909 w 9818"/>
                    <a:gd name="connsiteY0" fmla="*/ 45206 h 45249"/>
                    <a:gd name="connsiteX1" fmla="*/ 0 w 9818"/>
                    <a:gd name="connsiteY1" fmla="*/ 40297 h 45249"/>
                    <a:gd name="connsiteX2" fmla="*/ 0 w 9818"/>
                    <a:gd name="connsiteY2" fmla="*/ 4909 h 45249"/>
                    <a:gd name="connsiteX3" fmla="*/ 4909 w 9818"/>
                    <a:gd name="connsiteY3" fmla="*/ 0 h 45249"/>
                    <a:gd name="connsiteX4" fmla="*/ 9818 w 9818"/>
                    <a:gd name="connsiteY4" fmla="*/ 4909 h 45249"/>
                    <a:gd name="connsiteX5" fmla="*/ 9818 w 9818"/>
                    <a:gd name="connsiteY5" fmla="*/ 40340 h 45249"/>
                    <a:gd name="connsiteX6" fmla="*/ 4909 w 9818"/>
                    <a:gd name="connsiteY6" fmla="*/ 45249 h 45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18" h="45249">
                      <a:moveTo>
                        <a:pt x="4909" y="45206"/>
                      </a:moveTo>
                      <a:cubicBezTo>
                        <a:pt x="2220" y="45206"/>
                        <a:pt x="0" y="43029"/>
                        <a:pt x="0" y="40297"/>
                      </a:cubicBezTo>
                      <a:lnTo>
                        <a:pt x="0" y="4909"/>
                      </a:lnTo>
                      <a:cubicBezTo>
                        <a:pt x="0" y="2220"/>
                        <a:pt x="2177" y="0"/>
                        <a:pt x="4909" y="0"/>
                      </a:cubicBezTo>
                      <a:cubicBezTo>
                        <a:pt x="7641" y="0"/>
                        <a:pt x="9818" y="2177"/>
                        <a:pt x="9818" y="4909"/>
                      </a:cubicBezTo>
                      <a:lnTo>
                        <a:pt x="9818" y="40340"/>
                      </a:lnTo>
                      <a:cubicBezTo>
                        <a:pt x="9818" y="43029"/>
                        <a:pt x="7641" y="45249"/>
                        <a:pt x="4909" y="45249"/>
                      </a:cubicBezTo>
                      <a:close/>
                    </a:path>
                  </a:pathLst>
                </a:custGeom>
                <a:solidFill>
                  <a:srgbClr val="D7B728"/>
                </a:solidFill>
                <a:ln w="4254" cap="flat">
                  <a:noFill/>
                  <a:prstDash val="solid"/>
                  <a:miter/>
                </a:ln>
              </p:spPr>
              <p:txBody>
                <a:bodyPr rtlCol="0" anchor="ctr"/>
                <a:lstStyle/>
                <a:p>
                  <a:endParaRPr lang="en-US"/>
                </a:p>
              </p:txBody>
            </p:sp>
          </p:grpSp>
        </p:grpSp>
        <p:grpSp>
          <p:nvGrpSpPr>
            <p:cNvPr id="683" name="Graphic 373">
              <a:extLst>
                <a:ext uri="{FF2B5EF4-FFF2-40B4-BE49-F238E27FC236}">
                  <a16:creationId xmlns:a16="http://schemas.microsoft.com/office/drawing/2014/main" id="{48DB5D1D-05E3-406F-8F7A-3F118BC635B5}"/>
                </a:ext>
              </a:extLst>
            </p:cNvPr>
            <p:cNvGrpSpPr/>
            <p:nvPr/>
          </p:nvGrpSpPr>
          <p:grpSpPr>
            <a:xfrm>
              <a:off x="1159838" y="2853716"/>
              <a:ext cx="168362" cy="226272"/>
              <a:chOff x="1159838" y="2853716"/>
              <a:chExt cx="168362" cy="226272"/>
            </a:xfrm>
          </p:grpSpPr>
          <p:sp>
            <p:nvSpPr>
              <p:cNvPr id="718" name="Freeform: Shape 717">
                <a:extLst>
                  <a:ext uri="{FF2B5EF4-FFF2-40B4-BE49-F238E27FC236}">
                    <a16:creationId xmlns:a16="http://schemas.microsoft.com/office/drawing/2014/main" id="{78CD6AE1-FF42-48E8-87F8-0E83EE4259E0}"/>
                  </a:ext>
                </a:extLst>
              </p:cNvPr>
              <p:cNvSpPr/>
              <p:nvPr/>
            </p:nvSpPr>
            <p:spPr>
              <a:xfrm rot="18900000">
                <a:off x="1159838" y="2853716"/>
                <a:ext cx="162298" cy="162298"/>
              </a:xfrm>
              <a:custGeom>
                <a:avLst/>
                <a:gdLst>
                  <a:gd name="connsiteX0" fmla="*/ 162299 w 162298"/>
                  <a:gd name="connsiteY0" fmla="*/ 81149 h 162298"/>
                  <a:gd name="connsiteX1" fmla="*/ 81149 w 162298"/>
                  <a:gd name="connsiteY1" fmla="*/ 162299 h 162298"/>
                  <a:gd name="connsiteX2" fmla="*/ 0 w 162298"/>
                  <a:gd name="connsiteY2" fmla="*/ 81149 h 162298"/>
                  <a:gd name="connsiteX3" fmla="*/ 81149 w 162298"/>
                  <a:gd name="connsiteY3" fmla="*/ 0 h 162298"/>
                  <a:gd name="connsiteX4" fmla="*/ 162299 w 162298"/>
                  <a:gd name="connsiteY4" fmla="*/ 81149 h 1622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298" h="162298">
                    <a:moveTo>
                      <a:pt x="162299" y="81149"/>
                    </a:moveTo>
                    <a:cubicBezTo>
                      <a:pt x="162299" y="125967"/>
                      <a:pt x="125967" y="162299"/>
                      <a:pt x="81149" y="162299"/>
                    </a:cubicBezTo>
                    <a:cubicBezTo>
                      <a:pt x="36332" y="162299"/>
                      <a:pt x="0" y="125967"/>
                      <a:pt x="0" y="81149"/>
                    </a:cubicBezTo>
                    <a:cubicBezTo>
                      <a:pt x="0" y="36332"/>
                      <a:pt x="36332" y="0"/>
                      <a:pt x="81149" y="0"/>
                    </a:cubicBezTo>
                    <a:cubicBezTo>
                      <a:pt x="125967" y="0"/>
                      <a:pt x="162299" y="36332"/>
                      <a:pt x="162299" y="81149"/>
                    </a:cubicBezTo>
                    <a:close/>
                  </a:path>
                </a:pathLst>
              </a:custGeom>
              <a:solidFill>
                <a:schemeClr val="accent2"/>
              </a:solidFill>
              <a:ln w="4254" cap="flat">
                <a:noFill/>
                <a:prstDash val="solid"/>
                <a:miter/>
              </a:ln>
            </p:spPr>
            <p:txBody>
              <a:bodyPr rtlCol="0" anchor="ctr"/>
              <a:lstStyle/>
              <a:p>
                <a:endParaRPr lang="en-US"/>
              </a:p>
            </p:txBody>
          </p:sp>
          <p:sp>
            <p:nvSpPr>
              <p:cNvPr id="719" name="Freeform: Shape 718">
                <a:extLst>
                  <a:ext uri="{FF2B5EF4-FFF2-40B4-BE49-F238E27FC236}">
                    <a16:creationId xmlns:a16="http://schemas.microsoft.com/office/drawing/2014/main" id="{C1B168C7-5D85-42A1-9C7E-EC92AC662316}"/>
                  </a:ext>
                </a:extLst>
              </p:cNvPr>
              <p:cNvSpPr/>
              <p:nvPr/>
            </p:nvSpPr>
            <p:spPr>
              <a:xfrm>
                <a:off x="1196117" y="2901853"/>
                <a:ext cx="132083" cy="178135"/>
              </a:xfrm>
              <a:custGeom>
                <a:avLst/>
                <a:gdLst>
                  <a:gd name="connsiteX0" fmla="*/ 129515 w 132083"/>
                  <a:gd name="connsiteY0" fmla="*/ 41057 h 178135"/>
                  <a:gd name="connsiteX1" fmla="*/ 125972 w 132083"/>
                  <a:gd name="connsiteY1" fmla="*/ 9895 h 178135"/>
                  <a:gd name="connsiteX2" fmla="*/ 117775 w 132083"/>
                  <a:gd name="connsiteY2" fmla="*/ 5882 h 178135"/>
                  <a:gd name="connsiteX3" fmla="*/ 115470 w 132083"/>
                  <a:gd name="connsiteY3" fmla="*/ 7120 h 178135"/>
                  <a:gd name="connsiteX4" fmla="*/ 92206 w 132083"/>
                  <a:gd name="connsiteY4" fmla="*/ 7120 h 178135"/>
                  <a:gd name="connsiteX5" fmla="*/ 64544 w 132083"/>
                  <a:gd name="connsiteY5" fmla="*/ 34 h 178135"/>
                  <a:gd name="connsiteX6" fmla="*/ 46530 w 132083"/>
                  <a:gd name="connsiteY6" fmla="*/ 18006 h 178135"/>
                  <a:gd name="connsiteX7" fmla="*/ 28387 w 132083"/>
                  <a:gd name="connsiteY7" fmla="*/ 64749 h 178135"/>
                  <a:gd name="connsiteX8" fmla="*/ 1665 w 132083"/>
                  <a:gd name="connsiteY8" fmla="*/ 101716 h 178135"/>
                  <a:gd name="connsiteX9" fmla="*/ 0 w 132083"/>
                  <a:gd name="connsiteY9" fmla="*/ 151917 h 178135"/>
                  <a:gd name="connsiteX10" fmla="*/ 61983 w 132083"/>
                  <a:gd name="connsiteY10" fmla="*/ 177914 h 178135"/>
                  <a:gd name="connsiteX11" fmla="*/ 92632 w 132083"/>
                  <a:gd name="connsiteY11" fmla="*/ 156570 h 178135"/>
                  <a:gd name="connsiteX12" fmla="*/ 92334 w 132083"/>
                  <a:gd name="connsiteY12" fmla="*/ 132622 h 178135"/>
                  <a:gd name="connsiteX13" fmla="*/ 129472 w 132083"/>
                  <a:gd name="connsiteY13" fmla="*/ 41057 h 178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2083" h="178135">
                    <a:moveTo>
                      <a:pt x="129515" y="41057"/>
                    </a:moveTo>
                    <a:cubicBezTo>
                      <a:pt x="129130" y="27866"/>
                      <a:pt x="127892" y="18134"/>
                      <a:pt x="125972" y="9895"/>
                    </a:cubicBezTo>
                    <a:cubicBezTo>
                      <a:pt x="125118" y="6266"/>
                      <a:pt x="121148" y="4303"/>
                      <a:pt x="117775" y="5882"/>
                    </a:cubicBezTo>
                    <a:cubicBezTo>
                      <a:pt x="117050" y="6352"/>
                      <a:pt x="116281" y="6779"/>
                      <a:pt x="115470" y="7120"/>
                    </a:cubicBezTo>
                    <a:cubicBezTo>
                      <a:pt x="110092" y="9255"/>
                      <a:pt x="102280" y="10492"/>
                      <a:pt x="92206" y="7120"/>
                    </a:cubicBezTo>
                    <a:cubicBezTo>
                      <a:pt x="81832" y="3662"/>
                      <a:pt x="72484" y="504"/>
                      <a:pt x="64544" y="34"/>
                    </a:cubicBezTo>
                    <a:cubicBezTo>
                      <a:pt x="54427" y="-606"/>
                      <a:pt x="46060" y="7889"/>
                      <a:pt x="46530" y="18006"/>
                    </a:cubicBezTo>
                    <a:cubicBezTo>
                      <a:pt x="47127" y="31281"/>
                      <a:pt x="45633" y="55485"/>
                      <a:pt x="28387" y="64749"/>
                    </a:cubicBezTo>
                    <a:cubicBezTo>
                      <a:pt x="28387" y="64749"/>
                      <a:pt x="35217" y="102442"/>
                      <a:pt x="1665" y="101716"/>
                    </a:cubicBezTo>
                    <a:lnTo>
                      <a:pt x="0" y="151917"/>
                    </a:lnTo>
                    <a:cubicBezTo>
                      <a:pt x="0" y="151917"/>
                      <a:pt x="25015" y="180945"/>
                      <a:pt x="61983" y="177914"/>
                    </a:cubicBezTo>
                    <a:cubicBezTo>
                      <a:pt x="98993" y="174883"/>
                      <a:pt x="92632" y="156570"/>
                      <a:pt x="92632" y="156570"/>
                    </a:cubicBezTo>
                    <a:lnTo>
                      <a:pt x="92334" y="132622"/>
                    </a:lnTo>
                    <a:cubicBezTo>
                      <a:pt x="144199" y="134927"/>
                      <a:pt x="131009" y="93862"/>
                      <a:pt x="129472" y="41057"/>
                    </a:cubicBezTo>
                    <a:close/>
                  </a:path>
                </a:pathLst>
              </a:custGeom>
              <a:solidFill>
                <a:srgbClr val="FFBEBB"/>
              </a:solidFill>
              <a:ln w="4254" cap="flat">
                <a:noFill/>
                <a:prstDash val="solid"/>
                <a:miter/>
              </a:ln>
            </p:spPr>
            <p:txBody>
              <a:bodyPr rtlCol="0" anchor="ctr"/>
              <a:lstStyle/>
              <a:p>
                <a:endParaRPr lang="en-US"/>
              </a:p>
            </p:txBody>
          </p:sp>
          <p:sp>
            <p:nvSpPr>
              <p:cNvPr id="720" name="Freeform: Shape 719">
                <a:extLst>
                  <a:ext uri="{FF2B5EF4-FFF2-40B4-BE49-F238E27FC236}">
                    <a16:creationId xmlns:a16="http://schemas.microsoft.com/office/drawing/2014/main" id="{ED1BAB70-0C5F-49B4-9B0A-9C959028ED1E}"/>
                  </a:ext>
                </a:extLst>
              </p:cNvPr>
              <p:cNvSpPr/>
              <p:nvPr/>
            </p:nvSpPr>
            <p:spPr>
              <a:xfrm>
                <a:off x="1244805" y="3029193"/>
                <a:ext cx="44397" cy="43956"/>
              </a:xfrm>
              <a:custGeom>
                <a:avLst/>
                <a:gdLst>
                  <a:gd name="connsiteX0" fmla="*/ 574 w 44397"/>
                  <a:gd name="connsiteY0" fmla="*/ 3489 h 43956"/>
                  <a:gd name="connsiteX1" fmla="*/ 37456 w 44397"/>
                  <a:gd name="connsiteY1" fmla="*/ 43957 h 43956"/>
                  <a:gd name="connsiteX2" fmla="*/ 43987 w 44397"/>
                  <a:gd name="connsiteY2" fmla="*/ 29315 h 43956"/>
                  <a:gd name="connsiteX3" fmla="*/ 43689 w 44397"/>
                  <a:gd name="connsiteY3" fmla="*/ 5367 h 43956"/>
                  <a:gd name="connsiteX4" fmla="*/ 2794 w 44397"/>
                  <a:gd name="connsiteY4" fmla="*/ 116 h 43956"/>
                  <a:gd name="connsiteX5" fmla="*/ 574 w 44397"/>
                  <a:gd name="connsiteY5" fmla="*/ 3531 h 4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397" h="43956">
                    <a:moveTo>
                      <a:pt x="574" y="3489"/>
                    </a:moveTo>
                    <a:lnTo>
                      <a:pt x="37456" y="43957"/>
                    </a:lnTo>
                    <a:cubicBezTo>
                      <a:pt x="46848" y="37596"/>
                      <a:pt x="43987" y="29315"/>
                      <a:pt x="43987" y="29315"/>
                    </a:cubicBezTo>
                    <a:lnTo>
                      <a:pt x="43689" y="5367"/>
                    </a:lnTo>
                    <a:cubicBezTo>
                      <a:pt x="43689" y="5367"/>
                      <a:pt x="19442" y="5666"/>
                      <a:pt x="2794" y="116"/>
                    </a:cubicBezTo>
                    <a:cubicBezTo>
                      <a:pt x="745" y="-567"/>
                      <a:pt x="-920" y="1909"/>
                      <a:pt x="574" y="3531"/>
                    </a:cubicBezTo>
                    <a:close/>
                  </a:path>
                </a:pathLst>
              </a:custGeom>
              <a:solidFill>
                <a:srgbClr val="F47C73"/>
              </a:solidFill>
              <a:ln w="4254" cap="flat">
                <a:noFill/>
                <a:prstDash val="solid"/>
                <a:miter/>
              </a:ln>
            </p:spPr>
            <p:txBody>
              <a:bodyPr rtlCol="0" anchor="ctr"/>
              <a:lstStyle/>
              <a:p>
                <a:endParaRPr lang="en-US"/>
              </a:p>
            </p:txBody>
          </p:sp>
        </p:grpSp>
        <p:sp>
          <p:nvSpPr>
            <p:cNvPr id="684" name="Freeform: Shape 683">
              <a:extLst>
                <a:ext uri="{FF2B5EF4-FFF2-40B4-BE49-F238E27FC236}">
                  <a16:creationId xmlns:a16="http://schemas.microsoft.com/office/drawing/2014/main" id="{43D60D29-5B77-4F25-BA1F-8940E4CAA8F2}"/>
                </a:ext>
              </a:extLst>
            </p:cNvPr>
            <p:cNvSpPr/>
            <p:nvPr/>
          </p:nvSpPr>
          <p:spPr>
            <a:xfrm>
              <a:off x="1272585" y="2949093"/>
              <a:ext cx="5484" cy="10507"/>
            </a:xfrm>
            <a:custGeom>
              <a:avLst/>
              <a:gdLst>
                <a:gd name="connsiteX0" fmla="*/ 5450 w 5484"/>
                <a:gd name="connsiteY0" fmla="*/ 6282 h 10507"/>
                <a:gd name="connsiteX1" fmla="*/ 5322 w 5484"/>
                <a:gd name="connsiteY1" fmla="*/ 2525 h 10507"/>
                <a:gd name="connsiteX2" fmla="*/ 4767 w 5484"/>
                <a:gd name="connsiteY2" fmla="*/ 946 h 10507"/>
                <a:gd name="connsiteX3" fmla="*/ 413 w 5484"/>
                <a:gd name="connsiteY3" fmla="*/ 1458 h 10507"/>
                <a:gd name="connsiteX4" fmla="*/ 71 w 5484"/>
                <a:gd name="connsiteY4" fmla="*/ 4702 h 10507"/>
                <a:gd name="connsiteX5" fmla="*/ 882 w 5484"/>
                <a:gd name="connsiteY5" fmla="*/ 9569 h 10507"/>
                <a:gd name="connsiteX6" fmla="*/ 2718 w 5484"/>
                <a:gd name="connsiteY6" fmla="*/ 10508 h 10507"/>
                <a:gd name="connsiteX7" fmla="*/ 5322 w 5484"/>
                <a:gd name="connsiteY7" fmla="*/ 7691 h 10507"/>
                <a:gd name="connsiteX8" fmla="*/ 5450 w 5484"/>
                <a:gd name="connsiteY8" fmla="*/ 6282 h 10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84" h="10507">
                  <a:moveTo>
                    <a:pt x="5450" y="6282"/>
                  </a:moveTo>
                  <a:cubicBezTo>
                    <a:pt x="5535" y="5044"/>
                    <a:pt x="5450" y="3721"/>
                    <a:pt x="5322" y="2525"/>
                  </a:cubicBezTo>
                  <a:cubicBezTo>
                    <a:pt x="5236" y="1970"/>
                    <a:pt x="5151" y="1415"/>
                    <a:pt x="4767" y="946"/>
                  </a:cubicBezTo>
                  <a:cubicBezTo>
                    <a:pt x="3700" y="-505"/>
                    <a:pt x="882" y="-249"/>
                    <a:pt x="413" y="1458"/>
                  </a:cubicBezTo>
                  <a:cubicBezTo>
                    <a:pt x="114" y="2525"/>
                    <a:pt x="28" y="3635"/>
                    <a:pt x="71" y="4702"/>
                  </a:cubicBezTo>
                  <a:cubicBezTo>
                    <a:pt x="71" y="6410"/>
                    <a:pt x="-356" y="8075"/>
                    <a:pt x="882" y="9569"/>
                  </a:cubicBezTo>
                  <a:cubicBezTo>
                    <a:pt x="1309" y="10081"/>
                    <a:pt x="1992" y="10508"/>
                    <a:pt x="2718" y="10508"/>
                  </a:cubicBezTo>
                  <a:cubicBezTo>
                    <a:pt x="4425" y="10508"/>
                    <a:pt x="5108" y="8929"/>
                    <a:pt x="5322" y="7691"/>
                  </a:cubicBezTo>
                  <a:cubicBezTo>
                    <a:pt x="5407" y="7221"/>
                    <a:pt x="5450" y="6794"/>
                    <a:pt x="5450" y="6282"/>
                  </a:cubicBezTo>
                  <a:close/>
                </a:path>
              </a:pathLst>
            </a:custGeom>
            <a:solidFill>
              <a:srgbClr val="1D2333"/>
            </a:solidFill>
            <a:ln w="4254" cap="flat">
              <a:noFill/>
              <a:prstDash val="solid"/>
              <a:miter/>
            </a:ln>
          </p:spPr>
          <p:txBody>
            <a:bodyPr rtlCol="0" anchor="ctr"/>
            <a:lstStyle/>
            <a:p>
              <a:endParaRPr lang="en-US"/>
            </a:p>
          </p:txBody>
        </p:sp>
        <p:sp>
          <p:nvSpPr>
            <p:cNvPr id="685" name="Freeform: Shape 684">
              <a:extLst>
                <a:ext uri="{FF2B5EF4-FFF2-40B4-BE49-F238E27FC236}">
                  <a16:creationId xmlns:a16="http://schemas.microsoft.com/office/drawing/2014/main" id="{56893BF0-BCFB-4A8A-A968-9520A04B8D68}"/>
                </a:ext>
              </a:extLst>
            </p:cNvPr>
            <p:cNvSpPr/>
            <p:nvPr/>
          </p:nvSpPr>
          <p:spPr>
            <a:xfrm>
              <a:off x="1314291" y="2949093"/>
              <a:ext cx="5484" cy="10507"/>
            </a:xfrm>
            <a:custGeom>
              <a:avLst/>
              <a:gdLst>
                <a:gd name="connsiteX0" fmla="*/ 5450 w 5484"/>
                <a:gd name="connsiteY0" fmla="*/ 6282 h 10507"/>
                <a:gd name="connsiteX1" fmla="*/ 5322 w 5484"/>
                <a:gd name="connsiteY1" fmla="*/ 2525 h 10507"/>
                <a:gd name="connsiteX2" fmla="*/ 4767 w 5484"/>
                <a:gd name="connsiteY2" fmla="*/ 946 h 10507"/>
                <a:gd name="connsiteX3" fmla="*/ 413 w 5484"/>
                <a:gd name="connsiteY3" fmla="*/ 1458 h 10507"/>
                <a:gd name="connsiteX4" fmla="*/ 71 w 5484"/>
                <a:gd name="connsiteY4" fmla="*/ 4702 h 10507"/>
                <a:gd name="connsiteX5" fmla="*/ 882 w 5484"/>
                <a:gd name="connsiteY5" fmla="*/ 9569 h 10507"/>
                <a:gd name="connsiteX6" fmla="*/ 2718 w 5484"/>
                <a:gd name="connsiteY6" fmla="*/ 10508 h 10507"/>
                <a:gd name="connsiteX7" fmla="*/ 5322 w 5484"/>
                <a:gd name="connsiteY7" fmla="*/ 7691 h 10507"/>
                <a:gd name="connsiteX8" fmla="*/ 5450 w 5484"/>
                <a:gd name="connsiteY8" fmla="*/ 6282 h 10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84" h="10507">
                  <a:moveTo>
                    <a:pt x="5450" y="6282"/>
                  </a:moveTo>
                  <a:cubicBezTo>
                    <a:pt x="5535" y="5044"/>
                    <a:pt x="5450" y="3721"/>
                    <a:pt x="5322" y="2525"/>
                  </a:cubicBezTo>
                  <a:cubicBezTo>
                    <a:pt x="5236" y="1970"/>
                    <a:pt x="5108" y="1415"/>
                    <a:pt x="4767" y="946"/>
                  </a:cubicBezTo>
                  <a:cubicBezTo>
                    <a:pt x="3700" y="-505"/>
                    <a:pt x="882" y="-249"/>
                    <a:pt x="413" y="1458"/>
                  </a:cubicBezTo>
                  <a:cubicBezTo>
                    <a:pt x="114" y="2525"/>
                    <a:pt x="28" y="3635"/>
                    <a:pt x="71" y="4702"/>
                  </a:cubicBezTo>
                  <a:cubicBezTo>
                    <a:pt x="71" y="6410"/>
                    <a:pt x="-356" y="8075"/>
                    <a:pt x="882" y="9569"/>
                  </a:cubicBezTo>
                  <a:cubicBezTo>
                    <a:pt x="1309" y="10081"/>
                    <a:pt x="1992" y="10508"/>
                    <a:pt x="2718" y="10508"/>
                  </a:cubicBezTo>
                  <a:cubicBezTo>
                    <a:pt x="4425" y="10508"/>
                    <a:pt x="5108" y="8929"/>
                    <a:pt x="5322" y="7691"/>
                  </a:cubicBezTo>
                  <a:cubicBezTo>
                    <a:pt x="5407" y="7221"/>
                    <a:pt x="5450" y="6794"/>
                    <a:pt x="5450" y="6282"/>
                  </a:cubicBezTo>
                  <a:close/>
                </a:path>
              </a:pathLst>
            </a:custGeom>
            <a:solidFill>
              <a:srgbClr val="1D2333"/>
            </a:solidFill>
            <a:ln w="4254" cap="flat">
              <a:noFill/>
              <a:prstDash val="solid"/>
              <a:miter/>
            </a:ln>
          </p:spPr>
          <p:txBody>
            <a:bodyPr rtlCol="0" anchor="ctr"/>
            <a:lstStyle/>
            <a:p>
              <a:endParaRPr lang="en-US"/>
            </a:p>
          </p:txBody>
        </p:sp>
        <p:sp>
          <p:nvSpPr>
            <p:cNvPr id="686" name="Freeform: Shape 685">
              <a:extLst>
                <a:ext uri="{FF2B5EF4-FFF2-40B4-BE49-F238E27FC236}">
                  <a16:creationId xmlns:a16="http://schemas.microsoft.com/office/drawing/2014/main" id="{7530A3E0-FAF1-40B6-A555-F58A9C8CD6E0}"/>
                </a:ext>
              </a:extLst>
            </p:cNvPr>
            <p:cNvSpPr/>
            <p:nvPr/>
          </p:nvSpPr>
          <p:spPr>
            <a:xfrm>
              <a:off x="1251778" y="2967536"/>
              <a:ext cx="22889" cy="22889"/>
            </a:xfrm>
            <a:custGeom>
              <a:avLst/>
              <a:gdLst>
                <a:gd name="connsiteX0" fmla="*/ 11103 w 22889"/>
                <a:gd name="connsiteY0" fmla="*/ 22885 h 22889"/>
                <a:gd name="connsiteX1" fmla="*/ 22885 w 22889"/>
                <a:gd name="connsiteY1" fmla="*/ 11786 h 22889"/>
                <a:gd name="connsiteX2" fmla="*/ 11786 w 22889"/>
                <a:gd name="connsiteY2" fmla="*/ 4 h 22889"/>
                <a:gd name="connsiteX3" fmla="*/ 4 w 22889"/>
                <a:gd name="connsiteY3" fmla="*/ 11103 h 22889"/>
                <a:gd name="connsiteX4" fmla="*/ 11103 w 22889"/>
                <a:gd name="connsiteY4" fmla="*/ 22885 h 228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9" h="22889">
                  <a:moveTo>
                    <a:pt x="11103" y="22885"/>
                  </a:moveTo>
                  <a:cubicBezTo>
                    <a:pt x="17421" y="23056"/>
                    <a:pt x="22714" y="18104"/>
                    <a:pt x="22885" y="11786"/>
                  </a:cubicBezTo>
                  <a:cubicBezTo>
                    <a:pt x="23056" y="5468"/>
                    <a:pt x="18104" y="175"/>
                    <a:pt x="11786" y="4"/>
                  </a:cubicBezTo>
                  <a:cubicBezTo>
                    <a:pt x="5468" y="-166"/>
                    <a:pt x="175" y="4785"/>
                    <a:pt x="4" y="11103"/>
                  </a:cubicBezTo>
                  <a:cubicBezTo>
                    <a:pt x="-166" y="17421"/>
                    <a:pt x="4785" y="22714"/>
                    <a:pt x="11103" y="22885"/>
                  </a:cubicBezTo>
                  <a:close/>
                </a:path>
              </a:pathLst>
            </a:custGeom>
            <a:solidFill>
              <a:srgbClr val="F47C73"/>
            </a:solidFill>
            <a:ln w="4254" cap="flat">
              <a:noFill/>
              <a:prstDash val="solid"/>
              <a:miter/>
            </a:ln>
          </p:spPr>
          <p:txBody>
            <a:bodyPr rtlCol="0" anchor="ctr"/>
            <a:lstStyle/>
            <a:p>
              <a:endParaRPr lang="en-US"/>
            </a:p>
          </p:txBody>
        </p:sp>
        <p:sp>
          <p:nvSpPr>
            <p:cNvPr id="687" name="Freeform: Shape 686">
              <a:extLst>
                <a:ext uri="{FF2B5EF4-FFF2-40B4-BE49-F238E27FC236}">
                  <a16:creationId xmlns:a16="http://schemas.microsoft.com/office/drawing/2014/main" id="{82C9120E-53DB-44F2-A04C-7479E4087ACE}"/>
                </a:ext>
              </a:extLst>
            </p:cNvPr>
            <p:cNvSpPr/>
            <p:nvPr/>
          </p:nvSpPr>
          <p:spPr>
            <a:xfrm>
              <a:off x="1319522" y="2968181"/>
              <a:ext cx="8713" cy="21898"/>
            </a:xfrm>
            <a:custGeom>
              <a:avLst/>
              <a:gdLst>
                <a:gd name="connsiteX0" fmla="*/ 7519 w 8713"/>
                <a:gd name="connsiteY0" fmla="*/ 43 h 21898"/>
                <a:gd name="connsiteX1" fmla="*/ 8714 w 8713"/>
                <a:gd name="connsiteY1" fmla="*/ 21899 h 21898"/>
                <a:gd name="connsiteX2" fmla="*/ 6 w 8713"/>
                <a:gd name="connsiteY2" fmla="*/ 10416 h 21898"/>
                <a:gd name="connsiteX3" fmla="*/ 7519 w 8713"/>
                <a:gd name="connsiteY3" fmla="*/ 0 h 21898"/>
              </a:gdLst>
              <a:ahLst/>
              <a:cxnLst>
                <a:cxn ang="0">
                  <a:pos x="connsiteX0" y="connsiteY0"/>
                </a:cxn>
                <a:cxn ang="0">
                  <a:pos x="connsiteX1" y="connsiteY1"/>
                </a:cxn>
                <a:cxn ang="0">
                  <a:pos x="connsiteX2" y="connsiteY2"/>
                </a:cxn>
                <a:cxn ang="0">
                  <a:pos x="connsiteX3" y="connsiteY3"/>
                </a:cxn>
              </a:cxnLst>
              <a:rect l="l" t="t" r="r" b="b"/>
              <a:pathLst>
                <a:path w="8713" h="21898">
                  <a:moveTo>
                    <a:pt x="7519" y="43"/>
                  </a:moveTo>
                  <a:cubicBezTo>
                    <a:pt x="8074" y="7812"/>
                    <a:pt x="8543" y="15154"/>
                    <a:pt x="8714" y="21899"/>
                  </a:cubicBezTo>
                  <a:cubicBezTo>
                    <a:pt x="3591" y="20661"/>
                    <a:pt x="-165" y="15923"/>
                    <a:pt x="6" y="10416"/>
                  </a:cubicBezTo>
                  <a:cubicBezTo>
                    <a:pt x="134" y="5592"/>
                    <a:pt x="3250" y="1579"/>
                    <a:pt x="7519" y="0"/>
                  </a:cubicBezTo>
                  <a:close/>
                </a:path>
              </a:pathLst>
            </a:custGeom>
            <a:solidFill>
              <a:srgbClr val="F47C73"/>
            </a:solidFill>
            <a:ln w="4254" cap="flat">
              <a:noFill/>
              <a:prstDash val="solid"/>
              <a:miter/>
            </a:ln>
          </p:spPr>
          <p:txBody>
            <a:bodyPr rtlCol="0" anchor="ctr"/>
            <a:lstStyle/>
            <a:p>
              <a:endParaRPr lang="en-US"/>
            </a:p>
          </p:txBody>
        </p:sp>
        <p:grpSp>
          <p:nvGrpSpPr>
            <p:cNvPr id="688" name="Graphic 373">
              <a:extLst>
                <a:ext uri="{FF2B5EF4-FFF2-40B4-BE49-F238E27FC236}">
                  <a16:creationId xmlns:a16="http://schemas.microsoft.com/office/drawing/2014/main" id="{FB5AD282-096A-4349-AFB5-A2A748B71E2A}"/>
                </a:ext>
              </a:extLst>
            </p:cNvPr>
            <p:cNvGrpSpPr/>
            <p:nvPr/>
          </p:nvGrpSpPr>
          <p:grpSpPr>
            <a:xfrm>
              <a:off x="1243330" y="2926731"/>
              <a:ext cx="115427" cy="59037"/>
              <a:chOff x="1243330" y="2926731"/>
              <a:chExt cx="115427" cy="59037"/>
            </a:xfrm>
          </p:grpSpPr>
          <p:sp>
            <p:nvSpPr>
              <p:cNvPr id="714" name="Freeform: Shape 713">
                <a:extLst>
                  <a:ext uri="{FF2B5EF4-FFF2-40B4-BE49-F238E27FC236}">
                    <a16:creationId xmlns:a16="http://schemas.microsoft.com/office/drawing/2014/main" id="{DB93C14F-7A1B-4757-AD76-ABAB3F226F83}"/>
                  </a:ext>
                </a:extLst>
              </p:cNvPr>
              <p:cNvSpPr/>
              <p:nvPr/>
            </p:nvSpPr>
            <p:spPr>
              <a:xfrm>
                <a:off x="1243330" y="2926731"/>
                <a:ext cx="55664" cy="55664"/>
              </a:xfrm>
              <a:custGeom>
                <a:avLst/>
                <a:gdLst>
                  <a:gd name="connsiteX0" fmla="*/ 27832 w 55664"/>
                  <a:gd name="connsiteY0" fmla="*/ 55665 h 55664"/>
                  <a:gd name="connsiteX1" fmla="*/ 0 w 55664"/>
                  <a:gd name="connsiteY1" fmla="*/ 27832 h 55664"/>
                  <a:gd name="connsiteX2" fmla="*/ 27832 w 55664"/>
                  <a:gd name="connsiteY2" fmla="*/ 0 h 55664"/>
                  <a:gd name="connsiteX3" fmla="*/ 55665 w 55664"/>
                  <a:gd name="connsiteY3" fmla="*/ 27832 h 55664"/>
                  <a:gd name="connsiteX4" fmla="*/ 27832 w 55664"/>
                  <a:gd name="connsiteY4" fmla="*/ 55665 h 55664"/>
                  <a:gd name="connsiteX5" fmla="*/ 27832 w 55664"/>
                  <a:gd name="connsiteY5" fmla="*/ 6787 h 55664"/>
                  <a:gd name="connsiteX6" fmla="*/ 6787 w 55664"/>
                  <a:gd name="connsiteY6" fmla="*/ 27832 h 55664"/>
                  <a:gd name="connsiteX7" fmla="*/ 27832 w 55664"/>
                  <a:gd name="connsiteY7" fmla="*/ 48877 h 55664"/>
                  <a:gd name="connsiteX8" fmla="*/ 48877 w 55664"/>
                  <a:gd name="connsiteY8" fmla="*/ 27832 h 55664"/>
                  <a:gd name="connsiteX9" fmla="*/ 27832 w 55664"/>
                  <a:gd name="connsiteY9" fmla="*/ 6787 h 5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664" h="55664">
                    <a:moveTo>
                      <a:pt x="27832" y="55665"/>
                    </a:moveTo>
                    <a:cubicBezTo>
                      <a:pt x="12465" y="55665"/>
                      <a:pt x="0" y="43157"/>
                      <a:pt x="0" y="27832"/>
                    </a:cubicBezTo>
                    <a:cubicBezTo>
                      <a:pt x="0" y="12508"/>
                      <a:pt x="12508" y="0"/>
                      <a:pt x="27832" y="0"/>
                    </a:cubicBezTo>
                    <a:cubicBezTo>
                      <a:pt x="43157" y="0"/>
                      <a:pt x="55665" y="12508"/>
                      <a:pt x="55665" y="27832"/>
                    </a:cubicBezTo>
                    <a:cubicBezTo>
                      <a:pt x="55665" y="43157"/>
                      <a:pt x="43157" y="55665"/>
                      <a:pt x="27832" y="55665"/>
                    </a:cubicBezTo>
                    <a:close/>
                    <a:moveTo>
                      <a:pt x="27832" y="6787"/>
                    </a:moveTo>
                    <a:cubicBezTo>
                      <a:pt x="16221" y="6787"/>
                      <a:pt x="6787" y="16221"/>
                      <a:pt x="6787" y="27832"/>
                    </a:cubicBezTo>
                    <a:cubicBezTo>
                      <a:pt x="6787" y="39443"/>
                      <a:pt x="16221" y="48877"/>
                      <a:pt x="27832" y="48877"/>
                    </a:cubicBezTo>
                    <a:cubicBezTo>
                      <a:pt x="39443" y="48877"/>
                      <a:pt x="48877" y="39443"/>
                      <a:pt x="48877" y="27832"/>
                    </a:cubicBezTo>
                    <a:cubicBezTo>
                      <a:pt x="48877" y="16221"/>
                      <a:pt x="39443" y="6787"/>
                      <a:pt x="27832" y="6787"/>
                    </a:cubicBezTo>
                    <a:close/>
                  </a:path>
                </a:pathLst>
              </a:custGeom>
              <a:solidFill>
                <a:srgbClr val="1D2333"/>
              </a:solidFill>
              <a:ln w="4254" cap="flat">
                <a:noFill/>
                <a:prstDash val="solid"/>
                <a:miter/>
              </a:ln>
            </p:spPr>
            <p:txBody>
              <a:bodyPr rtlCol="0" anchor="ctr"/>
              <a:lstStyle/>
              <a:p>
                <a:endParaRPr lang="en-US"/>
              </a:p>
            </p:txBody>
          </p:sp>
          <p:sp>
            <p:nvSpPr>
              <p:cNvPr id="715" name="Freeform: Shape 714">
                <a:extLst>
                  <a:ext uri="{FF2B5EF4-FFF2-40B4-BE49-F238E27FC236}">
                    <a16:creationId xmlns:a16="http://schemas.microsoft.com/office/drawing/2014/main" id="{94047908-C818-42E0-8E2F-5DA1E7E26ECA}"/>
                  </a:ext>
                </a:extLst>
              </p:cNvPr>
              <p:cNvSpPr/>
              <p:nvPr/>
            </p:nvSpPr>
            <p:spPr>
              <a:xfrm>
                <a:off x="1303093" y="2926817"/>
                <a:ext cx="55664" cy="55664"/>
              </a:xfrm>
              <a:custGeom>
                <a:avLst/>
                <a:gdLst>
                  <a:gd name="connsiteX0" fmla="*/ 27832 w 55664"/>
                  <a:gd name="connsiteY0" fmla="*/ 55579 h 55664"/>
                  <a:gd name="connsiteX1" fmla="*/ 8153 w 55664"/>
                  <a:gd name="connsiteY1" fmla="*/ 47426 h 55664"/>
                  <a:gd name="connsiteX2" fmla="*/ 8153 w 55664"/>
                  <a:gd name="connsiteY2" fmla="*/ 42645 h 55664"/>
                  <a:gd name="connsiteX3" fmla="*/ 12934 w 55664"/>
                  <a:gd name="connsiteY3" fmla="*/ 42645 h 55664"/>
                  <a:gd name="connsiteX4" fmla="*/ 27832 w 55664"/>
                  <a:gd name="connsiteY4" fmla="*/ 48835 h 55664"/>
                  <a:gd name="connsiteX5" fmla="*/ 48877 w 55664"/>
                  <a:gd name="connsiteY5" fmla="*/ 27790 h 55664"/>
                  <a:gd name="connsiteX6" fmla="*/ 27832 w 55664"/>
                  <a:gd name="connsiteY6" fmla="*/ 6745 h 55664"/>
                  <a:gd name="connsiteX7" fmla="*/ 6787 w 55664"/>
                  <a:gd name="connsiteY7" fmla="*/ 27790 h 55664"/>
                  <a:gd name="connsiteX8" fmla="*/ 8239 w 55664"/>
                  <a:gd name="connsiteY8" fmla="*/ 35474 h 55664"/>
                  <a:gd name="connsiteX9" fmla="*/ 6318 w 55664"/>
                  <a:gd name="connsiteY9" fmla="*/ 39870 h 55664"/>
                  <a:gd name="connsiteX10" fmla="*/ 1921 w 55664"/>
                  <a:gd name="connsiteY10" fmla="*/ 37949 h 55664"/>
                  <a:gd name="connsiteX11" fmla="*/ 0 w 55664"/>
                  <a:gd name="connsiteY11" fmla="*/ 27832 h 55664"/>
                  <a:gd name="connsiteX12" fmla="*/ 27832 w 55664"/>
                  <a:gd name="connsiteY12" fmla="*/ 0 h 55664"/>
                  <a:gd name="connsiteX13" fmla="*/ 55665 w 55664"/>
                  <a:gd name="connsiteY13" fmla="*/ 27832 h 55664"/>
                  <a:gd name="connsiteX14" fmla="*/ 27832 w 55664"/>
                  <a:gd name="connsiteY14" fmla="*/ 55665 h 5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664" h="55664">
                    <a:moveTo>
                      <a:pt x="27832" y="55579"/>
                    </a:moveTo>
                    <a:cubicBezTo>
                      <a:pt x="20405" y="55579"/>
                      <a:pt x="13404" y="52677"/>
                      <a:pt x="8153" y="47426"/>
                    </a:cubicBezTo>
                    <a:cubicBezTo>
                      <a:pt x="6830" y="46103"/>
                      <a:pt x="6830" y="43968"/>
                      <a:pt x="8153" y="42645"/>
                    </a:cubicBezTo>
                    <a:cubicBezTo>
                      <a:pt x="9477" y="41322"/>
                      <a:pt x="11611" y="41322"/>
                      <a:pt x="12934" y="42645"/>
                    </a:cubicBezTo>
                    <a:cubicBezTo>
                      <a:pt x="16904" y="46615"/>
                      <a:pt x="22198" y="48835"/>
                      <a:pt x="27832" y="48835"/>
                    </a:cubicBezTo>
                    <a:cubicBezTo>
                      <a:pt x="39444" y="48835"/>
                      <a:pt x="48877" y="39401"/>
                      <a:pt x="48877" y="27790"/>
                    </a:cubicBezTo>
                    <a:cubicBezTo>
                      <a:pt x="48877" y="16179"/>
                      <a:pt x="39444" y="6745"/>
                      <a:pt x="27832" y="6745"/>
                    </a:cubicBezTo>
                    <a:cubicBezTo>
                      <a:pt x="16221" y="6745"/>
                      <a:pt x="6787" y="16179"/>
                      <a:pt x="6787" y="27790"/>
                    </a:cubicBezTo>
                    <a:cubicBezTo>
                      <a:pt x="6787" y="30436"/>
                      <a:pt x="7257" y="32998"/>
                      <a:pt x="8239" y="35474"/>
                    </a:cubicBezTo>
                    <a:cubicBezTo>
                      <a:pt x="8922" y="37224"/>
                      <a:pt x="8068" y="39187"/>
                      <a:pt x="6318" y="39870"/>
                    </a:cubicBezTo>
                    <a:cubicBezTo>
                      <a:pt x="4568" y="40553"/>
                      <a:pt x="2604" y="39700"/>
                      <a:pt x="1921" y="37949"/>
                    </a:cubicBezTo>
                    <a:cubicBezTo>
                      <a:pt x="640" y="34705"/>
                      <a:pt x="0" y="31290"/>
                      <a:pt x="0" y="27832"/>
                    </a:cubicBezTo>
                    <a:cubicBezTo>
                      <a:pt x="0" y="12465"/>
                      <a:pt x="12465" y="0"/>
                      <a:pt x="27832" y="0"/>
                    </a:cubicBezTo>
                    <a:cubicBezTo>
                      <a:pt x="43200" y="0"/>
                      <a:pt x="55665" y="12508"/>
                      <a:pt x="55665" y="27832"/>
                    </a:cubicBezTo>
                    <a:cubicBezTo>
                      <a:pt x="55665" y="43157"/>
                      <a:pt x="43157" y="55665"/>
                      <a:pt x="27832" y="55665"/>
                    </a:cubicBezTo>
                    <a:close/>
                  </a:path>
                </a:pathLst>
              </a:custGeom>
              <a:solidFill>
                <a:srgbClr val="1D2333"/>
              </a:solidFill>
              <a:ln w="4254" cap="flat">
                <a:noFill/>
                <a:prstDash val="solid"/>
                <a:miter/>
              </a:ln>
            </p:spPr>
            <p:txBody>
              <a:bodyPr rtlCol="0" anchor="ctr"/>
              <a:lstStyle/>
              <a:p>
                <a:endParaRPr lang="en-US"/>
              </a:p>
            </p:txBody>
          </p:sp>
          <p:sp>
            <p:nvSpPr>
              <p:cNvPr id="716" name="Freeform: Shape 715">
                <a:extLst>
                  <a:ext uri="{FF2B5EF4-FFF2-40B4-BE49-F238E27FC236}">
                    <a16:creationId xmlns:a16="http://schemas.microsoft.com/office/drawing/2014/main" id="{F564BA94-C580-464B-9AD3-39258109E491}"/>
                  </a:ext>
                </a:extLst>
              </p:cNvPr>
              <p:cNvSpPr/>
              <p:nvPr/>
            </p:nvSpPr>
            <p:spPr>
              <a:xfrm>
                <a:off x="1298108" y="2944447"/>
                <a:ext cx="18937" cy="41321"/>
              </a:xfrm>
              <a:custGeom>
                <a:avLst/>
                <a:gdLst>
                  <a:gd name="connsiteX0" fmla="*/ 8357 w 18937"/>
                  <a:gd name="connsiteY0" fmla="*/ 41321 h 41321"/>
                  <a:gd name="connsiteX1" fmla="*/ 5838 w 18937"/>
                  <a:gd name="connsiteY1" fmla="*/ 40169 h 41321"/>
                  <a:gd name="connsiteX2" fmla="*/ 6137 w 18937"/>
                  <a:gd name="connsiteY2" fmla="*/ 35388 h 41321"/>
                  <a:gd name="connsiteX3" fmla="*/ 12071 w 18937"/>
                  <a:gd name="connsiteY3" fmla="*/ 25698 h 41321"/>
                  <a:gd name="connsiteX4" fmla="*/ 4600 w 18937"/>
                  <a:gd name="connsiteY4" fmla="*/ 20404 h 41321"/>
                  <a:gd name="connsiteX5" fmla="*/ 2039 w 18937"/>
                  <a:gd name="connsiteY5" fmla="*/ 17587 h 41321"/>
                  <a:gd name="connsiteX6" fmla="*/ 33 w 18937"/>
                  <a:gd name="connsiteY6" fmla="*/ 3884 h 41321"/>
                  <a:gd name="connsiteX7" fmla="*/ 2893 w 18937"/>
                  <a:gd name="connsiteY7" fmla="*/ 42 h 41321"/>
                  <a:gd name="connsiteX8" fmla="*/ 6735 w 18937"/>
                  <a:gd name="connsiteY8" fmla="*/ 2902 h 41321"/>
                  <a:gd name="connsiteX9" fmla="*/ 8442 w 18937"/>
                  <a:gd name="connsiteY9" fmla="*/ 14513 h 41321"/>
                  <a:gd name="connsiteX10" fmla="*/ 18644 w 18937"/>
                  <a:gd name="connsiteY10" fmla="*/ 24033 h 41321"/>
                  <a:gd name="connsiteX11" fmla="*/ 10619 w 18937"/>
                  <a:gd name="connsiteY11" fmla="*/ 40425 h 41321"/>
                  <a:gd name="connsiteX12" fmla="*/ 8357 w 18937"/>
                  <a:gd name="connsiteY12" fmla="*/ 41279 h 41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937" h="41321">
                    <a:moveTo>
                      <a:pt x="8357" y="41321"/>
                    </a:moveTo>
                    <a:cubicBezTo>
                      <a:pt x="7418" y="41321"/>
                      <a:pt x="6478" y="40937"/>
                      <a:pt x="5838" y="40169"/>
                    </a:cubicBezTo>
                    <a:cubicBezTo>
                      <a:pt x="4600" y="38760"/>
                      <a:pt x="4728" y="36626"/>
                      <a:pt x="6137" y="35388"/>
                    </a:cubicBezTo>
                    <a:cubicBezTo>
                      <a:pt x="10534" y="31460"/>
                      <a:pt x="12668" y="28045"/>
                      <a:pt x="12071" y="25698"/>
                    </a:cubicBezTo>
                    <a:cubicBezTo>
                      <a:pt x="11345" y="22709"/>
                      <a:pt x="6308" y="20831"/>
                      <a:pt x="4600" y="20404"/>
                    </a:cubicBezTo>
                    <a:cubicBezTo>
                      <a:pt x="3277" y="20063"/>
                      <a:pt x="2252" y="18953"/>
                      <a:pt x="2039" y="17587"/>
                    </a:cubicBezTo>
                    <a:lnTo>
                      <a:pt x="33" y="3884"/>
                    </a:lnTo>
                    <a:cubicBezTo>
                      <a:pt x="-224" y="2049"/>
                      <a:pt x="1057" y="298"/>
                      <a:pt x="2893" y="42"/>
                    </a:cubicBezTo>
                    <a:cubicBezTo>
                      <a:pt x="4771" y="-257"/>
                      <a:pt x="6478" y="1067"/>
                      <a:pt x="6735" y="2902"/>
                    </a:cubicBezTo>
                    <a:lnTo>
                      <a:pt x="8442" y="14513"/>
                    </a:lnTo>
                    <a:cubicBezTo>
                      <a:pt x="11686" y="15709"/>
                      <a:pt x="17278" y="18526"/>
                      <a:pt x="18644" y="24033"/>
                    </a:cubicBezTo>
                    <a:cubicBezTo>
                      <a:pt x="19882" y="29070"/>
                      <a:pt x="17193" y="34577"/>
                      <a:pt x="10619" y="40425"/>
                    </a:cubicBezTo>
                    <a:cubicBezTo>
                      <a:pt x="9979" y="40980"/>
                      <a:pt x="9168" y="41279"/>
                      <a:pt x="8357" y="41279"/>
                    </a:cubicBezTo>
                    <a:close/>
                  </a:path>
                </a:pathLst>
              </a:custGeom>
              <a:solidFill>
                <a:srgbClr val="F47C73"/>
              </a:solidFill>
              <a:ln w="4254" cap="flat">
                <a:noFill/>
                <a:prstDash val="solid"/>
                <a:miter/>
              </a:ln>
            </p:spPr>
            <p:txBody>
              <a:bodyPr rtlCol="0" anchor="ctr"/>
              <a:lstStyle/>
              <a:p>
                <a:endParaRPr lang="en-US"/>
              </a:p>
            </p:txBody>
          </p:sp>
          <p:sp>
            <p:nvSpPr>
              <p:cNvPr id="717" name="Freeform: Shape 716">
                <a:extLst>
                  <a:ext uri="{FF2B5EF4-FFF2-40B4-BE49-F238E27FC236}">
                    <a16:creationId xmlns:a16="http://schemas.microsoft.com/office/drawing/2014/main" id="{8F800382-C39C-48FA-A293-A517668CE97D}"/>
                  </a:ext>
                </a:extLst>
              </p:cNvPr>
              <p:cNvSpPr/>
              <p:nvPr/>
            </p:nvSpPr>
            <p:spPr>
              <a:xfrm>
                <a:off x="1292207" y="2950252"/>
                <a:ext cx="17373" cy="6744"/>
              </a:xfrm>
              <a:custGeom>
                <a:avLst/>
                <a:gdLst>
                  <a:gd name="connsiteX0" fmla="*/ 14002 w 17373"/>
                  <a:gd name="connsiteY0" fmla="*/ 6745 h 6744"/>
                  <a:gd name="connsiteX1" fmla="*/ 3372 w 17373"/>
                  <a:gd name="connsiteY1" fmla="*/ 6745 h 6744"/>
                  <a:gd name="connsiteX2" fmla="*/ 0 w 17373"/>
                  <a:gd name="connsiteY2" fmla="*/ 3372 h 6744"/>
                  <a:gd name="connsiteX3" fmla="*/ 3372 w 17373"/>
                  <a:gd name="connsiteY3" fmla="*/ 0 h 6744"/>
                  <a:gd name="connsiteX4" fmla="*/ 14002 w 17373"/>
                  <a:gd name="connsiteY4" fmla="*/ 0 h 6744"/>
                  <a:gd name="connsiteX5" fmla="*/ 17374 w 17373"/>
                  <a:gd name="connsiteY5" fmla="*/ 3372 h 6744"/>
                  <a:gd name="connsiteX6" fmla="*/ 14002 w 17373"/>
                  <a:gd name="connsiteY6" fmla="*/ 6745 h 6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373" h="6744">
                    <a:moveTo>
                      <a:pt x="14002" y="6745"/>
                    </a:moveTo>
                    <a:lnTo>
                      <a:pt x="3372" y="6745"/>
                    </a:lnTo>
                    <a:cubicBezTo>
                      <a:pt x="1494" y="6745"/>
                      <a:pt x="0" y="5208"/>
                      <a:pt x="0" y="3372"/>
                    </a:cubicBezTo>
                    <a:cubicBezTo>
                      <a:pt x="0" y="1537"/>
                      <a:pt x="1537" y="0"/>
                      <a:pt x="3372" y="0"/>
                    </a:cubicBezTo>
                    <a:lnTo>
                      <a:pt x="14002" y="0"/>
                    </a:lnTo>
                    <a:cubicBezTo>
                      <a:pt x="15880" y="0"/>
                      <a:pt x="17374" y="1537"/>
                      <a:pt x="17374" y="3372"/>
                    </a:cubicBezTo>
                    <a:cubicBezTo>
                      <a:pt x="17374" y="5208"/>
                      <a:pt x="15837" y="6745"/>
                      <a:pt x="14002" y="6745"/>
                    </a:cubicBezTo>
                    <a:close/>
                  </a:path>
                </a:pathLst>
              </a:custGeom>
              <a:solidFill>
                <a:srgbClr val="1D2333"/>
              </a:solidFill>
              <a:ln w="4254" cap="flat">
                <a:noFill/>
                <a:prstDash val="solid"/>
                <a:miter/>
              </a:ln>
            </p:spPr>
            <p:txBody>
              <a:bodyPr rtlCol="0" anchor="ctr"/>
              <a:lstStyle/>
              <a:p>
                <a:endParaRPr lang="en-US"/>
              </a:p>
            </p:txBody>
          </p:sp>
        </p:grpSp>
        <p:grpSp>
          <p:nvGrpSpPr>
            <p:cNvPr id="689" name="Graphic 373">
              <a:extLst>
                <a:ext uri="{FF2B5EF4-FFF2-40B4-BE49-F238E27FC236}">
                  <a16:creationId xmlns:a16="http://schemas.microsoft.com/office/drawing/2014/main" id="{2B8C7F9A-66DB-426A-92C1-0C8C3230C65E}"/>
                </a:ext>
              </a:extLst>
            </p:cNvPr>
            <p:cNvGrpSpPr/>
            <p:nvPr/>
          </p:nvGrpSpPr>
          <p:grpSpPr>
            <a:xfrm>
              <a:off x="1207535" y="2949079"/>
              <a:ext cx="37040" cy="39839"/>
              <a:chOff x="1207535" y="2949079"/>
              <a:chExt cx="37040" cy="39839"/>
            </a:xfrm>
          </p:grpSpPr>
          <p:sp>
            <p:nvSpPr>
              <p:cNvPr id="712" name="Freeform: Shape 711">
                <a:extLst>
                  <a:ext uri="{FF2B5EF4-FFF2-40B4-BE49-F238E27FC236}">
                    <a16:creationId xmlns:a16="http://schemas.microsoft.com/office/drawing/2014/main" id="{0C2EEED8-4537-4F20-8431-B163D2232D16}"/>
                  </a:ext>
                </a:extLst>
              </p:cNvPr>
              <p:cNvSpPr/>
              <p:nvPr/>
            </p:nvSpPr>
            <p:spPr>
              <a:xfrm>
                <a:off x="1207535" y="2949079"/>
                <a:ext cx="37040" cy="39839"/>
              </a:xfrm>
              <a:custGeom>
                <a:avLst/>
                <a:gdLst>
                  <a:gd name="connsiteX0" fmla="*/ 9286 w 37040"/>
                  <a:gd name="connsiteY0" fmla="*/ 30713 h 39839"/>
                  <a:gd name="connsiteX1" fmla="*/ 2541 w 37040"/>
                  <a:gd name="connsiteY1" fmla="*/ 7192 h 39839"/>
                  <a:gd name="connsiteX2" fmla="*/ 36307 w 37040"/>
                  <a:gd name="connsiteY2" fmla="*/ 23925 h 39839"/>
                  <a:gd name="connsiteX3" fmla="*/ 9286 w 37040"/>
                  <a:gd name="connsiteY3" fmla="*/ 30713 h 39839"/>
                </a:gdLst>
                <a:ahLst/>
                <a:cxnLst>
                  <a:cxn ang="0">
                    <a:pos x="connsiteX0" y="connsiteY0"/>
                  </a:cxn>
                  <a:cxn ang="0">
                    <a:pos x="connsiteX1" y="connsiteY1"/>
                  </a:cxn>
                  <a:cxn ang="0">
                    <a:pos x="connsiteX2" y="connsiteY2"/>
                  </a:cxn>
                  <a:cxn ang="0">
                    <a:pos x="connsiteX3" y="connsiteY3"/>
                  </a:cxn>
                </a:cxnLst>
                <a:rect l="l" t="t" r="r" b="b"/>
                <a:pathLst>
                  <a:path w="37040" h="39839">
                    <a:moveTo>
                      <a:pt x="9286" y="30713"/>
                    </a:moveTo>
                    <a:cubicBezTo>
                      <a:pt x="9286" y="30713"/>
                      <a:pt x="-5868" y="16583"/>
                      <a:pt x="2541" y="7192"/>
                    </a:cubicBezTo>
                    <a:cubicBezTo>
                      <a:pt x="10994" y="-2157"/>
                      <a:pt x="30288" y="-7365"/>
                      <a:pt x="36307" y="23925"/>
                    </a:cubicBezTo>
                    <a:cubicBezTo>
                      <a:pt x="42326" y="55216"/>
                      <a:pt x="9286" y="30713"/>
                      <a:pt x="9286" y="30713"/>
                    </a:cubicBezTo>
                    <a:close/>
                  </a:path>
                </a:pathLst>
              </a:custGeom>
              <a:solidFill>
                <a:srgbClr val="FFBEBB"/>
              </a:solidFill>
              <a:ln w="4254" cap="flat">
                <a:noFill/>
                <a:prstDash val="solid"/>
                <a:miter/>
              </a:ln>
            </p:spPr>
            <p:txBody>
              <a:bodyPr rtlCol="0" anchor="ctr"/>
              <a:lstStyle/>
              <a:p>
                <a:endParaRPr lang="en-US"/>
              </a:p>
            </p:txBody>
          </p:sp>
          <p:sp>
            <p:nvSpPr>
              <p:cNvPr id="713" name="Freeform: Shape 712">
                <a:extLst>
                  <a:ext uri="{FF2B5EF4-FFF2-40B4-BE49-F238E27FC236}">
                    <a16:creationId xmlns:a16="http://schemas.microsoft.com/office/drawing/2014/main" id="{57B91965-65B3-4551-AAB1-FD3FA67F66E0}"/>
                  </a:ext>
                </a:extLst>
              </p:cNvPr>
              <p:cNvSpPr/>
              <p:nvPr/>
            </p:nvSpPr>
            <p:spPr>
              <a:xfrm>
                <a:off x="1215201" y="2956392"/>
                <a:ext cx="18715" cy="20390"/>
              </a:xfrm>
              <a:custGeom>
                <a:avLst/>
                <a:gdLst>
                  <a:gd name="connsiteX0" fmla="*/ 4864 w 18715"/>
                  <a:gd name="connsiteY0" fmla="*/ 15460 h 20390"/>
                  <a:gd name="connsiteX1" fmla="*/ 1578 w 18715"/>
                  <a:gd name="connsiteY1" fmla="*/ 3892 h 20390"/>
                  <a:gd name="connsiteX2" fmla="*/ 17799 w 18715"/>
                  <a:gd name="connsiteY2" fmla="*/ 10338 h 20390"/>
                  <a:gd name="connsiteX3" fmla="*/ 4907 w 18715"/>
                  <a:gd name="connsiteY3" fmla="*/ 15460 h 20390"/>
                </a:gdLst>
                <a:ahLst/>
                <a:cxnLst>
                  <a:cxn ang="0">
                    <a:pos x="connsiteX0" y="connsiteY0"/>
                  </a:cxn>
                  <a:cxn ang="0">
                    <a:pos x="connsiteX1" y="connsiteY1"/>
                  </a:cxn>
                  <a:cxn ang="0">
                    <a:pos x="connsiteX2" y="connsiteY2"/>
                  </a:cxn>
                  <a:cxn ang="0">
                    <a:pos x="connsiteX3" y="connsiteY3"/>
                  </a:cxn>
                </a:cxnLst>
                <a:rect l="l" t="t" r="r" b="b"/>
                <a:pathLst>
                  <a:path w="18715" h="20390">
                    <a:moveTo>
                      <a:pt x="4864" y="15460"/>
                    </a:moveTo>
                    <a:cubicBezTo>
                      <a:pt x="2602" y="13497"/>
                      <a:pt x="-2606" y="8502"/>
                      <a:pt x="1578" y="3892"/>
                    </a:cubicBezTo>
                    <a:cubicBezTo>
                      <a:pt x="5718" y="-719"/>
                      <a:pt x="13829" y="-3877"/>
                      <a:pt x="17799" y="10338"/>
                    </a:cubicBezTo>
                    <a:cubicBezTo>
                      <a:pt x="22025" y="25406"/>
                      <a:pt x="10585" y="20369"/>
                      <a:pt x="4907" y="15460"/>
                    </a:cubicBezTo>
                    <a:close/>
                  </a:path>
                </a:pathLst>
              </a:custGeom>
              <a:solidFill>
                <a:srgbClr val="F47C73"/>
              </a:solidFill>
              <a:ln w="4254" cap="flat">
                <a:noFill/>
                <a:prstDash val="solid"/>
                <a:miter/>
              </a:ln>
            </p:spPr>
            <p:txBody>
              <a:bodyPr rtlCol="0" anchor="ctr"/>
              <a:lstStyle/>
              <a:p>
                <a:endParaRPr lang="en-US"/>
              </a:p>
            </p:txBody>
          </p:sp>
        </p:grpSp>
        <p:sp>
          <p:nvSpPr>
            <p:cNvPr id="690" name="Freeform: Shape 689">
              <a:extLst>
                <a:ext uri="{FF2B5EF4-FFF2-40B4-BE49-F238E27FC236}">
                  <a16:creationId xmlns:a16="http://schemas.microsoft.com/office/drawing/2014/main" id="{D95390E6-EA8F-4F6D-A66E-800B9C44A75F}"/>
                </a:ext>
              </a:extLst>
            </p:cNvPr>
            <p:cNvSpPr/>
            <p:nvPr/>
          </p:nvSpPr>
          <p:spPr>
            <a:xfrm>
              <a:off x="1091831" y="3165057"/>
              <a:ext cx="6744" cy="271835"/>
            </a:xfrm>
            <a:custGeom>
              <a:avLst/>
              <a:gdLst>
                <a:gd name="connsiteX0" fmla="*/ 3372 w 6744"/>
                <a:gd name="connsiteY0" fmla="*/ 271836 h 271835"/>
                <a:gd name="connsiteX1" fmla="*/ 0 w 6744"/>
                <a:gd name="connsiteY1" fmla="*/ 268463 h 271835"/>
                <a:gd name="connsiteX2" fmla="*/ 0 w 6744"/>
                <a:gd name="connsiteY2" fmla="*/ 3372 h 271835"/>
                <a:gd name="connsiteX3" fmla="*/ 3372 w 6744"/>
                <a:gd name="connsiteY3" fmla="*/ 0 h 271835"/>
                <a:gd name="connsiteX4" fmla="*/ 6745 w 6744"/>
                <a:gd name="connsiteY4" fmla="*/ 3372 h 271835"/>
                <a:gd name="connsiteX5" fmla="*/ 6745 w 6744"/>
                <a:gd name="connsiteY5" fmla="*/ 268463 h 271835"/>
                <a:gd name="connsiteX6" fmla="*/ 3372 w 6744"/>
                <a:gd name="connsiteY6" fmla="*/ 271836 h 27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44" h="271835">
                  <a:moveTo>
                    <a:pt x="3372" y="271836"/>
                  </a:moveTo>
                  <a:cubicBezTo>
                    <a:pt x="1494" y="271836"/>
                    <a:pt x="0" y="270299"/>
                    <a:pt x="0" y="268463"/>
                  </a:cubicBezTo>
                  <a:lnTo>
                    <a:pt x="0" y="3372"/>
                  </a:lnTo>
                  <a:cubicBezTo>
                    <a:pt x="0" y="1494"/>
                    <a:pt x="1537" y="0"/>
                    <a:pt x="3372" y="0"/>
                  </a:cubicBezTo>
                  <a:cubicBezTo>
                    <a:pt x="5208" y="0"/>
                    <a:pt x="6745" y="1537"/>
                    <a:pt x="6745" y="3372"/>
                  </a:cubicBezTo>
                  <a:lnTo>
                    <a:pt x="6745" y="268463"/>
                  </a:lnTo>
                  <a:cubicBezTo>
                    <a:pt x="6745" y="270342"/>
                    <a:pt x="5208" y="271836"/>
                    <a:pt x="3372" y="271836"/>
                  </a:cubicBezTo>
                  <a:close/>
                </a:path>
              </a:pathLst>
            </a:custGeom>
            <a:solidFill>
              <a:schemeClr val="accent6">
                <a:lumMod val="75000"/>
              </a:schemeClr>
            </a:solidFill>
            <a:ln w="4254" cap="flat">
              <a:noFill/>
              <a:prstDash val="solid"/>
              <a:miter/>
            </a:ln>
          </p:spPr>
          <p:txBody>
            <a:bodyPr rtlCol="0" anchor="ctr"/>
            <a:lstStyle/>
            <a:p>
              <a:endParaRPr lang="en-US"/>
            </a:p>
          </p:txBody>
        </p:sp>
        <p:sp>
          <p:nvSpPr>
            <p:cNvPr id="691" name="Freeform: Shape 690">
              <a:extLst>
                <a:ext uri="{FF2B5EF4-FFF2-40B4-BE49-F238E27FC236}">
                  <a16:creationId xmlns:a16="http://schemas.microsoft.com/office/drawing/2014/main" id="{F3D10595-15D5-4CC5-8B41-98A812806AFA}"/>
                </a:ext>
              </a:extLst>
            </p:cNvPr>
            <p:cNvSpPr/>
            <p:nvPr/>
          </p:nvSpPr>
          <p:spPr>
            <a:xfrm>
              <a:off x="1183098" y="3025169"/>
              <a:ext cx="120395" cy="109579"/>
            </a:xfrm>
            <a:custGeom>
              <a:avLst/>
              <a:gdLst>
                <a:gd name="connsiteX0" fmla="*/ 14044 w 120395"/>
                <a:gd name="connsiteY0" fmla="*/ 0 h 109579"/>
                <a:gd name="connsiteX1" fmla="*/ 81107 w 120395"/>
                <a:gd name="connsiteY1" fmla="*/ 38206 h 109579"/>
                <a:gd name="connsiteX2" fmla="*/ 105396 w 120395"/>
                <a:gd name="connsiteY2" fmla="*/ 9349 h 109579"/>
                <a:gd name="connsiteX3" fmla="*/ 114915 w 120395"/>
                <a:gd name="connsiteY3" fmla="*/ 9263 h 109579"/>
                <a:gd name="connsiteX4" fmla="*/ 120166 w 120395"/>
                <a:gd name="connsiteY4" fmla="*/ 43926 h 109579"/>
                <a:gd name="connsiteX5" fmla="*/ 78631 w 120395"/>
                <a:gd name="connsiteY5" fmla="*/ 109579 h 109579"/>
                <a:gd name="connsiteX6" fmla="*/ 0 w 120395"/>
                <a:gd name="connsiteY6" fmla="*/ 40681 h 109579"/>
                <a:gd name="connsiteX7" fmla="*/ 14087 w 120395"/>
                <a:gd name="connsiteY7" fmla="*/ 0 h 109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395" h="109579">
                  <a:moveTo>
                    <a:pt x="14044" y="0"/>
                  </a:moveTo>
                  <a:cubicBezTo>
                    <a:pt x="14044" y="0"/>
                    <a:pt x="55281" y="38675"/>
                    <a:pt x="81107" y="38206"/>
                  </a:cubicBezTo>
                  <a:cubicBezTo>
                    <a:pt x="106933" y="37736"/>
                    <a:pt x="105396" y="9349"/>
                    <a:pt x="105396" y="9349"/>
                  </a:cubicBezTo>
                  <a:lnTo>
                    <a:pt x="114915" y="9263"/>
                  </a:lnTo>
                  <a:lnTo>
                    <a:pt x="120166" y="43926"/>
                  </a:lnTo>
                  <a:cubicBezTo>
                    <a:pt x="120166" y="43926"/>
                    <a:pt x="126014" y="109579"/>
                    <a:pt x="78631" y="109579"/>
                  </a:cubicBezTo>
                  <a:cubicBezTo>
                    <a:pt x="31247" y="109579"/>
                    <a:pt x="0" y="40681"/>
                    <a:pt x="0" y="40681"/>
                  </a:cubicBezTo>
                  <a:lnTo>
                    <a:pt x="14087" y="0"/>
                  </a:lnTo>
                  <a:close/>
                </a:path>
              </a:pathLst>
            </a:custGeom>
            <a:solidFill>
              <a:schemeClr val="bg1"/>
            </a:solidFill>
            <a:ln w="4254" cap="flat">
              <a:noFill/>
              <a:prstDash val="solid"/>
              <a:miter/>
            </a:ln>
          </p:spPr>
          <p:txBody>
            <a:bodyPr rtlCol="0" anchor="ctr"/>
            <a:lstStyle/>
            <a:p>
              <a:endParaRPr lang="en-US"/>
            </a:p>
          </p:txBody>
        </p:sp>
        <p:sp>
          <p:nvSpPr>
            <p:cNvPr id="692" name="Freeform: Shape 691">
              <a:extLst>
                <a:ext uri="{FF2B5EF4-FFF2-40B4-BE49-F238E27FC236}">
                  <a16:creationId xmlns:a16="http://schemas.microsoft.com/office/drawing/2014/main" id="{BF6BB63F-6892-4F20-A7F4-6140E84AF781}"/>
                </a:ext>
              </a:extLst>
            </p:cNvPr>
            <p:cNvSpPr/>
            <p:nvPr/>
          </p:nvSpPr>
          <p:spPr>
            <a:xfrm>
              <a:off x="1286772" y="2988876"/>
              <a:ext cx="31167" cy="14001"/>
            </a:xfrm>
            <a:custGeom>
              <a:avLst/>
              <a:gdLst>
                <a:gd name="connsiteX0" fmla="*/ 15510 w 31167"/>
                <a:gd name="connsiteY0" fmla="*/ 777 h 14001"/>
                <a:gd name="connsiteX1" fmla="*/ 29256 w 31167"/>
                <a:gd name="connsiteY1" fmla="*/ 8 h 14001"/>
                <a:gd name="connsiteX2" fmla="*/ 31048 w 31167"/>
                <a:gd name="connsiteY2" fmla="*/ 2527 h 14001"/>
                <a:gd name="connsiteX3" fmla="*/ 16577 w 31167"/>
                <a:gd name="connsiteY3" fmla="*/ 13967 h 14001"/>
                <a:gd name="connsiteX4" fmla="*/ 228 w 31167"/>
                <a:gd name="connsiteY4" fmla="*/ 3039 h 14001"/>
                <a:gd name="connsiteX5" fmla="*/ 1893 w 31167"/>
                <a:gd name="connsiteY5" fmla="*/ 350 h 14001"/>
                <a:gd name="connsiteX6" fmla="*/ 15510 w 31167"/>
                <a:gd name="connsiteY6" fmla="*/ 734 h 14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167" h="14001">
                  <a:moveTo>
                    <a:pt x="15510" y="777"/>
                  </a:moveTo>
                  <a:cubicBezTo>
                    <a:pt x="20803" y="648"/>
                    <a:pt x="26182" y="264"/>
                    <a:pt x="29256" y="8"/>
                  </a:cubicBezTo>
                  <a:cubicBezTo>
                    <a:pt x="30536" y="-120"/>
                    <a:pt x="31518" y="1289"/>
                    <a:pt x="31048" y="2527"/>
                  </a:cubicBezTo>
                  <a:cubicBezTo>
                    <a:pt x="29512" y="6497"/>
                    <a:pt x="25584" y="13369"/>
                    <a:pt x="16577" y="13967"/>
                  </a:cubicBezTo>
                  <a:cubicBezTo>
                    <a:pt x="7656" y="14565"/>
                    <a:pt x="2490" y="7350"/>
                    <a:pt x="228" y="3039"/>
                  </a:cubicBezTo>
                  <a:cubicBezTo>
                    <a:pt x="-455" y="1758"/>
                    <a:pt x="484" y="222"/>
                    <a:pt x="1893" y="350"/>
                  </a:cubicBezTo>
                  <a:cubicBezTo>
                    <a:pt x="5137" y="648"/>
                    <a:pt x="10388" y="819"/>
                    <a:pt x="15510" y="734"/>
                  </a:cubicBezTo>
                  <a:close/>
                </a:path>
              </a:pathLst>
            </a:custGeom>
            <a:solidFill>
              <a:srgbClr val="E55955"/>
            </a:solidFill>
            <a:ln w="4254" cap="flat">
              <a:noFill/>
              <a:prstDash val="solid"/>
              <a:miter/>
            </a:ln>
          </p:spPr>
          <p:txBody>
            <a:bodyPr rtlCol="0" anchor="ctr"/>
            <a:lstStyle/>
            <a:p>
              <a:endParaRPr lang="en-US"/>
            </a:p>
          </p:txBody>
        </p:sp>
        <p:sp>
          <p:nvSpPr>
            <p:cNvPr id="693" name="Freeform: Shape 692">
              <a:extLst>
                <a:ext uri="{FF2B5EF4-FFF2-40B4-BE49-F238E27FC236}">
                  <a16:creationId xmlns:a16="http://schemas.microsoft.com/office/drawing/2014/main" id="{CA9799C4-C8BB-4E7A-8BB3-26F7A1087F0F}"/>
                </a:ext>
              </a:extLst>
            </p:cNvPr>
            <p:cNvSpPr/>
            <p:nvPr/>
          </p:nvSpPr>
          <p:spPr>
            <a:xfrm>
              <a:off x="1283322" y="2860815"/>
              <a:ext cx="61994" cy="61994"/>
            </a:xfrm>
            <a:custGeom>
              <a:avLst/>
              <a:gdLst>
                <a:gd name="connsiteX0" fmla="*/ 134 w 61994"/>
                <a:gd name="connsiteY0" fmla="*/ 28137 h 61994"/>
                <a:gd name="connsiteX1" fmla="*/ 28137 w 61994"/>
                <a:gd name="connsiteY1" fmla="*/ 61861 h 61994"/>
                <a:gd name="connsiteX2" fmla="*/ 61861 w 61994"/>
                <a:gd name="connsiteY2" fmla="*/ 33857 h 61994"/>
                <a:gd name="connsiteX3" fmla="*/ 33857 w 61994"/>
                <a:gd name="connsiteY3" fmla="*/ 134 h 61994"/>
                <a:gd name="connsiteX4" fmla="*/ 134 w 61994"/>
                <a:gd name="connsiteY4" fmla="*/ 28137 h 61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94" h="61994">
                  <a:moveTo>
                    <a:pt x="134" y="28137"/>
                  </a:moveTo>
                  <a:cubicBezTo>
                    <a:pt x="-1445" y="45170"/>
                    <a:pt x="11105" y="60281"/>
                    <a:pt x="28137" y="61861"/>
                  </a:cubicBezTo>
                  <a:cubicBezTo>
                    <a:pt x="45170" y="63440"/>
                    <a:pt x="60281" y="50890"/>
                    <a:pt x="61861" y="33857"/>
                  </a:cubicBezTo>
                  <a:cubicBezTo>
                    <a:pt x="63440" y="16825"/>
                    <a:pt x="50890" y="1714"/>
                    <a:pt x="33857" y="134"/>
                  </a:cubicBezTo>
                  <a:cubicBezTo>
                    <a:pt x="16825" y="-1445"/>
                    <a:pt x="1714" y="11105"/>
                    <a:pt x="134" y="28137"/>
                  </a:cubicBezTo>
                  <a:close/>
                </a:path>
              </a:pathLst>
            </a:custGeom>
            <a:solidFill>
              <a:schemeClr val="accent2"/>
            </a:solidFill>
            <a:ln w="4254" cap="flat">
              <a:noFill/>
              <a:prstDash val="solid"/>
              <a:miter/>
            </a:ln>
          </p:spPr>
          <p:txBody>
            <a:bodyPr rtlCol="0" anchor="ctr"/>
            <a:lstStyle/>
            <a:p>
              <a:endParaRPr lang="en-US"/>
            </a:p>
          </p:txBody>
        </p:sp>
        <p:sp>
          <p:nvSpPr>
            <p:cNvPr id="694" name="Freeform: Shape 693">
              <a:extLst>
                <a:ext uri="{FF2B5EF4-FFF2-40B4-BE49-F238E27FC236}">
                  <a16:creationId xmlns:a16="http://schemas.microsoft.com/office/drawing/2014/main" id="{DD758318-BC85-4622-BEE2-8580950FB686}"/>
                </a:ext>
              </a:extLst>
            </p:cNvPr>
            <p:cNvSpPr/>
            <p:nvPr/>
          </p:nvSpPr>
          <p:spPr>
            <a:xfrm>
              <a:off x="1249819" y="2832135"/>
              <a:ext cx="54554" cy="54554"/>
            </a:xfrm>
            <a:custGeom>
              <a:avLst/>
              <a:gdLst>
                <a:gd name="connsiteX0" fmla="*/ 0 w 54554"/>
                <a:gd name="connsiteY0" fmla="*/ 27277 h 54554"/>
                <a:gd name="connsiteX1" fmla="*/ 27277 w 54554"/>
                <a:gd name="connsiteY1" fmla="*/ 54555 h 54554"/>
                <a:gd name="connsiteX2" fmla="*/ 54555 w 54554"/>
                <a:gd name="connsiteY2" fmla="*/ 27277 h 54554"/>
                <a:gd name="connsiteX3" fmla="*/ 27277 w 54554"/>
                <a:gd name="connsiteY3" fmla="*/ 0 h 54554"/>
                <a:gd name="connsiteX4" fmla="*/ 0 w 54554"/>
                <a:gd name="connsiteY4" fmla="*/ 27277 h 5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54" h="54554">
                  <a:moveTo>
                    <a:pt x="0" y="27277"/>
                  </a:moveTo>
                  <a:cubicBezTo>
                    <a:pt x="0" y="42346"/>
                    <a:pt x="12209" y="54555"/>
                    <a:pt x="27277" y="54555"/>
                  </a:cubicBezTo>
                  <a:cubicBezTo>
                    <a:pt x="42346" y="54555"/>
                    <a:pt x="54555" y="42346"/>
                    <a:pt x="54555" y="27277"/>
                  </a:cubicBezTo>
                  <a:cubicBezTo>
                    <a:pt x="54555" y="12209"/>
                    <a:pt x="42346" y="0"/>
                    <a:pt x="27277" y="0"/>
                  </a:cubicBezTo>
                  <a:cubicBezTo>
                    <a:pt x="12209" y="0"/>
                    <a:pt x="0" y="12209"/>
                    <a:pt x="0" y="27277"/>
                  </a:cubicBezTo>
                  <a:close/>
                </a:path>
              </a:pathLst>
            </a:custGeom>
            <a:solidFill>
              <a:schemeClr val="accent2"/>
            </a:solidFill>
            <a:ln w="4254" cap="flat">
              <a:noFill/>
              <a:prstDash val="solid"/>
              <a:miter/>
            </a:ln>
          </p:spPr>
          <p:txBody>
            <a:bodyPr rtlCol="0" anchor="ctr"/>
            <a:lstStyle/>
            <a:p>
              <a:endParaRPr lang="en-US"/>
            </a:p>
          </p:txBody>
        </p:sp>
        <p:sp>
          <p:nvSpPr>
            <p:cNvPr id="695" name="Freeform: Shape 694">
              <a:extLst>
                <a:ext uri="{FF2B5EF4-FFF2-40B4-BE49-F238E27FC236}">
                  <a16:creationId xmlns:a16="http://schemas.microsoft.com/office/drawing/2014/main" id="{F3F89B33-97B8-4863-B34C-4AFEBADA9EFF}"/>
                </a:ext>
              </a:extLst>
            </p:cNvPr>
            <p:cNvSpPr/>
            <p:nvPr/>
          </p:nvSpPr>
          <p:spPr>
            <a:xfrm>
              <a:off x="1250715" y="2823512"/>
              <a:ext cx="61299" cy="61299"/>
            </a:xfrm>
            <a:custGeom>
              <a:avLst/>
              <a:gdLst>
                <a:gd name="connsiteX0" fmla="*/ 30650 w 61299"/>
                <a:gd name="connsiteY0" fmla="*/ 61300 h 61299"/>
                <a:gd name="connsiteX1" fmla="*/ 0 w 61299"/>
                <a:gd name="connsiteY1" fmla="*/ 30650 h 61299"/>
                <a:gd name="connsiteX2" fmla="*/ 30650 w 61299"/>
                <a:gd name="connsiteY2" fmla="*/ 0 h 61299"/>
                <a:gd name="connsiteX3" fmla="*/ 61300 w 61299"/>
                <a:gd name="connsiteY3" fmla="*/ 30650 h 61299"/>
                <a:gd name="connsiteX4" fmla="*/ 30650 w 61299"/>
                <a:gd name="connsiteY4" fmla="*/ 61300 h 61299"/>
                <a:gd name="connsiteX5" fmla="*/ 30650 w 61299"/>
                <a:gd name="connsiteY5" fmla="*/ 6745 h 61299"/>
                <a:gd name="connsiteX6" fmla="*/ 6787 w 61299"/>
                <a:gd name="connsiteY6" fmla="*/ 30607 h 61299"/>
                <a:gd name="connsiteX7" fmla="*/ 30650 w 61299"/>
                <a:gd name="connsiteY7" fmla="*/ 54512 h 61299"/>
                <a:gd name="connsiteX8" fmla="*/ 54555 w 61299"/>
                <a:gd name="connsiteY8" fmla="*/ 30607 h 61299"/>
                <a:gd name="connsiteX9" fmla="*/ 30650 w 61299"/>
                <a:gd name="connsiteY9" fmla="*/ 6745 h 61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299" h="61299">
                  <a:moveTo>
                    <a:pt x="30650" y="61300"/>
                  </a:moveTo>
                  <a:cubicBezTo>
                    <a:pt x="13745" y="61300"/>
                    <a:pt x="0" y="47554"/>
                    <a:pt x="0" y="30650"/>
                  </a:cubicBezTo>
                  <a:cubicBezTo>
                    <a:pt x="0" y="13745"/>
                    <a:pt x="13745" y="0"/>
                    <a:pt x="30650" y="0"/>
                  </a:cubicBezTo>
                  <a:cubicBezTo>
                    <a:pt x="47554" y="0"/>
                    <a:pt x="61300" y="13745"/>
                    <a:pt x="61300" y="30650"/>
                  </a:cubicBezTo>
                  <a:cubicBezTo>
                    <a:pt x="61300" y="47554"/>
                    <a:pt x="47554" y="61300"/>
                    <a:pt x="30650" y="61300"/>
                  </a:cubicBezTo>
                  <a:close/>
                  <a:moveTo>
                    <a:pt x="30650" y="6745"/>
                  </a:moveTo>
                  <a:cubicBezTo>
                    <a:pt x="17502" y="6745"/>
                    <a:pt x="6787" y="17459"/>
                    <a:pt x="6787" y="30607"/>
                  </a:cubicBezTo>
                  <a:cubicBezTo>
                    <a:pt x="6787" y="43755"/>
                    <a:pt x="17502" y="54512"/>
                    <a:pt x="30650" y="54512"/>
                  </a:cubicBezTo>
                  <a:cubicBezTo>
                    <a:pt x="43798" y="54512"/>
                    <a:pt x="54555" y="43798"/>
                    <a:pt x="54555" y="30607"/>
                  </a:cubicBezTo>
                  <a:cubicBezTo>
                    <a:pt x="54555" y="17417"/>
                    <a:pt x="43840" y="6745"/>
                    <a:pt x="30650" y="6745"/>
                  </a:cubicBezTo>
                  <a:close/>
                </a:path>
              </a:pathLst>
            </a:custGeom>
            <a:solidFill>
              <a:schemeClr val="accent2"/>
            </a:solidFill>
            <a:ln w="4254" cap="flat">
              <a:noFill/>
              <a:prstDash val="solid"/>
              <a:miter/>
            </a:ln>
          </p:spPr>
          <p:txBody>
            <a:bodyPr rtlCol="0" anchor="ctr"/>
            <a:lstStyle/>
            <a:p>
              <a:endParaRPr lang="en-US"/>
            </a:p>
          </p:txBody>
        </p:sp>
        <p:sp>
          <p:nvSpPr>
            <p:cNvPr id="696" name="Freeform: Shape 695">
              <a:extLst>
                <a:ext uri="{FF2B5EF4-FFF2-40B4-BE49-F238E27FC236}">
                  <a16:creationId xmlns:a16="http://schemas.microsoft.com/office/drawing/2014/main" id="{C334C451-4A0D-4245-AAF8-EA6E833EBFB0}"/>
                </a:ext>
              </a:extLst>
            </p:cNvPr>
            <p:cNvSpPr/>
            <p:nvPr/>
          </p:nvSpPr>
          <p:spPr>
            <a:xfrm>
              <a:off x="1245336" y="2864535"/>
              <a:ext cx="54554" cy="54554"/>
            </a:xfrm>
            <a:custGeom>
              <a:avLst/>
              <a:gdLst>
                <a:gd name="connsiteX0" fmla="*/ 0 w 54554"/>
                <a:gd name="connsiteY0" fmla="*/ 27277 h 54554"/>
                <a:gd name="connsiteX1" fmla="*/ 27277 w 54554"/>
                <a:gd name="connsiteY1" fmla="*/ 54555 h 54554"/>
                <a:gd name="connsiteX2" fmla="*/ 54555 w 54554"/>
                <a:gd name="connsiteY2" fmla="*/ 27277 h 54554"/>
                <a:gd name="connsiteX3" fmla="*/ 27277 w 54554"/>
                <a:gd name="connsiteY3" fmla="*/ 0 h 54554"/>
                <a:gd name="connsiteX4" fmla="*/ 0 w 54554"/>
                <a:gd name="connsiteY4" fmla="*/ 27277 h 5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54" h="54554">
                  <a:moveTo>
                    <a:pt x="0" y="27277"/>
                  </a:moveTo>
                  <a:cubicBezTo>
                    <a:pt x="0" y="42346"/>
                    <a:pt x="12209" y="54555"/>
                    <a:pt x="27277" y="54555"/>
                  </a:cubicBezTo>
                  <a:cubicBezTo>
                    <a:pt x="42346" y="54555"/>
                    <a:pt x="54555" y="42346"/>
                    <a:pt x="54555" y="27277"/>
                  </a:cubicBezTo>
                  <a:cubicBezTo>
                    <a:pt x="54555" y="12209"/>
                    <a:pt x="42346" y="0"/>
                    <a:pt x="27277" y="0"/>
                  </a:cubicBezTo>
                  <a:cubicBezTo>
                    <a:pt x="12209" y="0"/>
                    <a:pt x="0" y="12209"/>
                    <a:pt x="0" y="27277"/>
                  </a:cubicBezTo>
                  <a:close/>
                </a:path>
              </a:pathLst>
            </a:custGeom>
            <a:solidFill>
              <a:schemeClr val="accent2"/>
            </a:solidFill>
            <a:ln w="4254" cap="flat">
              <a:noFill/>
              <a:prstDash val="solid"/>
              <a:miter/>
            </a:ln>
          </p:spPr>
          <p:txBody>
            <a:bodyPr rtlCol="0" anchor="ctr"/>
            <a:lstStyle/>
            <a:p>
              <a:endParaRPr lang="en-US"/>
            </a:p>
          </p:txBody>
        </p:sp>
        <p:sp>
          <p:nvSpPr>
            <p:cNvPr id="697" name="Freeform: Shape 696">
              <a:extLst>
                <a:ext uri="{FF2B5EF4-FFF2-40B4-BE49-F238E27FC236}">
                  <a16:creationId xmlns:a16="http://schemas.microsoft.com/office/drawing/2014/main" id="{4E688998-6AD0-4AE5-B126-18B7BD68C32E}"/>
                </a:ext>
              </a:extLst>
            </p:cNvPr>
            <p:cNvSpPr/>
            <p:nvPr/>
          </p:nvSpPr>
          <p:spPr>
            <a:xfrm>
              <a:off x="1263649" y="3181662"/>
              <a:ext cx="6744" cy="67489"/>
            </a:xfrm>
            <a:custGeom>
              <a:avLst/>
              <a:gdLst>
                <a:gd name="connsiteX0" fmla="*/ 3372 w 6744"/>
                <a:gd name="connsiteY0" fmla="*/ 67489 h 67489"/>
                <a:gd name="connsiteX1" fmla="*/ 0 w 6744"/>
                <a:gd name="connsiteY1" fmla="*/ 64117 h 67489"/>
                <a:gd name="connsiteX2" fmla="*/ 0 w 6744"/>
                <a:gd name="connsiteY2" fmla="*/ 3372 h 67489"/>
                <a:gd name="connsiteX3" fmla="*/ 3372 w 6744"/>
                <a:gd name="connsiteY3" fmla="*/ 0 h 67489"/>
                <a:gd name="connsiteX4" fmla="*/ 6745 w 6744"/>
                <a:gd name="connsiteY4" fmla="*/ 3372 h 67489"/>
                <a:gd name="connsiteX5" fmla="*/ 6745 w 6744"/>
                <a:gd name="connsiteY5" fmla="*/ 64117 h 67489"/>
                <a:gd name="connsiteX6" fmla="*/ 3372 w 6744"/>
                <a:gd name="connsiteY6" fmla="*/ 67489 h 67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44" h="67489">
                  <a:moveTo>
                    <a:pt x="3372" y="67489"/>
                  </a:moveTo>
                  <a:cubicBezTo>
                    <a:pt x="1494" y="67489"/>
                    <a:pt x="0" y="65953"/>
                    <a:pt x="0" y="64117"/>
                  </a:cubicBezTo>
                  <a:lnTo>
                    <a:pt x="0" y="3372"/>
                  </a:lnTo>
                  <a:cubicBezTo>
                    <a:pt x="0" y="1494"/>
                    <a:pt x="1537" y="0"/>
                    <a:pt x="3372" y="0"/>
                  </a:cubicBezTo>
                  <a:cubicBezTo>
                    <a:pt x="5208" y="0"/>
                    <a:pt x="6745" y="1537"/>
                    <a:pt x="6745" y="3372"/>
                  </a:cubicBezTo>
                  <a:lnTo>
                    <a:pt x="6745" y="64117"/>
                  </a:lnTo>
                  <a:cubicBezTo>
                    <a:pt x="6745" y="65995"/>
                    <a:pt x="5208" y="67489"/>
                    <a:pt x="3372" y="67489"/>
                  </a:cubicBezTo>
                  <a:close/>
                </a:path>
              </a:pathLst>
            </a:custGeom>
            <a:solidFill>
              <a:schemeClr val="accent6">
                <a:lumMod val="75000"/>
              </a:schemeClr>
            </a:solidFill>
            <a:ln w="4254" cap="flat">
              <a:noFill/>
              <a:prstDash val="solid"/>
              <a:miter/>
            </a:ln>
          </p:spPr>
          <p:txBody>
            <a:bodyPr rtlCol="0" anchor="ctr"/>
            <a:lstStyle/>
            <a:p>
              <a:endParaRPr lang="en-US"/>
            </a:p>
          </p:txBody>
        </p:sp>
        <p:sp>
          <p:nvSpPr>
            <p:cNvPr id="698" name="Freeform: Shape 697">
              <a:extLst>
                <a:ext uri="{FF2B5EF4-FFF2-40B4-BE49-F238E27FC236}">
                  <a16:creationId xmlns:a16="http://schemas.microsoft.com/office/drawing/2014/main" id="{7F6E07B3-183D-4516-88F9-2532611A1272}"/>
                </a:ext>
              </a:extLst>
            </p:cNvPr>
            <p:cNvSpPr/>
            <p:nvPr/>
          </p:nvSpPr>
          <p:spPr>
            <a:xfrm>
              <a:off x="1355983" y="3082413"/>
              <a:ext cx="104144" cy="179506"/>
            </a:xfrm>
            <a:custGeom>
              <a:avLst/>
              <a:gdLst>
                <a:gd name="connsiteX0" fmla="*/ 48749 w 104144"/>
                <a:gd name="connsiteY0" fmla="*/ 39187 h 179506"/>
                <a:gd name="connsiteX1" fmla="*/ 104030 w 104144"/>
                <a:gd name="connsiteY1" fmla="*/ 177666 h 179506"/>
                <a:gd name="connsiteX2" fmla="*/ 101640 w 104144"/>
                <a:gd name="connsiteY2" fmla="*/ 178819 h 179506"/>
                <a:gd name="connsiteX3" fmla="*/ 0 w 104144"/>
                <a:gd name="connsiteY3" fmla="*/ 0 h 179506"/>
                <a:gd name="connsiteX4" fmla="*/ 48749 w 104144"/>
                <a:gd name="connsiteY4" fmla="*/ 39187 h 179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144" h="179506">
                  <a:moveTo>
                    <a:pt x="48749" y="39187"/>
                  </a:moveTo>
                  <a:cubicBezTo>
                    <a:pt x="48749" y="39187"/>
                    <a:pt x="87168" y="135491"/>
                    <a:pt x="104030" y="177666"/>
                  </a:cubicBezTo>
                  <a:cubicBezTo>
                    <a:pt x="104670" y="179203"/>
                    <a:pt x="102451" y="180270"/>
                    <a:pt x="101640" y="178819"/>
                  </a:cubicBezTo>
                  <a:cubicBezTo>
                    <a:pt x="76838" y="134936"/>
                    <a:pt x="14386" y="25228"/>
                    <a:pt x="0" y="0"/>
                  </a:cubicBezTo>
                  <a:cubicBezTo>
                    <a:pt x="21429" y="10117"/>
                    <a:pt x="37224" y="24545"/>
                    <a:pt x="48749" y="39187"/>
                  </a:cubicBezTo>
                  <a:close/>
                </a:path>
              </a:pathLst>
            </a:custGeom>
            <a:solidFill>
              <a:schemeClr val="accent6">
                <a:lumMod val="75000"/>
              </a:schemeClr>
            </a:solidFill>
            <a:ln w="4254" cap="flat">
              <a:noFill/>
              <a:prstDash val="solid"/>
              <a:miter/>
            </a:ln>
          </p:spPr>
          <p:txBody>
            <a:bodyPr rtlCol="0" anchor="ctr"/>
            <a:lstStyle/>
            <a:p>
              <a:endParaRPr lang="en-US"/>
            </a:p>
          </p:txBody>
        </p:sp>
        <p:sp>
          <p:nvSpPr>
            <p:cNvPr id="699" name="Freeform: Shape 698">
              <a:extLst>
                <a:ext uri="{FF2B5EF4-FFF2-40B4-BE49-F238E27FC236}">
                  <a16:creationId xmlns:a16="http://schemas.microsoft.com/office/drawing/2014/main" id="{B59509F5-45C7-4296-B6EB-A02A0AA2C14A}"/>
                </a:ext>
              </a:extLst>
            </p:cNvPr>
            <p:cNvSpPr/>
            <p:nvPr/>
          </p:nvSpPr>
          <p:spPr>
            <a:xfrm rot="10800000">
              <a:off x="949425" y="3237370"/>
              <a:ext cx="785924" cy="435457"/>
            </a:xfrm>
            <a:custGeom>
              <a:avLst/>
              <a:gdLst>
                <a:gd name="connsiteX0" fmla="*/ 0 w 785924"/>
                <a:gd name="connsiteY0" fmla="*/ 0 h 435457"/>
                <a:gd name="connsiteX1" fmla="*/ 785924 w 785924"/>
                <a:gd name="connsiteY1" fmla="*/ 0 h 435457"/>
                <a:gd name="connsiteX2" fmla="*/ 785924 w 785924"/>
                <a:gd name="connsiteY2" fmla="*/ 435458 h 435457"/>
                <a:gd name="connsiteX3" fmla="*/ 0 w 785924"/>
                <a:gd name="connsiteY3" fmla="*/ 435458 h 435457"/>
              </a:gdLst>
              <a:ahLst/>
              <a:cxnLst>
                <a:cxn ang="0">
                  <a:pos x="connsiteX0" y="connsiteY0"/>
                </a:cxn>
                <a:cxn ang="0">
                  <a:pos x="connsiteX1" y="connsiteY1"/>
                </a:cxn>
                <a:cxn ang="0">
                  <a:pos x="connsiteX2" y="connsiteY2"/>
                </a:cxn>
                <a:cxn ang="0">
                  <a:pos x="connsiteX3" y="connsiteY3"/>
                </a:cxn>
              </a:cxnLst>
              <a:rect l="l" t="t" r="r" b="b"/>
              <a:pathLst>
                <a:path w="785924" h="435457">
                  <a:moveTo>
                    <a:pt x="0" y="0"/>
                  </a:moveTo>
                  <a:lnTo>
                    <a:pt x="785924" y="0"/>
                  </a:lnTo>
                  <a:lnTo>
                    <a:pt x="785924" y="435458"/>
                  </a:lnTo>
                  <a:lnTo>
                    <a:pt x="0" y="435458"/>
                  </a:lnTo>
                  <a:close/>
                </a:path>
              </a:pathLst>
            </a:custGeom>
            <a:solidFill>
              <a:schemeClr val="bg1"/>
            </a:solidFill>
            <a:ln w="4254" cap="flat">
              <a:noFill/>
              <a:prstDash val="solid"/>
              <a:miter/>
            </a:ln>
            <a:effectLst>
              <a:outerShdw blurRad="63500" algn="ctr" rotWithShape="0">
                <a:schemeClr val="bg1">
                  <a:lumMod val="65000"/>
                  <a:alpha val="40000"/>
                </a:schemeClr>
              </a:outerShdw>
            </a:effectLst>
          </p:spPr>
          <p:txBody>
            <a:bodyPr rtlCol="0" anchor="ctr"/>
            <a:lstStyle/>
            <a:p>
              <a:endParaRPr lang="en-US"/>
            </a:p>
          </p:txBody>
        </p:sp>
        <p:sp>
          <p:nvSpPr>
            <p:cNvPr id="700" name="Freeform: Shape 699">
              <a:extLst>
                <a:ext uri="{FF2B5EF4-FFF2-40B4-BE49-F238E27FC236}">
                  <a16:creationId xmlns:a16="http://schemas.microsoft.com/office/drawing/2014/main" id="{F90E957E-6C6B-407D-8086-4B4AC3E99D27}"/>
                </a:ext>
              </a:extLst>
            </p:cNvPr>
            <p:cNvSpPr/>
            <p:nvPr/>
          </p:nvSpPr>
          <p:spPr>
            <a:xfrm>
              <a:off x="981868" y="3290217"/>
              <a:ext cx="710324" cy="9818"/>
            </a:xfrm>
            <a:custGeom>
              <a:avLst/>
              <a:gdLst>
                <a:gd name="connsiteX0" fmla="*/ 705415 w 710324"/>
                <a:gd name="connsiteY0" fmla="*/ 9818 h 9818"/>
                <a:gd name="connsiteX1" fmla="*/ 4909 w 710324"/>
                <a:gd name="connsiteY1" fmla="*/ 9818 h 9818"/>
                <a:gd name="connsiteX2" fmla="*/ 0 w 710324"/>
                <a:gd name="connsiteY2" fmla="*/ 4909 h 9818"/>
                <a:gd name="connsiteX3" fmla="*/ 4909 w 710324"/>
                <a:gd name="connsiteY3" fmla="*/ 0 h 9818"/>
                <a:gd name="connsiteX4" fmla="*/ 705415 w 710324"/>
                <a:gd name="connsiteY4" fmla="*/ 0 h 9818"/>
                <a:gd name="connsiteX5" fmla="*/ 710324 w 710324"/>
                <a:gd name="connsiteY5" fmla="*/ 4909 h 9818"/>
                <a:gd name="connsiteX6" fmla="*/ 705415 w 710324"/>
                <a:gd name="connsiteY6" fmla="*/ 9818 h 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324" h="9818">
                  <a:moveTo>
                    <a:pt x="705415" y="9818"/>
                  </a:moveTo>
                  <a:lnTo>
                    <a:pt x="4909" y="9818"/>
                  </a:lnTo>
                  <a:cubicBezTo>
                    <a:pt x="2220" y="9818"/>
                    <a:pt x="0" y="7641"/>
                    <a:pt x="0" y="4909"/>
                  </a:cubicBezTo>
                  <a:cubicBezTo>
                    <a:pt x="0" y="2177"/>
                    <a:pt x="2177" y="0"/>
                    <a:pt x="4909" y="0"/>
                  </a:cubicBezTo>
                  <a:lnTo>
                    <a:pt x="705415" y="0"/>
                  </a:lnTo>
                  <a:cubicBezTo>
                    <a:pt x="708104" y="0"/>
                    <a:pt x="710324" y="2177"/>
                    <a:pt x="710324" y="4909"/>
                  </a:cubicBezTo>
                  <a:cubicBezTo>
                    <a:pt x="710324" y="7641"/>
                    <a:pt x="708147" y="9818"/>
                    <a:pt x="705415" y="9818"/>
                  </a:cubicBezTo>
                  <a:close/>
                </a:path>
              </a:pathLst>
            </a:custGeom>
            <a:solidFill>
              <a:schemeClr val="accent5"/>
            </a:solidFill>
            <a:ln w="4254" cap="flat">
              <a:noFill/>
              <a:prstDash val="solid"/>
              <a:miter/>
            </a:ln>
          </p:spPr>
          <p:txBody>
            <a:bodyPr rtlCol="0" anchor="ctr"/>
            <a:lstStyle/>
            <a:p>
              <a:endParaRPr lang="en-US"/>
            </a:p>
          </p:txBody>
        </p:sp>
        <p:sp>
          <p:nvSpPr>
            <p:cNvPr id="701" name="Freeform: Shape 700">
              <a:extLst>
                <a:ext uri="{FF2B5EF4-FFF2-40B4-BE49-F238E27FC236}">
                  <a16:creationId xmlns:a16="http://schemas.microsoft.com/office/drawing/2014/main" id="{2703EFEA-51B0-4044-9F70-BA454BCE21BE}"/>
                </a:ext>
              </a:extLst>
            </p:cNvPr>
            <p:cNvSpPr/>
            <p:nvPr/>
          </p:nvSpPr>
          <p:spPr>
            <a:xfrm>
              <a:off x="1262283" y="3190371"/>
              <a:ext cx="410271" cy="410186"/>
            </a:xfrm>
            <a:custGeom>
              <a:avLst/>
              <a:gdLst>
                <a:gd name="connsiteX0" fmla="*/ 0 w 410271"/>
                <a:gd name="connsiteY0" fmla="*/ 189448 h 410186"/>
                <a:gd name="connsiteX1" fmla="*/ 0 w 410271"/>
                <a:gd name="connsiteY1" fmla="*/ 220610 h 410186"/>
                <a:gd name="connsiteX2" fmla="*/ 21557 w 410271"/>
                <a:gd name="connsiteY2" fmla="*/ 242168 h 410186"/>
                <a:gd name="connsiteX3" fmla="*/ 42090 w 410271"/>
                <a:gd name="connsiteY3" fmla="*/ 242168 h 410186"/>
                <a:gd name="connsiteX4" fmla="*/ 62580 w 410271"/>
                <a:gd name="connsiteY4" fmla="*/ 256255 h 410186"/>
                <a:gd name="connsiteX5" fmla="*/ 68172 w 410271"/>
                <a:gd name="connsiteY5" fmla="*/ 269573 h 410186"/>
                <a:gd name="connsiteX6" fmla="*/ 63818 w 410271"/>
                <a:gd name="connsiteY6" fmla="*/ 293820 h 410186"/>
                <a:gd name="connsiteX7" fmla="*/ 49091 w 410271"/>
                <a:gd name="connsiteY7" fmla="*/ 308547 h 410186"/>
                <a:gd name="connsiteX8" fmla="*/ 49091 w 410271"/>
                <a:gd name="connsiteY8" fmla="*/ 339069 h 410186"/>
                <a:gd name="connsiteX9" fmla="*/ 71118 w 410271"/>
                <a:gd name="connsiteY9" fmla="*/ 361096 h 410186"/>
                <a:gd name="connsiteX10" fmla="*/ 101640 w 410271"/>
                <a:gd name="connsiteY10" fmla="*/ 361096 h 410186"/>
                <a:gd name="connsiteX11" fmla="*/ 116068 w 410271"/>
                <a:gd name="connsiteY11" fmla="*/ 346667 h 410186"/>
                <a:gd name="connsiteX12" fmla="*/ 140400 w 410271"/>
                <a:gd name="connsiteY12" fmla="*/ 342356 h 410186"/>
                <a:gd name="connsiteX13" fmla="*/ 153804 w 410271"/>
                <a:gd name="connsiteY13" fmla="*/ 348076 h 410186"/>
                <a:gd name="connsiteX14" fmla="*/ 167976 w 410271"/>
                <a:gd name="connsiteY14" fmla="*/ 368096 h 410186"/>
                <a:gd name="connsiteX15" fmla="*/ 167976 w 410271"/>
                <a:gd name="connsiteY15" fmla="*/ 388629 h 410186"/>
                <a:gd name="connsiteX16" fmla="*/ 189534 w 410271"/>
                <a:gd name="connsiteY16" fmla="*/ 410186 h 410186"/>
                <a:gd name="connsiteX17" fmla="*/ 220696 w 410271"/>
                <a:gd name="connsiteY17" fmla="*/ 410186 h 410186"/>
                <a:gd name="connsiteX18" fmla="*/ 242253 w 410271"/>
                <a:gd name="connsiteY18" fmla="*/ 388629 h 410186"/>
                <a:gd name="connsiteX19" fmla="*/ 242253 w 410271"/>
                <a:gd name="connsiteY19" fmla="*/ 369633 h 410186"/>
                <a:gd name="connsiteX20" fmla="*/ 256980 w 410271"/>
                <a:gd name="connsiteY20" fmla="*/ 349442 h 410186"/>
                <a:gd name="connsiteX21" fmla="*/ 271067 w 410271"/>
                <a:gd name="connsiteY21" fmla="*/ 343850 h 410186"/>
                <a:gd name="connsiteX22" fmla="*/ 295570 w 410271"/>
                <a:gd name="connsiteY22" fmla="*/ 348076 h 410186"/>
                <a:gd name="connsiteX23" fmla="*/ 308632 w 410271"/>
                <a:gd name="connsiteY23" fmla="*/ 361138 h 410186"/>
                <a:gd name="connsiteX24" fmla="*/ 339154 w 410271"/>
                <a:gd name="connsiteY24" fmla="*/ 361138 h 410186"/>
                <a:gd name="connsiteX25" fmla="*/ 361181 w 410271"/>
                <a:gd name="connsiteY25" fmla="*/ 339111 h 410186"/>
                <a:gd name="connsiteX26" fmla="*/ 361181 w 410271"/>
                <a:gd name="connsiteY26" fmla="*/ 308590 h 410186"/>
                <a:gd name="connsiteX27" fmla="*/ 349442 w 410271"/>
                <a:gd name="connsiteY27" fmla="*/ 296851 h 410186"/>
                <a:gd name="connsiteX28" fmla="*/ 345344 w 410271"/>
                <a:gd name="connsiteY28" fmla="*/ 272134 h 410186"/>
                <a:gd name="connsiteX29" fmla="*/ 352217 w 410271"/>
                <a:gd name="connsiteY29" fmla="*/ 256169 h 410186"/>
                <a:gd name="connsiteX30" fmla="*/ 372365 w 410271"/>
                <a:gd name="connsiteY30" fmla="*/ 242253 h 410186"/>
                <a:gd name="connsiteX31" fmla="*/ 388715 w 410271"/>
                <a:gd name="connsiteY31" fmla="*/ 242253 h 410186"/>
                <a:gd name="connsiteX32" fmla="*/ 410272 w 410271"/>
                <a:gd name="connsiteY32" fmla="*/ 220696 h 410186"/>
                <a:gd name="connsiteX33" fmla="*/ 410272 w 410271"/>
                <a:gd name="connsiteY33" fmla="*/ 189534 h 410186"/>
                <a:gd name="connsiteX34" fmla="*/ 388715 w 410271"/>
                <a:gd name="connsiteY34" fmla="*/ 167976 h 410186"/>
                <a:gd name="connsiteX35" fmla="*/ 373390 w 410271"/>
                <a:gd name="connsiteY35" fmla="*/ 167976 h 410186"/>
                <a:gd name="connsiteX36" fmla="*/ 353070 w 410271"/>
                <a:gd name="connsiteY36" fmla="*/ 153633 h 410186"/>
                <a:gd name="connsiteX37" fmla="*/ 346155 w 410271"/>
                <a:gd name="connsiteY37" fmla="*/ 136772 h 410186"/>
                <a:gd name="connsiteX38" fmla="*/ 350424 w 410271"/>
                <a:gd name="connsiteY38" fmla="*/ 112397 h 410186"/>
                <a:gd name="connsiteX39" fmla="*/ 361224 w 410271"/>
                <a:gd name="connsiteY39" fmla="*/ 101597 h 410186"/>
                <a:gd name="connsiteX40" fmla="*/ 361224 w 410271"/>
                <a:gd name="connsiteY40" fmla="*/ 71075 h 410186"/>
                <a:gd name="connsiteX41" fmla="*/ 339197 w 410271"/>
                <a:gd name="connsiteY41" fmla="*/ 49048 h 410186"/>
                <a:gd name="connsiteX42" fmla="*/ 308675 w 410271"/>
                <a:gd name="connsiteY42" fmla="*/ 49048 h 410186"/>
                <a:gd name="connsiteX43" fmla="*/ 297619 w 410271"/>
                <a:gd name="connsiteY43" fmla="*/ 60104 h 410186"/>
                <a:gd name="connsiteX44" fmla="*/ 273372 w 410271"/>
                <a:gd name="connsiteY44" fmla="*/ 64459 h 410186"/>
                <a:gd name="connsiteX45" fmla="*/ 256767 w 410271"/>
                <a:gd name="connsiteY45" fmla="*/ 57757 h 410186"/>
                <a:gd name="connsiteX46" fmla="*/ 242338 w 410271"/>
                <a:gd name="connsiteY46" fmla="*/ 37394 h 410186"/>
                <a:gd name="connsiteX47" fmla="*/ 242338 w 410271"/>
                <a:gd name="connsiteY47" fmla="*/ 21557 h 410186"/>
                <a:gd name="connsiteX48" fmla="*/ 220781 w 410271"/>
                <a:gd name="connsiteY48" fmla="*/ 0 h 410186"/>
                <a:gd name="connsiteX49" fmla="*/ 189619 w 410271"/>
                <a:gd name="connsiteY49" fmla="*/ 0 h 410186"/>
                <a:gd name="connsiteX50" fmla="*/ 168062 w 410271"/>
                <a:gd name="connsiteY50" fmla="*/ 21557 h 410186"/>
                <a:gd name="connsiteX51" fmla="*/ 168062 w 410271"/>
                <a:gd name="connsiteY51" fmla="*/ 38974 h 410186"/>
                <a:gd name="connsiteX52" fmla="*/ 154188 w 410271"/>
                <a:gd name="connsiteY52" fmla="*/ 59123 h 410186"/>
                <a:gd name="connsiteX53" fmla="*/ 138991 w 410271"/>
                <a:gd name="connsiteY53" fmla="*/ 65696 h 410186"/>
                <a:gd name="connsiteX54" fmla="*/ 114232 w 410271"/>
                <a:gd name="connsiteY54" fmla="*/ 61598 h 410186"/>
                <a:gd name="connsiteX55" fmla="*/ 101725 w 410271"/>
                <a:gd name="connsiteY55" fmla="*/ 49091 h 410186"/>
                <a:gd name="connsiteX56" fmla="*/ 71203 w 410271"/>
                <a:gd name="connsiteY56" fmla="*/ 49091 h 410186"/>
                <a:gd name="connsiteX57" fmla="*/ 49176 w 410271"/>
                <a:gd name="connsiteY57" fmla="*/ 71118 h 410186"/>
                <a:gd name="connsiteX58" fmla="*/ 49176 w 410271"/>
                <a:gd name="connsiteY58" fmla="*/ 101640 h 410186"/>
                <a:gd name="connsiteX59" fmla="*/ 63221 w 410271"/>
                <a:gd name="connsiteY59" fmla="*/ 115684 h 410186"/>
                <a:gd name="connsiteX60" fmla="*/ 67361 w 410271"/>
                <a:gd name="connsiteY60" fmla="*/ 139717 h 410186"/>
                <a:gd name="connsiteX61" fmla="*/ 61855 w 410271"/>
                <a:gd name="connsiteY61" fmla="*/ 153548 h 410186"/>
                <a:gd name="connsiteX62" fmla="*/ 41236 w 410271"/>
                <a:gd name="connsiteY62" fmla="*/ 167976 h 410186"/>
                <a:gd name="connsiteX63" fmla="*/ 21728 w 410271"/>
                <a:gd name="connsiteY63" fmla="*/ 167976 h 410186"/>
                <a:gd name="connsiteX64" fmla="*/ 171 w 410271"/>
                <a:gd name="connsiteY64" fmla="*/ 189534 h 410186"/>
                <a:gd name="connsiteX65" fmla="*/ 127210 w 410271"/>
                <a:gd name="connsiteY65" fmla="*/ 205029 h 410186"/>
                <a:gd name="connsiteX66" fmla="*/ 205115 w 410271"/>
                <a:gd name="connsiteY66" fmla="*/ 127124 h 410186"/>
                <a:gd name="connsiteX67" fmla="*/ 283020 w 410271"/>
                <a:gd name="connsiteY67" fmla="*/ 205029 h 410186"/>
                <a:gd name="connsiteX68" fmla="*/ 205115 w 410271"/>
                <a:gd name="connsiteY68" fmla="*/ 282934 h 410186"/>
                <a:gd name="connsiteX69" fmla="*/ 127210 w 410271"/>
                <a:gd name="connsiteY69" fmla="*/ 205029 h 410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410271" h="410186">
                  <a:moveTo>
                    <a:pt x="0" y="189448"/>
                  </a:moveTo>
                  <a:lnTo>
                    <a:pt x="0" y="220610"/>
                  </a:lnTo>
                  <a:cubicBezTo>
                    <a:pt x="0" y="232520"/>
                    <a:pt x="9647" y="242168"/>
                    <a:pt x="21557" y="242168"/>
                  </a:cubicBezTo>
                  <a:lnTo>
                    <a:pt x="42090" y="242168"/>
                  </a:lnTo>
                  <a:cubicBezTo>
                    <a:pt x="51183" y="242168"/>
                    <a:pt x="59464" y="247717"/>
                    <a:pt x="62580" y="256255"/>
                  </a:cubicBezTo>
                  <a:cubicBezTo>
                    <a:pt x="64245" y="260779"/>
                    <a:pt x="66081" y="265219"/>
                    <a:pt x="68172" y="269573"/>
                  </a:cubicBezTo>
                  <a:cubicBezTo>
                    <a:pt x="72057" y="277726"/>
                    <a:pt x="70179" y="287417"/>
                    <a:pt x="63818" y="293820"/>
                  </a:cubicBezTo>
                  <a:lnTo>
                    <a:pt x="49091" y="308547"/>
                  </a:lnTo>
                  <a:cubicBezTo>
                    <a:pt x="40681" y="316956"/>
                    <a:pt x="40681" y="330617"/>
                    <a:pt x="49091" y="339069"/>
                  </a:cubicBezTo>
                  <a:lnTo>
                    <a:pt x="71118" y="361096"/>
                  </a:lnTo>
                  <a:cubicBezTo>
                    <a:pt x="79527" y="369505"/>
                    <a:pt x="93187" y="369505"/>
                    <a:pt x="101640" y="361096"/>
                  </a:cubicBezTo>
                  <a:lnTo>
                    <a:pt x="116068" y="346667"/>
                  </a:lnTo>
                  <a:cubicBezTo>
                    <a:pt x="122471" y="340264"/>
                    <a:pt x="132247" y="338428"/>
                    <a:pt x="140400" y="342356"/>
                  </a:cubicBezTo>
                  <a:cubicBezTo>
                    <a:pt x="144754" y="344447"/>
                    <a:pt x="149236" y="346368"/>
                    <a:pt x="153804" y="348076"/>
                  </a:cubicBezTo>
                  <a:cubicBezTo>
                    <a:pt x="162256" y="351192"/>
                    <a:pt x="167976" y="359089"/>
                    <a:pt x="167976" y="368096"/>
                  </a:cubicBezTo>
                  <a:lnTo>
                    <a:pt x="167976" y="388629"/>
                  </a:lnTo>
                  <a:cubicBezTo>
                    <a:pt x="167976" y="400539"/>
                    <a:pt x="177624" y="410186"/>
                    <a:pt x="189534" y="410186"/>
                  </a:cubicBezTo>
                  <a:lnTo>
                    <a:pt x="220696" y="410186"/>
                  </a:lnTo>
                  <a:cubicBezTo>
                    <a:pt x="232605" y="410186"/>
                    <a:pt x="242253" y="400539"/>
                    <a:pt x="242253" y="388629"/>
                  </a:cubicBezTo>
                  <a:lnTo>
                    <a:pt x="242253" y="369633"/>
                  </a:lnTo>
                  <a:cubicBezTo>
                    <a:pt x="242253" y="360413"/>
                    <a:pt x="248272" y="352387"/>
                    <a:pt x="256980" y="349442"/>
                  </a:cubicBezTo>
                  <a:cubicBezTo>
                    <a:pt x="261804" y="347820"/>
                    <a:pt x="266500" y="345942"/>
                    <a:pt x="271067" y="343850"/>
                  </a:cubicBezTo>
                  <a:cubicBezTo>
                    <a:pt x="279349" y="340093"/>
                    <a:pt x="289124" y="341630"/>
                    <a:pt x="295570" y="348076"/>
                  </a:cubicBezTo>
                  <a:lnTo>
                    <a:pt x="308632" y="361138"/>
                  </a:lnTo>
                  <a:cubicBezTo>
                    <a:pt x="317042" y="369548"/>
                    <a:pt x="330702" y="369548"/>
                    <a:pt x="339154" y="361138"/>
                  </a:cubicBezTo>
                  <a:lnTo>
                    <a:pt x="361181" y="339111"/>
                  </a:lnTo>
                  <a:cubicBezTo>
                    <a:pt x="369591" y="330702"/>
                    <a:pt x="369591" y="317042"/>
                    <a:pt x="361181" y="308590"/>
                  </a:cubicBezTo>
                  <a:lnTo>
                    <a:pt x="349442" y="296851"/>
                  </a:lnTo>
                  <a:cubicBezTo>
                    <a:pt x="342911" y="290319"/>
                    <a:pt x="341203" y="280373"/>
                    <a:pt x="345344" y="272134"/>
                  </a:cubicBezTo>
                  <a:cubicBezTo>
                    <a:pt x="347905" y="266969"/>
                    <a:pt x="350210" y="261633"/>
                    <a:pt x="352217" y="256169"/>
                  </a:cubicBezTo>
                  <a:cubicBezTo>
                    <a:pt x="355290" y="247760"/>
                    <a:pt x="363401" y="242253"/>
                    <a:pt x="372365" y="242253"/>
                  </a:cubicBezTo>
                  <a:lnTo>
                    <a:pt x="388715" y="242253"/>
                  </a:lnTo>
                  <a:cubicBezTo>
                    <a:pt x="400624" y="242253"/>
                    <a:pt x="410272" y="232606"/>
                    <a:pt x="410272" y="220696"/>
                  </a:cubicBezTo>
                  <a:lnTo>
                    <a:pt x="410272" y="189534"/>
                  </a:lnTo>
                  <a:cubicBezTo>
                    <a:pt x="410272" y="177624"/>
                    <a:pt x="400624" y="167976"/>
                    <a:pt x="388715" y="167976"/>
                  </a:cubicBezTo>
                  <a:lnTo>
                    <a:pt x="373390" y="167976"/>
                  </a:lnTo>
                  <a:cubicBezTo>
                    <a:pt x="364255" y="167976"/>
                    <a:pt x="356016" y="162299"/>
                    <a:pt x="353070" y="153633"/>
                  </a:cubicBezTo>
                  <a:cubicBezTo>
                    <a:pt x="351107" y="147828"/>
                    <a:pt x="348759" y="142193"/>
                    <a:pt x="346155" y="136772"/>
                  </a:cubicBezTo>
                  <a:cubicBezTo>
                    <a:pt x="342228" y="128618"/>
                    <a:pt x="344021" y="118800"/>
                    <a:pt x="350424" y="112397"/>
                  </a:cubicBezTo>
                  <a:lnTo>
                    <a:pt x="361224" y="101597"/>
                  </a:lnTo>
                  <a:cubicBezTo>
                    <a:pt x="369633" y="93187"/>
                    <a:pt x="369633" y="79527"/>
                    <a:pt x="361224" y="71075"/>
                  </a:cubicBezTo>
                  <a:lnTo>
                    <a:pt x="339197" y="49048"/>
                  </a:lnTo>
                  <a:cubicBezTo>
                    <a:pt x="330787" y="40639"/>
                    <a:pt x="317127" y="40639"/>
                    <a:pt x="308675" y="49048"/>
                  </a:cubicBezTo>
                  <a:lnTo>
                    <a:pt x="297619" y="60104"/>
                  </a:lnTo>
                  <a:cubicBezTo>
                    <a:pt x="291216" y="66508"/>
                    <a:pt x="281526" y="68300"/>
                    <a:pt x="273372" y="64459"/>
                  </a:cubicBezTo>
                  <a:cubicBezTo>
                    <a:pt x="267994" y="61897"/>
                    <a:pt x="262444" y="59677"/>
                    <a:pt x="256767" y="57757"/>
                  </a:cubicBezTo>
                  <a:cubicBezTo>
                    <a:pt x="248101" y="54811"/>
                    <a:pt x="242338" y="46572"/>
                    <a:pt x="242338" y="37394"/>
                  </a:cubicBezTo>
                  <a:lnTo>
                    <a:pt x="242338" y="21557"/>
                  </a:lnTo>
                  <a:cubicBezTo>
                    <a:pt x="242338" y="9647"/>
                    <a:pt x="232691" y="0"/>
                    <a:pt x="220781" y="0"/>
                  </a:cubicBezTo>
                  <a:lnTo>
                    <a:pt x="189619" y="0"/>
                  </a:lnTo>
                  <a:cubicBezTo>
                    <a:pt x="177709" y="0"/>
                    <a:pt x="168062" y="9647"/>
                    <a:pt x="168062" y="21557"/>
                  </a:cubicBezTo>
                  <a:lnTo>
                    <a:pt x="168062" y="38974"/>
                  </a:lnTo>
                  <a:cubicBezTo>
                    <a:pt x="168062" y="47896"/>
                    <a:pt x="162598" y="56006"/>
                    <a:pt x="154188" y="59123"/>
                  </a:cubicBezTo>
                  <a:cubicBezTo>
                    <a:pt x="148980" y="61043"/>
                    <a:pt x="143900" y="63263"/>
                    <a:pt x="138991" y="65696"/>
                  </a:cubicBezTo>
                  <a:cubicBezTo>
                    <a:pt x="130753" y="69794"/>
                    <a:pt x="120764" y="68130"/>
                    <a:pt x="114232" y="61598"/>
                  </a:cubicBezTo>
                  <a:lnTo>
                    <a:pt x="101725" y="49091"/>
                  </a:lnTo>
                  <a:cubicBezTo>
                    <a:pt x="93315" y="40681"/>
                    <a:pt x="79655" y="40681"/>
                    <a:pt x="71203" y="49091"/>
                  </a:cubicBezTo>
                  <a:lnTo>
                    <a:pt x="49176" y="71118"/>
                  </a:lnTo>
                  <a:cubicBezTo>
                    <a:pt x="40767" y="79527"/>
                    <a:pt x="40767" y="93187"/>
                    <a:pt x="49176" y="101640"/>
                  </a:cubicBezTo>
                  <a:lnTo>
                    <a:pt x="63221" y="115684"/>
                  </a:lnTo>
                  <a:cubicBezTo>
                    <a:pt x="69538" y="122002"/>
                    <a:pt x="71075" y="131606"/>
                    <a:pt x="67361" y="139717"/>
                  </a:cubicBezTo>
                  <a:cubicBezTo>
                    <a:pt x="65312" y="144199"/>
                    <a:pt x="63477" y="148809"/>
                    <a:pt x="61855" y="153548"/>
                  </a:cubicBezTo>
                  <a:cubicBezTo>
                    <a:pt x="58866" y="162256"/>
                    <a:pt x="50457" y="167976"/>
                    <a:pt x="41236" y="167976"/>
                  </a:cubicBezTo>
                  <a:lnTo>
                    <a:pt x="21728" y="167976"/>
                  </a:lnTo>
                  <a:cubicBezTo>
                    <a:pt x="9818" y="167976"/>
                    <a:pt x="171" y="177624"/>
                    <a:pt x="171" y="189534"/>
                  </a:cubicBezTo>
                  <a:close/>
                  <a:moveTo>
                    <a:pt x="127210" y="205029"/>
                  </a:moveTo>
                  <a:cubicBezTo>
                    <a:pt x="127210" y="162000"/>
                    <a:pt x="162085" y="127124"/>
                    <a:pt x="205115" y="127124"/>
                  </a:cubicBezTo>
                  <a:cubicBezTo>
                    <a:pt x="248144" y="127124"/>
                    <a:pt x="283020" y="162000"/>
                    <a:pt x="283020" y="205029"/>
                  </a:cubicBezTo>
                  <a:cubicBezTo>
                    <a:pt x="283020" y="248058"/>
                    <a:pt x="248144" y="282934"/>
                    <a:pt x="205115" y="282934"/>
                  </a:cubicBezTo>
                  <a:cubicBezTo>
                    <a:pt x="162085" y="282934"/>
                    <a:pt x="127210" y="248058"/>
                    <a:pt x="127210" y="205029"/>
                  </a:cubicBezTo>
                  <a:close/>
                </a:path>
              </a:pathLst>
            </a:custGeom>
            <a:solidFill>
              <a:srgbClr val="AF222B"/>
            </a:solidFill>
            <a:ln w="4254" cap="flat">
              <a:noFill/>
              <a:prstDash val="solid"/>
              <a:miter/>
            </a:ln>
          </p:spPr>
          <p:txBody>
            <a:bodyPr rtlCol="0" anchor="ctr"/>
            <a:lstStyle/>
            <a:p>
              <a:endParaRPr lang="en-US"/>
            </a:p>
          </p:txBody>
        </p:sp>
        <p:sp>
          <p:nvSpPr>
            <p:cNvPr id="702" name="Freeform: Shape 701">
              <a:extLst>
                <a:ext uri="{FF2B5EF4-FFF2-40B4-BE49-F238E27FC236}">
                  <a16:creationId xmlns:a16="http://schemas.microsoft.com/office/drawing/2014/main" id="{90CA503B-9CC0-4201-BF41-586B0EE6202C}"/>
                </a:ext>
              </a:extLst>
            </p:cNvPr>
            <p:cNvSpPr/>
            <p:nvPr/>
          </p:nvSpPr>
          <p:spPr>
            <a:xfrm>
              <a:off x="1013371" y="3428696"/>
              <a:ext cx="285282" cy="285196"/>
            </a:xfrm>
            <a:custGeom>
              <a:avLst/>
              <a:gdLst>
                <a:gd name="connsiteX0" fmla="*/ 0 w 285282"/>
                <a:gd name="connsiteY0" fmla="*/ 131734 h 285196"/>
                <a:gd name="connsiteX1" fmla="*/ 0 w 285282"/>
                <a:gd name="connsiteY1" fmla="*/ 153420 h 285196"/>
                <a:gd name="connsiteX2" fmla="*/ 14983 w 285282"/>
                <a:gd name="connsiteY2" fmla="*/ 168403 h 285196"/>
                <a:gd name="connsiteX3" fmla="*/ 29241 w 285282"/>
                <a:gd name="connsiteY3" fmla="*/ 168403 h 285196"/>
                <a:gd name="connsiteX4" fmla="*/ 43499 w 285282"/>
                <a:gd name="connsiteY4" fmla="*/ 178179 h 285196"/>
                <a:gd name="connsiteX5" fmla="*/ 47383 w 285282"/>
                <a:gd name="connsiteY5" fmla="*/ 187442 h 285196"/>
                <a:gd name="connsiteX6" fmla="*/ 44353 w 285282"/>
                <a:gd name="connsiteY6" fmla="*/ 204304 h 285196"/>
                <a:gd name="connsiteX7" fmla="*/ 34108 w 285282"/>
                <a:gd name="connsiteY7" fmla="*/ 214549 h 285196"/>
                <a:gd name="connsiteX8" fmla="*/ 34108 w 285282"/>
                <a:gd name="connsiteY8" fmla="*/ 235764 h 285196"/>
                <a:gd name="connsiteX9" fmla="*/ 49432 w 285282"/>
                <a:gd name="connsiteY9" fmla="*/ 251089 h 285196"/>
                <a:gd name="connsiteX10" fmla="*/ 70648 w 285282"/>
                <a:gd name="connsiteY10" fmla="*/ 251089 h 285196"/>
                <a:gd name="connsiteX11" fmla="*/ 80680 w 285282"/>
                <a:gd name="connsiteY11" fmla="*/ 241058 h 285196"/>
                <a:gd name="connsiteX12" fmla="*/ 97627 w 285282"/>
                <a:gd name="connsiteY12" fmla="*/ 238070 h 285196"/>
                <a:gd name="connsiteX13" fmla="*/ 106933 w 285282"/>
                <a:gd name="connsiteY13" fmla="*/ 242039 h 285196"/>
                <a:gd name="connsiteX14" fmla="*/ 116794 w 285282"/>
                <a:gd name="connsiteY14" fmla="*/ 255956 h 285196"/>
                <a:gd name="connsiteX15" fmla="*/ 116794 w 285282"/>
                <a:gd name="connsiteY15" fmla="*/ 270213 h 285196"/>
                <a:gd name="connsiteX16" fmla="*/ 131777 w 285282"/>
                <a:gd name="connsiteY16" fmla="*/ 285197 h 285196"/>
                <a:gd name="connsiteX17" fmla="*/ 153462 w 285282"/>
                <a:gd name="connsiteY17" fmla="*/ 285197 h 285196"/>
                <a:gd name="connsiteX18" fmla="*/ 168446 w 285282"/>
                <a:gd name="connsiteY18" fmla="*/ 270213 h 285196"/>
                <a:gd name="connsiteX19" fmla="*/ 168446 w 285282"/>
                <a:gd name="connsiteY19" fmla="*/ 257023 h 285196"/>
                <a:gd name="connsiteX20" fmla="*/ 178691 w 285282"/>
                <a:gd name="connsiteY20" fmla="*/ 242979 h 285196"/>
                <a:gd name="connsiteX21" fmla="*/ 188466 w 285282"/>
                <a:gd name="connsiteY21" fmla="*/ 239094 h 285196"/>
                <a:gd name="connsiteX22" fmla="*/ 205499 w 285282"/>
                <a:gd name="connsiteY22" fmla="*/ 242039 h 285196"/>
                <a:gd name="connsiteX23" fmla="*/ 214591 w 285282"/>
                <a:gd name="connsiteY23" fmla="*/ 251132 h 285196"/>
                <a:gd name="connsiteX24" fmla="*/ 235807 w 285282"/>
                <a:gd name="connsiteY24" fmla="*/ 251132 h 285196"/>
                <a:gd name="connsiteX25" fmla="*/ 251132 w 285282"/>
                <a:gd name="connsiteY25" fmla="*/ 235807 h 285196"/>
                <a:gd name="connsiteX26" fmla="*/ 251132 w 285282"/>
                <a:gd name="connsiteY26" fmla="*/ 214591 h 285196"/>
                <a:gd name="connsiteX27" fmla="*/ 242979 w 285282"/>
                <a:gd name="connsiteY27" fmla="*/ 206438 h 285196"/>
                <a:gd name="connsiteX28" fmla="*/ 240119 w 285282"/>
                <a:gd name="connsiteY28" fmla="*/ 189235 h 285196"/>
                <a:gd name="connsiteX29" fmla="*/ 244900 w 285282"/>
                <a:gd name="connsiteY29" fmla="*/ 178136 h 285196"/>
                <a:gd name="connsiteX30" fmla="*/ 258944 w 285282"/>
                <a:gd name="connsiteY30" fmla="*/ 168446 h 285196"/>
                <a:gd name="connsiteX31" fmla="*/ 270299 w 285282"/>
                <a:gd name="connsiteY31" fmla="*/ 168446 h 285196"/>
                <a:gd name="connsiteX32" fmla="*/ 285282 w 285282"/>
                <a:gd name="connsiteY32" fmla="*/ 153462 h 285196"/>
                <a:gd name="connsiteX33" fmla="*/ 285282 w 285282"/>
                <a:gd name="connsiteY33" fmla="*/ 131777 h 285196"/>
                <a:gd name="connsiteX34" fmla="*/ 270299 w 285282"/>
                <a:gd name="connsiteY34" fmla="*/ 116794 h 285196"/>
                <a:gd name="connsiteX35" fmla="*/ 259627 w 285282"/>
                <a:gd name="connsiteY35" fmla="*/ 116794 h 285196"/>
                <a:gd name="connsiteX36" fmla="*/ 245497 w 285282"/>
                <a:gd name="connsiteY36" fmla="*/ 106847 h 285196"/>
                <a:gd name="connsiteX37" fmla="*/ 240674 w 285282"/>
                <a:gd name="connsiteY37" fmla="*/ 95108 h 285196"/>
                <a:gd name="connsiteX38" fmla="*/ 243662 w 285282"/>
                <a:gd name="connsiteY38" fmla="*/ 78161 h 285196"/>
                <a:gd name="connsiteX39" fmla="*/ 251175 w 285282"/>
                <a:gd name="connsiteY39" fmla="*/ 70648 h 285196"/>
                <a:gd name="connsiteX40" fmla="*/ 251175 w 285282"/>
                <a:gd name="connsiteY40" fmla="*/ 49432 h 285196"/>
                <a:gd name="connsiteX41" fmla="*/ 235850 w 285282"/>
                <a:gd name="connsiteY41" fmla="*/ 34108 h 285196"/>
                <a:gd name="connsiteX42" fmla="*/ 214634 w 285282"/>
                <a:gd name="connsiteY42" fmla="*/ 34108 h 285196"/>
                <a:gd name="connsiteX43" fmla="*/ 206950 w 285282"/>
                <a:gd name="connsiteY43" fmla="*/ 41791 h 285196"/>
                <a:gd name="connsiteX44" fmla="*/ 190089 w 285282"/>
                <a:gd name="connsiteY44" fmla="*/ 44822 h 285196"/>
                <a:gd name="connsiteX45" fmla="*/ 178563 w 285282"/>
                <a:gd name="connsiteY45" fmla="*/ 40169 h 285196"/>
                <a:gd name="connsiteX46" fmla="*/ 168531 w 285282"/>
                <a:gd name="connsiteY46" fmla="*/ 25997 h 285196"/>
                <a:gd name="connsiteX47" fmla="*/ 168531 w 285282"/>
                <a:gd name="connsiteY47" fmla="*/ 14983 h 285196"/>
                <a:gd name="connsiteX48" fmla="*/ 153548 w 285282"/>
                <a:gd name="connsiteY48" fmla="*/ 0 h 285196"/>
                <a:gd name="connsiteX49" fmla="*/ 131862 w 285282"/>
                <a:gd name="connsiteY49" fmla="*/ 0 h 285196"/>
                <a:gd name="connsiteX50" fmla="*/ 116879 w 285282"/>
                <a:gd name="connsiteY50" fmla="*/ 14983 h 285196"/>
                <a:gd name="connsiteX51" fmla="*/ 116879 w 285282"/>
                <a:gd name="connsiteY51" fmla="*/ 27064 h 285196"/>
                <a:gd name="connsiteX52" fmla="*/ 107232 w 285282"/>
                <a:gd name="connsiteY52" fmla="*/ 41066 h 285196"/>
                <a:gd name="connsiteX53" fmla="*/ 96645 w 285282"/>
                <a:gd name="connsiteY53" fmla="*/ 45633 h 285196"/>
                <a:gd name="connsiteX54" fmla="*/ 79442 w 285282"/>
                <a:gd name="connsiteY54" fmla="*/ 42773 h 285196"/>
                <a:gd name="connsiteX55" fmla="*/ 70734 w 285282"/>
                <a:gd name="connsiteY55" fmla="*/ 34065 h 285196"/>
                <a:gd name="connsiteX56" fmla="*/ 49518 w 285282"/>
                <a:gd name="connsiteY56" fmla="*/ 34065 h 285196"/>
                <a:gd name="connsiteX57" fmla="*/ 34193 w 285282"/>
                <a:gd name="connsiteY57" fmla="*/ 49390 h 285196"/>
                <a:gd name="connsiteX58" fmla="*/ 34193 w 285282"/>
                <a:gd name="connsiteY58" fmla="*/ 70606 h 285196"/>
                <a:gd name="connsiteX59" fmla="*/ 43968 w 285282"/>
                <a:gd name="connsiteY59" fmla="*/ 80381 h 285196"/>
                <a:gd name="connsiteX60" fmla="*/ 46828 w 285282"/>
                <a:gd name="connsiteY60" fmla="*/ 97115 h 285196"/>
                <a:gd name="connsiteX61" fmla="*/ 42987 w 285282"/>
                <a:gd name="connsiteY61" fmla="*/ 106719 h 285196"/>
                <a:gd name="connsiteX62" fmla="*/ 28643 w 285282"/>
                <a:gd name="connsiteY62" fmla="*/ 116751 h 285196"/>
                <a:gd name="connsiteX63" fmla="*/ 15069 w 285282"/>
                <a:gd name="connsiteY63" fmla="*/ 116751 h 285196"/>
                <a:gd name="connsiteX64" fmla="*/ 85 w 285282"/>
                <a:gd name="connsiteY64" fmla="*/ 131734 h 285196"/>
                <a:gd name="connsiteX65" fmla="*/ 88449 w 285282"/>
                <a:gd name="connsiteY65" fmla="*/ 142577 h 285196"/>
                <a:gd name="connsiteX66" fmla="*/ 142620 w 285282"/>
                <a:gd name="connsiteY66" fmla="*/ 88406 h 285196"/>
                <a:gd name="connsiteX67" fmla="*/ 196791 w 285282"/>
                <a:gd name="connsiteY67" fmla="*/ 142577 h 285196"/>
                <a:gd name="connsiteX68" fmla="*/ 142620 w 285282"/>
                <a:gd name="connsiteY68" fmla="*/ 196748 h 285196"/>
                <a:gd name="connsiteX69" fmla="*/ 88449 w 285282"/>
                <a:gd name="connsiteY69" fmla="*/ 142577 h 285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85282" h="285196">
                  <a:moveTo>
                    <a:pt x="0" y="131734"/>
                  </a:moveTo>
                  <a:lnTo>
                    <a:pt x="0" y="153420"/>
                  </a:lnTo>
                  <a:cubicBezTo>
                    <a:pt x="0" y="161701"/>
                    <a:pt x="6702" y="168403"/>
                    <a:pt x="14983" y="168403"/>
                  </a:cubicBezTo>
                  <a:lnTo>
                    <a:pt x="29241" y="168403"/>
                  </a:lnTo>
                  <a:cubicBezTo>
                    <a:pt x="35559" y="168403"/>
                    <a:pt x="41322" y="172245"/>
                    <a:pt x="43499" y="178179"/>
                  </a:cubicBezTo>
                  <a:cubicBezTo>
                    <a:pt x="44651" y="181338"/>
                    <a:pt x="45932" y="184411"/>
                    <a:pt x="47383" y="187442"/>
                  </a:cubicBezTo>
                  <a:cubicBezTo>
                    <a:pt x="50073" y="193119"/>
                    <a:pt x="48792" y="199864"/>
                    <a:pt x="44353" y="204304"/>
                  </a:cubicBezTo>
                  <a:lnTo>
                    <a:pt x="34108" y="214549"/>
                  </a:lnTo>
                  <a:cubicBezTo>
                    <a:pt x="28259" y="220397"/>
                    <a:pt x="28259" y="229916"/>
                    <a:pt x="34108" y="235764"/>
                  </a:cubicBezTo>
                  <a:lnTo>
                    <a:pt x="49432" y="251089"/>
                  </a:lnTo>
                  <a:cubicBezTo>
                    <a:pt x="55281" y="256938"/>
                    <a:pt x="64800" y="256938"/>
                    <a:pt x="70648" y="251089"/>
                  </a:cubicBezTo>
                  <a:lnTo>
                    <a:pt x="80680" y="241058"/>
                  </a:lnTo>
                  <a:cubicBezTo>
                    <a:pt x="85119" y="236618"/>
                    <a:pt x="91949" y="235338"/>
                    <a:pt x="97627" y="238070"/>
                  </a:cubicBezTo>
                  <a:cubicBezTo>
                    <a:pt x="100658" y="239521"/>
                    <a:pt x="103774" y="240844"/>
                    <a:pt x="106933" y="242039"/>
                  </a:cubicBezTo>
                  <a:cubicBezTo>
                    <a:pt x="112781" y="244217"/>
                    <a:pt x="116794" y="249681"/>
                    <a:pt x="116794" y="255956"/>
                  </a:cubicBezTo>
                  <a:lnTo>
                    <a:pt x="116794" y="270213"/>
                  </a:lnTo>
                  <a:cubicBezTo>
                    <a:pt x="116794" y="278495"/>
                    <a:pt x="123496" y="285197"/>
                    <a:pt x="131777" y="285197"/>
                  </a:cubicBezTo>
                  <a:lnTo>
                    <a:pt x="153462" y="285197"/>
                  </a:lnTo>
                  <a:cubicBezTo>
                    <a:pt x="161744" y="285197"/>
                    <a:pt x="168446" y="278495"/>
                    <a:pt x="168446" y="270213"/>
                  </a:cubicBezTo>
                  <a:lnTo>
                    <a:pt x="168446" y="257023"/>
                  </a:lnTo>
                  <a:cubicBezTo>
                    <a:pt x="168446" y="250620"/>
                    <a:pt x="172629" y="245028"/>
                    <a:pt x="178691" y="242979"/>
                  </a:cubicBezTo>
                  <a:cubicBezTo>
                    <a:pt x="182021" y="241826"/>
                    <a:pt x="185308" y="240545"/>
                    <a:pt x="188466" y="239094"/>
                  </a:cubicBezTo>
                  <a:cubicBezTo>
                    <a:pt x="194229" y="236447"/>
                    <a:pt x="201017" y="237557"/>
                    <a:pt x="205499" y="242039"/>
                  </a:cubicBezTo>
                  <a:lnTo>
                    <a:pt x="214591" y="251132"/>
                  </a:lnTo>
                  <a:cubicBezTo>
                    <a:pt x="220440" y="256980"/>
                    <a:pt x="229959" y="256980"/>
                    <a:pt x="235807" y="251132"/>
                  </a:cubicBezTo>
                  <a:lnTo>
                    <a:pt x="251132" y="235807"/>
                  </a:lnTo>
                  <a:cubicBezTo>
                    <a:pt x="256980" y="229959"/>
                    <a:pt x="256980" y="220439"/>
                    <a:pt x="251132" y="214591"/>
                  </a:cubicBezTo>
                  <a:lnTo>
                    <a:pt x="242979" y="206438"/>
                  </a:lnTo>
                  <a:cubicBezTo>
                    <a:pt x="238454" y="201913"/>
                    <a:pt x="237259" y="194998"/>
                    <a:pt x="240119" y="189235"/>
                  </a:cubicBezTo>
                  <a:cubicBezTo>
                    <a:pt x="241911" y="185649"/>
                    <a:pt x="243491" y="181935"/>
                    <a:pt x="244900" y="178136"/>
                  </a:cubicBezTo>
                  <a:cubicBezTo>
                    <a:pt x="247034" y="172288"/>
                    <a:pt x="252711" y="168446"/>
                    <a:pt x="258944" y="168446"/>
                  </a:cubicBezTo>
                  <a:lnTo>
                    <a:pt x="270299" y="168446"/>
                  </a:lnTo>
                  <a:cubicBezTo>
                    <a:pt x="278580" y="168446"/>
                    <a:pt x="285282" y="161744"/>
                    <a:pt x="285282" y="153462"/>
                  </a:cubicBezTo>
                  <a:lnTo>
                    <a:pt x="285282" y="131777"/>
                  </a:lnTo>
                  <a:cubicBezTo>
                    <a:pt x="285282" y="123496"/>
                    <a:pt x="278580" y="116794"/>
                    <a:pt x="270299" y="116794"/>
                  </a:cubicBezTo>
                  <a:lnTo>
                    <a:pt x="259627" y="116794"/>
                  </a:lnTo>
                  <a:cubicBezTo>
                    <a:pt x="253266" y="116794"/>
                    <a:pt x="247546" y="112824"/>
                    <a:pt x="245497" y="106847"/>
                  </a:cubicBezTo>
                  <a:cubicBezTo>
                    <a:pt x="244131" y="102835"/>
                    <a:pt x="242509" y="98907"/>
                    <a:pt x="240674" y="95108"/>
                  </a:cubicBezTo>
                  <a:cubicBezTo>
                    <a:pt x="237942" y="89431"/>
                    <a:pt x="239179" y="82601"/>
                    <a:pt x="243662" y="78161"/>
                  </a:cubicBezTo>
                  <a:lnTo>
                    <a:pt x="251175" y="70648"/>
                  </a:lnTo>
                  <a:cubicBezTo>
                    <a:pt x="257023" y="64800"/>
                    <a:pt x="257023" y="55281"/>
                    <a:pt x="251175" y="49432"/>
                  </a:cubicBezTo>
                  <a:lnTo>
                    <a:pt x="235850" y="34108"/>
                  </a:lnTo>
                  <a:cubicBezTo>
                    <a:pt x="230002" y="28259"/>
                    <a:pt x="220482" y="28259"/>
                    <a:pt x="214634" y="34108"/>
                  </a:cubicBezTo>
                  <a:lnTo>
                    <a:pt x="206950" y="41791"/>
                  </a:lnTo>
                  <a:cubicBezTo>
                    <a:pt x="202511" y="46231"/>
                    <a:pt x="195766" y="47511"/>
                    <a:pt x="190089" y="44822"/>
                  </a:cubicBezTo>
                  <a:cubicBezTo>
                    <a:pt x="186375" y="43072"/>
                    <a:pt x="182490" y="41492"/>
                    <a:pt x="178563" y="40169"/>
                  </a:cubicBezTo>
                  <a:cubicBezTo>
                    <a:pt x="172544" y="38120"/>
                    <a:pt x="168531" y="32400"/>
                    <a:pt x="168531" y="25997"/>
                  </a:cubicBezTo>
                  <a:lnTo>
                    <a:pt x="168531" y="14983"/>
                  </a:lnTo>
                  <a:cubicBezTo>
                    <a:pt x="168531" y="6702"/>
                    <a:pt x="161829" y="0"/>
                    <a:pt x="153548" y="0"/>
                  </a:cubicBezTo>
                  <a:lnTo>
                    <a:pt x="131862" y="0"/>
                  </a:lnTo>
                  <a:cubicBezTo>
                    <a:pt x="123581" y="0"/>
                    <a:pt x="116879" y="6702"/>
                    <a:pt x="116879" y="14983"/>
                  </a:cubicBezTo>
                  <a:lnTo>
                    <a:pt x="116879" y="27064"/>
                  </a:lnTo>
                  <a:cubicBezTo>
                    <a:pt x="116879" y="33296"/>
                    <a:pt x="113080" y="38931"/>
                    <a:pt x="107232" y="41066"/>
                  </a:cubicBezTo>
                  <a:cubicBezTo>
                    <a:pt x="103603" y="42389"/>
                    <a:pt x="100060" y="43926"/>
                    <a:pt x="96645" y="45633"/>
                  </a:cubicBezTo>
                  <a:cubicBezTo>
                    <a:pt x="90882" y="48493"/>
                    <a:pt x="83967" y="47298"/>
                    <a:pt x="79442" y="42773"/>
                  </a:cubicBezTo>
                  <a:lnTo>
                    <a:pt x="70734" y="34065"/>
                  </a:lnTo>
                  <a:cubicBezTo>
                    <a:pt x="64885" y="28217"/>
                    <a:pt x="55366" y="28217"/>
                    <a:pt x="49518" y="34065"/>
                  </a:cubicBezTo>
                  <a:lnTo>
                    <a:pt x="34193" y="49390"/>
                  </a:lnTo>
                  <a:cubicBezTo>
                    <a:pt x="28345" y="55238"/>
                    <a:pt x="28345" y="64757"/>
                    <a:pt x="34193" y="70606"/>
                  </a:cubicBezTo>
                  <a:lnTo>
                    <a:pt x="43968" y="80381"/>
                  </a:lnTo>
                  <a:cubicBezTo>
                    <a:pt x="48365" y="84778"/>
                    <a:pt x="49432" y="91437"/>
                    <a:pt x="46828" y="97115"/>
                  </a:cubicBezTo>
                  <a:cubicBezTo>
                    <a:pt x="45420" y="100231"/>
                    <a:pt x="44096" y="103432"/>
                    <a:pt x="42987" y="106719"/>
                  </a:cubicBezTo>
                  <a:cubicBezTo>
                    <a:pt x="40895" y="112781"/>
                    <a:pt x="35089" y="116751"/>
                    <a:pt x="28643" y="116751"/>
                  </a:cubicBezTo>
                  <a:lnTo>
                    <a:pt x="15069" y="116751"/>
                  </a:lnTo>
                  <a:cubicBezTo>
                    <a:pt x="6787" y="116751"/>
                    <a:pt x="85" y="123453"/>
                    <a:pt x="85" y="131734"/>
                  </a:cubicBezTo>
                  <a:close/>
                  <a:moveTo>
                    <a:pt x="88449" y="142577"/>
                  </a:moveTo>
                  <a:cubicBezTo>
                    <a:pt x="88449" y="112653"/>
                    <a:pt x="112696" y="88406"/>
                    <a:pt x="142620" y="88406"/>
                  </a:cubicBezTo>
                  <a:cubicBezTo>
                    <a:pt x="172544" y="88406"/>
                    <a:pt x="196791" y="112653"/>
                    <a:pt x="196791" y="142577"/>
                  </a:cubicBezTo>
                  <a:cubicBezTo>
                    <a:pt x="196791" y="172501"/>
                    <a:pt x="172544" y="196748"/>
                    <a:pt x="142620" y="196748"/>
                  </a:cubicBezTo>
                  <a:cubicBezTo>
                    <a:pt x="112696" y="196748"/>
                    <a:pt x="88449" y="172501"/>
                    <a:pt x="88449" y="142577"/>
                  </a:cubicBezTo>
                  <a:close/>
                </a:path>
              </a:pathLst>
            </a:custGeom>
            <a:solidFill>
              <a:schemeClr val="tx2">
                <a:lumMod val="40000"/>
                <a:lumOff val="60000"/>
              </a:schemeClr>
            </a:solidFill>
            <a:ln w="4254" cap="flat">
              <a:noFill/>
              <a:prstDash val="solid"/>
              <a:miter/>
            </a:ln>
          </p:spPr>
          <p:txBody>
            <a:bodyPr rtlCol="0" anchor="ctr"/>
            <a:lstStyle/>
            <a:p>
              <a:endParaRPr lang="en-US"/>
            </a:p>
          </p:txBody>
        </p:sp>
        <p:grpSp>
          <p:nvGrpSpPr>
            <p:cNvPr id="703" name="Graphic 373">
              <a:extLst>
                <a:ext uri="{FF2B5EF4-FFF2-40B4-BE49-F238E27FC236}">
                  <a16:creationId xmlns:a16="http://schemas.microsoft.com/office/drawing/2014/main" id="{54E3A49E-ED27-4D09-8811-6453F34EB006}"/>
                </a:ext>
              </a:extLst>
            </p:cNvPr>
            <p:cNvGrpSpPr/>
            <p:nvPr/>
          </p:nvGrpSpPr>
          <p:grpSpPr>
            <a:xfrm>
              <a:off x="1066219" y="3185020"/>
              <a:ext cx="177051" cy="87755"/>
              <a:chOff x="1066219" y="3185020"/>
              <a:chExt cx="177051" cy="87755"/>
            </a:xfrm>
          </p:grpSpPr>
          <p:sp>
            <p:nvSpPr>
              <p:cNvPr id="706" name="Freeform: Shape 705">
                <a:extLst>
                  <a:ext uri="{FF2B5EF4-FFF2-40B4-BE49-F238E27FC236}">
                    <a16:creationId xmlns:a16="http://schemas.microsoft.com/office/drawing/2014/main" id="{C851BC67-59B4-41CA-B888-2CC6B447AC54}"/>
                  </a:ext>
                </a:extLst>
              </p:cNvPr>
              <p:cNvSpPr/>
              <p:nvPr/>
            </p:nvSpPr>
            <p:spPr>
              <a:xfrm>
                <a:off x="1066219" y="3185020"/>
                <a:ext cx="177051" cy="87755"/>
              </a:xfrm>
              <a:custGeom>
                <a:avLst/>
                <a:gdLst>
                  <a:gd name="connsiteX0" fmla="*/ 62708 w 177051"/>
                  <a:gd name="connsiteY0" fmla="*/ 8210 h 87755"/>
                  <a:gd name="connsiteX1" fmla="*/ 93059 w 177051"/>
                  <a:gd name="connsiteY1" fmla="*/ 5862 h 87755"/>
                  <a:gd name="connsiteX2" fmla="*/ 123453 w 177051"/>
                  <a:gd name="connsiteY2" fmla="*/ 5862 h 87755"/>
                  <a:gd name="connsiteX3" fmla="*/ 154914 w 177051"/>
                  <a:gd name="connsiteY3" fmla="*/ 10558 h 87755"/>
                  <a:gd name="connsiteX4" fmla="*/ 173568 w 177051"/>
                  <a:gd name="connsiteY4" fmla="*/ 43983 h 87755"/>
                  <a:gd name="connsiteX5" fmla="*/ 153804 w 177051"/>
                  <a:gd name="connsiteY5" fmla="*/ 65326 h 87755"/>
                  <a:gd name="connsiteX6" fmla="*/ 142022 w 177051"/>
                  <a:gd name="connsiteY6" fmla="*/ 81847 h 87755"/>
                  <a:gd name="connsiteX7" fmla="*/ 122386 w 177051"/>
                  <a:gd name="connsiteY7" fmla="*/ 71303 h 87755"/>
                  <a:gd name="connsiteX8" fmla="*/ 113293 w 177051"/>
                  <a:gd name="connsiteY8" fmla="*/ 87609 h 87755"/>
                  <a:gd name="connsiteX9" fmla="*/ 83540 w 177051"/>
                  <a:gd name="connsiteY9" fmla="*/ 54825 h 87755"/>
                  <a:gd name="connsiteX10" fmla="*/ 76496 w 177051"/>
                  <a:gd name="connsiteY10" fmla="*/ 78517 h 87755"/>
                  <a:gd name="connsiteX11" fmla="*/ 46786 w 177051"/>
                  <a:gd name="connsiteY11" fmla="*/ 51752 h 87755"/>
                  <a:gd name="connsiteX12" fmla="*/ 0 w 177051"/>
                  <a:gd name="connsiteY12" fmla="*/ 51752 h 87755"/>
                  <a:gd name="connsiteX13" fmla="*/ 62666 w 177051"/>
                  <a:gd name="connsiteY13" fmla="*/ 8168 h 87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051" h="87755">
                    <a:moveTo>
                      <a:pt x="62708" y="8210"/>
                    </a:moveTo>
                    <a:cubicBezTo>
                      <a:pt x="62708" y="8210"/>
                      <a:pt x="70093" y="-3998"/>
                      <a:pt x="93059" y="5862"/>
                    </a:cubicBezTo>
                    <a:cubicBezTo>
                      <a:pt x="93059" y="5862"/>
                      <a:pt x="104073" y="-7328"/>
                      <a:pt x="123453" y="5862"/>
                    </a:cubicBezTo>
                    <a:cubicBezTo>
                      <a:pt x="123453" y="5862"/>
                      <a:pt x="143943" y="-4724"/>
                      <a:pt x="154914" y="10558"/>
                    </a:cubicBezTo>
                    <a:cubicBezTo>
                      <a:pt x="166354" y="26566"/>
                      <a:pt x="169428" y="33097"/>
                      <a:pt x="173568" y="43983"/>
                    </a:cubicBezTo>
                    <a:cubicBezTo>
                      <a:pt x="183557" y="70278"/>
                      <a:pt x="170538" y="80011"/>
                      <a:pt x="153804" y="65326"/>
                    </a:cubicBezTo>
                    <a:cubicBezTo>
                      <a:pt x="153804" y="65326"/>
                      <a:pt x="153164" y="79712"/>
                      <a:pt x="142022" y="81847"/>
                    </a:cubicBezTo>
                    <a:cubicBezTo>
                      <a:pt x="142022" y="81847"/>
                      <a:pt x="129216" y="85774"/>
                      <a:pt x="122386" y="71303"/>
                    </a:cubicBezTo>
                    <a:cubicBezTo>
                      <a:pt x="122386" y="71303"/>
                      <a:pt x="126526" y="84920"/>
                      <a:pt x="113293" y="87609"/>
                    </a:cubicBezTo>
                    <a:cubicBezTo>
                      <a:pt x="100060" y="90299"/>
                      <a:pt x="83540" y="54825"/>
                      <a:pt x="83540" y="54825"/>
                    </a:cubicBezTo>
                    <a:cubicBezTo>
                      <a:pt x="83540" y="54825"/>
                      <a:pt x="91992" y="75273"/>
                      <a:pt x="76496" y="78517"/>
                    </a:cubicBezTo>
                    <a:cubicBezTo>
                      <a:pt x="61001" y="81761"/>
                      <a:pt x="46786" y="51752"/>
                      <a:pt x="46786" y="51752"/>
                    </a:cubicBezTo>
                    <a:lnTo>
                      <a:pt x="0" y="51752"/>
                    </a:lnTo>
                    <a:cubicBezTo>
                      <a:pt x="0" y="51752"/>
                      <a:pt x="14300" y="-1821"/>
                      <a:pt x="62666" y="8168"/>
                    </a:cubicBezTo>
                    <a:close/>
                  </a:path>
                </a:pathLst>
              </a:custGeom>
              <a:solidFill>
                <a:srgbClr val="FFBEBB"/>
              </a:solidFill>
              <a:ln w="4254" cap="flat">
                <a:noFill/>
                <a:prstDash val="solid"/>
                <a:miter/>
              </a:ln>
            </p:spPr>
            <p:txBody>
              <a:bodyPr rtlCol="0" anchor="ctr"/>
              <a:lstStyle/>
              <a:p>
                <a:endParaRPr lang="en-US"/>
              </a:p>
            </p:txBody>
          </p:sp>
          <p:grpSp>
            <p:nvGrpSpPr>
              <p:cNvPr id="707" name="Graphic 373">
                <a:extLst>
                  <a:ext uri="{FF2B5EF4-FFF2-40B4-BE49-F238E27FC236}">
                    <a16:creationId xmlns:a16="http://schemas.microsoft.com/office/drawing/2014/main" id="{60C1D08E-9D5F-4089-BF51-917151B51AB0}"/>
                  </a:ext>
                </a:extLst>
              </p:cNvPr>
              <p:cNvGrpSpPr/>
              <p:nvPr/>
            </p:nvGrpSpPr>
            <p:grpSpPr>
              <a:xfrm>
                <a:off x="1101275" y="3187483"/>
                <a:ext cx="122190" cy="73748"/>
                <a:chOff x="1101275" y="3187483"/>
                <a:chExt cx="122190" cy="73748"/>
              </a:xfrm>
              <a:solidFill>
                <a:srgbClr val="F47C73"/>
              </a:solidFill>
            </p:grpSpPr>
            <p:sp>
              <p:nvSpPr>
                <p:cNvPr id="708" name="Freeform: Shape 707">
                  <a:extLst>
                    <a:ext uri="{FF2B5EF4-FFF2-40B4-BE49-F238E27FC236}">
                      <a16:creationId xmlns:a16="http://schemas.microsoft.com/office/drawing/2014/main" id="{4A166CCC-084F-44B3-B420-D810B60811B4}"/>
                    </a:ext>
                  </a:extLst>
                </p:cNvPr>
                <p:cNvSpPr/>
                <p:nvPr/>
              </p:nvSpPr>
              <p:spPr>
                <a:xfrm>
                  <a:off x="1125512" y="3189816"/>
                  <a:ext cx="28428" cy="55578"/>
                </a:xfrm>
                <a:custGeom>
                  <a:avLst/>
                  <a:gdLst>
                    <a:gd name="connsiteX0" fmla="*/ 25057 w 28428"/>
                    <a:gd name="connsiteY0" fmla="*/ 55579 h 55578"/>
                    <a:gd name="connsiteX1" fmla="*/ 21941 w 28428"/>
                    <a:gd name="connsiteY1" fmla="*/ 53573 h 55578"/>
                    <a:gd name="connsiteX2" fmla="*/ 298 w 28428"/>
                    <a:gd name="connsiteY2" fmla="*/ 4780 h 55578"/>
                    <a:gd name="connsiteX3" fmla="*/ 2006 w 28428"/>
                    <a:gd name="connsiteY3" fmla="*/ 298 h 55578"/>
                    <a:gd name="connsiteX4" fmla="*/ 6488 w 28428"/>
                    <a:gd name="connsiteY4" fmla="*/ 2006 h 55578"/>
                    <a:gd name="connsiteX5" fmla="*/ 28131 w 28428"/>
                    <a:gd name="connsiteY5" fmla="*/ 50798 h 55578"/>
                    <a:gd name="connsiteX6" fmla="*/ 26423 w 28428"/>
                    <a:gd name="connsiteY6" fmla="*/ 55280 h 55578"/>
                    <a:gd name="connsiteX7" fmla="*/ 25057 w 28428"/>
                    <a:gd name="connsiteY7" fmla="*/ 55579 h 55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428" h="55578">
                      <a:moveTo>
                        <a:pt x="25057" y="55579"/>
                      </a:moveTo>
                      <a:cubicBezTo>
                        <a:pt x="23776" y="55579"/>
                        <a:pt x="22539" y="54811"/>
                        <a:pt x="21941" y="53573"/>
                      </a:cubicBezTo>
                      <a:lnTo>
                        <a:pt x="298" y="4780"/>
                      </a:lnTo>
                      <a:cubicBezTo>
                        <a:pt x="-470" y="3073"/>
                        <a:pt x="298" y="1067"/>
                        <a:pt x="2006" y="298"/>
                      </a:cubicBezTo>
                      <a:cubicBezTo>
                        <a:pt x="3713" y="-470"/>
                        <a:pt x="5720" y="298"/>
                        <a:pt x="6488" y="2006"/>
                      </a:cubicBezTo>
                      <a:lnTo>
                        <a:pt x="28131" y="50798"/>
                      </a:lnTo>
                      <a:cubicBezTo>
                        <a:pt x="28899" y="52505"/>
                        <a:pt x="28131" y="54512"/>
                        <a:pt x="26423" y="55280"/>
                      </a:cubicBezTo>
                      <a:cubicBezTo>
                        <a:pt x="25996" y="55493"/>
                        <a:pt x="25527" y="55579"/>
                        <a:pt x="25057" y="55579"/>
                      </a:cubicBezTo>
                      <a:close/>
                    </a:path>
                  </a:pathLst>
                </a:custGeom>
                <a:solidFill>
                  <a:srgbClr val="F47C73"/>
                </a:solidFill>
                <a:ln w="4254" cap="flat">
                  <a:noFill/>
                  <a:prstDash val="solid"/>
                  <a:miter/>
                </a:ln>
              </p:spPr>
              <p:txBody>
                <a:bodyPr rtlCol="0" anchor="ctr"/>
                <a:lstStyle/>
                <a:p>
                  <a:endParaRPr lang="en-US"/>
                </a:p>
              </p:txBody>
            </p:sp>
            <p:sp>
              <p:nvSpPr>
                <p:cNvPr id="709" name="Freeform: Shape 708">
                  <a:extLst>
                    <a:ext uri="{FF2B5EF4-FFF2-40B4-BE49-F238E27FC236}">
                      <a16:creationId xmlns:a16="http://schemas.microsoft.com/office/drawing/2014/main" id="{ED024DA9-0078-43FB-8FC4-62EE9FCE776F}"/>
                    </a:ext>
                  </a:extLst>
                </p:cNvPr>
                <p:cNvSpPr/>
                <p:nvPr/>
              </p:nvSpPr>
              <p:spPr>
                <a:xfrm>
                  <a:off x="1155906" y="3187510"/>
                  <a:ext cx="37179" cy="73721"/>
                </a:xfrm>
                <a:custGeom>
                  <a:avLst/>
                  <a:gdLst>
                    <a:gd name="connsiteX0" fmla="*/ 33765 w 37179"/>
                    <a:gd name="connsiteY0" fmla="*/ 73722 h 73721"/>
                    <a:gd name="connsiteX1" fmla="*/ 30692 w 37179"/>
                    <a:gd name="connsiteY1" fmla="*/ 71716 h 73721"/>
                    <a:gd name="connsiteX2" fmla="*/ 298 w 37179"/>
                    <a:gd name="connsiteY2" fmla="*/ 4781 h 73721"/>
                    <a:gd name="connsiteX3" fmla="*/ 2006 w 37179"/>
                    <a:gd name="connsiteY3" fmla="*/ 299 h 73721"/>
                    <a:gd name="connsiteX4" fmla="*/ 6488 w 37179"/>
                    <a:gd name="connsiteY4" fmla="*/ 1964 h 73721"/>
                    <a:gd name="connsiteX5" fmla="*/ 36882 w 37179"/>
                    <a:gd name="connsiteY5" fmla="*/ 68898 h 73721"/>
                    <a:gd name="connsiteX6" fmla="*/ 35174 w 37179"/>
                    <a:gd name="connsiteY6" fmla="*/ 73380 h 73721"/>
                    <a:gd name="connsiteX7" fmla="*/ 33765 w 37179"/>
                    <a:gd name="connsiteY7" fmla="*/ 73679 h 73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179" h="73721">
                      <a:moveTo>
                        <a:pt x="33765" y="73722"/>
                      </a:moveTo>
                      <a:cubicBezTo>
                        <a:pt x="32485" y="73722"/>
                        <a:pt x="31247" y="72996"/>
                        <a:pt x="30692" y="71716"/>
                      </a:cubicBezTo>
                      <a:lnTo>
                        <a:pt x="298" y="4781"/>
                      </a:lnTo>
                      <a:cubicBezTo>
                        <a:pt x="-470" y="3074"/>
                        <a:pt x="298" y="1067"/>
                        <a:pt x="2006" y="299"/>
                      </a:cubicBezTo>
                      <a:cubicBezTo>
                        <a:pt x="3671" y="-469"/>
                        <a:pt x="5720" y="299"/>
                        <a:pt x="6488" y="1964"/>
                      </a:cubicBezTo>
                      <a:lnTo>
                        <a:pt x="36882" y="68898"/>
                      </a:lnTo>
                      <a:cubicBezTo>
                        <a:pt x="37650" y="70606"/>
                        <a:pt x="36882" y="72612"/>
                        <a:pt x="35174" y="73380"/>
                      </a:cubicBezTo>
                      <a:cubicBezTo>
                        <a:pt x="34705" y="73594"/>
                        <a:pt x="34235" y="73679"/>
                        <a:pt x="33765" y="73679"/>
                      </a:cubicBezTo>
                      <a:close/>
                    </a:path>
                  </a:pathLst>
                </a:custGeom>
                <a:solidFill>
                  <a:srgbClr val="F47C73"/>
                </a:solidFill>
                <a:ln w="4254" cap="flat">
                  <a:noFill/>
                  <a:prstDash val="solid"/>
                  <a:miter/>
                </a:ln>
              </p:spPr>
              <p:txBody>
                <a:bodyPr rtlCol="0" anchor="ctr"/>
                <a:lstStyle/>
                <a:p>
                  <a:endParaRPr lang="en-US"/>
                </a:p>
              </p:txBody>
            </p:sp>
            <p:sp>
              <p:nvSpPr>
                <p:cNvPr id="710" name="Freeform: Shape 709">
                  <a:extLst>
                    <a:ext uri="{FF2B5EF4-FFF2-40B4-BE49-F238E27FC236}">
                      <a16:creationId xmlns:a16="http://schemas.microsoft.com/office/drawing/2014/main" id="{0F53047E-4980-45EB-94F1-EF1513385B0F}"/>
                    </a:ext>
                  </a:extLst>
                </p:cNvPr>
                <p:cNvSpPr/>
                <p:nvPr/>
              </p:nvSpPr>
              <p:spPr>
                <a:xfrm>
                  <a:off x="1186315" y="3187483"/>
                  <a:ext cx="37149" cy="66278"/>
                </a:xfrm>
                <a:custGeom>
                  <a:avLst/>
                  <a:gdLst>
                    <a:gd name="connsiteX0" fmla="*/ 33750 w 37149"/>
                    <a:gd name="connsiteY0" fmla="*/ 66236 h 66278"/>
                    <a:gd name="connsiteX1" fmla="*/ 30720 w 37149"/>
                    <a:gd name="connsiteY1" fmla="*/ 64400 h 66278"/>
                    <a:gd name="connsiteX2" fmla="*/ 369 w 37149"/>
                    <a:gd name="connsiteY2" fmla="*/ 4936 h 66278"/>
                    <a:gd name="connsiteX3" fmla="*/ 1863 w 37149"/>
                    <a:gd name="connsiteY3" fmla="*/ 369 h 66278"/>
                    <a:gd name="connsiteX4" fmla="*/ 6430 w 37149"/>
                    <a:gd name="connsiteY4" fmla="*/ 1863 h 66278"/>
                    <a:gd name="connsiteX5" fmla="*/ 36781 w 37149"/>
                    <a:gd name="connsiteY5" fmla="*/ 61327 h 66278"/>
                    <a:gd name="connsiteX6" fmla="*/ 35287 w 37149"/>
                    <a:gd name="connsiteY6" fmla="*/ 65894 h 66278"/>
                    <a:gd name="connsiteX7" fmla="*/ 33750 w 37149"/>
                    <a:gd name="connsiteY7" fmla="*/ 66279 h 66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149" h="66278">
                      <a:moveTo>
                        <a:pt x="33750" y="66236"/>
                      </a:moveTo>
                      <a:cubicBezTo>
                        <a:pt x="32513" y="66236"/>
                        <a:pt x="31317" y="65553"/>
                        <a:pt x="30720" y="64400"/>
                      </a:cubicBezTo>
                      <a:lnTo>
                        <a:pt x="369" y="4936"/>
                      </a:lnTo>
                      <a:cubicBezTo>
                        <a:pt x="-485" y="3271"/>
                        <a:pt x="198" y="1222"/>
                        <a:pt x="1863" y="369"/>
                      </a:cubicBezTo>
                      <a:cubicBezTo>
                        <a:pt x="3528" y="-485"/>
                        <a:pt x="5577" y="198"/>
                        <a:pt x="6430" y="1863"/>
                      </a:cubicBezTo>
                      <a:lnTo>
                        <a:pt x="36781" y="61327"/>
                      </a:lnTo>
                      <a:cubicBezTo>
                        <a:pt x="37635" y="62992"/>
                        <a:pt x="36952" y="65041"/>
                        <a:pt x="35287" y="65894"/>
                      </a:cubicBezTo>
                      <a:cubicBezTo>
                        <a:pt x="34775" y="66150"/>
                        <a:pt x="34263" y="66279"/>
                        <a:pt x="33750" y="66279"/>
                      </a:cubicBezTo>
                      <a:close/>
                    </a:path>
                  </a:pathLst>
                </a:custGeom>
                <a:solidFill>
                  <a:srgbClr val="F47C73"/>
                </a:solidFill>
                <a:ln w="4254" cap="flat">
                  <a:noFill/>
                  <a:prstDash val="solid"/>
                  <a:miter/>
                </a:ln>
              </p:spPr>
              <p:txBody>
                <a:bodyPr rtlCol="0" anchor="ctr"/>
                <a:lstStyle/>
                <a:p>
                  <a:endParaRPr lang="en-US"/>
                </a:p>
              </p:txBody>
            </p:sp>
            <p:sp>
              <p:nvSpPr>
                <p:cNvPr id="711" name="Freeform: Shape 710">
                  <a:extLst>
                    <a:ext uri="{FF2B5EF4-FFF2-40B4-BE49-F238E27FC236}">
                      <a16:creationId xmlns:a16="http://schemas.microsoft.com/office/drawing/2014/main" id="{5FFA13F0-0B0F-4A2F-AA89-CF3D8408CAAE}"/>
                    </a:ext>
                  </a:extLst>
                </p:cNvPr>
                <p:cNvSpPr/>
                <p:nvPr/>
              </p:nvSpPr>
              <p:spPr>
                <a:xfrm>
                  <a:off x="1101275" y="3218860"/>
                  <a:ext cx="12744" cy="19491"/>
                </a:xfrm>
                <a:custGeom>
                  <a:avLst/>
                  <a:gdLst>
                    <a:gd name="connsiteX0" fmla="*/ 9339 w 12744"/>
                    <a:gd name="connsiteY0" fmla="*/ 19492 h 19491"/>
                    <a:gd name="connsiteX1" fmla="*/ 6266 w 12744"/>
                    <a:gd name="connsiteY1" fmla="*/ 17528 h 19491"/>
                    <a:gd name="connsiteX2" fmla="*/ 332 w 12744"/>
                    <a:gd name="connsiteY2" fmla="*/ 4850 h 19491"/>
                    <a:gd name="connsiteX3" fmla="*/ 1954 w 12744"/>
                    <a:gd name="connsiteY3" fmla="*/ 325 h 19491"/>
                    <a:gd name="connsiteX4" fmla="*/ 6479 w 12744"/>
                    <a:gd name="connsiteY4" fmla="*/ 1947 h 19491"/>
                    <a:gd name="connsiteX5" fmla="*/ 12413 w 12744"/>
                    <a:gd name="connsiteY5" fmla="*/ 14625 h 19491"/>
                    <a:gd name="connsiteX6" fmla="*/ 10791 w 12744"/>
                    <a:gd name="connsiteY6" fmla="*/ 19150 h 19491"/>
                    <a:gd name="connsiteX7" fmla="*/ 9339 w 12744"/>
                    <a:gd name="connsiteY7" fmla="*/ 19492 h 1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44" h="19491">
                      <a:moveTo>
                        <a:pt x="9339" y="19492"/>
                      </a:moveTo>
                      <a:cubicBezTo>
                        <a:pt x="8059" y="19492"/>
                        <a:pt x="6863" y="18766"/>
                        <a:pt x="6266" y="17528"/>
                      </a:cubicBezTo>
                      <a:lnTo>
                        <a:pt x="332" y="4850"/>
                      </a:lnTo>
                      <a:cubicBezTo>
                        <a:pt x="-479" y="3142"/>
                        <a:pt x="247" y="1136"/>
                        <a:pt x="1954" y="325"/>
                      </a:cubicBezTo>
                      <a:cubicBezTo>
                        <a:pt x="3662" y="-486"/>
                        <a:pt x="5668" y="282"/>
                        <a:pt x="6479" y="1947"/>
                      </a:cubicBezTo>
                      <a:lnTo>
                        <a:pt x="12413" y="14625"/>
                      </a:lnTo>
                      <a:cubicBezTo>
                        <a:pt x="13224" y="16333"/>
                        <a:pt x="12498" y="18339"/>
                        <a:pt x="10791" y="19150"/>
                      </a:cubicBezTo>
                      <a:cubicBezTo>
                        <a:pt x="10321" y="19364"/>
                        <a:pt x="9851" y="19492"/>
                        <a:pt x="9339" y="19492"/>
                      </a:cubicBezTo>
                      <a:close/>
                    </a:path>
                  </a:pathLst>
                </a:custGeom>
                <a:solidFill>
                  <a:srgbClr val="F47C73"/>
                </a:solidFill>
                <a:ln w="4254" cap="flat">
                  <a:noFill/>
                  <a:prstDash val="solid"/>
                  <a:miter/>
                </a:ln>
              </p:spPr>
              <p:txBody>
                <a:bodyPr rtlCol="0" anchor="ctr"/>
                <a:lstStyle/>
                <a:p>
                  <a:endParaRPr lang="en-US"/>
                </a:p>
              </p:txBody>
            </p:sp>
          </p:grpSp>
        </p:grpSp>
        <p:sp>
          <p:nvSpPr>
            <p:cNvPr id="704" name="Freeform: Shape 703">
              <a:extLst>
                <a:ext uri="{FF2B5EF4-FFF2-40B4-BE49-F238E27FC236}">
                  <a16:creationId xmlns:a16="http://schemas.microsoft.com/office/drawing/2014/main" id="{807C58CC-6F60-456C-A20D-FAEC221BB9BE}"/>
                </a:ext>
              </a:extLst>
            </p:cNvPr>
            <p:cNvSpPr/>
            <p:nvPr/>
          </p:nvSpPr>
          <p:spPr>
            <a:xfrm>
              <a:off x="1489724" y="3053300"/>
              <a:ext cx="19807" cy="19807"/>
            </a:xfrm>
            <a:custGeom>
              <a:avLst/>
              <a:gdLst>
                <a:gd name="connsiteX0" fmla="*/ 19807 w 19807"/>
                <a:gd name="connsiteY0" fmla="*/ 9904 h 19807"/>
                <a:gd name="connsiteX1" fmla="*/ 9904 w 19807"/>
                <a:gd name="connsiteY1" fmla="*/ 19807 h 19807"/>
                <a:gd name="connsiteX2" fmla="*/ 0 w 19807"/>
                <a:gd name="connsiteY2" fmla="*/ 9904 h 19807"/>
                <a:gd name="connsiteX3" fmla="*/ 9904 w 19807"/>
                <a:gd name="connsiteY3" fmla="*/ 0 h 19807"/>
                <a:gd name="connsiteX4" fmla="*/ 19807 w 19807"/>
                <a:gd name="connsiteY4" fmla="*/ 9904 h 198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7" h="19807">
                  <a:moveTo>
                    <a:pt x="19807" y="9904"/>
                  </a:moveTo>
                  <a:cubicBezTo>
                    <a:pt x="19807" y="15373"/>
                    <a:pt x="15373" y="19807"/>
                    <a:pt x="9904" y="19807"/>
                  </a:cubicBezTo>
                  <a:cubicBezTo>
                    <a:pt x="4434" y="19807"/>
                    <a:pt x="0" y="15373"/>
                    <a:pt x="0" y="9904"/>
                  </a:cubicBezTo>
                  <a:cubicBezTo>
                    <a:pt x="0" y="4434"/>
                    <a:pt x="4434" y="0"/>
                    <a:pt x="9904" y="0"/>
                  </a:cubicBezTo>
                  <a:cubicBezTo>
                    <a:pt x="15373" y="0"/>
                    <a:pt x="19807" y="4434"/>
                    <a:pt x="19807" y="9904"/>
                  </a:cubicBezTo>
                  <a:close/>
                </a:path>
              </a:pathLst>
            </a:custGeom>
            <a:solidFill>
              <a:schemeClr val="bg1"/>
            </a:solidFill>
            <a:ln w="4254" cap="flat">
              <a:noFill/>
              <a:prstDash val="solid"/>
              <a:miter/>
            </a:ln>
          </p:spPr>
          <p:txBody>
            <a:bodyPr rtlCol="0" anchor="ctr"/>
            <a:lstStyle/>
            <a:p>
              <a:endParaRPr lang="en-US"/>
            </a:p>
          </p:txBody>
        </p:sp>
        <p:sp>
          <p:nvSpPr>
            <p:cNvPr id="705" name="Freeform: Shape 704">
              <a:extLst>
                <a:ext uri="{FF2B5EF4-FFF2-40B4-BE49-F238E27FC236}">
                  <a16:creationId xmlns:a16="http://schemas.microsoft.com/office/drawing/2014/main" id="{087F88E2-2349-481C-A3AA-F396403011D1}"/>
                </a:ext>
              </a:extLst>
            </p:cNvPr>
            <p:cNvSpPr/>
            <p:nvPr/>
          </p:nvSpPr>
          <p:spPr>
            <a:xfrm>
              <a:off x="1179699" y="3062494"/>
              <a:ext cx="127002" cy="75797"/>
            </a:xfrm>
            <a:custGeom>
              <a:avLst/>
              <a:gdLst>
                <a:gd name="connsiteX0" fmla="*/ 54197 w 127002"/>
                <a:gd name="connsiteY0" fmla="*/ 75669 h 75797"/>
                <a:gd name="connsiteX1" fmla="*/ 51465 w 127002"/>
                <a:gd name="connsiteY1" fmla="*/ 74303 h 75797"/>
                <a:gd name="connsiteX2" fmla="*/ 667 w 127002"/>
                <a:gd name="connsiteY2" fmla="*/ 5405 h 75797"/>
                <a:gd name="connsiteX3" fmla="*/ 1392 w 127002"/>
                <a:gd name="connsiteY3" fmla="*/ 667 h 75797"/>
                <a:gd name="connsiteX4" fmla="*/ 6131 w 127002"/>
                <a:gd name="connsiteY4" fmla="*/ 1392 h 75797"/>
                <a:gd name="connsiteX5" fmla="*/ 53984 w 127002"/>
                <a:gd name="connsiteY5" fmla="*/ 66320 h 75797"/>
                <a:gd name="connsiteX6" fmla="*/ 83054 w 127002"/>
                <a:gd name="connsiteY6" fmla="*/ 20346 h 75797"/>
                <a:gd name="connsiteX7" fmla="*/ 85914 w 127002"/>
                <a:gd name="connsiteY7" fmla="*/ 18766 h 75797"/>
                <a:gd name="connsiteX8" fmla="*/ 88774 w 127002"/>
                <a:gd name="connsiteY8" fmla="*/ 20303 h 75797"/>
                <a:gd name="connsiteX9" fmla="*/ 113704 w 127002"/>
                <a:gd name="connsiteY9" fmla="*/ 58509 h 75797"/>
                <a:gd name="connsiteX10" fmla="*/ 120235 w 127002"/>
                <a:gd name="connsiteY10" fmla="*/ 6259 h 75797"/>
                <a:gd name="connsiteX11" fmla="*/ 124034 w 127002"/>
                <a:gd name="connsiteY11" fmla="*/ 3313 h 75797"/>
                <a:gd name="connsiteX12" fmla="*/ 126980 w 127002"/>
                <a:gd name="connsiteY12" fmla="*/ 7113 h 75797"/>
                <a:gd name="connsiteX13" fmla="*/ 119339 w 127002"/>
                <a:gd name="connsiteY13" fmla="*/ 68583 h 75797"/>
                <a:gd name="connsiteX14" fmla="*/ 116735 w 127002"/>
                <a:gd name="connsiteY14" fmla="*/ 71486 h 75797"/>
                <a:gd name="connsiteX15" fmla="*/ 113149 w 127002"/>
                <a:gd name="connsiteY15" fmla="*/ 70034 h 75797"/>
                <a:gd name="connsiteX16" fmla="*/ 86042 w 127002"/>
                <a:gd name="connsiteY16" fmla="*/ 28499 h 75797"/>
                <a:gd name="connsiteX17" fmla="*/ 57143 w 127002"/>
                <a:gd name="connsiteY17" fmla="*/ 74218 h 75797"/>
                <a:gd name="connsiteX18" fmla="*/ 54411 w 127002"/>
                <a:gd name="connsiteY18" fmla="*/ 75797 h 75797"/>
                <a:gd name="connsiteX19" fmla="*/ 54282 w 127002"/>
                <a:gd name="connsiteY19" fmla="*/ 75797 h 75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7002" h="75797">
                  <a:moveTo>
                    <a:pt x="54197" y="75669"/>
                  </a:moveTo>
                  <a:cubicBezTo>
                    <a:pt x="53130" y="75669"/>
                    <a:pt x="52105" y="75157"/>
                    <a:pt x="51465" y="74303"/>
                  </a:cubicBezTo>
                  <a:lnTo>
                    <a:pt x="667" y="5405"/>
                  </a:lnTo>
                  <a:cubicBezTo>
                    <a:pt x="-443" y="3911"/>
                    <a:pt x="-144" y="1777"/>
                    <a:pt x="1392" y="667"/>
                  </a:cubicBezTo>
                  <a:cubicBezTo>
                    <a:pt x="2886" y="-443"/>
                    <a:pt x="5021" y="-144"/>
                    <a:pt x="6131" y="1392"/>
                  </a:cubicBezTo>
                  <a:lnTo>
                    <a:pt x="53984" y="66320"/>
                  </a:lnTo>
                  <a:lnTo>
                    <a:pt x="83054" y="20346"/>
                  </a:lnTo>
                  <a:cubicBezTo>
                    <a:pt x="83652" y="19364"/>
                    <a:pt x="84762" y="18766"/>
                    <a:pt x="85914" y="18766"/>
                  </a:cubicBezTo>
                  <a:cubicBezTo>
                    <a:pt x="87152" y="18766"/>
                    <a:pt x="88134" y="19321"/>
                    <a:pt x="88774" y="20303"/>
                  </a:cubicBezTo>
                  <a:lnTo>
                    <a:pt x="113704" y="58509"/>
                  </a:lnTo>
                  <a:lnTo>
                    <a:pt x="120235" y="6259"/>
                  </a:lnTo>
                  <a:cubicBezTo>
                    <a:pt x="120448" y="4381"/>
                    <a:pt x="122113" y="3100"/>
                    <a:pt x="124034" y="3313"/>
                  </a:cubicBezTo>
                  <a:cubicBezTo>
                    <a:pt x="125870" y="3527"/>
                    <a:pt x="127193" y="5234"/>
                    <a:pt x="126980" y="7113"/>
                  </a:cubicBezTo>
                  <a:lnTo>
                    <a:pt x="119339" y="68583"/>
                  </a:lnTo>
                  <a:cubicBezTo>
                    <a:pt x="119168" y="69992"/>
                    <a:pt x="118143" y="71144"/>
                    <a:pt x="116735" y="71486"/>
                  </a:cubicBezTo>
                  <a:cubicBezTo>
                    <a:pt x="115326" y="71784"/>
                    <a:pt x="113917" y="71230"/>
                    <a:pt x="113149" y="70034"/>
                  </a:cubicBezTo>
                  <a:lnTo>
                    <a:pt x="86042" y="28499"/>
                  </a:lnTo>
                  <a:lnTo>
                    <a:pt x="57143" y="74218"/>
                  </a:lnTo>
                  <a:cubicBezTo>
                    <a:pt x="56545" y="75157"/>
                    <a:pt x="55520" y="75754"/>
                    <a:pt x="54411" y="75797"/>
                  </a:cubicBezTo>
                  <a:lnTo>
                    <a:pt x="54282" y="75797"/>
                  </a:lnTo>
                  <a:close/>
                </a:path>
              </a:pathLst>
            </a:custGeom>
            <a:solidFill>
              <a:schemeClr val="accent5"/>
            </a:solidFill>
            <a:ln w="4254" cap="flat">
              <a:noFill/>
              <a:prstDash val="solid"/>
              <a:miter/>
            </a:ln>
          </p:spPr>
          <p:txBody>
            <a:bodyPr rtlCol="0" anchor="ctr"/>
            <a:lstStyle/>
            <a:p>
              <a:endParaRPr lang="en-US"/>
            </a:p>
          </p:txBody>
        </p:sp>
      </p:grpSp>
      <p:sp>
        <p:nvSpPr>
          <p:cNvPr id="729" name="object 54">
            <a:extLst>
              <a:ext uri="{FF2B5EF4-FFF2-40B4-BE49-F238E27FC236}">
                <a16:creationId xmlns:a16="http://schemas.microsoft.com/office/drawing/2014/main" id="{25411AB5-7B7C-467B-975B-1F848F50CE22}"/>
              </a:ext>
            </a:extLst>
          </p:cNvPr>
          <p:cNvSpPr txBox="1"/>
          <p:nvPr/>
        </p:nvSpPr>
        <p:spPr>
          <a:xfrm>
            <a:off x="8996259" y="5931266"/>
            <a:ext cx="1620000" cy="307777"/>
          </a:xfrm>
          <a:prstGeom prst="rect">
            <a:avLst/>
          </a:prstGeom>
          <a:solidFill>
            <a:srgbClr val="F2F2F2"/>
          </a:solidFill>
        </p:spPr>
        <p:txBody>
          <a:bodyPr vert="horz" wrap="square" lIns="0" tIns="0" rIns="0" bIns="0" rtlCol="0" anchor="t" anchorCtr="0">
            <a:spAutoFit/>
          </a:bodyPr>
          <a:lstStyle/>
          <a:p>
            <a:pPr marR="3081" algn="ctr" defTabSz="554492">
              <a:buFont typeface="Trebuchet MS" panose="020B0603020202020204" pitchFamily="34" charset="0"/>
              <a:buChar char="​"/>
            </a:pPr>
            <a:r>
              <a:rPr sz="1000">
                <a:latin typeface="Trebuchet MS" panose="020B0603020202020204" pitchFamily="34" charset="0"/>
                <a:cs typeface="Proxima Nova"/>
              </a:rPr>
              <a:t>Feedback loop</a:t>
            </a:r>
            <a:r>
              <a:rPr lang="en-US" sz="1000">
                <a:latin typeface="Trebuchet MS" panose="020B0603020202020204" pitchFamily="34" charset="0"/>
                <a:cs typeface="Proxima Nova"/>
              </a:rPr>
              <a:t> </a:t>
            </a:r>
            <a:r>
              <a:rPr sz="1000">
                <a:latin typeface="Trebuchet MS" panose="020B0603020202020204" pitchFamily="34" charset="0"/>
                <a:cs typeface="Proxima Nova"/>
              </a:rPr>
              <a:t>to </a:t>
            </a:r>
            <a:r>
              <a:rPr sz="1000" b="1">
                <a:latin typeface="Trebuchet MS" panose="020B0603020202020204" pitchFamily="34" charset="0"/>
                <a:cs typeface="Proxima Nova Semibold"/>
              </a:rPr>
              <a:t>squad and</a:t>
            </a:r>
            <a:r>
              <a:rPr lang="en-US" sz="1000" b="1">
                <a:latin typeface="Trebuchet MS" panose="020B0603020202020204" pitchFamily="34" charset="0"/>
                <a:cs typeface="Proxima Nova Semibold"/>
              </a:rPr>
              <a:t> </a:t>
            </a:r>
            <a:r>
              <a:rPr sz="1000" b="1">
                <a:latin typeface="Trebuchet MS" panose="020B0603020202020204" pitchFamily="34" charset="0"/>
                <a:cs typeface="Proxima Nova Semibold"/>
              </a:rPr>
              <a:t>orchestration</a:t>
            </a:r>
          </a:p>
        </p:txBody>
      </p:sp>
      <p:sp>
        <p:nvSpPr>
          <p:cNvPr id="352" name="Oval 25">
            <a:extLst>
              <a:ext uri="{FF2B5EF4-FFF2-40B4-BE49-F238E27FC236}">
                <a16:creationId xmlns:a16="http://schemas.microsoft.com/office/drawing/2014/main" id="{EC97CAE1-FCC4-4FB2-A557-091376C3E633}"/>
              </a:ext>
            </a:extLst>
          </p:cNvPr>
          <p:cNvSpPr/>
          <p:nvPr/>
        </p:nvSpPr>
        <p:spPr>
          <a:xfrm rot="16200000" flipH="1">
            <a:off x="3213520" y="1482546"/>
            <a:ext cx="360000" cy="360000"/>
          </a:xfrm>
          <a:custGeom>
            <a:avLst/>
            <a:gdLst>
              <a:gd name="connsiteX0" fmla="*/ 0 w 269758"/>
              <a:gd name="connsiteY0" fmla="*/ 134879 h 269758"/>
              <a:gd name="connsiteX1" fmla="*/ 134879 w 269758"/>
              <a:gd name="connsiteY1" fmla="*/ 0 h 269758"/>
              <a:gd name="connsiteX2" fmla="*/ 269758 w 269758"/>
              <a:gd name="connsiteY2" fmla="*/ 134879 h 269758"/>
              <a:gd name="connsiteX3" fmla="*/ 134879 w 269758"/>
              <a:gd name="connsiteY3" fmla="*/ 269758 h 269758"/>
              <a:gd name="connsiteX4" fmla="*/ 0 w 269758"/>
              <a:gd name="connsiteY4" fmla="*/ 134879 h 269758"/>
              <a:gd name="connsiteX0" fmla="*/ 269758 w 361198"/>
              <a:gd name="connsiteY0" fmla="*/ 134879 h 269758"/>
              <a:gd name="connsiteX1" fmla="*/ 134879 w 361198"/>
              <a:gd name="connsiteY1" fmla="*/ 269758 h 269758"/>
              <a:gd name="connsiteX2" fmla="*/ 0 w 361198"/>
              <a:gd name="connsiteY2" fmla="*/ 134879 h 269758"/>
              <a:gd name="connsiteX3" fmla="*/ 134879 w 361198"/>
              <a:gd name="connsiteY3" fmla="*/ 0 h 269758"/>
              <a:gd name="connsiteX4" fmla="*/ 361198 w 361198"/>
              <a:gd name="connsiteY4" fmla="*/ 226319 h 269758"/>
              <a:gd name="connsiteX0" fmla="*/ 269758 w 269758"/>
              <a:gd name="connsiteY0" fmla="*/ 134879 h 269758"/>
              <a:gd name="connsiteX1" fmla="*/ 134879 w 269758"/>
              <a:gd name="connsiteY1" fmla="*/ 269758 h 269758"/>
              <a:gd name="connsiteX2" fmla="*/ 0 w 269758"/>
              <a:gd name="connsiteY2" fmla="*/ 134879 h 269758"/>
              <a:gd name="connsiteX3" fmla="*/ 134879 w 269758"/>
              <a:gd name="connsiteY3" fmla="*/ 0 h 269758"/>
              <a:gd name="connsiteX0" fmla="*/ 134879 w 134879"/>
              <a:gd name="connsiteY0" fmla="*/ 269758 h 269758"/>
              <a:gd name="connsiteX1" fmla="*/ 0 w 134879"/>
              <a:gd name="connsiteY1" fmla="*/ 134879 h 269758"/>
              <a:gd name="connsiteX2" fmla="*/ 134879 w 134879"/>
              <a:gd name="connsiteY2" fmla="*/ 0 h 269758"/>
              <a:gd name="connsiteX0" fmla="*/ 0 w 134879"/>
              <a:gd name="connsiteY0" fmla="*/ 134879 h 134879"/>
              <a:gd name="connsiteX1" fmla="*/ 134879 w 134879"/>
              <a:gd name="connsiteY1" fmla="*/ 0 h 134879"/>
            </a:gdLst>
            <a:ahLst/>
            <a:cxnLst>
              <a:cxn ang="0">
                <a:pos x="connsiteX0" y="connsiteY0"/>
              </a:cxn>
              <a:cxn ang="0">
                <a:pos x="connsiteX1" y="connsiteY1"/>
              </a:cxn>
            </a:cxnLst>
            <a:rect l="l" t="t" r="r" b="b"/>
            <a:pathLst>
              <a:path w="134879" h="134879">
                <a:moveTo>
                  <a:pt x="0" y="134879"/>
                </a:moveTo>
                <a:cubicBezTo>
                  <a:pt x="0" y="60387"/>
                  <a:pt x="60387" y="0"/>
                  <a:pt x="134879" y="0"/>
                </a:cubicBezTo>
              </a:path>
            </a:pathLst>
          </a:custGeom>
          <a:ln w="25400" cap="rnd">
            <a:solidFill>
              <a:schemeClr val="bg1">
                <a:lumMod val="85000"/>
              </a:schemeClr>
            </a:solidFill>
            <a:prstDash val="solid"/>
            <a:round/>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cxnSp>
        <p:nvCxnSpPr>
          <p:cNvPr id="353" name="Straight Connector 352">
            <a:extLst>
              <a:ext uri="{FF2B5EF4-FFF2-40B4-BE49-F238E27FC236}">
                <a16:creationId xmlns:a16="http://schemas.microsoft.com/office/drawing/2014/main" id="{FDB29E2E-884A-4FDB-9DA4-2C70C0BE9E39}"/>
              </a:ext>
            </a:extLst>
          </p:cNvPr>
          <p:cNvCxnSpPr>
            <a:cxnSpLocks/>
          </p:cNvCxnSpPr>
          <p:nvPr/>
        </p:nvCxnSpPr>
        <p:spPr>
          <a:xfrm>
            <a:off x="3534924" y="1482546"/>
            <a:ext cx="2961524" cy="0"/>
          </a:xfrm>
          <a:prstGeom prst="line">
            <a:avLst/>
          </a:prstGeom>
          <a:ln w="25400" cap="rnd">
            <a:solidFill>
              <a:schemeClr val="bg1">
                <a:lumMod val="85000"/>
              </a:schemeClr>
            </a:solidFill>
            <a:prstDash val="solid"/>
            <a:round/>
            <a:tailEnd type="none" w="med" len="sm"/>
          </a:ln>
        </p:spPr>
        <p:style>
          <a:lnRef idx="1">
            <a:schemeClr val="accent1"/>
          </a:lnRef>
          <a:fillRef idx="0">
            <a:schemeClr val="accent1"/>
          </a:fillRef>
          <a:effectRef idx="0">
            <a:schemeClr val="accent1"/>
          </a:effectRef>
          <a:fontRef idx="minor">
            <a:schemeClr val="tx1"/>
          </a:fontRef>
        </p:style>
      </p:cxnSp>
      <p:sp>
        <p:nvSpPr>
          <p:cNvPr id="327" name="object 4">
            <a:extLst>
              <a:ext uri="{FF2B5EF4-FFF2-40B4-BE49-F238E27FC236}">
                <a16:creationId xmlns:a16="http://schemas.microsoft.com/office/drawing/2014/main" id="{37EFF2F8-C950-4492-BE07-482C988338C2}"/>
              </a:ext>
            </a:extLst>
          </p:cNvPr>
          <p:cNvSpPr txBox="1"/>
          <p:nvPr/>
        </p:nvSpPr>
        <p:spPr>
          <a:xfrm>
            <a:off x="3534924" y="4450036"/>
            <a:ext cx="3132000" cy="461665"/>
          </a:xfrm>
          <a:prstGeom prst="rect">
            <a:avLst/>
          </a:prstGeom>
        </p:spPr>
        <p:txBody>
          <a:bodyPr vert="horz" wrap="square" lIns="0" tIns="0" rIns="0" bIns="0" rtlCol="0" anchor="t" anchorCtr="0">
            <a:noAutofit/>
          </a:bodyPr>
          <a:lstStyle/>
          <a:p>
            <a:pPr marR="3081" defTabSz="554492">
              <a:buFont typeface="Trebuchet MS" panose="020B0603020202020204" pitchFamily="34" charset="0"/>
              <a:buChar char="​"/>
            </a:pPr>
            <a:r>
              <a:rPr lang="en-US" sz="1000" b="1">
                <a:latin typeface="Trebuchet MS" panose="020B0603020202020204" pitchFamily="34" charset="0"/>
                <a:cs typeface="Proxima Nova Semibold"/>
              </a:rPr>
              <a:t>Different campaign variants </a:t>
            </a:r>
            <a:r>
              <a:rPr lang="en-US" sz="1000">
                <a:latin typeface="Trebuchet MS" panose="020B0603020202020204" pitchFamily="34" charset="0"/>
                <a:cs typeface="Proxima Nova Semibold"/>
              </a:rPr>
              <a:t>created across product, offer, comms, channels, etc. to be tested; target customers identified based on need-state by DS</a:t>
            </a:r>
            <a:endParaRPr sz="1000">
              <a:latin typeface="Trebuchet MS" panose="020B0603020202020204" pitchFamily="34" charset="0"/>
              <a:cs typeface="Proxima Nova"/>
            </a:endParaRPr>
          </a:p>
        </p:txBody>
      </p:sp>
      <p:sp>
        <p:nvSpPr>
          <p:cNvPr id="735" name="TextBox 734">
            <a:extLst>
              <a:ext uri="{FF2B5EF4-FFF2-40B4-BE49-F238E27FC236}">
                <a16:creationId xmlns:a16="http://schemas.microsoft.com/office/drawing/2014/main" id="{F7CD52D8-D61D-4231-8D8F-874106BC4C7D}"/>
              </a:ext>
            </a:extLst>
          </p:cNvPr>
          <p:cNvSpPr txBox="1"/>
          <p:nvPr/>
        </p:nvSpPr>
        <p:spPr>
          <a:xfrm>
            <a:off x="3534924" y="1545480"/>
            <a:ext cx="3061814" cy="553998"/>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a:spAutoFit/>
          </a:bodyPr>
          <a:lstStyle/>
          <a:p>
            <a:pPr marR="3081" defTabSz="554492">
              <a:buFont typeface="Trebuchet MS" panose="020B0603020202020204" pitchFamily="34" charset="0"/>
              <a:buChar char="​"/>
            </a:pPr>
            <a:r>
              <a:rPr lang="en-US" sz="1000" b="1">
                <a:solidFill>
                  <a:schemeClr val="tx1"/>
                </a:solidFill>
                <a:latin typeface="Trebuchet MS" panose="020B0603020202020204" pitchFamily="34" charset="0"/>
              </a:rPr>
              <a:t>Cross-functional squad </a:t>
            </a:r>
            <a:r>
              <a:rPr lang="en-US" sz="1000">
                <a:solidFill>
                  <a:schemeClr val="tx1"/>
                </a:solidFill>
                <a:latin typeface="Trebuchet MS" panose="020B0603020202020204" pitchFamily="34" charset="0"/>
              </a:rPr>
              <a:t>to develop campaign strategy, design, variants/experiments for use case</a:t>
            </a:r>
          </a:p>
        </p:txBody>
      </p:sp>
      <p:sp>
        <p:nvSpPr>
          <p:cNvPr id="736" name="Oval 735">
            <a:extLst>
              <a:ext uri="{FF2B5EF4-FFF2-40B4-BE49-F238E27FC236}">
                <a16:creationId xmlns:a16="http://schemas.microsoft.com/office/drawing/2014/main" id="{34F704A0-A6C9-4D7F-9013-37D1F90A772C}"/>
              </a:ext>
            </a:extLst>
          </p:cNvPr>
          <p:cNvSpPr>
            <a:spLocks noChangeAspect="1"/>
          </p:cNvSpPr>
          <p:nvPr/>
        </p:nvSpPr>
        <p:spPr>
          <a:xfrm>
            <a:off x="3159521" y="1678593"/>
            <a:ext cx="108000" cy="108000"/>
          </a:xfrm>
          <a:prstGeom prst="ellipse">
            <a:avLst/>
          </a:prstGeom>
          <a:solidFill>
            <a:schemeClr val="tx2"/>
          </a:solidFill>
          <a:ln w="38100" cap="rnd" cmpd="sng" algn="ctr">
            <a:solidFill>
              <a:srgbClr val="F7F7F7"/>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435" name="Oval 434">
            <a:extLst>
              <a:ext uri="{FF2B5EF4-FFF2-40B4-BE49-F238E27FC236}">
                <a16:creationId xmlns:a16="http://schemas.microsoft.com/office/drawing/2014/main" id="{F0A13132-9DC1-4AC0-A64F-AB375CE45094}"/>
              </a:ext>
            </a:extLst>
          </p:cNvPr>
          <p:cNvSpPr>
            <a:spLocks noChangeAspect="1"/>
          </p:cNvSpPr>
          <p:nvPr/>
        </p:nvSpPr>
        <p:spPr>
          <a:xfrm>
            <a:off x="6837805" y="5184648"/>
            <a:ext cx="108000" cy="108000"/>
          </a:xfrm>
          <a:prstGeom prst="ellipse">
            <a:avLst/>
          </a:prstGeom>
          <a:solidFill>
            <a:schemeClr val="tx2"/>
          </a:solidFill>
          <a:ln w="38100" cap="rnd" cmpd="sng" algn="ctr">
            <a:solidFill>
              <a:srgbClr val="F7F7F7"/>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9" name="Title 8">
            <a:extLst>
              <a:ext uri="{FF2B5EF4-FFF2-40B4-BE49-F238E27FC236}">
                <a16:creationId xmlns:a16="http://schemas.microsoft.com/office/drawing/2014/main" id="{3E1DCC94-D65E-4992-8A98-F17931E00ACF}"/>
              </a:ext>
            </a:extLst>
          </p:cNvPr>
          <p:cNvSpPr>
            <a:spLocks noGrp="1"/>
          </p:cNvSpPr>
          <p:nvPr>
            <p:ph type="title"/>
          </p:nvPr>
        </p:nvSpPr>
        <p:spPr>
          <a:xfrm>
            <a:off x="630000" y="622800"/>
            <a:ext cx="10933350" cy="664797"/>
          </a:xfrm>
        </p:spPr>
        <p:txBody>
          <a:bodyPr vert="horz"/>
          <a:lstStyle/>
          <a:p>
            <a:r>
              <a:rPr lang="en-US"/>
              <a:t>Enabled by cross-functional squads to run experiments / </a:t>
            </a:r>
            <a:br>
              <a:rPr lang="en-US"/>
            </a:br>
            <a:r>
              <a:rPr lang="en-US"/>
              <a:t>design campaigns and variants, orchestrated and executed centrally</a:t>
            </a:r>
          </a:p>
        </p:txBody>
      </p:sp>
      <p:sp>
        <p:nvSpPr>
          <p:cNvPr id="357" name="NavigationTriangle">
            <a:extLst>
              <a:ext uri="{FF2B5EF4-FFF2-40B4-BE49-F238E27FC236}">
                <a16:creationId xmlns:a16="http://schemas.microsoft.com/office/drawing/2014/main" id="{6843DB20-2E5F-4D51-B73F-AEDADD141A7A}"/>
              </a:ext>
            </a:extLst>
          </p:cNvPr>
          <p:cNvSpPr/>
          <p:nvPr/>
        </p:nvSpPr>
        <p:spPr>
          <a:xfrm rot="16200000">
            <a:off x="11116165" y="-21446"/>
            <a:ext cx="1054387" cy="1097280"/>
          </a:xfrm>
          <a:prstGeom prst="triangle">
            <a:avLst>
              <a:gd name="adj" fmla="val 100000"/>
            </a:avLst>
          </a:prstGeom>
          <a:solidFill>
            <a:srgbClr val="29BA74">
              <a:lumMod val="100000"/>
            </a:srgbClr>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9B1C23"/>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200">
              <a:solidFill>
                <a:srgbClr val="FFFFFF"/>
              </a:solidFill>
            </a:endParaRPr>
          </a:p>
        </p:txBody>
      </p:sp>
      <p:sp>
        <p:nvSpPr>
          <p:cNvPr id="358" name="NavigationIcon">
            <a:extLst>
              <a:ext uri="{FF2B5EF4-FFF2-40B4-BE49-F238E27FC236}">
                <a16:creationId xmlns:a16="http://schemas.microsoft.com/office/drawing/2014/main" id="{0372CF00-8201-4236-847D-8614D2A69150}"/>
              </a:ext>
            </a:extLst>
          </p:cNvPr>
          <p:cNvSpPr>
            <a:spLocks noChangeAspect="1" noChangeArrowheads="1"/>
          </p:cNvSpPr>
          <p:nvPr>
            <p:custDataLst>
              <p:tags r:id="rId2"/>
            </p:custDataLst>
          </p:nvPr>
        </p:nvSpPr>
        <p:spPr bwMode="auto">
          <a:xfrm>
            <a:off x="11690544" y="132877"/>
            <a:ext cx="365760" cy="365760"/>
          </a:xfrm>
          <a:prstGeom prst="ellipse">
            <a:avLst/>
          </a:prstGeom>
          <a:solidFill>
            <a:srgbClr val="FFFFFF"/>
          </a:solidFill>
          <a:ln>
            <a:noFill/>
          </a:ln>
        </p:spPr>
        <p:txBody>
          <a:bodyPr vert="horz" wrap="square" lIns="0" tIns="0" rIns="0" bIns="0" numCol="1" anchor="ctr" anchorCtr="0" compatLnSpc="1">
            <a:prstTxWarp prst="textNoShape">
              <a:avLst/>
            </a:prstTxWarp>
          </a:bodyPr>
          <a:lstStyle/>
          <a:p>
            <a:pPr algn="ctr"/>
            <a:r>
              <a:rPr lang="en-US" sz="2000">
                <a:solidFill>
                  <a:srgbClr val="29BA74">
                    <a:lumMod val="100000"/>
                  </a:srgbClr>
                </a:solidFill>
                <a:latin typeface="+mj-lt"/>
              </a:rPr>
              <a:t>4</a:t>
            </a:r>
          </a:p>
        </p:txBody>
      </p:sp>
      <p:sp>
        <p:nvSpPr>
          <p:cNvPr id="354" name="Rectangle 353">
            <a:extLst>
              <a:ext uri="{FF2B5EF4-FFF2-40B4-BE49-F238E27FC236}">
                <a16:creationId xmlns:a16="http://schemas.microsoft.com/office/drawing/2014/main" id="{489352E4-3C05-49D0-8E51-3CF7D394EF9B}"/>
              </a:ext>
            </a:extLst>
          </p:cNvPr>
          <p:cNvSpPr>
            <a:spLocks/>
          </p:cNvSpPr>
          <p:nvPr/>
        </p:nvSpPr>
        <p:spPr>
          <a:xfrm>
            <a:off x="6638926" y="0"/>
            <a:ext cx="4425468" cy="191701"/>
          </a:xfrm>
          <a:prstGeom prst="rect">
            <a:avLst/>
          </a:prstGeom>
          <a:noFill/>
          <a:ln w="6943" cap="rnd" cmpd="sng" algn="ctr">
            <a:noFill/>
            <a:prstDash val="solid"/>
            <a:round/>
            <a:headEnd type="none" w="med" len="med"/>
            <a:tailEnd type="none" w="med" len="med"/>
          </a:ln>
          <a:effectLst/>
          <a:extLst>
            <a:ext uri="{909E8E84-426E-40DD-AFC4-6F175D3DCCD1}">
              <a14:hiddenFill xmlns:a14="http://schemas.microsoft.com/office/drawing/2010/main">
                <a:solidFill>
                  <a:srgbClr val="9B1C23"/>
                </a:solidFill>
              </a14:hiddenFill>
            </a:ext>
            <a:ext uri="{91240B29-F687-4F45-9708-019B960494DF}">
              <a14:hiddenLine xmlns:a14="http://schemas.microsoft.com/office/drawing/2010/main" w="6943" cap="rnd" cmpd="sng" algn="ctr">
                <a:solidFill>
                  <a:srgbClr val="9B1C23"/>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7F7F7F"/>
                </a:solidFill>
                <a:effectLst/>
                <a:uLnTx/>
                <a:uFillTx/>
                <a:latin typeface="Trebuchet MS" panose="020B0603020202020204" pitchFamily="34" charset="0"/>
                <a:ea typeface="+mn-ea"/>
                <a:cs typeface="+mn-cs"/>
              </a:rPr>
              <a:t>Future operating model</a:t>
            </a:r>
          </a:p>
        </p:txBody>
      </p:sp>
      <p:sp>
        <p:nvSpPr>
          <p:cNvPr id="355" name="Rectangle: Rounded Corners 354">
            <a:extLst>
              <a:ext uri="{FF2B5EF4-FFF2-40B4-BE49-F238E27FC236}">
                <a16:creationId xmlns:a16="http://schemas.microsoft.com/office/drawing/2014/main" id="{9796A1EE-1371-46B5-9A7D-2835B22490AA}"/>
              </a:ext>
            </a:extLst>
          </p:cNvPr>
          <p:cNvSpPr/>
          <p:nvPr/>
        </p:nvSpPr>
        <p:spPr>
          <a:xfrm>
            <a:off x="7649435" y="2678304"/>
            <a:ext cx="1379129" cy="540000"/>
          </a:xfrm>
          <a:prstGeom prst="roundRect">
            <a:avLst>
              <a:gd name="adj" fmla="val 10000"/>
            </a:avLst>
          </a:prstGeom>
          <a:solidFill>
            <a:schemeClr val="bg1"/>
          </a:solidFill>
          <a:ln w="9525" cap="rnd" cmpd="sng" algn="ctr">
            <a:noFill/>
            <a:prstDash val="solid"/>
            <a:round/>
            <a:headEnd type="none" w="med" len="med"/>
            <a:tailEnd type="none" w="med" len="med"/>
          </a:ln>
          <a:effectLst>
            <a:outerShdw blurRad="190500" algn="ctr" rotWithShape="0">
              <a:schemeClr val="bg1">
                <a:lumMod val="65000"/>
                <a:alpha val="3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Nova"/>
              <a:ea typeface="+mn-ea"/>
              <a:cs typeface="+mn-cs"/>
            </a:endParaRPr>
          </a:p>
        </p:txBody>
      </p:sp>
      <p:sp>
        <p:nvSpPr>
          <p:cNvPr id="356" name="Rectangle: Rounded Corners 355">
            <a:extLst>
              <a:ext uri="{FF2B5EF4-FFF2-40B4-BE49-F238E27FC236}">
                <a16:creationId xmlns:a16="http://schemas.microsoft.com/office/drawing/2014/main" id="{2303F5D7-2814-4FF9-A0A5-5006882D6B08}"/>
              </a:ext>
            </a:extLst>
          </p:cNvPr>
          <p:cNvSpPr/>
          <p:nvPr/>
        </p:nvSpPr>
        <p:spPr>
          <a:xfrm>
            <a:off x="7649435" y="3324627"/>
            <a:ext cx="1379129" cy="540000"/>
          </a:xfrm>
          <a:prstGeom prst="roundRect">
            <a:avLst>
              <a:gd name="adj" fmla="val 10000"/>
            </a:avLst>
          </a:prstGeom>
          <a:solidFill>
            <a:schemeClr val="bg1"/>
          </a:solidFill>
          <a:ln w="9525" cap="rnd" cmpd="sng" algn="ctr">
            <a:noFill/>
            <a:prstDash val="solid"/>
            <a:round/>
            <a:headEnd type="none" w="med" len="med"/>
            <a:tailEnd type="none" w="med" len="med"/>
          </a:ln>
          <a:effectLst>
            <a:outerShdw blurRad="190500" algn="ctr" rotWithShape="0">
              <a:schemeClr val="bg1">
                <a:lumMod val="65000"/>
                <a:alpha val="3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Nova"/>
              <a:ea typeface="+mn-ea"/>
              <a:cs typeface="+mn-cs"/>
            </a:endParaRPr>
          </a:p>
        </p:txBody>
      </p:sp>
      <p:sp>
        <p:nvSpPr>
          <p:cNvPr id="359" name="Rectangle: Rounded Corners 358">
            <a:extLst>
              <a:ext uri="{FF2B5EF4-FFF2-40B4-BE49-F238E27FC236}">
                <a16:creationId xmlns:a16="http://schemas.microsoft.com/office/drawing/2014/main" id="{192D25B2-B4F0-46DD-83EE-9AC775A4E54A}"/>
              </a:ext>
            </a:extLst>
          </p:cNvPr>
          <p:cNvSpPr/>
          <p:nvPr/>
        </p:nvSpPr>
        <p:spPr>
          <a:xfrm>
            <a:off x="7649435" y="3970950"/>
            <a:ext cx="1379129" cy="540000"/>
          </a:xfrm>
          <a:prstGeom prst="roundRect">
            <a:avLst>
              <a:gd name="adj" fmla="val 10000"/>
            </a:avLst>
          </a:prstGeom>
          <a:solidFill>
            <a:schemeClr val="bg1"/>
          </a:solidFill>
          <a:ln w="9525" cap="rnd" cmpd="sng" algn="ctr">
            <a:noFill/>
            <a:prstDash val="solid"/>
            <a:round/>
            <a:headEnd type="none" w="med" len="med"/>
            <a:tailEnd type="none" w="med" len="med"/>
          </a:ln>
          <a:effectLst>
            <a:outerShdw blurRad="190500" algn="ctr" rotWithShape="0">
              <a:schemeClr val="bg1">
                <a:lumMod val="65000"/>
                <a:alpha val="3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Nova"/>
              <a:ea typeface="+mn-ea"/>
              <a:cs typeface="+mn-cs"/>
            </a:endParaRPr>
          </a:p>
        </p:txBody>
      </p:sp>
      <p:sp>
        <p:nvSpPr>
          <p:cNvPr id="360" name="Rectangle: Rounded Corners 359">
            <a:extLst>
              <a:ext uri="{FF2B5EF4-FFF2-40B4-BE49-F238E27FC236}">
                <a16:creationId xmlns:a16="http://schemas.microsoft.com/office/drawing/2014/main" id="{46C50ACC-CF99-40E6-A59C-5F54A4751D8C}"/>
              </a:ext>
            </a:extLst>
          </p:cNvPr>
          <p:cNvSpPr/>
          <p:nvPr/>
        </p:nvSpPr>
        <p:spPr>
          <a:xfrm>
            <a:off x="7649435" y="4617273"/>
            <a:ext cx="1379129" cy="540000"/>
          </a:xfrm>
          <a:prstGeom prst="roundRect">
            <a:avLst>
              <a:gd name="adj" fmla="val 10000"/>
            </a:avLst>
          </a:prstGeom>
          <a:solidFill>
            <a:schemeClr val="bg1"/>
          </a:solidFill>
          <a:ln w="9525" cap="rnd" cmpd="sng" algn="ctr">
            <a:noFill/>
            <a:prstDash val="solid"/>
            <a:round/>
            <a:headEnd type="none" w="med" len="med"/>
            <a:tailEnd type="none" w="med" len="med"/>
          </a:ln>
          <a:effectLst>
            <a:outerShdw blurRad="190500" algn="ctr" rotWithShape="0">
              <a:schemeClr val="bg1">
                <a:lumMod val="65000"/>
                <a:alpha val="3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Nova"/>
              <a:ea typeface="+mn-ea"/>
              <a:cs typeface="+mn-cs"/>
            </a:endParaRPr>
          </a:p>
        </p:txBody>
      </p:sp>
      <p:cxnSp>
        <p:nvCxnSpPr>
          <p:cNvPr id="363" name="Straight Connector 362">
            <a:extLst>
              <a:ext uri="{FF2B5EF4-FFF2-40B4-BE49-F238E27FC236}">
                <a16:creationId xmlns:a16="http://schemas.microsoft.com/office/drawing/2014/main" id="{FF9D77B3-27AF-4CEC-AE5C-DD841D247C44}"/>
              </a:ext>
            </a:extLst>
          </p:cNvPr>
          <p:cNvCxnSpPr>
            <a:cxnSpLocks/>
          </p:cNvCxnSpPr>
          <p:nvPr/>
        </p:nvCxnSpPr>
        <p:spPr>
          <a:xfrm flipV="1">
            <a:off x="9218089" y="3360420"/>
            <a:ext cx="2" cy="1954004"/>
          </a:xfrm>
          <a:prstGeom prst="line">
            <a:avLst/>
          </a:prstGeom>
          <a:ln w="25400" cap="rnd">
            <a:solidFill>
              <a:schemeClr val="bg1">
                <a:lumMod val="85000"/>
              </a:schemeClr>
            </a:solidFill>
            <a:prstDash val="solid"/>
            <a:round/>
            <a:tailEnd type="arrow" w="med" len="sm"/>
          </a:ln>
        </p:spPr>
        <p:style>
          <a:lnRef idx="1">
            <a:schemeClr val="accent1"/>
          </a:lnRef>
          <a:fillRef idx="0">
            <a:schemeClr val="accent1"/>
          </a:fillRef>
          <a:effectRef idx="0">
            <a:schemeClr val="accent1"/>
          </a:effectRef>
          <a:fontRef idx="minor">
            <a:schemeClr val="tx1"/>
          </a:fontRef>
        </p:style>
      </p:cxnSp>
      <p:cxnSp>
        <p:nvCxnSpPr>
          <p:cNvPr id="369" name="Straight Connector 368">
            <a:extLst>
              <a:ext uri="{FF2B5EF4-FFF2-40B4-BE49-F238E27FC236}">
                <a16:creationId xmlns:a16="http://schemas.microsoft.com/office/drawing/2014/main" id="{9ADEB9F7-23C8-499B-949A-504D6DEA4C04}"/>
              </a:ext>
            </a:extLst>
          </p:cNvPr>
          <p:cNvCxnSpPr>
            <a:cxnSpLocks/>
          </p:cNvCxnSpPr>
          <p:nvPr/>
        </p:nvCxnSpPr>
        <p:spPr>
          <a:xfrm flipV="1">
            <a:off x="8056564" y="5851097"/>
            <a:ext cx="0" cy="234057"/>
          </a:xfrm>
          <a:prstGeom prst="line">
            <a:avLst/>
          </a:prstGeom>
          <a:ln w="25400" cap="rnd">
            <a:solidFill>
              <a:schemeClr val="bg1">
                <a:lumMod val="85000"/>
              </a:schemeClr>
            </a:solidFill>
            <a:prstDash val="solid"/>
            <a:round/>
            <a:tailEnd type="arrow" w="med" len="sm"/>
          </a:ln>
        </p:spPr>
        <p:style>
          <a:lnRef idx="1">
            <a:schemeClr val="accent1"/>
          </a:lnRef>
          <a:fillRef idx="0">
            <a:schemeClr val="accent1"/>
          </a:fillRef>
          <a:effectRef idx="0">
            <a:schemeClr val="accent1"/>
          </a:effectRef>
          <a:fontRef idx="minor">
            <a:schemeClr val="tx1"/>
          </a:fontRef>
        </p:style>
      </p:cxnSp>
      <p:grpSp>
        <p:nvGrpSpPr>
          <p:cNvPr id="370" name="Group 369">
            <a:extLst>
              <a:ext uri="{FF2B5EF4-FFF2-40B4-BE49-F238E27FC236}">
                <a16:creationId xmlns:a16="http://schemas.microsoft.com/office/drawing/2014/main" id="{8F918FC4-E7DB-4329-B981-0AE456A0B3B7}"/>
              </a:ext>
            </a:extLst>
          </p:cNvPr>
          <p:cNvGrpSpPr>
            <a:grpSpLocks noChangeAspect="1"/>
          </p:cNvGrpSpPr>
          <p:nvPr/>
        </p:nvGrpSpPr>
        <p:grpSpPr>
          <a:xfrm>
            <a:off x="8933282" y="3499343"/>
            <a:ext cx="190567" cy="190567"/>
            <a:chOff x="5961063" y="3294063"/>
            <a:chExt cx="269875" cy="269875"/>
          </a:xfrm>
        </p:grpSpPr>
        <p:sp>
          <p:nvSpPr>
            <p:cNvPr id="371" name="Oval 16">
              <a:extLst>
                <a:ext uri="{FF2B5EF4-FFF2-40B4-BE49-F238E27FC236}">
                  <a16:creationId xmlns:a16="http://schemas.microsoft.com/office/drawing/2014/main" id="{3DC8B8ED-9FE5-49E4-81CF-F470449638DA}"/>
                </a:ext>
              </a:extLst>
            </p:cNvPr>
            <p:cNvSpPr>
              <a:spLocks noChangeArrowheads="1"/>
            </p:cNvSpPr>
            <p:nvPr/>
          </p:nvSpPr>
          <p:spPr bwMode="auto">
            <a:xfrm>
              <a:off x="5961063" y="3294063"/>
              <a:ext cx="269875" cy="269875"/>
            </a:xfrm>
            <a:prstGeom prst="ellipse">
              <a:avLst/>
            </a:prstGeom>
            <a:solidFill>
              <a:srgbClr val="70B347"/>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372" name="Freeform 17">
              <a:extLst>
                <a:ext uri="{FF2B5EF4-FFF2-40B4-BE49-F238E27FC236}">
                  <a16:creationId xmlns:a16="http://schemas.microsoft.com/office/drawing/2014/main" id="{839023FB-C71B-4D52-98CE-B48AE0EAE419}"/>
                </a:ext>
              </a:extLst>
            </p:cNvPr>
            <p:cNvSpPr>
              <a:spLocks/>
            </p:cNvSpPr>
            <p:nvPr/>
          </p:nvSpPr>
          <p:spPr bwMode="auto">
            <a:xfrm>
              <a:off x="6029326" y="3363913"/>
              <a:ext cx="133350" cy="128587"/>
            </a:xfrm>
            <a:custGeom>
              <a:avLst/>
              <a:gdLst>
                <a:gd name="T0" fmla="*/ 36 w 84"/>
                <a:gd name="T1" fmla="*/ 67 h 81"/>
                <a:gd name="T2" fmla="*/ 7 w 84"/>
                <a:gd name="T3" fmla="*/ 39 h 81"/>
                <a:gd name="T4" fmla="*/ 0 w 84"/>
                <a:gd name="T5" fmla="*/ 45 h 81"/>
                <a:gd name="T6" fmla="*/ 38 w 84"/>
                <a:gd name="T7" fmla="*/ 81 h 81"/>
                <a:gd name="T8" fmla="*/ 84 w 84"/>
                <a:gd name="T9" fmla="*/ 4 h 81"/>
                <a:gd name="T10" fmla="*/ 76 w 84"/>
                <a:gd name="T11" fmla="*/ 0 h 81"/>
                <a:gd name="T12" fmla="*/ 36 w 84"/>
                <a:gd name="T13" fmla="*/ 67 h 81"/>
              </a:gdLst>
              <a:ahLst/>
              <a:cxnLst>
                <a:cxn ang="0">
                  <a:pos x="T0" y="T1"/>
                </a:cxn>
                <a:cxn ang="0">
                  <a:pos x="T2" y="T3"/>
                </a:cxn>
                <a:cxn ang="0">
                  <a:pos x="T4" y="T5"/>
                </a:cxn>
                <a:cxn ang="0">
                  <a:pos x="T6" y="T7"/>
                </a:cxn>
                <a:cxn ang="0">
                  <a:pos x="T8" y="T9"/>
                </a:cxn>
                <a:cxn ang="0">
                  <a:pos x="T10" y="T11"/>
                </a:cxn>
                <a:cxn ang="0">
                  <a:pos x="T12" y="T13"/>
                </a:cxn>
              </a:cxnLst>
              <a:rect l="0" t="0" r="r" b="b"/>
              <a:pathLst>
                <a:path w="84" h="81">
                  <a:moveTo>
                    <a:pt x="36" y="67"/>
                  </a:moveTo>
                  <a:lnTo>
                    <a:pt x="7" y="39"/>
                  </a:lnTo>
                  <a:lnTo>
                    <a:pt x="0" y="45"/>
                  </a:lnTo>
                  <a:lnTo>
                    <a:pt x="38" y="81"/>
                  </a:lnTo>
                  <a:lnTo>
                    <a:pt x="84" y="4"/>
                  </a:lnTo>
                  <a:lnTo>
                    <a:pt x="76" y="0"/>
                  </a:lnTo>
                  <a:lnTo>
                    <a:pt x="36" y="67"/>
                  </a:lnTo>
                  <a:close/>
                </a:path>
              </a:pathLst>
            </a:custGeom>
            <a:solidFill>
              <a:srgbClr val="FFFFFF">
                <a:lumMod val="100000"/>
              </a:srgb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grpSp>
      <p:grpSp>
        <p:nvGrpSpPr>
          <p:cNvPr id="376" name="Group 375">
            <a:extLst>
              <a:ext uri="{FF2B5EF4-FFF2-40B4-BE49-F238E27FC236}">
                <a16:creationId xmlns:a16="http://schemas.microsoft.com/office/drawing/2014/main" id="{5E1768E2-5820-4699-B2EA-DC80D4BD5427}"/>
              </a:ext>
            </a:extLst>
          </p:cNvPr>
          <p:cNvGrpSpPr>
            <a:grpSpLocks noChangeAspect="1"/>
          </p:cNvGrpSpPr>
          <p:nvPr/>
        </p:nvGrpSpPr>
        <p:grpSpPr>
          <a:xfrm>
            <a:off x="8933282" y="4791990"/>
            <a:ext cx="190567" cy="190567"/>
            <a:chOff x="5961063" y="3294063"/>
            <a:chExt cx="269875" cy="269875"/>
          </a:xfrm>
        </p:grpSpPr>
        <p:sp>
          <p:nvSpPr>
            <p:cNvPr id="377" name="Oval 16">
              <a:extLst>
                <a:ext uri="{FF2B5EF4-FFF2-40B4-BE49-F238E27FC236}">
                  <a16:creationId xmlns:a16="http://schemas.microsoft.com/office/drawing/2014/main" id="{95B311DB-FC23-4E9A-BACD-740EE4346501}"/>
                </a:ext>
              </a:extLst>
            </p:cNvPr>
            <p:cNvSpPr>
              <a:spLocks noChangeArrowheads="1"/>
            </p:cNvSpPr>
            <p:nvPr/>
          </p:nvSpPr>
          <p:spPr bwMode="auto">
            <a:xfrm>
              <a:off x="5961063" y="3294063"/>
              <a:ext cx="269875" cy="269875"/>
            </a:xfrm>
            <a:prstGeom prst="ellipse">
              <a:avLst/>
            </a:prstGeom>
            <a:solidFill>
              <a:srgbClr val="70B347"/>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378" name="Freeform 17">
              <a:extLst>
                <a:ext uri="{FF2B5EF4-FFF2-40B4-BE49-F238E27FC236}">
                  <a16:creationId xmlns:a16="http://schemas.microsoft.com/office/drawing/2014/main" id="{0ED3C46A-FACC-4D39-9CE5-3CCE7435D964}"/>
                </a:ext>
              </a:extLst>
            </p:cNvPr>
            <p:cNvSpPr>
              <a:spLocks/>
            </p:cNvSpPr>
            <p:nvPr/>
          </p:nvSpPr>
          <p:spPr bwMode="auto">
            <a:xfrm>
              <a:off x="6029326" y="3363913"/>
              <a:ext cx="133350" cy="128587"/>
            </a:xfrm>
            <a:custGeom>
              <a:avLst/>
              <a:gdLst>
                <a:gd name="T0" fmla="*/ 36 w 84"/>
                <a:gd name="T1" fmla="*/ 67 h 81"/>
                <a:gd name="T2" fmla="*/ 7 w 84"/>
                <a:gd name="T3" fmla="*/ 39 h 81"/>
                <a:gd name="T4" fmla="*/ 0 w 84"/>
                <a:gd name="T5" fmla="*/ 45 h 81"/>
                <a:gd name="T6" fmla="*/ 38 w 84"/>
                <a:gd name="T7" fmla="*/ 81 h 81"/>
                <a:gd name="T8" fmla="*/ 84 w 84"/>
                <a:gd name="T9" fmla="*/ 4 h 81"/>
                <a:gd name="T10" fmla="*/ 76 w 84"/>
                <a:gd name="T11" fmla="*/ 0 h 81"/>
                <a:gd name="T12" fmla="*/ 36 w 84"/>
                <a:gd name="T13" fmla="*/ 67 h 81"/>
              </a:gdLst>
              <a:ahLst/>
              <a:cxnLst>
                <a:cxn ang="0">
                  <a:pos x="T0" y="T1"/>
                </a:cxn>
                <a:cxn ang="0">
                  <a:pos x="T2" y="T3"/>
                </a:cxn>
                <a:cxn ang="0">
                  <a:pos x="T4" y="T5"/>
                </a:cxn>
                <a:cxn ang="0">
                  <a:pos x="T6" y="T7"/>
                </a:cxn>
                <a:cxn ang="0">
                  <a:pos x="T8" y="T9"/>
                </a:cxn>
                <a:cxn ang="0">
                  <a:pos x="T10" y="T11"/>
                </a:cxn>
                <a:cxn ang="0">
                  <a:pos x="T12" y="T13"/>
                </a:cxn>
              </a:cxnLst>
              <a:rect l="0" t="0" r="r" b="b"/>
              <a:pathLst>
                <a:path w="84" h="81">
                  <a:moveTo>
                    <a:pt x="36" y="67"/>
                  </a:moveTo>
                  <a:lnTo>
                    <a:pt x="7" y="39"/>
                  </a:lnTo>
                  <a:lnTo>
                    <a:pt x="0" y="45"/>
                  </a:lnTo>
                  <a:lnTo>
                    <a:pt x="38" y="81"/>
                  </a:lnTo>
                  <a:lnTo>
                    <a:pt x="84" y="4"/>
                  </a:lnTo>
                  <a:lnTo>
                    <a:pt x="76" y="0"/>
                  </a:lnTo>
                  <a:lnTo>
                    <a:pt x="36" y="67"/>
                  </a:lnTo>
                  <a:close/>
                </a:path>
              </a:pathLst>
            </a:custGeom>
            <a:solidFill>
              <a:srgbClr val="FFFFFF">
                <a:lumMod val="100000"/>
              </a:srgb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grpSp>
      <p:grpSp>
        <p:nvGrpSpPr>
          <p:cNvPr id="379" name="Group 378">
            <a:extLst>
              <a:ext uri="{FF2B5EF4-FFF2-40B4-BE49-F238E27FC236}">
                <a16:creationId xmlns:a16="http://schemas.microsoft.com/office/drawing/2014/main" id="{A841F657-4C28-4E61-868E-52399F50D68F}"/>
              </a:ext>
            </a:extLst>
          </p:cNvPr>
          <p:cNvGrpSpPr>
            <a:grpSpLocks noChangeAspect="1"/>
          </p:cNvGrpSpPr>
          <p:nvPr/>
        </p:nvGrpSpPr>
        <p:grpSpPr>
          <a:xfrm>
            <a:off x="8933282" y="4145666"/>
            <a:ext cx="190567" cy="190567"/>
            <a:chOff x="628650" y="2655888"/>
            <a:chExt cx="269875" cy="269875"/>
          </a:xfrm>
        </p:grpSpPr>
        <p:sp>
          <p:nvSpPr>
            <p:cNvPr id="380" name="Oval 18">
              <a:extLst>
                <a:ext uri="{FF2B5EF4-FFF2-40B4-BE49-F238E27FC236}">
                  <a16:creationId xmlns:a16="http://schemas.microsoft.com/office/drawing/2014/main" id="{61247E82-F780-47CB-A7B3-6664C6698989}"/>
                </a:ext>
              </a:extLst>
            </p:cNvPr>
            <p:cNvSpPr>
              <a:spLocks noChangeArrowheads="1"/>
            </p:cNvSpPr>
            <p:nvPr/>
          </p:nvSpPr>
          <p:spPr bwMode="auto">
            <a:xfrm>
              <a:off x="628650" y="2655888"/>
              <a:ext cx="269875" cy="269875"/>
            </a:xfrm>
            <a:prstGeom prst="ellipse">
              <a:avLst/>
            </a:prstGeom>
            <a:solidFill>
              <a:srgbClr val="C5202B"/>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Nova"/>
                <a:ea typeface="+mn-ea"/>
                <a:cs typeface="+mn-cs"/>
              </a:endParaRPr>
            </a:p>
          </p:txBody>
        </p:sp>
        <p:sp>
          <p:nvSpPr>
            <p:cNvPr id="381" name="Freeform 19">
              <a:extLst>
                <a:ext uri="{FF2B5EF4-FFF2-40B4-BE49-F238E27FC236}">
                  <a16:creationId xmlns:a16="http://schemas.microsoft.com/office/drawing/2014/main" id="{A11018F4-C3B0-4365-B949-6D59D58776C3}"/>
                </a:ext>
              </a:extLst>
            </p:cNvPr>
            <p:cNvSpPr>
              <a:spLocks/>
            </p:cNvSpPr>
            <p:nvPr/>
          </p:nvSpPr>
          <p:spPr bwMode="auto">
            <a:xfrm>
              <a:off x="708025" y="2735263"/>
              <a:ext cx="111125" cy="111125"/>
            </a:xfrm>
            <a:custGeom>
              <a:avLst/>
              <a:gdLst>
                <a:gd name="T0" fmla="*/ 63 w 70"/>
                <a:gd name="T1" fmla="*/ 0 h 70"/>
                <a:gd name="T2" fmla="*/ 35 w 70"/>
                <a:gd name="T3" fmla="*/ 29 h 70"/>
                <a:gd name="T4" fmla="*/ 6 w 70"/>
                <a:gd name="T5" fmla="*/ 0 h 70"/>
                <a:gd name="T6" fmla="*/ 0 w 70"/>
                <a:gd name="T7" fmla="*/ 6 h 70"/>
                <a:gd name="T8" fmla="*/ 28 w 70"/>
                <a:gd name="T9" fmla="*/ 35 h 70"/>
                <a:gd name="T10" fmla="*/ 0 w 70"/>
                <a:gd name="T11" fmla="*/ 63 h 70"/>
                <a:gd name="T12" fmla="*/ 6 w 70"/>
                <a:gd name="T13" fmla="*/ 70 h 70"/>
                <a:gd name="T14" fmla="*/ 35 w 70"/>
                <a:gd name="T15" fmla="*/ 41 h 70"/>
                <a:gd name="T16" fmla="*/ 63 w 70"/>
                <a:gd name="T17" fmla="*/ 70 h 70"/>
                <a:gd name="T18" fmla="*/ 70 w 70"/>
                <a:gd name="T19" fmla="*/ 63 h 70"/>
                <a:gd name="T20" fmla="*/ 41 w 70"/>
                <a:gd name="T21" fmla="*/ 35 h 70"/>
                <a:gd name="T22" fmla="*/ 70 w 70"/>
                <a:gd name="T23" fmla="*/ 6 h 70"/>
                <a:gd name="T24" fmla="*/ 63 w 70"/>
                <a:gd name="T25"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63" y="0"/>
                  </a:moveTo>
                  <a:lnTo>
                    <a:pt x="35" y="29"/>
                  </a:lnTo>
                  <a:lnTo>
                    <a:pt x="6" y="0"/>
                  </a:lnTo>
                  <a:lnTo>
                    <a:pt x="0" y="6"/>
                  </a:lnTo>
                  <a:lnTo>
                    <a:pt x="28" y="35"/>
                  </a:lnTo>
                  <a:lnTo>
                    <a:pt x="0" y="63"/>
                  </a:lnTo>
                  <a:lnTo>
                    <a:pt x="6" y="70"/>
                  </a:lnTo>
                  <a:lnTo>
                    <a:pt x="35" y="41"/>
                  </a:lnTo>
                  <a:lnTo>
                    <a:pt x="63" y="70"/>
                  </a:lnTo>
                  <a:lnTo>
                    <a:pt x="70" y="63"/>
                  </a:lnTo>
                  <a:lnTo>
                    <a:pt x="41" y="35"/>
                  </a:lnTo>
                  <a:lnTo>
                    <a:pt x="70" y="6"/>
                  </a:lnTo>
                  <a:lnTo>
                    <a:pt x="63" y="0"/>
                  </a:lnTo>
                  <a:close/>
                </a:path>
              </a:pathLst>
            </a:custGeom>
            <a:solidFill>
              <a:srgbClr val="FFFFFF">
                <a:lumMod val="100000"/>
              </a:srgb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Nova"/>
                <a:ea typeface="+mn-ea"/>
                <a:cs typeface="+mn-cs"/>
              </a:endParaRPr>
            </a:p>
          </p:txBody>
        </p:sp>
      </p:grpSp>
      <p:sp>
        <p:nvSpPr>
          <p:cNvPr id="382" name="Rectangle: Top Corners Rounded 381">
            <a:extLst>
              <a:ext uri="{FF2B5EF4-FFF2-40B4-BE49-F238E27FC236}">
                <a16:creationId xmlns:a16="http://schemas.microsoft.com/office/drawing/2014/main" id="{DD4A3F92-89A1-4B40-ABC4-8A469E73A21C}"/>
              </a:ext>
            </a:extLst>
          </p:cNvPr>
          <p:cNvSpPr/>
          <p:nvPr/>
        </p:nvSpPr>
        <p:spPr>
          <a:xfrm rot="16200000">
            <a:off x="7364107" y="2915299"/>
            <a:ext cx="540000" cy="66012"/>
          </a:xfrm>
          <a:prstGeom prst="round2SameRect">
            <a:avLst>
              <a:gd name="adj1" fmla="val 545355"/>
              <a:gd name="adj2" fmla="val 0"/>
            </a:avLst>
          </a:prstGeom>
          <a:solidFill>
            <a:schemeClr val="tx2">
              <a:lumMod val="40000"/>
              <a:lumOff val="6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Nova"/>
              <a:ea typeface="+mn-ea"/>
              <a:cs typeface="+mn-cs"/>
            </a:endParaRPr>
          </a:p>
        </p:txBody>
      </p:sp>
      <p:sp>
        <p:nvSpPr>
          <p:cNvPr id="383" name="Rectangle: Top Corners Rounded 382">
            <a:extLst>
              <a:ext uri="{FF2B5EF4-FFF2-40B4-BE49-F238E27FC236}">
                <a16:creationId xmlns:a16="http://schemas.microsoft.com/office/drawing/2014/main" id="{81970565-2DAF-4695-B6E2-678D77F5047E}"/>
              </a:ext>
            </a:extLst>
          </p:cNvPr>
          <p:cNvSpPr/>
          <p:nvPr/>
        </p:nvSpPr>
        <p:spPr>
          <a:xfrm rot="16200000">
            <a:off x="7364107" y="3561621"/>
            <a:ext cx="540000" cy="66012"/>
          </a:xfrm>
          <a:prstGeom prst="round2SameRect">
            <a:avLst>
              <a:gd name="adj1" fmla="val 545355"/>
              <a:gd name="adj2" fmla="val 0"/>
            </a:avLst>
          </a:prstGeom>
          <a:solidFill>
            <a:schemeClr val="bg1">
              <a:lumMod val="85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Nova"/>
              <a:ea typeface="+mn-ea"/>
              <a:cs typeface="+mn-cs"/>
            </a:endParaRPr>
          </a:p>
        </p:txBody>
      </p:sp>
      <p:sp>
        <p:nvSpPr>
          <p:cNvPr id="384" name="Rectangle: Top Corners Rounded 383">
            <a:extLst>
              <a:ext uri="{FF2B5EF4-FFF2-40B4-BE49-F238E27FC236}">
                <a16:creationId xmlns:a16="http://schemas.microsoft.com/office/drawing/2014/main" id="{CFEE57C5-5BEE-4472-8B57-26BDD55C9F57}"/>
              </a:ext>
            </a:extLst>
          </p:cNvPr>
          <p:cNvSpPr/>
          <p:nvPr/>
        </p:nvSpPr>
        <p:spPr>
          <a:xfrm rot="16200000">
            <a:off x="7364107" y="4207945"/>
            <a:ext cx="540000" cy="66012"/>
          </a:xfrm>
          <a:prstGeom prst="round2SameRect">
            <a:avLst>
              <a:gd name="adj1" fmla="val 545355"/>
              <a:gd name="adj2" fmla="val 0"/>
            </a:avLst>
          </a:prstGeom>
          <a:solidFill>
            <a:schemeClr val="tx2">
              <a:lumMod val="20000"/>
              <a:lumOff val="8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Nova"/>
              <a:ea typeface="+mn-ea"/>
              <a:cs typeface="+mn-cs"/>
            </a:endParaRPr>
          </a:p>
        </p:txBody>
      </p:sp>
      <p:sp>
        <p:nvSpPr>
          <p:cNvPr id="385" name="Rectangle: Top Corners Rounded 384">
            <a:extLst>
              <a:ext uri="{FF2B5EF4-FFF2-40B4-BE49-F238E27FC236}">
                <a16:creationId xmlns:a16="http://schemas.microsoft.com/office/drawing/2014/main" id="{8147A589-ADD9-47E5-8C05-B432A3C430E5}"/>
              </a:ext>
            </a:extLst>
          </p:cNvPr>
          <p:cNvSpPr/>
          <p:nvPr/>
        </p:nvSpPr>
        <p:spPr>
          <a:xfrm rot="16200000">
            <a:off x="7364107" y="4854268"/>
            <a:ext cx="540000" cy="66012"/>
          </a:xfrm>
          <a:prstGeom prst="round2SameRect">
            <a:avLst>
              <a:gd name="adj1" fmla="val 545355"/>
              <a:gd name="adj2" fmla="val 0"/>
            </a:avLst>
          </a:prstGeom>
          <a:solidFill>
            <a:schemeClr val="tx2">
              <a:lumMod val="20000"/>
              <a:lumOff val="8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Nova"/>
              <a:ea typeface="+mn-ea"/>
              <a:cs typeface="+mn-cs"/>
            </a:endParaRPr>
          </a:p>
        </p:txBody>
      </p:sp>
      <p:grpSp>
        <p:nvGrpSpPr>
          <p:cNvPr id="390" name="Group 389">
            <a:extLst>
              <a:ext uri="{FF2B5EF4-FFF2-40B4-BE49-F238E27FC236}">
                <a16:creationId xmlns:a16="http://schemas.microsoft.com/office/drawing/2014/main" id="{1FE372A9-6B65-40D5-B1C0-FD1AAD26D5D5}"/>
              </a:ext>
            </a:extLst>
          </p:cNvPr>
          <p:cNvGrpSpPr>
            <a:grpSpLocks noChangeAspect="1"/>
          </p:cNvGrpSpPr>
          <p:nvPr/>
        </p:nvGrpSpPr>
        <p:grpSpPr>
          <a:xfrm>
            <a:off x="8933282" y="2853020"/>
            <a:ext cx="190567" cy="190567"/>
            <a:chOff x="5961063" y="3294063"/>
            <a:chExt cx="269875" cy="269875"/>
          </a:xfrm>
        </p:grpSpPr>
        <p:sp>
          <p:nvSpPr>
            <p:cNvPr id="392" name="Oval 16">
              <a:extLst>
                <a:ext uri="{FF2B5EF4-FFF2-40B4-BE49-F238E27FC236}">
                  <a16:creationId xmlns:a16="http://schemas.microsoft.com/office/drawing/2014/main" id="{BDCFE53E-6B84-4148-88B6-5C5A8D591950}"/>
                </a:ext>
              </a:extLst>
            </p:cNvPr>
            <p:cNvSpPr>
              <a:spLocks noChangeArrowheads="1"/>
            </p:cNvSpPr>
            <p:nvPr/>
          </p:nvSpPr>
          <p:spPr bwMode="auto">
            <a:xfrm>
              <a:off x="5961063" y="3294063"/>
              <a:ext cx="269875" cy="269875"/>
            </a:xfrm>
            <a:prstGeom prst="ellipse">
              <a:avLst/>
            </a:prstGeom>
            <a:solidFill>
              <a:srgbClr val="70B347"/>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397" name="Freeform 17">
              <a:extLst>
                <a:ext uri="{FF2B5EF4-FFF2-40B4-BE49-F238E27FC236}">
                  <a16:creationId xmlns:a16="http://schemas.microsoft.com/office/drawing/2014/main" id="{4DD4B585-03DF-4543-AD87-5630294E3650}"/>
                </a:ext>
              </a:extLst>
            </p:cNvPr>
            <p:cNvSpPr>
              <a:spLocks/>
            </p:cNvSpPr>
            <p:nvPr/>
          </p:nvSpPr>
          <p:spPr bwMode="auto">
            <a:xfrm>
              <a:off x="6029326" y="3363913"/>
              <a:ext cx="133350" cy="128587"/>
            </a:xfrm>
            <a:custGeom>
              <a:avLst/>
              <a:gdLst>
                <a:gd name="T0" fmla="*/ 36 w 84"/>
                <a:gd name="T1" fmla="*/ 67 h 81"/>
                <a:gd name="T2" fmla="*/ 7 w 84"/>
                <a:gd name="T3" fmla="*/ 39 h 81"/>
                <a:gd name="T4" fmla="*/ 0 w 84"/>
                <a:gd name="T5" fmla="*/ 45 h 81"/>
                <a:gd name="T6" fmla="*/ 38 w 84"/>
                <a:gd name="T7" fmla="*/ 81 h 81"/>
                <a:gd name="T8" fmla="*/ 84 w 84"/>
                <a:gd name="T9" fmla="*/ 4 h 81"/>
                <a:gd name="T10" fmla="*/ 76 w 84"/>
                <a:gd name="T11" fmla="*/ 0 h 81"/>
                <a:gd name="T12" fmla="*/ 36 w 84"/>
                <a:gd name="T13" fmla="*/ 67 h 81"/>
              </a:gdLst>
              <a:ahLst/>
              <a:cxnLst>
                <a:cxn ang="0">
                  <a:pos x="T0" y="T1"/>
                </a:cxn>
                <a:cxn ang="0">
                  <a:pos x="T2" y="T3"/>
                </a:cxn>
                <a:cxn ang="0">
                  <a:pos x="T4" y="T5"/>
                </a:cxn>
                <a:cxn ang="0">
                  <a:pos x="T6" y="T7"/>
                </a:cxn>
                <a:cxn ang="0">
                  <a:pos x="T8" y="T9"/>
                </a:cxn>
                <a:cxn ang="0">
                  <a:pos x="T10" y="T11"/>
                </a:cxn>
                <a:cxn ang="0">
                  <a:pos x="T12" y="T13"/>
                </a:cxn>
              </a:cxnLst>
              <a:rect l="0" t="0" r="r" b="b"/>
              <a:pathLst>
                <a:path w="84" h="81">
                  <a:moveTo>
                    <a:pt x="36" y="67"/>
                  </a:moveTo>
                  <a:lnTo>
                    <a:pt x="7" y="39"/>
                  </a:lnTo>
                  <a:lnTo>
                    <a:pt x="0" y="45"/>
                  </a:lnTo>
                  <a:lnTo>
                    <a:pt x="38" y="81"/>
                  </a:lnTo>
                  <a:lnTo>
                    <a:pt x="84" y="4"/>
                  </a:lnTo>
                  <a:lnTo>
                    <a:pt x="76" y="0"/>
                  </a:lnTo>
                  <a:lnTo>
                    <a:pt x="36" y="67"/>
                  </a:lnTo>
                  <a:close/>
                </a:path>
              </a:pathLst>
            </a:custGeom>
            <a:solidFill>
              <a:srgbClr val="FFFFFF">
                <a:lumMod val="100000"/>
              </a:srgb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grpSp>
      <p:grpSp>
        <p:nvGrpSpPr>
          <p:cNvPr id="398" name="Group 397">
            <a:extLst>
              <a:ext uri="{FF2B5EF4-FFF2-40B4-BE49-F238E27FC236}">
                <a16:creationId xmlns:a16="http://schemas.microsoft.com/office/drawing/2014/main" id="{F55CCB91-9783-42E8-B829-36B9DF3D0AD1}"/>
              </a:ext>
            </a:extLst>
          </p:cNvPr>
          <p:cNvGrpSpPr/>
          <p:nvPr/>
        </p:nvGrpSpPr>
        <p:grpSpPr>
          <a:xfrm>
            <a:off x="7675277" y="2832930"/>
            <a:ext cx="1277534" cy="230747"/>
            <a:chOff x="7675277" y="2905395"/>
            <a:chExt cx="1277534" cy="230747"/>
          </a:xfrm>
        </p:grpSpPr>
        <p:sp>
          <p:nvSpPr>
            <p:cNvPr id="399" name="object 66">
              <a:extLst>
                <a:ext uri="{FF2B5EF4-FFF2-40B4-BE49-F238E27FC236}">
                  <a16:creationId xmlns:a16="http://schemas.microsoft.com/office/drawing/2014/main" id="{C672388D-F690-4687-AF23-79FF167EA445}"/>
                </a:ext>
              </a:extLst>
            </p:cNvPr>
            <p:cNvSpPr txBox="1"/>
            <p:nvPr/>
          </p:nvSpPr>
          <p:spPr>
            <a:xfrm>
              <a:off x="8484811" y="2917526"/>
              <a:ext cx="468000" cy="191198"/>
            </a:xfrm>
            <a:prstGeom prst="rect">
              <a:avLst/>
            </a:prstGeom>
          </p:spPr>
          <p:txBody>
            <a:bodyPr vert="horz" wrap="square" lIns="0" tIns="6469" rIns="0" bIns="0" rtlCol="0">
              <a:noAutofit/>
            </a:bodyPr>
            <a:lstStyle/>
            <a:p>
              <a:pPr marL="0" marR="0" lvl="0" indent="0" algn="l" defTabSz="554492" rtl="0" eaLnBrk="1" fontAlgn="auto" latinLnBrk="0" hangingPunct="1">
                <a:lnSpc>
                  <a:spcPct val="100000"/>
                </a:lnSpc>
                <a:spcBef>
                  <a:spcPts val="0"/>
                </a:spcBef>
                <a:spcAft>
                  <a:spcPts val="0"/>
                </a:spcAft>
                <a:buClr>
                  <a:srgbClr val="9B1C23"/>
                </a:buClr>
                <a:buSzTx/>
                <a:buFont typeface="Trebuchet MS" panose="020B0603020202020204" pitchFamily="34" charset="0"/>
                <a:buChar char="​"/>
                <a:tabLst/>
                <a:defRPr/>
              </a:pPr>
              <a:r>
                <a:rPr kumimoji="0" lang="en-US" sz="600" b="1" i="0" u="none" strike="noStrike" kern="1200" cap="none" spc="-6" normalizeH="0" baseline="0" noProof="0">
                  <a:ln>
                    <a:noFill/>
                  </a:ln>
                  <a:solidFill>
                    <a:srgbClr val="000000"/>
                  </a:solidFill>
                  <a:effectLst/>
                  <a:uLnTx/>
                  <a:uFillTx/>
                  <a:latin typeface="Arial Nova" panose="020B0504020202020204" pitchFamily="34" charset="0"/>
                  <a:ea typeface="+mn-ea"/>
                  <a:cs typeface="Proxima Nova Semibold"/>
                </a:rPr>
                <a:t>$$ XX</a:t>
              </a:r>
              <a:r>
                <a:rPr kumimoji="0" sz="600" b="1" i="0" u="none" strike="noStrike" kern="1200" cap="none" spc="-6" normalizeH="0" baseline="0" noProof="0">
                  <a:ln>
                    <a:noFill/>
                  </a:ln>
                  <a:solidFill>
                    <a:srgbClr val="000000"/>
                  </a:solidFill>
                  <a:effectLst/>
                  <a:uLnTx/>
                  <a:uFillTx/>
                  <a:latin typeface="Arial Nova" panose="020B0504020202020204" pitchFamily="34" charset="0"/>
                  <a:ea typeface="+mn-ea"/>
                  <a:cs typeface="Proxima Nova Semibold"/>
                </a:rPr>
                <a:t>,</a:t>
              </a:r>
              <a:r>
                <a:rPr kumimoji="0" sz="600" b="1" i="0" u="none" strike="noStrike" kern="1200" cap="none" spc="-15" normalizeH="0" baseline="0" noProof="0">
                  <a:ln>
                    <a:noFill/>
                  </a:ln>
                  <a:solidFill>
                    <a:srgbClr val="000000"/>
                  </a:solidFill>
                  <a:effectLst/>
                  <a:uLnTx/>
                  <a:uFillTx/>
                  <a:latin typeface="Arial Nova" panose="020B0504020202020204" pitchFamily="34" charset="0"/>
                  <a:ea typeface="+mn-ea"/>
                  <a:cs typeface="Proxima Nova Semibold"/>
                </a:rPr>
                <a:t> </a:t>
              </a:r>
              <a:br>
                <a:rPr kumimoji="0" lang="en-US" sz="600" b="1" i="0" u="none" strike="noStrike" kern="1200" cap="none" spc="-15" normalizeH="0" baseline="0" noProof="0">
                  <a:ln>
                    <a:noFill/>
                  </a:ln>
                  <a:solidFill>
                    <a:srgbClr val="000000"/>
                  </a:solidFill>
                  <a:effectLst/>
                  <a:uLnTx/>
                  <a:uFillTx/>
                  <a:latin typeface="Arial Nova" panose="020B0504020202020204" pitchFamily="34" charset="0"/>
                  <a:ea typeface="+mn-ea"/>
                  <a:cs typeface="Proxima Nova Semibold"/>
                </a:rPr>
              </a:br>
              <a:r>
                <a:rPr kumimoji="0" lang="en-US" sz="600" b="1" i="0" u="none" strike="noStrike" kern="1200" cap="none" spc="-15" normalizeH="0" baseline="0" noProof="0">
                  <a:ln>
                    <a:noFill/>
                  </a:ln>
                  <a:solidFill>
                    <a:srgbClr val="000000"/>
                  </a:solidFill>
                  <a:effectLst/>
                  <a:uLnTx/>
                  <a:uFillTx/>
                  <a:latin typeface="Arial Nova" panose="020B0504020202020204" pitchFamily="34" charset="0"/>
                  <a:ea typeface="+mn-ea"/>
                  <a:cs typeface="Proxima Nova Semibold"/>
                </a:rPr>
                <a:t>----</a:t>
              </a:r>
              <a:r>
                <a:rPr kumimoji="0" lang="en-US"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a:t>
              </a:r>
              <a:endParaRPr kumimoji="0"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endParaRPr>
            </a:p>
          </p:txBody>
        </p:sp>
        <p:sp>
          <p:nvSpPr>
            <p:cNvPr id="400" name="object 67">
              <a:extLst>
                <a:ext uri="{FF2B5EF4-FFF2-40B4-BE49-F238E27FC236}">
                  <a16:creationId xmlns:a16="http://schemas.microsoft.com/office/drawing/2014/main" id="{51922196-037E-42CE-A11E-CA981D7CA78F}"/>
                </a:ext>
              </a:extLst>
            </p:cNvPr>
            <p:cNvSpPr txBox="1"/>
            <p:nvPr/>
          </p:nvSpPr>
          <p:spPr>
            <a:xfrm>
              <a:off x="7675277" y="2905395"/>
              <a:ext cx="288000" cy="104464"/>
            </a:xfrm>
            <a:prstGeom prst="rect">
              <a:avLst/>
            </a:prstGeom>
          </p:spPr>
          <p:txBody>
            <a:bodyPr vert="horz" wrap="square" lIns="0" tIns="12014" rIns="0" bIns="0" rtlCol="0">
              <a:spAutoFit/>
            </a:bodyPr>
            <a:lstStyle/>
            <a:p>
              <a:pPr marL="0" marR="0" lvl="0" indent="0" algn="l" defTabSz="554492" rtl="0" eaLnBrk="1" fontAlgn="auto" latinLnBrk="0" hangingPunct="1">
                <a:lnSpc>
                  <a:spcPct val="100000"/>
                </a:lnSpc>
                <a:spcBef>
                  <a:spcPts val="0"/>
                </a:spcBef>
                <a:spcAft>
                  <a:spcPts val="0"/>
                </a:spcAft>
                <a:buClr>
                  <a:srgbClr val="9B1C23"/>
                </a:buClr>
                <a:buSzTx/>
                <a:buFont typeface="Trebuchet MS" panose="020B0603020202020204" pitchFamily="34" charset="0"/>
                <a:buChar char="​"/>
                <a:tabLst>
                  <a:tab pos="417024" algn="l"/>
                </a:tabLst>
                <a:defRPr/>
              </a:pPr>
              <a:r>
                <a:rPr kumimoji="0"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CLV	</a:t>
              </a:r>
              <a:endParaRPr kumimoji="0"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endParaRPr>
            </a:p>
          </p:txBody>
        </p:sp>
        <p:sp>
          <p:nvSpPr>
            <p:cNvPr id="401" name="object 67">
              <a:extLst>
                <a:ext uri="{FF2B5EF4-FFF2-40B4-BE49-F238E27FC236}">
                  <a16:creationId xmlns:a16="http://schemas.microsoft.com/office/drawing/2014/main" id="{29791C99-6A9D-475D-A664-40D430F86390}"/>
                </a:ext>
              </a:extLst>
            </p:cNvPr>
            <p:cNvSpPr txBox="1"/>
            <p:nvPr/>
          </p:nvSpPr>
          <p:spPr>
            <a:xfrm>
              <a:off x="7998840" y="2917526"/>
              <a:ext cx="360000" cy="92333"/>
            </a:xfrm>
            <a:prstGeom prst="rect">
              <a:avLst/>
            </a:prstGeom>
          </p:spPr>
          <p:txBody>
            <a:bodyPr vert="horz" wrap="square" lIns="0" tIns="0" rIns="0" bIns="0" rtlCol="0">
              <a:spAutoFit/>
            </a:bodyPr>
            <a:lstStyle/>
            <a:p>
              <a:pPr marL="0" marR="0" lvl="0" indent="0" algn="l" defTabSz="554492" rtl="0" eaLnBrk="1" fontAlgn="auto" latinLnBrk="0" hangingPunct="1">
                <a:lnSpc>
                  <a:spcPct val="100000"/>
                </a:lnSpc>
                <a:spcBef>
                  <a:spcPts val="0"/>
                </a:spcBef>
                <a:spcAft>
                  <a:spcPts val="0"/>
                </a:spcAft>
                <a:buClr>
                  <a:srgbClr val="9B1C23"/>
                </a:buClr>
                <a:buSzTx/>
                <a:buFont typeface="Trebuchet MS" panose="020B0603020202020204" pitchFamily="34" charset="0"/>
                <a:buChar char="​"/>
                <a:tabLst>
                  <a:tab pos="417024" algn="l"/>
                </a:tabLst>
                <a:defRPr/>
              </a:pPr>
              <a:r>
                <a:rPr lang="en-US" sz="600">
                  <a:solidFill>
                    <a:srgbClr val="000000"/>
                  </a:solidFill>
                  <a:latin typeface="Arial Nova" panose="020B0504020202020204" pitchFamily="34" charset="0"/>
                  <a:cs typeface="Proxima Nova"/>
                </a:rPr>
                <a:t>$$ XXX</a:t>
              </a:r>
              <a:endParaRPr kumimoji="0" sz="6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endParaRPr>
            </a:p>
          </p:txBody>
        </p:sp>
        <p:sp>
          <p:nvSpPr>
            <p:cNvPr id="402" name="object 67">
              <a:extLst>
                <a:ext uri="{FF2B5EF4-FFF2-40B4-BE49-F238E27FC236}">
                  <a16:creationId xmlns:a16="http://schemas.microsoft.com/office/drawing/2014/main" id="{9E379C48-5846-4C9D-9FBE-E675D281058A}"/>
                </a:ext>
              </a:extLst>
            </p:cNvPr>
            <p:cNvSpPr txBox="1"/>
            <p:nvPr/>
          </p:nvSpPr>
          <p:spPr>
            <a:xfrm>
              <a:off x="7675277" y="3031678"/>
              <a:ext cx="343806" cy="104464"/>
            </a:xfrm>
            <a:prstGeom prst="rect">
              <a:avLst/>
            </a:prstGeom>
          </p:spPr>
          <p:txBody>
            <a:bodyPr vert="horz" wrap="square" lIns="0" tIns="12014" rIns="0" bIns="0" rtlCol="0">
              <a:spAutoFit/>
            </a:bodyPr>
            <a:lstStyle/>
            <a:p>
              <a:pPr marL="0" marR="0" lvl="0" indent="0" algn="l" defTabSz="554492" rtl="0" eaLnBrk="1" fontAlgn="auto" latinLnBrk="0" hangingPunct="1">
                <a:lnSpc>
                  <a:spcPct val="100000"/>
                </a:lnSpc>
                <a:spcBef>
                  <a:spcPts val="0"/>
                </a:spcBef>
                <a:spcAft>
                  <a:spcPts val="0"/>
                </a:spcAft>
                <a:buClr>
                  <a:srgbClr val="9B1C23"/>
                </a:buClr>
                <a:buSzTx/>
                <a:buFont typeface="Trebuchet MS" panose="020B0603020202020204" pitchFamily="34" charset="0"/>
                <a:buChar char="​"/>
                <a:tabLst>
                  <a:tab pos="427036" algn="l"/>
                </a:tabLst>
                <a:defRPr/>
              </a:pPr>
              <a:r>
                <a:rPr kumimoji="0" lang="en-US"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Segment</a:t>
              </a:r>
              <a:endParaRPr kumimoji="0"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endParaRPr>
            </a:p>
          </p:txBody>
        </p:sp>
        <p:sp>
          <p:nvSpPr>
            <p:cNvPr id="403" name="object 67">
              <a:extLst>
                <a:ext uri="{FF2B5EF4-FFF2-40B4-BE49-F238E27FC236}">
                  <a16:creationId xmlns:a16="http://schemas.microsoft.com/office/drawing/2014/main" id="{187E4048-639E-429C-A24B-8628BAB6DC9C}"/>
                </a:ext>
              </a:extLst>
            </p:cNvPr>
            <p:cNvSpPr txBox="1"/>
            <p:nvPr/>
          </p:nvSpPr>
          <p:spPr>
            <a:xfrm>
              <a:off x="7998840" y="3043809"/>
              <a:ext cx="360000" cy="92333"/>
            </a:xfrm>
            <a:prstGeom prst="rect">
              <a:avLst/>
            </a:prstGeom>
          </p:spPr>
          <p:txBody>
            <a:bodyPr vert="horz" wrap="square" lIns="0" tIns="0" rIns="0" bIns="0" rtlCol="0">
              <a:spAutoFit/>
            </a:bodyPr>
            <a:lstStyle/>
            <a:p>
              <a:pPr marL="0" marR="0" lvl="0" indent="0" algn="l" defTabSz="554492" rtl="0" eaLnBrk="1" fontAlgn="auto" latinLnBrk="0" hangingPunct="1">
                <a:lnSpc>
                  <a:spcPct val="100000"/>
                </a:lnSpc>
                <a:spcBef>
                  <a:spcPts val="0"/>
                </a:spcBef>
                <a:spcAft>
                  <a:spcPts val="0"/>
                </a:spcAft>
                <a:buClr>
                  <a:srgbClr val="9B1C23"/>
                </a:buClr>
                <a:buSzTx/>
                <a:buFont typeface="Trebuchet MS" panose="020B0603020202020204" pitchFamily="34" charset="0"/>
                <a:buChar char="​"/>
                <a:tabLst>
                  <a:tab pos="417024" algn="l"/>
                </a:tabLst>
                <a:defRPr/>
              </a:pPr>
              <a:r>
                <a:rPr kumimoji="0" lang="en-US" sz="6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rPr>
                <a:t>1</a:t>
              </a:r>
              <a:endParaRPr kumimoji="0" sz="6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endParaRPr>
            </a:p>
          </p:txBody>
        </p:sp>
        <p:cxnSp>
          <p:nvCxnSpPr>
            <p:cNvPr id="404" name="Straight Connector 403">
              <a:extLst>
                <a:ext uri="{FF2B5EF4-FFF2-40B4-BE49-F238E27FC236}">
                  <a16:creationId xmlns:a16="http://schemas.microsoft.com/office/drawing/2014/main" id="{14B0E701-6290-44CC-BACB-1B56B8303B47}"/>
                </a:ext>
              </a:extLst>
            </p:cNvPr>
            <p:cNvCxnSpPr/>
            <p:nvPr/>
          </p:nvCxnSpPr>
          <p:spPr>
            <a:xfrm>
              <a:off x="8410435" y="2905395"/>
              <a:ext cx="0" cy="230747"/>
            </a:xfrm>
            <a:prstGeom prst="line">
              <a:avLst/>
            </a:prstGeom>
            <a:ln w="9525" cap="rnd">
              <a:solidFill>
                <a:schemeClr val="bg1">
                  <a:lumMod val="85000"/>
                </a:schemeClr>
              </a:solidFill>
              <a:prstDash val="solid"/>
              <a:round/>
            </a:ln>
          </p:spPr>
          <p:style>
            <a:lnRef idx="1">
              <a:schemeClr val="accent1"/>
            </a:lnRef>
            <a:fillRef idx="0">
              <a:schemeClr val="accent1"/>
            </a:fillRef>
            <a:effectRef idx="0">
              <a:schemeClr val="accent1"/>
            </a:effectRef>
            <a:fontRef idx="minor">
              <a:schemeClr val="tx1"/>
            </a:fontRef>
          </p:style>
        </p:cxnSp>
      </p:grpSp>
      <p:grpSp>
        <p:nvGrpSpPr>
          <p:cNvPr id="405" name="Group 404">
            <a:extLst>
              <a:ext uri="{FF2B5EF4-FFF2-40B4-BE49-F238E27FC236}">
                <a16:creationId xmlns:a16="http://schemas.microsoft.com/office/drawing/2014/main" id="{E0B7A23F-C1A0-4102-A2B9-FE28A9390936}"/>
              </a:ext>
            </a:extLst>
          </p:cNvPr>
          <p:cNvGrpSpPr/>
          <p:nvPr/>
        </p:nvGrpSpPr>
        <p:grpSpPr>
          <a:xfrm>
            <a:off x="7109802" y="3722519"/>
            <a:ext cx="428511" cy="545483"/>
            <a:chOff x="7109410" y="3457203"/>
            <a:chExt cx="428511" cy="545483"/>
          </a:xfrm>
        </p:grpSpPr>
        <p:grpSp>
          <p:nvGrpSpPr>
            <p:cNvPr id="406" name="Group 405">
              <a:extLst>
                <a:ext uri="{FF2B5EF4-FFF2-40B4-BE49-F238E27FC236}">
                  <a16:creationId xmlns:a16="http://schemas.microsoft.com/office/drawing/2014/main" id="{198EEFB1-C01D-4727-8A5E-067805C22807}"/>
                </a:ext>
              </a:extLst>
            </p:cNvPr>
            <p:cNvGrpSpPr/>
            <p:nvPr/>
          </p:nvGrpSpPr>
          <p:grpSpPr>
            <a:xfrm>
              <a:off x="7109410" y="3457203"/>
              <a:ext cx="360000" cy="377438"/>
              <a:chOff x="7199291" y="2883155"/>
              <a:chExt cx="360000" cy="377438"/>
            </a:xfrm>
          </p:grpSpPr>
          <p:sp>
            <p:nvSpPr>
              <p:cNvPr id="408" name="Freeform: Shape 407">
                <a:extLst>
                  <a:ext uri="{FF2B5EF4-FFF2-40B4-BE49-F238E27FC236}">
                    <a16:creationId xmlns:a16="http://schemas.microsoft.com/office/drawing/2014/main" id="{D194B63C-8165-47E9-BC97-6F587F7F40ED}"/>
                  </a:ext>
                </a:extLst>
              </p:cNvPr>
              <p:cNvSpPr/>
              <p:nvPr/>
            </p:nvSpPr>
            <p:spPr>
              <a:xfrm flipH="1">
                <a:off x="7199291" y="3015682"/>
                <a:ext cx="360000" cy="243412"/>
              </a:xfrm>
              <a:custGeom>
                <a:avLst/>
                <a:gdLst>
                  <a:gd name="connsiteX0" fmla="*/ 1684185 w 1693011"/>
                  <a:gd name="connsiteY0" fmla="*/ 888788 h 1144724"/>
                  <a:gd name="connsiteX1" fmla="*/ 1526070 w 1693011"/>
                  <a:gd name="connsiteY1" fmla="*/ 300048 h 1144724"/>
                  <a:gd name="connsiteX2" fmla="*/ 1056488 w 1693011"/>
                  <a:gd name="connsiteY2" fmla="*/ 10 h 1144724"/>
                  <a:gd name="connsiteX3" fmla="*/ 755117 w 1693011"/>
                  <a:gd name="connsiteY3" fmla="*/ 7821 h 1144724"/>
                  <a:gd name="connsiteX4" fmla="*/ 313156 w 1693011"/>
                  <a:gd name="connsiteY4" fmla="*/ 267472 h 1144724"/>
                  <a:gd name="connsiteX5" fmla="*/ 104178 w 1693011"/>
                  <a:gd name="connsiteY5" fmla="*/ 683810 h 1144724"/>
                  <a:gd name="connsiteX6" fmla="*/ 222955 w 1693011"/>
                  <a:gd name="connsiteY6" fmla="*/ 1144725 h 1144724"/>
                  <a:gd name="connsiteX7" fmla="*/ 443839 w 1693011"/>
                  <a:gd name="connsiteY7" fmla="*/ 1144534 h 1144724"/>
                  <a:gd name="connsiteX8" fmla="*/ 1439488 w 1693011"/>
                  <a:gd name="connsiteY8" fmla="*/ 1144725 h 1144724"/>
                  <a:gd name="connsiteX9" fmla="*/ 1684185 w 1693011"/>
                  <a:gd name="connsiteY9" fmla="*/ 888788 h 1144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93011" h="1144724">
                    <a:moveTo>
                      <a:pt x="1684185" y="888788"/>
                    </a:moveTo>
                    <a:cubicBezTo>
                      <a:pt x="1627702" y="650091"/>
                      <a:pt x="1558074" y="366342"/>
                      <a:pt x="1526070" y="300048"/>
                    </a:cubicBezTo>
                    <a:cubicBezTo>
                      <a:pt x="1412722" y="65066"/>
                      <a:pt x="1266418" y="-942"/>
                      <a:pt x="1056488" y="10"/>
                    </a:cubicBezTo>
                    <a:lnTo>
                      <a:pt x="755117" y="7821"/>
                    </a:lnTo>
                    <a:cubicBezTo>
                      <a:pt x="430885" y="20679"/>
                      <a:pt x="383737" y="140028"/>
                      <a:pt x="313156" y="267472"/>
                    </a:cubicBezTo>
                    <a:cubicBezTo>
                      <a:pt x="256768" y="369390"/>
                      <a:pt x="110083" y="677142"/>
                      <a:pt x="104178" y="683810"/>
                    </a:cubicBezTo>
                    <a:cubicBezTo>
                      <a:pt x="-29267" y="832495"/>
                      <a:pt x="-76797" y="1140343"/>
                      <a:pt x="222955" y="1144725"/>
                    </a:cubicBezTo>
                    <a:cubicBezTo>
                      <a:pt x="227431" y="1144725"/>
                      <a:pt x="439744" y="1144725"/>
                      <a:pt x="443839" y="1144534"/>
                    </a:cubicBezTo>
                    <a:cubicBezTo>
                      <a:pt x="443839" y="1144725"/>
                      <a:pt x="1439488" y="1144725"/>
                      <a:pt x="1439488" y="1144725"/>
                    </a:cubicBezTo>
                    <a:cubicBezTo>
                      <a:pt x="1596079" y="1144725"/>
                      <a:pt x="1729048" y="1078145"/>
                      <a:pt x="1684185" y="888788"/>
                    </a:cubicBezTo>
                    <a:close/>
                  </a:path>
                </a:pathLst>
              </a:custGeom>
              <a:solidFill>
                <a:schemeClr val="tx2">
                  <a:lumMod val="20000"/>
                  <a:lumOff val="80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09" name="Freeform: Shape 408">
                <a:extLst>
                  <a:ext uri="{FF2B5EF4-FFF2-40B4-BE49-F238E27FC236}">
                    <a16:creationId xmlns:a16="http://schemas.microsoft.com/office/drawing/2014/main" id="{E787848E-C2F1-4878-88B9-44198BD618AA}"/>
                  </a:ext>
                </a:extLst>
              </p:cNvPr>
              <p:cNvSpPr/>
              <p:nvPr/>
            </p:nvSpPr>
            <p:spPr>
              <a:xfrm flipH="1">
                <a:off x="7458259" y="3146394"/>
                <a:ext cx="80391" cy="29862"/>
              </a:xfrm>
              <a:custGeom>
                <a:avLst/>
                <a:gdLst>
                  <a:gd name="connsiteX0" fmla="*/ 7014 w 378065"/>
                  <a:gd name="connsiteY0" fmla="*/ 140339 h 140434"/>
                  <a:gd name="connsiteX1" fmla="*/ 918 w 378065"/>
                  <a:gd name="connsiteY1" fmla="*/ 136815 h 140434"/>
                  <a:gd name="connsiteX2" fmla="*/ 3585 w 378065"/>
                  <a:gd name="connsiteY2" fmla="*/ 127290 h 140434"/>
                  <a:gd name="connsiteX3" fmla="*/ 370297 w 378065"/>
                  <a:gd name="connsiteY3" fmla="*/ 36 h 140434"/>
                  <a:gd name="connsiteX4" fmla="*/ 378012 w 378065"/>
                  <a:gd name="connsiteY4" fmla="*/ 6227 h 140434"/>
                  <a:gd name="connsiteX5" fmla="*/ 371821 w 378065"/>
                  <a:gd name="connsiteY5" fmla="*/ 13943 h 140434"/>
                  <a:gd name="connsiteX6" fmla="*/ 10347 w 378065"/>
                  <a:gd name="connsiteY6" fmla="*/ 139482 h 140434"/>
                  <a:gd name="connsiteX7" fmla="*/ 6918 w 378065"/>
                  <a:gd name="connsiteY7" fmla="*/ 140435 h 140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8065" h="140434">
                    <a:moveTo>
                      <a:pt x="7014" y="140339"/>
                    </a:moveTo>
                    <a:cubicBezTo>
                      <a:pt x="4537" y="140339"/>
                      <a:pt x="2251" y="139101"/>
                      <a:pt x="918" y="136815"/>
                    </a:cubicBezTo>
                    <a:cubicBezTo>
                      <a:pt x="-987" y="133481"/>
                      <a:pt x="156" y="129195"/>
                      <a:pt x="3585" y="127290"/>
                    </a:cubicBezTo>
                    <a:cubicBezTo>
                      <a:pt x="5490" y="126242"/>
                      <a:pt x="193989" y="20229"/>
                      <a:pt x="370297" y="36"/>
                    </a:cubicBezTo>
                    <a:cubicBezTo>
                      <a:pt x="374107" y="-345"/>
                      <a:pt x="377631" y="2322"/>
                      <a:pt x="378012" y="6227"/>
                    </a:cubicBezTo>
                    <a:cubicBezTo>
                      <a:pt x="378489" y="10037"/>
                      <a:pt x="375726" y="13562"/>
                      <a:pt x="371821" y="13943"/>
                    </a:cubicBezTo>
                    <a:cubicBezTo>
                      <a:pt x="198276" y="33850"/>
                      <a:pt x="12252" y="138434"/>
                      <a:pt x="10347" y="139482"/>
                    </a:cubicBezTo>
                    <a:cubicBezTo>
                      <a:pt x="9300" y="140054"/>
                      <a:pt x="8061" y="140435"/>
                      <a:pt x="6918" y="140435"/>
                    </a:cubicBezTo>
                    <a:close/>
                  </a:path>
                </a:pathLst>
              </a:custGeom>
              <a:solidFill>
                <a:schemeClr val="tx2"/>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10" name="Freeform: Shape 409">
                <a:extLst>
                  <a:ext uri="{FF2B5EF4-FFF2-40B4-BE49-F238E27FC236}">
                    <a16:creationId xmlns:a16="http://schemas.microsoft.com/office/drawing/2014/main" id="{31FDA20C-8800-4117-A3EE-C7F8832AE204}"/>
                  </a:ext>
                </a:extLst>
              </p:cNvPr>
              <p:cNvSpPr/>
              <p:nvPr/>
            </p:nvSpPr>
            <p:spPr>
              <a:xfrm flipH="1">
                <a:off x="7375947" y="3215516"/>
                <a:ext cx="116342" cy="45077"/>
              </a:xfrm>
              <a:custGeom>
                <a:avLst/>
                <a:gdLst>
                  <a:gd name="connsiteX0" fmla="*/ 7010 w 547134"/>
                  <a:gd name="connsiteY0" fmla="*/ 211988 h 211988"/>
                  <a:gd name="connsiteX1" fmla="*/ 438 w 547134"/>
                  <a:gd name="connsiteY1" fmla="*/ 207416 h 211988"/>
                  <a:gd name="connsiteX2" fmla="*/ 4534 w 547134"/>
                  <a:gd name="connsiteY2" fmla="*/ 198463 h 211988"/>
                  <a:gd name="connsiteX3" fmla="*/ 537743 w 547134"/>
                  <a:gd name="connsiteY3" fmla="*/ 438 h 211988"/>
                  <a:gd name="connsiteX4" fmla="*/ 546697 w 547134"/>
                  <a:gd name="connsiteY4" fmla="*/ 4534 h 211988"/>
                  <a:gd name="connsiteX5" fmla="*/ 542601 w 547134"/>
                  <a:gd name="connsiteY5" fmla="*/ 13487 h 211988"/>
                  <a:gd name="connsiteX6" fmla="*/ 9391 w 547134"/>
                  <a:gd name="connsiteY6" fmla="*/ 211512 h 211988"/>
                  <a:gd name="connsiteX7" fmla="*/ 6915 w 547134"/>
                  <a:gd name="connsiteY7" fmla="*/ 211988 h 211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7134" h="211988">
                    <a:moveTo>
                      <a:pt x="7010" y="211988"/>
                    </a:moveTo>
                    <a:cubicBezTo>
                      <a:pt x="4153" y="211988"/>
                      <a:pt x="1486" y="210274"/>
                      <a:pt x="438" y="207416"/>
                    </a:cubicBezTo>
                    <a:cubicBezTo>
                      <a:pt x="-896" y="203797"/>
                      <a:pt x="914" y="199796"/>
                      <a:pt x="4534" y="198463"/>
                    </a:cubicBezTo>
                    <a:lnTo>
                      <a:pt x="537743" y="438"/>
                    </a:lnTo>
                    <a:cubicBezTo>
                      <a:pt x="541363" y="-896"/>
                      <a:pt x="545363" y="914"/>
                      <a:pt x="546697" y="4534"/>
                    </a:cubicBezTo>
                    <a:cubicBezTo>
                      <a:pt x="548030" y="8153"/>
                      <a:pt x="546221" y="12154"/>
                      <a:pt x="542601" y="13487"/>
                    </a:cubicBezTo>
                    <a:lnTo>
                      <a:pt x="9391" y="211512"/>
                    </a:lnTo>
                    <a:cubicBezTo>
                      <a:pt x="8629" y="211798"/>
                      <a:pt x="7772" y="211988"/>
                      <a:pt x="6915" y="211988"/>
                    </a:cubicBezTo>
                    <a:close/>
                  </a:path>
                </a:pathLst>
              </a:custGeom>
              <a:solidFill>
                <a:schemeClr val="tx2"/>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11" name="Freeform: Shape 410">
                <a:extLst>
                  <a:ext uri="{FF2B5EF4-FFF2-40B4-BE49-F238E27FC236}">
                    <a16:creationId xmlns:a16="http://schemas.microsoft.com/office/drawing/2014/main" id="{7AA2D033-CD16-4476-A9CF-CFD0E53C4514}"/>
                  </a:ext>
                </a:extLst>
              </p:cNvPr>
              <p:cNvSpPr/>
              <p:nvPr/>
            </p:nvSpPr>
            <p:spPr>
              <a:xfrm flipH="1">
                <a:off x="7281807" y="3079499"/>
                <a:ext cx="73716" cy="60442"/>
              </a:xfrm>
              <a:custGeom>
                <a:avLst/>
                <a:gdLst>
                  <a:gd name="connsiteX0" fmla="*/ 332518 w 346671"/>
                  <a:gd name="connsiteY0" fmla="*/ 121561 h 284247"/>
                  <a:gd name="connsiteX1" fmla="*/ 308134 w 346671"/>
                  <a:gd name="connsiteY1" fmla="*/ 123942 h 284247"/>
                  <a:gd name="connsiteX2" fmla="*/ 288608 w 346671"/>
                  <a:gd name="connsiteY2" fmla="*/ 32312 h 284247"/>
                  <a:gd name="connsiteX3" fmla="*/ 245174 w 346671"/>
                  <a:gd name="connsiteY3" fmla="*/ 54124 h 284247"/>
                  <a:gd name="connsiteX4" fmla="*/ 216313 w 346671"/>
                  <a:gd name="connsiteY4" fmla="*/ 308 h 284247"/>
                  <a:gd name="connsiteX5" fmla="*/ 168878 w 346671"/>
                  <a:gd name="connsiteY5" fmla="*/ 27740 h 284247"/>
                  <a:gd name="connsiteX6" fmla="*/ 145447 w 346671"/>
                  <a:gd name="connsiteY6" fmla="*/ 1165 h 284247"/>
                  <a:gd name="connsiteX7" fmla="*/ 46196 w 346671"/>
                  <a:gd name="connsiteY7" fmla="*/ 108893 h 284247"/>
                  <a:gd name="connsiteX8" fmla="*/ 0 w 346671"/>
                  <a:gd name="connsiteY8" fmla="*/ 219287 h 284247"/>
                  <a:gd name="connsiteX9" fmla="*/ 328136 w 346671"/>
                  <a:gd name="connsiteY9" fmla="*/ 284248 h 284247"/>
                  <a:gd name="connsiteX10" fmla="*/ 332613 w 346671"/>
                  <a:gd name="connsiteY10" fmla="*/ 121656 h 284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6671" h="284247">
                    <a:moveTo>
                      <a:pt x="332518" y="121561"/>
                    </a:moveTo>
                    <a:cubicBezTo>
                      <a:pt x="323088" y="118894"/>
                      <a:pt x="308134" y="123942"/>
                      <a:pt x="308134" y="123942"/>
                    </a:cubicBezTo>
                    <a:cubicBezTo>
                      <a:pt x="314801" y="85937"/>
                      <a:pt x="316230" y="40979"/>
                      <a:pt x="288608" y="32312"/>
                    </a:cubicBezTo>
                    <a:cubicBezTo>
                      <a:pt x="271081" y="26787"/>
                      <a:pt x="245174" y="54124"/>
                      <a:pt x="245174" y="54124"/>
                    </a:cubicBezTo>
                    <a:cubicBezTo>
                      <a:pt x="244983" y="27740"/>
                      <a:pt x="238316" y="4594"/>
                      <a:pt x="216313" y="308"/>
                    </a:cubicBezTo>
                    <a:cubicBezTo>
                      <a:pt x="197072" y="-3407"/>
                      <a:pt x="168878" y="27740"/>
                      <a:pt x="168878" y="27740"/>
                    </a:cubicBezTo>
                    <a:cubicBezTo>
                      <a:pt x="165545" y="14405"/>
                      <a:pt x="158591" y="4213"/>
                      <a:pt x="145447" y="1165"/>
                    </a:cubicBezTo>
                    <a:cubicBezTo>
                      <a:pt x="108585" y="-7312"/>
                      <a:pt x="67437" y="52219"/>
                      <a:pt x="46196" y="108893"/>
                    </a:cubicBezTo>
                    <a:cubicBezTo>
                      <a:pt x="34671" y="139563"/>
                      <a:pt x="15335" y="184426"/>
                      <a:pt x="0" y="219287"/>
                    </a:cubicBezTo>
                    <a:lnTo>
                      <a:pt x="328136" y="284248"/>
                    </a:lnTo>
                    <a:cubicBezTo>
                      <a:pt x="342805" y="214906"/>
                      <a:pt x="358997" y="129181"/>
                      <a:pt x="332613" y="121656"/>
                    </a:cubicBezTo>
                    <a:close/>
                  </a:path>
                </a:pathLst>
              </a:custGeom>
              <a:solidFill>
                <a:srgbClr val="FFBEB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12" name="Freeform: Shape 411">
                <a:extLst>
                  <a:ext uri="{FF2B5EF4-FFF2-40B4-BE49-F238E27FC236}">
                    <a16:creationId xmlns:a16="http://schemas.microsoft.com/office/drawing/2014/main" id="{9806DF88-C132-4A70-8316-E17D78A7A5BE}"/>
                  </a:ext>
                </a:extLst>
              </p:cNvPr>
              <p:cNvSpPr/>
              <p:nvPr/>
            </p:nvSpPr>
            <p:spPr>
              <a:xfrm flipH="1">
                <a:off x="7318124" y="3083889"/>
                <a:ext cx="18835" cy="46978"/>
              </a:xfrm>
              <a:custGeom>
                <a:avLst/>
                <a:gdLst>
                  <a:gd name="connsiteX0" fmla="*/ 6998 w 88577"/>
                  <a:gd name="connsiteY0" fmla="*/ 220835 h 220929"/>
                  <a:gd name="connsiteX1" fmla="*/ 4617 w 88577"/>
                  <a:gd name="connsiteY1" fmla="*/ 220454 h 220929"/>
                  <a:gd name="connsiteX2" fmla="*/ 426 w 88577"/>
                  <a:gd name="connsiteY2" fmla="*/ 211500 h 220929"/>
                  <a:gd name="connsiteX3" fmla="*/ 75007 w 88577"/>
                  <a:gd name="connsiteY3" fmla="*/ 4617 h 220929"/>
                  <a:gd name="connsiteX4" fmla="*/ 83960 w 88577"/>
                  <a:gd name="connsiteY4" fmla="*/ 426 h 220929"/>
                  <a:gd name="connsiteX5" fmla="*/ 88152 w 88577"/>
                  <a:gd name="connsiteY5" fmla="*/ 9380 h 220929"/>
                  <a:gd name="connsiteX6" fmla="*/ 13571 w 88577"/>
                  <a:gd name="connsiteY6" fmla="*/ 216263 h 220929"/>
                  <a:gd name="connsiteX7" fmla="*/ 6998 w 88577"/>
                  <a:gd name="connsiteY7" fmla="*/ 220930 h 220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577" h="220929">
                    <a:moveTo>
                      <a:pt x="6998" y="220835"/>
                    </a:moveTo>
                    <a:cubicBezTo>
                      <a:pt x="6236" y="220835"/>
                      <a:pt x="5379" y="220739"/>
                      <a:pt x="4617" y="220454"/>
                    </a:cubicBezTo>
                    <a:cubicBezTo>
                      <a:pt x="998" y="219120"/>
                      <a:pt x="-907" y="215120"/>
                      <a:pt x="426" y="211500"/>
                    </a:cubicBezTo>
                    <a:lnTo>
                      <a:pt x="75007" y="4617"/>
                    </a:lnTo>
                    <a:cubicBezTo>
                      <a:pt x="76340" y="998"/>
                      <a:pt x="80341" y="-907"/>
                      <a:pt x="83960" y="426"/>
                    </a:cubicBezTo>
                    <a:cubicBezTo>
                      <a:pt x="87580" y="1760"/>
                      <a:pt x="89485" y="5760"/>
                      <a:pt x="88152" y="9380"/>
                    </a:cubicBezTo>
                    <a:lnTo>
                      <a:pt x="13571" y="216263"/>
                    </a:lnTo>
                    <a:cubicBezTo>
                      <a:pt x="12523" y="219120"/>
                      <a:pt x="9856" y="220930"/>
                      <a:pt x="6998" y="220930"/>
                    </a:cubicBezTo>
                    <a:close/>
                  </a:path>
                </a:pathLst>
              </a:custGeom>
              <a:solidFill>
                <a:srgbClr val="F47C73"/>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13" name="Freeform: Shape 412">
                <a:extLst>
                  <a:ext uri="{FF2B5EF4-FFF2-40B4-BE49-F238E27FC236}">
                    <a16:creationId xmlns:a16="http://schemas.microsoft.com/office/drawing/2014/main" id="{6B2C6C68-9AD7-45C7-AF90-851F4D88C407}"/>
                  </a:ext>
                </a:extLst>
              </p:cNvPr>
              <p:cNvSpPr/>
              <p:nvPr/>
            </p:nvSpPr>
            <p:spPr>
              <a:xfrm flipH="1">
                <a:off x="7301917" y="3089495"/>
                <a:ext cx="14144" cy="45220"/>
              </a:xfrm>
              <a:custGeom>
                <a:avLst/>
                <a:gdLst>
                  <a:gd name="connsiteX0" fmla="*/ 7018 w 66518"/>
                  <a:gd name="connsiteY0" fmla="*/ 212567 h 212662"/>
                  <a:gd name="connsiteX1" fmla="*/ 5208 w 66518"/>
                  <a:gd name="connsiteY1" fmla="*/ 212377 h 212662"/>
                  <a:gd name="connsiteX2" fmla="*/ 255 w 66518"/>
                  <a:gd name="connsiteY2" fmla="*/ 203804 h 212662"/>
                  <a:gd name="connsiteX3" fmla="*/ 52738 w 66518"/>
                  <a:gd name="connsiteY3" fmla="*/ 5208 h 212662"/>
                  <a:gd name="connsiteX4" fmla="*/ 61310 w 66518"/>
                  <a:gd name="connsiteY4" fmla="*/ 255 h 212662"/>
                  <a:gd name="connsiteX5" fmla="*/ 66263 w 66518"/>
                  <a:gd name="connsiteY5" fmla="*/ 8827 h 212662"/>
                  <a:gd name="connsiteX6" fmla="*/ 13780 w 66518"/>
                  <a:gd name="connsiteY6" fmla="*/ 207424 h 212662"/>
                  <a:gd name="connsiteX7" fmla="*/ 7018 w 66518"/>
                  <a:gd name="connsiteY7" fmla="*/ 212662 h 212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518" h="212662">
                    <a:moveTo>
                      <a:pt x="7018" y="212567"/>
                    </a:moveTo>
                    <a:cubicBezTo>
                      <a:pt x="6446" y="212567"/>
                      <a:pt x="5875" y="212567"/>
                      <a:pt x="5208" y="212377"/>
                    </a:cubicBezTo>
                    <a:cubicBezTo>
                      <a:pt x="1493" y="211424"/>
                      <a:pt x="-793" y="207519"/>
                      <a:pt x="255" y="203804"/>
                    </a:cubicBezTo>
                    <a:lnTo>
                      <a:pt x="52738" y="5208"/>
                    </a:lnTo>
                    <a:cubicBezTo>
                      <a:pt x="53690" y="1493"/>
                      <a:pt x="57500" y="-793"/>
                      <a:pt x="61310" y="255"/>
                    </a:cubicBezTo>
                    <a:cubicBezTo>
                      <a:pt x="65025" y="1207"/>
                      <a:pt x="67311" y="5113"/>
                      <a:pt x="66263" y="8827"/>
                    </a:cubicBezTo>
                    <a:lnTo>
                      <a:pt x="13780" y="207424"/>
                    </a:lnTo>
                    <a:cubicBezTo>
                      <a:pt x="12923" y="210567"/>
                      <a:pt x="10161" y="212662"/>
                      <a:pt x="7018" y="212662"/>
                    </a:cubicBezTo>
                    <a:close/>
                  </a:path>
                </a:pathLst>
              </a:custGeom>
              <a:solidFill>
                <a:srgbClr val="F47C73"/>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14" name="Freeform: Shape 413">
                <a:extLst>
                  <a:ext uri="{FF2B5EF4-FFF2-40B4-BE49-F238E27FC236}">
                    <a16:creationId xmlns:a16="http://schemas.microsoft.com/office/drawing/2014/main" id="{7892E16C-D7C3-47DC-8D0A-2AC1CECD0E43}"/>
                  </a:ext>
                </a:extLst>
              </p:cNvPr>
              <p:cNvSpPr/>
              <p:nvPr/>
            </p:nvSpPr>
            <p:spPr>
              <a:xfrm flipH="1">
                <a:off x="7288499" y="3104379"/>
                <a:ext cx="12059" cy="34408"/>
              </a:xfrm>
              <a:custGeom>
                <a:avLst/>
                <a:gdLst>
                  <a:gd name="connsiteX0" fmla="*/ 6971 w 56709"/>
                  <a:gd name="connsiteY0" fmla="*/ 161813 h 161813"/>
                  <a:gd name="connsiteX1" fmla="*/ 5066 w 56709"/>
                  <a:gd name="connsiteY1" fmla="*/ 161528 h 161813"/>
                  <a:gd name="connsiteX2" fmla="*/ 304 w 56709"/>
                  <a:gd name="connsiteY2" fmla="*/ 152860 h 161813"/>
                  <a:gd name="connsiteX3" fmla="*/ 42976 w 56709"/>
                  <a:gd name="connsiteY3" fmla="*/ 5032 h 161813"/>
                  <a:gd name="connsiteX4" fmla="*/ 51643 w 56709"/>
                  <a:gd name="connsiteY4" fmla="*/ 269 h 161813"/>
                  <a:gd name="connsiteX5" fmla="*/ 56406 w 56709"/>
                  <a:gd name="connsiteY5" fmla="*/ 8937 h 161813"/>
                  <a:gd name="connsiteX6" fmla="*/ 13734 w 56709"/>
                  <a:gd name="connsiteY6" fmla="*/ 156765 h 161813"/>
                  <a:gd name="connsiteX7" fmla="*/ 6971 w 56709"/>
                  <a:gd name="connsiteY7" fmla="*/ 161813 h 161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709" h="161813">
                    <a:moveTo>
                      <a:pt x="6971" y="161813"/>
                    </a:moveTo>
                    <a:cubicBezTo>
                      <a:pt x="6305" y="161813"/>
                      <a:pt x="5638" y="161813"/>
                      <a:pt x="5066" y="161528"/>
                    </a:cubicBezTo>
                    <a:cubicBezTo>
                      <a:pt x="1351" y="160480"/>
                      <a:pt x="-839" y="156575"/>
                      <a:pt x="304" y="152860"/>
                    </a:cubicBezTo>
                    <a:lnTo>
                      <a:pt x="42976" y="5032"/>
                    </a:lnTo>
                    <a:cubicBezTo>
                      <a:pt x="44023" y="1317"/>
                      <a:pt x="47929" y="-778"/>
                      <a:pt x="51643" y="269"/>
                    </a:cubicBezTo>
                    <a:cubicBezTo>
                      <a:pt x="55358" y="1317"/>
                      <a:pt x="57549" y="5223"/>
                      <a:pt x="56406" y="8937"/>
                    </a:cubicBezTo>
                    <a:lnTo>
                      <a:pt x="13734" y="156765"/>
                    </a:lnTo>
                    <a:cubicBezTo>
                      <a:pt x="12877" y="159813"/>
                      <a:pt x="10019" y="161813"/>
                      <a:pt x="6971" y="161813"/>
                    </a:cubicBezTo>
                    <a:close/>
                  </a:path>
                </a:pathLst>
              </a:custGeom>
              <a:solidFill>
                <a:srgbClr val="F47C73"/>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15" name="Freeform: Shape 414">
                <a:extLst>
                  <a:ext uri="{FF2B5EF4-FFF2-40B4-BE49-F238E27FC236}">
                    <a16:creationId xmlns:a16="http://schemas.microsoft.com/office/drawing/2014/main" id="{EE231FBC-A978-42B9-9781-898A6CCB41AF}"/>
                  </a:ext>
                </a:extLst>
              </p:cNvPr>
              <p:cNvSpPr/>
              <p:nvPr/>
            </p:nvSpPr>
            <p:spPr>
              <a:xfrm flipH="1">
                <a:off x="7467668" y="3090820"/>
                <a:ext cx="17641" cy="57060"/>
              </a:xfrm>
              <a:custGeom>
                <a:avLst/>
                <a:gdLst>
                  <a:gd name="connsiteX0" fmla="*/ 0 w 82962"/>
                  <a:gd name="connsiteY0" fmla="*/ 268344 h 268343"/>
                  <a:gd name="connsiteX1" fmla="*/ 59150 w 82962"/>
                  <a:gd name="connsiteY1" fmla="*/ 9359 h 268343"/>
                  <a:gd name="connsiteX2" fmla="*/ 82963 w 82962"/>
                  <a:gd name="connsiteY2" fmla="*/ 12026 h 268343"/>
                  <a:gd name="connsiteX3" fmla="*/ 82963 w 82962"/>
                  <a:gd name="connsiteY3" fmla="*/ 262915 h 268343"/>
                  <a:gd name="connsiteX4" fmla="*/ 0 w 82962"/>
                  <a:gd name="connsiteY4" fmla="*/ 268344 h 2683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962" h="268343">
                    <a:moveTo>
                      <a:pt x="0" y="268344"/>
                    </a:moveTo>
                    <a:lnTo>
                      <a:pt x="59150" y="9359"/>
                    </a:lnTo>
                    <a:cubicBezTo>
                      <a:pt x="62389" y="-4643"/>
                      <a:pt x="82963" y="-2261"/>
                      <a:pt x="82963" y="12026"/>
                    </a:cubicBezTo>
                    <a:lnTo>
                      <a:pt x="82963" y="262915"/>
                    </a:lnTo>
                    <a:lnTo>
                      <a:pt x="0" y="268344"/>
                    </a:lnTo>
                    <a:close/>
                  </a:path>
                </a:pathLst>
              </a:custGeom>
              <a:solidFill>
                <a:schemeClr val="tx2"/>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16" name="Freeform: Shape 415">
                <a:extLst>
                  <a:ext uri="{FF2B5EF4-FFF2-40B4-BE49-F238E27FC236}">
                    <a16:creationId xmlns:a16="http://schemas.microsoft.com/office/drawing/2014/main" id="{3133B973-2B60-4BDF-AB23-A6D795D478F0}"/>
                  </a:ext>
                </a:extLst>
              </p:cNvPr>
              <p:cNvSpPr/>
              <p:nvPr/>
            </p:nvSpPr>
            <p:spPr>
              <a:xfrm flipH="1">
                <a:off x="7385498" y="3117353"/>
                <a:ext cx="105300" cy="59329"/>
              </a:xfrm>
              <a:custGeom>
                <a:avLst/>
                <a:gdLst>
                  <a:gd name="connsiteX0" fmla="*/ 495205 w 495204"/>
                  <a:gd name="connsiteY0" fmla="*/ 45841 h 279012"/>
                  <a:gd name="connsiteX1" fmla="*/ 364522 w 495204"/>
                  <a:gd name="connsiteY1" fmla="*/ 279013 h 279012"/>
                  <a:gd name="connsiteX2" fmla="*/ 0 w 495204"/>
                  <a:gd name="connsiteY2" fmla="*/ 163951 h 279012"/>
                  <a:gd name="connsiteX3" fmla="*/ 116776 w 495204"/>
                  <a:gd name="connsiteY3" fmla="*/ 13075 h 279012"/>
                  <a:gd name="connsiteX4" fmla="*/ 495205 w 495204"/>
                  <a:gd name="connsiteY4" fmla="*/ 45841 h 2790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204" h="279012">
                    <a:moveTo>
                      <a:pt x="495205" y="45841"/>
                    </a:moveTo>
                    <a:cubicBezTo>
                      <a:pt x="495205" y="45841"/>
                      <a:pt x="389382" y="244342"/>
                      <a:pt x="364522" y="279013"/>
                    </a:cubicBezTo>
                    <a:lnTo>
                      <a:pt x="0" y="163951"/>
                    </a:lnTo>
                    <a:cubicBezTo>
                      <a:pt x="0" y="163951"/>
                      <a:pt x="12668" y="80798"/>
                      <a:pt x="116776" y="13075"/>
                    </a:cubicBezTo>
                    <a:cubicBezTo>
                      <a:pt x="182404" y="-29597"/>
                      <a:pt x="495205" y="45841"/>
                      <a:pt x="495205" y="45841"/>
                    </a:cubicBezTo>
                    <a:close/>
                  </a:path>
                </a:pathLst>
              </a:custGeom>
              <a:solidFill>
                <a:srgbClr val="FFBEB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17" name="Freeform: Shape 416">
                <a:extLst>
                  <a:ext uri="{FF2B5EF4-FFF2-40B4-BE49-F238E27FC236}">
                    <a16:creationId xmlns:a16="http://schemas.microsoft.com/office/drawing/2014/main" id="{0DDB2AD5-30C1-472D-A385-3A0B8E748B53}"/>
                  </a:ext>
                </a:extLst>
              </p:cNvPr>
              <p:cNvSpPr/>
              <p:nvPr/>
            </p:nvSpPr>
            <p:spPr>
              <a:xfrm flipH="1">
                <a:off x="7220512" y="3121483"/>
                <a:ext cx="164180" cy="51107"/>
              </a:xfrm>
              <a:custGeom>
                <a:avLst/>
                <a:gdLst>
                  <a:gd name="connsiteX0" fmla="*/ 765163 w 772109"/>
                  <a:gd name="connsiteY0" fmla="*/ 240349 h 240348"/>
                  <a:gd name="connsiteX1" fmla="*/ 759734 w 772109"/>
                  <a:gd name="connsiteY1" fmla="*/ 237682 h 240348"/>
                  <a:gd name="connsiteX2" fmla="*/ 6401 w 772109"/>
                  <a:gd name="connsiteY2" fmla="*/ 14035 h 240348"/>
                  <a:gd name="connsiteX3" fmla="*/ 20 w 772109"/>
                  <a:gd name="connsiteY3" fmla="*/ 6415 h 240348"/>
                  <a:gd name="connsiteX4" fmla="*/ 7640 w 772109"/>
                  <a:gd name="connsiteY4" fmla="*/ 33 h 240348"/>
                  <a:gd name="connsiteX5" fmla="*/ 770592 w 772109"/>
                  <a:gd name="connsiteY5" fmla="*/ 228824 h 240348"/>
                  <a:gd name="connsiteX6" fmla="*/ 769545 w 772109"/>
                  <a:gd name="connsiteY6" fmla="*/ 238634 h 240348"/>
                  <a:gd name="connsiteX7" fmla="*/ 765163 w 772109"/>
                  <a:gd name="connsiteY7" fmla="*/ 240158 h 24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2109" h="240348">
                    <a:moveTo>
                      <a:pt x="765163" y="240349"/>
                    </a:moveTo>
                    <a:cubicBezTo>
                      <a:pt x="763163" y="240349"/>
                      <a:pt x="761067" y="239492"/>
                      <a:pt x="759734" y="237682"/>
                    </a:cubicBezTo>
                    <a:cubicBezTo>
                      <a:pt x="626288" y="71280"/>
                      <a:pt x="12593" y="14606"/>
                      <a:pt x="6401" y="14035"/>
                    </a:cubicBezTo>
                    <a:cubicBezTo>
                      <a:pt x="2591" y="13654"/>
                      <a:pt x="-266" y="10320"/>
                      <a:pt x="20" y="6415"/>
                    </a:cubicBezTo>
                    <a:cubicBezTo>
                      <a:pt x="305" y="2605"/>
                      <a:pt x="3734" y="-348"/>
                      <a:pt x="7640" y="33"/>
                    </a:cubicBezTo>
                    <a:cubicBezTo>
                      <a:pt x="33167" y="2319"/>
                      <a:pt x="633432" y="57755"/>
                      <a:pt x="770592" y="228824"/>
                    </a:cubicBezTo>
                    <a:cubicBezTo>
                      <a:pt x="772973" y="231872"/>
                      <a:pt x="772497" y="236253"/>
                      <a:pt x="769545" y="238634"/>
                    </a:cubicBezTo>
                    <a:cubicBezTo>
                      <a:pt x="768211" y="239682"/>
                      <a:pt x="766687" y="240158"/>
                      <a:pt x="765163" y="240158"/>
                    </a:cubicBezTo>
                    <a:close/>
                  </a:path>
                </a:pathLst>
              </a:custGeom>
              <a:solidFill>
                <a:schemeClr val="tx2"/>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18" name="Freeform: Shape 417">
                <a:extLst>
                  <a:ext uri="{FF2B5EF4-FFF2-40B4-BE49-F238E27FC236}">
                    <a16:creationId xmlns:a16="http://schemas.microsoft.com/office/drawing/2014/main" id="{2437AFDE-FF82-47F2-8C85-26DC9111D50E}"/>
                  </a:ext>
                </a:extLst>
              </p:cNvPr>
              <p:cNvSpPr/>
              <p:nvPr/>
            </p:nvSpPr>
            <p:spPr>
              <a:xfrm flipH="1">
                <a:off x="7264003" y="3121481"/>
                <a:ext cx="163186" cy="139112"/>
              </a:xfrm>
              <a:custGeom>
                <a:avLst/>
                <a:gdLst>
                  <a:gd name="connsiteX0" fmla="*/ 760327 w 767432"/>
                  <a:gd name="connsiteY0" fmla="*/ 654217 h 654217"/>
                  <a:gd name="connsiteX1" fmla="*/ 757851 w 767432"/>
                  <a:gd name="connsiteY1" fmla="*/ 653741 h 654217"/>
                  <a:gd name="connsiteX2" fmla="*/ 4519 w 767432"/>
                  <a:gd name="connsiteY2" fmla="*/ 370182 h 654217"/>
                  <a:gd name="connsiteX3" fmla="*/ 423 w 767432"/>
                  <a:gd name="connsiteY3" fmla="*/ 365991 h 654217"/>
                  <a:gd name="connsiteX4" fmla="*/ 899 w 767432"/>
                  <a:gd name="connsiteY4" fmla="*/ 360181 h 654217"/>
                  <a:gd name="connsiteX5" fmla="*/ 200829 w 767432"/>
                  <a:gd name="connsiteY5" fmla="*/ 3565 h 654217"/>
                  <a:gd name="connsiteX6" fmla="*/ 210354 w 767432"/>
                  <a:gd name="connsiteY6" fmla="*/ 898 h 654217"/>
                  <a:gd name="connsiteX7" fmla="*/ 213021 w 767432"/>
                  <a:gd name="connsiteY7" fmla="*/ 10423 h 654217"/>
                  <a:gd name="connsiteX8" fmla="*/ 17091 w 767432"/>
                  <a:gd name="connsiteY8" fmla="*/ 359895 h 654217"/>
                  <a:gd name="connsiteX9" fmla="*/ 762899 w 767432"/>
                  <a:gd name="connsiteY9" fmla="*/ 640597 h 654217"/>
                  <a:gd name="connsiteX10" fmla="*/ 766995 w 767432"/>
                  <a:gd name="connsiteY10" fmla="*/ 649645 h 654217"/>
                  <a:gd name="connsiteX11" fmla="*/ 760423 w 767432"/>
                  <a:gd name="connsiteY11" fmla="*/ 654217 h 654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7432" h="654217">
                    <a:moveTo>
                      <a:pt x="760327" y="654217"/>
                    </a:moveTo>
                    <a:cubicBezTo>
                      <a:pt x="759470" y="654217"/>
                      <a:pt x="758708" y="654027"/>
                      <a:pt x="757851" y="653741"/>
                    </a:cubicBezTo>
                    <a:lnTo>
                      <a:pt x="4519" y="370182"/>
                    </a:lnTo>
                    <a:cubicBezTo>
                      <a:pt x="2613" y="369420"/>
                      <a:pt x="1090" y="367991"/>
                      <a:pt x="423" y="365991"/>
                    </a:cubicBezTo>
                    <a:cubicBezTo>
                      <a:pt x="-244" y="364086"/>
                      <a:pt x="-149" y="361990"/>
                      <a:pt x="899" y="360181"/>
                    </a:cubicBezTo>
                    <a:lnTo>
                      <a:pt x="200829" y="3565"/>
                    </a:lnTo>
                    <a:cubicBezTo>
                      <a:pt x="202734" y="231"/>
                      <a:pt x="206925" y="-1007"/>
                      <a:pt x="210354" y="898"/>
                    </a:cubicBezTo>
                    <a:cubicBezTo>
                      <a:pt x="213687" y="2802"/>
                      <a:pt x="214926" y="7089"/>
                      <a:pt x="213021" y="10423"/>
                    </a:cubicBezTo>
                    <a:lnTo>
                      <a:pt x="17091" y="359895"/>
                    </a:lnTo>
                    <a:lnTo>
                      <a:pt x="762899" y="640597"/>
                    </a:lnTo>
                    <a:cubicBezTo>
                      <a:pt x="766518" y="641930"/>
                      <a:pt x="768328" y="646026"/>
                      <a:pt x="766995" y="649645"/>
                    </a:cubicBezTo>
                    <a:cubicBezTo>
                      <a:pt x="765947" y="652407"/>
                      <a:pt x="763280" y="654217"/>
                      <a:pt x="760423" y="654217"/>
                    </a:cubicBezTo>
                    <a:close/>
                  </a:path>
                </a:pathLst>
              </a:custGeom>
              <a:solidFill>
                <a:schemeClr val="tx2"/>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19" name="Freeform: Shape 418">
                <a:extLst>
                  <a:ext uri="{FF2B5EF4-FFF2-40B4-BE49-F238E27FC236}">
                    <a16:creationId xmlns:a16="http://schemas.microsoft.com/office/drawing/2014/main" id="{588468B8-C952-432D-82F7-F4977762C2B4}"/>
                  </a:ext>
                </a:extLst>
              </p:cNvPr>
              <p:cNvSpPr/>
              <p:nvPr/>
            </p:nvSpPr>
            <p:spPr>
              <a:xfrm flipH="1">
                <a:off x="7325385" y="3015680"/>
                <a:ext cx="92276" cy="31869"/>
              </a:xfrm>
              <a:custGeom>
                <a:avLst/>
                <a:gdLst>
                  <a:gd name="connsiteX0" fmla="*/ 433864 w 433958"/>
                  <a:gd name="connsiteY0" fmla="*/ 875 h 149874"/>
                  <a:gd name="connsiteX1" fmla="*/ 390430 w 433958"/>
                  <a:gd name="connsiteY1" fmla="*/ 18 h 149874"/>
                  <a:gd name="connsiteX2" fmla="*/ 89059 w 433958"/>
                  <a:gd name="connsiteY2" fmla="*/ 7828 h 149874"/>
                  <a:gd name="connsiteX3" fmla="*/ 0 w 433958"/>
                  <a:gd name="connsiteY3" fmla="*/ 14782 h 149874"/>
                  <a:gd name="connsiteX4" fmla="*/ 157543 w 433958"/>
                  <a:gd name="connsiteY4" fmla="*/ 149370 h 149874"/>
                  <a:gd name="connsiteX5" fmla="*/ 433959 w 433958"/>
                  <a:gd name="connsiteY5" fmla="*/ 875 h 149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3958" h="149874">
                    <a:moveTo>
                      <a:pt x="433864" y="875"/>
                    </a:moveTo>
                    <a:cubicBezTo>
                      <a:pt x="419671" y="208"/>
                      <a:pt x="405193" y="-77"/>
                      <a:pt x="390430" y="18"/>
                    </a:cubicBezTo>
                    <a:lnTo>
                      <a:pt x="89059" y="7828"/>
                    </a:lnTo>
                    <a:cubicBezTo>
                      <a:pt x="56674" y="9067"/>
                      <a:pt x="27146" y="11448"/>
                      <a:pt x="0" y="14782"/>
                    </a:cubicBezTo>
                    <a:cubicBezTo>
                      <a:pt x="10478" y="62407"/>
                      <a:pt x="30956" y="139845"/>
                      <a:pt x="157543" y="149370"/>
                    </a:cubicBezTo>
                    <a:cubicBezTo>
                      <a:pt x="261747" y="157180"/>
                      <a:pt x="378714" y="72884"/>
                      <a:pt x="433959" y="875"/>
                    </a:cubicBezTo>
                    <a:close/>
                  </a:path>
                </a:pathLst>
              </a:custGeom>
              <a:solidFill>
                <a:srgbClr val="FFBEB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20" name="Freeform: Shape 419">
                <a:extLst>
                  <a:ext uri="{FF2B5EF4-FFF2-40B4-BE49-F238E27FC236}">
                    <a16:creationId xmlns:a16="http://schemas.microsoft.com/office/drawing/2014/main" id="{4956D7C8-A7B4-4F2D-A9A7-F8E7454D2DBC}"/>
                  </a:ext>
                </a:extLst>
              </p:cNvPr>
              <p:cNvSpPr/>
              <p:nvPr/>
            </p:nvSpPr>
            <p:spPr>
              <a:xfrm flipH="1">
                <a:off x="7343269" y="2890090"/>
                <a:ext cx="79059" cy="74513"/>
              </a:xfrm>
              <a:custGeom>
                <a:avLst/>
                <a:gdLst>
                  <a:gd name="connsiteX0" fmla="*/ 285789 w 371799"/>
                  <a:gd name="connsiteY0" fmla="*/ 4666 h 350423"/>
                  <a:gd name="connsiteX1" fmla="*/ 212827 w 371799"/>
                  <a:gd name="connsiteY1" fmla="*/ 38956 h 350423"/>
                  <a:gd name="connsiteX2" fmla="*/ 22042 w 371799"/>
                  <a:gd name="connsiteY2" fmla="*/ 44576 h 350423"/>
                  <a:gd name="connsiteX3" fmla="*/ 19756 w 371799"/>
                  <a:gd name="connsiteY3" fmla="*/ 179450 h 350423"/>
                  <a:gd name="connsiteX4" fmla="*/ 1468 w 371799"/>
                  <a:gd name="connsiteY4" fmla="*/ 253840 h 350423"/>
                  <a:gd name="connsiteX5" fmla="*/ 81192 w 371799"/>
                  <a:gd name="connsiteY5" fmla="*/ 350423 h 350423"/>
                  <a:gd name="connsiteX6" fmla="*/ 371800 w 371799"/>
                  <a:gd name="connsiteY6" fmla="*/ 99344 h 350423"/>
                  <a:gd name="connsiteX7" fmla="*/ 285789 w 371799"/>
                  <a:gd name="connsiteY7" fmla="*/ 4571 h 350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1799" h="350423">
                    <a:moveTo>
                      <a:pt x="285789" y="4666"/>
                    </a:moveTo>
                    <a:cubicBezTo>
                      <a:pt x="215590" y="-2192"/>
                      <a:pt x="212827" y="38956"/>
                      <a:pt x="212827" y="38956"/>
                    </a:cubicBezTo>
                    <a:cubicBezTo>
                      <a:pt x="164822" y="-12860"/>
                      <a:pt x="73096" y="-14956"/>
                      <a:pt x="22042" y="44576"/>
                    </a:cubicBezTo>
                    <a:cubicBezTo>
                      <a:pt x="-11296" y="83533"/>
                      <a:pt x="4135" y="147160"/>
                      <a:pt x="19756" y="179450"/>
                    </a:cubicBezTo>
                    <a:cubicBezTo>
                      <a:pt x="7754" y="197071"/>
                      <a:pt x="-4247" y="223455"/>
                      <a:pt x="1468" y="253840"/>
                    </a:cubicBezTo>
                    <a:cubicBezTo>
                      <a:pt x="11945" y="309275"/>
                      <a:pt x="81192" y="350423"/>
                      <a:pt x="81192" y="350423"/>
                    </a:cubicBezTo>
                    <a:lnTo>
                      <a:pt x="371800" y="99344"/>
                    </a:lnTo>
                    <a:cubicBezTo>
                      <a:pt x="371800" y="99344"/>
                      <a:pt x="361989" y="12000"/>
                      <a:pt x="285789" y="4571"/>
                    </a:cubicBezTo>
                    <a:close/>
                  </a:path>
                </a:pathLst>
              </a:custGeom>
              <a:solidFill>
                <a:schemeClr val="tx1">
                  <a:lumMod val="50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21" name="Freeform: Shape 420">
                <a:extLst>
                  <a:ext uri="{FF2B5EF4-FFF2-40B4-BE49-F238E27FC236}">
                    <a16:creationId xmlns:a16="http://schemas.microsoft.com/office/drawing/2014/main" id="{B399C671-C89D-42DC-AB3B-FABDD26DF5C6}"/>
                  </a:ext>
                </a:extLst>
              </p:cNvPr>
              <p:cNvSpPr/>
              <p:nvPr/>
            </p:nvSpPr>
            <p:spPr>
              <a:xfrm flipH="1">
                <a:off x="7321095" y="2904967"/>
                <a:ext cx="92862" cy="95002"/>
              </a:xfrm>
              <a:custGeom>
                <a:avLst/>
                <a:gdLst>
                  <a:gd name="connsiteX0" fmla="*/ 1914 w 436711"/>
                  <a:gd name="connsiteY0" fmla="*/ 134632 h 446777"/>
                  <a:gd name="connsiteX1" fmla="*/ 34204 w 436711"/>
                  <a:gd name="connsiteY1" fmla="*/ 39859 h 446777"/>
                  <a:gd name="connsiteX2" fmla="*/ 234324 w 436711"/>
                  <a:gd name="connsiteY2" fmla="*/ 4711 h 446777"/>
                  <a:gd name="connsiteX3" fmla="*/ 434444 w 436711"/>
                  <a:gd name="connsiteY3" fmla="*/ 235407 h 446777"/>
                  <a:gd name="connsiteX4" fmla="*/ 334813 w 436711"/>
                  <a:gd name="connsiteY4" fmla="*/ 436575 h 446777"/>
                  <a:gd name="connsiteX5" fmla="*/ 241468 w 436711"/>
                  <a:gd name="connsiteY5" fmla="*/ 436289 h 446777"/>
                  <a:gd name="connsiteX6" fmla="*/ 190414 w 436711"/>
                  <a:gd name="connsiteY6" fmla="*/ 437432 h 446777"/>
                  <a:gd name="connsiteX7" fmla="*/ 1819 w 436711"/>
                  <a:gd name="connsiteY7" fmla="*/ 134728 h 446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6711" h="446777">
                    <a:moveTo>
                      <a:pt x="1914" y="134632"/>
                    </a:moveTo>
                    <a:cubicBezTo>
                      <a:pt x="1914" y="134632"/>
                      <a:pt x="-11802" y="86626"/>
                      <a:pt x="34204" y="39859"/>
                    </a:cubicBezTo>
                    <a:cubicBezTo>
                      <a:pt x="79638" y="-6338"/>
                      <a:pt x="165553" y="-3290"/>
                      <a:pt x="234324" y="4711"/>
                    </a:cubicBezTo>
                    <a:cubicBezTo>
                      <a:pt x="360149" y="19285"/>
                      <a:pt x="452542" y="79578"/>
                      <a:pt x="434444" y="235407"/>
                    </a:cubicBezTo>
                    <a:cubicBezTo>
                      <a:pt x="422824" y="335038"/>
                      <a:pt x="334813" y="436575"/>
                      <a:pt x="334813" y="436575"/>
                    </a:cubicBezTo>
                    <a:cubicBezTo>
                      <a:pt x="334813" y="436575"/>
                      <a:pt x="297284" y="459721"/>
                      <a:pt x="241468" y="436289"/>
                    </a:cubicBezTo>
                    <a:cubicBezTo>
                      <a:pt x="224894" y="438385"/>
                      <a:pt x="207844" y="438861"/>
                      <a:pt x="190414" y="437432"/>
                    </a:cubicBezTo>
                    <a:cubicBezTo>
                      <a:pt x="61159" y="427336"/>
                      <a:pt x="-8659" y="256362"/>
                      <a:pt x="1819" y="134728"/>
                    </a:cubicBezTo>
                    <a:close/>
                  </a:path>
                </a:pathLst>
              </a:custGeom>
              <a:solidFill>
                <a:schemeClr val="tx1">
                  <a:lumMod val="50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22" name="Freeform: Shape 421">
                <a:extLst>
                  <a:ext uri="{FF2B5EF4-FFF2-40B4-BE49-F238E27FC236}">
                    <a16:creationId xmlns:a16="http://schemas.microsoft.com/office/drawing/2014/main" id="{63C94E1B-240E-44C5-B70C-61E9C0A3D401}"/>
                  </a:ext>
                </a:extLst>
              </p:cNvPr>
              <p:cNvSpPr/>
              <p:nvPr/>
            </p:nvSpPr>
            <p:spPr>
              <a:xfrm flipH="1">
                <a:off x="7341568" y="2927688"/>
                <a:ext cx="78532" cy="96989"/>
              </a:xfrm>
              <a:custGeom>
                <a:avLst/>
                <a:gdLst>
                  <a:gd name="connsiteX0" fmla="*/ 7656 w 369319"/>
                  <a:gd name="connsiteY0" fmla="*/ 160274 h 456120"/>
                  <a:gd name="connsiteX1" fmla="*/ 29182 w 369319"/>
                  <a:gd name="connsiteY1" fmla="*/ 35211 h 456120"/>
                  <a:gd name="connsiteX2" fmla="*/ 37278 w 369319"/>
                  <a:gd name="connsiteY2" fmla="*/ 21971 h 456120"/>
                  <a:gd name="connsiteX3" fmla="*/ 240828 w 369319"/>
                  <a:gd name="connsiteY3" fmla="*/ 40830 h 456120"/>
                  <a:gd name="connsiteX4" fmla="*/ 284833 w 369319"/>
                  <a:gd name="connsiteY4" fmla="*/ 182372 h 456120"/>
                  <a:gd name="connsiteX5" fmla="*/ 363700 w 369319"/>
                  <a:gd name="connsiteY5" fmla="*/ 329628 h 456120"/>
                  <a:gd name="connsiteX6" fmla="*/ 369320 w 369319"/>
                  <a:gd name="connsiteY6" fmla="*/ 435546 h 456120"/>
                  <a:gd name="connsiteX7" fmla="*/ 105382 w 369319"/>
                  <a:gd name="connsiteY7" fmla="*/ 456120 h 456120"/>
                  <a:gd name="connsiteX8" fmla="*/ 103192 w 369319"/>
                  <a:gd name="connsiteY8" fmla="*/ 374967 h 456120"/>
                  <a:gd name="connsiteX9" fmla="*/ 7561 w 369319"/>
                  <a:gd name="connsiteY9" fmla="*/ 160369 h 456120"/>
                  <a:gd name="connsiteX10" fmla="*/ 7561 w 369319"/>
                  <a:gd name="connsiteY10" fmla="*/ 160369 h 456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9319" h="456120">
                    <a:moveTo>
                      <a:pt x="7656" y="160274"/>
                    </a:moveTo>
                    <a:cubicBezTo>
                      <a:pt x="15847" y="99409"/>
                      <a:pt x="25468" y="52641"/>
                      <a:pt x="29182" y="35211"/>
                    </a:cubicBezTo>
                    <a:cubicBezTo>
                      <a:pt x="30325" y="29972"/>
                      <a:pt x="33183" y="25305"/>
                      <a:pt x="37278" y="21971"/>
                    </a:cubicBezTo>
                    <a:cubicBezTo>
                      <a:pt x="107097" y="-34798"/>
                      <a:pt x="242066" y="35782"/>
                      <a:pt x="240828" y="40830"/>
                    </a:cubicBezTo>
                    <a:cubicBezTo>
                      <a:pt x="215015" y="150558"/>
                      <a:pt x="284833" y="182372"/>
                      <a:pt x="284833" y="182372"/>
                    </a:cubicBezTo>
                    <a:cubicBezTo>
                      <a:pt x="263974" y="292481"/>
                      <a:pt x="363700" y="329628"/>
                      <a:pt x="363700" y="329628"/>
                    </a:cubicBezTo>
                    <a:cubicBezTo>
                      <a:pt x="366748" y="387350"/>
                      <a:pt x="369320" y="435546"/>
                      <a:pt x="369320" y="435546"/>
                    </a:cubicBezTo>
                    <a:lnTo>
                      <a:pt x="105382" y="456120"/>
                    </a:lnTo>
                    <a:lnTo>
                      <a:pt x="103192" y="374967"/>
                    </a:lnTo>
                    <a:cubicBezTo>
                      <a:pt x="-10537" y="371729"/>
                      <a:pt x="-7584" y="272193"/>
                      <a:pt x="7561" y="160369"/>
                    </a:cubicBezTo>
                    <a:lnTo>
                      <a:pt x="7561" y="160369"/>
                    </a:lnTo>
                    <a:close/>
                  </a:path>
                </a:pathLst>
              </a:custGeom>
              <a:solidFill>
                <a:srgbClr val="FFBEB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23" name="Freeform: Shape 422">
                <a:extLst>
                  <a:ext uri="{FF2B5EF4-FFF2-40B4-BE49-F238E27FC236}">
                    <a16:creationId xmlns:a16="http://schemas.microsoft.com/office/drawing/2014/main" id="{1C309EC6-B693-49E8-A14D-3B8A4F449C59}"/>
                  </a:ext>
                </a:extLst>
              </p:cNvPr>
              <p:cNvSpPr/>
              <p:nvPr/>
            </p:nvSpPr>
            <p:spPr>
              <a:xfrm flipH="1">
                <a:off x="7377432" y="3006710"/>
                <a:ext cx="20725" cy="18086"/>
              </a:xfrm>
              <a:custGeom>
                <a:avLst/>
                <a:gdLst>
                  <a:gd name="connsiteX0" fmla="*/ 1429 w 97466"/>
                  <a:gd name="connsiteY0" fmla="*/ 70014 h 85056"/>
                  <a:gd name="connsiteX1" fmla="*/ 0 w 97466"/>
                  <a:gd name="connsiteY1" fmla="*/ 3243 h 85056"/>
                  <a:gd name="connsiteX2" fmla="*/ 92773 w 97466"/>
                  <a:gd name="connsiteY2" fmla="*/ 5 h 85056"/>
                  <a:gd name="connsiteX3" fmla="*/ 95821 w 97466"/>
                  <a:gd name="connsiteY3" fmla="*/ 8006 h 85056"/>
                  <a:gd name="connsiteX4" fmla="*/ 27908 w 97466"/>
                  <a:gd name="connsiteY4" fmla="*/ 80205 h 85056"/>
                  <a:gd name="connsiteX5" fmla="*/ 1429 w 97466"/>
                  <a:gd name="connsiteY5" fmla="*/ 70014 h 85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466" h="85056">
                    <a:moveTo>
                      <a:pt x="1429" y="70014"/>
                    </a:moveTo>
                    <a:lnTo>
                      <a:pt x="0" y="3243"/>
                    </a:lnTo>
                    <a:lnTo>
                      <a:pt x="92773" y="5"/>
                    </a:lnTo>
                    <a:cubicBezTo>
                      <a:pt x="97060" y="-186"/>
                      <a:pt x="99155" y="5244"/>
                      <a:pt x="95821" y="8006"/>
                    </a:cubicBezTo>
                    <a:lnTo>
                      <a:pt x="27908" y="80205"/>
                    </a:lnTo>
                    <a:cubicBezTo>
                      <a:pt x="18478" y="90207"/>
                      <a:pt x="1714" y="83730"/>
                      <a:pt x="1429" y="70014"/>
                    </a:cubicBezTo>
                    <a:close/>
                  </a:path>
                </a:pathLst>
              </a:custGeom>
              <a:solidFill>
                <a:srgbClr val="F47C73"/>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24" name="Freeform: Shape 423">
                <a:extLst>
                  <a:ext uri="{FF2B5EF4-FFF2-40B4-BE49-F238E27FC236}">
                    <a16:creationId xmlns:a16="http://schemas.microsoft.com/office/drawing/2014/main" id="{1B0A4F2B-8704-4FDA-AB17-3545E4C97C6E}"/>
                  </a:ext>
                </a:extLst>
              </p:cNvPr>
              <p:cNvSpPr/>
              <p:nvPr/>
            </p:nvSpPr>
            <p:spPr>
              <a:xfrm flipH="1">
                <a:off x="7378009" y="2943907"/>
                <a:ext cx="17283" cy="6803"/>
              </a:xfrm>
              <a:custGeom>
                <a:avLst/>
                <a:gdLst>
                  <a:gd name="connsiteX0" fmla="*/ 74350 w 81278"/>
                  <a:gd name="connsiteY0" fmla="*/ 31898 h 31993"/>
                  <a:gd name="connsiteX1" fmla="*/ 68920 w 81278"/>
                  <a:gd name="connsiteY1" fmla="*/ 29326 h 31993"/>
                  <a:gd name="connsiteX2" fmla="*/ 43012 w 81278"/>
                  <a:gd name="connsiteY2" fmla="*/ 13991 h 31993"/>
                  <a:gd name="connsiteX3" fmla="*/ 11485 w 81278"/>
                  <a:gd name="connsiteY3" fmla="*/ 24754 h 31993"/>
                  <a:gd name="connsiteX4" fmla="*/ 1674 w 81278"/>
                  <a:gd name="connsiteY4" fmla="*/ 23992 h 31993"/>
                  <a:gd name="connsiteX5" fmla="*/ 2436 w 81278"/>
                  <a:gd name="connsiteY5" fmla="*/ 14182 h 31993"/>
                  <a:gd name="connsiteX6" fmla="*/ 44155 w 81278"/>
                  <a:gd name="connsiteY6" fmla="*/ 180 h 31993"/>
                  <a:gd name="connsiteX7" fmla="*/ 79684 w 81278"/>
                  <a:gd name="connsiteY7" fmla="*/ 20563 h 31993"/>
                  <a:gd name="connsiteX8" fmla="*/ 78731 w 81278"/>
                  <a:gd name="connsiteY8" fmla="*/ 30374 h 31993"/>
                  <a:gd name="connsiteX9" fmla="*/ 74254 w 81278"/>
                  <a:gd name="connsiteY9" fmla="*/ 31993 h 3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278" h="31993">
                    <a:moveTo>
                      <a:pt x="74350" y="31898"/>
                    </a:moveTo>
                    <a:cubicBezTo>
                      <a:pt x="72349" y="31898"/>
                      <a:pt x="70349" y="31041"/>
                      <a:pt x="68920" y="29326"/>
                    </a:cubicBezTo>
                    <a:cubicBezTo>
                      <a:pt x="61300" y="19992"/>
                      <a:pt x="52537" y="14848"/>
                      <a:pt x="43012" y="13991"/>
                    </a:cubicBezTo>
                    <a:cubicBezTo>
                      <a:pt x="26153" y="12372"/>
                      <a:pt x="11675" y="24564"/>
                      <a:pt x="11485" y="24754"/>
                    </a:cubicBezTo>
                    <a:cubicBezTo>
                      <a:pt x="8532" y="27231"/>
                      <a:pt x="4150" y="26850"/>
                      <a:pt x="1674" y="23992"/>
                    </a:cubicBezTo>
                    <a:cubicBezTo>
                      <a:pt x="-803" y="21040"/>
                      <a:pt x="-517" y="16658"/>
                      <a:pt x="2436" y="14182"/>
                    </a:cubicBezTo>
                    <a:cubicBezTo>
                      <a:pt x="3198" y="13515"/>
                      <a:pt x="21200" y="-1820"/>
                      <a:pt x="44155" y="180"/>
                    </a:cubicBezTo>
                    <a:cubicBezTo>
                      <a:pt x="57586" y="1323"/>
                      <a:pt x="69587" y="8181"/>
                      <a:pt x="79684" y="20563"/>
                    </a:cubicBezTo>
                    <a:cubicBezTo>
                      <a:pt x="82160" y="23516"/>
                      <a:pt x="81684" y="27993"/>
                      <a:pt x="78731" y="30374"/>
                    </a:cubicBezTo>
                    <a:cubicBezTo>
                      <a:pt x="77398" y="31422"/>
                      <a:pt x="75874" y="31993"/>
                      <a:pt x="74254" y="31993"/>
                    </a:cubicBezTo>
                    <a:close/>
                  </a:path>
                </a:pathLst>
              </a:custGeom>
              <a:solidFill>
                <a:srgbClr val="8E1E0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25" name="Freeform: Shape 424">
                <a:extLst>
                  <a:ext uri="{FF2B5EF4-FFF2-40B4-BE49-F238E27FC236}">
                    <a16:creationId xmlns:a16="http://schemas.microsoft.com/office/drawing/2014/main" id="{E87E1592-CFBE-4392-B8D3-1A21140F3C9A}"/>
                  </a:ext>
                </a:extLst>
              </p:cNvPr>
              <p:cNvSpPr/>
              <p:nvPr/>
            </p:nvSpPr>
            <p:spPr>
              <a:xfrm flipH="1">
                <a:off x="7405491" y="2942713"/>
                <a:ext cx="11874" cy="6316"/>
              </a:xfrm>
              <a:custGeom>
                <a:avLst/>
                <a:gdLst>
                  <a:gd name="connsiteX0" fmla="*/ 48993 w 55840"/>
                  <a:gd name="connsiteY0" fmla="*/ 29606 h 29701"/>
                  <a:gd name="connsiteX1" fmla="*/ 43278 w 55840"/>
                  <a:gd name="connsiteY1" fmla="*/ 26654 h 29701"/>
                  <a:gd name="connsiteX2" fmla="*/ 10893 w 55840"/>
                  <a:gd name="connsiteY2" fmla="*/ 17319 h 29701"/>
                  <a:gd name="connsiteX3" fmla="*/ 1177 w 55840"/>
                  <a:gd name="connsiteY3" fmla="*/ 15414 h 29701"/>
                  <a:gd name="connsiteX4" fmla="*/ 2987 w 55840"/>
                  <a:gd name="connsiteY4" fmla="*/ 5794 h 29701"/>
                  <a:gd name="connsiteX5" fmla="*/ 54517 w 55840"/>
                  <a:gd name="connsiteY5" fmla="*/ 18557 h 29701"/>
                  <a:gd name="connsiteX6" fmla="*/ 52898 w 55840"/>
                  <a:gd name="connsiteY6" fmla="*/ 28368 h 29701"/>
                  <a:gd name="connsiteX7" fmla="*/ 48802 w 55840"/>
                  <a:gd name="connsiteY7" fmla="*/ 29702 h 29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840" h="29701">
                    <a:moveTo>
                      <a:pt x="48993" y="29606"/>
                    </a:moveTo>
                    <a:cubicBezTo>
                      <a:pt x="46802" y="29606"/>
                      <a:pt x="44706" y="28559"/>
                      <a:pt x="43278" y="26654"/>
                    </a:cubicBezTo>
                    <a:cubicBezTo>
                      <a:pt x="28800" y="6461"/>
                      <a:pt x="12702" y="16176"/>
                      <a:pt x="10893" y="17319"/>
                    </a:cubicBezTo>
                    <a:cubicBezTo>
                      <a:pt x="7749" y="19415"/>
                      <a:pt x="3368" y="18557"/>
                      <a:pt x="1177" y="15414"/>
                    </a:cubicBezTo>
                    <a:cubicBezTo>
                      <a:pt x="-918" y="12176"/>
                      <a:pt x="-156" y="7889"/>
                      <a:pt x="2987" y="5794"/>
                    </a:cubicBezTo>
                    <a:cubicBezTo>
                      <a:pt x="12798" y="-874"/>
                      <a:pt x="36229" y="-6874"/>
                      <a:pt x="54517" y="18557"/>
                    </a:cubicBezTo>
                    <a:cubicBezTo>
                      <a:pt x="56803" y="21701"/>
                      <a:pt x="56041" y="26082"/>
                      <a:pt x="52898" y="28368"/>
                    </a:cubicBezTo>
                    <a:cubicBezTo>
                      <a:pt x="51660" y="29225"/>
                      <a:pt x="50231" y="29702"/>
                      <a:pt x="48802" y="29702"/>
                    </a:cubicBezTo>
                    <a:close/>
                  </a:path>
                </a:pathLst>
              </a:custGeom>
              <a:solidFill>
                <a:srgbClr val="8E1E0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26" name="Freeform: Shape 425">
                <a:extLst>
                  <a:ext uri="{FF2B5EF4-FFF2-40B4-BE49-F238E27FC236}">
                    <a16:creationId xmlns:a16="http://schemas.microsoft.com/office/drawing/2014/main" id="{01B7DE5B-CC6E-413B-97A6-E45BA7013423}"/>
                  </a:ext>
                </a:extLst>
              </p:cNvPr>
              <p:cNvSpPr/>
              <p:nvPr/>
            </p:nvSpPr>
            <p:spPr>
              <a:xfrm flipH="1">
                <a:off x="7339845" y="2883155"/>
                <a:ext cx="38957" cy="32212"/>
              </a:xfrm>
              <a:custGeom>
                <a:avLst/>
                <a:gdLst>
                  <a:gd name="connsiteX0" fmla="*/ 175205 w 183209"/>
                  <a:gd name="connsiteY0" fmla="*/ 151487 h 151486"/>
                  <a:gd name="connsiteX1" fmla="*/ 174443 w 183209"/>
                  <a:gd name="connsiteY1" fmla="*/ 151487 h 151486"/>
                  <a:gd name="connsiteX2" fmla="*/ 168252 w 183209"/>
                  <a:gd name="connsiteY2" fmla="*/ 143771 h 151486"/>
                  <a:gd name="connsiteX3" fmla="*/ 134629 w 183209"/>
                  <a:gd name="connsiteY3" fmla="*/ 38806 h 151486"/>
                  <a:gd name="connsiteX4" fmla="*/ 59667 w 183209"/>
                  <a:gd name="connsiteY4" fmla="*/ 15279 h 151486"/>
                  <a:gd name="connsiteX5" fmla="*/ 20519 w 183209"/>
                  <a:gd name="connsiteY5" fmla="*/ 36615 h 151486"/>
                  <a:gd name="connsiteX6" fmla="*/ 14995 w 183209"/>
                  <a:gd name="connsiteY6" fmla="*/ 69762 h 151486"/>
                  <a:gd name="connsiteX7" fmla="*/ 9946 w 183209"/>
                  <a:gd name="connsiteY7" fmla="*/ 78239 h 151486"/>
                  <a:gd name="connsiteX8" fmla="*/ 1469 w 183209"/>
                  <a:gd name="connsiteY8" fmla="*/ 73191 h 151486"/>
                  <a:gd name="connsiteX9" fmla="*/ 8708 w 183209"/>
                  <a:gd name="connsiteY9" fmla="*/ 28995 h 151486"/>
                  <a:gd name="connsiteX10" fmla="*/ 57381 w 183209"/>
                  <a:gd name="connsiteY10" fmla="*/ 1373 h 151486"/>
                  <a:gd name="connsiteX11" fmla="*/ 144249 w 183209"/>
                  <a:gd name="connsiteY11" fmla="*/ 28519 h 151486"/>
                  <a:gd name="connsiteX12" fmla="*/ 182254 w 183209"/>
                  <a:gd name="connsiteY12" fmla="*/ 145200 h 151486"/>
                  <a:gd name="connsiteX13" fmla="*/ 175301 w 183209"/>
                  <a:gd name="connsiteY13" fmla="*/ 151487 h 151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209" h="151486">
                    <a:moveTo>
                      <a:pt x="175205" y="151487"/>
                    </a:moveTo>
                    <a:cubicBezTo>
                      <a:pt x="175205" y="151487"/>
                      <a:pt x="174729" y="151487"/>
                      <a:pt x="174443" y="151487"/>
                    </a:cubicBezTo>
                    <a:cubicBezTo>
                      <a:pt x="170633" y="151106"/>
                      <a:pt x="167776" y="147677"/>
                      <a:pt x="168252" y="143771"/>
                    </a:cubicBezTo>
                    <a:cubicBezTo>
                      <a:pt x="172729" y="101385"/>
                      <a:pt x="160442" y="63095"/>
                      <a:pt x="134629" y="38806"/>
                    </a:cubicBezTo>
                    <a:cubicBezTo>
                      <a:pt x="113959" y="19375"/>
                      <a:pt x="86718" y="10802"/>
                      <a:pt x="59667" y="15279"/>
                    </a:cubicBezTo>
                    <a:cubicBezTo>
                      <a:pt x="40903" y="18422"/>
                      <a:pt x="27758" y="25566"/>
                      <a:pt x="20519" y="36615"/>
                    </a:cubicBezTo>
                    <a:cubicBezTo>
                      <a:pt x="10613" y="51760"/>
                      <a:pt x="14900" y="69667"/>
                      <a:pt x="14995" y="69762"/>
                    </a:cubicBezTo>
                    <a:cubicBezTo>
                      <a:pt x="15947" y="73477"/>
                      <a:pt x="13661" y="77287"/>
                      <a:pt x="9946" y="78239"/>
                    </a:cubicBezTo>
                    <a:cubicBezTo>
                      <a:pt x="6232" y="79192"/>
                      <a:pt x="2422" y="77001"/>
                      <a:pt x="1469" y="73191"/>
                    </a:cubicBezTo>
                    <a:cubicBezTo>
                      <a:pt x="1184" y="72239"/>
                      <a:pt x="-4532" y="49379"/>
                      <a:pt x="8708" y="28995"/>
                    </a:cubicBezTo>
                    <a:cubicBezTo>
                      <a:pt x="18138" y="14422"/>
                      <a:pt x="34521" y="5183"/>
                      <a:pt x="57381" y="1373"/>
                    </a:cubicBezTo>
                    <a:cubicBezTo>
                      <a:pt x="88813" y="-3866"/>
                      <a:pt x="120437" y="6040"/>
                      <a:pt x="144249" y="28519"/>
                    </a:cubicBezTo>
                    <a:cubicBezTo>
                      <a:pt x="173300" y="55856"/>
                      <a:pt x="187112" y="98432"/>
                      <a:pt x="182254" y="145200"/>
                    </a:cubicBezTo>
                    <a:cubicBezTo>
                      <a:pt x="181873" y="148820"/>
                      <a:pt x="178825" y="151487"/>
                      <a:pt x="175301" y="151487"/>
                    </a:cubicBezTo>
                    <a:close/>
                  </a:path>
                </a:pathLst>
              </a:custGeom>
              <a:solidFill>
                <a:schemeClr val="tx1">
                  <a:lumMod val="50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27" name="Freeform: Shape 426">
                <a:extLst>
                  <a:ext uri="{FF2B5EF4-FFF2-40B4-BE49-F238E27FC236}">
                    <a16:creationId xmlns:a16="http://schemas.microsoft.com/office/drawing/2014/main" id="{1857F59C-0972-41F3-BBCE-D054FFDF3E04}"/>
                  </a:ext>
                </a:extLst>
              </p:cNvPr>
              <p:cNvSpPr/>
              <p:nvPr/>
            </p:nvSpPr>
            <p:spPr>
              <a:xfrm flipH="1">
                <a:off x="7395753" y="2976262"/>
                <a:ext cx="18978" cy="8176"/>
              </a:xfrm>
              <a:custGeom>
                <a:avLst/>
                <a:gdLst>
                  <a:gd name="connsiteX0" fmla="*/ 44514 w 89251"/>
                  <a:gd name="connsiteY0" fmla="*/ 2324 h 38450"/>
                  <a:gd name="connsiteX1" fmla="*/ 84043 w 89251"/>
                  <a:gd name="connsiteY1" fmla="*/ 1467 h 38450"/>
                  <a:gd name="connsiteX2" fmla="*/ 88805 w 89251"/>
                  <a:gd name="connsiteY2" fmla="*/ 8515 h 38450"/>
                  <a:gd name="connsiteX3" fmla="*/ 45847 w 89251"/>
                  <a:gd name="connsiteY3" fmla="*/ 38424 h 38450"/>
                  <a:gd name="connsiteX4" fmla="*/ 508 w 89251"/>
                  <a:gd name="connsiteY4" fmla="*/ 7182 h 38450"/>
                  <a:gd name="connsiteX5" fmla="*/ 5557 w 89251"/>
                  <a:gd name="connsiteY5" fmla="*/ 38 h 38450"/>
                  <a:gd name="connsiteX6" fmla="*/ 44514 w 89251"/>
                  <a:gd name="connsiteY6" fmla="*/ 2324 h 38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251" h="38450">
                    <a:moveTo>
                      <a:pt x="44514" y="2324"/>
                    </a:moveTo>
                    <a:cubicBezTo>
                      <a:pt x="59659" y="2514"/>
                      <a:pt x="75184" y="1943"/>
                      <a:pt x="84043" y="1467"/>
                    </a:cubicBezTo>
                    <a:cubicBezTo>
                      <a:pt x="87757" y="1276"/>
                      <a:pt x="90329" y="5181"/>
                      <a:pt x="88805" y="8515"/>
                    </a:cubicBezTo>
                    <a:cubicBezTo>
                      <a:pt x="83947" y="19183"/>
                      <a:pt x="71755" y="37566"/>
                      <a:pt x="45847" y="38424"/>
                    </a:cubicBezTo>
                    <a:cubicBezTo>
                      <a:pt x="20130" y="39281"/>
                      <a:pt x="6414" y="19183"/>
                      <a:pt x="508" y="7182"/>
                    </a:cubicBezTo>
                    <a:cubicBezTo>
                      <a:pt x="-1206" y="3657"/>
                      <a:pt x="1651" y="-438"/>
                      <a:pt x="5557" y="38"/>
                    </a:cubicBezTo>
                    <a:cubicBezTo>
                      <a:pt x="14891" y="1181"/>
                      <a:pt x="29845" y="2133"/>
                      <a:pt x="44514" y="2324"/>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28" name="Freeform: Shape 427">
                <a:extLst>
                  <a:ext uri="{FF2B5EF4-FFF2-40B4-BE49-F238E27FC236}">
                    <a16:creationId xmlns:a16="http://schemas.microsoft.com/office/drawing/2014/main" id="{1691CA8B-EE53-4921-8446-B21BEC895425}"/>
                  </a:ext>
                </a:extLst>
              </p:cNvPr>
              <p:cNvSpPr/>
              <p:nvPr/>
            </p:nvSpPr>
            <p:spPr>
              <a:xfrm flipH="1">
                <a:off x="7403754" y="2952249"/>
                <a:ext cx="11332" cy="22745"/>
              </a:xfrm>
              <a:custGeom>
                <a:avLst/>
                <a:gdLst>
                  <a:gd name="connsiteX0" fmla="*/ 25797 w 53293"/>
                  <a:gd name="connsiteY0" fmla="*/ 106966 h 106965"/>
                  <a:gd name="connsiteX1" fmla="*/ 20844 w 53293"/>
                  <a:gd name="connsiteY1" fmla="*/ 104966 h 106965"/>
                  <a:gd name="connsiteX2" fmla="*/ 1604 w 53293"/>
                  <a:gd name="connsiteY2" fmla="*/ 59912 h 106965"/>
                  <a:gd name="connsiteX3" fmla="*/ 30369 w 53293"/>
                  <a:gd name="connsiteY3" fmla="*/ 37433 h 106965"/>
                  <a:gd name="connsiteX4" fmla="*/ 36941 w 53293"/>
                  <a:gd name="connsiteY4" fmla="*/ 34195 h 106965"/>
                  <a:gd name="connsiteX5" fmla="*/ 39227 w 53293"/>
                  <a:gd name="connsiteY5" fmla="*/ 7144 h 106965"/>
                  <a:gd name="connsiteX6" fmla="*/ 46085 w 53293"/>
                  <a:gd name="connsiteY6" fmla="*/ 0 h 106965"/>
                  <a:gd name="connsiteX7" fmla="*/ 53229 w 53293"/>
                  <a:gd name="connsiteY7" fmla="*/ 6858 h 106965"/>
                  <a:gd name="connsiteX8" fmla="*/ 44942 w 53293"/>
                  <a:gd name="connsiteY8" fmla="*/ 45720 h 106965"/>
                  <a:gd name="connsiteX9" fmla="*/ 36084 w 53293"/>
                  <a:gd name="connsiteY9" fmla="*/ 50197 h 106965"/>
                  <a:gd name="connsiteX10" fmla="*/ 14272 w 53293"/>
                  <a:gd name="connsiteY10" fmla="*/ 65723 h 106965"/>
                  <a:gd name="connsiteX11" fmla="*/ 30655 w 53293"/>
                  <a:gd name="connsiteY11" fmla="*/ 95060 h 106965"/>
                  <a:gd name="connsiteX12" fmla="*/ 30655 w 53293"/>
                  <a:gd name="connsiteY12" fmla="*/ 104966 h 106965"/>
                  <a:gd name="connsiteX13" fmla="*/ 25702 w 53293"/>
                  <a:gd name="connsiteY13" fmla="*/ 106966 h 106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3293" h="106965">
                    <a:moveTo>
                      <a:pt x="25797" y="106966"/>
                    </a:moveTo>
                    <a:cubicBezTo>
                      <a:pt x="23987" y="106966"/>
                      <a:pt x="22178" y="106299"/>
                      <a:pt x="20844" y="104966"/>
                    </a:cubicBezTo>
                    <a:cubicBezTo>
                      <a:pt x="16272" y="100394"/>
                      <a:pt x="-6112" y="76772"/>
                      <a:pt x="1604" y="59912"/>
                    </a:cubicBezTo>
                    <a:cubicBezTo>
                      <a:pt x="7128" y="47911"/>
                      <a:pt x="21130" y="41624"/>
                      <a:pt x="30369" y="37433"/>
                    </a:cubicBezTo>
                    <a:cubicBezTo>
                      <a:pt x="33036" y="36195"/>
                      <a:pt x="35798" y="34957"/>
                      <a:pt x="36941" y="34195"/>
                    </a:cubicBezTo>
                    <a:cubicBezTo>
                      <a:pt x="38180" y="32099"/>
                      <a:pt x="39608" y="19241"/>
                      <a:pt x="39227" y="7144"/>
                    </a:cubicBezTo>
                    <a:cubicBezTo>
                      <a:pt x="39132" y="3239"/>
                      <a:pt x="42180" y="95"/>
                      <a:pt x="46085" y="0"/>
                    </a:cubicBezTo>
                    <a:cubicBezTo>
                      <a:pt x="49895" y="0"/>
                      <a:pt x="53134" y="2953"/>
                      <a:pt x="53229" y="6858"/>
                    </a:cubicBezTo>
                    <a:cubicBezTo>
                      <a:pt x="53610" y="21717"/>
                      <a:pt x="52467" y="40481"/>
                      <a:pt x="44942" y="45720"/>
                    </a:cubicBezTo>
                    <a:cubicBezTo>
                      <a:pt x="42752" y="47244"/>
                      <a:pt x="39799" y="48578"/>
                      <a:pt x="36084" y="50197"/>
                    </a:cubicBezTo>
                    <a:cubicBezTo>
                      <a:pt x="28274" y="53721"/>
                      <a:pt x="17606" y="58484"/>
                      <a:pt x="14272" y="65723"/>
                    </a:cubicBezTo>
                    <a:cubicBezTo>
                      <a:pt x="11605" y="71438"/>
                      <a:pt x="22273" y="86678"/>
                      <a:pt x="30655" y="95060"/>
                    </a:cubicBezTo>
                    <a:cubicBezTo>
                      <a:pt x="33417" y="97822"/>
                      <a:pt x="33417" y="102203"/>
                      <a:pt x="30655" y="104966"/>
                    </a:cubicBezTo>
                    <a:cubicBezTo>
                      <a:pt x="29321" y="106299"/>
                      <a:pt x="27512" y="106966"/>
                      <a:pt x="25702" y="106966"/>
                    </a:cubicBezTo>
                    <a:close/>
                  </a:path>
                </a:pathLst>
              </a:custGeom>
              <a:solidFill>
                <a:srgbClr val="F47C73"/>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29" name="Freeform: Shape 428">
                <a:extLst>
                  <a:ext uri="{FF2B5EF4-FFF2-40B4-BE49-F238E27FC236}">
                    <a16:creationId xmlns:a16="http://schemas.microsoft.com/office/drawing/2014/main" id="{4122F4AB-DC71-43C7-B07A-5971C7B9D2FF}"/>
                  </a:ext>
                </a:extLst>
              </p:cNvPr>
              <p:cNvSpPr/>
              <p:nvPr/>
            </p:nvSpPr>
            <p:spPr>
              <a:xfrm flipH="1">
                <a:off x="7378331" y="2964161"/>
                <a:ext cx="15489" cy="15489"/>
              </a:xfrm>
              <a:custGeom>
                <a:avLst/>
                <a:gdLst>
                  <a:gd name="connsiteX0" fmla="*/ 82 w 72840"/>
                  <a:gd name="connsiteY0" fmla="*/ 38944 h 72840"/>
                  <a:gd name="connsiteX1" fmla="*/ 38944 w 72840"/>
                  <a:gd name="connsiteY1" fmla="*/ 72758 h 72840"/>
                  <a:gd name="connsiteX2" fmla="*/ 72758 w 72840"/>
                  <a:gd name="connsiteY2" fmla="*/ 33896 h 72840"/>
                  <a:gd name="connsiteX3" fmla="*/ 33896 w 72840"/>
                  <a:gd name="connsiteY3" fmla="*/ 82 h 72840"/>
                  <a:gd name="connsiteX4" fmla="*/ 82 w 72840"/>
                  <a:gd name="connsiteY4" fmla="*/ 38944 h 72840"/>
                  <a:gd name="connsiteX5" fmla="*/ 82 w 72840"/>
                  <a:gd name="connsiteY5" fmla="*/ 38944 h 7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840" h="72840">
                    <a:moveTo>
                      <a:pt x="82" y="38944"/>
                    </a:moveTo>
                    <a:cubicBezTo>
                      <a:pt x="1511" y="59042"/>
                      <a:pt x="18846" y="74091"/>
                      <a:pt x="38944" y="72758"/>
                    </a:cubicBezTo>
                    <a:cubicBezTo>
                      <a:pt x="59042" y="71329"/>
                      <a:pt x="74091" y="53994"/>
                      <a:pt x="72758" y="33896"/>
                    </a:cubicBezTo>
                    <a:cubicBezTo>
                      <a:pt x="71329" y="13798"/>
                      <a:pt x="53994" y="-1251"/>
                      <a:pt x="33896" y="82"/>
                    </a:cubicBezTo>
                    <a:cubicBezTo>
                      <a:pt x="13798" y="1511"/>
                      <a:pt x="-1251" y="18846"/>
                      <a:pt x="82" y="38944"/>
                    </a:cubicBezTo>
                    <a:lnTo>
                      <a:pt x="82" y="38944"/>
                    </a:lnTo>
                    <a:close/>
                  </a:path>
                </a:pathLst>
              </a:custGeom>
              <a:solidFill>
                <a:srgbClr val="F47C73"/>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30" name="Freeform: Shape 429">
                <a:extLst>
                  <a:ext uri="{FF2B5EF4-FFF2-40B4-BE49-F238E27FC236}">
                    <a16:creationId xmlns:a16="http://schemas.microsoft.com/office/drawing/2014/main" id="{39596DF2-6451-46CF-A0E3-90C01CB7903B}"/>
                  </a:ext>
                </a:extLst>
              </p:cNvPr>
              <p:cNvSpPr/>
              <p:nvPr/>
            </p:nvSpPr>
            <p:spPr>
              <a:xfrm flipH="1">
                <a:off x="7416468" y="2966143"/>
                <a:ext cx="3583" cy="12274"/>
              </a:xfrm>
              <a:custGeom>
                <a:avLst/>
                <a:gdLst>
                  <a:gd name="connsiteX0" fmla="*/ 16764 w 16852"/>
                  <a:gd name="connsiteY0" fmla="*/ 24575 h 57721"/>
                  <a:gd name="connsiteX1" fmla="*/ 4763 w 16852"/>
                  <a:gd name="connsiteY1" fmla="*/ 0 h 57721"/>
                  <a:gd name="connsiteX2" fmla="*/ 0 w 16852"/>
                  <a:gd name="connsiteY2" fmla="*/ 57722 h 57721"/>
                  <a:gd name="connsiteX3" fmla="*/ 16764 w 16852"/>
                  <a:gd name="connsiteY3" fmla="*/ 24479 h 57721"/>
                </a:gdLst>
                <a:ahLst/>
                <a:cxnLst>
                  <a:cxn ang="0">
                    <a:pos x="connsiteX0" y="connsiteY0"/>
                  </a:cxn>
                  <a:cxn ang="0">
                    <a:pos x="connsiteX1" y="connsiteY1"/>
                  </a:cxn>
                  <a:cxn ang="0">
                    <a:pos x="connsiteX2" y="connsiteY2"/>
                  </a:cxn>
                  <a:cxn ang="0">
                    <a:pos x="connsiteX3" y="connsiteY3"/>
                  </a:cxn>
                </a:cxnLst>
                <a:rect l="l" t="t" r="r" b="b"/>
                <a:pathLst>
                  <a:path w="16852" h="57721">
                    <a:moveTo>
                      <a:pt x="16764" y="24575"/>
                    </a:moveTo>
                    <a:cubicBezTo>
                      <a:pt x="16097" y="14764"/>
                      <a:pt x="11525" y="6096"/>
                      <a:pt x="4763" y="0"/>
                    </a:cubicBezTo>
                    <a:cubicBezTo>
                      <a:pt x="2381" y="20003"/>
                      <a:pt x="572" y="39433"/>
                      <a:pt x="0" y="57722"/>
                    </a:cubicBezTo>
                    <a:cubicBezTo>
                      <a:pt x="10858" y="50768"/>
                      <a:pt x="17717" y="38291"/>
                      <a:pt x="16764" y="24479"/>
                    </a:cubicBezTo>
                    <a:close/>
                  </a:path>
                </a:pathLst>
              </a:custGeom>
              <a:solidFill>
                <a:srgbClr val="F47C73"/>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31" name="Freeform: Shape 430">
                <a:extLst>
                  <a:ext uri="{FF2B5EF4-FFF2-40B4-BE49-F238E27FC236}">
                    <a16:creationId xmlns:a16="http://schemas.microsoft.com/office/drawing/2014/main" id="{99B00645-C530-4A67-92F4-D5DDDEFFFA10}"/>
                  </a:ext>
                </a:extLst>
              </p:cNvPr>
              <p:cNvSpPr/>
              <p:nvPr/>
            </p:nvSpPr>
            <p:spPr>
              <a:xfrm flipH="1">
                <a:off x="7387222" y="2955035"/>
                <a:ext cx="3392" cy="5804"/>
              </a:xfrm>
              <a:custGeom>
                <a:avLst/>
                <a:gdLst>
                  <a:gd name="connsiteX0" fmla="*/ 57 w 15953"/>
                  <a:gd name="connsiteY0" fmla="*/ 16046 h 27296"/>
                  <a:gd name="connsiteX1" fmla="*/ 247 w 15953"/>
                  <a:gd name="connsiteY1" fmla="*/ 12712 h 27296"/>
                  <a:gd name="connsiteX2" fmla="*/ 7486 w 15953"/>
                  <a:gd name="connsiteY2" fmla="*/ 44 h 27296"/>
                  <a:gd name="connsiteX3" fmla="*/ 15773 w 15953"/>
                  <a:gd name="connsiteY3" fmla="*/ 6711 h 27296"/>
                  <a:gd name="connsiteX4" fmla="*/ 15773 w 15953"/>
                  <a:gd name="connsiteY4" fmla="*/ 17856 h 27296"/>
                  <a:gd name="connsiteX5" fmla="*/ 12439 w 15953"/>
                  <a:gd name="connsiteY5" fmla="*/ 25761 h 27296"/>
                  <a:gd name="connsiteX6" fmla="*/ 247 w 15953"/>
                  <a:gd name="connsiteY6" fmla="*/ 20808 h 27296"/>
                  <a:gd name="connsiteX7" fmla="*/ 57 w 15953"/>
                  <a:gd name="connsiteY7" fmla="*/ 15951 h 2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53" h="27296">
                    <a:moveTo>
                      <a:pt x="57" y="16046"/>
                    </a:moveTo>
                    <a:cubicBezTo>
                      <a:pt x="57" y="14903"/>
                      <a:pt x="247" y="13855"/>
                      <a:pt x="247" y="12712"/>
                    </a:cubicBezTo>
                    <a:cubicBezTo>
                      <a:pt x="533" y="6902"/>
                      <a:pt x="57" y="615"/>
                      <a:pt x="7486" y="44"/>
                    </a:cubicBezTo>
                    <a:cubicBezTo>
                      <a:pt x="12249" y="-337"/>
                      <a:pt x="15392" y="1758"/>
                      <a:pt x="15773" y="6711"/>
                    </a:cubicBezTo>
                    <a:cubicBezTo>
                      <a:pt x="16059" y="10426"/>
                      <a:pt x="15964" y="14141"/>
                      <a:pt x="15773" y="17856"/>
                    </a:cubicBezTo>
                    <a:cubicBezTo>
                      <a:pt x="15583" y="21189"/>
                      <a:pt x="15202" y="23666"/>
                      <a:pt x="12439" y="25761"/>
                    </a:cubicBezTo>
                    <a:cubicBezTo>
                      <a:pt x="7867" y="29381"/>
                      <a:pt x="1390" y="26142"/>
                      <a:pt x="247" y="20808"/>
                    </a:cubicBezTo>
                    <a:cubicBezTo>
                      <a:pt x="-38" y="19189"/>
                      <a:pt x="-38" y="17570"/>
                      <a:pt x="57" y="15951"/>
                    </a:cubicBezTo>
                    <a:close/>
                  </a:path>
                </a:pathLst>
              </a:custGeom>
              <a:solidFill>
                <a:srgbClr val="1D2333"/>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32" name="Freeform: Shape 431">
                <a:extLst>
                  <a:ext uri="{FF2B5EF4-FFF2-40B4-BE49-F238E27FC236}">
                    <a16:creationId xmlns:a16="http://schemas.microsoft.com/office/drawing/2014/main" id="{5C375E52-D66B-47B0-81FE-D8F0B75A106D}"/>
                  </a:ext>
                </a:extLst>
              </p:cNvPr>
              <p:cNvSpPr/>
              <p:nvPr/>
            </p:nvSpPr>
            <p:spPr>
              <a:xfrm flipH="1">
                <a:off x="7412580" y="2954407"/>
                <a:ext cx="3392" cy="5804"/>
              </a:xfrm>
              <a:custGeom>
                <a:avLst/>
                <a:gdLst>
                  <a:gd name="connsiteX0" fmla="*/ 57 w 15953"/>
                  <a:gd name="connsiteY0" fmla="*/ 16046 h 27296"/>
                  <a:gd name="connsiteX1" fmla="*/ 247 w 15953"/>
                  <a:gd name="connsiteY1" fmla="*/ 12712 h 27296"/>
                  <a:gd name="connsiteX2" fmla="*/ 7486 w 15953"/>
                  <a:gd name="connsiteY2" fmla="*/ 44 h 27296"/>
                  <a:gd name="connsiteX3" fmla="*/ 15773 w 15953"/>
                  <a:gd name="connsiteY3" fmla="*/ 6711 h 27296"/>
                  <a:gd name="connsiteX4" fmla="*/ 15773 w 15953"/>
                  <a:gd name="connsiteY4" fmla="*/ 17856 h 27296"/>
                  <a:gd name="connsiteX5" fmla="*/ 12439 w 15953"/>
                  <a:gd name="connsiteY5" fmla="*/ 25761 h 27296"/>
                  <a:gd name="connsiteX6" fmla="*/ 247 w 15953"/>
                  <a:gd name="connsiteY6" fmla="*/ 20808 h 27296"/>
                  <a:gd name="connsiteX7" fmla="*/ 57 w 15953"/>
                  <a:gd name="connsiteY7" fmla="*/ 15951 h 2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53" h="27296">
                    <a:moveTo>
                      <a:pt x="57" y="16046"/>
                    </a:moveTo>
                    <a:cubicBezTo>
                      <a:pt x="57" y="14903"/>
                      <a:pt x="247" y="13855"/>
                      <a:pt x="247" y="12712"/>
                    </a:cubicBezTo>
                    <a:cubicBezTo>
                      <a:pt x="533" y="6902"/>
                      <a:pt x="57" y="615"/>
                      <a:pt x="7486" y="44"/>
                    </a:cubicBezTo>
                    <a:cubicBezTo>
                      <a:pt x="12249" y="-337"/>
                      <a:pt x="15392" y="1758"/>
                      <a:pt x="15773" y="6711"/>
                    </a:cubicBezTo>
                    <a:cubicBezTo>
                      <a:pt x="16059" y="10426"/>
                      <a:pt x="15964" y="14141"/>
                      <a:pt x="15773" y="17856"/>
                    </a:cubicBezTo>
                    <a:cubicBezTo>
                      <a:pt x="15583" y="21189"/>
                      <a:pt x="15202" y="23666"/>
                      <a:pt x="12439" y="25761"/>
                    </a:cubicBezTo>
                    <a:cubicBezTo>
                      <a:pt x="7867" y="29381"/>
                      <a:pt x="1390" y="26142"/>
                      <a:pt x="247" y="20808"/>
                    </a:cubicBezTo>
                    <a:cubicBezTo>
                      <a:pt x="-38" y="19189"/>
                      <a:pt x="-38" y="17570"/>
                      <a:pt x="57" y="15951"/>
                    </a:cubicBezTo>
                    <a:close/>
                  </a:path>
                </a:pathLst>
              </a:custGeom>
              <a:solidFill>
                <a:srgbClr val="1D2333"/>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grpSp>
            <p:nvGrpSpPr>
              <p:cNvPr id="433" name="Graphic 597">
                <a:extLst>
                  <a:ext uri="{FF2B5EF4-FFF2-40B4-BE49-F238E27FC236}">
                    <a16:creationId xmlns:a16="http://schemas.microsoft.com/office/drawing/2014/main" id="{B136864C-99AF-4154-A140-C740633536BF}"/>
                  </a:ext>
                </a:extLst>
              </p:cNvPr>
              <p:cNvGrpSpPr/>
              <p:nvPr/>
            </p:nvGrpSpPr>
            <p:grpSpPr>
              <a:xfrm flipH="1">
                <a:off x="7346101" y="2955200"/>
                <a:ext cx="25873" cy="24135"/>
                <a:chOff x="6641564" y="2781842"/>
                <a:chExt cx="121675" cy="113502"/>
              </a:xfrm>
            </p:grpSpPr>
            <p:sp>
              <p:nvSpPr>
                <p:cNvPr id="434" name="Freeform: Shape 433">
                  <a:extLst>
                    <a:ext uri="{FF2B5EF4-FFF2-40B4-BE49-F238E27FC236}">
                      <a16:creationId xmlns:a16="http://schemas.microsoft.com/office/drawing/2014/main" id="{54D11C6F-812F-4106-A2D9-B0F8D11D3514}"/>
                    </a:ext>
                  </a:extLst>
                </p:cNvPr>
                <p:cNvSpPr/>
                <p:nvPr/>
              </p:nvSpPr>
              <p:spPr>
                <a:xfrm>
                  <a:off x="6641564" y="2781842"/>
                  <a:ext cx="121675" cy="113502"/>
                </a:xfrm>
                <a:custGeom>
                  <a:avLst/>
                  <a:gdLst>
                    <a:gd name="connsiteX0" fmla="*/ 27650 w 121675"/>
                    <a:gd name="connsiteY0" fmla="*/ 28604 h 113502"/>
                    <a:gd name="connsiteX1" fmla="*/ 99468 w 121675"/>
                    <a:gd name="connsiteY1" fmla="*/ 7744 h 113502"/>
                    <a:gd name="connsiteX2" fmla="*/ 48700 w 121675"/>
                    <a:gd name="connsiteY2" fmla="*/ 111185 h 113502"/>
                    <a:gd name="connsiteX3" fmla="*/ 27650 w 121675"/>
                    <a:gd name="connsiteY3" fmla="*/ 28604 h 113502"/>
                  </a:gdLst>
                  <a:ahLst/>
                  <a:cxnLst>
                    <a:cxn ang="0">
                      <a:pos x="connsiteX0" y="connsiteY0"/>
                    </a:cxn>
                    <a:cxn ang="0">
                      <a:pos x="connsiteX1" y="connsiteY1"/>
                    </a:cxn>
                    <a:cxn ang="0">
                      <a:pos x="connsiteX2" y="connsiteY2"/>
                    </a:cxn>
                    <a:cxn ang="0">
                      <a:pos x="connsiteX3" y="connsiteY3"/>
                    </a:cxn>
                  </a:cxnLst>
                  <a:rect l="l" t="t" r="r" b="b"/>
                  <a:pathLst>
                    <a:path w="121675" h="113502">
                      <a:moveTo>
                        <a:pt x="27650" y="28604"/>
                      </a:moveTo>
                      <a:cubicBezTo>
                        <a:pt x="27650" y="28604"/>
                        <a:pt x="70703" y="-17974"/>
                        <a:pt x="99468" y="7744"/>
                      </a:cubicBezTo>
                      <a:cubicBezTo>
                        <a:pt x="128234" y="33461"/>
                        <a:pt x="144331" y="92421"/>
                        <a:pt x="48700" y="111185"/>
                      </a:cubicBezTo>
                      <a:cubicBezTo>
                        <a:pt x="-46836" y="129950"/>
                        <a:pt x="27650" y="28604"/>
                        <a:pt x="27650" y="28604"/>
                      </a:cubicBezTo>
                      <a:close/>
                    </a:path>
                  </a:pathLst>
                </a:custGeom>
                <a:solidFill>
                  <a:srgbClr val="FFBEB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36" name="Freeform: Shape 435">
                  <a:extLst>
                    <a:ext uri="{FF2B5EF4-FFF2-40B4-BE49-F238E27FC236}">
                      <a16:creationId xmlns:a16="http://schemas.microsoft.com/office/drawing/2014/main" id="{EAE8FAB3-B824-415C-969F-1AF0EF2F81B5}"/>
                    </a:ext>
                  </a:extLst>
                </p:cNvPr>
                <p:cNvSpPr/>
                <p:nvPr/>
              </p:nvSpPr>
              <p:spPr>
                <a:xfrm>
                  <a:off x="6678417" y="2805372"/>
                  <a:ext cx="62296" cy="57171"/>
                </a:xfrm>
                <a:custGeom>
                  <a:avLst/>
                  <a:gdLst>
                    <a:gd name="connsiteX0" fmla="*/ 14990 w 62296"/>
                    <a:gd name="connsiteY0" fmla="*/ 14980 h 57171"/>
                    <a:gd name="connsiteX1" fmla="*/ 50328 w 62296"/>
                    <a:gd name="connsiteY1" fmla="*/ 4693 h 57171"/>
                    <a:gd name="connsiteX2" fmla="*/ 30802 w 62296"/>
                    <a:gd name="connsiteY2" fmla="*/ 54318 h 57171"/>
                    <a:gd name="connsiteX3" fmla="*/ 14990 w 62296"/>
                    <a:gd name="connsiteY3" fmla="*/ 14980 h 57171"/>
                  </a:gdLst>
                  <a:ahLst/>
                  <a:cxnLst>
                    <a:cxn ang="0">
                      <a:pos x="connsiteX0" y="connsiteY0"/>
                    </a:cxn>
                    <a:cxn ang="0">
                      <a:pos x="connsiteX1" y="connsiteY1"/>
                    </a:cxn>
                    <a:cxn ang="0">
                      <a:pos x="connsiteX2" y="connsiteY2"/>
                    </a:cxn>
                    <a:cxn ang="0">
                      <a:pos x="connsiteX3" y="connsiteY3"/>
                    </a:cxn>
                  </a:cxnLst>
                  <a:rect l="l" t="t" r="r" b="b"/>
                  <a:pathLst>
                    <a:path w="62296" h="57171">
                      <a:moveTo>
                        <a:pt x="14990" y="14980"/>
                      </a:moveTo>
                      <a:cubicBezTo>
                        <a:pt x="20991" y="8026"/>
                        <a:pt x="36136" y="-7880"/>
                        <a:pt x="50328" y="4693"/>
                      </a:cubicBezTo>
                      <a:cubicBezTo>
                        <a:pt x="64425" y="17361"/>
                        <a:pt x="74236" y="42031"/>
                        <a:pt x="30802" y="54318"/>
                      </a:cubicBezTo>
                      <a:cubicBezTo>
                        <a:pt x="-15299" y="67367"/>
                        <a:pt x="36" y="32410"/>
                        <a:pt x="14990" y="14980"/>
                      </a:cubicBezTo>
                      <a:close/>
                    </a:path>
                  </a:pathLst>
                </a:custGeom>
                <a:solidFill>
                  <a:srgbClr val="F47C73"/>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grpSp>
        </p:grpSp>
        <p:sp>
          <p:nvSpPr>
            <p:cNvPr id="407" name="TextBox 406">
              <a:extLst>
                <a:ext uri="{FF2B5EF4-FFF2-40B4-BE49-F238E27FC236}">
                  <a16:creationId xmlns:a16="http://schemas.microsoft.com/office/drawing/2014/main" id="{B728C074-DE01-4E4D-ABE7-0A0D8B3D393A}"/>
                </a:ext>
              </a:extLst>
            </p:cNvPr>
            <p:cNvSpPr txBox="1"/>
            <p:nvPr/>
          </p:nvSpPr>
          <p:spPr>
            <a:xfrm>
              <a:off x="7141921" y="3879575"/>
              <a:ext cx="396000" cy="123111"/>
            </a:xfrm>
            <a:prstGeom prst="rect">
              <a:avLst/>
            </a:prstGeom>
            <a:noFill/>
          </p:spPr>
          <p:txBody>
            <a:bodyPr vert="horz" wrap="square" lIns="0" tIns="0" rIns="0" bIns="0" anchor="b" anchorCtr="0">
              <a:spAutoFit/>
            </a:bodyPr>
            <a:lstStyle/>
            <a:p>
              <a:pPr marL="0" marR="0" lvl="0" indent="0" algn="l" defTabSz="554492" rtl="0" eaLnBrk="1" fontAlgn="auto" latinLnBrk="0" hangingPunct="1">
                <a:lnSpc>
                  <a:spcPct val="100000"/>
                </a:lnSpc>
                <a:spcBef>
                  <a:spcPts val="0"/>
                </a:spcBef>
                <a:spcAft>
                  <a:spcPts val="0"/>
                </a:spcAft>
                <a:buClr>
                  <a:srgbClr val="9B1C23"/>
                </a:buClr>
                <a:buSzTx/>
                <a:buFont typeface="Trebuchet MS" panose="020B0603020202020204" pitchFamily="34" charset="0"/>
                <a:buChar char="​"/>
                <a:tabLst/>
                <a:defRPr/>
              </a:pPr>
              <a:r>
                <a:rPr kumimoji="0" lang="en-US" sz="800" b="1" i="0" u="none" strike="noStrike" kern="1200" cap="none" spc="0" normalizeH="0" baseline="0" noProof="0">
                  <a:ln>
                    <a:noFill/>
                  </a:ln>
                  <a:solidFill>
                    <a:schemeClr val="tx2"/>
                  </a:solidFill>
                  <a:effectLst/>
                  <a:uLnTx/>
                  <a:uFillTx/>
                  <a:latin typeface="Arial Nova" panose="020B0504020202020204" pitchFamily="34" charset="0"/>
                  <a:ea typeface="+mn-ea"/>
                  <a:cs typeface="Proxima Nova Semibold"/>
                </a:rPr>
                <a:t>Jeremy</a:t>
              </a:r>
              <a:endParaRPr kumimoji="0" lang="en-US" sz="800" b="1" i="0" u="none" strike="noStrike" kern="1200" cap="none" spc="0" normalizeH="0" baseline="0" noProof="0">
                <a:ln>
                  <a:noFill/>
                </a:ln>
                <a:solidFill>
                  <a:schemeClr val="tx2"/>
                </a:solidFill>
                <a:effectLst/>
                <a:uLnTx/>
                <a:uFillTx/>
                <a:latin typeface="Arial Nova" panose="020B0504020202020204" pitchFamily="34" charset="0"/>
                <a:ea typeface="+mn-ea"/>
                <a:cs typeface="+mn-cs"/>
              </a:endParaRPr>
            </a:p>
          </p:txBody>
        </p:sp>
      </p:grpSp>
      <p:grpSp>
        <p:nvGrpSpPr>
          <p:cNvPr id="437" name="Group 436">
            <a:extLst>
              <a:ext uri="{FF2B5EF4-FFF2-40B4-BE49-F238E27FC236}">
                <a16:creationId xmlns:a16="http://schemas.microsoft.com/office/drawing/2014/main" id="{8AA6E8B1-91B8-4842-93CF-20B9CA147EAB}"/>
              </a:ext>
            </a:extLst>
          </p:cNvPr>
          <p:cNvGrpSpPr/>
          <p:nvPr/>
        </p:nvGrpSpPr>
        <p:grpSpPr>
          <a:xfrm>
            <a:off x="7675277" y="3452861"/>
            <a:ext cx="1277534" cy="283531"/>
            <a:chOff x="7675277" y="3525326"/>
            <a:chExt cx="1277534" cy="283531"/>
          </a:xfrm>
        </p:grpSpPr>
        <p:sp>
          <p:nvSpPr>
            <p:cNvPr id="438" name="object 66">
              <a:extLst>
                <a:ext uri="{FF2B5EF4-FFF2-40B4-BE49-F238E27FC236}">
                  <a16:creationId xmlns:a16="http://schemas.microsoft.com/office/drawing/2014/main" id="{316BA268-4AA4-477E-A9DD-C19BE0B9D1E7}"/>
                </a:ext>
              </a:extLst>
            </p:cNvPr>
            <p:cNvSpPr txBox="1"/>
            <p:nvPr/>
          </p:nvSpPr>
          <p:spPr>
            <a:xfrm>
              <a:off x="8484811" y="3525326"/>
              <a:ext cx="468000" cy="283531"/>
            </a:xfrm>
            <a:prstGeom prst="rect">
              <a:avLst/>
            </a:prstGeom>
          </p:spPr>
          <p:txBody>
            <a:bodyPr vert="horz" wrap="square" lIns="0" tIns="6469" rIns="0" bIns="0" rtlCol="0">
              <a:spAutoFit/>
            </a:bodyPr>
            <a:lstStyle/>
            <a:p>
              <a:pPr marL="0" marR="0" lvl="0" indent="0" algn="l" defTabSz="914400" rtl="0" eaLnBrk="1" fontAlgn="auto" latinLnBrk="0" hangingPunct="1">
                <a:lnSpc>
                  <a:spcPct val="100000"/>
                </a:lnSpc>
                <a:spcBef>
                  <a:spcPts val="0"/>
                </a:spcBef>
                <a:spcAft>
                  <a:spcPts val="0"/>
                </a:spcAft>
                <a:buClr>
                  <a:srgbClr val="9B1C23"/>
                </a:buClr>
                <a:buSzPct val="100000"/>
                <a:buFont typeface="Trebuchet MS" panose="020B0603020202020204" pitchFamily="34" charset="0"/>
                <a:buChar char="​"/>
                <a:tabLst/>
                <a:defRPr/>
              </a:pPr>
              <a:r>
                <a:rPr kumimoji="0" lang="en-US" sz="600" b="1" i="0" u="none" strike="noStrike" kern="1200" cap="none" spc="0" normalizeH="0" baseline="0" noProof="0">
                  <a:ln>
                    <a:noFill/>
                  </a:ln>
                  <a:solidFill>
                    <a:srgbClr val="000000"/>
                  </a:solidFill>
                  <a:effectLst/>
                  <a:uLnTx/>
                  <a:uFillTx/>
                  <a:latin typeface="Arial Nova"/>
                  <a:ea typeface="+mn-ea"/>
                  <a:cs typeface="+mn-cs"/>
                  <a:sym typeface="+mn-lt"/>
                </a:rPr>
                <a:t>$$ XX, </a:t>
              </a:r>
              <a:br>
                <a:rPr kumimoji="0" lang="en-US" sz="600" b="1" i="0" u="none" strike="noStrike" kern="1200" cap="none" spc="0" normalizeH="0" baseline="0" noProof="0">
                  <a:ln>
                    <a:noFill/>
                  </a:ln>
                  <a:solidFill>
                    <a:srgbClr val="000000"/>
                  </a:solidFill>
                  <a:effectLst/>
                  <a:uLnTx/>
                  <a:uFillTx/>
                  <a:latin typeface="Arial Nova"/>
                  <a:ea typeface="+mn-ea"/>
                  <a:cs typeface="+mn-cs"/>
                  <a:sym typeface="+mn-lt"/>
                </a:rPr>
              </a:br>
              <a:r>
                <a:rPr kumimoji="0" lang="en-US" sz="600" b="1" i="0" u="none" strike="noStrike" kern="1200" cap="none" spc="0" normalizeH="0" baseline="0" noProof="0">
                  <a:ln>
                    <a:noFill/>
                  </a:ln>
                  <a:solidFill>
                    <a:srgbClr val="000000"/>
                  </a:solidFill>
                  <a:effectLst/>
                  <a:uLnTx/>
                  <a:uFillTx/>
                  <a:latin typeface="Arial Nova"/>
                  <a:ea typeface="+mn-ea"/>
                  <a:cs typeface="+mn-cs"/>
                  <a:sym typeface="+mn-lt"/>
                </a:rPr>
                <a:t>Visa Signature</a:t>
              </a:r>
            </a:p>
          </p:txBody>
        </p:sp>
        <p:sp>
          <p:nvSpPr>
            <p:cNvPr id="439" name="object 67">
              <a:extLst>
                <a:ext uri="{FF2B5EF4-FFF2-40B4-BE49-F238E27FC236}">
                  <a16:creationId xmlns:a16="http://schemas.microsoft.com/office/drawing/2014/main" id="{1EEDCC06-FB1C-4500-99DB-06FA39A4E8A6}"/>
                </a:ext>
              </a:extLst>
            </p:cNvPr>
            <p:cNvSpPr txBox="1"/>
            <p:nvPr/>
          </p:nvSpPr>
          <p:spPr>
            <a:xfrm>
              <a:off x="7675277" y="3551718"/>
              <a:ext cx="288000" cy="104464"/>
            </a:xfrm>
            <a:prstGeom prst="rect">
              <a:avLst/>
            </a:prstGeom>
          </p:spPr>
          <p:txBody>
            <a:bodyPr vert="horz" wrap="square" lIns="0" tIns="12014" rIns="0" bIns="0" rtlCol="0">
              <a:spAutoFit/>
            </a:bodyPr>
            <a:lstStyle/>
            <a:p>
              <a:pPr marL="0" marR="0" lvl="0" indent="0" algn="l" defTabSz="554492" rtl="0" eaLnBrk="1" fontAlgn="auto" latinLnBrk="0" hangingPunct="1">
                <a:lnSpc>
                  <a:spcPct val="100000"/>
                </a:lnSpc>
                <a:spcBef>
                  <a:spcPts val="0"/>
                </a:spcBef>
                <a:spcAft>
                  <a:spcPts val="0"/>
                </a:spcAft>
                <a:buClr>
                  <a:srgbClr val="9B1C23"/>
                </a:buClr>
                <a:buSzTx/>
                <a:buFont typeface="Trebuchet MS" panose="020B0603020202020204" pitchFamily="34" charset="0"/>
                <a:buChar char="​"/>
                <a:tabLst>
                  <a:tab pos="417024" algn="l"/>
                </a:tabLst>
                <a:defRPr/>
              </a:pPr>
              <a:r>
                <a:rPr kumimoji="0"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CLV	</a:t>
              </a:r>
              <a:endParaRPr kumimoji="0"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endParaRPr>
            </a:p>
          </p:txBody>
        </p:sp>
        <p:sp>
          <p:nvSpPr>
            <p:cNvPr id="440" name="object 67">
              <a:extLst>
                <a:ext uri="{FF2B5EF4-FFF2-40B4-BE49-F238E27FC236}">
                  <a16:creationId xmlns:a16="http://schemas.microsoft.com/office/drawing/2014/main" id="{628BCA0B-16D7-4313-B4F7-FDA1FACD4B72}"/>
                </a:ext>
              </a:extLst>
            </p:cNvPr>
            <p:cNvSpPr txBox="1"/>
            <p:nvPr/>
          </p:nvSpPr>
          <p:spPr>
            <a:xfrm>
              <a:off x="7998840" y="3563849"/>
              <a:ext cx="360000" cy="92333"/>
            </a:xfrm>
            <a:prstGeom prst="rect">
              <a:avLst/>
            </a:prstGeom>
          </p:spPr>
          <p:txBody>
            <a:bodyPr vert="horz" wrap="square" lIns="0" tIns="0" rIns="0" bIns="0" rtlCol="0">
              <a:spAutoFit/>
            </a:bodyPr>
            <a:lstStyle/>
            <a:p>
              <a:pPr marL="0" marR="0" lvl="0" indent="0" algn="l" defTabSz="554492" rtl="0" eaLnBrk="1" fontAlgn="auto" latinLnBrk="0" hangingPunct="1">
                <a:lnSpc>
                  <a:spcPct val="100000"/>
                </a:lnSpc>
                <a:spcBef>
                  <a:spcPts val="0"/>
                </a:spcBef>
                <a:spcAft>
                  <a:spcPts val="0"/>
                </a:spcAft>
                <a:buClr>
                  <a:srgbClr val="9B1C23"/>
                </a:buClr>
                <a:buSzTx/>
                <a:tabLst>
                  <a:tab pos="417024" algn="l"/>
                </a:tabLst>
                <a:defRPr/>
              </a:pPr>
              <a:r>
                <a:rPr lang="en-US" sz="600">
                  <a:solidFill>
                    <a:srgbClr val="000000"/>
                  </a:solidFill>
                  <a:latin typeface="Arial Nova" panose="020B0504020202020204" pitchFamily="34" charset="0"/>
                  <a:cs typeface="Proxima Nova"/>
                </a:rPr>
                <a:t>$$</a:t>
              </a:r>
              <a:r>
                <a:rPr kumimoji="0" sz="6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rPr>
                <a:t> </a:t>
              </a:r>
              <a:r>
                <a:rPr kumimoji="0" lang="en-US" sz="6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rPr>
                <a:t>XXX</a:t>
              </a:r>
              <a:endParaRPr kumimoji="0" sz="6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endParaRPr>
            </a:p>
          </p:txBody>
        </p:sp>
        <p:sp>
          <p:nvSpPr>
            <p:cNvPr id="441" name="object 67">
              <a:extLst>
                <a:ext uri="{FF2B5EF4-FFF2-40B4-BE49-F238E27FC236}">
                  <a16:creationId xmlns:a16="http://schemas.microsoft.com/office/drawing/2014/main" id="{22C5D219-E375-405F-BDE8-F25FA1985D67}"/>
                </a:ext>
              </a:extLst>
            </p:cNvPr>
            <p:cNvSpPr txBox="1"/>
            <p:nvPr/>
          </p:nvSpPr>
          <p:spPr>
            <a:xfrm>
              <a:off x="7675277" y="3678001"/>
              <a:ext cx="343806" cy="104464"/>
            </a:xfrm>
            <a:prstGeom prst="rect">
              <a:avLst/>
            </a:prstGeom>
          </p:spPr>
          <p:txBody>
            <a:bodyPr vert="horz" wrap="square" lIns="0" tIns="12014" rIns="0" bIns="0" rtlCol="0">
              <a:spAutoFit/>
            </a:bodyPr>
            <a:lstStyle/>
            <a:p>
              <a:pPr marL="0" marR="0" lvl="0" indent="0" algn="l" defTabSz="554492" rtl="0" eaLnBrk="1" fontAlgn="auto" latinLnBrk="0" hangingPunct="1">
                <a:lnSpc>
                  <a:spcPct val="100000"/>
                </a:lnSpc>
                <a:spcBef>
                  <a:spcPts val="0"/>
                </a:spcBef>
                <a:spcAft>
                  <a:spcPts val="0"/>
                </a:spcAft>
                <a:buClr>
                  <a:srgbClr val="9B1C23"/>
                </a:buClr>
                <a:buSzTx/>
                <a:buFont typeface="Trebuchet MS" panose="020B0603020202020204" pitchFamily="34" charset="0"/>
                <a:buChar char="​"/>
                <a:tabLst>
                  <a:tab pos="427036" algn="l"/>
                </a:tabLst>
                <a:defRPr/>
              </a:pPr>
              <a:r>
                <a:rPr kumimoji="0" lang="en-US"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Segment</a:t>
              </a:r>
              <a:endParaRPr kumimoji="0"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endParaRPr>
            </a:p>
          </p:txBody>
        </p:sp>
        <p:sp>
          <p:nvSpPr>
            <p:cNvPr id="442" name="object 67">
              <a:extLst>
                <a:ext uri="{FF2B5EF4-FFF2-40B4-BE49-F238E27FC236}">
                  <a16:creationId xmlns:a16="http://schemas.microsoft.com/office/drawing/2014/main" id="{98BECDEE-E74D-41A7-AA39-A74BECDA2B70}"/>
                </a:ext>
              </a:extLst>
            </p:cNvPr>
            <p:cNvSpPr txBox="1"/>
            <p:nvPr/>
          </p:nvSpPr>
          <p:spPr>
            <a:xfrm>
              <a:off x="7998840" y="3690132"/>
              <a:ext cx="360000" cy="92333"/>
            </a:xfrm>
            <a:prstGeom prst="rect">
              <a:avLst/>
            </a:prstGeom>
          </p:spPr>
          <p:txBody>
            <a:bodyPr vert="horz" wrap="square" lIns="0" tIns="0" rIns="0" bIns="0" rtlCol="0">
              <a:spAutoFit/>
            </a:bodyPr>
            <a:lstStyle/>
            <a:p>
              <a:pPr marL="0" marR="0" lvl="0" indent="0" algn="l" defTabSz="554492" rtl="0" eaLnBrk="1" fontAlgn="auto" latinLnBrk="0" hangingPunct="1">
                <a:lnSpc>
                  <a:spcPct val="100000"/>
                </a:lnSpc>
                <a:spcBef>
                  <a:spcPts val="0"/>
                </a:spcBef>
                <a:spcAft>
                  <a:spcPts val="0"/>
                </a:spcAft>
                <a:buClr>
                  <a:srgbClr val="9B1C23"/>
                </a:buClr>
                <a:buSzTx/>
                <a:buFont typeface="Trebuchet MS" panose="020B0603020202020204" pitchFamily="34" charset="0"/>
                <a:buChar char="​"/>
                <a:tabLst>
                  <a:tab pos="417024" algn="l"/>
                </a:tabLst>
                <a:defRPr/>
              </a:pPr>
              <a:r>
                <a:rPr kumimoji="0" lang="en-US" sz="6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rPr>
                <a:t>3</a:t>
              </a:r>
              <a:endParaRPr kumimoji="0" sz="6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endParaRPr>
            </a:p>
          </p:txBody>
        </p:sp>
        <p:cxnSp>
          <p:nvCxnSpPr>
            <p:cNvPr id="443" name="Straight Connector 442">
              <a:extLst>
                <a:ext uri="{FF2B5EF4-FFF2-40B4-BE49-F238E27FC236}">
                  <a16:creationId xmlns:a16="http://schemas.microsoft.com/office/drawing/2014/main" id="{92C579C9-A20C-4C70-A682-FFEFB029BD63}"/>
                </a:ext>
              </a:extLst>
            </p:cNvPr>
            <p:cNvCxnSpPr/>
            <p:nvPr/>
          </p:nvCxnSpPr>
          <p:spPr>
            <a:xfrm>
              <a:off x="8410435" y="3551718"/>
              <a:ext cx="0" cy="230747"/>
            </a:xfrm>
            <a:prstGeom prst="line">
              <a:avLst/>
            </a:prstGeom>
            <a:ln w="9525" cap="rnd">
              <a:solidFill>
                <a:schemeClr val="bg1">
                  <a:lumMod val="85000"/>
                </a:schemeClr>
              </a:solidFill>
              <a:prstDash val="solid"/>
              <a:round/>
            </a:ln>
          </p:spPr>
          <p:style>
            <a:lnRef idx="1">
              <a:schemeClr val="accent1"/>
            </a:lnRef>
            <a:fillRef idx="0">
              <a:schemeClr val="accent1"/>
            </a:fillRef>
            <a:effectRef idx="0">
              <a:schemeClr val="accent1"/>
            </a:effectRef>
            <a:fontRef idx="minor">
              <a:schemeClr val="tx1"/>
            </a:fontRef>
          </p:style>
        </p:cxnSp>
      </p:grpSp>
      <p:grpSp>
        <p:nvGrpSpPr>
          <p:cNvPr id="444" name="Group 443">
            <a:extLst>
              <a:ext uri="{FF2B5EF4-FFF2-40B4-BE49-F238E27FC236}">
                <a16:creationId xmlns:a16="http://schemas.microsoft.com/office/drawing/2014/main" id="{709982B0-37E4-4EBE-894F-71449AEED714}"/>
              </a:ext>
            </a:extLst>
          </p:cNvPr>
          <p:cNvGrpSpPr/>
          <p:nvPr/>
        </p:nvGrpSpPr>
        <p:grpSpPr>
          <a:xfrm>
            <a:off x="7675277" y="4125576"/>
            <a:ext cx="1277534" cy="230747"/>
            <a:chOff x="7675277" y="4198041"/>
            <a:chExt cx="1277534" cy="230747"/>
          </a:xfrm>
        </p:grpSpPr>
        <p:sp>
          <p:nvSpPr>
            <p:cNvPr id="445" name="object 66">
              <a:extLst>
                <a:ext uri="{FF2B5EF4-FFF2-40B4-BE49-F238E27FC236}">
                  <a16:creationId xmlns:a16="http://schemas.microsoft.com/office/drawing/2014/main" id="{A35A90FB-6E41-4602-8A57-C923B61B9E18}"/>
                </a:ext>
              </a:extLst>
            </p:cNvPr>
            <p:cNvSpPr txBox="1"/>
            <p:nvPr/>
          </p:nvSpPr>
          <p:spPr>
            <a:xfrm>
              <a:off x="8484811" y="4210172"/>
              <a:ext cx="468000" cy="191198"/>
            </a:xfrm>
            <a:prstGeom prst="rect">
              <a:avLst/>
            </a:prstGeom>
          </p:spPr>
          <p:txBody>
            <a:bodyPr vert="horz" wrap="square" lIns="0" tIns="6469" rIns="0" bIns="0" rtlCol="0">
              <a:noAutofit/>
            </a:bodyPr>
            <a:lstStyle/>
            <a:p>
              <a:pPr marL="0" marR="0" lvl="0" indent="0" algn="l" defTabSz="554492" rtl="0" eaLnBrk="1" fontAlgn="auto" latinLnBrk="0" hangingPunct="1">
                <a:lnSpc>
                  <a:spcPct val="100000"/>
                </a:lnSpc>
                <a:spcBef>
                  <a:spcPts val="0"/>
                </a:spcBef>
                <a:spcAft>
                  <a:spcPts val="0"/>
                </a:spcAft>
                <a:buClr>
                  <a:srgbClr val="9B1C23"/>
                </a:buClr>
                <a:buSzTx/>
                <a:buFont typeface="Trebuchet MS" panose="020B0603020202020204" pitchFamily="34" charset="0"/>
                <a:buChar char="​"/>
                <a:tabLst/>
                <a:defRPr/>
              </a:pPr>
              <a:r>
                <a:rPr kumimoji="0" lang="en-US"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 XX</a:t>
              </a:r>
              <a:r>
                <a:rPr kumimoji="0" sz="600" b="1" i="0" u="none" strike="noStrike" kern="1200" cap="none" spc="-6" normalizeH="0" baseline="0" noProof="0">
                  <a:ln>
                    <a:noFill/>
                  </a:ln>
                  <a:solidFill>
                    <a:srgbClr val="000000"/>
                  </a:solidFill>
                  <a:effectLst/>
                  <a:uLnTx/>
                  <a:uFillTx/>
                  <a:latin typeface="Arial Nova" panose="020B0504020202020204" pitchFamily="34" charset="0"/>
                  <a:ea typeface="+mn-ea"/>
                  <a:cs typeface="Proxima Nova Semibold"/>
                </a:rPr>
                <a:t>,</a:t>
              </a:r>
              <a:r>
                <a:rPr kumimoji="0" sz="600" b="1" i="0" u="none" strike="noStrike" kern="1200" cap="none" spc="-15" normalizeH="0" baseline="0" noProof="0">
                  <a:ln>
                    <a:noFill/>
                  </a:ln>
                  <a:solidFill>
                    <a:srgbClr val="000000"/>
                  </a:solidFill>
                  <a:effectLst/>
                  <a:uLnTx/>
                  <a:uFillTx/>
                  <a:latin typeface="Arial Nova" panose="020B0504020202020204" pitchFamily="34" charset="0"/>
                  <a:ea typeface="+mn-ea"/>
                  <a:cs typeface="Proxima Nova Semibold"/>
                </a:rPr>
                <a:t> </a:t>
              </a:r>
              <a:br>
                <a:rPr kumimoji="0" lang="en-US" sz="600" b="1" i="0" u="none" strike="noStrike" kern="1200" cap="none" spc="-15" normalizeH="0" baseline="0" noProof="0">
                  <a:ln>
                    <a:noFill/>
                  </a:ln>
                  <a:solidFill>
                    <a:srgbClr val="000000"/>
                  </a:solidFill>
                  <a:effectLst/>
                  <a:uLnTx/>
                  <a:uFillTx/>
                  <a:latin typeface="Arial Nova" panose="020B0504020202020204" pitchFamily="34" charset="0"/>
                  <a:ea typeface="+mn-ea"/>
                  <a:cs typeface="Proxima Nova Semibold"/>
                </a:rPr>
              </a:br>
              <a:r>
                <a:rPr kumimoji="0" lang="en-US" sz="600" b="1" i="0" u="none" strike="noStrike" kern="1200" cap="none" spc="-15" normalizeH="0" baseline="0" noProof="0">
                  <a:ln>
                    <a:noFill/>
                  </a:ln>
                  <a:solidFill>
                    <a:srgbClr val="000000"/>
                  </a:solidFill>
                  <a:effectLst/>
                  <a:uLnTx/>
                  <a:uFillTx/>
                  <a:latin typeface="Arial Nova" panose="020B0504020202020204" pitchFamily="34" charset="0"/>
                  <a:ea typeface="+mn-ea"/>
                  <a:cs typeface="Proxima Nova Semibold"/>
                </a:rPr>
                <a:t>-----</a:t>
              </a:r>
              <a:endParaRPr kumimoji="0"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endParaRPr>
            </a:p>
          </p:txBody>
        </p:sp>
        <p:sp>
          <p:nvSpPr>
            <p:cNvPr id="446" name="object 67">
              <a:extLst>
                <a:ext uri="{FF2B5EF4-FFF2-40B4-BE49-F238E27FC236}">
                  <a16:creationId xmlns:a16="http://schemas.microsoft.com/office/drawing/2014/main" id="{A746D2A0-E270-4567-994A-DEEB74F0E839}"/>
                </a:ext>
              </a:extLst>
            </p:cNvPr>
            <p:cNvSpPr txBox="1"/>
            <p:nvPr/>
          </p:nvSpPr>
          <p:spPr>
            <a:xfrm>
              <a:off x="7675277" y="4198041"/>
              <a:ext cx="288000" cy="104464"/>
            </a:xfrm>
            <a:prstGeom prst="rect">
              <a:avLst/>
            </a:prstGeom>
          </p:spPr>
          <p:txBody>
            <a:bodyPr vert="horz" wrap="square" lIns="0" tIns="12014" rIns="0" bIns="0" rtlCol="0">
              <a:spAutoFit/>
            </a:bodyPr>
            <a:lstStyle/>
            <a:p>
              <a:pPr marL="0" marR="0" lvl="0" indent="0" algn="l" defTabSz="554492" rtl="0" eaLnBrk="1" fontAlgn="auto" latinLnBrk="0" hangingPunct="1">
                <a:lnSpc>
                  <a:spcPct val="100000"/>
                </a:lnSpc>
                <a:spcBef>
                  <a:spcPts val="0"/>
                </a:spcBef>
                <a:spcAft>
                  <a:spcPts val="0"/>
                </a:spcAft>
                <a:buClr>
                  <a:srgbClr val="9B1C23"/>
                </a:buClr>
                <a:buSzTx/>
                <a:buFont typeface="Trebuchet MS" panose="020B0603020202020204" pitchFamily="34" charset="0"/>
                <a:buChar char="​"/>
                <a:tabLst>
                  <a:tab pos="417024" algn="l"/>
                </a:tabLst>
                <a:defRPr/>
              </a:pPr>
              <a:r>
                <a:rPr kumimoji="0"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CLV	</a:t>
              </a:r>
              <a:endParaRPr kumimoji="0"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endParaRPr>
            </a:p>
          </p:txBody>
        </p:sp>
        <p:sp>
          <p:nvSpPr>
            <p:cNvPr id="447" name="object 67">
              <a:extLst>
                <a:ext uri="{FF2B5EF4-FFF2-40B4-BE49-F238E27FC236}">
                  <a16:creationId xmlns:a16="http://schemas.microsoft.com/office/drawing/2014/main" id="{C7BD71A4-F5BF-46C5-A1FB-D9322C7DE6D3}"/>
                </a:ext>
              </a:extLst>
            </p:cNvPr>
            <p:cNvSpPr txBox="1"/>
            <p:nvPr/>
          </p:nvSpPr>
          <p:spPr>
            <a:xfrm>
              <a:off x="7998840" y="4210172"/>
              <a:ext cx="360000" cy="92333"/>
            </a:xfrm>
            <a:prstGeom prst="rect">
              <a:avLst/>
            </a:prstGeom>
          </p:spPr>
          <p:txBody>
            <a:bodyPr vert="horz" wrap="square" lIns="0" tIns="0" rIns="0" bIns="0" rtlCol="0">
              <a:spAutoFit/>
            </a:bodyPr>
            <a:lstStyle/>
            <a:p>
              <a:pPr marL="0" marR="0" lvl="0" indent="0" algn="l" defTabSz="554492" rtl="0" eaLnBrk="1" fontAlgn="auto" latinLnBrk="0" hangingPunct="1">
                <a:lnSpc>
                  <a:spcPct val="100000"/>
                </a:lnSpc>
                <a:spcBef>
                  <a:spcPts val="0"/>
                </a:spcBef>
                <a:spcAft>
                  <a:spcPts val="0"/>
                </a:spcAft>
                <a:buClr>
                  <a:srgbClr val="9B1C23"/>
                </a:buClr>
                <a:buSzTx/>
                <a:buFont typeface="Trebuchet MS" panose="020B0603020202020204" pitchFamily="34" charset="0"/>
                <a:buChar char="​"/>
                <a:tabLst>
                  <a:tab pos="417024" algn="l"/>
                </a:tabLst>
                <a:defRPr/>
              </a:pPr>
              <a:r>
                <a:rPr kumimoji="0" lang="en-US" sz="6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rPr>
                <a:t>$$ XX</a:t>
              </a:r>
              <a:endParaRPr kumimoji="0" sz="6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endParaRPr>
            </a:p>
          </p:txBody>
        </p:sp>
        <p:sp>
          <p:nvSpPr>
            <p:cNvPr id="448" name="object 67">
              <a:extLst>
                <a:ext uri="{FF2B5EF4-FFF2-40B4-BE49-F238E27FC236}">
                  <a16:creationId xmlns:a16="http://schemas.microsoft.com/office/drawing/2014/main" id="{34606567-7CD3-43E9-A4D3-DA8AA2F4596C}"/>
                </a:ext>
              </a:extLst>
            </p:cNvPr>
            <p:cNvSpPr txBox="1"/>
            <p:nvPr/>
          </p:nvSpPr>
          <p:spPr>
            <a:xfrm>
              <a:off x="7675277" y="4324324"/>
              <a:ext cx="343806" cy="104464"/>
            </a:xfrm>
            <a:prstGeom prst="rect">
              <a:avLst/>
            </a:prstGeom>
          </p:spPr>
          <p:txBody>
            <a:bodyPr vert="horz" wrap="square" lIns="0" tIns="12014" rIns="0" bIns="0" rtlCol="0">
              <a:spAutoFit/>
            </a:bodyPr>
            <a:lstStyle/>
            <a:p>
              <a:pPr marL="0" marR="0" lvl="0" indent="0" algn="l" defTabSz="554492" rtl="0" eaLnBrk="1" fontAlgn="auto" latinLnBrk="0" hangingPunct="1">
                <a:lnSpc>
                  <a:spcPct val="100000"/>
                </a:lnSpc>
                <a:spcBef>
                  <a:spcPts val="0"/>
                </a:spcBef>
                <a:spcAft>
                  <a:spcPts val="0"/>
                </a:spcAft>
                <a:buClr>
                  <a:srgbClr val="9B1C23"/>
                </a:buClr>
                <a:buSzTx/>
                <a:buFont typeface="Trebuchet MS" panose="020B0603020202020204" pitchFamily="34" charset="0"/>
                <a:buChar char="​"/>
                <a:tabLst>
                  <a:tab pos="427036" algn="l"/>
                </a:tabLst>
                <a:defRPr/>
              </a:pPr>
              <a:r>
                <a:rPr kumimoji="0" lang="en-US"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Segment</a:t>
              </a:r>
              <a:endParaRPr kumimoji="0"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endParaRPr>
            </a:p>
          </p:txBody>
        </p:sp>
        <p:sp>
          <p:nvSpPr>
            <p:cNvPr id="449" name="object 67">
              <a:extLst>
                <a:ext uri="{FF2B5EF4-FFF2-40B4-BE49-F238E27FC236}">
                  <a16:creationId xmlns:a16="http://schemas.microsoft.com/office/drawing/2014/main" id="{C98EC119-5DD4-481E-99C9-9F281E1950BB}"/>
                </a:ext>
              </a:extLst>
            </p:cNvPr>
            <p:cNvSpPr txBox="1"/>
            <p:nvPr/>
          </p:nvSpPr>
          <p:spPr>
            <a:xfrm>
              <a:off x="7998840" y="4336455"/>
              <a:ext cx="360000" cy="92333"/>
            </a:xfrm>
            <a:prstGeom prst="rect">
              <a:avLst/>
            </a:prstGeom>
          </p:spPr>
          <p:txBody>
            <a:bodyPr vert="horz" wrap="square" lIns="0" tIns="0" rIns="0" bIns="0" rtlCol="0">
              <a:spAutoFit/>
            </a:bodyPr>
            <a:lstStyle/>
            <a:p>
              <a:pPr marL="0" marR="0" lvl="0" indent="0" algn="l" defTabSz="554492" rtl="0" eaLnBrk="1" fontAlgn="auto" latinLnBrk="0" hangingPunct="1">
                <a:lnSpc>
                  <a:spcPct val="100000"/>
                </a:lnSpc>
                <a:spcBef>
                  <a:spcPts val="0"/>
                </a:spcBef>
                <a:spcAft>
                  <a:spcPts val="0"/>
                </a:spcAft>
                <a:buClr>
                  <a:srgbClr val="9B1C23"/>
                </a:buClr>
                <a:buSzTx/>
                <a:buFont typeface="Trebuchet MS" panose="020B0603020202020204" pitchFamily="34" charset="0"/>
                <a:buChar char="​"/>
                <a:tabLst>
                  <a:tab pos="417024" algn="l"/>
                </a:tabLst>
                <a:defRPr/>
              </a:pPr>
              <a:r>
                <a:rPr kumimoji="0" lang="en-US" sz="6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rPr>
                <a:t>3</a:t>
              </a:r>
              <a:endParaRPr kumimoji="0" sz="6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endParaRPr>
            </a:p>
          </p:txBody>
        </p:sp>
        <p:cxnSp>
          <p:nvCxnSpPr>
            <p:cNvPr id="450" name="Straight Connector 449">
              <a:extLst>
                <a:ext uri="{FF2B5EF4-FFF2-40B4-BE49-F238E27FC236}">
                  <a16:creationId xmlns:a16="http://schemas.microsoft.com/office/drawing/2014/main" id="{79AEFE32-F528-42EA-BE08-C9AC42183786}"/>
                </a:ext>
              </a:extLst>
            </p:cNvPr>
            <p:cNvCxnSpPr/>
            <p:nvPr/>
          </p:nvCxnSpPr>
          <p:spPr>
            <a:xfrm>
              <a:off x="8410435" y="4198041"/>
              <a:ext cx="0" cy="230747"/>
            </a:xfrm>
            <a:prstGeom prst="line">
              <a:avLst/>
            </a:prstGeom>
            <a:ln w="9525" cap="rnd">
              <a:solidFill>
                <a:schemeClr val="bg1">
                  <a:lumMod val="85000"/>
                </a:schemeClr>
              </a:solidFill>
              <a:prstDash val="solid"/>
              <a:round/>
            </a:ln>
          </p:spPr>
          <p:style>
            <a:lnRef idx="1">
              <a:schemeClr val="accent1"/>
            </a:lnRef>
            <a:fillRef idx="0">
              <a:schemeClr val="accent1"/>
            </a:fillRef>
            <a:effectRef idx="0">
              <a:schemeClr val="accent1"/>
            </a:effectRef>
            <a:fontRef idx="minor">
              <a:schemeClr val="tx1"/>
            </a:fontRef>
          </p:style>
        </p:cxnSp>
      </p:grpSp>
      <p:grpSp>
        <p:nvGrpSpPr>
          <p:cNvPr id="451" name="Group 450">
            <a:extLst>
              <a:ext uri="{FF2B5EF4-FFF2-40B4-BE49-F238E27FC236}">
                <a16:creationId xmlns:a16="http://schemas.microsoft.com/office/drawing/2014/main" id="{ABF999E4-3494-4C3D-98B9-3C3640EC953E}"/>
              </a:ext>
            </a:extLst>
          </p:cNvPr>
          <p:cNvGrpSpPr/>
          <p:nvPr/>
        </p:nvGrpSpPr>
        <p:grpSpPr>
          <a:xfrm>
            <a:off x="7675277" y="4771900"/>
            <a:ext cx="1277534" cy="230747"/>
            <a:chOff x="7675277" y="4844365"/>
            <a:chExt cx="1277534" cy="230747"/>
          </a:xfrm>
        </p:grpSpPr>
        <p:sp>
          <p:nvSpPr>
            <p:cNvPr id="452" name="object 66">
              <a:extLst>
                <a:ext uri="{FF2B5EF4-FFF2-40B4-BE49-F238E27FC236}">
                  <a16:creationId xmlns:a16="http://schemas.microsoft.com/office/drawing/2014/main" id="{5F2EFDE2-58AA-421E-97DC-63B8310C05F2}"/>
                </a:ext>
              </a:extLst>
            </p:cNvPr>
            <p:cNvSpPr txBox="1"/>
            <p:nvPr/>
          </p:nvSpPr>
          <p:spPr>
            <a:xfrm>
              <a:off x="8484811" y="4856496"/>
              <a:ext cx="468000" cy="191198"/>
            </a:xfrm>
            <a:prstGeom prst="rect">
              <a:avLst/>
            </a:prstGeom>
          </p:spPr>
          <p:txBody>
            <a:bodyPr vert="horz" wrap="square" lIns="0" tIns="6469" rIns="0" bIns="0" rtlCol="0">
              <a:noAutofit/>
            </a:bodyPr>
            <a:lstStyle/>
            <a:p>
              <a:pPr marL="0" marR="0" lvl="0" indent="0" algn="l" defTabSz="554492" rtl="0" eaLnBrk="1" fontAlgn="auto" latinLnBrk="0" hangingPunct="1">
                <a:lnSpc>
                  <a:spcPct val="100000"/>
                </a:lnSpc>
                <a:spcBef>
                  <a:spcPts val="0"/>
                </a:spcBef>
                <a:spcAft>
                  <a:spcPts val="0"/>
                </a:spcAft>
                <a:buClr>
                  <a:srgbClr val="9B1C23"/>
                </a:buClr>
                <a:buSzTx/>
                <a:buFont typeface="Trebuchet MS" panose="020B0603020202020204" pitchFamily="34" charset="0"/>
                <a:buChar char="​"/>
                <a:tabLst/>
                <a:defRPr/>
              </a:pPr>
              <a:r>
                <a:rPr kumimoji="0" lang="en-US"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 XX</a:t>
              </a:r>
              <a:r>
                <a:rPr kumimoji="0" lang="en-US" sz="600" b="1" i="0" u="none" strike="noStrike" kern="1200" cap="none" spc="-6" normalizeH="0" baseline="0" noProof="0">
                  <a:ln>
                    <a:noFill/>
                  </a:ln>
                  <a:solidFill>
                    <a:srgbClr val="000000"/>
                  </a:solidFill>
                  <a:effectLst/>
                  <a:uLnTx/>
                  <a:uFillTx/>
                  <a:latin typeface="Arial Nova" panose="020B0504020202020204" pitchFamily="34" charset="0"/>
                  <a:ea typeface="+mn-ea"/>
                  <a:cs typeface="Proxima Nova Semibold"/>
                </a:rPr>
                <a:t>,</a:t>
              </a:r>
              <a:r>
                <a:rPr kumimoji="0" lang="en-US" sz="600" b="1" i="0" u="none" strike="noStrike" kern="1200" cap="none" spc="-15" normalizeH="0" baseline="0" noProof="0">
                  <a:ln>
                    <a:noFill/>
                  </a:ln>
                  <a:solidFill>
                    <a:srgbClr val="000000"/>
                  </a:solidFill>
                  <a:effectLst/>
                  <a:uLnTx/>
                  <a:uFillTx/>
                  <a:latin typeface="Arial Nova" panose="020B0504020202020204" pitchFamily="34" charset="0"/>
                  <a:ea typeface="+mn-ea"/>
                  <a:cs typeface="Proxima Nova Semibold"/>
                </a:rPr>
                <a:t> </a:t>
              </a:r>
              <a:br>
                <a:rPr kumimoji="0" lang="en-US" sz="600" b="1" i="0" u="none" strike="noStrike" kern="1200" cap="none" spc="-15" normalizeH="0" baseline="0" noProof="0">
                  <a:ln>
                    <a:noFill/>
                  </a:ln>
                  <a:solidFill>
                    <a:srgbClr val="000000"/>
                  </a:solidFill>
                  <a:effectLst/>
                  <a:uLnTx/>
                  <a:uFillTx/>
                  <a:latin typeface="Arial Nova" panose="020B0504020202020204" pitchFamily="34" charset="0"/>
                  <a:ea typeface="+mn-ea"/>
                  <a:cs typeface="Proxima Nova Semibold"/>
                </a:rPr>
              </a:br>
              <a:r>
                <a:rPr kumimoji="0" lang="en-US"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Visa Signature</a:t>
              </a:r>
            </a:p>
          </p:txBody>
        </p:sp>
        <p:sp>
          <p:nvSpPr>
            <p:cNvPr id="453" name="object 67">
              <a:extLst>
                <a:ext uri="{FF2B5EF4-FFF2-40B4-BE49-F238E27FC236}">
                  <a16:creationId xmlns:a16="http://schemas.microsoft.com/office/drawing/2014/main" id="{0D972BBF-58BF-4A92-A318-9F5EB19C3D35}"/>
                </a:ext>
              </a:extLst>
            </p:cNvPr>
            <p:cNvSpPr txBox="1"/>
            <p:nvPr/>
          </p:nvSpPr>
          <p:spPr>
            <a:xfrm>
              <a:off x="7675277" y="4844365"/>
              <a:ext cx="288000" cy="104464"/>
            </a:xfrm>
            <a:prstGeom prst="rect">
              <a:avLst/>
            </a:prstGeom>
          </p:spPr>
          <p:txBody>
            <a:bodyPr vert="horz" wrap="square" lIns="0" tIns="12014" rIns="0" bIns="0" rtlCol="0">
              <a:spAutoFit/>
            </a:bodyPr>
            <a:lstStyle/>
            <a:p>
              <a:pPr marL="0" marR="0" lvl="0" indent="0" algn="l" defTabSz="554492" rtl="0" eaLnBrk="1" fontAlgn="auto" latinLnBrk="0" hangingPunct="1">
                <a:lnSpc>
                  <a:spcPct val="100000"/>
                </a:lnSpc>
                <a:spcBef>
                  <a:spcPts val="0"/>
                </a:spcBef>
                <a:spcAft>
                  <a:spcPts val="0"/>
                </a:spcAft>
                <a:buClr>
                  <a:srgbClr val="9B1C23"/>
                </a:buClr>
                <a:buSzTx/>
                <a:buFont typeface="Trebuchet MS" panose="020B0603020202020204" pitchFamily="34" charset="0"/>
                <a:buChar char="​"/>
                <a:tabLst>
                  <a:tab pos="417024" algn="l"/>
                </a:tabLst>
                <a:defRPr/>
              </a:pPr>
              <a:r>
                <a:rPr kumimoji="0"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CLV	</a:t>
              </a:r>
              <a:endParaRPr kumimoji="0"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endParaRPr>
            </a:p>
          </p:txBody>
        </p:sp>
        <p:sp>
          <p:nvSpPr>
            <p:cNvPr id="454" name="object 67">
              <a:extLst>
                <a:ext uri="{FF2B5EF4-FFF2-40B4-BE49-F238E27FC236}">
                  <a16:creationId xmlns:a16="http://schemas.microsoft.com/office/drawing/2014/main" id="{ED3AD22F-0513-436D-930A-20D7DCF36D9B}"/>
                </a:ext>
              </a:extLst>
            </p:cNvPr>
            <p:cNvSpPr txBox="1"/>
            <p:nvPr/>
          </p:nvSpPr>
          <p:spPr>
            <a:xfrm>
              <a:off x="7998840" y="4856496"/>
              <a:ext cx="360000" cy="92333"/>
            </a:xfrm>
            <a:prstGeom prst="rect">
              <a:avLst/>
            </a:prstGeom>
          </p:spPr>
          <p:txBody>
            <a:bodyPr vert="horz" wrap="square" lIns="0" tIns="0" rIns="0" bIns="0" rtlCol="0">
              <a:spAutoFit/>
            </a:bodyPr>
            <a:lstStyle/>
            <a:p>
              <a:pPr marL="0" marR="0" lvl="0" indent="0" algn="l" defTabSz="554492" rtl="0" eaLnBrk="1" fontAlgn="auto" latinLnBrk="0" hangingPunct="1">
                <a:lnSpc>
                  <a:spcPct val="100000"/>
                </a:lnSpc>
                <a:spcBef>
                  <a:spcPts val="0"/>
                </a:spcBef>
                <a:spcAft>
                  <a:spcPts val="0"/>
                </a:spcAft>
                <a:buClr>
                  <a:srgbClr val="9B1C23"/>
                </a:buClr>
                <a:buSzTx/>
                <a:buFont typeface="Trebuchet MS" panose="020B0603020202020204" pitchFamily="34" charset="0"/>
                <a:buChar char="​"/>
                <a:tabLst>
                  <a:tab pos="417024" algn="l"/>
                </a:tabLst>
                <a:defRPr/>
              </a:pPr>
              <a:r>
                <a:rPr kumimoji="0" lang="en-US" sz="6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rPr>
                <a:t>$$ XX</a:t>
              </a:r>
              <a:endParaRPr kumimoji="0" sz="6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endParaRPr>
            </a:p>
          </p:txBody>
        </p:sp>
        <p:sp>
          <p:nvSpPr>
            <p:cNvPr id="455" name="object 67">
              <a:extLst>
                <a:ext uri="{FF2B5EF4-FFF2-40B4-BE49-F238E27FC236}">
                  <a16:creationId xmlns:a16="http://schemas.microsoft.com/office/drawing/2014/main" id="{923B4D77-9E3E-42A0-AD81-C9C680D217A9}"/>
                </a:ext>
              </a:extLst>
            </p:cNvPr>
            <p:cNvSpPr txBox="1"/>
            <p:nvPr/>
          </p:nvSpPr>
          <p:spPr>
            <a:xfrm>
              <a:off x="7675277" y="4970648"/>
              <a:ext cx="343806" cy="104464"/>
            </a:xfrm>
            <a:prstGeom prst="rect">
              <a:avLst/>
            </a:prstGeom>
          </p:spPr>
          <p:txBody>
            <a:bodyPr vert="horz" wrap="square" lIns="0" tIns="12014" rIns="0" bIns="0" rtlCol="0">
              <a:spAutoFit/>
            </a:bodyPr>
            <a:lstStyle/>
            <a:p>
              <a:pPr marL="0" marR="0" lvl="0" indent="0" algn="l" defTabSz="554492" rtl="0" eaLnBrk="1" fontAlgn="auto" latinLnBrk="0" hangingPunct="1">
                <a:lnSpc>
                  <a:spcPct val="100000"/>
                </a:lnSpc>
                <a:spcBef>
                  <a:spcPts val="0"/>
                </a:spcBef>
                <a:spcAft>
                  <a:spcPts val="0"/>
                </a:spcAft>
                <a:buClr>
                  <a:srgbClr val="9B1C23"/>
                </a:buClr>
                <a:buSzTx/>
                <a:buFont typeface="Trebuchet MS" panose="020B0603020202020204" pitchFamily="34" charset="0"/>
                <a:buChar char="​"/>
                <a:tabLst>
                  <a:tab pos="427036" algn="l"/>
                </a:tabLst>
                <a:defRPr/>
              </a:pPr>
              <a:r>
                <a:rPr kumimoji="0" lang="en-US"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Segment</a:t>
              </a:r>
              <a:endParaRPr kumimoji="0" sz="6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endParaRPr>
            </a:p>
          </p:txBody>
        </p:sp>
        <p:sp>
          <p:nvSpPr>
            <p:cNvPr id="456" name="object 67">
              <a:extLst>
                <a:ext uri="{FF2B5EF4-FFF2-40B4-BE49-F238E27FC236}">
                  <a16:creationId xmlns:a16="http://schemas.microsoft.com/office/drawing/2014/main" id="{E73AE194-6909-46B7-B682-5D450493BB2C}"/>
                </a:ext>
              </a:extLst>
            </p:cNvPr>
            <p:cNvSpPr txBox="1"/>
            <p:nvPr/>
          </p:nvSpPr>
          <p:spPr>
            <a:xfrm>
              <a:off x="7998840" y="4982779"/>
              <a:ext cx="360000" cy="92333"/>
            </a:xfrm>
            <a:prstGeom prst="rect">
              <a:avLst/>
            </a:prstGeom>
          </p:spPr>
          <p:txBody>
            <a:bodyPr vert="horz" wrap="square" lIns="0" tIns="0" rIns="0" bIns="0" rtlCol="0">
              <a:spAutoFit/>
            </a:bodyPr>
            <a:lstStyle/>
            <a:p>
              <a:pPr marL="0" marR="0" lvl="0" indent="0" algn="l" defTabSz="554492" rtl="0" eaLnBrk="1" fontAlgn="auto" latinLnBrk="0" hangingPunct="1">
                <a:lnSpc>
                  <a:spcPct val="100000"/>
                </a:lnSpc>
                <a:spcBef>
                  <a:spcPts val="0"/>
                </a:spcBef>
                <a:spcAft>
                  <a:spcPts val="0"/>
                </a:spcAft>
                <a:buClr>
                  <a:srgbClr val="9B1C23"/>
                </a:buClr>
                <a:buSzTx/>
                <a:buFont typeface="Trebuchet MS" panose="020B0603020202020204" pitchFamily="34" charset="0"/>
                <a:buChar char="​"/>
                <a:tabLst>
                  <a:tab pos="417024" algn="l"/>
                </a:tabLst>
                <a:defRPr/>
              </a:pPr>
              <a:r>
                <a:rPr kumimoji="0" lang="en-US" sz="6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rPr>
                <a:t>1</a:t>
              </a:r>
              <a:endParaRPr kumimoji="0" sz="6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endParaRPr>
            </a:p>
          </p:txBody>
        </p:sp>
        <p:cxnSp>
          <p:nvCxnSpPr>
            <p:cNvPr id="457" name="Straight Connector 456">
              <a:extLst>
                <a:ext uri="{FF2B5EF4-FFF2-40B4-BE49-F238E27FC236}">
                  <a16:creationId xmlns:a16="http://schemas.microsoft.com/office/drawing/2014/main" id="{FD412C67-B41D-4276-9BC1-910E9035C773}"/>
                </a:ext>
              </a:extLst>
            </p:cNvPr>
            <p:cNvCxnSpPr/>
            <p:nvPr/>
          </p:nvCxnSpPr>
          <p:spPr>
            <a:xfrm>
              <a:off x="8410435" y="4844365"/>
              <a:ext cx="0" cy="230747"/>
            </a:xfrm>
            <a:prstGeom prst="line">
              <a:avLst/>
            </a:prstGeom>
            <a:ln w="9525" cap="rnd">
              <a:solidFill>
                <a:schemeClr val="bg1">
                  <a:lumMod val="85000"/>
                </a:schemeClr>
              </a:solidFill>
              <a:prstDash val="solid"/>
              <a:round/>
            </a:ln>
          </p:spPr>
          <p:style>
            <a:lnRef idx="1">
              <a:schemeClr val="accent1"/>
            </a:lnRef>
            <a:fillRef idx="0">
              <a:schemeClr val="accent1"/>
            </a:fillRef>
            <a:effectRef idx="0">
              <a:schemeClr val="accent1"/>
            </a:effectRef>
            <a:fontRef idx="minor">
              <a:schemeClr val="tx1"/>
            </a:fontRef>
          </p:style>
        </p:cxnSp>
      </p:grpSp>
      <p:sp>
        <p:nvSpPr>
          <p:cNvPr id="459" name="object 86">
            <a:extLst>
              <a:ext uri="{FF2B5EF4-FFF2-40B4-BE49-F238E27FC236}">
                <a16:creationId xmlns:a16="http://schemas.microsoft.com/office/drawing/2014/main" id="{816F4357-ABDE-47E1-A7C5-AD37B446FD87}"/>
              </a:ext>
            </a:extLst>
          </p:cNvPr>
          <p:cNvSpPr txBox="1"/>
          <p:nvPr/>
        </p:nvSpPr>
        <p:spPr>
          <a:xfrm>
            <a:off x="10348701" y="2631498"/>
            <a:ext cx="503994" cy="254620"/>
          </a:xfrm>
          <a:prstGeom prst="rect">
            <a:avLst/>
          </a:prstGeom>
        </p:spPr>
        <p:txBody>
          <a:bodyPr vert="horz" wrap="square" lIns="0" tIns="8318" rIns="0" bIns="0" rtlCol="0">
            <a:spAutoFit/>
          </a:bodyPr>
          <a:lstStyle/>
          <a:p>
            <a:pPr marL="6161" marR="0" lvl="0" indent="0" algn="l" defTabSz="554492"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chemeClr val="tx2"/>
                </a:solidFill>
                <a:effectLst/>
                <a:uLnTx/>
                <a:uFillTx/>
                <a:latin typeface="Arial Nova" panose="020B0504020202020204" pitchFamily="34" charset="0"/>
                <a:ea typeface="+mn-ea"/>
                <a:cs typeface="Proxima Nova Semibold"/>
              </a:rPr>
              <a:t>Segment 1</a:t>
            </a:r>
            <a:endParaRPr kumimoji="0" sz="800" b="0" i="0" u="none" strike="noStrike" kern="1200" cap="none" spc="0" normalizeH="0" baseline="0" noProof="0">
              <a:ln>
                <a:noFill/>
              </a:ln>
              <a:solidFill>
                <a:schemeClr val="tx2"/>
              </a:solidFill>
              <a:effectLst/>
              <a:uLnTx/>
              <a:uFillTx/>
              <a:latin typeface="Arial Nova" panose="020B0504020202020204" pitchFamily="34" charset="0"/>
              <a:ea typeface="+mn-ea"/>
              <a:cs typeface="Proxima Nova Semibold"/>
            </a:endParaRPr>
          </a:p>
        </p:txBody>
      </p:sp>
      <p:sp>
        <p:nvSpPr>
          <p:cNvPr id="460" name="object 89">
            <a:extLst>
              <a:ext uri="{FF2B5EF4-FFF2-40B4-BE49-F238E27FC236}">
                <a16:creationId xmlns:a16="http://schemas.microsoft.com/office/drawing/2014/main" id="{1A707A6D-C69F-44E5-8615-FFB325D597E0}"/>
              </a:ext>
            </a:extLst>
          </p:cNvPr>
          <p:cNvSpPr txBox="1"/>
          <p:nvPr/>
        </p:nvSpPr>
        <p:spPr>
          <a:xfrm>
            <a:off x="10966880" y="2631498"/>
            <a:ext cx="503994" cy="254620"/>
          </a:xfrm>
          <a:prstGeom prst="rect">
            <a:avLst/>
          </a:prstGeom>
        </p:spPr>
        <p:txBody>
          <a:bodyPr vert="horz" wrap="square" lIns="0" tIns="8318" rIns="0" bIns="0" rtlCol="0">
            <a:spAutoFit/>
          </a:bodyPr>
          <a:lstStyle/>
          <a:p>
            <a:pPr marL="6161" marR="0" lvl="0" indent="0" algn="l" defTabSz="554492"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chemeClr val="tx2"/>
                </a:solidFill>
                <a:effectLst/>
                <a:uLnTx/>
                <a:uFillTx/>
                <a:latin typeface="Arial Nova" panose="020B0504020202020204" pitchFamily="34" charset="0"/>
                <a:ea typeface="+mn-ea"/>
                <a:cs typeface="Proxima Nova Semibold"/>
              </a:rPr>
              <a:t>Segment 2</a:t>
            </a:r>
            <a:endParaRPr kumimoji="0" sz="800" b="0" i="0" u="none" strike="noStrike" kern="1200" cap="none" spc="0" normalizeH="0" baseline="0" noProof="0">
              <a:ln>
                <a:noFill/>
              </a:ln>
              <a:solidFill>
                <a:schemeClr val="tx2"/>
              </a:solidFill>
              <a:effectLst/>
              <a:uLnTx/>
              <a:uFillTx/>
              <a:latin typeface="Arial Nova" panose="020B0504020202020204" pitchFamily="34" charset="0"/>
              <a:ea typeface="+mn-ea"/>
              <a:cs typeface="Proxima Nova Semibold"/>
            </a:endParaRPr>
          </a:p>
        </p:txBody>
      </p:sp>
      <p:sp>
        <p:nvSpPr>
          <p:cNvPr id="461" name="object 90">
            <a:extLst>
              <a:ext uri="{FF2B5EF4-FFF2-40B4-BE49-F238E27FC236}">
                <a16:creationId xmlns:a16="http://schemas.microsoft.com/office/drawing/2014/main" id="{2E76C4B4-9EFC-4CF2-8C6D-790BA0424DA3}"/>
              </a:ext>
            </a:extLst>
          </p:cNvPr>
          <p:cNvSpPr txBox="1"/>
          <p:nvPr/>
        </p:nvSpPr>
        <p:spPr>
          <a:xfrm>
            <a:off x="9442523" y="2886118"/>
            <a:ext cx="792000" cy="595923"/>
          </a:xfrm>
          <a:prstGeom prst="rect">
            <a:avLst/>
          </a:prstGeom>
        </p:spPr>
        <p:txBody>
          <a:bodyPr vert="horz" wrap="square" lIns="0" tIns="72000" rIns="0" bIns="0" rtlCol="0">
            <a:spAutoFit/>
          </a:bodyPr>
          <a:lstStyle/>
          <a:p>
            <a:pPr marL="6161" marR="0" lvl="0" indent="0" algn="l" defTabSz="554492" rtl="0" eaLnBrk="1" fontAlgn="auto" latinLnBrk="0" hangingPunct="1">
              <a:lnSpc>
                <a:spcPct val="100000"/>
              </a:lnSpc>
              <a:spcBef>
                <a:spcPts val="0"/>
              </a:spcBef>
              <a:spcAft>
                <a:spcPts val="600"/>
              </a:spcAft>
              <a:buClrTx/>
              <a:buSzTx/>
              <a:buFontTx/>
              <a:buNone/>
              <a:tabLst/>
              <a:defRPr/>
            </a:pPr>
            <a:r>
              <a:rPr kumimoji="0"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Conversion</a:t>
            </a:r>
          </a:p>
          <a:p>
            <a:pPr marL="6161" marR="3081" lvl="0" indent="0" algn="l" defTabSz="554492" rtl="0" eaLnBrk="1" fontAlgn="auto" latinLnBrk="0" hangingPunct="1">
              <a:lnSpc>
                <a:spcPct val="100000"/>
              </a:lnSpc>
              <a:spcBef>
                <a:spcPts val="0"/>
              </a:spcBef>
              <a:spcAft>
                <a:spcPts val="600"/>
              </a:spcAft>
              <a:buClrTx/>
              <a:buSzTx/>
              <a:buFontTx/>
              <a:buNone/>
              <a:tabLst/>
              <a:defRPr/>
            </a:pPr>
            <a:r>
              <a:rPr kumimoji="0"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Conversion Rate</a:t>
            </a:r>
            <a:endParaRPr kumimoji="0" lang="en-US"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endParaRPr>
          </a:p>
          <a:p>
            <a:pPr marL="6161" marR="3081" lvl="0" indent="0" algn="l" defTabSz="554492" rtl="0" eaLnBrk="1" fontAlgn="auto" latinLnBrk="0" hangingPunct="1">
              <a:lnSpc>
                <a:spcPct val="100000"/>
              </a:lnSpc>
              <a:spcBef>
                <a:spcPts val="0"/>
              </a:spcBef>
              <a:spcAft>
                <a:spcPts val="600"/>
              </a:spcAft>
              <a:buClrTx/>
              <a:buSzTx/>
              <a:buFontTx/>
              <a:buNone/>
              <a:tabLst/>
              <a:defRPr/>
            </a:pPr>
            <a:r>
              <a:rPr kumimoji="0"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Overall Lift</a:t>
            </a:r>
          </a:p>
        </p:txBody>
      </p:sp>
      <p:sp>
        <p:nvSpPr>
          <p:cNvPr id="462" name="object 79">
            <a:extLst>
              <a:ext uri="{FF2B5EF4-FFF2-40B4-BE49-F238E27FC236}">
                <a16:creationId xmlns:a16="http://schemas.microsoft.com/office/drawing/2014/main" id="{1FF73B3F-B725-4118-9531-3839A3861F96}"/>
              </a:ext>
            </a:extLst>
          </p:cNvPr>
          <p:cNvSpPr txBox="1"/>
          <p:nvPr/>
        </p:nvSpPr>
        <p:spPr>
          <a:xfrm>
            <a:off x="9442523" y="2631498"/>
            <a:ext cx="792000" cy="254620"/>
          </a:xfrm>
          <a:prstGeom prst="rect">
            <a:avLst/>
          </a:prstGeom>
        </p:spPr>
        <p:txBody>
          <a:bodyPr vert="horz" wrap="square" lIns="0" tIns="8318" rIns="0" bIns="0" rtlCol="0">
            <a:noAutofit/>
          </a:bodyPr>
          <a:lstStyle/>
          <a:p>
            <a:pPr marL="6161" marR="0" lvl="0" indent="0" algn="l" defTabSz="554492"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chemeClr val="tx2"/>
                </a:solidFill>
                <a:effectLst/>
                <a:uLnTx/>
                <a:uFillTx/>
                <a:latin typeface="Arial Nova" panose="020B0504020202020204" pitchFamily="34" charset="0"/>
                <a:ea typeface="+mn-ea"/>
                <a:cs typeface="Proxima Nova Semibold"/>
              </a:rPr>
              <a:t>Standard Metrics</a:t>
            </a:r>
          </a:p>
        </p:txBody>
      </p:sp>
      <p:sp>
        <p:nvSpPr>
          <p:cNvPr id="463" name="object 90">
            <a:extLst>
              <a:ext uri="{FF2B5EF4-FFF2-40B4-BE49-F238E27FC236}">
                <a16:creationId xmlns:a16="http://schemas.microsoft.com/office/drawing/2014/main" id="{A4273DE4-33EA-409F-9BBF-FEFDB5507822}"/>
              </a:ext>
            </a:extLst>
          </p:cNvPr>
          <p:cNvSpPr txBox="1"/>
          <p:nvPr/>
        </p:nvSpPr>
        <p:spPr>
          <a:xfrm>
            <a:off x="10348701" y="2886118"/>
            <a:ext cx="432000" cy="595923"/>
          </a:xfrm>
          <a:prstGeom prst="rect">
            <a:avLst/>
          </a:prstGeom>
        </p:spPr>
        <p:txBody>
          <a:bodyPr vert="horz" wrap="square" lIns="0" tIns="72000" rIns="0" bIns="0" rtlCol="0">
            <a:spAutoFit/>
          </a:bodyPr>
          <a:lstStyle/>
          <a:p>
            <a:pPr marL="6161" marR="0" lvl="0" indent="0" algn="l" defTabSz="554492"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XX</a:t>
            </a:r>
          </a:p>
          <a:p>
            <a:pPr marL="6161" marR="0" lvl="0" indent="0" algn="l" defTabSz="554492"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ZZ</a:t>
            </a:r>
          </a:p>
          <a:p>
            <a:pPr marL="6161" marR="0" lvl="0" indent="0" algn="l" defTabSz="554492"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BB</a:t>
            </a:r>
          </a:p>
        </p:txBody>
      </p:sp>
      <p:sp>
        <p:nvSpPr>
          <p:cNvPr id="464" name="object 90">
            <a:extLst>
              <a:ext uri="{FF2B5EF4-FFF2-40B4-BE49-F238E27FC236}">
                <a16:creationId xmlns:a16="http://schemas.microsoft.com/office/drawing/2014/main" id="{CBF53D81-1B28-40D1-BF19-3F60DC0A2F4A}"/>
              </a:ext>
            </a:extLst>
          </p:cNvPr>
          <p:cNvSpPr txBox="1"/>
          <p:nvPr/>
        </p:nvSpPr>
        <p:spPr>
          <a:xfrm>
            <a:off x="10966880" y="2886118"/>
            <a:ext cx="432000" cy="595923"/>
          </a:xfrm>
          <a:prstGeom prst="rect">
            <a:avLst/>
          </a:prstGeom>
        </p:spPr>
        <p:txBody>
          <a:bodyPr vert="horz" wrap="square" lIns="0" tIns="72000" rIns="0" bIns="0" rtlCol="0">
            <a:spAutoFit/>
          </a:bodyPr>
          <a:lstStyle/>
          <a:p>
            <a:pPr marL="6161" marR="0" lvl="0" indent="0" algn="l" defTabSz="554492"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err="1">
                <a:ln>
                  <a:noFill/>
                </a:ln>
                <a:solidFill>
                  <a:srgbClr val="000000"/>
                </a:solidFill>
                <a:effectLst/>
                <a:uLnTx/>
                <a:uFillTx/>
                <a:latin typeface="Arial Nova" panose="020B0504020202020204" pitchFamily="34" charset="0"/>
                <a:ea typeface="+mn-ea"/>
                <a:cs typeface="Proxima Nova Semibold"/>
              </a:rPr>
              <a:t>YY</a:t>
            </a:r>
            <a:endParaRPr kumimoji="0" lang="en-US"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endParaRPr>
          </a:p>
          <a:p>
            <a:pPr marL="6161" marR="0" lvl="0" indent="0" algn="l" defTabSz="554492"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AA</a:t>
            </a:r>
          </a:p>
          <a:p>
            <a:pPr marL="6161" marR="0" lvl="0" indent="0" algn="l" defTabSz="554492"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CC</a:t>
            </a:r>
            <a:endParaRPr kumimoji="0"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endParaRPr>
          </a:p>
        </p:txBody>
      </p:sp>
      <p:sp>
        <p:nvSpPr>
          <p:cNvPr id="465" name="object 79">
            <a:extLst>
              <a:ext uri="{FF2B5EF4-FFF2-40B4-BE49-F238E27FC236}">
                <a16:creationId xmlns:a16="http://schemas.microsoft.com/office/drawing/2014/main" id="{9933B2D0-E4F2-4ED2-A9DA-7B1CCA376C59}"/>
              </a:ext>
            </a:extLst>
          </p:cNvPr>
          <p:cNvSpPr txBox="1"/>
          <p:nvPr/>
        </p:nvSpPr>
        <p:spPr>
          <a:xfrm>
            <a:off x="10313976" y="4699566"/>
            <a:ext cx="504000" cy="254620"/>
          </a:xfrm>
          <a:prstGeom prst="rect">
            <a:avLst/>
          </a:prstGeom>
        </p:spPr>
        <p:txBody>
          <a:bodyPr vert="horz" wrap="square" lIns="0" tIns="8318" rIns="0" bIns="0" rtlCol="0">
            <a:spAutoFit/>
          </a:bodyPr>
          <a:lstStyle/>
          <a:p>
            <a:pPr marL="6161" marR="0" lvl="0" indent="0" algn="l" defTabSz="554492"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err="1">
                <a:ln>
                  <a:noFill/>
                </a:ln>
                <a:solidFill>
                  <a:schemeClr val="tx2"/>
                </a:solidFill>
                <a:effectLst/>
                <a:uLnTx/>
                <a:uFillTx/>
                <a:latin typeface="Arial Nova" panose="020B0504020202020204" pitchFamily="34" charset="0"/>
                <a:ea typeface="+mn-ea"/>
                <a:cs typeface="Proxima Nova Semibold"/>
              </a:rPr>
              <a:t>Conver-sion</a:t>
            </a:r>
            <a:endParaRPr kumimoji="0" sz="800" b="0" i="0" u="none" strike="noStrike" kern="1200" cap="none" spc="0" normalizeH="0" baseline="0" noProof="0">
              <a:ln>
                <a:noFill/>
              </a:ln>
              <a:solidFill>
                <a:schemeClr val="tx2"/>
              </a:solidFill>
              <a:effectLst/>
              <a:uLnTx/>
              <a:uFillTx/>
              <a:latin typeface="Arial Nova" panose="020B0504020202020204" pitchFamily="34" charset="0"/>
              <a:ea typeface="+mn-ea"/>
              <a:cs typeface="Proxima Nova Semibold"/>
            </a:endParaRPr>
          </a:p>
        </p:txBody>
      </p:sp>
      <p:sp>
        <p:nvSpPr>
          <p:cNvPr id="466" name="object 81">
            <a:extLst>
              <a:ext uri="{FF2B5EF4-FFF2-40B4-BE49-F238E27FC236}">
                <a16:creationId xmlns:a16="http://schemas.microsoft.com/office/drawing/2014/main" id="{C932DAF8-BB63-4A73-8BA7-DFABB40A7329}"/>
              </a:ext>
            </a:extLst>
          </p:cNvPr>
          <p:cNvSpPr txBox="1"/>
          <p:nvPr/>
        </p:nvSpPr>
        <p:spPr>
          <a:xfrm>
            <a:off x="9407798" y="4954186"/>
            <a:ext cx="792000" cy="595923"/>
          </a:xfrm>
          <a:prstGeom prst="rect">
            <a:avLst/>
          </a:prstGeom>
        </p:spPr>
        <p:txBody>
          <a:bodyPr vert="horz" wrap="square" lIns="0" tIns="72000" rIns="0" bIns="0" rtlCol="0" anchor="t" anchorCtr="0">
            <a:spAutoFit/>
          </a:bodyPr>
          <a:lstStyle/>
          <a:p>
            <a:pPr marL="6161" marR="3081" lvl="0" indent="0" algn="l" defTabSz="554492"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18-24</a:t>
            </a:r>
            <a:r>
              <a:rPr kumimoji="0"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  </a:t>
            </a:r>
            <a:endParaRPr kumimoji="0" lang="en-US"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endParaRPr>
          </a:p>
          <a:p>
            <a:pPr marL="6161" marR="3081" lvl="0" indent="0" algn="l" defTabSz="554492"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25-34</a:t>
            </a:r>
          </a:p>
          <a:p>
            <a:pPr marL="6161" marR="3081" lvl="0" indent="0" algn="l" defTabSz="554492"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35-44</a:t>
            </a:r>
            <a:endParaRPr kumimoji="0"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endParaRPr>
          </a:p>
        </p:txBody>
      </p:sp>
      <p:sp>
        <p:nvSpPr>
          <p:cNvPr id="467" name="object 82">
            <a:extLst>
              <a:ext uri="{FF2B5EF4-FFF2-40B4-BE49-F238E27FC236}">
                <a16:creationId xmlns:a16="http://schemas.microsoft.com/office/drawing/2014/main" id="{E4B90D8A-AEB0-4C27-9AB0-713609650742}"/>
              </a:ext>
            </a:extLst>
          </p:cNvPr>
          <p:cNvSpPr txBox="1"/>
          <p:nvPr/>
        </p:nvSpPr>
        <p:spPr>
          <a:xfrm>
            <a:off x="9407798" y="4482851"/>
            <a:ext cx="1305986" cy="153888"/>
          </a:xfrm>
          <a:prstGeom prst="rect">
            <a:avLst/>
          </a:prstGeom>
        </p:spPr>
        <p:txBody>
          <a:bodyPr vert="horz" wrap="square" lIns="0" tIns="0" rIns="0" bIns="0" rtlCol="0" anchor="t" anchorCtr="0">
            <a:noAutofit/>
          </a:bodyPr>
          <a:lstStyle/>
          <a:p>
            <a:pPr marL="10166" marR="3081" lvl="0" indent="0" algn="l" defTabSz="554492" rtl="0" eaLnBrk="1" fontAlgn="auto" latinLnBrk="0" hangingPunct="1">
              <a:lnSpc>
                <a:spcPct val="100000"/>
              </a:lnSpc>
              <a:spcBef>
                <a:spcPts val="0"/>
              </a:spcBef>
              <a:spcAft>
                <a:spcPts val="0"/>
              </a:spcAft>
              <a:buClrTx/>
              <a:buSzTx/>
              <a:buFontTx/>
              <a:buNone/>
              <a:tabLst/>
              <a:defRPr/>
            </a:pPr>
            <a:r>
              <a:rPr kumimoji="0" sz="1000" b="1"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rPr>
              <a:t>Business Analyst</a:t>
            </a:r>
            <a:endParaRPr kumimoji="0" sz="10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a:endParaRPr>
          </a:p>
        </p:txBody>
      </p:sp>
      <p:sp>
        <p:nvSpPr>
          <p:cNvPr id="468" name="object 83">
            <a:extLst>
              <a:ext uri="{FF2B5EF4-FFF2-40B4-BE49-F238E27FC236}">
                <a16:creationId xmlns:a16="http://schemas.microsoft.com/office/drawing/2014/main" id="{73757AA7-304C-4FD7-9AE8-C54386DD0582}"/>
              </a:ext>
            </a:extLst>
          </p:cNvPr>
          <p:cNvSpPr txBox="1"/>
          <p:nvPr/>
        </p:nvSpPr>
        <p:spPr>
          <a:xfrm>
            <a:off x="10932155" y="4699568"/>
            <a:ext cx="504000" cy="252131"/>
          </a:xfrm>
          <a:prstGeom prst="rect">
            <a:avLst/>
          </a:prstGeom>
        </p:spPr>
        <p:txBody>
          <a:bodyPr vert="horz" wrap="square" lIns="0" tIns="5853" rIns="0" bIns="0" rtlCol="0">
            <a:spAutoFit/>
          </a:bodyPr>
          <a:lstStyle/>
          <a:p>
            <a:pPr marL="6777" marR="3081" lvl="0" indent="0" algn="l" defTabSz="554492"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err="1">
                <a:ln>
                  <a:noFill/>
                </a:ln>
                <a:solidFill>
                  <a:schemeClr val="tx2"/>
                </a:solidFill>
                <a:effectLst/>
                <a:uLnTx/>
                <a:uFillTx/>
                <a:latin typeface="Arial Nova" panose="020B0504020202020204" pitchFamily="34" charset="0"/>
                <a:ea typeface="+mn-ea"/>
                <a:cs typeface="Proxima Nova Semibold"/>
              </a:rPr>
              <a:t>Conver-sion</a:t>
            </a:r>
            <a:r>
              <a:rPr kumimoji="0" sz="800" b="1" i="0" u="none" strike="noStrike" kern="1200" cap="none" spc="0" normalizeH="0" baseline="0" noProof="0">
                <a:ln>
                  <a:noFill/>
                </a:ln>
                <a:solidFill>
                  <a:schemeClr val="tx2"/>
                </a:solidFill>
                <a:effectLst/>
                <a:uLnTx/>
                <a:uFillTx/>
                <a:latin typeface="Arial Nova" panose="020B0504020202020204" pitchFamily="34" charset="0"/>
                <a:ea typeface="+mn-ea"/>
                <a:cs typeface="Proxima Nova Semibold"/>
              </a:rPr>
              <a:t>  Rate</a:t>
            </a:r>
            <a:endParaRPr kumimoji="0" sz="800" b="1" i="0" u="none" strike="noStrike" kern="1200" cap="none" spc="0" normalizeH="0" baseline="0" noProof="0">
              <a:ln>
                <a:noFill/>
              </a:ln>
              <a:solidFill>
                <a:schemeClr val="tx2"/>
              </a:solidFill>
              <a:effectLst/>
              <a:uLnTx/>
              <a:uFillTx/>
              <a:latin typeface="Arial Nova" panose="020B0504020202020204" pitchFamily="34" charset="0"/>
              <a:ea typeface="+mn-ea"/>
              <a:cs typeface="Proxima Nova"/>
            </a:endParaRPr>
          </a:p>
        </p:txBody>
      </p:sp>
      <p:sp>
        <p:nvSpPr>
          <p:cNvPr id="469" name="object 79">
            <a:extLst>
              <a:ext uri="{FF2B5EF4-FFF2-40B4-BE49-F238E27FC236}">
                <a16:creationId xmlns:a16="http://schemas.microsoft.com/office/drawing/2014/main" id="{BE5D6248-64A2-4982-BF0C-CD5C8CE0DD13}"/>
              </a:ext>
            </a:extLst>
          </p:cNvPr>
          <p:cNvSpPr txBox="1"/>
          <p:nvPr/>
        </p:nvSpPr>
        <p:spPr>
          <a:xfrm>
            <a:off x="9407797" y="4699566"/>
            <a:ext cx="923989" cy="254620"/>
          </a:xfrm>
          <a:prstGeom prst="rect">
            <a:avLst/>
          </a:prstGeom>
        </p:spPr>
        <p:txBody>
          <a:bodyPr vert="horz" wrap="square" lIns="0" tIns="8318" rIns="0" bIns="0" rtlCol="0">
            <a:spAutoFit/>
          </a:bodyPr>
          <a:lstStyle/>
          <a:p>
            <a:pPr marL="6161" marR="0" lvl="0" indent="0" algn="l" defTabSz="554492"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chemeClr val="tx2"/>
                </a:solidFill>
                <a:effectLst/>
                <a:uLnTx/>
                <a:uFillTx/>
                <a:latin typeface="Arial Nova" panose="020B0504020202020204" pitchFamily="34" charset="0"/>
                <a:ea typeface="+mn-ea"/>
                <a:cs typeface="Proxima Nova Semibold"/>
              </a:rPr>
              <a:t>Deep dive on segment 1 (Age)</a:t>
            </a:r>
          </a:p>
        </p:txBody>
      </p:sp>
      <p:cxnSp>
        <p:nvCxnSpPr>
          <p:cNvPr id="470" name="Straight Connector 469">
            <a:extLst>
              <a:ext uri="{FF2B5EF4-FFF2-40B4-BE49-F238E27FC236}">
                <a16:creationId xmlns:a16="http://schemas.microsoft.com/office/drawing/2014/main" id="{1500005C-76D7-48EC-B784-B84152036E71}"/>
              </a:ext>
            </a:extLst>
          </p:cNvPr>
          <p:cNvCxnSpPr>
            <a:cxnSpLocks/>
          </p:cNvCxnSpPr>
          <p:nvPr/>
        </p:nvCxnSpPr>
        <p:spPr>
          <a:xfrm flipH="1" flipV="1">
            <a:off x="11563349" y="5005155"/>
            <a:ext cx="1" cy="720000"/>
          </a:xfrm>
          <a:prstGeom prst="line">
            <a:avLst/>
          </a:prstGeom>
          <a:ln w="25400" cap="rnd">
            <a:solidFill>
              <a:schemeClr val="bg1">
                <a:lumMod val="85000"/>
              </a:schemeClr>
            </a:solidFill>
            <a:prstDash val="solid"/>
            <a:round/>
            <a:tailEnd type="none" w="med" len="sm"/>
          </a:ln>
        </p:spPr>
        <p:style>
          <a:lnRef idx="1">
            <a:schemeClr val="accent1"/>
          </a:lnRef>
          <a:fillRef idx="0">
            <a:schemeClr val="accent1"/>
          </a:fillRef>
          <a:effectRef idx="0">
            <a:schemeClr val="accent1"/>
          </a:effectRef>
          <a:fontRef idx="minor">
            <a:schemeClr val="tx1"/>
          </a:fontRef>
        </p:style>
      </p:cxnSp>
      <p:sp>
        <p:nvSpPr>
          <p:cNvPr id="471" name="object 81">
            <a:extLst>
              <a:ext uri="{FF2B5EF4-FFF2-40B4-BE49-F238E27FC236}">
                <a16:creationId xmlns:a16="http://schemas.microsoft.com/office/drawing/2014/main" id="{2AC98B57-9FE5-4B25-88B3-247540E3B19C}"/>
              </a:ext>
            </a:extLst>
          </p:cNvPr>
          <p:cNvSpPr txBox="1"/>
          <p:nvPr/>
        </p:nvSpPr>
        <p:spPr>
          <a:xfrm>
            <a:off x="10313976" y="4954186"/>
            <a:ext cx="504000" cy="595923"/>
          </a:xfrm>
          <a:prstGeom prst="rect">
            <a:avLst/>
          </a:prstGeom>
        </p:spPr>
        <p:txBody>
          <a:bodyPr vert="horz" wrap="square" lIns="0" tIns="72000" rIns="0" bIns="0" rtlCol="0" anchor="t" anchorCtr="0">
            <a:spAutoFit/>
          </a:bodyPr>
          <a:lstStyle/>
          <a:p>
            <a:pPr marL="6161" marR="0" lvl="0" indent="0" algn="l" defTabSz="554492"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XX</a:t>
            </a:r>
          </a:p>
          <a:p>
            <a:pPr marL="6161" marR="0" lvl="0" indent="0" algn="l" defTabSz="554492"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ZZ</a:t>
            </a:r>
          </a:p>
          <a:p>
            <a:pPr marL="6161" marR="0" lvl="0" indent="0" algn="l" defTabSz="554492"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ZZ</a:t>
            </a:r>
          </a:p>
        </p:txBody>
      </p:sp>
      <p:sp>
        <p:nvSpPr>
          <p:cNvPr id="472" name="object 81">
            <a:extLst>
              <a:ext uri="{FF2B5EF4-FFF2-40B4-BE49-F238E27FC236}">
                <a16:creationId xmlns:a16="http://schemas.microsoft.com/office/drawing/2014/main" id="{FD72D904-EA05-47C3-B123-1C87EFE668A3}"/>
              </a:ext>
            </a:extLst>
          </p:cNvPr>
          <p:cNvSpPr txBox="1"/>
          <p:nvPr/>
        </p:nvSpPr>
        <p:spPr>
          <a:xfrm>
            <a:off x="10932155" y="4954186"/>
            <a:ext cx="504000" cy="595923"/>
          </a:xfrm>
          <a:prstGeom prst="rect">
            <a:avLst/>
          </a:prstGeom>
        </p:spPr>
        <p:txBody>
          <a:bodyPr vert="horz" wrap="square" lIns="0" tIns="72000" rIns="0" bIns="0" rtlCol="0" anchor="t" anchorCtr="0">
            <a:spAutoFit/>
          </a:bodyPr>
          <a:lstStyle/>
          <a:p>
            <a:pPr marL="6161" marR="0" lvl="0" indent="0" algn="l" defTabSz="554492"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Y</a:t>
            </a:r>
          </a:p>
          <a:p>
            <a:pPr marL="6161" marR="0" lvl="0" indent="0" algn="l" defTabSz="554492"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Y</a:t>
            </a:r>
          </a:p>
          <a:p>
            <a:pPr marL="6161" marR="0" lvl="0" indent="0" algn="l" defTabSz="554492"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Nova" panose="020B0504020202020204" pitchFamily="34" charset="0"/>
                <a:ea typeface="+mn-ea"/>
                <a:cs typeface="Proxima Nova Semibold"/>
              </a:rPr>
              <a:t>A</a:t>
            </a:r>
          </a:p>
        </p:txBody>
      </p:sp>
      <p:grpSp>
        <p:nvGrpSpPr>
          <p:cNvPr id="473" name="Group 472">
            <a:extLst>
              <a:ext uri="{FF2B5EF4-FFF2-40B4-BE49-F238E27FC236}">
                <a16:creationId xmlns:a16="http://schemas.microsoft.com/office/drawing/2014/main" id="{D132E463-906A-40B9-B463-F7A5015709D0}"/>
              </a:ext>
            </a:extLst>
          </p:cNvPr>
          <p:cNvGrpSpPr>
            <a:grpSpLocks noChangeAspect="1"/>
          </p:cNvGrpSpPr>
          <p:nvPr/>
        </p:nvGrpSpPr>
        <p:grpSpPr>
          <a:xfrm>
            <a:off x="9408415" y="3684539"/>
            <a:ext cx="860335" cy="658355"/>
            <a:chOff x="9407798" y="3717790"/>
            <a:chExt cx="869025" cy="665005"/>
          </a:xfrm>
        </p:grpSpPr>
        <p:sp>
          <p:nvSpPr>
            <p:cNvPr id="474" name="Freeform: Shape 473">
              <a:extLst>
                <a:ext uri="{FF2B5EF4-FFF2-40B4-BE49-F238E27FC236}">
                  <a16:creationId xmlns:a16="http://schemas.microsoft.com/office/drawing/2014/main" id="{A8A0A0D5-A8D2-4F6A-BA42-F20D896509CD}"/>
                </a:ext>
              </a:extLst>
            </p:cNvPr>
            <p:cNvSpPr/>
            <p:nvPr/>
          </p:nvSpPr>
          <p:spPr>
            <a:xfrm>
              <a:off x="9826274" y="3981381"/>
              <a:ext cx="237119" cy="224675"/>
            </a:xfrm>
            <a:custGeom>
              <a:avLst/>
              <a:gdLst>
                <a:gd name="connsiteX0" fmla="*/ 224775 w 237119"/>
                <a:gd name="connsiteY0" fmla="*/ 224676 h 224675"/>
                <a:gd name="connsiteX1" fmla="*/ 74396 w 237119"/>
                <a:gd name="connsiteY1" fmla="*/ 224676 h 224675"/>
                <a:gd name="connsiteX2" fmla="*/ 62614 w 237119"/>
                <a:gd name="connsiteY2" fmla="*/ 216000 h 224675"/>
                <a:gd name="connsiteX3" fmla="*/ 563 w 237119"/>
                <a:gd name="connsiteY3" fmla="*/ 15995 h 224675"/>
                <a:gd name="connsiteX4" fmla="*/ 12345 w 237119"/>
                <a:gd name="connsiteY4" fmla="*/ 0 h 224675"/>
                <a:gd name="connsiteX5" fmla="*/ 162724 w 237119"/>
                <a:gd name="connsiteY5" fmla="*/ 0 h 224675"/>
                <a:gd name="connsiteX6" fmla="*/ 174506 w 237119"/>
                <a:gd name="connsiteY6" fmla="*/ 8676 h 224675"/>
                <a:gd name="connsiteX7" fmla="*/ 236557 w 237119"/>
                <a:gd name="connsiteY7" fmla="*/ 208681 h 224675"/>
                <a:gd name="connsiteX8" fmla="*/ 224775 w 237119"/>
                <a:gd name="connsiteY8" fmla="*/ 224676 h 224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119" h="224675">
                  <a:moveTo>
                    <a:pt x="224775" y="224676"/>
                  </a:moveTo>
                  <a:lnTo>
                    <a:pt x="74396" y="224676"/>
                  </a:lnTo>
                  <a:cubicBezTo>
                    <a:pt x="68969" y="224676"/>
                    <a:pt x="64185" y="221141"/>
                    <a:pt x="62614" y="216000"/>
                  </a:cubicBezTo>
                  <a:lnTo>
                    <a:pt x="563" y="15995"/>
                  </a:lnTo>
                  <a:cubicBezTo>
                    <a:pt x="-1900" y="8033"/>
                    <a:pt x="4026" y="0"/>
                    <a:pt x="12345" y="0"/>
                  </a:cubicBezTo>
                  <a:lnTo>
                    <a:pt x="162724" y="0"/>
                  </a:lnTo>
                  <a:cubicBezTo>
                    <a:pt x="168151" y="0"/>
                    <a:pt x="172935" y="3535"/>
                    <a:pt x="174506" y="8676"/>
                  </a:cubicBezTo>
                  <a:lnTo>
                    <a:pt x="236557" y="208681"/>
                  </a:lnTo>
                  <a:cubicBezTo>
                    <a:pt x="239020" y="216643"/>
                    <a:pt x="233093" y="224676"/>
                    <a:pt x="224775" y="224676"/>
                  </a:cubicBezTo>
                  <a:close/>
                </a:path>
              </a:pathLst>
            </a:custGeom>
            <a:solidFill>
              <a:schemeClr val="tx2">
                <a:lumMod val="20000"/>
                <a:lumOff val="80000"/>
              </a:schemeClr>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75" name="Freeform: Shape 474">
              <a:extLst>
                <a:ext uri="{FF2B5EF4-FFF2-40B4-BE49-F238E27FC236}">
                  <a16:creationId xmlns:a16="http://schemas.microsoft.com/office/drawing/2014/main" id="{7B807B85-98C4-4000-848D-856E21EE1017}"/>
                </a:ext>
              </a:extLst>
            </p:cNvPr>
            <p:cNvSpPr/>
            <p:nvPr/>
          </p:nvSpPr>
          <p:spPr>
            <a:xfrm>
              <a:off x="9863669" y="3974205"/>
              <a:ext cx="107990" cy="16351"/>
            </a:xfrm>
            <a:custGeom>
              <a:avLst/>
              <a:gdLst>
                <a:gd name="connsiteX0" fmla="*/ 99801 w 107990"/>
                <a:gd name="connsiteY0" fmla="*/ 16352 h 16351"/>
                <a:gd name="connsiteX1" fmla="*/ 8189 w 107990"/>
                <a:gd name="connsiteY1" fmla="*/ 16352 h 16351"/>
                <a:gd name="connsiteX2" fmla="*/ 406 w 107990"/>
                <a:gd name="connsiteY2" fmla="*/ 10711 h 16351"/>
                <a:gd name="connsiteX3" fmla="*/ 8189 w 107990"/>
                <a:gd name="connsiteY3" fmla="*/ 0 h 16351"/>
                <a:gd name="connsiteX4" fmla="*/ 99801 w 107990"/>
                <a:gd name="connsiteY4" fmla="*/ 0 h 16351"/>
                <a:gd name="connsiteX5" fmla="*/ 107585 w 107990"/>
                <a:gd name="connsiteY5" fmla="*/ 5641 h 16351"/>
                <a:gd name="connsiteX6" fmla="*/ 99801 w 107990"/>
                <a:gd name="connsiteY6" fmla="*/ 16352 h 16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90" h="16351">
                  <a:moveTo>
                    <a:pt x="99801" y="16352"/>
                  </a:moveTo>
                  <a:lnTo>
                    <a:pt x="8189" y="16352"/>
                  </a:lnTo>
                  <a:cubicBezTo>
                    <a:pt x="4654" y="16352"/>
                    <a:pt x="1513" y="14067"/>
                    <a:pt x="406" y="10711"/>
                  </a:cubicBezTo>
                  <a:cubicBezTo>
                    <a:pt x="-1308" y="5427"/>
                    <a:pt x="2619" y="0"/>
                    <a:pt x="8189" y="0"/>
                  </a:cubicBezTo>
                  <a:lnTo>
                    <a:pt x="99801" y="0"/>
                  </a:lnTo>
                  <a:cubicBezTo>
                    <a:pt x="103336" y="0"/>
                    <a:pt x="106478" y="2285"/>
                    <a:pt x="107585" y="5641"/>
                  </a:cubicBezTo>
                  <a:cubicBezTo>
                    <a:pt x="109298" y="10925"/>
                    <a:pt x="105371" y="16352"/>
                    <a:pt x="99801" y="16352"/>
                  </a:cubicBezTo>
                  <a:close/>
                </a:path>
              </a:pathLst>
            </a:custGeom>
            <a:solidFill>
              <a:schemeClr val="tx2"/>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76" name="Freeform: Shape 475">
              <a:extLst>
                <a:ext uri="{FF2B5EF4-FFF2-40B4-BE49-F238E27FC236}">
                  <a16:creationId xmlns:a16="http://schemas.microsoft.com/office/drawing/2014/main" id="{904CCF9A-5C59-42D5-9777-C36AB3B65D93}"/>
                </a:ext>
              </a:extLst>
            </p:cNvPr>
            <p:cNvSpPr/>
            <p:nvPr/>
          </p:nvSpPr>
          <p:spPr>
            <a:xfrm>
              <a:off x="9881462" y="4019011"/>
              <a:ext cx="93004" cy="5640"/>
            </a:xfrm>
            <a:custGeom>
              <a:avLst/>
              <a:gdLst>
                <a:gd name="connsiteX0" fmla="*/ 90184 w 93004"/>
                <a:gd name="connsiteY0" fmla="*/ 5641 h 5640"/>
                <a:gd name="connsiteX1" fmla="*/ 2821 w 93004"/>
                <a:gd name="connsiteY1" fmla="*/ 5641 h 5640"/>
                <a:gd name="connsiteX2" fmla="*/ 0 w 93004"/>
                <a:gd name="connsiteY2" fmla="*/ 2820 h 5640"/>
                <a:gd name="connsiteX3" fmla="*/ 2821 w 93004"/>
                <a:gd name="connsiteY3" fmla="*/ 0 h 5640"/>
                <a:gd name="connsiteX4" fmla="*/ 90184 w 93004"/>
                <a:gd name="connsiteY4" fmla="*/ 0 h 5640"/>
                <a:gd name="connsiteX5" fmla="*/ 93005 w 93004"/>
                <a:gd name="connsiteY5" fmla="*/ 2820 h 5640"/>
                <a:gd name="connsiteX6" fmla="*/ 90184 w 93004"/>
                <a:gd name="connsiteY6" fmla="*/ 5641 h 5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004" h="5640">
                  <a:moveTo>
                    <a:pt x="90184" y="5641"/>
                  </a:moveTo>
                  <a:lnTo>
                    <a:pt x="2821" y="5641"/>
                  </a:lnTo>
                  <a:cubicBezTo>
                    <a:pt x="1250" y="5641"/>
                    <a:pt x="0" y="4356"/>
                    <a:pt x="0" y="2820"/>
                  </a:cubicBezTo>
                  <a:cubicBezTo>
                    <a:pt x="0" y="1285"/>
                    <a:pt x="1285" y="0"/>
                    <a:pt x="2821" y="0"/>
                  </a:cubicBezTo>
                  <a:lnTo>
                    <a:pt x="90184" y="0"/>
                  </a:lnTo>
                  <a:cubicBezTo>
                    <a:pt x="91755" y="0"/>
                    <a:pt x="93005" y="1285"/>
                    <a:pt x="93005" y="2820"/>
                  </a:cubicBezTo>
                  <a:cubicBezTo>
                    <a:pt x="93005" y="4356"/>
                    <a:pt x="91720" y="5641"/>
                    <a:pt x="90184" y="5641"/>
                  </a:cubicBezTo>
                  <a:close/>
                </a:path>
              </a:pathLst>
            </a:custGeom>
            <a:solidFill>
              <a:schemeClr val="tx2"/>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77" name="Freeform: Shape 476">
              <a:extLst>
                <a:ext uri="{FF2B5EF4-FFF2-40B4-BE49-F238E27FC236}">
                  <a16:creationId xmlns:a16="http://schemas.microsoft.com/office/drawing/2014/main" id="{A1465BA2-0852-416B-9144-5D9AE28B6AEC}"/>
                </a:ext>
              </a:extLst>
            </p:cNvPr>
            <p:cNvSpPr/>
            <p:nvPr/>
          </p:nvSpPr>
          <p:spPr>
            <a:xfrm>
              <a:off x="9891638" y="4047716"/>
              <a:ext cx="93004" cy="5640"/>
            </a:xfrm>
            <a:custGeom>
              <a:avLst/>
              <a:gdLst>
                <a:gd name="connsiteX0" fmla="*/ 90184 w 93004"/>
                <a:gd name="connsiteY0" fmla="*/ 5641 h 5640"/>
                <a:gd name="connsiteX1" fmla="*/ 2820 w 93004"/>
                <a:gd name="connsiteY1" fmla="*/ 5641 h 5640"/>
                <a:gd name="connsiteX2" fmla="*/ 0 w 93004"/>
                <a:gd name="connsiteY2" fmla="*/ 2820 h 5640"/>
                <a:gd name="connsiteX3" fmla="*/ 2820 w 93004"/>
                <a:gd name="connsiteY3" fmla="*/ 0 h 5640"/>
                <a:gd name="connsiteX4" fmla="*/ 90184 w 93004"/>
                <a:gd name="connsiteY4" fmla="*/ 0 h 5640"/>
                <a:gd name="connsiteX5" fmla="*/ 93005 w 93004"/>
                <a:gd name="connsiteY5" fmla="*/ 2820 h 5640"/>
                <a:gd name="connsiteX6" fmla="*/ 90184 w 93004"/>
                <a:gd name="connsiteY6" fmla="*/ 5641 h 5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004" h="5640">
                  <a:moveTo>
                    <a:pt x="90184" y="5641"/>
                  </a:moveTo>
                  <a:lnTo>
                    <a:pt x="2820" y="5641"/>
                  </a:lnTo>
                  <a:cubicBezTo>
                    <a:pt x="1250" y="5641"/>
                    <a:pt x="0" y="4356"/>
                    <a:pt x="0" y="2820"/>
                  </a:cubicBezTo>
                  <a:cubicBezTo>
                    <a:pt x="0" y="1285"/>
                    <a:pt x="1285" y="0"/>
                    <a:pt x="2820" y="0"/>
                  </a:cubicBezTo>
                  <a:lnTo>
                    <a:pt x="90184" y="0"/>
                  </a:lnTo>
                  <a:cubicBezTo>
                    <a:pt x="91755" y="0"/>
                    <a:pt x="93005" y="1285"/>
                    <a:pt x="93005" y="2820"/>
                  </a:cubicBezTo>
                  <a:cubicBezTo>
                    <a:pt x="93005" y="4356"/>
                    <a:pt x="91720" y="5641"/>
                    <a:pt x="90184" y="5641"/>
                  </a:cubicBezTo>
                  <a:close/>
                </a:path>
              </a:pathLst>
            </a:custGeom>
            <a:solidFill>
              <a:schemeClr val="tx2"/>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78" name="Freeform: Shape 477">
              <a:extLst>
                <a:ext uri="{FF2B5EF4-FFF2-40B4-BE49-F238E27FC236}">
                  <a16:creationId xmlns:a16="http://schemas.microsoft.com/office/drawing/2014/main" id="{19D6357F-D6FA-4BC3-9BD1-8146CFA8FB6E}"/>
                </a:ext>
              </a:extLst>
            </p:cNvPr>
            <p:cNvSpPr/>
            <p:nvPr/>
          </p:nvSpPr>
          <p:spPr>
            <a:xfrm>
              <a:off x="9821289" y="4025009"/>
              <a:ext cx="89234" cy="169729"/>
            </a:xfrm>
            <a:custGeom>
              <a:avLst/>
              <a:gdLst>
                <a:gd name="connsiteX0" fmla="*/ 89235 w 89234"/>
                <a:gd name="connsiteY0" fmla="*/ 149772 h 169729"/>
                <a:gd name="connsiteX1" fmla="*/ 80595 w 89234"/>
                <a:gd name="connsiteY1" fmla="*/ 107929 h 169729"/>
                <a:gd name="connsiteX2" fmla="*/ 78381 w 89234"/>
                <a:gd name="connsiteY2" fmla="*/ 70084 h 169729"/>
                <a:gd name="connsiteX3" fmla="*/ 59459 w 89234"/>
                <a:gd name="connsiteY3" fmla="*/ 44128 h 169729"/>
                <a:gd name="connsiteX4" fmla="*/ 39501 w 89234"/>
                <a:gd name="connsiteY4" fmla="*/ 5748 h 169729"/>
                <a:gd name="connsiteX5" fmla="*/ 26970 w 89234"/>
                <a:gd name="connsiteY5" fmla="*/ 41415 h 169729"/>
                <a:gd name="connsiteX6" fmla="*/ 14117 w 89234"/>
                <a:gd name="connsiteY6" fmla="*/ 0 h 169729"/>
                <a:gd name="connsiteX7" fmla="*/ 586 w 89234"/>
                <a:gd name="connsiteY7" fmla="*/ 55803 h 169729"/>
                <a:gd name="connsiteX8" fmla="*/ 23435 w 89234"/>
                <a:gd name="connsiteY8" fmla="*/ 121603 h 169729"/>
                <a:gd name="connsiteX9" fmla="*/ 16402 w 89234"/>
                <a:gd name="connsiteY9" fmla="*/ 169730 h 169729"/>
                <a:gd name="connsiteX10" fmla="*/ 89199 w 89234"/>
                <a:gd name="connsiteY10" fmla="*/ 149772 h 169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234" h="169729">
                  <a:moveTo>
                    <a:pt x="89235" y="149772"/>
                  </a:moveTo>
                  <a:lnTo>
                    <a:pt x="80595" y="107929"/>
                  </a:lnTo>
                  <a:cubicBezTo>
                    <a:pt x="80595" y="107929"/>
                    <a:pt x="88842" y="81366"/>
                    <a:pt x="78381" y="70084"/>
                  </a:cubicBezTo>
                  <a:cubicBezTo>
                    <a:pt x="67921" y="58802"/>
                    <a:pt x="63386" y="59730"/>
                    <a:pt x="59459" y="44128"/>
                  </a:cubicBezTo>
                  <a:cubicBezTo>
                    <a:pt x="55532" y="28526"/>
                    <a:pt x="57888" y="6069"/>
                    <a:pt x="39501" y="5748"/>
                  </a:cubicBezTo>
                  <a:cubicBezTo>
                    <a:pt x="21115" y="5427"/>
                    <a:pt x="26970" y="41415"/>
                    <a:pt x="26970" y="41415"/>
                  </a:cubicBezTo>
                  <a:lnTo>
                    <a:pt x="14117" y="0"/>
                  </a:lnTo>
                  <a:cubicBezTo>
                    <a:pt x="14117" y="0"/>
                    <a:pt x="5513" y="43200"/>
                    <a:pt x="586" y="55803"/>
                  </a:cubicBezTo>
                  <a:cubicBezTo>
                    <a:pt x="-4341" y="68406"/>
                    <a:pt x="23435" y="121603"/>
                    <a:pt x="23435" y="121603"/>
                  </a:cubicBezTo>
                  <a:lnTo>
                    <a:pt x="16402" y="169730"/>
                  </a:lnTo>
                  <a:lnTo>
                    <a:pt x="89199" y="149772"/>
                  </a:lnTo>
                  <a:close/>
                </a:path>
              </a:pathLst>
            </a:custGeom>
            <a:solidFill>
              <a:srgbClr val="FFBEBB"/>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79" name="Freeform: Shape 478">
              <a:extLst>
                <a:ext uri="{FF2B5EF4-FFF2-40B4-BE49-F238E27FC236}">
                  <a16:creationId xmlns:a16="http://schemas.microsoft.com/office/drawing/2014/main" id="{8C37129B-D4F4-4C7B-B181-A33A0AEDCFCD}"/>
                </a:ext>
              </a:extLst>
            </p:cNvPr>
            <p:cNvSpPr/>
            <p:nvPr/>
          </p:nvSpPr>
          <p:spPr>
            <a:xfrm>
              <a:off x="9845420" y="4063585"/>
              <a:ext cx="9213" cy="36185"/>
            </a:xfrm>
            <a:custGeom>
              <a:avLst/>
              <a:gdLst>
                <a:gd name="connsiteX0" fmla="*/ 6374 w 9213"/>
                <a:gd name="connsiteY0" fmla="*/ 36185 h 36185"/>
                <a:gd name="connsiteX1" fmla="*/ 3553 w 9213"/>
                <a:gd name="connsiteY1" fmla="*/ 33686 h 36185"/>
                <a:gd name="connsiteX2" fmla="*/ 19 w 9213"/>
                <a:gd name="connsiteY2" fmla="*/ 3161 h 36185"/>
                <a:gd name="connsiteX3" fmla="*/ 2518 w 9213"/>
                <a:gd name="connsiteY3" fmla="*/ 19 h 36185"/>
                <a:gd name="connsiteX4" fmla="*/ 5660 w 9213"/>
                <a:gd name="connsiteY4" fmla="*/ 2518 h 36185"/>
                <a:gd name="connsiteX5" fmla="*/ 9194 w 9213"/>
                <a:gd name="connsiteY5" fmla="*/ 33044 h 36185"/>
                <a:gd name="connsiteX6" fmla="*/ 6695 w 9213"/>
                <a:gd name="connsiteY6" fmla="*/ 36185 h 36185"/>
                <a:gd name="connsiteX7" fmla="*/ 6374 w 9213"/>
                <a:gd name="connsiteY7" fmla="*/ 36185 h 36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13" h="36185">
                  <a:moveTo>
                    <a:pt x="6374" y="36185"/>
                  </a:moveTo>
                  <a:cubicBezTo>
                    <a:pt x="4946" y="36185"/>
                    <a:pt x="3732" y="35114"/>
                    <a:pt x="3553" y="33686"/>
                  </a:cubicBezTo>
                  <a:lnTo>
                    <a:pt x="19" y="3161"/>
                  </a:lnTo>
                  <a:cubicBezTo>
                    <a:pt x="-160" y="1590"/>
                    <a:pt x="947" y="197"/>
                    <a:pt x="2518" y="19"/>
                  </a:cubicBezTo>
                  <a:cubicBezTo>
                    <a:pt x="4089" y="-160"/>
                    <a:pt x="5481" y="947"/>
                    <a:pt x="5660" y="2518"/>
                  </a:cubicBezTo>
                  <a:lnTo>
                    <a:pt x="9194" y="33044"/>
                  </a:lnTo>
                  <a:cubicBezTo>
                    <a:pt x="9373" y="34615"/>
                    <a:pt x="8266" y="36007"/>
                    <a:pt x="6695" y="36185"/>
                  </a:cubicBezTo>
                  <a:cubicBezTo>
                    <a:pt x="6588" y="36185"/>
                    <a:pt x="6481" y="36185"/>
                    <a:pt x="6374" y="36185"/>
                  </a:cubicBezTo>
                  <a:close/>
                </a:path>
              </a:pathLst>
            </a:custGeom>
            <a:solidFill>
              <a:srgbClr val="F47C73"/>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80" name="Freeform: Shape 479">
              <a:extLst>
                <a:ext uri="{FF2B5EF4-FFF2-40B4-BE49-F238E27FC236}">
                  <a16:creationId xmlns:a16="http://schemas.microsoft.com/office/drawing/2014/main" id="{713C81E1-5E23-4464-BF1D-511050AD92EB}"/>
                </a:ext>
              </a:extLst>
            </p:cNvPr>
            <p:cNvSpPr/>
            <p:nvPr/>
          </p:nvSpPr>
          <p:spPr>
            <a:xfrm>
              <a:off x="9830388" y="4121922"/>
              <a:ext cx="85741" cy="32830"/>
            </a:xfrm>
            <a:custGeom>
              <a:avLst/>
              <a:gdLst>
                <a:gd name="connsiteX0" fmla="*/ 76994 w 85741"/>
                <a:gd name="connsiteY0" fmla="*/ 127 h 32830"/>
                <a:gd name="connsiteX1" fmla="*/ 5018 w 85741"/>
                <a:gd name="connsiteY1" fmla="*/ 12587 h 32830"/>
                <a:gd name="connsiteX2" fmla="*/ 20 w 85741"/>
                <a:gd name="connsiteY2" fmla="*/ 19049 h 32830"/>
                <a:gd name="connsiteX3" fmla="*/ 1234 w 85741"/>
                <a:gd name="connsiteY3" fmla="*/ 32830 h 32830"/>
                <a:gd name="connsiteX4" fmla="*/ 85741 w 85741"/>
                <a:gd name="connsiteY4" fmla="*/ 14658 h 32830"/>
                <a:gd name="connsiteX5" fmla="*/ 83956 w 85741"/>
                <a:gd name="connsiteY5" fmla="*/ 4947 h 32830"/>
                <a:gd name="connsiteX6" fmla="*/ 76994 w 85741"/>
                <a:gd name="connsiteY6" fmla="*/ 91 h 32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41" h="32830">
                  <a:moveTo>
                    <a:pt x="76994" y="127"/>
                  </a:moveTo>
                  <a:lnTo>
                    <a:pt x="5018" y="12587"/>
                  </a:lnTo>
                  <a:cubicBezTo>
                    <a:pt x="1912" y="13122"/>
                    <a:pt x="-230" y="15943"/>
                    <a:pt x="20" y="19049"/>
                  </a:cubicBezTo>
                  <a:lnTo>
                    <a:pt x="1234" y="32830"/>
                  </a:lnTo>
                  <a:lnTo>
                    <a:pt x="85741" y="14658"/>
                  </a:lnTo>
                  <a:lnTo>
                    <a:pt x="83956" y="4947"/>
                  </a:lnTo>
                  <a:cubicBezTo>
                    <a:pt x="83349" y="1698"/>
                    <a:pt x="80243" y="-480"/>
                    <a:pt x="76994" y="91"/>
                  </a:cubicBezTo>
                  <a:close/>
                </a:path>
              </a:pathLst>
            </a:custGeom>
            <a:solidFill>
              <a:srgbClr val="F3F2FF"/>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81" name="Freeform: Shape 480">
              <a:extLst>
                <a:ext uri="{FF2B5EF4-FFF2-40B4-BE49-F238E27FC236}">
                  <a16:creationId xmlns:a16="http://schemas.microsoft.com/office/drawing/2014/main" id="{3F6BCC2A-CD8F-4898-80D2-DA99752FDA37}"/>
                </a:ext>
              </a:extLst>
            </p:cNvPr>
            <p:cNvSpPr/>
            <p:nvPr/>
          </p:nvSpPr>
          <p:spPr>
            <a:xfrm>
              <a:off x="10021099" y="3889911"/>
              <a:ext cx="147595" cy="166736"/>
            </a:xfrm>
            <a:custGeom>
              <a:avLst/>
              <a:gdLst>
                <a:gd name="connsiteX0" fmla="*/ 94250 w 147595"/>
                <a:gd name="connsiteY0" fmla="*/ 26598 h 166736"/>
                <a:gd name="connsiteX1" fmla="*/ 66795 w 147595"/>
                <a:gd name="connsiteY1" fmla="*/ 0 h 166736"/>
                <a:gd name="connsiteX2" fmla="*/ 44124 w 147595"/>
                <a:gd name="connsiteY2" fmla="*/ 15959 h 166736"/>
                <a:gd name="connsiteX3" fmla="*/ 3031 w 147595"/>
                <a:gd name="connsiteY3" fmla="*/ 32025 h 166736"/>
                <a:gd name="connsiteX4" fmla="*/ 11206 w 147595"/>
                <a:gd name="connsiteY4" fmla="*/ 65336 h 166736"/>
                <a:gd name="connsiteX5" fmla="*/ 58548 w 147595"/>
                <a:gd name="connsiteY5" fmla="*/ 164446 h 166736"/>
                <a:gd name="connsiteX6" fmla="*/ 145305 w 147595"/>
                <a:gd name="connsiteY6" fmla="*/ 113391 h 166736"/>
                <a:gd name="connsiteX7" fmla="*/ 94250 w 147595"/>
                <a:gd name="connsiteY7" fmla="*/ 26634 h 166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595" h="166736">
                  <a:moveTo>
                    <a:pt x="94250" y="26598"/>
                  </a:moveTo>
                  <a:cubicBezTo>
                    <a:pt x="92751" y="26206"/>
                    <a:pt x="96428" y="36"/>
                    <a:pt x="66795" y="0"/>
                  </a:cubicBezTo>
                  <a:cubicBezTo>
                    <a:pt x="49408" y="0"/>
                    <a:pt x="44731" y="9211"/>
                    <a:pt x="44124" y="15959"/>
                  </a:cubicBezTo>
                  <a:cubicBezTo>
                    <a:pt x="26309" y="10497"/>
                    <a:pt x="11028" y="16744"/>
                    <a:pt x="3031" y="32025"/>
                  </a:cubicBezTo>
                  <a:cubicBezTo>
                    <a:pt x="-7038" y="51233"/>
                    <a:pt x="11206" y="65336"/>
                    <a:pt x="11206" y="65336"/>
                  </a:cubicBezTo>
                  <a:cubicBezTo>
                    <a:pt x="11206" y="65336"/>
                    <a:pt x="24952" y="155734"/>
                    <a:pt x="58548" y="164446"/>
                  </a:cubicBezTo>
                  <a:cubicBezTo>
                    <a:pt x="96607" y="174299"/>
                    <a:pt x="135451" y="151450"/>
                    <a:pt x="145305" y="113391"/>
                  </a:cubicBezTo>
                  <a:cubicBezTo>
                    <a:pt x="155159" y="75332"/>
                    <a:pt x="132309" y="36488"/>
                    <a:pt x="94250" y="26634"/>
                  </a:cubicBezTo>
                  <a:close/>
                </a:path>
              </a:pathLst>
            </a:custGeom>
            <a:solidFill>
              <a:schemeClr val="accent2"/>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82" name="Freeform: Shape 481">
              <a:extLst>
                <a:ext uri="{FF2B5EF4-FFF2-40B4-BE49-F238E27FC236}">
                  <a16:creationId xmlns:a16="http://schemas.microsoft.com/office/drawing/2014/main" id="{9646AF4D-DB15-4DCB-97AE-12C807982DB1}"/>
                </a:ext>
              </a:extLst>
            </p:cNvPr>
            <p:cNvSpPr/>
            <p:nvPr/>
          </p:nvSpPr>
          <p:spPr>
            <a:xfrm>
              <a:off x="10008880" y="3939573"/>
              <a:ext cx="118465" cy="152092"/>
            </a:xfrm>
            <a:custGeom>
              <a:avLst/>
              <a:gdLst>
                <a:gd name="connsiteX0" fmla="*/ 118466 w 118465"/>
                <a:gd name="connsiteY0" fmla="*/ 152057 h 152092"/>
                <a:gd name="connsiteX1" fmla="*/ 111718 w 118465"/>
                <a:gd name="connsiteY1" fmla="*/ 113213 h 152092"/>
                <a:gd name="connsiteX2" fmla="*/ 63234 w 118465"/>
                <a:gd name="connsiteY2" fmla="*/ 67728 h 152092"/>
                <a:gd name="connsiteX3" fmla="*/ 66161 w 118465"/>
                <a:gd name="connsiteY3" fmla="*/ 66906 h 152092"/>
                <a:gd name="connsiteX4" fmla="*/ 76265 w 118465"/>
                <a:gd name="connsiteY4" fmla="*/ 37845 h 152092"/>
                <a:gd name="connsiteX5" fmla="*/ 60913 w 118465"/>
                <a:gd name="connsiteY5" fmla="*/ 40701 h 152092"/>
                <a:gd name="connsiteX6" fmla="*/ 59128 w 118465"/>
                <a:gd name="connsiteY6" fmla="*/ 9925 h 152092"/>
                <a:gd name="connsiteX7" fmla="*/ 57271 w 118465"/>
                <a:gd name="connsiteY7" fmla="*/ 6712 h 152092"/>
                <a:gd name="connsiteX8" fmla="*/ 33672 w 118465"/>
                <a:gd name="connsiteY8" fmla="*/ 750 h 152092"/>
                <a:gd name="connsiteX9" fmla="*/ 28460 w 118465"/>
                <a:gd name="connsiteY9" fmla="*/ 0 h 152092"/>
                <a:gd name="connsiteX10" fmla="*/ 24818 w 118465"/>
                <a:gd name="connsiteY10" fmla="*/ 9533 h 152092"/>
                <a:gd name="connsiteX11" fmla="*/ 16321 w 118465"/>
                <a:gd name="connsiteY11" fmla="*/ 33703 h 152092"/>
                <a:gd name="connsiteX12" fmla="*/ 219 w 118465"/>
                <a:gd name="connsiteY12" fmla="*/ 39808 h 152092"/>
                <a:gd name="connsiteX13" fmla="*/ 8788 w 118465"/>
                <a:gd name="connsiteY13" fmla="*/ 56124 h 152092"/>
                <a:gd name="connsiteX14" fmla="*/ 41170 w 118465"/>
                <a:gd name="connsiteY14" fmla="*/ 105429 h 152092"/>
                <a:gd name="connsiteX15" fmla="*/ 34886 w 118465"/>
                <a:gd name="connsiteY15" fmla="*/ 147880 h 152092"/>
                <a:gd name="connsiteX16" fmla="*/ 118466 w 118465"/>
                <a:gd name="connsiteY16" fmla="*/ 152093 h 15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8465" h="152092">
                  <a:moveTo>
                    <a:pt x="118466" y="152057"/>
                  </a:moveTo>
                  <a:lnTo>
                    <a:pt x="111718" y="113213"/>
                  </a:lnTo>
                  <a:cubicBezTo>
                    <a:pt x="111718" y="113213"/>
                    <a:pt x="80407" y="106143"/>
                    <a:pt x="63234" y="67728"/>
                  </a:cubicBezTo>
                  <a:cubicBezTo>
                    <a:pt x="64126" y="67513"/>
                    <a:pt x="65090" y="67263"/>
                    <a:pt x="66161" y="66906"/>
                  </a:cubicBezTo>
                  <a:cubicBezTo>
                    <a:pt x="90903" y="58838"/>
                    <a:pt x="84727" y="43700"/>
                    <a:pt x="76265" y="37845"/>
                  </a:cubicBezTo>
                  <a:cubicBezTo>
                    <a:pt x="72516" y="35238"/>
                    <a:pt x="67125" y="36381"/>
                    <a:pt x="60913" y="40701"/>
                  </a:cubicBezTo>
                  <a:cubicBezTo>
                    <a:pt x="47810" y="35881"/>
                    <a:pt x="57557" y="16495"/>
                    <a:pt x="59128" y="9925"/>
                  </a:cubicBezTo>
                  <a:cubicBezTo>
                    <a:pt x="59449" y="8533"/>
                    <a:pt x="58628" y="7141"/>
                    <a:pt x="57271" y="6712"/>
                  </a:cubicBezTo>
                  <a:cubicBezTo>
                    <a:pt x="51880" y="5105"/>
                    <a:pt x="38920" y="1571"/>
                    <a:pt x="33672" y="750"/>
                  </a:cubicBezTo>
                  <a:cubicBezTo>
                    <a:pt x="30566" y="250"/>
                    <a:pt x="28460" y="0"/>
                    <a:pt x="28460" y="0"/>
                  </a:cubicBezTo>
                  <a:lnTo>
                    <a:pt x="24818" y="9533"/>
                  </a:lnTo>
                  <a:cubicBezTo>
                    <a:pt x="22283" y="16959"/>
                    <a:pt x="19177" y="25813"/>
                    <a:pt x="16321" y="33703"/>
                  </a:cubicBezTo>
                  <a:cubicBezTo>
                    <a:pt x="16321" y="33703"/>
                    <a:pt x="1790" y="35810"/>
                    <a:pt x="219" y="39808"/>
                  </a:cubicBezTo>
                  <a:cubicBezTo>
                    <a:pt x="-1459" y="44093"/>
                    <a:pt x="7002" y="53518"/>
                    <a:pt x="8788" y="56124"/>
                  </a:cubicBezTo>
                  <a:cubicBezTo>
                    <a:pt x="1647" y="89185"/>
                    <a:pt x="4218" y="100360"/>
                    <a:pt x="41170" y="105429"/>
                  </a:cubicBezTo>
                  <a:lnTo>
                    <a:pt x="34886" y="147880"/>
                  </a:lnTo>
                  <a:lnTo>
                    <a:pt x="118466" y="152093"/>
                  </a:lnTo>
                  <a:close/>
                </a:path>
              </a:pathLst>
            </a:custGeom>
            <a:solidFill>
              <a:srgbClr val="FFBEBB"/>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83" name="Freeform: Shape 482">
              <a:extLst>
                <a:ext uri="{FF2B5EF4-FFF2-40B4-BE49-F238E27FC236}">
                  <a16:creationId xmlns:a16="http://schemas.microsoft.com/office/drawing/2014/main" id="{FBC6AD13-EFF2-410E-B905-E5772E6DCA8F}"/>
                </a:ext>
              </a:extLst>
            </p:cNvPr>
            <p:cNvSpPr/>
            <p:nvPr/>
          </p:nvSpPr>
          <p:spPr>
            <a:xfrm>
              <a:off x="10034477" y="3952995"/>
              <a:ext cx="20166" cy="11712"/>
            </a:xfrm>
            <a:custGeom>
              <a:avLst/>
              <a:gdLst>
                <a:gd name="connsiteX0" fmla="*/ 17286 w 20166"/>
                <a:gd name="connsiteY0" fmla="*/ 11713 h 11712"/>
                <a:gd name="connsiteX1" fmla="*/ 14858 w 20166"/>
                <a:gd name="connsiteY1" fmla="*/ 10356 h 11712"/>
                <a:gd name="connsiteX2" fmla="*/ 4004 w 20166"/>
                <a:gd name="connsiteY2" fmla="*/ 6500 h 11712"/>
                <a:gd name="connsiteX3" fmla="*/ 256 w 20166"/>
                <a:gd name="connsiteY3" fmla="*/ 5108 h 11712"/>
                <a:gd name="connsiteX4" fmla="*/ 1648 w 20166"/>
                <a:gd name="connsiteY4" fmla="*/ 1359 h 11712"/>
                <a:gd name="connsiteX5" fmla="*/ 19749 w 20166"/>
                <a:gd name="connsiteY5" fmla="*/ 7393 h 11712"/>
                <a:gd name="connsiteX6" fmla="*/ 18785 w 20166"/>
                <a:gd name="connsiteY6" fmla="*/ 11284 h 11712"/>
                <a:gd name="connsiteX7" fmla="*/ 17321 w 20166"/>
                <a:gd name="connsiteY7" fmla="*/ 11677 h 11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166" h="11712">
                  <a:moveTo>
                    <a:pt x="17286" y="11713"/>
                  </a:moveTo>
                  <a:cubicBezTo>
                    <a:pt x="16322" y="11713"/>
                    <a:pt x="15394" y="11213"/>
                    <a:pt x="14858" y="10356"/>
                  </a:cubicBezTo>
                  <a:cubicBezTo>
                    <a:pt x="14430" y="9642"/>
                    <a:pt x="10395" y="3537"/>
                    <a:pt x="4004" y="6500"/>
                  </a:cubicBezTo>
                  <a:cubicBezTo>
                    <a:pt x="2576" y="7143"/>
                    <a:pt x="898" y="6536"/>
                    <a:pt x="256" y="5108"/>
                  </a:cubicBezTo>
                  <a:cubicBezTo>
                    <a:pt x="-387" y="3680"/>
                    <a:pt x="220" y="2002"/>
                    <a:pt x="1648" y="1359"/>
                  </a:cubicBezTo>
                  <a:cubicBezTo>
                    <a:pt x="10574" y="-2782"/>
                    <a:pt x="17393" y="3501"/>
                    <a:pt x="19749" y="7393"/>
                  </a:cubicBezTo>
                  <a:cubicBezTo>
                    <a:pt x="20570" y="8750"/>
                    <a:pt x="20142" y="10463"/>
                    <a:pt x="18785" y="11284"/>
                  </a:cubicBezTo>
                  <a:cubicBezTo>
                    <a:pt x="18321" y="11570"/>
                    <a:pt x="17821" y="11677"/>
                    <a:pt x="17321" y="11677"/>
                  </a:cubicBezTo>
                  <a:close/>
                </a:path>
              </a:pathLst>
            </a:custGeom>
            <a:solidFill>
              <a:schemeClr val="accent2"/>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84" name="Freeform: Shape 483">
              <a:extLst>
                <a:ext uri="{FF2B5EF4-FFF2-40B4-BE49-F238E27FC236}">
                  <a16:creationId xmlns:a16="http://schemas.microsoft.com/office/drawing/2014/main" id="{BEB74DC8-233E-4718-96FC-6C44C6FCE313}"/>
                </a:ext>
              </a:extLst>
            </p:cNvPr>
            <p:cNvSpPr/>
            <p:nvPr/>
          </p:nvSpPr>
          <p:spPr>
            <a:xfrm>
              <a:off x="10047158" y="4044931"/>
              <a:ext cx="28838" cy="19564"/>
            </a:xfrm>
            <a:custGeom>
              <a:avLst/>
              <a:gdLst>
                <a:gd name="connsiteX0" fmla="*/ 2892 w 28838"/>
                <a:gd name="connsiteY0" fmla="*/ 0 h 19564"/>
                <a:gd name="connsiteX1" fmla="*/ 27884 w 28838"/>
                <a:gd name="connsiteY1" fmla="*/ 2428 h 19564"/>
                <a:gd name="connsiteX2" fmla="*/ 28276 w 28838"/>
                <a:gd name="connsiteY2" fmla="*/ 4391 h 19564"/>
                <a:gd name="connsiteX3" fmla="*/ 0 w 28838"/>
                <a:gd name="connsiteY3" fmla="*/ 19565 h 19564"/>
                <a:gd name="connsiteX4" fmla="*/ 2892 w 28838"/>
                <a:gd name="connsiteY4" fmla="*/ 0 h 19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38" h="19564">
                  <a:moveTo>
                    <a:pt x="2892" y="0"/>
                  </a:moveTo>
                  <a:lnTo>
                    <a:pt x="27884" y="2428"/>
                  </a:lnTo>
                  <a:cubicBezTo>
                    <a:pt x="28919" y="2535"/>
                    <a:pt x="29205" y="3892"/>
                    <a:pt x="28276" y="4391"/>
                  </a:cubicBezTo>
                  <a:lnTo>
                    <a:pt x="0" y="19565"/>
                  </a:lnTo>
                  <a:lnTo>
                    <a:pt x="2892" y="0"/>
                  </a:lnTo>
                  <a:close/>
                </a:path>
              </a:pathLst>
            </a:custGeom>
            <a:solidFill>
              <a:srgbClr val="F47C73"/>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85" name="Freeform: Shape 484">
              <a:extLst>
                <a:ext uri="{FF2B5EF4-FFF2-40B4-BE49-F238E27FC236}">
                  <a16:creationId xmlns:a16="http://schemas.microsoft.com/office/drawing/2014/main" id="{E74252C5-3BA0-4745-80BB-F7A7AB925F71}"/>
                </a:ext>
              </a:extLst>
            </p:cNvPr>
            <p:cNvSpPr/>
            <p:nvPr/>
          </p:nvSpPr>
          <p:spPr>
            <a:xfrm>
              <a:off x="10070480" y="3982323"/>
              <a:ext cx="15990" cy="16060"/>
            </a:xfrm>
            <a:custGeom>
              <a:avLst/>
              <a:gdLst>
                <a:gd name="connsiteX0" fmla="*/ 3026 w 15990"/>
                <a:gd name="connsiteY0" fmla="*/ 4770 h 16060"/>
                <a:gd name="connsiteX1" fmla="*/ 12059 w 15990"/>
                <a:gd name="connsiteY1" fmla="*/ 914 h 16060"/>
                <a:gd name="connsiteX2" fmla="*/ 8489 w 15990"/>
                <a:gd name="connsiteY2" fmla="*/ 14695 h 16060"/>
                <a:gd name="connsiteX3" fmla="*/ 3026 w 15990"/>
                <a:gd name="connsiteY3" fmla="*/ 4770 h 16060"/>
              </a:gdLst>
              <a:ahLst/>
              <a:cxnLst>
                <a:cxn ang="0">
                  <a:pos x="connsiteX0" y="connsiteY0"/>
                </a:cxn>
                <a:cxn ang="0">
                  <a:pos x="connsiteX1" y="connsiteY1"/>
                </a:cxn>
                <a:cxn ang="0">
                  <a:pos x="connsiteX2" y="connsiteY2"/>
                </a:cxn>
                <a:cxn ang="0">
                  <a:pos x="connsiteX3" y="connsiteY3"/>
                </a:cxn>
              </a:cxnLst>
              <a:rect l="l" t="t" r="r" b="b"/>
              <a:pathLst>
                <a:path w="15990" h="16060">
                  <a:moveTo>
                    <a:pt x="3026" y="4770"/>
                  </a:moveTo>
                  <a:cubicBezTo>
                    <a:pt x="4383" y="2735"/>
                    <a:pt x="7917" y="-1978"/>
                    <a:pt x="12059" y="914"/>
                  </a:cubicBezTo>
                  <a:cubicBezTo>
                    <a:pt x="16200" y="3806"/>
                    <a:pt x="19592" y="10054"/>
                    <a:pt x="8489" y="14695"/>
                  </a:cubicBezTo>
                  <a:cubicBezTo>
                    <a:pt x="-3329" y="19658"/>
                    <a:pt x="-401" y="9876"/>
                    <a:pt x="3026" y="4770"/>
                  </a:cubicBezTo>
                  <a:close/>
                </a:path>
              </a:pathLst>
            </a:custGeom>
            <a:solidFill>
              <a:srgbClr val="F47C73"/>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86" name="Freeform: Shape 485">
              <a:extLst>
                <a:ext uri="{FF2B5EF4-FFF2-40B4-BE49-F238E27FC236}">
                  <a16:creationId xmlns:a16="http://schemas.microsoft.com/office/drawing/2014/main" id="{54C3230B-31F8-498F-8B99-F8BECE325D1B}"/>
                </a:ext>
              </a:extLst>
            </p:cNvPr>
            <p:cNvSpPr/>
            <p:nvPr/>
          </p:nvSpPr>
          <p:spPr>
            <a:xfrm>
              <a:off x="10036164" y="3966775"/>
              <a:ext cx="5361" cy="8579"/>
            </a:xfrm>
            <a:custGeom>
              <a:avLst/>
              <a:gdLst>
                <a:gd name="connsiteX0" fmla="*/ 4638 w 5361"/>
                <a:gd name="connsiteY0" fmla="*/ 5751 h 8579"/>
                <a:gd name="connsiteX1" fmla="*/ 5317 w 5361"/>
                <a:gd name="connsiteY1" fmla="*/ 2681 h 8579"/>
                <a:gd name="connsiteX2" fmla="*/ 5210 w 5361"/>
                <a:gd name="connsiteY2" fmla="*/ 1289 h 8579"/>
                <a:gd name="connsiteX3" fmla="*/ 1604 w 5361"/>
                <a:gd name="connsiteY3" fmla="*/ 753 h 8579"/>
                <a:gd name="connsiteX4" fmla="*/ 640 w 5361"/>
                <a:gd name="connsiteY4" fmla="*/ 3288 h 8579"/>
                <a:gd name="connsiteX5" fmla="*/ 283 w 5361"/>
                <a:gd name="connsiteY5" fmla="*/ 7358 h 8579"/>
                <a:gd name="connsiteX6" fmla="*/ 1568 w 5361"/>
                <a:gd name="connsiteY6" fmla="*/ 8501 h 8579"/>
                <a:gd name="connsiteX7" fmla="*/ 4246 w 5361"/>
                <a:gd name="connsiteY7" fmla="*/ 6787 h 8579"/>
                <a:gd name="connsiteX8" fmla="*/ 4638 w 5361"/>
                <a:gd name="connsiteY8" fmla="*/ 5680 h 8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1" h="8579">
                  <a:moveTo>
                    <a:pt x="4638" y="5751"/>
                  </a:moveTo>
                  <a:cubicBezTo>
                    <a:pt x="4960" y="4752"/>
                    <a:pt x="5174" y="3681"/>
                    <a:pt x="5317" y="2681"/>
                  </a:cubicBezTo>
                  <a:cubicBezTo>
                    <a:pt x="5388" y="2217"/>
                    <a:pt x="5388" y="1753"/>
                    <a:pt x="5210" y="1289"/>
                  </a:cubicBezTo>
                  <a:cubicBezTo>
                    <a:pt x="4638" y="-104"/>
                    <a:pt x="2354" y="-496"/>
                    <a:pt x="1604" y="753"/>
                  </a:cubicBezTo>
                  <a:cubicBezTo>
                    <a:pt x="1140" y="1539"/>
                    <a:pt x="854" y="2431"/>
                    <a:pt x="640" y="3288"/>
                  </a:cubicBezTo>
                  <a:cubicBezTo>
                    <a:pt x="318" y="4645"/>
                    <a:pt x="-396" y="5930"/>
                    <a:pt x="283" y="7358"/>
                  </a:cubicBezTo>
                  <a:cubicBezTo>
                    <a:pt x="533" y="7858"/>
                    <a:pt x="961" y="8358"/>
                    <a:pt x="1568" y="8501"/>
                  </a:cubicBezTo>
                  <a:cubicBezTo>
                    <a:pt x="2960" y="8893"/>
                    <a:pt x="3853" y="7751"/>
                    <a:pt x="4246" y="6787"/>
                  </a:cubicBezTo>
                  <a:cubicBezTo>
                    <a:pt x="4389" y="6430"/>
                    <a:pt x="4531" y="6073"/>
                    <a:pt x="4638" y="5680"/>
                  </a:cubicBezTo>
                  <a:close/>
                </a:path>
              </a:pathLst>
            </a:custGeom>
            <a:solidFill>
              <a:srgbClr val="1D2333"/>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87" name="Freeform: Shape 486">
              <a:extLst>
                <a:ext uri="{FF2B5EF4-FFF2-40B4-BE49-F238E27FC236}">
                  <a16:creationId xmlns:a16="http://schemas.microsoft.com/office/drawing/2014/main" id="{7285C1F0-F65C-4A78-B63B-318C4B31EFE9}"/>
                </a:ext>
              </a:extLst>
            </p:cNvPr>
            <p:cNvSpPr/>
            <p:nvPr/>
          </p:nvSpPr>
          <p:spPr>
            <a:xfrm>
              <a:off x="10036138" y="3982322"/>
              <a:ext cx="23466" cy="23466"/>
            </a:xfrm>
            <a:custGeom>
              <a:avLst/>
              <a:gdLst>
                <a:gd name="connsiteX0" fmla="*/ 23408 w 23466"/>
                <a:gd name="connsiteY0" fmla="*/ 12876 h 23466"/>
                <a:gd name="connsiteX1" fmla="*/ 10591 w 23466"/>
                <a:gd name="connsiteY1" fmla="*/ 23408 h 23466"/>
                <a:gd name="connsiteX2" fmla="*/ 59 w 23466"/>
                <a:gd name="connsiteY2" fmla="*/ 10591 h 23466"/>
                <a:gd name="connsiteX3" fmla="*/ 12876 w 23466"/>
                <a:gd name="connsiteY3" fmla="*/ 59 h 23466"/>
                <a:gd name="connsiteX4" fmla="*/ 23408 w 23466"/>
                <a:gd name="connsiteY4" fmla="*/ 12876 h 23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66" h="23466">
                  <a:moveTo>
                    <a:pt x="23408" y="12876"/>
                  </a:moveTo>
                  <a:cubicBezTo>
                    <a:pt x="22765" y="19338"/>
                    <a:pt x="17017" y="24051"/>
                    <a:pt x="10591" y="23408"/>
                  </a:cubicBezTo>
                  <a:cubicBezTo>
                    <a:pt x="4129" y="22765"/>
                    <a:pt x="-584" y="17017"/>
                    <a:pt x="59" y="10591"/>
                  </a:cubicBezTo>
                  <a:cubicBezTo>
                    <a:pt x="701" y="4129"/>
                    <a:pt x="6449" y="-584"/>
                    <a:pt x="12876" y="59"/>
                  </a:cubicBezTo>
                  <a:cubicBezTo>
                    <a:pt x="19338" y="701"/>
                    <a:pt x="24051" y="6449"/>
                    <a:pt x="23408" y="12876"/>
                  </a:cubicBezTo>
                  <a:close/>
                </a:path>
              </a:pathLst>
            </a:custGeom>
            <a:solidFill>
              <a:srgbClr val="F47C73"/>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88" name="Freeform: Shape 487">
              <a:extLst>
                <a:ext uri="{FF2B5EF4-FFF2-40B4-BE49-F238E27FC236}">
                  <a16:creationId xmlns:a16="http://schemas.microsoft.com/office/drawing/2014/main" id="{5A40434F-BE94-4E97-96B6-EC4B854CE65D}"/>
                </a:ext>
              </a:extLst>
            </p:cNvPr>
            <p:cNvSpPr/>
            <p:nvPr/>
          </p:nvSpPr>
          <p:spPr>
            <a:xfrm>
              <a:off x="10061925" y="3878878"/>
              <a:ext cx="56471" cy="40487"/>
            </a:xfrm>
            <a:custGeom>
              <a:avLst/>
              <a:gdLst>
                <a:gd name="connsiteX0" fmla="*/ 53424 w 56471"/>
                <a:gd name="connsiteY0" fmla="*/ 40488 h 40487"/>
                <a:gd name="connsiteX1" fmla="*/ 53174 w 56471"/>
                <a:gd name="connsiteY1" fmla="*/ 40488 h 40487"/>
                <a:gd name="connsiteX2" fmla="*/ 50604 w 56471"/>
                <a:gd name="connsiteY2" fmla="*/ 37417 h 40487"/>
                <a:gd name="connsiteX3" fmla="*/ 42392 w 56471"/>
                <a:gd name="connsiteY3" fmla="*/ 11319 h 40487"/>
                <a:gd name="connsiteX4" fmla="*/ 17258 w 56471"/>
                <a:gd name="connsiteY4" fmla="*/ 6785 h 40487"/>
                <a:gd name="connsiteX5" fmla="*/ 6047 w 56471"/>
                <a:gd name="connsiteY5" fmla="*/ 26421 h 40487"/>
                <a:gd name="connsiteX6" fmla="*/ 3834 w 56471"/>
                <a:gd name="connsiteY6" fmla="*/ 29777 h 40487"/>
                <a:gd name="connsiteX7" fmla="*/ 478 w 56471"/>
                <a:gd name="connsiteY7" fmla="*/ 27564 h 40487"/>
                <a:gd name="connsiteX8" fmla="*/ 15830 w 56471"/>
                <a:gd name="connsiteY8" fmla="*/ 1287 h 40487"/>
                <a:gd name="connsiteX9" fmla="*/ 46034 w 56471"/>
                <a:gd name="connsiteY9" fmla="*/ 6963 h 40487"/>
                <a:gd name="connsiteX10" fmla="*/ 56245 w 56471"/>
                <a:gd name="connsiteY10" fmla="*/ 37882 h 40487"/>
                <a:gd name="connsiteX11" fmla="*/ 53424 w 56471"/>
                <a:gd name="connsiteY11" fmla="*/ 40488 h 4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471" h="40487">
                  <a:moveTo>
                    <a:pt x="53424" y="40488"/>
                  </a:moveTo>
                  <a:cubicBezTo>
                    <a:pt x="53424" y="40488"/>
                    <a:pt x="53246" y="40488"/>
                    <a:pt x="53174" y="40488"/>
                  </a:cubicBezTo>
                  <a:cubicBezTo>
                    <a:pt x="51604" y="40345"/>
                    <a:pt x="50461" y="38988"/>
                    <a:pt x="50604" y="37417"/>
                  </a:cubicBezTo>
                  <a:cubicBezTo>
                    <a:pt x="51639" y="25743"/>
                    <a:pt x="48783" y="16710"/>
                    <a:pt x="42392" y="11319"/>
                  </a:cubicBezTo>
                  <a:cubicBezTo>
                    <a:pt x="36216" y="6106"/>
                    <a:pt x="26612" y="4393"/>
                    <a:pt x="17258" y="6785"/>
                  </a:cubicBezTo>
                  <a:cubicBezTo>
                    <a:pt x="3012" y="10462"/>
                    <a:pt x="5904" y="25778"/>
                    <a:pt x="6047" y="26421"/>
                  </a:cubicBezTo>
                  <a:cubicBezTo>
                    <a:pt x="6369" y="27956"/>
                    <a:pt x="5369" y="29456"/>
                    <a:pt x="3834" y="29777"/>
                  </a:cubicBezTo>
                  <a:cubicBezTo>
                    <a:pt x="2298" y="30098"/>
                    <a:pt x="799" y="29099"/>
                    <a:pt x="478" y="27564"/>
                  </a:cubicBezTo>
                  <a:cubicBezTo>
                    <a:pt x="-1022" y="20245"/>
                    <a:pt x="228" y="5321"/>
                    <a:pt x="15830" y="1287"/>
                  </a:cubicBezTo>
                  <a:cubicBezTo>
                    <a:pt x="27076" y="-1641"/>
                    <a:pt x="38394" y="501"/>
                    <a:pt x="46034" y="6963"/>
                  </a:cubicBezTo>
                  <a:cubicBezTo>
                    <a:pt x="51532" y="11605"/>
                    <a:pt x="57744" y="20744"/>
                    <a:pt x="56245" y="37882"/>
                  </a:cubicBezTo>
                  <a:cubicBezTo>
                    <a:pt x="56102" y="39345"/>
                    <a:pt x="54888" y="40488"/>
                    <a:pt x="53424" y="40488"/>
                  </a:cubicBezTo>
                  <a:close/>
                </a:path>
              </a:pathLst>
            </a:custGeom>
            <a:solidFill>
              <a:schemeClr val="accent2"/>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89" name="Freeform: Shape 488">
              <a:extLst>
                <a:ext uri="{FF2B5EF4-FFF2-40B4-BE49-F238E27FC236}">
                  <a16:creationId xmlns:a16="http://schemas.microsoft.com/office/drawing/2014/main" id="{3F599492-3384-413A-9F33-4947C0CE3835}"/>
                </a:ext>
              </a:extLst>
            </p:cNvPr>
            <p:cNvSpPr/>
            <p:nvPr/>
          </p:nvSpPr>
          <p:spPr>
            <a:xfrm>
              <a:off x="10013328" y="4000264"/>
              <a:ext cx="16021" cy="6750"/>
            </a:xfrm>
            <a:custGeom>
              <a:avLst/>
              <a:gdLst>
                <a:gd name="connsiteX0" fmla="*/ 9766 w 16021"/>
                <a:gd name="connsiteY0" fmla="*/ 6751 h 6750"/>
                <a:gd name="connsiteX1" fmla="*/ 2018 w 16021"/>
                <a:gd name="connsiteY1" fmla="*/ 5573 h 6750"/>
                <a:gd name="connsiteX2" fmla="*/ 126 w 16021"/>
                <a:gd name="connsiteY2" fmla="*/ 2038 h 6750"/>
                <a:gd name="connsiteX3" fmla="*/ 3661 w 16021"/>
                <a:gd name="connsiteY3" fmla="*/ 110 h 6750"/>
                <a:gd name="connsiteX4" fmla="*/ 12265 w 16021"/>
                <a:gd name="connsiteY4" fmla="*/ 717 h 6750"/>
                <a:gd name="connsiteX5" fmla="*/ 15871 w 16021"/>
                <a:gd name="connsiteY5" fmla="*/ 2502 h 6750"/>
                <a:gd name="connsiteX6" fmla="*/ 14086 w 16021"/>
                <a:gd name="connsiteY6" fmla="*/ 6108 h 6750"/>
                <a:gd name="connsiteX7" fmla="*/ 9802 w 16021"/>
                <a:gd name="connsiteY7" fmla="*/ 6715 h 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21" h="6750">
                  <a:moveTo>
                    <a:pt x="9766" y="6751"/>
                  </a:moveTo>
                  <a:cubicBezTo>
                    <a:pt x="6089" y="6751"/>
                    <a:pt x="2554" y="5751"/>
                    <a:pt x="2018" y="5573"/>
                  </a:cubicBezTo>
                  <a:cubicBezTo>
                    <a:pt x="519" y="5144"/>
                    <a:pt x="-338" y="3538"/>
                    <a:pt x="126" y="2038"/>
                  </a:cubicBezTo>
                  <a:cubicBezTo>
                    <a:pt x="555" y="539"/>
                    <a:pt x="2161" y="-318"/>
                    <a:pt x="3661" y="110"/>
                  </a:cubicBezTo>
                  <a:cubicBezTo>
                    <a:pt x="5803" y="753"/>
                    <a:pt x="10052" y="1467"/>
                    <a:pt x="12265" y="717"/>
                  </a:cubicBezTo>
                  <a:cubicBezTo>
                    <a:pt x="13765" y="217"/>
                    <a:pt x="15371" y="1003"/>
                    <a:pt x="15871" y="2502"/>
                  </a:cubicBezTo>
                  <a:cubicBezTo>
                    <a:pt x="16371" y="4002"/>
                    <a:pt x="15585" y="5608"/>
                    <a:pt x="14086" y="6108"/>
                  </a:cubicBezTo>
                  <a:cubicBezTo>
                    <a:pt x="12765" y="6572"/>
                    <a:pt x="11265" y="6715"/>
                    <a:pt x="9802" y="6715"/>
                  </a:cubicBezTo>
                  <a:close/>
                </a:path>
              </a:pathLst>
            </a:custGeom>
            <a:solidFill>
              <a:srgbClr val="E55955"/>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90" name="Freeform: Shape 489">
              <a:extLst>
                <a:ext uri="{FF2B5EF4-FFF2-40B4-BE49-F238E27FC236}">
                  <a16:creationId xmlns:a16="http://schemas.microsoft.com/office/drawing/2014/main" id="{DF35ED6A-9D61-4B83-9EAE-5F6F43E07E1A}"/>
                </a:ext>
              </a:extLst>
            </p:cNvPr>
            <p:cNvSpPr/>
            <p:nvPr/>
          </p:nvSpPr>
          <p:spPr>
            <a:xfrm>
              <a:off x="10017881" y="4054714"/>
              <a:ext cx="115140" cy="25098"/>
            </a:xfrm>
            <a:custGeom>
              <a:avLst/>
              <a:gdLst>
                <a:gd name="connsiteX0" fmla="*/ 36 w 115140"/>
                <a:gd name="connsiteY0" fmla="*/ 21957 h 25098"/>
                <a:gd name="connsiteX1" fmla="*/ 16816 w 115140"/>
                <a:gd name="connsiteY1" fmla="*/ 2928 h 25098"/>
                <a:gd name="connsiteX2" fmla="*/ 23278 w 115140"/>
                <a:gd name="connsiteY2" fmla="*/ 0 h 25098"/>
                <a:gd name="connsiteX3" fmla="*/ 106501 w 115140"/>
                <a:gd name="connsiteY3" fmla="*/ 0 h 25098"/>
                <a:gd name="connsiteX4" fmla="*/ 115141 w 115140"/>
                <a:gd name="connsiteY4" fmla="*/ 8640 h 25098"/>
                <a:gd name="connsiteX5" fmla="*/ 115141 w 115140"/>
                <a:gd name="connsiteY5" fmla="*/ 25099 h 25098"/>
                <a:gd name="connsiteX6" fmla="*/ 0 w 115140"/>
                <a:gd name="connsiteY6" fmla="*/ 21957 h 25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140" h="25098">
                  <a:moveTo>
                    <a:pt x="36" y="21957"/>
                  </a:moveTo>
                  <a:lnTo>
                    <a:pt x="16816" y="2928"/>
                  </a:lnTo>
                  <a:cubicBezTo>
                    <a:pt x="18458" y="1071"/>
                    <a:pt x="20815" y="0"/>
                    <a:pt x="23278" y="0"/>
                  </a:cubicBezTo>
                  <a:lnTo>
                    <a:pt x="106501" y="0"/>
                  </a:lnTo>
                  <a:cubicBezTo>
                    <a:pt x="111285" y="0"/>
                    <a:pt x="115141" y="3856"/>
                    <a:pt x="115141" y="8640"/>
                  </a:cubicBezTo>
                  <a:lnTo>
                    <a:pt x="115141" y="25099"/>
                  </a:lnTo>
                  <a:lnTo>
                    <a:pt x="0" y="21957"/>
                  </a:lnTo>
                  <a:close/>
                </a:path>
              </a:pathLst>
            </a:custGeom>
            <a:solidFill>
              <a:srgbClr val="F3F2FF"/>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grpSp>
          <p:nvGrpSpPr>
            <p:cNvPr id="491" name="Graphic 822">
              <a:extLst>
                <a:ext uri="{FF2B5EF4-FFF2-40B4-BE49-F238E27FC236}">
                  <a16:creationId xmlns:a16="http://schemas.microsoft.com/office/drawing/2014/main" id="{D73D5B61-644C-4E6A-9DF4-6E036701FF31}"/>
                </a:ext>
              </a:extLst>
            </p:cNvPr>
            <p:cNvGrpSpPr/>
            <p:nvPr/>
          </p:nvGrpSpPr>
          <p:grpSpPr>
            <a:xfrm>
              <a:off x="9407798" y="3717790"/>
              <a:ext cx="396725" cy="501485"/>
              <a:chOff x="9407798" y="3717790"/>
              <a:chExt cx="396725" cy="501485"/>
            </a:xfrm>
          </p:grpSpPr>
          <p:grpSp>
            <p:nvGrpSpPr>
              <p:cNvPr id="498" name="Graphic 822">
                <a:extLst>
                  <a:ext uri="{FF2B5EF4-FFF2-40B4-BE49-F238E27FC236}">
                    <a16:creationId xmlns:a16="http://schemas.microsoft.com/office/drawing/2014/main" id="{69D45CE8-8768-4E2A-B8E2-FB87AB024DBE}"/>
                  </a:ext>
                </a:extLst>
              </p:cNvPr>
              <p:cNvGrpSpPr/>
              <p:nvPr/>
            </p:nvGrpSpPr>
            <p:grpSpPr>
              <a:xfrm>
                <a:off x="9407798" y="3717790"/>
                <a:ext cx="396725" cy="396725"/>
                <a:chOff x="9407798" y="3717790"/>
                <a:chExt cx="396725" cy="396725"/>
              </a:xfrm>
            </p:grpSpPr>
            <p:sp>
              <p:nvSpPr>
                <p:cNvPr id="503" name="Freeform: Shape 502">
                  <a:extLst>
                    <a:ext uri="{FF2B5EF4-FFF2-40B4-BE49-F238E27FC236}">
                      <a16:creationId xmlns:a16="http://schemas.microsoft.com/office/drawing/2014/main" id="{7EA19BDA-C810-4750-BEFD-5697910DBF43}"/>
                    </a:ext>
                  </a:extLst>
                </p:cNvPr>
                <p:cNvSpPr/>
                <p:nvPr/>
              </p:nvSpPr>
              <p:spPr>
                <a:xfrm>
                  <a:off x="9407798" y="3717790"/>
                  <a:ext cx="396725" cy="396725"/>
                </a:xfrm>
                <a:custGeom>
                  <a:avLst/>
                  <a:gdLst>
                    <a:gd name="connsiteX0" fmla="*/ 396726 w 396725"/>
                    <a:gd name="connsiteY0" fmla="*/ 198363 h 396725"/>
                    <a:gd name="connsiteX1" fmla="*/ 198363 w 396725"/>
                    <a:gd name="connsiteY1" fmla="*/ 396726 h 396725"/>
                    <a:gd name="connsiteX2" fmla="*/ 0 w 396725"/>
                    <a:gd name="connsiteY2" fmla="*/ 198363 h 396725"/>
                    <a:gd name="connsiteX3" fmla="*/ 198363 w 396725"/>
                    <a:gd name="connsiteY3" fmla="*/ 0 h 396725"/>
                    <a:gd name="connsiteX4" fmla="*/ 396726 w 396725"/>
                    <a:gd name="connsiteY4" fmla="*/ 198363 h 39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725" h="396725">
                      <a:moveTo>
                        <a:pt x="396726" y="198363"/>
                      </a:moveTo>
                      <a:cubicBezTo>
                        <a:pt x="396726" y="307916"/>
                        <a:pt x="307916" y="396726"/>
                        <a:pt x="198363" y="396726"/>
                      </a:cubicBezTo>
                      <a:cubicBezTo>
                        <a:pt x="88810" y="396726"/>
                        <a:pt x="0" y="307916"/>
                        <a:pt x="0" y="198363"/>
                      </a:cubicBezTo>
                      <a:cubicBezTo>
                        <a:pt x="0" y="88810"/>
                        <a:pt x="88810" y="0"/>
                        <a:pt x="198363" y="0"/>
                      </a:cubicBezTo>
                      <a:cubicBezTo>
                        <a:pt x="307916" y="0"/>
                        <a:pt x="396726" y="88810"/>
                        <a:pt x="396726" y="198363"/>
                      </a:cubicBezTo>
                      <a:close/>
                    </a:path>
                  </a:pathLst>
                </a:custGeom>
                <a:solidFill>
                  <a:schemeClr val="tx2"/>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504" name="Freeform: Shape 503">
                  <a:extLst>
                    <a:ext uri="{FF2B5EF4-FFF2-40B4-BE49-F238E27FC236}">
                      <a16:creationId xmlns:a16="http://schemas.microsoft.com/office/drawing/2014/main" id="{89910C5A-AF3A-43F6-98E9-8A23D9F8C4DC}"/>
                    </a:ext>
                  </a:extLst>
                </p:cNvPr>
                <p:cNvSpPr/>
                <p:nvPr/>
              </p:nvSpPr>
              <p:spPr>
                <a:xfrm>
                  <a:off x="9539254" y="3791408"/>
                  <a:ext cx="133812" cy="133812"/>
                </a:xfrm>
                <a:custGeom>
                  <a:avLst/>
                  <a:gdLst>
                    <a:gd name="connsiteX0" fmla="*/ 133813 w 133812"/>
                    <a:gd name="connsiteY0" fmla="*/ 66906 h 133812"/>
                    <a:gd name="connsiteX1" fmla="*/ 66906 w 133812"/>
                    <a:gd name="connsiteY1" fmla="*/ 133813 h 133812"/>
                    <a:gd name="connsiteX2" fmla="*/ 0 w 133812"/>
                    <a:gd name="connsiteY2" fmla="*/ 66906 h 133812"/>
                    <a:gd name="connsiteX3" fmla="*/ 66906 w 133812"/>
                    <a:gd name="connsiteY3" fmla="*/ 0 h 133812"/>
                    <a:gd name="connsiteX4" fmla="*/ 133813 w 133812"/>
                    <a:gd name="connsiteY4" fmla="*/ 66906 h 133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812" h="133812">
                      <a:moveTo>
                        <a:pt x="133813" y="66906"/>
                      </a:moveTo>
                      <a:cubicBezTo>
                        <a:pt x="133813" y="103858"/>
                        <a:pt x="103858" y="133813"/>
                        <a:pt x="66906" y="133813"/>
                      </a:cubicBezTo>
                      <a:cubicBezTo>
                        <a:pt x="29955" y="133813"/>
                        <a:pt x="0" y="103858"/>
                        <a:pt x="0" y="66906"/>
                      </a:cubicBezTo>
                      <a:cubicBezTo>
                        <a:pt x="0" y="29955"/>
                        <a:pt x="29955" y="0"/>
                        <a:pt x="66906" y="0"/>
                      </a:cubicBezTo>
                      <a:cubicBezTo>
                        <a:pt x="103858" y="0"/>
                        <a:pt x="133813" y="29955"/>
                        <a:pt x="133813" y="66906"/>
                      </a:cubicBezTo>
                      <a:close/>
                    </a:path>
                  </a:pathLst>
                </a:custGeom>
                <a:solidFill>
                  <a:srgbClr val="FFFFFF"/>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505" name="Freeform: Shape 504">
                  <a:extLst>
                    <a:ext uri="{FF2B5EF4-FFF2-40B4-BE49-F238E27FC236}">
                      <a16:creationId xmlns:a16="http://schemas.microsoft.com/office/drawing/2014/main" id="{E87B2ABF-4908-47FE-A6CE-BFB98A134413}"/>
                    </a:ext>
                  </a:extLst>
                </p:cNvPr>
                <p:cNvSpPr/>
                <p:nvPr/>
              </p:nvSpPr>
              <p:spPr>
                <a:xfrm>
                  <a:off x="9469027" y="3968778"/>
                  <a:ext cx="274266" cy="128029"/>
                </a:xfrm>
                <a:custGeom>
                  <a:avLst/>
                  <a:gdLst>
                    <a:gd name="connsiteX0" fmla="*/ 274266 w 274266"/>
                    <a:gd name="connsiteY0" fmla="*/ 64978 h 128029"/>
                    <a:gd name="connsiteX1" fmla="*/ 137133 w 274266"/>
                    <a:gd name="connsiteY1" fmla="*/ 0 h 128029"/>
                    <a:gd name="connsiteX2" fmla="*/ 0 w 274266"/>
                    <a:gd name="connsiteY2" fmla="*/ 64978 h 128029"/>
                    <a:gd name="connsiteX3" fmla="*/ 9390 w 274266"/>
                    <a:gd name="connsiteY3" fmla="*/ 75118 h 128029"/>
                    <a:gd name="connsiteX4" fmla="*/ 137098 w 274266"/>
                    <a:gd name="connsiteY4" fmla="*/ 128029 h 128029"/>
                    <a:gd name="connsiteX5" fmla="*/ 264805 w 274266"/>
                    <a:gd name="connsiteY5" fmla="*/ 75118 h 128029"/>
                    <a:gd name="connsiteX6" fmla="*/ 274195 w 274266"/>
                    <a:gd name="connsiteY6" fmla="*/ 64978 h 128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4266" h="128029">
                      <a:moveTo>
                        <a:pt x="274266" y="64978"/>
                      </a:moveTo>
                      <a:cubicBezTo>
                        <a:pt x="241777" y="25313"/>
                        <a:pt x="192436" y="0"/>
                        <a:pt x="137133" y="0"/>
                      </a:cubicBezTo>
                      <a:cubicBezTo>
                        <a:pt x="81830" y="0"/>
                        <a:pt x="32525" y="25313"/>
                        <a:pt x="0" y="64978"/>
                      </a:cubicBezTo>
                      <a:cubicBezTo>
                        <a:pt x="2999" y="68442"/>
                        <a:pt x="6105" y="71833"/>
                        <a:pt x="9390" y="75118"/>
                      </a:cubicBezTo>
                      <a:cubicBezTo>
                        <a:pt x="43521" y="109250"/>
                        <a:pt x="88863" y="128029"/>
                        <a:pt x="137098" y="128029"/>
                      </a:cubicBezTo>
                      <a:cubicBezTo>
                        <a:pt x="185332" y="128029"/>
                        <a:pt x="230709" y="109250"/>
                        <a:pt x="264805" y="75118"/>
                      </a:cubicBezTo>
                      <a:cubicBezTo>
                        <a:pt x="268090" y="71833"/>
                        <a:pt x="271196" y="68477"/>
                        <a:pt x="274195" y="64978"/>
                      </a:cubicBezTo>
                      <a:close/>
                    </a:path>
                  </a:pathLst>
                </a:custGeom>
                <a:solidFill>
                  <a:srgbClr val="FFFFFF"/>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grpSp>
          <p:grpSp>
            <p:nvGrpSpPr>
              <p:cNvPr id="499" name="Graphic 822">
                <a:extLst>
                  <a:ext uri="{FF2B5EF4-FFF2-40B4-BE49-F238E27FC236}">
                    <a16:creationId xmlns:a16="http://schemas.microsoft.com/office/drawing/2014/main" id="{00FC4B75-0FCC-45DC-98BF-676711D5385F}"/>
                  </a:ext>
                </a:extLst>
              </p:cNvPr>
              <p:cNvGrpSpPr/>
              <p:nvPr/>
            </p:nvGrpSpPr>
            <p:grpSpPr>
              <a:xfrm>
                <a:off x="9436439" y="4115979"/>
                <a:ext cx="334380" cy="103296"/>
                <a:chOff x="9436439" y="4115979"/>
                <a:chExt cx="334380" cy="103296"/>
              </a:xfrm>
            </p:grpSpPr>
            <p:sp>
              <p:nvSpPr>
                <p:cNvPr id="500" name="Freeform: Shape 499">
                  <a:extLst>
                    <a:ext uri="{FF2B5EF4-FFF2-40B4-BE49-F238E27FC236}">
                      <a16:creationId xmlns:a16="http://schemas.microsoft.com/office/drawing/2014/main" id="{A70A25A5-FEC8-4908-AAA3-4A8CD1D6EDBF}"/>
                    </a:ext>
                  </a:extLst>
                </p:cNvPr>
                <p:cNvSpPr/>
                <p:nvPr/>
              </p:nvSpPr>
              <p:spPr>
                <a:xfrm>
                  <a:off x="9436439" y="4115979"/>
                  <a:ext cx="108102" cy="103296"/>
                </a:xfrm>
                <a:custGeom>
                  <a:avLst/>
                  <a:gdLst>
                    <a:gd name="connsiteX0" fmla="*/ 84285 w 108102"/>
                    <a:gd name="connsiteY0" fmla="*/ 103287 h 103296"/>
                    <a:gd name="connsiteX1" fmla="*/ 81929 w 108102"/>
                    <a:gd name="connsiteY1" fmla="*/ 102716 h 103296"/>
                    <a:gd name="connsiteX2" fmla="*/ 54045 w 108102"/>
                    <a:gd name="connsiteY2" fmla="*/ 88042 h 103296"/>
                    <a:gd name="connsiteX3" fmla="*/ 26161 w 108102"/>
                    <a:gd name="connsiteY3" fmla="*/ 102716 h 103296"/>
                    <a:gd name="connsiteX4" fmla="*/ 20806 w 108102"/>
                    <a:gd name="connsiteY4" fmla="*/ 102323 h 103296"/>
                    <a:gd name="connsiteX5" fmla="*/ 18771 w 108102"/>
                    <a:gd name="connsiteY5" fmla="*/ 97361 h 103296"/>
                    <a:gd name="connsiteX6" fmla="*/ 24091 w 108102"/>
                    <a:gd name="connsiteY6" fmla="*/ 66300 h 103296"/>
                    <a:gd name="connsiteX7" fmla="*/ 1527 w 108102"/>
                    <a:gd name="connsiteY7" fmla="*/ 44307 h 103296"/>
                    <a:gd name="connsiteX8" fmla="*/ 1420 w 108102"/>
                    <a:gd name="connsiteY8" fmla="*/ 37131 h 103296"/>
                    <a:gd name="connsiteX9" fmla="*/ 8596 w 108102"/>
                    <a:gd name="connsiteY9" fmla="*/ 37023 h 103296"/>
                    <a:gd name="connsiteX10" fmla="*/ 33088 w 108102"/>
                    <a:gd name="connsiteY10" fmla="*/ 60873 h 103296"/>
                    <a:gd name="connsiteX11" fmla="*/ 34552 w 108102"/>
                    <a:gd name="connsiteY11" fmla="*/ 65371 h 103296"/>
                    <a:gd name="connsiteX12" fmla="*/ 30517 w 108102"/>
                    <a:gd name="connsiteY12" fmla="*/ 88899 h 103296"/>
                    <a:gd name="connsiteX13" fmla="*/ 51653 w 108102"/>
                    <a:gd name="connsiteY13" fmla="*/ 77796 h 103296"/>
                    <a:gd name="connsiteX14" fmla="*/ 56401 w 108102"/>
                    <a:gd name="connsiteY14" fmla="*/ 77796 h 103296"/>
                    <a:gd name="connsiteX15" fmla="*/ 77537 w 108102"/>
                    <a:gd name="connsiteY15" fmla="*/ 88899 h 103296"/>
                    <a:gd name="connsiteX16" fmla="*/ 73503 w 108102"/>
                    <a:gd name="connsiteY16" fmla="*/ 65371 h 103296"/>
                    <a:gd name="connsiteX17" fmla="*/ 74967 w 108102"/>
                    <a:gd name="connsiteY17" fmla="*/ 60873 h 103296"/>
                    <a:gd name="connsiteX18" fmla="*/ 92068 w 108102"/>
                    <a:gd name="connsiteY18" fmla="*/ 44200 h 103296"/>
                    <a:gd name="connsiteX19" fmla="*/ 68433 w 108102"/>
                    <a:gd name="connsiteY19" fmla="*/ 40772 h 103296"/>
                    <a:gd name="connsiteX20" fmla="*/ 64613 w 108102"/>
                    <a:gd name="connsiteY20" fmla="*/ 37987 h 103296"/>
                    <a:gd name="connsiteX21" fmla="*/ 54045 w 108102"/>
                    <a:gd name="connsiteY21" fmla="*/ 16566 h 103296"/>
                    <a:gd name="connsiteX22" fmla="*/ 43477 w 108102"/>
                    <a:gd name="connsiteY22" fmla="*/ 37987 h 103296"/>
                    <a:gd name="connsiteX23" fmla="*/ 36658 w 108102"/>
                    <a:gd name="connsiteY23" fmla="*/ 40308 h 103296"/>
                    <a:gd name="connsiteX24" fmla="*/ 34337 w 108102"/>
                    <a:gd name="connsiteY24" fmla="*/ 33489 h 103296"/>
                    <a:gd name="connsiteX25" fmla="*/ 49475 w 108102"/>
                    <a:gd name="connsiteY25" fmla="*/ 2820 h 103296"/>
                    <a:gd name="connsiteX26" fmla="*/ 54045 w 108102"/>
                    <a:gd name="connsiteY26" fmla="*/ 0 h 103296"/>
                    <a:gd name="connsiteX27" fmla="*/ 58615 w 108102"/>
                    <a:gd name="connsiteY27" fmla="*/ 2820 h 103296"/>
                    <a:gd name="connsiteX28" fmla="*/ 72539 w 108102"/>
                    <a:gd name="connsiteY28" fmla="*/ 31061 h 103296"/>
                    <a:gd name="connsiteX29" fmla="*/ 103743 w 108102"/>
                    <a:gd name="connsiteY29" fmla="*/ 35595 h 103296"/>
                    <a:gd name="connsiteX30" fmla="*/ 107849 w 108102"/>
                    <a:gd name="connsiteY30" fmla="*/ 39059 h 103296"/>
                    <a:gd name="connsiteX31" fmla="*/ 106563 w 108102"/>
                    <a:gd name="connsiteY31" fmla="*/ 44271 h 103296"/>
                    <a:gd name="connsiteX32" fmla="*/ 83999 w 108102"/>
                    <a:gd name="connsiteY32" fmla="*/ 66264 h 103296"/>
                    <a:gd name="connsiteX33" fmla="*/ 89319 w 108102"/>
                    <a:gd name="connsiteY33" fmla="*/ 97325 h 103296"/>
                    <a:gd name="connsiteX34" fmla="*/ 87284 w 108102"/>
                    <a:gd name="connsiteY34" fmla="*/ 102288 h 103296"/>
                    <a:gd name="connsiteX35" fmla="*/ 84285 w 108102"/>
                    <a:gd name="connsiteY35" fmla="*/ 103252 h 103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08102" h="103296">
                      <a:moveTo>
                        <a:pt x="84285" y="103287"/>
                      </a:moveTo>
                      <a:cubicBezTo>
                        <a:pt x="83464" y="103287"/>
                        <a:pt x="82679" y="103109"/>
                        <a:pt x="81929" y="102716"/>
                      </a:cubicBezTo>
                      <a:lnTo>
                        <a:pt x="54045" y="88042"/>
                      </a:lnTo>
                      <a:lnTo>
                        <a:pt x="26161" y="102716"/>
                      </a:lnTo>
                      <a:cubicBezTo>
                        <a:pt x="24448" y="103609"/>
                        <a:pt x="22377" y="103466"/>
                        <a:pt x="20806" y="102323"/>
                      </a:cubicBezTo>
                      <a:cubicBezTo>
                        <a:pt x="19235" y="101181"/>
                        <a:pt x="18450" y="99253"/>
                        <a:pt x="18771" y="97361"/>
                      </a:cubicBezTo>
                      <a:lnTo>
                        <a:pt x="24091" y="66300"/>
                      </a:lnTo>
                      <a:lnTo>
                        <a:pt x="1527" y="44307"/>
                      </a:lnTo>
                      <a:cubicBezTo>
                        <a:pt x="-473" y="42343"/>
                        <a:pt x="-508" y="39130"/>
                        <a:pt x="1420" y="37131"/>
                      </a:cubicBezTo>
                      <a:cubicBezTo>
                        <a:pt x="3383" y="35131"/>
                        <a:pt x="6597" y="35096"/>
                        <a:pt x="8596" y="37023"/>
                      </a:cubicBezTo>
                      <a:lnTo>
                        <a:pt x="33088" y="60873"/>
                      </a:lnTo>
                      <a:cubicBezTo>
                        <a:pt x="34302" y="62051"/>
                        <a:pt x="34837" y="63729"/>
                        <a:pt x="34552" y="65371"/>
                      </a:cubicBezTo>
                      <a:lnTo>
                        <a:pt x="30517" y="88899"/>
                      </a:lnTo>
                      <a:lnTo>
                        <a:pt x="51653" y="77796"/>
                      </a:lnTo>
                      <a:cubicBezTo>
                        <a:pt x="53153" y="77010"/>
                        <a:pt x="54902" y="77010"/>
                        <a:pt x="56401" y="77796"/>
                      </a:cubicBezTo>
                      <a:lnTo>
                        <a:pt x="77537" y="88899"/>
                      </a:lnTo>
                      <a:lnTo>
                        <a:pt x="73503" y="65371"/>
                      </a:lnTo>
                      <a:cubicBezTo>
                        <a:pt x="73217" y="63729"/>
                        <a:pt x="73753" y="62051"/>
                        <a:pt x="74967" y="60873"/>
                      </a:cubicBezTo>
                      <a:lnTo>
                        <a:pt x="92068" y="44200"/>
                      </a:lnTo>
                      <a:lnTo>
                        <a:pt x="68433" y="40772"/>
                      </a:lnTo>
                      <a:cubicBezTo>
                        <a:pt x="66791" y="40522"/>
                        <a:pt x="65363" y="39487"/>
                        <a:pt x="64613" y="37987"/>
                      </a:cubicBezTo>
                      <a:lnTo>
                        <a:pt x="54045" y="16566"/>
                      </a:lnTo>
                      <a:lnTo>
                        <a:pt x="43477" y="37987"/>
                      </a:lnTo>
                      <a:cubicBezTo>
                        <a:pt x="42228" y="40487"/>
                        <a:pt x="39193" y="41558"/>
                        <a:pt x="36658" y="40308"/>
                      </a:cubicBezTo>
                      <a:cubicBezTo>
                        <a:pt x="34159" y="39059"/>
                        <a:pt x="33123" y="36024"/>
                        <a:pt x="34337" y="33489"/>
                      </a:cubicBezTo>
                      <a:lnTo>
                        <a:pt x="49475" y="2820"/>
                      </a:lnTo>
                      <a:cubicBezTo>
                        <a:pt x="50332" y="1071"/>
                        <a:pt x="52117" y="0"/>
                        <a:pt x="54045" y="0"/>
                      </a:cubicBezTo>
                      <a:cubicBezTo>
                        <a:pt x="55973" y="0"/>
                        <a:pt x="57758" y="1107"/>
                        <a:pt x="58615" y="2820"/>
                      </a:cubicBezTo>
                      <a:lnTo>
                        <a:pt x="72539" y="31061"/>
                      </a:lnTo>
                      <a:lnTo>
                        <a:pt x="103743" y="35595"/>
                      </a:lnTo>
                      <a:cubicBezTo>
                        <a:pt x="105671" y="35881"/>
                        <a:pt x="107242" y="37202"/>
                        <a:pt x="107849" y="39059"/>
                      </a:cubicBezTo>
                      <a:cubicBezTo>
                        <a:pt x="108456" y="40915"/>
                        <a:pt x="107956" y="42914"/>
                        <a:pt x="106563" y="44271"/>
                      </a:cubicBezTo>
                      <a:lnTo>
                        <a:pt x="83999" y="66264"/>
                      </a:lnTo>
                      <a:lnTo>
                        <a:pt x="89319" y="97325"/>
                      </a:lnTo>
                      <a:cubicBezTo>
                        <a:pt x="89640" y="99217"/>
                        <a:pt x="88855" y="101145"/>
                        <a:pt x="87284" y="102288"/>
                      </a:cubicBezTo>
                      <a:cubicBezTo>
                        <a:pt x="86392" y="102930"/>
                        <a:pt x="85356" y="103252"/>
                        <a:pt x="84285" y="103252"/>
                      </a:cubicBezTo>
                      <a:close/>
                    </a:path>
                  </a:pathLst>
                </a:custGeom>
                <a:solidFill>
                  <a:srgbClr val="FFB726"/>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501" name="Freeform: Shape 500">
                  <a:extLst>
                    <a:ext uri="{FF2B5EF4-FFF2-40B4-BE49-F238E27FC236}">
                      <a16:creationId xmlns:a16="http://schemas.microsoft.com/office/drawing/2014/main" id="{60006AFD-4393-413B-94C1-9E620FD7F3C5}"/>
                    </a:ext>
                  </a:extLst>
                </p:cNvPr>
                <p:cNvSpPr/>
                <p:nvPr/>
              </p:nvSpPr>
              <p:spPr>
                <a:xfrm>
                  <a:off x="9557212" y="4121049"/>
                  <a:ext cx="97896" cy="93112"/>
                </a:xfrm>
                <a:custGeom>
                  <a:avLst/>
                  <a:gdLst>
                    <a:gd name="connsiteX0" fmla="*/ 48948 w 97896"/>
                    <a:gd name="connsiteY0" fmla="*/ 77224 h 93112"/>
                    <a:gd name="connsiteX1" fmla="*/ 79224 w 97896"/>
                    <a:gd name="connsiteY1" fmla="*/ 93112 h 93112"/>
                    <a:gd name="connsiteX2" fmla="*/ 73440 w 97896"/>
                    <a:gd name="connsiteY2" fmla="*/ 59409 h 93112"/>
                    <a:gd name="connsiteX3" fmla="*/ 97896 w 97896"/>
                    <a:gd name="connsiteY3" fmla="*/ 35560 h 93112"/>
                    <a:gd name="connsiteX4" fmla="*/ 64086 w 97896"/>
                    <a:gd name="connsiteY4" fmla="*/ 30633 h 93112"/>
                    <a:gd name="connsiteX5" fmla="*/ 48948 w 97896"/>
                    <a:gd name="connsiteY5" fmla="*/ 0 h 93112"/>
                    <a:gd name="connsiteX6" fmla="*/ 33810 w 97896"/>
                    <a:gd name="connsiteY6" fmla="*/ 30633 h 93112"/>
                    <a:gd name="connsiteX7" fmla="*/ 0 w 97896"/>
                    <a:gd name="connsiteY7" fmla="*/ 35560 h 93112"/>
                    <a:gd name="connsiteX8" fmla="*/ 24492 w 97896"/>
                    <a:gd name="connsiteY8" fmla="*/ 59409 h 93112"/>
                    <a:gd name="connsiteX9" fmla="*/ 18708 w 97896"/>
                    <a:gd name="connsiteY9" fmla="*/ 93112 h 93112"/>
                    <a:gd name="connsiteX10" fmla="*/ 48948 w 97896"/>
                    <a:gd name="connsiteY10" fmla="*/ 77224 h 93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896" h="93112">
                      <a:moveTo>
                        <a:pt x="48948" y="77224"/>
                      </a:moveTo>
                      <a:lnTo>
                        <a:pt x="79224" y="93112"/>
                      </a:lnTo>
                      <a:lnTo>
                        <a:pt x="73440" y="59409"/>
                      </a:lnTo>
                      <a:lnTo>
                        <a:pt x="97896" y="35560"/>
                      </a:lnTo>
                      <a:lnTo>
                        <a:pt x="64086" y="30633"/>
                      </a:lnTo>
                      <a:lnTo>
                        <a:pt x="48948" y="0"/>
                      </a:lnTo>
                      <a:lnTo>
                        <a:pt x="33810" y="30633"/>
                      </a:lnTo>
                      <a:lnTo>
                        <a:pt x="0" y="35560"/>
                      </a:lnTo>
                      <a:lnTo>
                        <a:pt x="24492" y="59409"/>
                      </a:lnTo>
                      <a:lnTo>
                        <a:pt x="18708" y="93112"/>
                      </a:lnTo>
                      <a:lnTo>
                        <a:pt x="48948" y="77224"/>
                      </a:lnTo>
                      <a:close/>
                    </a:path>
                  </a:pathLst>
                </a:custGeom>
                <a:solidFill>
                  <a:schemeClr val="tx2">
                    <a:lumMod val="60000"/>
                    <a:lumOff val="40000"/>
                  </a:schemeClr>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502" name="Freeform: Shape 501">
                  <a:extLst>
                    <a:ext uri="{FF2B5EF4-FFF2-40B4-BE49-F238E27FC236}">
                      <a16:creationId xmlns:a16="http://schemas.microsoft.com/office/drawing/2014/main" id="{E186C624-0B4D-4BF9-A1B2-379E09836435}"/>
                    </a:ext>
                  </a:extLst>
                </p:cNvPr>
                <p:cNvSpPr/>
                <p:nvPr/>
              </p:nvSpPr>
              <p:spPr>
                <a:xfrm>
                  <a:off x="9672888" y="4121049"/>
                  <a:ext cx="97931" cy="93112"/>
                </a:xfrm>
                <a:custGeom>
                  <a:avLst/>
                  <a:gdLst>
                    <a:gd name="connsiteX0" fmla="*/ 48984 w 97931"/>
                    <a:gd name="connsiteY0" fmla="*/ 77224 h 93112"/>
                    <a:gd name="connsiteX1" fmla="*/ 79224 w 97931"/>
                    <a:gd name="connsiteY1" fmla="*/ 93112 h 93112"/>
                    <a:gd name="connsiteX2" fmla="*/ 73440 w 97931"/>
                    <a:gd name="connsiteY2" fmla="*/ 59409 h 93112"/>
                    <a:gd name="connsiteX3" fmla="*/ 97932 w 97931"/>
                    <a:gd name="connsiteY3" fmla="*/ 35560 h 93112"/>
                    <a:gd name="connsiteX4" fmla="*/ 64086 w 97931"/>
                    <a:gd name="connsiteY4" fmla="*/ 30633 h 93112"/>
                    <a:gd name="connsiteX5" fmla="*/ 48984 w 97931"/>
                    <a:gd name="connsiteY5" fmla="*/ 0 h 93112"/>
                    <a:gd name="connsiteX6" fmla="*/ 33846 w 97931"/>
                    <a:gd name="connsiteY6" fmla="*/ 30633 h 93112"/>
                    <a:gd name="connsiteX7" fmla="*/ 0 w 97931"/>
                    <a:gd name="connsiteY7" fmla="*/ 35560 h 93112"/>
                    <a:gd name="connsiteX8" fmla="*/ 24492 w 97931"/>
                    <a:gd name="connsiteY8" fmla="*/ 59409 h 93112"/>
                    <a:gd name="connsiteX9" fmla="*/ 18708 w 97931"/>
                    <a:gd name="connsiteY9" fmla="*/ 93112 h 93112"/>
                    <a:gd name="connsiteX10" fmla="*/ 48984 w 97931"/>
                    <a:gd name="connsiteY10" fmla="*/ 77224 h 93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931" h="93112">
                      <a:moveTo>
                        <a:pt x="48984" y="77224"/>
                      </a:moveTo>
                      <a:lnTo>
                        <a:pt x="79224" y="93112"/>
                      </a:lnTo>
                      <a:lnTo>
                        <a:pt x="73440" y="59409"/>
                      </a:lnTo>
                      <a:lnTo>
                        <a:pt x="97932" y="35560"/>
                      </a:lnTo>
                      <a:lnTo>
                        <a:pt x="64086" y="30633"/>
                      </a:lnTo>
                      <a:lnTo>
                        <a:pt x="48984" y="0"/>
                      </a:lnTo>
                      <a:lnTo>
                        <a:pt x="33846" y="30633"/>
                      </a:lnTo>
                      <a:lnTo>
                        <a:pt x="0" y="35560"/>
                      </a:lnTo>
                      <a:lnTo>
                        <a:pt x="24492" y="59409"/>
                      </a:lnTo>
                      <a:lnTo>
                        <a:pt x="18708" y="93112"/>
                      </a:lnTo>
                      <a:lnTo>
                        <a:pt x="48984" y="77224"/>
                      </a:lnTo>
                      <a:close/>
                    </a:path>
                  </a:pathLst>
                </a:custGeom>
                <a:solidFill>
                  <a:schemeClr val="tx2">
                    <a:lumMod val="75000"/>
                  </a:schemeClr>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grpSp>
        </p:grpSp>
        <p:sp>
          <p:nvSpPr>
            <p:cNvPr id="492" name="Freeform: Shape 491">
              <a:extLst>
                <a:ext uri="{FF2B5EF4-FFF2-40B4-BE49-F238E27FC236}">
                  <a16:creationId xmlns:a16="http://schemas.microsoft.com/office/drawing/2014/main" id="{A77D2E1E-CDD5-4E6F-9655-64C39205D5CA}"/>
                </a:ext>
              </a:extLst>
            </p:cNvPr>
            <p:cNvSpPr/>
            <p:nvPr/>
          </p:nvSpPr>
          <p:spPr>
            <a:xfrm>
              <a:off x="9970397" y="4228584"/>
              <a:ext cx="52659" cy="72476"/>
            </a:xfrm>
            <a:custGeom>
              <a:avLst/>
              <a:gdLst>
                <a:gd name="connsiteX0" fmla="*/ 5213 w 52659"/>
                <a:gd name="connsiteY0" fmla="*/ 24243 h 72476"/>
                <a:gd name="connsiteX1" fmla="*/ 48948 w 52659"/>
                <a:gd name="connsiteY1" fmla="*/ 322 h 72476"/>
                <a:gd name="connsiteX2" fmla="*/ 52233 w 52659"/>
                <a:gd name="connsiteY2" fmla="*/ 3892 h 72476"/>
                <a:gd name="connsiteX3" fmla="*/ 0 w 52659"/>
                <a:gd name="connsiteY3" fmla="*/ 72477 h 72476"/>
                <a:gd name="connsiteX4" fmla="*/ 5248 w 52659"/>
                <a:gd name="connsiteY4" fmla="*/ 24243 h 724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59" h="72476">
                  <a:moveTo>
                    <a:pt x="5213" y="24243"/>
                  </a:moveTo>
                  <a:lnTo>
                    <a:pt x="48948" y="322"/>
                  </a:lnTo>
                  <a:cubicBezTo>
                    <a:pt x="51233" y="-928"/>
                    <a:pt x="53661" y="1714"/>
                    <a:pt x="52233" y="3892"/>
                  </a:cubicBezTo>
                  <a:lnTo>
                    <a:pt x="0" y="72477"/>
                  </a:lnTo>
                  <a:lnTo>
                    <a:pt x="5248" y="24243"/>
                  </a:lnTo>
                  <a:close/>
                </a:path>
              </a:pathLst>
            </a:custGeom>
            <a:solidFill>
              <a:srgbClr val="4D8C5D"/>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93" name="Freeform: Shape 492">
              <a:extLst>
                <a:ext uri="{FF2B5EF4-FFF2-40B4-BE49-F238E27FC236}">
                  <a16:creationId xmlns:a16="http://schemas.microsoft.com/office/drawing/2014/main" id="{7173C857-4945-4E4B-B096-20D1A442D94E}"/>
                </a:ext>
              </a:extLst>
            </p:cNvPr>
            <p:cNvSpPr/>
            <p:nvPr/>
          </p:nvSpPr>
          <p:spPr>
            <a:xfrm>
              <a:off x="9826373" y="4074921"/>
              <a:ext cx="450450" cy="307874"/>
            </a:xfrm>
            <a:custGeom>
              <a:avLst/>
              <a:gdLst>
                <a:gd name="connsiteX0" fmla="*/ 2963 w 450450"/>
                <a:gd name="connsiteY0" fmla="*/ 223640 h 307874"/>
                <a:gd name="connsiteX1" fmla="*/ 137383 w 450450"/>
                <a:gd name="connsiteY1" fmla="*/ 279122 h 307874"/>
                <a:gd name="connsiteX2" fmla="*/ 367236 w 450450"/>
                <a:gd name="connsiteY2" fmla="*/ 279122 h 307874"/>
                <a:gd name="connsiteX3" fmla="*/ 442211 w 450450"/>
                <a:gd name="connsiteY3" fmla="*/ 273981 h 307874"/>
                <a:gd name="connsiteX4" fmla="*/ 434928 w 450450"/>
                <a:gd name="connsiteY4" fmla="*/ 180298 h 307874"/>
                <a:gd name="connsiteX5" fmla="*/ 409365 w 450450"/>
                <a:gd name="connsiteY5" fmla="*/ 99467 h 307874"/>
                <a:gd name="connsiteX6" fmla="*/ 371663 w 450450"/>
                <a:gd name="connsiteY6" fmla="*/ 27598 h 307874"/>
                <a:gd name="connsiteX7" fmla="*/ 298044 w 450450"/>
                <a:gd name="connsiteY7" fmla="*/ 0 h 307874"/>
                <a:gd name="connsiteX8" fmla="*/ 219213 w 450450"/>
                <a:gd name="connsiteY8" fmla="*/ 0 h 307874"/>
                <a:gd name="connsiteX9" fmla="*/ 114462 w 450450"/>
                <a:gd name="connsiteY9" fmla="*/ 46842 h 307874"/>
                <a:gd name="connsiteX10" fmla="*/ 95504 w 450450"/>
                <a:gd name="connsiteY10" fmla="*/ 81544 h 307874"/>
                <a:gd name="connsiteX11" fmla="*/ 89756 w 450450"/>
                <a:gd name="connsiteY11" fmla="*/ 61730 h 307874"/>
                <a:gd name="connsiteX12" fmla="*/ 0 w 450450"/>
                <a:gd name="connsiteY12" fmla="*/ 81045 h 307874"/>
                <a:gd name="connsiteX13" fmla="*/ 2963 w 450450"/>
                <a:gd name="connsiteY13" fmla="*/ 223676 h 307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0450" h="307874">
                  <a:moveTo>
                    <a:pt x="2963" y="223640"/>
                  </a:moveTo>
                  <a:cubicBezTo>
                    <a:pt x="6534" y="308148"/>
                    <a:pt x="98932" y="333640"/>
                    <a:pt x="137383" y="279122"/>
                  </a:cubicBezTo>
                  <a:lnTo>
                    <a:pt x="367236" y="279122"/>
                  </a:lnTo>
                  <a:cubicBezTo>
                    <a:pt x="381053" y="297330"/>
                    <a:pt x="419790" y="300615"/>
                    <a:pt x="442211" y="273981"/>
                  </a:cubicBezTo>
                  <a:cubicBezTo>
                    <a:pt x="462668" y="249667"/>
                    <a:pt x="439105" y="198220"/>
                    <a:pt x="434928" y="180298"/>
                  </a:cubicBezTo>
                  <a:cubicBezTo>
                    <a:pt x="428501" y="152700"/>
                    <a:pt x="419504" y="125851"/>
                    <a:pt x="409365" y="99467"/>
                  </a:cubicBezTo>
                  <a:cubicBezTo>
                    <a:pt x="399796" y="74547"/>
                    <a:pt x="392906" y="45592"/>
                    <a:pt x="371663" y="27598"/>
                  </a:cubicBezTo>
                  <a:cubicBezTo>
                    <a:pt x="351455" y="10532"/>
                    <a:pt x="324214" y="1464"/>
                    <a:pt x="298044" y="0"/>
                  </a:cubicBezTo>
                  <a:lnTo>
                    <a:pt x="219213" y="0"/>
                  </a:lnTo>
                  <a:cubicBezTo>
                    <a:pt x="149236" y="0"/>
                    <a:pt x="128922" y="28990"/>
                    <a:pt x="114462" y="46842"/>
                  </a:cubicBezTo>
                  <a:cubicBezTo>
                    <a:pt x="109821" y="52554"/>
                    <a:pt x="95504" y="81544"/>
                    <a:pt x="95504" y="81544"/>
                  </a:cubicBezTo>
                  <a:lnTo>
                    <a:pt x="89756" y="61730"/>
                  </a:lnTo>
                  <a:lnTo>
                    <a:pt x="0" y="81045"/>
                  </a:lnTo>
                  <a:cubicBezTo>
                    <a:pt x="0" y="81045"/>
                    <a:pt x="0" y="153699"/>
                    <a:pt x="2963" y="223676"/>
                  </a:cubicBezTo>
                  <a:close/>
                </a:path>
              </a:pathLst>
            </a:custGeom>
            <a:solidFill>
              <a:schemeClr val="accent6"/>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94" name="Freeform: Shape 493">
              <a:extLst>
                <a:ext uri="{FF2B5EF4-FFF2-40B4-BE49-F238E27FC236}">
                  <a16:creationId xmlns:a16="http://schemas.microsoft.com/office/drawing/2014/main" id="{59EBC8A0-05CA-4ECE-88D4-FF69E47A45A8}"/>
                </a:ext>
              </a:extLst>
            </p:cNvPr>
            <p:cNvSpPr/>
            <p:nvPr/>
          </p:nvSpPr>
          <p:spPr>
            <a:xfrm>
              <a:off x="9963757" y="4221693"/>
              <a:ext cx="71471" cy="132350"/>
            </a:xfrm>
            <a:custGeom>
              <a:avLst/>
              <a:gdLst>
                <a:gd name="connsiteX0" fmla="*/ 0 w 71471"/>
                <a:gd name="connsiteY0" fmla="*/ 132351 h 132350"/>
                <a:gd name="connsiteX1" fmla="*/ 63550 w 71471"/>
                <a:gd name="connsiteY1" fmla="*/ 2358 h 132350"/>
                <a:gd name="connsiteX2" fmla="*/ 71262 w 71471"/>
                <a:gd name="connsiteY2" fmla="*/ 5392 h 132350"/>
                <a:gd name="connsiteX3" fmla="*/ 32953 w 71471"/>
                <a:gd name="connsiteY3" fmla="*/ 132351 h 132350"/>
                <a:gd name="connsiteX4" fmla="*/ 0 w 71471"/>
                <a:gd name="connsiteY4" fmla="*/ 132351 h 132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471" h="132350">
                  <a:moveTo>
                    <a:pt x="0" y="132351"/>
                  </a:moveTo>
                  <a:lnTo>
                    <a:pt x="63550" y="2358"/>
                  </a:lnTo>
                  <a:cubicBezTo>
                    <a:pt x="65800" y="-2248"/>
                    <a:pt x="72762" y="501"/>
                    <a:pt x="71262" y="5392"/>
                  </a:cubicBezTo>
                  <a:lnTo>
                    <a:pt x="32953" y="132351"/>
                  </a:lnTo>
                  <a:lnTo>
                    <a:pt x="0" y="132351"/>
                  </a:lnTo>
                  <a:close/>
                </a:path>
              </a:pathLst>
            </a:custGeom>
            <a:solidFill>
              <a:schemeClr val="accent6">
                <a:lumMod val="75000"/>
              </a:schemeClr>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95" name="Freeform: Shape 494">
              <a:extLst>
                <a:ext uri="{FF2B5EF4-FFF2-40B4-BE49-F238E27FC236}">
                  <a16:creationId xmlns:a16="http://schemas.microsoft.com/office/drawing/2014/main" id="{BDDDEFC8-9C90-4813-AC16-04A759BDB7C9}"/>
                </a:ext>
              </a:extLst>
            </p:cNvPr>
            <p:cNvSpPr/>
            <p:nvPr/>
          </p:nvSpPr>
          <p:spPr>
            <a:xfrm>
              <a:off x="10190825" y="4161322"/>
              <a:ext cx="32702" cy="195577"/>
            </a:xfrm>
            <a:custGeom>
              <a:avLst/>
              <a:gdLst>
                <a:gd name="connsiteX0" fmla="*/ 2820 w 32702"/>
                <a:gd name="connsiteY0" fmla="*/ 195542 h 195577"/>
                <a:gd name="connsiteX1" fmla="*/ 2427 w 32702"/>
                <a:gd name="connsiteY1" fmla="*/ 195542 h 195577"/>
                <a:gd name="connsiteX2" fmla="*/ 35 w 32702"/>
                <a:gd name="connsiteY2" fmla="*/ 192329 h 195577"/>
                <a:gd name="connsiteX3" fmla="*/ 27062 w 32702"/>
                <a:gd name="connsiteY3" fmla="*/ 2427 h 195577"/>
                <a:gd name="connsiteX4" fmla="*/ 30275 w 32702"/>
                <a:gd name="connsiteY4" fmla="*/ 35 h 195577"/>
                <a:gd name="connsiteX5" fmla="*/ 32667 w 32702"/>
                <a:gd name="connsiteY5" fmla="*/ 3249 h 195577"/>
                <a:gd name="connsiteX6" fmla="*/ 5641 w 32702"/>
                <a:gd name="connsiteY6" fmla="*/ 193150 h 195577"/>
                <a:gd name="connsiteX7" fmla="*/ 2820 w 32702"/>
                <a:gd name="connsiteY7" fmla="*/ 195578 h 195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702" h="195577">
                  <a:moveTo>
                    <a:pt x="2820" y="195542"/>
                  </a:moveTo>
                  <a:cubicBezTo>
                    <a:pt x="2820" y="195542"/>
                    <a:pt x="2534" y="195542"/>
                    <a:pt x="2427" y="195542"/>
                  </a:cubicBezTo>
                  <a:cubicBezTo>
                    <a:pt x="892" y="195328"/>
                    <a:pt x="-215" y="193900"/>
                    <a:pt x="35" y="192329"/>
                  </a:cubicBezTo>
                  <a:lnTo>
                    <a:pt x="27062" y="2427"/>
                  </a:lnTo>
                  <a:cubicBezTo>
                    <a:pt x="27276" y="892"/>
                    <a:pt x="28740" y="-215"/>
                    <a:pt x="30275" y="35"/>
                  </a:cubicBezTo>
                  <a:cubicBezTo>
                    <a:pt x="31810" y="250"/>
                    <a:pt x="32917" y="1678"/>
                    <a:pt x="32667" y="3249"/>
                  </a:cubicBezTo>
                  <a:lnTo>
                    <a:pt x="5641" y="193150"/>
                  </a:lnTo>
                  <a:cubicBezTo>
                    <a:pt x="5426" y="194578"/>
                    <a:pt x="4212" y="195578"/>
                    <a:pt x="2820" y="195578"/>
                  </a:cubicBezTo>
                  <a:close/>
                </a:path>
              </a:pathLst>
            </a:custGeom>
            <a:solidFill>
              <a:schemeClr val="accent6">
                <a:lumMod val="75000"/>
              </a:schemeClr>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96" name="Freeform: Shape 495">
              <a:extLst>
                <a:ext uri="{FF2B5EF4-FFF2-40B4-BE49-F238E27FC236}">
                  <a16:creationId xmlns:a16="http://schemas.microsoft.com/office/drawing/2014/main" id="{4B990647-66A0-45B6-AA19-F9BB76391E89}"/>
                </a:ext>
              </a:extLst>
            </p:cNvPr>
            <p:cNvSpPr/>
            <p:nvPr/>
          </p:nvSpPr>
          <p:spPr>
            <a:xfrm>
              <a:off x="9865789" y="4153610"/>
              <a:ext cx="58979" cy="125136"/>
            </a:xfrm>
            <a:custGeom>
              <a:avLst/>
              <a:gdLst>
                <a:gd name="connsiteX0" fmla="*/ 2820 w 58979"/>
                <a:gd name="connsiteY0" fmla="*/ 125137 h 125136"/>
                <a:gd name="connsiteX1" fmla="*/ 1678 w 58979"/>
                <a:gd name="connsiteY1" fmla="*/ 124887 h 125136"/>
                <a:gd name="connsiteX2" fmla="*/ 249 w 58979"/>
                <a:gd name="connsiteY2" fmla="*/ 121138 h 125136"/>
                <a:gd name="connsiteX3" fmla="*/ 53553 w 58979"/>
                <a:gd name="connsiteY3" fmla="*/ 1678 h 125136"/>
                <a:gd name="connsiteX4" fmla="*/ 57302 w 58979"/>
                <a:gd name="connsiteY4" fmla="*/ 249 h 125136"/>
                <a:gd name="connsiteX5" fmla="*/ 58730 w 58979"/>
                <a:gd name="connsiteY5" fmla="*/ 3998 h 125136"/>
                <a:gd name="connsiteX6" fmla="*/ 5426 w 58979"/>
                <a:gd name="connsiteY6" fmla="*/ 123459 h 125136"/>
                <a:gd name="connsiteX7" fmla="*/ 2820 w 58979"/>
                <a:gd name="connsiteY7" fmla="*/ 125137 h 125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979" h="125136">
                  <a:moveTo>
                    <a:pt x="2820" y="125137"/>
                  </a:moveTo>
                  <a:cubicBezTo>
                    <a:pt x="2427" y="125137"/>
                    <a:pt x="2035" y="125065"/>
                    <a:pt x="1678" y="124887"/>
                  </a:cubicBezTo>
                  <a:cubicBezTo>
                    <a:pt x="249" y="124244"/>
                    <a:pt x="-393" y="122566"/>
                    <a:pt x="249" y="121138"/>
                  </a:cubicBezTo>
                  <a:lnTo>
                    <a:pt x="53553" y="1678"/>
                  </a:lnTo>
                  <a:cubicBezTo>
                    <a:pt x="54196" y="249"/>
                    <a:pt x="55874" y="-393"/>
                    <a:pt x="57302" y="249"/>
                  </a:cubicBezTo>
                  <a:cubicBezTo>
                    <a:pt x="58730" y="892"/>
                    <a:pt x="59373" y="2570"/>
                    <a:pt x="58730" y="3998"/>
                  </a:cubicBezTo>
                  <a:lnTo>
                    <a:pt x="5426" y="123459"/>
                  </a:lnTo>
                  <a:cubicBezTo>
                    <a:pt x="4962" y="124530"/>
                    <a:pt x="3927" y="125137"/>
                    <a:pt x="2820" y="125137"/>
                  </a:cubicBezTo>
                  <a:close/>
                </a:path>
              </a:pathLst>
            </a:custGeom>
            <a:solidFill>
              <a:schemeClr val="accent6">
                <a:lumMod val="75000"/>
              </a:schemeClr>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sp>
          <p:nvSpPr>
            <p:cNvPr id="497" name="Freeform: Shape 496">
              <a:extLst>
                <a:ext uri="{FF2B5EF4-FFF2-40B4-BE49-F238E27FC236}">
                  <a16:creationId xmlns:a16="http://schemas.microsoft.com/office/drawing/2014/main" id="{FBDE35DE-2642-4932-9AAB-17DA98F73381}"/>
                </a:ext>
              </a:extLst>
            </p:cNvPr>
            <p:cNvSpPr/>
            <p:nvPr/>
          </p:nvSpPr>
          <p:spPr>
            <a:xfrm>
              <a:off x="9835692" y="4164142"/>
              <a:ext cx="18779" cy="18779"/>
            </a:xfrm>
            <a:custGeom>
              <a:avLst/>
              <a:gdLst>
                <a:gd name="connsiteX0" fmla="*/ 18780 w 18779"/>
                <a:gd name="connsiteY0" fmla="*/ 9390 h 18779"/>
                <a:gd name="connsiteX1" fmla="*/ 9390 w 18779"/>
                <a:gd name="connsiteY1" fmla="*/ 18780 h 18779"/>
                <a:gd name="connsiteX2" fmla="*/ 0 w 18779"/>
                <a:gd name="connsiteY2" fmla="*/ 9390 h 18779"/>
                <a:gd name="connsiteX3" fmla="*/ 9390 w 18779"/>
                <a:gd name="connsiteY3" fmla="*/ 0 h 18779"/>
                <a:gd name="connsiteX4" fmla="*/ 18780 w 18779"/>
                <a:gd name="connsiteY4" fmla="*/ 9390 h 187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79" h="18779">
                  <a:moveTo>
                    <a:pt x="18780" y="9390"/>
                  </a:moveTo>
                  <a:cubicBezTo>
                    <a:pt x="18780" y="14567"/>
                    <a:pt x="14567" y="18780"/>
                    <a:pt x="9390" y="18780"/>
                  </a:cubicBezTo>
                  <a:cubicBezTo>
                    <a:pt x="4213" y="18780"/>
                    <a:pt x="0" y="14567"/>
                    <a:pt x="0" y="9390"/>
                  </a:cubicBezTo>
                  <a:cubicBezTo>
                    <a:pt x="0" y="4213"/>
                    <a:pt x="4213" y="0"/>
                    <a:pt x="9390" y="0"/>
                  </a:cubicBezTo>
                  <a:cubicBezTo>
                    <a:pt x="14567" y="0"/>
                    <a:pt x="18780" y="4213"/>
                    <a:pt x="18780" y="9390"/>
                  </a:cubicBezTo>
                  <a:close/>
                </a:path>
              </a:pathLst>
            </a:custGeom>
            <a:solidFill>
              <a:srgbClr val="FFFFFF"/>
            </a:solidFill>
            <a:ln w="3543" cap="flat">
              <a:noFill/>
              <a:prstDash val="solid"/>
              <a:miter/>
            </a:ln>
          </p:spPr>
          <p:txBody>
            <a:bodyPr lIns="82296" tIns="41148" rIns="82296" bIns="411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Nova"/>
                <a:ea typeface="+mn-ea"/>
                <a:cs typeface="+mn-cs"/>
              </a:endParaRPr>
            </a:p>
          </p:txBody>
        </p:sp>
      </p:grpSp>
      <p:sp>
        <p:nvSpPr>
          <p:cNvPr id="2" name="Textfeld 1">
            <a:extLst>
              <a:ext uri="{FF2B5EF4-FFF2-40B4-BE49-F238E27FC236}">
                <a16:creationId xmlns:a16="http://schemas.microsoft.com/office/drawing/2014/main" id="{D0440DA8-3D52-E003-ECEE-917C9FFB0176}"/>
              </a:ext>
            </a:extLst>
          </p:cNvPr>
          <p:cNvSpPr txBox="1"/>
          <p:nvPr>
            <p:custDataLst>
              <p:tags r:id="rId3"/>
            </p:custDataLst>
          </p:nvPr>
        </p:nvSpPr>
        <p:spPr>
          <a:xfrm>
            <a:off x="150955" y="20641"/>
            <a:ext cx="2743200" cy="483209"/>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en-US" sz="1200" b="1">
                <a:solidFill>
                  <a:srgbClr val="575757"/>
                </a:solidFill>
                <a:sym typeface="Trebuchet MS" panose="020B0603020202020204" pitchFamily="34" charset="0"/>
              </a:rPr>
              <a:t>TM 21.Jun.24:
</a:t>
            </a:r>
          </a:p>
        </p:txBody>
      </p:sp>
    </p:spTree>
    <p:extLst>
      <p:ext uri="{BB962C8B-B14F-4D97-AF65-F5344CB8AC3E}">
        <p14:creationId xmlns:p14="http://schemas.microsoft.com/office/powerpoint/2010/main" val="181120088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Object 13" hidden="1">
            <a:extLst>
              <a:ext uri="{FF2B5EF4-FFF2-40B4-BE49-F238E27FC236}">
                <a16:creationId xmlns:a16="http://schemas.microsoft.com/office/drawing/2014/main" id="{9C0ADF83-7D09-49B6-A578-DE8A9D1C289A}"/>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395" imgH="394" progId="TCLayout.ActiveDocument.1">
                  <p:embed/>
                </p:oleObj>
              </mc:Choice>
              <mc:Fallback>
                <p:oleObj name="think-cell Slide" r:id="rId5" imgW="395" imgH="394" progId="TCLayout.ActiveDocument.1">
                  <p:embed/>
                  <p:pic>
                    <p:nvPicPr>
                      <p:cNvPr id="14" name="Object 13" hidden="1">
                        <a:extLst>
                          <a:ext uri="{FF2B5EF4-FFF2-40B4-BE49-F238E27FC236}">
                            <a16:creationId xmlns:a16="http://schemas.microsoft.com/office/drawing/2014/main" id="{9C0ADF83-7D09-49B6-A578-DE8A9D1C289A}"/>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16" name="Rectangle 15" hidden="1">
            <a:extLst>
              <a:ext uri="{FF2B5EF4-FFF2-40B4-BE49-F238E27FC236}">
                <a16:creationId xmlns:a16="http://schemas.microsoft.com/office/drawing/2014/main" id="{85B68774-63A5-4C3E-9013-6AD8EACC6D11}"/>
              </a:ext>
            </a:extLst>
          </p:cNvPr>
          <p:cNvSpPr/>
          <p:nvPr>
            <p:custDataLst>
              <p:tags r:id="rId2"/>
            </p:custDataLst>
          </p:nvPr>
        </p:nvSpPr>
        <p:spPr>
          <a:xfrm>
            <a:off x="0" y="0"/>
            <a:ext cx="158750" cy="158750"/>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endParaRPr lang="en-US" sz="3400">
              <a:solidFill>
                <a:srgbClr val="FFFFFF"/>
              </a:solidFill>
              <a:latin typeface="Trebuchet MS" panose="020B0603020202020204" pitchFamily="34" charset="0"/>
              <a:ea typeface="+mj-ea"/>
              <a:cs typeface="+mj-cs"/>
              <a:sym typeface="Trebuchet MS" panose="020B0603020202020204" pitchFamily="34" charset="0"/>
            </a:endParaRPr>
          </a:p>
        </p:txBody>
      </p:sp>
      <p:sp>
        <p:nvSpPr>
          <p:cNvPr id="2" name="Title 1">
            <a:extLst>
              <a:ext uri="{FF2B5EF4-FFF2-40B4-BE49-F238E27FC236}">
                <a16:creationId xmlns:a16="http://schemas.microsoft.com/office/drawing/2014/main" id="{EC4B621E-4BC2-4ED1-9E23-BF5D5F986EBA}"/>
              </a:ext>
            </a:extLst>
          </p:cNvPr>
          <p:cNvSpPr>
            <a:spLocks noGrp="1"/>
          </p:cNvSpPr>
          <p:nvPr>
            <p:ph type="title"/>
          </p:nvPr>
        </p:nvSpPr>
        <p:spPr>
          <a:xfrm>
            <a:off x="630000" y="613275"/>
            <a:ext cx="10933200" cy="470898"/>
          </a:xfrm>
          <a:prstGeom prst="rect">
            <a:avLst/>
          </a:prstGeom>
        </p:spPr>
        <p:txBody>
          <a:bodyPr>
            <a:spAutoFit/>
          </a:bodyPr>
          <a:lstStyle/>
          <a:p>
            <a:pPr>
              <a:buSzPts val="3400"/>
            </a:pPr>
            <a:r>
              <a:rPr lang="en-US">
                <a:solidFill>
                  <a:schemeClr val="tx2"/>
                </a:solidFill>
              </a:rPr>
              <a:t>Six key pillars for a successful personalization program</a:t>
            </a:r>
          </a:p>
        </p:txBody>
      </p:sp>
      <p:sp>
        <p:nvSpPr>
          <p:cNvPr id="147" name="Rectangle 146">
            <a:extLst>
              <a:ext uri="{FF2B5EF4-FFF2-40B4-BE49-F238E27FC236}">
                <a16:creationId xmlns:a16="http://schemas.microsoft.com/office/drawing/2014/main" id="{3941AD94-C40D-43E6-80AF-B7F6C1781C24}"/>
              </a:ext>
            </a:extLst>
          </p:cNvPr>
          <p:cNvSpPr/>
          <p:nvPr/>
        </p:nvSpPr>
        <p:spPr>
          <a:xfrm>
            <a:off x="603264" y="4550069"/>
            <a:ext cx="3076310" cy="1563875"/>
          </a:xfrm>
          <a:prstGeom prst="rect">
            <a:avLst/>
          </a:prstGeom>
          <a:noFill/>
          <a:ln w="3175" cap="rnd" cmpd="sng" algn="ctr">
            <a:solidFill>
              <a:srgbClr val="29BA74"/>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45720" numCol="1" spcCol="0" rtlCol="0" fromWordArt="0" anchor="t" anchorCtr="0" forceAA="0" compatLnSpc="1">
            <a:prstTxWarp prst="textNoShape">
              <a:avLst/>
            </a:prstTxWarp>
            <a:noAutofit/>
          </a:bodyPr>
          <a:lstStyle/>
          <a:p>
            <a:pPr algn="ctr"/>
            <a:r>
              <a:rPr lang="en-US" sz="1400">
                <a:solidFill>
                  <a:srgbClr val="29BA74"/>
                </a:solidFill>
              </a:rPr>
              <a:t>      Organization structure</a:t>
            </a:r>
          </a:p>
        </p:txBody>
      </p:sp>
      <p:sp>
        <p:nvSpPr>
          <p:cNvPr id="148" name="Rectangle 147">
            <a:extLst>
              <a:ext uri="{FF2B5EF4-FFF2-40B4-BE49-F238E27FC236}">
                <a16:creationId xmlns:a16="http://schemas.microsoft.com/office/drawing/2014/main" id="{5897FEA5-C912-44BC-9621-87387960447C}"/>
              </a:ext>
            </a:extLst>
          </p:cNvPr>
          <p:cNvSpPr/>
          <p:nvPr/>
        </p:nvSpPr>
        <p:spPr>
          <a:xfrm>
            <a:off x="4077170" y="4539864"/>
            <a:ext cx="4030006" cy="1563875"/>
          </a:xfrm>
          <a:prstGeom prst="rect">
            <a:avLst/>
          </a:prstGeom>
          <a:noFill/>
          <a:ln w="3175" cap="rnd" cmpd="sng" algn="ctr">
            <a:solidFill>
              <a:srgbClr val="29BA74"/>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45720" numCol="1" spcCol="0" rtlCol="0" fromWordArt="0" anchor="t" anchorCtr="0" forceAA="0" compatLnSpc="1">
            <a:prstTxWarp prst="textNoShape">
              <a:avLst/>
            </a:prstTxWarp>
            <a:noAutofit/>
          </a:bodyPr>
          <a:lstStyle/>
          <a:p>
            <a:pPr algn="ctr"/>
            <a:r>
              <a:rPr lang="en-US" sz="1400">
                <a:solidFill>
                  <a:srgbClr val="29BA74"/>
                </a:solidFill>
              </a:rPr>
              <a:t>    Operating rhythm</a:t>
            </a:r>
          </a:p>
        </p:txBody>
      </p:sp>
      <p:sp>
        <p:nvSpPr>
          <p:cNvPr id="149" name="Rectangle 148">
            <a:extLst>
              <a:ext uri="{FF2B5EF4-FFF2-40B4-BE49-F238E27FC236}">
                <a16:creationId xmlns:a16="http://schemas.microsoft.com/office/drawing/2014/main" id="{51F51B79-AF18-4495-9761-98DF33E5680B}"/>
              </a:ext>
            </a:extLst>
          </p:cNvPr>
          <p:cNvSpPr/>
          <p:nvPr/>
        </p:nvSpPr>
        <p:spPr>
          <a:xfrm>
            <a:off x="8478280" y="4550069"/>
            <a:ext cx="3058185" cy="1563875"/>
          </a:xfrm>
          <a:prstGeom prst="rect">
            <a:avLst/>
          </a:prstGeom>
          <a:noFill/>
          <a:ln w="3175" cap="rnd" cmpd="sng" algn="ctr">
            <a:solidFill>
              <a:srgbClr val="29BA74"/>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45720" numCol="1" spcCol="0" rtlCol="0" fromWordArt="0" anchor="t" anchorCtr="0" forceAA="0" compatLnSpc="1">
            <a:prstTxWarp prst="textNoShape">
              <a:avLst/>
            </a:prstTxWarp>
            <a:noAutofit/>
          </a:bodyPr>
          <a:lstStyle/>
          <a:p>
            <a:pPr algn="ctr"/>
            <a:r>
              <a:rPr lang="en-US" sz="1400">
                <a:solidFill>
                  <a:srgbClr val="29BA74"/>
                </a:solidFill>
              </a:rPr>
              <a:t>Land and sustain</a:t>
            </a:r>
          </a:p>
        </p:txBody>
      </p:sp>
      <p:grpSp>
        <p:nvGrpSpPr>
          <p:cNvPr id="150" name="Group 149"/>
          <p:cNvGrpSpPr/>
          <p:nvPr/>
        </p:nvGrpSpPr>
        <p:grpSpPr>
          <a:xfrm>
            <a:off x="755695" y="5028558"/>
            <a:ext cx="2765360" cy="830769"/>
            <a:chOff x="541578" y="4561115"/>
            <a:chExt cx="2789193" cy="830769"/>
          </a:xfrm>
        </p:grpSpPr>
        <p:sp>
          <p:nvSpPr>
            <p:cNvPr id="151" name="Rectangle: Rounded Corners 12">
              <a:hlinkClick r:id="rId7" action="ppaction://hlinksldjump"/>
              <a:extLst>
                <a:ext uri="{FF2B5EF4-FFF2-40B4-BE49-F238E27FC236}">
                  <a16:creationId xmlns:a16="http://schemas.microsoft.com/office/drawing/2014/main" id="{291B2F69-23B0-48D1-A6E7-BEA17F514F20}"/>
                </a:ext>
              </a:extLst>
            </p:cNvPr>
            <p:cNvSpPr/>
            <p:nvPr/>
          </p:nvSpPr>
          <p:spPr>
            <a:xfrm>
              <a:off x="541578" y="4561115"/>
              <a:ext cx="1331361" cy="319419"/>
            </a:xfrm>
            <a:prstGeom prst="rect">
              <a:avLst/>
            </a:prstGeom>
            <a:solidFill>
              <a:srgbClr val="FFFFFF"/>
            </a:solidFill>
            <a:ln w="9525" cap="rnd" cmpd="sng" algn="ctr">
              <a:solidFill>
                <a:srgbClr val="295E7E"/>
              </a:solidFill>
              <a:prstDash val="sysDot"/>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 tIns="0" rIns="0" bIns="0" numCol="1" spcCol="0" rtlCol="0" fromWordArt="0" anchor="ctr" anchorCtr="0" forceAA="0" compatLnSpc="1">
              <a:prstTxWarp prst="textNoShape">
                <a:avLst/>
              </a:prstTxWarp>
              <a:noAutofit/>
            </a:bodyPr>
            <a:lstStyle/>
            <a:p>
              <a:pPr algn="ctr"/>
              <a:r>
                <a:rPr lang="en-US" sz="1100">
                  <a:solidFill>
                    <a:srgbClr val="295E7E"/>
                  </a:solidFill>
                </a:rPr>
                <a:t>Build organization</a:t>
              </a:r>
            </a:p>
          </p:txBody>
        </p:sp>
        <p:sp>
          <p:nvSpPr>
            <p:cNvPr id="152" name="Rectangle: Rounded Corners 23">
              <a:hlinkClick r:id="rId8" action="ppaction://hlinksldjump"/>
              <a:extLst>
                <a:ext uri="{FF2B5EF4-FFF2-40B4-BE49-F238E27FC236}">
                  <a16:creationId xmlns:a16="http://schemas.microsoft.com/office/drawing/2014/main" id="{537D1521-F213-4F7A-8F9C-6C5961018402}"/>
                </a:ext>
              </a:extLst>
            </p:cNvPr>
            <p:cNvSpPr/>
            <p:nvPr/>
          </p:nvSpPr>
          <p:spPr>
            <a:xfrm>
              <a:off x="558751" y="5072465"/>
              <a:ext cx="2772020" cy="319419"/>
            </a:xfrm>
            <a:prstGeom prst="rect">
              <a:avLst/>
            </a:prstGeom>
            <a:solidFill>
              <a:srgbClr val="FFFFFF"/>
            </a:solidFill>
            <a:ln w="9525" cap="rnd" cmpd="sng" algn="ctr">
              <a:solidFill>
                <a:srgbClr val="295E7E"/>
              </a:solidFill>
              <a:prstDash val="sysDot"/>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 tIns="0" rIns="0" bIns="0" numCol="1" spcCol="0" rtlCol="0" fromWordArt="0" anchor="ctr" anchorCtr="0" forceAA="0" compatLnSpc="1">
              <a:prstTxWarp prst="textNoShape">
                <a:avLst/>
              </a:prstTxWarp>
              <a:noAutofit/>
            </a:bodyPr>
            <a:lstStyle/>
            <a:p>
              <a:pPr algn="ctr">
                <a:buSzPct val="100000"/>
                <a:buFont typeface="Trebuchet MS" panose="020B0603020202020204" pitchFamily="34" charset="0"/>
                <a:buChar char="​"/>
              </a:pPr>
              <a:r>
                <a:rPr lang="en-US" sz="1100">
                  <a:solidFill>
                    <a:srgbClr val="295E7E"/>
                  </a:solidFill>
                  <a:latin typeface="Trebuchet MS" panose="020B0603020202020204" pitchFamily="34" charset="0"/>
                </a:rPr>
                <a:t>Accountability for stakeholders</a:t>
              </a:r>
            </a:p>
          </p:txBody>
        </p:sp>
        <p:sp>
          <p:nvSpPr>
            <p:cNvPr id="153" name="Rectangle: Rounded Corners 16">
              <a:hlinkClick r:id="rId9" action="ppaction://hlinksldjump"/>
              <a:extLst>
                <a:ext uri="{FF2B5EF4-FFF2-40B4-BE49-F238E27FC236}">
                  <a16:creationId xmlns:a16="http://schemas.microsoft.com/office/drawing/2014/main" id="{412D61BB-B4D8-4D1B-B1F3-735A073EA038}"/>
                </a:ext>
              </a:extLst>
            </p:cNvPr>
            <p:cNvSpPr/>
            <p:nvPr/>
          </p:nvSpPr>
          <p:spPr>
            <a:xfrm>
              <a:off x="1988837" y="4562099"/>
              <a:ext cx="1331361" cy="319419"/>
            </a:xfrm>
            <a:prstGeom prst="rect">
              <a:avLst/>
            </a:prstGeom>
            <a:solidFill>
              <a:srgbClr val="FFFFFF"/>
            </a:solidFill>
            <a:ln w="9525" cap="rnd" cmpd="sng" algn="ctr">
              <a:solidFill>
                <a:srgbClr val="295E7E"/>
              </a:solidFill>
              <a:prstDash val="sysDot"/>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 tIns="0" rIns="0" bIns="0" numCol="1" spcCol="0" rtlCol="0" fromWordArt="0" anchor="ctr" anchorCtr="0" forceAA="0" compatLnSpc="1">
              <a:prstTxWarp prst="textNoShape">
                <a:avLst/>
              </a:prstTxWarp>
              <a:noAutofit/>
            </a:bodyPr>
            <a:lstStyle/>
            <a:p>
              <a:pPr algn="ctr">
                <a:buSzPct val="100000"/>
                <a:buFont typeface="Trebuchet MS" panose="020B0603020202020204" pitchFamily="34" charset="0"/>
                <a:buChar char="​"/>
              </a:pPr>
              <a:r>
                <a:rPr lang="en-US" sz="1100">
                  <a:solidFill>
                    <a:srgbClr val="295E7E"/>
                  </a:solidFill>
                  <a:latin typeface="Trebuchet MS" panose="020B0603020202020204" pitchFamily="34" charset="0"/>
                </a:rPr>
                <a:t>Run organization</a:t>
              </a:r>
            </a:p>
          </p:txBody>
        </p:sp>
      </p:grpSp>
      <p:sp>
        <p:nvSpPr>
          <p:cNvPr id="155" name="Rectangle: Rounded Corners 25">
            <a:hlinkClick r:id="rId10" action="ppaction://hlinksldjump"/>
            <a:extLst>
              <a:ext uri="{FF2B5EF4-FFF2-40B4-BE49-F238E27FC236}">
                <a16:creationId xmlns:a16="http://schemas.microsoft.com/office/drawing/2014/main" id="{35BF8E46-BD8D-4A60-969B-2657F170DD22}"/>
              </a:ext>
            </a:extLst>
          </p:cNvPr>
          <p:cNvSpPr/>
          <p:nvPr/>
        </p:nvSpPr>
        <p:spPr>
          <a:xfrm>
            <a:off x="8648352" y="5040134"/>
            <a:ext cx="2611738" cy="328147"/>
          </a:xfrm>
          <a:prstGeom prst="rect">
            <a:avLst/>
          </a:prstGeom>
          <a:solidFill>
            <a:srgbClr val="FFFFFF"/>
          </a:solidFill>
          <a:ln w="9525" cap="rnd" cmpd="sng" algn="ctr">
            <a:solidFill>
              <a:srgbClr val="295E7E"/>
            </a:solidFill>
            <a:prstDash val="sysDot"/>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 tIns="0" rIns="0" bIns="0" numCol="1" spcCol="0" rtlCol="0" fromWordArt="0" anchor="ctr" anchorCtr="0" forceAA="0" compatLnSpc="1">
            <a:prstTxWarp prst="textNoShape">
              <a:avLst/>
            </a:prstTxWarp>
            <a:noAutofit/>
          </a:bodyPr>
          <a:lstStyle/>
          <a:p>
            <a:pPr algn="ctr"/>
            <a:r>
              <a:rPr lang="en-US" sz="1100">
                <a:solidFill>
                  <a:srgbClr val="295E7E"/>
                </a:solidFill>
              </a:rPr>
              <a:t>Building confidence in stakeholders</a:t>
            </a:r>
          </a:p>
        </p:txBody>
      </p:sp>
      <p:sp>
        <p:nvSpPr>
          <p:cNvPr id="158" name="Rectangle: Rounded Corners 8">
            <a:hlinkClick r:id="rId11" action="ppaction://hlinksldjump"/>
            <a:extLst>
              <a:ext uri="{FF2B5EF4-FFF2-40B4-BE49-F238E27FC236}">
                <a16:creationId xmlns:a16="http://schemas.microsoft.com/office/drawing/2014/main" id="{433B2AA3-D9E5-49E1-90E2-B574E94C4DBE}"/>
              </a:ext>
            </a:extLst>
          </p:cNvPr>
          <p:cNvSpPr/>
          <p:nvPr/>
        </p:nvSpPr>
        <p:spPr>
          <a:xfrm>
            <a:off x="4275043" y="5029929"/>
            <a:ext cx="1696557" cy="414637"/>
          </a:xfrm>
          <a:prstGeom prst="rect">
            <a:avLst/>
          </a:prstGeom>
          <a:solidFill>
            <a:srgbClr val="FFFFFF"/>
          </a:solidFill>
          <a:ln w="9525" cap="rnd" cmpd="sng" algn="ctr">
            <a:solidFill>
              <a:srgbClr val="295E7E"/>
            </a:solidFill>
            <a:prstDash val="sysDot"/>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 tIns="0" rIns="0" bIns="0" numCol="1" spcCol="0" rtlCol="0" fromWordArt="0" anchor="ctr" anchorCtr="0" forceAA="0" compatLnSpc="1">
            <a:prstTxWarp prst="textNoShape">
              <a:avLst/>
            </a:prstTxWarp>
            <a:noAutofit/>
          </a:bodyPr>
          <a:lstStyle/>
          <a:p>
            <a:pPr algn="ctr"/>
            <a:r>
              <a:rPr lang="en-US" sz="1100">
                <a:solidFill>
                  <a:srgbClr val="295E7E"/>
                </a:solidFill>
              </a:rPr>
              <a:t>Ways of working for Build and Run</a:t>
            </a:r>
          </a:p>
        </p:txBody>
      </p:sp>
      <p:sp>
        <p:nvSpPr>
          <p:cNvPr id="159" name="Rectangle: Rounded Corners 10">
            <a:hlinkClick r:id="rId12" action="ppaction://hlinksldjump"/>
            <a:extLst>
              <a:ext uri="{FF2B5EF4-FFF2-40B4-BE49-F238E27FC236}">
                <a16:creationId xmlns:a16="http://schemas.microsoft.com/office/drawing/2014/main" id="{8E95C334-CF4A-4094-8B4D-56B493CF5DDF}"/>
              </a:ext>
            </a:extLst>
          </p:cNvPr>
          <p:cNvSpPr/>
          <p:nvPr/>
        </p:nvSpPr>
        <p:spPr>
          <a:xfrm>
            <a:off x="6266999" y="5029929"/>
            <a:ext cx="1696557" cy="414637"/>
          </a:xfrm>
          <a:prstGeom prst="rect">
            <a:avLst/>
          </a:prstGeom>
          <a:solidFill>
            <a:srgbClr val="FFFFFF"/>
          </a:solidFill>
          <a:ln w="9525" cap="rnd" cmpd="sng" algn="ctr">
            <a:solidFill>
              <a:srgbClr val="295E7E"/>
            </a:solidFill>
            <a:prstDash val="sysDot"/>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 tIns="0" rIns="0" bIns="0" numCol="1" spcCol="0" rtlCol="0" fromWordArt="0" anchor="ctr" anchorCtr="0" forceAA="0" compatLnSpc="1">
            <a:prstTxWarp prst="textNoShape">
              <a:avLst/>
            </a:prstTxWarp>
            <a:noAutofit/>
          </a:bodyPr>
          <a:lstStyle/>
          <a:p>
            <a:pPr algn="ctr"/>
            <a:r>
              <a:rPr lang="en-US" sz="1100">
                <a:solidFill>
                  <a:srgbClr val="295E7E"/>
                </a:solidFill>
              </a:rPr>
              <a:t>5X marketing</a:t>
            </a:r>
            <a:br>
              <a:rPr lang="en-US" sz="1100">
                <a:solidFill>
                  <a:srgbClr val="295E7E"/>
                </a:solidFill>
              </a:rPr>
            </a:br>
            <a:r>
              <a:rPr lang="en-US" sz="1100">
                <a:solidFill>
                  <a:srgbClr val="295E7E"/>
                </a:solidFill>
              </a:rPr>
              <a:t>team productivity</a:t>
            </a:r>
          </a:p>
        </p:txBody>
      </p:sp>
      <p:sp>
        <p:nvSpPr>
          <p:cNvPr id="162" name="Rectangle: Rounded Corners 28">
            <a:hlinkClick r:id="" action="ppaction://noaction"/>
            <a:extLst>
              <a:ext uri="{FF2B5EF4-FFF2-40B4-BE49-F238E27FC236}">
                <a16:creationId xmlns:a16="http://schemas.microsoft.com/office/drawing/2014/main" id="{C32772C9-B789-4F11-89E1-FD698B5DA4FA}"/>
              </a:ext>
            </a:extLst>
          </p:cNvPr>
          <p:cNvSpPr/>
          <p:nvPr/>
        </p:nvSpPr>
        <p:spPr>
          <a:xfrm>
            <a:off x="6266999" y="5534473"/>
            <a:ext cx="1696557" cy="414637"/>
          </a:xfrm>
          <a:prstGeom prst="rect">
            <a:avLst/>
          </a:prstGeom>
          <a:solidFill>
            <a:srgbClr val="FFFFFF"/>
          </a:solidFill>
          <a:ln w="9525" cap="rnd" cmpd="sng" algn="ctr">
            <a:solidFill>
              <a:srgbClr val="295E7E"/>
            </a:solidFill>
            <a:prstDash val="sysDot"/>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 tIns="0" rIns="0" bIns="0" numCol="1" spcCol="0" rtlCol="0" fromWordArt="0" anchor="ctr" anchorCtr="0" forceAA="0" compatLnSpc="1">
            <a:prstTxWarp prst="textNoShape">
              <a:avLst/>
            </a:prstTxWarp>
            <a:noAutofit/>
          </a:bodyPr>
          <a:lstStyle/>
          <a:p>
            <a:pPr algn="ctr"/>
            <a:r>
              <a:rPr lang="en-US" sz="1100">
                <a:solidFill>
                  <a:srgbClr val="295E7E"/>
                </a:solidFill>
              </a:rPr>
              <a:t>Governance, review and meeting rhythm</a:t>
            </a:r>
          </a:p>
        </p:txBody>
      </p:sp>
      <p:sp>
        <p:nvSpPr>
          <p:cNvPr id="163" name="Rectangle: Rounded Corners 38">
            <a:hlinkClick r:id="rId13" action="ppaction://hlinksldjump"/>
            <a:extLst>
              <a:ext uri="{FF2B5EF4-FFF2-40B4-BE49-F238E27FC236}">
                <a16:creationId xmlns:a16="http://schemas.microsoft.com/office/drawing/2014/main" id="{4181CC35-1ADA-45F1-9902-C4417188D3F5}"/>
              </a:ext>
            </a:extLst>
          </p:cNvPr>
          <p:cNvSpPr/>
          <p:nvPr/>
        </p:nvSpPr>
        <p:spPr>
          <a:xfrm>
            <a:off x="4275043" y="5534473"/>
            <a:ext cx="1696557" cy="414637"/>
          </a:xfrm>
          <a:prstGeom prst="rect">
            <a:avLst/>
          </a:prstGeom>
          <a:solidFill>
            <a:srgbClr val="FFFFFF"/>
          </a:solidFill>
          <a:ln w="9525" cap="rnd" cmpd="sng" algn="ctr">
            <a:solidFill>
              <a:srgbClr val="295E7E"/>
            </a:solidFill>
            <a:prstDash val="sysDot"/>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 tIns="0" rIns="0" bIns="0" numCol="1" spcCol="0" rtlCol="0" fromWordArt="0" anchor="ctr" anchorCtr="0" forceAA="0" compatLnSpc="1">
            <a:prstTxWarp prst="textNoShape">
              <a:avLst/>
            </a:prstTxWarp>
            <a:noAutofit/>
          </a:bodyPr>
          <a:lstStyle/>
          <a:p>
            <a:pPr algn="ctr"/>
            <a:r>
              <a:rPr lang="en-US" sz="1100">
                <a:solidFill>
                  <a:srgbClr val="295E7E"/>
                </a:solidFill>
              </a:rPr>
              <a:t>Campaign execution process and tools</a:t>
            </a:r>
          </a:p>
        </p:txBody>
      </p:sp>
      <p:sp>
        <p:nvSpPr>
          <p:cNvPr id="164" name="Rectangle 163">
            <a:extLst>
              <a:ext uri="{FF2B5EF4-FFF2-40B4-BE49-F238E27FC236}">
                <a16:creationId xmlns:a16="http://schemas.microsoft.com/office/drawing/2014/main" id="{1776C9C7-37FF-4EA1-8EA4-ECABC79DEB89}"/>
              </a:ext>
            </a:extLst>
          </p:cNvPr>
          <p:cNvSpPr/>
          <p:nvPr/>
        </p:nvSpPr>
        <p:spPr>
          <a:xfrm>
            <a:off x="6234585" y="2755139"/>
            <a:ext cx="5295269" cy="1532116"/>
          </a:xfrm>
          <a:prstGeom prst="rect">
            <a:avLst/>
          </a:prstGeom>
          <a:noFill/>
          <a:ln w="3175" cap="rnd" cmpd="sng" algn="ctr">
            <a:solidFill>
              <a:srgbClr val="29BA74"/>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45720" numCol="1" spcCol="0" rtlCol="0" fromWordArt="0" anchor="t" anchorCtr="0" forceAA="0" compatLnSpc="1">
            <a:prstTxWarp prst="textNoShape">
              <a:avLst/>
            </a:prstTxWarp>
            <a:noAutofit/>
          </a:bodyPr>
          <a:lstStyle/>
          <a:p>
            <a:pPr algn="ctr"/>
            <a:r>
              <a:rPr lang="en-US" sz="1400">
                <a:solidFill>
                  <a:srgbClr val="29BA74"/>
                </a:solidFill>
              </a:rPr>
              <a:t>Analytics engine</a:t>
            </a:r>
          </a:p>
        </p:txBody>
      </p:sp>
      <p:sp>
        <p:nvSpPr>
          <p:cNvPr id="165" name="Rectangle 164">
            <a:extLst>
              <a:ext uri="{FF2B5EF4-FFF2-40B4-BE49-F238E27FC236}">
                <a16:creationId xmlns:a16="http://schemas.microsoft.com/office/drawing/2014/main" id="{F52B379A-E92F-416D-9E44-F70C9D8DB719}"/>
              </a:ext>
            </a:extLst>
          </p:cNvPr>
          <p:cNvSpPr/>
          <p:nvPr/>
        </p:nvSpPr>
        <p:spPr>
          <a:xfrm>
            <a:off x="630000" y="2744641"/>
            <a:ext cx="1811308" cy="1542614"/>
          </a:xfrm>
          <a:prstGeom prst="rect">
            <a:avLst/>
          </a:prstGeom>
          <a:noFill/>
          <a:ln w="3175" cap="rnd" cmpd="sng" algn="ctr">
            <a:solidFill>
              <a:srgbClr val="29BA74"/>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28600" tIns="91440" rIns="91440" bIns="45720" numCol="1" spcCol="0" rtlCol="0" fromWordArt="0" anchor="t" anchorCtr="0" forceAA="0" compatLnSpc="1">
            <a:prstTxWarp prst="textNoShape">
              <a:avLst/>
            </a:prstTxWarp>
            <a:noAutofit/>
          </a:bodyPr>
          <a:lstStyle/>
          <a:p>
            <a:pPr algn="ctr"/>
            <a:r>
              <a:rPr lang="en-US" sz="1400">
                <a:solidFill>
                  <a:srgbClr val="29BA74"/>
                </a:solidFill>
              </a:rPr>
              <a:t>       Offer factory</a:t>
            </a:r>
          </a:p>
        </p:txBody>
      </p:sp>
      <p:sp>
        <p:nvSpPr>
          <p:cNvPr id="166" name="Rectangle 165">
            <a:extLst>
              <a:ext uri="{FF2B5EF4-FFF2-40B4-BE49-F238E27FC236}">
                <a16:creationId xmlns:a16="http://schemas.microsoft.com/office/drawing/2014/main" id="{739DBDA0-CE1C-4622-BC86-8690E57099CB}"/>
              </a:ext>
            </a:extLst>
          </p:cNvPr>
          <p:cNvSpPr/>
          <p:nvPr/>
        </p:nvSpPr>
        <p:spPr>
          <a:xfrm>
            <a:off x="2622557" y="2755139"/>
            <a:ext cx="3360800" cy="1532116"/>
          </a:xfrm>
          <a:prstGeom prst="rect">
            <a:avLst/>
          </a:prstGeom>
          <a:noFill/>
          <a:ln w="3175" cap="rnd" cmpd="sng" algn="ctr">
            <a:solidFill>
              <a:srgbClr val="29BA74"/>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45720" numCol="1" spcCol="0" rtlCol="0" fromWordArt="0" anchor="t" anchorCtr="0" forceAA="0" compatLnSpc="1">
            <a:prstTxWarp prst="textNoShape">
              <a:avLst/>
            </a:prstTxWarp>
            <a:noAutofit/>
          </a:bodyPr>
          <a:lstStyle/>
          <a:p>
            <a:pPr algn="ctr"/>
            <a:r>
              <a:rPr lang="en-US" sz="1400">
                <a:solidFill>
                  <a:srgbClr val="29BA74"/>
                </a:solidFill>
              </a:rPr>
              <a:t>Tech stack</a:t>
            </a:r>
          </a:p>
        </p:txBody>
      </p:sp>
      <p:sp>
        <p:nvSpPr>
          <p:cNvPr id="167" name="Rectangle: Rounded Corners 7">
            <a:hlinkClick r:id="rId14" action="ppaction://hlinksldjump"/>
            <a:extLst>
              <a:ext uri="{FF2B5EF4-FFF2-40B4-BE49-F238E27FC236}">
                <a16:creationId xmlns:a16="http://schemas.microsoft.com/office/drawing/2014/main" id="{5777779B-773B-4220-AD8E-321B8D26574B}"/>
              </a:ext>
            </a:extLst>
          </p:cNvPr>
          <p:cNvSpPr/>
          <p:nvPr/>
        </p:nvSpPr>
        <p:spPr>
          <a:xfrm>
            <a:off x="710748" y="3230891"/>
            <a:ext cx="1629420" cy="431024"/>
          </a:xfrm>
          <a:prstGeom prst="rect">
            <a:avLst/>
          </a:prstGeom>
          <a:solidFill>
            <a:srgbClr val="FFFFFF"/>
          </a:solidFill>
          <a:ln w="9525" cap="rnd" cmpd="sng" algn="ctr">
            <a:solidFill>
              <a:srgbClr val="295E7E"/>
            </a:solidFill>
            <a:prstDash val="sysDot"/>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 tIns="0" rIns="0" bIns="0" numCol="1" spcCol="0" rtlCol="0" fromWordArt="0" anchor="ctr" anchorCtr="0" forceAA="0" compatLnSpc="1">
            <a:prstTxWarp prst="textNoShape">
              <a:avLst/>
            </a:prstTxWarp>
            <a:noAutofit/>
          </a:bodyPr>
          <a:lstStyle/>
          <a:p>
            <a:pPr marL="0" lvl="1" algn="ctr">
              <a:buClr>
                <a:schemeClr val="bg1"/>
              </a:buClr>
              <a:buSzPct val="100000"/>
            </a:pPr>
            <a:r>
              <a:rPr lang="en-US" sz="1100" spc="-30">
                <a:solidFill>
                  <a:srgbClr val="295E7E"/>
                </a:solidFill>
              </a:rPr>
              <a:t>1000+ offers across retail &amp; business banking</a:t>
            </a:r>
          </a:p>
        </p:txBody>
      </p:sp>
      <p:sp>
        <p:nvSpPr>
          <p:cNvPr id="168" name="Rectangle: Rounded Corners 29">
            <a:hlinkClick r:id="rId15" action="ppaction://hlinksldjump"/>
            <a:extLst>
              <a:ext uri="{FF2B5EF4-FFF2-40B4-BE49-F238E27FC236}">
                <a16:creationId xmlns:a16="http://schemas.microsoft.com/office/drawing/2014/main" id="{6652004C-FB1E-4EF7-96E5-A820D18F72D6}"/>
              </a:ext>
            </a:extLst>
          </p:cNvPr>
          <p:cNvSpPr/>
          <p:nvPr/>
        </p:nvSpPr>
        <p:spPr>
          <a:xfrm>
            <a:off x="677531" y="3762016"/>
            <a:ext cx="1629420" cy="431024"/>
          </a:xfrm>
          <a:prstGeom prst="rect">
            <a:avLst/>
          </a:prstGeom>
          <a:solidFill>
            <a:srgbClr val="FFFFFF"/>
          </a:solidFill>
          <a:ln w="9525" cap="rnd" cmpd="sng" algn="ctr">
            <a:solidFill>
              <a:srgbClr val="295E7E"/>
            </a:solidFill>
            <a:prstDash val="sysDot"/>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 tIns="0" rIns="0" bIns="0" numCol="1" spcCol="0" rtlCol="0" fromWordArt="0" anchor="ctr" anchorCtr="0" forceAA="0" compatLnSpc="1">
            <a:prstTxWarp prst="textNoShape">
              <a:avLst/>
            </a:prstTxWarp>
            <a:noAutofit/>
          </a:bodyPr>
          <a:lstStyle/>
          <a:p>
            <a:pPr marL="0" lvl="1" algn="ctr">
              <a:buClr>
                <a:schemeClr val="bg1"/>
              </a:buClr>
              <a:buSzPct val="100000"/>
            </a:pPr>
            <a:r>
              <a:rPr lang="en-US" sz="1100">
                <a:solidFill>
                  <a:srgbClr val="295E7E"/>
                </a:solidFill>
                <a:latin typeface="Trebuchet MS" panose="020B0603020202020204" pitchFamily="34" charset="0"/>
              </a:rPr>
              <a:t>New way of</a:t>
            </a:r>
            <a:br>
              <a:rPr lang="en-US" sz="1100">
                <a:solidFill>
                  <a:srgbClr val="295E7E"/>
                </a:solidFill>
                <a:latin typeface="Trebuchet MS" panose="020B0603020202020204" pitchFamily="34" charset="0"/>
              </a:rPr>
            </a:br>
            <a:r>
              <a:rPr lang="en-US" sz="1100">
                <a:solidFill>
                  <a:srgbClr val="295E7E"/>
                </a:solidFill>
                <a:latin typeface="Trebuchet MS" panose="020B0603020202020204" pitchFamily="34" charset="0"/>
              </a:rPr>
              <a:t>offer creation</a:t>
            </a:r>
          </a:p>
        </p:txBody>
      </p:sp>
      <p:sp>
        <p:nvSpPr>
          <p:cNvPr id="169" name="Rectangle: Rounded Corners 9">
            <a:extLst>
              <a:ext uri="{FF2B5EF4-FFF2-40B4-BE49-F238E27FC236}">
                <a16:creationId xmlns:a16="http://schemas.microsoft.com/office/drawing/2014/main" id="{2C38F7BF-8A61-4162-852D-FFA19CAB1754}"/>
              </a:ext>
            </a:extLst>
          </p:cNvPr>
          <p:cNvSpPr/>
          <p:nvPr/>
        </p:nvSpPr>
        <p:spPr>
          <a:xfrm>
            <a:off x="6351245" y="3238833"/>
            <a:ext cx="1517774" cy="429003"/>
          </a:xfrm>
          <a:prstGeom prst="rect">
            <a:avLst/>
          </a:prstGeom>
          <a:solidFill>
            <a:srgbClr val="FFFFFF"/>
          </a:solidFill>
          <a:ln w="9525" cap="rnd" cmpd="sng" algn="ctr">
            <a:solidFill>
              <a:srgbClr val="295E7E"/>
            </a:solidFill>
            <a:prstDash val="sysDot"/>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 tIns="0" rIns="0" bIns="0" numCol="1" spcCol="0" rtlCol="0" fromWordArt="0" anchor="ctr" anchorCtr="0" forceAA="0" compatLnSpc="1">
            <a:prstTxWarp prst="textNoShape">
              <a:avLst/>
            </a:prstTxWarp>
            <a:noAutofit/>
          </a:bodyPr>
          <a:lstStyle/>
          <a:p>
            <a:pPr algn="ctr"/>
            <a:r>
              <a:rPr lang="en-US" sz="1100">
                <a:solidFill>
                  <a:srgbClr val="295E7E"/>
                </a:solidFill>
              </a:rPr>
              <a:t>ML based</a:t>
            </a:r>
            <a:br>
              <a:rPr lang="en-US" sz="1100">
                <a:solidFill>
                  <a:srgbClr val="295E7E"/>
                </a:solidFill>
              </a:rPr>
            </a:br>
            <a:r>
              <a:rPr lang="en-US" sz="1100">
                <a:solidFill>
                  <a:srgbClr val="295E7E"/>
                </a:solidFill>
              </a:rPr>
              <a:t>prioritization engine</a:t>
            </a:r>
          </a:p>
        </p:txBody>
      </p:sp>
      <p:sp>
        <p:nvSpPr>
          <p:cNvPr id="170" name="Rectangle: Rounded Corners 32">
            <a:extLst>
              <a:ext uri="{FF2B5EF4-FFF2-40B4-BE49-F238E27FC236}">
                <a16:creationId xmlns:a16="http://schemas.microsoft.com/office/drawing/2014/main" id="{7E7E6872-B813-438F-B624-3B2F281EDDCD}"/>
              </a:ext>
            </a:extLst>
          </p:cNvPr>
          <p:cNvSpPr/>
          <p:nvPr/>
        </p:nvSpPr>
        <p:spPr>
          <a:xfrm>
            <a:off x="6351245" y="3755729"/>
            <a:ext cx="1517774" cy="429003"/>
          </a:xfrm>
          <a:prstGeom prst="rect">
            <a:avLst/>
          </a:prstGeom>
          <a:solidFill>
            <a:srgbClr val="FFFFFF"/>
          </a:solidFill>
          <a:ln w="9525" cap="rnd" cmpd="sng" algn="ctr">
            <a:solidFill>
              <a:srgbClr val="295E7E"/>
            </a:solidFill>
            <a:prstDash val="sysDot"/>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 tIns="0" rIns="0" bIns="0" numCol="1" spcCol="0" rtlCol="0" fromWordArt="0" anchor="ctr" anchorCtr="0" forceAA="0" compatLnSpc="1">
            <a:prstTxWarp prst="textNoShape">
              <a:avLst/>
            </a:prstTxWarp>
            <a:noAutofit/>
          </a:bodyPr>
          <a:lstStyle/>
          <a:p>
            <a:pPr algn="ctr"/>
            <a:r>
              <a:rPr lang="en-US" sz="1100">
                <a:solidFill>
                  <a:srgbClr val="295E7E"/>
                </a:solidFill>
              </a:rPr>
              <a:t>Fair share offer allocation engine</a:t>
            </a:r>
          </a:p>
        </p:txBody>
      </p:sp>
      <p:sp>
        <p:nvSpPr>
          <p:cNvPr id="171" name="Rectangle: Rounded Corners 33">
            <a:extLst>
              <a:ext uri="{FF2B5EF4-FFF2-40B4-BE49-F238E27FC236}">
                <a16:creationId xmlns:a16="http://schemas.microsoft.com/office/drawing/2014/main" id="{90530D19-85DD-42CC-AC8A-C6E6EB8015F4}"/>
              </a:ext>
            </a:extLst>
          </p:cNvPr>
          <p:cNvSpPr/>
          <p:nvPr/>
        </p:nvSpPr>
        <p:spPr>
          <a:xfrm>
            <a:off x="9829457" y="3238833"/>
            <a:ext cx="1517774" cy="429003"/>
          </a:xfrm>
          <a:prstGeom prst="rect">
            <a:avLst/>
          </a:prstGeom>
          <a:solidFill>
            <a:srgbClr val="FFFFFF"/>
          </a:solidFill>
          <a:ln w="9525" cap="rnd" cmpd="sng" algn="ctr">
            <a:solidFill>
              <a:srgbClr val="295E7E"/>
            </a:solidFill>
            <a:prstDash val="sysDot"/>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 tIns="0" rIns="0" bIns="0" numCol="1" spcCol="0" rtlCol="0" fromWordArt="0" anchor="ctr" anchorCtr="0" forceAA="0" compatLnSpc="1">
            <a:prstTxWarp prst="textNoShape">
              <a:avLst/>
            </a:prstTxWarp>
            <a:noAutofit/>
          </a:bodyPr>
          <a:lstStyle/>
          <a:p>
            <a:pPr algn="ctr"/>
            <a:r>
              <a:rPr lang="en-US" sz="1100">
                <a:solidFill>
                  <a:srgbClr val="295E7E"/>
                </a:solidFill>
              </a:rPr>
              <a:t>Guardrails engine</a:t>
            </a:r>
          </a:p>
        </p:txBody>
      </p:sp>
      <p:sp>
        <p:nvSpPr>
          <p:cNvPr id="172" name="Rectangle: Rounded Corners 34">
            <a:extLst>
              <a:ext uri="{FF2B5EF4-FFF2-40B4-BE49-F238E27FC236}">
                <a16:creationId xmlns:a16="http://schemas.microsoft.com/office/drawing/2014/main" id="{912DFEB7-E81E-4C99-A59F-12CBCA2FB142}"/>
              </a:ext>
            </a:extLst>
          </p:cNvPr>
          <p:cNvSpPr/>
          <p:nvPr/>
        </p:nvSpPr>
        <p:spPr>
          <a:xfrm>
            <a:off x="9829456" y="3755729"/>
            <a:ext cx="1517774" cy="429003"/>
          </a:xfrm>
          <a:prstGeom prst="rect">
            <a:avLst/>
          </a:prstGeom>
          <a:solidFill>
            <a:srgbClr val="FFFFFF"/>
          </a:solidFill>
          <a:ln w="9525" cap="rnd" cmpd="sng" algn="ctr">
            <a:solidFill>
              <a:srgbClr val="295E7E"/>
            </a:solidFill>
            <a:prstDash val="sysDot"/>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 tIns="0" rIns="0" bIns="0" numCol="1" spcCol="0" rtlCol="0" fromWordArt="0" anchor="ctr" anchorCtr="0" forceAA="0" compatLnSpc="1">
            <a:prstTxWarp prst="textNoShape">
              <a:avLst/>
            </a:prstTxWarp>
            <a:noAutofit/>
          </a:bodyPr>
          <a:lstStyle/>
          <a:p>
            <a:pPr algn="ctr"/>
            <a:r>
              <a:rPr lang="en-US" sz="1100">
                <a:solidFill>
                  <a:srgbClr val="295E7E"/>
                </a:solidFill>
              </a:rPr>
              <a:t>Realtime Trigger engine</a:t>
            </a:r>
          </a:p>
        </p:txBody>
      </p:sp>
      <p:sp>
        <p:nvSpPr>
          <p:cNvPr id="173" name="Rectangle: Rounded Corners 31">
            <a:extLst>
              <a:ext uri="{FF2B5EF4-FFF2-40B4-BE49-F238E27FC236}">
                <a16:creationId xmlns:a16="http://schemas.microsoft.com/office/drawing/2014/main" id="{07176485-EA7C-4AFC-ACDD-812073FD6517}"/>
              </a:ext>
            </a:extLst>
          </p:cNvPr>
          <p:cNvSpPr/>
          <p:nvPr/>
        </p:nvSpPr>
        <p:spPr>
          <a:xfrm>
            <a:off x="8085588" y="3238833"/>
            <a:ext cx="1517774" cy="429003"/>
          </a:xfrm>
          <a:prstGeom prst="rect">
            <a:avLst/>
          </a:prstGeom>
          <a:solidFill>
            <a:srgbClr val="FFFFFF"/>
          </a:solidFill>
          <a:ln w="9525" cap="rnd" cmpd="sng" algn="ctr">
            <a:solidFill>
              <a:srgbClr val="295E7E"/>
            </a:solidFill>
            <a:prstDash val="sysDot"/>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 tIns="0" rIns="0" bIns="0" numCol="1" spcCol="0" rtlCol="0" fromWordArt="0" anchor="ctr" anchorCtr="0" forceAA="0" compatLnSpc="1">
            <a:prstTxWarp prst="textNoShape">
              <a:avLst/>
            </a:prstTxWarp>
            <a:noAutofit/>
          </a:bodyPr>
          <a:lstStyle/>
          <a:p>
            <a:pPr algn="ctr"/>
            <a:r>
              <a:rPr lang="en-US" sz="1100" spc="-20">
                <a:solidFill>
                  <a:srgbClr val="295E7E"/>
                </a:solidFill>
              </a:rPr>
              <a:t>Multi Arm bandit experimentation engine</a:t>
            </a:r>
          </a:p>
        </p:txBody>
      </p:sp>
      <p:sp>
        <p:nvSpPr>
          <p:cNvPr id="174" name="Rectangle: Rounded Corners 35">
            <a:extLst>
              <a:ext uri="{FF2B5EF4-FFF2-40B4-BE49-F238E27FC236}">
                <a16:creationId xmlns:a16="http://schemas.microsoft.com/office/drawing/2014/main" id="{379D7124-4C6B-46E5-8F78-D9092D3E3339}"/>
              </a:ext>
            </a:extLst>
          </p:cNvPr>
          <p:cNvSpPr/>
          <p:nvPr/>
        </p:nvSpPr>
        <p:spPr>
          <a:xfrm>
            <a:off x="8085588" y="3755729"/>
            <a:ext cx="1517774" cy="429003"/>
          </a:xfrm>
          <a:prstGeom prst="rect">
            <a:avLst/>
          </a:prstGeom>
          <a:solidFill>
            <a:srgbClr val="FFFFFF"/>
          </a:solidFill>
          <a:ln w="9525" cap="rnd" cmpd="sng" algn="ctr">
            <a:solidFill>
              <a:srgbClr val="295E7E"/>
            </a:solidFill>
            <a:prstDash val="sysDot"/>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 tIns="0" rIns="0" bIns="0" numCol="1" spcCol="0" rtlCol="0" fromWordArt="0" anchor="ctr" anchorCtr="0" forceAA="0" compatLnSpc="1">
            <a:prstTxWarp prst="textNoShape">
              <a:avLst/>
            </a:prstTxWarp>
            <a:noAutofit/>
          </a:bodyPr>
          <a:lstStyle/>
          <a:p>
            <a:pPr algn="ctr"/>
            <a:r>
              <a:rPr lang="en-US" sz="1100">
                <a:solidFill>
                  <a:srgbClr val="295E7E"/>
                </a:solidFill>
              </a:rPr>
              <a:t>Offer qualification</a:t>
            </a:r>
            <a:br>
              <a:rPr lang="en-US" sz="1100">
                <a:solidFill>
                  <a:srgbClr val="295E7E"/>
                </a:solidFill>
              </a:rPr>
            </a:br>
            <a:r>
              <a:rPr lang="en-US" sz="1100">
                <a:solidFill>
                  <a:srgbClr val="295E7E"/>
                </a:solidFill>
              </a:rPr>
              <a:t>rules engine</a:t>
            </a:r>
          </a:p>
        </p:txBody>
      </p:sp>
      <p:sp>
        <p:nvSpPr>
          <p:cNvPr id="175" name="Rectangle: Rounded Corners 36">
            <a:extLst>
              <a:ext uri="{FF2B5EF4-FFF2-40B4-BE49-F238E27FC236}">
                <a16:creationId xmlns:a16="http://schemas.microsoft.com/office/drawing/2014/main" id="{921801CF-7F5D-43E1-AA8F-CD0D1EBF2004}"/>
              </a:ext>
            </a:extLst>
          </p:cNvPr>
          <p:cNvSpPr/>
          <p:nvPr/>
        </p:nvSpPr>
        <p:spPr>
          <a:xfrm>
            <a:off x="2759405" y="3238834"/>
            <a:ext cx="1385985" cy="429002"/>
          </a:xfrm>
          <a:prstGeom prst="rect">
            <a:avLst/>
          </a:prstGeom>
          <a:solidFill>
            <a:srgbClr val="FFFFFF"/>
          </a:solidFill>
          <a:ln w="9525" cap="rnd" cmpd="sng" algn="ctr">
            <a:solidFill>
              <a:srgbClr val="295E7E"/>
            </a:solidFill>
            <a:prstDash val="sysDot"/>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 tIns="0" rIns="0" bIns="0" numCol="1" spcCol="0" rtlCol="0" fromWordArt="0" anchor="ctr" anchorCtr="0" forceAA="0" compatLnSpc="1">
            <a:prstTxWarp prst="textNoShape">
              <a:avLst/>
            </a:prstTxWarp>
            <a:noAutofit/>
          </a:bodyPr>
          <a:lstStyle/>
          <a:p>
            <a:pPr algn="ctr"/>
            <a:r>
              <a:rPr lang="en-US" sz="1100">
                <a:solidFill>
                  <a:srgbClr val="295E7E"/>
                </a:solidFill>
              </a:rPr>
              <a:t>Data Layer–</a:t>
            </a:r>
            <a:br>
              <a:rPr lang="en-US" sz="1100">
                <a:solidFill>
                  <a:srgbClr val="295E7E"/>
                </a:solidFill>
              </a:rPr>
            </a:br>
            <a:r>
              <a:rPr lang="en-US" sz="1100">
                <a:solidFill>
                  <a:srgbClr val="295E7E"/>
                </a:solidFill>
              </a:rPr>
              <a:t>Data domain</a:t>
            </a:r>
          </a:p>
        </p:txBody>
      </p:sp>
      <p:sp>
        <p:nvSpPr>
          <p:cNvPr id="176" name="Rectangle: Rounded Corners 37">
            <a:hlinkClick r:id="rId16" action="ppaction://hlinksldjump"/>
            <a:extLst>
              <a:ext uri="{FF2B5EF4-FFF2-40B4-BE49-F238E27FC236}">
                <a16:creationId xmlns:a16="http://schemas.microsoft.com/office/drawing/2014/main" id="{25573B89-B1FC-4AAA-90F1-3440BEAC3105}"/>
              </a:ext>
            </a:extLst>
          </p:cNvPr>
          <p:cNvSpPr/>
          <p:nvPr/>
        </p:nvSpPr>
        <p:spPr>
          <a:xfrm>
            <a:off x="2759405" y="3755731"/>
            <a:ext cx="1385985" cy="429002"/>
          </a:xfrm>
          <a:prstGeom prst="rect">
            <a:avLst/>
          </a:prstGeom>
          <a:solidFill>
            <a:srgbClr val="FFFFFF"/>
          </a:solidFill>
          <a:ln w="9525" cap="rnd" cmpd="sng" algn="ctr">
            <a:solidFill>
              <a:srgbClr val="295E7E"/>
            </a:solidFill>
            <a:prstDash val="sysDot"/>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 tIns="0" rIns="0" bIns="0" numCol="1" spcCol="0" rtlCol="0" fromWordArt="0" anchor="ctr" anchorCtr="0" forceAA="0" compatLnSpc="1">
            <a:prstTxWarp prst="textNoShape">
              <a:avLst/>
            </a:prstTxWarp>
            <a:noAutofit/>
          </a:bodyPr>
          <a:lstStyle/>
          <a:p>
            <a:pPr algn="ctr"/>
            <a:r>
              <a:rPr lang="en-US" sz="1100">
                <a:solidFill>
                  <a:srgbClr val="295E7E"/>
                </a:solidFill>
              </a:rPr>
              <a:t>Marketing Ops.</a:t>
            </a:r>
            <a:br>
              <a:rPr lang="en-US" sz="1100">
                <a:solidFill>
                  <a:srgbClr val="295E7E"/>
                </a:solidFill>
              </a:rPr>
            </a:br>
            <a:r>
              <a:rPr lang="en-US" sz="1100">
                <a:solidFill>
                  <a:srgbClr val="295E7E"/>
                </a:solidFill>
              </a:rPr>
              <a:t>Layer architecture</a:t>
            </a:r>
          </a:p>
        </p:txBody>
      </p:sp>
      <p:sp>
        <p:nvSpPr>
          <p:cNvPr id="177" name="Rectangle: Rounded Corners 44">
            <a:extLst>
              <a:ext uri="{FF2B5EF4-FFF2-40B4-BE49-F238E27FC236}">
                <a16:creationId xmlns:a16="http://schemas.microsoft.com/office/drawing/2014/main" id="{0B10FFD9-F9E8-41A5-8A40-351B9FCA5ED9}"/>
              </a:ext>
            </a:extLst>
          </p:cNvPr>
          <p:cNvSpPr/>
          <p:nvPr/>
        </p:nvSpPr>
        <p:spPr>
          <a:xfrm>
            <a:off x="4414282" y="3238834"/>
            <a:ext cx="1385985" cy="429002"/>
          </a:xfrm>
          <a:prstGeom prst="rect">
            <a:avLst/>
          </a:prstGeom>
          <a:solidFill>
            <a:srgbClr val="FFFFFF"/>
          </a:solidFill>
          <a:ln w="9525" cap="rnd" cmpd="sng" algn="ctr">
            <a:solidFill>
              <a:srgbClr val="295E7E"/>
            </a:solidFill>
            <a:prstDash val="sysDot"/>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 tIns="0" rIns="0" bIns="0" numCol="1" spcCol="0" rtlCol="0" fromWordArt="0" anchor="ctr" anchorCtr="0" forceAA="0" compatLnSpc="1">
            <a:prstTxWarp prst="textNoShape">
              <a:avLst/>
            </a:prstTxWarp>
            <a:noAutofit/>
          </a:bodyPr>
          <a:lstStyle/>
          <a:p>
            <a:pPr algn="ctr"/>
            <a:r>
              <a:rPr lang="en-US" sz="1100">
                <a:solidFill>
                  <a:srgbClr val="295E7E"/>
                </a:solidFill>
              </a:rPr>
              <a:t>Data Layer–cDNA</a:t>
            </a:r>
          </a:p>
        </p:txBody>
      </p:sp>
      <p:sp>
        <p:nvSpPr>
          <p:cNvPr id="178" name="Rectangle: Rounded Corners 45">
            <a:hlinkClick r:id="rId17" action="ppaction://hlinksldjump"/>
            <a:extLst>
              <a:ext uri="{FF2B5EF4-FFF2-40B4-BE49-F238E27FC236}">
                <a16:creationId xmlns:a16="http://schemas.microsoft.com/office/drawing/2014/main" id="{135CB6A8-C47D-42BD-9600-E7546FFB31DC}"/>
              </a:ext>
            </a:extLst>
          </p:cNvPr>
          <p:cNvSpPr/>
          <p:nvPr/>
        </p:nvSpPr>
        <p:spPr>
          <a:xfrm>
            <a:off x="4414282" y="3755730"/>
            <a:ext cx="1385985" cy="429002"/>
          </a:xfrm>
          <a:prstGeom prst="rect">
            <a:avLst/>
          </a:prstGeom>
          <a:solidFill>
            <a:srgbClr val="FFFFFF"/>
          </a:solidFill>
          <a:ln w="9525" cap="rnd" cmpd="sng" algn="ctr">
            <a:solidFill>
              <a:srgbClr val="295E7E"/>
            </a:solidFill>
            <a:prstDash val="sysDot"/>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 tIns="0" rIns="0" bIns="0" numCol="1" spcCol="0" rtlCol="0" fromWordArt="0" anchor="ctr" anchorCtr="0" forceAA="0" compatLnSpc="1">
            <a:prstTxWarp prst="textNoShape">
              <a:avLst/>
            </a:prstTxWarp>
            <a:noAutofit/>
          </a:bodyPr>
          <a:lstStyle/>
          <a:p>
            <a:pPr algn="ctr"/>
            <a:r>
              <a:rPr lang="en-US" sz="1100">
                <a:solidFill>
                  <a:srgbClr val="295E7E"/>
                </a:solidFill>
              </a:rPr>
              <a:t>Interaction Layer–Channels</a:t>
            </a:r>
          </a:p>
        </p:txBody>
      </p:sp>
      <p:sp>
        <p:nvSpPr>
          <p:cNvPr id="179" name="Rectangle 178">
            <a:extLst>
              <a:ext uri="{FF2B5EF4-FFF2-40B4-BE49-F238E27FC236}">
                <a16:creationId xmlns:a16="http://schemas.microsoft.com/office/drawing/2014/main" id="{2BD9A325-769B-4284-8E3A-6D6F00999D47}"/>
              </a:ext>
            </a:extLst>
          </p:cNvPr>
          <p:cNvSpPr/>
          <p:nvPr/>
        </p:nvSpPr>
        <p:spPr>
          <a:xfrm>
            <a:off x="630000" y="1681444"/>
            <a:ext cx="10933200" cy="797186"/>
          </a:xfrm>
          <a:prstGeom prst="rect">
            <a:avLst/>
          </a:prstGeom>
          <a:noFill/>
          <a:ln w="3175" cap="rnd" cmpd="sng" algn="ctr">
            <a:solidFill>
              <a:srgbClr val="29BA74"/>
            </a:solidFill>
            <a:prstDash val="solid"/>
            <a:round/>
            <a:headEnd type="none" w="med" len="med"/>
            <a:tailEnd type="none" w="med" len="me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45720" numCol="1" spcCol="0" rtlCol="0" fromWordArt="0" anchor="t" anchorCtr="0" forceAA="0" compatLnSpc="1">
            <a:prstTxWarp prst="textNoShape">
              <a:avLst/>
            </a:prstTxWarp>
            <a:noAutofit/>
          </a:bodyPr>
          <a:lstStyle/>
          <a:p>
            <a:pPr algn="ctr"/>
            <a:r>
              <a:rPr lang="en-US" sz="1400">
                <a:solidFill>
                  <a:srgbClr val="29BA74"/>
                </a:solidFill>
              </a:rPr>
              <a:t>Objectives and Business impact</a:t>
            </a:r>
          </a:p>
        </p:txBody>
      </p:sp>
      <p:sp>
        <p:nvSpPr>
          <p:cNvPr id="180" name="Rectangle: Rounded Corners 11">
            <a:extLst>
              <a:ext uri="{FF2B5EF4-FFF2-40B4-BE49-F238E27FC236}">
                <a16:creationId xmlns:a16="http://schemas.microsoft.com/office/drawing/2014/main" id="{B1ED8B74-052C-418D-B434-8937DBD964E7}"/>
              </a:ext>
            </a:extLst>
          </p:cNvPr>
          <p:cNvSpPr/>
          <p:nvPr/>
        </p:nvSpPr>
        <p:spPr>
          <a:xfrm>
            <a:off x="784067" y="2068919"/>
            <a:ext cx="1944600" cy="339857"/>
          </a:xfrm>
          <a:prstGeom prst="rect">
            <a:avLst/>
          </a:prstGeom>
          <a:solidFill>
            <a:srgbClr val="FFFFFF"/>
          </a:solidFill>
          <a:ln w="9525" cap="rnd" cmpd="sng" algn="ctr">
            <a:solidFill>
              <a:srgbClr val="295E7E"/>
            </a:solidFill>
            <a:prstDash val="sysDot"/>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 tIns="0" rIns="0" bIns="0" numCol="1" spcCol="0" rtlCol="0" fromWordArt="0" anchor="ctr" anchorCtr="0" forceAA="0" compatLnSpc="1">
            <a:prstTxWarp prst="textNoShape">
              <a:avLst/>
            </a:prstTxWarp>
            <a:noAutofit/>
          </a:bodyPr>
          <a:lstStyle/>
          <a:p>
            <a:pPr algn="ctr"/>
            <a:r>
              <a:rPr lang="en-US" sz="1100">
                <a:solidFill>
                  <a:srgbClr val="295E7E"/>
                </a:solidFill>
              </a:rPr>
              <a:t>Targeted business outcomes</a:t>
            </a:r>
          </a:p>
        </p:txBody>
      </p:sp>
      <p:sp>
        <p:nvSpPr>
          <p:cNvPr id="181" name="Rectangle: Rounded Corners 18">
            <a:extLst>
              <a:ext uri="{FF2B5EF4-FFF2-40B4-BE49-F238E27FC236}">
                <a16:creationId xmlns:a16="http://schemas.microsoft.com/office/drawing/2014/main" id="{685A429B-2CBE-4211-A762-6BBC48E36297}"/>
              </a:ext>
            </a:extLst>
          </p:cNvPr>
          <p:cNvSpPr/>
          <p:nvPr/>
        </p:nvSpPr>
        <p:spPr>
          <a:xfrm>
            <a:off x="3516387" y="2068919"/>
            <a:ext cx="2072612" cy="339857"/>
          </a:xfrm>
          <a:prstGeom prst="rect">
            <a:avLst/>
          </a:prstGeom>
          <a:solidFill>
            <a:srgbClr val="FFFFFF"/>
          </a:solidFill>
          <a:ln w="9525" cap="rnd" cmpd="sng" algn="ctr">
            <a:solidFill>
              <a:srgbClr val="295E7E"/>
            </a:solidFill>
            <a:prstDash val="sysDot"/>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 tIns="0" rIns="0" bIns="0" numCol="1" spcCol="0" rtlCol="0" fromWordArt="0" anchor="ctr" anchorCtr="0" forceAA="0" compatLnSpc="1">
            <a:prstTxWarp prst="textNoShape">
              <a:avLst/>
            </a:prstTxWarp>
            <a:noAutofit/>
          </a:bodyPr>
          <a:lstStyle/>
          <a:p>
            <a:pPr algn="ctr"/>
            <a:r>
              <a:rPr lang="en-US" sz="1100">
                <a:solidFill>
                  <a:srgbClr val="295E7E"/>
                </a:solidFill>
              </a:rPr>
              <a:t>Customer engagement metrics</a:t>
            </a:r>
          </a:p>
        </p:txBody>
      </p:sp>
      <p:sp>
        <p:nvSpPr>
          <p:cNvPr id="183" name="Rectangle: Rounded Corners 20">
            <a:extLst>
              <a:ext uri="{FF2B5EF4-FFF2-40B4-BE49-F238E27FC236}">
                <a16:creationId xmlns:a16="http://schemas.microsoft.com/office/drawing/2014/main" id="{7246F7EE-CAC3-4B35-A340-583A51CECB4F}"/>
              </a:ext>
            </a:extLst>
          </p:cNvPr>
          <p:cNvSpPr/>
          <p:nvPr/>
        </p:nvSpPr>
        <p:spPr>
          <a:xfrm>
            <a:off x="6467782" y="2068919"/>
            <a:ext cx="1944600" cy="339857"/>
          </a:xfrm>
          <a:prstGeom prst="rect">
            <a:avLst/>
          </a:prstGeom>
          <a:solidFill>
            <a:srgbClr val="FFFFFF"/>
          </a:solidFill>
          <a:ln w="9525" cap="rnd" cmpd="sng" algn="ctr">
            <a:solidFill>
              <a:srgbClr val="295E7E"/>
            </a:solidFill>
            <a:prstDash val="sysDot"/>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 tIns="0" rIns="0" bIns="0" numCol="1" spcCol="0" rtlCol="0" fromWordArt="0" anchor="ctr" anchorCtr="0" forceAA="0" compatLnSpc="1">
            <a:prstTxWarp prst="textNoShape">
              <a:avLst/>
            </a:prstTxWarp>
            <a:noAutofit/>
          </a:bodyPr>
          <a:lstStyle/>
          <a:p>
            <a:pPr algn="ctr"/>
            <a:r>
              <a:rPr lang="en-US" sz="1100">
                <a:solidFill>
                  <a:srgbClr val="295E7E"/>
                </a:solidFill>
              </a:rPr>
              <a:t>Channel metrics</a:t>
            </a:r>
          </a:p>
        </p:txBody>
      </p:sp>
      <p:sp>
        <p:nvSpPr>
          <p:cNvPr id="184" name="Rectangle: Rounded Corners 21">
            <a:extLst>
              <a:ext uri="{FF2B5EF4-FFF2-40B4-BE49-F238E27FC236}">
                <a16:creationId xmlns:a16="http://schemas.microsoft.com/office/drawing/2014/main" id="{4F8990FA-88A3-41E3-A84D-84FE826D3B46}"/>
              </a:ext>
            </a:extLst>
          </p:cNvPr>
          <p:cNvSpPr/>
          <p:nvPr/>
        </p:nvSpPr>
        <p:spPr>
          <a:xfrm>
            <a:off x="9209627" y="2068919"/>
            <a:ext cx="1944600" cy="339857"/>
          </a:xfrm>
          <a:prstGeom prst="rect">
            <a:avLst/>
          </a:prstGeom>
          <a:solidFill>
            <a:srgbClr val="FFFFFF"/>
          </a:solidFill>
          <a:ln w="9525" cap="rnd" cmpd="sng" algn="ctr">
            <a:solidFill>
              <a:srgbClr val="295E7E"/>
            </a:solidFill>
            <a:prstDash val="sysDot"/>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 tIns="0" rIns="0" bIns="0" numCol="1" spcCol="0" rtlCol="0" fromWordArt="0" anchor="ctr" anchorCtr="0" forceAA="0" compatLnSpc="1">
            <a:prstTxWarp prst="textNoShape">
              <a:avLst/>
            </a:prstTxWarp>
            <a:noAutofit/>
          </a:bodyPr>
          <a:lstStyle/>
          <a:p>
            <a:pPr algn="ctr"/>
            <a:r>
              <a:rPr lang="en-US" sz="1100">
                <a:solidFill>
                  <a:srgbClr val="295E7E"/>
                </a:solidFill>
              </a:rPr>
              <a:t>Acquisition Cost</a:t>
            </a:r>
          </a:p>
        </p:txBody>
      </p:sp>
      <p:grpSp>
        <p:nvGrpSpPr>
          <p:cNvPr id="185" name="Group 184"/>
          <p:cNvGrpSpPr>
            <a:grpSpLocks noChangeAspect="1"/>
          </p:cNvGrpSpPr>
          <p:nvPr/>
        </p:nvGrpSpPr>
        <p:grpSpPr>
          <a:xfrm>
            <a:off x="4362558" y="1637895"/>
            <a:ext cx="431440" cy="431024"/>
            <a:chOff x="6464300" y="2606675"/>
            <a:chExt cx="1646238" cy="1644650"/>
          </a:xfrm>
        </p:grpSpPr>
        <p:sp>
          <p:nvSpPr>
            <p:cNvPr id="186" name="AutoShape 15"/>
            <p:cNvSpPr>
              <a:spLocks noChangeAspect="1" noChangeArrowheads="1" noTextEdit="1"/>
            </p:cNvSpPr>
            <p:nvPr/>
          </p:nvSpPr>
          <p:spPr bwMode="auto">
            <a:xfrm>
              <a:off x="6464300"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187" name="Group 186"/>
            <p:cNvGrpSpPr/>
            <p:nvPr/>
          </p:nvGrpSpPr>
          <p:grpSpPr>
            <a:xfrm>
              <a:off x="6635750" y="2963862"/>
              <a:ext cx="1367015" cy="1238250"/>
              <a:chOff x="6635750" y="2963862"/>
              <a:chExt cx="1367015" cy="1238250"/>
            </a:xfrm>
          </p:grpSpPr>
          <p:sp>
            <p:nvSpPr>
              <p:cNvPr id="188" name="Freeform 187"/>
              <p:cNvSpPr>
                <a:spLocks/>
              </p:cNvSpPr>
              <p:nvPr/>
            </p:nvSpPr>
            <p:spPr bwMode="auto">
              <a:xfrm>
                <a:off x="6635750" y="2963862"/>
                <a:ext cx="1367015" cy="1238250"/>
              </a:xfrm>
              <a:custGeom>
                <a:avLst/>
                <a:gdLst>
                  <a:gd name="connsiteX0" fmla="*/ 1124567 w 1367015"/>
                  <a:gd name="connsiteY0" fmla="*/ 922337 h 1238250"/>
                  <a:gd name="connsiteX1" fmla="*/ 1113855 w 1367015"/>
                  <a:gd name="connsiteY1" fmla="*/ 931647 h 1238250"/>
                  <a:gd name="connsiteX2" fmla="*/ 1058863 w 1367015"/>
                  <a:gd name="connsiteY2" fmla="*/ 985360 h 1238250"/>
                  <a:gd name="connsiteX3" fmla="*/ 1269544 w 1367015"/>
                  <a:gd name="connsiteY3" fmla="*/ 1205939 h 1238250"/>
                  <a:gd name="connsiteX4" fmla="*/ 1282399 w 1367015"/>
                  <a:gd name="connsiteY4" fmla="*/ 1205939 h 1238250"/>
                  <a:gd name="connsiteX5" fmla="*/ 1313109 w 1367015"/>
                  <a:gd name="connsiteY5" fmla="*/ 1185886 h 1238250"/>
                  <a:gd name="connsiteX6" fmla="*/ 1333820 w 1367015"/>
                  <a:gd name="connsiteY6" fmla="*/ 1155807 h 1238250"/>
                  <a:gd name="connsiteX7" fmla="*/ 1335248 w 1367015"/>
                  <a:gd name="connsiteY7" fmla="*/ 1142916 h 1238250"/>
                  <a:gd name="connsiteX8" fmla="*/ 1133851 w 1367015"/>
                  <a:gd name="connsiteY8" fmla="*/ 931647 h 1238250"/>
                  <a:gd name="connsiteX9" fmla="*/ 1124567 w 1367015"/>
                  <a:gd name="connsiteY9" fmla="*/ 922337 h 1238250"/>
                  <a:gd name="connsiteX10" fmla="*/ 925229 w 1367015"/>
                  <a:gd name="connsiteY10" fmla="*/ 906462 h 1238250"/>
                  <a:gd name="connsiteX11" fmla="*/ 949325 w 1367015"/>
                  <a:gd name="connsiteY11" fmla="*/ 931862 h 1238250"/>
                  <a:gd name="connsiteX12" fmla="*/ 869950 w 1367015"/>
                  <a:gd name="connsiteY12" fmla="*/ 931862 h 1238250"/>
                  <a:gd name="connsiteX13" fmla="*/ 925229 w 1367015"/>
                  <a:gd name="connsiteY13" fmla="*/ 906462 h 1238250"/>
                  <a:gd name="connsiteX14" fmla="*/ 1124927 w 1367015"/>
                  <a:gd name="connsiteY14" fmla="*/ 884237 h 1238250"/>
                  <a:gd name="connsiteX15" fmla="*/ 1135645 w 1367015"/>
                  <a:gd name="connsiteY15" fmla="*/ 889243 h 1238250"/>
                  <a:gd name="connsiteX16" fmla="*/ 1146363 w 1367015"/>
                  <a:gd name="connsiteY16" fmla="*/ 900686 h 1238250"/>
                  <a:gd name="connsiteX17" fmla="*/ 1176374 w 1367015"/>
                  <a:gd name="connsiteY17" fmla="*/ 932154 h 1238250"/>
                  <a:gd name="connsiteX18" fmla="*/ 1357152 w 1367015"/>
                  <a:gd name="connsiteY18" fmla="*/ 1121676 h 1238250"/>
                  <a:gd name="connsiteX19" fmla="*/ 1363582 w 1367015"/>
                  <a:gd name="connsiteY19" fmla="*/ 1166017 h 1238250"/>
                  <a:gd name="connsiteX20" fmla="*/ 1335001 w 1367015"/>
                  <a:gd name="connsiteY20" fmla="*/ 1208928 h 1238250"/>
                  <a:gd name="connsiteX21" fmla="*/ 1290700 w 1367015"/>
                  <a:gd name="connsiteY21" fmla="*/ 1236105 h 1238250"/>
                  <a:gd name="connsiteX22" fmla="*/ 1273551 w 1367015"/>
                  <a:gd name="connsiteY22" fmla="*/ 1238250 h 1238250"/>
                  <a:gd name="connsiteX23" fmla="*/ 1246398 w 1367015"/>
                  <a:gd name="connsiteY23" fmla="*/ 1227522 h 1238250"/>
                  <a:gd name="connsiteX24" fmla="*/ 1024892 w 1367015"/>
                  <a:gd name="connsiteY24" fmla="*/ 996520 h 1238250"/>
                  <a:gd name="connsiteX25" fmla="*/ 1025606 w 1367015"/>
                  <a:gd name="connsiteY25" fmla="*/ 974350 h 1238250"/>
                  <a:gd name="connsiteX26" fmla="*/ 1068478 w 1367015"/>
                  <a:gd name="connsiteY26" fmla="*/ 932154 h 1238250"/>
                  <a:gd name="connsiteX27" fmla="*/ 1076338 w 1367015"/>
                  <a:gd name="connsiteY27" fmla="*/ 925002 h 1238250"/>
                  <a:gd name="connsiteX28" fmla="*/ 1100633 w 1367015"/>
                  <a:gd name="connsiteY28" fmla="*/ 900686 h 1238250"/>
                  <a:gd name="connsiteX29" fmla="*/ 1104205 w 1367015"/>
                  <a:gd name="connsiteY29" fmla="*/ 897826 h 1238250"/>
                  <a:gd name="connsiteX30" fmla="*/ 1113494 w 1367015"/>
                  <a:gd name="connsiteY30" fmla="*/ 889243 h 1238250"/>
                  <a:gd name="connsiteX31" fmla="*/ 1124927 w 1367015"/>
                  <a:gd name="connsiteY31" fmla="*/ 884237 h 1238250"/>
                  <a:gd name="connsiteX32" fmla="*/ 346518 w 1367015"/>
                  <a:gd name="connsiteY32" fmla="*/ 565150 h 1238250"/>
                  <a:gd name="connsiteX33" fmla="*/ 306388 w 1367015"/>
                  <a:gd name="connsiteY33" fmla="*/ 606784 h 1238250"/>
                  <a:gd name="connsiteX34" fmla="*/ 306388 w 1367015"/>
                  <a:gd name="connsiteY34" fmla="*/ 608938 h 1238250"/>
                  <a:gd name="connsiteX35" fmla="*/ 319765 w 1367015"/>
                  <a:gd name="connsiteY35" fmla="*/ 636933 h 1238250"/>
                  <a:gd name="connsiteX36" fmla="*/ 346518 w 1367015"/>
                  <a:gd name="connsiteY36" fmla="*/ 647700 h 1238250"/>
                  <a:gd name="connsiteX37" fmla="*/ 387351 w 1367015"/>
                  <a:gd name="connsiteY37" fmla="*/ 606784 h 1238250"/>
                  <a:gd name="connsiteX38" fmla="*/ 383127 w 1367015"/>
                  <a:gd name="connsiteY38" fmla="*/ 588838 h 1238250"/>
                  <a:gd name="connsiteX39" fmla="*/ 360598 w 1367015"/>
                  <a:gd name="connsiteY39" fmla="*/ 568021 h 1238250"/>
                  <a:gd name="connsiteX40" fmla="*/ 346518 w 1367015"/>
                  <a:gd name="connsiteY40" fmla="*/ 565150 h 1238250"/>
                  <a:gd name="connsiteX41" fmla="*/ 760846 w 1367015"/>
                  <a:gd name="connsiteY41" fmla="*/ 492125 h 1238250"/>
                  <a:gd name="connsiteX42" fmla="*/ 735591 w 1367015"/>
                  <a:gd name="connsiteY42" fmla="*/ 499181 h 1238250"/>
                  <a:gd name="connsiteX43" fmla="*/ 710335 w 1367015"/>
                  <a:gd name="connsiteY43" fmla="*/ 535164 h 1238250"/>
                  <a:gd name="connsiteX44" fmla="*/ 709613 w 1367015"/>
                  <a:gd name="connsiteY44" fmla="*/ 542925 h 1238250"/>
                  <a:gd name="connsiteX45" fmla="*/ 760846 w 1367015"/>
                  <a:gd name="connsiteY45" fmla="*/ 593725 h 1238250"/>
                  <a:gd name="connsiteX46" fmla="*/ 767341 w 1367015"/>
                  <a:gd name="connsiteY46" fmla="*/ 593725 h 1238250"/>
                  <a:gd name="connsiteX47" fmla="*/ 804864 w 1367015"/>
                  <a:gd name="connsiteY47" fmla="*/ 570442 h 1238250"/>
                  <a:gd name="connsiteX48" fmla="*/ 812801 w 1367015"/>
                  <a:gd name="connsiteY48" fmla="*/ 542925 h 1238250"/>
                  <a:gd name="connsiteX49" fmla="*/ 812801 w 1367015"/>
                  <a:gd name="connsiteY49" fmla="*/ 539397 h 1238250"/>
                  <a:gd name="connsiteX50" fmla="*/ 768062 w 1367015"/>
                  <a:gd name="connsiteY50" fmla="*/ 492831 h 1238250"/>
                  <a:gd name="connsiteX51" fmla="*/ 760846 w 1367015"/>
                  <a:gd name="connsiteY51" fmla="*/ 492125 h 1238250"/>
                  <a:gd name="connsiteX52" fmla="*/ 891455 w 1367015"/>
                  <a:gd name="connsiteY52" fmla="*/ 415925 h 1238250"/>
                  <a:gd name="connsiteX53" fmla="*/ 915035 w 1367015"/>
                  <a:gd name="connsiteY53" fmla="*/ 434485 h 1238250"/>
                  <a:gd name="connsiteX54" fmla="*/ 920751 w 1367015"/>
                  <a:gd name="connsiteY54" fmla="*/ 439482 h 1238250"/>
                  <a:gd name="connsiteX55" fmla="*/ 877164 w 1367015"/>
                  <a:gd name="connsiteY55" fmla="*/ 474460 h 1238250"/>
                  <a:gd name="connsiteX56" fmla="*/ 850012 w 1367015"/>
                  <a:gd name="connsiteY56" fmla="*/ 496589 h 1238250"/>
                  <a:gd name="connsiteX57" fmla="*/ 838579 w 1367015"/>
                  <a:gd name="connsiteY57" fmla="*/ 505155 h 1238250"/>
                  <a:gd name="connsiteX58" fmla="*/ 844296 w 1367015"/>
                  <a:gd name="connsiteY58" fmla="*/ 519432 h 1238250"/>
                  <a:gd name="connsiteX59" fmla="*/ 847154 w 1367015"/>
                  <a:gd name="connsiteY59" fmla="*/ 542989 h 1238250"/>
                  <a:gd name="connsiteX60" fmla="*/ 845725 w 1367015"/>
                  <a:gd name="connsiteY60" fmla="*/ 561549 h 1238250"/>
                  <a:gd name="connsiteX61" fmla="*/ 824289 w 1367015"/>
                  <a:gd name="connsiteY61" fmla="*/ 601524 h 1238250"/>
                  <a:gd name="connsiteX62" fmla="*/ 761409 w 1367015"/>
                  <a:gd name="connsiteY62" fmla="*/ 628650 h 1238250"/>
                  <a:gd name="connsiteX63" fmla="*/ 676379 w 1367015"/>
                  <a:gd name="connsiteY63" fmla="*/ 542989 h 1238250"/>
                  <a:gd name="connsiteX64" fmla="*/ 678523 w 1367015"/>
                  <a:gd name="connsiteY64" fmla="*/ 523715 h 1238250"/>
                  <a:gd name="connsiteX65" fmla="*/ 582775 w 1367015"/>
                  <a:gd name="connsiteY65" fmla="*/ 477316 h 1238250"/>
                  <a:gd name="connsiteX66" fmla="*/ 569913 w 1367015"/>
                  <a:gd name="connsiteY66" fmla="*/ 470891 h 1238250"/>
                  <a:gd name="connsiteX67" fmla="*/ 594208 w 1367015"/>
                  <a:gd name="connsiteY67" fmla="*/ 441623 h 1238250"/>
                  <a:gd name="connsiteX68" fmla="*/ 694957 w 1367015"/>
                  <a:gd name="connsiteY68" fmla="*/ 490165 h 1238250"/>
                  <a:gd name="connsiteX69" fmla="*/ 715679 w 1367015"/>
                  <a:gd name="connsiteY69" fmla="*/ 470891 h 1238250"/>
                  <a:gd name="connsiteX70" fmla="*/ 761409 w 1367015"/>
                  <a:gd name="connsiteY70" fmla="*/ 457328 h 1238250"/>
                  <a:gd name="connsiteX71" fmla="*/ 789991 w 1367015"/>
                  <a:gd name="connsiteY71" fmla="*/ 462325 h 1238250"/>
                  <a:gd name="connsiteX72" fmla="*/ 815714 w 1367015"/>
                  <a:gd name="connsiteY72" fmla="*/ 476602 h 1238250"/>
                  <a:gd name="connsiteX73" fmla="*/ 831434 w 1367015"/>
                  <a:gd name="connsiteY73" fmla="*/ 464466 h 1238250"/>
                  <a:gd name="connsiteX74" fmla="*/ 891455 w 1367015"/>
                  <a:gd name="connsiteY74" fmla="*/ 415925 h 1238250"/>
                  <a:gd name="connsiteX75" fmla="*/ 772661 w 1367015"/>
                  <a:gd name="connsiteY75" fmla="*/ 346605 h 1238250"/>
                  <a:gd name="connsiteX76" fmla="*/ 628158 w 1367015"/>
                  <a:gd name="connsiteY76" fmla="*/ 379415 h 1238250"/>
                  <a:gd name="connsiteX77" fmla="*/ 571784 w 1367015"/>
                  <a:gd name="connsiteY77" fmla="*/ 420783 h 1238250"/>
                  <a:gd name="connsiteX78" fmla="*/ 546809 w 1367015"/>
                  <a:gd name="connsiteY78" fmla="*/ 449314 h 1238250"/>
                  <a:gd name="connsiteX79" fmla="*/ 524687 w 1367015"/>
                  <a:gd name="connsiteY79" fmla="*/ 482123 h 1238250"/>
                  <a:gd name="connsiteX80" fmla="*/ 564648 w 1367015"/>
                  <a:gd name="connsiteY80" fmla="*/ 800235 h 1238250"/>
                  <a:gd name="connsiteX81" fmla="*/ 678110 w 1367015"/>
                  <a:gd name="connsiteY81" fmla="*/ 869420 h 1238250"/>
                  <a:gd name="connsiteX82" fmla="*/ 837955 w 1367015"/>
                  <a:gd name="connsiteY82" fmla="*/ 869420 h 1238250"/>
                  <a:gd name="connsiteX83" fmla="*/ 921445 w 1367015"/>
                  <a:gd name="connsiteY83" fmla="*/ 826625 h 1238250"/>
                  <a:gd name="connsiteX84" fmla="*/ 944280 w 1367015"/>
                  <a:gd name="connsiteY84" fmla="*/ 807367 h 1238250"/>
                  <a:gd name="connsiteX85" fmla="*/ 967115 w 1367015"/>
                  <a:gd name="connsiteY85" fmla="*/ 783117 h 1238250"/>
                  <a:gd name="connsiteX86" fmla="*/ 959979 w 1367015"/>
                  <a:gd name="connsiteY86" fmla="*/ 437902 h 1238250"/>
                  <a:gd name="connsiteX87" fmla="*/ 951416 w 1367015"/>
                  <a:gd name="connsiteY87" fmla="*/ 427916 h 1238250"/>
                  <a:gd name="connsiteX88" fmla="*/ 937858 w 1367015"/>
                  <a:gd name="connsiteY88" fmla="*/ 415791 h 1238250"/>
                  <a:gd name="connsiteX89" fmla="*/ 912882 w 1367015"/>
                  <a:gd name="connsiteY89" fmla="*/ 395106 h 1238250"/>
                  <a:gd name="connsiteX90" fmla="*/ 772661 w 1367015"/>
                  <a:gd name="connsiteY90" fmla="*/ 346605 h 1238250"/>
                  <a:gd name="connsiteX91" fmla="*/ 785477 w 1367015"/>
                  <a:gd name="connsiteY91" fmla="*/ 308032 h 1238250"/>
                  <a:gd name="connsiteX92" fmla="*/ 945296 w 1367015"/>
                  <a:gd name="connsiteY92" fmla="*/ 370115 h 1238250"/>
                  <a:gd name="connsiteX93" fmla="*/ 969609 w 1367015"/>
                  <a:gd name="connsiteY93" fmla="*/ 390809 h 1238250"/>
                  <a:gd name="connsiteX94" fmla="*/ 980335 w 1367015"/>
                  <a:gd name="connsiteY94" fmla="*/ 400799 h 1238250"/>
                  <a:gd name="connsiteX95" fmla="*/ 991061 w 1367015"/>
                  <a:gd name="connsiteY95" fmla="*/ 413644 h 1238250"/>
                  <a:gd name="connsiteX96" fmla="*/ 1008223 w 1367015"/>
                  <a:gd name="connsiteY96" fmla="*/ 791852 h 1238250"/>
                  <a:gd name="connsiteX97" fmla="*/ 1080445 w 1367015"/>
                  <a:gd name="connsiteY97" fmla="*/ 866780 h 1238250"/>
                  <a:gd name="connsiteX98" fmla="*/ 1081875 w 1367015"/>
                  <a:gd name="connsiteY98" fmla="*/ 868921 h 1238250"/>
                  <a:gd name="connsiteX99" fmla="*/ 1081875 w 1367015"/>
                  <a:gd name="connsiteY99" fmla="*/ 876770 h 1238250"/>
                  <a:gd name="connsiteX100" fmla="*/ 1056848 w 1367015"/>
                  <a:gd name="connsiteY100" fmla="*/ 900319 h 1238250"/>
                  <a:gd name="connsiteX101" fmla="*/ 1055418 w 1367015"/>
                  <a:gd name="connsiteY101" fmla="*/ 901746 h 1238250"/>
                  <a:gd name="connsiteX102" fmla="*/ 1023954 w 1367015"/>
                  <a:gd name="connsiteY102" fmla="*/ 931717 h 1238250"/>
                  <a:gd name="connsiteX103" fmla="*/ 1014658 w 1367015"/>
                  <a:gd name="connsiteY103" fmla="*/ 940994 h 1238250"/>
                  <a:gd name="connsiteX104" fmla="*/ 1003217 w 1367015"/>
                  <a:gd name="connsiteY104" fmla="*/ 940994 h 1238250"/>
                  <a:gd name="connsiteX105" fmla="*/ 993921 w 1367015"/>
                  <a:gd name="connsiteY105" fmla="*/ 931717 h 1238250"/>
                  <a:gd name="connsiteX106" fmla="*/ 963888 w 1367015"/>
                  <a:gd name="connsiteY106" fmla="*/ 900319 h 1238250"/>
                  <a:gd name="connsiteX107" fmla="*/ 933140 w 1367015"/>
                  <a:gd name="connsiteY107" fmla="*/ 868921 h 1238250"/>
                  <a:gd name="connsiteX108" fmla="*/ 930995 w 1367015"/>
                  <a:gd name="connsiteY108" fmla="*/ 866780 h 1238250"/>
                  <a:gd name="connsiteX109" fmla="*/ 926704 w 1367015"/>
                  <a:gd name="connsiteY109" fmla="*/ 868921 h 1238250"/>
                  <a:gd name="connsiteX110" fmla="*/ 864493 w 1367015"/>
                  <a:gd name="connsiteY110" fmla="*/ 900319 h 1238250"/>
                  <a:gd name="connsiteX111" fmla="*/ 651400 w 1367015"/>
                  <a:gd name="connsiteY111" fmla="*/ 900319 h 1238250"/>
                  <a:gd name="connsiteX112" fmla="*/ 589189 w 1367015"/>
                  <a:gd name="connsiteY112" fmla="*/ 868921 h 1238250"/>
                  <a:gd name="connsiteX113" fmla="*/ 536988 w 1367015"/>
                  <a:gd name="connsiteY113" fmla="*/ 826105 h 1238250"/>
                  <a:gd name="connsiteX114" fmla="*/ 457615 w 1367015"/>
                  <a:gd name="connsiteY114" fmla="*/ 554937 h 1238250"/>
                  <a:gd name="connsiteX115" fmla="*/ 481213 w 1367015"/>
                  <a:gd name="connsiteY115" fmla="*/ 482863 h 1238250"/>
                  <a:gd name="connsiteX116" fmla="*/ 530553 w 1367015"/>
                  <a:gd name="connsiteY116" fmla="*/ 408649 h 1238250"/>
                  <a:gd name="connsiteX117" fmla="*/ 545569 w 1367015"/>
                  <a:gd name="connsiteY117" fmla="*/ 392236 h 1238250"/>
                  <a:gd name="connsiteX118" fmla="*/ 592049 w 1367015"/>
                  <a:gd name="connsiteY118" fmla="*/ 355843 h 1238250"/>
                  <a:gd name="connsiteX119" fmla="*/ 619222 w 1367015"/>
                  <a:gd name="connsiteY119" fmla="*/ 340143 h 1238250"/>
                  <a:gd name="connsiteX120" fmla="*/ 785477 w 1367015"/>
                  <a:gd name="connsiteY120" fmla="*/ 308032 h 1238250"/>
                  <a:gd name="connsiteX121" fmla="*/ 555676 w 1367015"/>
                  <a:gd name="connsiteY121" fmla="*/ 304800 h 1238250"/>
                  <a:gd name="connsiteX122" fmla="*/ 595313 w 1367015"/>
                  <a:gd name="connsiteY122" fmla="*/ 316982 h 1238250"/>
                  <a:gd name="connsiteX123" fmla="*/ 563462 w 1367015"/>
                  <a:gd name="connsiteY123" fmla="*/ 337046 h 1238250"/>
                  <a:gd name="connsiteX124" fmla="*/ 555676 w 1367015"/>
                  <a:gd name="connsiteY124" fmla="*/ 336330 h 1238250"/>
                  <a:gd name="connsiteX125" fmla="*/ 515331 w 1367015"/>
                  <a:gd name="connsiteY125" fmla="*/ 377175 h 1238250"/>
                  <a:gd name="connsiteX126" fmla="*/ 515331 w 1367015"/>
                  <a:gd name="connsiteY126" fmla="*/ 379325 h 1238250"/>
                  <a:gd name="connsiteX127" fmla="*/ 490558 w 1367015"/>
                  <a:gd name="connsiteY127" fmla="*/ 407988 h 1238250"/>
                  <a:gd name="connsiteX128" fmla="*/ 484188 w 1367015"/>
                  <a:gd name="connsiteY128" fmla="*/ 377175 h 1238250"/>
                  <a:gd name="connsiteX129" fmla="*/ 555676 w 1367015"/>
                  <a:gd name="connsiteY129" fmla="*/ 304800 h 1238250"/>
                  <a:gd name="connsiteX130" fmla="*/ 1089384 w 1367015"/>
                  <a:gd name="connsiteY130" fmla="*/ 233362 h 1238250"/>
                  <a:gd name="connsiteX131" fmla="*/ 1047750 w 1367015"/>
                  <a:gd name="connsiteY131" fmla="*/ 274996 h 1238250"/>
                  <a:gd name="connsiteX132" fmla="*/ 1049186 w 1367015"/>
                  <a:gd name="connsiteY132" fmla="*/ 286481 h 1238250"/>
                  <a:gd name="connsiteX133" fmla="*/ 1069285 w 1367015"/>
                  <a:gd name="connsiteY133" fmla="*/ 310887 h 1238250"/>
                  <a:gd name="connsiteX134" fmla="*/ 1089384 w 1367015"/>
                  <a:gd name="connsiteY134" fmla="*/ 315912 h 1238250"/>
                  <a:gd name="connsiteX135" fmla="*/ 1130300 w 1367015"/>
                  <a:gd name="connsiteY135" fmla="*/ 274996 h 1238250"/>
                  <a:gd name="connsiteX136" fmla="*/ 1128865 w 1367015"/>
                  <a:gd name="connsiteY136" fmla="*/ 264229 h 1238250"/>
                  <a:gd name="connsiteX137" fmla="*/ 1109483 w 1367015"/>
                  <a:gd name="connsiteY137" fmla="*/ 239105 h 1238250"/>
                  <a:gd name="connsiteX138" fmla="*/ 1089384 w 1367015"/>
                  <a:gd name="connsiteY138" fmla="*/ 233362 h 1238250"/>
                  <a:gd name="connsiteX139" fmla="*/ 15705 w 1367015"/>
                  <a:gd name="connsiteY139" fmla="*/ 0 h 1238250"/>
                  <a:gd name="connsiteX140" fmla="*/ 1289220 w 1367015"/>
                  <a:gd name="connsiteY140" fmla="*/ 0 h 1238250"/>
                  <a:gd name="connsiteX141" fmla="*/ 1304925 w 1367015"/>
                  <a:gd name="connsiteY141" fmla="*/ 15698 h 1238250"/>
                  <a:gd name="connsiteX142" fmla="*/ 1304925 w 1367015"/>
                  <a:gd name="connsiteY142" fmla="*/ 916166 h 1238250"/>
                  <a:gd name="connsiteX143" fmla="*/ 1289220 w 1367015"/>
                  <a:gd name="connsiteY143" fmla="*/ 931863 h 1238250"/>
                  <a:gd name="connsiteX144" fmla="*/ 1219977 w 1367015"/>
                  <a:gd name="connsiteY144" fmla="*/ 931863 h 1238250"/>
                  <a:gd name="connsiteX145" fmla="*/ 1189995 w 1367015"/>
                  <a:gd name="connsiteY145" fmla="*/ 900468 h 1238250"/>
                  <a:gd name="connsiteX146" fmla="*/ 1273516 w 1367015"/>
                  <a:gd name="connsiteY146" fmla="*/ 900468 h 1238250"/>
                  <a:gd name="connsiteX147" fmla="*/ 1273516 w 1367015"/>
                  <a:gd name="connsiteY147" fmla="*/ 151267 h 1238250"/>
                  <a:gd name="connsiteX148" fmla="*/ 1242106 w 1367015"/>
                  <a:gd name="connsiteY148" fmla="*/ 175527 h 1238250"/>
                  <a:gd name="connsiteX149" fmla="*/ 1154302 w 1367015"/>
                  <a:gd name="connsiteY149" fmla="*/ 243312 h 1238250"/>
                  <a:gd name="connsiteX150" fmla="*/ 1161441 w 1367015"/>
                  <a:gd name="connsiteY150" fmla="*/ 274707 h 1238250"/>
                  <a:gd name="connsiteX151" fmla="*/ 1089341 w 1367015"/>
                  <a:gd name="connsiteY151" fmla="*/ 346773 h 1238250"/>
                  <a:gd name="connsiteX152" fmla="*/ 1043655 w 1367015"/>
                  <a:gd name="connsiteY152" fmla="*/ 331076 h 1238250"/>
                  <a:gd name="connsiteX153" fmla="*/ 993685 w 1367015"/>
                  <a:gd name="connsiteY153" fmla="*/ 371033 h 1238250"/>
                  <a:gd name="connsiteX154" fmla="*/ 969414 w 1367015"/>
                  <a:gd name="connsiteY154" fmla="*/ 349627 h 1238250"/>
                  <a:gd name="connsiteX155" fmla="*/ 1024381 w 1367015"/>
                  <a:gd name="connsiteY155" fmla="*/ 306102 h 1238250"/>
                  <a:gd name="connsiteX156" fmla="*/ 1016528 w 1367015"/>
                  <a:gd name="connsiteY156" fmla="*/ 274707 h 1238250"/>
                  <a:gd name="connsiteX157" fmla="*/ 1089341 w 1367015"/>
                  <a:gd name="connsiteY157" fmla="*/ 201928 h 1238250"/>
                  <a:gd name="connsiteX158" fmla="*/ 1135028 w 1367015"/>
                  <a:gd name="connsiteY158" fmla="*/ 219052 h 1238250"/>
                  <a:gd name="connsiteX159" fmla="*/ 1242106 w 1367015"/>
                  <a:gd name="connsiteY159" fmla="*/ 136283 h 1238250"/>
                  <a:gd name="connsiteX160" fmla="*/ 1269946 w 1367015"/>
                  <a:gd name="connsiteY160" fmla="*/ 114878 h 1238250"/>
                  <a:gd name="connsiteX161" fmla="*/ 1273516 w 1367015"/>
                  <a:gd name="connsiteY161" fmla="*/ 112737 h 1238250"/>
                  <a:gd name="connsiteX162" fmla="*/ 1273516 w 1367015"/>
                  <a:gd name="connsiteY162" fmla="*/ 31395 h 1238250"/>
                  <a:gd name="connsiteX163" fmla="*/ 31410 w 1367015"/>
                  <a:gd name="connsiteY163" fmla="*/ 31395 h 1238250"/>
                  <a:gd name="connsiteX164" fmla="*/ 31410 w 1367015"/>
                  <a:gd name="connsiteY164" fmla="*/ 741352 h 1238250"/>
                  <a:gd name="connsiteX165" fmla="*/ 62819 w 1367015"/>
                  <a:gd name="connsiteY165" fmla="*/ 726368 h 1238250"/>
                  <a:gd name="connsiteX166" fmla="*/ 276976 w 1367015"/>
                  <a:gd name="connsiteY166" fmla="*/ 623621 h 1238250"/>
                  <a:gd name="connsiteX167" fmla="*/ 274834 w 1367015"/>
                  <a:gd name="connsiteY167" fmla="*/ 607210 h 1238250"/>
                  <a:gd name="connsiteX168" fmla="*/ 346933 w 1367015"/>
                  <a:gd name="connsiteY168" fmla="*/ 534430 h 1238250"/>
                  <a:gd name="connsiteX169" fmla="*/ 383340 w 1367015"/>
                  <a:gd name="connsiteY169" fmla="*/ 543706 h 1238250"/>
                  <a:gd name="connsiteX170" fmla="*/ 454725 w 1367015"/>
                  <a:gd name="connsiteY170" fmla="*/ 465218 h 1238250"/>
                  <a:gd name="connsiteX171" fmla="*/ 429026 w 1367015"/>
                  <a:gd name="connsiteY171" fmla="*/ 540138 h 1238250"/>
                  <a:gd name="connsiteX172" fmla="*/ 406183 w 1367015"/>
                  <a:gd name="connsiteY172" fmla="*/ 565112 h 1238250"/>
                  <a:gd name="connsiteX173" fmla="*/ 419746 w 1367015"/>
                  <a:gd name="connsiteY173" fmla="*/ 607210 h 1238250"/>
                  <a:gd name="connsiteX174" fmla="*/ 346933 w 1367015"/>
                  <a:gd name="connsiteY174" fmla="*/ 679275 h 1238250"/>
                  <a:gd name="connsiteX175" fmla="*/ 290539 w 1367015"/>
                  <a:gd name="connsiteY175" fmla="*/ 651448 h 1238250"/>
                  <a:gd name="connsiteX176" fmla="*/ 62819 w 1367015"/>
                  <a:gd name="connsiteY176" fmla="*/ 761331 h 1238250"/>
                  <a:gd name="connsiteX177" fmla="*/ 31410 w 1367015"/>
                  <a:gd name="connsiteY177" fmla="*/ 776315 h 1238250"/>
                  <a:gd name="connsiteX178" fmla="*/ 31410 w 1367015"/>
                  <a:gd name="connsiteY178" fmla="*/ 900468 h 1238250"/>
                  <a:gd name="connsiteX179" fmla="*/ 579650 w 1367015"/>
                  <a:gd name="connsiteY179" fmla="*/ 900468 h 1238250"/>
                  <a:gd name="connsiteX180" fmla="*/ 645324 w 1367015"/>
                  <a:gd name="connsiteY180" fmla="*/ 931863 h 1238250"/>
                  <a:gd name="connsiteX181" fmla="*/ 15705 w 1367015"/>
                  <a:gd name="connsiteY181" fmla="*/ 931863 h 1238250"/>
                  <a:gd name="connsiteX182" fmla="*/ 0 w 1367015"/>
                  <a:gd name="connsiteY182" fmla="*/ 916166 h 1238250"/>
                  <a:gd name="connsiteX183" fmla="*/ 0 w 1367015"/>
                  <a:gd name="connsiteY183" fmla="*/ 15698 h 1238250"/>
                  <a:gd name="connsiteX184" fmla="*/ 15705 w 1367015"/>
                  <a:gd name="connsiteY184" fmla="*/ 0 h 1238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1367015" h="1238250">
                    <a:moveTo>
                      <a:pt x="1124567" y="922337"/>
                    </a:moveTo>
                    <a:cubicBezTo>
                      <a:pt x="1124567" y="922337"/>
                      <a:pt x="1124567" y="922337"/>
                      <a:pt x="1113855" y="931647"/>
                    </a:cubicBezTo>
                    <a:cubicBezTo>
                      <a:pt x="1113855" y="931647"/>
                      <a:pt x="1113855" y="931647"/>
                      <a:pt x="1058863" y="985360"/>
                    </a:cubicBezTo>
                    <a:cubicBezTo>
                      <a:pt x="1269544" y="1205939"/>
                      <a:pt x="1269544" y="1205939"/>
                      <a:pt x="1269544" y="1205939"/>
                    </a:cubicBezTo>
                    <a:cubicBezTo>
                      <a:pt x="1270258" y="1206655"/>
                      <a:pt x="1274543" y="1208087"/>
                      <a:pt x="1282399" y="1205939"/>
                    </a:cubicBezTo>
                    <a:cubicBezTo>
                      <a:pt x="1292398" y="1203074"/>
                      <a:pt x="1303110" y="1195912"/>
                      <a:pt x="1313109" y="1185886"/>
                    </a:cubicBezTo>
                    <a:cubicBezTo>
                      <a:pt x="1323107" y="1176576"/>
                      <a:pt x="1330963" y="1165833"/>
                      <a:pt x="1333820" y="1155807"/>
                    </a:cubicBezTo>
                    <a:cubicBezTo>
                      <a:pt x="1336676" y="1147929"/>
                      <a:pt x="1335962" y="1143632"/>
                      <a:pt x="1335248" y="1142916"/>
                    </a:cubicBezTo>
                    <a:cubicBezTo>
                      <a:pt x="1198841" y="1000399"/>
                      <a:pt x="1150277" y="949551"/>
                      <a:pt x="1133851" y="931647"/>
                    </a:cubicBezTo>
                    <a:cubicBezTo>
                      <a:pt x="1124567" y="922337"/>
                      <a:pt x="1124567" y="922337"/>
                      <a:pt x="1124567" y="922337"/>
                    </a:cubicBezTo>
                    <a:close/>
                    <a:moveTo>
                      <a:pt x="925229" y="906462"/>
                    </a:moveTo>
                    <a:cubicBezTo>
                      <a:pt x="925229" y="906462"/>
                      <a:pt x="925229" y="906462"/>
                      <a:pt x="949325" y="931862"/>
                    </a:cubicBezTo>
                    <a:cubicBezTo>
                      <a:pt x="949325" y="931862"/>
                      <a:pt x="949325" y="931862"/>
                      <a:pt x="869950" y="931862"/>
                    </a:cubicBezTo>
                    <a:cubicBezTo>
                      <a:pt x="889085" y="925331"/>
                      <a:pt x="907512" y="916622"/>
                      <a:pt x="925229" y="906462"/>
                    </a:cubicBezTo>
                    <a:close/>
                    <a:moveTo>
                      <a:pt x="1124927" y="884237"/>
                    </a:moveTo>
                    <a:cubicBezTo>
                      <a:pt x="1129214" y="884952"/>
                      <a:pt x="1132787" y="886383"/>
                      <a:pt x="1135645" y="889243"/>
                    </a:cubicBezTo>
                    <a:cubicBezTo>
                      <a:pt x="1139218" y="893534"/>
                      <a:pt x="1142790" y="897110"/>
                      <a:pt x="1146363" y="900686"/>
                    </a:cubicBezTo>
                    <a:cubicBezTo>
                      <a:pt x="1157081" y="912129"/>
                      <a:pt x="1167085" y="922857"/>
                      <a:pt x="1176374" y="932154"/>
                    </a:cubicBezTo>
                    <a:cubicBezTo>
                      <a:pt x="1357152" y="1121676"/>
                      <a:pt x="1357152" y="1121676"/>
                      <a:pt x="1357152" y="1121676"/>
                    </a:cubicBezTo>
                    <a:cubicBezTo>
                      <a:pt x="1367155" y="1131689"/>
                      <a:pt x="1370013" y="1148138"/>
                      <a:pt x="1363582" y="1166017"/>
                    </a:cubicBezTo>
                    <a:cubicBezTo>
                      <a:pt x="1358581" y="1181036"/>
                      <a:pt x="1348577" y="1196055"/>
                      <a:pt x="1335001" y="1208928"/>
                    </a:cubicBezTo>
                    <a:cubicBezTo>
                      <a:pt x="1321425" y="1221801"/>
                      <a:pt x="1305705" y="1231814"/>
                      <a:pt x="1290700" y="1236105"/>
                    </a:cubicBezTo>
                    <a:cubicBezTo>
                      <a:pt x="1284983" y="1237535"/>
                      <a:pt x="1279267" y="1238250"/>
                      <a:pt x="1273551" y="1238250"/>
                    </a:cubicBezTo>
                    <a:cubicBezTo>
                      <a:pt x="1262833" y="1238250"/>
                      <a:pt x="1252829" y="1234674"/>
                      <a:pt x="1246398" y="1227522"/>
                    </a:cubicBezTo>
                    <a:cubicBezTo>
                      <a:pt x="1024892" y="996520"/>
                      <a:pt x="1024892" y="996520"/>
                      <a:pt x="1024892" y="996520"/>
                    </a:cubicBezTo>
                    <a:cubicBezTo>
                      <a:pt x="1019175" y="990083"/>
                      <a:pt x="1019175" y="980071"/>
                      <a:pt x="1025606" y="974350"/>
                    </a:cubicBezTo>
                    <a:cubicBezTo>
                      <a:pt x="1042755" y="957185"/>
                      <a:pt x="1057046" y="943597"/>
                      <a:pt x="1068478" y="932154"/>
                    </a:cubicBezTo>
                    <a:cubicBezTo>
                      <a:pt x="1071336" y="930009"/>
                      <a:pt x="1073480" y="927148"/>
                      <a:pt x="1076338" y="925002"/>
                    </a:cubicBezTo>
                    <a:cubicBezTo>
                      <a:pt x="1087771" y="914275"/>
                      <a:pt x="1095631" y="906408"/>
                      <a:pt x="1100633" y="900686"/>
                    </a:cubicBezTo>
                    <a:cubicBezTo>
                      <a:pt x="1102062" y="899971"/>
                      <a:pt x="1103491" y="898541"/>
                      <a:pt x="1104205" y="897826"/>
                    </a:cubicBezTo>
                    <a:cubicBezTo>
                      <a:pt x="1113494" y="889243"/>
                      <a:pt x="1113494" y="889243"/>
                      <a:pt x="1113494" y="889243"/>
                    </a:cubicBezTo>
                    <a:cubicBezTo>
                      <a:pt x="1116352" y="886383"/>
                      <a:pt x="1120640" y="884237"/>
                      <a:pt x="1124927" y="884237"/>
                    </a:cubicBezTo>
                    <a:close/>
                    <a:moveTo>
                      <a:pt x="346518" y="565150"/>
                    </a:moveTo>
                    <a:cubicBezTo>
                      <a:pt x="324693" y="565150"/>
                      <a:pt x="306388" y="583814"/>
                      <a:pt x="306388" y="606784"/>
                    </a:cubicBezTo>
                    <a:cubicBezTo>
                      <a:pt x="306388" y="607502"/>
                      <a:pt x="306388" y="608220"/>
                      <a:pt x="306388" y="608938"/>
                    </a:cubicBezTo>
                    <a:cubicBezTo>
                      <a:pt x="307092" y="619705"/>
                      <a:pt x="312020" y="630472"/>
                      <a:pt x="319765" y="636933"/>
                    </a:cubicBezTo>
                    <a:cubicBezTo>
                      <a:pt x="326805" y="643393"/>
                      <a:pt x="336661" y="647700"/>
                      <a:pt x="346518" y="647700"/>
                    </a:cubicBezTo>
                    <a:cubicBezTo>
                      <a:pt x="369047" y="647700"/>
                      <a:pt x="387351" y="629037"/>
                      <a:pt x="387351" y="606784"/>
                    </a:cubicBezTo>
                    <a:cubicBezTo>
                      <a:pt x="387351" y="600324"/>
                      <a:pt x="385943" y="594581"/>
                      <a:pt x="383127" y="588838"/>
                    </a:cubicBezTo>
                    <a:cubicBezTo>
                      <a:pt x="378903" y="578789"/>
                      <a:pt x="370455" y="571611"/>
                      <a:pt x="360598" y="568021"/>
                    </a:cubicBezTo>
                    <a:cubicBezTo>
                      <a:pt x="356374" y="565868"/>
                      <a:pt x="351446" y="565150"/>
                      <a:pt x="346518" y="565150"/>
                    </a:cubicBezTo>
                    <a:close/>
                    <a:moveTo>
                      <a:pt x="760846" y="492125"/>
                    </a:moveTo>
                    <a:cubicBezTo>
                      <a:pt x="752187" y="492125"/>
                      <a:pt x="743528" y="494947"/>
                      <a:pt x="735591" y="499181"/>
                    </a:cubicBezTo>
                    <a:cubicBezTo>
                      <a:pt x="722602" y="506236"/>
                      <a:pt x="713221" y="519642"/>
                      <a:pt x="710335" y="535164"/>
                    </a:cubicBezTo>
                    <a:cubicBezTo>
                      <a:pt x="710335" y="537986"/>
                      <a:pt x="709613" y="540103"/>
                      <a:pt x="709613" y="542925"/>
                    </a:cubicBezTo>
                    <a:cubicBezTo>
                      <a:pt x="709613" y="571147"/>
                      <a:pt x="732704" y="593725"/>
                      <a:pt x="760846" y="593725"/>
                    </a:cubicBezTo>
                    <a:cubicBezTo>
                      <a:pt x="763011" y="593725"/>
                      <a:pt x="765176" y="593725"/>
                      <a:pt x="767341" y="593725"/>
                    </a:cubicBezTo>
                    <a:cubicBezTo>
                      <a:pt x="783216" y="591608"/>
                      <a:pt x="796926" y="583142"/>
                      <a:pt x="804864" y="570442"/>
                    </a:cubicBezTo>
                    <a:cubicBezTo>
                      <a:pt x="809915" y="562681"/>
                      <a:pt x="812801" y="553508"/>
                      <a:pt x="812801" y="542925"/>
                    </a:cubicBezTo>
                    <a:cubicBezTo>
                      <a:pt x="812801" y="542220"/>
                      <a:pt x="812801" y="540808"/>
                      <a:pt x="812801" y="539397"/>
                    </a:cubicBezTo>
                    <a:cubicBezTo>
                      <a:pt x="811358" y="515408"/>
                      <a:pt x="792597" y="495653"/>
                      <a:pt x="768062" y="492831"/>
                    </a:cubicBezTo>
                    <a:cubicBezTo>
                      <a:pt x="765898" y="492831"/>
                      <a:pt x="763733" y="492125"/>
                      <a:pt x="760846" y="492125"/>
                    </a:cubicBezTo>
                    <a:close/>
                    <a:moveTo>
                      <a:pt x="891455" y="415925"/>
                    </a:moveTo>
                    <a:cubicBezTo>
                      <a:pt x="899315" y="421636"/>
                      <a:pt x="907175" y="428060"/>
                      <a:pt x="915035" y="434485"/>
                    </a:cubicBezTo>
                    <a:cubicBezTo>
                      <a:pt x="917179" y="435913"/>
                      <a:pt x="918608" y="438054"/>
                      <a:pt x="920751" y="439482"/>
                    </a:cubicBezTo>
                    <a:cubicBezTo>
                      <a:pt x="920751" y="439482"/>
                      <a:pt x="920751" y="439482"/>
                      <a:pt x="877164" y="474460"/>
                    </a:cubicBezTo>
                    <a:cubicBezTo>
                      <a:pt x="869305" y="480885"/>
                      <a:pt x="860730" y="488023"/>
                      <a:pt x="850012" y="496589"/>
                    </a:cubicBezTo>
                    <a:cubicBezTo>
                      <a:pt x="846439" y="499445"/>
                      <a:pt x="842867" y="502300"/>
                      <a:pt x="838579" y="505155"/>
                    </a:cubicBezTo>
                    <a:cubicBezTo>
                      <a:pt x="840723" y="510152"/>
                      <a:pt x="842867" y="514435"/>
                      <a:pt x="844296" y="519432"/>
                    </a:cubicBezTo>
                    <a:cubicBezTo>
                      <a:pt x="846439" y="527285"/>
                      <a:pt x="847154" y="535137"/>
                      <a:pt x="847154" y="542989"/>
                    </a:cubicBezTo>
                    <a:cubicBezTo>
                      <a:pt x="847154" y="549414"/>
                      <a:pt x="846439" y="555124"/>
                      <a:pt x="845725" y="561549"/>
                    </a:cubicBezTo>
                    <a:cubicBezTo>
                      <a:pt x="842152" y="576540"/>
                      <a:pt x="835007" y="590103"/>
                      <a:pt x="824289" y="601524"/>
                    </a:cubicBezTo>
                    <a:cubicBezTo>
                      <a:pt x="809283" y="617942"/>
                      <a:pt x="786418" y="628650"/>
                      <a:pt x="761409" y="628650"/>
                    </a:cubicBezTo>
                    <a:cubicBezTo>
                      <a:pt x="714250" y="628650"/>
                      <a:pt x="676379" y="590103"/>
                      <a:pt x="676379" y="542989"/>
                    </a:cubicBezTo>
                    <a:cubicBezTo>
                      <a:pt x="676379" y="536564"/>
                      <a:pt x="677094" y="529426"/>
                      <a:pt x="678523" y="523715"/>
                    </a:cubicBezTo>
                    <a:cubicBezTo>
                      <a:pt x="678523" y="523715"/>
                      <a:pt x="678523" y="523715"/>
                      <a:pt x="582775" y="477316"/>
                    </a:cubicBezTo>
                    <a:cubicBezTo>
                      <a:pt x="578488" y="475174"/>
                      <a:pt x="574200" y="473033"/>
                      <a:pt x="569913" y="470891"/>
                    </a:cubicBezTo>
                    <a:cubicBezTo>
                      <a:pt x="577059" y="460183"/>
                      <a:pt x="585633" y="450903"/>
                      <a:pt x="594208" y="441623"/>
                    </a:cubicBezTo>
                    <a:cubicBezTo>
                      <a:pt x="594208" y="441623"/>
                      <a:pt x="594208" y="441623"/>
                      <a:pt x="694957" y="490165"/>
                    </a:cubicBezTo>
                    <a:cubicBezTo>
                      <a:pt x="700674" y="483026"/>
                      <a:pt x="707819" y="476602"/>
                      <a:pt x="715679" y="470891"/>
                    </a:cubicBezTo>
                    <a:cubicBezTo>
                      <a:pt x="728541" y="462325"/>
                      <a:pt x="744975" y="457328"/>
                      <a:pt x="761409" y="457328"/>
                    </a:cubicBezTo>
                    <a:cubicBezTo>
                      <a:pt x="771413" y="457328"/>
                      <a:pt x="781416" y="459470"/>
                      <a:pt x="789991" y="462325"/>
                    </a:cubicBezTo>
                    <a:cubicBezTo>
                      <a:pt x="799280" y="465894"/>
                      <a:pt x="808569" y="470891"/>
                      <a:pt x="815714" y="476602"/>
                    </a:cubicBezTo>
                    <a:cubicBezTo>
                      <a:pt x="815714" y="476602"/>
                      <a:pt x="815714" y="476602"/>
                      <a:pt x="831434" y="464466"/>
                    </a:cubicBezTo>
                    <a:cubicBezTo>
                      <a:pt x="842152" y="455900"/>
                      <a:pt x="860730" y="440910"/>
                      <a:pt x="891455" y="415925"/>
                    </a:cubicBezTo>
                    <a:close/>
                    <a:moveTo>
                      <a:pt x="772661" y="346605"/>
                    </a:moveTo>
                    <a:cubicBezTo>
                      <a:pt x="723066" y="343930"/>
                      <a:pt x="672758" y="354807"/>
                      <a:pt x="628158" y="379415"/>
                    </a:cubicBezTo>
                    <a:cubicBezTo>
                      <a:pt x="608178" y="390827"/>
                      <a:pt x="589624" y="404379"/>
                      <a:pt x="571784" y="420783"/>
                    </a:cubicBezTo>
                    <a:cubicBezTo>
                      <a:pt x="562508" y="430056"/>
                      <a:pt x="554658" y="439328"/>
                      <a:pt x="546809" y="449314"/>
                    </a:cubicBezTo>
                    <a:cubicBezTo>
                      <a:pt x="538245" y="460012"/>
                      <a:pt x="531109" y="470711"/>
                      <a:pt x="524687" y="482123"/>
                    </a:cubicBezTo>
                    <a:cubicBezTo>
                      <a:pt x="468313" y="582692"/>
                      <a:pt x="481158" y="712504"/>
                      <a:pt x="564648" y="800235"/>
                    </a:cubicBezTo>
                    <a:cubicBezTo>
                      <a:pt x="597474" y="833758"/>
                      <a:pt x="636008" y="856582"/>
                      <a:pt x="678110" y="869420"/>
                    </a:cubicBezTo>
                    <a:cubicBezTo>
                      <a:pt x="729488" y="885825"/>
                      <a:pt x="785862" y="885825"/>
                      <a:pt x="837955" y="869420"/>
                    </a:cubicBezTo>
                    <a:cubicBezTo>
                      <a:pt x="867212" y="860861"/>
                      <a:pt x="895756" y="845883"/>
                      <a:pt x="921445" y="826625"/>
                    </a:cubicBezTo>
                    <a:cubicBezTo>
                      <a:pt x="930008" y="820919"/>
                      <a:pt x="937144" y="814500"/>
                      <a:pt x="944280" y="807367"/>
                    </a:cubicBezTo>
                    <a:cubicBezTo>
                      <a:pt x="952130" y="799521"/>
                      <a:pt x="959979" y="791676"/>
                      <a:pt x="967115" y="783117"/>
                    </a:cubicBezTo>
                    <a:cubicBezTo>
                      <a:pt x="1047751" y="682548"/>
                      <a:pt x="1046324" y="537044"/>
                      <a:pt x="959979" y="437902"/>
                    </a:cubicBezTo>
                    <a:cubicBezTo>
                      <a:pt x="957125" y="435048"/>
                      <a:pt x="954270" y="431482"/>
                      <a:pt x="951416" y="427916"/>
                    </a:cubicBezTo>
                    <a:cubicBezTo>
                      <a:pt x="947135" y="423636"/>
                      <a:pt x="942853" y="419357"/>
                      <a:pt x="937858" y="415791"/>
                    </a:cubicBezTo>
                    <a:cubicBezTo>
                      <a:pt x="930008" y="408658"/>
                      <a:pt x="921445" y="401526"/>
                      <a:pt x="912882" y="395106"/>
                    </a:cubicBezTo>
                    <a:cubicBezTo>
                      <a:pt x="871137" y="365506"/>
                      <a:pt x="822256" y="349280"/>
                      <a:pt x="772661" y="346605"/>
                    </a:cubicBezTo>
                    <a:close/>
                    <a:moveTo>
                      <a:pt x="785477" y="308032"/>
                    </a:moveTo>
                    <a:cubicBezTo>
                      <a:pt x="842147" y="313027"/>
                      <a:pt x="897744" y="333721"/>
                      <a:pt x="945296" y="370115"/>
                    </a:cubicBezTo>
                    <a:cubicBezTo>
                      <a:pt x="953162" y="376537"/>
                      <a:pt x="961743" y="382959"/>
                      <a:pt x="969609" y="390809"/>
                    </a:cubicBezTo>
                    <a:cubicBezTo>
                      <a:pt x="973184" y="394377"/>
                      <a:pt x="976759" y="397231"/>
                      <a:pt x="980335" y="400799"/>
                    </a:cubicBezTo>
                    <a:cubicBezTo>
                      <a:pt x="983910" y="405081"/>
                      <a:pt x="987486" y="409363"/>
                      <a:pt x="991061" y="413644"/>
                    </a:cubicBezTo>
                    <a:cubicBezTo>
                      <a:pt x="1084021" y="521398"/>
                      <a:pt x="1089026" y="678390"/>
                      <a:pt x="1008223" y="791852"/>
                    </a:cubicBezTo>
                    <a:cubicBezTo>
                      <a:pt x="1080445" y="866780"/>
                      <a:pt x="1080445" y="866780"/>
                      <a:pt x="1080445" y="866780"/>
                    </a:cubicBezTo>
                    <a:cubicBezTo>
                      <a:pt x="1081160" y="867493"/>
                      <a:pt x="1081160" y="868207"/>
                      <a:pt x="1081875" y="868921"/>
                    </a:cubicBezTo>
                    <a:cubicBezTo>
                      <a:pt x="1083306" y="871775"/>
                      <a:pt x="1083306" y="874629"/>
                      <a:pt x="1081875" y="876770"/>
                    </a:cubicBezTo>
                    <a:cubicBezTo>
                      <a:pt x="1081875" y="876770"/>
                      <a:pt x="1081875" y="876770"/>
                      <a:pt x="1056848" y="900319"/>
                    </a:cubicBezTo>
                    <a:cubicBezTo>
                      <a:pt x="1056848" y="900319"/>
                      <a:pt x="1056848" y="900319"/>
                      <a:pt x="1055418" y="901746"/>
                    </a:cubicBezTo>
                    <a:cubicBezTo>
                      <a:pt x="1039686" y="917445"/>
                      <a:pt x="1029675" y="926722"/>
                      <a:pt x="1023954" y="931717"/>
                    </a:cubicBezTo>
                    <a:cubicBezTo>
                      <a:pt x="1014658" y="940994"/>
                      <a:pt x="1014658" y="940994"/>
                      <a:pt x="1014658" y="940994"/>
                    </a:cubicBezTo>
                    <a:cubicBezTo>
                      <a:pt x="1011798" y="944562"/>
                      <a:pt x="1006078" y="944562"/>
                      <a:pt x="1003217" y="940994"/>
                    </a:cubicBezTo>
                    <a:cubicBezTo>
                      <a:pt x="999642" y="938140"/>
                      <a:pt x="996782" y="934572"/>
                      <a:pt x="993921" y="931717"/>
                    </a:cubicBezTo>
                    <a:cubicBezTo>
                      <a:pt x="981765" y="919586"/>
                      <a:pt x="971754" y="908882"/>
                      <a:pt x="963888" y="900319"/>
                    </a:cubicBezTo>
                    <a:cubicBezTo>
                      <a:pt x="944581" y="881052"/>
                      <a:pt x="936715" y="872489"/>
                      <a:pt x="933140" y="868921"/>
                    </a:cubicBezTo>
                    <a:cubicBezTo>
                      <a:pt x="930995" y="866780"/>
                      <a:pt x="930995" y="866780"/>
                      <a:pt x="930995" y="866780"/>
                    </a:cubicBezTo>
                    <a:cubicBezTo>
                      <a:pt x="929565" y="867493"/>
                      <a:pt x="928134" y="868207"/>
                      <a:pt x="926704" y="868921"/>
                    </a:cubicBezTo>
                    <a:cubicBezTo>
                      <a:pt x="906682" y="882479"/>
                      <a:pt x="885945" y="892469"/>
                      <a:pt x="864493" y="900319"/>
                    </a:cubicBezTo>
                    <a:cubicBezTo>
                      <a:pt x="795846" y="926009"/>
                      <a:pt x="720048" y="926009"/>
                      <a:pt x="651400" y="900319"/>
                    </a:cubicBezTo>
                    <a:cubicBezTo>
                      <a:pt x="629948" y="892469"/>
                      <a:pt x="609211" y="882479"/>
                      <a:pt x="589189" y="868921"/>
                    </a:cubicBezTo>
                    <a:cubicBezTo>
                      <a:pt x="570597" y="856789"/>
                      <a:pt x="553435" y="842517"/>
                      <a:pt x="536988" y="826105"/>
                    </a:cubicBezTo>
                    <a:cubicBezTo>
                      <a:pt x="466196" y="751177"/>
                      <a:pt x="439738" y="649846"/>
                      <a:pt x="457615" y="554937"/>
                    </a:cubicBezTo>
                    <a:cubicBezTo>
                      <a:pt x="462621" y="529961"/>
                      <a:pt x="470486" y="505699"/>
                      <a:pt x="481213" y="482863"/>
                    </a:cubicBezTo>
                    <a:cubicBezTo>
                      <a:pt x="493369" y="456460"/>
                      <a:pt x="509816" y="430771"/>
                      <a:pt x="530553" y="408649"/>
                    </a:cubicBezTo>
                    <a:cubicBezTo>
                      <a:pt x="535558" y="402940"/>
                      <a:pt x="540564" y="397945"/>
                      <a:pt x="545569" y="392236"/>
                    </a:cubicBezTo>
                    <a:cubicBezTo>
                      <a:pt x="560586" y="378678"/>
                      <a:pt x="575602" y="366547"/>
                      <a:pt x="592049" y="355843"/>
                    </a:cubicBezTo>
                    <a:cubicBezTo>
                      <a:pt x="600630" y="350134"/>
                      <a:pt x="609926" y="345139"/>
                      <a:pt x="619222" y="340143"/>
                    </a:cubicBezTo>
                    <a:cubicBezTo>
                      <a:pt x="671065" y="313740"/>
                      <a:pt x="728807" y="303036"/>
                      <a:pt x="785477" y="308032"/>
                    </a:cubicBezTo>
                    <a:close/>
                    <a:moveTo>
                      <a:pt x="555676" y="304800"/>
                    </a:moveTo>
                    <a:cubicBezTo>
                      <a:pt x="570540" y="304800"/>
                      <a:pt x="583988" y="309099"/>
                      <a:pt x="595313" y="316982"/>
                    </a:cubicBezTo>
                    <a:cubicBezTo>
                      <a:pt x="584696" y="323431"/>
                      <a:pt x="574079" y="329880"/>
                      <a:pt x="563462" y="337046"/>
                    </a:cubicBezTo>
                    <a:cubicBezTo>
                      <a:pt x="561338" y="336330"/>
                      <a:pt x="558507" y="336330"/>
                      <a:pt x="555676" y="336330"/>
                    </a:cubicBezTo>
                    <a:cubicBezTo>
                      <a:pt x="533026" y="336330"/>
                      <a:pt x="515331" y="354961"/>
                      <a:pt x="515331" y="377175"/>
                    </a:cubicBezTo>
                    <a:cubicBezTo>
                      <a:pt x="515331" y="377891"/>
                      <a:pt x="515331" y="378608"/>
                      <a:pt x="515331" y="379325"/>
                    </a:cubicBezTo>
                    <a:cubicBezTo>
                      <a:pt x="506130" y="388640"/>
                      <a:pt x="498344" y="397956"/>
                      <a:pt x="490558" y="407988"/>
                    </a:cubicBezTo>
                    <a:cubicBezTo>
                      <a:pt x="486311" y="398672"/>
                      <a:pt x="484188" y="388640"/>
                      <a:pt x="484188" y="377175"/>
                    </a:cubicBezTo>
                    <a:cubicBezTo>
                      <a:pt x="484188" y="337046"/>
                      <a:pt x="516039" y="304800"/>
                      <a:pt x="555676" y="304800"/>
                    </a:cubicBezTo>
                    <a:close/>
                    <a:moveTo>
                      <a:pt x="1089384" y="233362"/>
                    </a:moveTo>
                    <a:cubicBezTo>
                      <a:pt x="1066414" y="233362"/>
                      <a:pt x="1047750" y="252026"/>
                      <a:pt x="1047750" y="274996"/>
                    </a:cubicBezTo>
                    <a:cubicBezTo>
                      <a:pt x="1047750" y="278585"/>
                      <a:pt x="1048468" y="282892"/>
                      <a:pt x="1049186" y="286481"/>
                    </a:cubicBezTo>
                    <a:cubicBezTo>
                      <a:pt x="1052775" y="296531"/>
                      <a:pt x="1059953" y="305863"/>
                      <a:pt x="1069285" y="310887"/>
                    </a:cubicBezTo>
                    <a:cubicBezTo>
                      <a:pt x="1075028" y="314476"/>
                      <a:pt x="1082206" y="315912"/>
                      <a:pt x="1089384" y="315912"/>
                    </a:cubicBezTo>
                    <a:cubicBezTo>
                      <a:pt x="1111637" y="315912"/>
                      <a:pt x="1130300" y="297249"/>
                      <a:pt x="1130300" y="274996"/>
                    </a:cubicBezTo>
                    <a:cubicBezTo>
                      <a:pt x="1130300" y="271407"/>
                      <a:pt x="1129582" y="267100"/>
                      <a:pt x="1128865" y="264229"/>
                    </a:cubicBezTo>
                    <a:cubicBezTo>
                      <a:pt x="1125993" y="253461"/>
                      <a:pt x="1118815" y="244130"/>
                      <a:pt x="1109483" y="239105"/>
                    </a:cubicBezTo>
                    <a:cubicBezTo>
                      <a:pt x="1103741" y="235516"/>
                      <a:pt x="1096562" y="233362"/>
                      <a:pt x="1089384" y="233362"/>
                    </a:cubicBezTo>
                    <a:close/>
                    <a:moveTo>
                      <a:pt x="15705" y="0"/>
                    </a:moveTo>
                    <a:cubicBezTo>
                      <a:pt x="15705" y="0"/>
                      <a:pt x="15705" y="0"/>
                      <a:pt x="1289220" y="0"/>
                    </a:cubicBezTo>
                    <a:cubicBezTo>
                      <a:pt x="1297787" y="0"/>
                      <a:pt x="1304925" y="6422"/>
                      <a:pt x="1304925" y="15698"/>
                    </a:cubicBezTo>
                    <a:cubicBezTo>
                      <a:pt x="1304925" y="15698"/>
                      <a:pt x="1304925" y="15698"/>
                      <a:pt x="1304925" y="916166"/>
                    </a:cubicBezTo>
                    <a:cubicBezTo>
                      <a:pt x="1304925" y="925441"/>
                      <a:pt x="1297787" y="931863"/>
                      <a:pt x="1289220" y="931863"/>
                    </a:cubicBezTo>
                    <a:cubicBezTo>
                      <a:pt x="1289220" y="931863"/>
                      <a:pt x="1289220" y="931863"/>
                      <a:pt x="1219977" y="931863"/>
                    </a:cubicBezTo>
                    <a:cubicBezTo>
                      <a:pt x="1219977" y="931863"/>
                      <a:pt x="1219977" y="931863"/>
                      <a:pt x="1189995" y="900468"/>
                    </a:cubicBezTo>
                    <a:cubicBezTo>
                      <a:pt x="1273516" y="900468"/>
                      <a:pt x="1273516" y="900468"/>
                      <a:pt x="1273516" y="900468"/>
                    </a:cubicBezTo>
                    <a:cubicBezTo>
                      <a:pt x="1273516" y="480916"/>
                      <a:pt x="1273516" y="264004"/>
                      <a:pt x="1273516" y="151267"/>
                    </a:cubicBezTo>
                    <a:cubicBezTo>
                      <a:pt x="1273516" y="151267"/>
                      <a:pt x="1273516" y="151267"/>
                      <a:pt x="1242106" y="175527"/>
                    </a:cubicBezTo>
                    <a:cubicBezTo>
                      <a:pt x="1242106" y="175527"/>
                      <a:pt x="1242106" y="175527"/>
                      <a:pt x="1154302" y="243312"/>
                    </a:cubicBezTo>
                    <a:cubicBezTo>
                      <a:pt x="1159299" y="253301"/>
                      <a:pt x="1161441" y="263291"/>
                      <a:pt x="1161441" y="274707"/>
                    </a:cubicBezTo>
                    <a:cubicBezTo>
                      <a:pt x="1161441" y="314664"/>
                      <a:pt x="1129317" y="346773"/>
                      <a:pt x="1089341" y="346773"/>
                    </a:cubicBezTo>
                    <a:cubicBezTo>
                      <a:pt x="1071495" y="346773"/>
                      <a:pt x="1055790" y="341065"/>
                      <a:pt x="1043655" y="331076"/>
                    </a:cubicBezTo>
                    <a:cubicBezTo>
                      <a:pt x="1043655" y="331076"/>
                      <a:pt x="1043655" y="331076"/>
                      <a:pt x="993685" y="371033"/>
                    </a:cubicBezTo>
                    <a:cubicBezTo>
                      <a:pt x="985833" y="363898"/>
                      <a:pt x="977980" y="356762"/>
                      <a:pt x="969414" y="349627"/>
                    </a:cubicBezTo>
                    <a:cubicBezTo>
                      <a:pt x="969414" y="349627"/>
                      <a:pt x="969414" y="349627"/>
                      <a:pt x="1024381" y="306102"/>
                    </a:cubicBezTo>
                    <a:cubicBezTo>
                      <a:pt x="1019384" y="296826"/>
                      <a:pt x="1016528" y="286123"/>
                      <a:pt x="1016528" y="274707"/>
                    </a:cubicBezTo>
                    <a:cubicBezTo>
                      <a:pt x="1016528" y="234750"/>
                      <a:pt x="1049365" y="201928"/>
                      <a:pt x="1089341" y="201928"/>
                    </a:cubicBezTo>
                    <a:cubicBezTo>
                      <a:pt x="1106474" y="201928"/>
                      <a:pt x="1122892" y="208349"/>
                      <a:pt x="1135028" y="219052"/>
                    </a:cubicBezTo>
                    <a:cubicBezTo>
                      <a:pt x="1135028" y="219052"/>
                      <a:pt x="1135028" y="219052"/>
                      <a:pt x="1242106" y="136283"/>
                    </a:cubicBezTo>
                    <a:cubicBezTo>
                      <a:pt x="1242106" y="136283"/>
                      <a:pt x="1242106" y="136283"/>
                      <a:pt x="1269946" y="114878"/>
                    </a:cubicBezTo>
                    <a:cubicBezTo>
                      <a:pt x="1270660" y="114164"/>
                      <a:pt x="1272088" y="113451"/>
                      <a:pt x="1273516" y="112737"/>
                    </a:cubicBezTo>
                    <a:cubicBezTo>
                      <a:pt x="1273516" y="31395"/>
                      <a:pt x="1273516" y="31395"/>
                      <a:pt x="1273516" y="31395"/>
                    </a:cubicBezTo>
                    <a:cubicBezTo>
                      <a:pt x="31410" y="31395"/>
                      <a:pt x="31410" y="31395"/>
                      <a:pt x="31410" y="31395"/>
                    </a:cubicBezTo>
                    <a:cubicBezTo>
                      <a:pt x="31410" y="406709"/>
                      <a:pt x="31410" y="620766"/>
                      <a:pt x="31410" y="741352"/>
                    </a:cubicBezTo>
                    <a:cubicBezTo>
                      <a:pt x="31410" y="741352"/>
                      <a:pt x="31410" y="741352"/>
                      <a:pt x="62819" y="726368"/>
                    </a:cubicBezTo>
                    <a:cubicBezTo>
                      <a:pt x="62819" y="726368"/>
                      <a:pt x="62819" y="726368"/>
                      <a:pt x="276976" y="623621"/>
                    </a:cubicBezTo>
                    <a:cubicBezTo>
                      <a:pt x="275548" y="617912"/>
                      <a:pt x="274834" y="612918"/>
                      <a:pt x="274834" y="607210"/>
                    </a:cubicBezTo>
                    <a:cubicBezTo>
                      <a:pt x="274834" y="567252"/>
                      <a:pt x="306957" y="534430"/>
                      <a:pt x="346933" y="534430"/>
                    </a:cubicBezTo>
                    <a:cubicBezTo>
                      <a:pt x="360496" y="534430"/>
                      <a:pt x="372632" y="537998"/>
                      <a:pt x="383340" y="543706"/>
                    </a:cubicBezTo>
                    <a:cubicBezTo>
                      <a:pt x="383340" y="543706"/>
                      <a:pt x="383340" y="543706"/>
                      <a:pt x="454725" y="465218"/>
                    </a:cubicBezTo>
                    <a:cubicBezTo>
                      <a:pt x="443304" y="489478"/>
                      <a:pt x="434737" y="514451"/>
                      <a:pt x="429026" y="540138"/>
                    </a:cubicBezTo>
                    <a:cubicBezTo>
                      <a:pt x="429026" y="540138"/>
                      <a:pt x="429026" y="540138"/>
                      <a:pt x="406183" y="565112"/>
                    </a:cubicBezTo>
                    <a:cubicBezTo>
                      <a:pt x="414749" y="577241"/>
                      <a:pt x="419746" y="591512"/>
                      <a:pt x="419746" y="607210"/>
                    </a:cubicBezTo>
                    <a:cubicBezTo>
                      <a:pt x="419746" y="647167"/>
                      <a:pt x="386909" y="679275"/>
                      <a:pt x="346933" y="679275"/>
                    </a:cubicBezTo>
                    <a:cubicBezTo>
                      <a:pt x="324090" y="679275"/>
                      <a:pt x="303388" y="668573"/>
                      <a:pt x="290539" y="651448"/>
                    </a:cubicBezTo>
                    <a:cubicBezTo>
                      <a:pt x="290539" y="651448"/>
                      <a:pt x="290539" y="651448"/>
                      <a:pt x="62819" y="761331"/>
                    </a:cubicBezTo>
                    <a:cubicBezTo>
                      <a:pt x="62819" y="761331"/>
                      <a:pt x="62819" y="761331"/>
                      <a:pt x="31410" y="776315"/>
                    </a:cubicBezTo>
                    <a:cubicBezTo>
                      <a:pt x="31410" y="900468"/>
                      <a:pt x="31410" y="900468"/>
                      <a:pt x="31410" y="900468"/>
                    </a:cubicBezTo>
                    <a:cubicBezTo>
                      <a:pt x="250563" y="900468"/>
                      <a:pt x="431168" y="900468"/>
                      <a:pt x="579650" y="900468"/>
                    </a:cubicBezTo>
                    <a:cubicBezTo>
                      <a:pt x="600351" y="913312"/>
                      <a:pt x="622481" y="924014"/>
                      <a:pt x="645324" y="931863"/>
                    </a:cubicBezTo>
                    <a:cubicBezTo>
                      <a:pt x="645324" y="931863"/>
                      <a:pt x="645324" y="931863"/>
                      <a:pt x="15705" y="931863"/>
                    </a:cubicBezTo>
                    <a:cubicBezTo>
                      <a:pt x="7139" y="931863"/>
                      <a:pt x="0" y="925441"/>
                      <a:pt x="0" y="916166"/>
                    </a:cubicBezTo>
                    <a:cubicBezTo>
                      <a:pt x="0" y="916166"/>
                      <a:pt x="0" y="916166"/>
                      <a:pt x="0" y="15698"/>
                    </a:cubicBezTo>
                    <a:cubicBezTo>
                      <a:pt x="0" y="6422"/>
                      <a:pt x="7139" y="0"/>
                      <a:pt x="15705"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89" name="Freeform 188"/>
              <p:cNvSpPr>
                <a:spLocks/>
              </p:cNvSpPr>
              <p:nvPr/>
            </p:nvSpPr>
            <p:spPr bwMode="auto">
              <a:xfrm>
                <a:off x="6697662" y="3179762"/>
                <a:ext cx="1181100" cy="654050"/>
              </a:xfrm>
              <a:custGeom>
                <a:avLst/>
                <a:gdLst>
                  <a:gd name="connsiteX0" fmla="*/ 363861 w 1181100"/>
                  <a:gd name="connsiteY0" fmla="*/ 458787 h 654050"/>
                  <a:gd name="connsiteX1" fmla="*/ 452503 w 1181100"/>
                  <a:gd name="connsiteY1" fmla="*/ 632593 h 654050"/>
                  <a:gd name="connsiteX2" fmla="*/ 474663 w 1181100"/>
                  <a:gd name="connsiteY2" fmla="*/ 654050 h 654050"/>
                  <a:gd name="connsiteX3" fmla="*/ 0 w 1181100"/>
                  <a:gd name="connsiteY3" fmla="*/ 654050 h 654050"/>
                  <a:gd name="connsiteX4" fmla="*/ 0 w 1181100"/>
                  <a:gd name="connsiteY4" fmla="*/ 581095 h 654050"/>
                  <a:gd name="connsiteX5" fmla="*/ 221605 w 1181100"/>
                  <a:gd name="connsiteY5" fmla="*/ 473807 h 654050"/>
                  <a:gd name="connsiteX6" fmla="*/ 284512 w 1181100"/>
                  <a:gd name="connsiteY6" fmla="*/ 495265 h 654050"/>
                  <a:gd name="connsiteX7" fmla="*/ 363861 w 1181100"/>
                  <a:gd name="connsiteY7" fmla="*/ 458787 h 654050"/>
                  <a:gd name="connsiteX8" fmla="*/ 881470 w 1181100"/>
                  <a:gd name="connsiteY8" fmla="*/ 250825 h 654050"/>
                  <a:gd name="connsiteX9" fmla="*/ 879327 w 1181100"/>
                  <a:gd name="connsiteY9" fmla="*/ 543393 h 654050"/>
                  <a:gd name="connsiteX10" fmla="*/ 859328 w 1181100"/>
                  <a:gd name="connsiteY10" fmla="*/ 564748 h 654050"/>
                  <a:gd name="connsiteX11" fmla="*/ 840757 w 1181100"/>
                  <a:gd name="connsiteY11" fmla="*/ 581121 h 654050"/>
                  <a:gd name="connsiteX12" fmla="*/ 840043 w 1181100"/>
                  <a:gd name="connsiteY12" fmla="*/ 581833 h 654050"/>
                  <a:gd name="connsiteX13" fmla="*/ 696476 w 1181100"/>
                  <a:gd name="connsiteY13" fmla="*/ 630238 h 654050"/>
                  <a:gd name="connsiteX14" fmla="*/ 526481 w 1181100"/>
                  <a:gd name="connsiteY14" fmla="*/ 558342 h 654050"/>
                  <a:gd name="connsiteX15" fmla="*/ 489339 w 1181100"/>
                  <a:gd name="connsiteY15" fmla="*/ 284993 h 654050"/>
                  <a:gd name="connsiteX16" fmla="*/ 586479 w 1181100"/>
                  <a:gd name="connsiteY16" fmla="*/ 331975 h 654050"/>
                  <a:gd name="connsiteX17" fmla="*/ 699333 w 1181100"/>
                  <a:gd name="connsiteY17" fmla="*/ 441599 h 654050"/>
                  <a:gd name="connsiteX18" fmla="*/ 805044 w 1181100"/>
                  <a:gd name="connsiteY18" fmla="*/ 368279 h 654050"/>
                  <a:gd name="connsiteX19" fmla="*/ 812901 w 1181100"/>
                  <a:gd name="connsiteY19" fmla="*/ 328416 h 654050"/>
                  <a:gd name="connsiteX20" fmla="*/ 811472 w 1181100"/>
                  <a:gd name="connsiteY20" fmla="*/ 314179 h 654050"/>
                  <a:gd name="connsiteX21" fmla="*/ 810758 w 1181100"/>
                  <a:gd name="connsiteY21" fmla="*/ 307061 h 654050"/>
                  <a:gd name="connsiteX22" fmla="*/ 815758 w 1181100"/>
                  <a:gd name="connsiteY22" fmla="*/ 302790 h 654050"/>
                  <a:gd name="connsiteX23" fmla="*/ 850043 w 1181100"/>
                  <a:gd name="connsiteY23" fmla="*/ 275739 h 654050"/>
                  <a:gd name="connsiteX24" fmla="*/ 881470 w 1181100"/>
                  <a:gd name="connsiteY24" fmla="*/ 250825 h 654050"/>
                  <a:gd name="connsiteX25" fmla="*/ 1181100 w 1181100"/>
                  <a:gd name="connsiteY25" fmla="*/ 0 h 654050"/>
                  <a:gd name="connsiteX26" fmla="*/ 1181100 w 1181100"/>
                  <a:gd name="connsiteY26" fmla="*/ 654050 h 654050"/>
                  <a:gd name="connsiteX27" fmla="*/ 1099004 w 1181100"/>
                  <a:gd name="connsiteY27" fmla="*/ 654050 h 654050"/>
                  <a:gd name="connsiteX28" fmla="*/ 1096863 w 1181100"/>
                  <a:gd name="connsiteY28" fmla="*/ 651908 h 654050"/>
                  <a:gd name="connsiteX29" fmla="*/ 1069022 w 1181100"/>
                  <a:gd name="connsiteY29" fmla="*/ 638342 h 654050"/>
                  <a:gd name="connsiteX30" fmla="*/ 1066166 w 1181100"/>
                  <a:gd name="connsiteY30" fmla="*/ 637628 h 654050"/>
                  <a:gd name="connsiteX31" fmla="*/ 1064024 w 1181100"/>
                  <a:gd name="connsiteY31" fmla="*/ 637628 h 654050"/>
                  <a:gd name="connsiteX32" fmla="*/ 1048319 w 1181100"/>
                  <a:gd name="connsiteY32" fmla="*/ 640484 h 654050"/>
                  <a:gd name="connsiteX33" fmla="*/ 1040466 w 1181100"/>
                  <a:gd name="connsiteY33" fmla="*/ 629773 h 654050"/>
                  <a:gd name="connsiteX34" fmla="*/ 986212 w 1181100"/>
                  <a:gd name="connsiteY34" fmla="*/ 573365 h 654050"/>
                  <a:gd name="connsiteX35" fmla="*/ 954087 w 1181100"/>
                  <a:gd name="connsiteY35" fmla="*/ 178507 h 654050"/>
                  <a:gd name="connsiteX36" fmla="*/ 985498 w 1181100"/>
                  <a:gd name="connsiteY36" fmla="*/ 153516 h 654050"/>
                  <a:gd name="connsiteX37" fmla="*/ 1028330 w 1181100"/>
                  <a:gd name="connsiteY37" fmla="*/ 162798 h 654050"/>
                  <a:gd name="connsiteX38" fmla="*/ 1131843 w 1181100"/>
                  <a:gd name="connsiteY38" fmla="*/ 59264 h 654050"/>
                  <a:gd name="connsiteX39" fmla="*/ 1129701 w 1181100"/>
                  <a:gd name="connsiteY39" fmla="*/ 39985 h 654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81100" h="654050">
                    <a:moveTo>
                      <a:pt x="363861" y="458787"/>
                    </a:moveTo>
                    <a:cubicBezTo>
                      <a:pt x="375299" y="521729"/>
                      <a:pt x="404608" y="582525"/>
                      <a:pt x="452503" y="632593"/>
                    </a:cubicBezTo>
                    <a:cubicBezTo>
                      <a:pt x="459651" y="640460"/>
                      <a:pt x="466800" y="647613"/>
                      <a:pt x="474663" y="654050"/>
                    </a:cubicBezTo>
                    <a:cubicBezTo>
                      <a:pt x="474663" y="654050"/>
                      <a:pt x="474663" y="654050"/>
                      <a:pt x="0" y="654050"/>
                    </a:cubicBezTo>
                    <a:cubicBezTo>
                      <a:pt x="0" y="654050"/>
                      <a:pt x="0" y="654050"/>
                      <a:pt x="0" y="581095"/>
                    </a:cubicBezTo>
                    <a:cubicBezTo>
                      <a:pt x="0" y="581095"/>
                      <a:pt x="0" y="581095"/>
                      <a:pt x="221605" y="473807"/>
                    </a:cubicBezTo>
                    <a:cubicBezTo>
                      <a:pt x="239476" y="487397"/>
                      <a:pt x="261637" y="495265"/>
                      <a:pt x="284512" y="495265"/>
                    </a:cubicBezTo>
                    <a:cubicBezTo>
                      <a:pt x="316681" y="495265"/>
                      <a:pt x="344560" y="480960"/>
                      <a:pt x="363861" y="458787"/>
                    </a:cubicBezTo>
                    <a:close/>
                    <a:moveTo>
                      <a:pt x="881470" y="250825"/>
                    </a:moveTo>
                    <a:cubicBezTo>
                      <a:pt x="948611" y="336246"/>
                      <a:pt x="949325" y="457972"/>
                      <a:pt x="879327" y="543393"/>
                    </a:cubicBezTo>
                    <a:cubicBezTo>
                      <a:pt x="873613" y="551223"/>
                      <a:pt x="866471" y="558342"/>
                      <a:pt x="859328" y="564748"/>
                    </a:cubicBezTo>
                    <a:cubicBezTo>
                      <a:pt x="852185" y="571867"/>
                      <a:pt x="846471" y="577562"/>
                      <a:pt x="840757" y="581121"/>
                    </a:cubicBezTo>
                    <a:cubicBezTo>
                      <a:pt x="840757" y="581121"/>
                      <a:pt x="840757" y="581121"/>
                      <a:pt x="840043" y="581833"/>
                    </a:cubicBezTo>
                    <a:cubicBezTo>
                      <a:pt x="799330" y="613154"/>
                      <a:pt x="747903" y="630238"/>
                      <a:pt x="696476" y="630238"/>
                    </a:cubicBezTo>
                    <a:cubicBezTo>
                      <a:pt x="631478" y="630238"/>
                      <a:pt x="571480" y="604612"/>
                      <a:pt x="526481" y="558342"/>
                    </a:cubicBezTo>
                    <a:cubicBezTo>
                      <a:pt x="455055" y="483598"/>
                      <a:pt x="442912" y="372550"/>
                      <a:pt x="489339" y="284993"/>
                    </a:cubicBezTo>
                    <a:cubicBezTo>
                      <a:pt x="489339" y="284993"/>
                      <a:pt x="489339" y="284993"/>
                      <a:pt x="586479" y="331975"/>
                    </a:cubicBezTo>
                    <a:cubicBezTo>
                      <a:pt x="588622" y="392482"/>
                      <a:pt x="638621" y="441599"/>
                      <a:pt x="699333" y="441599"/>
                    </a:cubicBezTo>
                    <a:cubicBezTo>
                      <a:pt x="747903" y="441599"/>
                      <a:pt x="789330" y="410990"/>
                      <a:pt x="805044" y="368279"/>
                    </a:cubicBezTo>
                    <a:cubicBezTo>
                      <a:pt x="810044" y="356178"/>
                      <a:pt x="812901" y="342653"/>
                      <a:pt x="812901" y="328416"/>
                    </a:cubicBezTo>
                    <a:cubicBezTo>
                      <a:pt x="812901" y="323433"/>
                      <a:pt x="812187" y="319162"/>
                      <a:pt x="811472" y="314179"/>
                    </a:cubicBezTo>
                    <a:cubicBezTo>
                      <a:pt x="811472" y="312043"/>
                      <a:pt x="811472" y="309196"/>
                      <a:pt x="810758" y="307061"/>
                    </a:cubicBezTo>
                    <a:cubicBezTo>
                      <a:pt x="810758" y="307061"/>
                      <a:pt x="810758" y="307061"/>
                      <a:pt x="815758" y="302790"/>
                    </a:cubicBezTo>
                    <a:cubicBezTo>
                      <a:pt x="820758" y="299230"/>
                      <a:pt x="830757" y="291400"/>
                      <a:pt x="850043" y="275739"/>
                    </a:cubicBezTo>
                    <a:cubicBezTo>
                      <a:pt x="857899" y="269333"/>
                      <a:pt x="868613" y="260791"/>
                      <a:pt x="881470" y="250825"/>
                    </a:cubicBezTo>
                    <a:close/>
                    <a:moveTo>
                      <a:pt x="1181100" y="0"/>
                    </a:moveTo>
                    <a:cubicBezTo>
                      <a:pt x="1181100" y="0"/>
                      <a:pt x="1181100" y="0"/>
                      <a:pt x="1181100" y="654050"/>
                    </a:cubicBezTo>
                    <a:cubicBezTo>
                      <a:pt x="1181100" y="654050"/>
                      <a:pt x="1181100" y="654050"/>
                      <a:pt x="1099004" y="654050"/>
                    </a:cubicBezTo>
                    <a:cubicBezTo>
                      <a:pt x="1099004" y="654050"/>
                      <a:pt x="1099004" y="654050"/>
                      <a:pt x="1096863" y="651908"/>
                    </a:cubicBezTo>
                    <a:cubicBezTo>
                      <a:pt x="1089724" y="644768"/>
                      <a:pt x="1079730" y="639770"/>
                      <a:pt x="1069022" y="638342"/>
                    </a:cubicBezTo>
                    <a:cubicBezTo>
                      <a:pt x="1069022" y="638342"/>
                      <a:pt x="1069022" y="638342"/>
                      <a:pt x="1066166" y="637628"/>
                    </a:cubicBezTo>
                    <a:cubicBezTo>
                      <a:pt x="1066166" y="637628"/>
                      <a:pt x="1066166" y="637628"/>
                      <a:pt x="1064024" y="637628"/>
                    </a:cubicBezTo>
                    <a:cubicBezTo>
                      <a:pt x="1058313" y="637628"/>
                      <a:pt x="1053316" y="638342"/>
                      <a:pt x="1048319" y="640484"/>
                    </a:cubicBezTo>
                    <a:cubicBezTo>
                      <a:pt x="1046177" y="636913"/>
                      <a:pt x="1043322" y="633343"/>
                      <a:pt x="1040466" y="629773"/>
                    </a:cubicBezTo>
                    <a:cubicBezTo>
                      <a:pt x="1040466" y="629773"/>
                      <a:pt x="1040466" y="629773"/>
                      <a:pt x="986212" y="573365"/>
                    </a:cubicBezTo>
                    <a:cubicBezTo>
                      <a:pt x="1061169" y="448410"/>
                      <a:pt x="1048319" y="289181"/>
                      <a:pt x="954087" y="178507"/>
                    </a:cubicBezTo>
                    <a:cubicBezTo>
                      <a:pt x="954087" y="178507"/>
                      <a:pt x="954087" y="178507"/>
                      <a:pt x="985498" y="153516"/>
                    </a:cubicBezTo>
                    <a:cubicBezTo>
                      <a:pt x="998348" y="159942"/>
                      <a:pt x="1013339" y="162798"/>
                      <a:pt x="1028330" y="162798"/>
                    </a:cubicBezTo>
                    <a:cubicBezTo>
                      <a:pt x="1085441" y="162798"/>
                      <a:pt x="1131843" y="116386"/>
                      <a:pt x="1131843" y="59264"/>
                    </a:cubicBezTo>
                    <a:cubicBezTo>
                      <a:pt x="1131843" y="52838"/>
                      <a:pt x="1131129" y="45698"/>
                      <a:pt x="1129701" y="39985"/>
                    </a:cubicBezTo>
                    <a:close/>
                  </a:path>
                </a:pathLst>
              </a:custGeom>
              <a:solidFill>
                <a:schemeClr val="tx2"/>
              </a:solidFill>
              <a:ln>
                <a:noFill/>
              </a:ln>
            </p:spPr>
            <p:txBody>
              <a:bodyPr vert="horz" wrap="square" lIns="91440" tIns="45720" rIns="91440" bIns="45720" numCol="1" anchor="t" anchorCtr="0" compatLnSpc="1">
                <a:prstTxWarp prst="textNoShape">
                  <a:avLst/>
                </a:prstTxWarp>
                <a:noAutofit/>
              </a:bodyPr>
              <a:lstStyle/>
              <a:p>
                <a:endParaRPr lang="en-US"/>
              </a:p>
            </p:txBody>
          </p:sp>
        </p:grpSp>
      </p:grpSp>
      <p:grpSp>
        <p:nvGrpSpPr>
          <p:cNvPr id="190" name="Group 189"/>
          <p:cNvGrpSpPr>
            <a:grpSpLocks noChangeAspect="1"/>
          </p:cNvGrpSpPr>
          <p:nvPr/>
        </p:nvGrpSpPr>
        <p:grpSpPr>
          <a:xfrm>
            <a:off x="714552" y="2741288"/>
            <a:ext cx="430625" cy="431024"/>
            <a:chOff x="5273799" y="2606040"/>
            <a:chExt cx="1644396" cy="1645920"/>
          </a:xfrm>
        </p:grpSpPr>
        <p:sp>
          <p:nvSpPr>
            <p:cNvPr id="191" name="AutoShape 13">
              <a:extLst>
                <a:ext uri="{FF2B5EF4-FFF2-40B4-BE49-F238E27FC236}">
                  <a16:creationId xmlns:a16="http://schemas.microsoft.com/office/drawing/2014/main" id="{A6B62B7F-B1B2-4803-95E8-2DB8A96A0D98}"/>
                </a:ext>
              </a:extLst>
            </p:cNvPr>
            <p:cNvSpPr>
              <a:spLocks noChangeAspect="1" noChangeArrowheads="1" noTextEdit="1"/>
            </p:cNvSpPr>
            <p:nvPr/>
          </p:nvSpPr>
          <p:spPr bwMode="auto">
            <a:xfrm>
              <a:off x="5273799" y="2606040"/>
              <a:ext cx="1644396" cy="1645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192" name="Group 191"/>
            <p:cNvGrpSpPr/>
            <p:nvPr/>
          </p:nvGrpSpPr>
          <p:grpSpPr>
            <a:xfrm>
              <a:off x="5407149" y="2775204"/>
              <a:ext cx="1379220" cy="1306068"/>
              <a:chOff x="5407149" y="2775204"/>
              <a:chExt cx="1379220" cy="1306068"/>
            </a:xfrm>
          </p:grpSpPr>
          <p:sp>
            <p:nvSpPr>
              <p:cNvPr id="193" name="Freeform 15">
                <a:extLst>
                  <a:ext uri="{FF2B5EF4-FFF2-40B4-BE49-F238E27FC236}">
                    <a16:creationId xmlns:a16="http://schemas.microsoft.com/office/drawing/2014/main" id="{C49F8F87-804D-4785-B3FF-71E118F98807}"/>
                  </a:ext>
                </a:extLst>
              </p:cNvPr>
              <p:cNvSpPr>
                <a:spLocks noEditPoints="1"/>
              </p:cNvSpPr>
              <p:nvPr/>
            </p:nvSpPr>
            <p:spPr bwMode="auto">
              <a:xfrm>
                <a:off x="5602983" y="3357372"/>
                <a:ext cx="987552" cy="308229"/>
              </a:xfrm>
              <a:custGeom>
                <a:avLst/>
                <a:gdLst>
                  <a:gd name="T0" fmla="*/ 10 w 1384"/>
                  <a:gd name="T1" fmla="*/ 183 h 431"/>
                  <a:gd name="T2" fmla="*/ 0 w 1384"/>
                  <a:gd name="T3" fmla="*/ 10 h 431"/>
                  <a:gd name="T4" fmla="*/ 292 w 1384"/>
                  <a:gd name="T5" fmla="*/ 0 h 431"/>
                  <a:gd name="T6" fmla="*/ 302 w 1384"/>
                  <a:gd name="T7" fmla="*/ 173 h 431"/>
                  <a:gd name="T8" fmla="*/ 662 w 1384"/>
                  <a:gd name="T9" fmla="*/ 173 h 431"/>
                  <a:gd name="T10" fmla="*/ 652 w 1384"/>
                  <a:gd name="T11" fmla="*/ 0 h 431"/>
                  <a:gd name="T12" fmla="*/ 361 w 1384"/>
                  <a:gd name="T13" fmla="*/ 10 h 431"/>
                  <a:gd name="T14" fmla="*/ 371 w 1384"/>
                  <a:gd name="T15" fmla="*/ 183 h 431"/>
                  <a:gd name="T16" fmla="*/ 662 w 1384"/>
                  <a:gd name="T17" fmla="*/ 173 h 431"/>
                  <a:gd name="T18" fmla="*/ 1023 w 1384"/>
                  <a:gd name="T19" fmla="*/ 10 h 431"/>
                  <a:gd name="T20" fmla="*/ 732 w 1384"/>
                  <a:gd name="T21" fmla="*/ 0 h 431"/>
                  <a:gd name="T22" fmla="*/ 722 w 1384"/>
                  <a:gd name="T23" fmla="*/ 173 h 431"/>
                  <a:gd name="T24" fmla="*/ 1013 w 1384"/>
                  <a:gd name="T25" fmla="*/ 183 h 431"/>
                  <a:gd name="T26" fmla="*/ 1384 w 1384"/>
                  <a:gd name="T27" fmla="*/ 173 h 431"/>
                  <a:gd name="T28" fmla="*/ 1374 w 1384"/>
                  <a:gd name="T29" fmla="*/ 0 h 431"/>
                  <a:gd name="T30" fmla="*/ 1082 w 1384"/>
                  <a:gd name="T31" fmla="*/ 10 h 431"/>
                  <a:gd name="T32" fmla="*/ 1092 w 1384"/>
                  <a:gd name="T33" fmla="*/ 183 h 431"/>
                  <a:gd name="T34" fmla="*/ 1384 w 1384"/>
                  <a:gd name="T35" fmla="*/ 173 h 431"/>
                  <a:gd name="T36" fmla="*/ 302 w 1384"/>
                  <a:gd name="T37" fmla="*/ 258 h 431"/>
                  <a:gd name="T38" fmla="*/ 10 w 1384"/>
                  <a:gd name="T39" fmla="*/ 248 h 431"/>
                  <a:gd name="T40" fmla="*/ 0 w 1384"/>
                  <a:gd name="T41" fmla="*/ 421 h 431"/>
                  <a:gd name="T42" fmla="*/ 292 w 1384"/>
                  <a:gd name="T43" fmla="*/ 431 h 431"/>
                  <a:gd name="T44" fmla="*/ 662 w 1384"/>
                  <a:gd name="T45" fmla="*/ 421 h 431"/>
                  <a:gd name="T46" fmla="*/ 652 w 1384"/>
                  <a:gd name="T47" fmla="*/ 248 h 431"/>
                  <a:gd name="T48" fmla="*/ 361 w 1384"/>
                  <a:gd name="T49" fmla="*/ 258 h 431"/>
                  <a:gd name="T50" fmla="*/ 371 w 1384"/>
                  <a:gd name="T51" fmla="*/ 431 h 431"/>
                  <a:gd name="T52" fmla="*/ 662 w 1384"/>
                  <a:gd name="T53" fmla="*/ 421 h 431"/>
                  <a:gd name="T54" fmla="*/ 1023 w 1384"/>
                  <a:gd name="T55" fmla="*/ 258 h 431"/>
                  <a:gd name="T56" fmla="*/ 732 w 1384"/>
                  <a:gd name="T57" fmla="*/ 248 h 431"/>
                  <a:gd name="T58" fmla="*/ 722 w 1384"/>
                  <a:gd name="T59" fmla="*/ 421 h 431"/>
                  <a:gd name="T60" fmla="*/ 1013 w 1384"/>
                  <a:gd name="T61" fmla="*/ 431 h 431"/>
                  <a:gd name="T62" fmla="*/ 1384 w 1384"/>
                  <a:gd name="T63" fmla="*/ 421 h 431"/>
                  <a:gd name="T64" fmla="*/ 1374 w 1384"/>
                  <a:gd name="T65" fmla="*/ 248 h 431"/>
                  <a:gd name="T66" fmla="*/ 1082 w 1384"/>
                  <a:gd name="T67" fmla="*/ 258 h 431"/>
                  <a:gd name="T68" fmla="*/ 1092 w 1384"/>
                  <a:gd name="T69" fmla="*/ 431 h 431"/>
                  <a:gd name="T70" fmla="*/ 1384 w 1384"/>
                  <a:gd name="T71" fmla="*/ 421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84" h="431">
                    <a:moveTo>
                      <a:pt x="292" y="183"/>
                    </a:moveTo>
                    <a:cubicBezTo>
                      <a:pt x="10" y="183"/>
                      <a:pt x="10" y="183"/>
                      <a:pt x="10" y="183"/>
                    </a:cubicBezTo>
                    <a:cubicBezTo>
                      <a:pt x="4" y="183"/>
                      <a:pt x="0" y="179"/>
                      <a:pt x="0" y="173"/>
                    </a:cubicBezTo>
                    <a:cubicBezTo>
                      <a:pt x="0" y="10"/>
                      <a:pt x="0" y="10"/>
                      <a:pt x="0" y="10"/>
                    </a:cubicBezTo>
                    <a:cubicBezTo>
                      <a:pt x="0" y="5"/>
                      <a:pt x="4" y="0"/>
                      <a:pt x="10" y="0"/>
                    </a:cubicBezTo>
                    <a:cubicBezTo>
                      <a:pt x="292" y="0"/>
                      <a:pt x="292" y="0"/>
                      <a:pt x="292" y="0"/>
                    </a:cubicBezTo>
                    <a:cubicBezTo>
                      <a:pt x="297" y="0"/>
                      <a:pt x="302" y="5"/>
                      <a:pt x="302" y="10"/>
                    </a:cubicBezTo>
                    <a:cubicBezTo>
                      <a:pt x="302" y="173"/>
                      <a:pt x="302" y="173"/>
                      <a:pt x="302" y="173"/>
                    </a:cubicBezTo>
                    <a:cubicBezTo>
                      <a:pt x="302" y="179"/>
                      <a:pt x="297" y="183"/>
                      <a:pt x="292" y="183"/>
                    </a:cubicBezTo>
                    <a:close/>
                    <a:moveTo>
                      <a:pt x="662" y="173"/>
                    </a:moveTo>
                    <a:cubicBezTo>
                      <a:pt x="662" y="10"/>
                      <a:pt x="662" y="10"/>
                      <a:pt x="662" y="10"/>
                    </a:cubicBezTo>
                    <a:cubicBezTo>
                      <a:pt x="662" y="5"/>
                      <a:pt x="658" y="0"/>
                      <a:pt x="652" y="0"/>
                    </a:cubicBezTo>
                    <a:cubicBezTo>
                      <a:pt x="371" y="0"/>
                      <a:pt x="371" y="0"/>
                      <a:pt x="371" y="0"/>
                    </a:cubicBezTo>
                    <a:cubicBezTo>
                      <a:pt x="365" y="0"/>
                      <a:pt x="361" y="5"/>
                      <a:pt x="361" y="10"/>
                    </a:cubicBezTo>
                    <a:cubicBezTo>
                      <a:pt x="361" y="173"/>
                      <a:pt x="361" y="173"/>
                      <a:pt x="361" y="173"/>
                    </a:cubicBezTo>
                    <a:cubicBezTo>
                      <a:pt x="361" y="179"/>
                      <a:pt x="365" y="183"/>
                      <a:pt x="371" y="183"/>
                    </a:cubicBezTo>
                    <a:cubicBezTo>
                      <a:pt x="652" y="183"/>
                      <a:pt x="652" y="183"/>
                      <a:pt x="652" y="183"/>
                    </a:cubicBezTo>
                    <a:cubicBezTo>
                      <a:pt x="658" y="183"/>
                      <a:pt x="662" y="179"/>
                      <a:pt x="662" y="173"/>
                    </a:cubicBezTo>
                    <a:close/>
                    <a:moveTo>
                      <a:pt x="1023" y="173"/>
                    </a:moveTo>
                    <a:cubicBezTo>
                      <a:pt x="1023" y="10"/>
                      <a:pt x="1023" y="10"/>
                      <a:pt x="1023" y="10"/>
                    </a:cubicBezTo>
                    <a:cubicBezTo>
                      <a:pt x="1023" y="5"/>
                      <a:pt x="1019" y="0"/>
                      <a:pt x="1013" y="0"/>
                    </a:cubicBezTo>
                    <a:cubicBezTo>
                      <a:pt x="732" y="0"/>
                      <a:pt x="732" y="0"/>
                      <a:pt x="732" y="0"/>
                    </a:cubicBezTo>
                    <a:cubicBezTo>
                      <a:pt x="726" y="0"/>
                      <a:pt x="722" y="5"/>
                      <a:pt x="722" y="10"/>
                    </a:cubicBezTo>
                    <a:cubicBezTo>
                      <a:pt x="722" y="173"/>
                      <a:pt x="722" y="173"/>
                      <a:pt x="722" y="173"/>
                    </a:cubicBezTo>
                    <a:cubicBezTo>
                      <a:pt x="722" y="179"/>
                      <a:pt x="726" y="183"/>
                      <a:pt x="732" y="183"/>
                    </a:cubicBezTo>
                    <a:cubicBezTo>
                      <a:pt x="1013" y="183"/>
                      <a:pt x="1013" y="183"/>
                      <a:pt x="1013" y="183"/>
                    </a:cubicBezTo>
                    <a:cubicBezTo>
                      <a:pt x="1019" y="183"/>
                      <a:pt x="1023" y="179"/>
                      <a:pt x="1023" y="173"/>
                    </a:cubicBezTo>
                    <a:close/>
                    <a:moveTo>
                      <a:pt x="1384" y="173"/>
                    </a:moveTo>
                    <a:cubicBezTo>
                      <a:pt x="1384" y="10"/>
                      <a:pt x="1384" y="10"/>
                      <a:pt x="1384" y="10"/>
                    </a:cubicBezTo>
                    <a:cubicBezTo>
                      <a:pt x="1384" y="5"/>
                      <a:pt x="1380" y="0"/>
                      <a:pt x="1374" y="0"/>
                    </a:cubicBezTo>
                    <a:cubicBezTo>
                      <a:pt x="1092" y="0"/>
                      <a:pt x="1092" y="0"/>
                      <a:pt x="1092" y="0"/>
                    </a:cubicBezTo>
                    <a:cubicBezTo>
                      <a:pt x="1087" y="0"/>
                      <a:pt x="1082" y="5"/>
                      <a:pt x="1082" y="10"/>
                    </a:cubicBezTo>
                    <a:cubicBezTo>
                      <a:pt x="1082" y="173"/>
                      <a:pt x="1082" y="173"/>
                      <a:pt x="1082" y="173"/>
                    </a:cubicBezTo>
                    <a:cubicBezTo>
                      <a:pt x="1082" y="179"/>
                      <a:pt x="1087" y="183"/>
                      <a:pt x="1092" y="183"/>
                    </a:cubicBezTo>
                    <a:cubicBezTo>
                      <a:pt x="1374" y="183"/>
                      <a:pt x="1374" y="183"/>
                      <a:pt x="1374" y="183"/>
                    </a:cubicBezTo>
                    <a:cubicBezTo>
                      <a:pt x="1380" y="183"/>
                      <a:pt x="1384" y="179"/>
                      <a:pt x="1384" y="173"/>
                    </a:cubicBezTo>
                    <a:close/>
                    <a:moveTo>
                      <a:pt x="302" y="421"/>
                    </a:moveTo>
                    <a:cubicBezTo>
                      <a:pt x="302" y="258"/>
                      <a:pt x="302" y="258"/>
                      <a:pt x="302" y="258"/>
                    </a:cubicBezTo>
                    <a:cubicBezTo>
                      <a:pt x="302" y="253"/>
                      <a:pt x="297" y="248"/>
                      <a:pt x="292" y="248"/>
                    </a:cubicBezTo>
                    <a:cubicBezTo>
                      <a:pt x="10" y="248"/>
                      <a:pt x="10" y="248"/>
                      <a:pt x="10" y="248"/>
                    </a:cubicBezTo>
                    <a:cubicBezTo>
                      <a:pt x="4" y="248"/>
                      <a:pt x="0" y="253"/>
                      <a:pt x="0" y="258"/>
                    </a:cubicBezTo>
                    <a:cubicBezTo>
                      <a:pt x="0" y="421"/>
                      <a:pt x="0" y="421"/>
                      <a:pt x="0" y="421"/>
                    </a:cubicBezTo>
                    <a:cubicBezTo>
                      <a:pt x="0" y="427"/>
                      <a:pt x="4" y="431"/>
                      <a:pt x="10" y="431"/>
                    </a:cubicBezTo>
                    <a:cubicBezTo>
                      <a:pt x="292" y="431"/>
                      <a:pt x="292" y="431"/>
                      <a:pt x="292" y="431"/>
                    </a:cubicBezTo>
                    <a:cubicBezTo>
                      <a:pt x="297" y="431"/>
                      <a:pt x="302" y="427"/>
                      <a:pt x="302" y="421"/>
                    </a:cubicBezTo>
                    <a:close/>
                    <a:moveTo>
                      <a:pt x="662" y="421"/>
                    </a:moveTo>
                    <a:cubicBezTo>
                      <a:pt x="662" y="258"/>
                      <a:pt x="662" y="258"/>
                      <a:pt x="662" y="258"/>
                    </a:cubicBezTo>
                    <a:cubicBezTo>
                      <a:pt x="662" y="253"/>
                      <a:pt x="658" y="248"/>
                      <a:pt x="652" y="248"/>
                    </a:cubicBezTo>
                    <a:cubicBezTo>
                      <a:pt x="371" y="248"/>
                      <a:pt x="371" y="248"/>
                      <a:pt x="371" y="248"/>
                    </a:cubicBezTo>
                    <a:cubicBezTo>
                      <a:pt x="365" y="248"/>
                      <a:pt x="361" y="253"/>
                      <a:pt x="361" y="258"/>
                    </a:cubicBezTo>
                    <a:cubicBezTo>
                      <a:pt x="361" y="421"/>
                      <a:pt x="361" y="421"/>
                      <a:pt x="361" y="421"/>
                    </a:cubicBezTo>
                    <a:cubicBezTo>
                      <a:pt x="361" y="427"/>
                      <a:pt x="365" y="431"/>
                      <a:pt x="371" y="431"/>
                    </a:cubicBezTo>
                    <a:cubicBezTo>
                      <a:pt x="652" y="431"/>
                      <a:pt x="652" y="431"/>
                      <a:pt x="652" y="431"/>
                    </a:cubicBezTo>
                    <a:cubicBezTo>
                      <a:pt x="658" y="431"/>
                      <a:pt x="662" y="427"/>
                      <a:pt x="662" y="421"/>
                    </a:cubicBezTo>
                    <a:close/>
                    <a:moveTo>
                      <a:pt x="1023" y="421"/>
                    </a:moveTo>
                    <a:cubicBezTo>
                      <a:pt x="1023" y="258"/>
                      <a:pt x="1023" y="258"/>
                      <a:pt x="1023" y="258"/>
                    </a:cubicBezTo>
                    <a:cubicBezTo>
                      <a:pt x="1023" y="253"/>
                      <a:pt x="1019" y="248"/>
                      <a:pt x="1013" y="248"/>
                    </a:cubicBezTo>
                    <a:cubicBezTo>
                      <a:pt x="732" y="248"/>
                      <a:pt x="732" y="248"/>
                      <a:pt x="732" y="248"/>
                    </a:cubicBezTo>
                    <a:cubicBezTo>
                      <a:pt x="726" y="248"/>
                      <a:pt x="722" y="253"/>
                      <a:pt x="722" y="258"/>
                    </a:cubicBezTo>
                    <a:cubicBezTo>
                      <a:pt x="722" y="421"/>
                      <a:pt x="722" y="421"/>
                      <a:pt x="722" y="421"/>
                    </a:cubicBezTo>
                    <a:cubicBezTo>
                      <a:pt x="722" y="427"/>
                      <a:pt x="726" y="431"/>
                      <a:pt x="732" y="431"/>
                    </a:cubicBezTo>
                    <a:cubicBezTo>
                      <a:pt x="1013" y="431"/>
                      <a:pt x="1013" y="431"/>
                      <a:pt x="1013" y="431"/>
                    </a:cubicBezTo>
                    <a:cubicBezTo>
                      <a:pt x="1019" y="431"/>
                      <a:pt x="1023" y="427"/>
                      <a:pt x="1023" y="421"/>
                    </a:cubicBezTo>
                    <a:close/>
                    <a:moveTo>
                      <a:pt x="1384" y="421"/>
                    </a:moveTo>
                    <a:cubicBezTo>
                      <a:pt x="1384" y="258"/>
                      <a:pt x="1384" y="258"/>
                      <a:pt x="1384" y="258"/>
                    </a:cubicBezTo>
                    <a:cubicBezTo>
                      <a:pt x="1384" y="253"/>
                      <a:pt x="1380" y="248"/>
                      <a:pt x="1374" y="248"/>
                    </a:cubicBezTo>
                    <a:cubicBezTo>
                      <a:pt x="1092" y="248"/>
                      <a:pt x="1092" y="248"/>
                      <a:pt x="1092" y="248"/>
                    </a:cubicBezTo>
                    <a:cubicBezTo>
                      <a:pt x="1087" y="248"/>
                      <a:pt x="1082" y="253"/>
                      <a:pt x="1082" y="258"/>
                    </a:cubicBezTo>
                    <a:cubicBezTo>
                      <a:pt x="1082" y="421"/>
                      <a:pt x="1082" y="421"/>
                      <a:pt x="1082" y="421"/>
                    </a:cubicBezTo>
                    <a:cubicBezTo>
                      <a:pt x="1082" y="427"/>
                      <a:pt x="1087" y="431"/>
                      <a:pt x="1092" y="431"/>
                    </a:cubicBezTo>
                    <a:cubicBezTo>
                      <a:pt x="1374" y="431"/>
                      <a:pt x="1374" y="431"/>
                      <a:pt x="1374" y="431"/>
                    </a:cubicBezTo>
                    <a:cubicBezTo>
                      <a:pt x="1380" y="431"/>
                      <a:pt x="1384" y="427"/>
                      <a:pt x="1384" y="421"/>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 name="Freeform 16">
                <a:extLst>
                  <a:ext uri="{FF2B5EF4-FFF2-40B4-BE49-F238E27FC236}">
                    <a16:creationId xmlns:a16="http://schemas.microsoft.com/office/drawing/2014/main" id="{D5D864F2-D4FC-4684-89BF-B212682AA995}"/>
                  </a:ext>
                </a:extLst>
              </p:cNvPr>
              <p:cNvSpPr>
                <a:spLocks noEditPoints="1"/>
              </p:cNvSpPr>
              <p:nvPr/>
            </p:nvSpPr>
            <p:spPr bwMode="auto">
              <a:xfrm>
                <a:off x="5407149" y="2775204"/>
                <a:ext cx="1379220" cy="1306068"/>
              </a:xfrm>
              <a:custGeom>
                <a:avLst/>
                <a:gdLst>
                  <a:gd name="T0" fmla="*/ 1687 w 1932"/>
                  <a:gd name="T1" fmla="*/ 15 h 1828"/>
                  <a:gd name="T2" fmla="*/ 1735 w 1932"/>
                  <a:gd name="T3" fmla="*/ 587 h 1828"/>
                  <a:gd name="T4" fmla="*/ 1719 w 1932"/>
                  <a:gd name="T5" fmla="*/ 604 h 1828"/>
                  <a:gd name="T6" fmla="*/ 1417 w 1932"/>
                  <a:gd name="T7" fmla="*/ 604 h 1828"/>
                  <a:gd name="T8" fmla="*/ 1401 w 1932"/>
                  <a:gd name="T9" fmla="*/ 587 h 1828"/>
                  <a:gd name="T10" fmla="*/ 1449 w 1932"/>
                  <a:gd name="T11" fmla="*/ 15 h 1828"/>
                  <a:gd name="T12" fmla="*/ 1465 w 1932"/>
                  <a:gd name="T13" fmla="*/ 0 h 1828"/>
                  <a:gd name="T14" fmla="*/ 1671 w 1932"/>
                  <a:gd name="T15" fmla="*/ 0 h 1828"/>
                  <a:gd name="T16" fmla="*/ 1687 w 1932"/>
                  <a:gd name="T17" fmla="*/ 15 h 1828"/>
                  <a:gd name="T18" fmla="*/ 1932 w 1932"/>
                  <a:gd name="T19" fmla="*/ 1706 h 1828"/>
                  <a:gd name="T20" fmla="*/ 1932 w 1932"/>
                  <a:gd name="T21" fmla="*/ 1806 h 1828"/>
                  <a:gd name="T22" fmla="*/ 1910 w 1932"/>
                  <a:gd name="T23" fmla="*/ 1828 h 1828"/>
                  <a:gd name="T24" fmla="*/ 22 w 1932"/>
                  <a:gd name="T25" fmla="*/ 1828 h 1828"/>
                  <a:gd name="T26" fmla="*/ 0 w 1932"/>
                  <a:gd name="T27" fmla="*/ 1806 h 1828"/>
                  <a:gd name="T28" fmla="*/ 0 w 1932"/>
                  <a:gd name="T29" fmla="*/ 1706 h 1828"/>
                  <a:gd name="T30" fmla="*/ 22 w 1932"/>
                  <a:gd name="T31" fmla="*/ 1684 h 1828"/>
                  <a:gd name="T32" fmla="*/ 98 w 1932"/>
                  <a:gd name="T33" fmla="*/ 1684 h 1828"/>
                  <a:gd name="T34" fmla="*/ 98 w 1932"/>
                  <a:gd name="T35" fmla="*/ 1647 h 1828"/>
                  <a:gd name="T36" fmla="*/ 120 w 1932"/>
                  <a:gd name="T37" fmla="*/ 1625 h 1828"/>
                  <a:gd name="T38" fmla="*/ 1812 w 1932"/>
                  <a:gd name="T39" fmla="*/ 1625 h 1828"/>
                  <a:gd name="T40" fmla="*/ 1834 w 1932"/>
                  <a:gd name="T41" fmla="*/ 1647 h 1828"/>
                  <a:gd name="T42" fmla="*/ 1834 w 1932"/>
                  <a:gd name="T43" fmla="*/ 1684 h 1828"/>
                  <a:gd name="T44" fmla="*/ 1910 w 1932"/>
                  <a:gd name="T45" fmla="*/ 1684 h 1828"/>
                  <a:gd name="T46" fmla="*/ 1932 w 1932"/>
                  <a:gd name="T47" fmla="*/ 1706 h 1828"/>
                  <a:gd name="T48" fmla="*/ 1812 w 1932"/>
                  <a:gd name="T49" fmla="*/ 670 h 1828"/>
                  <a:gd name="T50" fmla="*/ 1790 w 1932"/>
                  <a:gd name="T51" fmla="*/ 648 h 1828"/>
                  <a:gd name="T52" fmla="*/ 1286 w 1932"/>
                  <a:gd name="T53" fmla="*/ 648 h 1828"/>
                  <a:gd name="T54" fmla="*/ 713 w 1932"/>
                  <a:gd name="T55" fmla="*/ 459 h 1828"/>
                  <a:gd name="T56" fmla="*/ 693 w 1932"/>
                  <a:gd name="T57" fmla="*/ 462 h 1828"/>
                  <a:gd name="T58" fmla="*/ 684 w 1932"/>
                  <a:gd name="T59" fmla="*/ 480 h 1828"/>
                  <a:gd name="T60" fmla="*/ 684 w 1932"/>
                  <a:gd name="T61" fmla="*/ 638 h 1828"/>
                  <a:gd name="T62" fmla="*/ 147 w 1932"/>
                  <a:gd name="T63" fmla="*/ 459 h 1828"/>
                  <a:gd name="T64" fmla="*/ 127 w 1932"/>
                  <a:gd name="T65" fmla="*/ 462 h 1828"/>
                  <a:gd name="T66" fmla="*/ 118 w 1932"/>
                  <a:gd name="T67" fmla="*/ 480 h 1828"/>
                  <a:gd name="T68" fmla="*/ 118 w 1932"/>
                  <a:gd name="T69" fmla="*/ 1581 h 1828"/>
                  <a:gd name="T70" fmla="*/ 162 w 1932"/>
                  <a:gd name="T71" fmla="*/ 1581 h 1828"/>
                  <a:gd name="T72" fmla="*/ 162 w 1932"/>
                  <a:gd name="T73" fmla="*/ 510 h 1828"/>
                  <a:gd name="T74" fmla="*/ 699 w 1932"/>
                  <a:gd name="T75" fmla="*/ 689 h 1828"/>
                  <a:gd name="T76" fmla="*/ 719 w 1932"/>
                  <a:gd name="T77" fmla="*/ 686 h 1828"/>
                  <a:gd name="T78" fmla="*/ 728 w 1932"/>
                  <a:gd name="T79" fmla="*/ 668 h 1828"/>
                  <a:gd name="T80" fmla="*/ 728 w 1932"/>
                  <a:gd name="T81" fmla="*/ 510 h 1828"/>
                  <a:gd name="T82" fmla="*/ 1275 w 1932"/>
                  <a:gd name="T83" fmla="*/ 691 h 1828"/>
                  <a:gd name="T84" fmla="*/ 1282 w 1932"/>
                  <a:gd name="T85" fmla="*/ 692 h 1828"/>
                  <a:gd name="T86" fmla="*/ 1768 w 1932"/>
                  <a:gd name="T87" fmla="*/ 692 h 1828"/>
                  <a:gd name="T88" fmla="*/ 1768 w 1932"/>
                  <a:gd name="T89" fmla="*/ 1581 h 1828"/>
                  <a:gd name="T90" fmla="*/ 1812 w 1932"/>
                  <a:gd name="T91" fmla="*/ 1581 h 1828"/>
                  <a:gd name="T92" fmla="*/ 1812 w 1932"/>
                  <a:gd name="T93" fmla="*/ 670 h 1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32" h="1828">
                    <a:moveTo>
                      <a:pt x="1687" y="15"/>
                    </a:moveTo>
                    <a:cubicBezTo>
                      <a:pt x="1735" y="587"/>
                      <a:pt x="1735" y="587"/>
                      <a:pt x="1735" y="587"/>
                    </a:cubicBezTo>
                    <a:cubicBezTo>
                      <a:pt x="1736" y="596"/>
                      <a:pt x="1728" y="604"/>
                      <a:pt x="1719" y="604"/>
                    </a:cubicBezTo>
                    <a:cubicBezTo>
                      <a:pt x="1417" y="604"/>
                      <a:pt x="1417" y="604"/>
                      <a:pt x="1417" y="604"/>
                    </a:cubicBezTo>
                    <a:cubicBezTo>
                      <a:pt x="1407" y="604"/>
                      <a:pt x="1400" y="596"/>
                      <a:pt x="1401" y="587"/>
                    </a:cubicBezTo>
                    <a:cubicBezTo>
                      <a:pt x="1449" y="15"/>
                      <a:pt x="1449" y="15"/>
                      <a:pt x="1449" y="15"/>
                    </a:cubicBezTo>
                    <a:cubicBezTo>
                      <a:pt x="1450" y="6"/>
                      <a:pt x="1457" y="0"/>
                      <a:pt x="1465" y="0"/>
                    </a:cubicBezTo>
                    <a:cubicBezTo>
                      <a:pt x="1671" y="0"/>
                      <a:pt x="1671" y="0"/>
                      <a:pt x="1671" y="0"/>
                    </a:cubicBezTo>
                    <a:cubicBezTo>
                      <a:pt x="1679" y="0"/>
                      <a:pt x="1686" y="6"/>
                      <a:pt x="1687" y="15"/>
                    </a:cubicBezTo>
                    <a:close/>
                    <a:moveTo>
                      <a:pt x="1932" y="1706"/>
                    </a:moveTo>
                    <a:cubicBezTo>
                      <a:pt x="1932" y="1806"/>
                      <a:pt x="1932" y="1806"/>
                      <a:pt x="1932" y="1806"/>
                    </a:cubicBezTo>
                    <a:cubicBezTo>
                      <a:pt x="1932" y="1818"/>
                      <a:pt x="1923" y="1828"/>
                      <a:pt x="1910" y="1828"/>
                    </a:cubicBezTo>
                    <a:cubicBezTo>
                      <a:pt x="22" y="1828"/>
                      <a:pt x="22" y="1828"/>
                      <a:pt x="22" y="1828"/>
                    </a:cubicBezTo>
                    <a:cubicBezTo>
                      <a:pt x="9" y="1828"/>
                      <a:pt x="0" y="1818"/>
                      <a:pt x="0" y="1806"/>
                    </a:cubicBezTo>
                    <a:cubicBezTo>
                      <a:pt x="0" y="1706"/>
                      <a:pt x="0" y="1706"/>
                      <a:pt x="0" y="1706"/>
                    </a:cubicBezTo>
                    <a:cubicBezTo>
                      <a:pt x="0" y="1694"/>
                      <a:pt x="9" y="1684"/>
                      <a:pt x="22" y="1684"/>
                    </a:cubicBezTo>
                    <a:cubicBezTo>
                      <a:pt x="98" y="1684"/>
                      <a:pt x="98" y="1684"/>
                      <a:pt x="98" y="1684"/>
                    </a:cubicBezTo>
                    <a:cubicBezTo>
                      <a:pt x="98" y="1647"/>
                      <a:pt x="98" y="1647"/>
                      <a:pt x="98" y="1647"/>
                    </a:cubicBezTo>
                    <a:cubicBezTo>
                      <a:pt x="98" y="1635"/>
                      <a:pt x="108" y="1625"/>
                      <a:pt x="120" y="1625"/>
                    </a:cubicBezTo>
                    <a:cubicBezTo>
                      <a:pt x="1812" y="1625"/>
                      <a:pt x="1812" y="1625"/>
                      <a:pt x="1812" y="1625"/>
                    </a:cubicBezTo>
                    <a:cubicBezTo>
                      <a:pt x="1824" y="1625"/>
                      <a:pt x="1834" y="1635"/>
                      <a:pt x="1834" y="1647"/>
                    </a:cubicBezTo>
                    <a:cubicBezTo>
                      <a:pt x="1834" y="1684"/>
                      <a:pt x="1834" y="1684"/>
                      <a:pt x="1834" y="1684"/>
                    </a:cubicBezTo>
                    <a:cubicBezTo>
                      <a:pt x="1910" y="1684"/>
                      <a:pt x="1910" y="1684"/>
                      <a:pt x="1910" y="1684"/>
                    </a:cubicBezTo>
                    <a:cubicBezTo>
                      <a:pt x="1923" y="1684"/>
                      <a:pt x="1932" y="1694"/>
                      <a:pt x="1932" y="1706"/>
                    </a:cubicBezTo>
                    <a:close/>
                    <a:moveTo>
                      <a:pt x="1812" y="670"/>
                    </a:moveTo>
                    <a:cubicBezTo>
                      <a:pt x="1812" y="658"/>
                      <a:pt x="1802" y="648"/>
                      <a:pt x="1790" y="648"/>
                    </a:cubicBezTo>
                    <a:cubicBezTo>
                      <a:pt x="1286" y="648"/>
                      <a:pt x="1286" y="648"/>
                      <a:pt x="1286" y="648"/>
                    </a:cubicBezTo>
                    <a:cubicBezTo>
                      <a:pt x="713" y="459"/>
                      <a:pt x="713" y="459"/>
                      <a:pt x="713" y="459"/>
                    </a:cubicBezTo>
                    <a:cubicBezTo>
                      <a:pt x="706" y="457"/>
                      <a:pt x="699" y="458"/>
                      <a:pt x="693" y="462"/>
                    </a:cubicBezTo>
                    <a:cubicBezTo>
                      <a:pt x="687" y="466"/>
                      <a:pt x="684" y="473"/>
                      <a:pt x="684" y="480"/>
                    </a:cubicBezTo>
                    <a:cubicBezTo>
                      <a:pt x="684" y="638"/>
                      <a:pt x="684" y="638"/>
                      <a:pt x="684" y="638"/>
                    </a:cubicBezTo>
                    <a:cubicBezTo>
                      <a:pt x="147" y="459"/>
                      <a:pt x="147" y="459"/>
                      <a:pt x="147" y="459"/>
                    </a:cubicBezTo>
                    <a:cubicBezTo>
                      <a:pt x="140" y="457"/>
                      <a:pt x="133" y="458"/>
                      <a:pt x="127" y="462"/>
                    </a:cubicBezTo>
                    <a:cubicBezTo>
                      <a:pt x="121" y="466"/>
                      <a:pt x="118" y="473"/>
                      <a:pt x="118" y="480"/>
                    </a:cubicBezTo>
                    <a:cubicBezTo>
                      <a:pt x="118" y="1581"/>
                      <a:pt x="118" y="1581"/>
                      <a:pt x="118" y="1581"/>
                    </a:cubicBezTo>
                    <a:cubicBezTo>
                      <a:pt x="162" y="1581"/>
                      <a:pt x="162" y="1581"/>
                      <a:pt x="162" y="1581"/>
                    </a:cubicBezTo>
                    <a:cubicBezTo>
                      <a:pt x="162" y="510"/>
                      <a:pt x="162" y="510"/>
                      <a:pt x="162" y="510"/>
                    </a:cubicBezTo>
                    <a:cubicBezTo>
                      <a:pt x="699" y="689"/>
                      <a:pt x="699" y="689"/>
                      <a:pt x="699" y="689"/>
                    </a:cubicBezTo>
                    <a:cubicBezTo>
                      <a:pt x="706" y="691"/>
                      <a:pt x="713" y="690"/>
                      <a:pt x="719" y="686"/>
                    </a:cubicBezTo>
                    <a:cubicBezTo>
                      <a:pt x="725" y="682"/>
                      <a:pt x="728" y="675"/>
                      <a:pt x="728" y="668"/>
                    </a:cubicBezTo>
                    <a:cubicBezTo>
                      <a:pt x="728" y="510"/>
                      <a:pt x="728" y="510"/>
                      <a:pt x="728" y="510"/>
                    </a:cubicBezTo>
                    <a:cubicBezTo>
                      <a:pt x="1275" y="691"/>
                      <a:pt x="1275" y="691"/>
                      <a:pt x="1275" y="691"/>
                    </a:cubicBezTo>
                    <a:cubicBezTo>
                      <a:pt x="1277" y="692"/>
                      <a:pt x="1280" y="692"/>
                      <a:pt x="1282" y="692"/>
                    </a:cubicBezTo>
                    <a:cubicBezTo>
                      <a:pt x="1768" y="692"/>
                      <a:pt x="1768" y="692"/>
                      <a:pt x="1768" y="692"/>
                    </a:cubicBezTo>
                    <a:cubicBezTo>
                      <a:pt x="1768" y="1581"/>
                      <a:pt x="1768" y="1581"/>
                      <a:pt x="1768" y="1581"/>
                    </a:cubicBezTo>
                    <a:cubicBezTo>
                      <a:pt x="1812" y="1581"/>
                      <a:pt x="1812" y="1581"/>
                      <a:pt x="1812" y="1581"/>
                    </a:cubicBezTo>
                    <a:lnTo>
                      <a:pt x="1812" y="67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195" name="Group 194"/>
          <p:cNvGrpSpPr>
            <a:grpSpLocks noChangeAspect="1"/>
          </p:cNvGrpSpPr>
          <p:nvPr/>
        </p:nvGrpSpPr>
        <p:grpSpPr>
          <a:xfrm>
            <a:off x="3499466" y="2756840"/>
            <a:ext cx="431024" cy="431024"/>
            <a:chOff x="5272088" y="2605088"/>
            <a:chExt cx="1647825" cy="1647825"/>
          </a:xfrm>
        </p:grpSpPr>
        <p:sp>
          <p:nvSpPr>
            <p:cNvPr id="196" name="AutoShape 75"/>
            <p:cNvSpPr>
              <a:spLocks noChangeAspect="1" noChangeArrowheads="1" noTextEdit="1"/>
            </p:cNvSpPr>
            <p:nvPr/>
          </p:nvSpPr>
          <p:spPr bwMode="auto">
            <a:xfrm>
              <a:off x="5272088" y="2605088"/>
              <a:ext cx="1647825" cy="1647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197" name="Group 196"/>
            <p:cNvGrpSpPr/>
            <p:nvPr/>
          </p:nvGrpSpPr>
          <p:grpSpPr>
            <a:xfrm>
              <a:off x="5443538" y="2757488"/>
              <a:ext cx="1306513" cy="1322388"/>
              <a:chOff x="5443538" y="2757488"/>
              <a:chExt cx="1306513" cy="1322388"/>
            </a:xfrm>
          </p:grpSpPr>
          <p:sp>
            <p:nvSpPr>
              <p:cNvPr id="198" name="Freeform 197"/>
              <p:cNvSpPr>
                <a:spLocks noChangeArrowheads="1"/>
              </p:cNvSpPr>
              <p:nvPr/>
            </p:nvSpPr>
            <p:spPr bwMode="auto">
              <a:xfrm>
                <a:off x="5443538" y="2757488"/>
                <a:ext cx="1306513" cy="1322388"/>
              </a:xfrm>
              <a:custGeom>
                <a:avLst/>
                <a:gdLst>
                  <a:gd name="connsiteX0" fmla="*/ 1221581 w 1306513"/>
                  <a:gd name="connsiteY0" fmla="*/ 1185863 h 1322388"/>
                  <a:gd name="connsiteX1" fmla="*/ 1168399 w 1306513"/>
                  <a:gd name="connsiteY1" fmla="*/ 1239045 h 1322388"/>
                  <a:gd name="connsiteX2" fmla="*/ 1221581 w 1306513"/>
                  <a:gd name="connsiteY2" fmla="*/ 1292227 h 1322388"/>
                  <a:gd name="connsiteX3" fmla="*/ 1274763 w 1306513"/>
                  <a:gd name="connsiteY3" fmla="*/ 1239045 h 1322388"/>
                  <a:gd name="connsiteX4" fmla="*/ 1221581 w 1306513"/>
                  <a:gd name="connsiteY4" fmla="*/ 1185863 h 1322388"/>
                  <a:gd name="connsiteX5" fmla="*/ 541338 w 1306513"/>
                  <a:gd name="connsiteY5" fmla="*/ 1185863 h 1322388"/>
                  <a:gd name="connsiteX6" fmla="*/ 488950 w 1306513"/>
                  <a:gd name="connsiteY6" fmla="*/ 1239045 h 1322388"/>
                  <a:gd name="connsiteX7" fmla="*/ 541338 w 1306513"/>
                  <a:gd name="connsiteY7" fmla="*/ 1292227 h 1322388"/>
                  <a:gd name="connsiteX8" fmla="*/ 593726 w 1306513"/>
                  <a:gd name="connsiteY8" fmla="*/ 1239045 h 1322388"/>
                  <a:gd name="connsiteX9" fmla="*/ 541338 w 1306513"/>
                  <a:gd name="connsiteY9" fmla="*/ 1185863 h 1322388"/>
                  <a:gd name="connsiteX10" fmla="*/ 86520 w 1306513"/>
                  <a:gd name="connsiteY10" fmla="*/ 1185863 h 1322388"/>
                  <a:gd name="connsiteX11" fmla="*/ 33338 w 1306513"/>
                  <a:gd name="connsiteY11" fmla="*/ 1239045 h 1322388"/>
                  <a:gd name="connsiteX12" fmla="*/ 86520 w 1306513"/>
                  <a:gd name="connsiteY12" fmla="*/ 1292227 h 1322388"/>
                  <a:gd name="connsiteX13" fmla="*/ 139702 w 1306513"/>
                  <a:gd name="connsiteY13" fmla="*/ 1239045 h 1322388"/>
                  <a:gd name="connsiteX14" fmla="*/ 86520 w 1306513"/>
                  <a:gd name="connsiteY14" fmla="*/ 1185863 h 1322388"/>
                  <a:gd name="connsiteX15" fmla="*/ 1221581 w 1306513"/>
                  <a:gd name="connsiteY15" fmla="*/ 1155700 h 1322388"/>
                  <a:gd name="connsiteX16" fmla="*/ 1306513 w 1306513"/>
                  <a:gd name="connsiteY16" fmla="*/ 1239044 h 1322388"/>
                  <a:gd name="connsiteX17" fmla="*/ 1221581 w 1306513"/>
                  <a:gd name="connsiteY17" fmla="*/ 1322388 h 1322388"/>
                  <a:gd name="connsiteX18" fmla="*/ 1136649 w 1306513"/>
                  <a:gd name="connsiteY18" fmla="*/ 1239044 h 1322388"/>
                  <a:gd name="connsiteX19" fmla="*/ 1221581 w 1306513"/>
                  <a:gd name="connsiteY19" fmla="*/ 1155700 h 1322388"/>
                  <a:gd name="connsiteX20" fmla="*/ 540544 w 1306513"/>
                  <a:gd name="connsiteY20" fmla="*/ 1155700 h 1322388"/>
                  <a:gd name="connsiteX21" fmla="*/ 623888 w 1306513"/>
                  <a:gd name="connsiteY21" fmla="*/ 1239044 h 1322388"/>
                  <a:gd name="connsiteX22" fmla="*/ 540544 w 1306513"/>
                  <a:gd name="connsiteY22" fmla="*/ 1322388 h 1322388"/>
                  <a:gd name="connsiteX23" fmla="*/ 457200 w 1306513"/>
                  <a:gd name="connsiteY23" fmla="*/ 1239044 h 1322388"/>
                  <a:gd name="connsiteX24" fmla="*/ 540544 w 1306513"/>
                  <a:gd name="connsiteY24" fmla="*/ 1155700 h 1322388"/>
                  <a:gd name="connsiteX25" fmla="*/ 314769 w 1306513"/>
                  <a:gd name="connsiteY25" fmla="*/ 1155700 h 1322388"/>
                  <a:gd name="connsiteX26" fmla="*/ 330201 w 1306513"/>
                  <a:gd name="connsiteY26" fmla="*/ 1171372 h 1322388"/>
                  <a:gd name="connsiteX27" fmla="*/ 330201 w 1306513"/>
                  <a:gd name="connsiteY27" fmla="*/ 1306717 h 1322388"/>
                  <a:gd name="connsiteX28" fmla="*/ 314769 w 1306513"/>
                  <a:gd name="connsiteY28" fmla="*/ 1322388 h 1322388"/>
                  <a:gd name="connsiteX29" fmla="*/ 300038 w 1306513"/>
                  <a:gd name="connsiteY29" fmla="*/ 1306717 h 1322388"/>
                  <a:gd name="connsiteX30" fmla="*/ 300038 w 1306513"/>
                  <a:gd name="connsiteY30" fmla="*/ 1171372 h 1322388"/>
                  <a:gd name="connsiteX31" fmla="*/ 314769 w 1306513"/>
                  <a:gd name="connsiteY31" fmla="*/ 1155700 h 1322388"/>
                  <a:gd name="connsiteX32" fmla="*/ 86519 w 1306513"/>
                  <a:gd name="connsiteY32" fmla="*/ 1155700 h 1322388"/>
                  <a:gd name="connsiteX33" fmla="*/ 169863 w 1306513"/>
                  <a:gd name="connsiteY33" fmla="*/ 1239044 h 1322388"/>
                  <a:gd name="connsiteX34" fmla="*/ 86519 w 1306513"/>
                  <a:gd name="connsiteY34" fmla="*/ 1322388 h 1322388"/>
                  <a:gd name="connsiteX35" fmla="*/ 3175 w 1306513"/>
                  <a:gd name="connsiteY35" fmla="*/ 1239044 h 1322388"/>
                  <a:gd name="connsiteX36" fmla="*/ 86519 w 1306513"/>
                  <a:gd name="connsiteY36" fmla="*/ 1155700 h 1322388"/>
                  <a:gd name="connsiteX37" fmla="*/ 1221581 w 1306513"/>
                  <a:gd name="connsiteY37" fmla="*/ 960438 h 1322388"/>
                  <a:gd name="connsiteX38" fmla="*/ 1168399 w 1306513"/>
                  <a:gd name="connsiteY38" fmla="*/ 1012032 h 1322388"/>
                  <a:gd name="connsiteX39" fmla="*/ 1221581 w 1306513"/>
                  <a:gd name="connsiteY39" fmla="*/ 1063626 h 1322388"/>
                  <a:gd name="connsiteX40" fmla="*/ 1274763 w 1306513"/>
                  <a:gd name="connsiteY40" fmla="*/ 1012032 h 1322388"/>
                  <a:gd name="connsiteX41" fmla="*/ 1221581 w 1306513"/>
                  <a:gd name="connsiteY41" fmla="*/ 960438 h 1322388"/>
                  <a:gd name="connsiteX42" fmla="*/ 541338 w 1306513"/>
                  <a:gd name="connsiteY42" fmla="*/ 960438 h 1322388"/>
                  <a:gd name="connsiteX43" fmla="*/ 488950 w 1306513"/>
                  <a:gd name="connsiteY43" fmla="*/ 1012032 h 1322388"/>
                  <a:gd name="connsiteX44" fmla="*/ 541338 w 1306513"/>
                  <a:gd name="connsiteY44" fmla="*/ 1063626 h 1322388"/>
                  <a:gd name="connsiteX45" fmla="*/ 593726 w 1306513"/>
                  <a:gd name="connsiteY45" fmla="*/ 1012032 h 1322388"/>
                  <a:gd name="connsiteX46" fmla="*/ 541338 w 1306513"/>
                  <a:gd name="connsiteY46" fmla="*/ 960438 h 1322388"/>
                  <a:gd name="connsiteX47" fmla="*/ 86520 w 1306513"/>
                  <a:gd name="connsiteY47" fmla="*/ 960438 h 1322388"/>
                  <a:gd name="connsiteX48" fmla="*/ 33338 w 1306513"/>
                  <a:gd name="connsiteY48" fmla="*/ 1012032 h 1322388"/>
                  <a:gd name="connsiteX49" fmla="*/ 86520 w 1306513"/>
                  <a:gd name="connsiteY49" fmla="*/ 1063626 h 1322388"/>
                  <a:gd name="connsiteX50" fmla="*/ 139702 w 1306513"/>
                  <a:gd name="connsiteY50" fmla="*/ 1012032 h 1322388"/>
                  <a:gd name="connsiteX51" fmla="*/ 86520 w 1306513"/>
                  <a:gd name="connsiteY51" fmla="*/ 960438 h 1322388"/>
                  <a:gd name="connsiteX52" fmla="*/ 1221581 w 1306513"/>
                  <a:gd name="connsiteY52" fmla="*/ 928688 h 1322388"/>
                  <a:gd name="connsiteX53" fmla="*/ 1306513 w 1306513"/>
                  <a:gd name="connsiteY53" fmla="*/ 1012032 h 1322388"/>
                  <a:gd name="connsiteX54" fmla="*/ 1221581 w 1306513"/>
                  <a:gd name="connsiteY54" fmla="*/ 1095376 h 1322388"/>
                  <a:gd name="connsiteX55" fmla="*/ 1136649 w 1306513"/>
                  <a:gd name="connsiteY55" fmla="*/ 1012032 h 1322388"/>
                  <a:gd name="connsiteX56" fmla="*/ 1221581 w 1306513"/>
                  <a:gd name="connsiteY56" fmla="*/ 928688 h 1322388"/>
                  <a:gd name="connsiteX57" fmla="*/ 540544 w 1306513"/>
                  <a:gd name="connsiteY57" fmla="*/ 928688 h 1322388"/>
                  <a:gd name="connsiteX58" fmla="*/ 623888 w 1306513"/>
                  <a:gd name="connsiteY58" fmla="*/ 1012032 h 1322388"/>
                  <a:gd name="connsiteX59" fmla="*/ 540544 w 1306513"/>
                  <a:gd name="connsiteY59" fmla="*/ 1095376 h 1322388"/>
                  <a:gd name="connsiteX60" fmla="*/ 457200 w 1306513"/>
                  <a:gd name="connsiteY60" fmla="*/ 1012032 h 1322388"/>
                  <a:gd name="connsiteX61" fmla="*/ 540544 w 1306513"/>
                  <a:gd name="connsiteY61" fmla="*/ 928688 h 1322388"/>
                  <a:gd name="connsiteX62" fmla="*/ 314769 w 1306513"/>
                  <a:gd name="connsiteY62" fmla="*/ 928688 h 1322388"/>
                  <a:gd name="connsiteX63" fmla="*/ 330201 w 1306513"/>
                  <a:gd name="connsiteY63" fmla="*/ 944359 h 1322388"/>
                  <a:gd name="connsiteX64" fmla="*/ 330201 w 1306513"/>
                  <a:gd name="connsiteY64" fmla="*/ 1079704 h 1322388"/>
                  <a:gd name="connsiteX65" fmla="*/ 314769 w 1306513"/>
                  <a:gd name="connsiteY65" fmla="*/ 1095376 h 1322388"/>
                  <a:gd name="connsiteX66" fmla="*/ 300038 w 1306513"/>
                  <a:gd name="connsiteY66" fmla="*/ 1079704 h 1322388"/>
                  <a:gd name="connsiteX67" fmla="*/ 300038 w 1306513"/>
                  <a:gd name="connsiteY67" fmla="*/ 944359 h 1322388"/>
                  <a:gd name="connsiteX68" fmla="*/ 314769 w 1306513"/>
                  <a:gd name="connsiteY68" fmla="*/ 928688 h 1322388"/>
                  <a:gd name="connsiteX69" fmla="*/ 86519 w 1306513"/>
                  <a:gd name="connsiteY69" fmla="*/ 928688 h 1322388"/>
                  <a:gd name="connsiteX70" fmla="*/ 169863 w 1306513"/>
                  <a:gd name="connsiteY70" fmla="*/ 1012032 h 1322388"/>
                  <a:gd name="connsiteX71" fmla="*/ 86519 w 1306513"/>
                  <a:gd name="connsiteY71" fmla="*/ 1095376 h 1322388"/>
                  <a:gd name="connsiteX72" fmla="*/ 3175 w 1306513"/>
                  <a:gd name="connsiteY72" fmla="*/ 1012032 h 1322388"/>
                  <a:gd name="connsiteX73" fmla="*/ 86519 w 1306513"/>
                  <a:gd name="connsiteY73" fmla="*/ 928688 h 1322388"/>
                  <a:gd name="connsiteX74" fmla="*/ 957350 w 1306513"/>
                  <a:gd name="connsiteY74" fmla="*/ 731838 h 1322388"/>
                  <a:gd name="connsiteX75" fmla="*/ 906463 w 1306513"/>
                  <a:gd name="connsiteY75" fmla="*/ 783864 h 1322388"/>
                  <a:gd name="connsiteX76" fmla="*/ 957350 w 1306513"/>
                  <a:gd name="connsiteY76" fmla="*/ 836613 h 1322388"/>
                  <a:gd name="connsiteX77" fmla="*/ 1009651 w 1306513"/>
                  <a:gd name="connsiteY77" fmla="*/ 783864 h 1322388"/>
                  <a:gd name="connsiteX78" fmla="*/ 957350 w 1306513"/>
                  <a:gd name="connsiteY78" fmla="*/ 731838 h 1322388"/>
                  <a:gd name="connsiteX79" fmla="*/ 319444 w 1306513"/>
                  <a:gd name="connsiteY79" fmla="*/ 731838 h 1322388"/>
                  <a:gd name="connsiteX80" fmla="*/ 266700 w 1306513"/>
                  <a:gd name="connsiteY80" fmla="*/ 783864 h 1322388"/>
                  <a:gd name="connsiteX81" fmla="*/ 319444 w 1306513"/>
                  <a:gd name="connsiteY81" fmla="*/ 836613 h 1322388"/>
                  <a:gd name="connsiteX82" fmla="*/ 371475 w 1306513"/>
                  <a:gd name="connsiteY82" fmla="*/ 783864 h 1322388"/>
                  <a:gd name="connsiteX83" fmla="*/ 319444 w 1306513"/>
                  <a:gd name="connsiteY83" fmla="*/ 731838 h 1322388"/>
                  <a:gd name="connsiteX84" fmla="*/ 1169988 w 1306513"/>
                  <a:gd name="connsiteY84" fmla="*/ 701675 h 1322388"/>
                  <a:gd name="connsiteX85" fmla="*/ 1185863 w 1306513"/>
                  <a:gd name="connsiteY85" fmla="*/ 716619 h 1322388"/>
                  <a:gd name="connsiteX86" fmla="*/ 1185863 w 1306513"/>
                  <a:gd name="connsiteY86" fmla="*/ 851119 h 1322388"/>
                  <a:gd name="connsiteX87" fmla="*/ 1169988 w 1306513"/>
                  <a:gd name="connsiteY87" fmla="*/ 866775 h 1322388"/>
                  <a:gd name="connsiteX88" fmla="*/ 1154113 w 1306513"/>
                  <a:gd name="connsiteY88" fmla="*/ 851119 h 1322388"/>
                  <a:gd name="connsiteX89" fmla="*/ 1154113 w 1306513"/>
                  <a:gd name="connsiteY89" fmla="*/ 716619 h 1322388"/>
                  <a:gd name="connsiteX90" fmla="*/ 1169988 w 1306513"/>
                  <a:gd name="connsiteY90" fmla="*/ 701675 h 1322388"/>
                  <a:gd name="connsiteX91" fmla="*/ 958057 w 1306513"/>
                  <a:gd name="connsiteY91" fmla="*/ 701675 h 1322388"/>
                  <a:gd name="connsiteX92" fmla="*/ 1041401 w 1306513"/>
                  <a:gd name="connsiteY92" fmla="*/ 784225 h 1322388"/>
                  <a:gd name="connsiteX93" fmla="*/ 958057 w 1306513"/>
                  <a:gd name="connsiteY93" fmla="*/ 866775 h 1322388"/>
                  <a:gd name="connsiteX94" fmla="*/ 874713 w 1306513"/>
                  <a:gd name="connsiteY94" fmla="*/ 784225 h 1322388"/>
                  <a:gd name="connsiteX95" fmla="*/ 958057 w 1306513"/>
                  <a:gd name="connsiteY95" fmla="*/ 701675 h 1322388"/>
                  <a:gd name="connsiteX96" fmla="*/ 745702 w 1306513"/>
                  <a:gd name="connsiteY96" fmla="*/ 701675 h 1322388"/>
                  <a:gd name="connsiteX97" fmla="*/ 762001 w 1306513"/>
                  <a:gd name="connsiteY97" fmla="*/ 716619 h 1322388"/>
                  <a:gd name="connsiteX98" fmla="*/ 762001 w 1306513"/>
                  <a:gd name="connsiteY98" fmla="*/ 851119 h 1322388"/>
                  <a:gd name="connsiteX99" fmla="*/ 745702 w 1306513"/>
                  <a:gd name="connsiteY99" fmla="*/ 866775 h 1322388"/>
                  <a:gd name="connsiteX100" fmla="*/ 728663 w 1306513"/>
                  <a:gd name="connsiteY100" fmla="*/ 851119 h 1322388"/>
                  <a:gd name="connsiteX101" fmla="*/ 728663 w 1306513"/>
                  <a:gd name="connsiteY101" fmla="*/ 716619 h 1322388"/>
                  <a:gd name="connsiteX102" fmla="*/ 745702 w 1306513"/>
                  <a:gd name="connsiteY102" fmla="*/ 701675 h 1322388"/>
                  <a:gd name="connsiteX103" fmla="*/ 547688 w 1306513"/>
                  <a:gd name="connsiteY103" fmla="*/ 701675 h 1322388"/>
                  <a:gd name="connsiteX104" fmla="*/ 563563 w 1306513"/>
                  <a:gd name="connsiteY104" fmla="*/ 716619 h 1322388"/>
                  <a:gd name="connsiteX105" fmla="*/ 563563 w 1306513"/>
                  <a:gd name="connsiteY105" fmla="*/ 851119 h 1322388"/>
                  <a:gd name="connsiteX106" fmla="*/ 547688 w 1306513"/>
                  <a:gd name="connsiteY106" fmla="*/ 866775 h 1322388"/>
                  <a:gd name="connsiteX107" fmla="*/ 531813 w 1306513"/>
                  <a:gd name="connsiteY107" fmla="*/ 851119 h 1322388"/>
                  <a:gd name="connsiteX108" fmla="*/ 531813 w 1306513"/>
                  <a:gd name="connsiteY108" fmla="*/ 716619 h 1322388"/>
                  <a:gd name="connsiteX109" fmla="*/ 547688 w 1306513"/>
                  <a:gd name="connsiteY109" fmla="*/ 701675 h 1322388"/>
                  <a:gd name="connsiteX110" fmla="*/ 319882 w 1306513"/>
                  <a:gd name="connsiteY110" fmla="*/ 701675 h 1322388"/>
                  <a:gd name="connsiteX111" fmla="*/ 403226 w 1306513"/>
                  <a:gd name="connsiteY111" fmla="*/ 784225 h 1322388"/>
                  <a:gd name="connsiteX112" fmla="*/ 319882 w 1306513"/>
                  <a:gd name="connsiteY112" fmla="*/ 866775 h 1322388"/>
                  <a:gd name="connsiteX113" fmla="*/ 236538 w 1306513"/>
                  <a:gd name="connsiteY113" fmla="*/ 784225 h 1322388"/>
                  <a:gd name="connsiteX114" fmla="*/ 319882 w 1306513"/>
                  <a:gd name="connsiteY114" fmla="*/ 701675 h 1322388"/>
                  <a:gd name="connsiteX115" fmla="*/ 139347 w 1306513"/>
                  <a:gd name="connsiteY115" fmla="*/ 701675 h 1322388"/>
                  <a:gd name="connsiteX116" fmla="*/ 155575 w 1306513"/>
                  <a:gd name="connsiteY116" fmla="*/ 716619 h 1322388"/>
                  <a:gd name="connsiteX117" fmla="*/ 155575 w 1306513"/>
                  <a:gd name="connsiteY117" fmla="*/ 851119 h 1322388"/>
                  <a:gd name="connsiteX118" fmla="*/ 139347 w 1306513"/>
                  <a:gd name="connsiteY118" fmla="*/ 866775 h 1322388"/>
                  <a:gd name="connsiteX119" fmla="*/ 123825 w 1306513"/>
                  <a:gd name="connsiteY119" fmla="*/ 851119 h 1322388"/>
                  <a:gd name="connsiteX120" fmla="*/ 123825 w 1306513"/>
                  <a:gd name="connsiteY120" fmla="*/ 716619 h 1322388"/>
                  <a:gd name="connsiteX121" fmla="*/ 139347 w 1306513"/>
                  <a:gd name="connsiteY121" fmla="*/ 701675 h 1322388"/>
                  <a:gd name="connsiteX122" fmla="*/ 15724 w 1306513"/>
                  <a:gd name="connsiteY122" fmla="*/ 0 h 1322388"/>
                  <a:gd name="connsiteX123" fmla="*/ 1290789 w 1306513"/>
                  <a:gd name="connsiteY123" fmla="*/ 0 h 1322388"/>
                  <a:gd name="connsiteX124" fmla="*/ 1306513 w 1306513"/>
                  <a:gd name="connsiteY124" fmla="*/ 15733 h 1322388"/>
                  <a:gd name="connsiteX125" fmla="*/ 1306513 w 1306513"/>
                  <a:gd name="connsiteY125" fmla="*/ 851041 h 1322388"/>
                  <a:gd name="connsiteX126" fmla="*/ 1290789 w 1306513"/>
                  <a:gd name="connsiteY126" fmla="*/ 866775 h 1322388"/>
                  <a:gd name="connsiteX127" fmla="*/ 1275065 w 1306513"/>
                  <a:gd name="connsiteY127" fmla="*/ 851041 h 1322388"/>
                  <a:gd name="connsiteX128" fmla="*/ 1275065 w 1306513"/>
                  <a:gd name="connsiteY128" fmla="*/ 31467 h 1322388"/>
                  <a:gd name="connsiteX129" fmla="*/ 31448 w 1306513"/>
                  <a:gd name="connsiteY129" fmla="*/ 31467 h 1322388"/>
                  <a:gd name="connsiteX130" fmla="*/ 31448 w 1306513"/>
                  <a:gd name="connsiteY130" fmla="*/ 851041 h 1322388"/>
                  <a:gd name="connsiteX131" fmla="*/ 15724 w 1306513"/>
                  <a:gd name="connsiteY131" fmla="*/ 866775 h 1322388"/>
                  <a:gd name="connsiteX132" fmla="*/ 0 w 1306513"/>
                  <a:gd name="connsiteY132" fmla="*/ 851041 h 1322388"/>
                  <a:gd name="connsiteX133" fmla="*/ 0 w 1306513"/>
                  <a:gd name="connsiteY133" fmla="*/ 15733 h 1322388"/>
                  <a:gd name="connsiteX134" fmla="*/ 15724 w 1306513"/>
                  <a:gd name="connsiteY134" fmla="*/ 0 h 132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1306513" h="1322388">
                    <a:moveTo>
                      <a:pt x="1221581" y="1185863"/>
                    </a:moveTo>
                    <a:cubicBezTo>
                      <a:pt x="1192209" y="1185863"/>
                      <a:pt x="1168399" y="1209673"/>
                      <a:pt x="1168399" y="1239045"/>
                    </a:cubicBezTo>
                    <a:cubicBezTo>
                      <a:pt x="1168399" y="1268417"/>
                      <a:pt x="1192209" y="1292227"/>
                      <a:pt x="1221581" y="1292227"/>
                    </a:cubicBezTo>
                    <a:cubicBezTo>
                      <a:pt x="1250953" y="1292227"/>
                      <a:pt x="1274763" y="1268417"/>
                      <a:pt x="1274763" y="1239045"/>
                    </a:cubicBezTo>
                    <a:cubicBezTo>
                      <a:pt x="1274763" y="1209673"/>
                      <a:pt x="1250953" y="1185863"/>
                      <a:pt x="1221581" y="1185863"/>
                    </a:cubicBezTo>
                    <a:close/>
                    <a:moveTo>
                      <a:pt x="541338" y="1185863"/>
                    </a:moveTo>
                    <a:cubicBezTo>
                      <a:pt x="512405" y="1185863"/>
                      <a:pt x="488950" y="1209673"/>
                      <a:pt x="488950" y="1239045"/>
                    </a:cubicBezTo>
                    <a:cubicBezTo>
                      <a:pt x="488950" y="1268417"/>
                      <a:pt x="512405" y="1292227"/>
                      <a:pt x="541338" y="1292227"/>
                    </a:cubicBezTo>
                    <a:cubicBezTo>
                      <a:pt x="570271" y="1292227"/>
                      <a:pt x="593726" y="1268417"/>
                      <a:pt x="593726" y="1239045"/>
                    </a:cubicBezTo>
                    <a:cubicBezTo>
                      <a:pt x="593726" y="1209673"/>
                      <a:pt x="570271" y="1185863"/>
                      <a:pt x="541338" y="1185863"/>
                    </a:cubicBezTo>
                    <a:close/>
                    <a:moveTo>
                      <a:pt x="86520" y="1185863"/>
                    </a:moveTo>
                    <a:cubicBezTo>
                      <a:pt x="57148" y="1185863"/>
                      <a:pt x="33338" y="1209673"/>
                      <a:pt x="33338" y="1239045"/>
                    </a:cubicBezTo>
                    <a:cubicBezTo>
                      <a:pt x="33338" y="1268417"/>
                      <a:pt x="57148" y="1292227"/>
                      <a:pt x="86520" y="1292227"/>
                    </a:cubicBezTo>
                    <a:cubicBezTo>
                      <a:pt x="115892" y="1292227"/>
                      <a:pt x="139702" y="1268417"/>
                      <a:pt x="139702" y="1239045"/>
                    </a:cubicBezTo>
                    <a:cubicBezTo>
                      <a:pt x="139702" y="1209673"/>
                      <a:pt x="115892" y="1185863"/>
                      <a:pt x="86520" y="1185863"/>
                    </a:cubicBezTo>
                    <a:close/>
                    <a:moveTo>
                      <a:pt x="1221581" y="1155700"/>
                    </a:moveTo>
                    <a:cubicBezTo>
                      <a:pt x="1268488" y="1155700"/>
                      <a:pt x="1306513" y="1193014"/>
                      <a:pt x="1306513" y="1239044"/>
                    </a:cubicBezTo>
                    <a:cubicBezTo>
                      <a:pt x="1306513" y="1285074"/>
                      <a:pt x="1268488" y="1322388"/>
                      <a:pt x="1221581" y="1322388"/>
                    </a:cubicBezTo>
                    <a:cubicBezTo>
                      <a:pt x="1174674" y="1322388"/>
                      <a:pt x="1136649" y="1285074"/>
                      <a:pt x="1136649" y="1239044"/>
                    </a:cubicBezTo>
                    <a:cubicBezTo>
                      <a:pt x="1136649" y="1193014"/>
                      <a:pt x="1174674" y="1155700"/>
                      <a:pt x="1221581" y="1155700"/>
                    </a:cubicBezTo>
                    <a:close/>
                    <a:moveTo>
                      <a:pt x="540544" y="1155700"/>
                    </a:moveTo>
                    <a:cubicBezTo>
                      <a:pt x="586574" y="1155700"/>
                      <a:pt x="623888" y="1193014"/>
                      <a:pt x="623888" y="1239044"/>
                    </a:cubicBezTo>
                    <a:cubicBezTo>
                      <a:pt x="623888" y="1285074"/>
                      <a:pt x="586574" y="1322388"/>
                      <a:pt x="540544" y="1322388"/>
                    </a:cubicBezTo>
                    <a:cubicBezTo>
                      <a:pt x="494514" y="1322388"/>
                      <a:pt x="457200" y="1285074"/>
                      <a:pt x="457200" y="1239044"/>
                    </a:cubicBezTo>
                    <a:cubicBezTo>
                      <a:pt x="457200" y="1193014"/>
                      <a:pt x="494514" y="1155700"/>
                      <a:pt x="540544" y="1155700"/>
                    </a:cubicBezTo>
                    <a:close/>
                    <a:moveTo>
                      <a:pt x="314769" y="1155700"/>
                    </a:moveTo>
                    <a:cubicBezTo>
                      <a:pt x="323186" y="1155700"/>
                      <a:pt x="330201" y="1162824"/>
                      <a:pt x="330201" y="1171372"/>
                    </a:cubicBezTo>
                    <a:cubicBezTo>
                      <a:pt x="330201" y="1171372"/>
                      <a:pt x="330201" y="1171372"/>
                      <a:pt x="330201" y="1306717"/>
                    </a:cubicBezTo>
                    <a:cubicBezTo>
                      <a:pt x="330201" y="1315265"/>
                      <a:pt x="323186" y="1322388"/>
                      <a:pt x="314769" y="1322388"/>
                    </a:cubicBezTo>
                    <a:cubicBezTo>
                      <a:pt x="307052" y="1322388"/>
                      <a:pt x="300038" y="1315265"/>
                      <a:pt x="300038" y="1306717"/>
                    </a:cubicBezTo>
                    <a:cubicBezTo>
                      <a:pt x="300038" y="1306717"/>
                      <a:pt x="300038" y="1306717"/>
                      <a:pt x="300038" y="1171372"/>
                    </a:cubicBezTo>
                    <a:cubicBezTo>
                      <a:pt x="300038" y="1162824"/>
                      <a:pt x="307052" y="1155700"/>
                      <a:pt x="314769" y="1155700"/>
                    </a:cubicBezTo>
                    <a:close/>
                    <a:moveTo>
                      <a:pt x="86519" y="1155700"/>
                    </a:moveTo>
                    <a:cubicBezTo>
                      <a:pt x="132549" y="1155700"/>
                      <a:pt x="169863" y="1193014"/>
                      <a:pt x="169863" y="1239044"/>
                    </a:cubicBezTo>
                    <a:cubicBezTo>
                      <a:pt x="169863" y="1285074"/>
                      <a:pt x="132549" y="1322388"/>
                      <a:pt x="86519" y="1322388"/>
                    </a:cubicBezTo>
                    <a:cubicBezTo>
                      <a:pt x="40489" y="1322388"/>
                      <a:pt x="3175" y="1285074"/>
                      <a:pt x="3175" y="1239044"/>
                    </a:cubicBezTo>
                    <a:cubicBezTo>
                      <a:pt x="3175" y="1193014"/>
                      <a:pt x="40489" y="1155700"/>
                      <a:pt x="86519" y="1155700"/>
                    </a:cubicBezTo>
                    <a:close/>
                    <a:moveTo>
                      <a:pt x="1221581" y="960438"/>
                    </a:moveTo>
                    <a:cubicBezTo>
                      <a:pt x="1192209" y="960438"/>
                      <a:pt x="1168399" y="983537"/>
                      <a:pt x="1168399" y="1012032"/>
                    </a:cubicBezTo>
                    <a:cubicBezTo>
                      <a:pt x="1168399" y="1040527"/>
                      <a:pt x="1192209" y="1063626"/>
                      <a:pt x="1221581" y="1063626"/>
                    </a:cubicBezTo>
                    <a:cubicBezTo>
                      <a:pt x="1250953" y="1063626"/>
                      <a:pt x="1274763" y="1040527"/>
                      <a:pt x="1274763" y="1012032"/>
                    </a:cubicBezTo>
                    <a:cubicBezTo>
                      <a:pt x="1274763" y="983537"/>
                      <a:pt x="1250953" y="960438"/>
                      <a:pt x="1221581" y="960438"/>
                    </a:cubicBezTo>
                    <a:close/>
                    <a:moveTo>
                      <a:pt x="541338" y="960438"/>
                    </a:moveTo>
                    <a:cubicBezTo>
                      <a:pt x="512405" y="960438"/>
                      <a:pt x="488950" y="983537"/>
                      <a:pt x="488950" y="1012032"/>
                    </a:cubicBezTo>
                    <a:cubicBezTo>
                      <a:pt x="488950" y="1040527"/>
                      <a:pt x="512405" y="1063626"/>
                      <a:pt x="541338" y="1063626"/>
                    </a:cubicBezTo>
                    <a:cubicBezTo>
                      <a:pt x="570271" y="1063626"/>
                      <a:pt x="593726" y="1040527"/>
                      <a:pt x="593726" y="1012032"/>
                    </a:cubicBezTo>
                    <a:cubicBezTo>
                      <a:pt x="593726" y="983537"/>
                      <a:pt x="570271" y="960438"/>
                      <a:pt x="541338" y="960438"/>
                    </a:cubicBezTo>
                    <a:close/>
                    <a:moveTo>
                      <a:pt x="86520" y="960438"/>
                    </a:moveTo>
                    <a:cubicBezTo>
                      <a:pt x="57148" y="960438"/>
                      <a:pt x="33338" y="983537"/>
                      <a:pt x="33338" y="1012032"/>
                    </a:cubicBezTo>
                    <a:cubicBezTo>
                      <a:pt x="33338" y="1040527"/>
                      <a:pt x="57148" y="1063626"/>
                      <a:pt x="86520" y="1063626"/>
                    </a:cubicBezTo>
                    <a:cubicBezTo>
                      <a:pt x="115892" y="1063626"/>
                      <a:pt x="139702" y="1040527"/>
                      <a:pt x="139702" y="1012032"/>
                    </a:cubicBezTo>
                    <a:cubicBezTo>
                      <a:pt x="139702" y="983537"/>
                      <a:pt x="115892" y="960438"/>
                      <a:pt x="86520" y="960438"/>
                    </a:cubicBezTo>
                    <a:close/>
                    <a:moveTo>
                      <a:pt x="1221581" y="928688"/>
                    </a:moveTo>
                    <a:cubicBezTo>
                      <a:pt x="1268488" y="928688"/>
                      <a:pt x="1306513" y="966002"/>
                      <a:pt x="1306513" y="1012032"/>
                    </a:cubicBezTo>
                    <a:cubicBezTo>
                      <a:pt x="1306513" y="1058062"/>
                      <a:pt x="1268488" y="1095376"/>
                      <a:pt x="1221581" y="1095376"/>
                    </a:cubicBezTo>
                    <a:cubicBezTo>
                      <a:pt x="1174674" y="1095376"/>
                      <a:pt x="1136649" y="1058062"/>
                      <a:pt x="1136649" y="1012032"/>
                    </a:cubicBezTo>
                    <a:cubicBezTo>
                      <a:pt x="1136649" y="966002"/>
                      <a:pt x="1174674" y="928688"/>
                      <a:pt x="1221581" y="928688"/>
                    </a:cubicBezTo>
                    <a:close/>
                    <a:moveTo>
                      <a:pt x="540544" y="928688"/>
                    </a:moveTo>
                    <a:cubicBezTo>
                      <a:pt x="586574" y="928688"/>
                      <a:pt x="623888" y="966002"/>
                      <a:pt x="623888" y="1012032"/>
                    </a:cubicBezTo>
                    <a:cubicBezTo>
                      <a:pt x="623888" y="1058062"/>
                      <a:pt x="586574" y="1095376"/>
                      <a:pt x="540544" y="1095376"/>
                    </a:cubicBezTo>
                    <a:cubicBezTo>
                      <a:pt x="494514" y="1095376"/>
                      <a:pt x="457200" y="1058062"/>
                      <a:pt x="457200" y="1012032"/>
                    </a:cubicBezTo>
                    <a:cubicBezTo>
                      <a:pt x="457200" y="966002"/>
                      <a:pt x="494514" y="928688"/>
                      <a:pt x="540544" y="928688"/>
                    </a:cubicBezTo>
                    <a:close/>
                    <a:moveTo>
                      <a:pt x="314769" y="928688"/>
                    </a:moveTo>
                    <a:cubicBezTo>
                      <a:pt x="323186" y="928688"/>
                      <a:pt x="330201" y="935811"/>
                      <a:pt x="330201" y="944359"/>
                    </a:cubicBezTo>
                    <a:cubicBezTo>
                      <a:pt x="330201" y="944359"/>
                      <a:pt x="330201" y="944359"/>
                      <a:pt x="330201" y="1079704"/>
                    </a:cubicBezTo>
                    <a:cubicBezTo>
                      <a:pt x="330201" y="1088965"/>
                      <a:pt x="323186" y="1095376"/>
                      <a:pt x="314769" y="1095376"/>
                    </a:cubicBezTo>
                    <a:cubicBezTo>
                      <a:pt x="307052" y="1095376"/>
                      <a:pt x="300038" y="1088965"/>
                      <a:pt x="300038" y="1079704"/>
                    </a:cubicBezTo>
                    <a:cubicBezTo>
                      <a:pt x="300038" y="1079704"/>
                      <a:pt x="300038" y="1079704"/>
                      <a:pt x="300038" y="944359"/>
                    </a:cubicBezTo>
                    <a:cubicBezTo>
                      <a:pt x="300038" y="935811"/>
                      <a:pt x="307052" y="928688"/>
                      <a:pt x="314769" y="928688"/>
                    </a:cubicBezTo>
                    <a:close/>
                    <a:moveTo>
                      <a:pt x="86519" y="928688"/>
                    </a:moveTo>
                    <a:cubicBezTo>
                      <a:pt x="132549" y="928688"/>
                      <a:pt x="169863" y="966002"/>
                      <a:pt x="169863" y="1012032"/>
                    </a:cubicBezTo>
                    <a:cubicBezTo>
                      <a:pt x="169863" y="1058062"/>
                      <a:pt x="132549" y="1095376"/>
                      <a:pt x="86519" y="1095376"/>
                    </a:cubicBezTo>
                    <a:cubicBezTo>
                      <a:pt x="40489" y="1095376"/>
                      <a:pt x="3175" y="1058062"/>
                      <a:pt x="3175" y="1012032"/>
                    </a:cubicBezTo>
                    <a:cubicBezTo>
                      <a:pt x="3175" y="966002"/>
                      <a:pt x="40489" y="928688"/>
                      <a:pt x="86519" y="928688"/>
                    </a:cubicBezTo>
                    <a:close/>
                    <a:moveTo>
                      <a:pt x="957350" y="731838"/>
                    </a:moveTo>
                    <a:cubicBezTo>
                      <a:pt x="929787" y="731838"/>
                      <a:pt x="906463" y="755683"/>
                      <a:pt x="906463" y="783864"/>
                    </a:cubicBezTo>
                    <a:cubicBezTo>
                      <a:pt x="906463" y="813490"/>
                      <a:pt x="929787" y="836613"/>
                      <a:pt x="957350" y="836613"/>
                    </a:cubicBezTo>
                    <a:cubicBezTo>
                      <a:pt x="986328" y="836613"/>
                      <a:pt x="1009651" y="813490"/>
                      <a:pt x="1009651" y="783864"/>
                    </a:cubicBezTo>
                    <a:cubicBezTo>
                      <a:pt x="1009651" y="755683"/>
                      <a:pt x="986328" y="731838"/>
                      <a:pt x="957350" y="731838"/>
                    </a:cubicBezTo>
                    <a:close/>
                    <a:moveTo>
                      <a:pt x="319444" y="731838"/>
                    </a:moveTo>
                    <a:cubicBezTo>
                      <a:pt x="290221" y="731838"/>
                      <a:pt x="266700" y="755683"/>
                      <a:pt x="266700" y="783864"/>
                    </a:cubicBezTo>
                    <a:cubicBezTo>
                      <a:pt x="266700" y="813490"/>
                      <a:pt x="290221" y="836613"/>
                      <a:pt x="319444" y="836613"/>
                    </a:cubicBezTo>
                    <a:cubicBezTo>
                      <a:pt x="347954" y="836613"/>
                      <a:pt x="371475" y="813490"/>
                      <a:pt x="371475" y="783864"/>
                    </a:cubicBezTo>
                    <a:cubicBezTo>
                      <a:pt x="371475" y="755683"/>
                      <a:pt x="347954" y="731838"/>
                      <a:pt x="319444" y="731838"/>
                    </a:cubicBezTo>
                    <a:close/>
                    <a:moveTo>
                      <a:pt x="1169988" y="701675"/>
                    </a:moveTo>
                    <a:cubicBezTo>
                      <a:pt x="1178647" y="701675"/>
                      <a:pt x="1185863" y="707368"/>
                      <a:pt x="1185863" y="716619"/>
                    </a:cubicBezTo>
                    <a:cubicBezTo>
                      <a:pt x="1185863" y="716619"/>
                      <a:pt x="1185863" y="716619"/>
                      <a:pt x="1185863" y="851119"/>
                    </a:cubicBezTo>
                    <a:cubicBezTo>
                      <a:pt x="1185863" y="859658"/>
                      <a:pt x="1178647" y="866775"/>
                      <a:pt x="1169988" y="866775"/>
                    </a:cubicBezTo>
                    <a:cubicBezTo>
                      <a:pt x="1161329" y="866775"/>
                      <a:pt x="1154113" y="859658"/>
                      <a:pt x="1154113" y="851119"/>
                    </a:cubicBezTo>
                    <a:cubicBezTo>
                      <a:pt x="1154113" y="851119"/>
                      <a:pt x="1154113" y="851119"/>
                      <a:pt x="1154113" y="716619"/>
                    </a:cubicBezTo>
                    <a:cubicBezTo>
                      <a:pt x="1154113" y="707368"/>
                      <a:pt x="1161329" y="701675"/>
                      <a:pt x="1169988" y="701675"/>
                    </a:cubicBezTo>
                    <a:close/>
                    <a:moveTo>
                      <a:pt x="958057" y="701675"/>
                    </a:moveTo>
                    <a:cubicBezTo>
                      <a:pt x="1004087" y="701675"/>
                      <a:pt x="1041401" y="738634"/>
                      <a:pt x="1041401" y="784225"/>
                    </a:cubicBezTo>
                    <a:cubicBezTo>
                      <a:pt x="1041401" y="829816"/>
                      <a:pt x="1004087" y="866775"/>
                      <a:pt x="958057" y="866775"/>
                    </a:cubicBezTo>
                    <a:cubicBezTo>
                      <a:pt x="912027" y="866775"/>
                      <a:pt x="874713" y="829816"/>
                      <a:pt x="874713" y="784225"/>
                    </a:cubicBezTo>
                    <a:cubicBezTo>
                      <a:pt x="874713" y="738634"/>
                      <a:pt x="912027" y="701675"/>
                      <a:pt x="958057" y="701675"/>
                    </a:cubicBezTo>
                    <a:close/>
                    <a:moveTo>
                      <a:pt x="745702" y="701675"/>
                    </a:moveTo>
                    <a:cubicBezTo>
                      <a:pt x="754592" y="701675"/>
                      <a:pt x="762001" y="707368"/>
                      <a:pt x="762001" y="716619"/>
                    </a:cubicBezTo>
                    <a:cubicBezTo>
                      <a:pt x="762001" y="716619"/>
                      <a:pt x="762001" y="716619"/>
                      <a:pt x="762001" y="851119"/>
                    </a:cubicBezTo>
                    <a:cubicBezTo>
                      <a:pt x="762001" y="859658"/>
                      <a:pt x="754592" y="866775"/>
                      <a:pt x="745702" y="866775"/>
                    </a:cubicBezTo>
                    <a:cubicBezTo>
                      <a:pt x="736812" y="866775"/>
                      <a:pt x="728663" y="859658"/>
                      <a:pt x="728663" y="851119"/>
                    </a:cubicBezTo>
                    <a:cubicBezTo>
                      <a:pt x="728663" y="851119"/>
                      <a:pt x="728663" y="851119"/>
                      <a:pt x="728663" y="716619"/>
                    </a:cubicBezTo>
                    <a:cubicBezTo>
                      <a:pt x="728663" y="707368"/>
                      <a:pt x="736812" y="701675"/>
                      <a:pt x="745702" y="701675"/>
                    </a:cubicBezTo>
                    <a:close/>
                    <a:moveTo>
                      <a:pt x="547688" y="701675"/>
                    </a:moveTo>
                    <a:cubicBezTo>
                      <a:pt x="556347" y="701675"/>
                      <a:pt x="563563" y="707368"/>
                      <a:pt x="563563" y="716619"/>
                    </a:cubicBezTo>
                    <a:cubicBezTo>
                      <a:pt x="563563" y="716619"/>
                      <a:pt x="563563" y="716619"/>
                      <a:pt x="563563" y="851119"/>
                    </a:cubicBezTo>
                    <a:cubicBezTo>
                      <a:pt x="563563" y="859658"/>
                      <a:pt x="556347" y="866775"/>
                      <a:pt x="547688" y="866775"/>
                    </a:cubicBezTo>
                    <a:cubicBezTo>
                      <a:pt x="539029" y="866775"/>
                      <a:pt x="531813" y="859658"/>
                      <a:pt x="531813" y="851119"/>
                    </a:cubicBezTo>
                    <a:cubicBezTo>
                      <a:pt x="531813" y="851119"/>
                      <a:pt x="531813" y="851119"/>
                      <a:pt x="531813" y="716619"/>
                    </a:cubicBezTo>
                    <a:cubicBezTo>
                      <a:pt x="531813" y="707368"/>
                      <a:pt x="539029" y="701675"/>
                      <a:pt x="547688" y="701675"/>
                    </a:cubicBezTo>
                    <a:close/>
                    <a:moveTo>
                      <a:pt x="319882" y="701675"/>
                    </a:moveTo>
                    <a:cubicBezTo>
                      <a:pt x="365912" y="701675"/>
                      <a:pt x="403226" y="738634"/>
                      <a:pt x="403226" y="784225"/>
                    </a:cubicBezTo>
                    <a:cubicBezTo>
                      <a:pt x="403226" y="829816"/>
                      <a:pt x="365912" y="866775"/>
                      <a:pt x="319882" y="866775"/>
                    </a:cubicBezTo>
                    <a:cubicBezTo>
                      <a:pt x="273852" y="866775"/>
                      <a:pt x="236538" y="829816"/>
                      <a:pt x="236538" y="784225"/>
                    </a:cubicBezTo>
                    <a:cubicBezTo>
                      <a:pt x="236538" y="738634"/>
                      <a:pt x="273852" y="701675"/>
                      <a:pt x="319882" y="701675"/>
                    </a:cubicBezTo>
                    <a:close/>
                    <a:moveTo>
                      <a:pt x="139347" y="701675"/>
                    </a:moveTo>
                    <a:cubicBezTo>
                      <a:pt x="148519" y="701675"/>
                      <a:pt x="155575" y="707368"/>
                      <a:pt x="155575" y="716619"/>
                    </a:cubicBezTo>
                    <a:cubicBezTo>
                      <a:pt x="155575" y="716619"/>
                      <a:pt x="155575" y="716619"/>
                      <a:pt x="155575" y="851119"/>
                    </a:cubicBezTo>
                    <a:cubicBezTo>
                      <a:pt x="155575" y="859658"/>
                      <a:pt x="148519" y="866775"/>
                      <a:pt x="139347" y="866775"/>
                    </a:cubicBezTo>
                    <a:cubicBezTo>
                      <a:pt x="130880" y="866775"/>
                      <a:pt x="123825" y="859658"/>
                      <a:pt x="123825" y="851119"/>
                    </a:cubicBezTo>
                    <a:cubicBezTo>
                      <a:pt x="123825" y="851119"/>
                      <a:pt x="123825" y="851119"/>
                      <a:pt x="123825" y="716619"/>
                    </a:cubicBezTo>
                    <a:cubicBezTo>
                      <a:pt x="123825" y="707368"/>
                      <a:pt x="130880" y="701675"/>
                      <a:pt x="139347" y="701675"/>
                    </a:cubicBezTo>
                    <a:close/>
                    <a:moveTo>
                      <a:pt x="15724" y="0"/>
                    </a:moveTo>
                    <a:cubicBezTo>
                      <a:pt x="15724" y="0"/>
                      <a:pt x="15724" y="0"/>
                      <a:pt x="1290789" y="0"/>
                    </a:cubicBezTo>
                    <a:cubicBezTo>
                      <a:pt x="1299366" y="0"/>
                      <a:pt x="1306513" y="7151"/>
                      <a:pt x="1306513" y="15733"/>
                    </a:cubicBezTo>
                    <a:cubicBezTo>
                      <a:pt x="1306513" y="15733"/>
                      <a:pt x="1306513" y="15733"/>
                      <a:pt x="1306513" y="851041"/>
                    </a:cubicBezTo>
                    <a:cubicBezTo>
                      <a:pt x="1306513" y="859623"/>
                      <a:pt x="1299366" y="866775"/>
                      <a:pt x="1290789" y="866775"/>
                    </a:cubicBezTo>
                    <a:cubicBezTo>
                      <a:pt x="1282213" y="866775"/>
                      <a:pt x="1275065" y="859623"/>
                      <a:pt x="1275065" y="851041"/>
                    </a:cubicBezTo>
                    <a:cubicBezTo>
                      <a:pt x="1275065" y="851041"/>
                      <a:pt x="1275065" y="851041"/>
                      <a:pt x="1275065" y="31467"/>
                    </a:cubicBezTo>
                    <a:cubicBezTo>
                      <a:pt x="1275065" y="31467"/>
                      <a:pt x="1275065" y="31467"/>
                      <a:pt x="31448" y="31467"/>
                    </a:cubicBezTo>
                    <a:cubicBezTo>
                      <a:pt x="31448" y="31467"/>
                      <a:pt x="31448" y="31467"/>
                      <a:pt x="31448" y="851041"/>
                    </a:cubicBezTo>
                    <a:cubicBezTo>
                      <a:pt x="31448" y="859623"/>
                      <a:pt x="24300" y="866775"/>
                      <a:pt x="15724" y="866775"/>
                    </a:cubicBezTo>
                    <a:cubicBezTo>
                      <a:pt x="7147" y="866775"/>
                      <a:pt x="0" y="859623"/>
                      <a:pt x="0" y="851041"/>
                    </a:cubicBezTo>
                    <a:cubicBezTo>
                      <a:pt x="0" y="851041"/>
                      <a:pt x="0" y="851041"/>
                      <a:pt x="0" y="15733"/>
                    </a:cubicBezTo>
                    <a:cubicBezTo>
                      <a:pt x="0" y="7151"/>
                      <a:pt x="7147" y="0"/>
                      <a:pt x="15724"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p>
            </p:txBody>
          </p:sp>
          <p:sp>
            <p:nvSpPr>
              <p:cNvPr id="199" name="Freeform 198"/>
              <p:cNvSpPr>
                <a:spLocks/>
              </p:cNvSpPr>
              <p:nvPr/>
            </p:nvSpPr>
            <p:spPr bwMode="auto">
              <a:xfrm>
                <a:off x="5548313" y="2867026"/>
                <a:ext cx="1096963" cy="1209675"/>
              </a:xfrm>
              <a:custGeom>
                <a:avLst/>
                <a:gdLst>
                  <a:gd name="connsiteX0" fmla="*/ 775402 w 1096963"/>
                  <a:gd name="connsiteY0" fmla="*/ 928120 h 1209675"/>
                  <a:gd name="connsiteX1" fmla="*/ 741805 w 1096963"/>
                  <a:gd name="connsiteY1" fmla="*/ 935400 h 1209675"/>
                  <a:gd name="connsiteX2" fmla="*/ 697262 w 1096963"/>
                  <a:gd name="connsiteY2" fmla="*/ 1049717 h 1209675"/>
                  <a:gd name="connsiteX3" fmla="*/ 810774 w 1096963"/>
                  <a:gd name="connsiteY3" fmla="*/ 1095013 h 1209675"/>
                  <a:gd name="connsiteX4" fmla="*/ 855317 w 1096963"/>
                  <a:gd name="connsiteY4" fmla="*/ 980695 h 1209675"/>
                  <a:gd name="connsiteX5" fmla="*/ 775402 w 1096963"/>
                  <a:gd name="connsiteY5" fmla="*/ 928120 h 1209675"/>
                  <a:gd name="connsiteX6" fmla="*/ 739556 w 1096963"/>
                  <a:gd name="connsiteY6" fmla="*/ 820737 h 1209675"/>
                  <a:gd name="connsiteX7" fmla="*/ 763859 w 1096963"/>
                  <a:gd name="connsiteY7" fmla="*/ 842860 h 1209675"/>
                  <a:gd name="connsiteX8" fmla="*/ 827477 w 1096963"/>
                  <a:gd name="connsiteY8" fmla="*/ 850710 h 1209675"/>
                  <a:gd name="connsiteX9" fmla="*/ 856069 w 1096963"/>
                  <a:gd name="connsiteY9" fmla="*/ 834296 h 1209675"/>
                  <a:gd name="connsiteX10" fmla="*/ 923261 w 1096963"/>
                  <a:gd name="connsiteY10" fmla="*/ 883538 h 1209675"/>
                  <a:gd name="connsiteX11" fmla="*/ 916828 w 1096963"/>
                  <a:gd name="connsiteY11" fmla="*/ 915652 h 1209675"/>
                  <a:gd name="connsiteX12" fmla="*/ 933983 w 1096963"/>
                  <a:gd name="connsiteY12" fmla="*/ 947053 h 1209675"/>
                  <a:gd name="connsiteX13" fmla="*/ 943991 w 1096963"/>
                  <a:gd name="connsiteY13" fmla="*/ 978453 h 1209675"/>
                  <a:gd name="connsiteX14" fmla="*/ 971868 w 1096963"/>
                  <a:gd name="connsiteY14" fmla="*/ 995581 h 1209675"/>
                  <a:gd name="connsiteX15" fmla="*/ 963290 w 1096963"/>
                  <a:gd name="connsiteY15" fmla="*/ 1076937 h 1209675"/>
                  <a:gd name="connsiteX16" fmla="*/ 932554 w 1096963"/>
                  <a:gd name="connsiteY16" fmla="*/ 1086214 h 1209675"/>
                  <a:gd name="connsiteX17" fmla="*/ 890380 w 1096963"/>
                  <a:gd name="connsiteY17" fmla="*/ 1144733 h 1209675"/>
                  <a:gd name="connsiteX18" fmla="*/ 890380 w 1096963"/>
                  <a:gd name="connsiteY18" fmla="*/ 1177561 h 1209675"/>
                  <a:gd name="connsiteX19" fmla="*/ 854640 w 1096963"/>
                  <a:gd name="connsiteY19" fmla="*/ 1197543 h 1209675"/>
                  <a:gd name="connsiteX20" fmla="*/ 816755 w 1096963"/>
                  <a:gd name="connsiteY20" fmla="*/ 1209675 h 1209675"/>
                  <a:gd name="connsiteX21" fmla="*/ 791737 w 1096963"/>
                  <a:gd name="connsiteY21" fmla="*/ 1187552 h 1209675"/>
                  <a:gd name="connsiteX22" fmla="*/ 720971 w 1096963"/>
                  <a:gd name="connsiteY22" fmla="*/ 1178275 h 1209675"/>
                  <a:gd name="connsiteX23" fmla="*/ 693093 w 1096963"/>
                  <a:gd name="connsiteY23" fmla="*/ 1194689 h 1209675"/>
                  <a:gd name="connsiteX24" fmla="*/ 628761 w 1096963"/>
                  <a:gd name="connsiteY24" fmla="*/ 1144733 h 1209675"/>
                  <a:gd name="connsiteX25" fmla="*/ 636624 w 1096963"/>
                  <a:gd name="connsiteY25" fmla="*/ 1112619 h 1209675"/>
                  <a:gd name="connsiteX26" fmla="*/ 620898 w 1096963"/>
                  <a:gd name="connsiteY26" fmla="*/ 1083359 h 1209675"/>
                  <a:gd name="connsiteX27" fmla="*/ 609461 w 1096963"/>
                  <a:gd name="connsiteY27" fmla="*/ 1049818 h 1209675"/>
                  <a:gd name="connsiteX28" fmla="*/ 581584 w 1096963"/>
                  <a:gd name="connsiteY28" fmla="*/ 1034118 h 1209675"/>
                  <a:gd name="connsiteX29" fmla="*/ 593021 w 1096963"/>
                  <a:gd name="connsiteY29" fmla="*/ 949907 h 1209675"/>
                  <a:gd name="connsiteX30" fmla="*/ 623757 w 1096963"/>
                  <a:gd name="connsiteY30" fmla="*/ 939916 h 1209675"/>
                  <a:gd name="connsiteX31" fmla="*/ 663072 w 1096963"/>
                  <a:gd name="connsiteY31" fmla="*/ 887820 h 1209675"/>
                  <a:gd name="connsiteX32" fmla="*/ 663072 w 1096963"/>
                  <a:gd name="connsiteY32" fmla="*/ 854279 h 1209675"/>
                  <a:gd name="connsiteX33" fmla="*/ 698812 w 1096963"/>
                  <a:gd name="connsiteY33" fmla="*/ 832869 h 1209675"/>
                  <a:gd name="connsiteX34" fmla="*/ 739556 w 1096963"/>
                  <a:gd name="connsiteY34" fmla="*/ 820737 h 1209675"/>
                  <a:gd name="connsiteX35" fmla="*/ 15732 w 1096963"/>
                  <a:gd name="connsiteY35" fmla="*/ 469900 h 1209675"/>
                  <a:gd name="connsiteX36" fmla="*/ 1081231 w 1096963"/>
                  <a:gd name="connsiteY36" fmla="*/ 469900 h 1209675"/>
                  <a:gd name="connsiteX37" fmla="*/ 1096963 w 1096963"/>
                  <a:gd name="connsiteY37" fmla="*/ 485332 h 1209675"/>
                  <a:gd name="connsiteX38" fmla="*/ 1081231 w 1096963"/>
                  <a:gd name="connsiteY38" fmla="*/ 500063 h 1209675"/>
                  <a:gd name="connsiteX39" fmla="*/ 15732 w 1096963"/>
                  <a:gd name="connsiteY39" fmla="*/ 500063 h 1209675"/>
                  <a:gd name="connsiteX40" fmla="*/ 0 w 1096963"/>
                  <a:gd name="connsiteY40" fmla="*/ 485332 h 1209675"/>
                  <a:gd name="connsiteX41" fmla="*/ 15732 w 1096963"/>
                  <a:gd name="connsiteY41" fmla="*/ 469900 h 1209675"/>
                  <a:gd name="connsiteX42" fmla="*/ 15732 w 1096963"/>
                  <a:gd name="connsiteY42" fmla="*/ 352425 h 1209675"/>
                  <a:gd name="connsiteX43" fmla="*/ 1081231 w 1096963"/>
                  <a:gd name="connsiteY43" fmla="*/ 352425 h 1209675"/>
                  <a:gd name="connsiteX44" fmla="*/ 1096963 w 1096963"/>
                  <a:gd name="connsiteY44" fmla="*/ 367857 h 1209675"/>
                  <a:gd name="connsiteX45" fmla="*/ 1081231 w 1096963"/>
                  <a:gd name="connsiteY45" fmla="*/ 382588 h 1209675"/>
                  <a:gd name="connsiteX46" fmla="*/ 15732 w 1096963"/>
                  <a:gd name="connsiteY46" fmla="*/ 382588 h 1209675"/>
                  <a:gd name="connsiteX47" fmla="*/ 0 w 1096963"/>
                  <a:gd name="connsiteY47" fmla="*/ 367857 h 1209675"/>
                  <a:gd name="connsiteX48" fmla="*/ 15732 w 1096963"/>
                  <a:gd name="connsiteY48" fmla="*/ 352425 h 1209675"/>
                  <a:gd name="connsiteX49" fmla="*/ 15732 w 1096963"/>
                  <a:gd name="connsiteY49" fmla="*/ 234950 h 1209675"/>
                  <a:gd name="connsiteX50" fmla="*/ 1081231 w 1096963"/>
                  <a:gd name="connsiteY50" fmla="*/ 234950 h 1209675"/>
                  <a:gd name="connsiteX51" fmla="*/ 1096963 w 1096963"/>
                  <a:gd name="connsiteY51" fmla="*/ 251194 h 1209675"/>
                  <a:gd name="connsiteX52" fmla="*/ 1081231 w 1096963"/>
                  <a:gd name="connsiteY52" fmla="*/ 266700 h 1209675"/>
                  <a:gd name="connsiteX53" fmla="*/ 15732 w 1096963"/>
                  <a:gd name="connsiteY53" fmla="*/ 266700 h 1209675"/>
                  <a:gd name="connsiteX54" fmla="*/ 0 w 1096963"/>
                  <a:gd name="connsiteY54" fmla="*/ 251194 h 1209675"/>
                  <a:gd name="connsiteX55" fmla="*/ 15732 w 1096963"/>
                  <a:gd name="connsiteY55" fmla="*/ 234950 h 1209675"/>
                  <a:gd name="connsiteX56" fmla="*/ 15732 w 1096963"/>
                  <a:gd name="connsiteY56" fmla="*/ 117475 h 1209675"/>
                  <a:gd name="connsiteX57" fmla="*/ 1081231 w 1096963"/>
                  <a:gd name="connsiteY57" fmla="*/ 117475 h 1209675"/>
                  <a:gd name="connsiteX58" fmla="*/ 1096963 w 1096963"/>
                  <a:gd name="connsiteY58" fmla="*/ 134514 h 1209675"/>
                  <a:gd name="connsiteX59" fmla="*/ 1081231 w 1096963"/>
                  <a:gd name="connsiteY59" fmla="*/ 150813 h 1209675"/>
                  <a:gd name="connsiteX60" fmla="*/ 15732 w 1096963"/>
                  <a:gd name="connsiteY60" fmla="*/ 150813 h 1209675"/>
                  <a:gd name="connsiteX61" fmla="*/ 0 w 1096963"/>
                  <a:gd name="connsiteY61" fmla="*/ 134514 h 1209675"/>
                  <a:gd name="connsiteX62" fmla="*/ 15732 w 1096963"/>
                  <a:gd name="connsiteY62" fmla="*/ 117475 h 1209675"/>
                  <a:gd name="connsiteX63" fmla="*/ 15732 w 1096963"/>
                  <a:gd name="connsiteY63" fmla="*/ 0 h 1209675"/>
                  <a:gd name="connsiteX64" fmla="*/ 1081231 w 1096963"/>
                  <a:gd name="connsiteY64" fmla="*/ 0 h 1209675"/>
                  <a:gd name="connsiteX65" fmla="*/ 1096963 w 1096963"/>
                  <a:gd name="connsiteY65" fmla="*/ 17039 h 1209675"/>
                  <a:gd name="connsiteX66" fmla="*/ 1081231 w 1096963"/>
                  <a:gd name="connsiteY66" fmla="*/ 33338 h 1209675"/>
                  <a:gd name="connsiteX67" fmla="*/ 15732 w 1096963"/>
                  <a:gd name="connsiteY67" fmla="*/ 33338 h 1209675"/>
                  <a:gd name="connsiteX68" fmla="*/ 0 w 1096963"/>
                  <a:gd name="connsiteY68" fmla="*/ 17039 h 1209675"/>
                  <a:gd name="connsiteX69" fmla="*/ 15732 w 1096963"/>
                  <a:gd name="connsiteY69" fmla="*/ 0 h 1209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096963" h="1209675">
                    <a:moveTo>
                      <a:pt x="775402" y="928120"/>
                    </a:moveTo>
                    <a:cubicBezTo>
                      <a:pt x="764166" y="928210"/>
                      <a:pt x="752761" y="930547"/>
                      <a:pt x="741805" y="935400"/>
                    </a:cubicBezTo>
                    <a:cubicBezTo>
                      <a:pt x="697980" y="954093"/>
                      <a:pt x="677864" y="1005859"/>
                      <a:pt x="697262" y="1049717"/>
                    </a:cubicBezTo>
                    <a:cubicBezTo>
                      <a:pt x="715941" y="1093575"/>
                      <a:pt x="766950" y="1114425"/>
                      <a:pt x="810774" y="1095013"/>
                    </a:cubicBezTo>
                    <a:cubicBezTo>
                      <a:pt x="854598" y="1076319"/>
                      <a:pt x="874714" y="1025272"/>
                      <a:pt x="855317" y="980695"/>
                    </a:cubicBezTo>
                    <a:cubicBezTo>
                      <a:pt x="841307" y="947802"/>
                      <a:pt x="809112" y="927850"/>
                      <a:pt x="775402" y="928120"/>
                    </a:cubicBezTo>
                    <a:close/>
                    <a:moveTo>
                      <a:pt x="739556" y="820737"/>
                    </a:moveTo>
                    <a:cubicBezTo>
                      <a:pt x="739556" y="820737"/>
                      <a:pt x="739556" y="820737"/>
                      <a:pt x="763859" y="842860"/>
                    </a:cubicBezTo>
                    <a:cubicBezTo>
                      <a:pt x="785304" y="841433"/>
                      <a:pt x="806748" y="843574"/>
                      <a:pt x="827477" y="850710"/>
                    </a:cubicBezTo>
                    <a:cubicBezTo>
                      <a:pt x="827477" y="850710"/>
                      <a:pt x="827477" y="850710"/>
                      <a:pt x="856069" y="834296"/>
                    </a:cubicBezTo>
                    <a:cubicBezTo>
                      <a:pt x="881088" y="845001"/>
                      <a:pt x="904676" y="862129"/>
                      <a:pt x="923261" y="883538"/>
                    </a:cubicBezTo>
                    <a:cubicBezTo>
                      <a:pt x="923261" y="883538"/>
                      <a:pt x="923261" y="883538"/>
                      <a:pt x="916828" y="915652"/>
                    </a:cubicBezTo>
                    <a:cubicBezTo>
                      <a:pt x="923261" y="925643"/>
                      <a:pt x="929694" y="936348"/>
                      <a:pt x="933983" y="947053"/>
                    </a:cubicBezTo>
                    <a:cubicBezTo>
                      <a:pt x="938272" y="957757"/>
                      <a:pt x="941846" y="968462"/>
                      <a:pt x="943991" y="978453"/>
                    </a:cubicBezTo>
                    <a:cubicBezTo>
                      <a:pt x="943991" y="978453"/>
                      <a:pt x="943991" y="978453"/>
                      <a:pt x="971868" y="995581"/>
                    </a:cubicBezTo>
                    <a:cubicBezTo>
                      <a:pt x="974727" y="1023413"/>
                      <a:pt x="971868" y="1051245"/>
                      <a:pt x="963290" y="1076937"/>
                    </a:cubicBezTo>
                    <a:cubicBezTo>
                      <a:pt x="963290" y="1076937"/>
                      <a:pt x="963290" y="1076937"/>
                      <a:pt x="932554" y="1086214"/>
                    </a:cubicBezTo>
                    <a:cubicBezTo>
                      <a:pt x="922546" y="1108337"/>
                      <a:pt x="908250" y="1128319"/>
                      <a:pt x="890380" y="1144733"/>
                    </a:cubicBezTo>
                    <a:cubicBezTo>
                      <a:pt x="890380" y="1144733"/>
                      <a:pt x="890380" y="1144733"/>
                      <a:pt x="890380" y="1177561"/>
                    </a:cubicBezTo>
                    <a:cubicBezTo>
                      <a:pt x="878943" y="1184697"/>
                      <a:pt x="866791" y="1191834"/>
                      <a:pt x="854640" y="1197543"/>
                    </a:cubicBezTo>
                    <a:cubicBezTo>
                      <a:pt x="841773" y="1202539"/>
                      <a:pt x="828907" y="1206821"/>
                      <a:pt x="816755" y="1209675"/>
                    </a:cubicBezTo>
                    <a:cubicBezTo>
                      <a:pt x="816755" y="1209675"/>
                      <a:pt x="816755" y="1209675"/>
                      <a:pt x="791737" y="1187552"/>
                    </a:cubicBezTo>
                    <a:cubicBezTo>
                      <a:pt x="767433" y="1188979"/>
                      <a:pt x="743845" y="1186125"/>
                      <a:pt x="720971" y="1178275"/>
                    </a:cubicBezTo>
                    <a:cubicBezTo>
                      <a:pt x="720971" y="1178275"/>
                      <a:pt x="720971" y="1178275"/>
                      <a:pt x="693093" y="1194689"/>
                    </a:cubicBezTo>
                    <a:cubicBezTo>
                      <a:pt x="669505" y="1182557"/>
                      <a:pt x="647346" y="1166143"/>
                      <a:pt x="628761" y="1144733"/>
                    </a:cubicBezTo>
                    <a:cubicBezTo>
                      <a:pt x="628761" y="1144733"/>
                      <a:pt x="628761" y="1144733"/>
                      <a:pt x="636624" y="1112619"/>
                    </a:cubicBezTo>
                    <a:cubicBezTo>
                      <a:pt x="630191" y="1104055"/>
                      <a:pt x="625187" y="1094064"/>
                      <a:pt x="620898" y="1083359"/>
                    </a:cubicBezTo>
                    <a:cubicBezTo>
                      <a:pt x="615180" y="1072655"/>
                      <a:pt x="611606" y="1060523"/>
                      <a:pt x="609461" y="1049818"/>
                    </a:cubicBezTo>
                    <a:cubicBezTo>
                      <a:pt x="609461" y="1049818"/>
                      <a:pt x="609461" y="1049818"/>
                      <a:pt x="581584" y="1034118"/>
                    </a:cubicBezTo>
                    <a:cubicBezTo>
                      <a:pt x="579439" y="1004145"/>
                      <a:pt x="583013" y="976312"/>
                      <a:pt x="593021" y="949907"/>
                    </a:cubicBezTo>
                    <a:cubicBezTo>
                      <a:pt x="593021" y="949907"/>
                      <a:pt x="593021" y="949907"/>
                      <a:pt x="623757" y="939916"/>
                    </a:cubicBezTo>
                    <a:cubicBezTo>
                      <a:pt x="633050" y="920648"/>
                      <a:pt x="646631" y="902807"/>
                      <a:pt x="663072" y="887820"/>
                    </a:cubicBezTo>
                    <a:cubicBezTo>
                      <a:pt x="663072" y="887820"/>
                      <a:pt x="663072" y="887820"/>
                      <a:pt x="663072" y="854279"/>
                    </a:cubicBezTo>
                    <a:cubicBezTo>
                      <a:pt x="673794" y="845715"/>
                      <a:pt x="685945" y="839292"/>
                      <a:pt x="698812" y="832869"/>
                    </a:cubicBezTo>
                    <a:cubicBezTo>
                      <a:pt x="712393" y="827160"/>
                      <a:pt x="725975" y="823592"/>
                      <a:pt x="739556" y="820737"/>
                    </a:cubicBezTo>
                    <a:close/>
                    <a:moveTo>
                      <a:pt x="15732" y="469900"/>
                    </a:moveTo>
                    <a:cubicBezTo>
                      <a:pt x="15732" y="469900"/>
                      <a:pt x="15732" y="469900"/>
                      <a:pt x="1081231" y="469900"/>
                    </a:cubicBezTo>
                    <a:cubicBezTo>
                      <a:pt x="1089812" y="469900"/>
                      <a:pt x="1096963" y="476915"/>
                      <a:pt x="1096963" y="485332"/>
                    </a:cubicBezTo>
                    <a:cubicBezTo>
                      <a:pt x="1096963" y="493048"/>
                      <a:pt x="1089812" y="500063"/>
                      <a:pt x="1081231" y="500063"/>
                    </a:cubicBezTo>
                    <a:cubicBezTo>
                      <a:pt x="1081231" y="500063"/>
                      <a:pt x="1081231" y="500063"/>
                      <a:pt x="15732" y="500063"/>
                    </a:cubicBezTo>
                    <a:cubicBezTo>
                      <a:pt x="7151" y="500063"/>
                      <a:pt x="0" y="493048"/>
                      <a:pt x="0" y="485332"/>
                    </a:cubicBezTo>
                    <a:cubicBezTo>
                      <a:pt x="0" y="476915"/>
                      <a:pt x="7151" y="469900"/>
                      <a:pt x="15732" y="469900"/>
                    </a:cubicBezTo>
                    <a:close/>
                    <a:moveTo>
                      <a:pt x="15732" y="352425"/>
                    </a:moveTo>
                    <a:cubicBezTo>
                      <a:pt x="15732" y="352425"/>
                      <a:pt x="15732" y="352425"/>
                      <a:pt x="1081231" y="352425"/>
                    </a:cubicBezTo>
                    <a:cubicBezTo>
                      <a:pt x="1089812" y="352425"/>
                      <a:pt x="1096963" y="359440"/>
                      <a:pt x="1096963" y="367857"/>
                    </a:cubicBezTo>
                    <a:cubicBezTo>
                      <a:pt x="1096963" y="375573"/>
                      <a:pt x="1089812" y="382588"/>
                      <a:pt x="1081231" y="382588"/>
                    </a:cubicBezTo>
                    <a:cubicBezTo>
                      <a:pt x="1081231" y="382588"/>
                      <a:pt x="1081231" y="382588"/>
                      <a:pt x="15732" y="382588"/>
                    </a:cubicBezTo>
                    <a:cubicBezTo>
                      <a:pt x="7151" y="382588"/>
                      <a:pt x="0" y="375573"/>
                      <a:pt x="0" y="367857"/>
                    </a:cubicBezTo>
                    <a:cubicBezTo>
                      <a:pt x="0" y="359440"/>
                      <a:pt x="7151" y="352425"/>
                      <a:pt x="15732" y="352425"/>
                    </a:cubicBezTo>
                    <a:close/>
                    <a:moveTo>
                      <a:pt x="15732" y="234950"/>
                    </a:moveTo>
                    <a:cubicBezTo>
                      <a:pt x="15732" y="234950"/>
                      <a:pt x="15732" y="234950"/>
                      <a:pt x="1081231" y="234950"/>
                    </a:cubicBezTo>
                    <a:cubicBezTo>
                      <a:pt x="1089812" y="234950"/>
                      <a:pt x="1096963" y="242334"/>
                      <a:pt x="1096963" y="251194"/>
                    </a:cubicBezTo>
                    <a:cubicBezTo>
                      <a:pt x="1096963" y="259316"/>
                      <a:pt x="1089812" y="266700"/>
                      <a:pt x="1081231" y="266700"/>
                    </a:cubicBezTo>
                    <a:cubicBezTo>
                      <a:pt x="1081231" y="266700"/>
                      <a:pt x="1081231" y="266700"/>
                      <a:pt x="15732" y="266700"/>
                    </a:cubicBezTo>
                    <a:cubicBezTo>
                      <a:pt x="7151" y="266700"/>
                      <a:pt x="0" y="259316"/>
                      <a:pt x="0" y="251194"/>
                    </a:cubicBezTo>
                    <a:cubicBezTo>
                      <a:pt x="0" y="242334"/>
                      <a:pt x="7151" y="234950"/>
                      <a:pt x="15732" y="234950"/>
                    </a:cubicBezTo>
                    <a:close/>
                    <a:moveTo>
                      <a:pt x="15732" y="117475"/>
                    </a:moveTo>
                    <a:cubicBezTo>
                      <a:pt x="15732" y="117475"/>
                      <a:pt x="15732" y="117475"/>
                      <a:pt x="1081231" y="117475"/>
                    </a:cubicBezTo>
                    <a:cubicBezTo>
                      <a:pt x="1089812" y="117475"/>
                      <a:pt x="1096963" y="125624"/>
                      <a:pt x="1096963" y="134514"/>
                    </a:cubicBezTo>
                    <a:cubicBezTo>
                      <a:pt x="1096963" y="143404"/>
                      <a:pt x="1089812" y="150813"/>
                      <a:pt x="1081231" y="150813"/>
                    </a:cubicBezTo>
                    <a:cubicBezTo>
                      <a:pt x="1081231" y="150813"/>
                      <a:pt x="1081231" y="150813"/>
                      <a:pt x="15732" y="150813"/>
                    </a:cubicBezTo>
                    <a:cubicBezTo>
                      <a:pt x="7151" y="150813"/>
                      <a:pt x="0" y="143404"/>
                      <a:pt x="0" y="134514"/>
                    </a:cubicBezTo>
                    <a:cubicBezTo>
                      <a:pt x="0" y="125624"/>
                      <a:pt x="7151" y="117475"/>
                      <a:pt x="15732" y="117475"/>
                    </a:cubicBezTo>
                    <a:close/>
                    <a:moveTo>
                      <a:pt x="15732" y="0"/>
                    </a:moveTo>
                    <a:cubicBezTo>
                      <a:pt x="15732" y="0"/>
                      <a:pt x="15732" y="0"/>
                      <a:pt x="1081231" y="0"/>
                    </a:cubicBezTo>
                    <a:cubicBezTo>
                      <a:pt x="1089812" y="0"/>
                      <a:pt x="1096963" y="8149"/>
                      <a:pt x="1096963" y="17039"/>
                    </a:cubicBezTo>
                    <a:cubicBezTo>
                      <a:pt x="1096963" y="25929"/>
                      <a:pt x="1089812" y="33338"/>
                      <a:pt x="1081231" y="33338"/>
                    </a:cubicBezTo>
                    <a:cubicBezTo>
                      <a:pt x="1081231" y="33338"/>
                      <a:pt x="1081231" y="33338"/>
                      <a:pt x="15732" y="33338"/>
                    </a:cubicBezTo>
                    <a:cubicBezTo>
                      <a:pt x="7151" y="33338"/>
                      <a:pt x="0" y="25929"/>
                      <a:pt x="0" y="17039"/>
                    </a:cubicBezTo>
                    <a:cubicBezTo>
                      <a:pt x="0" y="8149"/>
                      <a:pt x="7151" y="0"/>
                      <a:pt x="15732"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p>
            </p:txBody>
          </p:sp>
        </p:grpSp>
      </p:grpSp>
      <p:grpSp>
        <p:nvGrpSpPr>
          <p:cNvPr id="200" name="Group 199"/>
          <p:cNvGrpSpPr>
            <a:grpSpLocks noChangeAspect="1"/>
          </p:cNvGrpSpPr>
          <p:nvPr/>
        </p:nvGrpSpPr>
        <p:grpSpPr>
          <a:xfrm>
            <a:off x="7773866" y="2756840"/>
            <a:ext cx="430625" cy="431024"/>
            <a:chOff x="5273801" y="2606040"/>
            <a:chExt cx="1644396" cy="1645920"/>
          </a:xfrm>
        </p:grpSpPr>
        <p:sp>
          <p:nvSpPr>
            <p:cNvPr id="201" name="AutoShape 23">
              <a:extLst>
                <a:ext uri="{FF2B5EF4-FFF2-40B4-BE49-F238E27FC236}">
                  <a16:creationId xmlns:a16="http://schemas.microsoft.com/office/drawing/2014/main" id="{21145B1E-CDCB-4DD6-B1E9-AD669D7521DE}"/>
                </a:ext>
              </a:extLst>
            </p:cNvPr>
            <p:cNvSpPr>
              <a:spLocks noChangeAspect="1" noChangeArrowheads="1" noTextEdit="1"/>
            </p:cNvSpPr>
            <p:nvPr/>
          </p:nvSpPr>
          <p:spPr bwMode="auto">
            <a:xfrm>
              <a:off x="5273801" y="2606040"/>
              <a:ext cx="1644396" cy="1645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202" name="Group 201"/>
            <p:cNvGrpSpPr/>
            <p:nvPr/>
          </p:nvGrpSpPr>
          <p:grpSpPr>
            <a:xfrm>
              <a:off x="5343905" y="2928366"/>
              <a:ext cx="1505712" cy="995553"/>
              <a:chOff x="5343905" y="2928366"/>
              <a:chExt cx="1505712" cy="995553"/>
            </a:xfrm>
          </p:grpSpPr>
          <p:sp>
            <p:nvSpPr>
              <p:cNvPr id="203" name="Freeform 25">
                <a:extLst>
                  <a:ext uri="{FF2B5EF4-FFF2-40B4-BE49-F238E27FC236}">
                    <a16:creationId xmlns:a16="http://schemas.microsoft.com/office/drawing/2014/main" id="{9F947C49-F917-4AD1-B35C-097F99CCE4E2}"/>
                  </a:ext>
                </a:extLst>
              </p:cNvPr>
              <p:cNvSpPr>
                <a:spLocks noEditPoints="1"/>
              </p:cNvSpPr>
              <p:nvPr/>
            </p:nvSpPr>
            <p:spPr bwMode="auto">
              <a:xfrm>
                <a:off x="5696330" y="2928366"/>
                <a:ext cx="1153287" cy="654177"/>
              </a:xfrm>
              <a:custGeom>
                <a:avLst/>
                <a:gdLst>
                  <a:gd name="T0" fmla="*/ 1610 w 1616"/>
                  <a:gd name="T1" fmla="*/ 362 h 916"/>
                  <a:gd name="T2" fmla="*/ 1552 w 1616"/>
                  <a:gd name="T3" fmla="*/ 327 h 916"/>
                  <a:gd name="T4" fmla="*/ 1530 w 1616"/>
                  <a:gd name="T5" fmla="*/ 261 h 916"/>
                  <a:gd name="T6" fmla="*/ 1495 w 1616"/>
                  <a:gd name="T7" fmla="*/ 196 h 916"/>
                  <a:gd name="T8" fmla="*/ 1508 w 1616"/>
                  <a:gd name="T9" fmla="*/ 130 h 916"/>
                  <a:gd name="T10" fmla="*/ 1369 w 1616"/>
                  <a:gd name="T11" fmla="*/ 28 h 916"/>
                  <a:gd name="T12" fmla="*/ 1309 w 1616"/>
                  <a:gd name="T13" fmla="*/ 62 h 916"/>
                  <a:gd name="T14" fmla="*/ 1178 w 1616"/>
                  <a:gd name="T15" fmla="*/ 47 h 916"/>
                  <a:gd name="T16" fmla="*/ 1127 w 1616"/>
                  <a:gd name="T17" fmla="*/ 0 h 916"/>
                  <a:gd name="T18" fmla="*/ 1043 w 1616"/>
                  <a:gd name="T19" fmla="*/ 26 h 916"/>
                  <a:gd name="T20" fmla="*/ 967 w 1616"/>
                  <a:gd name="T21" fmla="*/ 69 h 916"/>
                  <a:gd name="T22" fmla="*/ 967 w 1616"/>
                  <a:gd name="T23" fmla="*/ 140 h 916"/>
                  <a:gd name="T24" fmla="*/ 886 w 1616"/>
                  <a:gd name="T25" fmla="*/ 246 h 916"/>
                  <a:gd name="T26" fmla="*/ 821 w 1616"/>
                  <a:gd name="T27" fmla="*/ 267 h 916"/>
                  <a:gd name="T28" fmla="*/ 798 w 1616"/>
                  <a:gd name="T29" fmla="*/ 441 h 916"/>
                  <a:gd name="T30" fmla="*/ 856 w 1616"/>
                  <a:gd name="T31" fmla="*/ 475 h 916"/>
                  <a:gd name="T32" fmla="*/ 879 w 1616"/>
                  <a:gd name="T33" fmla="*/ 546 h 916"/>
                  <a:gd name="T34" fmla="*/ 912 w 1616"/>
                  <a:gd name="T35" fmla="*/ 607 h 916"/>
                  <a:gd name="T36" fmla="*/ 896 w 1616"/>
                  <a:gd name="T37" fmla="*/ 673 h 916"/>
                  <a:gd name="T38" fmla="*/ 1031 w 1616"/>
                  <a:gd name="T39" fmla="*/ 777 h 916"/>
                  <a:gd name="T40" fmla="*/ 1089 w 1616"/>
                  <a:gd name="T41" fmla="*/ 743 h 916"/>
                  <a:gd name="T42" fmla="*/ 1236 w 1616"/>
                  <a:gd name="T43" fmla="*/ 762 h 916"/>
                  <a:gd name="T44" fmla="*/ 1287 w 1616"/>
                  <a:gd name="T45" fmla="*/ 808 h 916"/>
                  <a:gd name="T46" fmla="*/ 1366 w 1616"/>
                  <a:gd name="T47" fmla="*/ 783 h 916"/>
                  <a:gd name="T48" fmla="*/ 1440 w 1616"/>
                  <a:gd name="T49" fmla="*/ 741 h 916"/>
                  <a:gd name="T50" fmla="*/ 1440 w 1616"/>
                  <a:gd name="T51" fmla="*/ 673 h 916"/>
                  <a:gd name="T52" fmla="*/ 1528 w 1616"/>
                  <a:gd name="T53" fmla="*/ 552 h 916"/>
                  <a:gd name="T54" fmla="*/ 1591 w 1616"/>
                  <a:gd name="T55" fmla="*/ 532 h 916"/>
                  <a:gd name="T56" fmla="*/ 1610 w 1616"/>
                  <a:gd name="T57" fmla="*/ 362 h 916"/>
                  <a:gd name="T58" fmla="*/ 1276 w 1616"/>
                  <a:gd name="T59" fmla="*/ 569 h 916"/>
                  <a:gd name="T60" fmla="*/ 1041 w 1616"/>
                  <a:gd name="T61" fmla="*/ 475 h 916"/>
                  <a:gd name="T62" fmla="*/ 1133 w 1616"/>
                  <a:gd name="T63" fmla="*/ 239 h 916"/>
                  <a:gd name="T64" fmla="*/ 1367 w 1616"/>
                  <a:gd name="T65" fmla="*/ 333 h 916"/>
                  <a:gd name="T66" fmla="*/ 1276 w 1616"/>
                  <a:gd name="T67" fmla="*/ 569 h 916"/>
                  <a:gd name="T68" fmla="*/ 187 w 1616"/>
                  <a:gd name="T69" fmla="*/ 916 h 916"/>
                  <a:gd name="T70" fmla="*/ 0 w 1616"/>
                  <a:gd name="T71" fmla="*/ 729 h 916"/>
                  <a:gd name="T72" fmla="*/ 187 w 1616"/>
                  <a:gd name="T73" fmla="*/ 541 h 916"/>
                  <a:gd name="T74" fmla="*/ 375 w 1616"/>
                  <a:gd name="T75" fmla="*/ 729 h 916"/>
                  <a:gd name="T76" fmla="*/ 187 w 1616"/>
                  <a:gd name="T77" fmla="*/ 916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16" h="916">
                    <a:moveTo>
                      <a:pt x="1610" y="362"/>
                    </a:moveTo>
                    <a:cubicBezTo>
                      <a:pt x="1552" y="327"/>
                      <a:pt x="1552" y="327"/>
                      <a:pt x="1552" y="327"/>
                    </a:cubicBezTo>
                    <a:cubicBezTo>
                      <a:pt x="1547" y="305"/>
                      <a:pt x="1539" y="283"/>
                      <a:pt x="1530" y="261"/>
                    </a:cubicBezTo>
                    <a:cubicBezTo>
                      <a:pt x="1521" y="239"/>
                      <a:pt x="1508" y="217"/>
                      <a:pt x="1495" y="196"/>
                    </a:cubicBezTo>
                    <a:cubicBezTo>
                      <a:pt x="1508" y="130"/>
                      <a:pt x="1508" y="130"/>
                      <a:pt x="1508" y="130"/>
                    </a:cubicBezTo>
                    <a:cubicBezTo>
                      <a:pt x="1470" y="87"/>
                      <a:pt x="1421" y="51"/>
                      <a:pt x="1369" y="28"/>
                    </a:cubicBezTo>
                    <a:cubicBezTo>
                      <a:pt x="1309" y="62"/>
                      <a:pt x="1309" y="62"/>
                      <a:pt x="1309" y="62"/>
                    </a:cubicBezTo>
                    <a:cubicBezTo>
                      <a:pt x="1266" y="48"/>
                      <a:pt x="1223" y="43"/>
                      <a:pt x="1178" y="47"/>
                    </a:cubicBezTo>
                    <a:cubicBezTo>
                      <a:pt x="1127" y="0"/>
                      <a:pt x="1127" y="0"/>
                      <a:pt x="1127" y="0"/>
                    </a:cubicBezTo>
                    <a:cubicBezTo>
                      <a:pt x="1099" y="6"/>
                      <a:pt x="1071" y="13"/>
                      <a:pt x="1043" y="26"/>
                    </a:cubicBezTo>
                    <a:cubicBezTo>
                      <a:pt x="1016" y="38"/>
                      <a:pt x="989" y="53"/>
                      <a:pt x="967" y="69"/>
                    </a:cubicBezTo>
                    <a:cubicBezTo>
                      <a:pt x="967" y="140"/>
                      <a:pt x="967" y="140"/>
                      <a:pt x="967" y="140"/>
                    </a:cubicBezTo>
                    <a:cubicBezTo>
                      <a:pt x="933" y="171"/>
                      <a:pt x="905" y="206"/>
                      <a:pt x="886" y="246"/>
                    </a:cubicBezTo>
                    <a:cubicBezTo>
                      <a:pt x="821" y="267"/>
                      <a:pt x="821" y="267"/>
                      <a:pt x="821" y="267"/>
                    </a:cubicBezTo>
                    <a:cubicBezTo>
                      <a:pt x="801" y="321"/>
                      <a:pt x="794" y="380"/>
                      <a:pt x="798" y="441"/>
                    </a:cubicBezTo>
                    <a:cubicBezTo>
                      <a:pt x="856" y="475"/>
                      <a:pt x="856" y="475"/>
                      <a:pt x="856" y="475"/>
                    </a:cubicBezTo>
                    <a:cubicBezTo>
                      <a:pt x="861" y="498"/>
                      <a:pt x="868" y="523"/>
                      <a:pt x="879" y="546"/>
                    </a:cubicBezTo>
                    <a:cubicBezTo>
                      <a:pt x="889" y="567"/>
                      <a:pt x="899" y="588"/>
                      <a:pt x="912" y="607"/>
                    </a:cubicBezTo>
                    <a:cubicBezTo>
                      <a:pt x="896" y="673"/>
                      <a:pt x="896" y="673"/>
                      <a:pt x="896" y="673"/>
                    </a:cubicBezTo>
                    <a:cubicBezTo>
                      <a:pt x="934" y="718"/>
                      <a:pt x="980" y="752"/>
                      <a:pt x="1031" y="777"/>
                    </a:cubicBezTo>
                    <a:cubicBezTo>
                      <a:pt x="1089" y="743"/>
                      <a:pt x="1089" y="743"/>
                      <a:pt x="1089" y="743"/>
                    </a:cubicBezTo>
                    <a:cubicBezTo>
                      <a:pt x="1136" y="760"/>
                      <a:pt x="1185" y="766"/>
                      <a:pt x="1236" y="762"/>
                    </a:cubicBezTo>
                    <a:cubicBezTo>
                      <a:pt x="1287" y="808"/>
                      <a:pt x="1287" y="808"/>
                      <a:pt x="1287" y="808"/>
                    </a:cubicBezTo>
                    <a:cubicBezTo>
                      <a:pt x="1312" y="802"/>
                      <a:pt x="1340" y="794"/>
                      <a:pt x="1366" y="783"/>
                    </a:cubicBezTo>
                    <a:cubicBezTo>
                      <a:pt x="1392" y="771"/>
                      <a:pt x="1416" y="757"/>
                      <a:pt x="1440" y="741"/>
                    </a:cubicBezTo>
                    <a:cubicBezTo>
                      <a:pt x="1440" y="673"/>
                      <a:pt x="1440" y="673"/>
                      <a:pt x="1440" y="673"/>
                    </a:cubicBezTo>
                    <a:cubicBezTo>
                      <a:pt x="1477" y="639"/>
                      <a:pt x="1507" y="597"/>
                      <a:pt x="1528" y="552"/>
                    </a:cubicBezTo>
                    <a:cubicBezTo>
                      <a:pt x="1591" y="532"/>
                      <a:pt x="1591" y="532"/>
                      <a:pt x="1591" y="532"/>
                    </a:cubicBezTo>
                    <a:cubicBezTo>
                      <a:pt x="1610" y="479"/>
                      <a:pt x="1616" y="420"/>
                      <a:pt x="1610" y="362"/>
                    </a:cubicBezTo>
                    <a:close/>
                    <a:moveTo>
                      <a:pt x="1276" y="569"/>
                    </a:moveTo>
                    <a:cubicBezTo>
                      <a:pt x="1185" y="610"/>
                      <a:pt x="1080" y="566"/>
                      <a:pt x="1041" y="475"/>
                    </a:cubicBezTo>
                    <a:cubicBezTo>
                      <a:pt x="1002" y="383"/>
                      <a:pt x="1043" y="278"/>
                      <a:pt x="1133" y="239"/>
                    </a:cubicBezTo>
                    <a:cubicBezTo>
                      <a:pt x="1224" y="199"/>
                      <a:pt x="1330" y="242"/>
                      <a:pt x="1367" y="333"/>
                    </a:cubicBezTo>
                    <a:cubicBezTo>
                      <a:pt x="1407" y="424"/>
                      <a:pt x="1366" y="531"/>
                      <a:pt x="1276" y="569"/>
                    </a:cubicBezTo>
                    <a:close/>
                    <a:moveTo>
                      <a:pt x="187" y="916"/>
                    </a:moveTo>
                    <a:cubicBezTo>
                      <a:pt x="84" y="916"/>
                      <a:pt x="0" y="832"/>
                      <a:pt x="0" y="729"/>
                    </a:cubicBezTo>
                    <a:cubicBezTo>
                      <a:pt x="0" y="625"/>
                      <a:pt x="84" y="541"/>
                      <a:pt x="187" y="541"/>
                    </a:cubicBezTo>
                    <a:cubicBezTo>
                      <a:pt x="291" y="541"/>
                      <a:pt x="375" y="625"/>
                      <a:pt x="375" y="729"/>
                    </a:cubicBezTo>
                    <a:cubicBezTo>
                      <a:pt x="375" y="832"/>
                      <a:pt x="291" y="916"/>
                      <a:pt x="187" y="916"/>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 name="Freeform 26">
                <a:extLst>
                  <a:ext uri="{FF2B5EF4-FFF2-40B4-BE49-F238E27FC236}">
                    <a16:creationId xmlns:a16="http://schemas.microsoft.com/office/drawing/2014/main" id="{E2588303-321C-498F-B014-B990AEEA72D5}"/>
                  </a:ext>
                </a:extLst>
              </p:cNvPr>
              <p:cNvSpPr>
                <a:spLocks noEditPoints="1"/>
              </p:cNvSpPr>
              <p:nvPr/>
            </p:nvSpPr>
            <p:spPr bwMode="auto">
              <a:xfrm>
                <a:off x="5343905" y="2961132"/>
                <a:ext cx="971931" cy="962787"/>
              </a:xfrm>
              <a:custGeom>
                <a:avLst/>
                <a:gdLst>
                  <a:gd name="T0" fmla="*/ 638 w 1362"/>
                  <a:gd name="T1" fmla="*/ 1242 h 1348"/>
                  <a:gd name="T2" fmla="*/ 448 w 1362"/>
                  <a:gd name="T3" fmla="*/ 1319 h 1348"/>
                  <a:gd name="T4" fmla="*/ 352 w 1362"/>
                  <a:gd name="T5" fmla="*/ 1146 h 1348"/>
                  <a:gd name="T6" fmla="*/ 141 w 1362"/>
                  <a:gd name="T7" fmla="*/ 1095 h 1348"/>
                  <a:gd name="T8" fmla="*/ 46 w 1362"/>
                  <a:gd name="T9" fmla="*/ 928 h 1348"/>
                  <a:gd name="T10" fmla="*/ 0 w 1362"/>
                  <a:gd name="T11" fmla="*/ 664 h 1348"/>
                  <a:gd name="T12" fmla="*/ 32 w 1362"/>
                  <a:gd name="T13" fmla="*/ 474 h 1348"/>
                  <a:gd name="T14" fmla="*/ 212 w 1362"/>
                  <a:gd name="T15" fmla="*/ 351 h 1348"/>
                  <a:gd name="T16" fmla="*/ 244 w 1362"/>
                  <a:gd name="T17" fmla="*/ 159 h 1348"/>
                  <a:gd name="T18" fmla="*/ 451 w 1362"/>
                  <a:gd name="T19" fmla="*/ 167 h 1348"/>
                  <a:gd name="T20" fmla="*/ 592 w 1362"/>
                  <a:gd name="T21" fmla="*/ 5 h 1348"/>
                  <a:gd name="T22" fmla="*/ 784 w 1362"/>
                  <a:gd name="T23" fmla="*/ 6 h 1348"/>
                  <a:gd name="T24" fmla="*/ 1036 w 1362"/>
                  <a:gd name="T25" fmla="*/ 98 h 1348"/>
                  <a:gd name="T26" fmla="*/ 1184 w 1362"/>
                  <a:gd name="T27" fmla="*/ 220 h 1348"/>
                  <a:gd name="T28" fmla="*/ 1206 w 1362"/>
                  <a:gd name="T29" fmla="*/ 440 h 1348"/>
                  <a:gd name="T30" fmla="*/ 1351 w 1362"/>
                  <a:gd name="T31" fmla="*/ 562 h 1348"/>
                  <a:gd name="T32" fmla="*/ 1262 w 1362"/>
                  <a:gd name="T33" fmla="*/ 724 h 1348"/>
                  <a:gd name="T34" fmla="*/ 1310 w 1362"/>
                  <a:gd name="T35" fmla="*/ 940 h 1348"/>
                  <a:gd name="T36" fmla="*/ 1213 w 1362"/>
                  <a:gd name="T37" fmla="*/ 1106 h 1348"/>
                  <a:gd name="T38" fmla="*/ 1008 w 1362"/>
                  <a:gd name="T39" fmla="*/ 1278 h 1348"/>
                  <a:gd name="T40" fmla="*/ 828 w 1362"/>
                  <a:gd name="T41" fmla="*/ 1345 h 1348"/>
                  <a:gd name="T42" fmla="*/ 830 w 1362"/>
                  <a:gd name="T43" fmla="*/ 1299 h 1348"/>
                  <a:gd name="T44" fmla="*/ 965 w 1362"/>
                  <a:gd name="T45" fmla="*/ 1122 h 1348"/>
                  <a:gd name="T46" fmla="*/ 1072 w 1362"/>
                  <a:gd name="T47" fmla="*/ 1038 h 1348"/>
                  <a:gd name="T48" fmla="*/ 1264 w 1362"/>
                  <a:gd name="T49" fmla="*/ 935 h 1348"/>
                  <a:gd name="T50" fmla="*/ 1219 w 1362"/>
                  <a:gd name="T51" fmla="*/ 710 h 1348"/>
                  <a:gd name="T52" fmla="*/ 1308 w 1362"/>
                  <a:gd name="T53" fmla="*/ 570 h 1348"/>
                  <a:gd name="T54" fmla="*/ 1171 w 1362"/>
                  <a:gd name="T55" fmla="*/ 469 h 1348"/>
                  <a:gd name="T56" fmla="*/ 1142 w 1362"/>
                  <a:gd name="T57" fmla="*/ 241 h 1348"/>
                  <a:gd name="T58" fmla="*/ 915 w 1362"/>
                  <a:gd name="T59" fmla="*/ 217 h 1348"/>
                  <a:gd name="T60" fmla="*/ 802 w 1362"/>
                  <a:gd name="T61" fmla="*/ 179 h 1348"/>
                  <a:gd name="T62" fmla="*/ 610 w 1362"/>
                  <a:gd name="T63" fmla="*/ 47 h 1348"/>
                  <a:gd name="T64" fmla="*/ 458 w 1362"/>
                  <a:gd name="T65" fmla="*/ 212 h 1348"/>
                  <a:gd name="T66" fmla="*/ 272 w 1362"/>
                  <a:gd name="T67" fmla="*/ 192 h 1348"/>
                  <a:gd name="T68" fmla="*/ 254 w 1362"/>
                  <a:gd name="T69" fmla="*/ 369 h 1348"/>
                  <a:gd name="T70" fmla="*/ 70 w 1362"/>
                  <a:gd name="T71" fmla="*/ 500 h 1348"/>
                  <a:gd name="T72" fmla="*/ 143 w 1362"/>
                  <a:gd name="T73" fmla="*/ 698 h 1348"/>
                  <a:gd name="T74" fmla="*/ 170 w 1362"/>
                  <a:gd name="T75" fmla="*/ 846 h 1348"/>
                  <a:gd name="T76" fmla="*/ 168 w 1362"/>
                  <a:gd name="T77" fmla="*/ 1058 h 1348"/>
                  <a:gd name="T78" fmla="*/ 386 w 1362"/>
                  <a:gd name="T79" fmla="*/ 1115 h 1348"/>
                  <a:gd name="T80" fmla="*/ 463 w 1362"/>
                  <a:gd name="T81" fmla="*/ 1278 h 1348"/>
                  <a:gd name="T82" fmla="*/ 630 w 1362"/>
                  <a:gd name="T83" fmla="*/ 1198 h 1348"/>
                  <a:gd name="T84" fmla="*/ 742 w 1362"/>
                  <a:gd name="T85" fmla="*/ 1197 h 1348"/>
                  <a:gd name="T86" fmla="*/ 681 w 1362"/>
                  <a:gd name="T87" fmla="*/ 257 h 1348"/>
                  <a:gd name="T88" fmla="*/ 681 w 1362"/>
                  <a:gd name="T89" fmla="*/ 301 h 1348"/>
                  <a:gd name="T90" fmla="*/ 1063 w 1362"/>
                  <a:gd name="T91" fmla="*/ 683 h 1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62" h="1348">
                    <a:moveTo>
                      <a:pt x="815" y="1348"/>
                    </a:moveTo>
                    <a:cubicBezTo>
                      <a:pt x="724" y="1242"/>
                      <a:pt x="724" y="1242"/>
                      <a:pt x="724" y="1242"/>
                    </a:cubicBezTo>
                    <a:cubicBezTo>
                      <a:pt x="695" y="1244"/>
                      <a:pt x="666" y="1244"/>
                      <a:pt x="638" y="1242"/>
                    </a:cubicBezTo>
                    <a:cubicBezTo>
                      <a:pt x="547" y="1348"/>
                      <a:pt x="547" y="1348"/>
                      <a:pt x="547" y="1348"/>
                    </a:cubicBezTo>
                    <a:cubicBezTo>
                      <a:pt x="534" y="1345"/>
                      <a:pt x="534" y="1345"/>
                      <a:pt x="534" y="1345"/>
                    </a:cubicBezTo>
                    <a:cubicBezTo>
                      <a:pt x="494" y="1336"/>
                      <a:pt x="450" y="1320"/>
                      <a:pt x="448" y="1319"/>
                    </a:cubicBezTo>
                    <a:cubicBezTo>
                      <a:pt x="446" y="1318"/>
                      <a:pt x="402" y="1302"/>
                      <a:pt x="366" y="1284"/>
                    </a:cubicBezTo>
                    <a:cubicBezTo>
                      <a:pt x="354" y="1278"/>
                      <a:pt x="354" y="1278"/>
                      <a:pt x="354" y="1278"/>
                    </a:cubicBezTo>
                    <a:cubicBezTo>
                      <a:pt x="352" y="1146"/>
                      <a:pt x="352" y="1146"/>
                      <a:pt x="352" y="1146"/>
                    </a:cubicBezTo>
                    <a:cubicBezTo>
                      <a:pt x="325" y="1128"/>
                      <a:pt x="299" y="1107"/>
                      <a:pt x="275" y="1085"/>
                    </a:cubicBezTo>
                    <a:cubicBezTo>
                      <a:pt x="149" y="1105"/>
                      <a:pt x="149" y="1105"/>
                      <a:pt x="149" y="1105"/>
                    </a:cubicBezTo>
                    <a:cubicBezTo>
                      <a:pt x="141" y="1095"/>
                      <a:pt x="141" y="1095"/>
                      <a:pt x="141" y="1095"/>
                    </a:cubicBezTo>
                    <a:cubicBezTo>
                      <a:pt x="116" y="1062"/>
                      <a:pt x="93" y="1022"/>
                      <a:pt x="92" y="1020"/>
                    </a:cubicBezTo>
                    <a:cubicBezTo>
                      <a:pt x="91" y="1018"/>
                      <a:pt x="67" y="977"/>
                      <a:pt x="51" y="940"/>
                    </a:cubicBezTo>
                    <a:cubicBezTo>
                      <a:pt x="46" y="928"/>
                      <a:pt x="46" y="928"/>
                      <a:pt x="46" y="928"/>
                    </a:cubicBezTo>
                    <a:cubicBezTo>
                      <a:pt x="121" y="836"/>
                      <a:pt x="121" y="836"/>
                      <a:pt x="121" y="836"/>
                    </a:cubicBezTo>
                    <a:cubicBezTo>
                      <a:pt x="110" y="799"/>
                      <a:pt x="104" y="762"/>
                      <a:pt x="101" y="724"/>
                    </a:cubicBezTo>
                    <a:cubicBezTo>
                      <a:pt x="0" y="664"/>
                      <a:pt x="0" y="664"/>
                      <a:pt x="0" y="664"/>
                    </a:cubicBezTo>
                    <a:cubicBezTo>
                      <a:pt x="1" y="650"/>
                      <a:pt x="1" y="650"/>
                      <a:pt x="1" y="650"/>
                    </a:cubicBezTo>
                    <a:cubicBezTo>
                      <a:pt x="3" y="610"/>
                      <a:pt x="11" y="564"/>
                      <a:pt x="11" y="562"/>
                    </a:cubicBezTo>
                    <a:cubicBezTo>
                      <a:pt x="12" y="560"/>
                      <a:pt x="20" y="513"/>
                      <a:pt x="32" y="474"/>
                    </a:cubicBezTo>
                    <a:cubicBezTo>
                      <a:pt x="35" y="462"/>
                      <a:pt x="35" y="462"/>
                      <a:pt x="35" y="462"/>
                    </a:cubicBezTo>
                    <a:cubicBezTo>
                      <a:pt x="157" y="439"/>
                      <a:pt x="157" y="439"/>
                      <a:pt x="157" y="439"/>
                    </a:cubicBezTo>
                    <a:cubicBezTo>
                      <a:pt x="173" y="408"/>
                      <a:pt x="191" y="378"/>
                      <a:pt x="212" y="351"/>
                    </a:cubicBezTo>
                    <a:cubicBezTo>
                      <a:pt x="170" y="230"/>
                      <a:pt x="170" y="230"/>
                      <a:pt x="170" y="230"/>
                    </a:cubicBezTo>
                    <a:cubicBezTo>
                      <a:pt x="179" y="220"/>
                      <a:pt x="179" y="220"/>
                      <a:pt x="179" y="220"/>
                    </a:cubicBezTo>
                    <a:cubicBezTo>
                      <a:pt x="206" y="190"/>
                      <a:pt x="243" y="160"/>
                      <a:pt x="244" y="159"/>
                    </a:cubicBezTo>
                    <a:cubicBezTo>
                      <a:pt x="246" y="157"/>
                      <a:pt x="282" y="127"/>
                      <a:pt x="316" y="105"/>
                    </a:cubicBezTo>
                    <a:cubicBezTo>
                      <a:pt x="327" y="98"/>
                      <a:pt x="327" y="98"/>
                      <a:pt x="327" y="98"/>
                    </a:cubicBezTo>
                    <a:cubicBezTo>
                      <a:pt x="451" y="167"/>
                      <a:pt x="451" y="167"/>
                      <a:pt x="451" y="167"/>
                    </a:cubicBezTo>
                    <a:cubicBezTo>
                      <a:pt x="476" y="157"/>
                      <a:pt x="502" y="148"/>
                      <a:pt x="528" y="142"/>
                    </a:cubicBezTo>
                    <a:cubicBezTo>
                      <a:pt x="579" y="6"/>
                      <a:pt x="579" y="6"/>
                      <a:pt x="579" y="6"/>
                    </a:cubicBezTo>
                    <a:cubicBezTo>
                      <a:pt x="592" y="5"/>
                      <a:pt x="592" y="5"/>
                      <a:pt x="592" y="5"/>
                    </a:cubicBezTo>
                    <a:cubicBezTo>
                      <a:pt x="632" y="0"/>
                      <a:pt x="679" y="0"/>
                      <a:pt x="681" y="0"/>
                    </a:cubicBezTo>
                    <a:cubicBezTo>
                      <a:pt x="683" y="0"/>
                      <a:pt x="730" y="0"/>
                      <a:pt x="771" y="5"/>
                    </a:cubicBezTo>
                    <a:cubicBezTo>
                      <a:pt x="784" y="6"/>
                      <a:pt x="784" y="6"/>
                      <a:pt x="784" y="6"/>
                    </a:cubicBezTo>
                    <a:cubicBezTo>
                      <a:pt x="835" y="142"/>
                      <a:pt x="835" y="142"/>
                      <a:pt x="835" y="142"/>
                    </a:cubicBezTo>
                    <a:cubicBezTo>
                      <a:pt x="861" y="149"/>
                      <a:pt x="887" y="157"/>
                      <a:pt x="912" y="168"/>
                    </a:cubicBezTo>
                    <a:cubicBezTo>
                      <a:pt x="1036" y="98"/>
                      <a:pt x="1036" y="98"/>
                      <a:pt x="1036" y="98"/>
                    </a:cubicBezTo>
                    <a:cubicBezTo>
                      <a:pt x="1047" y="105"/>
                      <a:pt x="1047" y="105"/>
                      <a:pt x="1047" y="105"/>
                    </a:cubicBezTo>
                    <a:cubicBezTo>
                      <a:pt x="1081" y="128"/>
                      <a:pt x="1117" y="158"/>
                      <a:pt x="1118" y="159"/>
                    </a:cubicBezTo>
                    <a:cubicBezTo>
                      <a:pt x="1120" y="160"/>
                      <a:pt x="1156" y="191"/>
                      <a:pt x="1184" y="220"/>
                    </a:cubicBezTo>
                    <a:cubicBezTo>
                      <a:pt x="1193" y="230"/>
                      <a:pt x="1193" y="230"/>
                      <a:pt x="1193" y="230"/>
                    </a:cubicBezTo>
                    <a:cubicBezTo>
                      <a:pt x="1151" y="351"/>
                      <a:pt x="1151" y="351"/>
                      <a:pt x="1151" y="351"/>
                    </a:cubicBezTo>
                    <a:cubicBezTo>
                      <a:pt x="1172" y="379"/>
                      <a:pt x="1190" y="408"/>
                      <a:pt x="1206" y="440"/>
                    </a:cubicBezTo>
                    <a:cubicBezTo>
                      <a:pt x="1327" y="462"/>
                      <a:pt x="1327" y="462"/>
                      <a:pt x="1327" y="462"/>
                    </a:cubicBezTo>
                    <a:cubicBezTo>
                      <a:pt x="1331" y="475"/>
                      <a:pt x="1331" y="475"/>
                      <a:pt x="1331" y="475"/>
                    </a:cubicBezTo>
                    <a:cubicBezTo>
                      <a:pt x="1342" y="514"/>
                      <a:pt x="1351" y="560"/>
                      <a:pt x="1351" y="562"/>
                    </a:cubicBezTo>
                    <a:cubicBezTo>
                      <a:pt x="1351" y="564"/>
                      <a:pt x="1359" y="611"/>
                      <a:pt x="1362" y="651"/>
                    </a:cubicBezTo>
                    <a:cubicBezTo>
                      <a:pt x="1362" y="664"/>
                      <a:pt x="1362" y="664"/>
                      <a:pt x="1362" y="664"/>
                    </a:cubicBezTo>
                    <a:cubicBezTo>
                      <a:pt x="1262" y="724"/>
                      <a:pt x="1262" y="724"/>
                      <a:pt x="1262" y="724"/>
                    </a:cubicBezTo>
                    <a:cubicBezTo>
                      <a:pt x="1259" y="762"/>
                      <a:pt x="1252" y="800"/>
                      <a:pt x="1241" y="837"/>
                    </a:cubicBezTo>
                    <a:cubicBezTo>
                      <a:pt x="1316" y="928"/>
                      <a:pt x="1316" y="928"/>
                      <a:pt x="1316" y="928"/>
                    </a:cubicBezTo>
                    <a:cubicBezTo>
                      <a:pt x="1310" y="940"/>
                      <a:pt x="1310" y="940"/>
                      <a:pt x="1310" y="940"/>
                    </a:cubicBezTo>
                    <a:cubicBezTo>
                      <a:pt x="1294" y="978"/>
                      <a:pt x="1271" y="1019"/>
                      <a:pt x="1270" y="1020"/>
                    </a:cubicBezTo>
                    <a:cubicBezTo>
                      <a:pt x="1269" y="1022"/>
                      <a:pt x="1245" y="1063"/>
                      <a:pt x="1221" y="1095"/>
                    </a:cubicBezTo>
                    <a:cubicBezTo>
                      <a:pt x="1213" y="1106"/>
                      <a:pt x="1213" y="1106"/>
                      <a:pt x="1213" y="1106"/>
                    </a:cubicBezTo>
                    <a:cubicBezTo>
                      <a:pt x="1087" y="1085"/>
                      <a:pt x="1087" y="1085"/>
                      <a:pt x="1087" y="1085"/>
                    </a:cubicBezTo>
                    <a:cubicBezTo>
                      <a:pt x="1063" y="1108"/>
                      <a:pt x="1037" y="1128"/>
                      <a:pt x="1009" y="1147"/>
                    </a:cubicBezTo>
                    <a:cubicBezTo>
                      <a:pt x="1008" y="1278"/>
                      <a:pt x="1008" y="1278"/>
                      <a:pt x="1008" y="1278"/>
                    </a:cubicBezTo>
                    <a:cubicBezTo>
                      <a:pt x="996" y="1284"/>
                      <a:pt x="996" y="1284"/>
                      <a:pt x="996" y="1284"/>
                    </a:cubicBezTo>
                    <a:cubicBezTo>
                      <a:pt x="959" y="1302"/>
                      <a:pt x="915" y="1319"/>
                      <a:pt x="913" y="1319"/>
                    </a:cubicBezTo>
                    <a:cubicBezTo>
                      <a:pt x="911" y="1320"/>
                      <a:pt x="867" y="1336"/>
                      <a:pt x="828" y="1345"/>
                    </a:cubicBezTo>
                    <a:lnTo>
                      <a:pt x="815" y="1348"/>
                    </a:lnTo>
                    <a:close/>
                    <a:moveTo>
                      <a:pt x="742" y="1197"/>
                    </a:moveTo>
                    <a:cubicBezTo>
                      <a:pt x="830" y="1299"/>
                      <a:pt x="830" y="1299"/>
                      <a:pt x="830" y="1299"/>
                    </a:cubicBezTo>
                    <a:cubicBezTo>
                      <a:pt x="864" y="1290"/>
                      <a:pt x="898" y="1278"/>
                      <a:pt x="898" y="1278"/>
                    </a:cubicBezTo>
                    <a:cubicBezTo>
                      <a:pt x="899" y="1278"/>
                      <a:pt x="933" y="1265"/>
                      <a:pt x="964" y="1251"/>
                    </a:cubicBezTo>
                    <a:cubicBezTo>
                      <a:pt x="965" y="1122"/>
                      <a:pt x="965" y="1122"/>
                      <a:pt x="965" y="1122"/>
                    </a:cubicBezTo>
                    <a:cubicBezTo>
                      <a:pt x="976" y="1116"/>
                      <a:pt x="976" y="1116"/>
                      <a:pt x="976" y="1116"/>
                    </a:cubicBezTo>
                    <a:cubicBezTo>
                      <a:pt x="1008" y="1096"/>
                      <a:pt x="1037" y="1072"/>
                      <a:pt x="1064" y="1046"/>
                    </a:cubicBezTo>
                    <a:cubicBezTo>
                      <a:pt x="1072" y="1038"/>
                      <a:pt x="1072" y="1038"/>
                      <a:pt x="1072" y="1038"/>
                    </a:cubicBezTo>
                    <a:cubicBezTo>
                      <a:pt x="1193" y="1058"/>
                      <a:pt x="1193" y="1058"/>
                      <a:pt x="1193" y="1058"/>
                    </a:cubicBezTo>
                    <a:cubicBezTo>
                      <a:pt x="1213" y="1030"/>
                      <a:pt x="1232" y="999"/>
                      <a:pt x="1232" y="998"/>
                    </a:cubicBezTo>
                    <a:cubicBezTo>
                      <a:pt x="1232" y="998"/>
                      <a:pt x="1250" y="967"/>
                      <a:pt x="1264" y="935"/>
                    </a:cubicBezTo>
                    <a:cubicBezTo>
                      <a:pt x="1192" y="847"/>
                      <a:pt x="1192" y="847"/>
                      <a:pt x="1192" y="847"/>
                    </a:cubicBezTo>
                    <a:cubicBezTo>
                      <a:pt x="1196" y="835"/>
                      <a:pt x="1196" y="835"/>
                      <a:pt x="1196" y="835"/>
                    </a:cubicBezTo>
                    <a:cubicBezTo>
                      <a:pt x="1209" y="795"/>
                      <a:pt x="1217" y="753"/>
                      <a:pt x="1219" y="710"/>
                    </a:cubicBezTo>
                    <a:cubicBezTo>
                      <a:pt x="1219" y="698"/>
                      <a:pt x="1219" y="698"/>
                      <a:pt x="1219" y="698"/>
                    </a:cubicBezTo>
                    <a:cubicBezTo>
                      <a:pt x="1317" y="640"/>
                      <a:pt x="1317" y="640"/>
                      <a:pt x="1317" y="640"/>
                    </a:cubicBezTo>
                    <a:cubicBezTo>
                      <a:pt x="1314" y="606"/>
                      <a:pt x="1308" y="570"/>
                      <a:pt x="1308" y="570"/>
                    </a:cubicBezTo>
                    <a:cubicBezTo>
                      <a:pt x="1307" y="569"/>
                      <a:pt x="1301" y="534"/>
                      <a:pt x="1292" y="501"/>
                    </a:cubicBezTo>
                    <a:cubicBezTo>
                      <a:pt x="1176" y="479"/>
                      <a:pt x="1176" y="479"/>
                      <a:pt x="1176" y="479"/>
                    </a:cubicBezTo>
                    <a:cubicBezTo>
                      <a:pt x="1171" y="469"/>
                      <a:pt x="1171" y="469"/>
                      <a:pt x="1171" y="469"/>
                    </a:cubicBezTo>
                    <a:cubicBezTo>
                      <a:pt x="1154" y="433"/>
                      <a:pt x="1133" y="400"/>
                      <a:pt x="1109" y="369"/>
                    </a:cubicBezTo>
                    <a:cubicBezTo>
                      <a:pt x="1101" y="359"/>
                      <a:pt x="1101" y="359"/>
                      <a:pt x="1101" y="359"/>
                    </a:cubicBezTo>
                    <a:cubicBezTo>
                      <a:pt x="1142" y="241"/>
                      <a:pt x="1142" y="241"/>
                      <a:pt x="1142" y="241"/>
                    </a:cubicBezTo>
                    <a:cubicBezTo>
                      <a:pt x="1118" y="216"/>
                      <a:pt x="1090" y="193"/>
                      <a:pt x="1090" y="193"/>
                    </a:cubicBezTo>
                    <a:cubicBezTo>
                      <a:pt x="1090" y="193"/>
                      <a:pt x="1062" y="169"/>
                      <a:pt x="1034" y="150"/>
                    </a:cubicBezTo>
                    <a:cubicBezTo>
                      <a:pt x="915" y="217"/>
                      <a:pt x="915" y="217"/>
                      <a:pt x="915" y="217"/>
                    </a:cubicBezTo>
                    <a:cubicBezTo>
                      <a:pt x="905" y="212"/>
                      <a:pt x="905" y="212"/>
                      <a:pt x="905" y="212"/>
                    </a:cubicBezTo>
                    <a:cubicBezTo>
                      <a:pt x="875" y="199"/>
                      <a:pt x="845" y="189"/>
                      <a:pt x="813" y="182"/>
                    </a:cubicBezTo>
                    <a:cubicBezTo>
                      <a:pt x="802" y="179"/>
                      <a:pt x="802" y="179"/>
                      <a:pt x="802" y="179"/>
                    </a:cubicBezTo>
                    <a:cubicBezTo>
                      <a:pt x="752" y="47"/>
                      <a:pt x="752" y="47"/>
                      <a:pt x="752" y="47"/>
                    </a:cubicBezTo>
                    <a:cubicBezTo>
                      <a:pt x="718" y="44"/>
                      <a:pt x="682" y="44"/>
                      <a:pt x="681" y="44"/>
                    </a:cubicBezTo>
                    <a:cubicBezTo>
                      <a:pt x="681" y="44"/>
                      <a:pt x="645" y="44"/>
                      <a:pt x="610" y="47"/>
                    </a:cubicBezTo>
                    <a:cubicBezTo>
                      <a:pt x="561" y="179"/>
                      <a:pt x="561" y="179"/>
                      <a:pt x="561" y="179"/>
                    </a:cubicBezTo>
                    <a:cubicBezTo>
                      <a:pt x="549" y="182"/>
                      <a:pt x="549" y="182"/>
                      <a:pt x="549" y="182"/>
                    </a:cubicBezTo>
                    <a:cubicBezTo>
                      <a:pt x="518" y="189"/>
                      <a:pt x="488" y="199"/>
                      <a:pt x="458" y="212"/>
                    </a:cubicBezTo>
                    <a:cubicBezTo>
                      <a:pt x="448" y="217"/>
                      <a:pt x="448" y="217"/>
                      <a:pt x="448" y="217"/>
                    </a:cubicBezTo>
                    <a:cubicBezTo>
                      <a:pt x="329" y="149"/>
                      <a:pt x="329" y="149"/>
                      <a:pt x="329" y="149"/>
                    </a:cubicBezTo>
                    <a:cubicBezTo>
                      <a:pt x="300" y="169"/>
                      <a:pt x="273" y="192"/>
                      <a:pt x="272" y="192"/>
                    </a:cubicBezTo>
                    <a:cubicBezTo>
                      <a:pt x="272" y="193"/>
                      <a:pt x="244" y="216"/>
                      <a:pt x="220" y="241"/>
                    </a:cubicBezTo>
                    <a:cubicBezTo>
                      <a:pt x="262" y="359"/>
                      <a:pt x="262" y="359"/>
                      <a:pt x="262" y="359"/>
                    </a:cubicBezTo>
                    <a:cubicBezTo>
                      <a:pt x="254" y="369"/>
                      <a:pt x="254" y="369"/>
                      <a:pt x="254" y="369"/>
                    </a:cubicBezTo>
                    <a:cubicBezTo>
                      <a:pt x="229" y="399"/>
                      <a:pt x="209" y="433"/>
                      <a:pt x="192" y="468"/>
                    </a:cubicBezTo>
                    <a:cubicBezTo>
                      <a:pt x="187" y="478"/>
                      <a:pt x="187" y="478"/>
                      <a:pt x="187" y="478"/>
                    </a:cubicBezTo>
                    <a:cubicBezTo>
                      <a:pt x="70" y="500"/>
                      <a:pt x="70" y="500"/>
                      <a:pt x="70" y="500"/>
                    </a:cubicBezTo>
                    <a:cubicBezTo>
                      <a:pt x="61" y="533"/>
                      <a:pt x="55" y="569"/>
                      <a:pt x="55" y="569"/>
                    </a:cubicBezTo>
                    <a:cubicBezTo>
                      <a:pt x="55" y="570"/>
                      <a:pt x="48" y="605"/>
                      <a:pt x="45" y="640"/>
                    </a:cubicBezTo>
                    <a:cubicBezTo>
                      <a:pt x="143" y="698"/>
                      <a:pt x="143" y="698"/>
                      <a:pt x="143" y="698"/>
                    </a:cubicBezTo>
                    <a:cubicBezTo>
                      <a:pt x="144" y="709"/>
                      <a:pt x="144" y="709"/>
                      <a:pt x="144" y="709"/>
                    </a:cubicBezTo>
                    <a:cubicBezTo>
                      <a:pt x="146" y="752"/>
                      <a:pt x="154" y="794"/>
                      <a:pt x="167" y="834"/>
                    </a:cubicBezTo>
                    <a:cubicBezTo>
                      <a:pt x="170" y="846"/>
                      <a:pt x="170" y="846"/>
                      <a:pt x="170" y="846"/>
                    </a:cubicBezTo>
                    <a:cubicBezTo>
                      <a:pt x="97" y="935"/>
                      <a:pt x="97" y="935"/>
                      <a:pt x="97" y="935"/>
                    </a:cubicBezTo>
                    <a:cubicBezTo>
                      <a:pt x="112" y="966"/>
                      <a:pt x="130" y="997"/>
                      <a:pt x="130" y="998"/>
                    </a:cubicBezTo>
                    <a:cubicBezTo>
                      <a:pt x="130" y="998"/>
                      <a:pt x="148" y="1029"/>
                      <a:pt x="168" y="1058"/>
                    </a:cubicBezTo>
                    <a:cubicBezTo>
                      <a:pt x="290" y="1038"/>
                      <a:pt x="290" y="1038"/>
                      <a:pt x="290" y="1038"/>
                    </a:cubicBezTo>
                    <a:cubicBezTo>
                      <a:pt x="298" y="1045"/>
                      <a:pt x="298" y="1045"/>
                      <a:pt x="298" y="1045"/>
                    </a:cubicBezTo>
                    <a:cubicBezTo>
                      <a:pt x="324" y="1072"/>
                      <a:pt x="354" y="1095"/>
                      <a:pt x="386" y="1115"/>
                    </a:cubicBezTo>
                    <a:cubicBezTo>
                      <a:pt x="396" y="1121"/>
                      <a:pt x="396" y="1121"/>
                      <a:pt x="396" y="1121"/>
                    </a:cubicBezTo>
                    <a:cubicBezTo>
                      <a:pt x="397" y="1250"/>
                      <a:pt x="397" y="1250"/>
                      <a:pt x="397" y="1250"/>
                    </a:cubicBezTo>
                    <a:cubicBezTo>
                      <a:pt x="429" y="1265"/>
                      <a:pt x="463" y="1278"/>
                      <a:pt x="463" y="1278"/>
                    </a:cubicBezTo>
                    <a:cubicBezTo>
                      <a:pt x="463" y="1278"/>
                      <a:pt x="498" y="1290"/>
                      <a:pt x="531" y="1299"/>
                    </a:cubicBezTo>
                    <a:cubicBezTo>
                      <a:pt x="619" y="1197"/>
                      <a:pt x="619" y="1197"/>
                      <a:pt x="619" y="1197"/>
                    </a:cubicBezTo>
                    <a:cubicBezTo>
                      <a:pt x="630" y="1198"/>
                      <a:pt x="630" y="1198"/>
                      <a:pt x="630" y="1198"/>
                    </a:cubicBezTo>
                    <a:cubicBezTo>
                      <a:pt x="647" y="1199"/>
                      <a:pt x="665" y="1200"/>
                      <a:pt x="681" y="1200"/>
                    </a:cubicBezTo>
                    <a:cubicBezTo>
                      <a:pt x="698" y="1200"/>
                      <a:pt x="714" y="1199"/>
                      <a:pt x="731" y="1198"/>
                    </a:cubicBezTo>
                    <a:lnTo>
                      <a:pt x="742" y="1197"/>
                    </a:lnTo>
                    <a:close/>
                    <a:moveTo>
                      <a:pt x="681" y="1108"/>
                    </a:moveTo>
                    <a:cubicBezTo>
                      <a:pt x="447" y="1108"/>
                      <a:pt x="256" y="917"/>
                      <a:pt x="256" y="683"/>
                    </a:cubicBezTo>
                    <a:cubicBezTo>
                      <a:pt x="256" y="448"/>
                      <a:pt x="447" y="257"/>
                      <a:pt x="681" y="257"/>
                    </a:cubicBezTo>
                    <a:cubicBezTo>
                      <a:pt x="916" y="257"/>
                      <a:pt x="1107" y="448"/>
                      <a:pt x="1107" y="683"/>
                    </a:cubicBezTo>
                    <a:cubicBezTo>
                      <a:pt x="1107" y="917"/>
                      <a:pt x="916" y="1108"/>
                      <a:pt x="681" y="1108"/>
                    </a:cubicBezTo>
                    <a:close/>
                    <a:moveTo>
                      <a:pt x="681" y="301"/>
                    </a:moveTo>
                    <a:cubicBezTo>
                      <a:pt x="471" y="301"/>
                      <a:pt x="300" y="473"/>
                      <a:pt x="300" y="683"/>
                    </a:cubicBezTo>
                    <a:cubicBezTo>
                      <a:pt x="300" y="893"/>
                      <a:pt x="471" y="1064"/>
                      <a:pt x="681" y="1064"/>
                    </a:cubicBezTo>
                    <a:cubicBezTo>
                      <a:pt x="892" y="1064"/>
                      <a:pt x="1063" y="893"/>
                      <a:pt x="1063" y="683"/>
                    </a:cubicBezTo>
                    <a:cubicBezTo>
                      <a:pt x="1063" y="473"/>
                      <a:pt x="892" y="301"/>
                      <a:pt x="681" y="30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205" name="Group 204"/>
          <p:cNvGrpSpPr>
            <a:grpSpLocks noChangeAspect="1"/>
          </p:cNvGrpSpPr>
          <p:nvPr/>
        </p:nvGrpSpPr>
        <p:grpSpPr>
          <a:xfrm>
            <a:off x="809630" y="4537736"/>
            <a:ext cx="431024" cy="431024"/>
            <a:chOff x="5273675" y="2606675"/>
            <a:chExt cx="1644650" cy="1644650"/>
          </a:xfrm>
        </p:grpSpPr>
        <p:sp>
          <p:nvSpPr>
            <p:cNvPr id="206" name="AutoShape 3"/>
            <p:cNvSpPr>
              <a:spLocks noChangeAspect="1" noChangeArrowheads="1" noTextEdit="1"/>
            </p:cNvSpPr>
            <p:nvPr/>
          </p:nvSpPr>
          <p:spPr bwMode="auto">
            <a:xfrm>
              <a:off x="5273675" y="2606675"/>
              <a:ext cx="1644650"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207" name="Group 206"/>
            <p:cNvGrpSpPr/>
            <p:nvPr/>
          </p:nvGrpSpPr>
          <p:grpSpPr>
            <a:xfrm>
              <a:off x="5443538" y="2941638"/>
              <a:ext cx="1304925" cy="973138"/>
              <a:chOff x="5443538" y="2941638"/>
              <a:chExt cx="1304925" cy="973138"/>
            </a:xfrm>
          </p:grpSpPr>
          <p:sp>
            <p:nvSpPr>
              <p:cNvPr id="208" name="Freeform 5"/>
              <p:cNvSpPr>
                <a:spLocks noEditPoints="1"/>
              </p:cNvSpPr>
              <p:nvPr/>
            </p:nvSpPr>
            <p:spPr bwMode="auto">
              <a:xfrm>
                <a:off x="5443538" y="2941638"/>
                <a:ext cx="1304925" cy="973138"/>
              </a:xfrm>
              <a:custGeom>
                <a:avLst/>
                <a:gdLst>
                  <a:gd name="T0" fmla="*/ 914 w 1828"/>
                  <a:gd name="T1" fmla="*/ 548 h 1364"/>
                  <a:gd name="T2" fmla="*/ 639 w 1828"/>
                  <a:gd name="T3" fmla="*/ 275 h 1364"/>
                  <a:gd name="T4" fmla="*/ 914 w 1828"/>
                  <a:gd name="T5" fmla="*/ 0 h 1364"/>
                  <a:gd name="T6" fmla="*/ 1189 w 1828"/>
                  <a:gd name="T7" fmla="*/ 275 h 1364"/>
                  <a:gd name="T8" fmla="*/ 914 w 1828"/>
                  <a:gd name="T9" fmla="*/ 548 h 1364"/>
                  <a:gd name="T10" fmla="*/ 416 w 1828"/>
                  <a:gd name="T11" fmla="*/ 1339 h 1364"/>
                  <a:gd name="T12" fmla="*/ 416 w 1828"/>
                  <a:gd name="T13" fmla="*/ 972 h 1364"/>
                  <a:gd name="T14" fmla="*/ 392 w 1828"/>
                  <a:gd name="T15" fmla="*/ 948 h 1364"/>
                  <a:gd name="T16" fmla="*/ 25 w 1828"/>
                  <a:gd name="T17" fmla="*/ 948 h 1364"/>
                  <a:gd name="T18" fmla="*/ 0 w 1828"/>
                  <a:gd name="T19" fmla="*/ 972 h 1364"/>
                  <a:gd name="T20" fmla="*/ 0 w 1828"/>
                  <a:gd name="T21" fmla="*/ 1339 h 1364"/>
                  <a:gd name="T22" fmla="*/ 25 w 1828"/>
                  <a:gd name="T23" fmla="*/ 1364 h 1364"/>
                  <a:gd name="T24" fmla="*/ 392 w 1828"/>
                  <a:gd name="T25" fmla="*/ 1364 h 1364"/>
                  <a:gd name="T26" fmla="*/ 416 w 1828"/>
                  <a:gd name="T27" fmla="*/ 1339 h 1364"/>
                  <a:gd name="T28" fmla="*/ 1123 w 1828"/>
                  <a:gd name="T29" fmla="*/ 1339 h 1364"/>
                  <a:gd name="T30" fmla="*/ 1123 w 1828"/>
                  <a:gd name="T31" fmla="*/ 972 h 1364"/>
                  <a:gd name="T32" fmla="*/ 1098 w 1828"/>
                  <a:gd name="T33" fmla="*/ 948 h 1364"/>
                  <a:gd name="T34" fmla="*/ 730 w 1828"/>
                  <a:gd name="T35" fmla="*/ 948 h 1364"/>
                  <a:gd name="T36" fmla="*/ 705 w 1828"/>
                  <a:gd name="T37" fmla="*/ 972 h 1364"/>
                  <a:gd name="T38" fmla="*/ 705 w 1828"/>
                  <a:gd name="T39" fmla="*/ 1339 h 1364"/>
                  <a:gd name="T40" fmla="*/ 730 w 1828"/>
                  <a:gd name="T41" fmla="*/ 1364 h 1364"/>
                  <a:gd name="T42" fmla="*/ 1098 w 1828"/>
                  <a:gd name="T43" fmla="*/ 1364 h 1364"/>
                  <a:gd name="T44" fmla="*/ 1123 w 1828"/>
                  <a:gd name="T45" fmla="*/ 1339 h 1364"/>
                  <a:gd name="T46" fmla="*/ 1828 w 1828"/>
                  <a:gd name="T47" fmla="*/ 1339 h 1364"/>
                  <a:gd name="T48" fmla="*/ 1828 w 1828"/>
                  <a:gd name="T49" fmla="*/ 972 h 1364"/>
                  <a:gd name="T50" fmla="*/ 1803 w 1828"/>
                  <a:gd name="T51" fmla="*/ 948 h 1364"/>
                  <a:gd name="T52" fmla="*/ 1436 w 1828"/>
                  <a:gd name="T53" fmla="*/ 948 h 1364"/>
                  <a:gd name="T54" fmla="*/ 1412 w 1828"/>
                  <a:gd name="T55" fmla="*/ 972 h 1364"/>
                  <a:gd name="T56" fmla="*/ 1412 w 1828"/>
                  <a:gd name="T57" fmla="*/ 1339 h 1364"/>
                  <a:gd name="T58" fmla="*/ 1436 w 1828"/>
                  <a:gd name="T59" fmla="*/ 1364 h 1364"/>
                  <a:gd name="T60" fmla="*/ 1803 w 1828"/>
                  <a:gd name="T61" fmla="*/ 1364 h 1364"/>
                  <a:gd name="T62" fmla="*/ 1828 w 1828"/>
                  <a:gd name="T63" fmla="*/ 1339 h 1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28" h="1364">
                    <a:moveTo>
                      <a:pt x="914" y="548"/>
                    </a:moveTo>
                    <a:cubicBezTo>
                      <a:pt x="762" y="548"/>
                      <a:pt x="639" y="425"/>
                      <a:pt x="639" y="275"/>
                    </a:cubicBezTo>
                    <a:cubicBezTo>
                      <a:pt x="639" y="123"/>
                      <a:pt x="762" y="0"/>
                      <a:pt x="914" y="0"/>
                    </a:cubicBezTo>
                    <a:cubicBezTo>
                      <a:pt x="1066" y="0"/>
                      <a:pt x="1189" y="123"/>
                      <a:pt x="1189" y="275"/>
                    </a:cubicBezTo>
                    <a:cubicBezTo>
                      <a:pt x="1189" y="425"/>
                      <a:pt x="1066" y="548"/>
                      <a:pt x="914" y="548"/>
                    </a:cubicBezTo>
                    <a:close/>
                    <a:moveTo>
                      <a:pt x="416" y="1339"/>
                    </a:moveTo>
                    <a:cubicBezTo>
                      <a:pt x="416" y="972"/>
                      <a:pt x="416" y="972"/>
                      <a:pt x="416" y="972"/>
                    </a:cubicBezTo>
                    <a:cubicBezTo>
                      <a:pt x="416" y="959"/>
                      <a:pt x="405" y="948"/>
                      <a:pt x="392" y="948"/>
                    </a:cubicBezTo>
                    <a:cubicBezTo>
                      <a:pt x="25" y="948"/>
                      <a:pt x="25" y="948"/>
                      <a:pt x="25" y="948"/>
                    </a:cubicBezTo>
                    <a:cubicBezTo>
                      <a:pt x="11" y="948"/>
                      <a:pt x="0" y="959"/>
                      <a:pt x="0" y="972"/>
                    </a:cubicBezTo>
                    <a:cubicBezTo>
                      <a:pt x="0" y="1339"/>
                      <a:pt x="0" y="1339"/>
                      <a:pt x="0" y="1339"/>
                    </a:cubicBezTo>
                    <a:cubicBezTo>
                      <a:pt x="0" y="1353"/>
                      <a:pt x="11" y="1364"/>
                      <a:pt x="25" y="1364"/>
                    </a:cubicBezTo>
                    <a:cubicBezTo>
                      <a:pt x="392" y="1364"/>
                      <a:pt x="392" y="1364"/>
                      <a:pt x="392" y="1364"/>
                    </a:cubicBezTo>
                    <a:cubicBezTo>
                      <a:pt x="405" y="1364"/>
                      <a:pt x="416" y="1353"/>
                      <a:pt x="416" y="1339"/>
                    </a:cubicBezTo>
                    <a:close/>
                    <a:moveTo>
                      <a:pt x="1123" y="1339"/>
                    </a:moveTo>
                    <a:cubicBezTo>
                      <a:pt x="1123" y="972"/>
                      <a:pt x="1123" y="972"/>
                      <a:pt x="1123" y="972"/>
                    </a:cubicBezTo>
                    <a:cubicBezTo>
                      <a:pt x="1123" y="959"/>
                      <a:pt x="1112" y="948"/>
                      <a:pt x="1098" y="948"/>
                    </a:cubicBezTo>
                    <a:cubicBezTo>
                      <a:pt x="730" y="948"/>
                      <a:pt x="730" y="948"/>
                      <a:pt x="730" y="948"/>
                    </a:cubicBezTo>
                    <a:cubicBezTo>
                      <a:pt x="716" y="948"/>
                      <a:pt x="705" y="959"/>
                      <a:pt x="705" y="972"/>
                    </a:cubicBezTo>
                    <a:cubicBezTo>
                      <a:pt x="705" y="1339"/>
                      <a:pt x="705" y="1339"/>
                      <a:pt x="705" y="1339"/>
                    </a:cubicBezTo>
                    <a:cubicBezTo>
                      <a:pt x="705" y="1353"/>
                      <a:pt x="716" y="1364"/>
                      <a:pt x="730" y="1364"/>
                    </a:cubicBezTo>
                    <a:cubicBezTo>
                      <a:pt x="1098" y="1364"/>
                      <a:pt x="1098" y="1364"/>
                      <a:pt x="1098" y="1364"/>
                    </a:cubicBezTo>
                    <a:cubicBezTo>
                      <a:pt x="1112" y="1364"/>
                      <a:pt x="1123" y="1353"/>
                      <a:pt x="1123" y="1339"/>
                    </a:cubicBezTo>
                    <a:close/>
                    <a:moveTo>
                      <a:pt x="1828" y="1339"/>
                    </a:moveTo>
                    <a:cubicBezTo>
                      <a:pt x="1828" y="972"/>
                      <a:pt x="1828" y="972"/>
                      <a:pt x="1828" y="972"/>
                    </a:cubicBezTo>
                    <a:cubicBezTo>
                      <a:pt x="1828" y="959"/>
                      <a:pt x="1817" y="948"/>
                      <a:pt x="1803" y="948"/>
                    </a:cubicBezTo>
                    <a:cubicBezTo>
                      <a:pt x="1436" y="948"/>
                      <a:pt x="1436" y="948"/>
                      <a:pt x="1436" y="948"/>
                    </a:cubicBezTo>
                    <a:cubicBezTo>
                      <a:pt x="1423" y="948"/>
                      <a:pt x="1412" y="959"/>
                      <a:pt x="1412" y="972"/>
                    </a:cubicBezTo>
                    <a:cubicBezTo>
                      <a:pt x="1412" y="1339"/>
                      <a:pt x="1412" y="1339"/>
                      <a:pt x="1412" y="1339"/>
                    </a:cubicBezTo>
                    <a:cubicBezTo>
                      <a:pt x="1412" y="1353"/>
                      <a:pt x="1423" y="1364"/>
                      <a:pt x="1436" y="1364"/>
                    </a:cubicBezTo>
                    <a:cubicBezTo>
                      <a:pt x="1803" y="1364"/>
                      <a:pt x="1803" y="1364"/>
                      <a:pt x="1803" y="1364"/>
                    </a:cubicBezTo>
                    <a:cubicBezTo>
                      <a:pt x="1817" y="1364"/>
                      <a:pt x="1828" y="1353"/>
                      <a:pt x="1828" y="1339"/>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 name="Freeform 6"/>
              <p:cNvSpPr>
                <a:spLocks/>
              </p:cNvSpPr>
              <p:nvPr/>
            </p:nvSpPr>
            <p:spPr bwMode="auto">
              <a:xfrm>
                <a:off x="5573713" y="3365500"/>
                <a:ext cx="1044575" cy="217488"/>
              </a:xfrm>
              <a:custGeom>
                <a:avLst/>
                <a:gdLst>
                  <a:gd name="T0" fmla="*/ 1437 w 1462"/>
                  <a:gd name="T1" fmla="*/ 127 h 303"/>
                  <a:gd name="T2" fmla="*/ 756 w 1462"/>
                  <a:gd name="T3" fmla="*/ 127 h 303"/>
                  <a:gd name="T4" fmla="*/ 756 w 1462"/>
                  <a:gd name="T5" fmla="*/ 0 h 303"/>
                  <a:gd name="T6" fmla="*/ 731 w 1462"/>
                  <a:gd name="T7" fmla="*/ 1 h 303"/>
                  <a:gd name="T8" fmla="*/ 706 w 1462"/>
                  <a:gd name="T9" fmla="*/ 0 h 303"/>
                  <a:gd name="T10" fmla="*/ 706 w 1462"/>
                  <a:gd name="T11" fmla="*/ 127 h 303"/>
                  <a:gd name="T12" fmla="*/ 25 w 1462"/>
                  <a:gd name="T13" fmla="*/ 127 h 303"/>
                  <a:gd name="T14" fmla="*/ 0 w 1462"/>
                  <a:gd name="T15" fmla="*/ 152 h 303"/>
                  <a:gd name="T16" fmla="*/ 0 w 1462"/>
                  <a:gd name="T17" fmla="*/ 303 h 303"/>
                  <a:gd name="T18" fmla="*/ 50 w 1462"/>
                  <a:gd name="T19" fmla="*/ 303 h 303"/>
                  <a:gd name="T20" fmla="*/ 50 w 1462"/>
                  <a:gd name="T21" fmla="*/ 177 h 303"/>
                  <a:gd name="T22" fmla="*/ 706 w 1462"/>
                  <a:gd name="T23" fmla="*/ 177 h 303"/>
                  <a:gd name="T24" fmla="*/ 706 w 1462"/>
                  <a:gd name="T25" fmla="*/ 303 h 303"/>
                  <a:gd name="T26" fmla="*/ 756 w 1462"/>
                  <a:gd name="T27" fmla="*/ 303 h 303"/>
                  <a:gd name="T28" fmla="*/ 756 w 1462"/>
                  <a:gd name="T29" fmla="*/ 177 h 303"/>
                  <a:gd name="T30" fmla="*/ 1412 w 1462"/>
                  <a:gd name="T31" fmla="*/ 177 h 303"/>
                  <a:gd name="T32" fmla="*/ 1412 w 1462"/>
                  <a:gd name="T33" fmla="*/ 303 h 303"/>
                  <a:gd name="T34" fmla="*/ 1462 w 1462"/>
                  <a:gd name="T35" fmla="*/ 303 h 303"/>
                  <a:gd name="T36" fmla="*/ 1462 w 1462"/>
                  <a:gd name="T37" fmla="*/ 152 h 303"/>
                  <a:gd name="T38" fmla="*/ 1437 w 1462"/>
                  <a:gd name="T39" fmla="*/ 127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62" h="303">
                    <a:moveTo>
                      <a:pt x="1437" y="127"/>
                    </a:moveTo>
                    <a:cubicBezTo>
                      <a:pt x="756" y="127"/>
                      <a:pt x="756" y="127"/>
                      <a:pt x="756" y="127"/>
                    </a:cubicBezTo>
                    <a:cubicBezTo>
                      <a:pt x="756" y="0"/>
                      <a:pt x="756" y="0"/>
                      <a:pt x="756" y="0"/>
                    </a:cubicBezTo>
                    <a:cubicBezTo>
                      <a:pt x="748" y="1"/>
                      <a:pt x="739" y="1"/>
                      <a:pt x="731" y="1"/>
                    </a:cubicBezTo>
                    <a:cubicBezTo>
                      <a:pt x="723" y="1"/>
                      <a:pt x="714" y="1"/>
                      <a:pt x="706" y="0"/>
                    </a:cubicBezTo>
                    <a:cubicBezTo>
                      <a:pt x="706" y="127"/>
                      <a:pt x="706" y="127"/>
                      <a:pt x="706" y="127"/>
                    </a:cubicBezTo>
                    <a:cubicBezTo>
                      <a:pt x="25" y="127"/>
                      <a:pt x="25" y="127"/>
                      <a:pt x="25" y="127"/>
                    </a:cubicBezTo>
                    <a:cubicBezTo>
                      <a:pt x="12" y="127"/>
                      <a:pt x="0" y="139"/>
                      <a:pt x="0" y="152"/>
                    </a:cubicBezTo>
                    <a:cubicBezTo>
                      <a:pt x="0" y="303"/>
                      <a:pt x="0" y="303"/>
                      <a:pt x="0" y="303"/>
                    </a:cubicBezTo>
                    <a:cubicBezTo>
                      <a:pt x="50" y="303"/>
                      <a:pt x="50" y="303"/>
                      <a:pt x="50" y="303"/>
                    </a:cubicBezTo>
                    <a:cubicBezTo>
                      <a:pt x="50" y="177"/>
                      <a:pt x="50" y="177"/>
                      <a:pt x="50" y="177"/>
                    </a:cubicBezTo>
                    <a:cubicBezTo>
                      <a:pt x="706" y="177"/>
                      <a:pt x="706" y="177"/>
                      <a:pt x="706" y="177"/>
                    </a:cubicBezTo>
                    <a:cubicBezTo>
                      <a:pt x="706" y="303"/>
                      <a:pt x="706" y="303"/>
                      <a:pt x="706" y="303"/>
                    </a:cubicBezTo>
                    <a:cubicBezTo>
                      <a:pt x="756" y="303"/>
                      <a:pt x="756" y="303"/>
                      <a:pt x="756" y="303"/>
                    </a:cubicBezTo>
                    <a:cubicBezTo>
                      <a:pt x="756" y="177"/>
                      <a:pt x="756" y="177"/>
                      <a:pt x="756" y="177"/>
                    </a:cubicBezTo>
                    <a:cubicBezTo>
                      <a:pt x="1412" y="177"/>
                      <a:pt x="1412" y="177"/>
                      <a:pt x="1412" y="177"/>
                    </a:cubicBezTo>
                    <a:cubicBezTo>
                      <a:pt x="1412" y="303"/>
                      <a:pt x="1412" y="303"/>
                      <a:pt x="1412" y="303"/>
                    </a:cubicBezTo>
                    <a:cubicBezTo>
                      <a:pt x="1462" y="303"/>
                      <a:pt x="1462" y="303"/>
                      <a:pt x="1462" y="303"/>
                    </a:cubicBezTo>
                    <a:cubicBezTo>
                      <a:pt x="1462" y="152"/>
                      <a:pt x="1462" y="152"/>
                      <a:pt x="1462" y="152"/>
                    </a:cubicBezTo>
                    <a:cubicBezTo>
                      <a:pt x="1462" y="139"/>
                      <a:pt x="1450" y="127"/>
                      <a:pt x="1437" y="12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210" name="Group 209"/>
          <p:cNvGrpSpPr>
            <a:grpSpLocks noChangeAspect="1"/>
          </p:cNvGrpSpPr>
          <p:nvPr/>
        </p:nvGrpSpPr>
        <p:grpSpPr>
          <a:xfrm>
            <a:off x="5073567" y="4532810"/>
            <a:ext cx="431440" cy="431024"/>
            <a:chOff x="5273675" y="2606675"/>
            <a:chExt cx="1646238" cy="1644650"/>
          </a:xfrm>
        </p:grpSpPr>
        <p:sp>
          <p:nvSpPr>
            <p:cNvPr id="211" name="AutoShape 11"/>
            <p:cNvSpPr>
              <a:spLocks noChangeAspect="1" noChangeArrowheads="1" noTextEdit="1"/>
            </p:cNvSpPr>
            <p:nvPr/>
          </p:nvSpPr>
          <p:spPr bwMode="auto">
            <a:xfrm>
              <a:off x="5273675"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212" name="Group 211"/>
            <p:cNvGrpSpPr/>
            <p:nvPr/>
          </p:nvGrpSpPr>
          <p:grpSpPr>
            <a:xfrm>
              <a:off x="5457825" y="2841625"/>
              <a:ext cx="1275150" cy="1190625"/>
              <a:chOff x="5457825" y="2841625"/>
              <a:chExt cx="1275150" cy="1190625"/>
            </a:xfrm>
          </p:grpSpPr>
          <p:sp>
            <p:nvSpPr>
              <p:cNvPr id="213" name="Freeform 212"/>
              <p:cNvSpPr>
                <a:spLocks/>
              </p:cNvSpPr>
              <p:nvPr/>
            </p:nvSpPr>
            <p:spPr bwMode="auto">
              <a:xfrm>
                <a:off x="5457825" y="2841625"/>
                <a:ext cx="1191771" cy="1190625"/>
              </a:xfrm>
              <a:custGeom>
                <a:avLst/>
                <a:gdLst>
                  <a:gd name="connsiteX0" fmla="*/ 695044 w 1191771"/>
                  <a:gd name="connsiteY0" fmla="*/ 746141 h 1190625"/>
                  <a:gd name="connsiteX1" fmla="*/ 683590 w 1191771"/>
                  <a:gd name="connsiteY1" fmla="*/ 750948 h 1190625"/>
                  <a:gd name="connsiteX2" fmla="*/ 683590 w 1191771"/>
                  <a:gd name="connsiteY2" fmla="*/ 773027 h 1190625"/>
                  <a:gd name="connsiteX3" fmla="*/ 992129 w 1191771"/>
                  <a:gd name="connsiteY3" fmla="*/ 1079990 h 1190625"/>
                  <a:gd name="connsiteX4" fmla="*/ 1003582 w 1191771"/>
                  <a:gd name="connsiteY4" fmla="*/ 1084263 h 1190625"/>
                  <a:gd name="connsiteX5" fmla="*/ 1014320 w 1191771"/>
                  <a:gd name="connsiteY5" fmla="*/ 1079990 h 1190625"/>
                  <a:gd name="connsiteX6" fmla="*/ 1014320 w 1191771"/>
                  <a:gd name="connsiteY6" fmla="*/ 1057911 h 1190625"/>
                  <a:gd name="connsiteX7" fmla="*/ 706498 w 1191771"/>
                  <a:gd name="connsiteY7" fmla="*/ 750948 h 1190625"/>
                  <a:gd name="connsiteX8" fmla="*/ 695044 w 1191771"/>
                  <a:gd name="connsiteY8" fmla="*/ 746141 h 1190625"/>
                  <a:gd name="connsiteX9" fmla="*/ 763137 w 1191771"/>
                  <a:gd name="connsiteY9" fmla="*/ 679291 h 1190625"/>
                  <a:gd name="connsiteX10" fmla="*/ 751826 w 1191771"/>
                  <a:gd name="connsiteY10" fmla="*/ 683573 h 1190625"/>
                  <a:gd name="connsiteX11" fmla="*/ 751826 w 1191771"/>
                  <a:gd name="connsiteY11" fmla="*/ 705698 h 1190625"/>
                  <a:gd name="connsiteX12" fmla="*/ 1058936 w 1191771"/>
                  <a:gd name="connsiteY12" fmla="*/ 1013306 h 1190625"/>
                  <a:gd name="connsiteX13" fmla="*/ 1069624 w 1191771"/>
                  <a:gd name="connsiteY13" fmla="*/ 1017588 h 1190625"/>
                  <a:gd name="connsiteX14" fmla="*/ 1081025 w 1191771"/>
                  <a:gd name="connsiteY14" fmla="*/ 1013306 h 1190625"/>
                  <a:gd name="connsiteX15" fmla="*/ 1081025 w 1191771"/>
                  <a:gd name="connsiteY15" fmla="*/ 991181 h 1190625"/>
                  <a:gd name="connsiteX16" fmla="*/ 773915 w 1191771"/>
                  <a:gd name="connsiteY16" fmla="*/ 683573 h 1190625"/>
                  <a:gd name="connsiteX17" fmla="*/ 763137 w 1191771"/>
                  <a:gd name="connsiteY17" fmla="*/ 679291 h 1190625"/>
                  <a:gd name="connsiteX18" fmla="*/ 672309 w 1191771"/>
                  <a:gd name="connsiteY18" fmla="*/ 509588 h 1190625"/>
                  <a:gd name="connsiteX19" fmla="*/ 511175 w 1191771"/>
                  <a:gd name="connsiteY19" fmla="*/ 672130 h 1190625"/>
                  <a:gd name="connsiteX20" fmla="*/ 553241 w 1191771"/>
                  <a:gd name="connsiteY20" fmla="*/ 714376 h 1190625"/>
                  <a:gd name="connsiteX21" fmla="*/ 714375 w 1191771"/>
                  <a:gd name="connsiteY21" fmla="*/ 551835 h 1190625"/>
                  <a:gd name="connsiteX22" fmla="*/ 672309 w 1191771"/>
                  <a:gd name="connsiteY22" fmla="*/ 509588 h 1190625"/>
                  <a:gd name="connsiteX23" fmla="*/ 673000 w 1191771"/>
                  <a:gd name="connsiteY23" fmla="*/ 479425 h 1190625"/>
                  <a:gd name="connsiteX24" fmla="*/ 694428 w 1191771"/>
                  <a:gd name="connsiteY24" fmla="*/ 488708 h 1190625"/>
                  <a:gd name="connsiteX25" fmla="*/ 738001 w 1191771"/>
                  <a:gd name="connsiteY25" fmla="*/ 530837 h 1190625"/>
                  <a:gd name="connsiteX26" fmla="*/ 746572 w 1191771"/>
                  <a:gd name="connsiteY26" fmla="*/ 552259 h 1190625"/>
                  <a:gd name="connsiteX27" fmla="*/ 738001 w 1191771"/>
                  <a:gd name="connsiteY27" fmla="*/ 574395 h 1190625"/>
                  <a:gd name="connsiteX28" fmla="*/ 733715 w 1191771"/>
                  <a:gd name="connsiteY28" fmla="*/ 578679 h 1190625"/>
                  <a:gd name="connsiteX29" fmla="*/ 778715 w 1191771"/>
                  <a:gd name="connsiteY29" fmla="*/ 578679 h 1190625"/>
                  <a:gd name="connsiteX30" fmla="*/ 790144 w 1191771"/>
                  <a:gd name="connsiteY30" fmla="*/ 582963 h 1190625"/>
                  <a:gd name="connsiteX31" fmla="*/ 809430 w 1191771"/>
                  <a:gd name="connsiteY31" fmla="*/ 602243 h 1190625"/>
                  <a:gd name="connsiteX32" fmla="*/ 1180864 w 1191771"/>
                  <a:gd name="connsiteY32" fmla="*/ 973552 h 1190625"/>
                  <a:gd name="connsiteX33" fmla="*/ 1182293 w 1191771"/>
                  <a:gd name="connsiteY33" fmla="*/ 1043530 h 1190625"/>
                  <a:gd name="connsiteX34" fmla="*/ 1124435 w 1191771"/>
                  <a:gd name="connsiteY34" fmla="*/ 1123504 h 1190625"/>
                  <a:gd name="connsiteX35" fmla="*/ 1044434 w 1191771"/>
                  <a:gd name="connsiteY35" fmla="*/ 1181342 h 1190625"/>
                  <a:gd name="connsiteX36" fmla="*/ 1005147 w 1191771"/>
                  <a:gd name="connsiteY36" fmla="*/ 1190625 h 1190625"/>
                  <a:gd name="connsiteX37" fmla="*/ 974433 w 1191771"/>
                  <a:gd name="connsiteY37" fmla="*/ 1179200 h 1190625"/>
                  <a:gd name="connsiteX38" fmla="*/ 602999 w 1191771"/>
                  <a:gd name="connsiteY38" fmla="*/ 808605 h 1190625"/>
                  <a:gd name="connsiteX39" fmla="*/ 582998 w 1191771"/>
                  <a:gd name="connsiteY39" fmla="*/ 788611 h 1190625"/>
                  <a:gd name="connsiteX40" fmla="*/ 578712 w 1191771"/>
                  <a:gd name="connsiteY40" fmla="*/ 777901 h 1190625"/>
                  <a:gd name="connsiteX41" fmla="*/ 577284 w 1191771"/>
                  <a:gd name="connsiteY41" fmla="*/ 734343 h 1190625"/>
                  <a:gd name="connsiteX42" fmla="*/ 575141 w 1191771"/>
                  <a:gd name="connsiteY42" fmla="*/ 736485 h 1190625"/>
                  <a:gd name="connsiteX43" fmla="*/ 553712 w 1191771"/>
                  <a:gd name="connsiteY43" fmla="*/ 745768 h 1190625"/>
                  <a:gd name="connsiteX44" fmla="*/ 531569 w 1191771"/>
                  <a:gd name="connsiteY44" fmla="*/ 736485 h 1190625"/>
                  <a:gd name="connsiteX45" fmla="*/ 488711 w 1191771"/>
                  <a:gd name="connsiteY45" fmla="*/ 693642 h 1190625"/>
                  <a:gd name="connsiteX46" fmla="*/ 479425 w 1191771"/>
                  <a:gd name="connsiteY46" fmla="*/ 672220 h 1190625"/>
                  <a:gd name="connsiteX47" fmla="*/ 480140 w 1191771"/>
                  <a:gd name="connsiteY47" fmla="*/ 665080 h 1190625"/>
                  <a:gd name="connsiteX48" fmla="*/ 488711 w 1191771"/>
                  <a:gd name="connsiteY48" fmla="*/ 650085 h 1190625"/>
                  <a:gd name="connsiteX49" fmla="*/ 651571 w 1191771"/>
                  <a:gd name="connsiteY49" fmla="*/ 488708 h 1190625"/>
                  <a:gd name="connsiteX50" fmla="*/ 665857 w 1191771"/>
                  <a:gd name="connsiteY50" fmla="*/ 480139 h 1190625"/>
                  <a:gd name="connsiteX51" fmla="*/ 673000 w 1191771"/>
                  <a:gd name="connsiteY51" fmla="*/ 479425 h 1190625"/>
                  <a:gd name="connsiteX52" fmla="*/ 52387 w 1191771"/>
                  <a:gd name="connsiteY52" fmla="*/ 0 h 1190625"/>
                  <a:gd name="connsiteX53" fmla="*/ 180975 w 1191771"/>
                  <a:gd name="connsiteY53" fmla="*/ 65087 h 1190625"/>
                  <a:gd name="connsiteX54" fmla="*/ 190500 w 1191771"/>
                  <a:gd name="connsiteY54" fmla="*/ 120650 h 1190625"/>
                  <a:gd name="connsiteX55" fmla="*/ 582613 w 1191771"/>
                  <a:gd name="connsiteY55" fmla="*/ 511175 h 1190625"/>
                  <a:gd name="connsiteX56" fmla="*/ 511176 w 1191771"/>
                  <a:gd name="connsiteY56" fmla="*/ 584200 h 1190625"/>
                  <a:gd name="connsiteX57" fmla="*/ 115887 w 1191771"/>
                  <a:gd name="connsiteY57" fmla="*/ 188912 h 1190625"/>
                  <a:gd name="connsiteX58" fmla="*/ 66675 w 1191771"/>
                  <a:gd name="connsiteY58" fmla="*/ 182562 h 1190625"/>
                  <a:gd name="connsiteX59" fmla="*/ 0 w 1191771"/>
                  <a:gd name="connsiteY59" fmla="*/ 52387 h 1190625"/>
                  <a:gd name="connsiteX60" fmla="*/ 25400 w 1191771"/>
                  <a:gd name="connsiteY60" fmla="*/ 26987 h 11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191771" h="1190625">
                    <a:moveTo>
                      <a:pt x="695044" y="746141"/>
                    </a:moveTo>
                    <a:cubicBezTo>
                      <a:pt x="690928" y="746141"/>
                      <a:pt x="686812" y="747743"/>
                      <a:pt x="683590" y="750948"/>
                    </a:cubicBezTo>
                    <a:cubicBezTo>
                      <a:pt x="677863" y="757358"/>
                      <a:pt x="677863" y="767329"/>
                      <a:pt x="683590" y="773027"/>
                    </a:cubicBezTo>
                    <a:cubicBezTo>
                      <a:pt x="683590" y="773027"/>
                      <a:pt x="683590" y="773027"/>
                      <a:pt x="992129" y="1079990"/>
                    </a:cubicBezTo>
                    <a:cubicBezTo>
                      <a:pt x="994992" y="1082839"/>
                      <a:pt x="999287" y="1084263"/>
                      <a:pt x="1003582" y="1084263"/>
                    </a:cubicBezTo>
                    <a:cubicBezTo>
                      <a:pt x="1007162" y="1084263"/>
                      <a:pt x="1011457" y="1082839"/>
                      <a:pt x="1014320" y="1079990"/>
                    </a:cubicBezTo>
                    <a:cubicBezTo>
                      <a:pt x="1020763" y="1073580"/>
                      <a:pt x="1020763" y="1063609"/>
                      <a:pt x="1014320" y="1057911"/>
                    </a:cubicBezTo>
                    <a:cubicBezTo>
                      <a:pt x="1014320" y="1057911"/>
                      <a:pt x="1014320" y="1057911"/>
                      <a:pt x="706498" y="750948"/>
                    </a:cubicBezTo>
                    <a:cubicBezTo>
                      <a:pt x="703277" y="747743"/>
                      <a:pt x="699160" y="746141"/>
                      <a:pt x="695044" y="746141"/>
                    </a:cubicBezTo>
                    <a:close/>
                    <a:moveTo>
                      <a:pt x="763137" y="679291"/>
                    </a:moveTo>
                    <a:cubicBezTo>
                      <a:pt x="759129" y="679291"/>
                      <a:pt x="755032" y="680718"/>
                      <a:pt x="751826" y="683573"/>
                    </a:cubicBezTo>
                    <a:cubicBezTo>
                      <a:pt x="746125" y="689996"/>
                      <a:pt x="746125" y="699988"/>
                      <a:pt x="751826" y="705698"/>
                    </a:cubicBezTo>
                    <a:cubicBezTo>
                      <a:pt x="751826" y="705698"/>
                      <a:pt x="751826" y="705698"/>
                      <a:pt x="1058936" y="1013306"/>
                    </a:cubicBezTo>
                    <a:cubicBezTo>
                      <a:pt x="1061786" y="1016161"/>
                      <a:pt x="1066062" y="1017588"/>
                      <a:pt x="1069624" y="1017588"/>
                    </a:cubicBezTo>
                    <a:cubicBezTo>
                      <a:pt x="1073900" y="1017588"/>
                      <a:pt x="1078175" y="1016161"/>
                      <a:pt x="1081025" y="1013306"/>
                    </a:cubicBezTo>
                    <a:cubicBezTo>
                      <a:pt x="1087438" y="1006883"/>
                      <a:pt x="1087438" y="996891"/>
                      <a:pt x="1081025" y="991181"/>
                    </a:cubicBezTo>
                    <a:cubicBezTo>
                      <a:pt x="1081025" y="991181"/>
                      <a:pt x="1081025" y="991181"/>
                      <a:pt x="773915" y="683573"/>
                    </a:cubicBezTo>
                    <a:cubicBezTo>
                      <a:pt x="771065" y="680718"/>
                      <a:pt x="767146" y="679291"/>
                      <a:pt x="763137" y="679291"/>
                    </a:cubicBezTo>
                    <a:close/>
                    <a:moveTo>
                      <a:pt x="672309" y="509588"/>
                    </a:moveTo>
                    <a:cubicBezTo>
                      <a:pt x="672309" y="509588"/>
                      <a:pt x="672309" y="509588"/>
                      <a:pt x="511175" y="672130"/>
                    </a:cubicBezTo>
                    <a:cubicBezTo>
                      <a:pt x="511175" y="672130"/>
                      <a:pt x="511175" y="672130"/>
                      <a:pt x="553241" y="714376"/>
                    </a:cubicBezTo>
                    <a:cubicBezTo>
                      <a:pt x="553241" y="714376"/>
                      <a:pt x="553241" y="714376"/>
                      <a:pt x="714375" y="551835"/>
                    </a:cubicBezTo>
                    <a:cubicBezTo>
                      <a:pt x="714375" y="551835"/>
                      <a:pt x="714375" y="551835"/>
                      <a:pt x="672309" y="509588"/>
                    </a:cubicBezTo>
                    <a:close/>
                    <a:moveTo>
                      <a:pt x="673000" y="479425"/>
                    </a:moveTo>
                    <a:cubicBezTo>
                      <a:pt x="680857" y="479425"/>
                      <a:pt x="688714" y="482281"/>
                      <a:pt x="694428" y="488708"/>
                    </a:cubicBezTo>
                    <a:cubicBezTo>
                      <a:pt x="694428" y="488708"/>
                      <a:pt x="694428" y="488708"/>
                      <a:pt x="738001" y="530837"/>
                    </a:cubicBezTo>
                    <a:cubicBezTo>
                      <a:pt x="743715" y="536550"/>
                      <a:pt x="746572" y="544404"/>
                      <a:pt x="746572" y="552259"/>
                    </a:cubicBezTo>
                    <a:cubicBezTo>
                      <a:pt x="746572" y="560828"/>
                      <a:pt x="743715" y="568682"/>
                      <a:pt x="738001" y="574395"/>
                    </a:cubicBezTo>
                    <a:cubicBezTo>
                      <a:pt x="738001" y="574395"/>
                      <a:pt x="738001" y="574395"/>
                      <a:pt x="733715" y="578679"/>
                    </a:cubicBezTo>
                    <a:cubicBezTo>
                      <a:pt x="733715" y="578679"/>
                      <a:pt x="733715" y="578679"/>
                      <a:pt x="778715" y="578679"/>
                    </a:cubicBezTo>
                    <a:cubicBezTo>
                      <a:pt x="783001" y="578679"/>
                      <a:pt x="787287" y="580107"/>
                      <a:pt x="790144" y="582963"/>
                    </a:cubicBezTo>
                    <a:cubicBezTo>
                      <a:pt x="790144" y="582963"/>
                      <a:pt x="790144" y="582963"/>
                      <a:pt x="809430" y="602243"/>
                    </a:cubicBezTo>
                    <a:cubicBezTo>
                      <a:pt x="809430" y="602243"/>
                      <a:pt x="809430" y="602243"/>
                      <a:pt x="1180864" y="973552"/>
                    </a:cubicBezTo>
                    <a:cubicBezTo>
                      <a:pt x="1188721" y="982121"/>
                      <a:pt x="1200150" y="1002114"/>
                      <a:pt x="1182293" y="1043530"/>
                    </a:cubicBezTo>
                    <a:cubicBezTo>
                      <a:pt x="1170864" y="1069236"/>
                      <a:pt x="1150864" y="1097798"/>
                      <a:pt x="1124435" y="1123504"/>
                    </a:cubicBezTo>
                    <a:cubicBezTo>
                      <a:pt x="1098720" y="1149210"/>
                      <a:pt x="1070148" y="1169918"/>
                      <a:pt x="1044434" y="1181342"/>
                    </a:cubicBezTo>
                    <a:cubicBezTo>
                      <a:pt x="1028005" y="1188483"/>
                      <a:pt x="1015147" y="1190625"/>
                      <a:pt x="1005147" y="1190625"/>
                    </a:cubicBezTo>
                    <a:cubicBezTo>
                      <a:pt x="989433" y="1190625"/>
                      <a:pt x="979433" y="1184913"/>
                      <a:pt x="974433" y="1179200"/>
                    </a:cubicBezTo>
                    <a:cubicBezTo>
                      <a:pt x="974433" y="1179200"/>
                      <a:pt x="974433" y="1179200"/>
                      <a:pt x="602999" y="808605"/>
                    </a:cubicBezTo>
                    <a:cubicBezTo>
                      <a:pt x="602999" y="808605"/>
                      <a:pt x="602999" y="808605"/>
                      <a:pt x="582998" y="788611"/>
                    </a:cubicBezTo>
                    <a:cubicBezTo>
                      <a:pt x="580141" y="785755"/>
                      <a:pt x="578712" y="781471"/>
                      <a:pt x="578712" y="777901"/>
                    </a:cubicBezTo>
                    <a:cubicBezTo>
                      <a:pt x="578712" y="777901"/>
                      <a:pt x="578712" y="777901"/>
                      <a:pt x="577284" y="734343"/>
                    </a:cubicBezTo>
                    <a:cubicBezTo>
                      <a:pt x="577284" y="734343"/>
                      <a:pt x="577284" y="734343"/>
                      <a:pt x="575141" y="736485"/>
                    </a:cubicBezTo>
                    <a:cubicBezTo>
                      <a:pt x="569427" y="742912"/>
                      <a:pt x="561569" y="745768"/>
                      <a:pt x="553712" y="745768"/>
                    </a:cubicBezTo>
                    <a:cubicBezTo>
                      <a:pt x="545141" y="745768"/>
                      <a:pt x="537283" y="742912"/>
                      <a:pt x="531569" y="736485"/>
                    </a:cubicBezTo>
                    <a:cubicBezTo>
                      <a:pt x="531569" y="736485"/>
                      <a:pt x="531569" y="736485"/>
                      <a:pt x="488711" y="693642"/>
                    </a:cubicBezTo>
                    <a:cubicBezTo>
                      <a:pt x="482997" y="687930"/>
                      <a:pt x="479425" y="680075"/>
                      <a:pt x="479425" y="672220"/>
                    </a:cubicBezTo>
                    <a:cubicBezTo>
                      <a:pt x="479425" y="669364"/>
                      <a:pt x="480140" y="667222"/>
                      <a:pt x="480140" y="665080"/>
                    </a:cubicBezTo>
                    <a:cubicBezTo>
                      <a:pt x="481568" y="659367"/>
                      <a:pt x="484425" y="654369"/>
                      <a:pt x="488711" y="650085"/>
                    </a:cubicBezTo>
                    <a:cubicBezTo>
                      <a:pt x="488711" y="650085"/>
                      <a:pt x="488711" y="650085"/>
                      <a:pt x="651571" y="488708"/>
                    </a:cubicBezTo>
                    <a:cubicBezTo>
                      <a:pt x="655142" y="484424"/>
                      <a:pt x="660142" y="481567"/>
                      <a:pt x="665857" y="480139"/>
                    </a:cubicBezTo>
                    <a:cubicBezTo>
                      <a:pt x="667999" y="479425"/>
                      <a:pt x="670857" y="479425"/>
                      <a:pt x="673000" y="479425"/>
                    </a:cubicBezTo>
                    <a:close/>
                    <a:moveTo>
                      <a:pt x="52387" y="0"/>
                    </a:moveTo>
                    <a:lnTo>
                      <a:pt x="180975" y="65087"/>
                    </a:lnTo>
                    <a:lnTo>
                      <a:pt x="190500" y="120650"/>
                    </a:lnTo>
                    <a:lnTo>
                      <a:pt x="582613" y="511175"/>
                    </a:lnTo>
                    <a:lnTo>
                      <a:pt x="511176" y="584200"/>
                    </a:lnTo>
                    <a:lnTo>
                      <a:pt x="115887" y="188912"/>
                    </a:lnTo>
                    <a:lnTo>
                      <a:pt x="66675" y="182562"/>
                    </a:lnTo>
                    <a:lnTo>
                      <a:pt x="0" y="52387"/>
                    </a:lnTo>
                    <a:lnTo>
                      <a:pt x="25400" y="26987"/>
                    </a:ln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214" name="Freeform 213"/>
              <p:cNvSpPr>
                <a:spLocks/>
              </p:cNvSpPr>
              <p:nvPr/>
            </p:nvSpPr>
            <p:spPr bwMode="auto">
              <a:xfrm>
                <a:off x="5562348" y="2844682"/>
                <a:ext cx="1170627" cy="1170556"/>
              </a:xfrm>
              <a:custGeom>
                <a:avLst/>
                <a:gdLst>
                  <a:gd name="connsiteX0" fmla="*/ 94183 w 1170627"/>
                  <a:gd name="connsiteY0" fmla="*/ 1020022 h 1170556"/>
                  <a:gd name="connsiteX1" fmla="*/ 53247 w 1170627"/>
                  <a:gd name="connsiteY1" fmla="*/ 1036496 h 1170556"/>
                  <a:gd name="connsiteX2" fmla="*/ 53247 w 1170627"/>
                  <a:gd name="connsiteY2" fmla="*/ 1117979 h 1170556"/>
                  <a:gd name="connsiteX3" fmla="*/ 134584 w 1170627"/>
                  <a:gd name="connsiteY3" fmla="*/ 1117979 h 1170556"/>
                  <a:gd name="connsiteX4" fmla="*/ 134584 w 1170627"/>
                  <a:gd name="connsiteY4" fmla="*/ 1036496 h 1170556"/>
                  <a:gd name="connsiteX5" fmla="*/ 94183 w 1170627"/>
                  <a:gd name="connsiteY5" fmla="*/ 1020022 h 1170556"/>
                  <a:gd name="connsiteX6" fmla="*/ 348104 w 1170627"/>
                  <a:gd name="connsiteY6" fmla="*/ 690681 h 1170556"/>
                  <a:gd name="connsiteX7" fmla="*/ 362370 w 1170627"/>
                  <a:gd name="connsiteY7" fmla="*/ 712744 h 1170556"/>
                  <a:gd name="connsiteX8" fmla="*/ 405170 w 1170627"/>
                  <a:gd name="connsiteY8" fmla="*/ 756159 h 1170556"/>
                  <a:gd name="connsiteX9" fmla="*/ 442976 w 1170627"/>
                  <a:gd name="connsiteY9" fmla="*/ 773952 h 1170556"/>
                  <a:gd name="connsiteX10" fmla="*/ 442976 w 1170627"/>
                  <a:gd name="connsiteY10" fmla="*/ 775376 h 1170556"/>
                  <a:gd name="connsiteX11" fmla="*/ 456529 w 1170627"/>
                  <a:gd name="connsiteY11" fmla="*/ 808115 h 1170556"/>
                  <a:gd name="connsiteX12" fmla="*/ 476502 w 1170627"/>
                  <a:gd name="connsiteY12" fmla="*/ 828043 h 1170556"/>
                  <a:gd name="connsiteX13" fmla="*/ 472936 w 1170627"/>
                  <a:gd name="connsiteY13" fmla="*/ 831601 h 1170556"/>
                  <a:gd name="connsiteX14" fmla="*/ 160499 w 1170627"/>
                  <a:gd name="connsiteY14" fmla="*/ 1143334 h 1170556"/>
                  <a:gd name="connsiteX15" fmla="*/ 27820 w 1170627"/>
                  <a:gd name="connsiteY15" fmla="*/ 1143334 h 1170556"/>
                  <a:gd name="connsiteX16" fmla="*/ 27820 w 1170627"/>
                  <a:gd name="connsiteY16" fmla="*/ 1010242 h 1170556"/>
                  <a:gd name="connsiteX17" fmla="*/ 343824 w 1170627"/>
                  <a:gd name="connsiteY17" fmla="*/ 694240 h 1170556"/>
                  <a:gd name="connsiteX18" fmla="*/ 348104 w 1170627"/>
                  <a:gd name="connsiteY18" fmla="*/ 690681 h 1170556"/>
                  <a:gd name="connsiteX19" fmla="*/ 672546 w 1170627"/>
                  <a:gd name="connsiteY19" fmla="*/ 363655 h 1170556"/>
                  <a:gd name="connsiteX20" fmla="*/ 728206 w 1170627"/>
                  <a:gd name="connsiteY20" fmla="*/ 441522 h 1170556"/>
                  <a:gd name="connsiteX21" fmla="*/ 806702 w 1170627"/>
                  <a:gd name="connsiteY21" fmla="*/ 496529 h 1170556"/>
                  <a:gd name="connsiteX22" fmla="*/ 728920 w 1170627"/>
                  <a:gd name="connsiteY22" fmla="*/ 574396 h 1170556"/>
                  <a:gd name="connsiteX23" fmla="*/ 724638 w 1170627"/>
                  <a:gd name="connsiteY23" fmla="*/ 577968 h 1170556"/>
                  <a:gd name="connsiteX24" fmla="*/ 705371 w 1170627"/>
                  <a:gd name="connsiteY24" fmla="*/ 558680 h 1170556"/>
                  <a:gd name="connsiteX25" fmla="*/ 671832 w 1170627"/>
                  <a:gd name="connsiteY25" fmla="*/ 545107 h 1170556"/>
                  <a:gd name="connsiteX26" fmla="*/ 671118 w 1170627"/>
                  <a:gd name="connsiteY26" fmla="*/ 545107 h 1170556"/>
                  <a:gd name="connsiteX27" fmla="*/ 653278 w 1170627"/>
                  <a:gd name="connsiteY27" fmla="*/ 506530 h 1170556"/>
                  <a:gd name="connsiteX28" fmla="*/ 610462 w 1170627"/>
                  <a:gd name="connsiteY28" fmla="*/ 463668 h 1170556"/>
                  <a:gd name="connsiteX29" fmla="*/ 587627 w 1170627"/>
                  <a:gd name="connsiteY29" fmla="*/ 448666 h 1170556"/>
                  <a:gd name="connsiteX30" fmla="*/ 591195 w 1170627"/>
                  <a:gd name="connsiteY30" fmla="*/ 445094 h 1170556"/>
                  <a:gd name="connsiteX31" fmla="*/ 672546 w 1170627"/>
                  <a:gd name="connsiteY31" fmla="*/ 363655 h 1170556"/>
                  <a:gd name="connsiteX32" fmla="*/ 945094 w 1170627"/>
                  <a:gd name="connsiteY32" fmla="*/ 808 h 1170556"/>
                  <a:gd name="connsiteX33" fmla="*/ 1012386 w 1170627"/>
                  <a:gd name="connsiteY33" fmla="*/ 16195 h 1170556"/>
                  <a:gd name="connsiteX34" fmla="*/ 906911 w 1170627"/>
                  <a:gd name="connsiteY34" fmla="*/ 121812 h 1170556"/>
                  <a:gd name="connsiteX35" fmla="*/ 824954 w 1170627"/>
                  <a:gd name="connsiteY35" fmla="*/ 203879 h 1170556"/>
                  <a:gd name="connsiteX36" fmla="*/ 854886 w 1170627"/>
                  <a:gd name="connsiteY36" fmla="*/ 315205 h 1170556"/>
                  <a:gd name="connsiteX37" fmla="*/ 967488 w 1170627"/>
                  <a:gd name="connsiteY37" fmla="*/ 345891 h 1170556"/>
                  <a:gd name="connsiteX38" fmla="*/ 1049445 w 1170627"/>
                  <a:gd name="connsiteY38" fmla="*/ 263110 h 1170556"/>
                  <a:gd name="connsiteX39" fmla="*/ 1154920 w 1170627"/>
                  <a:gd name="connsiteY39" fmla="*/ 158207 h 1170556"/>
                  <a:gd name="connsiteX40" fmla="*/ 1099331 w 1170627"/>
                  <a:gd name="connsiteY40" fmla="*/ 417254 h 1170556"/>
                  <a:gd name="connsiteX41" fmla="*/ 752975 w 1170627"/>
                  <a:gd name="connsiteY41" fmla="*/ 417254 h 1170556"/>
                  <a:gd name="connsiteX42" fmla="*/ 752975 w 1170627"/>
                  <a:gd name="connsiteY42" fmla="*/ 71858 h 1170556"/>
                  <a:gd name="connsiteX43" fmla="*/ 945094 w 1170627"/>
                  <a:gd name="connsiteY43" fmla="*/ 808 h 1170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70627" h="1170556">
                    <a:moveTo>
                      <a:pt x="94183" y="1020022"/>
                    </a:moveTo>
                    <a:cubicBezTo>
                      <a:pt x="79467" y="1020022"/>
                      <a:pt x="64663" y="1025514"/>
                      <a:pt x="53247" y="1036496"/>
                    </a:cubicBezTo>
                    <a:cubicBezTo>
                      <a:pt x="30415" y="1059170"/>
                      <a:pt x="30415" y="1095306"/>
                      <a:pt x="53247" y="1117979"/>
                    </a:cubicBezTo>
                    <a:cubicBezTo>
                      <a:pt x="76078" y="1139944"/>
                      <a:pt x="112466" y="1139944"/>
                      <a:pt x="134584" y="1117979"/>
                    </a:cubicBezTo>
                    <a:cubicBezTo>
                      <a:pt x="157415" y="1095306"/>
                      <a:pt x="157415" y="1059170"/>
                      <a:pt x="134584" y="1036496"/>
                    </a:cubicBezTo>
                    <a:cubicBezTo>
                      <a:pt x="123525" y="1025514"/>
                      <a:pt x="108898" y="1020022"/>
                      <a:pt x="94183" y="1020022"/>
                    </a:cubicBezTo>
                    <a:close/>
                    <a:moveTo>
                      <a:pt x="348104" y="690681"/>
                    </a:moveTo>
                    <a:cubicBezTo>
                      <a:pt x="350957" y="698510"/>
                      <a:pt x="355950" y="706339"/>
                      <a:pt x="362370" y="712744"/>
                    </a:cubicBezTo>
                    <a:cubicBezTo>
                      <a:pt x="362370" y="712744"/>
                      <a:pt x="362370" y="712744"/>
                      <a:pt x="405170" y="756159"/>
                    </a:cubicBezTo>
                    <a:cubicBezTo>
                      <a:pt x="415156" y="766123"/>
                      <a:pt x="428709" y="772529"/>
                      <a:pt x="442976" y="773952"/>
                    </a:cubicBezTo>
                    <a:cubicBezTo>
                      <a:pt x="442976" y="773952"/>
                      <a:pt x="442976" y="773952"/>
                      <a:pt x="442976" y="775376"/>
                    </a:cubicBezTo>
                    <a:cubicBezTo>
                      <a:pt x="443689" y="788186"/>
                      <a:pt x="447969" y="799574"/>
                      <a:pt x="456529" y="808115"/>
                    </a:cubicBezTo>
                    <a:cubicBezTo>
                      <a:pt x="456529" y="808115"/>
                      <a:pt x="456529" y="808115"/>
                      <a:pt x="476502" y="828043"/>
                    </a:cubicBezTo>
                    <a:cubicBezTo>
                      <a:pt x="476502" y="828043"/>
                      <a:pt x="476502" y="828043"/>
                      <a:pt x="472936" y="831601"/>
                    </a:cubicBezTo>
                    <a:cubicBezTo>
                      <a:pt x="472936" y="831601"/>
                      <a:pt x="472936" y="831601"/>
                      <a:pt x="160499" y="1143334"/>
                    </a:cubicBezTo>
                    <a:cubicBezTo>
                      <a:pt x="124119" y="1179631"/>
                      <a:pt x="64200" y="1179631"/>
                      <a:pt x="27820" y="1143334"/>
                    </a:cubicBezTo>
                    <a:cubicBezTo>
                      <a:pt x="-9273" y="1106324"/>
                      <a:pt x="-9273" y="1047252"/>
                      <a:pt x="27820" y="1010242"/>
                    </a:cubicBezTo>
                    <a:cubicBezTo>
                      <a:pt x="27820" y="1010242"/>
                      <a:pt x="27820" y="1010242"/>
                      <a:pt x="343824" y="694240"/>
                    </a:cubicBezTo>
                    <a:cubicBezTo>
                      <a:pt x="343824" y="694240"/>
                      <a:pt x="343824" y="694240"/>
                      <a:pt x="348104" y="690681"/>
                    </a:cubicBezTo>
                    <a:close/>
                    <a:moveTo>
                      <a:pt x="672546" y="363655"/>
                    </a:moveTo>
                    <a:cubicBezTo>
                      <a:pt x="686104" y="392230"/>
                      <a:pt x="704658" y="418662"/>
                      <a:pt x="728206" y="441522"/>
                    </a:cubicBezTo>
                    <a:cubicBezTo>
                      <a:pt x="751755" y="465096"/>
                      <a:pt x="778158" y="483670"/>
                      <a:pt x="806702" y="496529"/>
                    </a:cubicBezTo>
                    <a:cubicBezTo>
                      <a:pt x="806702" y="496529"/>
                      <a:pt x="806702" y="496529"/>
                      <a:pt x="728920" y="574396"/>
                    </a:cubicBezTo>
                    <a:cubicBezTo>
                      <a:pt x="728920" y="574396"/>
                      <a:pt x="728920" y="574396"/>
                      <a:pt x="724638" y="577968"/>
                    </a:cubicBezTo>
                    <a:cubicBezTo>
                      <a:pt x="724638" y="577968"/>
                      <a:pt x="724638" y="577968"/>
                      <a:pt x="705371" y="558680"/>
                    </a:cubicBezTo>
                    <a:cubicBezTo>
                      <a:pt x="696808" y="550107"/>
                      <a:pt x="684677" y="545107"/>
                      <a:pt x="671832" y="545107"/>
                    </a:cubicBezTo>
                    <a:cubicBezTo>
                      <a:pt x="671832" y="545107"/>
                      <a:pt x="671832" y="545107"/>
                      <a:pt x="671118" y="545107"/>
                    </a:cubicBezTo>
                    <a:cubicBezTo>
                      <a:pt x="669691" y="530105"/>
                      <a:pt x="663269" y="516531"/>
                      <a:pt x="653278" y="506530"/>
                    </a:cubicBezTo>
                    <a:cubicBezTo>
                      <a:pt x="653278" y="506530"/>
                      <a:pt x="653278" y="506530"/>
                      <a:pt x="610462" y="463668"/>
                    </a:cubicBezTo>
                    <a:cubicBezTo>
                      <a:pt x="603326" y="456524"/>
                      <a:pt x="596190" y="452238"/>
                      <a:pt x="587627" y="448666"/>
                    </a:cubicBezTo>
                    <a:cubicBezTo>
                      <a:pt x="587627" y="448666"/>
                      <a:pt x="587627" y="448666"/>
                      <a:pt x="591195" y="445094"/>
                    </a:cubicBezTo>
                    <a:cubicBezTo>
                      <a:pt x="591195" y="445094"/>
                      <a:pt x="591195" y="445094"/>
                      <a:pt x="672546" y="363655"/>
                    </a:cubicBezTo>
                    <a:close/>
                    <a:moveTo>
                      <a:pt x="945094" y="808"/>
                    </a:moveTo>
                    <a:cubicBezTo>
                      <a:pt x="967978" y="2681"/>
                      <a:pt x="990649" y="7810"/>
                      <a:pt x="1012386" y="16195"/>
                    </a:cubicBezTo>
                    <a:cubicBezTo>
                      <a:pt x="1012386" y="16195"/>
                      <a:pt x="1012386" y="16195"/>
                      <a:pt x="906911" y="121812"/>
                    </a:cubicBezTo>
                    <a:cubicBezTo>
                      <a:pt x="906911" y="121812"/>
                      <a:pt x="906911" y="121812"/>
                      <a:pt x="824954" y="203879"/>
                    </a:cubicBezTo>
                    <a:cubicBezTo>
                      <a:pt x="824954" y="203879"/>
                      <a:pt x="824954" y="203879"/>
                      <a:pt x="854886" y="315205"/>
                    </a:cubicBezTo>
                    <a:cubicBezTo>
                      <a:pt x="854886" y="315205"/>
                      <a:pt x="854886" y="315205"/>
                      <a:pt x="967488" y="345891"/>
                    </a:cubicBezTo>
                    <a:cubicBezTo>
                      <a:pt x="967488" y="345891"/>
                      <a:pt x="967488" y="345891"/>
                      <a:pt x="1049445" y="263110"/>
                    </a:cubicBezTo>
                    <a:cubicBezTo>
                      <a:pt x="1049445" y="263110"/>
                      <a:pt x="1049445" y="263110"/>
                      <a:pt x="1154920" y="158207"/>
                    </a:cubicBezTo>
                    <a:cubicBezTo>
                      <a:pt x="1187702" y="245983"/>
                      <a:pt x="1169173" y="347318"/>
                      <a:pt x="1099331" y="417254"/>
                    </a:cubicBezTo>
                    <a:cubicBezTo>
                      <a:pt x="1003834" y="512880"/>
                      <a:pt x="848472" y="512880"/>
                      <a:pt x="752975" y="417254"/>
                    </a:cubicBezTo>
                    <a:cubicBezTo>
                      <a:pt x="657477" y="321628"/>
                      <a:pt x="657477" y="167484"/>
                      <a:pt x="752975" y="71858"/>
                    </a:cubicBezTo>
                    <a:cubicBezTo>
                      <a:pt x="805890" y="18871"/>
                      <a:pt x="876444" y="-4812"/>
                      <a:pt x="945094" y="808"/>
                    </a:cubicBezTo>
                    <a:close/>
                  </a:path>
                </a:pathLst>
              </a:custGeom>
              <a:solidFill>
                <a:schemeClr val="tx2"/>
              </a:solidFill>
              <a:ln>
                <a:noFill/>
              </a:ln>
            </p:spPr>
            <p:txBody>
              <a:bodyPr vert="horz" wrap="square" lIns="91440" tIns="45720" rIns="91440" bIns="45720" numCol="1" anchor="t" anchorCtr="0" compatLnSpc="1">
                <a:prstTxWarp prst="textNoShape">
                  <a:avLst/>
                </a:prstTxWarp>
                <a:noAutofit/>
              </a:bodyPr>
              <a:lstStyle/>
              <a:p>
                <a:endParaRPr lang="en-US"/>
              </a:p>
            </p:txBody>
          </p:sp>
        </p:grpSp>
      </p:grpSp>
      <p:grpSp>
        <p:nvGrpSpPr>
          <p:cNvPr id="215" name="Group 214"/>
          <p:cNvGrpSpPr>
            <a:grpSpLocks noChangeAspect="1"/>
          </p:cNvGrpSpPr>
          <p:nvPr/>
        </p:nvGrpSpPr>
        <p:grpSpPr>
          <a:xfrm>
            <a:off x="8848377" y="4530663"/>
            <a:ext cx="431440" cy="431024"/>
            <a:chOff x="6464300" y="2606675"/>
            <a:chExt cx="1646238" cy="1644650"/>
          </a:xfrm>
        </p:grpSpPr>
        <p:sp>
          <p:nvSpPr>
            <p:cNvPr id="216" name="AutoShape 3"/>
            <p:cNvSpPr>
              <a:spLocks noChangeAspect="1" noChangeArrowheads="1" noTextEdit="1"/>
            </p:cNvSpPr>
            <p:nvPr/>
          </p:nvSpPr>
          <p:spPr bwMode="auto">
            <a:xfrm>
              <a:off x="6464300"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217" name="Group 216"/>
            <p:cNvGrpSpPr/>
            <p:nvPr/>
          </p:nvGrpSpPr>
          <p:grpSpPr>
            <a:xfrm>
              <a:off x="6729413" y="2881313"/>
              <a:ext cx="1123838" cy="1125538"/>
              <a:chOff x="6729413" y="2881313"/>
              <a:chExt cx="1123838" cy="1125538"/>
            </a:xfrm>
          </p:grpSpPr>
          <p:sp>
            <p:nvSpPr>
              <p:cNvPr id="218" name="Freeform 217"/>
              <p:cNvSpPr>
                <a:spLocks/>
              </p:cNvSpPr>
              <p:nvPr/>
            </p:nvSpPr>
            <p:spPr bwMode="auto">
              <a:xfrm>
                <a:off x="7073900" y="2881313"/>
                <a:ext cx="709613" cy="574675"/>
              </a:xfrm>
              <a:custGeom>
                <a:avLst/>
                <a:gdLst>
                  <a:gd name="T0" fmla="*/ 992 w 993"/>
                  <a:gd name="T1" fmla="*/ 8 h 805"/>
                  <a:gd name="T2" fmla="*/ 983 w 993"/>
                  <a:gd name="T3" fmla="*/ 0 h 805"/>
                  <a:gd name="T4" fmla="*/ 486 w 993"/>
                  <a:gd name="T5" fmla="*/ 429 h 805"/>
                  <a:gd name="T6" fmla="*/ 469 w 993"/>
                  <a:gd name="T7" fmla="*/ 433 h 805"/>
                  <a:gd name="T8" fmla="*/ 9 w 993"/>
                  <a:gd name="T9" fmla="*/ 255 h 805"/>
                  <a:gd name="T10" fmla="*/ 0 w 993"/>
                  <a:gd name="T11" fmla="*/ 264 h 805"/>
                  <a:gd name="T12" fmla="*/ 385 w 993"/>
                  <a:gd name="T13" fmla="*/ 649 h 805"/>
                  <a:gd name="T14" fmla="*/ 393 w 993"/>
                  <a:gd name="T15" fmla="*/ 641 h 805"/>
                  <a:gd name="T16" fmla="*/ 284 w 993"/>
                  <a:gd name="T17" fmla="*/ 426 h 805"/>
                  <a:gd name="T18" fmla="*/ 294 w 993"/>
                  <a:gd name="T19" fmla="*/ 412 h 805"/>
                  <a:gd name="T20" fmla="*/ 461 w 993"/>
                  <a:gd name="T21" fmla="*/ 766 h 805"/>
                  <a:gd name="T22" fmla="*/ 461 w 993"/>
                  <a:gd name="T23" fmla="*/ 794 h 805"/>
                  <a:gd name="T24" fmla="*/ 521 w 993"/>
                  <a:gd name="T25" fmla="*/ 797 h 805"/>
                  <a:gd name="T26" fmla="*/ 562 w 993"/>
                  <a:gd name="T27" fmla="*/ 805 h 805"/>
                  <a:gd name="T28" fmla="*/ 554 w 993"/>
                  <a:gd name="T29" fmla="*/ 681 h 805"/>
                  <a:gd name="T30" fmla="*/ 555 w 993"/>
                  <a:gd name="T31" fmla="*/ 524 h 805"/>
                  <a:gd name="T32" fmla="*/ 578 w 993"/>
                  <a:gd name="T33" fmla="*/ 391 h 805"/>
                  <a:gd name="T34" fmla="*/ 679 w 993"/>
                  <a:gd name="T35" fmla="*/ 227 h 805"/>
                  <a:gd name="T36" fmla="*/ 745 w 993"/>
                  <a:gd name="T37" fmla="*/ 180 h 805"/>
                  <a:gd name="T38" fmla="*/ 755 w 993"/>
                  <a:gd name="T39" fmla="*/ 194 h 805"/>
                  <a:gd name="T40" fmla="*/ 623 w 993"/>
                  <a:gd name="T41" fmla="*/ 477 h 805"/>
                  <a:gd name="T42" fmla="*/ 632 w 993"/>
                  <a:gd name="T43" fmla="*/ 487 h 805"/>
                  <a:gd name="T44" fmla="*/ 992 w 993"/>
                  <a:gd name="T45" fmla="*/ 8 h 8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93" h="805">
                    <a:moveTo>
                      <a:pt x="992" y="8"/>
                    </a:moveTo>
                    <a:cubicBezTo>
                      <a:pt x="992" y="3"/>
                      <a:pt x="988" y="0"/>
                      <a:pt x="983" y="0"/>
                    </a:cubicBezTo>
                    <a:cubicBezTo>
                      <a:pt x="559" y="3"/>
                      <a:pt x="495" y="259"/>
                      <a:pt x="486" y="429"/>
                    </a:cubicBezTo>
                    <a:cubicBezTo>
                      <a:pt x="486" y="438"/>
                      <a:pt x="474" y="441"/>
                      <a:pt x="469" y="433"/>
                    </a:cubicBezTo>
                    <a:cubicBezTo>
                      <a:pt x="417" y="327"/>
                      <a:pt x="293" y="242"/>
                      <a:pt x="9" y="255"/>
                    </a:cubicBezTo>
                    <a:cubicBezTo>
                      <a:pt x="4" y="255"/>
                      <a:pt x="0" y="259"/>
                      <a:pt x="0" y="264"/>
                    </a:cubicBezTo>
                    <a:cubicBezTo>
                      <a:pt x="3" y="321"/>
                      <a:pt x="35" y="645"/>
                      <a:pt x="385" y="649"/>
                    </a:cubicBezTo>
                    <a:cubicBezTo>
                      <a:pt x="389" y="649"/>
                      <a:pt x="393" y="645"/>
                      <a:pt x="393" y="641"/>
                    </a:cubicBezTo>
                    <a:cubicBezTo>
                      <a:pt x="395" y="614"/>
                      <a:pt x="392" y="523"/>
                      <a:pt x="284" y="426"/>
                    </a:cubicBezTo>
                    <a:cubicBezTo>
                      <a:pt x="276" y="420"/>
                      <a:pt x="284" y="408"/>
                      <a:pt x="294" y="412"/>
                    </a:cubicBezTo>
                    <a:cubicBezTo>
                      <a:pt x="427" y="475"/>
                      <a:pt x="467" y="630"/>
                      <a:pt x="461" y="766"/>
                    </a:cubicBezTo>
                    <a:cubicBezTo>
                      <a:pt x="460" y="772"/>
                      <a:pt x="460" y="782"/>
                      <a:pt x="461" y="794"/>
                    </a:cubicBezTo>
                    <a:cubicBezTo>
                      <a:pt x="521" y="797"/>
                      <a:pt x="521" y="797"/>
                      <a:pt x="521" y="797"/>
                    </a:cubicBezTo>
                    <a:cubicBezTo>
                      <a:pt x="535" y="798"/>
                      <a:pt x="549" y="801"/>
                      <a:pt x="562" y="805"/>
                    </a:cubicBezTo>
                    <a:cubicBezTo>
                      <a:pt x="565" y="763"/>
                      <a:pt x="557" y="710"/>
                      <a:pt x="554" y="681"/>
                    </a:cubicBezTo>
                    <a:cubicBezTo>
                      <a:pt x="551" y="628"/>
                      <a:pt x="552" y="576"/>
                      <a:pt x="555" y="524"/>
                    </a:cubicBezTo>
                    <a:cubicBezTo>
                      <a:pt x="557" y="479"/>
                      <a:pt x="564" y="434"/>
                      <a:pt x="578" y="391"/>
                    </a:cubicBezTo>
                    <a:cubicBezTo>
                      <a:pt x="597" y="329"/>
                      <a:pt x="632" y="272"/>
                      <a:pt x="679" y="227"/>
                    </a:cubicBezTo>
                    <a:cubicBezTo>
                      <a:pt x="699" y="209"/>
                      <a:pt x="721" y="193"/>
                      <a:pt x="745" y="180"/>
                    </a:cubicBezTo>
                    <a:cubicBezTo>
                      <a:pt x="753" y="175"/>
                      <a:pt x="761" y="186"/>
                      <a:pt x="755" y="194"/>
                    </a:cubicBezTo>
                    <a:cubicBezTo>
                      <a:pt x="643" y="322"/>
                      <a:pt x="626" y="444"/>
                      <a:pt x="623" y="477"/>
                    </a:cubicBezTo>
                    <a:cubicBezTo>
                      <a:pt x="623" y="482"/>
                      <a:pt x="627" y="487"/>
                      <a:pt x="632" y="487"/>
                    </a:cubicBezTo>
                    <a:cubicBezTo>
                      <a:pt x="984" y="480"/>
                      <a:pt x="993" y="73"/>
                      <a:pt x="992" y="8"/>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US"/>
              </a:p>
            </p:txBody>
          </p:sp>
          <p:sp>
            <p:nvSpPr>
              <p:cNvPr id="219" name="Freeform 218"/>
              <p:cNvSpPr>
                <a:spLocks/>
              </p:cNvSpPr>
              <p:nvPr/>
            </p:nvSpPr>
            <p:spPr bwMode="auto">
              <a:xfrm>
                <a:off x="6729413" y="3465513"/>
                <a:ext cx="1123838" cy="541338"/>
              </a:xfrm>
              <a:custGeom>
                <a:avLst/>
                <a:gdLst>
                  <a:gd name="connsiteX0" fmla="*/ 409739 w 1123838"/>
                  <a:gd name="connsiteY0" fmla="*/ 31591 h 541338"/>
                  <a:gd name="connsiteX1" fmla="*/ 326138 w 1123838"/>
                  <a:gd name="connsiteY1" fmla="*/ 51601 h 541338"/>
                  <a:gd name="connsiteX2" fmla="*/ 31750 w 1123838"/>
                  <a:gd name="connsiteY2" fmla="*/ 218820 h 541338"/>
                  <a:gd name="connsiteX3" fmla="*/ 31750 w 1123838"/>
                  <a:gd name="connsiteY3" fmla="*/ 503237 h 541338"/>
                  <a:gd name="connsiteX4" fmla="*/ 368296 w 1123838"/>
                  <a:gd name="connsiteY4" fmla="*/ 373177 h 541338"/>
                  <a:gd name="connsiteX5" fmla="*/ 419028 w 1123838"/>
                  <a:gd name="connsiteY5" fmla="*/ 365316 h 541338"/>
                  <a:gd name="connsiteX6" fmla="*/ 568366 w 1123838"/>
                  <a:gd name="connsiteY6" fmla="*/ 376036 h 541338"/>
                  <a:gd name="connsiteX7" fmla="*/ 797017 w 1123838"/>
                  <a:gd name="connsiteY7" fmla="*/ 349595 h 541338"/>
                  <a:gd name="connsiteX8" fmla="*/ 1047818 w 1123838"/>
                  <a:gd name="connsiteY8" fmla="*/ 183090 h 541338"/>
                  <a:gd name="connsiteX9" fmla="*/ 1079972 w 1123838"/>
                  <a:gd name="connsiteY9" fmla="*/ 145930 h 541338"/>
                  <a:gd name="connsiteX10" fmla="*/ 1074971 w 1123838"/>
                  <a:gd name="connsiteY10" fmla="*/ 71610 h 541338"/>
                  <a:gd name="connsiteX11" fmla="*/ 1036386 w 1123838"/>
                  <a:gd name="connsiteY11" fmla="*/ 58032 h 541338"/>
                  <a:gd name="connsiteX12" fmla="*/ 999230 w 1123838"/>
                  <a:gd name="connsiteY12" fmla="*/ 75897 h 541338"/>
                  <a:gd name="connsiteX13" fmla="*/ 951356 w 1123838"/>
                  <a:gd name="connsiteY13" fmla="*/ 129494 h 541338"/>
                  <a:gd name="connsiteX14" fmla="*/ 805591 w 1123838"/>
                  <a:gd name="connsiteY14" fmla="*/ 220964 h 541338"/>
                  <a:gd name="connsiteX15" fmla="*/ 608380 w 1123838"/>
                  <a:gd name="connsiteY15" fmla="*/ 210245 h 541338"/>
                  <a:gd name="connsiteX16" fmla="*/ 553360 w 1123838"/>
                  <a:gd name="connsiteY16" fmla="*/ 188092 h 541338"/>
                  <a:gd name="connsiteX17" fmla="*/ 544071 w 1123838"/>
                  <a:gd name="connsiteY17" fmla="*/ 171656 h 541338"/>
                  <a:gd name="connsiteX18" fmla="*/ 557648 w 1123838"/>
                  <a:gd name="connsiteY18" fmla="*/ 158078 h 541338"/>
                  <a:gd name="connsiteX19" fmla="*/ 715560 w 1123838"/>
                  <a:gd name="connsiteY19" fmla="*/ 142357 h 541338"/>
                  <a:gd name="connsiteX20" fmla="*/ 759146 w 1123838"/>
                  <a:gd name="connsiteY20" fmla="*/ 95192 h 541338"/>
                  <a:gd name="connsiteX21" fmla="*/ 713416 w 1123838"/>
                  <a:gd name="connsiteY21" fmla="*/ 47313 h 541338"/>
                  <a:gd name="connsiteX22" fmla="*/ 409739 w 1123838"/>
                  <a:gd name="connsiteY22" fmla="*/ 31591 h 541338"/>
                  <a:gd name="connsiteX23" fmla="*/ 390213 w 1123838"/>
                  <a:gd name="connsiteY23" fmla="*/ 0 h 541338"/>
                  <a:gd name="connsiteX24" fmla="*/ 393786 w 1123838"/>
                  <a:gd name="connsiteY24" fmla="*/ 0 h 541338"/>
                  <a:gd name="connsiteX25" fmla="*/ 396645 w 1123838"/>
                  <a:gd name="connsiteY25" fmla="*/ 0 h 541338"/>
                  <a:gd name="connsiteX26" fmla="*/ 399504 w 1123838"/>
                  <a:gd name="connsiteY26" fmla="*/ 0 h 541338"/>
                  <a:gd name="connsiteX27" fmla="*/ 403077 w 1123838"/>
                  <a:gd name="connsiteY27" fmla="*/ 0 h 541338"/>
                  <a:gd name="connsiteX28" fmla="*/ 410939 w 1123838"/>
                  <a:gd name="connsiteY28" fmla="*/ 0 h 541338"/>
                  <a:gd name="connsiteX29" fmla="*/ 715390 w 1123838"/>
                  <a:gd name="connsiteY29" fmla="*/ 15712 h 541338"/>
                  <a:gd name="connsiteX30" fmla="*/ 780426 w 1123838"/>
                  <a:gd name="connsiteY30" fmla="*/ 56419 h 541338"/>
                  <a:gd name="connsiteX31" fmla="*/ 782570 w 1123838"/>
                  <a:gd name="connsiteY31" fmla="*/ 60704 h 541338"/>
                  <a:gd name="connsiteX32" fmla="*/ 789002 w 1123838"/>
                  <a:gd name="connsiteY32" fmla="*/ 79273 h 541338"/>
                  <a:gd name="connsiteX33" fmla="*/ 790431 w 1123838"/>
                  <a:gd name="connsiteY33" fmla="*/ 94984 h 541338"/>
                  <a:gd name="connsiteX34" fmla="*/ 789716 w 1123838"/>
                  <a:gd name="connsiteY34" fmla="*/ 100698 h 541338"/>
                  <a:gd name="connsiteX35" fmla="*/ 789716 w 1123838"/>
                  <a:gd name="connsiteY35" fmla="*/ 101412 h 541338"/>
                  <a:gd name="connsiteX36" fmla="*/ 789002 w 1123838"/>
                  <a:gd name="connsiteY36" fmla="*/ 107125 h 541338"/>
                  <a:gd name="connsiteX37" fmla="*/ 763988 w 1123838"/>
                  <a:gd name="connsiteY37" fmla="*/ 154260 h 541338"/>
                  <a:gd name="connsiteX38" fmla="*/ 763273 w 1123838"/>
                  <a:gd name="connsiteY38" fmla="*/ 154260 h 541338"/>
                  <a:gd name="connsiteX39" fmla="*/ 758985 w 1123838"/>
                  <a:gd name="connsiteY39" fmla="*/ 157831 h 541338"/>
                  <a:gd name="connsiteX40" fmla="*/ 754697 w 1123838"/>
                  <a:gd name="connsiteY40" fmla="*/ 160688 h 541338"/>
                  <a:gd name="connsiteX41" fmla="*/ 753983 w 1123838"/>
                  <a:gd name="connsiteY41" fmla="*/ 161402 h 541338"/>
                  <a:gd name="connsiteX42" fmla="*/ 749695 w 1123838"/>
                  <a:gd name="connsiteY42" fmla="*/ 164258 h 541338"/>
                  <a:gd name="connsiteX43" fmla="*/ 748265 w 1123838"/>
                  <a:gd name="connsiteY43" fmla="*/ 164973 h 541338"/>
                  <a:gd name="connsiteX44" fmla="*/ 743263 w 1123838"/>
                  <a:gd name="connsiteY44" fmla="*/ 167115 h 541338"/>
                  <a:gd name="connsiteX45" fmla="*/ 742548 w 1123838"/>
                  <a:gd name="connsiteY45" fmla="*/ 167829 h 541338"/>
                  <a:gd name="connsiteX46" fmla="*/ 738260 w 1123838"/>
                  <a:gd name="connsiteY46" fmla="*/ 169258 h 541338"/>
                  <a:gd name="connsiteX47" fmla="*/ 718964 w 1123838"/>
                  <a:gd name="connsiteY47" fmla="*/ 173543 h 541338"/>
                  <a:gd name="connsiteX48" fmla="*/ 624626 w 1123838"/>
                  <a:gd name="connsiteY48" fmla="*/ 182827 h 541338"/>
                  <a:gd name="connsiteX49" fmla="*/ 743263 w 1123838"/>
                  <a:gd name="connsiteY49" fmla="*/ 199967 h 541338"/>
                  <a:gd name="connsiteX50" fmla="*/ 775423 w 1123838"/>
                  <a:gd name="connsiteY50" fmla="*/ 195682 h 541338"/>
                  <a:gd name="connsiteX51" fmla="*/ 785428 w 1123838"/>
                  <a:gd name="connsiteY51" fmla="*/ 193539 h 541338"/>
                  <a:gd name="connsiteX52" fmla="*/ 786858 w 1123838"/>
                  <a:gd name="connsiteY52" fmla="*/ 192825 h 541338"/>
                  <a:gd name="connsiteX53" fmla="*/ 796863 w 1123838"/>
                  <a:gd name="connsiteY53" fmla="*/ 190683 h 541338"/>
                  <a:gd name="connsiteX54" fmla="*/ 826880 w 1123838"/>
                  <a:gd name="connsiteY54" fmla="*/ 179970 h 541338"/>
                  <a:gd name="connsiteX55" fmla="*/ 909782 w 1123838"/>
                  <a:gd name="connsiteY55" fmla="*/ 127122 h 541338"/>
                  <a:gd name="connsiteX56" fmla="*/ 928363 w 1123838"/>
                  <a:gd name="connsiteY56" fmla="*/ 108553 h 541338"/>
                  <a:gd name="connsiteX57" fmla="*/ 975532 w 1123838"/>
                  <a:gd name="connsiteY57" fmla="*/ 54991 h 541338"/>
                  <a:gd name="connsiteX58" fmla="*/ 978391 w 1123838"/>
                  <a:gd name="connsiteY58" fmla="*/ 51420 h 541338"/>
                  <a:gd name="connsiteX59" fmla="*/ 979105 w 1123838"/>
                  <a:gd name="connsiteY59" fmla="*/ 51420 h 541338"/>
                  <a:gd name="connsiteX60" fmla="*/ 1034135 w 1123838"/>
                  <a:gd name="connsiteY60" fmla="*/ 26424 h 541338"/>
                  <a:gd name="connsiteX61" fmla="*/ 1034850 w 1123838"/>
                  <a:gd name="connsiteY61" fmla="*/ 26424 h 541338"/>
                  <a:gd name="connsiteX62" fmla="*/ 1039138 w 1123838"/>
                  <a:gd name="connsiteY62" fmla="*/ 26424 h 541338"/>
                  <a:gd name="connsiteX63" fmla="*/ 1040567 w 1123838"/>
                  <a:gd name="connsiteY63" fmla="*/ 26424 h 541338"/>
                  <a:gd name="connsiteX64" fmla="*/ 1079875 w 1123838"/>
                  <a:gd name="connsiteY64" fmla="*/ 37137 h 541338"/>
                  <a:gd name="connsiteX65" fmla="*/ 1083448 w 1123838"/>
                  <a:gd name="connsiteY65" fmla="*/ 39279 h 541338"/>
                  <a:gd name="connsiteX66" fmla="*/ 1086307 w 1123838"/>
                  <a:gd name="connsiteY66" fmla="*/ 40708 h 541338"/>
                  <a:gd name="connsiteX67" fmla="*/ 1087021 w 1123838"/>
                  <a:gd name="connsiteY67" fmla="*/ 41422 h 541338"/>
                  <a:gd name="connsiteX68" fmla="*/ 1089880 w 1123838"/>
                  <a:gd name="connsiteY68" fmla="*/ 43564 h 541338"/>
                  <a:gd name="connsiteX69" fmla="*/ 1090595 w 1123838"/>
                  <a:gd name="connsiteY69" fmla="*/ 44278 h 541338"/>
                  <a:gd name="connsiteX70" fmla="*/ 1092739 w 1123838"/>
                  <a:gd name="connsiteY70" fmla="*/ 45707 h 541338"/>
                  <a:gd name="connsiteX71" fmla="*/ 1095597 w 1123838"/>
                  <a:gd name="connsiteY71" fmla="*/ 47849 h 541338"/>
                  <a:gd name="connsiteX72" fmla="*/ 1095597 w 1123838"/>
                  <a:gd name="connsiteY72" fmla="*/ 48563 h 541338"/>
                  <a:gd name="connsiteX73" fmla="*/ 1103459 w 1123838"/>
                  <a:gd name="connsiteY73" fmla="*/ 165687 h 541338"/>
                  <a:gd name="connsiteX74" fmla="*/ 1072013 w 1123838"/>
                  <a:gd name="connsiteY74" fmla="*/ 203538 h 541338"/>
                  <a:gd name="connsiteX75" fmla="*/ 966241 w 1123838"/>
                  <a:gd name="connsiteY75" fmla="*/ 299950 h 541338"/>
                  <a:gd name="connsiteX76" fmla="*/ 956950 w 1123838"/>
                  <a:gd name="connsiteY76" fmla="*/ 306377 h 541338"/>
                  <a:gd name="connsiteX77" fmla="*/ 948374 w 1123838"/>
                  <a:gd name="connsiteY77" fmla="*/ 312091 h 541338"/>
                  <a:gd name="connsiteX78" fmla="*/ 806154 w 1123838"/>
                  <a:gd name="connsiteY78" fmla="*/ 379222 h 541338"/>
                  <a:gd name="connsiteX79" fmla="*/ 792575 w 1123838"/>
                  <a:gd name="connsiteY79" fmla="*/ 383507 h 541338"/>
                  <a:gd name="connsiteX80" fmla="*/ 788287 w 1123838"/>
                  <a:gd name="connsiteY80" fmla="*/ 384222 h 541338"/>
                  <a:gd name="connsiteX81" fmla="*/ 779711 w 1123838"/>
                  <a:gd name="connsiteY81" fmla="*/ 387078 h 541338"/>
                  <a:gd name="connsiteX82" fmla="*/ 773994 w 1123838"/>
                  <a:gd name="connsiteY82" fmla="*/ 388507 h 541338"/>
                  <a:gd name="connsiteX83" fmla="*/ 766132 w 1123838"/>
                  <a:gd name="connsiteY83" fmla="*/ 389935 h 541338"/>
                  <a:gd name="connsiteX84" fmla="*/ 759700 w 1123838"/>
                  <a:gd name="connsiteY84" fmla="*/ 392077 h 541338"/>
                  <a:gd name="connsiteX85" fmla="*/ 753983 w 1123838"/>
                  <a:gd name="connsiteY85" fmla="*/ 392792 h 541338"/>
                  <a:gd name="connsiteX86" fmla="*/ 724681 w 1123838"/>
                  <a:gd name="connsiteY86" fmla="*/ 399219 h 541338"/>
                  <a:gd name="connsiteX87" fmla="*/ 721822 w 1123838"/>
                  <a:gd name="connsiteY87" fmla="*/ 399219 h 541338"/>
                  <a:gd name="connsiteX88" fmla="*/ 711102 w 1123838"/>
                  <a:gd name="connsiteY88" fmla="*/ 401362 h 541338"/>
                  <a:gd name="connsiteX89" fmla="*/ 709673 w 1123838"/>
                  <a:gd name="connsiteY89" fmla="*/ 401362 h 541338"/>
                  <a:gd name="connsiteX90" fmla="*/ 650355 w 1123838"/>
                  <a:gd name="connsiteY90" fmla="*/ 407789 h 541338"/>
                  <a:gd name="connsiteX91" fmla="*/ 648211 w 1123838"/>
                  <a:gd name="connsiteY91" fmla="*/ 407789 h 541338"/>
                  <a:gd name="connsiteX92" fmla="*/ 637491 w 1123838"/>
                  <a:gd name="connsiteY92" fmla="*/ 408503 h 541338"/>
                  <a:gd name="connsiteX93" fmla="*/ 635347 w 1123838"/>
                  <a:gd name="connsiteY93" fmla="*/ 408503 h 541338"/>
                  <a:gd name="connsiteX94" fmla="*/ 621053 w 1123838"/>
                  <a:gd name="connsiteY94" fmla="*/ 408503 h 541338"/>
                  <a:gd name="connsiteX95" fmla="*/ 620338 w 1123838"/>
                  <a:gd name="connsiteY95" fmla="*/ 408503 h 541338"/>
                  <a:gd name="connsiteX96" fmla="*/ 612477 w 1123838"/>
                  <a:gd name="connsiteY96" fmla="*/ 408503 h 541338"/>
                  <a:gd name="connsiteX97" fmla="*/ 606045 w 1123838"/>
                  <a:gd name="connsiteY97" fmla="*/ 408503 h 541338"/>
                  <a:gd name="connsiteX98" fmla="*/ 598898 w 1123838"/>
                  <a:gd name="connsiteY98" fmla="*/ 408503 h 541338"/>
                  <a:gd name="connsiteX99" fmla="*/ 592466 w 1123838"/>
                  <a:gd name="connsiteY99" fmla="*/ 408503 h 541338"/>
                  <a:gd name="connsiteX100" fmla="*/ 584605 w 1123838"/>
                  <a:gd name="connsiteY100" fmla="*/ 407789 h 541338"/>
                  <a:gd name="connsiteX101" fmla="*/ 578887 w 1123838"/>
                  <a:gd name="connsiteY101" fmla="*/ 407789 h 541338"/>
                  <a:gd name="connsiteX102" fmla="*/ 566738 w 1123838"/>
                  <a:gd name="connsiteY102" fmla="*/ 407075 h 541338"/>
                  <a:gd name="connsiteX103" fmla="*/ 566023 w 1123838"/>
                  <a:gd name="connsiteY103" fmla="*/ 407075 h 541338"/>
                  <a:gd name="connsiteX104" fmla="*/ 485265 w 1123838"/>
                  <a:gd name="connsiteY104" fmla="*/ 401362 h 541338"/>
                  <a:gd name="connsiteX105" fmla="*/ 416656 w 1123838"/>
                  <a:gd name="connsiteY105" fmla="*/ 396362 h 541338"/>
                  <a:gd name="connsiteX106" fmla="*/ 410939 w 1123838"/>
                  <a:gd name="connsiteY106" fmla="*/ 396362 h 541338"/>
                  <a:gd name="connsiteX107" fmla="*/ 407365 w 1123838"/>
                  <a:gd name="connsiteY107" fmla="*/ 396362 h 541338"/>
                  <a:gd name="connsiteX108" fmla="*/ 393072 w 1123838"/>
                  <a:gd name="connsiteY108" fmla="*/ 397791 h 541338"/>
                  <a:gd name="connsiteX109" fmla="*/ 388784 w 1123838"/>
                  <a:gd name="connsiteY109" fmla="*/ 398505 h 541338"/>
                  <a:gd name="connsiteX110" fmla="*/ 388784 w 1123838"/>
                  <a:gd name="connsiteY110" fmla="*/ 399219 h 541338"/>
                  <a:gd name="connsiteX111" fmla="*/ 384496 w 1123838"/>
                  <a:gd name="connsiteY111" fmla="*/ 399933 h 541338"/>
                  <a:gd name="connsiteX112" fmla="*/ 383781 w 1123838"/>
                  <a:gd name="connsiteY112" fmla="*/ 400647 h 541338"/>
                  <a:gd name="connsiteX113" fmla="*/ 379493 w 1123838"/>
                  <a:gd name="connsiteY113" fmla="*/ 402076 h 541338"/>
                  <a:gd name="connsiteX114" fmla="*/ 21441 w 1123838"/>
                  <a:gd name="connsiteY114" fmla="*/ 540624 h 541338"/>
                  <a:gd name="connsiteX115" fmla="*/ 15723 w 1123838"/>
                  <a:gd name="connsiteY115" fmla="*/ 541338 h 541338"/>
                  <a:gd name="connsiteX116" fmla="*/ 7147 w 1123838"/>
                  <a:gd name="connsiteY116" fmla="*/ 538481 h 541338"/>
                  <a:gd name="connsiteX117" fmla="*/ 0 w 1123838"/>
                  <a:gd name="connsiteY117" fmla="*/ 525626 h 541338"/>
                  <a:gd name="connsiteX118" fmla="*/ 0 w 1123838"/>
                  <a:gd name="connsiteY118" fmla="*/ 209251 h 541338"/>
                  <a:gd name="connsiteX119" fmla="*/ 7862 w 1123838"/>
                  <a:gd name="connsiteY119" fmla="*/ 195682 h 541338"/>
                  <a:gd name="connsiteX120" fmla="*/ 310169 w 1123838"/>
                  <a:gd name="connsiteY120" fmla="*/ 24282 h 541338"/>
                  <a:gd name="connsiteX121" fmla="*/ 315887 w 1123838"/>
                  <a:gd name="connsiteY121" fmla="*/ 21425 h 541338"/>
                  <a:gd name="connsiteX122" fmla="*/ 318031 w 1123838"/>
                  <a:gd name="connsiteY122" fmla="*/ 19997 h 541338"/>
                  <a:gd name="connsiteX123" fmla="*/ 320889 w 1123838"/>
                  <a:gd name="connsiteY123" fmla="*/ 18568 h 541338"/>
                  <a:gd name="connsiteX124" fmla="*/ 324463 w 1123838"/>
                  <a:gd name="connsiteY124" fmla="*/ 17140 h 541338"/>
                  <a:gd name="connsiteX125" fmla="*/ 326607 w 1123838"/>
                  <a:gd name="connsiteY125" fmla="*/ 15712 h 541338"/>
                  <a:gd name="connsiteX126" fmla="*/ 330180 w 1123838"/>
                  <a:gd name="connsiteY126" fmla="*/ 14283 h 541338"/>
                  <a:gd name="connsiteX127" fmla="*/ 332324 w 1123838"/>
                  <a:gd name="connsiteY127" fmla="*/ 13569 h 541338"/>
                  <a:gd name="connsiteX128" fmla="*/ 336612 w 1123838"/>
                  <a:gd name="connsiteY128" fmla="*/ 12141 h 541338"/>
                  <a:gd name="connsiteX129" fmla="*/ 338042 w 1123838"/>
                  <a:gd name="connsiteY129" fmla="*/ 11427 h 541338"/>
                  <a:gd name="connsiteX130" fmla="*/ 342330 w 1123838"/>
                  <a:gd name="connsiteY130" fmla="*/ 9998 h 541338"/>
                  <a:gd name="connsiteX131" fmla="*/ 343044 w 1123838"/>
                  <a:gd name="connsiteY131" fmla="*/ 9284 h 541338"/>
                  <a:gd name="connsiteX132" fmla="*/ 348047 w 1123838"/>
                  <a:gd name="connsiteY132" fmla="*/ 7856 h 541338"/>
                  <a:gd name="connsiteX133" fmla="*/ 348762 w 1123838"/>
                  <a:gd name="connsiteY133" fmla="*/ 7856 h 541338"/>
                  <a:gd name="connsiteX134" fmla="*/ 382352 w 1123838"/>
                  <a:gd name="connsiteY134" fmla="*/ 714 h 541338"/>
                  <a:gd name="connsiteX135" fmla="*/ 383781 w 1123838"/>
                  <a:gd name="connsiteY135" fmla="*/ 714 h 541338"/>
                  <a:gd name="connsiteX136" fmla="*/ 387354 w 1123838"/>
                  <a:gd name="connsiteY136" fmla="*/ 714 h 541338"/>
                  <a:gd name="connsiteX137" fmla="*/ 390213 w 1123838"/>
                  <a:gd name="connsiteY137" fmla="*/ 0 h 541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1123838" h="541338">
                    <a:moveTo>
                      <a:pt x="409739" y="31591"/>
                    </a:moveTo>
                    <a:cubicBezTo>
                      <a:pt x="380443" y="30162"/>
                      <a:pt x="351147" y="37308"/>
                      <a:pt x="326138" y="51601"/>
                    </a:cubicBezTo>
                    <a:cubicBezTo>
                      <a:pt x="326138" y="51601"/>
                      <a:pt x="326138" y="51601"/>
                      <a:pt x="31750" y="218820"/>
                    </a:cubicBezTo>
                    <a:cubicBezTo>
                      <a:pt x="31750" y="218820"/>
                      <a:pt x="31750" y="218820"/>
                      <a:pt x="31750" y="503237"/>
                    </a:cubicBezTo>
                    <a:cubicBezTo>
                      <a:pt x="31750" y="503237"/>
                      <a:pt x="31750" y="503237"/>
                      <a:pt x="368296" y="373177"/>
                    </a:cubicBezTo>
                    <a:cubicBezTo>
                      <a:pt x="384730" y="366746"/>
                      <a:pt x="401879" y="363887"/>
                      <a:pt x="419028" y="365316"/>
                    </a:cubicBezTo>
                    <a:cubicBezTo>
                      <a:pt x="419028" y="365316"/>
                      <a:pt x="419028" y="365316"/>
                      <a:pt x="568366" y="376036"/>
                    </a:cubicBezTo>
                    <a:cubicBezTo>
                      <a:pt x="645535" y="381753"/>
                      <a:pt x="722705" y="372463"/>
                      <a:pt x="797017" y="349595"/>
                    </a:cubicBezTo>
                    <a:cubicBezTo>
                      <a:pt x="894908" y="318867"/>
                      <a:pt x="981367" y="261697"/>
                      <a:pt x="1047818" y="183090"/>
                    </a:cubicBezTo>
                    <a:cubicBezTo>
                      <a:pt x="1047818" y="183090"/>
                      <a:pt x="1047818" y="183090"/>
                      <a:pt x="1079972" y="145930"/>
                    </a:cubicBezTo>
                    <a:cubicBezTo>
                      <a:pt x="1098550" y="123777"/>
                      <a:pt x="1096407" y="90904"/>
                      <a:pt x="1074971" y="71610"/>
                    </a:cubicBezTo>
                    <a:cubicBezTo>
                      <a:pt x="1064253" y="62320"/>
                      <a:pt x="1050676" y="57317"/>
                      <a:pt x="1036386" y="58032"/>
                    </a:cubicBezTo>
                    <a:cubicBezTo>
                      <a:pt x="1022095" y="58747"/>
                      <a:pt x="1008519" y="65178"/>
                      <a:pt x="999230" y="75897"/>
                    </a:cubicBezTo>
                    <a:cubicBezTo>
                      <a:pt x="999230" y="75897"/>
                      <a:pt x="999230" y="75897"/>
                      <a:pt x="951356" y="129494"/>
                    </a:cubicBezTo>
                    <a:cubicBezTo>
                      <a:pt x="912771" y="173800"/>
                      <a:pt x="862039" y="205243"/>
                      <a:pt x="805591" y="220964"/>
                    </a:cubicBezTo>
                    <a:cubicBezTo>
                      <a:pt x="740568" y="239544"/>
                      <a:pt x="670544" y="235257"/>
                      <a:pt x="608380" y="210245"/>
                    </a:cubicBezTo>
                    <a:cubicBezTo>
                      <a:pt x="608380" y="210245"/>
                      <a:pt x="608380" y="210245"/>
                      <a:pt x="553360" y="188092"/>
                    </a:cubicBezTo>
                    <a:cubicBezTo>
                      <a:pt x="546930" y="185234"/>
                      <a:pt x="542642" y="178802"/>
                      <a:pt x="544071" y="171656"/>
                    </a:cubicBezTo>
                    <a:cubicBezTo>
                      <a:pt x="544786" y="164510"/>
                      <a:pt x="550502" y="158793"/>
                      <a:pt x="557648" y="158078"/>
                    </a:cubicBezTo>
                    <a:cubicBezTo>
                      <a:pt x="557648" y="158078"/>
                      <a:pt x="557648" y="158078"/>
                      <a:pt x="715560" y="142357"/>
                    </a:cubicBezTo>
                    <a:cubicBezTo>
                      <a:pt x="740568" y="140213"/>
                      <a:pt x="759146" y="119489"/>
                      <a:pt x="759146" y="95192"/>
                    </a:cubicBezTo>
                    <a:cubicBezTo>
                      <a:pt x="759146" y="69466"/>
                      <a:pt x="739139" y="48742"/>
                      <a:pt x="713416" y="47313"/>
                    </a:cubicBezTo>
                    <a:cubicBezTo>
                      <a:pt x="713416" y="47313"/>
                      <a:pt x="713416" y="47313"/>
                      <a:pt x="409739" y="31591"/>
                    </a:cubicBezTo>
                    <a:close/>
                    <a:moveTo>
                      <a:pt x="390213" y="0"/>
                    </a:moveTo>
                    <a:cubicBezTo>
                      <a:pt x="391642" y="0"/>
                      <a:pt x="392357" y="0"/>
                      <a:pt x="393786" y="0"/>
                    </a:cubicBezTo>
                    <a:cubicBezTo>
                      <a:pt x="394501" y="0"/>
                      <a:pt x="395930" y="0"/>
                      <a:pt x="396645" y="0"/>
                    </a:cubicBezTo>
                    <a:cubicBezTo>
                      <a:pt x="398074" y="0"/>
                      <a:pt x="398789" y="0"/>
                      <a:pt x="399504" y="0"/>
                    </a:cubicBezTo>
                    <a:cubicBezTo>
                      <a:pt x="400933" y="0"/>
                      <a:pt x="401648" y="0"/>
                      <a:pt x="403077" y="0"/>
                    </a:cubicBezTo>
                    <a:cubicBezTo>
                      <a:pt x="405221" y="0"/>
                      <a:pt x="408080" y="0"/>
                      <a:pt x="410939" y="0"/>
                    </a:cubicBezTo>
                    <a:cubicBezTo>
                      <a:pt x="410939" y="0"/>
                      <a:pt x="410939" y="0"/>
                      <a:pt x="715390" y="15712"/>
                    </a:cubicBezTo>
                    <a:cubicBezTo>
                      <a:pt x="743263" y="17140"/>
                      <a:pt x="766847" y="33566"/>
                      <a:pt x="780426" y="56419"/>
                    </a:cubicBezTo>
                    <a:cubicBezTo>
                      <a:pt x="781140" y="57848"/>
                      <a:pt x="781855" y="59276"/>
                      <a:pt x="782570" y="60704"/>
                    </a:cubicBezTo>
                    <a:cubicBezTo>
                      <a:pt x="785428" y="66418"/>
                      <a:pt x="787572" y="72845"/>
                      <a:pt x="789002" y="79273"/>
                    </a:cubicBezTo>
                    <a:cubicBezTo>
                      <a:pt x="789716" y="84272"/>
                      <a:pt x="790431" y="89271"/>
                      <a:pt x="790431" y="94984"/>
                    </a:cubicBezTo>
                    <a:cubicBezTo>
                      <a:pt x="790431" y="97127"/>
                      <a:pt x="790431" y="98555"/>
                      <a:pt x="789716" y="100698"/>
                    </a:cubicBezTo>
                    <a:cubicBezTo>
                      <a:pt x="789716" y="100698"/>
                      <a:pt x="789716" y="101412"/>
                      <a:pt x="789716" y="101412"/>
                    </a:cubicBezTo>
                    <a:cubicBezTo>
                      <a:pt x="789716" y="103554"/>
                      <a:pt x="789716" y="104983"/>
                      <a:pt x="789002" y="107125"/>
                    </a:cubicBezTo>
                    <a:cubicBezTo>
                      <a:pt x="786143" y="125693"/>
                      <a:pt x="776852" y="142119"/>
                      <a:pt x="763988" y="154260"/>
                    </a:cubicBezTo>
                    <a:cubicBezTo>
                      <a:pt x="763988" y="154260"/>
                      <a:pt x="763273" y="154260"/>
                      <a:pt x="763273" y="154260"/>
                    </a:cubicBezTo>
                    <a:cubicBezTo>
                      <a:pt x="761844" y="155688"/>
                      <a:pt x="760415" y="156403"/>
                      <a:pt x="758985" y="157831"/>
                    </a:cubicBezTo>
                    <a:cubicBezTo>
                      <a:pt x="757556" y="159259"/>
                      <a:pt x="756127" y="159973"/>
                      <a:pt x="754697" y="160688"/>
                    </a:cubicBezTo>
                    <a:cubicBezTo>
                      <a:pt x="753983" y="161402"/>
                      <a:pt x="753983" y="161402"/>
                      <a:pt x="753983" y="161402"/>
                    </a:cubicBezTo>
                    <a:cubicBezTo>
                      <a:pt x="752553" y="162116"/>
                      <a:pt x="751124" y="163544"/>
                      <a:pt x="749695" y="164258"/>
                    </a:cubicBezTo>
                    <a:cubicBezTo>
                      <a:pt x="748980" y="164258"/>
                      <a:pt x="748265" y="164258"/>
                      <a:pt x="748265" y="164973"/>
                    </a:cubicBezTo>
                    <a:cubicBezTo>
                      <a:pt x="746836" y="165687"/>
                      <a:pt x="745407" y="166401"/>
                      <a:pt x="743263" y="167115"/>
                    </a:cubicBezTo>
                    <a:cubicBezTo>
                      <a:pt x="743263" y="167115"/>
                      <a:pt x="742548" y="167115"/>
                      <a:pt x="742548" y="167829"/>
                    </a:cubicBezTo>
                    <a:cubicBezTo>
                      <a:pt x="741118" y="167829"/>
                      <a:pt x="739689" y="168543"/>
                      <a:pt x="738260" y="169258"/>
                    </a:cubicBezTo>
                    <a:cubicBezTo>
                      <a:pt x="731828" y="171400"/>
                      <a:pt x="725396" y="172828"/>
                      <a:pt x="718964" y="173543"/>
                    </a:cubicBezTo>
                    <a:cubicBezTo>
                      <a:pt x="718964" y="173543"/>
                      <a:pt x="718964" y="173543"/>
                      <a:pt x="624626" y="182827"/>
                    </a:cubicBezTo>
                    <a:cubicBezTo>
                      <a:pt x="662504" y="197110"/>
                      <a:pt x="703241" y="202823"/>
                      <a:pt x="743263" y="199967"/>
                    </a:cubicBezTo>
                    <a:cubicBezTo>
                      <a:pt x="753983" y="199253"/>
                      <a:pt x="764703" y="197824"/>
                      <a:pt x="775423" y="195682"/>
                    </a:cubicBezTo>
                    <a:cubicBezTo>
                      <a:pt x="778996" y="194968"/>
                      <a:pt x="781855" y="194253"/>
                      <a:pt x="785428" y="193539"/>
                    </a:cubicBezTo>
                    <a:cubicBezTo>
                      <a:pt x="786143" y="193539"/>
                      <a:pt x="786143" y="193539"/>
                      <a:pt x="786858" y="192825"/>
                    </a:cubicBezTo>
                    <a:cubicBezTo>
                      <a:pt x="790431" y="192111"/>
                      <a:pt x="793290" y="191397"/>
                      <a:pt x="796863" y="190683"/>
                    </a:cubicBezTo>
                    <a:cubicBezTo>
                      <a:pt x="806869" y="187826"/>
                      <a:pt x="816874" y="184255"/>
                      <a:pt x="826880" y="179970"/>
                    </a:cubicBezTo>
                    <a:cubicBezTo>
                      <a:pt x="857611" y="167829"/>
                      <a:pt x="885483" y="149975"/>
                      <a:pt x="909782" y="127122"/>
                    </a:cubicBezTo>
                    <a:cubicBezTo>
                      <a:pt x="916214" y="121408"/>
                      <a:pt x="921931" y="114981"/>
                      <a:pt x="928363" y="108553"/>
                    </a:cubicBezTo>
                    <a:cubicBezTo>
                      <a:pt x="928363" y="108553"/>
                      <a:pt x="928363" y="108553"/>
                      <a:pt x="975532" y="54991"/>
                    </a:cubicBezTo>
                    <a:cubicBezTo>
                      <a:pt x="976961" y="53563"/>
                      <a:pt x="977676" y="52848"/>
                      <a:pt x="978391" y="51420"/>
                    </a:cubicBezTo>
                    <a:cubicBezTo>
                      <a:pt x="979105" y="51420"/>
                      <a:pt x="979105" y="51420"/>
                      <a:pt x="979105" y="51420"/>
                    </a:cubicBezTo>
                    <a:cubicBezTo>
                      <a:pt x="994114" y="36423"/>
                      <a:pt x="1013410" y="27853"/>
                      <a:pt x="1034135" y="26424"/>
                    </a:cubicBezTo>
                    <a:cubicBezTo>
                      <a:pt x="1034850" y="26424"/>
                      <a:pt x="1034850" y="26424"/>
                      <a:pt x="1034850" y="26424"/>
                    </a:cubicBezTo>
                    <a:cubicBezTo>
                      <a:pt x="1036279" y="26424"/>
                      <a:pt x="1037709" y="26424"/>
                      <a:pt x="1039138" y="26424"/>
                    </a:cubicBezTo>
                    <a:cubicBezTo>
                      <a:pt x="1039138" y="26424"/>
                      <a:pt x="1039853" y="26424"/>
                      <a:pt x="1040567" y="26424"/>
                    </a:cubicBezTo>
                    <a:cubicBezTo>
                      <a:pt x="1054146" y="26424"/>
                      <a:pt x="1067725" y="30709"/>
                      <a:pt x="1079875" y="37137"/>
                    </a:cubicBezTo>
                    <a:cubicBezTo>
                      <a:pt x="1081304" y="37851"/>
                      <a:pt x="1082019" y="38565"/>
                      <a:pt x="1083448" y="39279"/>
                    </a:cubicBezTo>
                    <a:cubicBezTo>
                      <a:pt x="1084877" y="39993"/>
                      <a:pt x="1085592" y="40708"/>
                      <a:pt x="1086307" y="40708"/>
                    </a:cubicBezTo>
                    <a:cubicBezTo>
                      <a:pt x="1087021" y="41422"/>
                      <a:pt x="1087021" y="41422"/>
                      <a:pt x="1087021" y="41422"/>
                    </a:cubicBezTo>
                    <a:cubicBezTo>
                      <a:pt x="1087736" y="42136"/>
                      <a:pt x="1089165" y="42850"/>
                      <a:pt x="1089880" y="43564"/>
                    </a:cubicBezTo>
                    <a:cubicBezTo>
                      <a:pt x="1089880" y="43564"/>
                      <a:pt x="1090595" y="44278"/>
                      <a:pt x="1090595" y="44278"/>
                    </a:cubicBezTo>
                    <a:cubicBezTo>
                      <a:pt x="1091309" y="44993"/>
                      <a:pt x="1092024" y="44993"/>
                      <a:pt x="1092739" y="45707"/>
                    </a:cubicBezTo>
                    <a:cubicBezTo>
                      <a:pt x="1093453" y="46421"/>
                      <a:pt x="1094168" y="47135"/>
                      <a:pt x="1095597" y="47849"/>
                    </a:cubicBezTo>
                    <a:cubicBezTo>
                      <a:pt x="1095597" y="47849"/>
                      <a:pt x="1095597" y="48563"/>
                      <a:pt x="1095597" y="48563"/>
                    </a:cubicBezTo>
                    <a:cubicBezTo>
                      <a:pt x="1129902" y="79273"/>
                      <a:pt x="1133475" y="130693"/>
                      <a:pt x="1103459" y="165687"/>
                    </a:cubicBezTo>
                    <a:cubicBezTo>
                      <a:pt x="1103459" y="165687"/>
                      <a:pt x="1103459" y="165687"/>
                      <a:pt x="1072013" y="203538"/>
                    </a:cubicBezTo>
                    <a:cubicBezTo>
                      <a:pt x="1040567" y="239960"/>
                      <a:pt x="1004834" y="272812"/>
                      <a:pt x="966241" y="299950"/>
                    </a:cubicBezTo>
                    <a:cubicBezTo>
                      <a:pt x="963383" y="302092"/>
                      <a:pt x="959809" y="304235"/>
                      <a:pt x="956950" y="306377"/>
                    </a:cubicBezTo>
                    <a:cubicBezTo>
                      <a:pt x="954092" y="308520"/>
                      <a:pt x="951233" y="310662"/>
                      <a:pt x="948374" y="312091"/>
                    </a:cubicBezTo>
                    <a:cubicBezTo>
                      <a:pt x="904779" y="340657"/>
                      <a:pt x="856896" y="363511"/>
                      <a:pt x="806154" y="379222"/>
                    </a:cubicBezTo>
                    <a:cubicBezTo>
                      <a:pt x="801866" y="380651"/>
                      <a:pt x="797578" y="382079"/>
                      <a:pt x="792575" y="383507"/>
                    </a:cubicBezTo>
                    <a:cubicBezTo>
                      <a:pt x="791146" y="383507"/>
                      <a:pt x="789716" y="384222"/>
                      <a:pt x="788287" y="384222"/>
                    </a:cubicBezTo>
                    <a:cubicBezTo>
                      <a:pt x="785428" y="384936"/>
                      <a:pt x="782570" y="386364"/>
                      <a:pt x="779711" y="387078"/>
                    </a:cubicBezTo>
                    <a:cubicBezTo>
                      <a:pt x="777567" y="387078"/>
                      <a:pt x="775423" y="387792"/>
                      <a:pt x="773994" y="388507"/>
                    </a:cubicBezTo>
                    <a:cubicBezTo>
                      <a:pt x="771135" y="389221"/>
                      <a:pt x="768991" y="389221"/>
                      <a:pt x="766132" y="389935"/>
                    </a:cubicBezTo>
                    <a:cubicBezTo>
                      <a:pt x="763988" y="390649"/>
                      <a:pt x="761844" y="391363"/>
                      <a:pt x="759700" y="392077"/>
                    </a:cubicBezTo>
                    <a:cubicBezTo>
                      <a:pt x="757556" y="392077"/>
                      <a:pt x="756127" y="392792"/>
                      <a:pt x="753983" y="392792"/>
                    </a:cubicBezTo>
                    <a:cubicBezTo>
                      <a:pt x="743977" y="394934"/>
                      <a:pt x="733972" y="397077"/>
                      <a:pt x="724681" y="399219"/>
                    </a:cubicBezTo>
                    <a:cubicBezTo>
                      <a:pt x="723252" y="399219"/>
                      <a:pt x="722537" y="399219"/>
                      <a:pt x="721822" y="399219"/>
                    </a:cubicBezTo>
                    <a:cubicBezTo>
                      <a:pt x="718249" y="399933"/>
                      <a:pt x="714676" y="400647"/>
                      <a:pt x="711102" y="401362"/>
                    </a:cubicBezTo>
                    <a:cubicBezTo>
                      <a:pt x="710387" y="401362"/>
                      <a:pt x="710387" y="401362"/>
                      <a:pt x="709673" y="401362"/>
                    </a:cubicBezTo>
                    <a:cubicBezTo>
                      <a:pt x="689662" y="404218"/>
                      <a:pt x="670366" y="406361"/>
                      <a:pt x="650355" y="407789"/>
                    </a:cubicBezTo>
                    <a:cubicBezTo>
                      <a:pt x="649640" y="407789"/>
                      <a:pt x="648925" y="407789"/>
                      <a:pt x="648211" y="407789"/>
                    </a:cubicBezTo>
                    <a:cubicBezTo>
                      <a:pt x="644637" y="407789"/>
                      <a:pt x="641064" y="407789"/>
                      <a:pt x="637491" y="408503"/>
                    </a:cubicBezTo>
                    <a:cubicBezTo>
                      <a:pt x="636776" y="408503"/>
                      <a:pt x="636061" y="408503"/>
                      <a:pt x="635347" y="408503"/>
                    </a:cubicBezTo>
                    <a:cubicBezTo>
                      <a:pt x="630344" y="408503"/>
                      <a:pt x="626056" y="408503"/>
                      <a:pt x="621053" y="408503"/>
                    </a:cubicBezTo>
                    <a:cubicBezTo>
                      <a:pt x="621053" y="408503"/>
                      <a:pt x="620338" y="408503"/>
                      <a:pt x="620338" y="408503"/>
                    </a:cubicBezTo>
                    <a:cubicBezTo>
                      <a:pt x="617480" y="408503"/>
                      <a:pt x="614621" y="408503"/>
                      <a:pt x="612477" y="408503"/>
                    </a:cubicBezTo>
                    <a:cubicBezTo>
                      <a:pt x="610333" y="408503"/>
                      <a:pt x="608189" y="408503"/>
                      <a:pt x="606045" y="408503"/>
                    </a:cubicBezTo>
                    <a:cubicBezTo>
                      <a:pt x="603901" y="408503"/>
                      <a:pt x="601042" y="408503"/>
                      <a:pt x="598898" y="408503"/>
                    </a:cubicBezTo>
                    <a:cubicBezTo>
                      <a:pt x="596754" y="408503"/>
                      <a:pt x="594610" y="408503"/>
                      <a:pt x="592466" y="408503"/>
                    </a:cubicBezTo>
                    <a:cubicBezTo>
                      <a:pt x="589607" y="408503"/>
                      <a:pt x="587463" y="408503"/>
                      <a:pt x="584605" y="407789"/>
                    </a:cubicBezTo>
                    <a:cubicBezTo>
                      <a:pt x="582461" y="407789"/>
                      <a:pt x="581031" y="407789"/>
                      <a:pt x="578887" y="407789"/>
                    </a:cubicBezTo>
                    <a:cubicBezTo>
                      <a:pt x="575314" y="407789"/>
                      <a:pt x="571026" y="407075"/>
                      <a:pt x="566738" y="407075"/>
                    </a:cubicBezTo>
                    <a:cubicBezTo>
                      <a:pt x="566738" y="407075"/>
                      <a:pt x="566023" y="407075"/>
                      <a:pt x="566023" y="407075"/>
                    </a:cubicBezTo>
                    <a:cubicBezTo>
                      <a:pt x="566023" y="407075"/>
                      <a:pt x="566023" y="407075"/>
                      <a:pt x="485265" y="401362"/>
                    </a:cubicBezTo>
                    <a:cubicBezTo>
                      <a:pt x="485265" y="401362"/>
                      <a:pt x="485265" y="401362"/>
                      <a:pt x="416656" y="396362"/>
                    </a:cubicBezTo>
                    <a:cubicBezTo>
                      <a:pt x="415227" y="396362"/>
                      <a:pt x="413083" y="396362"/>
                      <a:pt x="410939" y="396362"/>
                    </a:cubicBezTo>
                    <a:cubicBezTo>
                      <a:pt x="410224" y="396362"/>
                      <a:pt x="408794" y="396362"/>
                      <a:pt x="407365" y="396362"/>
                    </a:cubicBezTo>
                    <a:cubicBezTo>
                      <a:pt x="402362" y="396362"/>
                      <a:pt x="398074" y="397077"/>
                      <a:pt x="393072" y="397791"/>
                    </a:cubicBezTo>
                    <a:cubicBezTo>
                      <a:pt x="391642" y="398505"/>
                      <a:pt x="390213" y="398505"/>
                      <a:pt x="388784" y="398505"/>
                    </a:cubicBezTo>
                    <a:cubicBezTo>
                      <a:pt x="388784" y="399219"/>
                      <a:pt x="388784" y="399219"/>
                      <a:pt x="388784" y="399219"/>
                    </a:cubicBezTo>
                    <a:cubicBezTo>
                      <a:pt x="387354" y="399219"/>
                      <a:pt x="385925" y="399933"/>
                      <a:pt x="384496" y="399933"/>
                    </a:cubicBezTo>
                    <a:cubicBezTo>
                      <a:pt x="384496" y="399933"/>
                      <a:pt x="384496" y="399933"/>
                      <a:pt x="383781" y="400647"/>
                    </a:cubicBezTo>
                    <a:cubicBezTo>
                      <a:pt x="382352" y="400647"/>
                      <a:pt x="380922" y="401362"/>
                      <a:pt x="379493" y="402076"/>
                    </a:cubicBezTo>
                    <a:cubicBezTo>
                      <a:pt x="379493" y="402076"/>
                      <a:pt x="379493" y="402076"/>
                      <a:pt x="21441" y="540624"/>
                    </a:cubicBezTo>
                    <a:cubicBezTo>
                      <a:pt x="20011" y="541338"/>
                      <a:pt x="17867" y="541338"/>
                      <a:pt x="15723" y="541338"/>
                    </a:cubicBezTo>
                    <a:cubicBezTo>
                      <a:pt x="12864" y="541338"/>
                      <a:pt x="10006" y="540624"/>
                      <a:pt x="7147" y="538481"/>
                    </a:cubicBezTo>
                    <a:cubicBezTo>
                      <a:pt x="2859" y="535625"/>
                      <a:pt x="0" y="530626"/>
                      <a:pt x="0" y="525626"/>
                    </a:cubicBezTo>
                    <a:cubicBezTo>
                      <a:pt x="0" y="525626"/>
                      <a:pt x="0" y="525626"/>
                      <a:pt x="0" y="209251"/>
                    </a:cubicBezTo>
                    <a:cubicBezTo>
                      <a:pt x="0" y="203538"/>
                      <a:pt x="3574" y="198538"/>
                      <a:pt x="7862" y="195682"/>
                    </a:cubicBezTo>
                    <a:cubicBezTo>
                      <a:pt x="7862" y="195682"/>
                      <a:pt x="7862" y="195682"/>
                      <a:pt x="310169" y="24282"/>
                    </a:cubicBezTo>
                    <a:cubicBezTo>
                      <a:pt x="311599" y="22853"/>
                      <a:pt x="313743" y="22139"/>
                      <a:pt x="315887" y="21425"/>
                    </a:cubicBezTo>
                    <a:cubicBezTo>
                      <a:pt x="316601" y="20711"/>
                      <a:pt x="317316" y="20711"/>
                      <a:pt x="318031" y="19997"/>
                    </a:cubicBezTo>
                    <a:cubicBezTo>
                      <a:pt x="318745" y="19283"/>
                      <a:pt x="320175" y="18568"/>
                      <a:pt x="320889" y="18568"/>
                    </a:cubicBezTo>
                    <a:cubicBezTo>
                      <a:pt x="322319" y="17854"/>
                      <a:pt x="323033" y="17140"/>
                      <a:pt x="324463" y="17140"/>
                    </a:cubicBezTo>
                    <a:cubicBezTo>
                      <a:pt x="325177" y="16426"/>
                      <a:pt x="325892" y="16426"/>
                      <a:pt x="326607" y="15712"/>
                    </a:cubicBezTo>
                    <a:cubicBezTo>
                      <a:pt x="328036" y="14998"/>
                      <a:pt x="329466" y="14998"/>
                      <a:pt x="330180" y="14283"/>
                    </a:cubicBezTo>
                    <a:cubicBezTo>
                      <a:pt x="330895" y="14283"/>
                      <a:pt x="331610" y="13569"/>
                      <a:pt x="332324" y="13569"/>
                    </a:cubicBezTo>
                    <a:cubicBezTo>
                      <a:pt x="333754" y="12855"/>
                      <a:pt x="335183" y="12141"/>
                      <a:pt x="336612" y="12141"/>
                    </a:cubicBezTo>
                    <a:cubicBezTo>
                      <a:pt x="336612" y="11427"/>
                      <a:pt x="337327" y="11427"/>
                      <a:pt x="338042" y="11427"/>
                    </a:cubicBezTo>
                    <a:cubicBezTo>
                      <a:pt x="339471" y="10713"/>
                      <a:pt x="340900" y="9998"/>
                      <a:pt x="342330" y="9998"/>
                    </a:cubicBezTo>
                    <a:cubicBezTo>
                      <a:pt x="343044" y="9284"/>
                      <a:pt x="343044" y="9284"/>
                      <a:pt x="343044" y="9284"/>
                    </a:cubicBezTo>
                    <a:cubicBezTo>
                      <a:pt x="345188" y="8570"/>
                      <a:pt x="346618" y="8570"/>
                      <a:pt x="348047" y="7856"/>
                    </a:cubicBezTo>
                    <a:cubicBezTo>
                      <a:pt x="348762" y="7856"/>
                      <a:pt x="348762" y="7856"/>
                      <a:pt x="348762" y="7856"/>
                    </a:cubicBezTo>
                    <a:cubicBezTo>
                      <a:pt x="360197" y="4285"/>
                      <a:pt x="370917" y="2143"/>
                      <a:pt x="382352" y="714"/>
                    </a:cubicBezTo>
                    <a:cubicBezTo>
                      <a:pt x="383066" y="714"/>
                      <a:pt x="383781" y="714"/>
                      <a:pt x="383781" y="714"/>
                    </a:cubicBezTo>
                    <a:cubicBezTo>
                      <a:pt x="385210" y="714"/>
                      <a:pt x="386640" y="714"/>
                      <a:pt x="387354" y="714"/>
                    </a:cubicBezTo>
                    <a:cubicBezTo>
                      <a:pt x="388784" y="714"/>
                      <a:pt x="389498" y="714"/>
                      <a:pt x="390213"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grpSp>
      </p:grpSp>
      <p:sp>
        <p:nvSpPr>
          <p:cNvPr id="85" name="Oval 20">
            <a:extLst>
              <a:ext uri="{FF2B5EF4-FFF2-40B4-BE49-F238E27FC236}">
                <a16:creationId xmlns:a16="http://schemas.microsoft.com/office/drawing/2014/main" id="{D0843850-2324-402A-B19F-3691FA1E2DAF}"/>
              </a:ext>
            </a:extLst>
          </p:cNvPr>
          <p:cNvSpPr>
            <a:spLocks noChangeAspect="1" noChangeArrowheads="1"/>
          </p:cNvSpPr>
          <p:nvPr/>
        </p:nvSpPr>
        <p:spPr bwMode="auto">
          <a:xfrm>
            <a:off x="544624" y="1574024"/>
            <a:ext cx="214837" cy="214837"/>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sz="840">
                <a:solidFill>
                  <a:schemeClr val="bg1"/>
                </a:solidFill>
              </a:rPr>
              <a:t>1</a:t>
            </a:r>
          </a:p>
        </p:txBody>
      </p:sp>
      <p:sp>
        <p:nvSpPr>
          <p:cNvPr id="86" name="Oval 20">
            <a:extLst>
              <a:ext uri="{FF2B5EF4-FFF2-40B4-BE49-F238E27FC236}">
                <a16:creationId xmlns:a16="http://schemas.microsoft.com/office/drawing/2014/main" id="{09A8F530-3878-49DA-8435-0BD974766F5F}"/>
              </a:ext>
            </a:extLst>
          </p:cNvPr>
          <p:cNvSpPr>
            <a:spLocks noChangeAspect="1" noChangeArrowheads="1"/>
          </p:cNvSpPr>
          <p:nvPr/>
        </p:nvSpPr>
        <p:spPr bwMode="auto">
          <a:xfrm>
            <a:off x="548607" y="2698486"/>
            <a:ext cx="214837" cy="214837"/>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sz="840">
                <a:solidFill>
                  <a:schemeClr val="bg1"/>
                </a:solidFill>
              </a:rPr>
              <a:t>2</a:t>
            </a:r>
          </a:p>
        </p:txBody>
      </p:sp>
      <p:sp>
        <p:nvSpPr>
          <p:cNvPr id="88" name="Oval 20">
            <a:extLst>
              <a:ext uri="{FF2B5EF4-FFF2-40B4-BE49-F238E27FC236}">
                <a16:creationId xmlns:a16="http://schemas.microsoft.com/office/drawing/2014/main" id="{43961A35-FA20-41EF-865F-D9E814DFD509}"/>
              </a:ext>
            </a:extLst>
          </p:cNvPr>
          <p:cNvSpPr>
            <a:spLocks noChangeAspect="1" noChangeArrowheads="1"/>
          </p:cNvSpPr>
          <p:nvPr/>
        </p:nvSpPr>
        <p:spPr bwMode="auto">
          <a:xfrm>
            <a:off x="2596145" y="2701191"/>
            <a:ext cx="214837" cy="214837"/>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sz="840">
                <a:solidFill>
                  <a:schemeClr val="bg1"/>
                </a:solidFill>
              </a:rPr>
              <a:t>3A</a:t>
            </a:r>
          </a:p>
        </p:txBody>
      </p:sp>
      <p:sp>
        <p:nvSpPr>
          <p:cNvPr id="89" name="Oval 20">
            <a:extLst>
              <a:ext uri="{FF2B5EF4-FFF2-40B4-BE49-F238E27FC236}">
                <a16:creationId xmlns:a16="http://schemas.microsoft.com/office/drawing/2014/main" id="{800CCD8B-967C-40BB-9F9B-4D80A40E1E69}"/>
              </a:ext>
            </a:extLst>
          </p:cNvPr>
          <p:cNvSpPr>
            <a:spLocks noChangeAspect="1" noChangeArrowheads="1"/>
          </p:cNvSpPr>
          <p:nvPr/>
        </p:nvSpPr>
        <p:spPr bwMode="auto">
          <a:xfrm>
            <a:off x="6199925" y="2702201"/>
            <a:ext cx="214837" cy="214837"/>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sz="840">
                <a:solidFill>
                  <a:schemeClr val="bg1"/>
                </a:solidFill>
              </a:rPr>
              <a:t>3B</a:t>
            </a:r>
          </a:p>
        </p:txBody>
      </p:sp>
      <p:sp>
        <p:nvSpPr>
          <p:cNvPr id="90" name="Oval 20">
            <a:extLst>
              <a:ext uri="{FF2B5EF4-FFF2-40B4-BE49-F238E27FC236}">
                <a16:creationId xmlns:a16="http://schemas.microsoft.com/office/drawing/2014/main" id="{CE08A3FB-5EF3-40CE-AFE8-F97EB942429B}"/>
              </a:ext>
            </a:extLst>
          </p:cNvPr>
          <p:cNvSpPr>
            <a:spLocks noChangeAspect="1" noChangeArrowheads="1"/>
          </p:cNvSpPr>
          <p:nvPr/>
        </p:nvSpPr>
        <p:spPr bwMode="auto">
          <a:xfrm>
            <a:off x="541893" y="4482793"/>
            <a:ext cx="214837" cy="214837"/>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sz="840">
                <a:solidFill>
                  <a:schemeClr val="bg1"/>
                </a:solidFill>
              </a:rPr>
              <a:t>4</a:t>
            </a:r>
          </a:p>
        </p:txBody>
      </p:sp>
      <p:sp>
        <p:nvSpPr>
          <p:cNvPr id="91" name="Oval 20">
            <a:extLst>
              <a:ext uri="{FF2B5EF4-FFF2-40B4-BE49-F238E27FC236}">
                <a16:creationId xmlns:a16="http://schemas.microsoft.com/office/drawing/2014/main" id="{D173FE76-2379-4E35-89F5-2B910CF283F9}"/>
              </a:ext>
            </a:extLst>
          </p:cNvPr>
          <p:cNvSpPr>
            <a:spLocks noChangeAspect="1" noChangeArrowheads="1"/>
          </p:cNvSpPr>
          <p:nvPr/>
        </p:nvSpPr>
        <p:spPr bwMode="auto">
          <a:xfrm>
            <a:off x="4043563" y="4503274"/>
            <a:ext cx="214837" cy="214837"/>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sz="840">
                <a:solidFill>
                  <a:schemeClr val="bg1"/>
                </a:solidFill>
              </a:rPr>
              <a:t>5</a:t>
            </a:r>
          </a:p>
        </p:txBody>
      </p:sp>
      <p:sp>
        <p:nvSpPr>
          <p:cNvPr id="92" name="Oval 20">
            <a:extLst>
              <a:ext uri="{FF2B5EF4-FFF2-40B4-BE49-F238E27FC236}">
                <a16:creationId xmlns:a16="http://schemas.microsoft.com/office/drawing/2014/main" id="{0066EB99-7BCD-40B1-A302-29CE77CCC034}"/>
              </a:ext>
            </a:extLst>
          </p:cNvPr>
          <p:cNvSpPr>
            <a:spLocks noChangeAspect="1" noChangeArrowheads="1"/>
          </p:cNvSpPr>
          <p:nvPr/>
        </p:nvSpPr>
        <p:spPr bwMode="auto">
          <a:xfrm>
            <a:off x="8419296" y="4482792"/>
            <a:ext cx="214837" cy="214837"/>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sz="840">
                <a:solidFill>
                  <a:schemeClr val="bg1"/>
                </a:solidFill>
              </a:rPr>
              <a:t>6</a:t>
            </a:r>
          </a:p>
        </p:txBody>
      </p:sp>
      <p:sp>
        <p:nvSpPr>
          <p:cNvPr id="93" name="Rectangle: Rounded Corners 25">
            <a:hlinkClick r:id="rId10" action="ppaction://hlinksldjump"/>
            <a:extLst>
              <a:ext uri="{FF2B5EF4-FFF2-40B4-BE49-F238E27FC236}">
                <a16:creationId xmlns:a16="http://schemas.microsoft.com/office/drawing/2014/main" id="{77E6ECA1-3288-47CF-B1A2-41900F340C82}"/>
              </a:ext>
            </a:extLst>
          </p:cNvPr>
          <p:cNvSpPr/>
          <p:nvPr/>
        </p:nvSpPr>
        <p:spPr>
          <a:xfrm>
            <a:off x="8648352" y="5530199"/>
            <a:ext cx="2611738" cy="328147"/>
          </a:xfrm>
          <a:prstGeom prst="rect">
            <a:avLst/>
          </a:prstGeom>
          <a:solidFill>
            <a:srgbClr val="FFFFFF"/>
          </a:solidFill>
          <a:ln w="9525" cap="rnd" cmpd="sng" algn="ctr">
            <a:solidFill>
              <a:srgbClr val="295E7E"/>
            </a:solidFill>
            <a:prstDash val="sysDot"/>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 tIns="0" rIns="0" bIns="0" numCol="1" spcCol="0" rtlCol="0" fromWordArt="0" anchor="ctr" anchorCtr="0" forceAA="0" compatLnSpc="1">
            <a:prstTxWarp prst="textNoShape">
              <a:avLst/>
            </a:prstTxWarp>
            <a:noAutofit/>
          </a:bodyPr>
          <a:lstStyle/>
          <a:p>
            <a:pPr algn="ctr"/>
            <a:r>
              <a:rPr lang="en-US" sz="1100">
                <a:solidFill>
                  <a:srgbClr val="295E7E"/>
                </a:solidFill>
              </a:rPr>
              <a:t>Change management</a:t>
            </a:r>
          </a:p>
        </p:txBody>
      </p:sp>
    </p:spTree>
    <p:extLst>
      <p:ext uri="{BB962C8B-B14F-4D97-AF65-F5344CB8AC3E}">
        <p14:creationId xmlns:p14="http://schemas.microsoft.com/office/powerpoint/2010/main" val="317901432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322C1521-B912-4DC3-9D47-62A2F7A71F50}"/>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444" imgH="446" progId="TCLayout.ActiveDocument.1">
                  <p:embed/>
                </p:oleObj>
              </mc:Choice>
              <mc:Fallback>
                <p:oleObj name="think-cell Slide" r:id="rId5" imgW="444" imgH="446" progId="TCLayout.ActiveDocument.1">
                  <p:embed/>
                  <p:pic>
                    <p:nvPicPr>
                      <p:cNvPr id="4" name="Object 3" hidden="1">
                        <a:extLst>
                          <a:ext uri="{FF2B5EF4-FFF2-40B4-BE49-F238E27FC236}">
                            <a16:creationId xmlns:a16="http://schemas.microsoft.com/office/drawing/2014/main" id="{322C1521-B912-4DC3-9D47-62A2F7A71F50}"/>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9" name="Rectangle 8" hidden="1">
            <a:extLst>
              <a:ext uri="{FF2B5EF4-FFF2-40B4-BE49-F238E27FC236}">
                <a16:creationId xmlns:a16="http://schemas.microsoft.com/office/drawing/2014/main" id="{27C79F30-E20D-4FC5-AEBA-3021E7875DB9}"/>
              </a:ext>
            </a:extLst>
          </p:cNvPr>
          <p:cNvSpPr/>
          <p:nvPr>
            <p:custDataLst>
              <p:tags r:id="rId2"/>
            </p:custDataLst>
          </p:nvPr>
        </p:nvSpPr>
        <p:spPr>
          <a:xfrm>
            <a:off x="0" y="0"/>
            <a:ext cx="158750" cy="158750"/>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endParaRPr lang="en-ZA" sz="2400">
              <a:solidFill>
                <a:srgbClr val="FFFFFF"/>
              </a:solidFill>
              <a:latin typeface="Trebuchet MS" panose="020B0603020202020204" pitchFamily="34" charset="0"/>
              <a:ea typeface="+mj-ea"/>
              <a:cs typeface="+mj-cs"/>
              <a:sym typeface="Trebuchet MS" panose="020B0603020202020204" pitchFamily="34" charset="0"/>
            </a:endParaRPr>
          </a:p>
        </p:txBody>
      </p:sp>
      <p:sp>
        <p:nvSpPr>
          <p:cNvPr id="2" name="Title 1">
            <a:extLst>
              <a:ext uri="{FF2B5EF4-FFF2-40B4-BE49-F238E27FC236}">
                <a16:creationId xmlns:a16="http://schemas.microsoft.com/office/drawing/2014/main" id="{40CCBE91-6592-4930-BFD4-356641AC0BB5}"/>
              </a:ext>
            </a:extLst>
          </p:cNvPr>
          <p:cNvSpPr>
            <a:spLocks noGrp="1"/>
          </p:cNvSpPr>
          <p:nvPr>
            <p:ph type="title"/>
          </p:nvPr>
        </p:nvSpPr>
        <p:spPr>
          <a:xfrm>
            <a:off x="630000" y="622800"/>
            <a:ext cx="10933350" cy="664797"/>
          </a:xfrm>
        </p:spPr>
        <p:txBody>
          <a:bodyPr>
            <a:spAutoFit/>
          </a:bodyPr>
          <a:lstStyle/>
          <a:p>
            <a:r>
              <a:rPr lang="en-ZA">
                <a:sym typeface="+mj-lt"/>
              </a:rPr>
              <a:t>Hyper-personalisation for retail clients requires building digital capability along the personalisation stack</a:t>
            </a:r>
            <a:endParaRPr lang="en-US">
              <a:sym typeface="+mj-lt"/>
            </a:endParaRPr>
          </a:p>
        </p:txBody>
      </p:sp>
      <p:sp>
        <p:nvSpPr>
          <p:cNvPr id="11" name="ee4pHeader1">
            <a:extLst>
              <a:ext uri="{FF2B5EF4-FFF2-40B4-BE49-F238E27FC236}">
                <a16:creationId xmlns:a16="http://schemas.microsoft.com/office/drawing/2014/main" id="{73A6BC2C-C024-431C-8866-F157EF056351}"/>
              </a:ext>
            </a:extLst>
          </p:cNvPr>
          <p:cNvSpPr txBox="1"/>
          <p:nvPr/>
        </p:nvSpPr>
        <p:spPr>
          <a:xfrm>
            <a:off x="630000" y="1526362"/>
            <a:ext cx="5275500" cy="276999"/>
          </a:xfrm>
          <a:prstGeom prst="rect">
            <a:avLst/>
          </a:prstGeom>
          <a:noFill/>
          <a:ln cap="rnd">
            <a:noFill/>
          </a:ln>
        </p:spPr>
        <p:txBody>
          <a:bodyPr wrap="square" lIns="0" tIns="0" rIns="0" bIns="0" rtlCol="0" anchor="b" anchorCtr="0">
            <a:spAutoFit/>
          </a:bodyPr>
          <a:lstStyle/>
          <a:p>
            <a:pPr marR="4042">
              <a:buSzPct val="100000"/>
              <a:buFont typeface="Trebuchet MS" panose="020B0603020202020204" pitchFamily="34" charset="0"/>
              <a:buChar char="​"/>
            </a:pPr>
            <a:r>
              <a:rPr lang="en-ZA">
                <a:solidFill>
                  <a:srgbClr val="29BA74"/>
                </a:solidFill>
                <a:sym typeface="+mn-lt"/>
              </a:rPr>
              <a:t>Hyper-personalisation from the clients perspective</a:t>
            </a:r>
          </a:p>
        </p:txBody>
      </p:sp>
      <p:sp>
        <p:nvSpPr>
          <p:cNvPr id="12" name="ee4pHeader2">
            <a:extLst>
              <a:ext uri="{FF2B5EF4-FFF2-40B4-BE49-F238E27FC236}">
                <a16:creationId xmlns:a16="http://schemas.microsoft.com/office/drawing/2014/main" id="{CF91BB42-945C-4A05-AF0D-C0BA81C04081}"/>
              </a:ext>
            </a:extLst>
          </p:cNvPr>
          <p:cNvSpPr txBox="1"/>
          <p:nvPr/>
        </p:nvSpPr>
        <p:spPr>
          <a:xfrm>
            <a:off x="6567559" y="1526362"/>
            <a:ext cx="5119615" cy="276999"/>
          </a:xfrm>
          <a:prstGeom prst="rect">
            <a:avLst/>
          </a:prstGeom>
          <a:noFill/>
          <a:ln cap="rnd">
            <a:noFill/>
          </a:ln>
        </p:spPr>
        <p:txBody>
          <a:bodyPr wrap="square" lIns="0" tIns="0" rIns="0" bIns="0" rtlCol="0" anchor="b" anchorCtr="0">
            <a:spAutoFit/>
          </a:bodyPr>
          <a:lstStyle/>
          <a:p>
            <a:pPr marR="4042">
              <a:buSzPct val="100000"/>
              <a:buFont typeface="Trebuchet MS" panose="020B0603020202020204" pitchFamily="34" charset="0"/>
              <a:buChar char="​"/>
            </a:pPr>
            <a:r>
              <a:rPr lang="en-ZA">
                <a:solidFill>
                  <a:srgbClr val="29BA74"/>
                </a:solidFill>
                <a:sym typeface="+mn-lt"/>
              </a:rPr>
              <a:t>Hyper-personalisation from the banks perspective</a:t>
            </a:r>
          </a:p>
        </p:txBody>
      </p:sp>
      <p:grpSp>
        <p:nvGrpSpPr>
          <p:cNvPr id="61" name="Group 60">
            <a:extLst>
              <a:ext uri="{FF2B5EF4-FFF2-40B4-BE49-F238E27FC236}">
                <a16:creationId xmlns:a16="http://schemas.microsoft.com/office/drawing/2014/main" id="{259B294A-8EDF-468A-B368-39DAAFDD4765}"/>
              </a:ext>
            </a:extLst>
          </p:cNvPr>
          <p:cNvGrpSpPr/>
          <p:nvPr/>
        </p:nvGrpSpPr>
        <p:grpSpPr>
          <a:xfrm>
            <a:off x="630000" y="2286015"/>
            <a:ext cx="4995640" cy="553998"/>
            <a:chOff x="630000" y="2740043"/>
            <a:chExt cx="4995640" cy="553998"/>
          </a:xfrm>
        </p:grpSpPr>
        <p:sp>
          <p:nvSpPr>
            <p:cNvPr id="13" name="object 4">
              <a:extLst>
                <a:ext uri="{FF2B5EF4-FFF2-40B4-BE49-F238E27FC236}">
                  <a16:creationId xmlns:a16="http://schemas.microsoft.com/office/drawing/2014/main" id="{E774CF0A-683D-47A0-AF3A-2D19AE6B6E06}"/>
                </a:ext>
              </a:extLst>
            </p:cNvPr>
            <p:cNvSpPr txBox="1">
              <a:spLocks/>
            </p:cNvSpPr>
            <p:nvPr/>
          </p:nvSpPr>
          <p:spPr>
            <a:xfrm>
              <a:off x="1232845" y="2904474"/>
              <a:ext cx="4392795" cy="225135"/>
            </a:xfrm>
            <a:prstGeom prst="rect">
              <a:avLst/>
            </a:prstGeom>
          </p:spPr>
          <p:txBody>
            <a:bodyPr vert="horz" wrap="square" lIns="0" tIns="9598" rIns="0" bIns="0" rtlCol="0">
              <a:spAutoFit/>
            </a:bodyPr>
            <a:lstStyle>
              <a:lvl1pPr marL="0" indent="0" algn="l" defTabSz="914400" rtl="0" eaLnBrk="1" latinLnBrk="0" hangingPunct="1">
                <a:lnSpc>
                  <a:spcPct val="110000"/>
                </a:lnSpc>
                <a:spcBef>
                  <a:spcPts val="600"/>
                </a:spcBef>
                <a:spcAft>
                  <a:spcPts val="300"/>
                </a:spcAft>
                <a:buClr>
                  <a:srgbClr val="DC0532"/>
                </a:buClr>
                <a:buFont typeface="Arial" panose="020B0604020202020204" pitchFamily="34" charset="0"/>
                <a:buChar char="​"/>
                <a:defRPr lang="en-US" sz="1200" kern="1200">
                  <a:solidFill>
                    <a:srgbClr val="4D4D4D"/>
                  </a:solidFill>
                  <a:latin typeface="+mn-lt"/>
                  <a:ea typeface="+mn-ea"/>
                  <a:cs typeface="+mn-cs"/>
                  <a:sym typeface="+mn-lt"/>
                </a:defRPr>
              </a:lvl1pPr>
              <a:lvl2pPr marL="284400" indent="-172800" algn="l" defTabSz="914400" rtl="0" eaLnBrk="1" latinLnBrk="0" hangingPunct="1">
                <a:lnSpc>
                  <a:spcPct val="90000"/>
                </a:lnSpc>
                <a:spcBef>
                  <a:spcPts val="0"/>
                </a:spcBef>
                <a:spcAft>
                  <a:spcPts val="300"/>
                </a:spcAft>
                <a:buClr>
                  <a:srgbClr val="DC0532"/>
                </a:buClr>
                <a:buFont typeface="Arial" panose="020B0604020202020204" pitchFamily="34" charset="0"/>
                <a:buChar char="•"/>
                <a:defRPr lang="en-US" sz="1200" kern="1200">
                  <a:solidFill>
                    <a:srgbClr val="4D4D4D"/>
                  </a:solidFill>
                  <a:latin typeface="+mn-lt"/>
                  <a:ea typeface="+mn-ea"/>
                  <a:cs typeface="+mn-cs"/>
                  <a:sym typeface="+mn-lt"/>
                </a:defRPr>
              </a:lvl2pPr>
              <a:lvl3pPr marL="511200" indent="-165600" algn="l" defTabSz="914400" rtl="0" eaLnBrk="1" latinLnBrk="0" hangingPunct="1">
                <a:lnSpc>
                  <a:spcPct val="90000"/>
                </a:lnSpc>
                <a:spcBef>
                  <a:spcPts val="0"/>
                </a:spcBef>
                <a:spcAft>
                  <a:spcPts val="300"/>
                </a:spcAft>
                <a:buClr>
                  <a:srgbClr val="DC0532"/>
                </a:buClr>
                <a:buFont typeface="Trebuchet MS" panose="020B0603020202020204" pitchFamily="34" charset="0"/>
                <a:buChar char="–"/>
                <a:defRPr lang="en-US" sz="1200" kern="1200">
                  <a:solidFill>
                    <a:srgbClr val="4D4D4D"/>
                  </a:solidFill>
                  <a:latin typeface="+mn-lt"/>
                  <a:ea typeface="+mn-ea"/>
                  <a:cs typeface="+mn-cs"/>
                  <a:sym typeface="+mn-lt"/>
                </a:defRPr>
              </a:lvl3pPr>
              <a:lvl4pPr marL="0" indent="0" algn="l" defTabSz="914400" rtl="0" eaLnBrk="1" latinLnBrk="0" hangingPunct="1">
                <a:lnSpc>
                  <a:spcPct val="110000"/>
                </a:lnSpc>
                <a:spcBef>
                  <a:spcPts val="300"/>
                </a:spcBef>
                <a:spcAft>
                  <a:spcPts val="300"/>
                </a:spcAft>
                <a:buClr>
                  <a:srgbClr val="DC0532"/>
                </a:buClr>
                <a:buFont typeface="Arial" panose="020B0604020202020204" pitchFamily="34" charset="0"/>
                <a:buChar char="​"/>
                <a:defRPr lang="en-US" sz="1600" kern="1200">
                  <a:solidFill>
                    <a:srgbClr val="DC0532"/>
                  </a:solidFill>
                  <a:latin typeface="+mn-lt"/>
                  <a:ea typeface="+mn-ea"/>
                  <a:cs typeface="+mn-cs"/>
                  <a:sym typeface="+mn-lt"/>
                </a:defRPr>
              </a:lvl4pPr>
              <a:lvl5pPr marL="0" indent="0" algn="l" defTabSz="914400" rtl="0" eaLnBrk="1" latinLnBrk="0" hangingPunct="1">
                <a:lnSpc>
                  <a:spcPct val="100000"/>
                </a:lnSpc>
                <a:spcBef>
                  <a:spcPts val="0"/>
                </a:spcBef>
                <a:spcAft>
                  <a:spcPts val="300"/>
                </a:spcAft>
                <a:buClr>
                  <a:srgbClr val="DC0532"/>
                </a:buClr>
                <a:buFont typeface="Arial" panose="020B0604020202020204" pitchFamily="34" charset="0"/>
                <a:buChar char="​"/>
                <a:defRPr lang="en-US" sz="1600" b="1" kern="1200" smtClean="0">
                  <a:solidFill>
                    <a:srgbClr val="4D4D4D"/>
                  </a:solidFill>
                  <a:latin typeface="+mn-lt"/>
                  <a:ea typeface="+mn-ea"/>
                  <a:cs typeface="+mn-cs"/>
                  <a:sym typeface="+mn-lt"/>
                </a:defRPr>
              </a:lvl5pPr>
              <a:lvl6pPr marL="269875" indent="-152400" algn="l" defTabSz="914400" rtl="0" eaLnBrk="1" latinLnBrk="0" hangingPunct="1">
                <a:lnSpc>
                  <a:spcPct val="90000"/>
                </a:lnSpc>
                <a:spcBef>
                  <a:spcPts val="0"/>
                </a:spcBef>
                <a:spcAft>
                  <a:spcPts val="600"/>
                </a:spcAft>
                <a:buClr>
                  <a:srgbClr val="DC0532"/>
                </a:buClr>
                <a:buFont typeface="Arial" panose="020B0604020202020204" pitchFamily="34" charset="0"/>
                <a:buChar char="•"/>
                <a:defRPr lang="en-US" sz="1600" kern="1200" smtClean="0">
                  <a:solidFill>
                    <a:srgbClr val="4D4D4D"/>
                  </a:solidFill>
                  <a:latin typeface="+mn-lt"/>
                  <a:ea typeface="+mn-ea"/>
                  <a:cs typeface="+mn-cs"/>
                  <a:sym typeface="+mn-lt"/>
                </a:defRPr>
              </a:lvl6pPr>
              <a:lvl7pPr marL="0" indent="0" algn="l" defTabSz="914400" rtl="0" eaLnBrk="1" latinLnBrk="0" hangingPunct="1">
                <a:lnSpc>
                  <a:spcPct val="90000"/>
                </a:lnSpc>
                <a:spcBef>
                  <a:spcPts val="900"/>
                </a:spcBef>
                <a:spcAft>
                  <a:spcPts val="900"/>
                </a:spcAft>
                <a:buClr>
                  <a:srgbClr val="DC0532"/>
                </a:buClr>
                <a:buFont typeface="Arial" panose="020B0604020202020204" pitchFamily="34" charset="0"/>
                <a:buChar char="​"/>
                <a:defRPr lang="en-US" sz="4400" kern="1200" baseline="0" smtClean="0">
                  <a:solidFill>
                    <a:srgbClr val="4D4D4D"/>
                  </a:solidFill>
                  <a:latin typeface="+mn-lt"/>
                  <a:ea typeface="+mn-ea"/>
                  <a:cs typeface="+mn-cs"/>
                  <a:sym typeface="+mn-lt"/>
                </a:defRPr>
              </a:lvl7pPr>
              <a:lvl8pPr marL="0" indent="0" algn="l" defTabSz="914400" rtl="0" eaLnBrk="1" latinLnBrk="0" hangingPunct="1">
                <a:lnSpc>
                  <a:spcPct val="90000"/>
                </a:lnSpc>
                <a:spcBef>
                  <a:spcPts val="900"/>
                </a:spcBef>
                <a:spcAft>
                  <a:spcPts val="0"/>
                </a:spcAft>
                <a:buClr>
                  <a:srgbClr val="DC0532"/>
                </a:buClr>
                <a:buFont typeface="Arial" panose="020B0604020202020204" pitchFamily="34" charset="0"/>
                <a:buChar char="​"/>
                <a:defRPr lang="en-US" sz="5400" kern="1200" baseline="0" smtClean="0">
                  <a:solidFill>
                    <a:srgbClr val="DC0532"/>
                  </a:solidFill>
                  <a:latin typeface="+mn-lt"/>
                  <a:ea typeface="+mn-ea"/>
                  <a:cs typeface="+mn-cs"/>
                  <a:sym typeface="+mn-lt"/>
                </a:defRPr>
              </a:lvl8pPr>
              <a:lvl9pPr marL="0" indent="0" algn="l" defTabSz="914400" rtl="0" eaLnBrk="1" latinLnBrk="0" hangingPunct="1">
                <a:lnSpc>
                  <a:spcPct val="100000"/>
                </a:lnSpc>
                <a:spcBef>
                  <a:spcPts val="0"/>
                </a:spcBef>
                <a:spcAft>
                  <a:spcPts val="900"/>
                </a:spcAft>
                <a:buClr>
                  <a:srgbClr val="DC0532"/>
                </a:buClr>
                <a:buFont typeface="Arial" panose="020B0604020202020204" pitchFamily="34" charset="0"/>
                <a:buChar char="​"/>
                <a:defRPr lang="en-US" sz="2400" kern="1200" baseline="0" dirty="0">
                  <a:solidFill>
                    <a:srgbClr val="DC0532"/>
                  </a:solidFill>
                  <a:latin typeface="+mn-lt"/>
                  <a:ea typeface="+mn-ea"/>
                  <a:cs typeface="+mn-cs"/>
                  <a:sym typeface="+mn-lt"/>
                </a:defRPr>
              </a:lvl9pPr>
            </a:lstStyle>
            <a:p>
              <a:pPr>
                <a:lnSpc>
                  <a:spcPct val="100000"/>
                </a:lnSpc>
                <a:spcBef>
                  <a:spcPts val="0"/>
                </a:spcBef>
                <a:spcAft>
                  <a:spcPts val="0"/>
                </a:spcAft>
                <a:buClrTx/>
                <a:buSzPct val="100000"/>
                <a:buFont typeface="Trebuchet MS" panose="020B0603020202020204" pitchFamily="34" charset="0"/>
                <a:buChar char="​"/>
              </a:pPr>
              <a:r>
                <a:rPr lang="en-ZA" sz="1400">
                  <a:solidFill>
                    <a:schemeClr val="tx1">
                      <a:lumMod val="100000"/>
                    </a:schemeClr>
                  </a:solidFill>
                </a:rPr>
                <a:t>I get a curated, concierge experience</a:t>
              </a:r>
            </a:p>
          </p:txBody>
        </p:sp>
        <p:grpSp>
          <p:nvGrpSpPr>
            <p:cNvPr id="36" name="Group 35">
              <a:extLst>
                <a:ext uri="{FF2B5EF4-FFF2-40B4-BE49-F238E27FC236}">
                  <a16:creationId xmlns:a16="http://schemas.microsoft.com/office/drawing/2014/main" id="{0596FBE5-6CA5-4739-8C12-0984165F7361}"/>
                </a:ext>
              </a:extLst>
            </p:cNvPr>
            <p:cNvGrpSpPr>
              <a:grpSpLocks noChangeAspect="1"/>
            </p:cNvGrpSpPr>
            <p:nvPr/>
          </p:nvGrpSpPr>
          <p:grpSpPr>
            <a:xfrm>
              <a:off x="630000" y="2740043"/>
              <a:ext cx="553485" cy="553998"/>
              <a:chOff x="5273801" y="2606040"/>
              <a:chExt cx="1644396" cy="1645920"/>
            </a:xfrm>
          </p:grpSpPr>
          <p:sp>
            <p:nvSpPr>
              <p:cNvPr id="37" name="AutoShape 18">
                <a:extLst>
                  <a:ext uri="{FF2B5EF4-FFF2-40B4-BE49-F238E27FC236}">
                    <a16:creationId xmlns:a16="http://schemas.microsoft.com/office/drawing/2014/main" id="{5F08CC4E-F66E-4B29-903D-6BBB3AF5AB28}"/>
                  </a:ext>
                </a:extLst>
              </p:cNvPr>
              <p:cNvSpPr>
                <a:spLocks noChangeAspect="1" noChangeArrowheads="1" noTextEdit="1"/>
              </p:cNvSpPr>
              <p:nvPr/>
            </p:nvSpPr>
            <p:spPr bwMode="auto">
              <a:xfrm>
                <a:off x="5273801" y="2606040"/>
                <a:ext cx="1644396" cy="1645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ym typeface="+mn-lt"/>
                </a:endParaRPr>
              </a:p>
            </p:txBody>
          </p:sp>
          <p:grpSp>
            <p:nvGrpSpPr>
              <p:cNvPr id="38" name="Group 37">
                <a:extLst>
                  <a:ext uri="{FF2B5EF4-FFF2-40B4-BE49-F238E27FC236}">
                    <a16:creationId xmlns:a16="http://schemas.microsoft.com/office/drawing/2014/main" id="{01FD4321-E14F-4E22-BA43-517B8E3E2CFC}"/>
                  </a:ext>
                </a:extLst>
              </p:cNvPr>
              <p:cNvGrpSpPr/>
              <p:nvPr/>
            </p:nvGrpSpPr>
            <p:grpSpPr>
              <a:xfrm>
                <a:off x="5388863" y="2953131"/>
                <a:ext cx="1409319" cy="967359"/>
                <a:chOff x="5388863" y="2953131"/>
                <a:chExt cx="1409319" cy="967359"/>
              </a:xfrm>
            </p:grpSpPr>
            <p:sp>
              <p:nvSpPr>
                <p:cNvPr id="39" name="Freeform 20">
                  <a:extLst>
                    <a:ext uri="{FF2B5EF4-FFF2-40B4-BE49-F238E27FC236}">
                      <a16:creationId xmlns:a16="http://schemas.microsoft.com/office/drawing/2014/main" id="{A5DBF668-F45C-438D-97B4-D2C7F7BC6809}"/>
                    </a:ext>
                  </a:extLst>
                </p:cNvPr>
                <p:cNvSpPr>
                  <a:spLocks noEditPoints="1"/>
                </p:cNvSpPr>
                <p:nvPr/>
              </p:nvSpPr>
              <p:spPr bwMode="auto">
                <a:xfrm>
                  <a:off x="5388863" y="3167634"/>
                  <a:ext cx="737235" cy="752856"/>
                </a:xfrm>
                <a:custGeom>
                  <a:avLst/>
                  <a:gdLst>
                    <a:gd name="T0" fmla="*/ 989 w 1033"/>
                    <a:gd name="T1" fmla="*/ 0 h 1054"/>
                    <a:gd name="T2" fmla="*/ 44 w 1033"/>
                    <a:gd name="T3" fmla="*/ 0 h 1054"/>
                    <a:gd name="T4" fmla="*/ 0 w 1033"/>
                    <a:gd name="T5" fmla="*/ 44 h 1054"/>
                    <a:gd name="T6" fmla="*/ 0 w 1033"/>
                    <a:gd name="T7" fmla="*/ 725 h 1054"/>
                    <a:gd name="T8" fmla="*/ 44 w 1033"/>
                    <a:gd name="T9" fmla="*/ 769 h 1054"/>
                    <a:gd name="T10" fmla="*/ 299 w 1033"/>
                    <a:gd name="T11" fmla="*/ 769 h 1054"/>
                    <a:gd name="T12" fmla="*/ 299 w 1033"/>
                    <a:gd name="T13" fmla="*/ 1010 h 1054"/>
                    <a:gd name="T14" fmla="*/ 300 w 1033"/>
                    <a:gd name="T15" fmla="*/ 1017 h 1054"/>
                    <a:gd name="T16" fmla="*/ 337 w 1033"/>
                    <a:gd name="T17" fmla="*/ 1053 h 1054"/>
                    <a:gd name="T18" fmla="*/ 347 w 1033"/>
                    <a:gd name="T19" fmla="*/ 1054 h 1054"/>
                    <a:gd name="T20" fmla="*/ 401 w 1033"/>
                    <a:gd name="T21" fmla="*/ 1026 h 1054"/>
                    <a:gd name="T22" fmla="*/ 469 w 1033"/>
                    <a:gd name="T23" fmla="*/ 951 h 1054"/>
                    <a:gd name="T24" fmla="*/ 637 w 1033"/>
                    <a:gd name="T25" fmla="*/ 769 h 1054"/>
                    <a:gd name="T26" fmla="*/ 989 w 1033"/>
                    <a:gd name="T27" fmla="*/ 769 h 1054"/>
                    <a:gd name="T28" fmla="*/ 1033 w 1033"/>
                    <a:gd name="T29" fmla="*/ 725 h 1054"/>
                    <a:gd name="T30" fmla="*/ 1033 w 1033"/>
                    <a:gd name="T31" fmla="*/ 44 h 1054"/>
                    <a:gd name="T32" fmla="*/ 989 w 1033"/>
                    <a:gd name="T33" fmla="*/ 0 h 1054"/>
                    <a:gd name="T34" fmla="*/ 832 w 1033"/>
                    <a:gd name="T35" fmla="*/ 552 h 1054"/>
                    <a:gd name="T36" fmla="*/ 201 w 1033"/>
                    <a:gd name="T37" fmla="*/ 552 h 1054"/>
                    <a:gd name="T38" fmla="*/ 179 w 1033"/>
                    <a:gd name="T39" fmla="*/ 530 h 1054"/>
                    <a:gd name="T40" fmla="*/ 201 w 1033"/>
                    <a:gd name="T41" fmla="*/ 508 h 1054"/>
                    <a:gd name="T42" fmla="*/ 832 w 1033"/>
                    <a:gd name="T43" fmla="*/ 508 h 1054"/>
                    <a:gd name="T44" fmla="*/ 854 w 1033"/>
                    <a:gd name="T45" fmla="*/ 530 h 1054"/>
                    <a:gd name="T46" fmla="*/ 832 w 1033"/>
                    <a:gd name="T47" fmla="*/ 552 h 1054"/>
                    <a:gd name="T48" fmla="*/ 832 w 1033"/>
                    <a:gd name="T49" fmla="*/ 415 h 1054"/>
                    <a:gd name="T50" fmla="*/ 201 w 1033"/>
                    <a:gd name="T51" fmla="*/ 415 h 1054"/>
                    <a:gd name="T52" fmla="*/ 179 w 1033"/>
                    <a:gd name="T53" fmla="*/ 393 h 1054"/>
                    <a:gd name="T54" fmla="*/ 201 w 1033"/>
                    <a:gd name="T55" fmla="*/ 371 h 1054"/>
                    <a:gd name="T56" fmla="*/ 832 w 1033"/>
                    <a:gd name="T57" fmla="*/ 371 h 1054"/>
                    <a:gd name="T58" fmla="*/ 854 w 1033"/>
                    <a:gd name="T59" fmla="*/ 393 h 1054"/>
                    <a:gd name="T60" fmla="*/ 832 w 1033"/>
                    <a:gd name="T61" fmla="*/ 415 h 1054"/>
                    <a:gd name="T62" fmla="*/ 832 w 1033"/>
                    <a:gd name="T63" fmla="*/ 279 h 1054"/>
                    <a:gd name="T64" fmla="*/ 201 w 1033"/>
                    <a:gd name="T65" fmla="*/ 279 h 1054"/>
                    <a:gd name="T66" fmla="*/ 179 w 1033"/>
                    <a:gd name="T67" fmla="*/ 257 h 1054"/>
                    <a:gd name="T68" fmla="*/ 201 w 1033"/>
                    <a:gd name="T69" fmla="*/ 235 h 1054"/>
                    <a:gd name="T70" fmla="*/ 832 w 1033"/>
                    <a:gd name="T71" fmla="*/ 235 h 1054"/>
                    <a:gd name="T72" fmla="*/ 854 w 1033"/>
                    <a:gd name="T73" fmla="*/ 257 h 1054"/>
                    <a:gd name="T74" fmla="*/ 832 w 1033"/>
                    <a:gd name="T75" fmla="*/ 279 h 1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33" h="1054">
                      <a:moveTo>
                        <a:pt x="989" y="0"/>
                      </a:moveTo>
                      <a:cubicBezTo>
                        <a:pt x="44" y="0"/>
                        <a:pt x="44" y="0"/>
                        <a:pt x="44" y="0"/>
                      </a:cubicBezTo>
                      <a:cubicBezTo>
                        <a:pt x="20" y="0"/>
                        <a:pt x="0" y="20"/>
                        <a:pt x="0" y="44"/>
                      </a:cubicBezTo>
                      <a:cubicBezTo>
                        <a:pt x="0" y="725"/>
                        <a:pt x="0" y="725"/>
                        <a:pt x="0" y="725"/>
                      </a:cubicBezTo>
                      <a:cubicBezTo>
                        <a:pt x="0" y="750"/>
                        <a:pt x="20" y="769"/>
                        <a:pt x="44" y="769"/>
                      </a:cubicBezTo>
                      <a:cubicBezTo>
                        <a:pt x="299" y="769"/>
                        <a:pt x="299" y="769"/>
                        <a:pt x="299" y="769"/>
                      </a:cubicBezTo>
                      <a:cubicBezTo>
                        <a:pt x="299" y="1010"/>
                        <a:pt x="299" y="1010"/>
                        <a:pt x="299" y="1010"/>
                      </a:cubicBezTo>
                      <a:cubicBezTo>
                        <a:pt x="299" y="1012"/>
                        <a:pt x="299" y="1015"/>
                        <a:pt x="300" y="1017"/>
                      </a:cubicBezTo>
                      <a:cubicBezTo>
                        <a:pt x="301" y="1020"/>
                        <a:pt x="311" y="1047"/>
                        <a:pt x="337" y="1053"/>
                      </a:cubicBezTo>
                      <a:cubicBezTo>
                        <a:pt x="341" y="1054"/>
                        <a:pt x="344" y="1054"/>
                        <a:pt x="347" y="1054"/>
                      </a:cubicBezTo>
                      <a:cubicBezTo>
                        <a:pt x="365" y="1054"/>
                        <a:pt x="383" y="1045"/>
                        <a:pt x="401" y="1026"/>
                      </a:cubicBezTo>
                      <a:cubicBezTo>
                        <a:pt x="414" y="1013"/>
                        <a:pt x="438" y="986"/>
                        <a:pt x="469" y="951"/>
                      </a:cubicBezTo>
                      <a:cubicBezTo>
                        <a:pt x="516" y="899"/>
                        <a:pt x="579" y="829"/>
                        <a:pt x="637" y="769"/>
                      </a:cubicBezTo>
                      <a:cubicBezTo>
                        <a:pt x="989" y="769"/>
                        <a:pt x="989" y="769"/>
                        <a:pt x="989" y="769"/>
                      </a:cubicBezTo>
                      <a:cubicBezTo>
                        <a:pt x="1013" y="769"/>
                        <a:pt x="1033" y="750"/>
                        <a:pt x="1033" y="725"/>
                      </a:cubicBezTo>
                      <a:cubicBezTo>
                        <a:pt x="1033" y="44"/>
                        <a:pt x="1033" y="44"/>
                        <a:pt x="1033" y="44"/>
                      </a:cubicBezTo>
                      <a:cubicBezTo>
                        <a:pt x="1033" y="20"/>
                        <a:pt x="1013" y="0"/>
                        <a:pt x="989" y="0"/>
                      </a:cubicBezTo>
                      <a:close/>
                      <a:moveTo>
                        <a:pt x="832" y="552"/>
                      </a:moveTo>
                      <a:cubicBezTo>
                        <a:pt x="201" y="552"/>
                        <a:pt x="201" y="552"/>
                        <a:pt x="201" y="552"/>
                      </a:cubicBezTo>
                      <a:cubicBezTo>
                        <a:pt x="189" y="552"/>
                        <a:pt x="179" y="543"/>
                        <a:pt x="179" y="530"/>
                      </a:cubicBezTo>
                      <a:cubicBezTo>
                        <a:pt x="179" y="518"/>
                        <a:pt x="189" y="508"/>
                        <a:pt x="201" y="508"/>
                      </a:cubicBezTo>
                      <a:cubicBezTo>
                        <a:pt x="832" y="508"/>
                        <a:pt x="832" y="508"/>
                        <a:pt x="832" y="508"/>
                      </a:cubicBezTo>
                      <a:cubicBezTo>
                        <a:pt x="844" y="508"/>
                        <a:pt x="854" y="518"/>
                        <a:pt x="854" y="530"/>
                      </a:cubicBezTo>
                      <a:cubicBezTo>
                        <a:pt x="854" y="543"/>
                        <a:pt x="844" y="552"/>
                        <a:pt x="832" y="552"/>
                      </a:cubicBezTo>
                      <a:close/>
                      <a:moveTo>
                        <a:pt x="832" y="415"/>
                      </a:moveTo>
                      <a:cubicBezTo>
                        <a:pt x="201" y="415"/>
                        <a:pt x="201" y="415"/>
                        <a:pt x="201" y="415"/>
                      </a:cubicBezTo>
                      <a:cubicBezTo>
                        <a:pt x="189" y="415"/>
                        <a:pt x="179" y="405"/>
                        <a:pt x="179" y="393"/>
                      </a:cubicBezTo>
                      <a:cubicBezTo>
                        <a:pt x="179" y="380"/>
                        <a:pt x="189" y="371"/>
                        <a:pt x="201" y="371"/>
                      </a:cubicBezTo>
                      <a:cubicBezTo>
                        <a:pt x="832" y="371"/>
                        <a:pt x="832" y="371"/>
                        <a:pt x="832" y="371"/>
                      </a:cubicBezTo>
                      <a:cubicBezTo>
                        <a:pt x="844" y="371"/>
                        <a:pt x="854" y="380"/>
                        <a:pt x="854" y="393"/>
                      </a:cubicBezTo>
                      <a:cubicBezTo>
                        <a:pt x="854" y="405"/>
                        <a:pt x="844" y="415"/>
                        <a:pt x="832" y="415"/>
                      </a:cubicBezTo>
                      <a:close/>
                      <a:moveTo>
                        <a:pt x="832" y="279"/>
                      </a:moveTo>
                      <a:cubicBezTo>
                        <a:pt x="201" y="279"/>
                        <a:pt x="201" y="279"/>
                        <a:pt x="201" y="279"/>
                      </a:cubicBezTo>
                      <a:cubicBezTo>
                        <a:pt x="189" y="279"/>
                        <a:pt x="179" y="269"/>
                        <a:pt x="179" y="257"/>
                      </a:cubicBezTo>
                      <a:cubicBezTo>
                        <a:pt x="179" y="245"/>
                        <a:pt x="189" y="235"/>
                        <a:pt x="201" y="235"/>
                      </a:cubicBezTo>
                      <a:cubicBezTo>
                        <a:pt x="832" y="235"/>
                        <a:pt x="832" y="235"/>
                        <a:pt x="832" y="235"/>
                      </a:cubicBezTo>
                      <a:cubicBezTo>
                        <a:pt x="844" y="235"/>
                        <a:pt x="854" y="245"/>
                        <a:pt x="854" y="257"/>
                      </a:cubicBezTo>
                      <a:cubicBezTo>
                        <a:pt x="854" y="269"/>
                        <a:pt x="844" y="279"/>
                        <a:pt x="832" y="279"/>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ym typeface="+mn-lt"/>
                  </a:endParaRPr>
                </a:p>
              </p:txBody>
            </p:sp>
            <p:sp>
              <p:nvSpPr>
                <p:cNvPr id="40" name="Freeform 21">
                  <a:extLst>
                    <a:ext uri="{FF2B5EF4-FFF2-40B4-BE49-F238E27FC236}">
                      <a16:creationId xmlns:a16="http://schemas.microsoft.com/office/drawing/2014/main" id="{CA14783C-A799-47B4-A763-D7E85386A855}"/>
                    </a:ext>
                  </a:extLst>
                </p:cNvPr>
                <p:cNvSpPr>
                  <a:spLocks noEditPoints="1"/>
                </p:cNvSpPr>
                <p:nvPr/>
              </p:nvSpPr>
              <p:spPr bwMode="auto">
                <a:xfrm>
                  <a:off x="6060947" y="2953131"/>
                  <a:ext cx="737235" cy="752856"/>
                </a:xfrm>
                <a:custGeom>
                  <a:avLst/>
                  <a:gdLst>
                    <a:gd name="T0" fmla="*/ 1033 w 1033"/>
                    <a:gd name="T1" fmla="*/ 44 h 1054"/>
                    <a:gd name="T2" fmla="*/ 1033 w 1033"/>
                    <a:gd name="T3" fmla="*/ 725 h 1054"/>
                    <a:gd name="T4" fmla="*/ 989 w 1033"/>
                    <a:gd name="T5" fmla="*/ 769 h 1054"/>
                    <a:gd name="T6" fmla="*/ 734 w 1033"/>
                    <a:gd name="T7" fmla="*/ 769 h 1054"/>
                    <a:gd name="T8" fmla="*/ 734 w 1033"/>
                    <a:gd name="T9" fmla="*/ 1010 h 1054"/>
                    <a:gd name="T10" fmla="*/ 733 w 1033"/>
                    <a:gd name="T11" fmla="*/ 1017 h 1054"/>
                    <a:gd name="T12" fmla="*/ 696 w 1033"/>
                    <a:gd name="T13" fmla="*/ 1053 h 1054"/>
                    <a:gd name="T14" fmla="*/ 686 w 1033"/>
                    <a:gd name="T15" fmla="*/ 1054 h 1054"/>
                    <a:gd name="T16" fmla="*/ 632 w 1033"/>
                    <a:gd name="T17" fmla="*/ 1025 h 1054"/>
                    <a:gd name="T18" fmla="*/ 564 w 1033"/>
                    <a:gd name="T19" fmla="*/ 951 h 1054"/>
                    <a:gd name="T20" fmla="*/ 396 w 1033"/>
                    <a:gd name="T21" fmla="*/ 769 h 1054"/>
                    <a:gd name="T22" fmla="*/ 135 w 1033"/>
                    <a:gd name="T23" fmla="*/ 769 h 1054"/>
                    <a:gd name="T24" fmla="*/ 135 w 1033"/>
                    <a:gd name="T25" fmla="*/ 725 h 1054"/>
                    <a:gd name="T26" fmla="*/ 405 w 1033"/>
                    <a:gd name="T27" fmla="*/ 725 h 1054"/>
                    <a:gd name="T28" fmla="*/ 421 w 1033"/>
                    <a:gd name="T29" fmla="*/ 732 h 1054"/>
                    <a:gd name="T30" fmla="*/ 597 w 1033"/>
                    <a:gd name="T31" fmla="*/ 922 h 1054"/>
                    <a:gd name="T32" fmla="*/ 663 w 1033"/>
                    <a:gd name="T33" fmla="*/ 994 h 1054"/>
                    <a:gd name="T34" fmla="*/ 686 w 1033"/>
                    <a:gd name="T35" fmla="*/ 1010 h 1054"/>
                    <a:gd name="T36" fmla="*/ 690 w 1033"/>
                    <a:gd name="T37" fmla="*/ 1005 h 1054"/>
                    <a:gd name="T38" fmla="*/ 690 w 1033"/>
                    <a:gd name="T39" fmla="*/ 747 h 1054"/>
                    <a:gd name="T40" fmla="*/ 712 w 1033"/>
                    <a:gd name="T41" fmla="*/ 725 h 1054"/>
                    <a:gd name="T42" fmla="*/ 989 w 1033"/>
                    <a:gd name="T43" fmla="*/ 725 h 1054"/>
                    <a:gd name="T44" fmla="*/ 989 w 1033"/>
                    <a:gd name="T45" fmla="*/ 44 h 1054"/>
                    <a:gd name="T46" fmla="*/ 44 w 1033"/>
                    <a:gd name="T47" fmla="*/ 44 h 1054"/>
                    <a:gd name="T48" fmla="*/ 44 w 1033"/>
                    <a:gd name="T49" fmla="*/ 256 h 1054"/>
                    <a:gd name="T50" fmla="*/ 0 w 1033"/>
                    <a:gd name="T51" fmla="*/ 256 h 1054"/>
                    <a:gd name="T52" fmla="*/ 0 w 1033"/>
                    <a:gd name="T53" fmla="*/ 44 h 1054"/>
                    <a:gd name="T54" fmla="*/ 44 w 1033"/>
                    <a:gd name="T55" fmla="*/ 0 h 1054"/>
                    <a:gd name="T56" fmla="*/ 989 w 1033"/>
                    <a:gd name="T57" fmla="*/ 0 h 1054"/>
                    <a:gd name="T58" fmla="*/ 1033 w 1033"/>
                    <a:gd name="T59" fmla="*/ 44 h 1054"/>
                    <a:gd name="T60" fmla="*/ 835 w 1033"/>
                    <a:gd name="T61" fmla="*/ 247 h 1054"/>
                    <a:gd name="T62" fmla="*/ 813 w 1033"/>
                    <a:gd name="T63" fmla="*/ 225 h 1054"/>
                    <a:gd name="T64" fmla="*/ 220 w 1033"/>
                    <a:gd name="T65" fmla="*/ 225 h 1054"/>
                    <a:gd name="T66" fmla="*/ 198 w 1033"/>
                    <a:gd name="T67" fmla="*/ 247 h 1054"/>
                    <a:gd name="T68" fmla="*/ 220 w 1033"/>
                    <a:gd name="T69" fmla="*/ 269 h 1054"/>
                    <a:gd name="T70" fmla="*/ 813 w 1033"/>
                    <a:gd name="T71" fmla="*/ 269 h 1054"/>
                    <a:gd name="T72" fmla="*/ 835 w 1033"/>
                    <a:gd name="T73" fmla="*/ 247 h 1054"/>
                    <a:gd name="T74" fmla="*/ 835 w 1033"/>
                    <a:gd name="T75" fmla="*/ 383 h 1054"/>
                    <a:gd name="T76" fmla="*/ 813 w 1033"/>
                    <a:gd name="T77" fmla="*/ 361 h 1054"/>
                    <a:gd name="T78" fmla="*/ 220 w 1033"/>
                    <a:gd name="T79" fmla="*/ 361 h 1054"/>
                    <a:gd name="T80" fmla="*/ 198 w 1033"/>
                    <a:gd name="T81" fmla="*/ 383 h 1054"/>
                    <a:gd name="T82" fmla="*/ 220 w 1033"/>
                    <a:gd name="T83" fmla="*/ 405 h 1054"/>
                    <a:gd name="T84" fmla="*/ 813 w 1033"/>
                    <a:gd name="T85" fmla="*/ 405 h 1054"/>
                    <a:gd name="T86" fmla="*/ 835 w 1033"/>
                    <a:gd name="T87" fmla="*/ 383 h 1054"/>
                    <a:gd name="T88" fmla="*/ 835 w 1033"/>
                    <a:gd name="T89" fmla="*/ 521 h 1054"/>
                    <a:gd name="T90" fmla="*/ 813 w 1033"/>
                    <a:gd name="T91" fmla="*/ 499 h 1054"/>
                    <a:gd name="T92" fmla="*/ 220 w 1033"/>
                    <a:gd name="T93" fmla="*/ 499 h 1054"/>
                    <a:gd name="T94" fmla="*/ 198 w 1033"/>
                    <a:gd name="T95" fmla="*/ 521 h 1054"/>
                    <a:gd name="T96" fmla="*/ 220 w 1033"/>
                    <a:gd name="T97" fmla="*/ 543 h 1054"/>
                    <a:gd name="T98" fmla="*/ 813 w 1033"/>
                    <a:gd name="T99" fmla="*/ 543 h 1054"/>
                    <a:gd name="T100" fmla="*/ 835 w 1033"/>
                    <a:gd name="T101" fmla="*/ 521 h 1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33" h="1054">
                      <a:moveTo>
                        <a:pt x="1033" y="44"/>
                      </a:moveTo>
                      <a:cubicBezTo>
                        <a:pt x="1033" y="725"/>
                        <a:pt x="1033" y="725"/>
                        <a:pt x="1033" y="725"/>
                      </a:cubicBezTo>
                      <a:cubicBezTo>
                        <a:pt x="1033" y="750"/>
                        <a:pt x="1013" y="769"/>
                        <a:pt x="989" y="769"/>
                      </a:cubicBezTo>
                      <a:cubicBezTo>
                        <a:pt x="734" y="769"/>
                        <a:pt x="734" y="769"/>
                        <a:pt x="734" y="769"/>
                      </a:cubicBezTo>
                      <a:cubicBezTo>
                        <a:pt x="734" y="1010"/>
                        <a:pt x="734" y="1010"/>
                        <a:pt x="734" y="1010"/>
                      </a:cubicBezTo>
                      <a:cubicBezTo>
                        <a:pt x="734" y="1012"/>
                        <a:pt x="734" y="1015"/>
                        <a:pt x="733" y="1017"/>
                      </a:cubicBezTo>
                      <a:cubicBezTo>
                        <a:pt x="732" y="1020"/>
                        <a:pt x="722" y="1047"/>
                        <a:pt x="696" y="1053"/>
                      </a:cubicBezTo>
                      <a:cubicBezTo>
                        <a:pt x="693" y="1054"/>
                        <a:pt x="689" y="1054"/>
                        <a:pt x="686" y="1054"/>
                      </a:cubicBezTo>
                      <a:cubicBezTo>
                        <a:pt x="668" y="1054"/>
                        <a:pt x="650" y="1044"/>
                        <a:pt x="632" y="1025"/>
                      </a:cubicBezTo>
                      <a:cubicBezTo>
                        <a:pt x="619" y="1013"/>
                        <a:pt x="595" y="985"/>
                        <a:pt x="564" y="951"/>
                      </a:cubicBezTo>
                      <a:cubicBezTo>
                        <a:pt x="517" y="899"/>
                        <a:pt x="454" y="829"/>
                        <a:pt x="396" y="769"/>
                      </a:cubicBezTo>
                      <a:cubicBezTo>
                        <a:pt x="135" y="769"/>
                        <a:pt x="135" y="769"/>
                        <a:pt x="135" y="769"/>
                      </a:cubicBezTo>
                      <a:cubicBezTo>
                        <a:pt x="135" y="725"/>
                        <a:pt x="135" y="725"/>
                        <a:pt x="135" y="725"/>
                      </a:cubicBezTo>
                      <a:cubicBezTo>
                        <a:pt x="405" y="725"/>
                        <a:pt x="405" y="725"/>
                        <a:pt x="405" y="725"/>
                      </a:cubicBezTo>
                      <a:cubicBezTo>
                        <a:pt x="411" y="725"/>
                        <a:pt x="417" y="728"/>
                        <a:pt x="421" y="732"/>
                      </a:cubicBezTo>
                      <a:cubicBezTo>
                        <a:pt x="481" y="793"/>
                        <a:pt x="548" y="867"/>
                        <a:pt x="597" y="922"/>
                      </a:cubicBezTo>
                      <a:cubicBezTo>
                        <a:pt x="627" y="956"/>
                        <a:pt x="651" y="982"/>
                        <a:pt x="663" y="994"/>
                      </a:cubicBezTo>
                      <a:cubicBezTo>
                        <a:pt x="677" y="1008"/>
                        <a:pt x="684" y="1010"/>
                        <a:pt x="686" y="1010"/>
                      </a:cubicBezTo>
                      <a:cubicBezTo>
                        <a:pt x="687" y="1010"/>
                        <a:pt x="689" y="1008"/>
                        <a:pt x="690" y="1005"/>
                      </a:cubicBezTo>
                      <a:cubicBezTo>
                        <a:pt x="690" y="747"/>
                        <a:pt x="690" y="747"/>
                        <a:pt x="690" y="747"/>
                      </a:cubicBezTo>
                      <a:cubicBezTo>
                        <a:pt x="690" y="735"/>
                        <a:pt x="700" y="725"/>
                        <a:pt x="712" y="725"/>
                      </a:cubicBezTo>
                      <a:cubicBezTo>
                        <a:pt x="989" y="725"/>
                        <a:pt x="989" y="725"/>
                        <a:pt x="989" y="725"/>
                      </a:cubicBezTo>
                      <a:cubicBezTo>
                        <a:pt x="989" y="44"/>
                        <a:pt x="989" y="44"/>
                        <a:pt x="989" y="44"/>
                      </a:cubicBezTo>
                      <a:cubicBezTo>
                        <a:pt x="44" y="44"/>
                        <a:pt x="44" y="44"/>
                        <a:pt x="44" y="44"/>
                      </a:cubicBezTo>
                      <a:cubicBezTo>
                        <a:pt x="44" y="256"/>
                        <a:pt x="44" y="256"/>
                        <a:pt x="44" y="256"/>
                      </a:cubicBezTo>
                      <a:cubicBezTo>
                        <a:pt x="0" y="256"/>
                        <a:pt x="0" y="256"/>
                        <a:pt x="0" y="256"/>
                      </a:cubicBezTo>
                      <a:cubicBezTo>
                        <a:pt x="0" y="44"/>
                        <a:pt x="0" y="44"/>
                        <a:pt x="0" y="44"/>
                      </a:cubicBezTo>
                      <a:cubicBezTo>
                        <a:pt x="0" y="20"/>
                        <a:pt x="20" y="0"/>
                        <a:pt x="44" y="0"/>
                      </a:cubicBezTo>
                      <a:cubicBezTo>
                        <a:pt x="989" y="0"/>
                        <a:pt x="989" y="0"/>
                        <a:pt x="989" y="0"/>
                      </a:cubicBezTo>
                      <a:cubicBezTo>
                        <a:pt x="1013" y="0"/>
                        <a:pt x="1033" y="20"/>
                        <a:pt x="1033" y="44"/>
                      </a:cubicBezTo>
                      <a:close/>
                      <a:moveTo>
                        <a:pt x="835" y="247"/>
                      </a:moveTo>
                      <a:cubicBezTo>
                        <a:pt x="835" y="235"/>
                        <a:pt x="826" y="225"/>
                        <a:pt x="813" y="225"/>
                      </a:cubicBezTo>
                      <a:cubicBezTo>
                        <a:pt x="220" y="225"/>
                        <a:pt x="220" y="225"/>
                        <a:pt x="220" y="225"/>
                      </a:cubicBezTo>
                      <a:cubicBezTo>
                        <a:pt x="208" y="225"/>
                        <a:pt x="198" y="235"/>
                        <a:pt x="198" y="247"/>
                      </a:cubicBezTo>
                      <a:cubicBezTo>
                        <a:pt x="198" y="259"/>
                        <a:pt x="208" y="269"/>
                        <a:pt x="220" y="269"/>
                      </a:cubicBezTo>
                      <a:cubicBezTo>
                        <a:pt x="813" y="269"/>
                        <a:pt x="813" y="269"/>
                        <a:pt x="813" y="269"/>
                      </a:cubicBezTo>
                      <a:cubicBezTo>
                        <a:pt x="826" y="269"/>
                        <a:pt x="835" y="259"/>
                        <a:pt x="835" y="247"/>
                      </a:cubicBezTo>
                      <a:close/>
                      <a:moveTo>
                        <a:pt x="835" y="383"/>
                      </a:moveTo>
                      <a:cubicBezTo>
                        <a:pt x="835" y="371"/>
                        <a:pt x="826" y="361"/>
                        <a:pt x="813" y="361"/>
                      </a:cubicBezTo>
                      <a:cubicBezTo>
                        <a:pt x="220" y="361"/>
                        <a:pt x="220" y="361"/>
                        <a:pt x="220" y="361"/>
                      </a:cubicBezTo>
                      <a:cubicBezTo>
                        <a:pt x="208" y="361"/>
                        <a:pt x="198" y="371"/>
                        <a:pt x="198" y="383"/>
                      </a:cubicBezTo>
                      <a:cubicBezTo>
                        <a:pt x="198" y="395"/>
                        <a:pt x="208" y="405"/>
                        <a:pt x="220" y="405"/>
                      </a:cubicBezTo>
                      <a:cubicBezTo>
                        <a:pt x="813" y="405"/>
                        <a:pt x="813" y="405"/>
                        <a:pt x="813" y="405"/>
                      </a:cubicBezTo>
                      <a:cubicBezTo>
                        <a:pt x="826" y="405"/>
                        <a:pt x="835" y="395"/>
                        <a:pt x="835" y="383"/>
                      </a:cubicBezTo>
                      <a:close/>
                      <a:moveTo>
                        <a:pt x="835" y="521"/>
                      </a:moveTo>
                      <a:cubicBezTo>
                        <a:pt x="835" y="508"/>
                        <a:pt x="826" y="499"/>
                        <a:pt x="813" y="499"/>
                      </a:cubicBezTo>
                      <a:cubicBezTo>
                        <a:pt x="220" y="499"/>
                        <a:pt x="220" y="499"/>
                        <a:pt x="220" y="499"/>
                      </a:cubicBezTo>
                      <a:cubicBezTo>
                        <a:pt x="208" y="499"/>
                        <a:pt x="198" y="508"/>
                        <a:pt x="198" y="521"/>
                      </a:cubicBezTo>
                      <a:cubicBezTo>
                        <a:pt x="198" y="533"/>
                        <a:pt x="208" y="543"/>
                        <a:pt x="220" y="543"/>
                      </a:cubicBezTo>
                      <a:cubicBezTo>
                        <a:pt x="813" y="543"/>
                        <a:pt x="813" y="543"/>
                        <a:pt x="813" y="543"/>
                      </a:cubicBezTo>
                      <a:cubicBezTo>
                        <a:pt x="826" y="543"/>
                        <a:pt x="835" y="533"/>
                        <a:pt x="835" y="52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ym typeface="+mn-lt"/>
                  </a:endParaRPr>
                </a:p>
              </p:txBody>
            </p:sp>
          </p:grpSp>
        </p:grpSp>
      </p:grpSp>
      <p:grpSp>
        <p:nvGrpSpPr>
          <p:cNvPr id="62" name="Group 61">
            <a:extLst>
              <a:ext uri="{FF2B5EF4-FFF2-40B4-BE49-F238E27FC236}">
                <a16:creationId xmlns:a16="http://schemas.microsoft.com/office/drawing/2014/main" id="{FCF87F2F-8DDC-453D-8495-09CE1D7AE982}"/>
              </a:ext>
            </a:extLst>
          </p:cNvPr>
          <p:cNvGrpSpPr/>
          <p:nvPr/>
        </p:nvGrpSpPr>
        <p:grpSpPr>
          <a:xfrm>
            <a:off x="629744" y="3036917"/>
            <a:ext cx="4995896" cy="871466"/>
            <a:chOff x="629744" y="3298071"/>
            <a:chExt cx="4995896" cy="871466"/>
          </a:xfrm>
        </p:grpSpPr>
        <p:sp>
          <p:nvSpPr>
            <p:cNvPr id="14" name="object 4">
              <a:extLst>
                <a:ext uri="{FF2B5EF4-FFF2-40B4-BE49-F238E27FC236}">
                  <a16:creationId xmlns:a16="http://schemas.microsoft.com/office/drawing/2014/main" id="{A1384F31-1830-4E62-AA7F-5A42DD8E36DA}"/>
                </a:ext>
              </a:extLst>
            </p:cNvPr>
            <p:cNvSpPr txBox="1">
              <a:spLocks/>
            </p:cNvSpPr>
            <p:nvPr/>
          </p:nvSpPr>
          <p:spPr>
            <a:xfrm>
              <a:off x="1232845" y="3298071"/>
              <a:ext cx="4392795" cy="871466"/>
            </a:xfrm>
            <a:prstGeom prst="rect">
              <a:avLst/>
            </a:prstGeom>
          </p:spPr>
          <p:txBody>
            <a:bodyPr vert="horz" wrap="square" lIns="0" tIns="9598" rIns="0" bIns="0" rtlCol="0">
              <a:spAutoFit/>
            </a:bodyPr>
            <a:lstStyle>
              <a:lvl1pPr marL="0" indent="0" algn="l" defTabSz="914400" rtl="0" eaLnBrk="1" latinLnBrk="0" hangingPunct="1">
                <a:lnSpc>
                  <a:spcPct val="110000"/>
                </a:lnSpc>
                <a:spcBef>
                  <a:spcPts val="600"/>
                </a:spcBef>
                <a:spcAft>
                  <a:spcPts val="300"/>
                </a:spcAft>
                <a:buClr>
                  <a:srgbClr val="DC0532"/>
                </a:buClr>
                <a:buFont typeface="Arial" panose="020B0604020202020204" pitchFamily="34" charset="0"/>
                <a:buChar char="​"/>
                <a:defRPr lang="en-US" sz="1600" b="0" i="0" kern="1200">
                  <a:solidFill>
                    <a:srgbClr val="565656"/>
                  </a:solidFill>
                  <a:latin typeface="Trebuchet MS"/>
                  <a:ea typeface="+mn-ea"/>
                  <a:cs typeface="Trebuchet MS"/>
                  <a:sym typeface="+mn-lt"/>
                </a:defRPr>
              </a:lvl1pPr>
              <a:lvl2pPr marL="284400" indent="-172800" algn="l" defTabSz="914400" rtl="0" eaLnBrk="1" latinLnBrk="0" hangingPunct="1">
                <a:lnSpc>
                  <a:spcPct val="90000"/>
                </a:lnSpc>
                <a:spcBef>
                  <a:spcPts val="0"/>
                </a:spcBef>
                <a:spcAft>
                  <a:spcPts val="300"/>
                </a:spcAft>
                <a:buClr>
                  <a:srgbClr val="DC0532"/>
                </a:buClr>
                <a:buFont typeface="Arial" panose="020B0604020202020204" pitchFamily="34" charset="0"/>
                <a:buChar char="•"/>
                <a:defRPr lang="en-US" sz="1200" kern="1200">
                  <a:solidFill>
                    <a:srgbClr val="4D4D4D"/>
                  </a:solidFill>
                  <a:latin typeface="+mn-lt"/>
                  <a:ea typeface="+mn-ea"/>
                  <a:cs typeface="+mn-cs"/>
                  <a:sym typeface="+mn-lt"/>
                </a:defRPr>
              </a:lvl2pPr>
              <a:lvl3pPr marL="511200" indent="-165600" algn="l" defTabSz="914400" rtl="0" eaLnBrk="1" latinLnBrk="0" hangingPunct="1">
                <a:lnSpc>
                  <a:spcPct val="90000"/>
                </a:lnSpc>
                <a:spcBef>
                  <a:spcPts val="0"/>
                </a:spcBef>
                <a:spcAft>
                  <a:spcPts val="300"/>
                </a:spcAft>
                <a:buClr>
                  <a:srgbClr val="DC0532"/>
                </a:buClr>
                <a:buFont typeface="Trebuchet MS" panose="020B0603020202020204" pitchFamily="34" charset="0"/>
                <a:buChar char="–"/>
                <a:defRPr lang="en-US" sz="1200" kern="1200">
                  <a:solidFill>
                    <a:srgbClr val="4D4D4D"/>
                  </a:solidFill>
                  <a:latin typeface="+mn-lt"/>
                  <a:ea typeface="+mn-ea"/>
                  <a:cs typeface="+mn-cs"/>
                  <a:sym typeface="+mn-lt"/>
                </a:defRPr>
              </a:lvl3pPr>
              <a:lvl4pPr marL="0" indent="0" algn="l" defTabSz="914400" rtl="0" eaLnBrk="1" latinLnBrk="0" hangingPunct="1">
                <a:lnSpc>
                  <a:spcPct val="110000"/>
                </a:lnSpc>
                <a:spcBef>
                  <a:spcPts val="300"/>
                </a:spcBef>
                <a:spcAft>
                  <a:spcPts val="300"/>
                </a:spcAft>
                <a:buClr>
                  <a:srgbClr val="DC0532"/>
                </a:buClr>
                <a:buFont typeface="Arial" panose="020B0604020202020204" pitchFamily="34" charset="0"/>
                <a:buChar char="​"/>
                <a:defRPr lang="en-US" sz="1600" kern="1200">
                  <a:solidFill>
                    <a:srgbClr val="DC0532"/>
                  </a:solidFill>
                  <a:latin typeface="+mn-lt"/>
                  <a:ea typeface="+mn-ea"/>
                  <a:cs typeface="+mn-cs"/>
                  <a:sym typeface="+mn-lt"/>
                </a:defRPr>
              </a:lvl4pPr>
              <a:lvl5pPr marL="0" indent="0" algn="l" defTabSz="914400" rtl="0" eaLnBrk="1" latinLnBrk="0" hangingPunct="1">
                <a:lnSpc>
                  <a:spcPct val="100000"/>
                </a:lnSpc>
                <a:spcBef>
                  <a:spcPts val="0"/>
                </a:spcBef>
                <a:spcAft>
                  <a:spcPts val="300"/>
                </a:spcAft>
                <a:buClr>
                  <a:srgbClr val="DC0532"/>
                </a:buClr>
                <a:buFont typeface="Arial" panose="020B0604020202020204" pitchFamily="34" charset="0"/>
                <a:buChar char="​"/>
                <a:defRPr lang="en-US" sz="1600" b="1" kern="1200" smtClean="0">
                  <a:solidFill>
                    <a:srgbClr val="4D4D4D"/>
                  </a:solidFill>
                  <a:latin typeface="+mn-lt"/>
                  <a:ea typeface="+mn-ea"/>
                  <a:cs typeface="+mn-cs"/>
                  <a:sym typeface="+mn-lt"/>
                </a:defRPr>
              </a:lvl5pPr>
              <a:lvl6pPr marL="269875" indent="-152400" algn="l" defTabSz="914400" rtl="0" eaLnBrk="1" latinLnBrk="0" hangingPunct="1">
                <a:lnSpc>
                  <a:spcPct val="90000"/>
                </a:lnSpc>
                <a:spcBef>
                  <a:spcPts val="0"/>
                </a:spcBef>
                <a:spcAft>
                  <a:spcPts val="600"/>
                </a:spcAft>
                <a:buClr>
                  <a:srgbClr val="DC0532"/>
                </a:buClr>
                <a:buFont typeface="Arial" panose="020B0604020202020204" pitchFamily="34" charset="0"/>
                <a:buChar char="•"/>
                <a:defRPr lang="en-US" sz="1600" kern="1200" smtClean="0">
                  <a:solidFill>
                    <a:srgbClr val="4D4D4D"/>
                  </a:solidFill>
                  <a:latin typeface="+mn-lt"/>
                  <a:ea typeface="+mn-ea"/>
                  <a:cs typeface="+mn-cs"/>
                  <a:sym typeface="+mn-lt"/>
                </a:defRPr>
              </a:lvl6pPr>
              <a:lvl7pPr marL="0" indent="0" algn="l" defTabSz="914400" rtl="0" eaLnBrk="1" latinLnBrk="0" hangingPunct="1">
                <a:lnSpc>
                  <a:spcPct val="90000"/>
                </a:lnSpc>
                <a:spcBef>
                  <a:spcPts val="900"/>
                </a:spcBef>
                <a:spcAft>
                  <a:spcPts val="900"/>
                </a:spcAft>
                <a:buClr>
                  <a:srgbClr val="DC0532"/>
                </a:buClr>
                <a:buFont typeface="Arial" panose="020B0604020202020204" pitchFamily="34" charset="0"/>
                <a:buChar char="​"/>
                <a:defRPr lang="en-US" sz="4400" kern="1200" baseline="0" smtClean="0">
                  <a:solidFill>
                    <a:srgbClr val="4D4D4D"/>
                  </a:solidFill>
                  <a:latin typeface="+mn-lt"/>
                  <a:ea typeface="+mn-ea"/>
                  <a:cs typeface="+mn-cs"/>
                  <a:sym typeface="+mn-lt"/>
                </a:defRPr>
              </a:lvl7pPr>
              <a:lvl8pPr marL="0" indent="0" algn="l" defTabSz="914400" rtl="0" eaLnBrk="1" latinLnBrk="0" hangingPunct="1">
                <a:lnSpc>
                  <a:spcPct val="90000"/>
                </a:lnSpc>
                <a:spcBef>
                  <a:spcPts val="900"/>
                </a:spcBef>
                <a:spcAft>
                  <a:spcPts val="0"/>
                </a:spcAft>
                <a:buClr>
                  <a:srgbClr val="DC0532"/>
                </a:buClr>
                <a:buFont typeface="Arial" panose="020B0604020202020204" pitchFamily="34" charset="0"/>
                <a:buChar char="​"/>
                <a:defRPr lang="en-US" sz="5400" kern="1200" baseline="0" smtClean="0">
                  <a:solidFill>
                    <a:srgbClr val="DC0532"/>
                  </a:solidFill>
                  <a:latin typeface="+mn-lt"/>
                  <a:ea typeface="+mn-ea"/>
                  <a:cs typeface="+mn-cs"/>
                  <a:sym typeface="+mn-lt"/>
                </a:defRPr>
              </a:lvl8pPr>
              <a:lvl9pPr marL="0" indent="0" algn="l" defTabSz="914400" rtl="0" eaLnBrk="1" latinLnBrk="0" hangingPunct="1">
                <a:lnSpc>
                  <a:spcPct val="100000"/>
                </a:lnSpc>
                <a:spcBef>
                  <a:spcPts val="0"/>
                </a:spcBef>
                <a:spcAft>
                  <a:spcPts val="900"/>
                </a:spcAft>
                <a:buClr>
                  <a:srgbClr val="DC0532"/>
                </a:buClr>
                <a:buFont typeface="Arial" panose="020B0604020202020204" pitchFamily="34" charset="0"/>
                <a:buChar char="​"/>
                <a:defRPr lang="en-US" sz="2400" kern="1200" baseline="0" dirty="0">
                  <a:solidFill>
                    <a:srgbClr val="DC0532"/>
                  </a:solidFill>
                  <a:latin typeface="+mn-lt"/>
                  <a:ea typeface="+mn-ea"/>
                  <a:cs typeface="+mn-cs"/>
                  <a:sym typeface="+mn-lt"/>
                </a:defRPr>
              </a:lvl9pPr>
            </a:lstStyle>
            <a:p>
              <a:pPr>
                <a:lnSpc>
                  <a:spcPct val="100000"/>
                </a:lnSpc>
                <a:spcBef>
                  <a:spcPts val="0"/>
                </a:spcBef>
                <a:spcAft>
                  <a:spcPts val="0"/>
                </a:spcAft>
                <a:buClrTx/>
                <a:buSzPct val="100000"/>
                <a:buFont typeface="Trebuchet MS" panose="020B0603020202020204" pitchFamily="34" charset="0"/>
                <a:buChar char="​"/>
              </a:pPr>
              <a:r>
                <a:rPr lang="en-ZA" sz="1400">
                  <a:solidFill>
                    <a:schemeClr val="tx1">
                      <a:lumMod val="100000"/>
                    </a:schemeClr>
                  </a:solidFill>
                  <a:latin typeface="+mn-lt"/>
                  <a:cs typeface="+mn-cs"/>
                </a:rPr>
                <a:t>This company really knows me ...</a:t>
              </a:r>
            </a:p>
            <a:p>
              <a:pPr marL="324000" lvl="1" indent="-216000">
                <a:lnSpc>
                  <a:spcPct val="100000"/>
                </a:lnSpc>
                <a:spcAft>
                  <a:spcPts val="0"/>
                </a:spcAft>
                <a:buClr>
                  <a:schemeClr val="tx2">
                    <a:lumMod val="100000"/>
                  </a:schemeClr>
                </a:buClr>
                <a:buSzPct val="100000"/>
                <a:buFont typeface="Trebuchet MS" panose="020B0603020202020204" pitchFamily="34" charset="0"/>
                <a:buChar char="•"/>
                <a:tabLst>
                  <a:tab pos="268774" algn="l"/>
                </a:tabLst>
              </a:pPr>
              <a:r>
                <a:rPr lang="en-ZA" sz="1400">
                  <a:solidFill>
                    <a:schemeClr val="tx1">
                      <a:lumMod val="100000"/>
                    </a:schemeClr>
                  </a:solidFill>
                </a:rPr>
                <a:t>My interests and preferences</a:t>
              </a:r>
            </a:p>
            <a:p>
              <a:pPr marL="324000" lvl="1" indent="-216000">
                <a:lnSpc>
                  <a:spcPct val="100000"/>
                </a:lnSpc>
                <a:spcAft>
                  <a:spcPts val="0"/>
                </a:spcAft>
                <a:buClr>
                  <a:schemeClr val="tx2">
                    <a:lumMod val="100000"/>
                  </a:schemeClr>
                </a:buClr>
                <a:buSzPct val="100000"/>
                <a:buFont typeface="Trebuchet MS" panose="020B0603020202020204" pitchFamily="34" charset="0"/>
                <a:buChar char="•"/>
                <a:tabLst>
                  <a:tab pos="268774" algn="l"/>
                </a:tabLst>
              </a:pPr>
              <a:r>
                <a:rPr lang="en-ZA" sz="1400">
                  <a:solidFill>
                    <a:schemeClr val="tx1">
                      <a:lumMod val="100000"/>
                    </a:schemeClr>
                  </a:solidFill>
                </a:rPr>
                <a:t>My current context</a:t>
              </a:r>
            </a:p>
            <a:p>
              <a:pPr marL="324000" lvl="1" indent="-216000">
                <a:lnSpc>
                  <a:spcPct val="100000"/>
                </a:lnSpc>
                <a:spcAft>
                  <a:spcPts val="0"/>
                </a:spcAft>
                <a:buClr>
                  <a:schemeClr val="tx2">
                    <a:lumMod val="100000"/>
                  </a:schemeClr>
                </a:buClr>
                <a:buSzPct val="100000"/>
                <a:buFont typeface="Trebuchet MS" panose="020B0603020202020204" pitchFamily="34" charset="0"/>
                <a:buChar char="•"/>
                <a:tabLst>
                  <a:tab pos="268774" algn="l"/>
                </a:tabLst>
              </a:pPr>
              <a:r>
                <a:rPr lang="en-ZA" sz="1400">
                  <a:solidFill>
                    <a:schemeClr val="tx1">
                      <a:lumMod val="100000"/>
                    </a:schemeClr>
                  </a:solidFill>
                </a:rPr>
                <a:t>My journey with this brand</a:t>
              </a:r>
            </a:p>
          </p:txBody>
        </p:sp>
        <p:grpSp>
          <p:nvGrpSpPr>
            <p:cNvPr id="41" name="Group 40">
              <a:extLst>
                <a:ext uri="{FF2B5EF4-FFF2-40B4-BE49-F238E27FC236}">
                  <a16:creationId xmlns:a16="http://schemas.microsoft.com/office/drawing/2014/main" id="{3DC1FA75-AFE3-42CF-8487-B36EE88F66F6}"/>
                </a:ext>
              </a:extLst>
            </p:cNvPr>
            <p:cNvGrpSpPr>
              <a:grpSpLocks noChangeAspect="1"/>
            </p:cNvGrpSpPr>
            <p:nvPr/>
          </p:nvGrpSpPr>
          <p:grpSpPr>
            <a:xfrm>
              <a:off x="629744" y="3298071"/>
              <a:ext cx="553998" cy="553998"/>
              <a:chOff x="5272088" y="2605088"/>
              <a:chExt cx="1647825" cy="1647825"/>
            </a:xfrm>
          </p:grpSpPr>
          <p:sp>
            <p:nvSpPr>
              <p:cNvPr id="42" name="AutoShape 3">
                <a:extLst>
                  <a:ext uri="{FF2B5EF4-FFF2-40B4-BE49-F238E27FC236}">
                    <a16:creationId xmlns:a16="http://schemas.microsoft.com/office/drawing/2014/main" id="{59B3A92C-6636-4F5D-8064-FB4F7B57C94E}"/>
                  </a:ext>
                </a:extLst>
              </p:cNvPr>
              <p:cNvSpPr>
                <a:spLocks noChangeAspect="1" noChangeArrowheads="1" noTextEdit="1"/>
              </p:cNvSpPr>
              <p:nvPr/>
            </p:nvSpPr>
            <p:spPr bwMode="auto">
              <a:xfrm>
                <a:off x="5272088" y="2605088"/>
                <a:ext cx="1647825" cy="1647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ym typeface="+mn-lt"/>
                </a:endParaRPr>
              </a:p>
            </p:txBody>
          </p:sp>
          <p:grpSp>
            <p:nvGrpSpPr>
              <p:cNvPr id="43" name="Group 42">
                <a:extLst>
                  <a:ext uri="{FF2B5EF4-FFF2-40B4-BE49-F238E27FC236}">
                    <a16:creationId xmlns:a16="http://schemas.microsoft.com/office/drawing/2014/main" id="{3230F277-B2C6-4412-A9B7-F94A6141F7E2}"/>
                  </a:ext>
                </a:extLst>
              </p:cNvPr>
              <p:cNvGrpSpPr/>
              <p:nvPr/>
            </p:nvGrpSpPr>
            <p:grpSpPr>
              <a:xfrm>
                <a:off x="5708658" y="2765426"/>
                <a:ext cx="798505" cy="1319213"/>
                <a:chOff x="5708658" y="2765426"/>
                <a:chExt cx="798505" cy="1319213"/>
              </a:xfrm>
            </p:grpSpPr>
            <p:sp>
              <p:nvSpPr>
                <p:cNvPr id="44" name="Freeform 10">
                  <a:extLst>
                    <a:ext uri="{FF2B5EF4-FFF2-40B4-BE49-F238E27FC236}">
                      <a16:creationId xmlns:a16="http://schemas.microsoft.com/office/drawing/2014/main" id="{C58C5204-9E49-42A0-8644-2BC0ADCD2C35}"/>
                    </a:ext>
                  </a:extLst>
                </p:cNvPr>
                <p:cNvSpPr>
                  <a:spLocks/>
                </p:cNvSpPr>
                <p:nvPr/>
              </p:nvSpPr>
              <p:spPr bwMode="auto">
                <a:xfrm>
                  <a:off x="5830888" y="2765426"/>
                  <a:ext cx="581026" cy="1319213"/>
                </a:xfrm>
                <a:custGeom>
                  <a:avLst/>
                  <a:gdLst>
                    <a:gd name="connsiteX0" fmla="*/ 104075 w 581026"/>
                    <a:gd name="connsiteY0" fmla="*/ 1057275 h 1319213"/>
                    <a:gd name="connsiteX1" fmla="*/ 106220 w 581026"/>
                    <a:gd name="connsiteY1" fmla="*/ 1057275 h 1319213"/>
                    <a:gd name="connsiteX2" fmla="*/ 565295 w 581026"/>
                    <a:gd name="connsiteY2" fmla="*/ 1057275 h 1319213"/>
                    <a:gd name="connsiteX3" fmla="*/ 566010 w 581026"/>
                    <a:gd name="connsiteY3" fmla="*/ 1057275 h 1319213"/>
                    <a:gd name="connsiteX4" fmla="*/ 581026 w 581026"/>
                    <a:gd name="connsiteY4" fmla="*/ 1070193 h 1319213"/>
                    <a:gd name="connsiteX5" fmla="*/ 581026 w 581026"/>
                    <a:gd name="connsiteY5" fmla="*/ 1073063 h 1319213"/>
                    <a:gd name="connsiteX6" fmla="*/ 581026 w 581026"/>
                    <a:gd name="connsiteY6" fmla="*/ 1303425 h 1319213"/>
                    <a:gd name="connsiteX7" fmla="*/ 565295 w 581026"/>
                    <a:gd name="connsiteY7" fmla="*/ 1319213 h 1319213"/>
                    <a:gd name="connsiteX8" fmla="*/ 106220 w 581026"/>
                    <a:gd name="connsiteY8" fmla="*/ 1319213 h 1319213"/>
                    <a:gd name="connsiteX9" fmla="*/ 90488 w 581026"/>
                    <a:gd name="connsiteY9" fmla="*/ 1303425 h 1319213"/>
                    <a:gd name="connsiteX10" fmla="*/ 90488 w 581026"/>
                    <a:gd name="connsiteY10" fmla="*/ 1082392 h 1319213"/>
                    <a:gd name="connsiteX11" fmla="*/ 90488 w 581026"/>
                    <a:gd name="connsiteY11" fmla="*/ 1073063 h 1319213"/>
                    <a:gd name="connsiteX12" fmla="*/ 104075 w 581026"/>
                    <a:gd name="connsiteY12" fmla="*/ 1057275 h 1319213"/>
                    <a:gd name="connsiteX13" fmla="*/ 169069 w 581026"/>
                    <a:gd name="connsiteY13" fmla="*/ 0 h 1319213"/>
                    <a:gd name="connsiteX14" fmla="*/ 338138 w 581026"/>
                    <a:gd name="connsiteY14" fmla="*/ 169375 h 1319213"/>
                    <a:gd name="connsiteX15" fmla="*/ 287274 w 581026"/>
                    <a:gd name="connsiteY15" fmla="*/ 290664 h 1319213"/>
                    <a:gd name="connsiteX16" fmla="*/ 287274 w 581026"/>
                    <a:gd name="connsiteY16" fmla="*/ 239708 h 1319213"/>
                    <a:gd name="connsiteX17" fmla="*/ 169786 w 581026"/>
                    <a:gd name="connsiteY17" fmla="*/ 122007 h 1319213"/>
                    <a:gd name="connsiteX18" fmla="*/ 52297 w 581026"/>
                    <a:gd name="connsiteY18" fmla="*/ 239708 h 1319213"/>
                    <a:gd name="connsiteX19" fmla="*/ 52297 w 581026"/>
                    <a:gd name="connsiteY19" fmla="*/ 292100 h 1319213"/>
                    <a:gd name="connsiteX20" fmla="*/ 0 w 581026"/>
                    <a:gd name="connsiteY20" fmla="*/ 169375 h 1319213"/>
                    <a:gd name="connsiteX21" fmla="*/ 169069 w 581026"/>
                    <a:gd name="connsiteY21" fmla="*/ 0 h 1319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81026" h="1319213">
                      <a:moveTo>
                        <a:pt x="104075" y="1057275"/>
                      </a:moveTo>
                      <a:cubicBezTo>
                        <a:pt x="104790" y="1057275"/>
                        <a:pt x="105505" y="1057275"/>
                        <a:pt x="106220" y="1057275"/>
                      </a:cubicBezTo>
                      <a:cubicBezTo>
                        <a:pt x="106220" y="1057275"/>
                        <a:pt x="106220" y="1057275"/>
                        <a:pt x="565295" y="1057275"/>
                      </a:cubicBezTo>
                      <a:cubicBezTo>
                        <a:pt x="565295" y="1057275"/>
                        <a:pt x="566010" y="1057275"/>
                        <a:pt x="566010" y="1057275"/>
                      </a:cubicBezTo>
                      <a:cubicBezTo>
                        <a:pt x="573160" y="1057275"/>
                        <a:pt x="579596" y="1063016"/>
                        <a:pt x="581026" y="1070193"/>
                      </a:cubicBezTo>
                      <a:cubicBezTo>
                        <a:pt x="581026" y="1070910"/>
                        <a:pt x="581026" y="1072346"/>
                        <a:pt x="581026" y="1073063"/>
                      </a:cubicBezTo>
                      <a:cubicBezTo>
                        <a:pt x="581026" y="1073063"/>
                        <a:pt x="581026" y="1073063"/>
                        <a:pt x="581026" y="1303425"/>
                      </a:cubicBezTo>
                      <a:cubicBezTo>
                        <a:pt x="581026" y="1312037"/>
                        <a:pt x="573876" y="1319213"/>
                        <a:pt x="565295" y="1319213"/>
                      </a:cubicBezTo>
                      <a:cubicBezTo>
                        <a:pt x="565295" y="1319213"/>
                        <a:pt x="565295" y="1319213"/>
                        <a:pt x="106220" y="1319213"/>
                      </a:cubicBezTo>
                      <a:cubicBezTo>
                        <a:pt x="96924" y="1319213"/>
                        <a:pt x="90488" y="1312037"/>
                        <a:pt x="90488" y="1303425"/>
                      </a:cubicBezTo>
                      <a:cubicBezTo>
                        <a:pt x="90488" y="1303425"/>
                        <a:pt x="90488" y="1303425"/>
                        <a:pt x="90488" y="1082392"/>
                      </a:cubicBezTo>
                      <a:cubicBezTo>
                        <a:pt x="90488" y="1082392"/>
                        <a:pt x="90488" y="1082392"/>
                        <a:pt x="90488" y="1073063"/>
                      </a:cubicBezTo>
                      <a:cubicBezTo>
                        <a:pt x="90488" y="1065169"/>
                        <a:pt x="96209" y="1057993"/>
                        <a:pt x="104075" y="1057275"/>
                      </a:cubicBezTo>
                      <a:close/>
                      <a:moveTo>
                        <a:pt x="169069" y="0"/>
                      </a:moveTo>
                      <a:cubicBezTo>
                        <a:pt x="262200" y="0"/>
                        <a:pt x="338138" y="76075"/>
                        <a:pt x="338138" y="169375"/>
                      </a:cubicBezTo>
                      <a:cubicBezTo>
                        <a:pt x="338138" y="216742"/>
                        <a:pt x="318796" y="259804"/>
                        <a:pt x="287274" y="290664"/>
                      </a:cubicBezTo>
                      <a:cubicBezTo>
                        <a:pt x="287274" y="290664"/>
                        <a:pt x="287274" y="290664"/>
                        <a:pt x="287274" y="239708"/>
                      </a:cubicBezTo>
                      <a:cubicBezTo>
                        <a:pt x="287274" y="175116"/>
                        <a:pt x="234261" y="122007"/>
                        <a:pt x="169786" y="122007"/>
                      </a:cubicBezTo>
                      <a:cubicBezTo>
                        <a:pt x="104594" y="122007"/>
                        <a:pt x="52297" y="175116"/>
                        <a:pt x="52297" y="239708"/>
                      </a:cubicBezTo>
                      <a:cubicBezTo>
                        <a:pt x="52297" y="239708"/>
                        <a:pt x="52297" y="239708"/>
                        <a:pt x="52297" y="292100"/>
                      </a:cubicBezTo>
                      <a:cubicBezTo>
                        <a:pt x="20059" y="261239"/>
                        <a:pt x="0" y="217460"/>
                        <a:pt x="0" y="169375"/>
                      </a:cubicBezTo>
                      <a:cubicBezTo>
                        <a:pt x="0" y="76075"/>
                        <a:pt x="75938" y="0"/>
                        <a:pt x="169069"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sym typeface="+mn-lt"/>
                  </a:endParaRPr>
                </a:p>
              </p:txBody>
            </p:sp>
            <p:sp>
              <p:nvSpPr>
                <p:cNvPr id="45" name="Freeform 11">
                  <a:extLst>
                    <a:ext uri="{FF2B5EF4-FFF2-40B4-BE49-F238E27FC236}">
                      <a16:creationId xmlns:a16="http://schemas.microsoft.com/office/drawing/2014/main" id="{CC875A28-9CC0-4152-B19C-0C9A83327B66}"/>
                    </a:ext>
                  </a:extLst>
                </p:cNvPr>
                <p:cNvSpPr>
                  <a:spLocks/>
                </p:cNvSpPr>
                <p:nvPr/>
              </p:nvSpPr>
              <p:spPr bwMode="auto">
                <a:xfrm>
                  <a:off x="5708658" y="2919413"/>
                  <a:ext cx="798505" cy="896938"/>
                </a:xfrm>
                <a:custGeom>
                  <a:avLst/>
                  <a:gdLst>
                    <a:gd name="connsiteX0" fmla="*/ 291948 w 798505"/>
                    <a:gd name="connsiteY0" fmla="*/ 157922 h 896938"/>
                    <a:gd name="connsiteX1" fmla="*/ 300608 w 798505"/>
                    <a:gd name="connsiteY1" fmla="*/ 160200 h 896938"/>
                    <a:gd name="connsiteX2" fmla="*/ 302772 w 798505"/>
                    <a:gd name="connsiteY2" fmla="*/ 162478 h 896938"/>
                    <a:gd name="connsiteX3" fmla="*/ 305659 w 798505"/>
                    <a:gd name="connsiteY3" fmla="*/ 163996 h 896938"/>
                    <a:gd name="connsiteX4" fmla="*/ 305659 w 798505"/>
                    <a:gd name="connsiteY4" fmla="*/ 164756 h 896938"/>
                    <a:gd name="connsiteX5" fmla="*/ 306380 w 798505"/>
                    <a:gd name="connsiteY5" fmla="*/ 167793 h 896938"/>
                    <a:gd name="connsiteX6" fmla="*/ 304937 w 798505"/>
                    <a:gd name="connsiteY6" fmla="*/ 170071 h 896938"/>
                    <a:gd name="connsiteX7" fmla="*/ 300608 w 798505"/>
                    <a:gd name="connsiteY7" fmla="*/ 169311 h 896938"/>
                    <a:gd name="connsiteX8" fmla="*/ 296278 w 798505"/>
                    <a:gd name="connsiteY8" fmla="*/ 166274 h 896938"/>
                    <a:gd name="connsiteX9" fmla="*/ 295556 w 798505"/>
                    <a:gd name="connsiteY9" fmla="*/ 165515 h 896938"/>
                    <a:gd name="connsiteX10" fmla="*/ 291227 w 798505"/>
                    <a:gd name="connsiteY10" fmla="*/ 166274 h 896938"/>
                    <a:gd name="connsiteX11" fmla="*/ 281125 w 798505"/>
                    <a:gd name="connsiteY11" fmla="*/ 172348 h 896938"/>
                    <a:gd name="connsiteX12" fmla="*/ 277517 w 798505"/>
                    <a:gd name="connsiteY12" fmla="*/ 174626 h 896938"/>
                    <a:gd name="connsiteX13" fmla="*/ 275352 w 798505"/>
                    <a:gd name="connsiteY13" fmla="*/ 173108 h 896938"/>
                    <a:gd name="connsiteX14" fmla="*/ 274630 w 798505"/>
                    <a:gd name="connsiteY14" fmla="*/ 170071 h 896938"/>
                    <a:gd name="connsiteX15" fmla="*/ 276795 w 798505"/>
                    <a:gd name="connsiteY15" fmla="*/ 167034 h 896938"/>
                    <a:gd name="connsiteX16" fmla="*/ 286897 w 798505"/>
                    <a:gd name="connsiteY16" fmla="*/ 159441 h 896938"/>
                    <a:gd name="connsiteX17" fmla="*/ 291948 w 798505"/>
                    <a:gd name="connsiteY17" fmla="*/ 157922 h 896938"/>
                    <a:gd name="connsiteX18" fmla="*/ 293070 w 798505"/>
                    <a:gd name="connsiteY18" fmla="*/ 146762 h 896938"/>
                    <a:gd name="connsiteX19" fmla="*/ 305111 w 798505"/>
                    <a:gd name="connsiteY19" fmla="*/ 150320 h 896938"/>
                    <a:gd name="connsiteX20" fmla="*/ 310777 w 798505"/>
                    <a:gd name="connsiteY20" fmla="*/ 155302 h 896938"/>
                    <a:gd name="connsiteX21" fmla="*/ 312902 w 798505"/>
                    <a:gd name="connsiteY21" fmla="*/ 156725 h 896938"/>
                    <a:gd name="connsiteX22" fmla="*/ 313610 w 798505"/>
                    <a:gd name="connsiteY22" fmla="*/ 158860 h 896938"/>
                    <a:gd name="connsiteX23" fmla="*/ 312902 w 798505"/>
                    <a:gd name="connsiteY23" fmla="*/ 161707 h 896938"/>
                    <a:gd name="connsiteX24" fmla="*/ 310069 w 798505"/>
                    <a:gd name="connsiteY24" fmla="*/ 163130 h 896938"/>
                    <a:gd name="connsiteX25" fmla="*/ 307944 w 798505"/>
                    <a:gd name="connsiteY25" fmla="*/ 161707 h 896938"/>
                    <a:gd name="connsiteX26" fmla="*/ 301569 w 798505"/>
                    <a:gd name="connsiteY26" fmla="*/ 155302 h 896938"/>
                    <a:gd name="connsiteX27" fmla="*/ 294486 w 798505"/>
                    <a:gd name="connsiteY27" fmla="*/ 153878 h 896938"/>
                    <a:gd name="connsiteX28" fmla="*/ 293778 w 798505"/>
                    <a:gd name="connsiteY28" fmla="*/ 153878 h 896938"/>
                    <a:gd name="connsiteX29" fmla="*/ 290237 w 798505"/>
                    <a:gd name="connsiteY29" fmla="*/ 155302 h 896938"/>
                    <a:gd name="connsiteX30" fmla="*/ 289529 w 798505"/>
                    <a:gd name="connsiteY30" fmla="*/ 156013 h 896938"/>
                    <a:gd name="connsiteX31" fmla="*/ 288820 w 798505"/>
                    <a:gd name="connsiteY31" fmla="*/ 156013 h 896938"/>
                    <a:gd name="connsiteX32" fmla="*/ 273946 w 798505"/>
                    <a:gd name="connsiteY32" fmla="*/ 165976 h 896938"/>
                    <a:gd name="connsiteX33" fmla="*/ 273946 w 798505"/>
                    <a:gd name="connsiteY33" fmla="*/ 166688 h 896938"/>
                    <a:gd name="connsiteX34" fmla="*/ 271822 w 798505"/>
                    <a:gd name="connsiteY34" fmla="*/ 166688 h 896938"/>
                    <a:gd name="connsiteX35" fmla="*/ 268989 w 798505"/>
                    <a:gd name="connsiteY35" fmla="*/ 165976 h 896938"/>
                    <a:gd name="connsiteX36" fmla="*/ 268280 w 798505"/>
                    <a:gd name="connsiteY36" fmla="*/ 163130 h 896938"/>
                    <a:gd name="connsiteX37" fmla="*/ 270405 w 798505"/>
                    <a:gd name="connsiteY37" fmla="*/ 160283 h 896938"/>
                    <a:gd name="connsiteX38" fmla="*/ 285279 w 798505"/>
                    <a:gd name="connsiteY38" fmla="*/ 150320 h 896938"/>
                    <a:gd name="connsiteX39" fmla="*/ 285987 w 798505"/>
                    <a:gd name="connsiteY39" fmla="*/ 148897 h 896938"/>
                    <a:gd name="connsiteX40" fmla="*/ 293070 w 798505"/>
                    <a:gd name="connsiteY40" fmla="*/ 146762 h 896938"/>
                    <a:gd name="connsiteX41" fmla="*/ 294052 w 798505"/>
                    <a:gd name="connsiteY41" fmla="*/ 130885 h 896938"/>
                    <a:gd name="connsiteX42" fmla="*/ 310366 w 798505"/>
                    <a:gd name="connsiteY42" fmla="*/ 135147 h 896938"/>
                    <a:gd name="connsiteX43" fmla="*/ 322425 w 798505"/>
                    <a:gd name="connsiteY43" fmla="*/ 145800 h 896938"/>
                    <a:gd name="connsiteX44" fmla="*/ 321715 w 798505"/>
                    <a:gd name="connsiteY44" fmla="*/ 150771 h 896938"/>
                    <a:gd name="connsiteX45" fmla="*/ 319587 w 798505"/>
                    <a:gd name="connsiteY45" fmla="*/ 151481 h 896938"/>
                    <a:gd name="connsiteX46" fmla="*/ 317459 w 798505"/>
                    <a:gd name="connsiteY46" fmla="*/ 150771 h 896938"/>
                    <a:gd name="connsiteX47" fmla="*/ 314622 w 798505"/>
                    <a:gd name="connsiteY47" fmla="*/ 147930 h 896938"/>
                    <a:gd name="connsiteX48" fmla="*/ 306820 w 798505"/>
                    <a:gd name="connsiteY48" fmla="*/ 140828 h 896938"/>
                    <a:gd name="connsiteX49" fmla="*/ 294052 w 798505"/>
                    <a:gd name="connsiteY49" fmla="*/ 137277 h 896938"/>
                    <a:gd name="connsiteX50" fmla="*/ 286959 w 798505"/>
                    <a:gd name="connsiteY50" fmla="*/ 140118 h 896938"/>
                    <a:gd name="connsiteX51" fmla="*/ 286250 w 798505"/>
                    <a:gd name="connsiteY51" fmla="*/ 140828 h 896938"/>
                    <a:gd name="connsiteX52" fmla="*/ 262843 w 798505"/>
                    <a:gd name="connsiteY52" fmla="*/ 157163 h 896938"/>
                    <a:gd name="connsiteX53" fmla="*/ 262133 w 798505"/>
                    <a:gd name="connsiteY53" fmla="*/ 157163 h 896938"/>
                    <a:gd name="connsiteX54" fmla="*/ 260715 w 798505"/>
                    <a:gd name="connsiteY54" fmla="*/ 157163 h 896938"/>
                    <a:gd name="connsiteX55" fmla="*/ 257878 w 798505"/>
                    <a:gd name="connsiteY55" fmla="*/ 156453 h 896938"/>
                    <a:gd name="connsiteX56" fmla="*/ 257168 w 798505"/>
                    <a:gd name="connsiteY56" fmla="*/ 155032 h 896938"/>
                    <a:gd name="connsiteX57" fmla="*/ 258587 w 798505"/>
                    <a:gd name="connsiteY57" fmla="*/ 151481 h 896938"/>
                    <a:gd name="connsiteX58" fmla="*/ 282703 w 798505"/>
                    <a:gd name="connsiteY58" fmla="*/ 134436 h 896938"/>
                    <a:gd name="connsiteX59" fmla="*/ 283413 w 798505"/>
                    <a:gd name="connsiteY59" fmla="*/ 134436 h 896938"/>
                    <a:gd name="connsiteX60" fmla="*/ 284122 w 798505"/>
                    <a:gd name="connsiteY60" fmla="*/ 133726 h 896938"/>
                    <a:gd name="connsiteX61" fmla="*/ 294052 w 798505"/>
                    <a:gd name="connsiteY61" fmla="*/ 130885 h 896938"/>
                    <a:gd name="connsiteX62" fmla="*/ 300532 w 798505"/>
                    <a:gd name="connsiteY62" fmla="*/ 90488 h 896938"/>
                    <a:gd name="connsiteX63" fmla="*/ 303373 w 798505"/>
                    <a:gd name="connsiteY63" fmla="*/ 91203 h 896938"/>
                    <a:gd name="connsiteX64" fmla="*/ 303373 w 798505"/>
                    <a:gd name="connsiteY64" fmla="*/ 91917 h 896938"/>
                    <a:gd name="connsiteX65" fmla="*/ 303373 w 798505"/>
                    <a:gd name="connsiteY65" fmla="*/ 96203 h 896938"/>
                    <a:gd name="connsiteX66" fmla="*/ 255790 w 798505"/>
                    <a:gd name="connsiteY66" fmla="*/ 133351 h 896938"/>
                    <a:gd name="connsiteX67" fmla="*/ 255079 w 798505"/>
                    <a:gd name="connsiteY67" fmla="*/ 133351 h 896938"/>
                    <a:gd name="connsiteX68" fmla="*/ 254369 w 798505"/>
                    <a:gd name="connsiteY68" fmla="*/ 133351 h 896938"/>
                    <a:gd name="connsiteX69" fmla="*/ 251528 w 798505"/>
                    <a:gd name="connsiteY69" fmla="*/ 131208 h 896938"/>
                    <a:gd name="connsiteX70" fmla="*/ 250818 w 798505"/>
                    <a:gd name="connsiteY70" fmla="*/ 130494 h 896938"/>
                    <a:gd name="connsiteX71" fmla="*/ 252239 w 798505"/>
                    <a:gd name="connsiteY71" fmla="*/ 127636 h 896938"/>
                    <a:gd name="connsiteX72" fmla="*/ 252949 w 798505"/>
                    <a:gd name="connsiteY72" fmla="*/ 126922 h 896938"/>
                    <a:gd name="connsiteX73" fmla="*/ 295561 w 798505"/>
                    <a:gd name="connsiteY73" fmla="*/ 94774 h 896938"/>
                    <a:gd name="connsiteX74" fmla="*/ 298401 w 798505"/>
                    <a:gd name="connsiteY74" fmla="*/ 91917 h 896938"/>
                    <a:gd name="connsiteX75" fmla="*/ 300532 w 798505"/>
                    <a:gd name="connsiteY75" fmla="*/ 90488 h 896938"/>
                    <a:gd name="connsiteX76" fmla="*/ 302561 w 798505"/>
                    <a:gd name="connsiteY76" fmla="*/ 76200 h 896938"/>
                    <a:gd name="connsiteX77" fmla="*/ 313938 w 798505"/>
                    <a:gd name="connsiteY77" fmla="*/ 81293 h 896938"/>
                    <a:gd name="connsiteX78" fmla="*/ 316782 w 798505"/>
                    <a:gd name="connsiteY78" fmla="*/ 88569 h 896938"/>
                    <a:gd name="connsiteX79" fmla="*/ 308249 w 798505"/>
                    <a:gd name="connsiteY79" fmla="*/ 112580 h 896938"/>
                    <a:gd name="connsiteX80" fmla="*/ 289761 w 798505"/>
                    <a:gd name="connsiteY80" fmla="*/ 127132 h 896938"/>
                    <a:gd name="connsiteX81" fmla="*/ 259896 w 798505"/>
                    <a:gd name="connsiteY81" fmla="*/ 145323 h 896938"/>
                    <a:gd name="connsiteX82" fmla="*/ 258474 w 798505"/>
                    <a:gd name="connsiteY82" fmla="*/ 146050 h 896938"/>
                    <a:gd name="connsiteX83" fmla="*/ 255630 w 798505"/>
                    <a:gd name="connsiteY83" fmla="*/ 144595 h 896938"/>
                    <a:gd name="connsiteX84" fmla="*/ 255630 w 798505"/>
                    <a:gd name="connsiteY84" fmla="*/ 143867 h 896938"/>
                    <a:gd name="connsiteX85" fmla="*/ 256341 w 798505"/>
                    <a:gd name="connsiteY85" fmla="*/ 139502 h 896938"/>
                    <a:gd name="connsiteX86" fmla="*/ 256341 w 798505"/>
                    <a:gd name="connsiteY86" fmla="*/ 138774 h 896938"/>
                    <a:gd name="connsiteX87" fmla="*/ 287628 w 798505"/>
                    <a:gd name="connsiteY87" fmla="*/ 119129 h 896938"/>
                    <a:gd name="connsiteX88" fmla="*/ 302561 w 798505"/>
                    <a:gd name="connsiteY88" fmla="*/ 107487 h 896938"/>
                    <a:gd name="connsiteX89" fmla="*/ 309671 w 798505"/>
                    <a:gd name="connsiteY89" fmla="*/ 89297 h 896938"/>
                    <a:gd name="connsiteX90" fmla="*/ 308960 w 798505"/>
                    <a:gd name="connsiteY90" fmla="*/ 85659 h 896938"/>
                    <a:gd name="connsiteX91" fmla="*/ 302561 w 798505"/>
                    <a:gd name="connsiteY91" fmla="*/ 84204 h 896938"/>
                    <a:gd name="connsiteX92" fmla="*/ 280517 w 798505"/>
                    <a:gd name="connsiteY92" fmla="*/ 99483 h 896938"/>
                    <a:gd name="connsiteX93" fmla="*/ 279806 w 798505"/>
                    <a:gd name="connsiteY93" fmla="*/ 99483 h 896938"/>
                    <a:gd name="connsiteX94" fmla="*/ 253497 w 798505"/>
                    <a:gd name="connsiteY94" fmla="*/ 118401 h 896938"/>
                    <a:gd name="connsiteX95" fmla="*/ 249230 w 798505"/>
                    <a:gd name="connsiteY95" fmla="*/ 115491 h 896938"/>
                    <a:gd name="connsiteX96" fmla="*/ 249230 w 798505"/>
                    <a:gd name="connsiteY96" fmla="*/ 114763 h 896938"/>
                    <a:gd name="connsiteX97" fmla="*/ 252075 w 798505"/>
                    <a:gd name="connsiteY97" fmla="*/ 111125 h 896938"/>
                    <a:gd name="connsiteX98" fmla="*/ 274118 w 798505"/>
                    <a:gd name="connsiteY98" fmla="*/ 95118 h 896938"/>
                    <a:gd name="connsiteX99" fmla="*/ 274829 w 798505"/>
                    <a:gd name="connsiteY99" fmla="*/ 94390 h 896938"/>
                    <a:gd name="connsiteX100" fmla="*/ 302561 w 798505"/>
                    <a:gd name="connsiteY100" fmla="*/ 76200 h 896938"/>
                    <a:gd name="connsiteX101" fmla="*/ 305171 w 798505"/>
                    <a:gd name="connsiteY101" fmla="*/ 67214 h 896938"/>
                    <a:gd name="connsiteX102" fmla="*/ 307968 w 798505"/>
                    <a:gd name="connsiteY102" fmla="*/ 70758 h 896938"/>
                    <a:gd name="connsiteX103" fmla="*/ 307968 w 798505"/>
                    <a:gd name="connsiteY103" fmla="*/ 71467 h 896938"/>
                    <a:gd name="connsiteX104" fmla="*/ 304472 w 798505"/>
                    <a:gd name="connsiteY104" fmla="*/ 74301 h 896938"/>
                    <a:gd name="connsiteX105" fmla="*/ 278599 w 798505"/>
                    <a:gd name="connsiteY105" fmla="*/ 82806 h 896938"/>
                    <a:gd name="connsiteX106" fmla="*/ 274404 w 798505"/>
                    <a:gd name="connsiteY106" fmla="*/ 87767 h 896938"/>
                    <a:gd name="connsiteX107" fmla="*/ 270208 w 798505"/>
                    <a:gd name="connsiteY107" fmla="*/ 92019 h 896938"/>
                    <a:gd name="connsiteX108" fmla="*/ 268110 w 798505"/>
                    <a:gd name="connsiteY108" fmla="*/ 94145 h 896938"/>
                    <a:gd name="connsiteX109" fmla="*/ 266013 w 798505"/>
                    <a:gd name="connsiteY109" fmla="*/ 96980 h 896938"/>
                    <a:gd name="connsiteX110" fmla="*/ 265313 w 798505"/>
                    <a:gd name="connsiteY110" fmla="*/ 97689 h 896938"/>
                    <a:gd name="connsiteX111" fmla="*/ 254125 w 798505"/>
                    <a:gd name="connsiteY111" fmla="*/ 104776 h 896938"/>
                    <a:gd name="connsiteX112" fmla="*/ 252727 w 798505"/>
                    <a:gd name="connsiteY112" fmla="*/ 104776 h 896938"/>
                    <a:gd name="connsiteX113" fmla="*/ 249930 w 798505"/>
                    <a:gd name="connsiteY113" fmla="*/ 102650 h 896938"/>
                    <a:gd name="connsiteX114" fmla="*/ 249930 w 798505"/>
                    <a:gd name="connsiteY114" fmla="*/ 99815 h 896938"/>
                    <a:gd name="connsiteX115" fmla="*/ 251328 w 798505"/>
                    <a:gd name="connsiteY115" fmla="*/ 98398 h 896938"/>
                    <a:gd name="connsiteX116" fmla="*/ 261118 w 798505"/>
                    <a:gd name="connsiteY116" fmla="*/ 92019 h 896938"/>
                    <a:gd name="connsiteX117" fmla="*/ 265313 w 798505"/>
                    <a:gd name="connsiteY117" fmla="*/ 87058 h 896938"/>
                    <a:gd name="connsiteX118" fmla="*/ 274404 w 798505"/>
                    <a:gd name="connsiteY118" fmla="*/ 77845 h 896938"/>
                    <a:gd name="connsiteX119" fmla="*/ 305171 w 798505"/>
                    <a:gd name="connsiteY119" fmla="*/ 67214 h 896938"/>
                    <a:gd name="connsiteX120" fmla="*/ 302303 w 798505"/>
                    <a:gd name="connsiteY120" fmla="*/ 53838 h 896938"/>
                    <a:gd name="connsiteX121" fmla="*/ 325728 w 798505"/>
                    <a:gd name="connsiteY121" fmla="*/ 71242 h 896938"/>
                    <a:gd name="connsiteX122" fmla="*/ 334956 w 798505"/>
                    <a:gd name="connsiteY122" fmla="*/ 106775 h 896938"/>
                    <a:gd name="connsiteX123" fmla="*/ 331407 w 798505"/>
                    <a:gd name="connsiteY123" fmla="*/ 111126 h 896938"/>
                    <a:gd name="connsiteX124" fmla="*/ 330697 w 798505"/>
                    <a:gd name="connsiteY124" fmla="*/ 111126 h 896938"/>
                    <a:gd name="connsiteX125" fmla="*/ 327858 w 798505"/>
                    <a:gd name="connsiteY125" fmla="*/ 107500 h 896938"/>
                    <a:gd name="connsiteX126" fmla="*/ 319339 w 798505"/>
                    <a:gd name="connsiteY126" fmla="*/ 74868 h 896938"/>
                    <a:gd name="connsiteX127" fmla="*/ 301593 w 798505"/>
                    <a:gd name="connsiteY127" fmla="*/ 61090 h 896938"/>
                    <a:gd name="connsiteX128" fmla="*/ 285266 w 798505"/>
                    <a:gd name="connsiteY128" fmla="*/ 62540 h 896938"/>
                    <a:gd name="connsiteX129" fmla="*/ 254742 w 798505"/>
                    <a:gd name="connsiteY129" fmla="*/ 90096 h 896938"/>
                    <a:gd name="connsiteX130" fmla="*/ 254032 w 798505"/>
                    <a:gd name="connsiteY130" fmla="*/ 90096 h 896938"/>
                    <a:gd name="connsiteX131" fmla="*/ 249773 w 798505"/>
                    <a:gd name="connsiteY131" fmla="*/ 90822 h 896938"/>
                    <a:gd name="connsiteX132" fmla="*/ 249063 w 798505"/>
                    <a:gd name="connsiteY132" fmla="*/ 90822 h 896938"/>
                    <a:gd name="connsiteX133" fmla="*/ 248353 w 798505"/>
                    <a:gd name="connsiteY133" fmla="*/ 85746 h 896938"/>
                    <a:gd name="connsiteX134" fmla="*/ 282426 w 798505"/>
                    <a:gd name="connsiteY134" fmla="*/ 55289 h 896938"/>
                    <a:gd name="connsiteX135" fmla="*/ 302303 w 798505"/>
                    <a:gd name="connsiteY135" fmla="*/ 53838 h 896938"/>
                    <a:gd name="connsiteX136" fmla="*/ 292132 w 798505"/>
                    <a:gd name="connsiteY136" fmla="*/ 0 h 896938"/>
                    <a:gd name="connsiteX137" fmla="*/ 377958 w 798505"/>
                    <a:gd name="connsiteY137" fmla="*/ 85832 h 896938"/>
                    <a:gd name="connsiteX138" fmla="*/ 377958 w 798505"/>
                    <a:gd name="connsiteY138" fmla="*/ 160934 h 896938"/>
                    <a:gd name="connsiteX139" fmla="*/ 377958 w 798505"/>
                    <a:gd name="connsiteY139" fmla="*/ 220301 h 896938"/>
                    <a:gd name="connsiteX140" fmla="*/ 377958 w 798505"/>
                    <a:gd name="connsiteY140" fmla="*/ 297549 h 896938"/>
                    <a:gd name="connsiteX141" fmla="*/ 409427 w 798505"/>
                    <a:gd name="connsiteY141" fmla="*/ 288966 h 896938"/>
                    <a:gd name="connsiteX142" fmla="*/ 455201 w 798505"/>
                    <a:gd name="connsiteY142" fmla="*/ 288966 h 896938"/>
                    <a:gd name="connsiteX143" fmla="*/ 516710 w 798505"/>
                    <a:gd name="connsiteY143" fmla="*/ 339749 h 896938"/>
                    <a:gd name="connsiteX144" fmla="*/ 549610 w 798505"/>
                    <a:gd name="connsiteY144" fmla="*/ 330451 h 896938"/>
                    <a:gd name="connsiteX145" fmla="*/ 595384 w 798505"/>
                    <a:gd name="connsiteY145" fmla="*/ 330451 h 896938"/>
                    <a:gd name="connsiteX146" fmla="*/ 656177 w 798505"/>
                    <a:gd name="connsiteY146" fmla="*/ 379089 h 896938"/>
                    <a:gd name="connsiteX147" fmla="*/ 689792 w 798505"/>
                    <a:gd name="connsiteY147" fmla="*/ 369075 h 896938"/>
                    <a:gd name="connsiteX148" fmla="*/ 735566 w 798505"/>
                    <a:gd name="connsiteY148" fmla="*/ 369075 h 896938"/>
                    <a:gd name="connsiteX149" fmla="*/ 798505 w 798505"/>
                    <a:gd name="connsiteY149" fmla="*/ 432018 h 896938"/>
                    <a:gd name="connsiteX150" fmla="*/ 798505 w 798505"/>
                    <a:gd name="connsiteY150" fmla="*/ 701672 h 896938"/>
                    <a:gd name="connsiteX151" fmla="*/ 729129 w 798505"/>
                    <a:gd name="connsiteY151" fmla="*/ 895508 h 896938"/>
                    <a:gd name="connsiteX152" fmla="*/ 704812 w 798505"/>
                    <a:gd name="connsiteY152" fmla="*/ 875480 h 896938"/>
                    <a:gd name="connsiteX153" fmla="*/ 767036 w 798505"/>
                    <a:gd name="connsiteY153" fmla="*/ 701672 h 896938"/>
                    <a:gd name="connsiteX154" fmla="*/ 767036 w 798505"/>
                    <a:gd name="connsiteY154" fmla="*/ 432018 h 896938"/>
                    <a:gd name="connsiteX155" fmla="*/ 735566 w 798505"/>
                    <a:gd name="connsiteY155" fmla="*/ 400547 h 896938"/>
                    <a:gd name="connsiteX156" fmla="*/ 689792 w 798505"/>
                    <a:gd name="connsiteY156" fmla="*/ 400547 h 896938"/>
                    <a:gd name="connsiteX157" fmla="*/ 658323 w 798505"/>
                    <a:gd name="connsiteY157" fmla="*/ 432018 h 896938"/>
                    <a:gd name="connsiteX158" fmla="*/ 658323 w 798505"/>
                    <a:gd name="connsiteY158" fmla="*/ 494246 h 896938"/>
                    <a:gd name="connsiteX159" fmla="*/ 642588 w 798505"/>
                    <a:gd name="connsiteY159" fmla="*/ 509982 h 896938"/>
                    <a:gd name="connsiteX160" fmla="*/ 626853 w 798505"/>
                    <a:gd name="connsiteY160" fmla="*/ 494246 h 896938"/>
                    <a:gd name="connsiteX161" fmla="*/ 626853 w 798505"/>
                    <a:gd name="connsiteY161" fmla="*/ 432018 h 896938"/>
                    <a:gd name="connsiteX162" fmla="*/ 627568 w 798505"/>
                    <a:gd name="connsiteY162" fmla="*/ 422720 h 896938"/>
                    <a:gd name="connsiteX163" fmla="*/ 626853 w 798505"/>
                    <a:gd name="connsiteY163" fmla="*/ 418428 h 896938"/>
                    <a:gd name="connsiteX164" fmla="*/ 626853 w 798505"/>
                    <a:gd name="connsiteY164" fmla="*/ 393394 h 896938"/>
                    <a:gd name="connsiteX165" fmla="*/ 595384 w 798505"/>
                    <a:gd name="connsiteY165" fmla="*/ 361922 h 896938"/>
                    <a:gd name="connsiteX166" fmla="*/ 549610 w 798505"/>
                    <a:gd name="connsiteY166" fmla="*/ 361922 h 896938"/>
                    <a:gd name="connsiteX167" fmla="*/ 518140 w 798505"/>
                    <a:gd name="connsiteY167" fmla="*/ 393394 h 896938"/>
                    <a:gd name="connsiteX168" fmla="*/ 518140 w 798505"/>
                    <a:gd name="connsiteY168" fmla="*/ 405553 h 896938"/>
                    <a:gd name="connsiteX169" fmla="*/ 518140 w 798505"/>
                    <a:gd name="connsiteY169" fmla="*/ 475649 h 896938"/>
                    <a:gd name="connsiteX170" fmla="*/ 502406 w 798505"/>
                    <a:gd name="connsiteY170" fmla="*/ 491385 h 896938"/>
                    <a:gd name="connsiteX171" fmla="*/ 486671 w 798505"/>
                    <a:gd name="connsiteY171" fmla="*/ 475649 h 896938"/>
                    <a:gd name="connsiteX172" fmla="*/ 486671 w 798505"/>
                    <a:gd name="connsiteY172" fmla="*/ 405553 h 896938"/>
                    <a:gd name="connsiteX173" fmla="*/ 486671 w 798505"/>
                    <a:gd name="connsiteY173" fmla="*/ 393394 h 896938"/>
                    <a:gd name="connsiteX174" fmla="*/ 486671 w 798505"/>
                    <a:gd name="connsiteY174" fmla="*/ 351909 h 896938"/>
                    <a:gd name="connsiteX175" fmla="*/ 455201 w 798505"/>
                    <a:gd name="connsiteY175" fmla="*/ 320437 h 896938"/>
                    <a:gd name="connsiteX176" fmla="*/ 409427 w 798505"/>
                    <a:gd name="connsiteY176" fmla="*/ 320437 h 896938"/>
                    <a:gd name="connsiteX177" fmla="*/ 377958 w 798505"/>
                    <a:gd name="connsiteY177" fmla="*/ 351909 h 896938"/>
                    <a:gd name="connsiteX178" fmla="*/ 377958 w 798505"/>
                    <a:gd name="connsiteY178" fmla="*/ 454906 h 896938"/>
                    <a:gd name="connsiteX179" fmla="*/ 377958 w 798505"/>
                    <a:gd name="connsiteY179" fmla="*/ 462774 h 896938"/>
                    <a:gd name="connsiteX180" fmla="*/ 362223 w 798505"/>
                    <a:gd name="connsiteY180" fmla="*/ 478510 h 896938"/>
                    <a:gd name="connsiteX181" fmla="*/ 346488 w 798505"/>
                    <a:gd name="connsiteY181" fmla="*/ 462774 h 896938"/>
                    <a:gd name="connsiteX182" fmla="*/ 346488 w 798505"/>
                    <a:gd name="connsiteY182" fmla="*/ 454906 h 896938"/>
                    <a:gd name="connsiteX183" fmla="*/ 346488 w 798505"/>
                    <a:gd name="connsiteY183" fmla="*/ 351909 h 896938"/>
                    <a:gd name="connsiteX184" fmla="*/ 346488 w 798505"/>
                    <a:gd name="connsiteY184" fmla="*/ 238182 h 896938"/>
                    <a:gd name="connsiteX185" fmla="*/ 346488 w 798505"/>
                    <a:gd name="connsiteY185" fmla="*/ 175239 h 896938"/>
                    <a:gd name="connsiteX186" fmla="*/ 346488 w 798505"/>
                    <a:gd name="connsiteY186" fmla="*/ 85832 h 896938"/>
                    <a:gd name="connsiteX187" fmla="*/ 292132 w 798505"/>
                    <a:gd name="connsiteY187" fmla="*/ 31472 h 896938"/>
                    <a:gd name="connsiteX188" fmla="*/ 237776 w 798505"/>
                    <a:gd name="connsiteY188" fmla="*/ 85832 h 896938"/>
                    <a:gd name="connsiteX189" fmla="*/ 237776 w 798505"/>
                    <a:gd name="connsiteY189" fmla="*/ 175954 h 896938"/>
                    <a:gd name="connsiteX190" fmla="*/ 237776 w 798505"/>
                    <a:gd name="connsiteY190" fmla="*/ 238897 h 896938"/>
                    <a:gd name="connsiteX191" fmla="*/ 237776 w 798505"/>
                    <a:gd name="connsiteY191" fmla="*/ 603681 h 896938"/>
                    <a:gd name="connsiteX192" fmla="*/ 226332 w 798505"/>
                    <a:gd name="connsiteY192" fmla="*/ 618701 h 896938"/>
                    <a:gd name="connsiteX193" fmla="*/ 209167 w 798505"/>
                    <a:gd name="connsiteY193" fmla="*/ 612264 h 896938"/>
                    <a:gd name="connsiteX194" fmla="*/ 128347 w 798505"/>
                    <a:gd name="connsiteY194" fmla="*/ 497107 h 896938"/>
                    <a:gd name="connsiteX195" fmla="*/ 56826 w 798505"/>
                    <a:gd name="connsiteY195" fmla="*/ 482802 h 896938"/>
                    <a:gd name="connsiteX196" fmla="*/ 37515 w 798505"/>
                    <a:gd name="connsiteY196" fmla="*/ 553613 h 896938"/>
                    <a:gd name="connsiteX197" fmla="*/ 212028 w 798505"/>
                    <a:gd name="connsiteY197" fmla="*/ 876196 h 896938"/>
                    <a:gd name="connsiteX198" fmla="*/ 187710 w 798505"/>
                    <a:gd name="connsiteY198" fmla="*/ 896938 h 896938"/>
                    <a:gd name="connsiteX199" fmla="*/ 10337 w 798505"/>
                    <a:gd name="connsiteY199" fmla="*/ 567918 h 896938"/>
                    <a:gd name="connsiteX200" fmla="*/ 40376 w 798505"/>
                    <a:gd name="connsiteY200" fmla="*/ 455622 h 896938"/>
                    <a:gd name="connsiteX201" fmla="*/ 154095 w 798505"/>
                    <a:gd name="connsiteY201" fmla="*/ 479225 h 896938"/>
                    <a:gd name="connsiteX202" fmla="*/ 206306 w 798505"/>
                    <a:gd name="connsiteY202" fmla="*/ 553613 h 896938"/>
                    <a:gd name="connsiteX203" fmla="*/ 206306 w 798505"/>
                    <a:gd name="connsiteY203" fmla="*/ 221016 h 896938"/>
                    <a:gd name="connsiteX204" fmla="*/ 206306 w 798505"/>
                    <a:gd name="connsiteY204" fmla="*/ 161649 h 896938"/>
                    <a:gd name="connsiteX205" fmla="*/ 206306 w 798505"/>
                    <a:gd name="connsiteY205" fmla="*/ 85832 h 896938"/>
                    <a:gd name="connsiteX206" fmla="*/ 292132 w 798505"/>
                    <a:gd name="connsiteY206" fmla="*/ 0 h 896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798505" h="896938">
                      <a:moveTo>
                        <a:pt x="291948" y="157922"/>
                      </a:moveTo>
                      <a:cubicBezTo>
                        <a:pt x="294835" y="157163"/>
                        <a:pt x="298443" y="157922"/>
                        <a:pt x="300608" y="160200"/>
                      </a:cubicBezTo>
                      <a:cubicBezTo>
                        <a:pt x="301329" y="160959"/>
                        <a:pt x="302051" y="161719"/>
                        <a:pt x="302772" y="162478"/>
                      </a:cubicBezTo>
                      <a:cubicBezTo>
                        <a:pt x="303494" y="163237"/>
                        <a:pt x="304937" y="163237"/>
                        <a:pt x="305659" y="163996"/>
                      </a:cubicBezTo>
                      <a:cubicBezTo>
                        <a:pt x="305659" y="163996"/>
                        <a:pt x="305659" y="163996"/>
                        <a:pt x="305659" y="164756"/>
                      </a:cubicBezTo>
                      <a:cubicBezTo>
                        <a:pt x="306380" y="166274"/>
                        <a:pt x="306380" y="167034"/>
                        <a:pt x="306380" y="167793"/>
                      </a:cubicBezTo>
                      <a:cubicBezTo>
                        <a:pt x="306380" y="168552"/>
                        <a:pt x="305659" y="169311"/>
                        <a:pt x="304937" y="170071"/>
                      </a:cubicBezTo>
                      <a:cubicBezTo>
                        <a:pt x="304215" y="171589"/>
                        <a:pt x="301329" y="171589"/>
                        <a:pt x="300608" y="169311"/>
                      </a:cubicBezTo>
                      <a:cubicBezTo>
                        <a:pt x="299164" y="168552"/>
                        <a:pt x="297721" y="167034"/>
                        <a:pt x="296278" y="166274"/>
                      </a:cubicBezTo>
                      <a:cubicBezTo>
                        <a:pt x="296278" y="166274"/>
                        <a:pt x="296278" y="166274"/>
                        <a:pt x="295556" y="165515"/>
                      </a:cubicBezTo>
                      <a:cubicBezTo>
                        <a:pt x="294113" y="165515"/>
                        <a:pt x="292670" y="165515"/>
                        <a:pt x="291227" y="166274"/>
                      </a:cubicBezTo>
                      <a:cubicBezTo>
                        <a:pt x="291227" y="166274"/>
                        <a:pt x="291227" y="166274"/>
                        <a:pt x="281125" y="172348"/>
                      </a:cubicBezTo>
                      <a:cubicBezTo>
                        <a:pt x="280403" y="173108"/>
                        <a:pt x="278960" y="174626"/>
                        <a:pt x="277517" y="174626"/>
                      </a:cubicBezTo>
                      <a:cubicBezTo>
                        <a:pt x="276795" y="174626"/>
                        <a:pt x="276073" y="173867"/>
                        <a:pt x="275352" y="173108"/>
                      </a:cubicBezTo>
                      <a:cubicBezTo>
                        <a:pt x="274630" y="171589"/>
                        <a:pt x="274630" y="170830"/>
                        <a:pt x="274630" y="170071"/>
                      </a:cubicBezTo>
                      <a:cubicBezTo>
                        <a:pt x="274630" y="167793"/>
                        <a:pt x="276795" y="167034"/>
                        <a:pt x="276795" y="167034"/>
                      </a:cubicBezTo>
                      <a:cubicBezTo>
                        <a:pt x="276795" y="167034"/>
                        <a:pt x="283289" y="162478"/>
                        <a:pt x="286897" y="159441"/>
                      </a:cubicBezTo>
                      <a:cubicBezTo>
                        <a:pt x="288340" y="158682"/>
                        <a:pt x="289784" y="157922"/>
                        <a:pt x="291948" y="157922"/>
                      </a:cubicBezTo>
                      <a:close/>
                      <a:moveTo>
                        <a:pt x="293070" y="146762"/>
                      </a:moveTo>
                      <a:cubicBezTo>
                        <a:pt x="297320" y="146050"/>
                        <a:pt x="301569" y="147473"/>
                        <a:pt x="305111" y="150320"/>
                      </a:cubicBezTo>
                      <a:cubicBezTo>
                        <a:pt x="307944" y="151743"/>
                        <a:pt x="309360" y="153167"/>
                        <a:pt x="310777" y="155302"/>
                      </a:cubicBezTo>
                      <a:cubicBezTo>
                        <a:pt x="311485" y="156013"/>
                        <a:pt x="312193" y="156013"/>
                        <a:pt x="312902" y="156725"/>
                      </a:cubicBezTo>
                      <a:cubicBezTo>
                        <a:pt x="313610" y="157437"/>
                        <a:pt x="313610" y="158148"/>
                        <a:pt x="313610" y="158860"/>
                      </a:cubicBezTo>
                      <a:cubicBezTo>
                        <a:pt x="314318" y="159572"/>
                        <a:pt x="313610" y="160995"/>
                        <a:pt x="312902" y="161707"/>
                      </a:cubicBezTo>
                      <a:cubicBezTo>
                        <a:pt x="312193" y="162418"/>
                        <a:pt x="310777" y="163130"/>
                        <a:pt x="310069" y="163130"/>
                      </a:cubicBezTo>
                      <a:cubicBezTo>
                        <a:pt x="310069" y="163130"/>
                        <a:pt x="308652" y="162418"/>
                        <a:pt x="307944" y="161707"/>
                      </a:cubicBezTo>
                      <a:cubicBezTo>
                        <a:pt x="305819" y="159572"/>
                        <a:pt x="303694" y="157437"/>
                        <a:pt x="301569" y="155302"/>
                      </a:cubicBezTo>
                      <a:cubicBezTo>
                        <a:pt x="299444" y="154590"/>
                        <a:pt x="295903" y="153167"/>
                        <a:pt x="294486" y="153878"/>
                      </a:cubicBezTo>
                      <a:cubicBezTo>
                        <a:pt x="294486" y="153878"/>
                        <a:pt x="294486" y="153878"/>
                        <a:pt x="293778" y="153878"/>
                      </a:cubicBezTo>
                      <a:cubicBezTo>
                        <a:pt x="292362" y="153878"/>
                        <a:pt x="291653" y="154590"/>
                        <a:pt x="290237" y="155302"/>
                      </a:cubicBezTo>
                      <a:cubicBezTo>
                        <a:pt x="290237" y="155302"/>
                        <a:pt x="290237" y="155302"/>
                        <a:pt x="289529" y="156013"/>
                      </a:cubicBezTo>
                      <a:cubicBezTo>
                        <a:pt x="289529" y="156013"/>
                        <a:pt x="289529" y="156013"/>
                        <a:pt x="288820" y="156013"/>
                      </a:cubicBezTo>
                      <a:cubicBezTo>
                        <a:pt x="283862" y="158860"/>
                        <a:pt x="278904" y="161707"/>
                        <a:pt x="273946" y="165976"/>
                      </a:cubicBezTo>
                      <a:cubicBezTo>
                        <a:pt x="273946" y="165976"/>
                        <a:pt x="273946" y="165976"/>
                        <a:pt x="273946" y="166688"/>
                      </a:cubicBezTo>
                      <a:cubicBezTo>
                        <a:pt x="273946" y="166688"/>
                        <a:pt x="273946" y="166688"/>
                        <a:pt x="271822" y="166688"/>
                      </a:cubicBezTo>
                      <a:cubicBezTo>
                        <a:pt x="271113" y="166688"/>
                        <a:pt x="270405" y="166688"/>
                        <a:pt x="268989" y="165976"/>
                      </a:cubicBezTo>
                      <a:cubicBezTo>
                        <a:pt x="268280" y="165265"/>
                        <a:pt x="268280" y="163842"/>
                        <a:pt x="268280" y="163130"/>
                      </a:cubicBezTo>
                      <a:cubicBezTo>
                        <a:pt x="268280" y="161707"/>
                        <a:pt x="268989" y="160995"/>
                        <a:pt x="270405" y="160283"/>
                      </a:cubicBezTo>
                      <a:cubicBezTo>
                        <a:pt x="274655" y="156725"/>
                        <a:pt x="280321" y="153167"/>
                        <a:pt x="285279" y="150320"/>
                      </a:cubicBezTo>
                      <a:cubicBezTo>
                        <a:pt x="285279" y="149608"/>
                        <a:pt x="285987" y="149608"/>
                        <a:pt x="285987" y="148897"/>
                      </a:cubicBezTo>
                      <a:cubicBezTo>
                        <a:pt x="288112" y="148185"/>
                        <a:pt x="290237" y="146762"/>
                        <a:pt x="293070" y="146762"/>
                      </a:cubicBezTo>
                      <a:close/>
                      <a:moveTo>
                        <a:pt x="294052" y="130885"/>
                      </a:moveTo>
                      <a:cubicBezTo>
                        <a:pt x="298308" y="130175"/>
                        <a:pt x="305401" y="131596"/>
                        <a:pt x="310366" y="135147"/>
                      </a:cubicBezTo>
                      <a:cubicBezTo>
                        <a:pt x="315332" y="137987"/>
                        <a:pt x="318878" y="142249"/>
                        <a:pt x="322425" y="145800"/>
                      </a:cubicBezTo>
                      <a:cubicBezTo>
                        <a:pt x="323843" y="146510"/>
                        <a:pt x="323843" y="148641"/>
                        <a:pt x="321715" y="150771"/>
                      </a:cubicBezTo>
                      <a:cubicBezTo>
                        <a:pt x="321006" y="151481"/>
                        <a:pt x="320297" y="151481"/>
                        <a:pt x="319587" y="151481"/>
                      </a:cubicBezTo>
                      <a:cubicBezTo>
                        <a:pt x="318878" y="151481"/>
                        <a:pt x="318169" y="151481"/>
                        <a:pt x="317459" y="150771"/>
                      </a:cubicBezTo>
                      <a:cubicBezTo>
                        <a:pt x="316750" y="150061"/>
                        <a:pt x="315332" y="148641"/>
                        <a:pt x="314622" y="147930"/>
                      </a:cubicBezTo>
                      <a:cubicBezTo>
                        <a:pt x="311785" y="145090"/>
                        <a:pt x="309657" y="142959"/>
                        <a:pt x="306820" y="140828"/>
                      </a:cubicBezTo>
                      <a:cubicBezTo>
                        <a:pt x="303983" y="138698"/>
                        <a:pt x="298308" y="137277"/>
                        <a:pt x="294052" y="137277"/>
                      </a:cubicBezTo>
                      <a:cubicBezTo>
                        <a:pt x="291924" y="137987"/>
                        <a:pt x="288378" y="139408"/>
                        <a:pt x="286959" y="140118"/>
                      </a:cubicBezTo>
                      <a:cubicBezTo>
                        <a:pt x="286959" y="140118"/>
                        <a:pt x="286250" y="140828"/>
                        <a:pt x="286250" y="140828"/>
                      </a:cubicBezTo>
                      <a:cubicBezTo>
                        <a:pt x="285541" y="140828"/>
                        <a:pt x="269936" y="150771"/>
                        <a:pt x="262843" y="157163"/>
                      </a:cubicBezTo>
                      <a:cubicBezTo>
                        <a:pt x="262843" y="157163"/>
                        <a:pt x="262843" y="157163"/>
                        <a:pt x="262133" y="157163"/>
                      </a:cubicBezTo>
                      <a:cubicBezTo>
                        <a:pt x="262133" y="157163"/>
                        <a:pt x="262133" y="157163"/>
                        <a:pt x="260715" y="157163"/>
                      </a:cubicBezTo>
                      <a:cubicBezTo>
                        <a:pt x="259296" y="157163"/>
                        <a:pt x="258587" y="157163"/>
                        <a:pt x="257878" y="156453"/>
                      </a:cubicBezTo>
                      <a:cubicBezTo>
                        <a:pt x="257878" y="155743"/>
                        <a:pt x="257168" y="155032"/>
                        <a:pt x="257168" y="155032"/>
                      </a:cubicBezTo>
                      <a:cubicBezTo>
                        <a:pt x="257168" y="153612"/>
                        <a:pt x="257878" y="152192"/>
                        <a:pt x="258587" y="151481"/>
                      </a:cubicBezTo>
                      <a:cubicBezTo>
                        <a:pt x="267099" y="144379"/>
                        <a:pt x="274901" y="139408"/>
                        <a:pt x="282703" y="134436"/>
                      </a:cubicBezTo>
                      <a:cubicBezTo>
                        <a:pt x="282703" y="134436"/>
                        <a:pt x="282703" y="134436"/>
                        <a:pt x="283413" y="134436"/>
                      </a:cubicBezTo>
                      <a:cubicBezTo>
                        <a:pt x="283413" y="134436"/>
                        <a:pt x="283413" y="134436"/>
                        <a:pt x="284122" y="133726"/>
                      </a:cubicBezTo>
                      <a:cubicBezTo>
                        <a:pt x="286959" y="132306"/>
                        <a:pt x="289796" y="130885"/>
                        <a:pt x="294052" y="130885"/>
                      </a:cubicBezTo>
                      <a:close/>
                      <a:moveTo>
                        <a:pt x="300532" y="90488"/>
                      </a:moveTo>
                      <a:cubicBezTo>
                        <a:pt x="301952" y="90488"/>
                        <a:pt x="302663" y="90488"/>
                        <a:pt x="303373" y="91203"/>
                      </a:cubicBezTo>
                      <a:cubicBezTo>
                        <a:pt x="303373" y="91203"/>
                        <a:pt x="303373" y="91203"/>
                        <a:pt x="303373" y="91917"/>
                      </a:cubicBezTo>
                      <a:cubicBezTo>
                        <a:pt x="304793" y="93346"/>
                        <a:pt x="304793" y="95489"/>
                        <a:pt x="303373" y="96203"/>
                      </a:cubicBezTo>
                      <a:cubicBezTo>
                        <a:pt x="291299" y="109062"/>
                        <a:pt x="276385" y="124064"/>
                        <a:pt x="255790" y="133351"/>
                      </a:cubicBezTo>
                      <a:lnTo>
                        <a:pt x="255079" y="133351"/>
                      </a:lnTo>
                      <a:cubicBezTo>
                        <a:pt x="255079" y="133351"/>
                        <a:pt x="255079" y="133351"/>
                        <a:pt x="254369" y="133351"/>
                      </a:cubicBezTo>
                      <a:cubicBezTo>
                        <a:pt x="253659" y="133351"/>
                        <a:pt x="251528" y="133351"/>
                        <a:pt x="251528" y="131208"/>
                      </a:cubicBezTo>
                      <a:cubicBezTo>
                        <a:pt x="250818" y="131208"/>
                        <a:pt x="250818" y="130494"/>
                        <a:pt x="250818" y="130494"/>
                      </a:cubicBezTo>
                      <a:cubicBezTo>
                        <a:pt x="250818" y="129065"/>
                        <a:pt x="251528" y="128350"/>
                        <a:pt x="252239" y="127636"/>
                      </a:cubicBezTo>
                      <a:cubicBezTo>
                        <a:pt x="252239" y="127636"/>
                        <a:pt x="252239" y="127636"/>
                        <a:pt x="252949" y="126922"/>
                      </a:cubicBezTo>
                      <a:cubicBezTo>
                        <a:pt x="270704" y="119778"/>
                        <a:pt x="284198" y="106919"/>
                        <a:pt x="295561" y="94774"/>
                      </a:cubicBezTo>
                      <a:cubicBezTo>
                        <a:pt x="295561" y="94774"/>
                        <a:pt x="295561" y="94774"/>
                        <a:pt x="298401" y="91917"/>
                      </a:cubicBezTo>
                      <a:cubicBezTo>
                        <a:pt x="299112" y="91203"/>
                        <a:pt x="299822" y="91203"/>
                        <a:pt x="300532" y="90488"/>
                      </a:cubicBezTo>
                      <a:close/>
                      <a:moveTo>
                        <a:pt x="302561" y="76200"/>
                      </a:moveTo>
                      <a:cubicBezTo>
                        <a:pt x="304694" y="76200"/>
                        <a:pt x="310383" y="76928"/>
                        <a:pt x="313938" y="81293"/>
                      </a:cubicBezTo>
                      <a:cubicBezTo>
                        <a:pt x="315360" y="82749"/>
                        <a:pt x="316071" y="85659"/>
                        <a:pt x="316782" y="88569"/>
                      </a:cubicBezTo>
                      <a:cubicBezTo>
                        <a:pt x="317493" y="96573"/>
                        <a:pt x="313938" y="105304"/>
                        <a:pt x="308249" y="112580"/>
                      </a:cubicBezTo>
                      <a:cubicBezTo>
                        <a:pt x="302561" y="118401"/>
                        <a:pt x="296161" y="122767"/>
                        <a:pt x="289761" y="127132"/>
                      </a:cubicBezTo>
                      <a:cubicBezTo>
                        <a:pt x="289761" y="127132"/>
                        <a:pt x="289761" y="127132"/>
                        <a:pt x="259896" y="145323"/>
                      </a:cubicBezTo>
                      <a:cubicBezTo>
                        <a:pt x="259896" y="146050"/>
                        <a:pt x="259185" y="146050"/>
                        <a:pt x="258474" y="146050"/>
                      </a:cubicBezTo>
                      <a:cubicBezTo>
                        <a:pt x="257052" y="146050"/>
                        <a:pt x="256341" y="145323"/>
                        <a:pt x="255630" y="144595"/>
                      </a:cubicBezTo>
                      <a:cubicBezTo>
                        <a:pt x="255630" y="144595"/>
                        <a:pt x="255630" y="144595"/>
                        <a:pt x="255630" y="143867"/>
                      </a:cubicBezTo>
                      <a:cubicBezTo>
                        <a:pt x="254208" y="142412"/>
                        <a:pt x="254919" y="140229"/>
                        <a:pt x="256341" y="139502"/>
                      </a:cubicBezTo>
                      <a:cubicBezTo>
                        <a:pt x="256341" y="139502"/>
                        <a:pt x="256341" y="139502"/>
                        <a:pt x="256341" y="138774"/>
                      </a:cubicBezTo>
                      <a:cubicBezTo>
                        <a:pt x="256341" y="138774"/>
                        <a:pt x="256341" y="138774"/>
                        <a:pt x="287628" y="119129"/>
                      </a:cubicBezTo>
                      <a:cubicBezTo>
                        <a:pt x="293317" y="116218"/>
                        <a:pt x="299005" y="112580"/>
                        <a:pt x="302561" y="107487"/>
                      </a:cubicBezTo>
                      <a:cubicBezTo>
                        <a:pt x="307538" y="101666"/>
                        <a:pt x="310383" y="95118"/>
                        <a:pt x="309671" y="89297"/>
                      </a:cubicBezTo>
                      <a:cubicBezTo>
                        <a:pt x="309671" y="87842"/>
                        <a:pt x="308960" y="87114"/>
                        <a:pt x="308960" y="85659"/>
                      </a:cubicBezTo>
                      <a:cubicBezTo>
                        <a:pt x="307538" y="84204"/>
                        <a:pt x="303983" y="84204"/>
                        <a:pt x="302561" y="84204"/>
                      </a:cubicBezTo>
                      <a:cubicBezTo>
                        <a:pt x="293317" y="84204"/>
                        <a:pt x="285495" y="92935"/>
                        <a:pt x="280517" y="99483"/>
                      </a:cubicBezTo>
                      <a:cubicBezTo>
                        <a:pt x="280517" y="99483"/>
                        <a:pt x="280517" y="99483"/>
                        <a:pt x="279806" y="99483"/>
                      </a:cubicBezTo>
                      <a:cubicBezTo>
                        <a:pt x="272696" y="108215"/>
                        <a:pt x="264163" y="116218"/>
                        <a:pt x="253497" y="118401"/>
                      </a:cubicBezTo>
                      <a:cubicBezTo>
                        <a:pt x="252075" y="118401"/>
                        <a:pt x="249941" y="116946"/>
                        <a:pt x="249230" y="115491"/>
                      </a:cubicBezTo>
                      <a:cubicBezTo>
                        <a:pt x="249230" y="115491"/>
                        <a:pt x="249230" y="115491"/>
                        <a:pt x="249230" y="114763"/>
                      </a:cubicBezTo>
                      <a:cubicBezTo>
                        <a:pt x="249230" y="112580"/>
                        <a:pt x="250652" y="111125"/>
                        <a:pt x="252075" y="111125"/>
                      </a:cubicBezTo>
                      <a:cubicBezTo>
                        <a:pt x="260607" y="108942"/>
                        <a:pt x="267718" y="101666"/>
                        <a:pt x="274118" y="95118"/>
                      </a:cubicBezTo>
                      <a:cubicBezTo>
                        <a:pt x="274118" y="95118"/>
                        <a:pt x="274118" y="95118"/>
                        <a:pt x="274829" y="94390"/>
                      </a:cubicBezTo>
                      <a:cubicBezTo>
                        <a:pt x="281229" y="87114"/>
                        <a:pt x="291184" y="76928"/>
                        <a:pt x="302561" y="76200"/>
                      </a:cubicBezTo>
                      <a:close/>
                      <a:moveTo>
                        <a:pt x="305171" y="67214"/>
                      </a:moveTo>
                      <a:cubicBezTo>
                        <a:pt x="307269" y="67214"/>
                        <a:pt x="307968" y="68632"/>
                        <a:pt x="307968" y="70758"/>
                      </a:cubicBezTo>
                      <a:cubicBezTo>
                        <a:pt x="307968" y="70758"/>
                        <a:pt x="307968" y="70758"/>
                        <a:pt x="307968" y="71467"/>
                      </a:cubicBezTo>
                      <a:cubicBezTo>
                        <a:pt x="307269" y="73593"/>
                        <a:pt x="305870" y="74301"/>
                        <a:pt x="304472" y="74301"/>
                      </a:cubicBezTo>
                      <a:cubicBezTo>
                        <a:pt x="295382" y="72884"/>
                        <a:pt x="284893" y="77845"/>
                        <a:pt x="278599" y="82806"/>
                      </a:cubicBezTo>
                      <a:cubicBezTo>
                        <a:pt x="277201" y="84223"/>
                        <a:pt x="275802" y="85641"/>
                        <a:pt x="274404" y="87767"/>
                      </a:cubicBezTo>
                      <a:cubicBezTo>
                        <a:pt x="273005" y="89184"/>
                        <a:pt x="271607" y="90602"/>
                        <a:pt x="270208" y="92019"/>
                      </a:cubicBezTo>
                      <a:cubicBezTo>
                        <a:pt x="269509" y="92728"/>
                        <a:pt x="268810" y="93437"/>
                        <a:pt x="268110" y="94145"/>
                      </a:cubicBezTo>
                      <a:cubicBezTo>
                        <a:pt x="267411" y="95563"/>
                        <a:pt x="266712" y="96272"/>
                        <a:pt x="266013" y="96980"/>
                      </a:cubicBezTo>
                      <a:cubicBezTo>
                        <a:pt x="266013" y="96980"/>
                        <a:pt x="266013" y="96980"/>
                        <a:pt x="265313" y="97689"/>
                      </a:cubicBezTo>
                      <a:cubicBezTo>
                        <a:pt x="262516" y="99815"/>
                        <a:pt x="259020" y="102650"/>
                        <a:pt x="254125" y="104776"/>
                      </a:cubicBezTo>
                      <a:cubicBezTo>
                        <a:pt x="254125" y="104776"/>
                        <a:pt x="254125" y="104776"/>
                        <a:pt x="252727" y="104776"/>
                      </a:cubicBezTo>
                      <a:cubicBezTo>
                        <a:pt x="252027" y="104776"/>
                        <a:pt x="249930" y="104776"/>
                        <a:pt x="249930" y="102650"/>
                      </a:cubicBezTo>
                      <a:cubicBezTo>
                        <a:pt x="249230" y="101941"/>
                        <a:pt x="249230" y="100524"/>
                        <a:pt x="249930" y="99815"/>
                      </a:cubicBezTo>
                      <a:cubicBezTo>
                        <a:pt x="249930" y="99106"/>
                        <a:pt x="250629" y="98398"/>
                        <a:pt x="251328" y="98398"/>
                      </a:cubicBezTo>
                      <a:cubicBezTo>
                        <a:pt x="255524" y="96272"/>
                        <a:pt x="258321" y="94145"/>
                        <a:pt x="261118" y="92019"/>
                      </a:cubicBezTo>
                      <a:cubicBezTo>
                        <a:pt x="261817" y="89893"/>
                        <a:pt x="263215" y="89184"/>
                        <a:pt x="265313" y="87058"/>
                      </a:cubicBezTo>
                      <a:cubicBezTo>
                        <a:pt x="267411" y="84223"/>
                        <a:pt x="270907" y="80680"/>
                        <a:pt x="274404" y="77845"/>
                      </a:cubicBezTo>
                      <a:cubicBezTo>
                        <a:pt x="279299" y="72884"/>
                        <a:pt x="291885" y="65088"/>
                        <a:pt x="305171" y="67214"/>
                      </a:cubicBezTo>
                      <a:close/>
                      <a:moveTo>
                        <a:pt x="302303" y="53838"/>
                      </a:moveTo>
                      <a:cubicBezTo>
                        <a:pt x="312241" y="55289"/>
                        <a:pt x="320049" y="61815"/>
                        <a:pt x="325728" y="71242"/>
                      </a:cubicBezTo>
                      <a:cubicBezTo>
                        <a:pt x="329987" y="78494"/>
                        <a:pt x="333537" y="92997"/>
                        <a:pt x="334956" y="106775"/>
                      </a:cubicBezTo>
                      <a:cubicBezTo>
                        <a:pt x="334956" y="108951"/>
                        <a:pt x="332827" y="111126"/>
                        <a:pt x="331407" y="111126"/>
                      </a:cubicBezTo>
                      <a:cubicBezTo>
                        <a:pt x="331407" y="111126"/>
                        <a:pt x="331407" y="111126"/>
                        <a:pt x="330697" y="111126"/>
                      </a:cubicBezTo>
                      <a:cubicBezTo>
                        <a:pt x="329277" y="111126"/>
                        <a:pt x="327858" y="109676"/>
                        <a:pt x="327858" y="107500"/>
                      </a:cubicBezTo>
                      <a:cubicBezTo>
                        <a:pt x="326438" y="94447"/>
                        <a:pt x="322889" y="81395"/>
                        <a:pt x="319339" y="74868"/>
                      </a:cubicBezTo>
                      <a:cubicBezTo>
                        <a:pt x="315080" y="67616"/>
                        <a:pt x="307982" y="61815"/>
                        <a:pt x="301593" y="61090"/>
                      </a:cubicBezTo>
                      <a:cubicBezTo>
                        <a:pt x="296624" y="59640"/>
                        <a:pt x="291655" y="60365"/>
                        <a:pt x="285266" y="62540"/>
                      </a:cubicBezTo>
                      <a:cubicBezTo>
                        <a:pt x="272488" y="67616"/>
                        <a:pt x="261131" y="77769"/>
                        <a:pt x="254742" y="90096"/>
                      </a:cubicBezTo>
                      <a:cubicBezTo>
                        <a:pt x="254742" y="90096"/>
                        <a:pt x="254742" y="90096"/>
                        <a:pt x="254032" y="90096"/>
                      </a:cubicBezTo>
                      <a:cubicBezTo>
                        <a:pt x="253322" y="91547"/>
                        <a:pt x="251193" y="92272"/>
                        <a:pt x="249773" y="90822"/>
                      </a:cubicBezTo>
                      <a:cubicBezTo>
                        <a:pt x="249773" y="90822"/>
                        <a:pt x="249773" y="90822"/>
                        <a:pt x="249063" y="90822"/>
                      </a:cubicBezTo>
                      <a:cubicBezTo>
                        <a:pt x="248353" y="89371"/>
                        <a:pt x="247643" y="87921"/>
                        <a:pt x="248353" y="85746"/>
                      </a:cubicBezTo>
                      <a:cubicBezTo>
                        <a:pt x="256162" y="72693"/>
                        <a:pt x="268229" y="61090"/>
                        <a:pt x="282426" y="55289"/>
                      </a:cubicBezTo>
                      <a:cubicBezTo>
                        <a:pt x="290235" y="53113"/>
                        <a:pt x="296624" y="52388"/>
                        <a:pt x="302303" y="53838"/>
                      </a:cubicBezTo>
                      <a:close/>
                      <a:moveTo>
                        <a:pt x="292132" y="0"/>
                      </a:moveTo>
                      <a:cubicBezTo>
                        <a:pt x="339336" y="0"/>
                        <a:pt x="377958" y="38624"/>
                        <a:pt x="377958" y="85832"/>
                      </a:cubicBezTo>
                      <a:cubicBezTo>
                        <a:pt x="377958" y="85832"/>
                        <a:pt x="377958" y="85832"/>
                        <a:pt x="377958" y="160934"/>
                      </a:cubicBezTo>
                      <a:cubicBezTo>
                        <a:pt x="377958" y="160934"/>
                        <a:pt x="377958" y="160934"/>
                        <a:pt x="377958" y="220301"/>
                      </a:cubicBezTo>
                      <a:cubicBezTo>
                        <a:pt x="377958" y="220301"/>
                        <a:pt x="377958" y="220301"/>
                        <a:pt x="377958" y="297549"/>
                      </a:cubicBezTo>
                      <a:cubicBezTo>
                        <a:pt x="387256" y="291827"/>
                        <a:pt x="397984" y="288966"/>
                        <a:pt x="409427" y="288966"/>
                      </a:cubicBezTo>
                      <a:cubicBezTo>
                        <a:pt x="409427" y="288966"/>
                        <a:pt x="409427" y="288966"/>
                        <a:pt x="455201" y="288966"/>
                      </a:cubicBezTo>
                      <a:cubicBezTo>
                        <a:pt x="485240" y="288966"/>
                        <a:pt x="510988" y="310424"/>
                        <a:pt x="516710" y="339749"/>
                      </a:cubicBezTo>
                      <a:cubicBezTo>
                        <a:pt x="526008" y="333312"/>
                        <a:pt x="537451" y="330451"/>
                        <a:pt x="549610" y="330451"/>
                      </a:cubicBezTo>
                      <a:cubicBezTo>
                        <a:pt x="549610" y="330451"/>
                        <a:pt x="549610" y="330451"/>
                        <a:pt x="595384" y="330451"/>
                      </a:cubicBezTo>
                      <a:cubicBezTo>
                        <a:pt x="624708" y="330451"/>
                        <a:pt x="649740" y="351194"/>
                        <a:pt x="656177" y="379089"/>
                      </a:cubicBezTo>
                      <a:cubicBezTo>
                        <a:pt x="666190" y="372651"/>
                        <a:pt x="677634" y="369075"/>
                        <a:pt x="689792" y="369075"/>
                      </a:cubicBezTo>
                      <a:cubicBezTo>
                        <a:pt x="689792" y="369075"/>
                        <a:pt x="689792" y="369075"/>
                        <a:pt x="735566" y="369075"/>
                      </a:cubicBezTo>
                      <a:cubicBezTo>
                        <a:pt x="769897" y="369075"/>
                        <a:pt x="798505" y="397686"/>
                        <a:pt x="798505" y="432018"/>
                      </a:cubicBezTo>
                      <a:cubicBezTo>
                        <a:pt x="798505" y="432018"/>
                        <a:pt x="798505" y="432018"/>
                        <a:pt x="798505" y="701672"/>
                      </a:cubicBezTo>
                      <a:cubicBezTo>
                        <a:pt x="798505" y="771052"/>
                        <a:pt x="775618" y="834710"/>
                        <a:pt x="729129" y="895508"/>
                      </a:cubicBezTo>
                      <a:cubicBezTo>
                        <a:pt x="723407" y="886209"/>
                        <a:pt x="714825" y="879057"/>
                        <a:pt x="704812" y="875480"/>
                      </a:cubicBezTo>
                      <a:cubicBezTo>
                        <a:pt x="767036" y="793940"/>
                        <a:pt x="767036" y="725275"/>
                        <a:pt x="767036" y="701672"/>
                      </a:cubicBezTo>
                      <a:cubicBezTo>
                        <a:pt x="767036" y="701672"/>
                        <a:pt x="767036" y="701672"/>
                        <a:pt x="767036" y="432018"/>
                      </a:cubicBezTo>
                      <a:cubicBezTo>
                        <a:pt x="767036" y="414852"/>
                        <a:pt x="752731" y="400547"/>
                        <a:pt x="735566" y="400547"/>
                      </a:cubicBezTo>
                      <a:cubicBezTo>
                        <a:pt x="735566" y="400547"/>
                        <a:pt x="735566" y="400547"/>
                        <a:pt x="689792" y="400547"/>
                      </a:cubicBezTo>
                      <a:cubicBezTo>
                        <a:pt x="671912" y="400547"/>
                        <a:pt x="658323" y="414852"/>
                        <a:pt x="658323" y="432018"/>
                      </a:cubicBezTo>
                      <a:cubicBezTo>
                        <a:pt x="658323" y="432018"/>
                        <a:pt x="658323" y="432018"/>
                        <a:pt x="658323" y="494246"/>
                      </a:cubicBezTo>
                      <a:cubicBezTo>
                        <a:pt x="658323" y="503544"/>
                        <a:pt x="651171" y="509982"/>
                        <a:pt x="642588" y="509982"/>
                      </a:cubicBezTo>
                      <a:cubicBezTo>
                        <a:pt x="634005" y="509982"/>
                        <a:pt x="626853" y="503544"/>
                        <a:pt x="626853" y="494246"/>
                      </a:cubicBezTo>
                      <a:cubicBezTo>
                        <a:pt x="626853" y="494246"/>
                        <a:pt x="626853" y="494246"/>
                        <a:pt x="626853" y="432018"/>
                      </a:cubicBezTo>
                      <a:cubicBezTo>
                        <a:pt x="626853" y="429157"/>
                        <a:pt x="626853" y="426296"/>
                        <a:pt x="627568" y="422720"/>
                      </a:cubicBezTo>
                      <a:cubicBezTo>
                        <a:pt x="626853" y="421289"/>
                        <a:pt x="626853" y="419859"/>
                        <a:pt x="626853" y="418428"/>
                      </a:cubicBezTo>
                      <a:cubicBezTo>
                        <a:pt x="626853" y="418428"/>
                        <a:pt x="626853" y="418428"/>
                        <a:pt x="626853" y="393394"/>
                      </a:cubicBezTo>
                      <a:cubicBezTo>
                        <a:pt x="626853" y="375512"/>
                        <a:pt x="612549" y="361922"/>
                        <a:pt x="595384" y="361922"/>
                      </a:cubicBezTo>
                      <a:cubicBezTo>
                        <a:pt x="595384" y="361922"/>
                        <a:pt x="595384" y="361922"/>
                        <a:pt x="549610" y="361922"/>
                      </a:cubicBezTo>
                      <a:cubicBezTo>
                        <a:pt x="531729" y="361922"/>
                        <a:pt x="518140" y="375512"/>
                        <a:pt x="518140" y="393394"/>
                      </a:cubicBezTo>
                      <a:cubicBezTo>
                        <a:pt x="518140" y="393394"/>
                        <a:pt x="518140" y="393394"/>
                        <a:pt x="518140" y="405553"/>
                      </a:cubicBezTo>
                      <a:cubicBezTo>
                        <a:pt x="518140" y="405553"/>
                        <a:pt x="518140" y="405553"/>
                        <a:pt x="518140" y="475649"/>
                      </a:cubicBezTo>
                      <a:cubicBezTo>
                        <a:pt x="518140" y="484232"/>
                        <a:pt x="510988" y="491385"/>
                        <a:pt x="502406" y="491385"/>
                      </a:cubicBezTo>
                      <a:cubicBezTo>
                        <a:pt x="493823" y="491385"/>
                        <a:pt x="486671" y="484232"/>
                        <a:pt x="486671" y="475649"/>
                      </a:cubicBezTo>
                      <a:cubicBezTo>
                        <a:pt x="486671" y="475649"/>
                        <a:pt x="486671" y="475649"/>
                        <a:pt x="486671" y="405553"/>
                      </a:cubicBezTo>
                      <a:cubicBezTo>
                        <a:pt x="486671" y="405553"/>
                        <a:pt x="486671" y="405553"/>
                        <a:pt x="486671" y="393394"/>
                      </a:cubicBezTo>
                      <a:cubicBezTo>
                        <a:pt x="486671" y="393394"/>
                        <a:pt x="486671" y="393394"/>
                        <a:pt x="486671" y="351909"/>
                      </a:cubicBezTo>
                      <a:cubicBezTo>
                        <a:pt x="486671" y="334743"/>
                        <a:pt x="472367" y="320437"/>
                        <a:pt x="455201" y="320437"/>
                      </a:cubicBezTo>
                      <a:cubicBezTo>
                        <a:pt x="455201" y="320437"/>
                        <a:pt x="455201" y="320437"/>
                        <a:pt x="409427" y="320437"/>
                      </a:cubicBezTo>
                      <a:cubicBezTo>
                        <a:pt x="391547" y="320437"/>
                        <a:pt x="377958" y="334743"/>
                        <a:pt x="377958" y="351909"/>
                      </a:cubicBezTo>
                      <a:cubicBezTo>
                        <a:pt x="377958" y="351909"/>
                        <a:pt x="377958" y="351909"/>
                        <a:pt x="377958" y="454906"/>
                      </a:cubicBezTo>
                      <a:cubicBezTo>
                        <a:pt x="377958" y="454906"/>
                        <a:pt x="377958" y="454906"/>
                        <a:pt x="377958" y="462774"/>
                      </a:cubicBezTo>
                      <a:cubicBezTo>
                        <a:pt x="377958" y="471358"/>
                        <a:pt x="370806" y="478510"/>
                        <a:pt x="362223" y="478510"/>
                      </a:cubicBezTo>
                      <a:cubicBezTo>
                        <a:pt x="353641" y="478510"/>
                        <a:pt x="346488" y="471358"/>
                        <a:pt x="346488" y="462774"/>
                      </a:cubicBezTo>
                      <a:cubicBezTo>
                        <a:pt x="346488" y="462774"/>
                        <a:pt x="346488" y="462774"/>
                        <a:pt x="346488" y="454906"/>
                      </a:cubicBezTo>
                      <a:cubicBezTo>
                        <a:pt x="346488" y="454906"/>
                        <a:pt x="346488" y="454906"/>
                        <a:pt x="346488" y="351909"/>
                      </a:cubicBezTo>
                      <a:cubicBezTo>
                        <a:pt x="346488" y="351909"/>
                        <a:pt x="346488" y="351909"/>
                        <a:pt x="346488" y="238182"/>
                      </a:cubicBezTo>
                      <a:cubicBezTo>
                        <a:pt x="346488" y="238182"/>
                        <a:pt x="346488" y="238182"/>
                        <a:pt x="346488" y="175239"/>
                      </a:cubicBezTo>
                      <a:cubicBezTo>
                        <a:pt x="346488" y="175239"/>
                        <a:pt x="346488" y="175239"/>
                        <a:pt x="346488" y="85832"/>
                      </a:cubicBezTo>
                      <a:cubicBezTo>
                        <a:pt x="346488" y="55791"/>
                        <a:pt x="322171" y="31472"/>
                        <a:pt x="292132" y="31472"/>
                      </a:cubicBezTo>
                      <a:cubicBezTo>
                        <a:pt x="262093" y="31472"/>
                        <a:pt x="237776" y="55791"/>
                        <a:pt x="237776" y="85832"/>
                      </a:cubicBezTo>
                      <a:cubicBezTo>
                        <a:pt x="237776" y="85832"/>
                        <a:pt x="237776" y="85832"/>
                        <a:pt x="237776" y="175954"/>
                      </a:cubicBezTo>
                      <a:cubicBezTo>
                        <a:pt x="237776" y="175954"/>
                        <a:pt x="237776" y="175954"/>
                        <a:pt x="237776" y="238897"/>
                      </a:cubicBezTo>
                      <a:cubicBezTo>
                        <a:pt x="237776" y="238897"/>
                        <a:pt x="237776" y="238897"/>
                        <a:pt x="237776" y="603681"/>
                      </a:cubicBezTo>
                      <a:cubicBezTo>
                        <a:pt x="237776" y="610118"/>
                        <a:pt x="232769" y="616556"/>
                        <a:pt x="226332" y="618701"/>
                      </a:cubicBezTo>
                      <a:cubicBezTo>
                        <a:pt x="219895" y="620847"/>
                        <a:pt x="212743" y="617986"/>
                        <a:pt x="209167" y="612264"/>
                      </a:cubicBezTo>
                      <a:cubicBezTo>
                        <a:pt x="209167" y="612264"/>
                        <a:pt x="209167" y="612264"/>
                        <a:pt x="128347" y="497107"/>
                      </a:cubicBezTo>
                      <a:cubicBezTo>
                        <a:pt x="111897" y="474934"/>
                        <a:pt x="80428" y="467781"/>
                        <a:pt x="56826" y="482802"/>
                      </a:cubicBezTo>
                      <a:cubicBezTo>
                        <a:pt x="32508" y="497107"/>
                        <a:pt x="24641" y="528578"/>
                        <a:pt x="37515" y="553613"/>
                      </a:cubicBezTo>
                      <a:cubicBezTo>
                        <a:pt x="37515" y="553613"/>
                        <a:pt x="37515" y="553613"/>
                        <a:pt x="212028" y="876196"/>
                      </a:cubicBezTo>
                      <a:cubicBezTo>
                        <a:pt x="202015" y="879772"/>
                        <a:pt x="192717" y="887640"/>
                        <a:pt x="187710" y="896938"/>
                      </a:cubicBezTo>
                      <a:cubicBezTo>
                        <a:pt x="187710" y="896938"/>
                        <a:pt x="187710" y="896938"/>
                        <a:pt x="10337" y="567918"/>
                      </a:cubicBezTo>
                      <a:cubicBezTo>
                        <a:pt x="-11120" y="528578"/>
                        <a:pt x="1754" y="479225"/>
                        <a:pt x="40376" y="455622"/>
                      </a:cubicBezTo>
                      <a:cubicBezTo>
                        <a:pt x="78282" y="432733"/>
                        <a:pt x="128347" y="442747"/>
                        <a:pt x="154095" y="479225"/>
                      </a:cubicBezTo>
                      <a:cubicBezTo>
                        <a:pt x="154095" y="479225"/>
                        <a:pt x="154095" y="479225"/>
                        <a:pt x="206306" y="553613"/>
                      </a:cubicBezTo>
                      <a:cubicBezTo>
                        <a:pt x="206306" y="553613"/>
                        <a:pt x="206306" y="553613"/>
                        <a:pt x="206306" y="221016"/>
                      </a:cubicBezTo>
                      <a:cubicBezTo>
                        <a:pt x="206306" y="221016"/>
                        <a:pt x="206306" y="221016"/>
                        <a:pt x="206306" y="161649"/>
                      </a:cubicBezTo>
                      <a:cubicBezTo>
                        <a:pt x="206306" y="161649"/>
                        <a:pt x="206306" y="161649"/>
                        <a:pt x="206306" y="85832"/>
                      </a:cubicBezTo>
                      <a:cubicBezTo>
                        <a:pt x="206306" y="38624"/>
                        <a:pt x="244928" y="0"/>
                        <a:pt x="292132"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sym typeface="+mn-lt"/>
                  </a:endParaRPr>
                </a:p>
              </p:txBody>
            </p:sp>
          </p:grpSp>
        </p:grpSp>
      </p:grpSp>
      <p:sp>
        <p:nvSpPr>
          <p:cNvPr id="16" name="object 4">
            <a:extLst>
              <a:ext uri="{FF2B5EF4-FFF2-40B4-BE49-F238E27FC236}">
                <a16:creationId xmlns:a16="http://schemas.microsoft.com/office/drawing/2014/main" id="{E8F03550-50FC-47D2-B1A6-4BB0A51EB387}"/>
              </a:ext>
            </a:extLst>
          </p:cNvPr>
          <p:cNvSpPr txBox="1">
            <a:spLocks/>
          </p:cNvSpPr>
          <p:nvPr/>
        </p:nvSpPr>
        <p:spPr>
          <a:xfrm>
            <a:off x="1232845" y="5020620"/>
            <a:ext cx="4392795" cy="225135"/>
          </a:xfrm>
          <a:prstGeom prst="rect">
            <a:avLst/>
          </a:prstGeom>
        </p:spPr>
        <p:txBody>
          <a:bodyPr vert="horz" wrap="square" lIns="0" tIns="9598" rIns="0" bIns="0" rtlCol="0">
            <a:spAutoFit/>
          </a:bodyPr>
          <a:lstStyle>
            <a:lvl1pPr marL="0" indent="0" algn="l" defTabSz="914400" rtl="0" eaLnBrk="1" latinLnBrk="0" hangingPunct="1">
              <a:lnSpc>
                <a:spcPct val="110000"/>
              </a:lnSpc>
              <a:spcBef>
                <a:spcPts val="600"/>
              </a:spcBef>
              <a:spcAft>
                <a:spcPts val="300"/>
              </a:spcAft>
              <a:buClr>
                <a:srgbClr val="DC0532"/>
              </a:buClr>
              <a:buFont typeface="Arial" panose="020B0604020202020204" pitchFamily="34" charset="0"/>
              <a:buChar char="​"/>
              <a:defRPr lang="en-US" sz="1600" b="0" i="0" kern="1200">
                <a:solidFill>
                  <a:srgbClr val="565656"/>
                </a:solidFill>
                <a:latin typeface="Trebuchet MS"/>
                <a:ea typeface="+mn-ea"/>
                <a:cs typeface="Trebuchet MS"/>
                <a:sym typeface="+mn-lt"/>
              </a:defRPr>
            </a:lvl1pPr>
            <a:lvl2pPr marL="284400" indent="-172800" algn="l" defTabSz="914400" rtl="0" eaLnBrk="1" latinLnBrk="0" hangingPunct="1">
              <a:lnSpc>
                <a:spcPct val="90000"/>
              </a:lnSpc>
              <a:spcBef>
                <a:spcPts val="0"/>
              </a:spcBef>
              <a:spcAft>
                <a:spcPts val="300"/>
              </a:spcAft>
              <a:buClr>
                <a:srgbClr val="DC0532"/>
              </a:buClr>
              <a:buFont typeface="Arial" panose="020B0604020202020204" pitchFamily="34" charset="0"/>
              <a:buChar char="•"/>
              <a:defRPr lang="en-US" sz="1200" kern="1200">
                <a:solidFill>
                  <a:srgbClr val="4D4D4D"/>
                </a:solidFill>
                <a:latin typeface="+mn-lt"/>
                <a:ea typeface="+mn-ea"/>
                <a:cs typeface="+mn-cs"/>
                <a:sym typeface="+mn-lt"/>
              </a:defRPr>
            </a:lvl2pPr>
            <a:lvl3pPr marL="511200" indent="-165600" algn="l" defTabSz="914400" rtl="0" eaLnBrk="1" latinLnBrk="0" hangingPunct="1">
              <a:lnSpc>
                <a:spcPct val="90000"/>
              </a:lnSpc>
              <a:spcBef>
                <a:spcPts val="0"/>
              </a:spcBef>
              <a:spcAft>
                <a:spcPts val="300"/>
              </a:spcAft>
              <a:buClr>
                <a:srgbClr val="DC0532"/>
              </a:buClr>
              <a:buFont typeface="Trebuchet MS" panose="020B0603020202020204" pitchFamily="34" charset="0"/>
              <a:buChar char="–"/>
              <a:defRPr lang="en-US" sz="1200" kern="1200">
                <a:solidFill>
                  <a:srgbClr val="4D4D4D"/>
                </a:solidFill>
                <a:latin typeface="+mn-lt"/>
                <a:ea typeface="+mn-ea"/>
                <a:cs typeface="+mn-cs"/>
                <a:sym typeface="+mn-lt"/>
              </a:defRPr>
            </a:lvl3pPr>
            <a:lvl4pPr marL="0" indent="0" algn="l" defTabSz="914400" rtl="0" eaLnBrk="1" latinLnBrk="0" hangingPunct="1">
              <a:lnSpc>
                <a:spcPct val="110000"/>
              </a:lnSpc>
              <a:spcBef>
                <a:spcPts val="300"/>
              </a:spcBef>
              <a:spcAft>
                <a:spcPts val="300"/>
              </a:spcAft>
              <a:buClr>
                <a:srgbClr val="DC0532"/>
              </a:buClr>
              <a:buFont typeface="Arial" panose="020B0604020202020204" pitchFamily="34" charset="0"/>
              <a:buChar char="​"/>
              <a:defRPr lang="en-US" sz="1600" kern="1200">
                <a:solidFill>
                  <a:srgbClr val="DC0532"/>
                </a:solidFill>
                <a:latin typeface="+mn-lt"/>
                <a:ea typeface="+mn-ea"/>
                <a:cs typeface="+mn-cs"/>
                <a:sym typeface="+mn-lt"/>
              </a:defRPr>
            </a:lvl4pPr>
            <a:lvl5pPr marL="0" indent="0" algn="l" defTabSz="914400" rtl="0" eaLnBrk="1" latinLnBrk="0" hangingPunct="1">
              <a:lnSpc>
                <a:spcPct val="100000"/>
              </a:lnSpc>
              <a:spcBef>
                <a:spcPts val="0"/>
              </a:spcBef>
              <a:spcAft>
                <a:spcPts val="300"/>
              </a:spcAft>
              <a:buClr>
                <a:srgbClr val="DC0532"/>
              </a:buClr>
              <a:buFont typeface="Arial" panose="020B0604020202020204" pitchFamily="34" charset="0"/>
              <a:buChar char="​"/>
              <a:defRPr lang="en-US" sz="1600" b="1" kern="1200" smtClean="0">
                <a:solidFill>
                  <a:srgbClr val="4D4D4D"/>
                </a:solidFill>
                <a:latin typeface="+mn-lt"/>
                <a:ea typeface="+mn-ea"/>
                <a:cs typeface="+mn-cs"/>
                <a:sym typeface="+mn-lt"/>
              </a:defRPr>
            </a:lvl5pPr>
            <a:lvl6pPr marL="269875" indent="-152400" algn="l" defTabSz="914400" rtl="0" eaLnBrk="1" latinLnBrk="0" hangingPunct="1">
              <a:lnSpc>
                <a:spcPct val="90000"/>
              </a:lnSpc>
              <a:spcBef>
                <a:spcPts val="0"/>
              </a:spcBef>
              <a:spcAft>
                <a:spcPts val="600"/>
              </a:spcAft>
              <a:buClr>
                <a:srgbClr val="DC0532"/>
              </a:buClr>
              <a:buFont typeface="Arial" panose="020B0604020202020204" pitchFamily="34" charset="0"/>
              <a:buChar char="•"/>
              <a:defRPr lang="en-US" sz="1600" kern="1200" smtClean="0">
                <a:solidFill>
                  <a:srgbClr val="4D4D4D"/>
                </a:solidFill>
                <a:latin typeface="+mn-lt"/>
                <a:ea typeface="+mn-ea"/>
                <a:cs typeface="+mn-cs"/>
                <a:sym typeface="+mn-lt"/>
              </a:defRPr>
            </a:lvl6pPr>
            <a:lvl7pPr marL="0" indent="0" algn="l" defTabSz="914400" rtl="0" eaLnBrk="1" latinLnBrk="0" hangingPunct="1">
              <a:lnSpc>
                <a:spcPct val="90000"/>
              </a:lnSpc>
              <a:spcBef>
                <a:spcPts val="900"/>
              </a:spcBef>
              <a:spcAft>
                <a:spcPts val="900"/>
              </a:spcAft>
              <a:buClr>
                <a:srgbClr val="DC0532"/>
              </a:buClr>
              <a:buFont typeface="Arial" panose="020B0604020202020204" pitchFamily="34" charset="0"/>
              <a:buChar char="​"/>
              <a:defRPr lang="en-US" sz="4400" kern="1200" baseline="0" smtClean="0">
                <a:solidFill>
                  <a:srgbClr val="4D4D4D"/>
                </a:solidFill>
                <a:latin typeface="+mn-lt"/>
                <a:ea typeface="+mn-ea"/>
                <a:cs typeface="+mn-cs"/>
                <a:sym typeface="+mn-lt"/>
              </a:defRPr>
            </a:lvl7pPr>
            <a:lvl8pPr marL="0" indent="0" algn="l" defTabSz="914400" rtl="0" eaLnBrk="1" latinLnBrk="0" hangingPunct="1">
              <a:lnSpc>
                <a:spcPct val="90000"/>
              </a:lnSpc>
              <a:spcBef>
                <a:spcPts val="900"/>
              </a:spcBef>
              <a:spcAft>
                <a:spcPts val="0"/>
              </a:spcAft>
              <a:buClr>
                <a:srgbClr val="DC0532"/>
              </a:buClr>
              <a:buFont typeface="Arial" panose="020B0604020202020204" pitchFamily="34" charset="0"/>
              <a:buChar char="​"/>
              <a:defRPr lang="en-US" sz="5400" kern="1200" baseline="0" smtClean="0">
                <a:solidFill>
                  <a:srgbClr val="DC0532"/>
                </a:solidFill>
                <a:latin typeface="+mn-lt"/>
                <a:ea typeface="+mn-ea"/>
                <a:cs typeface="+mn-cs"/>
                <a:sym typeface="+mn-lt"/>
              </a:defRPr>
            </a:lvl8pPr>
            <a:lvl9pPr marL="0" indent="0" algn="l" defTabSz="914400" rtl="0" eaLnBrk="1" latinLnBrk="0" hangingPunct="1">
              <a:lnSpc>
                <a:spcPct val="100000"/>
              </a:lnSpc>
              <a:spcBef>
                <a:spcPts val="0"/>
              </a:spcBef>
              <a:spcAft>
                <a:spcPts val="900"/>
              </a:spcAft>
              <a:buClr>
                <a:srgbClr val="DC0532"/>
              </a:buClr>
              <a:buFont typeface="Arial" panose="020B0604020202020204" pitchFamily="34" charset="0"/>
              <a:buChar char="​"/>
              <a:defRPr lang="en-US" sz="2400" kern="1200" baseline="0" dirty="0">
                <a:solidFill>
                  <a:srgbClr val="DC0532"/>
                </a:solidFill>
                <a:latin typeface="+mn-lt"/>
                <a:ea typeface="+mn-ea"/>
                <a:cs typeface="+mn-cs"/>
                <a:sym typeface="+mn-lt"/>
              </a:defRPr>
            </a:lvl9pPr>
          </a:lstStyle>
          <a:p>
            <a:pPr>
              <a:lnSpc>
                <a:spcPct val="100000"/>
              </a:lnSpc>
              <a:spcBef>
                <a:spcPts val="0"/>
              </a:spcBef>
              <a:spcAft>
                <a:spcPts val="0"/>
              </a:spcAft>
              <a:buClrTx/>
              <a:buSzPct val="100000"/>
              <a:buFont typeface="Trebuchet MS" panose="020B0603020202020204" pitchFamily="34" charset="0"/>
              <a:buChar char="​"/>
            </a:pPr>
            <a:r>
              <a:rPr lang="en-ZA" sz="1400">
                <a:solidFill>
                  <a:schemeClr val="tx1">
                    <a:lumMod val="100000"/>
                  </a:schemeClr>
                </a:solidFill>
                <a:latin typeface="+mn-lt"/>
                <a:cs typeface="+mn-cs"/>
              </a:rPr>
              <a:t>Messages are seamless across channels</a:t>
            </a:r>
          </a:p>
        </p:txBody>
      </p:sp>
      <p:grpSp>
        <p:nvGrpSpPr>
          <p:cNvPr id="50" name="Group 49">
            <a:extLst>
              <a:ext uri="{FF2B5EF4-FFF2-40B4-BE49-F238E27FC236}">
                <a16:creationId xmlns:a16="http://schemas.microsoft.com/office/drawing/2014/main" id="{58F4CE0A-C162-4A2E-B39B-FB934AD21C0D}"/>
              </a:ext>
            </a:extLst>
          </p:cNvPr>
          <p:cNvGrpSpPr>
            <a:grpSpLocks noChangeAspect="1"/>
          </p:cNvGrpSpPr>
          <p:nvPr/>
        </p:nvGrpSpPr>
        <p:grpSpPr>
          <a:xfrm>
            <a:off x="629744" y="4856189"/>
            <a:ext cx="553998" cy="553998"/>
            <a:chOff x="2667000" y="0"/>
            <a:chExt cx="6858000" cy="6858000"/>
          </a:xfrm>
        </p:grpSpPr>
        <p:sp>
          <p:nvSpPr>
            <p:cNvPr id="51" name="AutoShape 3">
              <a:extLst>
                <a:ext uri="{FF2B5EF4-FFF2-40B4-BE49-F238E27FC236}">
                  <a16:creationId xmlns:a16="http://schemas.microsoft.com/office/drawing/2014/main" id="{1867241C-FEBC-43FE-AA61-0867C333655F}"/>
                </a:ext>
              </a:extLst>
            </p:cNvPr>
            <p:cNvSpPr>
              <a:spLocks noChangeAspect="1" noChangeArrowheads="1" noTextEdit="1"/>
            </p:cNvSpPr>
            <p:nvPr/>
          </p:nvSpPr>
          <p:spPr bwMode="auto">
            <a:xfrm>
              <a:off x="2667000" y="0"/>
              <a:ext cx="6858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ym typeface="+mn-lt"/>
              </a:endParaRPr>
            </a:p>
          </p:txBody>
        </p:sp>
        <p:grpSp>
          <p:nvGrpSpPr>
            <p:cNvPr id="52" name="Group 51">
              <a:extLst>
                <a:ext uri="{FF2B5EF4-FFF2-40B4-BE49-F238E27FC236}">
                  <a16:creationId xmlns:a16="http://schemas.microsoft.com/office/drawing/2014/main" id="{1AE82A1D-A95B-4001-BC78-84325AF3856D}"/>
                </a:ext>
              </a:extLst>
            </p:cNvPr>
            <p:cNvGrpSpPr/>
            <p:nvPr/>
          </p:nvGrpSpPr>
          <p:grpSpPr>
            <a:xfrm>
              <a:off x="3813350" y="1143175"/>
              <a:ext cx="4565300" cy="4565300"/>
              <a:chOff x="3813351" y="1143176"/>
              <a:chExt cx="4565299" cy="4565299"/>
            </a:xfrm>
          </p:grpSpPr>
          <p:sp>
            <p:nvSpPr>
              <p:cNvPr id="53" name="Freeform 38">
                <a:extLst>
                  <a:ext uri="{FF2B5EF4-FFF2-40B4-BE49-F238E27FC236}">
                    <a16:creationId xmlns:a16="http://schemas.microsoft.com/office/drawing/2014/main" id="{FF3C376A-DC27-45B8-B5E9-764F18FBF3BC}"/>
                  </a:ext>
                </a:extLst>
              </p:cNvPr>
              <p:cNvSpPr>
                <a:spLocks/>
              </p:cNvSpPr>
              <p:nvPr/>
            </p:nvSpPr>
            <p:spPr bwMode="auto">
              <a:xfrm>
                <a:off x="3813351" y="1155863"/>
                <a:ext cx="4552666" cy="4546262"/>
              </a:xfrm>
              <a:custGeom>
                <a:avLst/>
                <a:gdLst>
                  <a:gd name="connsiteX0" fmla="*/ 809844 w 4552665"/>
                  <a:gd name="connsiteY0" fmla="*/ 3276435 h 4546260"/>
                  <a:gd name="connsiteX1" fmla="*/ 455794 w 4552665"/>
                  <a:gd name="connsiteY1" fmla="*/ 3505490 h 4546260"/>
                  <a:gd name="connsiteX2" fmla="*/ 580753 w 4552665"/>
                  <a:gd name="connsiteY2" fmla="*/ 3951699 h 4546260"/>
                  <a:gd name="connsiteX3" fmla="*/ 580753 w 4552665"/>
                  <a:gd name="connsiteY3" fmla="*/ 4162905 h 4546260"/>
                  <a:gd name="connsiteX4" fmla="*/ 592654 w 4552665"/>
                  <a:gd name="connsiteY4" fmla="*/ 4183729 h 4546260"/>
                  <a:gd name="connsiteX5" fmla="*/ 928853 w 4552665"/>
                  <a:gd name="connsiteY5" fmla="*/ 4243223 h 4546260"/>
                  <a:gd name="connsiteX6" fmla="*/ 949679 w 4552665"/>
                  <a:gd name="connsiteY6" fmla="*/ 4219425 h 4546260"/>
                  <a:gd name="connsiteX7" fmla="*/ 949679 w 4552665"/>
                  <a:gd name="connsiteY7" fmla="*/ 4073663 h 4546260"/>
                  <a:gd name="connsiteX8" fmla="*/ 1122242 w 4552665"/>
                  <a:gd name="connsiteY8" fmla="*/ 4064739 h 4546260"/>
                  <a:gd name="connsiteX9" fmla="*/ 1149019 w 4552665"/>
                  <a:gd name="connsiteY9" fmla="*/ 3969548 h 4546260"/>
                  <a:gd name="connsiteX10" fmla="*/ 1149019 w 4552665"/>
                  <a:gd name="connsiteY10" fmla="*/ 3963598 h 4546260"/>
                  <a:gd name="connsiteX11" fmla="*/ 1146043 w 4552665"/>
                  <a:gd name="connsiteY11" fmla="*/ 3847584 h 4546260"/>
                  <a:gd name="connsiteX12" fmla="*/ 1232325 w 4552665"/>
                  <a:gd name="connsiteY12" fmla="*/ 3802963 h 4546260"/>
                  <a:gd name="connsiteX13" fmla="*/ 1190672 w 4552665"/>
                  <a:gd name="connsiteY13" fmla="*/ 3722645 h 4546260"/>
                  <a:gd name="connsiteX14" fmla="*/ 1184721 w 4552665"/>
                  <a:gd name="connsiteY14" fmla="*/ 3713721 h 4546260"/>
                  <a:gd name="connsiteX15" fmla="*/ 1149019 w 4552665"/>
                  <a:gd name="connsiteY15" fmla="*/ 3645302 h 4546260"/>
                  <a:gd name="connsiteX16" fmla="*/ 1140093 w 4552665"/>
                  <a:gd name="connsiteY16" fmla="*/ 3609605 h 4546260"/>
                  <a:gd name="connsiteX17" fmla="*/ 1125217 w 4552665"/>
                  <a:gd name="connsiteY17" fmla="*/ 3556060 h 4546260"/>
                  <a:gd name="connsiteX18" fmla="*/ 1113316 w 4552665"/>
                  <a:gd name="connsiteY18" fmla="*/ 3457894 h 4546260"/>
                  <a:gd name="connsiteX19" fmla="*/ 1125217 w 4552665"/>
                  <a:gd name="connsiteY19" fmla="*/ 3460869 h 4546260"/>
                  <a:gd name="connsiteX20" fmla="*/ 1128192 w 4552665"/>
                  <a:gd name="connsiteY20" fmla="*/ 3457894 h 4546260"/>
                  <a:gd name="connsiteX21" fmla="*/ 1184721 w 4552665"/>
                  <a:gd name="connsiteY21" fmla="*/ 3332955 h 4546260"/>
                  <a:gd name="connsiteX22" fmla="*/ 809844 w 4552665"/>
                  <a:gd name="connsiteY22" fmla="*/ 3276435 h 4546260"/>
                  <a:gd name="connsiteX23" fmla="*/ 2000716 w 4552665"/>
                  <a:gd name="connsiteY23" fmla="*/ 2490967 h 4546260"/>
                  <a:gd name="connsiteX24" fmla="*/ 2044233 w 4552665"/>
                  <a:gd name="connsiteY24" fmla="*/ 2511050 h 4546260"/>
                  <a:gd name="connsiteX25" fmla="*/ 2285251 w 4552665"/>
                  <a:gd name="connsiteY25" fmla="*/ 2612206 h 4546260"/>
                  <a:gd name="connsiteX26" fmla="*/ 2347737 w 4552665"/>
                  <a:gd name="connsiteY26" fmla="*/ 2671709 h 4546260"/>
                  <a:gd name="connsiteX27" fmla="*/ 2285251 w 4552665"/>
                  <a:gd name="connsiteY27" fmla="*/ 2734188 h 4546260"/>
                  <a:gd name="connsiteX28" fmla="*/ 2002576 w 4552665"/>
                  <a:gd name="connsiteY28" fmla="*/ 2638982 h 4546260"/>
                  <a:gd name="connsiteX29" fmla="*/ 1489786 w 4552665"/>
                  <a:gd name="connsiteY29" fmla="*/ 3149463 h 4546260"/>
                  <a:gd name="connsiteX30" fmla="*/ 1459090 w 4552665"/>
                  <a:gd name="connsiteY30" fmla="*/ 3180022 h 4546260"/>
                  <a:gd name="connsiteX31" fmla="*/ 1470636 w 4552665"/>
                  <a:gd name="connsiteY31" fmla="*/ 3192791 h 4546260"/>
                  <a:gd name="connsiteX32" fmla="*/ 1413586 w 4552665"/>
                  <a:gd name="connsiteY32" fmla="*/ 4302847 h 4546260"/>
                  <a:gd name="connsiteX33" fmla="*/ 243414 w 4552665"/>
                  <a:gd name="connsiteY33" fmla="*/ 4302847 h 4546260"/>
                  <a:gd name="connsiteX34" fmla="*/ 243414 w 4552665"/>
                  <a:gd name="connsiteY34" fmla="*/ 3129697 h 4546260"/>
                  <a:gd name="connsiteX35" fmla="*/ 829616 w 4552665"/>
                  <a:gd name="connsiteY35" fmla="*/ 2888517 h 4546260"/>
                  <a:gd name="connsiteX36" fmla="*/ 1351016 w 4552665"/>
                  <a:gd name="connsiteY36" fmla="*/ 3073171 h 4546260"/>
                  <a:gd name="connsiteX37" fmla="*/ 1372957 w 4552665"/>
                  <a:gd name="connsiteY37" fmla="*/ 3092992 h 4546260"/>
                  <a:gd name="connsiteX38" fmla="*/ 1474566 w 4552665"/>
                  <a:gd name="connsiteY38" fmla="*/ 2991395 h 4546260"/>
                  <a:gd name="connsiteX39" fmla="*/ 1954968 w 4552665"/>
                  <a:gd name="connsiteY39" fmla="*/ 2511050 h 4546260"/>
                  <a:gd name="connsiteX40" fmla="*/ 2000716 w 4552665"/>
                  <a:gd name="connsiteY40" fmla="*/ 2490967 h 4546260"/>
                  <a:gd name="connsiteX41" fmla="*/ 2285824 w 4552665"/>
                  <a:gd name="connsiteY41" fmla="*/ 2085810 h 4546260"/>
                  <a:gd name="connsiteX42" fmla="*/ 2473149 w 4552665"/>
                  <a:gd name="connsiteY42" fmla="*/ 2267579 h 4546260"/>
                  <a:gd name="connsiteX43" fmla="*/ 2285824 w 4552665"/>
                  <a:gd name="connsiteY43" fmla="*/ 2449348 h 4546260"/>
                  <a:gd name="connsiteX44" fmla="*/ 2098499 w 4552665"/>
                  <a:gd name="connsiteY44" fmla="*/ 2267579 h 4546260"/>
                  <a:gd name="connsiteX45" fmla="*/ 2285824 w 4552665"/>
                  <a:gd name="connsiteY45" fmla="*/ 2085810 h 4546260"/>
                  <a:gd name="connsiteX46" fmla="*/ 3271463 w 4552665"/>
                  <a:gd name="connsiteY46" fmla="*/ 853910 h 4546260"/>
                  <a:gd name="connsiteX47" fmla="*/ 3244674 w 4552665"/>
                  <a:gd name="connsiteY47" fmla="*/ 883628 h 4546260"/>
                  <a:gd name="connsiteX48" fmla="*/ 3244674 w 4552665"/>
                  <a:gd name="connsiteY48" fmla="*/ 1201611 h 4546260"/>
                  <a:gd name="connsiteX49" fmla="*/ 3271463 w 4552665"/>
                  <a:gd name="connsiteY49" fmla="*/ 1225385 h 4546260"/>
                  <a:gd name="connsiteX50" fmla="*/ 3408385 w 4552665"/>
                  <a:gd name="connsiteY50" fmla="*/ 1225385 h 4546260"/>
                  <a:gd name="connsiteX51" fmla="*/ 3435174 w 4552665"/>
                  <a:gd name="connsiteY51" fmla="*/ 1201611 h 4546260"/>
                  <a:gd name="connsiteX52" fmla="*/ 3435174 w 4552665"/>
                  <a:gd name="connsiteY52" fmla="*/ 883628 h 4546260"/>
                  <a:gd name="connsiteX53" fmla="*/ 3408385 w 4552665"/>
                  <a:gd name="connsiteY53" fmla="*/ 853910 h 4546260"/>
                  <a:gd name="connsiteX54" fmla="*/ 3271463 w 4552665"/>
                  <a:gd name="connsiteY54" fmla="*/ 853910 h 4546260"/>
                  <a:gd name="connsiteX55" fmla="*/ 3503238 w 4552665"/>
                  <a:gd name="connsiteY55" fmla="*/ 707860 h 4546260"/>
                  <a:gd name="connsiteX56" fmla="*/ 3476449 w 4552665"/>
                  <a:gd name="connsiteY56" fmla="*/ 734629 h 4546260"/>
                  <a:gd name="connsiteX57" fmla="*/ 3476449 w 4552665"/>
                  <a:gd name="connsiteY57" fmla="*/ 1201591 h 4546260"/>
                  <a:gd name="connsiteX58" fmla="*/ 3503238 w 4552665"/>
                  <a:gd name="connsiteY58" fmla="*/ 1225385 h 4546260"/>
                  <a:gd name="connsiteX59" fmla="*/ 3643137 w 4552665"/>
                  <a:gd name="connsiteY59" fmla="*/ 1225385 h 4546260"/>
                  <a:gd name="connsiteX60" fmla="*/ 3666949 w 4552665"/>
                  <a:gd name="connsiteY60" fmla="*/ 1201591 h 4546260"/>
                  <a:gd name="connsiteX61" fmla="*/ 3666949 w 4552665"/>
                  <a:gd name="connsiteY61" fmla="*/ 734629 h 4546260"/>
                  <a:gd name="connsiteX62" fmla="*/ 3643137 w 4552665"/>
                  <a:gd name="connsiteY62" fmla="*/ 707860 h 4546260"/>
                  <a:gd name="connsiteX63" fmla="*/ 3503238 w 4552665"/>
                  <a:gd name="connsiteY63" fmla="*/ 707860 h 4546260"/>
                  <a:gd name="connsiteX64" fmla="*/ 3735212 w 4552665"/>
                  <a:gd name="connsiteY64" fmla="*/ 545935 h 4546260"/>
                  <a:gd name="connsiteX65" fmla="*/ 3711399 w 4552665"/>
                  <a:gd name="connsiteY65" fmla="*/ 572755 h 4546260"/>
                  <a:gd name="connsiteX66" fmla="*/ 3711399 w 4552665"/>
                  <a:gd name="connsiteY66" fmla="*/ 1201545 h 4546260"/>
                  <a:gd name="connsiteX67" fmla="*/ 3735212 w 4552665"/>
                  <a:gd name="connsiteY67" fmla="*/ 1225385 h 4546260"/>
                  <a:gd name="connsiteX68" fmla="*/ 3875110 w 4552665"/>
                  <a:gd name="connsiteY68" fmla="*/ 1225385 h 4546260"/>
                  <a:gd name="connsiteX69" fmla="*/ 3901899 w 4552665"/>
                  <a:gd name="connsiteY69" fmla="*/ 1201545 h 4546260"/>
                  <a:gd name="connsiteX70" fmla="*/ 3901899 w 4552665"/>
                  <a:gd name="connsiteY70" fmla="*/ 572755 h 4546260"/>
                  <a:gd name="connsiteX71" fmla="*/ 3875110 w 4552665"/>
                  <a:gd name="connsiteY71" fmla="*/ 545935 h 4546260"/>
                  <a:gd name="connsiteX72" fmla="*/ 3735212 w 4552665"/>
                  <a:gd name="connsiteY72" fmla="*/ 545935 h 4546260"/>
                  <a:gd name="connsiteX73" fmla="*/ 3970162 w 4552665"/>
                  <a:gd name="connsiteY73" fmla="*/ 334798 h 4546260"/>
                  <a:gd name="connsiteX74" fmla="*/ 3946349 w 4552665"/>
                  <a:gd name="connsiteY74" fmla="*/ 364584 h 4546260"/>
                  <a:gd name="connsiteX75" fmla="*/ 3946349 w 4552665"/>
                  <a:gd name="connsiteY75" fmla="*/ 1201558 h 4546260"/>
                  <a:gd name="connsiteX76" fmla="*/ 3970162 w 4552665"/>
                  <a:gd name="connsiteY76" fmla="*/ 1225386 h 4546260"/>
                  <a:gd name="connsiteX77" fmla="*/ 4107084 w 4552665"/>
                  <a:gd name="connsiteY77" fmla="*/ 1225386 h 4546260"/>
                  <a:gd name="connsiteX78" fmla="*/ 4136849 w 4552665"/>
                  <a:gd name="connsiteY78" fmla="*/ 1201558 h 4546260"/>
                  <a:gd name="connsiteX79" fmla="*/ 4136849 w 4552665"/>
                  <a:gd name="connsiteY79" fmla="*/ 364584 h 4546260"/>
                  <a:gd name="connsiteX80" fmla="*/ 4107084 w 4552665"/>
                  <a:gd name="connsiteY80" fmla="*/ 334798 h 4546260"/>
                  <a:gd name="connsiteX81" fmla="*/ 3970162 w 4552665"/>
                  <a:gd name="connsiteY81" fmla="*/ 334798 h 4546260"/>
                  <a:gd name="connsiteX82" fmla="*/ 3723359 w 4552665"/>
                  <a:gd name="connsiteY82" fmla="*/ 0 h 4546260"/>
                  <a:gd name="connsiteX83" fmla="*/ 4309452 w 4552665"/>
                  <a:gd name="connsiteY83" fmla="*/ 243379 h 4546260"/>
                  <a:gd name="connsiteX84" fmla="*/ 4309452 w 4552665"/>
                  <a:gd name="connsiteY84" fmla="*/ 1410410 h 4546260"/>
                  <a:gd name="connsiteX85" fmla="*/ 3184867 w 4552665"/>
                  <a:gd name="connsiteY85" fmla="*/ 1455067 h 4546260"/>
                  <a:gd name="connsiteX86" fmla="*/ 2613649 w 4552665"/>
                  <a:gd name="connsiteY86" fmla="*/ 2023696 h 4546260"/>
                  <a:gd name="connsiteX87" fmla="*/ 2569023 w 4552665"/>
                  <a:gd name="connsiteY87" fmla="*/ 2044536 h 4546260"/>
                  <a:gd name="connsiteX88" fmla="*/ 2527372 w 4552665"/>
                  <a:gd name="connsiteY88" fmla="*/ 2023696 h 4546260"/>
                  <a:gd name="connsiteX89" fmla="*/ 2286389 w 4552665"/>
                  <a:gd name="connsiteY89" fmla="*/ 1925451 h 4546260"/>
                  <a:gd name="connsiteX90" fmla="*/ 2223912 w 4552665"/>
                  <a:gd name="connsiteY90" fmla="*/ 1862932 h 4546260"/>
                  <a:gd name="connsiteX91" fmla="*/ 2286389 w 4552665"/>
                  <a:gd name="connsiteY91" fmla="*/ 1803390 h 4546260"/>
                  <a:gd name="connsiteX92" fmla="*/ 2566048 w 4552665"/>
                  <a:gd name="connsiteY92" fmla="*/ 1898657 h 4546260"/>
                  <a:gd name="connsiteX93" fmla="*/ 3098589 w 4552665"/>
                  <a:gd name="connsiteY93" fmla="*/ 1368730 h 4546260"/>
                  <a:gd name="connsiteX94" fmla="*/ 3137266 w 4552665"/>
                  <a:gd name="connsiteY94" fmla="*/ 243379 h 4546260"/>
                  <a:gd name="connsiteX95" fmla="*/ 3723359 w 4552665"/>
                  <a:gd name="connsiteY95" fmla="*/ 0 h 4546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4552665" h="4546260">
                    <a:moveTo>
                      <a:pt x="809844" y="3276435"/>
                    </a:moveTo>
                    <a:cubicBezTo>
                      <a:pt x="604554" y="3276435"/>
                      <a:pt x="503397" y="3401374"/>
                      <a:pt x="455794" y="3505490"/>
                    </a:cubicBezTo>
                    <a:cubicBezTo>
                      <a:pt x="366537" y="3689923"/>
                      <a:pt x="512323" y="3877331"/>
                      <a:pt x="580753" y="3951699"/>
                    </a:cubicBezTo>
                    <a:cubicBezTo>
                      <a:pt x="580753" y="3951699"/>
                      <a:pt x="580753" y="3951699"/>
                      <a:pt x="580753" y="4162905"/>
                    </a:cubicBezTo>
                    <a:cubicBezTo>
                      <a:pt x="580753" y="4171830"/>
                      <a:pt x="583728" y="4180754"/>
                      <a:pt x="592654" y="4183729"/>
                    </a:cubicBezTo>
                    <a:cubicBezTo>
                      <a:pt x="732489" y="4240248"/>
                      <a:pt x="913977" y="4243223"/>
                      <a:pt x="928853" y="4243223"/>
                    </a:cubicBezTo>
                    <a:cubicBezTo>
                      <a:pt x="940754" y="4243223"/>
                      <a:pt x="949679" y="4231324"/>
                      <a:pt x="949679" y="4219425"/>
                    </a:cubicBezTo>
                    <a:cubicBezTo>
                      <a:pt x="949679" y="4219425"/>
                      <a:pt x="949679" y="4219425"/>
                      <a:pt x="949679" y="4073663"/>
                    </a:cubicBezTo>
                    <a:cubicBezTo>
                      <a:pt x="1035960" y="4082588"/>
                      <a:pt x="1101415" y="4073663"/>
                      <a:pt x="1122242" y="4064739"/>
                    </a:cubicBezTo>
                    <a:cubicBezTo>
                      <a:pt x="1146043" y="4049866"/>
                      <a:pt x="1146043" y="4023093"/>
                      <a:pt x="1149019" y="3969548"/>
                    </a:cubicBezTo>
                    <a:cubicBezTo>
                      <a:pt x="1149019" y="3969548"/>
                      <a:pt x="1149019" y="3969548"/>
                      <a:pt x="1149019" y="3963598"/>
                    </a:cubicBezTo>
                    <a:cubicBezTo>
                      <a:pt x="1151994" y="3930876"/>
                      <a:pt x="1149019" y="3877331"/>
                      <a:pt x="1146043" y="3847584"/>
                    </a:cubicBezTo>
                    <a:cubicBezTo>
                      <a:pt x="1208523" y="3847584"/>
                      <a:pt x="1226374" y="3811887"/>
                      <a:pt x="1232325" y="3802963"/>
                    </a:cubicBezTo>
                    <a:cubicBezTo>
                      <a:pt x="1241250" y="3776190"/>
                      <a:pt x="1214473" y="3752392"/>
                      <a:pt x="1190672" y="3722645"/>
                    </a:cubicBezTo>
                    <a:cubicBezTo>
                      <a:pt x="1190672" y="3719670"/>
                      <a:pt x="1187696" y="3716696"/>
                      <a:pt x="1184721" y="3713721"/>
                    </a:cubicBezTo>
                    <a:cubicBezTo>
                      <a:pt x="1172820" y="3704797"/>
                      <a:pt x="1157944" y="3678024"/>
                      <a:pt x="1149019" y="3645302"/>
                    </a:cubicBezTo>
                    <a:cubicBezTo>
                      <a:pt x="1146043" y="3639353"/>
                      <a:pt x="1143068" y="3624479"/>
                      <a:pt x="1140093" y="3609605"/>
                    </a:cubicBezTo>
                    <a:cubicBezTo>
                      <a:pt x="1137118" y="3591757"/>
                      <a:pt x="1131167" y="3570934"/>
                      <a:pt x="1125217" y="3556060"/>
                    </a:cubicBezTo>
                    <a:cubicBezTo>
                      <a:pt x="1119266" y="3538212"/>
                      <a:pt x="1116291" y="3484667"/>
                      <a:pt x="1113316" y="3457894"/>
                    </a:cubicBezTo>
                    <a:cubicBezTo>
                      <a:pt x="1116291" y="3457894"/>
                      <a:pt x="1122242" y="3460869"/>
                      <a:pt x="1125217" y="3460869"/>
                    </a:cubicBezTo>
                    <a:cubicBezTo>
                      <a:pt x="1125217" y="3460869"/>
                      <a:pt x="1125217" y="3460869"/>
                      <a:pt x="1128192" y="3457894"/>
                    </a:cubicBezTo>
                    <a:cubicBezTo>
                      <a:pt x="1140093" y="3410298"/>
                      <a:pt x="1205548" y="3332955"/>
                      <a:pt x="1184721" y="3332955"/>
                    </a:cubicBezTo>
                    <a:cubicBezTo>
                      <a:pt x="970506" y="3335930"/>
                      <a:pt x="1038936" y="3276435"/>
                      <a:pt x="809844" y="3276435"/>
                    </a:cubicBezTo>
                    <a:close/>
                    <a:moveTo>
                      <a:pt x="2000716" y="2490967"/>
                    </a:moveTo>
                    <a:cubicBezTo>
                      <a:pt x="2016710" y="2490967"/>
                      <a:pt x="2032331" y="2497661"/>
                      <a:pt x="2044233" y="2511050"/>
                    </a:cubicBezTo>
                    <a:cubicBezTo>
                      <a:pt x="2106719" y="2573528"/>
                      <a:pt x="2193010" y="2612206"/>
                      <a:pt x="2285251" y="2612206"/>
                    </a:cubicBezTo>
                    <a:cubicBezTo>
                      <a:pt x="2320957" y="2612206"/>
                      <a:pt x="2347737" y="2638982"/>
                      <a:pt x="2347737" y="2671709"/>
                    </a:cubicBezTo>
                    <a:cubicBezTo>
                      <a:pt x="2347737" y="2704436"/>
                      <a:pt x="2320957" y="2734188"/>
                      <a:pt x="2285251" y="2734188"/>
                    </a:cubicBezTo>
                    <a:cubicBezTo>
                      <a:pt x="2184083" y="2734188"/>
                      <a:pt x="2085891" y="2701461"/>
                      <a:pt x="2002576" y="2638982"/>
                    </a:cubicBezTo>
                    <a:cubicBezTo>
                      <a:pt x="1748169" y="2892244"/>
                      <a:pt x="1589164" y="3050533"/>
                      <a:pt x="1489786" y="3149463"/>
                    </a:cubicBezTo>
                    <a:lnTo>
                      <a:pt x="1459090" y="3180022"/>
                    </a:lnTo>
                    <a:lnTo>
                      <a:pt x="1470636" y="3192791"/>
                    </a:lnTo>
                    <a:cubicBezTo>
                      <a:pt x="1736869" y="3518976"/>
                      <a:pt x="1717852" y="3998580"/>
                      <a:pt x="1413586" y="4302847"/>
                    </a:cubicBezTo>
                    <a:cubicBezTo>
                      <a:pt x="1092012" y="4627398"/>
                      <a:pt x="567965" y="4627398"/>
                      <a:pt x="243414" y="4302847"/>
                    </a:cubicBezTo>
                    <a:cubicBezTo>
                      <a:pt x="-81138" y="3978295"/>
                      <a:pt x="-81138" y="3454249"/>
                      <a:pt x="243414" y="3129697"/>
                    </a:cubicBezTo>
                    <a:cubicBezTo>
                      <a:pt x="405690" y="2968910"/>
                      <a:pt x="617839" y="2888517"/>
                      <a:pt x="829616" y="2888517"/>
                    </a:cubicBezTo>
                    <a:cubicBezTo>
                      <a:pt x="1014922" y="2888517"/>
                      <a:pt x="1199942" y="2950068"/>
                      <a:pt x="1351016" y="3073171"/>
                    </a:cubicBezTo>
                    <a:lnTo>
                      <a:pt x="1372957" y="3092992"/>
                    </a:lnTo>
                    <a:lnTo>
                      <a:pt x="1474566" y="2991395"/>
                    </a:lnTo>
                    <a:cubicBezTo>
                      <a:pt x="1954968" y="2511050"/>
                      <a:pt x="1954968" y="2511050"/>
                      <a:pt x="1954968" y="2511050"/>
                    </a:cubicBezTo>
                    <a:cubicBezTo>
                      <a:pt x="1968358" y="2497661"/>
                      <a:pt x="1984723" y="2490967"/>
                      <a:pt x="2000716" y="2490967"/>
                    </a:cubicBezTo>
                    <a:close/>
                    <a:moveTo>
                      <a:pt x="2285824" y="2085810"/>
                    </a:moveTo>
                    <a:cubicBezTo>
                      <a:pt x="2389281" y="2085810"/>
                      <a:pt x="2473149" y="2167191"/>
                      <a:pt x="2473149" y="2267579"/>
                    </a:cubicBezTo>
                    <a:cubicBezTo>
                      <a:pt x="2473149" y="2367967"/>
                      <a:pt x="2389281" y="2449348"/>
                      <a:pt x="2285824" y="2449348"/>
                    </a:cubicBezTo>
                    <a:cubicBezTo>
                      <a:pt x="2182367" y="2449348"/>
                      <a:pt x="2098499" y="2367967"/>
                      <a:pt x="2098499" y="2267579"/>
                    </a:cubicBezTo>
                    <a:cubicBezTo>
                      <a:pt x="2098499" y="2167191"/>
                      <a:pt x="2182367" y="2085810"/>
                      <a:pt x="2285824" y="2085810"/>
                    </a:cubicBezTo>
                    <a:close/>
                    <a:moveTo>
                      <a:pt x="3271463" y="853910"/>
                    </a:moveTo>
                    <a:cubicBezTo>
                      <a:pt x="3256580" y="853910"/>
                      <a:pt x="3244674" y="868769"/>
                      <a:pt x="3244674" y="883628"/>
                    </a:cubicBezTo>
                    <a:cubicBezTo>
                      <a:pt x="3244674" y="883628"/>
                      <a:pt x="3244674" y="883628"/>
                      <a:pt x="3244674" y="1201611"/>
                    </a:cubicBezTo>
                    <a:cubicBezTo>
                      <a:pt x="3244674" y="1213498"/>
                      <a:pt x="3256580" y="1225385"/>
                      <a:pt x="3271463" y="1225385"/>
                    </a:cubicBezTo>
                    <a:cubicBezTo>
                      <a:pt x="3271463" y="1225385"/>
                      <a:pt x="3271463" y="1225385"/>
                      <a:pt x="3408385" y="1225385"/>
                    </a:cubicBezTo>
                    <a:cubicBezTo>
                      <a:pt x="3420291" y="1225385"/>
                      <a:pt x="3435174" y="1213498"/>
                      <a:pt x="3435174" y="1201611"/>
                    </a:cubicBezTo>
                    <a:cubicBezTo>
                      <a:pt x="3435174" y="1201611"/>
                      <a:pt x="3435174" y="1201611"/>
                      <a:pt x="3435174" y="883628"/>
                    </a:cubicBezTo>
                    <a:cubicBezTo>
                      <a:pt x="3435174" y="868769"/>
                      <a:pt x="3420291" y="853910"/>
                      <a:pt x="3408385" y="853910"/>
                    </a:cubicBezTo>
                    <a:cubicBezTo>
                      <a:pt x="3408385" y="853910"/>
                      <a:pt x="3408385" y="853910"/>
                      <a:pt x="3271463" y="853910"/>
                    </a:cubicBezTo>
                    <a:close/>
                    <a:moveTo>
                      <a:pt x="3503238" y="707860"/>
                    </a:moveTo>
                    <a:cubicBezTo>
                      <a:pt x="3488355" y="707860"/>
                      <a:pt x="3476449" y="719757"/>
                      <a:pt x="3476449" y="734629"/>
                    </a:cubicBezTo>
                    <a:cubicBezTo>
                      <a:pt x="3476449" y="734629"/>
                      <a:pt x="3476449" y="734629"/>
                      <a:pt x="3476449" y="1201591"/>
                    </a:cubicBezTo>
                    <a:cubicBezTo>
                      <a:pt x="3476449" y="1213488"/>
                      <a:pt x="3488355" y="1225385"/>
                      <a:pt x="3503238" y="1225385"/>
                    </a:cubicBezTo>
                    <a:cubicBezTo>
                      <a:pt x="3503238" y="1225385"/>
                      <a:pt x="3503238" y="1225385"/>
                      <a:pt x="3643137" y="1225385"/>
                    </a:cubicBezTo>
                    <a:cubicBezTo>
                      <a:pt x="3658020" y="1225385"/>
                      <a:pt x="3666949" y="1213488"/>
                      <a:pt x="3666949" y="1201591"/>
                    </a:cubicBezTo>
                    <a:cubicBezTo>
                      <a:pt x="3666949" y="1201591"/>
                      <a:pt x="3666949" y="1201591"/>
                      <a:pt x="3666949" y="734629"/>
                    </a:cubicBezTo>
                    <a:cubicBezTo>
                      <a:pt x="3666949" y="719757"/>
                      <a:pt x="3658020" y="707860"/>
                      <a:pt x="3643137" y="707860"/>
                    </a:cubicBezTo>
                    <a:cubicBezTo>
                      <a:pt x="3643137" y="707860"/>
                      <a:pt x="3643137" y="707860"/>
                      <a:pt x="3503238" y="707860"/>
                    </a:cubicBezTo>
                    <a:close/>
                    <a:moveTo>
                      <a:pt x="3735212" y="545935"/>
                    </a:moveTo>
                    <a:cubicBezTo>
                      <a:pt x="3720329" y="545935"/>
                      <a:pt x="3711399" y="557855"/>
                      <a:pt x="3711399" y="572755"/>
                    </a:cubicBezTo>
                    <a:cubicBezTo>
                      <a:pt x="3711399" y="572755"/>
                      <a:pt x="3711399" y="572755"/>
                      <a:pt x="3711399" y="1201545"/>
                    </a:cubicBezTo>
                    <a:cubicBezTo>
                      <a:pt x="3711399" y="1213465"/>
                      <a:pt x="3720329" y="1225385"/>
                      <a:pt x="3735212" y="1225385"/>
                    </a:cubicBezTo>
                    <a:cubicBezTo>
                      <a:pt x="3735212" y="1225385"/>
                      <a:pt x="3735212" y="1225385"/>
                      <a:pt x="3875110" y="1225385"/>
                    </a:cubicBezTo>
                    <a:cubicBezTo>
                      <a:pt x="3889993" y="1225385"/>
                      <a:pt x="3901899" y="1213465"/>
                      <a:pt x="3901899" y="1201545"/>
                    </a:cubicBezTo>
                    <a:cubicBezTo>
                      <a:pt x="3901899" y="1201545"/>
                      <a:pt x="3901899" y="1201545"/>
                      <a:pt x="3901899" y="572755"/>
                    </a:cubicBezTo>
                    <a:cubicBezTo>
                      <a:pt x="3901899" y="557855"/>
                      <a:pt x="3889993" y="545935"/>
                      <a:pt x="3875110" y="545935"/>
                    </a:cubicBezTo>
                    <a:cubicBezTo>
                      <a:pt x="3875110" y="545935"/>
                      <a:pt x="3875110" y="545935"/>
                      <a:pt x="3735212" y="545935"/>
                    </a:cubicBezTo>
                    <a:close/>
                    <a:moveTo>
                      <a:pt x="3970162" y="334798"/>
                    </a:moveTo>
                    <a:cubicBezTo>
                      <a:pt x="3958255" y="334798"/>
                      <a:pt x="3946349" y="346712"/>
                      <a:pt x="3946349" y="364584"/>
                    </a:cubicBezTo>
                    <a:cubicBezTo>
                      <a:pt x="3946349" y="364584"/>
                      <a:pt x="3946349" y="364584"/>
                      <a:pt x="3946349" y="1201558"/>
                    </a:cubicBezTo>
                    <a:cubicBezTo>
                      <a:pt x="3946349" y="1213472"/>
                      <a:pt x="3958255" y="1225386"/>
                      <a:pt x="3970162" y="1225386"/>
                    </a:cubicBezTo>
                    <a:cubicBezTo>
                      <a:pt x="3970162" y="1225386"/>
                      <a:pt x="3970162" y="1225386"/>
                      <a:pt x="4107084" y="1225386"/>
                    </a:cubicBezTo>
                    <a:cubicBezTo>
                      <a:pt x="4121966" y="1225386"/>
                      <a:pt x="4136849" y="1213472"/>
                      <a:pt x="4136849" y="1201558"/>
                    </a:cubicBezTo>
                    <a:cubicBezTo>
                      <a:pt x="4136849" y="1201558"/>
                      <a:pt x="4136849" y="1201558"/>
                      <a:pt x="4136849" y="364584"/>
                    </a:cubicBezTo>
                    <a:cubicBezTo>
                      <a:pt x="4136849" y="346712"/>
                      <a:pt x="4121966" y="334798"/>
                      <a:pt x="4107084" y="334798"/>
                    </a:cubicBezTo>
                    <a:cubicBezTo>
                      <a:pt x="4107084" y="334798"/>
                      <a:pt x="4107084" y="334798"/>
                      <a:pt x="3970162" y="334798"/>
                    </a:cubicBezTo>
                    <a:close/>
                    <a:moveTo>
                      <a:pt x="3723359" y="0"/>
                    </a:moveTo>
                    <a:cubicBezTo>
                      <a:pt x="3935334" y="0"/>
                      <a:pt x="4147310" y="81126"/>
                      <a:pt x="4309452" y="243379"/>
                    </a:cubicBezTo>
                    <a:cubicBezTo>
                      <a:pt x="4633737" y="564908"/>
                      <a:pt x="4633737" y="1088881"/>
                      <a:pt x="4309452" y="1410410"/>
                    </a:cubicBezTo>
                    <a:cubicBezTo>
                      <a:pt x="4003018" y="1720030"/>
                      <a:pt x="3512127" y="1731939"/>
                      <a:pt x="3184867" y="1455067"/>
                    </a:cubicBezTo>
                    <a:cubicBezTo>
                      <a:pt x="3184867" y="1455067"/>
                      <a:pt x="3184867" y="1455067"/>
                      <a:pt x="2613649" y="2023696"/>
                    </a:cubicBezTo>
                    <a:cubicBezTo>
                      <a:pt x="2601749" y="2038582"/>
                      <a:pt x="2586874" y="2044536"/>
                      <a:pt x="2569023" y="2044536"/>
                    </a:cubicBezTo>
                    <a:cubicBezTo>
                      <a:pt x="2554148" y="2044536"/>
                      <a:pt x="2536297" y="2038582"/>
                      <a:pt x="2527372" y="2023696"/>
                    </a:cubicBezTo>
                    <a:cubicBezTo>
                      <a:pt x="2461920" y="1958200"/>
                      <a:pt x="2375642" y="1925451"/>
                      <a:pt x="2286389" y="1925451"/>
                    </a:cubicBezTo>
                    <a:cubicBezTo>
                      <a:pt x="2247713" y="1925451"/>
                      <a:pt x="2223912" y="1898657"/>
                      <a:pt x="2223912" y="1862932"/>
                    </a:cubicBezTo>
                    <a:cubicBezTo>
                      <a:pt x="2223912" y="1830184"/>
                      <a:pt x="2247713" y="1803390"/>
                      <a:pt x="2286389" y="1803390"/>
                    </a:cubicBezTo>
                    <a:cubicBezTo>
                      <a:pt x="2387542" y="1803390"/>
                      <a:pt x="2488695" y="1836138"/>
                      <a:pt x="2566048" y="1898657"/>
                    </a:cubicBezTo>
                    <a:cubicBezTo>
                      <a:pt x="2566048" y="1898657"/>
                      <a:pt x="2566048" y="1898657"/>
                      <a:pt x="3098589" y="1368730"/>
                    </a:cubicBezTo>
                    <a:cubicBezTo>
                      <a:pt x="2815956" y="1044224"/>
                      <a:pt x="2830831" y="552999"/>
                      <a:pt x="3137266" y="243379"/>
                    </a:cubicBezTo>
                    <a:cubicBezTo>
                      <a:pt x="3299408" y="81126"/>
                      <a:pt x="3511384" y="0"/>
                      <a:pt x="3723359" y="0"/>
                    </a:cubicBezTo>
                    <a:close/>
                  </a:path>
                </a:pathLst>
              </a:custGeom>
              <a:solidFill>
                <a:schemeClr val="tx2"/>
              </a:solidFill>
              <a:ln>
                <a:noFill/>
              </a:ln>
            </p:spPr>
            <p:txBody>
              <a:bodyPr vert="horz" wrap="square" lIns="91440" tIns="45720" rIns="91440" bIns="45720" numCol="1" anchor="t" anchorCtr="0" compatLnSpc="1">
                <a:prstTxWarp prst="textNoShape">
                  <a:avLst/>
                </a:prstTxWarp>
                <a:noAutofit/>
              </a:bodyPr>
              <a:lstStyle/>
              <a:p>
                <a:endParaRPr lang="en-US">
                  <a:sym typeface="+mn-lt"/>
                </a:endParaRPr>
              </a:p>
            </p:txBody>
          </p:sp>
          <p:sp>
            <p:nvSpPr>
              <p:cNvPr id="54" name="Freeform 40">
                <a:extLst>
                  <a:ext uri="{FF2B5EF4-FFF2-40B4-BE49-F238E27FC236}">
                    <a16:creationId xmlns:a16="http://schemas.microsoft.com/office/drawing/2014/main" id="{7A4213CF-8EBB-43CA-8D45-97F95A1076F1}"/>
                  </a:ext>
                </a:extLst>
              </p:cNvPr>
              <p:cNvSpPr>
                <a:spLocks/>
              </p:cNvSpPr>
              <p:nvPr/>
            </p:nvSpPr>
            <p:spPr bwMode="auto">
              <a:xfrm>
                <a:off x="3813351" y="1143176"/>
                <a:ext cx="4565299" cy="4565299"/>
              </a:xfrm>
              <a:custGeom>
                <a:avLst/>
                <a:gdLst>
                  <a:gd name="connsiteX0" fmla="*/ 3737879 w 4565299"/>
                  <a:gd name="connsiteY0" fmla="*/ 3535892 h 4565299"/>
                  <a:gd name="connsiteX1" fmla="*/ 3914340 w 4565299"/>
                  <a:gd name="connsiteY1" fmla="*/ 3658161 h 4565299"/>
                  <a:gd name="connsiteX2" fmla="*/ 3815980 w 4565299"/>
                  <a:gd name="connsiteY2" fmla="*/ 3916332 h 4565299"/>
                  <a:gd name="connsiteX3" fmla="*/ 3562628 w 4565299"/>
                  <a:gd name="connsiteY3" fmla="*/ 3815438 h 4565299"/>
                  <a:gd name="connsiteX4" fmla="*/ 3663969 w 4565299"/>
                  <a:gd name="connsiteY4" fmla="*/ 3551332 h 4565299"/>
                  <a:gd name="connsiteX5" fmla="*/ 3737879 w 4565299"/>
                  <a:gd name="connsiteY5" fmla="*/ 3535892 h 4565299"/>
                  <a:gd name="connsiteX6" fmla="*/ 3592406 w 4565299"/>
                  <a:gd name="connsiteY6" fmla="*/ 3279599 h 4565299"/>
                  <a:gd name="connsiteX7" fmla="*/ 3497137 w 4565299"/>
                  <a:gd name="connsiteY7" fmla="*/ 3321289 h 4565299"/>
                  <a:gd name="connsiteX8" fmla="*/ 3416753 w 4565299"/>
                  <a:gd name="connsiteY8" fmla="*/ 3383824 h 4565299"/>
                  <a:gd name="connsiteX9" fmla="*/ 3425684 w 4565299"/>
                  <a:gd name="connsiteY9" fmla="*/ 3464227 h 4565299"/>
                  <a:gd name="connsiteX10" fmla="*/ 3345300 w 4565299"/>
                  <a:gd name="connsiteY10" fmla="*/ 3598230 h 4565299"/>
                  <a:gd name="connsiteX11" fmla="*/ 3273848 w 4565299"/>
                  <a:gd name="connsiteY11" fmla="*/ 3628009 h 4565299"/>
                  <a:gd name="connsiteX12" fmla="*/ 3273848 w 4565299"/>
                  <a:gd name="connsiteY12" fmla="*/ 3833481 h 4565299"/>
                  <a:gd name="connsiteX13" fmla="*/ 3342323 w 4565299"/>
                  <a:gd name="connsiteY13" fmla="*/ 3869215 h 4565299"/>
                  <a:gd name="connsiteX14" fmla="*/ 3381027 w 4565299"/>
                  <a:gd name="connsiteY14" fmla="*/ 3943662 h 4565299"/>
                  <a:gd name="connsiteX15" fmla="*/ 3425684 w 4565299"/>
                  <a:gd name="connsiteY15" fmla="*/ 4012153 h 4565299"/>
                  <a:gd name="connsiteX16" fmla="*/ 3416753 w 4565299"/>
                  <a:gd name="connsiteY16" fmla="*/ 4089577 h 4565299"/>
                  <a:gd name="connsiteX17" fmla="*/ 3589429 w 4565299"/>
                  <a:gd name="connsiteY17" fmla="*/ 4190824 h 4565299"/>
                  <a:gd name="connsiteX18" fmla="*/ 3651950 w 4565299"/>
                  <a:gd name="connsiteY18" fmla="*/ 4143178 h 4565299"/>
                  <a:gd name="connsiteX19" fmla="*/ 3821649 w 4565299"/>
                  <a:gd name="connsiteY19" fmla="*/ 4146156 h 4565299"/>
                  <a:gd name="connsiteX20" fmla="*/ 3887147 w 4565299"/>
                  <a:gd name="connsiteY20" fmla="*/ 4190824 h 4565299"/>
                  <a:gd name="connsiteX21" fmla="*/ 3976463 w 4565299"/>
                  <a:gd name="connsiteY21" fmla="*/ 4152112 h 4565299"/>
                  <a:gd name="connsiteX22" fmla="*/ 4053869 w 4565299"/>
                  <a:gd name="connsiteY22" fmla="*/ 4092555 h 4565299"/>
                  <a:gd name="connsiteX23" fmla="*/ 4044938 w 4565299"/>
                  <a:gd name="connsiteY23" fmla="*/ 4015131 h 4565299"/>
                  <a:gd name="connsiteX24" fmla="*/ 4131276 w 4565299"/>
                  <a:gd name="connsiteY24" fmla="*/ 3863260 h 4565299"/>
                  <a:gd name="connsiteX25" fmla="*/ 4199751 w 4565299"/>
                  <a:gd name="connsiteY25" fmla="*/ 3830503 h 4565299"/>
                  <a:gd name="connsiteX26" fmla="*/ 4196774 w 4565299"/>
                  <a:gd name="connsiteY26" fmla="*/ 3630987 h 4565299"/>
                  <a:gd name="connsiteX27" fmla="*/ 4128299 w 4565299"/>
                  <a:gd name="connsiteY27" fmla="*/ 3598230 h 4565299"/>
                  <a:gd name="connsiteX28" fmla="*/ 4092573 w 4565299"/>
                  <a:gd name="connsiteY28" fmla="*/ 3526762 h 4565299"/>
                  <a:gd name="connsiteX29" fmla="*/ 4041961 w 4565299"/>
                  <a:gd name="connsiteY29" fmla="*/ 3455293 h 4565299"/>
                  <a:gd name="connsiteX30" fmla="*/ 4047915 w 4565299"/>
                  <a:gd name="connsiteY30" fmla="*/ 3377869 h 4565299"/>
                  <a:gd name="connsiteX31" fmla="*/ 3875239 w 4565299"/>
                  <a:gd name="connsiteY31" fmla="*/ 3279599 h 4565299"/>
                  <a:gd name="connsiteX32" fmla="*/ 3809741 w 4565299"/>
                  <a:gd name="connsiteY32" fmla="*/ 3327245 h 4565299"/>
                  <a:gd name="connsiteX33" fmla="*/ 3654927 w 4565299"/>
                  <a:gd name="connsiteY33" fmla="*/ 3327245 h 4565299"/>
                  <a:gd name="connsiteX34" fmla="*/ 3592406 w 4565299"/>
                  <a:gd name="connsiteY34" fmla="*/ 3279599 h 4565299"/>
                  <a:gd name="connsiteX35" fmla="*/ 2693900 w 4565299"/>
                  <a:gd name="connsiteY35" fmla="*/ 2223912 h 4565299"/>
                  <a:gd name="connsiteX36" fmla="*/ 2756436 w 4565299"/>
                  <a:gd name="connsiteY36" fmla="*/ 2286354 h 4565299"/>
                  <a:gd name="connsiteX37" fmla="*/ 2655187 w 4565299"/>
                  <a:gd name="connsiteY37" fmla="*/ 2565855 h 4565299"/>
                  <a:gd name="connsiteX38" fmla="*/ 3172893 w 4565299"/>
                  <a:gd name="connsiteY38" fmla="*/ 3076033 h 4565299"/>
                  <a:gd name="connsiteX39" fmla="*/ 3201254 w 4565299"/>
                  <a:gd name="connsiteY39" fmla="*/ 3103981 h 4565299"/>
                  <a:gd name="connsiteX40" fmla="*/ 3214284 w 4565299"/>
                  <a:gd name="connsiteY40" fmla="*/ 3092210 h 4565299"/>
                  <a:gd name="connsiteX41" fmla="*/ 3735683 w 4565299"/>
                  <a:gd name="connsiteY41" fmla="*/ 2907556 h 4565299"/>
                  <a:gd name="connsiteX42" fmla="*/ 4321886 w 4565299"/>
                  <a:gd name="connsiteY42" fmla="*/ 3148736 h 4565299"/>
                  <a:gd name="connsiteX43" fmla="*/ 4321886 w 4565299"/>
                  <a:gd name="connsiteY43" fmla="*/ 4321886 h 4565299"/>
                  <a:gd name="connsiteX44" fmla="*/ 3151714 w 4565299"/>
                  <a:gd name="connsiteY44" fmla="*/ 4321886 h 4565299"/>
                  <a:gd name="connsiteX45" fmla="*/ 3094664 w 4565299"/>
                  <a:gd name="connsiteY45" fmla="*/ 3211830 h 4565299"/>
                  <a:gd name="connsiteX46" fmla="*/ 3114853 w 4565299"/>
                  <a:gd name="connsiteY46" fmla="*/ 3189503 h 4565299"/>
                  <a:gd name="connsiteX47" fmla="*/ 3014894 w 4565299"/>
                  <a:gd name="connsiteY47" fmla="*/ 3090517 h 4565299"/>
                  <a:gd name="connsiteX48" fmla="*/ 2530114 w 4565299"/>
                  <a:gd name="connsiteY48" fmla="*/ 2610456 h 4565299"/>
                  <a:gd name="connsiteX49" fmla="*/ 2530114 w 4565299"/>
                  <a:gd name="connsiteY49" fmla="*/ 2524227 h 4565299"/>
                  <a:gd name="connsiteX50" fmla="*/ 2631363 w 4565299"/>
                  <a:gd name="connsiteY50" fmla="*/ 2286354 h 4565299"/>
                  <a:gd name="connsiteX51" fmla="*/ 2693900 w 4565299"/>
                  <a:gd name="connsiteY51" fmla="*/ 2223912 h 4565299"/>
                  <a:gd name="connsiteX52" fmla="*/ 553903 w 4565299"/>
                  <a:gd name="connsiteY52" fmla="*/ 374474 h 4565299"/>
                  <a:gd name="connsiteX53" fmla="*/ 524131 w 4565299"/>
                  <a:gd name="connsiteY53" fmla="*/ 389357 h 4565299"/>
                  <a:gd name="connsiteX54" fmla="*/ 390157 w 4565299"/>
                  <a:gd name="connsiteY54" fmla="*/ 517349 h 4565299"/>
                  <a:gd name="connsiteX55" fmla="*/ 375271 w 4565299"/>
                  <a:gd name="connsiteY55" fmla="*/ 544138 h 4565299"/>
                  <a:gd name="connsiteX56" fmla="*/ 366339 w 4565299"/>
                  <a:gd name="connsiteY56" fmla="*/ 570927 h 4565299"/>
                  <a:gd name="connsiteX57" fmla="*/ 366339 w 4565299"/>
                  <a:gd name="connsiteY57" fmla="*/ 591763 h 4565299"/>
                  <a:gd name="connsiteX58" fmla="*/ 369317 w 4565299"/>
                  <a:gd name="connsiteY58" fmla="*/ 639388 h 4565299"/>
                  <a:gd name="connsiteX59" fmla="*/ 387180 w 4565299"/>
                  <a:gd name="connsiteY59" fmla="*/ 710826 h 4565299"/>
                  <a:gd name="connsiteX60" fmla="*/ 428861 w 4565299"/>
                  <a:gd name="connsiteY60" fmla="*/ 806076 h 4565299"/>
                  <a:gd name="connsiteX61" fmla="*/ 503291 w 4565299"/>
                  <a:gd name="connsiteY61" fmla="*/ 922162 h 4565299"/>
                  <a:gd name="connsiteX62" fmla="*/ 616424 w 4565299"/>
                  <a:gd name="connsiteY62" fmla="*/ 1053131 h 4565299"/>
                  <a:gd name="connsiteX63" fmla="*/ 780170 w 4565299"/>
                  <a:gd name="connsiteY63" fmla="*/ 1190053 h 4565299"/>
                  <a:gd name="connsiteX64" fmla="*/ 917121 w 4565299"/>
                  <a:gd name="connsiteY64" fmla="*/ 1267443 h 4565299"/>
                  <a:gd name="connsiteX65" fmla="*/ 1018346 w 4565299"/>
                  <a:gd name="connsiteY65" fmla="*/ 1297209 h 4565299"/>
                  <a:gd name="connsiteX66" fmla="*/ 1080867 w 4565299"/>
                  <a:gd name="connsiteY66" fmla="*/ 1303162 h 4565299"/>
                  <a:gd name="connsiteX67" fmla="*/ 1092776 w 4565299"/>
                  <a:gd name="connsiteY67" fmla="*/ 1303162 h 4565299"/>
                  <a:gd name="connsiteX68" fmla="*/ 1098730 w 4565299"/>
                  <a:gd name="connsiteY68" fmla="*/ 1303162 h 4565299"/>
                  <a:gd name="connsiteX69" fmla="*/ 1125525 w 4565299"/>
                  <a:gd name="connsiteY69" fmla="*/ 1294232 h 4565299"/>
                  <a:gd name="connsiteX70" fmla="*/ 1149343 w 4565299"/>
                  <a:gd name="connsiteY70" fmla="*/ 1279350 h 4565299"/>
                  <a:gd name="connsiteX71" fmla="*/ 1280339 w 4565299"/>
                  <a:gd name="connsiteY71" fmla="*/ 1145404 h 4565299"/>
                  <a:gd name="connsiteX72" fmla="*/ 1292248 w 4565299"/>
                  <a:gd name="connsiteY72" fmla="*/ 1106709 h 4565299"/>
                  <a:gd name="connsiteX73" fmla="*/ 1271408 w 4565299"/>
                  <a:gd name="connsiteY73" fmla="*/ 1076943 h 4565299"/>
                  <a:gd name="connsiteX74" fmla="*/ 1080867 w 4565299"/>
                  <a:gd name="connsiteY74" fmla="*/ 963834 h 4565299"/>
                  <a:gd name="connsiteX75" fmla="*/ 1077890 w 4565299"/>
                  <a:gd name="connsiteY75" fmla="*/ 963834 h 4565299"/>
                  <a:gd name="connsiteX76" fmla="*/ 1054072 w 4565299"/>
                  <a:gd name="connsiteY76" fmla="*/ 957881 h 4565299"/>
                  <a:gd name="connsiteX77" fmla="*/ 1009414 w 4565299"/>
                  <a:gd name="connsiteY77" fmla="*/ 972764 h 4565299"/>
                  <a:gd name="connsiteX78" fmla="*/ 955825 w 4565299"/>
                  <a:gd name="connsiteY78" fmla="*/ 1032295 h 4565299"/>
                  <a:gd name="connsiteX79" fmla="*/ 949870 w 4565299"/>
                  <a:gd name="connsiteY79" fmla="*/ 1035271 h 4565299"/>
                  <a:gd name="connsiteX80" fmla="*/ 943916 w 4565299"/>
                  <a:gd name="connsiteY80" fmla="*/ 1035271 h 4565299"/>
                  <a:gd name="connsiteX81" fmla="*/ 929030 w 4565299"/>
                  <a:gd name="connsiteY81" fmla="*/ 1035271 h 4565299"/>
                  <a:gd name="connsiteX82" fmla="*/ 896281 w 4565299"/>
                  <a:gd name="connsiteY82" fmla="*/ 1017412 h 4565299"/>
                  <a:gd name="connsiteX83" fmla="*/ 836737 w 4565299"/>
                  <a:gd name="connsiteY83" fmla="*/ 981693 h 4565299"/>
                  <a:gd name="connsiteX84" fmla="*/ 759330 w 4565299"/>
                  <a:gd name="connsiteY84" fmla="*/ 910256 h 4565299"/>
                  <a:gd name="connsiteX85" fmla="*/ 687877 w 4565299"/>
                  <a:gd name="connsiteY85" fmla="*/ 832865 h 4565299"/>
                  <a:gd name="connsiteX86" fmla="*/ 652150 w 4565299"/>
                  <a:gd name="connsiteY86" fmla="*/ 776310 h 4565299"/>
                  <a:gd name="connsiteX87" fmla="*/ 634287 w 4565299"/>
                  <a:gd name="connsiteY87" fmla="*/ 728685 h 4565299"/>
                  <a:gd name="connsiteX88" fmla="*/ 634287 w 4565299"/>
                  <a:gd name="connsiteY88" fmla="*/ 719756 h 4565299"/>
                  <a:gd name="connsiteX89" fmla="*/ 637264 w 4565299"/>
                  <a:gd name="connsiteY89" fmla="*/ 713802 h 4565299"/>
                  <a:gd name="connsiteX90" fmla="*/ 687877 w 4565299"/>
                  <a:gd name="connsiteY90" fmla="*/ 666177 h 4565299"/>
                  <a:gd name="connsiteX91" fmla="*/ 705740 w 4565299"/>
                  <a:gd name="connsiteY91" fmla="*/ 633435 h 4565299"/>
                  <a:gd name="connsiteX92" fmla="*/ 699786 w 4565299"/>
                  <a:gd name="connsiteY92" fmla="*/ 597716 h 4565299"/>
                  <a:gd name="connsiteX93" fmla="*/ 592606 w 4565299"/>
                  <a:gd name="connsiteY93" fmla="*/ 398287 h 4565299"/>
                  <a:gd name="connsiteX94" fmla="*/ 574743 w 4565299"/>
                  <a:gd name="connsiteY94" fmla="*/ 380427 h 4565299"/>
                  <a:gd name="connsiteX95" fmla="*/ 553903 w 4565299"/>
                  <a:gd name="connsiteY95" fmla="*/ 374474 h 4565299"/>
                  <a:gd name="connsiteX96" fmla="*/ 829616 w 4565299"/>
                  <a:gd name="connsiteY96" fmla="*/ 0 h 4565299"/>
                  <a:gd name="connsiteX97" fmla="*/ 1413586 w 4565299"/>
                  <a:gd name="connsiteY97" fmla="*/ 243414 h 4565299"/>
                  <a:gd name="connsiteX98" fmla="*/ 1470636 w 4565299"/>
                  <a:gd name="connsiteY98" fmla="*/ 1352946 h 4565299"/>
                  <a:gd name="connsiteX99" fmla="*/ 1457160 w 4565299"/>
                  <a:gd name="connsiteY99" fmla="*/ 1367973 h 4565299"/>
                  <a:gd name="connsiteX100" fmla="*/ 1560979 w 4565299"/>
                  <a:gd name="connsiteY100" fmla="*/ 1471865 h 4565299"/>
                  <a:gd name="connsiteX101" fmla="*/ 2041548 w 4565299"/>
                  <a:gd name="connsiteY101" fmla="*/ 1952772 h 4565299"/>
                  <a:gd name="connsiteX102" fmla="*/ 2041548 w 4565299"/>
                  <a:gd name="connsiteY102" fmla="*/ 2039153 h 4565299"/>
                  <a:gd name="connsiteX103" fmla="*/ 1943322 w 4565299"/>
                  <a:gd name="connsiteY103" fmla="*/ 2280423 h 4565299"/>
                  <a:gd name="connsiteX104" fmla="*/ 1883790 w 4565299"/>
                  <a:gd name="connsiteY104" fmla="*/ 2342975 h 4565299"/>
                  <a:gd name="connsiteX105" fmla="*/ 1821283 w 4565299"/>
                  <a:gd name="connsiteY105" fmla="*/ 2280423 h 4565299"/>
                  <a:gd name="connsiteX106" fmla="*/ 1916533 w 4565299"/>
                  <a:gd name="connsiteY106" fmla="*/ 2000430 h 4565299"/>
                  <a:gd name="connsiteX107" fmla="*/ 1403564 w 4565299"/>
                  <a:gd name="connsiteY107" fmla="*/ 1487101 h 4565299"/>
                  <a:gd name="connsiteX108" fmla="*/ 1369240 w 4565299"/>
                  <a:gd name="connsiteY108" fmla="*/ 1452753 h 4565299"/>
                  <a:gd name="connsiteX109" fmla="*/ 1284290 w 4565299"/>
                  <a:gd name="connsiteY109" fmla="*/ 1522080 h 4565299"/>
                  <a:gd name="connsiteX110" fmla="*/ 243414 w 4565299"/>
                  <a:gd name="connsiteY110" fmla="*/ 1416563 h 4565299"/>
                  <a:gd name="connsiteX111" fmla="*/ 243414 w 4565299"/>
                  <a:gd name="connsiteY111" fmla="*/ 243414 h 4565299"/>
                  <a:gd name="connsiteX112" fmla="*/ 829616 w 4565299"/>
                  <a:gd name="connsiteY112" fmla="*/ 0 h 4565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4565299" h="4565299">
                    <a:moveTo>
                      <a:pt x="3737879" y="3535892"/>
                    </a:moveTo>
                    <a:cubicBezTo>
                      <a:pt x="3812627" y="3535753"/>
                      <a:pt x="3885279" y="3580265"/>
                      <a:pt x="3914340" y="3658161"/>
                    </a:cubicBezTo>
                    <a:cubicBezTo>
                      <a:pt x="3959049" y="3759056"/>
                      <a:pt x="3914340" y="3874788"/>
                      <a:pt x="3815980" y="3916332"/>
                    </a:cubicBezTo>
                    <a:cubicBezTo>
                      <a:pt x="3717620" y="3963812"/>
                      <a:pt x="3604356" y="3913365"/>
                      <a:pt x="3562628" y="3815438"/>
                    </a:cubicBezTo>
                    <a:cubicBezTo>
                      <a:pt x="3520899" y="3711576"/>
                      <a:pt x="3565608" y="3595844"/>
                      <a:pt x="3663969" y="3551332"/>
                    </a:cubicBezTo>
                    <a:cubicBezTo>
                      <a:pt x="3687814" y="3540946"/>
                      <a:pt x="3712963" y="3535938"/>
                      <a:pt x="3737879" y="3535892"/>
                    </a:cubicBezTo>
                    <a:close/>
                    <a:moveTo>
                      <a:pt x="3592406" y="3279599"/>
                    </a:moveTo>
                    <a:cubicBezTo>
                      <a:pt x="3559657" y="3288533"/>
                      <a:pt x="3526908" y="3303422"/>
                      <a:pt x="3497137" y="3321289"/>
                    </a:cubicBezTo>
                    <a:cubicBezTo>
                      <a:pt x="3467365" y="3339156"/>
                      <a:pt x="3440570" y="3360001"/>
                      <a:pt x="3416753" y="3383824"/>
                    </a:cubicBezTo>
                    <a:cubicBezTo>
                      <a:pt x="3425684" y="3464227"/>
                      <a:pt x="3425684" y="3464227"/>
                      <a:pt x="3425684" y="3464227"/>
                    </a:cubicBezTo>
                    <a:cubicBezTo>
                      <a:pt x="3389958" y="3502939"/>
                      <a:pt x="3363164" y="3547607"/>
                      <a:pt x="3345300" y="3598230"/>
                    </a:cubicBezTo>
                    <a:cubicBezTo>
                      <a:pt x="3273848" y="3628009"/>
                      <a:pt x="3273848" y="3628009"/>
                      <a:pt x="3273848" y="3628009"/>
                    </a:cubicBezTo>
                    <a:cubicBezTo>
                      <a:pt x="3258962" y="3696500"/>
                      <a:pt x="3258962" y="3767968"/>
                      <a:pt x="3273848" y="3833481"/>
                    </a:cubicBezTo>
                    <a:cubicBezTo>
                      <a:pt x="3342323" y="3869215"/>
                      <a:pt x="3342323" y="3869215"/>
                      <a:pt x="3342323" y="3869215"/>
                    </a:cubicBezTo>
                    <a:cubicBezTo>
                      <a:pt x="3354232" y="3893038"/>
                      <a:pt x="3366141" y="3922817"/>
                      <a:pt x="3381027" y="3943662"/>
                    </a:cubicBezTo>
                    <a:cubicBezTo>
                      <a:pt x="3392935" y="3970463"/>
                      <a:pt x="3410798" y="3991308"/>
                      <a:pt x="3425684" y="4012153"/>
                    </a:cubicBezTo>
                    <a:cubicBezTo>
                      <a:pt x="3416753" y="4089577"/>
                      <a:pt x="3416753" y="4089577"/>
                      <a:pt x="3416753" y="4089577"/>
                    </a:cubicBezTo>
                    <a:cubicBezTo>
                      <a:pt x="3467365" y="4137223"/>
                      <a:pt x="3523931" y="4169979"/>
                      <a:pt x="3589429" y="4190824"/>
                    </a:cubicBezTo>
                    <a:cubicBezTo>
                      <a:pt x="3651950" y="4143178"/>
                      <a:pt x="3651950" y="4143178"/>
                      <a:pt x="3651950" y="4143178"/>
                    </a:cubicBezTo>
                    <a:cubicBezTo>
                      <a:pt x="3705539" y="4158068"/>
                      <a:pt x="3762106" y="4158068"/>
                      <a:pt x="3821649" y="4146156"/>
                    </a:cubicBezTo>
                    <a:cubicBezTo>
                      <a:pt x="3887147" y="4190824"/>
                      <a:pt x="3887147" y="4190824"/>
                      <a:pt x="3887147" y="4190824"/>
                    </a:cubicBezTo>
                    <a:cubicBezTo>
                      <a:pt x="3913942" y="4181891"/>
                      <a:pt x="3943714" y="4169979"/>
                      <a:pt x="3976463" y="4152112"/>
                    </a:cubicBezTo>
                    <a:cubicBezTo>
                      <a:pt x="4003257" y="4134245"/>
                      <a:pt x="4030052" y="4116378"/>
                      <a:pt x="4053869" y="4092555"/>
                    </a:cubicBezTo>
                    <a:cubicBezTo>
                      <a:pt x="4044938" y="4015131"/>
                      <a:pt x="4044938" y="4015131"/>
                      <a:pt x="4044938" y="4015131"/>
                    </a:cubicBezTo>
                    <a:cubicBezTo>
                      <a:pt x="4083641" y="3970463"/>
                      <a:pt x="4113413" y="3919839"/>
                      <a:pt x="4131276" y="3863260"/>
                    </a:cubicBezTo>
                    <a:cubicBezTo>
                      <a:pt x="4199751" y="3830503"/>
                      <a:pt x="4199751" y="3830503"/>
                      <a:pt x="4199751" y="3830503"/>
                    </a:cubicBezTo>
                    <a:cubicBezTo>
                      <a:pt x="4214637" y="3767968"/>
                      <a:pt x="4214637" y="3696500"/>
                      <a:pt x="4196774" y="3630987"/>
                    </a:cubicBezTo>
                    <a:cubicBezTo>
                      <a:pt x="4128299" y="3598230"/>
                      <a:pt x="4128299" y="3598230"/>
                      <a:pt x="4128299" y="3598230"/>
                    </a:cubicBezTo>
                    <a:cubicBezTo>
                      <a:pt x="4116390" y="3574407"/>
                      <a:pt x="4104482" y="3550584"/>
                      <a:pt x="4092573" y="3526762"/>
                    </a:cubicBezTo>
                    <a:cubicBezTo>
                      <a:pt x="4080664" y="3499961"/>
                      <a:pt x="4059824" y="3479116"/>
                      <a:pt x="4041961" y="3455293"/>
                    </a:cubicBezTo>
                    <a:cubicBezTo>
                      <a:pt x="4047915" y="3377869"/>
                      <a:pt x="4047915" y="3377869"/>
                      <a:pt x="4047915" y="3377869"/>
                    </a:cubicBezTo>
                    <a:cubicBezTo>
                      <a:pt x="3997303" y="3333201"/>
                      <a:pt x="3937759" y="3297466"/>
                      <a:pt x="3875239" y="3279599"/>
                    </a:cubicBezTo>
                    <a:cubicBezTo>
                      <a:pt x="3809741" y="3327245"/>
                      <a:pt x="3809741" y="3327245"/>
                      <a:pt x="3809741" y="3327245"/>
                    </a:cubicBezTo>
                    <a:cubicBezTo>
                      <a:pt x="3756151" y="3315334"/>
                      <a:pt x="3705539" y="3318311"/>
                      <a:pt x="3654927" y="3327245"/>
                    </a:cubicBezTo>
                    <a:cubicBezTo>
                      <a:pt x="3592406" y="3279599"/>
                      <a:pt x="3592406" y="3279599"/>
                      <a:pt x="3592406" y="3279599"/>
                    </a:cubicBezTo>
                    <a:close/>
                    <a:moveTo>
                      <a:pt x="2693900" y="2223912"/>
                    </a:moveTo>
                    <a:cubicBezTo>
                      <a:pt x="2726657" y="2223912"/>
                      <a:pt x="2756436" y="2250673"/>
                      <a:pt x="2756436" y="2286354"/>
                    </a:cubicBezTo>
                    <a:cubicBezTo>
                      <a:pt x="2756436" y="2387450"/>
                      <a:pt x="2720701" y="2485572"/>
                      <a:pt x="2655187" y="2565855"/>
                    </a:cubicBezTo>
                    <a:cubicBezTo>
                      <a:pt x="2912033" y="2818966"/>
                      <a:pt x="3072562" y="2977161"/>
                      <a:pt x="3172893" y="3076033"/>
                    </a:cubicBezTo>
                    <a:lnTo>
                      <a:pt x="3201254" y="3103981"/>
                    </a:lnTo>
                    <a:lnTo>
                      <a:pt x="3214284" y="3092210"/>
                    </a:lnTo>
                    <a:cubicBezTo>
                      <a:pt x="3365358" y="2969107"/>
                      <a:pt x="3550378" y="2907556"/>
                      <a:pt x="3735683" y="2907556"/>
                    </a:cubicBezTo>
                    <a:cubicBezTo>
                      <a:pt x="3947461" y="2907556"/>
                      <a:pt x="4159610" y="2987949"/>
                      <a:pt x="4321886" y="3148736"/>
                    </a:cubicBezTo>
                    <a:cubicBezTo>
                      <a:pt x="4646437" y="3473288"/>
                      <a:pt x="4646437" y="3997334"/>
                      <a:pt x="4321886" y="4321886"/>
                    </a:cubicBezTo>
                    <a:cubicBezTo>
                      <a:pt x="3997334" y="4646437"/>
                      <a:pt x="3473288" y="4646437"/>
                      <a:pt x="3151714" y="4321886"/>
                    </a:cubicBezTo>
                    <a:cubicBezTo>
                      <a:pt x="2847447" y="4017619"/>
                      <a:pt x="2828430" y="3538015"/>
                      <a:pt x="3094664" y="3211830"/>
                    </a:cubicBezTo>
                    <a:lnTo>
                      <a:pt x="3114853" y="3189503"/>
                    </a:lnTo>
                    <a:lnTo>
                      <a:pt x="3014894" y="3090517"/>
                    </a:lnTo>
                    <a:cubicBezTo>
                      <a:pt x="2530114" y="2610456"/>
                      <a:pt x="2530114" y="2610456"/>
                      <a:pt x="2530114" y="2610456"/>
                    </a:cubicBezTo>
                    <a:cubicBezTo>
                      <a:pt x="2503312" y="2589642"/>
                      <a:pt x="2503312" y="2550988"/>
                      <a:pt x="2530114" y="2524227"/>
                    </a:cubicBezTo>
                    <a:cubicBezTo>
                      <a:pt x="2595628" y="2461785"/>
                      <a:pt x="2631363" y="2375556"/>
                      <a:pt x="2631363" y="2286354"/>
                    </a:cubicBezTo>
                    <a:cubicBezTo>
                      <a:pt x="2631363" y="2250673"/>
                      <a:pt x="2655187" y="2223912"/>
                      <a:pt x="2693900" y="2223912"/>
                    </a:cubicBezTo>
                    <a:close/>
                    <a:moveTo>
                      <a:pt x="553903" y="374474"/>
                    </a:moveTo>
                    <a:cubicBezTo>
                      <a:pt x="541994" y="374474"/>
                      <a:pt x="530085" y="377451"/>
                      <a:pt x="524131" y="389357"/>
                    </a:cubicBezTo>
                    <a:cubicBezTo>
                      <a:pt x="524131" y="389357"/>
                      <a:pt x="524131" y="389357"/>
                      <a:pt x="390157" y="517349"/>
                    </a:cubicBezTo>
                    <a:cubicBezTo>
                      <a:pt x="384203" y="523302"/>
                      <a:pt x="381225" y="532232"/>
                      <a:pt x="375271" y="544138"/>
                    </a:cubicBezTo>
                    <a:cubicBezTo>
                      <a:pt x="372294" y="550091"/>
                      <a:pt x="366339" y="559021"/>
                      <a:pt x="366339" y="570927"/>
                    </a:cubicBezTo>
                    <a:cubicBezTo>
                      <a:pt x="366339" y="570927"/>
                      <a:pt x="366339" y="576880"/>
                      <a:pt x="366339" y="591763"/>
                    </a:cubicBezTo>
                    <a:cubicBezTo>
                      <a:pt x="363362" y="600693"/>
                      <a:pt x="366339" y="618552"/>
                      <a:pt x="369317" y="639388"/>
                    </a:cubicBezTo>
                    <a:cubicBezTo>
                      <a:pt x="372294" y="657248"/>
                      <a:pt x="378248" y="684037"/>
                      <a:pt x="387180" y="710826"/>
                    </a:cubicBezTo>
                    <a:cubicBezTo>
                      <a:pt x="396111" y="740591"/>
                      <a:pt x="410997" y="773334"/>
                      <a:pt x="428861" y="806076"/>
                    </a:cubicBezTo>
                    <a:cubicBezTo>
                      <a:pt x="446724" y="841795"/>
                      <a:pt x="473519" y="883467"/>
                      <a:pt x="503291" y="922162"/>
                    </a:cubicBezTo>
                    <a:cubicBezTo>
                      <a:pt x="530085" y="963834"/>
                      <a:pt x="571766" y="1008482"/>
                      <a:pt x="616424" y="1053131"/>
                    </a:cubicBezTo>
                    <a:cubicBezTo>
                      <a:pt x="672991" y="1112662"/>
                      <a:pt x="726580" y="1157311"/>
                      <a:pt x="780170" y="1190053"/>
                    </a:cubicBezTo>
                    <a:cubicBezTo>
                      <a:pt x="830782" y="1225771"/>
                      <a:pt x="875440" y="1249584"/>
                      <a:pt x="917121" y="1267443"/>
                    </a:cubicBezTo>
                    <a:cubicBezTo>
                      <a:pt x="958802" y="1282326"/>
                      <a:pt x="991551" y="1294232"/>
                      <a:pt x="1018346" y="1297209"/>
                    </a:cubicBezTo>
                    <a:cubicBezTo>
                      <a:pt x="1048118" y="1303162"/>
                      <a:pt x="1065981" y="1303162"/>
                      <a:pt x="1080867" y="1303162"/>
                    </a:cubicBezTo>
                    <a:cubicBezTo>
                      <a:pt x="1086821" y="1303162"/>
                      <a:pt x="1089799" y="1303162"/>
                      <a:pt x="1092776" y="1303162"/>
                    </a:cubicBezTo>
                    <a:cubicBezTo>
                      <a:pt x="1098730" y="1303162"/>
                      <a:pt x="1098730" y="1303162"/>
                      <a:pt x="1098730" y="1303162"/>
                    </a:cubicBezTo>
                    <a:cubicBezTo>
                      <a:pt x="1107662" y="1303162"/>
                      <a:pt x="1116593" y="1297209"/>
                      <a:pt x="1125525" y="1294232"/>
                    </a:cubicBezTo>
                    <a:cubicBezTo>
                      <a:pt x="1137434" y="1288279"/>
                      <a:pt x="1146365" y="1282326"/>
                      <a:pt x="1149343" y="1279350"/>
                    </a:cubicBezTo>
                    <a:cubicBezTo>
                      <a:pt x="1149343" y="1279350"/>
                      <a:pt x="1149343" y="1279350"/>
                      <a:pt x="1280339" y="1145404"/>
                    </a:cubicBezTo>
                    <a:cubicBezTo>
                      <a:pt x="1292248" y="1133498"/>
                      <a:pt x="1295225" y="1124568"/>
                      <a:pt x="1292248" y="1106709"/>
                    </a:cubicBezTo>
                    <a:cubicBezTo>
                      <a:pt x="1292248" y="1094803"/>
                      <a:pt x="1286294" y="1082896"/>
                      <a:pt x="1271408" y="1076943"/>
                    </a:cubicBezTo>
                    <a:cubicBezTo>
                      <a:pt x="1271408" y="1076943"/>
                      <a:pt x="1271408" y="1076943"/>
                      <a:pt x="1080867" y="963834"/>
                    </a:cubicBezTo>
                    <a:cubicBezTo>
                      <a:pt x="1080867" y="963834"/>
                      <a:pt x="1080867" y="963834"/>
                      <a:pt x="1077890" y="963834"/>
                    </a:cubicBezTo>
                    <a:cubicBezTo>
                      <a:pt x="1071935" y="957881"/>
                      <a:pt x="1063004" y="957881"/>
                      <a:pt x="1054072" y="957881"/>
                    </a:cubicBezTo>
                    <a:cubicBezTo>
                      <a:pt x="1036209" y="957881"/>
                      <a:pt x="1021323" y="963834"/>
                      <a:pt x="1009414" y="972764"/>
                    </a:cubicBezTo>
                    <a:cubicBezTo>
                      <a:pt x="1009414" y="972764"/>
                      <a:pt x="1009414" y="972764"/>
                      <a:pt x="955825" y="1032295"/>
                    </a:cubicBezTo>
                    <a:cubicBezTo>
                      <a:pt x="955825" y="1032295"/>
                      <a:pt x="952847" y="1035271"/>
                      <a:pt x="949870" y="1035271"/>
                    </a:cubicBezTo>
                    <a:cubicBezTo>
                      <a:pt x="946893" y="1035271"/>
                      <a:pt x="943916" y="1035271"/>
                      <a:pt x="943916" y="1035271"/>
                    </a:cubicBezTo>
                    <a:cubicBezTo>
                      <a:pt x="943916" y="1035271"/>
                      <a:pt x="943916" y="1035271"/>
                      <a:pt x="929030" y="1035271"/>
                    </a:cubicBezTo>
                    <a:cubicBezTo>
                      <a:pt x="920098" y="1032295"/>
                      <a:pt x="911167" y="1026342"/>
                      <a:pt x="896281" y="1017412"/>
                    </a:cubicBezTo>
                    <a:cubicBezTo>
                      <a:pt x="878418" y="1011459"/>
                      <a:pt x="860554" y="996576"/>
                      <a:pt x="836737" y="981693"/>
                    </a:cubicBezTo>
                    <a:cubicBezTo>
                      <a:pt x="815896" y="963834"/>
                      <a:pt x="786124" y="940021"/>
                      <a:pt x="759330" y="910256"/>
                    </a:cubicBezTo>
                    <a:cubicBezTo>
                      <a:pt x="726580" y="883467"/>
                      <a:pt x="705740" y="853701"/>
                      <a:pt x="687877" y="832865"/>
                    </a:cubicBezTo>
                    <a:cubicBezTo>
                      <a:pt x="670014" y="809052"/>
                      <a:pt x="661082" y="788216"/>
                      <a:pt x="652150" y="776310"/>
                    </a:cubicBezTo>
                    <a:cubicBezTo>
                      <a:pt x="643219" y="755474"/>
                      <a:pt x="637264" y="740591"/>
                      <a:pt x="634287" y="728685"/>
                    </a:cubicBezTo>
                    <a:cubicBezTo>
                      <a:pt x="634287" y="725709"/>
                      <a:pt x="634287" y="722732"/>
                      <a:pt x="634287" y="719756"/>
                    </a:cubicBezTo>
                    <a:cubicBezTo>
                      <a:pt x="634287" y="716779"/>
                      <a:pt x="637264" y="713802"/>
                      <a:pt x="637264" y="713802"/>
                    </a:cubicBezTo>
                    <a:cubicBezTo>
                      <a:pt x="637264" y="713802"/>
                      <a:pt x="637264" y="713802"/>
                      <a:pt x="687877" y="666177"/>
                    </a:cubicBezTo>
                    <a:cubicBezTo>
                      <a:pt x="696808" y="657248"/>
                      <a:pt x="702763" y="645341"/>
                      <a:pt x="705740" y="633435"/>
                    </a:cubicBezTo>
                    <a:cubicBezTo>
                      <a:pt x="705740" y="621529"/>
                      <a:pt x="705740" y="609623"/>
                      <a:pt x="699786" y="597716"/>
                    </a:cubicBezTo>
                    <a:cubicBezTo>
                      <a:pt x="699786" y="597716"/>
                      <a:pt x="699786" y="597716"/>
                      <a:pt x="592606" y="398287"/>
                    </a:cubicBezTo>
                    <a:cubicBezTo>
                      <a:pt x="589629" y="392333"/>
                      <a:pt x="583675" y="386380"/>
                      <a:pt x="574743" y="380427"/>
                    </a:cubicBezTo>
                    <a:cubicBezTo>
                      <a:pt x="571766" y="374474"/>
                      <a:pt x="562835" y="374474"/>
                      <a:pt x="553903" y="374474"/>
                    </a:cubicBezTo>
                    <a:close/>
                    <a:moveTo>
                      <a:pt x="829616" y="0"/>
                    </a:moveTo>
                    <a:cubicBezTo>
                      <a:pt x="1041394" y="0"/>
                      <a:pt x="1252799" y="81138"/>
                      <a:pt x="1413586" y="243414"/>
                    </a:cubicBezTo>
                    <a:cubicBezTo>
                      <a:pt x="1717853" y="544890"/>
                      <a:pt x="1736869" y="1024319"/>
                      <a:pt x="1470636" y="1352946"/>
                    </a:cubicBezTo>
                    <a:lnTo>
                      <a:pt x="1457160" y="1367973"/>
                    </a:lnTo>
                    <a:lnTo>
                      <a:pt x="1560979" y="1471865"/>
                    </a:lnTo>
                    <a:cubicBezTo>
                      <a:pt x="2041548" y="1952772"/>
                      <a:pt x="2041548" y="1952772"/>
                      <a:pt x="2041548" y="1952772"/>
                    </a:cubicBezTo>
                    <a:cubicBezTo>
                      <a:pt x="2068337" y="1976601"/>
                      <a:pt x="2068337" y="2015323"/>
                      <a:pt x="2041548" y="2039153"/>
                    </a:cubicBezTo>
                    <a:cubicBezTo>
                      <a:pt x="1979040" y="2104683"/>
                      <a:pt x="1943322" y="2191064"/>
                      <a:pt x="1943322" y="2280423"/>
                    </a:cubicBezTo>
                    <a:cubicBezTo>
                      <a:pt x="1943322" y="2316167"/>
                      <a:pt x="1916533" y="2342975"/>
                      <a:pt x="1883790" y="2342975"/>
                    </a:cubicBezTo>
                    <a:cubicBezTo>
                      <a:pt x="1845095" y="2342975"/>
                      <a:pt x="1821283" y="2316167"/>
                      <a:pt x="1821283" y="2280423"/>
                    </a:cubicBezTo>
                    <a:cubicBezTo>
                      <a:pt x="1821283" y="2179149"/>
                      <a:pt x="1854025" y="2080854"/>
                      <a:pt x="1916533" y="2000430"/>
                    </a:cubicBezTo>
                    <a:cubicBezTo>
                      <a:pt x="1662037" y="1745755"/>
                      <a:pt x="1502976" y="1586584"/>
                      <a:pt x="1403564" y="1487101"/>
                    </a:cubicBezTo>
                    <a:lnTo>
                      <a:pt x="1369240" y="1452753"/>
                    </a:lnTo>
                    <a:lnTo>
                      <a:pt x="1284290" y="1522080"/>
                    </a:lnTo>
                    <a:cubicBezTo>
                      <a:pt x="964118" y="1733113"/>
                      <a:pt x="527396" y="1697940"/>
                      <a:pt x="243414" y="1416563"/>
                    </a:cubicBezTo>
                    <a:cubicBezTo>
                      <a:pt x="-81138" y="1089034"/>
                      <a:pt x="-81138" y="564988"/>
                      <a:pt x="243414" y="243414"/>
                    </a:cubicBezTo>
                    <a:cubicBezTo>
                      <a:pt x="405690" y="81138"/>
                      <a:pt x="617839" y="0"/>
                      <a:pt x="829616"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sym typeface="+mn-lt"/>
                </a:endParaRPr>
              </a:p>
            </p:txBody>
          </p:sp>
        </p:grpSp>
      </p:grpSp>
      <p:grpSp>
        <p:nvGrpSpPr>
          <p:cNvPr id="6" name="Group 5">
            <a:extLst>
              <a:ext uri="{FF2B5EF4-FFF2-40B4-BE49-F238E27FC236}">
                <a16:creationId xmlns:a16="http://schemas.microsoft.com/office/drawing/2014/main" id="{C34E78CB-14CE-45E7-B463-1F27BEEB0B88}"/>
              </a:ext>
            </a:extLst>
          </p:cNvPr>
          <p:cNvGrpSpPr/>
          <p:nvPr/>
        </p:nvGrpSpPr>
        <p:grpSpPr>
          <a:xfrm>
            <a:off x="629743" y="5607090"/>
            <a:ext cx="4995897" cy="553998"/>
            <a:chOff x="629743" y="5607090"/>
            <a:chExt cx="4995897" cy="553998"/>
          </a:xfrm>
        </p:grpSpPr>
        <p:sp>
          <p:nvSpPr>
            <p:cNvPr id="17" name="object 4">
              <a:extLst>
                <a:ext uri="{FF2B5EF4-FFF2-40B4-BE49-F238E27FC236}">
                  <a16:creationId xmlns:a16="http://schemas.microsoft.com/office/drawing/2014/main" id="{6C086EAD-C057-4701-96F7-A6395F2B36CF}"/>
                </a:ext>
              </a:extLst>
            </p:cNvPr>
            <p:cNvSpPr txBox="1">
              <a:spLocks/>
            </p:cNvSpPr>
            <p:nvPr/>
          </p:nvSpPr>
          <p:spPr>
            <a:xfrm>
              <a:off x="1232845" y="5771521"/>
              <a:ext cx="4392795" cy="225135"/>
            </a:xfrm>
            <a:prstGeom prst="rect">
              <a:avLst/>
            </a:prstGeom>
          </p:spPr>
          <p:txBody>
            <a:bodyPr vert="horz" wrap="square" lIns="0" tIns="9598" rIns="0" bIns="0" rtlCol="0">
              <a:spAutoFit/>
            </a:bodyPr>
            <a:lstStyle>
              <a:lvl1pPr marL="0" indent="0" algn="l" defTabSz="914400" rtl="0" eaLnBrk="1" latinLnBrk="0" hangingPunct="1">
                <a:lnSpc>
                  <a:spcPct val="110000"/>
                </a:lnSpc>
                <a:spcBef>
                  <a:spcPts val="600"/>
                </a:spcBef>
                <a:spcAft>
                  <a:spcPts val="300"/>
                </a:spcAft>
                <a:buClr>
                  <a:srgbClr val="DC0532"/>
                </a:buClr>
                <a:buFont typeface="Arial" panose="020B0604020202020204" pitchFamily="34" charset="0"/>
                <a:buChar char="​"/>
                <a:defRPr lang="en-US" sz="1600" b="0" i="0" kern="1200">
                  <a:solidFill>
                    <a:srgbClr val="565656"/>
                  </a:solidFill>
                  <a:latin typeface="Trebuchet MS"/>
                  <a:ea typeface="+mn-ea"/>
                  <a:cs typeface="Trebuchet MS"/>
                  <a:sym typeface="+mn-lt"/>
                </a:defRPr>
              </a:lvl1pPr>
              <a:lvl2pPr marL="284400" indent="-172800" algn="l" defTabSz="914400" rtl="0" eaLnBrk="1" latinLnBrk="0" hangingPunct="1">
                <a:lnSpc>
                  <a:spcPct val="90000"/>
                </a:lnSpc>
                <a:spcBef>
                  <a:spcPts val="0"/>
                </a:spcBef>
                <a:spcAft>
                  <a:spcPts val="300"/>
                </a:spcAft>
                <a:buClr>
                  <a:srgbClr val="DC0532"/>
                </a:buClr>
                <a:buFont typeface="Arial" panose="020B0604020202020204" pitchFamily="34" charset="0"/>
                <a:buChar char="•"/>
                <a:defRPr lang="en-US" sz="1200" kern="1200">
                  <a:solidFill>
                    <a:srgbClr val="4D4D4D"/>
                  </a:solidFill>
                  <a:latin typeface="+mn-lt"/>
                  <a:ea typeface="+mn-ea"/>
                  <a:cs typeface="+mn-cs"/>
                  <a:sym typeface="+mn-lt"/>
                </a:defRPr>
              </a:lvl2pPr>
              <a:lvl3pPr marL="511200" indent="-165600" algn="l" defTabSz="914400" rtl="0" eaLnBrk="1" latinLnBrk="0" hangingPunct="1">
                <a:lnSpc>
                  <a:spcPct val="90000"/>
                </a:lnSpc>
                <a:spcBef>
                  <a:spcPts val="0"/>
                </a:spcBef>
                <a:spcAft>
                  <a:spcPts val="300"/>
                </a:spcAft>
                <a:buClr>
                  <a:srgbClr val="DC0532"/>
                </a:buClr>
                <a:buFont typeface="Trebuchet MS" panose="020B0603020202020204" pitchFamily="34" charset="0"/>
                <a:buChar char="–"/>
                <a:defRPr lang="en-US" sz="1200" kern="1200">
                  <a:solidFill>
                    <a:srgbClr val="4D4D4D"/>
                  </a:solidFill>
                  <a:latin typeface="+mn-lt"/>
                  <a:ea typeface="+mn-ea"/>
                  <a:cs typeface="+mn-cs"/>
                  <a:sym typeface="+mn-lt"/>
                </a:defRPr>
              </a:lvl3pPr>
              <a:lvl4pPr marL="0" indent="0" algn="l" defTabSz="914400" rtl="0" eaLnBrk="1" latinLnBrk="0" hangingPunct="1">
                <a:lnSpc>
                  <a:spcPct val="110000"/>
                </a:lnSpc>
                <a:spcBef>
                  <a:spcPts val="300"/>
                </a:spcBef>
                <a:spcAft>
                  <a:spcPts val="300"/>
                </a:spcAft>
                <a:buClr>
                  <a:srgbClr val="DC0532"/>
                </a:buClr>
                <a:buFont typeface="Arial" panose="020B0604020202020204" pitchFamily="34" charset="0"/>
                <a:buChar char="​"/>
                <a:defRPr lang="en-US" sz="1600" kern="1200">
                  <a:solidFill>
                    <a:srgbClr val="DC0532"/>
                  </a:solidFill>
                  <a:latin typeface="+mn-lt"/>
                  <a:ea typeface="+mn-ea"/>
                  <a:cs typeface="+mn-cs"/>
                  <a:sym typeface="+mn-lt"/>
                </a:defRPr>
              </a:lvl4pPr>
              <a:lvl5pPr marL="0" indent="0" algn="l" defTabSz="914400" rtl="0" eaLnBrk="1" latinLnBrk="0" hangingPunct="1">
                <a:lnSpc>
                  <a:spcPct val="100000"/>
                </a:lnSpc>
                <a:spcBef>
                  <a:spcPts val="0"/>
                </a:spcBef>
                <a:spcAft>
                  <a:spcPts val="300"/>
                </a:spcAft>
                <a:buClr>
                  <a:srgbClr val="DC0532"/>
                </a:buClr>
                <a:buFont typeface="Arial" panose="020B0604020202020204" pitchFamily="34" charset="0"/>
                <a:buChar char="​"/>
                <a:defRPr lang="en-US" sz="1600" b="1" kern="1200" smtClean="0">
                  <a:solidFill>
                    <a:srgbClr val="4D4D4D"/>
                  </a:solidFill>
                  <a:latin typeface="+mn-lt"/>
                  <a:ea typeface="+mn-ea"/>
                  <a:cs typeface="+mn-cs"/>
                  <a:sym typeface="+mn-lt"/>
                </a:defRPr>
              </a:lvl5pPr>
              <a:lvl6pPr marL="269875" indent="-152400" algn="l" defTabSz="914400" rtl="0" eaLnBrk="1" latinLnBrk="0" hangingPunct="1">
                <a:lnSpc>
                  <a:spcPct val="90000"/>
                </a:lnSpc>
                <a:spcBef>
                  <a:spcPts val="0"/>
                </a:spcBef>
                <a:spcAft>
                  <a:spcPts val="600"/>
                </a:spcAft>
                <a:buClr>
                  <a:srgbClr val="DC0532"/>
                </a:buClr>
                <a:buFont typeface="Arial" panose="020B0604020202020204" pitchFamily="34" charset="0"/>
                <a:buChar char="•"/>
                <a:defRPr lang="en-US" sz="1600" kern="1200" smtClean="0">
                  <a:solidFill>
                    <a:srgbClr val="4D4D4D"/>
                  </a:solidFill>
                  <a:latin typeface="+mn-lt"/>
                  <a:ea typeface="+mn-ea"/>
                  <a:cs typeface="+mn-cs"/>
                  <a:sym typeface="+mn-lt"/>
                </a:defRPr>
              </a:lvl6pPr>
              <a:lvl7pPr marL="0" indent="0" algn="l" defTabSz="914400" rtl="0" eaLnBrk="1" latinLnBrk="0" hangingPunct="1">
                <a:lnSpc>
                  <a:spcPct val="90000"/>
                </a:lnSpc>
                <a:spcBef>
                  <a:spcPts val="900"/>
                </a:spcBef>
                <a:spcAft>
                  <a:spcPts val="900"/>
                </a:spcAft>
                <a:buClr>
                  <a:srgbClr val="DC0532"/>
                </a:buClr>
                <a:buFont typeface="Arial" panose="020B0604020202020204" pitchFamily="34" charset="0"/>
                <a:buChar char="​"/>
                <a:defRPr lang="en-US" sz="4400" kern="1200" baseline="0" smtClean="0">
                  <a:solidFill>
                    <a:srgbClr val="4D4D4D"/>
                  </a:solidFill>
                  <a:latin typeface="+mn-lt"/>
                  <a:ea typeface="+mn-ea"/>
                  <a:cs typeface="+mn-cs"/>
                  <a:sym typeface="+mn-lt"/>
                </a:defRPr>
              </a:lvl7pPr>
              <a:lvl8pPr marL="0" indent="0" algn="l" defTabSz="914400" rtl="0" eaLnBrk="1" latinLnBrk="0" hangingPunct="1">
                <a:lnSpc>
                  <a:spcPct val="90000"/>
                </a:lnSpc>
                <a:spcBef>
                  <a:spcPts val="900"/>
                </a:spcBef>
                <a:spcAft>
                  <a:spcPts val="0"/>
                </a:spcAft>
                <a:buClr>
                  <a:srgbClr val="DC0532"/>
                </a:buClr>
                <a:buFont typeface="Arial" panose="020B0604020202020204" pitchFamily="34" charset="0"/>
                <a:buChar char="​"/>
                <a:defRPr lang="en-US" sz="5400" kern="1200" baseline="0" smtClean="0">
                  <a:solidFill>
                    <a:srgbClr val="DC0532"/>
                  </a:solidFill>
                  <a:latin typeface="+mn-lt"/>
                  <a:ea typeface="+mn-ea"/>
                  <a:cs typeface="+mn-cs"/>
                  <a:sym typeface="+mn-lt"/>
                </a:defRPr>
              </a:lvl8pPr>
              <a:lvl9pPr marL="0" indent="0" algn="l" defTabSz="914400" rtl="0" eaLnBrk="1" latinLnBrk="0" hangingPunct="1">
                <a:lnSpc>
                  <a:spcPct val="100000"/>
                </a:lnSpc>
                <a:spcBef>
                  <a:spcPts val="0"/>
                </a:spcBef>
                <a:spcAft>
                  <a:spcPts val="900"/>
                </a:spcAft>
                <a:buClr>
                  <a:srgbClr val="DC0532"/>
                </a:buClr>
                <a:buFont typeface="Arial" panose="020B0604020202020204" pitchFamily="34" charset="0"/>
                <a:buChar char="​"/>
                <a:defRPr lang="en-US" sz="2400" kern="1200" baseline="0" dirty="0">
                  <a:solidFill>
                    <a:srgbClr val="DC0532"/>
                  </a:solidFill>
                  <a:latin typeface="+mn-lt"/>
                  <a:ea typeface="+mn-ea"/>
                  <a:cs typeface="+mn-cs"/>
                  <a:sym typeface="+mn-lt"/>
                </a:defRPr>
              </a:lvl9pPr>
            </a:lstStyle>
            <a:p>
              <a:pPr>
                <a:lnSpc>
                  <a:spcPct val="100000"/>
                </a:lnSpc>
                <a:spcBef>
                  <a:spcPts val="0"/>
                </a:spcBef>
                <a:spcAft>
                  <a:spcPts val="0"/>
                </a:spcAft>
                <a:buClrTx/>
                <a:buSzPct val="100000"/>
                <a:buFont typeface="Trebuchet MS" panose="020B0603020202020204" pitchFamily="34" charset="0"/>
                <a:buChar char="​"/>
              </a:pPr>
              <a:r>
                <a:rPr lang="en-ZA" sz="1400">
                  <a:solidFill>
                    <a:schemeClr val="tx1">
                      <a:lumMod val="100000"/>
                    </a:schemeClr>
                  </a:solidFill>
                  <a:latin typeface="+mn-lt"/>
                  <a:cs typeface="+mn-cs"/>
                </a:rPr>
                <a:t>I can communicate and they listen</a:t>
              </a:r>
            </a:p>
          </p:txBody>
        </p:sp>
        <p:grpSp>
          <p:nvGrpSpPr>
            <p:cNvPr id="55" name="Group 54">
              <a:extLst>
                <a:ext uri="{FF2B5EF4-FFF2-40B4-BE49-F238E27FC236}">
                  <a16:creationId xmlns:a16="http://schemas.microsoft.com/office/drawing/2014/main" id="{283AB383-B49F-4E53-8D71-BCFB96AFFDFC}"/>
                </a:ext>
              </a:extLst>
            </p:cNvPr>
            <p:cNvGrpSpPr>
              <a:grpSpLocks noChangeAspect="1"/>
            </p:cNvGrpSpPr>
            <p:nvPr/>
          </p:nvGrpSpPr>
          <p:grpSpPr>
            <a:xfrm>
              <a:off x="629743" y="5607090"/>
              <a:ext cx="553998" cy="553998"/>
              <a:chOff x="5272088" y="2606675"/>
              <a:chExt cx="1646237" cy="1646238"/>
            </a:xfrm>
          </p:grpSpPr>
          <p:sp>
            <p:nvSpPr>
              <p:cNvPr id="56" name="AutoShape 3">
                <a:extLst>
                  <a:ext uri="{FF2B5EF4-FFF2-40B4-BE49-F238E27FC236}">
                    <a16:creationId xmlns:a16="http://schemas.microsoft.com/office/drawing/2014/main" id="{91D25D2E-3E66-41FC-BCAB-AF74035B1EC7}"/>
                  </a:ext>
                </a:extLst>
              </p:cNvPr>
              <p:cNvSpPr>
                <a:spLocks noChangeAspect="1" noChangeArrowheads="1" noTextEdit="1"/>
              </p:cNvSpPr>
              <p:nvPr/>
            </p:nvSpPr>
            <p:spPr bwMode="auto">
              <a:xfrm>
                <a:off x="5272088" y="2606675"/>
                <a:ext cx="1646237" cy="1646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ym typeface="+mn-lt"/>
                </a:endParaRPr>
              </a:p>
            </p:txBody>
          </p:sp>
          <p:grpSp>
            <p:nvGrpSpPr>
              <p:cNvPr id="57" name="Group 56">
                <a:extLst>
                  <a:ext uri="{FF2B5EF4-FFF2-40B4-BE49-F238E27FC236}">
                    <a16:creationId xmlns:a16="http://schemas.microsoft.com/office/drawing/2014/main" id="{DD422951-19E6-4DA8-B3EE-69F4CB96A569}"/>
                  </a:ext>
                </a:extLst>
              </p:cNvPr>
              <p:cNvGrpSpPr/>
              <p:nvPr/>
            </p:nvGrpSpPr>
            <p:grpSpPr>
              <a:xfrm>
                <a:off x="5710238" y="2881313"/>
                <a:ext cx="757237" cy="1095375"/>
                <a:chOff x="5710238" y="2881313"/>
                <a:chExt cx="757237" cy="1095375"/>
              </a:xfrm>
            </p:grpSpPr>
            <p:sp>
              <p:nvSpPr>
                <p:cNvPr id="58" name="Freeform 12">
                  <a:extLst>
                    <a:ext uri="{FF2B5EF4-FFF2-40B4-BE49-F238E27FC236}">
                      <a16:creationId xmlns:a16="http://schemas.microsoft.com/office/drawing/2014/main" id="{8C5FF42D-E249-47AB-8A64-FC64331D3CE9}"/>
                    </a:ext>
                  </a:extLst>
                </p:cNvPr>
                <p:cNvSpPr>
                  <a:spLocks/>
                </p:cNvSpPr>
                <p:nvPr/>
              </p:nvSpPr>
              <p:spPr bwMode="auto">
                <a:xfrm>
                  <a:off x="5710238" y="2881313"/>
                  <a:ext cx="757237" cy="1095375"/>
                </a:xfrm>
                <a:custGeom>
                  <a:avLst/>
                  <a:gdLst>
                    <a:gd name="T0" fmla="*/ 1058 w 1058"/>
                    <a:gd name="T1" fmla="*/ 521 h 1532"/>
                    <a:gd name="T2" fmla="*/ 1057 w 1058"/>
                    <a:gd name="T3" fmla="*/ 503 h 1532"/>
                    <a:gd name="T4" fmla="*/ 1057 w 1058"/>
                    <a:gd name="T5" fmla="*/ 502 h 1532"/>
                    <a:gd name="T6" fmla="*/ 1053 w 1058"/>
                    <a:gd name="T7" fmla="*/ 458 h 1532"/>
                    <a:gd name="T8" fmla="*/ 881 w 1058"/>
                    <a:gd name="T9" fmla="*/ 131 h 1532"/>
                    <a:gd name="T10" fmla="*/ 538 w 1058"/>
                    <a:gd name="T11" fmla="*/ 0 h 1532"/>
                    <a:gd name="T12" fmla="*/ 468 w 1058"/>
                    <a:gd name="T13" fmla="*/ 5 h 1532"/>
                    <a:gd name="T14" fmla="*/ 118 w 1058"/>
                    <a:gd name="T15" fmla="*/ 212 h 1532"/>
                    <a:gd name="T16" fmla="*/ 23 w 1058"/>
                    <a:gd name="T17" fmla="*/ 606 h 1532"/>
                    <a:gd name="T18" fmla="*/ 68 w 1058"/>
                    <a:gd name="T19" fmla="*/ 649 h 1532"/>
                    <a:gd name="T20" fmla="*/ 74 w 1058"/>
                    <a:gd name="T21" fmla="*/ 648 h 1532"/>
                    <a:gd name="T22" fmla="*/ 106 w 1058"/>
                    <a:gd name="T23" fmla="*/ 630 h 1532"/>
                    <a:gd name="T24" fmla="*/ 114 w 1058"/>
                    <a:gd name="T25" fmla="*/ 593 h 1532"/>
                    <a:gd name="T26" fmla="*/ 115 w 1058"/>
                    <a:gd name="T27" fmla="*/ 443 h 1532"/>
                    <a:gd name="T28" fmla="*/ 536 w 1058"/>
                    <a:gd name="T29" fmla="*/ 91 h 1532"/>
                    <a:gd name="T30" fmla="*/ 622 w 1058"/>
                    <a:gd name="T31" fmla="*/ 101 h 1532"/>
                    <a:gd name="T32" fmla="*/ 962 w 1058"/>
                    <a:gd name="T33" fmla="*/ 475 h 1532"/>
                    <a:gd name="T34" fmla="*/ 803 w 1058"/>
                    <a:gd name="T35" fmla="*/ 857 h 1532"/>
                    <a:gd name="T36" fmla="*/ 796 w 1058"/>
                    <a:gd name="T37" fmla="*/ 862 h 1532"/>
                    <a:gd name="T38" fmla="*/ 759 w 1058"/>
                    <a:gd name="T39" fmla="*/ 893 h 1532"/>
                    <a:gd name="T40" fmla="*/ 660 w 1058"/>
                    <a:gd name="T41" fmla="*/ 1032 h 1532"/>
                    <a:gd name="T42" fmla="*/ 644 w 1058"/>
                    <a:gd name="T43" fmla="*/ 1201 h 1532"/>
                    <a:gd name="T44" fmla="*/ 597 w 1058"/>
                    <a:gd name="T45" fmla="*/ 1367 h 1532"/>
                    <a:gd name="T46" fmla="*/ 439 w 1058"/>
                    <a:gd name="T47" fmla="*/ 1441 h 1532"/>
                    <a:gd name="T48" fmla="*/ 379 w 1058"/>
                    <a:gd name="T49" fmla="*/ 1432 h 1532"/>
                    <a:gd name="T50" fmla="*/ 232 w 1058"/>
                    <a:gd name="T51" fmla="*/ 1268 h 1532"/>
                    <a:gd name="T52" fmla="*/ 180 w 1058"/>
                    <a:gd name="T53" fmla="*/ 1231 h 1532"/>
                    <a:gd name="T54" fmla="*/ 142 w 1058"/>
                    <a:gd name="T55" fmla="*/ 1285 h 1532"/>
                    <a:gd name="T56" fmla="*/ 245 w 1058"/>
                    <a:gd name="T57" fmla="*/ 1462 h 1532"/>
                    <a:gd name="T58" fmla="*/ 440 w 1058"/>
                    <a:gd name="T59" fmla="*/ 1532 h 1532"/>
                    <a:gd name="T60" fmla="*/ 475 w 1058"/>
                    <a:gd name="T61" fmla="*/ 1530 h 1532"/>
                    <a:gd name="T62" fmla="*/ 678 w 1058"/>
                    <a:gd name="T63" fmla="*/ 1413 h 1532"/>
                    <a:gd name="T64" fmla="*/ 735 w 1058"/>
                    <a:gd name="T65" fmla="*/ 1189 h 1532"/>
                    <a:gd name="T66" fmla="*/ 789 w 1058"/>
                    <a:gd name="T67" fmla="*/ 995 h 1532"/>
                    <a:gd name="T68" fmla="*/ 860 w 1058"/>
                    <a:gd name="T69" fmla="*/ 929 h 1532"/>
                    <a:gd name="T70" fmla="*/ 1058 w 1058"/>
                    <a:gd name="T71" fmla="*/ 523 h 1532"/>
                    <a:gd name="T72" fmla="*/ 1058 w 1058"/>
                    <a:gd name="T73" fmla="*/ 522 h 1532"/>
                    <a:gd name="T74" fmla="*/ 1058 w 1058"/>
                    <a:gd name="T75" fmla="*/ 521 h 1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58" h="1532">
                      <a:moveTo>
                        <a:pt x="1058" y="521"/>
                      </a:moveTo>
                      <a:cubicBezTo>
                        <a:pt x="1057" y="515"/>
                        <a:pt x="1057" y="509"/>
                        <a:pt x="1057" y="503"/>
                      </a:cubicBezTo>
                      <a:cubicBezTo>
                        <a:pt x="1057" y="502"/>
                        <a:pt x="1057" y="502"/>
                        <a:pt x="1057" y="502"/>
                      </a:cubicBezTo>
                      <a:cubicBezTo>
                        <a:pt x="1056" y="488"/>
                        <a:pt x="1055" y="473"/>
                        <a:pt x="1053" y="458"/>
                      </a:cubicBezTo>
                      <a:cubicBezTo>
                        <a:pt x="1039" y="332"/>
                        <a:pt x="977" y="216"/>
                        <a:pt x="881" y="131"/>
                      </a:cubicBezTo>
                      <a:cubicBezTo>
                        <a:pt x="785" y="46"/>
                        <a:pt x="663" y="0"/>
                        <a:pt x="538" y="0"/>
                      </a:cubicBezTo>
                      <a:cubicBezTo>
                        <a:pt x="514" y="0"/>
                        <a:pt x="491" y="2"/>
                        <a:pt x="468" y="5"/>
                      </a:cubicBezTo>
                      <a:cubicBezTo>
                        <a:pt x="326" y="24"/>
                        <a:pt x="202" y="98"/>
                        <a:pt x="118" y="212"/>
                      </a:cubicBezTo>
                      <a:cubicBezTo>
                        <a:pt x="34" y="326"/>
                        <a:pt x="0" y="466"/>
                        <a:pt x="23" y="606"/>
                      </a:cubicBezTo>
                      <a:cubicBezTo>
                        <a:pt x="27" y="631"/>
                        <a:pt x="46" y="649"/>
                        <a:pt x="68" y="649"/>
                      </a:cubicBezTo>
                      <a:cubicBezTo>
                        <a:pt x="70" y="649"/>
                        <a:pt x="72" y="649"/>
                        <a:pt x="74" y="648"/>
                      </a:cubicBezTo>
                      <a:cubicBezTo>
                        <a:pt x="88" y="646"/>
                        <a:pt x="99" y="640"/>
                        <a:pt x="106" y="630"/>
                      </a:cubicBezTo>
                      <a:cubicBezTo>
                        <a:pt x="114" y="620"/>
                        <a:pt x="116" y="607"/>
                        <a:pt x="114" y="593"/>
                      </a:cubicBezTo>
                      <a:cubicBezTo>
                        <a:pt x="106" y="544"/>
                        <a:pt x="106" y="494"/>
                        <a:pt x="115" y="443"/>
                      </a:cubicBezTo>
                      <a:cubicBezTo>
                        <a:pt x="148" y="243"/>
                        <a:pt x="330" y="91"/>
                        <a:pt x="536" y="91"/>
                      </a:cubicBezTo>
                      <a:cubicBezTo>
                        <a:pt x="565" y="91"/>
                        <a:pt x="594" y="95"/>
                        <a:pt x="622" y="101"/>
                      </a:cubicBezTo>
                      <a:cubicBezTo>
                        <a:pt x="810" y="142"/>
                        <a:pt x="941" y="286"/>
                        <a:pt x="962" y="475"/>
                      </a:cubicBezTo>
                      <a:cubicBezTo>
                        <a:pt x="979" y="632"/>
                        <a:pt x="926" y="760"/>
                        <a:pt x="803" y="857"/>
                      </a:cubicBezTo>
                      <a:cubicBezTo>
                        <a:pt x="796" y="862"/>
                        <a:pt x="796" y="862"/>
                        <a:pt x="796" y="862"/>
                      </a:cubicBezTo>
                      <a:cubicBezTo>
                        <a:pt x="783" y="873"/>
                        <a:pt x="771" y="882"/>
                        <a:pt x="759" y="893"/>
                      </a:cubicBezTo>
                      <a:cubicBezTo>
                        <a:pt x="712" y="937"/>
                        <a:pt x="680" y="983"/>
                        <a:pt x="660" y="1032"/>
                      </a:cubicBezTo>
                      <a:cubicBezTo>
                        <a:pt x="639" y="1085"/>
                        <a:pt x="634" y="1140"/>
                        <a:pt x="644" y="1201"/>
                      </a:cubicBezTo>
                      <a:cubicBezTo>
                        <a:pt x="654" y="1260"/>
                        <a:pt x="637" y="1321"/>
                        <a:pt x="597" y="1367"/>
                      </a:cubicBezTo>
                      <a:cubicBezTo>
                        <a:pt x="557" y="1414"/>
                        <a:pt x="500" y="1441"/>
                        <a:pt x="439" y="1441"/>
                      </a:cubicBezTo>
                      <a:cubicBezTo>
                        <a:pt x="419" y="1441"/>
                        <a:pt x="399" y="1438"/>
                        <a:pt x="379" y="1432"/>
                      </a:cubicBezTo>
                      <a:cubicBezTo>
                        <a:pt x="301" y="1408"/>
                        <a:pt x="250" y="1352"/>
                        <a:pt x="232" y="1268"/>
                      </a:cubicBezTo>
                      <a:cubicBezTo>
                        <a:pt x="226" y="1243"/>
                        <a:pt x="204" y="1226"/>
                        <a:pt x="180" y="1231"/>
                      </a:cubicBezTo>
                      <a:cubicBezTo>
                        <a:pt x="154" y="1235"/>
                        <a:pt x="138" y="1258"/>
                        <a:pt x="142" y="1285"/>
                      </a:cubicBezTo>
                      <a:cubicBezTo>
                        <a:pt x="154" y="1354"/>
                        <a:pt x="190" y="1417"/>
                        <a:pt x="245" y="1462"/>
                      </a:cubicBezTo>
                      <a:cubicBezTo>
                        <a:pt x="299" y="1507"/>
                        <a:pt x="368" y="1532"/>
                        <a:pt x="440" y="1532"/>
                      </a:cubicBezTo>
                      <a:cubicBezTo>
                        <a:pt x="451" y="1532"/>
                        <a:pt x="463" y="1531"/>
                        <a:pt x="475" y="1530"/>
                      </a:cubicBezTo>
                      <a:cubicBezTo>
                        <a:pt x="554" y="1521"/>
                        <a:pt x="628" y="1478"/>
                        <a:pt x="678" y="1413"/>
                      </a:cubicBezTo>
                      <a:cubicBezTo>
                        <a:pt x="728" y="1347"/>
                        <a:pt x="748" y="1268"/>
                        <a:pt x="735" y="1189"/>
                      </a:cubicBezTo>
                      <a:cubicBezTo>
                        <a:pt x="723" y="1116"/>
                        <a:pt x="741" y="1051"/>
                        <a:pt x="789" y="995"/>
                      </a:cubicBezTo>
                      <a:cubicBezTo>
                        <a:pt x="807" y="974"/>
                        <a:pt x="830" y="953"/>
                        <a:pt x="860" y="929"/>
                      </a:cubicBezTo>
                      <a:cubicBezTo>
                        <a:pt x="987" y="828"/>
                        <a:pt x="1052" y="695"/>
                        <a:pt x="1058" y="523"/>
                      </a:cubicBezTo>
                      <a:cubicBezTo>
                        <a:pt x="1058" y="522"/>
                        <a:pt x="1058" y="522"/>
                        <a:pt x="1058" y="522"/>
                      </a:cubicBezTo>
                      <a:lnTo>
                        <a:pt x="1058" y="52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ym typeface="+mn-lt"/>
                  </a:endParaRPr>
                </a:p>
              </p:txBody>
            </p:sp>
            <p:sp>
              <p:nvSpPr>
                <p:cNvPr id="59" name="Freeform 13">
                  <a:extLst>
                    <a:ext uri="{FF2B5EF4-FFF2-40B4-BE49-F238E27FC236}">
                      <a16:creationId xmlns:a16="http://schemas.microsoft.com/office/drawing/2014/main" id="{268F79DA-AD38-4206-AAC3-3D1D81FAA94B}"/>
                    </a:ext>
                  </a:extLst>
                </p:cNvPr>
                <p:cNvSpPr>
                  <a:spLocks/>
                </p:cNvSpPr>
                <p:nvPr/>
              </p:nvSpPr>
              <p:spPr bwMode="auto">
                <a:xfrm>
                  <a:off x="5851525" y="3081338"/>
                  <a:ext cx="420687" cy="592138"/>
                </a:xfrm>
                <a:custGeom>
                  <a:avLst/>
                  <a:gdLst>
                    <a:gd name="T0" fmla="*/ 343 w 588"/>
                    <a:gd name="T1" fmla="*/ 0 h 827"/>
                    <a:gd name="T2" fmla="*/ 98 w 588"/>
                    <a:gd name="T3" fmla="*/ 269 h 827"/>
                    <a:gd name="T4" fmla="*/ 185 w 588"/>
                    <a:gd name="T5" fmla="*/ 456 h 827"/>
                    <a:gd name="T6" fmla="*/ 250 w 588"/>
                    <a:gd name="T7" fmla="*/ 711 h 827"/>
                    <a:gd name="T8" fmla="*/ 143 w 588"/>
                    <a:gd name="T9" fmla="*/ 782 h 827"/>
                    <a:gd name="T10" fmla="*/ 61 w 588"/>
                    <a:gd name="T11" fmla="*/ 765 h 827"/>
                    <a:gd name="T12" fmla="*/ 112 w 588"/>
                    <a:gd name="T13" fmla="*/ 625 h 827"/>
                    <a:gd name="T14" fmla="*/ 86 w 588"/>
                    <a:gd name="T15" fmla="*/ 608 h 827"/>
                    <a:gd name="T16" fmla="*/ 69 w 588"/>
                    <a:gd name="T17" fmla="*/ 633 h 827"/>
                    <a:gd name="T18" fmla="*/ 12 w 588"/>
                    <a:gd name="T19" fmla="*/ 747 h 827"/>
                    <a:gd name="T20" fmla="*/ 0 w 588"/>
                    <a:gd name="T21" fmla="*/ 764 h 827"/>
                    <a:gd name="T22" fmla="*/ 9 w 588"/>
                    <a:gd name="T23" fmla="*/ 783 h 827"/>
                    <a:gd name="T24" fmla="*/ 128 w 588"/>
                    <a:gd name="T25" fmla="*/ 827 h 827"/>
                    <a:gd name="T26" fmla="*/ 148 w 588"/>
                    <a:gd name="T27" fmla="*/ 826 h 827"/>
                    <a:gd name="T28" fmla="*/ 288 w 588"/>
                    <a:gd name="T29" fmla="*/ 734 h 827"/>
                    <a:gd name="T30" fmla="*/ 212 w 588"/>
                    <a:gd name="T31" fmla="*/ 421 h 827"/>
                    <a:gd name="T32" fmla="*/ 142 w 588"/>
                    <a:gd name="T33" fmla="*/ 269 h 827"/>
                    <a:gd name="T34" fmla="*/ 142 w 588"/>
                    <a:gd name="T35" fmla="*/ 269 h 827"/>
                    <a:gd name="T36" fmla="*/ 343 w 588"/>
                    <a:gd name="T37" fmla="*/ 44 h 827"/>
                    <a:gd name="T38" fmla="*/ 544 w 588"/>
                    <a:gd name="T39" fmla="*/ 269 h 827"/>
                    <a:gd name="T40" fmla="*/ 566 w 588"/>
                    <a:gd name="T41" fmla="*/ 291 h 827"/>
                    <a:gd name="T42" fmla="*/ 588 w 588"/>
                    <a:gd name="T43" fmla="*/ 269 h 827"/>
                    <a:gd name="T44" fmla="*/ 343 w 588"/>
                    <a:gd name="T45" fmla="*/ 0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88" h="827">
                      <a:moveTo>
                        <a:pt x="343" y="0"/>
                      </a:moveTo>
                      <a:cubicBezTo>
                        <a:pt x="208" y="0"/>
                        <a:pt x="98" y="121"/>
                        <a:pt x="98" y="269"/>
                      </a:cubicBezTo>
                      <a:cubicBezTo>
                        <a:pt x="96" y="341"/>
                        <a:pt x="128" y="410"/>
                        <a:pt x="185" y="456"/>
                      </a:cubicBezTo>
                      <a:cubicBezTo>
                        <a:pt x="282" y="535"/>
                        <a:pt x="304" y="621"/>
                        <a:pt x="250" y="711"/>
                      </a:cubicBezTo>
                      <a:cubicBezTo>
                        <a:pt x="226" y="751"/>
                        <a:pt x="186" y="777"/>
                        <a:pt x="143" y="782"/>
                      </a:cubicBezTo>
                      <a:cubicBezTo>
                        <a:pt x="115" y="785"/>
                        <a:pt x="87" y="780"/>
                        <a:pt x="61" y="765"/>
                      </a:cubicBezTo>
                      <a:cubicBezTo>
                        <a:pt x="92" y="737"/>
                        <a:pt x="125" y="689"/>
                        <a:pt x="112" y="625"/>
                      </a:cubicBezTo>
                      <a:cubicBezTo>
                        <a:pt x="110" y="613"/>
                        <a:pt x="98" y="605"/>
                        <a:pt x="86" y="608"/>
                      </a:cubicBezTo>
                      <a:cubicBezTo>
                        <a:pt x="74" y="610"/>
                        <a:pt x="67" y="622"/>
                        <a:pt x="69" y="633"/>
                      </a:cubicBezTo>
                      <a:cubicBezTo>
                        <a:pt x="84" y="706"/>
                        <a:pt x="14" y="745"/>
                        <a:pt x="12" y="747"/>
                      </a:cubicBezTo>
                      <a:cubicBezTo>
                        <a:pt x="5" y="750"/>
                        <a:pt x="1" y="757"/>
                        <a:pt x="0" y="764"/>
                      </a:cubicBezTo>
                      <a:cubicBezTo>
                        <a:pt x="0" y="772"/>
                        <a:pt x="3" y="779"/>
                        <a:pt x="9" y="783"/>
                      </a:cubicBezTo>
                      <a:cubicBezTo>
                        <a:pt x="46" y="812"/>
                        <a:pt x="86" y="827"/>
                        <a:pt x="128" y="827"/>
                      </a:cubicBezTo>
                      <a:cubicBezTo>
                        <a:pt x="134" y="827"/>
                        <a:pt x="141" y="827"/>
                        <a:pt x="148" y="826"/>
                      </a:cubicBezTo>
                      <a:cubicBezTo>
                        <a:pt x="205" y="820"/>
                        <a:pt x="257" y="785"/>
                        <a:pt x="288" y="734"/>
                      </a:cubicBezTo>
                      <a:cubicBezTo>
                        <a:pt x="353" y="625"/>
                        <a:pt x="326" y="514"/>
                        <a:pt x="212" y="421"/>
                      </a:cubicBezTo>
                      <a:cubicBezTo>
                        <a:pt x="166" y="384"/>
                        <a:pt x="140" y="329"/>
                        <a:pt x="142" y="269"/>
                      </a:cubicBezTo>
                      <a:cubicBezTo>
                        <a:pt x="142" y="269"/>
                        <a:pt x="142" y="269"/>
                        <a:pt x="142" y="269"/>
                      </a:cubicBezTo>
                      <a:cubicBezTo>
                        <a:pt x="142" y="145"/>
                        <a:pt x="232" y="44"/>
                        <a:pt x="343" y="44"/>
                      </a:cubicBezTo>
                      <a:cubicBezTo>
                        <a:pt x="454" y="44"/>
                        <a:pt x="544" y="145"/>
                        <a:pt x="544" y="269"/>
                      </a:cubicBezTo>
                      <a:cubicBezTo>
                        <a:pt x="544" y="281"/>
                        <a:pt x="554" y="291"/>
                        <a:pt x="566" y="291"/>
                      </a:cubicBezTo>
                      <a:cubicBezTo>
                        <a:pt x="578" y="291"/>
                        <a:pt x="588" y="281"/>
                        <a:pt x="588" y="269"/>
                      </a:cubicBezTo>
                      <a:cubicBezTo>
                        <a:pt x="588" y="121"/>
                        <a:pt x="478" y="0"/>
                        <a:pt x="343"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ym typeface="+mn-lt"/>
                  </a:endParaRPr>
                </a:p>
              </p:txBody>
            </p:sp>
          </p:grpSp>
        </p:grpSp>
      </p:grpSp>
      <p:sp>
        <p:nvSpPr>
          <p:cNvPr id="15" name="object 4">
            <a:extLst>
              <a:ext uri="{FF2B5EF4-FFF2-40B4-BE49-F238E27FC236}">
                <a16:creationId xmlns:a16="http://schemas.microsoft.com/office/drawing/2014/main" id="{C7CCAB16-937F-4945-9335-937BCB1F3095}"/>
              </a:ext>
            </a:extLst>
          </p:cNvPr>
          <p:cNvSpPr txBox="1">
            <a:spLocks/>
          </p:cNvSpPr>
          <p:nvPr/>
        </p:nvSpPr>
        <p:spPr>
          <a:xfrm>
            <a:off x="1232845" y="4161997"/>
            <a:ext cx="4392795" cy="440579"/>
          </a:xfrm>
          <a:prstGeom prst="rect">
            <a:avLst/>
          </a:prstGeom>
        </p:spPr>
        <p:txBody>
          <a:bodyPr vert="horz" wrap="square" lIns="0" tIns="9598" rIns="0" bIns="0" rtlCol="0">
            <a:spAutoFit/>
          </a:bodyPr>
          <a:lstStyle>
            <a:lvl1pPr marL="0" indent="0" algn="l" defTabSz="914400" rtl="0" eaLnBrk="1" latinLnBrk="0" hangingPunct="1">
              <a:lnSpc>
                <a:spcPct val="110000"/>
              </a:lnSpc>
              <a:spcBef>
                <a:spcPts val="600"/>
              </a:spcBef>
              <a:spcAft>
                <a:spcPts val="300"/>
              </a:spcAft>
              <a:buClr>
                <a:srgbClr val="DC0532"/>
              </a:buClr>
              <a:buFont typeface="Arial" panose="020B0604020202020204" pitchFamily="34" charset="0"/>
              <a:buChar char="​"/>
              <a:defRPr lang="en-US" sz="1600" b="0" i="0" kern="1200">
                <a:solidFill>
                  <a:srgbClr val="565656"/>
                </a:solidFill>
                <a:latin typeface="Trebuchet MS"/>
                <a:ea typeface="+mn-ea"/>
                <a:cs typeface="Trebuchet MS"/>
                <a:sym typeface="+mn-lt"/>
              </a:defRPr>
            </a:lvl1pPr>
            <a:lvl2pPr marL="284400" indent="-172800" algn="l" defTabSz="914400" rtl="0" eaLnBrk="1" latinLnBrk="0" hangingPunct="1">
              <a:lnSpc>
                <a:spcPct val="90000"/>
              </a:lnSpc>
              <a:spcBef>
                <a:spcPts val="0"/>
              </a:spcBef>
              <a:spcAft>
                <a:spcPts val="300"/>
              </a:spcAft>
              <a:buClr>
                <a:srgbClr val="DC0532"/>
              </a:buClr>
              <a:buFont typeface="Arial" panose="020B0604020202020204" pitchFamily="34" charset="0"/>
              <a:buChar char="•"/>
              <a:defRPr lang="en-US" sz="1200" kern="1200">
                <a:solidFill>
                  <a:srgbClr val="4D4D4D"/>
                </a:solidFill>
                <a:latin typeface="+mn-lt"/>
                <a:ea typeface="+mn-ea"/>
                <a:cs typeface="+mn-cs"/>
                <a:sym typeface="+mn-lt"/>
              </a:defRPr>
            </a:lvl2pPr>
            <a:lvl3pPr marL="511200" indent="-165600" algn="l" defTabSz="914400" rtl="0" eaLnBrk="1" latinLnBrk="0" hangingPunct="1">
              <a:lnSpc>
                <a:spcPct val="90000"/>
              </a:lnSpc>
              <a:spcBef>
                <a:spcPts val="0"/>
              </a:spcBef>
              <a:spcAft>
                <a:spcPts val="300"/>
              </a:spcAft>
              <a:buClr>
                <a:srgbClr val="DC0532"/>
              </a:buClr>
              <a:buFont typeface="Trebuchet MS" panose="020B0603020202020204" pitchFamily="34" charset="0"/>
              <a:buChar char="–"/>
              <a:defRPr lang="en-US" sz="1200" kern="1200">
                <a:solidFill>
                  <a:srgbClr val="4D4D4D"/>
                </a:solidFill>
                <a:latin typeface="+mn-lt"/>
                <a:ea typeface="+mn-ea"/>
                <a:cs typeface="+mn-cs"/>
                <a:sym typeface="+mn-lt"/>
              </a:defRPr>
            </a:lvl3pPr>
            <a:lvl4pPr marL="0" indent="0" algn="l" defTabSz="914400" rtl="0" eaLnBrk="1" latinLnBrk="0" hangingPunct="1">
              <a:lnSpc>
                <a:spcPct val="110000"/>
              </a:lnSpc>
              <a:spcBef>
                <a:spcPts val="300"/>
              </a:spcBef>
              <a:spcAft>
                <a:spcPts val="300"/>
              </a:spcAft>
              <a:buClr>
                <a:srgbClr val="DC0532"/>
              </a:buClr>
              <a:buFont typeface="Arial" panose="020B0604020202020204" pitchFamily="34" charset="0"/>
              <a:buChar char="​"/>
              <a:defRPr lang="en-US" sz="1600" kern="1200">
                <a:solidFill>
                  <a:srgbClr val="DC0532"/>
                </a:solidFill>
                <a:latin typeface="+mn-lt"/>
                <a:ea typeface="+mn-ea"/>
                <a:cs typeface="+mn-cs"/>
                <a:sym typeface="+mn-lt"/>
              </a:defRPr>
            </a:lvl4pPr>
            <a:lvl5pPr marL="0" indent="0" algn="l" defTabSz="914400" rtl="0" eaLnBrk="1" latinLnBrk="0" hangingPunct="1">
              <a:lnSpc>
                <a:spcPct val="100000"/>
              </a:lnSpc>
              <a:spcBef>
                <a:spcPts val="0"/>
              </a:spcBef>
              <a:spcAft>
                <a:spcPts val="300"/>
              </a:spcAft>
              <a:buClr>
                <a:srgbClr val="DC0532"/>
              </a:buClr>
              <a:buFont typeface="Arial" panose="020B0604020202020204" pitchFamily="34" charset="0"/>
              <a:buChar char="​"/>
              <a:defRPr lang="en-US" sz="1600" b="1" kern="1200" smtClean="0">
                <a:solidFill>
                  <a:srgbClr val="4D4D4D"/>
                </a:solidFill>
                <a:latin typeface="+mn-lt"/>
                <a:ea typeface="+mn-ea"/>
                <a:cs typeface="+mn-cs"/>
                <a:sym typeface="+mn-lt"/>
              </a:defRPr>
            </a:lvl5pPr>
            <a:lvl6pPr marL="269875" indent="-152400" algn="l" defTabSz="914400" rtl="0" eaLnBrk="1" latinLnBrk="0" hangingPunct="1">
              <a:lnSpc>
                <a:spcPct val="90000"/>
              </a:lnSpc>
              <a:spcBef>
                <a:spcPts val="0"/>
              </a:spcBef>
              <a:spcAft>
                <a:spcPts val="600"/>
              </a:spcAft>
              <a:buClr>
                <a:srgbClr val="DC0532"/>
              </a:buClr>
              <a:buFont typeface="Arial" panose="020B0604020202020204" pitchFamily="34" charset="0"/>
              <a:buChar char="•"/>
              <a:defRPr lang="en-US" sz="1600" kern="1200" smtClean="0">
                <a:solidFill>
                  <a:srgbClr val="4D4D4D"/>
                </a:solidFill>
                <a:latin typeface="+mn-lt"/>
                <a:ea typeface="+mn-ea"/>
                <a:cs typeface="+mn-cs"/>
                <a:sym typeface="+mn-lt"/>
              </a:defRPr>
            </a:lvl6pPr>
            <a:lvl7pPr marL="0" indent="0" algn="l" defTabSz="914400" rtl="0" eaLnBrk="1" latinLnBrk="0" hangingPunct="1">
              <a:lnSpc>
                <a:spcPct val="90000"/>
              </a:lnSpc>
              <a:spcBef>
                <a:spcPts val="900"/>
              </a:spcBef>
              <a:spcAft>
                <a:spcPts val="900"/>
              </a:spcAft>
              <a:buClr>
                <a:srgbClr val="DC0532"/>
              </a:buClr>
              <a:buFont typeface="Arial" panose="020B0604020202020204" pitchFamily="34" charset="0"/>
              <a:buChar char="​"/>
              <a:defRPr lang="en-US" sz="4400" kern="1200" baseline="0" smtClean="0">
                <a:solidFill>
                  <a:srgbClr val="4D4D4D"/>
                </a:solidFill>
                <a:latin typeface="+mn-lt"/>
                <a:ea typeface="+mn-ea"/>
                <a:cs typeface="+mn-cs"/>
                <a:sym typeface="+mn-lt"/>
              </a:defRPr>
            </a:lvl7pPr>
            <a:lvl8pPr marL="0" indent="0" algn="l" defTabSz="914400" rtl="0" eaLnBrk="1" latinLnBrk="0" hangingPunct="1">
              <a:lnSpc>
                <a:spcPct val="90000"/>
              </a:lnSpc>
              <a:spcBef>
                <a:spcPts val="900"/>
              </a:spcBef>
              <a:spcAft>
                <a:spcPts val="0"/>
              </a:spcAft>
              <a:buClr>
                <a:srgbClr val="DC0532"/>
              </a:buClr>
              <a:buFont typeface="Arial" panose="020B0604020202020204" pitchFamily="34" charset="0"/>
              <a:buChar char="​"/>
              <a:defRPr lang="en-US" sz="5400" kern="1200" baseline="0" smtClean="0">
                <a:solidFill>
                  <a:srgbClr val="DC0532"/>
                </a:solidFill>
                <a:latin typeface="+mn-lt"/>
                <a:ea typeface="+mn-ea"/>
                <a:cs typeface="+mn-cs"/>
                <a:sym typeface="+mn-lt"/>
              </a:defRPr>
            </a:lvl8pPr>
            <a:lvl9pPr marL="0" indent="0" algn="l" defTabSz="914400" rtl="0" eaLnBrk="1" latinLnBrk="0" hangingPunct="1">
              <a:lnSpc>
                <a:spcPct val="100000"/>
              </a:lnSpc>
              <a:spcBef>
                <a:spcPts val="0"/>
              </a:spcBef>
              <a:spcAft>
                <a:spcPts val="900"/>
              </a:spcAft>
              <a:buClr>
                <a:srgbClr val="DC0532"/>
              </a:buClr>
              <a:buFont typeface="Arial" panose="020B0604020202020204" pitchFamily="34" charset="0"/>
              <a:buChar char="​"/>
              <a:defRPr lang="en-US" sz="2400" kern="1200" baseline="0" dirty="0">
                <a:solidFill>
                  <a:srgbClr val="DC0532"/>
                </a:solidFill>
                <a:latin typeface="+mn-lt"/>
                <a:ea typeface="+mn-ea"/>
                <a:cs typeface="+mn-cs"/>
                <a:sym typeface="+mn-lt"/>
              </a:defRPr>
            </a:lvl9pPr>
          </a:lstStyle>
          <a:p>
            <a:pPr marR="4042">
              <a:lnSpc>
                <a:spcPct val="100000"/>
              </a:lnSpc>
              <a:spcBef>
                <a:spcPts val="0"/>
              </a:spcBef>
              <a:spcAft>
                <a:spcPts val="0"/>
              </a:spcAft>
              <a:buClrTx/>
              <a:buSzPct val="100000"/>
              <a:buFont typeface="Trebuchet MS" panose="020B0603020202020204" pitchFamily="34" charset="0"/>
              <a:buChar char="​"/>
            </a:pPr>
            <a:r>
              <a:rPr lang="en-ZA" sz="1400">
                <a:solidFill>
                  <a:schemeClr val="tx1">
                    <a:lumMod val="100000"/>
                  </a:schemeClr>
                </a:solidFill>
                <a:latin typeface="+mn-lt"/>
                <a:cs typeface="+mn-cs"/>
              </a:rPr>
              <a:t>I trust them with my information and they respect   my boundaries</a:t>
            </a:r>
          </a:p>
        </p:txBody>
      </p:sp>
      <p:grpSp>
        <p:nvGrpSpPr>
          <p:cNvPr id="46" name="bcgIcons_Handshake">
            <a:extLst>
              <a:ext uri="{FF2B5EF4-FFF2-40B4-BE49-F238E27FC236}">
                <a16:creationId xmlns:a16="http://schemas.microsoft.com/office/drawing/2014/main" id="{81DB2DBC-55AA-45B3-8C5C-9A3FF2328145}"/>
              </a:ext>
            </a:extLst>
          </p:cNvPr>
          <p:cNvGrpSpPr>
            <a:grpSpLocks noChangeAspect="1"/>
          </p:cNvGrpSpPr>
          <p:nvPr/>
        </p:nvGrpSpPr>
        <p:grpSpPr bwMode="auto">
          <a:xfrm>
            <a:off x="630000" y="4105288"/>
            <a:ext cx="553485" cy="553998"/>
            <a:chOff x="1682" y="0"/>
            <a:chExt cx="4316" cy="4320"/>
          </a:xfrm>
        </p:grpSpPr>
        <p:sp>
          <p:nvSpPr>
            <p:cNvPr id="47" name="AutoShape 3">
              <a:extLst>
                <a:ext uri="{FF2B5EF4-FFF2-40B4-BE49-F238E27FC236}">
                  <a16:creationId xmlns:a16="http://schemas.microsoft.com/office/drawing/2014/main" id="{4052C26B-0376-4215-83ED-8EEBE8D0E897}"/>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ym typeface="+mn-lt"/>
              </a:endParaRPr>
            </a:p>
          </p:txBody>
        </p:sp>
        <p:sp>
          <p:nvSpPr>
            <p:cNvPr id="48" name="Freeform 5">
              <a:extLst>
                <a:ext uri="{FF2B5EF4-FFF2-40B4-BE49-F238E27FC236}">
                  <a16:creationId xmlns:a16="http://schemas.microsoft.com/office/drawing/2014/main" id="{1D6DC1A0-A432-4931-A518-C3B89DED0F4E}"/>
                </a:ext>
              </a:extLst>
            </p:cNvPr>
            <p:cNvSpPr>
              <a:spLocks noEditPoints="1"/>
            </p:cNvSpPr>
            <p:nvPr/>
          </p:nvSpPr>
          <p:spPr bwMode="auto">
            <a:xfrm>
              <a:off x="2699" y="763"/>
              <a:ext cx="2730" cy="2428"/>
            </a:xfrm>
            <a:custGeom>
              <a:avLst/>
              <a:gdLst>
                <a:gd name="T0" fmla="*/ 182 w 1457"/>
                <a:gd name="T1" fmla="*/ 441 h 1295"/>
                <a:gd name="T2" fmla="*/ 163 w 1457"/>
                <a:gd name="T3" fmla="*/ 326 h 1295"/>
                <a:gd name="T4" fmla="*/ 724 w 1457"/>
                <a:gd name="T5" fmla="*/ 120 h 1295"/>
                <a:gd name="T6" fmla="*/ 1145 w 1457"/>
                <a:gd name="T7" fmla="*/ 295 h 1295"/>
                <a:gd name="T8" fmla="*/ 1419 w 1457"/>
                <a:gd name="T9" fmla="*/ 153 h 1295"/>
                <a:gd name="T10" fmla="*/ 1457 w 1457"/>
                <a:gd name="T11" fmla="*/ 172 h 1295"/>
                <a:gd name="T12" fmla="*/ 1457 w 1457"/>
                <a:gd name="T13" fmla="*/ 660 h 1295"/>
                <a:gd name="T14" fmla="*/ 1449 w 1457"/>
                <a:gd name="T15" fmla="*/ 672 h 1295"/>
                <a:gd name="T16" fmla="*/ 1275 w 1457"/>
                <a:gd name="T17" fmla="*/ 716 h 1295"/>
                <a:gd name="T18" fmla="*/ 1263 w 1457"/>
                <a:gd name="T19" fmla="*/ 715 h 1295"/>
                <a:gd name="T20" fmla="*/ 668 w 1457"/>
                <a:gd name="T21" fmla="*/ 358 h 1295"/>
                <a:gd name="T22" fmla="*/ 462 w 1457"/>
                <a:gd name="T23" fmla="*/ 341 h 1295"/>
                <a:gd name="T24" fmla="*/ 421 w 1457"/>
                <a:gd name="T25" fmla="*/ 361 h 1295"/>
                <a:gd name="T26" fmla="*/ 182 w 1457"/>
                <a:gd name="T27" fmla="*/ 441 h 1295"/>
                <a:gd name="T28" fmla="*/ 592 w 1457"/>
                <a:gd name="T29" fmla="*/ 1039 h 1295"/>
                <a:gd name="T30" fmla="*/ 528 w 1457"/>
                <a:gd name="T31" fmla="*/ 1079 h 1295"/>
                <a:gd name="T32" fmla="*/ 472 w 1457"/>
                <a:gd name="T33" fmla="*/ 1191 h 1295"/>
                <a:gd name="T34" fmla="*/ 505 w 1457"/>
                <a:gd name="T35" fmla="*/ 1287 h 1295"/>
                <a:gd name="T36" fmla="*/ 505 w 1457"/>
                <a:gd name="T37" fmla="*/ 1287 h 1295"/>
                <a:gd name="T38" fmla="*/ 536 w 1457"/>
                <a:gd name="T39" fmla="*/ 1295 h 1295"/>
                <a:gd name="T40" fmla="*/ 601 w 1457"/>
                <a:gd name="T41" fmla="*/ 1255 h 1295"/>
                <a:gd name="T42" fmla="*/ 657 w 1457"/>
                <a:gd name="T43" fmla="*/ 1143 h 1295"/>
                <a:gd name="T44" fmla="*/ 624 w 1457"/>
                <a:gd name="T45" fmla="*/ 1046 h 1295"/>
                <a:gd name="T46" fmla="*/ 592 w 1457"/>
                <a:gd name="T47" fmla="*/ 1039 h 1295"/>
                <a:gd name="T48" fmla="*/ 462 w 1457"/>
                <a:gd name="T49" fmla="*/ 901 h 1295"/>
                <a:gd name="T50" fmla="*/ 397 w 1457"/>
                <a:gd name="T51" fmla="*/ 941 h 1295"/>
                <a:gd name="T52" fmla="*/ 307 w 1457"/>
                <a:gd name="T53" fmla="*/ 1123 h 1295"/>
                <a:gd name="T54" fmla="*/ 339 w 1457"/>
                <a:gd name="T55" fmla="*/ 1219 h 1295"/>
                <a:gd name="T56" fmla="*/ 339 w 1457"/>
                <a:gd name="T57" fmla="*/ 1219 h 1295"/>
                <a:gd name="T58" fmla="*/ 371 w 1457"/>
                <a:gd name="T59" fmla="*/ 1227 h 1295"/>
                <a:gd name="T60" fmla="*/ 435 w 1457"/>
                <a:gd name="T61" fmla="*/ 1187 h 1295"/>
                <a:gd name="T62" fmla="*/ 526 w 1457"/>
                <a:gd name="T63" fmla="*/ 1005 h 1295"/>
                <a:gd name="T64" fmla="*/ 493 w 1457"/>
                <a:gd name="T65" fmla="*/ 909 h 1295"/>
                <a:gd name="T66" fmla="*/ 493 w 1457"/>
                <a:gd name="T67" fmla="*/ 909 h 1295"/>
                <a:gd name="T68" fmla="*/ 462 w 1457"/>
                <a:gd name="T69" fmla="*/ 901 h 1295"/>
                <a:gd name="T70" fmla="*/ 298 w 1457"/>
                <a:gd name="T71" fmla="*/ 829 h 1295"/>
                <a:gd name="T72" fmla="*/ 233 w 1457"/>
                <a:gd name="T73" fmla="*/ 869 h 1295"/>
                <a:gd name="T74" fmla="*/ 150 w 1457"/>
                <a:gd name="T75" fmla="*/ 1036 h 1295"/>
                <a:gd name="T76" fmla="*/ 183 w 1457"/>
                <a:gd name="T77" fmla="*/ 1132 h 1295"/>
                <a:gd name="T78" fmla="*/ 215 w 1457"/>
                <a:gd name="T79" fmla="*/ 1140 h 1295"/>
                <a:gd name="T80" fmla="*/ 279 w 1457"/>
                <a:gd name="T81" fmla="*/ 1100 h 1295"/>
                <a:gd name="T82" fmla="*/ 362 w 1457"/>
                <a:gd name="T83" fmla="*/ 933 h 1295"/>
                <a:gd name="T84" fmla="*/ 330 w 1457"/>
                <a:gd name="T85" fmla="*/ 837 h 1295"/>
                <a:gd name="T86" fmla="*/ 330 w 1457"/>
                <a:gd name="T87" fmla="*/ 837 h 1295"/>
                <a:gd name="T88" fmla="*/ 298 w 1457"/>
                <a:gd name="T89" fmla="*/ 829 h 1295"/>
                <a:gd name="T90" fmla="*/ 131 w 1457"/>
                <a:gd name="T91" fmla="*/ 762 h 1295"/>
                <a:gd name="T92" fmla="*/ 66 w 1457"/>
                <a:gd name="T93" fmla="*/ 802 h 1295"/>
                <a:gd name="T94" fmla="*/ 18 w 1457"/>
                <a:gd name="T95" fmla="*/ 900 h 1295"/>
                <a:gd name="T96" fmla="*/ 50 w 1457"/>
                <a:gd name="T97" fmla="*/ 996 h 1295"/>
                <a:gd name="T98" fmla="*/ 82 w 1457"/>
                <a:gd name="T99" fmla="*/ 1004 h 1295"/>
                <a:gd name="T100" fmla="*/ 146 w 1457"/>
                <a:gd name="T101" fmla="*/ 964 h 1295"/>
                <a:gd name="T102" fmla="*/ 195 w 1457"/>
                <a:gd name="T103" fmla="*/ 866 h 1295"/>
                <a:gd name="T104" fmla="*/ 162 w 1457"/>
                <a:gd name="T105" fmla="*/ 770 h 1295"/>
                <a:gd name="T106" fmla="*/ 131 w 1457"/>
                <a:gd name="T107" fmla="*/ 762 h 1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57" h="1295">
                  <a:moveTo>
                    <a:pt x="182" y="441"/>
                  </a:moveTo>
                  <a:cubicBezTo>
                    <a:pt x="138" y="419"/>
                    <a:pt x="128" y="361"/>
                    <a:pt x="163" y="326"/>
                  </a:cubicBezTo>
                  <a:cubicBezTo>
                    <a:pt x="484" y="0"/>
                    <a:pt x="654" y="98"/>
                    <a:pt x="724" y="120"/>
                  </a:cubicBezTo>
                  <a:cubicBezTo>
                    <a:pt x="823" y="149"/>
                    <a:pt x="1071" y="278"/>
                    <a:pt x="1145" y="295"/>
                  </a:cubicBezTo>
                  <a:cubicBezTo>
                    <a:pt x="1199" y="308"/>
                    <a:pt x="1348" y="206"/>
                    <a:pt x="1419" y="153"/>
                  </a:cubicBezTo>
                  <a:cubicBezTo>
                    <a:pt x="1435" y="142"/>
                    <a:pt x="1457" y="153"/>
                    <a:pt x="1457" y="172"/>
                  </a:cubicBezTo>
                  <a:cubicBezTo>
                    <a:pt x="1457" y="172"/>
                    <a:pt x="1457" y="172"/>
                    <a:pt x="1457" y="660"/>
                  </a:cubicBezTo>
                  <a:cubicBezTo>
                    <a:pt x="1457" y="666"/>
                    <a:pt x="1454" y="670"/>
                    <a:pt x="1449" y="672"/>
                  </a:cubicBezTo>
                  <a:cubicBezTo>
                    <a:pt x="1449" y="672"/>
                    <a:pt x="1449" y="672"/>
                    <a:pt x="1275" y="716"/>
                  </a:cubicBezTo>
                  <a:cubicBezTo>
                    <a:pt x="1271" y="718"/>
                    <a:pt x="1266" y="717"/>
                    <a:pt x="1263" y="715"/>
                  </a:cubicBezTo>
                  <a:cubicBezTo>
                    <a:pt x="1207" y="679"/>
                    <a:pt x="737" y="382"/>
                    <a:pt x="668" y="358"/>
                  </a:cubicBezTo>
                  <a:cubicBezTo>
                    <a:pt x="614" y="338"/>
                    <a:pt x="510" y="340"/>
                    <a:pt x="462" y="341"/>
                  </a:cubicBezTo>
                  <a:cubicBezTo>
                    <a:pt x="446" y="342"/>
                    <a:pt x="431" y="349"/>
                    <a:pt x="421" y="361"/>
                  </a:cubicBezTo>
                  <a:cubicBezTo>
                    <a:pt x="320" y="472"/>
                    <a:pt x="237" y="468"/>
                    <a:pt x="182" y="441"/>
                  </a:cubicBezTo>
                  <a:close/>
                  <a:moveTo>
                    <a:pt x="592" y="1039"/>
                  </a:moveTo>
                  <a:cubicBezTo>
                    <a:pt x="566" y="1039"/>
                    <a:pt x="541" y="1054"/>
                    <a:pt x="528" y="1079"/>
                  </a:cubicBezTo>
                  <a:cubicBezTo>
                    <a:pt x="472" y="1191"/>
                    <a:pt x="472" y="1191"/>
                    <a:pt x="472" y="1191"/>
                  </a:cubicBezTo>
                  <a:cubicBezTo>
                    <a:pt x="455" y="1227"/>
                    <a:pt x="469" y="1270"/>
                    <a:pt x="505" y="1287"/>
                  </a:cubicBezTo>
                  <a:cubicBezTo>
                    <a:pt x="505" y="1287"/>
                    <a:pt x="505" y="1287"/>
                    <a:pt x="505" y="1287"/>
                  </a:cubicBezTo>
                  <a:cubicBezTo>
                    <a:pt x="515" y="1292"/>
                    <a:pt x="526" y="1295"/>
                    <a:pt x="536" y="1295"/>
                  </a:cubicBezTo>
                  <a:cubicBezTo>
                    <a:pt x="563" y="1295"/>
                    <a:pt x="588" y="1280"/>
                    <a:pt x="601" y="1255"/>
                  </a:cubicBezTo>
                  <a:cubicBezTo>
                    <a:pt x="657" y="1143"/>
                    <a:pt x="657" y="1143"/>
                    <a:pt x="657" y="1143"/>
                  </a:cubicBezTo>
                  <a:cubicBezTo>
                    <a:pt x="674" y="1107"/>
                    <a:pt x="660" y="1064"/>
                    <a:pt x="624" y="1046"/>
                  </a:cubicBezTo>
                  <a:cubicBezTo>
                    <a:pt x="614" y="1041"/>
                    <a:pt x="603" y="1039"/>
                    <a:pt x="592" y="1039"/>
                  </a:cubicBezTo>
                  <a:moveTo>
                    <a:pt x="462" y="901"/>
                  </a:moveTo>
                  <a:cubicBezTo>
                    <a:pt x="435" y="901"/>
                    <a:pt x="410" y="916"/>
                    <a:pt x="397" y="941"/>
                  </a:cubicBezTo>
                  <a:cubicBezTo>
                    <a:pt x="307" y="1123"/>
                    <a:pt x="307" y="1123"/>
                    <a:pt x="307" y="1123"/>
                  </a:cubicBezTo>
                  <a:cubicBezTo>
                    <a:pt x="289" y="1159"/>
                    <a:pt x="304" y="1202"/>
                    <a:pt x="339" y="1219"/>
                  </a:cubicBezTo>
                  <a:cubicBezTo>
                    <a:pt x="339" y="1219"/>
                    <a:pt x="339" y="1219"/>
                    <a:pt x="339" y="1219"/>
                  </a:cubicBezTo>
                  <a:cubicBezTo>
                    <a:pt x="350" y="1224"/>
                    <a:pt x="360" y="1227"/>
                    <a:pt x="371" y="1227"/>
                  </a:cubicBezTo>
                  <a:cubicBezTo>
                    <a:pt x="397" y="1227"/>
                    <a:pt x="423" y="1212"/>
                    <a:pt x="435" y="1187"/>
                  </a:cubicBezTo>
                  <a:cubicBezTo>
                    <a:pt x="526" y="1005"/>
                    <a:pt x="526" y="1005"/>
                    <a:pt x="526" y="1005"/>
                  </a:cubicBezTo>
                  <a:cubicBezTo>
                    <a:pt x="543" y="970"/>
                    <a:pt x="529" y="927"/>
                    <a:pt x="493" y="909"/>
                  </a:cubicBezTo>
                  <a:cubicBezTo>
                    <a:pt x="493" y="909"/>
                    <a:pt x="493" y="909"/>
                    <a:pt x="493" y="909"/>
                  </a:cubicBezTo>
                  <a:cubicBezTo>
                    <a:pt x="483" y="904"/>
                    <a:pt x="472" y="901"/>
                    <a:pt x="462" y="901"/>
                  </a:cubicBezTo>
                  <a:moveTo>
                    <a:pt x="298" y="829"/>
                  </a:moveTo>
                  <a:cubicBezTo>
                    <a:pt x="271" y="829"/>
                    <a:pt x="246" y="844"/>
                    <a:pt x="233" y="869"/>
                  </a:cubicBezTo>
                  <a:cubicBezTo>
                    <a:pt x="150" y="1036"/>
                    <a:pt x="150" y="1036"/>
                    <a:pt x="150" y="1036"/>
                  </a:cubicBezTo>
                  <a:cubicBezTo>
                    <a:pt x="133" y="1072"/>
                    <a:pt x="147" y="1115"/>
                    <a:pt x="183" y="1132"/>
                  </a:cubicBezTo>
                  <a:cubicBezTo>
                    <a:pt x="193" y="1138"/>
                    <a:pt x="204" y="1140"/>
                    <a:pt x="215" y="1140"/>
                  </a:cubicBezTo>
                  <a:cubicBezTo>
                    <a:pt x="241" y="1140"/>
                    <a:pt x="266" y="1125"/>
                    <a:pt x="279" y="1100"/>
                  </a:cubicBezTo>
                  <a:cubicBezTo>
                    <a:pt x="362" y="933"/>
                    <a:pt x="362" y="933"/>
                    <a:pt x="362" y="933"/>
                  </a:cubicBezTo>
                  <a:cubicBezTo>
                    <a:pt x="379" y="898"/>
                    <a:pt x="365" y="855"/>
                    <a:pt x="330" y="837"/>
                  </a:cubicBezTo>
                  <a:cubicBezTo>
                    <a:pt x="330" y="837"/>
                    <a:pt x="330" y="837"/>
                    <a:pt x="330" y="837"/>
                  </a:cubicBezTo>
                  <a:cubicBezTo>
                    <a:pt x="319" y="832"/>
                    <a:pt x="308" y="829"/>
                    <a:pt x="298" y="829"/>
                  </a:cubicBezTo>
                  <a:moveTo>
                    <a:pt x="131" y="762"/>
                  </a:moveTo>
                  <a:cubicBezTo>
                    <a:pt x="104" y="762"/>
                    <a:pt x="79" y="777"/>
                    <a:pt x="66" y="802"/>
                  </a:cubicBezTo>
                  <a:cubicBezTo>
                    <a:pt x="18" y="900"/>
                    <a:pt x="18" y="900"/>
                    <a:pt x="18" y="900"/>
                  </a:cubicBezTo>
                  <a:cubicBezTo>
                    <a:pt x="0" y="936"/>
                    <a:pt x="14" y="979"/>
                    <a:pt x="50" y="996"/>
                  </a:cubicBezTo>
                  <a:cubicBezTo>
                    <a:pt x="60" y="1002"/>
                    <a:pt x="71" y="1004"/>
                    <a:pt x="82" y="1004"/>
                  </a:cubicBezTo>
                  <a:cubicBezTo>
                    <a:pt x="108" y="1004"/>
                    <a:pt x="133" y="989"/>
                    <a:pt x="146" y="964"/>
                  </a:cubicBezTo>
                  <a:cubicBezTo>
                    <a:pt x="195" y="866"/>
                    <a:pt x="195" y="866"/>
                    <a:pt x="195" y="866"/>
                  </a:cubicBezTo>
                  <a:cubicBezTo>
                    <a:pt x="212" y="830"/>
                    <a:pt x="198" y="787"/>
                    <a:pt x="162" y="770"/>
                  </a:cubicBezTo>
                  <a:cubicBezTo>
                    <a:pt x="152" y="765"/>
                    <a:pt x="141" y="762"/>
                    <a:pt x="131" y="762"/>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ym typeface="+mn-lt"/>
              </a:endParaRPr>
            </a:p>
          </p:txBody>
        </p:sp>
        <p:sp>
          <p:nvSpPr>
            <p:cNvPr id="49" name="Freeform 6">
              <a:extLst>
                <a:ext uri="{FF2B5EF4-FFF2-40B4-BE49-F238E27FC236}">
                  <a16:creationId xmlns:a16="http://schemas.microsoft.com/office/drawing/2014/main" id="{DFBD4A7C-9C0E-47AB-8F4E-93835CB78100}"/>
                </a:ext>
              </a:extLst>
            </p:cNvPr>
            <p:cNvSpPr>
              <a:spLocks noEditPoints="1"/>
            </p:cNvSpPr>
            <p:nvPr/>
          </p:nvSpPr>
          <p:spPr bwMode="auto">
            <a:xfrm>
              <a:off x="2251" y="921"/>
              <a:ext cx="3007" cy="2422"/>
            </a:xfrm>
            <a:custGeom>
              <a:avLst/>
              <a:gdLst>
                <a:gd name="T0" fmla="*/ 262 w 1605"/>
                <a:gd name="T1" fmla="*/ 725 h 1292"/>
                <a:gd name="T2" fmla="*/ 15 w 1605"/>
                <a:gd name="T3" fmla="*/ 587 h 1292"/>
                <a:gd name="T4" fmla="*/ 0 w 1605"/>
                <a:gd name="T5" fmla="*/ 37 h 1292"/>
                <a:gd name="T6" fmla="*/ 36 w 1605"/>
                <a:gd name="T7" fmla="*/ 0 h 1292"/>
                <a:gd name="T8" fmla="*/ 155 w 1605"/>
                <a:gd name="T9" fmla="*/ 96 h 1292"/>
                <a:gd name="T10" fmla="*/ 324 w 1605"/>
                <a:gd name="T11" fmla="*/ 190 h 1292"/>
                <a:gd name="T12" fmla="*/ 364 w 1605"/>
                <a:gd name="T13" fmla="*/ 178 h 1292"/>
                <a:gd name="T14" fmla="*/ 366 w 1605"/>
                <a:gd name="T15" fmla="*/ 207 h 1292"/>
                <a:gd name="T16" fmla="*/ 324 w 1605"/>
                <a:gd name="T17" fmla="*/ 226 h 1292"/>
                <a:gd name="T18" fmla="*/ 36 w 1605"/>
                <a:gd name="T19" fmla="*/ 36 h 1292"/>
                <a:gd name="T20" fmla="*/ 1538 w 1605"/>
                <a:gd name="T21" fmla="*/ 719 h 1292"/>
                <a:gd name="T22" fmla="*/ 785 w 1605"/>
                <a:gd name="T23" fmla="*/ 307 h 1292"/>
                <a:gd name="T24" fmla="*/ 1544 w 1605"/>
                <a:gd name="T25" fmla="*/ 848 h 1292"/>
                <a:gd name="T26" fmla="*/ 1482 w 1605"/>
                <a:gd name="T27" fmla="*/ 883 h 1292"/>
                <a:gd name="T28" fmla="*/ 1236 w 1605"/>
                <a:gd name="T29" fmla="*/ 747 h 1292"/>
                <a:gd name="T30" fmla="*/ 1210 w 1605"/>
                <a:gd name="T31" fmla="*/ 752 h 1292"/>
                <a:gd name="T32" fmla="*/ 1380 w 1605"/>
                <a:gd name="T33" fmla="*/ 881 h 1292"/>
                <a:gd name="T34" fmla="*/ 1345 w 1605"/>
                <a:gd name="T35" fmla="*/ 1015 h 1292"/>
                <a:gd name="T36" fmla="*/ 1123 w 1605"/>
                <a:gd name="T37" fmla="*/ 893 h 1292"/>
                <a:gd name="T38" fmla="*/ 1098 w 1605"/>
                <a:gd name="T39" fmla="*/ 898 h 1292"/>
                <a:gd name="T40" fmla="*/ 1229 w 1605"/>
                <a:gd name="T41" fmla="*/ 1002 h 1292"/>
                <a:gd name="T42" fmla="*/ 1253 w 1605"/>
                <a:gd name="T43" fmla="*/ 1100 h 1292"/>
                <a:gd name="T44" fmla="*/ 1155 w 1605"/>
                <a:gd name="T45" fmla="*/ 1124 h 1292"/>
                <a:gd name="T46" fmla="*/ 986 w 1605"/>
                <a:gd name="T47" fmla="*/ 1044 h 1292"/>
                <a:gd name="T48" fmla="*/ 992 w 1605"/>
                <a:gd name="T49" fmla="*/ 1075 h 1292"/>
                <a:gd name="T50" fmla="*/ 1097 w 1605"/>
                <a:gd name="T51" fmla="*/ 1222 h 1292"/>
                <a:gd name="T52" fmla="*/ 998 w 1605"/>
                <a:gd name="T53" fmla="*/ 1246 h 1292"/>
                <a:gd name="T54" fmla="*/ 862 w 1605"/>
                <a:gd name="T55" fmla="*/ 1206 h 1292"/>
                <a:gd name="T56" fmla="*/ 1035 w 1605"/>
                <a:gd name="T57" fmla="*/ 1292 h 1292"/>
                <a:gd name="T58" fmla="*/ 1139 w 1605"/>
                <a:gd name="T59" fmla="*/ 1157 h 1292"/>
                <a:gd name="T60" fmla="*/ 1284 w 1605"/>
                <a:gd name="T61" fmla="*/ 1119 h 1292"/>
                <a:gd name="T62" fmla="*/ 1345 w 1605"/>
                <a:gd name="T63" fmla="*/ 1051 h 1292"/>
                <a:gd name="T64" fmla="*/ 1450 w 1605"/>
                <a:gd name="T65" fmla="*/ 917 h 1292"/>
                <a:gd name="T66" fmla="*/ 1482 w 1605"/>
                <a:gd name="T67" fmla="*/ 919 h 1292"/>
                <a:gd name="T68" fmla="*/ 1538 w 1605"/>
                <a:gd name="T69" fmla="*/ 719 h 1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05" h="1292">
                  <a:moveTo>
                    <a:pt x="36" y="558"/>
                  </a:moveTo>
                  <a:cubicBezTo>
                    <a:pt x="262" y="725"/>
                    <a:pt x="262" y="725"/>
                    <a:pt x="262" y="725"/>
                  </a:cubicBezTo>
                  <a:cubicBezTo>
                    <a:pt x="246" y="757"/>
                    <a:pt x="246" y="757"/>
                    <a:pt x="246" y="757"/>
                  </a:cubicBezTo>
                  <a:cubicBezTo>
                    <a:pt x="15" y="587"/>
                    <a:pt x="15" y="587"/>
                    <a:pt x="15" y="587"/>
                  </a:cubicBezTo>
                  <a:cubicBezTo>
                    <a:pt x="6" y="580"/>
                    <a:pt x="0" y="569"/>
                    <a:pt x="0" y="558"/>
                  </a:cubicBezTo>
                  <a:cubicBezTo>
                    <a:pt x="0" y="37"/>
                    <a:pt x="0" y="37"/>
                    <a:pt x="0" y="37"/>
                  </a:cubicBezTo>
                  <a:cubicBezTo>
                    <a:pt x="0" y="24"/>
                    <a:pt x="7" y="11"/>
                    <a:pt x="18" y="5"/>
                  </a:cubicBezTo>
                  <a:cubicBezTo>
                    <a:pt x="24" y="1"/>
                    <a:pt x="30" y="0"/>
                    <a:pt x="36" y="0"/>
                  </a:cubicBezTo>
                  <a:cubicBezTo>
                    <a:pt x="45" y="0"/>
                    <a:pt x="54" y="3"/>
                    <a:pt x="61" y="9"/>
                  </a:cubicBezTo>
                  <a:cubicBezTo>
                    <a:pt x="155" y="96"/>
                    <a:pt x="155" y="96"/>
                    <a:pt x="155" y="96"/>
                  </a:cubicBezTo>
                  <a:cubicBezTo>
                    <a:pt x="156" y="97"/>
                    <a:pt x="156" y="97"/>
                    <a:pt x="156" y="97"/>
                  </a:cubicBezTo>
                  <a:cubicBezTo>
                    <a:pt x="182" y="123"/>
                    <a:pt x="263" y="190"/>
                    <a:pt x="324" y="190"/>
                  </a:cubicBezTo>
                  <a:cubicBezTo>
                    <a:pt x="336" y="190"/>
                    <a:pt x="346" y="187"/>
                    <a:pt x="355" y="182"/>
                  </a:cubicBezTo>
                  <a:cubicBezTo>
                    <a:pt x="358" y="180"/>
                    <a:pt x="361" y="179"/>
                    <a:pt x="364" y="178"/>
                  </a:cubicBezTo>
                  <a:cubicBezTo>
                    <a:pt x="413" y="161"/>
                    <a:pt x="413" y="161"/>
                    <a:pt x="413" y="161"/>
                  </a:cubicBezTo>
                  <a:cubicBezTo>
                    <a:pt x="397" y="176"/>
                    <a:pt x="382" y="191"/>
                    <a:pt x="366" y="207"/>
                  </a:cubicBezTo>
                  <a:cubicBezTo>
                    <a:pt x="361" y="212"/>
                    <a:pt x="357" y="217"/>
                    <a:pt x="353" y="222"/>
                  </a:cubicBezTo>
                  <a:cubicBezTo>
                    <a:pt x="344" y="225"/>
                    <a:pt x="334" y="226"/>
                    <a:pt x="324" y="226"/>
                  </a:cubicBezTo>
                  <a:cubicBezTo>
                    <a:pt x="234" y="226"/>
                    <a:pt x="131" y="123"/>
                    <a:pt x="131" y="123"/>
                  </a:cubicBezTo>
                  <a:cubicBezTo>
                    <a:pt x="36" y="36"/>
                    <a:pt x="36" y="36"/>
                    <a:pt x="36" y="36"/>
                  </a:cubicBezTo>
                  <a:lnTo>
                    <a:pt x="36" y="558"/>
                  </a:lnTo>
                  <a:close/>
                  <a:moveTo>
                    <a:pt x="1538" y="719"/>
                  </a:moveTo>
                  <a:cubicBezTo>
                    <a:pt x="868" y="315"/>
                    <a:pt x="868" y="315"/>
                    <a:pt x="868" y="315"/>
                  </a:cubicBezTo>
                  <a:cubicBezTo>
                    <a:pt x="850" y="312"/>
                    <a:pt x="824" y="309"/>
                    <a:pt x="785" y="307"/>
                  </a:cubicBezTo>
                  <a:cubicBezTo>
                    <a:pt x="1520" y="750"/>
                    <a:pt x="1520" y="750"/>
                    <a:pt x="1520" y="750"/>
                  </a:cubicBezTo>
                  <a:cubicBezTo>
                    <a:pt x="1553" y="770"/>
                    <a:pt x="1564" y="814"/>
                    <a:pt x="1544" y="848"/>
                  </a:cubicBezTo>
                  <a:cubicBezTo>
                    <a:pt x="1544" y="848"/>
                    <a:pt x="1544" y="848"/>
                    <a:pt x="1544" y="848"/>
                  </a:cubicBezTo>
                  <a:cubicBezTo>
                    <a:pt x="1531" y="871"/>
                    <a:pt x="1507" y="883"/>
                    <a:pt x="1482" y="883"/>
                  </a:cubicBezTo>
                  <a:cubicBezTo>
                    <a:pt x="1470" y="883"/>
                    <a:pt x="1457" y="880"/>
                    <a:pt x="1446" y="873"/>
                  </a:cubicBezTo>
                  <a:cubicBezTo>
                    <a:pt x="1236" y="747"/>
                    <a:pt x="1236" y="747"/>
                    <a:pt x="1236" y="747"/>
                  </a:cubicBezTo>
                  <a:cubicBezTo>
                    <a:pt x="1227" y="741"/>
                    <a:pt x="1216" y="743"/>
                    <a:pt x="1210" y="752"/>
                  </a:cubicBezTo>
                  <a:cubicBezTo>
                    <a:pt x="1210" y="752"/>
                    <a:pt x="1210" y="752"/>
                    <a:pt x="1210" y="752"/>
                  </a:cubicBezTo>
                  <a:cubicBezTo>
                    <a:pt x="1202" y="761"/>
                    <a:pt x="1205" y="775"/>
                    <a:pt x="1215" y="781"/>
                  </a:cubicBezTo>
                  <a:cubicBezTo>
                    <a:pt x="1380" y="881"/>
                    <a:pt x="1380" y="881"/>
                    <a:pt x="1380" y="881"/>
                  </a:cubicBezTo>
                  <a:cubicBezTo>
                    <a:pt x="1414" y="901"/>
                    <a:pt x="1427" y="947"/>
                    <a:pt x="1406" y="981"/>
                  </a:cubicBezTo>
                  <a:cubicBezTo>
                    <a:pt x="1393" y="1003"/>
                    <a:pt x="1369" y="1015"/>
                    <a:pt x="1345" y="1015"/>
                  </a:cubicBezTo>
                  <a:cubicBezTo>
                    <a:pt x="1332" y="1015"/>
                    <a:pt x="1320" y="1012"/>
                    <a:pt x="1308" y="1005"/>
                  </a:cubicBezTo>
                  <a:cubicBezTo>
                    <a:pt x="1123" y="893"/>
                    <a:pt x="1123" y="893"/>
                    <a:pt x="1123" y="893"/>
                  </a:cubicBezTo>
                  <a:cubicBezTo>
                    <a:pt x="1115" y="888"/>
                    <a:pt x="1104" y="890"/>
                    <a:pt x="1098" y="898"/>
                  </a:cubicBezTo>
                  <a:cubicBezTo>
                    <a:pt x="1098" y="898"/>
                    <a:pt x="1098" y="898"/>
                    <a:pt x="1098" y="898"/>
                  </a:cubicBezTo>
                  <a:cubicBezTo>
                    <a:pt x="1091" y="907"/>
                    <a:pt x="1093" y="920"/>
                    <a:pt x="1103" y="926"/>
                  </a:cubicBezTo>
                  <a:cubicBezTo>
                    <a:pt x="1229" y="1002"/>
                    <a:pt x="1229" y="1002"/>
                    <a:pt x="1229" y="1002"/>
                  </a:cubicBezTo>
                  <a:cubicBezTo>
                    <a:pt x="1263" y="1022"/>
                    <a:pt x="1274" y="1066"/>
                    <a:pt x="1253" y="1100"/>
                  </a:cubicBezTo>
                  <a:cubicBezTo>
                    <a:pt x="1253" y="1100"/>
                    <a:pt x="1253" y="1100"/>
                    <a:pt x="1253" y="1100"/>
                  </a:cubicBezTo>
                  <a:cubicBezTo>
                    <a:pt x="1240" y="1122"/>
                    <a:pt x="1216" y="1135"/>
                    <a:pt x="1192" y="1135"/>
                  </a:cubicBezTo>
                  <a:cubicBezTo>
                    <a:pt x="1179" y="1135"/>
                    <a:pt x="1167" y="1131"/>
                    <a:pt x="1155" y="1124"/>
                  </a:cubicBezTo>
                  <a:cubicBezTo>
                    <a:pt x="1013" y="1039"/>
                    <a:pt x="1013" y="1039"/>
                    <a:pt x="1013" y="1039"/>
                  </a:cubicBezTo>
                  <a:cubicBezTo>
                    <a:pt x="1004" y="1033"/>
                    <a:pt x="992" y="1036"/>
                    <a:pt x="986" y="1044"/>
                  </a:cubicBezTo>
                  <a:cubicBezTo>
                    <a:pt x="986" y="1044"/>
                    <a:pt x="986" y="1044"/>
                    <a:pt x="986" y="1044"/>
                  </a:cubicBezTo>
                  <a:cubicBezTo>
                    <a:pt x="978" y="1054"/>
                    <a:pt x="981" y="1068"/>
                    <a:pt x="992" y="1075"/>
                  </a:cubicBezTo>
                  <a:cubicBezTo>
                    <a:pt x="1071" y="1122"/>
                    <a:pt x="1071" y="1122"/>
                    <a:pt x="1071" y="1122"/>
                  </a:cubicBezTo>
                  <a:cubicBezTo>
                    <a:pt x="1105" y="1143"/>
                    <a:pt x="1117" y="1188"/>
                    <a:pt x="1097" y="1222"/>
                  </a:cubicBezTo>
                  <a:cubicBezTo>
                    <a:pt x="1083" y="1244"/>
                    <a:pt x="1059" y="1256"/>
                    <a:pt x="1035" y="1256"/>
                  </a:cubicBezTo>
                  <a:cubicBezTo>
                    <a:pt x="1023" y="1256"/>
                    <a:pt x="1010" y="1253"/>
                    <a:pt x="998" y="1246"/>
                  </a:cubicBezTo>
                  <a:cubicBezTo>
                    <a:pt x="884" y="1177"/>
                    <a:pt x="884" y="1177"/>
                    <a:pt x="884" y="1177"/>
                  </a:cubicBezTo>
                  <a:cubicBezTo>
                    <a:pt x="862" y="1206"/>
                    <a:pt x="862" y="1206"/>
                    <a:pt x="862" y="1206"/>
                  </a:cubicBezTo>
                  <a:cubicBezTo>
                    <a:pt x="980" y="1277"/>
                    <a:pt x="980" y="1277"/>
                    <a:pt x="980" y="1277"/>
                  </a:cubicBezTo>
                  <a:cubicBezTo>
                    <a:pt x="997" y="1287"/>
                    <a:pt x="1016" y="1292"/>
                    <a:pt x="1035" y="1292"/>
                  </a:cubicBezTo>
                  <a:cubicBezTo>
                    <a:pt x="1073" y="1292"/>
                    <a:pt x="1108" y="1272"/>
                    <a:pt x="1128" y="1240"/>
                  </a:cubicBezTo>
                  <a:cubicBezTo>
                    <a:pt x="1143" y="1214"/>
                    <a:pt x="1147" y="1184"/>
                    <a:pt x="1139" y="1157"/>
                  </a:cubicBezTo>
                  <a:cubicBezTo>
                    <a:pt x="1155" y="1166"/>
                    <a:pt x="1174" y="1171"/>
                    <a:pt x="1192" y="1171"/>
                  </a:cubicBezTo>
                  <a:cubicBezTo>
                    <a:pt x="1230" y="1171"/>
                    <a:pt x="1265" y="1151"/>
                    <a:pt x="1284" y="1119"/>
                  </a:cubicBezTo>
                  <a:cubicBezTo>
                    <a:pt x="1299" y="1094"/>
                    <a:pt x="1303" y="1066"/>
                    <a:pt x="1297" y="1040"/>
                  </a:cubicBezTo>
                  <a:cubicBezTo>
                    <a:pt x="1312" y="1047"/>
                    <a:pt x="1328" y="1051"/>
                    <a:pt x="1345" y="1051"/>
                  </a:cubicBezTo>
                  <a:cubicBezTo>
                    <a:pt x="1383" y="1051"/>
                    <a:pt x="1418" y="1031"/>
                    <a:pt x="1437" y="999"/>
                  </a:cubicBezTo>
                  <a:cubicBezTo>
                    <a:pt x="1452" y="974"/>
                    <a:pt x="1457" y="945"/>
                    <a:pt x="1450" y="917"/>
                  </a:cubicBezTo>
                  <a:cubicBezTo>
                    <a:pt x="1449" y="916"/>
                    <a:pt x="1449" y="915"/>
                    <a:pt x="1449" y="913"/>
                  </a:cubicBezTo>
                  <a:cubicBezTo>
                    <a:pt x="1459" y="917"/>
                    <a:pt x="1471" y="919"/>
                    <a:pt x="1482" y="919"/>
                  </a:cubicBezTo>
                  <a:cubicBezTo>
                    <a:pt x="1520" y="919"/>
                    <a:pt x="1555" y="899"/>
                    <a:pt x="1575" y="867"/>
                  </a:cubicBezTo>
                  <a:cubicBezTo>
                    <a:pt x="1605" y="816"/>
                    <a:pt x="1589" y="750"/>
                    <a:pt x="1538" y="719"/>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ym typeface="+mn-lt"/>
              </a:endParaRPr>
            </a:p>
          </p:txBody>
        </p:sp>
      </p:grpSp>
      <p:grpSp>
        <p:nvGrpSpPr>
          <p:cNvPr id="106" name="Group 105">
            <a:extLst>
              <a:ext uri="{FF2B5EF4-FFF2-40B4-BE49-F238E27FC236}">
                <a16:creationId xmlns:a16="http://schemas.microsoft.com/office/drawing/2014/main" id="{A46EBF83-C076-47D5-B444-7BE3A820FDBA}"/>
              </a:ext>
            </a:extLst>
          </p:cNvPr>
          <p:cNvGrpSpPr/>
          <p:nvPr/>
        </p:nvGrpSpPr>
        <p:grpSpPr>
          <a:xfrm>
            <a:off x="6567560" y="2820624"/>
            <a:ext cx="4995640" cy="656023"/>
            <a:chOff x="6567560" y="2866191"/>
            <a:chExt cx="4995640" cy="656023"/>
          </a:xfrm>
        </p:grpSpPr>
        <p:grpSp>
          <p:nvGrpSpPr>
            <p:cNvPr id="70" name="Group 69">
              <a:extLst>
                <a:ext uri="{FF2B5EF4-FFF2-40B4-BE49-F238E27FC236}">
                  <a16:creationId xmlns:a16="http://schemas.microsoft.com/office/drawing/2014/main" id="{CF1B52DC-BA84-4865-A90C-CE26F637007F}"/>
                </a:ext>
              </a:extLst>
            </p:cNvPr>
            <p:cNvGrpSpPr>
              <a:grpSpLocks noChangeAspect="1"/>
            </p:cNvGrpSpPr>
            <p:nvPr/>
          </p:nvGrpSpPr>
          <p:grpSpPr>
            <a:xfrm>
              <a:off x="6567560" y="2866191"/>
              <a:ext cx="554534" cy="553998"/>
              <a:chOff x="6464300" y="2606675"/>
              <a:chExt cx="1646238" cy="1644650"/>
            </a:xfrm>
          </p:grpSpPr>
          <p:sp>
            <p:nvSpPr>
              <p:cNvPr id="71" name="AutoShape 15">
                <a:extLst>
                  <a:ext uri="{FF2B5EF4-FFF2-40B4-BE49-F238E27FC236}">
                    <a16:creationId xmlns:a16="http://schemas.microsoft.com/office/drawing/2014/main" id="{56EA45E2-042C-4648-BE1D-BE5B451E6A99}"/>
                  </a:ext>
                </a:extLst>
              </p:cNvPr>
              <p:cNvSpPr>
                <a:spLocks noChangeAspect="1" noChangeArrowheads="1" noTextEdit="1"/>
              </p:cNvSpPr>
              <p:nvPr/>
            </p:nvSpPr>
            <p:spPr bwMode="auto">
              <a:xfrm>
                <a:off x="6464300"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grpSp>
            <p:nvGrpSpPr>
              <p:cNvPr id="72" name="Group 71">
                <a:extLst>
                  <a:ext uri="{FF2B5EF4-FFF2-40B4-BE49-F238E27FC236}">
                    <a16:creationId xmlns:a16="http://schemas.microsoft.com/office/drawing/2014/main" id="{2FF0F04F-9D18-4EF1-84A3-822E501293CF}"/>
                  </a:ext>
                </a:extLst>
              </p:cNvPr>
              <p:cNvGrpSpPr/>
              <p:nvPr/>
            </p:nvGrpSpPr>
            <p:grpSpPr>
              <a:xfrm>
                <a:off x="6635750" y="2963862"/>
                <a:ext cx="1367015" cy="1238250"/>
                <a:chOff x="6635750" y="2963862"/>
                <a:chExt cx="1367015" cy="1238250"/>
              </a:xfrm>
            </p:grpSpPr>
            <p:sp>
              <p:nvSpPr>
                <p:cNvPr id="73" name="Freeform 10">
                  <a:extLst>
                    <a:ext uri="{FF2B5EF4-FFF2-40B4-BE49-F238E27FC236}">
                      <a16:creationId xmlns:a16="http://schemas.microsoft.com/office/drawing/2014/main" id="{F6ACE73F-8681-48E3-A3B7-AC39E86D8845}"/>
                    </a:ext>
                  </a:extLst>
                </p:cNvPr>
                <p:cNvSpPr>
                  <a:spLocks/>
                </p:cNvSpPr>
                <p:nvPr/>
              </p:nvSpPr>
              <p:spPr bwMode="auto">
                <a:xfrm>
                  <a:off x="6635750" y="2963862"/>
                  <a:ext cx="1367015" cy="1238250"/>
                </a:xfrm>
                <a:custGeom>
                  <a:avLst/>
                  <a:gdLst>
                    <a:gd name="connsiteX0" fmla="*/ 1124567 w 1367015"/>
                    <a:gd name="connsiteY0" fmla="*/ 922337 h 1238250"/>
                    <a:gd name="connsiteX1" fmla="*/ 1113855 w 1367015"/>
                    <a:gd name="connsiteY1" fmla="*/ 931647 h 1238250"/>
                    <a:gd name="connsiteX2" fmla="*/ 1058863 w 1367015"/>
                    <a:gd name="connsiteY2" fmla="*/ 985360 h 1238250"/>
                    <a:gd name="connsiteX3" fmla="*/ 1269544 w 1367015"/>
                    <a:gd name="connsiteY3" fmla="*/ 1205939 h 1238250"/>
                    <a:gd name="connsiteX4" fmla="*/ 1282399 w 1367015"/>
                    <a:gd name="connsiteY4" fmla="*/ 1205939 h 1238250"/>
                    <a:gd name="connsiteX5" fmla="*/ 1313109 w 1367015"/>
                    <a:gd name="connsiteY5" fmla="*/ 1185886 h 1238250"/>
                    <a:gd name="connsiteX6" fmla="*/ 1333820 w 1367015"/>
                    <a:gd name="connsiteY6" fmla="*/ 1155807 h 1238250"/>
                    <a:gd name="connsiteX7" fmla="*/ 1335248 w 1367015"/>
                    <a:gd name="connsiteY7" fmla="*/ 1142916 h 1238250"/>
                    <a:gd name="connsiteX8" fmla="*/ 1133851 w 1367015"/>
                    <a:gd name="connsiteY8" fmla="*/ 931647 h 1238250"/>
                    <a:gd name="connsiteX9" fmla="*/ 1124567 w 1367015"/>
                    <a:gd name="connsiteY9" fmla="*/ 922337 h 1238250"/>
                    <a:gd name="connsiteX10" fmla="*/ 925229 w 1367015"/>
                    <a:gd name="connsiteY10" fmla="*/ 906462 h 1238250"/>
                    <a:gd name="connsiteX11" fmla="*/ 949325 w 1367015"/>
                    <a:gd name="connsiteY11" fmla="*/ 931862 h 1238250"/>
                    <a:gd name="connsiteX12" fmla="*/ 869950 w 1367015"/>
                    <a:gd name="connsiteY12" fmla="*/ 931862 h 1238250"/>
                    <a:gd name="connsiteX13" fmla="*/ 925229 w 1367015"/>
                    <a:gd name="connsiteY13" fmla="*/ 906462 h 1238250"/>
                    <a:gd name="connsiteX14" fmla="*/ 1124927 w 1367015"/>
                    <a:gd name="connsiteY14" fmla="*/ 884237 h 1238250"/>
                    <a:gd name="connsiteX15" fmla="*/ 1135645 w 1367015"/>
                    <a:gd name="connsiteY15" fmla="*/ 889243 h 1238250"/>
                    <a:gd name="connsiteX16" fmla="*/ 1146363 w 1367015"/>
                    <a:gd name="connsiteY16" fmla="*/ 900686 h 1238250"/>
                    <a:gd name="connsiteX17" fmla="*/ 1176374 w 1367015"/>
                    <a:gd name="connsiteY17" fmla="*/ 932154 h 1238250"/>
                    <a:gd name="connsiteX18" fmla="*/ 1357152 w 1367015"/>
                    <a:gd name="connsiteY18" fmla="*/ 1121676 h 1238250"/>
                    <a:gd name="connsiteX19" fmla="*/ 1363582 w 1367015"/>
                    <a:gd name="connsiteY19" fmla="*/ 1166017 h 1238250"/>
                    <a:gd name="connsiteX20" fmla="*/ 1335001 w 1367015"/>
                    <a:gd name="connsiteY20" fmla="*/ 1208928 h 1238250"/>
                    <a:gd name="connsiteX21" fmla="*/ 1290700 w 1367015"/>
                    <a:gd name="connsiteY21" fmla="*/ 1236105 h 1238250"/>
                    <a:gd name="connsiteX22" fmla="*/ 1273551 w 1367015"/>
                    <a:gd name="connsiteY22" fmla="*/ 1238250 h 1238250"/>
                    <a:gd name="connsiteX23" fmla="*/ 1246398 w 1367015"/>
                    <a:gd name="connsiteY23" fmla="*/ 1227522 h 1238250"/>
                    <a:gd name="connsiteX24" fmla="*/ 1024892 w 1367015"/>
                    <a:gd name="connsiteY24" fmla="*/ 996520 h 1238250"/>
                    <a:gd name="connsiteX25" fmla="*/ 1025606 w 1367015"/>
                    <a:gd name="connsiteY25" fmla="*/ 974350 h 1238250"/>
                    <a:gd name="connsiteX26" fmla="*/ 1068478 w 1367015"/>
                    <a:gd name="connsiteY26" fmla="*/ 932154 h 1238250"/>
                    <a:gd name="connsiteX27" fmla="*/ 1076338 w 1367015"/>
                    <a:gd name="connsiteY27" fmla="*/ 925002 h 1238250"/>
                    <a:gd name="connsiteX28" fmla="*/ 1100633 w 1367015"/>
                    <a:gd name="connsiteY28" fmla="*/ 900686 h 1238250"/>
                    <a:gd name="connsiteX29" fmla="*/ 1104205 w 1367015"/>
                    <a:gd name="connsiteY29" fmla="*/ 897826 h 1238250"/>
                    <a:gd name="connsiteX30" fmla="*/ 1113494 w 1367015"/>
                    <a:gd name="connsiteY30" fmla="*/ 889243 h 1238250"/>
                    <a:gd name="connsiteX31" fmla="*/ 1124927 w 1367015"/>
                    <a:gd name="connsiteY31" fmla="*/ 884237 h 1238250"/>
                    <a:gd name="connsiteX32" fmla="*/ 346518 w 1367015"/>
                    <a:gd name="connsiteY32" fmla="*/ 565150 h 1238250"/>
                    <a:gd name="connsiteX33" fmla="*/ 306388 w 1367015"/>
                    <a:gd name="connsiteY33" fmla="*/ 606784 h 1238250"/>
                    <a:gd name="connsiteX34" fmla="*/ 306388 w 1367015"/>
                    <a:gd name="connsiteY34" fmla="*/ 608938 h 1238250"/>
                    <a:gd name="connsiteX35" fmla="*/ 319765 w 1367015"/>
                    <a:gd name="connsiteY35" fmla="*/ 636933 h 1238250"/>
                    <a:gd name="connsiteX36" fmla="*/ 346518 w 1367015"/>
                    <a:gd name="connsiteY36" fmla="*/ 647700 h 1238250"/>
                    <a:gd name="connsiteX37" fmla="*/ 387351 w 1367015"/>
                    <a:gd name="connsiteY37" fmla="*/ 606784 h 1238250"/>
                    <a:gd name="connsiteX38" fmla="*/ 383127 w 1367015"/>
                    <a:gd name="connsiteY38" fmla="*/ 588838 h 1238250"/>
                    <a:gd name="connsiteX39" fmla="*/ 360598 w 1367015"/>
                    <a:gd name="connsiteY39" fmla="*/ 568021 h 1238250"/>
                    <a:gd name="connsiteX40" fmla="*/ 346518 w 1367015"/>
                    <a:gd name="connsiteY40" fmla="*/ 565150 h 1238250"/>
                    <a:gd name="connsiteX41" fmla="*/ 760846 w 1367015"/>
                    <a:gd name="connsiteY41" fmla="*/ 492125 h 1238250"/>
                    <a:gd name="connsiteX42" fmla="*/ 735591 w 1367015"/>
                    <a:gd name="connsiteY42" fmla="*/ 499181 h 1238250"/>
                    <a:gd name="connsiteX43" fmla="*/ 710335 w 1367015"/>
                    <a:gd name="connsiteY43" fmla="*/ 535164 h 1238250"/>
                    <a:gd name="connsiteX44" fmla="*/ 709613 w 1367015"/>
                    <a:gd name="connsiteY44" fmla="*/ 542925 h 1238250"/>
                    <a:gd name="connsiteX45" fmla="*/ 760846 w 1367015"/>
                    <a:gd name="connsiteY45" fmla="*/ 593725 h 1238250"/>
                    <a:gd name="connsiteX46" fmla="*/ 767341 w 1367015"/>
                    <a:gd name="connsiteY46" fmla="*/ 593725 h 1238250"/>
                    <a:gd name="connsiteX47" fmla="*/ 804864 w 1367015"/>
                    <a:gd name="connsiteY47" fmla="*/ 570442 h 1238250"/>
                    <a:gd name="connsiteX48" fmla="*/ 812801 w 1367015"/>
                    <a:gd name="connsiteY48" fmla="*/ 542925 h 1238250"/>
                    <a:gd name="connsiteX49" fmla="*/ 812801 w 1367015"/>
                    <a:gd name="connsiteY49" fmla="*/ 539397 h 1238250"/>
                    <a:gd name="connsiteX50" fmla="*/ 768062 w 1367015"/>
                    <a:gd name="connsiteY50" fmla="*/ 492831 h 1238250"/>
                    <a:gd name="connsiteX51" fmla="*/ 760846 w 1367015"/>
                    <a:gd name="connsiteY51" fmla="*/ 492125 h 1238250"/>
                    <a:gd name="connsiteX52" fmla="*/ 891455 w 1367015"/>
                    <a:gd name="connsiteY52" fmla="*/ 415925 h 1238250"/>
                    <a:gd name="connsiteX53" fmla="*/ 915035 w 1367015"/>
                    <a:gd name="connsiteY53" fmla="*/ 434485 h 1238250"/>
                    <a:gd name="connsiteX54" fmla="*/ 920751 w 1367015"/>
                    <a:gd name="connsiteY54" fmla="*/ 439482 h 1238250"/>
                    <a:gd name="connsiteX55" fmla="*/ 877164 w 1367015"/>
                    <a:gd name="connsiteY55" fmla="*/ 474460 h 1238250"/>
                    <a:gd name="connsiteX56" fmla="*/ 850012 w 1367015"/>
                    <a:gd name="connsiteY56" fmla="*/ 496589 h 1238250"/>
                    <a:gd name="connsiteX57" fmla="*/ 838579 w 1367015"/>
                    <a:gd name="connsiteY57" fmla="*/ 505155 h 1238250"/>
                    <a:gd name="connsiteX58" fmla="*/ 844296 w 1367015"/>
                    <a:gd name="connsiteY58" fmla="*/ 519432 h 1238250"/>
                    <a:gd name="connsiteX59" fmla="*/ 847154 w 1367015"/>
                    <a:gd name="connsiteY59" fmla="*/ 542989 h 1238250"/>
                    <a:gd name="connsiteX60" fmla="*/ 845725 w 1367015"/>
                    <a:gd name="connsiteY60" fmla="*/ 561549 h 1238250"/>
                    <a:gd name="connsiteX61" fmla="*/ 824289 w 1367015"/>
                    <a:gd name="connsiteY61" fmla="*/ 601524 h 1238250"/>
                    <a:gd name="connsiteX62" fmla="*/ 761409 w 1367015"/>
                    <a:gd name="connsiteY62" fmla="*/ 628650 h 1238250"/>
                    <a:gd name="connsiteX63" fmla="*/ 676379 w 1367015"/>
                    <a:gd name="connsiteY63" fmla="*/ 542989 h 1238250"/>
                    <a:gd name="connsiteX64" fmla="*/ 678523 w 1367015"/>
                    <a:gd name="connsiteY64" fmla="*/ 523715 h 1238250"/>
                    <a:gd name="connsiteX65" fmla="*/ 582775 w 1367015"/>
                    <a:gd name="connsiteY65" fmla="*/ 477316 h 1238250"/>
                    <a:gd name="connsiteX66" fmla="*/ 569913 w 1367015"/>
                    <a:gd name="connsiteY66" fmla="*/ 470891 h 1238250"/>
                    <a:gd name="connsiteX67" fmla="*/ 594208 w 1367015"/>
                    <a:gd name="connsiteY67" fmla="*/ 441623 h 1238250"/>
                    <a:gd name="connsiteX68" fmla="*/ 694957 w 1367015"/>
                    <a:gd name="connsiteY68" fmla="*/ 490165 h 1238250"/>
                    <a:gd name="connsiteX69" fmla="*/ 715679 w 1367015"/>
                    <a:gd name="connsiteY69" fmla="*/ 470891 h 1238250"/>
                    <a:gd name="connsiteX70" fmla="*/ 761409 w 1367015"/>
                    <a:gd name="connsiteY70" fmla="*/ 457328 h 1238250"/>
                    <a:gd name="connsiteX71" fmla="*/ 789991 w 1367015"/>
                    <a:gd name="connsiteY71" fmla="*/ 462325 h 1238250"/>
                    <a:gd name="connsiteX72" fmla="*/ 815714 w 1367015"/>
                    <a:gd name="connsiteY72" fmla="*/ 476602 h 1238250"/>
                    <a:gd name="connsiteX73" fmla="*/ 831434 w 1367015"/>
                    <a:gd name="connsiteY73" fmla="*/ 464466 h 1238250"/>
                    <a:gd name="connsiteX74" fmla="*/ 891455 w 1367015"/>
                    <a:gd name="connsiteY74" fmla="*/ 415925 h 1238250"/>
                    <a:gd name="connsiteX75" fmla="*/ 772661 w 1367015"/>
                    <a:gd name="connsiteY75" fmla="*/ 346605 h 1238250"/>
                    <a:gd name="connsiteX76" fmla="*/ 628158 w 1367015"/>
                    <a:gd name="connsiteY76" fmla="*/ 379415 h 1238250"/>
                    <a:gd name="connsiteX77" fmla="*/ 571784 w 1367015"/>
                    <a:gd name="connsiteY77" fmla="*/ 420783 h 1238250"/>
                    <a:gd name="connsiteX78" fmla="*/ 546809 w 1367015"/>
                    <a:gd name="connsiteY78" fmla="*/ 449314 h 1238250"/>
                    <a:gd name="connsiteX79" fmla="*/ 524687 w 1367015"/>
                    <a:gd name="connsiteY79" fmla="*/ 482123 h 1238250"/>
                    <a:gd name="connsiteX80" fmla="*/ 564648 w 1367015"/>
                    <a:gd name="connsiteY80" fmla="*/ 800235 h 1238250"/>
                    <a:gd name="connsiteX81" fmla="*/ 678110 w 1367015"/>
                    <a:gd name="connsiteY81" fmla="*/ 869420 h 1238250"/>
                    <a:gd name="connsiteX82" fmla="*/ 837955 w 1367015"/>
                    <a:gd name="connsiteY82" fmla="*/ 869420 h 1238250"/>
                    <a:gd name="connsiteX83" fmla="*/ 921445 w 1367015"/>
                    <a:gd name="connsiteY83" fmla="*/ 826625 h 1238250"/>
                    <a:gd name="connsiteX84" fmla="*/ 944280 w 1367015"/>
                    <a:gd name="connsiteY84" fmla="*/ 807367 h 1238250"/>
                    <a:gd name="connsiteX85" fmla="*/ 967115 w 1367015"/>
                    <a:gd name="connsiteY85" fmla="*/ 783117 h 1238250"/>
                    <a:gd name="connsiteX86" fmla="*/ 959979 w 1367015"/>
                    <a:gd name="connsiteY86" fmla="*/ 437902 h 1238250"/>
                    <a:gd name="connsiteX87" fmla="*/ 951416 w 1367015"/>
                    <a:gd name="connsiteY87" fmla="*/ 427916 h 1238250"/>
                    <a:gd name="connsiteX88" fmla="*/ 937858 w 1367015"/>
                    <a:gd name="connsiteY88" fmla="*/ 415791 h 1238250"/>
                    <a:gd name="connsiteX89" fmla="*/ 912882 w 1367015"/>
                    <a:gd name="connsiteY89" fmla="*/ 395106 h 1238250"/>
                    <a:gd name="connsiteX90" fmla="*/ 772661 w 1367015"/>
                    <a:gd name="connsiteY90" fmla="*/ 346605 h 1238250"/>
                    <a:gd name="connsiteX91" fmla="*/ 785477 w 1367015"/>
                    <a:gd name="connsiteY91" fmla="*/ 308032 h 1238250"/>
                    <a:gd name="connsiteX92" fmla="*/ 945296 w 1367015"/>
                    <a:gd name="connsiteY92" fmla="*/ 370115 h 1238250"/>
                    <a:gd name="connsiteX93" fmla="*/ 969609 w 1367015"/>
                    <a:gd name="connsiteY93" fmla="*/ 390809 h 1238250"/>
                    <a:gd name="connsiteX94" fmla="*/ 980335 w 1367015"/>
                    <a:gd name="connsiteY94" fmla="*/ 400799 h 1238250"/>
                    <a:gd name="connsiteX95" fmla="*/ 991061 w 1367015"/>
                    <a:gd name="connsiteY95" fmla="*/ 413644 h 1238250"/>
                    <a:gd name="connsiteX96" fmla="*/ 1008223 w 1367015"/>
                    <a:gd name="connsiteY96" fmla="*/ 791852 h 1238250"/>
                    <a:gd name="connsiteX97" fmla="*/ 1080445 w 1367015"/>
                    <a:gd name="connsiteY97" fmla="*/ 866780 h 1238250"/>
                    <a:gd name="connsiteX98" fmla="*/ 1081875 w 1367015"/>
                    <a:gd name="connsiteY98" fmla="*/ 868921 h 1238250"/>
                    <a:gd name="connsiteX99" fmla="*/ 1081875 w 1367015"/>
                    <a:gd name="connsiteY99" fmla="*/ 876770 h 1238250"/>
                    <a:gd name="connsiteX100" fmla="*/ 1056848 w 1367015"/>
                    <a:gd name="connsiteY100" fmla="*/ 900319 h 1238250"/>
                    <a:gd name="connsiteX101" fmla="*/ 1055418 w 1367015"/>
                    <a:gd name="connsiteY101" fmla="*/ 901746 h 1238250"/>
                    <a:gd name="connsiteX102" fmla="*/ 1023954 w 1367015"/>
                    <a:gd name="connsiteY102" fmla="*/ 931717 h 1238250"/>
                    <a:gd name="connsiteX103" fmla="*/ 1014658 w 1367015"/>
                    <a:gd name="connsiteY103" fmla="*/ 940994 h 1238250"/>
                    <a:gd name="connsiteX104" fmla="*/ 1003217 w 1367015"/>
                    <a:gd name="connsiteY104" fmla="*/ 940994 h 1238250"/>
                    <a:gd name="connsiteX105" fmla="*/ 993921 w 1367015"/>
                    <a:gd name="connsiteY105" fmla="*/ 931717 h 1238250"/>
                    <a:gd name="connsiteX106" fmla="*/ 963888 w 1367015"/>
                    <a:gd name="connsiteY106" fmla="*/ 900319 h 1238250"/>
                    <a:gd name="connsiteX107" fmla="*/ 933140 w 1367015"/>
                    <a:gd name="connsiteY107" fmla="*/ 868921 h 1238250"/>
                    <a:gd name="connsiteX108" fmla="*/ 930995 w 1367015"/>
                    <a:gd name="connsiteY108" fmla="*/ 866780 h 1238250"/>
                    <a:gd name="connsiteX109" fmla="*/ 926704 w 1367015"/>
                    <a:gd name="connsiteY109" fmla="*/ 868921 h 1238250"/>
                    <a:gd name="connsiteX110" fmla="*/ 864493 w 1367015"/>
                    <a:gd name="connsiteY110" fmla="*/ 900319 h 1238250"/>
                    <a:gd name="connsiteX111" fmla="*/ 651400 w 1367015"/>
                    <a:gd name="connsiteY111" fmla="*/ 900319 h 1238250"/>
                    <a:gd name="connsiteX112" fmla="*/ 589189 w 1367015"/>
                    <a:gd name="connsiteY112" fmla="*/ 868921 h 1238250"/>
                    <a:gd name="connsiteX113" fmla="*/ 536988 w 1367015"/>
                    <a:gd name="connsiteY113" fmla="*/ 826105 h 1238250"/>
                    <a:gd name="connsiteX114" fmla="*/ 457615 w 1367015"/>
                    <a:gd name="connsiteY114" fmla="*/ 554937 h 1238250"/>
                    <a:gd name="connsiteX115" fmla="*/ 481213 w 1367015"/>
                    <a:gd name="connsiteY115" fmla="*/ 482863 h 1238250"/>
                    <a:gd name="connsiteX116" fmla="*/ 530553 w 1367015"/>
                    <a:gd name="connsiteY116" fmla="*/ 408649 h 1238250"/>
                    <a:gd name="connsiteX117" fmla="*/ 545569 w 1367015"/>
                    <a:gd name="connsiteY117" fmla="*/ 392236 h 1238250"/>
                    <a:gd name="connsiteX118" fmla="*/ 592049 w 1367015"/>
                    <a:gd name="connsiteY118" fmla="*/ 355843 h 1238250"/>
                    <a:gd name="connsiteX119" fmla="*/ 619222 w 1367015"/>
                    <a:gd name="connsiteY119" fmla="*/ 340143 h 1238250"/>
                    <a:gd name="connsiteX120" fmla="*/ 785477 w 1367015"/>
                    <a:gd name="connsiteY120" fmla="*/ 308032 h 1238250"/>
                    <a:gd name="connsiteX121" fmla="*/ 555676 w 1367015"/>
                    <a:gd name="connsiteY121" fmla="*/ 304800 h 1238250"/>
                    <a:gd name="connsiteX122" fmla="*/ 595313 w 1367015"/>
                    <a:gd name="connsiteY122" fmla="*/ 316982 h 1238250"/>
                    <a:gd name="connsiteX123" fmla="*/ 563462 w 1367015"/>
                    <a:gd name="connsiteY123" fmla="*/ 337046 h 1238250"/>
                    <a:gd name="connsiteX124" fmla="*/ 555676 w 1367015"/>
                    <a:gd name="connsiteY124" fmla="*/ 336330 h 1238250"/>
                    <a:gd name="connsiteX125" fmla="*/ 515331 w 1367015"/>
                    <a:gd name="connsiteY125" fmla="*/ 377175 h 1238250"/>
                    <a:gd name="connsiteX126" fmla="*/ 515331 w 1367015"/>
                    <a:gd name="connsiteY126" fmla="*/ 379325 h 1238250"/>
                    <a:gd name="connsiteX127" fmla="*/ 490558 w 1367015"/>
                    <a:gd name="connsiteY127" fmla="*/ 407988 h 1238250"/>
                    <a:gd name="connsiteX128" fmla="*/ 484188 w 1367015"/>
                    <a:gd name="connsiteY128" fmla="*/ 377175 h 1238250"/>
                    <a:gd name="connsiteX129" fmla="*/ 555676 w 1367015"/>
                    <a:gd name="connsiteY129" fmla="*/ 304800 h 1238250"/>
                    <a:gd name="connsiteX130" fmla="*/ 1089384 w 1367015"/>
                    <a:gd name="connsiteY130" fmla="*/ 233362 h 1238250"/>
                    <a:gd name="connsiteX131" fmla="*/ 1047750 w 1367015"/>
                    <a:gd name="connsiteY131" fmla="*/ 274996 h 1238250"/>
                    <a:gd name="connsiteX132" fmla="*/ 1049186 w 1367015"/>
                    <a:gd name="connsiteY132" fmla="*/ 286481 h 1238250"/>
                    <a:gd name="connsiteX133" fmla="*/ 1069285 w 1367015"/>
                    <a:gd name="connsiteY133" fmla="*/ 310887 h 1238250"/>
                    <a:gd name="connsiteX134" fmla="*/ 1089384 w 1367015"/>
                    <a:gd name="connsiteY134" fmla="*/ 315912 h 1238250"/>
                    <a:gd name="connsiteX135" fmla="*/ 1130300 w 1367015"/>
                    <a:gd name="connsiteY135" fmla="*/ 274996 h 1238250"/>
                    <a:gd name="connsiteX136" fmla="*/ 1128865 w 1367015"/>
                    <a:gd name="connsiteY136" fmla="*/ 264229 h 1238250"/>
                    <a:gd name="connsiteX137" fmla="*/ 1109483 w 1367015"/>
                    <a:gd name="connsiteY137" fmla="*/ 239105 h 1238250"/>
                    <a:gd name="connsiteX138" fmla="*/ 1089384 w 1367015"/>
                    <a:gd name="connsiteY138" fmla="*/ 233362 h 1238250"/>
                    <a:gd name="connsiteX139" fmla="*/ 15705 w 1367015"/>
                    <a:gd name="connsiteY139" fmla="*/ 0 h 1238250"/>
                    <a:gd name="connsiteX140" fmla="*/ 1289220 w 1367015"/>
                    <a:gd name="connsiteY140" fmla="*/ 0 h 1238250"/>
                    <a:gd name="connsiteX141" fmla="*/ 1304925 w 1367015"/>
                    <a:gd name="connsiteY141" fmla="*/ 15698 h 1238250"/>
                    <a:gd name="connsiteX142" fmla="*/ 1304925 w 1367015"/>
                    <a:gd name="connsiteY142" fmla="*/ 916166 h 1238250"/>
                    <a:gd name="connsiteX143" fmla="*/ 1289220 w 1367015"/>
                    <a:gd name="connsiteY143" fmla="*/ 931863 h 1238250"/>
                    <a:gd name="connsiteX144" fmla="*/ 1219977 w 1367015"/>
                    <a:gd name="connsiteY144" fmla="*/ 931863 h 1238250"/>
                    <a:gd name="connsiteX145" fmla="*/ 1189995 w 1367015"/>
                    <a:gd name="connsiteY145" fmla="*/ 900468 h 1238250"/>
                    <a:gd name="connsiteX146" fmla="*/ 1273516 w 1367015"/>
                    <a:gd name="connsiteY146" fmla="*/ 900468 h 1238250"/>
                    <a:gd name="connsiteX147" fmla="*/ 1273516 w 1367015"/>
                    <a:gd name="connsiteY147" fmla="*/ 151267 h 1238250"/>
                    <a:gd name="connsiteX148" fmla="*/ 1242106 w 1367015"/>
                    <a:gd name="connsiteY148" fmla="*/ 175527 h 1238250"/>
                    <a:gd name="connsiteX149" fmla="*/ 1154302 w 1367015"/>
                    <a:gd name="connsiteY149" fmla="*/ 243312 h 1238250"/>
                    <a:gd name="connsiteX150" fmla="*/ 1161441 w 1367015"/>
                    <a:gd name="connsiteY150" fmla="*/ 274707 h 1238250"/>
                    <a:gd name="connsiteX151" fmla="*/ 1089341 w 1367015"/>
                    <a:gd name="connsiteY151" fmla="*/ 346773 h 1238250"/>
                    <a:gd name="connsiteX152" fmla="*/ 1043655 w 1367015"/>
                    <a:gd name="connsiteY152" fmla="*/ 331076 h 1238250"/>
                    <a:gd name="connsiteX153" fmla="*/ 993685 w 1367015"/>
                    <a:gd name="connsiteY153" fmla="*/ 371033 h 1238250"/>
                    <a:gd name="connsiteX154" fmla="*/ 969414 w 1367015"/>
                    <a:gd name="connsiteY154" fmla="*/ 349627 h 1238250"/>
                    <a:gd name="connsiteX155" fmla="*/ 1024381 w 1367015"/>
                    <a:gd name="connsiteY155" fmla="*/ 306102 h 1238250"/>
                    <a:gd name="connsiteX156" fmla="*/ 1016528 w 1367015"/>
                    <a:gd name="connsiteY156" fmla="*/ 274707 h 1238250"/>
                    <a:gd name="connsiteX157" fmla="*/ 1089341 w 1367015"/>
                    <a:gd name="connsiteY157" fmla="*/ 201928 h 1238250"/>
                    <a:gd name="connsiteX158" fmla="*/ 1135028 w 1367015"/>
                    <a:gd name="connsiteY158" fmla="*/ 219052 h 1238250"/>
                    <a:gd name="connsiteX159" fmla="*/ 1242106 w 1367015"/>
                    <a:gd name="connsiteY159" fmla="*/ 136283 h 1238250"/>
                    <a:gd name="connsiteX160" fmla="*/ 1269946 w 1367015"/>
                    <a:gd name="connsiteY160" fmla="*/ 114878 h 1238250"/>
                    <a:gd name="connsiteX161" fmla="*/ 1273516 w 1367015"/>
                    <a:gd name="connsiteY161" fmla="*/ 112737 h 1238250"/>
                    <a:gd name="connsiteX162" fmla="*/ 1273516 w 1367015"/>
                    <a:gd name="connsiteY162" fmla="*/ 31395 h 1238250"/>
                    <a:gd name="connsiteX163" fmla="*/ 31410 w 1367015"/>
                    <a:gd name="connsiteY163" fmla="*/ 31395 h 1238250"/>
                    <a:gd name="connsiteX164" fmla="*/ 31410 w 1367015"/>
                    <a:gd name="connsiteY164" fmla="*/ 741352 h 1238250"/>
                    <a:gd name="connsiteX165" fmla="*/ 62819 w 1367015"/>
                    <a:gd name="connsiteY165" fmla="*/ 726368 h 1238250"/>
                    <a:gd name="connsiteX166" fmla="*/ 276976 w 1367015"/>
                    <a:gd name="connsiteY166" fmla="*/ 623621 h 1238250"/>
                    <a:gd name="connsiteX167" fmla="*/ 274834 w 1367015"/>
                    <a:gd name="connsiteY167" fmla="*/ 607210 h 1238250"/>
                    <a:gd name="connsiteX168" fmla="*/ 346933 w 1367015"/>
                    <a:gd name="connsiteY168" fmla="*/ 534430 h 1238250"/>
                    <a:gd name="connsiteX169" fmla="*/ 383340 w 1367015"/>
                    <a:gd name="connsiteY169" fmla="*/ 543706 h 1238250"/>
                    <a:gd name="connsiteX170" fmla="*/ 454725 w 1367015"/>
                    <a:gd name="connsiteY170" fmla="*/ 465218 h 1238250"/>
                    <a:gd name="connsiteX171" fmla="*/ 429026 w 1367015"/>
                    <a:gd name="connsiteY171" fmla="*/ 540138 h 1238250"/>
                    <a:gd name="connsiteX172" fmla="*/ 406183 w 1367015"/>
                    <a:gd name="connsiteY172" fmla="*/ 565112 h 1238250"/>
                    <a:gd name="connsiteX173" fmla="*/ 419746 w 1367015"/>
                    <a:gd name="connsiteY173" fmla="*/ 607210 h 1238250"/>
                    <a:gd name="connsiteX174" fmla="*/ 346933 w 1367015"/>
                    <a:gd name="connsiteY174" fmla="*/ 679275 h 1238250"/>
                    <a:gd name="connsiteX175" fmla="*/ 290539 w 1367015"/>
                    <a:gd name="connsiteY175" fmla="*/ 651448 h 1238250"/>
                    <a:gd name="connsiteX176" fmla="*/ 62819 w 1367015"/>
                    <a:gd name="connsiteY176" fmla="*/ 761331 h 1238250"/>
                    <a:gd name="connsiteX177" fmla="*/ 31410 w 1367015"/>
                    <a:gd name="connsiteY177" fmla="*/ 776315 h 1238250"/>
                    <a:gd name="connsiteX178" fmla="*/ 31410 w 1367015"/>
                    <a:gd name="connsiteY178" fmla="*/ 900468 h 1238250"/>
                    <a:gd name="connsiteX179" fmla="*/ 579650 w 1367015"/>
                    <a:gd name="connsiteY179" fmla="*/ 900468 h 1238250"/>
                    <a:gd name="connsiteX180" fmla="*/ 645324 w 1367015"/>
                    <a:gd name="connsiteY180" fmla="*/ 931863 h 1238250"/>
                    <a:gd name="connsiteX181" fmla="*/ 15705 w 1367015"/>
                    <a:gd name="connsiteY181" fmla="*/ 931863 h 1238250"/>
                    <a:gd name="connsiteX182" fmla="*/ 0 w 1367015"/>
                    <a:gd name="connsiteY182" fmla="*/ 916166 h 1238250"/>
                    <a:gd name="connsiteX183" fmla="*/ 0 w 1367015"/>
                    <a:gd name="connsiteY183" fmla="*/ 15698 h 1238250"/>
                    <a:gd name="connsiteX184" fmla="*/ 15705 w 1367015"/>
                    <a:gd name="connsiteY184" fmla="*/ 0 h 1238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1367015" h="1238250">
                      <a:moveTo>
                        <a:pt x="1124567" y="922337"/>
                      </a:moveTo>
                      <a:cubicBezTo>
                        <a:pt x="1124567" y="922337"/>
                        <a:pt x="1124567" y="922337"/>
                        <a:pt x="1113855" y="931647"/>
                      </a:cubicBezTo>
                      <a:cubicBezTo>
                        <a:pt x="1113855" y="931647"/>
                        <a:pt x="1113855" y="931647"/>
                        <a:pt x="1058863" y="985360"/>
                      </a:cubicBezTo>
                      <a:cubicBezTo>
                        <a:pt x="1269544" y="1205939"/>
                        <a:pt x="1269544" y="1205939"/>
                        <a:pt x="1269544" y="1205939"/>
                      </a:cubicBezTo>
                      <a:cubicBezTo>
                        <a:pt x="1270258" y="1206655"/>
                        <a:pt x="1274543" y="1208087"/>
                        <a:pt x="1282399" y="1205939"/>
                      </a:cubicBezTo>
                      <a:cubicBezTo>
                        <a:pt x="1292398" y="1203074"/>
                        <a:pt x="1303110" y="1195912"/>
                        <a:pt x="1313109" y="1185886"/>
                      </a:cubicBezTo>
                      <a:cubicBezTo>
                        <a:pt x="1323107" y="1176576"/>
                        <a:pt x="1330963" y="1165833"/>
                        <a:pt x="1333820" y="1155807"/>
                      </a:cubicBezTo>
                      <a:cubicBezTo>
                        <a:pt x="1336676" y="1147929"/>
                        <a:pt x="1335962" y="1143632"/>
                        <a:pt x="1335248" y="1142916"/>
                      </a:cubicBezTo>
                      <a:cubicBezTo>
                        <a:pt x="1198841" y="1000399"/>
                        <a:pt x="1150277" y="949551"/>
                        <a:pt x="1133851" y="931647"/>
                      </a:cubicBezTo>
                      <a:cubicBezTo>
                        <a:pt x="1124567" y="922337"/>
                        <a:pt x="1124567" y="922337"/>
                        <a:pt x="1124567" y="922337"/>
                      </a:cubicBezTo>
                      <a:close/>
                      <a:moveTo>
                        <a:pt x="925229" y="906462"/>
                      </a:moveTo>
                      <a:cubicBezTo>
                        <a:pt x="925229" y="906462"/>
                        <a:pt x="925229" y="906462"/>
                        <a:pt x="949325" y="931862"/>
                      </a:cubicBezTo>
                      <a:cubicBezTo>
                        <a:pt x="949325" y="931862"/>
                        <a:pt x="949325" y="931862"/>
                        <a:pt x="869950" y="931862"/>
                      </a:cubicBezTo>
                      <a:cubicBezTo>
                        <a:pt x="889085" y="925331"/>
                        <a:pt x="907512" y="916622"/>
                        <a:pt x="925229" y="906462"/>
                      </a:cubicBezTo>
                      <a:close/>
                      <a:moveTo>
                        <a:pt x="1124927" y="884237"/>
                      </a:moveTo>
                      <a:cubicBezTo>
                        <a:pt x="1129214" y="884952"/>
                        <a:pt x="1132787" y="886383"/>
                        <a:pt x="1135645" y="889243"/>
                      </a:cubicBezTo>
                      <a:cubicBezTo>
                        <a:pt x="1139218" y="893534"/>
                        <a:pt x="1142790" y="897110"/>
                        <a:pt x="1146363" y="900686"/>
                      </a:cubicBezTo>
                      <a:cubicBezTo>
                        <a:pt x="1157081" y="912129"/>
                        <a:pt x="1167085" y="922857"/>
                        <a:pt x="1176374" y="932154"/>
                      </a:cubicBezTo>
                      <a:cubicBezTo>
                        <a:pt x="1357152" y="1121676"/>
                        <a:pt x="1357152" y="1121676"/>
                        <a:pt x="1357152" y="1121676"/>
                      </a:cubicBezTo>
                      <a:cubicBezTo>
                        <a:pt x="1367155" y="1131689"/>
                        <a:pt x="1370013" y="1148138"/>
                        <a:pt x="1363582" y="1166017"/>
                      </a:cubicBezTo>
                      <a:cubicBezTo>
                        <a:pt x="1358581" y="1181036"/>
                        <a:pt x="1348577" y="1196055"/>
                        <a:pt x="1335001" y="1208928"/>
                      </a:cubicBezTo>
                      <a:cubicBezTo>
                        <a:pt x="1321425" y="1221801"/>
                        <a:pt x="1305705" y="1231814"/>
                        <a:pt x="1290700" y="1236105"/>
                      </a:cubicBezTo>
                      <a:cubicBezTo>
                        <a:pt x="1284983" y="1237535"/>
                        <a:pt x="1279267" y="1238250"/>
                        <a:pt x="1273551" y="1238250"/>
                      </a:cubicBezTo>
                      <a:cubicBezTo>
                        <a:pt x="1262833" y="1238250"/>
                        <a:pt x="1252829" y="1234674"/>
                        <a:pt x="1246398" y="1227522"/>
                      </a:cubicBezTo>
                      <a:cubicBezTo>
                        <a:pt x="1024892" y="996520"/>
                        <a:pt x="1024892" y="996520"/>
                        <a:pt x="1024892" y="996520"/>
                      </a:cubicBezTo>
                      <a:cubicBezTo>
                        <a:pt x="1019175" y="990083"/>
                        <a:pt x="1019175" y="980071"/>
                        <a:pt x="1025606" y="974350"/>
                      </a:cubicBezTo>
                      <a:cubicBezTo>
                        <a:pt x="1042755" y="957185"/>
                        <a:pt x="1057046" y="943597"/>
                        <a:pt x="1068478" y="932154"/>
                      </a:cubicBezTo>
                      <a:cubicBezTo>
                        <a:pt x="1071336" y="930009"/>
                        <a:pt x="1073480" y="927148"/>
                        <a:pt x="1076338" y="925002"/>
                      </a:cubicBezTo>
                      <a:cubicBezTo>
                        <a:pt x="1087771" y="914275"/>
                        <a:pt x="1095631" y="906408"/>
                        <a:pt x="1100633" y="900686"/>
                      </a:cubicBezTo>
                      <a:cubicBezTo>
                        <a:pt x="1102062" y="899971"/>
                        <a:pt x="1103491" y="898541"/>
                        <a:pt x="1104205" y="897826"/>
                      </a:cubicBezTo>
                      <a:cubicBezTo>
                        <a:pt x="1113494" y="889243"/>
                        <a:pt x="1113494" y="889243"/>
                        <a:pt x="1113494" y="889243"/>
                      </a:cubicBezTo>
                      <a:cubicBezTo>
                        <a:pt x="1116352" y="886383"/>
                        <a:pt x="1120640" y="884237"/>
                        <a:pt x="1124927" y="884237"/>
                      </a:cubicBezTo>
                      <a:close/>
                      <a:moveTo>
                        <a:pt x="346518" y="565150"/>
                      </a:moveTo>
                      <a:cubicBezTo>
                        <a:pt x="324693" y="565150"/>
                        <a:pt x="306388" y="583814"/>
                        <a:pt x="306388" y="606784"/>
                      </a:cubicBezTo>
                      <a:cubicBezTo>
                        <a:pt x="306388" y="607502"/>
                        <a:pt x="306388" y="608220"/>
                        <a:pt x="306388" y="608938"/>
                      </a:cubicBezTo>
                      <a:cubicBezTo>
                        <a:pt x="307092" y="619705"/>
                        <a:pt x="312020" y="630472"/>
                        <a:pt x="319765" y="636933"/>
                      </a:cubicBezTo>
                      <a:cubicBezTo>
                        <a:pt x="326805" y="643393"/>
                        <a:pt x="336661" y="647700"/>
                        <a:pt x="346518" y="647700"/>
                      </a:cubicBezTo>
                      <a:cubicBezTo>
                        <a:pt x="369047" y="647700"/>
                        <a:pt x="387351" y="629037"/>
                        <a:pt x="387351" y="606784"/>
                      </a:cubicBezTo>
                      <a:cubicBezTo>
                        <a:pt x="387351" y="600324"/>
                        <a:pt x="385943" y="594581"/>
                        <a:pt x="383127" y="588838"/>
                      </a:cubicBezTo>
                      <a:cubicBezTo>
                        <a:pt x="378903" y="578789"/>
                        <a:pt x="370455" y="571611"/>
                        <a:pt x="360598" y="568021"/>
                      </a:cubicBezTo>
                      <a:cubicBezTo>
                        <a:pt x="356374" y="565868"/>
                        <a:pt x="351446" y="565150"/>
                        <a:pt x="346518" y="565150"/>
                      </a:cubicBezTo>
                      <a:close/>
                      <a:moveTo>
                        <a:pt x="760846" y="492125"/>
                      </a:moveTo>
                      <a:cubicBezTo>
                        <a:pt x="752187" y="492125"/>
                        <a:pt x="743528" y="494947"/>
                        <a:pt x="735591" y="499181"/>
                      </a:cubicBezTo>
                      <a:cubicBezTo>
                        <a:pt x="722602" y="506236"/>
                        <a:pt x="713221" y="519642"/>
                        <a:pt x="710335" y="535164"/>
                      </a:cubicBezTo>
                      <a:cubicBezTo>
                        <a:pt x="710335" y="537986"/>
                        <a:pt x="709613" y="540103"/>
                        <a:pt x="709613" y="542925"/>
                      </a:cubicBezTo>
                      <a:cubicBezTo>
                        <a:pt x="709613" y="571147"/>
                        <a:pt x="732704" y="593725"/>
                        <a:pt x="760846" y="593725"/>
                      </a:cubicBezTo>
                      <a:cubicBezTo>
                        <a:pt x="763011" y="593725"/>
                        <a:pt x="765176" y="593725"/>
                        <a:pt x="767341" y="593725"/>
                      </a:cubicBezTo>
                      <a:cubicBezTo>
                        <a:pt x="783216" y="591608"/>
                        <a:pt x="796926" y="583142"/>
                        <a:pt x="804864" y="570442"/>
                      </a:cubicBezTo>
                      <a:cubicBezTo>
                        <a:pt x="809915" y="562681"/>
                        <a:pt x="812801" y="553508"/>
                        <a:pt x="812801" y="542925"/>
                      </a:cubicBezTo>
                      <a:cubicBezTo>
                        <a:pt x="812801" y="542220"/>
                        <a:pt x="812801" y="540808"/>
                        <a:pt x="812801" y="539397"/>
                      </a:cubicBezTo>
                      <a:cubicBezTo>
                        <a:pt x="811358" y="515408"/>
                        <a:pt x="792597" y="495653"/>
                        <a:pt x="768062" y="492831"/>
                      </a:cubicBezTo>
                      <a:cubicBezTo>
                        <a:pt x="765898" y="492831"/>
                        <a:pt x="763733" y="492125"/>
                        <a:pt x="760846" y="492125"/>
                      </a:cubicBezTo>
                      <a:close/>
                      <a:moveTo>
                        <a:pt x="891455" y="415925"/>
                      </a:moveTo>
                      <a:cubicBezTo>
                        <a:pt x="899315" y="421636"/>
                        <a:pt x="907175" y="428060"/>
                        <a:pt x="915035" y="434485"/>
                      </a:cubicBezTo>
                      <a:cubicBezTo>
                        <a:pt x="917179" y="435913"/>
                        <a:pt x="918608" y="438054"/>
                        <a:pt x="920751" y="439482"/>
                      </a:cubicBezTo>
                      <a:cubicBezTo>
                        <a:pt x="920751" y="439482"/>
                        <a:pt x="920751" y="439482"/>
                        <a:pt x="877164" y="474460"/>
                      </a:cubicBezTo>
                      <a:cubicBezTo>
                        <a:pt x="869305" y="480885"/>
                        <a:pt x="860730" y="488023"/>
                        <a:pt x="850012" y="496589"/>
                      </a:cubicBezTo>
                      <a:cubicBezTo>
                        <a:pt x="846439" y="499445"/>
                        <a:pt x="842867" y="502300"/>
                        <a:pt x="838579" y="505155"/>
                      </a:cubicBezTo>
                      <a:cubicBezTo>
                        <a:pt x="840723" y="510152"/>
                        <a:pt x="842867" y="514435"/>
                        <a:pt x="844296" y="519432"/>
                      </a:cubicBezTo>
                      <a:cubicBezTo>
                        <a:pt x="846439" y="527285"/>
                        <a:pt x="847154" y="535137"/>
                        <a:pt x="847154" y="542989"/>
                      </a:cubicBezTo>
                      <a:cubicBezTo>
                        <a:pt x="847154" y="549414"/>
                        <a:pt x="846439" y="555124"/>
                        <a:pt x="845725" y="561549"/>
                      </a:cubicBezTo>
                      <a:cubicBezTo>
                        <a:pt x="842152" y="576540"/>
                        <a:pt x="835007" y="590103"/>
                        <a:pt x="824289" y="601524"/>
                      </a:cubicBezTo>
                      <a:cubicBezTo>
                        <a:pt x="809283" y="617942"/>
                        <a:pt x="786418" y="628650"/>
                        <a:pt x="761409" y="628650"/>
                      </a:cubicBezTo>
                      <a:cubicBezTo>
                        <a:pt x="714250" y="628650"/>
                        <a:pt x="676379" y="590103"/>
                        <a:pt x="676379" y="542989"/>
                      </a:cubicBezTo>
                      <a:cubicBezTo>
                        <a:pt x="676379" y="536564"/>
                        <a:pt x="677094" y="529426"/>
                        <a:pt x="678523" y="523715"/>
                      </a:cubicBezTo>
                      <a:cubicBezTo>
                        <a:pt x="678523" y="523715"/>
                        <a:pt x="678523" y="523715"/>
                        <a:pt x="582775" y="477316"/>
                      </a:cubicBezTo>
                      <a:cubicBezTo>
                        <a:pt x="578488" y="475174"/>
                        <a:pt x="574200" y="473033"/>
                        <a:pt x="569913" y="470891"/>
                      </a:cubicBezTo>
                      <a:cubicBezTo>
                        <a:pt x="577059" y="460183"/>
                        <a:pt x="585633" y="450903"/>
                        <a:pt x="594208" y="441623"/>
                      </a:cubicBezTo>
                      <a:cubicBezTo>
                        <a:pt x="594208" y="441623"/>
                        <a:pt x="594208" y="441623"/>
                        <a:pt x="694957" y="490165"/>
                      </a:cubicBezTo>
                      <a:cubicBezTo>
                        <a:pt x="700674" y="483026"/>
                        <a:pt x="707819" y="476602"/>
                        <a:pt x="715679" y="470891"/>
                      </a:cubicBezTo>
                      <a:cubicBezTo>
                        <a:pt x="728541" y="462325"/>
                        <a:pt x="744975" y="457328"/>
                        <a:pt x="761409" y="457328"/>
                      </a:cubicBezTo>
                      <a:cubicBezTo>
                        <a:pt x="771413" y="457328"/>
                        <a:pt x="781416" y="459470"/>
                        <a:pt x="789991" y="462325"/>
                      </a:cubicBezTo>
                      <a:cubicBezTo>
                        <a:pt x="799280" y="465894"/>
                        <a:pt x="808569" y="470891"/>
                        <a:pt x="815714" y="476602"/>
                      </a:cubicBezTo>
                      <a:cubicBezTo>
                        <a:pt x="815714" y="476602"/>
                        <a:pt x="815714" y="476602"/>
                        <a:pt x="831434" y="464466"/>
                      </a:cubicBezTo>
                      <a:cubicBezTo>
                        <a:pt x="842152" y="455900"/>
                        <a:pt x="860730" y="440910"/>
                        <a:pt x="891455" y="415925"/>
                      </a:cubicBezTo>
                      <a:close/>
                      <a:moveTo>
                        <a:pt x="772661" y="346605"/>
                      </a:moveTo>
                      <a:cubicBezTo>
                        <a:pt x="723066" y="343930"/>
                        <a:pt x="672758" y="354807"/>
                        <a:pt x="628158" y="379415"/>
                      </a:cubicBezTo>
                      <a:cubicBezTo>
                        <a:pt x="608178" y="390827"/>
                        <a:pt x="589624" y="404379"/>
                        <a:pt x="571784" y="420783"/>
                      </a:cubicBezTo>
                      <a:cubicBezTo>
                        <a:pt x="562508" y="430056"/>
                        <a:pt x="554658" y="439328"/>
                        <a:pt x="546809" y="449314"/>
                      </a:cubicBezTo>
                      <a:cubicBezTo>
                        <a:pt x="538245" y="460012"/>
                        <a:pt x="531109" y="470711"/>
                        <a:pt x="524687" y="482123"/>
                      </a:cubicBezTo>
                      <a:cubicBezTo>
                        <a:pt x="468313" y="582692"/>
                        <a:pt x="481158" y="712504"/>
                        <a:pt x="564648" y="800235"/>
                      </a:cubicBezTo>
                      <a:cubicBezTo>
                        <a:pt x="597474" y="833758"/>
                        <a:pt x="636008" y="856582"/>
                        <a:pt x="678110" y="869420"/>
                      </a:cubicBezTo>
                      <a:cubicBezTo>
                        <a:pt x="729488" y="885825"/>
                        <a:pt x="785862" y="885825"/>
                        <a:pt x="837955" y="869420"/>
                      </a:cubicBezTo>
                      <a:cubicBezTo>
                        <a:pt x="867212" y="860861"/>
                        <a:pt x="895756" y="845883"/>
                        <a:pt x="921445" y="826625"/>
                      </a:cubicBezTo>
                      <a:cubicBezTo>
                        <a:pt x="930008" y="820919"/>
                        <a:pt x="937144" y="814500"/>
                        <a:pt x="944280" y="807367"/>
                      </a:cubicBezTo>
                      <a:cubicBezTo>
                        <a:pt x="952130" y="799521"/>
                        <a:pt x="959979" y="791676"/>
                        <a:pt x="967115" y="783117"/>
                      </a:cubicBezTo>
                      <a:cubicBezTo>
                        <a:pt x="1047751" y="682548"/>
                        <a:pt x="1046324" y="537044"/>
                        <a:pt x="959979" y="437902"/>
                      </a:cubicBezTo>
                      <a:cubicBezTo>
                        <a:pt x="957125" y="435048"/>
                        <a:pt x="954270" y="431482"/>
                        <a:pt x="951416" y="427916"/>
                      </a:cubicBezTo>
                      <a:cubicBezTo>
                        <a:pt x="947135" y="423636"/>
                        <a:pt x="942853" y="419357"/>
                        <a:pt x="937858" y="415791"/>
                      </a:cubicBezTo>
                      <a:cubicBezTo>
                        <a:pt x="930008" y="408658"/>
                        <a:pt x="921445" y="401526"/>
                        <a:pt x="912882" y="395106"/>
                      </a:cubicBezTo>
                      <a:cubicBezTo>
                        <a:pt x="871137" y="365506"/>
                        <a:pt x="822256" y="349280"/>
                        <a:pt x="772661" y="346605"/>
                      </a:cubicBezTo>
                      <a:close/>
                      <a:moveTo>
                        <a:pt x="785477" y="308032"/>
                      </a:moveTo>
                      <a:cubicBezTo>
                        <a:pt x="842147" y="313027"/>
                        <a:pt x="897744" y="333721"/>
                        <a:pt x="945296" y="370115"/>
                      </a:cubicBezTo>
                      <a:cubicBezTo>
                        <a:pt x="953162" y="376537"/>
                        <a:pt x="961743" y="382959"/>
                        <a:pt x="969609" y="390809"/>
                      </a:cubicBezTo>
                      <a:cubicBezTo>
                        <a:pt x="973184" y="394377"/>
                        <a:pt x="976759" y="397231"/>
                        <a:pt x="980335" y="400799"/>
                      </a:cubicBezTo>
                      <a:cubicBezTo>
                        <a:pt x="983910" y="405081"/>
                        <a:pt x="987486" y="409363"/>
                        <a:pt x="991061" y="413644"/>
                      </a:cubicBezTo>
                      <a:cubicBezTo>
                        <a:pt x="1084021" y="521398"/>
                        <a:pt x="1089026" y="678390"/>
                        <a:pt x="1008223" y="791852"/>
                      </a:cubicBezTo>
                      <a:cubicBezTo>
                        <a:pt x="1080445" y="866780"/>
                        <a:pt x="1080445" y="866780"/>
                        <a:pt x="1080445" y="866780"/>
                      </a:cubicBezTo>
                      <a:cubicBezTo>
                        <a:pt x="1081160" y="867493"/>
                        <a:pt x="1081160" y="868207"/>
                        <a:pt x="1081875" y="868921"/>
                      </a:cubicBezTo>
                      <a:cubicBezTo>
                        <a:pt x="1083306" y="871775"/>
                        <a:pt x="1083306" y="874629"/>
                        <a:pt x="1081875" y="876770"/>
                      </a:cubicBezTo>
                      <a:cubicBezTo>
                        <a:pt x="1081875" y="876770"/>
                        <a:pt x="1081875" y="876770"/>
                        <a:pt x="1056848" y="900319"/>
                      </a:cubicBezTo>
                      <a:cubicBezTo>
                        <a:pt x="1056848" y="900319"/>
                        <a:pt x="1056848" y="900319"/>
                        <a:pt x="1055418" y="901746"/>
                      </a:cubicBezTo>
                      <a:cubicBezTo>
                        <a:pt x="1039686" y="917445"/>
                        <a:pt x="1029675" y="926722"/>
                        <a:pt x="1023954" y="931717"/>
                      </a:cubicBezTo>
                      <a:cubicBezTo>
                        <a:pt x="1014658" y="940994"/>
                        <a:pt x="1014658" y="940994"/>
                        <a:pt x="1014658" y="940994"/>
                      </a:cubicBezTo>
                      <a:cubicBezTo>
                        <a:pt x="1011798" y="944562"/>
                        <a:pt x="1006078" y="944562"/>
                        <a:pt x="1003217" y="940994"/>
                      </a:cubicBezTo>
                      <a:cubicBezTo>
                        <a:pt x="999642" y="938140"/>
                        <a:pt x="996782" y="934572"/>
                        <a:pt x="993921" y="931717"/>
                      </a:cubicBezTo>
                      <a:cubicBezTo>
                        <a:pt x="981765" y="919586"/>
                        <a:pt x="971754" y="908882"/>
                        <a:pt x="963888" y="900319"/>
                      </a:cubicBezTo>
                      <a:cubicBezTo>
                        <a:pt x="944581" y="881052"/>
                        <a:pt x="936715" y="872489"/>
                        <a:pt x="933140" y="868921"/>
                      </a:cubicBezTo>
                      <a:cubicBezTo>
                        <a:pt x="930995" y="866780"/>
                        <a:pt x="930995" y="866780"/>
                        <a:pt x="930995" y="866780"/>
                      </a:cubicBezTo>
                      <a:cubicBezTo>
                        <a:pt x="929565" y="867493"/>
                        <a:pt x="928134" y="868207"/>
                        <a:pt x="926704" y="868921"/>
                      </a:cubicBezTo>
                      <a:cubicBezTo>
                        <a:pt x="906682" y="882479"/>
                        <a:pt x="885945" y="892469"/>
                        <a:pt x="864493" y="900319"/>
                      </a:cubicBezTo>
                      <a:cubicBezTo>
                        <a:pt x="795846" y="926009"/>
                        <a:pt x="720048" y="926009"/>
                        <a:pt x="651400" y="900319"/>
                      </a:cubicBezTo>
                      <a:cubicBezTo>
                        <a:pt x="629948" y="892469"/>
                        <a:pt x="609211" y="882479"/>
                        <a:pt x="589189" y="868921"/>
                      </a:cubicBezTo>
                      <a:cubicBezTo>
                        <a:pt x="570597" y="856789"/>
                        <a:pt x="553435" y="842517"/>
                        <a:pt x="536988" y="826105"/>
                      </a:cubicBezTo>
                      <a:cubicBezTo>
                        <a:pt x="466196" y="751177"/>
                        <a:pt x="439738" y="649846"/>
                        <a:pt x="457615" y="554937"/>
                      </a:cubicBezTo>
                      <a:cubicBezTo>
                        <a:pt x="462621" y="529961"/>
                        <a:pt x="470486" y="505699"/>
                        <a:pt x="481213" y="482863"/>
                      </a:cubicBezTo>
                      <a:cubicBezTo>
                        <a:pt x="493369" y="456460"/>
                        <a:pt x="509816" y="430771"/>
                        <a:pt x="530553" y="408649"/>
                      </a:cubicBezTo>
                      <a:cubicBezTo>
                        <a:pt x="535558" y="402940"/>
                        <a:pt x="540564" y="397945"/>
                        <a:pt x="545569" y="392236"/>
                      </a:cubicBezTo>
                      <a:cubicBezTo>
                        <a:pt x="560586" y="378678"/>
                        <a:pt x="575602" y="366547"/>
                        <a:pt x="592049" y="355843"/>
                      </a:cubicBezTo>
                      <a:cubicBezTo>
                        <a:pt x="600630" y="350134"/>
                        <a:pt x="609926" y="345139"/>
                        <a:pt x="619222" y="340143"/>
                      </a:cubicBezTo>
                      <a:cubicBezTo>
                        <a:pt x="671065" y="313740"/>
                        <a:pt x="728807" y="303036"/>
                        <a:pt x="785477" y="308032"/>
                      </a:cubicBezTo>
                      <a:close/>
                      <a:moveTo>
                        <a:pt x="555676" y="304800"/>
                      </a:moveTo>
                      <a:cubicBezTo>
                        <a:pt x="570540" y="304800"/>
                        <a:pt x="583988" y="309099"/>
                        <a:pt x="595313" y="316982"/>
                      </a:cubicBezTo>
                      <a:cubicBezTo>
                        <a:pt x="584696" y="323431"/>
                        <a:pt x="574079" y="329880"/>
                        <a:pt x="563462" y="337046"/>
                      </a:cubicBezTo>
                      <a:cubicBezTo>
                        <a:pt x="561338" y="336330"/>
                        <a:pt x="558507" y="336330"/>
                        <a:pt x="555676" y="336330"/>
                      </a:cubicBezTo>
                      <a:cubicBezTo>
                        <a:pt x="533026" y="336330"/>
                        <a:pt x="515331" y="354961"/>
                        <a:pt x="515331" y="377175"/>
                      </a:cubicBezTo>
                      <a:cubicBezTo>
                        <a:pt x="515331" y="377891"/>
                        <a:pt x="515331" y="378608"/>
                        <a:pt x="515331" y="379325"/>
                      </a:cubicBezTo>
                      <a:cubicBezTo>
                        <a:pt x="506130" y="388640"/>
                        <a:pt x="498344" y="397956"/>
                        <a:pt x="490558" y="407988"/>
                      </a:cubicBezTo>
                      <a:cubicBezTo>
                        <a:pt x="486311" y="398672"/>
                        <a:pt x="484188" y="388640"/>
                        <a:pt x="484188" y="377175"/>
                      </a:cubicBezTo>
                      <a:cubicBezTo>
                        <a:pt x="484188" y="337046"/>
                        <a:pt x="516039" y="304800"/>
                        <a:pt x="555676" y="304800"/>
                      </a:cubicBezTo>
                      <a:close/>
                      <a:moveTo>
                        <a:pt x="1089384" y="233362"/>
                      </a:moveTo>
                      <a:cubicBezTo>
                        <a:pt x="1066414" y="233362"/>
                        <a:pt x="1047750" y="252026"/>
                        <a:pt x="1047750" y="274996"/>
                      </a:cubicBezTo>
                      <a:cubicBezTo>
                        <a:pt x="1047750" y="278585"/>
                        <a:pt x="1048468" y="282892"/>
                        <a:pt x="1049186" y="286481"/>
                      </a:cubicBezTo>
                      <a:cubicBezTo>
                        <a:pt x="1052775" y="296531"/>
                        <a:pt x="1059953" y="305863"/>
                        <a:pt x="1069285" y="310887"/>
                      </a:cubicBezTo>
                      <a:cubicBezTo>
                        <a:pt x="1075028" y="314476"/>
                        <a:pt x="1082206" y="315912"/>
                        <a:pt x="1089384" y="315912"/>
                      </a:cubicBezTo>
                      <a:cubicBezTo>
                        <a:pt x="1111637" y="315912"/>
                        <a:pt x="1130300" y="297249"/>
                        <a:pt x="1130300" y="274996"/>
                      </a:cubicBezTo>
                      <a:cubicBezTo>
                        <a:pt x="1130300" y="271407"/>
                        <a:pt x="1129582" y="267100"/>
                        <a:pt x="1128865" y="264229"/>
                      </a:cubicBezTo>
                      <a:cubicBezTo>
                        <a:pt x="1125993" y="253461"/>
                        <a:pt x="1118815" y="244130"/>
                        <a:pt x="1109483" y="239105"/>
                      </a:cubicBezTo>
                      <a:cubicBezTo>
                        <a:pt x="1103741" y="235516"/>
                        <a:pt x="1096562" y="233362"/>
                        <a:pt x="1089384" y="233362"/>
                      </a:cubicBezTo>
                      <a:close/>
                      <a:moveTo>
                        <a:pt x="15705" y="0"/>
                      </a:moveTo>
                      <a:cubicBezTo>
                        <a:pt x="15705" y="0"/>
                        <a:pt x="15705" y="0"/>
                        <a:pt x="1289220" y="0"/>
                      </a:cubicBezTo>
                      <a:cubicBezTo>
                        <a:pt x="1297787" y="0"/>
                        <a:pt x="1304925" y="6422"/>
                        <a:pt x="1304925" y="15698"/>
                      </a:cubicBezTo>
                      <a:cubicBezTo>
                        <a:pt x="1304925" y="15698"/>
                        <a:pt x="1304925" y="15698"/>
                        <a:pt x="1304925" y="916166"/>
                      </a:cubicBezTo>
                      <a:cubicBezTo>
                        <a:pt x="1304925" y="925441"/>
                        <a:pt x="1297787" y="931863"/>
                        <a:pt x="1289220" y="931863"/>
                      </a:cubicBezTo>
                      <a:cubicBezTo>
                        <a:pt x="1289220" y="931863"/>
                        <a:pt x="1289220" y="931863"/>
                        <a:pt x="1219977" y="931863"/>
                      </a:cubicBezTo>
                      <a:cubicBezTo>
                        <a:pt x="1219977" y="931863"/>
                        <a:pt x="1219977" y="931863"/>
                        <a:pt x="1189995" y="900468"/>
                      </a:cubicBezTo>
                      <a:cubicBezTo>
                        <a:pt x="1273516" y="900468"/>
                        <a:pt x="1273516" y="900468"/>
                        <a:pt x="1273516" y="900468"/>
                      </a:cubicBezTo>
                      <a:cubicBezTo>
                        <a:pt x="1273516" y="480916"/>
                        <a:pt x="1273516" y="264004"/>
                        <a:pt x="1273516" y="151267"/>
                      </a:cubicBezTo>
                      <a:cubicBezTo>
                        <a:pt x="1273516" y="151267"/>
                        <a:pt x="1273516" y="151267"/>
                        <a:pt x="1242106" y="175527"/>
                      </a:cubicBezTo>
                      <a:cubicBezTo>
                        <a:pt x="1242106" y="175527"/>
                        <a:pt x="1242106" y="175527"/>
                        <a:pt x="1154302" y="243312"/>
                      </a:cubicBezTo>
                      <a:cubicBezTo>
                        <a:pt x="1159299" y="253301"/>
                        <a:pt x="1161441" y="263291"/>
                        <a:pt x="1161441" y="274707"/>
                      </a:cubicBezTo>
                      <a:cubicBezTo>
                        <a:pt x="1161441" y="314664"/>
                        <a:pt x="1129317" y="346773"/>
                        <a:pt x="1089341" y="346773"/>
                      </a:cubicBezTo>
                      <a:cubicBezTo>
                        <a:pt x="1071495" y="346773"/>
                        <a:pt x="1055790" y="341065"/>
                        <a:pt x="1043655" y="331076"/>
                      </a:cubicBezTo>
                      <a:cubicBezTo>
                        <a:pt x="1043655" y="331076"/>
                        <a:pt x="1043655" y="331076"/>
                        <a:pt x="993685" y="371033"/>
                      </a:cubicBezTo>
                      <a:cubicBezTo>
                        <a:pt x="985833" y="363898"/>
                        <a:pt x="977980" y="356762"/>
                        <a:pt x="969414" y="349627"/>
                      </a:cubicBezTo>
                      <a:cubicBezTo>
                        <a:pt x="969414" y="349627"/>
                        <a:pt x="969414" y="349627"/>
                        <a:pt x="1024381" y="306102"/>
                      </a:cubicBezTo>
                      <a:cubicBezTo>
                        <a:pt x="1019384" y="296826"/>
                        <a:pt x="1016528" y="286123"/>
                        <a:pt x="1016528" y="274707"/>
                      </a:cubicBezTo>
                      <a:cubicBezTo>
                        <a:pt x="1016528" y="234750"/>
                        <a:pt x="1049365" y="201928"/>
                        <a:pt x="1089341" y="201928"/>
                      </a:cubicBezTo>
                      <a:cubicBezTo>
                        <a:pt x="1106474" y="201928"/>
                        <a:pt x="1122892" y="208349"/>
                        <a:pt x="1135028" y="219052"/>
                      </a:cubicBezTo>
                      <a:cubicBezTo>
                        <a:pt x="1135028" y="219052"/>
                        <a:pt x="1135028" y="219052"/>
                        <a:pt x="1242106" y="136283"/>
                      </a:cubicBezTo>
                      <a:cubicBezTo>
                        <a:pt x="1242106" y="136283"/>
                        <a:pt x="1242106" y="136283"/>
                        <a:pt x="1269946" y="114878"/>
                      </a:cubicBezTo>
                      <a:cubicBezTo>
                        <a:pt x="1270660" y="114164"/>
                        <a:pt x="1272088" y="113451"/>
                        <a:pt x="1273516" y="112737"/>
                      </a:cubicBezTo>
                      <a:cubicBezTo>
                        <a:pt x="1273516" y="31395"/>
                        <a:pt x="1273516" y="31395"/>
                        <a:pt x="1273516" y="31395"/>
                      </a:cubicBezTo>
                      <a:cubicBezTo>
                        <a:pt x="31410" y="31395"/>
                        <a:pt x="31410" y="31395"/>
                        <a:pt x="31410" y="31395"/>
                      </a:cubicBezTo>
                      <a:cubicBezTo>
                        <a:pt x="31410" y="406709"/>
                        <a:pt x="31410" y="620766"/>
                        <a:pt x="31410" y="741352"/>
                      </a:cubicBezTo>
                      <a:cubicBezTo>
                        <a:pt x="31410" y="741352"/>
                        <a:pt x="31410" y="741352"/>
                        <a:pt x="62819" y="726368"/>
                      </a:cubicBezTo>
                      <a:cubicBezTo>
                        <a:pt x="62819" y="726368"/>
                        <a:pt x="62819" y="726368"/>
                        <a:pt x="276976" y="623621"/>
                      </a:cubicBezTo>
                      <a:cubicBezTo>
                        <a:pt x="275548" y="617912"/>
                        <a:pt x="274834" y="612918"/>
                        <a:pt x="274834" y="607210"/>
                      </a:cubicBezTo>
                      <a:cubicBezTo>
                        <a:pt x="274834" y="567252"/>
                        <a:pt x="306957" y="534430"/>
                        <a:pt x="346933" y="534430"/>
                      </a:cubicBezTo>
                      <a:cubicBezTo>
                        <a:pt x="360496" y="534430"/>
                        <a:pt x="372632" y="537998"/>
                        <a:pt x="383340" y="543706"/>
                      </a:cubicBezTo>
                      <a:cubicBezTo>
                        <a:pt x="383340" y="543706"/>
                        <a:pt x="383340" y="543706"/>
                        <a:pt x="454725" y="465218"/>
                      </a:cubicBezTo>
                      <a:cubicBezTo>
                        <a:pt x="443304" y="489478"/>
                        <a:pt x="434737" y="514451"/>
                        <a:pt x="429026" y="540138"/>
                      </a:cubicBezTo>
                      <a:cubicBezTo>
                        <a:pt x="429026" y="540138"/>
                        <a:pt x="429026" y="540138"/>
                        <a:pt x="406183" y="565112"/>
                      </a:cubicBezTo>
                      <a:cubicBezTo>
                        <a:pt x="414749" y="577241"/>
                        <a:pt x="419746" y="591512"/>
                        <a:pt x="419746" y="607210"/>
                      </a:cubicBezTo>
                      <a:cubicBezTo>
                        <a:pt x="419746" y="647167"/>
                        <a:pt x="386909" y="679275"/>
                        <a:pt x="346933" y="679275"/>
                      </a:cubicBezTo>
                      <a:cubicBezTo>
                        <a:pt x="324090" y="679275"/>
                        <a:pt x="303388" y="668573"/>
                        <a:pt x="290539" y="651448"/>
                      </a:cubicBezTo>
                      <a:cubicBezTo>
                        <a:pt x="290539" y="651448"/>
                        <a:pt x="290539" y="651448"/>
                        <a:pt x="62819" y="761331"/>
                      </a:cubicBezTo>
                      <a:cubicBezTo>
                        <a:pt x="62819" y="761331"/>
                        <a:pt x="62819" y="761331"/>
                        <a:pt x="31410" y="776315"/>
                      </a:cubicBezTo>
                      <a:cubicBezTo>
                        <a:pt x="31410" y="900468"/>
                        <a:pt x="31410" y="900468"/>
                        <a:pt x="31410" y="900468"/>
                      </a:cubicBezTo>
                      <a:cubicBezTo>
                        <a:pt x="250563" y="900468"/>
                        <a:pt x="431168" y="900468"/>
                        <a:pt x="579650" y="900468"/>
                      </a:cubicBezTo>
                      <a:cubicBezTo>
                        <a:pt x="600351" y="913312"/>
                        <a:pt x="622481" y="924014"/>
                        <a:pt x="645324" y="931863"/>
                      </a:cubicBezTo>
                      <a:cubicBezTo>
                        <a:pt x="645324" y="931863"/>
                        <a:pt x="645324" y="931863"/>
                        <a:pt x="15705" y="931863"/>
                      </a:cubicBezTo>
                      <a:cubicBezTo>
                        <a:pt x="7139" y="931863"/>
                        <a:pt x="0" y="925441"/>
                        <a:pt x="0" y="916166"/>
                      </a:cubicBezTo>
                      <a:cubicBezTo>
                        <a:pt x="0" y="916166"/>
                        <a:pt x="0" y="916166"/>
                        <a:pt x="0" y="15698"/>
                      </a:cubicBezTo>
                      <a:cubicBezTo>
                        <a:pt x="0" y="6422"/>
                        <a:pt x="7139" y="0"/>
                        <a:pt x="15705" y="0"/>
                      </a:cubicBezTo>
                      <a:close/>
                    </a:path>
                  </a:pathLst>
                </a:custGeom>
                <a:solidFill>
                  <a:schemeClr val="accent1"/>
                </a:solidFill>
                <a:ln>
                  <a:noFill/>
                </a:ln>
              </p:spPr>
              <p:txBody>
                <a:bodyPr vert="horz" wrap="square" lIns="72746" tIns="36373" rIns="72746" bIns="36373" numCol="1" anchor="t" anchorCtr="0" compatLnSpc="1">
                  <a:prstTxWarp prst="textNoShape">
                    <a:avLst/>
                  </a:prstTxWarp>
                  <a:noAutofit/>
                </a:bodyPr>
                <a:lstStyle/>
                <a:p>
                  <a:endParaRPr lang="en-US" sz="1559">
                    <a:sym typeface="+mn-lt"/>
                  </a:endParaRPr>
                </a:p>
              </p:txBody>
            </p:sp>
            <p:sp>
              <p:nvSpPr>
                <p:cNvPr id="74" name="Freeform 11">
                  <a:extLst>
                    <a:ext uri="{FF2B5EF4-FFF2-40B4-BE49-F238E27FC236}">
                      <a16:creationId xmlns:a16="http://schemas.microsoft.com/office/drawing/2014/main" id="{1D32EC21-432B-4D3A-8B09-E94244808B66}"/>
                    </a:ext>
                  </a:extLst>
                </p:cNvPr>
                <p:cNvSpPr>
                  <a:spLocks/>
                </p:cNvSpPr>
                <p:nvPr/>
              </p:nvSpPr>
              <p:spPr bwMode="auto">
                <a:xfrm>
                  <a:off x="6697662" y="3179762"/>
                  <a:ext cx="1181100" cy="654050"/>
                </a:xfrm>
                <a:custGeom>
                  <a:avLst/>
                  <a:gdLst>
                    <a:gd name="connsiteX0" fmla="*/ 363861 w 1181100"/>
                    <a:gd name="connsiteY0" fmla="*/ 458787 h 654050"/>
                    <a:gd name="connsiteX1" fmla="*/ 452503 w 1181100"/>
                    <a:gd name="connsiteY1" fmla="*/ 632593 h 654050"/>
                    <a:gd name="connsiteX2" fmla="*/ 474663 w 1181100"/>
                    <a:gd name="connsiteY2" fmla="*/ 654050 h 654050"/>
                    <a:gd name="connsiteX3" fmla="*/ 0 w 1181100"/>
                    <a:gd name="connsiteY3" fmla="*/ 654050 h 654050"/>
                    <a:gd name="connsiteX4" fmla="*/ 0 w 1181100"/>
                    <a:gd name="connsiteY4" fmla="*/ 581095 h 654050"/>
                    <a:gd name="connsiteX5" fmla="*/ 221605 w 1181100"/>
                    <a:gd name="connsiteY5" fmla="*/ 473807 h 654050"/>
                    <a:gd name="connsiteX6" fmla="*/ 284512 w 1181100"/>
                    <a:gd name="connsiteY6" fmla="*/ 495265 h 654050"/>
                    <a:gd name="connsiteX7" fmla="*/ 363861 w 1181100"/>
                    <a:gd name="connsiteY7" fmla="*/ 458787 h 654050"/>
                    <a:gd name="connsiteX8" fmla="*/ 881470 w 1181100"/>
                    <a:gd name="connsiteY8" fmla="*/ 250825 h 654050"/>
                    <a:gd name="connsiteX9" fmla="*/ 879327 w 1181100"/>
                    <a:gd name="connsiteY9" fmla="*/ 543393 h 654050"/>
                    <a:gd name="connsiteX10" fmla="*/ 859328 w 1181100"/>
                    <a:gd name="connsiteY10" fmla="*/ 564748 h 654050"/>
                    <a:gd name="connsiteX11" fmla="*/ 840757 w 1181100"/>
                    <a:gd name="connsiteY11" fmla="*/ 581121 h 654050"/>
                    <a:gd name="connsiteX12" fmla="*/ 840043 w 1181100"/>
                    <a:gd name="connsiteY12" fmla="*/ 581833 h 654050"/>
                    <a:gd name="connsiteX13" fmla="*/ 696476 w 1181100"/>
                    <a:gd name="connsiteY13" fmla="*/ 630238 h 654050"/>
                    <a:gd name="connsiteX14" fmla="*/ 526481 w 1181100"/>
                    <a:gd name="connsiteY14" fmla="*/ 558342 h 654050"/>
                    <a:gd name="connsiteX15" fmla="*/ 489339 w 1181100"/>
                    <a:gd name="connsiteY15" fmla="*/ 284993 h 654050"/>
                    <a:gd name="connsiteX16" fmla="*/ 586479 w 1181100"/>
                    <a:gd name="connsiteY16" fmla="*/ 331975 h 654050"/>
                    <a:gd name="connsiteX17" fmla="*/ 699333 w 1181100"/>
                    <a:gd name="connsiteY17" fmla="*/ 441599 h 654050"/>
                    <a:gd name="connsiteX18" fmla="*/ 805044 w 1181100"/>
                    <a:gd name="connsiteY18" fmla="*/ 368279 h 654050"/>
                    <a:gd name="connsiteX19" fmla="*/ 812901 w 1181100"/>
                    <a:gd name="connsiteY19" fmla="*/ 328416 h 654050"/>
                    <a:gd name="connsiteX20" fmla="*/ 811472 w 1181100"/>
                    <a:gd name="connsiteY20" fmla="*/ 314179 h 654050"/>
                    <a:gd name="connsiteX21" fmla="*/ 810758 w 1181100"/>
                    <a:gd name="connsiteY21" fmla="*/ 307061 h 654050"/>
                    <a:gd name="connsiteX22" fmla="*/ 815758 w 1181100"/>
                    <a:gd name="connsiteY22" fmla="*/ 302790 h 654050"/>
                    <a:gd name="connsiteX23" fmla="*/ 850043 w 1181100"/>
                    <a:gd name="connsiteY23" fmla="*/ 275739 h 654050"/>
                    <a:gd name="connsiteX24" fmla="*/ 881470 w 1181100"/>
                    <a:gd name="connsiteY24" fmla="*/ 250825 h 654050"/>
                    <a:gd name="connsiteX25" fmla="*/ 1181100 w 1181100"/>
                    <a:gd name="connsiteY25" fmla="*/ 0 h 654050"/>
                    <a:gd name="connsiteX26" fmla="*/ 1181100 w 1181100"/>
                    <a:gd name="connsiteY26" fmla="*/ 654050 h 654050"/>
                    <a:gd name="connsiteX27" fmla="*/ 1099004 w 1181100"/>
                    <a:gd name="connsiteY27" fmla="*/ 654050 h 654050"/>
                    <a:gd name="connsiteX28" fmla="*/ 1096863 w 1181100"/>
                    <a:gd name="connsiteY28" fmla="*/ 651908 h 654050"/>
                    <a:gd name="connsiteX29" fmla="*/ 1069022 w 1181100"/>
                    <a:gd name="connsiteY29" fmla="*/ 638342 h 654050"/>
                    <a:gd name="connsiteX30" fmla="*/ 1066166 w 1181100"/>
                    <a:gd name="connsiteY30" fmla="*/ 637628 h 654050"/>
                    <a:gd name="connsiteX31" fmla="*/ 1064024 w 1181100"/>
                    <a:gd name="connsiteY31" fmla="*/ 637628 h 654050"/>
                    <a:gd name="connsiteX32" fmla="*/ 1048319 w 1181100"/>
                    <a:gd name="connsiteY32" fmla="*/ 640484 h 654050"/>
                    <a:gd name="connsiteX33" fmla="*/ 1040466 w 1181100"/>
                    <a:gd name="connsiteY33" fmla="*/ 629773 h 654050"/>
                    <a:gd name="connsiteX34" fmla="*/ 986212 w 1181100"/>
                    <a:gd name="connsiteY34" fmla="*/ 573365 h 654050"/>
                    <a:gd name="connsiteX35" fmla="*/ 954087 w 1181100"/>
                    <a:gd name="connsiteY35" fmla="*/ 178507 h 654050"/>
                    <a:gd name="connsiteX36" fmla="*/ 985498 w 1181100"/>
                    <a:gd name="connsiteY36" fmla="*/ 153516 h 654050"/>
                    <a:gd name="connsiteX37" fmla="*/ 1028330 w 1181100"/>
                    <a:gd name="connsiteY37" fmla="*/ 162798 h 654050"/>
                    <a:gd name="connsiteX38" fmla="*/ 1131843 w 1181100"/>
                    <a:gd name="connsiteY38" fmla="*/ 59264 h 654050"/>
                    <a:gd name="connsiteX39" fmla="*/ 1129701 w 1181100"/>
                    <a:gd name="connsiteY39" fmla="*/ 39985 h 654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81100" h="654050">
                      <a:moveTo>
                        <a:pt x="363861" y="458787"/>
                      </a:moveTo>
                      <a:cubicBezTo>
                        <a:pt x="375299" y="521729"/>
                        <a:pt x="404608" y="582525"/>
                        <a:pt x="452503" y="632593"/>
                      </a:cubicBezTo>
                      <a:cubicBezTo>
                        <a:pt x="459651" y="640460"/>
                        <a:pt x="466800" y="647613"/>
                        <a:pt x="474663" y="654050"/>
                      </a:cubicBezTo>
                      <a:cubicBezTo>
                        <a:pt x="474663" y="654050"/>
                        <a:pt x="474663" y="654050"/>
                        <a:pt x="0" y="654050"/>
                      </a:cubicBezTo>
                      <a:cubicBezTo>
                        <a:pt x="0" y="654050"/>
                        <a:pt x="0" y="654050"/>
                        <a:pt x="0" y="581095"/>
                      </a:cubicBezTo>
                      <a:cubicBezTo>
                        <a:pt x="0" y="581095"/>
                        <a:pt x="0" y="581095"/>
                        <a:pt x="221605" y="473807"/>
                      </a:cubicBezTo>
                      <a:cubicBezTo>
                        <a:pt x="239476" y="487397"/>
                        <a:pt x="261637" y="495265"/>
                        <a:pt x="284512" y="495265"/>
                      </a:cubicBezTo>
                      <a:cubicBezTo>
                        <a:pt x="316681" y="495265"/>
                        <a:pt x="344560" y="480960"/>
                        <a:pt x="363861" y="458787"/>
                      </a:cubicBezTo>
                      <a:close/>
                      <a:moveTo>
                        <a:pt x="881470" y="250825"/>
                      </a:moveTo>
                      <a:cubicBezTo>
                        <a:pt x="948611" y="336246"/>
                        <a:pt x="949325" y="457972"/>
                        <a:pt x="879327" y="543393"/>
                      </a:cubicBezTo>
                      <a:cubicBezTo>
                        <a:pt x="873613" y="551223"/>
                        <a:pt x="866471" y="558342"/>
                        <a:pt x="859328" y="564748"/>
                      </a:cubicBezTo>
                      <a:cubicBezTo>
                        <a:pt x="852185" y="571867"/>
                        <a:pt x="846471" y="577562"/>
                        <a:pt x="840757" y="581121"/>
                      </a:cubicBezTo>
                      <a:cubicBezTo>
                        <a:pt x="840757" y="581121"/>
                        <a:pt x="840757" y="581121"/>
                        <a:pt x="840043" y="581833"/>
                      </a:cubicBezTo>
                      <a:cubicBezTo>
                        <a:pt x="799330" y="613154"/>
                        <a:pt x="747903" y="630238"/>
                        <a:pt x="696476" y="630238"/>
                      </a:cubicBezTo>
                      <a:cubicBezTo>
                        <a:pt x="631478" y="630238"/>
                        <a:pt x="571480" y="604612"/>
                        <a:pt x="526481" y="558342"/>
                      </a:cubicBezTo>
                      <a:cubicBezTo>
                        <a:pt x="455055" y="483598"/>
                        <a:pt x="442912" y="372550"/>
                        <a:pt x="489339" y="284993"/>
                      </a:cubicBezTo>
                      <a:cubicBezTo>
                        <a:pt x="489339" y="284993"/>
                        <a:pt x="489339" y="284993"/>
                        <a:pt x="586479" y="331975"/>
                      </a:cubicBezTo>
                      <a:cubicBezTo>
                        <a:pt x="588622" y="392482"/>
                        <a:pt x="638621" y="441599"/>
                        <a:pt x="699333" y="441599"/>
                      </a:cubicBezTo>
                      <a:cubicBezTo>
                        <a:pt x="747903" y="441599"/>
                        <a:pt x="789330" y="410990"/>
                        <a:pt x="805044" y="368279"/>
                      </a:cubicBezTo>
                      <a:cubicBezTo>
                        <a:pt x="810044" y="356178"/>
                        <a:pt x="812901" y="342653"/>
                        <a:pt x="812901" y="328416"/>
                      </a:cubicBezTo>
                      <a:cubicBezTo>
                        <a:pt x="812901" y="323433"/>
                        <a:pt x="812187" y="319162"/>
                        <a:pt x="811472" y="314179"/>
                      </a:cubicBezTo>
                      <a:cubicBezTo>
                        <a:pt x="811472" y="312043"/>
                        <a:pt x="811472" y="309196"/>
                        <a:pt x="810758" y="307061"/>
                      </a:cubicBezTo>
                      <a:cubicBezTo>
                        <a:pt x="810758" y="307061"/>
                        <a:pt x="810758" y="307061"/>
                        <a:pt x="815758" y="302790"/>
                      </a:cubicBezTo>
                      <a:cubicBezTo>
                        <a:pt x="820758" y="299230"/>
                        <a:pt x="830757" y="291400"/>
                        <a:pt x="850043" y="275739"/>
                      </a:cubicBezTo>
                      <a:cubicBezTo>
                        <a:pt x="857899" y="269333"/>
                        <a:pt x="868613" y="260791"/>
                        <a:pt x="881470" y="250825"/>
                      </a:cubicBezTo>
                      <a:close/>
                      <a:moveTo>
                        <a:pt x="1181100" y="0"/>
                      </a:moveTo>
                      <a:cubicBezTo>
                        <a:pt x="1181100" y="0"/>
                        <a:pt x="1181100" y="0"/>
                        <a:pt x="1181100" y="654050"/>
                      </a:cubicBezTo>
                      <a:cubicBezTo>
                        <a:pt x="1181100" y="654050"/>
                        <a:pt x="1181100" y="654050"/>
                        <a:pt x="1099004" y="654050"/>
                      </a:cubicBezTo>
                      <a:cubicBezTo>
                        <a:pt x="1099004" y="654050"/>
                        <a:pt x="1099004" y="654050"/>
                        <a:pt x="1096863" y="651908"/>
                      </a:cubicBezTo>
                      <a:cubicBezTo>
                        <a:pt x="1089724" y="644768"/>
                        <a:pt x="1079730" y="639770"/>
                        <a:pt x="1069022" y="638342"/>
                      </a:cubicBezTo>
                      <a:cubicBezTo>
                        <a:pt x="1069022" y="638342"/>
                        <a:pt x="1069022" y="638342"/>
                        <a:pt x="1066166" y="637628"/>
                      </a:cubicBezTo>
                      <a:cubicBezTo>
                        <a:pt x="1066166" y="637628"/>
                        <a:pt x="1066166" y="637628"/>
                        <a:pt x="1064024" y="637628"/>
                      </a:cubicBezTo>
                      <a:cubicBezTo>
                        <a:pt x="1058313" y="637628"/>
                        <a:pt x="1053316" y="638342"/>
                        <a:pt x="1048319" y="640484"/>
                      </a:cubicBezTo>
                      <a:cubicBezTo>
                        <a:pt x="1046177" y="636913"/>
                        <a:pt x="1043322" y="633343"/>
                        <a:pt x="1040466" y="629773"/>
                      </a:cubicBezTo>
                      <a:cubicBezTo>
                        <a:pt x="1040466" y="629773"/>
                        <a:pt x="1040466" y="629773"/>
                        <a:pt x="986212" y="573365"/>
                      </a:cubicBezTo>
                      <a:cubicBezTo>
                        <a:pt x="1061169" y="448410"/>
                        <a:pt x="1048319" y="289181"/>
                        <a:pt x="954087" y="178507"/>
                      </a:cubicBezTo>
                      <a:cubicBezTo>
                        <a:pt x="954087" y="178507"/>
                        <a:pt x="954087" y="178507"/>
                        <a:pt x="985498" y="153516"/>
                      </a:cubicBezTo>
                      <a:cubicBezTo>
                        <a:pt x="998348" y="159942"/>
                        <a:pt x="1013339" y="162798"/>
                        <a:pt x="1028330" y="162798"/>
                      </a:cubicBezTo>
                      <a:cubicBezTo>
                        <a:pt x="1085441" y="162798"/>
                        <a:pt x="1131843" y="116386"/>
                        <a:pt x="1131843" y="59264"/>
                      </a:cubicBezTo>
                      <a:cubicBezTo>
                        <a:pt x="1131843" y="52838"/>
                        <a:pt x="1131129" y="45698"/>
                        <a:pt x="1129701" y="39985"/>
                      </a:cubicBezTo>
                      <a:close/>
                    </a:path>
                  </a:pathLst>
                </a:custGeom>
                <a:solidFill>
                  <a:schemeClr val="tx2"/>
                </a:solidFill>
                <a:ln>
                  <a:noFill/>
                </a:ln>
              </p:spPr>
              <p:txBody>
                <a:bodyPr vert="horz" wrap="square" lIns="72746" tIns="36373" rIns="72746" bIns="36373" numCol="1" anchor="t" anchorCtr="0" compatLnSpc="1">
                  <a:prstTxWarp prst="textNoShape">
                    <a:avLst/>
                  </a:prstTxWarp>
                  <a:noAutofit/>
                </a:bodyPr>
                <a:lstStyle/>
                <a:p>
                  <a:endParaRPr lang="en-US" sz="1559">
                    <a:sym typeface="+mn-lt"/>
                  </a:endParaRPr>
                </a:p>
              </p:txBody>
            </p:sp>
          </p:grpSp>
        </p:grpSp>
        <p:sp>
          <p:nvSpPr>
            <p:cNvPr id="95" name="object 4">
              <a:extLst>
                <a:ext uri="{FF2B5EF4-FFF2-40B4-BE49-F238E27FC236}">
                  <a16:creationId xmlns:a16="http://schemas.microsoft.com/office/drawing/2014/main" id="{2E29590B-0A30-4CB1-AC14-BA505AFA7200}"/>
                </a:ext>
              </a:extLst>
            </p:cNvPr>
            <p:cNvSpPr txBox="1">
              <a:spLocks/>
            </p:cNvSpPr>
            <p:nvPr/>
          </p:nvSpPr>
          <p:spPr>
            <a:xfrm>
              <a:off x="7327900" y="2866191"/>
              <a:ext cx="4235300" cy="656023"/>
            </a:xfrm>
            <a:prstGeom prst="rect">
              <a:avLst/>
            </a:prstGeom>
          </p:spPr>
          <p:txBody>
            <a:bodyPr vert="horz" wrap="square" lIns="0" tIns="9598" rIns="0" bIns="0" rtlCol="0">
              <a:spAutoFit/>
            </a:bodyPr>
            <a:lstStyle>
              <a:lvl1pPr marL="0" indent="0" algn="l" defTabSz="914400" rtl="0" eaLnBrk="1" latinLnBrk="0" hangingPunct="1">
                <a:lnSpc>
                  <a:spcPct val="110000"/>
                </a:lnSpc>
                <a:spcBef>
                  <a:spcPts val="600"/>
                </a:spcBef>
                <a:spcAft>
                  <a:spcPts val="300"/>
                </a:spcAft>
                <a:buClr>
                  <a:srgbClr val="DC0532"/>
                </a:buClr>
                <a:buFont typeface="Arial" panose="020B0604020202020204" pitchFamily="34" charset="0"/>
                <a:buChar char="​"/>
                <a:defRPr lang="en-US" sz="1200" kern="1200">
                  <a:solidFill>
                    <a:srgbClr val="4D4D4D"/>
                  </a:solidFill>
                  <a:latin typeface="+mn-lt"/>
                  <a:ea typeface="+mn-ea"/>
                  <a:cs typeface="+mn-cs"/>
                  <a:sym typeface="+mn-lt"/>
                </a:defRPr>
              </a:lvl1pPr>
              <a:lvl2pPr marL="284400" indent="-172800" algn="l" defTabSz="914400" rtl="0" eaLnBrk="1" latinLnBrk="0" hangingPunct="1">
                <a:lnSpc>
                  <a:spcPct val="90000"/>
                </a:lnSpc>
                <a:spcBef>
                  <a:spcPts val="0"/>
                </a:spcBef>
                <a:spcAft>
                  <a:spcPts val="300"/>
                </a:spcAft>
                <a:buClr>
                  <a:srgbClr val="DC0532"/>
                </a:buClr>
                <a:buFont typeface="Arial" panose="020B0604020202020204" pitchFamily="34" charset="0"/>
                <a:buChar char="•"/>
                <a:defRPr lang="en-US" sz="1200" kern="1200">
                  <a:solidFill>
                    <a:srgbClr val="4D4D4D"/>
                  </a:solidFill>
                  <a:latin typeface="+mn-lt"/>
                  <a:ea typeface="+mn-ea"/>
                  <a:cs typeface="+mn-cs"/>
                  <a:sym typeface="+mn-lt"/>
                </a:defRPr>
              </a:lvl2pPr>
              <a:lvl3pPr marL="511200" indent="-165600" algn="l" defTabSz="914400" rtl="0" eaLnBrk="1" latinLnBrk="0" hangingPunct="1">
                <a:lnSpc>
                  <a:spcPct val="90000"/>
                </a:lnSpc>
                <a:spcBef>
                  <a:spcPts val="0"/>
                </a:spcBef>
                <a:spcAft>
                  <a:spcPts val="300"/>
                </a:spcAft>
                <a:buClr>
                  <a:srgbClr val="DC0532"/>
                </a:buClr>
                <a:buFont typeface="Trebuchet MS" panose="020B0603020202020204" pitchFamily="34" charset="0"/>
                <a:buChar char="–"/>
                <a:defRPr lang="en-US" sz="1200" kern="1200">
                  <a:solidFill>
                    <a:srgbClr val="4D4D4D"/>
                  </a:solidFill>
                  <a:latin typeface="+mn-lt"/>
                  <a:ea typeface="+mn-ea"/>
                  <a:cs typeface="+mn-cs"/>
                  <a:sym typeface="+mn-lt"/>
                </a:defRPr>
              </a:lvl3pPr>
              <a:lvl4pPr marL="0" indent="0" algn="l" defTabSz="914400" rtl="0" eaLnBrk="1" latinLnBrk="0" hangingPunct="1">
                <a:lnSpc>
                  <a:spcPct val="110000"/>
                </a:lnSpc>
                <a:spcBef>
                  <a:spcPts val="300"/>
                </a:spcBef>
                <a:spcAft>
                  <a:spcPts val="300"/>
                </a:spcAft>
                <a:buClr>
                  <a:srgbClr val="DC0532"/>
                </a:buClr>
                <a:buFont typeface="Arial" panose="020B0604020202020204" pitchFamily="34" charset="0"/>
                <a:buChar char="​"/>
                <a:defRPr lang="en-US" sz="1600" kern="1200">
                  <a:solidFill>
                    <a:srgbClr val="DC0532"/>
                  </a:solidFill>
                  <a:latin typeface="+mn-lt"/>
                  <a:ea typeface="+mn-ea"/>
                  <a:cs typeface="+mn-cs"/>
                  <a:sym typeface="+mn-lt"/>
                </a:defRPr>
              </a:lvl4pPr>
              <a:lvl5pPr marL="0" indent="0" algn="l" defTabSz="914400" rtl="0" eaLnBrk="1" latinLnBrk="0" hangingPunct="1">
                <a:lnSpc>
                  <a:spcPct val="100000"/>
                </a:lnSpc>
                <a:spcBef>
                  <a:spcPts val="0"/>
                </a:spcBef>
                <a:spcAft>
                  <a:spcPts val="300"/>
                </a:spcAft>
                <a:buClr>
                  <a:srgbClr val="DC0532"/>
                </a:buClr>
                <a:buFont typeface="Arial" panose="020B0604020202020204" pitchFamily="34" charset="0"/>
                <a:buChar char="​"/>
                <a:defRPr lang="en-US" sz="1600" b="1" kern="1200" smtClean="0">
                  <a:solidFill>
                    <a:srgbClr val="4D4D4D"/>
                  </a:solidFill>
                  <a:latin typeface="+mn-lt"/>
                  <a:ea typeface="+mn-ea"/>
                  <a:cs typeface="+mn-cs"/>
                  <a:sym typeface="+mn-lt"/>
                </a:defRPr>
              </a:lvl5pPr>
              <a:lvl6pPr marL="269875" indent="-152400" algn="l" defTabSz="914400" rtl="0" eaLnBrk="1" latinLnBrk="0" hangingPunct="1">
                <a:lnSpc>
                  <a:spcPct val="90000"/>
                </a:lnSpc>
                <a:spcBef>
                  <a:spcPts val="0"/>
                </a:spcBef>
                <a:spcAft>
                  <a:spcPts val="600"/>
                </a:spcAft>
                <a:buClr>
                  <a:srgbClr val="DC0532"/>
                </a:buClr>
                <a:buFont typeface="Arial" panose="020B0604020202020204" pitchFamily="34" charset="0"/>
                <a:buChar char="•"/>
                <a:defRPr lang="en-US" sz="1600" kern="1200" smtClean="0">
                  <a:solidFill>
                    <a:srgbClr val="4D4D4D"/>
                  </a:solidFill>
                  <a:latin typeface="+mn-lt"/>
                  <a:ea typeface="+mn-ea"/>
                  <a:cs typeface="+mn-cs"/>
                  <a:sym typeface="+mn-lt"/>
                </a:defRPr>
              </a:lvl6pPr>
              <a:lvl7pPr marL="0" indent="0" algn="l" defTabSz="914400" rtl="0" eaLnBrk="1" latinLnBrk="0" hangingPunct="1">
                <a:lnSpc>
                  <a:spcPct val="90000"/>
                </a:lnSpc>
                <a:spcBef>
                  <a:spcPts val="900"/>
                </a:spcBef>
                <a:spcAft>
                  <a:spcPts val="900"/>
                </a:spcAft>
                <a:buClr>
                  <a:srgbClr val="DC0532"/>
                </a:buClr>
                <a:buFont typeface="Arial" panose="020B0604020202020204" pitchFamily="34" charset="0"/>
                <a:buChar char="​"/>
                <a:defRPr lang="en-US" sz="4400" kern="1200" baseline="0" smtClean="0">
                  <a:solidFill>
                    <a:srgbClr val="4D4D4D"/>
                  </a:solidFill>
                  <a:latin typeface="+mn-lt"/>
                  <a:ea typeface="+mn-ea"/>
                  <a:cs typeface="+mn-cs"/>
                  <a:sym typeface="+mn-lt"/>
                </a:defRPr>
              </a:lvl7pPr>
              <a:lvl8pPr marL="0" indent="0" algn="l" defTabSz="914400" rtl="0" eaLnBrk="1" latinLnBrk="0" hangingPunct="1">
                <a:lnSpc>
                  <a:spcPct val="90000"/>
                </a:lnSpc>
                <a:spcBef>
                  <a:spcPts val="900"/>
                </a:spcBef>
                <a:spcAft>
                  <a:spcPts val="0"/>
                </a:spcAft>
                <a:buClr>
                  <a:srgbClr val="DC0532"/>
                </a:buClr>
                <a:buFont typeface="Arial" panose="020B0604020202020204" pitchFamily="34" charset="0"/>
                <a:buChar char="​"/>
                <a:defRPr lang="en-US" sz="5400" kern="1200" baseline="0" smtClean="0">
                  <a:solidFill>
                    <a:srgbClr val="DC0532"/>
                  </a:solidFill>
                  <a:latin typeface="+mn-lt"/>
                  <a:ea typeface="+mn-ea"/>
                  <a:cs typeface="+mn-cs"/>
                  <a:sym typeface="+mn-lt"/>
                </a:defRPr>
              </a:lvl8pPr>
              <a:lvl9pPr marL="0" indent="0" algn="l" defTabSz="914400" rtl="0" eaLnBrk="1" latinLnBrk="0" hangingPunct="1">
                <a:lnSpc>
                  <a:spcPct val="100000"/>
                </a:lnSpc>
                <a:spcBef>
                  <a:spcPts val="0"/>
                </a:spcBef>
                <a:spcAft>
                  <a:spcPts val="900"/>
                </a:spcAft>
                <a:buClr>
                  <a:srgbClr val="DC0532"/>
                </a:buClr>
                <a:buFont typeface="Arial" panose="020B0604020202020204" pitchFamily="34" charset="0"/>
                <a:buChar char="​"/>
                <a:defRPr lang="en-US" sz="2400" kern="1200" baseline="0" dirty="0">
                  <a:solidFill>
                    <a:srgbClr val="DC0532"/>
                  </a:solidFill>
                  <a:latin typeface="+mn-lt"/>
                  <a:ea typeface="+mn-ea"/>
                  <a:cs typeface="+mn-cs"/>
                  <a:sym typeface="+mn-lt"/>
                </a:defRPr>
              </a:lvl9pPr>
            </a:lstStyle>
            <a:p>
              <a:pPr marL="10104">
                <a:lnSpc>
                  <a:spcPct val="100000"/>
                </a:lnSpc>
                <a:spcBef>
                  <a:spcPts val="75"/>
                </a:spcBef>
              </a:pPr>
              <a:r>
                <a:rPr lang="en-ZA" sz="1400" spc="-4"/>
                <a:t>Several </a:t>
              </a:r>
              <a:r>
                <a:rPr lang="en-ZA" sz="1400" spc="-4">
                  <a:solidFill>
                    <a:schemeClr val="tx2"/>
                  </a:solidFill>
                </a:rPr>
                <a:t>analytics</a:t>
              </a:r>
              <a:r>
                <a:rPr lang="en-ZA" sz="1400" spc="-4"/>
                <a:t> use cases in production that are adopted across the business with feedback loops and high frequency refreshes in place</a:t>
              </a:r>
            </a:p>
          </p:txBody>
        </p:sp>
      </p:grpSp>
      <p:grpSp>
        <p:nvGrpSpPr>
          <p:cNvPr id="107" name="Group 106">
            <a:extLst>
              <a:ext uri="{FF2B5EF4-FFF2-40B4-BE49-F238E27FC236}">
                <a16:creationId xmlns:a16="http://schemas.microsoft.com/office/drawing/2014/main" id="{AD0CA6C6-CDAB-4D51-B960-47739270B095}"/>
              </a:ext>
            </a:extLst>
          </p:cNvPr>
          <p:cNvGrpSpPr/>
          <p:nvPr/>
        </p:nvGrpSpPr>
        <p:grpSpPr>
          <a:xfrm>
            <a:off x="6567560" y="2126856"/>
            <a:ext cx="4995640" cy="656023"/>
            <a:chOff x="6567560" y="2152611"/>
            <a:chExt cx="4995640" cy="656023"/>
          </a:xfrm>
        </p:grpSpPr>
        <p:grpSp>
          <p:nvGrpSpPr>
            <p:cNvPr id="66" name="Group 65">
              <a:extLst>
                <a:ext uri="{FF2B5EF4-FFF2-40B4-BE49-F238E27FC236}">
                  <a16:creationId xmlns:a16="http://schemas.microsoft.com/office/drawing/2014/main" id="{D15101C8-8A22-4BB3-A4C7-A5D7D82A1E57}"/>
                </a:ext>
              </a:extLst>
            </p:cNvPr>
            <p:cNvGrpSpPr>
              <a:grpSpLocks noChangeAspect="1"/>
            </p:cNvGrpSpPr>
            <p:nvPr/>
          </p:nvGrpSpPr>
          <p:grpSpPr>
            <a:xfrm>
              <a:off x="6567560" y="2152611"/>
              <a:ext cx="554533" cy="553998"/>
              <a:chOff x="5272088" y="2605881"/>
              <a:chExt cx="1647825" cy="1646238"/>
            </a:xfrm>
          </p:grpSpPr>
          <p:sp>
            <p:nvSpPr>
              <p:cNvPr id="67" name="AutoShape 22">
                <a:extLst>
                  <a:ext uri="{FF2B5EF4-FFF2-40B4-BE49-F238E27FC236}">
                    <a16:creationId xmlns:a16="http://schemas.microsoft.com/office/drawing/2014/main" id="{148B14A8-7068-43D6-8DED-B5DF8FDDB438}"/>
                  </a:ext>
                </a:extLst>
              </p:cNvPr>
              <p:cNvSpPr>
                <a:spLocks noChangeAspect="1" noChangeArrowheads="1" noTextEdit="1"/>
              </p:cNvSpPr>
              <p:nvPr/>
            </p:nvSpPr>
            <p:spPr bwMode="auto">
              <a:xfrm>
                <a:off x="5272088" y="2605881"/>
                <a:ext cx="1647825" cy="1646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sp>
            <p:nvSpPr>
              <p:cNvPr id="68" name="Freeform 5">
                <a:extLst>
                  <a:ext uri="{FF2B5EF4-FFF2-40B4-BE49-F238E27FC236}">
                    <a16:creationId xmlns:a16="http://schemas.microsoft.com/office/drawing/2014/main" id="{94AFCF80-2626-4A73-BD94-9261842284FB}"/>
                  </a:ext>
                </a:extLst>
              </p:cNvPr>
              <p:cNvSpPr>
                <a:spLocks/>
              </p:cNvSpPr>
              <p:nvPr/>
            </p:nvSpPr>
            <p:spPr bwMode="auto">
              <a:xfrm>
                <a:off x="5479839" y="2755106"/>
                <a:ext cx="1233913" cy="1114425"/>
              </a:xfrm>
              <a:custGeom>
                <a:avLst/>
                <a:gdLst>
                  <a:gd name="connsiteX0" fmla="*/ 617750 w 1233913"/>
                  <a:gd name="connsiteY0" fmla="*/ 358775 h 1114425"/>
                  <a:gd name="connsiteX1" fmla="*/ 477757 w 1233913"/>
                  <a:gd name="connsiteY1" fmla="*/ 430231 h 1114425"/>
                  <a:gd name="connsiteX2" fmla="*/ 346335 w 1233913"/>
                  <a:gd name="connsiteY2" fmla="*/ 515977 h 1114425"/>
                  <a:gd name="connsiteX3" fmla="*/ 344907 w 1233913"/>
                  <a:gd name="connsiteY3" fmla="*/ 516692 h 1114425"/>
                  <a:gd name="connsiteX4" fmla="*/ 312051 w 1233913"/>
                  <a:gd name="connsiteY4" fmla="*/ 541701 h 1114425"/>
                  <a:gd name="connsiteX5" fmla="*/ 310623 w 1233913"/>
                  <a:gd name="connsiteY5" fmla="*/ 542416 h 1114425"/>
                  <a:gd name="connsiteX6" fmla="*/ 168487 w 1233913"/>
                  <a:gd name="connsiteY6" fmla="*/ 673894 h 1114425"/>
                  <a:gd name="connsiteX7" fmla="*/ 310623 w 1233913"/>
                  <a:gd name="connsiteY7" fmla="*/ 804658 h 1114425"/>
                  <a:gd name="connsiteX8" fmla="*/ 312051 w 1233913"/>
                  <a:gd name="connsiteY8" fmla="*/ 806087 h 1114425"/>
                  <a:gd name="connsiteX9" fmla="*/ 344907 w 1233913"/>
                  <a:gd name="connsiteY9" fmla="*/ 831096 h 1114425"/>
                  <a:gd name="connsiteX10" fmla="*/ 346335 w 1233913"/>
                  <a:gd name="connsiteY10" fmla="*/ 831811 h 1114425"/>
                  <a:gd name="connsiteX11" fmla="*/ 477757 w 1233913"/>
                  <a:gd name="connsiteY11" fmla="*/ 917558 h 1114425"/>
                  <a:gd name="connsiteX12" fmla="*/ 617750 w 1233913"/>
                  <a:gd name="connsiteY12" fmla="*/ 989013 h 1114425"/>
                  <a:gd name="connsiteX13" fmla="*/ 757742 w 1233913"/>
                  <a:gd name="connsiteY13" fmla="*/ 917558 h 1114425"/>
                  <a:gd name="connsiteX14" fmla="*/ 889879 w 1233913"/>
                  <a:gd name="connsiteY14" fmla="*/ 831811 h 1114425"/>
                  <a:gd name="connsiteX15" fmla="*/ 924162 w 1233913"/>
                  <a:gd name="connsiteY15" fmla="*/ 806087 h 1114425"/>
                  <a:gd name="connsiteX16" fmla="*/ 1067012 w 1233913"/>
                  <a:gd name="connsiteY16" fmla="*/ 673894 h 1114425"/>
                  <a:gd name="connsiteX17" fmla="*/ 924162 w 1233913"/>
                  <a:gd name="connsiteY17" fmla="*/ 541701 h 1114425"/>
                  <a:gd name="connsiteX18" fmla="*/ 923448 w 1233913"/>
                  <a:gd name="connsiteY18" fmla="*/ 540987 h 1114425"/>
                  <a:gd name="connsiteX19" fmla="*/ 889879 w 1233913"/>
                  <a:gd name="connsiteY19" fmla="*/ 515977 h 1114425"/>
                  <a:gd name="connsiteX20" fmla="*/ 889164 w 1233913"/>
                  <a:gd name="connsiteY20" fmla="*/ 515263 h 1114425"/>
                  <a:gd name="connsiteX21" fmla="*/ 757742 w 1233913"/>
                  <a:gd name="connsiteY21" fmla="*/ 430231 h 1114425"/>
                  <a:gd name="connsiteX22" fmla="*/ 617750 w 1233913"/>
                  <a:gd name="connsiteY22" fmla="*/ 358775 h 1114425"/>
                  <a:gd name="connsiteX23" fmla="*/ 990025 w 1233913"/>
                  <a:gd name="connsiteY23" fmla="*/ 266700 h 1114425"/>
                  <a:gd name="connsiteX24" fmla="*/ 872670 w 1233913"/>
                  <a:gd name="connsiteY24" fmla="*/ 278104 h 1114425"/>
                  <a:gd name="connsiteX25" fmla="*/ 871955 w 1233913"/>
                  <a:gd name="connsiteY25" fmla="*/ 278104 h 1114425"/>
                  <a:gd name="connsiteX26" fmla="*/ 841901 w 1233913"/>
                  <a:gd name="connsiteY26" fmla="*/ 284519 h 1114425"/>
                  <a:gd name="connsiteX27" fmla="*/ 841185 w 1233913"/>
                  <a:gd name="connsiteY27" fmla="*/ 284519 h 1114425"/>
                  <a:gd name="connsiteX28" fmla="*/ 655850 w 1233913"/>
                  <a:gd name="connsiteY28" fmla="*/ 343678 h 1114425"/>
                  <a:gd name="connsiteX29" fmla="*/ 772490 w 1233913"/>
                  <a:gd name="connsiteY29" fmla="*/ 404262 h 1114425"/>
                  <a:gd name="connsiteX30" fmla="*/ 884120 w 1233913"/>
                  <a:gd name="connsiteY30" fmla="*/ 474825 h 1114425"/>
                  <a:gd name="connsiteX31" fmla="*/ 919183 w 1233913"/>
                  <a:gd name="connsiteY31" fmla="*/ 500484 h 1114425"/>
                  <a:gd name="connsiteX32" fmla="*/ 1087344 w 1233913"/>
                  <a:gd name="connsiteY32" fmla="*/ 650875 h 1114425"/>
                  <a:gd name="connsiteX33" fmla="*/ 1120976 w 1233913"/>
                  <a:gd name="connsiteY33" fmla="*/ 608823 h 1114425"/>
                  <a:gd name="connsiteX34" fmla="*/ 1186094 w 1233913"/>
                  <a:gd name="connsiteY34" fmla="*/ 345816 h 1114425"/>
                  <a:gd name="connsiteX35" fmla="*/ 1086628 w 1233913"/>
                  <a:gd name="connsiteY35" fmla="*/ 278104 h 1114425"/>
                  <a:gd name="connsiteX36" fmla="*/ 990025 w 1233913"/>
                  <a:gd name="connsiteY36" fmla="*/ 266700 h 1114425"/>
                  <a:gd name="connsiteX37" fmla="*/ 244825 w 1233913"/>
                  <a:gd name="connsiteY37" fmla="*/ 266700 h 1114425"/>
                  <a:gd name="connsiteX38" fmla="*/ 148492 w 1233913"/>
                  <a:gd name="connsiteY38" fmla="*/ 278104 h 1114425"/>
                  <a:gd name="connsiteX39" fmla="*/ 49305 w 1233913"/>
                  <a:gd name="connsiteY39" fmla="*/ 345816 h 1114425"/>
                  <a:gd name="connsiteX40" fmla="*/ 114241 w 1233913"/>
                  <a:gd name="connsiteY40" fmla="*/ 608823 h 1114425"/>
                  <a:gd name="connsiteX41" fmla="*/ 147779 w 1233913"/>
                  <a:gd name="connsiteY41" fmla="*/ 650875 h 1114425"/>
                  <a:gd name="connsiteX42" fmla="*/ 316182 w 1233913"/>
                  <a:gd name="connsiteY42" fmla="*/ 500484 h 1114425"/>
                  <a:gd name="connsiteX43" fmla="*/ 351147 w 1233913"/>
                  <a:gd name="connsiteY43" fmla="*/ 474825 h 1114425"/>
                  <a:gd name="connsiteX44" fmla="*/ 461751 w 1233913"/>
                  <a:gd name="connsiteY44" fmla="*/ 404262 h 1114425"/>
                  <a:gd name="connsiteX45" fmla="*/ 578063 w 1233913"/>
                  <a:gd name="connsiteY45" fmla="*/ 343678 h 1114425"/>
                  <a:gd name="connsiteX46" fmla="*/ 392534 w 1233913"/>
                  <a:gd name="connsiteY46" fmla="*/ 284519 h 1114425"/>
                  <a:gd name="connsiteX47" fmla="*/ 391821 w 1233913"/>
                  <a:gd name="connsiteY47" fmla="*/ 284519 h 1114425"/>
                  <a:gd name="connsiteX48" fmla="*/ 362564 w 1233913"/>
                  <a:gd name="connsiteY48" fmla="*/ 278104 h 1114425"/>
                  <a:gd name="connsiteX49" fmla="*/ 361137 w 1233913"/>
                  <a:gd name="connsiteY49" fmla="*/ 278104 h 1114425"/>
                  <a:gd name="connsiteX50" fmla="*/ 244825 w 1233913"/>
                  <a:gd name="connsiteY50" fmla="*/ 266700 h 1114425"/>
                  <a:gd name="connsiteX51" fmla="*/ 990761 w 1233913"/>
                  <a:gd name="connsiteY51" fmla="*/ 234950 h 1114425"/>
                  <a:gd name="connsiteX52" fmla="*/ 1094397 w 1233913"/>
                  <a:gd name="connsiteY52" fmla="*/ 247810 h 1114425"/>
                  <a:gd name="connsiteX53" fmla="*/ 1213042 w 1233913"/>
                  <a:gd name="connsiteY53" fmla="*/ 329971 h 1114425"/>
                  <a:gd name="connsiteX54" fmla="*/ 1145858 w 1233913"/>
                  <a:gd name="connsiteY54" fmla="*/ 627892 h 1114425"/>
                  <a:gd name="connsiteX55" fmla="*/ 919288 w 1233913"/>
                  <a:gd name="connsiteY55" fmla="*/ 849368 h 1114425"/>
                  <a:gd name="connsiteX56" fmla="*/ 918573 w 1233913"/>
                  <a:gd name="connsiteY56" fmla="*/ 849368 h 1114425"/>
                  <a:gd name="connsiteX57" fmla="*/ 884266 w 1233913"/>
                  <a:gd name="connsiteY57" fmla="*/ 875088 h 1114425"/>
                  <a:gd name="connsiteX58" fmla="*/ 883552 w 1233913"/>
                  <a:gd name="connsiteY58" fmla="*/ 875088 h 1114425"/>
                  <a:gd name="connsiteX59" fmla="*/ 772768 w 1233913"/>
                  <a:gd name="connsiteY59" fmla="*/ 945817 h 1114425"/>
                  <a:gd name="connsiteX60" fmla="*/ 656267 w 1233913"/>
                  <a:gd name="connsiteY60" fmla="*/ 1006545 h 1114425"/>
                  <a:gd name="connsiteX61" fmla="*/ 842097 w 1233913"/>
                  <a:gd name="connsiteY61" fmla="*/ 1065129 h 1114425"/>
                  <a:gd name="connsiteX62" fmla="*/ 872831 w 1233913"/>
                  <a:gd name="connsiteY62" fmla="*/ 1071559 h 1114425"/>
                  <a:gd name="connsiteX63" fmla="*/ 989332 w 1233913"/>
                  <a:gd name="connsiteY63" fmla="*/ 1083704 h 1114425"/>
                  <a:gd name="connsiteX64" fmla="*/ 1086535 w 1233913"/>
                  <a:gd name="connsiteY64" fmla="*/ 1071559 h 1114425"/>
                  <a:gd name="connsiteX65" fmla="*/ 1185883 w 1233913"/>
                  <a:gd name="connsiteY65" fmla="*/ 1004401 h 1114425"/>
                  <a:gd name="connsiteX66" fmla="*/ 1200892 w 1233913"/>
                  <a:gd name="connsiteY66" fmla="*/ 960106 h 1114425"/>
                  <a:gd name="connsiteX67" fmla="*/ 1201607 w 1233913"/>
                  <a:gd name="connsiteY67" fmla="*/ 960106 h 1114425"/>
                  <a:gd name="connsiteX68" fmla="*/ 1205180 w 1233913"/>
                  <a:gd name="connsiteY68" fmla="*/ 960106 h 1114425"/>
                  <a:gd name="connsiteX69" fmla="*/ 1233055 w 1233913"/>
                  <a:gd name="connsiteY69" fmla="*/ 955820 h 1114425"/>
                  <a:gd name="connsiteX70" fmla="*/ 1213042 w 1233913"/>
                  <a:gd name="connsiteY70" fmla="*/ 1020119 h 1114425"/>
                  <a:gd name="connsiteX71" fmla="*/ 1094397 w 1233913"/>
                  <a:gd name="connsiteY71" fmla="*/ 1102280 h 1114425"/>
                  <a:gd name="connsiteX72" fmla="*/ 991476 w 1233913"/>
                  <a:gd name="connsiteY72" fmla="*/ 1114425 h 1114425"/>
                  <a:gd name="connsiteX73" fmla="*/ 862824 w 1233913"/>
                  <a:gd name="connsiteY73" fmla="*/ 1101565 h 1114425"/>
                  <a:gd name="connsiteX74" fmla="*/ 862110 w 1233913"/>
                  <a:gd name="connsiteY74" fmla="*/ 1101565 h 1114425"/>
                  <a:gd name="connsiteX75" fmla="*/ 832091 w 1233913"/>
                  <a:gd name="connsiteY75" fmla="*/ 1095135 h 1114425"/>
                  <a:gd name="connsiteX76" fmla="*/ 831376 w 1233913"/>
                  <a:gd name="connsiteY76" fmla="*/ 1095135 h 1114425"/>
                  <a:gd name="connsiteX77" fmla="*/ 616957 w 1233913"/>
                  <a:gd name="connsiteY77" fmla="*/ 1024406 h 1114425"/>
                  <a:gd name="connsiteX78" fmla="*/ 401823 w 1233913"/>
                  <a:gd name="connsiteY78" fmla="*/ 1095135 h 1114425"/>
                  <a:gd name="connsiteX79" fmla="*/ 401823 w 1233913"/>
                  <a:gd name="connsiteY79" fmla="*/ 1095850 h 1114425"/>
                  <a:gd name="connsiteX80" fmla="*/ 371805 w 1233913"/>
                  <a:gd name="connsiteY80" fmla="*/ 1101565 h 1114425"/>
                  <a:gd name="connsiteX81" fmla="*/ 371090 w 1233913"/>
                  <a:gd name="connsiteY81" fmla="*/ 1102280 h 1114425"/>
                  <a:gd name="connsiteX82" fmla="*/ 242438 w 1233913"/>
                  <a:gd name="connsiteY82" fmla="*/ 1114425 h 1114425"/>
                  <a:gd name="connsiteX83" fmla="*/ 139517 w 1233913"/>
                  <a:gd name="connsiteY83" fmla="*/ 1102280 h 1114425"/>
                  <a:gd name="connsiteX84" fmla="*/ 20872 w 1233913"/>
                  <a:gd name="connsiteY84" fmla="*/ 1020119 h 1114425"/>
                  <a:gd name="connsiteX85" fmla="*/ 860 w 1233913"/>
                  <a:gd name="connsiteY85" fmla="*/ 955820 h 1114425"/>
                  <a:gd name="connsiteX86" fmla="*/ 30164 w 1233913"/>
                  <a:gd name="connsiteY86" fmla="*/ 960106 h 1114425"/>
                  <a:gd name="connsiteX87" fmla="*/ 30878 w 1233913"/>
                  <a:gd name="connsiteY87" fmla="*/ 960106 h 1114425"/>
                  <a:gd name="connsiteX88" fmla="*/ 33022 w 1233913"/>
                  <a:gd name="connsiteY88" fmla="*/ 960106 h 1114425"/>
                  <a:gd name="connsiteX89" fmla="*/ 48032 w 1233913"/>
                  <a:gd name="connsiteY89" fmla="*/ 1004401 h 1114425"/>
                  <a:gd name="connsiteX90" fmla="*/ 147379 w 1233913"/>
                  <a:gd name="connsiteY90" fmla="*/ 1071559 h 1114425"/>
                  <a:gd name="connsiteX91" fmla="*/ 243868 w 1233913"/>
                  <a:gd name="connsiteY91" fmla="*/ 1083704 h 1114425"/>
                  <a:gd name="connsiteX92" fmla="*/ 361798 w 1233913"/>
                  <a:gd name="connsiteY92" fmla="*/ 1071559 h 1114425"/>
                  <a:gd name="connsiteX93" fmla="*/ 391817 w 1233913"/>
                  <a:gd name="connsiteY93" fmla="*/ 1065129 h 1114425"/>
                  <a:gd name="connsiteX94" fmla="*/ 577647 w 1233913"/>
                  <a:gd name="connsiteY94" fmla="*/ 1006545 h 1114425"/>
                  <a:gd name="connsiteX95" fmla="*/ 461146 w 1233913"/>
                  <a:gd name="connsiteY95" fmla="*/ 945817 h 1114425"/>
                  <a:gd name="connsiteX96" fmla="*/ 350363 w 1233913"/>
                  <a:gd name="connsiteY96" fmla="*/ 875088 h 1114425"/>
                  <a:gd name="connsiteX97" fmla="*/ 315341 w 1233913"/>
                  <a:gd name="connsiteY97" fmla="*/ 849368 h 1114425"/>
                  <a:gd name="connsiteX98" fmla="*/ 146665 w 1233913"/>
                  <a:gd name="connsiteY98" fmla="*/ 698621 h 1114425"/>
                  <a:gd name="connsiteX99" fmla="*/ 145950 w 1233913"/>
                  <a:gd name="connsiteY99" fmla="*/ 698621 h 1114425"/>
                  <a:gd name="connsiteX100" fmla="*/ 125937 w 1233913"/>
                  <a:gd name="connsiteY100" fmla="*/ 675045 h 1114425"/>
                  <a:gd name="connsiteX101" fmla="*/ 125223 w 1233913"/>
                  <a:gd name="connsiteY101" fmla="*/ 675045 h 1114425"/>
                  <a:gd name="connsiteX102" fmla="*/ 88057 w 1233913"/>
                  <a:gd name="connsiteY102" fmla="*/ 627892 h 1114425"/>
                  <a:gd name="connsiteX103" fmla="*/ 20872 w 1233913"/>
                  <a:gd name="connsiteY103" fmla="*/ 329971 h 1114425"/>
                  <a:gd name="connsiteX104" fmla="*/ 139517 w 1233913"/>
                  <a:gd name="connsiteY104" fmla="*/ 247810 h 1114425"/>
                  <a:gd name="connsiteX105" fmla="*/ 243153 w 1233913"/>
                  <a:gd name="connsiteY105" fmla="*/ 235665 h 1114425"/>
                  <a:gd name="connsiteX106" fmla="*/ 616957 w 1233913"/>
                  <a:gd name="connsiteY106" fmla="*/ 325684 h 1114425"/>
                  <a:gd name="connsiteX107" fmla="*/ 832091 w 1233913"/>
                  <a:gd name="connsiteY107" fmla="*/ 254954 h 1114425"/>
                  <a:gd name="connsiteX108" fmla="*/ 862824 w 1233913"/>
                  <a:gd name="connsiteY108" fmla="*/ 248524 h 1114425"/>
                  <a:gd name="connsiteX109" fmla="*/ 990761 w 1233913"/>
                  <a:gd name="connsiteY109" fmla="*/ 234950 h 1114425"/>
                  <a:gd name="connsiteX110" fmla="*/ 463405 w 1233913"/>
                  <a:gd name="connsiteY110" fmla="*/ 30163 h 1114425"/>
                  <a:gd name="connsiteX111" fmla="*/ 411374 w 1233913"/>
                  <a:gd name="connsiteY111" fmla="*/ 83776 h 1114425"/>
                  <a:gd name="connsiteX112" fmla="*/ 463405 w 1233913"/>
                  <a:gd name="connsiteY112" fmla="*/ 138113 h 1114425"/>
                  <a:gd name="connsiteX113" fmla="*/ 516149 w 1233913"/>
                  <a:gd name="connsiteY113" fmla="*/ 83776 h 1114425"/>
                  <a:gd name="connsiteX114" fmla="*/ 463405 w 1233913"/>
                  <a:gd name="connsiteY114" fmla="*/ 30163 h 1114425"/>
                  <a:gd name="connsiteX115" fmla="*/ 463404 w 1233913"/>
                  <a:gd name="connsiteY115" fmla="*/ 0 h 1114425"/>
                  <a:gd name="connsiteX116" fmla="*/ 517108 w 1233913"/>
                  <a:gd name="connsiteY116" fmla="*/ 19171 h 1114425"/>
                  <a:gd name="connsiteX117" fmla="*/ 517825 w 1233913"/>
                  <a:gd name="connsiteY117" fmla="*/ 19881 h 1114425"/>
                  <a:gd name="connsiteX118" fmla="*/ 537874 w 1233913"/>
                  <a:gd name="connsiteY118" fmla="*/ 43311 h 1114425"/>
                  <a:gd name="connsiteX119" fmla="*/ 537874 w 1233913"/>
                  <a:gd name="connsiteY119" fmla="*/ 44021 h 1114425"/>
                  <a:gd name="connsiteX120" fmla="*/ 547899 w 1233913"/>
                  <a:gd name="connsiteY120" fmla="*/ 83783 h 1114425"/>
                  <a:gd name="connsiteX121" fmla="*/ 463404 w 1233913"/>
                  <a:gd name="connsiteY121" fmla="*/ 168275 h 1114425"/>
                  <a:gd name="connsiteX122" fmla="*/ 379624 w 1233913"/>
                  <a:gd name="connsiteY122" fmla="*/ 83783 h 1114425"/>
                  <a:gd name="connsiteX123" fmla="*/ 463404 w 1233913"/>
                  <a:gd name="connsiteY123" fmla="*/ 0 h 1114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1233913" h="1114425">
                    <a:moveTo>
                      <a:pt x="617750" y="358775"/>
                    </a:moveTo>
                    <a:cubicBezTo>
                      <a:pt x="571324" y="379497"/>
                      <a:pt x="524183" y="403792"/>
                      <a:pt x="477757" y="430231"/>
                    </a:cubicBezTo>
                    <a:cubicBezTo>
                      <a:pt x="431331" y="457384"/>
                      <a:pt x="387047" y="485966"/>
                      <a:pt x="346335" y="515977"/>
                    </a:cubicBezTo>
                    <a:cubicBezTo>
                      <a:pt x="345621" y="515977"/>
                      <a:pt x="345621" y="516692"/>
                      <a:pt x="344907" y="516692"/>
                    </a:cubicBezTo>
                    <a:cubicBezTo>
                      <a:pt x="334193" y="525267"/>
                      <a:pt x="322765" y="533127"/>
                      <a:pt x="312051" y="541701"/>
                    </a:cubicBezTo>
                    <a:cubicBezTo>
                      <a:pt x="311337" y="541701"/>
                      <a:pt x="311337" y="542416"/>
                      <a:pt x="310623" y="542416"/>
                    </a:cubicBezTo>
                    <a:cubicBezTo>
                      <a:pt x="257054" y="584575"/>
                      <a:pt x="208485" y="628877"/>
                      <a:pt x="168487" y="673894"/>
                    </a:cubicBezTo>
                    <a:cubicBezTo>
                      <a:pt x="208485" y="718197"/>
                      <a:pt x="257054" y="763214"/>
                      <a:pt x="310623" y="804658"/>
                    </a:cubicBezTo>
                    <a:cubicBezTo>
                      <a:pt x="311337" y="805372"/>
                      <a:pt x="311337" y="805372"/>
                      <a:pt x="312051" y="806087"/>
                    </a:cubicBezTo>
                    <a:cubicBezTo>
                      <a:pt x="322765" y="813947"/>
                      <a:pt x="334193" y="822522"/>
                      <a:pt x="344907" y="831096"/>
                    </a:cubicBezTo>
                    <a:cubicBezTo>
                      <a:pt x="345621" y="831096"/>
                      <a:pt x="345621" y="831096"/>
                      <a:pt x="346335" y="831811"/>
                    </a:cubicBezTo>
                    <a:cubicBezTo>
                      <a:pt x="387047" y="861822"/>
                      <a:pt x="431331" y="890404"/>
                      <a:pt x="477757" y="917558"/>
                    </a:cubicBezTo>
                    <a:cubicBezTo>
                      <a:pt x="524183" y="943996"/>
                      <a:pt x="571324" y="968291"/>
                      <a:pt x="617750" y="989013"/>
                    </a:cubicBezTo>
                    <a:cubicBezTo>
                      <a:pt x="664176" y="968291"/>
                      <a:pt x="711316" y="943996"/>
                      <a:pt x="757742" y="917558"/>
                    </a:cubicBezTo>
                    <a:cubicBezTo>
                      <a:pt x="804169" y="890404"/>
                      <a:pt x="848452" y="861822"/>
                      <a:pt x="889879" y="831811"/>
                    </a:cubicBezTo>
                    <a:cubicBezTo>
                      <a:pt x="901306" y="823236"/>
                      <a:pt x="912734" y="814662"/>
                      <a:pt x="924162" y="806087"/>
                    </a:cubicBezTo>
                    <a:cubicBezTo>
                      <a:pt x="977731" y="763928"/>
                      <a:pt x="1026300" y="718911"/>
                      <a:pt x="1067012" y="673894"/>
                    </a:cubicBezTo>
                    <a:cubicBezTo>
                      <a:pt x="1026300" y="628877"/>
                      <a:pt x="977731" y="583860"/>
                      <a:pt x="924162" y="541701"/>
                    </a:cubicBezTo>
                    <a:cubicBezTo>
                      <a:pt x="923448" y="541701"/>
                      <a:pt x="923448" y="540987"/>
                      <a:pt x="923448" y="540987"/>
                    </a:cubicBezTo>
                    <a:cubicBezTo>
                      <a:pt x="912020" y="532412"/>
                      <a:pt x="900592" y="524552"/>
                      <a:pt x="889879" y="515977"/>
                    </a:cubicBezTo>
                    <a:cubicBezTo>
                      <a:pt x="889164" y="515977"/>
                      <a:pt x="889164" y="515263"/>
                      <a:pt x="889164" y="515263"/>
                    </a:cubicBezTo>
                    <a:cubicBezTo>
                      <a:pt x="847738" y="485251"/>
                      <a:pt x="803454" y="457384"/>
                      <a:pt x="757742" y="430231"/>
                    </a:cubicBezTo>
                    <a:cubicBezTo>
                      <a:pt x="711316" y="403792"/>
                      <a:pt x="664176" y="379497"/>
                      <a:pt x="617750" y="358775"/>
                    </a:cubicBezTo>
                    <a:close/>
                    <a:moveTo>
                      <a:pt x="990025" y="266700"/>
                    </a:moveTo>
                    <a:cubicBezTo>
                      <a:pt x="953531" y="266700"/>
                      <a:pt x="914890" y="270977"/>
                      <a:pt x="872670" y="278104"/>
                    </a:cubicBezTo>
                    <a:cubicBezTo>
                      <a:pt x="871955" y="278104"/>
                      <a:pt x="871955" y="278104"/>
                      <a:pt x="871955" y="278104"/>
                    </a:cubicBezTo>
                    <a:cubicBezTo>
                      <a:pt x="861937" y="280242"/>
                      <a:pt x="851919" y="282381"/>
                      <a:pt x="841901" y="284519"/>
                    </a:cubicBezTo>
                    <a:cubicBezTo>
                      <a:pt x="841185" y="284519"/>
                      <a:pt x="841185" y="284519"/>
                      <a:pt x="841185" y="284519"/>
                    </a:cubicBezTo>
                    <a:cubicBezTo>
                      <a:pt x="781792" y="297349"/>
                      <a:pt x="719537" y="317306"/>
                      <a:pt x="655850" y="343678"/>
                    </a:cubicBezTo>
                    <a:cubicBezTo>
                      <a:pt x="694491" y="361497"/>
                      <a:pt x="733848" y="382166"/>
                      <a:pt x="772490" y="404262"/>
                    </a:cubicBezTo>
                    <a:cubicBezTo>
                      <a:pt x="811131" y="427070"/>
                      <a:pt x="848341" y="450591"/>
                      <a:pt x="884120" y="474825"/>
                    </a:cubicBezTo>
                    <a:cubicBezTo>
                      <a:pt x="896285" y="483378"/>
                      <a:pt x="907734" y="491931"/>
                      <a:pt x="919183" y="500484"/>
                    </a:cubicBezTo>
                    <a:cubicBezTo>
                      <a:pt x="982154" y="547526"/>
                      <a:pt x="1039400" y="598844"/>
                      <a:pt x="1087344" y="650875"/>
                    </a:cubicBezTo>
                    <a:cubicBezTo>
                      <a:pt x="1099509" y="636620"/>
                      <a:pt x="1110242" y="622365"/>
                      <a:pt x="1120976" y="608823"/>
                    </a:cubicBezTo>
                    <a:cubicBezTo>
                      <a:pt x="1198974" y="501909"/>
                      <a:pt x="1222588" y="408538"/>
                      <a:pt x="1186094" y="345816"/>
                    </a:cubicBezTo>
                    <a:cubicBezTo>
                      <a:pt x="1167489" y="313742"/>
                      <a:pt x="1133857" y="290934"/>
                      <a:pt x="1086628" y="278104"/>
                    </a:cubicBezTo>
                    <a:cubicBezTo>
                      <a:pt x="1058005" y="270264"/>
                      <a:pt x="1025089" y="266700"/>
                      <a:pt x="990025" y="266700"/>
                    </a:cubicBezTo>
                    <a:close/>
                    <a:moveTo>
                      <a:pt x="244825" y="266700"/>
                    </a:moveTo>
                    <a:cubicBezTo>
                      <a:pt x="209859" y="266700"/>
                      <a:pt x="177035" y="270264"/>
                      <a:pt x="148492" y="278104"/>
                    </a:cubicBezTo>
                    <a:cubicBezTo>
                      <a:pt x="101396" y="290934"/>
                      <a:pt x="67858" y="313742"/>
                      <a:pt x="49305" y="345816"/>
                    </a:cubicBezTo>
                    <a:cubicBezTo>
                      <a:pt x="12913" y="408538"/>
                      <a:pt x="36461" y="501909"/>
                      <a:pt x="114241" y="608823"/>
                    </a:cubicBezTo>
                    <a:cubicBezTo>
                      <a:pt x="124944" y="622365"/>
                      <a:pt x="135648" y="636620"/>
                      <a:pt x="147779" y="650875"/>
                    </a:cubicBezTo>
                    <a:cubicBezTo>
                      <a:pt x="195588" y="598844"/>
                      <a:pt x="252674" y="547526"/>
                      <a:pt x="316182" y="500484"/>
                    </a:cubicBezTo>
                    <a:cubicBezTo>
                      <a:pt x="327599" y="491931"/>
                      <a:pt x="339016" y="483378"/>
                      <a:pt x="351147" y="474825"/>
                    </a:cubicBezTo>
                    <a:cubicBezTo>
                      <a:pt x="386112" y="450591"/>
                      <a:pt x="423218" y="427070"/>
                      <a:pt x="461751" y="404262"/>
                    </a:cubicBezTo>
                    <a:cubicBezTo>
                      <a:pt x="500284" y="382166"/>
                      <a:pt x="539530" y="361497"/>
                      <a:pt x="578063" y="343678"/>
                    </a:cubicBezTo>
                    <a:cubicBezTo>
                      <a:pt x="514555" y="317306"/>
                      <a:pt x="451761" y="297349"/>
                      <a:pt x="392534" y="284519"/>
                    </a:cubicBezTo>
                    <a:cubicBezTo>
                      <a:pt x="392534" y="284519"/>
                      <a:pt x="392534" y="284519"/>
                      <a:pt x="391821" y="284519"/>
                    </a:cubicBezTo>
                    <a:cubicBezTo>
                      <a:pt x="381831" y="282381"/>
                      <a:pt x="371841" y="280242"/>
                      <a:pt x="362564" y="278104"/>
                    </a:cubicBezTo>
                    <a:cubicBezTo>
                      <a:pt x="361851" y="278104"/>
                      <a:pt x="361851" y="278104"/>
                      <a:pt x="361137" y="278104"/>
                    </a:cubicBezTo>
                    <a:cubicBezTo>
                      <a:pt x="319750" y="270977"/>
                      <a:pt x="280503" y="266700"/>
                      <a:pt x="244825" y="266700"/>
                    </a:cubicBezTo>
                    <a:close/>
                    <a:moveTo>
                      <a:pt x="990761" y="234950"/>
                    </a:moveTo>
                    <a:cubicBezTo>
                      <a:pt x="1028642" y="234950"/>
                      <a:pt x="1063664" y="239237"/>
                      <a:pt x="1094397" y="247810"/>
                    </a:cubicBezTo>
                    <a:cubicBezTo>
                      <a:pt x="1150146" y="262813"/>
                      <a:pt x="1190171" y="289962"/>
                      <a:pt x="1213042" y="329971"/>
                    </a:cubicBezTo>
                    <a:cubicBezTo>
                      <a:pt x="1255926" y="404272"/>
                      <a:pt x="1232340" y="510009"/>
                      <a:pt x="1145858" y="627892"/>
                    </a:cubicBezTo>
                    <a:cubicBezTo>
                      <a:pt x="1090109" y="704337"/>
                      <a:pt x="1011488" y="780067"/>
                      <a:pt x="919288" y="849368"/>
                    </a:cubicBezTo>
                    <a:cubicBezTo>
                      <a:pt x="918573" y="849368"/>
                      <a:pt x="918573" y="849368"/>
                      <a:pt x="918573" y="849368"/>
                    </a:cubicBezTo>
                    <a:cubicBezTo>
                      <a:pt x="907138" y="857941"/>
                      <a:pt x="894987" y="866515"/>
                      <a:pt x="884266" y="875088"/>
                    </a:cubicBezTo>
                    <a:cubicBezTo>
                      <a:pt x="883552" y="875088"/>
                      <a:pt x="883552" y="875088"/>
                      <a:pt x="883552" y="875088"/>
                    </a:cubicBezTo>
                    <a:cubicBezTo>
                      <a:pt x="847815" y="899379"/>
                      <a:pt x="810649" y="922955"/>
                      <a:pt x="772768" y="945817"/>
                    </a:cubicBezTo>
                    <a:cubicBezTo>
                      <a:pt x="734173" y="967965"/>
                      <a:pt x="694863" y="988684"/>
                      <a:pt x="656267" y="1006545"/>
                    </a:cubicBezTo>
                    <a:cubicBezTo>
                      <a:pt x="719878" y="1032979"/>
                      <a:pt x="782775" y="1052269"/>
                      <a:pt x="842097" y="1065129"/>
                    </a:cubicBezTo>
                    <a:cubicBezTo>
                      <a:pt x="852818" y="1067272"/>
                      <a:pt x="862824" y="1069415"/>
                      <a:pt x="872831" y="1071559"/>
                    </a:cubicBezTo>
                    <a:cubicBezTo>
                      <a:pt x="914285" y="1079418"/>
                      <a:pt x="952881" y="1083704"/>
                      <a:pt x="989332" y="1083704"/>
                    </a:cubicBezTo>
                    <a:cubicBezTo>
                      <a:pt x="1025068" y="1083704"/>
                      <a:pt x="1057946" y="1079418"/>
                      <a:pt x="1086535" y="1071559"/>
                    </a:cubicBezTo>
                    <a:cubicBezTo>
                      <a:pt x="1133707" y="1058699"/>
                      <a:pt x="1167300" y="1036551"/>
                      <a:pt x="1185883" y="1004401"/>
                    </a:cubicBezTo>
                    <a:cubicBezTo>
                      <a:pt x="1193745" y="990827"/>
                      <a:pt x="1198748" y="975824"/>
                      <a:pt x="1200892" y="960106"/>
                    </a:cubicBezTo>
                    <a:cubicBezTo>
                      <a:pt x="1200892" y="960106"/>
                      <a:pt x="1200892" y="960106"/>
                      <a:pt x="1201607" y="960106"/>
                    </a:cubicBezTo>
                    <a:cubicBezTo>
                      <a:pt x="1201607" y="960106"/>
                      <a:pt x="1201607" y="960106"/>
                      <a:pt x="1205180" y="960106"/>
                    </a:cubicBezTo>
                    <a:cubicBezTo>
                      <a:pt x="1214472" y="960106"/>
                      <a:pt x="1223763" y="958677"/>
                      <a:pt x="1233055" y="955820"/>
                    </a:cubicBezTo>
                    <a:cubicBezTo>
                      <a:pt x="1230911" y="979396"/>
                      <a:pt x="1224478" y="1000829"/>
                      <a:pt x="1213042" y="1020119"/>
                    </a:cubicBezTo>
                    <a:cubicBezTo>
                      <a:pt x="1190171" y="1059413"/>
                      <a:pt x="1150146" y="1087276"/>
                      <a:pt x="1094397" y="1102280"/>
                    </a:cubicBezTo>
                    <a:cubicBezTo>
                      <a:pt x="1063664" y="1110853"/>
                      <a:pt x="1029357" y="1114425"/>
                      <a:pt x="991476" y="1114425"/>
                    </a:cubicBezTo>
                    <a:cubicBezTo>
                      <a:pt x="951451" y="1114425"/>
                      <a:pt x="908567" y="1110139"/>
                      <a:pt x="862824" y="1101565"/>
                    </a:cubicBezTo>
                    <a:cubicBezTo>
                      <a:pt x="862110" y="1101565"/>
                      <a:pt x="862110" y="1101565"/>
                      <a:pt x="862110" y="1101565"/>
                    </a:cubicBezTo>
                    <a:cubicBezTo>
                      <a:pt x="852104" y="1100136"/>
                      <a:pt x="842097" y="1097993"/>
                      <a:pt x="832091" y="1095135"/>
                    </a:cubicBezTo>
                    <a:cubicBezTo>
                      <a:pt x="831376" y="1095135"/>
                      <a:pt x="831376" y="1095135"/>
                      <a:pt x="831376" y="1095135"/>
                    </a:cubicBezTo>
                    <a:cubicBezTo>
                      <a:pt x="762762" y="1079418"/>
                      <a:pt x="690574" y="1055127"/>
                      <a:pt x="616957" y="1024406"/>
                    </a:cubicBezTo>
                    <a:cubicBezTo>
                      <a:pt x="543340" y="1055127"/>
                      <a:pt x="470437" y="1079418"/>
                      <a:pt x="401823" y="1095135"/>
                    </a:cubicBezTo>
                    <a:cubicBezTo>
                      <a:pt x="401823" y="1095850"/>
                      <a:pt x="401823" y="1095850"/>
                      <a:pt x="401823" y="1095850"/>
                    </a:cubicBezTo>
                    <a:cubicBezTo>
                      <a:pt x="391102" y="1098707"/>
                      <a:pt x="381096" y="1100851"/>
                      <a:pt x="371805" y="1101565"/>
                    </a:cubicBezTo>
                    <a:cubicBezTo>
                      <a:pt x="371090" y="1102280"/>
                      <a:pt x="371090" y="1102280"/>
                      <a:pt x="371090" y="1102280"/>
                    </a:cubicBezTo>
                    <a:cubicBezTo>
                      <a:pt x="325347" y="1110853"/>
                      <a:pt x="281749" y="1114425"/>
                      <a:pt x="242438" y="1114425"/>
                    </a:cubicBezTo>
                    <a:cubicBezTo>
                      <a:pt x="204558" y="1114425"/>
                      <a:pt x="170251" y="1110853"/>
                      <a:pt x="139517" y="1102280"/>
                    </a:cubicBezTo>
                    <a:cubicBezTo>
                      <a:pt x="83768" y="1087276"/>
                      <a:pt x="43743" y="1059413"/>
                      <a:pt x="20872" y="1020119"/>
                    </a:cubicBezTo>
                    <a:cubicBezTo>
                      <a:pt x="9436" y="1000829"/>
                      <a:pt x="3004" y="979396"/>
                      <a:pt x="860" y="955820"/>
                    </a:cubicBezTo>
                    <a:cubicBezTo>
                      <a:pt x="10866" y="958677"/>
                      <a:pt x="20872" y="960106"/>
                      <a:pt x="30164" y="960106"/>
                    </a:cubicBezTo>
                    <a:cubicBezTo>
                      <a:pt x="30164" y="960106"/>
                      <a:pt x="30164" y="960106"/>
                      <a:pt x="30878" y="960106"/>
                    </a:cubicBezTo>
                    <a:cubicBezTo>
                      <a:pt x="31593" y="960106"/>
                      <a:pt x="32308" y="960106"/>
                      <a:pt x="33022" y="960106"/>
                    </a:cubicBezTo>
                    <a:cubicBezTo>
                      <a:pt x="35167" y="975824"/>
                      <a:pt x="40885" y="990827"/>
                      <a:pt x="48032" y="1004401"/>
                    </a:cubicBezTo>
                    <a:cubicBezTo>
                      <a:pt x="66615" y="1036551"/>
                      <a:pt x="100207" y="1058699"/>
                      <a:pt x="147379" y="1071559"/>
                    </a:cubicBezTo>
                    <a:cubicBezTo>
                      <a:pt x="175969" y="1079418"/>
                      <a:pt x="208846" y="1083704"/>
                      <a:pt x="243868" y="1083704"/>
                    </a:cubicBezTo>
                    <a:cubicBezTo>
                      <a:pt x="280319" y="1083704"/>
                      <a:pt x="319629" y="1078703"/>
                      <a:pt x="361798" y="1071559"/>
                    </a:cubicBezTo>
                    <a:cubicBezTo>
                      <a:pt x="371805" y="1069415"/>
                      <a:pt x="381096" y="1067272"/>
                      <a:pt x="391817" y="1065129"/>
                    </a:cubicBezTo>
                    <a:cubicBezTo>
                      <a:pt x="451140" y="1052269"/>
                      <a:pt x="514036" y="1032979"/>
                      <a:pt x="577647" y="1006545"/>
                    </a:cubicBezTo>
                    <a:cubicBezTo>
                      <a:pt x="539052" y="988684"/>
                      <a:pt x="499741" y="967965"/>
                      <a:pt x="461146" y="945817"/>
                    </a:cubicBezTo>
                    <a:cubicBezTo>
                      <a:pt x="422551" y="922955"/>
                      <a:pt x="385385" y="899379"/>
                      <a:pt x="350363" y="875088"/>
                    </a:cubicBezTo>
                    <a:cubicBezTo>
                      <a:pt x="338212" y="866515"/>
                      <a:pt x="326777" y="857941"/>
                      <a:pt x="315341" y="849368"/>
                    </a:cubicBezTo>
                    <a:cubicBezTo>
                      <a:pt x="251730" y="802215"/>
                      <a:pt x="194552" y="750775"/>
                      <a:pt x="146665" y="698621"/>
                    </a:cubicBezTo>
                    <a:cubicBezTo>
                      <a:pt x="146665" y="698621"/>
                      <a:pt x="146665" y="698621"/>
                      <a:pt x="145950" y="698621"/>
                    </a:cubicBezTo>
                    <a:cubicBezTo>
                      <a:pt x="139517" y="690763"/>
                      <a:pt x="132370" y="682904"/>
                      <a:pt x="125937" y="675045"/>
                    </a:cubicBezTo>
                    <a:cubicBezTo>
                      <a:pt x="125937" y="675045"/>
                      <a:pt x="125937" y="675045"/>
                      <a:pt x="125223" y="675045"/>
                    </a:cubicBezTo>
                    <a:cubicBezTo>
                      <a:pt x="112358" y="659327"/>
                      <a:pt x="99492" y="643610"/>
                      <a:pt x="88057" y="627892"/>
                    </a:cubicBezTo>
                    <a:cubicBezTo>
                      <a:pt x="1574" y="510009"/>
                      <a:pt x="-22012" y="404272"/>
                      <a:pt x="20872" y="329971"/>
                    </a:cubicBezTo>
                    <a:cubicBezTo>
                      <a:pt x="43743" y="289962"/>
                      <a:pt x="83768" y="262813"/>
                      <a:pt x="139517" y="247810"/>
                    </a:cubicBezTo>
                    <a:cubicBezTo>
                      <a:pt x="170251" y="239237"/>
                      <a:pt x="205273" y="235665"/>
                      <a:pt x="243153" y="235665"/>
                    </a:cubicBezTo>
                    <a:cubicBezTo>
                      <a:pt x="349648" y="235665"/>
                      <a:pt x="481873" y="267100"/>
                      <a:pt x="616957" y="325684"/>
                    </a:cubicBezTo>
                    <a:cubicBezTo>
                      <a:pt x="690574" y="294249"/>
                      <a:pt x="763477" y="269958"/>
                      <a:pt x="832091" y="254954"/>
                    </a:cubicBezTo>
                    <a:cubicBezTo>
                      <a:pt x="842812" y="252097"/>
                      <a:pt x="852818" y="249953"/>
                      <a:pt x="862824" y="248524"/>
                    </a:cubicBezTo>
                    <a:cubicBezTo>
                      <a:pt x="907853" y="239951"/>
                      <a:pt x="951451" y="234950"/>
                      <a:pt x="990761" y="234950"/>
                    </a:cubicBezTo>
                    <a:close/>
                    <a:moveTo>
                      <a:pt x="463405" y="30163"/>
                    </a:moveTo>
                    <a:cubicBezTo>
                      <a:pt x="434895" y="30163"/>
                      <a:pt x="411374" y="54072"/>
                      <a:pt x="411374" y="83776"/>
                    </a:cubicBezTo>
                    <a:cubicBezTo>
                      <a:pt x="411374" y="113480"/>
                      <a:pt x="434895" y="138113"/>
                      <a:pt x="463405" y="138113"/>
                    </a:cubicBezTo>
                    <a:cubicBezTo>
                      <a:pt x="493341" y="138113"/>
                      <a:pt x="516149" y="113480"/>
                      <a:pt x="516149" y="83776"/>
                    </a:cubicBezTo>
                    <a:cubicBezTo>
                      <a:pt x="516149" y="54072"/>
                      <a:pt x="493341" y="30163"/>
                      <a:pt x="463405" y="30163"/>
                    </a:cubicBezTo>
                    <a:close/>
                    <a:moveTo>
                      <a:pt x="463404" y="0"/>
                    </a:moveTo>
                    <a:cubicBezTo>
                      <a:pt x="484886" y="0"/>
                      <a:pt x="503503" y="7100"/>
                      <a:pt x="517108" y="19171"/>
                    </a:cubicBezTo>
                    <a:cubicBezTo>
                      <a:pt x="517825" y="19881"/>
                      <a:pt x="517825" y="19881"/>
                      <a:pt x="517825" y="19881"/>
                    </a:cubicBezTo>
                    <a:cubicBezTo>
                      <a:pt x="525701" y="26271"/>
                      <a:pt x="532862" y="34081"/>
                      <a:pt x="537874" y="43311"/>
                    </a:cubicBezTo>
                    <a:cubicBezTo>
                      <a:pt x="537874" y="43311"/>
                      <a:pt x="537874" y="43311"/>
                      <a:pt x="537874" y="44021"/>
                    </a:cubicBezTo>
                    <a:cubicBezTo>
                      <a:pt x="544319" y="56092"/>
                      <a:pt x="547899" y="69582"/>
                      <a:pt x="547899" y="83783"/>
                    </a:cubicBezTo>
                    <a:cubicBezTo>
                      <a:pt x="547899" y="129934"/>
                      <a:pt x="509948" y="168275"/>
                      <a:pt x="463404" y="168275"/>
                    </a:cubicBezTo>
                    <a:cubicBezTo>
                      <a:pt x="417576" y="168275"/>
                      <a:pt x="379624" y="129934"/>
                      <a:pt x="379624" y="83783"/>
                    </a:cubicBezTo>
                    <a:cubicBezTo>
                      <a:pt x="379624" y="37631"/>
                      <a:pt x="417576" y="0"/>
                      <a:pt x="463404"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t" anchorCtr="0" compatLnSpc="1">
                <a:prstTxWarp prst="textNoShape">
                  <a:avLst/>
                </a:prstTxWarp>
                <a:noAutofit/>
              </a:bodyPr>
              <a:lstStyle/>
              <a:p>
                <a:endParaRPr lang="en-US" sz="1559">
                  <a:sym typeface="+mn-lt"/>
                </a:endParaRPr>
              </a:p>
            </p:txBody>
          </p:sp>
          <p:sp>
            <p:nvSpPr>
              <p:cNvPr id="69" name="Freeform 6">
                <a:extLst>
                  <a:ext uri="{FF2B5EF4-FFF2-40B4-BE49-F238E27FC236}">
                    <a16:creationId xmlns:a16="http://schemas.microsoft.com/office/drawing/2014/main" id="{5117AFCC-937E-44E0-B92C-35A41A4584AD}"/>
                  </a:ext>
                </a:extLst>
              </p:cNvPr>
              <p:cNvSpPr>
                <a:spLocks/>
              </p:cNvSpPr>
              <p:nvPr/>
            </p:nvSpPr>
            <p:spPr bwMode="auto">
              <a:xfrm>
                <a:off x="5424487" y="2740818"/>
                <a:ext cx="1343026" cy="1377950"/>
              </a:xfrm>
              <a:custGeom>
                <a:avLst/>
                <a:gdLst>
                  <a:gd name="connsiteX0" fmla="*/ 468123 w 1343026"/>
                  <a:gd name="connsiteY0" fmla="*/ 1138237 h 1377950"/>
                  <a:gd name="connsiteX1" fmla="*/ 476687 w 1343026"/>
                  <a:gd name="connsiteY1" fmla="*/ 1158988 h 1377950"/>
                  <a:gd name="connsiteX2" fmla="*/ 671513 w 1343026"/>
                  <a:gd name="connsiteY2" fmla="*/ 1346465 h 1377950"/>
                  <a:gd name="connsiteX3" fmla="*/ 866338 w 1343026"/>
                  <a:gd name="connsiteY3" fmla="*/ 1158988 h 1377950"/>
                  <a:gd name="connsiteX4" fmla="*/ 874902 w 1343026"/>
                  <a:gd name="connsiteY4" fmla="*/ 1138237 h 1377950"/>
                  <a:gd name="connsiteX5" fmla="*/ 879184 w 1343026"/>
                  <a:gd name="connsiteY5" fmla="*/ 1138953 h 1377950"/>
                  <a:gd name="connsiteX6" fmla="*/ 904875 w 1343026"/>
                  <a:gd name="connsiteY6" fmla="*/ 1144677 h 1377950"/>
                  <a:gd name="connsiteX7" fmla="*/ 894171 w 1343026"/>
                  <a:gd name="connsiteY7" fmla="*/ 1171153 h 1377950"/>
                  <a:gd name="connsiteX8" fmla="*/ 671513 w 1343026"/>
                  <a:gd name="connsiteY8" fmla="*/ 1377950 h 1377950"/>
                  <a:gd name="connsiteX9" fmla="*/ 448855 w 1343026"/>
                  <a:gd name="connsiteY9" fmla="*/ 1171153 h 1377950"/>
                  <a:gd name="connsiteX10" fmla="*/ 438150 w 1343026"/>
                  <a:gd name="connsiteY10" fmla="*/ 1145393 h 1377950"/>
                  <a:gd name="connsiteX11" fmla="*/ 465269 w 1343026"/>
                  <a:gd name="connsiteY11" fmla="*/ 1138953 h 1377950"/>
                  <a:gd name="connsiteX12" fmla="*/ 468123 w 1343026"/>
                  <a:gd name="connsiteY12" fmla="*/ 1138237 h 1377950"/>
                  <a:gd name="connsiteX13" fmla="*/ 968375 w 1343026"/>
                  <a:gd name="connsiteY13" fmla="*/ 906462 h 1377950"/>
                  <a:gd name="connsiteX14" fmla="*/ 935904 w 1343026"/>
                  <a:gd name="connsiteY14" fmla="*/ 1054100 h 1377950"/>
                  <a:gd name="connsiteX15" fmla="*/ 933739 w 1343026"/>
                  <a:gd name="connsiteY15" fmla="*/ 1053387 h 1377950"/>
                  <a:gd name="connsiteX16" fmla="*/ 904875 w 1343026"/>
                  <a:gd name="connsiteY16" fmla="*/ 1047681 h 1377950"/>
                  <a:gd name="connsiteX17" fmla="*/ 931574 w 1343026"/>
                  <a:gd name="connsiteY17" fmla="*/ 930712 h 1377950"/>
                  <a:gd name="connsiteX18" fmla="*/ 956830 w 1343026"/>
                  <a:gd name="connsiteY18" fmla="*/ 914307 h 1377950"/>
                  <a:gd name="connsiteX19" fmla="*/ 957551 w 1343026"/>
                  <a:gd name="connsiteY19" fmla="*/ 913594 h 1377950"/>
                  <a:gd name="connsiteX20" fmla="*/ 958273 w 1343026"/>
                  <a:gd name="connsiteY20" fmla="*/ 913594 h 1377950"/>
                  <a:gd name="connsiteX21" fmla="*/ 968375 w 1343026"/>
                  <a:gd name="connsiteY21" fmla="*/ 906462 h 1377950"/>
                  <a:gd name="connsiteX22" fmla="*/ 376238 w 1343026"/>
                  <a:gd name="connsiteY22" fmla="*/ 904875 h 1377950"/>
                  <a:gd name="connsiteX23" fmla="*/ 388198 w 1343026"/>
                  <a:gd name="connsiteY23" fmla="*/ 914157 h 1377950"/>
                  <a:gd name="connsiteX24" fmla="*/ 388902 w 1343026"/>
                  <a:gd name="connsiteY24" fmla="*/ 914157 h 1377950"/>
                  <a:gd name="connsiteX25" fmla="*/ 411416 w 1343026"/>
                  <a:gd name="connsiteY25" fmla="*/ 929865 h 1377950"/>
                  <a:gd name="connsiteX26" fmla="*/ 438151 w 1343026"/>
                  <a:gd name="connsiteY26" fmla="*/ 1047674 h 1377950"/>
                  <a:gd name="connsiteX27" fmla="*/ 411416 w 1343026"/>
                  <a:gd name="connsiteY27" fmla="*/ 1053386 h 1377950"/>
                  <a:gd name="connsiteX28" fmla="*/ 407898 w 1343026"/>
                  <a:gd name="connsiteY28" fmla="*/ 1054100 h 1377950"/>
                  <a:gd name="connsiteX29" fmla="*/ 376238 w 1343026"/>
                  <a:gd name="connsiteY29" fmla="*/ 904875 h 1377950"/>
                  <a:gd name="connsiteX30" fmla="*/ 1257300 w 1343026"/>
                  <a:gd name="connsiteY30" fmla="*/ 803275 h 1377950"/>
                  <a:gd name="connsiteX31" fmla="*/ 1203325 w 1343026"/>
                  <a:gd name="connsiteY31" fmla="*/ 856457 h 1377950"/>
                  <a:gd name="connsiteX32" fmla="*/ 1257300 w 1343026"/>
                  <a:gd name="connsiteY32" fmla="*/ 909639 h 1377950"/>
                  <a:gd name="connsiteX33" fmla="*/ 1311275 w 1343026"/>
                  <a:gd name="connsiteY33" fmla="*/ 856457 h 1377950"/>
                  <a:gd name="connsiteX34" fmla="*/ 1257300 w 1343026"/>
                  <a:gd name="connsiteY34" fmla="*/ 803275 h 1377950"/>
                  <a:gd name="connsiteX35" fmla="*/ 85725 w 1343026"/>
                  <a:gd name="connsiteY35" fmla="*/ 803275 h 1377950"/>
                  <a:gd name="connsiteX36" fmla="*/ 31750 w 1343026"/>
                  <a:gd name="connsiteY36" fmla="*/ 856457 h 1377950"/>
                  <a:gd name="connsiteX37" fmla="*/ 85725 w 1343026"/>
                  <a:gd name="connsiteY37" fmla="*/ 909639 h 1377950"/>
                  <a:gd name="connsiteX38" fmla="*/ 139700 w 1343026"/>
                  <a:gd name="connsiteY38" fmla="*/ 856457 h 1377950"/>
                  <a:gd name="connsiteX39" fmla="*/ 85725 w 1343026"/>
                  <a:gd name="connsiteY39" fmla="*/ 803275 h 1377950"/>
                  <a:gd name="connsiteX40" fmla="*/ 1257739 w 1343026"/>
                  <a:gd name="connsiteY40" fmla="*/ 773112 h 1377950"/>
                  <a:gd name="connsiteX41" fmla="*/ 1343026 w 1343026"/>
                  <a:gd name="connsiteY41" fmla="*/ 857605 h 1377950"/>
                  <a:gd name="connsiteX42" fmla="*/ 1319572 w 1343026"/>
                  <a:gd name="connsiteY42" fmla="*/ 915116 h 1377950"/>
                  <a:gd name="connsiteX43" fmla="*/ 1304647 w 1343026"/>
                  <a:gd name="connsiteY43" fmla="*/ 927187 h 1377950"/>
                  <a:gd name="connsiteX44" fmla="*/ 1289011 w 1343026"/>
                  <a:gd name="connsiteY44" fmla="*/ 935707 h 1377950"/>
                  <a:gd name="connsiteX45" fmla="*/ 1261293 w 1343026"/>
                  <a:gd name="connsiteY45" fmla="*/ 941387 h 1377950"/>
                  <a:gd name="connsiteX46" fmla="*/ 1257739 w 1343026"/>
                  <a:gd name="connsiteY46" fmla="*/ 941387 h 1377950"/>
                  <a:gd name="connsiteX47" fmla="*/ 1242814 w 1343026"/>
                  <a:gd name="connsiteY47" fmla="*/ 939967 h 1377950"/>
                  <a:gd name="connsiteX48" fmla="*/ 1227178 w 1343026"/>
                  <a:gd name="connsiteY48" fmla="*/ 935707 h 1377950"/>
                  <a:gd name="connsiteX49" fmla="*/ 1173163 w 1343026"/>
                  <a:gd name="connsiteY49" fmla="*/ 857605 h 1377950"/>
                  <a:gd name="connsiteX50" fmla="*/ 1257739 w 1343026"/>
                  <a:gd name="connsiteY50" fmla="*/ 773112 h 1377950"/>
                  <a:gd name="connsiteX51" fmla="*/ 86084 w 1343026"/>
                  <a:gd name="connsiteY51" fmla="*/ 773112 h 1377950"/>
                  <a:gd name="connsiteX52" fmla="*/ 171450 w 1343026"/>
                  <a:gd name="connsiteY52" fmla="*/ 857605 h 1377950"/>
                  <a:gd name="connsiteX53" fmla="*/ 119083 w 1343026"/>
                  <a:gd name="connsiteY53" fmla="*/ 934997 h 1377950"/>
                  <a:gd name="connsiteX54" fmla="*/ 102583 w 1343026"/>
                  <a:gd name="connsiteY54" fmla="*/ 939967 h 1377950"/>
                  <a:gd name="connsiteX55" fmla="*/ 86084 w 1343026"/>
                  <a:gd name="connsiteY55" fmla="*/ 941387 h 1377950"/>
                  <a:gd name="connsiteX56" fmla="*/ 85367 w 1343026"/>
                  <a:gd name="connsiteY56" fmla="*/ 941387 h 1377950"/>
                  <a:gd name="connsiteX57" fmla="*/ 54520 w 1343026"/>
                  <a:gd name="connsiteY57" fmla="*/ 935707 h 1377950"/>
                  <a:gd name="connsiteX58" fmla="*/ 40173 w 1343026"/>
                  <a:gd name="connsiteY58" fmla="*/ 928607 h 1377950"/>
                  <a:gd name="connsiteX59" fmla="*/ 25108 w 1343026"/>
                  <a:gd name="connsiteY59" fmla="*/ 916536 h 1377950"/>
                  <a:gd name="connsiteX60" fmla="*/ 0 w 1343026"/>
                  <a:gd name="connsiteY60" fmla="*/ 857605 h 1377950"/>
                  <a:gd name="connsiteX61" fmla="*/ 86084 w 1343026"/>
                  <a:gd name="connsiteY61" fmla="*/ 773112 h 1377950"/>
                  <a:gd name="connsiteX62" fmla="*/ 396160 w 1343026"/>
                  <a:gd name="connsiteY62" fmla="*/ 574675 h 1377950"/>
                  <a:gd name="connsiteX63" fmla="*/ 391864 w 1343026"/>
                  <a:gd name="connsiteY63" fmla="*/ 688975 h 1377950"/>
                  <a:gd name="connsiteX64" fmla="*/ 396876 w 1343026"/>
                  <a:gd name="connsiteY64" fmla="*/ 803275 h 1377950"/>
                  <a:gd name="connsiteX65" fmla="*/ 386137 w 1343026"/>
                  <a:gd name="connsiteY65" fmla="*/ 796131 h 1377950"/>
                  <a:gd name="connsiteX66" fmla="*/ 363227 w 1343026"/>
                  <a:gd name="connsiteY66" fmla="*/ 777557 h 1377950"/>
                  <a:gd name="connsiteX67" fmla="*/ 360363 w 1343026"/>
                  <a:gd name="connsiteY67" fmla="*/ 688975 h 1377950"/>
                  <a:gd name="connsiteX68" fmla="*/ 363227 w 1343026"/>
                  <a:gd name="connsiteY68" fmla="*/ 601107 h 1377950"/>
                  <a:gd name="connsiteX69" fmla="*/ 386137 w 1343026"/>
                  <a:gd name="connsiteY69" fmla="*/ 582533 h 1377950"/>
                  <a:gd name="connsiteX70" fmla="*/ 396160 w 1343026"/>
                  <a:gd name="connsiteY70" fmla="*/ 574675 h 1377950"/>
                  <a:gd name="connsiteX71" fmla="*/ 946150 w 1343026"/>
                  <a:gd name="connsiteY71" fmla="*/ 573087 h 1377950"/>
                  <a:gd name="connsiteX72" fmla="*/ 958321 w 1343026"/>
                  <a:gd name="connsiteY72" fmla="*/ 582386 h 1377950"/>
                  <a:gd name="connsiteX73" fmla="*/ 979799 w 1343026"/>
                  <a:gd name="connsiteY73" fmla="*/ 599555 h 1377950"/>
                  <a:gd name="connsiteX74" fmla="*/ 982663 w 1343026"/>
                  <a:gd name="connsiteY74" fmla="*/ 688974 h 1377950"/>
                  <a:gd name="connsiteX75" fmla="*/ 979799 w 1343026"/>
                  <a:gd name="connsiteY75" fmla="*/ 779109 h 1377950"/>
                  <a:gd name="connsiteX76" fmla="*/ 958321 w 1343026"/>
                  <a:gd name="connsiteY76" fmla="*/ 796278 h 1377950"/>
                  <a:gd name="connsiteX77" fmla="*/ 946150 w 1343026"/>
                  <a:gd name="connsiteY77" fmla="*/ 804862 h 1377950"/>
                  <a:gd name="connsiteX78" fmla="*/ 951162 w 1343026"/>
                  <a:gd name="connsiteY78" fmla="*/ 688974 h 1377950"/>
                  <a:gd name="connsiteX79" fmla="*/ 946150 w 1343026"/>
                  <a:gd name="connsiteY79" fmla="*/ 573087 h 1377950"/>
                  <a:gd name="connsiteX80" fmla="*/ 936625 w 1343026"/>
                  <a:gd name="connsiteY80" fmla="*/ 322262 h 1377950"/>
                  <a:gd name="connsiteX81" fmla="*/ 968375 w 1343026"/>
                  <a:gd name="connsiteY81" fmla="*/ 471487 h 1377950"/>
                  <a:gd name="connsiteX82" fmla="*/ 957551 w 1343026"/>
                  <a:gd name="connsiteY82" fmla="*/ 464347 h 1377950"/>
                  <a:gd name="connsiteX83" fmla="*/ 956830 w 1343026"/>
                  <a:gd name="connsiteY83" fmla="*/ 463633 h 1377950"/>
                  <a:gd name="connsiteX84" fmla="*/ 932296 w 1343026"/>
                  <a:gd name="connsiteY84" fmla="*/ 447211 h 1377950"/>
                  <a:gd name="connsiteX85" fmla="*/ 904875 w 1343026"/>
                  <a:gd name="connsiteY85" fmla="*/ 328688 h 1377950"/>
                  <a:gd name="connsiteX86" fmla="*/ 933739 w 1343026"/>
                  <a:gd name="connsiteY86" fmla="*/ 322976 h 1377950"/>
                  <a:gd name="connsiteX87" fmla="*/ 936625 w 1343026"/>
                  <a:gd name="connsiteY87" fmla="*/ 322262 h 1377950"/>
                  <a:gd name="connsiteX88" fmla="*/ 407194 w 1343026"/>
                  <a:gd name="connsiteY88" fmla="*/ 322262 h 1377950"/>
                  <a:gd name="connsiteX89" fmla="*/ 411416 w 1343026"/>
                  <a:gd name="connsiteY89" fmla="*/ 322977 h 1377950"/>
                  <a:gd name="connsiteX90" fmla="*/ 438151 w 1343026"/>
                  <a:gd name="connsiteY90" fmla="*/ 328695 h 1377950"/>
                  <a:gd name="connsiteX91" fmla="*/ 411416 w 1343026"/>
                  <a:gd name="connsiteY91" fmla="*/ 448773 h 1377950"/>
                  <a:gd name="connsiteX92" fmla="*/ 388902 w 1343026"/>
                  <a:gd name="connsiteY92" fmla="*/ 463783 h 1377950"/>
                  <a:gd name="connsiteX93" fmla="*/ 388198 w 1343026"/>
                  <a:gd name="connsiteY93" fmla="*/ 464498 h 1377950"/>
                  <a:gd name="connsiteX94" fmla="*/ 376238 w 1343026"/>
                  <a:gd name="connsiteY94" fmla="*/ 473075 h 1377950"/>
                  <a:gd name="connsiteX95" fmla="*/ 407194 w 1343026"/>
                  <a:gd name="connsiteY95" fmla="*/ 322262 h 1377950"/>
                  <a:gd name="connsiteX96" fmla="*/ 672368 w 1343026"/>
                  <a:gd name="connsiteY96" fmla="*/ 0 h 1377950"/>
                  <a:gd name="connsiteX97" fmla="*/ 896624 w 1343026"/>
                  <a:gd name="connsiteY97" fmla="*/ 206081 h 1377950"/>
                  <a:gd name="connsiteX98" fmla="*/ 908051 w 1343026"/>
                  <a:gd name="connsiteY98" fmla="*/ 233273 h 1377950"/>
                  <a:gd name="connsiteX99" fmla="*/ 880912 w 1343026"/>
                  <a:gd name="connsiteY99" fmla="*/ 238997 h 1377950"/>
                  <a:gd name="connsiteX100" fmla="*/ 876627 w 1343026"/>
                  <a:gd name="connsiteY100" fmla="*/ 239713 h 1377950"/>
                  <a:gd name="connsiteX101" fmla="*/ 867342 w 1343026"/>
                  <a:gd name="connsiteY101" fmla="*/ 218246 h 1377950"/>
                  <a:gd name="connsiteX102" fmla="*/ 672368 w 1343026"/>
                  <a:gd name="connsiteY102" fmla="*/ 31485 h 1377950"/>
                  <a:gd name="connsiteX103" fmla="*/ 620946 w 1343026"/>
                  <a:gd name="connsiteY103" fmla="*/ 42934 h 1377950"/>
                  <a:gd name="connsiteX104" fmla="*/ 601663 w 1343026"/>
                  <a:gd name="connsiteY104" fmla="*/ 17173 h 1377950"/>
                  <a:gd name="connsiteX105" fmla="*/ 672368 w 1343026"/>
                  <a:gd name="connsiteY105" fmla="*/ 0 h 1377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343026" h="1377950">
                    <a:moveTo>
                      <a:pt x="468123" y="1138237"/>
                    </a:moveTo>
                    <a:cubicBezTo>
                      <a:pt x="470978" y="1145393"/>
                      <a:pt x="473833" y="1151833"/>
                      <a:pt x="476687" y="1158988"/>
                    </a:cubicBezTo>
                    <a:cubicBezTo>
                      <a:pt x="530211" y="1279203"/>
                      <a:pt x="599434" y="1346465"/>
                      <a:pt x="671513" y="1346465"/>
                    </a:cubicBezTo>
                    <a:cubicBezTo>
                      <a:pt x="743591" y="1346465"/>
                      <a:pt x="812815" y="1279203"/>
                      <a:pt x="866338" y="1158988"/>
                    </a:cubicBezTo>
                    <a:cubicBezTo>
                      <a:pt x="869193" y="1151833"/>
                      <a:pt x="872047" y="1144677"/>
                      <a:pt x="874902" y="1138237"/>
                    </a:cubicBezTo>
                    <a:cubicBezTo>
                      <a:pt x="876329" y="1138237"/>
                      <a:pt x="877757" y="1138953"/>
                      <a:pt x="879184" y="1138953"/>
                    </a:cubicBezTo>
                    <a:cubicBezTo>
                      <a:pt x="888461" y="1141815"/>
                      <a:pt x="896311" y="1143246"/>
                      <a:pt x="904875" y="1144677"/>
                    </a:cubicBezTo>
                    <a:cubicBezTo>
                      <a:pt x="901307" y="1153979"/>
                      <a:pt x="897739" y="1162566"/>
                      <a:pt x="894171" y="1171153"/>
                    </a:cubicBezTo>
                    <a:cubicBezTo>
                      <a:pt x="836365" y="1304247"/>
                      <a:pt x="757150" y="1377950"/>
                      <a:pt x="671513" y="1377950"/>
                    </a:cubicBezTo>
                    <a:cubicBezTo>
                      <a:pt x="585875" y="1377950"/>
                      <a:pt x="506660" y="1304247"/>
                      <a:pt x="448855" y="1171153"/>
                    </a:cubicBezTo>
                    <a:cubicBezTo>
                      <a:pt x="445287" y="1162566"/>
                      <a:pt x="441718" y="1153979"/>
                      <a:pt x="438150" y="1145393"/>
                    </a:cubicBezTo>
                    <a:cubicBezTo>
                      <a:pt x="446714" y="1143962"/>
                      <a:pt x="455278" y="1141815"/>
                      <a:pt x="465269" y="1138953"/>
                    </a:cubicBezTo>
                    <a:cubicBezTo>
                      <a:pt x="465982" y="1138953"/>
                      <a:pt x="467410" y="1138953"/>
                      <a:pt x="468123" y="1138237"/>
                    </a:cubicBezTo>
                    <a:close/>
                    <a:moveTo>
                      <a:pt x="968375" y="906462"/>
                    </a:moveTo>
                    <a:cubicBezTo>
                      <a:pt x="960438" y="958527"/>
                      <a:pt x="949614" y="1007027"/>
                      <a:pt x="935904" y="1054100"/>
                    </a:cubicBezTo>
                    <a:cubicBezTo>
                      <a:pt x="935182" y="1054100"/>
                      <a:pt x="934460" y="1054100"/>
                      <a:pt x="933739" y="1053387"/>
                    </a:cubicBezTo>
                    <a:cubicBezTo>
                      <a:pt x="924358" y="1051960"/>
                      <a:pt x="914978" y="1049821"/>
                      <a:pt x="904875" y="1047681"/>
                    </a:cubicBezTo>
                    <a:cubicBezTo>
                      <a:pt x="915699" y="1010593"/>
                      <a:pt x="925080" y="972079"/>
                      <a:pt x="931574" y="930712"/>
                    </a:cubicBezTo>
                    <a:cubicBezTo>
                      <a:pt x="940233" y="925719"/>
                      <a:pt x="948892" y="920013"/>
                      <a:pt x="956830" y="914307"/>
                    </a:cubicBezTo>
                    <a:cubicBezTo>
                      <a:pt x="956830" y="914307"/>
                      <a:pt x="956830" y="914307"/>
                      <a:pt x="957551" y="913594"/>
                    </a:cubicBezTo>
                    <a:cubicBezTo>
                      <a:pt x="957551" y="913594"/>
                      <a:pt x="957551" y="913594"/>
                      <a:pt x="958273" y="913594"/>
                    </a:cubicBezTo>
                    <a:cubicBezTo>
                      <a:pt x="961159" y="910741"/>
                      <a:pt x="964767" y="908602"/>
                      <a:pt x="968375" y="906462"/>
                    </a:cubicBezTo>
                    <a:close/>
                    <a:moveTo>
                      <a:pt x="376238" y="904875"/>
                    </a:moveTo>
                    <a:cubicBezTo>
                      <a:pt x="380459" y="907731"/>
                      <a:pt x="383977" y="910587"/>
                      <a:pt x="388198" y="914157"/>
                    </a:cubicBezTo>
                    <a:cubicBezTo>
                      <a:pt x="388198" y="914157"/>
                      <a:pt x="388198" y="914157"/>
                      <a:pt x="388902" y="914157"/>
                    </a:cubicBezTo>
                    <a:cubicBezTo>
                      <a:pt x="395937" y="919155"/>
                      <a:pt x="403676" y="924867"/>
                      <a:pt x="411416" y="929865"/>
                    </a:cubicBezTo>
                    <a:cubicBezTo>
                      <a:pt x="418451" y="971276"/>
                      <a:pt x="427597" y="1010546"/>
                      <a:pt x="438151" y="1047674"/>
                    </a:cubicBezTo>
                    <a:cubicBezTo>
                      <a:pt x="429005" y="1049816"/>
                      <a:pt x="419858" y="1051958"/>
                      <a:pt x="411416" y="1053386"/>
                    </a:cubicBezTo>
                    <a:cubicBezTo>
                      <a:pt x="410008" y="1054100"/>
                      <a:pt x="409305" y="1054100"/>
                      <a:pt x="407898" y="1054100"/>
                    </a:cubicBezTo>
                    <a:cubicBezTo>
                      <a:pt x="394530" y="1006976"/>
                      <a:pt x="383977" y="957711"/>
                      <a:pt x="376238" y="904875"/>
                    </a:cubicBezTo>
                    <a:close/>
                    <a:moveTo>
                      <a:pt x="1257300" y="803275"/>
                    </a:moveTo>
                    <a:cubicBezTo>
                      <a:pt x="1227490" y="803275"/>
                      <a:pt x="1203325" y="827085"/>
                      <a:pt x="1203325" y="856457"/>
                    </a:cubicBezTo>
                    <a:cubicBezTo>
                      <a:pt x="1203325" y="885829"/>
                      <a:pt x="1227490" y="909639"/>
                      <a:pt x="1257300" y="909639"/>
                    </a:cubicBezTo>
                    <a:cubicBezTo>
                      <a:pt x="1287110" y="909639"/>
                      <a:pt x="1311275" y="885829"/>
                      <a:pt x="1311275" y="856457"/>
                    </a:cubicBezTo>
                    <a:cubicBezTo>
                      <a:pt x="1311275" y="827085"/>
                      <a:pt x="1287110" y="803275"/>
                      <a:pt x="1257300" y="803275"/>
                    </a:cubicBezTo>
                    <a:close/>
                    <a:moveTo>
                      <a:pt x="85725" y="803275"/>
                    </a:moveTo>
                    <a:cubicBezTo>
                      <a:pt x="55915" y="803275"/>
                      <a:pt x="31750" y="827085"/>
                      <a:pt x="31750" y="856457"/>
                    </a:cubicBezTo>
                    <a:cubicBezTo>
                      <a:pt x="31750" y="885829"/>
                      <a:pt x="55915" y="909639"/>
                      <a:pt x="85725" y="909639"/>
                    </a:cubicBezTo>
                    <a:cubicBezTo>
                      <a:pt x="115535" y="909639"/>
                      <a:pt x="139700" y="885829"/>
                      <a:pt x="139700" y="856457"/>
                    </a:cubicBezTo>
                    <a:cubicBezTo>
                      <a:pt x="139700" y="827085"/>
                      <a:pt x="115535" y="803275"/>
                      <a:pt x="85725" y="803275"/>
                    </a:cubicBezTo>
                    <a:close/>
                    <a:moveTo>
                      <a:pt x="1257739" y="773112"/>
                    </a:moveTo>
                    <a:cubicBezTo>
                      <a:pt x="1305358" y="773112"/>
                      <a:pt x="1343026" y="811453"/>
                      <a:pt x="1343026" y="857605"/>
                    </a:cubicBezTo>
                    <a:cubicBezTo>
                      <a:pt x="1343026" y="880325"/>
                      <a:pt x="1333787" y="900206"/>
                      <a:pt x="1319572" y="915116"/>
                    </a:cubicBezTo>
                    <a:cubicBezTo>
                      <a:pt x="1315308" y="919376"/>
                      <a:pt x="1310333" y="923637"/>
                      <a:pt x="1304647" y="927187"/>
                    </a:cubicBezTo>
                    <a:cubicBezTo>
                      <a:pt x="1298961" y="930737"/>
                      <a:pt x="1293986" y="933577"/>
                      <a:pt x="1289011" y="935707"/>
                    </a:cubicBezTo>
                    <a:cubicBezTo>
                      <a:pt x="1280483" y="939257"/>
                      <a:pt x="1271243" y="941387"/>
                      <a:pt x="1261293" y="941387"/>
                    </a:cubicBezTo>
                    <a:cubicBezTo>
                      <a:pt x="1259872" y="941387"/>
                      <a:pt x="1259161" y="941387"/>
                      <a:pt x="1257739" y="941387"/>
                    </a:cubicBezTo>
                    <a:cubicBezTo>
                      <a:pt x="1252764" y="941387"/>
                      <a:pt x="1247789" y="940677"/>
                      <a:pt x="1242814" y="939967"/>
                    </a:cubicBezTo>
                    <a:cubicBezTo>
                      <a:pt x="1237128" y="939257"/>
                      <a:pt x="1232153" y="937127"/>
                      <a:pt x="1227178" y="935707"/>
                    </a:cubicBezTo>
                    <a:cubicBezTo>
                      <a:pt x="1195906" y="922927"/>
                      <a:pt x="1173163" y="893106"/>
                      <a:pt x="1173163" y="857605"/>
                    </a:cubicBezTo>
                    <a:cubicBezTo>
                      <a:pt x="1173163" y="811453"/>
                      <a:pt x="1211542" y="773112"/>
                      <a:pt x="1257739" y="773112"/>
                    </a:cubicBezTo>
                    <a:close/>
                    <a:moveTo>
                      <a:pt x="86084" y="773112"/>
                    </a:moveTo>
                    <a:cubicBezTo>
                      <a:pt x="133430" y="773112"/>
                      <a:pt x="171450" y="811453"/>
                      <a:pt x="171450" y="857605"/>
                    </a:cubicBezTo>
                    <a:cubicBezTo>
                      <a:pt x="171450" y="893106"/>
                      <a:pt x="149929" y="922217"/>
                      <a:pt x="119083" y="934997"/>
                    </a:cubicBezTo>
                    <a:cubicBezTo>
                      <a:pt x="114061" y="937127"/>
                      <a:pt x="108322" y="938547"/>
                      <a:pt x="102583" y="939967"/>
                    </a:cubicBezTo>
                    <a:cubicBezTo>
                      <a:pt x="97562" y="940677"/>
                      <a:pt x="91823" y="941387"/>
                      <a:pt x="86084" y="941387"/>
                    </a:cubicBezTo>
                    <a:cubicBezTo>
                      <a:pt x="86084" y="941387"/>
                      <a:pt x="86084" y="941387"/>
                      <a:pt x="85367" y="941387"/>
                    </a:cubicBezTo>
                    <a:cubicBezTo>
                      <a:pt x="74606" y="941387"/>
                      <a:pt x="63846" y="939257"/>
                      <a:pt x="54520" y="935707"/>
                    </a:cubicBezTo>
                    <a:cubicBezTo>
                      <a:pt x="50216" y="933577"/>
                      <a:pt x="45194" y="931447"/>
                      <a:pt x="40173" y="928607"/>
                    </a:cubicBezTo>
                    <a:cubicBezTo>
                      <a:pt x="34434" y="925057"/>
                      <a:pt x="29412" y="920797"/>
                      <a:pt x="25108" y="916536"/>
                    </a:cubicBezTo>
                    <a:cubicBezTo>
                      <a:pt x="10043" y="901626"/>
                      <a:pt x="0" y="881035"/>
                      <a:pt x="0" y="857605"/>
                    </a:cubicBezTo>
                    <a:cubicBezTo>
                      <a:pt x="0" y="811453"/>
                      <a:pt x="38021" y="773112"/>
                      <a:pt x="86084" y="773112"/>
                    </a:cubicBezTo>
                    <a:close/>
                    <a:moveTo>
                      <a:pt x="396160" y="574675"/>
                    </a:moveTo>
                    <a:cubicBezTo>
                      <a:pt x="393296" y="612537"/>
                      <a:pt x="391864" y="650399"/>
                      <a:pt x="391864" y="688975"/>
                    </a:cubicBezTo>
                    <a:cubicBezTo>
                      <a:pt x="391864" y="726837"/>
                      <a:pt x="393296" y="765413"/>
                      <a:pt x="396876" y="803275"/>
                    </a:cubicBezTo>
                    <a:cubicBezTo>
                      <a:pt x="396876" y="803275"/>
                      <a:pt x="396876" y="803275"/>
                      <a:pt x="386137" y="796131"/>
                    </a:cubicBezTo>
                    <a:cubicBezTo>
                      <a:pt x="378261" y="789702"/>
                      <a:pt x="371102" y="783272"/>
                      <a:pt x="363227" y="777557"/>
                    </a:cubicBezTo>
                    <a:cubicBezTo>
                      <a:pt x="361795" y="748268"/>
                      <a:pt x="360363" y="718979"/>
                      <a:pt x="360363" y="688975"/>
                    </a:cubicBezTo>
                    <a:cubicBezTo>
                      <a:pt x="360363" y="658971"/>
                      <a:pt x="361795" y="629682"/>
                      <a:pt x="363227" y="601107"/>
                    </a:cubicBezTo>
                    <a:cubicBezTo>
                      <a:pt x="371102" y="594677"/>
                      <a:pt x="378261" y="588248"/>
                      <a:pt x="386137" y="582533"/>
                    </a:cubicBezTo>
                    <a:cubicBezTo>
                      <a:pt x="386137" y="582533"/>
                      <a:pt x="386137" y="582533"/>
                      <a:pt x="396160" y="574675"/>
                    </a:cubicBezTo>
                    <a:close/>
                    <a:moveTo>
                      <a:pt x="946150" y="573087"/>
                    </a:moveTo>
                    <a:cubicBezTo>
                      <a:pt x="946150" y="573087"/>
                      <a:pt x="946150" y="573087"/>
                      <a:pt x="958321" y="582386"/>
                    </a:cubicBezTo>
                    <a:cubicBezTo>
                      <a:pt x="965481" y="588109"/>
                      <a:pt x="972640" y="593832"/>
                      <a:pt x="979799" y="599555"/>
                    </a:cubicBezTo>
                    <a:cubicBezTo>
                      <a:pt x="981231" y="628885"/>
                      <a:pt x="982663" y="658929"/>
                      <a:pt x="982663" y="688974"/>
                    </a:cubicBezTo>
                    <a:cubicBezTo>
                      <a:pt x="982663" y="719735"/>
                      <a:pt x="981231" y="749064"/>
                      <a:pt x="979799" y="779109"/>
                    </a:cubicBezTo>
                    <a:cubicBezTo>
                      <a:pt x="972640" y="784832"/>
                      <a:pt x="965481" y="790555"/>
                      <a:pt x="958321" y="796278"/>
                    </a:cubicBezTo>
                    <a:cubicBezTo>
                      <a:pt x="958321" y="796278"/>
                      <a:pt x="958321" y="796278"/>
                      <a:pt x="946150" y="804862"/>
                    </a:cubicBezTo>
                    <a:cubicBezTo>
                      <a:pt x="949730" y="766233"/>
                      <a:pt x="951162" y="728319"/>
                      <a:pt x="951162" y="688974"/>
                    </a:cubicBezTo>
                    <a:cubicBezTo>
                      <a:pt x="951162" y="649630"/>
                      <a:pt x="949730" y="611716"/>
                      <a:pt x="946150" y="573087"/>
                    </a:cubicBezTo>
                    <a:close/>
                    <a:moveTo>
                      <a:pt x="936625" y="322262"/>
                    </a:moveTo>
                    <a:cubicBezTo>
                      <a:pt x="949614" y="369386"/>
                      <a:pt x="960438" y="419365"/>
                      <a:pt x="968375" y="471487"/>
                    </a:cubicBezTo>
                    <a:cubicBezTo>
                      <a:pt x="964767" y="469345"/>
                      <a:pt x="961159" y="466489"/>
                      <a:pt x="957551" y="464347"/>
                    </a:cubicBezTo>
                    <a:cubicBezTo>
                      <a:pt x="957551" y="464347"/>
                      <a:pt x="957551" y="464347"/>
                      <a:pt x="956830" y="463633"/>
                    </a:cubicBezTo>
                    <a:cubicBezTo>
                      <a:pt x="948892" y="458635"/>
                      <a:pt x="940233" y="452923"/>
                      <a:pt x="932296" y="447211"/>
                    </a:cubicBezTo>
                    <a:cubicBezTo>
                      <a:pt x="925080" y="406513"/>
                      <a:pt x="915699" y="366530"/>
                      <a:pt x="904875" y="328688"/>
                    </a:cubicBezTo>
                    <a:cubicBezTo>
                      <a:pt x="914978" y="327260"/>
                      <a:pt x="924358" y="325118"/>
                      <a:pt x="933739" y="322976"/>
                    </a:cubicBezTo>
                    <a:cubicBezTo>
                      <a:pt x="934460" y="322976"/>
                      <a:pt x="935182" y="322976"/>
                      <a:pt x="936625" y="322262"/>
                    </a:cubicBezTo>
                    <a:close/>
                    <a:moveTo>
                      <a:pt x="407194" y="322262"/>
                    </a:moveTo>
                    <a:cubicBezTo>
                      <a:pt x="408601" y="322262"/>
                      <a:pt x="410008" y="322977"/>
                      <a:pt x="411416" y="322977"/>
                    </a:cubicBezTo>
                    <a:cubicBezTo>
                      <a:pt x="419858" y="325121"/>
                      <a:pt x="429005" y="326550"/>
                      <a:pt x="438151" y="328695"/>
                    </a:cubicBezTo>
                    <a:cubicBezTo>
                      <a:pt x="427597" y="366577"/>
                      <a:pt x="418451" y="407318"/>
                      <a:pt x="411416" y="448773"/>
                    </a:cubicBezTo>
                    <a:cubicBezTo>
                      <a:pt x="403676" y="453777"/>
                      <a:pt x="395937" y="458780"/>
                      <a:pt x="388902" y="463783"/>
                    </a:cubicBezTo>
                    <a:cubicBezTo>
                      <a:pt x="388902" y="463783"/>
                      <a:pt x="388902" y="463783"/>
                      <a:pt x="388198" y="464498"/>
                    </a:cubicBezTo>
                    <a:cubicBezTo>
                      <a:pt x="383977" y="467357"/>
                      <a:pt x="380459" y="470216"/>
                      <a:pt x="376238" y="473075"/>
                    </a:cubicBezTo>
                    <a:cubicBezTo>
                      <a:pt x="383977" y="420183"/>
                      <a:pt x="394530" y="369436"/>
                      <a:pt x="407194" y="322262"/>
                    </a:cubicBezTo>
                    <a:close/>
                    <a:moveTo>
                      <a:pt x="672368" y="0"/>
                    </a:moveTo>
                    <a:cubicBezTo>
                      <a:pt x="758071" y="0"/>
                      <a:pt x="837346" y="73703"/>
                      <a:pt x="896624" y="206081"/>
                    </a:cubicBezTo>
                    <a:cubicBezTo>
                      <a:pt x="900195" y="215384"/>
                      <a:pt x="904480" y="223971"/>
                      <a:pt x="908051" y="233273"/>
                    </a:cubicBezTo>
                    <a:cubicBezTo>
                      <a:pt x="899481" y="234704"/>
                      <a:pt x="890911" y="236851"/>
                      <a:pt x="880912" y="238997"/>
                    </a:cubicBezTo>
                    <a:cubicBezTo>
                      <a:pt x="879484" y="239713"/>
                      <a:pt x="878055" y="239713"/>
                      <a:pt x="876627" y="239713"/>
                    </a:cubicBezTo>
                    <a:cubicBezTo>
                      <a:pt x="873770" y="232557"/>
                      <a:pt x="870913" y="225402"/>
                      <a:pt x="867342" y="218246"/>
                    </a:cubicBezTo>
                    <a:cubicBezTo>
                      <a:pt x="813778" y="98032"/>
                      <a:pt x="744501" y="31485"/>
                      <a:pt x="672368" y="31485"/>
                    </a:cubicBezTo>
                    <a:cubicBezTo>
                      <a:pt x="654513" y="31485"/>
                      <a:pt x="637373" y="35062"/>
                      <a:pt x="620946" y="42934"/>
                    </a:cubicBezTo>
                    <a:cubicBezTo>
                      <a:pt x="615233" y="33631"/>
                      <a:pt x="608805" y="25045"/>
                      <a:pt x="601663" y="17173"/>
                    </a:cubicBezTo>
                    <a:cubicBezTo>
                      <a:pt x="624517" y="5724"/>
                      <a:pt x="648086" y="0"/>
                      <a:pt x="672368"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t" anchorCtr="0" compatLnSpc="1">
                <a:prstTxWarp prst="textNoShape">
                  <a:avLst/>
                </a:prstTxWarp>
                <a:noAutofit/>
              </a:bodyPr>
              <a:lstStyle/>
              <a:p>
                <a:endParaRPr lang="en-US" sz="1559">
                  <a:sym typeface="+mn-lt"/>
                </a:endParaRPr>
              </a:p>
            </p:txBody>
          </p:sp>
        </p:grpSp>
        <p:sp>
          <p:nvSpPr>
            <p:cNvPr id="96" name="object 4">
              <a:extLst>
                <a:ext uri="{FF2B5EF4-FFF2-40B4-BE49-F238E27FC236}">
                  <a16:creationId xmlns:a16="http://schemas.microsoft.com/office/drawing/2014/main" id="{79D53518-CA0A-481B-8E83-26ECB80E6D33}"/>
                </a:ext>
              </a:extLst>
            </p:cNvPr>
            <p:cNvSpPr txBox="1">
              <a:spLocks/>
            </p:cNvSpPr>
            <p:nvPr/>
          </p:nvSpPr>
          <p:spPr>
            <a:xfrm>
              <a:off x="7327900" y="2152611"/>
              <a:ext cx="4235300" cy="656023"/>
            </a:xfrm>
            <a:prstGeom prst="rect">
              <a:avLst/>
            </a:prstGeom>
          </p:spPr>
          <p:txBody>
            <a:bodyPr vert="horz" wrap="square" lIns="0" tIns="9598" rIns="0" bIns="0" rtlCol="0">
              <a:spAutoFit/>
            </a:bodyPr>
            <a:lstStyle>
              <a:lvl1pPr marL="0" indent="0" algn="l" defTabSz="914400" rtl="0" eaLnBrk="1" latinLnBrk="0" hangingPunct="1">
                <a:lnSpc>
                  <a:spcPct val="110000"/>
                </a:lnSpc>
                <a:spcBef>
                  <a:spcPts val="600"/>
                </a:spcBef>
                <a:spcAft>
                  <a:spcPts val="300"/>
                </a:spcAft>
                <a:buClr>
                  <a:srgbClr val="DC0532"/>
                </a:buClr>
                <a:buFont typeface="Arial" panose="020B0604020202020204" pitchFamily="34" charset="0"/>
                <a:buChar char="​"/>
                <a:defRPr lang="en-US" sz="1200" kern="1200">
                  <a:solidFill>
                    <a:srgbClr val="4D4D4D"/>
                  </a:solidFill>
                  <a:latin typeface="+mn-lt"/>
                  <a:ea typeface="+mn-ea"/>
                  <a:cs typeface="+mn-cs"/>
                  <a:sym typeface="+mn-lt"/>
                </a:defRPr>
              </a:lvl1pPr>
              <a:lvl2pPr marL="284400" indent="-172800" algn="l" defTabSz="914400" rtl="0" eaLnBrk="1" latinLnBrk="0" hangingPunct="1">
                <a:lnSpc>
                  <a:spcPct val="90000"/>
                </a:lnSpc>
                <a:spcBef>
                  <a:spcPts val="0"/>
                </a:spcBef>
                <a:spcAft>
                  <a:spcPts val="300"/>
                </a:spcAft>
                <a:buClr>
                  <a:srgbClr val="DC0532"/>
                </a:buClr>
                <a:buFont typeface="Arial" panose="020B0604020202020204" pitchFamily="34" charset="0"/>
                <a:buChar char="•"/>
                <a:defRPr lang="en-US" sz="1200" kern="1200">
                  <a:solidFill>
                    <a:srgbClr val="4D4D4D"/>
                  </a:solidFill>
                  <a:latin typeface="+mn-lt"/>
                  <a:ea typeface="+mn-ea"/>
                  <a:cs typeface="+mn-cs"/>
                  <a:sym typeface="+mn-lt"/>
                </a:defRPr>
              </a:lvl2pPr>
              <a:lvl3pPr marL="511200" indent="-165600" algn="l" defTabSz="914400" rtl="0" eaLnBrk="1" latinLnBrk="0" hangingPunct="1">
                <a:lnSpc>
                  <a:spcPct val="90000"/>
                </a:lnSpc>
                <a:spcBef>
                  <a:spcPts val="0"/>
                </a:spcBef>
                <a:spcAft>
                  <a:spcPts val="300"/>
                </a:spcAft>
                <a:buClr>
                  <a:srgbClr val="DC0532"/>
                </a:buClr>
                <a:buFont typeface="Trebuchet MS" panose="020B0603020202020204" pitchFamily="34" charset="0"/>
                <a:buChar char="–"/>
                <a:defRPr lang="en-US" sz="1200" kern="1200">
                  <a:solidFill>
                    <a:srgbClr val="4D4D4D"/>
                  </a:solidFill>
                  <a:latin typeface="+mn-lt"/>
                  <a:ea typeface="+mn-ea"/>
                  <a:cs typeface="+mn-cs"/>
                  <a:sym typeface="+mn-lt"/>
                </a:defRPr>
              </a:lvl3pPr>
              <a:lvl4pPr marL="0" indent="0" algn="l" defTabSz="914400" rtl="0" eaLnBrk="1" latinLnBrk="0" hangingPunct="1">
                <a:lnSpc>
                  <a:spcPct val="110000"/>
                </a:lnSpc>
                <a:spcBef>
                  <a:spcPts val="300"/>
                </a:spcBef>
                <a:spcAft>
                  <a:spcPts val="300"/>
                </a:spcAft>
                <a:buClr>
                  <a:srgbClr val="DC0532"/>
                </a:buClr>
                <a:buFont typeface="Arial" panose="020B0604020202020204" pitchFamily="34" charset="0"/>
                <a:buChar char="​"/>
                <a:defRPr lang="en-US" sz="1600" kern="1200">
                  <a:solidFill>
                    <a:srgbClr val="DC0532"/>
                  </a:solidFill>
                  <a:latin typeface="+mn-lt"/>
                  <a:ea typeface="+mn-ea"/>
                  <a:cs typeface="+mn-cs"/>
                  <a:sym typeface="+mn-lt"/>
                </a:defRPr>
              </a:lvl4pPr>
              <a:lvl5pPr marL="0" indent="0" algn="l" defTabSz="914400" rtl="0" eaLnBrk="1" latinLnBrk="0" hangingPunct="1">
                <a:lnSpc>
                  <a:spcPct val="100000"/>
                </a:lnSpc>
                <a:spcBef>
                  <a:spcPts val="0"/>
                </a:spcBef>
                <a:spcAft>
                  <a:spcPts val="300"/>
                </a:spcAft>
                <a:buClr>
                  <a:srgbClr val="DC0532"/>
                </a:buClr>
                <a:buFont typeface="Arial" panose="020B0604020202020204" pitchFamily="34" charset="0"/>
                <a:buChar char="​"/>
                <a:defRPr lang="en-US" sz="1600" b="1" kern="1200" smtClean="0">
                  <a:solidFill>
                    <a:srgbClr val="4D4D4D"/>
                  </a:solidFill>
                  <a:latin typeface="+mn-lt"/>
                  <a:ea typeface="+mn-ea"/>
                  <a:cs typeface="+mn-cs"/>
                  <a:sym typeface="+mn-lt"/>
                </a:defRPr>
              </a:lvl5pPr>
              <a:lvl6pPr marL="269875" indent="-152400" algn="l" defTabSz="914400" rtl="0" eaLnBrk="1" latinLnBrk="0" hangingPunct="1">
                <a:lnSpc>
                  <a:spcPct val="90000"/>
                </a:lnSpc>
                <a:spcBef>
                  <a:spcPts val="0"/>
                </a:spcBef>
                <a:spcAft>
                  <a:spcPts val="600"/>
                </a:spcAft>
                <a:buClr>
                  <a:srgbClr val="DC0532"/>
                </a:buClr>
                <a:buFont typeface="Arial" panose="020B0604020202020204" pitchFamily="34" charset="0"/>
                <a:buChar char="•"/>
                <a:defRPr lang="en-US" sz="1600" kern="1200" smtClean="0">
                  <a:solidFill>
                    <a:srgbClr val="4D4D4D"/>
                  </a:solidFill>
                  <a:latin typeface="+mn-lt"/>
                  <a:ea typeface="+mn-ea"/>
                  <a:cs typeface="+mn-cs"/>
                  <a:sym typeface="+mn-lt"/>
                </a:defRPr>
              </a:lvl6pPr>
              <a:lvl7pPr marL="0" indent="0" algn="l" defTabSz="914400" rtl="0" eaLnBrk="1" latinLnBrk="0" hangingPunct="1">
                <a:lnSpc>
                  <a:spcPct val="90000"/>
                </a:lnSpc>
                <a:spcBef>
                  <a:spcPts val="900"/>
                </a:spcBef>
                <a:spcAft>
                  <a:spcPts val="900"/>
                </a:spcAft>
                <a:buClr>
                  <a:srgbClr val="DC0532"/>
                </a:buClr>
                <a:buFont typeface="Arial" panose="020B0604020202020204" pitchFamily="34" charset="0"/>
                <a:buChar char="​"/>
                <a:defRPr lang="en-US" sz="4400" kern="1200" baseline="0" smtClean="0">
                  <a:solidFill>
                    <a:srgbClr val="4D4D4D"/>
                  </a:solidFill>
                  <a:latin typeface="+mn-lt"/>
                  <a:ea typeface="+mn-ea"/>
                  <a:cs typeface="+mn-cs"/>
                  <a:sym typeface="+mn-lt"/>
                </a:defRPr>
              </a:lvl7pPr>
              <a:lvl8pPr marL="0" indent="0" algn="l" defTabSz="914400" rtl="0" eaLnBrk="1" latinLnBrk="0" hangingPunct="1">
                <a:lnSpc>
                  <a:spcPct val="90000"/>
                </a:lnSpc>
                <a:spcBef>
                  <a:spcPts val="900"/>
                </a:spcBef>
                <a:spcAft>
                  <a:spcPts val="0"/>
                </a:spcAft>
                <a:buClr>
                  <a:srgbClr val="DC0532"/>
                </a:buClr>
                <a:buFont typeface="Arial" panose="020B0604020202020204" pitchFamily="34" charset="0"/>
                <a:buChar char="​"/>
                <a:defRPr lang="en-US" sz="5400" kern="1200" baseline="0" smtClean="0">
                  <a:solidFill>
                    <a:srgbClr val="DC0532"/>
                  </a:solidFill>
                  <a:latin typeface="+mn-lt"/>
                  <a:ea typeface="+mn-ea"/>
                  <a:cs typeface="+mn-cs"/>
                  <a:sym typeface="+mn-lt"/>
                </a:defRPr>
              </a:lvl8pPr>
              <a:lvl9pPr marL="0" indent="0" algn="l" defTabSz="914400" rtl="0" eaLnBrk="1" latinLnBrk="0" hangingPunct="1">
                <a:lnSpc>
                  <a:spcPct val="100000"/>
                </a:lnSpc>
                <a:spcBef>
                  <a:spcPts val="0"/>
                </a:spcBef>
                <a:spcAft>
                  <a:spcPts val="900"/>
                </a:spcAft>
                <a:buClr>
                  <a:srgbClr val="DC0532"/>
                </a:buClr>
                <a:buFont typeface="Arial" panose="020B0604020202020204" pitchFamily="34" charset="0"/>
                <a:buChar char="​"/>
                <a:defRPr lang="en-US" sz="2400" kern="1200" baseline="0" dirty="0">
                  <a:solidFill>
                    <a:srgbClr val="DC0532"/>
                  </a:solidFill>
                  <a:latin typeface="+mn-lt"/>
                  <a:ea typeface="+mn-ea"/>
                  <a:cs typeface="+mn-cs"/>
                  <a:sym typeface="+mn-lt"/>
                </a:defRPr>
              </a:lvl9pPr>
            </a:lstStyle>
            <a:p>
              <a:pPr marL="10104">
                <a:lnSpc>
                  <a:spcPct val="100000"/>
                </a:lnSpc>
                <a:spcBef>
                  <a:spcPts val="75"/>
                </a:spcBef>
                <a:buNone/>
              </a:pPr>
              <a:r>
                <a:rPr lang="en-ZA" sz="1400" spc="-4"/>
                <a:t>Have a 360 view of the </a:t>
              </a:r>
              <a:r>
                <a:rPr lang="en-ZA" sz="1400" spc="-4">
                  <a:solidFill>
                    <a:schemeClr val="tx2"/>
                  </a:solidFill>
                </a:rPr>
                <a:t>customer DNA </a:t>
              </a:r>
              <a:r>
                <a:rPr lang="en-ZA" sz="1400" spc="-4"/>
                <a:t>leveraging both internal &amp; external data sources with real-time data processing</a:t>
              </a:r>
            </a:p>
          </p:txBody>
        </p:sp>
      </p:grpSp>
      <p:grpSp>
        <p:nvGrpSpPr>
          <p:cNvPr id="105" name="Group 104">
            <a:extLst>
              <a:ext uri="{FF2B5EF4-FFF2-40B4-BE49-F238E27FC236}">
                <a16:creationId xmlns:a16="http://schemas.microsoft.com/office/drawing/2014/main" id="{D4E3165E-A1F2-468E-9731-93F2F98D3556}"/>
              </a:ext>
            </a:extLst>
          </p:cNvPr>
          <p:cNvGrpSpPr/>
          <p:nvPr/>
        </p:nvGrpSpPr>
        <p:grpSpPr>
          <a:xfrm>
            <a:off x="6567560" y="3514392"/>
            <a:ext cx="4995640" cy="553998"/>
            <a:chOff x="6567560" y="3523061"/>
            <a:chExt cx="4995640" cy="553998"/>
          </a:xfrm>
        </p:grpSpPr>
        <p:grpSp>
          <p:nvGrpSpPr>
            <p:cNvPr id="75" name="Group 74">
              <a:extLst>
                <a:ext uri="{FF2B5EF4-FFF2-40B4-BE49-F238E27FC236}">
                  <a16:creationId xmlns:a16="http://schemas.microsoft.com/office/drawing/2014/main" id="{09638523-DDE8-4E50-94AE-15335E2232ED}"/>
                </a:ext>
              </a:extLst>
            </p:cNvPr>
            <p:cNvGrpSpPr>
              <a:grpSpLocks noChangeAspect="1"/>
            </p:cNvGrpSpPr>
            <p:nvPr/>
          </p:nvGrpSpPr>
          <p:grpSpPr>
            <a:xfrm>
              <a:off x="6567560" y="3523061"/>
              <a:ext cx="553998" cy="553998"/>
              <a:chOff x="5273675" y="2606675"/>
              <a:chExt cx="1644650" cy="1644650"/>
            </a:xfrm>
          </p:grpSpPr>
          <p:sp>
            <p:nvSpPr>
              <p:cNvPr id="76" name="AutoShape 3">
                <a:extLst>
                  <a:ext uri="{FF2B5EF4-FFF2-40B4-BE49-F238E27FC236}">
                    <a16:creationId xmlns:a16="http://schemas.microsoft.com/office/drawing/2014/main" id="{6A124302-D139-4D46-A1E9-E62C2DB9AF1B}"/>
                  </a:ext>
                </a:extLst>
              </p:cNvPr>
              <p:cNvSpPr>
                <a:spLocks noChangeAspect="1" noChangeArrowheads="1" noTextEdit="1"/>
              </p:cNvSpPr>
              <p:nvPr/>
            </p:nvSpPr>
            <p:spPr bwMode="auto">
              <a:xfrm>
                <a:off x="5273675" y="2606675"/>
                <a:ext cx="1644650"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grpSp>
            <p:nvGrpSpPr>
              <p:cNvPr id="77" name="Group 76">
                <a:extLst>
                  <a:ext uri="{FF2B5EF4-FFF2-40B4-BE49-F238E27FC236}">
                    <a16:creationId xmlns:a16="http://schemas.microsoft.com/office/drawing/2014/main" id="{91B8F434-7784-4928-A146-EE7C96FD29B9}"/>
                  </a:ext>
                </a:extLst>
              </p:cNvPr>
              <p:cNvGrpSpPr/>
              <p:nvPr/>
            </p:nvGrpSpPr>
            <p:grpSpPr>
              <a:xfrm>
                <a:off x="5443538" y="2782888"/>
                <a:ext cx="1304925" cy="1292225"/>
                <a:chOff x="5443538" y="2782888"/>
                <a:chExt cx="1304925" cy="1292225"/>
              </a:xfrm>
            </p:grpSpPr>
            <p:sp>
              <p:nvSpPr>
                <p:cNvPr id="78" name="Freeform 11">
                  <a:extLst>
                    <a:ext uri="{FF2B5EF4-FFF2-40B4-BE49-F238E27FC236}">
                      <a16:creationId xmlns:a16="http://schemas.microsoft.com/office/drawing/2014/main" id="{DFF7B040-7477-422A-8E94-D5EDF9762589}"/>
                    </a:ext>
                  </a:extLst>
                </p:cNvPr>
                <p:cNvSpPr>
                  <a:spLocks noEditPoints="1"/>
                </p:cNvSpPr>
                <p:nvPr/>
              </p:nvSpPr>
              <p:spPr bwMode="auto">
                <a:xfrm>
                  <a:off x="5813425" y="3556000"/>
                  <a:ext cx="935038" cy="519113"/>
                </a:xfrm>
                <a:custGeom>
                  <a:avLst/>
                  <a:gdLst>
                    <a:gd name="T0" fmla="*/ 1307 w 1308"/>
                    <a:gd name="T1" fmla="*/ 588 h 729"/>
                    <a:gd name="T2" fmla="*/ 1291 w 1308"/>
                    <a:gd name="T3" fmla="*/ 574 h 729"/>
                    <a:gd name="T4" fmla="*/ 862 w 1308"/>
                    <a:gd name="T5" fmla="*/ 574 h 729"/>
                    <a:gd name="T6" fmla="*/ 849 w 1308"/>
                    <a:gd name="T7" fmla="*/ 570 h 729"/>
                    <a:gd name="T8" fmla="*/ 78 w 1308"/>
                    <a:gd name="T9" fmla="*/ 3 h 729"/>
                    <a:gd name="T10" fmla="*/ 68 w 1308"/>
                    <a:gd name="T11" fmla="*/ 0 h 729"/>
                    <a:gd name="T12" fmla="*/ 56 w 1308"/>
                    <a:gd name="T13" fmla="*/ 4 h 729"/>
                    <a:gd name="T14" fmla="*/ 55 w 1308"/>
                    <a:gd name="T15" fmla="*/ 5 h 729"/>
                    <a:gd name="T16" fmla="*/ 54 w 1308"/>
                    <a:gd name="T17" fmla="*/ 6 h 729"/>
                    <a:gd name="T18" fmla="*/ 53 w 1308"/>
                    <a:gd name="T19" fmla="*/ 7 h 729"/>
                    <a:gd name="T20" fmla="*/ 22 w 1308"/>
                    <a:gd name="T21" fmla="*/ 46 h 729"/>
                    <a:gd name="T22" fmla="*/ 4 w 1308"/>
                    <a:gd name="T23" fmla="*/ 116 h 729"/>
                    <a:gd name="T24" fmla="*/ 41 w 1308"/>
                    <a:gd name="T25" fmla="*/ 179 h 729"/>
                    <a:gd name="T26" fmla="*/ 736 w 1308"/>
                    <a:gd name="T27" fmla="*/ 687 h 729"/>
                    <a:gd name="T28" fmla="*/ 802 w 1308"/>
                    <a:gd name="T29" fmla="*/ 720 h 729"/>
                    <a:gd name="T30" fmla="*/ 865 w 1308"/>
                    <a:gd name="T31" fmla="*/ 729 h 729"/>
                    <a:gd name="T32" fmla="*/ 1214 w 1308"/>
                    <a:gd name="T33" fmla="*/ 729 h 729"/>
                    <a:gd name="T34" fmla="*/ 1308 w 1308"/>
                    <a:gd name="T35" fmla="*/ 636 h 729"/>
                    <a:gd name="T36" fmla="*/ 1308 w 1308"/>
                    <a:gd name="T37" fmla="*/ 591 h 729"/>
                    <a:gd name="T38" fmla="*/ 1308 w 1308"/>
                    <a:gd name="T39" fmla="*/ 590 h 729"/>
                    <a:gd name="T40" fmla="*/ 1307 w 1308"/>
                    <a:gd name="T41" fmla="*/ 588 h 729"/>
                    <a:gd name="T42" fmla="*/ 1264 w 1308"/>
                    <a:gd name="T43" fmla="*/ 636 h 729"/>
                    <a:gd name="T44" fmla="*/ 1214 w 1308"/>
                    <a:gd name="T45" fmla="*/ 685 h 729"/>
                    <a:gd name="T46" fmla="*/ 865 w 1308"/>
                    <a:gd name="T47" fmla="*/ 685 h 729"/>
                    <a:gd name="T48" fmla="*/ 815 w 1308"/>
                    <a:gd name="T49" fmla="*/ 678 h 729"/>
                    <a:gd name="T50" fmla="*/ 814 w 1308"/>
                    <a:gd name="T51" fmla="*/ 678 h 729"/>
                    <a:gd name="T52" fmla="*/ 814 w 1308"/>
                    <a:gd name="T53" fmla="*/ 678 h 729"/>
                    <a:gd name="T54" fmla="*/ 762 w 1308"/>
                    <a:gd name="T55" fmla="*/ 652 h 729"/>
                    <a:gd name="T56" fmla="*/ 67 w 1308"/>
                    <a:gd name="T57" fmla="*/ 143 h 729"/>
                    <a:gd name="T58" fmla="*/ 48 w 1308"/>
                    <a:gd name="T59" fmla="*/ 111 h 729"/>
                    <a:gd name="T60" fmla="*/ 47 w 1308"/>
                    <a:gd name="T61" fmla="*/ 110 h 729"/>
                    <a:gd name="T62" fmla="*/ 47 w 1308"/>
                    <a:gd name="T63" fmla="*/ 109 h 729"/>
                    <a:gd name="T64" fmla="*/ 57 w 1308"/>
                    <a:gd name="T65" fmla="*/ 72 h 729"/>
                    <a:gd name="T66" fmla="*/ 72 w 1308"/>
                    <a:gd name="T67" fmla="*/ 53 h 729"/>
                    <a:gd name="T68" fmla="*/ 823 w 1308"/>
                    <a:gd name="T69" fmla="*/ 605 h 729"/>
                    <a:gd name="T70" fmla="*/ 862 w 1308"/>
                    <a:gd name="T71" fmla="*/ 618 h 729"/>
                    <a:gd name="T72" fmla="*/ 1264 w 1308"/>
                    <a:gd name="T73" fmla="*/ 618 h 729"/>
                    <a:gd name="T74" fmla="*/ 1264 w 1308"/>
                    <a:gd name="T75" fmla="*/ 636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08" h="729">
                      <a:moveTo>
                        <a:pt x="1307" y="588"/>
                      </a:moveTo>
                      <a:cubicBezTo>
                        <a:pt x="1306" y="580"/>
                        <a:pt x="1300" y="574"/>
                        <a:pt x="1291" y="574"/>
                      </a:cubicBezTo>
                      <a:cubicBezTo>
                        <a:pt x="862" y="574"/>
                        <a:pt x="862" y="574"/>
                        <a:pt x="862" y="574"/>
                      </a:cubicBezTo>
                      <a:cubicBezTo>
                        <a:pt x="857" y="574"/>
                        <a:pt x="853" y="572"/>
                        <a:pt x="849" y="570"/>
                      </a:cubicBezTo>
                      <a:cubicBezTo>
                        <a:pt x="78" y="3"/>
                        <a:pt x="78" y="3"/>
                        <a:pt x="78" y="3"/>
                      </a:cubicBezTo>
                      <a:cubicBezTo>
                        <a:pt x="74" y="1"/>
                        <a:pt x="71" y="0"/>
                        <a:pt x="68" y="0"/>
                      </a:cubicBezTo>
                      <a:cubicBezTo>
                        <a:pt x="64" y="0"/>
                        <a:pt x="60" y="1"/>
                        <a:pt x="56" y="4"/>
                      </a:cubicBezTo>
                      <a:cubicBezTo>
                        <a:pt x="56" y="4"/>
                        <a:pt x="55" y="4"/>
                        <a:pt x="55" y="5"/>
                      </a:cubicBezTo>
                      <a:cubicBezTo>
                        <a:pt x="54" y="5"/>
                        <a:pt x="54" y="6"/>
                        <a:pt x="54" y="6"/>
                      </a:cubicBezTo>
                      <a:cubicBezTo>
                        <a:pt x="54" y="7"/>
                        <a:pt x="54" y="7"/>
                        <a:pt x="53" y="7"/>
                      </a:cubicBezTo>
                      <a:cubicBezTo>
                        <a:pt x="22" y="46"/>
                        <a:pt x="22" y="46"/>
                        <a:pt x="22" y="46"/>
                      </a:cubicBezTo>
                      <a:cubicBezTo>
                        <a:pt x="7" y="66"/>
                        <a:pt x="0" y="91"/>
                        <a:pt x="4" y="116"/>
                      </a:cubicBezTo>
                      <a:cubicBezTo>
                        <a:pt x="7" y="141"/>
                        <a:pt x="20" y="163"/>
                        <a:pt x="41" y="179"/>
                      </a:cubicBezTo>
                      <a:cubicBezTo>
                        <a:pt x="736" y="687"/>
                        <a:pt x="736" y="687"/>
                        <a:pt x="736" y="687"/>
                      </a:cubicBezTo>
                      <a:cubicBezTo>
                        <a:pt x="756" y="702"/>
                        <a:pt x="778" y="713"/>
                        <a:pt x="802" y="720"/>
                      </a:cubicBezTo>
                      <a:cubicBezTo>
                        <a:pt x="822" y="726"/>
                        <a:pt x="843" y="729"/>
                        <a:pt x="865" y="729"/>
                      </a:cubicBezTo>
                      <a:cubicBezTo>
                        <a:pt x="1214" y="729"/>
                        <a:pt x="1214" y="729"/>
                        <a:pt x="1214" y="729"/>
                      </a:cubicBezTo>
                      <a:cubicBezTo>
                        <a:pt x="1266" y="729"/>
                        <a:pt x="1308" y="687"/>
                        <a:pt x="1308" y="636"/>
                      </a:cubicBezTo>
                      <a:cubicBezTo>
                        <a:pt x="1308" y="591"/>
                        <a:pt x="1308" y="591"/>
                        <a:pt x="1308" y="591"/>
                      </a:cubicBezTo>
                      <a:cubicBezTo>
                        <a:pt x="1308" y="591"/>
                        <a:pt x="1308" y="591"/>
                        <a:pt x="1308" y="590"/>
                      </a:cubicBezTo>
                      <a:cubicBezTo>
                        <a:pt x="1307" y="589"/>
                        <a:pt x="1307" y="589"/>
                        <a:pt x="1307" y="588"/>
                      </a:cubicBezTo>
                      <a:close/>
                      <a:moveTo>
                        <a:pt x="1264" y="636"/>
                      </a:moveTo>
                      <a:cubicBezTo>
                        <a:pt x="1264" y="663"/>
                        <a:pt x="1241" y="685"/>
                        <a:pt x="1214" y="685"/>
                      </a:cubicBezTo>
                      <a:cubicBezTo>
                        <a:pt x="865" y="685"/>
                        <a:pt x="865" y="685"/>
                        <a:pt x="865" y="685"/>
                      </a:cubicBezTo>
                      <a:cubicBezTo>
                        <a:pt x="847" y="685"/>
                        <a:pt x="830" y="683"/>
                        <a:pt x="815" y="678"/>
                      </a:cubicBezTo>
                      <a:cubicBezTo>
                        <a:pt x="814" y="678"/>
                        <a:pt x="814" y="678"/>
                        <a:pt x="814" y="678"/>
                      </a:cubicBezTo>
                      <a:cubicBezTo>
                        <a:pt x="814" y="678"/>
                        <a:pt x="814" y="678"/>
                        <a:pt x="814" y="678"/>
                      </a:cubicBezTo>
                      <a:cubicBezTo>
                        <a:pt x="796" y="672"/>
                        <a:pt x="778" y="664"/>
                        <a:pt x="762" y="652"/>
                      </a:cubicBezTo>
                      <a:cubicBezTo>
                        <a:pt x="67" y="143"/>
                        <a:pt x="67" y="143"/>
                        <a:pt x="67" y="143"/>
                      </a:cubicBezTo>
                      <a:cubicBezTo>
                        <a:pt x="56" y="135"/>
                        <a:pt x="49" y="124"/>
                        <a:pt x="48" y="111"/>
                      </a:cubicBezTo>
                      <a:cubicBezTo>
                        <a:pt x="47" y="110"/>
                        <a:pt x="47" y="110"/>
                        <a:pt x="47" y="110"/>
                      </a:cubicBezTo>
                      <a:cubicBezTo>
                        <a:pt x="47" y="109"/>
                        <a:pt x="47" y="109"/>
                        <a:pt x="47" y="109"/>
                      </a:cubicBezTo>
                      <a:cubicBezTo>
                        <a:pt x="45" y="96"/>
                        <a:pt x="49" y="84"/>
                        <a:pt x="57" y="72"/>
                      </a:cubicBezTo>
                      <a:cubicBezTo>
                        <a:pt x="72" y="53"/>
                        <a:pt x="72" y="53"/>
                        <a:pt x="72" y="53"/>
                      </a:cubicBezTo>
                      <a:cubicBezTo>
                        <a:pt x="823" y="605"/>
                        <a:pt x="823" y="605"/>
                        <a:pt x="823" y="605"/>
                      </a:cubicBezTo>
                      <a:cubicBezTo>
                        <a:pt x="834" y="613"/>
                        <a:pt x="848" y="618"/>
                        <a:pt x="862" y="618"/>
                      </a:cubicBezTo>
                      <a:cubicBezTo>
                        <a:pt x="1264" y="618"/>
                        <a:pt x="1264" y="618"/>
                        <a:pt x="1264" y="618"/>
                      </a:cubicBezTo>
                      <a:lnTo>
                        <a:pt x="1264" y="63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sp>
              <p:nvSpPr>
                <p:cNvPr id="79" name="Freeform 12">
                  <a:extLst>
                    <a:ext uri="{FF2B5EF4-FFF2-40B4-BE49-F238E27FC236}">
                      <a16:creationId xmlns:a16="http://schemas.microsoft.com/office/drawing/2014/main" id="{F3EAB2E4-9536-4A9A-84AA-61D1D6573BB9}"/>
                    </a:ext>
                  </a:extLst>
                </p:cNvPr>
                <p:cNvSpPr>
                  <a:spLocks/>
                </p:cNvSpPr>
                <p:nvPr/>
              </p:nvSpPr>
              <p:spPr bwMode="auto">
                <a:xfrm>
                  <a:off x="5443538" y="2782888"/>
                  <a:ext cx="1295400" cy="1150938"/>
                </a:xfrm>
                <a:custGeom>
                  <a:avLst/>
                  <a:gdLst>
                    <a:gd name="T0" fmla="*/ 1434 w 1815"/>
                    <a:gd name="T1" fmla="*/ 1376 h 1613"/>
                    <a:gd name="T2" fmla="*/ 1307 w 1815"/>
                    <a:gd name="T3" fmla="*/ 1397 h 1613"/>
                    <a:gd name="T4" fmla="*/ 1299 w 1815"/>
                    <a:gd name="T5" fmla="*/ 1365 h 1613"/>
                    <a:gd name="T6" fmla="*/ 1349 w 1815"/>
                    <a:gd name="T7" fmla="*/ 1256 h 1613"/>
                    <a:gd name="T8" fmla="*/ 1206 w 1815"/>
                    <a:gd name="T9" fmla="*/ 1280 h 1613"/>
                    <a:gd name="T10" fmla="*/ 1198 w 1815"/>
                    <a:gd name="T11" fmla="*/ 1248 h 1613"/>
                    <a:gd name="T12" fmla="*/ 1295 w 1815"/>
                    <a:gd name="T13" fmla="*/ 1128 h 1613"/>
                    <a:gd name="T14" fmla="*/ 1118 w 1815"/>
                    <a:gd name="T15" fmla="*/ 1155 h 1613"/>
                    <a:gd name="T16" fmla="*/ 1111 w 1815"/>
                    <a:gd name="T17" fmla="*/ 1122 h 1613"/>
                    <a:gd name="T18" fmla="*/ 1256 w 1815"/>
                    <a:gd name="T19" fmla="*/ 969 h 1613"/>
                    <a:gd name="T20" fmla="*/ 920 w 1815"/>
                    <a:gd name="T21" fmla="*/ 775 h 1613"/>
                    <a:gd name="T22" fmla="*/ 823 w 1815"/>
                    <a:gd name="T23" fmla="*/ 699 h 1613"/>
                    <a:gd name="T24" fmla="*/ 733 w 1815"/>
                    <a:gd name="T25" fmla="*/ 501 h 1613"/>
                    <a:gd name="T26" fmla="*/ 698 w 1815"/>
                    <a:gd name="T27" fmla="*/ 348 h 1613"/>
                    <a:gd name="T28" fmla="*/ 13 w 1815"/>
                    <a:gd name="T29" fmla="*/ 3 h 1613"/>
                    <a:gd name="T30" fmla="*/ 4 w 1815"/>
                    <a:gd name="T31" fmla="*/ 5 h 1613"/>
                    <a:gd name="T32" fmla="*/ 136 w 1815"/>
                    <a:gd name="T33" fmla="*/ 252 h 1613"/>
                    <a:gd name="T34" fmla="*/ 557 w 1815"/>
                    <a:gd name="T35" fmla="*/ 425 h 1613"/>
                    <a:gd name="T36" fmla="*/ 12 w 1815"/>
                    <a:gd name="T37" fmla="*/ 221 h 1613"/>
                    <a:gd name="T38" fmla="*/ 0 w 1815"/>
                    <a:gd name="T39" fmla="*/ 219 h 1613"/>
                    <a:gd name="T40" fmla="*/ 201 w 1815"/>
                    <a:gd name="T41" fmla="*/ 477 h 1613"/>
                    <a:gd name="T42" fmla="*/ 542 w 1815"/>
                    <a:gd name="T43" fmla="*/ 555 h 1613"/>
                    <a:gd name="T44" fmla="*/ 537 w 1815"/>
                    <a:gd name="T45" fmla="*/ 592 h 1613"/>
                    <a:gd name="T46" fmla="*/ 134 w 1815"/>
                    <a:gd name="T47" fmla="*/ 494 h 1613"/>
                    <a:gd name="T48" fmla="*/ 129 w 1815"/>
                    <a:gd name="T49" fmla="*/ 521 h 1613"/>
                    <a:gd name="T50" fmla="*/ 397 w 1815"/>
                    <a:gd name="T51" fmla="*/ 707 h 1613"/>
                    <a:gd name="T52" fmla="*/ 620 w 1815"/>
                    <a:gd name="T53" fmla="*/ 714 h 1613"/>
                    <a:gd name="T54" fmla="*/ 410 w 1815"/>
                    <a:gd name="T55" fmla="*/ 745 h 1613"/>
                    <a:gd name="T56" fmla="*/ 774 w 1815"/>
                    <a:gd name="T57" fmla="*/ 843 h 1613"/>
                    <a:gd name="T58" fmla="*/ 607 w 1815"/>
                    <a:gd name="T59" fmla="*/ 1041 h 1613"/>
                    <a:gd name="T60" fmla="*/ 618 w 1815"/>
                    <a:gd name="T61" fmla="*/ 1047 h 1613"/>
                    <a:gd name="T62" fmla="*/ 1392 w 1815"/>
                    <a:gd name="T63" fmla="*/ 1613 h 1613"/>
                    <a:gd name="T64" fmla="*/ 1815 w 1815"/>
                    <a:gd name="T65" fmla="*/ 1613 h 1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15" h="1613">
                      <a:moveTo>
                        <a:pt x="1515" y="1438"/>
                      </a:moveTo>
                      <a:cubicBezTo>
                        <a:pt x="1485" y="1422"/>
                        <a:pt x="1458" y="1400"/>
                        <a:pt x="1434" y="1376"/>
                      </a:cubicBezTo>
                      <a:cubicBezTo>
                        <a:pt x="1394" y="1379"/>
                        <a:pt x="1335" y="1385"/>
                        <a:pt x="1315" y="1396"/>
                      </a:cubicBezTo>
                      <a:cubicBezTo>
                        <a:pt x="1311" y="1397"/>
                        <a:pt x="1309" y="1397"/>
                        <a:pt x="1307" y="1397"/>
                      </a:cubicBezTo>
                      <a:cubicBezTo>
                        <a:pt x="1301" y="1397"/>
                        <a:pt x="1295" y="1394"/>
                        <a:pt x="1292" y="1388"/>
                      </a:cubicBezTo>
                      <a:cubicBezTo>
                        <a:pt x="1288" y="1380"/>
                        <a:pt x="1291" y="1370"/>
                        <a:pt x="1299" y="1365"/>
                      </a:cubicBezTo>
                      <a:cubicBezTo>
                        <a:pt x="1321" y="1354"/>
                        <a:pt x="1368" y="1348"/>
                        <a:pt x="1406" y="1344"/>
                      </a:cubicBezTo>
                      <a:cubicBezTo>
                        <a:pt x="1384" y="1317"/>
                        <a:pt x="1365" y="1286"/>
                        <a:pt x="1349" y="1256"/>
                      </a:cubicBezTo>
                      <a:cubicBezTo>
                        <a:pt x="1307" y="1257"/>
                        <a:pt x="1246" y="1262"/>
                        <a:pt x="1213" y="1279"/>
                      </a:cubicBezTo>
                      <a:cubicBezTo>
                        <a:pt x="1211" y="1279"/>
                        <a:pt x="1208" y="1280"/>
                        <a:pt x="1206" y="1280"/>
                      </a:cubicBezTo>
                      <a:cubicBezTo>
                        <a:pt x="1200" y="1280"/>
                        <a:pt x="1193" y="1277"/>
                        <a:pt x="1190" y="1271"/>
                      </a:cubicBezTo>
                      <a:cubicBezTo>
                        <a:pt x="1187" y="1262"/>
                        <a:pt x="1190" y="1253"/>
                        <a:pt x="1198" y="1248"/>
                      </a:cubicBezTo>
                      <a:cubicBezTo>
                        <a:pt x="1233" y="1231"/>
                        <a:pt x="1288" y="1225"/>
                        <a:pt x="1332" y="1223"/>
                      </a:cubicBezTo>
                      <a:cubicBezTo>
                        <a:pt x="1317" y="1190"/>
                        <a:pt x="1305" y="1159"/>
                        <a:pt x="1295" y="1128"/>
                      </a:cubicBezTo>
                      <a:cubicBezTo>
                        <a:pt x="1258" y="1126"/>
                        <a:pt x="1185" y="1127"/>
                        <a:pt x="1124" y="1154"/>
                      </a:cubicBezTo>
                      <a:cubicBezTo>
                        <a:pt x="1121" y="1154"/>
                        <a:pt x="1119" y="1155"/>
                        <a:pt x="1118" y="1155"/>
                      </a:cubicBezTo>
                      <a:cubicBezTo>
                        <a:pt x="1111" y="1155"/>
                        <a:pt x="1105" y="1151"/>
                        <a:pt x="1102" y="1144"/>
                      </a:cubicBezTo>
                      <a:cubicBezTo>
                        <a:pt x="1098" y="1135"/>
                        <a:pt x="1102" y="1125"/>
                        <a:pt x="1111" y="1122"/>
                      </a:cubicBezTo>
                      <a:cubicBezTo>
                        <a:pt x="1172" y="1096"/>
                        <a:pt x="1242" y="1092"/>
                        <a:pt x="1284" y="1094"/>
                      </a:cubicBezTo>
                      <a:cubicBezTo>
                        <a:pt x="1263" y="1024"/>
                        <a:pt x="1256" y="971"/>
                        <a:pt x="1256" y="969"/>
                      </a:cubicBezTo>
                      <a:cubicBezTo>
                        <a:pt x="1254" y="962"/>
                        <a:pt x="1249" y="956"/>
                        <a:pt x="1242" y="955"/>
                      </a:cubicBezTo>
                      <a:cubicBezTo>
                        <a:pt x="1090" y="930"/>
                        <a:pt x="973" y="828"/>
                        <a:pt x="920" y="775"/>
                      </a:cubicBezTo>
                      <a:cubicBezTo>
                        <a:pt x="893" y="747"/>
                        <a:pt x="862" y="723"/>
                        <a:pt x="829" y="702"/>
                      </a:cubicBezTo>
                      <a:cubicBezTo>
                        <a:pt x="827" y="701"/>
                        <a:pt x="825" y="700"/>
                        <a:pt x="823" y="699"/>
                      </a:cubicBezTo>
                      <a:cubicBezTo>
                        <a:pt x="793" y="680"/>
                        <a:pt x="766" y="659"/>
                        <a:pt x="747" y="629"/>
                      </a:cubicBezTo>
                      <a:cubicBezTo>
                        <a:pt x="720" y="589"/>
                        <a:pt x="711" y="547"/>
                        <a:pt x="733" y="501"/>
                      </a:cubicBezTo>
                      <a:cubicBezTo>
                        <a:pt x="737" y="491"/>
                        <a:pt x="740" y="480"/>
                        <a:pt x="743" y="469"/>
                      </a:cubicBezTo>
                      <a:cubicBezTo>
                        <a:pt x="754" y="419"/>
                        <a:pt x="740" y="377"/>
                        <a:pt x="698" y="348"/>
                      </a:cubicBezTo>
                      <a:cubicBezTo>
                        <a:pt x="676" y="333"/>
                        <a:pt x="652" y="321"/>
                        <a:pt x="627" y="312"/>
                      </a:cubicBezTo>
                      <a:cubicBezTo>
                        <a:pt x="410" y="232"/>
                        <a:pt x="206" y="128"/>
                        <a:pt x="13" y="3"/>
                      </a:cubicBezTo>
                      <a:cubicBezTo>
                        <a:pt x="11" y="1"/>
                        <a:pt x="9" y="1"/>
                        <a:pt x="7" y="0"/>
                      </a:cubicBezTo>
                      <a:cubicBezTo>
                        <a:pt x="6" y="2"/>
                        <a:pt x="5" y="4"/>
                        <a:pt x="4" y="5"/>
                      </a:cubicBezTo>
                      <a:cubicBezTo>
                        <a:pt x="4" y="8"/>
                        <a:pt x="3" y="11"/>
                        <a:pt x="3" y="14"/>
                      </a:cubicBezTo>
                      <a:cubicBezTo>
                        <a:pt x="5" y="117"/>
                        <a:pt x="42" y="202"/>
                        <a:pt x="136" y="252"/>
                      </a:cubicBezTo>
                      <a:cubicBezTo>
                        <a:pt x="262" y="319"/>
                        <a:pt x="395" y="368"/>
                        <a:pt x="535" y="401"/>
                      </a:cubicBezTo>
                      <a:cubicBezTo>
                        <a:pt x="548" y="404"/>
                        <a:pt x="560" y="408"/>
                        <a:pt x="557" y="425"/>
                      </a:cubicBezTo>
                      <a:cubicBezTo>
                        <a:pt x="553" y="441"/>
                        <a:pt x="541" y="440"/>
                        <a:pt x="527" y="437"/>
                      </a:cubicBezTo>
                      <a:cubicBezTo>
                        <a:pt x="344" y="392"/>
                        <a:pt x="170" y="325"/>
                        <a:pt x="12" y="221"/>
                      </a:cubicBezTo>
                      <a:cubicBezTo>
                        <a:pt x="9" y="219"/>
                        <a:pt x="6" y="218"/>
                        <a:pt x="3" y="216"/>
                      </a:cubicBezTo>
                      <a:cubicBezTo>
                        <a:pt x="2" y="218"/>
                        <a:pt x="2" y="218"/>
                        <a:pt x="0" y="219"/>
                      </a:cubicBezTo>
                      <a:cubicBezTo>
                        <a:pt x="10" y="249"/>
                        <a:pt x="18" y="280"/>
                        <a:pt x="31" y="309"/>
                      </a:cubicBezTo>
                      <a:cubicBezTo>
                        <a:pt x="66" y="386"/>
                        <a:pt x="117" y="450"/>
                        <a:pt x="201" y="477"/>
                      </a:cubicBezTo>
                      <a:cubicBezTo>
                        <a:pt x="271" y="500"/>
                        <a:pt x="344" y="518"/>
                        <a:pt x="416" y="535"/>
                      </a:cubicBezTo>
                      <a:cubicBezTo>
                        <a:pt x="457" y="545"/>
                        <a:pt x="500" y="549"/>
                        <a:pt x="542" y="555"/>
                      </a:cubicBezTo>
                      <a:cubicBezTo>
                        <a:pt x="553" y="557"/>
                        <a:pt x="561" y="563"/>
                        <a:pt x="560" y="575"/>
                      </a:cubicBezTo>
                      <a:cubicBezTo>
                        <a:pt x="558" y="589"/>
                        <a:pt x="549" y="593"/>
                        <a:pt x="537" y="592"/>
                      </a:cubicBezTo>
                      <a:cubicBezTo>
                        <a:pt x="535" y="592"/>
                        <a:pt x="532" y="591"/>
                        <a:pt x="530" y="591"/>
                      </a:cubicBezTo>
                      <a:cubicBezTo>
                        <a:pt x="394" y="574"/>
                        <a:pt x="262" y="541"/>
                        <a:pt x="134" y="494"/>
                      </a:cubicBezTo>
                      <a:cubicBezTo>
                        <a:pt x="128" y="492"/>
                        <a:pt x="123" y="490"/>
                        <a:pt x="113" y="487"/>
                      </a:cubicBezTo>
                      <a:cubicBezTo>
                        <a:pt x="120" y="501"/>
                        <a:pt x="123" y="512"/>
                        <a:pt x="129" y="521"/>
                      </a:cubicBezTo>
                      <a:cubicBezTo>
                        <a:pt x="162" y="579"/>
                        <a:pt x="206" y="627"/>
                        <a:pt x="261" y="665"/>
                      </a:cubicBezTo>
                      <a:cubicBezTo>
                        <a:pt x="302" y="693"/>
                        <a:pt x="347" y="709"/>
                        <a:pt x="397" y="707"/>
                      </a:cubicBezTo>
                      <a:cubicBezTo>
                        <a:pt x="463" y="704"/>
                        <a:pt x="528" y="701"/>
                        <a:pt x="594" y="698"/>
                      </a:cubicBezTo>
                      <a:cubicBezTo>
                        <a:pt x="607" y="697"/>
                        <a:pt x="619" y="698"/>
                        <a:pt x="620" y="714"/>
                      </a:cubicBezTo>
                      <a:cubicBezTo>
                        <a:pt x="621" y="729"/>
                        <a:pt x="611" y="734"/>
                        <a:pt x="597" y="734"/>
                      </a:cubicBezTo>
                      <a:cubicBezTo>
                        <a:pt x="535" y="738"/>
                        <a:pt x="472" y="741"/>
                        <a:pt x="410" y="745"/>
                      </a:cubicBezTo>
                      <a:cubicBezTo>
                        <a:pt x="406" y="745"/>
                        <a:pt x="402" y="746"/>
                        <a:pt x="395" y="746"/>
                      </a:cubicBezTo>
                      <a:cubicBezTo>
                        <a:pt x="491" y="867"/>
                        <a:pt x="635" y="881"/>
                        <a:pt x="774" y="843"/>
                      </a:cubicBezTo>
                      <a:cubicBezTo>
                        <a:pt x="782" y="837"/>
                        <a:pt x="782" y="837"/>
                        <a:pt x="782" y="837"/>
                      </a:cubicBezTo>
                      <a:cubicBezTo>
                        <a:pt x="686" y="948"/>
                        <a:pt x="634" y="1009"/>
                        <a:pt x="607" y="1041"/>
                      </a:cubicBezTo>
                      <a:cubicBezTo>
                        <a:pt x="610" y="1043"/>
                        <a:pt x="614" y="1044"/>
                        <a:pt x="617" y="1046"/>
                      </a:cubicBezTo>
                      <a:cubicBezTo>
                        <a:pt x="618" y="1047"/>
                        <a:pt x="618" y="1047"/>
                        <a:pt x="618" y="1047"/>
                      </a:cubicBezTo>
                      <a:cubicBezTo>
                        <a:pt x="1379" y="1608"/>
                        <a:pt x="1379" y="1608"/>
                        <a:pt x="1379" y="1608"/>
                      </a:cubicBezTo>
                      <a:cubicBezTo>
                        <a:pt x="1383" y="1611"/>
                        <a:pt x="1388" y="1613"/>
                        <a:pt x="1392" y="1613"/>
                      </a:cubicBezTo>
                      <a:cubicBezTo>
                        <a:pt x="1810" y="1613"/>
                        <a:pt x="1810" y="1613"/>
                        <a:pt x="1810" y="1613"/>
                      </a:cubicBezTo>
                      <a:cubicBezTo>
                        <a:pt x="1812" y="1613"/>
                        <a:pt x="1813" y="1613"/>
                        <a:pt x="1815" y="1613"/>
                      </a:cubicBezTo>
                      <a:cubicBezTo>
                        <a:pt x="1761" y="1487"/>
                        <a:pt x="1544" y="1443"/>
                        <a:pt x="1515" y="1438"/>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grpSp>
        </p:grpSp>
        <p:sp>
          <p:nvSpPr>
            <p:cNvPr id="97" name="object 4">
              <a:extLst>
                <a:ext uri="{FF2B5EF4-FFF2-40B4-BE49-F238E27FC236}">
                  <a16:creationId xmlns:a16="http://schemas.microsoft.com/office/drawing/2014/main" id="{172595A7-AA10-44BF-A437-CB5941C59CF1}"/>
                </a:ext>
              </a:extLst>
            </p:cNvPr>
            <p:cNvSpPr txBox="1">
              <a:spLocks/>
            </p:cNvSpPr>
            <p:nvPr/>
          </p:nvSpPr>
          <p:spPr>
            <a:xfrm>
              <a:off x="7327900" y="3579771"/>
              <a:ext cx="4235300" cy="440579"/>
            </a:xfrm>
            <a:prstGeom prst="rect">
              <a:avLst/>
            </a:prstGeom>
          </p:spPr>
          <p:txBody>
            <a:bodyPr vert="horz" wrap="square" lIns="0" tIns="9598" rIns="0" bIns="0" rtlCol="0">
              <a:spAutoFit/>
            </a:bodyPr>
            <a:lstStyle>
              <a:lvl1pPr marL="0" indent="0" algn="l" defTabSz="914400" rtl="0" eaLnBrk="1" latinLnBrk="0" hangingPunct="1">
                <a:lnSpc>
                  <a:spcPct val="110000"/>
                </a:lnSpc>
                <a:spcBef>
                  <a:spcPts val="600"/>
                </a:spcBef>
                <a:spcAft>
                  <a:spcPts val="300"/>
                </a:spcAft>
                <a:buClr>
                  <a:srgbClr val="DC0532"/>
                </a:buClr>
                <a:buFont typeface="Arial" panose="020B0604020202020204" pitchFamily="34" charset="0"/>
                <a:buChar char="​"/>
                <a:defRPr lang="en-US" sz="1200" kern="1200">
                  <a:solidFill>
                    <a:srgbClr val="4D4D4D"/>
                  </a:solidFill>
                  <a:latin typeface="+mn-lt"/>
                  <a:ea typeface="+mn-ea"/>
                  <a:cs typeface="+mn-cs"/>
                  <a:sym typeface="+mn-lt"/>
                </a:defRPr>
              </a:lvl1pPr>
              <a:lvl2pPr marL="284400" indent="-172800" algn="l" defTabSz="914400" rtl="0" eaLnBrk="1" latinLnBrk="0" hangingPunct="1">
                <a:lnSpc>
                  <a:spcPct val="90000"/>
                </a:lnSpc>
                <a:spcBef>
                  <a:spcPts val="0"/>
                </a:spcBef>
                <a:spcAft>
                  <a:spcPts val="300"/>
                </a:spcAft>
                <a:buClr>
                  <a:srgbClr val="DC0532"/>
                </a:buClr>
                <a:buFont typeface="Arial" panose="020B0604020202020204" pitchFamily="34" charset="0"/>
                <a:buChar char="•"/>
                <a:defRPr lang="en-US" sz="1200" kern="1200">
                  <a:solidFill>
                    <a:srgbClr val="4D4D4D"/>
                  </a:solidFill>
                  <a:latin typeface="+mn-lt"/>
                  <a:ea typeface="+mn-ea"/>
                  <a:cs typeface="+mn-cs"/>
                  <a:sym typeface="+mn-lt"/>
                </a:defRPr>
              </a:lvl2pPr>
              <a:lvl3pPr marL="511200" indent="-165600" algn="l" defTabSz="914400" rtl="0" eaLnBrk="1" latinLnBrk="0" hangingPunct="1">
                <a:lnSpc>
                  <a:spcPct val="90000"/>
                </a:lnSpc>
                <a:spcBef>
                  <a:spcPts val="0"/>
                </a:spcBef>
                <a:spcAft>
                  <a:spcPts val="300"/>
                </a:spcAft>
                <a:buClr>
                  <a:srgbClr val="DC0532"/>
                </a:buClr>
                <a:buFont typeface="Trebuchet MS" panose="020B0603020202020204" pitchFamily="34" charset="0"/>
                <a:buChar char="–"/>
                <a:defRPr lang="en-US" sz="1200" kern="1200">
                  <a:solidFill>
                    <a:srgbClr val="4D4D4D"/>
                  </a:solidFill>
                  <a:latin typeface="+mn-lt"/>
                  <a:ea typeface="+mn-ea"/>
                  <a:cs typeface="+mn-cs"/>
                  <a:sym typeface="+mn-lt"/>
                </a:defRPr>
              </a:lvl3pPr>
              <a:lvl4pPr marL="0" indent="0" algn="l" defTabSz="914400" rtl="0" eaLnBrk="1" latinLnBrk="0" hangingPunct="1">
                <a:lnSpc>
                  <a:spcPct val="110000"/>
                </a:lnSpc>
                <a:spcBef>
                  <a:spcPts val="300"/>
                </a:spcBef>
                <a:spcAft>
                  <a:spcPts val="300"/>
                </a:spcAft>
                <a:buClr>
                  <a:srgbClr val="DC0532"/>
                </a:buClr>
                <a:buFont typeface="Arial" panose="020B0604020202020204" pitchFamily="34" charset="0"/>
                <a:buChar char="​"/>
                <a:defRPr lang="en-US" sz="1600" kern="1200">
                  <a:solidFill>
                    <a:srgbClr val="DC0532"/>
                  </a:solidFill>
                  <a:latin typeface="+mn-lt"/>
                  <a:ea typeface="+mn-ea"/>
                  <a:cs typeface="+mn-cs"/>
                  <a:sym typeface="+mn-lt"/>
                </a:defRPr>
              </a:lvl4pPr>
              <a:lvl5pPr marL="0" indent="0" algn="l" defTabSz="914400" rtl="0" eaLnBrk="1" latinLnBrk="0" hangingPunct="1">
                <a:lnSpc>
                  <a:spcPct val="100000"/>
                </a:lnSpc>
                <a:spcBef>
                  <a:spcPts val="0"/>
                </a:spcBef>
                <a:spcAft>
                  <a:spcPts val="300"/>
                </a:spcAft>
                <a:buClr>
                  <a:srgbClr val="DC0532"/>
                </a:buClr>
                <a:buFont typeface="Arial" panose="020B0604020202020204" pitchFamily="34" charset="0"/>
                <a:buChar char="​"/>
                <a:defRPr lang="en-US" sz="1600" b="1" kern="1200" smtClean="0">
                  <a:solidFill>
                    <a:srgbClr val="4D4D4D"/>
                  </a:solidFill>
                  <a:latin typeface="+mn-lt"/>
                  <a:ea typeface="+mn-ea"/>
                  <a:cs typeface="+mn-cs"/>
                  <a:sym typeface="+mn-lt"/>
                </a:defRPr>
              </a:lvl5pPr>
              <a:lvl6pPr marL="269875" indent="-152400" algn="l" defTabSz="914400" rtl="0" eaLnBrk="1" latinLnBrk="0" hangingPunct="1">
                <a:lnSpc>
                  <a:spcPct val="90000"/>
                </a:lnSpc>
                <a:spcBef>
                  <a:spcPts val="0"/>
                </a:spcBef>
                <a:spcAft>
                  <a:spcPts val="600"/>
                </a:spcAft>
                <a:buClr>
                  <a:srgbClr val="DC0532"/>
                </a:buClr>
                <a:buFont typeface="Arial" panose="020B0604020202020204" pitchFamily="34" charset="0"/>
                <a:buChar char="•"/>
                <a:defRPr lang="en-US" sz="1600" kern="1200" smtClean="0">
                  <a:solidFill>
                    <a:srgbClr val="4D4D4D"/>
                  </a:solidFill>
                  <a:latin typeface="+mn-lt"/>
                  <a:ea typeface="+mn-ea"/>
                  <a:cs typeface="+mn-cs"/>
                  <a:sym typeface="+mn-lt"/>
                </a:defRPr>
              </a:lvl6pPr>
              <a:lvl7pPr marL="0" indent="0" algn="l" defTabSz="914400" rtl="0" eaLnBrk="1" latinLnBrk="0" hangingPunct="1">
                <a:lnSpc>
                  <a:spcPct val="90000"/>
                </a:lnSpc>
                <a:spcBef>
                  <a:spcPts val="900"/>
                </a:spcBef>
                <a:spcAft>
                  <a:spcPts val="900"/>
                </a:spcAft>
                <a:buClr>
                  <a:srgbClr val="DC0532"/>
                </a:buClr>
                <a:buFont typeface="Arial" panose="020B0604020202020204" pitchFamily="34" charset="0"/>
                <a:buChar char="​"/>
                <a:defRPr lang="en-US" sz="4400" kern="1200" baseline="0" smtClean="0">
                  <a:solidFill>
                    <a:srgbClr val="4D4D4D"/>
                  </a:solidFill>
                  <a:latin typeface="+mn-lt"/>
                  <a:ea typeface="+mn-ea"/>
                  <a:cs typeface="+mn-cs"/>
                  <a:sym typeface="+mn-lt"/>
                </a:defRPr>
              </a:lvl7pPr>
              <a:lvl8pPr marL="0" indent="0" algn="l" defTabSz="914400" rtl="0" eaLnBrk="1" latinLnBrk="0" hangingPunct="1">
                <a:lnSpc>
                  <a:spcPct val="90000"/>
                </a:lnSpc>
                <a:spcBef>
                  <a:spcPts val="900"/>
                </a:spcBef>
                <a:spcAft>
                  <a:spcPts val="0"/>
                </a:spcAft>
                <a:buClr>
                  <a:srgbClr val="DC0532"/>
                </a:buClr>
                <a:buFont typeface="Arial" panose="020B0604020202020204" pitchFamily="34" charset="0"/>
                <a:buChar char="​"/>
                <a:defRPr lang="en-US" sz="5400" kern="1200" baseline="0" smtClean="0">
                  <a:solidFill>
                    <a:srgbClr val="DC0532"/>
                  </a:solidFill>
                  <a:latin typeface="+mn-lt"/>
                  <a:ea typeface="+mn-ea"/>
                  <a:cs typeface="+mn-cs"/>
                  <a:sym typeface="+mn-lt"/>
                </a:defRPr>
              </a:lvl8pPr>
              <a:lvl9pPr marL="0" indent="0" algn="l" defTabSz="914400" rtl="0" eaLnBrk="1" latinLnBrk="0" hangingPunct="1">
                <a:lnSpc>
                  <a:spcPct val="100000"/>
                </a:lnSpc>
                <a:spcBef>
                  <a:spcPts val="0"/>
                </a:spcBef>
                <a:spcAft>
                  <a:spcPts val="900"/>
                </a:spcAft>
                <a:buClr>
                  <a:srgbClr val="DC0532"/>
                </a:buClr>
                <a:buFont typeface="Arial" panose="020B0604020202020204" pitchFamily="34" charset="0"/>
                <a:buChar char="​"/>
                <a:defRPr lang="en-US" sz="2400" kern="1200" baseline="0" dirty="0">
                  <a:solidFill>
                    <a:srgbClr val="DC0532"/>
                  </a:solidFill>
                  <a:latin typeface="+mn-lt"/>
                  <a:ea typeface="+mn-ea"/>
                  <a:cs typeface="+mn-cs"/>
                  <a:sym typeface="+mn-lt"/>
                </a:defRPr>
              </a:lvl9pPr>
            </a:lstStyle>
            <a:p>
              <a:pPr marL="10104">
                <a:lnSpc>
                  <a:spcPct val="100000"/>
                </a:lnSpc>
                <a:spcBef>
                  <a:spcPts val="75"/>
                </a:spcBef>
              </a:pPr>
              <a:r>
                <a:rPr lang="en-ZA" sz="1400" spc="-4"/>
                <a:t>Leverage a robust </a:t>
              </a:r>
              <a:r>
                <a:rPr lang="en-ZA" sz="1400" spc="-4">
                  <a:solidFill>
                    <a:schemeClr val="tx2"/>
                  </a:solidFill>
                </a:rPr>
                <a:t>set of curricula </a:t>
              </a:r>
              <a:r>
                <a:rPr lang="en-ZA" sz="1400" spc="-4"/>
                <a:t>based on the specific context and customer DNA</a:t>
              </a:r>
            </a:p>
          </p:txBody>
        </p:sp>
      </p:grpSp>
      <p:grpSp>
        <p:nvGrpSpPr>
          <p:cNvPr id="104" name="Group 103">
            <a:extLst>
              <a:ext uri="{FF2B5EF4-FFF2-40B4-BE49-F238E27FC236}">
                <a16:creationId xmlns:a16="http://schemas.microsoft.com/office/drawing/2014/main" id="{92BED635-1098-4AA2-A26D-582A9ED03E2B}"/>
              </a:ext>
            </a:extLst>
          </p:cNvPr>
          <p:cNvGrpSpPr/>
          <p:nvPr/>
        </p:nvGrpSpPr>
        <p:grpSpPr>
          <a:xfrm>
            <a:off x="6567560" y="4106135"/>
            <a:ext cx="4995640" cy="553998"/>
            <a:chOff x="6567560" y="4021197"/>
            <a:chExt cx="4995640" cy="553998"/>
          </a:xfrm>
        </p:grpSpPr>
        <p:grpSp>
          <p:nvGrpSpPr>
            <p:cNvPr id="80" name="Group 79">
              <a:extLst>
                <a:ext uri="{FF2B5EF4-FFF2-40B4-BE49-F238E27FC236}">
                  <a16:creationId xmlns:a16="http://schemas.microsoft.com/office/drawing/2014/main" id="{9232B17A-7FC2-4205-B9AC-F744EAC10537}"/>
                </a:ext>
              </a:extLst>
            </p:cNvPr>
            <p:cNvGrpSpPr>
              <a:grpSpLocks noChangeAspect="1"/>
            </p:cNvGrpSpPr>
            <p:nvPr/>
          </p:nvGrpSpPr>
          <p:grpSpPr>
            <a:xfrm>
              <a:off x="6567560" y="4021197"/>
              <a:ext cx="554535" cy="553998"/>
              <a:chOff x="6464300" y="2606675"/>
              <a:chExt cx="1646238" cy="1644650"/>
            </a:xfrm>
          </p:grpSpPr>
          <p:sp>
            <p:nvSpPr>
              <p:cNvPr id="81" name="AutoShape 14">
                <a:extLst>
                  <a:ext uri="{FF2B5EF4-FFF2-40B4-BE49-F238E27FC236}">
                    <a16:creationId xmlns:a16="http://schemas.microsoft.com/office/drawing/2014/main" id="{F99B926A-28DD-4860-B75A-CF938FD51628}"/>
                  </a:ext>
                </a:extLst>
              </p:cNvPr>
              <p:cNvSpPr>
                <a:spLocks noChangeAspect="1" noChangeArrowheads="1" noTextEdit="1"/>
              </p:cNvSpPr>
              <p:nvPr/>
            </p:nvSpPr>
            <p:spPr bwMode="auto">
              <a:xfrm>
                <a:off x="6464300"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grpSp>
            <p:nvGrpSpPr>
              <p:cNvPr id="82" name="Group 81">
                <a:extLst>
                  <a:ext uri="{FF2B5EF4-FFF2-40B4-BE49-F238E27FC236}">
                    <a16:creationId xmlns:a16="http://schemas.microsoft.com/office/drawing/2014/main" id="{7B94C345-7153-4471-9794-54158E3D7A43}"/>
                  </a:ext>
                </a:extLst>
              </p:cNvPr>
              <p:cNvGrpSpPr/>
              <p:nvPr/>
            </p:nvGrpSpPr>
            <p:grpSpPr>
              <a:xfrm>
                <a:off x="6705513" y="2849420"/>
                <a:ext cx="1162224" cy="1160746"/>
                <a:chOff x="6705513" y="2849420"/>
                <a:chExt cx="1162224" cy="1160746"/>
              </a:xfrm>
            </p:grpSpPr>
            <p:sp>
              <p:nvSpPr>
                <p:cNvPr id="83" name="Freeform 9">
                  <a:extLst>
                    <a:ext uri="{FF2B5EF4-FFF2-40B4-BE49-F238E27FC236}">
                      <a16:creationId xmlns:a16="http://schemas.microsoft.com/office/drawing/2014/main" id="{85723BE2-BEF8-402D-8604-286270803EBD}"/>
                    </a:ext>
                  </a:extLst>
                </p:cNvPr>
                <p:cNvSpPr>
                  <a:spLocks/>
                </p:cNvSpPr>
                <p:nvPr/>
              </p:nvSpPr>
              <p:spPr bwMode="auto">
                <a:xfrm>
                  <a:off x="6705513" y="2852632"/>
                  <a:ext cx="1159037" cy="1157513"/>
                </a:xfrm>
                <a:custGeom>
                  <a:avLst/>
                  <a:gdLst>
                    <a:gd name="connsiteX0" fmla="*/ 210432 w 1159037"/>
                    <a:gd name="connsiteY0" fmla="*/ 1043093 h 1157513"/>
                    <a:gd name="connsiteX1" fmla="*/ 225514 w 1159037"/>
                    <a:gd name="connsiteY1" fmla="*/ 1058175 h 1157513"/>
                    <a:gd name="connsiteX2" fmla="*/ 210432 w 1159037"/>
                    <a:gd name="connsiteY2" fmla="*/ 1073257 h 1157513"/>
                    <a:gd name="connsiteX3" fmla="*/ 195350 w 1159037"/>
                    <a:gd name="connsiteY3" fmla="*/ 1058175 h 1157513"/>
                    <a:gd name="connsiteX4" fmla="*/ 210432 w 1159037"/>
                    <a:gd name="connsiteY4" fmla="*/ 1043093 h 1157513"/>
                    <a:gd name="connsiteX5" fmla="*/ 153607 w 1159037"/>
                    <a:gd name="connsiteY5" fmla="*/ 817668 h 1157513"/>
                    <a:gd name="connsiteX6" fmla="*/ 268843 w 1159037"/>
                    <a:gd name="connsiteY6" fmla="*/ 817668 h 1157513"/>
                    <a:gd name="connsiteX7" fmla="*/ 273137 w 1159037"/>
                    <a:gd name="connsiteY7" fmla="*/ 822659 h 1157513"/>
                    <a:gd name="connsiteX8" fmla="*/ 273137 w 1159037"/>
                    <a:gd name="connsiteY8" fmla="*/ 1016590 h 1157513"/>
                    <a:gd name="connsiteX9" fmla="*/ 268843 w 1159037"/>
                    <a:gd name="connsiteY9" fmla="*/ 1020868 h 1157513"/>
                    <a:gd name="connsiteX10" fmla="*/ 153607 w 1159037"/>
                    <a:gd name="connsiteY10" fmla="*/ 1020868 h 1157513"/>
                    <a:gd name="connsiteX11" fmla="*/ 149312 w 1159037"/>
                    <a:gd name="connsiteY11" fmla="*/ 1016590 h 1157513"/>
                    <a:gd name="connsiteX12" fmla="*/ 149312 w 1159037"/>
                    <a:gd name="connsiteY12" fmla="*/ 822659 h 1157513"/>
                    <a:gd name="connsiteX13" fmla="*/ 153607 w 1159037"/>
                    <a:gd name="connsiteY13" fmla="*/ 817668 h 1157513"/>
                    <a:gd name="connsiteX14" fmla="*/ 139397 w 1159037"/>
                    <a:gd name="connsiteY14" fmla="*/ 797031 h 1157513"/>
                    <a:gd name="connsiteX15" fmla="*/ 128676 w 1159037"/>
                    <a:gd name="connsiteY15" fmla="*/ 807710 h 1157513"/>
                    <a:gd name="connsiteX16" fmla="*/ 128676 w 1159037"/>
                    <a:gd name="connsiteY16" fmla="*/ 1083216 h 1157513"/>
                    <a:gd name="connsiteX17" fmla="*/ 139397 w 1159037"/>
                    <a:gd name="connsiteY17" fmla="*/ 1093894 h 1157513"/>
                    <a:gd name="connsiteX18" fmla="*/ 283055 w 1159037"/>
                    <a:gd name="connsiteY18" fmla="*/ 1093894 h 1157513"/>
                    <a:gd name="connsiteX19" fmla="*/ 293776 w 1159037"/>
                    <a:gd name="connsiteY19" fmla="*/ 1083216 h 1157513"/>
                    <a:gd name="connsiteX20" fmla="*/ 293776 w 1159037"/>
                    <a:gd name="connsiteY20" fmla="*/ 807710 h 1157513"/>
                    <a:gd name="connsiteX21" fmla="*/ 283055 w 1159037"/>
                    <a:gd name="connsiteY21" fmla="*/ 797031 h 1157513"/>
                    <a:gd name="connsiteX22" fmla="*/ 139397 w 1159037"/>
                    <a:gd name="connsiteY22" fmla="*/ 797031 h 1157513"/>
                    <a:gd name="connsiteX23" fmla="*/ 508450 w 1159037"/>
                    <a:gd name="connsiteY23" fmla="*/ 634945 h 1157513"/>
                    <a:gd name="connsiteX24" fmla="*/ 519797 w 1159037"/>
                    <a:gd name="connsiteY24" fmla="*/ 639227 h 1157513"/>
                    <a:gd name="connsiteX25" fmla="*/ 581265 w 1159037"/>
                    <a:gd name="connsiteY25" fmla="*/ 664919 h 1157513"/>
                    <a:gd name="connsiteX26" fmla="*/ 596989 w 1159037"/>
                    <a:gd name="connsiteY26" fmla="*/ 680619 h 1157513"/>
                    <a:gd name="connsiteX27" fmla="*/ 581265 w 1159037"/>
                    <a:gd name="connsiteY27" fmla="*/ 696319 h 1157513"/>
                    <a:gd name="connsiteX28" fmla="*/ 509076 w 1159037"/>
                    <a:gd name="connsiteY28" fmla="*/ 672055 h 1157513"/>
                    <a:gd name="connsiteX29" fmla="*/ 371130 w 1159037"/>
                    <a:gd name="connsiteY29" fmla="*/ 809789 h 1157513"/>
                    <a:gd name="connsiteX30" fmla="*/ 360409 w 1159037"/>
                    <a:gd name="connsiteY30" fmla="*/ 1095962 h 1157513"/>
                    <a:gd name="connsiteX31" fmla="*/ 61647 w 1159037"/>
                    <a:gd name="connsiteY31" fmla="*/ 1095962 h 1157513"/>
                    <a:gd name="connsiteX32" fmla="*/ 61647 w 1159037"/>
                    <a:gd name="connsiteY32" fmla="*/ 797657 h 1157513"/>
                    <a:gd name="connsiteX33" fmla="*/ 348973 w 1159037"/>
                    <a:gd name="connsiteY33" fmla="*/ 787666 h 1157513"/>
                    <a:gd name="connsiteX34" fmla="*/ 497640 w 1159037"/>
                    <a:gd name="connsiteY34" fmla="*/ 639227 h 1157513"/>
                    <a:gd name="connsiteX35" fmla="*/ 508450 w 1159037"/>
                    <a:gd name="connsiteY35" fmla="*/ 634945 h 1157513"/>
                    <a:gd name="connsiteX36" fmla="*/ 581112 w 1159037"/>
                    <a:gd name="connsiteY36" fmla="*/ 530331 h 1157513"/>
                    <a:gd name="connsiteX37" fmla="*/ 628737 w 1159037"/>
                    <a:gd name="connsiteY37" fmla="*/ 577163 h 1157513"/>
                    <a:gd name="connsiteX38" fmla="*/ 581112 w 1159037"/>
                    <a:gd name="connsiteY38" fmla="*/ 623995 h 1157513"/>
                    <a:gd name="connsiteX39" fmla="*/ 533487 w 1159037"/>
                    <a:gd name="connsiteY39" fmla="*/ 577163 h 1157513"/>
                    <a:gd name="connsiteX40" fmla="*/ 581112 w 1159037"/>
                    <a:gd name="connsiteY40" fmla="*/ 530331 h 1157513"/>
                    <a:gd name="connsiteX41" fmla="*/ 947825 w 1159037"/>
                    <a:gd name="connsiteY41" fmla="*/ 189018 h 1157513"/>
                    <a:gd name="connsiteX42" fmla="*/ 927187 w 1159037"/>
                    <a:gd name="connsiteY42" fmla="*/ 209656 h 1157513"/>
                    <a:gd name="connsiteX43" fmla="*/ 947825 w 1159037"/>
                    <a:gd name="connsiteY43" fmla="*/ 230294 h 1157513"/>
                    <a:gd name="connsiteX44" fmla="*/ 968463 w 1159037"/>
                    <a:gd name="connsiteY44" fmla="*/ 209656 h 1157513"/>
                    <a:gd name="connsiteX45" fmla="*/ 947825 w 1159037"/>
                    <a:gd name="connsiteY45" fmla="*/ 189018 h 1157513"/>
                    <a:gd name="connsiteX46" fmla="*/ 992489 w 1159037"/>
                    <a:gd name="connsiteY46" fmla="*/ 157102 h 1157513"/>
                    <a:gd name="connsiteX47" fmla="*/ 981848 w 1159037"/>
                    <a:gd name="connsiteY47" fmla="*/ 161363 h 1157513"/>
                    <a:gd name="connsiteX48" fmla="*/ 981144 w 1159037"/>
                    <a:gd name="connsiteY48" fmla="*/ 183379 h 1157513"/>
                    <a:gd name="connsiteX49" fmla="*/ 980441 w 1159037"/>
                    <a:gd name="connsiteY49" fmla="*/ 238064 h 1157513"/>
                    <a:gd name="connsiteX50" fmla="*/ 982551 w 1159037"/>
                    <a:gd name="connsiteY50" fmla="*/ 260080 h 1157513"/>
                    <a:gd name="connsiteX51" fmla="*/ 992401 w 1159037"/>
                    <a:gd name="connsiteY51" fmla="*/ 263631 h 1157513"/>
                    <a:gd name="connsiteX52" fmla="*/ 1004362 w 1159037"/>
                    <a:gd name="connsiteY52" fmla="*/ 257239 h 1157513"/>
                    <a:gd name="connsiteX53" fmla="*/ 1003658 w 1159037"/>
                    <a:gd name="connsiteY53" fmla="*/ 161363 h 1157513"/>
                    <a:gd name="connsiteX54" fmla="*/ 992489 w 1159037"/>
                    <a:gd name="connsiteY54" fmla="*/ 157102 h 1157513"/>
                    <a:gd name="connsiteX55" fmla="*/ 903337 w 1159037"/>
                    <a:gd name="connsiteY55" fmla="*/ 157102 h 1157513"/>
                    <a:gd name="connsiteX56" fmla="*/ 892696 w 1159037"/>
                    <a:gd name="connsiteY56" fmla="*/ 161363 h 1157513"/>
                    <a:gd name="connsiteX57" fmla="*/ 891289 w 1159037"/>
                    <a:gd name="connsiteY57" fmla="*/ 257239 h 1157513"/>
                    <a:gd name="connsiteX58" fmla="*/ 903249 w 1159037"/>
                    <a:gd name="connsiteY58" fmla="*/ 263631 h 1157513"/>
                    <a:gd name="connsiteX59" fmla="*/ 913099 w 1159037"/>
                    <a:gd name="connsiteY59" fmla="*/ 260080 h 1157513"/>
                    <a:gd name="connsiteX60" fmla="*/ 915913 w 1159037"/>
                    <a:gd name="connsiteY60" fmla="*/ 238064 h 1157513"/>
                    <a:gd name="connsiteX61" fmla="*/ 914506 w 1159037"/>
                    <a:gd name="connsiteY61" fmla="*/ 183379 h 1157513"/>
                    <a:gd name="connsiteX62" fmla="*/ 914506 w 1159037"/>
                    <a:gd name="connsiteY62" fmla="*/ 161363 h 1157513"/>
                    <a:gd name="connsiteX63" fmla="*/ 903337 w 1159037"/>
                    <a:gd name="connsiteY63" fmla="*/ 157102 h 1157513"/>
                    <a:gd name="connsiteX64" fmla="*/ 1028876 w 1159037"/>
                    <a:gd name="connsiteY64" fmla="*/ 125443 h 1157513"/>
                    <a:gd name="connsiteX65" fmla="*/ 1017675 w 1159037"/>
                    <a:gd name="connsiteY65" fmla="*/ 129622 h 1157513"/>
                    <a:gd name="connsiteX66" fmla="*/ 1017675 w 1159037"/>
                    <a:gd name="connsiteY66" fmla="*/ 152388 h 1157513"/>
                    <a:gd name="connsiteX67" fmla="*/ 1016264 w 1159037"/>
                    <a:gd name="connsiteY67" fmla="*/ 270482 h 1157513"/>
                    <a:gd name="connsiteX68" fmla="*/ 1019086 w 1159037"/>
                    <a:gd name="connsiteY68" fmla="*/ 292535 h 1157513"/>
                    <a:gd name="connsiteX69" fmla="*/ 1028964 w 1159037"/>
                    <a:gd name="connsiteY69" fmla="*/ 295381 h 1157513"/>
                    <a:gd name="connsiteX70" fmla="*/ 1040959 w 1159037"/>
                    <a:gd name="connsiteY70" fmla="*/ 289690 h 1157513"/>
                    <a:gd name="connsiteX71" fmla="*/ 1039547 w 1159037"/>
                    <a:gd name="connsiteY71" fmla="*/ 130334 h 1157513"/>
                    <a:gd name="connsiteX72" fmla="*/ 1028876 w 1159037"/>
                    <a:gd name="connsiteY72" fmla="*/ 125443 h 1157513"/>
                    <a:gd name="connsiteX73" fmla="*/ 867306 w 1159037"/>
                    <a:gd name="connsiteY73" fmla="*/ 125443 h 1157513"/>
                    <a:gd name="connsiteX74" fmla="*/ 856429 w 1159037"/>
                    <a:gd name="connsiteY74" fmla="*/ 130334 h 1157513"/>
                    <a:gd name="connsiteX75" fmla="*/ 854991 w 1159037"/>
                    <a:gd name="connsiteY75" fmla="*/ 289690 h 1157513"/>
                    <a:gd name="connsiteX76" fmla="*/ 867935 w 1159037"/>
                    <a:gd name="connsiteY76" fmla="*/ 295381 h 1157513"/>
                    <a:gd name="connsiteX77" fmla="*/ 877284 w 1159037"/>
                    <a:gd name="connsiteY77" fmla="*/ 292535 h 1157513"/>
                    <a:gd name="connsiteX78" fmla="*/ 880160 w 1159037"/>
                    <a:gd name="connsiteY78" fmla="*/ 270482 h 1157513"/>
                    <a:gd name="connsiteX79" fmla="*/ 879441 w 1159037"/>
                    <a:gd name="connsiteY79" fmla="*/ 152388 h 1157513"/>
                    <a:gd name="connsiteX80" fmla="*/ 878722 w 1159037"/>
                    <a:gd name="connsiteY80" fmla="*/ 129622 h 1157513"/>
                    <a:gd name="connsiteX81" fmla="*/ 867306 w 1159037"/>
                    <a:gd name="connsiteY81" fmla="*/ 125443 h 1157513"/>
                    <a:gd name="connsiteX82" fmla="*/ 1064232 w 1159037"/>
                    <a:gd name="connsiteY82" fmla="*/ 92202 h 1157513"/>
                    <a:gd name="connsiteX83" fmla="*/ 1052756 w 1159037"/>
                    <a:gd name="connsiteY83" fmla="*/ 97029 h 1157513"/>
                    <a:gd name="connsiteX84" fmla="*/ 1052756 w 1159037"/>
                    <a:gd name="connsiteY84" fmla="*/ 119197 h 1157513"/>
                    <a:gd name="connsiteX85" fmla="*/ 1082394 w 1159037"/>
                    <a:gd name="connsiteY85" fmla="*/ 172113 h 1157513"/>
                    <a:gd name="connsiteX86" fmla="*/ 1051310 w 1159037"/>
                    <a:gd name="connsiteY86" fmla="*/ 303690 h 1157513"/>
                    <a:gd name="connsiteX87" fmla="*/ 1054202 w 1159037"/>
                    <a:gd name="connsiteY87" fmla="*/ 325858 h 1157513"/>
                    <a:gd name="connsiteX88" fmla="*/ 1064322 w 1159037"/>
                    <a:gd name="connsiteY88" fmla="*/ 328718 h 1157513"/>
                    <a:gd name="connsiteX89" fmla="*/ 1076611 w 1159037"/>
                    <a:gd name="connsiteY89" fmla="*/ 322997 h 1157513"/>
                    <a:gd name="connsiteX90" fmla="*/ 1113478 w 1159037"/>
                    <a:gd name="connsiteY90" fmla="*/ 162817 h 1157513"/>
                    <a:gd name="connsiteX91" fmla="*/ 1075166 w 1159037"/>
                    <a:gd name="connsiteY91" fmla="*/ 97029 h 1157513"/>
                    <a:gd name="connsiteX92" fmla="*/ 1064232 w 1159037"/>
                    <a:gd name="connsiteY92" fmla="*/ 92202 h 1157513"/>
                    <a:gd name="connsiteX93" fmla="*/ 832198 w 1159037"/>
                    <a:gd name="connsiteY93" fmla="*/ 92202 h 1157513"/>
                    <a:gd name="connsiteX94" fmla="*/ 820879 w 1159037"/>
                    <a:gd name="connsiteY94" fmla="*/ 97029 h 1157513"/>
                    <a:gd name="connsiteX95" fmla="*/ 783801 w 1159037"/>
                    <a:gd name="connsiteY95" fmla="*/ 162817 h 1157513"/>
                    <a:gd name="connsiteX96" fmla="*/ 817314 w 1159037"/>
                    <a:gd name="connsiteY96" fmla="*/ 320137 h 1157513"/>
                    <a:gd name="connsiteX97" fmla="*/ 819453 w 1159037"/>
                    <a:gd name="connsiteY97" fmla="*/ 322997 h 1157513"/>
                    <a:gd name="connsiteX98" fmla="*/ 832287 w 1159037"/>
                    <a:gd name="connsiteY98" fmla="*/ 328718 h 1157513"/>
                    <a:gd name="connsiteX99" fmla="*/ 841557 w 1159037"/>
                    <a:gd name="connsiteY99" fmla="*/ 325858 h 1157513"/>
                    <a:gd name="connsiteX100" fmla="*/ 847261 w 1159037"/>
                    <a:gd name="connsiteY100" fmla="*/ 308696 h 1157513"/>
                    <a:gd name="connsiteX101" fmla="*/ 844409 w 1159037"/>
                    <a:gd name="connsiteY101" fmla="*/ 303690 h 1157513"/>
                    <a:gd name="connsiteX102" fmla="*/ 842983 w 1159037"/>
                    <a:gd name="connsiteY102" fmla="*/ 119197 h 1157513"/>
                    <a:gd name="connsiteX103" fmla="*/ 842983 w 1159037"/>
                    <a:gd name="connsiteY103" fmla="*/ 97029 h 1157513"/>
                    <a:gd name="connsiteX104" fmla="*/ 832198 w 1159037"/>
                    <a:gd name="connsiteY104" fmla="*/ 92202 h 1157513"/>
                    <a:gd name="connsiteX105" fmla="*/ 948141 w 1159037"/>
                    <a:gd name="connsiteY105" fmla="*/ 0 h 1157513"/>
                    <a:gd name="connsiteX106" fmla="*/ 1097351 w 1159037"/>
                    <a:gd name="connsiteY106" fmla="*/ 61597 h 1157513"/>
                    <a:gd name="connsiteX107" fmla="*/ 1097351 w 1159037"/>
                    <a:gd name="connsiteY107" fmla="*/ 360119 h 1157513"/>
                    <a:gd name="connsiteX108" fmla="*/ 810553 w 1159037"/>
                    <a:gd name="connsiteY108" fmla="*/ 370831 h 1157513"/>
                    <a:gd name="connsiteX109" fmla="*/ 664651 w 1159037"/>
                    <a:gd name="connsiteY109" fmla="*/ 516521 h 1157513"/>
                    <a:gd name="connsiteX110" fmla="*/ 653923 w 1159037"/>
                    <a:gd name="connsiteY110" fmla="*/ 520806 h 1157513"/>
                    <a:gd name="connsiteX111" fmla="*/ 642480 w 1159037"/>
                    <a:gd name="connsiteY111" fmla="*/ 516521 h 1157513"/>
                    <a:gd name="connsiteX112" fmla="*/ 580972 w 1159037"/>
                    <a:gd name="connsiteY112" fmla="*/ 490811 h 1157513"/>
                    <a:gd name="connsiteX113" fmla="*/ 565237 w 1159037"/>
                    <a:gd name="connsiteY113" fmla="*/ 475100 h 1157513"/>
                    <a:gd name="connsiteX114" fmla="*/ 580972 w 1159037"/>
                    <a:gd name="connsiteY114" fmla="*/ 459388 h 1157513"/>
                    <a:gd name="connsiteX115" fmla="*/ 653208 w 1159037"/>
                    <a:gd name="connsiteY115" fmla="*/ 483669 h 1157513"/>
                    <a:gd name="connsiteX116" fmla="*/ 788382 w 1159037"/>
                    <a:gd name="connsiteY116" fmla="*/ 348692 h 1157513"/>
                    <a:gd name="connsiteX117" fmla="*/ 798395 w 1159037"/>
                    <a:gd name="connsiteY117" fmla="*/ 61597 h 1157513"/>
                    <a:gd name="connsiteX118" fmla="*/ 948141 w 1159037"/>
                    <a:gd name="connsiteY118" fmla="*/ 0 h 1157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1159037" h="1157513">
                      <a:moveTo>
                        <a:pt x="210432" y="1043093"/>
                      </a:moveTo>
                      <a:cubicBezTo>
                        <a:pt x="218762" y="1043093"/>
                        <a:pt x="225514" y="1049845"/>
                        <a:pt x="225514" y="1058175"/>
                      </a:cubicBezTo>
                      <a:cubicBezTo>
                        <a:pt x="225514" y="1066505"/>
                        <a:pt x="218762" y="1073257"/>
                        <a:pt x="210432" y="1073257"/>
                      </a:cubicBezTo>
                      <a:cubicBezTo>
                        <a:pt x="202102" y="1073257"/>
                        <a:pt x="195350" y="1066505"/>
                        <a:pt x="195350" y="1058175"/>
                      </a:cubicBezTo>
                      <a:cubicBezTo>
                        <a:pt x="195350" y="1049845"/>
                        <a:pt x="202102" y="1043093"/>
                        <a:pt x="210432" y="1043093"/>
                      </a:cubicBezTo>
                      <a:close/>
                      <a:moveTo>
                        <a:pt x="153607" y="817668"/>
                      </a:moveTo>
                      <a:cubicBezTo>
                        <a:pt x="153607" y="817668"/>
                        <a:pt x="153607" y="817668"/>
                        <a:pt x="268843" y="817668"/>
                      </a:cubicBezTo>
                      <a:cubicBezTo>
                        <a:pt x="270990" y="817668"/>
                        <a:pt x="273137" y="819807"/>
                        <a:pt x="273137" y="822659"/>
                      </a:cubicBezTo>
                      <a:cubicBezTo>
                        <a:pt x="273137" y="822659"/>
                        <a:pt x="273137" y="822659"/>
                        <a:pt x="273137" y="1016590"/>
                      </a:cubicBezTo>
                      <a:cubicBezTo>
                        <a:pt x="273137" y="1018729"/>
                        <a:pt x="270990" y="1020868"/>
                        <a:pt x="268843" y="1020868"/>
                      </a:cubicBezTo>
                      <a:cubicBezTo>
                        <a:pt x="268843" y="1020868"/>
                        <a:pt x="268843" y="1020868"/>
                        <a:pt x="153607" y="1020868"/>
                      </a:cubicBezTo>
                      <a:cubicBezTo>
                        <a:pt x="151460" y="1020868"/>
                        <a:pt x="149312" y="1018729"/>
                        <a:pt x="149312" y="1016590"/>
                      </a:cubicBezTo>
                      <a:cubicBezTo>
                        <a:pt x="149312" y="1016590"/>
                        <a:pt x="149312" y="1016590"/>
                        <a:pt x="149312" y="822659"/>
                      </a:cubicBezTo>
                      <a:cubicBezTo>
                        <a:pt x="149312" y="819807"/>
                        <a:pt x="151460" y="817668"/>
                        <a:pt x="153607" y="817668"/>
                      </a:cubicBezTo>
                      <a:close/>
                      <a:moveTo>
                        <a:pt x="139397" y="797031"/>
                      </a:moveTo>
                      <a:cubicBezTo>
                        <a:pt x="133679" y="797031"/>
                        <a:pt x="128676" y="802014"/>
                        <a:pt x="128676" y="807710"/>
                      </a:cubicBezTo>
                      <a:cubicBezTo>
                        <a:pt x="128676" y="807710"/>
                        <a:pt x="128676" y="807710"/>
                        <a:pt x="128676" y="1083216"/>
                      </a:cubicBezTo>
                      <a:cubicBezTo>
                        <a:pt x="128676" y="1089623"/>
                        <a:pt x="133679" y="1093894"/>
                        <a:pt x="139397" y="1093894"/>
                      </a:cubicBezTo>
                      <a:cubicBezTo>
                        <a:pt x="139397" y="1093894"/>
                        <a:pt x="139397" y="1093894"/>
                        <a:pt x="283055" y="1093894"/>
                      </a:cubicBezTo>
                      <a:cubicBezTo>
                        <a:pt x="288773" y="1093894"/>
                        <a:pt x="293776" y="1089623"/>
                        <a:pt x="293776" y="1083216"/>
                      </a:cubicBezTo>
                      <a:lnTo>
                        <a:pt x="293776" y="807710"/>
                      </a:lnTo>
                      <a:cubicBezTo>
                        <a:pt x="293776" y="802014"/>
                        <a:pt x="288773" y="797031"/>
                        <a:pt x="283055" y="797031"/>
                      </a:cubicBezTo>
                      <a:cubicBezTo>
                        <a:pt x="283055" y="797031"/>
                        <a:pt x="283055" y="797031"/>
                        <a:pt x="139397" y="797031"/>
                      </a:cubicBezTo>
                      <a:close/>
                      <a:moveTo>
                        <a:pt x="508450" y="634945"/>
                      </a:moveTo>
                      <a:cubicBezTo>
                        <a:pt x="512471" y="634945"/>
                        <a:pt x="516581" y="636373"/>
                        <a:pt x="519797" y="639227"/>
                      </a:cubicBezTo>
                      <a:cubicBezTo>
                        <a:pt x="536236" y="655641"/>
                        <a:pt x="557678" y="664919"/>
                        <a:pt x="581265" y="664919"/>
                      </a:cubicBezTo>
                      <a:cubicBezTo>
                        <a:pt x="589842" y="664919"/>
                        <a:pt x="596989" y="672055"/>
                        <a:pt x="596989" y="680619"/>
                      </a:cubicBezTo>
                      <a:cubicBezTo>
                        <a:pt x="596989" y="689183"/>
                        <a:pt x="589842" y="696319"/>
                        <a:pt x="581265" y="696319"/>
                      </a:cubicBezTo>
                      <a:cubicBezTo>
                        <a:pt x="554819" y="696319"/>
                        <a:pt x="529803" y="687755"/>
                        <a:pt x="509076" y="672055"/>
                      </a:cubicBezTo>
                      <a:cubicBezTo>
                        <a:pt x="509076" y="672055"/>
                        <a:pt x="509076" y="672055"/>
                        <a:pt x="371130" y="809789"/>
                      </a:cubicBezTo>
                      <a:cubicBezTo>
                        <a:pt x="442605" y="892572"/>
                        <a:pt x="439031" y="1017460"/>
                        <a:pt x="360409" y="1095962"/>
                      </a:cubicBezTo>
                      <a:cubicBezTo>
                        <a:pt x="278214" y="1178031"/>
                        <a:pt x="144557" y="1178031"/>
                        <a:pt x="61647" y="1095962"/>
                      </a:cubicBezTo>
                      <a:cubicBezTo>
                        <a:pt x="-20549" y="1013892"/>
                        <a:pt x="-20549" y="880440"/>
                        <a:pt x="61647" y="797657"/>
                      </a:cubicBezTo>
                      <a:cubicBezTo>
                        <a:pt x="140268" y="719156"/>
                        <a:pt x="266063" y="715588"/>
                        <a:pt x="348973" y="787666"/>
                      </a:cubicBezTo>
                      <a:cubicBezTo>
                        <a:pt x="348973" y="787666"/>
                        <a:pt x="348973" y="787666"/>
                        <a:pt x="497640" y="639227"/>
                      </a:cubicBezTo>
                      <a:cubicBezTo>
                        <a:pt x="500499" y="636373"/>
                        <a:pt x="504430" y="634945"/>
                        <a:pt x="508450" y="634945"/>
                      </a:cubicBezTo>
                      <a:close/>
                      <a:moveTo>
                        <a:pt x="581112" y="530331"/>
                      </a:moveTo>
                      <a:cubicBezTo>
                        <a:pt x="607415" y="530331"/>
                        <a:pt x="628737" y="551298"/>
                        <a:pt x="628737" y="577163"/>
                      </a:cubicBezTo>
                      <a:cubicBezTo>
                        <a:pt x="628737" y="603028"/>
                        <a:pt x="607415" y="623995"/>
                        <a:pt x="581112" y="623995"/>
                      </a:cubicBezTo>
                      <a:cubicBezTo>
                        <a:pt x="554809" y="623995"/>
                        <a:pt x="533487" y="603028"/>
                        <a:pt x="533487" y="577163"/>
                      </a:cubicBezTo>
                      <a:cubicBezTo>
                        <a:pt x="533487" y="551298"/>
                        <a:pt x="554809" y="530331"/>
                        <a:pt x="581112" y="530331"/>
                      </a:cubicBezTo>
                      <a:close/>
                      <a:moveTo>
                        <a:pt x="947825" y="189018"/>
                      </a:moveTo>
                      <a:cubicBezTo>
                        <a:pt x="936427" y="189018"/>
                        <a:pt x="927187" y="198258"/>
                        <a:pt x="927187" y="209656"/>
                      </a:cubicBezTo>
                      <a:cubicBezTo>
                        <a:pt x="927187" y="221054"/>
                        <a:pt x="936427" y="230294"/>
                        <a:pt x="947825" y="230294"/>
                      </a:cubicBezTo>
                      <a:cubicBezTo>
                        <a:pt x="959223" y="230294"/>
                        <a:pt x="968463" y="221054"/>
                        <a:pt x="968463" y="209656"/>
                      </a:cubicBezTo>
                      <a:cubicBezTo>
                        <a:pt x="968463" y="198258"/>
                        <a:pt x="959223" y="189018"/>
                        <a:pt x="947825" y="189018"/>
                      </a:cubicBezTo>
                      <a:close/>
                      <a:moveTo>
                        <a:pt x="992489" y="157102"/>
                      </a:moveTo>
                      <a:cubicBezTo>
                        <a:pt x="988532" y="157102"/>
                        <a:pt x="984662" y="158522"/>
                        <a:pt x="981848" y="161363"/>
                      </a:cubicBezTo>
                      <a:cubicBezTo>
                        <a:pt x="975516" y="167754"/>
                        <a:pt x="975516" y="177697"/>
                        <a:pt x="981144" y="183379"/>
                      </a:cubicBezTo>
                      <a:cubicBezTo>
                        <a:pt x="982551" y="184799"/>
                        <a:pt x="1004362" y="207526"/>
                        <a:pt x="980441" y="238064"/>
                      </a:cubicBezTo>
                      <a:cubicBezTo>
                        <a:pt x="974812" y="245166"/>
                        <a:pt x="976219" y="255109"/>
                        <a:pt x="982551" y="260080"/>
                      </a:cubicBezTo>
                      <a:cubicBezTo>
                        <a:pt x="985366" y="262211"/>
                        <a:pt x="988883" y="263631"/>
                        <a:pt x="992401" y="263631"/>
                      </a:cubicBezTo>
                      <a:cubicBezTo>
                        <a:pt x="997326" y="263631"/>
                        <a:pt x="1001547" y="261501"/>
                        <a:pt x="1004362" y="257239"/>
                      </a:cubicBezTo>
                      <a:cubicBezTo>
                        <a:pt x="1036725" y="216048"/>
                        <a:pt x="1017729" y="176277"/>
                        <a:pt x="1003658" y="161363"/>
                      </a:cubicBezTo>
                      <a:cubicBezTo>
                        <a:pt x="1000492" y="158522"/>
                        <a:pt x="996447" y="157102"/>
                        <a:pt x="992489" y="157102"/>
                      </a:cubicBezTo>
                      <a:close/>
                      <a:moveTo>
                        <a:pt x="903337" y="157102"/>
                      </a:moveTo>
                      <a:cubicBezTo>
                        <a:pt x="899380" y="157102"/>
                        <a:pt x="895510" y="158522"/>
                        <a:pt x="892696" y="161363"/>
                      </a:cubicBezTo>
                      <a:cubicBezTo>
                        <a:pt x="877921" y="176277"/>
                        <a:pt x="858925" y="216048"/>
                        <a:pt x="891289" y="257239"/>
                      </a:cubicBezTo>
                      <a:cubicBezTo>
                        <a:pt x="894103" y="261501"/>
                        <a:pt x="899028" y="263631"/>
                        <a:pt x="903249" y="263631"/>
                      </a:cubicBezTo>
                      <a:cubicBezTo>
                        <a:pt x="906767" y="263631"/>
                        <a:pt x="910285" y="262211"/>
                        <a:pt x="913099" y="260080"/>
                      </a:cubicBezTo>
                      <a:cubicBezTo>
                        <a:pt x="920135" y="255109"/>
                        <a:pt x="920838" y="245166"/>
                        <a:pt x="915913" y="238064"/>
                      </a:cubicBezTo>
                      <a:cubicBezTo>
                        <a:pt x="893400" y="208946"/>
                        <a:pt x="910988" y="187640"/>
                        <a:pt x="914506" y="183379"/>
                      </a:cubicBezTo>
                      <a:cubicBezTo>
                        <a:pt x="920838" y="176987"/>
                        <a:pt x="920135" y="167754"/>
                        <a:pt x="914506" y="161363"/>
                      </a:cubicBezTo>
                      <a:cubicBezTo>
                        <a:pt x="911340" y="158522"/>
                        <a:pt x="907295" y="157102"/>
                        <a:pt x="903337" y="157102"/>
                      </a:cubicBezTo>
                      <a:close/>
                      <a:moveTo>
                        <a:pt x="1028876" y="125443"/>
                      </a:moveTo>
                      <a:cubicBezTo>
                        <a:pt x="1024907" y="125354"/>
                        <a:pt x="1020850" y="126777"/>
                        <a:pt x="1017675" y="129622"/>
                      </a:cubicBezTo>
                      <a:cubicBezTo>
                        <a:pt x="1012031" y="136025"/>
                        <a:pt x="1011325" y="145985"/>
                        <a:pt x="1017675" y="152388"/>
                      </a:cubicBezTo>
                      <a:cubicBezTo>
                        <a:pt x="1019086" y="154522"/>
                        <a:pt x="1065653" y="205032"/>
                        <a:pt x="1016264" y="270482"/>
                      </a:cubicBezTo>
                      <a:cubicBezTo>
                        <a:pt x="1011325" y="276884"/>
                        <a:pt x="1012736" y="286844"/>
                        <a:pt x="1019086" y="292535"/>
                      </a:cubicBezTo>
                      <a:cubicBezTo>
                        <a:pt x="1021909" y="294670"/>
                        <a:pt x="1025436" y="295381"/>
                        <a:pt x="1028964" y="295381"/>
                      </a:cubicBezTo>
                      <a:cubicBezTo>
                        <a:pt x="1033197" y="295381"/>
                        <a:pt x="1038136" y="293247"/>
                        <a:pt x="1040959" y="289690"/>
                      </a:cubicBezTo>
                      <a:cubicBezTo>
                        <a:pt x="1093875" y="219972"/>
                        <a:pt x="1063536" y="155233"/>
                        <a:pt x="1039547" y="130334"/>
                      </a:cubicBezTo>
                      <a:cubicBezTo>
                        <a:pt x="1036725" y="127133"/>
                        <a:pt x="1032845" y="125532"/>
                        <a:pt x="1028876" y="125443"/>
                      </a:cubicBezTo>
                      <a:close/>
                      <a:moveTo>
                        <a:pt x="867306" y="125443"/>
                      </a:moveTo>
                      <a:cubicBezTo>
                        <a:pt x="863261" y="125532"/>
                        <a:pt x="859306" y="127133"/>
                        <a:pt x="856429" y="130334"/>
                      </a:cubicBezTo>
                      <a:cubicBezTo>
                        <a:pt x="832698" y="155233"/>
                        <a:pt x="801775" y="219972"/>
                        <a:pt x="854991" y="289690"/>
                      </a:cubicBezTo>
                      <a:cubicBezTo>
                        <a:pt x="858586" y="293247"/>
                        <a:pt x="862901" y="295381"/>
                        <a:pt x="867935" y="295381"/>
                      </a:cubicBezTo>
                      <a:cubicBezTo>
                        <a:pt x="871531" y="295381"/>
                        <a:pt x="874407" y="294670"/>
                        <a:pt x="877284" y="292535"/>
                      </a:cubicBezTo>
                      <a:cubicBezTo>
                        <a:pt x="884475" y="286844"/>
                        <a:pt x="885913" y="276884"/>
                        <a:pt x="880160" y="270482"/>
                      </a:cubicBezTo>
                      <a:cubicBezTo>
                        <a:pt x="829821" y="205032"/>
                        <a:pt x="877284" y="154522"/>
                        <a:pt x="879441" y="152388"/>
                      </a:cubicBezTo>
                      <a:cubicBezTo>
                        <a:pt x="885194" y="145985"/>
                        <a:pt x="885194" y="136025"/>
                        <a:pt x="878722" y="129622"/>
                      </a:cubicBezTo>
                      <a:cubicBezTo>
                        <a:pt x="875486" y="126777"/>
                        <a:pt x="871351" y="125354"/>
                        <a:pt x="867306" y="125443"/>
                      </a:cubicBezTo>
                      <a:close/>
                      <a:moveTo>
                        <a:pt x="1064232" y="92202"/>
                      </a:moveTo>
                      <a:cubicBezTo>
                        <a:pt x="1060166" y="92202"/>
                        <a:pt x="1056009" y="93811"/>
                        <a:pt x="1052756" y="97029"/>
                      </a:cubicBezTo>
                      <a:cubicBezTo>
                        <a:pt x="1046973" y="102750"/>
                        <a:pt x="1046250" y="112761"/>
                        <a:pt x="1052756" y="119197"/>
                      </a:cubicBezTo>
                      <a:cubicBezTo>
                        <a:pt x="1052756" y="119197"/>
                        <a:pt x="1072997" y="139219"/>
                        <a:pt x="1082394" y="172113"/>
                      </a:cubicBezTo>
                      <a:cubicBezTo>
                        <a:pt x="1096129" y="216449"/>
                        <a:pt x="1085286" y="260069"/>
                        <a:pt x="1051310" y="303690"/>
                      </a:cubicBezTo>
                      <a:cubicBezTo>
                        <a:pt x="1046250" y="310126"/>
                        <a:pt x="1046973" y="320137"/>
                        <a:pt x="1054202" y="325858"/>
                      </a:cubicBezTo>
                      <a:cubicBezTo>
                        <a:pt x="1057094" y="328003"/>
                        <a:pt x="1060708" y="328718"/>
                        <a:pt x="1064322" y="328718"/>
                      </a:cubicBezTo>
                      <a:cubicBezTo>
                        <a:pt x="1068660" y="328718"/>
                        <a:pt x="1073720" y="326573"/>
                        <a:pt x="1076611" y="322997"/>
                      </a:cubicBezTo>
                      <a:cubicBezTo>
                        <a:pt x="1127213" y="258639"/>
                        <a:pt x="1124322" y="200717"/>
                        <a:pt x="1113478" y="162817"/>
                      </a:cubicBezTo>
                      <a:cubicBezTo>
                        <a:pt x="1101189" y="122772"/>
                        <a:pt x="1076611" y="97744"/>
                        <a:pt x="1075166" y="97029"/>
                      </a:cubicBezTo>
                      <a:cubicBezTo>
                        <a:pt x="1072274" y="93811"/>
                        <a:pt x="1068298" y="92202"/>
                        <a:pt x="1064232" y="92202"/>
                      </a:cubicBezTo>
                      <a:close/>
                      <a:moveTo>
                        <a:pt x="832198" y="92202"/>
                      </a:moveTo>
                      <a:cubicBezTo>
                        <a:pt x="828188" y="92202"/>
                        <a:pt x="824088" y="93811"/>
                        <a:pt x="820879" y="97029"/>
                      </a:cubicBezTo>
                      <a:cubicBezTo>
                        <a:pt x="820166" y="97744"/>
                        <a:pt x="795923" y="122772"/>
                        <a:pt x="783801" y="162817"/>
                      </a:cubicBezTo>
                      <a:cubicBezTo>
                        <a:pt x="772393" y="200002"/>
                        <a:pt x="769540" y="256494"/>
                        <a:pt x="817314" y="320137"/>
                      </a:cubicBezTo>
                      <a:cubicBezTo>
                        <a:pt x="818027" y="320852"/>
                        <a:pt x="818740" y="321567"/>
                        <a:pt x="819453" y="322997"/>
                      </a:cubicBezTo>
                      <a:cubicBezTo>
                        <a:pt x="823018" y="326573"/>
                        <a:pt x="827296" y="328718"/>
                        <a:pt x="832287" y="328718"/>
                      </a:cubicBezTo>
                      <a:cubicBezTo>
                        <a:pt x="835853" y="328718"/>
                        <a:pt x="838705" y="328003"/>
                        <a:pt x="841557" y="325858"/>
                      </a:cubicBezTo>
                      <a:cubicBezTo>
                        <a:pt x="847261" y="321567"/>
                        <a:pt x="848687" y="315131"/>
                        <a:pt x="847261" y="308696"/>
                      </a:cubicBezTo>
                      <a:cubicBezTo>
                        <a:pt x="846548" y="307265"/>
                        <a:pt x="845835" y="305120"/>
                        <a:pt x="844409" y="303690"/>
                      </a:cubicBezTo>
                      <a:cubicBezTo>
                        <a:pt x="765262" y="202147"/>
                        <a:pt x="840131" y="122057"/>
                        <a:pt x="842983" y="119197"/>
                      </a:cubicBezTo>
                      <a:cubicBezTo>
                        <a:pt x="849400" y="112761"/>
                        <a:pt x="849400" y="102750"/>
                        <a:pt x="842983" y="97029"/>
                      </a:cubicBezTo>
                      <a:cubicBezTo>
                        <a:pt x="840131" y="93811"/>
                        <a:pt x="836209" y="92202"/>
                        <a:pt x="832198" y="92202"/>
                      </a:cubicBezTo>
                      <a:close/>
                      <a:moveTo>
                        <a:pt x="948141" y="0"/>
                      </a:moveTo>
                      <a:cubicBezTo>
                        <a:pt x="1002229" y="0"/>
                        <a:pt x="1056227" y="20533"/>
                        <a:pt x="1097351" y="61597"/>
                      </a:cubicBezTo>
                      <a:cubicBezTo>
                        <a:pt x="1179600" y="143726"/>
                        <a:pt x="1179600" y="277275"/>
                        <a:pt x="1097351" y="360119"/>
                      </a:cubicBezTo>
                      <a:cubicBezTo>
                        <a:pt x="1018679" y="438677"/>
                        <a:pt x="893517" y="442248"/>
                        <a:pt x="810553" y="370831"/>
                      </a:cubicBezTo>
                      <a:cubicBezTo>
                        <a:pt x="810553" y="370831"/>
                        <a:pt x="810553" y="370831"/>
                        <a:pt x="664651" y="516521"/>
                      </a:cubicBezTo>
                      <a:cubicBezTo>
                        <a:pt x="661790" y="519378"/>
                        <a:pt x="657499" y="520806"/>
                        <a:pt x="653923" y="520806"/>
                      </a:cubicBezTo>
                      <a:cubicBezTo>
                        <a:pt x="649632" y="520806"/>
                        <a:pt x="646056" y="519378"/>
                        <a:pt x="642480" y="516521"/>
                      </a:cubicBezTo>
                      <a:cubicBezTo>
                        <a:pt x="626030" y="500095"/>
                        <a:pt x="604574" y="490811"/>
                        <a:pt x="580972" y="490811"/>
                      </a:cubicBezTo>
                      <a:cubicBezTo>
                        <a:pt x="572389" y="490811"/>
                        <a:pt x="565237" y="483669"/>
                        <a:pt x="565237" y="475100"/>
                      </a:cubicBezTo>
                      <a:cubicBezTo>
                        <a:pt x="565237" y="466530"/>
                        <a:pt x="572389" y="459388"/>
                        <a:pt x="580972" y="459388"/>
                      </a:cubicBezTo>
                      <a:cubicBezTo>
                        <a:pt x="607434" y="459388"/>
                        <a:pt x="632467" y="467958"/>
                        <a:pt x="653208" y="483669"/>
                      </a:cubicBezTo>
                      <a:cubicBezTo>
                        <a:pt x="653208" y="483669"/>
                        <a:pt x="653208" y="483669"/>
                        <a:pt x="788382" y="348692"/>
                      </a:cubicBezTo>
                      <a:cubicBezTo>
                        <a:pt x="716146" y="265849"/>
                        <a:pt x="719722" y="140156"/>
                        <a:pt x="798395" y="61597"/>
                      </a:cubicBezTo>
                      <a:cubicBezTo>
                        <a:pt x="839877" y="20533"/>
                        <a:pt x="894054" y="0"/>
                        <a:pt x="948141" y="0"/>
                      </a:cubicBezTo>
                      <a:close/>
                    </a:path>
                  </a:pathLst>
                </a:custGeom>
                <a:solidFill>
                  <a:schemeClr val="tx2"/>
                </a:solidFill>
                <a:ln>
                  <a:noFill/>
                </a:ln>
              </p:spPr>
              <p:txBody>
                <a:bodyPr vert="horz" wrap="square" lIns="72746" tIns="36373" rIns="72746" bIns="36373" numCol="1" anchor="t" anchorCtr="0" compatLnSpc="1">
                  <a:prstTxWarp prst="textNoShape">
                    <a:avLst/>
                  </a:prstTxWarp>
                  <a:noAutofit/>
                </a:bodyPr>
                <a:lstStyle/>
                <a:p>
                  <a:endParaRPr lang="en-US" sz="1559">
                    <a:sym typeface="+mn-lt"/>
                  </a:endParaRPr>
                </a:p>
              </p:txBody>
            </p:sp>
            <p:sp>
              <p:nvSpPr>
                <p:cNvPr id="84" name="Freeform 10">
                  <a:extLst>
                    <a:ext uri="{FF2B5EF4-FFF2-40B4-BE49-F238E27FC236}">
                      <a16:creationId xmlns:a16="http://schemas.microsoft.com/office/drawing/2014/main" id="{77211542-FDE5-41DB-96A2-49E94661EC4F}"/>
                    </a:ext>
                  </a:extLst>
                </p:cNvPr>
                <p:cNvSpPr>
                  <a:spLocks/>
                </p:cNvSpPr>
                <p:nvPr/>
              </p:nvSpPr>
              <p:spPr bwMode="auto">
                <a:xfrm>
                  <a:off x="6705514" y="2849420"/>
                  <a:ext cx="1162223" cy="1160746"/>
                </a:xfrm>
                <a:custGeom>
                  <a:avLst/>
                  <a:gdLst>
                    <a:gd name="connsiteX0" fmla="*/ 888325 w 1162223"/>
                    <a:gd name="connsiteY0" fmla="*/ 827229 h 1160746"/>
                    <a:gd name="connsiteX1" fmla="*/ 879747 w 1162223"/>
                    <a:gd name="connsiteY1" fmla="*/ 830791 h 1160746"/>
                    <a:gd name="connsiteX2" fmla="*/ 845435 w 1162223"/>
                    <a:gd name="connsiteY2" fmla="*/ 864980 h 1160746"/>
                    <a:gd name="connsiteX3" fmla="*/ 841146 w 1162223"/>
                    <a:gd name="connsiteY3" fmla="*/ 871391 h 1160746"/>
                    <a:gd name="connsiteX4" fmla="*/ 839001 w 1162223"/>
                    <a:gd name="connsiteY4" fmla="*/ 878513 h 1160746"/>
                    <a:gd name="connsiteX5" fmla="*/ 838286 w 1162223"/>
                    <a:gd name="connsiteY5" fmla="*/ 883499 h 1160746"/>
                    <a:gd name="connsiteX6" fmla="*/ 839716 w 1162223"/>
                    <a:gd name="connsiteY6" fmla="*/ 896320 h 1160746"/>
                    <a:gd name="connsiteX7" fmla="*/ 844720 w 1162223"/>
                    <a:gd name="connsiteY7" fmla="*/ 915552 h 1160746"/>
                    <a:gd name="connsiteX8" fmla="*/ 855442 w 1162223"/>
                    <a:gd name="connsiteY8" fmla="*/ 940482 h 1160746"/>
                    <a:gd name="connsiteX9" fmla="*/ 874028 w 1162223"/>
                    <a:gd name="connsiteY9" fmla="*/ 970398 h 1160746"/>
                    <a:gd name="connsiteX10" fmla="*/ 904051 w 1162223"/>
                    <a:gd name="connsiteY10" fmla="*/ 1004587 h 1160746"/>
                    <a:gd name="connsiteX11" fmla="*/ 946942 w 1162223"/>
                    <a:gd name="connsiteY11" fmla="*/ 1040201 h 1160746"/>
                    <a:gd name="connsiteX12" fmla="*/ 983399 w 1162223"/>
                    <a:gd name="connsiteY12" fmla="*/ 1060145 h 1160746"/>
                    <a:gd name="connsiteX13" fmla="*/ 1009848 w 1162223"/>
                    <a:gd name="connsiteY13" fmla="*/ 1068693 h 1160746"/>
                    <a:gd name="connsiteX14" fmla="*/ 1025574 w 1162223"/>
                    <a:gd name="connsiteY14" fmla="*/ 1070117 h 1160746"/>
                    <a:gd name="connsiteX15" fmla="*/ 1029148 w 1162223"/>
                    <a:gd name="connsiteY15" fmla="*/ 1070117 h 1160746"/>
                    <a:gd name="connsiteX16" fmla="*/ 1030578 w 1162223"/>
                    <a:gd name="connsiteY16" fmla="*/ 1070117 h 1160746"/>
                    <a:gd name="connsiteX17" fmla="*/ 1037726 w 1162223"/>
                    <a:gd name="connsiteY17" fmla="*/ 1067268 h 1160746"/>
                    <a:gd name="connsiteX18" fmla="*/ 1044160 w 1162223"/>
                    <a:gd name="connsiteY18" fmla="*/ 1062994 h 1160746"/>
                    <a:gd name="connsiteX19" fmla="*/ 1078472 w 1162223"/>
                    <a:gd name="connsiteY19" fmla="*/ 1029517 h 1160746"/>
                    <a:gd name="connsiteX20" fmla="*/ 1082046 w 1162223"/>
                    <a:gd name="connsiteY20" fmla="*/ 1018833 h 1160746"/>
                    <a:gd name="connsiteX21" fmla="*/ 1075613 w 1162223"/>
                    <a:gd name="connsiteY21" fmla="*/ 1010285 h 1160746"/>
                    <a:gd name="connsiteX22" fmla="*/ 1025574 w 1162223"/>
                    <a:gd name="connsiteY22" fmla="*/ 981082 h 1160746"/>
                    <a:gd name="connsiteX23" fmla="*/ 1018426 w 1162223"/>
                    <a:gd name="connsiteY23" fmla="*/ 979657 h 1160746"/>
                    <a:gd name="connsiteX24" fmla="*/ 1007703 w 1162223"/>
                    <a:gd name="connsiteY24" fmla="*/ 983931 h 1160746"/>
                    <a:gd name="connsiteX25" fmla="*/ 992692 w 1162223"/>
                    <a:gd name="connsiteY25" fmla="*/ 998889 h 1160746"/>
                    <a:gd name="connsiteX26" fmla="*/ 991262 w 1162223"/>
                    <a:gd name="connsiteY26" fmla="*/ 999601 h 1160746"/>
                    <a:gd name="connsiteX27" fmla="*/ 989832 w 1162223"/>
                    <a:gd name="connsiteY27" fmla="*/ 999601 h 1160746"/>
                    <a:gd name="connsiteX28" fmla="*/ 986258 w 1162223"/>
                    <a:gd name="connsiteY28" fmla="*/ 999601 h 1160746"/>
                    <a:gd name="connsiteX29" fmla="*/ 976965 w 1162223"/>
                    <a:gd name="connsiteY29" fmla="*/ 995328 h 1160746"/>
                    <a:gd name="connsiteX30" fmla="*/ 961953 w 1162223"/>
                    <a:gd name="connsiteY30" fmla="*/ 986068 h 1160746"/>
                    <a:gd name="connsiteX31" fmla="*/ 941223 w 1162223"/>
                    <a:gd name="connsiteY31" fmla="*/ 967549 h 1160746"/>
                    <a:gd name="connsiteX32" fmla="*/ 923352 w 1162223"/>
                    <a:gd name="connsiteY32" fmla="*/ 946892 h 1160746"/>
                    <a:gd name="connsiteX33" fmla="*/ 913344 w 1162223"/>
                    <a:gd name="connsiteY33" fmla="*/ 931935 h 1160746"/>
                    <a:gd name="connsiteX34" fmla="*/ 909055 w 1162223"/>
                    <a:gd name="connsiteY34" fmla="*/ 919826 h 1160746"/>
                    <a:gd name="connsiteX35" fmla="*/ 909055 w 1162223"/>
                    <a:gd name="connsiteY35" fmla="*/ 917689 h 1160746"/>
                    <a:gd name="connsiteX36" fmla="*/ 910485 w 1162223"/>
                    <a:gd name="connsiteY36" fmla="*/ 916264 h 1160746"/>
                    <a:gd name="connsiteX37" fmla="*/ 922637 w 1162223"/>
                    <a:gd name="connsiteY37" fmla="*/ 903443 h 1160746"/>
                    <a:gd name="connsiteX38" fmla="*/ 926926 w 1162223"/>
                    <a:gd name="connsiteY38" fmla="*/ 895608 h 1160746"/>
                    <a:gd name="connsiteX39" fmla="*/ 926211 w 1162223"/>
                    <a:gd name="connsiteY39" fmla="*/ 886348 h 1160746"/>
                    <a:gd name="connsiteX40" fmla="*/ 898333 w 1162223"/>
                    <a:gd name="connsiteY40" fmla="*/ 834352 h 1160746"/>
                    <a:gd name="connsiteX41" fmla="*/ 894044 w 1162223"/>
                    <a:gd name="connsiteY41" fmla="*/ 829366 h 1160746"/>
                    <a:gd name="connsiteX42" fmla="*/ 888325 w 1162223"/>
                    <a:gd name="connsiteY42" fmla="*/ 827229 h 1160746"/>
                    <a:gd name="connsiteX43" fmla="*/ 683850 w 1162223"/>
                    <a:gd name="connsiteY43" fmla="*/ 565292 h 1160746"/>
                    <a:gd name="connsiteX44" fmla="*/ 699576 w 1162223"/>
                    <a:gd name="connsiteY44" fmla="*/ 580976 h 1160746"/>
                    <a:gd name="connsiteX45" fmla="*/ 675273 w 1162223"/>
                    <a:gd name="connsiteY45" fmla="*/ 652979 h 1160746"/>
                    <a:gd name="connsiteX46" fmla="*/ 813228 w 1162223"/>
                    <a:gd name="connsiteY46" fmla="*/ 790570 h 1160746"/>
                    <a:gd name="connsiteX47" fmla="*/ 1100573 w 1162223"/>
                    <a:gd name="connsiteY47" fmla="*/ 801264 h 1160746"/>
                    <a:gd name="connsiteX48" fmla="*/ 1100573 w 1162223"/>
                    <a:gd name="connsiteY48" fmla="*/ 1099258 h 1160746"/>
                    <a:gd name="connsiteX49" fmla="*/ 801791 w 1162223"/>
                    <a:gd name="connsiteY49" fmla="*/ 1099258 h 1160746"/>
                    <a:gd name="connsiteX50" fmla="*/ 791069 w 1162223"/>
                    <a:gd name="connsiteY50" fmla="*/ 812670 h 1160746"/>
                    <a:gd name="connsiteX51" fmla="*/ 642393 w 1162223"/>
                    <a:gd name="connsiteY51" fmla="*/ 664386 h 1160746"/>
                    <a:gd name="connsiteX52" fmla="*/ 642393 w 1162223"/>
                    <a:gd name="connsiteY52" fmla="*/ 642286 h 1160746"/>
                    <a:gd name="connsiteX53" fmla="*/ 668125 w 1162223"/>
                    <a:gd name="connsiteY53" fmla="*/ 580976 h 1160746"/>
                    <a:gd name="connsiteX54" fmla="*/ 683850 w 1162223"/>
                    <a:gd name="connsiteY54" fmla="*/ 565292 h 1160746"/>
                    <a:gd name="connsiteX55" fmla="*/ 95011 w 1162223"/>
                    <a:gd name="connsiteY55" fmla="*/ 135079 h 1160746"/>
                    <a:gd name="connsiteX56" fmla="*/ 326562 w 1162223"/>
                    <a:gd name="connsiteY56" fmla="*/ 135079 h 1160746"/>
                    <a:gd name="connsiteX57" fmla="*/ 328699 w 1162223"/>
                    <a:gd name="connsiteY57" fmla="*/ 137966 h 1160746"/>
                    <a:gd name="connsiteX58" fmla="*/ 328699 w 1162223"/>
                    <a:gd name="connsiteY58" fmla="*/ 251977 h 1160746"/>
                    <a:gd name="connsiteX59" fmla="*/ 326562 w 1162223"/>
                    <a:gd name="connsiteY59" fmla="*/ 254142 h 1160746"/>
                    <a:gd name="connsiteX60" fmla="*/ 225392 w 1162223"/>
                    <a:gd name="connsiteY60" fmla="*/ 254142 h 1160746"/>
                    <a:gd name="connsiteX61" fmla="*/ 195469 w 1162223"/>
                    <a:gd name="connsiteY61" fmla="*/ 254142 h 1160746"/>
                    <a:gd name="connsiteX62" fmla="*/ 95011 w 1162223"/>
                    <a:gd name="connsiteY62" fmla="*/ 254142 h 1160746"/>
                    <a:gd name="connsiteX63" fmla="*/ 92161 w 1162223"/>
                    <a:gd name="connsiteY63" fmla="*/ 251977 h 1160746"/>
                    <a:gd name="connsiteX64" fmla="*/ 92161 w 1162223"/>
                    <a:gd name="connsiteY64" fmla="*/ 137966 h 1160746"/>
                    <a:gd name="connsiteX65" fmla="*/ 95011 w 1162223"/>
                    <a:gd name="connsiteY65" fmla="*/ 135079 h 1160746"/>
                    <a:gd name="connsiteX66" fmla="*/ 74941 w 1162223"/>
                    <a:gd name="connsiteY66" fmla="*/ 114442 h 1160746"/>
                    <a:gd name="connsiteX67" fmla="*/ 69936 w 1162223"/>
                    <a:gd name="connsiteY67" fmla="*/ 119418 h 1160746"/>
                    <a:gd name="connsiteX68" fmla="*/ 69936 w 1162223"/>
                    <a:gd name="connsiteY68" fmla="*/ 269401 h 1160746"/>
                    <a:gd name="connsiteX69" fmla="*/ 74941 w 1162223"/>
                    <a:gd name="connsiteY69" fmla="*/ 275088 h 1160746"/>
                    <a:gd name="connsiteX70" fmla="*/ 186478 w 1162223"/>
                    <a:gd name="connsiteY70" fmla="*/ 275088 h 1160746"/>
                    <a:gd name="connsiteX71" fmla="*/ 186478 w 1162223"/>
                    <a:gd name="connsiteY71" fmla="*/ 278642 h 1160746"/>
                    <a:gd name="connsiteX72" fmla="*/ 167174 w 1162223"/>
                    <a:gd name="connsiteY72" fmla="*/ 295701 h 1160746"/>
                    <a:gd name="connsiteX73" fmla="*/ 165744 w 1162223"/>
                    <a:gd name="connsiteY73" fmla="*/ 301388 h 1160746"/>
                    <a:gd name="connsiteX74" fmla="*/ 170749 w 1162223"/>
                    <a:gd name="connsiteY74" fmla="*/ 304942 h 1160746"/>
                    <a:gd name="connsiteX75" fmla="*/ 250112 w 1162223"/>
                    <a:gd name="connsiteY75" fmla="*/ 304942 h 1160746"/>
                    <a:gd name="connsiteX76" fmla="*/ 255117 w 1162223"/>
                    <a:gd name="connsiteY76" fmla="*/ 301388 h 1160746"/>
                    <a:gd name="connsiteX77" fmla="*/ 253687 w 1162223"/>
                    <a:gd name="connsiteY77" fmla="*/ 295701 h 1160746"/>
                    <a:gd name="connsiteX78" fmla="*/ 233667 w 1162223"/>
                    <a:gd name="connsiteY78" fmla="*/ 278642 h 1160746"/>
                    <a:gd name="connsiteX79" fmla="*/ 233667 w 1162223"/>
                    <a:gd name="connsiteY79" fmla="*/ 275088 h 1160746"/>
                    <a:gd name="connsiteX80" fmla="*/ 345204 w 1162223"/>
                    <a:gd name="connsiteY80" fmla="*/ 275088 h 1160746"/>
                    <a:gd name="connsiteX81" fmla="*/ 350924 w 1162223"/>
                    <a:gd name="connsiteY81" fmla="*/ 269401 h 1160746"/>
                    <a:gd name="connsiteX82" fmla="*/ 350924 w 1162223"/>
                    <a:gd name="connsiteY82" fmla="*/ 119418 h 1160746"/>
                    <a:gd name="connsiteX83" fmla="*/ 345204 w 1162223"/>
                    <a:gd name="connsiteY83" fmla="*/ 114442 h 1160746"/>
                    <a:gd name="connsiteX84" fmla="*/ 74941 w 1162223"/>
                    <a:gd name="connsiteY84" fmla="*/ 114442 h 1160746"/>
                    <a:gd name="connsiteX85" fmla="*/ 211309 w 1162223"/>
                    <a:gd name="connsiteY85" fmla="*/ 0 h 1160746"/>
                    <a:gd name="connsiteX86" fmla="*/ 360433 w 1162223"/>
                    <a:gd name="connsiteY86" fmla="*/ 61488 h 1160746"/>
                    <a:gd name="connsiteX87" fmla="*/ 371154 w 1162223"/>
                    <a:gd name="connsiteY87" fmla="*/ 348076 h 1160746"/>
                    <a:gd name="connsiteX88" fmla="*/ 519831 w 1162223"/>
                    <a:gd name="connsiteY88" fmla="*/ 496360 h 1160746"/>
                    <a:gd name="connsiteX89" fmla="*/ 519831 w 1162223"/>
                    <a:gd name="connsiteY89" fmla="*/ 518460 h 1160746"/>
                    <a:gd name="connsiteX90" fmla="*/ 494098 w 1162223"/>
                    <a:gd name="connsiteY90" fmla="*/ 579770 h 1160746"/>
                    <a:gd name="connsiteX91" fmla="*/ 478373 w 1162223"/>
                    <a:gd name="connsiteY91" fmla="*/ 595454 h 1160746"/>
                    <a:gd name="connsiteX92" fmla="*/ 462648 w 1162223"/>
                    <a:gd name="connsiteY92" fmla="*/ 579770 h 1160746"/>
                    <a:gd name="connsiteX93" fmla="*/ 486951 w 1162223"/>
                    <a:gd name="connsiteY93" fmla="*/ 507767 h 1160746"/>
                    <a:gd name="connsiteX94" fmla="*/ 348996 w 1162223"/>
                    <a:gd name="connsiteY94" fmla="*/ 370176 h 1160746"/>
                    <a:gd name="connsiteX95" fmla="*/ 61650 w 1162223"/>
                    <a:gd name="connsiteY95" fmla="*/ 359483 h 1160746"/>
                    <a:gd name="connsiteX96" fmla="*/ 61650 w 1162223"/>
                    <a:gd name="connsiteY96" fmla="*/ 61488 h 1160746"/>
                    <a:gd name="connsiteX97" fmla="*/ 211309 w 1162223"/>
                    <a:gd name="connsiteY97" fmla="*/ 0 h 1160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162223" h="1160746">
                      <a:moveTo>
                        <a:pt x="888325" y="827229"/>
                      </a:moveTo>
                      <a:cubicBezTo>
                        <a:pt x="884751" y="827229"/>
                        <a:pt x="881891" y="828654"/>
                        <a:pt x="879747" y="830791"/>
                      </a:cubicBezTo>
                      <a:cubicBezTo>
                        <a:pt x="879747" y="830791"/>
                        <a:pt x="879747" y="830791"/>
                        <a:pt x="845435" y="864980"/>
                      </a:cubicBezTo>
                      <a:cubicBezTo>
                        <a:pt x="844005" y="866405"/>
                        <a:pt x="842575" y="868541"/>
                        <a:pt x="841146" y="871391"/>
                      </a:cubicBezTo>
                      <a:cubicBezTo>
                        <a:pt x="839716" y="873527"/>
                        <a:pt x="839001" y="876377"/>
                        <a:pt x="839001" y="878513"/>
                      </a:cubicBezTo>
                      <a:cubicBezTo>
                        <a:pt x="839001" y="879226"/>
                        <a:pt x="839001" y="880650"/>
                        <a:pt x="838286" y="883499"/>
                      </a:cubicBezTo>
                      <a:cubicBezTo>
                        <a:pt x="838286" y="887061"/>
                        <a:pt x="839001" y="891334"/>
                        <a:pt x="839716" y="896320"/>
                      </a:cubicBezTo>
                      <a:cubicBezTo>
                        <a:pt x="840431" y="902019"/>
                        <a:pt x="841860" y="908429"/>
                        <a:pt x="844720" y="915552"/>
                      </a:cubicBezTo>
                      <a:cubicBezTo>
                        <a:pt x="846864" y="923387"/>
                        <a:pt x="850439" y="931222"/>
                        <a:pt x="855442" y="940482"/>
                      </a:cubicBezTo>
                      <a:cubicBezTo>
                        <a:pt x="859731" y="949742"/>
                        <a:pt x="866165" y="959713"/>
                        <a:pt x="874028" y="970398"/>
                      </a:cubicBezTo>
                      <a:cubicBezTo>
                        <a:pt x="882606" y="981082"/>
                        <a:pt x="891899" y="992478"/>
                        <a:pt x="904051" y="1004587"/>
                      </a:cubicBezTo>
                      <a:cubicBezTo>
                        <a:pt x="919063" y="1019545"/>
                        <a:pt x="933360" y="1031654"/>
                        <a:pt x="946942" y="1040201"/>
                      </a:cubicBezTo>
                      <a:cubicBezTo>
                        <a:pt x="960524" y="1049461"/>
                        <a:pt x="972676" y="1055872"/>
                        <a:pt x="983399" y="1060145"/>
                      </a:cubicBezTo>
                      <a:cubicBezTo>
                        <a:pt x="993406" y="1064419"/>
                        <a:pt x="1002699" y="1067268"/>
                        <a:pt x="1009848" y="1068693"/>
                      </a:cubicBezTo>
                      <a:cubicBezTo>
                        <a:pt x="1016996" y="1069405"/>
                        <a:pt x="1022715" y="1070117"/>
                        <a:pt x="1025574" y="1070117"/>
                      </a:cubicBezTo>
                      <a:cubicBezTo>
                        <a:pt x="1027004" y="1070117"/>
                        <a:pt x="1028433" y="1070117"/>
                        <a:pt x="1029148" y="1070117"/>
                      </a:cubicBezTo>
                      <a:cubicBezTo>
                        <a:pt x="1029863" y="1070117"/>
                        <a:pt x="1030578" y="1070117"/>
                        <a:pt x="1030578" y="1070117"/>
                      </a:cubicBezTo>
                      <a:cubicBezTo>
                        <a:pt x="1033437" y="1069405"/>
                        <a:pt x="1035582" y="1068693"/>
                        <a:pt x="1037726" y="1067268"/>
                      </a:cubicBezTo>
                      <a:cubicBezTo>
                        <a:pt x="1040586" y="1066556"/>
                        <a:pt x="1042730" y="1065131"/>
                        <a:pt x="1044160" y="1062994"/>
                      </a:cubicBezTo>
                      <a:cubicBezTo>
                        <a:pt x="1044160" y="1062994"/>
                        <a:pt x="1044160" y="1062994"/>
                        <a:pt x="1078472" y="1029517"/>
                      </a:cubicBezTo>
                      <a:cubicBezTo>
                        <a:pt x="1081332" y="1026668"/>
                        <a:pt x="1082761" y="1023107"/>
                        <a:pt x="1082046" y="1018833"/>
                      </a:cubicBezTo>
                      <a:cubicBezTo>
                        <a:pt x="1081332" y="1015271"/>
                        <a:pt x="1079187" y="1012422"/>
                        <a:pt x="1075613" y="1010285"/>
                      </a:cubicBezTo>
                      <a:cubicBezTo>
                        <a:pt x="1075613" y="1010285"/>
                        <a:pt x="1075613" y="1010285"/>
                        <a:pt x="1025574" y="981082"/>
                      </a:cubicBezTo>
                      <a:cubicBezTo>
                        <a:pt x="1024144" y="980370"/>
                        <a:pt x="1021285" y="979657"/>
                        <a:pt x="1018426" y="979657"/>
                      </a:cubicBezTo>
                      <a:cubicBezTo>
                        <a:pt x="1014137" y="979657"/>
                        <a:pt x="1010562" y="981082"/>
                        <a:pt x="1007703" y="983931"/>
                      </a:cubicBezTo>
                      <a:cubicBezTo>
                        <a:pt x="1007703" y="983931"/>
                        <a:pt x="1007703" y="983931"/>
                        <a:pt x="992692" y="998889"/>
                      </a:cubicBezTo>
                      <a:cubicBezTo>
                        <a:pt x="992692" y="998889"/>
                        <a:pt x="991977" y="999601"/>
                        <a:pt x="991262" y="999601"/>
                      </a:cubicBezTo>
                      <a:cubicBezTo>
                        <a:pt x="990547" y="999601"/>
                        <a:pt x="989832" y="999601"/>
                        <a:pt x="989832" y="999601"/>
                      </a:cubicBezTo>
                      <a:cubicBezTo>
                        <a:pt x="989832" y="999601"/>
                        <a:pt x="989832" y="999601"/>
                        <a:pt x="986258" y="999601"/>
                      </a:cubicBezTo>
                      <a:cubicBezTo>
                        <a:pt x="984113" y="998889"/>
                        <a:pt x="981254" y="997464"/>
                        <a:pt x="976965" y="995328"/>
                      </a:cubicBezTo>
                      <a:cubicBezTo>
                        <a:pt x="973391" y="993191"/>
                        <a:pt x="968387" y="990342"/>
                        <a:pt x="961953" y="986068"/>
                      </a:cubicBezTo>
                      <a:cubicBezTo>
                        <a:pt x="956235" y="981794"/>
                        <a:pt x="949086" y="975384"/>
                        <a:pt x="941223" y="967549"/>
                      </a:cubicBezTo>
                      <a:cubicBezTo>
                        <a:pt x="933360" y="959713"/>
                        <a:pt x="927641" y="953303"/>
                        <a:pt x="923352" y="946892"/>
                      </a:cubicBezTo>
                      <a:cubicBezTo>
                        <a:pt x="919063" y="941194"/>
                        <a:pt x="915489" y="936208"/>
                        <a:pt x="913344" y="931935"/>
                      </a:cubicBezTo>
                      <a:cubicBezTo>
                        <a:pt x="911200" y="927661"/>
                        <a:pt x="909770" y="923387"/>
                        <a:pt x="909055" y="919826"/>
                      </a:cubicBezTo>
                      <a:cubicBezTo>
                        <a:pt x="909055" y="919113"/>
                        <a:pt x="909055" y="918401"/>
                        <a:pt x="909055" y="917689"/>
                      </a:cubicBezTo>
                      <a:cubicBezTo>
                        <a:pt x="909770" y="916977"/>
                        <a:pt x="909770" y="916264"/>
                        <a:pt x="910485" y="916264"/>
                      </a:cubicBezTo>
                      <a:cubicBezTo>
                        <a:pt x="910485" y="916264"/>
                        <a:pt x="910485" y="916264"/>
                        <a:pt x="922637" y="903443"/>
                      </a:cubicBezTo>
                      <a:cubicBezTo>
                        <a:pt x="924782" y="901306"/>
                        <a:pt x="926211" y="898457"/>
                        <a:pt x="926926" y="895608"/>
                      </a:cubicBezTo>
                      <a:cubicBezTo>
                        <a:pt x="927641" y="892047"/>
                        <a:pt x="927641" y="889198"/>
                        <a:pt x="926211" y="886348"/>
                      </a:cubicBezTo>
                      <a:cubicBezTo>
                        <a:pt x="926211" y="886348"/>
                        <a:pt x="926211" y="886348"/>
                        <a:pt x="898333" y="834352"/>
                      </a:cubicBezTo>
                      <a:cubicBezTo>
                        <a:pt x="896903" y="832215"/>
                        <a:pt x="895473" y="830791"/>
                        <a:pt x="894044" y="829366"/>
                      </a:cubicBezTo>
                      <a:cubicBezTo>
                        <a:pt x="891899" y="827941"/>
                        <a:pt x="890470" y="827229"/>
                        <a:pt x="888325" y="827229"/>
                      </a:cubicBezTo>
                      <a:close/>
                      <a:moveTo>
                        <a:pt x="683850" y="565292"/>
                      </a:moveTo>
                      <a:cubicBezTo>
                        <a:pt x="692428" y="565292"/>
                        <a:pt x="699576" y="572421"/>
                        <a:pt x="699576" y="580976"/>
                      </a:cubicBezTo>
                      <a:cubicBezTo>
                        <a:pt x="699576" y="607354"/>
                        <a:pt x="690998" y="632305"/>
                        <a:pt x="675273" y="652979"/>
                      </a:cubicBezTo>
                      <a:cubicBezTo>
                        <a:pt x="675273" y="652979"/>
                        <a:pt x="675273" y="652979"/>
                        <a:pt x="813228" y="790570"/>
                      </a:cubicBezTo>
                      <a:cubicBezTo>
                        <a:pt x="896143" y="719280"/>
                        <a:pt x="1021946" y="722844"/>
                        <a:pt x="1100573" y="801264"/>
                      </a:cubicBezTo>
                      <a:cubicBezTo>
                        <a:pt x="1182774" y="883248"/>
                        <a:pt x="1182774" y="1016561"/>
                        <a:pt x="1100573" y="1099258"/>
                      </a:cubicBezTo>
                      <a:cubicBezTo>
                        <a:pt x="1017658" y="1181242"/>
                        <a:pt x="883992" y="1181242"/>
                        <a:pt x="801791" y="1099258"/>
                      </a:cubicBezTo>
                      <a:cubicBezTo>
                        <a:pt x="723164" y="1020838"/>
                        <a:pt x="719590" y="895367"/>
                        <a:pt x="791069" y="812670"/>
                      </a:cubicBezTo>
                      <a:cubicBezTo>
                        <a:pt x="791069" y="812670"/>
                        <a:pt x="791069" y="812670"/>
                        <a:pt x="642393" y="664386"/>
                      </a:cubicBezTo>
                      <a:cubicBezTo>
                        <a:pt x="636674" y="658683"/>
                        <a:pt x="636674" y="648702"/>
                        <a:pt x="642393" y="642286"/>
                      </a:cubicBezTo>
                      <a:cubicBezTo>
                        <a:pt x="658833" y="625889"/>
                        <a:pt x="668125" y="604502"/>
                        <a:pt x="668125" y="580976"/>
                      </a:cubicBezTo>
                      <a:cubicBezTo>
                        <a:pt x="668125" y="572421"/>
                        <a:pt x="675273" y="565292"/>
                        <a:pt x="683850" y="565292"/>
                      </a:cubicBezTo>
                      <a:close/>
                      <a:moveTo>
                        <a:pt x="95011" y="135079"/>
                      </a:moveTo>
                      <a:cubicBezTo>
                        <a:pt x="95011" y="135079"/>
                        <a:pt x="95011" y="135079"/>
                        <a:pt x="326562" y="135079"/>
                      </a:cubicBezTo>
                      <a:cubicBezTo>
                        <a:pt x="327274" y="135079"/>
                        <a:pt x="328699" y="136522"/>
                        <a:pt x="328699" y="137966"/>
                      </a:cubicBezTo>
                      <a:cubicBezTo>
                        <a:pt x="328699" y="137966"/>
                        <a:pt x="328699" y="137966"/>
                        <a:pt x="328699" y="251977"/>
                      </a:cubicBezTo>
                      <a:cubicBezTo>
                        <a:pt x="328699" y="252699"/>
                        <a:pt x="327274" y="254142"/>
                        <a:pt x="326562" y="254142"/>
                      </a:cubicBezTo>
                      <a:cubicBezTo>
                        <a:pt x="326562" y="254142"/>
                        <a:pt x="326562" y="254142"/>
                        <a:pt x="225392" y="254142"/>
                      </a:cubicBezTo>
                      <a:cubicBezTo>
                        <a:pt x="217555" y="254142"/>
                        <a:pt x="203306" y="254142"/>
                        <a:pt x="195469" y="254142"/>
                      </a:cubicBezTo>
                      <a:cubicBezTo>
                        <a:pt x="195469" y="254142"/>
                        <a:pt x="195469" y="254142"/>
                        <a:pt x="95011" y="254142"/>
                      </a:cubicBezTo>
                      <a:cubicBezTo>
                        <a:pt x="93586" y="254142"/>
                        <a:pt x="92161" y="252699"/>
                        <a:pt x="92161" y="251977"/>
                      </a:cubicBezTo>
                      <a:cubicBezTo>
                        <a:pt x="92161" y="251977"/>
                        <a:pt x="92161" y="251977"/>
                        <a:pt x="92161" y="137966"/>
                      </a:cubicBezTo>
                      <a:cubicBezTo>
                        <a:pt x="92161" y="136522"/>
                        <a:pt x="93586" y="135079"/>
                        <a:pt x="95011" y="135079"/>
                      </a:cubicBezTo>
                      <a:close/>
                      <a:moveTo>
                        <a:pt x="74941" y="114442"/>
                      </a:moveTo>
                      <a:cubicBezTo>
                        <a:pt x="72081" y="114442"/>
                        <a:pt x="69936" y="116575"/>
                        <a:pt x="69936" y="119418"/>
                      </a:cubicBezTo>
                      <a:cubicBezTo>
                        <a:pt x="69936" y="119418"/>
                        <a:pt x="69936" y="119418"/>
                        <a:pt x="69936" y="269401"/>
                      </a:cubicBezTo>
                      <a:cubicBezTo>
                        <a:pt x="69936" y="272244"/>
                        <a:pt x="72081" y="275088"/>
                        <a:pt x="74941" y="275088"/>
                      </a:cubicBezTo>
                      <a:cubicBezTo>
                        <a:pt x="74941" y="275088"/>
                        <a:pt x="74941" y="275088"/>
                        <a:pt x="186478" y="275088"/>
                      </a:cubicBezTo>
                      <a:cubicBezTo>
                        <a:pt x="186478" y="275088"/>
                        <a:pt x="186478" y="275088"/>
                        <a:pt x="186478" y="278642"/>
                      </a:cubicBezTo>
                      <a:cubicBezTo>
                        <a:pt x="186478" y="278642"/>
                        <a:pt x="186478" y="278642"/>
                        <a:pt x="167174" y="295701"/>
                      </a:cubicBezTo>
                      <a:cubicBezTo>
                        <a:pt x="165029" y="297123"/>
                        <a:pt x="165029" y="299256"/>
                        <a:pt x="165744" y="301388"/>
                      </a:cubicBezTo>
                      <a:cubicBezTo>
                        <a:pt x="166459" y="303520"/>
                        <a:pt x="168604" y="304942"/>
                        <a:pt x="170749" y="304942"/>
                      </a:cubicBezTo>
                      <a:cubicBezTo>
                        <a:pt x="170749" y="304942"/>
                        <a:pt x="170749" y="304942"/>
                        <a:pt x="250112" y="304942"/>
                      </a:cubicBezTo>
                      <a:cubicBezTo>
                        <a:pt x="252257" y="304942"/>
                        <a:pt x="254402" y="303520"/>
                        <a:pt x="255117" y="301388"/>
                      </a:cubicBezTo>
                      <a:cubicBezTo>
                        <a:pt x="255832" y="299256"/>
                        <a:pt x="255117" y="297123"/>
                        <a:pt x="253687" y="295701"/>
                      </a:cubicBezTo>
                      <a:cubicBezTo>
                        <a:pt x="253687" y="295701"/>
                        <a:pt x="253687" y="295701"/>
                        <a:pt x="233667" y="278642"/>
                      </a:cubicBezTo>
                      <a:cubicBezTo>
                        <a:pt x="233667" y="278642"/>
                        <a:pt x="233667" y="278642"/>
                        <a:pt x="233667" y="275088"/>
                      </a:cubicBezTo>
                      <a:cubicBezTo>
                        <a:pt x="233667" y="275088"/>
                        <a:pt x="233667" y="275088"/>
                        <a:pt x="345204" y="275088"/>
                      </a:cubicBezTo>
                      <a:cubicBezTo>
                        <a:pt x="348064" y="275088"/>
                        <a:pt x="350924" y="272244"/>
                        <a:pt x="350924" y="269401"/>
                      </a:cubicBezTo>
                      <a:cubicBezTo>
                        <a:pt x="350924" y="269401"/>
                        <a:pt x="350924" y="269401"/>
                        <a:pt x="350924" y="119418"/>
                      </a:cubicBezTo>
                      <a:cubicBezTo>
                        <a:pt x="350924" y="116575"/>
                        <a:pt x="348064" y="114442"/>
                        <a:pt x="345204" y="114442"/>
                      </a:cubicBezTo>
                      <a:cubicBezTo>
                        <a:pt x="345204" y="114442"/>
                        <a:pt x="345204" y="114442"/>
                        <a:pt x="74941" y="114442"/>
                      </a:cubicBezTo>
                      <a:close/>
                      <a:moveTo>
                        <a:pt x="211309" y="0"/>
                      </a:moveTo>
                      <a:cubicBezTo>
                        <a:pt x="265366" y="0"/>
                        <a:pt x="319332" y="20496"/>
                        <a:pt x="360433" y="61488"/>
                      </a:cubicBezTo>
                      <a:cubicBezTo>
                        <a:pt x="439060" y="139908"/>
                        <a:pt x="442634" y="265379"/>
                        <a:pt x="371154" y="348076"/>
                      </a:cubicBezTo>
                      <a:lnTo>
                        <a:pt x="519831" y="496360"/>
                      </a:lnTo>
                      <a:cubicBezTo>
                        <a:pt x="525549" y="502064"/>
                        <a:pt x="525549" y="512044"/>
                        <a:pt x="519831" y="518460"/>
                      </a:cubicBezTo>
                      <a:cubicBezTo>
                        <a:pt x="503391" y="534857"/>
                        <a:pt x="494098" y="556244"/>
                        <a:pt x="494098" y="579770"/>
                      </a:cubicBezTo>
                      <a:cubicBezTo>
                        <a:pt x="494098" y="588325"/>
                        <a:pt x="486951" y="595454"/>
                        <a:pt x="478373" y="595454"/>
                      </a:cubicBezTo>
                      <a:cubicBezTo>
                        <a:pt x="469796" y="595454"/>
                        <a:pt x="462648" y="588325"/>
                        <a:pt x="462648" y="579770"/>
                      </a:cubicBezTo>
                      <a:cubicBezTo>
                        <a:pt x="462648" y="553393"/>
                        <a:pt x="471225" y="528441"/>
                        <a:pt x="486951" y="507767"/>
                      </a:cubicBezTo>
                      <a:cubicBezTo>
                        <a:pt x="486951" y="507767"/>
                        <a:pt x="486951" y="507767"/>
                        <a:pt x="348996" y="370176"/>
                      </a:cubicBezTo>
                      <a:cubicBezTo>
                        <a:pt x="266080" y="441467"/>
                        <a:pt x="140277" y="437902"/>
                        <a:pt x="61650" y="359483"/>
                      </a:cubicBezTo>
                      <a:cubicBezTo>
                        <a:pt x="-20551" y="277498"/>
                        <a:pt x="-20551" y="144185"/>
                        <a:pt x="61650" y="61488"/>
                      </a:cubicBezTo>
                      <a:cubicBezTo>
                        <a:pt x="103108" y="20496"/>
                        <a:pt x="157253" y="0"/>
                        <a:pt x="211309" y="0"/>
                      </a:cubicBezTo>
                      <a:close/>
                    </a:path>
                  </a:pathLst>
                </a:custGeom>
                <a:solidFill>
                  <a:schemeClr val="accent1"/>
                </a:solidFill>
                <a:ln>
                  <a:noFill/>
                </a:ln>
              </p:spPr>
              <p:txBody>
                <a:bodyPr vert="horz" wrap="square" lIns="72746" tIns="36373" rIns="72746" bIns="36373" numCol="1" anchor="t" anchorCtr="0" compatLnSpc="1">
                  <a:prstTxWarp prst="textNoShape">
                    <a:avLst/>
                  </a:prstTxWarp>
                  <a:noAutofit/>
                </a:bodyPr>
                <a:lstStyle/>
                <a:p>
                  <a:endParaRPr lang="en-US" sz="1559">
                    <a:sym typeface="+mn-lt"/>
                  </a:endParaRPr>
                </a:p>
              </p:txBody>
            </p:sp>
          </p:grpSp>
        </p:grpSp>
        <p:sp>
          <p:nvSpPr>
            <p:cNvPr id="98" name="object 4">
              <a:extLst>
                <a:ext uri="{FF2B5EF4-FFF2-40B4-BE49-F238E27FC236}">
                  <a16:creationId xmlns:a16="http://schemas.microsoft.com/office/drawing/2014/main" id="{96336E65-C193-432D-9ACA-294A909418BE}"/>
                </a:ext>
              </a:extLst>
            </p:cNvPr>
            <p:cNvSpPr txBox="1">
              <a:spLocks/>
            </p:cNvSpPr>
            <p:nvPr/>
          </p:nvSpPr>
          <p:spPr>
            <a:xfrm>
              <a:off x="7327900" y="4077907"/>
              <a:ext cx="4235300" cy="440579"/>
            </a:xfrm>
            <a:prstGeom prst="rect">
              <a:avLst/>
            </a:prstGeom>
          </p:spPr>
          <p:txBody>
            <a:bodyPr vert="horz" wrap="square" lIns="0" tIns="9598" rIns="0" bIns="0" rtlCol="0">
              <a:spAutoFit/>
            </a:bodyPr>
            <a:lstStyle>
              <a:lvl1pPr marL="0" indent="0" algn="l" defTabSz="914400" rtl="0" eaLnBrk="1" latinLnBrk="0" hangingPunct="1">
                <a:lnSpc>
                  <a:spcPct val="110000"/>
                </a:lnSpc>
                <a:spcBef>
                  <a:spcPts val="600"/>
                </a:spcBef>
                <a:spcAft>
                  <a:spcPts val="300"/>
                </a:spcAft>
                <a:buClr>
                  <a:srgbClr val="DC0532"/>
                </a:buClr>
                <a:buFont typeface="Arial" panose="020B0604020202020204" pitchFamily="34" charset="0"/>
                <a:buChar char="​"/>
                <a:defRPr lang="en-US" sz="1200" kern="1200">
                  <a:solidFill>
                    <a:srgbClr val="4D4D4D"/>
                  </a:solidFill>
                  <a:latin typeface="+mn-lt"/>
                  <a:ea typeface="+mn-ea"/>
                  <a:cs typeface="+mn-cs"/>
                  <a:sym typeface="+mn-lt"/>
                </a:defRPr>
              </a:lvl1pPr>
              <a:lvl2pPr marL="284400" indent="-172800" algn="l" defTabSz="914400" rtl="0" eaLnBrk="1" latinLnBrk="0" hangingPunct="1">
                <a:lnSpc>
                  <a:spcPct val="90000"/>
                </a:lnSpc>
                <a:spcBef>
                  <a:spcPts val="0"/>
                </a:spcBef>
                <a:spcAft>
                  <a:spcPts val="300"/>
                </a:spcAft>
                <a:buClr>
                  <a:srgbClr val="DC0532"/>
                </a:buClr>
                <a:buFont typeface="Arial" panose="020B0604020202020204" pitchFamily="34" charset="0"/>
                <a:buChar char="•"/>
                <a:defRPr lang="en-US" sz="1200" kern="1200">
                  <a:solidFill>
                    <a:srgbClr val="4D4D4D"/>
                  </a:solidFill>
                  <a:latin typeface="+mn-lt"/>
                  <a:ea typeface="+mn-ea"/>
                  <a:cs typeface="+mn-cs"/>
                  <a:sym typeface="+mn-lt"/>
                </a:defRPr>
              </a:lvl2pPr>
              <a:lvl3pPr marL="511200" indent="-165600" algn="l" defTabSz="914400" rtl="0" eaLnBrk="1" latinLnBrk="0" hangingPunct="1">
                <a:lnSpc>
                  <a:spcPct val="90000"/>
                </a:lnSpc>
                <a:spcBef>
                  <a:spcPts val="0"/>
                </a:spcBef>
                <a:spcAft>
                  <a:spcPts val="300"/>
                </a:spcAft>
                <a:buClr>
                  <a:srgbClr val="DC0532"/>
                </a:buClr>
                <a:buFont typeface="Trebuchet MS" panose="020B0603020202020204" pitchFamily="34" charset="0"/>
                <a:buChar char="–"/>
                <a:defRPr lang="en-US" sz="1200" kern="1200">
                  <a:solidFill>
                    <a:srgbClr val="4D4D4D"/>
                  </a:solidFill>
                  <a:latin typeface="+mn-lt"/>
                  <a:ea typeface="+mn-ea"/>
                  <a:cs typeface="+mn-cs"/>
                  <a:sym typeface="+mn-lt"/>
                </a:defRPr>
              </a:lvl3pPr>
              <a:lvl4pPr marL="0" indent="0" algn="l" defTabSz="914400" rtl="0" eaLnBrk="1" latinLnBrk="0" hangingPunct="1">
                <a:lnSpc>
                  <a:spcPct val="110000"/>
                </a:lnSpc>
                <a:spcBef>
                  <a:spcPts val="300"/>
                </a:spcBef>
                <a:spcAft>
                  <a:spcPts val="300"/>
                </a:spcAft>
                <a:buClr>
                  <a:srgbClr val="DC0532"/>
                </a:buClr>
                <a:buFont typeface="Arial" panose="020B0604020202020204" pitchFamily="34" charset="0"/>
                <a:buChar char="​"/>
                <a:defRPr lang="en-US" sz="1600" kern="1200">
                  <a:solidFill>
                    <a:srgbClr val="DC0532"/>
                  </a:solidFill>
                  <a:latin typeface="+mn-lt"/>
                  <a:ea typeface="+mn-ea"/>
                  <a:cs typeface="+mn-cs"/>
                  <a:sym typeface="+mn-lt"/>
                </a:defRPr>
              </a:lvl4pPr>
              <a:lvl5pPr marL="0" indent="0" algn="l" defTabSz="914400" rtl="0" eaLnBrk="1" latinLnBrk="0" hangingPunct="1">
                <a:lnSpc>
                  <a:spcPct val="100000"/>
                </a:lnSpc>
                <a:spcBef>
                  <a:spcPts val="0"/>
                </a:spcBef>
                <a:spcAft>
                  <a:spcPts val="300"/>
                </a:spcAft>
                <a:buClr>
                  <a:srgbClr val="DC0532"/>
                </a:buClr>
                <a:buFont typeface="Arial" panose="020B0604020202020204" pitchFamily="34" charset="0"/>
                <a:buChar char="​"/>
                <a:defRPr lang="en-US" sz="1600" b="1" kern="1200" smtClean="0">
                  <a:solidFill>
                    <a:srgbClr val="4D4D4D"/>
                  </a:solidFill>
                  <a:latin typeface="+mn-lt"/>
                  <a:ea typeface="+mn-ea"/>
                  <a:cs typeface="+mn-cs"/>
                  <a:sym typeface="+mn-lt"/>
                </a:defRPr>
              </a:lvl5pPr>
              <a:lvl6pPr marL="269875" indent="-152400" algn="l" defTabSz="914400" rtl="0" eaLnBrk="1" latinLnBrk="0" hangingPunct="1">
                <a:lnSpc>
                  <a:spcPct val="90000"/>
                </a:lnSpc>
                <a:spcBef>
                  <a:spcPts val="0"/>
                </a:spcBef>
                <a:spcAft>
                  <a:spcPts val="600"/>
                </a:spcAft>
                <a:buClr>
                  <a:srgbClr val="DC0532"/>
                </a:buClr>
                <a:buFont typeface="Arial" panose="020B0604020202020204" pitchFamily="34" charset="0"/>
                <a:buChar char="•"/>
                <a:defRPr lang="en-US" sz="1600" kern="1200" smtClean="0">
                  <a:solidFill>
                    <a:srgbClr val="4D4D4D"/>
                  </a:solidFill>
                  <a:latin typeface="+mn-lt"/>
                  <a:ea typeface="+mn-ea"/>
                  <a:cs typeface="+mn-cs"/>
                  <a:sym typeface="+mn-lt"/>
                </a:defRPr>
              </a:lvl6pPr>
              <a:lvl7pPr marL="0" indent="0" algn="l" defTabSz="914400" rtl="0" eaLnBrk="1" latinLnBrk="0" hangingPunct="1">
                <a:lnSpc>
                  <a:spcPct val="90000"/>
                </a:lnSpc>
                <a:spcBef>
                  <a:spcPts val="900"/>
                </a:spcBef>
                <a:spcAft>
                  <a:spcPts val="900"/>
                </a:spcAft>
                <a:buClr>
                  <a:srgbClr val="DC0532"/>
                </a:buClr>
                <a:buFont typeface="Arial" panose="020B0604020202020204" pitchFamily="34" charset="0"/>
                <a:buChar char="​"/>
                <a:defRPr lang="en-US" sz="4400" kern="1200" baseline="0" smtClean="0">
                  <a:solidFill>
                    <a:srgbClr val="4D4D4D"/>
                  </a:solidFill>
                  <a:latin typeface="+mn-lt"/>
                  <a:ea typeface="+mn-ea"/>
                  <a:cs typeface="+mn-cs"/>
                  <a:sym typeface="+mn-lt"/>
                </a:defRPr>
              </a:lvl7pPr>
              <a:lvl8pPr marL="0" indent="0" algn="l" defTabSz="914400" rtl="0" eaLnBrk="1" latinLnBrk="0" hangingPunct="1">
                <a:lnSpc>
                  <a:spcPct val="90000"/>
                </a:lnSpc>
                <a:spcBef>
                  <a:spcPts val="900"/>
                </a:spcBef>
                <a:spcAft>
                  <a:spcPts val="0"/>
                </a:spcAft>
                <a:buClr>
                  <a:srgbClr val="DC0532"/>
                </a:buClr>
                <a:buFont typeface="Arial" panose="020B0604020202020204" pitchFamily="34" charset="0"/>
                <a:buChar char="​"/>
                <a:defRPr lang="en-US" sz="5400" kern="1200" baseline="0" smtClean="0">
                  <a:solidFill>
                    <a:srgbClr val="DC0532"/>
                  </a:solidFill>
                  <a:latin typeface="+mn-lt"/>
                  <a:ea typeface="+mn-ea"/>
                  <a:cs typeface="+mn-cs"/>
                  <a:sym typeface="+mn-lt"/>
                </a:defRPr>
              </a:lvl8pPr>
              <a:lvl9pPr marL="0" indent="0" algn="l" defTabSz="914400" rtl="0" eaLnBrk="1" latinLnBrk="0" hangingPunct="1">
                <a:lnSpc>
                  <a:spcPct val="100000"/>
                </a:lnSpc>
                <a:spcBef>
                  <a:spcPts val="0"/>
                </a:spcBef>
                <a:spcAft>
                  <a:spcPts val="900"/>
                </a:spcAft>
                <a:buClr>
                  <a:srgbClr val="DC0532"/>
                </a:buClr>
                <a:buFont typeface="Arial" panose="020B0604020202020204" pitchFamily="34" charset="0"/>
                <a:buChar char="​"/>
                <a:defRPr lang="en-US" sz="2400" kern="1200" baseline="0" dirty="0">
                  <a:solidFill>
                    <a:srgbClr val="DC0532"/>
                  </a:solidFill>
                  <a:latin typeface="+mn-lt"/>
                  <a:ea typeface="+mn-ea"/>
                  <a:cs typeface="+mn-cs"/>
                  <a:sym typeface="+mn-lt"/>
                </a:defRPr>
              </a:lvl9pPr>
            </a:lstStyle>
            <a:p>
              <a:pPr marL="10104">
                <a:lnSpc>
                  <a:spcPct val="100000"/>
                </a:lnSpc>
                <a:spcBef>
                  <a:spcPts val="75"/>
                </a:spcBef>
              </a:pPr>
              <a:r>
                <a:rPr lang="en-ZA" sz="1400" spc="-4"/>
                <a:t>Fully integrated </a:t>
              </a:r>
              <a:r>
                <a:rPr lang="en-ZA" sz="1400" spc="-4">
                  <a:solidFill>
                    <a:schemeClr val="tx2"/>
                  </a:solidFill>
                </a:rPr>
                <a:t>marketing tech stack </a:t>
              </a:r>
              <a:r>
                <a:rPr lang="en-ZA" sz="1400" spc="-4"/>
                <a:t>across all channels, multi-channel AI-driven orchestration</a:t>
              </a:r>
            </a:p>
          </p:txBody>
        </p:sp>
      </p:grpSp>
      <p:grpSp>
        <p:nvGrpSpPr>
          <p:cNvPr id="102" name="Group 101">
            <a:extLst>
              <a:ext uri="{FF2B5EF4-FFF2-40B4-BE49-F238E27FC236}">
                <a16:creationId xmlns:a16="http://schemas.microsoft.com/office/drawing/2014/main" id="{EF426906-0CC4-4BE8-8FD1-6118BB47E126}"/>
              </a:ext>
            </a:extLst>
          </p:cNvPr>
          <p:cNvGrpSpPr/>
          <p:nvPr/>
        </p:nvGrpSpPr>
        <p:grpSpPr>
          <a:xfrm>
            <a:off x="6567560" y="5607089"/>
            <a:ext cx="4995640" cy="553998"/>
            <a:chOff x="6567560" y="5505065"/>
            <a:chExt cx="4995640" cy="553998"/>
          </a:xfrm>
        </p:grpSpPr>
        <p:grpSp>
          <p:nvGrpSpPr>
            <p:cNvPr id="85" name="Group 84">
              <a:extLst>
                <a:ext uri="{FF2B5EF4-FFF2-40B4-BE49-F238E27FC236}">
                  <a16:creationId xmlns:a16="http://schemas.microsoft.com/office/drawing/2014/main" id="{3F10E24C-AB1D-47C1-A821-69F69C2C600A}"/>
                </a:ext>
              </a:extLst>
            </p:cNvPr>
            <p:cNvGrpSpPr>
              <a:grpSpLocks noChangeAspect="1"/>
            </p:cNvGrpSpPr>
            <p:nvPr/>
          </p:nvGrpSpPr>
          <p:grpSpPr>
            <a:xfrm>
              <a:off x="6567560" y="5505065"/>
              <a:ext cx="553998" cy="553998"/>
              <a:chOff x="5273675" y="2514600"/>
              <a:chExt cx="1646238" cy="1646238"/>
            </a:xfrm>
          </p:grpSpPr>
          <p:sp>
            <p:nvSpPr>
              <p:cNvPr id="86" name="AutoShape 9">
                <a:extLst>
                  <a:ext uri="{FF2B5EF4-FFF2-40B4-BE49-F238E27FC236}">
                    <a16:creationId xmlns:a16="http://schemas.microsoft.com/office/drawing/2014/main" id="{9997AA31-3D65-4EBD-B505-C993BFA3BC78}"/>
                  </a:ext>
                </a:extLst>
              </p:cNvPr>
              <p:cNvSpPr>
                <a:spLocks noChangeAspect="1" noChangeArrowheads="1" noTextEdit="1"/>
              </p:cNvSpPr>
              <p:nvPr/>
            </p:nvSpPr>
            <p:spPr bwMode="auto">
              <a:xfrm>
                <a:off x="5273675" y="2514600"/>
                <a:ext cx="1646238" cy="1646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grpSp>
            <p:nvGrpSpPr>
              <p:cNvPr id="87" name="Group 86">
                <a:extLst>
                  <a:ext uri="{FF2B5EF4-FFF2-40B4-BE49-F238E27FC236}">
                    <a16:creationId xmlns:a16="http://schemas.microsoft.com/office/drawing/2014/main" id="{9D16687F-D748-421F-A578-13327A7F4913}"/>
                  </a:ext>
                </a:extLst>
              </p:cNvPr>
              <p:cNvGrpSpPr/>
              <p:nvPr/>
            </p:nvGrpSpPr>
            <p:grpSpPr>
              <a:xfrm>
                <a:off x="5466557" y="2735263"/>
                <a:ext cx="1260475" cy="1204913"/>
                <a:chOff x="5468938" y="2735263"/>
                <a:chExt cx="1260475" cy="1204913"/>
              </a:xfrm>
            </p:grpSpPr>
            <p:sp>
              <p:nvSpPr>
                <p:cNvPr id="88" name="Freeform 5">
                  <a:extLst>
                    <a:ext uri="{FF2B5EF4-FFF2-40B4-BE49-F238E27FC236}">
                      <a16:creationId xmlns:a16="http://schemas.microsoft.com/office/drawing/2014/main" id="{F3590572-3394-4EF0-A09C-A90293542FCF}"/>
                    </a:ext>
                  </a:extLst>
                </p:cNvPr>
                <p:cNvSpPr>
                  <a:spLocks/>
                </p:cNvSpPr>
                <p:nvPr/>
              </p:nvSpPr>
              <p:spPr bwMode="auto">
                <a:xfrm>
                  <a:off x="5530850" y="2797175"/>
                  <a:ext cx="1135063" cy="1081088"/>
                </a:xfrm>
                <a:custGeom>
                  <a:avLst/>
                  <a:gdLst>
                    <a:gd name="connsiteX0" fmla="*/ 559594 w 1135063"/>
                    <a:gd name="connsiteY0" fmla="*/ 141288 h 1081088"/>
                    <a:gd name="connsiteX1" fmla="*/ 264894 w 1135063"/>
                    <a:gd name="connsiteY1" fmla="*/ 263562 h 1081088"/>
                    <a:gd name="connsiteX2" fmla="*/ 142875 w 1135063"/>
                    <a:gd name="connsiteY2" fmla="*/ 559595 h 1081088"/>
                    <a:gd name="connsiteX3" fmla="*/ 264894 w 1135063"/>
                    <a:gd name="connsiteY3" fmla="*/ 855627 h 1081088"/>
                    <a:gd name="connsiteX4" fmla="*/ 559594 w 1135063"/>
                    <a:gd name="connsiteY4" fmla="*/ 977901 h 1081088"/>
                    <a:gd name="connsiteX5" fmla="*/ 854294 w 1135063"/>
                    <a:gd name="connsiteY5" fmla="*/ 855627 h 1081088"/>
                    <a:gd name="connsiteX6" fmla="*/ 976313 w 1135063"/>
                    <a:gd name="connsiteY6" fmla="*/ 559595 h 1081088"/>
                    <a:gd name="connsiteX7" fmla="*/ 854294 w 1135063"/>
                    <a:gd name="connsiteY7" fmla="*/ 263562 h 1081088"/>
                    <a:gd name="connsiteX8" fmla="*/ 559594 w 1135063"/>
                    <a:gd name="connsiteY8" fmla="*/ 141288 h 1081088"/>
                    <a:gd name="connsiteX9" fmla="*/ 332371 w 1135063"/>
                    <a:gd name="connsiteY9" fmla="*/ 0 h 1081088"/>
                    <a:gd name="connsiteX10" fmla="*/ 333800 w 1135063"/>
                    <a:gd name="connsiteY10" fmla="*/ 0 h 1081088"/>
                    <a:gd name="connsiteX11" fmla="*/ 349525 w 1135063"/>
                    <a:gd name="connsiteY11" fmla="*/ 14281 h 1081088"/>
                    <a:gd name="connsiteX12" fmla="*/ 356673 w 1135063"/>
                    <a:gd name="connsiteY12" fmla="*/ 117820 h 1081088"/>
                    <a:gd name="connsiteX13" fmla="*/ 356673 w 1135063"/>
                    <a:gd name="connsiteY13" fmla="*/ 118534 h 1081088"/>
                    <a:gd name="connsiteX14" fmla="*/ 356673 w 1135063"/>
                    <a:gd name="connsiteY14" fmla="*/ 119248 h 1081088"/>
                    <a:gd name="connsiteX15" fmla="*/ 356673 w 1135063"/>
                    <a:gd name="connsiteY15" fmla="*/ 119962 h 1081088"/>
                    <a:gd name="connsiteX16" fmla="*/ 356673 w 1135063"/>
                    <a:gd name="connsiteY16" fmla="*/ 120676 h 1081088"/>
                    <a:gd name="connsiteX17" fmla="*/ 356673 w 1135063"/>
                    <a:gd name="connsiteY17" fmla="*/ 121390 h 1081088"/>
                    <a:gd name="connsiteX18" fmla="*/ 356673 w 1135063"/>
                    <a:gd name="connsiteY18" fmla="*/ 122105 h 1081088"/>
                    <a:gd name="connsiteX19" fmla="*/ 356673 w 1135063"/>
                    <a:gd name="connsiteY19" fmla="*/ 122819 h 1081088"/>
                    <a:gd name="connsiteX20" fmla="*/ 355958 w 1135063"/>
                    <a:gd name="connsiteY20" fmla="*/ 123533 h 1081088"/>
                    <a:gd name="connsiteX21" fmla="*/ 355958 w 1135063"/>
                    <a:gd name="connsiteY21" fmla="*/ 124247 h 1081088"/>
                    <a:gd name="connsiteX22" fmla="*/ 355958 w 1135063"/>
                    <a:gd name="connsiteY22" fmla="*/ 124961 h 1081088"/>
                    <a:gd name="connsiteX23" fmla="*/ 355244 w 1135063"/>
                    <a:gd name="connsiteY23" fmla="*/ 124961 h 1081088"/>
                    <a:gd name="connsiteX24" fmla="*/ 355244 w 1135063"/>
                    <a:gd name="connsiteY24" fmla="*/ 125675 h 1081088"/>
                    <a:gd name="connsiteX25" fmla="*/ 355244 w 1135063"/>
                    <a:gd name="connsiteY25" fmla="*/ 126389 h 1081088"/>
                    <a:gd name="connsiteX26" fmla="*/ 354529 w 1135063"/>
                    <a:gd name="connsiteY26" fmla="*/ 127103 h 1081088"/>
                    <a:gd name="connsiteX27" fmla="*/ 354529 w 1135063"/>
                    <a:gd name="connsiteY27" fmla="*/ 127817 h 1081088"/>
                    <a:gd name="connsiteX28" fmla="*/ 353814 w 1135063"/>
                    <a:gd name="connsiteY28" fmla="*/ 127817 h 1081088"/>
                    <a:gd name="connsiteX29" fmla="*/ 353814 w 1135063"/>
                    <a:gd name="connsiteY29" fmla="*/ 128531 h 1081088"/>
                    <a:gd name="connsiteX30" fmla="*/ 353099 w 1135063"/>
                    <a:gd name="connsiteY30" fmla="*/ 129245 h 1081088"/>
                    <a:gd name="connsiteX31" fmla="*/ 352384 w 1135063"/>
                    <a:gd name="connsiteY31" fmla="*/ 129245 h 1081088"/>
                    <a:gd name="connsiteX32" fmla="*/ 352384 w 1135063"/>
                    <a:gd name="connsiteY32" fmla="*/ 129959 h 1081088"/>
                    <a:gd name="connsiteX33" fmla="*/ 351670 w 1135063"/>
                    <a:gd name="connsiteY33" fmla="*/ 130673 h 1081088"/>
                    <a:gd name="connsiteX34" fmla="*/ 350955 w 1135063"/>
                    <a:gd name="connsiteY34" fmla="*/ 131387 h 1081088"/>
                    <a:gd name="connsiteX35" fmla="*/ 350240 w 1135063"/>
                    <a:gd name="connsiteY35" fmla="*/ 131387 h 1081088"/>
                    <a:gd name="connsiteX36" fmla="*/ 349525 w 1135063"/>
                    <a:gd name="connsiteY36" fmla="*/ 132101 h 1081088"/>
                    <a:gd name="connsiteX37" fmla="*/ 348811 w 1135063"/>
                    <a:gd name="connsiteY37" fmla="*/ 132101 h 1081088"/>
                    <a:gd name="connsiteX38" fmla="*/ 348096 w 1135063"/>
                    <a:gd name="connsiteY38" fmla="*/ 132815 h 1081088"/>
                    <a:gd name="connsiteX39" fmla="*/ 347381 w 1135063"/>
                    <a:gd name="connsiteY39" fmla="*/ 133529 h 1081088"/>
                    <a:gd name="connsiteX40" fmla="*/ 346666 w 1135063"/>
                    <a:gd name="connsiteY40" fmla="*/ 133529 h 1081088"/>
                    <a:gd name="connsiteX41" fmla="*/ 345237 w 1135063"/>
                    <a:gd name="connsiteY41" fmla="*/ 133529 h 1081088"/>
                    <a:gd name="connsiteX42" fmla="*/ 345237 w 1135063"/>
                    <a:gd name="connsiteY42" fmla="*/ 134244 h 1081088"/>
                    <a:gd name="connsiteX43" fmla="*/ 343807 w 1135063"/>
                    <a:gd name="connsiteY43" fmla="*/ 134244 h 1081088"/>
                    <a:gd name="connsiteX44" fmla="*/ 342378 w 1135063"/>
                    <a:gd name="connsiteY44" fmla="*/ 134244 h 1081088"/>
                    <a:gd name="connsiteX45" fmla="*/ 247312 w 1135063"/>
                    <a:gd name="connsiteY45" fmla="*/ 142098 h 1081088"/>
                    <a:gd name="connsiteX46" fmla="*/ 245883 w 1135063"/>
                    <a:gd name="connsiteY46" fmla="*/ 142098 h 1081088"/>
                    <a:gd name="connsiteX47" fmla="*/ 230158 w 1135063"/>
                    <a:gd name="connsiteY47" fmla="*/ 127817 h 1081088"/>
                    <a:gd name="connsiteX48" fmla="*/ 244453 w 1135063"/>
                    <a:gd name="connsiteY48" fmla="*/ 110680 h 1081088"/>
                    <a:gd name="connsiteX49" fmla="*/ 311642 w 1135063"/>
                    <a:gd name="connsiteY49" fmla="*/ 105681 h 1081088"/>
                    <a:gd name="connsiteX50" fmla="*/ 192275 w 1135063"/>
                    <a:gd name="connsiteY50" fmla="*/ 52841 h 1081088"/>
                    <a:gd name="connsiteX51" fmla="*/ 32165 w 1135063"/>
                    <a:gd name="connsiteY51" fmla="*/ 212790 h 1081088"/>
                    <a:gd name="connsiteX52" fmla="*/ 146529 w 1135063"/>
                    <a:gd name="connsiteY52" fmla="*/ 367027 h 1081088"/>
                    <a:gd name="connsiteX53" fmla="*/ 153677 w 1135063"/>
                    <a:gd name="connsiteY53" fmla="*/ 369170 h 1081088"/>
                    <a:gd name="connsiteX54" fmla="*/ 559669 w 1135063"/>
                    <a:gd name="connsiteY54" fmla="*/ 109965 h 1081088"/>
                    <a:gd name="connsiteX55" fmla="*/ 1008548 w 1135063"/>
                    <a:gd name="connsiteY55" fmla="*/ 559110 h 1081088"/>
                    <a:gd name="connsiteX56" fmla="*/ 724782 w 1135063"/>
                    <a:gd name="connsiteY56" fmla="*/ 977549 h 1081088"/>
                    <a:gd name="connsiteX57" fmla="*/ 725497 w 1135063"/>
                    <a:gd name="connsiteY57" fmla="*/ 977549 h 1081088"/>
                    <a:gd name="connsiteX58" fmla="*/ 1083599 w 1135063"/>
                    <a:gd name="connsiteY58" fmla="*/ 977549 h 1081088"/>
                    <a:gd name="connsiteX59" fmla="*/ 1041428 w 1135063"/>
                    <a:gd name="connsiteY59" fmla="*/ 931135 h 1081088"/>
                    <a:gd name="connsiteX60" fmla="*/ 1042857 w 1135063"/>
                    <a:gd name="connsiteY60" fmla="*/ 909000 h 1081088"/>
                    <a:gd name="connsiteX61" fmla="*/ 1052864 w 1135063"/>
                    <a:gd name="connsiteY61" fmla="*/ 904715 h 1081088"/>
                    <a:gd name="connsiteX62" fmla="*/ 1065015 w 1135063"/>
                    <a:gd name="connsiteY62" fmla="*/ 909714 h 1081088"/>
                    <a:gd name="connsiteX63" fmla="*/ 1130775 w 1135063"/>
                    <a:gd name="connsiteY63" fmla="*/ 982548 h 1081088"/>
                    <a:gd name="connsiteX64" fmla="*/ 1131489 w 1135063"/>
                    <a:gd name="connsiteY64" fmla="*/ 983976 h 1081088"/>
                    <a:gd name="connsiteX65" fmla="*/ 1132204 w 1135063"/>
                    <a:gd name="connsiteY65" fmla="*/ 983976 h 1081088"/>
                    <a:gd name="connsiteX66" fmla="*/ 1132204 w 1135063"/>
                    <a:gd name="connsiteY66" fmla="*/ 984690 h 1081088"/>
                    <a:gd name="connsiteX67" fmla="*/ 1132919 w 1135063"/>
                    <a:gd name="connsiteY67" fmla="*/ 985404 h 1081088"/>
                    <a:gd name="connsiteX68" fmla="*/ 1133634 w 1135063"/>
                    <a:gd name="connsiteY68" fmla="*/ 986118 h 1081088"/>
                    <a:gd name="connsiteX69" fmla="*/ 1133634 w 1135063"/>
                    <a:gd name="connsiteY69" fmla="*/ 986832 h 1081088"/>
                    <a:gd name="connsiteX70" fmla="*/ 1133634 w 1135063"/>
                    <a:gd name="connsiteY70" fmla="*/ 987546 h 1081088"/>
                    <a:gd name="connsiteX71" fmla="*/ 1134348 w 1135063"/>
                    <a:gd name="connsiteY71" fmla="*/ 988260 h 1081088"/>
                    <a:gd name="connsiteX72" fmla="*/ 1134348 w 1135063"/>
                    <a:gd name="connsiteY72" fmla="*/ 988974 h 1081088"/>
                    <a:gd name="connsiteX73" fmla="*/ 1134348 w 1135063"/>
                    <a:gd name="connsiteY73" fmla="*/ 989688 h 1081088"/>
                    <a:gd name="connsiteX74" fmla="*/ 1134348 w 1135063"/>
                    <a:gd name="connsiteY74" fmla="*/ 990402 h 1081088"/>
                    <a:gd name="connsiteX75" fmla="*/ 1135063 w 1135063"/>
                    <a:gd name="connsiteY75" fmla="*/ 991116 h 1081088"/>
                    <a:gd name="connsiteX76" fmla="*/ 1135063 w 1135063"/>
                    <a:gd name="connsiteY76" fmla="*/ 991831 h 1081088"/>
                    <a:gd name="connsiteX77" fmla="*/ 1135063 w 1135063"/>
                    <a:gd name="connsiteY77" fmla="*/ 992545 h 1081088"/>
                    <a:gd name="connsiteX78" fmla="*/ 1135063 w 1135063"/>
                    <a:gd name="connsiteY78" fmla="*/ 993259 h 1081088"/>
                    <a:gd name="connsiteX79" fmla="*/ 1135063 w 1135063"/>
                    <a:gd name="connsiteY79" fmla="*/ 993973 h 1081088"/>
                    <a:gd name="connsiteX80" fmla="*/ 1135063 w 1135063"/>
                    <a:gd name="connsiteY80" fmla="*/ 995401 h 1081088"/>
                    <a:gd name="connsiteX81" fmla="*/ 1134348 w 1135063"/>
                    <a:gd name="connsiteY81" fmla="*/ 995401 h 1081088"/>
                    <a:gd name="connsiteX82" fmla="*/ 1134348 w 1135063"/>
                    <a:gd name="connsiteY82" fmla="*/ 996829 h 1081088"/>
                    <a:gd name="connsiteX83" fmla="*/ 1134348 w 1135063"/>
                    <a:gd name="connsiteY83" fmla="*/ 998257 h 1081088"/>
                    <a:gd name="connsiteX84" fmla="*/ 1133634 w 1135063"/>
                    <a:gd name="connsiteY84" fmla="*/ 998257 h 1081088"/>
                    <a:gd name="connsiteX85" fmla="*/ 1133634 w 1135063"/>
                    <a:gd name="connsiteY85" fmla="*/ 999685 h 1081088"/>
                    <a:gd name="connsiteX86" fmla="*/ 1132919 w 1135063"/>
                    <a:gd name="connsiteY86" fmla="*/ 1001113 h 1081088"/>
                    <a:gd name="connsiteX87" fmla="*/ 1132204 w 1135063"/>
                    <a:gd name="connsiteY87" fmla="*/ 1001113 h 1081088"/>
                    <a:gd name="connsiteX88" fmla="*/ 1132204 w 1135063"/>
                    <a:gd name="connsiteY88" fmla="*/ 1001827 h 1081088"/>
                    <a:gd name="connsiteX89" fmla="*/ 1131489 w 1135063"/>
                    <a:gd name="connsiteY89" fmla="*/ 1002541 h 1081088"/>
                    <a:gd name="connsiteX90" fmla="*/ 1130775 w 1135063"/>
                    <a:gd name="connsiteY90" fmla="*/ 1003256 h 1081088"/>
                    <a:gd name="connsiteX91" fmla="*/ 1130775 w 1135063"/>
                    <a:gd name="connsiteY91" fmla="*/ 1003970 h 1081088"/>
                    <a:gd name="connsiteX92" fmla="*/ 1065015 w 1135063"/>
                    <a:gd name="connsiteY92" fmla="*/ 1076090 h 1081088"/>
                    <a:gd name="connsiteX93" fmla="*/ 1052864 w 1135063"/>
                    <a:gd name="connsiteY93" fmla="*/ 1081088 h 1081088"/>
                    <a:gd name="connsiteX94" fmla="*/ 1042857 w 1135063"/>
                    <a:gd name="connsiteY94" fmla="*/ 1076804 h 1081088"/>
                    <a:gd name="connsiteX95" fmla="*/ 1041428 w 1135063"/>
                    <a:gd name="connsiteY95" fmla="*/ 1054668 h 1081088"/>
                    <a:gd name="connsiteX96" fmla="*/ 1083599 w 1135063"/>
                    <a:gd name="connsiteY96" fmla="*/ 1008968 h 1081088"/>
                    <a:gd name="connsiteX97" fmla="*/ 15725 w 1135063"/>
                    <a:gd name="connsiteY97" fmla="*/ 1008968 h 1081088"/>
                    <a:gd name="connsiteX98" fmla="*/ 0 w 1135063"/>
                    <a:gd name="connsiteY98" fmla="*/ 993259 h 1081088"/>
                    <a:gd name="connsiteX99" fmla="*/ 15725 w 1135063"/>
                    <a:gd name="connsiteY99" fmla="*/ 977549 h 1081088"/>
                    <a:gd name="connsiteX100" fmla="*/ 395271 w 1135063"/>
                    <a:gd name="connsiteY100" fmla="*/ 977549 h 1081088"/>
                    <a:gd name="connsiteX101" fmla="*/ 110790 w 1135063"/>
                    <a:gd name="connsiteY101" fmla="*/ 559110 h 1081088"/>
                    <a:gd name="connsiteX102" fmla="*/ 140811 w 1135063"/>
                    <a:gd name="connsiteY102" fmla="*/ 398446 h 1081088"/>
                    <a:gd name="connsiteX103" fmla="*/ 137952 w 1135063"/>
                    <a:gd name="connsiteY103" fmla="*/ 397018 h 1081088"/>
                    <a:gd name="connsiteX104" fmla="*/ 715 w 1135063"/>
                    <a:gd name="connsiteY104" fmla="*/ 212790 h 1081088"/>
                    <a:gd name="connsiteX105" fmla="*/ 192275 w 1135063"/>
                    <a:gd name="connsiteY105" fmla="*/ 21422 h 1081088"/>
                    <a:gd name="connsiteX106" fmla="*/ 322364 w 1135063"/>
                    <a:gd name="connsiteY106" fmla="*/ 71406 h 1081088"/>
                    <a:gd name="connsiteX107" fmla="*/ 318075 w 1135063"/>
                    <a:gd name="connsiteY107" fmla="*/ 16424 h 1081088"/>
                    <a:gd name="connsiteX108" fmla="*/ 332371 w 1135063"/>
                    <a:gd name="connsiteY108" fmla="*/ 0 h 1081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1135063" h="1081088">
                      <a:moveTo>
                        <a:pt x="559594" y="141288"/>
                      </a:moveTo>
                      <a:cubicBezTo>
                        <a:pt x="448279" y="141288"/>
                        <a:pt x="344099" y="184906"/>
                        <a:pt x="264894" y="263562"/>
                      </a:cubicBezTo>
                      <a:cubicBezTo>
                        <a:pt x="186402" y="343648"/>
                        <a:pt x="142875" y="448046"/>
                        <a:pt x="142875" y="559595"/>
                      </a:cubicBezTo>
                      <a:cubicBezTo>
                        <a:pt x="142875" y="671143"/>
                        <a:pt x="186402" y="776971"/>
                        <a:pt x="264894" y="855627"/>
                      </a:cubicBezTo>
                      <a:cubicBezTo>
                        <a:pt x="344099" y="934998"/>
                        <a:pt x="448279" y="977901"/>
                        <a:pt x="559594" y="977901"/>
                      </a:cubicBezTo>
                      <a:cubicBezTo>
                        <a:pt x="670910" y="977901"/>
                        <a:pt x="775803" y="934998"/>
                        <a:pt x="854294" y="855627"/>
                      </a:cubicBezTo>
                      <a:cubicBezTo>
                        <a:pt x="933500" y="776971"/>
                        <a:pt x="976313" y="671143"/>
                        <a:pt x="976313" y="559595"/>
                      </a:cubicBezTo>
                      <a:cubicBezTo>
                        <a:pt x="976313" y="448046"/>
                        <a:pt x="933500" y="343648"/>
                        <a:pt x="854294" y="263562"/>
                      </a:cubicBezTo>
                      <a:cubicBezTo>
                        <a:pt x="775803" y="184906"/>
                        <a:pt x="670910" y="141288"/>
                        <a:pt x="559594" y="141288"/>
                      </a:cubicBezTo>
                      <a:close/>
                      <a:moveTo>
                        <a:pt x="332371" y="0"/>
                      </a:moveTo>
                      <a:cubicBezTo>
                        <a:pt x="333085" y="0"/>
                        <a:pt x="333085" y="0"/>
                        <a:pt x="333800" y="0"/>
                      </a:cubicBezTo>
                      <a:cubicBezTo>
                        <a:pt x="341663" y="0"/>
                        <a:pt x="348811" y="6427"/>
                        <a:pt x="349525" y="14281"/>
                      </a:cubicBezTo>
                      <a:cubicBezTo>
                        <a:pt x="349525" y="14281"/>
                        <a:pt x="349525" y="14281"/>
                        <a:pt x="356673" y="117820"/>
                      </a:cubicBezTo>
                      <a:cubicBezTo>
                        <a:pt x="356673" y="117820"/>
                        <a:pt x="356673" y="117820"/>
                        <a:pt x="356673" y="118534"/>
                      </a:cubicBezTo>
                      <a:cubicBezTo>
                        <a:pt x="356673" y="118534"/>
                        <a:pt x="356673" y="118534"/>
                        <a:pt x="356673" y="119248"/>
                      </a:cubicBezTo>
                      <a:cubicBezTo>
                        <a:pt x="356673" y="119248"/>
                        <a:pt x="356673" y="119248"/>
                        <a:pt x="356673" y="119962"/>
                      </a:cubicBezTo>
                      <a:cubicBezTo>
                        <a:pt x="356673" y="119962"/>
                        <a:pt x="356673" y="119962"/>
                        <a:pt x="356673" y="120676"/>
                      </a:cubicBezTo>
                      <a:cubicBezTo>
                        <a:pt x="356673" y="120676"/>
                        <a:pt x="356673" y="120676"/>
                        <a:pt x="356673" y="121390"/>
                      </a:cubicBezTo>
                      <a:cubicBezTo>
                        <a:pt x="356673" y="122105"/>
                        <a:pt x="356673" y="122105"/>
                        <a:pt x="356673" y="122105"/>
                      </a:cubicBezTo>
                      <a:cubicBezTo>
                        <a:pt x="356673" y="122819"/>
                        <a:pt x="356673" y="122819"/>
                        <a:pt x="356673" y="122819"/>
                      </a:cubicBezTo>
                      <a:cubicBezTo>
                        <a:pt x="355958" y="123533"/>
                        <a:pt x="355958" y="123533"/>
                        <a:pt x="355958" y="123533"/>
                      </a:cubicBezTo>
                      <a:cubicBezTo>
                        <a:pt x="355958" y="124247"/>
                        <a:pt x="355958" y="124247"/>
                        <a:pt x="355958" y="124247"/>
                      </a:cubicBezTo>
                      <a:cubicBezTo>
                        <a:pt x="355958" y="124961"/>
                        <a:pt x="355958" y="124961"/>
                        <a:pt x="355958" y="124961"/>
                      </a:cubicBezTo>
                      <a:cubicBezTo>
                        <a:pt x="355958" y="124961"/>
                        <a:pt x="355958" y="124961"/>
                        <a:pt x="355244" y="124961"/>
                      </a:cubicBezTo>
                      <a:cubicBezTo>
                        <a:pt x="355244" y="125675"/>
                        <a:pt x="355244" y="125675"/>
                        <a:pt x="355244" y="125675"/>
                      </a:cubicBezTo>
                      <a:cubicBezTo>
                        <a:pt x="355244" y="126389"/>
                        <a:pt x="355244" y="126389"/>
                        <a:pt x="355244" y="126389"/>
                      </a:cubicBezTo>
                      <a:cubicBezTo>
                        <a:pt x="354529" y="127103"/>
                        <a:pt x="354529" y="127103"/>
                        <a:pt x="354529" y="127103"/>
                      </a:cubicBezTo>
                      <a:cubicBezTo>
                        <a:pt x="354529" y="127103"/>
                        <a:pt x="354529" y="127103"/>
                        <a:pt x="354529" y="127817"/>
                      </a:cubicBezTo>
                      <a:cubicBezTo>
                        <a:pt x="354529" y="127817"/>
                        <a:pt x="354529" y="127817"/>
                        <a:pt x="353814" y="127817"/>
                      </a:cubicBezTo>
                      <a:cubicBezTo>
                        <a:pt x="353814" y="127817"/>
                        <a:pt x="353814" y="127817"/>
                        <a:pt x="353814" y="128531"/>
                      </a:cubicBezTo>
                      <a:cubicBezTo>
                        <a:pt x="353099" y="128531"/>
                        <a:pt x="353099" y="128531"/>
                        <a:pt x="353099" y="129245"/>
                      </a:cubicBezTo>
                      <a:cubicBezTo>
                        <a:pt x="353099" y="129245"/>
                        <a:pt x="353099" y="129245"/>
                        <a:pt x="352384" y="129245"/>
                      </a:cubicBezTo>
                      <a:cubicBezTo>
                        <a:pt x="352384" y="129959"/>
                        <a:pt x="352384" y="129959"/>
                        <a:pt x="352384" y="129959"/>
                      </a:cubicBezTo>
                      <a:cubicBezTo>
                        <a:pt x="351670" y="129959"/>
                        <a:pt x="351670" y="130673"/>
                        <a:pt x="351670" y="130673"/>
                      </a:cubicBezTo>
                      <a:cubicBezTo>
                        <a:pt x="351670" y="130673"/>
                        <a:pt x="350955" y="130673"/>
                        <a:pt x="350955" y="131387"/>
                      </a:cubicBezTo>
                      <a:cubicBezTo>
                        <a:pt x="350955" y="131387"/>
                        <a:pt x="350955" y="131387"/>
                        <a:pt x="350240" y="131387"/>
                      </a:cubicBezTo>
                      <a:cubicBezTo>
                        <a:pt x="350240" y="131387"/>
                        <a:pt x="350240" y="132101"/>
                        <a:pt x="349525" y="132101"/>
                      </a:cubicBezTo>
                      <a:cubicBezTo>
                        <a:pt x="349525" y="132101"/>
                        <a:pt x="349525" y="132101"/>
                        <a:pt x="348811" y="132101"/>
                      </a:cubicBezTo>
                      <a:cubicBezTo>
                        <a:pt x="348811" y="132815"/>
                        <a:pt x="348811" y="132815"/>
                        <a:pt x="348096" y="132815"/>
                      </a:cubicBezTo>
                      <a:cubicBezTo>
                        <a:pt x="347381" y="132815"/>
                        <a:pt x="347381" y="133529"/>
                        <a:pt x="347381" y="133529"/>
                      </a:cubicBezTo>
                      <a:cubicBezTo>
                        <a:pt x="346666" y="133529"/>
                        <a:pt x="346666" y="133529"/>
                        <a:pt x="346666" y="133529"/>
                      </a:cubicBezTo>
                      <a:cubicBezTo>
                        <a:pt x="345951" y="133529"/>
                        <a:pt x="345951" y="133529"/>
                        <a:pt x="345237" y="133529"/>
                      </a:cubicBezTo>
                      <a:cubicBezTo>
                        <a:pt x="345237" y="134244"/>
                        <a:pt x="345237" y="134244"/>
                        <a:pt x="345237" y="134244"/>
                      </a:cubicBezTo>
                      <a:cubicBezTo>
                        <a:pt x="344522" y="134244"/>
                        <a:pt x="344522" y="134244"/>
                        <a:pt x="343807" y="134244"/>
                      </a:cubicBezTo>
                      <a:cubicBezTo>
                        <a:pt x="343092" y="134244"/>
                        <a:pt x="343092" y="134244"/>
                        <a:pt x="342378" y="134244"/>
                      </a:cubicBezTo>
                      <a:cubicBezTo>
                        <a:pt x="342378" y="134244"/>
                        <a:pt x="342378" y="134244"/>
                        <a:pt x="247312" y="142098"/>
                      </a:cubicBezTo>
                      <a:cubicBezTo>
                        <a:pt x="246598" y="142098"/>
                        <a:pt x="246598" y="142098"/>
                        <a:pt x="245883" y="142098"/>
                      </a:cubicBezTo>
                      <a:cubicBezTo>
                        <a:pt x="238020" y="142098"/>
                        <a:pt x="230873" y="135672"/>
                        <a:pt x="230158" y="127817"/>
                      </a:cubicBezTo>
                      <a:cubicBezTo>
                        <a:pt x="229443" y="118534"/>
                        <a:pt x="235876" y="111394"/>
                        <a:pt x="244453" y="110680"/>
                      </a:cubicBezTo>
                      <a:cubicBezTo>
                        <a:pt x="244453" y="110680"/>
                        <a:pt x="244453" y="110680"/>
                        <a:pt x="311642" y="105681"/>
                      </a:cubicBezTo>
                      <a:cubicBezTo>
                        <a:pt x="280907" y="72120"/>
                        <a:pt x="238735" y="52841"/>
                        <a:pt x="192275" y="52841"/>
                      </a:cubicBezTo>
                      <a:cubicBezTo>
                        <a:pt x="104357" y="52841"/>
                        <a:pt x="32165" y="124961"/>
                        <a:pt x="32165" y="212790"/>
                      </a:cubicBezTo>
                      <a:cubicBezTo>
                        <a:pt x="32165" y="283482"/>
                        <a:pt x="79340" y="347034"/>
                        <a:pt x="146529" y="367027"/>
                      </a:cubicBezTo>
                      <a:cubicBezTo>
                        <a:pt x="147959" y="367741"/>
                        <a:pt x="150818" y="368455"/>
                        <a:pt x="153677" y="369170"/>
                      </a:cubicBezTo>
                      <a:cubicBezTo>
                        <a:pt x="225154" y="215646"/>
                        <a:pt x="380261" y="109965"/>
                        <a:pt x="559669" y="109965"/>
                      </a:cubicBezTo>
                      <a:cubicBezTo>
                        <a:pt x="807696" y="109965"/>
                        <a:pt x="1008548" y="310617"/>
                        <a:pt x="1008548" y="559110"/>
                      </a:cubicBezTo>
                      <a:cubicBezTo>
                        <a:pt x="1008548" y="749764"/>
                        <a:pt x="891325" y="911856"/>
                        <a:pt x="724782" y="977549"/>
                      </a:cubicBezTo>
                      <a:cubicBezTo>
                        <a:pt x="724782" y="977549"/>
                        <a:pt x="724782" y="977549"/>
                        <a:pt x="725497" y="977549"/>
                      </a:cubicBezTo>
                      <a:cubicBezTo>
                        <a:pt x="725497" y="977549"/>
                        <a:pt x="725497" y="977549"/>
                        <a:pt x="1083599" y="977549"/>
                      </a:cubicBezTo>
                      <a:cubicBezTo>
                        <a:pt x="1083599" y="977549"/>
                        <a:pt x="1083599" y="977549"/>
                        <a:pt x="1041428" y="931135"/>
                      </a:cubicBezTo>
                      <a:cubicBezTo>
                        <a:pt x="1035709" y="924709"/>
                        <a:pt x="1036424" y="914712"/>
                        <a:pt x="1042857" y="909000"/>
                      </a:cubicBezTo>
                      <a:cubicBezTo>
                        <a:pt x="1045716" y="906143"/>
                        <a:pt x="1049290" y="904715"/>
                        <a:pt x="1052864" y="904715"/>
                      </a:cubicBezTo>
                      <a:cubicBezTo>
                        <a:pt x="1057153" y="904715"/>
                        <a:pt x="1061441" y="906857"/>
                        <a:pt x="1065015" y="909714"/>
                      </a:cubicBezTo>
                      <a:cubicBezTo>
                        <a:pt x="1065015" y="909714"/>
                        <a:pt x="1065015" y="909714"/>
                        <a:pt x="1130775" y="982548"/>
                      </a:cubicBezTo>
                      <a:cubicBezTo>
                        <a:pt x="1131489" y="983262"/>
                        <a:pt x="1131489" y="983262"/>
                        <a:pt x="1131489" y="983976"/>
                      </a:cubicBezTo>
                      <a:cubicBezTo>
                        <a:pt x="1131489" y="983976"/>
                        <a:pt x="1131489" y="983976"/>
                        <a:pt x="1132204" y="983976"/>
                      </a:cubicBezTo>
                      <a:cubicBezTo>
                        <a:pt x="1132204" y="983976"/>
                        <a:pt x="1132204" y="983976"/>
                        <a:pt x="1132204" y="984690"/>
                      </a:cubicBezTo>
                      <a:cubicBezTo>
                        <a:pt x="1132919" y="984690"/>
                        <a:pt x="1132919" y="985404"/>
                        <a:pt x="1132919" y="985404"/>
                      </a:cubicBezTo>
                      <a:cubicBezTo>
                        <a:pt x="1132919" y="985404"/>
                        <a:pt x="1132919" y="986118"/>
                        <a:pt x="1133634" y="986118"/>
                      </a:cubicBezTo>
                      <a:cubicBezTo>
                        <a:pt x="1133634" y="986118"/>
                        <a:pt x="1133634" y="986118"/>
                        <a:pt x="1133634" y="986832"/>
                      </a:cubicBezTo>
                      <a:cubicBezTo>
                        <a:pt x="1133634" y="986832"/>
                        <a:pt x="1133634" y="986832"/>
                        <a:pt x="1133634" y="987546"/>
                      </a:cubicBezTo>
                      <a:cubicBezTo>
                        <a:pt x="1133634" y="987546"/>
                        <a:pt x="1133634" y="987546"/>
                        <a:pt x="1134348" y="988260"/>
                      </a:cubicBezTo>
                      <a:cubicBezTo>
                        <a:pt x="1134348" y="988260"/>
                        <a:pt x="1134348" y="988260"/>
                        <a:pt x="1134348" y="988974"/>
                      </a:cubicBezTo>
                      <a:cubicBezTo>
                        <a:pt x="1134348" y="988974"/>
                        <a:pt x="1134348" y="988974"/>
                        <a:pt x="1134348" y="989688"/>
                      </a:cubicBezTo>
                      <a:cubicBezTo>
                        <a:pt x="1134348" y="989688"/>
                        <a:pt x="1134348" y="989688"/>
                        <a:pt x="1134348" y="990402"/>
                      </a:cubicBezTo>
                      <a:cubicBezTo>
                        <a:pt x="1134348" y="990402"/>
                        <a:pt x="1134348" y="991116"/>
                        <a:pt x="1135063" y="991116"/>
                      </a:cubicBezTo>
                      <a:cubicBezTo>
                        <a:pt x="1135063" y="991116"/>
                        <a:pt x="1135063" y="991116"/>
                        <a:pt x="1135063" y="991831"/>
                      </a:cubicBezTo>
                      <a:cubicBezTo>
                        <a:pt x="1135063" y="992545"/>
                        <a:pt x="1135063" y="992545"/>
                        <a:pt x="1135063" y="992545"/>
                      </a:cubicBezTo>
                      <a:cubicBezTo>
                        <a:pt x="1135063" y="992545"/>
                        <a:pt x="1135063" y="992545"/>
                        <a:pt x="1135063" y="993259"/>
                      </a:cubicBezTo>
                      <a:cubicBezTo>
                        <a:pt x="1135063" y="993973"/>
                        <a:pt x="1135063" y="993973"/>
                        <a:pt x="1135063" y="993973"/>
                      </a:cubicBezTo>
                      <a:cubicBezTo>
                        <a:pt x="1135063" y="994687"/>
                        <a:pt x="1135063" y="994687"/>
                        <a:pt x="1135063" y="995401"/>
                      </a:cubicBezTo>
                      <a:cubicBezTo>
                        <a:pt x="1134348" y="995401"/>
                        <a:pt x="1134348" y="995401"/>
                        <a:pt x="1134348" y="995401"/>
                      </a:cubicBezTo>
                      <a:cubicBezTo>
                        <a:pt x="1134348" y="996115"/>
                        <a:pt x="1134348" y="996115"/>
                        <a:pt x="1134348" y="996829"/>
                      </a:cubicBezTo>
                      <a:cubicBezTo>
                        <a:pt x="1134348" y="997543"/>
                        <a:pt x="1134348" y="997543"/>
                        <a:pt x="1134348" y="998257"/>
                      </a:cubicBezTo>
                      <a:cubicBezTo>
                        <a:pt x="1133634" y="998257"/>
                        <a:pt x="1133634" y="998257"/>
                        <a:pt x="1133634" y="998257"/>
                      </a:cubicBezTo>
                      <a:cubicBezTo>
                        <a:pt x="1133634" y="998971"/>
                        <a:pt x="1133634" y="998971"/>
                        <a:pt x="1133634" y="999685"/>
                      </a:cubicBezTo>
                      <a:cubicBezTo>
                        <a:pt x="1132919" y="1000399"/>
                        <a:pt x="1132919" y="1000399"/>
                        <a:pt x="1132919" y="1001113"/>
                      </a:cubicBezTo>
                      <a:cubicBezTo>
                        <a:pt x="1132919" y="1001113"/>
                        <a:pt x="1132919" y="1001113"/>
                        <a:pt x="1132204" y="1001113"/>
                      </a:cubicBezTo>
                      <a:cubicBezTo>
                        <a:pt x="1132204" y="1001827"/>
                        <a:pt x="1132204" y="1001827"/>
                        <a:pt x="1132204" y="1001827"/>
                      </a:cubicBezTo>
                      <a:cubicBezTo>
                        <a:pt x="1132204" y="1002541"/>
                        <a:pt x="1131489" y="1002541"/>
                        <a:pt x="1131489" y="1002541"/>
                      </a:cubicBezTo>
                      <a:cubicBezTo>
                        <a:pt x="1131489" y="1002541"/>
                        <a:pt x="1131489" y="1003256"/>
                        <a:pt x="1130775" y="1003256"/>
                      </a:cubicBezTo>
                      <a:cubicBezTo>
                        <a:pt x="1130775" y="1003256"/>
                        <a:pt x="1130775" y="1003256"/>
                        <a:pt x="1130775" y="1003970"/>
                      </a:cubicBezTo>
                      <a:cubicBezTo>
                        <a:pt x="1130775" y="1003970"/>
                        <a:pt x="1130775" y="1003970"/>
                        <a:pt x="1065015" y="1076090"/>
                      </a:cubicBezTo>
                      <a:cubicBezTo>
                        <a:pt x="1061441" y="1079660"/>
                        <a:pt x="1057153" y="1081088"/>
                        <a:pt x="1052864" y="1081088"/>
                      </a:cubicBezTo>
                      <a:cubicBezTo>
                        <a:pt x="1049290" y="1081088"/>
                        <a:pt x="1045716" y="1079660"/>
                        <a:pt x="1042857" y="1076804"/>
                      </a:cubicBezTo>
                      <a:cubicBezTo>
                        <a:pt x="1036424" y="1071091"/>
                        <a:pt x="1035709" y="1061094"/>
                        <a:pt x="1041428" y="1054668"/>
                      </a:cubicBezTo>
                      <a:cubicBezTo>
                        <a:pt x="1041428" y="1054668"/>
                        <a:pt x="1041428" y="1054668"/>
                        <a:pt x="1083599" y="1008968"/>
                      </a:cubicBezTo>
                      <a:cubicBezTo>
                        <a:pt x="1083599" y="1008968"/>
                        <a:pt x="1083599" y="1008968"/>
                        <a:pt x="15725" y="1008968"/>
                      </a:cubicBezTo>
                      <a:cubicBezTo>
                        <a:pt x="7148" y="1008968"/>
                        <a:pt x="0" y="1001827"/>
                        <a:pt x="0" y="993259"/>
                      </a:cubicBezTo>
                      <a:cubicBezTo>
                        <a:pt x="0" y="984690"/>
                        <a:pt x="7148" y="977549"/>
                        <a:pt x="15725" y="977549"/>
                      </a:cubicBezTo>
                      <a:cubicBezTo>
                        <a:pt x="15725" y="977549"/>
                        <a:pt x="15725" y="977549"/>
                        <a:pt x="395271" y="977549"/>
                      </a:cubicBezTo>
                      <a:cubicBezTo>
                        <a:pt x="228728" y="911856"/>
                        <a:pt x="110790" y="749764"/>
                        <a:pt x="110790" y="559110"/>
                      </a:cubicBezTo>
                      <a:cubicBezTo>
                        <a:pt x="110790" y="502699"/>
                        <a:pt x="121512" y="448430"/>
                        <a:pt x="140811" y="398446"/>
                      </a:cubicBezTo>
                      <a:cubicBezTo>
                        <a:pt x="139381" y="397732"/>
                        <a:pt x="138667" y="397018"/>
                        <a:pt x="137952" y="397018"/>
                      </a:cubicBezTo>
                      <a:cubicBezTo>
                        <a:pt x="57182" y="373454"/>
                        <a:pt x="715" y="297049"/>
                        <a:pt x="715" y="212790"/>
                      </a:cubicBezTo>
                      <a:cubicBezTo>
                        <a:pt x="715" y="107109"/>
                        <a:pt x="87203" y="21422"/>
                        <a:pt x="192275" y="21422"/>
                      </a:cubicBezTo>
                      <a:cubicBezTo>
                        <a:pt x="241594" y="21422"/>
                        <a:pt x="287340" y="39273"/>
                        <a:pt x="322364" y="71406"/>
                      </a:cubicBezTo>
                      <a:cubicBezTo>
                        <a:pt x="322364" y="71406"/>
                        <a:pt x="322364" y="71406"/>
                        <a:pt x="318075" y="16424"/>
                      </a:cubicBezTo>
                      <a:cubicBezTo>
                        <a:pt x="317360" y="7855"/>
                        <a:pt x="323793" y="714"/>
                        <a:pt x="332371"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t" anchorCtr="0" compatLnSpc="1">
                  <a:prstTxWarp prst="textNoShape">
                    <a:avLst/>
                  </a:prstTxWarp>
                  <a:noAutofit/>
                </a:bodyPr>
                <a:lstStyle/>
                <a:p>
                  <a:endParaRPr lang="en-US" sz="1559">
                    <a:sym typeface="+mn-lt"/>
                  </a:endParaRPr>
                </a:p>
              </p:txBody>
            </p:sp>
            <p:sp>
              <p:nvSpPr>
                <p:cNvPr id="89" name="Freeform 6">
                  <a:extLst>
                    <a:ext uri="{FF2B5EF4-FFF2-40B4-BE49-F238E27FC236}">
                      <a16:creationId xmlns:a16="http://schemas.microsoft.com/office/drawing/2014/main" id="{68A561E2-3623-4D27-B536-ED8C3DD81F6C}"/>
                    </a:ext>
                  </a:extLst>
                </p:cNvPr>
                <p:cNvSpPr>
                  <a:spLocks/>
                </p:cNvSpPr>
                <p:nvPr/>
              </p:nvSpPr>
              <p:spPr bwMode="auto">
                <a:xfrm>
                  <a:off x="5468938" y="2735263"/>
                  <a:ext cx="1260475" cy="1204913"/>
                </a:xfrm>
                <a:custGeom>
                  <a:avLst/>
                  <a:gdLst>
                    <a:gd name="connsiteX0" fmla="*/ 229849 w 1260475"/>
                    <a:gd name="connsiteY0" fmla="*/ 180975 h 1204913"/>
                    <a:gd name="connsiteX1" fmla="*/ 157162 w 1260475"/>
                    <a:gd name="connsiteY1" fmla="*/ 275004 h 1204913"/>
                    <a:gd name="connsiteX2" fmla="*/ 189547 w 1260475"/>
                    <a:gd name="connsiteY2" fmla="*/ 347663 h 1204913"/>
                    <a:gd name="connsiteX3" fmla="*/ 265112 w 1260475"/>
                    <a:gd name="connsiteY3" fmla="*/ 254346 h 1204913"/>
                    <a:gd name="connsiteX4" fmla="*/ 229849 w 1260475"/>
                    <a:gd name="connsiteY4" fmla="*/ 194510 h 1204913"/>
                    <a:gd name="connsiteX5" fmla="*/ 229849 w 1260475"/>
                    <a:gd name="connsiteY5" fmla="*/ 180975 h 1204913"/>
                    <a:gd name="connsiteX6" fmla="*/ 254252 w 1260475"/>
                    <a:gd name="connsiteY6" fmla="*/ 146050 h 1204913"/>
                    <a:gd name="connsiteX7" fmla="*/ 275579 w 1260475"/>
                    <a:gd name="connsiteY7" fmla="*/ 147481 h 1204913"/>
                    <a:gd name="connsiteX8" fmla="*/ 281266 w 1260475"/>
                    <a:gd name="connsiteY8" fmla="*/ 148911 h 1204913"/>
                    <a:gd name="connsiteX9" fmla="*/ 262072 w 1260475"/>
                    <a:gd name="connsiteY9" fmla="*/ 177523 h 1204913"/>
                    <a:gd name="connsiteX10" fmla="*/ 260650 w 1260475"/>
                    <a:gd name="connsiteY10" fmla="*/ 191829 h 1204913"/>
                    <a:gd name="connsiteX11" fmla="*/ 265626 w 1260475"/>
                    <a:gd name="connsiteY11" fmla="*/ 208281 h 1204913"/>
                    <a:gd name="connsiteX12" fmla="*/ 267759 w 1260475"/>
                    <a:gd name="connsiteY12" fmla="*/ 213288 h 1204913"/>
                    <a:gd name="connsiteX13" fmla="*/ 278422 w 1260475"/>
                    <a:gd name="connsiteY13" fmla="*/ 224733 h 1204913"/>
                    <a:gd name="connsiteX14" fmla="*/ 280555 w 1260475"/>
                    <a:gd name="connsiteY14" fmla="*/ 226879 h 1204913"/>
                    <a:gd name="connsiteX15" fmla="*/ 283399 w 1260475"/>
                    <a:gd name="connsiteY15" fmla="*/ 228310 h 1204913"/>
                    <a:gd name="connsiteX16" fmla="*/ 288375 w 1260475"/>
                    <a:gd name="connsiteY16" fmla="*/ 231171 h 1204913"/>
                    <a:gd name="connsiteX17" fmla="*/ 291930 w 1260475"/>
                    <a:gd name="connsiteY17" fmla="*/ 232601 h 1204913"/>
                    <a:gd name="connsiteX18" fmla="*/ 299039 w 1260475"/>
                    <a:gd name="connsiteY18" fmla="*/ 234747 h 1204913"/>
                    <a:gd name="connsiteX19" fmla="*/ 307569 w 1260475"/>
                    <a:gd name="connsiteY19" fmla="*/ 235463 h 1204913"/>
                    <a:gd name="connsiteX20" fmla="*/ 311124 w 1260475"/>
                    <a:gd name="connsiteY20" fmla="*/ 235463 h 1204913"/>
                    <a:gd name="connsiteX21" fmla="*/ 311835 w 1260475"/>
                    <a:gd name="connsiteY21" fmla="*/ 235463 h 1204913"/>
                    <a:gd name="connsiteX22" fmla="*/ 338138 w 1260475"/>
                    <a:gd name="connsiteY22" fmla="*/ 233317 h 1204913"/>
                    <a:gd name="connsiteX23" fmla="*/ 316100 w 1260475"/>
                    <a:gd name="connsiteY23" fmla="*/ 250484 h 1204913"/>
                    <a:gd name="connsiteX24" fmla="*/ 286953 w 1260475"/>
                    <a:gd name="connsiteY24" fmla="*/ 276235 h 1204913"/>
                    <a:gd name="connsiteX25" fmla="*/ 259939 w 1260475"/>
                    <a:gd name="connsiteY25" fmla="*/ 304847 h 1204913"/>
                    <a:gd name="connsiteX26" fmla="*/ 251408 w 1260475"/>
                    <a:gd name="connsiteY26" fmla="*/ 314861 h 1204913"/>
                    <a:gd name="connsiteX27" fmla="*/ 249986 w 1260475"/>
                    <a:gd name="connsiteY27" fmla="*/ 317007 h 1204913"/>
                    <a:gd name="connsiteX28" fmla="*/ 243588 w 1260475"/>
                    <a:gd name="connsiteY28" fmla="*/ 324875 h 1204913"/>
                    <a:gd name="connsiteX29" fmla="*/ 242166 w 1260475"/>
                    <a:gd name="connsiteY29" fmla="*/ 326306 h 1204913"/>
                    <a:gd name="connsiteX30" fmla="*/ 227948 w 1260475"/>
                    <a:gd name="connsiteY30" fmla="*/ 347049 h 1204913"/>
                    <a:gd name="connsiteX31" fmla="*/ 200934 w 1260475"/>
                    <a:gd name="connsiteY31" fmla="*/ 392113 h 1204913"/>
                    <a:gd name="connsiteX32" fmla="*/ 134109 w 1260475"/>
                    <a:gd name="connsiteY32" fmla="*/ 315576 h 1204913"/>
                    <a:gd name="connsiteX33" fmla="*/ 133398 w 1260475"/>
                    <a:gd name="connsiteY33" fmla="*/ 314145 h 1204913"/>
                    <a:gd name="connsiteX34" fmla="*/ 132687 w 1260475"/>
                    <a:gd name="connsiteY34" fmla="*/ 311284 h 1204913"/>
                    <a:gd name="connsiteX35" fmla="*/ 131977 w 1260475"/>
                    <a:gd name="connsiteY35" fmla="*/ 309854 h 1204913"/>
                    <a:gd name="connsiteX36" fmla="*/ 131266 w 1260475"/>
                    <a:gd name="connsiteY36" fmla="*/ 306993 h 1204913"/>
                    <a:gd name="connsiteX37" fmla="*/ 130555 w 1260475"/>
                    <a:gd name="connsiteY37" fmla="*/ 303416 h 1204913"/>
                    <a:gd name="connsiteX38" fmla="*/ 129844 w 1260475"/>
                    <a:gd name="connsiteY38" fmla="*/ 302701 h 1204913"/>
                    <a:gd name="connsiteX39" fmla="*/ 129133 w 1260475"/>
                    <a:gd name="connsiteY39" fmla="*/ 298409 h 1204913"/>
                    <a:gd name="connsiteX40" fmla="*/ 129133 w 1260475"/>
                    <a:gd name="connsiteY40" fmla="*/ 297694 h 1204913"/>
                    <a:gd name="connsiteX41" fmla="*/ 128422 w 1260475"/>
                    <a:gd name="connsiteY41" fmla="*/ 294117 h 1204913"/>
                    <a:gd name="connsiteX42" fmla="*/ 128422 w 1260475"/>
                    <a:gd name="connsiteY42" fmla="*/ 293402 h 1204913"/>
                    <a:gd name="connsiteX43" fmla="*/ 127711 w 1260475"/>
                    <a:gd name="connsiteY43" fmla="*/ 284818 h 1204913"/>
                    <a:gd name="connsiteX44" fmla="*/ 127711 w 1260475"/>
                    <a:gd name="connsiteY44" fmla="*/ 284103 h 1204913"/>
                    <a:gd name="connsiteX45" fmla="*/ 127000 w 1260475"/>
                    <a:gd name="connsiteY45" fmla="*/ 274804 h 1204913"/>
                    <a:gd name="connsiteX46" fmla="*/ 129133 w 1260475"/>
                    <a:gd name="connsiteY46" fmla="*/ 253345 h 1204913"/>
                    <a:gd name="connsiteX47" fmla="*/ 131266 w 1260475"/>
                    <a:gd name="connsiteY47" fmla="*/ 241900 h 1204913"/>
                    <a:gd name="connsiteX48" fmla="*/ 166811 w 1260475"/>
                    <a:gd name="connsiteY48" fmla="*/ 181815 h 1204913"/>
                    <a:gd name="connsiteX49" fmla="*/ 185294 w 1260475"/>
                    <a:gd name="connsiteY49" fmla="*/ 166794 h 1204913"/>
                    <a:gd name="connsiteX50" fmla="*/ 198801 w 1260475"/>
                    <a:gd name="connsiteY50" fmla="*/ 158926 h 1204913"/>
                    <a:gd name="connsiteX51" fmla="*/ 213019 w 1260475"/>
                    <a:gd name="connsiteY51" fmla="*/ 153203 h 1204913"/>
                    <a:gd name="connsiteX52" fmla="*/ 220839 w 1260475"/>
                    <a:gd name="connsiteY52" fmla="*/ 150342 h 1204913"/>
                    <a:gd name="connsiteX53" fmla="*/ 228659 w 1260475"/>
                    <a:gd name="connsiteY53" fmla="*/ 148911 h 1204913"/>
                    <a:gd name="connsiteX54" fmla="*/ 254252 w 1260475"/>
                    <a:gd name="connsiteY54" fmla="*/ 146050 h 1204913"/>
                    <a:gd name="connsiteX55" fmla="*/ 393128 w 1260475"/>
                    <a:gd name="connsiteY55" fmla="*/ 31750 h 1204913"/>
                    <a:gd name="connsiteX56" fmla="*/ 367417 w 1260475"/>
                    <a:gd name="connsiteY56" fmla="*/ 41750 h 1204913"/>
                    <a:gd name="connsiteX57" fmla="*/ 363847 w 1260475"/>
                    <a:gd name="connsiteY57" fmla="*/ 44607 h 1204913"/>
                    <a:gd name="connsiteX58" fmla="*/ 360990 w 1260475"/>
                    <a:gd name="connsiteY58" fmla="*/ 48178 h 1204913"/>
                    <a:gd name="connsiteX59" fmla="*/ 351705 w 1260475"/>
                    <a:gd name="connsiteY59" fmla="*/ 63178 h 1204913"/>
                    <a:gd name="connsiteX60" fmla="*/ 350991 w 1260475"/>
                    <a:gd name="connsiteY60" fmla="*/ 68178 h 1204913"/>
                    <a:gd name="connsiteX61" fmla="*/ 349563 w 1260475"/>
                    <a:gd name="connsiteY61" fmla="*/ 73892 h 1204913"/>
                    <a:gd name="connsiteX62" fmla="*/ 344564 w 1260475"/>
                    <a:gd name="connsiteY62" fmla="*/ 71750 h 1204913"/>
                    <a:gd name="connsiteX63" fmla="*/ 261718 w 1260475"/>
                    <a:gd name="connsiteY63" fmla="*/ 53178 h 1204913"/>
                    <a:gd name="connsiteX64" fmla="*/ 255290 w 1260475"/>
                    <a:gd name="connsiteY64" fmla="*/ 53178 h 1204913"/>
                    <a:gd name="connsiteX65" fmla="*/ 221724 w 1260475"/>
                    <a:gd name="connsiteY65" fmla="*/ 56036 h 1204913"/>
                    <a:gd name="connsiteX66" fmla="*/ 192442 w 1260475"/>
                    <a:gd name="connsiteY66" fmla="*/ 62464 h 1204913"/>
                    <a:gd name="connsiteX67" fmla="*/ 176016 w 1260475"/>
                    <a:gd name="connsiteY67" fmla="*/ 68178 h 1204913"/>
                    <a:gd name="connsiteX68" fmla="*/ 168874 w 1260475"/>
                    <a:gd name="connsiteY68" fmla="*/ 71035 h 1204913"/>
                    <a:gd name="connsiteX69" fmla="*/ 147448 w 1260475"/>
                    <a:gd name="connsiteY69" fmla="*/ 81035 h 1204913"/>
                    <a:gd name="connsiteX70" fmla="*/ 91028 w 1260475"/>
                    <a:gd name="connsiteY70" fmla="*/ 126035 h 1204913"/>
                    <a:gd name="connsiteX71" fmla="*/ 75316 w 1260475"/>
                    <a:gd name="connsiteY71" fmla="*/ 145320 h 1204913"/>
                    <a:gd name="connsiteX72" fmla="*/ 43891 w 1260475"/>
                    <a:gd name="connsiteY72" fmla="*/ 206748 h 1204913"/>
                    <a:gd name="connsiteX73" fmla="*/ 41035 w 1260475"/>
                    <a:gd name="connsiteY73" fmla="*/ 214605 h 1204913"/>
                    <a:gd name="connsiteX74" fmla="*/ 33893 w 1260475"/>
                    <a:gd name="connsiteY74" fmla="*/ 253176 h 1204913"/>
                    <a:gd name="connsiteX75" fmla="*/ 32464 w 1260475"/>
                    <a:gd name="connsiteY75" fmla="*/ 276033 h 1204913"/>
                    <a:gd name="connsiteX76" fmla="*/ 32464 w 1260475"/>
                    <a:gd name="connsiteY76" fmla="*/ 284604 h 1204913"/>
                    <a:gd name="connsiteX77" fmla="*/ 33179 w 1260475"/>
                    <a:gd name="connsiteY77" fmla="*/ 289604 h 1204913"/>
                    <a:gd name="connsiteX78" fmla="*/ 33179 w 1260475"/>
                    <a:gd name="connsiteY78" fmla="*/ 292461 h 1204913"/>
                    <a:gd name="connsiteX79" fmla="*/ 33893 w 1260475"/>
                    <a:gd name="connsiteY79" fmla="*/ 297461 h 1204913"/>
                    <a:gd name="connsiteX80" fmla="*/ 33893 w 1260475"/>
                    <a:gd name="connsiteY80" fmla="*/ 300318 h 1204913"/>
                    <a:gd name="connsiteX81" fmla="*/ 34607 w 1260475"/>
                    <a:gd name="connsiteY81" fmla="*/ 305318 h 1204913"/>
                    <a:gd name="connsiteX82" fmla="*/ 35321 w 1260475"/>
                    <a:gd name="connsiteY82" fmla="*/ 308889 h 1204913"/>
                    <a:gd name="connsiteX83" fmla="*/ 36035 w 1260475"/>
                    <a:gd name="connsiteY83" fmla="*/ 315318 h 1204913"/>
                    <a:gd name="connsiteX84" fmla="*/ 36035 w 1260475"/>
                    <a:gd name="connsiteY84" fmla="*/ 316746 h 1204913"/>
                    <a:gd name="connsiteX85" fmla="*/ 163875 w 1260475"/>
                    <a:gd name="connsiteY85" fmla="*/ 478887 h 1204913"/>
                    <a:gd name="connsiteX86" fmla="*/ 154590 w 1260475"/>
                    <a:gd name="connsiteY86" fmla="*/ 514601 h 1204913"/>
                    <a:gd name="connsiteX87" fmla="*/ 142449 w 1260475"/>
                    <a:gd name="connsiteY87" fmla="*/ 621028 h 1204913"/>
                    <a:gd name="connsiteX88" fmla="*/ 142449 w 1260475"/>
                    <a:gd name="connsiteY88" fmla="*/ 630313 h 1204913"/>
                    <a:gd name="connsiteX89" fmla="*/ 149591 w 1260475"/>
                    <a:gd name="connsiteY89" fmla="*/ 701741 h 1204913"/>
                    <a:gd name="connsiteX90" fmla="*/ 151019 w 1260475"/>
                    <a:gd name="connsiteY90" fmla="*/ 711741 h 1204913"/>
                    <a:gd name="connsiteX91" fmla="*/ 156733 w 1260475"/>
                    <a:gd name="connsiteY91" fmla="*/ 738169 h 1204913"/>
                    <a:gd name="connsiteX92" fmla="*/ 164589 w 1260475"/>
                    <a:gd name="connsiteY92" fmla="*/ 764597 h 1204913"/>
                    <a:gd name="connsiteX93" fmla="*/ 166731 w 1260475"/>
                    <a:gd name="connsiteY93" fmla="*/ 773169 h 1204913"/>
                    <a:gd name="connsiteX94" fmla="*/ 173159 w 1260475"/>
                    <a:gd name="connsiteY94" fmla="*/ 790311 h 1204913"/>
                    <a:gd name="connsiteX95" fmla="*/ 179587 w 1260475"/>
                    <a:gd name="connsiteY95" fmla="*/ 806740 h 1204913"/>
                    <a:gd name="connsiteX96" fmla="*/ 187443 w 1260475"/>
                    <a:gd name="connsiteY96" fmla="*/ 823168 h 1204913"/>
                    <a:gd name="connsiteX97" fmla="*/ 199584 w 1260475"/>
                    <a:gd name="connsiteY97" fmla="*/ 846739 h 1204913"/>
                    <a:gd name="connsiteX98" fmla="*/ 203869 w 1260475"/>
                    <a:gd name="connsiteY98" fmla="*/ 855310 h 1204913"/>
                    <a:gd name="connsiteX99" fmla="*/ 209582 w 1260475"/>
                    <a:gd name="connsiteY99" fmla="*/ 864596 h 1204913"/>
                    <a:gd name="connsiteX100" fmla="*/ 218153 w 1260475"/>
                    <a:gd name="connsiteY100" fmla="*/ 879596 h 1204913"/>
                    <a:gd name="connsiteX101" fmla="*/ 228151 w 1260475"/>
                    <a:gd name="connsiteY101" fmla="*/ 893881 h 1204913"/>
                    <a:gd name="connsiteX102" fmla="*/ 236721 w 1260475"/>
                    <a:gd name="connsiteY102" fmla="*/ 905310 h 1204913"/>
                    <a:gd name="connsiteX103" fmla="*/ 336707 w 1260475"/>
                    <a:gd name="connsiteY103" fmla="*/ 1006737 h 1204913"/>
                    <a:gd name="connsiteX104" fmla="*/ 78886 w 1260475"/>
                    <a:gd name="connsiteY104" fmla="*/ 1006737 h 1204913"/>
                    <a:gd name="connsiteX105" fmla="*/ 69602 w 1260475"/>
                    <a:gd name="connsiteY105" fmla="*/ 1007451 h 1204913"/>
                    <a:gd name="connsiteX106" fmla="*/ 61746 w 1260475"/>
                    <a:gd name="connsiteY106" fmla="*/ 1009594 h 1204913"/>
                    <a:gd name="connsiteX107" fmla="*/ 31750 w 1260475"/>
                    <a:gd name="connsiteY107" fmla="*/ 1053879 h 1204913"/>
                    <a:gd name="connsiteX108" fmla="*/ 61746 w 1260475"/>
                    <a:gd name="connsiteY108" fmla="*/ 1097450 h 1204913"/>
                    <a:gd name="connsiteX109" fmla="*/ 69602 w 1260475"/>
                    <a:gd name="connsiteY109" fmla="*/ 1099593 h 1204913"/>
                    <a:gd name="connsiteX110" fmla="*/ 78886 w 1260475"/>
                    <a:gd name="connsiteY110" fmla="*/ 1101021 h 1204913"/>
                    <a:gd name="connsiteX111" fmla="*/ 1075890 w 1260475"/>
                    <a:gd name="connsiteY111" fmla="*/ 1101021 h 1204913"/>
                    <a:gd name="connsiteX112" fmla="*/ 1083746 w 1260475"/>
                    <a:gd name="connsiteY112" fmla="*/ 1161020 h 1204913"/>
                    <a:gd name="connsiteX113" fmla="*/ 1110885 w 1260475"/>
                    <a:gd name="connsiteY113" fmla="*/ 1173163 h 1204913"/>
                    <a:gd name="connsiteX114" fmla="*/ 1115170 w 1260475"/>
                    <a:gd name="connsiteY114" fmla="*/ 1173163 h 1204913"/>
                    <a:gd name="connsiteX115" fmla="*/ 1122312 w 1260475"/>
                    <a:gd name="connsiteY115" fmla="*/ 1172449 h 1204913"/>
                    <a:gd name="connsiteX116" fmla="*/ 1128739 w 1260475"/>
                    <a:gd name="connsiteY116" fmla="*/ 1171020 h 1204913"/>
                    <a:gd name="connsiteX117" fmla="*/ 1150165 w 1260475"/>
                    <a:gd name="connsiteY117" fmla="*/ 1158163 h 1204913"/>
                    <a:gd name="connsiteX118" fmla="*/ 1216584 w 1260475"/>
                    <a:gd name="connsiteY118" fmla="*/ 1085307 h 1204913"/>
                    <a:gd name="connsiteX119" fmla="*/ 1218012 w 1260475"/>
                    <a:gd name="connsiteY119" fmla="*/ 1083879 h 1204913"/>
                    <a:gd name="connsiteX120" fmla="*/ 1218012 w 1260475"/>
                    <a:gd name="connsiteY120" fmla="*/ 1083164 h 1204913"/>
                    <a:gd name="connsiteX121" fmla="*/ 1218727 w 1260475"/>
                    <a:gd name="connsiteY121" fmla="*/ 1083164 h 1204913"/>
                    <a:gd name="connsiteX122" fmla="*/ 1218727 w 1260475"/>
                    <a:gd name="connsiteY122" fmla="*/ 1082450 h 1204913"/>
                    <a:gd name="connsiteX123" fmla="*/ 1219441 w 1260475"/>
                    <a:gd name="connsiteY123" fmla="*/ 1081736 h 1204913"/>
                    <a:gd name="connsiteX124" fmla="*/ 1219441 w 1260475"/>
                    <a:gd name="connsiteY124" fmla="*/ 1081022 h 1204913"/>
                    <a:gd name="connsiteX125" fmla="*/ 1220155 w 1260475"/>
                    <a:gd name="connsiteY125" fmla="*/ 1081022 h 1204913"/>
                    <a:gd name="connsiteX126" fmla="*/ 1221583 w 1260475"/>
                    <a:gd name="connsiteY126" fmla="*/ 1078164 h 1204913"/>
                    <a:gd name="connsiteX127" fmla="*/ 1222298 w 1260475"/>
                    <a:gd name="connsiteY127" fmla="*/ 1077450 h 1204913"/>
                    <a:gd name="connsiteX128" fmla="*/ 1223726 w 1260475"/>
                    <a:gd name="connsiteY128" fmla="*/ 1073879 h 1204913"/>
                    <a:gd name="connsiteX129" fmla="*/ 1224440 w 1260475"/>
                    <a:gd name="connsiteY129" fmla="*/ 1073879 h 1204913"/>
                    <a:gd name="connsiteX130" fmla="*/ 1224440 w 1260475"/>
                    <a:gd name="connsiteY130" fmla="*/ 1073165 h 1204913"/>
                    <a:gd name="connsiteX131" fmla="*/ 1225154 w 1260475"/>
                    <a:gd name="connsiteY131" fmla="*/ 1071022 h 1204913"/>
                    <a:gd name="connsiteX132" fmla="*/ 1225868 w 1260475"/>
                    <a:gd name="connsiteY132" fmla="*/ 1070307 h 1204913"/>
                    <a:gd name="connsiteX133" fmla="*/ 1225868 w 1260475"/>
                    <a:gd name="connsiteY133" fmla="*/ 1068879 h 1204913"/>
                    <a:gd name="connsiteX134" fmla="*/ 1227297 w 1260475"/>
                    <a:gd name="connsiteY134" fmla="*/ 1065307 h 1204913"/>
                    <a:gd name="connsiteX135" fmla="*/ 1227297 w 1260475"/>
                    <a:gd name="connsiteY135" fmla="*/ 1064593 h 1204913"/>
                    <a:gd name="connsiteX136" fmla="*/ 1228011 w 1260475"/>
                    <a:gd name="connsiteY136" fmla="*/ 1061022 h 1204913"/>
                    <a:gd name="connsiteX137" fmla="*/ 1228011 w 1260475"/>
                    <a:gd name="connsiteY137" fmla="*/ 1059593 h 1204913"/>
                    <a:gd name="connsiteX138" fmla="*/ 1228011 w 1260475"/>
                    <a:gd name="connsiteY138" fmla="*/ 1058879 h 1204913"/>
                    <a:gd name="connsiteX139" fmla="*/ 1228725 w 1260475"/>
                    <a:gd name="connsiteY139" fmla="*/ 1056736 h 1204913"/>
                    <a:gd name="connsiteX140" fmla="*/ 1228725 w 1260475"/>
                    <a:gd name="connsiteY140" fmla="*/ 1056022 h 1204913"/>
                    <a:gd name="connsiteX141" fmla="*/ 1228725 w 1260475"/>
                    <a:gd name="connsiteY141" fmla="*/ 1053879 h 1204913"/>
                    <a:gd name="connsiteX142" fmla="*/ 1228725 w 1260475"/>
                    <a:gd name="connsiteY142" fmla="*/ 1051736 h 1204913"/>
                    <a:gd name="connsiteX143" fmla="*/ 1228725 w 1260475"/>
                    <a:gd name="connsiteY143" fmla="*/ 1051022 h 1204913"/>
                    <a:gd name="connsiteX144" fmla="*/ 1228011 w 1260475"/>
                    <a:gd name="connsiteY144" fmla="*/ 1047451 h 1204913"/>
                    <a:gd name="connsiteX145" fmla="*/ 1228011 w 1260475"/>
                    <a:gd name="connsiteY145" fmla="*/ 1046022 h 1204913"/>
                    <a:gd name="connsiteX146" fmla="*/ 1227297 w 1260475"/>
                    <a:gd name="connsiteY146" fmla="*/ 1044593 h 1204913"/>
                    <a:gd name="connsiteX147" fmla="*/ 1227297 w 1260475"/>
                    <a:gd name="connsiteY147" fmla="*/ 1043165 h 1204913"/>
                    <a:gd name="connsiteX148" fmla="*/ 1227297 w 1260475"/>
                    <a:gd name="connsiteY148" fmla="*/ 1041736 h 1204913"/>
                    <a:gd name="connsiteX149" fmla="*/ 1225868 w 1260475"/>
                    <a:gd name="connsiteY149" fmla="*/ 1038165 h 1204913"/>
                    <a:gd name="connsiteX150" fmla="*/ 1225868 w 1260475"/>
                    <a:gd name="connsiteY150" fmla="*/ 1037451 h 1204913"/>
                    <a:gd name="connsiteX151" fmla="*/ 1224440 w 1260475"/>
                    <a:gd name="connsiteY151" fmla="*/ 1034594 h 1204913"/>
                    <a:gd name="connsiteX152" fmla="*/ 1223726 w 1260475"/>
                    <a:gd name="connsiteY152" fmla="*/ 1033165 h 1204913"/>
                    <a:gd name="connsiteX153" fmla="*/ 1222298 w 1260475"/>
                    <a:gd name="connsiteY153" fmla="*/ 1030308 h 1204913"/>
                    <a:gd name="connsiteX154" fmla="*/ 1221583 w 1260475"/>
                    <a:gd name="connsiteY154" fmla="*/ 1028879 h 1204913"/>
                    <a:gd name="connsiteX155" fmla="*/ 1219441 w 1260475"/>
                    <a:gd name="connsiteY155" fmla="*/ 1026022 h 1204913"/>
                    <a:gd name="connsiteX156" fmla="*/ 1218727 w 1260475"/>
                    <a:gd name="connsiteY156" fmla="*/ 1025308 h 1204913"/>
                    <a:gd name="connsiteX157" fmla="*/ 1218727 w 1260475"/>
                    <a:gd name="connsiteY157" fmla="*/ 1024594 h 1204913"/>
                    <a:gd name="connsiteX158" fmla="*/ 1218012 w 1260475"/>
                    <a:gd name="connsiteY158" fmla="*/ 1023879 h 1204913"/>
                    <a:gd name="connsiteX159" fmla="*/ 1216584 w 1260475"/>
                    <a:gd name="connsiteY159" fmla="*/ 1022451 h 1204913"/>
                    <a:gd name="connsiteX160" fmla="*/ 1216584 w 1260475"/>
                    <a:gd name="connsiteY160" fmla="*/ 1021737 h 1204913"/>
                    <a:gd name="connsiteX161" fmla="*/ 1150165 w 1260475"/>
                    <a:gd name="connsiteY161" fmla="*/ 949595 h 1204913"/>
                    <a:gd name="connsiteX162" fmla="*/ 1143023 w 1260475"/>
                    <a:gd name="connsiteY162" fmla="*/ 943166 h 1204913"/>
                    <a:gd name="connsiteX163" fmla="*/ 1137309 w 1260475"/>
                    <a:gd name="connsiteY163" fmla="*/ 939595 h 1204913"/>
                    <a:gd name="connsiteX164" fmla="*/ 1134453 w 1260475"/>
                    <a:gd name="connsiteY164" fmla="*/ 938166 h 1204913"/>
                    <a:gd name="connsiteX165" fmla="*/ 1131596 w 1260475"/>
                    <a:gd name="connsiteY165" fmla="*/ 936738 h 1204913"/>
                    <a:gd name="connsiteX166" fmla="*/ 1115170 w 1260475"/>
                    <a:gd name="connsiteY166" fmla="*/ 933881 h 1204913"/>
                    <a:gd name="connsiteX167" fmla="*/ 1087316 w 1260475"/>
                    <a:gd name="connsiteY167" fmla="*/ 943881 h 1204913"/>
                    <a:gd name="connsiteX168" fmla="*/ 1083746 w 1260475"/>
                    <a:gd name="connsiteY168" fmla="*/ 946023 h 1204913"/>
                    <a:gd name="connsiteX169" fmla="*/ 1080175 w 1260475"/>
                    <a:gd name="connsiteY169" fmla="*/ 949595 h 1204913"/>
                    <a:gd name="connsiteX170" fmla="*/ 1079460 w 1260475"/>
                    <a:gd name="connsiteY170" fmla="*/ 951023 h 1204913"/>
                    <a:gd name="connsiteX171" fmla="*/ 1078032 w 1260475"/>
                    <a:gd name="connsiteY171" fmla="*/ 953166 h 1204913"/>
                    <a:gd name="connsiteX172" fmla="*/ 1076604 w 1260475"/>
                    <a:gd name="connsiteY172" fmla="*/ 954595 h 1204913"/>
                    <a:gd name="connsiteX173" fmla="*/ 1075175 w 1260475"/>
                    <a:gd name="connsiteY173" fmla="*/ 956738 h 1204913"/>
                    <a:gd name="connsiteX174" fmla="*/ 1073747 w 1260475"/>
                    <a:gd name="connsiteY174" fmla="*/ 958880 h 1204913"/>
                    <a:gd name="connsiteX175" fmla="*/ 1073033 w 1260475"/>
                    <a:gd name="connsiteY175" fmla="*/ 960309 h 1204913"/>
                    <a:gd name="connsiteX176" fmla="*/ 1072319 w 1260475"/>
                    <a:gd name="connsiteY176" fmla="*/ 962452 h 1204913"/>
                    <a:gd name="connsiteX177" fmla="*/ 1071604 w 1260475"/>
                    <a:gd name="connsiteY177" fmla="*/ 963880 h 1204913"/>
                    <a:gd name="connsiteX178" fmla="*/ 1070890 w 1260475"/>
                    <a:gd name="connsiteY178" fmla="*/ 966737 h 1204913"/>
                    <a:gd name="connsiteX179" fmla="*/ 1070176 w 1260475"/>
                    <a:gd name="connsiteY179" fmla="*/ 968166 h 1204913"/>
                    <a:gd name="connsiteX180" fmla="*/ 1069462 w 1260475"/>
                    <a:gd name="connsiteY180" fmla="*/ 971023 h 1204913"/>
                    <a:gd name="connsiteX181" fmla="*/ 1069462 w 1260475"/>
                    <a:gd name="connsiteY181" fmla="*/ 971737 h 1204913"/>
                    <a:gd name="connsiteX182" fmla="*/ 1068748 w 1260475"/>
                    <a:gd name="connsiteY182" fmla="*/ 975309 h 1204913"/>
                    <a:gd name="connsiteX183" fmla="*/ 1068748 w 1260475"/>
                    <a:gd name="connsiteY183" fmla="*/ 976023 h 1204913"/>
                    <a:gd name="connsiteX184" fmla="*/ 1068033 w 1260475"/>
                    <a:gd name="connsiteY184" fmla="*/ 978880 h 1204913"/>
                    <a:gd name="connsiteX185" fmla="*/ 1068033 w 1260475"/>
                    <a:gd name="connsiteY185" fmla="*/ 981737 h 1204913"/>
                    <a:gd name="connsiteX186" fmla="*/ 1068748 w 1260475"/>
                    <a:gd name="connsiteY186" fmla="*/ 983880 h 1204913"/>
                    <a:gd name="connsiteX187" fmla="*/ 1068748 w 1260475"/>
                    <a:gd name="connsiteY187" fmla="*/ 987451 h 1204913"/>
                    <a:gd name="connsiteX188" fmla="*/ 1069462 w 1260475"/>
                    <a:gd name="connsiteY188" fmla="*/ 991023 h 1204913"/>
                    <a:gd name="connsiteX189" fmla="*/ 1069462 w 1260475"/>
                    <a:gd name="connsiteY189" fmla="*/ 991737 h 1204913"/>
                    <a:gd name="connsiteX190" fmla="*/ 1070176 w 1260475"/>
                    <a:gd name="connsiteY190" fmla="*/ 995308 h 1204913"/>
                    <a:gd name="connsiteX191" fmla="*/ 1071604 w 1260475"/>
                    <a:gd name="connsiteY191" fmla="*/ 998880 h 1204913"/>
                    <a:gd name="connsiteX192" fmla="*/ 1071604 w 1260475"/>
                    <a:gd name="connsiteY192" fmla="*/ 999594 h 1204913"/>
                    <a:gd name="connsiteX193" fmla="*/ 1073747 w 1260475"/>
                    <a:gd name="connsiteY193" fmla="*/ 1002451 h 1204913"/>
                    <a:gd name="connsiteX194" fmla="*/ 1073747 w 1260475"/>
                    <a:gd name="connsiteY194" fmla="*/ 1003165 h 1204913"/>
                    <a:gd name="connsiteX195" fmla="*/ 1075890 w 1260475"/>
                    <a:gd name="connsiteY195" fmla="*/ 1006737 h 1204913"/>
                    <a:gd name="connsiteX196" fmla="*/ 908056 w 1260475"/>
                    <a:gd name="connsiteY196" fmla="*/ 1006737 h 1204913"/>
                    <a:gd name="connsiteX197" fmla="*/ 1014470 w 1260475"/>
                    <a:gd name="connsiteY197" fmla="*/ 897453 h 1204913"/>
                    <a:gd name="connsiteX198" fmla="*/ 1017326 w 1260475"/>
                    <a:gd name="connsiteY198" fmla="*/ 893881 h 1204913"/>
                    <a:gd name="connsiteX199" fmla="*/ 1022326 w 1260475"/>
                    <a:gd name="connsiteY199" fmla="*/ 886024 h 1204913"/>
                    <a:gd name="connsiteX200" fmla="*/ 1102314 w 1260475"/>
                    <a:gd name="connsiteY200" fmla="*/ 621028 h 1204913"/>
                    <a:gd name="connsiteX201" fmla="*/ 1102314 w 1260475"/>
                    <a:gd name="connsiteY201" fmla="*/ 608885 h 1204913"/>
                    <a:gd name="connsiteX202" fmla="*/ 1102314 w 1260475"/>
                    <a:gd name="connsiteY202" fmla="*/ 596742 h 1204913"/>
                    <a:gd name="connsiteX203" fmla="*/ 1101600 w 1260475"/>
                    <a:gd name="connsiteY203" fmla="*/ 596028 h 1204913"/>
                    <a:gd name="connsiteX204" fmla="*/ 1100886 w 1260475"/>
                    <a:gd name="connsiteY204" fmla="*/ 584600 h 1204913"/>
                    <a:gd name="connsiteX205" fmla="*/ 1100172 w 1260475"/>
                    <a:gd name="connsiteY205" fmla="*/ 573171 h 1204913"/>
                    <a:gd name="connsiteX206" fmla="*/ 1100172 w 1260475"/>
                    <a:gd name="connsiteY206" fmla="*/ 571743 h 1204913"/>
                    <a:gd name="connsiteX207" fmla="*/ 1098743 w 1260475"/>
                    <a:gd name="connsiteY207" fmla="*/ 561029 h 1204913"/>
                    <a:gd name="connsiteX208" fmla="*/ 1096601 w 1260475"/>
                    <a:gd name="connsiteY208" fmla="*/ 547457 h 1204913"/>
                    <a:gd name="connsiteX209" fmla="*/ 1095887 w 1260475"/>
                    <a:gd name="connsiteY209" fmla="*/ 541743 h 1204913"/>
                    <a:gd name="connsiteX210" fmla="*/ 1094458 w 1260475"/>
                    <a:gd name="connsiteY210" fmla="*/ 533886 h 1204913"/>
                    <a:gd name="connsiteX211" fmla="*/ 1092316 w 1260475"/>
                    <a:gd name="connsiteY211" fmla="*/ 521029 h 1204913"/>
                    <a:gd name="connsiteX212" fmla="*/ 1091602 w 1260475"/>
                    <a:gd name="connsiteY212" fmla="*/ 517458 h 1204913"/>
                    <a:gd name="connsiteX213" fmla="*/ 1088745 w 1260475"/>
                    <a:gd name="connsiteY213" fmla="*/ 507458 h 1204913"/>
                    <a:gd name="connsiteX214" fmla="*/ 1065177 w 1260475"/>
                    <a:gd name="connsiteY214" fmla="*/ 434602 h 1204913"/>
                    <a:gd name="connsiteX215" fmla="*/ 962334 w 1260475"/>
                    <a:gd name="connsiteY215" fmla="*/ 282461 h 1204913"/>
                    <a:gd name="connsiteX216" fmla="*/ 809498 w 1260475"/>
                    <a:gd name="connsiteY216" fmla="*/ 179605 h 1204913"/>
                    <a:gd name="connsiteX217" fmla="*/ 634523 w 1260475"/>
                    <a:gd name="connsiteY217" fmla="*/ 141749 h 1204913"/>
                    <a:gd name="connsiteX218" fmla="*/ 626667 w 1260475"/>
                    <a:gd name="connsiteY218" fmla="*/ 141749 h 1204913"/>
                    <a:gd name="connsiteX219" fmla="*/ 622382 w 1260475"/>
                    <a:gd name="connsiteY219" fmla="*/ 141749 h 1204913"/>
                    <a:gd name="connsiteX220" fmla="*/ 450977 w 1260475"/>
                    <a:gd name="connsiteY220" fmla="*/ 173891 h 1204913"/>
                    <a:gd name="connsiteX221" fmla="*/ 443835 w 1260475"/>
                    <a:gd name="connsiteY221" fmla="*/ 75321 h 1204913"/>
                    <a:gd name="connsiteX222" fmla="*/ 396699 w 1260475"/>
                    <a:gd name="connsiteY222" fmla="*/ 31750 h 1204913"/>
                    <a:gd name="connsiteX223" fmla="*/ 395271 w 1260475"/>
                    <a:gd name="connsiteY223" fmla="*/ 31750 h 1204913"/>
                    <a:gd name="connsiteX224" fmla="*/ 393128 w 1260475"/>
                    <a:gd name="connsiteY224" fmla="*/ 31750 h 1204913"/>
                    <a:gd name="connsiteX225" fmla="*/ 390862 w 1260475"/>
                    <a:gd name="connsiteY225" fmla="*/ 0 h 1204913"/>
                    <a:gd name="connsiteX226" fmla="*/ 396578 w 1260475"/>
                    <a:gd name="connsiteY226" fmla="*/ 0 h 1204913"/>
                    <a:gd name="connsiteX227" fmla="*/ 475179 w 1260475"/>
                    <a:gd name="connsiteY227" fmla="*/ 72895 h 1204913"/>
                    <a:gd name="connsiteX228" fmla="*/ 479467 w 1260475"/>
                    <a:gd name="connsiteY228" fmla="*/ 130783 h 1204913"/>
                    <a:gd name="connsiteX229" fmla="*/ 622378 w 1260475"/>
                    <a:gd name="connsiteY229" fmla="*/ 110057 h 1204913"/>
                    <a:gd name="connsiteX230" fmla="*/ 1133999 w 1260475"/>
                    <a:gd name="connsiteY230" fmla="*/ 621038 h 1204913"/>
                    <a:gd name="connsiteX231" fmla="*/ 1043251 w 1260475"/>
                    <a:gd name="connsiteY231" fmla="*/ 911903 h 1204913"/>
                    <a:gd name="connsiteX232" fmla="*/ 991803 w 1260475"/>
                    <a:gd name="connsiteY232" fmla="*/ 975508 h 1204913"/>
                    <a:gd name="connsiteX233" fmla="*/ 1037534 w 1260475"/>
                    <a:gd name="connsiteY233" fmla="*/ 975508 h 1204913"/>
                    <a:gd name="connsiteX234" fmla="*/ 1062543 w 1260475"/>
                    <a:gd name="connsiteY234" fmla="*/ 923338 h 1204913"/>
                    <a:gd name="connsiteX235" fmla="*/ 1115421 w 1260475"/>
                    <a:gd name="connsiteY235" fmla="*/ 902613 h 1204913"/>
                    <a:gd name="connsiteX236" fmla="*/ 1174014 w 1260475"/>
                    <a:gd name="connsiteY236" fmla="*/ 928341 h 1204913"/>
                    <a:gd name="connsiteX237" fmla="*/ 1240468 w 1260475"/>
                    <a:gd name="connsiteY237" fmla="*/ 1001236 h 1204913"/>
                    <a:gd name="connsiteX238" fmla="*/ 1240468 w 1260475"/>
                    <a:gd name="connsiteY238" fmla="*/ 1001950 h 1204913"/>
                    <a:gd name="connsiteX239" fmla="*/ 1241897 w 1260475"/>
                    <a:gd name="connsiteY239" fmla="*/ 1003380 h 1204913"/>
                    <a:gd name="connsiteX240" fmla="*/ 1243326 w 1260475"/>
                    <a:gd name="connsiteY240" fmla="*/ 1004809 h 1204913"/>
                    <a:gd name="connsiteX241" fmla="*/ 1244040 w 1260475"/>
                    <a:gd name="connsiteY241" fmla="*/ 1006238 h 1204913"/>
                    <a:gd name="connsiteX242" fmla="*/ 1244755 w 1260475"/>
                    <a:gd name="connsiteY242" fmla="*/ 1006953 h 1204913"/>
                    <a:gd name="connsiteX243" fmla="*/ 1245470 w 1260475"/>
                    <a:gd name="connsiteY243" fmla="*/ 1008382 h 1204913"/>
                    <a:gd name="connsiteX244" fmla="*/ 1248328 w 1260475"/>
                    <a:gd name="connsiteY244" fmla="*/ 1012670 h 1204913"/>
                    <a:gd name="connsiteX245" fmla="*/ 1249757 w 1260475"/>
                    <a:gd name="connsiteY245" fmla="*/ 1014814 h 1204913"/>
                    <a:gd name="connsiteX246" fmla="*/ 1252615 w 1260475"/>
                    <a:gd name="connsiteY246" fmla="*/ 1019817 h 1204913"/>
                    <a:gd name="connsiteX247" fmla="*/ 1253330 w 1260475"/>
                    <a:gd name="connsiteY247" fmla="*/ 1021961 h 1204913"/>
                    <a:gd name="connsiteX248" fmla="*/ 1255473 w 1260475"/>
                    <a:gd name="connsiteY248" fmla="*/ 1026963 h 1204913"/>
                    <a:gd name="connsiteX249" fmla="*/ 1256188 w 1260475"/>
                    <a:gd name="connsiteY249" fmla="*/ 1028393 h 1204913"/>
                    <a:gd name="connsiteX250" fmla="*/ 1257617 w 1260475"/>
                    <a:gd name="connsiteY250" fmla="*/ 1034110 h 1204913"/>
                    <a:gd name="connsiteX251" fmla="*/ 1257617 w 1260475"/>
                    <a:gd name="connsiteY251" fmla="*/ 1034825 h 1204913"/>
                    <a:gd name="connsiteX252" fmla="*/ 1258332 w 1260475"/>
                    <a:gd name="connsiteY252" fmla="*/ 1035539 h 1204913"/>
                    <a:gd name="connsiteX253" fmla="*/ 1258332 w 1260475"/>
                    <a:gd name="connsiteY253" fmla="*/ 1036254 h 1204913"/>
                    <a:gd name="connsiteX254" fmla="*/ 1259046 w 1260475"/>
                    <a:gd name="connsiteY254" fmla="*/ 1041257 h 1204913"/>
                    <a:gd name="connsiteX255" fmla="*/ 1259761 w 1260475"/>
                    <a:gd name="connsiteY255" fmla="*/ 1044115 h 1204913"/>
                    <a:gd name="connsiteX256" fmla="*/ 1260475 w 1260475"/>
                    <a:gd name="connsiteY256" fmla="*/ 1049118 h 1204913"/>
                    <a:gd name="connsiteX257" fmla="*/ 1260475 w 1260475"/>
                    <a:gd name="connsiteY257" fmla="*/ 1049832 h 1204913"/>
                    <a:gd name="connsiteX258" fmla="*/ 1260475 w 1260475"/>
                    <a:gd name="connsiteY258" fmla="*/ 1054120 h 1204913"/>
                    <a:gd name="connsiteX259" fmla="*/ 1260475 w 1260475"/>
                    <a:gd name="connsiteY259" fmla="*/ 1058408 h 1204913"/>
                    <a:gd name="connsiteX260" fmla="*/ 1259761 w 1260475"/>
                    <a:gd name="connsiteY260" fmla="*/ 1064126 h 1204913"/>
                    <a:gd name="connsiteX261" fmla="*/ 1259761 w 1260475"/>
                    <a:gd name="connsiteY261" fmla="*/ 1064840 h 1204913"/>
                    <a:gd name="connsiteX262" fmla="*/ 1259046 w 1260475"/>
                    <a:gd name="connsiteY262" fmla="*/ 1065555 h 1204913"/>
                    <a:gd name="connsiteX263" fmla="*/ 1259046 w 1260475"/>
                    <a:gd name="connsiteY263" fmla="*/ 1066270 h 1204913"/>
                    <a:gd name="connsiteX264" fmla="*/ 1258332 w 1260475"/>
                    <a:gd name="connsiteY264" fmla="*/ 1071987 h 1204913"/>
                    <a:gd name="connsiteX265" fmla="*/ 1257617 w 1260475"/>
                    <a:gd name="connsiteY265" fmla="*/ 1073416 h 1204913"/>
                    <a:gd name="connsiteX266" fmla="*/ 1256188 w 1260475"/>
                    <a:gd name="connsiteY266" fmla="*/ 1079133 h 1204913"/>
                    <a:gd name="connsiteX267" fmla="*/ 1256188 w 1260475"/>
                    <a:gd name="connsiteY267" fmla="*/ 1079848 h 1204913"/>
                    <a:gd name="connsiteX268" fmla="*/ 1255473 w 1260475"/>
                    <a:gd name="connsiteY268" fmla="*/ 1080563 h 1204913"/>
                    <a:gd name="connsiteX269" fmla="*/ 1255473 w 1260475"/>
                    <a:gd name="connsiteY269" fmla="*/ 1081277 h 1204913"/>
                    <a:gd name="connsiteX270" fmla="*/ 1253330 w 1260475"/>
                    <a:gd name="connsiteY270" fmla="*/ 1086280 h 1204913"/>
                    <a:gd name="connsiteX271" fmla="*/ 1253330 w 1260475"/>
                    <a:gd name="connsiteY271" fmla="*/ 1086995 h 1204913"/>
                    <a:gd name="connsiteX272" fmla="*/ 1252615 w 1260475"/>
                    <a:gd name="connsiteY272" fmla="*/ 1086995 h 1204913"/>
                    <a:gd name="connsiteX273" fmla="*/ 1252615 w 1260475"/>
                    <a:gd name="connsiteY273" fmla="*/ 1087709 h 1204913"/>
                    <a:gd name="connsiteX274" fmla="*/ 1252615 w 1260475"/>
                    <a:gd name="connsiteY274" fmla="*/ 1088424 h 1204913"/>
                    <a:gd name="connsiteX275" fmla="*/ 1249757 w 1260475"/>
                    <a:gd name="connsiteY275" fmla="*/ 1093427 h 1204913"/>
                    <a:gd name="connsiteX276" fmla="*/ 1249042 w 1260475"/>
                    <a:gd name="connsiteY276" fmla="*/ 1094856 h 1204913"/>
                    <a:gd name="connsiteX277" fmla="*/ 1246184 w 1260475"/>
                    <a:gd name="connsiteY277" fmla="*/ 1099144 h 1204913"/>
                    <a:gd name="connsiteX278" fmla="*/ 1245470 w 1260475"/>
                    <a:gd name="connsiteY278" fmla="*/ 1099144 h 1204913"/>
                    <a:gd name="connsiteX279" fmla="*/ 1245470 w 1260475"/>
                    <a:gd name="connsiteY279" fmla="*/ 1099858 h 1204913"/>
                    <a:gd name="connsiteX280" fmla="*/ 1244755 w 1260475"/>
                    <a:gd name="connsiteY280" fmla="*/ 1100573 h 1204913"/>
                    <a:gd name="connsiteX281" fmla="*/ 1244040 w 1260475"/>
                    <a:gd name="connsiteY281" fmla="*/ 1101288 h 1204913"/>
                    <a:gd name="connsiteX282" fmla="*/ 1243326 w 1260475"/>
                    <a:gd name="connsiteY282" fmla="*/ 1102717 h 1204913"/>
                    <a:gd name="connsiteX283" fmla="*/ 1241897 w 1260475"/>
                    <a:gd name="connsiteY283" fmla="*/ 1104146 h 1204913"/>
                    <a:gd name="connsiteX284" fmla="*/ 1240468 w 1260475"/>
                    <a:gd name="connsiteY284" fmla="*/ 1106290 h 1204913"/>
                    <a:gd name="connsiteX285" fmla="*/ 1239753 w 1260475"/>
                    <a:gd name="connsiteY285" fmla="*/ 1106290 h 1204913"/>
                    <a:gd name="connsiteX286" fmla="*/ 1239753 w 1260475"/>
                    <a:gd name="connsiteY286" fmla="*/ 1107005 h 1204913"/>
                    <a:gd name="connsiteX287" fmla="*/ 1174014 w 1260475"/>
                    <a:gd name="connsiteY287" fmla="*/ 1179186 h 1204913"/>
                    <a:gd name="connsiteX288" fmla="*/ 1115421 w 1260475"/>
                    <a:gd name="connsiteY288" fmla="*/ 1204913 h 1204913"/>
                    <a:gd name="connsiteX289" fmla="*/ 1062543 w 1260475"/>
                    <a:gd name="connsiteY289" fmla="*/ 1184903 h 1204913"/>
                    <a:gd name="connsiteX290" fmla="*/ 1037534 w 1260475"/>
                    <a:gd name="connsiteY290" fmla="*/ 1132733 h 1204913"/>
                    <a:gd name="connsiteX291" fmla="*/ 78601 w 1260475"/>
                    <a:gd name="connsiteY291" fmla="*/ 1132733 h 1204913"/>
                    <a:gd name="connsiteX292" fmla="*/ 0 w 1260475"/>
                    <a:gd name="connsiteY292" fmla="*/ 1054120 h 1204913"/>
                    <a:gd name="connsiteX293" fmla="*/ 78601 w 1260475"/>
                    <a:gd name="connsiteY293" fmla="*/ 975508 h 1204913"/>
                    <a:gd name="connsiteX294" fmla="*/ 253667 w 1260475"/>
                    <a:gd name="connsiteY294" fmla="*/ 975508 h 1204913"/>
                    <a:gd name="connsiteX295" fmla="*/ 201505 w 1260475"/>
                    <a:gd name="connsiteY295" fmla="*/ 911903 h 1204913"/>
                    <a:gd name="connsiteX296" fmla="*/ 110756 w 1260475"/>
                    <a:gd name="connsiteY296" fmla="*/ 621038 h 1204913"/>
                    <a:gd name="connsiteX297" fmla="*/ 126476 w 1260475"/>
                    <a:gd name="connsiteY297" fmla="*/ 494543 h 1204913"/>
                    <a:gd name="connsiteX298" fmla="*/ 42159 w 1260475"/>
                    <a:gd name="connsiteY298" fmla="*/ 413787 h 1204913"/>
                    <a:gd name="connsiteX299" fmla="*/ 715 w 1260475"/>
                    <a:gd name="connsiteY299" fmla="*/ 275858 h 1204913"/>
                    <a:gd name="connsiteX300" fmla="*/ 255096 w 1260475"/>
                    <a:gd name="connsiteY300" fmla="*/ 21440 h 1204913"/>
                    <a:gd name="connsiteX301" fmla="*/ 332268 w 1260475"/>
                    <a:gd name="connsiteY301" fmla="*/ 32874 h 1204913"/>
                    <a:gd name="connsiteX302" fmla="*/ 337270 w 1260475"/>
                    <a:gd name="connsiteY302" fmla="*/ 27157 h 1204913"/>
                    <a:gd name="connsiteX303" fmla="*/ 390862 w 1260475"/>
                    <a:gd name="connsiteY303" fmla="*/ 0 h 1204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Lst>
                  <a:rect l="l" t="t" r="r" b="b"/>
                  <a:pathLst>
                    <a:path w="1260475" h="1204913">
                      <a:moveTo>
                        <a:pt x="229849" y="180975"/>
                      </a:moveTo>
                      <a:cubicBezTo>
                        <a:pt x="188108" y="192373"/>
                        <a:pt x="157162" y="230127"/>
                        <a:pt x="157162" y="275004"/>
                      </a:cubicBezTo>
                      <a:cubicBezTo>
                        <a:pt x="157162" y="302786"/>
                        <a:pt x="169397" y="329142"/>
                        <a:pt x="189547" y="347663"/>
                      </a:cubicBezTo>
                      <a:cubicBezTo>
                        <a:pt x="210418" y="313471"/>
                        <a:pt x="236326" y="282128"/>
                        <a:pt x="265112" y="254346"/>
                      </a:cubicBezTo>
                      <a:cubicBezTo>
                        <a:pt x="245681" y="241524"/>
                        <a:pt x="231288" y="219442"/>
                        <a:pt x="229849" y="194510"/>
                      </a:cubicBezTo>
                      <a:cubicBezTo>
                        <a:pt x="229129" y="190236"/>
                        <a:pt x="229129" y="185962"/>
                        <a:pt x="229849" y="180975"/>
                      </a:cubicBezTo>
                      <a:close/>
                      <a:moveTo>
                        <a:pt x="254252" y="146050"/>
                      </a:moveTo>
                      <a:cubicBezTo>
                        <a:pt x="262072" y="146050"/>
                        <a:pt x="269181" y="146765"/>
                        <a:pt x="275579" y="147481"/>
                      </a:cubicBezTo>
                      <a:cubicBezTo>
                        <a:pt x="277712" y="148196"/>
                        <a:pt x="279844" y="148196"/>
                        <a:pt x="281266" y="148911"/>
                      </a:cubicBezTo>
                      <a:cubicBezTo>
                        <a:pt x="272024" y="155349"/>
                        <a:pt x="264915" y="165363"/>
                        <a:pt x="262072" y="177523"/>
                      </a:cubicBezTo>
                      <a:cubicBezTo>
                        <a:pt x="260650" y="181815"/>
                        <a:pt x="260650" y="186822"/>
                        <a:pt x="260650" y="191829"/>
                      </a:cubicBezTo>
                      <a:cubicBezTo>
                        <a:pt x="261361" y="197552"/>
                        <a:pt x="262783" y="203274"/>
                        <a:pt x="265626" y="208281"/>
                      </a:cubicBezTo>
                      <a:cubicBezTo>
                        <a:pt x="266337" y="209712"/>
                        <a:pt x="267048" y="211858"/>
                        <a:pt x="267759" y="213288"/>
                      </a:cubicBezTo>
                      <a:cubicBezTo>
                        <a:pt x="270603" y="217580"/>
                        <a:pt x="274157" y="221872"/>
                        <a:pt x="278422" y="224733"/>
                      </a:cubicBezTo>
                      <a:cubicBezTo>
                        <a:pt x="279133" y="225448"/>
                        <a:pt x="279844" y="226164"/>
                        <a:pt x="280555" y="226879"/>
                      </a:cubicBezTo>
                      <a:cubicBezTo>
                        <a:pt x="281977" y="227594"/>
                        <a:pt x="282688" y="227594"/>
                        <a:pt x="283399" y="228310"/>
                      </a:cubicBezTo>
                      <a:cubicBezTo>
                        <a:pt x="285531" y="229740"/>
                        <a:pt x="286953" y="230455"/>
                        <a:pt x="288375" y="231171"/>
                      </a:cubicBezTo>
                      <a:cubicBezTo>
                        <a:pt x="289797" y="231886"/>
                        <a:pt x="290508" y="231886"/>
                        <a:pt x="291930" y="232601"/>
                      </a:cubicBezTo>
                      <a:cubicBezTo>
                        <a:pt x="294062" y="233317"/>
                        <a:pt x="296195" y="234032"/>
                        <a:pt x="299039" y="234747"/>
                      </a:cubicBezTo>
                      <a:cubicBezTo>
                        <a:pt x="301882" y="234747"/>
                        <a:pt x="304726" y="235463"/>
                        <a:pt x="307569" y="235463"/>
                      </a:cubicBezTo>
                      <a:cubicBezTo>
                        <a:pt x="308991" y="235463"/>
                        <a:pt x="309702" y="235463"/>
                        <a:pt x="311124" y="235463"/>
                      </a:cubicBezTo>
                      <a:cubicBezTo>
                        <a:pt x="311124" y="235463"/>
                        <a:pt x="311124" y="235463"/>
                        <a:pt x="311835" y="235463"/>
                      </a:cubicBezTo>
                      <a:cubicBezTo>
                        <a:pt x="311835" y="235463"/>
                        <a:pt x="311835" y="235463"/>
                        <a:pt x="338138" y="233317"/>
                      </a:cubicBezTo>
                      <a:cubicBezTo>
                        <a:pt x="330318" y="238324"/>
                        <a:pt x="323209" y="244046"/>
                        <a:pt x="316100" y="250484"/>
                      </a:cubicBezTo>
                      <a:cubicBezTo>
                        <a:pt x="306148" y="258352"/>
                        <a:pt x="296195" y="267651"/>
                        <a:pt x="286953" y="276235"/>
                      </a:cubicBezTo>
                      <a:cubicBezTo>
                        <a:pt x="277712" y="285534"/>
                        <a:pt x="268470" y="294832"/>
                        <a:pt x="259939" y="304847"/>
                      </a:cubicBezTo>
                      <a:cubicBezTo>
                        <a:pt x="257095" y="308423"/>
                        <a:pt x="254252" y="311284"/>
                        <a:pt x="251408" y="314861"/>
                      </a:cubicBezTo>
                      <a:cubicBezTo>
                        <a:pt x="251408" y="315576"/>
                        <a:pt x="250697" y="316291"/>
                        <a:pt x="249986" y="317007"/>
                      </a:cubicBezTo>
                      <a:cubicBezTo>
                        <a:pt x="247854" y="319868"/>
                        <a:pt x="245721" y="322014"/>
                        <a:pt x="243588" y="324875"/>
                      </a:cubicBezTo>
                      <a:cubicBezTo>
                        <a:pt x="242877" y="325590"/>
                        <a:pt x="242877" y="326306"/>
                        <a:pt x="242166" y="326306"/>
                      </a:cubicBezTo>
                      <a:cubicBezTo>
                        <a:pt x="237190" y="332743"/>
                        <a:pt x="232214" y="340612"/>
                        <a:pt x="227948" y="347049"/>
                      </a:cubicBezTo>
                      <a:cubicBezTo>
                        <a:pt x="217996" y="361355"/>
                        <a:pt x="208754" y="377092"/>
                        <a:pt x="200934" y="392113"/>
                      </a:cubicBezTo>
                      <a:cubicBezTo>
                        <a:pt x="168943" y="377092"/>
                        <a:pt x="144773" y="349195"/>
                        <a:pt x="134109" y="315576"/>
                      </a:cubicBezTo>
                      <a:cubicBezTo>
                        <a:pt x="133398" y="315576"/>
                        <a:pt x="133398" y="314861"/>
                        <a:pt x="133398" y="314145"/>
                      </a:cubicBezTo>
                      <a:cubicBezTo>
                        <a:pt x="133398" y="313430"/>
                        <a:pt x="132687" y="312000"/>
                        <a:pt x="132687" y="311284"/>
                      </a:cubicBezTo>
                      <a:cubicBezTo>
                        <a:pt x="132687" y="311284"/>
                        <a:pt x="131977" y="310569"/>
                        <a:pt x="131977" y="309854"/>
                      </a:cubicBezTo>
                      <a:cubicBezTo>
                        <a:pt x="131977" y="309138"/>
                        <a:pt x="131266" y="307708"/>
                        <a:pt x="131266" y="306993"/>
                      </a:cubicBezTo>
                      <a:cubicBezTo>
                        <a:pt x="131266" y="305562"/>
                        <a:pt x="130555" y="304847"/>
                        <a:pt x="130555" y="303416"/>
                      </a:cubicBezTo>
                      <a:cubicBezTo>
                        <a:pt x="130555" y="303416"/>
                        <a:pt x="130555" y="302701"/>
                        <a:pt x="129844" y="302701"/>
                      </a:cubicBezTo>
                      <a:cubicBezTo>
                        <a:pt x="129844" y="301270"/>
                        <a:pt x="129844" y="299840"/>
                        <a:pt x="129133" y="298409"/>
                      </a:cubicBezTo>
                      <a:cubicBezTo>
                        <a:pt x="129133" y="298409"/>
                        <a:pt x="129133" y="298409"/>
                        <a:pt x="129133" y="297694"/>
                      </a:cubicBezTo>
                      <a:cubicBezTo>
                        <a:pt x="129133" y="296978"/>
                        <a:pt x="129133" y="295548"/>
                        <a:pt x="128422" y="294117"/>
                      </a:cubicBezTo>
                      <a:cubicBezTo>
                        <a:pt x="128422" y="294117"/>
                        <a:pt x="128422" y="294117"/>
                        <a:pt x="128422" y="293402"/>
                      </a:cubicBezTo>
                      <a:cubicBezTo>
                        <a:pt x="128422" y="290541"/>
                        <a:pt x="127711" y="287679"/>
                        <a:pt x="127711" y="284818"/>
                      </a:cubicBezTo>
                      <a:cubicBezTo>
                        <a:pt x="127711" y="284818"/>
                        <a:pt x="127711" y="284818"/>
                        <a:pt x="127711" y="284103"/>
                      </a:cubicBezTo>
                      <a:cubicBezTo>
                        <a:pt x="127000" y="281242"/>
                        <a:pt x="127000" y="278381"/>
                        <a:pt x="127000" y="274804"/>
                      </a:cubicBezTo>
                      <a:cubicBezTo>
                        <a:pt x="127000" y="267651"/>
                        <a:pt x="127711" y="260498"/>
                        <a:pt x="129133" y="253345"/>
                      </a:cubicBezTo>
                      <a:cubicBezTo>
                        <a:pt x="129844" y="249053"/>
                        <a:pt x="130555" y="245477"/>
                        <a:pt x="131266" y="241900"/>
                      </a:cubicBezTo>
                      <a:cubicBezTo>
                        <a:pt x="137664" y="218295"/>
                        <a:pt x="150460" y="197552"/>
                        <a:pt x="166811" y="181815"/>
                      </a:cubicBezTo>
                      <a:cubicBezTo>
                        <a:pt x="172498" y="176093"/>
                        <a:pt x="178896" y="171086"/>
                        <a:pt x="185294" y="166794"/>
                      </a:cubicBezTo>
                      <a:cubicBezTo>
                        <a:pt x="189560" y="163933"/>
                        <a:pt x="194536" y="161787"/>
                        <a:pt x="198801" y="158926"/>
                      </a:cubicBezTo>
                      <a:cubicBezTo>
                        <a:pt x="203778" y="156780"/>
                        <a:pt x="208754" y="154634"/>
                        <a:pt x="213019" y="153203"/>
                      </a:cubicBezTo>
                      <a:cubicBezTo>
                        <a:pt x="215152" y="152488"/>
                        <a:pt x="217996" y="151057"/>
                        <a:pt x="220839" y="150342"/>
                      </a:cubicBezTo>
                      <a:cubicBezTo>
                        <a:pt x="223683" y="149627"/>
                        <a:pt x="225816" y="148911"/>
                        <a:pt x="228659" y="148911"/>
                      </a:cubicBezTo>
                      <a:cubicBezTo>
                        <a:pt x="237190" y="146765"/>
                        <a:pt x="245721" y="146050"/>
                        <a:pt x="254252" y="146050"/>
                      </a:cubicBezTo>
                      <a:close/>
                      <a:moveTo>
                        <a:pt x="393128" y="31750"/>
                      </a:moveTo>
                      <a:cubicBezTo>
                        <a:pt x="383844" y="32464"/>
                        <a:pt x="375273" y="36036"/>
                        <a:pt x="367417" y="41750"/>
                      </a:cubicBezTo>
                      <a:cubicBezTo>
                        <a:pt x="365989" y="42464"/>
                        <a:pt x="365275" y="43893"/>
                        <a:pt x="363847" y="44607"/>
                      </a:cubicBezTo>
                      <a:cubicBezTo>
                        <a:pt x="363132" y="46036"/>
                        <a:pt x="361704" y="46750"/>
                        <a:pt x="360990" y="48178"/>
                      </a:cubicBezTo>
                      <a:cubicBezTo>
                        <a:pt x="356705" y="52464"/>
                        <a:pt x="353848" y="57464"/>
                        <a:pt x="351705" y="63178"/>
                      </a:cubicBezTo>
                      <a:cubicBezTo>
                        <a:pt x="351705" y="65321"/>
                        <a:pt x="350991" y="66750"/>
                        <a:pt x="350991" y="68178"/>
                      </a:cubicBezTo>
                      <a:cubicBezTo>
                        <a:pt x="350277" y="70321"/>
                        <a:pt x="350277" y="71750"/>
                        <a:pt x="349563" y="73892"/>
                      </a:cubicBezTo>
                      <a:cubicBezTo>
                        <a:pt x="348134" y="73178"/>
                        <a:pt x="345992" y="72464"/>
                        <a:pt x="344564" y="71750"/>
                      </a:cubicBezTo>
                      <a:cubicBezTo>
                        <a:pt x="318139" y="60321"/>
                        <a:pt x="290285" y="53893"/>
                        <a:pt x="261718" y="53178"/>
                      </a:cubicBezTo>
                      <a:cubicBezTo>
                        <a:pt x="259575" y="53178"/>
                        <a:pt x="257433" y="53178"/>
                        <a:pt x="255290" y="53178"/>
                      </a:cubicBezTo>
                      <a:cubicBezTo>
                        <a:pt x="243863" y="53178"/>
                        <a:pt x="232436" y="53893"/>
                        <a:pt x="221724" y="56036"/>
                      </a:cubicBezTo>
                      <a:cubicBezTo>
                        <a:pt x="211725" y="57464"/>
                        <a:pt x="201726" y="59607"/>
                        <a:pt x="192442" y="62464"/>
                      </a:cubicBezTo>
                      <a:cubicBezTo>
                        <a:pt x="186729" y="63893"/>
                        <a:pt x="181015" y="66035"/>
                        <a:pt x="176016" y="68178"/>
                      </a:cubicBezTo>
                      <a:cubicBezTo>
                        <a:pt x="173159" y="68892"/>
                        <a:pt x="171016" y="69607"/>
                        <a:pt x="168874" y="71035"/>
                      </a:cubicBezTo>
                      <a:cubicBezTo>
                        <a:pt x="161732" y="73892"/>
                        <a:pt x="153876" y="77464"/>
                        <a:pt x="147448" y="81035"/>
                      </a:cubicBezTo>
                      <a:cubicBezTo>
                        <a:pt x="126023" y="93178"/>
                        <a:pt x="107454" y="108178"/>
                        <a:pt x="91028" y="126035"/>
                      </a:cubicBezTo>
                      <a:cubicBezTo>
                        <a:pt x="85314" y="131749"/>
                        <a:pt x="80315" y="138892"/>
                        <a:pt x="75316" y="145320"/>
                      </a:cubicBezTo>
                      <a:cubicBezTo>
                        <a:pt x="61746" y="163891"/>
                        <a:pt x="51033" y="184605"/>
                        <a:pt x="43891" y="206748"/>
                      </a:cubicBezTo>
                      <a:cubicBezTo>
                        <a:pt x="43177" y="208891"/>
                        <a:pt x="42463" y="211748"/>
                        <a:pt x="41035" y="214605"/>
                      </a:cubicBezTo>
                      <a:cubicBezTo>
                        <a:pt x="37464" y="226747"/>
                        <a:pt x="35321" y="240319"/>
                        <a:pt x="33893" y="253176"/>
                      </a:cubicBezTo>
                      <a:cubicBezTo>
                        <a:pt x="33179" y="261033"/>
                        <a:pt x="32464" y="268175"/>
                        <a:pt x="32464" y="276033"/>
                      </a:cubicBezTo>
                      <a:cubicBezTo>
                        <a:pt x="32464" y="278890"/>
                        <a:pt x="32464" y="281747"/>
                        <a:pt x="32464" y="284604"/>
                      </a:cubicBezTo>
                      <a:cubicBezTo>
                        <a:pt x="33179" y="286032"/>
                        <a:pt x="33179" y="288175"/>
                        <a:pt x="33179" y="289604"/>
                      </a:cubicBezTo>
                      <a:cubicBezTo>
                        <a:pt x="33179" y="291032"/>
                        <a:pt x="33179" y="291747"/>
                        <a:pt x="33179" y="292461"/>
                      </a:cubicBezTo>
                      <a:cubicBezTo>
                        <a:pt x="33179" y="293889"/>
                        <a:pt x="33179" y="296032"/>
                        <a:pt x="33893" y="297461"/>
                      </a:cubicBezTo>
                      <a:cubicBezTo>
                        <a:pt x="33893" y="298889"/>
                        <a:pt x="33893" y="299604"/>
                        <a:pt x="33893" y="300318"/>
                      </a:cubicBezTo>
                      <a:cubicBezTo>
                        <a:pt x="33893" y="302461"/>
                        <a:pt x="34607" y="303889"/>
                        <a:pt x="34607" y="305318"/>
                      </a:cubicBezTo>
                      <a:cubicBezTo>
                        <a:pt x="34607" y="306032"/>
                        <a:pt x="34607" y="307461"/>
                        <a:pt x="35321" y="308889"/>
                      </a:cubicBezTo>
                      <a:cubicBezTo>
                        <a:pt x="35321" y="311032"/>
                        <a:pt x="36035" y="313175"/>
                        <a:pt x="36035" y="315318"/>
                      </a:cubicBezTo>
                      <a:cubicBezTo>
                        <a:pt x="36035" y="315318"/>
                        <a:pt x="36035" y="316032"/>
                        <a:pt x="36035" y="316746"/>
                      </a:cubicBezTo>
                      <a:cubicBezTo>
                        <a:pt x="49605" y="387460"/>
                        <a:pt x="97455" y="448887"/>
                        <a:pt x="163875" y="478887"/>
                      </a:cubicBezTo>
                      <a:cubicBezTo>
                        <a:pt x="160304" y="490315"/>
                        <a:pt x="157447" y="502458"/>
                        <a:pt x="154590" y="514601"/>
                      </a:cubicBezTo>
                      <a:cubicBezTo>
                        <a:pt x="146734" y="549600"/>
                        <a:pt x="142449" y="585314"/>
                        <a:pt x="142449" y="621028"/>
                      </a:cubicBezTo>
                      <a:cubicBezTo>
                        <a:pt x="142449" y="624599"/>
                        <a:pt x="142449" y="627456"/>
                        <a:pt x="142449" y="630313"/>
                      </a:cubicBezTo>
                      <a:cubicBezTo>
                        <a:pt x="143163" y="654599"/>
                        <a:pt x="145306" y="678170"/>
                        <a:pt x="149591" y="701741"/>
                      </a:cubicBezTo>
                      <a:cubicBezTo>
                        <a:pt x="149591" y="705312"/>
                        <a:pt x="150305" y="708884"/>
                        <a:pt x="151019" y="711741"/>
                      </a:cubicBezTo>
                      <a:cubicBezTo>
                        <a:pt x="153162" y="721026"/>
                        <a:pt x="154590" y="729598"/>
                        <a:pt x="156733" y="738169"/>
                      </a:cubicBezTo>
                      <a:cubicBezTo>
                        <a:pt x="158875" y="747455"/>
                        <a:pt x="161732" y="756026"/>
                        <a:pt x="164589" y="764597"/>
                      </a:cubicBezTo>
                      <a:cubicBezTo>
                        <a:pt x="165303" y="767454"/>
                        <a:pt x="166017" y="770312"/>
                        <a:pt x="166731" y="773169"/>
                      </a:cubicBezTo>
                      <a:cubicBezTo>
                        <a:pt x="168874" y="778883"/>
                        <a:pt x="171016" y="784597"/>
                        <a:pt x="173159" y="790311"/>
                      </a:cubicBezTo>
                      <a:cubicBezTo>
                        <a:pt x="175302" y="796025"/>
                        <a:pt x="177444" y="801025"/>
                        <a:pt x="179587" y="806740"/>
                      </a:cubicBezTo>
                      <a:cubicBezTo>
                        <a:pt x="182443" y="812454"/>
                        <a:pt x="184586" y="818168"/>
                        <a:pt x="187443" y="823168"/>
                      </a:cubicBezTo>
                      <a:cubicBezTo>
                        <a:pt x="191014" y="831025"/>
                        <a:pt x="195299" y="838882"/>
                        <a:pt x="199584" y="846739"/>
                      </a:cubicBezTo>
                      <a:cubicBezTo>
                        <a:pt x="201012" y="849596"/>
                        <a:pt x="202441" y="852453"/>
                        <a:pt x="203869" y="855310"/>
                      </a:cubicBezTo>
                      <a:cubicBezTo>
                        <a:pt x="205297" y="858167"/>
                        <a:pt x="207440" y="861739"/>
                        <a:pt x="209582" y="864596"/>
                      </a:cubicBezTo>
                      <a:cubicBezTo>
                        <a:pt x="212439" y="869596"/>
                        <a:pt x="215296" y="874596"/>
                        <a:pt x="218153" y="879596"/>
                      </a:cubicBezTo>
                      <a:cubicBezTo>
                        <a:pt x="221009" y="883881"/>
                        <a:pt x="224580" y="888881"/>
                        <a:pt x="228151" y="893881"/>
                      </a:cubicBezTo>
                      <a:cubicBezTo>
                        <a:pt x="230294" y="897453"/>
                        <a:pt x="233865" y="901738"/>
                        <a:pt x="236721" y="905310"/>
                      </a:cubicBezTo>
                      <a:cubicBezTo>
                        <a:pt x="265289" y="944595"/>
                        <a:pt x="298856" y="978166"/>
                        <a:pt x="336707" y="1006737"/>
                      </a:cubicBezTo>
                      <a:cubicBezTo>
                        <a:pt x="336707" y="1006737"/>
                        <a:pt x="336707" y="1006737"/>
                        <a:pt x="78886" y="1006737"/>
                      </a:cubicBezTo>
                      <a:cubicBezTo>
                        <a:pt x="76030" y="1006737"/>
                        <a:pt x="72459" y="1006737"/>
                        <a:pt x="69602" y="1007451"/>
                      </a:cubicBezTo>
                      <a:cubicBezTo>
                        <a:pt x="66745" y="1008165"/>
                        <a:pt x="64603" y="1008880"/>
                        <a:pt x="61746" y="1009594"/>
                      </a:cubicBezTo>
                      <a:cubicBezTo>
                        <a:pt x="44606" y="1016737"/>
                        <a:pt x="31750" y="1033879"/>
                        <a:pt x="31750" y="1053879"/>
                      </a:cubicBezTo>
                      <a:cubicBezTo>
                        <a:pt x="31750" y="1073879"/>
                        <a:pt x="44606" y="1090307"/>
                        <a:pt x="61746" y="1097450"/>
                      </a:cubicBezTo>
                      <a:cubicBezTo>
                        <a:pt x="64603" y="1098878"/>
                        <a:pt x="66745" y="1099593"/>
                        <a:pt x="69602" y="1099593"/>
                      </a:cubicBezTo>
                      <a:cubicBezTo>
                        <a:pt x="72459" y="1100307"/>
                        <a:pt x="76030" y="1101021"/>
                        <a:pt x="78886" y="1101021"/>
                      </a:cubicBezTo>
                      <a:cubicBezTo>
                        <a:pt x="78886" y="1101021"/>
                        <a:pt x="78886" y="1101021"/>
                        <a:pt x="1075890" y="1101021"/>
                      </a:cubicBezTo>
                      <a:cubicBezTo>
                        <a:pt x="1063748" y="1119592"/>
                        <a:pt x="1066605" y="1145306"/>
                        <a:pt x="1083746" y="1161020"/>
                      </a:cubicBezTo>
                      <a:cubicBezTo>
                        <a:pt x="1091602" y="1168163"/>
                        <a:pt x="1100886" y="1171735"/>
                        <a:pt x="1110885" y="1173163"/>
                      </a:cubicBezTo>
                      <a:cubicBezTo>
                        <a:pt x="1112313" y="1173163"/>
                        <a:pt x="1113741" y="1173163"/>
                        <a:pt x="1115170" y="1173163"/>
                      </a:cubicBezTo>
                      <a:cubicBezTo>
                        <a:pt x="1118026" y="1173163"/>
                        <a:pt x="1120169" y="1173163"/>
                        <a:pt x="1122312" y="1172449"/>
                      </a:cubicBezTo>
                      <a:cubicBezTo>
                        <a:pt x="1124454" y="1172449"/>
                        <a:pt x="1126597" y="1171735"/>
                        <a:pt x="1128739" y="1171020"/>
                      </a:cubicBezTo>
                      <a:cubicBezTo>
                        <a:pt x="1136595" y="1168878"/>
                        <a:pt x="1144451" y="1164592"/>
                        <a:pt x="1150165" y="1158163"/>
                      </a:cubicBezTo>
                      <a:cubicBezTo>
                        <a:pt x="1150165" y="1158163"/>
                        <a:pt x="1150165" y="1158163"/>
                        <a:pt x="1216584" y="1085307"/>
                      </a:cubicBezTo>
                      <a:cubicBezTo>
                        <a:pt x="1216584" y="1085307"/>
                        <a:pt x="1216584" y="1085307"/>
                        <a:pt x="1218012" y="1083879"/>
                      </a:cubicBezTo>
                      <a:cubicBezTo>
                        <a:pt x="1218012" y="1083879"/>
                        <a:pt x="1218012" y="1083879"/>
                        <a:pt x="1218012" y="1083164"/>
                      </a:cubicBezTo>
                      <a:cubicBezTo>
                        <a:pt x="1218012" y="1083164"/>
                        <a:pt x="1218012" y="1083164"/>
                        <a:pt x="1218727" y="1083164"/>
                      </a:cubicBezTo>
                      <a:cubicBezTo>
                        <a:pt x="1218727" y="1082450"/>
                        <a:pt x="1218727" y="1082450"/>
                        <a:pt x="1218727" y="1082450"/>
                      </a:cubicBezTo>
                      <a:cubicBezTo>
                        <a:pt x="1218727" y="1082450"/>
                        <a:pt x="1218727" y="1081736"/>
                        <a:pt x="1219441" y="1081736"/>
                      </a:cubicBezTo>
                      <a:cubicBezTo>
                        <a:pt x="1219441" y="1081736"/>
                        <a:pt x="1219441" y="1081736"/>
                        <a:pt x="1219441" y="1081022"/>
                      </a:cubicBezTo>
                      <a:cubicBezTo>
                        <a:pt x="1219441" y="1081022"/>
                        <a:pt x="1219441" y="1081022"/>
                        <a:pt x="1220155" y="1081022"/>
                      </a:cubicBezTo>
                      <a:cubicBezTo>
                        <a:pt x="1220155" y="1080307"/>
                        <a:pt x="1220869" y="1078879"/>
                        <a:pt x="1221583" y="1078164"/>
                      </a:cubicBezTo>
                      <a:cubicBezTo>
                        <a:pt x="1221583" y="1077450"/>
                        <a:pt x="1222298" y="1077450"/>
                        <a:pt x="1222298" y="1077450"/>
                      </a:cubicBezTo>
                      <a:cubicBezTo>
                        <a:pt x="1223012" y="1076022"/>
                        <a:pt x="1223012" y="1075307"/>
                        <a:pt x="1223726" y="1073879"/>
                      </a:cubicBezTo>
                      <a:cubicBezTo>
                        <a:pt x="1223726" y="1073879"/>
                        <a:pt x="1223726" y="1073879"/>
                        <a:pt x="1224440" y="1073879"/>
                      </a:cubicBezTo>
                      <a:cubicBezTo>
                        <a:pt x="1224440" y="1073879"/>
                        <a:pt x="1224440" y="1073879"/>
                        <a:pt x="1224440" y="1073165"/>
                      </a:cubicBezTo>
                      <a:cubicBezTo>
                        <a:pt x="1224440" y="1072450"/>
                        <a:pt x="1225154" y="1071736"/>
                        <a:pt x="1225154" y="1071022"/>
                      </a:cubicBezTo>
                      <a:cubicBezTo>
                        <a:pt x="1225154" y="1071022"/>
                        <a:pt x="1225154" y="1070307"/>
                        <a:pt x="1225868" y="1070307"/>
                      </a:cubicBezTo>
                      <a:cubicBezTo>
                        <a:pt x="1225868" y="1070307"/>
                        <a:pt x="1225868" y="1070307"/>
                        <a:pt x="1225868" y="1068879"/>
                      </a:cubicBezTo>
                      <a:cubicBezTo>
                        <a:pt x="1226583" y="1067450"/>
                        <a:pt x="1226583" y="1066736"/>
                        <a:pt x="1227297" y="1065307"/>
                      </a:cubicBezTo>
                      <a:cubicBezTo>
                        <a:pt x="1227297" y="1065307"/>
                        <a:pt x="1227297" y="1065307"/>
                        <a:pt x="1227297" y="1064593"/>
                      </a:cubicBezTo>
                      <a:cubicBezTo>
                        <a:pt x="1227297" y="1063165"/>
                        <a:pt x="1228011" y="1062450"/>
                        <a:pt x="1228011" y="1061022"/>
                      </a:cubicBezTo>
                      <a:cubicBezTo>
                        <a:pt x="1228011" y="1060308"/>
                        <a:pt x="1228011" y="1060308"/>
                        <a:pt x="1228011" y="1059593"/>
                      </a:cubicBezTo>
                      <a:cubicBezTo>
                        <a:pt x="1228011" y="1059593"/>
                        <a:pt x="1228011" y="1059593"/>
                        <a:pt x="1228011" y="1058879"/>
                      </a:cubicBezTo>
                      <a:cubicBezTo>
                        <a:pt x="1228011" y="1058165"/>
                        <a:pt x="1228725" y="1057450"/>
                        <a:pt x="1228725" y="1056736"/>
                      </a:cubicBezTo>
                      <a:cubicBezTo>
                        <a:pt x="1228725" y="1056022"/>
                        <a:pt x="1228725" y="1056022"/>
                        <a:pt x="1228725" y="1056022"/>
                      </a:cubicBezTo>
                      <a:cubicBezTo>
                        <a:pt x="1228725" y="1055308"/>
                        <a:pt x="1228725" y="1054593"/>
                        <a:pt x="1228725" y="1053879"/>
                      </a:cubicBezTo>
                      <a:cubicBezTo>
                        <a:pt x="1228725" y="1053165"/>
                        <a:pt x="1228725" y="1052451"/>
                        <a:pt x="1228725" y="1051736"/>
                      </a:cubicBezTo>
                      <a:cubicBezTo>
                        <a:pt x="1228725" y="1051022"/>
                        <a:pt x="1228725" y="1051022"/>
                        <a:pt x="1228725" y="1051022"/>
                      </a:cubicBezTo>
                      <a:cubicBezTo>
                        <a:pt x="1228011" y="1049593"/>
                        <a:pt x="1228011" y="1048879"/>
                        <a:pt x="1228011" y="1047451"/>
                      </a:cubicBezTo>
                      <a:cubicBezTo>
                        <a:pt x="1228011" y="1046736"/>
                        <a:pt x="1228011" y="1046736"/>
                        <a:pt x="1228011" y="1046022"/>
                      </a:cubicBezTo>
                      <a:cubicBezTo>
                        <a:pt x="1228011" y="1046022"/>
                        <a:pt x="1228011" y="1045308"/>
                        <a:pt x="1227297" y="1044593"/>
                      </a:cubicBezTo>
                      <a:cubicBezTo>
                        <a:pt x="1227297" y="1043879"/>
                        <a:pt x="1227297" y="1043165"/>
                        <a:pt x="1227297" y="1043165"/>
                      </a:cubicBezTo>
                      <a:cubicBezTo>
                        <a:pt x="1227297" y="1043165"/>
                        <a:pt x="1227297" y="1043165"/>
                        <a:pt x="1227297" y="1041736"/>
                      </a:cubicBezTo>
                      <a:cubicBezTo>
                        <a:pt x="1226583" y="1040308"/>
                        <a:pt x="1226583" y="1039594"/>
                        <a:pt x="1225868" y="1038165"/>
                      </a:cubicBezTo>
                      <a:cubicBezTo>
                        <a:pt x="1225868" y="1038165"/>
                        <a:pt x="1225868" y="1038165"/>
                        <a:pt x="1225868" y="1037451"/>
                      </a:cubicBezTo>
                      <a:cubicBezTo>
                        <a:pt x="1225154" y="1036022"/>
                        <a:pt x="1225154" y="1035308"/>
                        <a:pt x="1224440" y="1034594"/>
                      </a:cubicBezTo>
                      <a:cubicBezTo>
                        <a:pt x="1224440" y="1033879"/>
                        <a:pt x="1223726" y="1033879"/>
                        <a:pt x="1223726" y="1033165"/>
                      </a:cubicBezTo>
                      <a:cubicBezTo>
                        <a:pt x="1223012" y="1032451"/>
                        <a:pt x="1223012" y="1031022"/>
                        <a:pt x="1222298" y="1030308"/>
                      </a:cubicBezTo>
                      <a:cubicBezTo>
                        <a:pt x="1222298" y="1029594"/>
                        <a:pt x="1221583" y="1029594"/>
                        <a:pt x="1221583" y="1028879"/>
                      </a:cubicBezTo>
                      <a:cubicBezTo>
                        <a:pt x="1220869" y="1028165"/>
                        <a:pt x="1220155" y="1027451"/>
                        <a:pt x="1219441" y="1026022"/>
                      </a:cubicBezTo>
                      <a:cubicBezTo>
                        <a:pt x="1219441" y="1026022"/>
                        <a:pt x="1219441" y="1026022"/>
                        <a:pt x="1218727" y="1025308"/>
                      </a:cubicBezTo>
                      <a:cubicBezTo>
                        <a:pt x="1218727" y="1025308"/>
                        <a:pt x="1218727" y="1025308"/>
                        <a:pt x="1218727" y="1024594"/>
                      </a:cubicBezTo>
                      <a:cubicBezTo>
                        <a:pt x="1218727" y="1024594"/>
                        <a:pt x="1218727" y="1024594"/>
                        <a:pt x="1218012" y="1023879"/>
                      </a:cubicBezTo>
                      <a:cubicBezTo>
                        <a:pt x="1218012" y="1023879"/>
                        <a:pt x="1218012" y="1023879"/>
                        <a:pt x="1216584" y="1022451"/>
                      </a:cubicBezTo>
                      <a:cubicBezTo>
                        <a:pt x="1216584" y="1022451"/>
                        <a:pt x="1216584" y="1022451"/>
                        <a:pt x="1216584" y="1021737"/>
                      </a:cubicBezTo>
                      <a:cubicBezTo>
                        <a:pt x="1216584" y="1021737"/>
                        <a:pt x="1216584" y="1021737"/>
                        <a:pt x="1150165" y="949595"/>
                      </a:cubicBezTo>
                      <a:cubicBezTo>
                        <a:pt x="1148022" y="946738"/>
                        <a:pt x="1145880" y="944595"/>
                        <a:pt x="1143023" y="943166"/>
                      </a:cubicBezTo>
                      <a:cubicBezTo>
                        <a:pt x="1140880" y="941738"/>
                        <a:pt x="1139452" y="940309"/>
                        <a:pt x="1137309" y="939595"/>
                      </a:cubicBezTo>
                      <a:cubicBezTo>
                        <a:pt x="1136595" y="938881"/>
                        <a:pt x="1135167" y="938881"/>
                        <a:pt x="1134453" y="938166"/>
                      </a:cubicBezTo>
                      <a:cubicBezTo>
                        <a:pt x="1133739" y="937452"/>
                        <a:pt x="1132310" y="937452"/>
                        <a:pt x="1131596" y="936738"/>
                      </a:cubicBezTo>
                      <a:cubicBezTo>
                        <a:pt x="1126597" y="935309"/>
                        <a:pt x="1120883" y="933881"/>
                        <a:pt x="1115170" y="933881"/>
                      </a:cubicBezTo>
                      <a:cubicBezTo>
                        <a:pt x="1105171" y="933881"/>
                        <a:pt x="1095172" y="937452"/>
                        <a:pt x="1087316" y="943881"/>
                      </a:cubicBezTo>
                      <a:cubicBezTo>
                        <a:pt x="1085888" y="944595"/>
                        <a:pt x="1084460" y="945309"/>
                        <a:pt x="1083746" y="946023"/>
                      </a:cubicBezTo>
                      <a:cubicBezTo>
                        <a:pt x="1082317" y="947452"/>
                        <a:pt x="1081603" y="948166"/>
                        <a:pt x="1080175" y="949595"/>
                      </a:cubicBezTo>
                      <a:cubicBezTo>
                        <a:pt x="1080175" y="950309"/>
                        <a:pt x="1079460" y="950309"/>
                        <a:pt x="1079460" y="951023"/>
                      </a:cubicBezTo>
                      <a:cubicBezTo>
                        <a:pt x="1078746" y="951738"/>
                        <a:pt x="1078032" y="952452"/>
                        <a:pt x="1078032" y="953166"/>
                      </a:cubicBezTo>
                      <a:cubicBezTo>
                        <a:pt x="1077318" y="953880"/>
                        <a:pt x="1076604" y="953880"/>
                        <a:pt x="1076604" y="954595"/>
                      </a:cubicBezTo>
                      <a:cubicBezTo>
                        <a:pt x="1075890" y="955309"/>
                        <a:pt x="1075890" y="956023"/>
                        <a:pt x="1075175" y="956738"/>
                      </a:cubicBezTo>
                      <a:cubicBezTo>
                        <a:pt x="1075175" y="957452"/>
                        <a:pt x="1074461" y="958166"/>
                        <a:pt x="1073747" y="958880"/>
                      </a:cubicBezTo>
                      <a:cubicBezTo>
                        <a:pt x="1073747" y="959595"/>
                        <a:pt x="1073747" y="959595"/>
                        <a:pt x="1073033" y="960309"/>
                      </a:cubicBezTo>
                      <a:cubicBezTo>
                        <a:pt x="1073033" y="961023"/>
                        <a:pt x="1072319" y="961737"/>
                        <a:pt x="1072319" y="962452"/>
                      </a:cubicBezTo>
                      <a:cubicBezTo>
                        <a:pt x="1071604" y="963166"/>
                        <a:pt x="1071604" y="963880"/>
                        <a:pt x="1071604" y="963880"/>
                      </a:cubicBezTo>
                      <a:cubicBezTo>
                        <a:pt x="1070890" y="964595"/>
                        <a:pt x="1070890" y="966023"/>
                        <a:pt x="1070890" y="966737"/>
                      </a:cubicBezTo>
                      <a:cubicBezTo>
                        <a:pt x="1070176" y="967452"/>
                        <a:pt x="1070176" y="967452"/>
                        <a:pt x="1070176" y="968166"/>
                      </a:cubicBezTo>
                      <a:cubicBezTo>
                        <a:pt x="1070176" y="968880"/>
                        <a:pt x="1069462" y="969595"/>
                        <a:pt x="1069462" y="971023"/>
                      </a:cubicBezTo>
                      <a:cubicBezTo>
                        <a:pt x="1069462" y="971023"/>
                        <a:pt x="1069462" y="971023"/>
                        <a:pt x="1069462" y="971737"/>
                      </a:cubicBezTo>
                      <a:cubicBezTo>
                        <a:pt x="1068748" y="973166"/>
                        <a:pt x="1068748" y="973880"/>
                        <a:pt x="1068748" y="975309"/>
                      </a:cubicBezTo>
                      <a:cubicBezTo>
                        <a:pt x="1068748" y="975309"/>
                        <a:pt x="1068748" y="975309"/>
                        <a:pt x="1068748" y="976023"/>
                      </a:cubicBezTo>
                      <a:cubicBezTo>
                        <a:pt x="1068748" y="976737"/>
                        <a:pt x="1068748" y="978166"/>
                        <a:pt x="1068033" y="978880"/>
                      </a:cubicBezTo>
                      <a:cubicBezTo>
                        <a:pt x="1068033" y="979594"/>
                        <a:pt x="1068033" y="981023"/>
                        <a:pt x="1068033" y="981737"/>
                      </a:cubicBezTo>
                      <a:cubicBezTo>
                        <a:pt x="1068033" y="982451"/>
                        <a:pt x="1068033" y="983166"/>
                        <a:pt x="1068748" y="983880"/>
                      </a:cubicBezTo>
                      <a:cubicBezTo>
                        <a:pt x="1068748" y="985309"/>
                        <a:pt x="1068748" y="986023"/>
                        <a:pt x="1068748" y="987451"/>
                      </a:cubicBezTo>
                      <a:cubicBezTo>
                        <a:pt x="1068748" y="988880"/>
                        <a:pt x="1069462" y="990309"/>
                        <a:pt x="1069462" y="991023"/>
                      </a:cubicBezTo>
                      <a:cubicBezTo>
                        <a:pt x="1069462" y="991023"/>
                        <a:pt x="1069462" y="991023"/>
                        <a:pt x="1069462" y="991737"/>
                      </a:cubicBezTo>
                      <a:cubicBezTo>
                        <a:pt x="1069462" y="992451"/>
                        <a:pt x="1070176" y="993880"/>
                        <a:pt x="1070176" y="995308"/>
                      </a:cubicBezTo>
                      <a:cubicBezTo>
                        <a:pt x="1070890" y="996737"/>
                        <a:pt x="1071604" y="997451"/>
                        <a:pt x="1071604" y="998880"/>
                      </a:cubicBezTo>
                      <a:cubicBezTo>
                        <a:pt x="1071604" y="998880"/>
                        <a:pt x="1071604" y="998880"/>
                        <a:pt x="1071604" y="999594"/>
                      </a:cubicBezTo>
                      <a:cubicBezTo>
                        <a:pt x="1072319" y="1000308"/>
                        <a:pt x="1073033" y="1001737"/>
                        <a:pt x="1073747" y="1002451"/>
                      </a:cubicBezTo>
                      <a:cubicBezTo>
                        <a:pt x="1073747" y="1003165"/>
                        <a:pt x="1073747" y="1003165"/>
                        <a:pt x="1073747" y="1003165"/>
                      </a:cubicBezTo>
                      <a:cubicBezTo>
                        <a:pt x="1074461" y="1003880"/>
                        <a:pt x="1075175" y="1005308"/>
                        <a:pt x="1075890" y="1006737"/>
                      </a:cubicBezTo>
                      <a:cubicBezTo>
                        <a:pt x="1075890" y="1006737"/>
                        <a:pt x="1075890" y="1006737"/>
                        <a:pt x="908056" y="1006737"/>
                      </a:cubicBezTo>
                      <a:cubicBezTo>
                        <a:pt x="948764" y="976023"/>
                        <a:pt x="985188" y="939595"/>
                        <a:pt x="1014470" y="897453"/>
                      </a:cubicBezTo>
                      <a:cubicBezTo>
                        <a:pt x="1015898" y="896024"/>
                        <a:pt x="1016612" y="894596"/>
                        <a:pt x="1017326" y="893881"/>
                      </a:cubicBezTo>
                      <a:cubicBezTo>
                        <a:pt x="1019469" y="891024"/>
                        <a:pt x="1020897" y="888881"/>
                        <a:pt x="1022326" y="886024"/>
                      </a:cubicBezTo>
                      <a:cubicBezTo>
                        <a:pt x="1075175" y="808168"/>
                        <a:pt x="1102314" y="716741"/>
                        <a:pt x="1102314" y="621028"/>
                      </a:cubicBezTo>
                      <a:cubicBezTo>
                        <a:pt x="1102314" y="617456"/>
                        <a:pt x="1102314" y="613171"/>
                        <a:pt x="1102314" y="608885"/>
                      </a:cubicBezTo>
                      <a:cubicBezTo>
                        <a:pt x="1102314" y="604599"/>
                        <a:pt x="1102314" y="600314"/>
                        <a:pt x="1102314" y="596742"/>
                      </a:cubicBezTo>
                      <a:cubicBezTo>
                        <a:pt x="1101600" y="596028"/>
                        <a:pt x="1101600" y="596028"/>
                        <a:pt x="1101600" y="596028"/>
                      </a:cubicBezTo>
                      <a:cubicBezTo>
                        <a:pt x="1101600" y="591743"/>
                        <a:pt x="1101600" y="588171"/>
                        <a:pt x="1100886" y="584600"/>
                      </a:cubicBezTo>
                      <a:cubicBezTo>
                        <a:pt x="1100886" y="580314"/>
                        <a:pt x="1100886" y="576743"/>
                        <a:pt x="1100172" y="573171"/>
                      </a:cubicBezTo>
                      <a:cubicBezTo>
                        <a:pt x="1100172" y="572457"/>
                        <a:pt x="1100172" y="572457"/>
                        <a:pt x="1100172" y="571743"/>
                      </a:cubicBezTo>
                      <a:cubicBezTo>
                        <a:pt x="1099458" y="568171"/>
                        <a:pt x="1099458" y="564600"/>
                        <a:pt x="1098743" y="561029"/>
                      </a:cubicBezTo>
                      <a:cubicBezTo>
                        <a:pt x="1098029" y="556743"/>
                        <a:pt x="1097315" y="551743"/>
                        <a:pt x="1096601" y="547457"/>
                      </a:cubicBezTo>
                      <a:cubicBezTo>
                        <a:pt x="1096601" y="545315"/>
                        <a:pt x="1096601" y="543886"/>
                        <a:pt x="1095887" y="541743"/>
                      </a:cubicBezTo>
                      <a:cubicBezTo>
                        <a:pt x="1095887" y="538886"/>
                        <a:pt x="1095172" y="536743"/>
                        <a:pt x="1094458" y="533886"/>
                      </a:cubicBezTo>
                      <a:cubicBezTo>
                        <a:pt x="1093744" y="529600"/>
                        <a:pt x="1093030" y="525315"/>
                        <a:pt x="1092316" y="521029"/>
                      </a:cubicBezTo>
                      <a:cubicBezTo>
                        <a:pt x="1091602" y="519601"/>
                        <a:pt x="1091602" y="518886"/>
                        <a:pt x="1091602" y="517458"/>
                      </a:cubicBezTo>
                      <a:cubicBezTo>
                        <a:pt x="1090887" y="513886"/>
                        <a:pt x="1089459" y="511029"/>
                        <a:pt x="1088745" y="507458"/>
                      </a:cubicBezTo>
                      <a:cubicBezTo>
                        <a:pt x="1083031" y="482458"/>
                        <a:pt x="1075175" y="458173"/>
                        <a:pt x="1065177" y="434602"/>
                      </a:cubicBezTo>
                      <a:cubicBezTo>
                        <a:pt x="1040894" y="377460"/>
                        <a:pt x="1005899" y="326746"/>
                        <a:pt x="962334" y="282461"/>
                      </a:cubicBezTo>
                      <a:cubicBezTo>
                        <a:pt x="918054" y="238176"/>
                        <a:pt x="866633" y="203891"/>
                        <a:pt x="809498" y="179605"/>
                      </a:cubicBezTo>
                      <a:cubicBezTo>
                        <a:pt x="753792" y="156034"/>
                        <a:pt x="695229" y="143891"/>
                        <a:pt x="634523" y="141749"/>
                      </a:cubicBezTo>
                      <a:cubicBezTo>
                        <a:pt x="631666" y="141749"/>
                        <a:pt x="629524" y="141749"/>
                        <a:pt x="626667" y="141749"/>
                      </a:cubicBezTo>
                      <a:cubicBezTo>
                        <a:pt x="625238" y="141749"/>
                        <a:pt x="623810" y="141749"/>
                        <a:pt x="622382" y="141749"/>
                      </a:cubicBezTo>
                      <a:cubicBezTo>
                        <a:pt x="563104" y="141749"/>
                        <a:pt x="505255" y="152463"/>
                        <a:pt x="450977" y="173891"/>
                      </a:cubicBezTo>
                      <a:cubicBezTo>
                        <a:pt x="450977" y="173891"/>
                        <a:pt x="450977" y="173891"/>
                        <a:pt x="443835" y="75321"/>
                      </a:cubicBezTo>
                      <a:cubicBezTo>
                        <a:pt x="441693" y="51036"/>
                        <a:pt x="420981" y="31750"/>
                        <a:pt x="396699" y="31750"/>
                      </a:cubicBezTo>
                      <a:cubicBezTo>
                        <a:pt x="395985" y="31750"/>
                        <a:pt x="395985" y="31750"/>
                        <a:pt x="395271" y="31750"/>
                      </a:cubicBezTo>
                      <a:cubicBezTo>
                        <a:pt x="394556" y="31750"/>
                        <a:pt x="393842" y="31750"/>
                        <a:pt x="393128" y="31750"/>
                      </a:cubicBezTo>
                      <a:close/>
                      <a:moveTo>
                        <a:pt x="390862" y="0"/>
                      </a:moveTo>
                      <a:cubicBezTo>
                        <a:pt x="393005" y="0"/>
                        <a:pt x="394435" y="0"/>
                        <a:pt x="396578" y="0"/>
                      </a:cubicBezTo>
                      <a:cubicBezTo>
                        <a:pt x="437308" y="0"/>
                        <a:pt x="471607" y="32160"/>
                        <a:pt x="475179" y="72895"/>
                      </a:cubicBezTo>
                      <a:cubicBezTo>
                        <a:pt x="475179" y="72895"/>
                        <a:pt x="475179" y="72895"/>
                        <a:pt x="479467" y="130783"/>
                      </a:cubicBezTo>
                      <a:cubicBezTo>
                        <a:pt x="525198" y="117204"/>
                        <a:pt x="573788" y="110057"/>
                        <a:pt x="622378" y="110057"/>
                      </a:cubicBezTo>
                      <a:cubicBezTo>
                        <a:pt x="904627" y="110057"/>
                        <a:pt x="1133999" y="340177"/>
                        <a:pt x="1133999" y="621038"/>
                      </a:cubicBezTo>
                      <a:cubicBezTo>
                        <a:pt x="1133999" y="726092"/>
                        <a:pt x="1102559" y="826859"/>
                        <a:pt x="1043251" y="911903"/>
                      </a:cubicBezTo>
                      <a:cubicBezTo>
                        <a:pt x="1027530" y="934058"/>
                        <a:pt x="1010381" y="955498"/>
                        <a:pt x="991803" y="975508"/>
                      </a:cubicBezTo>
                      <a:cubicBezTo>
                        <a:pt x="991803" y="975508"/>
                        <a:pt x="991803" y="975508"/>
                        <a:pt x="1037534" y="975508"/>
                      </a:cubicBezTo>
                      <a:cubicBezTo>
                        <a:pt x="1038963" y="956212"/>
                        <a:pt x="1047538" y="936916"/>
                        <a:pt x="1062543" y="923338"/>
                      </a:cubicBezTo>
                      <a:cubicBezTo>
                        <a:pt x="1077549" y="909759"/>
                        <a:pt x="1096128" y="902613"/>
                        <a:pt x="1115421" y="902613"/>
                      </a:cubicBezTo>
                      <a:cubicBezTo>
                        <a:pt x="1137572" y="902613"/>
                        <a:pt x="1159008" y="911903"/>
                        <a:pt x="1174014" y="928341"/>
                      </a:cubicBezTo>
                      <a:cubicBezTo>
                        <a:pt x="1174014" y="928341"/>
                        <a:pt x="1174014" y="928341"/>
                        <a:pt x="1240468" y="1001236"/>
                      </a:cubicBezTo>
                      <a:cubicBezTo>
                        <a:pt x="1240468" y="1001236"/>
                        <a:pt x="1240468" y="1001236"/>
                        <a:pt x="1240468" y="1001950"/>
                      </a:cubicBezTo>
                      <a:cubicBezTo>
                        <a:pt x="1240468" y="1001950"/>
                        <a:pt x="1240468" y="1001950"/>
                        <a:pt x="1241897" y="1003380"/>
                      </a:cubicBezTo>
                      <a:cubicBezTo>
                        <a:pt x="1241897" y="1003380"/>
                        <a:pt x="1241897" y="1003380"/>
                        <a:pt x="1243326" y="1004809"/>
                      </a:cubicBezTo>
                      <a:cubicBezTo>
                        <a:pt x="1243326" y="1004809"/>
                        <a:pt x="1243326" y="1004809"/>
                        <a:pt x="1244040" y="1006238"/>
                      </a:cubicBezTo>
                      <a:cubicBezTo>
                        <a:pt x="1244040" y="1006238"/>
                        <a:pt x="1244040" y="1006238"/>
                        <a:pt x="1244755" y="1006953"/>
                      </a:cubicBezTo>
                      <a:cubicBezTo>
                        <a:pt x="1244755" y="1006953"/>
                        <a:pt x="1245470" y="1007668"/>
                        <a:pt x="1245470" y="1008382"/>
                      </a:cubicBezTo>
                      <a:cubicBezTo>
                        <a:pt x="1246899" y="1009812"/>
                        <a:pt x="1247613" y="1011241"/>
                        <a:pt x="1248328" y="1012670"/>
                      </a:cubicBezTo>
                      <a:cubicBezTo>
                        <a:pt x="1249042" y="1013385"/>
                        <a:pt x="1249757" y="1014100"/>
                        <a:pt x="1249757" y="1014814"/>
                      </a:cubicBezTo>
                      <a:cubicBezTo>
                        <a:pt x="1250471" y="1016244"/>
                        <a:pt x="1251901" y="1017673"/>
                        <a:pt x="1252615" y="1019817"/>
                      </a:cubicBezTo>
                      <a:cubicBezTo>
                        <a:pt x="1252615" y="1020531"/>
                        <a:pt x="1253330" y="1021246"/>
                        <a:pt x="1253330" y="1021961"/>
                      </a:cubicBezTo>
                      <a:cubicBezTo>
                        <a:pt x="1254044" y="1023390"/>
                        <a:pt x="1254759" y="1024819"/>
                        <a:pt x="1255473" y="1026963"/>
                      </a:cubicBezTo>
                      <a:cubicBezTo>
                        <a:pt x="1255473" y="1026963"/>
                        <a:pt x="1256188" y="1027678"/>
                        <a:pt x="1256188" y="1028393"/>
                      </a:cubicBezTo>
                      <a:cubicBezTo>
                        <a:pt x="1256902" y="1030537"/>
                        <a:pt x="1257617" y="1032681"/>
                        <a:pt x="1257617" y="1034110"/>
                      </a:cubicBezTo>
                      <a:cubicBezTo>
                        <a:pt x="1257617" y="1034110"/>
                        <a:pt x="1257617" y="1034110"/>
                        <a:pt x="1257617" y="1034825"/>
                      </a:cubicBezTo>
                      <a:cubicBezTo>
                        <a:pt x="1257617" y="1034825"/>
                        <a:pt x="1257617" y="1034825"/>
                        <a:pt x="1258332" y="1035539"/>
                      </a:cubicBezTo>
                      <a:cubicBezTo>
                        <a:pt x="1258332" y="1035539"/>
                        <a:pt x="1258332" y="1035539"/>
                        <a:pt x="1258332" y="1036254"/>
                      </a:cubicBezTo>
                      <a:cubicBezTo>
                        <a:pt x="1258332" y="1037683"/>
                        <a:pt x="1259046" y="1039827"/>
                        <a:pt x="1259046" y="1041257"/>
                      </a:cubicBezTo>
                      <a:cubicBezTo>
                        <a:pt x="1259761" y="1042686"/>
                        <a:pt x="1259761" y="1043401"/>
                        <a:pt x="1259761" y="1044115"/>
                      </a:cubicBezTo>
                      <a:cubicBezTo>
                        <a:pt x="1259761" y="1045544"/>
                        <a:pt x="1259761" y="1047688"/>
                        <a:pt x="1260475" y="1049118"/>
                      </a:cubicBezTo>
                      <a:cubicBezTo>
                        <a:pt x="1260475" y="1049118"/>
                        <a:pt x="1260475" y="1049118"/>
                        <a:pt x="1260475" y="1049832"/>
                      </a:cubicBezTo>
                      <a:cubicBezTo>
                        <a:pt x="1260475" y="1051262"/>
                        <a:pt x="1260475" y="1052691"/>
                        <a:pt x="1260475" y="1054120"/>
                      </a:cubicBezTo>
                      <a:cubicBezTo>
                        <a:pt x="1260475" y="1055550"/>
                        <a:pt x="1260475" y="1056979"/>
                        <a:pt x="1260475" y="1058408"/>
                      </a:cubicBezTo>
                      <a:cubicBezTo>
                        <a:pt x="1259761" y="1060552"/>
                        <a:pt x="1259761" y="1062696"/>
                        <a:pt x="1259761" y="1064126"/>
                      </a:cubicBezTo>
                      <a:cubicBezTo>
                        <a:pt x="1259761" y="1064126"/>
                        <a:pt x="1259761" y="1064126"/>
                        <a:pt x="1259761" y="1064840"/>
                      </a:cubicBezTo>
                      <a:cubicBezTo>
                        <a:pt x="1259761" y="1064840"/>
                        <a:pt x="1259761" y="1064840"/>
                        <a:pt x="1259046" y="1065555"/>
                      </a:cubicBezTo>
                      <a:cubicBezTo>
                        <a:pt x="1259046" y="1065555"/>
                        <a:pt x="1259046" y="1065555"/>
                        <a:pt x="1259046" y="1066270"/>
                      </a:cubicBezTo>
                      <a:cubicBezTo>
                        <a:pt x="1259046" y="1068414"/>
                        <a:pt x="1258332" y="1069843"/>
                        <a:pt x="1258332" y="1071987"/>
                      </a:cubicBezTo>
                      <a:cubicBezTo>
                        <a:pt x="1258332" y="1071987"/>
                        <a:pt x="1258332" y="1071987"/>
                        <a:pt x="1257617" y="1073416"/>
                      </a:cubicBezTo>
                      <a:cubicBezTo>
                        <a:pt x="1257617" y="1075560"/>
                        <a:pt x="1256902" y="1077704"/>
                        <a:pt x="1256188" y="1079133"/>
                      </a:cubicBezTo>
                      <a:cubicBezTo>
                        <a:pt x="1256188" y="1079133"/>
                        <a:pt x="1256188" y="1079133"/>
                        <a:pt x="1256188" y="1079848"/>
                      </a:cubicBezTo>
                      <a:cubicBezTo>
                        <a:pt x="1256188" y="1079848"/>
                        <a:pt x="1256188" y="1079848"/>
                        <a:pt x="1255473" y="1080563"/>
                      </a:cubicBezTo>
                      <a:cubicBezTo>
                        <a:pt x="1255473" y="1080563"/>
                        <a:pt x="1255473" y="1080563"/>
                        <a:pt x="1255473" y="1081277"/>
                      </a:cubicBezTo>
                      <a:cubicBezTo>
                        <a:pt x="1254759" y="1082707"/>
                        <a:pt x="1254044" y="1084851"/>
                        <a:pt x="1253330" y="1086280"/>
                      </a:cubicBezTo>
                      <a:cubicBezTo>
                        <a:pt x="1253330" y="1086280"/>
                        <a:pt x="1253330" y="1086280"/>
                        <a:pt x="1253330" y="1086995"/>
                      </a:cubicBezTo>
                      <a:cubicBezTo>
                        <a:pt x="1253330" y="1086995"/>
                        <a:pt x="1253330" y="1086995"/>
                        <a:pt x="1252615" y="1086995"/>
                      </a:cubicBezTo>
                      <a:cubicBezTo>
                        <a:pt x="1252615" y="1086995"/>
                        <a:pt x="1252615" y="1086995"/>
                        <a:pt x="1252615" y="1087709"/>
                      </a:cubicBezTo>
                      <a:cubicBezTo>
                        <a:pt x="1252615" y="1087709"/>
                        <a:pt x="1252615" y="1087709"/>
                        <a:pt x="1252615" y="1088424"/>
                      </a:cubicBezTo>
                      <a:cubicBezTo>
                        <a:pt x="1251901" y="1089853"/>
                        <a:pt x="1250471" y="1091997"/>
                        <a:pt x="1249757" y="1093427"/>
                      </a:cubicBezTo>
                      <a:cubicBezTo>
                        <a:pt x="1249757" y="1093427"/>
                        <a:pt x="1249757" y="1093427"/>
                        <a:pt x="1249042" y="1094856"/>
                      </a:cubicBezTo>
                      <a:cubicBezTo>
                        <a:pt x="1247613" y="1096285"/>
                        <a:pt x="1246899" y="1097715"/>
                        <a:pt x="1246184" y="1099144"/>
                      </a:cubicBezTo>
                      <a:cubicBezTo>
                        <a:pt x="1246184" y="1099144"/>
                        <a:pt x="1246184" y="1099144"/>
                        <a:pt x="1245470" y="1099144"/>
                      </a:cubicBezTo>
                      <a:cubicBezTo>
                        <a:pt x="1245470" y="1099144"/>
                        <a:pt x="1245470" y="1099144"/>
                        <a:pt x="1245470" y="1099858"/>
                      </a:cubicBezTo>
                      <a:cubicBezTo>
                        <a:pt x="1245470" y="1099858"/>
                        <a:pt x="1245470" y="1099858"/>
                        <a:pt x="1244755" y="1100573"/>
                      </a:cubicBezTo>
                      <a:cubicBezTo>
                        <a:pt x="1244755" y="1100573"/>
                        <a:pt x="1244755" y="1100573"/>
                        <a:pt x="1244040" y="1101288"/>
                      </a:cubicBezTo>
                      <a:cubicBezTo>
                        <a:pt x="1244040" y="1101288"/>
                        <a:pt x="1244040" y="1101288"/>
                        <a:pt x="1243326" y="1102717"/>
                      </a:cubicBezTo>
                      <a:cubicBezTo>
                        <a:pt x="1243326" y="1102717"/>
                        <a:pt x="1243326" y="1102717"/>
                        <a:pt x="1241897" y="1104146"/>
                      </a:cubicBezTo>
                      <a:cubicBezTo>
                        <a:pt x="1241897" y="1104146"/>
                        <a:pt x="1241897" y="1104146"/>
                        <a:pt x="1240468" y="1106290"/>
                      </a:cubicBezTo>
                      <a:cubicBezTo>
                        <a:pt x="1240468" y="1106290"/>
                        <a:pt x="1240468" y="1106290"/>
                        <a:pt x="1239753" y="1106290"/>
                      </a:cubicBezTo>
                      <a:cubicBezTo>
                        <a:pt x="1239753" y="1106290"/>
                        <a:pt x="1239753" y="1106290"/>
                        <a:pt x="1239753" y="1107005"/>
                      </a:cubicBezTo>
                      <a:cubicBezTo>
                        <a:pt x="1239753" y="1107005"/>
                        <a:pt x="1239753" y="1107005"/>
                        <a:pt x="1174014" y="1179186"/>
                      </a:cubicBezTo>
                      <a:cubicBezTo>
                        <a:pt x="1159008" y="1195623"/>
                        <a:pt x="1137572" y="1204913"/>
                        <a:pt x="1115421" y="1204913"/>
                      </a:cubicBezTo>
                      <a:cubicBezTo>
                        <a:pt x="1096128" y="1204913"/>
                        <a:pt x="1077549" y="1197767"/>
                        <a:pt x="1062543" y="1184903"/>
                      </a:cubicBezTo>
                      <a:cubicBezTo>
                        <a:pt x="1047538" y="1170610"/>
                        <a:pt x="1038963" y="1152029"/>
                        <a:pt x="1037534" y="1132733"/>
                      </a:cubicBezTo>
                      <a:cubicBezTo>
                        <a:pt x="1037534" y="1132733"/>
                        <a:pt x="1037534" y="1132733"/>
                        <a:pt x="78601" y="1132733"/>
                      </a:cubicBezTo>
                      <a:cubicBezTo>
                        <a:pt x="35728" y="1132733"/>
                        <a:pt x="0" y="1097000"/>
                        <a:pt x="0" y="1054120"/>
                      </a:cubicBezTo>
                      <a:cubicBezTo>
                        <a:pt x="0" y="1010526"/>
                        <a:pt x="35728" y="975508"/>
                        <a:pt x="78601" y="975508"/>
                      </a:cubicBezTo>
                      <a:cubicBezTo>
                        <a:pt x="78601" y="975508"/>
                        <a:pt x="78601" y="975508"/>
                        <a:pt x="253667" y="975508"/>
                      </a:cubicBezTo>
                      <a:cubicBezTo>
                        <a:pt x="235089" y="955498"/>
                        <a:pt x="217225" y="934058"/>
                        <a:pt x="201505" y="911903"/>
                      </a:cubicBezTo>
                      <a:cubicBezTo>
                        <a:pt x="142197" y="826859"/>
                        <a:pt x="110756" y="726092"/>
                        <a:pt x="110756" y="621038"/>
                      </a:cubicBezTo>
                      <a:cubicBezTo>
                        <a:pt x="110756" y="578158"/>
                        <a:pt x="116473" y="535993"/>
                        <a:pt x="126476" y="494543"/>
                      </a:cubicBezTo>
                      <a:cubicBezTo>
                        <a:pt x="92892" y="475248"/>
                        <a:pt x="64310" y="447376"/>
                        <a:pt x="42159" y="413787"/>
                      </a:cubicBezTo>
                      <a:cubicBezTo>
                        <a:pt x="15006" y="373051"/>
                        <a:pt x="715" y="325169"/>
                        <a:pt x="715" y="275858"/>
                      </a:cubicBezTo>
                      <a:cubicBezTo>
                        <a:pt x="715" y="135785"/>
                        <a:pt x="115044" y="21440"/>
                        <a:pt x="255096" y="21440"/>
                      </a:cubicBezTo>
                      <a:cubicBezTo>
                        <a:pt x="281535" y="21440"/>
                        <a:pt x="307259" y="25013"/>
                        <a:pt x="332268" y="32874"/>
                      </a:cubicBezTo>
                      <a:cubicBezTo>
                        <a:pt x="333697" y="30730"/>
                        <a:pt x="335127" y="29301"/>
                        <a:pt x="337270" y="27157"/>
                      </a:cubicBezTo>
                      <a:cubicBezTo>
                        <a:pt x="350847" y="11435"/>
                        <a:pt x="370140" y="1429"/>
                        <a:pt x="390862"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t" anchorCtr="0" compatLnSpc="1">
                  <a:prstTxWarp prst="textNoShape">
                    <a:avLst/>
                  </a:prstTxWarp>
                  <a:noAutofit/>
                </a:bodyPr>
                <a:lstStyle/>
                <a:p>
                  <a:endParaRPr lang="en-US" sz="1559">
                    <a:sym typeface="+mn-lt"/>
                  </a:endParaRPr>
                </a:p>
              </p:txBody>
            </p:sp>
          </p:grpSp>
        </p:grpSp>
        <p:sp>
          <p:nvSpPr>
            <p:cNvPr id="99" name="object 4">
              <a:extLst>
                <a:ext uri="{FF2B5EF4-FFF2-40B4-BE49-F238E27FC236}">
                  <a16:creationId xmlns:a16="http://schemas.microsoft.com/office/drawing/2014/main" id="{E73E5726-28D2-4FE3-823B-F6D644E68B28}"/>
                </a:ext>
              </a:extLst>
            </p:cNvPr>
            <p:cNvSpPr txBox="1">
              <a:spLocks/>
            </p:cNvSpPr>
            <p:nvPr/>
          </p:nvSpPr>
          <p:spPr>
            <a:xfrm>
              <a:off x="7327900" y="5561774"/>
              <a:ext cx="4235300" cy="440579"/>
            </a:xfrm>
            <a:prstGeom prst="rect">
              <a:avLst/>
            </a:prstGeom>
          </p:spPr>
          <p:txBody>
            <a:bodyPr vert="horz" wrap="square" lIns="0" tIns="9598" rIns="0" bIns="0" rtlCol="0">
              <a:spAutoFit/>
            </a:bodyPr>
            <a:lstStyle>
              <a:lvl1pPr marL="0" indent="0" algn="l" defTabSz="914400" rtl="0" eaLnBrk="1" latinLnBrk="0" hangingPunct="1">
                <a:lnSpc>
                  <a:spcPct val="110000"/>
                </a:lnSpc>
                <a:spcBef>
                  <a:spcPts val="600"/>
                </a:spcBef>
                <a:spcAft>
                  <a:spcPts val="300"/>
                </a:spcAft>
                <a:buClr>
                  <a:srgbClr val="DC0532"/>
                </a:buClr>
                <a:buFont typeface="Arial" panose="020B0604020202020204" pitchFamily="34" charset="0"/>
                <a:buChar char="​"/>
                <a:defRPr lang="en-US" sz="1200" kern="1200">
                  <a:solidFill>
                    <a:srgbClr val="4D4D4D"/>
                  </a:solidFill>
                  <a:latin typeface="+mn-lt"/>
                  <a:ea typeface="+mn-ea"/>
                  <a:cs typeface="+mn-cs"/>
                  <a:sym typeface="+mn-lt"/>
                </a:defRPr>
              </a:lvl1pPr>
              <a:lvl2pPr marL="284400" indent="-172800" algn="l" defTabSz="914400" rtl="0" eaLnBrk="1" latinLnBrk="0" hangingPunct="1">
                <a:lnSpc>
                  <a:spcPct val="90000"/>
                </a:lnSpc>
                <a:spcBef>
                  <a:spcPts val="0"/>
                </a:spcBef>
                <a:spcAft>
                  <a:spcPts val="300"/>
                </a:spcAft>
                <a:buClr>
                  <a:srgbClr val="DC0532"/>
                </a:buClr>
                <a:buFont typeface="Arial" panose="020B0604020202020204" pitchFamily="34" charset="0"/>
                <a:buChar char="•"/>
                <a:defRPr lang="en-US" sz="1200" kern="1200">
                  <a:solidFill>
                    <a:srgbClr val="4D4D4D"/>
                  </a:solidFill>
                  <a:latin typeface="+mn-lt"/>
                  <a:ea typeface="+mn-ea"/>
                  <a:cs typeface="+mn-cs"/>
                  <a:sym typeface="+mn-lt"/>
                </a:defRPr>
              </a:lvl2pPr>
              <a:lvl3pPr marL="511200" indent="-165600" algn="l" defTabSz="914400" rtl="0" eaLnBrk="1" latinLnBrk="0" hangingPunct="1">
                <a:lnSpc>
                  <a:spcPct val="90000"/>
                </a:lnSpc>
                <a:spcBef>
                  <a:spcPts val="0"/>
                </a:spcBef>
                <a:spcAft>
                  <a:spcPts val="300"/>
                </a:spcAft>
                <a:buClr>
                  <a:srgbClr val="DC0532"/>
                </a:buClr>
                <a:buFont typeface="Trebuchet MS" panose="020B0603020202020204" pitchFamily="34" charset="0"/>
                <a:buChar char="–"/>
                <a:defRPr lang="en-US" sz="1200" kern="1200">
                  <a:solidFill>
                    <a:srgbClr val="4D4D4D"/>
                  </a:solidFill>
                  <a:latin typeface="+mn-lt"/>
                  <a:ea typeface="+mn-ea"/>
                  <a:cs typeface="+mn-cs"/>
                  <a:sym typeface="+mn-lt"/>
                </a:defRPr>
              </a:lvl3pPr>
              <a:lvl4pPr marL="0" indent="0" algn="l" defTabSz="914400" rtl="0" eaLnBrk="1" latinLnBrk="0" hangingPunct="1">
                <a:lnSpc>
                  <a:spcPct val="110000"/>
                </a:lnSpc>
                <a:spcBef>
                  <a:spcPts val="300"/>
                </a:spcBef>
                <a:spcAft>
                  <a:spcPts val="300"/>
                </a:spcAft>
                <a:buClr>
                  <a:srgbClr val="DC0532"/>
                </a:buClr>
                <a:buFont typeface="Arial" panose="020B0604020202020204" pitchFamily="34" charset="0"/>
                <a:buChar char="​"/>
                <a:defRPr lang="en-US" sz="1600" kern="1200">
                  <a:solidFill>
                    <a:srgbClr val="DC0532"/>
                  </a:solidFill>
                  <a:latin typeface="+mn-lt"/>
                  <a:ea typeface="+mn-ea"/>
                  <a:cs typeface="+mn-cs"/>
                  <a:sym typeface="+mn-lt"/>
                </a:defRPr>
              </a:lvl4pPr>
              <a:lvl5pPr marL="0" indent="0" algn="l" defTabSz="914400" rtl="0" eaLnBrk="1" latinLnBrk="0" hangingPunct="1">
                <a:lnSpc>
                  <a:spcPct val="100000"/>
                </a:lnSpc>
                <a:spcBef>
                  <a:spcPts val="0"/>
                </a:spcBef>
                <a:spcAft>
                  <a:spcPts val="300"/>
                </a:spcAft>
                <a:buClr>
                  <a:srgbClr val="DC0532"/>
                </a:buClr>
                <a:buFont typeface="Arial" panose="020B0604020202020204" pitchFamily="34" charset="0"/>
                <a:buChar char="​"/>
                <a:defRPr lang="en-US" sz="1600" b="1" kern="1200" smtClean="0">
                  <a:solidFill>
                    <a:srgbClr val="4D4D4D"/>
                  </a:solidFill>
                  <a:latin typeface="+mn-lt"/>
                  <a:ea typeface="+mn-ea"/>
                  <a:cs typeface="+mn-cs"/>
                  <a:sym typeface="+mn-lt"/>
                </a:defRPr>
              </a:lvl5pPr>
              <a:lvl6pPr marL="269875" indent="-152400" algn="l" defTabSz="914400" rtl="0" eaLnBrk="1" latinLnBrk="0" hangingPunct="1">
                <a:lnSpc>
                  <a:spcPct val="90000"/>
                </a:lnSpc>
                <a:spcBef>
                  <a:spcPts val="0"/>
                </a:spcBef>
                <a:spcAft>
                  <a:spcPts val="600"/>
                </a:spcAft>
                <a:buClr>
                  <a:srgbClr val="DC0532"/>
                </a:buClr>
                <a:buFont typeface="Arial" panose="020B0604020202020204" pitchFamily="34" charset="0"/>
                <a:buChar char="•"/>
                <a:defRPr lang="en-US" sz="1600" kern="1200" smtClean="0">
                  <a:solidFill>
                    <a:srgbClr val="4D4D4D"/>
                  </a:solidFill>
                  <a:latin typeface="+mn-lt"/>
                  <a:ea typeface="+mn-ea"/>
                  <a:cs typeface="+mn-cs"/>
                  <a:sym typeface="+mn-lt"/>
                </a:defRPr>
              </a:lvl6pPr>
              <a:lvl7pPr marL="0" indent="0" algn="l" defTabSz="914400" rtl="0" eaLnBrk="1" latinLnBrk="0" hangingPunct="1">
                <a:lnSpc>
                  <a:spcPct val="90000"/>
                </a:lnSpc>
                <a:spcBef>
                  <a:spcPts val="900"/>
                </a:spcBef>
                <a:spcAft>
                  <a:spcPts val="900"/>
                </a:spcAft>
                <a:buClr>
                  <a:srgbClr val="DC0532"/>
                </a:buClr>
                <a:buFont typeface="Arial" panose="020B0604020202020204" pitchFamily="34" charset="0"/>
                <a:buChar char="​"/>
                <a:defRPr lang="en-US" sz="4400" kern="1200" baseline="0" smtClean="0">
                  <a:solidFill>
                    <a:srgbClr val="4D4D4D"/>
                  </a:solidFill>
                  <a:latin typeface="+mn-lt"/>
                  <a:ea typeface="+mn-ea"/>
                  <a:cs typeface="+mn-cs"/>
                  <a:sym typeface="+mn-lt"/>
                </a:defRPr>
              </a:lvl7pPr>
              <a:lvl8pPr marL="0" indent="0" algn="l" defTabSz="914400" rtl="0" eaLnBrk="1" latinLnBrk="0" hangingPunct="1">
                <a:lnSpc>
                  <a:spcPct val="90000"/>
                </a:lnSpc>
                <a:spcBef>
                  <a:spcPts val="900"/>
                </a:spcBef>
                <a:spcAft>
                  <a:spcPts val="0"/>
                </a:spcAft>
                <a:buClr>
                  <a:srgbClr val="DC0532"/>
                </a:buClr>
                <a:buFont typeface="Arial" panose="020B0604020202020204" pitchFamily="34" charset="0"/>
                <a:buChar char="​"/>
                <a:defRPr lang="en-US" sz="5400" kern="1200" baseline="0" smtClean="0">
                  <a:solidFill>
                    <a:srgbClr val="DC0532"/>
                  </a:solidFill>
                  <a:latin typeface="+mn-lt"/>
                  <a:ea typeface="+mn-ea"/>
                  <a:cs typeface="+mn-cs"/>
                  <a:sym typeface="+mn-lt"/>
                </a:defRPr>
              </a:lvl8pPr>
              <a:lvl9pPr marL="0" indent="0" algn="l" defTabSz="914400" rtl="0" eaLnBrk="1" latinLnBrk="0" hangingPunct="1">
                <a:lnSpc>
                  <a:spcPct val="100000"/>
                </a:lnSpc>
                <a:spcBef>
                  <a:spcPts val="0"/>
                </a:spcBef>
                <a:spcAft>
                  <a:spcPts val="900"/>
                </a:spcAft>
                <a:buClr>
                  <a:srgbClr val="DC0532"/>
                </a:buClr>
                <a:buFont typeface="Arial" panose="020B0604020202020204" pitchFamily="34" charset="0"/>
                <a:buChar char="​"/>
                <a:defRPr lang="en-US" sz="2400" kern="1200" baseline="0" dirty="0">
                  <a:solidFill>
                    <a:srgbClr val="DC0532"/>
                  </a:solidFill>
                  <a:latin typeface="+mn-lt"/>
                  <a:ea typeface="+mn-ea"/>
                  <a:cs typeface="+mn-cs"/>
                  <a:sym typeface="+mn-lt"/>
                </a:defRPr>
              </a:lvl9pPr>
            </a:lstStyle>
            <a:p>
              <a:pPr marL="10104">
                <a:lnSpc>
                  <a:spcPct val="100000"/>
                </a:lnSpc>
                <a:spcBef>
                  <a:spcPts val="75"/>
                </a:spcBef>
              </a:pPr>
              <a:r>
                <a:rPr lang="en-ZA" sz="1400" spc="-4"/>
                <a:t>Have an </a:t>
              </a:r>
              <a:r>
                <a:rPr lang="en-ZA" sz="1400" spc="-4">
                  <a:solidFill>
                    <a:schemeClr val="tx2"/>
                  </a:solidFill>
                </a:rPr>
                <a:t>operating model </a:t>
              </a:r>
              <a:r>
                <a:rPr lang="en-ZA" sz="1400" spc="-4"/>
                <a:t>with fully agile teams, with analytics forming an integral part of BU roadmaps</a:t>
              </a:r>
            </a:p>
          </p:txBody>
        </p:sp>
      </p:grpSp>
      <p:grpSp>
        <p:nvGrpSpPr>
          <p:cNvPr id="103" name="Group 102">
            <a:extLst>
              <a:ext uri="{FF2B5EF4-FFF2-40B4-BE49-F238E27FC236}">
                <a16:creationId xmlns:a16="http://schemas.microsoft.com/office/drawing/2014/main" id="{FB0805E2-5C03-4A98-B75D-20B768BAA25E}"/>
              </a:ext>
            </a:extLst>
          </p:cNvPr>
          <p:cNvGrpSpPr/>
          <p:nvPr/>
        </p:nvGrpSpPr>
        <p:grpSpPr>
          <a:xfrm>
            <a:off x="6567561" y="4697878"/>
            <a:ext cx="4995639" cy="871466"/>
            <a:chOff x="6567561" y="4576043"/>
            <a:chExt cx="4995639" cy="871466"/>
          </a:xfrm>
        </p:grpSpPr>
        <p:grpSp>
          <p:nvGrpSpPr>
            <p:cNvPr id="90" name="bcgIcons_GoToMarket">
              <a:extLst>
                <a:ext uri="{FF2B5EF4-FFF2-40B4-BE49-F238E27FC236}">
                  <a16:creationId xmlns:a16="http://schemas.microsoft.com/office/drawing/2014/main" id="{BD7C5A6A-E756-4BE9-A756-CE02BFB22EC0}"/>
                </a:ext>
              </a:extLst>
            </p:cNvPr>
            <p:cNvGrpSpPr>
              <a:grpSpLocks noChangeAspect="1"/>
            </p:cNvGrpSpPr>
            <p:nvPr/>
          </p:nvGrpSpPr>
          <p:grpSpPr bwMode="auto">
            <a:xfrm>
              <a:off x="6567561" y="4626843"/>
              <a:ext cx="553485" cy="553998"/>
              <a:chOff x="1682" y="0"/>
              <a:chExt cx="4316" cy="4320"/>
            </a:xfrm>
          </p:grpSpPr>
          <p:sp>
            <p:nvSpPr>
              <p:cNvPr id="91" name="AutoShape 14">
                <a:extLst>
                  <a:ext uri="{FF2B5EF4-FFF2-40B4-BE49-F238E27FC236}">
                    <a16:creationId xmlns:a16="http://schemas.microsoft.com/office/drawing/2014/main" id="{54A31BB3-65A3-4792-97E9-651FF0DB108C}"/>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sp>
            <p:nvSpPr>
              <p:cNvPr id="92" name="Freeform 16">
                <a:extLst>
                  <a:ext uri="{FF2B5EF4-FFF2-40B4-BE49-F238E27FC236}">
                    <a16:creationId xmlns:a16="http://schemas.microsoft.com/office/drawing/2014/main" id="{CB68A94C-02F9-45B9-A097-5A6F766A8C9B}"/>
                  </a:ext>
                </a:extLst>
              </p:cNvPr>
              <p:cNvSpPr>
                <a:spLocks noEditPoints="1"/>
              </p:cNvSpPr>
              <p:nvPr/>
            </p:nvSpPr>
            <p:spPr bwMode="auto">
              <a:xfrm>
                <a:off x="2574" y="296"/>
                <a:ext cx="2605" cy="2697"/>
              </a:xfrm>
              <a:custGeom>
                <a:avLst/>
                <a:gdLst>
                  <a:gd name="T0" fmla="*/ 540 w 1391"/>
                  <a:gd name="T1" fmla="*/ 461 h 1438"/>
                  <a:gd name="T2" fmla="*/ 144 w 1391"/>
                  <a:gd name="T3" fmla="*/ 866 h 1438"/>
                  <a:gd name="T4" fmla="*/ 204 w 1391"/>
                  <a:gd name="T5" fmla="*/ 1230 h 1438"/>
                  <a:gd name="T6" fmla="*/ 235 w 1391"/>
                  <a:gd name="T7" fmla="*/ 1261 h 1438"/>
                  <a:gd name="T8" fmla="*/ 122 w 1391"/>
                  <a:gd name="T9" fmla="*/ 1364 h 1438"/>
                  <a:gd name="T10" fmla="*/ 121 w 1391"/>
                  <a:gd name="T11" fmla="*/ 1364 h 1438"/>
                  <a:gd name="T12" fmla="*/ 8 w 1391"/>
                  <a:gd name="T13" fmla="*/ 1258 h 1438"/>
                  <a:gd name="T14" fmla="*/ 40 w 1391"/>
                  <a:gd name="T15" fmla="*/ 1228 h 1438"/>
                  <a:gd name="T16" fmla="*/ 100 w 1391"/>
                  <a:gd name="T17" fmla="*/ 857 h 1438"/>
                  <a:gd name="T18" fmla="*/ 496 w 1391"/>
                  <a:gd name="T19" fmla="*/ 452 h 1438"/>
                  <a:gd name="T20" fmla="*/ 518 w 1391"/>
                  <a:gd name="T21" fmla="*/ 0 h 1438"/>
                  <a:gd name="T22" fmla="*/ 758 w 1391"/>
                  <a:gd name="T23" fmla="*/ 746 h 1438"/>
                  <a:gd name="T24" fmla="*/ 699 w 1391"/>
                  <a:gd name="T25" fmla="*/ 22 h 1438"/>
                  <a:gd name="T26" fmla="*/ 655 w 1391"/>
                  <a:gd name="T27" fmla="*/ 22 h 1438"/>
                  <a:gd name="T28" fmla="*/ 594 w 1391"/>
                  <a:gd name="T29" fmla="*/ 744 h 1438"/>
                  <a:gd name="T30" fmla="*/ 562 w 1391"/>
                  <a:gd name="T31" fmla="*/ 775 h 1438"/>
                  <a:gd name="T32" fmla="*/ 674 w 1391"/>
                  <a:gd name="T33" fmla="*/ 880 h 1438"/>
                  <a:gd name="T34" fmla="*/ 690 w 1391"/>
                  <a:gd name="T35" fmla="*/ 874 h 1438"/>
                  <a:gd name="T36" fmla="*/ 790 w 1391"/>
                  <a:gd name="T37" fmla="*/ 747 h 1438"/>
                  <a:gd name="T38" fmla="*/ 1111 w 1391"/>
                  <a:gd name="T39" fmla="*/ 886 h 1438"/>
                  <a:gd name="T40" fmla="*/ 1051 w 1391"/>
                  <a:gd name="T41" fmla="*/ 726 h 1438"/>
                  <a:gd name="T42" fmla="*/ 858 w 1391"/>
                  <a:gd name="T43" fmla="*/ 524 h 1438"/>
                  <a:gd name="T44" fmla="*/ 836 w 1391"/>
                  <a:gd name="T45" fmla="*/ 0 h 1438"/>
                  <a:gd name="T46" fmla="*/ 814 w 1391"/>
                  <a:gd name="T47" fmla="*/ 533 h 1438"/>
                  <a:gd name="T48" fmla="*/ 1007 w 1391"/>
                  <a:gd name="T49" fmla="*/ 735 h 1438"/>
                  <a:gd name="T50" fmla="*/ 947 w 1391"/>
                  <a:gd name="T51" fmla="*/ 884 h 1438"/>
                  <a:gd name="T52" fmla="*/ 915 w 1391"/>
                  <a:gd name="T53" fmla="*/ 915 h 1438"/>
                  <a:gd name="T54" fmla="*/ 1027 w 1391"/>
                  <a:gd name="T55" fmla="*/ 1021 h 1438"/>
                  <a:gd name="T56" fmla="*/ 1043 w 1391"/>
                  <a:gd name="T57" fmla="*/ 1014 h 1438"/>
                  <a:gd name="T58" fmla="*/ 1142 w 1391"/>
                  <a:gd name="T59" fmla="*/ 887 h 1438"/>
                  <a:gd name="T60" fmla="*/ 1383 w 1391"/>
                  <a:gd name="T61" fmla="*/ 1304 h 1438"/>
                  <a:gd name="T62" fmla="*/ 1291 w 1391"/>
                  <a:gd name="T63" fmla="*/ 1362 h 1438"/>
                  <a:gd name="T64" fmla="*/ 1285 w 1391"/>
                  <a:gd name="T65" fmla="*/ 618 h 1438"/>
                  <a:gd name="T66" fmla="*/ 1016 w 1391"/>
                  <a:gd name="T67" fmla="*/ 22 h 1438"/>
                  <a:gd name="T68" fmla="*/ 972 w 1391"/>
                  <a:gd name="T69" fmla="*/ 22 h 1438"/>
                  <a:gd name="T70" fmla="*/ 979 w 1391"/>
                  <a:gd name="T71" fmla="*/ 373 h 1438"/>
                  <a:gd name="T72" fmla="*/ 1247 w 1391"/>
                  <a:gd name="T73" fmla="*/ 1363 h 1438"/>
                  <a:gd name="T74" fmla="*/ 1156 w 1391"/>
                  <a:gd name="T75" fmla="*/ 1301 h 1438"/>
                  <a:gd name="T76" fmla="*/ 1252 w 1391"/>
                  <a:gd name="T77" fmla="*/ 1431 h 1438"/>
                  <a:gd name="T78" fmla="*/ 1268 w 1391"/>
                  <a:gd name="T79" fmla="*/ 1438 h 1438"/>
                  <a:gd name="T80" fmla="*/ 1288 w 1391"/>
                  <a:gd name="T81" fmla="*/ 1427 h 1438"/>
                  <a:gd name="T82" fmla="*/ 1383 w 1391"/>
                  <a:gd name="T83" fmla="*/ 1304 h 1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91" h="1438">
                    <a:moveTo>
                      <a:pt x="540" y="22"/>
                    </a:moveTo>
                    <a:cubicBezTo>
                      <a:pt x="540" y="461"/>
                      <a:pt x="540" y="461"/>
                      <a:pt x="540" y="461"/>
                    </a:cubicBezTo>
                    <a:cubicBezTo>
                      <a:pt x="540" y="467"/>
                      <a:pt x="538" y="472"/>
                      <a:pt x="534" y="476"/>
                    </a:cubicBezTo>
                    <a:cubicBezTo>
                      <a:pt x="144" y="866"/>
                      <a:pt x="144" y="866"/>
                      <a:pt x="144" y="866"/>
                    </a:cubicBezTo>
                    <a:cubicBezTo>
                      <a:pt x="144" y="1289"/>
                      <a:pt x="144" y="1289"/>
                      <a:pt x="144" y="1289"/>
                    </a:cubicBezTo>
                    <a:cubicBezTo>
                      <a:pt x="204" y="1230"/>
                      <a:pt x="204" y="1230"/>
                      <a:pt x="204" y="1230"/>
                    </a:cubicBezTo>
                    <a:cubicBezTo>
                      <a:pt x="213" y="1221"/>
                      <a:pt x="227" y="1221"/>
                      <a:pt x="235" y="1230"/>
                    </a:cubicBezTo>
                    <a:cubicBezTo>
                      <a:pt x="244" y="1239"/>
                      <a:pt x="244" y="1253"/>
                      <a:pt x="235" y="1261"/>
                    </a:cubicBezTo>
                    <a:cubicBezTo>
                      <a:pt x="141" y="1353"/>
                      <a:pt x="141" y="1353"/>
                      <a:pt x="141" y="1353"/>
                    </a:cubicBezTo>
                    <a:cubicBezTo>
                      <a:pt x="137" y="1360"/>
                      <a:pt x="130" y="1364"/>
                      <a:pt x="122" y="1364"/>
                    </a:cubicBezTo>
                    <a:cubicBezTo>
                      <a:pt x="122" y="1364"/>
                      <a:pt x="121" y="1364"/>
                      <a:pt x="121" y="1364"/>
                    </a:cubicBezTo>
                    <a:cubicBezTo>
                      <a:pt x="121" y="1364"/>
                      <a:pt x="121" y="1364"/>
                      <a:pt x="121" y="1364"/>
                    </a:cubicBezTo>
                    <a:cubicBezTo>
                      <a:pt x="115" y="1364"/>
                      <a:pt x="109" y="1362"/>
                      <a:pt x="105" y="1357"/>
                    </a:cubicBezTo>
                    <a:cubicBezTo>
                      <a:pt x="8" y="1258"/>
                      <a:pt x="8" y="1258"/>
                      <a:pt x="8" y="1258"/>
                    </a:cubicBezTo>
                    <a:cubicBezTo>
                      <a:pt x="0" y="1250"/>
                      <a:pt x="0" y="1236"/>
                      <a:pt x="9" y="1227"/>
                    </a:cubicBezTo>
                    <a:cubicBezTo>
                      <a:pt x="18" y="1219"/>
                      <a:pt x="31" y="1219"/>
                      <a:pt x="40" y="1228"/>
                    </a:cubicBezTo>
                    <a:cubicBezTo>
                      <a:pt x="100" y="1289"/>
                      <a:pt x="100" y="1289"/>
                      <a:pt x="100" y="1289"/>
                    </a:cubicBezTo>
                    <a:cubicBezTo>
                      <a:pt x="100" y="857"/>
                      <a:pt x="100" y="857"/>
                      <a:pt x="100" y="857"/>
                    </a:cubicBezTo>
                    <a:cubicBezTo>
                      <a:pt x="100" y="851"/>
                      <a:pt x="102" y="846"/>
                      <a:pt x="106" y="842"/>
                    </a:cubicBezTo>
                    <a:cubicBezTo>
                      <a:pt x="496" y="452"/>
                      <a:pt x="496" y="452"/>
                      <a:pt x="496" y="452"/>
                    </a:cubicBezTo>
                    <a:cubicBezTo>
                      <a:pt x="496" y="22"/>
                      <a:pt x="496" y="22"/>
                      <a:pt x="496" y="22"/>
                    </a:cubicBezTo>
                    <a:cubicBezTo>
                      <a:pt x="496" y="10"/>
                      <a:pt x="506" y="0"/>
                      <a:pt x="518" y="0"/>
                    </a:cubicBezTo>
                    <a:cubicBezTo>
                      <a:pt x="531" y="0"/>
                      <a:pt x="540" y="10"/>
                      <a:pt x="540" y="22"/>
                    </a:cubicBezTo>
                    <a:close/>
                    <a:moveTo>
                      <a:pt x="758" y="746"/>
                    </a:moveTo>
                    <a:cubicBezTo>
                      <a:pt x="699" y="804"/>
                      <a:pt x="699" y="804"/>
                      <a:pt x="699" y="804"/>
                    </a:cubicBezTo>
                    <a:cubicBezTo>
                      <a:pt x="699" y="22"/>
                      <a:pt x="699" y="22"/>
                      <a:pt x="699" y="22"/>
                    </a:cubicBezTo>
                    <a:cubicBezTo>
                      <a:pt x="699" y="10"/>
                      <a:pt x="689" y="0"/>
                      <a:pt x="677" y="0"/>
                    </a:cubicBezTo>
                    <a:cubicBezTo>
                      <a:pt x="665" y="0"/>
                      <a:pt x="655" y="10"/>
                      <a:pt x="655" y="22"/>
                    </a:cubicBezTo>
                    <a:cubicBezTo>
                      <a:pt x="655" y="807"/>
                      <a:pt x="655" y="807"/>
                      <a:pt x="655" y="807"/>
                    </a:cubicBezTo>
                    <a:cubicBezTo>
                      <a:pt x="594" y="744"/>
                      <a:pt x="594" y="744"/>
                      <a:pt x="594" y="744"/>
                    </a:cubicBezTo>
                    <a:cubicBezTo>
                      <a:pt x="586" y="735"/>
                      <a:pt x="572" y="735"/>
                      <a:pt x="563" y="744"/>
                    </a:cubicBezTo>
                    <a:cubicBezTo>
                      <a:pt x="554" y="752"/>
                      <a:pt x="554" y="766"/>
                      <a:pt x="562" y="775"/>
                    </a:cubicBezTo>
                    <a:cubicBezTo>
                      <a:pt x="659" y="874"/>
                      <a:pt x="659" y="874"/>
                      <a:pt x="659" y="874"/>
                    </a:cubicBezTo>
                    <a:cubicBezTo>
                      <a:pt x="663" y="878"/>
                      <a:pt x="669" y="880"/>
                      <a:pt x="674" y="880"/>
                    </a:cubicBezTo>
                    <a:cubicBezTo>
                      <a:pt x="675" y="880"/>
                      <a:pt x="675" y="880"/>
                      <a:pt x="675" y="880"/>
                    </a:cubicBezTo>
                    <a:cubicBezTo>
                      <a:pt x="680" y="880"/>
                      <a:pt x="686" y="878"/>
                      <a:pt x="690" y="874"/>
                    </a:cubicBezTo>
                    <a:cubicBezTo>
                      <a:pt x="789" y="778"/>
                      <a:pt x="789" y="778"/>
                      <a:pt x="789" y="778"/>
                    </a:cubicBezTo>
                    <a:cubicBezTo>
                      <a:pt x="798" y="769"/>
                      <a:pt x="798" y="755"/>
                      <a:pt x="790" y="747"/>
                    </a:cubicBezTo>
                    <a:cubicBezTo>
                      <a:pt x="781" y="738"/>
                      <a:pt x="767" y="738"/>
                      <a:pt x="758" y="746"/>
                    </a:cubicBezTo>
                    <a:close/>
                    <a:moveTo>
                      <a:pt x="1111" y="886"/>
                    </a:moveTo>
                    <a:cubicBezTo>
                      <a:pt x="1051" y="945"/>
                      <a:pt x="1051" y="945"/>
                      <a:pt x="1051" y="945"/>
                    </a:cubicBezTo>
                    <a:cubicBezTo>
                      <a:pt x="1051" y="726"/>
                      <a:pt x="1051" y="726"/>
                      <a:pt x="1051" y="726"/>
                    </a:cubicBezTo>
                    <a:cubicBezTo>
                      <a:pt x="1051" y="720"/>
                      <a:pt x="1048" y="715"/>
                      <a:pt x="1044" y="710"/>
                    </a:cubicBezTo>
                    <a:cubicBezTo>
                      <a:pt x="858" y="524"/>
                      <a:pt x="858" y="524"/>
                      <a:pt x="858" y="524"/>
                    </a:cubicBezTo>
                    <a:cubicBezTo>
                      <a:pt x="858" y="22"/>
                      <a:pt x="858" y="22"/>
                      <a:pt x="858" y="22"/>
                    </a:cubicBezTo>
                    <a:cubicBezTo>
                      <a:pt x="858" y="10"/>
                      <a:pt x="848" y="0"/>
                      <a:pt x="836" y="0"/>
                    </a:cubicBezTo>
                    <a:cubicBezTo>
                      <a:pt x="823" y="0"/>
                      <a:pt x="814" y="10"/>
                      <a:pt x="814" y="22"/>
                    </a:cubicBezTo>
                    <a:cubicBezTo>
                      <a:pt x="814" y="533"/>
                      <a:pt x="814" y="533"/>
                      <a:pt x="814" y="533"/>
                    </a:cubicBezTo>
                    <a:cubicBezTo>
                      <a:pt x="814" y="539"/>
                      <a:pt x="816" y="545"/>
                      <a:pt x="820" y="549"/>
                    </a:cubicBezTo>
                    <a:cubicBezTo>
                      <a:pt x="1007" y="735"/>
                      <a:pt x="1007" y="735"/>
                      <a:pt x="1007" y="735"/>
                    </a:cubicBezTo>
                    <a:cubicBezTo>
                      <a:pt x="1007" y="946"/>
                      <a:pt x="1007" y="946"/>
                      <a:pt x="1007" y="946"/>
                    </a:cubicBezTo>
                    <a:cubicBezTo>
                      <a:pt x="947" y="884"/>
                      <a:pt x="947" y="884"/>
                      <a:pt x="947" y="884"/>
                    </a:cubicBezTo>
                    <a:cubicBezTo>
                      <a:pt x="938" y="875"/>
                      <a:pt x="924" y="875"/>
                      <a:pt x="916" y="884"/>
                    </a:cubicBezTo>
                    <a:cubicBezTo>
                      <a:pt x="907" y="892"/>
                      <a:pt x="907" y="906"/>
                      <a:pt x="915" y="915"/>
                    </a:cubicBezTo>
                    <a:cubicBezTo>
                      <a:pt x="1012" y="1014"/>
                      <a:pt x="1012" y="1014"/>
                      <a:pt x="1012" y="1014"/>
                    </a:cubicBezTo>
                    <a:cubicBezTo>
                      <a:pt x="1016" y="1018"/>
                      <a:pt x="1021" y="1020"/>
                      <a:pt x="1027" y="1021"/>
                    </a:cubicBezTo>
                    <a:cubicBezTo>
                      <a:pt x="1027" y="1021"/>
                      <a:pt x="1027" y="1021"/>
                      <a:pt x="1027" y="1021"/>
                    </a:cubicBezTo>
                    <a:cubicBezTo>
                      <a:pt x="1033" y="1021"/>
                      <a:pt x="1039" y="1018"/>
                      <a:pt x="1043" y="1014"/>
                    </a:cubicBezTo>
                    <a:cubicBezTo>
                      <a:pt x="1142" y="918"/>
                      <a:pt x="1142" y="918"/>
                      <a:pt x="1142" y="918"/>
                    </a:cubicBezTo>
                    <a:cubicBezTo>
                      <a:pt x="1151" y="909"/>
                      <a:pt x="1151" y="895"/>
                      <a:pt x="1142" y="887"/>
                    </a:cubicBezTo>
                    <a:cubicBezTo>
                      <a:pt x="1134" y="878"/>
                      <a:pt x="1120" y="878"/>
                      <a:pt x="1111" y="886"/>
                    </a:cubicBezTo>
                    <a:close/>
                    <a:moveTo>
                      <a:pt x="1383" y="1304"/>
                    </a:moveTo>
                    <a:cubicBezTo>
                      <a:pt x="1374" y="1295"/>
                      <a:pt x="1360" y="1295"/>
                      <a:pt x="1351" y="1304"/>
                    </a:cubicBezTo>
                    <a:cubicBezTo>
                      <a:pt x="1291" y="1362"/>
                      <a:pt x="1291" y="1362"/>
                      <a:pt x="1291" y="1362"/>
                    </a:cubicBezTo>
                    <a:cubicBezTo>
                      <a:pt x="1291" y="634"/>
                      <a:pt x="1291" y="634"/>
                      <a:pt x="1291" y="634"/>
                    </a:cubicBezTo>
                    <a:cubicBezTo>
                      <a:pt x="1291" y="628"/>
                      <a:pt x="1289" y="623"/>
                      <a:pt x="1285" y="618"/>
                    </a:cubicBezTo>
                    <a:cubicBezTo>
                      <a:pt x="1016" y="348"/>
                      <a:pt x="1016" y="348"/>
                      <a:pt x="1016" y="348"/>
                    </a:cubicBezTo>
                    <a:cubicBezTo>
                      <a:pt x="1016" y="22"/>
                      <a:pt x="1016" y="22"/>
                      <a:pt x="1016" y="22"/>
                    </a:cubicBezTo>
                    <a:cubicBezTo>
                      <a:pt x="1016" y="10"/>
                      <a:pt x="1006" y="0"/>
                      <a:pt x="994" y="0"/>
                    </a:cubicBezTo>
                    <a:cubicBezTo>
                      <a:pt x="982" y="0"/>
                      <a:pt x="972" y="10"/>
                      <a:pt x="972" y="22"/>
                    </a:cubicBezTo>
                    <a:cubicBezTo>
                      <a:pt x="972" y="357"/>
                      <a:pt x="972" y="357"/>
                      <a:pt x="972" y="357"/>
                    </a:cubicBezTo>
                    <a:cubicBezTo>
                      <a:pt x="972" y="363"/>
                      <a:pt x="975" y="368"/>
                      <a:pt x="979" y="373"/>
                    </a:cubicBezTo>
                    <a:cubicBezTo>
                      <a:pt x="1247" y="643"/>
                      <a:pt x="1247" y="643"/>
                      <a:pt x="1247" y="643"/>
                    </a:cubicBezTo>
                    <a:cubicBezTo>
                      <a:pt x="1247" y="1363"/>
                      <a:pt x="1247" y="1363"/>
                      <a:pt x="1247" y="1363"/>
                    </a:cubicBezTo>
                    <a:cubicBezTo>
                      <a:pt x="1187" y="1301"/>
                      <a:pt x="1187" y="1301"/>
                      <a:pt x="1187" y="1301"/>
                    </a:cubicBezTo>
                    <a:cubicBezTo>
                      <a:pt x="1179" y="1293"/>
                      <a:pt x="1165" y="1293"/>
                      <a:pt x="1156" y="1301"/>
                    </a:cubicBezTo>
                    <a:cubicBezTo>
                      <a:pt x="1147" y="1310"/>
                      <a:pt x="1147" y="1323"/>
                      <a:pt x="1155" y="1332"/>
                    </a:cubicBezTo>
                    <a:cubicBezTo>
                      <a:pt x="1252" y="1431"/>
                      <a:pt x="1252" y="1431"/>
                      <a:pt x="1252" y="1431"/>
                    </a:cubicBezTo>
                    <a:cubicBezTo>
                      <a:pt x="1256" y="1436"/>
                      <a:pt x="1262" y="1438"/>
                      <a:pt x="1268" y="1438"/>
                    </a:cubicBezTo>
                    <a:cubicBezTo>
                      <a:pt x="1268" y="1438"/>
                      <a:pt x="1268" y="1438"/>
                      <a:pt x="1268" y="1438"/>
                    </a:cubicBezTo>
                    <a:cubicBezTo>
                      <a:pt x="1268" y="1438"/>
                      <a:pt x="1269" y="1438"/>
                      <a:pt x="1269" y="1438"/>
                    </a:cubicBezTo>
                    <a:cubicBezTo>
                      <a:pt x="1277" y="1438"/>
                      <a:pt x="1284" y="1433"/>
                      <a:pt x="1288" y="1427"/>
                    </a:cubicBezTo>
                    <a:cubicBezTo>
                      <a:pt x="1382" y="1335"/>
                      <a:pt x="1382" y="1335"/>
                      <a:pt x="1382" y="1335"/>
                    </a:cubicBezTo>
                    <a:cubicBezTo>
                      <a:pt x="1391" y="1327"/>
                      <a:pt x="1391" y="1313"/>
                      <a:pt x="1383" y="130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sp>
            <p:nvSpPr>
              <p:cNvPr id="93" name="Freeform 17">
                <a:extLst>
                  <a:ext uri="{FF2B5EF4-FFF2-40B4-BE49-F238E27FC236}">
                    <a16:creationId xmlns:a16="http://schemas.microsoft.com/office/drawing/2014/main" id="{A18BF6B2-E778-4E29-9D0F-9143C6684F07}"/>
                  </a:ext>
                </a:extLst>
              </p:cNvPr>
              <p:cNvSpPr>
                <a:spLocks noEditPoints="1"/>
              </p:cNvSpPr>
              <p:nvPr/>
            </p:nvSpPr>
            <p:spPr bwMode="auto">
              <a:xfrm>
                <a:off x="2317" y="2081"/>
                <a:ext cx="3125" cy="1986"/>
              </a:xfrm>
              <a:custGeom>
                <a:avLst/>
                <a:gdLst>
                  <a:gd name="T0" fmla="*/ 554 w 1668"/>
                  <a:gd name="T1" fmla="*/ 259 h 1059"/>
                  <a:gd name="T2" fmla="*/ 1072 w 1668"/>
                  <a:gd name="T3" fmla="*/ 259 h 1059"/>
                  <a:gd name="T4" fmla="*/ 956 w 1668"/>
                  <a:gd name="T5" fmla="*/ 273 h 1059"/>
                  <a:gd name="T6" fmla="*/ 927 w 1668"/>
                  <a:gd name="T7" fmla="*/ 331 h 1059"/>
                  <a:gd name="T8" fmla="*/ 917 w 1668"/>
                  <a:gd name="T9" fmla="*/ 367 h 1059"/>
                  <a:gd name="T10" fmla="*/ 856 w 1668"/>
                  <a:gd name="T11" fmla="*/ 423 h 1059"/>
                  <a:gd name="T12" fmla="*/ 848 w 1668"/>
                  <a:gd name="T13" fmla="*/ 431 h 1059"/>
                  <a:gd name="T14" fmla="*/ 724 w 1668"/>
                  <a:gd name="T15" fmla="*/ 403 h 1059"/>
                  <a:gd name="T16" fmla="*/ 679 w 1668"/>
                  <a:gd name="T17" fmla="*/ 168 h 1059"/>
                  <a:gd name="T18" fmla="*/ 940 w 1668"/>
                  <a:gd name="T19" fmla="*/ 107 h 1059"/>
                  <a:gd name="T20" fmla="*/ 918 w 1668"/>
                  <a:gd name="T21" fmla="*/ 152 h 1059"/>
                  <a:gd name="T22" fmla="*/ 919 w 1668"/>
                  <a:gd name="T23" fmla="*/ 186 h 1059"/>
                  <a:gd name="T24" fmla="*/ 927 w 1668"/>
                  <a:gd name="T25" fmla="*/ 218 h 1059"/>
                  <a:gd name="T26" fmla="*/ 942 w 1668"/>
                  <a:gd name="T27" fmla="*/ 246 h 1059"/>
                  <a:gd name="T28" fmla="*/ 1409 w 1668"/>
                  <a:gd name="T29" fmla="*/ 542 h 1059"/>
                  <a:gd name="T30" fmla="*/ 1409 w 1668"/>
                  <a:gd name="T31" fmla="*/ 1059 h 1059"/>
                  <a:gd name="T32" fmla="*/ 1409 w 1668"/>
                  <a:gd name="T33" fmla="*/ 542 h 1059"/>
                  <a:gd name="T34" fmla="*/ 1498 w 1668"/>
                  <a:gd name="T35" fmla="*/ 944 h 1059"/>
                  <a:gd name="T36" fmla="*/ 1374 w 1668"/>
                  <a:gd name="T37" fmla="*/ 972 h 1059"/>
                  <a:gd name="T38" fmla="*/ 1366 w 1668"/>
                  <a:gd name="T39" fmla="*/ 965 h 1059"/>
                  <a:gd name="T40" fmla="*/ 1305 w 1668"/>
                  <a:gd name="T41" fmla="*/ 909 h 1059"/>
                  <a:gd name="T42" fmla="*/ 1295 w 1668"/>
                  <a:gd name="T43" fmla="*/ 873 h 1059"/>
                  <a:gd name="T44" fmla="*/ 1266 w 1668"/>
                  <a:gd name="T45" fmla="*/ 815 h 1059"/>
                  <a:gd name="T46" fmla="*/ 1282 w 1668"/>
                  <a:gd name="T47" fmla="*/ 785 h 1059"/>
                  <a:gd name="T48" fmla="*/ 1298 w 1668"/>
                  <a:gd name="T49" fmla="*/ 747 h 1059"/>
                  <a:gd name="T50" fmla="*/ 1307 w 1668"/>
                  <a:gd name="T51" fmla="*/ 692 h 1059"/>
                  <a:gd name="T52" fmla="*/ 1303 w 1668"/>
                  <a:gd name="T53" fmla="*/ 692 h 1059"/>
                  <a:gd name="T54" fmla="*/ 1417 w 1668"/>
                  <a:gd name="T55" fmla="*/ 629 h 1059"/>
                  <a:gd name="T56" fmla="*/ 1498 w 1668"/>
                  <a:gd name="T57" fmla="*/ 868 h 1059"/>
                  <a:gd name="T58" fmla="*/ 0 w 1668"/>
                  <a:gd name="T59" fmla="*/ 721 h 1059"/>
                  <a:gd name="T60" fmla="*/ 518 w 1668"/>
                  <a:gd name="T61" fmla="*/ 721 h 1059"/>
                  <a:gd name="T62" fmla="*/ 406 w 1668"/>
                  <a:gd name="T63" fmla="*/ 737 h 1059"/>
                  <a:gd name="T64" fmla="*/ 376 w 1668"/>
                  <a:gd name="T65" fmla="*/ 775 h 1059"/>
                  <a:gd name="T66" fmla="*/ 327 w 1668"/>
                  <a:gd name="T67" fmla="*/ 826 h 1059"/>
                  <a:gd name="T68" fmla="*/ 304 w 1668"/>
                  <a:gd name="T69" fmla="*/ 882 h 1059"/>
                  <a:gd name="T70" fmla="*/ 289 w 1668"/>
                  <a:gd name="T71" fmla="*/ 890 h 1059"/>
                  <a:gd name="T72" fmla="*/ 202 w 1668"/>
                  <a:gd name="T73" fmla="*/ 863 h 1059"/>
                  <a:gd name="T74" fmla="*/ 132 w 1668"/>
                  <a:gd name="T75" fmla="*/ 627 h 1059"/>
                  <a:gd name="T76" fmla="*/ 371 w 1668"/>
                  <a:gd name="T77" fmla="*/ 606 h 1059"/>
                  <a:gd name="T78" fmla="*/ 377 w 1668"/>
                  <a:gd name="T79" fmla="*/ 654 h 1059"/>
                  <a:gd name="T80" fmla="*/ 394 w 1668"/>
                  <a:gd name="T81" fmla="*/ 709 h 1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68" h="1059">
                    <a:moveTo>
                      <a:pt x="813" y="0"/>
                    </a:moveTo>
                    <a:cubicBezTo>
                      <a:pt x="670" y="0"/>
                      <a:pt x="554" y="116"/>
                      <a:pt x="554" y="259"/>
                    </a:cubicBezTo>
                    <a:cubicBezTo>
                      <a:pt x="554" y="402"/>
                      <a:pt x="670" y="518"/>
                      <a:pt x="813" y="518"/>
                    </a:cubicBezTo>
                    <a:cubicBezTo>
                      <a:pt x="956" y="518"/>
                      <a:pt x="1072" y="402"/>
                      <a:pt x="1072" y="259"/>
                    </a:cubicBezTo>
                    <a:cubicBezTo>
                      <a:pt x="1072" y="116"/>
                      <a:pt x="956" y="0"/>
                      <a:pt x="813" y="0"/>
                    </a:cubicBezTo>
                    <a:close/>
                    <a:moveTo>
                      <a:pt x="956" y="273"/>
                    </a:moveTo>
                    <a:cubicBezTo>
                      <a:pt x="955" y="277"/>
                      <a:pt x="949" y="290"/>
                      <a:pt x="925" y="290"/>
                    </a:cubicBezTo>
                    <a:cubicBezTo>
                      <a:pt x="927" y="301"/>
                      <a:pt x="928" y="319"/>
                      <a:pt x="927" y="331"/>
                    </a:cubicBezTo>
                    <a:cubicBezTo>
                      <a:pt x="927" y="334"/>
                      <a:pt x="927" y="334"/>
                      <a:pt x="927" y="334"/>
                    </a:cubicBezTo>
                    <a:cubicBezTo>
                      <a:pt x="926" y="353"/>
                      <a:pt x="925" y="363"/>
                      <a:pt x="917" y="367"/>
                    </a:cubicBezTo>
                    <a:cubicBezTo>
                      <a:pt x="910" y="371"/>
                      <a:pt x="887" y="374"/>
                      <a:pt x="856" y="371"/>
                    </a:cubicBezTo>
                    <a:cubicBezTo>
                      <a:pt x="856" y="423"/>
                      <a:pt x="856" y="423"/>
                      <a:pt x="856" y="423"/>
                    </a:cubicBezTo>
                    <a:cubicBezTo>
                      <a:pt x="856" y="427"/>
                      <a:pt x="853" y="431"/>
                      <a:pt x="848" y="431"/>
                    </a:cubicBezTo>
                    <a:cubicBezTo>
                      <a:pt x="848" y="431"/>
                      <a:pt x="848" y="431"/>
                      <a:pt x="848" y="431"/>
                    </a:cubicBezTo>
                    <a:cubicBezTo>
                      <a:pt x="843" y="431"/>
                      <a:pt x="779" y="430"/>
                      <a:pt x="729" y="410"/>
                    </a:cubicBezTo>
                    <a:cubicBezTo>
                      <a:pt x="726" y="409"/>
                      <a:pt x="724" y="406"/>
                      <a:pt x="724" y="403"/>
                    </a:cubicBezTo>
                    <a:cubicBezTo>
                      <a:pt x="724" y="327"/>
                      <a:pt x="724" y="327"/>
                      <a:pt x="724" y="327"/>
                    </a:cubicBezTo>
                    <a:cubicBezTo>
                      <a:pt x="699" y="300"/>
                      <a:pt x="648" y="234"/>
                      <a:pt x="679" y="168"/>
                    </a:cubicBezTo>
                    <a:cubicBezTo>
                      <a:pt x="697" y="131"/>
                      <a:pt x="733" y="87"/>
                      <a:pt x="805" y="87"/>
                    </a:cubicBezTo>
                    <a:cubicBezTo>
                      <a:pt x="887" y="87"/>
                      <a:pt x="863" y="108"/>
                      <a:pt x="940" y="107"/>
                    </a:cubicBezTo>
                    <a:cubicBezTo>
                      <a:pt x="948" y="107"/>
                      <a:pt x="923" y="134"/>
                      <a:pt x="919" y="151"/>
                    </a:cubicBezTo>
                    <a:cubicBezTo>
                      <a:pt x="919" y="151"/>
                      <a:pt x="919" y="152"/>
                      <a:pt x="918" y="152"/>
                    </a:cubicBezTo>
                    <a:cubicBezTo>
                      <a:pt x="918" y="152"/>
                      <a:pt x="916" y="151"/>
                      <a:pt x="914" y="151"/>
                    </a:cubicBezTo>
                    <a:cubicBezTo>
                      <a:pt x="915" y="161"/>
                      <a:pt x="917" y="180"/>
                      <a:pt x="919" y="186"/>
                    </a:cubicBezTo>
                    <a:cubicBezTo>
                      <a:pt x="921" y="192"/>
                      <a:pt x="922" y="199"/>
                      <a:pt x="924" y="205"/>
                    </a:cubicBezTo>
                    <a:cubicBezTo>
                      <a:pt x="925" y="210"/>
                      <a:pt x="926" y="215"/>
                      <a:pt x="927" y="218"/>
                    </a:cubicBezTo>
                    <a:cubicBezTo>
                      <a:pt x="931" y="230"/>
                      <a:pt x="935" y="239"/>
                      <a:pt x="939" y="243"/>
                    </a:cubicBezTo>
                    <a:cubicBezTo>
                      <a:pt x="940" y="244"/>
                      <a:pt x="941" y="245"/>
                      <a:pt x="942" y="246"/>
                    </a:cubicBezTo>
                    <a:cubicBezTo>
                      <a:pt x="951" y="256"/>
                      <a:pt x="959" y="265"/>
                      <a:pt x="956" y="273"/>
                    </a:cubicBezTo>
                    <a:close/>
                    <a:moveTo>
                      <a:pt x="1409" y="542"/>
                    </a:moveTo>
                    <a:cubicBezTo>
                      <a:pt x="1266" y="542"/>
                      <a:pt x="1150" y="658"/>
                      <a:pt x="1150" y="800"/>
                    </a:cubicBezTo>
                    <a:cubicBezTo>
                      <a:pt x="1150" y="943"/>
                      <a:pt x="1266" y="1059"/>
                      <a:pt x="1409" y="1059"/>
                    </a:cubicBezTo>
                    <a:cubicBezTo>
                      <a:pt x="1552" y="1059"/>
                      <a:pt x="1668" y="943"/>
                      <a:pt x="1668" y="800"/>
                    </a:cubicBezTo>
                    <a:cubicBezTo>
                      <a:pt x="1668" y="658"/>
                      <a:pt x="1552" y="542"/>
                      <a:pt x="1409" y="542"/>
                    </a:cubicBezTo>
                    <a:close/>
                    <a:moveTo>
                      <a:pt x="1498" y="868"/>
                    </a:moveTo>
                    <a:cubicBezTo>
                      <a:pt x="1498" y="944"/>
                      <a:pt x="1498" y="944"/>
                      <a:pt x="1498" y="944"/>
                    </a:cubicBezTo>
                    <a:cubicBezTo>
                      <a:pt x="1498" y="947"/>
                      <a:pt x="1496" y="950"/>
                      <a:pt x="1493" y="951"/>
                    </a:cubicBezTo>
                    <a:cubicBezTo>
                      <a:pt x="1443" y="972"/>
                      <a:pt x="1379" y="972"/>
                      <a:pt x="1374" y="972"/>
                    </a:cubicBezTo>
                    <a:cubicBezTo>
                      <a:pt x="1373" y="972"/>
                      <a:pt x="1373" y="972"/>
                      <a:pt x="1373" y="972"/>
                    </a:cubicBezTo>
                    <a:cubicBezTo>
                      <a:pt x="1369" y="972"/>
                      <a:pt x="1366" y="969"/>
                      <a:pt x="1366" y="965"/>
                    </a:cubicBezTo>
                    <a:cubicBezTo>
                      <a:pt x="1366" y="912"/>
                      <a:pt x="1366" y="912"/>
                      <a:pt x="1366" y="912"/>
                    </a:cubicBezTo>
                    <a:cubicBezTo>
                      <a:pt x="1335" y="916"/>
                      <a:pt x="1311" y="912"/>
                      <a:pt x="1305" y="909"/>
                    </a:cubicBezTo>
                    <a:cubicBezTo>
                      <a:pt x="1297" y="905"/>
                      <a:pt x="1296" y="894"/>
                      <a:pt x="1295" y="875"/>
                    </a:cubicBezTo>
                    <a:cubicBezTo>
                      <a:pt x="1295" y="873"/>
                      <a:pt x="1295" y="873"/>
                      <a:pt x="1295" y="873"/>
                    </a:cubicBezTo>
                    <a:cubicBezTo>
                      <a:pt x="1294" y="861"/>
                      <a:pt x="1295" y="842"/>
                      <a:pt x="1296" y="832"/>
                    </a:cubicBezTo>
                    <a:cubicBezTo>
                      <a:pt x="1273" y="831"/>
                      <a:pt x="1267" y="819"/>
                      <a:pt x="1266" y="815"/>
                    </a:cubicBezTo>
                    <a:cubicBezTo>
                      <a:pt x="1263" y="806"/>
                      <a:pt x="1271" y="797"/>
                      <a:pt x="1280" y="788"/>
                    </a:cubicBezTo>
                    <a:cubicBezTo>
                      <a:pt x="1281" y="787"/>
                      <a:pt x="1282" y="786"/>
                      <a:pt x="1282" y="785"/>
                    </a:cubicBezTo>
                    <a:cubicBezTo>
                      <a:pt x="1286" y="780"/>
                      <a:pt x="1291" y="771"/>
                      <a:pt x="1295" y="760"/>
                    </a:cubicBezTo>
                    <a:cubicBezTo>
                      <a:pt x="1296" y="757"/>
                      <a:pt x="1297" y="752"/>
                      <a:pt x="1298" y="747"/>
                    </a:cubicBezTo>
                    <a:cubicBezTo>
                      <a:pt x="1300" y="740"/>
                      <a:pt x="1301" y="733"/>
                      <a:pt x="1303" y="728"/>
                    </a:cubicBezTo>
                    <a:cubicBezTo>
                      <a:pt x="1305" y="721"/>
                      <a:pt x="1307" y="702"/>
                      <a:pt x="1307" y="692"/>
                    </a:cubicBezTo>
                    <a:cubicBezTo>
                      <a:pt x="1306" y="692"/>
                      <a:pt x="1304" y="693"/>
                      <a:pt x="1303" y="693"/>
                    </a:cubicBezTo>
                    <a:cubicBezTo>
                      <a:pt x="1303" y="693"/>
                      <a:pt x="1303" y="693"/>
                      <a:pt x="1303" y="692"/>
                    </a:cubicBezTo>
                    <a:cubicBezTo>
                      <a:pt x="1299" y="675"/>
                      <a:pt x="1274" y="648"/>
                      <a:pt x="1282" y="648"/>
                    </a:cubicBezTo>
                    <a:cubicBezTo>
                      <a:pt x="1358" y="650"/>
                      <a:pt x="1334" y="629"/>
                      <a:pt x="1417" y="629"/>
                    </a:cubicBezTo>
                    <a:cubicBezTo>
                      <a:pt x="1489" y="629"/>
                      <a:pt x="1525" y="672"/>
                      <a:pt x="1543" y="709"/>
                    </a:cubicBezTo>
                    <a:cubicBezTo>
                      <a:pt x="1574" y="776"/>
                      <a:pt x="1523" y="842"/>
                      <a:pt x="1498" y="868"/>
                    </a:cubicBezTo>
                    <a:close/>
                    <a:moveTo>
                      <a:pt x="259" y="462"/>
                    </a:moveTo>
                    <a:cubicBezTo>
                      <a:pt x="116" y="462"/>
                      <a:pt x="0" y="578"/>
                      <a:pt x="0" y="721"/>
                    </a:cubicBezTo>
                    <a:cubicBezTo>
                      <a:pt x="0" y="864"/>
                      <a:pt x="116" y="980"/>
                      <a:pt x="259" y="980"/>
                    </a:cubicBezTo>
                    <a:cubicBezTo>
                      <a:pt x="402" y="980"/>
                      <a:pt x="518" y="864"/>
                      <a:pt x="518" y="721"/>
                    </a:cubicBezTo>
                    <a:cubicBezTo>
                      <a:pt x="518" y="578"/>
                      <a:pt x="402" y="462"/>
                      <a:pt x="259" y="462"/>
                    </a:cubicBezTo>
                    <a:close/>
                    <a:moveTo>
                      <a:pt x="406" y="737"/>
                    </a:moveTo>
                    <a:cubicBezTo>
                      <a:pt x="404" y="743"/>
                      <a:pt x="394" y="752"/>
                      <a:pt x="375" y="752"/>
                    </a:cubicBezTo>
                    <a:cubicBezTo>
                      <a:pt x="376" y="758"/>
                      <a:pt x="376" y="767"/>
                      <a:pt x="376" y="775"/>
                    </a:cubicBezTo>
                    <a:cubicBezTo>
                      <a:pt x="376" y="806"/>
                      <a:pt x="372" y="815"/>
                      <a:pt x="368" y="818"/>
                    </a:cubicBezTo>
                    <a:cubicBezTo>
                      <a:pt x="365" y="822"/>
                      <a:pt x="357" y="827"/>
                      <a:pt x="327" y="826"/>
                    </a:cubicBezTo>
                    <a:cubicBezTo>
                      <a:pt x="322" y="826"/>
                      <a:pt x="312" y="826"/>
                      <a:pt x="304" y="825"/>
                    </a:cubicBezTo>
                    <a:cubicBezTo>
                      <a:pt x="304" y="882"/>
                      <a:pt x="304" y="882"/>
                      <a:pt x="304" y="882"/>
                    </a:cubicBezTo>
                    <a:cubicBezTo>
                      <a:pt x="304" y="886"/>
                      <a:pt x="301" y="889"/>
                      <a:pt x="297" y="889"/>
                    </a:cubicBezTo>
                    <a:cubicBezTo>
                      <a:pt x="297" y="889"/>
                      <a:pt x="294" y="890"/>
                      <a:pt x="289" y="890"/>
                    </a:cubicBezTo>
                    <a:cubicBezTo>
                      <a:pt x="273" y="890"/>
                      <a:pt x="236" y="887"/>
                      <a:pt x="206" y="869"/>
                    </a:cubicBezTo>
                    <a:cubicBezTo>
                      <a:pt x="204" y="868"/>
                      <a:pt x="202" y="866"/>
                      <a:pt x="202" y="863"/>
                    </a:cubicBezTo>
                    <a:cubicBezTo>
                      <a:pt x="200" y="826"/>
                      <a:pt x="200" y="826"/>
                      <a:pt x="200" y="826"/>
                    </a:cubicBezTo>
                    <a:cubicBezTo>
                      <a:pt x="151" y="806"/>
                      <a:pt x="73" y="749"/>
                      <a:pt x="132" y="627"/>
                    </a:cubicBezTo>
                    <a:cubicBezTo>
                      <a:pt x="150" y="591"/>
                      <a:pt x="192" y="553"/>
                      <a:pt x="262" y="553"/>
                    </a:cubicBezTo>
                    <a:cubicBezTo>
                      <a:pt x="342" y="553"/>
                      <a:pt x="375" y="590"/>
                      <a:pt x="371" y="606"/>
                    </a:cubicBezTo>
                    <a:cubicBezTo>
                      <a:pt x="370" y="609"/>
                      <a:pt x="368" y="612"/>
                      <a:pt x="366" y="615"/>
                    </a:cubicBezTo>
                    <a:cubicBezTo>
                      <a:pt x="370" y="620"/>
                      <a:pt x="379" y="633"/>
                      <a:pt x="377" y="654"/>
                    </a:cubicBezTo>
                    <a:cubicBezTo>
                      <a:pt x="377" y="664"/>
                      <a:pt x="378" y="683"/>
                      <a:pt x="379" y="686"/>
                    </a:cubicBezTo>
                    <a:cubicBezTo>
                      <a:pt x="382" y="693"/>
                      <a:pt x="388" y="703"/>
                      <a:pt x="394" y="709"/>
                    </a:cubicBezTo>
                    <a:cubicBezTo>
                      <a:pt x="400" y="715"/>
                      <a:pt x="410" y="729"/>
                      <a:pt x="406" y="737"/>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grpSp>
        <p:sp>
          <p:nvSpPr>
            <p:cNvPr id="100" name="object 4">
              <a:extLst>
                <a:ext uri="{FF2B5EF4-FFF2-40B4-BE49-F238E27FC236}">
                  <a16:creationId xmlns:a16="http://schemas.microsoft.com/office/drawing/2014/main" id="{E9B0F41C-5CD9-48FB-BC7B-C24067F8DD81}"/>
                </a:ext>
              </a:extLst>
            </p:cNvPr>
            <p:cNvSpPr txBox="1">
              <a:spLocks/>
            </p:cNvSpPr>
            <p:nvPr/>
          </p:nvSpPr>
          <p:spPr>
            <a:xfrm>
              <a:off x="7327900" y="4576043"/>
              <a:ext cx="4235300" cy="871466"/>
            </a:xfrm>
            <a:prstGeom prst="rect">
              <a:avLst/>
            </a:prstGeom>
          </p:spPr>
          <p:txBody>
            <a:bodyPr vert="horz" wrap="square" lIns="0" tIns="9598" rIns="0" bIns="0" rtlCol="0">
              <a:spAutoFit/>
            </a:bodyPr>
            <a:lstStyle>
              <a:lvl1pPr marL="0" indent="0" algn="l" defTabSz="914400" rtl="0" eaLnBrk="1" latinLnBrk="0" hangingPunct="1">
                <a:lnSpc>
                  <a:spcPct val="110000"/>
                </a:lnSpc>
                <a:spcBef>
                  <a:spcPts val="600"/>
                </a:spcBef>
                <a:spcAft>
                  <a:spcPts val="300"/>
                </a:spcAft>
                <a:buClr>
                  <a:srgbClr val="DC0532"/>
                </a:buClr>
                <a:buFont typeface="Arial" panose="020B0604020202020204" pitchFamily="34" charset="0"/>
                <a:buChar char="​"/>
                <a:defRPr lang="en-US" sz="1200" kern="1200">
                  <a:solidFill>
                    <a:srgbClr val="4D4D4D"/>
                  </a:solidFill>
                  <a:latin typeface="+mn-lt"/>
                  <a:ea typeface="+mn-ea"/>
                  <a:cs typeface="+mn-cs"/>
                  <a:sym typeface="+mn-lt"/>
                </a:defRPr>
              </a:lvl1pPr>
              <a:lvl2pPr marL="284400" indent="-172800" algn="l" defTabSz="914400" rtl="0" eaLnBrk="1" latinLnBrk="0" hangingPunct="1">
                <a:lnSpc>
                  <a:spcPct val="90000"/>
                </a:lnSpc>
                <a:spcBef>
                  <a:spcPts val="0"/>
                </a:spcBef>
                <a:spcAft>
                  <a:spcPts val="300"/>
                </a:spcAft>
                <a:buClr>
                  <a:srgbClr val="DC0532"/>
                </a:buClr>
                <a:buFont typeface="Arial" panose="020B0604020202020204" pitchFamily="34" charset="0"/>
                <a:buChar char="•"/>
                <a:defRPr lang="en-US" sz="1200" kern="1200">
                  <a:solidFill>
                    <a:srgbClr val="4D4D4D"/>
                  </a:solidFill>
                  <a:latin typeface="+mn-lt"/>
                  <a:ea typeface="+mn-ea"/>
                  <a:cs typeface="+mn-cs"/>
                  <a:sym typeface="+mn-lt"/>
                </a:defRPr>
              </a:lvl2pPr>
              <a:lvl3pPr marL="511200" indent="-165600" algn="l" defTabSz="914400" rtl="0" eaLnBrk="1" latinLnBrk="0" hangingPunct="1">
                <a:lnSpc>
                  <a:spcPct val="90000"/>
                </a:lnSpc>
                <a:spcBef>
                  <a:spcPts val="0"/>
                </a:spcBef>
                <a:spcAft>
                  <a:spcPts val="300"/>
                </a:spcAft>
                <a:buClr>
                  <a:srgbClr val="DC0532"/>
                </a:buClr>
                <a:buFont typeface="Trebuchet MS" panose="020B0603020202020204" pitchFamily="34" charset="0"/>
                <a:buChar char="–"/>
                <a:defRPr lang="en-US" sz="1200" kern="1200">
                  <a:solidFill>
                    <a:srgbClr val="4D4D4D"/>
                  </a:solidFill>
                  <a:latin typeface="+mn-lt"/>
                  <a:ea typeface="+mn-ea"/>
                  <a:cs typeface="+mn-cs"/>
                  <a:sym typeface="+mn-lt"/>
                </a:defRPr>
              </a:lvl3pPr>
              <a:lvl4pPr marL="0" indent="0" algn="l" defTabSz="914400" rtl="0" eaLnBrk="1" latinLnBrk="0" hangingPunct="1">
                <a:lnSpc>
                  <a:spcPct val="110000"/>
                </a:lnSpc>
                <a:spcBef>
                  <a:spcPts val="300"/>
                </a:spcBef>
                <a:spcAft>
                  <a:spcPts val="300"/>
                </a:spcAft>
                <a:buClr>
                  <a:srgbClr val="DC0532"/>
                </a:buClr>
                <a:buFont typeface="Arial" panose="020B0604020202020204" pitchFamily="34" charset="0"/>
                <a:buChar char="​"/>
                <a:defRPr lang="en-US" sz="1600" kern="1200">
                  <a:solidFill>
                    <a:srgbClr val="DC0532"/>
                  </a:solidFill>
                  <a:latin typeface="+mn-lt"/>
                  <a:ea typeface="+mn-ea"/>
                  <a:cs typeface="+mn-cs"/>
                  <a:sym typeface="+mn-lt"/>
                </a:defRPr>
              </a:lvl4pPr>
              <a:lvl5pPr marL="0" indent="0" algn="l" defTabSz="914400" rtl="0" eaLnBrk="1" latinLnBrk="0" hangingPunct="1">
                <a:lnSpc>
                  <a:spcPct val="100000"/>
                </a:lnSpc>
                <a:spcBef>
                  <a:spcPts val="0"/>
                </a:spcBef>
                <a:spcAft>
                  <a:spcPts val="300"/>
                </a:spcAft>
                <a:buClr>
                  <a:srgbClr val="DC0532"/>
                </a:buClr>
                <a:buFont typeface="Arial" panose="020B0604020202020204" pitchFamily="34" charset="0"/>
                <a:buChar char="​"/>
                <a:defRPr lang="en-US" sz="1600" b="1" kern="1200" smtClean="0">
                  <a:solidFill>
                    <a:srgbClr val="4D4D4D"/>
                  </a:solidFill>
                  <a:latin typeface="+mn-lt"/>
                  <a:ea typeface="+mn-ea"/>
                  <a:cs typeface="+mn-cs"/>
                  <a:sym typeface="+mn-lt"/>
                </a:defRPr>
              </a:lvl5pPr>
              <a:lvl6pPr marL="269875" indent="-152400" algn="l" defTabSz="914400" rtl="0" eaLnBrk="1" latinLnBrk="0" hangingPunct="1">
                <a:lnSpc>
                  <a:spcPct val="90000"/>
                </a:lnSpc>
                <a:spcBef>
                  <a:spcPts val="0"/>
                </a:spcBef>
                <a:spcAft>
                  <a:spcPts val="600"/>
                </a:spcAft>
                <a:buClr>
                  <a:srgbClr val="DC0532"/>
                </a:buClr>
                <a:buFont typeface="Arial" panose="020B0604020202020204" pitchFamily="34" charset="0"/>
                <a:buChar char="•"/>
                <a:defRPr lang="en-US" sz="1600" kern="1200" smtClean="0">
                  <a:solidFill>
                    <a:srgbClr val="4D4D4D"/>
                  </a:solidFill>
                  <a:latin typeface="+mn-lt"/>
                  <a:ea typeface="+mn-ea"/>
                  <a:cs typeface="+mn-cs"/>
                  <a:sym typeface="+mn-lt"/>
                </a:defRPr>
              </a:lvl6pPr>
              <a:lvl7pPr marL="0" indent="0" algn="l" defTabSz="914400" rtl="0" eaLnBrk="1" latinLnBrk="0" hangingPunct="1">
                <a:lnSpc>
                  <a:spcPct val="90000"/>
                </a:lnSpc>
                <a:spcBef>
                  <a:spcPts val="900"/>
                </a:spcBef>
                <a:spcAft>
                  <a:spcPts val="900"/>
                </a:spcAft>
                <a:buClr>
                  <a:srgbClr val="DC0532"/>
                </a:buClr>
                <a:buFont typeface="Arial" panose="020B0604020202020204" pitchFamily="34" charset="0"/>
                <a:buChar char="​"/>
                <a:defRPr lang="en-US" sz="4400" kern="1200" baseline="0" smtClean="0">
                  <a:solidFill>
                    <a:srgbClr val="4D4D4D"/>
                  </a:solidFill>
                  <a:latin typeface="+mn-lt"/>
                  <a:ea typeface="+mn-ea"/>
                  <a:cs typeface="+mn-cs"/>
                  <a:sym typeface="+mn-lt"/>
                </a:defRPr>
              </a:lvl7pPr>
              <a:lvl8pPr marL="0" indent="0" algn="l" defTabSz="914400" rtl="0" eaLnBrk="1" latinLnBrk="0" hangingPunct="1">
                <a:lnSpc>
                  <a:spcPct val="90000"/>
                </a:lnSpc>
                <a:spcBef>
                  <a:spcPts val="900"/>
                </a:spcBef>
                <a:spcAft>
                  <a:spcPts val="0"/>
                </a:spcAft>
                <a:buClr>
                  <a:srgbClr val="DC0532"/>
                </a:buClr>
                <a:buFont typeface="Arial" panose="020B0604020202020204" pitchFamily="34" charset="0"/>
                <a:buChar char="​"/>
                <a:defRPr lang="en-US" sz="5400" kern="1200" baseline="0" smtClean="0">
                  <a:solidFill>
                    <a:srgbClr val="DC0532"/>
                  </a:solidFill>
                  <a:latin typeface="+mn-lt"/>
                  <a:ea typeface="+mn-ea"/>
                  <a:cs typeface="+mn-cs"/>
                  <a:sym typeface="+mn-lt"/>
                </a:defRPr>
              </a:lvl8pPr>
              <a:lvl9pPr marL="0" indent="0" algn="l" defTabSz="914400" rtl="0" eaLnBrk="1" latinLnBrk="0" hangingPunct="1">
                <a:lnSpc>
                  <a:spcPct val="100000"/>
                </a:lnSpc>
                <a:spcBef>
                  <a:spcPts val="0"/>
                </a:spcBef>
                <a:spcAft>
                  <a:spcPts val="900"/>
                </a:spcAft>
                <a:buClr>
                  <a:srgbClr val="DC0532"/>
                </a:buClr>
                <a:buFont typeface="Arial" panose="020B0604020202020204" pitchFamily="34" charset="0"/>
                <a:buChar char="​"/>
                <a:defRPr lang="en-US" sz="2400" kern="1200" baseline="0" dirty="0">
                  <a:solidFill>
                    <a:srgbClr val="DC0532"/>
                  </a:solidFill>
                  <a:latin typeface="+mn-lt"/>
                  <a:ea typeface="+mn-ea"/>
                  <a:cs typeface="+mn-cs"/>
                  <a:sym typeface="+mn-lt"/>
                </a:defRPr>
              </a:lvl9pPr>
            </a:lstStyle>
            <a:p>
              <a:pPr marL="10104">
                <a:lnSpc>
                  <a:spcPct val="100000"/>
                </a:lnSpc>
                <a:spcBef>
                  <a:spcPts val="75"/>
                </a:spcBef>
              </a:pPr>
              <a:r>
                <a:rPr lang="en-ZA" sz="1400" spc="-4">
                  <a:solidFill>
                    <a:schemeClr val="tx2"/>
                  </a:solidFill>
                </a:rPr>
                <a:t>Mature measurements &amp; experimentation</a:t>
              </a:r>
              <a:r>
                <a:rPr lang="en-ZA" sz="1400" spc="-4"/>
                <a:t> by running A/B several tests daily to understand customer response to marketing actions &amp; ROI of every action is understood</a:t>
              </a:r>
            </a:p>
          </p:txBody>
        </p:sp>
      </p:grpSp>
    </p:spTree>
    <p:extLst>
      <p:ext uri="{BB962C8B-B14F-4D97-AF65-F5344CB8AC3E}">
        <p14:creationId xmlns:p14="http://schemas.microsoft.com/office/powerpoint/2010/main" val="272725401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EE45711F-038C-4BC6-A145-E3F52224ABFA}"/>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444" imgH="446" progId="TCLayout.ActiveDocument.1">
                  <p:embed/>
                </p:oleObj>
              </mc:Choice>
              <mc:Fallback>
                <p:oleObj name="think-cell Slide" r:id="rId5" imgW="444" imgH="446" progId="TCLayout.ActiveDocument.1">
                  <p:embed/>
                  <p:pic>
                    <p:nvPicPr>
                      <p:cNvPr id="4" name="Object 3" hidden="1">
                        <a:extLst>
                          <a:ext uri="{FF2B5EF4-FFF2-40B4-BE49-F238E27FC236}">
                            <a16:creationId xmlns:a16="http://schemas.microsoft.com/office/drawing/2014/main" id="{EE45711F-038C-4BC6-A145-E3F52224ABFA}"/>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23" name="Rectangle 22" hidden="1">
            <a:extLst>
              <a:ext uri="{FF2B5EF4-FFF2-40B4-BE49-F238E27FC236}">
                <a16:creationId xmlns:a16="http://schemas.microsoft.com/office/drawing/2014/main" id="{2DFE03A6-1354-412E-8E33-14594391B9A5}"/>
              </a:ext>
            </a:extLst>
          </p:cNvPr>
          <p:cNvSpPr/>
          <p:nvPr>
            <p:custDataLst>
              <p:tags r:id="rId2"/>
            </p:custDataLst>
          </p:nvPr>
        </p:nvSpPr>
        <p:spPr>
          <a:xfrm>
            <a:off x="0" y="0"/>
            <a:ext cx="158750" cy="158750"/>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endParaRPr lang="en-US" sz="2400">
              <a:solidFill>
                <a:srgbClr val="FFFFFF"/>
              </a:solidFill>
              <a:latin typeface="Trebuchet MS" panose="020B0603020202020204" pitchFamily="34" charset="0"/>
              <a:ea typeface="+mj-ea"/>
              <a:cs typeface="+mj-cs"/>
              <a:sym typeface="Trebuchet MS" panose="020B0603020202020204" pitchFamily="34" charset="0"/>
            </a:endParaRPr>
          </a:p>
        </p:txBody>
      </p:sp>
      <p:sp>
        <p:nvSpPr>
          <p:cNvPr id="2" name="Title 1">
            <a:extLst>
              <a:ext uri="{FF2B5EF4-FFF2-40B4-BE49-F238E27FC236}">
                <a16:creationId xmlns:a16="http://schemas.microsoft.com/office/drawing/2014/main" id="{A1A603B3-3E28-4A5F-9F3D-CBBCD4B3B9D6}"/>
              </a:ext>
            </a:extLst>
          </p:cNvPr>
          <p:cNvSpPr>
            <a:spLocks noGrp="1"/>
          </p:cNvSpPr>
          <p:nvPr>
            <p:ph type="title"/>
          </p:nvPr>
        </p:nvSpPr>
        <p:spPr>
          <a:xfrm>
            <a:off x="630000" y="622800"/>
            <a:ext cx="10933350" cy="332399"/>
          </a:xfrm>
        </p:spPr>
        <p:txBody>
          <a:bodyPr/>
          <a:lstStyle/>
          <a:p>
            <a:pPr>
              <a:buSzPct val="100000"/>
              <a:buFont typeface="Trebuchet MS" panose="020B0603020202020204" pitchFamily="34" charset="0"/>
              <a:buChar char="​"/>
            </a:pPr>
            <a:r>
              <a:rPr lang="en-US">
                <a:solidFill>
                  <a:srgbClr val="29BA74"/>
                </a:solidFill>
                <a:sym typeface="+mn-lt"/>
              </a:rPr>
              <a:t>Hyper-personalization digital capabilities for retail developed along 3 stages</a:t>
            </a:r>
          </a:p>
        </p:txBody>
      </p:sp>
      <p:cxnSp>
        <p:nvCxnSpPr>
          <p:cNvPr id="8" name="Straight Connector 7">
            <a:extLst>
              <a:ext uri="{FF2B5EF4-FFF2-40B4-BE49-F238E27FC236}">
                <a16:creationId xmlns:a16="http://schemas.microsoft.com/office/drawing/2014/main" id="{3744C231-8084-476A-9378-B57682D7FB5B}"/>
              </a:ext>
            </a:extLst>
          </p:cNvPr>
          <p:cNvCxnSpPr>
            <a:cxnSpLocks/>
            <a:stCxn id="14" idx="2"/>
          </p:cNvCxnSpPr>
          <p:nvPr/>
        </p:nvCxnSpPr>
        <p:spPr>
          <a:xfrm flipH="1">
            <a:off x="746686" y="1773441"/>
            <a:ext cx="219" cy="1184019"/>
          </a:xfrm>
          <a:prstGeom prst="line">
            <a:avLst/>
          </a:prstGeom>
          <a:ln w="9525" cap="rnd" cmpd="sng" algn="ctr">
            <a:solidFill>
              <a:srgbClr val="9A9A9A"/>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36C37E10-AAFE-401E-81AC-0320E9E900E1}"/>
              </a:ext>
            </a:extLst>
          </p:cNvPr>
          <p:cNvCxnSpPr>
            <a:cxnSpLocks/>
            <a:stCxn id="17" idx="27"/>
            <a:endCxn id="21" idx="43"/>
          </p:cNvCxnSpPr>
          <p:nvPr/>
        </p:nvCxnSpPr>
        <p:spPr>
          <a:xfrm flipH="1">
            <a:off x="746912" y="3483295"/>
            <a:ext cx="212" cy="1757851"/>
          </a:xfrm>
          <a:prstGeom prst="line">
            <a:avLst/>
          </a:prstGeom>
          <a:ln w="9525" cap="rnd" cmpd="sng" algn="ctr">
            <a:solidFill>
              <a:srgbClr val="9A9A9A"/>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1" name="bcgIcons_PlantSprout">
            <a:extLst>
              <a:ext uri="{FF2B5EF4-FFF2-40B4-BE49-F238E27FC236}">
                <a16:creationId xmlns:a16="http://schemas.microsoft.com/office/drawing/2014/main" id="{AEAD00A9-CD9F-4BF4-B89E-1331495851A2}"/>
              </a:ext>
            </a:extLst>
          </p:cNvPr>
          <p:cNvGrpSpPr>
            <a:grpSpLocks noChangeAspect="1"/>
          </p:cNvGrpSpPr>
          <p:nvPr/>
        </p:nvGrpSpPr>
        <p:grpSpPr bwMode="auto">
          <a:xfrm>
            <a:off x="494508" y="1360221"/>
            <a:ext cx="504371" cy="504839"/>
            <a:chOff x="1682" y="0"/>
            <a:chExt cx="4316" cy="4320"/>
          </a:xfrm>
        </p:grpSpPr>
        <p:sp>
          <p:nvSpPr>
            <p:cNvPr id="12" name="AutoShape 23">
              <a:extLst>
                <a:ext uri="{FF2B5EF4-FFF2-40B4-BE49-F238E27FC236}">
                  <a16:creationId xmlns:a16="http://schemas.microsoft.com/office/drawing/2014/main" id="{ABA1AE42-8BFD-49FD-A230-02E6DD071CD3}"/>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sp>
          <p:nvSpPr>
            <p:cNvPr id="13" name="Freeform 25">
              <a:extLst>
                <a:ext uri="{FF2B5EF4-FFF2-40B4-BE49-F238E27FC236}">
                  <a16:creationId xmlns:a16="http://schemas.microsoft.com/office/drawing/2014/main" id="{1213D7B2-13EC-4E61-9B7D-490D7386EB4D}"/>
                </a:ext>
              </a:extLst>
            </p:cNvPr>
            <p:cNvSpPr>
              <a:spLocks noEditPoints="1"/>
            </p:cNvSpPr>
            <p:nvPr/>
          </p:nvSpPr>
          <p:spPr bwMode="auto">
            <a:xfrm>
              <a:off x="2428" y="3203"/>
              <a:ext cx="2824" cy="658"/>
            </a:xfrm>
            <a:custGeom>
              <a:avLst/>
              <a:gdLst>
                <a:gd name="T0" fmla="*/ 652 w 1508"/>
                <a:gd name="T1" fmla="*/ 45 h 351"/>
                <a:gd name="T2" fmla="*/ 295 w 1508"/>
                <a:gd name="T3" fmla="*/ 223 h 351"/>
                <a:gd name="T4" fmla="*/ 22 w 1508"/>
                <a:gd name="T5" fmla="*/ 351 h 351"/>
                <a:gd name="T6" fmla="*/ 0 w 1508"/>
                <a:gd name="T7" fmla="*/ 329 h 351"/>
                <a:gd name="T8" fmla="*/ 22 w 1508"/>
                <a:gd name="T9" fmla="*/ 307 h 351"/>
                <a:gd name="T10" fmla="*/ 269 w 1508"/>
                <a:gd name="T11" fmla="*/ 187 h 351"/>
                <a:gd name="T12" fmla="*/ 653 w 1508"/>
                <a:gd name="T13" fmla="*/ 0 h 351"/>
                <a:gd name="T14" fmla="*/ 652 w 1508"/>
                <a:gd name="T15" fmla="*/ 45 h 351"/>
                <a:gd name="T16" fmla="*/ 1486 w 1508"/>
                <a:gd name="T17" fmla="*/ 307 h 351"/>
                <a:gd name="T18" fmla="*/ 1239 w 1508"/>
                <a:gd name="T19" fmla="*/ 187 h 351"/>
                <a:gd name="T20" fmla="*/ 853 w 1508"/>
                <a:gd name="T21" fmla="*/ 0 h 351"/>
                <a:gd name="T22" fmla="*/ 855 w 1508"/>
                <a:gd name="T23" fmla="*/ 44 h 351"/>
                <a:gd name="T24" fmla="*/ 1213 w 1508"/>
                <a:gd name="T25" fmla="*/ 223 h 351"/>
                <a:gd name="T26" fmla="*/ 1486 w 1508"/>
                <a:gd name="T27" fmla="*/ 351 h 351"/>
                <a:gd name="T28" fmla="*/ 1508 w 1508"/>
                <a:gd name="T29" fmla="*/ 329 h 351"/>
                <a:gd name="T30" fmla="*/ 1486 w 1508"/>
                <a:gd name="T31" fmla="*/ 307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351">
                  <a:moveTo>
                    <a:pt x="652" y="45"/>
                  </a:moveTo>
                  <a:cubicBezTo>
                    <a:pt x="509" y="72"/>
                    <a:pt x="396" y="151"/>
                    <a:pt x="295" y="223"/>
                  </a:cubicBezTo>
                  <a:cubicBezTo>
                    <a:pt x="197" y="292"/>
                    <a:pt x="113" y="351"/>
                    <a:pt x="22" y="351"/>
                  </a:cubicBezTo>
                  <a:cubicBezTo>
                    <a:pt x="9" y="351"/>
                    <a:pt x="0" y="341"/>
                    <a:pt x="0" y="329"/>
                  </a:cubicBezTo>
                  <a:cubicBezTo>
                    <a:pt x="0" y="317"/>
                    <a:pt x="9" y="307"/>
                    <a:pt x="22" y="307"/>
                  </a:cubicBezTo>
                  <a:cubicBezTo>
                    <a:pt x="99" y="307"/>
                    <a:pt x="178" y="251"/>
                    <a:pt x="269" y="187"/>
                  </a:cubicBezTo>
                  <a:cubicBezTo>
                    <a:pt x="372" y="114"/>
                    <a:pt x="496" y="27"/>
                    <a:pt x="653" y="0"/>
                  </a:cubicBezTo>
                  <a:lnTo>
                    <a:pt x="652" y="45"/>
                  </a:lnTo>
                  <a:close/>
                  <a:moveTo>
                    <a:pt x="1486" y="307"/>
                  </a:moveTo>
                  <a:cubicBezTo>
                    <a:pt x="1409" y="307"/>
                    <a:pt x="1330" y="251"/>
                    <a:pt x="1239" y="187"/>
                  </a:cubicBezTo>
                  <a:cubicBezTo>
                    <a:pt x="1136" y="114"/>
                    <a:pt x="1012" y="27"/>
                    <a:pt x="853" y="0"/>
                  </a:cubicBezTo>
                  <a:cubicBezTo>
                    <a:pt x="855" y="44"/>
                    <a:pt x="855" y="44"/>
                    <a:pt x="855" y="44"/>
                  </a:cubicBezTo>
                  <a:cubicBezTo>
                    <a:pt x="998" y="71"/>
                    <a:pt x="1111" y="151"/>
                    <a:pt x="1213" y="223"/>
                  </a:cubicBezTo>
                  <a:cubicBezTo>
                    <a:pt x="1311" y="292"/>
                    <a:pt x="1395" y="351"/>
                    <a:pt x="1486" y="351"/>
                  </a:cubicBezTo>
                  <a:cubicBezTo>
                    <a:pt x="1499" y="351"/>
                    <a:pt x="1508" y="341"/>
                    <a:pt x="1508" y="329"/>
                  </a:cubicBezTo>
                  <a:cubicBezTo>
                    <a:pt x="1508" y="317"/>
                    <a:pt x="1499" y="307"/>
                    <a:pt x="1486" y="30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sp>
          <p:nvSpPr>
            <p:cNvPr id="14" name="Freeform 26">
              <a:extLst>
                <a:ext uri="{FF2B5EF4-FFF2-40B4-BE49-F238E27FC236}">
                  <a16:creationId xmlns:a16="http://schemas.microsoft.com/office/drawing/2014/main" id="{A249FD6D-62C3-42FF-9305-3CB211E59C46}"/>
                </a:ext>
              </a:extLst>
            </p:cNvPr>
            <p:cNvSpPr>
              <a:spLocks noEditPoints="1"/>
            </p:cNvSpPr>
            <p:nvPr/>
          </p:nvSpPr>
          <p:spPr bwMode="auto">
            <a:xfrm>
              <a:off x="3518" y="1061"/>
              <a:ext cx="642" cy="2475"/>
            </a:xfrm>
            <a:custGeom>
              <a:avLst/>
              <a:gdLst>
                <a:gd name="T0" fmla="*/ 223 w 343"/>
                <a:gd name="T1" fmla="*/ 1040 h 1320"/>
                <a:gd name="T2" fmla="*/ 232 w 343"/>
                <a:gd name="T3" fmla="*/ 1256 h 1320"/>
                <a:gd name="T4" fmla="*/ 173 w 343"/>
                <a:gd name="T5" fmla="*/ 1320 h 1320"/>
                <a:gd name="T6" fmla="*/ 110 w 343"/>
                <a:gd name="T7" fmla="*/ 1261 h 1320"/>
                <a:gd name="T8" fmla="*/ 110 w 343"/>
                <a:gd name="T9" fmla="*/ 1256 h 1320"/>
                <a:gd name="T10" fmla="*/ 110 w 343"/>
                <a:gd name="T11" fmla="*/ 1256 h 1320"/>
                <a:gd name="T12" fmla="*/ 113 w 343"/>
                <a:gd name="T13" fmla="*/ 1204 h 1320"/>
                <a:gd name="T14" fmla="*/ 119 w 343"/>
                <a:gd name="T15" fmla="*/ 1034 h 1320"/>
                <a:gd name="T16" fmla="*/ 152 w 343"/>
                <a:gd name="T17" fmla="*/ 346 h 1320"/>
                <a:gd name="T18" fmla="*/ 171 w 343"/>
                <a:gd name="T19" fmla="*/ 328 h 1320"/>
                <a:gd name="T20" fmla="*/ 189 w 343"/>
                <a:gd name="T21" fmla="*/ 346 h 1320"/>
                <a:gd name="T22" fmla="*/ 218 w 343"/>
                <a:gd name="T23" fmla="*/ 916 h 1320"/>
                <a:gd name="T24" fmla="*/ 223 w 343"/>
                <a:gd name="T25" fmla="*/ 1040 h 1320"/>
                <a:gd name="T26" fmla="*/ 108 w 343"/>
                <a:gd name="T27" fmla="*/ 344 h 1320"/>
                <a:gd name="T28" fmla="*/ 109 w 343"/>
                <a:gd name="T29" fmla="*/ 343 h 1320"/>
                <a:gd name="T30" fmla="*/ 169 w 343"/>
                <a:gd name="T31" fmla="*/ 284 h 1320"/>
                <a:gd name="T32" fmla="*/ 174 w 343"/>
                <a:gd name="T33" fmla="*/ 284 h 1320"/>
                <a:gd name="T34" fmla="*/ 233 w 343"/>
                <a:gd name="T35" fmla="*/ 340 h 1320"/>
                <a:gd name="T36" fmla="*/ 233 w 343"/>
                <a:gd name="T37" fmla="*/ 342 h 1320"/>
                <a:gd name="T38" fmla="*/ 233 w 343"/>
                <a:gd name="T39" fmla="*/ 343 h 1320"/>
                <a:gd name="T40" fmla="*/ 244 w 343"/>
                <a:gd name="T41" fmla="*/ 533 h 1320"/>
                <a:gd name="T42" fmla="*/ 343 w 343"/>
                <a:gd name="T43" fmla="*/ 303 h 1320"/>
                <a:gd name="T44" fmla="*/ 171 w 343"/>
                <a:gd name="T45" fmla="*/ 0 h 1320"/>
                <a:gd name="T46" fmla="*/ 0 w 343"/>
                <a:gd name="T47" fmla="*/ 303 h 1320"/>
                <a:gd name="T48" fmla="*/ 101 w 343"/>
                <a:gd name="T49" fmla="*/ 535 h 1320"/>
                <a:gd name="T50" fmla="*/ 108 w 343"/>
                <a:gd name="T51" fmla="*/ 344 h 1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43" h="1320">
                  <a:moveTo>
                    <a:pt x="223" y="1040"/>
                  </a:moveTo>
                  <a:cubicBezTo>
                    <a:pt x="223" y="1040"/>
                    <a:pt x="223" y="1040"/>
                    <a:pt x="232" y="1256"/>
                  </a:cubicBezTo>
                  <a:cubicBezTo>
                    <a:pt x="233" y="1290"/>
                    <a:pt x="207" y="1318"/>
                    <a:pt x="173" y="1320"/>
                  </a:cubicBezTo>
                  <a:cubicBezTo>
                    <a:pt x="140" y="1320"/>
                    <a:pt x="112" y="1295"/>
                    <a:pt x="110" y="1261"/>
                  </a:cubicBezTo>
                  <a:cubicBezTo>
                    <a:pt x="110" y="1260"/>
                    <a:pt x="110" y="1258"/>
                    <a:pt x="110" y="1256"/>
                  </a:cubicBezTo>
                  <a:cubicBezTo>
                    <a:pt x="110" y="1256"/>
                    <a:pt x="110" y="1256"/>
                    <a:pt x="110" y="1256"/>
                  </a:cubicBezTo>
                  <a:cubicBezTo>
                    <a:pt x="110" y="1256"/>
                    <a:pt x="110" y="1256"/>
                    <a:pt x="113" y="1204"/>
                  </a:cubicBezTo>
                  <a:cubicBezTo>
                    <a:pt x="113" y="1204"/>
                    <a:pt x="113" y="1204"/>
                    <a:pt x="119" y="1034"/>
                  </a:cubicBezTo>
                  <a:cubicBezTo>
                    <a:pt x="119" y="1034"/>
                    <a:pt x="139" y="688"/>
                    <a:pt x="152" y="346"/>
                  </a:cubicBezTo>
                  <a:cubicBezTo>
                    <a:pt x="153" y="335"/>
                    <a:pt x="161" y="327"/>
                    <a:pt x="171" y="328"/>
                  </a:cubicBezTo>
                  <a:cubicBezTo>
                    <a:pt x="181" y="328"/>
                    <a:pt x="188" y="337"/>
                    <a:pt x="189" y="346"/>
                  </a:cubicBezTo>
                  <a:cubicBezTo>
                    <a:pt x="189" y="346"/>
                    <a:pt x="207" y="640"/>
                    <a:pt x="218" y="916"/>
                  </a:cubicBezTo>
                  <a:lnTo>
                    <a:pt x="223" y="1040"/>
                  </a:lnTo>
                  <a:close/>
                  <a:moveTo>
                    <a:pt x="108" y="344"/>
                  </a:moveTo>
                  <a:cubicBezTo>
                    <a:pt x="109" y="343"/>
                    <a:pt x="109" y="343"/>
                    <a:pt x="109" y="343"/>
                  </a:cubicBezTo>
                  <a:cubicBezTo>
                    <a:pt x="110" y="310"/>
                    <a:pt x="137" y="284"/>
                    <a:pt x="169" y="284"/>
                  </a:cubicBezTo>
                  <a:cubicBezTo>
                    <a:pt x="171" y="284"/>
                    <a:pt x="172" y="284"/>
                    <a:pt x="174" y="284"/>
                  </a:cubicBezTo>
                  <a:cubicBezTo>
                    <a:pt x="204" y="286"/>
                    <a:pt x="229" y="309"/>
                    <a:pt x="233" y="340"/>
                  </a:cubicBezTo>
                  <a:cubicBezTo>
                    <a:pt x="233" y="342"/>
                    <a:pt x="233" y="342"/>
                    <a:pt x="233" y="342"/>
                  </a:cubicBezTo>
                  <a:cubicBezTo>
                    <a:pt x="233" y="343"/>
                    <a:pt x="233" y="343"/>
                    <a:pt x="233" y="343"/>
                  </a:cubicBezTo>
                  <a:cubicBezTo>
                    <a:pt x="233" y="345"/>
                    <a:pt x="238" y="422"/>
                    <a:pt x="244" y="533"/>
                  </a:cubicBezTo>
                  <a:cubicBezTo>
                    <a:pt x="291" y="477"/>
                    <a:pt x="343" y="395"/>
                    <a:pt x="343" y="303"/>
                  </a:cubicBezTo>
                  <a:cubicBezTo>
                    <a:pt x="343" y="136"/>
                    <a:pt x="171" y="0"/>
                    <a:pt x="171" y="0"/>
                  </a:cubicBezTo>
                  <a:cubicBezTo>
                    <a:pt x="171" y="0"/>
                    <a:pt x="0" y="136"/>
                    <a:pt x="0" y="303"/>
                  </a:cubicBezTo>
                  <a:cubicBezTo>
                    <a:pt x="0" y="396"/>
                    <a:pt x="54" y="479"/>
                    <a:pt x="101" y="535"/>
                  </a:cubicBezTo>
                  <a:cubicBezTo>
                    <a:pt x="103" y="473"/>
                    <a:pt x="106" y="408"/>
                    <a:pt x="108" y="344"/>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grpSp>
      <p:grpSp>
        <p:nvGrpSpPr>
          <p:cNvPr id="15" name="bcgIcons_PlantGrow">
            <a:extLst>
              <a:ext uri="{FF2B5EF4-FFF2-40B4-BE49-F238E27FC236}">
                <a16:creationId xmlns:a16="http://schemas.microsoft.com/office/drawing/2014/main" id="{BBDAA0B2-BBCB-4208-B77C-B955239EF2D3}"/>
              </a:ext>
            </a:extLst>
          </p:cNvPr>
          <p:cNvGrpSpPr>
            <a:grpSpLocks noChangeAspect="1"/>
          </p:cNvGrpSpPr>
          <p:nvPr/>
        </p:nvGrpSpPr>
        <p:grpSpPr bwMode="auto">
          <a:xfrm>
            <a:off x="494508" y="3070075"/>
            <a:ext cx="504371" cy="504839"/>
            <a:chOff x="1682" y="0"/>
            <a:chExt cx="4316" cy="4320"/>
          </a:xfrm>
        </p:grpSpPr>
        <p:sp>
          <p:nvSpPr>
            <p:cNvPr id="16" name="AutoShape 28">
              <a:extLst>
                <a:ext uri="{FF2B5EF4-FFF2-40B4-BE49-F238E27FC236}">
                  <a16:creationId xmlns:a16="http://schemas.microsoft.com/office/drawing/2014/main" id="{9333873B-27E8-4A27-82C6-026C35394E78}"/>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sp>
          <p:nvSpPr>
            <p:cNvPr id="17" name="Freeform 30">
              <a:extLst>
                <a:ext uri="{FF2B5EF4-FFF2-40B4-BE49-F238E27FC236}">
                  <a16:creationId xmlns:a16="http://schemas.microsoft.com/office/drawing/2014/main" id="{E348F277-C322-433D-B63B-48C682F08A55}"/>
                </a:ext>
              </a:extLst>
            </p:cNvPr>
            <p:cNvSpPr>
              <a:spLocks noEditPoints="1"/>
            </p:cNvSpPr>
            <p:nvPr/>
          </p:nvSpPr>
          <p:spPr bwMode="auto">
            <a:xfrm>
              <a:off x="2742" y="911"/>
              <a:ext cx="2209" cy="2625"/>
            </a:xfrm>
            <a:custGeom>
              <a:avLst/>
              <a:gdLst>
                <a:gd name="T0" fmla="*/ 288 w 1179"/>
                <a:gd name="T1" fmla="*/ 867 h 1400"/>
                <a:gd name="T2" fmla="*/ 93 w 1179"/>
                <a:gd name="T3" fmla="*/ 749 h 1400"/>
                <a:gd name="T4" fmla="*/ 55 w 1179"/>
                <a:gd name="T5" fmla="*/ 426 h 1400"/>
                <a:gd name="T6" fmla="*/ 352 w 1179"/>
                <a:gd name="T7" fmla="*/ 560 h 1400"/>
                <a:gd name="T8" fmla="*/ 405 w 1179"/>
                <a:gd name="T9" fmla="*/ 790 h 1400"/>
                <a:gd name="T10" fmla="*/ 285 w 1179"/>
                <a:gd name="T11" fmla="*/ 639 h 1400"/>
                <a:gd name="T12" fmla="*/ 236 w 1179"/>
                <a:gd name="T13" fmla="*/ 615 h 1400"/>
                <a:gd name="T14" fmla="*/ 202 w 1179"/>
                <a:gd name="T15" fmla="*/ 626 h 1400"/>
                <a:gd name="T16" fmla="*/ 174 w 1179"/>
                <a:gd name="T17" fmla="*/ 666 h 1400"/>
                <a:gd name="T18" fmla="*/ 184 w 1179"/>
                <a:gd name="T19" fmla="*/ 712 h 1400"/>
                <a:gd name="T20" fmla="*/ 288 w 1179"/>
                <a:gd name="T21" fmla="*/ 867 h 1400"/>
                <a:gd name="T22" fmla="*/ 950 w 1179"/>
                <a:gd name="T23" fmla="*/ 663 h 1400"/>
                <a:gd name="T24" fmla="*/ 926 w 1179"/>
                <a:gd name="T25" fmla="*/ 666 h 1400"/>
                <a:gd name="T26" fmla="*/ 633 w 1179"/>
                <a:gd name="T27" fmla="*/ 1036 h 1400"/>
                <a:gd name="T28" fmla="*/ 633 w 1179"/>
                <a:gd name="T29" fmla="*/ 1036 h 1400"/>
                <a:gd name="T30" fmla="*/ 604 w 1179"/>
                <a:gd name="T31" fmla="*/ 346 h 1400"/>
                <a:gd name="T32" fmla="*/ 586 w 1179"/>
                <a:gd name="T33" fmla="*/ 328 h 1400"/>
                <a:gd name="T34" fmla="*/ 567 w 1179"/>
                <a:gd name="T35" fmla="*/ 346 h 1400"/>
                <a:gd name="T36" fmla="*/ 541 w 1179"/>
                <a:gd name="T37" fmla="*/ 1033 h 1400"/>
                <a:gd name="T38" fmla="*/ 250 w 1179"/>
                <a:gd name="T39" fmla="*/ 666 h 1400"/>
                <a:gd name="T40" fmla="*/ 226 w 1179"/>
                <a:gd name="T41" fmla="*/ 663 h 1400"/>
                <a:gd name="T42" fmla="*/ 220 w 1179"/>
                <a:gd name="T43" fmla="*/ 687 h 1400"/>
                <a:gd name="T44" fmla="*/ 441 w 1179"/>
                <a:gd name="T45" fmla="*/ 1016 h 1400"/>
                <a:gd name="T46" fmla="*/ 534 w 1179"/>
                <a:gd name="T47" fmla="*/ 1154 h 1400"/>
                <a:gd name="T48" fmla="*/ 528 w 1179"/>
                <a:gd name="T49" fmla="*/ 1284 h 1400"/>
                <a:gd name="T50" fmla="*/ 525 w 1179"/>
                <a:gd name="T51" fmla="*/ 1336 h 1400"/>
                <a:gd name="T52" fmla="*/ 525 w 1179"/>
                <a:gd name="T53" fmla="*/ 1341 h 1400"/>
                <a:gd name="T54" fmla="*/ 588 w 1179"/>
                <a:gd name="T55" fmla="*/ 1400 h 1400"/>
                <a:gd name="T56" fmla="*/ 647 w 1179"/>
                <a:gd name="T57" fmla="*/ 1336 h 1400"/>
                <a:gd name="T58" fmla="*/ 638 w 1179"/>
                <a:gd name="T59" fmla="*/ 1160 h 1400"/>
                <a:gd name="T60" fmla="*/ 737 w 1179"/>
                <a:gd name="T61" fmla="*/ 1013 h 1400"/>
                <a:gd name="T62" fmla="*/ 764 w 1179"/>
                <a:gd name="T63" fmla="*/ 973 h 1400"/>
                <a:gd name="T64" fmla="*/ 956 w 1179"/>
                <a:gd name="T65" fmla="*/ 687 h 1400"/>
                <a:gd name="T66" fmla="*/ 950 w 1179"/>
                <a:gd name="T67" fmla="*/ 663 h 1400"/>
                <a:gd name="T68" fmla="*/ 523 w 1179"/>
                <a:gd name="T69" fmla="*/ 344 h 1400"/>
                <a:gd name="T70" fmla="*/ 524 w 1179"/>
                <a:gd name="T71" fmla="*/ 343 h 1400"/>
                <a:gd name="T72" fmla="*/ 584 w 1179"/>
                <a:gd name="T73" fmla="*/ 284 h 1400"/>
                <a:gd name="T74" fmla="*/ 589 w 1179"/>
                <a:gd name="T75" fmla="*/ 284 h 1400"/>
                <a:gd name="T76" fmla="*/ 648 w 1179"/>
                <a:gd name="T77" fmla="*/ 340 h 1400"/>
                <a:gd name="T78" fmla="*/ 648 w 1179"/>
                <a:gd name="T79" fmla="*/ 342 h 1400"/>
                <a:gd name="T80" fmla="*/ 648 w 1179"/>
                <a:gd name="T81" fmla="*/ 344 h 1400"/>
                <a:gd name="T82" fmla="*/ 656 w 1179"/>
                <a:gd name="T83" fmla="*/ 536 h 1400"/>
                <a:gd name="T84" fmla="*/ 758 w 1179"/>
                <a:gd name="T85" fmla="*/ 303 h 1400"/>
                <a:gd name="T86" fmla="*/ 586 w 1179"/>
                <a:gd name="T87" fmla="*/ 0 h 1400"/>
                <a:gd name="T88" fmla="*/ 415 w 1179"/>
                <a:gd name="T89" fmla="*/ 303 h 1400"/>
                <a:gd name="T90" fmla="*/ 516 w 1179"/>
                <a:gd name="T91" fmla="*/ 536 h 1400"/>
                <a:gd name="T92" fmla="*/ 523 w 1179"/>
                <a:gd name="T93" fmla="*/ 344 h 1400"/>
                <a:gd name="T94" fmla="*/ 1124 w 1179"/>
                <a:gd name="T95" fmla="*/ 426 h 1400"/>
                <a:gd name="T96" fmla="*/ 826 w 1179"/>
                <a:gd name="T97" fmla="*/ 560 h 1400"/>
                <a:gd name="T98" fmla="*/ 773 w 1179"/>
                <a:gd name="T99" fmla="*/ 788 h 1400"/>
                <a:gd name="T100" fmla="*/ 892 w 1179"/>
                <a:gd name="T101" fmla="*/ 639 h 1400"/>
                <a:gd name="T102" fmla="*/ 940 w 1179"/>
                <a:gd name="T103" fmla="*/ 615 h 1400"/>
                <a:gd name="T104" fmla="*/ 975 w 1179"/>
                <a:gd name="T105" fmla="*/ 626 h 1400"/>
                <a:gd name="T106" fmla="*/ 1002 w 1179"/>
                <a:gd name="T107" fmla="*/ 666 h 1400"/>
                <a:gd name="T108" fmla="*/ 992 w 1179"/>
                <a:gd name="T109" fmla="*/ 712 h 1400"/>
                <a:gd name="T110" fmla="*/ 887 w 1179"/>
                <a:gd name="T111" fmla="*/ 868 h 1400"/>
                <a:gd name="T112" fmla="*/ 1086 w 1179"/>
                <a:gd name="T113" fmla="*/ 749 h 1400"/>
                <a:gd name="T114" fmla="*/ 1124 w 1179"/>
                <a:gd name="T115" fmla="*/ 426 h 1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79" h="1400">
                  <a:moveTo>
                    <a:pt x="288" y="867"/>
                  </a:moveTo>
                  <a:cubicBezTo>
                    <a:pt x="223" y="850"/>
                    <a:pt x="142" y="816"/>
                    <a:pt x="93" y="749"/>
                  </a:cubicBezTo>
                  <a:cubicBezTo>
                    <a:pt x="0" y="623"/>
                    <a:pt x="55" y="426"/>
                    <a:pt x="55" y="426"/>
                  </a:cubicBezTo>
                  <a:cubicBezTo>
                    <a:pt x="55" y="426"/>
                    <a:pt x="259" y="434"/>
                    <a:pt x="352" y="560"/>
                  </a:cubicBezTo>
                  <a:cubicBezTo>
                    <a:pt x="403" y="631"/>
                    <a:pt x="409" y="723"/>
                    <a:pt x="405" y="790"/>
                  </a:cubicBezTo>
                  <a:cubicBezTo>
                    <a:pt x="298" y="656"/>
                    <a:pt x="286" y="640"/>
                    <a:pt x="285" y="639"/>
                  </a:cubicBezTo>
                  <a:cubicBezTo>
                    <a:pt x="273" y="624"/>
                    <a:pt x="255" y="615"/>
                    <a:pt x="236" y="615"/>
                  </a:cubicBezTo>
                  <a:cubicBezTo>
                    <a:pt x="224" y="615"/>
                    <a:pt x="212" y="619"/>
                    <a:pt x="202" y="626"/>
                  </a:cubicBezTo>
                  <a:cubicBezTo>
                    <a:pt x="187" y="635"/>
                    <a:pt x="178" y="650"/>
                    <a:pt x="174" y="666"/>
                  </a:cubicBezTo>
                  <a:cubicBezTo>
                    <a:pt x="171" y="682"/>
                    <a:pt x="175" y="699"/>
                    <a:pt x="184" y="712"/>
                  </a:cubicBezTo>
                  <a:cubicBezTo>
                    <a:pt x="226" y="775"/>
                    <a:pt x="260" y="826"/>
                    <a:pt x="288" y="867"/>
                  </a:cubicBezTo>
                  <a:close/>
                  <a:moveTo>
                    <a:pt x="950" y="663"/>
                  </a:moveTo>
                  <a:cubicBezTo>
                    <a:pt x="943" y="657"/>
                    <a:pt x="932" y="658"/>
                    <a:pt x="926" y="666"/>
                  </a:cubicBezTo>
                  <a:cubicBezTo>
                    <a:pt x="652" y="1012"/>
                    <a:pt x="634" y="1035"/>
                    <a:pt x="633" y="1036"/>
                  </a:cubicBezTo>
                  <a:cubicBezTo>
                    <a:pt x="633" y="1036"/>
                    <a:pt x="633" y="1036"/>
                    <a:pt x="633" y="1036"/>
                  </a:cubicBezTo>
                  <a:cubicBezTo>
                    <a:pt x="622" y="760"/>
                    <a:pt x="604" y="346"/>
                    <a:pt x="604" y="346"/>
                  </a:cubicBezTo>
                  <a:cubicBezTo>
                    <a:pt x="603" y="336"/>
                    <a:pt x="596" y="328"/>
                    <a:pt x="586" y="328"/>
                  </a:cubicBezTo>
                  <a:cubicBezTo>
                    <a:pt x="576" y="327"/>
                    <a:pt x="568" y="335"/>
                    <a:pt x="567" y="346"/>
                  </a:cubicBezTo>
                  <a:cubicBezTo>
                    <a:pt x="559" y="563"/>
                    <a:pt x="548" y="902"/>
                    <a:pt x="541" y="1033"/>
                  </a:cubicBezTo>
                  <a:cubicBezTo>
                    <a:pt x="258" y="677"/>
                    <a:pt x="250" y="666"/>
                    <a:pt x="250" y="666"/>
                  </a:cubicBezTo>
                  <a:cubicBezTo>
                    <a:pt x="244" y="658"/>
                    <a:pt x="234" y="657"/>
                    <a:pt x="226" y="663"/>
                  </a:cubicBezTo>
                  <a:cubicBezTo>
                    <a:pt x="217" y="668"/>
                    <a:pt x="215" y="680"/>
                    <a:pt x="220" y="687"/>
                  </a:cubicBezTo>
                  <a:cubicBezTo>
                    <a:pt x="415" y="978"/>
                    <a:pt x="441" y="1016"/>
                    <a:pt x="441" y="1016"/>
                  </a:cubicBezTo>
                  <a:cubicBezTo>
                    <a:pt x="534" y="1154"/>
                    <a:pt x="534" y="1154"/>
                    <a:pt x="534" y="1154"/>
                  </a:cubicBezTo>
                  <a:cubicBezTo>
                    <a:pt x="528" y="1324"/>
                    <a:pt x="528" y="1284"/>
                    <a:pt x="528" y="1284"/>
                  </a:cubicBezTo>
                  <a:cubicBezTo>
                    <a:pt x="525" y="1336"/>
                    <a:pt x="525" y="1336"/>
                    <a:pt x="525" y="1336"/>
                  </a:cubicBezTo>
                  <a:cubicBezTo>
                    <a:pt x="525" y="1338"/>
                    <a:pt x="525" y="1340"/>
                    <a:pt x="525" y="1341"/>
                  </a:cubicBezTo>
                  <a:cubicBezTo>
                    <a:pt x="527" y="1375"/>
                    <a:pt x="555" y="1400"/>
                    <a:pt x="588" y="1400"/>
                  </a:cubicBezTo>
                  <a:cubicBezTo>
                    <a:pt x="622" y="1398"/>
                    <a:pt x="648" y="1370"/>
                    <a:pt x="647" y="1336"/>
                  </a:cubicBezTo>
                  <a:cubicBezTo>
                    <a:pt x="638" y="1120"/>
                    <a:pt x="638" y="1160"/>
                    <a:pt x="638" y="1160"/>
                  </a:cubicBezTo>
                  <a:cubicBezTo>
                    <a:pt x="737" y="1013"/>
                    <a:pt x="737" y="1013"/>
                    <a:pt x="737" y="1013"/>
                  </a:cubicBezTo>
                  <a:cubicBezTo>
                    <a:pt x="764" y="973"/>
                    <a:pt x="764" y="973"/>
                    <a:pt x="764" y="973"/>
                  </a:cubicBezTo>
                  <a:cubicBezTo>
                    <a:pt x="956" y="687"/>
                    <a:pt x="956" y="687"/>
                    <a:pt x="956" y="687"/>
                  </a:cubicBezTo>
                  <a:cubicBezTo>
                    <a:pt x="962" y="680"/>
                    <a:pt x="960" y="668"/>
                    <a:pt x="950" y="663"/>
                  </a:cubicBezTo>
                  <a:close/>
                  <a:moveTo>
                    <a:pt x="523" y="344"/>
                  </a:moveTo>
                  <a:cubicBezTo>
                    <a:pt x="524" y="343"/>
                    <a:pt x="524" y="343"/>
                    <a:pt x="524" y="343"/>
                  </a:cubicBezTo>
                  <a:cubicBezTo>
                    <a:pt x="525" y="310"/>
                    <a:pt x="552" y="284"/>
                    <a:pt x="584" y="284"/>
                  </a:cubicBezTo>
                  <a:cubicBezTo>
                    <a:pt x="586" y="284"/>
                    <a:pt x="587" y="284"/>
                    <a:pt x="589" y="284"/>
                  </a:cubicBezTo>
                  <a:cubicBezTo>
                    <a:pt x="619" y="286"/>
                    <a:pt x="644" y="309"/>
                    <a:pt x="648" y="340"/>
                  </a:cubicBezTo>
                  <a:cubicBezTo>
                    <a:pt x="648" y="342"/>
                    <a:pt x="648" y="342"/>
                    <a:pt x="648" y="342"/>
                  </a:cubicBezTo>
                  <a:cubicBezTo>
                    <a:pt x="648" y="344"/>
                    <a:pt x="648" y="344"/>
                    <a:pt x="648" y="344"/>
                  </a:cubicBezTo>
                  <a:cubicBezTo>
                    <a:pt x="648" y="346"/>
                    <a:pt x="652" y="425"/>
                    <a:pt x="656" y="536"/>
                  </a:cubicBezTo>
                  <a:cubicBezTo>
                    <a:pt x="704" y="480"/>
                    <a:pt x="758" y="396"/>
                    <a:pt x="758" y="303"/>
                  </a:cubicBezTo>
                  <a:cubicBezTo>
                    <a:pt x="758" y="136"/>
                    <a:pt x="586" y="0"/>
                    <a:pt x="586" y="0"/>
                  </a:cubicBezTo>
                  <a:cubicBezTo>
                    <a:pt x="586" y="0"/>
                    <a:pt x="415" y="136"/>
                    <a:pt x="415" y="303"/>
                  </a:cubicBezTo>
                  <a:cubicBezTo>
                    <a:pt x="415" y="397"/>
                    <a:pt x="469" y="480"/>
                    <a:pt x="516" y="536"/>
                  </a:cubicBezTo>
                  <a:cubicBezTo>
                    <a:pt x="519" y="467"/>
                    <a:pt x="521" y="402"/>
                    <a:pt x="523" y="344"/>
                  </a:cubicBezTo>
                  <a:close/>
                  <a:moveTo>
                    <a:pt x="1124" y="426"/>
                  </a:moveTo>
                  <a:cubicBezTo>
                    <a:pt x="1124" y="426"/>
                    <a:pt x="919" y="434"/>
                    <a:pt x="826" y="560"/>
                  </a:cubicBezTo>
                  <a:cubicBezTo>
                    <a:pt x="776" y="630"/>
                    <a:pt x="769" y="720"/>
                    <a:pt x="773" y="788"/>
                  </a:cubicBezTo>
                  <a:cubicBezTo>
                    <a:pt x="806" y="747"/>
                    <a:pt x="845" y="697"/>
                    <a:pt x="892" y="639"/>
                  </a:cubicBezTo>
                  <a:cubicBezTo>
                    <a:pt x="904" y="624"/>
                    <a:pt x="921" y="615"/>
                    <a:pt x="940" y="615"/>
                  </a:cubicBezTo>
                  <a:cubicBezTo>
                    <a:pt x="953" y="615"/>
                    <a:pt x="965" y="619"/>
                    <a:pt x="975" y="626"/>
                  </a:cubicBezTo>
                  <a:cubicBezTo>
                    <a:pt x="989" y="635"/>
                    <a:pt x="999" y="650"/>
                    <a:pt x="1002" y="666"/>
                  </a:cubicBezTo>
                  <a:cubicBezTo>
                    <a:pt x="1005" y="682"/>
                    <a:pt x="1001" y="699"/>
                    <a:pt x="992" y="712"/>
                  </a:cubicBezTo>
                  <a:cubicBezTo>
                    <a:pt x="887" y="868"/>
                    <a:pt x="887" y="868"/>
                    <a:pt x="887" y="868"/>
                  </a:cubicBezTo>
                  <a:cubicBezTo>
                    <a:pt x="953" y="851"/>
                    <a:pt x="1036" y="817"/>
                    <a:pt x="1086" y="749"/>
                  </a:cubicBezTo>
                  <a:cubicBezTo>
                    <a:pt x="1179" y="623"/>
                    <a:pt x="1124" y="426"/>
                    <a:pt x="1124" y="426"/>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sp>
          <p:nvSpPr>
            <p:cNvPr id="18" name="Freeform 31">
              <a:extLst>
                <a:ext uri="{FF2B5EF4-FFF2-40B4-BE49-F238E27FC236}">
                  <a16:creationId xmlns:a16="http://schemas.microsoft.com/office/drawing/2014/main" id="{2ABD879E-E9B6-4C02-8FCE-817B5283CB45}"/>
                </a:ext>
              </a:extLst>
            </p:cNvPr>
            <p:cNvSpPr>
              <a:spLocks noEditPoints="1"/>
            </p:cNvSpPr>
            <p:nvPr/>
          </p:nvSpPr>
          <p:spPr bwMode="auto">
            <a:xfrm>
              <a:off x="2429" y="3203"/>
              <a:ext cx="2825" cy="658"/>
            </a:xfrm>
            <a:custGeom>
              <a:avLst/>
              <a:gdLst>
                <a:gd name="T0" fmla="*/ 1508 w 1508"/>
                <a:gd name="T1" fmla="*/ 329 h 351"/>
                <a:gd name="T2" fmla="*/ 1486 w 1508"/>
                <a:gd name="T3" fmla="*/ 351 h 351"/>
                <a:gd name="T4" fmla="*/ 1213 w 1508"/>
                <a:gd name="T5" fmla="*/ 223 h 351"/>
                <a:gd name="T6" fmla="*/ 855 w 1508"/>
                <a:gd name="T7" fmla="*/ 44 h 351"/>
                <a:gd name="T8" fmla="*/ 853 w 1508"/>
                <a:gd name="T9" fmla="*/ 0 h 351"/>
                <a:gd name="T10" fmla="*/ 1239 w 1508"/>
                <a:gd name="T11" fmla="*/ 187 h 351"/>
                <a:gd name="T12" fmla="*/ 1486 w 1508"/>
                <a:gd name="T13" fmla="*/ 307 h 351"/>
                <a:gd name="T14" fmla="*/ 1508 w 1508"/>
                <a:gd name="T15" fmla="*/ 329 h 351"/>
                <a:gd name="T16" fmla="*/ 655 w 1508"/>
                <a:gd name="T17" fmla="*/ 0 h 351"/>
                <a:gd name="T18" fmla="*/ 269 w 1508"/>
                <a:gd name="T19" fmla="*/ 187 h 351"/>
                <a:gd name="T20" fmla="*/ 22 w 1508"/>
                <a:gd name="T21" fmla="*/ 307 h 351"/>
                <a:gd name="T22" fmla="*/ 0 w 1508"/>
                <a:gd name="T23" fmla="*/ 329 h 351"/>
                <a:gd name="T24" fmla="*/ 22 w 1508"/>
                <a:gd name="T25" fmla="*/ 351 h 351"/>
                <a:gd name="T26" fmla="*/ 295 w 1508"/>
                <a:gd name="T27" fmla="*/ 223 h 351"/>
                <a:gd name="T28" fmla="*/ 653 w 1508"/>
                <a:gd name="T29" fmla="*/ 44 h 351"/>
                <a:gd name="T30" fmla="*/ 655 w 1508"/>
                <a:gd name="T31" fmla="*/ 0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351">
                  <a:moveTo>
                    <a:pt x="1508" y="329"/>
                  </a:moveTo>
                  <a:cubicBezTo>
                    <a:pt x="1508" y="341"/>
                    <a:pt x="1499" y="351"/>
                    <a:pt x="1486" y="351"/>
                  </a:cubicBezTo>
                  <a:cubicBezTo>
                    <a:pt x="1395" y="351"/>
                    <a:pt x="1311" y="292"/>
                    <a:pt x="1213" y="223"/>
                  </a:cubicBezTo>
                  <a:cubicBezTo>
                    <a:pt x="1111" y="151"/>
                    <a:pt x="998" y="71"/>
                    <a:pt x="855" y="44"/>
                  </a:cubicBezTo>
                  <a:cubicBezTo>
                    <a:pt x="854" y="28"/>
                    <a:pt x="854" y="13"/>
                    <a:pt x="853" y="0"/>
                  </a:cubicBezTo>
                  <a:cubicBezTo>
                    <a:pt x="1011" y="27"/>
                    <a:pt x="1136" y="114"/>
                    <a:pt x="1239" y="187"/>
                  </a:cubicBezTo>
                  <a:cubicBezTo>
                    <a:pt x="1330" y="251"/>
                    <a:pt x="1409" y="307"/>
                    <a:pt x="1486" y="307"/>
                  </a:cubicBezTo>
                  <a:cubicBezTo>
                    <a:pt x="1499" y="307"/>
                    <a:pt x="1508" y="317"/>
                    <a:pt x="1508" y="329"/>
                  </a:cubicBezTo>
                  <a:close/>
                  <a:moveTo>
                    <a:pt x="655" y="0"/>
                  </a:moveTo>
                  <a:cubicBezTo>
                    <a:pt x="496" y="27"/>
                    <a:pt x="372" y="114"/>
                    <a:pt x="269" y="187"/>
                  </a:cubicBezTo>
                  <a:cubicBezTo>
                    <a:pt x="178" y="251"/>
                    <a:pt x="99" y="307"/>
                    <a:pt x="22" y="307"/>
                  </a:cubicBezTo>
                  <a:cubicBezTo>
                    <a:pt x="9" y="307"/>
                    <a:pt x="0" y="317"/>
                    <a:pt x="0" y="329"/>
                  </a:cubicBezTo>
                  <a:cubicBezTo>
                    <a:pt x="0" y="341"/>
                    <a:pt x="9" y="351"/>
                    <a:pt x="22" y="351"/>
                  </a:cubicBezTo>
                  <a:cubicBezTo>
                    <a:pt x="113" y="351"/>
                    <a:pt x="197" y="292"/>
                    <a:pt x="295" y="223"/>
                  </a:cubicBezTo>
                  <a:cubicBezTo>
                    <a:pt x="397" y="151"/>
                    <a:pt x="510" y="71"/>
                    <a:pt x="653" y="44"/>
                  </a:cubicBezTo>
                  <a:cubicBezTo>
                    <a:pt x="653" y="35"/>
                    <a:pt x="654" y="21"/>
                    <a:pt x="655"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grpSp>
      <p:grpSp>
        <p:nvGrpSpPr>
          <p:cNvPr id="19" name="bcgIcons_PlantTree">
            <a:extLst>
              <a:ext uri="{FF2B5EF4-FFF2-40B4-BE49-F238E27FC236}">
                <a16:creationId xmlns:a16="http://schemas.microsoft.com/office/drawing/2014/main" id="{F67C766D-3FDE-41C4-B227-5C579E897DFD}"/>
              </a:ext>
            </a:extLst>
          </p:cNvPr>
          <p:cNvGrpSpPr>
            <a:grpSpLocks noChangeAspect="1"/>
          </p:cNvGrpSpPr>
          <p:nvPr/>
        </p:nvGrpSpPr>
        <p:grpSpPr bwMode="auto">
          <a:xfrm>
            <a:off x="494508" y="5089921"/>
            <a:ext cx="504371" cy="504839"/>
            <a:chOff x="1682" y="0"/>
            <a:chExt cx="4316" cy="4320"/>
          </a:xfrm>
        </p:grpSpPr>
        <p:sp>
          <p:nvSpPr>
            <p:cNvPr id="20" name="AutoShape 33">
              <a:extLst>
                <a:ext uri="{FF2B5EF4-FFF2-40B4-BE49-F238E27FC236}">
                  <a16:creationId xmlns:a16="http://schemas.microsoft.com/office/drawing/2014/main" id="{D208576D-8B1B-4174-8DF0-33DD77CC523A}"/>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sp>
          <p:nvSpPr>
            <p:cNvPr id="21" name="Freeform 35">
              <a:extLst>
                <a:ext uri="{FF2B5EF4-FFF2-40B4-BE49-F238E27FC236}">
                  <a16:creationId xmlns:a16="http://schemas.microsoft.com/office/drawing/2014/main" id="{E0B94A42-502A-49E4-B637-D5F57DAEB0A7}"/>
                </a:ext>
              </a:extLst>
            </p:cNvPr>
            <p:cNvSpPr>
              <a:spLocks noEditPoints="1"/>
            </p:cNvSpPr>
            <p:nvPr/>
          </p:nvSpPr>
          <p:spPr bwMode="auto">
            <a:xfrm>
              <a:off x="2186" y="533"/>
              <a:ext cx="3308" cy="3003"/>
            </a:xfrm>
            <a:custGeom>
              <a:avLst/>
              <a:gdLst>
                <a:gd name="T0" fmla="*/ 1593 w 1766"/>
                <a:gd name="T1" fmla="*/ 1139 h 1602"/>
                <a:gd name="T2" fmla="*/ 1358 w 1766"/>
                <a:gd name="T3" fmla="*/ 1054 h 1602"/>
                <a:gd name="T4" fmla="*/ 1528 w 1766"/>
                <a:gd name="T5" fmla="*/ 845 h 1602"/>
                <a:gd name="T6" fmla="*/ 1535 w 1766"/>
                <a:gd name="T7" fmla="*/ 679 h 1602"/>
                <a:gd name="T8" fmla="*/ 1148 w 1766"/>
                <a:gd name="T9" fmla="*/ 129 h 1602"/>
                <a:gd name="T10" fmla="*/ 1202 w 1766"/>
                <a:gd name="T11" fmla="*/ 0 h 1602"/>
                <a:gd name="T12" fmla="*/ 1148 w 1766"/>
                <a:gd name="T13" fmla="*/ 129 h 1602"/>
                <a:gd name="T14" fmla="*/ 245 w 1766"/>
                <a:gd name="T15" fmla="*/ 902 h 1602"/>
                <a:gd name="T16" fmla="*/ 390 w 1766"/>
                <a:gd name="T17" fmla="*/ 1096 h 1602"/>
                <a:gd name="T18" fmla="*/ 153 w 1766"/>
                <a:gd name="T19" fmla="*/ 719 h 1602"/>
                <a:gd name="T20" fmla="*/ 60 w 1766"/>
                <a:gd name="T21" fmla="*/ 615 h 1602"/>
                <a:gd name="T22" fmla="*/ 644 w 1766"/>
                <a:gd name="T23" fmla="*/ 272 h 1602"/>
                <a:gd name="T24" fmla="*/ 695 w 1766"/>
                <a:gd name="T25" fmla="*/ 114 h 1602"/>
                <a:gd name="T26" fmla="*/ 644 w 1766"/>
                <a:gd name="T27" fmla="*/ 272 h 1602"/>
                <a:gd name="T28" fmla="*/ 407 w 1766"/>
                <a:gd name="T29" fmla="*/ 1276 h 1602"/>
                <a:gd name="T30" fmla="*/ 433 w 1766"/>
                <a:gd name="T31" fmla="*/ 1208 h 1602"/>
                <a:gd name="T32" fmla="*/ 402 w 1766"/>
                <a:gd name="T33" fmla="*/ 1148 h 1602"/>
                <a:gd name="T34" fmla="*/ 613 w 1766"/>
                <a:gd name="T35" fmla="*/ 1265 h 1602"/>
                <a:gd name="T36" fmla="*/ 1314 w 1766"/>
                <a:gd name="T37" fmla="*/ 1268 h 1602"/>
                <a:gd name="T38" fmla="*/ 1059 w 1766"/>
                <a:gd name="T39" fmla="*/ 1135 h 1602"/>
                <a:gd name="T40" fmla="*/ 1221 w 1766"/>
                <a:gd name="T41" fmla="*/ 828 h 1602"/>
                <a:gd name="T42" fmla="*/ 1270 w 1766"/>
                <a:gd name="T43" fmla="*/ 400 h 1602"/>
                <a:gd name="T44" fmla="*/ 913 w 1766"/>
                <a:gd name="T45" fmla="*/ 812 h 1602"/>
                <a:gd name="T46" fmla="*/ 862 w 1766"/>
                <a:gd name="T47" fmla="*/ 468 h 1602"/>
                <a:gd name="T48" fmla="*/ 495 w 1766"/>
                <a:gd name="T49" fmla="*/ 385 h 1602"/>
                <a:gd name="T50" fmla="*/ 834 w 1766"/>
                <a:gd name="T51" fmla="*/ 1192 h 1602"/>
                <a:gd name="T52" fmla="*/ 515 w 1766"/>
                <a:gd name="T53" fmla="*/ 849 h 1602"/>
                <a:gd name="T54" fmla="*/ 448 w 1766"/>
                <a:gd name="T55" fmla="*/ 1260 h 1602"/>
                <a:gd name="T56" fmla="*/ 829 w 1766"/>
                <a:gd name="T57" fmla="*/ 1316 h 1602"/>
                <a:gd name="T58" fmla="*/ 820 w 1766"/>
                <a:gd name="T59" fmla="*/ 1538 h 1602"/>
                <a:gd name="T60" fmla="*/ 942 w 1766"/>
                <a:gd name="T61" fmla="*/ 1538 h 1602"/>
                <a:gd name="T62" fmla="*/ 1032 w 1766"/>
                <a:gd name="T63" fmla="*/ 1175 h 1602"/>
                <a:gd name="T64" fmla="*/ 469 w 1766"/>
                <a:gd name="T65" fmla="*/ 828 h 1602"/>
                <a:gd name="T66" fmla="*/ 580 w 1766"/>
                <a:gd name="T67" fmla="*/ 801 h 1602"/>
                <a:gd name="T68" fmla="*/ 350 w 1766"/>
                <a:gd name="T69" fmla="*/ 588 h 1602"/>
                <a:gd name="T70" fmla="*/ 536 w 1766"/>
                <a:gd name="T71" fmla="*/ 542 h 1602"/>
                <a:gd name="T72" fmla="*/ 467 w 1766"/>
                <a:gd name="T73" fmla="*/ 351 h 1602"/>
                <a:gd name="T74" fmla="*/ 634 w 1766"/>
                <a:gd name="T75" fmla="*/ 469 h 1602"/>
                <a:gd name="T76" fmla="*/ 394 w 1766"/>
                <a:gd name="T77" fmla="*/ 454 h 1602"/>
                <a:gd name="T78" fmla="*/ 1261 w 1766"/>
                <a:gd name="T79" fmla="*/ 338 h 1602"/>
                <a:gd name="T80" fmla="*/ 1307 w 1766"/>
                <a:gd name="T81" fmla="*/ 424 h 1602"/>
                <a:gd name="T82" fmla="*/ 1401 w 1766"/>
                <a:gd name="T83" fmla="*/ 206 h 1602"/>
                <a:gd name="T84" fmla="*/ 1218 w 1766"/>
                <a:gd name="T85" fmla="*/ 359 h 1602"/>
                <a:gd name="T86" fmla="*/ 884 w 1766"/>
                <a:gd name="T87" fmla="*/ 406 h 1602"/>
                <a:gd name="T88" fmla="*/ 951 w 1766"/>
                <a:gd name="T89" fmla="*/ 656 h 1602"/>
                <a:gd name="T90" fmla="*/ 710 w 1766"/>
                <a:gd name="T91" fmla="*/ 422 h 1602"/>
                <a:gd name="T92" fmla="*/ 1419 w 1766"/>
                <a:gd name="T93" fmla="*/ 588 h 1602"/>
                <a:gd name="T94" fmla="*/ 1187 w 1766"/>
                <a:gd name="T95" fmla="*/ 801 h 1602"/>
                <a:gd name="T96" fmla="*/ 1297 w 1766"/>
                <a:gd name="T97" fmla="*/ 828 h 1602"/>
                <a:gd name="T98" fmla="*/ 1381 w 1766"/>
                <a:gd name="T99" fmla="*/ 911 h 1602"/>
                <a:gd name="T100" fmla="*/ 1211 w 1766"/>
                <a:gd name="T101" fmla="*/ 1152 h 1602"/>
                <a:gd name="T102" fmla="*/ 1371 w 1766"/>
                <a:gd name="T103" fmla="*/ 1273 h 1602"/>
                <a:gd name="T104" fmla="*/ 1300 w 1766"/>
                <a:gd name="T105" fmla="*/ 1310 h 1602"/>
                <a:gd name="T106" fmla="*/ 1539 w 1766"/>
                <a:gd name="T107" fmla="*/ 1340 h 1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66" h="1602">
                  <a:moveTo>
                    <a:pt x="1521" y="902"/>
                  </a:moveTo>
                  <a:cubicBezTo>
                    <a:pt x="1637" y="866"/>
                    <a:pt x="1766" y="956"/>
                    <a:pt x="1766" y="956"/>
                  </a:cubicBezTo>
                  <a:cubicBezTo>
                    <a:pt x="1766" y="956"/>
                    <a:pt x="1708" y="1104"/>
                    <a:pt x="1593" y="1139"/>
                  </a:cubicBezTo>
                  <a:cubicBezTo>
                    <a:pt x="1518" y="1162"/>
                    <a:pt x="1424" y="1120"/>
                    <a:pt x="1377" y="1096"/>
                  </a:cubicBezTo>
                  <a:cubicBezTo>
                    <a:pt x="1377" y="1096"/>
                    <a:pt x="1578" y="1032"/>
                    <a:pt x="1567" y="1005"/>
                  </a:cubicBezTo>
                  <a:cubicBezTo>
                    <a:pt x="1556" y="979"/>
                    <a:pt x="1358" y="1054"/>
                    <a:pt x="1358" y="1054"/>
                  </a:cubicBezTo>
                  <a:cubicBezTo>
                    <a:pt x="1383" y="1008"/>
                    <a:pt x="1445" y="924"/>
                    <a:pt x="1521" y="902"/>
                  </a:cubicBezTo>
                  <a:close/>
                  <a:moveTo>
                    <a:pt x="1601" y="719"/>
                  </a:moveTo>
                  <a:cubicBezTo>
                    <a:pt x="1618" y="730"/>
                    <a:pt x="1528" y="845"/>
                    <a:pt x="1528" y="845"/>
                  </a:cubicBezTo>
                  <a:cubicBezTo>
                    <a:pt x="1564" y="840"/>
                    <a:pt x="1634" y="828"/>
                    <a:pt x="1667" y="785"/>
                  </a:cubicBezTo>
                  <a:cubicBezTo>
                    <a:pt x="1721" y="721"/>
                    <a:pt x="1696" y="615"/>
                    <a:pt x="1696" y="615"/>
                  </a:cubicBezTo>
                  <a:cubicBezTo>
                    <a:pt x="1696" y="615"/>
                    <a:pt x="1587" y="614"/>
                    <a:pt x="1535" y="679"/>
                  </a:cubicBezTo>
                  <a:cubicBezTo>
                    <a:pt x="1500" y="721"/>
                    <a:pt x="1497" y="792"/>
                    <a:pt x="1500" y="829"/>
                  </a:cubicBezTo>
                  <a:cubicBezTo>
                    <a:pt x="1500" y="829"/>
                    <a:pt x="1584" y="708"/>
                    <a:pt x="1601" y="719"/>
                  </a:cubicBezTo>
                  <a:close/>
                  <a:moveTo>
                    <a:pt x="1148" y="129"/>
                  </a:moveTo>
                  <a:cubicBezTo>
                    <a:pt x="1168" y="134"/>
                    <a:pt x="1122" y="272"/>
                    <a:pt x="1122" y="272"/>
                  </a:cubicBezTo>
                  <a:cubicBezTo>
                    <a:pt x="1155" y="255"/>
                    <a:pt x="1215" y="220"/>
                    <a:pt x="1234" y="169"/>
                  </a:cubicBezTo>
                  <a:cubicBezTo>
                    <a:pt x="1260" y="90"/>
                    <a:pt x="1202" y="0"/>
                    <a:pt x="1202" y="0"/>
                  </a:cubicBezTo>
                  <a:cubicBezTo>
                    <a:pt x="1202" y="0"/>
                    <a:pt x="1099" y="36"/>
                    <a:pt x="1072" y="114"/>
                  </a:cubicBezTo>
                  <a:cubicBezTo>
                    <a:pt x="1054" y="165"/>
                    <a:pt x="1076" y="232"/>
                    <a:pt x="1091" y="266"/>
                  </a:cubicBezTo>
                  <a:cubicBezTo>
                    <a:pt x="1091" y="266"/>
                    <a:pt x="1129" y="125"/>
                    <a:pt x="1148" y="129"/>
                  </a:cubicBezTo>
                  <a:close/>
                  <a:moveTo>
                    <a:pt x="198" y="1005"/>
                  </a:moveTo>
                  <a:cubicBezTo>
                    <a:pt x="211" y="979"/>
                    <a:pt x="409" y="1054"/>
                    <a:pt x="409" y="1054"/>
                  </a:cubicBezTo>
                  <a:cubicBezTo>
                    <a:pt x="383" y="1008"/>
                    <a:pt x="320" y="924"/>
                    <a:pt x="245" y="902"/>
                  </a:cubicBezTo>
                  <a:cubicBezTo>
                    <a:pt x="130" y="866"/>
                    <a:pt x="0" y="956"/>
                    <a:pt x="0" y="956"/>
                  </a:cubicBezTo>
                  <a:cubicBezTo>
                    <a:pt x="0" y="956"/>
                    <a:pt x="58" y="1104"/>
                    <a:pt x="174" y="1139"/>
                  </a:cubicBezTo>
                  <a:cubicBezTo>
                    <a:pt x="249" y="1162"/>
                    <a:pt x="342" y="1120"/>
                    <a:pt x="390" y="1096"/>
                  </a:cubicBezTo>
                  <a:cubicBezTo>
                    <a:pt x="390" y="1096"/>
                    <a:pt x="187" y="1032"/>
                    <a:pt x="198" y="1005"/>
                  </a:cubicBezTo>
                  <a:close/>
                  <a:moveTo>
                    <a:pt x="225" y="845"/>
                  </a:moveTo>
                  <a:cubicBezTo>
                    <a:pt x="225" y="845"/>
                    <a:pt x="136" y="730"/>
                    <a:pt x="153" y="719"/>
                  </a:cubicBezTo>
                  <a:cubicBezTo>
                    <a:pt x="170" y="708"/>
                    <a:pt x="253" y="829"/>
                    <a:pt x="253" y="829"/>
                  </a:cubicBezTo>
                  <a:cubicBezTo>
                    <a:pt x="255" y="792"/>
                    <a:pt x="252" y="721"/>
                    <a:pt x="218" y="679"/>
                  </a:cubicBezTo>
                  <a:cubicBezTo>
                    <a:pt x="167" y="614"/>
                    <a:pt x="60" y="615"/>
                    <a:pt x="60" y="615"/>
                  </a:cubicBezTo>
                  <a:cubicBezTo>
                    <a:pt x="60" y="615"/>
                    <a:pt x="35" y="721"/>
                    <a:pt x="87" y="785"/>
                  </a:cubicBezTo>
                  <a:cubicBezTo>
                    <a:pt x="121" y="828"/>
                    <a:pt x="190" y="840"/>
                    <a:pt x="225" y="845"/>
                  </a:cubicBezTo>
                  <a:close/>
                  <a:moveTo>
                    <a:pt x="644" y="272"/>
                  </a:moveTo>
                  <a:cubicBezTo>
                    <a:pt x="644" y="272"/>
                    <a:pt x="598" y="134"/>
                    <a:pt x="618" y="129"/>
                  </a:cubicBezTo>
                  <a:cubicBezTo>
                    <a:pt x="637" y="125"/>
                    <a:pt x="676" y="266"/>
                    <a:pt x="676" y="266"/>
                  </a:cubicBezTo>
                  <a:cubicBezTo>
                    <a:pt x="691" y="232"/>
                    <a:pt x="712" y="165"/>
                    <a:pt x="695" y="114"/>
                  </a:cubicBezTo>
                  <a:cubicBezTo>
                    <a:pt x="668" y="36"/>
                    <a:pt x="566" y="0"/>
                    <a:pt x="566" y="0"/>
                  </a:cubicBezTo>
                  <a:cubicBezTo>
                    <a:pt x="566" y="0"/>
                    <a:pt x="506" y="90"/>
                    <a:pt x="533" y="169"/>
                  </a:cubicBezTo>
                  <a:cubicBezTo>
                    <a:pt x="550" y="220"/>
                    <a:pt x="612" y="255"/>
                    <a:pt x="644" y="272"/>
                  </a:cubicBezTo>
                  <a:close/>
                  <a:moveTo>
                    <a:pt x="477" y="1310"/>
                  </a:moveTo>
                  <a:cubicBezTo>
                    <a:pt x="471" y="1312"/>
                    <a:pt x="466" y="1312"/>
                    <a:pt x="460" y="1312"/>
                  </a:cubicBezTo>
                  <a:cubicBezTo>
                    <a:pt x="437" y="1312"/>
                    <a:pt x="416" y="1298"/>
                    <a:pt x="407" y="1276"/>
                  </a:cubicBezTo>
                  <a:cubicBezTo>
                    <a:pt x="406" y="1273"/>
                    <a:pt x="406" y="1273"/>
                    <a:pt x="406" y="1273"/>
                  </a:cubicBezTo>
                  <a:cubicBezTo>
                    <a:pt x="405" y="1269"/>
                    <a:pt x="405" y="1269"/>
                    <a:pt x="405" y="1269"/>
                  </a:cubicBezTo>
                  <a:cubicBezTo>
                    <a:pt x="400" y="1245"/>
                    <a:pt x="411" y="1220"/>
                    <a:pt x="433" y="1208"/>
                  </a:cubicBezTo>
                  <a:cubicBezTo>
                    <a:pt x="435" y="1206"/>
                    <a:pt x="435" y="1206"/>
                    <a:pt x="435" y="1206"/>
                  </a:cubicBezTo>
                  <a:cubicBezTo>
                    <a:pt x="567" y="1152"/>
                    <a:pt x="567" y="1152"/>
                    <a:pt x="567" y="1152"/>
                  </a:cubicBezTo>
                  <a:cubicBezTo>
                    <a:pt x="519" y="1137"/>
                    <a:pt x="458" y="1127"/>
                    <a:pt x="402" y="1148"/>
                  </a:cubicBezTo>
                  <a:cubicBezTo>
                    <a:pt x="290" y="1190"/>
                    <a:pt x="241" y="1340"/>
                    <a:pt x="241" y="1340"/>
                  </a:cubicBezTo>
                  <a:cubicBezTo>
                    <a:pt x="241" y="1340"/>
                    <a:pt x="376" y="1421"/>
                    <a:pt x="489" y="1378"/>
                  </a:cubicBezTo>
                  <a:cubicBezTo>
                    <a:pt x="546" y="1357"/>
                    <a:pt x="587" y="1308"/>
                    <a:pt x="613" y="1265"/>
                  </a:cubicBezTo>
                  <a:lnTo>
                    <a:pt x="477" y="1310"/>
                  </a:lnTo>
                  <a:close/>
                  <a:moveTo>
                    <a:pt x="1032" y="1175"/>
                  </a:moveTo>
                  <a:cubicBezTo>
                    <a:pt x="1314" y="1268"/>
                    <a:pt x="1314" y="1268"/>
                    <a:pt x="1314" y="1268"/>
                  </a:cubicBezTo>
                  <a:cubicBezTo>
                    <a:pt x="1319" y="1270"/>
                    <a:pt x="1326" y="1266"/>
                    <a:pt x="1329" y="1260"/>
                  </a:cubicBezTo>
                  <a:cubicBezTo>
                    <a:pt x="1330" y="1254"/>
                    <a:pt x="1327" y="1249"/>
                    <a:pt x="1322" y="1246"/>
                  </a:cubicBezTo>
                  <a:cubicBezTo>
                    <a:pt x="1059" y="1135"/>
                    <a:pt x="1059" y="1135"/>
                    <a:pt x="1059" y="1135"/>
                  </a:cubicBezTo>
                  <a:cubicBezTo>
                    <a:pt x="1251" y="849"/>
                    <a:pt x="1251" y="849"/>
                    <a:pt x="1251" y="849"/>
                  </a:cubicBezTo>
                  <a:cubicBezTo>
                    <a:pt x="1257" y="842"/>
                    <a:pt x="1255" y="830"/>
                    <a:pt x="1245" y="825"/>
                  </a:cubicBezTo>
                  <a:cubicBezTo>
                    <a:pt x="1238" y="819"/>
                    <a:pt x="1227" y="820"/>
                    <a:pt x="1221" y="828"/>
                  </a:cubicBezTo>
                  <a:cubicBezTo>
                    <a:pt x="928" y="1198"/>
                    <a:pt x="928" y="1198"/>
                    <a:pt x="928" y="1198"/>
                  </a:cubicBezTo>
                  <a:cubicBezTo>
                    <a:pt x="917" y="922"/>
                    <a:pt x="917" y="922"/>
                    <a:pt x="917" y="922"/>
                  </a:cubicBezTo>
                  <a:cubicBezTo>
                    <a:pt x="1270" y="400"/>
                    <a:pt x="1270" y="400"/>
                    <a:pt x="1270" y="400"/>
                  </a:cubicBezTo>
                  <a:cubicBezTo>
                    <a:pt x="1273" y="395"/>
                    <a:pt x="1273" y="388"/>
                    <a:pt x="1268" y="385"/>
                  </a:cubicBezTo>
                  <a:cubicBezTo>
                    <a:pt x="1263" y="380"/>
                    <a:pt x="1256" y="381"/>
                    <a:pt x="1252" y="386"/>
                  </a:cubicBezTo>
                  <a:cubicBezTo>
                    <a:pt x="913" y="812"/>
                    <a:pt x="913" y="812"/>
                    <a:pt x="913" y="812"/>
                  </a:cubicBezTo>
                  <a:cubicBezTo>
                    <a:pt x="899" y="468"/>
                    <a:pt x="899" y="468"/>
                    <a:pt x="899" y="468"/>
                  </a:cubicBezTo>
                  <a:cubicBezTo>
                    <a:pt x="898" y="458"/>
                    <a:pt x="891" y="450"/>
                    <a:pt x="881" y="450"/>
                  </a:cubicBezTo>
                  <a:cubicBezTo>
                    <a:pt x="871" y="449"/>
                    <a:pt x="863" y="457"/>
                    <a:pt x="862" y="468"/>
                  </a:cubicBezTo>
                  <a:cubicBezTo>
                    <a:pt x="849" y="810"/>
                    <a:pt x="849" y="810"/>
                    <a:pt x="849" y="810"/>
                  </a:cubicBezTo>
                  <a:cubicBezTo>
                    <a:pt x="511" y="386"/>
                    <a:pt x="511" y="386"/>
                    <a:pt x="511" y="386"/>
                  </a:cubicBezTo>
                  <a:cubicBezTo>
                    <a:pt x="507" y="381"/>
                    <a:pt x="500" y="380"/>
                    <a:pt x="495" y="385"/>
                  </a:cubicBezTo>
                  <a:cubicBezTo>
                    <a:pt x="490" y="388"/>
                    <a:pt x="490" y="395"/>
                    <a:pt x="493" y="400"/>
                  </a:cubicBezTo>
                  <a:cubicBezTo>
                    <a:pt x="844" y="920"/>
                    <a:pt x="844" y="920"/>
                    <a:pt x="844" y="920"/>
                  </a:cubicBezTo>
                  <a:cubicBezTo>
                    <a:pt x="834" y="1192"/>
                    <a:pt x="834" y="1192"/>
                    <a:pt x="834" y="1192"/>
                  </a:cubicBezTo>
                  <a:cubicBezTo>
                    <a:pt x="545" y="828"/>
                    <a:pt x="545" y="828"/>
                    <a:pt x="545" y="828"/>
                  </a:cubicBezTo>
                  <a:cubicBezTo>
                    <a:pt x="539" y="820"/>
                    <a:pt x="529" y="819"/>
                    <a:pt x="521" y="825"/>
                  </a:cubicBezTo>
                  <a:cubicBezTo>
                    <a:pt x="512" y="830"/>
                    <a:pt x="510" y="842"/>
                    <a:pt x="515" y="849"/>
                  </a:cubicBezTo>
                  <a:cubicBezTo>
                    <a:pt x="710" y="1140"/>
                    <a:pt x="710" y="1140"/>
                    <a:pt x="710" y="1140"/>
                  </a:cubicBezTo>
                  <a:cubicBezTo>
                    <a:pt x="455" y="1246"/>
                    <a:pt x="455" y="1246"/>
                    <a:pt x="455" y="1246"/>
                  </a:cubicBezTo>
                  <a:cubicBezTo>
                    <a:pt x="450" y="1249"/>
                    <a:pt x="447" y="1254"/>
                    <a:pt x="448" y="1260"/>
                  </a:cubicBezTo>
                  <a:cubicBezTo>
                    <a:pt x="451" y="1266"/>
                    <a:pt x="457" y="1270"/>
                    <a:pt x="463" y="1268"/>
                  </a:cubicBezTo>
                  <a:cubicBezTo>
                    <a:pt x="736" y="1178"/>
                    <a:pt x="736" y="1178"/>
                    <a:pt x="736" y="1178"/>
                  </a:cubicBezTo>
                  <a:cubicBezTo>
                    <a:pt x="829" y="1316"/>
                    <a:pt x="829" y="1316"/>
                    <a:pt x="829" y="1316"/>
                  </a:cubicBezTo>
                  <a:cubicBezTo>
                    <a:pt x="823" y="1486"/>
                    <a:pt x="823" y="1486"/>
                    <a:pt x="823" y="1486"/>
                  </a:cubicBezTo>
                  <a:cubicBezTo>
                    <a:pt x="820" y="1538"/>
                    <a:pt x="820" y="1538"/>
                    <a:pt x="820" y="1538"/>
                  </a:cubicBezTo>
                  <a:cubicBezTo>
                    <a:pt x="820" y="1538"/>
                    <a:pt x="820" y="1538"/>
                    <a:pt x="820" y="1538"/>
                  </a:cubicBezTo>
                  <a:cubicBezTo>
                    <a:pt x="820" y="1540"/>
                    <a:pt x="820" y="1542"/>
                    <a:pt x="820" y="1543"/>
                  </a:cubicBezTo>
                  <a:cubicBezTo>
                    <a:pt x="822" y="1577"/>
                    <a:pt x="850" y="1602"/>
                    <a:pt x="883" y="1602"/>
                  </a:cubicBezTo>
                  <a:cubicBezTo>
                    <a:pt x="917" y="1600"/>
                    <a:pt x="943" y="1572"/>
                    <a:pt x="942" y="1538"/>
                  </a:cubicBezTo>
                  <a:cubicBezTo>
                    <a:pt x="933" y="1322"/>
                    <a:pt x="933" y="1322"/>
                    <a:pt x="933" y="1322"/>
                  </a:cubicBezTo>
                  <a:cubicBezTo>
                    <a:pt x="1032" y="1175"/>
                    <a:pt x="1032" y="1175"/>
                    <a:pt x="1032" y="1175"/>
                  </a:cubicBezTo>
                  <a:cubicBezTo>
                    <a:pt x="1032" y="1175"/>
                    <a:pt x="1032" y="1175"/>
                    <a:pt x="1032" y="1175"/>
                  </a:cubicBezTo>
                  <a:close/>
                  <a:moveTo>
                    <a:pt x="583" y="1029"/>
                  </a:moveTo>
                  <a:cubicBezTo>
                    <a:pt x="479" y="874"/>
                    <a:pt x="479" y="874"/>
                    <a:pt x="479" y="874"/>
                  </a:cubicBezTo>
                  <a:cubicBezTo>
                    <a:pt x="470" y="861"/>
                    <a:pt x="466" y="844"/>
                    <a:pt x="469" y="828"/>
                  </a:cubicBezTo>
                  <a:cubicBezTo>
                    <a:pt x="473" y="812"/>
                    <a:pt x="482" y="797"/>
                    <a:pt x="497" y="788"/>
                  </a:cubicBezTo>
                  <a:cubicBezTo>
                    <a:pt x="507" y="781"/>
                    <a:pt x="519" y="777"/>
                    <a:pt x="531" y="777"/>
                  </a:cubicBezTo>
                  <a:cubicBezTo>
                    <a:pt x="550" y="777"/>
                    <a:pt x="568" y="786"/>
                    <a:pt x="580" y="801"/>
                  </a:cubicBezTo>
                  <a:cubicBezTo>
                    <a:pt x="700" y="952"/>
                    <a:pt x="700" y="952"/>
                    <a:pt x="700" y="952"/>
                  </a:cubicBezTo>
                  <a:cubicBezTo>
                    <a:pt x="704" y="884"/>
                    <a:pt x="698" y="792"/>
                    <a:pt x="647" y="722"/>
                  </a:cubicBezTo>
                  <a:cubicBezTo>
                    <a:pt x="554" y="596"/>
                    <a:pt x="350" y="588"/>
                    <a:pt x="350" y="588"/>
                  </a:cubicBezTo>
                  <a:cubicBezTo>
                    <a:pt x="350" y="588"/>
                    <a:pt x="295" y="785"/>
                    <a:pt x="388" y="911"/>
                  </a:cubicBezTo>
                  <a:cubicBezTo>
                    <a:pt x="437" y="978"/>
                    <a:pt x="518" y="1012"/>
                    <a:pt x="583" y="1029"/>
                  </a:cubicBezTo>
                  <a:close/>
                  <a:moveTo>
                    <a:pt x="536" y="542"/>
                  </a:moveTo>
                  <a:cubicBezTo>
                    <a:pt x="456" y="424"/>
                    <a:pt x="456" y="424"/>
                    <a:pt x="456" y="424"/>
                  </a:cubicBezTo>
                  <a:cubicBezTo>
                    <a:pt x="456" y="423"/>
                    <a:pt x="456" y="423"/>
                    <a:pt x="456" y="423"/>
                  </a:cubicBezTo>
                  <a:cubicBezTo>
                    <a:pt x="441" y="399"/>
                    <a:pt x="445" y="369"/>
                    <a:pt x="467" y="351"/>
                  </a:cubicBezTo>
                  <a:cubicBezTo>
                    <a:pt x="476" y="342"/>
                    <a:pt x="489" y="338"/>
                    <a:pt x="503" y="338"/>
                  </a:cubicBezTo>
                  <a:cubicBezTo>
                    <a:pt x="519" y="338"/>
                    <a:pt x="535" y="345"/>
                    <a:pt x="546" y="359"/>
                  </a:cubicBezTo>
                  <a:cubicBezTo>
                    <a:pt x="634" y="469"/>
                    <a:pt x="634" y="469"/>
                    <a:pt x="634" y="469"/>
                  </a:cubicBezTo>
                  <a:cubicBezTo>
                    <a:pt x="635" y="419"/>
                    <a:pt x="628" y="357"/>
                    <a:pt x="592" y="308"/>
                  </a:cubicBezTo>
                  <a:cubicBezTo>
                    <a:pt x="520" y="211"/>
                    <a:pt x="363" y="206"/>
                    <a:pt x="363" y="206"/>
                  </a:cubicBezTo>
                  <a:cubicBezTo>
                    <a:pt x="363" y="206"/>
                    <a:pt x="321" y="357"/>
                    <a:pt x="394" y="454"/>
                  </a:cubicBezTo>
                  <a:cubicBezTo>
                    <a:pt x="429" y="504"/>
                    <a:pt x="488" y="529"/>
                    <a:pt x="536" y="542"/>
                  </a:cubicBezTo>
                  <a:close/>
                  <a:moveTo>
                    <a:pt x="1218" y="359"/>
                  </a:moveTo>
                  <a:cubicBezTo>
                    <a:pt x="1228" y="345"/>
                    <a:pt x="1244" y="338"/>
                    <a:pt x="1261" y="338"/>
                  </a:cubicBezTo>
                  <a:cubicBezTo>
                    <a:pt x="1274" y="338"/>
                    <a:pt x="1287" y="342"/>
                    <a:pt x="1297" y="351"/>
                  </a:cubicBezTo>
                  <a:cubicBezTo>
                    <a:pt x="1318" y="369"/>
                    <a:pt x="1323" y="399"/>
                    <a:pt x="1308" y="423"/>
                  </a:cubicBezTo>
                  <a:cubicBezTo>
                    <a:pt x="1307" y="424"/>
                    <a:pt x="1307" y="424"/>
                    <a:pt x="1307" y="424"/>
                  </a:cubicBezTo>
                  <a:cubicBezTo>
                    <a:pt x="1227" y="542"/>
                    <a:pt x="1227" y="542"/>
                    <a:pt x="1227" y="542"/>
                  </a:cubicBezTo>
                  <a:cubicBezTo>
                    <a:pt x="1276" y="529"/>
                    <a:pt x="1334" y="504"/>
                    <a:pt x="1370" y="454"/>
                  </a:cubicBezTo>
                  <a:cubicBezTo>
                    <a:pt x="1442" y="357"/>
                    <a:pt x="1401" y="206"/>
                    <a:pt x="1401" y="206"/>
                  </a:cubicBezTo>
                  <a:cubicBezTo>
                    <a:pt x="1401" y="206"/>
                    <a:pt x="1243" y="211"/>
                    <a:pt x="1171" y="308"/>
                  </a:cubicBezTo>
                  <a:cubicBezTo>
                    <a:pt x="1135" y="357"/>
                    <a:pt x="1128" y="419"/>
                    <a:pt x="1129" y="470"/>
                  </a:cubicBezTo>
                  <a:lnTo>
                    <a:pt x="1218" y="359"/>
                  </a:lnTo>
                  <a:close/>
                  <a:moveTo>
                    <a:pt x="819" y="465"/>
                  </a:moveTo>
                  <a:cubicBezTo>
                    <a:pt x="820" y="432"/>
                    <a:pt x="847" y="406"/>
                    <a:pt x="879" y="406"/>
                  </a:cubicBezTo>
                  <a:cubicBezTo>
                    <a:pt x="881" y="406"/>
                    <a:pt x="882" y="406"/>
                    <a:pt x="884" y="406"/>
                  </a:cubicBezTo>
                  <a:cubicBezTo>
                    <a:pt x="914" y="408"/>
                    <a:pt x="939" y="431"/>
                    <a:pt x="943" y="462"/>
                  </a:cubicBezTo>
                  <a:cubicBezTo>
                    <a:pt x="943" y="464"/>
                    <a:pt x="943" y="464"/>
                    <a:pt x="943" y="464"/>
                  </a:cubicBezTo>
                  <a:cubicBezTo>
                    <a:pt x="951" y="656"/>
                    <a:pt x="951" y="656"/>
                    <a:pt x="951" y="656"/>
                  </a:cubicBezTo>
                  <a:cubicBezTo>
                    <a:pt x="998" y="600"/>
                    <a:pt x="1053" y="516"/>
                    <a:pt x="1053" y="422"/>
                  </a:cubicBezTo>
                  <a:cubicBezTo>
                    <a:pt x="1053" y="255"/>
                    <a:pt x="881" y="119"/>
                    <a:pt x="881" y="119"/>
                  </a:cubicBezTo>
                  <a:cubicBezTo>
                    <a:pt x="881" y="119"/>
                    <a:pt x="710" y="255"/>
                    <a:pt x="710" y="422"/>
                  </a:cubicBezTo>
                  <a:cubicBezTo>
                    <a:pt x="710" y="516"/>
                    <a:pt x="764" y="599"/>
                    <a:pt x="811" y="655"/>
                  </a:cubicBezTo>
                  <a:lnTo>
                    <a:pt x="819" y="465"/>
                  </a:lnTo>
                  <a:close/>
                  <a:moveTo>
                    <a:pt x="1419" y="588"/>
                  </a:moveTo>
                  <a:cubicBezTo>
                    <a:pt x="1419" y="588"/>
                    <a:pt x="1214" y="596"/>
                    <a:pt x="1121" y="722"/>
                  </a:cubicBezTo>
                  <a:cubicBezTo>
                    <a:pt x="1071" y="792"/>
                    <a:pt x="1064" y="882"/>
                    <a:pt x="1068" y="950"/>
                  </a:cubicBezTo>
                  <a:cubicBezTo>
                    <a:pt x="1187" y="801"/>
                    <a:pt x="1187" y="801"/>
                    <a:pt x="1187" y="801"/>
                  </a:cubicBezTo>
                  <a:cubicBezTo>
                    <a:pt x="1198" y="786"/>
                    <a:pt x="1216" y="777"/>
                    <a:pt x="1235" y="777"/>
                  </a:cubicBezTo>
                  <a:cubicBezTo>
                    <a:pt x="1247" y="777"/>
                    <a:pt x="1260" y="781"/>
                    <a:pt x="1270" y="788"/>
                  </a:cubicBezTo>
                  <a:cubicBezTo>
                    <a:pt x="1284" y="797"/>
                    <a:pt x="1294" y="812"/>
                    <a:pt x="1297" y="828"/>
                  </a:cubicBezTo>
                  <a:cubicBezTo>
                    <a:pt x="1300" y="844"/>
                    <a:pt x="1296" y="861"/>
                    <a:pt x="1287" y="874"/>
                  </a:cubicBezTo>
                  <a:cubicBezTo>
                    <a:pt x="1182" y="1030"/>
                    <a:pt x="1182" y="1030"/>
                    <a:pt x="1182" y="1030"/>
                  </a:cubicBezTo>
                  <a:cubicBezTo>
                    <a:pt x="1248" y="1013"/>
                    <a:pt x="1331" y="979"/>
                    <a:pt x="1381" y="911"/>
                  </a:cubicBezTo>
                  <a:cubicBezTo>
                    <a:pt x="1474" y="785"/>
                    <a:pt x="1419" y="588"/>
                    <a:pt x="1419" y="588"/>
                  </a:cubicBezTo>
                  <a:close/>
                  <a:moveTo>
                    <a:pt x="1376" y="1148"/>
                  </a:moveTo>
                  <a:cubicBezTo>
                    <a:pt x="1320" y="1127"/>
                    <a:pt x="1259" y="1137"/>
                    <a:pt x="1211" y="1152"/>
                  </a:cubicBezTo>
                  <a:cubicBezTo>
                    <a:pt x="1340" y="1206"/>
                    <a:pt x="1340" y="1206"/>
                    <a:pt x="1340" y="1206"/>
                  </a:cubicBezTo>
                  <a:cubicBezTo>
                    <a:pt x="1364" y="1217"/>
                    <a:pt x="1377" y="1243"/>
                    <a:pt x="1372" y="1269"/>
                  </a:cubicBezTo>
                  <a:cubicBezTo>
                    <a:pt x="1371" y="1273"/>
                    <a:pt x="1371" y="1273"/>
                    <a:pt x="1371" y="1273"/>
                  </a:cubicBezTo>
                  <a:cubicBezTo>
                    <a:pt x="1369" y="1276"/>
                    <a:pt x="1369" y="1276"/>
                    <a:pt x="1369" y="1276"/>
                  </a:cubicBezTo>
                  <a:cubicBezTo>
                    <a:pt x="1361" y="1298"/>
                    <a:pt x="1340" y="1312"/>
                    <a:pt x="1317" y="1312"/>
                  </a:cubicBezTo>
                  <a:cubicBezTo>
                    <a:pt x="1311" y="1312"/>
                    <a:pt x="1305" y="1312"/>
                    <a:pt x="1300" y="1310"/>
                  </a:cubicBezTo>
                  <a:cubicBezTo>
                    <a:pt x="1164" y="1265"/>
                    <a:pt x="1164" y="1265"/>
                    <a:pt x="1164" y="1265"/>
                  </a:cubicBezTo>
                  <a:cubicBezTo>
                    <a:pt x="1191" y="1308"/>
                    <a:pt x="1232" y="1357"/>
                    <a:pt x="1290" y="1378"/>
                  </a:cubicBezTo>
                  <a:cubicBezTo>
                    <a:pt x="1404" y="1421"/>
                    <a:pt x="1539" y="1340"/>
                    <a:pt x="1539" y="1340"/>
                  </a:cubicBezTo>
                  <a:cubicBezTo>
                    <a:pt x="1539" y="1340"/>
                    <a:pt x="1491" y="1190"/>
                    <a:pt x="1376" y="1148"/>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sp>
          <p:nvSpPr>
            <p:cNvPr id="22" name="Freeform 36">
              <a:extLst>
                <a:ext uri="{FF2B5EF4-FFF2-40B4-BE49-F238E27FC236}">
                  <a16:creationId xmlns:a16="http://schemas.microsoft.com/office/drawing/2014/main" id="{FFDCF9E1-7D34-4902-B191-E2D99FA830BF}"/>
                </a:ext>
              </a:extLst>
            </p:cNvPr>
            <p:cNvSpPr>
              <a:spLocks noEditPoints="1"/>
            </p:cNvSpPr>
            <p:nvPr/>
          </p:nvSpPr>
          <p:spPr bwMode="auto">
            <a:xfrm>
              <a:off x="2171" y="448"/>
              <a:ext cx="3334" cy="3413"/>
            </a:xfrm>
            <a:custGeom>
              <a:avLst/>
              <a:gdLst>
                <a:gd name="T0" fmla="*/ 0 w 1780"/>
                <a:gd name="T1" fmla="*/ 1199 h 1820"/>
                <a:gd name="T2" fmla="*/ 79 w 1780"/>
                <a:gd name="T3" fmla="*/ 888 h 1820"/>
                <a:gd name="T4" fmla="*/ 42 w 1780"/>
                <a:gd name="T5" fmla="*/ 924 h 1820"/>
                <a:gd name="T6" fmla="*/ 128 w 1780"/>
                <a:gd name="T7" fmla="*/ 452 h 1820"/>
                <a:gd name="T8" fmla="*/ 164 w 1780"/>
                <a:gd name="T9" fmla="*/ 488 h 1820"/>
                <a:gd name="T10" fmla="*/ 223 w 1780"/>
                <a:gd name="T11" fmla="*/ 452 h 1820"/>
                <a:gd name="T12" fmla="*/ 407 w 1780"/>
                <a:gd name="T13" fmla="*/ 165 h 1820"/>
                <a:gd name="T14" fmla="*/ 370 w 1780"/>
                <a:gd name="T15" fmla="*/ 201 h 1820"/>
                <a:gd name="T16" fmla="*/ 208 w 1780"/>
                <a:gd name="T17" fmla="*/ 531 h 1820"/>
                <a:gd name="T18" fmla="*/ 244 w 1780"/>
                <a:gd name="T19" fmla="*/ 567 h 1820"/>
                <a:gd name="T20" fmla="*/ 10 w 1780"/>
                <a:gd name="T21" fmla="*/ 1335 h 1820"/>
                <a:gd name="T22" fmla="*/ 190 w 1780"/>
                <a:gd name="T23" fmla="*/ 1274 h 1820"/>
                <a:gd name="T24" fmla="*/ 154 w 1780"/>
                <a:gd name="T25" fmla="*/ 1310 h 1820"/>
                <a:gd name="T26" fmla="*/ 189 w 1780"/>
                <a:gd name="T27" fmla="*/ 337 h 1820"/>
                <a:gd name="T28" fmla="*/ 225 w 1780"/>
                <a:gd name="T29" fmla="*/ 373 h 1820"/>
                <a:gd name="T30" fmla="*/ 436 w 1780"/>
                <a:gd name="T31" fmla="*/ 189 h 1820"/>
                <a:gd name="T32" fmla="*/ 748 w 1780"/>
                <a:gd name="T33" fmla="*/ 36 h 1820"/>
                <a:gd name="T34" fmla="*/ 711 w 1780"/>
                <a:gd name="T35" fmla="*/ 72 h 1820"/>
                <a:gd name="T36" fmla="*/ 773 w 1780"/>
                <a:gd name="T37" fmla="*/ 108 h 1820"/>
                <a:gd name="T38" fmla="*/ 810 w 1780"/>
                <a:gd name="T39" fmla="*/ 144 h 1820"/>
                <a:gd name="T40" fmla="*/ 783 w 1780"/>
                <a:gd name="T41" fmla="*/ 53 h 1820"/>
                <a:gd name="T42" fmla="*/ 1708 w 1780"/>
                <a:gd name="T43" fmla="*/ 1199 h 1820"/>
                <a:gd name="T44" fmla="*/ 1745 w 1780"/>
                <a:gd name="T45" fmla="*/ 1163 h 1820"/>
                <a:gd name="T46" fmla="*/ 1738 w 1780"/>
                <a:gd name="T47" fmla="*/ 924 h 1820"/>
                <a:gd name="T48" fmla="*/ 1701 w 1780"/>
                <a:gd name="T49" fmla="*/ 888 h 1820"/>
                <a:gd name="T50" fmla="*/ 1688 w 1780"/>
                <a:gd name="T51" fmla="*/ 488 h 1820"/>
                <a:gd name="T52" fmla="*/ 1485 w 1780"/>
                <a:gd name="T53" fmla="*/ 452 h 1820"/>
                <a:gd name="T54" fmla="*/ 1521 w 1780"/>
                <a:gd name="T55" fmla="*/ 416 h 1820"/>
                <a:gd name="T56" fmla="*/ 1410 w 1780"/>
                <a:gd name="T57" fmla="*/ 201 h 1820"/>
                <a:gd name="T58" fmla="*/ 1373 w 1780"/>
                <a:gd name="T59" fmla="*/ 165 h 1820"/>
                <a:gd name="T60" fmla="*/ 1608 w 1780"/>
                <a:gd name="T61" fmla="*/ 567 h 1820"/>
                <a:gd name="T62" fmla="*/ 1698 w 1780"/>
                <a:gd name="T63" fmla="*/ 1335 h 1820"/>
                <a:gd name="T64" fmla="*/ 1734 w 1780"/>
                <a:gd name="T65" fmla="*/ 1299 h 1820"/>
                <a:gd name="T66" fmla="*/ 1626 w 1780"/>
                <a:gd name="T67" fmla="*/ 1310 h 1820"/>
                <a:gd name="T68" fmla="*/ 1590 w 1780"/>
                <a:gd name="T69" fmla="*/ 1274 h 1820"/>
                <a:gd name="T70" fmla="*/ 1627 w 1780"/>
                <a:gd name="T71" fmla="*/ 373 h 1820"/>
                <a:gd name="T72" fmla="*/ 1272 w 1780"/>
                <a:gd name="T73" fmla="*/ 189 h 1820"/>
                <a:gd name="T74" fmla="*/ 1309 w 1780"/>
                <a:gd name="T75" fmla="*/ 153 h 1820"/>
                <a:gd name="T76" fmla="*/ 1069 w 1780"/>
                <a:gd name="T77" fmla="*/ 72 h 1820"/>
                <a:gd name="T78" fmla="*/ 1032 w 1780"/>
                <a:gd name="T79" fmla="*/ 36 h 1820"/>
                <a:gd name="T80" fmla="*/ 1042 w 1780"/>
                <a:gd name="T81" fmla="*/ 144 h 1820"/>
                <a:gd name="T82" fmla="*/ 925 w 1780"/>
                <a:gd name="T83" fmla="*/ 53 h 1820"/>
                <a:gd name="T84" fmla="*/ 961 w 1780"/>
                <a:gd name="T85" fmla="*/ 17 h 1820"/>
                <a:gd name="T86" fmla="*/ 405 w 1780"/>
                <a:gd name="T87" fmla="*/ 1656 h 1820"/>
                <a:gd name="T88" fmla="*/ 158 w 1780"/>
                <a:gd name="T89" fmla="*/ 1820 h 1820"/>
                <a:gd name="T90" fmla="*/ 789 w 1780"/>
                <a:gd name="T91" fmla="*/ 1469 h 1820"/>
                <a:gd name="T92" fmla="*/ 989 w 1780"/>
                <a:gd name="T93" fmla="*/ 1469 h 1820"/>
                <a:gd name="T94" fmla="*/ 1622 w 1780"/>
                <a:gd name="T95" fmla="*/ 1820 h 1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80" h="1820">
                  <a:moveTo>
                    <a:pt x="72" y="1199"/>
                  </a:moveTo>
                  <a:cubicBezTo>
                    <a:pt x="72" y="1218"/>
                    <a:pt x="56" y="1235"/>
                    <a:pt x="35" y="1235"/>
                  </a:cubicBezTo>
                  <a:cubicBezTo>
                    <a:pt x="16" y="1235"/>
                    <a:pt x="0" y="1218"/>
                    <a:pt x="0" y="1199"/>
                  </a:cubicBezTo>
                  <a:cubicBezTo>
                    <a:pt x="0" y="1179"/>
                    <a:pt x="16" y="1163"/>
                    <a:pt x="35" y="1163"/>
                  </a:cubicBezTo>
                  <a:cubicBezTo>
                    <a:pt x="56" y="1163"/>
                    <a:pt x="72" y="1179"/>
                    <a:pt x="72" y="1199"/>
                  </a:cubicBezTo>
                  <a:close/>
                  <a:moveTo>
                    <a:pt x="79" y="888"/>
                  </a:moveTo>
                  <a:cubicBezTo>
                    <a:pt x="79" y="868"/>
                    <a:pt x="63" y="852"/>
                    <a:pt x="42" y="852"/>
                  </a:cubicBezTo>
                  <a:cubicBezTo>
                    <a:pt x="23" y="852"/>
                    <a:pt x="7" y="868"/>
                    <a:pt x="7" y="888"/>
                  </a:cubicBezTo>
                  <a:cubicBezTo>
                    <a:pt x="7" y="907"/>
                    <a:pt x="23" y="924"/>
                    <a:pt x="42" y="924"/>
                  </a:cubicBezTo>
                  <a:cubicBezTo>
                    <a:pt x="63" y="924"/>
                    <a:pt x="79" y="907"/>
                    <a:pt x="79" y="888"/>
                  </a:cubicBezTo>
                  <a:close/>
                  <a:moveTo>
                    <a:pt x="164" y="488"/>
                  </a:moveTo>
                  <a:cubicBezTo>
                    <a:pt x="164" y="468"/>
                    <a:pt x="148" y="452"/>
                    <a:pt x="128" y="452"/>
                  </a:cubicBezTo>
                  <a:cubicBezTo>
                    <a:pt x="109" y="452"/>
                    <a:pt x="92" y="468"/>
                    <a:pt x="92" y="488"/>
                  </a:cubicBezTo>
                  <a:cubicBezTo>
                    <a:pt x="92" y="507"/>
                    <a:pt x="109" y="524"/>
                    <a:pt x="128" y="524"/>
                  </a:cubicBezTo>
                  <a:cubicBezTo>
                    <a:pt x="148" y="524"/>
                    <a:pt x="164" y="507"/>
                    <a:pt x="164" y="488"/>
                  </a:cubicBezTo>
                  <a:close/>
                  <a:moveTo>
                    <a:pt x="295" y="452"/>
                  </a:moveTo>
                  <a:cubicBezTo>
                    <a:pt x="295" y="432"/>
                    <a:pt x="279" y="416"/>
                    <a:pt x="259" y="416"/>
                  </a:cubicBezTo>
                  <a:cubicBezTo>
                    <a:pt x="239" y="416"/>
                    <a:pt x="223" y="432"/>
                    <a:pt x="223" y="452"/>
                  </a:cubicBezTo>
                  <a:cubicBezTo>
                    <a:pt x="223" y="471"/>
                    <a:pt x="239" y="488"/>
                    <a:pt x="259" y="488"/>
                  </a:cubicBezTo>
                  <a:cubicBezTo>
                    <a:pt x="279" y="488"/>
                    <a:pt x="295" y="471"/>
                    <a:pt x="295" y="452"/>
                  </a:cubicBezTo>
                  <a:close/>
                  <a:moveTo>
                    <a:pt x="407" y="165"/>
                  </a:moveTo>
                  <a:cubicBezTo>
                    <a:pt x="407" y="145"/>
                    <a:pt x="391" y="129"/>
                    <a:pt x="370" y="129"/>
                  </a:cubicBezTo>
                  <a:cubicBezTo>
                    <a:pt x="351" y="129"/>
                    <a:pt x="335" y="145"/>
                    <a:pt x="335" y="165"/>
                  </a:cubicBezTo>
                  <a:cubicBezTo>
                    <a:pt x="335" y="184"/>
                    <a:pt x="351" y="201"/>
                    <a:pt x="370" y="201"/>
                  </a:cubicBezTo>
                  <a:cubicBezTo>
                    <a:pt x="391" y="201"/>
                    <a:pt x="407" y="184"/>
                    <a:pt x="407" y="165"/>
                  </a:cubicBezTo>
                  <a:close/>
                  <a:moveTo>
                    <a:pt x="244" y="567"/>
                  </a:moveTo>
                  <a:cubicBezTo>
                    <a:pt x="244" y="547"/>
                    <a:pt x="228" y="531"/>
                    <a:pt x="208" y="531"/>
                  </a:cubicBezTo>
                  <a:cubicBezTo>
                    <a:pt x="189" y="531"/>
                    <a:pt x="172" y="547"/>
                    <a:pt x="172" y="567"/>
                  </a:cubicBezTo>
                  <a:cubicBezTo>
                    <a:pt x="172" y="586"/>
                    <a:pt x="189" y="603"/>
                    <a:pt x="208" y="603"/>
                  </a:cubicBezTo>
                  <a:cubicBezTo>
                    <a:pt x="228" y="603"/>
                    <a:pt x="244" y="586"/>
                    <a:pt x="244" y="567"/>
                  </a:cubicBezTo>
                  <a:close/>
                  <a:moveTo>
                    <a:pt x="82" y="1335"/>
                  </a:moveTo>
                  <a:cubicBezTo>
                    <a:pt x="82" y="1314"/>
                    <a:pt x="66" y="1299"/>
                    <a:pt x="46" y="1299"/>
                  </a:cubicBezTo>
                  <a:cubicBezTo>
                    <a:pt x="27" y="1299"/>
                    <a:pt x="10" y="1314"/>
                    <a:pt x="10" y="1335"/>
                  </a:cubicBezTo>
                  <a:cubicBezTo>
                    <a:pt x="10" y="1354"/>
                    <a:pt x="27" y="1371"/>
                    <a:pt x="46" y="1371"/>
                  </a:cubicBezTo>
                  <a:cubicBezTo>
                    <a:pt x="66" y="1371"/>
                    <a:pt x="82" y="1354"/>
                    <a:pt x="82" y="1335"/>
                  </a:cubicBezTo>
                  <a:close/>
                  <a:moveTo>
                    <a:pt x="190" y="1274"/>
                  </a:moveTo>
                  <a:cubicBezTo>
                    <a:pt x="190" y="1253"/>
                    <a:pt x="174" y="1238"/>
                    <a:pt x="154" y="1238"/>
                  </a:cubicBezTo>
                  <a:cubicBezTo>
                    <a:pt x="135" y="1238"/>
                    <a:pt x="118" y="1253"/>
                    <a:pt x="118" y="1274"/>
                  </a:cubicBezTo>
                  <a:cubicBezTo>
                    <a:pt x="118" y="1293"/>
                    <a:pt x="135" y="1310"/>
                    <a:pt x="154" y="1310"/>
                  </a:cubicBezTo>
                  <a:cubicBezTo>
                    <a:pt x="174" y="1310"/>
                    <a:pt x="190" y="1293"/>
                    <a:pt x="190" y="1274"/>
                  </a:cubicBezTo>
                  <a:close/>
                  <a:moveTo>
                    <a:pt x="225" y="373"/>
                  </a:moveTo>
                  <a:cubicBezTo>
                    <a:pt x="225" y="353"/>
                    <a:pt x="209" y="337"/>
                    <a:pt x="189" y="337"/>
                  </a:cubicBezTo>
                  <a:cubicBezTo>
                    <a:pt x="170" y="337"/>
                    <a:pt x="153" y="353"/>
                    <a:pt x="153" y="373"/>
                  </a:cubicBezTo>
                  <a:cubicBezTo>
                    <a:pt x="153" y="392"/>
                    <a:pt x="170" y="409"/>
                    <a:pt x="189" y="409"/>
                  </a:cubicBezTo>
                  <a:cubicBezTo>
                    <a:pt x="209" y="409"/>
                    <a:pt x="225" y="392"/>
                    <a:pt x="225" y="373"/>
                  </a:cubicBezTo>
                  <a:close/>
                  <a:moveTo>
                    <a:pt x="508" y="189"/>
                  </a:moveTo>
                  <a:cubicBezTo>
                    <a:pt x="508" y="169"/>
                    <a:pt x="492" y="153"/>
                    <a:pt x="471" y="153"/>
                  </a:cubicBezTo>
                  <a:cubicBezTo>
                    <a:pt x="452" y="153"/>
                    <a:pt x="436" y="169"/>
                    <a:pt x="436" y="189"/>
                  </a:cubicBezTo>
                  <a:cubicBezTo>
                    <a:pt x="436" y="209"/>
                    <a:pt x="452" y="225"/>
                    <a:pt x="471" y="225"/>
                  </a:cubicBezTo>
                  <a:cubicBezTo>
                    <a:pt x="492" y="225"/>
                    <a:pt x="508" y="209"/>
                    <a:pt x="508" y="189"/>
                  </a:cubicBezTo>
                  <a:close/>
                  <a:moveTo>
                    <a:pt x="748" y="36"/>
                  </a:moveTo>
                  <a:cubicBezTo>
                    <a:pt x="748" y="16"/>
                    <a:pt x="732" y="0"/>
                    <a:pt x="711" y="0"/>
                  </a:cubicBezTo>
                  <a:cubicBezTo>
                    <a:pt x="692" y="0"/>
                    <a:pt x="676" y="16"/>
                    <a:pt x="676" y="36"/>
                  </a:cubicBezTo>
                  <a:cubicBezTo>
                    <a:pt x="676" y="55"/>
                    <a:pt x="692" y="72"/>
                    <a:pt x="711" y="72"/>
                  </a:cubicBezTo>
                  <a:cubicBezTo>
                    <a:pt x="732" y="72"/>
                    <a:pt x="748" y="55"/>
                    <a:pt x="748" y="36"/>
                  </a:cubicBezTo>
                  <a:close/>
                  <a:moveTo>
                    <a:pt x="810" y="144"/>
                  </a:moveTo>
                  <a:cubicBezTo>
                    <a:pt x="810" y="124"/>
                    <a:pt x="794" y="108"/>
                    <a:pt x="773" y="108"/>
                  </a:cubicBezTo>
                  <a:cubicBezTo>
                    <a:pt x="754" y="108"/>
                    <a:pt x="738" y="124"/>
                    <a:pt x="738" y="144"/>
                  </a:cubicBezTo>
                  <a:cubicBezTo>
                    <a:pt x="738" y="163"/>
                    <a:pt x="754" y="180"/>
                    <a:pt x="773" y="180"/>
                  </a:cubicBezTo>
                  <a:cubicBezTo>
                    <a:pt x="794" y="180"/>
                    <a:pt x="810" y="163"/>
                    <a:pt x="810" y="144"/>
                  </a:cubicBezTo>
                  <a:close/>
                  <a:moveTo>
                    <a:pt x="855" y="53"/>
                  </a:moveTo>
                  <a:cubicBezTo>
                    <a:pt x="855" y="33"/>
                    <a:pt x="839" y="17"/>
                    <a:pt x="819" y="17"/>
                  </a:cubicBezTo>
                  <a:cubicBezTo>
                    <a:pt x="799" y="17"/>
                    <a:pt x="783" y="33"/>
                    <a:pt x="783" y="53"/>
                  </a:cubicBezTo>
                  <a:cubicBezTo>
                    <a:pt x="783" y="73"/>
                    <a:pt x="799" y="89"/>
                    <a:pt x="819" y="89"/>
                  </a:cubicBezTo>
                  <a:cubicBezTo>
                    <a:pt x="839" y="89"/>
                    <a:pt x="855" y="73"/>
                    <a:pt x="855" y="53"/>
                  </a:cubicBezTo>
                  <a:close/>
                  <a:moveTo>
                    <a:pt x="1708" y="1199"/>
                  </a:moveTo>
                  <a:cubicBezTo>
                    <a:pt x="1708" y="1218"/>
                    <a:pt x="1724" y="1235"/>
                    <a:pt x="1745" y="1235"/>
                  </a:cubicBezTo>
                  <a:cubicBezTo>
                    <a:pt x="1764" y="1235"/>
                    <a:pt x="1780" y="1218"/>
                    <a:pt x="1780" y="1199"/>
                  </a:cubicBezTo>
                  <a:cubicBezTo>
                    <a:pt x="1780" y="1179"/>
                    <a:pt x="1764" y="1163"/>
                    <a:pt x="1745" y="1163"/>
                  </a:cubicBezTo>
                  <a:cubicBezTo>
                    <a:pt x="1724" y="1163"/>
                    <a:pt x="1708" y="1179"/>
                    <a:pt x="1708" y="1199"/>
                  </a:cubicBezTo>
                  <a:close/>
                  <a:moveTo>
                    <a:pt x="1701" y="888"/>
                  </a:moveTo>
                  <a:cubicBezTo>
                    <a:pt x="1701" y="907"/>
                    <a:pt x="1717" y="924"/>
                    <a:pt x="1738" y="924"/>
                  </a:cubicBezTo>
                  <a:cubicBezTo>
                    <a:pt x="1757" y="924"/>
                    <a:pt x="1773" y="907"/>
                    <a:pt x="1773" y="888"/>
                  </a:cubicBezTo>
                  <a:cubicBezTo>
                    <a:pt x="1773" y="868"/>
                    <a:pt x="1757" y="852"/>
                    <a:pt x="1738" y="852"/>
                  </a:cubicBezTo>
                  <a:cubicBezTo>
                    <a:pt x="1717" y="852"/>
                    <a:pt x="1701" y="868"/>
                    <a:pt x="1701" y="888"/>
                  </a:cubicBezTo>
                  <a:close/>
                  <a:moveTo>
                    <a:pt x="1616" y="488"/>
                  </a:moveTo>
                  <a:cubicBezTo>
                    <a:pt x="1616" y="507"/>
                    <a:pt x="1632" y="524"/>
                    <a:pt x="1652" y="524"/>
                  </a:cubicBezTo>
                  <a:cubicBezTo>
                    <a:pt x="1671" y="524"/>
                    <a:pt x="1688" y="507"/>
                    <a:pt x="1688" y="488"/>
                  </a:cubicBezTo>
                  <a:cubicBezTo>
                    <a:pt x="1688" y="468"/>
                    <a:pt x="1671" y="452"/>
                    <a:pt x="1652" y="452"/>
                  </a:cubicBezTo>
                  <a:cubicBezTo>
                    <a:pt x="1632" y="452"/>
                    <a:pt x="1616" y="468"/>
                    <a:pt x="1616" y="488"/>
                  </a:cubicBezTo>
                  <a:close/>
                  <a:moveTo>
                    <a:pt x="1485" y="452"/>
                  </a:moveTo>
                  <a:cubicBezTo>
                    <a:pt x="1485" y="471"/>
                    <a:pt x="1501" y="488"/>
                    <a:pt x="1521" y="488"/>
                  </a:cubicBezTo>
                  <a:cubicBezTo>
                    <a:pt x="1541" y="488"/>
                    <a:pt x="1557" y="471"/>
                    <a:pt x="1557" y="452"/>
                  </a:cubicBezTo>
                  <a:cubicBezTo>
                    <a:pt x="1557" y="432"/>
                    <a:pt x="1541" y="416"/>
                    <a:pt x="1521" y="416"/>
                  </a:cubicBezTo>
                  <a:cubicBezTo>
                    <a:pt x="1501" y="416"/>
                    <a:pt x="1485" y="432"/>
                    <a:pt x="1485" y="452"/>
                  </a:cubicBezTo>
                  <a:close/>
                  <a:moveTo>
                    <a:pt x="1373" y="165"/>
                  </a:moveTo>
                  <a:cubicBezTo>
                    <a:pt x="1373" y="184"/>
                    <a:pt x="1389" y="201"/>
                    <a:pt x="1410" y="201"/>
                  </a:cubicBezTo>
                  <a:cubicBezTo>
                    <a:pt x="1429" y="201"/>
                    <a:pt x="1445" y="184"/>
                    <a:pt x="1445" y="165"/>
                  </a:cubicBezTo>
                  <a:cubicBezTo>
                    <a:pt x="1445" y="145"/>
                    <a:pt x="1429" y="129"/>
                    <a:pt x="1410" y="129"/>
                  </a:cubicBezTo>
                  <a:cubicBezTo>
                    <a:pt x="1389" y="129"/>
                    <a:pt x="1373" y="145"/>
                    <a:pt x="1373" y="165"/>
                  </a:cubicBezTo>
                  <a:close/>
                  <a:moveTo>
                    <a:pt x="1536" y="567"/>
                  </a:moveTo>
                  <a:cubicBezTo>
                    <a:pt x="1536" y="586"/>
                    <a:pt x="1552" y="603"/>
                    <a:pt x="1572" y="603"/>
                  </a:cubicBezTo>
                  <a:cubicBezTo>
                    <a:pt x="1591" y="603"/>
                    <a:pt x="1608" y="586"/>
                    <a:pt x="1608" y="567"/>
                  </a:cubicBezTo>
                  <a:cubicBezTo>
                    <a:pt x="1608" y="547"/>
                    <a:pt x="1591" y="531"/>
                    <a:pt x="1572" y="531"/>
                  </a:cubicBezTo>
                  <a:cubicBezTo>
                    <a:pt x="1552" y="531"/>
                    <a:pt x="1536" y="547"/>
                    <a:pt x="1536" y="567"/>
                  </a:cubicBezTo>
                  <a:close/>
                  <a:moveTo>
                    <a:pt x="1698" y="1335"/>
                  </a:moveTo>
                  <a:cubicBezTo>
                    <a:pt x="1698" y="1354"/>
                    <a:pt x="1714" y="1371"/>
                    <a:pt x="1734" y="1371"/>
                  </a:cubicBezTo>
                  <a:cubicBezTo>
                    <a:pt x="1753" y="1371"/>
                    <a:pt x="1770" y="1354"/>
                    <a:pt x="1770" y="1335"/>
                  </a:cubicBezTo>
                  <a:cubicBezTo>
                    <a:pt x="1770" y="1314"/>
                    <a:pt x="1753" y="1299"/>
                    <a:pt x="1734" y="1299"/>
                  </a:cubicBezTo>
                  <a:cubicBezTo>
                    <a:pt x="1714" y="1299"/>
                    <a:pt x="1698" y="1314"/>
                    <a:pt x="1698" y="1335"/>
                  </a:cubicBezTo>
                  <a:close/>
                  <a:moveTo>
                    <a:pt x="1590" y="1274"/>
                  </a:moveTo>
                  <a:cubicBezTo>
                    <a:pt x="1590" y="1293"/>
                    <a:pt x="1606" y="1310"/>
                    <a:pt x="1626" y="1310"/>
                  </a:cubicBezTo>
                  <a:cubicBezTo>
                    <a:pt x="1645" y="1310"/>
                    <a:pt x="1662" y="1293"/>
                    <a:pt x="1662" y="1274"/>
                  </a:cubicBezTo>
                  <a:cubicBezTo>
                    <a:pt x="1662" y="1253"/>
                    <a:pt x="1645" y="1238"/>
                    <a:pt x="1626" y="1238"/>
                  </a:cubicBezTo>
                  <a:cubicBezTo>
                    <a:pt x="1606" y="1238"/>
                    <a:pt x="1590" y="1253"/>
                    <a:pt x="1590" y="1274"/>
                  </a:cubicBezTo>
                  <a:close/>
                  <a:moveTo>
                    <a:pt x="1555" y="373"/>
                  </a:moveTo>
                  <a:cubicBezTo>
                    <a:pt x="1555" y="392"/>
                    <a:pt x="1571" y="409"/>
                    <a:pt x="1591" y="409"/>
                  </a:cubicBezTo>
                  <a:cubicBezTo>
                    <a:pt x="1610" y="409"/>
                    <a:pt x="1627" y="392"/>
                    <a:pt x="1627" y="373"/>
                  </a:cubicBezTo>
                  <a:cubicBezTo>
                    <a:pt x="1627" y="353"/>
                    <a:pt x="1610" y="337"/>
                    <a:pt x="1591" y="337"/>
                  </a:cubicBezTo>
                  <a:cubicBezTo>
                    <a:pt x="1571" y="337"/>
                    <a:pt x="1555" y="353"/>
                    <a:pt x="1555" y="373"/>
                  </a:cubicBezTo>
                  <a:close/>
                  <a:moveTo>
                    <a:pt x="1272" y="189"/>
                  </a:moveTo>
                  <a:cubicBezTo>
                    <a:pt x="1272" y="209"/>
                    <a:pt x="1288" y="225"/>
                    <a:pt x="1309" y="225"/>
                  </a:cubicBezTo>
                  <a:cubicBezTo>
                    <a:pt x="1328" y="225"/>
                    <a:pt x="1344" y="209"/>
                    <a:pt x="1344" y="189"/>
                  </a:cubicBezTo>
                  <a:cubicBezTo>
                    <a:pt x="1344" y="169"/>
                    <a:pt x="1328" y="153"/>
                    <a:pt x="1309" y="153"/>
                  </a:cubicBezTo>
                  <a:cubicBezTo>
                    <a:pt x="1288" y="153"/>
                    <a:pt x="1272" y="169"/>
                    <a:pt x="1272" y="189"/>
                  </a:cubicBezTo>
                  <a:close/>
                  <a:moveTo>
                    <a:pt x="1032" y="36"/>
                  </a:moveTo>
                  <a:cubicBezTo>
                    <a:pt x="1032" y="55"/>
                    <a:pt x="1048" y="72"/>
                    <a:pt x="1069" y="72"/>
                  </a:cubicBezTo>
                  <a:cubicBezTo>
                    <a:pt x="1088" y="72"/>
                    <a:pt x="1104" y="55"/>
                    <a:pt x="1104" y="36"/>
                  </a:cubicBezTo>
                  <a:cubicBezTo>
                    <a:pt x="1104" y="16"/>
                    <a:pt x="1088" y="0"/>
                    <a:pt x="1069" y="0"/>
                  </a:cubicBezTo>
                  <a:cubicBezTo>
                    <a:pt x="1048" y="0"/>
                    <a:pt x="1032" y="16"/>
                    <a:pt x="1032" y="36"/>
                  </a:cubicBezTo>
                  <a:close/>
                  <a:moveTo>
                    <a:pt x="970" y="144"/>
                  </a:moveTo>
                  <a:cubicBezTo>
                    <a:pt x="970" y="163"/>
                    <a:pt x="986" y="180"/>
                    <a:pt x="1007" y="180"/>
                  </a:cubicBezTo>
                  <a:cubicBezTo>
                    <a:pt x="1026" y="180"/>
                    <a:pt x="1042" y="163"/>
                    <a:pt x="1042" y="144"/>
                  </a:cubicBezTo>
                  <a:cubicBezTo>
                    <a:pt x="1042" y="124"/>
                    <a:pt x="1026" y="108"/>
                    <a:pt x="1007" y="108"/>
                  </a:cubicBezTo>
                  <a:cubicBezTo>
                    <a:pt x="986" y="108"/>
                    <a:pt x="970" y="124"/>
                    <a:pt x="970" y="144"/>
                  </a:cubicBezTo>
                  <a:close/>
                  <a:moveTo>
                    <a:pt x="925" y="53"/>
                  </a:moveTo>
                  <a:cubicBezTo>
                    <a:pt x="925" y="73"/>
                    <a:pt x="941" y="89"/>
                    <a:pt x="961" y="89"/>
                  </a:cubicBezTo>
                  <a:cubicBezTo>
                    <a:pt x="981" y="89"/>
                    <a:pt x="997" y="73"/>
                    <a:pt x="997" y="53"/>
                  </a:cubicBezTo>
                  <a:cubicBezTo>
                    <a:pt x="997" y="33"/>
                    <a:pt x="981" y="17"/>
                    <a:pt x="961" y="17"/>
                  </a:cubicBezTo>
                  <a:cubicBezTo>
                    <a:pt x="941" y="17"/>
                    <a:pt x="925" y="33"/>
                    <a:pt x="925" y="53"/>
                  </a:cubicBezTo>
                  <a:close/>
                  <a:moveTo>
                    <a:pt x="789" y="1469"/>
                  </a:moveTo>
                  <a:cubicBezTo>
                    <a:pt x="632" y="1496"/>
                    <a:pt x="508" y="1583"/>
                    <a:pt x="405" y="1656"/>
                  </a:cubicBezTo>
                  <a:cubicBezTo>
                    <a:pt x="314" y="1720"/>
                    <a:pt x="235" y="1776"/>
                    <a:pt x="158" y="1776"/>
                  </a:cubicBezTo>
                  <a:cubicBezTo>
                    <a:pt x="145" y="1776"/>
                    <a:pt x="136" y="1786"/>
                    <a:pt x="136" y="1798"/>
                  </a:cubicBezTo>
                  <a:cubicBezTo>
                    <a:pt x="136" y="1810"/>
                    <a:pt x="145" y="1820"/>
                    <a:pt x="158" y="1820"/>
                  </a:cubicBezTo>
                  <a:cubicBezTo>
                    <a:pt x="249" y="1820"/>
                    <a:pt x="333" y="1761"/>
                    <a:pt x="431" y="1692"/>
                  </a:cubicBezTo>
                  <a:cubicBezTo>
                    <a:pt x="532" y="1620"/>
                    <a:pt x="645" y="1541"/>
                    <a:pt x="788" y="1514"/>
                  </a:cubicBezTo>
                  <a:lnTo>
                    <a:pt x="789" y="1469"/>
                  </a:lnTo>
                  <a:close/>
                  <a:moveTo>
                    <a:pt x="1622" y="1776"/>
                  </a:moveTo>
                  <a:cubicBezTo>
                    <a:pt x="1545" y="1776"/>
                    <a:pt x="1466" y="1720"/>
                    <a:pt x="1375" y="1656"/>
                  </a:cubicBezTo>
                  <a:cubicBezTo>
                    <a:pt x="1272" y="1583"/>
                    <a:pt x="1148" y="1496"/>
                    <a:pt x="989" y="1469"/>
                  </a:cubicBezTo>
                  <a:cubicBezTo>
                    <a:pt x="991" y="1513"/>
                    <a:pt x="991" y="1513"/>
                    <a:pt x="991" y="1513"/>
                  </a:cubicBezTo>
                  <a:cubicBezTo>
                    <a:pt x="1134" y="1540"/>
                    <a:pt x="1247" y="1620"/>
                    <a:pt x="1349" y="1692"/>
                  </a:cubicBezTo>
                  <a:cubicBezTo>
                    <a:pt x="1447" y="1761"/>
                    <a:pt x="1531" y="1820"/>
                    <a:pt x="1622" y="1820"/>
                  </a:cubicBezTo>
                  <a:cubicBezTo>
                    <a:pt x="1635" y="1820"/>
                    <a:pt x="1644" y="1810"/>
                    <a:pt x="1644" y="1798"/>
                  </a:cubicBezTo>
                  <a:cubicBezTo>
                    <a:pt x="1644" y="1786"/>
                    <a:pt x="1635" y="1776"/>
                    <a:pt x="1622" y="177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grpSp>
      <p:sp>
        <p:nvSpPr>
          <p:cNvPr id="24" name="TextBox 23">
            <a:extLst>
              <a:ext uri="{FF2B5EF4-FFF2-40B4-BE49-F238E27FC236}">
                <a16:creationId xmlns:a16="http://schemas.microsoft.com/office/drawing/2014/main" id="{179C97AD-AB6B-486C-AD03-D0841B35DB4F}"/>
              </a:ext>
            </a:extLst>
          </p:cNvPr>
          <p:cNvSpPr txBox="1"/>
          <p:nvPr/>
        </p:nvSpPr>
        <p:spPr>
          <a:xfrm>
            <a:off x="1151963" y="1360221"/>
            <a:ext cx="10458131" cy="170723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36373" rIns="0" bIns="36373" numCol="1" spcCol="0" rtlCol="0" fromWordArt="0" anchor="t" anchorCtr="0" forceAA="0" compatLnSpc="1">
            <a:prstTxWarp prst="textNoShape">
              <a:avLst/>
            </a:prstTxWarp>
            <a:spAutoFit/>
          </a:bodyPr>
          <a:lstStyle/>
          <a:p>
            <a:pPr>
              <a:spcAft>
                <a:spcPts val="477"/>
              </a:spcAft>
            </a:pPr>
            <a:r>
              <a:rPr lang="en-US" sz="1600">
                <a:solidFill>
                  <a:srgbClr val="29BA74"/>
                </a:solidFill>
                <a:sym typeface="+mn-lt"/>
              </a:rPr>
              <a:t>Start small</a:t>
            </a:r>
            <a:r>
              <a:rPr lang="en-US">
                <a:solidFill>
                  <a:srgbClr val="29BA74"/>
                </a:solidFill>
                <a:sym typeface="+mn-lt"/>
              </a:rPr>
              <a:t> - </a:t>
            </a:r>
            <a:r>
              <a:rPr lang="en-US" sz="1200">
                <a:solidFill>
                  <a:srgbClr val="4D4D4D"/>
                </a:solidFill>
                <a:sym typeface="+mn-lt"/>
              </a:rPr>
              <a:t>set ambitions for personalization, start with a small set of use cases to build capability and unlock immediate value</a:t>
            </a:r>
          </a:p>
          <a:p>
            <a:pPr marL="324000" lvl="1" indent="-216000">
              <a:buClr>
                <a:schemeClr val="tx2">
                  <a:lumMod val="100000"/>
                </a:schemeClr>
              </a:buClr>
              <a:buSzPct val="100000"/>
              <a:buFont typeface="Trebuchet MS" panose="020B0603020202020204" pitchFamily="34" charset="0"/>
              <a:buChar char="•"/>
            </a:pPr>
            <a:r>
              <a:rPr lang="en-ZA" sz="1200">
                <a:solidFill>
                  <a:schemeClr val="tx1">
                    <a:lumMod val="100000"/>
                  </a:schemeClr>
                </a:solidFill>
                <a:latin typeface="Trebuchet MS" panose="020B0603020202020204" pitchFamily="34" charset="0"/>
                <a:sym typeface="+mn-lt"/>
              </a:rPr>
              <a:t>Priority use cases identified, and allocated into roll-out and scale horizons and phases</a:t>
            </a:r>
          </a:p>
          <a:p>
            <a:pPr marL="324000" lvl="1" indent="-216000">
              <a:buClr>
                <a:schemeClr val="tx2">
                  <a:lumMod val="100000"/>
                </a:schemeClr>
              </a:buClr>
              <a:buSzPct val="100000"/>
              <a:buFont typeface="Trebuchet MS" panose="020B0603020202020204" pitchFamily="34" charset="0"/>
              <a:buChar char="•"/>
            </a:pPr>
            <a:r>
              <a:rPr lang="en-ZA" sz="1200">
                <a:solidFill>
                  <a:schemeClr val="tx1">
                    <a:lumMod val="100000"/>
                  </a:schemeClr>
                </a:solidFill>
                <a:latin typeface="Trebuchet MS" panose="020B0603020202020204" pitchFamily="34" charset="0"/>
                <a:sym typeface="+mn-lt"/>
              </a:rPr>
              <a:t>Cross-functional, Agile pods to support delivery of analytics use cases, customer journeys &amp; products has been developed &amp; integration of analytics into current WoW embedded into product team roadmaps</a:t>
            </a:r>
          </a:p>
          <a:p>
            <a:pPr marL="324000" lvl="1" indent="-216000">
              <a:buClr>
                <a:schemeClr val="tx2">
                  <a:lumMod val="100000"/>
                </a:schemeClr>
              </a:buClr>
              <a:buSzPct val="100000"/>
              <a:buFont typeface="Trebuchet MS" panose="020B0603020202020204" pitchFamily="34" charset="0"/>
              <a:buChar char="•"/>
            </a:pPr>
            <a:r>
              <a:rPr lang="en-ZA" sz="1200">
                <a:solidFill>
                  <a:schemeClr val="tx1">
                    <a:lumMod val="100000"/>
                  </a:schemeClr>
                </a:solidFill>
                <a:latin typeface="Trebuchet MS" panose="020B0603020202020204" pitchFamily="34" charset="0"/>
                <a:sym typeface="+mn-lt"/>
              </a:rPr>
              <a:t>Internal client data is consolidated into a single-source of truth, to allow for effective scale</a:t>
            </a:r>
          </a:p>
          <a:p>
            <a:pPr marL="324000" lvl="1" indent="-216000">
              <a:buClr>
                <a:schemeClr val="tx2">
                  <a:lumMod val="100000"/>
                </a:schemeClr>
              </a:buClr>
              <a:buSzPct val="100000"/>
              <a:buFont typeface="Trebuchet MS" panose="020B0603020202020204" pitchFamily="34" charset="0"/>
              <a:buChar char="•"/>
            </a:pPr>
            <a:r>
              <a:rPr lang="en-ZA" sz="1200">
                <a:solidFill>
                  <a:schemeClr val="tx1">
                    <a:lumMod val="100000"/>
                  </a:schemeClr>
                </a:solidFill>
                <a:latin typeface="Trebuchet MS" panose="020B0603020202020204" pitchFamily="34" charset="0"/>
                <a:sym typeface="+mn-lt"/>
              </a:rPr>
              <a:t>Key gaps in technology platforms that could inhibit scale have been identified (e.g. data platforms are not refresh frequently / data is not clean, lack of integration between traditional &amp; digital channels etc.)</a:t>
            </a:r>
          </a:p>
          <a:p>
            <a:pPr marL="324000" lvl="1" indent="-216000">
              <a:buClr>
                <a:schemeClr val="tx2">
                  <a:lumMod val="100000"/>
                </a:schemeClr>
              </a:buClr>
              <a:buSzPct val="100000"/>
              <a:buFont typeface="Trebuchet MS" panose="020B0603020202020204" pitchFamily="34" charset="0"/>
              <a:buChar char="•"/>
            </a:pPr>
            <a:r>
              <a:rPr lang="en-ZA" sz="1200">
                <a:solidFill>
                  <a:schemeClr val="tx1">
                    <a:lumMod val="100000"/>
                  </a:schemeClr>
                </a:solidFill>
                <a:latin typeface="Trebuchet MS" panose="020B0603020202020204" pitchFamily="34" charset="0"/>
                <a:sym typeface="+mn-lt"/>
              </a:rPr>
              <a:t>MVPs for cross-sell and analytics use cases developed &amp; piloted, with required data and digital platforms developed</a:t>
            </a:r>
          </a:p>
        </p:txBody>
      </p:sp>
      <p:sp>
        <p:nvSpPr>
          <p:cNvPr id="25" name="TextBox 24">
            <a:extLst>
              <a:ext uri="{FF2B5EF4-FFF2-40B4-BE49-F238E27FC236}">
                <a16:creationId xmlns:a16="http://schemas.microsoft.com/office/drawing/2014/main" id="{9DA0C738-5CEA-4136-A79B-D4B391B69D72}"/>
              </a:ext>
            </a:extLst>
          </p:cNvPr>
          <p:cNvSpPr txBox="1"/>
          <p:nvPr/>
        </p:nvSpPr>
        <p:spPr>
          <a:xfrm>
            <a:off x="1151963" y="3070075"/>
            <a:ext cx="10410962" cy="2045791"/>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36373" rIns="0" bIns="36373" numCol="1" spcCol="0" rtlCol="0" fromWordArt="0" anchor="t" anchorCtr="0" forceAA="0" compatLnSpc="1">
            <a:prstTxWarp prst="textNoShape">
              <a:avLst/>
            </a:prstTxWarp>
            <a:spAutoFit/>
          </a:bodyPr>
          <a:lstStyle/>
          <a:p>
            <a:pPr>
              <a:spcAft>
                <a:spcPts val="477"/>
              </a:spcAft>
            </a:pPr>
            <a:r>
              <a:rPr lang="en-US" sz="1600">
                <a:solidFill>
                  <a:srgbClr val="29BA74"/>
                </a:solidFill>
                <a:sym typeface="+mn-lt"/>
              </a:rPr>
              <a:t>Accelerate development</a:t>
            </a:r>
            <a:r>
              <a:rPr lang="en-US" sz="1400">
                <a:solidFill>
                  <a:srgbClr val="29BA74"/>
                </a:solidFill>
                <a:sym typeface="+mn-lt"/>
              </a:rPr>
              <a:t> – </a:t>
            </a:r>
            <a:r>
              <a:rPr lang="en-US" sz="1200">
                <a:solidFill>
                  <a:srgbClr val="4D4D4D"/>
                </a:solidFill>
                <a:sym typeface="+mn-lt"/>
              </a:rPr>
              <a:t>improve existing foundations to ensure scale and accelerated development of personalization capabilities, and build out more personalization use cases</a:t>
            </a:r>
            <a:endParaRPr lang="en-US" sz="900">
              <a:solidFill>
                <a:srgbClr val="4D4D4D"/>
              </a:solidFill>
              <a:sym typeface="+mn-lt"/>
            </a:endParaRPr>
          </a:p>
          <a:p>
            <a:pPr marL="324000" lvl="1" indent="-216000">
              <a:buClr>
                <a:schemeClr val="tx2">
                  <a:lumMod val="100000"/>
                </a:schemeClr>
              </a:buClr>
              <a:buSzPct val="100000"/>
              <a:buFont typeface="Trebuchet MS" panose="020B0603020202020204" pitchFamily="34" charset="0"/>
              <a:buChar char="•"/>
            </a:pPr>
            <a:r>
              <a:rPr lang="en-ZA" sz="1200">
                <a:solidFill>
                  <a:schemeClr val="tx1">
                    <a:lumMod val="100000"/>
                  </a:schemeClr>
                </a:solidFill>
                <a:latin typeface="Trebuchet MS" panose="020B0603020202020204" pitchFamily="34" charset="0"/>
                <a:sym typeface="+mn-lt"/>
              </a:rPr>
              <a:t>Scale cross-sell and analytics use cases across entire customer bases with all products integrated and leveraging use cases</a:t>
            </a:r>
          </a:p>
          <a:p>
            <a:pPr marL="324000" lvl="1" indent="-216000">
              <a:buClr>
                <a:schemeClr val="tx2">
                  <a:lumMod val="100000"/>
                </a:schemeClr>
              </a:buClr>
              <a:buSzPct val="100000"/>
              <a:buFont typeface="Trebuchet MS" panose="020B0603020202020204" pitchFamily="34" charset="0"/>
              <a:buChar char="•"/>
            </a:pPr>
            <a:r>
              <a:rPr lang="en-ZA" sz="1200">
                <a:solidFill>
                  <a:schemeClr val="tx1">
                    <a:lumMod val="100000"/>
                  </a:schemeClr>
                </a:solidFill>
                <a:latin typeface="Trebuchet MS" panose="020B0603020202020204" pitchFamily="34" charset="0"/>
                <a:sym typeface="+mn-lt"/>
              </a:rPr>
              <a:t>MVPs for 1 -2 additional use cases developed in parallel or after scaling, depending on resource and capability</a:t>
            </a:r>
          </a:p>
          <a:p>
            <a:pPr marL="324000" lvl="1" indent="-216000">
              <a:buClr>
                <a:schemeClr val="tx2">
                  <a:lumMod val="100000"/>
                </a:schemeClr>
              </a:buClr>
              <a:buSzPct val="100000"/>
              <a:buFont typeface="Trebuchet MS" panose="020B0603020202020204" pitchFamily="34" charset="0"/>
              <a:buChar char="•"/>
            </a:pPr>
            <a:r>
              <a:rPr lang="en-ZA" sz="1200">
                <a:solidFill>
                  <a:schemeClr val="tx1">
                    <a:lumMod val="100000"/>
                  </a:schemeClr>
                </a:solidFill>
                <a:latin typeface="Trebuchet MS" panose="020B0603020202020204" pitchFamily="34" charset="0"/>
                <a:sym typeface="+mn-lt"/>
              </a:rPr>
              <a:t>Technology platforms improved through phased migration from legacy systems to more advanced systems, with remediations and migrations prioritised based on next set of use-cases to be developed</a:t>
            </a:r>
          </a:p>
          <a:p>
            <a:pPr marL="324000" lvl="1" indent="-216000">
              <a:buClr>
                <a:schemeClr val="tx2">
                  <a:lumMod val="100000"/>
                </a:schemeClr>
              </a:buClr>
              <a:buSzPct val="100000"/>
              <a:buFont typeface="Trebuchet MS" panose="020B0603020202020204" pitchFamily="34" charset="0"/>
              <a:buChar char="•"/>
            </a:pPr>
            <a:r>
              <a:rPr lang="en-ZA" sz="1200">
                <a:solidFill>
                  <a:schemeClr val="tx1">
                    <a:lumMod val="100000"/>
                  </a:schemeClr>
                </a:solidFill>
                <a:latin typeface="Trebuchet MS" panose="020B0603020202020204" pitchFamily="34" charset="0"/>
                <a:sym typeface="+mn-lt"/>
              </a:rPr>
              <a:t>Channel orchestration capability is automated, leveraging AI to identify key channels for customer engagement and messaging</a:t>
            </a:r>
          </a:p>
          <a:p>
            <a:pPr marL="324000" lvl="1" indent="-216000">
              <a:buClr>
                <a:schemeClr val="tx2">
                  <a:lumMod val="100000"/>
                </a:schemeClr>
              </a:buClr>
              <a:buSzPct val="100000"/>
              <a:buFont typeface="Trebuchet MS" panose="020B0603020202020204" pitchFamily="34" charset="0"/>
              <a:buChar char="•"/>
            </a:pPr>
            <a:r>
              <a:rPr lang="en-ZA" sz="1200">
                <a:solidFill>
                  <a:schemeClr val="tx1">
                    <a:lumMod val="100000"/>
                  </a:schemeClr>
                </a:solidFill>
                <a:latin typeface="Trebuchet MS" panose="020B0603020202020204" pitchFamily="34" charset="0"/>
                <a:sym typeface="+mn-lt"/>
              </a:rPr>
              <a:t>Dedicated data and analytics team for personalisation engine maintenance and optimisation set-up</a:t>
            </a:r>
          </a:p>
          <a:p>
            <a:pPr marL="324000" lvl="1" indent="-216000">
              <a:buClr>
                <a:schemeClr val="tx2">
                  <a:lumMod val="100000"/>
                </a:schemeClr>
              </a:buClr>
              <a:buSzPct val="100000"/>
              <a:buFont typeface="Trebuchet MS" panose="020B0603020202020204" pitchFamily="34" charset="0"/>
              <a:buChar char="•"/>
            </a:pPr>
            <a:r>
              <a:rPr lang="en-ZA" sz="1200">
                <a:solidFill>
                  <a:schemeClr val="tx1">
                    <a:lumMod val="100000"/>
                  </a:schemeClr>
                </a:solidFill>
                <a:latin typeface="Trebuchet MS" panose="020B0603020202020204" pitchFamily="34" charset="0"/>
                <a:sym typeface="+mn-lt"/>
              </a:rPr>
              <a:t>Data platforms and data governance of business enhanced to allow for effective scale of use cases (e.g. migration to data lakes, reviewed data structures and improve data quality management tools)</a:t>
            </a:r>
          </a:p>
        </p:txBody>
      </p:sp>
      <p:sp>
        <p:nvSpPr>
          <p:cNvPr id="26" name="TextBox 25">
            <a:extLst>
              <a:ext uri="{FF2B5EF4-FFF2-40B4-BE49-F238E27FC236}">
                <a16:creationId xmlns:a16="http://schemas.microsoft.com/office/drawing/2014/main" id="{13B98988-C39D-4579-8857-1FAE9C364848}"/>
              </a:ext>
            </a:extLst>
          </p:cNvPr>
          <p:cNvSpPr txBox="1"/>
          <p:nvPr/>
        </p:nvSpPr>
        <p:spPr>
          <a:xfrm>
            <a:off x="1151963" y="5018141"/>
            <a:ext cx="10410962" cy="1337905"/>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36373" rIns="0" bIns="36373" numCol="1" spcCol="0" rtlCol="0" fromWordArt="0" anchor="t" anchorCtr="0" forceAA="0" compatLnSpc="1">
            <a:prstTxWarp prst="textNoShape">
              <a:avLst/>
            </a:prstTxWarp>
            <a:spAutoFit/>
          </a:bodyPr>
          <a:lstStyle/>
          <a:p>
            <a:pPr>
              <a:spcAft>
                <a:spcPts val="477"/>
              </a:spcAft>
            </a:pPr>
            <a:r>
              <a:rPr lang="en-US" sz="1600">
                <a:solidFill>
                  <a:srgbClr val="29BA74"/>
                </a:solidFill>
                <a:sym typeface="+mn-lt"/>
              </a:rPr>
              <a:t>Achieve scale </a:t>
            </a:r>
            <a:r>
              <a:rPr lang="en-US">
                <a:solidFill>
                  <a:srgbClr val="29BA74"/>
                </a:solidFill>
                <a:sym typeface="+mn-lt"/>
              </a:rPr>
              <a:t>– </a:t>
            </a:r>
            <a:r>
              <a:rPr lang="en-US" sz="1200">
                <a:solidFill>
                  <a:srgbClr val="4D4D4D"/>
                </a:solidFill>
                <a:sym typeface="+mn-lt"/>
              </a:rPr>
              <a:t>fully </a:t>
            </a:r>
            <a:r>
              <a:rPr lang="en-US" sz="1200" err="1">
                <a:solidFill>
                  <a:srgbClr val="4D4D4D"/>
                </a:solidFill>
                <a:sym typeface="+mn-lt"/>
              </a:rPr>
              <a:t>personalised</a:t>
            </a:r>
            <a:r>
              <a:rPr lang="en-US" sz="1200">
                <a:solidFill>
                  <a:srgbClr val="4D4D4D"/>
                </a:solidFill>
                <a:sym typeface="+mn-lt"/>
              </a:rPr>
              <a:t> service for retail clients achieved</a:t>
            </a:r>
          </a:p>
          <a:p>
            <a:pPr marL="324000" lvl="1" indent="-216000">
              <a:buClr>
                <a:schemeClr val="tx2">
                  <a:lumMod val="100000"/>
                </a:schemeClr>
              </a:buClr>
              <a:buSzPct val="100000"/>
              <a:buFont typeface="Trebuchet MS" panose="020B0603020202020204" pitchFamily="34" charset="0"/>
              <a:buChar char="•"/>
            </a:pPr>
            <a:r>
              <a:rPr lang="en-US" sz="1200">
                <a:solidFill>
                  <a:schemeClr val="tx1">
                    <a:lumMod val="100000"/>
                  </a:schemeClr>
                </a:solidFill>
                <a:latin typeface="Trebuchet MS" panose="020B0603020202020204" pitchFamily="34" charset="0"/>
                <a:sym typeface="+mn-lt"/>
              </a:rPr>
              <a:t>Accelerated delivery of use cases</a:t>
            </a:r>
          </a:p>
          <a:p>
            <a:pPr marL="324000" lvl="1" indent="-216000">
              <a:buClr>
                <a:schemeClr val="tx2">
                  <a:lumMod val="100000"/>
                </a:schemeClr>
              </a:buClr>
              <a:buSzPct val="100000"/>
              <a:buFont typeface="Trebuchet MS" panose="020B0603020202020204" pitchFamily="34" charset="0"/>
              <a:buChar char="•"/>
            </a:pPr>
            <a:r>
              <a:rPr lang="en-US" sz="1200" err="1">
                <a:solidFill>
                  <a:schemeClr val="tx1">
                    <a:lumMod val="100000"/>
                  </a:schemeClr>
                </a:solidFill>
                <a:latin typeface="Trebuchet MS" panose="020B0603020202020204" pitchFamily="34" charset="0"/>
                <a:sym typeface="+mn-lt"/>
              </a:rPr>
              <a:t>Personalisation</a:t>
            </a:r>
            <a:r>
              <a:rPr lang="en-US" sz="1200">
                <a:solidFill>
                  <a:schemeClr val="tx1">
                    <a:lumMod val="100000"/>
                  </a:schemeClr>
                </a:solidFill>
                <a:latin typeface="Trebuchet MS" panose="020B0603020202020204" pitchFamily="34" charset="0"/>
                <a:sym typeface="+mn-lt"/>
              </a:rPr>
              <a:t> engines integrated into existing WoW across BU</a:t>
            </a:r>
          </a:p>
          <a:p>
            <a:pPr marL="324000" lvl="1" indent="-216000">
              <a:buClr>
                <a:schemeClr val="tx2">
                  <a:lumMod val="100000"/>
                </a:schemeClr>
              </a:buClr>
              <a:buSzPct val="100000"/>
              <a:buFont typeface="Trebuchet MS" panose="020B0603020202020204" pitchFamily="34" charset="0"/>
              <a:buChar char="•"/>
            </a:pPr>
            <a:r>
              <a:rPr lang="en-US" sz="1200">
                <a:solidFill>
                  <a:schemeClr val="tx1">
                    <a:lumMod val="100000"/>
                  </a:schemeClr>
                </a:solidFill>
                <a:latin typeface="Trebuchet MS" panose="020B0603020202020204" pitchFamily="34" charset="0"/>
                <a:sym typeface="+mn-lt"/>
              </a:rPr>
              <a:t>Fully integrated marketing cloud, ensuring an omni-channel engagement model with customers</a:t>
            </a:r>
          </a:p>
          <a:p>
            <a:pPr marL="324000" lvl="1" indent="-216000">
              <a:buClr>
                <a:schemeClr val="tx2">
                  <a:lumMod val="100000"/>
                </a:schemeClr>
              </a:buClr>
              <a:buSzPct val="100000"/>
              <a:buFont typeface="Trebuchet MS" panose="020B0603020202020204" pitchFamily="34" charset="0"/>
              <a:buChar char="•"/>
            </a:pPr>
            <a:r>
              <a:rPr lang="en-US" sz="1200">
                <a:solidFill>
                  <a:schemeClr val="tx1">
                    <a:lumMod val="100000"/>
                  </a:schemeClr>
                </a:solidFill>
                <a:latin typeface="Trebuchet MS" panose="020B0603020202020204" pitchFamily="34" charset="0"/>
                <a:sym typeface="+mn-lt"/>
              </a:rPr>
              <a:t>Established feedback loops that influence design across analytics, products &amp; channels</a:t>
            </a:r>
          </a:p>
          <a:p>
            <a:pPr marL="324000" lvl="1" indent="-216000">
              <a:buClr>
                <a:schemeClr val="tx2">
                  <a:lumMod val="100000"/>
                </a:schemeClr>
              </a:buClr>
              <a:buSzPct val="100000"/>
              <a:buFont typeface="Trebuchet MS" panose="020B0603020202020204" pitchFamily="34" charset="0"/>
              <a:buChar char="•"/>
            </a:pPr>
            <a:r>
              <a:rPr lang="en-US" sz="1200">
                <a:solidFill>
                  <a:schemeClr val="tx1">
                    <a:lumMod val="100000"/>
                  </a:schemeClr>
                </a:solidFill>
                <a:latin typeface="Trebuchet MS" panose="020B0603020202020204" pitchFamily="34" charset="0"/>
                <a:sym typeface="+mn-lt"/>
              </a:rPr>
              <a:t>Leveraging use cases to drive micro-market insights for enhancing targeted acquisition strategies</a:t>
            </a:r>
          </a:p>
        </p:txBody>
      </p:sp>
    </p:spTree>
    <p:extLst>
      <p:ext uri="{BB962C8B-B14F-4D97-AF65-F5344CB8AC3E}">
        <p14:creationId xmlns:p14="http://schemas.microsoft.com/office/powerpoint/2010/main" val="133041233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33448767-FFF9-43BD-A847-7C8EEAB78DCF}"/>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3" imgW="444" imgH="446" progId="TCLayout.ActiveDocument.1">
                  <p:embed/>
                </p:oleObj>
              </mc:Choice>
              <mc:Fallback>
                <p:oleObj name="think-cell Slide" r:id="rId13" imgW="444" imgH="446" progId="TCLayout.ActiveDocument.1">
                  <p:embed/>
                  <p:pic>
                    <p:nvPicPr>
                      <p:cNvPr id="4" name="Object 3" hidden="1">
                        <a:extLst>
                          <a:ext uri="{FF2B5EF4-FFF2-40B4-BE49-F238E27FC236}">
                            <a16:creationId xmlns:a16="http://schemas.microsoft.com/office/drawing/2014/main" id="{33448767-FFF9-43BD-A847-7C8EEAB78DCF}"/>
                          </a:ext>
                        </a:extLst>
                      </p:cNvPr>
                      <p:cNvPicPr/>
                      <p:nvPr/>
                    </p:nvPicPr>
                    <p:blipFill>
                      <a:blip r:embed="rId14"/>
                      <a:stretch>
                        <a:fillRect/>
                      </a:stretch>
                    </p:blipFill>
                    <p:spPr>
                      <a:xfrm>
                        <a:off x="1588" y="1588"/>
                        <a:ext cx="1588" cy="1588"/>
                      </a:xfrm>
                      <a:prstGeom prst="rect">
                        <a:avLst/>
                      </a:prstGeom>
                    </p:spPr>
                  </p:pic>
                </p:oleObj>
              </mc:Fallback>
            </mc:AlternateContent>
          </a:graphicData>
        </a:graphic>
      </p:graphicFrame>
      <p:sp>
        <p:nvSpPr>
          <p:cNvPr id="9" name="Rectangle 8" hidden="1">
            <a:extLst>
              <a:ext uri="{FF2B5EF4-FFF2-40B4-BE49-F238E27FC236}">
                <a16:creationId xmlns:a16="http://schemas.microsoft.com/office/drawing/2014/main" id="{0097B10D-F1ED-4C78-A697-46EE7B28B311}"/>
              </a:ext>
            </a:extLst>
          </p:cNvPr>
          <p:cNvSpPr/>
          <p:nvPr>
            <p:custDataLst>
              <p:tags r:id="rId2"/>
            </p:custDataLst>
          </p:nvPr>
        </p:nvSpPr>
        <p:spPr>
          <a:xfrm>
            <a:off x="0" y="0"/>
            <a:ext cx="158750" cy="158750"/>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endParaRPr lang="en-US" sz="2400">
              <a:solidFill>
                <a:srgbClr val="FFFFFF"/>
              </a:solidFill>
              <a:latin typeface="Trebuchet MS" panose="020B0603020202020204" pitchFamily="34" charset="0"/>
              <a:ea typeface="+mj-ea"/>
              <a:cs typeface="+mj-cs"/>
              <a:sym typeface="Trebuchet MS" panose="020B0603020202020204" pitchFamily="34" charset="0"/>
            </a:endParaRPr>
          </a:p>
        </p:txBody>
      </p:sp>
      <p:sp>
        <p:nvSpPr>
          <p:cNvPr id="2" name="Title 1">
            <a:extLst>
              <a:ext uri="{FF2B5EF4-FFF2-40B4-BE49-F238E27FC236}">
                <a16:creationId xmlns:a16="http://schemas.microsoft.com/office/drawing/2014/main" id="{DB1636AD-CB12-44E9-95B3-2E6299B8E71D}"/>
              </a:ext>
            </a:extLst>
          </p:cNvPr>
          <p:cNvSpPr>
            <a:spLocks noGrp="1"/>
          </p:cNvSpPr>
          <p:nvPr>
            <p:ph type="title"/>
          </p:nvPr>
        </p:nvSpPr>
        <p:spPr/>
        <p:txBody>
          <a:bodyPr/>
          <a:lstStyle/>
          <a:p>
            <a:r>
              <a:rPr lang="en-US">
                <a:sym typeface="+mj-lt"/>
              </a:rPr>
              <a:t>Building of capabilities through development of MVPs (I/II)</a:t>
            </a:r>
          </a:p>
        </p:txBody>
      </p:sp>
      <p:sp>
        <p:nvSpPr>
          <p:cNvPr id="121" name="ee4pFootnotes">
            <a:extLst>
              <a:ext uri="{FF2B5EF4-FFF2-40B4-BE49-F238E27FC236}">
                <a16:creationId xmlns:a16="http://schemas.microsoft.com/office/drawing/2014/main" id="{3001BD67-D40D-4D57-B4F8-DF8352A203DE}"/>
              </a:ext>
            </a:extLst>
          </p:cNvPr>
          <p:cNvSpPr>
            <a:spLocks noChangeArrowheads="1"/>
          </p:cNvSpPr>
          <p:nvPr/>
        </p:nvSpPr>
        <p:spPr bwMode="auto">
          <a:xfrm>
            <a:off x="630000" y="6282941"/>
            <a:ext cx="4898930" cy="276999"/>
          </a:xfrm>
          <a:prstGeom prst="rect">
            <a:avLst/>
          </a:prstGeom>
          <a:noFill/>
          <a:ln w="9525" algn="ctr">
            <a:noFill/>
            <a:miter lim="800000"/>
            <a:headEnd type="none" w="lg" len="lg"/>
            <a:tailEnd type="none" w="lg" len="lg"/>
          </a:ln>
        </p:spPr>
        <p:txBody>
          <a:bodyPr vert="horz" wrap="square" lIns="0" tIns="0" rIns="0" bIns="0" anchor="b" anchorCtr="0">
            <a:spAutoFit/>
          </a:bodyPr>
          <a:lstStyle/>
          <a:p>
            <a:pPr>
              <a:lnSpc>
                <a:spcPct val="90000"/>
              </a:lnSpc>
              <a:buSzPct val="100000"/>
              <a:buFont typeface="Trebuchet MS" panose="020B0603020202020204" pitchFamily="34" charset="0"/>
              <a:buChar char="​"/>
            </a:pPr>
            <a:r>
              <a:rPr lang="en-US" sz="1000">
                <a:solidFill>
                  <a:schemeClr val="bg1">
                    <a:lumMod val="50000"/>
                  </a:schemeClr>
                </a:solidFill>
                <a:effectLst/>
                <a:sym typeface="+mn-lt"/>
              </a:rPr>
              <a:t>1. Salesforce</a:t>
            </a:r>
          </a:p>
          <a:p>
            <a:pPr>
              <a:lnSpc>
                <a:spcPct val="90000"/>
              </a:lnSpc>
              <a:buSzPct val="100000"/>
              <a:buFont typeface="Trebuchet MS" panose="020B0603020202020204" pitchFamily="34" charset="0"/>
              <a:buChar char="​"/>
            </a:pPr>
            <a:r>
              <a:rPr lang="en-US" sz="1000">
                <a:solidFill>
                  <a:schemeClr val="bg1">
                    <a:lumMod val="50000"/>
                  </a:schemeClr>
                </a:solidFill>
                <a:effectLst/>
                <a:sym typeface="+mn-lt"/>
              </a:rPr>
              <a:t>Source: BCG DAI analysis, </a:t>
            </a:r>
            <a:r>
              <a:rPr lang="en-US" sz="1000" err="1">
                <a:solidFill>
                  <a:schemeClr val="bg1">
                    <a:lumMod val="50000"/>
                  </a:schemeClr>
                </a:solidFill>
                <a:effectLst/>
                <a:sym typeface="+mn-lt"/>
              </a:rPr>
              <a:t>RBB</a:t>
            </a:r>
            <a:r>
              <a:rPr lang="en-US" sz="1000">
                <a:solidFill>
                  <a:schemeClr val="bg1">
                    <a:lumMod val="50000"/>
                  </a:schemeClr>
                </a:solidFill>
                <a:effectLst/>
                <a:sym typeface="+mn-lt"/>
              </a:rPr>
              <a:t> sales architecture program</a:t>
            </a:r>
          </a:p>
        </p:txBody>
      </p:sp>
      <p:sp>
        <p:nvSpPr>
          <p:cNvPr id="130" name="arc" hidden="1">
            <a:extLst>
              <a:ext uri="{FF2B5EF4-FFF2-40B4-BE49-F238E27FC236}">
                <a16:creationId xmlns:a16="http://schemas.microsoft.com/office/drawing/2014/main" id="{19B90FD4-69E8-4135-9552-E79CACDDCBA2}"/>
              </a:ext>
            </a:extLst>
          </p:cNvPr>
          <p:cNvSpPr/>
          <p:nvPr/>
        </p:nvSpPr>
        <p:spPr>
          <a:xfrm>
            <a:off x="7446320" y="6298282"/>
            <a:ext cx="177438" cy="177439"/>
          </a:xfrm>
          <a:prstGeom prst="arc">
            <a:avLst>
              <a:gd name="adj1" fmla="val 16200000"/>
              <a:gd name="adj2" fmla="val 16200000"/>
            </a:avLst>
          </a:prstGeom>
          <a:solidFill>
            <a:srgbClr val="29BA74">
              <a:lumMod val="100000"/>
            </a:srgbClr>
          </a:solidFill>
          <a:ln w="9525" cap="rnd" cmpd="sng" algn="ctr">
            <a:noFill/>
            <a:prstDash val="solid"/>
            <a:round/>
          </a:ln>
          <a:effectLst/>
          <a:extLst>
            <a:ext uri="{91240B29-F687-4F45-9708-019B960494DF}">
              <a14:hiddenLine xmlns:a14="http://schemas.microsoft.com/office/drawing/2010/main" w="9525" cap="rnd" cmpd="sng" algn="ctr">
                <a:solidFill>
                  <a:srgbClr val="7F7F7F"/>
                </a:solidFill>
                <a:prstDash val="solid"/>
                <a:round/>
              </a14:hiddenLine>
            </a:ext>
          </a:extLst>
        </p:spPr>
        <p:style>
          <a:lnRef idx="1">
            <a:schemeClr val="accent1"/>
          </a:lnRef>
          <a:fillRef idx="0">
            <a:schemeClr val="accent1"/>
          </a:fillRef>
          <a:effectRef idx="0">
            <a:schemeClr val="accent1"/>
          </a:effectRef>
          <a:fontRef idx="minor">
            <a:schemeClr val="tx1"/>
          </a:fontRef>
        </p:style>
        <p:txBody>
          <a:bodyPr rtlCol="0" anchor="ctr">
            <a:noAutofit/>
          </a:bodyPr>
          <a:lstStyle/>
          <a:p>
            <a:pPr algn="ctr"/>
            <a:endParaRPr lang="en-US" sz="800">
              <a:sym typeface="+mn-lt"/>
            </a:endParaRPr>
          </a:p>
        </p:txBody>
      </p:sp>
      <p:grpSp>
        <p:nvGrpSpPr>
          <p:cNvPr id="123" name="Group 122">
            <a:extLst>
              <a:ext uri="{FF2B5EF4-FFF2-40B4-BE49-F238E27FC236}">
                <a16:creationId xmlns:a16="http://schemas.microsoft.com/office/drawing/2014/main" id="{FDCEA4FF-C585-4889-ADB1-D65C0093ED1F}"/>
              </a:ext>
            </a:extLst>
          </p:cNvPr>
          <p:cNvGrpSpPr>
            <a:grpSpLocks/>
          </p:cNvGrpSpPr>
          <p:nvPr/>
        </p:nvGrpSpPr>
        <p:grpSpPr>
          <a:xfrm>
            <a:off x="630000" y="2478315"/>
            <a:ext cx="365760" cy="365760"/>
            <a:chOff x="6464300" y="2606675"/>
            <a:chExt cx="1646238" cy="1644650"/>
          </a:xfrm>
        </p:grpSpPr>
        <p:sp>
          <p:nvSpPr>
            <p:cNvPr id="248" name="AutoShape 15">
              <a:extLst>
                <a:ext uri="{FF2B5EF4-FFF2-40B4-BE49-F238E27FC236}">
                  <a16:creationId xmlns:a16="http://schemas.microsoft.com/office/drawing/2014/main" id="{1DBF5AC6-6A6F-441C-9BD5-E4E3CA34818B}"/>
                </a:ext>
              </a:extLst>
            </p:cNvPr>
            <p:cNvSpPr>
              <a:spLocks noChangeAspect="1" noChangeArrowheads="1" noTextEdit="1"/>
            </p:cNvSpPr>
            <p:nvPr/>
          </p:nvSpPr>
          <p:spPr bwMode="auto">
            <a:xfrm>
              <a:off x="6464300"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grpSp>
          <p:nvGrpSpPr>
            <p:cNvPr id="249" name="Group 248">
              <a:extLst>
                <a:ext uri="{FF2B5EF4-FFF2-40B4-BE49-F238E27FC236}">
                  <a16:creationId xmlns:a16="http://schemas.microsoft.com/office/drawing/2014/main" id="{78555CE5-3CC6-4E35-BD80-233A9C1566FA}"/>
                </a:ext>
              </a:extLst>
            </p:cNvPr>
            <p:cNvGrpSpPr/>
            <p:nvPr/>
          </p:nvGrpSpPr>
          <p:grpSpPr>
            <a:xfrm>
              <a:off x="6635750" y="2963862"/>
              <a:ext cx="1367015" cy="1238250"/>
              <a:chOff x="6635750" y="2963862"/>
              <a:chExt cx="1367015" cy="1238250"/>
            </a:xfrm>
          </p:grpSpPr>
          <p:sp>
            <p:nvSpPr>
              <p:cNvPr id="250" name="Freeform 10">
                <a:extLst>
                  <a:ext uri="{FF2B5EF4-FFF2-40B4-BE49-F238E27FC236}">
                    <a16:creationId xmlns:a16="http://schemas.microsoft.com/office/drawing/2014/main" id="{A7E5876C-8078-40C6-A5F4-249873C2D5A3}"/>
                  </a:ext>
                </a:extLst>
              </p:cNvPr>
              <p:cNvSpPr>
                <a:spLocks/>
              </p:cNvSpPr>
              <p:nvPr/>
            </p:nvSpPr>
            <p:spPr bwMode="auto">
              <a:xfrm>
                <a:off x="6635750" y="2963862"/>
                <a:ext cx="1367015" cy="1238250"/>
              </a:xfrm>
              <a:custGeom>
                <a:avLst/>
                <a:gdLst>
                  <a:gd name="connsiteX0" fmla="*/ 1124567 w 1367015"/>
                  <a:gd name="connsiteY0" fmla="*/ 922337 h 1238250"/>
                  <a:gd name="connsiteX1" fmla="*/ 1113855 w 1367015"/>
                  <a:gd name="connsiteY1" fmla="*/ 931647 h 1238250"/>
                  <a:gd name="connsiteX2" fmla="*/ 1058863 w 1367015"/>
                  <a:gd name="connsiteY2" fmla="*/ 985360 h 1238250"/>
                  <a:gd name="connsiteX3" fmla="*/ 1269544 w 1367015"/>
                  <a:gd name="connsiteY3" fmla="*/ 1205939 h 1238250"/>
                  <a:gd name="connsiteX4" fmla="*/ 1282399 w 1367015"/>
                  <a:gd name="connsiteY4" fmla="*/ 1205939 h 1238250"/>
                  <a:gd name="connsiteX5" fmla="*/ 1313109 w 1367015"/>
                  <a:gd name="connsiteY5" fmla="*/ 1185886 h 1238250"/>
                  <a:gd name="connsiteX6" fmla="*/ 1333820 w 1367015"/>
                  <a:gd name="connsiteY6" fmla="*/ 1155807 h 1238250"/>
                  <a:gd name="connsiteX7" fmla="*/ 1335248 w 1367015"/>
                  <a:gd name="connsiteY7" fmla="*/ 1142916 h 1238250"/>
                  <a:gd name="connsiteX8" fmla="*/ 1133851 w 1367015"/>
                  <a:gd name="connsiteY8" fmla="*/ 931647 h 1238250"/>
                  <a:gd name="connsiteX9" fmla="*/ 1124567 w 1367015"/>
                  <a:gd name="connsiteY9" fmla="*/ 922337 h 1238250"/>
                  <a:gd name="connsiteX10" fmla="*/ 925229 w 1367015"/>
                  <a:gd name="connsiteY10" fmla="*/ 906462 h 1238250"/>
                  <a:gd name="connsiteX11" fmla="*/ 949325 w 1367015"/>
                  <a:gd name="connsiteY11" fmla="*/ 931862 h 1238250"/>
                  <a:gd name="connsiteX12" fmla="*/ 869950 w 1367015"/>
                  <a:gd name="connsiteY12" fmla="*/ 931862 h 1238250"/>
                  <a:gd name="connsiteX13" fmla="*/ 925229 w 1367015"/>
                  <a:gd name="connsiteY13" fmla="*/ 906462 h 1238250"/>
                  <a:gd name="connsiteX14" fmla="*/ 1124927 w 1367015"/>
                  <a:gd name="connsiteY14" fmla="*/ 884237 h 1238250"/>
                  <a:gd name="connsiteX15" fmla="*/ 1135645 w 1367015"/>
                  <a:gd name="connsiteY15" fmla="*/ 889243 h 1238250"/>
                  <a:gd name="connsiteX16" fmla="*/ 1146363 w 1367015"/>
                  <a:gd name="connsiteY16" fmla="*/ 900686 h 1238250"/>
                  <a:gd name="connsiteX17" fmla="*/ 1176374 w 1367015"/>
                  <a:gd name="connsiteY17" fmla="*/ 932154 h 1238250"/>
                  <a:gd name="connsiteX18" fmla="*/ 1357152 w 1367015"/>
                  <a:gd name="connsiteY18" fmla="*/ 1121676 h 1238250"/>
                  <a:gd name="connsiteX19" fmla="*/ 1363582 w 1367015"/>
                  <a:gd name="connsiteY19" fmla="*/ 1166017 h 1238250"/>
                  <a:gd name="connsiteX20" fmla="*/ 1335001 w 1367015"/>
                  <a:gd name="connsiteY20" fmla="*/ 1208928 h 1238250"/>
                  <a:gd name="connsiteX21" fmla="*/ 1290700 w 1367015"/>
                  <a:gd name="connsiteY21" fmla="*/ 1236105 h 1238250"/>
                  <a:gd name="connsiteX22" fmla="*/ 1273551 w 1367015"/>
                  <a:gd name="connsiteY22" fmla="*/ 1238250 h 1238250"/>
                  <a:gd name="connsiteX23" fmla="*/ 1246398 w 1367015"/>
                  <a:gd name="connsiteY23" fmla="*/ 1227522 h 1238250"/>
                  <a:gd name="connsiteX24" fmla="*/ 1024892 w 1367015"/>
                  <a:gd name="connsiteY24" fmla="*/ 996520 h 1238250"/>
                  <a:gd name="connsiteX25" fmla="*/ 1025606 w 1367015"/>
                  <a:gd name="connsiteY25" fmla="*/ 974350 h 1238250"/>
                  <a:gd name="connsiteX26" fmla="*/ 1068478 w 1367015"/>
                  <a:gd name="connsiteY26" fmla="*/ 932154 h 1238250"/>
                  <a:gd name="connsiteX27" fmla="*/ 1076338 w 1367015"/>
                  <a:gd name="connsiteY27" fmla="*/ 925002 h 1238250"/>
                  <a:gd name="connsiteX28" fmla="*/ 1100633 w 1367015"/>
                  <a:gd name="connsiteY28" fmla="*/ 900686 h 1238250"/>
                  <a:gd name="connsiteX29" fmla="*/ 1104205 w 1367015"/>
                  <a:gd name="connsiteY29" fmla="*/ 897826 h 1238250"/>
                  <a:gd name="connsiteX30" fmla="*/ 1113494 w 1367015"/>
                  <a:gd name="connsiteY30" fmla="*/ 889243 h 1238250"/>
                  <a:gd name="connsiteX31" fmla="*/ 1124927 w 1367015"/>
                  <a:gd name="connsiteY31" fmla="*/ 884237 h 1238250"/>
                  <a:gd name="connsiteX32" fmla="*/ 346518 w 1367015"/>
                  <a:gd name="connsiteY32" fmla="*/ 565150 h 1238250"/>
                  <a:gd name="connsiteX33" fmla="*/ 306388 w 1367015"/>
                  <a:gd name="connsiteY33" fmla="*/ 606784 h 1238250"/>
                  <a:gd name="connsiteX34" fmla="*/ 306388 w 1367015"/>
                  <a:gd name="connsiteY34" fmla="*/ 608938 h 1238250"/>
                  <a:gd name="connsiteX35" fmla="*/ 319765 w 1367015"/>
                  <a:gd name="connsiteY35" fmla="*/ 636933 h 1238250"/>
                  <a:gd name="connsiteX36" fmla="*/ 346518 w 1367015"/>
                  <a:gd name="connsiteY36" fmla="*/ 647700 h 1238250"/>
                  <a:gd name="connsiteX37" fmla="*/ 387351 w 1367015"/>
                  <a:gd name="connsiteY37" fmla="*/ 606784 h 1238250"/>
                  <a:gd name="connsiteX38" fmla="*/ 383127 w 1367015"/>
                  <a:gd name="connsiteY38" fmla="*/ 588838 h 1238250"/>
                  <a:gd name="connsiteX39" fmla="*/ 360598 w 1367015"/>
                  <a:gd name="connsiteY39" fmla="*/ 568021 h 1238250"/>
                  <a:gd name="connsiteX40" fmla="*/ 346518 w 1367015"/>
                  <a:gd name="connsiteY40" fmla="*/ 565150 h 1238250"/>
                  <a:gd name="connsiteX41" fmla="*/ 760846 w 1367015"/>
                  <a:gd name="connsiteY41" fmla="*/ 492125 h 1238250"/>
                  <a:gd name="connsiteX42" fmla="*/ 735591 w 1367015"/>
                  <a:gd name="connsiteY42" fmla="*/ 499181 h 1238250"/>
                  <a:gd name="connsiteX43" fmla="*/ 710335 w 1367015"/>
                  <a:gd name="connsiteY43" fmla="*/ 535164 h 1238250"/>
                  <a:gd name="connsiteX44" fmla="*/ 709613 w 1367015"/>
                  <a:gd name="connsiteY44" fmla="*/ 542925 h 1238250"/>
                  <a:gd name="connsiteX45" fmla="*/ 760846 w 1367015"/>
                  <a:gd name="connsiteY45" fmla="*/ 593725 h 1238250"/>
                  <a:gd name="connsiteX46" fmla="*/ 767341 w 1367015"/>
                  <a:gd name="connsiteY46" fmla="*/ 593725 h 1238250"/>
                  <a:gd name="connsiteX47" fmla="*/ 804864 w 1367015"/>
                  <a:gd name="connsiteY47" fmla="*/ 570442 h 1238250"/>
                  <a:gd name="connsiteX48" fmla="*/ 812801 w 1367015"/>
                  <a:gd name="connsiteY48" fmla="*/ 542925 h 1238250"/>
                  <a:gd name="connsiteX49" fmla="*/ 812801 w 1367015"/>
                  <a:gd name="connsiteY49" fmla="*/ 539397 h 1238250"/>
                  <a:gd name="connsiteX50" fmla="*/ 768062 w 1367015"/>
                  <a:gd name="connsiteY50" fmla="*/ 492831 h 1238250"/>
                  <a:gd name="connsiteX51" fmla="*/ 760846 w 1367015"/>
                  <a:gd name="connsiteY51" fmla="*/ 492125 h 1238250"/>
                  <a:gd name="connsiteX52" fmla="*/ 891455 w 1367015"/>
                  <a:gd name="connsiteY52" fmla="*/ 415925 h 1238250"/>
                  <a:gd name="connsiteX53" fmla="*/ 915035 w 1367015"/>
                  <a:gd name="connsiteY53" fmla="*/ 434485 h 1238250"/>
                  <a:gd name="connsiteX54" fmla="*/ 920751 w 1367015"/>
                  <a:gd name="connsiteY54" fmla="*/ 439482 h 1238250"/>
                  <a:gd name="connsiteX55" fmla="*/ 877164 w 1367015"/>
                  <a:gd name="connsiteY55" fmla="*/ 474460 h 1238250"/>
                  <a:gd name="connsiteX56" fmla="*/ 850012 w 1367015"/>
                  <a:gd name="connsiteY56" fmla="*/ 496589 h 1238250"/>
                  <a:gd name="connsiteX57" fmla="*/ 838579 w 1367015"/>
                  <a:gd name="connsiteY57" fmla="*/ 505155 h 1238250"/>
                  <a:gd name="connsiteX58" fmla="*/ 844296 w 1367015"/>
                  <a:gd name="connsiteY58" fmla="*/ 519432 h 1238250"/>
                  <a:gd name="connsiteX59" fmla="*/ 847154 w 1367015"/>
                  <a:gd name="connsiteY59" fmla="*/ 542989 h 1238250"/>
                  <a:gd name="connsiteX60" fmla="*/ 845725 w 1367015"/>
                  <a:gd name="connsiteY60" fmla="*/ 561549 h 1238250"/>
                  <a:gd name="connsiteX61" fmla="*/ 824289 w 1367015"/>
                  <a:gd name="connsiteY61" fmla="*/ 601524 h 1238250"/>
                  <a:gd name="connsiteX62" fmla="*/ 761409 w 1367015"/>
                  <a:gd name="connsiteY62" fmla="*/ 628650 h 1238250"/>
                  <a:gd name="connsiteX63" fmla="*/ 676379 w 1367015"/>
                  <a:gd name="connsiteY63" fmla="*/ 542989 h 1238250"/>
                  <a:gd name="connsiteX64" fmla="*/ 678523 w 1367015"/>
                  <a:gd name="connsiteY64" fmla="*/ 523715 h 1238250"/>
                  <a:gd name="connsiteX65" fmla="*/ 582775 w 1367015"/>
                  <a:gd name="connsiteY65" fmla="*/ 477316 h 1238250"/>
                  <a:gd name="connsiteX66" fmla="*/ 569913 w 1367015"/>
                  <a:gd name="connsiteY66" fmla="*/ 470891 h 1238250"/>
                  <a:gd name="connsiteX67" fmla="*/ 594208 w 1367015"/>
                  <a:gd name="connsiteY67" fmla="*/ 441623 h 1238250"/>
                  <a:gd name="connsiteX68" fmla="*/ 694957 w 1367015"/>
                  <a:gd name="connsiteY68" fmla="*/ 490165 h 1238250"/>
                  <a:gd name="connsiteX69" fmla="*/ 715679 w 1367015"/>
                  <a:gd name="connsiteY69" fmla="*/ 470891 h 1238250"/>
                  <a:gd name="connsiteX70" fmla="*/ 761409 w 1367015"/>
                  <a:gd name="connsiteY70" fmla="*/ 457328 h 1238250"/>
                  <a:gd name="connsiteX71" fmla="*/ 789991 w 1367015"/>
                  <a:gd name="connsiteY71" fmla="*/ 462325 h 1238250"/>
                  <a:gd name="connsiteX72" fmla="*/ 815714 w 1367015"/>
                  <a:gd name="connsiteY72" fmla="*/ 476602 h 1238250"/>
                  <a:gd name="connsiteX73" fmla="*/ 831434 w 1367015"/>
                  <a:gd name="connsiteY73" fmla="*/ 464466 h 1238250"/>
                  <a:gd name="connsiteX74" fmla="*/ 891455 w 1367015"/>
                  <a:gd name="connsiteY74" fmla="*/ 415925 h 1238250"/>
                  <a:gd name="connsiteX75" fmla="*/ 772661 w 1367015"/>
                  <a:gd name="connsiteY75" fmla="*/ 346605 h 1238250"/>
                  <a:gd name="connsiteX76" fmla="*/ 628158 w 1367015"/>
                  <a:gd name="connsiteY76" fmla="*/ 379415 h 1238250"/>
                  <a:gd name="connsiteX77" fmla="*/ 571784 w 1367015"/>
                  <a:gd name="connsiteY77" fmla="*/ 420783 h 1238250"/>
                  <a:gd name="connsiteX78" fmla="*/ 546809 w 1367015"/>
                  <a:gd name="connsiteY78" fmla="*/ 449314 h 1238250"/>
                  <a:gd name="connsiteX79" fmla="*/ 524687 w 1367015"/>
                  <a:gd name="connsiteY79" fmla="*/ 482123 h 1238250"/>
                  <a:gd name="connsiteX80" fmla="*/ 564648 w 1367015"/>
                  <a:gd name="connsiteY80" fmla="*/ 800235 h 1238250"/>
                  <a:gd name="connsiteX81" fmla="*/ 678110 w 1367015"/>
                  <a:gd name="connsiteY81" fmla="*/ 869420 h 1238250"/>
                  <a:gd name="connsiteX82" fmla="*/ 837955 w 1367015"/>
                  <a:gd name="connsiteY82" fmla="*/ 869420 h 1238250"/>
                  <a:gd name="connsiteX83" fmla="*/ 921445 w 1367015"/>
                  <a:gd name="connsiteY83" fmla="*/ 826625 h 1238250"/>
                  <a:gd name="connsiteX84" fmla="*/ 944280 w 1367015"/>
                  <a:gd name="connsiteY84" fmla="*/ 807367 h 1238250"/>
                  <a:gd name="connsiteX85" fmla="*/ 967115 w 1367015"/>
                  <a:gd name="connsiteY85" fmla="*/ 783117 h 1238250"/>
                  <a:gd name="connsiteX86" fmla="*/ 959979 w 1367015"/>
                  <a:gd name="connsiteY86" fmla="*/ 437902 h 1238250"/>
                  <a:gd name="connsiteX87" fmla="*/ 951416 w 1367015"/>
                  <a:gd name="connsiteY87" fmla="*/ 427916 h 1238250"/>
                  <a:gd name="connsiteX88" fmla="*/ 937858 w 1367015"/>
                  <a:gd name="connsiteY88" fmla="*/ 415791 h 1238250"/>
                  <a:gd name="connsiteX89" fmla="*/ 912882 w 1367015"/>
                  <a:gd name="connsiteY89" fmla="*/ 395106 h 1238250"/>
                  <a:gd name="connsiteX90" fmla="*/ 772661 w 1367015"/>
                  <a:gd name="connsiteY90" fmla="*/ 346605 h 1238250"/>
                  <a:gd name="connsiteX91" fmla="*/ 785477 w 1367015"/>
                  <a:gd name="connsiteY91" fmla="*/ 308032 h 1238250"/>
                  <a:gd name="connsiteX92" fmla="*/ 945296 w 1367015"/>
                  <a:gd name="connsiteY92" fmla="*/ 370115 h 1238250"/>
                  <a:gd name="connsiteX93" fmla="*/ 969609 w 1367015"/>
                  <a:gd name="connsiteY93" fmla="*/ 390809 h 1238250"/>
                  <a:gd name="connsiteX94" fmla="*/ 980335 w 1367015"/>
                  <a:gd name="connsiteY94" fmla="*/ 400799 h 1238250"/>
                  <a:gd name="connsiteX95" fmla="*/ 991061 w 1367015"/>
                  <a:gd name="connsiteY95" fmla="*/ 413644 h 1238250"/>
                  <a:gd name="connsiteX96" fmla="*/ 1008223 w 1367015"/>
                  <a:gd name="connsiteY96" fmla="*/ 791852 h 1238250"/>
                  <a:gd name="connsiteX97" fmla="*/ 1080445 w 1367015"/>
                  <a:gd name="connsiteY97" fmla="*/ 866780 h 1238250"/>
                  <a:gd name="connsiteX98" fmla="*/ 1081875 w 1367015"/>
                  <a:gd name="connsiteY98" fmla="*/ 868921 h 1238250"/>
                  <a:gd name="connsiteX99" fmla="*/ 1081875 w 1367015"/>
                  <a:gd name="connsiteY99" fmla="*/ 876770 h 1238250"/>
                  <a:gd name="connsiteX100" fmla="*/ 1056848 w 1367015"/>
                  <a:gd name="connsiteY100" fmla="*/ 900319 h 1238250"/>
                  <a:gd name="connsiteX101" fmla="*/ 1055418 w 1367015"/>
                  <a:gd name="connsiteY101" fmla="*/ 901746 h 1238250"/>
                  <a:gd name="connsiteX102" fmla="*/ 1023954 w 1367015"/>
                  <a:gd name="connsiteY102" fmla="*/ 931717 h 1238250"/>
                  <a:gd name="connsiteX103" fmla="*/ 1014658 w 1367015"/>
                  <a:gd name="connsiteY103" fmla="*/ 940994 h 1238250"/>
                  <a:gd name="connsiteX104" fmla="*/ 1003217 w 1367015"/>
                  <a:gd name="connsiteY104" fmla="*/ 940994 h 1238250"/>
                  <a:gd name="connsiteX105" fmla="*/ 993921 w 1367015"/>
                  <a:gd name="connsiteY105" fmla="*/ 931717 h 1238250"/>
                  <a:gd name="connsiteX106" fmla="*/ 963888 w 1367015"/>
                  <a:gd name="connsiteY106" fmla="*/ 900319 h 1238250"/>
                  <a:gd name="connsiteX107" fmla="*/ 933140 w 1367015"/>
                  <a:gd name="connsiteY107" fmla="*/ 868921 h 1238250"/>
                  <a:gd name="connsiteX108" fmla="*/ 930995 w 1367015"/>
                  <a:gd name="connsiteY108" fmla="*/ 866780 h 1238250"/>
                  <a:gd name="connsiteX109" fmla="*/ 926704 w 1367015"/>
                  <a:gd name="connsiteY109" fmla="*/ 868921 h 1238250"/>
                  <a:gd name="connsiteX110" fmla="*/ 864493 w 1367015"/>
                  <a:gd name="connsiteY110" fmla="*/ 900319 h 1238250"/>
                  <a:gd name="connsiteX111" fmla="*/ 651400 w 1367015"/>
                  <a:gd name="connsiteY111" fmla="*/ 900319 h 1238250"/>
                  <a:gd name="connsiteX112" fmla="*/ 589189 w 1367015"/>
                  <a:gd name="connsiteY112" fmla="*/ 868921 h 1238250"/>
                  <a:gd name="connsiteX113" fmla="*/ 536988 w 1367015"/>
                  <a:gd name="connsiteY113" fmla="*/ 826105 h 1238250"/>
                  <a:gd name="connsiteX114" fmla="*/ 457615 w 1367015"/>
                  <a:gd name="connsiteY114" fmla="*/ 554937 h 1238250"/>
                  <a:gd name="connsiteX115" fmla="*/ 481213 w 1367015"/>
                  <a:gd name="connsiteY115" fmla="*/ 482863 h 1238250"/>
                  <a:gd name="connsiteX116" fmla="*/ 530553 w 1367015"/>
                  <a:gd name="connsiteY116" fmla="*/ 408649 h 1238250"/>
                  <a:gd name="connsiteX117" fmla="*/ 545569 w 1367015"/>
                  <a:gd name="connsiteY117" fmla="*/ 392236 h 1238250"/>
                  <a:gd name="connsiteX118" fmla="*/ 592049 w 1367015"/>
                  <a:gd name="connsiteY118" fmla="*/ 355843 h 1238250"/>
                  <a:gd name="connsiteX119" fmla="*/ 619222 w 1367015"/>
                  <a:gd name="connsiteY119" fmla="*/ 340143 h 1238250"/>
                  <a:gd name="connsiteX120" fmla="*/ 785477 w 1367015"/>
                  <a:gd name="connsiteY120" fmla="*/ 308032 h 1238250"/>
                  <a:gd name="connsiteX121" fmla="*/ 555676 w 1367015"/>
                  <a:gd name="connsiteY121" fmla="*/ 304800 h 1238250"/>
                  <a:gd name="connsiteX122" fmla="*/ 595313 w 1367015"/>
                  <a:gd name="connsiteY122" fmla="*/ 316982 h 1238250"/>
                  <a:gd name="connsiteX123" fmla="*/ 563462 w 1367015"/>
                  <a:gd name="connsiteY123" fmla="*/ 337046 h 1238250"/>
                  <a:gd name="connsiteX124" fmla="*/ 555676 w 1367015"/>
                  <a:gd name="connsiteY124" fmla="*/ 336330 h 1238250"/>
                  <a:gd name="connsiteX125" fmla="*/ 515331 w 1367015"/>
                  <a:gd name="connsiteY125" fmla="*/ 377175 h 1238250"/>
                  <a:gd name="connsiteX126" fmla="*/ 515331 w 1367015"/>
                  <a:gd name="connsiteY126" fmla="*/ 379325 h 1238250"/>
                  <a:gd name="connsiteX127" fmla="*/ 490558 w 1367015"/>
                  <a:gd name="connsiteY127" fmla="*/ 407988 h 1238250"/>
                  <a:gd name="connsiteX128" fmla="*/ 484188 w 1367015"/>
                  <a:gd name="connsiteY128" fmla="*/ 377175 h 1238250"/>
                  <a:gd name="connsiteX129" fmla="*/ 555676 w 1367015"/>
                  <a:gd name="connsiteY129" fmla="*/ 304800 h 1238250"/>
                  <a:gd name="connsiteX130" fmla="*/ 1089384 w 1367015"/>
                  <a:gd name="connsiteY130" fmla="*/ 233362 h 1238250"/>
                  <a:gd name="connsiteX131" fmla="*/ 1047750 w 1367015"/>
                  <a:gd name="connsiteY131" fmla="*/ 274996 h 1238250"/>
                  <a:gd name="connsiteX132" fmla="*/ 1049186 w 1367015"/>
                  <a:gd name="connsiteY132" fmla="*/ 286481 h 1238250"/>
                  <a:gd name="connsiteX133" fmla="*/ 1069285 w 1367015"/>
                  <a:gd name="connsiteY133" fmla="*/ 310887 h 1238250"/>
                  <a:gd name="connsiteX134" fmla="*/ 1089384 w 1367015"/>
                  <a:gd name="connsiteY134" fmla="*/ 315912 h 1238250"/>
                  <a:gd name="connsiteX135" fmla="*/ 1130300 w 1367015"/>
                  <a:gd name="connsiteY135" fmla="*/ 274996 h 1238250"/>
                  <a:gd name="connsiteX136" fmla="*/ 1128865 w 1367015"/>
                  <a:gd name="connsiteY136" fmla="*/ 264229 h 1238250"/>
                  <a:gd name="connsiteX137" fmla="*/ 1109483 w 1367015"/>
                  <a:gd name="connsiteY137" fmla="*/ 239105 h 1238250"/>
                  <a:gd name="connsiteX138" fmla="*/ 1089384 w 1367015"/>
                  <a:gd name="connsiteY138" fmla="*/ 233362 h 1238250"/>
                  <a:gd name="connsiteX139" fmla="*/ 15705 w 1367015"/>
                  <a:gd name="connsiteY139" fmla="*/ 0 h 1238250"/>
                  <a:gd name="connsiteX140" fmla="*/ 1289220 w 1367015"/>
                  <a:gd name="connsiteY140" fmla="*/ 0 h 1238250"/>
                  <a:gd name="connsiteX141" fmla="*/ 1304925 w 1367015"/>
                  <a:gd name="connsiteY141" fmla="*/ 15698 h 1238250"/>
                  <a:gd name="connsiteX142" fmla="*/ 1304925 w 1367015"/>
                  <a:gd name="connsiteY142" fmla="*/ 916166 h 1238250"/>
                  <a:gd name="connsiteX143" fmla="*/ 1289220 w 1367015"/>
                  <a:gd name="connsiteY143" fmla="*/ 931863 h 1238250"/>
                  <a:gd name="connsiteX144" fmla="*/ 1219977 w 1367015"/>
                  <a:gd name="connsiteY144" fmla="*/ 931863 h 1238250"/>
                  <a:gd name="connsiteX145" fmla="*/ 1189995 w 1367015"/>
                  <a:gd name="connsiteY145" fmla="*/ 900468 h 1238250"/>
                  <a:gd name="connsiteX146" fmla="*/ 1273516 w 1367015"/>
                  <a:gd name="connsiteY146" fmla="*/ 900468 h 1238250"/>
                  <a:gd name="connsiteX147" fmla="*/ 1273516 w 1367015"/>
                  <a:gd name="connsiteY147" fmla="*/ 151267 h 1238250"/>
                  <a:gd name="connsiteX148" fmla="*/ 1242106 w 1367015"/>
                  <a:gd name="connsiteY148" fmla="*/ 175527 h 1238250"/>
                  <a:gd name="connsiteX149" fmla="*/ 1154302 w 1367015"/>
                  <a:gd name="connsiteY149" fmla="*/ 243312 h 1238250"/>
                  <a:gd name="connsiteX150" fmla="*/ 1161441 w 1367015"/>
                  <a:gd name="connsiteY150" fmla="*/ 274707 h 1238250"/>
                  <a:gd name="connsiteX151" fmla="*/ 1089341 w 1367015"/>
                  <a:gd name="connsiteY151" fmla="*/ 346773 h 1238250"/>
                  <a:gd name="connsiteX152" fmla="*/ 1043655 w 1367015"/>
                  <a:gd name="connsiteY152" fmla="*/ 331076 h 1238250"/>
                  <a:gd name="connsiteX153" fmla="*/ 993685 w 1367015"/>
                  <a:gd name="connsiteY153" fmla="*/ 371033 h 1238250"/>
                  <a:gd name="connsiteX154" fmla="*/ 969414 w 1367015"/>
                  <a:gd name="connsiteY154" fmla="*/ 349627 h 1238250"/>
                  <a:gd name="connsiteX155" fmla="*/ 1024381 w 1367015"/>
                  <a:gd name="connsiteY155" fmla="*/ 306102 h 1238250"/>
                  <a:gd name="connsiteX156" fmla="*/ 1016528 w 1367015"/>
                  <a:gd name="connsiteY156" fmla="*/ 274707 h 1238250"/>
                  <a:gd name="connsiteX157" fmla="*/ 1089341 w 1367015"/>
                  <a:gd name="connsiteY157" fmla="*/ 201928 h 1238250"/>
                  <a:gd name="connsiteX158" fmla="*/ 1135028 w 1367015"/>
                  <a:gd name="connsiteY158" fmla="*/ 219052 h 1238250"/>
                  <a:gd name="connsiteX159" fmla="*/ 1242106 w 1367015"/>
                  <a:gd name="connsiteY159" fmla="*/ 136283 h 1238250"/>
                  <a:gd name="connsiteX160" fmla="*/ 1269946 w 1367015"/>
                  <a:gd name="connsiteY160" fmla="*/ 114878 h 1238250"/>
                  <a:gd name="connsiteX161" fmla="*/ 1273516 w 1367015"/>
                  <a:gd name="connsiteY161" fmla="*/ 112737 h 1238250"/>
                  <a:gd name="connsiteX162" fmla="*/ 1273516 w 1367015"/>
                  <a:gd name="connsiteY162" fmla="*/ 31395 h 1238250"/>
                  <a:gd name="connsiteX163" fmla="*/ 31410 w 1367015"/>
                  <a:gd name="connsiteY163" fmla="*/ 31395 h 1238250"/>
                  <a:gd name="connsiteX164" fmla="*/ 31410 w 1367015"/>
                  <a:gd name="connsiteY164" fmla="*/ 741352 h 1238250"/>
                  <a:gd name="connsiteX165" fmla="*/ 62819 w 1367015"/>
                  <a:gd name="connsiteY165" fmla="*/ 726368 h 1238250"/>
                  <a:gd name="connsiteX166" fmla="*/ 276976 w 1367015"/>
                  <a:gd name="connsiteY166" fmla="*/ 623621 h 1238250"/>
                  <a:gd name="connsiteX167" fmla="*/ 274834 w 1367015"/>
                  <a:gd name="connsiteY167" fmla="*/ 607210 h 1238250"/>
                  <a:gd name="connsiteX168" fmla="*/ 346933 w 1367015"/>
                  <a:gd name="connsiteY168" fmla="*/ 534430 h 1238250"/>
                  <a:gd name="connsiteX169" fmla="*/ 383340 w 1367015"/>
                  <a:gd name="connsiteY169" fmla="*/ 543706 h 1238250"/>
                  <a:gd name="connsiteX170" fmla="*/ 454725 w 1367015"/>
                  <a:gd name="connsiteY170" fmla="*/ 465218 h 1238250"/>
                  <a:gd name="connsiteX171" fmla="*/ 429026 w 1367015"/>
                  <a:gd name="connsiteY171" fmla="*/ 540138 h 1238250"/>
                  <a:gd name="connsiteX172" fmla="*/ 406183 w 1367015"/>
                  <a:gd name="connsiteY172" fmla="*/ 565112 h 1238250"/>
                  <a:gd name="connsiteX173" fmla="*/ 419746 w 1367015"/>
                  <a:gd name="connsiteY173" fmla="*/ 607210 h 1238250"/>
                  <a:gd name="connsiteX174" fmla="*/ 346933 w 1367015"/>
                  <a:gd name="connsiteY174" fmla="*/ 679275 h 1238250"/>
                  <a:gd name="connsiteX175" fmla="*/ 290539 w 1367015"/>
                  <a:gd name="connsiteY175" fmla="*/ 651448 h 1238250"/>
                  <a:gd name="connsiteX176" fmla="*/ 62819 w 1367015"/>
                  <a:gd name="connsiteY176" fmla="*/ 761331 h 1238250"/>
                  <a:gd name="connsiteX177" fmla="*/ 31410 w 1367015"/>
                  <a:gd name="connsiteY177" fmla="*/ 776315 h 1238250"/>
                  <a:gd name="connsiteX178" fmla="*/ 31410 w 1367015"/>
                  <a:gd name="connsiteY178" fmla="*/ 900468 h 1238250"/>
                  <a:gd name="connsiteX179" fmla="*/ 579650 w 1367015"/>
                  <a:gd name="connsiteY179" fmla="*/ 900468 h 1238250"/>
                  <a:gd name="connsiteX180" fmla="*/ 645324 w 1367015"/>
                  <a:gd name="connsiteY180" fmla="*/ 931863 h 1238250"/>
                  <a:gd name="connsiteX181" fmla="*/ 15705 w 1367015"/>
                  <a:gd name="connsiteY181" fmla="*/ 931863 h 1238250"/>
                  <a:gd name="connsiteX182" fmla="*/ 0 w 1367015"/>
                  <a:gd name="connsiteY182" fmla="*/ 916166 h 1238250"/>
                  <a:gd name="connsiteX183" fmla="*/ 0 w 1367015"/>
                  <a:gd name="connsiteY183" fmla="*/ 15698 h 1238250"/>
                  <a:gd name="connsiteX184" fmla="*/ 15705 w 1367015"/>
                  <a:gd name="connsiteY184" fmla="*/ 0 h 1238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1367015" h="1238250">
                    <a:moveTo>
                      <a:pt x="1124567" y="922337"/>
                    </a:moveTo>
                    <a:cubicBezTo>
                      <a:pt x="1124567" y="922337"/>
                      <a:pt x="1124567" y="922337"/>
                      <a:pt x="1113855" y="931647"/>
                    </a:cubicBezTo>
                    <a:cubicBezTo>
                      <a:pt x="1113855" y="931647"/>
                      <a:pt x="1113855" y="931647"/>
                      <a:pt x="1058863" y="985360"/>
                    </a:cubicBezTo>
                    <a:cubicBezTo>
                      <a:pt x="1269544" y="1205939"/>
                      <a:pt x="1269544" y="1205939"/>
                      <a:pt x="1269544" y="1205939"/>
                    </a:cubicBezTo>
                    <a:cubicBezTo>
                      <a:pt x="1270258" y="1206655"/>
                      <a:pt x="1274543" y="1208087"/>
                      <a:pt x="1282399" y="1205939"/>
                    </a:cubicBezTo>
                    <a:cubicBezTo>
                      <a:pt x="1292398" y="1203074"/>
                      <a:pt x="1303110" y="1195912"/>
                      <a:pt x="1313109" y="1185886"/>
                    </a:cubicBezTo>
                    <a:cubicBezTo>
                      <a:pt x="1323107" y="1176576"/>
                      <a:pt x="1330963" y="1165833"/>
                      <a:pt x="1333820" y="1155807"/>
                    </a:cubicBezTo>
                    <a:cubicBezTo>
                      <a:pt x="1336676" y="1147929"/>
                      <a:pt x="1335962" y="1143632"/>
                      <a:pt x="1335248" y="1142916"/>
                    </a:cubicBezTo>
                    <a:cubicBezTo>
                      <a:pt x="1198841" y="1000399"/>
                      <a:pt x="1150277" y="949551"/>
                      <a:pt x="1133851" y="931647"/>
                    </a:cubicBezTo>
                    <a:cubicBezTo>
                      <a:pt x="1124567" y="922337"/>
                      <a:pt x="1124567" y="922337"/>
                      <a:pt x="1124567" y="922337"/>
                    </a:cubicBezTo>
                    <a:close/>
                    <a:moveTo>
                      <a:pt x="925229" y="906462"/>
                    </a:moveTo>
                    <a:cubicBezTo>
                      <a:pt x="925229" y="906462"/>
                      <a:pt x="925229" y="906462"/>
                      <a:pt x="949325" y="931862"/>
                    </a:cubicBezTo>
                    <a:cubicBezTo>
                      <a:pt x="949325" y="931862"/>
                      <a:pt x="949325" y="931862"/>
                      <a:pt x="869950" y="931862"/>
                    </a:cubicBezTo>
                    <a:cubicBezTo>
                      <a:pt x="889085" y="925331"/>
                      <a:pt x="907512" y="916622"/>
                      <a:pt x="925229" y="906462"/>
                    </a:cubicBezTo>
                    <a:close/>
                    <a:moveTo>
                      <a:pt x="1124927" y="884237"/>
                    </a:moveTo>
                    <a:cubicBezTo>
                      <a:pt x="1129214" y="884952"/>
                      <a:pt x="1132787" y="886383"/>
                      <a:pt x="1135645" y="889243"/>
                    </a:cubicBezTo>
                    <a:cubicBezTo>
                      <a:pt x="1139218" y="893534"/>
                      <a:pt x="1142790" y="897110"/>
                      <a:pt x="1146363" y="900686"/>
                    </a:cubicBezTo>
                    <a:cubicBezTo>
                      <a:pt x="1157081" y="912129"/>
                      <a:pt x="1167085" y="922857"/>
                      <a:pt x="1176374" y="932154"/>
                    </a:cubicBezTo>
                    <a:cubicBezTo>
                      <a:pt x="1357152" y="1121676"/>
                      <a:pt x="1357152" y="1121676"/>
                      <a:pt x="1357152" y="1121676"/>
                    </a:cubicBezTo>
                    <a:cubicBezTo>
                      <a:pt x="1367155" y="1131689"/>
                      <a:pt x="1370013" y="1148138"/>
                      <a:pt x="1363582" y="1166017"/>
                    </a:cubicBezTo>
                    <a:cubicBezTo>
                      <a:pt x="1358581" y="1181036"/>
                      <a:pt x="1348577" y="1196055"/>
                      <a:pt x="1335001" y="1208928"/>
                    </a:cubicBezTo>
                    <a:cubicBezTo>
                      <a:pt x="1321425" y="1221801"/>
                      <a:pt x="1305705" y="1231814"/>
                      <a:pt x="1290700" y="1236105"/>
                    </a:cubicBezTo>
                    <a:cubicBezTo>
                      <a:pt x="1284983" y="1237535"/>
                      <a:pt x="1279267" y="1238250"/>
                      <a:pt x="1273551" y="1238250"/>
                    </a:cubicBezTo>
                    <a:cubicBezTo>
                      <a:pt x="1262833" y="1238250"/>
                      <a:pt x="1252829" y="1234674"/>
                      <a:pt x="1246398" y="1227522"/>
                    </a:cubicBezTo>
                    <a:cubicBezTo>
                      <a:pt x="1024892" y="996520"/>
                      <a:pt x="1024892" y="996520"/>
                      <a:pt x="1024892" y="996520"/>
                    </a:cubicBezTo>
                    <a:cubicBezTo>
                      <a:pt x="1019175" y="990083"/>
                      <a:pt x="1019175" y="980071"/>
                      <a:pt x="1025606" y="974350"/>
                    </a:cubicBezTo>
                    <a:cubicBezTo>
                      <a:pt x="1042755" y="957185"/>
                      <a:pt x="1057046" y="943597"/>
                      <a:pt x="1068478" y="932154"/>
                    </a:cubicBezTo>
                    <a:cubicBezTo>
                      <a:pt x="1071336" y="930009"/>
                      <a:pt x="1073480" y="927148"/>
                      <a:pt x="1076338" y="925002"/>
                    </a:cubicBezTo>
                    <a:cubicBezTo>
                      <a:pt x="1087771" y="914275"/>
                      <a:pt x="1095631" y="906408"/>
                      <a:pt x="1100633" y="900686"/>
                    </a:cubicBezTo>
                    <a:cubicBezTo>
                      <a:pt x="1102062" y="899971"/>
                      <a:pt x="1103491" y="898541"/>
                      <a:pt x="1104205" y="897826"/>
                    </a:cubicBezTo>
                    <a:cubicBezTo>
                      <a:pt x="1113494" y="889243"/>
                      <a:pt x="1113494" y="889243"/>
                      <a:pt x="1113494" y="889243"/>
                    </a:cubicBezTo>
                    <a:cubicBezTo>
                      <a:pt x="1116352" y="886383"/>
                      <a:pt x="1120640" y="884237"/>
                      <a:pt x="1124927" y="884237"/>
                    </a:cubicBezTo>
                    <a:close/>
                    <a:moveTo>
                      <a:pt x="346518" y="565150"/>
                    </a:moveTo>
                    <a:cubicBezTo>
                      <a:pt x="324693" y="565150"/>
                      <a:pt x="306388" y="583814"/>
                      <a:pt x="306388" y="606784"/>
                    </a:cubicBezTo>
                    <a:cubicBezTo>
                      <a:pt x="306388" y="607502"/>
                      <a:pt x="306388" y="608220"/>
                      <a:pt x="306388" y="608938"/>
                    </a:cubicBezTo>
                    <a:cubicBezTo>
                      <a:pt x="307092" y="619705"/>
                      <a:pt x="312020" y="630472"/>
                      <a:pt x="319765" y="636933"/>
                    </a:cubicBezTo>
                    <a:cubicBezTo>
                      <a:pt x="326805" y="643393"/>
                      <a:pt x="336661" y="647700"/>
                      <a:pt x="346518" y="647700"/>
                    </a:cubicBezTo>
                    <a:cubicBezTo>
                      <a:pt x="369047" y="647700"/>
                      <a:pt x="387351" y="629037"/>
                      <a:pt x="387351" y="606784"/>
                    </a:cubicBezTo>
                    <a:cubicBezTo>
                      <a:pt x="387351" y="600324"/>
                      <a:pt x="385943" y="594581"/>
                      <a:pt x="383127" y="588838"/>
                    </a:cubicBezTo>
                    <a:cubicBezTo>
                      <a:pt x="378903" y="578789"/>
                      <a:pt x="370455" y="571611"/>
                      <a:pt x="360598" y="568021"/>
                    </a:cubicBezTo>
                    <a:cubicBezTo>
                      <a:pt x="356374" y="565868"/>
                      <a:pt x="351446" y="565150"/>
                      <a:pt x="346518" y="565150"/>
                    </a:cubicBezTo>
                    <a:close/>
                    <a:moveTo>
                      <a:pt x="760846" y="492125"/>
                    </a:moveTo>
                    <a:cubicBezTo>
                      <a:pt x="752187" y="492125"/>
                      <a:pt x="743528" y="494947"/>
                      <a:pt x="735591" y="499181"/>
                    </a:cubicBezTo>
                    <a:cubicBezTo>
                      <a:pt x="722602" y="506236"/>
                      <a:pt x="713221" y="519642"/>
                      <a:pt x="710335" y="535164"/>
                    </a:cubicBezTo>
                    <a:cubicBezTo>
                      <a:pt x="710335" y="537986"/>
                      <a:pt x="709613" y="540103"/>
                      <a:pt x="709613" y="542925"/>
                    </a:cubicBezTo>
                    <a:cubicBezTo>
                      <a:pt x="709613" y="571147"/>
                      <a:pt x="732704" y="593725"/>
                      <a:pt x="760846" y="593725"/>
                    </a:cubicBezTo>
                    <a:cubicBezTo>
                      <a:pt x="763011" y="593725"/>
                      <a:pt x="765176" y="593725"/>
                      <a:pt x="767341" y="593725"/>
                    </a:cubicBezTo>
                    <a:cubicBezTo>
                      <a:pt x="783216" y="591608"/>
                      <a:pt x="796926" y="583142"/>
                      <a:pt x="804864" y="570442"/>
                    </a:cubicBezTo>
                    <a:cubicBezTo>
                      <a:pt x="809915" y="562681"/>
                      <a:pt x="812801" y="553508"/>
                      <a:pt x="812801" y="542925"/>
                    </a:cubicBezTo>
                    <a:cubicBezTo>
                      <a:pt x="812801" y="542220"/>
                      <a:pt x="812801" y="540808"/>
                      <a:pt x="812801" y="539397"/>
                    </a:cubicBezTo>
                    <a:cubicBezTo>
                      <a:pt x="811358" y="515408"/>
                      <a:pt x="792597" y="495653"/>
                      <a:pt x="768062" y="492831"/>
                    </a:cubicBezTo>
                    <a:cubicBezTo>
                      <a:pt x="765898" y="492831"/>
                      <a:pt x="763733" y="492125"/>
                      <a:pt x="760846" y="492125"/>
                    </a:cubicBezTo>
                    <a:close/>
                    <a:moveTo>
                      <a:pt x="891455" y="415925"/>
                    </a:moveTo>
                    <a:cubicBezTo>
                      <a:pt x="899315" y="421636"/>
                      <a:pt x="907175" y="428060"/>
                      <a:pt x="915035" y="434485"/>
                    </a:cubicBezTo>
                    <a:cubicBezTo>
                      <a:pt x="917179" y="435913"/>
                      <a:pt x="918608" y="438054"/>
                      <a:pt x="920751" y="439482"/>
                    </a:cubicBezTo>
                    <a:cubicBezTo>
                      <a:pt x="920751" y="439482"/>
                      <a:pt x="920751" y="439482"/>
                      <a:pt x="877164" y="474460"/>
                    </a:cubicBezTo>
                    <a:cubicBezTo>
                      <a:pt x="869305" y="480885"/>
                      <a:pt x="860730" y="488023"/>
                      <a:pt x="850012" y="496589"/>
                    </a:cubicBezTo>
                    <a:cubicBezTo>
                      <a:pt x="846439" y="499445"/>
                      <a:pt x="842867" y="502300"/>
                      <a:pt x="838579" y="505155"/>
                    </a:cubicBezTo>
                    <a:cubicBezTo>
                      <a:pt x="840723" y="510152"/>
                      <a:pt x="842867" y="514435"/>
                      <a:pt x="844296" y="519432"/>
                    </a:cubicBezTo>
                    <a:cubicBezTo>
                      <a:pt x="846439" y="527285"/>
                      <a:pt x="847154" y="535137"/>
                      <a:pt x="847154" y="542989"/>
                    </a:cubicBezTo>
                    <a:cubicBezTo>
                      <a:pt x="847154" y="549414"/>
                      <a:pt x="846439" y="555124"/>
                      <a:pt x="845725" y="561549"/>
                    </a:cubicBezTo>
                    <a:cubicBezTo>
                      <a:pt x="842152" y="576540"/>
                      <a:pt x="835007" y="590103"/>
                      <a:pt x="824289" y="601524"/>
                    </a:cubicBezTo>
                    <a:cubicBezTo>
                      <a:pt x="809283" y="617942"/>
                      <a:pt x="786418" y="628650"/>
                      <a:pt x="761409" y="628650"/>
                    </a:cubicBezTo>
                    <a:cubicBezTo>
                      <a:pt x="714250" y="628650"/>
                      <a:pt x="676379" y="590103"/>
                      <a:pt x="676379" y="542989"/>
                    </a:cubicBezTo>
                    <a:cubicBezTo>
                      <a:pt x="676379" y="536564"/>
                      <a:pt x="677094" y="529426"/>
                      <a:pt x="678523" y="523715"/>
                    </a:cubicBezTo>
                    <a:cubicBezTo>
                      <a:pt x="678523" y="523715"/>
                      <a:pt x="678523" y="523715"/>
                      <a:pt x="582775" y="477316"/>
                    </a:cubicBezTo>
                    <a:cubicBezTo>
                      <a:pt x="578488" y="475174"/>
                      <a:pt x="574200" y="473033"/>
                      <a:pt x="569913" y="470891"/>
                    </a:cubicBezTo>
                    <a:cubicBezTo>
                      <a:pt x="577059" y="460183"/>
                      <a:pt x="585633" y="450903"/>
                      <a:pt x="594208" y="441623"/>
                    </a:cubicBezTo>
                    <a:cubicBezTo>
                      <a:pt x="594208" y="441623"/>
                      <a:pt x="594208" y="441623"/>
                      <a:pt x="694957" y="490165"/>
                    </a:cubicBezTo>
                    <a:cubicBezTo>
                      <a:pt x="700674" y="483026"/>
                      <a:pt x="707819" y="476602"/>
                      <a:pt x="715679" y="470891"/>
                    </a:cubicBezTo>
                    <a:cubicBezTo>
                      <a:pt x="728541" y="462325"/>
                      <a:pt x="744975" y="457328"/>
                      <a:pt x="761409" y="457328"/>
                    </a:cubicBezTo>
                    <a:cubicBezTo>
                      <a:pt x="771413" y="457328"/>
                      <a:pt x="781416" y="459470"/>
                      <a:pt x="789991" y="462325"/>
                    </a:cubicBezTo>
                    <a:cubicBezTo>
                      <a:pt x="799280" y="465894"/>
                      <a:pt x="808569" y="470891"/>
                      <a:pt x="815714" y="476602"/>
                    </a:cubicBezTo>
                    <a:cubicBezTo>
                      <a:pt x="815714" y="476602"/>
                      <a:pt x="815714" y="476602"/>
                      <a:pt x="831434" y="464466"/>
                    </a:cubicBezTo>
                    <a:cubicBezTo>
                      <a:pt x="842152" y="455900"/>
                      <a:pt x="860730" y="440910"/>
                      <a:pt x="891455" y="415925"/>
                    </a:cubicBezTo>
                    <a:close/>
                    <a:moveTo>
                      <a:pt x="772661" y="346605"/>
                    </a:moveTo>
                    <a:cubicBezTo>
                      <a:pt x="723066" y="343930"/>
                      <a:pt x="672758" y="354807"/>
                      <a:pt x="628158" y="379415"/>
                    </a:cubicBezTo>
                    <a:cubicBezTo>
                      <a:pt x="608178" y="390827"/>
                      <a:pt x="589624" y="404379"/>
                      <a:pt x="571784" y="420783"/>
                    </a:cubicBezTo>
                    <a:cubicBezTo>
                      <a:pt x="562508" y="430056"/>
                      <a:pt x="554658" y="439328"/>
                      <a:pt x="546809" y="449314"/>
                    </a:cubicBezTo>
                    <a:cubicBezTo>
                      <a:pt x="538245" y="460012"/>
                      <a:pt x="531109" y="470711"/>
                      <a:pt x="524687" y="482123"/>
                    </a:cubicBezTo>
                    <a:cubicBezTo>
                      <a:pt x="468313" y="582692"/>
                      <a:pt x="481158" y="712504"/>
                      <a:pt x="564648" y="800235"/>
                    </a:cubicBezTo>
                    <a:cubicBezTo>
                      <a:pt x="597474" y="833758"/>
                      <a:pt x="636008" y="856582"/>
                      <a:pt x="678110" y="869420"/>
                    </a:cubicBezTo>
                    <a:cubicBezTo>
                      <a:pt x="729488" y="885825"/>
                      <a:pt x="785862" y="885825"/>
                      <a:pt x="837955" y="869420"/>
                    </a:cubicBezTo>
                    <a:cubicBezTo>
                      <a:pt x="867212" y="860861"/>
                      <a:pt x="895756" y="845883"/>
                      <a:pt x="921445" y="826625"/>
                    </a:cubicBezTo>
                    <a:cubicBezTo>
                      <a:pt x="930008" y="820919"/>
                      <a:pt x="937144" y="814500"/>
                      <a:pt x="944280" y="807367"/>
                    </a:cubicBezTo>
                    <a:cubicBezTo>
                      <a:pt x="952130" y="799521"/>
                      <a:pt x="959979" y="791676"/>
                      <a:pt x="967115" y="783117"/>
                    </a:cubicBezTo>
                    <a:cubicBezTo>
                      <a:pt x="1047751" y="682548"/>
                      <a:pt x="1046324" y="537044"/>
                      <a:pt x="959979" y="437902"/>
                    </a:cubicBezTo>
                    <a:cubicBezTo>
                      <a:pt x="957125" y="435048"/>
                      <a:pt x="954270" y="431482"/>
                      <a:pt x="951416" y="427916"/>
                    </a:cubicBezTo>
                    <a:cubicBezTo>
                      <a:pt x="947135" y="423636"/>
                      <a:pt x="942853" y="419357"/>
                      <a:pt x="937858" y="415791"/>
                    </a:cubicBezTo>
                    <a:cubicBezTo>
                      <a:pt x="930008" y="408658"/>
                      <a:pt x="921445" y="401526"/>
                      <a:pt x="912882" y="395106"/>
                    </a:cubicBezTo>
                    <a:cubicBezTo>
                      <a:pt x="871137" y="365506"/>
                      <a:pt x="822256" y="349280"/>
                      <a:pt x="772661" y="346605"/>
                    </a:cubicBezTo>
                    <a:close/>
                    <a:moveTo>
                      <a:pt x="785477" y="308032"/>
                    </a:moveTo>
                    <a:cubicBezTo>
                      <a:pt x="842147" y="313027"/>
                      <a:pt x="897744" y="333721"/>
                      <a:pt x="945296" y="370115"/>
                    </a:cubicBezTo>
                    <a:cubicBezTo>
                      <a:pt x="953162" y="376537"/>
                      <a:pt x="961743" y="382959"/>
                      <a:pt x="969609" y="390809"/>
                    </a:cubicBezTo>
                    <a:cubicBezTo>
                      <a:pt x="973184" y="394377"/>
                      <a:pt x="976759" y="397231"/>
                      <a:pt x="980335" y="400799"/>
                    </a:cubicBezTo>
                    <a:cubicBezTo>
                      <a:pt x="983910" y="405081"/>
                      <a:pt x="987486" y="409363"/>
                      <a:pt x="991061" y="413644"/>
                    </a:cubicBezTo>
                    <a:cubicBezTo>
                      <a:pt x="1084021" y="521398"/>
                      <a:pt x="1089026" y="678390"/>
                      <a:pt x="1008223" y="791852"/>
                    </a:cubicBezTo>
                    <a:cubicBezTo>
                      <a:pt x="1080445" y="866780"/>
                      <a:pt x="1080445" y="866780"/>
                      <a:pt x="1080445" y="866780"/>
                    </a:cubicBezTo>
                    <a:cubicBezTo>
                      <a:pt x="1081160" y="867493"/>
                      <a:pt x="1081160" y="868207"/>
                      <a:pt x="1081875" y="868921"/>
                    </a:cubicBezTo>
                    <a:cubicBezTo>
                      <a:pt x="1083306" y="871775"/>
                      <a:pt x="1083306" y="874629"/>
                      <a:pt x="1081875" y="876770"/>
                    </a:cubicBezTo>
                    <a:cubicBezTo>
                      <a:pt x="1081875" y="876770"/>
                      <a:pt x="1081875" y="876770"/>
                      <a:pt x="1056848" y="900319"/>
                    </a:cubicBezTo>
                    <a:cubicBezTo>
                      <a:pt x="1056848" y="900319"/>
                      <a:pt x="1056848" y="900319"/>
                      <a:pt x="1055418" y="901746"/>
                    </a:cubicBezTo>
                    <a:cubicBezTo>
                      <a:pt x="1039686" y="917445"/>
                      <a:pt x="1029675" y="926722"/>
                      <a:pt x="1023954" y="931717"/>
                    </a:cubicBezTo>
                    <a:cubicBezTo>
                      <a:pt x="1014658" y="940994"/>
                      <a:pt x="1014658" y="940994"/>
                      <a:pt x="1014658" y="940994"/>
                    </a:cubicBezTo>
                    <a:cubicBezTo>
                      <a:pt x="1011798" y="944562"/>
                      <a:pt x="1006078" y="944562"/>
                      <a:pt x="1003217" y="940994"/>
                    </a:cubicBezTo>
                    <a:cubicBezTo>
                      <a:pt x="999642" y="938140"/>
                      <a:pt x="996782" y="934572"/>
                      <a:pt x="993921" y="931717"/>
                    </a:cubicBezTo>
                    <a:cubicBezTo>
                      <a:pt x="981765" y="919586"/>
                      <a:pt x="971754" y="908882"/>
                      <a:pt x="963888" y="900319"/>
                    </a:cubicBezTo>
                    <a:cubicBezTo>
                      <a:pt x="944581" y="881052"/>
                      <a:pt x="936715" y="872489"/>
                      <a:pt x="933140" y="868921"/>
                    </a:cubicBezTo>
                    <a:cubicBezTo>
                      <a:pt x="930995" y="866780"/>
                      <a:pt x="930995" y="866780"/>
                      <a:pt x="930995" y="866780"/>
                    </a:cubicBezTo>
                    <a:cubicBezTo>
                      <a:pt x="929565" y="867493"/>
                      <a:pt x="928134" y="868207"/>
                      <a:pt x="926704" y="868921"/>
                    </a:cubicBezTo>
                    <a:cubicBezTo>
                      <a:pt x="906682" y="882479"/>
                      <a:pt x="885945" y="892469"/>
                      <a:pt x="864493" y="900319"/>
                    </a:cubicBezTo>
                    <a:cubicBezTo>
                      <a:pt x="795846" y="926009"/>
                      <a:pt x="720048" y="926009"/>
                      <a:pt x="651400" y="900319"/>
                    </a:cubicBezTo>
                    <a:cubicBezTo>
                      <a:pt x="629948" y="892469"/>
                      <a:pt x="609211" y="882479"/>
                      <a:pt x="589189" y="868921"/>
                    </a:cubicBezTo>
                    <a:cubicBezTo>
                      <a:pt x="570597" y="856789"/>
                      <a:pt x="553435" y="842517"/>
                      <a:pt x="536988" y="826105"/>
                    </a:cubicBezTo>
                    <a:cubicBezTo>
                      <a:pt x="466196" y="751177"/>
                      <a:pt x="439738" y="649846"/>
                      <a:pt x="457615" y="554937"/>
                    </a:cubicBezTo>
                    <a:cubicBezTo>
                      <a:pt x="462621" y="529961"/>
                      <a:pt x="470486" y="505699"/>
                      <a:pt x="481213" y="482863"/>
                    </a:cubicBezTo>
                    <a:cubicBezTo>
                      <a:pt x="493369" y="456460"/>
                      <a:pt x="509816" y="430771"/>
                      <a:pt x="530553" y="408649"/>
                    </a:cubicBezTo>
                    <a:cubicBezTo>
                      <a:pt x="535558" y="402940"/>
                      <a:pt x="540564" y="397945"/>
                      <a:pt x="545569" y="392236"/>
                    </a:cubicBezTo>
                    <a:cubicBezTo>
                      <a:pt x="560586" y="378678"/>
                      <a:pt x="575602" y="366547"/>
                      <a:pt x="592049" y="355843"/>
                    </a:cubicBezTo>
                    <a:cubicBezTo>
                      <a:pt x="600630" y="350134"/>
                      <a:pt x="609926" y="345139"/>
                      <a:pt x="619222" y="340143"/>
                    </a:cubicBezTo>
                    <a:cubicBezTo>
                      <a:pt x="671065" y="313740"/>
                      <a:pt x="728807" y="303036"/>
                      <a:pt x="785477" y="308032"/>
                    </a:cubicBezTo>
                    <a:close/>
                    <a:moveTo>
                      <a:pt x="555676" y="304800"/>
                    </a:moveTo>
                    <a:cubicBezTo>
                      <a:pt x="570540" y="304800"/>
                      <a:pt x="583988" y="309099"/>
                      <a:pt x="595313" y="316982"/>
                    </a:cubicBezTo>
                    <a:cubicBezTo>
                      <a:pt x="584696" y="323431"/>
                      <a:pt x="574079" y="329880"/>
                      <a:pt x="563462" y="337046"/>
                    </a:cubicBezTo>
                    <a:cubicBezTo>
                      <a:pt x="561338" y="336330"/>
                      <a:pt x="558507" y="336330"/>
                      <a:pt x="555676" y="336330"/>
                    </a:cubicBezTo>
                    <a:cubicBezTo>
                      <a:pt x="533026" y="336330"/>
                      <a:pt x="515331" y="354961"/>
                      <a:pt x="515331" y="377175"/>
                    </a:cubicBezTo>
                    <a:cubicBezTo>
                      <a:pt x="515331" y="377891"/>
                      <a:pt x="515331" y="378608"/>
                      <a:pt x="515331" y="379325"/>
                    </a:cubicBezTo>
                    <a:cubicBezTo>
                      <a:pt x="506130" y="388640"/>
                      <a:pt x="498344" y="397956"/>
                      <a:pt x="490558" y="407988"/>
                    </a:cubicBezTo>
                    <a:cubicBezTo>
                      <a:pt x="486311" y="398672"/>
                      <a:pt x="484188" y="388640"/>
                      <a:pt x="484188" y="377175"/>
                    </a:cubicBezTo>
                    <a:cubicBezTo>
                      <a:pt x="484188" y="337046"/>
                      <a:pt x="516039" y="304800"/>
                      <a:pt x="555676" y="304800"/>
                    </a:cubicBezTo>
                    <a:close/>
                    <a:moveTo>
                      <a:pt x="1089384" y="233362"/>
                    </a:moveTo>
                    <a:cubicBezTo>
                      <a:pt x="1066414" y="233362"/>
                      <a:pt x="1047750" y="252026"/>
                      <a:pt x="1047750" y="274996"/>
                    </a:cubicBezTo>
                    <a:cubicBezTo>
                      <a:pt x="1047750" y="278585"/>
                      <a:pt x="1048468" y="282892"/>
                      <a:pt x="1049186" y="286481"/>
                    </a:cubicBezTo>
                    <a:cubicBezTo>
                      <a:pt x="1052775" y="296531"/>
                      <a:pt x="1059953" y="305863"/>
                      <a:pt x="1069285" y="310887"/>
                    </a:cubicBezTo>
                    <a:cubicBezTo>
                      <a:pt x="1075028" y="314476"/>
                      <a:pt x="1082206" y="315912"/>
                      <a:pt x="1089384" y="315912"/>
                    </a:cubicBezTo>
                    <a:cubicBezTo>
                      <a:pt x="1111637" y="315912"/>
                      <a:pt x="1130300" y="297249"/>
                      <a:pt x="1130300" y="274996"/>
                    </a:cubicBezTo>
                    <a:cubicBezTo>
                      <a:pt x="1130300" y="271407"/>
                      <a:pt x="1129582" y="267100"/>
                      <a:pt x="1128865" y="264229"/>
                    </a:cubicBezTo>
                    <a:cubicBezTo>
                      <a:pt x="1125993" y="253461"/>
                      <a:pt x="1118815" y="244130"/>
                      <a:pt x="1109483" y="239105"/>
                    </a:cubicBezTo>
                    <a:cubicBezTo>
                      <a:pt x="1103741" y="235516"/>
                      <a:pt x="1096562" y="233362"/>
                      <a:pt x="1089384" y="233362"/>
                    </a:cubicBezTo>
                    <a:close/>
                    <a:moveTo>
                      <a:pt x="15705" y="0"/>
                    </a:moveTo>
                    <a:cubicBezTo>
                      <a:pt x="15705" y="0"/>
                      <a:pt x="15705" y="0"/>
                      <a:pt x="1289220" y="0"/>
                    </a:cubicBezTo>
                    <a:cubicBezTo>
                      <a:pt x="1297787" y="0"/>
                      <a:pt x="1304925" y="6422"/>
                      <a:pt x="1304925" y="15698"/>
                    </a:cubicBezTo>
                    <a:cubicBezTo>
                      <a:pt x="1304925" y="15698"/>
                      <a:pt x="1304925" y="15698"/>
                      <a:pt x="1304925" y="916166"/>
                    </a:cubicBezTo>
                    <a:cubicBezTo>
                      <a:pt x="1304925" y="925441"/>
                      <a:pt x="1297787" y="931863"/>
                      <a:pt x="1289220" y="931863"/>
                    </a:cubicBezTo>
                    <a:cubicBezTo>
                      <a:pt x="1289220" y="931863"/>
                      <a:pt x="1289220" y="931863"/>
                      <a:pt x="1219977" y="931863"/>
                    </a:cubicBezTo>
                    <a:cubicBezTo>
                      <a:pt x="1219977" y="931863"/>
                      <a:pt x="1219977" y="931863"/>
                      <a:pt x="1189995" y="900468"/>
                    </a:cubicBezTo>
                    <a:cubicBezTo>
                      <a:pt x="1273516" y="900468"/>
                      <a:pt x="1273516" y="900468"/>
                      <a:pt x="1273516" y="900468"/>
                    </a:cubicBezTo>
                    <a:cubicBezTo>
                      <a:pt x="1273516" y="480916"/>
                      <a:pt x="1273516" y="264004"/>
                      <a:pt x="1273516" y="151267"/>
                    </a:cubicBezTo>
                    <a:cubicBezTo>
                      <a:pt x="1273516" y="151267"/>
                      <a:pt x="1273516" y="151267"/>
                      <a:pt x="1242106" y="175527"/>
                    </a:cubicBezTo>
                    <a:cubicBezTo>
                      <a:pt x="1242106" y="175527"/>
                      <a:pt x="1242106" y="175527"/>
                      <a:pt x="1154302" y="243312"/>
                    </a:cubicBezTo>
                    <a:cubicBezTo>
                      <a:pt x="1159299" y="253301"/>
                      <a:pt x="1161441" y="263291"/>
                      <a:pt x="1161441" y="274707"/>
                    </a:cubicBezTo>
                    <a:cubicBezTo>
                      <a:pt x="1161441" y="314664"/>
                      <a:pt x="1129317" y="346773"/>
                      <a:pt x="1089341" y="346773"/>
                    </a:cubicBezTo>
                    <a:cubicBezTo>
                      <a:pt x="1071495" y="346773"/>
                      <a:pt x="1055790" y="341065"/>
                      <a:pt x="1043655" y="331076"/>
                    </a:cubicBezTo>
                    <a:cubicBezTo>
                      <a:pt x="1043655" y="331076"/>
                      <a:pt x="1043655" y="331076"/>
                      <a:pt x="993685" y="371033"/>
                    </a:cubicBezTo>
                    <a:cubicBezTo>
                      <a:pt x="985833" y="363898"/>
                      <a:pt x="977980" y="356762"/>
                      <a:pt x="969414" y="349627"/>
                    </a:cubicBezTo>
                    <a:cubicBezTo>
                      <a:pt x="969414" y="349627"/>
                      <a:pt x="969414" y="349627"/>
                      <a:pt x="1024381" y="306102"/>
                    </a:cubicBezTo>
                    <a:cubicBezTo>
                      <a:pt x="1019384" y="296826"/>
                      <a:pt x="1016528" y="286123"/>
                      <a:pt x="1016528" y="274707"/>
                    </a:cubicBezTo>
                    <a:cubicBezTo>
                      <a:pt x="1016528" y="234750"/>
                      <a:pt x="1049365" y="201928"/>
                      <a:pt x="1089341" y="201928"/>
                    </a:cubicBezTo>
                    <a:cubicBezTo>
                      <a:pt x="1106474" y="201928"/>
                      <a:pt x="1122892" y="208349"/>
                      <a:pt x="1135028" y="219052"/>
                    </a:cubicBezTo>
                    <a:cubicBezTo>
                      <a:pt x="1135028" y="219052"/>
                      <a:pt x="1135028" y="219052"/>
                      <a:pt x="1242106" y="136283"/>
                    </a:cubicBezTo>
                    <a:cubicBezTo>
                      <a:pt x="1242106" y="136283"/>
                      <a:pt x="1242106" y="136283"/>
                      <a:pt x="1269946" y="114878"/>
                    </a:cubicBezTo>
                    <a:cubicBezTo>
                      <a:pt x="1270660" y="114164"/>
                      <a:pt x="1272088" y="113451"/>
                      <a:pt x="1273516" y="112737"/>
                    </a:cubicBezTo>
                    <a:cubicBezTo>
                      <a:pt x="1273516" y="31395"/>
                      <a:pt x="1273516" y="31395"/>
                      <a:pt x="1273516" y="31395"/>
                    </a:cubicBezTo>
                    <a:cubicBezTo>
                      <a:pt x="31410" y="31395"/>
                      <a:pt x="31410" y="31395"/>
                      <a:pt x="31410" y="31395"/>
                    </a:cubicBezTo>
                    <a:cubicBezTo>
                      <a:pt x="31410" y="406709"/>
                      <a:pt x="31410" y="620766"/>
                      <a:pt x="31410" y="741352"/>
                    </a:cubicBezTo>
                    <a:cubicBezTo>
                      <a:pt x="31410" y="741352"/>
                      <a:pt x="31410" y="741352"/>
                      <a:pt x="62819" y="726368"/>
                    </a:cubicBezTo>
                    <a:cubicBezTo>
                      <a:pt x="62819" y="726368"/>
                      <a:pt x="62819" y="726368"/>
                      <a:pt x="276976" y="623621"/>
                    </a:cubicBezTo>
                    <a:cubicBezTo>
                      <a:pt x="275548" y="617912"/>
                      <a:pt x="274834" y="612918"/>
                      <a:pt x="274834" y="607210"/>
                    </a:cubicBezTo>
                    <a:cubicBezTo>
                      <a:pt x="274834" y="567252"/>
                      <a:pt x="306957" y="534430"/>
                      <a:pt x="346933" y="534430"/>
                    </a:cubicBezTo>
                    <a:cubicBezTo>
                      <a:pt x="360496" y="534430"/>
                      <a:pt x="372632" y="537998"/>
                      <a:pt x="383340" y="543706"/>
                    </a:cubicBezTo>
                    <a:cubicBezTo>
                      <a:pt x="383340" y="543706"/>
                      <a:pt x="383340" y="543706"/>
                      <a:pt x="454725" y="465218"/>
                    </a:cubicBezTo>
                    <a:cubicBezTo>
                      <a:pt x="443304" y="489478"/>
                      <a:pt x="434737" y="514451"/>
                      <a:pt x="429026" y="540138"/>
                    </a:cubicBezTo>
                    <a:cubicBezTo>
                      <a:pt x="429026" y="540138"/>
                      <a:pt x="429026" y="540138"/>
                      <a:pt x="406183" y="565112"/>
                    </a:cubicBezTo>
                    <a:cubicBezTo>
                      <a:pt x="414749" y="577241"/>
                      <a:pt x="419746" y="591512"/>
                      <a:pt x="419746" y="607210"/>
                    </a:cubicBezTo>
                    <a:cubicBezTo>
                      <a:pt x="419746" y="647167"/>
                      <a:pt x="386909" y="679275"/>
                      <a:pt x="346933" y="679275"/>
                    </a:cubicBezTo>
                    <a:cubicBezTo>
                      <a:pt x="324090" y="679275"/>
                      <a:pt x="303388" y="668573"/>
                      <a:pt x="290539" y="651448"/>
                    </a:cubicBezTo>
                    <a:cubicBezTo>
                      <a:pt x="290539" y="651448"/>
                      <a:pt x="290539" y="651448"/>
                      <a:pt x="62819" y="761331"/>
                    </a:cubicBezTo>
                    <a:cubicBezTo>
                      <a:pt x="62819" y="761331"/>
                      <a:pt x="62819" y="761331"/>
                      <a:pt x="31410" y="776315"/>
                    </a:cubicBezTo>
                    <a:cubicBezTo>
                      <a:pt x="31410" y="900468"/>
                      <a:pt x="31410" y="900468"/>
                      <a:pt x="31410" y="900468"/>
                    </a:cubicBezTo>
                    <a:cubicBezTo>
                      <a:pt x="250563" y="900468"/>
                      <a:pt x="431168" y="900468"/>
                      <a:pt x="579650" y="900468"/>
                    </a:cubicBezTo>
                    <a:cubicBezTo>
                      <a:pt x="600351" y="913312"/>
                      <a:pt x="622481" y="924014"/>
                      <a:pt x="645324" y="931863"/>
                    </a:cubicBezTo>
                    <a:cubicBezTo>
                      <a:pt x="645324" y="931863"/>
                      <a:pt x="645324" y="931863"/>
                      <a:pt x="15705" y="931863"/>
                    </a:cubicBezTo>
                    <a:cubicBezTo>
                      <a:pt x="7139" y="931863"/>
                      <a:pt x="0" y="925441"/>
                      <a:pt x="0" y="916166"/>
                    </a:cubicBezTo>
                    <a:cubicBezTo>
                      <a:pt x="0" y="916166"/>
                      <a:pt x="0" y="916166"/>
                      <a:pt x="0" y="15698"/>
                    </a:cubicBezTo>
                    <a:cubicBezTo>
                      <a:pt x="0" y="6422"/>
                      <a:pt x="7139" y="0"/>
                      <a:pt x="15705" y="0"/>
                    </a:cubicBezTo>
                    <a:close/>
                  </a:path>
                </a:pathLst>
              </a:custGeom>
              <a:solidFill>
                <a:schemeClr val="accent1"/>
              </a:solidFill>
              <a:ln>
                <a:noFill/>
              </a:ln>
            </p:spPr>
            <p:txBody>
              <a:bodyPr vert="horz" wrap="square" lIns="72746" tIns="36373" rIns="72746" bIns="36373" numCol="1" anchor="t" anchorCtr="0" compatLnSpc="1">
                <a:prstTxWarp prst="textNoShape">
                  <a:avLst/>
                </a:prstTxWarp>
                <a:noAutofit/>
              </a:bodyPr>
              <a:lstStyle/>
              <a:p>
                <a:endParaRPr lang="en-US" sz="1559">
                  <a:sym typeface="+mn-lt"/>
                </a:endParaRPr>
              </a:p>
            </p:txBody>
          </p:sp>
          <p:sp>
            <p:nvSpPr>
              <p:cNvPr id="251" name="Freeform 11">
                <a:extLst>
                  <a:ext uri="{FF2B5EF4-FFF2-40B4-BE49-F238E27FC236}">
                    <a16:creationId xmlns:a16="http://schemas.microsoft.com/office/drawing/2014/main" id="{BDEFAFFA-790E-4083-88A1-F59E4F0723A3}"/>
                  </a:ext>
                </a:extLst>
              </p:cNvPr>
              <p:cNvSpPr>
                <a:spLocks/>
              </p:cNvSpPr>
              <p:nvPr/>
            </p:nvSpPr>
            <p:spPr bwMode="auto">
              <a:xfrm>
                <a:off x="6697662" y="3179762"/>
                <a:ext cx="1181100" cy="654050"/>
              </a:xfrm>
              <a:custGeom>
                <a:avLst/>
                <a:gdLst>
                  <a:gd name="connsiteX0" fmla="*/ 363861 w 1181100"/>
                  <a:gd name="connsiteY0" fmla="*/ 458787 h 654050"/>
                  <a:gd name="connsiteX1" fmla="*/ 452503 w 1181100"/>
                  <a:gd name="connsiteY1" fmla="*/ 632593 h 654050"/>
                  <a:gd name="connsiteX2" fmla="*/ 474663 w 1181100"/>
                  <a:gd name="connsiteY2" fmla="*/ 654050 h 654050"/>
                  <a:gd name="connsiteX3" fmla="*/ 0 w 1181100"/>
                  <a:gd name="connsiteY3" fmla="*/ 654050 h 654050"/>
                  <a:gd name="connsiteX4" fmla="*/ 0 w 1181100"/>
                  <a:gd name="connsiteY4" fmla="*/ 581095 h 654050"/>
                  <a:gd name="connsiteX5" fmla="*/ 221605 w 1181100"/>
                  <a:gd name="connsiteY5" fmla="*/ 473807 h 654050"/>
                  <a:gd name="connsiteX6" fmla="*/ 284512 w 1181100"/>
                  <a:gd name="connsiteY6" fmla="*/ 495265 h 654050"/>
                  <a:gd name="connsiteX7" fmla="*/ 363861 w 1181100"/>
                  <a:gd name="connsiteY7" fmla="*/ 458787 h 654050"/>
                  <a:gd name="connsiteX8" fmla="*/ 881470 w 1181100"/>
                  <a:gd name="connsiteY8" fmla="*/ 250825 h 654050"/>
                  <a:gd name="connsiteX9" fmla="*/ 879327 w 1181100"/>
                  <a:gd name="connsiteY9" fmla="*/ 543393 h 654050"/>
                  <a:gd name="connsiteX10" fmla="*/ 859328 w 1181100"/>
                  <a:gd name="connsiteY10" fmla="*/ 564748 h 654050"/>
                  <a:gd name="connsiteX11" fmla="*/ 840757 w 1181100"/>
                  <a:gd name="connsiteY11" fmla="*/ 581121 h 654050"/>
                  <a:gd name="connsiteX12" fmla="*/ 840043 w 1181100"/>
                  <a:gd name="connsiteY12" fmla="*/ 581833 h 654050"/>
                  <a:gd name="connsiteX13" fmla="*/ 696476 w 1181100"/>
                  <a:gd name="connsiteY13" fmla="*/ 630238 h 654050"/>
                  <a:gd name="connsiteX14" fmla="*/ 526481 w 1181100"/>
                  <a:gd name="connsiteY14" fmla="*/ 558342 h 654050"/>
                  <a:gd name="connsiteX15" fmla="*/ 489339 w 1181100"/>
                  <a:gd name="connsiteY15" fmla="*/ 284993 h 654050"/>
                  <a:gd name="connsiteX16" fmla="*/ 586479 w 1181100"/>
                  <a:gd name="connsiteY16" fmla="*/ 331975 h 654050"/>
                  <a:gd name="connsiteX17" fmla="*/ 699333 w 1181100"/>
                  <a:gd name="connsiteY17" fmla="*/ 441599 h 654050"/>
                  <a:gd name="connsiteX18" fmla="*/ 805044 w 1181100"/>
                  <a:gd name="connsiteY18" fmla="*/ 368279 h 654050"/>
                  <a:gd name="connsiteX19" fmla="*/ 812901 w 1181100"/>
                  <a:gd name="connsiteY19" fmla="*/ 328416 h 654050"/>
                  <a:gd name="connsiteX20" fmla="*/ 811472 w 1181100"/>
                  <a:gd name="connsiteY20" fmla="*/ 314179 h 654050"/>
                  <a:gd name="connsiteX21" fmla="*/ 810758 w 1181100"/>
                  <a:gd name="connsiteY21" fmla="*/ 307061 h 654050"/>
                  <a:gd name="connsiteX22" fmla="*/ 815758 w 1181100"/>
                  <a:gd name="connsiteY22" fmla="*/ 302790 h 654050"/>
                  <a:gd name="connsiteX23" fmla="*/ 850043 w 1181100"/>
                  <a:gd name="connsiteY23" fmla="*/ 275739 h 654050"/>
                  <a:gd name="connsiteX24" fmla="*/ 881470 w 1181100"/>
                  <a:gd name="connsiteY24" fmla="*/ 250825 h 654050"/>
                  <a:gd name="connsiteX25" fmla="*/ 1181100 w 1181100"/>
                  <a:gd name="connsiteY25" fmla="*/ 0 h 654050"/>
                  <a:gd name="connsiteX26" fmla="*/ 1181100 w 1181100"/>
                  <a:gd name="connsiteY26" fmla="*/ 654050 h 654050"/>
                  <a:gd name="connsiteX27" fmla="*/ 1099004 w 1181100"/>
                  <a:gd name="connsiteY27" fmla="*/ 654050 h 654050"/>
                  <a:gd name="connsiteX28" fmla="*/ 1096863 w 1181100"/>
                  <a:gd name="connsiteY28" fmla="*/ 651908 h 654050"/>
                  <a:gd name="connsiteX29" fmla="*/ 1069022 w 1181100"/>
                  <a:gd name="connsiteY29" fmla="*/ 638342 h 654050"/>
                  <a:gd name="connsiteX30" fmla="*/ 1066166 w 1181100"/>
                  <a:gd name="connsiteY30" fmla="*/ 637628 h 654050"/>
                  <a:gd name="connsiteX31" fmla="*/ 1064024 w 1181100"/>
                  <a:gd name="connsiteY31" fmla="*/ 637628 h 654050"/>
                  <a:gd name="connsiteX32" fmla="*/ 1048319 w 1181100"/>
                  <a:gd name="connsiteY32" fmla="*/ 640484 h 654050"/>
                  <a:gd name="connsiteX33" fmla="*/ 1040466 w 1181100"/>
                  <a:gd name="connsiteY33" fmla="*/ 629773 h 654050"/>
                  <a:gd name="connsiteX34" fmla="*/ 986212 w 1181100"/>
                  <a:gd name="connsiteY34" fmla="*/ 573365 h 654050"/>
                  <a:gd name="connsiteX35" fmla="*/ 954087 w 1181100"/>
                  <a:gd name="connsiteY35" fmla="*/ 178507 h 654050"/>
                  <a:gd name="connsiteX36" fmla="*/ 985498 w 1181100"/>
                  <a:gd name="connsiteY36" fmla="*/ 153516 h 654050"/>
                  <a:gd name="connsiteX37" fmla="*/ 1028330 w 1181100"/>
                  <a:gd name="connsiteY37" fmla="*/ 162798 h 654050"/>
                  <a:gd name="connsiteX38" fmla="*/ 1131843 w 1181100"/>
                  <a:gd name="connsiteY38" fmla="*/ 59264 h 654050"/>
                  <a:gd name="connsiteX39" fmla="*/ 1129701 w 1181100"/>
                  <a:gd name="connsiteY39" fmla="*/ 39985 h 654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81100" h="654050">
                    <a:moveTo>
                      <a:pt x="363861" y="458787"/>
                    </a:moveTo>
                    <a:cubicBezTo>
                      <a:pt x="375299" y="521729"/>
                      <a:pt x="404608" y="582525"/>
                      <a:pt x="452503" y="632593"/>
                    </a:cubicBezTo>
                    <a:cubicBezTo>
                      <a:pt x="459651" y="640460"/>
                      <a:pt x="466800" y="647613"/>
                      <a:pt x="474663" y="654050"/>
                    </a:cubicBezTo>
                    <a:cubicBezTo>
                      <a:pt x="474663" y="654050"/>
                      <a:pt x="474663" y="654050"/>
                      <a:pt x="0" y="654050"/>
                    </a:cubicBezTo>
                    <a:cubicBezTo>
                      <a:pt x="0" y="654050"/>
                      <a:pt x="0" y="654050"/>
                      <a:pt x="0" y="581095"/>
                    </a:cubicBezTo>
                    <a:cubicBezTo>
                      <a:pt x="0" y="581095"/>
                      <a:pt x="0" y="581095"/>
                      <a:pt x="221605" y="473807"/>
                    </a:cubicBezTo>
                    <a:cubicBezTo>
                      <a:pt x="239476" y="487397"/>
                      <a:pt x="261637" y="495265"/>
                      <a:pt x="284512" y="495265"/>
                    </a:cubicBezTo>
                    <a:cubicBezTo>
                      <a:pt x="316681" y="495265"/>
                      <a:pt x="344560" y="480960"/>
                      <a:pt x="363861" y="458787"/>
                    </a:cubicBezTo>
                    <a:close/>
                    <a:moveTo>
                      <a:pt x="881470" y="250825"/>
                    </a:moveTo>
                    <a:cubicBezTo>
                      <a:pt x="948611" y="336246"/>
                      <a:pt x="949325" y="457972"/>
                      <a:pt x="879327" y="543393"/>
                    </a:cubicBezTo>
                    <a:cubicBezTo>
                      <a:pt x="873613" y="551223"/>
                      <a:pt x="866471" y="558342"/>
                      <a:pt x="859328" y="564748"/>
                    </a:cubicBezTo>
                    <a:cubicBezTo>
                      <a:pt x="852185" y="571867"/>
                      <a:pt x="846471" y="577562"/>
                      <a:pt x="840757" y="581121"/>
                    </a:cubicBezTo>
                    <a:cubicBezTo>
                      <a:pt x="840757" y="581121"/>
                      <a:pt x="840757" y="581121"/>
                      <a:pt x="840043" y="581833"/>
                    </a:cubicBezTo>
                    <a:cubicBezTo>
                      <a:pt x="799330" y="613154"/>
                      <a:pt x="747903" y="630238"/>
                      <a:pt x="696476" y="630238"/>
                    </a:cubicBezTo>
                    <a:cubicBezTo>
                      <a:pt x="631478" y="630238"/>
                      <a:pt x="571480" y="604612"/>
                      <a:pt x="526481" y="558342"/>
                    </a:cubicBezTo>
                    <a:cubicBezTo>
                      <a:pt x="455055" y="483598"/>
                      <a:pt x="442912" y="372550"/>
                      <a:pt x="489339" y="284993"/>
                    </a:cubicBezTo>
                    <a:cubicBezTo>
                      <a:pt x="489339" y="284993"/>
                      <a:pt x="489339" y="284993"/>
                      <a:pt x="586479" y="331975"/>
                    </a:cubicBezTo>
                    <a:cubicBezTo>
                      <a:pt x="588622" y="392482"/>
                      <a:pt x="638621" y="441599"/>
                      <a:pt x="699333" y="441599"/>
                    </a:cubicBezTo>
                    <a:cubicBezTo>
                      <a:pt x="747903" y="441599"/>
                      <a:pt x="789330" y="410990"/>
                      <a:pt x="805044" y="368279"/>
                    </a:cubicBezTo>
                    <a:cubicBezTo>
                      <a:pt x="810044" y="356178"/>
                      <a:pt x="812901" y="342653"/>
                      <a:pt x="812901" y="328416"/>
                    </a:cubicBezTo>
                    <a:cubicBezTo>
                      <a:pt x="812901" y="323433"/>
                      <a:pt x="812187" y="319162"/>
                      <a:pt x="811472" y="314179"/>
                    </a:cubicBezTo>
                    <a:cubicBezTo>
                      <a:pt x="811472" y="312043"/>
                      <a:pt x="811472" y="309196"/>
                      <a:pt x="810758" y="307061"/>
                    </a:cubicBezTo>
                    <a:cubicBezTo>
                      <a:pt x="810758" y="307061"/>
                      <a:pt x="810758" y="307061"/>
                      <a:pt x="815758" y="302790"/>
                    </a:cubicBezTo>
                    <a:cubicBezTo>
                      <a:pt x="820758" y="299230"/>
                      <a:pt x="830757" y="291400"/>
                      <a:pt x="850043" y="275739"/>
                    </a:cubicBezTo>
                    <a:cubicBezTo>
                      <a:pt x="857899" y="269333"/>
                      <a:pt x="868613" y="260791"/>
                      <a:pt x="881470" y="250825"/>
                    </a:cubicBezTo>
                    <a:close/>
                    <a:moveTo>
                      <a:pt x="1181100" y="0"/>
                    </a:moveTo>
                    <a:cubicBezTo>
                      <a:pt x="1181100" y="0"/>
                      <a:pt x="1181100" y="0"/>
                      <a:pt x="1181100" y="654050"/>
                    </a:cubicBezTo>
                    <a:cubicBezTo>
                      <a:pt x="1181100" y="654050"/>
                      <a:pt x="1181100" y="654050"/>
                      <a:pt x="1099004" y="654050"/>
                    </a:cubicBezTo>
                    <a:cubicBezTo>
                      <a:pt x="1099004" y="654050"/>
                      <a:pt x="1099004" y="654050"/>
                      <a:pt x="1096863" y="651908"/>
                    </a:cubicBezTo>
                    <a:cubicBezTo>
                      <a:pt x="1089724" y="644768"/>
                      <a:pt x="1079730" y="639770"/>
                      <a:pt x="1069022" y="638342"/>
                    </a:cubicBezTo>
                    <a:cubicBezTo>
                      <a:pt x="1069022" y="638342"/>
                      <a:pt x="1069022" y="638342"/>
                      <a:pt x="1066166" y="637628"/>
                    </a:cubicBezTo>
                    <a:cubicBezTo>
                      <a:pt x="1066166" y="637628"/>
                      <a:pt x="1066166" y="637628"/>
                      <a:pt x="1064024" y="637628"/>
                    </a:cubicBezTo>
                    <a:cubicBezTo>
                      <a:pt x="1058313" y="637628"/>
                      <a:pt x="1053316" y="638342"/>
                      <a:pt x="1048319" y="640484"/>
                    </a:cubicBezTo>
                    <a:cubicBezTo>
                      <a:pt x="1046177" y="636913"/>
                      <a:pt x="1043322" y="633343"/>
                      <a:pt x="1040466" y="629773"/>
                    </a:cubicBezTo>
                    <a:cubicBezTo>
                      <a:pt x="1040466" y="629773"/>
                      <a:pt x="1040466" y="629773"/>
                      <a:pt x="986212" y="573365"/>
                    </a:cubicBezTo>
                    <a:cubicBezTo>
                      <a:pt x="1061169" y="448410"/>
                      <a:pt x="1048319" y="289181"/>
                      <a:pt x="954087" y="178507"/>
                    </a:cubicBezTo>
                    <a:cubicBezTo>
                      <a:pt x="954087" y="178507"/>
                      <a:pt x="954087" y="178507"/>
                      <a:pt x="985498" y="153516"/>
                    </a:cubicBezTo>
                    <a:cubicBezTo>
                      <a:pt x="998348" y="159942"/>
                      <a:pt x="1013339" y="162798"/>
                      <a:pt x="1028330" y="162798"/>
                    </a:cubicBezTo>
                    <a:cubicBezTo>
                      <a:pt x="1085441" y="162798"/>
                      <a:pt x="1131843" y="116386"/>
                      <a:pt x="1131843" y="59264"/>
                    </a:cubicBezTo>
                    <a:cubicBezTo>
                      <a:pt x="1131843" y="52838"/>
                      <a:pt x="1131129" y="45698"/>
                      <a:pt x="1129701" y="39985"/>
                    </a:cubicBezTo>
                    <a:close/>
                  </a:path>
                </a:pathLst>
              </a:custGeom>
              <a:solidFill>
                <a:schemeClr val="tx2"/>
              </a:solidFill>
              <a:ln>
                <a:noFill/>
              </a:ln>
            </p:spPr>
            <p:txBody>
              <a:bodyPr vert="horz" wrap="square" lIns="72746" tIns="36373" rIns="72746" bIns="36373" numCol="1" anchor="t" anchorCtr="0" compatLnSpc="1">
                <a:prstTxWarp prst="textNoShape">
                  <a:avLst/>
                </a:prstTxWarp>
                <a:noAutofit/>
              </a:bodyPr>
              <a:lstStyle/>
              <a:p>
                <a:endParaRPr lang="en-US" sz="1559">
                  <a:sym typeface="+mn-lt"/>
                </a:endParaRPr>
              </a:p>
            </p:txBody>
          </p:sp>
        </p:grpSp>
      </p:grpSp>
      <p:grpSp>
        <p:nvGrpSpPr>
          <p:cNvPr id="140" name="Group 139">
            <a:extLst>
              <a:ext uri="{FF2B5EF4-FFF2-40B4-BE49-F238E27FC236}">
                <a16:creationId xmlns:a16="http://schemas.microsoft.com/office/drawing/2014/main" id="{57EB4ACA-A26C-49A4-842E-AC0BB2860950}"/>
              </a:ext>
            </a:extLst>
          </p:cNvPr>
          <p:cNvGrpSpPr>
            <a:grpSpLocks/>
          </p:cNvGrpSpPr>
          <p:nvPr/>
        </p:nvGrpSpPr>
        <p:grpSpPr>
          <a:xfrm>
            <a:off x="630000" y="3020779"/>
            <a:ext cx="365760" cy="365760"/>
            <a:chOff x="5273675" y="2606675"/>
            <a:chExt cx="1644650" cy="1644650"/>
          </a:xfrm>
        </p:grpSpPr>
        <p:sp>
          <p:nvSpPr>
            <p:cNvPr id="244" name="AutoShape 3">
              <a:extLst>
                <a:ext uri="{FF2B5EF4-FFF2-40B4-BE49-F238E27FC236}">
                  <a16:creationId xmlns:a16="http://schemas.microsoft.com/office/drawing/2014/main" id="{DBD5015D-A706-407C-94DC-295CE4EED493}"/>
                </a:ext>
              </a:extLst>
            </p:cNvPr>
            <p:cNvSpPr>
              <a:spLocks noChangeAspect="1" noChangeArrowheads="1" noTextEdit="1"/>
            </p:cNvSpPr>
            <p:nvPr/>
          </p:nvSpPr>
          <p:spPr bwMode="auto">
            <a:xfrm>
              <a:off x="5273675" y="2606675"/>
              <a:ext cx="1644650"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2746" tIns="36373" rIns="72746" bIns="36373" numCol="1" anchor="ctr" anchorCtr="0" compatLnSpc="1">
              <a:prstTxWarp prst="textNoShape">
                <a:avLst/>
              </a:prstTxWarp>
            </a:bodyPr>
            <a:lstStyle/>
            <a:p>
              <a:endParaRPr lang="en-US" sz="1559">
                <a:sym typeface="+mn-lt"/>
              </a:endParaRPr>
            </a:p>
          </p:txBody>
        </p:sp>
        <p:grpSp>
          <p:nvGrpSpPr>
            <p:cNvPr id="245" name="Group 244">
              <a:extLst>
                <a:ext uri="{FF2B5EF4-FFF2-40B4-BE49-F238E27FC236}">
                  <a16:creationId xmlns:a16="http://schemas.microsoft.com/office/drawing/2014/main" id="{C27BE205-6FFF-4761-BBAA-CF8598AD897A}"/>
                </a:ext>
              </a:extLst>
            </p:cNvPr>
            <p:cNvGrpSpPr/>
            <p:nvPr/>
          </p:nvGrpSpPr>
          <p:grpSpPr>
            <a:xfrm>
              <a:off x="5443538" y="2782888"/>
              <a:ext cx="1304925" cy="1292225"/>
              <a:chOff x="5443538" y="2782888"/>
              <a:chExt cx="1304925" cy="1292225"/>
            </a:xfrm>
          </p:grpSpPr>
          <p:sp>
            <p:nvSpPr>
              <p:cNvPr id="246" name="Freeform 11">
                <a:extLst>
                  <a:ext uri="{FF2B5EF4-FFF2-40B4-BE49-F238E27FC236}">
                    <a16:creationId xmlns:a16="http://schemas.microsoft.com/office/drawing/2014/main" id="{FE7D77C9-EE1E-4F8A-9674-6E08F90D6E7F}"/>
                  </a:ext>
                </a:extLst>
              </p:cNvPr>
              <p:cNvSpPr>
                <a:spLocks noEditPoints="1"/>
              </p:cNvSpPr>
              <p:nvPr/>
            </p:nvSpPr>
            <p:spPr bwMode="auto">
              <a:xfrm>
                <a:off x="5813425" y="3556000"/>
                <a:ext cx="935038" cy="519113"/>
              </a:xfrm>
              <a:custGeom>
                <a:avLst/>
                <a:gdLst>
                  <a:gd name="T0" fmla="*/ 1307 w 1308"/>
                  <a:gd name="T1" fmla="*/ 588 h 729"/>
                  <a:gd name="T2" fmla="*/ 1291 w 1308"/>
                  <a:gd name="T3" fmla="*/ 574 h 729"/>
                  <a:gd name="T4" fmla="*/ 862 w 1308"/>
                  <a:gd name="T5" fmla="*/ 574 h 729"/>
                  <a:gd name="T6" fmla="*/ 849 w 1308"/>
                  <a:gd name="T7" fmla="*/ 570 h 729"/>
                  <a:gd name="T8" fmla="*/ 78 w 1308"/>
                  <a:gd name="T9" fmla="*/ 3 h 729"/>
                  <a:gd name="T10" fmla="*/ 68 w 1308"/>
                  <a:gd name="T11" fmla="*/ 0 h 729"/>
                  <a:gd name="T12" fmla="*/ 56 w 1308"/>
                  <a:gd name="T13" fmla="*/ 4 h 729"/>
                  <a:gd name="T14" fmla="*/ 55 w 1308"/>
                  <a:gd name="T15" fmla="*/ 5 h 729"/>
                  <a:gd name="T16" fmla="*/ 54 w 1308"/>
                  <a:gd name="T17" fmla="*/ 6 h 729"/>
                  <a:gd name="T18" fmla="*/ 53 w 1308"/>
                  <a:gd name="T19" fmla="*/ 7 h 729"/>
                  <a:gd name="T20" fmla="*/ 22 w 1308"/>
                  <a:gd name="T21" fmla="*/ 46 h 729"/>
                  <a:gd name="T22" fmla="*/ 4 w 1308"/>
                  <a:gd name="T23" fmla="*/ 116 h 729"/>
                  <a:gd name="T24" fmla="*/ 41 w 1308"/>
                  <a:gd name="T25" fmla="*/ 179 h 729"/>
                  <a:gd name="T26" fmla="*/ 736 w 1308"/>
                  <a:gd name="T27" fmla="*/ 687 h 729"/>
                  <a:gd name="T28" fmla="*/ 802 w 1308"/>
                  <a:gd name="T29" fmla="*/ 720 h 729"/>
                  <a:gd name="T30" fmla="*/ 865 w 1308"/>
                  <a:gd name="T31" fmla="*/ 729 h 729"/>
                  <a:gd name="T32" fmla="*/ 1214 w 1308"/>
                  <a:gd name="T33" fmla="*/ 729 h 729"/>
                  <a:gd name="T34" fmla="*/ 1308 w 1308"/>
                  <a:gd name="T35" fmla="*/ 636 h 729"/>
                  <a:gd name="T36" fmla="*/ 1308 w 1308"/>
                  <a:gd name="T37" fmla="*/ 591 h 729"/>
                  <a:gd name="T38" fmla="*/ 1308 w 1308"/>
                  <a:gd name="T39" fmla="*/ 590 h 729"/>
                  <a:gd name="T40" fmla="*/ 1307 w 1308"/>
                  <a:gd name="T41" fmla="*/ 588 h 729"/>
                  <a:gd name="T42" fmla="*/ 1264 w 1308"/>
                  <a:gd name="T43" fmla="*/ 636 h 729"/>
                  <a:gd name="T44" fmla="*/ 1214 w 1308"/>
                  <a:gd name="T45" fmla="*/ 685 h 729"/>
                  <a:gd name="T46" fmla="*/ 865 w 1308"/>
                  <a:gd name="T47" fmla="*/ 685 h 729"/>
                  <a:gd name="T48" fmla="*/ 815 w 1308"/>
                  <a:gd name="T49" fmla="*/ 678 h 729"/>
                  <a:gd name="T50" fmla="*/ 814 w 1308"/>
                  <a:gd name="T51" fmla="*/ 678 h 729"/>
                  <a:gd name="T52" fmla="*/ 814 w 1308"/>
                  <a:gd name="T53" fmla="*/ 678 h 729"/>
                  <a:gd name="T54" fmla="*/ 762 w 1308"/>
                  <a:gd name="T55" fmla="*/ 652 h 729"/>
                  <a:gd name="T56" fmla="*/ 67 w 1308"/>
                  <a:gd name="T57" fmla="*/ 143 h 729"/>
                  <a:gd name="T58" fmla="*/ 48 w 1308"/>
                  <a:gd name="T59" fmla="*/ 111 h 729"/>
                  <a:gd name="T60" fmla="*/ 47 w 1308"/>
                  <a:gd name="T61" fmla="*/ 110 h 729"/>
                  <a:gd name="T62" fmla="*/ 47 w 1308"/>
                  <a:gd name="T63" fmla="*/ 109 h 729"/>
                  <a:gd name="T64" fmla="*/ 57 w 1308"/>
                  <a:gd name="T65" fmla="*/ 72 h 729"/>
                  <a:gd name="T66" fmla="*/ 72 w 1308"/>
                  <a:gd name="T67" fmla="*/ 53 h 729"/>
                  <a:gd name="T68" fmla="*/ 823 w 1308"/>
                  <a:gd name="T69" fmla="*/ 605 h 729"/>
                  <a:gd name="T70" fmla="*/ 862 w 1308"/>
                  <a:gd name="T71" fmla="*/ 618 h 729"/>
                  <a:gd name="T72" fmla="*/ 1264 w 1308"/>
                  <a:gd name="T73" fmla="*/ 618 h 729"/>
                  <a:gd name="T74" fmla="*/ 1264 w 1308"/>
                  <a:gd name="T75" fmla="*/ 636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08" h="729">
                    <a:moveTo>
                      <a:pt x="1307" y="588"/>
                    </a:moveTo>
                    <a:cubicBezTo>
                      <a:pt x="1306" y="580"/>
                      <a:pt x="1300" y="574"/>
                      <a:pt x="1291" y="574"/>
                    </a:cubicBezTo>
                    <a:cubicBezTo>
                      <a:pt x="862" y="574"/>
                      <a:pt x="862" y="574"/>
                      <a:pt x="862" y="574"/>
                    </a:cubicBezTo>
                    <a:cubicBezTo>
                      <a:pt x="857" y="574"/>
                      <a:pt x="853" y="572"/>
                      <a:pt x="849" y="570"/>
                    </a:cubicBezTo>
                    <a:cubicBezTo>
                      <a:pt x="78" y="3"/>
                      <a:pt x="78" y="3"/>
                      <a:pt x="78" y="3"/>
                    </a:cubicBezTo>
                    <a:cubicBezTo>
                      <a:pt x="74" y="1"/>
                      <a:pt x="71" y="0"/>
                      <a:pt x="68" y="0"/>
                    </a:cubicBezTo>
                    <a:cubicBezTo>
                      <a:pt x="64" y="0"/>
                      <a:pt x="60" y="1"/>
                      <a:pt x="56" y="4"/>
                    </a:cubicBezTo>
                    <a:cubicBezTo>
                      <a:pt x="56" y="4"/>
                      <a:pt x="55" y="4"/>
                      <a:pt x="55" y="5"/>
                    </a:cubicBezTo>
                    <a:cubicBezTo>
                      <a:pt x="54" y="5"/>
                      <a:pt x="54" y="6"/>
                      <a:pt x="54" y="6"/>
                    </a:cubicBezTo>
                    <a:cubicBezTo>
                      <a:pt x="54" y="7"/>
                      <a:pt x="54" y="7"/>
                      <a:pt x="53" y="7"/>
                    </a:cubicBezTo>
                    <a:cubicBezTo>
                      <a:pt x="22" y="46"/>
                      <a:pt x="22" y="46"/>
                      <a:pt x="22" y="46"/>
                    </a:cubicBezTo>
                    <a:cubicBezTo>
                      <a:pt x="7" y="66"/>
                      <a:pt x="0" y="91"/>
                      <a:pt x="4" y="116"/>
                    </a:cubicBezTo>
                    <a:cubicBezTo>
                      <a:pt x="7" y="141"/>
                      <a:pt x="20" y="163"/>
                      <a:pt x="41" y="179"/>
                    </a:cubicBezTo>
                    <a:cubicBezTo>
                      <a:pt x="736" y="687"/>
                      <a:pt x="736" y="687"/>
                      <a:pt x="736" y="687"/>
                    </a:cubicBezTo>
                    <a:cubicBezTo>
                      <a:pt x="756" y="702"/>
                      <a:pt x="778" y="713"/>
                      <a:pt x="802" y="720"/>
                    </a:cubicBezTo>
                    <a:cubicBezTo>
                      <a:pt x="822" y="726"/>
                      <a:pt x="843" y="729"/>
                      <a:pt x="865" y="729"/>
                    </a:cubicBezTo>
                    <a:cubicBezTo>
                      <a:pt x="1214" y="729"/>
                      <a:pt x="1214" y="729"/>
                      <a:pt x="1214" y="729"/>
                    </a:cubicBezTo>
                    <a:cubicBezTo>
                      <a:pt x="1266" y="729"/>
                      <a:pt x="1308" y="687"/>
                      <a:pt x="1308" y="636"/>
                    </a:cubicBezTo>
                    <a:cubicBezTo>
                      <a:pt x="1308" y="591"/>
                      <a:pt x="1308" y="591"/>
                      <a:pt x="1308" y="591"/>
                    </a:cubicBezTo>
                    <a:cubicBezTo>
                      <a:pt x="1308" y="591"/>
                      <a:pt x="1308" y="591"/>
                      <a:pt x="1308" y="590"/>
                    </a:cubicBezTo>
                    <a:cubicBezTo>
                      <a:pt x="1307" y="589"/>
                      <a:pt x="1307" y="589"/>
                      <a:pt x="1307" y="588"/>
                    </a:cubicBezTo>
                    <a:close/>
                    <a:moveTo>
                      <a:pt x="1264" y="636"/>
                    </a:moveTo>
                    <a:cubicBezTo>
                      <a:pt x="1264" y="663"/>
                      <a:pt x="1241" y="685"/>
                      <a:pt x="1214" y="685"/>
                    </a:cubicBezTo>
                    <a:cubicBezTo>
                      <a:pt x="865" y="685"/>
                      <a:pt x="865" y="685"/>
                      <a:pt x="865" y="685"/>
                    </a:cubicBezTo>
                    <a:cubicBezTo>
                      <a:pt x="847" y="685"/>
                      <a:pt x="830" y="683"/>
                      <a:pt x="815" y="678"/>
                    </a:cubicBezTo>
                    <a:cubicBezTo>
                      <a:pt x="814" y="678"/>
                      <a:pt x="814" y="678"/>
                      <a:pt x="814" y="678"/>
                    </a:cubicBezTo>
                    <a:cubicBezTo>
                      <a:pt x="814" y="678"/>
                      <a:pt x="814" y="678"/>
                      <a:pt x="814" y="678"/>
                    </a:cubicBezTo>
                    <a:cubicBezTo>
                      <a:pt x="796" y="672"/>
                      <a:pt x="778" y="664"/>
                      <a:pt x="762" y="652"/>
                    </a:cubicBezTo>
                    <a:cubicBezTo>
                      <a:pt x="67" y="143"/>
                      <a:pt x="67" y="143"/>
                      <a:pt x="67" y="143"/>
                    </a:cubicBezTo>
                    <a:cubicBezTo>
                      <a:pt x="56" y="135"/>
                      <a:pt x="49" y="124"/>
                      <a:pt x="48" y="111"/>
                    </a:cubicBezTo>
                    <a:cubicBezTo>
                      <a:pt x="47" y="110"/>
                      <a:pt x="47" y="110"/>
                      <a:pt x="47" y="110"/>
                    </a:cubicBezTo>
                    <a:cubicBezTo>
                      <a:pt x="47" y="109"/>
                      <a:pt x="47" y="109"/>
                      <a:pt x="47" y="109"/>
                    </a:cubicBezTo>
                    <a:cubicBezTo>
                      <a:pt x="45" y="96"/>
                      <a:pt x="49" y="84"/>
                      <a:pt x="57" y="72"/>
                    </a:cubicBezTo>
                    <a:cubicBezTo>
                      <a:pt x="72" y="53"/>
                      <a:pt x="72" y="53"/>
                      <a:pt x="72" y="53"/>
                    </a:cubicBezTo>
                    <a:cubicBezTo>
                      <a:pt x="823" y="605"/>
                      <a:pt x="823" y="605"/>
                      <a:pt x="823" y="605"/>
                    </a:cubicBezTo>
                    <a:cubicBezTo>
                      <a:pt x="834" y="613"/>
                      <a:pt x="848" y="618"/>
                      <a:pt x="862" y="618"/>
                    </a:cubicBezTo>
                    <a:cubicBezTo>
                      <a:pt x="1264" y="618"/>
                      <a:pt x="1264" y="618"/>
                      <a:pt x="1264" y="618"/>
                    </a:cubicBezTo>
                    <a:lnTo>
                      <a:pt x="1264" y="63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ctr" anchorCtr="0" compatLnSpc="1">
                <a:prstTxWarp prst="textNoShape">
                  <a:avLst/>
                </a:prstTxWarp>
              </a:bodyPr>
              <a:lstStyle/>
              <a:p>
                <a:endParaRPr lang="en-US" sz="1559">
                  <a:sym typeface="+mn-lt"/>
                </a:endParaRPr>
              </a:p>
            </p:txBody>
          </p:sp>
          <p:sp>
            <p:nvSpPr>
              <p:cNvPr id="247" name="Freeform 12">
                <a:extLst>
                  <a:ext uri="{FF2B5EF4-FFF2-40B4-BE49-F238E27FC236}">
                    <a16:creationId xmlns:a16="http://schemas.microsoft.com/office/drawing/2014/main" id="{CC0C5735-0C3C-4328-A184-34E98AAD32FA}"/>
                  </a:ext>
                </a:extLst>
              </p:cNvPr>
              <p:cNvSpPr>
                <a:spLocks/>
              </p:cNvSpPr>
              <p:nvPr/>
            </p:nvSpPr>
            <p:spPr bwMode="auto">
              <a:xfrm>
                <a:off x="5443538" y="2782888"/>
                <a:ext cx="1295400" cy="1150938"/>
              </a:xfrm>
              <a:custGeom>
                <a:avLst/>
                <a:gdLst>
                  <a:gd name="T0" fmla="*/ 1434 w 1815"/>
                  <a:gd name="T1" fmla="*/ 1376 h 1613"/>
                  <a:gd name="T2" fmla="*/ 1307 w 1815"/>
                  <a:gd name="T3" fmla="*/ 1397 h 1613"/>
                  <a:gd name="T4" fmla="*/ 1299 w 1815"/>
                  <a:gd name="T5" fmla="*/ 1365 h 1613"/>
                  <a:gd name="T6" fmla="*/ 1349 w 1815"/>
                  <a:gd name="T7" fmla="*/ 1256 h 1613"/>
                  <a:gd name="T8" fmla="*/ 1206 w 1815"/>
                  <a:gd name="T9" fmla="*/ 1280 h 1613"/>
                  <a:gd name="T10" fmla="*/ 1198 w 1815"/>
                  <a:gd name="T11" fmla="*/ 1248 h 1613"/>
                  <a:gd name="T12" fmla="*/ 1295 w 1815"/>
                  <a:gd name="T13" fmla="*/ 1128 h 1613"/>
                  <a:gd name="T14" fmla="*/ 1118 w 1815"/>
                  <a:gd name="T15" fmla="*/ 1155 h 1613"/>
                  <a:gd name="T16" fmla="*/ 1111 w 1815"/>
                  <a:gd name="T17" fmla="*/ 1122 h 1613"/>
                  <a:gd name="T18" fmla="*/ 1256 w 1815"/>
                  <a:gd name="T19" fmla="*/ 969 h 1613"/>
                  <a:gd name="T20" fmla="*/ 920 w 1815"/>
                  <a:gd name="T21" fmla="*/ 775 h 1613"/>
                  <a:gd name="T22" fmla="*/ 823 w 1815"/>
                  <a:gd name="T23" fmla="*/ 699 h 1613"/>
                  <a:gd name="T24" fmla="*/ 733 w 1815"/>
                  <a:gd name="T25" fmla="*/ 501 h 1613"/>
                  <a:gd name="T26" fmla="*/ 698 w 1815"/>
                  <a:gd name="T27" fmla="*/ 348 h 1613"/>
                  <a:gd name="T28" fmla="*/ 13 w 1815"/>
                  <a:gd name="T29" fmla="*/ 3 h 1613"/>
                  <a:gd name="T30" fmla="*/ 4 w 1815"/>
                  <a:gd name="T31" fmla="*/ 5 h 1613"/>
                  <a:gd name="T32" fmla="*/ 136 w 1815"/>
                  <a:gd name="T33" fmla="*/ 252 h 1613"/>
                  <a:gd name="T34" fmla="*/ 557 w 1815"/>
                  <a:gd name="T35" fmla="*/ 425 h 1613"/>
                  <a:gd name="T36" fmla="*/ 12 w 1815"/>
                  <a:gd name="T37" fmla="*/ 221 h 1613"/>
                  <a:gd name="T38" fmla="*/ 0 w 1815"/>
                  <a:gd name="T39" fmla="*/ 219 h 1613"/>
                  <a:gd name="T40" fmla="*/ 201 w 1815"/>
                  <a:gd name="T41" fmla="*/ 477 h 1613"/>
                  <a:gd name="T42" fmla="*/ 542 w 1815"/>
                  <a:gd name="T43" fmla="*/ 555 h 1613"/>
                  <a:gd name="T44" fmla="*/ 537 w 1815"/>
                  <a:gd name="T45" fmla="*/ 592 h 1613"/>
                  <a:gd name="T46" fmla="*/ 134 w 1815"/>
                  <a:gd name="T47" fmla="*/ 494 h 1613"/>
                  <a:gd name="T48" fmla="*/ 129 w 1815"/>
                  <a:gd name="T49" fmla="*/ 521 h 1613"/>
                  <a:gd name="T50" fmla="*/ 397 w 1815"/>
                  <a:gd name="T51" fmla="*/ 707 h 1613"/>
                  <a:gd name="T52" fmla="*/ 620 w 1815"/>
                  <a:gd name="T53" fmla="*/ 714 h 1613"/>
                  <a:gd name="T54" fmla="*/ 410 w 1815"/>
                  <a:gd name="T55" fmla="*/ 745 h 1613"/>
                  <a:gd name="T56" fmla="*/ 774 w 1815"/>
                  <a:gd name="T57" fmla="*/ 843 h 1613"/>
                  <a:gd name="T58" fmla="*/ 607 w 1815"/>
                  <a:gd name="T59" fmla="*/ 1041 h 1613"/>
                  <a:gd name="T60" fmla="*/ 618 w 1815"/>
                  <a:gd name="T61" fmla="*/ 1047 h 1613"/>
                  <a:gd name="T62" fmla="*/ 1392 w 1815"/>
                  <a:gd name="T63" fmla="*/ 1613 h 1613"/>
                  <a:gd name="T64" fmla="*/ 1815 w 1815"/>
                  <a:gd name="T65" fmla="*/ 1613 h 1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15" h="1613">
                    <a:moveTo>
                      <a:pt x="1515" y="1438"/>
                    </a:moveTo>
                    <a:cubicBezTo>
                      <a:pt x="1485" y="1422"/>
                      <a:pt x="1458" y="1400"/>
                      <a:pt x="1434" y="1376"/>
                    </a:cubicBezTo>
                    <a:cubicBezTo>
                      <a:pt x="1394" y="1379"/>
                      <a:pt x="1335" y="1385"/>
                      <a:pt x="1315" y="1396"/>
                    </a:cubicBezTo>
                    <a:cubicBezTo>
                      <a:pt x="1311" y="1397"/>
                      <a:pt x="1309" y="1397"/>
                      <a:pt x="1307" y="1397"/>
                    </a:cubicBezTo>
                    <a:cubicBezTo>
                      <a:pt x="1301" y="1397"/>
                      <a:pt x="1295" y="1394"/>
                      <a:pt x="1292" y="1388"/>
                    </a:cubicBezTo>
                    <a:cubicBezTo>
                      <a:pt x="1288" y="1380"/>
                      <a:pt x="1291" y="1370"/>
                      <a:pt x="1299" y="1365"/>
                    </a:cubicBezTo>
                    <a:cubicBezTo>
                      <a:pt x="1321" y="1354"/>
                      <a:pt x="1368" y="1348"/>
                      <a:pt x="1406" y="1344"/>
                    </a:cubicBezTo>
                    <a:cubicBezTo>
                      <a:pt x="1384" y="1317"/>
                      <a:pt x="1365" y="1286"/>
                      <a:pt x="1349" y="1256"/>
                    </a:cubicBezTo>
                    <a:cubicBezTo>
                      <a:pt x="1307" y="1257"/>
                      <a:pt x="1246" y="1262"/>
                      <a:pt x="1213" y="1279"/>
                    </a:cubicBezTo>
                    <a:cubicBezTo>
                      <a:pt x="1211" y="1279"/>
                      <a:pt x="1208" y="1280"/>
                      <a:pt x="1206" y="1280"/>
                    </a:cubicBezTo>
                    <a:cubicBezTo>
                      <a:pt x="1200" y="1280"/>
                      <a:pt x="1193" y="1277"/>
                      <a:pt x="1190" y="1271"/>
                    </a:cubicBezTo>
                    <a:cubicBezTo>
                      <a:pt x="1187" y="1262"/>
                      <a:pt x="1190" y="1253"/>
                      <a:pt x="1198" y="1248"/>
                    </a:cubicBezTo>
                    <a:cubicBezTo>
                      <a:pt x="1233" y="1231"/>
                      <a:pt x="1288" y="1225"/>
                      <a:pt x="1332" y="1223"/>
                    </a:cubicBezTo>
                    <a:cubicBezTo>
                      <a:pt x="1317" y="1190"/>
                      <a:pt x="1305" y="1159"/>
                      <a:pt x="1295" y="1128"/>
                    </a:cubicBezTo>
                    <a:cubicBezTo>
                      <a:pt x="1258" y="1126"/>
                      <a:pt x="1185" y="1127"/>
                      <a:pt x="1124" y="1154"/>
                    </a:cubicBezTo>
                    <a:cubicBezTo>
                      <a:pt x="1121" y="1154"/>
                      <a:pt x="1119" y="1155"/>
                      <a:pt x="1118" y="1155"/>
                    </a:cubicBezTo>
                    <a:cubicBezTo>
                      <a:pt x="1111" y="1155"/>
                      <a:pt x="1105" y="1151"/>
                      <a:pt x="1102" y="1144"/>
                    </a:cubicBezTo>
                    <a:cubicBezTo>
                      <a:pt x="1098" y="1135"/>
                      <a:pt x="1102" y="1125"/>
                      <a:pt x="1111" y="1122"/>
                    </a:cubicBezTo>
                    <a:cubicBezTo>
                      <a:pt x="1172" y="1096"/>
                      <a:pt x="1242" y="1092"/>
                      <a:pt x="1284" y="1094"/>
                    </a:cubicBezTo>
                    <a:cubicBezTo>
                      <a:pt x="1263" y="1024"/>
                      <a:pt x="1256" y="971"/>
                      <a:pt x="1256" y="969"/>
                    </a:cubicBezTo>
                    <a:cubicBezTo>
                      <a:pt x="1254" y="962"/>
                      <a:pt x="1249" y="956"/>
                      <a:pt x="1242" y="955"/>
                    </a:cubicBezTo>
                    <a:cubicBezTo>
                      <a:pt x="1090" y="930"/>
                      <a:pt x="973" y="828"/>
                      <a:pt x="920" y="775"/>
                    </a:cubicBezTo>
                    <a:cubicBezTo>
                      <a:pt x="893" y="747"/>
                      <a:pt x="862" y="723"/>
                      <a:pt x="829" y="702"/>
                    </a:cubicBezTo>
                    <a:cubicBezTo>
                      <a:pt x="827" y="701"/>
                      <a:pt x="825" y="700"/>
                      <a:pt x="823" y="699"/>
                    </a:cubicBezTo>
                    <a:cubicBezTo>
                      <a:pt x="793" y="680"/>
                      <a:pt x="766" y="659"/>
                      <a:pt x="747" y="629"/>
                    </a:cubicBezTo>
                    <a:cubicBezTo>
                      <a:pt x="720" y="589"/>
                      <a:pt x="711" y="547"/>
                      <a:pt x="733" y="501"/>
                    </a:cubicBezTo>
                    <a:cubicBezTo>
                      <a:pt x="737" y="491"/>
                      <a:pt x="740" y="480"/>
                      <a:pt x="743" y="469"/>
                    </a:cubicBezTo>
                    <a:cubicBezTo>
                      <a:pt x="754" y="419"/>
                      <a:pt x="740" y="377"/>
                      <a:pt x="698" y="348"/>
                    </a:cubicBezTo>
                    <a:cubicBezTo>
                      <a:pt x="676" y="333"/>
                      <a:pt x="652" y="321"/>
                      <a:pt x="627" y="312"/>
                    </a:cubicBezTo>
                    <a:cubicBezTo>
                      <a:pt x="410" y="232"/>
                      <a:pt x="206" y="128"/>
                      <a:pt x="13" y="3"/>
                    </a:cubicBezTo>
                    <a:cubicBezTo>
                      <a:pt x="11" y="1"/>
                      <a:pt x="9" y="1"/>
                      <a:pt x="7" y="0"/>
                    </a:cubicBezTo>
                    <a:cubicBezTo>
                      <a:pt x="6" y="2"/>
                      <a:pt x="5" y="4"/>
                      <a:pt x="4" y="5"/>
                    </a:cubicBezTo>
                    <a:cubicBezTo>
                      <a:pt x="4" y="8"/>
                      <a:pt x="3" y="11"/>
                      <a:pt x="3" y="14"/>
                    </a:cubicBezTo>
                    <a:cubicBezTo>
                      <a:pt x="5" y="117"/>
                      <a:pt x="42" y="202"/>
                      <a:pt x="136" y="252"/>
                    </a:cubicBezTo>
                    <a:cubicBezTo>
                      <a:pt x="262" y="319"/>
                      <a:pt x="395" y="368"/>
                      <a:pt x="535" y="401"/>
                    </a:cubicBezTo>
                    <a:cubicBezTo>
                      <a:pt x="548" y="404"/>
                      <a:pt x="560" y="408"/>
                      <a:pt x="557" y="425"/>
                    </a:cubicBezTo>
                    <a:cubicBezTo>
                      <a:pt x="553" y="441"/>
                      <a:pt x="541" y="440"/>
                      <a:pt x="527" y="437"/>
                    </a:cubicBezTo>
                    <a:cubicBezTo>
                      <a:pt x="344" y="392"/>
                      <a:pt x="170" y="325"/>
                      <a:pt x="12" y="221"/>
                    </a:cubicBezTo>
                    <a:cubicBezTo>
                      <a:pt x="9" y="219"/>
                      <a:pt x="6" y="218"/>
                      <a:pt x="3" y="216"/>
                    </a:cubicBezTo>
                    <a:cubicBezTo>
                      <a:pt x="2" y="218"/>
                      <a:pt x="2" y="218"/>
                      <a:pt x="0" y="219"/>
                    </a:cubicBezTo>
                    <a:cubicBezTo>
                      <a:pt x="10" y="249"/>
                      <a:pt x="18" y="280"/>
                      <a:pt x="31" y="309"/>
                    </a:cubicBezTo>
                    <a:cubicBezTo>
                      <a:pt x="66" y="386"/>
                      <a:pt x="117" y="450"/>
                      <a:pt x="201" y="477"/>
                    </a:cubicBezTo>
                    <a:cubicBezTo>
                      <a:pt x="271" y="500"/>
                      <a:pt x="344" y="518"/>
                      <a:pt x="416" y="535"/>
                    </a:cubicBezTo>
                    <a:cubicBezTo>
                      <a:pt x="457" y="545"/>
                      <a:pt x="500" y="549"/>
                      <a:pt x="542" y="555"/>
                    </a:cubicBezTo>
                    <a:cubicBezTo>
                      <a:pt x="553" y="557"/>
                      <a:pt x="561" y="563"/>
                      <a:pt x="560" y="575"/>
                    </a:cubicBezTo>
                    <a:cubicBezTo>
                      <a:pt x="558" y="589"/>
                      <a:pt x="549" y="593"/>
                      <a:pt x="537" y="592"/>
                    </a:cubicBezTo>
                    <a:cubicBezTo>
                      <a:pt x="535" y="592"/>
                      <a:pt x="532" y="591"/>
                      <a:pt x="530" y="591"/>
                    </a:cubicBezTo>
                    <a:cubicBezTo>
                      <a:pt x="394" y="574"/>
                      <a:pt x="262" y="541"/>
                      <a:pt x="134" y="494"/>
                    </a:cubicBezTo>
                    <a:cubicBezTo>
                      <a:pt x="128" y="492"/>
                      <a:pt x="123" y="490"/>
                      <a:pt x="113" y="487"/>
                    </a:cubicBezTo>
                    <a:cubicBezTo>
                      <a:pt x="120" y="501"/>
                      <a:pt x="123" y="512"/>
                      <a:pt x="129" y="521"/>
                    </a:cubicBezTo>
                    <a:cubicBezTo>
                      <a:pt x="162" y="579"/>
                      <a:pt x="206" y="627"/>
                      <a:pt x="261" y="665"/>
                    </a:cubicBezTo>
                    <a:cubicBezTo>
                      <a:pt x="302" y="693"/>
                      <a:pt x="347" y="709"/>
                      <a:pt x="397" y="707"/>
                    </a:cubicBezTo>
                    <a:cubicBezTo>
                      <a:pt x="463" y="704"/>
                      <a:pt x="528" y="701"/>
                      <a:pt x="594" y="698"/>
                    </a:cubicBezTo>
                    <a:cubicBezTo>
                      <a:pt x="607" y="697"/>
                      <a:pt x="619" y="698"/>
                      <a:pt x="620" y="714"/>
                    </a:cubicBezTo>
                    <a:cubicBezTo>
                      <a:pt x="621" y="729"/>
                      <a:pt x="611" y="734"/>
                      <a:pt x="597" y="734"/>
                    </a:cubicBezTo>
                    <a:cubicBezTo>
                      <a:pt x="535" y="738"/>
                      <a:pt x="472" y="741"/>
                      <a:pt x="410" y="745"/>
                    </a:cubicBezTo>
                    <a:cubicBezTo>
                      <a:pt x="406" y="745"/>
                      <a:pt x="402" y="746"/>
                      <a:pt x="395" y="746"/>
                    </a:cubicBezTo>
                    <a:cubicBezTo>
                      <a:pt x="491" y="867"/>
                      <a:pt x="635" y="881"/>
                      <a:pt x="774" y="843"/>
                    </a:cubicBezTo>
                    <a:cubicBezTo>
                      <a:pt x="782" y="837"/>
                      <a:pt x="782" y="837"/>
                      <a:pt x="782" y="837"/>
                    </a:cubicBezTo>
                    <a:cubicBezTo>
                      <a:pt x="686" y="948"/>
                      <a:pt x="634" y="1009"/>
                      <a:pt x="607" y="1041"/>
                    </a:cubicBezTo>
                    <a:cubicBezTo>
                      <a:pt x="610" y="1043"/>
                      <a:pt x="614" y="1044"/>
                      <a:pt x="617" y="1046"/>
                    </a:cubicBezTo>
                    <a:cubicBezTo>
                      <a:pt x="618" y="1047"/>
                      <a:pt x="618" y="1047"/>
                      <a:pt x="618" y="1047"/>
                    </a:cubicBezTo>
                    <a:cubicBezTo>
                      <a:pt x="1379" y="1608"/>
                      <a:pt x="1379" y="1608"/>
                      <a:pt x="1379" y="1608"/>
                    </a:cubicBezTo>
                    <a:cubicBezTo>
                      <a:pt x="1383" y="1611"/>
                      <a:pt x="1388" y="1613"/>
                      <a:pt x="1392" y="1613"/>
                    </a:cubicBezTo>
                    <a:cubicBezTo>
                      <a:pt x="1810" y="1613"/>
                      <a:pt x="1810" y="1613"/>
                      <a:pt x="1810" y="1613"/>
                    </a:cubicBezTo>
                    <a:cubicBezTo>
                      <a:pt x="1812" y="1613"/>
                      <a:pt x="1813" y="1613"/>
                      <a:pt x="1815" y="1613"/>
                    </a:cubicBezTo>
                    <a:cubicBezTo>
                      <a:pt x="1761" y="1487"/>
                      <a:pt x="1544" y="1443"/>
                      <a:pt x="1515" y="1438"/>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ctr" anchorCtr="0" compatLnSpc="1">
                <a:prstTxWarp prst="textNoShape">
                  <a:avLst/>
                </a:prstTxWarp>
              </a:bodyPr>
              <a:lstStyle/>
              <a:p>
                <a:endParaRPr lang="en-US" sz="1559">
                  <a:sym typeface="+mn-lt"/>
                </a:endParaRPr>
              </a:p>
            </p:txBody>
          </p:sp>
        </p:grpSp>
      </p:grpSp>
      <p:grpSp>
        <p:nvGrpSpPr>
          <p:cNvPr id="146" name="Group 145">
            <a:extLst>
              <a:ext uri="{FF2B5EF4-FFF2-40B4-BE49-F238E27FC236}">
                <a16:creationId xmlns:a16="http://schemas.microsoft.com/office/drawing/2014/main" id="{08483CAB-5657-4D9B-8129-5E18943065F9}"/>
              </a:ext>
            </a:extLst>
          </p:cNvPr>
          <p:cNvGrpSpPr>
            <a:grpSpLocks/>
          </p:cNvGrpSpPr>
          <p:nvPr/>
        </p:nvGrpSpPr>
        <p:grpSpPr>
          <a:xfrm>
            <a:off x="630000" y="3980121"/>
            <a:ext cx="365760" cy="365760"/>
            <a:chOff x="6464300" y="2606675"/>
            <a:chExt cx="1646238" cy="1644650"/>
          </a:xfrm>
        </p:grpSpPr>
        <p:sp>
          <p:nvSpPr>
            <p:cNvPr id="240" name="AutoShape 14">
              <a:extLst>
                <a:ext uri="{FF2B5EF4-FFF2-40B4-BE49-F238E27FC236}">
                  <a16:creationId xmlns:a16="http://schemas.microsoft.com/office/drawing/2014/main" id="{95BF5858-ECAF-4491-874F-ED7A7DA4163B}"/>
                </a:ext>
              </a:extLst>
            </p:cNvPr>
            <p:cNvSpPr>
              <a:spLocks noChangeAspect="1" noChangeArrowheads="1" noTextEdit="1"/>
            </p:cNvSpPr>
            <p:nvPr/>
          </p:nvSpPr>
          <p:spPr bwMode="auto">
            <a:xfrm>
              <a:off x="6464300"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grpSp>
          <p:nvGrpSpPr>
            <p:cNvPr id="241" name="Group 240">
              <a:extLst>
                <a:ext uri="{FF2B5EF4-FFF2-40B4-BE49-F238E27FC236}">
                  <a16:creationId xmlns:a16="http://schemas.microsoft.com/office/drawing/2014/main" id="{D18D18BF-502F-4967-B183-9818B72ABD56}"/>
                </a:ext>
              </a:extLst>
            </p:cNvPr>
            <p:cNvGrpSpPr/>
            <p:nvPr/>
          </p:nvGrpSpPr>
          <p:grpSpPr>
            <a:xfrm>
              <a:off x="6705513" y="2849420"/>
              <a:ext cx="1162224" cy="1160746"/>
              <a:chOff x="6705513" y="2849420"/>
              <a:chExt cx="1162224" cy="1160746"/>
            </a:xfrm>
          </p:grpSpPr>
          <p:sp>
            <p:nvSpPr>
              <p:cNvPr id="242" name="Freeform 9">
                <a:extLst>
                  <a:ext uri="{FF2B5EF4-FFF2-40B4-BE49-F238E27FC236}">
                    <a16:creationId xmlns:a16="http://schemas.microsoft.com/office/drawing/2014/main" id="{FCAF82BD-9930-4752-9E80-5522B50E576B}"/>
                  </a:ext>
                </a:extLst>
              </p:cNvPr>
              <p:cNvSpPr>
                <a:spLocks/>
              </p:cNvSpPr>
              <p:nvPr/>
            </p:nvSpPr>
            <p:spPr bwMode="auto">
              <a:xfrm>
                <a:off x="6705513" y="2852632"/>
                <a:ext cx="1159037" cy="1157513"/>
              </a:xfrm>
              <a:custGeom>
                <a:avLst/>
                <a:gdLst>
                  <a:gd name="connsiteX0" fmla="*/ 210432 w 1159037"/>
                  <a:gd name="connsiteY0" fmla="*/ 1043093 h 1157513"/>
                  <a:gd name="connsiteX1" fmla="*/ 225514 w 1159037"/>
                  <a:gd name="connsiteY1" fmla="*/ 1058175 h 1157513"/>
                  <a:gd name="connsiteX2" fmla="*/ 210432 w 1159037"/>
                  <a:gd name="connsiteY2" fmla="*/ 1073257 h 1157513"/>
                  <a:gd name="connsiteX3" fmla="*/ 195350 w 1159037"/>
                  <a:gd name="connsiteY3" fmla="*/ 1058175 h 1157513"/>
                  <a:gd name="connsiteX4" fmla="*/ 210432 w 1159037"/>
                  <a:gd name="connsiteY4" fmla="*/ 1043093 h 1157513"/>
                  <a:gd name="connsiteX5" fmla="*/ 153607 w 1159037"/>
                  <a:gd name="connsiteY5" fmla="*/ 817668 h 1157513"/>
                  <a:gd name="connsiteX6" fmla="*/ 268843 w 1159037"/>
                  <a:gd name="connsiteY6" fmla="*/ 817668 h 1157513"/>
                  <a:gd name="connsiteX7" fmla="*/ 273137 w 1159037"/>
                  <a:gd name="connsiteY7" fmla="*/ 822659 h 1157513"/>
                  <a:gd name="connsiteX8" fmla="*/ 273137 w 1159037"/>
                  <a:gd name="connsiteY8" fmla="*/ 1016590 h 1157513"/>
                  <a:gd name="connsiteX9" fmla="*/ 268843 w 1159037"/>
                  <a:gd name="connsiteY9" fmla="*/ 1020868 h 1157513"/>
                  <a:gd name="connsiteX10" fmla="*/ 153607 w 1159037"/>
                  <a:gd name="connsiteY10" fmla="*/ 1020868 h 1157513"/>
                  <a:gd name="connsiteX11" fmla="*/ 149312 w 1159037"/>
                  <a:gd name="connsiteY11" fmla="*/ 1016590 h 1157513"/>
                  <a:gd name="connsiteX12" fmla="*/ 149312 w 1159037"/>
                  <a:gd name="connsiteY12" fmla="*/ 822659 h 1157513"/>
                  <a:gd name="connsiteX13" fmla="*/ 153607 w 1159037"/>
                  <a:gd name="connsiteY13" fmla="*/ 817668 h 1157513"/>
                  <a:gd name="connsiteX14" fmla="*/ 139397 w 1159037"/>
                  <a:gd name="connsiteY14" fmla="*/ 797031 h 1157513"/>
                  <a:gd name="connsiteX15" fmla="*/ 128676 w 1159037"/>
                  <a:gd name="connsiteY15" fmla="*/ 807710 h 1157513"/>
                  <a:gd name="connsiteX16" fmla="*/ 128676 w 1159037"/>
                  <a:gd name="connsiteY16" fmla="*/ 1083216 h 1157513"/>
                  <a:gd name="connsiteX17" fmla="*/ 139397 w 1159037"/>
                  <a:gd name="connsiteY17" fmla="*/ 1093894 h 1157513"/>
                  <a:gd name="connsiteX18" fmla="*/ 283055 w 1159037"/>
                  <a:gd name="connsiteY18" fmla="*/ 1093894 h 1157513"/>
                  <a:gd name="connsiteX19" fmla="*/ 293776 w 1159037"/>
                  <a:gd name="connsiteY19" fmla="*/ 1083216 h 1157513"/>
                  <a:gd name="connsiteX20" fmla="*/ 293776 w 1159037"/>
                  <a:gd name="connsiteY20" fmla="*/ 807710 h 1157513"/>
                  <a:gd name="connsiteX21" fmla="*/ 283055 w 1159037"/>
                  <a:gd name="connsiteY21" fmla="*/ 797031 h 1157513"/>
                  <a:gd name="connsiteX22" fmla="*/ 139397 w 1159037"/>
                  <a:gd name="connsiteY22" fmla="*/ 797031 h 1157513"/>
                  <a:gd name="connsiteX23" fmla="*/ 508450 w 1159037"/>
                  <a:gd name="connsiteY23" fmla="*/ 634945 h 1157513"/>
                  <a:gd name="connsiteX24" fmla="*/ 519797 w 1159037"/>
                  <a:gd name="connsiteY24" fmla="*/ 639227 h 1157513"/>
                  <a:gd name="connsiteX25" fmla="*/ 581265 w 1159037"/>
                  <a:gd name="connsiteY25" fmla="*/ 664919 h 1157513"/>
                  <a:gd name="connsiteX26" fmla="*/ 596989 w 1159037"/>
                  <a:gd name="connsiteY26" fmla="*/ 680619 h 1157513"/>
                  <a:gd name="connsiteX27" fmla="*/ 581265 w 1159037"/>
                  <a:gd name="connsiteY27" fmla="*/ 696319 h 1157513"/>
                  <a:gd name="connsiteX28" fmla="*/ 509076 w 1159037"/>
                  <a:gd name="connsiteY28" fmla="*/ 672055 h 1157513"/>
                  <a:gd name="connsiteX29" fmla="*/ 371130 w 1159037"/>
                  <a:gd name="connsiteY29" fmla="*/ 809789 h 1157513"/>
                  <a:gd name="connsiteX30" fmla="*/ 360409 w 1159037"/>
                  <a:gd name="connsiteY30" fmla="*/ 1095962 h 1157513"/>
                  <a:gd name="connsiteX31" fmla="*/ 61647 w 1159037"/>
                  <a:gd name="connsiteY31" fmla="*/ 1095962 h 1157513"/>
                  <a:gd name="connsiteX32" fmla="*/ 61647 w 1159037"/>
                  <a:gd name="connsiteY32" fmla="*/ 797657 h 1157513"/>
                  <a:gd name="connsiteX33" fmla="*/ 348973 w 1159037"/>
                  <a:gd name="connsiteY33" fmla="*/ 787666 h 1157513"/>
                  <a:gd name="connsiteX34" fmla="*/ 497640 w 1159037"/>
                  <a:gd name="connsiteY34" fmla="*/ 639227 h 1157513"/>
                  <a:gd name="connsiteX35" fmla="*/ 508450 w 1159037"/>
                  <a:gd name="connsiteY35" fmla="*/ 634945 h 1157513"/>
                  <a:gd name="connsiteX36" fmla="*/ 581112 w 1159037"/>
                  <a:gd name="connsiteY36" fmla="*/ 530331 h 1157513"/>
                  <a:gd name="connsiteX37" fmla="*/ 628737 w 1159037"/>
                  <a:gd name="connsiteY37" fmla="*/ 577163 h 1157513"/>
                  <a:gd name="connsiteX38" fmla="*/ 581112 w 1159037"/>
                  <a:gd name="connsiteY38" fmla="*/ 623995 h 1157513"/>
                  <a:gd name="connsiteX39" fmla="*/ 533487 w 1159037"/>
                  <a:gd name="connsiteY39" fmla="*/ 577163 h 1157513"/>
                  <a:gd name="connsiteX40" fmla="*/ 581112 w 1159037"/>
                  <a:gd name="connsiteY40" fmla="*/ 530331 h 1157513"/>
                  <a:gd name="connsiteX41" fmla="*/ 947825 w 1159037"/>
                  <a:gd name="connsiteY41" fmla="*/ 189018 h 1157513"/>
                  <a:gd name="connsiteX42" fmla="*/ 927187 w 1159037"/>
                  <a:gd name="connsiteY42" fmla="*/ 209656 h 1157513"/>
                  <a:gd name="connsiteX43" fmla="*/ 947825 w 1159037"/>
                  <a:gd name="connsiteY43" fmla="*/ 230294 h 1157513"/>
                  <a:gd name="connsiteX44" fmla="*/ 968463 w 1159037"/>
                  <a:gd name="connsiteY44" fmla="*/ 209656 h 1157513"/>
                  <a:gd name="connsiteX45" fmla="*/ 947825 w 1159037"/>
                  <a:gd name="connsiteY45" fmla="*/ 189018 h 1157513"/>
                  <a:gd name="connsiteX46" fmla="*/ 992489 w 1159037"/>
                  <a:gd name="connsiteY46" fmla="*/ 157102 h 1157513"/>
                  <a:gd name="connsiteX47" fmla="*/ 981848 w 1159037"/>
                  <a:gd name="connsiteY47" fmla="*/ 161363 h 1157513"/>
                  <a:gd name="connsiteX48" fmla="*/ 981144 w 1159037"/>
                  <a:gd name="connsiteY48" fmla="*/ 183379 h 1157513"/>
                  <a:gd name="connsiteX49" fmla="*/ 980441 w 1159037"/>
                  <a:gd name="connsiteY49" fmla="*/ 238064 h 1157513"/>
                  <a:gd name="connsiteX50" fmla="*/ 982551 w 1159037"/>
                  <a:gd name="connsiteY50" fmla="*/ 260080 h 1157513"/>
                  <a:gd name="connsiteX51" fmla="*/ 992401 w 1159037"/>
                  <a:gd name="connsiteY51" fmla="*/ 263631 h 1157513"/>
                  <a:gd name="connsiteX52" fmla="*/ 1004362 w 1159037"/>
                  <a:gd name="connsiteY52" fmla="*/ 257239 h 1157513"/>
                  <a:gd name="connsiteX53" fmla="*/ 1003658 w 1159037"/>
                  <a:gd name="connsiteY53" fmla="*/ 161363 h 1157513"/>
                  <a:gd name="connsiteX54" fmla="*/ 992489 w 1159037"/>
                  <a:gd name="connsiteY54" fmla="*/ 157102 h 1157513"/>
                  <a:gd name="connsiteX55" fmla="*/ 903337 w 1159037"/>
                  <a:gd name="connsiteY55" fmla="*/ 157102 h 1157513"/>
                  <a:gd name="connsiteX56" fmla="*/ 892696 w 1159037"/>
                  <a:gd name="connsiteY56" fmla="*/ 161363 h 1157513"/>
                  <a:gd name="connsiteX57" fmla="*/ 891289 w 1159037"/>
                  <a:gd name="connsiteY57" fmla="*/ 257239 h 1157513"/>
                  <a:gd name="connsiteX58" fmla="*/ 903249 w 1159037"/>
                  <a:gd name="connsiteY58" fmla="*/ 263631 h 1157513"/>
                  <a:gd name="connsiteX59" fmla="*/ 913099 w 1159037"/>
                  <a:gd name="connsiteY59" fmla="*/ 260080 h 1157513"/>
                  <a:gd name="connsiteX60" fmla="*/ 915913 w 1159037"/>
                  <a:gd name="connsiteY60" fmla="*/ 238064 h 1157513"/>
                  <a:gd name="connsiteX61" fmla="*/ 914506 w 1159037"/>
                  <a:gd name="connsiteY61" fmla="*/ 183379 h 1157513"/>
                  <a:gd name="connsiteX62" fmla="*/ 914506 w 1159037"/>
                  <a:gd name="connsiteY62" fmla="*/ 161363 h 1157513"/>
                  <a:gd name="connsiteX63" fmla="*/ 903337 w 1159037"/>
                  <a:gd name="connsiteY63" fmla="*/ 157102 h 1157513"/>
                  <a:gd name="connsiteX64" fmla="*/ 1028876 w 1159037"/>
                  <a:gd name="connsiteY64" fmla="*/ 125443 h 1157513"/>
                  <a:gd name="connsiteX65" fmla="*/ 1017675 w 1159037"/>
                  <a:gd name="connsiteY65" fmla="*/ 129622 h 1157513"/>
                  <a:gd name="connsiteX66" fmla="*/ 1017675 w 1159037"/>
                  <a:gd name="connsiteY66" fmla="*/ 152388 h 1157513"/>
                  <a:gd name="connsiteX67" fmla="*/ 1016264 w 1159037"/>
                  <a:gd name="connsiteY67" fmla="*/ 270482 h 1157513"/>
                  <a:gd name="connsiteX68" fmla="*/ 1019086 w 1159037"/>
                  <a:gd name="connsiteY68" fmla="*/ 292535 h 1157513"/>
                  <a:gd name="connsiteX69" fmla="*/ 1028964 w 1159037"/>
                  <a:gd name="connsiteY69" fmla="*/ 295381 h 1157513"/>
                  <a:gd name="connsiteX70" fmla="*/ 1040959 w 1159037"/>
                  <a:gd name="connsiteY70" fmla="*/ 289690 h 1157513"/>
                  <a:gd name="connsiteX71" fmla="*/ 1039547 w 1159037"/>
                  <a:gd name="connsiteY71" fmla="*/ 130334 h 1157513"/>
                  <a:gd name="connsiteX72" fmla="*/ 1028876 w 1159037"/>
                  <a:gd name="connsiteY72" fmla="*/ 125443 h 1157513"/>
                  <a:gd name="connsiteX73" fmla="*/ 867306 w 1159037"/>
                  <a:gd name="connsiteY73" fmla="*/ 125443 h 1157513"/>
                  <a:gd name="connsiteX74" fmla="*/ 856429 w 1159037"/>
                  <a:gd name="connsiteY74" fmla="*/ 130334 h 1157513"/>
                  <a:gd name="connsiteX75" fmla="*/ 854991 w 1159037"/>
                  <a:gd name="connsiteY75" fmla="*/ 289690 h 1157513"/>
                  <a:gd name="connsiteX76" fmla="*/ 867935 w 1159037"/>
                  <a:gd name="connsiteY76" fmla="*/ 295381 h 1157513"/>
                  <a:gd name="connsiteX77" fmla="*/ 877284 w 1159037"/>
                  <a:gd name="connsiteY77" fmla="*/ 292535 h 1157513"/>
                  <a:gd name="connsiteX78" fmla="*/ 880160 w 1159037"/>
                  <a:gd name="connsiteY78" fmla="*/ 270482 h 1157513"/>
                  <a:gd name="connsiteX79" fmla="*/ 879441 w 1159037"/>
                  <a:gd name="connsiteY79" fmla="*/ 152388 h 1157513"/>
                  <a:gd name="connsiteX80" fmla="*/ 878722 w 1159037"/>
                  <a:gd name="connsiteY80" fmla="*/ 129622 h 1157513"/>
                  <a:gd name="connsiteX81" fmla="*/ 867306 w 1159037"/>
                  <a:gd name="connsiteY81" fmla="*/ 125443 h 1157513"/>
                  <a:gd name="connsiteX82" fmla="*/ 1064232 w 1159037"/>
                  <a:gd name="connsiteY82" fmla="*/ 92202 h 1157513"/>
                  <a:gd name="connsiteX83" fmla="*/ 1052756 w 1159037"/>
                  <a:gd name="connsiteY83" fmla="*/ 97029 h 1157513"/>
                  <a:gd name="connsiteX84" fmla="*/ 1052756 w 1159037"/>
                  <a:gd name="connsiteY84" fmla="*/ 119197 h 1157513"/>
                  <a:gd name="connsiteX85" fmla="*/ 1082394 w 1159037"/>
                  <a:gd name="connsiteY85" fmla="*/ 172113 h 1157513"/>
                  <a:gd name="connsiteX86" fmla="*/ 1051310 w 1159037"/>
                  <a:gd name="connsiteY86" fmla="*/ 303690 h 1157513"/>
                  <a:gd name="connsiteX87" fmla="*/ 1054202 w 1159037"/>
                  <a:gd name="connsiteY87" fmla="*/ 325858 h 1157513"/>
                  <a:gd name="connsiteX88" fmla="*/ 1064322 w 1159037"/>
                  <a:gd name="connsiteY88" fmla="*/ 328718 h 1157513"/>
                  <a:gd name="connsiteX89" fmla="*/ 1076611 w 1159037"/>
                  <a:gd name="connsiteY89" fmla="*/ 322997 h 1157513"/>
                  <a:gd name="connsiteX90" fmla="*/ 1113478 w 1159037"/>
                  <a:gd name="connsiteY90" fmla="*/ 162817 h 1157513"/>
                  <a:gd name="connsiteX91" fmla="*/ 1075166 w 1159037"/>
                  <a:gd name="connsiteY91" fmla="*/ 97029 h 1157513"/>
                  <a:gd name="connsiteX92" fmla="*/ 1064232 w 1159037"/>
                  <a:gd name="connsiteY92" fmla="*/ 92202 h 1157513"/>
                  <a:gd name="connsiteX93" fmla="*/ 832198 w 1159037"/>
                  <a:gd name="connsiteY93" fmla="*/ 92202 h 1157513"/>
                  <a:gd name="connsiteX94" fmla="*/ 820879 w 1159037"/>
                  <a:gd name="connsiteY94" fmla="*/ 97029 h 1157513"/>
                  <a:gd name="connsiteX95" fmla="*/ 783801 w 1159037"/>
                  <a:gd name="connsiteY95" fmla="*/ 162817 h 1157513"/>
                  <a:gd name="connsiteX96" fmla="*/ 817314 w 1159037"/>
                  <a:gd name="connsiteY96" fmla="*/ 320137 h 1157513"/>
                  <a:gd name="connsiteX97" fmla="*/ 819453 w 1159037"/>
                  <a:gd name="connsiteY97" fmla="*/ 322997 h 1157513"/>
                  <a:gd name="connsiteX98" fmla="*/ 832287 w 1159037"/>
                  <a:gd name="connsiteY98" fmla="*/ 328718 h 1157513"/>
                  <a:gd name="connsiteX99" fmla="*/ 841557 w 1159037"/>
                  <a:gd name="connsiteY99" fmla="*/ 325858 h 1157513"/>
                  <a:gd name="connsiteX100" fmla="*/ 847261 w 1159037"/>
                  <a:gd name="connsiteY100" fmla="*/ 308696 h 1157513"/>
                  <a:gd name="connsiteX101" fmla="*/ 844409 w 1159037"/>
                  <a:gd name="connsiteY101" fmla="*/ 303690 h 1157513"/>
                  <a:gd name="connsiteX102" fmla="*/ 842983 w 1159037"/>
                  <a:gd name="connsiteY102" fmla="*/ 119197 h 1157513"/>
                  <a:gd name="connsiteX103" fmla="*/ 842983 w 1159037"/>
                  <a:gd name="connsiteY103" fmla="*/ 97029 h 1157513"/>
                  <a:gd name="connsiteX104" fmla="*/ 832198 w 1159037"/>
                  <a:gd name="connsiteY104" fmla="*/ 92202 h 1157513"/>
                  <a:gd name="connsiteX105" fmla="*/ 948141 w 1159037"/>
                  <a:gd name="connsiteY105" fmla="*/ 0 h 1157513"/>
                  <a:gd name="connsiteX106" fmla="*/ 1097351 w 1159037"/>
                  <a:gd name="connsiteY106" fmla="*/ 61597 h 1157513"/>
                  <a:gd name="connsiteX107" fmla="*/ 1097351 w 1159037"/>
                  <a:gd name="connsiteY107" fmla="*/ 360119 h 1157513"/>
                  <a:gd name="connsiteX108" fmla="*/ 810553 w 1159037"/>
                  <a:gd name="connsiteY108" fmla="*/ 370831 h 1157513"/>
                  <a:gd name="connsiteX109" fmla="*/ 664651 w 1159037"/>
                  <a:gd name="connsiteY109" fmla="*/ 516521 h 1157513"/>
                  <a:gd name="connsiteX110" fmla="*/ 653923 w 1159037"/>
                  <a:gd name="connsiteY110" fmla="*/ 520806 h 1157513"/>
                  <a:gd name="connsiteX111" fmla="*/ 642480 w 1159037"/>
                  <a:gd name="connsiteY111" fmla="*/ 516521 h 1157513"/>
                  <a:gd name="connsiteX112" fmla="*/ 580972 w 1159037"/>
                  <a:gd name="connsiteY112" fmla="*/ 490811 h 1157513"/>
                  <a:gd name="connsiteX113" fmla="*/ 565237 w 1159037"/>
                  <a:gd name="connsiteY113" fmla="*/ 475100 h 1157513"/>
                  <a:gd name="connsiteX114" fmla="*/ 580972 w 1159037"/>
                  <a:gd name="connsiteY114" fmla="*/ 459388 h 1157513"/>
                  <a:gd name="connsiteX115" fmla="*/ 653208 w 1159037"/>
                  <a:gd name="connsiteY115" fmla="*/ 483669 h 1157513"/>
                  <a:gd name="connsiteX116" fmla="*/ 788382 w 1159037"/>
                  <a:gd name="connsiteY116" fmla="*/ 348692 h 1157513"/>
                  <a:gd name="connsiteX117" fmla="*/ 798395 w 1159037"/>
                  <a:gd name="connsiteY117" fmla="*/ 61597 h 1157513"/>
                  <a:gd name="connsiteX118" fmla="*/ 948141 w 1159037"/>
                  <a:gd name="connsiteY118" fmla="*/ 0 h 1157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1159037" h="1157513">
                    <a:moveTo>
                      <a:pt x="210432" y="1043093"/>
                    </a:moveTo>
                    <a:cubicBezTo>
                      <a:pt x="218762" y="1043093"/>
                      <a:pt x="225514" y="1049845"/>
                      <a:pt x="225514" y="1058175"/>
                    </a:cubicBezTo>
                    <a:cubicBezTo>
                      <a:pt x="225514" y="1066505"/>
                      <a:pt x="218762" y="1073257"/>
                      <a:pt x="210432" y="1073257"/>
                    </a:cubicBezTo>
                    <a:cubicBezTo>
                      <a:pt x="202102" y="1073257"/>
                      <a:pt x="195350" y="1066505"/>
                      <a:pt x="195350" y="1058175"/>
                    </a:cubicBezTo>
                    <a:cubicBezTo>
                      <a:pt x="195350" y="1049845"/>
                      <a:pt x="202102" y="1043093"/>
                      <a:pt x="210432" y="1043093"/>
                    </a:cubicBezTo>
                    <a:close/>
                    <a:moveTo>
                      <a:pt x="153607" y="817668"/>
                    </a:moveTo>
                    <a:cubicBezTo>
                      <a:pt x="153607" y="817668"/>
                      <a:pt x="153607" y="817668"/>
                      <a:pt x="268843" y="817668"/>
                    </a:cubicBezTo>
                    <a:cubicBezTo>
                      <a:pt x="270990" y="817668"/>
                      <a:pt x="273137" y="819807"/>
                      <a:pt x="273137" y="822659"/>
                    </a:cubicBezTo>
                    <a:cubicBezTo>
                      <a:pt x="273137" y="822659"/>
                      <a:pt x="273137" y="822659"/>
                      <a:pt x="273137" y="1016590"/>
                    </a:cubicBezTo>
                    <a:cubicBezTo>
                      <a:pt x="273137" y="1018729"/>
                      <a:pt x="270990" y="1020868"/>
                      <a:pt x="268843" y="1020868"/>
                    </a:cubicBezTo>
                    <a:cubicBezTo>
                      <a:pt x="268843" y="1020868"/>
                      <a:pt x="268843" y="1020868"/>
                      <a:pt x="153607" y="1020868"/>
                    </a:cubicBezTo>
                    <a:cubicBezTo>
                      <a:pt x="151460" y="1020868"/>
                      <a:pt x="149312" y="1018729"/>
                      <a:pt x="149312" y="1016590"/>
                    </a:cubicBezTo>
                    <a:cubicBezTo>
                      <a:pt x="149312" y="1016590"/>
                      <a:pt x="149312" y="1016590"/>
                      <a:pt x="149312" y="822659"/>
                    </a:cubicBezTo>
                    <a:cubicBezTo>
                      <a:pt x="149312" y="819807"/>
                      <a:pt x="151460" y="817668"/>
                      <a:pt x="153607" y="817668"/>
                    </a:cubicBezTo>
                    <a:close/>
                    <a:moveTo>
                      <a:pt x="139397" y="797031"/>
                    </a:moveTo>
                    <a:cubicBezTo>
                      <a:pt x="133679" y="797031"/>
                      <a:pt x="128676" y="802014"/>
                      <a:pt x="128676" y="807710"/>
                    </a:cubicBezTo>
                    <a:cubicBezTo>
                      <a:pt x="128676" y="807710"/>
                      <a:pt x="128676" y="807710"/>
                      <a:pt x="128676" y="1083216"/>
                    </a:cubicBezTo>
                    <a:cubicBezTo>
                      <a:pt x="128676" y="1089623"/>
                      <a:pt x="133679" y="1093894"/>
                      <a:pt x="139397" y="1093894"/>
                    </a:cubicBezTo>
                    <a:cubicBezTo>
                      <a:pt x="139397" y="1093894"/>
                      <a:pt x="139397" y="1093894"/>
                      <a:pt x="283055" y="1093894"/>
                    </a:cubicBezTo>
                    <a:cubicBezTo>
                      <a:pt x="288773" y="1093894"/>
                      <a:pt x="293776" y="1089623"/>
                      <a:pt x="293776" y="1083216"/>
                    </a:cubicBezTo>
                    <a:lnTo>
                      <a:pt x="293776" y="807710"/>
                    </a:lnTo>
                    <a:cubicBezTo>
                      <a:pt x="293776" y="802014"/>
                      <a:pt x="288773" y="797031"/>
                      <a:pt x="283055" y="797031"/>
                    </a:cubicBezTo>
                    <a:cubicBezTo>
                      <a:pt x="283055" y="797031"/>
                      <a:pt x="283055" y="797031"/>
                      <a:pt x="139397" y="797031"/>
                    </a:cubicBezTo>
                    <a:close/>
                    <a:moveTo>
                      <a:pt x="508450" y="634945"/>
                    </a:moveTo>
                    <a:cubicBezTo>
                      <a:pt x="512471" y="634945"/>
                      <a:pt x="516581" y="636373"/>
                      <a:pt x="519797" y="639227"/>
                    </a:cubicBezTo>
                    <a:cubicBezTo>
                      <a:pt x="536236" y="655641"/>
                      <a:pt x="557678" y="664919"/>
                      <a:pt x="581265" y="664919"/>
                    </a:cubicBezTo>
                    <a:cubicBezTo>
                      <a:pt x="589842" y="664919"/>
                      <a:pt x="596989" y="672055"/>
                      <a:pt x="596989" y="680619"/>
                    </a:cubicBezTo>
                    <a:cubicBezTo>
                      <a:pt x="596989" y="689183"/>
                      <a:pt x="589842" y="696319"/>
                      <a:pt x="581265" y="696319"/>
                    </a:cubicBezTo>
                    <a:cubicBezTo>
                      <a:pt x="554819" y="696319"/>
                      <a:pt x="529803" y="687755"/>
                      <a:pt x="509076" y="672055"/>
                    </a:cubicBezTo>
                    <a:cubicBezTo>
                      <a:pt x="509076" y="672055"/>
                      <a:pt x="509076" y="672055"/>
                      <a:pt x="371130" y="809789"/>
                    </a:cubicBezTo>
                    <a:cubicBezTo>
                      <a:pt x="442605" y="892572"/>
                      <a:pt x="439031" y="1017460"/>
                      <a:pt x="360409" y="1095962"/>
                    </a:cubicBezTo>
                    <a:cubicBezTo>
                      <a:pt x="278214" y="1178031"/>
                      <a:pt x="144557" y="1178031"/>
                      <a:pt x="61647" y="1095962"/>
                    </a:cubicBezTo>
                    <a:cubicBezTo>
                      <a:pt x="-20549" y="1013892"/>
                      <a:pt x="-20549" y="880440"/>
                      <a:pt x="61647" y="797657"/>
                    </a:cubicBezTo>
                    <a:cubicBezTo>
                      <a:pt x="140268" y="719156"/>
                      <a:pt x="266063" y="715588"/>
                      <a:pt x="348973" y="787666"/>
                    </a:cubicBezTo>
                    <a:cubicBezTo>
                      <a:pt x="348973" y="787666"/>
                      <a:pt x="348973" y="787666"/>
                      <a:pt x="497640" y="639227"/>
                    </a:cubicBezTo>
                    <a:cubicBezTo>
                      <a:pt x="500499" y="636373"/>
                      <a:pt x="504430" y="634945"/>
                      <a:pt x="508450" y="634945"/>
                    </a:cubicBezTo>
                    <a:close/>
                    <a:moveTo>
                      <a:pt x="581112" y="530331"/>
                    </a:moveTo>
                    <a:cubicBezTo>
                      <a:pt x="607415" y="530331"/>
                      <a:pt x="628737" y="551298"/>
                      <a:pt x="628737" y="577163"/>
                    </a:cubicBezTo>
                    <a:cubicBezTo>
                      <a:pt x="628737" y="603028"/>
                      <a:pt x="607415" y="623995"/>
                      <a:pt x="581112" y="623995"/>
                    </a:cubicBezTo>
                    <a:cubicBezTo>
                      <a:pt x="554809" y="623995"/>
                      <a:pt x="533487" y="603028"/>
                      <a:pt x="533487" y="577163"/>
                    </a:cubicBezTo>
                    <a:cubicBezTo>
                      <a:pt x="533487" y="551298"/>
                      <a:pt x="554809" y="530331"/>
                      <a:pt x="581112" y="530331"/>
                    </a:cubicBezTo>
                    <a:close/>
                    <a:moveTo>
                      <a:pt x="947825" y="189018"/>
                    </a:moveTo>
                    <a:cubicBezTo>
                      <a:pt x="936427" y="189018"/>
                      <a:pt x="927187" y="198258"/>
                      <a:pt x="927187" y="209656"/>
                    </a:cubicBezTo>
                    <a:cubicBezTo>
                      <a:pt x="927187" y="221054"/>
                      <a:pt x="936427" y="230294"/>
                      <a:pt x="947825" y="230294"/>
                    </a:cubicBezTo>
                    <a:cubicBezTo>
                      <a:pt x="959223" y="230294"/>
                      <a:pt x="968463" y="221054"/>
                      <a:pt x="968463" y="209656"/>
                    </a:cubicBezTo>
                    <a:cubicBezTo>
                      <a:pt x="968463" y="198258"/>
                      <a:pt x="959223" y="189018"/>
                      <a:pt x="947825" y="189018"/>
                    </a:cubicBezTo>
                    <a:close/>
                    <a:moveTo>
                      <a:pt x="992489" y="157102"/>
                    </a:moveTo>
                    <a:cubicBezTo>
                      <a:pt x="988532" y="157102"/>
                      <a:pt x="984662" y="158522"/>
                      <a:pt x="981848" y="161363"/>
                    </a:cubicBezTo>
                    <a:cubicBezTo>
                      <a:pt x="975516" y="167754"/>
                      <a:pt x="975516" y="177697"/>
                      <a:pt x="981144" y="183379"/>
                    </a:cubicBezTo>
                    <a:cubicBezTo>
                      <a:pt x="982551" y="184799"/>
                      <a:pt x="1004362" y="207526"/>
                      <a:pt x="980441" y="238064"/>
                    </a:cubicBezTo>
                    <a:cubicBezTo>
                      <a:pt x="974812" y="245166"/>
                      <a:pt x="976219" y="255109"/>
                      <a:pt x="982551" y="260080"/>
                    </a:cubicBezTo>
                    <a:cubicBezTo>
                      <a:pt x="985366" y="262211"/>
                      <a:pt x="988883" y="263631"/>
                      <a:pt x="992401" y="263631"/>
                    </a:cubicBezTo>
                    <a:cubicBezTo>
                      <a:pt x="997326" y="263631"/>
                      <a:pt x="1001547" y="261501"/>
                      <a:pt x="1004362" y="257239"/>
                    </a:cubicBezTo>
                    <a:cubicBezTo>
                      <a:pt x="1036725" y="216048"/>
                      <a:pt x="1017729" y="176277"/>
                      <a:pt x="1003658" y="161363"/>
                    </a:cubicBezTo>
                    <a:cubicBezTo>
                      <a:pt x="1000492" y="158522"/>
                      <a:pt x="996447" y="157102"/>
                      <a:pt x="992489" y="157102"/>
                    </a:cubicBezTo>
                    <a:close/>
                    <a:moveTo>
                      <a:pt x="903337" y="157102"/>
                    </a:moveTo>
                    <a:cubicBezTo>
                      <a:pt x="899380" y="157102"/>
                      <a:pt x="895510" y="158522"/>
                      <a:pt x="892696" y="161363"/>
                    </a:cubicBezTo>
                    <a:cubicBezTo>
                      <a:pt x="877921" y="176277"/>
                      <a:pt x="858925" y="216048"/>
                      <a:pt x="891289" y="257239"/>
                    </a:cubicBezTo>
                    <a:cubicBezTo>
                      <a:pt x="894103" y="261501"/>
                      <a:pt x="899028" y="263631"/>
                      <a:pt x="903249" y="263631"/>
                    </a:cubicBezTo>
                    <a:cubicBezTo>
                      <a:pt x="906767" y="263631"/>
                      <a:pt x="910285" y="262211"/>
                      <a:pt x="913099" y="260080"/>
                    </a:cubicBezTo>
                    <a:cubicBezTo>
                      <a:pt x="920135" y="255109"/>
                      <a:pt x="920838" y="245166"/>
                      <a:pt x="915913" y="238064"/>
                    </a:cubicBezTo>
                    <a:cubicBezTo>
                      <a:pt x="893400" y="208946"/>
                      <a:pt x="910988" y="187640"/>
                      <a:pt x="914506" y="183379"/>
                    </a:cubicBezTo>
                    <a:cubicBezTo>
                      <a:pt x="920838" y="176987"/>
                      <a:pt x="920135" y="167754"/>
                      <a:pt x="914506" y="161363"/>
                    </a:cubicBezTo>
                    <a:cubicBezTo>
                      <a:pt x="911340" y="158522"/>
                      <a:pt x="907295" y="157102"/>
                      <a:pt x="903337" y="157102"/>
                    </a:cubicBezTo>
                    <a:close/>
                    <a:moveTo>
                      <a:pt x="1028876" y="125443"/>
                    </a:moveTo>
                    <a:cubicBezTo>
                      <a:pt x="1024907" y="125354"/>
                      <a:pt x="1020850" y="126777"/>
                      <a:pt x="1017675" y="129622"/>
                    </a:cubicBezTo>
                    <a:cubicBezTo>
                      <a:pt x="1012031" y="136025"/>
                      <a:pt x="1011325" y="145985"/>
                      <a:pt x="1017675" y="152388"/>
                    </a:cubicBezTo>
                    <a:cubicBezTo>
                      <a:pt x="1019086" y="154522"/>
                      <a:pt x="1065653" y="205032"/>
                      <a:pt x="1016264" y="270482"/>
                    </a:cubicBezTo>
                    <a:cubicBezTo>
                      <a:pt x="1011325" y="276884"/>
                      <a:pt x="1012736" y="286844"/>
                      <a:pt x="1019086" y="292535"/>
                    </a:cubicBezTo>
                    <a:cubicBezTo>
                      <a:pt x="1021909" y="294670"/>
                      <a:pt x="1025436" y="295381"/>
                      <a:pt x="1028964" y="295381"/>
                    </a:cubicBezTo>
                    <a:cubicBezTo>
                      <a:pt x="1033197" y="295381"/>
                      <a:pt x="1038136" y="293247"/>
                      <a:pt x="1040959" y="289690"/>
                    </a:cubicBezTo>
                    <a:cubicBezTo>
                      <a:pt x="1093875" y="219972"/>
                      <a:pt x="1063536" y="155233"/>
                      <a:pt x="1039547" y="130334"/>
                    </a:cubicBezTo>
                    <a:cubicBezTo>
                      <a:pt x="1036725" y="127133"/>
                      <a:pt x="1032845" y="125532"/>
                      <a:pt x="1028876" y="125443"/>
                    </a:cubicBezTo>
                    <a:close/>
                    <a:moveTo>
                      <a:pt x="867306" y="125443"/>
                    </a:moveTo>
                    <a:cubicBezTo>
                      <a:pt x="863261" y="125532"/>
                      <a:pt x="859306" y="127133"/>
                      <a:pt x="856429" y="130334"/>
                    </a:cubicBezTo>
                    <a:cubicBezTo>
                      <a:pt x="832698" y="155233"/>
                      <a:pt x="801775" y="219972"/>
                      <a:pt x="854991" y="289690"/>
                    </a:cubicBezTo>
                    <a:cubicBezTo>
                      <a:pt x="858586" y="293247"/>
                      <a:pt x="862901" y="295381"/>
                      <a:pt x="867935" y="295381"/>
                    </a:cubicBezTo>
                    <a:cubicBezTo>
                      <a:pt x="871531" y="295381"/>
                      <a:pt x="874407" y="294670"/>
                      <a:pt x="877284" y="292535"/>
                    </a:cubicBezTo>
                    <a:cubicBezTo>
                      <a:pt x="884475" y="286844"/>
                      <a:pt x="885913" y="276884"/>
                      <a:pt x="880160" y="270482"/>
                    </a:cubicBezTo>
                    <a:cubicBezTo>
                      <a:pt x="829821" y="205032"/>
                      <a:pt x="877284" y="154522"/>
                      <a:pt x="879441" y="152388"/>
                    </a:cubicBezTo>
                    <a:cubicBezTo>
                      <a:pt x="885194" y="145985"/>
                      <a:pt x="885194" y="136025"/>
                      <a:pt x="878722" y="129622"/>
                    </a:cubicBezTo>
                    <a:cubicBezTo>
                      <a:pt x="875486" y="126777"/>
                      <a:pt x="871351" y="125354"/>
                      <a:pt x="867306" y="125443"/>
                    </a:cubicBezTo>
                    <a:close/>
                    <a:moveTo>
                      <a:pt x="1064232" y="92202"/>
                    </a:moveTo>
                    <a:cubicBezTo>
                      <a:pt x="1060166" y="92202"/>
                      <a:pt x="1056009" y="93811"/>
                      <a:pt x="1052756" y="97029"/>
                    </a:cubicBezTo>
                    <a:cubicBezTo>
                      <a:pt x="1046973" y="102750"/>
                      <a:pt x="1046250" y="112761"/>
                      <a:pt x="1052756" y="119197"/>
                    </a:cubicBezTo>
                    <a:cubicBezTo>
                      <a:pt x="1052756" y="119197"/>
                      <a:pt x="1072997" y="139219"/>
                      <a:pt x="1082394" y="172113"/>
                    </a:cubicBezTo>
                    <a:cubicBezTo>
                      <a:pt x="1096129" y="216449"/>
                      <a:pt x="1085286" y="260069"/>
                      <a:pt x="1051310" y="303690"/>
                    </a:cubicBezTo>
                    <a:cubicBezTo>
                      <a:pt x="1046250" y="310126"/>
                      <a:pt x="1046973" y="320137"/>
                      <a:pt x="1054202" y="325858"/>
                    </a:cubicBezTo>
                    <a:cubicBezTo>
                      <a:pt x="1057094" y="328003"/>
                      <a:pt x="1060708" y="328718"/>
                      <a:pt x="1064322" y="328718"/>
                    </a:cubicBezTo>
                    <a:cubicBezTo>
                      <a:pt x="1068660" y="328718"/>
                      <a:pt x="1073720" y="326573"/>
                      <a:pt x="1076611" y="322997"/>
                    </a:cubicBezTo>
                    <a:cubicBezTo>
                      <a:pt x="1127213" y="258639"/>
                      <a:pt x="1124322" y="200717"/>
                      <a:pt x="1113478" y="162817"/>
                    </a:cubicBezTo>
                    <a:cubicBezTo>
                      <a:pt x="1101189" y="122772"/>
                      <a:pt x="1076611" y="97744"/>
                      <a:pt x="1075166" y="97029"/>
                    </a:cubicBezTo>
                    <a:cubicBezTo>
                      <a:pt x="1072274" y="93811"/>
                      <a:pt x="1068298" y="92202"/>
                      <a:pt x="1064232" y="92202"/>
                    </a:cubicBezTo>
                    <a:close/>
                    <a:moveTo>
                      <a:pt x="832198" y="92202"/>
                    </a:moveTo>
                    <a:cubicBezTo>
                      <a:pt x="828188" y="92202"/>
                      <a:pt x="824088" y="93811"/>
                      <a:pt x="820879" y="97029"/>
                    </a:cubicBezTo>
                    <a:cubicBezTo>
                      <a:pt x="820166" y="97744"/>
                      <a:pt x="795923" y="122772"/>
                      <a:pt x="783801" y="162817"/>
                    </a:cubicBezTo>
                    <a:cubicBezTo>
                      <a:pt x="772393" y="200002"/>
                      <a:pt x="769540" y="256494"/>
                      <a:pt x="817314" y="320137"/>
                    </a:cubicBezTo>
                    <a:cubicBezTo>
                      <a:pt x="818027" y="320852"/>
                      <a:pt x="818740" y="321567"/>
                      <a:pt x="819453" y="322997"/>
                    </a:cubicBezTo>
                    <a:cubicBezTo>
                      <a:pt x="823018" y="326573"/>
                      <a:pt x="827296" y="328718"/>
                      <a:pt x="832287" y="328718"/>
                    </a:cubicBezTo>
                    <a:cubicBezTo>
                      <a:pt x="835853" y="328718"/>
                      <a:pt x="838705" y="328003"/>
                      <a:pt x="841557" y="325858"/>
                    </a:cubicBezTo>
                    <a:cubicBezTo>
                      <a:pt x="847261" y="321567"/>
                      <a:pt x="848687" y="315131"/>
                      <a:pt x="847261" y="308696"/>
                    </a:cubicBezTo>
                    <a:cubicBezTo>
                      <a:pt x="846548" y="307265"/>
                      <a:pt x="845835" y="305120"/>
                      <a:pt x="844409" y="303690"/>
                    </a:cubicBezTo>
                    <a:cubicBezTo>
                      <a:pt x="765262" y="202147"/>
                      <a:pt x="840131" y="122057"/>
                      <a:pt x="842983" y="119197"/>
                    </a:cubicBezTo>
                    <a:cubicBezTo>
                      <a:pt x="849400" y="112761"/>
                      <a:pt x="849400" y="102750"/>
                      <a:pt x="842983" y="97029"/>
                    </a:cubicBezTo>
                    <a:cubicBezTo>
                      <a:pt x="840131" y="93811"/>
                      <a:pt x="836209" y="92202"/>
                      <a:pt x="832198" y="92202"/>
                    </a:cubicBezTo>
                    <a:close/>
                    <a:moveTo>
                      <a:pt x="948141" y="0"/>
                    </a:moveTo>
                    <a:cubicBezTo>
                      <a:pt x="1002229" y="0"/>
                      <a:pt x="1056227" y="20533"/>
                      <a:pt x="1097351" y="61597"/>
                    </a:cubicBezTo>
                    <a:cubicBezTo>
                      <a:pt x="1179600" y="143726"/>
                      <a:pt x="1179600" y="277275"/>
                      <a:pt x="1097351" y="360119"/>
                    </a:cubicBezTo>
                    <a:cubicBezTo>
                      <a:pt x="1018679" y="438677"/>
                      <a:pt x="893517" y="442248"/>
                      <a:pt x="810553" y="370831"/>
                    </a:cubicBezTo>
                    <a:cubicBezTo>
                      <a:pt x="810553" y="370831"/>
                      <a:pt x="810553" y="370831"/>
                      <a:pt x="664651" y="516521"/>
                    </a:cubicBezTo>
                    <a:cubicBezTo>
                      <a:pt x="661790" y="519378"/>
                      <a:pt x="657499" y="520806"/>
                      <a:pt x="653923" y="520806"/>
                    </a:cubicBezTo>
                    <a:cubicBezTo>
                      <a:pt x="649632" y="520806"/>
                      <a:pt x="646056" y="519378"/>
                      <a:pt x="642480" y="516521"/>
                    </a:cubicBezTo>
                    <a:cubicBezTo>
                      <a:pt x="626030" y="500095"/>
                      <a:pt x="604574" y="490811"/>
                      <a:pt x="580972" y="490811"/>
                    </a:cubicBezTo>
                    <a:cubicBezTo>
                      <a:pt x="572389" y="490811"/>
                      <a:pt x="565237" y="483669"/>
                      <a:pt x="565237" y="475100"/>
                    </a:cubicBezTo>
                    <a:cubicBezTo>
                      <a:pt x="565237" y="466530"/>
                      <a:pt x="572389" y="459388"/>
                      <a:pt x="580972" y="459388"/>
                    </a:cubicBezTo>
                    <a:cubicBezTo>
                      <a:pt x="607434" y="459388"/>
                      <a:pt x="632467" y="467958"/>
                      <a:pt x="653208" y="483669"/>
                    </a:cubicBezTo>
                    <a:cubicBezTo>
                      <a:pt x="653208" y="483669"/>
                      <a:pt x="653208" y="483669"/>
                      <a:pt x="788382" y="348692"/>
                    </a:cubicBezTo>
                    <a:cubicBezTo>
                      <a:pt x="716146" y="265849"/>
                      <a:pt x="719722" y="140156"/>
                      <a:pt x="798395" y="61597"/>
                    </a:cubicBezTo>
                    <a:cubicBezTo>
                      <a:pt x="839877" y="20533"/>
                      <a:pt x="894054" y="0"/>
                      <a:pt x="948141" y="0"/>
                    </a:cubicBezTo>
                    <a:close/>
                  </a:path>
                </a:pathLst>
              </a:custGeom>
              <a:solidFill>
                <a:schemeClr val="tx2"/>
              </a:solidFill>
              <a:ln>
                <a:noFill/>
              </a:ln>
            </p:spPr>
            <p:txBody>
              <a:bodyPr vert="horz" wrap="square" lIns="72746" tIns="36373" rIns="72746" bIns="36373" numCol="1" anchor="t" anchorCtr="0" compatLnSpc="1">
                <a:prstTxWarp prst="textNoShape">
                  <a:avLst/>
                </a:prstTxWarp>
                <a:noAutofit/>
              </a:bodyPr>
              <a:lstStyle/>
              <a:p>
                <a:endParaRPr lang="en-US" sz="1559">
                  <a:sym typeface="+mn-lt"/>
                </a:endParaRPr>
              </a:p>
            </p:txBody>
          </p:sp>
          <p:sp>
            <p:nvSpPr>
              <p:cNvPr id="243" name="Freeform 10">
                <a:extLst>
                  <a:ext uri="{FF2B5EF4-FFF2-40B4-BE49-F238E27FC236}">
                    <a16:creationId xmlns:a16="http://schemas.microsoft.com/office/drawing/2014/main" id="{FB0B90CA-FF32-4545-A5B3-5DF0651335EB}"/>
                  </a:ext>
                </a:extLst>
              </p:cNvPr>
              <p:cNvSpPr>
                <a:spLocks/>
              </p:cNvSpPr>
              <p:nvPr/>
            </p:nvSpPr>
            <p:spPr bwMode="auto">
              <a:xfrm>
                <a:off x="6705514" y="2849420"/>
                <a:ext cx="1162223" cy="1160746"/>
              </a:xfrm>
              <a:custGeom>
                <a:avLst/>
                <a:gdLst>
                  <a:gd name="connsiteX0" fmla="*/ 888325 w 1162223"/>
                  <a:gd name="connsiteY0" fmla="*/ 827229 h 1160746"/>
                  <a:gd name="connsiteX1" fmla="*/ 879747 w 1162223"/>
                  <a:gd name="connsiteY1" fmla="*/ 830791 h 1160746"/>
                  <a:gd name="connsiteX2" fmla="*/ 845435 w 1162223"/>
                  <a:gd name="connsiteY2" fmla="*/ 864980 h 1160746"/>
                  <a:gd name="connsiteX3" fmla="*/ 841146 w 1162223"/>
                  <a:gd name="connsiteY3" fmla="*/ 871391 h 1160746"/>
                  <a:gd name="connsiteX4" fmla="*/ 839001 w 1162223"/>
                  <a:gd name="connsiteY4" fmla="*/ 878513 h 1160746"/>
                  <a:gd name="connsiteX5" fmla="*/ 838286 w 1162223"/>
                  <a:gd name="connsiteY5" fmla="*/ 883499 h 1160746"/>
                  <a:gd name="connsiteX6" fmla="*/ 839716 w 1162223"/>
                  <a:gd name="connsiteY6" fmla="*/ 896320 h 1160746"/>
                  <a:gd name="connsiteX7" fmla="*/ 844720 w 1162223"/>
                  <a:gd name="connsiteY7" fmla="*/ 915552 h 1160746"/>
                  <a:gd name="connsiteX8" fmla="*/ 855442 w 1162223"/>
                  <a:gd name="connsiteY8" fmla="*/ 940482 h 1160746"/>
                  <a:gd name="connsiteX9" fmla="*/ 874028 w 1162223"/>
                  <a:gd name="connsiteY9" fmla="*/ 970398 h 1160746"/>
                  <a:gd name="connsiteX10" fmla="*/ 904051 w 1162223"/>
                  <a:gd name="connsiteY10" fmla="*/ 1004587 h 1160746"/>
                  <a:gd name="connsiteX11" fmla="*/ 946942 w 1162223"/>
                  <a:gd name="connsiteY11" fmla="*/ 1040201 h 1160746"/>
                  <a:gd name="connsiteX12" fmla="*/ 983399 w 1162223"/>
                  <a:gd name="connsiteY12" fmla="*/ 1060145 h 1160746"/>
                  <a:gd name="connsiteX13" fmla="*/ 1009848 w 1162223"/>
                  <a:gd name="connsiteY13" fmla="*/ 1068693 h 1160746"/>
                  <a:gd name="connsiteX14" fmla="*/ 1025574 w 1162223"/>
                  <a:gd name="connsiteY14" fmla="*/ 1070117 h 1160746"/>
                  <a:gd name="connsiteX15" fmla="*/ 1029148 w 1162223"/>
                  <a:gd name="connsiteY15" fmla="*/ 1070117 h 1160746"/>
                  <a:gd name="connsiteX16" fmla="*/ 1030578 w 1162223"/>
                  <a:gd name="connsiteY16" fmla="*/ 1070117 h 1160746"/>
                  <a:gd name="connsiteX17" fmla="*/ 1037726 w 1162223"/>
                  <a:gd name="connsiteY17" fmla="*/ 1067268 h 1160746"/>
                  <a:gd name="connsiteX18" fmla="*/ 1044160 w 1162223"/>
                  <a:gd name="connsiteY18" fmla="*/ 1062994 h 1160746"/>
                  <a:gd name="connsiteX19" fmla="*/ 1078472 w 1162223"/>
                  <a:gd name="connsiteY19" fmla="*/ 1029517 h 1160746"/>
                  <a:gd name="connsiteX20" fmla="*/ 1082046 w 1162223"/>
                  <a:gd name="connsiteY20" fmla="*/ 1018833 h 1160746"/>
                  <a:gd name="connsiteX21" fmla="*/ 1075613 w 1162223"/>
                  <a:gd name="connsiteY21" fmla="*/ 1010285 h 1160746"/>
                  <a:gd name="connsiteX22" fmla="*/ 1025574 w 1162223"/>
                  <a:gd name="connsiteY22" fmla="*/ 981082 h 1160746"/>
                  <a:gd name="connsiteX23" fmla="*/ 1018426 w 1162223"/>
                  <a:gd name="connsiteY23" fmla="*/ 979657 h 1160746"/>
                  <a:gd name="connsiteX24" fmla="*/ 1007703 w 1162223"/>
                  <a:gd name="connsiteY24" fmla="*/ 983931 h 1160746"/>
                  <a:gd name="connsiteX25" fmla="*/ 992692 w 1162223"/>
                  <a:gd name="connsiteY25" fmla="*/ 998889 h 1160746"/>
                  <a:gd name="connsiteX26" fmla="*/ 991262 w 1162223"/>
                  <a:gd name="connsiteY26" fmla="*/ 999601 h 1160746"/>
                  <a:gd name="connsiteX27" fmla="*/ 989832 w 1162223"/>
                  <a:gd name="connsiteY27" fmla="*/ 999601 h 1160746"/>
                  <a:gd name="connsiteX28" fmla="*/ 986258 w 1162223"/>
                  <a:gd name="connsiteY28" fmla="*/ 999601 h 1160746"/>
                  <a:gd name="connsiteX29" fmla="*/ 976965 w 1162223"/>
                  <a:gd name="connsiteY29" fmla="*/ 995328 h 1160746"/>
                  <a:gd name="connsiteX30" fmla="*/ 961953 w 1162223"/>
                  <a:gd name="connsiteY30" fmla="*/ 986068 h 1160746"/>
                  <a:gd name="connsiteX31" fmla="*/ 941223 w 1162223"/>
                  <a:gd name="connsiteY31" fmla="*/ 967549 h 1160746"/>
                  <a:gd name="connsiteX32" fmla="*/ 923352 w 1162223"/>
                  <a:gd name="connsiteY32" fmla="*/ 946892 h 1160746"/>
                  <a:gd name="connsiteX33" fmla="*/ 913344 w 1162223"/>
                  <a:gd name="connsiteY33" fmla="*/ 931935 h 1160746"/>
                  <a:gd name="connsiteX34" fmla="*/ 909055 w 1162223"/>
                  <a:gd name="connsiteY34" fmla="*/ 919826 h 1160746"/>
                  <a:gd name="connsiteX35" fmla="*/ 909055 w 1162223"/>
                  <a:gd name="connsiteY35" fmla="*/ 917689 h 1160746"/>
                  <a:gd name="connsiteX36" fmla="*/ 910485 w 1162223"/>
                  <a:gd name="connsiteY36" fmla="*/ 916264 h 1160746"/>
                  <a:gd name="connsiteX37" fmla="*/ 922637 w 1162223"/>
                  <a:gd name="connsiteY37" fmla="*/ 903443 h 1160746"/>
                  <a:gd name="connsiteX38" fmla="*/ 926926 w 1162223"/>
                  <a:gd name="connsiteY38" fmla="*/ 895608 h 1160746"/>
                  <a:gd name="connsiteX39" fmla="*/ 926211 w 1162223"/>
                  <a:gd name="connsiteY39" fmla="*/ 886348 h 1160746"/>
                  <a:gd name="connsiteX40" fmla="*/ 898333 w 1162223"/>
                  <a:gd name="connsiteY40" fmla="*/ 834352 h 1160746"/>
                  <a:gd name="connsiteX41" fmla="*/ 894044 w 1162223"/>
                  <a:gd name="connsiteY41" fmla="*/ 829366 h 1160746"/>
                  <a:gd name="connsiteX42" fmla="*/ 888325 w 1162223"/>
                  <a:gd name="connsiteY42" fmla="*/ 827229 h 1160746"/>
                  <a:gd name="connsiteX43" fmla="*/ 683850 w 1162223"/>
                  <a:gd name="connsiteY43" fmla="*/ 565292 h 1160746"/>
                  <a:gd name="connsiteX44" fmla="*/ 699576 w 1162223"/>
                  <a:gd name="connsiteY44" fmla="*/ 580976 h 1160746"/>
                  <a:gd name="connsiteX45" fmla="*/ 675273 w 1162223"/>
                  <a:gd name="connsiteY45" fmla="*/ 652979 h 1160746"/>
                  <a:gd name="connsiteX46" fmla="*/ 813228 w 1162223"/>
                  <a:gd name="connsiteY46" fmla="*/ 790570 h 1160746"/>
                  <a:gd name="connsiteX47" fmla="*/ 1100573 w 1162223"/>
                  <a:gd name="connsiteY47" fmla="*/ 801264 h 1160746"/>
                  <a:gd name="connsiteX48" fmla="*/ 1100573 w 1162223"/>
                  <a:gd name="connsiteY48" fmla="*/ 1099258 h 1160746"/>
                  <a:gd name="connsiteX49" fmla="*/ 801791 w 1162223"/>
                  <a:gd name="connsiteY49" fmla="*/ 1099258 h 1160746"/>
                  <a:gd name="connsiteX50" fmla="*/ 791069 w 1162223"/>
                  <a:gd name="connsiteY50" fmla="*/ 812670 h 1160746"/>
                  <a:gd name="connsiteX51" fmla="*/ 642393 w 1162223"/>
                  <a:gd name="connsiteY51" fmla="*/ 664386 h 1160746"/>
                  <a:gd name="connsiteX52" fmla="*/ 642393 w 1162223"/>
                  <a:gd name="connsiteY52" fmla="*/ 642286 h 1160746"/>
                  <a:gd name="connsiteX53" fmla="*/ 668125 w 1162223"/>
                  <a:gd name="connsiteY53" fmla="*/ 580976 h 1160746"/>
                  <a:gd name="connsiteX54" fmla="*/ 683850 w 1162223"/>
                  <a:gd name="connsiteY54" fmla="*/ 565292 h 1160746"/>
                  <a:gd name="connsiteX55" fmla="*/ 95011 w 1162223"/>
                  <a:gd name="connsiteY55" fmla="*/ 135079 h 1160746"/>
                  <a:gd name="connsiteX56" fmla="*/ 326562 w 1162223"/>
                  <a:gd name="connsiteY56" fmla="*/ 135079 h 1160746"/>
                  <a:gd name="connsiteX57" fmla="*/ 328699 w 1162223"/>
                  <a:gd name="connsiteY57" fmla="*/ 137966 h 1160746"/>
                  <a:gd name="connsiteX58" fmla="*/ 328699 w 1162223"/>
                  <a:gd name="connsiteY58" fmla="*/ 251977 h 1160746"/>
                  <a:gd name="connsiteX59" fmla="*/ 326562 w 1162223"/>
                  <a:gd name="connsiteY59" fmla="*/ 254142 h 1160746"/>
                  <a:gd name="connsiteX60" fmla="*/ 225392 w 1162223"/>
                  <a:gd name="connsiteY60" fmla="*/ 254142 h 1160746"/>
                  <a:gd name="connsiteX61" fmla="*/ 195469 w 1162223"/>
                  <a:gd name="connsiteY61" fmla="*/ 254142 h 1160746"/>
                  <a:gd name="connsiteX62" fmla="*/ 95011 w 1162223"/>
                  <a:gd name="connsiteY62" fmla="*/ 254142 h 1160746"/>
                  <a:gd name="connsiteX63" fmla="*/ 92161 w 1162223"/>
                  <a:gd name="connsiteY63" fmla="*/ 251977 h 1160746"/>
                  <a:gd name="connsiteX64" fmla="*/ 92161 w 1162223"/>
                  <a:gd name="connsiteY64" fmla="*/ 137966 h 1160746"/>
                  <a:gd name="connsiteX65" fmla="*/ 95011 w 1162223"/>
                  <a:gd name="connsiteY65" fmla="*/ 135079 h 1160746"/>
                  <a:gd name="connsiteX66" fmla="*/ 74941 w 1162223"/>
                  <a:gd name="connsiteY66" fmla="*/ 114442 h 1160746"/>
                  <a:gd name="connsiteX67" fmla="*/ 69936 w 1162223"/>
                  <a:gd name="connsiteY67" fmla="*/ 119418 h 1160746"/>
                  <a:gd name="connsiteX68" fmla="*/ 69936 w 1162223"/>
                  <a:gd name="connsiteY68" fmla="*/ 269401 h 1160746"/>
                  <a:gd name="connsiteX69" fmla="*/ 74941 w 1162223"/>
                  <a:gd name="connsiteY69" fmla="*/ 275088 h 1160746"/>
                  <a:gd name="connsiteX70" fmla="*/ 186478 w 1162223"/>
                  <a:gd name="connsiteY70" fmla="*/ 275088 h 1160746"/>
                  <a:gd name="connsiteX71" fmla="*/ 186478 w 1162223"/>
                  <a:gd name="connsiteY71" fmla="*/ 278642 h 1160746"/>
                  <a:gd name="connsiteX72" fmla="*/ 167174 w 1162223"/>
                  <a:gd name="connsiteY72" fmla="*/ 295701 h 1160746"/>
                  <a:gd name="connsiteX73" fmla="*/ 165744 w 1162223"/>
                  <a:gd name="connsiteY73" fmla="*/ 301388 h 1160746"/>
                  <a:gd name="connsiteX74" fmla="*/ 170749 w 1162223"/>
                  <a:gd name="connsiteY74" fmla="*/ 304942 h 1160746"/>
                  <a:gd name="connsiteX75" fmla="*/ 250112 w 1162223"/>
                  <a:gd name="connsiteY75" fmla="*/ 304942 h 1160746"/>
                  <a:gd name="connsiteX76" fmla="*/ 255117 w 1162223"/>
                  <a:gd name="connsiteY76" fmla="*/ 301388 h 1160746"/>
                  <a:gd name="connsiteX77" fmla="*/ 253687 w 1162223"/>
                  <a:gd name="connsiteY77" fmla="*/ 295701 h 1160746"/>
                  <a:gd name="connsiteX78" fmla="*/ 233667 w 1162223"/>
                  <a:gd name="connsiteY78" fmla="*/ 278642 h 1160746"/>
                  <a:gd name="connsiteX79" fmla="*/ 233667 w 1162223"/>
                  <a:gd name="connsiteY79" fmla="*/ 275088 h 1160746"/>
                  <a:gd name="connsiteX80" fmla="*/ 345204 w 1162223"/>
                  <a:gd name="connsiteY80" fmla="*/ 275088 h 1160746"/>
                  <a:gd name="connsiteX81" fmla="*/ 350924 w 1162223"/>
                  <a:gd name="connsiteY81" fmla="*/ 269401 h 1160746"/>
                  <a:gd name="connsiteX82" fmla="*/ 350924 w 1162223"/>
                  <a:gd name="connsiteY82" fmla="*/ 119418 h 1160746"/>
                  <a:gd name="connsiteX83" fmla="*/ 345204 w 1162223"/>
                  <a:gd name="connsiteY83" fmla="*/ 114442 h 1160746"/>
                  <a:gd name="connsiteX84" fmla="*/ 74941 w 1162223"/>
                  <a:gd name="connsiteY84" fmla="*/ 114442 h 1160746"/>
                  <a:gd name="connsiteX85" fmla="*/ 211309 w 1162223"/>
                  <a:gd name="connsiteY85" fmla="*/ 0 h 1160746"/>
                  <a:gd name="connsiteX86" fmla="*/ 360433 w 1162223"/>
                  <a:gd name="connsiteY86" fmla="*/ 61488 h 1160746"/>
                  <a:gd name="connsiteX87" fmla="*/ 371154 w 1162223"/>
                  <a:gd name="connsiteY87" fmla="*/ 348076 h 1160746"/>
                  <a:gd name="connsiteX88" fmla="*/ 519831 w 1162223"/>
                  <a:gd name="connsiteY88" fmla="*/ 496360 h 1160746"/>
                  <a:gd name="connsiteX89" fmla="*/ 519831 w 1162223"/>
                  <a:gd name="connsiteY89" fmla="*/ 518460 h 1160746"/>
                  <a:gd name="connsiteX90" fmla="*/ 494098 w 1162223"/>
                  <a:gd name="connsiteY90" fmla="*/ 579770 h 1160746"/>
                  <a:gd name="connsiteX91" fmla="*/ 478373 w 1162223"/>
                  <a:gd name="connsiteY91" fmla="*/ 595454 h 1160746"/>
                  <a:gd name="connsiteX92" fmla="*/ 462648 w 1162223"/>
                  <a:gd name="connsiteY92" fmla="*/ 579770 h 1160746"/>
                  <a:gd name="connsiteX93" fmla="*/ 486951 w 1162223"/>
                  <a:gd name="connsiteY93" fmla="*/ 507767 h 1160746"/>
                  <a:gd name="connsiteX94" fmla="*/ 348996 w 1162223"/>
                  <a:gd name="connsiteY94" fmla="*/ 370176 h 1160746"/>
                  <a:gd name="connsiteX95" fmla="*/ 61650 w 1162223"/>
                  <a:gd name="connsiteY95" fmla="*/ 359483 h 1160746"/>
                  <a:gd name="connsiteX96" fmla="*/ 61650 w 1162223"/>
                  <a:gd name="connsiteY96" fmla="*/ 61488 h 1160746"/>
                  <a:gd name="connsiteX97" fmla="*/ 211309 w 1162223"/>
                  <a:gd name="connsiteY97" fmla="*/ 0 h 1160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162223" h="1160746">
                    <a:moveTo>
                      <a:pt x="888325" y="827229"/>
                    </a:moveTo>
                    <a:cubicBezTo>
                      <a:pt x="884751" y="827229"/>
                      <a:pt x="881891" y="828654"/>
                      <a:pt x="879747" y="830791"/>
                    </a:cubicBezTo>
                    <a:cubicBezTo>
                      <a:pt x="879747" y="830791"/>
                      <a:pt x="879747" y="830791"/>
                      <a:pt x="845435" y="864980"/>
                    </a:cubicBezTo>
                    <a:cubicBezTo>
                      <a:pt x="844005" y="866405"/>
                      <a:pt x="842575" y="868541"/>
                      <a:pt x="841146" y="871391"/>
                    </a:cubicBezTo>
                    <a:cubicBezTo>
                      <a:pt x="839716" y="873527"/>
                      <a:pt x="839001" y="876377"/>
                      <a:pt x="839001" y="878513"/>
                    </a:cubicBezTo>
                    <a:cubicBezTo>
                      <a:pt x="839001" y="879226"/>
                      <a:pt x="839001" y="880650"/>
                      <a:pt x="838286" y="883499"/>
                    </a:cubicBezTo>
                    <a:cubicBezTo>
                      <a:pt x="838286" y="887061"/>
                      <a:pt x="839001" y="891334"/>
                      <a:pt x="839716" y="896320"/>
                    </a:cubicBezTo>
                    <a:cubicBezTo>
                      <a:pt x="840431" y="902019"/>
                      <a:pt x="841860" y="908429"/>
                      <a:pt x="844720" y="915552"/>
                    </a:cubicBezTo>
                    <a:cubicBezTo>
                      <a:pt x="846864" y="923387"/>
                      <a:pt x="850439" y="931222"/>
                      <a:pt x="855442" y="940482"/>
                    </a:cubicBezTo>
                    <a:cubicBezTo>
                      <a:pt x="859731" y="949742"/>
                      <a:pt x="866165" y="959713"/>
                      <a:pt x="874028" y="970398"/>
                    </a:cubicBezTo>
                    <a:cubicBezTo>
                      <a:pt x="882606" y="981082"/>
                      <a:pt x="891899" y="992478"/>
                      <a:pt x="904051" y="1004587"/>
                    </a:cubicBezTo>
                    <a:cubicBezTo>
                      <a:pt x="919063" y="1019545"/>
                      <a:pt x="933360" y="1031654"/>
                      <a:pt x="946942" y="1040201"/>
                    </a:cubicBezTo>
                    <a:cubicBezTo>
                      <a:pt x="960524" y="1049461"/>
                      <a:pt x="972676" y="1055872"/>
                      <a:pt x="983399" y="1060145"/>
                    </a:cubicBezTo>
                    <a:cubicBezTo>
                      <a:pt x="993406" y="1064419"/>
                      <a:pt x="1002699" y="1067268"/>
                      <a:pt x="1009848" y="1068693"/>
                    </a:cubicBezTo>
                    <a:cubicBezTo>
                      <a:pt x="1016996" y="1069405"/>
                      <a:pt x="1022715" y="1070117"/>
                      <a:pt x="1025574" y="1070117"/>
                    </a:cubicBezTo>
                    <a:cubicBezTo>
                      <a:pt x="1027004" y="1070117"/>
                      <a:pt x="1028433" y="1070117"/>
                      <a:pt x="1029148" y="1070117"/>
                    </a:cubicBezTo>
                    <a:cubicBezTo>
                      <a:pt x="1029863" y="1070117"/>
                      <a:pt x="1030578" y="1070117"/>
                      <a:pt x="1030578" y="1070117"/>
                    </a:cubicBezTo>
                    <a:cubicBezTo>
                      <a:pt x="1033437" y="1069405"/>
                      <a:pt x="1035582" y="1068693"/>
                      <a:pt x="1037726" y="1067268"/>
                    </a:cubicBezTo>
                    <a:cubicBezTo>
                      <a:pt x="1040586" y="1066556"/>
                      <a:pt x="1042730" y="1065131"/>
                      <a:pt x="1044160" y="1062994"/>
                    </a:cubicBezTo>
                    <a:cubicBezTo>
                      <a:pt x="1044160" y="1062994"/>
                      <a:pt x="1044160" y="1062994"/>
                      <a:pt x="1078472" y="1029517"/>
                    </a:cubicBezTo>
                    <a:cubicBezTo>
                      <a:pt x="1081332" y="1026668"/>
                      <a:pt x="1082761" y="1023107"/>
                      <a:pt x="1082046" y="1018833"/>
                    </a:cubicBezTo>
                    <a:cubicBezTo>
                      <a:pt x="1081332" y="1015271"/>
                      <a:pt x="1079187" y="1012422"/>
                      <a:pt x="1075613" y="1010285"/>
                    </a:cubicBezTo>
                    <a:cubicBezTo>
                      <a:pt x="1075613" y="1010285"/>
                      <a:pt x="1075613" y="1010285"/>
                      <a:pt x="1025574" y="981082"/>
                    </a:cubicBezTo>
                    <a:cubicBezTo>
                      <a:pt x="1024144" y="980370"/>
                      <a:pt x="1021285" y="979657"/>
                      <a:pt x="1018426" y="979657"/>
                    </a:cubicBezTo>
                    <a:cubicBezTo>
                      <a:pt x="1014137" y="979657"/>
                      <a:pt x="1010562" y="981082"/>
                      <a:pt x="1007703" y="983931"/>
                    </a:cubicBezTo>
                    <a:cubicBezTo>
                      <a:pt x="1007703" y="983931"/>
                      <a:pt x="1007703" y="983931"/>
                      <a:pt x="992692" y="998889"/>
                    </a:cubicBezTo>
                    <a:cubicBezTo>
                      <a:pt x="992692" y="998889"/>
                      <a:pt x="991977" y="999601"/>
                      <a:pt x="991262" y="999601"/>
                    </a:cubicBezTo>
                    <a:cubicBezTo>
                      <a:pt x="990547" y="999601"/>
                      <a:pt x="989832" y="999601"/>
                      <a:pt x="989832" y="999601"/>
                    </a:cubicBezTo>
                    <a:cubicBezTo>
                      <a:pt x="989832" y="999601"/>
                      <a:pt x="989832" y="999601"/>
                      <a:pt x="986258" y="999601"/>
                    </a:cubicBezTo>
                    <a:cubicBezTo>
                      <a:pt x="984113" y="998889"/>
                      <a:pt x="981254" y="997464"/>
                      <a:pt x="976965" y="995328"/>
                    </a:cubicBezTo>
                    <a:cubicBezTo>
                      <a:pt x="973391" y="993191"/>
                      <a:pt x="968387" y="990342"/>
                      <a:pt x="961953" y="986068"/>
                    </a:cubicBezTo>
                    <a:cubicBezTo>
                      <a:pt x="956235" y="981794"/>
                      <a:pt x="949086" y="975384"/>
                      <a:pt x="941223" y="967549"/>
                    </a:cubicBezTo>
                    <a:cubicBezTo>
                      <a:pt x="933360" y="959713"/>
                      <a:pt x="927641" y="953303"/>
                      <a:pt x="923352" y="946892"/>
                    </a:cubicBezTo>
                    <a:cubicBezTo>
                      <a:pt x="919063" y="941194"/>
                      <a:pt x="915489" y="936208"/>
                      <a:pt x="913344" y="931935"/>
                    </a:cubicBezTo>
                    <a:cubicBezTo>
                      <a:pt x="911200" y="927661"/>
                      <a:pt x="909770" y="923387"/>
                      <a:pt x="909055" y="919826"/>
                    </a:cubicBezTo>
                    <a:cubicBezTo>
                      <a:pt x="909055" y="919113"/>
                      <a:pt x="909055" y="918401"/>
                      <a:pt x="909055" y="917689"/>
                    </a:cubicBezTo>
                    <a:cubicBezTo>
                      <a:pt x="909770" y="916977"/>
                      <a:pt x="909770" y="916264"/>
                      <a:pt x="910485" y="916264"/>
                    </a:cubicBezTo>
                    <a:cubicBezTo>
                      <a:pt x="910485" y="916264"/>
                      <a:pt x="910485" y="916264"/>
                      <a:pt x="922637" y="903443"/>
                    </a:cubicBezTo>
                    <a:cubicBezTo>
                      <a:pt x="924782" y="901306"/>
                      <a:pt x="926211" y="898457"/>
                      <a:pt x="926926" y="895608"/>
                    </a:cubicBezTo>
                    <a:cubicBezTo>
                      <a:pt x="927641" y="892047"/>
                      <a:pt x="927641" y="889198"/>
                      <a:pt x="926211" y="886348"/>
                    </a:cubicBezTo>
                    <a:cubicBezTo>
                      <a:pt x="926211" y="886348"/>
                      <a:pt x="926211" y="886348"/>
                      <a:pt x="898333" y="834352"/>
                    </a:cubicBezTo>
                    <a:cubicBezTo>
                      <a:pt x="896903" y="832215"/>
                      <a:pt x="895473" y="830791"/>
                      <a:pt x="894044" y="829366"/>
                    </a:cubicBezTo>
                    <a:cubicBezTo>
                      <a:pt x="891899" y="827941"/>
                      <a:pt x="890470" y="827229"/>
                      <a:pt x="888325" y="827229"/>
                    </a:cubicBezTo>
                    <a:close/>
                    <a:moveTo>
                      <a:pt x="683850" y="565292"/>
                    </a:moveTo>
                    <a:cubicBezTo>
                      <a:pt x="692428" y="565292"/>
                      <a:pt x="699576" y="572421"/>
                      <a:pt x="699576" y="580976"/>
                    </a:cubicBezTo>
                    <a:cubicBezTo>
                      <a:pt x="699576" y="607354"/>
                      <a:pt x="690998" y="632305"/>
                      <a:pt x="675273" y="652979"/>
                    </a:cubicBezTo>
                    <a:cubicBezTo>
                      <a:pt x="675273" y="652979"/>
                      <a:pt x="675273" y="652979"/>
                      <a:pt x="813228" y="790570"/>
                    </a:cubicBezTo>
                    <a:cubicBezTo>
                      <a:pt x="896143" y="719280"/>
                      <a:pt x="1021946" y="722844"/>
                      <a:pt x="1100573" y="801264"/>
                    </a:cubicBezTo>
                    <a:cubicBezTo>
                      <a:pt x="1182774" y="883248"/>
                      <a:pt x="1182774" y="1016561"/>
                      <a:pt x="1100573" y="1099258"/>
                    </a:cubicBezTo>
                    <a:cubicBezTo>
                      <a:pt x="1017658" y="1181242"/>
                      <a:pt x="883992" y="1181242"/>
                      <a:pt x="801791" y="1099258"/>
                    </a:cubicBezTo>
                    <a:cubicBezTo>
                      <a:pt x="723164" y="1020838"/>
                      <a:pt x="719590" y="895367"/>
                      <a:pt x="791069" y="812670"/>
                    </a:cubicBezTo>
                    <a:cubicBezTo>
                      <a:pt x="791069" y="812670"/>
                      <a:pt x="791069" y="812670"/>
                      <a:pt x="642393" y="664386"/>
                    </a:cubicBezTo>
                    <a:cubicBezTo>
                      <a:pt x="636674" y="658683"/>
                      <a:pt x="636674" y="648702"/>
                      <a:pt x="642393" y="642286"/>
                    </a:cubicBezTo>
                    <a:cubicBezTo>
                      <a:pt x="658833" y="625889"/>
                      <a:pt x="668125" y="604502"/>
                      <a:pt x="668125" y="580976"/>
                    </a:cubicBezTo>
                    <a:cubicBezTo>
                      <a:pt x="668125" y="572421"/>
                      <a:pt x="675273" y="565292"/>
                      <a:pt x="683850" y="565292"/>
                    </a:cubicBezTo>
                    <a:close/>
                    <a:moveTo>
                      <a:pt x="95011" y="135079"/>
                    </a:moveTo>
                    <a:cubicBezTo>
                      <a:pt x="95011" y="135079"/>
                      <a:pt x="95011" y="135079"/>
                      <a:pt x="326562" y="135079"/>
                    </a:cubicBezTo>
                    <a:cubicBezTo>
                      <a:pt x="327274" y="135079"/>
                      <a:pt x="328699" y="136522"/>
                      <a:pt x="328699" y="137966"/>
                    </a:cubicBezTo>
                    <a:cubicBezTo>
                      <a:pt x="328699" y="137966"/>
                      <a:pt x="328699" y="137966"/>
                      <a:pt x="328699" y="251977"/>
                    </a:cubicBezTo>
                    <a:cubicBezTo>
                      <a:pt x="328699" y="252699"/>
                      <a:pt x="327274" y="254142"/>
                      <a:pt x="326562" y="254142"/>
                    </a:cubicBezTo>
                    <a:cubicBezTo>
                      <a:pt x="326562" y="254142"/>
                      <a:pt x="326562" y="254142"/>
                      <a:pt x="225392" y="254142"/>
                    </a:cubicBezTo>
                    <a:cubicBezTo>
                      <a:pt x="217555" y="254142"/>
                      <a:pt x="203306" y="254142"/>
                      <a:pt x="195469" y="254142"/>
                    </a:cubicBezTo>
                    <a:cubicBezTo>
                      <a:pt x="195469" y="254142"/>
                      <a:pt x="195469" y="254142"/>
                      <a:pt x="95011" y="254142"/>
                    </a:cubicBezTo>
                    <a:cubicBezTo>
                      <a:pt x="93586" y="254142"/>
                      <a:pt x="92161" y="252699"/>
                      <a:pt x="92161" y="251977"/>
                    </a:cubicBezTo>
                    <a:cubicBezTo>
                      <a:pt x="92161" y="251977"/>
                      <a:pt x="92161" y="251977"/>
                      <a:pt x="92161" y="137966"/>
                    </a:cubicBezTo>
                    <a:cubicBezTo>
                      <a:pt x="92161" y="136522"/>
                      <a:pt x="93586" y="135079"/>
                      <a:pt x="95011" y="135079"/>
                    </a:cubicBezTo>
                    <a:close/>
                    <a:moveTo>
                      <a:pt x="74941" y="114442"/>
                    </a:moveTo>
                    <a:cubicBezTo>
                      <a:pt x="72081" y="114442"/>
                      <a:pt x="69936" y="116575"/>
                      <a:pt x="69936" y="119418"/>
                    </a:cubicBezTo>
                    <a:cubicBezTo>
                      <a:pt x="69936" y="119418"/>
                      <a:pt x="69936" y="119418"/>
                      <a:pt x="69936" y="269401"/>
                    </a:cubicBezTo>
                    <a:cubicBezTo>
                      <a:pt x="69936" y="272244"/>
                      <a:pt x="72081" y="275088"/>
                      <a:pt x="74941" y="275088"/>
                    </a:cubicBezTo>
                    <a:cubicBezTo>
                      <a:pt x="74941" y="275088"/>
                      <a:pt x="74941" y="275088"/>
                      <a:pt x="186478" y="275088"/>
                    </a:cubicBezTo>
                    <a:cubicBezTo>
                      <a:pt x="186478" y="275088"/>
                      <a:pt x="186478" y="275088"/>
                      <a:pt x="186478" y="278642"/>
                    </a:cubicBezTo>
                    <a:cubicBezTo>
                      <a:pt x="186478" y="278642"/>
                      <a:pt x="186478" y="278642"/>
                      <a:pt x="167174" y="295701"/>
                    </a:cubicBezTo>
                    <a:cubicBezTo>
                      <a:pt x="165029" y="297123"/>
                      <a:pt x="165029" y="299256"/>
                      <a:pt x="165744" y="301388"/>
                    </a:cubicBezTo>
                    <a:cubicBezTo>
                      <a:pt x="166459" y="303520"/>
                      <a:pt x="168604" y="304942"/>
                      <a:pt x="170749" y="304942"/>
                    </a:cubicBezTo>
                    <a:cubicBezTo>
                      <a:pt x="170749" y="304942"/>
                      <a:pt x="170749" y="304942"/>
                      <a:pt x="250112" y="304942"/>
                    </a:cubicBezTo>
                    <a:cubicBezTo>
                      <a:pt x="252257" y="304942"/>
                      <a:pt x="254402" y="303520"/>
                      <a:pt x="255117" y="301388"/>
                    </a:cubicBezTo>
                    <a:cubicBezTo>
                      <a:pt x="255832" y="299256"/>
                      <a:pt x="255117" y="297123"/>
                      <a:pt x="253687" y="295701"/>
                    </a:cubicBezTo>
                    <a:cubicBezTo>
                      <a:pt x="253687" y="295701"/>
                      <a:pt x="253687" y="295701"/>
                      <a:pt x="233667" y="278642"/>
                    </a:cubicBezTo>
                    <a:cubicBezTo>
                      <a:pt x="233667" y="278642"/>
                      <a:pt x="233667" y="278642"/>
                      <a:pt x="233667" y="275088"/>
                    </a:cubicBezTo>
                    <a:cubicBezTo>
                      <a:pt x="233667" y="275088"/>
                      <a:pt x="233667" y="275088"/>
                      <a:pt x="345204" y="275088"/>
                    </a:cubicBezTo>
                    <a:cubicBezTo>
                      <a:pt x="348064" y="275088"/>
                      <a:pt x="350924" y="272244"/>
                      <a:pt x="350924" y="269401"/>
                    </a:cubicBezTo>
                    <a:cubicBezTo>
                      <a:pt x="350924" y="269401"/>
                      <a:pt x="350924" y="269401"/>
                      <a:pt x="350924" y="119418"/>
                    </a:cubicBezTo>
                    <a:cubicBezTo>
                      <a:pt x="350924" y="116575"/>
                      <a:pt x="348064" y="114442"/>
                      <a:pt x="345204" y="114442"/>
                    </a:cubicBezTo>
                    <a:cubicBezTo>
                      <a:pt x="345204" y="114442"/>
                      <a:pt x="345204" y="114442"/>
                      <a:pt x="74941" y="114442"/>
                    </a:cubicBezTo>
                    <a:close/>
                    <a:moveTo>
                      <a:pt x="211309" y="0"/>
                    </a:moveTo>
                    <a:cubicBezTo>
                      <a:pt x="265366" y="0"/>
                      <a:pt x="319332" y="20496"/>
                      <a:pt x="360433" y="61488"/>
                    </a:cubicBezTo>
                    <a:cubicBezTo>
                      <a:pt x="439060" y="139908"/>
                      <a:pt x="442634" y="265379"/>
                      <a:pt x="371154" y="348076"/>
                    </a:cubicBezTo>
                    <a:lnTo>
                      <a:pt x="519831" y="496360"/>
                    </a:lnTo>
                    <a:cubicBezTo>
                      <a:pt x="525549" y="502064"/>
                      <a:pt x="525549" y="512044"/>
                      <a:pt x="519831" y="518460"/>
                    </a:cubicBezTo>
                    <a:cubicBezTo>
                      <a:pt x="503391" y="534857"/>
                      <a:pt x="494098" y="556244"/>
                      <a:pt x="494098" y="579770"/>
                    </a:cubicBezTo>
                    <a:cubicBezTo>
                      <a:pt x="494098" y="588325"/>
                      <a:pt x="486951" y="595454"/>
                      <a:pt x="478373" y="595454"/>
                    </a:cubicBezTo>
                    <a:cubicBezTo>
                      <a:pt x="469796" y="595454"/>
                      <a:pt x="462648" y="588325"/>
                      <a:pt x="462648" y="579770"/>
                    </a:cubicBezTo>
                    <a:cubicBezTo>
                      <a:pt x="462648" y="553393"/>
                      <a:pt x="471225" y="528441"/>
                      <a:pt x="486951" y="507767"/>
                    </a:cubicBezTo>
                    <a:cubicBezTo>
                      <a:pt x="486951" y="507767"/>
                      <a:pt x="486951" y="507767"/>
                      <a:pt x="348996" y="370176"/>
                    </a:cubicBezTo>
                    <a:cubicBezTo>
                      <a:pt x="266080" y="441467"/>
                      <a:pt x="140277" y="437902"/>
                      <a:pt x="61650" y="359483"/>
                    </a:cubicBezTo>
                    <a:cubicBezTo>
                      <a:pt x="-20551" y="277498"/>
                      <a:pt x="-20551" y="144185"/>
                      <a:pt x="61650" y="61488"/>
                    </a:cubicBezTo>
                    <a:cubicBezTo>
                      <a:pt x="103108" y="20496"/>
                      <a:pt x="157253" y="0"/>
                      <a:pt x="211309" y="0"/>
                    </a:cubicBezTo>
                    <a:close/>
                  </a:path>
                </a:pathLst>
              </a:custGeom>
              <a:solidFill>
                <a:schemeClr val="accent1"/>
              </a:solidFill>
              <a:ln>
                <a:noFill/>
              </a:ln>
            </p:spPr>
            <p:txBody>
              <a:bodyPr vert="horz" wrap="square" lIns="72746" tIns="36373" rIns="72746" bIns="36373" numCol="1" anchor="t" anchorCtr="0" compatLnSpc="1">
                <a:prstTxWarp prst="textNoShape">
                  <a:avLst/>
                </a:prstTxWarp>
                <a:noAutofit/>
              </a:bodyPr>
              <a:lstStyle/>
              <a:p>
                <a:endParaRPr lang="en-US" sz="1559">
                  <a:sym typeface="+mn-lt"/>
                </a:endParaRPr>
              </a:p>
            </p:txBody>
          </p:sp>
        </p:grpSp>
      </p:grpSp>
      <p:grpSp>
        <p:nvGrpSpPr>
          <p:cNvPr id="148" name="bcgIcons_OpenEcosystem">
            <a:extLst>
              <a:ext uri="{FF2B5EF4-FFF2-40B4-BE49-F238E27FC236}">
                <a16:creationId xmlns:a16="http://schemas.microsoft.com/office/drawing/2014/main" id="{7E4020E6-2596-4906-8BA5-C45E67C9571A}"/>
              </a:ext>
            </a:extLst>
          </p:cNvPr>
          <p:cNvGrpSpPr>
            <a:grpSpLocks/>
          </p:cNvGrpSpPr>
          <p:nvPr/>
        </p:nvGrpSpPr>
        <p:grpSpPr bwMode="auto">
          <a:xfrm>
            <a:off x="630000" y="4644082"/>
            <a:ext cx="365760" cy="365760"/>
            <a:chOff x="1682" y="0"/>
            <a:chExt cx="4316" cy="4320"/>
          </a:xfrm>
        </p:grpSpPr>
        <p:sp>
          <p:nvSpPr>
            <p:cNvPr id="237" name="AutoShape 3">
              <a:extLst>
                <a:ext uri="{FF2B5EF4-FFF2-40B4-BE49-F238E27FC236}">
                  <a16:creationId xmlns:a16="http://schemas.microsoft.com/office/drawing/2014/main" id="{12A410C0-3C59-4EEB-A4C6-8351E56BE782}"/>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sp>
          <p:nvSpPr>
            <p:cNvPr id="238" name="Freeform 5">
              <a:extLst>
                <a:ext uri="{FF2B5EF4-FFF2-40B4-BE49-F238E27FC236}">
                  <a16:creationId xmlns:a16="http://schemas.microsoft.com/office/drawing/2014/main" id="{C9C44B80-172E-4A81-927F-4BF413328FF7}"/>
                </a:ext>
              </a:extLst>
            </p:cNvPr>
            <p:cNvSpPr>
              <a:spLocks noEditPoints="1"/>
            </p:cNvSpPr>
            <p:nvPr/>
          </p:nvSpPr>
          <p:spPr bwMode="auto">
            <a:xfrm>
              <a:off x="2250" y="351"/>
              <a:ext cx="3177" cy="3615"/>
            </a:xfrm>
            <a:custGeom>
              <a:avLst/>
              <a:gdLst>
                <a:gd name="T0" fmla="*/ 1394 w 1696"/>
                <a:gd name="T1" fmla="*/ 1637 h 1928"/>
                <a:gd name="T2" fmla="*/ 924 w 1696"/>
                <a:gd name="T3" fmla="*/ 1891 h 1928"/>
                <a:gd name="T4" fmla="*/ 908 w 1696"/>
                <a:gd name="T5" fmla="*/ 1928 h 1928"/>
                <a:gd name="T6" fmla="*/ 796 w 1696"/>
                <a:gd name="T7" fmla="*/ 1823 h 1928"/>
                <a:gd name="T8" fmla="*/ 895 w 1696"/>
                <a:gd name="T9" fmla="*/ 1695 h 1928"/>
                <a:gd name="T10" fmla="*/ 926 w 1696"/>
                <a:gd name="T11" fmla="*/ 1726 h 1928"/>
                <a:gd name="T12" fmla="*/ 1650 w 1696"/>
                <a:gd name="T13" fmla="*/ 1143 h 1928"/>
                <a:gd name="T14" fmla="*/ 1693 w 1696"/>
                <a:gd name="T15" fmla="*/ 1152 h 1928"/>
                <a:gd name="T16" fmla="*/ 804 w 1696"/>
                <a:gd name="T17" fmla="*/ 8 h 1928"/>
                <a:gd name="T18" fmla="*/ 772 w 1696"/>
                <a:gd name="T19" fmla="*/ 39 h 1928"/>
                <a:gd name="T20" fmla="*/ 302 w 1696"/>
                <a:gd name="T21" fmla="*/ 293 h 1928"/>
                <a:gd name="T22" fmla="*/ 19 w 1696"/>
                <a:gd name="T23" fmla="*/ 804 h 1928"/>
                <a:gd name="T24" fmla="*/ 46 w 1696"/>
                <a:gd name="T25" fmla="*/ 787 h 1928"/>
                <a:gd name="T26" fmla="*/ 770 w 1696"/>
                <a:gd name="T27" fmla="*/ 204 h 1928"/>
                <a:gd name="T28" fmla="*/ 786 w 1696"/>
                <a:gd name="T29" fmla="*/ 241 h 1928"/>
                <a:gd name="T30" fmla="*/ 900 w 1696"/>
                <a:gd name="T31" fmla="*/ 139 h 1928"/>
                <a:gd name="T32" fmla="*/ 1031 w 1696"/>
                <a:gd name="T33" fmla="*/ 1376 h 1928"/>
                <a:gd name="T34" fmla="*/ 945 w 1696"/>
                <a:gd name="T35" fmla="*/ 1282 h 1928"/>
                <a:gd name="T36" fmla="*/ 1397 w 1696"/>
                <a:gd name="T37" fmla="*/ 1268 h 1928"/>
                <a:gd name="T38" fmla="*/ 1419 w 1696"/>
                <a:gd name="T39" fmla="*/ 636 h 1928"/>
                <a:gd name="T40" fmla="*/ 303 w 1696"/>
                <a:gd name="T41" fmla="*/ 614 h 1928"/>
                <a:gd name="T42" fmla="*/ 281 w 1696"/>
                <a:gd name="T43" fmla="*/ 1246 h 1928"/>
                <a:gd name="T44" fmla="*/ 754 w 1696"/>
                <a:gd name="T45" fmla="*/ 1268 h 1928"/>
                <a:gd name="T46" fmla="*/ 675 w 1696"/>
                <a:gd name="T47" fmla="*/ 1352 h 1928"/>
                <a:gd name="T48" fmla="*/ 689 w 1696"/>
                <a:gd name="T49" fmla="*/ 1390 h 1928"/>
                <a:gd name="T50" fmla="*/ 1031 w 1696"/>
                <a:gd name="T51" fmla="*/ 1376 h 1928"/>
                <a:gd name="T52" fmla="*/ 798 w 1696"/>
                <a:gd name="T53" fmla="*/ 1293 h 1928"/>
                <a:gd name="T54" fmla="*/ 776 w 1696"/>
                <a:gd name="T55" fmla="*/ 1224 h 1928"/>
                <a:gd name="T56" fmla="*/ 325 w 1696"/>
                <a:gd name="T57" fmla="*/ 658 h 1928"/>
                <a:gd name="T58" fmla="*/ 1375 w 1696"/>
                <a:gd name="T59" fmla="*/ 1224 h 1928"/>
                <a:gd name="T60" fmla="*/ 901 w 1696"/>
                <a:gd name="T61" fmla="*/ 1246 h 1928"/>
                <a:gd name="T62" fmla="*/ 909 w 1696"/>
                <a:gd name="T63" fmla="*/ 1309 h 1928"/>
                <a:gd name="T64" fmla="*/ 748 w 1696"/>
                <a:gd name="T65" fmla="*/ 1346 h 19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96" h="1928">
                  <a:moveTo>
                    <a:pt x="1693" y="1152"/>
                  </a:moveTo>
                  <a:cubicBezTo>
                    <a:pt x="1652" y="1342"/>
                    <a:pt x="1545" y="1514"/>
                    <a:pt x="1394" y="1637"/>
                  </a:cubicBezTo>
                  <a:cubicBezTo>
                    <a:pt x="1245" y="1759"/>
                    <a:pt x="1057" y="1827"/>
                    <a:pt x="865" y="1831"/>
                  </a:cubicBezTo>
                  <a:cubicBezTo>
                    <a:pt x="924" y="1891"/>
                    <a:pt x="924" y="1891"/>
                    <a:pt x="924" y="1891"/>
                  </a:cubicBezTo>
                  <a:cubicBezTo>
                    <a:pt x="932" y="1900"/>
                    <a:pt x="932" y="1914"/>
                    <a:pt x="923" y="1922"/>
                  </a:cubicBezTo>
                  <a:cubicBezTo>
                    <a:pt x="919" y="1926"/>
                    <a:pt x="913" y="1928"/>
                    <a:pt x="908" y="1928"/>
                  </a:cubicBezTo>
                  <a:cubicBezTo>
                    <a:pt x="902" y="1928"/>
                    <a:pt x="896" y="1926"/>
                    <a:pt x="892" y="1922"/>
                  </a:cubicBezTo>
                  <a:cubicBezTo>
                    <a:pt x="796" y="1823"/>
                    <a:pt x="796" y="1823"/>
                    <a:pt x="796" y="1823"/>
                  </a:cubicBezTo>
                  <a:cubicBezTo>
                    <a:pt x="787" y="1814"/>
                    <a:pt x="787" y="1800"/>
                    <a:pt x="796" y="1791"/>
                  </a:cubicBezTo>
                  <a:cubicBezTo>
                    <a:pt x="895" y="1695"/>
                    <a:pt x="895" y="1695"/>
                    <a:pt x="895" y="1695"/>
                  </a:cubicBezTo>
                  <a:cubicBezTo>
                    <a:pt x="904" y="1686"/>
                    <a:pt x="918" y="1687"/>
                    <a:pt x="926" y="1695"/>
                  </a:cubicBezTo>
                  <a:cubicBezTo>
                    <a:pt x="935" y="1704"/>
                    <a:pt x="934" y="1718"/>
                    <a:pt x="926" y="1726"/>
                  </a:cubicBezTo>
                  <a:cubicBezTo>
                    <a:pt x="864" y="1787"/>
                    <a:pt x="864" y="1787"/>
                    <a:pt x="864" y="1787"/>
                  </a:cubicBezTo>
                  <a:cubicBezTo>
                    <a:pt x="1240" y="1779"/>
                    <a:pt x="1569" y="1511"/>
                    <a:pt x="1650" y="1143"/>
                  </a:cubicBezTo>
                  <a:cubicBezTo>
                    <a:pt x="1653" y="1131"/>
                    <a:pt x="1665" y="1124"/>
                    <a:pt x="1677" y="1126"/>
                  </a:cubicBezTo>
                  <a:cubicBezTo>
                    <a:pt x="1689" y="1129"/>
                    <a:pt x="1696" y="1141"/>
                    <a:pt x="1693" y="1152"/>
                  </a:cubicBezTo>
                  <a:close/>
                  <a:moveTo>
                    <a:pt x="900" y="107"/>
                  </a:moveTo>
                  <a:cubicBezTo>
                    <a:pt x="804" y="8"/>
                    <a:pt x="804" y="8"/>
                    <a:pt x="804" y="8"/>
                  </a:cubicBezTo>
                  <a:cubicBezTo>
                    <a:pt x="795" y="0"/>
                    <a:pt x="782" y="0"/>
                    <a:pt x="773" y="8"/>
                  </a:cubicBezTo>
                  <a:cubicBezTo>
                    <a:pt x="764" y="16"/>
                    <a:pt x="764" y="30"/>
                    <a:pt x="772" y="39"/>
                  </a:cubicBezTo>
                  <a:cubicBezTo>
                    <a:pt x="831" y="99"/>
                    <a:pt x="831" y="99"/>
                    <a:pt x="831" y="99"/>
                  </a:cubicBezTo>
                  <a:cubicBezTo>
                    <a:pt x="639" y="103"/>
                    <a:pt x="451" y="172"/>
                    <a:pt x="302" y="293"/>
                  </a:cubicBezTo>
                  <a:cubicBezTo>
                    <a:pt x="151" y="416"/>
                    <a:pt x="44" y="588"/>
                    <a:pt x="3" y="778"/>
                  </a:cubicBezTo>
                  <a:cubicBezTo>
                    <a:pt x="0" y="789"/>
                    <a:pt x="7" y="801"/>
                    <a:pt x="19" y="804"/>
                  </a:cubicBezTo>
                  <a:cubicBezTo>
                    <a:pt x="21" y="804"/>
                    <a:pt x="23" y="804"/>
                    <a:pt x="24" y="804"/>
                  </a:cubicBezTo>
                  <a:cubicBezTo>
                    <a:pt x="34" y="804"/>
                    <a:pt x="43" y="797"/>
                    <a:pt x="46" y="787"/>
                  </a:cubicBezTo>
                  <a:cubicBezTo>
                    <a:pt x="127" y="419"/>
                    <a:pt x="456" y="151"/>
                    <a:pt x="832" y="143"/>
                  </a:cubicBezTo>
                  <a:cubicBezTo>
                    <a:pt x="770" y="204"/>
                    <a:pt x="770" y="204"/>
                    <a:pt x="770" y="204"/>
                  </a:cubicBezTo>
                  <a:cubicBezTo>
                    <a:pt x="762" y="212"/>
                    <a:pt x="761" y="226"/>
                    <a:pt x="770" y="235"/>
                  </a:cubicBezTo>
                  <a:cubicBezTo>
                    <a:pt x="774" y="239"/>
                    <a:pt x="780" y="241"/>
                    <a:pt x="786" y="241"/>
                  </a:cubicBezTo>
                  <a:cubicBezTo>
                    <a:pt x="791" y="241"/>
                    <a:pt x="797" y="239"/>
                    <a:pt x="801" y="235"/>
                  </a:cubicBezTo>
                  <a:cubicBezTo>
                    <a:pt x="900" y="139"/>
                    <a:pt x="900" y="139"/>
                    <a:pt x="900" y="139"/>
                  </a:cubicBezTo>
                  <a:cubicBezTo>
                    <a:pt x="909" y="130"/>
                    <a:pt x="909" y="116"/>
                    <a:pt x="900" y="107"/>
                  </a:cubicBezTo>
                  <a:close/>
                  <a:moveTo>
                    <a:pt x="1031" y="1376"/>
                  </a:moveTo>
                  <a:cubicBezTo>
                    <a:pt x="1034" y="1367"/>
                    <a:pt x="1032" y="1358"/>
                    <a:pt x="1025" y="1352"/>
                  </a:cubicBezTo>
                  <a:cubicBezTo>
                    <a:pt x="945" y="1282"/>
                    <a:pt x="945" y="1282"/>
                    <a:pt x="945" y="1282"/>
                  </a:cubicBezTo>
                  <a:cubicBezTo>
                    <a:pt x="945" y="1268"/>
                    <a:pt x="945" y="1268"/>
                    <a:pt x="945" y="1268"/>
                  </a:cubicBezTo>
                  <a:cubicBezTo>
                    <a:pt x="1397" y="1268"/>
                    <a:pt x="1397" y="1268"/>
                    <a:pt x="1397" y="1268"/>
                  </a:cubicBezTo>
                  <a:cubicBezTo>
                    <a:pt x="1409" y="1268"/>
                    <a:pt x="1419" y="1258"/>
                    <a:pt x="1419" y="1246"/>
                  </a:cubicBezTo>
                  <a:cubicBezTo>
                    <a:pt x="1419" y="636"/>
                    <a:pt x="1419" y="636"/>
                    <a:pt x="1419" y="636"/>
                  </a:cubicBezTo>
                  <a:cubicBezTo>
                    <a:pt x="1419" y="624"/>
                    <a:pt x="1409" y="614"/>
                    <a:pt x="1397" y="614"/>
                  </a:cubicBezTo>
                  <a:cubicBezTo>
                    <a:pt x="303" y="614"/>
                    <a:pt x="303" y="614"/>
                    <a:pt x="303" y="614"/>
                  </a:cubicBezTo>
                  <a:cubicBezTo>
                    <a:pt x="291" y="614"/>
                    <a:pt x="281" y="624"/>
                    <a:pt x="281" y="636"/>
                  </a:cubicBezTo>
                  <a:cubicBezTo>
                    <a:pt x="281" y="1246"/>
                    <a:pt x="281" y="1246"/>
                    <a:pt x="281" y="1246"/>
                  </a:cubicBezTo>
                  <a:cubicBezTo>
                    <a:pt x="281" y="1258"/>
                    <a:pt x="291" y="1268"/>
                    <a:pt x="303" y="1268"/>
                  </a:cubicBezTo>
                  <a:cubicBezTo>
                    <a:pt x="754" y="1268"/>
                    <a:pt x="754" y="1268"/>
                    <a:pt x="754" y="1268"/>
                  </a:cubicBezTo>
                  <a:cubicBezTo>
                    <a:pt x="754" y="1282"/>
                    <a:pt x="754" y="1282"/>
                    <a:pt x="754" y="1282"/>
                  </a:cubicBezTo>
                  <a:cubicBezTo>
                    <a:pt x="675" y="1352"/>
                    <a:pt x="675" y="1352"/>
                    <a:pt x="675" y="1352"/>
                  </a:cubicBezTo>
                  <a:cubicBezTo>
                    <a:pt x="668" y="1358"/>
                    <a:pt x="666" y="1367"/>
                    <a:pt x="669" y="1376"/>
                  </a:cubicBezTo>
                  <a:cubicBezTo>
                    <a:pt x="672" y="1384"/>
                    <a:pt x="680" y="1390"/>
                    <a:pt x="689" y="1390"/>
                  </a:cubicBezTo>
                  <a:cubicBezTo>
                    <a:pt x="1010" y="1390"/>
                    <a:pt x="1010" y="1390"/>
                    <a:pt x="1010" y="1390"/>
                  </a:cubicBezTo>
                  <a:cubicBezTo>
                    <a:pt x="1020" y="1390"/>
                    <a:pt x="1028" y="1384"/>
                    <a:pt x="1031" y="1376"/>
                  </a:cubicBezTo>
                  <a:close/>
                  <a:moveTo>
                    <a:pt x="791" y="1309"/>
                  </a:moveTo>
                  <a:cubicBezTo>
                    <a:pt x="796" y="1305"/>
                    <a:pt x="798" y="1299"/>
                    <a:pt x="798" y="1293"/>
                  </a:cubicBezTo>
                  <a:cubicBezTo>
                    <a:pt x="798" y="1246"/>
                    <a:pt x="798" y="1246"/>
                    <a:pt x="798" y="1246"/>
                  </a:cubicBezTo>
                  <a:cubicBezTo>
                    <a:pt x="798" y="1234"/>
                    <a:pt x="789" y="1224"/>
                    <a:pt x="776" y="1224"/>
                  </a:cubicBezTo>
                  <a:cubicBezTo>
                    <a:pt x="325" y="1224"/>
                    <a:pt x="325" y="1224"/>
                    <a:pt x="325" y="1224"/>
                  </a:cubicBezTo>
                  <a:cubicBezTo>
                    <a:pt x="325" y="658"/>
                    <a:pt x="325" y="658"/>
                    <a:pt x="325" y="658"/>
                  </a:cubicBezTo>
                  <a:cubicBezTo>
                    <a:pt x="1375" y="658"/>
                    <a:pt x="1375" y="658"/>
                    <a:pt x="1375" y="658"/>
                  </a:cubicBezTo>
                  <a:cubicBezTo>
                    <a:pt x="1375" y="1224"/>
                    <a:pt x="1375" y="1224"/>
                    <a:pt x="1375" y="1224"/>
                  </a:cubicBezTo>
                  <a:cubicBezTo>
                    <a:pt x="923" y="1224"/>
                    <a:pt x="923" y="1224"/>
                    <a:pt x="923" y="1224"/>
                  </a:cubicBezTo>
                  <a:cubicBezTo>
                    <a:pt x="911" y="1224"/>
                    <a:pt x="901" y="1234"/>
                    <a:pt x="901" y="1246"/>
                  </a:cubicBezTo>
                  <a:cubicBezTo>
                    <a:pt x="901" y="1293"/>
                    <a:pt x="901" y="1293"/>
                    <a:pt x="901" y="1293"/>
                  </a:cubicBezTo>
                  <a:cubicBezTo>
                    <a:pt x="901" y="1299"/>
                    <a:pt x="904" y="1305"/>
                    <a:pt x="909" y="1309"/>
                  </a:cubicBezTo>
                  <a:cubicBezTo>
                    <a:pt x="951" y="1346"/>
                    <a:pt x="951" y="1346"/>
                    <a:pt x="951" y="1346"/>
                  </a:cubicBezTo>
                  <a:cubicBezTo>
                    <a:pt x="748" y="1346"/>
                    <a:pt x="748" y="1346"/>
                    <a:pt x="748" y="1346"/>
                  </a:cubicBezTo>
                  <a:lnTo>
                    <a:pt x="791" y="1309"/>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sp>
          <p:nvSpPr>
            <p:cNvPr id="239" name="Freeform 6">
              <a:extLst>
                <a:ext uri="{FF2B5EF4-FFF2-40B4-BE49-F238E27FC236}">
                  <a16:creationId xmlns:a16="http://schemas.microsoft.com/office/drawing/2014/main" id="{9080CFAD-8147-4D49-B33C-C557DD71A694}"/>
                </a:ext>
              </a:extLst>
            </p:cNvPr>
            <p:cNvSpPr>
              <a:spLocks noEditPoints="1"/>
            </p:cNvSpPr>
            <p:nvPr/>
          </p:nvSpPr>
          <p:spPr bwMode="auto">
            <a:xfrm>
              <a:off x="2030" y="570"/>
              <a:ext cx="3616" cy="3176"/>
            </a:xfrm>
            <a:custGeom>
              <a:avLst/>
              <a:gdLst>
                <a:gd name="T0" fmla="*/ 1922 w 1930"/>
                <a:gd name="T1" fmla="*/ 804 h 1694"/>
                <a:gd name="T2" fmla="*/ 1823 w 1930"/>
                <a:gd name="T3" fmla="*/ 900 h 1694"/>
                <a:gd name="T4" fmla="*/ 1807 w 1930"/>
                <a:gd name="T5" fmla="*/ 907 h 1694"/>
                <a:gd name="T6" fmla="*/ 1791 w 1930"/>
                <a:gd name="T7" fmla="*/ 900 h 1694"/>
                <a:gd name="T8" fmla="*/ 1695 w 1930"/>
                <a:gd name="T9" fmla="*/ 801 h 1694"/>
                <a:gd name="T10" fmla="*/ 1695 w 1930"/>
                <a:gd name="T11" fmla="*/ 770 h 1694"/>
                <a:gd name="T12" fmla="*/ 1726 w 1930"/>
                <a:gd name="T13" fmla="*/ 770 h 1694"/>
                <a:gd name="T14" fmla="*/ 1787 w 1930"/>
                <a:gd name="T15" fmla="*/ 832 h 1694"/>
                <a:gd name="T16" fmla="*/ 1143 w 1930"/>
                <a:gd name="T17" fmla="*/ 46 h 1694"/>
                <a:gd name="T18" fmla="*/ 1126 w 1930"/>
                <a:gd name="T19" fmla="*/ 19 h 1694"/>
                <a:gd name="T20" fmla="*/ 1152 w 1930"/>
                <a:gd name="T21" fmla="*/ 3 h 1694"/>
                <a:gd name="T22" fmla="*/ 1637 w 1930"/>
                <a:gd name="T23" fmla="*/ 302 h 1694"/>
                <a:gd name="T24" fmla="*/ 1831 w 1930"/>
                <a:gd name="T25" fmla="*/ 831 h 1694"/>
                <a:gd name="T26" fmla="*/ 1891 w 1930"/>
                <a:gd name="T27" fmla="*/ 772 h 1694"/>
                <a:gd name="T28" fmla="*/ 1922 w 1930"/>
                <a:gd name="T29" fmla="*/ 773 h 1694"/>
                <a:gd name="T30" fmla="*/ 1922 w 1930"/>
                <a:gd name="T31" fmla="*/ 804 h 1694"/>
                <a:gd name="T32" fmla="*/ 787 w 1930"/>
                <a:gd name="T33" fmla="*/ 1651 h 1694"/>
                <a:gd name="T34" fmla="*/ 143 w 1930"/>
                <a:gd name="T35" fmla="*/ 864 h 1694"/>
                <a:gd name="T36" fmla="*/ 204 w 1930"/>
                <a:gd name="T37" fmla="*/ 926 h 1694"/>
                <a:gd name="T38" fmla="*/ 219 w 1930"/>
                <a:gd name="T39" fmla="*/ 932 h 1694"/>
                <a:gd name="T40" fmla="*/ 235 w 1930"/>
                <a:gd name="T41" fmla="*/ 926 h 1694"/>
                <a:gd name="T42" fmla="*/ 235 w 1930"/>
                <a:gd name="T43" fmla="*/ 895 h 1694"/>
                <a:gd name="T44" fmla="*/ 139 w 1930"/>
                <a:gd name="T45" fmla="*/ 796 h 1694"/>
                <a:gd name="T46" fmla="*/ 107 w 1930"/>
                <a:gd name="T47" fmla="*/ 796 h 1694"/>
                <a:gd name="T48" fmla="*/ 8 w 1930"/>
                <a:gd name="T49" fmla="*/ 892 h 1694"/>
                <a:gd name="T50" fmla="*/ 8 w 1930"/>
                <a:gd name="T51" fmla="*/ 923 h 1694"/>
                <a:gd name="T52" fmla="*/ 39 w 1930"/>
                <a:gd name="T53" fmla="*/ 924 h 1694"/>
                <a:gd name="T54" fmla="*/ 99 w 1930"/>
                <a:gd name="T55" fmla="*/ 865 h 1694"/>
                <a:gd name="T56" fmla="*/ 293 w 1930"/>
                <a:gd name="T57" fmla="*/ 1394 h 1694"/>
                <a:gd name="T58" fmla="*/ 778 w 1930"/>
                <a:gd name="T59" fmla="*/ 1693 h 1694"/>
                <a:gd name="T60" fmla="*/ 782 w 1930"/>
                <a:gd name="T61" fmla="*/ 1694 h 1694"/>
                <a:gd name="T62" fmla="*/ 804 w 1930"/>
                <a:gd name="T63" fmla="*/ 1677 h 1694"/>
                <a:gd name="T64" fmla="*/ 787 w 1930"/>
                <a:gd name="T65" fmla="*/ 1651 h 1694"/>
                <a:gd name="T66" fmla="*/ 906 w 1930"/>
                <a:gd name="T67" fmla="*/ 1062 h 1694"/>
                <a:gd name="T68" fmla="*/ 1027 w 1930"/>
                <a:gd name="T69" fmla="*/ 1062 h 1694"/>
                <a:gd name="T70" fmla="*/ 1437 w 1930"/>
                <a:gd name="T71" fmla="*/ 1062 h 1694"/>
                <a:gd name="T72" fmla="*/ 1446 w 1930"/>
                <a:gd name="T73" fmla="*/ 1052 h 1694"/>
                <a:gd name="T74" fmla="*/ 1446 w 1930"/>
                <a:gd name="T75" fmla="*/ 596 h 1694"/>
                <a:gd name="T76" fmla="*/ 1437 w 1930"/>
                <a:gd name="T77" fmla="*/ 586 h 1694"/>
                <a:gd name="T78" fmla="*/ 496 w 1930"/>
                <a:gd name="T79" fmla="*/ 586 h 1694"/>
                <a:gd name="T80" fmla="*/ 486 w 1930"/>
                <a:gd name="T81" fmla="*/ 596 h 1694"/>
                <a:gd name="T82" fmla="*/ 486 w 1930"/>
                <a:gd name="T83" fmla="*/ 1052 h 1694"/>
                <a:gd name="T84" fmla="*/ 496 w 1930"/>
                <a:gd name="T85" fmla="*/ 1062 h 1694"/>
                <a:gd name="T86" fmla="*/ 906 w 1930"/>
                <a:gd name="T87" fmla="*/ 1062 h 1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30" h="1694">
                  <a:moveTo>
                    <a:pt x="1922" y="804"/>
                  </a:moveTo>
                  <a:cubicBezTo>
                    <a:pt x="1823" y="900"/>
                    <a:pt x="1823" y="900"/>
                    <a:pt x="1823" y="900"/>
                  </a:cubicBezTo>
                  <a:cubicBezTo>
                    <a:pt x="1818" y="905"/>
                    <a:pt x="1813" y="907"/>
                    <a:pt x="1807" y="907"/>
                  </a:cubicBezTo>
                  <a:cubicBezTo>
                    <a:pt x="1801" y="907"/>
                    <a:pt x="1796" y="904"/>
                    <a:pt x="1791" y="900"/>
                  </a:cubicBezTo>
                  <a:cubicBezTo>
                    <a:pt x="1695" y="801"/>
                    <a:pt x="1695" y="801"/>
                    <a:pt x="1695" y="801"/>
                  </a:cubicBezTo>
                  <a:cubicBezTo>
                    <a:pt x="1686" y="792"/>
                    <a:pt x="1687" y="778"/>
                    <a:pt x="1695" y="770"/>
                  </a:cubicBezTo>
                  <a:cubicBezTo>
                    <a:pt x="1704" y="761"/>
                    <a:pt x="1718" y="762"/>
                    <a:pt x="1726" y="770"/>
                  </a:cubicBezTo>
                  <a:cubicBezTo>
                    <a:pt x="1787" y="832"/>
                    <a:pt x="1787" y="832"/>
                    <a:pt x="1787" y="832"/>
                  </a:cubicBezTo>
                  <a:cubicBezTo>
                    <a:pt x="1779" y="456"/>
                    <a:pt x="1511" y="127"/>
                    <a:pt x="1143" y="46"/>
                  </a:cubicBezTo>
                  <a:cubicBezTo>
                    <a:pt x="1131" y="43"/>
                    <a:pt x="1124" y="31"/>
                    <a:pt x="1126" y="19"/>
                  </a:cubicBezTo>
                  <a:cubicBezTo>
                    <a:pt x="1129" y="8"/>
                    <a:pt x="1141" y="0"/>
                    <a:pt x="1152" y="3"/>
                  </a:cubicBezTo>
                  <a:cubicBezTo>
                    <a:pt x="1342" y="44"/>
                    <a:pt x="1514" y="151"/>
                    <a:pt x="1637" y="302"/>
                  </a:cubicBezTo>
                  <a:cubicBezTo>
                    <a:pt x="1759" y="451"/>
                    <a:pt x="1827" y="639"/>
                    <a:pt x="1831" y="831"/>
                  </a:cubicBezTo>
                  <a:cubicBezTo>
                    <a:pt x="1891" y="772"/>
                    <a:pt x="1891" y="772"/>
                    <a:pt x="1891" y="772"/>
                  </a:cubicBezTo>
                  <a:cubicBezTo>
                    <a:pt x="1900" y="764"/>
                    <a:pt x="1914" y="764"/>
                    <a:pt x="1922" y="773"/>
                  </a:cubicBezTo>
                  <a:cubicBezTo>
                    <a:pt x="1930" y="781"/>
                    <a:pt x="1930" y="795"/>
                    <a:pt x="1922" y="804"/>
                  </a:cubicBezTo>
                  <a:close/>
                  <a:moveTo>
                    <a:pt x="787" y="1651"/>
                  </a:moveTo>
                  <a:cubicBezTo>
                    <a:pt x="419" y="1569"/>
                    <a:pt x="151" y="1240"/>
                    <a:pt x="143" y="864"/>
                  </a:cubicBezTo>
                  <a:cubicBezTo>
                    <a:pt x="204" y="926"/>
                    <a:pt x="204" y="926"/>
                    <a:pt x="204" y="926"/>
                  </a:cubicBezTo>
                  <a:cubicBezTo>
                    <a:pt x="208" y="930"/>
                    <a:pt x="214" y="932"/>
                    <a:pt x="219" y="932"/>
                  </a:cubicBezTo>
                  <a:cubicBezTo>
                    <a:pt x="225" y="932"/>
                    <a:pt x="230" y="930"/>
                    <a:pt x="235" y="926"/>
                  </a:cubicBezTo>
                  <a:cubicBezTo>
                    <a:pt x="243" y="918"/>
                    <a:pt x="244" y="904"/>
                    <a:pt x="235" y="895"/>
                  </a:cubicBezTo>
                  <a:cubicBezTo>
                    <a:pt x="139" y="796"/>
                    <a:pt x="139" y="796"/>
                    <a:pt x="139" y="796"/>
                  </a:cubicBezTo>
                  <a:cubicBezTo>
                    <a:pt x="130" y="787"/>
                    <a:pt x="116" y="787"/>
                    <a:pt x="107" y="796"/>
                  </a:cubicBezTo>
                  <a:cubicBezTo>
                    <a:pt x="8" y="892"/>
                    <a:pt x="8" y="892"/>
                    <a:pt x="8" y="892"/>
                  </a:cubicBezTo>
                  <a:cubicBezTo>
                    <a:pt x="0" y="901"/>
                    <a:pt x="0" y="915"/>
                    <a:pt x="8" y="923"/>
                  </a:cubicBezTo>
                  <a:cubicBezTo>
                    <a:pt x="16" y="932"/>
                    <a:pt x="30" y="932"/>
                    <a:pt x="39" y="924"/>
                  </a:cubicBezTo>
                  <a:cubicBezTo>
                    <a:pt x="99" y="865"/>
                    <a:pt x="99" y="865"/>
                    <a:pt x="99" y="865"/>
                  </a:cubicBezTo>
                  <a:cubicBezTo>
                    <a:pt x="103" y="1057"/>
                    <a:pt x="172" y="1245"/>
                    <a:pt x="293" y="1394"/>
                  </a:cubicBezTo>
                  <a:cubicBezTo>
                    <a:pt x="416" y="1545"/>
                    <a:pt x="588" y="1652"/>
                    <a:pt x="778" y="1693"/>
                  </a:cubicBezTo>
                  <a:cubicBezTo>
                    <a:pt x="779" y="1694"/>
                    <a:pt x="781" y="1694"/>
                    <a:pt x="782" y="1694"/>
                  </a:cubicBezTo>
                  <a:cubicBezTo>
                    <a:pt x="792" y="1694"/>
                    <a:pt x="802" y="1687"/>
                    <a:pt x="804" y="1677"/>
                  </a:cubicBezTo>
                  <a:cubicBezTo>
                    <a:pt x="806" y="1665"/>
                    <a:pt x="799" y="1653"/>
                    <a:pt x="787" y="1651"/>
                  </a:cubicBezTo>
                  <a:close/>
                  <a:moveTo>
                    <a:pt x="906" y="1062"/>
                  </a:moveTo>
                  <a:cubicBezTo>
                    <a:pt x="937" y="1062"/>
                    <a:pt x="996" y="1062"/>
                    <a:pt x="1027" y="1062"/>
                  </a:cubicBezTo>
                  <a:cubicBezTo>
                    <a:pt x="1437" y="1062"/>
                    <a:pt x="1437" y="1062"/>
                    <a:pt x="1437" y="1062"/>
                  </a:cubicBezTo>
                  <a:cubicBezTo>
                    <a:pt x="1442" y="1062"/>
                    <a:pt x="1446" y="1058"/>
                    <a:pt x="1446" y="1052"/>
                  </a:cubicBezTo>
                  <a:cubicBezTo>
                    <a:pt x="1446" y="596"/>
                    <a:pt x="1446" y="596"/>
                    <a:pt x="1446" y="596"/>
                  </a:cubicBezTo>
                  <a:cubicBezTo>
                    <a:pt x="1446" y="590"/>
                    <a:pt x="1442" y="586"/>
                    <a:pt x="1437" y="586"/>
                  </a:cubicBezTo>
                  <a:cubicBezTo>
                    <a:pt x="496" y="586"/>
                    <a:pt x="496" y="586"/>
                    <a:pt x="496" y="586"/>
                  </a:cubicBezTo>
                  <a:cubicBezTo>
                    <a:pt x="491" y="586"/>
                    <a:pt x="486" y="590"/>
                    <a:pt x="486" y="596"/>
                  </a:cubicBezTo>
                  <a:cubicBezTo>
                    <a:pt x="486" y="1052"/>
                    <a:pt x="486" y="1052"/>
                    <a:pt x="486" y="1052"/>
                  </a:cubicBezTo>
                  <a:cubicBezTo>
                    <a:pt x="486" y="1058"/>
                    <a:pt x="491" y="1062"/>
                    <a:pt x="496" y="1062"/>
                  </a:cubicBezTo>
                  <a:lnTo>
                    <a:pt x="906" y="1062"/>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grpSp>
      <p:grpSp>
        <p:nvGrpSpPr>
          <p:cNvPr id="150" name="Group 149">
            <a:extLst>
              <a:ext uri="{FF2B5EF4-FFF2-40B4-BE49-F238E27FC236}">
                <a16:creationId xmlns:a16="http://schemas.microsoft.com/office/drawing/2014/main" id="{37431692-E0BE-416A-B8E2-9F7097011A21}"/>
              </a:ext>
            </a:extLst>
          </p:cNvPr>
          <p:cNvGrpSpPr>
            <a:grpSpLocks/>
          </p:cNvGrpSpPr>
          <p:nvPr/>
        </p:nvGrpSpPr>
        <p:grpSpPr>
          <a:xfrm>
            <a:off x="630000" y="5308039"/>
            <a:ext cx="365760" cy="365760"/>
            <a:chOff x="5273801" y="2606040"/>
            <a:chExt cx="1644396" cy="1645920"/>
          </a:xfrm>
        </p:grpSpPr>
        <p:sp>
          <p:nvSpPr>
            <p:cNvPr id="233" name="AutoShape 24">
              <a:extLst>
                <a:ext uri="{FF2B5EF4-FFF2-40B4-BE49-F238E27FC236}">
                  <a16:creationId xmlns:a16="http://schemas.microsoft.com/office/drawing/2014/main" id="{1B8E6FA5-38A1-4D99-A66A-92D3317CD88A}"/>
                </a:ext>
              </a:extLst>
            </p:cNvPr>
            <p:cNvSpPr>
              <a:spLocks noChangeAspect="1" noChangeArrowheads="1" noTextEdit="1"/>
            </p:cNvSpPr>
            <p:nvPr/>
          </p:nvSpPr>
          <p:spPr bwMode="auto">
            <a:xfrm>
              <a:off x="5273801" y="2606040"/>
              <a:ext cx="1644396" cy="1645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grpSp>
          <p:nvGrpSpPr>
            <p:cNvPr id="234" name="Group 233">
              <a:extLst>
                <a:ext uri="{FF2B5EF4-FFF2-40B4-BE49-F238E27FC236}">
                  <a16:creationId xmlns:a16="http://schemas.microsoft.com/office/drawing/2014/main" id="{F4561B01-0331-4516-92F6-02667FD00DBB}"/>
                </a:ext>
              </a:extLst>
            </p:cNvPr>
            <p:cNvGrpSpPr/>
            <p:nvPr/>
          </p:nvGrpSpPr>
          <p:grpSpPr>
            <a:xfrm>
              <a:off x="5343905" y="2937510"/>
              <a:ext cx="1532763" cy="1001649"/>
              <a:chOff x="5343905" y="2937510"/>
              <a:chExt cx="1532763" cy="1001649"/>
            </a:xfrm>
          </p:grpSpPr>
          <p:sp>
            <p:nvSpPr>
              <p:cNvPr id="235" name="Freeform 26">
                <a:extLst>
                  <a:ext uri="{FF2B5EF4-FFF2-40B4-BE49-F238E27FC236}">
                    <a16:creationId xmlns:a16="http://schemas.microsoft.com/office/drawing/2014/main" id="{AFC48E58-E5D5-4B72-A73F-23B93459D030}"/>
                  </a:ext>
                </a:extLst>
              </p:cNvPr>
              <p:cNvSpPr>
                <a:spLocks noEditPoints="1"/>
              </p:cNvSpPr>
              <p:nvPr/>
            </p:nvSpPr>
            <p:spPr bwMode="auto">
              <a:xfrm>
                <a:off x="5456681" y="3173349"/>
                <a:ext cx="1304544" cy="300609"/>
              </a:xfrm>
              <a:custGeom>
                <a:avLst/>
                <a:gdLst>
                  <a:gd name="T0" fmla="*/ 100 w 1828"/>
                  <a:gd name="T1" fmla="*/ 22 h 421"/>
                  <a:gd name="T2" fmla="*/ 515 w 1828"/>
                  <a:gd name="T3" fmla="*/ 239 h 421"/>
                  <a:gd name="T4" fmla="*/ 507 w 1828"/>
                  <a:gd name="T5" fmla="*/ 309 h 421"/>
                  <a:gd name="T6" fmla="*/ 31 w 1828"/>
                  <a:gd name="T7" fmla="*/ 100 h 421"/>
                  <a:gd name="T8" fmla="*/ 63 w 1828"/>
                  <a:gd name="T9" fmla="*/ 6 h 421"/>
                  <a:gd name="T10" fmla="*/ 271 w 1828"/>
                  <a:gd name="T11" fmla="*/ 124 h 421"/>
                  <a:gd name="T12" fmla="*/ 123 w 1828"/>
                  <a:gd name="T13" fmla="*/ 0 h 421"/>
                  <a:gd name="T14" fmla="*/ 159 w 1828"/>
                  <a:gd name="T15" fmla="*/ 239 h 421"/>
                  <a:gd name="T16" fmla="*/ 148 w 1828"/>
                  <a:gd name="T17" fmla="*/ 233 h 421"/>
                  <a:gd name="T18" fmla="*/ 73 w 1828"/>
                  <a:gd name="T19" fmla="*/ 421 h 421"/>
                  <a:gd name="T20" fmla="*/ 320 w 1828"/>
                  <a:gd name="T21" fmla="*/ 287 h 421"/>
                  <a:gd name="T22" fmla="*/ 1355 w 1828"/>
                  <a:gd name="T23" fmla="*/ 6 h 421"/>
                  <a:gd name="T24" fmla="*/ 1323 w 1828"/>
                  <a:gd name="T25" fmla="*/ 100 h 421"/>
                  <a:gd name="T26" fmla="*/ 1799 w 1828"/>
                  <a:gd name="T27" fmla="*/ 309 h 421"/>
                  <a:gd name="T28" fmla="*/ 1807 w 1828"/>
                  <a:gd name="T29" fmla="*/ 239 h 421"/>
                  <a:gd name="T30" fmla="*/ 1392 w 1828"/>
                  <a:gd name="T31" fmla="*/ 22 h 421"/>
                  <a:gd name="T32" fmla="*/ 1526 w 1828"/>
                  <a:gd name="T33" fmla="*/ 112 h 421"/>
                  <a:gd name="T34" fmla="*/ 1563 w 1828"/>
                  <a:gd name="T35" fmla="*/ 123 h 421"/>
                  <a:gd name="T36" fmla="*/ 1526 w 1828"/>
                  <a:gd name="T37" fmla="*/ 112 h 421"/>
                  <a:gd name="T38" fmla="*/ 1445 w 1828"/>
                  <a:gd name="T39" fmla="*/ 237 h 421"/>
                  <a:gd name="T40" fmla="*/ 1311 w 1828"/>
                  <a:gd name="T41" fmla="*/ 131 h 421"/>
                  <a:gd name="T42" fmla="*/ 1631 w 1828"/>
                  <a:gd name="T43" fmla="*/ 350 h 421"/>
                  <a:gd name="T44" fmla="*/ 1451 w 1828"/>
                  <a:gd name="T45" fmla="*/ 239 h 421"/>
                  <a:gd name="T46" fmla="*/ 686 w 1828"/>
                  <a:gd name="T47" fmla="*/ 12 h 421"/>
                  <a:gd name="T48" fmla="*/ 814 w 1828"/>
                  <a:gd name="T49" fmla="*/ 208 h 421"/>
                  <a:gd name="T50" fmla="*/ 1173 w 1828"/>
                  <a:gd name="T51" fmla="*/ 277 h 421"/>
                  <a:gd name="T52" fmla="*/ 863 w 1828"/>
                  <a:gd name="T53" fmla="*/ 140 h 421"/>
                  <a:gd name="T54" fmla="*/ 709 w 1828"/>
                  <a:gd name="T55" fmla="*/ 6 h 421"/>
                  <a:gd name="T56" fmla="*/ 917 w 1828"/>
                  <a:gd name="T57" fmla="*/ 124 h 421"/>
                  <a:gd name="T58" fmla="*/ 769 w 1828"/>
                  <a:gd name="T59" fmla="*/ 0 h 421"/>
                  <a:gd name="T60" fmla="*/ 805 w 1828"/>
                  <a:gd name="T61" fmla="*/ 239 h 421"/>
                  <a:gd name="T62" fmla="*/ 794 w 1828"/>
                  <a:gd name="T63" fmla="*/ 233 h 421"/>
                  <a:gd name="T64" fmla="*/ 719 w 1828"/>
                  <a:gd name="T65" fmla="*/ 421 h 421"/>
                  <a:gd name="T66" fmla="*/ 966 w 1828"/>
                  <a:gd name="T67" fmla="*/ 287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28" h="421">
                    <a:moveTo>
                      <a:pt x="63" y="6"/>
                    </a:moveTo>
                    <a:cubicBezTo>
                      <a:pt x="77" y="6"/>
                      <a:pt x="90" y="12"/>
                      <a:pt x="100" y="22"/>
                    </a:cubicBezTo>
                    <a:cubicBezTo>
                      <a:pt x="217" y="140"/>
                      <a:pt x="217" y="140"/>
                      <a:pt x="217" y="140"/>
                    </a:cubicBezTo>
                    <a:cubicBezTo>
                      <a:pt x="515" y="239"/>
                      <a:pt x="515" y="239"/>
                      <a:pt x="515" y="239"/>
                    </a:cubicBezTo>
                    <a:cubicBezTo>
                      <a:pt x="530" y="245"/>
                      <a:pt x="536" y="263"/>
                      <a:pt x="527" y="277"/>
                    </a:cubicBezTo>
                    <a:cubicBezTo>
                      <a:pt x="507" y="309"/>
                      <a:pt x="507" y="309"/>
                      <a:pt x="507" y="309"/>
                    </a:cubicBezTo>
                    <a:cubicBezTo>
                      <a:pt x="168" y="208"/>
                      <a:pt x="168" y="208"/>
                      <a:pt x="168" y="208"/>
                    </a:cubicBezTo>
                    <a:cubicBezTo>
                      <a:pt x="31" y="100"/>
                      <a:pt x="31" y="100"/>
                      <a:pt x="31" y="100"/>
                    </a:cubicBezTo>
                    <a:cubicBezTo>
                      <a:pt x="0" y="76"/>
                      <a:pt x="5" y="29"/>
                      <a:pt x="40" y="12"/>
                    </a:cubicBezTo>
                    <a:cubicBezTo>
                      <a:pt x="47" y="8"/>
                      <a:pt x="55" y="6"/>
                      <a:pt x="63" y="6"/>
                    </a:cubicBezTo>
                    <a:moveTo>
                      <a:pt x="234" y="112"/>
                    </a:moveTo>
                    <a:cubicBezTo>
                      <a:pt x="271" y="124"/>
                      <a:pt x="271" y="124"/>
                      <a:pt x="271" y="124"/>
                    </a:cubicBezTo>
                    <a:cubicBezTo>
                      <a:pt x="271" y="123"/>
                      <a:pt x="271" y="123"/>
                      <a:pt x="271" y="123"/>
                    </a:cubicBezTo>
                    <a:cubicBezTo>
                      <a:pt x="250" y="55"/>
                      <a:pt x="191" y="8"/>
                      <a:pt x="123" y="0"/>
                    </a:cubicBezTo>
                    <a:lnTo>
                      <a:pt x="234" y="112"/>
                    </a:lnTo>
                    <a:close/>
                    <a:moveTo>
                      <a:pt x="159" y="239"/>
                    </a:moveTo>
                    <a:cubicBezTo>
                      <a:pt x="153" y="237"/>
                      <a:pt x="153" y="237"/>
                      <a:pt x="153" y="237"/>
                    </a:cubicBezTo>
                    <a:cubicBezTo>
                      <a:pt x="148" y="233"/>
                      <a:pt x="148" y="233"/>
                      <a:pt x="148" y="233"/>
                    </a:cubicBezTo>
                    <a:cubicBezTo>
                      <a:pt x="19" y="131"/>
                      <a:pt x="19" y="131"/>
                      <a:pt x="19" y="131"/>
                    </a:cubicBezTo>
                    <a:cubicBezTo>
                      <a:pt x="73" y="421"/>
                      <a:pt x="73" y="421"/>
                      <a:pt x="73" y="421"/>
                    </a:cubicBezTo>
                    <a:cubicBezTo>
                      <a:pt x="190" y="407"/>
                      <a:pt x="297" y="370"/>
                      <a:pt x="339" y="350"/>
                    </a:cubicBezTo>
                    <a:cubicBezTo>
                      <a:pt x="320" y="287"/>
                      <a:pt x="320" y="287"/>
                      <a:pt x="320" y="287"/>
                    </a:cubicBezTo>
                    <a:lnTo>
                      <a:pt x="159" y="239"/>
                    </a:lnTo>
                    <a:close/>
                    <a:moveTo>
                      <a:pt x="1355" y="6"/>
                    </a:moveTo>
                    <a:cubicBezTo>
                      <a:pt x="1347" y="6"/>
                      <a:pt x="1339" y="8"/>
                      <a:pt x="1332" y="12"/>
                    </a:cubicBezTo>
                    <a:cubicBezTo>
                      <a:pt x="1297" y="29"/>
                      <a:pt x="1292" y="76"/>
                      <a:pt x="1323" y="100"/>
                    </a:cubicBezTo>
                    <a:cubicBezTo>
                      <a:pt x="1460" y="208"/>
                      <a:pt x="1460" y="208"/>
                      <a:pt x="1460" y="208"/>
                    </a:cubicBezTo>
                    <a:cubicBezTo>
                      <a:pt x="1799" y="309"/>
                      <a:pt x="1799" y="309"/>
                      <a:pt x="1799" y="309"/>
                    </a:cubicBezTo>
                    <a:cubicBezTo>
                      <a:pt x="1819" y="277"/>
                      <a:pt x="1819" y="277"/>
                      <a:pt x="1819" y="277"/>
                    </a:cubicBezTo>
                    <a:cubicBezTo>
                      <a:pt x="1828" y="263"/>
                      <a:pt x="1822" y="245"/>
                      <a:pt x="1807" y="239"/>
                    </a:cubicBezTo>
                    <a:cubicBezTo>
                      <a:pt x="1509" y="140"/>
                      <a:pt x="1509" y="140"/>
                      <a:pt x="1509" y="140"/>
                    </a:cubicBezTo>
                    <a:cubicBezTo>
                      <a:pt x="1392" y="22"/>
                      <a:pt x="1392" y="22"/>
                      <a:pt x="1392" y="22"/>
                    </a:cubicBezTo>
                    <a:cubicBezTo>
                      <a:pt x="1382" y="12"/>
                      <a:pt x="1369" y="6"/>
                      <a:pt x="1355" y="6"/>
                    </a:cubicBezTo>
                    <a:moveTo>
                      <a:pt x="1526" y="112"/>
                    </a:moveTo>
                    <a:cubicBezTo>
                      <a:pt x="1563" y="124"/>
                      <a:pt x="1563" y="124"/>
                      <a:pt x="1563" y="124"/>
                    </a:cubicBezTo>
                    <a:cubicBezTo>
                      <a:pt x="1563" y="123"/>
                      <a:pt x="1563" y="123"/>
                      <a:pt x="1563" y="123"/>
                    </a:cubicBezTo>
                    <a:cubicBezTo>
                      <a:pt x="1542" y="55"/>
                      <a:pt x="1483" y="8"/>
                      <a:pt x="1415" y="0"/>
                    </a:cubicBezTo>
                    <a:lnTo>
                      <a:pt x="1526" y="112"/>
                    </a:lnTo>
                    <a:close/>
                    <a:moveTo>
                      <a:pt x="1451" y="239"/>
                    </a:moveTo>
                    <a:cubicBezTo>
                      <a:pt x="1445" y="237"/>
                      <a:pt x="1445" y="237"/>
                      <a:pt x="1445" y="237"/>
                    </a:cubicBezTo>
                    <a:cubicBezTo>
                      <a:pt x="1440" y="233"/>
                      <a:pt x="1440" y="233"/>
                      <a:pt x="1440" y="233"/>
                    </a:cubicBezTo>
                    <a:cubicBezTo>
                      <a:pt x="1311" y="131"/>
                      <a:pt x="1311" y="131"/>
                      <a:pt x="1311" y="131"/>
                    </a:cubicBezTo>
                    <a:cubicBezTo>
                      <a:pt x="1365" y="421"/>
                      <a:pt x="1365" y="421"/>
                      <a:pt x="1365" y="421"/>
                    </a:cubicBezTo>
                    <a:cubicBezTo>
                      <a:pt x="1482" y="407"/>
                      <a:pt x="1589" y="370"/>
                      <a:pt x="1631" y="350"/>
                    </a:cubicBezTo>
                    <a:cubicBezTo>
                      <a:pt x="1612" y="287"/>
                      <a:pt x="1612" y="287"/>
                      <a:pt x="1612" y="287"/>
                    </a:cubicBezTo>
                    <a:lnTo>
                      <a:pt x="1451" y="239"/>
                    </a:lnTo>
                    <a:close/>
                    <a:moveTo>
                      <a:pt x="709" y="6"/>
                    </a:moveTo>
                    <a:cubicBezTo>
                      <a:pt x="701" y="6"/>
                      <a:pt x="693" y="8"/>
                      <a:pt x="686" y="12"/>
                    </a:cubicBezTo>
                    <a:cubicBezTo>
                      <a:pt x="651" y="29"/>
                      <a:pt x="646" y="76"/>
                      <a:pt x="677" y="100"/>
                    </a:cubicBezTo>
                    <a:cubicBezTo>
                      <a:pt x="814" y="208"/>
                      <a:pt x="814" y="208"/>
                      <a:pt x="814" y="208"/>
                    </a:cubicBezTo>
                    <a:cubicBezTo>
                      <a:pt x="1153" y="309"/>
                      <a:pt x="1153" y="309"/>
                      <a:pt x="1153" y="309"/>
                    </a:cubicBezTo>
                    <a:cubicBezTo>
                      <a:pt x="1173" y="277"/>
                      <a:pt x="1173" y="277"/>
                      <a:pt x="1173" y="277"/>
                    </a:cubicBezTo>
                    <a:cubicBezTo>
                      <a:pt x="1182" y="263"/>
                      <a:pt x="1176" y="245"/>
                      <a:pt x="1161" y="239"/>
                    </a:cubicBezTo>
                    <a:cubicBezTo>
                      <a:pt x="863" y="140"/>
                      <a:pt x="863" y="140"/>
                      <a:pt x="863" y="140"/>
                    </a:cubicBezTo>
                    <a:cubicBezTo>
                      <a:pt x="746" y="22"/>
                      <a:pt x="746" y="22"/>
                      <a:pt x="746" y="22"/>
                    </a:cubicBezTo>
                    <a:cubicBezTo>
                      <a:pt x="736" y="12"/>
                      <a:pt x="723" y="6"/>
                      <a:pt x="709" y="6"/>
                    </a:cubicBezTo>
                    <a:moveTo>
                      <a:pt x="880" y="112"/>
                    </a:moveTo>
                    <a:cubicBezTo>
                      <a:pt x="917" y="124"/>
                      <a:pt x="917" y="124"/>
                      <a:pt x="917" y="124"/>
                    </a:cubicBezTo>
                    <a:cubicBezTo>
                      <a:pt x="917" y="123"/>
                      <a:pt x="917" y="123"/>
                      <a:pt x="917" y="123"/>
                    </a:cubicBezTo>
                    <a:cubicBezTo>
                      <a:pt x="896" y="55"/>
                      <a:pt x="837" y="8"/>
                      <a:pt x="769" y="0"/>
                    </a:cubicBezTo>
                    <a:lnTo>
                      <a:pt x="880" y="112"/>
                    </a:lnTo>
                    <a:close/>
                    <a:moveTo>
                      <a:pt x="805" y="239"/>
                    </a:moveTo>
                    <a:cubicBezTo>
                      <a:pt x="799" y="237"/>
                      <a:pt x="799" y="237"/>
                      <a:pt x="799" y="237"/>
                    </a:cubicBezTo>
                    <a:cubicBezTo>
                      <a:pt x="794" y="233"/>
                      <a:pt x="794" y="233"/>
                      <a:pt x="794" y="233"/>
                    </a:cubicBezTo>
                    <a:cubicBezTo>
                      <a:pt x="665" y="131"/>
                      <a:pt x="665" y="131"/>
                      <a:pt x="665" y="131"/>
                    </a:cubicBezTo>
                    <a:cubicBezTo>
                      <a:pt x="719" y="421"/>
                      <a:pt x="719" y="421"/>
                      <a:pt x="719" y="421"/>
                    </a:cubicBezTo>
                    <a:cubicBezTo>
                      <a:pt x="836" y="407"/>
                      <a:pt x="943" y="370"/>
                      <a:pt x="985" y="350"/>
                    </a:cubicBezTo>
                    <a:cubicBezTo>
                      <a:pt x="966" y="287"/>
                      <a:pt x="966" y="287"/>
                      <a:pt x="966" y="287"/>
                    </a:cubicBezTo>
                    <a:lnTo>
                      <a:pt x="805" y="239"/>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sp>
            <p:nvSpPr>
              <p:cNvPr id="236" name="Freeform 27">
                <a:extLst>
                  <a:ext uri="{FF2B5EF4-FFF2-40B4-BE49-F238E27FC236}">
                    <a16:creationId xmlns:a16="http://schemas.microsoft.com/office/drawing/2014/main" id="{67C9389E-9D04-4910-8E0E-84CD2EC8F2C6}"/>
                  </a:ext>
                </a:extLst>
              </p:cNvPr>
              <p:cNvSpPr>
                <a:spLocks noEditPoints="1"/>
              </p:cNvSpPr>
              <p:nvPr/>
            </p:nvSpPr>
            <p:spPr bwMode="auto">
              <a:xfrm>
                <a:off x="5343905" y="2937510"/>
                <a:ext cx="1532763" cy="1001649"/>
              </a:xfrm>
              <a:custGeom>
                <a:avLst/>
                <a:gdLst>
                  <a:gd name="T0" fmla="*/ 744 w 2148"/>
                  <a:gd name="T1" fmla="*/ 1402 h 1402"/>
                  <a:gd name="T2" fmla="*/ 305 w 2148"/>
                  <a:gd name="T3" fmla="*/ 899 h 1402"/>
                  <a:gd name="T4" fmla="*/ 291 w 2148"/>
                  <a:gd name="T5" fmla="*/ 786 h 1402"/>
                  <a:gd name="T6" fmla="*/ 322 w 2148"/>
                  <a:gd name="T7" fmla="*/ 859 h 1402"/>
                  <a:gd name="T8" fmla="*/ 754 w 2148"/>
                  <a:gd name="T9" fmla="*/ 1350 h 1402"/>
                  <a:gd name="T10" fmla="*/ 648 w 2148"/>
                  <a:gd name="T11" fmla="*/ 944 h 1402"/>
                  <a:gd name="T12" fmla="*/ 683 w 2148"/>
                  <a:gd name="T13" fmla="*/ 917 h 1402"/>
                  <a:gd name="T14" fmla="*/ 805 w 2148"/>
                  <a:gd name="T15" fmla="*/ 1356 h 1402"/>
                  <a:gd name="T16" fmla="*/ 372 w 2148"/>
                  <a:gd name="T17" fmla="*/ 117 h 1402"/>
                  <a:gd name="T18" fmla="*/ 343 w 2148"/>
                  <a:gd name="T19" fmla="*/ 243 h 1402"/>
                  <a:gd name="T20" fmla="*/ 279 w 2148"/>
                  <a:gd name="T21" fmla="*/ 274 h 1402"/>
                  <a:gd name="T22" fmla="*/ 342 w 2148"/>
                  <a:gd name="T23" fmla="*/ 248 h 1402"/>
                  <a:gd name="T24" fmla="*/ 269 w 2148"/>
                  <a:gd name="T25" fmla="*/ 4 h 1402"/>
                  <a:gd name="T26" fmla="*/ 185 w 2148"/>
                  <a:gd name="T27" fmla="*/ 242 h 1402"/>
                  <a:gd name="T28" fmla="*/ 195 w 2148"/>
                  <a:gd name="T29" fmla="*/ 112 h 1402"/>
                  <a:gd name="T30" fmla="*/ 254 w 2148"/>
                  <a:gd name="T31" fmla="*/ 150 h 1402"/>
                  <a:gd name="T32" fmla="*/ 375 w 2148"/>
                  <a:gd name="T33" fmla="*/ 73 h 1402"/>
                  <a:gd name="T34" fmla="*/ 1980 w 2148"/>
                  <a:gd name="T35" fmla="*/ 925 h 1402"/>
                  <a:gd name="T36" fmla="*/ 1745 w 2148"/>
                  <a:gd name="T37" fmla="*/ 745 h 1402"/>
                  <a:gd name="T38" fmla="*/ 2057 w 2148"/>
                  <a:gd name="T39" fmla="*/ 1336 h 1402"/>
                  <a:gd name="T40" fmla="*/ 1863 w 2148"/>
                  <a:gd name="T41" fmla="*/ 993 h 1402"/>
                  <a:gd name="T42" fmla="*/ 1585 w 2148"/>
                  <a:gd name="T43" fmla="*/ 798 h 1402"/>
                  <a:gd name="T44" fmla="*/ 1542 w 2148"/>
                  <a:gd name="T45" fmla="*/ 804 h 1402"/>
                  <a:gd name="T46" fmla="*/ 2017 w 2148"/>
                  <a:gd name="T47" fmla="*/ 1390 h 1402"/>
                  <a:gd name="T48" fmla="*/ 2097 w 2148"/>
                  <a:gd name="T49" fmla="*/ 1356 h 1402"/>
                  <a:gd name="T50" fmla="*/ 1664 w 2148"/>
                  <a:gd name="T51" fmla="*/ 258 h 1402"/>
                  <a:gd name="T52" fmla="*/ 1636 w 2148"/>
                  <a:gd name="T53" fmla="*/ 133 h 1402"/>
                  <a:gd name="T54" fmla="*/ 1557 w 2148"/>
                  <a:gd name="T55" fmla="*/ 256 h 1402"/>
                  <a:gd name="T56" fmla="*/ 1652 w 2148"/>
                  <a:gd name="T57" fmla="*/ 273 h 1402"/>
                  <a:gd name="T58" fmla="*/ 1688 w 2148"/>
                  <a:gd name="T59" fmla="*/ 33 h 1402"/>
                  <a:gd name="T60" fmla="*/ 1475 w 2148"/>
                  <a:gd name="T61" fmla="*/ 243 h 1402"/>
                  <a:gd name="T62" fmla="*/ 1481 w 2148"/>
                  <a:gd name="T63" fmla="*/ 187 h 1402"/>
                  <a:gd name="T64" fmla="*/ 1525 w 2148"/>
                  <a:gd name="T65" fmla="*/ 150 h 1402"/>
                  <a:gd name="T66" fmla="*/ 1666 w 2148"/>
                  <a:gd name="T67" fmla="*/ 74 h 1402"/>
                  <a:gd name="T68" fmla="*/ 1456 w 2148"/>
                  <a:gd name="T69" fmla="*/ 1286 h 1402"/>
                  <a:gd name="T70" fmla="*/ 1144 w 2148"/>
                  <a:gd name="T71" fmla="*/ 728 h 1402"/>
                  <a:gd name="T72" fmla="*/ 1414 w 2148"/>
                  <a:gd name="T73" fmla="*/ 1300 h 1402"/>
                  <a:gd name="T74" fmla="*/ 1226 w 2148"/>
                  <a:gd name="T75" fmla="*/ 1002 h 1402"/>
                  <a:gd name="T76" fmla="*/ 940 w 2148"/>
                  <a:gd name="T77" fmla="*/ 802 h 1402"/>
                  <a:gd name="T78" fmla="*/ 894 w 2148"/>
                  <a:gd name="T79" fmla="*/ 793 h 1402"/>
                  <a:gd name="T80" fmla="*/ 1190 w 2148"/>
                  <a:gd name="T81" fmla="*/ 1028 h 1402"/>
                  <a:gd name="T82" fmla="*/ 1397 w 2148"/>
                  <a:gd name="T83" fmla="*/ 1401 h 1402"/>
                  <a:gd name="T84" fmla="*/ 1006 w 2148"/>
                  <a:gd name="T85" fmla="*/ 273 h 1402"/>
                  <a:gd name="T86" fmla="*/ 996 w 2148"/>
                  <a:gd name="T87" fmla="*/ 111 h 1402"/>
                  <a:gd name="T88" fmla="*/ 929 w 2148"/>
                  <a:gd name="T89" fmla="*/ 242 h 1402"/>
                  <a:gd name="T90" fmla="*/ 969 w 2148"/>
                  <a:gd name="T91" fmla="*/ 276 h 1402"/>
                  <a:gd name="T92" fmla="*/ 988 w 2148"/>
                  <a:gd name="T93" fmla="*/ 248 h 1402"/>
                  <a:gd name="T94" fmla="*/ 787 w 2148"/>
                  <a:gd name="T95" fmla="*/ 74 h 1402"/>
                  <a:gd name="T96" fmla="*/ 835 w 2148"/>
                  <a:gd name="T97" fmla="*/ 187 h 1402"/>
                  <a:gd name="T98" fmla="*/ 878 w 2148"/>
                  <a:gd name="T99" fmla="*/ 149 h 1402"/>
                  <a:gd name="T100" fmla="*/ 933 w 2148"/>
                  <a:gd name="T101" fmla="*/ 87 h 1402"/>
                  <a:gd name="T102" fmla="*/ 1042 w 2148"/>
                  <a:gd name="T103" fmla="*/ 33 h 1402"/>
                  <a:gd name="T104" fmla="*/ 0 w 2148"/>
                  <a:gd name="T105" fmla="*/ 1061 h 1402"/>
                  <a:gd name="T106" fmla="*/ 44 w 2148"/>
                  <a:gd name="T107" fmla="*/ 768 h 1402"/>
                  <a:gd name="T108" fmla="*/ 713 w 2148"/>
                  <a:gd name="T109" fmla="*/ 623 h 1402"/>
                  <a:gd name="T110" fmla="*/ 719 w 2148"/>
                  <a:gd name="T111" fmla="*/ 579 h 1402"/>
                  <a:gd name="T112" fmla="*/ 1454 w 2148"/>
                  <a:gd name="T113" fmla="*/ 623 h 1402"/>
                  <a:gd name="T114" fmla="*/ 1359 w 2148"/>
                  <a:gd name="T115" fmla="*/ 623 h 1402"/>
                  <a:gd name="T116" fmla="*/ 2005 w 2148"/>
                  <a:gd name="T117" fmla="*/ 623 h 1402"/>
                  <a:gd name="T118" fmla="*/ 2126 w 2148"/>
                  <a:gd name="T119" fmla="*/ 579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8" h="1402">
                    <a:moveTo>
                      <a:pt x="805" y="1356"/>
                    </a:moveTo>
                    <a:cubicBezTo>
                      <a:pt x="793" y="1378"/>
                      <a:pt x="774" y="1394"/>
                      <a:pt x="751" y="1401"/>
                    </a:cubicBezTo>
                    <a:cubicBezTo>
                      <a:pt x="749" y="1402"/>
                      <a:pt x="746" y="1402"/>
                      <a:pt x="744" y="1402"/>
                    </a:cubicBezTo>
                    <a:cubicBezTo>
                      <a:pt x="736" y="1402"/>
                      <a:pt x="728" y="1397"/>
                      <a:pt x="725" y="1390"/>
                    </a:cubicBezTo>
                    <a:cubicBezTo>
                      <a:pt x="544" y="1028"/>
                      <a:pt x="544" y="1028"/>
                      <a:pt x="544" y="1028"/>
                    </a:cubicBezTo>
                    <a:cubicBezTo>
                      <a:pt x="510" y="1009"/>
                      <a:pt x="343" y="916"/>
                      <a:pt x="305" y="899"/>
                    </a:cubicBezTo>
                    <a:cubicBezTo>
                      <a:pt x="254" y="877"/>
                      <a:pt x="250" y="817"/>
                      <a:pt x="250" y="804"/>
                    </a:cubicBezTo>
                    <a:cubicBezTo>
                      <a:pt x="248" y="793"/>
                      <a:pt x="248" y="793"/>
                      <a:pt x="248" y="793"/>
                    </a:cubicBezTo>
                    <a:cubicBezTo>
                      <a:pt x="262" y="791"/>
                      <a:pt x="277" y="789"/>
                      <a:pt x="291" y="786"/>
                    </a:cubicBezTo>
                    <a:cubicBezTo>
                      <a:pt x="293" y="798"/>
                      <a:pt x="293" y="798"/>
                      <a:pt x="293" y="798"/>
                    </a:cubicBezTo>
                    <a:cubicBezTo>
                      <a:pt x="293" y="799"/>
                      <a:pt x="294" y="801"/>
                      <a:pt x="294" y="802"/>
                    </a:cubicBezTo>
                    <a:cubicBezTo>
                      <a:pt x="294" y="803"/>
                      <a:pt x="293" y="846"/>
                      <a:pt x="322" y="859"/>
                    </a:cubicBezTo>
                    <a:cubicBezTo>
                      <a:pt x="367" y="878"/>
                      <a:pt x="563" y="988"/>
                      <a:pt x="571" y="993"/>
                    </a:cubicBezTo>
                    <a:cubicBezTo>
                      <a:pt x="575" y="995"/>
                      <a:pt x="578" y="998"/>
                      <a:pt x="580" y="1002"/>
                    </a:cubicBezTo>
                    <a:cubicBezTo>
                      <a:pt x="754" y="1350"/>
                      <a:pt x="754" y="1350"/>
                      <a:pt x="754" y="1350"/>
                    </a:cubicBezTo>
                    <a:cubicBezTo>
                      <a:pt x="759" y="1346"/>
                      <a:pt x="763" y="1342"/>
                      <a:pt x="765" y="1336"/>
                    </a:cubicBezTo>
                    <a:cubicBezTo>
                      <a:pt x="771" y="1325"/>
                      <a:pt x="772" y="1312"/>
                      <a:pt x="768" y="1300"/>
                    </a:cubicBezTo>
                    <a:cubicBezTo>
                      <a:pt x="648" y="944"/>
                      <a:pt x="648" y="944"/>
                      <a:pt x="648" y="944"/>
                    </a:cubicBezTo>
                    <a:cubicBezTo>
                      <a:pt x="453" y="745"/>
                      <a:pt x="453" y="745"/>
                      <a:pt x="453" y="745"/>
                    </a:cubicBezTo>
                    <a:cubicBezTo>
                      <a:pt x="470" y="739"/>
                      <a:pt x="485" y="733"/>
                      <a:pt x="498" y="728"/>
                    </a:cubicBezTo>
                    <a:cubicBezTo>
                      <a:pt x="683" y="917"/>
                      <a:pt x="683" y="917"/>
                      <a:pt x="683" y="917"/>
                    </a:cubicBezTo>
                    <a:cubicBezTo>
                      <a:pt x="685" y="919"/>
                      <a:pt x="687" y="922"/>
                      <a:pt x="688" y="925"/>
                    </a:cubicBezTo>
                    <a:cubicBezTo>
                      <a:pt x="810" y="1286"/>
                      <a:pt x="810" y="1286"/>
                      <a:pt x="810" y="1286"/>
                    </a:cubicBezTo>
                    <a:cubicBezTo>
                      <a:pt x="818" y="1310"/>
                      <a:pt x="816" y="1334"/>
                      <a:pt x="805" y="1356"/>
                    </a:cubicBezTo>
                    <a:close/>
                    <a:moveTo>
                      <a:pt x="360" y="273"/>
                    </a:moveTo>
                    <a:cubicBezTo>
                      <a:pt x="368" y="270"/>
                      <a:pt x="371" y="262"/>
                      <a:pt x="372" y="258"/>
                    </a:cubicBezTo>
                    <a:cubicBezTo>
                      <a:pt x="381" y="235"/>
                      <a:pt x="396" y="160"/>
                      <a:pt x="372" y="117"/>
                    </a:cubicBezTo>
                    <a:cubicBezTo>
                      <a:pt x="368" y="110"/>
                      <a:pt x="358" y="107"/>
                      <a:pt x="350" y="111"/>
                    </a:cubicBezTo>
                    <a:cubicBezTo>
                      <a:pt x="343" y="115"/>
                      <a:pt x="340" y="125"/>
                      <a:pt x="344" y="133"/>
                    </a:cubicBezTo>
                    <a:cubicBezTo>
                      <a:pt x="361" y="163"/>
                      <a:pt x="350" y="224"/>
                      <a:pt x="343" y="243"/>
                    </a:cubicBezTo>
                    <a:cubicBezTo>
                      <a:pt x="334" y="244"/>
                      <a:pt x="313" y="245"/>
                      <a:pt x="283" y="242"/>
                    </a:cubicBezTo>
                    <a:cubicBezTo>
                      <a:pt x="274" y="241"/>
                      <a:pt x="266" y="247"/>
                      <a:pt x="265" y="256"/>
                    </a:cubicBezTo>
                    <a:cubicBezTo>
                      <a:pt x="264" y="265"/>
                      <a:pt x="271" y="273"/>
                      <a:pt x="279" y="274"/>
                    </a:cubicBezTo>
                    <a:cubicBezTo>
                      <a:pt x="296" y="276"/>
                      <a:pt x="310" y="276"/>
                      <a:pt x="323" y="276"/>
                    </a:cubicBezTo>
                    <a:cubicBezTo>
                      <a:pt x="341" y="276"/>
                      <a:pt x="354" y="275"/>
                      <a:pt x="360" y="273"/>
                    </a:cubicBezTo>
                    <a:close/>
                    <a:moveTo>
                      <a:pt x="342" y="248"/>
                    </a:moveTo>
                    <a:cubicBezTo>
                      <a:pt x="342" y="248"/>
                      <a:pt x="342" y="248"/>
                      <a:pt x="342" y="248"/>
                    </a:cubicBezTo>
                    <a:close/>
                    <a:moveTo>
                      <a:pt x="396" y="33"/>
                    </a:moveTo>
                    <a:cubicBezTo>
                      <a:pt x="322" y="29"/>
                      <a:pt x="350" y="10"/>
                      <a:pt x="269" y="4"/>
                    </a:cubicBezTo>
                    <a:cubicBezTo>
                      <a:pt x="199" y="0"/>
                      <a:pt x="161" y="39"/>
                      <a:pt x="141" y="74"/>
                    </a:cubicBezTo>
                    <a:cubicBezTo>
                      <a:pt x="100" y="148"/>
                      <a:pt x="171" y="230"/>
                      <a:pt x="183" y="243"/>
                    </a:cubicBezTo>
                    <a:cubicBezTo>
                      <a:pt x="184" y="244"/>
                      <a:pt x="185" y="244"/>
                      <a:pt x="185" y="242"/>
                    </a:cubicBezTo>
                    <a:cubicBezTo>
                      <a:pt x="185" y="242"/>
                      <a:pt x="185" y="242"/>
                      <a:pt x="189" y="187"/>
                    </a:cubicBezTo>
                    <a:cubicBezTo>
                      <a:pt x="189" y="187"/>
                      <a:pt x="189" y="187"/>
                      <a:pt x="189" y="187"/>
                    </a:cubicBezTo>
                    <a:cubicBezTo>
                      <a:pt x="188" y="182"/>
                      <a:pt x="164" y="125"/>
                      <a:pt x="195" y="112"/>
                    </a:cubicBezTo>
                    <a:cubicBezTo>
                      <a:pt x="227" y="97"/>
                      <a:pt x="232" y="142"/>
                      <a:pt x="232" y="149"/>
                    </a:cubicBezTo>
                    <a:cubicBezTo>
                      <a:pt x="232" y="150"/>
                      <a:pt x="233" y="150"/>
                      <a:pt x="233" y="150"/>
                    </a:cubicBezTo>
                    <a:cubicBezTo>
                      <a:pt x="237" y="151"/>
                      <a:pt x="253" y="154"/>
                      <a:pt x="254" y="150"/>
                    </a:cubicBezTo>
                    <a:cubicBezTo>
                      <a:pt x="256" y="116"/>
                      <a:pt x="270" y="98"/>
                      <a:pt x="287" y="87"/>
                    </a:cubicBezTo>
                    <a:cubicBezTo>
                      <a:pt x="320" y="67"/>
                      <a:pt x="366" y="76"/>
                      <a:pt x="374" y="74"/>
                    </a:cubicBezTo>
                    <a:cubicBezTo>
                      <a:pt x="374" y="73"/>
                      <a:pt x="375" y="73"/>
                      <a:pt x="375" y="73"/>
                    </a:cubicBezTo>
                    <a:cubicBezTo>
                      <a:pt x="380" y="57"/>
                      <a:pt x="404" y="33"/>
                      <a:pt x="396" y="33"/>
                    </a:cubicBezTo>
                    <a:close/>
                    <a:moveTo>
                      <a:pt x="2102" y="1286"/>
                    </a:moveTo>
                    <a:cubicBezTo>
                      <a:pt x="1980" y="925"/>
                      <a:pt x="1980" y="925"/>
                      <a:pt x="1980" y="925"/>
                    </a:cubicBezTo>
                    <a:cubicBezTo>
                      <a:pt x="1979" y="922"/>
                      <a:pt x="1977" y="919"/>
                      <a:pt x="1975" y="917"/>
                    </a:cubicBezTo>
                    <a:cubicBezTo>
                      <a:pt x="1790" y="728"/>
                      <a:pt x="1790" y="728"/>
                      <a:pt x="1790" y="728"/>
                    </a:cubicBezTo>
                    <a:cubicBezTo>
                      <a:pt x="1777" y="733"/>
                      <a:pt x="1762" y="739"/>
                      <a:pt x="1745" y="745"/>
                    </a:cubicBezTo>
                    <a:cubicBezTo>
                      <a:pt x="1940" y="944"/>
                      <a:pt x="1940" y="944"/>
                      <a:pt x="1940" y="944"/>
                    </a:cubicBezTo>
                    <a:cubicBezTo>
                      <a:pt x="2060" y="1300"/>
                      <a:pt x="2060" y="1300"/>
                      <a:pt x="2060" y="1300"/>
                    </a:cubicBezTo>
                    <a:cubicBezTo>
                      <a:pt x="2064" y="1312"/>
                      <a:pt x="2063" y="1325"/>
                      <a:pt x="2057" y="1336"/>
                    </a:cubicBezTo>
                    <a:cubicBezTo>
                      <a:pt x="2055" y="1342"/>
                      <a:pt x="2051" y="1346"/>
                      <a:pt x="2046" y="1350"/>
                    </a:cubicBezTo>
                    <a:cubicBezTo>
                      <a:pt x="1872" y="1002"/>
                      <a:pt x="1872" y="1002"/>
                      <a:pt x="1872" y="1002"/>
                    </a:cubicBezTo>
                    <a:cubicBezTo>
                      <a:pt x="1870" y="998"/>
                      <a:pt x="1867" y="995"/>
                      <a:pt x="1863" y="993"/>
                    </a:cubicBezTo>
                    <a:cubicBezTo>
                      <a:pt x="1855" y="988"/>
                      <a:pt x="1659" y="878"/>
                      <a:pt x="1615" y="859"/>
                    </a:cubicBezTo>
                    <a:cubicBezTo>
                      <a:pt x="1585" y="846"/>
                      <a:pt x="1586" y="803"/>
                      <a:pt x="1586" y="802"/>
                    </a:cubicBezTo>
                    <a:cubicBezTo>
                      <a:pt x="1586" y="801"/>
                      <a:pt x="1585" y="799"/>
                      <a:pt x="1585" y="798"/>
                    </a:cubicBezTo>
                    <a:cubicBezTo>
                      <a:pt x="1583" y="786"/>
                      <a:pt x="1583" y="786"/>
                      <a:pt x="1583" y="786"/>
                    </a:cubicBezTo>
                    <a:cubicBezTo>
                      <a:pt x="1569" y="789"/>
                      <a:pt x="1554" y="791"/>
                      <a:pt x="1540" y="793"/>
                    </a:cubicBezTo>
                    <a:cubicBezTo>
                      <a:pt x="1542" y="804"/>
                      <a:pt x="1542" y="804"/>
                      <a:pt x="1542" y="804"/>
                    </a:cubicBezTo>
                    <a:cubicBezTo>
                      <a:pt x="1542" y="817"/>
                      <a:pt x="1546" y="877"/>
                      <a:pt x="1597" y="899"/>
                    </a:cubicBezTo>
                    <a:cubicBezTo>
                      <a:pt x="1635" y="916"/>
                      <a:pt x="1802" y="1009"/>
                      <a:pt x="1836" y="1028"/>
                    </a:cubicBezTo>
                    <a:cubicBezTo>
                      <a:pt x="2017" y="1390"/>
                      <a:pt x="2017" y="1390"/>
                      <a:pt x="2017" y="1390"/>
                    </a:cubicBezTo>
                    <a:cubicBezTo>
                      <a:pt x="2020" y="1397"/>
                      <a:pt x="2028" y="1402"/>
                      <a:pt x="2036" y="1402"/>
                    </a:cubicBezTo>
                    <a:cubicBezTo>
                      <a:pt x="2038" y="1402"/>
                      <a:pt x="2041" y="1402"/>
                      <a:pt x="2043" y="1401"/>
                    </a:cubicBezTo>
                    <a:cubicBezTo>
                      <a:pt x="2066" y="1394"/>
                      <a:pt x="2085" y="1378"/>
                      <a:pt x="2097" y="1356"/>
                    </a:cubicBezTo>
                    <a:cubicBezTo>
                      <a:pt x="2108" y="1334"/>
                      <a:pt x="2110" y="1310"/>
                      <a:pt x="2102" y="1286"/>
                    </a:cubicBezTo>
                    <a:close/>
                    <a:moveTo>
                      <a:pt x="1652" y="273"/>
                    </a:moveTo>
                    <a:cubicBezTo>
                      <a:pt x="1660" y="270"/>
                      <a:pt x="1663" y="262"/>
                      <a:pt x="1664" y="258"/>
                    </a:cubicBezTo>
                    <a:cubicBezTo>
                      <a:pt x="1673" y="235"/>
                      <a:pt x="1688" y="160"/>
                      <a:pt x="1664" y="117"/>
                    </a:cubicBezTo>
                    <a:cubicBezTo>
                      <a:pt x="1660" y="110"/>
                      <a:pt x="1650" y="107"/>
                      <a:pt x="1642" y="111"/>
                    </a:cubicBezTo>
                    <a:cubicBezTo>
                      <a:pt x="1635" y="115"/>
                      <a:pt x="1632" y="125"/>
                      <a:pt x="1636" y="133"/>
                    </a:cubicBezTo>
                    <a:cubicBezTo>
                      <a:pt x="1653" y="163"/>
                      <a:pt x="1642" y="224"/>
                      <a:pt x="1635" y="243"/>
                    </a:cubicBezTo>
                    <a:cubicBezTo>
                      <a:pt x="1626" y="244"/>
                      <a:pt x="1605" y="245"/>
                      <a:pt x="1575" y="242"/>
                    </a:cubicBezTo>
                    <a:cubicBezTo>
                      <a:pt x="1566" y="241"/>
                      <a:pt x="1558" y="247"/>
                      <a:pt x="1557" y="256"/>
                    </a:cubicBezTo>
                    <a:cubicBezTo>
                      <a:pt x="1556" y="265"/>
                      <a:pt x="1563" y="273"/>
                      <a:pt x="1571" y="274"/>
                    </a:cubicBezTo>
                    <a:cubicBezTo>
                      <a:pt x="1588" y="276"/>
                      <a:pt x="1602" y="276"/>
                      <a:pt x="1615" y="276"/>
                    </a:cubicBezTo>
                    <a:cubicBezTo>
                      <a:pt x="1633" y="276"/>
                      <a:pt x="1646" y="275"/>
                      <a:pt x="1652" y="273"/>
                    </a:cubicBezTo>
                    <a:close/>
                    <a:moveTo>
                      <a:pt x="1634" y="248"/>
                    </a:moveTo>
                    <a:cubicBezTo>
                      <a:pt x="1634" y="248"/>
                      <a:pt x="1634" y="248"/>
                      <a:pt x="1634" y="248"/>
                    </a:cubicBezTo>
                    <a:close/>
                    <a:moveTo>
                      <a:pt x="1688" y="33"/>
                    </a:moveTo>
                    <a:cubicBezTo>
                      <a:pt x="1614" y="29"/>
                      <a:pt x="1642" y="10"/>
                      <a:pt x="1561" y="4"/>
                    </a:cubicBezTo>
                    <a:cubicBezTo>
                      <a:pt x="1491" y="0"/>
                      <a:pt x="1453" y="39"/>
                      <a:pt x="1433" y="74"/>
                    </a:cubicBezTo>
                    <a:cubicBezTo>
                      <a:pt x="1392" y="148"/>
                      <a:pt x="1463" y="230"/>
                      <a:pt x="1475" y="243"/>
                    </a:cubicBezTo>
                    <a:cubicBezTo>
                      <a:pt x="1476" y="244"/>
                      <a:pt x="1477" y="244"/>
                      <a:pt x="1477" y="242"/>
                    </a:cubicBezTo>
                    <a:cubicBezTo>
                      <a:pt x="1477" y="242"/>
                      <a:pt x="1477" y="242"/>
                      <a:pt x="1481" y="187"/>
                    </a:cubicBezTo>
                    <a:cubicBezTo>
                      <a:pt x="1481" y="187"/>
                      <a:pt x="1481" y="187"/>
                      <a:pt x="1481" y="187"/>
                    </a:cubicBezTo>
                    <a:cubicBezTo>
                      <a:pt x="1480" y="182"/>
                      <a:pt x="1456" y="125"/>
                      <a:pt x="1487" y="112"/>
                    </a:cubicBezTo>
                    <a:cubicBezTo>
                      <a:pt x="1519" y="97"/>
                      <a:pt x="1524" y="142"/>
                      <a:pt x="1524" y="149"/>
                    </a:cubicBezTo>
                    <a:cubicBezTo>
                      <a:pt x="1524" y="150"/>
                      <a:pt x="1525" y="150"/>
                      <a:pt x="1525" y="150"/>
                    </a:cubicBezTo>
                    <a:cubicBezTo>
                      <a:pt x="1529" y="151"/>
                      <a:pt x="1545" y="154"/>
                      <a:pt x="1546" y="150"/>
                    </a:cubicBezTo>
                    <a:cubicBezTo>
                      <a:pt x="1548" y="116"/>
                      <a:pt x="1562" y="98"/>
                      <a:pt x="1579" y="87"/>
                    </a:cubicBezTo>
                    <a:cubicBezTo>
                      <a:pt x="1612" y="67"/>
                      <a:pt x="1658" y="76"/>
                      <a:pt x="1666" y="74"/>
                    </a:cubicBezTo>
                    <a:cubicBezTo>
                      <a:pt x="1666" y="73"/>
                      <a:pt x="1667" y="73"/>
                      <a:pt x="1667" y="73"/>
                    </a:cubicBezTo>
                    <a:cubicBezTo>
                      <a:pt x="1672" y="57"/>
                      <a:pt x="1696" y="33"/>
                      <a:pt x="1688" y="33"/>
                    </a:cubicBezTo>
                    <a:close/>
                    <a:moveTo>
                      <a:pt x="1456" y="1286"/>
                    </a:moveTo>
                    <a:cubicBezTo>
                      <a:pt x="1334" y="925"/>
                      <a:pt x="1334" y="925"/>
                      <a:pt x="1334" y="925"/>
                    </a:cubicBezTo>
                    <a:cubicBezTo>
                      <a:pt x="1333" y="922"/>
                      <a:pt x="1331" y="919"/>
                      <a:pt x="1329" y="917"/>
                    </a:cubicBezTo>
                    <a:cubicBezTo>
                      <a:pt x="1144" y="728"/>
                      <a:pt x="1144" y="728"/>
                      <a:pt x="1144" y="728"/>
                    </a:cubicBezTo>
                    <a:cubicBezTo>
                      <a:pt x="1131" y="733"/>
                      <a:pt x="1116" y="739"/>
                      <a:pt x="1099" y="745"/>
                    </a:cubicBezTo>
                    <a:cubicBezTo>
                      <a:pt x="1294" y="944"/>
                      <a:pt x="1294" y="944"/>
                      <a:pt x="1294" y="944"/>
                    </a:cubicBezTo>
                    <a:cubicBezTo>
                      <a:pt x="1414" y="1300"/>
                      <a:pt x="1414" y="1300"/>
                      <a:pt x="1414" y="1300"/>
                    </a:cubicBezTo>
                    <a:cubicBezTo>
                      <a:pt x="1418" y="1312"/>
                      <a:pt x="1417" y="1325"/>
                      <a:pt x="1411" y="1336"/>
                    </a:cubicBezTo>
                    <a:cubicBezTo>
                      <a:pt x="1409" y="1342"/>
                      <a:pt x="1405" y="1346"/>
                      <a:pt x="1400" y="1350"/>
                    </a:cubicBezTo>
                    <a:cubicBezTo>
                      <a:pt x="1226" y="1002"/>
                      <a:pt x="1226" y="1002"/>
                      <a:pt x="1226" y="1002"/>
                    </a:cubicBezTo>
                    <a:cubicBezTo>
                      <a:pt x="1224" y="998"/>
                      <a:pt x="1221" y="995"/>
                      <a:pt x="1217" y="993"/>
                    </a:cubicBezTo>
                    <a:cubicBezTo>
                      <a:pt x="1209" y="988"/>
                      <a:pt x="1013" y="878"/>
                      <a:pt x="969" y="859"/>
                    </a:cubicBezTo>
                    <a:cubicBezTo>
                      <a:pt x="939" y="846"/>
                      <a:pt x="940" y="803"/>
                      <a:pt x="940" y="802"/>
                    </a:cubicBezTo>
                    <a:cubicBezTo>
                      <a:pt x="940" y="801"/>
                      <a:pt x="939" y="799"/>
                      <a:pt x="939" y="798"/>
                    </a:cubicBezTo>
                    <a:cubicBezTo>
                      <a:pt x="937" y="786"/>
                      <a:pt x="937" y="786"/>
                      <a:pt x="937" y="786"/>
                    </a:cubicBezTo>
                    <a:cubicBezTo>
                      <a:pt x="923" y="789"/>
                      <a:pt x="908" y="791"/>
                      <a:pt x="894" y="793"/>
                    </a:cubicBezTo>
                    <a:cubicBezTo>
                      <a:pt x="896" y="804"/>
                      <a:pt x="896" y="804"/>
                      <a:pt x="896" y="804"/>
                    </a:cubicBezTo>
                    <a:cubicBezTo>
                      <a:pt x="896" y="817"/>
                      <a:pt x="900" y="877"/>
                      <a:pt x="951" y="899"/>
                    </a:cubicBezTo>
                    <a:cubicBezTo>
                      <a:pt x="989" y="916"/>
                      <a:pt x="1156" y="1009"/>
                      <a:pt x="1190" y="1028"/>
                    </a:cubicBezTo>
                    <a:cubicBezTo>
                      <a:pt x="1371" y="1390"/>
                      <a:pt x="1371" y="1390"/>
                      <a:pt x="1371" y="1390"/>
                    </a:cubicBezTo>
                    <a:cubicBezTo>
                      <a:pt x="1374" y="1397"/>
                      <a:pt x="1382" y="1402"/>
                      <a:pt x="1390" y="1402"/>
                    </a:cubicBezTo>
                    <a:cubicBezTo>
                      <a:pt x="1392" y="1402"/>
                      <a:pt x="1395" y="1402"/>
                      <a:pt x="1397" y="1401"/>
                    </a:cubicBezTo>
                    <a:cubicBezTo>
                      <a:pt x="1420" y="1394"/>
                      <a:pt x="1439" y="1378"/>
                      <a:pt x="1451" y="1356"/>
                    </a:cubicBezTo>
                    <a:cubicBezTo>
                      <a:pt x="1462" y="1334"/>
                      <a:pt x="1464" y="1310"/>
                      <a:pt x="1456" y="1286"/>
                    </a:cubicBezTo>
                    <a:close/>
                    <a:moveTo>
                      <a:pt x="1006" y="273"/>
                    </a:moveTo>
                    <a:cubicBezTo>
                      <a:pt x="1014" y="270"/>
                      <a:pt x="1017" y="262"/>
                      <a:pt x="1018" y="258"/>
                    </a:cubicBezTo>
                    <a:cubicBezTo>
                      <a:pt x="1027" y="235"/>
                      <a:pt x="1042" y="160"/>
                      <a:pt x="1018" y="117"/>
                    </a:cubicBezTo>
                    <a:cubicBezTo>
                      <a:pt x="1014" y="110"/>
                      <a:pt x="1004" y="107"/>
                      <a:pt x="996" y="111"/>
                    </a:cubicBezTo>
                    <a:cubicBezTo>
                      <a:pt x="989" y="115"/>
                      <a:pt x="986" y="125"/>
                      <a:pt x="990" y="133"/>
                    </a:cubicBezTo>
                    <a:cubicBezTo>
                      <a:pt x="1007" y="163"/>
                      <a:pt x="996" y="224"/>
                      <a:pt x="989" y="243"/>
                    </a:cubicBezTo>
                    <a:cubicBezTo>
                      <a:pt x="980" y="244"/>
                      <a:pt x="959" y="245"/>
                      <a:pt x="929" y="242"/>
                    </a:cubicBezTo>
                    <a:cubicBezTo>
                      <a:pt x="920" y="241"/>
                      <a:pt x="912" y="247"/>
                      <a:pt x="911" y="256"/>
                    </a:cubicBezTo>
                    <a:cubicBezTo>
                      <a:pt x="910" y="265"/>
                      <a:pt x="917" y="273"/>
                      <a:pt x="925" y="274"/>
                    </a:cubicBezTo>
                    <a:cubicBezTo>
                      <a:pt x="942" y="276"/>
                      <a:pt x="956" y="276"/>
                      <a:pt x="969" y="276"/>
                    </a:cubicBezTo>
                    <a:cubicBezTo>
                      <a:pt x="987" y="276"/>
                      <a:pt x="1000" y="275"/>
                      <a:pt x="1006" y="273"/>
                    </a:cubicBezTo>
                    <a:close/>
                    <a:moveTo>
                      <a:pt x="988" y="248"/>
                    </a:moveTo>
                    <a:cubicBezTo>
                      <a:pt x="988" y="248"/>
                      <a:pt x="988" y="248"/>
                      <a:pt x="988" y="248"/>
                    </a:cubicBezTo>
                    <a:close/>
                    <a:moveTo>
                      <a:pt x="1042" y="33"/>
                    </a:moveTo>
                    <a:cubicBezTo>
                      <a:pt x="968" y="29"/>
                      <a:pt x="996" y="10"/>
                      <a:pt x="915" y="4"/>
                    </a:cubicBezTo>
                    <a:cubicBezTo>
                      <a:pt x="845" y="0"/>
                      <a:pt x="807" y="39"/>
                      <a:pt x="787" y="74"/>
                    </a:cubicBezTo>
                    <a:cubicBezTo>
                      <a:pt x="746" y="148"/>
                      <a:pt x="817" y="230"/>
                      <a:pt x="829" y="243"/>
                    </a:cubicBezTo>
                    <a:cubicBezTo>
                      <a:pt x="830" y="244"/>
                      <a:pt x="831" y="244"/>
                      <a:pt x="831" y="242"/>
                    </a:cubicBezTo>
                    <a:cubicBezTo>
                      <a:pt x="831" y="242"/>
                      <a:pt x="831" y="242"/>
                      <a:pt x="835" y="187"/>
                    </a:cubicBezTo>
                    <a:cubicBezTo>
                      <a:pt x="835" y="187"/>
                      <a:pt x="835" y="187"/>
                      <a:pt x="835" y="187"/>
                    </a:cubicBezTo>
                    <a:cubicBezTo>
                      <a:pt x="834" y="182"/>
                      <a:pt x="810" y="125"/>
                      <a:pt x="841" y="112"/>
                    </a:cubicBezTo>
                    <a:cubicBezTo>
                      <a:pt x="873" y="97"/>
                      <a:pt x="878" y="142"/>
                      <a:pt x="878" y="149"/>
                    </a:cubicBezTo>
                    <a:cubicBezTo>
                      <a:pt x="878" y="150"/>
                      <a:pt x="879" y="150"/>
                      <a:pt x="879" y="150"/>
                    </a:cubicBezTo>
                    <a:cubicBezTo>
                      <a:pt x="883" y="151"/>
                      <a:pt x="899" y="154"/>
                      <a:pt x="900" y="150"/>
                    </a:cubicBezTo>
                    <a:cubicBezTo>
                      <a:pt x="902" y="116"/>
                      <a:pt x="916" y="98"/>
                      <a:pt x="933" y="87"/>
                    </a:cubicBezTo>
                    <a:cubicBezTo>
                      <a:pt x="966" y="67"/>
                      <a:pt x="1012" y="76"/>
                      <a:pt x="1020" y="74"/>
                    </a:cubicBezTo>
                    <a:cubicBezTo>
                      <a:pt x="1020" y="73"/>
                      <a:pt x="1021" y="73"/>
                      <a:pt x="1021" y="73"/>
                    </a:cubicBezTo>
                    <a:cubicBezTo>
                      <a:pt x="1026" y="57"/>
                      <a:pt x="1050" y="33"/>
                      <a:pt x="1042" y="33"/>
                    </a:cubicBezTo>
                    <a:close/>
                    <a:moveTo>
                      <a:pt x="155" y="582"/>
                    </a:moveTo>
                    <a:cubicBezTo>
                      <a:pt x="67" y="598"/>
                      <a:pt x="0" y="676"/>
                      <a:pt x="0" y="768"/>
                    </a:cubicBezTo>
                    <a:cubicBezTo>
                      <a:pt x="0" y="1061"/>
                      <a:pt x="0" y="1061"/>
                      <a:pt x="0" y="1061"/>
                    </a:cubicBezTo>
                    <a:cubicBezTo>
                      <a:pt x="0" y="1073"/>
                      <a:pt x="10" y="1083"/>
                      <a:pt x="22" y="1083"/>
                    </a:cubicBezTo>
                    <a:cubicBezTo>
                      <a:pt x="34" y="1083"/>
                      <a:pt x="44" y="1073"/>
                      <a:pt x="44" y="1061"/>
                    </a:cubicBezTo>
                    <a:cubicBezTo>
                      <a:pt x="44" y="768"/>
                      <a:pt x="44" y="768"/>
                      <a:pt x="44" y="768"/>
                    </a:cubicBezTo>
                    <a:cubicBezTo>
                      <a:pt x="44" y="697"/>
                      <a:pt x="95" y="638"/>
                      <a:pt x="163" y="625"/>
                    </a:cubicBezTo>
                    <a:lnTo>
                      <a:pt x="155" y="582"/>
                    </a:lnTo>
                    <a:close/>
                    <a:moveTo>
                      <a:pt x="713" y="623"/>
                    </a:moveTo>
                    <a:cubicBezTo>
                      <a:pt x="808" y="623"/>
                      <a:pt x="808" y="623"/>
                      <a:pt x="808" y="623"/>
                    </a:cubicBezTo>
                    <a:cubicBezTo>
                      <a:pt x="800" y="579"/>
                      <a:pt x="800" y="579"/>
                      <a:pt x="800" y="579"/>
                    </a:cubicBezTo>
                    <a:cubicBezTo>
                      <a:pt x="719" y="579"/>
                      <a:pt x="719" y="579"/>
                      <a:pt x="719" y="579"/>
                    </a:cubicBezTo>
                    <a:cubicBezTo>
                      <a:pt x="723" y="594"/>
                      <a:pt x="721" y="610"/>
                      <a:pt x="713" y="623"/>
                    </a:cubicBezTo>
                    <a:close/>
                    <a:moveTo>
                      <a:pt x="1359" y="623"/>
                    </a:moveTo>
                    <a:cubicBezTo>
                      <a:pt x="1454" y="623"/>
                      <a:pt x="1454" y="623"/>
                      <a:pt x="1454" y="623"/>
                    </a:cubicBezTo>
                    <a:cubicBezTo>
                      <a:pt x="1446" y="579"/>
                      <a:pt x="1446" y="579"/>
                      <a:pt x="1446" y="579"/>
                    </a:cubicBezTo>
                    <a:cubicBezTo>
                      <a:pt x="1365" y="579"/>
                      <a:pt x="1365" y="579"/>
                      <a:pt x="1365" y="579"/>
                    </a:cubicBezTo>
                    <a:cubicBezTo>
                      <a:pt x="1369" y="594"/>
                      <a:pt x="1367" y="610"/>
                      <a:pt x="1359" y="623"/>
                    </a:cubicBezTo>
                    <a:close/>
                    <a:moveTo>
                      <a:pt x="2126" y="579"/>
                    </a:moveTo>
                    <a:cubicBezTo>
                      <a:pt x="2011" y="579"/>
                      <a:pt x="2011" y="579"/>
                      <a:pt x="2011" y="579"/>
                    </a:cubicBezTo>
                    <a:cubicBezTo>
                      <a:pt x="2015" y="594"/>
                      <a:pt x="2013" y="610"/>
                      <a:pt x="2005" y="623"/>
                    </a:cubicBezTo>
                    <a:cubicBezTo>
                      <a:pt x="2126" y="623"/>
                      <a:pt x="2126" y="623"/>
                      <a:pt x="2126" y="623"/>
                    </a:cubicBezTo>
                    <a:cubicBezTo>
                      <a:pt x="2138" y="623"/>
                      <a:pt x="2148" y="613"/>
                      <a:pt x="2148" y="601"/>
                    </a:cubicBezTo>
                    <a:cubicBezTo>
                      <a:pt x="2148" y="589"/>
                      <a:pt x="2138" y="579"/>
                      <a:pt x="2126" y="579"/>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grpSp>
      </p:grpSp>
      <p:grpSp>
        <p:nvGrpSpPr>
          <p:cNvPr id="152" name="Group 151">
            <a:extLst>
              <a:ext uri="{FF2B5EF4-FFF2-40B4-BE49-F238E27FC236}">
                <a16:creationId xmlns:a16="http://schemas.microsoft.com/office/drawing/2014/main" id="{2A1CC1BA-AE79-491D-8B08-E8B4CB76D7B0}"/>
              </a:ext>
            </a:extLst>
          </p:cNvPr>
          <p:cNvGrpSpPr>
            <a:grpSpLocks/>
          </p:cNvGrpSpPr>
          <p:nvPr/>
        </p:nvGrpSpPr>
        <p:grpSpPr>
          <a:xfrm>
            <a:off x="630000" y="1814354"/>
            <a:ext cx="365760" cy="365760"/>
            <a:chOff x="5273675" y="2606675"/>
            <a:chExt cx="1646238" cy="1644650"/>
          </a:xfrm>
        </p:grpSpPr>
        <p:sp>
          <p:nvSpPr>
            <p:cNvPr id="229" name="AutoShape 3">
              <a:extLst>
                <a:ext uri="{FF2B5EF4-FFF2-40B4-BE49-F238E27FC236}">
                  <a16:creationId xmlns:a16="http://schemas.microsoft.com/office/drawing/2014/main" id="{BE3673C0-9E52-4A9D-B954-5C9C897B48B2}"/>
                </a:ext>
              </a:extLst>
            </p:cNvPr>
            <p:cNvSpPr>
              <a:spLocks noChangeAspect="1" noChangeArrowheads="1" noTextEdit="1"/>
            </p:cNvSpPr>
            <p:nvPr/>
          </p:nvSpPr>
          <p:spPr bwMode="auto">
            <a:xfrm>
              <a:off x="5273675"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grpSp>
          <p:nvGrpSpPr>
            <p:cNvPr id="230" name="Group 229">
              <a:extLst>
                <a:ext uri="{FF2B5EF4-FFF2-40B4-BE49-F238E27FC236}">
                  <a16:creationId xmlns:a16="http://schemas.microsoft.com/office/drawing/2014/main" id="{F9F1CE54-478B-4861-B3D1-B94147394177}"/>
                </a:ext>
              </a:extLst>
            </p:cNvPr>
            <p:cNvGrpSpPr/>
            <p:nvPr/>
          </p:nvGrpSpPr>
          <p:grpSpPr>
            <a:xfrm>
              <a:off x="5403692" y="2736691"/>
              <a:ext cx="1386206" cy="1386047"/>
              <a:chOff x="5403692" y="2736691"/>
              <a:chExt cx="1386206" cy="1386047"/>
            </a:xfrm>
          </p:grpSpPr>
          <p:sp>
            <p:nvSpPr>
              <p:cNvPr id="231" name="Freeform 10">
                <a:extLst>
                  <a:ext uri="{FF2B5EF4-FFF2-40B4-BE49-F238E27FC236}">
                    <a16:creationId xmlns:a16="http://schemas.microsoft.com/office/drawing/2014/main" id="{920DABF5-2A0B-44A5-8E1F-C2188CCC103A}"/>
                  </a:ext>
                </a:extLst>
              </p:cNvPr>
              <p:cNvSpPr>
                <a:spLocks/>
              </p:cNvSpPr>
              <p:nvPr/>
            </p:nvSpPr>
            <p:spPr bwMode="auto">
              <a:xfrm>
                <a:off x="5559425" y="2892424"/>
                <a:ext cx="1076325" cy="1074738"/>
              </a:xfrm>
              <a:custGeom>
                <a:avLst/>
                <a:gdLst>
                  <a:gd name="connsiteX0" fmla="*/ 172708 w 1076325"/>
                  <a:gd name="connsiteY0" fmla="*/ 952336 h 1074738"/>
                  <a:gd name="connsiteX1" fmla="*/ 183563 w 1076325"/>
                  <a:gd name="connsiteY1" fmla="*/ 956606 h 1074738"/>
                  <a:gd name="connsiteX2" fmla="*/ 260350 w 1076325"/>
                  <a:gd name="connsiteY2" fmla="*/ 1032751 h 1074738"/>
                  <a:gd name="connsiteX3" fmla="*/ 258197 w 1076325"/>
                  <a:gd name="connsiteY3" fmla="*/ 1074738 h 1074738"/>
                  <a:gd name="connsiteX4" fmla="*/ 161316 w 1076325"/>
                  <a:gd name="connsiteY4" fmla="*/ 978667 h 1074738"/>
                  <a:gd name="connsiteX5" fmla="*/ 161316 w 1076325"/>
                  <a:gd name="connsiteY5" fmla="*/ 956606 h 1074738"/>
                  <a:gd name="connsiteX6" fmla="*/ 172708 w 1076325"/>
                  <a:gd name="connsiteY6" fmla="*/ 952336 h 1074738"/>
                  <a:gd name="connsiteX7" fmla="*/ 255786 w 1076325"/>
                  <a:gd name="connsiteY7" fmla="*/ 872972 h 1074738"/>
                  <a:gd name="connsiteX8" fmla="*/ 258763 w 1076325"/>
                  <a:gd name="connsiteY8" fmla="*/ 915988 h 1074738"/>
                  <a:gd name="connsiteX9" fmla="*/ 241647 w 1076325"/>
                  <a:gd name="connsiteY9" fmla="*/ 899499 h 1074738"/>
                  <a:gd name="connsiteX10" fmla="*/ 241647 w 1076325"/>
                  <a:gd name="connsiteY10" fmla="*/ 877274 h 1074738"/>
                  <a:gd name="connsiteX11" fmla="*/ 255786 w 1076325"/>
                  <a:gd name="connsiteY11" fmla="*/ 872972 h 1074738"/>
                  <a:gd name="connsiteX12" fmla="*/ 158750 w 1076325"/>
                  <a:gd name="connsiteY12" fmla="*/ 817563 h 1074738"/>
                  <a:gd name="connsiteX13" fmla="*/ 201766 w 1076325"/>
                  <a:gd name="connsiteY13" fmla="*/ 820315 h 1074738"/>
                  <a:gd name="connsiteX14" fmla="*/ 197464 w 1076325"/>
                  <a:gd name="connsiteY14" fmla="*/ 833386 h 1074738"/>
                  <a:gd name="connsiteX15" fmla="*/ 186710 w 1076325"/>
                  <a:gd name="connsiteY15" fmla="*/ 838201 h 1074738"/>
                  <a:gd name="connsiteX16" fmla="*/ 175239 w 1076325"/>
                  <a:gd name="connsiteY16" fmla="*/ 833386 h 1074738"/>
                  <a:gd name="connsiteX17" fmla="*/ 41986 w 1076325"/>
                  <a:gd name="connsiteY17" fmla="*/ 814388 h 1074738"/>
                  <a:gd name="connsiteX18" fmla="*/ 118132 w 1076325"/>
                  <a:gd name="connsiteY18" fmla="*/ 891063 h 1074738"/>
                  <a:gd name="connsiteX19" fmla="*/ 118132 w 1076325"/>
                  <a:gd name="connsiteY19" fmla="*/ 913277 h 1074738"/>
                  <a:gd name="connsiteX20" fmla="*/ 106745 w 1076325"/>
                  <a:gd name="connsiteY20" fmla="*/ 917576 h 1074738"/>
                  <a:gd name="connsiteX21" fmla="*/ 96071 w 1076325"/>
                  <a:gd name="connsiteY21" fmla="*/ 913277 h 1074738"/>
                  <a:gd name="connsiteX22" fmla="*/ 0 w 1076325"/>
                  <a:gd name="connsiteY22" fmla="*/ 816538 h 1074738"/>
                  <a:gd name="connsiteX23" fmla="*/ 41986 w 1076325"/>
                  <a:gd name="connsiteY23" fmla="*/ 814388 h 1074738"/>
                  <a:gd name="connsiteX24" fmla="*/ 412161 w 1076325"/>
                  <a:gd name="connsiteY24" fmla="*/ 712807 h 1074738"/>
                  <a:gd name="connsiteX25" fmla="*/ 423409 w 1076325"/>
                  <a:gd name="connsiteY25" fmla="*/ 717630 h 1074738"/>
                  <a:gd name="connsiteX26" fmla="*/ 444501 w 1076325"/>
                  <a:gd name="connsiteY26" fmla="*/ 739775 h 1074738"/>
                  <a:gd name="connsiteX27" fmla="*/ 399506 w 1076325"/>
                  <a:gd name="connsiteY27" fmla="*/ 737632 h 1074738"/>
                  <a:gd name="connsiteX28" fmla="*/ 400912 w 1076325"/>
                  <a:gd name="connsiteY28" fmla="*/ 717630 h 1074738"/>
                  <a:gd name="connsiteX29" fmla="*/ 412161 w 1076325"/>
                  <a:gd name="connsiteY29" fmla="*/ 712807 h 1074738"/>
                  <a:gd name="connsiteX30" fmla="*/ 490406 w 1076325"/>
                  <a:gd name="connsiteY30" fmla="*/ 633434 h 1074738"/>
                  <a:gd name="connsiteX31" fmla="*/ 501809 w 1076325"/>
                  <a:gd name="connsiteY31" fmla="*/ 638259 h 1074738"/>
                  <a:gd name="connsiteX32" fmla="*/ 601663 w 1076325"/>
                  <a:gd name="connsiteY32" fmla="*/ 736916 h 1074738"/>
                  <a:gd name="connsiteX33" fmla="*/ 559997 w 1076325"/>
                  <a:gd name="connsiteY33" fmla="*/ 739775 h 1074738"/>
                  <a:gd name="connsiteX34" fmla="*/ 479540 w 1076325"/>
                  <a:gd name="connsiteY34" fmla="*/ 660421 h 1074738"/>
                  <a:gd name="connsiteX35" fmla="*/ 479540 w 1076325"/>
                  <a:gd name="connsiteY35" fmla="*/ 638259 h 1074738"/>
                  <a:gd name="connsiteX36" fmla="*/ 490406 w 1076325"/>
                  <a:gd name="connsiteY36" fmla="*/ 633434 h 1074738"/>
                  <a:gd name="connsiteX37" fmla="*/ 334963 w 1076325"/>
                  <a:gd name="connsiteY37" fmla="*/ 630238 h 1074738"/>
                  <a:gd name="connsiteX38" fmla="*/ 357108 w 1076325"/>
                  <a:gd name="connsiteY38" fmla="*/ 651950 h 1074738"/>
                  <a:gd name="connsiteX39" fmla="*/ 357108 w 1076325"/>
                  <a:gd name="connsiteY39" fmla="*/ 675109 h 1074738"/>
                  <a:gd name="connsiteX40" fmla="*/ 345678 w 1076325"/>
                  <a:gd name="connsiteY40" fmla="*/ 679451 h 1074738"/>
                  <a:gd name="connsiteX41" fmla="*/ 337106 w 1076325"/>
                  <a:gd name="connsiteY41" fmla="*/ 676556 h 1074738"/>
                  <a:gd name="connsiteX42" fmla="*/ 334963 w 1076325"/>
                  <a:gd name="connsiteY42" fmla="*/ 630238 h 1074738"/>
                  <a:gd name="connsiteX43" fmla="*/ 571127 w 1076325"/>
                  <a:gd name="connsiteY43" fmla="*/ 553882 h 1074738"/>
                  <a:gd name="connsiteX44" fmla="*/ 581954 w 1076325"/>
                  <a:gd name="connsiteY44" fmla="*/ 558176 h 1074738"/>
                  <a:gd name="connsiteX45" fmla="*/ 714376 w 1076325"/>
                  <a:gd name="connsiteY45" fmla="*/ 690598 h 1074738"/>
                  <a:gd name="connsiteX46" fmla="*/ 705070 w 1076325"/>
                  <a:gd name="connsiteY46" fmla="*/ 703483 h 1074738"/>
                  <a:gd name="connsiteX47" fmla="*/ 692186 w 1076325"/>
                  <a:gd name="connsiteY47" fmla="*/ 712788 h 1074738"/>
                  <a:gd name="connsiteX48" fmla="*/ 559764 w 1076325"/>
                  <a:gd name="connsiteY48" fmla="*/ 580366 h 1074738"/>
                  <a:gd name="connsiteX49" fmla="*/ 559764 w 1076325"/>
                  <a:gd name="connsiteY49" fmla="*/ 558176 h 1074738"/>
                  <a:gd name="connsiteX50" fmla="*/ 571127 w 1076325"/>
                  <a:gd name="connsiteY50" fmla="*/ 553882 h 1074738"/>
                  <a:gd name="connsiteX51" fmla="*/ 650660 w 1076325"/>
                  <a:gd name="connsiteY51" fmla="*/ 474672 h 1074738"/>
                  <a:gd name="connsiteX52" fmla="*/ 662009 w 1076325"/>
                  <a:gd name="connsiteY52" fmla="*/ 479461 h 1074738"/>
                  <a:gd name="connsiteX53" fmla="*/ 741363 w 1076325"/>
                  <a:gd name="connsiteY53" fmla="*/ 558924 h 1074738"/>
                  <a:gd name="connsiteX54" fmla="*/ 738503 w 1076325"/>
                  <a:gd name="connsiteY54" fmla="*/ 600075 h 1074738"/>
                  <a:gd name="connsiteX55" fmla="*/ 639847 w 1076325"/>
                  <a:gd name="connsiteY55" fmla="*/ 501455 h 1074738"/>
                  <a:gd name="connsiteX56" fmla="*/ 639847 w 1076325"/>
                  <a:gd name="connsiteY56" fmla="*/ 479461 h 1074738"/>
                  <a:gd name="connsiteX57" fmla="*/ 650660 w 1076325"/>
                  <a:gd name="connsiteY57" fmla="*/ 474672 h 1074738"/>
                  <a:gd name="connsiteX58" fmla="*/ 337822 w 1076325"/>
                  <a:gd name="connsiteY58" fmla="*/ 473075 h 1074738"/>
                  <a:gd name="connsiteX59" fmla="*/ 436479 w 1076325"/>
                  <a:gd name="connsiteY59" fmla="*/ 572810 h 1074738"/>
                  <a:gd name="connsiteX60" fmla="*/ 436479 w 1076325"/>
                  <a:gd name="connsiteY60" fmla="*/ 595053 h 1074738"/>
                  <a:gd name="connsiteX61" fmla="*/ 425755 w 1076325"/>
                  <a:gd name="connsiteY61" fmla="*/ 600075 h 1074738"/>
                  <a:gd name="connsiteX62" fmla="*/ 414317 w 1076325"/>
                  <a:gd name="connsiteY62" fmla="*/ 595053 h 1074738"/>
                  <a:gd name="connsiteX63" fmla="*/ 334963 w 1076325"/>
                  <a:gd name="connsiteY63" fmla="*/ 514691 h 1074738"/>
                  <a:gd name="connsiteX64" fmla="*/ 337822 w 1076325"/>
                  <a:gd name="connsiteY64" fmla="*/ 473075 h 1074738"/>
                  <a:gd name="connsiteX65" fmla="*/ 728951 w 1076325"/>
                  <a:gd name="connsiteY65" fmla="*/ 395242 h 1074738"/>
                  <a:gd name="connsiteX66" fmla="*/ 739220 w 1076325"/>
                  <a:gd name="connsiteY66" fmla="*/ 398054 h 1074738"/>
                  <a:gd name="connsiteX67" fmla="*/ 741363 w 1076325"/>
                  <a:gd name="connsiteY67" fmla="*/ 444500 h 1074738"/>
                  <a:gd name="connsiteX68" fmla="*/ 719217 w 1076325"/>
                  <a:gd name="connsiteY68" fmla="*/ 422729 h 1074738"/>
                  <a:gd name="connsiteX69" fmla="*/ 719217 w 1076325"/>
                  <a:gd name="connsiteY69" fmla="*/ 399506 h 1074738"/>
                  <a:gd name="connsiteX70" fmla="*/ 728951 w 1076325"/>
                  <a:gd name="connsiteY70" fmla="*/ 395242 h 1074738"/>
                  <a:gd name="connsiteX71" fmla="*/ 384139 w 1076325"/>
                  <a:gd name="connsiteY71" fmla="*/ 361950 h 1074738"/>
                  <a:gd name="connsiteX72" fmla="*/ 516561 w 1076325"/>
                  <a:gd name="connsiteY72" fmla="*/ 494242 h 1074738"/>
                  <a:gd name="connsiteX73" fmla="*/ 516561 w 1076325"/>
                  <a:gd name="connsiteY73" fmla="*/ 516410 h 1074738"/>
                  <a:gd name="connsiteX74" fmla="*/ 505109 w 1076325"/>
                  <a:gd name="connsiteY74" fmla="*/ 520700 h 1074738"/>
                  <a:gd name="connsiteX75" fmla="*/ 494372 w 1076325"/>
                  <a:gd name="connsiteY75" fmla="*/ 516410 h 1074738"/>
                  <a:gd name="connsiteX76" fmla="*/ 361950 w 1076325"/>
                  <a:gd name="connsiteY76" fmla="*/ 384118 h 1074738"/>
                  <a:gd name="connsiteX77" fmla="*/ 371255 w 1076325"/>
                  <a:gd name="connsiteY77" fmla="*/ 371246 h 1074738"/>
                  <a:gd name="connsiteX78" fmla="*/ 384139 w 1076325"/>
                  <a:gd name="connsiteY78" fmla="*/ 361950 h 1074738"/>
                  <a:gd name="connsiteX79" fmla="*/ 631825 w 1076325"/>
                  <a:gd name="connsiteY79" fmla="*/ 334963 h 1074738"/>
                  <a:gd name="connsiteX80" fmla="*/ 676819 w 1076325"/>
                  <a:gd name="connsiteY80" fmla="*/ 337023 h 1074738"/>
                  <a:gd name="connsiteX81" fmla="*/ 675413 w 1076325"/>
                  <a:gd name="connsiteY81" fmla="*/ 356244 h 1074738"/>
                  <a:gd name="connsiteX82" fmla="*/ 664165 w 1076325"/>
                  <a:gd name="connsiteY82" fmla="*/ 360363 h 1074738"/>
                  <a:gd name="connsiteX83" fmla="*/ 652916 w 1076325"/>
                  <a:gd name="connsiteY83" fmla="*/ 356244 h 1074738"/>
                  <a:gd name="connsiteX84" fmla="*/ 631825 w 1076325"/>
                  <a:gd name="connsiteY84" fmla="*/ 334963 h 1074738"/>
                  <a:gd name="connsiteX85" fmla="*/ 515814 w 1076325"/>
                  <a:gd name="connsiteY85" fmla="*/ 334963 h 1074738"/>
                  <a:gd name="connsiteX86" fmla="*/ 595277 w 1076325"/>
                  <a:gd name="connsiteY86" fmla="*/ 414200 h 1074738"/>
                  <a:gd name="connsiteX87" fmla="*/ 595277 w 1076325"/>
                  <a:gd name="connsiteY87" fmla="*/ 436329 h 1074738"/>
                  <a:gd name="connsiteX88" fmla="*/ 584635 w 1076325"/>
                  <a:gd name="connsiteY88" fmla="*/ 441326 h 1074738"/>
                  <a:gd name="connsiteX89" fmla="*/ 573283 w 1076325"/>
                  <a:gd name="connsiteY89" fmla="*/ 436329 h 1074738"/>
                  <a:gd name="connsiteX90" fmla="*/ 474663 w 1076325"/>
                  <a:gd name="connsiteY90" fmla="*/ 337819 h 1074738"/>
                  <a:gd name="connsiteX91" fmla="*/ 515814 w 1076325"/>
                  <a:gd name="connsiteY91" fmla="*/ 334963 h 1074738"/>
                  <a:gd name="connsiteX92" fmla="*/ 889704 w 1076325"/>
                  <a:gd name="connsiteY92" fmla="*/ 236513 h 1074738"/>
                  <a:gd name="connsiteX93" fmla="*/ 901085 w 1076325"/>
                  <a:gd name="connsiteY93" fmla="*/ 241201 h 1074738"/>
                  <a:gd name="connsiteX94" fmla="*/ 917575 w 1076325"/>
                  <a:gd name="connsiteY94" fmla="*/ 257175 h 1074738"/>
                  <a:gd name="connsiteX95" fmla="*/ 874559 w 1076325"/>
                  <a:gd name="connsiteY95" fmla="*/ 254397 h 1074738"/>
                  <a:gd name="connsiteX96" fmla="*/ 878860 w 1076325"/>
                  <a:gd name="connsiteY96" fmla="*/ 241201 h 1074738"/>
                  <a:gd name="connsiteX97" fmla="*/ 889704 w 1076325"/>
                  <a:gd name="connsiteY97" fmla="*/ 236513 h 1074738"/>
                  <a:gd name="connsiteX98" fmla="*/ 817563 w 1076325"/>
                  <a:gd name="connsiteY98" fmla="*/ 158750 h 1074738"/>
                  <a:gd name="connsiteX99" fmla="*/ 834678 w 1076325"/>
                  <a:gd name="connsiteY99" fmla="*/ 175510 h 1074738"/>
                  <a:gd name="connsiteX100" fmla="*/ 834678 w 1076325"/>
                  <a:gd name="connsiteY100" fmla="*/ 198099 h 1074738"/>
                  <a:gd name="connsiteX101" fmla="*/ 823516 w 1076325"/>
                  <a:gd name="connsiteY101" fmla="*/ 203200 h 1074738"/>
                  <a:gd name="connsiteX102" fmla="*/ 820539 w 1076325"/>
                  <a:gd name="connsiteY102" fmla="*/ 202471 h 1074738"/>
                  <a:gd name="connsiteX103" fmla="*/ 817563 w 1076325"/>
                  <a:gd name="connsiteY103" fmla="*/ 158750 h 1074738"/>
                  <a:gd name="connsiteX104" fmla="*/ 969491 w 1076325"/>
                  <a:gd name="connsiteY104" fmla="*/ 157010 h 1074738"/>
                  <a:gd name="connsiteX105" fmla="*/ 980254 w 1076325"/>
                  <a:gd name="connsiteY105" fmla="*/ 161316 h 1074738"/>
                  <a:gd name="connsiteX106" fmla="*/ 1076325 w 1076325"/>
                  <a:gd name="connsiteY106" fmla="*/ 258197 h 1074738"/>
                  <a:gd name="connsiteX107" fmla="*/ 1033627 w 1076325"/>
                  <a:gd name="connsiteY107" fmla="*/ 260350 h 1074738"/>
                  <a:gd name="connsiteX108" fmla="*/ 958193 w 1076325"/>
                  <a:gd name="connsiteY108" fmla="*/ 183563 h 1074738"/>
                  <a:gd name="connsiteX109" fmla="*/ 958193 w 1076325"/>
                  <a:gd name="connsiteY109" fmla="*/ 161316 h 1074738"/>
                  <a:gd name="connsiteX110" fmla="*/ 969491 w 1076325"/>
                  <a:gd name="connsiteY110" fmla="*/ 157010 h 1074738"/>
                  <a:gd name="connsiteX111" fmla="*/ 818128 w 1076325"/>
                  <a:gd name="connsiteY111" fmla="*/ 0 h 1074738"/>
                  <a:gd name="connsiteX112" fmla="*/ 915009 w 1076325"/>
                  <a:gd name="connsiteY112" fmla="*/ 95942 h 1074738"/>
                  <a:gd name="connsiteX113" fmla="*/ 915009 w 1076325"/>
                  <a:gd name="connsiteY113" fmla="*/ 117974 h 1074738"/>
                  <a:gd name="connsiteX114" fmla="*/ 903526 w 1076325"/>
                  <a:gd name="connsiteY114" fmla="*/ 122238 h 1074738"/>
                  <a:gd name="connsiteX115" fmla="*/ 892762 w 1076325"/>
                  <a:gd name="connsiteY115" fmla="*/ 117974 h 1074738"/>
                  <a:gd name="connsiteX116" fmla="*/ 815975 w 1076325"/>
                  <a:gd name="connsiteY116" fmla="*/ 41930 h 1074738"/>
                  <a:gd name="connsiteX117" fmla="*/ 818128 w 1076325"/>
                  <a:gd name="connsiteY117" fmla="*/ 0 h 1074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076325" h="1074738">
                    <a:moveTo>
                      <a:pt x="172708" y="952336"/>
                    </a:moveTo>
                    <a:cubicBezTo>
                      <a:pt x="176745" y="952336"/>
                      <a:pt x="180692" y="953760"/>
                      <a:pt x="183563" y="956606"/>
                    </a:cubicBezTo>
                    <a:cubicBezTo>
                      <a:pt x="183563" y="956606"/>
                      <a:pt x="183563" y="956606"/>
                      <a:pt x="260350" y="1032751"/>
                    </a:cubicBezTo>
                    <a:cubicBezTo>
                      <a:pt x="259632" y="1046984"/>
                      <a:pt x="258914" y="1061217"/>
                      <a:pt x="258197" y="1074738"/>
                    </a:cubicBezTo>
                    <a:cubicBezTo>
                      <a:pt x="258197" y="1074738"/>
                      <a:pt x="258197" y="1074738"/>
                      <a:pt x="161316" y="978667"/>
                    </a:cubicBezTo>
                    <a:cubicBezTo>
                      <a:pt x="155575" y="972974"/>
                      <a:pt x="155575" y="963011"/>
                      <a:pt x="161316" y="956606"/>
                    </a:cubicBezTo>
                    <a:cubicBezTo>
                      <a:pt x="164545" y="953760"/>
                      <a:pt x="168672" y="952336"/>
                      <a:pt x="172708" y="952336"/>
                    </a:cubicBezTo>
                    <a:close/>
                    <a:moveTo>
                      <a:pt x="255786" y="872972"/>
                    </a:moveTo>
                    <a:cubicBezTo>
                      <a:pt x="257274" y="887311"/>
                      <a:pt x="258019" y="901649"/>
                      <a:pt x="258763" y="915988"/>
                    </a:cubicBezTo>
                    <a:lnTo>
                      <a:pt x="241647" y="899499"/>
                    </a:lnTo>
                    <a:cubicBezTo>
                      <a:pt x="234950" y="893046"/>
                      <a:pt x="234950" y="883009"/>
                      <a:pt x="241647" y="877274"/>
                    </a:cubicBezTo>
                    <a:cubicBezTo>
                      <a:pt x="245368" y="872972"/>
                      <a:pt x="251321" y="871538"/>
                      <a:pt x="255786" y="872972"/>
                    </a:cubicBezTo>
                    <a:close/>
                    <a:moveTo>
                      <a:pt x="158750" y="817563"/>
                    </a:moveTo>
                    <a:cubicBezTo>
                      <a:pt x="173088" y="818251"/>
                      <a:pt x="187427" y="818939"/>
                      <a:pt x="201766" y="820315"/>
                    </a:cubicBezTo>
                    <a:cubicBezTo>
                      <a:pt x="203200" y="824442"/>
                      <a:pt x="201766" y="829946"/>
                      <a:pt x="197464" y="833386"/>
                    </a:cubicBezTo>
                    <a:cubicBezTo>
                      <a:pt x="194597" y="836825"/>
                      <a:pt x="190295" y="838201"/>
                      <a:pt x="186710" y="838201"/>
                    </a:cubicBezTo>
                    <a:cubicBezTo>
                      <a:pt x="182409" y="838201"/>
                      <a:pt x="178107" y="836825"/>
                      <a:pt x="175239" y="833386"/>
                    </a:cubicBezTo>
                    <a:close/>
                    <a:moveTo>
                      <a:pt x="41986" y="814388"/>
                    </a:moveTo>
                    <a:lnTo>
                      <a:pt x="118132" y="891063"/>
                    </a:lnTo>
                    <a:cubicBezTo>
                      <a:pt x="123825" y="896795"/>
                      <a:pt x="123825" y="906827"/>
                      <a:pt x="118132" y="913277"/>
                    </a:cubicBezTo>
                    <a:cubicBezTo>
                      <a:pt x="114573" y="916143"/>
                      <a:pt x="111015" y="917576"/>
                      <a:pt x="106745" y="917576"/>
                    </a:cubicBezTo>
                    <a:cubicBezTo>
                      <a:pt x="103187" y="917576"/>
                      <a:pt x="98917" y="916143"/>
                      <a:pt x="96071" y="913277"/>
                    </a:cubicBezTo>
                    <a:cubicBezTo>
                      <a:pt x="96071" y="913277"/>
                      <a:pt x="96071" y="913277"/>
                      <a:pt x="0" y="816538"/>
                    </a:cubicBezTo>
                    <a:cubicBezTo>
                      <a:pt x="13521" y="815821"/>
                      <a:pt x="27754" y="815105"/>
                      <a:pt x="41986" y="814388"/>
                    </a:cubicBezTo>
                    <a:close/>
                    <a:moveTo>
                      <a:pt x="412161" y="712807"/>
                    </a:moveTo>
                    <a:cubicBezTo>
                      <a:pt x="416203" y="712808"/>
                      <a:pt x="420246" y="714415"/>
                      <a:pt x="423409" y="717630"/>
                    </a:cubicBezTo>
                    <a:cubicBezTo>
                      <a:pt x="423409" y="717630"/>
                      <a:pt x="423409" y="717630"/>
                      <a:pt x="444501" y="739775"/>
                    </a:cubicBezTo>
                    <a:cubicBezTo>
                      <a:pt x="429737" y="739061"/>
                      <a:pt x="414270" y="738346"/>
                      <a:pt x="399506" y="737632"/>
                    </a:cubicBezTo>
                    <a:cubicBezTo>
                      <a:pt x="395288" y="731203"/>
                      <a:pt x="395991" y="723345"/>
                      <a:pt x="400912" y="717630"/>
                    </a:cubicBezTo>
                    <a:cubicBezTo>
                      <a:pt x="404076" y="714415"/>
                      <a:pt x="408118" y="712808"/>
                      <a:pt x="412161" y="712807"/>
                    </a:cubicBezTo>
                    <a:close/>
                    <a:moveTo>
                      <a:pt x="490406" y="633434"/>
                    </a:moveTo>
                    <a:cubicBezTo>
                      <a:pt x="494446" y="633434"/>
                      <a:pt x="498577" y="635042"/>
                      <a:pt x="501809" y="638259"/>
                    </a:cubicBezTo>
                    <a:cubicBezTo>
                      <a:pt x="501809" y="638259"/>
                      <a:pt x="501809" y="638259"/>
                      <a:pt x="601663" y="736916"/>
                    </a:cubicBezTo>
                    <a:cubicBezTo>
                      <a:pt x="588014" y="738345"/>
                      <a:pt x="574365" y="739775"/>
                      <a:pt x="559997" y="739775"/>
                    </a:cubicBezTo>
                    <a:cubicBezTo>
                      <a:pt x="559997" y="739775"/>
                      <a:pt x="559997" y="739775"/>
                      <a:pt x="479540" y="660421"/>
                    </a:cubicBezTo>
                    <a:cubicBezTo>
                      <a:pt x="473075" y="653987"/>
                      <a:pt x="473075" y="643978"/>
                      <a:pt x="479540" y="638259"/>
                    </a:cubicBezTo>
                    <a:cubicBezTo>
                      <a:pt x="482414" y="635042"/>
                      <a:pt x="486365" y="633434"/>
                      <a:pt x="490406" y="633434"/>
                    </a:cubicBezTo>
                    <a:close/>
                    <a:moveTo>
                      <a:pt x="334963" y="630238"/>
                    </a:moveTo>
                    <a:lnTo>
                      <a:pt x="357108" y="651950"/>
                    </a:lnTo>
                    <a:cubicBezTo>
                      <a:pt x="363538" y="658463"/>
                      <a:pt x="363538" y="668595"/>
                      <a:pt x="357108" y="675109"/>
                    </a:cubicBezTo>
                    <a:cubicBezTo>
                      <a:pt x="354251" y="678004"/>
                      <a:pt x="349965" y="679451"/>
                      <a:pt x="345678" y="679451"/>
                    </a:cubicBezTo>
                    <a:cubicBezTo>
                      <a:pt x="342821" y="679451"/>
                      <a:pt x="339963" y="678727"/>
                      <a:pt x="337106" y="676556"/>
                    </a:cubicBezTo>
                    <a:cubicBezTo>
                      <a:pt x="336392" y="661358"/>
                      <a:pt x="335677" y="645436"/>
                      <a:pt x="334963" y="630238"/>
                    </a:cubicBezTo>
                    <a:close/>
                    <a:moveTo>
                      <a:pt x="571127" y="553882"/>
                    </a:moveTo>
                    <a:cubicBezTo>
                      <a:pt x="575154" y="553882"/>
                      <a:pt x="579091" y="555313"/>
                      <a:pt x="581954" y="558176"/>
                    </a:cubicBezTo>
                    <a:cubicBezTo>
                      <a:pt x="581954" y="558176"/>
                      <a:pt x="581954" y="558176"/>
                      <a:pt x="714376" y="690598"/>
                    </a:cubicBezTo>
                    <a:cubicBezTo>
                      <a:pt x="711513" y="695609"/>
                      <a:pt x="708649" y="699904"/>
                      <a:pt x="705070" y="703483"/>
                    </a:cubicBezTo>
                    <a:cubicBezTo>
                      <a:pt x="701491" y="707062"/>
                      <a:pt x="697197" y="709925"/>
                      <a:pt x="692186" y="712788"/>
                    </a:cubicBezTo>
                    <a:cubicBezTo>
                      <a:pt x="692186" y="712788"/>
                      <a:pt x="692186" y="712788"/>
                      <a:pt x="559764" y="580366"/>
                    </a:cubicBezTo>
                    <a:cubicBezTo>
                      <a:pt x="554038" y="574640"/>
                      <a:pt x="554038" y="564619"/>
                      <a:pt x="559764" y="558176"/>
                    </a:cubicBezTo>
                    <a:cubicBezTo>
                      <a:pt x="562985" y="555313"/>
                      <a:pt x="567101" y="553882"/>
                      <a:pt x="571127" y="553882"/>
                    </a:cubicBezTo>
                    <a:close/>
                    <a:moveTo>
                      <a:pt x="650660" y="474672"/>
                    </a:moveTo>
                    <a:cubicBezTo>
                      <a:pt x="654681" y="474671"/>
                      <a:pt x="658792" y="476268"/>
                      <a:pt x="662009" y="479461"/>
                    </a:cubicBezTo>
                    <a:cubicBezTo>
                      <a:pt x="662009" y="479461"/>
                      <a:pt x="662009" y="479461"/>
                      <a:pt x="741363" y="558924"/>
                    </a:cubicBezTo>
                    <a:cubicBezTo>
                      <a:pt x="741363" y="573114"/>
                      <a:pt x="739933" y="586595"/>
                      <a:pt x="738503" y="600075"/>
                    </a:cubicBezTo>
                    <a:cubicBezTo>
                      <a:pt x="738503" y="600075"/>
                      <a:pt x="738503" y="600075"/>
                      <a:pt x="639847" y="501455"/>
                    </a:cubicBezTo>
                    <a:cubicBezTo>
                      <a:pt x="633413" y="495070"/>
                      <a:pt x="633413" y="485137"/>
                      <a:pt x="639847" y="479461"/>
                    </a:cubicBezTo>
                    <a:cubicBezTo>
                      <a:pt x="642707" y="476268"/>
                      <a:pt x="646639" y="474671"/>
                      <a:pt x="650660" y="474672"/>
                    </a:cubicBezTo>
                    <a:close/>
                    <a:moveTo>
                      <a:pt x="337822" y="473075"/>
                    </a:moveTo>
                    <a:cubicBezTo>
                      <a:pt x="337822" y="473075"/>
                      <a:pt x="337822" y="473075"/>
                      <a:pt x="436479" y="572810"/>
                    </a:cubicBezTo>
                    <a:cubicBezTo>
                      <a:pt x="442913" y="579267"/>
                      <a:pt x="442913" y="589312"/>
                      <a:pt x="436479" y="595053"/>
                    </a:cubicBezTo>
                    <a:cubicBezTo>
                      <a:pt x="433619" y="597923"/>
                      <a:pt x="429330" y="600075"/>
                      <a:pt x="425755" y="600075"/>
                    </a:cubicBezTo>
                    <a:cubicBezTo>
                      <a:pt x="421466" y="600075"/>
                      <a:pt x="417891" y="597923"/>
                      <a:pt x="414317" y="595053"/>
                    </a:cubicBezTo>
                    <a:cubicBezTo>
                      <a:pt x="414317" y="595053"/>
                      <a:pt x="414317" y="595053"/>
                      <a:pt x="334963" y="514691"/>
                    </a:cubicBezTo>
                    <a:cubicBezTo>
                      <a:pt x="334963" y="500341"/>
                      <a:pt x="336393" y="486708"/>
                      <a:pt x="337822" y="473075"/>
                    </a:cubicBezTo>
                    <a:close/>
                    <a:moveTo>
                      <a:pt x="728951" y="395242"/>
                    </a:moveTo>
                    <a:cubicBezTo>
                      <a:pt x="732433" y="394970"/>
                      <a:pt x="736005" y="395877"/>
                      <a:pt x="739220" y="398054"/>
                    </a:cubicBezTo>
                    <a:cubicBezTo>
                      <a:pt x="739934" y="413294"/>
                      <a:pt x="740648" y="429260"/>
                      <a:pt x="741363" y="444500"/>
                    </a:cubicBezTo>
                    <a:lnTo>
                      <a:pt x="719217" y="422729"/>
                    </a:lnTo>
                    <a:cubicBezTo>
                      <a:pt x="712788" y="416197"/>
                      <a:pt x="712788" y="406037"/>
                      <a:pt x="719217" y="399506"/>
                    </a:cubicBezTo>
                    <a:cubicBezTo>
                      <a:pt x="722075" y="396966"/>
                      <a:pt x="725468" y="395514"/>
                      <a:pt x="728951" y="395242"/>
                    </a:cubicBezTo>
                    <a:close/>
                    <a:moveTo>
                      <a:pt x="384139" y="361950"/>
                    </a:moveTo>
                    <a:cubicBezTo>
                      <a:pt x="384139" y="361950"/>
                      <a:pt x="384139" y="361950"/>
                      <a:pt x="516561" y="494242"/>
                    </a:cubicBezTo>
                    <a:cubicBezTo>
                      <a:pt x="522288" y="499963"/>
                      <a:pt x="522288" y="509974"/>
                      <a:pt x="516561" y="516410"/>
                    </a:cubicBezTo>
                    <a:cubicBezTo>
                      <a:pt x="512982" y="519270"/>
                      <a:pt x="509403" y="520700"/>
                      <a:pt x="505109" y="520700"/>
                    </a:cubicBezTo>
                    <a:cubicBezTo>
                      <a:pt x="501530" y="520700"/>
                      <a:pt x="497235" y="519270"/>
                      <a:pt x="494372" y="516410"/>
                    </a:cubicBezTo>
                    <a:cubicBezTo>
                      <a:pt x="494372" y="516410"/>
                      <a:pt x="494372" y="516410"/>
                      <a:pt x="361950" y="384118"/>
                    </a:cubicBezTo>
                    <a:cubicBezTo>
                      <a:pt x="364813" y="379112"/>
                      <a:pt x="367676" y="374822"/>
                      <a:pt x="371255" y="371246"/>
                    </a:cubicBezTo>
                    <a:cubicBezTo>
                      <a:pt x="374834" y="367671"/>
                      <a:pt x="379129" y="364810"/>
                      <a:pt x="384139" y="361950"/>
                    </a:cubicBezTo>
                    <a:close/>
                    <a:moveTo>
                      <a:pt x="631825" y="334963"/>
                    </a:moveTo>
                    <a:cubicBezTo>
                      <a:pt x="646589" y="335650"/>
                      <a:pt x="662056" y="336336"/>
                      <a:pt x="676819" y="337023"/>
                    </a:cubicBezTo>
                    <a:cubicBezTo>
                      <a:pt x="681038" y="343201"/>
                      <a:pt x="680335" y="350752"/>
                      <a:pt x="675413" y="356244"/>
                    </a:cubicBezTo>
                    <a:cubicBezTo>
                      <a:pt x="671898" y="358990"/>
                      <a:pt x="668383" y="360363"/>
                      <a:pt x="664165" y="360363"/>
                    </a:cubicBezTo>
                    <a:cubicBezTo>
                      <a:pt x="659946" y="360363"/>
                      <a:pt x="656431" y="358990"/>
                      <a:pt x="652916" y="356244"/>
                    </a:cubicBezTo>
                    <a:cubicBezTo>
                      <a:pt x="652916" y="356244"/>
                      <a:pt x="652916" y="356244"/>
                      <a:pt x="631825" y="334963"/>
                    </a:cubicBezTo>
                    <a:close/>
                    <a:moveTo>
                      <a:pt x="515814" y="334963"/>
                    </a:moveTo>
                    <a:cubicBezTo>
                      <a:pt x="515814" y="334963"/>
                      <a:pt x="515814" y="334963"/>
                      <a:pt x="595277" y="414200"/>
                    </a:cubicBezTo>
                    <a:cubicBezTo>
                      <a:pt x="601663" y="420625"/>
                      <a:pt x="601663" y="430618"/>
                      <a:pt x="595277" y="436329"/>
                    </a:cubicBezTo>
                    <a:cubicBezTo>
                      <a:pt x="592439" y="439898"/>
                      <a:pt x="588182" y="441326"/>
                      <a:pt x="584635" y="441326"/>
                    </a:cubicBezTo>
                    <a:cubicBezTo>
                      <a:pt x="580378" y="441326"/>
                      <a:pt x="576121" y="439898"/>
                      <a:pt x="573283" y="436329"/>
                    </a:cubicBezTo>
                    <a:cubicBezTo>
                      <a:pt x="573283" y="436329"/>
                      <a:pt x="573283" y="436329"/>
                      <a:pt x="474663" y="337819"/>
                    </a:cubicBezTo>
                    <a:cubicBezTo>
                      <a:pt x="488143" y="336391"/>
                      <a:pt x="501624" y="334963"/>
                      <a:pt x="515814" y="334963"/>
                    </a:cubicBezTo>
                    <a:close/>
                    <a:moveTo>
                      <a:pt x="889704" y="236513"/>
                    </a:moveTo>
                    <a:cubicBezTo>
                      <a:pt x="893737" y="236513"/>
                      <a:pt x="897859" y="238076"/>
                      <a:pt x="901085" y="241201"/>
                    </a:cubicBezTo>
                    <a:cubicBezTo>
                      <a:pt x="901085" y="241201"/>
                      <a:pt x="901085" y="241201"/>
                      <a:pt x="917575" y="257175"/>
                    </a:cubicBezTo>
                    <a:cubicBezTo>
                      <a:pt x="903236" y="256481"/>
                      <a:pt x="888897" y="255786"/>
                      <a:pt x="874559" y="254397"/>
                    </a:cubicBezTo>
                    <a:cubicBezTo>
                      <a:pt x="873125" y="250230"/>
                      <a:pt x="874559" y="244674"/>
                      <a:pt x="878860" y="241201"/>
                    </a:cubicBezTo>
                    <a:cubicBezTo>
                      <a:pt x="881728" y="238076"/>
                      <a:pt x="885671" y="236513"/>
                      <a:pt x="889704" y="236513"/>
                    </a:cubicBezTo>
                    <a:close/>
                    <a:moveTo>
                      <a:pt x="817563" y="158750"/>
                    </a:moveTo>
                    <a:lnTo>
                      <a:pt x="834678" y="175510"/>
                    </a:lnTo>
                    <a:cubicBezTo>
                      <a:pt x="841376" y="182068"/>
                      <a:pt x="841376" y="192270"/>
                      <a:pt x="834678" y="198099"/>
                    </a:cubicBezTo>
                    <a:cubicBezTo>
                      <a:pt x="831702" y="201014"/>
                      <a:pt x="827237" y="203200"/>
                      <a:pt x="823516" y="203200"/>
                    </a:cubicBezTo>
                    <a:cubicBezTo>
                      <a:pt x="822028" y="203200"/>
                      <a:pt x="821284" y="202471"/>
                      <a:pt x="820539" y="202471"/>
                    </a:cubicBezTo>
                    <a:cubicBezTo>
                      <a:pt x="819051" y="187898"/>
                      <a:pt x="818307" y="173324"/>
                      <a:pt x="817563" y="158750"/>
                    </a:cubicBezTo>
                    <a:close/>
                    <a:moveTo>
                      <a:pt x="969491" y="157010"/>
                    </a:moveTo>
                    <a:cubicBezTo>
                      <a:pt x="973494" y="157010"/>
                      <a:pt x="977408" y="158446"/>
                      <a:pt x="980254" y="161316"/>
                    </a:cubicBezTo>
                    <a:cubicBezTo>
                      <a:pt x="980254" y="161316"/>
                      <a:pt x="980254" y="161316"/>
                      <a:pt x="1076325" y="258197"/>
                    </a:cubicBezTo>
                    <a:cubicBezTo>
                      <a:pt x="1062804" y="258915"/>
                      <a:pt x="1048571" y="259632"/>
                      <a:pt x="1033627" y="260350"/>
                    </a:cubicBezTo>
                    <a:cubicBezTo>
                      <a:pt x="1033627" y="260350"/>
                      <a:pt x="1033627" y="260350"/>
                      <a:pt x="958193" y="183563"/>
                    </a:cubicBezTo>
                    <a:cubicBezTo>
                      <a:pt x="952500" y="177822"/>
                      <a:pt x="952500" y="167775"/>
                      <a:pt x="958193" y="161316"/>
                    </a:cubicBezTo>
                    <a:cubicBezTo>
                      <a:pt x="961396" y="158446"/>
                      <a:pt x="965488" y="157010"/>
                      <a:pt x="969491" y="157010"/>
                    </a:cubicBezTo>
                    <a:close/>
                    <a:moveTo>
                      <a:pt x="818128" y="0"/>
                    </a:moveTo>
                    <a:lnTo>
                      <a:pt x="915009" y="95942"/>
                    </a:lnTo>
                    <a:cubicBezTo>
                      <a:pt x="920750" y="101628"/>
                      <a:pt x="920750" y="111578"/>
                      <a:pt x="915009" y="117974"/>
                    </a:cubicBezTo>
                    <a:cubicBezTo>
                      <a:pt x="911420" y="120816"/>
                      <a:pt x="907832" y="122238"/>
                      <a:pt x="903526" y="122238"/>
                    </a:cubicBezTo>
                    <a:cubicBezTo>
                      <a:pt x="899938" y="122238"/>
                      <a:pt x="895632" y="120816"/>
                      <a:pt x="892762" y="117974"/>
                    </a:cubicBezTo>
                    <a:cubicBezTo>
                      <a:pt x="892762" y="117974"/>
                      <a:pt x="892762" y="117974"/>
                      <a:pt x="815975" y="41930"/>
                    </a:cubicBezTo>
                    <a:cubicBezTo>
                      <a:pt x="816692" y="27717"/>
                      <a:pt x="817410" y="13503"/>
                      <a:pt x="818128"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t" anchorCtr="0" compatLnSpc="1">
                <a:prstTxWarp prst="textNoShape">
                  <a:avLst/>
                </a:prstTxWarp>
                <a:noAutofit/>
              </a:bodyPr>
              <a:lstStyle/>
              <a:p>
                <a:endParaRPr lang="en-US" sz="1559">
                  <a:sym typeface="+mn-lt"/>
                </a:endParaRPr>
              </a:p>
            </p:txBody>
          </p:sp>
          <p:sp>
            <p:nvSpPr>
              <p:cNvPr id="232" name="Freeform 11">
                <a:extLst>
                  <a:ext uri="{FF2B5EF4-FFF2-40B4-BE49-F238E27FC236}">
                    <a16:creationId xmlns:a16="http://schemas.microsoft.com/office/drawing/2014/main" id="{333858BD-6EC5-448C-9354-665A60D5377B}"/>
                  </a:ext>
                </a:extLst>
              </p:cNvPr>
              <p:cNvSpPr>
                <a:spLocks/>
              </p:cNvSpPr>
              <p:nvPr/>
            </p:nvSpPr>
            <p:spPr bwMode="auto">
              <a:xfrm>
                <a:off x="5403692" y="2736691"/>
                <a:ext cx="1386206" cy="1386047"/>
              </a:xfrm>
              <a:custGeom>
                <a:avLst/>
                <a:gdLst>
                  <a:gd name="connsiteX0" fmla="*/ 439725 w 1386206"/>
                  <a:gd name="connsiteY0" fmla="*/ 982822 h 1386047"/>
                  <a:gd name="connsiteX1" fmla="*/ 455316 w 1386206"/>
                  <a:gd name="connsiteY1" fmla="*/ 983538 h 1386047"/>
                  <a:gd name="connsiteX2" fmla="*/ 470908 w 1386206"/>
                  <a:gd name="connsiteY2" fmla="*/ 984971 h 1386047"/>
                  <a:gd name="connsiteX3" fmla="*/ 470908 w 1386206"/>
                  <a:gd name="connsiteY3" fmla="*/ 989268 h 1386047"/>
                  <a:gd name="connsiteX4" fmla="*/ 471616 w 1386206"/>
                  <a:gd name="connsiteY4" fmla="*/ 992133 h 1386047"/>
                  <a:gd name="connsiteX5" fmla="*/ 472325 w 1386206"/>
                  <a:gd name="connsiteY5" fmla="*/ 1006457 h 1386047"/>
                  <a:gd name="connsiteX6" fmla="*/ 472325 w 1386206"/>
                  <a:gd name="connsiteY6" fmla="*/ 1009322 h 1386047"/>
                  <a:gd name="connsiteX7" fmla="*/ 473034 w 1386206"/>
                  <a:gd name="connsiteY7" fmla="*/ 1022930 h 1386047"/>
                  <a:gd name="connsiteX8" fmla="*/ 473743 w 1386206"/>
                  <a:gd name="connsiteY8" fmla="*/ 1025795 h 1386047"/>
                  <a:gd name="connsiteX9" fmla="*/ 474451 w 1386206"/>
                  <a:gd name="connsiteY9" fmla="*/ 1040119 h 1386047"/>
                  <a:gd name="connsiteX10" fmla="*/ 474451 w 1386206"/>
                  <a:gd name="connsiteY10" fmla="*/ 1042267 h 1386047"/>
                  <a:gd name="connsiteX11" fmla="*/ 475160 w 1386206"/>
                  <a:gd name="connsiteY11" fmla="*/ 1056592 h 1386047"/>
                  <a:gd name="connsiteX12" fmla="*/ 475160 w 1386206"/>
                  <a:gd name="connsiteY12" fmla="*/ 1058740 h 1386047"/>
                  <a:gd name="connsiteX13" fmla="*/ 475869 w 1386206"/>
                  <a:gd name="connsiteY13" fmla="*/ 1073064 h 1386047"/>
                  <a:gd name="connsiteX14" fmla="*/ 475869 w 1386206"/>
                  <a:gd name="connsiteY14" fmla="*/ 1074497 h 1386047"/>
                  <a:gd name="connsiteX15" fmla="*/ 476577 w 1386206"/>
                  <a:gd name="connsiteY15" fmla="*/ 1089537 h 1386047"/>
                  <a:gd name="connsiteX16" fmla="*/ 477286 w 1386206"/>
                  <a:gd name="connsiteY16" fmla="*/ 1104577 h 1386047"/>
                  <a:gd name="connsiteX17" fmla="*/ 477286 w 1386206"/>
                  <a:gd name="connsiteY17" fmla="*/ 1105294 h 1386047"/>
                  <a:gd name="connsiteX18" fmla="*/ 477286 w 1386206"/>
                  <a:gd name="connsiteY18" fmla="*/ 1119618 h 1386047"/>
                  <a:gd name="connsiteX19" fmla="*/ 477995 w 1386206"/>
                  <a:gd name="connsiteY19" fmla="*/ 1121050 h 1386047"/>
                  <a:gd name="connsiteX20" fmla="*/ 477995 w 1386206"/>
                  <a:gd name="connsiteY20" fmla="*/ 1135374 h 1386047"/>
                  <a:gd name="connsiteX21" fmla="*/ 477995 w 1386206"/>
                  <a:gd name="connsiteY21" fmla="*/ 1136807 h 1386047"/>
                  <a:gd name="connsiteX22" fmla="*/ 477995 w 1386206"/>
                  <a:gd name="connsiteY22" fmla="*/ 1150415 h 1386047"/>
                  <a:gd name="connsiteX23" fmla="*/ 477995 w 1386206"/>
                  <a:gd name="connsiteY23" fmla="*/ 1151847 h 1386047"/>
                  <a:gd name="connsiteX24" fmla="*/ 477995 w 1386206"/>
                  <a:gd name="connsiteY24" fmla="*/ 1165455 h 1386047"/>
                  <a:gd name="connsiteX25" fmla="*/ 477995 w 1386206"/>
                  <a:gd name="connsiteY25" fmla="*/ 1166888 h 1386047"/>
                  <a:gd name="connsiteX26" fmla="*/ 477995 w 1386206"/>
                  <a:gd name="connsiteY26" fmla="*/ 1179779 h 1386047"/>
                  <a:gd name="connsiteX27" fmla="*/ 477995 w 1386206"/>
                  <a:gd name="connsiteY27" fmla="*/ 1181928 h 1386047"/>
                  <a:gd name="connsiteX28" fmla="*/ 477995 w 1386206"/>
                  <a:gd name="connsiteY28" fmla="*/ 1194103 h 1386047"/>
                  <a:gd name="connsiteX29" fmla="*/ 477286 w 1386206"/>
                  <a:gd name="connsiteY29" fmla="*/ 1195536 h 1386047"/>
                  <a:gd name="connsiteX30" fmla="*/ 477286 w 1386206"/>
                  <a:gd name="connsiteY30" fmla="*/ 1208428 h 1386047"/>
                  <a:gd name="connsiteX31" fmla="*/ 477286 w 1386206"/>
                  <a:gd name="connsiteY31" fmla="*/ 1209860 h 1386047"/>
                  <a:gd name="connsiteX32" fmla="*/ 476577 w 1386206"/>
                  <a:gd name="connsiteY32" fmla="*/ 1222036 h 1386047"/>
                  <a:gd name="connsiteX33" fmla="*/ 476577 w 1386206"/>
                  <a:gd name="connsiteY33" fmla="*/ 1222752 h 1386047"/>
                  <a:gd name="connsiteX34" fmla="*/ 475160 w 1386206"/>
                  <a:gd name="connsiteY34" fmla="*/ 1234927 h 1386047"/>
                  <a:gd name="connsiteX35" fmla="*/ 475160 w 1386206"/>
                  <a:gd name="connsiteY35" fmla="*/ 1235643 h 1386047"/>
                  <a:gd name="connsiteX36" fmla="*/ 474451 w 1386206"/>
                  <a:gd name="connsiteY36" fmla="*/ 1247819 h 1386047"/>
                  <a:gd name="connsiteX37" fmla="*/ 473743 w 1386206"/>
                  <a:gd name="connsiteY37" fmla="*/ 1249251 h 1386047"/>
                  <a:gd name="connsiteX38" fmla="*/ 473034 w 1386206"/>
                  <a:gd name="connsiteY38" fmla="*/ 1259995 h 1386047"/>
                  <a:gd name="connsiteX39" fmla="*/ 472325 w 1386206"/>
                  <a:gd name="connsiteY39" fmla="*/ 1261427 h 1386047"/>
                  <a:gd name="connsiteX40" fmla="*/ 470908 w 1386206"/>
                  <a:gd name="connsiteY40" fmla="*/ 1272170 h 1386047"/>
                  <a:gd name="connsiteX41" fmla="*/ 470908 w 1386206"/>
                  <a:gd name="connsiteY41" fmla="*/ 1274319 h 1386047"/>
                  <a:gd name="connsiteX42" fmla="*/ 468782 w 1386206"/>
                  <a:gd name="connsiteY42" fmla="*/ 1284346 h 1386047"/>
                  <a:gd name="connsiteX43" fmla="*/ 468782 w 1386206"/>
                  <a:gd name="connsiteY43" fmla="*/ 1285778 h 1386047"/>
                  <a:gd name="connsiteX44" fmla="*/ 466655 w 1386206"/>
                  <a:gd name="connsiteY44" fmla="*/ 1295805 h 1386047"/>
                  <a:gd name="connsiteX45" fmla="*/ 466655 w 1386206"/>
                  <a:gd name="connsiteY45" fmla="*/ 1297237 h 1386047"/>
                  <a:gd name="connsiteX46" fmla="*/ 464529 w 1386206"/>
                  <a:gd name="connsiteY46" fmla="*/ 1306548 h 1386047"/>
                  <a:gd name="connsiteX47" fmla="*/ 463821 w 1386206"/>
                  <a:gd name="connsiteY47" fmla="*/ 1307980 h 1386047"/>
                  <a:gd name="connsiteX48" fmla="*/ 461695 w 1386206"/>
                  <a:gd name="connsiteY48" fmla="*/ 1317291 h 1386047"/>
                  <a:gd name="connsiteX49" fmla="*/ 460986 w 1386206"/>
                  <a:gd name="connsiteY49" fmla="*/ 1318007 h 1386047"/>
                  <a:gd name="connsiteX50" fmla="*/ 458151 w 1386206"/>
                  <a:gd name="connsiteY50" fmla="*/ 1327318 h 1386047"/>
                  <a:gd name="connsiteX51" fmla="*/ 458151 w 1386206"/>
                  <a:gd name="connsiteY51" fmla="*/ 1328034 h 1386047"/>
                  <a:gd name="connsiteX52" fmla="*/ 454607 w 1386206"/>
                  <a:gd name="connsiteY52" fmla="*/ 1336629 h 1386047"/>
                  <a:gd name="connsiteX53" fmla="*/ 454607 w 1386206"/>
                  <a:gd name="connsiteY53" fmla="*/ 1337345 h 1386047"/>
                  <a:gd name="connsiteX54" fmla="*/ 451064 w 1386206"/>
                  <a:gd name="connsiteY54" fmla="*/ 1345223 h 1386047"/>
                  <a:gd name="connsiteX55" fmla="*/ 450355 w 1386206"/>
                  <a:gd name="connsiteY55" fmla="*/ 1345940 h 1386047"/>
                  <a:gd name="connsiteX56" fmla="*/ 446812 w 1386206"/>
                  <a:gd name="connsiteY56" fmla="*/ 1353818 h 1386047"/>
                  <a:gd name="connsiteX57" fmla="*/ 446103 w 1386206"/>
                  <a:gd name="connsiteY57" fmla="*/ 1354534 h 1386047"/>
                  <a:gd name="connsiteX58" fmla="*/ 442559 w 1386206"/>
                  <a:gd name="connsiteY58" fmla="*/ 1361696 h 1386047"/>
                  <a:gd name="connsiteX59" fmla="*/ 441851 w 1386206"/>
                  <a:gd name="connsiteY59" fmla="*/ 1362412 h 1386047"/>
                  <a:gd name="connsiteX60" fmla="*/ 437599 w 1386206"/>
                  <a:gd name="connsiteY60" fmla="*/ 1368858 h 1386047"/>
                  <a:gd name="connsiteX61" fmla="*/ 436890 w 1386206"/>
                  <a:gd name="connsiteY61" fmla="*/ 1369574 h 1386047"/>
                  <a:gd name="connsiteX62" fmla="*/ 426968 w 1386206"/>
                  <a:gd name="connsiteY62" fmla="*/ 1381750 h 1386047"/>
                  <a:gd name="connsiteX63" fmla="*/ 415629 w 1386206"/>
                  <a:gd name="connsiteY63" fmla="*/ 1386047 h 1386047"/>
                  <a:gd name="connsiteX64" fmla="*/ 404998 w 1386206"/>
                  <a:gd name="connsiteY64" fmla="*/ 1381750 h 1386047"/>
                  <a:gd name="connsiteX65" fmla="*/ 404998 w 1386206"/>
                  <a:gd name="connsiteY65" fmla="*/ 1358831 h 1386047"/>
                  <a:gd name="connsiteX66" fmla="*/ 414920 w 1386206"/>
                  <a:gd name="connsiteY66" fmla="*/ 1346656 h 1386047"/>
                  <a:gd name="connsiteX67" fmla="*/ 418464 w 1386206"/>
                  <a:gd name="connsiteY67" fmla="*/ 1340210 h 1386047"/>
                  <a:gd name="connsiteX68" fmla="*/ 422007 w 1386206"/>
                  <a:gd name="connsiteY68" fmla="*/ 1333048 h 1386047"/>
                  <a:gd name="connsiteX69" fmla="*/ 422716 w 1386206"/>
                  <a:gd name="connsiteY69" fmla="*/ 1333048 h 1386047"/>
                  <a:gd name="connsiteX70" fmla="*/ 425551 w 1386206"/>
                  <a:gd name="connsiteY70" fmla="*/ 1325886 h 1386047"/>
                  <a:gd name="connsiteX71" fmla="*/ 426259 w 1386206"/>
                  <a:gd name="connsiteY71" fmla="*/ 1324453 h 1386047"/>
                  <a:gd name="connsiteX72" fmla="*/ 428385 w 1386206"/>
                  <a:gd name="connsiteY72" fmla="*/ 1317291 h 1386047"/>
                  <a:gd name="connsiteX73" fmla="*/ 429094 w 1386206"/>
                  <a:gd name="connsiteY73" fmla="*/ 1316575 h 1386047"/>
                  <a:gd name="connsiteX74" fmla="*/ 431929 w 1386206"/>
                  <a:gd name="connsiteY74" fmla="*/ 1308697 h 1386047"/>
                  <a:gd name="connsiteX75" fmla="*/ 431929 w 1386206"/>
                  <a:gd name="connsiteY75" fmla="*/ 1307264 h 1386047"/>
                  <a:gd name="connsiteX76" fmla="*/ 434055 w 1386206"/>
                  <a:gd name="connsiteY76" fmla="*/ 1298670 h 1386047"/>
                  <a:gd name="connsiteX77" fmla="*/ 434764 w 1386206"/>
                  <a:gd name="connsiteY77" fmla="*/ 1297954 h 1386047"/>
                  <a:gd name="connsiteX78" fmla="*/ 436890 w 1386206"/>
                  <a:gd name="connsiteY78" fmla="*/ 1288643 h 1386047"/>
                  <a:gd name="connsiteX79" fmla="*/ 436890 w 1386206"/>
                  <a:gd name="connsiteY79" fmla="*/ 1287927 h 1386047"/>
                  <a:gd name="connsiteX80" fmla="*/ 440433 w 1386206"/>
                  <a:gd name="connsiteY80" fmla="*/ 1267873 h 1386047"/>
                  <a:gd name="connsiteX81" fmla="*/ 440433 w 1386206"/>
                  <a:gd name="connsiteY81" fmla="*/ 1267157 h 1386047"/>
                  <a:gd name="connsiteX82" fmla="*/ 441851 w 1386206"/>
                  <a:gd name="connsiteY82" fmla="*/ 1259278 h 1386047"/>
                  <a:gd name="connsiteX83" fmla="*/ 441851 w 1386206"/>
                  <a:gd name="connsiteY83" fmla="*/ 1257130 h 1386047"/>
                  <a:gd name="connsiteX84" fmla="*/ 441851 w 1386206"/>
                  <a:gd name="connsiteY84" fmla="*/ 1255697 h 1386047"/>
                  <a:gd name="connsiteX85" fmla="*/ 443268 w 1386206"/>
                  <a:gd name="connsiteY85" fmla="*/ 1245670 h 1386047"/>
                  <a:gd name="connsiteX86" fmla="*/ 443268 w 1386206"/>
                  <a:gd name="connsiteY86" fmla="*/ 1244238 h 1386047"/>
                  <a:gd name="connsiteX87" fmla="*/ 443977 w 1386206"/>
                  <a:gd name="connsiteY87" fmla="*/ 1233495 h 1386047"/>
                  <a:gd name="connsiteX88" fmla="*/ 444686 w 1386206"/>
                  <a:gd name="connsiteY88" fmla="*/ 1232062 h 1386047"/>
                  <a:gd name="connsiteX89" fmla="*/ 445394 w 1386206"/>
                  <a:gd name="connsiteY89" fmla="*/ 1221319 h 1386047"/>
                  <a:gd name="connsiteX90" fmla="*/ 445394 w 1386206"/>
                  <a:gd name="connsiteY90" fmla="*/ 1219887 h 1386047"/>
                  <a:gd name="connsiteX91" fmla="*/ 445394 w 1386206"/>
                  <a:gd name="connsiteY91" fmla="*/ 1218455 h 1386047"/>
                  <a:gd name="connsiteX92" fmla="*/ 446103 w 1386206"/>
                  <a:gd name="connsiteY92" fmla="*/ 1208428 h 1386047"/>
                  <a:gd name="connsiteX93" fmla="*/ 446103 w 1386206"/>
                  <a:gd name="connsiteY93" fmla="*/ 1206995 h 1386047"/>
                  <a:gd name="connsiteX94" fmla="*/ 446103 w 1386206"/>
                  <a:gd name="connsiteY94" fmla="*/ 1194820 h 1386047"/>
                  <a:gd name="connsiteX95" fmla="*/ 446103 w 1386206"/>
                  <a:gd name="connsiteY95" fmla="*/ 1194103 h 1386047"/>
                  <a:gd name="connsiteX96" fmla="*/ 446812 w 1386206"/>
                  <a:gd name="connsiteY96" fmla="*/ 1168320 h 1386047"/>
                  <a:gd name="connsiteX97" fmla="*/ 446812 w 1386206"/>
                  <a:gd name="connsiteY97" fmla="*/ 1167604 h 1386047"/>
                  <a:gd name="connsiteX98" fmla="*/ 446812 w 1386206"/>
                  <a:gd name="connsiteY98" fmla="*/ 1154712 h 1386047"/>
                  <a:gd name="connsiteX99" fmla="*/ 446812 w 1386206"/>
                  <a:gd name="connsiteY99" fmla="*/ 1153280 h 1386047"/>
                  <a:gd name="connsiteX100" fmla="*/ 446812 w 1386206"/>
                  <a:gd name="connsiteY100" fmla="*/ 1140388 h 1386047"/>
                  <a:gd name="connsiteX101" fmla="*/ 446812 w 1386206"/>
                  <a:gd name="connsiteY101" fmla="*/ 1138955 h 1386047"/>
                  <a:gd name="connsiteX102" fmla="*/ 446812 w 1386206"/>
                  <a:gd name="connsiteY102" fmla="*/ 1126064 h 1386047"/>
                  <a:gd name="connsiteX103" fmla="*/ 446812 w 1386206"/>
                  <a:gd name="connsiteY103" fmla="*/ 1124631 h 1386047"/>
                  <a:gd name="connsiteX104" fmla="*/ 446103 w 1386206"/>
                  <a:gd name="connsiteY104" fmla="*/ 1111740 h 1386047"/>
                  <a:gd name="connsiteX105" fmla="*/ 446103 w 1386206"/>
                  <a:gd name="connsiteY105" fmla="*/ 1109591 h 1386047"/>
                  <a:gd name="connsiteX106" fmla="*/ 446103 w 1386206"/>
                  <a:gd name="connsiteY106" fmla="*/ 1103861 h 1386047"/>
                  <a:gd name="connsiteX107" fmla="*/ 445394 w 1386206"/>
                  <a:gd name="connsiteY107" fmla="*/ 1096699 h 1386047"/>
                  <a:gd name="connsiteX108" fmla="*/ 445394 w 1386206"/>
                  <a:gd name="connsiteY108" fmla="*/ 1095267 h 1386047"/>
                  <a:gd name="connsiteX109" fmla="*/ 445394 w 1386206"/>
                  <a:gd name="connsiteY109" fmla="*/ 1081659 h 1386047"/>
                  <a:gd name="connsiteX110" fmla="*/ 444686 w 1386206"/>
                  <a:gd name="connsiteY110" fmla="*/ 1080226 h 1386047"/>
                  <a:gd name="connsiteX111" fmla="*/ 443977 w 1386206"/>
                  <a:gd name="connsiteY111" fmla="*/ 1057308 h 1386047"/>
                  <a:gd name="connsiteX112" fmla="*/ 443268 w 1386206"/>
                  <a:gd name="connsiteY112" fmla="*/ 1051578 h 1386047"/>
                  <a:gd name="connsiteX113" fmla="*/ 443268 w 1386206"/>
                  <a:gd name="connsiteY113" fmla="*/ 1050862 h 1386047"/>
                  <a:gd name="connsiteX114" fmla="*/ 442559 w 1386206"/>
                  <a:gd name="connsiteY114" fmla="*/ 1036538 h 1386047"/>
                  <a:gd name="connsiteX115" fmla="*/ 442559 w 1386206"/>
                  <a:gd name="connsiteY115" fmla="*/ 1035105 h 1386047"/>
                  <a:gd name="connsiteX116" fmla="*/ 441851 w 1386206"/>
                  <a:gd name="connsiteY116" fmla="*/ 1021497 h 1386047"/>
                  <a:gd name="connsiteX117" fmla="*/ 441851 w 1386206"/>
                  <a:gd name="connsiteY117" fmla="*/ 1019349 h 1386047"/>
                  <a:gd name="connsiteX118" fmla="*/ 441142 w 1386206"/>
                  <a:gd name="connsiteY118" fmla="*/ 1005741 h 1386047"/>
                  <a:gd name="connsiteX119" fmla="*/ 440433 w 1386206"/>
                  <a:gd name="connsiteY119" fmla="*/ 1003592 h 1386047"/>
                  <a:gd name="connsiteX120" fmla="*/ 439725 w 1386206"/>
                  <a:gd name="connsiteY120" fmla="*/ 989984 h 1386047"/>
                  <a:gd name="connsiteX121" fmla="*/ 439725 w 1386206"/>
                  <a:gd name="connsiteY121" fmla="*/ 987836 h 1386047"/>
                  <a:gd name="connsiteX122" fmla="*/ 439725 w 1386206"/>
                  <a:gd name="connsiteY122" fmla="*/ 982822 h 1386047"/>
                  <a:gd name="connsiteX123" fmla="*/ 922715 w 1386206"/>
                  <a:gd name="connsiteY123" fmla="*/ 500222 h 1386047"/>
                  <a:gd name="connsiteX124" fmla="*/ 939153 w 1386206"/>
                  <a:gd name="connsiteY124" fmla="*/ 501647 h 1386047"/>
                  <a:gd name="connsiteX125" fmla="*/ 954163 w 1386206"/>
                  <a:gd name="connsiteY125" fmla="*/ 502359 h 1386047"/>
                  <a:gd name="connsiteX126" fmla="*/ 955592 w 1386206"/>
                  <a:gd name="connsiteY126" fmla="*/ 523727 h 1386047"/>
                  <a:gd name="connsiteX127" fmla="*/ 956307 w 1386206"/>
                  <a:gd name="connsiteY127" fmla="*/ 542247 h 1386047"/>
                  <a:gd name="connsiteX128" fmla="*/ 959166 w 1386206"/>
                  <a:gd name="connsiteY128" fmla="*/ 596380 h 1386047"/>
                  <a:gd name="connsiteX129" fmla="*/ 960595 w 1386206"/>
                  <a:gd name="connsiteY129" fmla="*/ 631994 h 1386047"/>
                  <a:gd name="connsiteX130" fmla="*/ 960595 w 1386206"/>
                  <a:gd name="connsiteY130" fmla="*/ 665471 h 1386047"/>
                  <a:gd name="connsiteX131" fmla="*/ 960595 w 1386206"/>
                  <a:gd name="connsiteY131" fmla="*/ 675443 h 1386047"/>
                  <a:gd name="connsiteX132" fmla="*/ 907705 w 1386206"/>
                  <a:gd name="connsiteY132" fmla="*/ 899811 h 1386047"/>
                  <a:gd name="connsiteX133" fmla="*/ 904131 w 1386206"/>
                  <a:gd name="connsiteY133" fmla="*/ 903373 h 1386047"/>
                  <a:gd name="connsiteX134" fmla="*/ 523181 w 1386206"/>
                  <a:gd name="connsiteY134" fmla="*/ 954657 h 1386047"/>
                  <a:gd name="connsiteX135" fmla="*/ 500309 w 1386206"/>
                  <a:gd name="connsiteY135" fmla="*/ 953232 h 1386047"/>
                  <a:gd name="connsiteX136" fmla="*/ 468861 w 1386206"/>
                  <a:gd name="connsiteY136" fmla="*/ 951095 h 1386047"/>
                  <a:gd name="connsiteX137" fmla="*/ 442416 w 1386206"/>
                  <a:gd name="connsiteY137" fmla="*/ 948959 h 1386047"/>
                  <a:gd name="connsiteX138" fmla="*/ 440987 w 1386206"/>
                  <a:gd name="connsiteY138" fmla="*/ 948959 h 1386047"/>
                  <a:gd name="connsiteX139" fmla="*/ 436699 w 1386206"/>
                  <a:gd name="connsiteY139" fmla="*/ 948959 h 1386047"/>
                  <a:gd name="connsiteX140" fmla="*/ 424548 w 1386206"/>
                  <a:gd name="connsiteY140" fmla="*/ 948246 h 1386047"/>
                  <a:gd name="connsiteX141" fmla="*/ 424548 w 1386206"/>
                  <a:gd name="connsiteY141" fmla="*/ 947534 h 1386047"/>
                  <a:gd name="connsiteX142" fmla="*/ 422404 w 1386206"/>
                  <a:gd name="connsiteY142" fmla="*/ 947534 h 1386047"/>
                  <a:gd name="connsiteX143" fmla="*/ 417401 w 1386206"/>
                  <a:gd name="connsiteY143" fmla="*/ 947534 h 1386047"/>
                  <a:gd name="connsiteX144" fmla="*/ 415971 w 1386206"/>
                  <a:gd name="connsiteY144" fmla="*/ 947534 h 1386047"/>
                  <a:gd name="connsiteX145" fmla="*/ 405250 w 1386206"/>
                  <a:gd name="connsiteY145" fmla="*/ 946822 h 1386047"/>
                  <a:gd name="connsiteX146" fmla="*/ 400962 w 1386206"/>
                  <a:gd name="connsiteY146" fmla="*/ 946109 h 1386047"/>
                  <a:gd name="connsiteX147" fmla="*/ 399533 w 1386206"/>
                  <a:gd name="connsiteY147" fmla="*/ 946109 h 1386047"/>
                  <a:gd name="connsiteX148" fmla="*/ 398818 w 1386206"/>
                  <a:gd name="connsiteY148" fmla="*/ 946109 h 1386047"/>
                  <a:gd name="connsiteX149" fmla="*/ 398103 w 1386206"/>
                  <a:gd name="connsiteY149" fmla="*/ 946109 h 1386047"/>
                  <a:gd name="connsiteX150" fmla="*/ 396674 w 1386206"/>
                  <a:gd name="connsiteY150" fmla="*/ 946109 h 1386047"/>
                  <a:gd name="connsiteX151" fmla="*/ 393815 w 1386206"/>
                  <a:gd name="connsiteY151" fmla="*/ 946109 h 1386047"/>
                  <a:gd name="connsiteX152" fmla="*/ 390956 w 1386206"/>
                  <a:gd name="connsiteY152" fmla="*/ 945397 h 1386047"/>
                  <a:gd name="connsiteX153" fmla="*/ 381664 w 1386206"/>
                  <a:gd name="connsiteY153" fmla="*/ 945397 h 1386047"/>
                  <a:gd name="connsiteX154" fmla="*/ 376661 w 1386206"/>
                  <a:gd name="connsiteY154" fmla="*/ 944685 h 1386047"/>
                  <a:gd name="connsiteX155" fmla="*/ 374517 w 1386206"/>
                  <a:gd name="connsiteY155" fmla="*/ 944685 h 1386047"/>
                  <a:gd name="connsiteX156" fmla="*/ 369514 w 1386206"/>
                  <a:gd name="connsiteY156" fmla="*/ 943973 h 1386047"/>
                  <a:gd name="connsiteX157" fmla="*/ 368085 w 1386206"/>
                  <a:gd name="connsiteY157" fmla="*/ 943973 h 1386047"/>
                  <a:gd name="connsiteX158" fmla="*/ 353790 w 1386206"/>
                  <a:gd name="connsiteY158" fmla="*/ 943260 h 1386047"/>
                  <a:gd name="connsiteX159" fmla="*/ 350931 w 1386206"/>
                  <a:gd name="connsiteY159" fmla="*/ 943260 h 1386047"/>
                  <a:gd name="connsiteX160" fmla="*/ 350216 w 1386206"/>
                  <a:gd name="connsiteY160" fmla="*/ 943260 h 1386047"/>
                  <a:gd name="connsiteX161" fmla="*/ 348787 w 1386206"/>
                  <a:gd name="connsiteY161" fmla="*/ 943260 h 1386047"/>
                  <a:gd name="connsiteX162" fmla="*/ 334492 w 1386206"/>
                  <a:gd name="connsiteY162" fmla="*/ 942548 h 1386047"/>
                  <a:gd name="connsiteX163" fmla="*/ 333778 w 1386206"/>
                  <a:gd name="connsiteY163" fmla="*/ 942548 h 1386047"/>
                  <a:gd name="connsiteX164" fmla="*/ 328060 w 1386206"/>
                  <a:gd name="connsiteY164" fmla="*/ 941836 h 1386047"/>
                  <a:gd name="connsiteX165" fmla="*/ 304474 w 1386206"/>
                  <a:gd name="connsiteY165" fmla="*/ 941123 h 1386047"/>
                  <a:gd name="connsiteX166" fmla="*/ 304474 w 1386206"/>
                  <a:gd name="connsiteY166" fmla="*/ 940411 h 1386047"/>
                  <a:gd name="connsiteX167" fmla="*/ 290179 w 1386206"/>
                  <a:gd name="connsiteY167" fmla="*/ 940411 h 1386047"/>
                  <a:gd name="connsiteX168" fmla="*/ 288750 w 1386206"/>
                  <a:gd name="connsiteY168" fmla="*/ 940411 h 1386047"/>
                  <a:gd name="connsiteX169" fmla="*/ 281602 w 1386206"/>
                  <a:gd name="connsiteY169" fmla="*/ 939699 h 1386047"/>
                  <a:gd name="connsiteX170" fmla="*/ 275885 w 1386206"/>
                  <a:gd name="connsiteY170" fmla="*/ 939699 h 1386047"/>
                  <a:gd name="connsiteX171" fmla="*/ 273740 w 1386206"/>
                  <a:gd name="connsiteY171" fmla="*/ 939699 h 1386047"/>
                  <a:gd name="connsiteX172" fmla="*/ 260875 w 1386206"/>
                  <a:gd name="connsiteY172" fmla="*/ 938987 h 1386047"/>
                  <a:gd name="connsiteX173" fmla="*/ 259446 w 1386206"/>
                  <a:gd name="connsiteY173" fmla="*/ 938987 h 1386047"/>
                  <a:gd name="connsiteX174" fmla="*/ 246581 w 1386206"/>
                  <a:gd name="connsiteY174" fmla="*/ 938987 h 1386047"/>
                  <a:gd name="connsiteX175" fmla="*/ 245151 w 1386206"/>
                  <a:gd name="connsiteY175" fmla="*/ 938987 h 1386047"/>
                  <a:gd name="connsiteX176" fmla="*/ 232286 w 1386206"/>
                  <a:gd name="connsiteY176" fmla="*/ 938987 h 1386047"/>
                  <a:gd name="connsiteX177" fmla="*/ 230857 w 1386206"/>
                  <a:gd name="connsiteY177" fmla="*/ 938987 h 1386047"/>
                  <a:gd name="connsiteX178" fmla="*/ 217992 w 1386206"/>
                  <a:gd name="connsiteY178" fmla="*/ 938987 h 1386047"/>
                  <a:gd name="connsiteX179" fmla="*/ 217277 w 1386206"/>
                  <a:gd name="connsiteY179" fmla="*/ 938987 h 1386047"/>
                  <a:gd name="connsiteX180" fmla="*/ 191547 w 1386206"/>
                  <a:gd name="connsiteY180" fmla="*/ 939699 h 1386047"/>
                  <a:gd name="connsiteX181" fmla="*/ 190832 w 1386206"/>
                  <a:gd name="connsiteY181" fmla="*/ 939699 h 1386047"/>
                  <a:gd name="connsiteX182" fmla="*/ 178681 w 1386206"/>
                  <a:gd name="connsiteY182" fmla="*/ 939699 h 1386047"/>
                  <a:gd name="connsiteX183" fmla="*/ 177252 w 1386206"/>
                  <a:gd name="connsiteY183" fmla="*/ 939699 h 1386047"/>
                  <a:gd name="connsiteX184" fmla="*/ 167246 w 1386206"/>
                  <a:gd name="connsiteY184" fmla="*/ 940411 h 1386047"/>
                  <a:gd name="connsiteX185" fmla="*/ 165816 w 1386206"/>
                  <a:gd name="connsiteY185" fmla="*/ 940411 h 1386047"/>
                  <a:gd name="connsiteX186" fmla="*/ 164387 w 1386206"/>
                  <a:gd name="connsiteY186" fmla="*/ 940411 h 1386047"/>
                  <a:gd name="connsiteX187" fmla="*/ 153666 w 1386206"/>
                  <a:gd name="connsiteY187" fmla="*/ 941123 h 1386047"/>
                  <a:gd name="connsiteX188" fmla="*/ 152236 w 1386206"/>
                  <a:gd name="connsiteY188" fmla="*/ 941836 h 1386047"/>
                  <a:gd name="connsiteX189" fmla="*/ 141516 w 1386206"/>
                  <a:gd name="connsiteY189" fmla="*/ 942548 h 1386047"/>
                  <a:gd name="connsiteX190" fmla="*/ 140086 w 1386206"/>
                  <a:gd name="connsiteY190" fmla="*/ 942548 h 1386047"/>
                  <a:gd name="connsiteX191" fmla="*/ 130080 w 1386206"/>
                  <a:gd name="connsiteY191" fmla="*/ 943973 h 1386047"/>
                  <a:gd name="connsiteX192" fmla="*/ 128650 w 1386206"/>
                  <a:gd name="connsiteY192" fmla="*/ 943973 h 1386047"/>
                  <a:gd name="connsiteX193" fmla="*/ 126506 w 1386206"/>
                  <a:gd name="connsiteY193" fmla="*/ 943973 h 1386047"/>
                  <a:gd name="connsiteX194" fmla="*/ 118644 w 1386206"/>
                  <a:gd name="connsiteY194" fmla="*/ 945397 h 1386047"/>
                  <a:gd name="connsiteX195" fmla="*/ 117929 w 1386206"/>
                  <a:gd name="connsiteY195" fmla="*/ 945397 h 1386047"/>
                  <a:gd name="connsiteX196" fmla="*/ 107209 w 1386206"/>
                  <a:gd name="connsiteY196" fmla="*/ 947534 h 1386047"/>
                  <a:gd name="connsiteX197" fmla="*/ 97917 w 1386206"/>
                  <a:gd name="connsiteY197" fmla="*/ 948959 h 1386047"/>
                  <a:gd name="connsiteX198" fmla="*/ 97202 w 1386206"/>
                  <a:gd name="connsiteY198" fmla="*/ 948959 h 1386047"/>
                  <a:gd name="connsiteX199" fmla="*/ 87911 w 1386206"/>
                  <a:gd name="connsiteY199" fmla="*/ 951095 h 1386047"/>
                  <a:gd name="connsiteX200" fmla="*/ 87196 w 1386206"/>
                  <a:gd name="connsiteY200" fmla="*/ 951808 h 1386047"/>
                  <a:gd name="connsiteX201" fmla="*/ 78619 w 1386206"/>
                  <a:gd name="connsiteY201" fmla="*/ 953945 h 1386047"/>
                  <a:gd name="connsiteX202" fmla="*/ 77190 w 1386206"/>
                  <a:gd name="connsiteY202" fmla="*/ 953945 h 1386047"/>
                  <a:gd name="connsiteX203" fmla="*/ 69328 w 1386206"/>
                  <a:gd name="connsiteY203" fmla="*/ 956794 h 1386047"/>
                  <a:gd name="connsiteX204" fmla="*/ 68613 w 1386206"/>
                  <a:gd name="connsiteY204" fmla="*/ 957506 h 1386047"/>
                  <a:gd name="connsiteX205" fmla="*/ 61466 w 1386206"/>
                  <a:gd name="connsiteY205" fmla="*/ 959643 h 1386047"/>
                  <a:gd name="connsiteX206" fmla="*/ 60036 w 1386206"/>
                  <a:gd name="connsiteY206" fmla="*/ 960355 h 1386047"/>
                  <a:gd name="connsiteX207" fmla="*/ 52889 w 1386206"/>
                  <a:gd name="connsiteY207" fmla="*/ 963204 h 1386047"/>
                  <a:gd name="connsiteX208" fmla="*/ 52889 w 1386206"/>
                  <a:gd name="connsiteY208" fmla="*/ 963916 h 1386047"/>
                  <a:gd name="connsiteX209" fmla="*/ 45742 w 1386206"/>
                  <a:gd name="connsiteY209" fmla="*/ 967478 h 1386047"/>
                  <a:gd name="connsiteX210" fmla="*/ 39309 w 1386206"/>
                  <a:gd name="connsiteY210" fmla="*/ 971039 h 1386047"/>
                  <a:gd name="connsiteX211" fmla="*/ 27159 w 1386206"/>
                  <a:gd name="connsiteY211" fmla="*/ 981011 h 1386047"/>
                  <a:gd name="connsiteX212" fmla="*/ 15723 w 1386206"/>
                  <a:gd name="connsiteY212" fmla="*/ 985997 h 1386047"/>
                  <a:gd name="connsiteX213" fmla="*/ 4288 w 1386206"/>
                  <a:gd name="connsiteY213" fmla="*/ 981011 h 1386047"/>
                  <a:gd name="connsiteX214" fmla="*/ 4288 w 1386206"/>
                  <a:gd name="connsiteY214" fmla="*/ 958930 h 1386047"/>
                  <a:gd name="connsiteX215" fmla="*/ 16438 w 1386206"/>
                  <a:gd name="connsiteY215" fmla="*/ 948959 h 1386047"/>
                  <a:gd name="connsiteX216" fmla="*/ 17153 w 1386206"/>
                  <a:gd name="connsiteY216" fmla="*/ 948246 h 1386047"/>
                  <a:gd name="connsiteX217" fmla="*/ 23585 w 1386206"/>
                  <a:gd name="connsiteY217" fmla="*/ 943973 h 1386047"/>
                  <a:gd name="connsiteX218" fmla="*/ 24300 w 1386206"/>
                  <a:gd name="connsiteY218" fmla="*/ 943260 h 1386047"/>
                  <a:gd name="connsiteX219" fmla="*/ 31447 w 1386206"/>
                  <a:gd name="connsiteY219" fmla="*/ 939699 h 1386047"/>
                  <a:gd name="connsiteX220" fmla="*/ 32162 w 1386206"/>
                  <a:gd name="connsiteY220" fmla="*/ 938987 h 1386047"/>
                  <a:gd name="connsiteX221" fmla="*/ 40024 w 1386206"/>
                  <a:gd name="connsiteY221" fmla="*/ 935425 h 1386047"/>
                  <a:gd name="connsiteX222" fmla="*/ 40739 w 1386206"/>
                  <a:gd name="connsiteY222" fmla="*/ 934713 h 1386047"/>
                  <a:gd name="connsiteX223" fmla="*/ 48601 w 1386206"/>
                  <a:gd name="connsiteY223" fmla="*/ 931152 h 1386047"/>
                  <a:gd name="connsiteX224" fmla="*/ 49315 w 1386206"/>
                  <a:gd name="connsiteY224" fmla="*/ 931152 h 1386047"/>
                  <a:gd name="connsiteX225" fmla="*/ 57892 w 1386206"/>
                  <a:gd name="connsiteY225" fmla="*/ 927590 h 1386047"/>
                  <a:gd name="connsiteX226" fmla="*/ 58607 w 1386206"/>
                  <a:gd name="connsiteY226" fmla="*/ 927590 h 1386047"/>
                  <a:gd name="connsiteX227" fmla="*/ 67184 w 1386206"/>
                  <a:gd name="connsiteY227" fmla="*/ 924741 h 1386047"/>
                  <a:gd name="connsiteX228" fmla="*/ 68613 w 1386206"/>
                  <a:gd name="connsiteY228" fmla="*/ 924029 h 1386047"/>
                  <a:gd name="connsiteX229" fmla="*/ 77905 w 1386206"/>
                  <a:gd name="connsiteY229" fmla="*/ 921892 h 1386047"/>
                  <a:gd name="connsiteX230" fmla="*/ 79334 w 1386206"/>
                  <a:gd name="connsiteY230" fmla="*/ 921180 h 1386047"/>
                  <a:gd name="connsiteX231" fmla="*/ 88626 w 1386206"/>
                  <a:gd name="connsiteY231" fmla="*/ 919043 h 1386047"/>
                  <a:gd name="connsiteX232" fmla="*/ 90770 w 1386206"/>
                  <a:gd name="connsiteY232" fmla="*/ 919043 h 1386047"/>
                  <a:gd name="connsiteX233" fmla="*/ 100061 w 1386206"/>
                  <a:gd name="connsiteY233" fmla="*/ 916906 h 1386047"/>
                  <a:gd name="connsiteX234" fmla="*/ 102205 w 1386206"/>
                  <a:gd name="connsiteY234" fmla="*/ 916194 h 1386047"/>
                  <a:gd name="connsiteX235" fmla="*/ 111497 w 1386206"/>
                  <a:gd name="connsiteY235" fmla="*/ 914769 h 1386047"/>
                  <a:gd name="connsiteX236" fmla="*/ 113641 w 1386206"/>
                  <a:gd name="connsiteY236" fmla="*/ 914769 h 1386047"/>
                  <a:gd name="connsiteX237" fmla="*/ 123647 w 1386206"/>
                  <a:gd name="connsiteY237" fmla="*/ 913345 h 1386047"/>
                  <a:gd name="connsiteX238" fmla="*/ 125791 w 1386206"/>
                  <a:gd name="connsiteY238" fmla="*/ 912632 h 1386047"/>
                  <a:gd name="connsiteX239" fmla="*/ 136512 w 1386206"/>
                  <a:gd name="connsiteY239" fmla="*/ 911920 h 1386047"/>
                  <a:gd name="connsiteX240" fmla="*/ 138657 w 1386206"/>
                  <a:gd name="connsiteY240" fmla="*/ 911208 h 1386047"/>
                  <a:gd name="connsiteX241" fmla="*/ 149378 w 1386206"/>
                  <a:gd name="connsiteY241" fmla="*/ 910495 h 1386047"/>
                  <a:gd name="connsiteX242" fmla="*/ 150807 w 1386206"/>
                  <a:gd name="connsiteY242" fmla="*/ 910495 h 1386047"/>
                  <a:gd name="connsiteX243" fmla="*/ 162243 w 1386206"/>
                  <a:gd name="connsiteY243" fmla="*/ 909071 h 1386047"/>
                  <a:gd name="connsiteX244" fmla="*/ 163672 w 1386206"/>
                  <a:gd name="connsiteY244" fmla="*/ 909071 h 1386047"/>
                  <a:gd name="connsiteX245" fmla="*/ 175108 w 1386206"/>
                  <a:gd name="connsiteY245" fmla="*/ 908359 h 1386047"/>
                  <a:gd name="connsiteX246" fmla="*/ 177252 w 1386206"/>
                  <a:gd name="connsiteY246" fmla="*/ 908359 h 1386047"/>
                  <a:gd name="connsiteX247" fmla="*/ 189402 w 1386206"/>
                  <a:gd name="connsiteY247" fmla="*/ 908359 h 1386047"/>
                  <a:gd name="connsiteX248" fmla="*/ 191547 w 1386206"/>
                  <a:gd name="connsiteY248" fmla="*/ 907646 h 1386047"/>
                  <a:gd name="connsiteX249" fmla="*/ 202982 w 1386206"/>
                  <a:gd name="connsiteY249" fmla="*/ 907646 h 1386047"/>
                  <a:gd name="connsiteX250" fmla="*/ 206556 w 1386206"/>
                  <a:gd name="connsiteY250" fmla="*/ 907646 h 1386047"/>
                  <a:gd name="connsiteX251" fmla="*/ 217992 w 1386206"/>
                  <a:gd name="connsiteY251" fmla="*/ 907646 h 1386047"/>
                  <a:gd name="connsiteX252" fmla="*/ 220850 w 1386206"/>
                  <a:gd name="connsiteY252" fmla="*/ 907646 h 1386047"/>
                  <a:gd name="connsiteX253" fmla="*/ 233001 w 1386206"/>
                  <a:gd name="connsiteY253" fmla="*/ 907646 h 1386047"/>
                  <a:gd name="connsiteX254" fmla="*/ 235860 w 1386206"/>
                  <a:gd name="connsiteY254" fmla="*/ 907646 h 1386047"/>
                  <a:gd name="connsiteX255" fmla="*/ 248010 w 1386206"/>
                  <a:gd name="connsiteY255" fmla="*/ 907646 h 1386047"/>
                  <a:gd name="connsiteX256" fmla="*/ 251584 w 1386206"/>
                  <a:gd name="connsiteY256" fmla="*/ 907646 h 1386047"/>
                  <a:gd name="connsiteX257" fmla="*/ 263734 w 1386206"/>
                  <a:gd name="connsiteY257" fmla="*/ 907646 h 1386047"/>
                  <a:gd name="connsiteX258" fmla="*/ 266593 w 1386206"/>
                  <a:gd name="connsiteY258" fmla="*/ 908359 h 1386047"/>
                  <a:gd name="connsiteX259" fmla="*/ 279458 w 1386206"/>
                  <a:gd name="connsiteY259" fmla="*/ 908359 h 1386047"/>
                  <a:gd name="connsiteX260" fmla="*/ 282317 w 1386206"/>
                  <a:gd name="connsiteY260" fmla="*/ 908359 h 1386047"/>
                  <a:gd name="connsiteX261" fmla="*/ 294467 w 1386206"/>
                  <a:gd name="connsiteY261" fmla="*/ 909071 h 1386047"/>
                  <a:gd name="connsiteX262" fmla="*/ 297326 w 1386206"/>
                  <a:gd name="connsiteY262" fmla="*/ 909071 h 1386047"/>
                  <a:gd name="connsiteX263" fmla="*/ 310192 w 1386206"/>
                  <a:gd name="connsiteY263" fmla="*/ 909783 h 1386047"/>
                  <a:gd name="connsiteX264" fmla="*/ 313050 w 1386206"/>
                  <a:gd name="connsiteY264" fmla="*/ 909783 h 1386047"/>
                  <a:gd name="connsiteX265" fmla="*/ 325916 w 1386206"/>
                  <a:gd name="connsiteY265" fmla="*/ 910495 h 1386047"/>
                  <a:gd name="connsiteX266" fmla="*/ 329489 w 1386206"/>
                  <a:gd name="connsiteY266" fmla="*/ 910495 h 1386047"/>
                  <a:gd name="connsiteX267" fmla="*/ 342354 w 1386206"/>
                  <a:gd name="connsiteY267" fmla="*/ 911208 h 1386047"/>
                  <a:gd name="connsiteX268" fmla="*/ 345928 w 1386206"/>
                  <a:gd name="connsiteY268" fmla="*/ 911208 h 1386047"/>
                  <a:gd name="connsiteX269" fmla="*/ 358793 w 1386206"/>
                  <a:gd name="connsiteY269" fmla="*/ 911920 h 1386047"/>
                  <a:gd name="connsiteX270" fmla="*/ 363081 w 1386206"/>
                  <a:gd name="connsiteY270" fmla="*/ 912632 h 1386047"/>
                  <a:gd name="connsiteX271" fmla="*/ 375232 w 1386206"/>
                  <a:gd name="connsiteY271" fmla="*/ 913345 h 1386047"/>
                  <a:gd name="connsiteX272" fmla="*/ 378091 w 1386206"/>
                  <a:gd name="connsiteY272" fmla="*/ 913345 h 1386047"/>
                  <a:gd name="connsiteX273" fmla="*/ 403106 w 1386206"/>
                  <a:gd name="connsiteY273" fmla="*/ 914769 h 1386047"/>
                  <a:gd name="connsiteX274" fmla="*/ 419545 w 1386206"/>
                  <a:gd name="connsiteY274" fmla="*/ 916194 h 1386047"/>
                  <a:gd name="connsiteX275" fmla="*/ 420975 w 1386206"/>
                  <a:gd name="connsiteY275" fmla="*/ 916194 h 1386047"/>
                  <a:gd name="connsiteX276" fmla="*/ 422404 w 1386206"/>
                  <a:gd name="connsiteY276" fmla="*/ 916194 h 1386047"/>
                  <a:gd name="connsiteX277" fmla="*/ 423833 w 1386206"/>
                  <a:gd name="connsiteY277" fmla="*/ 916194 h 1386047"/>
                  <a:gd name="connsiteX278" fmla="*/ 434554 w 1386206"/>
                  <a:gd name="connsiteY278" fmla="*/ 916906 h 1386047"/>
                  <a:gd name="connsiteX279" fmla="*/ 438843 w 1386206"/>
                  <a:gd name="connsiteY279" fmla="*/ 917618 h 1386047"/>
                  <a:gd name="connsiteX280" fmla="*/ 440987 w 1386206"/>
                  <a:gd name="connsiteY280" fmla="*/ 917618 h 1386047"/>
                  <a:gd name="connsiteX281" fmla="*/ 444561 w 1386206"/>
                  <a:gd name="connsiteY281" fmla="*/ 917618 h 1386047"/>
                  <a:gd name="connsiteX282" fmla="*/ 466717 w 1386206"/>
                  <a:gd name="connsiteY282" fmla="*/ 919043 h 1386047"/>
                  <a:gd name="connsiteX283" fmla="*/ 488159 w 1386206"/>
                  <a:gd name="connsiteY283" fmla="*/ 920467 h 1386047"/>
                  <a:gd name="connsiteX284" fmla="*/ 498165 w 1386206"/>
                  <a:gd name="connsiteY284" fmla="*/ 921180 h 1386047"/>
                  <a:gd name="connsiteX285" fmla="*/ 499595 w 1386206"/>
                  <a:gd name="connsiteY285" fmla="*/ 921892 h 1386047"/>
                  <a:gd name="connsiteX286" fmla="*/ 518178 w 1386206"/>
                  <a:gd name="connsiteY286" fmla="*/ 922604 h 1386047"/>
                  <a:gd name="connsiteX287" fmla="*/ 520322 w 1386206"/>
                  <a:gd name="connsiteY287" fmla="*/ 922604 h 1386047"/>
                  <a:gd name="connsiteX288" fmla="*/ 522466 w 1386206"/>
                  <a:gd name="connsiteY288" fmla="*/ 923316 h 1386047"/>
                  <a:gd name="connsiteX289" fmla="*/ 549626 w 1386206"/>
                  <a:gd name="connsiteY289" fmla="*/ 924741 h 1386047"/>
                  <a:gd name="connsiteX290" fmla="*/ 551055 w 1386206"/>
                  <a:gd name="connsiteY290" fmla="*/ 924741 h 1386047"/>
                  <a:gd name="connsiteX291" fmla="*/ 565350 w 1386206"/>
                  <a:gd name="connsiteY291" fmla="*/ 925453 h 1386047"/>
                  <a:gd name="connsiteX292" fmla="*/ 566779 w 1386206"/>
                  <a:gd name="connsiteY292" fmla="*/ 925453 h 1386047"/>
                  <a:gd name="connsiteX293" fmla="*/ 568209 w 1386206"/>
                  <a:gd name="connsiteY293" fmla="*/ 925453 h 1386047"/>
                  <a:gd name="connsiteX294" fmla="*/ 571782 w 1386206"/>
                  <a:gd name="connsiteY294" fmla="*/ 925453 h 1386047"/>
                  <a:gd name="connsiteX295" fmla="*/ 584647 w 1386206"/>
                  <a:gd name="connsiteY295" fmla="*/ 926166 h 1386047"/>
                  <a:gd name="connsiteX296" fmla="*/ 586792 w 1386206"/>
                  <a:gd name="connsiteY296" fmla="*/ 926166 h 1386047"/>
                  <a:gd name="connsiteX297" fmla="*/ 632534 w 1386206"/>
                  <a:gd name="connsiteY297" fmla="*/ 928302 h 1386047"/>
                  <a:gd name="connsiteX298" fmla="*/ 744747 w 1386206"/>
                  <a:gd name="connsiteY298" fmla="*/ 925453 h 1386047"/>
                  <a:gd name="connsiteX299" fmla="*/ 784771 w 1386206"/>
                  <a:gd name="connsiteY299" fmla="*/ 920467 h 1386047"/>
                  <a:gd name="connsiteX300" fmla="*/ 860533 w 1386206"/>
                  <a:gd name="connsiteY300" fmla="*/ 896962 h 1386047"/>
                  <a:gd name="connsiteX301" fmla="*/ 869824 w 1386206"/>
                  <a:gd name="connsiteY301" fmla="*/ 891264 h 1386047"/>
                  <a:gd name="connsiteX302" fmla="*/ 881975 w 1386206"/>
                  <a:gd name="connsiteY302" fmla="*/ 881292 h 1386047"/>
                  <a:gd name="connsiteX303" fmla="*/ 891981 w 1386206"/>
                  <a:gd name="connsiteY303" fmla="*/ 869183 h 1386047"/>
                  <a:gd name="connsiteX304" fmla="*/ 914853 w 1386206"/>
                  <a:gd name="connsiteY304" fmla="*/ 815762 h 1386047"/>
                  <a:gd name="connsiteX305" fmla="*/ 921285 w 1386206"/>
                  <a:gd name="connsiteY305" fmla="*/ 784422 h 1386047"/>
                  <a:gd name="connsiteX306" fmla="*/ 926288 w 1386206"/>
                  <a:gd name="connsiteY306" fmla="*/ 744534 h 1386047"/>
                  <a:gd name="connsiteX307" fmla="*/ 929147 w 1386206"/>
                  <a:gd name="connsiteY307" fmla="*/ 632706 h 1386047"/>
                  <a:gd name="connsiteX308" fmla="*/ 927003 w 1386206"/>
                  <a:gd name="connsiteY308" fmla="*/ 587120 h 1386047"/>
                  <a:gd name="connsiteX309" fmla="*/ 923429 w 1386206"/>
                  <a:gd name="connsiteY309" fmla="*/ 514468 h 1386047"/>
                  <a:gd name="connsiteX310" fmla="*/ 923429 w 1386206"/>
                  <a:gd name="connsiteY310" fmla="*/ 513755 h 1386047"/>
                  <a:gd name="connsiteX311" fmla="*/ 922715 w 1386206"/>
                  <a:gd name="connsiteY311" fmla="*/ 500222 h 1386047"/>
                  <a:gd name="connsiteX312" fmla="*/ 1370508 w 1386206"/>
                  <a:gd name="connsiteY312" fmla="*/ 400228 h 1386047"/>
                  <a:gd name="connsiteX313" fmla="*/ 1381925 w 1386206"/>
                  <a:gd name="connsiteY313" fmla="*/ 405046 h 1386047"/>
                  <a:gd name="connsiteX314" fmla="*/ 1381925 w 1386206"/>
                  <a:gd name="connsiteY314" fmla="*/ 427174 h 1386047"/>
                  <a:gd name="connsiteX315" fmla="*/ 1369794 w 1386206"/>
                  <a:gd name="connsiteY315" fmla="*/ 437167 h 1386047"/>
                  <a:gd name="connsiteX316" fmla="*/ 1369081 w 1386206"/>
                  <a:gd name="connsiteY316" fmla="*/ 437881 h 1386047"/>
                  <a:gd name="connsiteX317" fmla="*/ 1362659 w 1386206"/>
                  <a:gd name="connsiteY317" fmla="*/ 442164 h 1386047"/>
                  <a:gd name="connsiteX318" fmla="*/ 1361945 w 1386206"/>
                  <a:gd name="connsiteY318" fmla="*/ 442877 h 1386047"/>
                  <a:gd name="connsiteX319" fmla="*/ 1354810 w 1386206"/>
                  <a:gd name="connsiteY319" fmla="*/ 446446 h 1386047"/>
                  <a:gd name="connsiteX320" fmla="*/ 1354096 w 1386206"/>
                  <a:gd name="connsiteY320" fmla="*/ 447160 h 1386047"/>
                  <a:gd name="connsiteX321" fmla="*/ 1346247 w 1386206"/>
                  <a:gd name="connsiteY321" fmla="*/ 450729 h 1386047"/>
                  <a:gd name="connsiteX322" fmla="*/ 1345534 w 1386206"/>
                  <a:gd name="connsiteY322" fmla="*/ 451443 h 1386047"/>
                  <a:gd name="connsiteX323" fmla="*/ 1336971 w 1386206"/>
                  <a:gd name="connsiteY323" fmla="*/ 455012 h 1386047"/>
                  <a:gd name="connsiteX324" fmla="*/ 1327695 w 1386206"/>
                  <a:gd name="connsiteY324" fmla="*/ 458581 h 1386047"/>
                  <a:gd name="connsiteX325" fmla="*/ 1318419 w 1386206"/>
                  <a:gd name="connsiteY325" fmla="*/ 461436 h 1386047"/>
                  <a:gd name="connsiteX326" fmla="*/ 1317705 w 1386206"/>
                  <a:gd name="connsiteY326" fmla="*/ 461436 h 1386047"/>
                  <a:gd name="connsiteX327" fmla="*/ 1308429 w 1386206"/>
                  <a:gd name="connsiteY327" fmla="*/ 464291 h 1386047"/>
                  <a:gd name="connsiteX328" fmla="*/ 1307002 w 1386206"/>
                  <a:gd name="connsiteY328" fmla="*/ 465005 h 1386047"/>
                  <a:gd name="connsiteX329" fmla="*/ 1297726 w 1386206"/>
                  <a:gd name="connsiteY329" fmla="*/ 467147 h 1386047"/>
                  <a:gd name="connsiteX330" fmla="*/ 1296299 w 1386206"/>
                  <a:gd name="connsiteY330" fmla="*/ 467147 h 1386047"/>
                  <a:gd name="connsiteX331" fmla="*/ 1286309 w 1386206"/>
                  <a:gd name="connsiteY331" fmla="*/ 469288 h 1386047"/>
                  <a:gd name="connsiteX332" fmla="*/ 1284882 w 1386206"/>
                  <a:gd name="connsiteY332" fmla="*/ 469288 h 1386047"/>
                  <a:gd name="connsiteX333" fmla="*/ 1274179 w 1386206"/>
                  <a:gd name="connsiteY333" fmla="*/ 471429 h 1386047"/>
                  <a:gd name="connsiteX334" fmla="*/ 1273465 w 1386206"/>
                  <a:gd name="connsiteY334" fmla="*/ 471429 h 1386047"/>
                  <a:gd name="connsiteX335" fmla="*/ 1262048 w 1386206"/>
                  <a:gd name="connsiteY335" fmla="*/ 472857 h 1386047"/>
                  <a:gd name="connsiteX336" fmla="*/ 1261335 w 1386206"/>
                  <a:gd name="connsiteY336" fmla="*/ 473571 h 1386047"/>
                  <a:gd name="connsiteX337" fmla="*/ 1249205 w 1386206"/>
                  <a:gd name="connsiteY337" fmla="*/ 474998 h 1386047"/>
                  <a:gd name="connsiteX338" fmla="*/ 1209959 w 1386206"/>
                  <a:gd name="connsiteY338" fmla="*/ 477853 h 1386047"/>
                  <a:gd name="connsiteX339" fmla="*/ 1209246 w 1386206"/>
                  <a:gd name="connsiteY339" fmla="*/ 477853 h 1386047"/>
                  <a:gd name="connsiteX340" fmla="*/ 1196402 w 1386206"/>
                  <a:gd name="connsiteY340" fmla="*/ 477853 h 1386047"/>
                  <a:gd name="connsiteX341" fmla="*/ 1195688 w 1386206"/>
                  <a:gd name="connsiteY341" fmla="*/ 477853 h 1386047"/>
                  <a:gd name="connsiteX342" fmla="*/ 1182131 w 1386206"/>
                  <a:gd name="connsiteY342" fmla="*/ 478567 h 1386047"/>
                  <a:gd name="connsiteX343" fmla="*/ 1181417 w 1386206"/>
                  <a:gd name="connsiteY343" fmla="*/ 478567 h 1386047"/>
                  <a:gd name="connsiteX344" fmla="*/ 1167860 w 1386206"/>
                  <a:gd name="connsiteY344" fmla="*/ 478567 h 1386047"/>
                  <a:gd name="connsiteX345" fmla="*/ 1166433 w 1386206"/>
                  <a:gd name="connsiteY345" fmla="*/ 478567 h 1386047"/>
                  <a:gd name="connsiteX346" fmla="*/ 1152875 w 1386206"/>
                  <a:gd name="connsiteY346" fmla="*/ 478567 h 1386047"/>
                  <a:gd name="connsiteX347" fmla="*/ 1151448 w 1386206"/>
                  <a:gd name="connsiteY347" fmla="*/ 478567 h 1386047"/>
                  <a:gd name="connsiteX348" fmla="*/ 1137891 w 1386206"/>
                  <a:gd name="connsiteY348" fmla="*/ 478567 h 1386047"/>
                  <a:gd name="connsiteX349" fmla="*/ 1136464 w 1386206"/>
                  <a:gd name="connsiteY349" fmla="*/ 478567 h 1386047"/>
                  <a:gd name="connsiteX350" fmla="*/ 1122193 w 1386206"/>
                  <a:gd name="connsiteY350" fmla="*/ 478567 h 1386047"/>
                  <a:gd name="connsiteX351" fmla="*/ 1121479 w 1386206"/>
                  <a:gd name="connsiteY351" fmla="*/ 478567 h 1386047"/>
                  <a:gd name="connsiteX352" fmla="*/ 1058687 w 1386206"/>
                  <a:gd name="connsiteY352" fmla="*/ 475712 h 1386047"/>
                  <a:gd name="connsiteX353" fmla="*/ 1042989 w 1386206"/>
                  <a:gd name="connsiteY353" fmla="*/ 474998 h 1386047"/>
                  <a:gd name="connsiteX354" fmla="*/ 1042275 w 1386206"/>
                  <a:gd name="connsiteY354" fmla="*/ 474998 h 1386047"/>
                  <a:gd name="connsiteX355" fmla="*/ 1026577 w 1386206"/>
                  <a:gd name="connsiteY355" fmla="*/ 473571 h 1386047"/>
                  <a:gd name="connsiteX356" fmla="*/ 1025150 w 1386206"/>
                  <a:gd name="connsiteY356" fmla="*/ 473571 h 1386047"/>
                  <a:gd name="connsiteX357" fmla="*/ 1010165 w 1386206"/>
                  <a:gd name="connsiteY357" fmla="*/ 472857 h 1386047"/>
                  <a:gd name="connsiteX358" fmla="*/ 1008738 w 1386206"/>
                  <a:gd name="connsiteY358" fmla="*/ 472857 h 1386047"/>
                  <a:gd name="connsiteX359" fmla="*/ 1007311 w 1386206"/>
                  <a:gd name="connsiteY359" fmla="*/ 472857 h 1386047"/>
                  <a:gd name="connsiteX360" fmla="*/ 993040 w 1386206"/>
                  <a:gd name="connsiteY360" fmla="*/ 471429 h 1386047"/>
                  <a:gd name="connsiteX361" fmla="*/ 992327 w 1386206"/>
                  <a:gd name="connsiteY361" fmla="*/ 471429 h 1386047"/>
                  <a:gd name="connsiteX362" fmla="*/ 983764 w 1386206"/>
                  <a:gd name="connsiteY362" fmla="*/ 471429 h 1386047"/>
                  <a:gd name="connsiteX363" fmla="*/ 975915 w 1386206"/>
                  <a:gd name="connsiteY363" fmla="*/ 470715 h 1386047"/>
                  <a:gd name="connsiteX364" fmla="*/ 952368 w 1386206"/>
                  <a:gd name="connsiteY364" fmla="*/ 469288 h 1386047"/>
                  <a:gd name="connsiteX365" fmla="*/ 942378 w 1386206"/>
                  <a:gd name="connsiteY365" fmla="*/ 468574 h 1386047"/>
                  <a:gd name="connsiteX366" fmla="*/ 920258 w 1386206"/>
                  <a:gd name="connsiteY366" fmla="*/ 467147 h 1386047"/>
                  <a:gd name="connsiteX367" fmla="*/ 888861 w 1386206"/>
                  <a:gd name="connsiteY367" fmla="*/ 465005 h 1386047"/>
                  <a:gd name="connsiteX368" fmla="*/ 866741 w 1386206"/>
                  <a:gd name="connsiteY368" fmla="*/ 463578 h 1386047"/>
                  <a:gd name="connsiteX369" fmla="*/ 800381 w 1386206"/>
                  <a:gd name="connsiteY369" fmla="*/ 460009 h 1386047"/>
                  <a:gd name="connsiteX370" fmla="*/ 754714 w 1386206"/>
                  <a:gd name="connsiteY370" fmla="*/ 457867 h 1386047"/>
                  <a:gd name="connsiteX371" fmla="*/ 642687 w 1386206"/>
                  <a:gd name="connsiteY371" fmla="*/ 460722 h 1386047"/>
                  <a:gd name="connsiteX372" fmla="*/ 602728 w 1386206"/>
                  <a:gd name="connsiteY372" fmla="*/ 465719 h 1386047"/>
                  <a:gd name="connsiteX373" fmla="*/ 526378 w 1386206"/>
                  <a:gd name="connsiteY373" fmla="*/ 489274 h 1386047"/>
                  <a:gd name="connsiteX374" fmla="*/ 517816 w 1386206"/>
                  <a:gd name="connsiteY374" fmla="*/ 494985 h 1386047"/>
                  <a:gd name="connsiteX375" fmla="*/ 505685 w 1386206"/>
                  <a:gd name="connsiteY375" fmla="*/ 504978 h 1386047"/>
                  <a:gd name="connsiteX376" fmla="*/ 495696 w 1386206"/>
                  <a:gd name="connsiteY376" fmla="*/ 517112 h 1386047"/>
                  <a:gd name="connsiteX377" fmla="*/ 472862 w 1386206"/>
                  <a:gd name="connsiteY377" fmla="*/ 570647 h 1386047"/>
                  <a:gd name="connsiteX378" fmla="*/ 469294 w 1386206"/>
                  <a:gd name="connsiteY378" fmla="*/ 585637 h 1386047"/>
                  <a:gd name="connsiteX379" fmla="*/ 467867 w 1386206"/>
                  <a:gd name="connsiteY379" fmla="*/ 594202 h 1386047"/>
                  <a:gd name="connsiteX380" fmla="*/ 466440 w 1386206"/>
                  <a:gd name="connsiteY380" fmla="*/ 602054 h 1386047"/>
                  <a:gd name="connsiteX381" fmla="*/ 461445 w 1386206"/>
                  <a:gd name="connsiteY381" fmla="*/ 642026 h 1386047"/>
                  <a:gd name="connsiteX382" fmla="*/ 458591 w 1386206"/>
                  <a:gd name="connsiteY382" fmla="*/ 754092 h 1386047"/>
                  <a:gd name="connsiteX383" fmla="*/ 460732 w 1386206"/>
                  <a:gd name="connsiteY383" fmla="*/ 799775 h 1386047"/>
                  <a:gd name="connsiteX384" fmla="*/ 464299 w 1386206"/>
                  <a:gd name="connsiteY384" fmla="*/ 872582 h 1386047"/>
                  <a:gd name="connsiteX385" fmla="*/ 464299 w 1386206"/>
                  <a:gd name="connsiteY385" fmla="*/ 873296 h 1386047"/>
                  <a:gd name="connsiteX386" fmla="*/ 465726 w 1386206"/>
                  <a:gd name="connsiteY386" fmla="*/ 887572 h 1386047"/>
                  <a:gd name="connsiteX387" fmla="*/ 462872 w 1386206"/>
                  <a:gd name="connsiteY387" fmla="*/ 887572 h 1386047"/>
                  <a:gd name="connsiteX388" fmla="*/ 433617 w 1386206"/>
                  <a:gd name="connsiteY388" fmla="*/ 885431 h 1386047"/>
                  <a:gd name="connsiteX389" fmla="*/ 430049 w 1386206"/>
                  <a:gd name="connsiteY389" fmla="*/ 824044 h 1386047"/>
                  <a:gd name="connsiteX390" fmla="*/ 427195 w 1386206"/>
                  <a:gd name="connsiteY390" fmla="*/ 733392 h 1386047"/>
                  <a:gd name="connsiteX391" fmla="*/ 427195 w 1386206"/>
                  <a:gd name="connsiteY391" fmla="*/ 721258 h 1386047"/>
                  <a:gd name="connsiteX392" fmla="*/ 427195 w 1386206"/>
                  <a:gd name="connsiteY392" fmla="*/ 711265 h 1386047"/>
                  <a:gd name="connsiteX393" fmla="*/ 427195 w 1386206"/>
                  <a:gd name="connsiteY393" fmla="*/ 701271 h 1386047"/>
                  <a:gd name="connsiteX394" fmla="*/ 483565 w 1386206"/>
                  <a:gd name="connsiteY394" fmla="*/ 482850 h 1386047"/>
                  <a:gd name="connsiteX395" fmla="*/ 680505 w 1386206"/>
                  <a:gd name="connsiteY395" fmla="*/ 427174 h 1386047"/>
                  <a:gd name="connsiteX396" fmla="*/ 681218 w 1386206"/>
                  <a:gd name="connsiteY396" fmla="*/ 427174 h 1386047"/>
                  <a:gd name="connsiteX397" fmla="*/ 694062 w 1386206"/>
                  <a:gd name="connsiteY397" fmla="*/ 426460 h 1386047"/>
                  <a:gd name="connsiteX398" fmla="*/ 697630 w 1386206"/>
                  <a:gd name="connsiteY398" fmla="*/ 426460 h 1386047"/>
                  <a:gd name="connsiteX399" fmla="*/ 863174 w 1386206"/>
                  <a:gd name="connsiteY399" fmla="*/ 431457 h 1386047"/>
                  <a:gd name="connsiteX400" fmla="*/ 886721 w 1386206"/>
                  <a:gd name="connsiteY400" fmla="*/ 432884 h 1386047"/>
                  <a:gd name="connsiteX401" fmla="*/ 918117 w 1386206"/>
                  <a:gd name="connsiteY401" fmla="*/ 435026 h 1386047"/>
                  <a:gd name="connsiteX402" fmla="*/ 944519 w 1386206"/>
                  <a:gd name="connsiteY402" fmla="*/ 437167 h 1386047"/>
                  <a:gd name="connsiteX403" fmla="*/ 950227 w 1386206"/>
                  <a:gd name="connsiteY403" fmla="*/ 437167 h 1386047"/>
                  <a:gd name="connsiteX404" fmla="*/ 980910 w 1386206"/>
                  <a:gd name="connsiteY404" fmla="*/ 439308 h 1386047"/>
                  <a:gd name="connsiteX405" fmla="*/ 981623 w 1386206"/>
                  <a:gd name="connsiteY405" fmla="*/ 439308 h 1386047"/>
                  <a:gd name="connsiteX406" fmla="*/ 986618 w 1386206"/>
                  <a:gd name="connsiteY406" fmla="*/ 440022 h 1386047"/>
                  <a:gd name="connsiteX407" fmla="*/ 993040 w 1386206"/>
                  <a:gd name="connsiteY407" fmla="*/ 440022 h 1386047"/>
                  <a:gd name="connsiteX408" fmla="*/ 1003743 w 1386206"/>
                  <a:gd name="connsiteY408" fmla="*/ 440736 h 1386047"/>
                  <a:gd name="connsiteX409" fmla="*/ 1005171 w 1386206"/>
                  <a:gd name="connsiteY409" fmla="*/ 440736 h 1386047"/>
                  <a:gd name="connsiteX410" fmla="*/ 1008025 w 1386206"/>
                  <a:gd name="connsiteY410" fmla="*/ 441450 h 1386047"/>
                  <a:gd name="connsiteX411" fmla="*/ 1020155 w 1386206"/>
                  <a:gd name="connsiteY411" fmla="*/ 442164 h 1386047"/>
                  <a:gd name="connsiteX412" fmla="*/ 1023723 w 1386206"/>
                  <a:gd name="connsiteY412" fmla="*/ 442164 h 1386047"/>
                  <a:gd name="connsiteX413" fmla="*/ 1035853 w 1386206"/>
                  <a:gd name="connsiteY413" fmla="*/ 442877 h 1386047"/>
                  <a:gd name="connsiteX414" fmla="*/ 1038707 w 1386206"/>
                  <a:gd name="connsiteY414" fmla="*/ 442877 h 1386047"/>
                  <a:gd name="connsiteX415" fmla="*/ 1051551 w 1386206"/>
                  <a:gd name="connsiteY415" fmla="*/ 443591 h 1386047"/>
                  <a:gd name="connsiteX416" fmla="*/ 1053692 w 1386206"/>
                  <a:gd name="connsiteY416" fmla="*/ 444305 h 1386047"/>
                  <a:gd name="connsiteX417" fmla="*/ 1058687 w 1386206"/>
                  <a:gd name="connsiteY417" fmla="*/ 444305 h 1386047"/>
                  <a:gd name="connsiteX418" fmla="*/ 1067249 w 1386206"/>
                  <a:gd name="connsiteY418" fmla="*/ 445019 h 1386047"/>
                  <a:gd name="connsiteX419" fmla="*/ 1081520 w 1386206"/>
                  <a:gd name="connsiteY419" fmla="*/ 445019 h 1386047"/>
                  <a:gd name="connsiteX420" fmla="*/ 1082947 w 1386206"/>
                  <a:gd name="connsiteY420" fmla="*/ 445733 h 1386047"/>
                  <a:gd name="connsiteX421" fmla="*/ 1096505 w 1386206"/>
                  <a:gd name="connsiteY421" fmla="*/ 445733 h 1386047"/>
                  <a:gd name="connsiteX422" fmla="*/ 1097932 w 1386206"/>
                  <a:gd name="connsiteY422" fmla="*/ 445733 h 1386047"/>
                  <a:gd name="connsiteX423" fmla="*/ 1105068 w 1386206"/>
                  <a:gd name="connsiteY423" fmla="*/ 446446 h 1386047"/>
                  <a:gd name="connsiteX424" fmla="*/ 1110776 w 1386206"/>
                  <a:gd name="connsiteY424" fmla="*/ 446446 h 1386047"/>
                  <a:gd name="connsiteX425" fmla="*/ 1112917 w 1386206"/>
                  <a:gd name="connsiteY425" fmla="*/ 446446 h 1386047"/>
                  <a:gd name="connsiteX426" fmla="*/ 1125760 w 1386206"/>
                  <a:gd name="connsiteY426" fmla="*/ 447160 h 1386047"/>
                  <a:gd name="connsiteX427" fmla="*/ 1127188 w 1386206"/>
                  <a:gd name="connsiteY427" fmla="*/ 447160 h 1386047"/>
                  <a:gd name="connsiteX428" fmla="*/ 1140031 w 1386206"/>
                  <a:gd name="connsiteY428" fmla="*/ 447160 h 1386047"/>
                  <a:gd name="connsiteX429" fmla="*/ 1141459 w 1386206"/>
                  <a:gd name="connsiteY429" fmla="*/ 447160 h 1386047"/>
                  <a:gd name="connsiteX430" fmla="*/ 1154302 w 1386206"/>
                  <a:gd name="connsiteY430" fmla="*/ 447160 h 1386047"/>
                  <a:gd name="connsiteX431" fmla="*/ 1155730 w 1386206"/>
                  <a:gd name="connsiteY431" fmla="*/ 447160 h 1386047"/>
                  <a:gd name="connsiteX432" fmla="*/ 1168573 w 1386206"/>
                  <a:gd name="connsiteY432" fmla="*/ 447160 h 1386047"/>
                  <a:gd name="connsiteX433" fmla="*/ 1169287 w 1386206"/>
                  <a:gd name="connsiteY433" fmla="*/ 447160 h 1386047"/>
                  <a:gd name="connsiteX434" fmla="*/ 1194975 w 1386206"/>
                  <a:gd name="connsiteY434" fmla="*/ 446446 h 1386047"/>
                  <a:gd name="connsiteX435" fmla="*/ 1195688 w 1386206"/>
                  <a:gd name="connsiteY435" fmla="*/ 446446 h 1386047"/>
                  <a:gd name="connsiteX436" fmla="*/ 1207819 w 1386206"/>
                  <a:gd name="connsiteY436" fmla="*/ 446446 h 1386047"/>
                  <a:gd name="connsiteX437" fmla="*/ 1209246 w 1386206"/>
                  <a:gd name="connsiteY437" fmla="*/ 446446 h 1386047"/>
                  <a:gd name="connsiteX438" fmla="*/ 1219235 w 1386206"/>
                  <a:gd name="connsiteY438" fmla="*/ 445733 h 1386047"/>
                  <a:gd name="connsiteX439" fmla="*/ 1220663 w 1386206"/>
                  <a:gd name="connsiteY439" fmla="*/ 445733 h 1386047"/>
                  <a:gd name="connsiteX440" fmla="*/ 1222090 w 1386206"/>
                  <a:gd name="connsiteY440" fmla="*/ 445733 h 1386047"/>
                  <a:gd name="connsiteX441" fmla="*/ 1232793 w 1386206"/>
                  <a:gd name="connsiteY441" fmla="*/ 445019 h 1386047"/>
                  <a:gd name="connsiteX442" fmla="*/ 1234220 w 1386206"/>
                  <a:gd name="connsiteY442" fmla="*/ 444305 h 1386047"/>
                  <a:gd name="connsiteX443" fmla="*/ 1244923 w 1386206"/>
                  <a:gd name="connsiteY443" fmla="*/ 443591 h 1386047"/>
                  <a:gd name="connsiteX444" fmla="*/ 1246350 w 1386206"/>
                  <a:gd name="connsiteY444" fmla="*/ 443591 h 1386047"/>
                  <a:gd name="connsiteX445" fmla="*/ 1257054 w 1386206"/>
                  <a:gd name="connsiteY445" fmla="*/ 442164 h 1386047"/>
                  <a:gd name="connsiteX446" fmla="*/ 1257767 w 1386206"/>
                  <a:gd name="connsiteY446" fmla="*/ 442164 h 1386047"/>
                  <a:gd name="connsiteX447" fmla="*/ 1259908 w 1386206"/>
                  <a:gd name="connsiteY447" fmla="*/ 442164 h 1386047"/>
                  <a:gd name="connsiteX448" fmla="*/ 1267757 w 1386206"/>
                  <a:gd name="connsiteY448" fmla="*/ 440736 h 1386047"/>
                  <a:gd name="connsiteX449" fmla="*/ 1268470 w 1386206"/>
                  <a:gd name="connsiteY449" fmla="*/ 440736 h 1386047"/>
                  <a:gd name="connsiteX450" fmla="*/ 1288450 w 1386206"/>
                  <a:gd name="connsiteY450" fmla="*/ 437167 h 1386047"/>
                  <a:gd name="connsiteX451" fmla="*/ 1289163 w 1386206"/>
                  <a:gd name="connsiteY451" fmla="*/ 437167 h 1386047"/>
                  <a:gd name="connsiteX452" fmla="*/ 1298439 w 1386206"/>
                  <a:gd name="connsiteY452" fmla="*/ 435026 h 1386047"/>
                  <a:gd name="connsiteX453" fmla="*/ 1299153 w 1386206"/>
                  <a:gd name="connsiteY453" fmla="*/ 434312 h 1386047"/>
                  <a:gd name="connsiteX454" fmla="*/ 1307716 w 1386206"/>
                  <a:gd name="connsiteY454" fmla="*/ 432171 h 1386047"/>
                  <a:gd name="connsiteX455" fmla="*/ 1309143 w 1386206"/>
                  <a:gd name="connsiteY455" fmla="*/ 432171 h 1386047"/>
                  <a:gd name="connsiteX456" fmla="*/ 1316992 w 1386206"/>
                  <a:gd name="connsiteY456" fmla="*/ 429315 h 1386047"/>
                  <a:gd name="connsiteX457" fmla="*/ 1317705 w 1386206"/>
                  <a:gd name="connsiteY457" fmla="*/ 428602 h 1386047"/>
                  <a:gd name="connsiteX458" fmla="*/ 1324841 w 1386206"/>
                  <a:gd name="connsiteY458" fmla="*/ 426460 h 1386047"/>
                  <a:gd name="connsiteX459" fmla="*/ 1326268 w 1386206"/>
                  <a:gd name="connsiteY459" fmla="*/ 425746 h 1386047"/>
                  <a:gd name="connsiteX460" fmla="*/ 1333403 w 1386206"/>
                  <a:gd name="connsiteY460" fmla="*/ 422891 h 1386047"/>
                  <a:gd name="connsiteX461" fmla="*/ 1333403 w 1386206"/>
                  <a:gd name="connsiteY461" fmla="*/ 422177 h 1386047"/>
                  <a:gd name="connsiteX462" fmla="*/ 1340539 w 1386206"/>
                  <a:gd name="connsiteY462" fmla="*/ 418608 h 1386047"/>
                  <a:gd name="connsiteX463" fmla="*/ 1346961 w 1386206"/>
                  <a:gd name="connsiteY463" fmla="*/ 415039 h 1386047"/>
                  <a:gd name="connsiteX464" fmla="*/ 1359091 w 1386206"/>
                  <a:gd name="connsiteY464" fmla="*/ 405046 h 1386047"/>
                  <a:gd name="connsiteX465" fmla="*/ 1370508 w 1386206"/>
                  <a:gd name="connsiteY465" fmla="*/ 400228 h 1386047"/>
                  <a:gd name="connsiteX466" fmla="*/ 971731 w 1386206"/>
                  <a:gd name="connsiteY466" fmla="*/ 0 h 1386047"/>
                  <a:gd name="connsiteX467" fmla="*/ 982664 w 1386206"/>
                  <a:gd name="connsiteY467" fmla="*/ 4284 h 1386047"/>
                  <a:gd name="connsiteX468" fmla="*/ 982664 w 1386206"/>
                  <a:gd name="connsiteY468" fmla="*/ 27130 h 1386047"/>
                  <a:gd name="connsiteX469" fmla="*/ 972544 w 1386206"/>
                  <a:gd name="connsiteY469" fmla="*/ 39268 h 1386047"/>
                  <a:gd name="connsiteX470" fmla="*/ 968929 w 1386206"/>
                  <a:gd name="connsiteY470" fmla="*/ 45693 h 1386047"/>
                  <a:gd name="connsiteX471" fmla="*/ 965315 w 1386206"/>
                  <a:gd name="connsiteY471" fmla="*/ 52833 h 1386047"/>
                  <a:gd name="connsiteX472" fmla="*/ 964592 w 1386206"/>
                  <a:gd name="connsiteY472" fmla="*/ 52833 h 1386047"/>
                  <a:gd name="connsiteX473" fmla="*/ 961701 w 1386206"/>
                  <a:gd name="connsiteY473" fmla="*/ 59972 h 1386047"/>
                  <a:gd name="connsiteX474" fmla="*/ 960978 w 1386206"/>
                  <a:gd name="connsiteY474" fmla="*/ 61400 h 1386047"/>
                  <a:gd name="connsiteX475" fmla="*/ 958809 w 1386206"/>
                  <a:gd name="connsiteY475" fmla="*/ 68540 h 1386047"/>
                  <a:gd name="connsiteX476" fmla="*/ 958086 w 1386206"/>
                  <a:gd name="connsiteY476" fmla="*/ 69254 h 1386047"/>
                  <a:gd name="connsiteX477" fmla="*/ 955195 w 1386206"/>
                  <a:gd name="connsiteY477" fmla="*/ 77107 h 1386047"/>
                  <a:gd name="connsiteX478" fmla="*/ 955195 w 1386206"/>
                  <a:gd name="connsiteY478" fmla="*/ 78535 h 1386047"/>
                  <a:gd name="connsiteX479" fmla="*/ 953026 w 1386206"/>
                  <a:gd name="connsiteY479" fmla="*/ 87103 h 1386047"/>
                  <a:gd name="connsiteX480" fmla="*/ 952303 w 1386206"/>
                  <a:gd name="connsiteY480" fmla="*/ 87817 h 1386047"/>
                  <a:gd name="connsiteX481" fmla="*/ 950135 w 1386206"/>
                  <a:gd name="connsiteY481" fmla="*/ 97098 h 1386047"/>
                  <a:gd name="connsiteX482" fmla="*/ 950135 w 1386206"/>
                  <a:gd name="connsiteY482" fmla="*/ 97812 h 1386047"/>
                  <a:gd name="connsiteX483" fmla="*/ 946520 w 1386206"/>
                  <a:gd name="connsiteY483" fmla="*/ 117803 h 1386047"/>
                  <a:gd name="connsiteX484" fmla="*/ 946520 w 1386206"/>
                  <a:gd name="connsiteY484" fmla="*/ 118517 h 1386047"/>
                  <a:gd name="connsiteX485" fmla="*/ 945074 w 1386206"/>
                  <a:gd name="connsiteY485" fmla="*/ 126370 h 1386047"/>
                  <a:gd name="connsiteX486" fmla="*/ 945074 w 1386206"/>
                  <a:gd name="connsiteY486" fmla="*/ 128512 h 1386047"/>
                  <a:gd name="connsiteX487" fmla="*/ 945074 w 1386206"/>
                  <a:gd name="connsiteY487" fmla="*/ 129940 h 1386047"/>
                  <a:gd name="connsiteX488" fmla="*/ 943629 w 1386206"/>
                  <a:gd name="connsiteY488" fmla="*/ 139935 h 1386047"/>
                  <a:gd name="connsiteX489" fmla="*/ 943629 w 1386206"/>
                  <a:gd name="connsiteY489" fmla="*/ 141363 h 1386047"/>
                  <a:gd name="connsiteX490" fmla="*/ 942906 w 1386206"/>
                  <a:gd name="connsiteY490" fmla="*/ 152073 h 1386047"/>
                  <a:gd name="connsiteX491" fmla="*/ 942183 w 1386206"/>
                  <a:gd name="connsiteY491" fmla="*/ 153501 h 1386047"/>
                  <a:gd name="connsiteX492" fmla="*/ 941460 w 1386206"/>
                  <a:gd name="connsiteY492" fmla="*/ 164210 h 1386047"/>
                  <a:gd name="connsiteX493" fmla="*/ 941460 w 1386206"/>
                  <a:gd name="connsiteY493" fmla="*/ 165638 h 1386047"/>
                  <a:gd name="connsiteX494" fmla="*/ 941460 w 1386206"/>
                  <a:gd name="connsiteY494" fmla="*/ 167066 h 1386047"/>
                  <a:gd name="connsiteX495" fmla="*/ 940737 w 1386206"/>
                  <a:gd name="connsiteY495" fmla="*/ 177061 h 1386047"/>
                  <a:gd name="connsiteX496" fmla="*/ 940737 w 1386206"/>
                  <a:gd name="connsiteY496" fmla="*/ 178489 h 1386047"/>
                  <a:gd name="connsiteX497" fmla="*/ 940737 w 1386206"/>
                  <a:gd name="connsiteY497" fmla="*/ 190626 h 1386047"/>
                  <a:gd name="connsiteX498" fmla="*/ 940737 w 1386206"/>
                  <a:gd name="connsiteY498" fmla="*/ 191340 h 1386047"/>
                  <a:gd name="connsiteX499" fmla="*/ 940014 w 1386206"/>
                  <a:gd name="connsiteY499" fmla="*/ 217043 h 1386047"/>
                  <a:gd name="connsiteX500" fmla="*/ 940014 w 1386206"/>
                  <a:gd name="connsiteY500" fmla="*/ 217757 h 1386047"/>
                  <a:gd name="connsiteX501" fmla="*/ 940014 w 1386206"/>
                  <a:gd name="connsiteY501" fmla="*/ 230608 h 1386047"/>
                  <a:gd name="connsiteX502" fmla="*/ 940014 w 1386206"/>
                  <a:gd name="connsiteY502" fmla="*/ 232036 h 1386047"/>
                  <a:gd name="connsiteX503" fmla="*/ 940014 w 1386206"/>
                  <a:gd name="connsiteY503" fmla="*/ 244887 h 1386047"/>
                  <a:gd name="connsiteX504" fmla="*/ 940014 w 1386206"/>
                  <a:gd name="connsiteY504" fmla="*/ 246315 h 1386047"/>
                  <a:gd name="connsiteX505" fmla="*/ 940014 w 1386206"/>
                  <a:gd name="connsiteY505" fmla="*/ 259166 h 1386047"/>
                  <a:gd name="connsiteX506" fmla="*/ 940014 w 1386206"/>
                  <a:gd name="connsiteY506" fmla="*/ 260594 h 1386047"/>
                  <a:gd name="connsiteX507" fmla="*/ 940737 w 1386206"/>
                  <a:gd name="connsiteY507" fmla="*/ 273445 h 1386047"/>
                  <a:gd name="connsiteX508" fmla="*/ 940737 w 1386206"/>
                  <a:gd name="connsiteY508" fmla="*/ 275587 h 1386047"/>
                  <a:gd name="connsiteX509" fmla="*/ 940737 w 1386206"/>
                  <a:gd name="connsiteY509" fmla="*/ 281299 h 1386047"/>
                  <a:gd name="connsiteX510" fmla="*/ 941460 w 1386206"/>
                  <a:gd name="connsiteY510" fmla="*/ 288438 h 1386047"/>
                  <a:gd name="connsiteX511" fmla="*/ 941460 w 1386206"/>
                  <a:gd name="connsiteY511" fmla="*/ 289866 h 1386047"/>
                  <a:gd name="connsiteX512" fmla="*/ 941460 w 1386206"/>
                  <a:gd name="connsiteY512" fmla="*/ 303431 h 1386047"/>
                  <a:gd name="connsiteX513" fmla="*/ 942183 w 1386206"/>
                  <a:gd name="connsiteY513" fmla="*/ 304859 h 1386047"/>
                  <a:gd name="connsiteX514" fmla="*/ 942906 w 1386206"/>
                  <a:gd name="connsiteY514" fmla="*/ 327706 h 1386047"/>
                  <a:gd name="connsiteX515" fmla="*/ 943629 w 1386206"/>
                  <a:gd name="connsiteY515" fmla="*/ 333417 h 1386047"/>
                  <a:gd name="connsiteX516" fmla="*/ 943629 w 1386206"/>
                  <a:gd name="connsiteY516" fmla="*/ 334131 h 1386047"/>
                  <a:gd name="connsiteX517" fmla="*/ 944351 w 1386206"/>
                  <a:gd name="connsiteY517" fmla="*/ 348411 h 1386047"/>
                  <a:gd name="connsiteX518" fmla="*/ 944351 w 1386206"/>
                  <a:gd name="connsiteY518" fmla="*/ 349838 h 1386047"/>
                  <a:gd name="connsiteX519" fmla="*/ 945074 w 1386206"/>
                  <a:gd name="connsiteY519" fmla="*/ 363404 h 1386047"/>
                  <a:gd name="connsiteX520" fmla="*/ 945074 w 1386206"/>
                  <a:gd name="connsiteY520" fmla="*/ 365545 h 1386047"/>
                  <a:gd name="connsiteX521" fmla="*/ 945797 w 1386206"/>
                  <a:gd name="connsiteY521" fmla="*/ 379111 h 1386047"/>
                  <a:gd name="connsiteX522" fmla="*/ 946520 w 1386206"/>
                  <a:gd name="connsiteY522" fmla="*/ 381253 h 1386047"/>
                  <a:gd name="connsiteX523" fmla="*/ 947243 w 1386206"/>
                  <a:gd name="connsiteY523" fmla="*/ 394818 h 1386047"/>
                  <a:gd name="connsiteX524" fmla="*/ 947243 w 1386206"/>
                  <a:gd name="connsiteY524" fmla="*/ 396960 h 1386047"/>
                  <a:gd name="connsiteX525" fmla="*/ 947966 w 1386206"/>
                  <a:gd name="connsiteY525" fmla="*/ 403385 h 1386047"/>
                  <a:gd name="connsiteX526" fmla="*/ 946520 w 1386206"/>
                  <a:gd name="connsiteY526" fmla="*/ 403385 h 1386047"/>
                  <a:gd name="connsiteX527" fmla="*/ 915436 w 1386206"/>
                  <a:gd name="connsiteY527" fmla="*/ 401243 h 1386047"/>
                  <a:gd name="connsiteX528" fmla="*/ 915436 w 1386206"/>
                  <a:gd name="connsiteY528" fmla="*/ 395532 h 1386047"/>
                  <a:gd name="connsiteX529" fmla="*/ 914713 w 1386206"/>
                  <a:gd name="connsiteY529" fmla="*/ 392676 h 1386047"/>
                  <a:gd name="connsiteX530" fmla="*/ 913990 w 1386206"/>
                  <a:gd name="connsiteY530" fmla="*/ 378397 h 1386047"/>
                  <a:gd name="connsiteX531" fmla="*/ 913990 w 1386206"/>
                  <a:gd name="connsiteY531" fmla="*/ 375541 h 1386047"/>
                  <a:gd name="connsiteX532" fmla="*/ 913267 w 1386206"/>
                  <a:gd name="connsiteY532" fmla="*/ 361976 h 1386047"/>
                  <a:gd name="connsiteX533" fmla="*/ 912545 w 1386206"/>
                  <a:gd name="connsiteY533" fmla="*/ 359120 h 1386047"/>
                  <a:gd name="connsiteX534" fmla="*/ 911822 w 1386206"/>
                  <a:gd name="connsiteY534" fmla="*/ 344841 h 1386047"/>
                  <a:gd name="connsiteX535" fmla="*/ 911822 w 1386206"/>
                  <a:gd name="connsiteY535" fmla="*/ 342699 h 1386047"/>
                  <a:gd name="connsiteX536" fmla="*/ 911099 w 1386206"/>
                  <a:gd name="connsiteY536" fmla="*/ 328420 h 1386047"/>
                  <a:gd name="connsiteX537" fmla="*/ 911099 w 1386206"/>
                  <a:gd name="connsiteY537" fmla="*/ 326278 h 1386047"/>
                  <a:gd name="connsiteX538" fmla="*/ 910376 w 1386206"/>
                  <a:gd name="connsiteY538" fmla="*/ 311999 h 1386047"/>
                  <a:gd name="connsiteX539" fmla="*/ 910376 w 1386206"/>
                  <a:gd name="connsiteY539" fmla="*/ 310571 h 1386047"/>
                  <a:gd name="connsiteX540" fmla="*/ 909653 w 1386206"/>
                  <a:gd name="connsiteY540" fmla="*/ 295578 h 1386047"/>
                  <a:gd name="connsiteX541" fmla="*/ 908930 w 1386206"/>
                  <a:gd name="connsiteY541" fmla="*/ 280585 h 1386047"/>
                  <a:gd name="connsiteX542" fmla="*/ 908930 w 1386206"/>
                  <a:gd name="connsiteY542" fmla="*/ 279871 h 1386047"/>
                  <a:gd name="connsiteX543" fmla="*/ 908930 w 1386206"/>
                  <a:gd name="connsiteY543" fmla="*/ 265592 h 1386047"/>
                  <a:gd name="connsiteX544" fmla="*/ 908207 w 1386206"/>
                  <a:gd name="connsiteY544" fmla="*/ 264164 h 1386047"/>
                  <a:gd name="connsiteX545" fmla="*/ 908207 w 1386206"/>
                  <a:gd name="connsiteY545" fmla="*/ 249885 h 1386047"/>
                  <a:gd name="connsiteX546" fmla="*/ 908207 w 1386206"/>
                  <a:gd name="connsiteY546" fmla="*/ 248457 h 1386047"/>
                  <a:gd name="connsiteX547" fmla="*/ 908207 w 1386206"/>
                  <a:gd name="connsiteY547" fmla="*/ 234892 h 1386047"/>
                  <a:gd name="connsiteX548" fmla="*/ 908207 w 1386206"/>
                  <a:gd name="connsiteY548" fmla="*/ 233464 h 1386047"/>
                  <a:gd name="connsiteX549" fmla="*/ 908207 w 1386206"/>
                  <a:gd name="connsiteY549" fmla="*/ 219898 h 1386047"/>
                  <a:gd name="connsiteX550" fmla="*/ 908207 w 1386206"/>
                  <a:gd name="connsiteY550" fmla="*/ 218471 h 1386047"/>
                  <a:gd name="connsiteX551" fmla="*/ 908207 w 1386206"/>
                  <a:gd name="connsiteY551" fmla="*/ 205619 h 1386047"/>
                  <a:gd name="connsiteX552" fmla="*/ 908207 w 1386206"/>
                  <a:gd name="connsiteY552" fmla="*/ 203477 h 1386047"/>
                  <a:gd name="connsiteX553" fmla="*/ 908207 w 1386206"/>
                  <a:gd name="connsiteY553" fmla="*/ 191340 h 1386047"/>
                  <a:gd name="connsiteX554" fmla="*/ 908930 w 1386206"/>
                  <a:gd name="connsiteY554" fmla="*/ 189912 h 1386047"/>
                  <a:gd name="connsiteX555" fmla="*/ 908930 w 1386206"/>
                  <a:gd name="connsiteY555" fmla="*/ 177061 h 1386047"/>
                  <a:gd name="connsiteX556" fmla="*/ 908930 w 1386206"/>
                  <a:gd name="connsiteY556" fmla="*/ 175633 h 1386047"/>
                  <a:gd name="connsiteX557" fmla="*/ 909653 w 1386206"/>
                  <a:gd name="connsiteY557" fmla="*/ 163496 h 1386047"/>
                  <a:gd name="connsiteX558" fmla="*/ 909653 w 1386206"/>
                  <a:gd name="connsiteY558" fmla="*/ 162782 h 1386047"/>
                  <a:gd name="connsiteX559" fmla="*/ 911099 w 1386206"/>
                  <a:gd name="connsiteY559" fmla="*/ 150645 h 1386047"/>
                  <a:gd name="connsiteX560" fmla="*/ 911099 w 1386206"/>
                  <a:gd name="connsiteY560" fmla="*/ 149931 h 1386047"/>
                  <a:gd name="connsiteX561" fmla="*/ 911822 w 1386206"/>
                  <a:gd name="connsiteY561" fmla="*/ 137794 h 1386047"/>
                  <a:gd name="connsiteX562" fmla="*/ 912545 w 1386206"/>
                  <a:gd name="connsiteY562" fmla="*/ 136366 h 1386047"/>
                  <a:gd name="connsiteX563" fmla="*/ 913267 w 1386206"/>
                  <a:gd name="connsiteY563" fmla="*/ 125656 h 1386047"/>
                  <a:gd name="connsiteX564" fmla="*/ 913990 w 1386206"/>
                  <a:gd name="connsiteY564" fmla="*/ 124228 h 1386047"/>
                  <a:gd name="connsiteX565" fmla="*/ 915436 w 1386206"/>
                  <a:gd name="connsiteY565" fmla="*/ 113519 h 1386047"/>
                  <a:gd name="connsiteX566" fmla="*/ 915436 w 1386206"/>
                  <a:gd name="connsiteY566" fmla="*/ 111377 h 1386047"/>
                  <a:gd name="connsiteX567" fmla="*/ 917605 w 1386206"/>
                  <a:gd name="connsiteY567" fmla="*/ 101382 h 1386047"/>
                  <a:gd name="connsiteX568" fmla="*/ 917605 w 1386206"/>
                  <a:gd name="connsiteY568" fmla="*/ 99954 h 1386047"/>
                  <a:gd name="connsiteX569" fmla="*/ 919773 w 1386206"/>
                  <a:gd name="connsiteY569" fmla="*/ 89958 h 1386047"/>
                  <a:gd name="connsiteX570" fmla="*/ 919773 w 1386206"/>
                  <a:gd name="connsiteY570" fmla="*/ 88531 h 1386047"/>
                  <a:gd name="connsiteX571" fmla="*/ 921942 w 1386206"/>
                  <a:gd name="connsiteY571" fmla="*/ 79249 h 1386047"/>
                  <a:gd name="connsiteX572" fmla="*/ 922665 w 1386206"/>
                  <a:gd name="connsiteY572" fmla="*/ 77821 h 1386047"/>
                  <a:gd name="connsiteX573" fmla="*/ 924834 w 1386206"/>
                  <a:gd name="connsiteY573" fmla="*/ 68540 h 1386047"/>
                  <a:gd name="connsiteX574" fmla="*/ 925556 w 1386206"/>
                  <a:gd name="connsiteY574" fmla="*/ 67826 h 1386047"/>
                  <a:gd name="connsiteX575" fmla="*/ 928448 w 1386206"/>
                  <a:gd name="connsiteY575" fmla="*/ 58544 h 1386047"/>
                  <a:gd name="connsiteX576" fmla="*/ 928448 w 1386206"/>
                  <a:gd name="connsiteY576" fmla="*/ 57830 h 1386047"/>
                  <a:gd name="connsiteX577" fmla="*/ 932062 w 1386206"/>
                  <a:gd name="connsiteY577" fmla="*/ 49263 h 1386047"/>
                  <a:gd name="connsiteX578" fmla="*/ 932062 w 1386206"/>
                  <a:gd name="connsiteY578" fmla="*/ 48549 h 1386047"/>
                  <a:gd name="connsiteX579" fmla="*/ 935677 w 1386206"/>
                  <a:gd name="connsiteY579" fmla="*/ 40696 h 1386047"/>
                  <a:gd name="connsiteX580" fmla="*/ 936400 w 1386206"/>
                  <a:gd name="connsiteY580" fmla="*/ 39982 h 1386047"/>
                  <a:gd name="connsiteX581" fmla="*/ 940014 w 1386206"/>
                  <a:gd name="connsiteY581" fmla="*/ 32128 h 1386047"/>
                  <a:gd name="connsiteX582" fmla="*/ 940737 w 1386206"/>
                  <a:gd name="connsiteY582" fmla="*/ 31414 h 1386047"/>
                  <a:gd name="connsiteX583" fmla="*/ 944351 w 1386206"/>
                  <a:gd name="connsiteY583" fmla="*/ 24275 h 1386047"/>
                  <a:gd name="connsiteX584" fmla="*/ 945074 w 1386206"/>
                  <a:gd name="connsiteY584" fmla="*/ 23561 h 1386047"/>
                  <a:gd name="connsiteX585" fmla="*/ 949412 w 1386206"/>
                  <a:gd name="connsiteY585" fmla="*/ 17135 h 1386047"/>
                  <a:gd name="connsiteX586" fmla="*/ 950135 w 1386206"/>
                  <a:gd name="connsiteY586" fmla="*/ 16421 h 1386047"/>
                  <a:gd name="connsiteX587" fmla="*/ 960255 w 1386206"/>
                  <a:gd name="connsiteY587" fmla="*/ 4284 h 1386047"/>
                  <a:gd name="connsiteX588" fmla="*/ 971731 w 1386206"/>
                  <a:gd name="connsiteY588" fmla="*/ 0 h 138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Lst>
                <a:rect l="l" t="t" r="r" b="b"/>
                <a:pathLst>
                  <a:path w="1386206" h="1386047">
                    <a:moveTo>
                      <a:pt x="439725" y="982822"/>
                    </a:moveTo>
                    <a:cubicBezTo>
                      <a:pt x="444686" y="982822"/>
                      <a:pt x="450355" y="983538"/>
                      <a:pt x="455316" y="983538"/>
                    </a:cubicBezTo>
                    <a:cubicBezTo>
                      <a:pt x="460277" y="984255"/>
                      <a:pt x="465947" y="984255"/>
                      <a:pt x="470908" y="984971"/>
                    </a:cubicBezTo>
                    <a:cubicBezTo>
                      <a:pt x="470908" y="986403"/>
                      <a:pt x="470908" y="987836"/>
                      <a:pt x="470908" y="989268"/>
                    </a:cubicBezTo>
                    <a:cubicBezTo>
                      <a:pt x="470908" y="989984"/>
                      <a:pt x="470908" y="991417"/>
                      <a:pt x="471616" y="992133"/>
                    </a:cubicBezTo>
                    <a:cubicBezTo>
                      <a:pt x="471616" y="997146"/>
                      <a:pt x="471616" y="1001444"/>
                      <a:pt x="472325" y="1006457"/>
                    </a:cubicBezTo>
                    <a:cubicBezTo>
                      <a:pt x="472325" y="1007173"/>
                      <a:pt x="472325" y="1007889"/>
                      <a:pt x="472325" y="1009322"/>
                    </a:cubicBezTo>
                    <a:cubicBezTo>
                      <a:pt x="472325" y="1013619"/>
                      <a:pt x="473034" y="1018633"/>
                      <a:pt x="473034" y="1022930"/>
                    </a:cubicBezTo>
                    <a:cubicBezTo>
                      <a:pt x="473034" y="1024362"/>
                      <a:pt x="473034" y="1025078"/>
                      <a:pt x="473743" y="1025795"/>
                    </a:cubicBezTo>
                    <a:cubicBezTo>
                      <a:pt x="473743" y="1030808"/>
                      <a:pt x="473743" y="1035105"/>
                      <a:pt x="474451" y="1040119"/>
                    </a:cubicBezTo>
                    <a:cubicBezTo>
                      <a:pt x="474451" y="1040835"/>
                      <a:pt x="474451" y="1041551"/>
                      <a:pt x="474451" y="1042267"/>
                    </a:cubicBezTo>
                    <a:cubicBezTo>
                      <a:pt x="474451" y="1047281"/>
                      <a:pt x="475160" y="1051578"/>
                      <a:pt x="475160" y="1056592"/>
                    </a:cubicBezTo>
                    <a:cubicBezTo>
                      <a:pt x="475160" y="1057308"/>
                      <a:pt x="475160" y="1058024"/>
                      <a:pt x="475160" y="1058740"/>
                    </a:cubicBezTo>
                    <a:cubicBezTo>
                      <a:pt x="475160" y="1063037"/>
                      <a:pt x="475869" y="1068051"/>
                      <a:pt x="475869" y="1073064"/>
                    </a:cubicBezTo>
                    <a:cubicBezTo>
                      <a:pt x="475869" y="1073781"/>
                      <a:pt x="475869" y="1073781"/>
                      <a:pt x="475869" y="1074497"/>
                    </a:cubicBezTo>
                    <a:cubicBezTo>
                      <a:pt x="475869" y="1079510"/>
                      <a:pt x="476577" y="1084524"/>
                      <a:pt x="476577" y="1089537"/>
                    </a:cubicBezTo>
                    <a:cubicBezTo>
                      <a:pt x="476577" y="1094551"/>
                      <a:pt x="477286" y="1099564"/>
                      <a:pt x="477286" y="1104577"/>
                    </a:cubicBezTo>
                    <a:cubicBezTo>
                      <a:pt x="477286" y="1105294"/>
                      <a:pt x="477286" y="1105294"/>
                      <a:pt x="477286" y="1105294"/>
                    </a:cubicBezTo>
                    <a:cubicBezTo>
                      <a:pt x="477286" y="1110307"/>
                      <a:pt x="477286" y="1115321"/>
                      <a:pt x="477286" y="1119618"/>
                    </a:cubicBezTo>
                    <a:cubicBezTo>
                      <a:pt x="477995" y="1120334"/>
                      <a:pt x="477995" y="1121050"/>
                      <a:pt x="477995" y="1121050"/>
                    </a:cubicBezTo>
                    <a:cubicBezTo>
                      <a:pt x="477995" y="1126064"/>
                      <a:pt x="477995" y="1130361"/>
                      <a:pt x="477995" y="1135374"/>
                    </a:cubicBezTo>
                    <a:cubicBezTo>
                      <a:pt x="477995" y="1135374"/>
                      <a:pt x="477995" y="1136091"/>
                      <a:pt x="477995" y="1136807"/>
                    </a:cubicBezTo>
                    <a:cubicBezTo>
                      <a:pt x="477995" y="1141104"/>
                      <a:pt x="477995" y="1146118"/>
                      <a:pt x="477995" y="1150415"/>
                    </a:cubicBezTo>
                    <a:cubicBezTo>
                      <a:pt x="477995" y="1151131"/>
                      <a:pt x="477995" y="1151847"/>
                      <a:pt x="477995" y="1151847"/>
                    </a:cubicBezTo>
                    <a:cubicBezTo>
                      <a:pt x="477995" y="1156861"/>
                      <a:pt x="477995" y="1161158"/>
                      <a:pt x="477995" y="1165455"/>
                    </a:cubicBezTo>
                    <a:cubicBezTo>
                      <a:pt x="477995" y="1165455"/>
                      <a:pt x="477995" y="1166171"/>
                      <a:pt x="477995" y="1166888"/>
                    </a:cubicBezTo>
                    <a:cubicBezTo>
                      <a:pt x="477995" y="1171185"/>
                      <a:pt x="477995" y="1175482"/>
                      <a:pt x="477995" y="1179779"/>
                    </a:cubicBezTo>
                    <a:cubicBezTo>
                      <a:pt x="477995" y="1180495"/>
                      <a:pt x="477995" y="1181212"/>
                      <a:pt x="477995" y="1181928"/>
                    </a:cubicBezTo>
                    <a:cubicBezTo>
                      <a:pt x="477995" y="1186225"/>
                      <a:pt x="477995" y="1189806"/>
                      <a:pt x="477995" y="1194103"/>
                    </a:cubicBezTo>
                    <a:cubicBezTo>
                      <a:pt x="477286" y="1194820"/>
                      <a:pt x="477286" y="1195536"/>
                      <a:pt x="477286" y="1195536"/>
                    </a:cubicBezTo>
                    <a:cubicBezTo>
                      <a:pt x="477286" y="1199833"/>
                      <a:pt x="477286" y="1204130"/>
                      <a:pt x="477286" y="1208428"/>
                    </a:cubicBezTo>
                    <a:cubicBezTo>
                      <a:pt x="477286" y="1209144"/>
                      <a:pt x="477286" y="1209144"/>
                      <a:pt x="477286" y="1209860"/>
                    </a:cubicBezTo>
                    <a:cubicBezTo>
                      <a:pt x="476577" y="1214157"/>
                      <a:pt x="476577" y="1218455"/>
                      <a:pt x="476577" y="1222036"/>
                    </a:cubicBezTo>
                    <a:cubicBezTo>
                      <a:pt x="476577" y="1222752"/>
                      <a:pt x="476577" y="1222752"/>
                      <a:pt x="476577" y="1222752"/>
                    </a:cubicBezTo>
                    <a:cubicBezTo>
                      <a:pt x="475869" y="1227049"/>
                      <a:pt x="475869" y="1231346"/>
                      <a:pt x="475160" y="1234927"/>
                    </a:cubicBezTo>
                    <a:cubicBezTo>
                      <a:pt x="475160" y="1235643"/>
                      <a:pt x="475160" y="1235643"/>
                      <a:pt x="475160" y="1235643"/>
                    </a:cubicBezTo>
                    <a:cubicBezTo>
                      <a:pt x="475160" y="1239941"/>
                      <a:pt x="474451" y="1244238"/>
                      <a:pt x="474451" y="1247819"/>
                    </a:cubicBezTo>
                    <a:cubicBezTo>
                      <a:pt x="474451" y="1248535"/>
                      <a:pt x="474451" y="1248535"/>
                      <a:pt x="473743" y="1249251"/>
                    </a:cubicBezTo>
                    <a:cubicBezTo>
                      <a:pt x="473743" y="1252832"/>
                      <a:pt x="473034" y="1256414"/>
                      <a:pt x="473034" y="1259995"/>
                    </a:cubicBezTo>
                    <a:cubicBezTo>
                      <a:pt x="473034" y="1260711"/>
                      <a:pt x="472325" y="1261427"/>
                      <a:pt x="472325" y="1261427"/>
                    </a:cubicBezTo>
                    <a:cubicBezTo>
                      <a:pt x="472325" y="1265008"/>
                      <a:pt x="471616" y="1268589"/>
                      <a:pt x="470908" y="1272170"/>
                    </a:cubicBezTo>
                    <a:cubicBezTo>
                      <a:pt x="470908" y="1272886"/>
                      <a:pt x="470908" y="1273603"/>
                      <a:pt x="470908" y="1274319"/>
                    </a:cubicBezTo>
                    <a:cubicBezTo>
                      <a:pt x="470199" y="1277184"/>
                      <a:pt x="469490" y="1280765"/>
                      <a:pt x="468782" y="1284346"/>
                    </a:cubicBezTo>
                    <a:cubicBezTo>
                      <a:pt x="468782" y="1285062"/>
                      <a:pt x="468782" y="1285062"/>
                      <a:pt x="468782" y="1285778"/>
                    </a:cubicBezTo>
                    <a:cubicBezTo>
                      <a:pt x="468073" y="1289359"/>
                      <a:pt x="467364" y="1292224"/>
                      <a:pt x="466655" y="1295805"/>
                    </a:cubicBezTo>
                    <a:cubicBezTo>
                      <a:pt x="466655" y="1295805"/>
                      <a:pt x="466655" y="1296521"/>
                      <a:pt x="466655" y="1297237"/>
                    </a:cubicBezTo>
                    <a:cubicBezTo>
                      <a:pt x="465947" y="1300102"/>
                      <a:pt x="465238" y="1303683"/>
                      <a:pt x="464529" y="1306548"/>
                    </a:cubicBezTo>
                    <a:cubicBezTo>
                      <a:pt x="463821" y="1307264"/>
                      <a:pt x="463821" y="1307264"/>
                      <a:pt x="463821" y="1307980"/>
                    </a:cubicBezTo>
                    <a:cubicBezTo>
                      <a:pt x="463112" y="1310845"/>
                      <a:pt x="462403" y="1314426"/>
                      <a:pt x="461695" y="1317291"/>
                    </a:cubicBezTo>
                    <a:cubicBezTo>
                      <a:pt x="460986" y="1317291"/>
                      <a:pt x="460986" y="1318007"/>
                      <a:pt x="460986" y="1318007"/>
                    </a:cubicBezTo>
                    <a:cubicBezTo>
                      <a:pt x="460277" y="1321588"/>
                      <a:pt x="458860" y="1324453"/>
                      <a:pt x="458151" y="1327318"/>
                    </a:cubicBezTo>
                    <a:cubicBezTo>
                      <a:pt x="458151" y="1327318"/>
                      <a:pt x="458151" y="1327318"/>
                      <a:pt x="458151" y="1328034"/>
                    </a:cubicBezTo>
                    <a:cubicBezTo>
                      <a:pt x="456734" y="1330899"/>
                      <a:pt x="456025" y="1333764"/>
                      <a:pt x="454607" y="1336629"/>
                    </a:cubicBezTo>
                    <a:cubicBezTo>
                      <a:pt x="454607" y="1336629"/>
                      <a:pt x="454607" y="1336629"/>
                      <a:pt x="454607" y="1337345"/>
                    </a:cubicBezTo>
                    <a:cubicBezTo>
                      <a:pt x="453190" y="1339494"/>
                      <a:pt x="452481" y="1342358"/>
                      <a:pt x="451064" y="1345223"/>
                    </a:cubicBezTo>
                    <a:cubicBezTo>
                      <a:pt x="451064" y="1345223"/>
                      <a:pt x="450355" y="1345940"/>
                      <a:pt x="450355" y="1345940"/>
                    </a:cubicBezTo>
                    <a:cubicBezTo>
                      <a:pt x="449647" y="1348804"/>
                      <a:pt x="448229" y="1350953"/>
                      <a:pt x="446812" y="1353818"/>
                    </a:cubicBezTo>
                    <a:cubicBezTo>
                      <a:pt x="446812" y="1353818"/>
                      <a:pt x="446103" y="1354534"/>
                      <a:pt x="446103" y="1354534"/>
                    </a:cubicBezTo>
                    <a:cubicBezTo>
                      <a:pt x="444686" y="1356683"/>
                      <a:pt x="443977" y="1359547"/>
                      <a:pt x="442559" y="1361696"/>
                    </a:cubicBezTo>
                    <a:cubicBezTo>
                      <a:pt x="441851" y="1361696"/>
                      <a:pt x="441851" y="1362412"/>
                      <a:pt x="441851" y="1362412"/>
                    </a:cubicBezTo>
                    <a:cubicBezTo>
                      <a:pt x="440433" y="1364561"/>
                      <a:pt x="439016" y="1366710"/>
                      <a:pt x="437599" y="1368858"/>
                    </a:cubicBezTo>
                    <a:cubicBezTo>
                      <a:pt x="436890" y="1368858"/>
                      <a:pt x="436890" y="1369574"/>
                      <a:pt x="436890" y="1369574"/>
                    </a:cubicBezTo>
                    <a:cubicBezTo>
                      <a:pt x="434055" y="1373872"/>
                      <a:pt x="430511" y="1377453"/>
                      <a:pt x="426968" y="1381750"/>
                    </a:cubicBezTo>
                    <a:cubicBezTo>
                      <a:pt x="423424" y="1384615"/>
                      <a:pt x="419881" y="1386047"/>
                      <a:pt x="415629" y="1386047"/>
                    </a:cubicBezTo>
                    <a:cubicBezTo>
                      <a:pt x="412085" y="1386047"/>
                      <a:pt x="407833" y="1384615"/>
                      <a:pt x="404998" y="1381750"/>
                    </a:cubicBezTo>
                    <a:cubicBezTo>
                      <a:pt x="398620" y="1375304"/>
                      <a:pt x="398620" y="1365277"/>
                      <a:pt x="404998" y="1358831"/>
                    </a:cubicBezTo>
                    <a:cubicBezTo>
                      <a:pt x="408542" y="1355250"/>
                      <a:pt x="411376" y="1351669"/>
                      <a:pt x="414920" y="1346656"/>
                    </a:cubicBezTo>
                    <a:cubicBezTo>
                      <a:pt x="416337" y="1344507"/>
                      <a:pt x="417046" y="1342358"/>
                      <a:pt x="418464" y="1340210"/>
                    </a:cubicBezTo>
                    <a:cubicBezTo>
                      <a:pt x="419881" y="1338061"/>
                      <a:pt x="421298" y="1335913"/>
                      <a:pt x="422007" y="1333048"/>
                    </a:cubicBezTo>
                    <a:cubicBezTo>
                      <a:pt x="422007" y="1333048"/>
                      <a:pt x="422716" y="1333048"/>
                      <a:pt x="422716" y="1333048"/>
                    </a:cubicBezTo>
                    <a:cubicBezTo>
                      <a:pt x="423424" y="1330183"/>
                      <a:pt x="424842" y="1328034"/>
                      <a:pt x="425551" y="1325886"/>
                    </a:cubicBezTo>
                    <a:cubicBezTo>
                      <a:pt x="425551" y="1325169"/>
                      <a:pt x="425551" y="1325169"/>
                      <a:pt x="426259" y="1324453"/>
                    </a:cubicBezTo>
                    <a:cubicBezTo>
                      <a:pt x="426968" y="1322305"/>
                      <a:pt x="427677" y="1320156"/>
                      <a:pt x="428385" y="1317291"/>
                    </a:cubicBezTo>
                    <a:cubicBezTo>
                      <a:pt x="429094" y="1317291"/>
                      <a:pt x="429094" y="1316575"/>
                      <a:pt x="429094" y="1316575"/>
                    </a:cubicBezTo>
                    <a:cubicBezTo>
                      <a:pt x="429803" y="1313710"/>
                      <a:pt x="430511" y="1310845"/>
                      <a:pt x="431929" y="1308697"/>
                    </a:cubicBezTo>
                    <a:cubicBezTo>
                      <a:pt x="431929" y="1307980"/>
                      <a:pt x="431929" y="1307980"/>
                      <a:pt x="431929" y="1307264"/>
                    </a:cubicBezTo>
                    <a:cubicBezTo>
                      <a:pt x="432638" y="1304399"/>
                      <a:pt x="433346" y="1301535"/>
                      <a:pt x="434055" y="1298670"/>
                    </a:cubicBezTo>
                    <a:cubicBezTo>
                      <a:pt x="434055" y="1298670"/>
                      <a:pt x="434055" y="1297954"/>
                      <a:pt x="434764" y="1297954"/>
                    </a:cubicBezTo>
                    <a:cubicBezTo>
                      <a:pt x="435472" y="1295089"/>
                      <a:pt x="436181" y="1292224"/>
                      <a:pt x="436890" y="1288643"/>
                    </a:cubicBezTo>
                    <a:cubicBezTo>
                      <a:pt x="436890" y="1288643"/>
                      <a:pt x="436890" y="1288643"/>
                      <a:pt x="436890" y="1287927"/>
                    </a:cubicBezTo>
                    <a:cubicBezTo>
                      <a:pt x="438307" y="1281481"/>
                      <a:pt x="439016" y="1275035"/>
                      <a:pt x="440433" y="1267873"/>
                    </a:cubicBezTo>
                    <a:cubicBezTo>
                      <a:pt x="440433" y="1267873"/>
                      <a:pt x="440433" y="1267873"/>
                      <a:pt x="440433" y="1267157"/>
                    </a:cubicBezTo>
                    <a:cubicBezTo>
                      <a:pt x="441142" y="1265008"/>
                      <a:pt x="441142" y="1262143"/>
                      <a:pt x="441851" y="1259278"/>
                    </a:cubicBezTo>
                    <a:cubicBezTo>
                      <a:pt x="441851" y="1258562"/>
                      <a:pt x="441851" y="1257846"/>
                      <a:pt x="441851" y="1257130"/>
                    </a:cubicBezTo>
                    <a:cubicBezTo>
                      <a:pt x="441851" y="1256414"/>
                      <a:pt x="441851" y="1256414"/>
                      <a:pt x="441851" y="1255697"/>
                    </a:cubicBezTo>
                    <a:cubicBezTo>
                      <a:pt x="442559" y="1252832"/>
                      <a:pt x="442559" y="1249251"/>
                      <a:pt x="443268" y="1245670"/>
                    </a:cubicBezTo>
                    <a:cubicBezTo>
                      <a:pt x="443268" y="1244954"/>
                      <a:pt x="443268" y="1244954"/>
                      <a:pt x="443268" y="1244238"/>
                    </a:cubicBezTo>
                    <a:cubicBezTo>
                      <a:pt x="443977" y="1240657"/>
                      <a:pt x="443977" y="1237076"/>
                      <a:pt x="443977" y="1233495"/>
                    </a:cubicBezTo>
                    <a:cubicBezTo>
                      <a:pt x="443977" y="1232779"/>
                      <a:pt x="444686" y="1232779"/>
                      <a:pt x="444686" y="1232062"/>
                    </a:cubicBezTo>
                    <a:cubicBezTo>
                      <a:pt x="444686" y="1228481"/>
                      <a:pt x="444686" y="1224900"/>
                      <a:pt x="445394" y="1221319"/>
                    </a:cubicBezTo>
                    <a:cubicBezTo>
                      <a:pt x="445394" y="1220603"/>
                      <a:pt x="445394" y="1219887"/>
                      <a:pt x="445394" y="1219887"/>
                    </a:cubicBezTo>
                    <a:cubicBezTo>
                      <a:pt x="445394" y="1219171"/>
                      <a:pt x="445394" y="1218455"/>
                      <a:pt x="445394" y="1218455"/>
                    </a:cubicBezTo>
                    <a:cubicBezTo>
                      <a:pt x="445394" y="1214873"/>
                      <a:pt x="445394" y="1211292"/>
                      <a:pt x="446103" y="1208428"/>
                    </a:cubicBezTo>
                    <a:cubicBezTo>
                      <a:pt x="446103" y="1207711"/>
                      <a:pt x="446103" y="1206995"/>
                      <a:pt x="446103" y="1206995"/>
                    </a:cubicBezTo>
                    <a:cubicBezTo>
                      <a:pt x="446103" y="1202698"/>
                      <a:pt x="446103" y="1199117"/>
                      <a:pt x="446103" y="1194820"/>
                    </a:cubicBezTo>
                    <a:cubicBezTo>
                      <a:pt x="446103" y="1194820"/>
                      <a:pt x="446103" y="1194103"/>
                      <a:pt x="446103" y="1194103"/>
                    </a:cubicBezTo>
                    <a:cubicBezTo>
                      <a:pt x="446812" y="1185509"/>
                      <a:pt x="446812" y="1176914"/>
                      <a:pt x="446812" y="1168320"/>
                    </a:cubicBezTo>
                    <a:cubicBezTo>
                      <a:pt x="446812" y="1167604"/>
                      <a:pt x="446812" y="1167604"/>
                      <a:pt x="446812" y="1167604"/>
                    </a:cubicBezTo>
                    <a:cubicBezTo>
                      <a:pt x="446812" y="1163307"/>
                      <a:pt x="446812" y="1159009"/>
                      <a:pt x="446812" y="1154712"/>
                    </a:cubicBezTo>
                    <a:cubicBezTo>
                      <a:pt x="446812" y="1153996"/>
                      <a:pt x="446812" y="1153996"/>
                      <a:pt x="446812" y="1153280"/>
                    </a:cubicBezTo>
                    <a:cubicBezTo>
                      <a:pt x="446812" y="1148982"/>
                      <a:pt x="446812" y="1144685"/>
                      <a:pt x="446812" y="1140388"/>
                    </a:cubicBezTo>
                    <a:cubicBezTo>
                      <a:pt x="446812" y="1139672"/>
                      <a:pt x="446812" y="1139672"/>
                      <a:pt x="446812" y="1138955"/>
                    </a:cubicBezTo>
                    <a:cubicBezTo>
                      <a:pt x="446812" y="1134658"/>
                      <a:pt x="446812" y="1130361"/>
                      <a:pt x="446812" y="1126064"/>
                    </a:cubicBezTo>
                    <a:cubicBezTo>
                      <a:pt x="446812" y="1125347"/>
                      <a:pt x="446812" y="1125347"/>
                      <a:pt x="446812" y="1124631"/>
                    </a:cubicBezTo>
                    <a:cubicBezTo>
                      <a:pt x="446103" y="1120334"/>
                      <a:pt x="446103" y="1116037"/>
                      <a:pt x="446103" y="1111740"/>
                    </a:cubicBezTo>
                    <a:cubicBezTo>
                      <a:pt x="446103" y="1111023"/>
                      <a:pt x="446103" y="1110307"/>
                      <a:pt x="446103" y="1109591"/>
                    </a:cubicBezTo>
                    <a:cubicBezTo>
                      <a:pt x="446103" y="1108158"/>
                      <a:pt x="446103" y="1106010"/>
                      <a:pt x="446103" y="1103861"/>
                    </a:cubicBezTo>
                    <a:cubicBezTo>
                      <a:pt x="446103" y="1101713"/>
                      <a:pt x="446103" y="1098848"/>
                      <a:pt x="445394" y="1096699"/>
                    </a:cubicBezTo>
                    <a:cubicBezTo>
                      <a:pt x="445394" y="1095983"/>
                      <a:pt x="445394" y="1095267"/>
                      <a:pt x="445394" y="1095267"/>
                    </a:cubicBezTo>
                    <a:cubicBezTo>
                      <a:pt x="445394" y="1090253"/>
                      <a:pt x="445394" y="1085956"/>
                      <a:pt x="445394" y="1081659"/>
                    </a:cubicBezTo>
                    <a:cubicBezTo>
                      <a:pt x="444686" y="1080943"/>
                      <a:pt x="444686" y="1080943"/>
                      <a:pt x="444686" y="1080226"/>
                    </a:cubicBezTo>
                    <a:cubicBezTo>
                      <a:pt x="444686" y="1073064"/>
                      <a:pt x="443977" y="1065186"/>
                      <a:pt x="443977" y="1057308"/>
                    </a:cubicBezTo>
                    <a:cubicBezTo>
                      <a:pt x="443977" y="1055159"/>
                      <a:pt x="443977" y="1053010"/>
                      <a:pt x="443268" y="1051578"/>
                    </a:cubicBezTo>
                    <a:cubicBezTo>
                      <a:pt x="443268" y="1050862"/>
                      <a:pt x="443268" y="1050862"/>
                      <a:pt x="443268" y="1050862"/>
                    </a:cubicBezTo>
                    <a:cubicBezTo>
                      <a:pt x="443268" y="1045848"/>
                      <a:pt x="443268" y="1040835"/>
                      <a:pt x="442559" y="1036538"/>
                    </a:cubicBezTo>
                    <a:cubicBezTo>
                      <a:pt x="442559" y="1035822"/>
                      <a:pt x="442559" y="1035105"/>
                      <a:pt x="442559" y="1035105"/>
                    </a:cubicBezTo>
                    <a:cubicBezTo>
                      <a:pt x="442559" y="1030092"/>
                      <a:pt x="441851" y="1025795"/>
                      <a:pt x="441851" y="1021497"/>
                    </a:cubicBezTo>
                    <a:cubicBezTo>
                      <a:pt x="441851" y="1020781"/>
                      <a:pt x="441851" y="1020065"/>
                      <a:pt x="441851" y="1019349"/>
                    </a:cubicBezTo>
                    <a:cubicBezTo>
                      <a:pt x="441142" y="1014335"/>
                      <a:pt x="441142" y="1010038"/>
                      <a:pt x="441142" y="1005741"/>
                    </a:cubicBezTo>
                    <a:cubicBezTo>
                      <a:pt x="441142" y="1005025"/>
                      <a:pt x="441142" y="1004308"/>
                      <a:pt x="440433" y="1003592"/>
                    </a:cubicBezTo>
                    <a:cubicBezTo>
                      <a:pt x="440433" y="998579"/>
                      <a:pt x="440433" y="994281"/>
                      <a:pt x="439725" y="989984"/>
                    </a:cubicBezTo>
                    <a:cubicBezTo>
                      <a:pt x="439725" y="989268"/>
                      <a:pt x="439725" y="988552"/>
                      <a:pt x="439725" y="987836"/>
                    </a:cubicBezTo>
                    <a:cubicBezTo>
                      <a:pt x="439725" y="986403"/>
                      <a:pt x="439725" y="984255"/>
                      <a:pt x="439725" y="982822"/>
                    </a:cubicBezTo>
                    <a:close/>
                    <a:moveTo>
                      <a:pt x="922715" y="500222"/>
                    </a:moveTo>
                    <a:cubicBezTo>
                      <a:pt x="928432" y="500934"/>
                      <a:pt x="934150" y="500934"/>
                      <a:pt x="939153" y="501647"/>
                    </a:cubicBezTo>
                    <a:cubicBezTo>
                      <a:pt x="944156" y="501647"/>
                      <a:pt x="949160" y="502359"/>
                      <a:pt x="954163" y="502359"/>
                    </a:cubicBezTo>
                    <a:cubicBezTo>
                      <a:pt x="954163" y="509482"/>
                      <a:pt x="954877" y="516605"/>
                      <a:pt x="955592" y="523727"/>
                    </a:cubicBezTo>
                    <a:cubicBezTo>
                      <a:pt x="955592" y="530138"/>
                      <a:pt x="956307" y="535836"/>
                      <a:pt x="956307" y="542247"/>
                    </a:cubicBezTo>
                    <a:cubicBezTo>
                      <a:pt x="957736" y="560766"/>
                      <a:pt x="958451" y="578573"/>
                      <a:pt x="959166" y="596380"/>
                    </a:cubicBezTo>
                    <a:cubicBezTo>
                      <a:pt x="959880" y="608489"/>
                      <a:pt x="959880" y="620597"/>
                      <a:pt x="960595" y="631994"/>
                    </a:cubicBezTo>
                    <a:cubicBezTo>
                      <a:pt x="960595" y="643390"/>
                      <a:pt x="960595" y="654787"/>
                      <a:pt x="960595" y="665471"/>
                    </a:cubicBezTo>
                    <a:cubicBezTo>
                      <a:pt x="960595" y="669033"/>
                      <a:pt x="960595" y="672594"/>
                      <a:pt x="960595" y="675443"/>
                    </a:cubicBezTo>
                    <a:cubicBezTo>
                      <a:pt x="959880" y="775162"/>
                      <a:pt x="947730" y="856362"/>
                      <a:pt x="907705" y="899811"/>
                    </a:cubicBezTo>
                    <a:cubicBezTo>
                      <a:pt x="906275" y="901236"/>
                      <a:pt x="905561" y="902660"/>
                      <a:pt x="904131" y="903373"/>
                    </a:cubicBezTo>
                    <a:cubicBezTo>
                      <a:pt x="841235" y="966053"/>
                      <a:pt x="691857" y="964629"/>
                      <a:pt x="523181" y="954657"/>
                    </a:cubicBezTo>
                    <a:cubicBezTo>
                      <a:pt x="515319" y="953945"/>
                      <a:pt x="507457" y="953232"/>
                      <a:pt x="500309" y="953232"/>
                    </a:cubicBezTo>
                    <a:cubicBezTo>
                      <a:pt x="489588" y="952520"/>
                      <a:pt x="478868" y="951808"/>
                      <a:pt x="468861" y="951095"/>
                    </a:cubicBezTo>
                    <a:cubicBezTo>
                      <a:pt x="460285" y="950383"/>
                      <a:pt x="450993" y="949671"/>
                      <a:pt x="442416" y="948959"/>
                    </a:cubicBezTo>
                    <a:cubicBezTo>
                      <a:pt x="442416" y="948959"/>
                      <a:pt x="441702" y="948959"/>
                      <a:pt x="440987" y="948959"/>
                    </a:cubicBezTo>
                    <a:cubicBezTo>
                      <a:pt x="439557" y="948959"/>
                      <a:pt x="438128" y="948959"/>
                      <a:pt x="436699" y="948959"/>
                    </a:cubicBezTo>
                    <a:cubicBezTo>
                      <a:pt x="433125" y="948246"/>
                      <a:pt x="428837" y="948246"/>
                      <a:pt x="424548" y="948246"/>
                    </a:cubicBezTo>
                    <a:cubicBezTo>
                      <a:pt x="424548" y="947534"/>
                      <a:pt x="424548" y="947534"/>
                      <a:pt x="424548" y="947534"/>
                    </a:cubicBezTo>
                    <a:cubicBezTo>
                      <a:pt x="423833" y="947534"/>
                      <a:pt x="423119" y="947534"/>
                      <a:pt x="422404" y="947534"/>
                    </a:cubicBezTo>
                    <a:cubicBezTo>
                      <a:pt x="420260" y="947534"/>
                      <a:pt x="418830" y="947534"/>
                      <a:pt x="417401" y="947534"/>
                    </a:cubicBezTo>
                    <a:cubicBezTo>
                      <a:pt x="416686" y="947534"/>
                      <a:pt x="416686" y="947534"/>
                      <a:pt x="415971" y="947534"/>
                    </a:cubicBezTo>
                    <a:cubicBezTo>
                      <a:pt x="412398" y="946822"/>
                      <a:pt x="408824" y="946822"/>
                      <a:pt x="405250" y="946822"/>
                    </a:cubicBezTo>
                    <a:cubicBezTo>
                      <a:pt x="403821" y="946822"/>
                      <a:pt x="402392" y="946109"/>
                      <a:pt x="400962" y="946109"/>
                    </a:cubicBezTo>
                    <a:cubicBezTo>
                      <a:pt x="400247" y="946109"/>
                      <a:pt x="400247" y="946109"/>
                      <a:pt x="399533" y="946109"/>
                    </a:cubicBezTo>
                    <a:cubicBezTo>
                      <a:pt x="399533" y="946109"/>
                      <a:pt x="398818" y="946109"/>
                      <a:pt x="398818" y="946109"/>
                    </a:cubicBezTo>
                    <a:cubicBezTo>
                      <a:pt x="398818" y="946109"/>
                      <a:pt x="398103" y="946109"/>
                      <a:pt x="398103" y="946109"/>
                    </a:cubicBezTo>
                    <a:cubicBezTo>
                      <a:pt x="397388" y="946109"/>
                      <a:pt x="397388" y="946109"/>
                      <a:pt x="396674" y="946109"/>
                    </a:cubicBezTo>
                    <a:cubicBezTo>
                      <a:pt x="395244" y="946109"/>
                      <a:pt x="394530" y="946109"/>
                      <a:pt x="393815" y="946109"/>
                    </a:cubicBezTo>
                    <a:cubicBezTo>
                      <a:pt x="393100" y="946109"/>
                      <a:pt x="392385" y="945397"/>
                      <a:pt x="390956" y="945397"/>
                    </a:cubicBezTo>
                    <a:cubicBezTo>
                      <a:pt x="388097" y="945397"/>
                      <a:pt x="385238" y="945397"/>
                      <a:pt x="381664" y="945397"/>
                    </a:cubicBezTo>
                    <a:cubicBezTo>
                      <a:pt x="380235" y="944685"/>
                      <a:pt x="378806" y="944685"/>
                      <a:pt x="376661" y="944685"/>
                    </a:cubicBezTo>
                    <a:cubicBezTo>
                      <a:pt x="375947" y="944685"/>
                      <a:pt x="375232" y="944685"/>
                      <a:pt x="374517" y="944685"/>
                    </a:cubicBezTo>
                    <a:cubicBezTo>
                      <a:pt x="373088" y="944685"/>
                      <a:pt x="370943" y="944685"/>
                      <a:pt x="369514" y="943973"/>
                    </a:cubicBezTo>
                    <a:cubicBezTo>
                      <a:pt x="368799" y="943973"/>
                      <a:pt x="368085" y="943973"/>
                      <a:pt x="368085" y="943973"/>
                    </a:cubicBezTo>
                    <a:cubicBezTo>
                      <a:pt x="363081" y="943973"/>
                      <a:pt x="358793" y="943973"/>
                      <a:pt x="353790" y="943260"/>
                    </a:cubicBezTo>
                    <a:cubicBezTo>
                      <a:pt x="353075" y="943260"/>
                      <a:pt x="352361" y="943260"/>
                      <a:pt x="350931" y="943260"/>
                    </a:cubicBezTo>
                    <a:cubicBezTo>
                      <a:pt x="350931" y="943260"/>
                      <a:pt x="350931" y="943260"/>
                      <a:pt x="350216" y="943260"/>
                    </a:cubicBezTo>
                    <a:cubicBezTo>
                      <a:pt x="350216" y="943260"/>
                      <a:pt x="349502" y="943260"/>
                      <a:pt x="348787" y="943260"/>
                    </a:cubicBezTo>
                    <a:cubicBezTo>
                      <a:pt x="344499" y="942548"/>
                      <a:pt x="339495" y="942548"/>
                      <a:pt x="334492" y="942548"/>
                    </a:cubicBezTo>
                    <a:cubicBezTo>
                      <a:pt x="334492" y="942548"/>
                      <a:pt x="334492" y="942548"/>
                      <a:pt x="333778" y="942548"/>
                    </a:cubicBezTo>
                    <a:cubicBezTo>
                      <a:pt x="332348" y="941836"/>
                      <a:pt x="330204" y="941836"/>
                      <a:pt x="328060" y="941836"/>
                    </a:cubicBezTo>
                    <a:cubicBezTo>
                      <a:pt x="320198" y="941836"/>
                      <a:pt x="312336" y="941123"/>
                      <a:pt x="304474" y="941123"/>
                    </a:cubicBezTo>
                    <a:cubicBezTo>
                      <a:pt x="304474" y="941123"/>
                      <a:pt x="304474" y="941123"/>
                      <a:pt x="304474" y="940411"/>
                    </a:cubicBezTo>
                    <a:cubicBezTo>
                      <a:pt x="299471" y="940411"/>
                      <a:pt x="295182" y="940411"/>
                      <a:pt x="290179" y="940411"/>
                    </a:cubicBezTo>
                    <a:cubicBezTo>
                      <a:pt x="289464" y="940411"/>
                      <a:pt x="289464" y="940411"/>
                      <a:pt x="288750" y="940411"/>
                    </a:cubicBezTo>
                    <a:cubicBezTo>
                      <a:pt x="286605" y="939699"/>
                      <a:pt x="283747" y="939699"/>
                      <a:pt x="281602" y="939699"/>
                    </a:cubicBezTo>
                    <a:cubicBezTo>
                      <a:pt x="279458" y="939699"/>
                      <a:pt x="277314" y="939699"/>
                      <a:pt x="275885" y="939699"/>
                    </a:cubicBezTo>
                    <a:cubicBezTo>
                      <a:pt x="275170" y="939699"/>
                      <a:pt x="274455" y="939699"/>
                      <a:pt x="273740" y="939699"/>
                    </a:cubicBezTo>
                    <a:cubicBezTo>
                      <a:pt x="269452" y="939699"/>
                      <a:pt x="265164" y="939699"/>
                      <a:pt x="260875" y="938987"/>
                    </a:cubicBezTo>
                    <a:cubicBezTo>
                      <a:pt x="260161" y="938987"/>
                      <a:pt x="260161" y="938987"/>
                      <a:pt x="259446" y="938987"/>
                    </a:cubicBezTo>
                    <a:cubicBezTo>
                      <a:pt x="255157" y="938987"/>
                      <a:pt x="250869" y="938987"/>
                      <a:pt x="246581" y="938987"/>
                    </a:cubicBezTo>
                    <a:cubicBezTo>
                      <a:pt x="245866" y="938987"/>
                      <a:pt x="245151" y="938987"/>
                      <a:pt x="245151" y="938987"/>
                    </a:cubicBezTo>
                    <a:cubicBezTo>
                      <a:pt x="240863" y="938987"/>
                      <a:pt x="236574" y="938987"/>
                      <a:pt x="232286" y="938987"/>
                    </a:cubicBezTo>
                    <a:cubicBezTo>
                      <a:pt x="231571" y="938987"/>
                      <a:pt x="231571" y="938987"/>
                      <a:pt x="230857" y="938987"/>
                    </a:cubicBezTo>
                    <a:cubicBezTo>
                      <a:pt x="226568" y="938987"/>
                      <a:pt x="222280" y="938987"/>
                      <a:pt x="217992" y="938987"/>
                    </a:cubicBezTo>
                    <a:cubicBezTo>
                      <a:pt x="217992" y="938987"/>
                      <a:pt x="217992" y="938987"/>
                      <a:pt x="217277" y="938987"/>
                    </a:cubicBezTo>
                    <a:cubicBezTo>
                      <a:pt x="208700" y="938987"/>
                      <a:pt x="200123" y="938987"/>
                      <a:pt x="191547" y="939699"/>
                    </a:cubicBezTo>
                    <a:cubicBezTo>
                      <a:pt x="191547" y="939699"/>
                      <a:pt x="190832" y="939699"/>
                      <a:pt x="190832" y="939699"/>
                    </a:cubicBezTo>
                    <a:cubicBezTo>
                      <a:pt x="186543" y="939699"/>
                      <a:pt x="182970" y="939699"/>
                      <a:pt x="178681" y="939699"/>
                    </a:cubicBezTo>
                    <a:cubicBezTo>
                      <a:pt x="178681" y="939699"/>
                      <a:pt x="177967" y="939699"/>
                      <a:pt x="177252" y="939699"/>
                    </a:cubicBezTo>
                    <a:cubicBezTo>
                      <a:pt x="174393" y="940411"/>
                      <a:pt x="170819" y="940411"/>
                      <a:pt x="167246" y="940411"/>
                    </a:cubicBezTo>
                    <a:cubicBezTo>
                      <a:pt x="167246" y="940411"/>
                      <a:pt x="166531" y="940411"/>
                      <a:pt x="165816" y="940411"/>
                    </a:cubicBezTo>
                    <a:cubicBezTo>
                      <a:pt x="165816" y="940411"/>
                      <a:pt x="165102" y="940411"/>
                      <a:pt x="164387" y="940411"/>
                    </a:cubicBezTo>
                    <a:cubicBezTo>
                      <a:pt x="160813" y="941123"/>
                      <a:pt x="157240" y="941123"/>
                      <a:pt x="153666" y="941123"/>
                    </a:cubicBezTo>
                    <a:cubicBezTo>
                      <a:pt x="152951" y="941123"/>
                      <a:pt x="152951" y="941836"/>
                      <a:pt x="152236" y="941836"/>
                    </a:cubicBezTo>
                    <a:cubicBezTo>
                      <a:pt x="148663" y="941836"/>
                      <a:pt x="145089" y="941836"/>
                      <a:pt x="141516" y="942548"/>
                    </a:cubicBezTo>
                    <a:cubicBezTo>
                      <a:pt x="140801" y="942548"/>
                      <a:pt x="140801" y="942548"/>
                      <a:pt x="140086" y="942548"/>
                    </a:cubicBezTo>
                    <a:cubicBezTo>
                      <a:pt x="136512" y="943260"/>
                      <a:pt x="132939" y="943260"/>
                      <a:pt x="130080" y="943973"/>
                    </a:cubicBezTo>
                    <a:cubicBezTo>
                      <a:pt x="129365" y="943973"/>
                      <a:pt x="129365" y="943973"/>
                      <a:pt x="128650" y="943973"/>
                    </a:cubicBezTo>
                    <a:cubicBezTo>
                      <a:pt x="127936" y="943973"/>
                      <a:pt x="127221" y="943973"/>
                      <a:pt x="126506" y="943973"/>
                    </a:cubicBezTo>
                    <a:cubicBezTo>
                      <a:pt x="123647" y="944685"/>
                      <a:pt x="120788" y="944685"/>
                      <a:pt x="118644" y="945397"/>
                    </a:cubicBezTo>
                    <a:cubicBezTo>
                      <a:pt x="117929" y="945397"/>
                      <a:pt x="117929" y="945397"/>
                      <a:pt x="117929" y="945397"/>
                    </a:cubicBezTo>
                    <a:cubicBezTo>
                      <a:pt x="114356" y="946109"/>
                      <a:pt x="110782" y="946822"/>
                      <a:pt x="107209" y="947534"/>
                    </a:cubicBezTo>
                    <a:cubicBezTo>
                      <a:pt x="104350" y="947534"/>
                      <a:pt x="100776" y="948246"/>
                      <a:pt x="97917" y="948959"/>
                    </a:cubicBezTo>
                    <a:cubicBezTo>
                      <a:pt x="97202" y="948959"/>
                      <a:pt x="97202" y="948959"/>
                      <a:pt x="97202" y="948959"/>
                    </a:cubicBezTo>
                    <a:cubicBezTo>
                      <a:pt x="93629" y="949671"/>
                      <a:pt x="90770" y="950383"/>
                      <a:pt x="87911" y="951095"/>
                    </a:cubicBezTo>
                    <a:cubicBezTo>
                      <a:pt x="87911" y="951808"/>
                      <a:pt x="87196" y="951808"/>
                      <a:pt x="87196" y="951808"/>
                    </a:cubicBezTo>
                    <a:cubicBezTo>
                      <a:pt x="84337" y="952520"/>
                      <a:pt x="81478" y="953232"/>
                      <a:pt x="78619" y="953945"/>
                    </a:cubicBezTo>
                    <a:cubicBezTo>
                      <a:pt x="77905" y="953945"/>
                      <a:pt x="77905" y="953945"/>
                      <a:pt x="77190" y="953945"/>
                    </a:cubicBezTo>
                    <a:cubicBezTo>
                      <a:pt x="75046" y="955369"/>
                      <a:pt x="72187" y="956081"/>
                      <a:pt x="69328" y="956794"/>
                    </a:cubicBezTo>
                    <a:cubicBezTo>
                      <a:pt x="69328" y="956794"/>
                      <a:pt x="68613" y="956794"/>
                      <a:pt x="68613" y="957506"/>
                    </a:cubicBezTo>
                    <a:cubicBezTo>
                      <a:pt x="65754" y="958218"/>
                      <a:pt x="63610" y="958930"/>
                      <a:pt x="61466" y="959643"/>
                    </a:cubicBezTo>
                    <a:cubicBezTo>
                      <a:pt x="60751" y="960355"/>
                      <a:pt x="60751" y="960355"/>
                      <a:pt x="60036" y="960355"/>
                    </a:cubicBezTo>
                    <a:cubicBezTo>
                      <a:pt x="57892" y="961067"/>
                      <a:pt x="55748" y="962492"/>
                      <a:pt x="52889" y="963204"/>
                    </a:cubicBezTo>
                    <a:cubicBezTo>
                      <a:pt x="52889" y="963204"/>
                      <a:pt x="52889" y="963916"/>
                      <a:pt x="52889" y="963916"/>
                    </a:cubicBezTo>
                    <a:cubicBezTo>
                      <a:pt x="50030" y="964629"/>
                      <a:pt x="47886" y="966053"/>
                      <a:pt x="45742" y="967478"/>
                    </a:cubicBezTo>
                    <a:cubicBezTo>
                      <a:pt x="43598" y="968902"/>
                      <a:pt x="41453" y="969615"/>
                      <a:pt x="39309" y="971039"/>
                    </a:cubicBezTo>
                    <a:cubicBezTo>
                      <a:pt x="34306" y="974601"/>
                      <a:pt x="30733" y="977450"/>
                      <a:pt x="27159" y="981011"/>
                    </a:cubicBezTo>
                    <a:cubicBezTo>
                      <a:pt x="23585" y="984573"/>
                      <a:pt x="20012" y="985997"/>
                      <a:pt x="15723" y="985997"/>
                    </a:cubicBezTo>
                    <a:cubicBezTo>
                      <a:pt x="11435" y="985997"/>
                      <a:pt x="7861" y="984573"/>
                      <a:pt x="4288" y="981011"/>
                    </a:cubicBezTo>
                    <a:cubicBezTo>
                      <a:pt x="-1430" y="975313"/>
                      <a:pt x="-1430" y="965341"/>
                      <a:pt x="4288" y="958930"/>
                    </a:cubicBezTo>
                    <a:cubicBezTo>
                      <a:pt x="8576" y="955369"/>
                      <a:pt x="12150" y="951808"/>
                      <a:pt x="16438" y="948959"/>
                    </a:cubicBezTo>
                    <a:cubicBezTo>
                      <a:pt x="16438" y="948959"/>
                      <a:pt x="17153" y="948959"/>
                      <a:pt x="17153" y="948246"/>
                    </a:cubicBezTo>
                    <a:cubicBezTo>
                      <a:pt x="19297" y="946822"/>
                      <a:pt x="21441" y="945397"/>
                      <a:pt x="23585" y="943973"/>
                    </a:cubicBezTo>
                    <a:cubicBezTo>
                      <a:pt x="23585" y="943973"/>
                      <a:pt x="24300" y="943973"/>
                      <a:pt x="24300" y="943260"/>
                    </a:cubicBezTo>
                    <a:cubicBezTo>
                      <a:pt x="26444" y="941836"/>
                      <a:pt x="29303" y="941123"/>
                      <a:pt x="31447" y="939699"/>
                    </a:cubicBezTo>
                    <a:cubicBezTo>
                      <a:pt x="31447" y="939699"/>
                      <a:pt x="32162" y="938987"/>
                      <a:pt x="32162" y="938987"/>
                    </a:cubicBezTo>
                    <a:cubicBezTo>
                      <a:pt x="35021" y="937562"/>
                      <a:pt x="37165" y="936138"/>
                      <a:pt x="40024" y="935425"/>
                    </a:cubicBezTo>
                    <a:cubicBezTo>
                      <a:pt x="40024" y="935425"/>
                      <a:pt x="40739" y="934713"/>
                      <a:pt x="40739" y="934713"/>
                    </a:cubicBezTo>
                    <a:cubicBezTo>
                      <a:pt x="43598" y="933288"/>
                      <a:pt x="46457" y="932576"/>
                      <a:pt x="48601" y="931152"/>
                    </a:cubicBezTo>
                    <a:cubicBezTo>
                      <a:pt x="49315" y="931152"/>
                      <a:pt x="49315" y="931152"/>
                      <a:pt x="49315" y="931152"/>
                    </a:cubicBezTo>
                    <a:cubicBezTo>
                      <a:pt x="52174" y="929727"/>
                      <a:pt x="55033" y="929015"/>
                      <a:pt x="57892" y="927590"/>
                    </a:cubicBezTo>
                    <a:cubicBezTo>
                      <a:pt x="57892" y="927590"/>
                      <a:pt x="58607" y="927590"/>
                      <a:pt x="58607" y="927590"/>
                    </a:cubicBezTo>
                    <a:cubicBezTo>
                      <a:pt x="61466" y="926878"/>
                      <a:pt x="64325" y="925453"/>
                      <a:pt x="67184" y="924741"/>
                    </a:cubicBezTo>
                    <a:cubicBezTo>
                      <a:pt x="67898" y="924741"/>
                      <a:pt x="68613" y="924741"/>
                      <a:pt x="68613" y="924029"/>
                    </a:cubicBezTo>
                    <a:cubicBezTo>
                      <a:pt x="71472" y="923316"/>
                      <a:pt x="75046" y="922604"/>
                      <a:pt x="77905" y="921892"/>
                    </a:cubicBezTo>
                    <a:cubicBezTo>
                      <a:pt x="78619" y="921892"/>
                      <a:pt x="78619" y="921892"/>
                      <a:pt x="79334" y="921180"/>
                    </a:cubicBezTo>
                    <a:cubicBezTo>
                      <a:pt x="82193" y="920467"/>
                      <a:pt x="85767" y="919755"/>
                      <a:pt x="88626" y="919043"/>
                    </a:cubicBezTo>
                    <a:cubicBezTo>
                      <a:pt x="89340" y="919043"/>
                      <a:pt x="90055" y="919043"/>
                      <a:pt x="90770" y="919043"/>
                    </a:cubicBezTo>
                    <a:cubicBezTo>
                      <a:pt x="93629" y="918331"/>
                      <a:pt x="96488" y="917618"/>
                      <a:pt x="100061" y="916906"/>
                    </a:cubicBezTo>
                    <a:cubicBezTo>
                      <a:pt x="100776" y="916906"/>
                      <a:pt x="101491" y="916906"/>
                      <a:pt x="102205" y="916194"/>
                    </a:cubicBezTo>
                    <a:cubicBezTo>
                      <a:pt x="105064" y="916194"/>
                      <a:pt x="108638" y="915481"/>
                      <a:pt x="111497" y="914769"/>
                    </a:cubicBezTo>
                    <a:cubicBezTo>
                      <a:pt x="112212" y="914769"/>
                      <a:pt x="112926" y="914769"/>
                      <a:pt x="113641" y="914769"/>
                    </a:cubicBezTo>
                    <a:cubicBezTo>
                      <a:pt x="117215" y="914057"/>
                      <a:pt x="120074" y="913345"/>
                      <a:pt x="123647" y="913345"/>
                    </a:cubicBezTo>
                    <a:cubicBezTo>
                      <a:pt x="124362" y="913345"/>
                      <a:pt x="125077" y="912632"/>
                      <a:pt x="125791" y="912632"/>
                    </a:cubicBezTo>
                    <a:cubicBezTo>
                      <a:pt x="129365" y="912632"/>
                      <a:pt x="132939" y="911920"/>
                      <a:pt x="136512" y="911920"/>
                    </a:cubicBezTo>
                    <a:cubicBezTo>
                      <a:pt x="137227" y="911208"/>
                      <a:pt x="137942" y="911208"/>
                      <a:pt x="138657" y="911208"/>
                    </a:cubicBezTo>
                    <a:cubicBezTo>
                      <a:pt x="142230" y="911208"/>
                      <a:pt x="145804" y="910495"/>
                      <a:pt x="149378" y="910495"/>
                    </a:cubicBezTo>
                    <a:cubicBezTo>
                      <a:pt x="150092" y="910495"/>
                      <a:pt x="150807" y="910495"/>
                      <a:pt x="150807" y="910495"/>
                    </a:cubicBezTo>
                    <a:cubicBezTo>
                      <a:pt x="155095" y="909783"/>
                      <a:pt x="158669" y="909783"/>
                      <a:pt x="162243" y="909071"/>
                    </a:cubicBezTo>
                    <a:cubicBezTo>
                      <a:pt x="162957" y="909071"/>
                      <a:pt x="162957" y="909071"/>
                      <a:pt x="163672" y="909071"/>
                    </a:cubicBezTo>
                    <a:cubicBezTo>
                      <a:pt x="167960" y="909071"/>
                      <a:pt x="171534" y="909071"/>
                      <a:pt x="175108" y="908359"/>
                    </a:cubicBezTo>
                    <a:cubicBezTo>
                      <a:pt x="175823" y="908359"/>
                      <a:pt x="176537" y="908359"/>
                      <a:pt x="177252" y="908359"/>
                    </a:cubicBezTo>
                    <a:cubicBezTo>
                      <a:pt x="181540" y="908359"/>
                      <a:pt x="185114" y="908359"/>
                      <a:pt x="189402" y="908359"/>
                    </a:cubicBezTo>
                    <a:cubicBezTo>
                      <a:pt x="190117" y="908359"/>
                      <a:pt x="190832" y="908359"/>
                      <a:pt x="191547" y="907646"/>
                    </a:cubicBezTo>
                    <a:cubicBezTo>
                      <a:pt x="195835" y="907646"/>
                      <a:pt x="199409" y="907646"/>
                      <a:pt x="202982" y="907646"/>
                    </a:cubicBezTo>
                    <a:cubicBezTo>
                      <a:pt x="204412" y="907646"/>
                      <a:pt x="205126" y="907646"/>
                      <a:pt x="206556" y="907646"/>
                    </a:cubicBezTo>
                    <a:cubicBezTo>
                      <a:pt x="210129" y="907646"/>
                      <a:pt x="213703" y="907646"/>
                      <a:pt x="217992" y="907646"/>
                    </a:cubicBezTo>
                    <a:cubicBezTo>
                      <a:pt x="218706" y="907646"/>
                      <a:pt x="220136" y="907646"/>
                      <a:pt x="220850" y="907646"/>
                    </a:cubicBezTo>
                    <a:cubicBezTo>
                      <a:pt x="225139" y="907646"/>
                      <a:pt x="228712" y="907646"/>
                      <a:pt x="233001" y="907646"/>
                    </a:cubicBezTo>
                    <a:cubicBezTo>
                      <a:pt x="233716" y="907646"/>
                      <a:pt x="235145" y="907646"/>
                      <a:pt x="235860" y="907646"/>
                    </a:cubicBezTo>
                    <a:cubicBezTo>
                      <a:pt x="240148" y="907646"/>
                      <a:pt x="243722" y="907646"/>
                      <a:pt x="248010" y="907646"/>
                    </a:cubicBezTo>
                    <a:cubicBezTo>
                      <a:pt x="249440" y="907646"/>
                      <a:pt x="250154" y="907646"/>
                      <a:pt x="251584" y="907646"/>
                    </a:cubicBezTo>
                    <a:cubicBezTo>
                      <a:pt x="255157" y="907646"/>
                      <a:pt x="259446" y="907646"/>
                      <a:pt x="263734" y="907646"/>
                    </a:cubicBezTo>
                    <a:cubicBezTo>
                      <a:pt x="264449" y="907646"/>
                      <a:pt x="265878" y="908359"/>
                      <a:pt x="266593" y="908359"/>
                    </a:cubicBezTo>
                    <a:cubicBezTo>
                      <a:pt x="270881" y="908359"/>
                      <a:pt x="275170" y="908359"/>
                      <a:pt x="279458" y="908359"/>
                    </a:cubicBezTo>
                    <a:cubicBezTo>
                      <a:pt x="280173" y="908359"/>
                      <a:pt x="280888" y="908359"/>
                      <a:pt x="282317" y="908359"/>
                    </a:cubicBezTo>
                    <a:cubicBezTo>
                      <a:pt x="285891" y="908359"/>
                      <a:pt x="290179" y="909071"/>
                      <a:pt x="294467" y="909071"/>
                    </a:cubicBezTo>
                    <a:cubicBezTo>
                      <a:pt x="295182" y="909071"/>
                      <a:pt x="296612" y="909071"/>
                      <a:pt x="297326" y="909071"/>
                    </a:cubicBezTo>
                    <a:cubicBezTo>
                      <a:pt x="301615" y="909071"/>
                      <a:pt x="305903" y="909071"/>
                      <a:pt x="310192" y="909783"/>
                    </a:cubicBezTo>
                    <a:cubicBezTo>
                      <a:pt x="310906" y="909783"/>
                      <a:pt x="311621" y="909783"/>
                      <a:pt x="313050" y="909783"/>
                    </a:cubicBezTo>
                    <a:cubicBezTo>
                      <a:pt x="317339" y="909783"/>
                      <a:pt x="321627" y="910495"/>
                      <a:pt x="325916" y="910495"/>
                    </a:cubicBezTo>
                    <a:cubicBezTo>
                      <a:pt x="327345" y="910495"/>
                      <a:pt x="328060" y="910495"/>
                      <a:pt x="329489" y="910495"/>
                    </a:cubicBezTo>
                    <a:cubicBezTo>
                      <a:pt x="333778" y="910495"/>
                      <a:pt x="338066" y="911208"/>
                      <a:pt x="342354" y="911208"/>
                    </a:cubicBezTo>
                    <a:cubicBezTo>
                      <a:pt x="343784" y="911208"/>
                      <a:pt x="344499" y="911208"/>
                      <a:pt x="345928" y="911208"/>
                    </a:cubicBezTo>
                    <a:cubicBezTo>
                      <a:pt x="350216" y="911920"/>
                      <a:pt x="354505" y="911920"/>
                      <a:pt x="358793" y="911920"/>
                    </a:cubicBezTo>
                    <a:cubicBezTo>
                      <a:pt x="360223" y="912632"/>
                      <a:pt x="361652" y="912632"/>
                      <a:pt x="363081" y="912632"/>
                    </a:cubicBezTo>
                    <a:cubicBezTo>
                      <a:pt x="367370" y="912632"/>
                      <a:pt x="370943" y="912632"/>
                      <a:pt x="375232" y="913345"/>
                    </a:cubicBezTo>
                    <a:cubicBezTo>
                      <a:pt x="376661" y="913345"/>
                      <a:pt x="377376" y="913345"/>
                      <a:pt x="378091" y="913345"/>
                    </a:cubicBezTo>
                    <a:cubicBezTo>
                      <a:pt x="386668" y="914057"/>
                      <a:pt x="394530" y="914769"/>
                      <a:pt x="403106" y="914769"/>
                    </a:cubicBezTo>
                    <a:cubicBezTo>
                      <a:pt x="408824" y="915481"/>
                      <a:pt x="413827" y="915481"/>
                      <a:pt x="419545" y="916194"/>
                    </a:cubicBezTo>
                    <a:cubicBezTo>
                      <a:pt x="420260" y="916194"/>
                      <a:pt x="420260" y="916194"/>
                      <a:pt x="420975" y="916194"/>
                    </a:cubicBezTo>
                    <a:cubicBezTo>
                      <a:pt x="421689" y="916194"/>
                      <a:pt x="421689" y="916194"/>
                      <a:pt x="422404" y="916194"/>
                    </a:cubicBezTo>
                    <a:cubicBezTo>
                      <a:pt x="423119" y="916194"/>
                      <a:pt x="423833" y="916194"/>
                      <a:pt x="423833" y="916194"/>
                    </a:cubicBezTo>
                    <a:cubicBezTo>
                      <a:pt x="427407" y="916906"/>
                      <a:pt x="430981" y="916906"/>
                      <a:pt x="434554" y="916906"/>
                    </a:cubicBezTo>
                    <a:cubicBezTo>
                      <a:pt x="435984" y="917618"/>
                      <a:pt x="437413" y="917618"/>
                      <a:pt x="438843" y="917618"/>
                    </a:cubicBezTo>
                    <a:cubicBezTo>
                      <a:pt x="439557" y="917618"/>
                      <a:pt x="440272" y="917618"/>
                      <a:pt x="440987" y="917618"/>
                    </a:cubicBezTo>
                    <a:cubicBezTo>
                      <a:pt x="441702" y="917618"/>
                      <a:pt x="443131" y="917618"/>
                      <a:pt x="444561" y="917618"/>
                    </a:cubicBezTo>
                    <a:cubicBezTo>
                      <a:pt x="451708" y="918331"/>
                      <a:pt x="459570" y="919043"/>
                      <a:pt x="466717" y="919043"/>
                    </a:cubicBezTo>
                    <a:cubicBezTo>
                      <a:pt x="473864" y="919755"/>
                      <a:pt x="481012" y="920467"/>
                      <a:pt x="488159" y="920467"/>
                    </a:cubicBezTo>
                    <a:cubicBezTo>
                      <a:pt x="491733" y="921180"/>
                      <a:pt x="494592" y="921180"/>
                      <a:pt x="498165" y="921180"/>
                    </a:cubicBezTo>
                    <a:cubicBezTo>
                      <a:pt x="498880" y="921180"/>
                      <a:pt x="498880" y="921180"/>
                      <a:pt x="499595" y="921892"/>
                    </a:cubicBezTo>
                    <a:cubicBezTo>
                      <a:pt x="506027" y="921892"/>
                      <a:pt x="511745" y="922604"/>
                      <a:pt x="518178" y="922604"/>
                    </a:cubicBezTo>
                    <a:cubicBezTo>
                      <a:pt x="518892" y="922604"/>
                      <a:pt x="519607" y="922604"/>
                      <a:pt x="520322" y="922604"/>
                    </a:cubicBezTo>
                    <a:cubicBezTo>
                      <a:pt x="521037" y="922604"/>
                      <a:pt x="521751" y="922604"/>
                      <a:pt x="522466" y="923316"/>
                    </a:cubicBezTo>
                    <a:cubicBezTo>
                      <a:pt x="531757" y="923316"/>
                      <a:pt x="541049" y="924029"/>
                      <a:pt x="549626" y="924741"/>
                    </a:cubicBezTo>
                    <a:cubicBezTo>
                      <a:pt x="550340" y="924741"/>
                      <a:pt x="550340" y="924741"/>
                      <a:pt x="551055" y="924741"/>
                    </a:cubicBezTo>
                    <a:cubicBezTo>
                      <a:pt x="555344" y="924741"/>
                      <a:pt x="560347" y="925453"/>
                      <a:pt x="565350" y="925453"/>
                    </a:cubicBezTo>
                    <a:cubicBezTo>
                      <a:pt x="566064" y="925453"/>
                      <a:pt x="566779" y="925453"/>
                      <a:pt x="566779" y="925453"/>
                    </a:cubicBezTo>
                    <a:cubicBezTo>
                      <a:pt x="567494" y="925453"/>
                      <a:pt x="567494" y="925453"/>
                      <a:pt x="568209" y="925453"/>
                    </a:cubicBezTo>
                    <a:cubicBezTo>
                      <a:pt x="568923" y="925453"/>
                      <a:pt x="570353" y="925453"/>
                      <a:pt x="571782" y="925453"/>
                    </a:cubicBezTo>
                    <a:cubicBezTo>
                      <a:pt x="576071" y="926166"/>
                      <a:pt x="580359" y="926166"/>
                      <a:pt x="584647" y="926166"/>
                    </a:cubicBezTo>
                    <a:cubicBezTo>
                      <a:pt x="585362" y="926166"/>
                      <a:pt x="586077" y="926166"/>
                      <a:pt x="586792" y="926166"/>
                    </a:cubicBezTo>
                    <a:cubicBezTo>
                      <a:pt x="601801" y="926878"/>
                      <a:pt x="617525" y="927590"/>
                      <a:pt x="632534" y="928302"/>
                    </a:cubicBezTo>
                    <a:cubicBezTo>
                      <a:pt x="672559" y="929015"/>
                      <a:pt x="710440" y="928302"/>
                      <a:pt x="744747" y="925453"/>
                    </a:cubicBezTo>
                    <a:cubicBezTo>
                      <a:pt x="759041" y="924029"/>
                      <a:pt x="771906" y="922604"/>
                      <a:pt x="784771" y="920467"/>
                    </a:cubicBezTo>
                    <a:cubicBezTo>
                      <a:pt x="814790" y="916194"/>
                      <a:pt x="840520" y="908359"/>
                      <a:pt x="860533" y="896962"/>
                    </a:cubicBezTo>
                    <a:cubicBezTo>
                      <a:pt x="864106" y="895538"/>
                      <a:pt x="866965" y="893401"/>
                      <a:pt x="869824" y="891264"/>
                    </a:cubicBezTo>
                    <a:cubicBezTo>
                      <a:pt x="874113" y="888415"/>
                      <a:pt x="878401" y="884853"/>
                      <a:pt x="881975" y="881292"/>
                    </a:cubicBezTo>
                    <a:cubicBezTo>
                      <a:pt x="885548" y="877731"/>
                      <a:pt x="889122" y="873457"/>
                      <a:pt x="891981" y="869183"/>
                    </a:cubicBezTo>
                    <a:cubicBezTo>
                      <a:pt x="901987" y="854938"/>
                      <a:pt x="909135" y="837131"/>
                      <a:pt x="914853" y="815762"/>
                    </a:cubicBezTo>
                    <a:cubicBezTo>
                      <a:pt x="917711" y="805790"/>
                      <a:pt x="919856" y="795818"/>
                      <a:pt x="921285" y="784422"/>
                    </a:cubicBezTo>
                    <a:cubicBezTo>
                      <a:pt x="923429" y="771601"/>
                      <a:pt x="924859" y="758780"/>
                      <a:pt x="926288" y="744534"/>
                    </a:cubicBezTo>
                    <a:cubicBezTo>
                      <a:pt x="929147" y="710345"/>
                      <a:pt x="929862" y="672594"/>
                      <a:pt x="929147" y="632706"/>
                    </a:cubicBezTo>
                    <a:cubicBezTo>
                      <a:pt x="928432" y="617748"/>
                      <a:pt x="927718" y="602078"/>
                      <a:pt x="927003" y="587120"/>
                    </a:cubicBezTo>
                    <a:cubicBezTo>
                      <a:pt x="926288" y="562903"/>
                      <a:pt x="924859" y="538685"/>
                      <a:pt x="923429" y="514468"/>
                    </a:cubicBezTo>
                    <a:cubicBezTo>
                      <a:pt x="923429" y="514468"/>
                      <a:pt x="923429" y="514468"/>
                      <a:pt x="923429" y="513755"/>
                    </a:cubicBezTo>
                    <a:cubicBezTo>
                      <a:pt x="922715" y="509482"/>
                      <a:pt x="922715" y="505208"/>
                      <a:pt x="922715" y="500222"/>
                    </a:cubicBezTo>
                    <a:close/>
                    <a:moveTo>
                      <a:pt x="1370508" y="400228"/>
                    </a:moveTo>
                    <a:cubicBezTo>
                      <a:pt x="1374611" y="400228"/>
                      <a:pt x="1378714" y="401834"/>
                      <a:pt x="1381925" y="405046"/>
                    </a:cubicBezTo>
                    <a:cubicBezTo>
                      <a:pt x="1387633" y="410757"/>
                      <a:pt x="1387633" y="420750"/>
                      <a:pt x="1381925" y="427174"/>
                    </a:cubicBezTo>
                    <a:cubicBezTo>
                      <a:pt x="1377644" y="430743"/>
                      <a:pt x="1374076" y="434312"/>
                      <a:pt x="1369794" y="437167"/>
                    </a:cubicBezTo>
                    <a:cubicBezTo>
                      <a:pt x="1369794" y="437167"/>
                      <a:pt x="1369081" y="437167"/>
                      <a:pt x="1369081" y="437881"/>
                    </a:cubicBezTo>
                    <a:cubicBezTo>
                      <a:pt x="1366940" y="439308"/>
                      <a:pt x="1364800" y="440736"/>
                      <a:pt x="1362659" y="442164"/>
                    </a:cubicBezTo>
                    <a:cubicBezTo>
                      <a:pt x="1362659" y="442164"/>
                      <a:pt x="1361945" y="442164"/>
                      <a:pt x="1361945" y="442877"/>
                    </a:cubicBezTo>
                    <a:cubicBezTo>
                      <a:pt x="1359805" y="444305"/>
                      <a:pt x="1356951" y="445019"/>
                      <a:pt x="1354810" y="446446"/>
                    </a:cubicBezTo>
                    <a:cubicBezTo>
                      <a:pt x="1354810" y="446446"/>
                      <a:pt x="1354096" y="447160"/>
                      <a:pt x="1354096" y="447160"/>
                    </a:cubicBezTo>
                    <a:cubicBezTo>
                      <a:pt x="1351242" y="448588"/>
                      <a:pt x="1349102" y="450015"/>
                      <a:pt x="1346247" y="450729"/>
                    </a:cubicBezTo>
                    <a:cubicBezTo>
                      <a:pt x="1346247" y="450729"/>
                      <a:pt x="1345534" y="451443"/>
                      <a:pt x="1345534" y="451443"/>
                    </a:cubicBezTo>
                    <a:cubicBezTo>
                      <a:pt x="1342680" y="452871"/>
                      <a:pt x="1339825" y="453584"/>
                      <a:pt x="1336971" y="455012"/>
                    </a:cubicBezTo>
                    <a:cubicBezTo>
                      <a:pt x="1334117" y="456440"/>
                      <a:pt x="1331263" y="457153"/>
                      <a:pt x="1327695" y="458581"/>
                    </a:cubicBezTo>
                    <a:cubicBezTo>
                      <a:pt x="1324841" y="459295"/>
                      <a:pt x="1321987" y="460722"/>
                      <a:pt x="1318419" y="461436"/>
                    </a:cubicBezTo>
                    <a:cubicBezTo>
                      <a:pt x="1318419" y="461436"/>
                      <a:pt x="1317705" y="461436"/>
                      <a:pt x="1317705" y="461436"/>
                    </a:cubicBezTo>
                    <a:cubicBezTo>
                      <a:pt x="1314851" y="462864"/>
                      <a:pt x="1311283" y="463578"/>
                      <a:pt x="1308429" y="464291"/>
                    </a:cubicBezTo>
                    <a:cubicBezTo>
                      <a:pt x="1307716" y="464291"/>
                      <a:pt x="1307716" y="464291"/>
                      <a:pt x="1307002" y="465005"/>
                    </a:cubicBezTo>
                    <a:cubicBezTo>
                      <a:pt x="1304148" y="465719"/>
                      <a:pt x="1300580" y="466433"/>
                      <a:pt x="1297726" y="467147"/>
                    </a:cubicBezTo>
                    <a:cubicBezTo>
                      <a:pt x="1297012" y="467147"/>
                      <a:pt x="1296299" y="467147"/>
                      <a:pt x="1296299" y="467147"/>
                    </a:cubicBezTo>
                    <a:cubicBezTo>
                      <a:pt x="1292731" y="467860"/>
                      <a:pt x="1289877" y="468574"/>
                      <a:pt x="1286309" y="469288"/>
                    </a:cubicBezTo>
                    <a:cubicBezTo>
                      <a:pt x="1285596" y="469288"/>
                      <a:pt x="1285596" y="469288"/>
                      <a:pt x="1284882" y="469288"/>
                    </a:cubicBezTo>
                    <a:cubicBezTo>
                      <a:pt x="1281314" y="470002"/>
                      <a:pt x="1277747" y="470715"/>
                      <a:pt x="1274179" y="471429"/>
                    </a:cubicBezTo>
                    <a:cubicBezTo>
                      <a:pt x="1274179" y="471429"/>
                      <a:pt x="1273465" y="471429"/>
                      <a:pt x="1273465" y="471429"/>
                    </a:cubicBezTo>
                    <a:cubicBezTo>
                      <a:pt x="1269898" y="472143"/>
                      <a:pt x="1265616" y="472857"/>
                      <a:pt x="1262048" y="472857"/>
                    </a:cubicBezTo>
                    <a:cubicBezTo>
                      <a:pt x="1262048" y="472857"/>
                      <a:pt x="1261335" y="473571"/>
                      <a:pt x="1261335" y="473571"/>
                    </a:cubicBezTo>
                    <a:cubicBezTo>
                      <a:pt x="1257054" y="473571"/>
                      <a:pt x="1253486" y="474284"/>
                      <a:pt x="1249205" y="474998"/>
                    </a:cubicBezTo>
                    <a:cubicBezTo>
                      <a:pt x="1236361" y="475712"/>
                      <a:pt x="1223517" y="477140"/>
                      <a:pt x="1209959" y="477853"/>
                    </a:cubicBezTo>
                    <a:cubicBezTo>
                      <a:pt x="1209959" y="477853"/>
                      <a:pt x="1209959" y="477853"/>
                      <a:pt x="1209246" y="477853"/>
                    </a:cubicBezTo>
                    <a:cubicBezTo>
                      <a:pt x="1204964" y="477853"/>
                      <a:pt x="1200683" y="477853"/>
                      <a:pt x="1196402" y="477853"/>
                    </a:cubicBezTo>
                    <a:cubicBezTo>
                      <a:pt x="1195688" y="477853"/>
                      <a:pt x="1195688" y="477853"/>
                      <a:pt x="1195688" y="477853"/>
                    </a:cubicBezTo>
                    <a:cubicBezTo>
                      <a:pt x="1191407" y="478567"/>
                      <a:pt x="1186412" y="478567"/>
                      <a:pt x="1182131" y="478567"/>
                    </a:cubicBezTo>
                    <a:cubicBezTo>
                      <a:pt x="1182131" y="478567"/>
                      <a:pt x="1181417" y="478567"/>
                      <a:pt x="1181417" y="478567"/>
                    </a:cubicBezTo>
                    <a:cubicBezTo>
                      <a:pt x="1176422" y="478567"/>
                      <a:pt x="1172141" y="478567"/>
                      <a:pt x="1167860" y="478567"/>
                    </a:cubicBezTo>
                    <a:cubicBezTo>
                      <a:pt x="1167146" y="478567"/>
                      <a:pt x="1167146" y="478567"/>
                      <a:pt x="1166433" y="478567"/>
                    </a:cubicBezTo>
                    <a:cubicBezTo>
                      <a:pt x="1162151" y="478567"/>
                      <a:pt x="1157157" y="478567"/>
                      <a:pt x="1152875" y="478567"/>
                    </a:cubicBezTo>
                    <a:cubicBezTo>
                      <a:pt x="1152162" y="478567"/>
                      <a:pt x="1152162" y="478567"/>
                      <a:pt x="1151448" y="478567"/>
                    </a:cubicBezTo>
                    <a:cubicBezTo>
                      <a:pt x="1147167" y="478567"/>
                      <a:pt x="1142172" y="478567"/>
                      <a:pt x="1137891" y="478567"/>
                    </a:cubicBezTo>
                    <a:cubicBezTo>
                      <a:pt x="1137177" y="478567"/>
                      <a:pt x="1137177" y="478567"/>
                      <a:pt x="1136464" y="478567"/>
                    </a:cubicBezTo>
                    <a:cubicBezTo>
                      <a:pt x="1132182" y="478567"/>
                      <a:pt x="1127188" y="478567"/>
                      <a:pt x="1122193" y="478567"/>
                    </a:cubicBezTo>
                    <a:cubicBezTo>
                      <a:pt x="1122193" y="478567"/>
                      <a:pt x="1122193" y="478567"/>
                      <a:pt x="1121479" y="478567"/>
                    </a:cubicBezTo>
                    <a:cubicBezTo>
                      <a:pt x="1101500" y="477853"/>
                      <a:pt x="1080807" y="477140"/>
                      <a:pt x="1058687" y="475712"/>
                    </a:cubicBezTo>
                    <a:cubicBezTo>
                      <a:pt x="1053692" y="475712"/>
                      <a:pt x="1047984" y="474998"/>
                      <a:pt x="1042989" y="474998"/>
                    </a:cubicBezTo>
                    <a:cubicBezTo>
                      <a:pt x="1042989" y="474998"/>
                      <a:pt x="1042275" y="474998"/>
                      <a:pt x="1042275" y="474998"/>
                    </a:cubicBezTo>
                    <a:cubicBezTo>
                      <a:pt x="1036567" y="474284"/>
                      <a:pt x="1031572" y="474284"/>
                      <a:pt x="1026577" y="473571"/>
                    </a:cubicBezTo>
                    <a:cubicBezTo>
                      <a:pt x="1025863" y="473571"/>
                      <a:pt x="1025863" y="473571"/>
                      <a:pt x="1025150" y="473571"/>
                    </a:cubicBezTo>
                    <a:cubicBezTo>
                      <a:pt x="1020155" y="473571"/>
                      <a:pt x="1015160" y="472857"/>
                      <a:pt x="1010165" y="472857"/>
                    </a:cubicBezTo>
                    <a:cubicBezTo>
                      <a:pt x="1009452" y="472857"/>
                      <a:pt x="1009452" y="472857"/>
                      <a:pt x="1008738" y="472857"/>
                    </a:cubicBezTo>
                    <a:cubicBezTo>
                      <a:pt x="1008025" y="472857"/>
                      <a:pt x="1008025" y="472857"/>
                      <a:pt x="1007311" y="472857"/>
                    </a:cubicBezTo>
                    <a:cubicBezTo>
                      <a:pt x="1003030" y="472143"/>
                      <a:pt x="998035" y="472143"/>
                      <a:pt x="993040" y="471429"/>
                    </a:cubicBezTo>
                    <a:cubicBezTo>
                      <a:pt x="993040" y="471429"/>
                      <a:pt x="992327" y="471429"/>
                      <a:pt x="992327" y="471429"/>
                    </a:cubicBezTo>
                    <a:cubicBezTo>
                      <a:pt x="989472" y="471429"/>
                      <a:pt x="986618" y="471429"/>
                      <a:pt x="983764" y="471429"/>
                    </a:cubicBezTo>
                    <a:cubicBezTo>
                      <a:pt x="980910" y="470715"/>
                      <a:pt x="978769" y="470715"/>
                      <a:pt x="975915" y="470715"/>
                    </a:cubicBezTo>
                    <a:cubicBezTo>
                      <a:pt x="968066" y="470002"/>
                      <a:pt x="960217" y="469288"/>
                      <a:pt x="952368" y="469288"/>
                    </a:cubicBezTo>
                    <a:cubicBezTo>
                      <a:pt x="948800" y="468574"/>
                      <a:pt x="945232" y="468574"/>
                      <a:pt x="942378" y="468574"/>
                    </a:cubicBezTo>
                    <a:cubicBezTo>
                      <a:pt x="935243" y="467860"/>
                      <a:pt x="927394" y="467147"/>
                      <a:pt x="920258" y="467147"/>
                    </a:cubicBezTo>
                    <a:cubicBezTo>
                      <a:pt x="910268" y="466433"/>
                      <a:pt x="899565" y="465719"/>
                      <a:pt x="888861" y="465005"/>
                    </a:cubicBezTo>
                    <a:cubicBezTo>
                      <a:pt x="881726" y="464291"/>
                      <a:pt x="873877" y="463578"/>
                      <a:pt x="866741" y="463578"/>
                    </a:cubicBezTo>
                    <a:cubicBezTo>
                      <a:pt x="844621" y="462150"/>
                      <a:pt x="822501" y="460722"/>
                      <a:pt x="800381" y="460009"/>
                    </a:cubicBezTo>
                    <a:cubicBezTo>
                      <a:pt x="785397" y="459295"/>
                      <a:pt x="769699" y="458581"/>
                      <a:pt x="754714" y="457867"/>
                    </a:cubicBezTo>
                    <a:cubicBezTo>
                      <a:pt x="714755" y="457153"/>
                      <a:pt x="676937" y="457867"/>
                      <a:pt x="642687" y="460722"/>
                    </a:cubicBezTo>
                    <a:cubicBezTo>
                      <a:pt x="628416" y="462150"/>
                      <a:pt x="615572" y="463578"/>
                      <a:pt x="602728" y="465719"/>
                    </a:cubicBezTo>
                    <a:cubicBezTo>
                      <a:pt x="572045" y="470002"/>
                      <a:pt x="546358" y="477853"/>
                      <a:pt x="526378" y="489274"/>
                    </a:cubicBezTo>
                    <a:cubicBezTo>
                      <a:pt x="523524" y="491416"/>
                      <a:pt x="520670" y="492843"/>
                      <a:pt x="517816" y="494985"/>
                    </a:cubicBezTo>
                    <a:cubicBezTo>
                      <a:pt x="513534" y="497840"/>
                      <a:pt x="509253" y="501409"/>
                      <a:pt x="505685" y="504978"/>
                    </a:cubicBezTo>
                    <a:cubicBezTo>
                      <a:pt x="502117" y="508547"/>
                      <a:pt x="498550" y="512829"/>
                      <a:pt x="495696" y="517112"/>
                    </a:cubicBezTo>
                    <a:cubicBezTo>
                      <a:pt x="485706" y="531388"/>
                      <a:pt x="478570" y="549233"/>
                      <a:pt x="472862" y="570647"/>
                    </a:cubicBezTo>
                    <a:cubicBezTo>
                      <a:pt x="471435" y="575643"/>
                      <a:pt x="470008" y="580640"/>
                      <a:pt x="469294" y="585637"/>
                    </a:cubicBezTo>
                    <a:cubicBezTo>
                      <a:pt x="468581" y="588492"/>
                      <a:pt x="467867" y="591347"/>
                      <a:pt x="467867" y="594202"/>
                    </a:cubicBezTo>
                    <a:cubicBezTo>
                      <a:pt x="467154" y="596344"/>
                      <a:pt x="466440" y="599199"/>
                      <a:pt x="466440" y="602054"/>
                    </a:cubicBezTo>
                    <a:cubicBezTo>
                      <a:pt x="464299" y="614902"/>
                      <a:pt x="462872" y="627751"/>
                      <a:pt x="461445" y="642026"/>
                    </a:cubicBezTo>
                    <a:cubicBezTo>
                      <a:pt x="458591" y="676289"/>
                      <a:pt x="457877" y="714120"/>
                      <a:pt x="458591" y="754092"/>
                    </a:cubicBezTo>
                    <a:cubicBezTo>
                      <a:pt x="459304" y="769082"/>
                      <a:pt x="460018" y="784786"/>
                      <a:pt x="460732" y="799775"/>
                    </a:cubicBezTo>
                    <a:cubicBezTo>
                      <a:pt x="461445" y="824044"/>
                      <a:pt x="462872" y="848313"/>
                      <a:pt x="464299" y="872582"/>
                    </a:cubicBezTo>
                    <a:cubicBezTo>
                      <a:pt x="464299" y="872582"/>
                      <a:pt x="464299" y="872582"/>
                      <a:pt x="464299" y="873296"/>
                    </a:cubicBezTo>
                    <a:cubicBezTo>
                      <a:pt x="465013" y="878293"/>
                      <a:pt x="465013" y="883289"/>
                      <a:pt x="465726" y="887572"/>
                    </a:cubicBezTo>
                    <a:cubicBezTo>
                      <a:pt x="464299" y="887572"/>
                      <a:pt x="463586" y="887572"/>
                      <a:pt x="462872" y="887572"/>
                    </a:cubicBezTo>
                    <a:cubicBezTo>
                      <a:pt x="453596" y="886858"/>
                      <a:pt x="443606" y="886145"/>
                      <a:pt x="433617" y="885431"/>
                    </a:cubicBezTo>
                    <a:cubicBezTo>
                      <a:pt x="432190" y="864731"/>
                      <a:pt x="431476" y="844031"/>
                      <a:pt x="430049" y="824044"/>
                    </a:cubicBezTo>
                    <a:cubicBezTo>
                      <a:pt x="428622" y="792637"/>
                      <a:pt x="427195" y="762658"/>
                      <a:pt x="427195" y="733392"/>
                    </a:cubicBezTo>
                    <a:cubicBezTo>
                      <a:pt x="427195" y="729110"/>
                      <a:pt x="427195" y="724827"/>
                      <a:pt x="427195" y="721258"/>
                    </a:cubicBezTo>
                    <a:cubicBezTo>
                      <a:pt x="427195" y="717689"/>
                      <a:pt x="427195" y="714120"/>
                      <a:pt x="427195" y="711265"/>
                    </a:cubicBezTo>
                    <a:cubicBezTo>
                      <a:pt x="427195" y="707696"/>
                      <a:pt x="427195" y="704840"/>
                      <a:pt x="427195" y="701271"/>
                    </a:cubicBezTo>
                    <a:cubicBezTo>
                      <a:pt x="428622" y="603481"/>
                      <a:pt x="442179" y="524250"/>
                      <a:pt x="483565" y="482850"/>
                    </a:cubicBezTo>
                    <a:cubicBezTo>
                      <a:pt x="522097" y="444305"/>
                      <a:pt x="592738" y="430029"/>
                      <a:pt x="680505" y="427174"/>
                    </a:cubicBezTo>
                    <a:cubicBezTo>
                      <a:pt x="681218" y="427174"/>
                      <a:pt x="681218" y="427174"/>
                      <a:pt x="681218" y="427174"/>
                    </a:cubicBezTo>
                    <a:cubicBezTo>
                      <a:pt x="685500" y="426460"/>
                      <a:pt x="689781" y="426460"/>
                      <a:pt x="694062" y="426460"/>
                    </a:cubicBezTo>
                    <a:cubicBezTo>
                      <a:pt x="695489" y="426460"/>
                      <a:pt x="696203" y="426460"/>
                      <a:pt x="697630" y="426460"/>
                    </a:cubicBezTo>
                    <a:cubicBezTo>
                      <a:pt x="749006" y="425746"/>
                      <a:pt x="804663" y="427888"/>
                      <a:pt x="863174" y="431457"/>
                    </a:cubicBezTo>
                    <a:cubicBezTo>
                      <a:pt x="871023" y="432171"/>
                      <a:pt x="878872" y="432884"/>
                      <a:pt x="886721" y="432884"/>
                    </a:cubicBezTo>
                    <a:cubicBezTo>
                      <a:pt x="897424" y="433598"/>
                      <a:pt x="908127" y="434312"/>
                      <a:pt x="918117" y="435026"/>
                    </a:cubicBezTo>
                    <a:cubicBezTo>
                      <a:pt x="926680" y="435739"/>
                      <a:pt x="935956" y="436453"/>
                      <a:pt x="944519" y="437167"/>
                    </a:cubicBezTo>
                    <a:cubicBezTo>
                      <a:pt x="945946" y="437167"/>
                      <a:pt x="948087" y="437167"/>
                      <a:pt x="950227" y="437167"/>
                    </a:cubicBezTo>
                    <a:cubicBezTo>
                      <a:pt x="960217" y="437881"/>
                      <a:pt x="970920" y="438595"/>
                      <a:pt x="980910" y="439308"/>
                    </a:cubicBezTo>
                    <a:cubicBezTo>
                      <a:pt x="980910" y="439308"/>
                      <a:pt x="981623" y="439308"/>
                      <a:pt x="981623" y="439308"/>
                    </a:cubicBezTo>
                    <a:cubicBezTo>
                      <a:pt x="983050" y="439308"/>
                      <a:pt x="985191" y="440022"/>
                      <a:pt x="986618" y="440022"/>
                    </a:cubicBezTo>
                    <a:cubicBezTo>
                      <a:pt x="988759" y="440022"/>
                      <a:pt x="990900" y="440022"/>
                      <a:pt x="993040" y="440022"/>
                    </a:cubicBezTo>
                    <a:cubicBezTo>
                      <a:pt x="996608" y="440736"/>
                      <a:pt x="1000176" y="440736"/>
                      <a:pt x="1003743" y="440736"/>
                    </a:cubicBezTo>
                    <a:cubicBezTo>
                      <a:pt x="1004457" y="440736"/>
                      <a:pt x="1004457" y="440736"/>
                      <a:pt x="1005171" y="440736"/>
                    </a:cubicBezTo>
                    <a:cubicBezTo>
                      <a:pt x="1005884" y="441450"/>
                      <a:pt x="1007311" y="441450"/>
                      <a:pt x="1008025" y="441450"/>
                    </a:cubicBezTo>
                    <a:cubicBezTo>
                      <a:pt x="1012306" y="441450"/>
                      <a:pt x="1015874" y="441450"/>
                      <a:pt x="1020155" y="442164"/>
                    </a:cubicBezTo>
                    <a:cubicBezTo>
                      <a:pt x="1020869" y="442164"/>
                      <a:pt x="1022296" y="442164"/>
                      <a:pt x="1023723" y="442164"/>
                    </a:cubicBezTo>
                    <a:cubicBezTo>
                      <a:pt x="1027291" y="442164"/>
                      <a:pt x="1031572" y="442877"/>
                      <a:pt x="1035853" y="442877"/>
                    </a:cubicBezTo>
                    <a:cubicBezTo>
                      <a:pt x="1036567" y="442877"/>
                      <a:pt x="1037994" y="442877"/>
                      <a:pt x="1038707" y="442877"/>
                    </a:cubicBezTo>
                    <a:cubicBezTo>
                      <a:pt x="1042989" y="443591"/>
                      <a:pt x="1047270" y="443591"/>
                      <a:pt x="1051551" y="443591"/>
                    </a:cubicBezTo>
                    <a:cubicBezTo>
                      <a:pt x="1052265" y="443591"/>
                      <a:pt x="1052978" y="443591"/>
                      <a:pt x="1053692" y="444305"/>
                    </a:cubicBezTo>
                    <a:cubicBezTo>
                      <a:pt x="1055119" y="444305"/>
                      <a:pt x="1057260" y="444305"/>
                      <a:pt x="1058687" y="444305"/>
                    </a:cubicBezTo>
                    <a:cubicBezTo>
                      <a:pt x="1061541" y="444305"/>
                      <a:pt x="1064395" y="444305"/>
                      <a:pt x="1067249" y="445019"/>
                    </a:cubicBezTo>
                    <a:cubicBezTo>
                      <a:pt x="1072244" y="445019"/>
                      <a:pt x="1076526" y="445019"/>
                      <a:pt x="1081520" y="445019"/>
                    </a:cubicBezTo>
                    <a:cubicBezTo>
                      <a:pt x="1081520" y="445019"/>
                      <a:pt x="1082234" y="445019"/>
                      <a:pt x="1082947" y="445733"/>
                    </a:cubicBezTo>
                    <a:cubicBezTo>
                      <a:pt x="1087229" y="445733"/>
                      <a:pt x="1091510" y="445733"/>
                      <a:pt x="1096505" y="445733"/>
                    </a:cubicBezTo>
                    <a:cubicBezTo>
                      <a:pt x="1096505" y="445733"/>
                      <a:pt x="1097218" y="445733"/>
                      <a:pt x="1097932" y="445733"/>
                    </a:cubicBezTo>
                    <a:cubicBezTo>
                      <a:pt x="1100073" y="446446"/>
                      <a:pt x="1102927" y="446446"/>
                      <a:pt x="1105068" y="446446"/>
                    </a:cubicBezTo>
                    <a:cubicBezTo>
                      <a:pt x="1107208" y="446446"/>
                      <a:pt x="1108635" y="446446"/>
                      <a:pt x="1110776" y="446446"/>
                    </a:cubicBezTo>
                    <a:cubicBezTo>
                      <a:pt x="1111489" y="446446"/>
                      <a:pt x="1112203" y="446446"/>
                      <a:pt x="1112917" y="446446"/>
                    </a:cubicBezTo>
                    <a:cubicBezTo>
                      <a:pt x="1117198" y="446446"/>
                      <a:pt x="1121479" y="446446"/>
                      <a:pt x="1125760" y="447160"/>
                    </a:cubicBezTo>
                    <a:cubicBezTo>
                      <a:pt x="1126474" y="447160"/>
                      <a:pt x="1126474" y="447160"/>
                      <a:pt x="1127188" y="447160"/>
                    </a:cubicBezTo>
                    <a:cubicBezTo>
                      <a:pt x="1131469" y="447160"/>
                      <a:pt x="1135750" y="447160"/>
                      <a:pt x="1140031" y="447160"/>
                    </a:cubicBezTo>
                    <a:cubicBezTo>
                      <a:pt x="1140745" y="447160"/>
                      <a:pt x="1141459" y="447160"/>
                      <a:pt x="1141459" y="447160"/>
                    </a:cubicBezTo>
                    <a:cubicBezTo>
                      <a:pt x="1145740" y="447160"/>
                      <a:pt x="1150021" y="447160"/>
                      <a:pt x="1154302" y="447160"/>
                    </a:cubicBezTo>
                    <a:cubicBezTo>
                      <a:pt x="1155016" y="447160"/>
                      <a:pt x="1155016" y="447160"/>
                      <a:pt x="1155730" y="447160"/>
                    </a:cubicBezTo>
                    <a:cubicBezTo>
                      <a:pt x="1160011" y="447160"/>
                      <a:pt x="1164292" y="447160"/>
                      <a:pt x="1168573" y="447160"/>
                    </a:cubicBezTo>
                    <a:cubicBezTo>
                      <a:pt x="1168573" y="447160"/>
                      <a:pt x="1168573" y="447160"/>
                      <a:pt x="1169287" y="447160"/>
                    </a:cubicBezTo>
                    <a:cubicBezTo>
                      <a:pt x="1177850" y="447160"/>
                      <a:pt x="1186412" y="447160"/>
                      <a:pt x="1194975" y="446446"/>
                    </a:cubicBezTo>
                    <a:cubicBezTo>
                      <a:pt x="1195688" y="446446"/>
                      <a:pt x="1195688" y="446446"/>
                      <a:pt x="1195688" y="446446"/>
                    </a:cubicBezTo>
                    <a:cubicBezTo>
                      <a:pt x="1199970" y="446446"/>
                      <a:pt x="1203537" y="446446"/>
                      <a:pt x="1207819" y="446446"/>
                    </a:cubicBezTo>
                    <a:cubicBezTo>
                      <a:pt x="1208532" y="446446"/>
                      <a:pt x="1208532" y="446446"/>
                      <a:pt x="1209246" y="446446"/>
                    </a:cubicBezTo>
                    <a:cubicBezTo>
                      <a:pt x="1212100" y="445733"/>
                      <a:pt x="1215668" y="445733"/>
                      <a:pt x="1219235" y="445733"/>
                    </a:cubicBezTo>
                    <a:cubicBezTo>
                      <a:pt x="1219235" y="445733"/>
                      <a:pt x="1219949" y="445733"/>
                      <a:pt x="1220663" y="445733"/>
                    </a:cubicBezTo>
                    <a:cubicBezTo>
                      <a:pt x="1220663" y="445733"/>
                      <a:pt x="1221376" y="445733"/>
                      <a:pt x="1222090" y="445733"/>
                    </a:cubicBezTo>
                    <a:cubicBezTo>
                      <a:pt x="1225657" y="445019"/>
                      <a:pt x="1229225" y="445019"/>
                      <a:pt x="1232793" y="445019"/>
                    </a:cubicBezTo>
                    <a:cubicBezTo>
                      <a:pt x="1233506" y="445019"/>
                      <a:pt x="1233506" y="444305"/>
                      <a:pt x="1234220" y="444305"/>
                    </a:cubicBezTo>
                    <a:cubicBezTo>
                      <a:pt x="1237788" y="444305"/>
                      <a:pt x="1241356" y="444305"/>
                      <a:pt x="1244923" y="443591"/>
                    </a:cubicBezTo>
                    <a:cubicBezTo>
                      <a:pt x="1245637" y="443591"/>
                      <a:pt x="1245637" y="443591"/>
                      <a:pt x="1246350" y="443591"/>
                    </a:cubicBezTo>
                    <a:cubicBezTo>
                      <a:pt x="1249918" y="442877"/>
                      <a:pt x="1253486" y="442877"/>
                      <a:pt x="1257054" y="442164"/>
                    </a:cubicBezTo>
                    <a:cubicBezTo>
                      <a:pt x="1257054" y="442164"/>
                      <a:pt x="1257054" y="442164"/>
                      <a:pt x="1257767" y="442164"/>
                    </a:cubicBezTo>
                    <a:cubicBezTo>
                      <a:pt x="1258481" y="442164"/>
                      <a:pt x="1259194" y="442164"/>
                      <a:pt x="1259908" y="442164"/>
                    </a:cubicBezTo>
                    <a:cubicBezTo>
                      <a:pt x="1262762" y="441450"/>
                      <a:pt x="1265616" y="441450"/>
                      <a:pt x="1267757" y="440736"/>
                    </a:cubicBezTo>
                    <a:cubicBezTo>
                      <a:pt x="1268470" y="440736"/>
                      <a:pt x="1268470" y="440736"/>
                      <a:pt x="1268470" y="440736"/>
                    </a:cubicBezTo>
                    <a:cubicBezTo>
                      <a:pt x="1275606" y="439308"/>
                      <a:pt x="1282028" y="438595"/>
                      <a:pt x="1288450" y="437167"/>
                    </a:cubicBezTo>
                    <a:cubicBezTo>
                      <a:pt x="1289163" y="437167"/>
                      <a:pt x="1289163" y="437167"/>
                      <a:pt x="1289163" y="437167"/>
                    </a:cubicBezTo>
                    <a:cubicBezTo>
                      <a:pt x="1292731" y="436453"/>
                      <a:pt x="1295585" y="435739"/>
                      <a:pt x="1298439" y="435026"/>
                    </a:cubicBezTo>
                    <a:cubicBezTo>
                      <a:pt x="1298439" y="434312"/>
                      <a:pt x="1299153" y="434312"/>
                      <a:pt x="1299153" y="434312"/>
                    </a:cubicBezTo>
                    <a:cubicBezTo>
                      <a:pt x="1302007" y="433598"/>
                      <a:pt x="1304861" y="432884"/>
                      <a:pt x="1307716" y="432171"/>
                    </a:cubicBezTo>
                    <a:cubicBezTo>
                      <a:pt x="1308429" y="432171"/>
                      <a:pt x="1308429" y="432171"/>
                      <a:pt x="1309143" y="432171"/>
                    </a:cubicBezTo>
                    <a:cubicBezTo>
                      <a:pt x="1311283" y="430743"/>
                      <a:pt x="1314138" y="430029"/>
                      <a:pt x="1316992" y="429315"/>
                    </a:cubicBezTo>
                    <a:cubicBezTo>
                      <a:pt x="1316992" y="429315"/>
                      <a:pt x="1317705" y="429315"/>
                      <a:pt x="1317705" y="428602"/>
                    </a:cubicBezTo>
                    <a:cubicBezTo>
                      <a:pt x="1320560" y="427888"/>
                      <a:pt x="1322700" y="427174"/>
                      <a:pt x="1324841" y="426460"/>
                    </a:cubicBezTo>
                    <a:cubicBezTo>
                      <a:pt x="1325554" y="425746"/>
                      <a:pt x="1325554" y="425746"/>
                      <a:pt x="1326268" y="425746"/>
                    </a:cubicBezTo>
                    <a:cubicBezTo>
                      <a:pt x="1328409" y="425033"/>
                      <a:pt x="1330549" y="423605"/>
                      <a:pt x="1333403" y="422891"/>
                    </a:cubicBezTo>
                    <a:cubicBezTo>
                      <a:pt x="1333403" y="422891"/>
                      <a:pt x="1333403" y="422177"/>
                      <a:pt x="1333403" y="422177"/>
                    </a:cubicBezTo>
                    <a:cubicBezTo>
                      <a:pt x="1336258" y="421464"/>
                      <a:pt x="1338398" y="420036"/>
                      <a:pt x="1340539" y="418608"/>
                    </a:cubicBezTo>
                    <a:cubicBezTo>
                      <a:pt x="1342680" y="417181"/>
                      <a:pt x="1344820" y="416467"/>
                      <a:pt x="1346961" y="415039"/>
                    </a:cubicBezTo>
                    <a:cubicBezTo>
                      <a:pt x="1351956" y="411470"/>
                      <a:pt x="1355523" y="408615"/>
                      <a:pt x="1359091" y="405046"/>
                    </a:cubicBezTo>
                    <a:cubicBezTo>
                      <a:pt x="1362302" y="401834"/>
                      <a:pt x="1366405" y="400228"/>
                      <a:pt x="1370508" y="400228"/>
                    </a:cubicBezTo>
                    <a:close/>
                    <a:moveTo>
                      <a:pt x="971731" y="0"/>
                    </a:moveTo>
                    <a:cubicBezTo>
                      <a:pt x="975797" y="0"/>
                      <a:pt x="979773" y="1428"/>
                      <a:pt x="982664" y="4284"/>
                    </a:cubicBezTo>
                    <a:cubicBezTo>
                      <a:pt x="989170" y="10709"/>
                      <a:pt x="989170" y="20705"/>
                      <a:pt x="982664" y="27130"/>
                    </a:cubicBezTo>
                    <a:cubicBezTo>
                      <a:pt x="979050" y="30700"/>
                      <a:pt x="976158" y="34270"/>
                      <a:pt x="972544" y="39268"/>
                    </a:cubicBezTo>
                    <a:cubicBezTo>
                      <a:pt x="971098" y="41409"/>
                      <a:pt x="970375" y="43551"/>
                      <a:pt x="968929" y="45693"/>
                    </a:cubicBezTo>
                    <a:cubicBezTo>
                      <a:pt x="967484" y="47835"/>
                      <a:pt x="966038" y="49977"/>
                      <a:pt x="965315" y="52833"/>
                    </a:cubicBezTo>
                    <a:cubicBezTo>
                      <a:pt x="965315" y="52833"/>
                      <a:pt x="964592" y="52833"/>
                      <a:pt x="964592" y="52833"/>
                    </a:cubicBezTo>
                    <a:cubicBezTo>
                      <a:pt x="963869" y="55689"/>
                      <a:pt x="962424" y="57830"/>
                      <a:pt x="961701" y="59972"/>
                    </a:cubicBezTo>
                    <a:cubicBezTo>
                      <a:pt x="961701" y="60686"/>
                      <a:pt x="961701" y="60686"/>
                      <a:pt x="960978" y="61400"/>
                    </a:cubicBezTo>
                    <a:cubicBezTo>
                      <a:pt x="960255" y="63542"/>
                      <a:pt x="959532" y="65684"/>
                      <a:pt x="958809" y="68540"/>
                    </a:cubicBezTo>
                    <a:cubicBezTo>
                      <a:pt x="958086" y="68540"/>
                      <a:pt x="958086" y="69254"/>
                      <a:pt x="958086" y="69254"/>
                    </a:cubicBezTo>
                    <a:cubicBezTo>
                      <a:pt x="957363" y="72110"/>
                      <a:pt x="956640" y="74965"/>
                      <a:pt x="955195" y="77107"/>
                    </a:cubicBezTo>
                    <a:cubicBezTo>
                      <a:pt x="955195" y="77821"/>
                      <a:pt x="955195" y="77821"/>
                      <a:pt x="955195" y="78535"/>
                    </a:cubicBezTo>
                    <a:cubicBezTo>
                      <a:pt x="954472" y="81391"/>
                      <a:pt x="953749" y="84247"/>
                      <a:pt x="953026" y="87103"/>
                    </a:cubicBezTo>
                    <a:cubicBezTo>
                      <a:pt x="953026" y="87103"/>
                      <a:pt x="953026" y="87817"/>
                      <a:pt x="952303" y="87817"/>
                    </a:cubicBezTo>
                    <a:cubicBezTo>
                      <a:pt x="951580" y="90672"/>
                      <a:pt x="950857" y="93528"/>
                      <a:pt x="950135" y="97098"/>
                    </a:cubicBezTo>
                    <a:cubicBezTo>
                      <a:pt x="950135" y="97098"/>
                      <a:pt x="950135" y="97098"/>
                      <a:pt x="950135" y="97812"/>
                    </a:cubicBezTo>
                    <a:cubicBezTo>
                      <a:pt x="948689" y="104238"/>
                      <a:pt x="947966" y="110663"/>
                      <a:pt x="946520" y="117803"/>
                    </a:cubicBezTo>
                    <a:cubicBezTo>
                      <a:pt x="946520" y="117803"/>
                      <a:pt x="946520" y="117803"/>
                      <a:pt x="946520" y="118517"/>
                    </a:cubicBezTo>
                    <a:cubicBezTo>
                      <a:pt x="945797" y="120659"/>
                      <a:pt x="945797" y="123514"/>
                      <a:pt x="945074" y="126370"/>
                    </a:cubicBezTo>
                    <a:cubicBezTo>
                      <a:pt x="945074" y="127084"/>
                      <a:pt x="945074" y="127798"/>
                      <a:pt x="945074" y="128512"/>
                    </a:cubicBezTo>
                    <a:cubicBezTo>
                      <a:pt x="945074" y="129226"/>
                      <a:pt x="945074" y="129226"/>
                      <a:pt x="945074" y="129940"/>
                    </a:cubicBezTo>
                    <a:cubicBezTo>
                      <a:pt x="944351" y="132796"/>
                      <a:pt x="944351" y="136366"/>
                      <a:pt x="943629" y="139935"/>
                    </a:cubicBezTo>
                    <a:cubicBezTo>
                      <a:pt x="943629" y="140649"/>
                      <a:pt x="943629" y="140649"/>
                      <a:pt x="943629" y="141363"/>
                    </a:cubicBezTo>
                    <a:cubicBezTo>
                      <a:pt x="942906" y="144933"/>
                      <a:pt x="942906" y="148503"/>
                      <a:pt x="942906" y="152073"/>
                    </a:cubicBezTo>
                    <a:cubicBezTo>
                      <a:pt x="942906" y="152787"/>
                      <a:pt x="942183" y="152787"/>
                      <a:pt x="942183" y="153501"/>
                    </a:cubicBezTo>
                    <a:cubicBezTo>
                      <a:pt x="942183" y="157070"/>
                      <a:pt x="942183" y="160640"/>
                      <a:pt x="941460" y="164210"/>
                    </a:cubicBezTo>
                    <a:cubicBezTo>
                      <a:pt x="941460" y="164924"/>
                      <a:pt x="941460" y="165638"/>
                      <a:pt x="941460" y="165638"/>
                    </a:cubicBezTo>
                    <a:cubicBezTo>
                      <a:pt x="941460" y="166352"/>
                      <a:pt x="941460" y="167066"/>
                      <a:pt x="941460" y="167066"/>
                    </a:cubicBezTo>
                    <a:cubicBezTo>
                      <a:pt x="941460" y="170636"/>
                      <a:pt x="941460" y="174205"/>
                      <a:pt x="940737" y="177061"/>
                    </a:cubicBezTo>
                    <a:cubicBezTo>
                      <a:pt x="940737" y="177775"/>
                      <a:pt x="940737" y="178489"/>
                      <a:pt x="940737" y="178489"/>
                    </a:cubicBezTo>
                    <a:cubicBezTo>
                      <a:pt x="940737" y="182773"/>
                      <a:pt x="940737" y="186343"/>
                      <a:pt x="940737" y="190626"/>
                    </a:cubicBezTo>
                    <a:cubicBezTo>
                      <a:pt x="940737" y="190626"/>
                      <a:pt x="940737" y="191340"/>
                      <a:pt x="940737" y="191340"/>
                    </a:cubicBezTo>
                    <a:cubicBezTo>
                      <a:pt x="940014" y="199908"/>
                      <a:pt x="940014" y="208475"/>
                      <a:pt x="940014" y="217043"/>
                    </a:cubicBezTo>
                    <a:cubicBezTo>
                      <a:pt x="940014" y="217757"/>
                      <a:pt x="940014" y="217757"/>
                      <a:pt x="940014" y="217757"/>
                    </a:cubicBezTo>
                    <a:cubicBezTo>
                      <a:pt x="940014" y="222040"/>
                      <a:pt x="940014" y="226324"/>
                      <a:pt x="940014" y="230608"/>
                    </a:cubicBezTo>
                    <a:cubicBezTo>
                      <a:pt x="940014" y="231322"/>
                      <a:pt x="940014" y="231322"/>
                      <a:pt x="940014" y="232036"/>
                    </a:cubicBezTo>
                    <a:cubicBezTo>
                      <a:pt x="940014" y="236319"/>
                      <a:pt x="940014" y="240603"/>
                      <a:pt x="940014" y="244887"/>
                    </a:cubicBezTo>
                    <a:cubicBezTo>
                      <a:pt x="940014" y="244887"/>
                      <a:pt x="940014" y="245601"/>
                      <a:pt x="940014" y="246315"/>
                    </a:cubicBezTo>
                    <a:cubicBezTo>
                      <a:pt x="940014" y="250599"/>
                      <a:pt x="940014" y="254882"/>
                      <a:pt x="940014" y="259166"/>
                    </a:cubicBezTo>
                    <a:cubicBezTo>
                      <a:pt x="940014" y="259880"/>
                      <a:pt x="940014" y="259880"/>
                      <a:pt x="940014" y="260594"/>
                    </a:cubicBezTo>
                    <a:cubicBezTo>
                      <a:pt x="940737" y="264878"/>
                      <a:pt x="940737" y="269161"/>
                      <a:pt x="940737" y="273445"/>
                    </a:cubicBezTo>
                    <a:cubicBezTo>
                      <a:pt x="940737" y="274159"/>
                      <a:pt x="940737" y="274873"/>
                      <a:pt x="940737" y="275587"/>
                    </a:cubicBezTo>
                    <a:cubicBezTo>
                      <a:pt x="940737" y="277015"/>
                      <a:pt x="940737" y="279157"/>
                      <a:pt x="940737" y="281299"/>
                    </a:cubicBezTo>
                    <a:cubicBezTo>
                      <a:pt x="940737" y="283441"/>
                      <a:pt x="940737" y="286296"/>
                      <a:pt x="941460" y="288438"/>
                    </a:cubicBezTo>
                    <a:cubicBezTo>
                      <a:pt x="941460" y="289152"/>
                      <a:pt x="941460" y="289866"/>
                      <a:pt x="941460" y="289866"/>
                    </a:cubicBezTo>
                    <a:cubicBezTo>
                      <a:pt x="941460" y="294864"/>
                      <a:pt x="941460" y="299148"/>
                      <a:pt x="941460" y="303431"/>
                    </a:cubicBezTo>
                    <a:cubicBezTo>
                      <a:pt x="942183" y="304145"/>
                      <a:pt x="942183" y="304145"/>
                      <a:pt x="942183" y="304859"/>
                    </a:cubicBezTo>
                    <a:cubicBezTo>
                      <a:pt x="942183" y="311999"/>
                      <a:pt x="942906" y="319852"/>
                      <a:pt x="942906" y="327706"/>
                    </a:cubicBezTo>
                    <a:cubicBezTo>
                      <a:pt x="942906" y="329848"/>
                      <a:pt x="942906" y="331990"/>
                      <a:pt x="943629" y="333417"/>
                    </a:cubicBezTo>
                    <a:cubicBezTo>
                      <a:pt x="943629" y="334131"/>
                      <a:pt x="943629" y="334131"/>
                      <a:pt x="943629" y="334131"/>
                    </a:cubicBezTo>
                    <a:cubicBezTo>
                      <a:pt x="943629" y="339129"/>
                      <a:pt x="943629" y="344127"/>
                      <a:pt x="944351" y="348411"/>
                    </a:cubicBezTo>
                    <a:cubicBezTo>
                      <a:pt x="944351" y="349124"/>
                      <a:pt x="944351" y="349838"/>
                      <a:pt x="944351" y="349838"/>
                    </a:cubicBezTo>
                    <a:cubicBezTo>
                      <a:pt x="944351" y="354836"/>
                      <a:pt x="945074" y="359120"/>
                      <a:pt x="945074" y="363404"/>
                    </a:cubicBezTo>
                    <a:cubicBezTo>
                      <a:pt x="945074" y="364118"/>
                      <a:pt x="945074" y="364832"/>
                      <a:pt x="945074" y="365545"/>
                    </a:cubicBezTo>
                    <a:cubicBezTo>
                      <a:pt x="945797" y="370543"/>
                      <a:pt x="945797" y="374827"/>
                      <a:pt x="945797" y="379111"/>
                    </a:cubicBezTo>
                    <a:cubicBezTo>
                      <a:pt x="945797" y="379825"/>
                      <a:pt x="945797" y="380539"/>
                      <a:pt x="946520" y="381253"/>
                    </a:cubicBezTo>
                    <a:cubicBezTo>
                      <a:pt x="946520" y="386250"/>
                      <a:pt x="946520" y="390534"/>
                      <a:pt x="947243" y="394818"/>
                    </a:cubicBezTo>
                    <a:cubicBezTo>
                      <a:pt x="947243" y="395532"/>
                      <a:pt x="947243" y="396246"/>
                      <a:pt x="947243" y="396960"/>
                    </a:cubicBezTo>
                    <a:cubicBezTo>
                      <a:pt x="947243" y="399101"/>
                      <a:pt x="947243" y="401243"/>
                      <a:pt x="947966" y="403385"/>
                    </a:cubicBezTo>
                    <a:cubicBezTo>
                      <a:pt x="947243" y="403385"/>
                      <a:pt x="946520" y="403385"/>
                      <a:pt x="946520" y="403385"/>
                    </a:cubicBezTo>
                    <a:cubicBezTo>
                      <a:pt x="936400" y="402671"/>
                      <a:pt x="925556" y="401957"/>
                      <a:pt x="915436" y="401243"/>
                    </a:cubicBezTo>
                    <a:cubicBezTo>
                      <a:pt x="915436" y="399101"/>
                      <a:pt x="915436" y="397673"/>
                      <a:pt x="915436" y="395532"/>
                    </a:cubicBezTo>
                    <a:cubicBezTo>
                      <a:pt x="915436" y="394818"/>
                      <a:pt x="915436" y="393390"/>
                      <a:pt x="914713" y="392676"/>
                    </a:cubicBezTo>
                    <a:cubicBezTo>
                      <a:pt x="914713" y="387678"/>
                      <a:pt x="914713" y="383394"/>
                      <a:pt x="913990" y="378397"/>
                    </a:cubicBezTo>
                    <a:cubicBezTo>
                      <a:pt x="913990" y="377683"/>
                      <a:pt x="913990" y="376969"/>
                      <a:pt x="913990" y="375541"/>
                    </a:cubicBezTo>
                    <a:cubicBezTo>
                      <a:pt x="913990" y="371257"/>
                      <a:pt x="913267" y="366259"/>
                      <a:pt x="913267" y="361976"/>
                    </a:cubicBezTo>
                    <a:cubicBezTo>
                      <a:pt x="913267" y="360548"/>
                      <a:pt x="913267" y="359834"/>
                      <a:pt x="912545" y="359120"/>
                    </a:cubicBezTo>
                    <a:cubicBezTo>
                      <a:pt x="912545" y="354122"/>
                      <a:pt x="912545" y="349838"/>
                      <a:pt x="911822" y="344841"/>
                    </a:cubicBezTo>
                    <a:cubicBezTo>
                      <a:pt x="911822" y="344127"/>
                      <a:pt x="911822" y="343413"/>
                      <a:pt x="911822" y="342699"/>
                    </a:cubicBezTo>
                    <a:cubicBezTo>
                      <a:pt x="911822" y="337701"/>
                      <a:pt x="911099" y="333417"/>
                      <a:pt x="911099" y="328420"/>
                    </a:cubicBezTo>
                    <a:cubicBezTo>
                      <a:pt x="911099" y="327706"/>
                      <a:pt x="911099" y="326992"/>
                      <a:pt x="911099" y="326278"/>
                    </a:cubicBezTo>
                    <a:cubicBezTo>
                      <a:pt x="911099" y="321994"/>
                      <a:pt x="910376" y="316996"/>
                      <a:pt x="910376" y="311999"/>
                    </a:cubicBezTo>
                    <a:cubicBezTo>
                      <a:pt x="910376" y="311285"/>
                      <a:pt x="910376" y="311285"/>
                      <a:pt x="910376" y="310571"/>
                    </a:cubicBezTo>
                    <a:cubicBezTo>
                      <a:pt x="910376" y="305573"/>
                      <a:pt x="909653" y="300575"/>
                      <a:pt x="909653" y="295578"/>
                    </a:cubicBezTo>
                    <a:cubicBezTo>
                      <a:pt x="909653" y="290580"/>
                      <a:pt x="908930" y="285582"/>
                      <a:pt x="908930" y="280585"/>
                    </a:cubicBezTo>
                    <a:cubicBezTo>
                      <a:pt x="908930" y="279871"/>
                      <a:pt x="908930" y="279871"/>
                      <a:pt x="908930" y="279871"/>
                    </a:cubicBezTo>
                    <a:cubicBezTo>
                      <a:pt x="908930" y="274873"/>
                      <a:pt x="908930" y="269875"/>
                      <a:pt x="908930" y="265592"/>
                    </a:cubicBezTo>
                    <a:cubicBezTo>
                      <a:pt x="908207" y="264878"/>
                      <a:pt x="908207" y="264164"/>
                      <a:pt x="908207" y="264164"/>
                    </a:cubicBezTo>
                    <a:cubicBezTo>
                      <a:pt x="908207" y="259166"/>
                      <a:pt x="908207" y="254882"/>
                      <a:pt x="908207" y="249885"/>
                    </a:cubicBezTo>
                    <a:cubicBezTo>
                      <a:pt x="908207" y="249885"/>
                      <a:pt x="908207" y="249171"/>
                      <a:pt x="908207" y="248457"/>
                    </a:cubicBezTo>
                    <a:cubicBezTo>
                      <a:pt x="908207" y="244173"/>
                      <a:pt x="908207" y="239175"/>
                      <a:pt x="908207" y="234892"/>
                    </a:cubicBezTo>
                    <a:cubicBezTo>
                      <a:pt x="908207" y="234178"/>
                      <a:pt x="908207" y="233464"/>
                      <a:pt x="908207" y="233464"/>
                    </a:cubicBezTo>
                    <a:cubicBezTo>
                      <a:pt x="908207" y="228466"/>
                      <a:pt x="908207" y="224182"/>
                      <a:pt x="908207" y="219898"/>
                    </a:cubicBezTo>
                    <a:cubicBezTo>
                      <a:pt x="908207" y="219898"/>
                      <a:pt x="908207" y="219185"/>
                      <a:pt x="908207" y="218471"/>
                    </a:cubicBezTo>
                    <a:cubicBezTo>
                      <a:pt x="908207" y="214187"/>
                      <a:pt x="908207" y="209903"/>
                      <a:pt x="908207" y="205619"/>
                    </a:cubicBezTo>
                    <a:cubicBezTo>
                      <a:pt x="908207" y="204905"/>
                      <a:pt x="908207" y="204191"/>
                      <a:pt x="908207" y="203477"/>
                    </a:cubicBezTo>
                    <a:cubicBezTo>
                      <a:pt x="908207" y="199194"/>
                      <a:pt x="908207" y="195624"/>
                      <a:pt x="908207" y="191340"/>
                    </a:cubicBezTo>
                    <a:cubicBezTo>
                      <a:pt x="908930" y="190626"/>
                      <a:pt x="908930" y="189912"/>
                      <a:pt x="908930" y="189912"/>
                    </a:cubicBezTo>
                    <a:cubicBezTo>
                      <a:pt x="908930" y="185629"/>
                      <a:pt x="908930" y="181345"/>
                      <a:pt x="908930" y="177061"/>
                    </a:cubicBezTo>
                    <a:cubicBezTo>
                      <a:pt x="908930" y="176347"/>
                      <a:pt x="908930" y="176347"/>
                      <a:pt x="908930" y="175633"/>
                    </a:cubicBezTo>
                    <a:cubicBezTo>
                      <a:pt x="909653" y="171349"/>
                      <a:pt x="909653" y="167066"/>
                      <a:pt x="909653" y="163496"/>
                    </a:cubicBezTo>
                    <a:cubicBezTo>
                      <a:pt x="909653" y="162782"/>
                      <a:pt x="909653" y="162782"/>
                      <a:pt x="909653" y="162782"/>
                    </a:cubicBezTo>
                    <a:cubicBezTo>
                      <a:pt x="910376" y="158498"/>
                      <a:pt x="910376" y="154215"/>
                      <a:pt x="911099" y="150645"/>
                    </a:cubicBezTo>
                    <a:cubicBezTo>
                      <a:pt x="911099" y="149931"/>
                      <a:pt x="911099" y="149931"/>
                      <a:pt x="911099" y="149931"/>
                    </a:cubicBezTo>
                    <a:cubicBezTo>
                      <a:pt x="911099" y="145647"/>
                      <a:pt x="911822" y="141363"/>
                      <a:pt x="911822" y="137794"/>
                    </a:cubicBezTo>
                    <a:cubicBezTo>
                      <a:pt x="911822" y="137080"/>
                      <a:pt x="911822" y="137080"/>
                      <a:pt x="912545" y="136366"/>
                    </a:cubicBezTo>
                    <a:cubicBezTo>
                      <a:pt x="912545" y="132796"/>
                      <a:pt x="913267" y="129226"/>
                      <a:pt x="913267" y="125656"/>
                    </a:cubicBezTo>
                    <a:cubicBezTo>
                      <a:pt x="913267" y="124942"/>
                      <a:pt x="913990" y="124228"/>
                      <a:pt x="913990" y="124228"/>
                    </a:cubicBezTo>
                    <a:cubicBezTo>
                      <a:pt x="913990" y="120659"/>
                      <a:pt x="914713" y="117089"/>
                      <a:pt x="915436" y="113519"/>
                    </a:cubicBezTo>
                    <a:cubicBezTo>
                      <a:pt x="915436" y="112805"/>
                      <a:pt x="915436" y="112091"/>
                      <a:pt x="915436" y="111377"/>
                    </a:cubicBezTo>
                    <a:cubicBezTo>
                      <a:pt x="916159" y="108521"/>
                      <a:pt x="916882" y="104952"/>
                      <a:pt x="917605" y="101382"/>
                    </a:cubicBezTo>
                    <a:cubicBezTo>
                      <a:pt x="917605" y="100668"/>
                      <a:pt x="917605" y="100668"/>
                      <a:pt x="917605" y="99954"/>
                    </a:cubicBezTo>
                    <a:cubicBezTo>
                      <a:pt x="918328" y="96384"/>
                      <a:pt x="919051" y="93528"/>
                      <a:pt x="919773" y="89958"/>
                    </a:cubicBezTo>
                    <a:cubicBezTo>
                      <a:pt x="919773" y="89958"/>
                      <a:pt x="919773" y="89245"/>
                      <a:pt x="919773" y="88531"/>
                    </a:cubicBezTo>
                    <a:cubicBezTo>
                      <a:pt x="920496" y="85675"/>
                      <a:pt x="921219" y="82105"/>
                      <a:pt x="921942" y="79249"/>
                    </a:cubicBezTo>
                    <a:cubicBezTo>
                      <a:pt x="922665" y="78535"/>
                      <a:pt x="922665" y="78535"/>
                      <a:pt x="922665" y="77821"/>
                    </a:cubicBezTo>
                    <a:cubicBezTo>
                      <a:pt x="923388" y="74965"/>
                      <a:pt x="924111" y="71396"/>
                      <a:pt x="924834" y="68540"/>
                    </a:cubicBezTo>
                    <a:cubicBezTo>
                      <a:pt x="925556" y="68540"/>
                      <a:pt x="925556" y="67826"/>
                      <a:pt x="925556" y="67826"/>
                    </a:cubicBezTo>
                    <a:cubicBezTo>
                      <a:pt x="926279" y="64256"/>
                      <a:pt x="927725" y="61400"/>
                      <a:pt x="928448" y="58544"/>
                    </a:cubicBezTo>
                    <a:cubicBezTo>
                      <a:pt x="928448" y="58544"/>
                      <a:pt x="928448" y="58544"/>
                      <a:pt x="928448" y="57830"/>
                    </a:cubicBezTo>
                    <a:cubicBezTo>
                      <a:pt x="929894" y="54975"/>
                      <a:pt x="930617" y="52119"/>
                      <a:pt x="932062" y="49263"/>
                    </a:cubicBezTo>
                    <a:cubicBezTo>
                      <a:pt x="932062" y="49263"/>
                      <a:pt x="932062" y="49263"/>
                      <a:pt x="932062" y="48549"/>
                    </a:cubicBezTo>
                    <a:cubicBezTo>
                      <a:pt x="933508" y="46407"/>
                      <a:pt x="934231" y="43551"/>
                      <a:pt x="935677" y="40696"/>
                    </a:cubicBezTo>
                    <a:cubicBezTo>
                      <a:pt x="935677" y="40696"/>
                      <a:pt x="936400" y="39982"/>
                      <a:pt x="936400" y="39982"/>
                    </a:cubicBezTo>
                    <a:cubicBezTo>
                      <a:pt x="937123" y="37126"/>
                      <a:pt x="938568" y="34984"/>
                      <a:pt x="940014" y="32128"/>
                    </a:cubicBezTo>
                    <a:cubicBezTo>
                      <a:pt x="940014" y="32128"/>
                      <a:pt x="940737" y="31414"/>
                      <a:pt x="940737" y="31414"/>
                    </a:cubicBezTo>
                    <a:cubicBezTo>
                      <a:pt x="942183" y="29272"/>
                      <a:pt x="942906" y="26416"/>
                      <a:pt x="944351" y="24275"/>
                    </a:cubicBezTo>
                    <a:cubicBezTo>
                      <a:pt x="945074" y="24275"/>
                      <a:pt x="945074" y="23561"/>
                      <a:pt x="945074" y="23561"/>
                    </a:cubicBezTo>
                    <a:cubicBezTo>
                      <a:pt x="946520" y="21419"/>
                      <a:pt x="947966" y="19277"/>
                      <a:pt x="949412" y="17135"/>
                    </a:cubicBezTo>
                    <a:cubicBezTo>
                      <a:pt x="950135" y="17135"/>
                      <a:pt x="950135" y="16421"/>
                      <a:pt x="950135" y="16421"/>
                    </a:cubicBezTo>
                    <a:cubicBezTo>
                      <a:pt x="953026" y="12137"/>
                      <a:pt x="956640" y="8568"/>
                      <a:pt x="960255" y="4284"/>
                    </a:cubicBezTo>
                    <a:cubicBezTo>
                      <a:pt x="963508" y="1428"/>
                      <a:pt x="967664" y="0"/>
                      <a:pt x="971731"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t" anchorCtr="0" compatLnSpc="1">
                <a:prstTxWarp prst="textNoShape">
                  <a:avLst/>
                </a:prstTxWarp>
                <a:noAutofit/>
              </a:bodyPr>
              <a:lstStyle/>
              <a:p>
                <a:endParaRPr lang="en-US" sz="1559">
                  <a:sym typeface="+mn-lt"/>
                </a:endParaRPr>
              </a:p>
            </p:txBody>
          </p:sp>
        </p:grpSp>
      </p:grpSp>
      <p:cxnSp>
        <p:nvCxnSpPr>
          <p:cNvPr id="153" name="Straight Connector 152">
            <a:extLst>
              <a:ext uri="{FF2B5EF4-FFF2-40B4-BE49-F238E27FC236}">
                <a16:creationId xmlns:a16="http://schemas.microsoft.com/office/drawing/2014/main" id="{713DE2FA-3D62-4E46-8F82-3CAC802589DF}"/>
              </a:ext>
            </a:extLst>
          </p:cNvPr>
          <p:cNvCxnSpPr>
            <a:cxnSpLocks/>
          </p:cNvCxnSpPr>
          <p:nvPr/>
        </p:nvCxnSpPr>
        <p:spPr>
          <a:xfrm>
            <a:off x="628650" y="2389963"/>
            <a:ext cx="10934700" cy="0"/>
          </a:xfrm>
          <a:prstGeom prst="line">
            <a:avLst/>
          </a:prstGeom>
          <a:ln w="12700" cap="rnd" cmpd="sng" algn="ctr">
            <a:solidFill>
              <a:srgbClr val="9A9A9A"/>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4D9A7DB7-AAEB-4DB8-9261-CD36848967A3}"/>
              </a:ext>
            </a:extLst>
          </p:cNvPr>
          <p:cNvCxnSpPr>
            <a:cxnSpLocks/>
          </p:cNvCxnSpPr>
          <p:nvPr/>
        </p:nvCxnSpPr>
        <p:spPr>
          <a:xfrm>
            <a:off x="628650" y="2932427"/>
            <a:ext cx="10934700" cy="0"/>
          </a:xfrm>
          <a:prstGeom prst="line">
            <a:avLst/>
          </a:prstGeom>
          <a:ln w="12700" cap="rnd" cmpd="sng" algn="ctr">
            <a:solidFill>
              <a:srgbClr val="9A9A9A"/>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7A479B02-16DD-4735-932E-B302E9D8A27E}"/>
              </a:ext>
            </a:extLst>
          </p:cNvPr>
          <p:cNvCxnSpPr>
            <a:cxnSpLocks/>
          </p:cNvCxnSpPr>
          <p:nvPr/>
        </p:nvCxnSpPr>
        <p:spPr>
          <a:xfrm>
            <a:off x="628650" y="3891768"/>
            <a:ext cx="10934700" cy="0"/>
          </a:xfrm>
          <a:prstGeom prst="line">
            <a:avLst/>
          </a:prstGeom>
          <a:ln w="12700" cap="rnd" cmpd="sng" algn="ctr">
            <a:solidFill>
              <a:srgbClr val="9A9A9A"/>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F52377C6-2967-45E3-AF23-5BB2DB6E25C6}"/>
              </a:ext>
            </a:extLst>
          </p:cNvPr>
          <p:cNvCxnSpPr>
            <a:cxnSpLocks/>
          </p:cNvCxnSpPr>
          <p:nvPr/>
        </p:nvCxnSpPr>
        <p:spPr>
          <a:xfrm>
            <a:off x="628650" y="4555729"/>
            <a:ext cx="10934700" cy="0"/>
          </a:xfrm>
          <a:prstGeom prst="line">
            <a:avLst/>
          </a:prstGeom>
          <a:ln w="12700" cap="rnd" cmpd="sng" algn="ctr">
            <a:solidFill>
              <a:srgbClr val="9A9A9A"/>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E3D0D7C7-1559-46D4-B183-D575652A60BA}"/>
              </a:ext>
            </a:extLst>
          </p:cNvPr>
          <p:cNvCxnSpPr>
            <a:cxnSpLocks/>
          </p:cNvCxnSpPr>
          <p:nvPr/>
        </p:nvCxnSpPr>
        <p:spPr>
          <a:xfrm>
            <a:off x="628650" y="5219690"/>
            <a:ext cx="10934700" cy="0"/>
          </a:xfrm>
          <a:prstGeom prst="line">
            <a:avLst/>
          </a:prstGeom>
          <a:ln w="12700" cap="rnd" cmpd="sng" algn="ctr">
            <a:solidFill>
              <a:srgbClr val="9A9A9A"/>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8" name="ee4pContent1">
            <a:extLst>
              <a:ext uri="{FF2B5EF4-FFF2-40B4-BE49-F238E27FC236}">
                <a16:creationId xmlns:a16="http://schemas.microsoft.com/office/drawing/2014/main" id="{230DBE98-218F-4310-9166-6D4DC3E8FB8F}"/>
              </a:ext>
            </a:extLst>
          </p:cNvPr>
          <p:cNvSpPr txBox="1"/>
          <p:nvPr/>
        </p:nvSpPr>
        <p:spPr>
          <a:xfrm>
            <a:off x="2620943" y="2426563"/>
            <a:ext cx="3887344" cy="461665"/>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no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lvl="1">
              <a:buClr>
                <a:schemeClr val="tx2">
                  <a:lumMod val="100000"/>
                </a:schemeClr>
              </a:buClr>
            </a:pPr>
            <a:r>
              <a:rPr lang="en-US" sz="1000">
                <a:solidFill>
                  <a:schemeClr val="tx1">
                    <a:lumMod val="100000"/>
                  </a:schemeClr>
                </a:solidFill>
                <a:sym typeface="+mn-lt"/>
              </a:rPr>
              <a:t>Multiple use cases in production</a:t>
            </a:r>
          </a:p>
          <a:p>
            <a:pPr lvl="1">
              <a:buClr>
                <a:schemeClr val="tx2">
                  <a:lumMod val="100000"/>
                </a:schemeClr>
              </a:buClr>
            </a:pPr>
            <a:r>
              <a:rPr lang="en-US" sz="1000">
                <a:solidFill>
                  <a:schemeClr val="tx1">
                    <a:lumMod val="100000"/>
                  </a:schemeClr>
                </a:solidFill>
                <a:sym typeface="+mn-lt"/>
              </a:rPr>
              <a:t>Fast and scalable response models, leveraging entire available data</a:t>
            </a:r>
          </a:p>
        </p:txBody>
      </p:sp>
      <p:sp>
        <p:nvSpPr>
          <p:cNvPr id="159" name="ee4pContent1">
            <a:extLst>
              <a:ext uri="{FF2B5EF4-FFF2-40B4-BE49-F238E27FC236}">
                <a16:creationId xmlns:a16="http://schemas.microsoft.com/office/drawing/2014/main" id="{266FEC99-E8E8-477E-8F44-F970342381EF}"/>
              </a:ext>
            </a:extLst>
          </p:cNvPr>
          <p:cNvSpPr txBox="1"/>
          <p:nvPr/>
        </p:nvSpPr>
        <p:spPr>
          <a:xfrm>
            <a:off x="2620943" y="2969026"/>
            <a:ext cx="3887344" cy="923330"/>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no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lvl="1">
              <a:buClr>
                <a:schemeClr val="tx2">
                  <a:lumMod val="100000"/>
                </a:schemeClr>
              </a:buClr>
            </a:pPr>
            <a:r>
              <a:rPr lang="en-US" sz="1000">
                <a:solidFill>
                  <a:schemeClr val="tx1">
                    <a:lumMod val="100000"/>
                  </a:schemeClr>
                </a:solidFill>
                <a:sym typeface="+mn-lt"/>
              </a:rPr>
              <a:t>Real time arbitration engines to identify key actions</a:t>
            </a:r>
          </a:p>
          <a:p>
            <a:pPr lvl="1">
              <a:buClr>
                <a:schemeClr val="tx2">
                  <a:lumMod val="100000"/>
                </a:schemeClr>
              </a:buClr>
            </a:pPr>
            <a:r>
              <a:rPr lang="en-US" sz="1000">
                <a:solidFill>
                  <a:schemeClr val="tx1">
                    <a:lumMod val="100000"/>
                  </a:schemeClr>
                </a:solidFill>
                <a:sym typeface="+mn-lt"/>
              </a:rPr>
              <a:t>Complex suppression and co-existence business rules</a:t>
            </a:r>
          </a:p>
          <a:p>
            <a:pPr lvl="1">
              <a:buClr>
                <a:schemeClr val="tx2">
                  <a:lumMod val="100000"/>
                </a:schemeClr>
              </a:buClr>
            </a:pPr>
            <a:r>
              <a:rPr lang="en-US" sz="1000">
                <a:solidFill>
                  <a:schemeClr val="tx1">
                    <a:lumMod val="100000"/>
                  </a:schemeClr>
                </a:solidFill>
                <a:sym typeface="+mn-lt"/>
              </a:rPr>
              <a:t>Hundreds of A/B tests running daily to assess most </a:t>
            </a:r>
            <a:br>
              <a:rPr lang="en-US" sz="1000">
                <a:solidFill>
                  <a:schemeClr val="tx1">
                    <a:lumMod val="100000"/>
                  </a:schemeClr>
                </a:solidFill>
                <a:sym typeface="+mn-lt"/>
              </a:rPr>
            </a:br>
            <a:r>
              <a:rPr lang="en-US" sz="1000">
                <a:solidFill>
                  <a:schemeClr val="tx1">
                    <a:lumMod val="100000"/>
                  </a:schemeClr>
                </a:solidFill>
                <a:sym typeface="+mn-lt"/>
              </a:rPr>
              <a:t>effective actions </a:t>
            </a:r>
          </a:p>
        </p:txBody>
      </p:sp>
      <p:sp>
        <p:nvSpPr>
          <p:cNvPr id="160" name="ee4pContent1">
            <a:extLst>
              <a:ext uri="{FF2B5EF4-FFF2-40B4-BE49-F238E27FC236}">
                <a16:creationId xmlns:a16="http://schemas.microsoft.com/office/drawing/2014/main" id="{00E6821B-41F2-4C0B-8C85-15DA53E6F665}"/>
              </a:ext>
            </a:extLst>
          </p:cNvPr>
          <p:cNvSpPr txBox="1"/>
          <p:nvPr/>
        </p:nvSpPr>
        <p:spPr>
          <a:xfrm>
            <a:off x="2620943" y="3928369"/>
            <a:ext cx="3887344" cy="615553"/>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no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lvl="1">
              <a:buClr>
                <a:schemeClr val="tx2">
                  <a:lumMod val="100000"/>
                </a:schemeClr>
              </a:buClr>
            </a:pPr>
            <a:r>
              <a:rPr lang="en-US" sz="1000">
                <a:solidFill>
                  <a:schemeClr val="tx1">
                    <a:lumMod val="100000"/>
                  </a:schemeClr>
                </a:solidFill>
                <a:sym typeface="+mn-lt"/>
              </a:rPr>
              <a:t>Multi-channel AI-driven orchestration</a:t>
            </a:r>
          </a:p>
          <a:p>
            <a:pPr lvl="1">
              <a:buClr>
                <a:schemeClr val="tx2">
                  <a:lumMod val="100000"/>
                </a:schemeClr>
              </a:buClr>
            </a:pPr>
            <a:r>
              <a:rPr lang="en-US" sz="1000">
                <a:solidFill>
                  <a:schemeClr val="tx1">
                    <a:lumMod val="100000"/>
                  </a:schemeClr>
                </a:solidFill>
                <a:sym typeface="+mn-lt"/>
              </a:rPr>
              <a:t>All channels (assisted and digital) active</a:t>
            </a:r>
          </a:p>
          <a:p>
            <a:pPr lvl="1">
              <a:buClr>
                <a:schemeClr val="tx2">
                  <a:lumMod val="100000"/>
                </a:schemeClr>
              </a:buClr>
            </a:pPr>
            <a:r>
              <a:rPr lang="en-US" sz="1000">
                <a:solidFill>
                  <a:schemeClr val="tx1">
                    <a:lumMod val="100000"/>
                  </a:schemeClr>
                </a:solidFill>
                <a:sym typeface="+mn-lt"/>
              </a:rPr>
              <a:t>Fully integrated </a:t>
            </a:r>
            <a:r>
              <a:rPr lang="en-US" sz="1000" err="1">
                <a:solidFill>
                  <a:schemeClr val="tx1">
                    <a:lumMod val="100000"/>
                  </a:schemeClr>
                </a:solidFill>
                <a:sym typeface="+mn-lt"/>
              </a:rPr>
              <a:t>MarTech</a:t>
            </a:r>
            <a:r>
              <a:rPr lang="en-US" sz="1000">
                <a:solidFill>
                  <a:schemeClr val="tx1">
                    <a:lumMod val="100000"/>
                  </a:schemeClr>
                </a:solidFill>
                <a:sym typeface="+mn-lt"/>
              </a:rPr>
              <a:t> ecosystem </a:t>
            </a:r>
          </a:p>
        </p:txBody>
      </p:sp>
      <p:sp>
        <p:nvSpPr>
          <p:cNvPr id="161" name="ee4pContent1">
            <a:extLst>
              <a:ext uri="{FF2B5EF4-FFF2-40B4-BE49-F238E27FC236}">
                <a16:creationId xmlns:a16="http://schemas.microsoft.com/office/drawing/2014/main" id="{C55E1615-F774-4F45-9E0E-88ED668EA782}"/>
              </a:ext>
            </a:extLst>
          </p:cNvPr>
          <p:cNvSpPr txBox="1"/>
          <p:nvPr/>
        </p:nvSpPr>
        <p:spPr>
          <a:xfrm>
            <a:off x="2620943" y="4592330"/>
            <a:ext cx="3887344" cy="615553"/>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sp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lvl="1">
              <a:buClr>
                <a:schemeClr val="tx2">
                  <a:lumMod val="100000"/>
                </a:schemeClr>
              </a:buClr>
            </a:pPr>
            <a:r>
              <a:rPr lang="en-US" sz="1000">
                <a:solidFill>
                  <a:schemeClr val="tx1">
                    <a:lumMod val="100000"/>
                  </a:schemeClr>
                </a:solidFill>
                <a:sym typeface="+mn-lt"/>
              </a:rPr>
              <a:t>ROI of every action measured and understood</a:t>
            </a:r>
          </a:p>
          <a:p>
            <a:pPr lvl="1">
              <a:buClr>
                <a:schemeClr val="tx2">
                  <a:lumMod val="100000"/>
                </a:schemeClr>
              </a:buClr>
            </a:pPr>
            <a:r>
              <a:rPr lang="en-US" sz="1000">
                <a:solidFill>
                  <a:schemeClr val="tx1">
                    <a:lumMod val="100000"/>
                  </a:schemeClr>
                </a:solidFill>
                <a:sym typeface="+mn-lt"/>
              </a:rPr>
              <a:t>Value realization spread across the entire company, cost and revenue side</a:t>
            </a:r>
          </a:p>
          <a:p>
            <a:pPr lvl="1">
              <a:buClr>
                <a:schemeClr val="tx2">
                  <a:lumMod val="100000"/>
                </a:schemeClr>
              </a:buClr>
            </a:pPr>
            <a:r>
              <a:rPr lang="en-US" sz="1000">
                <a:solidFill>
                  <a:schemeClr val="tx1">
                    <a:lumMod val="100000"/>
                  </a:schemeClr>
                </a:solidFill>
                <a:sym typeface="+mn-lt"/>
              </a:rPr>
              <a:t>Business self-service</a:t>
            </a:r>
          </a:p>
        </p:txBody>
      </p:sp>
      <p:sp>
        <p:nvSpPr>
          <p:cNvPr id="162" name="ee4pContent1">
            <a:extLst>
              <a:ext uri="{FF2B5EF4-FFF2-40B4-BE49-F238E27FC236}">
                <a16:creationId xmlns:a16="http://schemas.microsoft.com/office/drawing/2014/main" id="{AAF79383-FE7A-4860-A14C-784717491911}"/>
              </a:ext>
            </a:extLst>
          </p:cNvPr>
          <p:cNvSpPr txBox="1"/>
          <p:nvPr/>
        </p:nvSpPr>
        <p:spPr>
          <a:xfrm>
            <a:off x="2620943" y="5256287"/>
            <a:ext cx="3887344" cy="769441"/>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no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lvl="1">
              <a:buClr>
                <a:schemeClr val="tx2">
                  <a:lumMod val="100000"/>
                </a:schemeClr>
              </a:buClr>
            </a:pPr>
            <a:r>
              <a:rPr lang="en-US" sz="1000">
                <a:solidFill>
                  <a:schemeClr val="tx1">
                    <a:lumMod val="100000"/>
                  </a:schemeClr>
                </a:solidFill>
                <a:sym typeface="+mn-lt"/>
              </a:rPr>
              <a:t>Analytics on every BU roadmap</a:t>
            </a:r>
          </a:p>
          <a:p>
            <a:pPr lvl="1">
              <a:buClr>
                <a:schemeClr val="tx2">
                  <a:lumMod val="100000"/>
                </a:schemeClr>
              </a:buClr>
            </a:pPr>
            <a:r>
              <a:rPr lang="en-US" sz="1000">
                <a:solidFill>
                  <a:schemeClr val="tx1">
                    <a:lumMod val="100000"/>
                  </a:schemeClr>
                </a:solidFill>
                <a:sym typeface="+mn-lt"/>
              </a:rPr>
              <a:t>Fully Agile analytics and sales teams</a:t>
            </a:r>
          </a:p>
          <a:p>
            <a:pPr lvl="1">
              <a:buClr>
                <a:schemeClr val="tx2">
                  <a:lumMod val="100000"/>
                </a:schemeClr>
              </a:buClr>
            </a:pPr>
            <a:r>
              <a:rPr lang="en-US" sz="1000">
                <a:solidFill>
                  <a:schemeClr val="tx1">
                    <a:lumMod val="100000"/>
                  </a:schemeClr>
                </a:solidFill>
                <a:sym typeface="+mn-lt"/>
              </a:rPr>
              <a:t>Personalization customer centric operating model fully functional </a:t>
            </a:r>
          </a:p>
        </p:txBody>
      </p:sp>
      <p:sp>
        <p:nvSpPr>
          <p:cNvPr id="163" name="ee4pContent1">
            <a:extLst>
              <a:ext uri="{FF2B5EF4-FFF2-40B4-BE49-F238E27FC236}">
                <a16:creationId xmlns:a16="http://schemas.microsoft.com/office/drawing/2014/main" id="{5724D6C4-F103-48C3-8CF7-310599F2C3A9}"/>
              </a:ext>
            </a:extLst>
          </p:cNvPr>
          <p:cNvSpPr txBox="1"/>
          <p:nvPr/>
        </p:nvSpPr>
        <p:spPr>
          <a:xfrm>
            <a:off x="2620943" y="1762602"/>
            <a:ext cx="3887344" cy="615553"/>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sp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lvl="1">
              <a:buClr>
                <a:schemeClr val="tx2">
                  <a:lumMod val="100000"/>
                </a:schemeClr>
              </a:buClr>
            </a:pPr>
            <a:r>
              <a:rPr lang="en-US" sz="1000">
                <a:solidFill>
                  <a:schemeClr val="tx1">
                    <a:lumMod val="100000"/>
                  </a:schemeClr>
                </a:solidFill>
                <a:sym typeface="+mn-lt"/>
              </a:rPr>
              <a:t>Leveraging both internal and external data for full 360 view of customer</a:t>
            </a:r>
          </a:p>
          <a:p>
            <a:pPr lvl="1">
              <a:buClr>
                <a:schemeClr val="tx2">
                  <a:lumMod val="100000"/>
                </a:schemeClr>
              </a:buClr>
            </a:pPr>
            <a:r>
              <a:rPr lang="en-US" sz="1000">
                <a:solidFill>
                  <a:schemeClr val="tx1">
                    <a:lumMod val="100000"/>
                  </a:schemeClr>
                </a:solidFill>
                <a:sym typeface="+mn-lt"/>
              </a:rPr>
              <a:t>Real time data processing and use of cloud resources for easy scalability and cost efficiency</a:t>
            </a:r>
          </a:p>
        </p:txBody>
      </p:sp>
      <p:sp>
        <p:nvSpPr>
          <p:cNvPr id="164" name="Rectangle 163">
            <a:extLst>
              <a:ext uri="{FF2B5EF4-FFF2-40B4-BE49-F238E27FC236}">
                <a16:creationId xmlns:a16="http://schemas.microsoft.com/office/drawing/2014/main" id="{8865F13B-7956-40D5-844F-804CD3739DF7}"/>
              </a:ext>
            </a:extLst>
          </p:cNvPr>
          <p:cNvSpPr/>
          <p:nvPr/>
        </p:nvSpPr>
        <p:spPr>
          <a:xfrm>
            <a:off x="2620943" y="1276120"/>
            <a:ext cx="3494505" cy="307777"/>
          </a:xfrm>
          <a:prstGeom prst="rect">
            <a:avLst/>
          </a:prstGeom>
        </p:spPr>
        <p:txBody>
          <a:bodyPr wrap="square" lIns="0" rIns="0">
            <a:spAutoFit/>
          </a:bodyPr>
          <a:lstStyle/>
          <a:p>
            <a:pPr>
              <a:buSzPct val="100000"/>
              <a:buFont typeface="Trebuchet MS" panose="020B0603020202020204" pitchFamily="34" charset="0"/>
              <a:buChar char="​"/>
            </a:pPr>
            <a:r>
              <a:rPr lang="en-US" sz="1400">
                <a:solidFill>
                  <a:srgbClr val="29BA74"/>
                </a:solidFill>
                <a:sym typeface="+mn-lt"/>
              </a:rPr>
              <a:t>What good looks like</a:t>
            </a:r>
          </a:p>
        </p:txBody>
      </p:sp>
      <p:sp>
        <p:nvSpPr>
          <p:cNvPr id="165" name="ee4pContent1">
            <a:extLst>
              <a:ext uri="{FF2B5EF4-FFF2-40B4-BE49-F238E27FC236}">
                <a16:creationId xmlns:a16="http://schemas.microsoft.com/office/drawing/2014/main" id="{3385E9C2-7DB8-4FDA-B8E6-2E0B1218AA4A}"/>
              </a:ext>
            </a:extLst>
          </p:cNvPr>
          <p:cNvSpPr txBox="1"/>
          <p:nvPr/>
        </p:nvSpPr>
        <p:spPr>
          <a:xfrm>
            <a:off x="7113989" y="2426563"/>
            <a:ext cx="4474406" cy="461665"/>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no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lvl="1" defTabSz="829544">
              <a:buClr>
                <a:schemeClr val="tx2">
                  <a:lumMod val="100000"/>
                </a:schemeClr>
              </a:buClr>
            </a:pPr>
            <a:r>
              <a:rPr lang="en-US" sz="1000">
                <a:solidFill>
                  <a:schemeClr val="tx1">
                    <a:lumMod val="100000"/>
                  </a:schemeClr>
                </a:solidFill>
                <a:sym typeface="+mn-lt"/>
              </a:rPr>
              <a:t>Build new cross-sell &amp; churn models by using the first version of the Customer DNA</a:t>
            </a:r>
          </a:p>
          <a:p>
            <a:pPr lvl="1" defTabSz="829544">
              <a:buClr>
                <a:schemeClr val="tx2">
                  <a:lumMod val="100000"/>
                </a:schemeClr>
              </a:buClr>
            </a:pPr>
            <a:r>
              <a:rPr lang="en-US" sz="1000">
                <a:solidFill>
                  <a:schemeClr val="tx1">
                    <a:lumMod val="100000"/>
                  </a:schemeClr>
                </a:solidFill>
                <a:sym typeface="+mn-lt"/>
              </a:rPr>
              <a:t>Use models to activate customer curricula and gather feedback</a:t>
            </a:r>
            <a:endParaRPr lang="en-US" sz="1000">
              <a:solidFill>
                <a:srgbClr val="333333">
                  <a:lumMod val="100000"/>
                </a:srgbClr>
              </a:solidFill>
              <a:sym typeface="+mn-lt"/>
            </a:endParaRPr>
          </a:p>
        </p:txBody>
      </p:sp>
      <p:sp>
        <p:nvSpPr>
          <p:cNvPr id="166" name="ee4pContent1">
            <a:extLst>
              <a:ext uri="{FF2B5EF4-FFF2-40B4-BE49-F238E27FC236}">
                <a16:creationId xmlns:a16="http://schemas.microsoft.com/office/drawing/2014/main" id="{2F3F515B-40D9-432C-BDC2-2FBD2FE4FF40}"/>
              </a:ext>
            </a:extLst>
          </p:cNvPr>
          <p:cNvSpPr txBox="1"/>
          <p:nvPr/>
        </p:nvSpPr>
        <p:spPr>
          <a:xfrm>
            <a:off x="7113990" y="2969027"/>
            <a:ext cx="4474406" cy="923330"/>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no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lvl="1" defTabSz="829544">
              <a:buClr>
                <a:schemeClr val="tx2">
                  <a:lumMod val="100000"/>
                </a:schemeClr>
              </a:buClr>
            </a:pPr>
            <a:r>
              <a:rPr lang="en-ZA" sz="1000">
                <a:solidFill>
                  <a:schemeClr val="tx1">
                    <a:lumMod val="100000"/>
                  </a:schemeClr>
                </a:solidFill>
                <a:sym typeface="+mn-lt"/>
              </a:rPr>
              <a:t>Selection and prioritization of ~10 curricula (5 for cross-sell, 5 for Retention) based on a value / feasibility framework</a:t>
            </a:r>
          </a:p>
          <a:p>
            <a:pPr lvl="1" defTabSz="829544">
              <a:buClr>
                <a:schemeClr val="tx2">
                  <a:lumMod val="100000"/>
                </a:schemeClr>
              </a:buClr>
            </a:pPr>
            <a:r>
              <a:rPr lang="en-ZA" sz="1000">
                <a:solidFill>
                  <a:schemeClr val="tx1">
                    <a:lumMod val="100000"/>
                  </a:schemeClr>
                </a:solidFill>
                <a:sym typeface="+mn-lt"/>
              </a:rPr>
              <a:t>End-to-end build-out of elements of prioritized curricula (triggers, tactics / offers, creatives)</a:t>
            </a:r>
          </a:p>
          <a:p>
            <a:pPr lvl="1" defTabSz="829544">
              <a:buClr>
                <a:schemeClr val="tx2">
                  <a:lumMod val="100000"/>
                </a:schemeClr>
              </a:buClr>
            </a:pPr>
            <a:r>
              <a:rPr lang="en-ZA" sz="1000">
                <a:solidFill>
                  <a:schemeClr val="tx1">
                    <a:lumMod val="100000"/>
                  </a:schemeClr>
                </a:solidFill>
                <a:sym typeface="+mn-lt"/>
              </a:rPr>
              <a:t>Logic to allocate curricula via advanced analytics</a:t>
            </a:r>
          </a:p>
          <a:p>
            <a:pPr lvl="1" defTabSz="829544">
              <a:buClr>
                <a:schemeClr val="tx2">
                  <a:lumMod val="100000"/>
                </a:schemeClr>
              </a:buClr>
            </a:pPr>
            <a:r>
              <a:rPr lang="en-ZA" sz="1000">
                <a:solidFill>
                  <a:schemeClr val="tx1">
                    <a:lumMod val="100000"/>
                  </a:schemeClr>
                </a:solidFill>
                <a:sym typeface="+mn-lt"/>
              </a:rPr>
              <a:t>Business logic for offer assignment to parameterize and code</a:t>
            </a:r>
          </a:p>
        </p:txBody>
      </p:sp>
      <p:sp>
        <p:nvSpPr>
          <p:cNvPr id="167" name="ee4pContent1">
            <a:extLst>
              <a:ext uri="{FF2B5EF4-FFF2-40B4-BE49-F238E27FC236}">
                <a16:creationId xmlns:a16="http://schemas.microsoft.com/office/drawing/2014/main" id="{CC818994-001B-4120-B9E4-208C0C7505F5}"/>
              </a:ext>
            </a:extLst>
          </p:cNvPr>
          <p:cNvSpPr txBox="1"/>
          <p:nvPr/>
        </p:nvSpPr>
        <p:spPr>
          <a:xfrm>
            <a:off x="7113988" y="3928369"/>
            <a:ext cx="4474406" cy="615553"/>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no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lvl="1" defTabSz="829544">
              <a:buClr>
                <a:schemeClr val="tx2">
                  <a:lumMod val="100000"/>
                </a:schemeClr>
              </a:buClr>
            </a:pPr>
            <a:r>
              <a:rPr lang="en-ZA" sz="1000">
                <a:solidFill>
                  <a:schemeClr val="tx1">
                    <a:lumMod val="100000"/>
                  </a:schemeClr>
                </a:solidFill>
                <a:sym typeface="+mn-lt"/>
              </a:rPr>
              <a:t>End-to-end activation of two channels (e.g. e-mail and online banking portal)</a:t>
            </a:r>
          </a:p>
          <a:p>
            <a:pPr lvl="1" defTabSz="829544">
              <a:buClr>
                <a:schemeClr val="tx2">
                  <a:lumMod val="100000"/>
                </a:schemeClr>
              </a:buClr>
            </a:pPr>
            <a:r>
              <a:rPr lang="en-ZA" sz="1000">
                <a:solidFill>
                  <a:schemeClr val="tx1">
                    <a:lumMod val="100000"/>
                  </a:schemeClr>
                </a:solidFill>
                <a:sym typeface="+mn-lt"/>
              </a:rPr>
              <a:t>Automation where possible with manual band-aids where needed</a:t>
            </a:r>
          </a:p>
          <a:p>
            <a:pPr lvl="1" defTabSz="829544">
              <a:buClr>
                <a:schemeClr val="tx2">
                  <a:lumMod val="100000"/>
                </a:schemeClr>
              </a:buClr>
            </a:pPr>
            <a:r>
              <a:rPr lang="en-ZA" sz="1000">
                <a:solidFill>
                  <a:schemeClr val="tx1">
                    <a:lumMod val="100000"/>
                  </a:schemeClr>
                </a:solidFill>
                <a:sym typeface="+mn-lt"/>
              </a:rPr>
              <a:t>Building momentum and internal knowledge of </a:t>
            </a:r>
            <a:r>
              <a:rPr lang="en-ZA" sz="1000" err="1">
                <a:solidFill>
                  <a:schemeClr val="tx1">
                    <a:lumMod val="100000"/>
                  </a:schemeClr>
                </a:solidFill>
                <a:sym typeface="+mn-lt"/>
              </a:rPr>
              <a:t>CustomerOne</a:t>
            </a:r>
            <a:r>
              <a:rPr lang="en-ZA" sz="1000">
                <a:solidFill>
                  <a:schemeClr val="tx1">
                    <a:lumMod val="100000"/>
                  </a:schemeClr>
                </a:solidFill>
                <a:sym typeface="+mn-lt"/>
              </a:rPr>
              <a:t> tool suite</a:t>
            </a:r>
          </a:p>
        </p:txBody>
      </p:sp>
      <p:sp>
        <p:nvSpPr>
          <p:cNvPr id="168" name="ee4pContent1">
            <a:extLst>
              <a:ext uri="{FF2B5EF4-FFF2-40B4-BE49-F238E27FC236}">
                <a16:creationId xmlns:a16="http://schemas.microsoft.com/office/drawing/2014/main" id="{DA57561C-FF2F-4BDF-B961-514684644731}"/>
              </a:ext>
            </a:extLst>
          </p:cNvPr>
          <p:cNvSpPr txBox="1"/>
          <p:nvPr/>
        </p:nvSpPr>
        <p:spPr>
          <a:xfrm>
            <a:off x="7113987" y="4592330"/>
            <a:ext cx="4474406" cy="615553"/>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sp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lvl="1">
              <a:buClr>
                <a:schemeClr val="tx2">
                  <a:lumMod val="100000"/>
                </a:schemeClr>
              </a:buClr>
            </a:pPr>
            <a:r>
              <a:rPr lang="en-ZA" sz="1000">
                <a:solidFill>
                  <a:schemeClr val="tx1">
                    <a:lumMod val="100000"/>
                  </a:schemeClr>
                </a:solidFill>
                <a:sym typeface="+mn-lt"/>
              </a:rPr>
              <a:t>Use case level and program level ROI – manual reporting</a:t>
            </a:r>
          </a:p>
          <a:p>
            <a:pPr lvl="1">
              <a:buClr>
                <a:schemeClr val="tx2">
                  <a:lumMod val="100000"/>
                </a:schemeClr>
              </a:buClr>
            </a:pPr>
            <a:r>
              <a:rPr lang="en-ZA" sz="1000">
                <a:solidFill>
                  <a:schemeClr val="tx1">
                    <a:lumMod val="100000"/>
                  </a:schemeClr>
                </a:solidFill>
                <a:sym typeface="+mn-lt"/>
              </a:rPr>
              <a:t>Design of limited number of experiments and manual tracking</a:t>
            </a:r>
          </a:p>
          <a:p>
            <a:pPr lvl="1">
              <a:buClr>
                <a:schemeClr val="tx2">
                  <a:lumMod val="100000"/>
                </a:schemeClr>
              </a:buClr>
            </a:pPr>
            <a:r>
              <a:rPr lang="en-ZA" sz="1000">
                <a:solidFill>
                  <a:schemeClr val="tx1">
                    <a:lumMod val="100000"/>
                  </a:schemeClr>
                </a:solidFill>
                <a:sym typeface="+mn-lt"/>
              </a:rPr>
              <a:t>Use cases initially piloted with ~10% of customer bases, then rolled out to entire base in scope for prioritised curricula</a:t>
            </a:r>
          </a:p>
        </p:txBody>
      </p:sp>
      <p:sp>
        <p:nvSpPr>
          <p:cNvPr id="169" name="ee4pContent1">
            <a:extLst>
              <a:ext uri="{FF2B5EF4-FFF2-40B4-BE49-F238E27FC236}">
                <a16:creationId xmlns:a16="http://schemas.microsoft.com/office/drawing/2014/main" id="{E22C0D7B-BB88-45AF-A0A9-21723BCEAACE}"/>
              </a:ext>
            </a:extLst>
          </p:cNvPr>
          <p:cNvSpPr txBox="1"/>
          <p:nvPr/>
        </p:nvSpPr>
        <p:spPr>
          <a:xfrm>
            <a:off x="7113988" y="5256287"/>
            <a:ext cx="4474406" cy="769441"/>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no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lvl="1">
              <a:buClr>
                <a:schemeClr val="tx2">
                  <a:lumMod val="100000"/>
                </a:schemeClr>
              </a:buClr>
            </a:pPr>
            <a:r>
              <a:rPr lang="en-US" sz="1000">
                <a:solidFill>
                  <a:schemeClr val="tx1">
                    <a:lumMod val="100000"/>
                  </a:schemeClr>
                </a:solidFill>
                <a:sym typeface="+mn-lt"/>
              </a:rPr>
              <a:t>Set up one cross-functional pod for next best solution and retention</a:t>
            </a:r>
          </a:p>
          <a:p>
            <a:pPr lvl="1">
              <a:buClr>
                <a:schemeClr val="tx2">
                  <a:lumMod val="100000"/>
                </a:schemeClr>
              </a:buClr>
            </a:pPr>
            <a:r>
              <a:rPr lang="en-US" sz="1000">
                <a:solidFill>
                  <a:schemeClr val="tx1">
                    <a:lumMod val="100000"/>
                  </a:schemeClr>
                </a:solidFill>
                <a:sym typeface="+mn-lt"/>
              </a:rPr>
              <a:t>Drive change management and new ways of working</a:t>
            </a:r>
          </a:p>
          <a:p>
            <a:pPr lvl="1">
              <a:buClr>
                <a:schemeClr val="tx2">
                  <a:lumMod val="100000"/>
                </a:schemeClr>
              </a:buClr>
            </a:pPr>
            <a:r>
              <a:rPr lang="en-US" sz="1000">
                <a:solidFill>
                  <a:schemeClr val="tx1">
                    <a:lumMod val="100000"/>
                  </a:schemeClr>
                </a:solidFill>
                <a:sym typeface="+mn-lt"/>
              </a:rPr>
              <a:t>Drive enablement (coaching, education etc.)</a:t>
            </a:r>
          </a:p>
          <a:p>
            <a:pPr lvl="1">
              <a:buClr>
                <a:schemeClr val="tx2">
                  <a:lumMod val="100000"/>
                </a:schemeClr>
              </a:buClr>
            </a:pPr>
            <a:r>
              <a:rPr lang="en-US" sz="1000">
                <a:solidFill>
                  <a:schemeClr val="tx1">
                    <a:lumMod val="100000"/>
                  </a:schemeClr>
                </a:solidFill>
                <a:sym typeface="+mn-lt"/>
              </a:rPr>
              <a:t>Analytics use cases leveraged in 1-2 products, where high value can be unlocked (e.g., deposits &amp; lending)</a:t>
            </a:r>
          </a:p>
        </p:txBody>
      </p:sp>
      <p:sp>
        <p:nvSpPr>
          <p:cNvPr id="170" name="ee4pContent1">
            <a:extLst>
              <a:ext uri="{FF2B5EF4-FFF2-40B4-BE49-F238E27FC236}">
                <a16:creationId xmlns:a16="http://schemas.microsoft.com/office/drawing/2014/main" id="{60E5E7E5-8822-477F-B127-0866F4AA4451}"/>
              </a:ext>
            </a:extLst>
          </p:cNvPr>
          <p:cNvSpPr txBox="1"/>
          <p:nvPr/>
        </p:nvSpPr>
        <p:spPr>
          <a:xfrm>
            <a:off x="7113991" y="1762602"/>
            <a:ext cx="4474406" cy="615553"/>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no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lvl="1" defTabSz="829544">
              <a:buClr>
                <a:schemeClr val="tx2">
                  <a:lumMod val="100000"/>
                </a:schemeClr>
              </a:buClr>
            </a:pPr>
            <a:r>
              <a:rPr lang="en-US" sz="1000">
                <a:solidFill>
                  <a:schemeClr val="tx1">
                    <a:lumMod val="100000"/>
                  </a:schemeClr>
                </a:solidFill>
                <a:sym typeface="+mn-lt"/>
              </a:rPr>
              <a:t>Build the first version of Customer DNA by using customer, account, transactions, interactions and risk profile data (both attrition risk and credit risk</a:t>
            </a:r>
            <a:endParaRPr lang="en-ZA" sz="1000">
              <a:solidFill>
                <a:schemeClr val="tx1">
                  <a:lumMod val="100000"/>
                </a:schemeClr>
              </a:solidFill>
              <a:sym typeface="+mn-lt"/>
            </a:endParaRPr>
          </a:p>
        </p:txBody>
      </p:sp>
      <p:sp>
        <p:nvSpPr>
          <p:cNvPr id="171" name="Rectangle 170">
            <a:extLst>
              <a:ext uri="{FF2B5EF4-FFF2-40B4-BE49-F238E27FC236}">
                <a16:creationId xmlns:a16="http://schemas.microsoft.com/office/drawing/2014/main" id="{FD922FE0-4CF0-402A-B339-4A38072E07C9}"/>
              </a:ext>
            </a:extLst>
          </p:cNvPr>
          <p:cNvSpPr/>
          <p:nvPr/>
        </p:nvSpPr>
        <p:spPr>
          <a:xfrm>
            <a:off x="7113990" y="1276120"/>
            <a:ext cx="4474406" cy="307777"/>
          </a:xfrm>
          <a:prstGeom prst="rect">
            <a:avLst/>
          </a:prstGeom>
        </p:spPr>
        <p:txBody>
          <a:bodyPr wrap="square" lIns="0" rIns="0">
            <a:spAutoFit/>
          </a:bodyPr>
          <a:lstStyle/>
          <a:p>
            <a:pPr>
              <a:buSzPct val="100000"/>
              <a:buFont typeface="Trebuchet MS" panose="020B0603020202020204" pitchFamily="34" charset="0"/>
              <a:buChar char="​"/>
            </a:pPr>
            <a:r>
              <a:rPr lang="en-US" sz="1400">
                <a:solidFill>
                  <a:srgbClr val="29BA74"/>
                </a:solidFill>
                <a:sym typeface="+mn-lt"/>
              </a:rPr>
              <a:t>Start small - MVP development</a:t>
            </a:r>
          </a:p>
        </p:txBody>
      </p:sp>
      <p:grpSp>
        <p:nvGrpSpPr>
          <p:cNvPr id="253" name="Group 252">
            <a:extLst>
              <a:ext uri="{FF2B5EF4-FFF2-40B4-BE49-F238E27FC236}">
                <a16:creationId xmlns:a16="http://schemas.microsoft.com/office/drawing/2014/main" id="{20BB45DD-3332-4D2C-A5AC-A7887EBE7956}"/>
              </a:ext>
            </a:extLst>
          </p:cNvPr>
          <p:cNvGrpSpPr>
            <a:grpSpLocks/>
          </p:cNvGrpSpPr>
          <p:nvPr>
            <p:custDataLst>
              <p:tags r:id="rId3"/>
            </p:custDataLst>
          </p:nvPr>
        </p:nvGrpSpPr>
        <p:grpSpPr>
          <a:xfrm>
            <a:off x="6673979" y="2522231"/>
            <a:ext cx="274320" cy="270329"/>
            <a:chOff x="6096000" y="3429000"/>
            <a:chExt cx="269875" cy="269875"/>
          </a:xfrm>
        </p:grpSpPr>
        <p:sp>
          <p:nvSpPr>
            <p:cNvPr id="278" name="background">
              <a:extLst>
                <a:ext uri="{FF2B5EF4-FFF2-40B4-BE49-F238E27FC236}">
                  <a16:creationId xmlns:a16="http://schemas.microsoft.com/office/drawing/2014/main" id="{A459D7CB-0D77-40E9-A4BB-E05EF0C66F35}"/>
                </a:ext>
              </a:extLst>
            </p:cNvPr>
            <p:cNvSpPr/>
            <p:nvPr/>
          </p:nvSpPr>
          <p:spPr>
            <a:xfrm>
              <a:off x="6096000" y="3429000"/>
              <a:ext cx="269875" cy="269875"/>
            </a:xfrm>
            <a:prstGeom prst="ellipse">
              <a:avLst/>
            </a:prstGeom>
            <a:solidFill>
              <a:srgbClr val="C8C8C8">
                <a:lumMod val="100000"/>
              </a:srgbClr>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sym typeface="+mn-lt"/>
              </a:endParaRPr>
            </a:p>
          </p:txBody>
        </p:sp>
        <p:sp>
          <p:nvSpPr>
            <p:cNvPr id="279" name="arc">
              <a:extLst>
                <a:ext uri="{FF2B5EF4-FFF2-40B4-BE49-F238E27FC236}">
                  <a16:creationId xmlns:a16="http://schemas.microsoft.com/office/drawing/2014/main" id="{7148C33D-45D6-4B41-AE47-A49E3EBC933A}"/>
                </a:ext>
              </a:extLst>
            </p:cNvPr>
            <p:cNvSpPr/>
            <p:nvPr/>
          </p:nvSpPr>
          <p:spPr>
            <a:xfrm>
              <a:off x="6096000" y="3429000"/>
              <a:ext cx="269875" cy="269875"/>
            </a:xfrm>
            <a:prstGeom prst="arc">
              <a:avLst>
                <a:gd name="adj1" fmla="val 16200000"/>
                <a:gd name="adj2" fmla="val 3240000"/>
              </a:avLst>
            </a:prstGeom>
            <a:solidFill>
              <a:srgbClr val="29BA74">
                <a:lumMod val="100000"/>
              </a:srgbClr>
            </a:solidFill>
            <a:ln w="9525" cap="rnd" cmpd="sng" algn="ctr">
              <a:noFill/>
              <a:prstDash val="solid"/>
              <a:round/>
            </a:ln>
            <a:effectLst/>
            <a:extLst>
              <a:ext uri="{91240B29-F687-4F45-9708-019B960494DF}">
                <a14:hiddenLine xmlns:a14="http://schemas.microsoft.com/office/drawing/2010/main" w="9525" cap="rnd" cmpd="sng" algn="ctr">
                  <a:solidFill>
                    <a:srgbClr val="7F7F7F"/>
                  </a:solidFill>
                  <a:prstDash val="solid"/>
                  <a:round/>
                </a14:hiddenLine>
              </a:ext>
            </a:extLst>
          </p:spPr>
          <p:style>
            <a:lnRef idx="1">
              <a:schemeClr val="accent1"/>
            </a:lnRef>
            <a:fillRef idx="0">
              <a:schemeClr val="accent1"/>
            </a:fillRef>
            <a:effectRef idx="0">
              <a:schemeClr val="accent1"/>
            </a:effectRef>
            <a:fontRef idx="minor">
              <a:schemeClr val="tx1"/>
            </a:fontRef>
          </p:style>
          <p:txBody>
            <a:bodyPr rtlCol="0" anchor="ctr">
              <a:noAutofit/>
            </a:bodyPr>
            <a:lstStyle/>
            <a:p>
              <a:pPr algn="ctr"/>
              <a:endParaRPr lang="en-US" sz="1559">
                <a:sym typeface="+mn-lt"/>
              </a:endParaRPr>
            </a:p>
          </p:txBody>
        </p:sp>
        <p:sp>
          <p:nvSpPr>
            <p:cNvPr id="280" name="circle">
              <a:extLst>
                <a:ext uri="{FF2B5EF4-FFF2-40B4-BE49-F238E27FC236}">
                  <a16:creationId xmlns:a16="http://schemas.microsoft.com/office/drawing/2014/main" id="{57449411-2DD0-44A0-8A34-203EBF0DDBA7}"/>
                </a:ext>
              </a:extLst>
            </p:cNvPr>
            <p:cNvSpPr/>
            <p:nvPr/>
          </p:nvSpPr>
          <p:spPr>
            <a:xfrm>
              <a:off x="6096000" y="3429000"/>
              <a:ext cx="269875" cy="269875"/>
            </a:xfrm>
            <a:prstGeom prst="ellipse">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DC0532"/>
                  </a:solidFill>
                </a14:hiddenFill>
              </a:ex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sym typeface="+mn-lt"/>
              </a:endParaRPr>
            </a:p>
          </p:txBody>
        </p:sp>
      </p:grpSp>
      <p:grpSp>
        <p:nvGrpSpPr>
          <p:cNvPr id="254" name="Group 253">
            <a:extLst>
              <a:ext uri="{FF2B5EF4-FFF2-40B4-BE49-F238E27FC236}">
                <a16:creationId xmlns:a16="http://schemas.microsoft.com/office/drawing/2014/main" id="{CE9EA3AC-82C3-42CD-9ADA-5CD76C74B2BC}"/>
              </a:ext>
            </a:extLst>
          </p:cNvPr>
          <p:cNvGrpSpPr>
            <a:grpSpLocks/>
          </p:cNvGrpSpPr>
          <p:nvPr>
            <p:custDataLst>
              <p:tags r:id="rId4"/>
            </p:custDataLst>
          </p:nvPr>
        </p:nvGrpSpPr>
        <p:grpSpPr>
          <a:xfrm>
            <a:off x="6673979" y="3295528"/>
            <a:ext cx="274320" cy="270329"/>
            <a:chOff x="6096000" y="3429000"/>
            <a:chExt cx="269875" cy="269875"/>
          </a:xfrm>
        </p:grpSpPr>
        <p:sp>
          <p:nvSpPr>
            <p:cNvPr id="275" name="background">
              <a:extLst>
                <a:ext uri="{FF2B5EF4-FFF2-40B4-BE49-F238E27FC236}">
                  <a16:creationId xmlns:a16="http://schemas.microsoft.com/office/drawing/2014/main" id="{D5B9BC88-614F-4DAB-8360-4AEC4C787340}"/>
                </a:ext>
              </a:extLst>
            </p:cNvPr>
            <p:cNvSpPr/>
            <p:nvPr/>
          </p:nvSpPr>
          <p:spPr>
            <a:xfrm>
              <a:off x="6096000" y="3429000"/>
              <a:ext cx="269875" cy="269875"/>
            </a:xfrm>
            <a:prstGeom prst="ellipse">
              <a:avLst/>
            </a:prstGeom>
            <a:solidFill>
              <a:srgbClr val="C8C8C8">
                <a:lumMod val="100000"/>
              </a:srgbClr>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sym typeface="+mn-lt"/>
              </a:endParaRPr>
            </a:p>
          </p:txBody>
        </p:sp>
        <p:sp>
          <p:nvSpPr>
            <p:cNvPr id="276" name="arc">
              <a:extLst>
                <a:ext uri="{FF2B5EF4-FFF2-40B4-BE49-F238E27FC236}">
                  <a16:creationId xmlns:a16="http://schemas.microsoft.com/office/drawing/2014/main" id="{0DE3C4B4-D57E-4D37-9F12-3ED0A405A376}"/>
                </a:ext>
              </a:extLst>
            </p:cNvPr>
            <p:cNvSpPr/>
            <p:nvPr/>
          </p:nvSpPr>
          <p:spPr>
            <a:xfrm>
              <a:off x="6096000" y="3429000"/>
              <a:ext cx="269875" cy="269875"/>
            </a:xfrm>
            <a:prstGeom prst="arc">
              <a:avLst>
                <a:gd name="adj1" fmla="val 16200000"/>
                <a:gd name="adj2" fmla="val 3240000"/>
              </a:avLst>
            </a:prstGeom>
            <a:solidFill>
              <a:srgbClr val="29BA74">
                <a:lumMod val="100000"/>
              </a:srgbClr>
            </a:solidFill>
            <a:ln w="9525" cap="rnd" cmpd="sng" algn="ctr">
              <a:noFill/>
              <a:prstDash val="solid"/>
              <a:round/>
            </a:ln>
            <a:effectLst/>
            <a:extLst>
              <a:ext uri="{91240B29-F687-4F45-9708-019B960494DF}">
                <a14:hiddenLine xmlns:a14="http://schemas.microsoft.com/office/drawing/2010/main" w="9525" cap="rnd" cmpd="sng" algn="ctr">
                  <a:solidFill>
                    <a:srgbClr val="7F7F7F"/>
                  </a:solidFill>
                  <a:prstDash val="solid"/>
                  <a:round/>
                </a14:hiddenLine>
              </a:ext>
            </a:extLst>
          </p:spPr>
          <p:style>
            <a:lnRef idx="1">
              <a:schemeClr val="accent1"/>
            </a:lnRef>
            <a:fillRef idx="0">
              <a:schemeClr val="accent1"/>
            </a:fillRef>
            <a:effectRef idx="0">
              <a:schemeClr val="accent1"/>
            </a:effectRef>
            <a:fontRef idx="minor">
              <a:schemeClr val="tx1"/>
            </a:fontRef>
          </p:style>
          <p:txBody>
            <a:bodyPr rtlCol="0" anchor="ctr">
              <a:noAutofit/>
            </a:bodyPr>
            <a:lstStyle/>
            <a:p>
              <a:pPr algn="ctr"/>
              <a:endParaRPr lang="en-US" sz="1559">
                <a:sym typeface="+mn-lt"/>
              </a:endParaRPr>
            </a:p>
          </p:txBody>
        </p:sp>
        <p:sp>
          <p:nvSpPr>
            <p:cNvPr id="277" name="circle">
              <a:extLst>
                <a:ext uri="{FF2B5EF4-FFF2-40B4-BE49-F238E27FC236}">
                  <a16:creationId xmlns:a16="http://schemas.microsoft.com/office/drawing/2014/main" id="{0195AF68-2009-4019-B9D3-1D30B0632A72}"/>
                </a:ext>
              </a:extLst>
            </p:cNvPr>
            <p:cNvSpPr/>
            <p:nvPr/>
          </p:nvSpPr>
          <p:spPr>
            <a:xfrm>
              <a:off x="6096000" y="3429000"/>
              <a:ext cx="269875" cy="269875"/>
            </a:xfrm>
            <a:prstGeom prst="ellipse">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DC0532"/>
                  </a:solidFill>
                </a14:hiddenFill>
              </a:ex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sym typeface="+mn-lt"/>
              </a:endParaRPr>
            </a:p>
          </p:txBody>
        </p:sp>
      </p:grpSp>
      <p:grpSp>
        <p:nvGrpSpPr>
          <p:cNvPr id="255" name="Group 254">
            <a:extLst>
              <a:ext uri="{FF2B5EF4-FFF2-40B4-BE49-F238E27FC236}">
                <a16:creationId xmlns:a16="http://schemas.microsoft.com/office/drawing/2014/main" id="{D61C8BDB-D473-43CF-A116-1217EB28D0F5}"/>
              </a:ext>
            </a:extLst>
          </p:cNvPr>
          <p:cNvGrpSpPr>
            <a:grpSpLocks/>
          </p:cNvGrpSpPr>
          <p:nvPr>
            <p:custDataLst>
              <p:tags r:id="rId5"/>
            </p:custDataLst>
          </p:nvPr>
        </p:nvGrpSpPr>
        <p:grpSpPr>
          <a:xfrm>
            <a:off x="6673979" y="4100981"/>
            <a:ext cx="274320" cy="270329"/>
            <a:chOff x="6096000" y="3429000"/>
            <a:chExt cx="269875" cy="269875"/>
          </a:xfrm>
        </p:grpSpPr>
        <p:sp>
          <p:nvSpPr>
            <p:cNvPr id="272" name="background">
              <a:extLst>
                <a:ext uri="{FF2B5EF4-FFF2-40B4-BE49-F238E27FC236}">
                  <a16:creationId xmlns:a16="http://schemas.microsoft.com/office/drawing/2014/main" id="{D07E85C4-C4C4-4957-960B-845F9419666F}"/>
                </a:ext>
              </a:extLst>
            </p:cNvPr>
            <p:cNvSpPr/>
            <p:nvPr/>
          </p:nvSpPr>
          <p:spPr>
            <a:xfrm>
              <a:off x="6096000" y="3429000"/>
              <a:ext cx="269875" cy="269875"/>
            </a:xfrm>
            <a:prstGeom prst="ellipse">
              <a:avLst/>
            </a:prstGeom>
            <a:solidFill>
              <a:srgbClr val="C8C8C8">
                <a:lumMod val="100000"/>
              </a:srgbClr>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sym typeface="+mn-lt"/>
              </a:endParaRPr>
            </a:p>
          </p:txBody>
        </p:sp>
        <p:sp>
          <p:nvSpPr>
            <p:cNvPr id="273" name="arc">
              <a:extLst>
                <a:ext uri="{FF2B5EF4-FFF2-40B4-BE49-F238E27FC236}">
                  <a16:creationId xmlns:a16="http://schemas.microsoft.com/office/drawing/2014/main" id="{7A256AC1-75D0-42E2-BC05-10CF335A31D4}"/>
                </a:ext>
              </a:extLst>
            </p:cNvPr>
            <p:cNvSpPr/>
            <p:nvPr/>
          </p:nvSpPr>
          <p:spPr>
            <a:xfrm>
              <a:off x="6096000" y="3429000"/>
              <a:ext cx="269875" cy="269875"/>
            </a:xfrm>
            <a:prstGeom prst="arc">
              <a:avLst>
                <a:gd name="adj1" fmla="val 16200000"/>
                <a:gd name="adj2" fmla="val 3240000"/>
              </a:avLst>
            </a:prstGeom>
            <a:solidFill>
              <a:srgbClr val="29BA74">
                <a:lumMod val="100000"/>
              </a:srgbClr>
            </a:solidFill>
            <a:ln w="9525" cap="rnd" cmpd="sng" algn="ctr">
              <a:noFill/>
              <a:prstDash val="solid"/>
              <a:round/>
            </a:ln>
            <a:effectLst/>
            <a:extLst>
              <a:ext uri="{91240B29-F687-4F45-9708-019B960494DF}">
                <a14:hiddenLine xmlns:a14="http://schemas.microsoft.com/office/drawing/2010/main" w="9525" cap="rnd" cmpd="sng" algn="ctr">
                  <a:solidFill>
                    <a:srgbClr val="7F7F7F"/>
                  </a:solidFill>
                  <a:prstDash val="solid"/>
                  <a:round/>
                </a14:hiddenLine>
              </a:ext>
            </a:extLst>
          </p:spPr>
          <p:style>
            <a:lnRef idx="1">
              <a:schemeClr val="accent1"/>
            </a:lnRef>
            <a:fillRef idx="0">
              <a:schemeClr val="accent1"/>
            </a:fillRef>
            <a:effectRef idx="0">
              <a:schemeClr val="accent1"/>
            </a:effectRef>
            <a:fontRef idx="minor">
              <a:schemeClr val="tx1"/>
            </a:fontRef>
          </p:style>
          <p:txBody>
            <a:bodyPr rtlCol="0" anchor="ctr">
              <a:noAutofit/>
            </a:bodyPr>
            <a:lstStyle/>
            <a:p>
              <a:pPr algn="ctr"/>
              <a:endParaRPr lang="en-US" sz="1559">
                <a:sym typeface="+mn-lt"/>
              </a:endParaRPr>
            </a:p>
          </p:txBody>
        </p:sp>
        <p:sp>
          <p:nvSpPr>
            <p:cNvPr id="274" name="circle">
              <a:extLst>
                <a:ext uri="{FF2B5EF4-FFF2-40B4-BE49-F238E27FC236}">
                  <a16:creationId xmlns:a16="http://schemas.microsoft.com/office/drawing/2014/main" id="{1F053CD6-3EFF-4945-992A-B6CCDC9804F4}"/>
                </a:ext>
              </a:extLst>
            </p:cNvPr>
            <p:cNvSpPr/>
            <p:nvPr/>
          </p:nvSpPr>
          <p:spPr>
            <a:xfrm>
              <a:off x="6096000" y="3429000"/>
              <a:ext cx="269875" cy="269875"/>
            </a:xfrm>
            <a:prstGeom prst="ellipse">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DC0532"/>
                  </a:solidFill>
                </a14:hiddenFill>
              </a:ex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sym typeface="+mn-lt"/>
              </a:endParaRPr>
            </a:p>
          </p:txBody>
        </p:sp>
      </p:grpSp>
      <p:grpSp>
        <p:nvGrpSpPr>
          <p:cNvPr id="256" name="Group 255">
            <a:extLst>
              <a:ext uri="{FF2B5EF4-FFF2-40B4-BE49-F238E27FC236}">
                <a16:creationId xmlns:a16="http://schemas.microsoft.com/office/drawing/2014/main" id="{539B4FC9-5F8E-4AF6-8675-22922828FE8F}"/>
              </a:ext>
            </a:extLst>
          </p:cNvPr>
          <p:cNvGrpSpPr>
            <a:grpSpLocks/>
          </p:cNvGrpSpPr>
          <p:nvPr>
            <p:custDataLst>
              <p:tags r:id="rId6"/>
            </p:custDataLst>
          </p:nvPr>
        </p:nvGrpSpPr>
        <p:grpSpPr>
          <a:xfrm>
            <a:off x="6673979" y="4764943"/>
            <a:ext cx="274320" cy="270329"/>
            <a:chOff x="6096000" y="3429000"/>
            <a:chExt cx="269875" cy="269875"/>
          </a:xfrm>
        </p:grpSpPr>
        <p:sp>
          <p:nvSpPr>
            <p:cNvPr id="269" name="background">
              <a:extLst>
                <a:ext uri="{FF2B5EF4-FFF2-40B4-BE49-F238E27FC236}">
                  <a16:creationId xmlns:a16="http://schemas.microsoft.com/office/drawing/2014/main" id="{23BEE0B5-A60F-4421-AEBF-0D900665B573}"/>
                </a:ext>
              </a:extLst>
            </p:cNvPr>
            <p:cNvSpPr/>
            <p:nvPr/>
          </p:nvSpPr>
          <p:spPr>
            <a:xfrm>
              <a:off x="6096000" y="3429000"/>
              <a:ext cx="269875" cy="269875"/>
            </a:xfrm>
            <a:prstGeom prst="ellipse">
              <a:avLst/>
            </a:prstGeom>
            <a:solidFill>
              <a:srgbClr val="C8C8C8">
                <a:lumMod val="100000"/>
              </a:srgbClr>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sym typeface="+mn-lt"/>
              </a:endParaRPr>
            </a:p>
          </p:txBody>
        </p:sp>
        <p:sp>
          <p:nvSpPr>
            <p:cNvPr id="270" name="arc">
              <a:extLst>
                <a:ext uri="{FF2B5EF4-FFF2-40B4-BE49-F238E27FC236}">
                  <a16:creationId xmlns:a16="http://schemas.microsoft.com/office/drawing/2014/main" id="{0076CEF6-0DDA-479F-BBB9-E3D6EB35C254}"/>
                </a:ext>
              </a:extLst>
            </p:cNvPr>
            <p:cNvSpPr/>
            <p:nvPr/>
          </p:nvSpPr>
          <p:spPr>
            <a:xfrm>
              <a:off x="6096000" y="3429000"/>
              <a:ext cx="269875" cy="269875"/>
            </a:xfrm>
            <a:prstGeom prst="arc">
              <a:avLst>
                <a:gd name="adj1" fmla="val 16200000"/>
                <a:gd name="adj2" fmla="val 3240000"/>
              </a:avLst>
            </a:prstGeom>
            <a:solidFill>
              <a:srgbClr val="29BA74">
                <a:lumMod val="100000"/>
              </a:srgbClr>
            </a:solidFill>
            <a:ln w="9525" cap="rnd" cmpd="sng" algn="ctr">
              <a:noFill/>
              <a:prstDash val="solid"/>
              <a:round/>
            </a:ln>
            <a:effectLst/>
            <a:extLst>
              <a:ext uri="{91240B29-F687-4F45-9708-019B960494DF}">
                <a14:hiddenLine xmlns:a14="http://schemas.microsoft.com/office/drawing/2010/main" w="9525" cap="rnd" cmpd="sng" algn="ctr">
                  <a:solidFill>
                    <a:srgbClr val="7F7F7F"/>
                  </a:solidFill>
                  <a:prstDash val="solid"/>
                  <a:round/>
                </a14:hiddenLine>
              </a:ext>
            </a:extLst>
          </p:spPr>
          <p:style>
            <a:lnRef idx="1">
              <a:schemeClr val="accent1"/>
            </a:lnRef>
            <a:fillRef idx="0">
              <a:schemeClr val="accent1"/>
            </a:fillRef>
            <a:effectRef idx="0">
              <a:schemeClr val="accent1"/>
            </a:effectRef>
            <a:fontRef idx="minor">
              <a:schemeClr val="tx1"/>
            </a:fontRef>
          </p:style>
          <p:txBody>
            <a:bodyPr rtlCol="0" anchor="ctr">
              <a:noAutofit/>
            </a:bodyPr>
            <a:lstStyle/>
            <a:p>
              <a:pPr algn="ctr"/>
              <a:endParaRPr lang="en-US" sz="1559">
                <a:sym typeface="+mn-lt"/>
              </a:endParaRPr>
            </a:p>
          </p:txBody>
        </p:sp>
        <p:sp>
          <p:nvSpPr>
            <p:cNvPr id="271" name="circle">
              <a:extLst>
                <a:ext uri="{FF2B5EF4-FFF2-40B4-BE49-F238E27FC236}">
                  <a16:creationId xmlns:a16="http://schemas.microsoft.com/office/drawing/2014/main" id="{E37D5051-7EDE-4B78-9F57-659D982BCBD0}"/>
                </a:ext>
              </a:extLst>
            </p:cNvPr>
            <p:cNvSpPr/>
            <p:nvPr/>
          </p:nvSpPr>
          <p:spPr>
            <a:xfrm>
              <a:off x="6096000" y="3429000"/>
              <a:ext cx="269875" cy="269875"/>
            </a:xfrm>
            <a:prstGeom prst="ellipse">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DC0532"/>
                  </a:solidFill>
                </a14:hiddenFill>
              </a:ex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sym typeface="+mn-lt"/>
              </a:endParaRPr>
            </a:p>
          </p:txBody>
        </p:sp>
      </p:grpSp>
      <p:grpSp>
        <p:nvGrpSpPr>
          <p:cNvPr id="257" name="Group 256">
            <a:extLst>
              <a:ext uri="{FF2B5EF4-FFF2-40B4-BE49-F238E27FC236}">
                <a16:creationId xmlns:a16="http://schemas.microsoft.com/office/drawing/2014/main" id="{7EBA555F-7126-439F-987B-1732DB668D2A}"/>
              </a:ext>
            </a:extLst>
          </p:cNvPr>
          <p:cNvGrpSpPr>
            <a:grpSpLocks/>
          </p:cNvGrpSpPr>
          <p:nvPr>
            <p:custDataLst>
              <p:tags r:id="rId7"/>
            </p:custDataLst>
          </p:nvPr>
        </p:nvGrpSpPr>
        <p:grpSpPr>
          <a:xfrm>
            <a:off x="6673979" y="5505843"/>
            <a:ext cx="274320" cy="270329"/>
            <a:chOff x="6096000" y="3429000"/>
            <a:chExt cx="269875" cy="269875"/>
          </a:xfrm>
        </p:grpSpPr>
        <p:sp>
          <p:nvSpPr>
            <p:cNvPr id="266" name="background">
              <a:extLst>
                <a:ext uri="{FF2B5EF4-FFF2-40B4-BE49-F238E27FC236}">
                  <a16:creationId xmlns:a16="http://schemas.microsoft.com/office/drawing/2014/main" id="{CCEDC2B1-5940-475E-89DD-ED2F21032436}"/>
                </a:ext>
              </a:extLst>
            </p:cNvPr>
            <p:cNvSpPr/>
            <p:nvPr/>
          </p:nvSpPr>
          <p:spPr>
            <a:xfrm>
              <a:off x="6096000" y="3429000"/>
              <a:ext cx="269875" cy="269875"/>
            </a:xfrm>
            <a:prstGeom prst="ellipse">
              <a:avLst/>
            </a:prstGeom>
            <a:solidFill>
              <a:srgbClr val="C8C8C8">
                <a:lumMod val="100000"/>
              </a:srgbClr>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sym typeface="+mn-lt"/>
              </a:endParaRPr>
            </a:p>
          </p:txBody>
        </p:sp>
        <p:sp>
          <p:nvSpPr>
            <p:cNvPr id="267" name="arc">
              <a:extLst>
                <a:ext uri="{FF2B5EF4-FFF2-40B4-BE49-F238E27FC236}">
                  <a16:creationId xmlns:a16="http://schemas.microsoft.com/office/drawing/2014/main" id="{D74B42DB-FA01-4202-9C52-6AF28ECA82E4}"/>
                </a:ext>
              </a:extLst>
            </p:cNvPr>
            <p:cNvSpPr/>
            <p:nvPr/>
          </p:nvSpPr>
          <p:spPr>
            <a:xfrm>
              <a:off x="6096000" y="3429000"/>
              <a:ext cx="269875" cy="269875"/>
            </a:xfrm>
            <a:prstGeom prst="arc">
              <a:avLst>
                <a:gd name="adj1" fmla="val 16200000"/>
                <a:gd name="adj2" fmla="val 3240000"/>
              </a:avLst>
            </a:prstGeom>
            <a:solidFill>
              <a:srgbClr val="29BA74">
                <a:lumMod val="100000"/>
              </a:srgbClr>
            </a:solidFill>
            <a:ln w="9525" cap="rnd" cmpd="sng" algn="ctr">
              <a:noFill/>
              <a:prstDash val="solid"/>
              <a:round/>
            </a:ln>
            <a:effectLst/>
            <a:extLst>
              <a:ext uri="{91240B29-F687-4F45-9708-019B960494DF}">
                <a14:hiddenLine xmlns:a14="http://schemas.microsoft.com/office/drawing/2010/main" w="9525" cap="rnd" cmpd="sng" algn="ctr">
                  <a:solidFill>
                    <a:srgbClr val="7F7F7F"/>
                  </a:solidFill>
                  <a:prstDash val="solid"/>
                  <a:round/>
                </a14:hiddenLine>
              </a:ext>
            </a:extLst>
          </p:spPr>
          <p:style>
            <a:lnRef idx="1">
              <a:schemeClr val="accent1"/>
            </a:lnRef>
            <a:fillRef idx="0">
              <a:schemeClr val="accent1"/>
            </a:fillRef>
            <a:effectRef idx="0">
              <a:schemeClr val="accent1"/>
            </a:effectRef>
            <a:fontRef idx="minor">
              <a:schemeClr val="tx1"/>
            </a:fontRef>
          </p:style>
          <p:txBody>
            <a:bodyPr rtlCol="0" anchor="ctr">
              <a:noAutofit/>
            </a:bodyPr>
            <a:lstStyle/>
            <a:p>
              <a:pPr algn="ctr"/>
              <a:endParaRPr lang="en-US" sz="1559">
                <a:sym typeface="+mn-lt"/>
              </a:endParaRPr>
            </a:p>
          </p:txBody>
        </p:sp>
        <p:sp>
          <p:nvSpPr>
            <p:cNvPr id="268" name="circle">
              <a:extLst>
                <a:ext uri="{FF2B5EF4-FFF2-40B4-BE49-F238E27FC236}">
                  <a16:creationId xmlns:a16="http://schemas.microsoft.com/office/drawing/2014/main" id="{FD444C1C-B018-477D-BD7E-AB8750DEA50E}"/>
                </a:ext>
              </a:extLst>
            </p:cNvPr>
            <p:cNvSpPr/>
            <p:nvPr/>
          </p:nvSpPr>
          <p:spPr>
            <a:xfrm>
              <a:off x="6096000" y="3429000"/>
              <a:ext cx="269875" cy="269875"/>
            </a:xfrm>
            <a:prstGeom prst="ellipse">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DC0532"/>
                  </a:solidFill>
                </a14:hiddenFill>
              </a:ex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sym typeface="+mn-lt"/>
              </a:endParaRPr>
            </a:p>
          </p:txBody>
        </p:sp>
      </p:grpSp>
      <p:grpSp>
        <p:nvGrpSpPr>
          <p:cNvPr id="258" name="Group 257">
            <a:extLst>
              <a:ext uri="{FF2B5EF4-FFF2-40B4-BE49-F238E27FC236}">
                <a16:creationId xmlns:a16="http://schemas.microsoft.com/office/drawing/2014/main" id="{282291CD-AD65-4015-A5FF-8254B67EA3EF}"/>
              </a:ext>
            </a:extLst>
          </p:cNvPr>
          <p:cNvGrpSpPr>
            <a:grpSpLocks/>
          </p:cNvGrpSpPr>
          <p:nvPr>
            <p:custDataLst>
              <p:tags r:id="rId8"/>
            </p:custDataLst>
          </p:nvPr>
        </p:nvGrpSpPr>
        <p:grpSpPr>
          <a:xfrm>
            <a:off x="6673979" y="1858270"/>
            <a:ext cx="274320" cy="270329"/>
            <a:chOff x="6096000" y="3429000"/>
            <a:chExt cx="269875" cy="269875"/>
          </a:xfrm>
        </p:grpSpPr>
        <p:sp>
          <p:nvSpPr>
            <p:cNvPr id="263" name="background">
              <a:extLst>
                <a:ext uri="{FF2B5EF4-FFF2-40B4-BE49-F238E27FC236}">
                  <a16:creationId xmlns:a16="http://schemas.microsoft.com/office/drawing/2014/main" id="{705BEEAC-F657-4DF7-B15C-FC185688D484}"/>
                </a:ext>
              </a:extLst>
            </p:cNvPr>
            <p:cNvSpPr/>
            <p:nvPr/>
          </p:nvSpPr>
          <p:spPr>
            <a:xfrm>
              <a:off x="6096000" y="3429000"/>
              <a:ext cx="269875" cy="269875"/>
            </a:xfrm>
            <a:prstGeom prst="ellipse">
              <a:avLst/>
            </a:prstGeom>
            <a:solidFill>
              <a:srgbClr val="C8C8C8">
                <a:lumMod val="100000"/>
              </a:srgbClr>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sym typeface="+mn-lt"/>
              </a:endParaRPr>
            </a:p>
          </p:txBody>
        </p:sp>
        <p:sp>
          <p:nvSpPr>
            <p:cNvPr id="264" name="arc">
              <a:extLst>
                <a:ext uri="{FF2B5EF4-FFF2-40B4-BE49-F238E27FC236}">
                  <a16:creationId xmlns:a16="http://schemas.microsoft.com/office/drawing/2014/main" id="{540E75A0-D54D-49BD-ABFB-AFFCBDC9D2C3}"/>
                </a:ext>
              </a:extLst>
            </p:cNvPr>
            <p:cNvSpPr/>
            <p:nvPr/>
          </p:nvSpPr>
          <p:spPr>
            <a:xfrm>
              <a:off x="6096000" y="3429000"/>
              <a:ext cx="269875" cy="269875"/>
            </a:xfrm>
            <a:prstGeom prst="arc">
              <a:avLst>
                <a:gd name="adj1" fmla="val 16200000"/>
                <a:gd name="adj2" fmla="val 3240000"/>
              </a:avLst>
            </a:prstGeom>
            <a:solidFill>
              <a:srgbClr val="29BA74">
                <a:lumMod val="100000"/>
              </a:srgbClr>
            </a:solidFill>
            <a:ln w="9525" cap="rnd" cmpd="sng" algn="ctr">
              <a:noFill/>
              <a:prstDash val="solid"/>
              <a:round/>
            </a:ln>
            <a:effectLst/>
            <a:extLst>
              <a:ext uri="{91240B29-F687-4F45-9708-019B960494DF}">
                <a14:hiddenLine xmlns:a14="http://schemas.microsoft.com/office/drawing/2010/main" w="9525" cap="rnd" cmpd="sng" algn="ctr">
                  <a:solidFill>
                    <a:schemeClr val="tx1">
                      <a:lumMod val="60000"/>
                      <a:lumOff val="40000"/>
                    </a:schemeClr>
                  </a:solidFill>
                  <a:prstDash val="solid"/>
                  <a:round/>
                </a14:hiddenLine>
              </a:ext>
            </a:extLst>
          </p:spPr>
          <p:style>
            <a:lnRef idx="1">
              <a:schemeClr val="accent1"/>
            </a:lnRef>
            <a:fillRef idx="0">
              <a:schemeClr val="accent1"/>
            </a:fillRef>
            <a:effectRef idx="0">
              <a:schemeClr val="accent1"/>
            </a:effectRef>
            <a:fontRef idx="minor">
              <a:schemeClr val="tx1"/>
            </a:fontRef>
          </p:style>
          <p:txBody>
            <a:bodyPr rtlCol="0" anchor="ctr">
              <a:noAutofit/>
            </a:bodyPr>
            <a:lstStyle/>
            <a:p>
              <a:pPr algn="ctr"/>
              <a:endParaRPr lang="en-US">
                <a:sym typeface="+mn-lt"/>
              </a:endParaRPr>
            </a:p>
          </p:txBody>
        </p:sp>
        <p:sp>
          <p:nvSpPr>
            <p:cNvPr id="265" name="circle">
              <a:extLst>
                <a:ext uri="{FF2B5EF4-FFF2-40B4-BE49-F238E27FC236}">
                  <a16:creationId xmlns:a16="http://schemas.microsoft.com/office/drawing/2014/main" id="{38C37A6E-004D-400E-85B2-3980AEB98F2D}"/>
                </a:ext>
              </a:extLst>
            </p:cNvPr>
            <p:cNvSpPr/>
            <p:nvPr/>
          </p:nvSpPr>
          <p:spPr>
            <a:xfrm>
              <a:off x="6096000" y="3429000"/>
              <a:ext cx="269875" cy="269875"/>
            </a:xfrm>
            <a:prstGeom prst="ellipse">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sym typeface="+mn-lt"/>
              </a:endParaRPr>
            </a:p>
          </p:txBody>
        </p:sp>
      </p:grpSp>
      <p:grpSp>
        <p:nvGrpSpPr>
          <p:cNvPr id="259" name="bcgIcons_PlantSprout">
            <a:extLst>
              <a:ext uri="{FF2B5EF4-FFF2-40B4-BE49-F238E27FC236}">
                <a16:creationId xmlns:a16="http://schemas.microsoft.com/office/drawing/2014/main" id="{28601555-814B-4CCA-A124-B2C0218746D3}"/>
              </a:ext>
            </a:extLst>
          </p:cNvPr>
          <p:cNvGrpSpPr>
            <a:grpSpLocks noChangeAspect="1"/>
          </p:cNvGrpSpPr>
          <p:nvPr/>
        </p:nvGrpSpPr>
        <p:grpSpPr bwMode="auto">
          <a:xfrm>
            <a:off x="6558954" y="1069552"/>
            <a:ext cx="504371" cy="497495"/>
            <a:chOff x="1682" y="0"/>
            <a:chExt cx="4316" cy="4320"/>
          </a:xfrm>
        </p:grpSpPr>
        <p:sp>
          <p:nvSpPr>
            <p:cNvPr id="260" name="AutoShape 23">
              <a:extLst>
                <a:ext uri="{FF2B5EF4-FFF2-40B4-BE49-F238E27FC236}">
                  <a16:creationId xmlns:a16="http://schemas.microsoft.com/office/drawing/2014/main" id="{9F9C62E5-0A10-49B5-AE4E-6F2B0B6792A1}"/>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sp>
          <p:nvSpPr>
            <p:cNvPr id="261" name="Freeform 25">
              <a:extLst>
                <a:ext uri="{FF2B5EF4-FFF2-40B4-BE49-F238E27FC236}">
                  <a16:creationId xmlns:a16="http://schemas.microsoft.com/office/drawing/2014/main" id="{8F388712-C63D-4EF7-97D2-44BE63356487}"/>
                </a:ext>
              </a:extLst>
            </p:cNvPr>
            <p:cNvSpPr>
              <a:spLocks noEditPoints="1"/>
            </p:cNvSpPr>
            <p:nvPr/>
          </p:nvSpPr>
          <p:spPr bwMode="auto">
            <a:xfrm>
              <a:off x="2428" y="3203"/>
              <a:ext cx="2824" cy="658"/>
            </a:xfrm>
            <a:custGeom>
              <a:avLst/>
              <a:gdLst>
                <a:gd name="T0" fmla="*/ 652 w 1508"/>
                <a:gd name="T1" fmla="*/ 45 h 351"/>
                <a:gd name="T2" fmla="*/ 295 w 1508"/>
                <a:gd name="T3" fmla="*/ 223 h 351"/>
                <a:gd name="T4" fmla="*/ 22 w 1508"/>
                <a:gd name="T5" fmla="*/ 351 h 351"/>
                <a:gd name="T6" fmla="*/ 0 w 1508"/>
                <a:gd name="T7" fmla="*/ 329 h 351"/>
                <a:gd name="T8" fmla="*/ 22 w 1508"/>
                <a:gd name="T9" fmla="*/ 307 h 351"/>
                <a:gd name="T10" fmla="*/ 269 w 1508"/>
                <a:gd name="T11" fmla="*/ 187 h 351"/>
                <a:gd name="T12" fmla="*/ 653 w 1508"/>
                <a:gd name="T13" fmla="*/ 0 h 351"/>
                <a:gd name="T14" fmla="*/ 652 w 1508"/>
                <a:gd name="T15" fmla="*/ 45 h 351"/>
                <a:gd name="T16" fmla="*/ 1486 w 1508"/>
                <a:gd name="T17" fmla="*/ 307 h 351"/>
                <a:gd name="T18" fmla="*/ 1239 w 1508"/>
                <a:gd name="T19" fmla="*/ 187 h 351"/>
                <a:gd name="T20" fmla="*/ 853 w 1508"/>
                <a:gd name="T21" fmla="*/ 0 h 351"/>
                <a:gd name="T22" fmla="*/ 855 w 1508"/>
                <a:gd name="T23" fmla="*/ 44 h 351"/>
                <a:gd name="T24" fmla="*/ 1213 w 1508"/>
                <a:gd name="T25" fmla="*/ 223 h 351"/>
                <a:gd name="T26" fmla="*/ 1486 w 1508"/>
                <a:gd name="T27" fmla="*/ 351 h 351"/>
                <a:gd name="T28" fmla="*/ 1508 w 1508"/>
                <a:gd name="T29" fmla="*/ 329 h 351"/>
                <a:gd name="T30" fmla="*/ 1486 w 1508"/>
                <a:gd name="T31" fmla="*/ 307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351">
                  <a:moveTo>
                    <a:pt x="652" y="45"/>
                  </a:moveTo>
                  <a:cubicBezTo>
                    <a:pt x="509" y="72"/>
                    <a:pt x="396" y="151"/>
                    <a:pt x="295" y="223"/>
                  </a:cubicBezTo>
                  <a:cubicBezTo>
                    <a:pt x="197" y="292"/>
                    <a:pt x="113" y="351"/>
                    <a:pt x="22" y="351"/>
                  </a:cubicBezTo>
                  <a:cubicBezTo>
                    <a:pt x="9" y="351"/>
                    <a:pt x="0" y="341"/>
                    <a:pt x="0" y="329"/>
                  </a:cubicBezTo>
                  <a:cubicBezTo>
                    <a:pt x="0" y="317"/>
                    <a:pt x="9" y="307"/>
                    <a:pt x="22" y="307"/>
                  </a:cubicBezTo>
                  <a:cubicBezTo>
                    <a:pt x="99" y="307"/>
                    <a:pt x="178" y="251"/>
                    <a:pt x="269" y="187"/>
                  </a:cubicBezTo>
                  <a:cubicBezTo>
                    <a:pt x="372" y="114"/>
                    <a:pt x="496" y="27"/>
                    <a:pt x="653" y="0"/>
                  </a:cubicBezTo>
                  <a:lnTo>
                    <a:pt x="652" y="45"/>
                  </a:lnTo>
                  <a:close/>
                  <a:moveTo>
                    <a:pt x="1486" y="307"/>
                  </a:moveTo>
                  <a:cubicBezTo>
                    <a:pt x="1409" y="307"/>
                    <a:pt x="1330" y="251"/>
                    <a:pt x="1239" y="187"/>
                  </a:cubicBezTo>
                  <a:cubicBezTo>
                    <a:pt x="1136" y="114"/>
                    <a:pt x="1012" y="27"/>
                    <a:pt x="853" y="0"/>
                  </a:cubicBezTo>
                  <a:cubicBezTo>
                    <a:pt x="855" y="44"/>
                    <a:pt x="855" y="44"/>
                    <a:pt x="855" y="44"/>
                  </a:cubicBezTo>
                  <a:cubicBezTo>
                    <a:pt x="998" y="71"/>
                    <a:pt x="1111" y="151"/>
                    <a:pt x="1213" y="223"/>
                  </a:cubicBezTo>
                  <a:cubicBezTo>
                    <a:pt x="1311" y="292"/>
                    <a:pt x="1395" y="351"/>
                    <a:pt x="1486" y="351"/>
                  </a:cubicBezTo>
                  <a:cubicBezTo>
                    <a:pt x="1499" y="351"/>
                    <a:pt x="1508" y="341"/>
                    <a:pt x="1508" y="329"/>
                  </a:cubicBezTo>
                  <a:cubicBezTo>
                    <a:pt x="1508" y="317"/>
                    <a:pt x="1499" y="307"/>
                    <a:pt x="1486" y="30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sp>
          <p:nvSpPr>
            <p:cNvPr id="262" name="Freeform 26">
              <a:extLst>
                <a:ext uri="{FF2B5EF4-FFF2-40B4-BE49-F238E27FC236}">
                  <a16:creationId xmlns:a16="http://schemas.microsoft.com/office/drawing/2014/main" id="{B8BA4CC0-861C-40CE-9357-BF45CFA6EBFF}"/>
                </a:ext>
              </a:extLst>
            </p:cNvPr>
            <p:cNvSpPr>
              <a:spLocks noEditPoints="1"/>
            </p:cNvSpPr>
            <p:nvPr/>
          </p:nvSpPr>
          <p:spPr bwMode="auto">
            <a:xfrm>
              <a:off x="3518" y="1061"/>
              <a:ext cx="642" cy="2475"/>
            </a:xfrm>
            <a:custGeom>
              <a:avLst/>
              <a:gdLst>
                <a:gd name="T0" fmla="*/ 223 w 343"/>
                <a:gd name="T1" fmla="*/ 1040 h 1320"/>
                <a:gd name="T2" fmla="*/ 232 w 343"/>
                <a:gd name="T3" fmla="*/ 1256 h 1320"/>
                <a:gd name="T4" fmla="*/ 173 w 343"/>
                <a:gd name="T5" fmla="*/ 1320 h 1320"/>
                <a:gd name="T6" fmla="*/ 110 w 343"/>
                <a:gd name="T7" fmla="*/ 1261 h 1320"/>
                <a:gd name="T8" fmla="*/ 110 w 343"/>
                <a:gd name="T9" fmla="*/ 1256 h 1320"/>
                <a:gd name="T10" fmla="*/ 110 w 343"/>
                <a:gd name="T11" fmla="*/ 1256 h 1320"/>
                <a:gd name="T12" fmla="*/ 113 w 343"/>
                <a:gd name="T13" fmla="*/ 1204 h 1320"/>
                <a:gd name="T14" fmla="*/ 119 w 343"/>
                <a:gd name="T15" fmla="*/ 1034 h 1320"/>
                <a:gd name="T16" fmla="*/ 152 w 343"/>
                <a:gd name="T17" fmla="*/ 346 h 1320"/>
                <a:gd name="T18" fmla="*/ 171 w 343"/>
                <a:gd name="T19" fmla="*/ 328 h 1320"/>
                <a:gd name="T20" fmla="*/ 189 w 343"/>
                <a:gd name="T21" fmla="*/ 346 h 1320"/>
                <a:gd name="T22" fmla="*/ 218 w 343"/>
                <a:gd name="T23" fmla="*/ 916 h 1320"/>
                <a:gd name="T24" fmla="*/ 223 w 343"/>
                <a:gd name="T25" fmla="*/ 1040 h 1320"/>
                <a:gd name="T26" fmla="*/ 108 w 343"/>
                <a:gd name="T27" fmla="*/ 344 h 1320"/>
                <a:gd name="T28" fmla="*/ 109 w 343"/>
                <a:gd name="T29" fmla="*/ 343 h 1320"/>
                <a:gd name="T30" fmla="*/ 169 w 343"/>
                <a:gd name="T31" fmla="*/ 284 h 1320"/>
                <a:gd name="T32" fmla="*/ 174 w 343"/>
                <a:gd name="T33" fmla="*/ 284 h 1320"/>
                <a:gd name="T34" fmla="*/ 233 w 343"/>
                <a:gd name="T35" fmla="*/ 340 h 1320"/>
                <a:gd name="T36" fmla="*/ 233 w 343"/>
                <a:gd name="T37" fmla="*/ 342 h 1320"/>
                <a:gd name="T38" fmla="*/ 233 w 343"/>
                <a:gd name="T39" fmla="*/ 343 h 1320"/>
                <a:gd name="T40" fmla="*/ 244 w 343"/>
                <a:gd name="T41" fmla="*/ 533 h 1320"/>
                <a:gd name="T42" fmla="*/ 343 w 343"/>
                <a:gd name="T43" fmla="*/ 303 h 1320"/>
                <a:gd name="T44" fmla="*/ 171 w 343"/>
                <a:gd name="T45" fmla="*/ 0 h 1320"/>
                <a:gd name="T46" fmla="*/ 0 w 343"/>
                <a:gd name="T47" fmla="*/ 303 h 1320"/>
                <a:gd name="T48" fmla="*/ 101 w 343"/>
                <a:gd name="T49" fmla="*/ 535 h 1320"/>
                <a:gd name="T50" fmla="*/ 108 w 343"/>
                <a:gd name="T51" fmla="*/ 344 h 1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43" h="1320">
                  <a:moveTo>
                    <a:pt x="223" y="1040"/>
                  </a:moveTo>
                  <a:cubicBezTo>
                    <a:pt x="223" y="1040"/>
                    <a:pt x="223" y="1040"/>
                    <a:pt x="232" y="1256"/>
                  </a:cubicBezTo>
                  <a:cubicBezTo>
                    <a:pt x="233" y="1290"/>
                    <a:pt x="207" y="1318"/>
                    <a:pt x="173" y="1320"/>
                  </a:cubicBezTo>
                  <a:cubicBezTo>
                    <a:pt x="140" y="1320"/>
                    <a:pt x="112" y="1295"/>
                    <a:pt x="110" y="1261"/>
                  </a:cubicBezTo>
                  <a:cubicBezTo>
                    <a:pt x="110" y="1260"/>
                    <a:pt x="110" y="1258"/>
                    <a:pt x="110" y="1256"/>
                  </a:cubicBezTo>
                  <a:cubicBezTo>
                    <a:pt x="110" y="1256"/>
                    <a:pt x="110" y="1256"/>
                    <a:pt x="110" y="1256"/>
                  </a:cubicBezTo>
                  <a:cubicBezTo>
                    <a:pt x="110" y="1256"/>
                    <a:pt x="110" y="1256"/>
                    <a:pt x="113" y="1204"/>
                  </a:cubicBezTo>
                  <a:cubicBezTo>
                    <a:pt x="113" y="1204"/>
                    <a:pt x="113" y="1204"/>
                    <a:pt x="119" y="1034"/>
                  </a:cubicBezTo>
                  <a:cubicBezTo>
                    <a:pt x="119" y="1034"/>
                    <a:pt x="139" y="688"/>
                    <a:pt x="152" y="346"/>
                  </a:cubicBezTo>
                  <a:cubicBezTo>
                    <a:pt x="153" y="335"/>
                    <a:pt x="161" y="327"/>
                    <a:pt x="171" y="328"/>
                  </a:cubicBezTo>
                  <a:cubicBezTo>
                    <a:pt x="181" y="328"/>
                    <a:pt x="188" y="337"/>
                    <a:pt x="189" y="346"/>
                  </a:cubicBezTo>
                  <a:cubicBezTo>
                    <a:pt x="189" y="346"/>
                    <a:pt x="207" y="640"/>
                    <a:pt x="218" y="916"/>
                  </a:cubicBezTo>
                  <a:lnTo>
                    <a:pt x="223" y="1040"/>
                  </a:lnTo>
                  <a:close/>
                  <a:moveTo>
                    <a:pt x="108" y="344"/>
                  </a:moveTo>
                  <a:cubicBezTo>
                    <a:pt x="109" y="343"/>
                    <a:pt x="109" y="343"/>
                    <a:pt x="109" y="343"/>
                  </a:cubicBezTo>
                  <a:cubicBezTo>
                    <a:pt x="110" y="310"/>
                    <a:pt x="137" y="284"/>
                    <a:pt x="169" y="284"/>
                  </a:cubicBezTo>
                  <a:cubicBezTo>
                    <a:pt x="171" y="284"/>
                    <a:pt x="172" y="284"/>
                    <a:pt x="174" y="284"/>
                  </a:cubicBezTo>
                  <a:cubicBezTo>
                    <a:pt x="204" y="286"/>
                    <a:pt x="229" y="309"/>
                    <a:pt x="233" y="340"/>
                  </a:cubicBezTo>
                  <a:cubicBezTo>
                    <a:pt x="233" y="342"/>
                    <a:pt x="233" y="342"/>
                    <a:pt x="233" y="342"/>
                  </a:cubicBezTo>
                  <a:cubicBezTo>
                    <a:pt x="233" y="343"/>
                    <a:pt x="233" y="343"/>
                    <a:pt x="233" y="343"/>
                  </a:cubicBezTo>
                  <a:cubicBezTo>
                    <a:pt x="233" y="345"/>
                    <a:pt x="238" y="422"/>
                    <a:pt x="244" y="533"/>
                  </a:cubicBezTo>
                  <a:cubicBezTo>
                    <a:pt x="291" y="477"/>
                    <a:pt x="343" y="395"/>
                    <a:pt x="343" y="303"/>
                  </a:cubicBezTo>
                  <a:cubicBezTo>
                    <a:pt x="343" y="136"/>
                    <a:pt x="171" y="0"/>
                    <a:pt x="171" y="0"/>
                  </a:cubicBezTo>
                  <a:cubicBezTo>
                    <a:pt x="171" y="0"/>
                    <a:pt x="0" y="136"/>
                    <a:pt x="0" y="303"/>
                  </a:cubicBezTo>
                  <a:cubicBezTo>
                    <a:pt x="0" y="396"/>
                    <a:pt x="54" y="479"/>
                    <a:pt x="101" y="535"/>
                  </a:cubicBezTo>
                  <a:cubicBezTo>
                    <a:pt x="103" y="473"/>
                    <a:pt x="106" y="408"/>
                    <a:pt x="108" y="344"/>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grpSp>
      <p:grpSp>
        <p:nvGrpSpPr>
          <p:cNvPr id="104" name="Group 103">
            <a:extLst>
              <a:ext uri="{FF2B5EF4-FFF2-40B4-BE49-F238E27FC236}">
                <a16:creationId xmlns:a16="http://schemas.microsoft.com/office/drawing/2014/main" id="{162158AA-7326-498C-8CCE-785ACD8D4EE1}"/>
              </a:ext>
            </a:extLst>
          </p:cNvPr>
          <p:cNvGrpSpPr/>
          <p:nvPr/>
        </p:nvGrpSpPr>
        <p:grpSpPr>
          <a:xfrm>
            <a:off x="5781896" y="6259535"/>
            <a:ext cx="5385848" cy="335568"/>
            <a:chOff x="4591050" y="6238267"/>
            <a:chExt cx="5385848" cy="335568"/>
          </a:xfrm>
        </p:grpSpPr>
        <p:grpSp>
          <p:nvGrpSpPr>
            <p:cNvPr id="105" name="Group 104">
              <a:extLst>
                <a:ext uri="{FF2B5EF4-FFF2-40B4-BE49-F238E27FC236}">
                  <a16:creationId xmlns:a16="http://schemas.microsoft.com/office/drawing/2014/main" id="{6AB067A1-8644-42C8-B049-7813C1DC0F33}"/>
                </a:ext>
              </a:extLst>
            </p:cNvPr>
            <p:cNvGrpSpPr/>
            <p:nvPr/>
          </p:nvGrpSpPr>
          <p:grpSpPr>
            <a:xfrm>
              <a:off x="4662359" y="6316737"/>
              <a:ext cx="5243229" cy="178626"/>
              <a:chOff x="4726271" y="6317332"/>
              <a:chExt cx="5243229" cy="178626"/>
            </a:xfrm>
          </p:grpSpPr>
          <p:grpSp>
            <p:nvGrpSpPr>
              <p:cNvPr id="107" name="Group 106">
                <a:extLst>
                  <a:ext uri="{FF2B5EF4-FFF2-40B4-BE49-F238E27FC236}">
                    <a16:creationId xmlns:a16="http://schemas.microsoft.com/office/drawing/2014/main" id="{40890ED2-D128-406B-950C-E201B056983C}"/>
                  </a:ext>
                </a:extLst>
              </p:cNvPr>
              <p:cNvGrpSpPr>
                <a:grpSpLocks noChangeAspect="1"/>
              </p:cNvGrpSpPr>
              <p:nvPr>
                <p:custDataLst>
                  <p:tags r:id="rId10"/>
                </p:custDataLst>
              </p:nvPr>
            </p:nvGrpSpPr>
            <p:grpSpPr>
              <a:xfrm>
                <a:off x="4726271" y="6318519"/>
                <a:ext cx="177438" cy="177439"/>
                <a:chOff x="6096000" y="3429000"/>
                <a:chExt cx="269875" cy="269875"/>
              </a:xfrm>
            </p:grpSpPr>
            <p:sp>
              <p:nvSpPr>
                <p:cNvPr id="112" name="background">
                  <a:extLst>
                    <a:ext uri="{FF2B5EF4-FFF2-40B4-BE49-F238E27FC236}">
                      <a16:creationId xmlns:a16="http://schemas.microsoft.com/office/drawing/2014/main" id="{4A520E16-3504-4567-AACE-41D68BEF9966}"/>
                    </a:ext>
                  </a:extLst>
                </p:cNvPr>
                <p:cNvSpPr/>
                <p:nvPr/>
              </p:nvSpPr>
              <p:spPr>
                <a:xfrm>
                  <a:off x="6096000" y="3429000"/>
                  <a:ext cx="269875" cy="269875"/>
                </a:xfrm>
                <a:prstGeom prst="ellipse">
                  <a:avLst/>
                </a:prstGeom>
                <a:solidFill>
                  <a:srgbClr val="E2E2E3">
                    <a:lumMod val="100000"/>
                  </a:srgbClr>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800">
                    <a:solidFill>
                      <a:srgbClr val="FFFFFF"/>
                    </a:solidFill>
                    <a:sym typeface="+mn-lt"/>
                  </a:endParaRPr>
                </a:p>
              </p:txBody>
            </p:sp>
            <p:sp>
              <p:nvSpPr>
                <p:cNvPr id="113" name="arc">
                  <a:extLst>
                    <a:ext uri="{FF2B5EF4-FFF2-40B4-BE49-F238E27FC236}">
                      <a16:creationId xmlns:a16="http://schemas.microsoft.com/office/drawing/2014/main" id="{5DE49B78-98CC-43E3-8142-5E8544F4C288}"/>
                    </a:ext>
                  </a:extLst>
                </p:cNvPr>
                <p:cNvSpPr/>
                <p:nvPr/>
              </p:nvSpPr>
              <p:spPr>
                <a:xfrm>
                  <a:off x="6096000" y="3429000"/>
                  <a:ext cx="269875" cy="269875"/>
                </a:xfrm>
                <a:prstGeom prst="arc">
                  <a:avLst>
                    <a:gd name="adj1" fmla="val 16200000"/>
                    <a:gd name="adj2" fmla="val 16200000"/>
                  </a:avLst>
                </a:prstGeom>
                <a:solidFill>
                  <a:srgbClr val="29BA74"/>
                </a:solidFill>
                <a:ln w="9525" cap="rnd" cmpd="sng" algn="ctr">
                  <a:noFill/>
                  <a:prstDash val="solid"/>
                  <a:round/>
                </a:ln>
                <a:effectLst/>
                <a:extLst>
                  <a:ext uri="{91240B29-F687-4F45-9708-019B960494DF}">
                    <a14:hiddenLine xmlns:a14="http://schemas.microsoft.com/office/drawing/2010/main" w="9525" cap="rnd" cmpd="sng" algn="ctr">
                      <a:solidFill>
                        <a:srgbClr val="7F7F7F"/>
                      </a:solidFill>
                      <a:prstDash val="solid"/>
                      <a:round/>
                    </a14:hiddenLine>
                  </a:ext>
                </a:extLst>
              </p:spPr>
              <p:style>
                <a:lnRef idx="1">
                  <a:schemeClr val="accent1"/>
                </a:lnRef>
                <a:fillRef idx="0">
                  <a:schemeClr val="accent1"/>
                </a:fillRef>
                <a:effectRef idx="0">
                  <a:schemeClr val="accent1"/>
                </a:effectRef>
                <a:fontRef idx="minor">
                  <a:schemeClr val="tx1"/>
                </a:fontRef>
              </p:style>
              <p:txBody>
                <a:bodyPr rtlCol="0" anchor="ctr">
                  <a:noAutofit/>
                </a:bodyPr>
                <a:lstStyle/>
                <a:p>
                  <a:pPr algn="ctr"/>
                  <a:endParaRPr lang="en-US" sz="800">
                    <a:sym typeface="+mn-lt"/>
                  </a:endParaRPr>
                </a:p>
              </p:txBody>
            </p:sp>
            <p:sp>
              <p:nvSpPr>
                <p:cNvPr id="114" name="circle">
                  <a:extLst>
                    <a:ext uri="{FF2B5EF4-FFF2-40B4-BE49-F238E27FC236}">
                      <a16:creationId xmlns:a16="http://schemas.microsoft.com/office/drawing/2014/main" id="{792B82A9-D0F8-496C-BBA5-EEAB598C5817}"/>
                    </a:ext>
                  </a:extLst>
                </p:cNvPr>
                <p:cNvSpPr/>
                <p:nvPr/>
              </p:nvSpPr>
              <p:spPr>
                <a:xfrm>
                  <a:off x="6096000" y="3429000"/>
                  <a:ext cx="269875" cy="269875"/>
                </a:xfrm>
                <a:prstGeom prst="ellipse">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DC0532"/>
                      </a:solidFill>
                    </a14:hiddenFill>
                  </a:ex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800">
                    <a:solidFill>
                      <a:srgbClr val="FFFFFF"/>
                    </a:solidFill>
                    <a:sym typeface="+mn-lt"/>
                  </a:endParaRPr>
                </a:p>
              </p:txBody>
            </p:sp>
          </p:grpSp>
          <p:sp>
            <p:nvSpPr>
              <p:cNvPr id="108" name="TextBox 107">
                <a:extLst>
                  <a:ext uri="{FF2B5EF4-FFF2-40B4-BE49-F238E27FC236}">
                    <a16:creationId xmlns:a16="http://schemas.microsoft.com/office/drawing/2014/main" id="{467B5D70-299C-4630-9909-C3D622F84FFA}"/>
                  </a:ext>
                </a:extLst>
              </p:cNvPr>
              <p:cNvSpPr txBox="1"/>
              <p:nvPr/>
            </p:nvSpPr>
            <p:spPr>
              <a:xfrm>
                <a:off x="4948480" y="6330295"/>
                <a:ext cx="2236190" cy="153888"/>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spAutoFit/>
              </a:bodyPr>
              <a:lstStyle/>
              <a:p>
                <a:r>
                  <a:rPr lang="en-US" sz="1000">
                    <a:solidFill>
                      <a:schemeClr val="tx1"/>
                    </a:solidFill>
                    <a:sym typeface="+mn-lt"/>
                  </a:rPr>
                  <a:t>Best-in-class </a:t>
                </a:r>
                <a:r>
                  <a:rPr lang="en-US" sz="1000" err="1">
                    <a:solidFill>
                      <a:schemeClr val="tx1"/>
                    </a:solidFill>
                    <a:sym typeface="+mn-lt"/>
                  </a:rPr>
                  <a:t>personalisation</a:t>
                </a:r>
                <a:r>
                  <a:rPr lang="en-US" sz="1000">
                    <a:solidFill>
                      <a:schemeClr val="tx1"/>
                    </a:solidFill>
                    <a:sym typeface="+mn-lt"/>
                  </a:rPr>
                  <a:t> capability</a:t>
                </a:r>
              </a:p>
            </p:txBody>
          </p:sp>
          <p:grpSp>
            <p:nvGrpSpPr>
              <p:cNvPr id="109" name="Group 108">
                <a:extLst>
                  <a:ext uri="{FF2B5EF4-FFF2-40B4-BE49-F238E27FC236}">
                    <a16:creationId xmlns:a16="http://schemas.microsoft.com/office/drawing/2014/main" id="{A87CB569-1260-4B8C-9C3C-FEED0FE2FBA6}"/>
                  </a:ext>
                </a:extLst>
              </p:cNvPr>
              <p:cNvGrpSpPr/>
              <p:nvPr/>
            </p:nvGrpSpPr>
            <p:grpSpPr>
              <a:xfrm>
                <a:off x="7275099" y="6317332"/>
                <a:ext cx="2694401" cy="177439"/>
                <a:chOff x="7421149" y="6317332"/>
                <a:chExt cx="2694401" cy="177439"/>
              </a:xfrm>
            </p:grpSpPr>
            <p:sp>
              <p:nvSpPr>
                <p:cNvPr id="110" name="background">
                  <a:extLst>
                    <a:ext uri="{FF2B5EF4-FFF2-40B4-BE49-F238E27FC236}">
                      <a16:creationId xmlns:a16="http://schemas.microsoft.com/office/drawing/2014/main" id="{2084C05B-FE92-4B6E-8285-51DFFE0C9144}"/>
                    </a:ext>
                  </a:extLst>
                </p:cNvPr>
                <p:cNvSpPr/>
                <p:nvPr/>
              </p:nvSpPr>
              <p:spPr>
                <a:xfrm>
                  <a:off x="7421149" y="6317332"/>
                  <a:ext cx="177438" cy="177439"/>
                </a:xfrm>
                <a:prstGeom prst="ellipse">
                  <a:avLst/>
                </a:prstGeom>
                <a:solidFill>
                  <a:srgbClr val="C8C8C8">
                    <a:lumMod val="100000"/>
                  </a:srgbClr>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800">
                    <a:solidFill>
                      <a:srgbClr val="FFFFFF"/>
                    </a:solidFill>
                    <a:sym typeface="+mn-lt"/>
                  </a:endParaRPr>
                </a:p>
              </p:txBody>
            </p:sp>
            <p:sp>
              <p:nvSpPr>
                <p:cNvPr id="111" name="TextBox 110">
                  <a:extLst>
                    <a:ext uri="{FF2B5EF4-FFF2-40B4-BE49-F238E27FC236}">
                      <a16:creationId xmlns:a16="http://schemas.microsoft.com/office/drawing/2014/main" id="{0320DB29-7C11-4F11-A106-FFFE8E6F1A3D}"/>
                    </a:ext>
                  </a:extLst>
                </p:cNvPr>
                <p:cNvSpPr txBox="1"/>
                <p:nvPr/>
              </p:nvSpPr>
              <p:spPr>
                <a:xfrm>
                  <a:off x="7645400" y="6329108"/>
                  <a:ext cx="2470150" cy="153888"/>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spAutoFit/>
                </a:bodyPr>
                <a:lstStyle/>
                <a:p>
                  <a:r>
                    <a:rPr lang="en-US" sz="1000">
                      <a:solidFill>
                        <a:schemeClr val="tx1"/>
                      </a:solidFill>
                      <a:sym typeface="+mn-lt"/>
                    </a:rPr>
                    <a:t>Limited existing </a:t>
                  </a:r>
                  <a:r>
                    <a:rPr lang="en-US" sz="1000" err="1">
                      <a:solidFill>
                        <a:schemeClr val="tx1"/>
                      </a:solidFill>
                      <a:sym typeface="+mn-lt"/>
                    </a:rPr>
                    <a:t>personalisation</a:t>
                  </a:r>
                  <a:r>
                    <a:rPr lang="en-US" sz="1000">
                      <a:solidFill>
                        <a:schemeClr val="tx1"/>
                      </a:solidFill>
                      <a:sym typeface="+mn-lt"/>
                    </a:rPr>
                    <a:t> capability</a:t>
                  </a:r>
                </a:p>
              </p:txBody>
            </p:sp>
          </p:grpSp>
        </p:grpSp>
        <p:sp>
          <p:nvSpPr>
            <p:cNvPr id="106" name="Rectangle 105">
              <a:extLst>
                <a:ext uri="{FF2B5EF4-FFF2-40B4-BE49-F238E27FC236}">
                  <a16:creationId xmlns:a16="http://schemas.microsoft.com/office/drawing/2014/main" id="{84E5CFD7-33E9-43C9-96CE-B85F5989BF24}"/>
                </a:ext>
              </a:extLst>
            </p:cNvPr>
            <p:cNvSpPr/>
            <p:nvPr/>
          </p:nvSpPr>
          <p:spPr>
            <a:xfrm>
              <a:off x="4591050" y="6238267"/>
              <a:ext cx="5385848" cy="335568"/>
            </a:xfrm>
            <a:prstGeom prst="rect">
              <a:avLst/>
            </a:prstGeom>
            <a:noFill/>
            <a:ln w="12700" cap="rnd" cmpd="sng" algn="ctr">
              <a:solidFill>
                <a:srgbClr val="9A9A9A"/>
              </a:solidFill>
              <a:prstDash val="sysDot"/>
              <a:round/>
              <a:headEnd type="none" w="med" len="med"/>
              <a:tailEnd type="none" w="med" len="med"/>
            </a:ln>
            <a:effectLst/>
            <a:extLst>
              <a:ext uri="{909E8E84-426E-40DD-AFC4-6F175D3DCCD1}">
                <a14:hiddenFill xmlns:a14="http://schemas.microsoft.com/office/drawing/2010/main">
                  <a:solidFill>
                    <a:srgbClr val="DC053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sym typeface="+mn-lt"/>
              </a:endParaRPr>
            </a:p>
          </p:txBody>
        </p:sp>
      </p:grpSp>
      <p:sp>
        <p:nvSpPr>
          <p:cNvPr id="115" name="ee4pHeader1">
            <a:extLst>
              <a:ext uri="{FF2B5EF4-FFF2-40B4-BE49-F238E27FC236}">
                <a16:creationId xmlns:a16="http://schemas.microsoft.com/office/drawing/2014/main" id="{3C5DD11F-60EA-4B7E-8189-3C4535657A71}"/>
              </a:ext>
            </a:extLst>
          </p:cNvPr>
          <p:cNvSpPr txBox="1"/>
          <p:nvPr/>
        </p:nvSpPr>
        <p:spPr>
          <a:xfrm>
            <a:off x="1106274" y="2426563"/>
            <a:ext cx="1348981" cy="469263"/>
          </a:xfrm>
          <a:prstGeom prst="rect">
            <a:avLst/>
          </a:prstGeom>
          <a:noFill/>
          <a:ln cap="rnd">
            <a:noFill/>
          </a:ln>
        </p:spPr>
        <p:txBody>
          <a:bodyPr vert="horz" wrap="square" lIns="0" tIns="0" rIns="0" bIns="0" rtlCol="0" anchor="ctr" anchorCtr="0">
            <a:noAutofit/>
          </a:bodyPr>
          <a:lstStyle/>
          <a:p>
            <a:pPr>
              <a:buSzPct val="100000"/>
              <a:buFont typeface="Trebuchet MS" panose="020B0603020202020204" pitchFamily="34" charset="0"/>
              <a:buChar char="​"/>
            </a:pPr>
            <a:r>
              <a:rPr lang="en-US" sz="1400">
                <a:solidFill>
                  <a:srgbClr val="29BA74"/>
                </a:solidFill>
                <a:sym typeface="+mn-lt"/>
              </a:rPr>
              <a:t>Analytics</a:t>
            </a:r>
          </a:p>
        </p:txBody>
      </p:sp>
      <p:sp>
        <p:nvSpPr>
          <p:cNvPr id="116" name="ee4pHeader1">
            <a:extLst>
              <a:ext uri="{FF2B5EF4-FFF2-40B4-BE49-F238E27FC236}">
                <a16:creationId xmlns:a16="http://schemas.microsoft.com/office/drawing/2014/main" id="{C8EFB684-357C-46A8-97B9-DA157BB985E8}"/>
              </a:ext>
            </a:extLst>
          </p:cNvPr>
          <p:cNvSpPr txBox="1"/>
          <p:nvPr/>
        </p:nvSpPr>
        <p:spPr>
          <a:xfrm>
            <a:off x="1106274" y="2969028"/>
            <a:ext cx="1348981" cy="469263"/>
          </a:xfrm>
          <a:prstGeom prst="rect">
            <a:avLst/>
          </a:prstGeom>
          <a:noFill/>
          <a:ln cap="rnd">
            <a:noFill/>
          </a:ln>
        </p:spPr>
        <p:txBody>
          <a:bodyPr vert="horz" wrap="square" lIns="0" tIns="0" rIns="0" bIns="0" rtlCol="0" anchor="ctr" anchorCtr="0">
            <a:noAutofit/>
          </a:bodyPr>
          <a:lstStyle/>
          <a:p>
            <a:pPr>
              <a:buSzPct val="100000"/>
              <a:buFont typeface="Trebuchet MS" panose="020B0603020202020204" pitchFamily="34" charset="0"/>
              <a:buChar char="​"/>
            </a:pPr>
            <a:r>
              <a:rPr lang="en-US" sz="1400">
                <a:solidFill>
                  <a:srgbClr val="29BA74"/>
                </a:solidFill>
                <a:sym typeface="+mn-lt"/>
              </a:rPr>
              <a:t>Actions library</a:t>
            </a:r>
          </a:p>
        </p:txBody>
      </p:sp>
      <p:sp>
        <p:nvSpPr>
          <p:cNvPr id="117" name="ee4pHeader1">
            <a:extLst>
              <a:ext uri="{FF2B5EF4-FFF2-40B4-BE49-F238E27FC236}">
                <a16:creationId xmlns:a16="http://schemas.microsoft.com/office/drawing/2014/main" id="{5F224EBA-8CDD-4A15-B25D-77759749B4DF}"/>
              </a:ext>
            </a:extLst>
          </p:cNvPr>
          <p:cNvSpPr txBox="1"/>
          <p:nvPr/>
        </p:nvSpPr>
        <p:spPr>
          <a:xfrm>
            <a:off x="1106274" y="3928369"/>
            <a:ext cx="1348981" cy="469263"/>
          </a:xfrm>
          <a:prstGeom prst="rect">
            <a:avLst/>
          </a:prstGeom>
          <a:noFill/>
          <a:ln cap="rnd">
            <a:noFill/>
          </a:ln>
        </p:spPr>
        <p:txBody>
          <a:bodyPr vert="horz" wrap="square" lIns="0" tIns="0" rIns="0" bIns="0" rtlCol="0" anchor="ctr" anchorCtr="0">
            <a:noAutofit/>
          </a:bodyPr>
          <a:lstStyle/>
          <a:p>
            <a:pPr>
              <a:buSzPct val="100000"/>
              <a:buFont typeface="Trebuchet MS" panose="020B0603020202020204" pitchFamily="34" charset="0"/>
              <a:buChar char="​"/>
            </a:pPr>
            <a:r>
              <a:rPr lang="en-US" sz="1400" err="1">
                <a:solidFill>
                  <a:srgbClr val="29BA74"/>
                </a:solidFill>
                <a:sym typeface="+mn-lt"/>
              </a:rPr>
              <a:t>MarTech</a:t>
            </a:r>
            <a:r>
              <a:rPr lang="en-US" sz="1400">
                <a:solidFill>
                  <a:srgbClr val="29BA74"/>
                </a:solidFill>
                <a:sym typeface="+mn-lt"/>
              </a:rPr>
              <a:t> Stack </a:t>
            </a:r>
            <a:br>
              <a:rPr lang="en-US" sz="1400">
                <a:solidFill>
                  <a:srgbClr val="29BA74"/>
                </a:solidFill>
                <a:sym typeface="+mn-lt"/>
              </a:rPr>
            </a:br>
            <a:r>
              <a:rPr lang="en-US" sz="1400">
                <a:solidFill>
                  <a:srgbClr val="29BA74"/>
                </a:solidFill>
                <a:sym typeface="+mn-lt"/>
              </a:rPr>
              <a:t>and delivery</a:t>
            </a:r>
          </a:p>
        </p:txBody>
      </p:sp>
      <p:sp>
        <p:nvSpPr>
          <p:cNvPr id="118" name="ee4pHeader1">
            <a:extLst>
              <a:ext uri="{FF2B5EF4-FFF2-40B4-BE49-F238E27FC236}">
                <a16:creationId xmlns:a16="http://schemas.microsoft.com/office/drawing/2014/main" id="{6B299A29-F501-4EDA-89CA-34BB0EBF3B0A}"/>
              </a:ext>
            </a:extLst>
          </p:cNvPr>
          <p:cNvSpPr txBox="1"/>
          <p:nvPr/>
        </p:nvSpPr>
        <p:spPr>
          <a:xfrm>
            <a:off x="1106274" y="4592330"/>
            <a:ext cx="1348981" cy="469263"/>
          </a:xfrm>
          <a:prstGeom prst="rect">
            <a:avLst/>
          </a:prstGeom>
          <a:noFill/>
          <a:ln cap="rnd">
            <a:noFill/>
          </a:ln>
        </p:spPr>
        <p:txBody>
          <a:bodyPr vert="horz" wrap="square" lIns="0" tIns="0" rIns="0" bIns="0" rtlCol="0" anchor="ctr" anchorCtr="0">
            <a:noAutofit/>
          </a:bodyPr>
          <a:lstStyle/>
          <a:p>
            <a:pPr>
              <a:buSzPct val="100000"/>
              <a:buFont typeface="Trebuchet MS" panose="020B0603020202020204" pitchFamily="34" charset="0"/>
              <a:buChar char="​"/>
            </a:pPr>
            <a:r>
              <a:rPr lang="en-US" sz="1400">
                <a:solidFill>
                  <a:srgbClr val="29BA74"/>
                </a:solidFill>
                <a:sym typeface="+mn-lt"/>
              </a:rPr>
              <a:t>Experimentation/measurement</a:t>
            </a:r>
          </a:p>
        </p:txBody>
      </p:sp>
      <p:sp>
        <p:nvSpPr>
          <p:cNvPr id="119" name="ee4pHeader1">
            <a:extLst>
              <a:ext uri="{FF2B5EF4-FFF2-40B4-BE49-F238E27FC236}">
                <a16:creationId xmlns:a16="http://schemas.microsoft.com/office/drawing/2014/main" id="{E8F6FF5C-287C-43F8-99BB-4610E82B7CCF}"/>
              </a:ext>
            </a:extLst>
          </p:cNvPr>
          <p:cNvSpPr txBox="1"/>
          <p:nvPr/>
        </p:nvSpPr>
        <p:spPr>
          <a:xfrm>
            <a:off x="1106274" y="5256287"/>
            <a:ext cx="1348981" cy="469263"/>
          </a:xfrm>
          <a:prstGeom prst="rect">
            <a:avLst/>
          </a:prstGeom>
          <a:noFill/>
          <a:ln cap="rnd">
            <a:noFill/>
          </a:ln>
        </p:spPr>
        <p:txBody>
          <a:bodyPr vert="horz" wrap="square" lIns="0" tIns="0" rIns="0" bIns="0" rtlCol="0" anchor="ctr" anchorCtr="0">
            <a:noAutofit/>
          </a:bodyPr>
          <a:lstStyle/>
          <a:p>
            <a:pPr>
              <a:buSzPct val="100000"/>
              <a:buFont typeface="Trebuchet MS" panose="020B0603020202020204" pitchFamily="34" charset="0"/>
              <a:buChar char="​"/>
            </a:pPr>
            <a:r>
              <a:rPr lang="en-US" sz="1400">
                <a:solidFill>
                  <a:srgbClr val="29BA74"/>
                </a:solidFill>
                <a:sym typeface="+mn-lt"/>
              </a:rPr>
              <a:t>Operating model/ WoW</a:t>
            </a:r>
          </a:p>
        </p:txBody>
      </p:sp>
      <p:sp>
        <p:nvSpPr>
          <p:cNvPr id="120" name="ee4pHeader1">
            <a:extLst>
              <a:ext uri="{FF2B5EF4-FFF2-40B4-BE49-F238E27FC236}">
                <a16:creationId xmlns:a16="http://schemas.microsoft.com/office/drawing/2014/main" id="{CB2FEA72-C569-4DA7-AF9C-EB115B9E3612}"/>
              </a:ext>
            </a:extLst>
          </p:cNvPr>
          <p:cNvSpPr txBox="1"/>
          <p:nvPr/>
        </p:nvSpPr>
        <p:spPr>
          <a:xfrm>
            <a:off x="1106274" y="1762602"/>
            <a:ext cx="1348981" cy="469263"/>
          </a:xfrm>
          <a:prstGeom prst="rect">
            <a:avLst/>
          </a:prstGeom>
          <a:noFill/>
          <a:ln cap="rnd">
            <a:noFill/>
          </a:ln>
        </p:spPr>
        <p:txBody>
          <a:bodyPr vert="horz" wrap="square" lIns="0" tIns="0" rIns="0" bIns="0" rtlCol="0" anchor="ctr" anchorCtr="0">
            <a:noAutofit/>
          </a:bodyPr>
          <a:lstStyle/>
          <a:p>
            <a:pPr>
              <a:buSzPct val="100000"/>
              <a:buFont typeface="Trebuchet MS" panose="020B0603020202020204" pitchFamily="34" charset="0"/>
              <a:buChar char="​"/>
            </a:pPr>
            <a:r>
              <a:rPr lang="en-US" sz="1400">
                <a:solidFill>
                  <a:srgbClr val="29BA74"/>
                </a:solidFill>
                <a:sym typeface="+mn-lt"/>
              </a:rPr>
              <a:t>Customer DNA</a:t>
            </a:r>
          </a:p>
        </p:txBody>
      </p:sp>
      <p:sp>
        <p:nvSpPr>
          <p:cNvPr id="100" name="Rectangle 99">
            <a:extLst>
              <a:ext uri="{FF2B5EF4-FFF2-40B4-BE49-F238E27FC236}">
                <a16:creationId xmlns:a16="http://schemas.microsoft.com/office/drawing/2014/main" id="{AEB058AB-C086-4E62-B49D-B2D7021CAACE}"/>
              </a:ext>
            </a:extLst>
          </p:cNvPr>
          <p:cNvSpPr/>
          <p:nvPr/>
        </p:nvSpPr>
        <p:spPr>
          <a:xfrm>
            <a:off x="810001" y="1296727"/>
            <a:ext cx="1747253" cy="307777"/>
          </a:xfrm>
          <a:prstGeom prst="rect">
            <a:avLst/>
          </a:prstGeom>
        </p:spPr>
        <p:txBody>
          <a:bodyPr wrap="square" lIns="0" rIns="0">
            <a:spAutoFit/>
          </a:bodyPr>
          <a:lstStyle/>
          <a:p>
            <a:pPr>
              <a:buSzPct val="100000"/>
              <a:buFont typeface="Trebuchet MS" panose="020B0603020202020204" pitchFamily="34" charset="0"/>
              <a:buChar char="​"/>
            </a:pPr>
            <a:r>
              <a:rPr lang="en-US" sz="1400">
                <a:solidFill>
                  <a:srgbClr val="29BA74"/>
                </a:solidFill>
                <a:sym typeface="+mn-lt"/>
              </a:rPr>
              <a:t>Capability </a:t>
            </a:r>
          </a:p>
        </p:txBody>
      </p:sp>
      <p:sp>
        <p:nvSpPr>
          <p:cNvPr id="3" name="Textfeld 1">
            <a:extLst>
              <a:ext uri="{FF2B5EF4-FFF2-40B4-BE49-F238E27FC236}">
                <a16:creationId xmlns:a16="http://schemas.microsoft.com/office/drawing/2014/main" id="{E8282351-B7F8-D638-44F7-776059A1802D}"/>
              </a:ext>
            </a:extLst>
          </p:cNvPr>
          <p:cNvSpPr txBox="1"/>
          <p:nvPr>
            <p:custDataLst>
              <p:tags r:id="rId9"/>
            </p:custDataLst>
          </p:nvPr>
        </p:nvSpPr>
        <p:spPr>
          <a:xfrm>
            <a:off x="150955" y="20641"/>
            <a:ext cx="2743200" cy="483209"/>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en-US" sz="1200" b="1">
                <a:solidFill>
                  <a:srgbClr val="575757"/>
                </a:solidFill>
                <a:sym typeface="Trebuchet MS" panose="020B0603020202020204" pitchFamily="34" charset="0"/>
              </a:rPr>
              <a:t>TM 21.Jun.24:
</a:t>
            </a:r>
          </a:p>
        </p:txBody>
      </p:sp>
    </p:spTree>
    <p:extLst>
      <p:ext uri="{BB962C8B-B14F-4D97-AF65-F5344CB8AC3E}">
        <p14:creationId xmlns:p14="http://schemas.microsoft.com/office/powerpoint/2010/main" val="51589482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0497930C-18C5-4A6E-9C01-4AC2BCD5E245}"/>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8" imgW="444" imgH="446" progId="TCLayout.ActiveDocument.1">
                  <p:embed/>
                </p:oleObj>
              </mc:Choice>
              <mc:Fallback>
                <p:oleObj name="think-cell Slide" r:id="rId18" imgW="444" imgH="446" progId="TCLayout.ActiveDocument.1">
                  <p:embed/>
                  <p:pic>
                    <p:nvPicPr>
                      <p:cNvPr id="4" name="Object 3" hidden="1">
                        <a:extLst>
                          <a:ext uri="{FF2B5EF4-FFF2-40B4-BE49-F238E27FC236}">
                            <a16:creationId xmlns:a16="http://schemas.microsoft.com/office/drawing/2014/main" id="{0497930C-18C5-4A6E-9C01-4AC2BCD5E245}"/>
                          </a:ext>
                        </a:extLst>
                      </p:cNvPr>
                      <p:cNvPicPr/>
                      <p:nvPr/>
                    </p:nvPicPr>
                    <p:blipFill>
                      <a:blip r:embed="rId19"/>
                      <a:stretch>
                        <a:fillRect/>
                      </a:stretch>
                    </p:blipFill>
                    <p:spPr>
                      <a:xfrm>
                        <a:off x="1588" y="1588"/>
                        <a:ext cx="1588" cy="1588"/>
                      </a:xfrm>
                      <a:prstGeom prst="rect">
                        <a:avLst/>
                      </a:prstGeom>
                    </p:spPr>
                  </p:pic>
                </p:oleObj>
              </mc:Fallback>
            </mc:AlternateContent>
          </a:graphicData>
        </a:graphic>
      </p:graphicFrame>
      <p:sp>
        <p:nvSpPr>
          <p:cNvPr id="3" name="Rectangle 2" hidden="1">
            <a:extLst>
              <a:ext uri="{FF2B5EF4-FFF2-40B4-BE49-F238E27FC236}">
                <a16:creationId xmlns:a16="http://schemas.microsoft.com/office/drawing/2014/main" id="{DD0105F7-C35A-4B20-A37F-7AAB6A9D29BC}"/>
              </a:ext>
            </a:extLst>
          </p:cNvPr>
          <p:cNvSpPr/>
          <p:nvPr>
            <p:custDataLst>
              <p:tags r:id="rId2"/>
            </p:custDataLst>
          </p:nvPr>
        </p:nvSpPr>
        <p:spPr>
          <a:xfrm>
            <a:off x="0" y="0"/>
            <a:ext cx="158750" cy="158750"/>
          </a:xfrm>
          <a:prstGeom prst="rect">
            <a:avLst/>
          </a:prstGeom>
          <a:solidFill>
            <a:srgbClr val="29BA74"/>
          </a:solidFill>
          <a:ln w="9525" cap="rnd" cmpd="sng" algn="ctr">
            <a:solidFill>
              <a:srgbClr val="29BA74"/>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endParaRPr lang="en-US" sz="2400">
              <a:solidFill>
                <a:srgbClr val="FFFFFF"/>
              </a:solidFill>
              <a:latin typeface="Trebuchet MS" panose="020B0603020202020204" pitchFamily="34" charset="0"/>
              <a:ea typeface="+mj-ea"/>
              <a:cs typeface="+mj-cs"/>
              <a:sym typeface="Trebuchet MS" panose="020B0603020202020204" pitchFamily="34" charset="0"/>
            </a:endParaRPr>
          </a:p>
        </p:txBody>
      </p:sp>
      <p:sp>
        <p:nvSpPr>
          <p:cNvPr id="2" name="Title 1">
            <a:extLst>
              <a:ext uri="{FF2B5EF4-FFF2-40B4-BE49-F238E27FC236}">
                <a16:creationId xmlns:a16="http://schemas.microsoft.com/office/drawing/2014/main" id="{210D177E-FB12-425D-93FD-FA24D1B6FA48}"/>
              </a:ext>
            </a:extLst>
          </p:cNvPr>
          <p:cNvSpPr>
            <a:spLocks noGrp="1"/>
          </p:cNvSpPr>
          <p:nvPr>
            <p:ph type="title"/>
          </p:nvPr>
        </p:nvSpPr>
        <p:spPr/>
        <p:txBody>
          <a:bodyPr/>
          <a:lstStyle/>
          <a:p>
            <a:r>
              <a:rPr lang="en-US"/>
              <a:t>Building of capabilities through development of MVPs (I/II)</a:t>
            </a:r>
            <a:endParaRPr lang="en-US">
              <a:sym typeface="+mj-lt"/>
            </a:endParaRPr>
          </a:p>
        </p:txBody>
      </p:sp>
      <p:sp>
        <p:nvSpPr>
          <p:cNvPr id="216" name="ee4pHeader1">
            <a:extLst>
              <a:ext uri="{FF2B5EF4-FFF2-40B4-BE49-F238E27FC236}">
                <a16:creationId xmlns:a16="http://schemas.microsoft.com/office/drawing/2014/main" id="{200001E7-7865-4CB2-A474-C1EA4F1DB825}"/>
              </a:ext>
            </a:extLst>
          </p:cNvPr>
          <p:cNvSpPr txBox="1"/>
          <p:nvPr/>
        </p:nvSpPr>
        <p:spPr>
          <a:xfrm>
            <a:off x="1106274" y="2426563"/>
            <a:ext cx="1348981" cy="469263"/>
          </a:xfrm>
          <a:prstGeom prst="rect">
            <a:avLst/>
          </a:prstGeom>
          <a:noFill/>
          <a:ln cap="rnd">
            <a:noFill/>
          </a:ln>
        </p:spPr>
        <p:txBody>
          <a:bodyPr vert="horz" wrap="square" lIns="0" tIns="0" rIns="0" bIns="0" rtlCol="0" anchor="ctr" anchorCtr="0">
            <a:noAutofit/>
          </a:bodyPr>
          <a:lstStyle/>
          <a:p>
            <a:pPr>
              <a:buSzPct val="100000"/>
              <a:buFont typeface="Trebuchet MS" panose="020B0603020202020204" pitchFamily="34" charset="0"/>
              <a:buChar char="​"/>
            </a:pPr>
            <a:r>
              <a:rPr lang="en-US" sz="1400">
                <a:solidFill>
                  <a:srgbClr val="29BA74"/>
                </a:solidFill>
                <a:sym typeface="+mn-lt"/>
              </a:rPr>
              <a:t>Analytics</a:t>
            </a:r>
          </a:p>
        </p:txBody>
      </p:sp>
      <p:grpSp>
        <p:nvGrpSpPr>
          <p:cNvPr id="217" name="Group 216">
            <a:extLst>
              <a:ext uri="{FF2B5EF4-FFF2-40B4-BE49-F238E27FC236}">
                <a16:creationId xmlns:a16="http://schemas.microsoft.com/office/drawing/2014/main" id="{E52E3B50-4427-4452-B888-E992CF733F08}"/>
              </a:ext>
            </a:extLst>
          </p:cNvPr>
          <p:cNvGrpSpPr>
            <a:grpSpLocks/>
          </p:cNvGrpSpPr>
          <p:nvPr/>
        </p:nvGrpSpPr>
        <p:grpSpPr>
          <a:xfrm>
            <a:off x="630000" y="2478315"/>
            <a:ext cx="365760" cy="365760"/>
            <a:chOff x="6464300" y="2606675"/>
            <a:chExt cx="1646238" cy="1644650"/>
          </a:xfrm>
        </p:grpSpPr>
        <p:sp>
          <p:nvSpPr>
            <p:cNvPr id="247" name="AutoShape 15">
              <a:extLst>
                <a:ext uri="{FF2B5EF4-FFF2-40B4-BE49-F238E27FC236}">
                  <a16:creationId xmlns:a16="http://schemas.microsoft.com/office/drawing/2014/main" id="{48D76F30-B921-4282-80A4-B48BE8B3ADA1}"/>
                </a:ext>
              </a:extLst>
            </p:cNvPr>
            <p:cNvSpPr>
              <a:spLocks noChangeAspect="1" noChangeArrowheads="1" noTextEdit="1"/>
            </p:cNvSpPr>
            <p:nvPr/>
          </p:nvSpPr>
          <p:spPr bwMode="auto">
            <a:xfrm>
              <a:off x="6464300"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grpSp>
          <p:nvGrpSpPr>
            <p:cNvPr id="248" name="Group 247">
              <a:extLst>
                <a:ext uri="{FF2B5EF4-FFF2-40B4-BE49-F238E27FC236}">
                  <a16:creationId xmlns:a16="http://schemas.microsoft.com/office/drawing/2014/main" id="{DA611DCD-C891-488E-B7B7-EF163DBE705C}"/>
                </a:ext>
              </a:extLst>
            </p:cNvPr>
            <p:cNvGrpSpPr/>
            <p:nvPr/>
          </p:nvGrpSpPr>
          <p:grpSpPr>
            <a:xfrm>
              <a:off x="6635750" y="2963862"/>
              <a:ext cx="1367015" cy="1238250"/>
              <a:chOff x="6635750" y="2963862"/>
              <a:chExt cx="1367015" cy="1238250"/>
            </a:xfrm>
          </p:grpSpPr>
          <p:sp>
            <p:nvSpPr>
              <p:cNvPr id="249" name="Freeform 10">
                <a:extLst>
                  <a:ext uri="{FF2B5EF4-FFF2-40B4-BE49-F238E27FC236}">
                    <a16:creationId xmlns:a16="http://schemas.microsoft.com/office/drawing/2014/main" id="{F5E5185E-2897-431D-948E-A6379930E4C0}"/>
                  </a:ext>
                </a:extLst>
              </p:cNvPr>
              <p:cNvSpPr>
                <a:spLocks/>
              </p:cNvSpPr>
              <p:nvPr/>
            </p:nvSpPr>
            <p:spPr bwMode="auto">
              <a:xfrm>
                <a:off x="6635750" y="2963862"/>
                <a:ext cx="1367015" cy="1238250"/>
              </a:xfrm>
              <a:custGeom>
                <a:avLst/>
                <a:gdLst>
                  <a:gd name="connsiteX0" fmla="*/ 1124567 w 1367015"/>
                  <a:gd name="connsiteY0" fmla="*/ 922337 h 1238250"/>
                  <a:gd name="connsiteX1" fmla="*/ 1113855 w 1367015"/>
                  <a:gd name="connsiteY1" fmla="*/ 931647 h 1238250"/>
                  <a:gd name="connsiteX2" fmla="*/ 1058863 w 1367015"/>
                  <a:gd name="connsiteY2" fmla="*/ 985360 h 1238250"/>
                  <a:gd name="connsiteX3" fmla="*/ 1269544 w 1367015"/>
                  <a:gd name="connsiteY3" fmla="*/ 1205939 h 1238250"/>
                  <a:gd name="connsiteX4" fmla="*/ 1282399 w 1367015"/>
                  <a:gd name="connsiteY4" fmla="*/ 1205939 h 1238250"/>
                  <a:gd name="connsiteX5" fmla="*/ 1313109 w 1367015"/>
                  <a:gd name="connsiteY5" fmla="*/ 1185886 h 1238250"/>
                  <a:gd name="connsiteX6" fmla="*/ 1333820 w 1367015"/>
                  <a:gd name="connsiteY6" fmla="*/ 1155807 h 1238250"/>
                  <a:gd name="connsiteX7" fmla="*/ 1335248 w 1367015"/>
                  <a:gd name="connsiteY7" fmla="*/ 1142916 h 1238250"/>
                  <a:gd name="connsiteX8" fmla="*/ 1133851 w 1367015"/>
                  <a:gd name="connsiteY8" fmla="*/ 931647 h 1238250"/>
                  <a:gd name="connsiteX9" fmla="*/ 1124567 w 1367015"/>
                  <a:gd name="connsiteY9" fmla="*/ 922337 h 1238250"/>
                  <a:gd name="connsiteX10" fmla="*/ 925229 w 1367015"/>
                  <a:gd name="connsiteY10" fmla="*/ 906462 h 1238250"/>
                  <a:gd name="connsiteX11" fmla="*/ 949325 w 1367015"/>
                  <a:gd name="connsiteY11" fmla="*/ 931862 h 1238250"/>
                  <a:gd name="connsiteX12" fmla="*/ 869950 w 1367015"/>
                  <a:gd name="connsiteY12" fmla="*/ 931862 h 1238250"/>
                  <a:gd name="connsiteX13" fmla="*/ 925229 w 1367015"/>
                  <a:gd name="connsiteY13" fmla="*/ 906462 h 1238250"/>
                  <a:gd name="connsiteX14" fmla="*/ 1124927 w 1367015"/>
                  <a:gd name="connsiteY14" fmla="*/ 884237 h 1238250"/>
                  <a:gd name="connsiteX15" fmla="*/ 1135645 w 1367015"/>
                  <a:gd name="connsiteY15" fmla="*/ 889243 h 1238250"/>
                  <a:gd name="connsiteX16" fmla="*/ 1146363 w 1367015"/>
                  <a:gd name="connsiteY16" fmla="*/ 900686 h 1238250"/>
                  <a:gd name="connsiteX17" fmla="*/ 1176374 w 1367015"/>
                  <a:gd name="connsiteY17" fmla="*/ 932154 h 1238250"/>
                  <a:gd name="connsiteX18" fmla="*/ 1357152 w 1367015"/>
                  <a:gd name="connsiteY18" fmla="*/ 1121676 h 1238250"/>
                  <a:gd name="connsiteX19" fmla="*/ 1363582 w 1367015"/>
                  <a:gd name="connsiteY19" fmla="*/ 1166017 h 1238250"/>
                  <a:gd name="connsiteX20" fmla="*/ 1335001 w 1367015"/>
                  <a:gd name="connsiteY20" fmla="*/ 1208928 h 1238250"/>
                  <a:gd name="connsiteX21" fmla="*/ 1290700 w 1367015"/>
                  <a:gd name="connsiteY21" fmla="*/ 1236105 h 1238250"/>
                  <a:gd name="connsiteX22" fmla="*/ 1273551 w 1367015"/>
                  <a:gd name="connsiteY22" fmla="*/ 1238250 h 1238250"/>
                  <a:gd name="connsiteX23" fmla="*/ 1246398 w 1367015"/>
                  <a:gd name="connsiteY23" fmla="*/ 1227522 h 1238250"/>
                  <a:gd name="connsiteX24" fmla="*/ 1024892 w 1367015"/>
                  <a:gd name="connsiteY24" fmla="*/ 996520 h 1238250"/>
                  <a:gd name="connsiteX25" fmla="*/ 1025606 w 1367015"/>
                  <a:gd name="connsiteY25" fmla="*/ 974350 h 1238250"/>
                  <a:gd name="connsiteX26" fmla="*/ 1068478 w 1367015"/>
                  <a:gd name="connsiteY26" fmla="*/ 932154 h 1238250"/>
                  <a:gd name="connsiteX27" fmla="*/ 1076338 w 1367015"/>
                  <a:gd name="connsiteY27" fmla="*/ 925002 h 1238250"/>
                  <a:gd name="connsiteX28" fmla="*/ 1100633 w 1367015"/>
                  <a:gd name="connsiteY28" fmla="*/ 900686 h 1238250"/>
                  <a:gd name="connsiteX29" fmla="*/ 1104205 w 1367015"/>
                  <a:gd name="connsiteY29" fmla="*/ 897826 h 1238250"/>
                  <a:gd name="connsiteX30" fmla="*/ 1113494 w 1367015"/>
                  <a:gd name="connsiteY30" fmla="*/ 889243 h 1238250"/>
                  <a:gd name="connsiteX31" fmla="*/ 1124927 w 1367015"/>
                  <a:gd name="connsiteY31" fmla="*/ 884237 h 1238250"/>
                  <a:gd name="connsiteX32" fmla="*/ 346518 w 1367015"/>
                  <a:gd name="connsiteY32" fmla="*/ 565150 h 1238250"/>
                  <a:gd name="connsiteX33" fmla="*/ 306388 w 1367015"/>
                  <a:gd name="connsiteY33" fmla="*/ 606784 h 1238250"/>
                  <a:gd name="connsiteX34" fmla="*/ 306388 w 1367015"/>
                  <a:gd name="connsiteY34" fmla="*/ 608938 h 1238250"/>
                  <a:gd name="connsiteX35" fmla="*/ 319765 w 1367015"/>
                  <a:gd name="connsiteY35" fmla="*/ 636933 h 1238250"/>
                  <a:gd name="connsiteX36" fmla="*/ 346518 w 1367015"/>
                  <a:gd name="connsiteY36" fmla="*/ 647700 h 1238250"/>
                  <a:gd name="connsiteX37" fmla="*/ 387351 w 1367015"/>
                  <a:gd name="connsiteY37" fmla="*/ 606784 h 1238250"/>
                  <a:gd name="connsiteX38" fmla="*/ 383127 w 1367015"/>
                  <a:gd name="connsiteY38" fmla="*/ 588838 h 1238250"/>
                  <a:gd name="connsiteX39" fmla="*/ 360598 w 1367015"/>
                  <a:gd name="connsiteY39" fmla="*/ 568021 h 1238250"/>
                  <a:gd name="connsiteX40" fmla="*/ 346518 w 1367015"/>
                  <a:gd name="connsiteY40" fmla="*/ 565150 h 1238250"/>
                  <a:gd name="connsiteX41" fmla="*/ 760846 w 1367015"/>
                  <a:gd name="connsiteY41" fmla="*/ 492125 h 1238250"/>
                  <a:gd name="connsiteX42" fmla="*/ 735591 w 1367015"/>
                  <a:gd name="connsiteY42" fmla="*/ 499181 h 1238250"/>
                  <a:gd name="connsiteX43" fmla="*/ 710335 w 1367015"/>
                  <a:gd name="connsiteY43" fmla="*/ 535164 h 1238250"/>
                  <a:gd name="connsiteX44" fmla="*/ 709613 w 1367015"/>
                  <a:gd name="connsiteY44" fmla="*/ 542925 h 1238250"/>
                  <a:gd name="connsiteX45" fmla="*/ 760846 w 1367015"/>
                  <a:gd name="connsiteY45" fmla="*/ 593725 h 1238250"/>
                  <a:gd name="connsiteX46" fmla="*/ 767341 w 1367015"/>
                  <a:gd name="connsiteY46" fmla="*/ 593725 h 1238250"/>
                  <a:gd name="connsiteX47" fmla="*/ 804864 w 1367015"/>
                  <a:gd name="connsiteY47" fmla="*/ 570442 h 1238250"/>
                  <a:gd name="connsiteX48" fmla="*/ 812801 w 1367015"/>
                  <a:gd name="connsiteY48" fmla="*/ 542925 h 1238250"/>
                  <a:gd name="connsiteX49" fmla="*/ 812801 w 1367015"/>
                  <a:gd name="connsiteY49" fmla="*/ 539397 h 1238250"/>
                  <a:gd name="connsiteX50" fmla="*/ 768062 w 1367015"/>
                  <a:gd name="connsiteY50" fmla="*/ 492831 h 1238250"/>
                  <a:gd name="connsiteX51" fmla="*/ 760846 w 1367015"/>
                  <a:gd name="connsiteY51" fmla="*/ 492125 h 1238250"/>
                  <a:gd name="connsiteX52" fmla="*/ 891455 w 1367015"/>
                  <a:gd name="connsiteY52" fmla="*/ 415925 h 1238250"/>
                  <a:gd name="connsiteX53" fmla="*/ 915035 w 1367015"/>
                  <a:gd name="connsiteY53" fmla="*/ 434485 h 1238250"/>
                  <a:gd name="connsiteX54" fmla="*/ 920751 w 1367015"/>
                  <a:gd name="connsiteY54" fmla="*/ 439482 h 1238250"/>
                  <a:gd name="connsiteX55" fmla="*/ 877164 w 1367015"/>
                  <a:gd name="connsiteY55" fmla="*/ 474460 h 1238250"/>
                  <a:gd name="connsiteX56" fmla="*/ 850012 w 1367015"/>
                  <a:gd name="connsiteY56" fmla="*/ 496589 h 1238250"/>
                  <a:gd name="connsiteX57" fmla="*/ 838579 w 1367015"/>
                  <a:gd name="connsiteY57" fmla="*/ 505155 h 1238250"/>
                  <a:gd name="connsiteX58" fmla="*/ 844296 w 1367015"/>
                  <a:gd name="connsiteY58" fmla="*/ 519432 h 1238250"/>
                  <a:gd name="connsiteX59" fmla="*/ 847154 w 1367015"/>
                  <a:gd name="connsiteY59" fmla="*/ 542989 h 1238250"/>
                  <a:gd name="connsiteX60" fmla="*/ 845725 w 1367015"/>
                  <a:gd name="connsiteY60" fmla="*/ 561549 h 1238250"/>
                  <a:gd name="connsiteX61" fmla="*/ 824289 w 1367015"/>
                  <a:gd name="connsiteY61" fmla="*/ 601524 h 1238250"/>
                  <a:gd name="connsiteX62" fmla="*/ 761409 w 1367015"/>
                  <a:gd name="connsiteY62" fmla="*/ 628650 h 1238250"/>
                  <a:gd name="connsiteX63" fmla="*/ 676379 w 1367015"/>
                  <a:gd name="connsiteY63" fmla="*/ 542989 h 1238250"/>
                  <a:gd name="connsiteX64" fmla="*/ 678523 w 1367015"/>
                  <a:gd name="connsiteY64" fmla="*/ 523715 h 1238250"/>
                  <a:gd name="connsiteX65" fmla="*/ 582775 w 1367015"/>
                  <a:gd name="connsiteY65" fmla="*/ 477316 h 1238250"/>
                  <a:gd name="connsiteX66" fmla="*/ 569913 w 1367015"/>
                  <a:gd name="connsiteY66" fmla="*/ 470891 h 1238250"/>
                  <a:gd name="connsiteX67" fmla="*/ 594208 w 1367015"/>
                  <a:gd name="connsiteY67" fmla="*/ 441623 h 1238250"/>
                  <a:gd name="connsiteX68" fmla="*/ 694957 w 1367015"/>
                  <a:gd name="connsiteY68" fmla="*/ 490165 h 1238250"/>
                  <a:gd name="connsiteX69" fmla="*/ 715679 w 1367015"/>
                  <a:gd name="connsiteY69" fmla="*/ 470891 h 1238250"/>
                  <a:gd name="connsiteX70" fmla="*/ 761409 w 1367015"/>
                  <a:gd name="connsiteY70" fmla="*/ 457328 h 1238250"/>
                  <a:gd name="connsiteX71" fmla="*/ 789991 w 1367015"/>
                  <a:gd name="connsiteY71" fmla="*/ 462325 h 1238250"/>
                  <a:gd name="connsiteX72" fmla="*/ 815714 w 1367015"/>
                  <a:gd name="connsiteY72" fmla="*/ 476602 h 1238250"/>
                  <a:gd name="connsiteX73" fmla="*/ 831434 w 1367015"/>
                  <a:gd name="connsiteY73" fmla="*/ 464466 h 1238250"/>
                  <a:gd name="connsiteX74" fmla="*/ 891455 w 1367015"/>
                  <a:gd name="connsiteY74" fmla="*/ 415925 h 1238250"/>
                  <a:gd name="connsiteX75" fmla="*/ 772661 w 1367015"/>
                  <a:gd name="connsiteY75" fmla="*/ 346605 h 1238250"/>
                  <a:gd name="connsiteX76" fmla="*/ 628158 w 1367015"/>
                  <a:gd name="connsiteY76" fmla="*/ 379415 h 1238250"/>
                  <a:gd name="connsiteX77" fmla="*/ 571784 w 1367015"/>
                  <a:gd name="connsiteY77" fmla="*/ 420783 h 1238250"/>
                  <a:gd name="connsiteX78" fmla="*/ 546809 w 1367015"/>
                  <a:gd name="connsiteY78" fmla="*/ 449314 h 1238250"/>
                  <a:gd name="connsiteX79" fmla="*/ 524687 w 1367015"/>
                  <a:gd name="connsiteY79" fmla="*/ 482123 h 1238250"/>
                  <a:gd name="connsiteX80" fmla="*/ 564648 w 1367015"/>
                  <a:gd name="connsiteY80" fmla="*/ 800235 h 1238250"/>
                  <a:gd name="connsiteX81" fmla="*/ 678110 w 1367015"/>
                  <a:gd name="connsiteY81" fmla="*/ 869420 h 1238250"/>
                  <a:gd name="connsiteX82" fmla="*/ 837955 w 1367015"/>
                  <a:gd name="connsiteY82" fmla="*/ 869420 h 1238250"/>
                  <a:gd name="connsiteX83" fmla="*/ 921445 w 1367015"/>
                  <a:gd name="connsiteY83" fmla="*/ 826625 h 1238250"/>
                  <a:gd name="connsiteX84" fmla="*/ 944280 w 1367015"/>
                  <a:gd name="connsiteY84" fmla="*/ 807367 h 1238250"/>
                  <a:gd name="connsiteX85" fmla="*/ 967115 w 1367015"/>
                  <a:gd name="connsiteY85" fmla="*/ 783117 h 1238250"/>
                  <a:gd name="connsiteX86" fmla="*/ 959979 w 1367015"/>
                  <a:gd name="connsiteY86" fmla="*/ 437902 h 1238250"/>
                  <a:gd name="connsiteX87" fmla="*/ 951416 w 1367015"/>
                  <a:gd name="connsiteY87" fmla="*/ 427916 h 1238250"/>
                  <a:gd name="connsiteX88" fmla="*/ 937858 w 1367015"/>
                  <a:gd name="connsiteY88" fmla="*/ 415791 h 1238250"/>
                  <a:gd name="connsiteX89" fmla="*/ 912882 w 1367015"/>
                  <a:gd name="connsiteY89" fmla="*/ 395106 h 1238250"/>
                  <a:gd name="connsiteX90" fmla="*/ 772661 w 1367015"/>
                  <a:gd name="connsiteY90" fmla="*/ 346605 h 1238250"/>
                  <a:gd name="connsiteX91" fmla="*/ 785477 w 1367015"/>
                  <a:gd name="connsiteY91" fmla="*/ 308032 h 1238250"/>
                  <a:gd name="connsiteX92" fmla="*/ 945296 w 1367015"/>
                  <a:gd name="connsiteY92" fmla="*/ 370115 h 1238250"/>
                  <a:gd name="connsiteX93" fmla="*/ 969609 w 1367015"/>
                  <a:gd name="connsiteY93" fmla="*/ 390809 h 1238250"/>
                  <a:gd name="connsiteX94" fmla="*/ 980335 w 1367015"/>
                  <a:gd name="connsiteY94" fmla="*/ 400799 h 1238250"/>
                  <a:gd name="connsiteX95" fmla="*/ 991061 w 1367015"/>
                  <a:gd name="connsiteY95" fmla="*/ 413644 h 1238250"/>
                  <a:gd name="connsiteX96" fmla="*/ 1008223 w 1367015"/>
                  <a:gd name="connsiteY96" fmla="*/ 791852 h 1238250"/>
                  <a:gd name="connsiteX97" fmla="*/ 1080445 w 1367015"/>
                  <a:gd name="connsiteY97" fmla="*/ 866780 h 1238250"/>
                  <a:gd name="connsiteX98" fmla="*/ 1081875 w 1367015"/>
                  <a:gd name="connsiteY98" fmla="*/ 868921 h 1238250"/>
                  <a:gd name="connsiteX99" fmla="*/ 1081875 w 1367015"/>
                  <a:gd name="connsiteY99" fmla="*/ 876770 h 1238250"/>
                  <a:gd name="connsiteX100" fmla="*/ 1056848 w 1367015"/>
                  <a:gd name="connsiteY100" fmla="*/ 900319 h 1238250"/>
                  <a:gd name="connsiteX101" fmla="*/ 1055418 w 1367015"/>
                  <a:gd name="connsiteY101" fmla="*/ 901746 h 1238250"/>
                  <a:gd name="connsiteX102" fmla="*/ 1023954 w 1367015"/>
                  <a:gd name="connsiteY102" fmla="*/ 931717 h 1238250"/>
                  <a:gd name="connsiteX103" fmla="*/ 1014658 w 1367015"/>
                  <a:gd name="connsiteY103" fmla="*/ 940994 h 1238250"/>
                  <a:gd name="connsiteX104" fmla="*/ 1003217 w 1367015"/>
                  <a:gd name="connsiteY104" fmla="*/ 940994 h 1238250"/>
                  <a:gd name="connsiteX105" fmla="*/ 993921 w 1367015"/>
                  <a:gd name="connsiteY105" fmla="*/ 931717 h 1238250"/>
                  <a:gd name="connsiteX106" fmla="*/ 963888 w 1367015"/>
                  <a:gd name="connsiteY106" fmla="*/ 900319 h 1238250"/>
                  <a:gd name="connsiteX107" fmla="*/ 933140 w 1367015"/>
                  <a:gd name="connsiteY107" fmla="*/ 868921 h 1238250"/>
                  <a:gd name="connsiteX108" fmla="*/ 930995 w 1367015"/>
                  <a:gd name="connsiteY108" fmla="*/ 866780 h 1238250"/>
                  <a:gd name="connsiteX109" fmla="*/ 926704 w 1367015"/>
                  <a:gd name="connsiteY109" fmla="*/ 868921 h 1238250"/>
                  <a:gd name="connsiteX110" fmla="*/ 864493 w 1367015"/>
                  <a:gd name="connsiteY110" fmla="*/ 900319 h 1238250"/>
                  <a:gd name="connsiteX111" fmla="*/ 651400 w 1367015"/>
                  <a:gd name="connsiteY111" fmla="*/ 900319 h 1238250"/>
                  <a:gd name="connsiteX112" fmla="*/ 589189 w 1367015"/>
                  <a:gd name="connsiteY112" fmla="*/ 868921 h 1238250"/>
                  <a:gd name="connsiteX113" fmla="*/ 536988 w 1367015"/>
                  <a:gd name="connsiteY113" fmla="*/ 826105 h 1238250"/>
                  <a:gd name="connsiteX114" fmla="*/ 457615 w 1367015"/>
                  <a:gd name="connsiteY114" fmla="*/ 554937 h 1238250"/>
                  <a:gd name="connsiteX115" fmla="*/ 481213 w 1367015"/>
                  <a:gd name="connsiteY115" fmla="*/ 482863 h 1238250"/>
                  <a:gd name="connsiteX116" fmla="*/ 530553 w 1367015"/>
                  <a:gd name="connsiteY116" fmla="*/ 408649 h 1238250"/>
                  <a:gd name="connsiteX117" fmla="*/ 545569 w 1367015"/>
                  <a:gd name="connsiteY117" fmla="*/ 392236 h 1238250"/>
                  <a:gd name="connsiteX118" fmla="*/ 592049 w 1367015"/>
                  <a:gd name="connsiteY118" fmla="*/ 355843 h 1238250"/>
                  <a:gd name="connsiteX119" fmla="*/ 619222 w 1367015"/>
                  <a:gd name="connsiteY119" fmla="*/ 340143 h 1238250"/>
                  <a:gd name="connsiteX120" fmla="*/ 785477 w 1367015"/>
                  <a:gd name="connsiteY120" fmla="*/ 308032 h 1238250"/>
                  <a:gd name="connsiteX121" fmla="*/ 555676 w 1367015"/>
                  <a:gd name="connsiteY121" fmla="*/ 304800 h 1238250"/>
                  <a:gd name="connsiteX122" fmla="*/ 595313 w 1367015"/>
                  <a:gd name="connsiteY122" fmla="*/ 316982 h 1238250"/>
                  <a:gd name="connsiteX123" fmla="*/ 563462 w 1367015"/>
                  <a:gd name="connsiteY123" fmla="*/ 337046 h 1238250"/>
                  <a:gd name="connsiteX124" fmla="*/ 555676 w 1367015"/>
                  <a:gd name="connsiteY124" fmla="*/ 336330 h 1238250"/>
                  <a:gd name="connsiteX125" fmla="*/ 515331 w 1367015"/>
                  <a:gd name="connsiteY125" fmla="*/ 377175 h 1238250"/>
                  <a:gd name="connsiteX126" fmla="*/ 515331 w 1367015"/>
                  <a:gd name="connsiteY126" fmla="*/ 379325 h 1238250"/>
                  <a:gd name="connsiteX127" fmla="*/ 490558 w 1367015"/>
                  <a:gd name="connsiteY127" fmla="*/ 407988 h 1238250"/>
                  <a:gd name="connsiteX128" fmla="*/ 484188 w 1367015"/>
                  <a:gd name="connsiteY128" fmla="*/ 377175 h 1238250"/>
                  <a:gd name="connsiteX129" fmla="*/ 555676 w 1367015"/>
                  <a:gd name="connsiteY129" fmla="*/ 304800 h 1238250"/>
                  <a:gd name="connsiteX130" fmla="*/ 1089384 w 1367015"/>
                  <a:gd name="connsiteY130" fmla="*/ 233362 h 1238250"/>
                  <a:gd name="connsiteX131" fmla="*/ 1047750 w 1367015"/>
                  <a:gd name="connsiteY131" fmla="*/ 274996 h 1238250"/>
                  <a:gd name="connsiteX132" fmla="*/ 1049186 w 1367015"/>
                  <a:gd name="connsiteY132" fmla="*/ 286481 h 1238250"/>
                  <a:gd name="connsiteX133" fmla="*/ 1069285 w 1367015"/>
                  <a:gd name="connsiteY133" fmla="*/ 310887 h 1238250"/>
                  <a:gd name="connsiteX134" fmla="*/ 1089384 w 1367015"/>
                  <a:gd name="connsiteY134" fmla="*/ 315912 h 1238250"/>
                  <a:gd name="connsiteX135" fmla="*/ 1130300 w 1367015"/>
                  <a:gd name="connsiteY135" fmla="*/ 274996 h 1238250"/>
                  <a:gd name="connsiteX136" fmla="*/ 1128865 w 1367015"/>
                  <a:gd name="connsiteY136" fmla="*/ 264229 h 1238250"/>
                  <a:gd name="connsiteX137" fmla="*/ 1109483 w 1367015"/>
                  <a:gd name="connsiteY137" fmla="*/ 239105 h 1238250"/>
                  <a:gd name="connsiteX138" fmla="*/ 1089384 w 1367015"/>
                  <a:gd name="connsiteY138" fmla="*/ 233362 h 1238250"/>
                  <a:gd name="connsiteX139" fmla="*/ 15705 w 1367015"/>
                  <a:gd name="connsiteY139" fmla="*/ 0 h 1238250"/>
                  <a:gd name="connsiteX140" fmla="*/ 1289220 w 1367015"/>
                  <a:gd name="connsiteY140" fmla="*/ 0 h 1238250"/>
                  <a:gd name="connsiteX141" fmla="*/ 1304925 w 1367015"/>
                  <a:gd name="connsiteY141" fmla="*/ 15698 h 1238250"/>
                  <a:gd name="connsiteX142" fmla="*/ 1304925 w 1367015"/>
                  <a:gd name="connsiteY142" fmla="*/ 916166 h 1238250"/>
                  <a:gd name="connsiteX143" fmla="*/ 1289220 w 1367015"/>
                  <a:gd name="connsiteY143" fmla="*/ 931863 h 1238250"/>
                  <a:gd name="connsiteX144" fmla="*/ 1219977 w 1367015"/>
                  <a:gd name="connsiteY144" fmla="*/ 931863 h 1238250"/>
                  <a:gd name="connsiteX145" fmla="*/ 1189995 w 1367015"/>
                  <a:gd name="connsiteY145" fmla="*/ 900468 h 1238250"/>
                  <a:gd name="connsiteX146" fmla="*/ 1273516 w 1367015"/>
                  <a:gd name="connsiteY146" fmla="*/ 900468 h 1238250"/>
                  <a:gd name="connsiteX147" fmla="*/ 1273516 w 1367015"/>
                  <a:gd name="connsiteY147" fmla="*/ 151267 h 1238250"/>
                  <a:gd name="connsiteX148" fmla="*/ 1242106 w 1367015"/>
                  <a:gd name="connsiteY148" fmla="*/ 175527 h 1238250"/>
                  <a:gd name="connsiteX149" fmla="*/ 1154302 w 1367015"/>
                  <a:gd name="connsiteY149" fmla="*/ 243312 h 1238250"/>
                  <a:gd name="connsiteX150" fmla="*/ 1161441 w 1367015"/>
                  <a:gd name="connsiteY150" fmla="*/ 274707 h 1238250"/>
                  <a:gd name="connsiteX151" fmla="*/ 1089341 w 1367015"/>
                  <a:gd name="connsiteY151" fmla="*/ 346773 h 1238250"/>
                  <a:gd name="connsiteX152" fmla="*/ 1043655 w 1367015"/>
                  <a:gd name="connsiteY152" fmla="*/ 331076 h 1238250"/>
                  <a:gd name="connsiteX153" fmla="*/ 993685 w 1367015"/>
                  <a:gd name="connsiteY153" fmla="*/ 371033 h 1238250"/>
                  <a:gd name="connsiteX154" fmla="*/ 969414 w 1367015"/>
                  <a:gd name="connsiteY154" fmla="*/ 349627 h 1238250"/>
                  <a:gd name="connsiteX155" fmla="*/ 1024381 w 1367015"/>
                  <a:gd name="connsiteY155" fmla="*/ 306102 h 1238250"/>
                  <a:gd name="connsiteX156" fmla="*/ 1016528 w 1367015"/>
                  <a:gd name="connsiteY156" fmla="*/ 274707 h 1238250"/>
                  <a:gd name="connsiteX157" fmla="*/ 1089341 w 1367015"/>
                  <a:gd name="connsiteY157" fmla="*/ 201928 h 1238250"/>
                  <a:gd name="connsiteX158" fmla="*/ 1135028 w 1367015"/>
                  <a:gd name="connsiteY158" fmla="*/ 219052 h 1238250"/>
                  <a:gd name="connsiteX159" fmla="*/ 1242106 w 1367015"/>
                  <a:gd name="connsiteY159" fmla="*/ 136283 h 1238250"/>
                  <a:gd name="connsiteX160" fmla="*/ 1269946 w 1367015"/>
                  <a:gd name="connsiteY160" fmla="*/ 114878 h 1238250"/>
                  <a:gd name="connsiteX161" fmla="*/ 1273516 w 1367015"/>
                  <a:gd name="connsiteY161" fmla="*/ 112737 h 1238250"/>
                  <a:gd name="connsiteX162" fmla="*/ 1273516 w 1367015"/>
                  <a:gd name="connsiteY162" fmla="*/ 31395 h 1238250"/>
                  <a:gd name="connsiteX163" fmla="*/ 31410 w 1367015"/>
                  <a:gd name="connsiteY163" fmla="*/ 31395 h 1238250"/>
                  <a:gd name="connsiteX164" fmla="*/ 31410 w 1367015"/>
                  <a:gd name="connsiteY164" fmla="*/ 741352 h 1238250"/>
                  <a:gd name="connsiteX165" fmla="*/ 62819 w 1367015"/>
                  <a:gd name="connsiteY165" fmla="*/ 726368 h 1238250"/>
                  <a:gd name="connsiteX166" fmla="*/ 276976 w 1367015"/>
                  <a:gd name="connsiteY166" fmla="*/ 623621 h 1238250"/>
                  <a:gd name="connsiteX167" fmla="*/ 274834 w 1367015"/>
                  <a:gd name="connsiteY167" fmla="*/ 607210 h 1238250"/>
                  <a:gd name="connsiteX168" fmla="*/ 346933 w 1367015"/>
                  <a:gd name="connsiteY168" fmla="*/ 534430 h 1238250"/>
                  <a:gd name="connsiteX169" fmla="*/ 383340 w 1367015"/>
                  <a:gd name="connsiteY169" fmla="*/ 543706 h 1238250"/>
                  <a:gd name="connsiteX170" fmla="*/ 454725 w 1367015"/>
                  <a:gd name="connsiteY170" fmla="*/ 465218 h 1238250"/>
                  <a:gd name="connsiteX171" fmla="*/ 429026 w 1367015"/>
                  <a:gd name="connsiteY171" fmla="*/ 540138 h 1238250"/>
                  <a:gd name="connsiteX172" fmla="*/ 406183 w 1367015"/>
                  <a:gd name="connsiteY172" fmla="*/ 565112 h 1238250"/>
                  <a:gd name="connsiteX173" fmla="*/ 419746 w 1367015"/>
                  <a:gd name="connsiteY173" fmla="*/ 607210 h 1238250"/>
                  <a:gd name="connsiteX174" fmla="*/ 346933 w 1367015"/>
                  <a:gd name="connsiteY174" fmla="*/ 679275 h 1238250"/>
                  <a:gd name="connsiteX175" fmla="*/ 290539 w 1367015"/>
                  <a:gd name="connsiteY175" fmla="*/ 651448 h 1238250"/>
                  <a:gd name="connsiteX176" fmla="*/ 62819 w 1367015"/>
                  <a:gd name="connsiteY176" fmla="*/ 761331 h 1238250"/>
                  <a:gd name="connsiteX177" fmla="*/ 31410 w 1367015"/>
                  <a:gd name="connsiteY177" fmla="*/ 776315 h 1238250"/>
                  <a:gd name="connsiteX178" fmla="*/ 31410 w 1367015"/>
                  <a:gd name="connsiteY178" fmla="*/ 900468 h 1238250"/>
                  <a:gd name="connsiteX179" fmla="*/ 579650 w 1367015"/>
                  <a:gd name="connsiteY179" fmla="*/ 900468 h 1238250"/>
                  <a:gd name="connsiteX180" fmla="*/ 645324 w 1367015"/>
                  <a:gd name="connsiteY180" fmla="*/ 931863 h 1238250"/>
                  <a:gd name="connsiteX181" fmla="*/ 15705 w 1367015"/>
                  <a:gd name="connsiteY181" fmla="*/ 931863 h 1238250"/>
                  <a:gd name="connsiteX182" fmla="*/ 0 w 1367015"/>
                  <a:gd name="connsiteY182" fmla="*/ 916166 h 1238250"/>
                  <a:gd name="connsiteX183" fmla="*/ 0 w 1367015"/>
                  <a:gd name="connsiteY183" fmla="*/ 15698 h 1238250"/>
                  <a:gd name="connsiteX184" fmla="*/ 15705 w 1367015"/>
                  <a:gd name="connsiteY184" fmla="*/ 0 h 1238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1367015" h="1238250">
                    <a:moveTo>
                      <a:pt x="1124567" y="922337"/>
                    </a:moveTo>
                    <a:cubicBezTo>
                      <a:pt x="1124567" y="922337"/>
                      <a:pt x="1124567" y="922337"/>
                      <a:pt x="1113855" y="931647"/>
                    </a:cubicBezTo>
                    <a:cubicBezTo>
                      <a:pt x="1113855" y="931647"/>
                      <a:pt x="1113855" y="931647"/>
                      <a:pt x="1058863" y="985360"/>
                    </a:cubicBezTo>
                    <a:cubicBezTo>
                      <a:pt x="1269544" y="1205939"/>
                      <a:pt x="1269544" y="1205939"/>
                      <a:pt x="1269544" y="1205939"/>
                    </a:cubicBezTo>
                    <a:cubicBezTo>
                      <a:pt x="1270258" y="1206655"/>
                      <a:pt x="1274543" y="1208087"/>
                      <a:pt x="1282399" y="1205939"/>
                    </a:cubicBezTo>
                    <a:cubicBezTo>
                      <a:pt x="1292398" y="1203074"/>
                      <a:pt x="1303110" y="1195912"/>
                      <a:pt x="1313109" y="1185886"/>
                    </a:cubicBezTo>
                    <a:cubicBezTo>
                      <a:pt x="1323107" y="1176576"/>
                      <a:pt x="1330963" y="1165833"/>
                      <a:pt x="1333820" y="1155807"/>
                    </a:cubicBezTo>
                    <a:cubicBezTo>
                      <a:pt x="1336676" y="1147929"/>
                      <a:pt x="1335962" y="1143632"/>
                      <a:pt x="1335248" y="1142916"/>
                    </a:cubicBezTo>
                    <a:cubicBezTo>
                      <a:pt x="1198841" y="1000399"/>
                      <a:pt x="1150277" y="949551"/>
                      <a:pt x="1133851" y="931647"/>
                    </a:cubicBezTo>
                    <a:cubicBezTo>
                      <a:pt x="1124567" y="922337"/>
                      <a:pt x="1124567" y="922337"/>
                      <a:pt x="1124567" y="922337"/>
                    </a:cubicBezTo>
                    <a:close/>
                    <a:moveTo>
                      <a:pt x="925229" y="906462"/>
                    </a:moveTo>
                    <a:cubicBezTo>
                      <a:pt x="925229" y="906462"/>
                      <a:pt x="925229" y="906462"/>
                      <a:pt x="949325" y="931862"/>
                    </a:cubicBezTo>
                    <a:cubicBezTo>
                      <a:pt x="949325" y="931862"/>
                      <a:pt x="949325" y="931862"/>
                      <a:pt x="869950" y="931862"/>
                    </a:cubicBezTo>
                    <a:cubicBezTo>
                      <a:pt x="889085" y="925331"/>
                      <a:pt x="907512" y="916622"/>
                      <a:pt x="925229" y="906462"/>
                    </a:cubicBezTo>
                    <a:close/>
                    <a:moveTo>
                      <a:pt x="1124927" y="884237"/>
                    </a:moveTo>
                    <a:cubicBezTo>
                      <a:pt x="1129214" y="884952"/>
                      <a:pt x="1132787" y="886383"/>
                      <a:pt x="1135645" y="889243"/>
                    </a:cubicBezTo>
                    <a:cubicBezTo>
                      <a:pt x="1139218" y="893534"/>
                      <a:pt x="1142790" y="897110"/>
                      <a:pt x="1146363" y="900686"/>
                    </a:cubicBezTo>
                    <a:cubicBezTo>
                      <a:pt x="1157081" y="912129"/>
                      <a:pt x="1167085" y="922857"/>
                      <a:pt x="1176374" y="932154"/>
                    </a:cubicBezTo>
                    <a:cubicBezTo>
                      <a:pt x="1357152" y="1121676"/>
                      <a:pt x="1357152" y="1121676"/>
                      <a:pt x="1357152" y="1121676"/>
                    </a:cubicBezTo>
                    <a:cubicBezTo>
                      <a:pt x="1367155" y="1131689"/>
                      <a:pt x="1370013" y="1148138"/>
                      <a:pt x="1363582" y="1166017"/>
                    </a:cubicBezTo>
                    <a:cubicBezTo>
                      <a:pt x="1358581" y="1181036"/>
                      <a:pt x="1348577" y="1196055"/>
                      <a:pt x="1335001" y="1208928"/>
                    </a:cubicBezTo>
                    <a:cubicBezTo>
                      <a:pt x="1321425" y="1221801"/>
                      <a:pt x="1305705" y="1231814"/>
                      <a:pt x="1290700" y="1236105"/>
                    </a:cubicBezTo>
                    <a:cubicBezTo>
                      <a:pt x="1284983" y="1237535"/>
                      <a:pt x="1279267" y="1238250"/>
                      <a:pt x="1273551" y="1238250"/>
                    </a:cubicBezTo>
                    <a:cubicBezTo>
                      <a:pt x="1262833" y="1238250"/>
                      <a:pt x="1252829" y="1234674"/>
                      <a:pt x="1246398" y="1227522"/>
                    </a:cubicBezTo>
                    <a:cubicBezTo>
                      <a:pt x="1024892" y="996520"/>
                      <a:pt x="1024892" y="996520"/>
                      <a:pt x="1024892" y="996520"/>
                    </a:cubicBezTo>
                    <a:cubicBezTo>
                      <a:pt x="1019175" y="990083"/>
                      <a:pt x="1019175" y="980071"/>
                      <a:pt x="1025606" y="974350"/>
                    </a:cubicBezTo>
                    <a:cubicBezTo>
                      <a:pt x="1042755" y="957185"/>
                      <a:pt x="1057046" y="943597"/>
                      <a:pt x="1068478" y="932154"/>
                    </a:cubicBezTo>
                    <a:cubicBezTo>
                      <a:pt x="1071336" y="930009"/>
                      <a:pt x="1073480" y="927148"/>
                      <a:pt x="1076338" y="925002"/>
                    </a:cubicBezTo>
                    <a:cubicBezTo>
                      <a:pt x="1087771" y="914275"/>
                      <a:pt x="1095631" y="906408"/>
                      <a:pt x="1100633" y="900686"/>
                    </a:cubicBezTo>
                    <a:cubicBezTo>
                      <a:pt x="1102062" y="899971"/>
                      <a:pt x="1103491" y="898541"/>
                      <a:pt x="1104205" y="897826"/>
                    </a:cubicBezTo>
                    <a:cubicBezTo>
                      <a:pt x="1113494" y="889243"/>
                      <a:pt x="1113494" y="889243"/>
                      <a:pt x="1113494" y="889243"/>
                    </a:cubicBezTo>
                    <a:cubicBezTo>
                      <a:pt x="1116352" y="886383"/>
                      <a:pt x="1120640" y="884237"/>
                      <a:pt x="1124927" y="884237"/>
                    </a:cubicBezTo>
                    <a:close/>
                    <a:moveTo>
                      <a:pt x="346518" y="565150"/>
                    </a:moveTo>
                    <a:cubicBezTo>
                      <a:pt x="324693" y="565150"/>
                      <a:pt x="306388" y="583814"/>
                      <a:pt x="306388" y="606784"/>
                    </a:cubicBezTo>
                    <a:cubicBezTo>
                      <a:pt x="306388" y="607502"/>
                      <a:pt x="306388" y="608220"/>
                      <a:pt x="306388" y="608938"/>
                    </a:cubicBezTo>
                    <a:cubicBezTo>
                      <a:pt x="307092" y="619705"/>
                      <a:pt x="312020" y="630472"/>
                      <a:pt x="319765" y="636933"/>
                    </a:cubicBezTo>
                    <a:cubicBezTo>
                      <a:pt x="326805" y="643393"/>
                      <a:pt x="336661" y="647700"/>
                      <a:pt x="346518" y="647700"/>
                    </a:cubicBezTo>
                    <a:cubicBezTo>
                      <a:pt x="369047" y="647700"/>
                      <a:pt x="387351" y="629037"/>
                      <a:pt x="387351" y="606784"/>
                    </a:cubicBezTo>
                    <a:cubicBezTo>
                      <a:pt x="387351" y="600324"/>
                      <a:pt x="385943" y="594581"/>
                      <a:pt x="383127" y="588838"/>
                    </a:cubicBezTo>
                    <a:cubicBezTo>
                      <a:pt x="378903" y="578789"/>
                      <a:pt x="370455" y="571611"/>
                      <a:pt x="360598" y="568021"/>
                    </a:cubicBezTo>
                    <a:cubicBezTo>
                      <a:pt x="356374" y="565868"/>
                      <a:pt x="351446" y="565150"/>
                      <a:pt x="346518" y="565150"/>
                    </a:cubicBezTo>
                    <a:close/>
                    <a:moveTo>
                      <a:pt x="760846" y="492125"/>
                    </a:moveTo>
                    <a:cubicBezTo>
                      <a:pt x="752187" y="492125"/>
                      <a:pt x="743528" y="494947"/>
                      <a:pt x="735591" y="499181"/>
                    </a:cubicBezTo>
                    <a:cubicBezTo>
                      <a:pt x="722602" y="506236"/>
                      <a:pt x="713221" y="519642"/>
                      <a:pt x="710335" y="535164"/>
                    </a:cubicBezTo>
                    <a:cubicBezTo>
                      <a:pt x="710335" y="537986"/>
                      <a:pt x="709613" y="540103"/>
                      <a:pt x="709613" y="542925"/>
                    </a:cubicBezTo>
                    <a:cubicBezTo>
                      <a:pt x="709613" y="571147"/>
                      <a:pt x="732704" y="593725"/>
                      <a:pt x="760846" y="593725"/>
                    </a:cubicBezTo>
                    <a:cubicBezTo>
                      <a:pt x="763011" y="593725"/>
                      <a:pt x="765176" y="593725"/>
                      <a:pt x="767341" y="593725"/>
                    </a:cubicBezTo>
                    <a:cubicBezTo>
                      <a:pt x="783216" y="591608"/>
                      <a:pt x="796926" y="583142"/>
                      <a:pt x="804864" y="570442"/>
                    </a:cubicBezTo>
                    <a:cubicBezTo>
                      <a:pt x="809915" y="562681"/>
                      <a:pt x="812801" y="553508"/>
                      <a:pt x="812801" y="542925"/>
                    </a:cubicBezTo>
                    <a:cubicBezTo>
                      <a:pt x="812801" y="542220"/>
                      <a:pt x="812801" y="540808"/>
                      <a:pt x="812801" y="539397"/>
                    </a:cubicBezTo>
                    <a:cubicBezTo>
                      <a:pt x="811358" y="515408"/>
                      <a:pt x="792597" y="495653"/>
                      <a:pt x="768062" y="492831"/>
                    </a:cubicBezTo>
                    <a:cubicBezTo>
                      <a:pt x="765898" y="492831"/>
                      <a:pt x="763733" y="492125"/>
                      <a:pt x="760846" y="492125"/>
                    </a:cubicBezTo>
                    <a:close/>
                    <a:moveTo>
                      <a:pt x="891455" y="415925"/>
                    </a:moveTo>
                    <a:cubicBezTo>
                      <a:pt x="899315" y="421636"/>
                      <a:pt x="907175" y="428060"/>
                      <a:pt x="915035" y="434485"/>
                    </a:cubicBezTo>
                    <a:cubicBezTo>
                      <a:pt x="917179" y="435913"/>
                      <a:pt x="918608" y="438054"/>
                      <a:pt x="920751" y="439482"/>
                    </a:cubicBezTo>
                    <a:cubicBezTo>
                      <a:pt x="920751" y="439482"/>
                      <a:pt x="920751" y="439482"/>
                      <a:pt x="877164" y="474460"/>
                    </a:cubicBezTo>
                    <a:cubicBezTo>
                      <a:pt x="869305" y="480885"/>
                      <a:pt x="860730" y="488023"/>
                      <a:pt x="850012" y="496589"/>
                    </a:cubicBezTo>
                    <a:cubicBezTo>
                      <a:pt x="846439" y="499445"/>
                      <a:pt x="842867" y="502300"/>
                      <a:pt x="838579" y="505155"/>
                    </a:cubicBezTo>
                    <a:cubicBezTo>
                      <a:pt x="840723" y="510152"/>
                      <a:pt x="842867" y="514435"/>
                      <a:pt x="844296" y="519432"/>
                    </a:cubicBezTo>
                    <a:cubicBezTo>
                      <a:pt x="846439" y="527285"/>
                      <a:pt x="847154" y="535137"/>
                      <a:pt x="847154" y="542989"/>
                    </a:cubicBezTo>
                    <a:cubicBezTo>
                      <a:pt x="847154" y="549414"/>
                      <a:pt x="846439" y="555124"/>
                      <a:pt x="845725" y="561549"/>
                    </a:cubicBezTo>
                    <a:cubicBezTo>
                      <a:pt x="842152" y="576540"/>
                      <a:pt x="835007" y="590103"/>
                      <a:pt x="824289" y="601524"/>
                    </a:cubicBezTo>
                    <a:cubicBezTo>
                      <a:pt x="809283" y="617942"/>
                      <a:pt x="786418" y="628650"/>
                      <a:pt x="761409" y="628650"/>
                    </a:cubicBezTo>
                    <a:cubicBezTo>
                      <a:pt x="714250" y="628650"/>
                      <a:pt x="676379" y="590103"/>
                      <a:pt x="676379" y="542989"/>
                    </a:cubicBezTo>
                    <a:cubicBezTo>
                      <a:pt x="676379" y="536564"/>
                      <a:pt x="677094" y="529426"/>
                      <a:pt x="678523" y="523715"/>
                    </a:cubicBezTo>
                    <a:cubicBezTo>
                      <a:pt x="678523" y="523715"/>
                      <a:pt x="678523" y="523715"/>
                      <a:pt x="582775" y="477316"/>
                    </a:cubicBezTo>
                    <a:cubicBezTo>
                      <a:pt x="578488" y="475174"/>
                      <a:pt x="574200" y="473033"/>
                      <a:pt x="569913" y="470891"/>
                    </a:cubicBezTo>
                    <a:cubicBezTo>
                      <a:pt x="577059" y="460183"/>
                      <a:pt x="585633" y="450903"/>
                      <a:pt x="594208" y="441623"/>
                    </a:cubicBezTo>
                    <a:cubicBezTo>
                      <a:pt x="594208" y="441623"/>
                      <a:pt x="594208" y="441623"/>
                      <a:pt x="694957" y="490165"/>
                    </a:cubicBezTo>
                    <a:cubicBezTo>
                      <a:pt x="700674" y="483026"/>
                      <a:pt x="707819" y="476602"/>
                      <a:pt x="715679" y="470891"/>
                    </a:cubicBezTo>
                    <a:cubicBezTo>
                      <a:pt x="728541" y="462325"/>
                      <a:pt x="744975" y="457328"/>
                      <a:pt x="761409" y="457328"/>
                    </a:cubicBezTo>
                    <a:cubicBezTo>
                      <a:pt x="771413" y="457328"/>
                      <a:pt x="781416" y="459470"/>
                      <a:pt x="789991" y="462325"/>
                    </a:cubicBezTo>
                    <a:cubicBezTo>
                      <a:pt x="799280" y="465894"/>
                      <a:pt x="808569" y="470891"/>
                      <a:pt x="815714" y="476602"/>
                    </a:cubicBezTo>
                    <a:cubicBezTo>
                      <a:pt x="815714" y="476602"/>
                      <a:pt x="815714" y="476602"/>
                      <a:pt x="831434" y="464466"/>
                    </a:cubicBezTo>
                    <a:cubicBezTo>
                      <a:pt x="842152" y="455900"/>
                      <a:pt x="860730" y="440910"/>
                      <a:pt x="891455" y="415925"/>
                    </a:cubicBezTo>
                    <a:close/>
                    <a:moveTo>
                      <a:pt x="772661" y="346605"/>
                    </a:moveTo>
                    <a:cubicBezTo>
                      <a:pt x="723066" y="343930"/>
                      <a:pt x="672758" y="354807"/>
                      <a:pt x="628158" y="379415"/>
                    </a:cubicBezTo>
                    <a:cubicBezTo>
                      <a:pt x="608178" y="390827"/>
                      <a:pt x="589624" y="404379"/>
                      <a:pt x="571784" y="420783"/>
                    </a:cubicBezTo>
                    <a:cubicBezTo>
                      <a:pt x="562508" y="430056"/>
                      <a:pt x="554658" y="439328"/>
                      <a:pt x="546809" y="449314"/>
                    </a:cubicBezTo>
                    <a:cubicBezTo>
                      <a:pt x="538245" y="460012"/>
                      <a:pt x="531109" y="470711"/>
                      <a:pt x="524687" y="482123"/>
                    </a:cubicBezTo>
                    <a:cubicBezTo>
                      <a:pt x="468313" y="582692"/>
                      <a:pt x="481158" y="712504"/>
                      <a:pt x="564648" y="800235"/>
                    </a:cubicBezTo>
                    <a:cubicBezTo>
                      <a:pt x="597474" y="833758"/>
                      <a:pt x="636008" y="856582"/>
                      <a:pt x="678110" y="869420"/>
                    </a:cubicBezTo>
                    <a:cubicBezTo>
                      <a:pt x="729488" y="885825"/>
                      <a:pt x="785862" y="885825"/>
                      <a:pt x="837955" y="869420"/>
                    </a:cubicBezTo>
                    <a:cubicBezTo>
                      <a:pt x="867212" y="860861"/>
                      <a:pt x="895756" y="845883"/>
                      <a:pt x="921445" y="826625"/>
                    </a:cubicBezTo>
                    <a:cubicBezTo>
                      <a:pt x="930008" y="820919"/>
                      <a:pt x="937144" y="814500"/>
                      <a:pt x="944280" y="807367"/>
                    </a:cubicBezTo>
                    <a:cubicBezTo>
                      <a:pt x="952130" y="799521"/>
                      <a:pt x="959979" y="791676"/>
                      <a:pt x="967115" y="783117"/>
                    </a:cubicBezTo>
                    <a:cubicBezTo>
                      <a:pt x="1047751" y="682548"/>
                      <a:pt x="1046324" y="537044"/>
                      <a:pt x="959979" y="437902"/>
                    </a:cubicBezTo>
                    <a:cubicBezTo>
                      <a:pt x="957125" y="435048"/>
                      <a:pt x="954270" y="431482"/>
                      <a:pt x="951416" y="427916"/>
                    </a:cubicBezTo>
                    <a:cubicBezTo>
                      <a:pt x="947135" y="423636"/>
                      <a:pt x="942853" y="419357"/>
                      <a:pt x="937858" y="415791"/>
                    </a:cubicBezTo>
                    <a:cubicBezTo>
                      <a:pt x="930008" y="408658"/>
                      <a:pt x="921445" y="401526"/>
                      <a:pt x="912882" y="395106"/>
                    </a:cubicBezTo>
                    <a:cubicBezTo>
                      <a:pt x="871137" y="365506"/>
                      <a:pt x="822256" y="349280"/>
                      <a:pt x="772661" y="346605"/>
                    </a:cubicBezTo>
                    <a:close/>
                    <a:moveTo>
                      <a:pt x="785477" y="308032"/>
                    </a:moveTo>
                    <a:cubicBezTo>
                      <a:pt x="842147" y="313027"/>
                      <a:pt x="897744" y="333721"/>
                      <a:pt x="945296" y="370115"/>
                    </a:cubicBezTo>
                    <a:cubicBezTo>
                      <a:pt x="953162" y="376537"/>
                      <a:pt x="961743" y="382959"/>
                      <a:pt x="969609" y="390809"/>
                    </a:cubicBezTo>
                    <a:cubicBezTo>
                      <a:pt x="973184" y="394377"/>
                      <a:pt x="976759" y="397231"/>
                      <a:pt x="980335" y="400799"/>
                    </a:cubicBezTo>
                    <a:cubicBezTo>
                      <a:pt x="983910" y="405081"/>
                      <a:pt x="987486" y="409363"/>
                      <a:pt x="991061" y="413644"/>
                    </a:cubicBezTo>
                    <a:cubicBezTo>
                      <a:pt x="1084021" y="521398"/>
                      <a:pt x="1089026" y="678390"/>
                      <a:pt x="1008223" y="791852"/>
                    </a:cubicBezTo>
                    <a:cubicBezTo>
                      <a:pt x="1080445" y="866780"/>
                      <a:pt x="1080445" y="866780"/>
                      <a:pt x="1080445" y="866780"/>
                    </a:cubicBezTo>
                    <a:cubicBezTo>
                      <a:pt x="1081160" y="867493"/>
                      <a:pt x="1081160" y="868207"/>
                      <a:pt x="1081875" y="868921"/>
                    </a:cubicBezTo>
                    <a:cubicBezTo>
                      <a:pt x="1083306" y="871775"/>
                      <a:pt x="1083306" y="874629"/>
                      <a:pt x="1081875" y="876770"/>
                    </a:cubicBezTo>
                    <a:cubicBezTo>
                      <a:pt x="1081875" y="876770"/>
                      <a:pt x="1081875" y="876770"/>
                      <a:pt x="1056848" y="900319"/>
                    </a:cubicBezTo>
                    <a:cubicBezTo>
                      <a:pt x="1056848" y="900319"/>
                      <a:pt x="1056848" y="900319"/>
                      <a:pt x="1055418" y="901746"/>
                    </a:cubicBezTo>
                    <a:cubicBezTo>
                      <a:pt x="1039686" y="917445"/>
                      <a:pt x="1029675" y="926722"/>
                      <a:pt x="1023954" y="931717"/>
                    </a:cubicBezTo>
                    <a:cubicBezTo>
                      <a:pt x="1014658" y="940994"/>
                      <a:pt x="1014658" y="940994"/>
                      <a:pt x="1014658" y="940994"/>
                    </a:cubicBezTo>
                    <a:cubicBezTo>
                      <a:pt x="1011798" y="944562"/>
                      <a:pt x="1006078" y="944562"/>
                      <a:pt x="1003217" y="940994"/>
                    </a:cubicBezTo>
                    <a:cubicBezTo>
                      <a:pt x="999642" y="938140"/>
                      <a:pt x="996782" y="934572"/>
                      <a:pt x="993921" y="931717"/>
                    </a:cubicBezTo>
                    <a:cubicBezTo>
                      <a:pt x="981765" y="919586"/>
                      <a:pt x="971754" y="908882"/>
                      <a:pt x="963888" y="900319"/>
                    </a:cubicBezTo>
                    <a:cubicBezTo>
                      <a:pt x="944581" y="881052"/>
                      <a:pt x="936715" y="872489"/>
                      <a:pt x="933140" y="868921"/>
                    </a:cubicBezTo>
                    <a:cubicBezTo>
                      <a:pt x="930995" y="866780"/>
                      <a:pt x="930995" y="866780"/>
                      <a:pt x="930995" y="866780"/>
                    </a:cubicBezTo>
                    <a:cubicBezTo>
                      <a:pt x="929565" y="867493"/>
                      <a:pt x="928134" y="868207"/>
                      <a:pt x="926704" y="868921"/>
                    </a:cubicBezTo>
                    <a:cubicBezTo>
                      <a:pt x="906682" y="882479"/>
                      <a:pt x="885945" y="892469"/>
                      <a:pt x="864493" y="900319"/>
                    </a:cubicBezTo>
                    <a:cubicBezTo>
                      <a:pt x="795846" y="926009"/>
                      <a:pt x="720048" y="926009"/>
                      <a:pt x="651400" y="900319"/>
                    </a:cubicBezTo>
                    <a:cubicBezTo>
                      <a:pt x="629948" y="892469"/>
                      <a:pt x="609211" y="882479"/>
                      <a:pt x="589189" y="868921"/>
                    </a:cubicBezTo>
                    <a:cubicBezTo>
                      <a:pt x="570597" y="856789"/>
                      <a:pt x="553435" y="842517"/>
                      <a:pt x="536988" y="826105"/>
                    </a:cubicBezTo>
                    <a:cubicBezTo>
                      <a:pt x="466196" y="751177"/>
                      <a:pt x="439738" y="649846"/>
                      <a:pt x="457615" y="554937"/>
                    </a:cubicBezTo>
                    <a:cubicBezTo>
                      <a:pt x="462621" y="529961"/>
                      <a:pt x="470486" y="505699"/>
                      <a:pt x="481213" y="482863"/>
                    </a:cubicBezTo>
                    <a:cubicBezTo>
                      <a:pt x="493369" y="456460"/>
                      <a:pt x="509816" y="430771"/>
                      <a:pt x="530553" y="408649"/>
                    </a:cubicBezTo>
                    <a:cubicBezTo>
                      <a:pt x="535558" y="402940"/>
                      <a:pt x="540564" y="397945"/>
                      <a:pt x="545569" y="392236"/>
                    </a:cubicBezTo>
                    <a:cubicBezTo>
                      <a:pt x="560586" y="378678"/>
                      <a:pt x="575602" y="366547"/>
                      <a:pt x="592049" y="355843"/>
                    </a:cubicBezTo>
                    <a:cubicBezTo>
                      <a:pt x="600630" y="350134"/>
                      <a:pt x="609926" y="345139"/>
                      <a:pt x="619222" y="340143"/>
                    </a:cubicBezTo>
                    <a:cubicBezTo>
                      <a:pt x="671065" y="313740"/>
                      <a:pt x="728807" y="303036"/>
                      <a:pt x="785477" y="308032"/>
                    </a:cubicBezTo>
                    <a:close/>
                    <a:moveTo>
                      <a:pt x="555676" y="304800"/>
                    </a:moveTo>
                    <a:cubicBezTo>
                      <a:pt x="570540" y="304800"/>
                      <a:pt x="583988" y="309099"/>
                      <a:pt x="595313" y="316982"/>
                    </a:cubicBezTo>
                    <a:cubicBezTo>
                      <a:pt x="584696" y="323431"/>
                      <a:pt x="574079" y="329880"/>
                      <a:pt x="563462" y="337046"/>
                    </a:cubicBezTo>
                    <a:cubicBezTo>
                      <a:pt x="561338" y="336330"/>
                      <a:pt x="558507" y="336330"/>
                      <a:pt x="555676" y="336330"/>
                    </a:cubicBezTo>
                    <a:cubicBezTo>
                      <a:pt x="533026" y="336330"/>
                      <a:pt x="515331" y="354961"/>
                      <a:pt x="515331" y="377175"/>
                    </a:cubicBezTo>
                    <a:cubicBezTo>
                      <a:pt x="515331" y="377891"/>
                      <a:pt x="515331" y="378608"/>
                      <a:pt x="515331" y="379325"/>
                    </a:cubicBezTo>
                    <a:cubicBezTo>
                      <a:pt x="506130" y="388640"/>
                      <a:pt x="498344" y="397956"/>
                      <a:pt x="490558" y="407988"/>
                    </a:cubicBezTo>
                    <a:cubicBezTo>
                      <a:pt x="486311" y="398672"/>
                      <a:pt x="484188" y="388640"/>
                      <a:pt x="484188" y="377175"/>
                    </a:cubicBezTo>
                    <a:cubicBezTo>
                      <a:pt x="484188" y="337046"/>
                      <a:pt x="516039" y="304800"/>
                      <a:pt x="555676" y="304800"/>
                    </a:cubicBezTo>
                    <a:close/>
                    <a:moveTo>
                      <a:pt x="1089384" y="233362"/>
                    </a:moveTo>
                    <a:cubicBezTo>
                      <a:pt x="1066414" y="233362"/>
                      <a:pt x="1047750" y="252026"/>
                      <a:pt x="1047750" y="274996"/>
                    </a:cubicBezTo>
                    <a:cubicBezTo>
                      <a:pt x="1047750" y="278585"/>
                      <a:pt x="1048468" y="282892"/>
                      <a:pt x="1049186" y="286481"/>
                    </a:cubicBezTo>
                    <a:cubicBezTo>
                      <a:pt x="1052775" y="296531"/>
                      <a:pt x="1059953" y="305863"/>
                      <a:pt x="1069285" y="310887"/>
                    </a:cubicBezTo>
                    <a:cubicBezTo>
                      <a:pt x="1075028" y="314476"/>
                      <a:pt x="1082206" y="315912"/>
                      <a:pt x="1089384" y="315912"/>
                    </a:cubicBezTo>
                    <a:cubicBezTo>
                      <a:pt x="1111637" y="315912"/>
                      <a:pt x="1130300" y="297249"/>
                      <a:pt x="1130300" y="274996"/>
                    </a:cubicBezTo>
                    <a:cubicBezTo>
                      <a:pt x="1130300" y="271407"/>
                      <a:pt x="1129582" y="267100"/>
                      <a:pt x="1128865" y="264229"/>
                    </a:cubicBezTo>
                    <a:cubicBezTo>
                      <a:pt x="1125993" y="253461"/>
                      <a:pt x="1118815" y="244130"/>
                      <a:pt x="1109483" y="239105"/>
                    </a:cubicBezTo>
                    <a:cubicBezTo>
                      <a:pt x="1103741" y="235516"/>
                      <a:pt x="1096562" y="233362"/>
                      <a:pt x="1089384" y="233362"/>
                    </a:cubicBezTo>
                    <a:close/>
                    <a:moveTo>
                      <a:pt x="15705" y="0"/>
                    </a:moveTo>
                    <a:cubicBezTo>
                      <a:pt x="15705" y="0"/>
                      <a:pt x="15705" y="0"/>
                      <a:pt x="1289220" y="0"/>
                    </a:cubicBezTo>
                    <a:cubicBezTo>
                      <a:pt x="1297787" y="0"/>
                      <a:pt x="1304925" y="6422"/>
                      <a:pt x="1304925" y="15698"/>
                    </a:cubicBezTo>
                    <a:cubicBezTo>
                      <a:pt x="1304925" y="15698"/>
                      <a:pt x="1304925" y="15698"/>
                      <a:pt x="1304925" y="916166"/>
                    </a:cubicBezTo>
                    <a:cubicBezTo>
                      <a:pt x="1304925" y="925441"/>
                      <a:pt x="1297787" y="931863"/>
                      <a:pt x="1289220" y="931863"/>
                    </a:cubicBezTo>
                    <a:cubicBezTo>
                      <a:pt x="1289220" y="931863"/>
                      <a:pt x="1289220" y="931863"/>
                      <a:pt x="1219977" y="931863"/>
                    </a:cubicBezTo>
                    <a:cubicBezTo>
                      <a:pt x="1219977" y="931863"/>
                      <a:pt x="1219977" y="931863"/>
                      <a:pt x="1189995" y="900468"/>
                    </a:cubicBezTo>
                    <a:cubicBezTo>
                      <a:pt x="1273516" y="900468"/>
                      <a:pt x="1273516" y="900468"/>
                      <a:pt x="1273516" y="900468"/>
                    </a:cubicBezTo>
                    <a:cubicBezTo>
                      <a:pt x="1273516" y="480916"/>
                      <a:pt x="1273516" y="264004"/>
                      <a:pt x="1273516" y="151267"/>
                    </a:cubicBezTo>
                    <a:cubicBezTo>
                      <a:pt x="1273516" y="151267"/>
                      <a:pt x="1273516" y="151267"/>
                      <a:pt x="1242106" y="175527"/>
                    </a:cubicBezTo>
                    <a:cubicBezTo>
                      <a:pt x="1242106" y="175527"/>
                      <a:pt x="1242106" y="175527"/>
                      <a:pt x="1154302" y="243312"/>
                    </a:cubicBezTo>
                    <a:cubicBezTo>
                      <a:pt x="1159299" y="253301"/>
                      <a:pt x="1161441" y="263291"/>
                      <a:pt x="1161441" y="274707"/>
                    </a:cubicBezTo>
                    <a:cubicBezTo>
                      <a:pt x="1161441" y="314664"/>
                      <a:pt x="1129317" y="346773"/>
                      <a:pt x="1089341" y="346773"/>
                    </a:cubicBezTo>
                    <a:cubicBezTo>
                      <a:pt x="1071495" y="346773"/>
                      <a:pt x="1055790" y="341065"/>
                      <a:pt x="1043655" y="331076"/>
                    </a:cubicBezTo>
                    <a:cubicBezTo>
                      <a:pt x="1043655" y="331076"/>
                      <a:pt x="1043655" y="331076"/>
                      <a:pt x="993685" y="371033"/>
                    </a:cubicBezTo>
                    <a:cubicBezTo>
                      <a:pt x="985833" y="363898"/>
                      <a:pt x="977980" y="356762"/>
                      <a:pt x="969414" y="349627"/>
                    </a:cubicBezTo>
                    <a:cubicBezTo>
                      <a:pt x="969414" y="349627"/>
                      <a:pt x="969414" y="349627"/>
                      <a:pt x="1024381" y="306102"/>
                    </a:cubicBezTo>
                    <a:cubicBezTo>
                      <a:pt x="1019384" y="296826"/>
                      <a:pt x="1016528" y="286123"/>
                      <a:pt x="1016528" y="274707"/>
                    </a:cubicBezTo>
                    <a:cubicBezTo>
                      <a:pt x="1016528" y="234750"/>
                      <a:pt x="1049365" y="201928"/>
                      <a:pt x="1089341" y="201928"/>
                    </a:cubicBezTo>
                    <a:cubicBezTo>
                      <a:pt x="1106474" y="201928"/>
                      <a:pt x="1122892" y="208349"/>
                      <a:pt x="1135028" y="219052"/>
                    </a:cubicBezTo>
                    <a:cubicBezTo>
                      <a:pt x="1135028" y="219052"/>
                      <a:pt x="1135028" y="219052"/>
                      <a:pt x="1242106" y="136283"/>
                    </a:cubicBezTo>
                    <a:cubicBezTo>
                      <a:pt x="1242106" y="136283"/>
                      <a:pt x="1242106" y="136283"/>
                      <a:pt x="1269946" y="114878"/>
                    </a:cubicBezTo>
                    <a:cubicBezTo>
                      <a:pt x="1270660" y="114164"/>
                      <a:pt x="1272088" y="113451"/>
                      <a:pt x="1273516" y="112737"/>
                    </a:cubicBezTo>
                    <a:cubicBezTo>
                      <a:pt x="1273516" y="31395"/>
                      <a:pt x="1273516" y="31395"/>
                      <a:pt x="1273516" y="31395"/>
                    </a:cubicBezTo>
                    <a:cubicBezTo>
                      <a:pt x="31410" y="31395"/>
                      <a:pt x="31410" y="31395"/>
                      <a:pt x="31410" y="31395"/>
                    </a:cubicBezTo>
                    <a:cubicBezTo>
                      <a:pt x="31410" y="406709"/>
                      <a:pt x="31410" y="620766"/>
                      <a:pt x="31410" y="741352"/>
                    </a:cubicBezTo>
                    <a:cubicBezTo>
                      <a:pt x="31410" y="741352"/>
                      <a:pt x="31410" y="741352"/>
                      <a:pt x="62819" y="726368"/>
                    </a:cubicBezTo>
                    <a:cubicBezTo>
                      <a:pt x="62819" y="726368"/>
                      <a:pt x="62819" y="726368"/>
                      <a:pt x="276976" y="623621"/>
                    </a:cubicBezTo>
                    <a:cubicBezTo>
                      <a:pt x="275548" y="617912"/>
                      <a:pt x="274834" y="612918"/>
                      <a:pt x="274834" y="607210"/>
                    </a:cubicBezTo>
                    <a:cubicBezTo>
                      <a:pt x="274834" y="567252"/>
                      <a:pt x="306957" y="534430"/>
                      <a:pt x="346933" y="534430"/>
                    </a:cubicBezTo>
                    <a:cubicBezTo>
                      <a:pt x="360496" y="534430"/>
                      <a:pt x="372632" y="537998"/>
                      <a:pt x="383340" y="543706"/>
                    </a:cubicBezTo>
                    <a:cubicBezTo>
                      <a:pt x="383340" y="543706"/>
                      <a:pt x="383340" y="543706"/>
                      <a:pt x="454725" y="465218"/>
                    </a:cubicBezTo>
                    <a:cubicBezTo>
                      <a:pt x="443304" y="489478"/>
                      <a:pt x="434737" y="514451"/>
                      <a:pt x="429026" y="540138"/>
                    </a:cubicBezTo>
                    <a:cubicBezTo>
                      <a:pt x="429026" y="540138"/>
                      <a:pt x="429026" y="540138"/>
                      <a:pt x="406183" y="565112"/>
                    </a:cubicBezTo>
                    <a:cubicBezTo>
                      <a:pt x="414749" y="577241"/>
                      <a:pt x="419746" y="591512"/>
                      <a:pt x="419746" y="607210"/>
                    </a:cubicBezTo>
                    <a:cubicBezTo>
                      <a:pt x="419746" y="647167"/>
                      <a:pt x="386909" y="679275"/>
                      <a:pt x="346933" y="679275"/>
                    </a:cubicBezTo>
                    <a:cubicBezTo>
                      <a:pt x="324090" y="679275"/>
                      <a:pt x="303388" y="668573"/>
                      <a:pt x="290539" y="651448"/>
                    </a:cubicBezTo>
                    <a:cubicBezTo>
                      <a:pt x="290539" y="651448"/>
                      <a:pt x="290539" y="651448"/>
                      <a:pt x="62819" y="761331"/>
                    </a:cubicBezTo>
                    <a:cubicBezTo>
                      <a:pt x="62819" y="761331"/>
                      <a:pt x="62819" y="761331"/>
                      <a:pt x="31410" y="776315"/>
                    </a:cubicBezTo>
                    <a:cubicBezTo>
                      <a:pt x="31410" y="900468"/>
                      <a:pt x="31410" y="900468"/>
                      <a:pt x="31410" y="900468"/>
                    </a:cubicBezTo>
                    <a:cubicBezTo>
                      <a:pt x="250563" y="900468"/>
                      <a:pt x="431168" y="900468"/>
                      <a:pt x="579650" y="900468"/>
                    </a:cubicBezTo>
                    <a:cubicBezTo>
                      <a:pt x="600351" y="913312"/>
                      <a:pt x="622481" y="924014"/>
                      <a:pt x="645324" y="931863"/>
                    </a:cubicBezTo>
                    <a:cubicBezTo>
                      <a:pt x="645324" y="931863"/>
                      <a:pt x="645324" y="931863"/>
                      <a:pt x="15705" y="931863"/>
                    </a:cubicBezTo>
                    <a:cubicBezTo>
                      <a:pt x="7139" y="931863"/>
                      <a:pt x="0" y="925441"/>
                      <a:pt x="0" y="916166"/>
                    </a:cubicBezTo>
                    <a:cubicBezTo>
                      <a:pt x="0" y="916166"/>
                      <a:pt x="0" y="916166"/>
                      <a:pt x="0" y="15698"/>
                    </a:cubicBezTo>
                    <a:cubicBezTo>
                      <a:pt x="0" y="6422"/>
                      <a:pt x="7139" y="0"/>
                      <a:pt x="15705" y="0"/>
                    </a:cubicBezTo>
                    <a:close/>
                  </a:path>
                </a:pathLst>
              </a:custGeom>
              <a:solidFill>
                <a:schemeClr val="accent1"/>
              </a:solidFill>
              <a:ln>
                <a:noFill/>
              </a:ln>
            </p:spPr>
            <p:txBody>
              <a:bodyPr vert="horz" wrap="square" lIns="72746" tIns="36373" rIns="72746" bIns="36373" numCol="1" anchor="t" anchorCtr="0" compatLnSpc="1">
                <a:prstTxWarp prst="textNoShape">
                  <a:avLst/>
                </a:prstTxWarp>
                <a:noAutofit/>
              </a:bodyPr>
              <a:lstStyle/>
              <a:p>
                <a:endParaRPr lang="en-US" sz="1559">
                  <a:sym typeface="+mn-lt"/>
                </a:endParaRPr>
              </a:p>
            </p:txBody>
          </p:sp>
          <p:sp>
            <p:nvSpPr>
              <p:cNvPr id="250" name="Freeform 11">
                <a:extLst>
                  <a:ext uri="{FF2B5EF4-FFF2-40B4-BE49-F238E27FC236}">
                    <a16:creationId xmlns:a16="http://schemas.microsoft.com/office/drawing/2014/main" id="{F71591B1-CCD7-445A-A962-12C7E7F777BF}"/>
                  </a:ext>
                </a:extLst>
              </p:cNvPr>
              <p:cNvSpPr>
                <a:spLocks/>
              </p:cNvSpPr>
              <p:nvPr/>
            </p:nvSpPr>
            <p:spPr bwMode="auto">
              <a:xfrm>
                <a:off x="6697662" y="3179762"/>
                <a:ext cx="1181100" cy="654050"/>
              </a:xfrm>
              <a:custGeom>
                <a:avLst/>
                <a:gdLst>
                  <a:gd name="connsiteX0" fmla="*/ 363861 w 1181100"/>
                  <a:gd name="connsiteY0" fmla="*/ 458787 h 654050"/>
                  <a:gd name="connsiteX1" fmla="*/ 452503 w 1181100"/>
                  <a:gd name="connsiteY1" fmla="*/ 632593 h 654050"/>
                  <a:gd name="connsiteX2" fmla="*/ 474663 w 1181100"/>
                  <a:gd name="connsiteY2" fmla="*/ 654050 h 654050"/>
                  <a:gd name="connsiteX3" fmla="*/ 0 w 1181100"/>
                  <a:gd name="connsiteY3" fmla="*/ 654050 h 654050"/>
                  <a:gd name="connsiteX4" fmla="*/ 0 w 1181100"/>
                  <a:gd name="connsiteY4" fmla="*/ 581095 h 654050"/>
                  <a:gd name="connsiteX5" fmla="*/ 221605 w 1181100"/>
                  <a:gd name="connsiteY5" fmla="*/ 473807 h 654050"/>
                  <a:gd name="connsiteX6" fmla="*/ 284512 w 1181100"/>
                  <a:gd name="connsiteY6" fmla="*/ 495265 h 654050"/>
                  <a:gd name="connsiteX7" fmla="*/ 363861 w 1181100"/>
                  <a:gd name="connsiteY7" fmla="*/ 458787 h 654050"/>
                  <a:gd name="connsiteX8" fmla="*/ 881470 w 1181100"/>
                  <a:gd name="connsiteY8" fmla="*/ 250825 h 654050"/>
                  <a:gd name="connsiteX9" fmla="*/ 879327 w 1181100"/>
                  <a:gd name="connsiteY9" fmla="*/ 543393 h 654050"/>
                  <a:gd name="connsiteX10" fmla="*/ 859328 w 1181100"/>
                  <a:gd name="connsiteY10" fmla="*/ 564748 h 654050"/>
                  <a:gd name="connsiteX11" fmla="*/ 840757 w 1181100"/>
                  <a:gd name="connsiteY11" fmla="*/ 581121 h 654050"/>
                  <a:gd name="connsiteX12" fmla="*/ 840043 w 1181100"/>
                  <a:gd name="connsiteY12" fmla="*/ 581833 h 654050"/>
                  <a:gd name="connsiteX13" fmla="*/ 696476 w 1181100"/>
                  <a:gd name="connsiteY13" fmla="*/ 630238 h 654050"/>
                  <a:gd name="connsiteX14" fmla="*/ 526481 w 1181100"/>
                  <a:gd name="connsiteY14" fmla="*/ 558342 h 654050"/>
                  <a:gd name="connsiteX15" fmla="*/ 489339 w 1181100"/>
                  <a:gd name="connsiteY15" fmla="*/ 284993 h 654050"/>
                  <a:gd name="connsiteX16" fmla="*/ 586479 w 1181100"/>
                  <a:gd name="connsiteY16" fmla="*/ 331975 h 654050"/>
                  <a:gd name="connsiteX17" fmla="*/ 699333 w 1181100"/>
                  <a:gd name="connsiteY17" fmla="*/ 441599 h 654050"/>
                  <a:gd name="connsiteX18" fmla="*/ 805044 w 1181100"/>
                  <a:gd name="connsiteY18" fmla="*/ 368279 h 654050"/>
                  <a:gd name="connsiteX19" fmla="*/ 812901 w 1181100"/>
                  <a:gd name="connsiteY19" fmla="*/ 328416 h 654050"/>
                  <a:gd name="connsiteX20" fmla="*/ 811472 w 1181100"/>
                  <a:gd name="connsiteY20" fmla="*/ 314179 h 654050"/>
                  <a:gd name="connsiteX21" fmla="*/ 810758 w 1181100"/>
                  <a:gd name="connsiteY21" fmla="*/ 307061 h 654050"/>
                  <a:gd name="connsiteX22" fmla="*/ 815758 w 1181100"/>
                  <a:gd name="connsiteY22" fmla="*/ 302790 h 654050"/>
                  <a:gd name="connsiteX23" fmla="*/ 850043 w 1181100"/>
                  <a:gd name="connsiteY23" fmla="*/ 275739 h 654050"/>
                  <a:gd name="connsiteX24" fmla="*/ 881470 w 1181100"/>
                  <a:gd name="connsiteY24" fmla="*/ 250825 h 654050"/>
                  <a:gd name="connsiteX25" fmla="*/ 1181100 w 1181100"/>
                  <a:gd name="connsiteY25" fmla="*/ 0 h 654050"/>
                  <a:gd name="connsiteX26" fmla="*/ 1181100 w 1181100"/>
                  <a:gd name="connsiteY26" fmla="*/ 654050 h 654050"/>
                  <a:gd name="connsiteX27" fmla="*/ 1099004 w 1181100"/>
                  <a:gd name="connsiteY27" fmla="*/ 654050 h 654050"/>
                  <a:gd name="connsiteX28" fmla="*/ 1096863 w 1181100"/>
                  <a:gd name="connsiteY28" fmla="*/ 651908 h 654050"/>
                  <a:gd name="connsiteX29" fmla="*/ 1069022 w 1181100"/>
                  <a:gd name="connsiteY29" fmla="*/ 638342 h 654050"/>
                  <a:gd name="connsiteX30" fmla="*/ 1066166 w 1181100"/>
                  <a:gd name="connsiteY30" fmla="*/ 637628 h 654050"/>
                  <a:gd name="connsiteX31" fmla="*/ 1064024 w 1181100"/>
                  <a:gd name="connsiteY31" fmla="*/ 637628 h 654050"/>
                  <a:gd name="connsiteX32" fmla="*/ 1048319 w 1181100"/>
                  <a:gd name="connsiteY32" fmla="*/ 640484 h 654050"/>
                  <a:gd name="connsiteX33" fmla="*/ 1040466 w 1181100"/>
                  <a:gd name="connsiteY33" fmla="*/ 629773 h 654050"/>
                  <a:gd name="connsiteX34" fmla="*/ 986212 w 1181100"/>
                  <a:gd name="connsiteY34" fmla="*/ 573365 h 654050"/>
                  <a:gd name="connsiteX35" fmla="*/ 954087 w 1181100"/>
                  <a:gd name="connsiteY35" fmla="*/ 178507 h 654050"/>
                  <a:gd name="connsiteX36" fmla="*/ 985498 w 1181100"/>
                  <a:gd name="connsiteY36" fmla="*/ 153516 h 654050"/>
                  <a:gd name="connsiteX37" fmla="*/ 1028330 w 1181100"/>
                  <a:gd name="connsiteY37" fmla="*/ 162798 h 654050"/>
                  <a:gd name="connsiteX38" fmla="*/ 1131843 w 1181100"/>
                  <a:gd name="connsiteY38" fmla="*/ 59264 h 654050"/>
                  <a:gd name="connsiteX39" fmla="*/ 1129701 w 1181100"/>
                  <a:gd name="connsiteY39" fmla="*/ 39985 h 654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81100" h="654050">
                    <a:moveTo>
                      <a:pt x="363861" y="458787"/>
                    </a:moveTo>
                    <a:cubicBezTo>
                      <a:pt x="375299" y="521729"/>
                      <a:pt x="404608" y="582525"/>
                      <a:pt x="452503" y="632593"/>
                    </a:cubicBezTo>
                    <a:cubicBezTo>
                      <a:pt x="459651" y="640460"/>
                      <a:pt x="466800" y="647613"/>
                      <a:pt x="474663" y="654050"/>
                    </a:cubicBezTo>
                    <a:cubicBezTo>
                      <a:pt x="474663" y="654050"/>
                      <a:pt x="474663" y="654050"/>
                      <a:pt x="0" y="654050"/>
                    </a:cubicBezTo>
                    <a:cubicBezTo>
                      <a:pt x="0" y="654050"/>
                      <a:pt x="0" y="654050"/>
                      <a:pt x="0" y="581095"/>
                    </a:cubicBezTo>
                    <a:cubicBezTo>
                      <a:pt x="0" y="581095"/>
                      <a:pt x="0" y="581095"/>
                      <a:pt x="221605" y="473807"/>
                    </a:cubicBezTo>
                    <a:cubicBezTo>
                      <a:pt x="239476" y="487397"/>
                      <a:pt x="261637" y="495265"/>
                      <a:pt x="284512" y="495265"/>
                    </a:cubicBezTo>
                    <a:cubicBezTo>
                      <a:pt x="316681" y="495265"/>
                      <a:pt x="344560" y="480960"/>
                      <a:pt x="363861" y="458787"/>
                    </a:cubicBezTo>
                    <a:close/>
                    <a:moveTo>
                      <a:pt x="881470" y="250825"/>
                    </a:moveTo>
                    <a:cubicBezTo>
                      <a:pt x="948611" y="336246"/>
                      <a:pt x="949325" y="457972"/>
                      <a:pt x="879327" y="543393"/>
                    </a:cubicBezTo>
                    <a:cubicBezTo>
                      <a:pt x="873613" y="551223"/>
                      <a:pt x="866471" y="558342"/>
                      <a:pt x="859328" y="564748"/>
                    </a:cubicBezTo>
                    <a:cubicBezTo>
                      <a:pt x="852185" y="571867"/>
                      <a:pt x="846471" y="577562"/>
                      <a:pt x="840757" y="581121"/>
                    </a:cubicBezTo>
                    <a:cubicBezTo>
                      <a:pt x="840757" y="581121"/>
                      <a:pt x="840757" y="581121"/>
                      <a:pt x="840043" y="581833"/>
                    </a:cubicBezTo>
                    <a:cubicBezTo>
                      <a:pt x="799330" y="613154"/>
                      <a:pt x="747903" y="630238"/>
                      <a:pt x="696476" y="630238"/>
                    </a:cubicBezTo>
                    <a:cubicBezTo>
                      <a:pt x="631478" y="630238"/>
                      <a:pt x="571480" y="604612"/>
                      <a:pt x="526481" y="558342"/>
                    </a:cubicBezTo>
                    <a:cubicBezTo>
                      <a:pt x="455055" y="483598"/>
                      <a:pt x="442912" y="372550"/>
                      <a:pt x="489339" y="284993"/>
                    </a:cubicBezTo>
                    <a:cubicBezTo>
                      <a:pt x="489339" y="284993"/>
                      <a:pt x="489339" y="284993"/>
                      <a:pt x="586479" y="331975"/>
                    </a:cubicBezTo>
                    <a:cubicBezTo>
                      <a:pt x="588622" y="392482"/>
                      <a:pt x="638621" y="441599"/>
                      <a:pt x="699333" y="441599"/>
                    </a:cubicBezTo>
                    <a:cubicBezTo>
                      <a:pt x="747903" y="441599"/>
                      <a:pt x="789330" y="410990"/>
                      <a:pt x="805044" y="368279"/>
                    </a:cubicBezTo>
                    <a:cubicBezTo>
                      <a:pt x="810044" y="356178"/>
                      <a:pt x="812901" y="342653"/>
                      <a:pt x="812901" y="328416"/>
                    </a:cubicBezTo>
                    <a:cubicBezTo>
                      <a:pt x="812901" y="323433"/>
                      <a:pt x="812187" y="319162"/>
                      <a:pt x="811472" y="314179"/>
                    </a:cubicBezTo>
                    <a:cubicBezTo>
                      <a:pt x="811472" y="312043"/>
                      <a:pt x="811472" y="309196"/>
                      <a:pt x="810758" y="307061"/>
                    </a:cubicBezTo>
                    <a:cubicBezTo>
                      <a:pt x="810758" y="307061"/>
                      <a:pt x="810758" y="307061"/>
                      <a:pt x="815758" y="302790"/>
                    </a:cubicBezTo>
                    <a:cubicBezTo>
                      <a:pt x="820758" y="299230"/>
                      <a:pt x="830757" y="291400"/>
                      <a:pt x="850043" y="275739"/>
                    </a:cubicBezTo>
                    <a:cubicBezTo>
                      <a:pt x="857899" y="269333"/>
                      <a:pt x="868613" y="260791"/>
                      <a:pt x="881470" y="250825"/>
                    </a:cubicBezTo>
                    <a:close/>
                    <a:moveTo>
                      <a:pt x="1181100" y="0"/>
                    </a:moveTo>
                    <a:cubicBezTo>
                      <a:pt x="1181100" y="0"/>
                      <a:pt x="1181100" y="0"/>
                      <a:pt x="1181100" y="654050"/>
                    </a:cubicBezTo>
                    <a:cubicBezTo>
                      <a:pt x="1181100" y="654050"/>
                      <a:pt x="1181100" y="654050"/>
                      <a:pt x="1099004" y="654050"/>
                    </a:cubicBezTo>
                    <a:cubicBezTo>
                      <a:pt x="1099004" y="654050"/>
                      <a:pt x="1099004" y="654050"/>
                      <a:pt x="1096863" y="651908"/>
                    </a:cubicBezTo>
                    <a:cubicBezTo>
                      <a:pt x="1089724" y="644768"/>
                      <a:pt x="1079730" y="639770"/>
                      <a:pt x="1069022" y="638342"/>
                    </a:cubicBezTo>
                    <a:cubicBezTo>
                      <a:pt x="1069022" y="638342"/>
                      <a:pt x="1069022" y="638342"/>
                      <a:pt x="1066166" y="637628"/>
                    </a:cubicBezTo>
                    <a:cubicBezTo>
                      <a:pt x="1066166" y="637628"/>
                      <a:pt x="1066166" y="637628"/>
                      <a:pt x="1064024" y="637628"/>
                    </a:cubicBezTo>
                    <a:cubicBezTo>
                      <a:pt x="1058313" y="637628"/>
                      <a:pt x="1053316" y="638342"/>
                      <a:pt x="1048319" y="640484"/>
                    </a:cubicBezTo>
                    <a:cubicBezTo>
                      <a:pt x="1046177" y="636913"/>
                      <a:pt x="1043322" y="633343"/>
                      <a:pt x="1040466" y="629773"/>
                    </a:cubicBezTo>
                    <a:cubicBezTo>
                      <a:pt x="1040466" y="629773"/>
                      <a:pt x="1040466" y="629773"/>
                      <a:pt x="986212" y="573365"/>
                    </a:cubicBezTo>
                    <a:cubicBezTo>
                      <a:pt x="1061169" y="448410"/>
                      <a:pt x="1048319" y="289181"/>
                      <a:pt x="954087" y="178507"/>
                    </a:cubicBezTo>
                    <a:cubicBezTo>
                      <a:pt x="954087" y="178507"/>
                      <a:pt x="954087" y="178507"/>
                      <a:pt x="985498" y="153516"/>
                    </a:cubicBezTo>
                    <a:cubicBezTo>
                      <a:pt x="998348" y="159942"/>
                      <a:pt x="1013339" y="162798"/>
                      <a:pt x="1028330" y="162798"/>
                    </a:cubicBezTo>
                    <a:cubicBezTo>
                      <a:pt x="1085441" y="162798"/>
                      <a:pt x="1131843" y="116386"/>
                      <a:pt x="1131843" y="59264"/>
                    </a:cubicBezTo>
                    <a:cubicBezTo>
                      <a:pt x="1131843" y="52838"/>
                      <a:pt x="1131129" y="45698"/>
                      <a:pt x="1129701" y="39985"/>
                    </a:cubicBezTo>
                    <a:close/>
                  </a:path>
                </a:pathLst>
              </a:custGeom>
              <a:solidFill>
                <a:schemeClr val="tx2"/>
              </a:solidFill>
              <a:ln>
                <a:noFill/>
              </a:ln>
            </p:spPr>
            <p:txBody>
              <a:bodyPr vert="horz" wrap="square" lIns="72746" tIns="36373" rIns="72746" bIns="36373" numCol="1" anchor="t" anchorCtr="0" compatLnSpc="1">
                <a:prstTxWarp prst="textNoShape">
                  <a:avLst/>
                </a:prstTxWarp>
                <a:noAutofit/>
              </a:bodyPr>
              <a:lstStyle/>
              <a:p>
                <a:endParaRPr lang="en-US" sz="1559">
                  <a:sym typeface="+mn-lt"/>
                </a:endParaRPr>
              </a:p>
            </p:txBody>
          </p:sp>
        </p:grpSp>
      </p:grpSp>
      <p:sp>
        <p:nvSpPr>
          <p:cNvPr id="218" name="ee4pHeader1">
            <a:extLst>
              <a:ext uri="{FF2B5EF4-FFF2-40B4-BE49-F238E27FC236}">
                <a16:creationId xmlns:a16="http://schemas.microsoft.com/office/drawing/2014/main" id="{52DA370E-D56A-4E2E-8345-0C1E0DA1F904}"/>
              </a:ext>
            </a:extLst>
          </p:cNvPr>
          <p:cNvSpPr txBox="1"/>
          <p:nvPr/>
        </p:nvSpPr>
        <p:spPr>
          <a:xfrm>
            <a:off x="1106274" y="2969028"/>
            <a:ext cx="1348981" cy="469263"/>
          </a:xfrm>
          <a:prstGeom prst="rect">
            <a:avLst/>
          </a:prstGeom>
          <a:noFill/>
          <a:ln cap="rnd">
            <a:noFill/>
          </a:ln>
        </p:spPr>
        <p:txBody>
          <a:bodyPr vert="horz" wrap="square" lIns="0" tIns="0" rIns="0" bIns="0" rtlCol="0" anchor="ctr" anchorCtr="0">
            <a:noAutofit/>
          </a:bodyPr>
          <a:lstStyle/>
          <a:p>
            <a:pPr>
              <a:buSzPct val="100000"/>
              <a:buFont typeface="Trebuchet MS" panose="020B0603020202020204" pitchFamily="34" charset="0"/>
              <a:buChar char="​"/>
            </a:pPr>
            <a:r>
              <a:rPr lang="en-US" sz="1400">
                <a:solidFill>
                  <a:srgbClr val="29BA74"/>
                </a:solidFill>
                <a:sym typeface="+mn-lt"/>
              </a:rPr>
              <a:t>Actions library</a:t>
            </a:r>
          </a:p>
        </p:txBody>
      </p:sp>
      <p:grpSp>
        <p:nvGrpSpPr>
          <p:cNvPr id="219" name="Group 218">
            <a:extLst>
              <a:ext uri="{FF2B5EF4-FFF2-40B4-BE49-F238E27FC236}">
                <a16:creationId xmlns:a16="http://schemas.microsoft.com/office/drawing/2014/main" id="{84C2BC09-7E91-467B-8337-B9CF56DE53EF}"/>
              </a:ext>
            </a:extLst>
          </p:cNvPr>
          <p:cNvGrpSpPr>
            <a:grpSpLocks/>
          </p:cNvGrpSpPr>
          <p:nvPr/>
        </p:nvGrpSpPr>
        <p:grpSpPr>
          <a:xfrm>
            <a:off x="630000" y="3020779"/>
            <a:ext cx="365760" cy="365760"/>
            <a:chOff x="5273675" y="2606675"/>
            <a:chExt cx="1644650" cy="1644650"/>
          </a:xfrm>
        </p:grpSpPr>
        <p:sp>
          <p:nvSpPr>
            <p:cNvPr id="243" name="AutoShape 3">
              <a:extLst>
                <a:ext uri="{FF2B5EF4-FFF2-40B4-BE49-F238E27FC236}">
                  <a16:creationId xmlns:a16="http://schemas.microsoft.com/office/drawing/2014/main" id="{0866420A-97BC-4146-83D0-A21FD06A913F}"/>
                </a:ext>
              </a:extLst>
            </p:cNvPr>
            <p:cNvSpPr>
              <a:spLocks noChangeAspect="1" noChangeArrowheads="1" noTextEdit="1"/>
            </p:cNvSpPr>
            <p:nvPr/>
          </p:nvSpPr>
          <p:spPr bwMode="auto">
            <a:xfrm>
              <a:off x="5273675" y="2606675"/>
              <a:ext cx="1644650"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2746" tIns="36373" rIns="72746" bIns="36373" numCol="1" anchor="ctr" anchorCtr="0" compatLnSpc="1">
              <a:prstTxWarp prst="textNoShape">
                <a:avLst/>
              </a:prstTxWarp>
            </a:bodyPr>
            <a:lstStyle/>
            <a:p>
              <a:endParaRPr lang="en-US" sz="1559">
                <a:sym typeface="+mn-lt"/>
              </a:endParaRPr>
            </a:p>
          </p:txBody>
        </p:sp>
        <p:grpSp>
          <p:nvGrpSpPr>
            <p:cNvPr id="244" name="Group 243">
              <a:extLst>
                <a:ext uri="{FF2B5EF4-FFF2-40B4-BE49-F238E27FC236}">
                  <a16:creationId xmlns:a16="http://schemas.microsoft.com/office/drawing/2014/main" id="{195041F8-82E6-4DF2-AC00-DE624A052EFF}"/>
                </a:ext>
              </a:extLst>
            </p:cNvPr>
            <p:cNvGrpSpPr/>
            <p:nvPr/>
          </p:nvGrpSpPr>
          <p:grpSpPr>
            <a:xfrm>
              <a:off x="5443538" y="2782888"/>
              <a:ext cx="1304925" cy="1292225"/>
              <a:chOff x="5443538" y="2782888"/>
              <a:chExt cx="1304925" cy="1292225"/>
            </a:xfrm>
          </p:grpSpPr>
          <p:sp>
            <p:nvSpPr>
              <p:cNvPr id="245" name="Freeform 11">
                <a:extLst>
                  <a:ext uri="{FF2B5EF4-FFF2-40B4-BE49-F238E27FC236}">
                    <a16:creationId xmlns:a16="http://schemas.microsoft.com/office/drawing/2014/main" id="{1B775832-1CBF-4A85-A809-F94E12D56A51}"/>
                  </a:ext>
                </a:extLst>
              </p:cNvPr>
              <p:cNvSpPr>
                <a:spLocks noEditPoints="1"/>
              </p:cNvSpPr>
              <p:nvPr/>
            </p:nvSpPr>
            <p:spPr bwMode="auto">
              <a:xfrm>
                <a:off x="5813425" y="3556000"/>
                <a:ext cx="935038" cy="519113"/>
              </a:xfrm>
              <a:custGeom>
                <a:avLst/>
                <a:gdLst>
                  <a:gd name="T0" fmla="*/ 1307 w 1308"/>
                  <a:gd name="T1" fmla="*/ 588 h 729"/>
                  <a:gd name="T2" fmla="*/ 1291 w 1308"/>
                  <a:gd name="T3" fmla="*/ 574 h 729"/>
                  <a:gd name="T4" fmla="*/ 862 w 1308"/>
                  <a:gd name="T5" fmla="*/ 574 h 729"/>
                  <a:gd name="T6" fmla="*/ 849 w 1308"/>
                  <a:gd name="T7" fmla="*/ 570 h 729"/>
                  <a:gd name="T8" fmla="*/ 78 w 1308"/>
                  <a:gd name="T9" fmla="*/ 3 h 729"/>
                  <a:gd name="T10" fmla="*/ 68 w 1308"/>
                  <a:gd name="T11" fmla="*/ 0 h 729"/>
                  <a:gd name="T12" fmla="*/ 56 w 1308"/>
                  <a:gd name="T13" fmla="*/ 4 h 729"/>
                  <a:gd name="T14" fmla="*/ 55 w 1308"/>
                  <a:gd name="T15" fmla="*/ 5 h 729"/>
                  <a:gd name="T16" fmla="*/ 54 w 1308"/>
                  <a:gd name="T17" fmla="*/ 6 h 729"/>
                  <a:gd name="T18" fmla="*/ 53 w 1308"/>
                  <a:gd name="T19" fmla="*/ 7 h 729"/>
                  <a:gd name="T20" fmla="*/ 22 w 1308"/>
                  <a:gd name="T21" fmla="*/ 46 h 729"/>
                  <a:gd name="T22" fmla="*/ 4 w 1308"/>
                  <a:gd name="T23" fmla="*/ 116 h 729"/>
                  <a:gd name="T24" fmla="*/ 41 w 1308"/>
                  <a:gd name="T25" fmla="*/ 179 h 729"/>
                  <a:gd name="T26" fmla="*/ 736 w 1308"/>
                  <a:gd name="T27" fmla="*/ 687 h 729"/>
                  <a:gd name="T28" fmla="*/ 802 w 1308"/>
                  <a:gd name="T29" fmla="*/ 720 h 729"/>
                  <a:gd name="T30" fmla="*/ 865 w 1308"/>
                  <a:gd name="T31" fmla="*/ 729 h 729"/>
                  <a:gd name="T32" fmla="*/ 1214 w 1308"/>
                  <a:gd name="T33" fmla="*/ 729 h 729"/>
                  <a:gd name="T34" fmla="*/ 1308 w 1308"/>
                  <a:gd name="T35" fmla="*/ 636 h 729"/>
                  <a:gd name="T36" fmla="*/ 1308 w 1308"/>
                  <a:gd name="T37" fmla="*/ 591 h 729"/>
                  <a:gd name="T38" fmla="*/ 1308 w 1308"/>
                  <a:gd name="T39" fmla="*/ 590 h 729"/>
                  <a:gd name="T40" fmla="*/ 1307 w 1308"/>
                  <a:gd name="T41" fmla="*/ 588 h 729"/>
                  <a:gd name="T42" fmla="*/ 1264 w 1308"/>
                  <a:gd name="T43" fmla="*/ 636 h 729"/>
                  <a:gd name="T44" fmla="*/ 1214 w 1308"/>
                  <a:gd name="T45" fmla="*/ 685 h 729"/>
                  <a:gd name="T46" fmla="*/ 865 w 1308"/>
                  <a:gd name="T47" fmla="*/ 685 h 729"/>
                  <a:gd name="T48" fmla="*/ 815 w 1308"/>
                  <a:gd name="T49" fmla="*/ 678 h 729"/>
                  <a:gd name="T50" fmla="*/ 814 w 1308"/>
                  <a:gd name="T51" fmla="*/ 678 h 729"/>
                  <a:gd name="T52" fmla="*/ 814 w 1308"/>
                  <a:gd name="T53" fmla="*/ 678 h 729"/>
                  <a:gd name="T54" fmla="*/ 762 w 1308"/>
                  <a:gd name="T55" fmla="*/ 652 h 729"/>
                  <a:gd name="T56" fmla="*/ 67 w 1308"/>
                  <a:gd name="T57" fmla="*/ 143 h 729"/>
                  <a:gd name="T58" fmla="*/ 48 w 1308"/>
                  <a:gd name="T59" fmla="*/ 111 h 729"/>
                  <a:gd name="T60" fmla="*/ 47 w 1308"/>
                  <a:gd name="T61" fmla="*/ 110 h 729"/>
                  <a:gd name="T62" fmla="*/ 47 w 1308"/>
                  <a:gd name="T63" fmla="*/ 109 h 729"/>
                  <a:gd name="T64" fmla="*/ 57 w 1308"/>
                  <a:gd name="T65" fmla="*/ 72 h 729"/>
                  <a:gd name="T66" fmla="*/ 72 w 1308"/>
                  <a:gd name="T67" fmla="*/ 53 h 729"/>
                  <a:gd name="T68" fmla="*/ 823 w 1308"/>
                  <a:gd name="T69" fmla="*/ 605 h 729"/>
                  <a:gd name="T70" fmla="*/ 862 w 1308"/>
                  <a:gd name="T71" fmla="*/ 618 h 729"/>
                  <a:gd name="T72" fmla="*/ 1264 w 1308"/>
                  <a:gd name="T73" fmla="*/ 618 h 729"/>
                  <a:gd name="T74" fmla="*/ 1264 w 1308"/>
                  <a:gd name="T75" fmla="*/ 636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08" h="729">
                    <a:moveTo>
                      <a:pt x="1307" y="588"/>
                    </a:moveTo>
                    <a:cubicBezTo>
                      <a:pt x="1306" y="580"/>
                      <a:pt x="1300" y="574"/>
                      <a:pt x="1291" y="574"/>
                    </a:cubicBezTo>
                    <a:cubicBezTo>
                      <a:pt x="862" y="574"/>
                      <a:pt x="862" y="574"/>
                      <a:pt x="862" y="574"/>
                    </a:cubicBezTo>
                    <a:cubicBezTo>
                      <a:pt x="857" y="574"/>
                      <a:pt x="853" y="572"/>
                      <a:pt x="849" y="570"/>
                    </a:cubicBezTo>
                    <a:cubicBezTo>
                      <a:pt x="78" y="3"/>
                      <a:pt x="78" y="3"/>
                      <a:pt x="78" y="3"/>
                    </a:cubicBezTo>
                    <a:cubicBezTo>
                      <a:pt x="74" y="1"/>
                      <a:pt x="71" y="0"/>
                      <a:pt x="68" y="0"/>
                    </a:cubicBezTo>
                    <a:cubicBezTo>
                      <a:pt x="64" y="0"/>
                      <a:pt x="60" y="1"/>
                      <a:pt x="56" y="4"/>
                    </a:cubicBezTo>
                    <a:cubicBezTo>
                      <a:pt x="56" y="4"/>
                      <a:pt x="55" y="4"/>
                      <a:pt x="55" y="5"/>
                    </a:cubicBezTo>
                    <a:cubicBezTo>
                      <a:pt x="54" y="5"/>
                      <a:pt x="54" y="6"/>
                      <a:pt x="54" y="6"/>
                    </a:cubicBezTo>
                    <a:cubicBezTo>
                      <a:pt x="54" y="7"/>
                      <a:pt x="54" y="7"/>
                      <a:pt x="53" y="7"/>
                    </a:cubicBezTo>
                    <a:cubicBezTo>
                      <a:pt x="22" y="46"/>
                      <a:pt x="22" y="46"/>
                      <a:pt x="22" y="46"/>
                    </a:cubicBezTo>
                    <a:cubicBezTo>
                      <a:pt x="7" y="66"/>
                      <a:pt x="0" y="91"/>
                      <a:pt x="4" y="116"/>
                    </a:cubicBezTo>
                    <a:cubicBezTo>
                      <a:pt x="7" y="141"/>
                      <a:pt x="20" y="163"/>
                      <a:pt x="41" y="179"/>
                    </a:cubicBezTo>
                    <a:cubicBezTo>
                      <a:pt x="736" y="687"/>
                      <a:pt x="736" y="687"/>
                      <a:pt x="736" y="687"/>
                    </a:cubicBezTo>
                    <a:cubicBezTo>
                      <a:pt x="756" y="702"/>
                      <a:pt x="778" y="713"/>
                      <a:pt x="802" y="720"/>
                    </a:cubicBezTo>
                    <a:cubicBezTo>
                      <a:pt x="822" y="726"/>
                      <a:pt x="843" y="729"/>
                      <a:pt x="865" y="729"/>
                    </a:cubicBezTo>
                    <a:cubicBezTo>
                      <a:pt x="1214" y="729"/>
                      <a:pt x="1214" y="729"/>
                      <a:pt x="1214" y="729"/>
                    </a:cubicBezTo>
                    <a:cubicBezTo>
                      <a:pt x="1266" y="729"/>
                      <a:pt x="1308" y="687"/>
                      <a:pt x="1308" y="636"/>
                    </a:cubicBezTo>
                    <a:cubicBezTo>
                      <a:pt x="1308" y="591"/>
                      <a:pt x="1308" y="591"/>
                      <a:pt x="1308" y="591"/>
                    </a:cubicBezTo>
                    <a:cubicBezTo>
                      <a:pt x="1308" y="591"/>
                      <a:pt x="1308" y="591"/>
                      <a:pt x="1308" y="590"/>
                    </a:cubicBezTo>
                    <a:cubicBezTo>
                      <a:pt x="1307" y="589"/>
                      <a:pt x="1307" y="589"/>
                      <a:pt x="1307" y="588"/>
                    </a:cubicBezTo>
                    <a:close/>
                    <a:moveTo>
                      <a:pt x="1264" y="636"/>
                    </a:moveTo>
                    <a:cubicBezTo>
                      <a:pt x="1264" y="663"/>
                      <a:pt x="1241" y="685"/>
                      <a:pt x="1214" y="685"/>
                    </a:cubicBezTo>
                    <a:cubicBezTo>
                      <a:pt x="865" y="685"/>
                      <a:pt x="865" y="685"/>
                      <a:pt x="865" y="685"/>
                    </a:cubicBezTo>
                    <a:cubicBezTo>
                      <a:pt x="847" y="685"/>
                      <a:pt x="830" y="683"/>
                      <a:pt x="815" y="678"/>
                    </a:cubicBezTo>
                    <a:cubicBezTo>
                      <a:pt x="814" y="678"/>
                      <a:pt x="814" y="678"/>
                      <a:pt x="814" y="678"/>
                    </a:cubicBezTo>
                    <a:cubicBezTo>
                      <a:pt x="814" y="678"/>
                      <a:pt x="814" y="678"/>
                      <a:pt x="814" y="678"/>
                    </a:cubicBezTo>
                    <a:cubicBezTo>
                      <a:pt x="796" y="672"/>
                      <a:pt x="778" y="664"/>
                      <a:pt x="762" y="652"/>
                    </a:cubicBezTo>
                    <a:cubicBezTo>
                      <a:pt x="67" y="143"/>
                      <a:pt x="67" y="143"/>
                      <a:pt x="67" y="143"/>
                    </a:cubicBezTo>
                    <a:cubicBezTo>
                      <a:pt x="56" y="135"/>
                      <a:pt x="49" y="124"/>
                      <a:pt x="48" y="111"/>
                    </a:cubicBezTo>
                    <a:cubicBezTo>
                      <a:pt x="47" y="110"/>
                      <a:pt x="47" y="110"/>
                      <a:pt x="47" y="110"/>
                    </a:cubicBezTo>
                    <a:cubicBezTo>
                      <a:pt x="47" y="109"/>
                      <a:pt x="47" y="109"/>
                      <a:pt x="47" y="109"/>
                    </a:cubicBezTo>
                    <a:cubicBezTo>
                      <a:pt x="45" y="96"/>
                      <a:pt x="49" y="84"/>
                      <a:pt x="57" y="72"/>
                    </a:cubicBezTo>
                    <a:cubicBezTo>
                      <a:pt x="72" y="53"/>
                      <a:pt x="72" y="53"/>
                      <a:pt x="72" y="53"/>
                    </a:cubicBezTo>
                    <a:cubicBezTo>
                      <a:pt x="823" y="605"/>
                      <a:pt x="823" y="605"/>
                      <a:pt x="823" y="605"/>
                    </a:cubicBezTo>
                    <a:cubicBezTo>
                      <a:pt x="834" y="613"/>
                      <a:pt x="848" y="618"/>
                      <a:pt x="862" y="618"/>
                    </a:cubicBezTo>
                    <a:cubicBezTo>
                      <a:pt x="1264" y="618"/>
                      <a:pt x="1264" y="618"/>
                      <a:pt x="1264" y="618"/>
                    </a:cubicBezTo>
                    <a:lnTo>
                      <a:pt x="1264" y="63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ctr" anchorCtr="0" compatLnSpc="1">
                <a:prstTxWarp prst="textNoShape">
                  <a:avLst/>
                </a:prstTxWarp>
              </a:bodyPr>
              <a:lstStyle/>
              <a:p>
                <a:endParaRPr lang="en-US" sz="1559">
                  <a:sym typeface="+mn-lt"/>
                </a:endParaRPr>
              </a:p>
            </p:txBody>
          </p:sp>
          <p:sp>
            <p:nvSpPr>
              <p:cNvPr id="246" name="Freeform 12">
                <a:extLst>
                  <a:ext uri="{FF2B5EF4-FFF2-40B4-BE49-F238E27FC236}">
                    <a16:creationId xmlns:a16="http://schemas.microsoft.com/office/drawing/2014/main" id="{5A644467-F05E-45EA-9E2D-6BBD021585A5}"/>
                  </a:ext>
                </a:extLst>
              </p:cNvPr>
              <p:cNvSpPr>
                <a:spLocks/>
              </p:cNvSpPr>
              <p:nvPr/>
            </p:nvSpPr>
            <p:spPr bwMode="auto">
              <a:xfrm>
                <a:off x="5443538" y="2782888"/>
                <a:ext cx="1295400" cy="1150938"/>
              </a:xfrm>
              <a:custGeom>
                <a:avLst/>
                <a:gdLst>
                  <a:gd name="T0" fmla="*/ 1434 w 1815"/>
                  <a:gd name="T1" fmla="*/ 1376 h 1613"/>
                  <a:gd name="T2" fmla="*/ 1307 w 1815"/>
                  <a:gd name="T3" fmla="*/ 1397 h 1613"/>
                  <a:gd name="T4" fmla="*/ 1299 w 1815"/>
                  <a:gd name="T5" fmla="*/ 1365 h 1613"/>
                  <a:gd name="T6" fmla="*/ 1349 w 1815"/>
                  <a:gd name="T7" fmla="*/ 1256 h 1613"/>
                  <a:gd name="T8" fmla="*/ 1206 w 1815"/>
                  <a:gd name="T9" fmla="*/ 1280 h 1613"/>
                  <a:gd name="T10" fmla="*/ 1198 w 1815"/>
                  <a:gd name="T11" fmla="*/ 1248 h 1613"/>
                  <a:gd name="T12" fmla="*/ 1295 w 1815"/>
                  <a:gd name="T13" fmla="*/ 1128 h 1613"/>
                  <a:gd name="T14" fmla="*/ 1118 w 1815"/>
                  <a:gd name="T15" fmla="*/ 1155 h 1613"/>
                  <a:gd name="T16" fmla="*/ 1111 w 1815"/>
                  <a:gd name="T17" fmla="*/ 1122 h 1613"/>
                  <a:gd name="T18" fmla="*/ 1256 w 1815"/>
                  <a:gd name="T19" fmla="*/ 969 h 1613"/>
                  <a:gd name="T20" fmla="*/ 920 w 1815"/>
                  <a:gd name="T21" fmla="*/ 775 h 1613"/>
                  <a:gd name="T22" fmla="*/ 823 w 1815"/>
                  <a:gd name="T23" fmla="*/ 699 h 1613"/>
                  <a:gd name="T24" fmla="*/ 733 w 1815"/>
                  <a:gd name="T25" fmla="*/ 501 h 1613"/>
                  <a:gd name="T26" fmla="*/ 698 w 1815"/>
                  <a:gd name="T27" fmla="*/ 348 h 1613"/>
                  <a:gd name="T28" fmla="*/ 13 w 1815"/>
                  <a:gd name="T29" fmla="*/ 3 h 1613"/>
                  <a:gd name="T30" fmla="*/ 4 w 1815"/>
                  <a:gd name="T31" fmla="*/ 5 h 1613"/>
                  <a:gd name="T32" fmla="*/ 136 w 1815"/>
                  <a:gd name="T33" fmla="*/ 252 h 1613"/>
                  <a:gd name="T34" fmla="*/ 557 w 1815"/>
                  <a:gd name="T35" fmla="*/ 425 h 1613"/>
                  <a:gd name="T36" fmla="*/ 12 w 1815"/>
                  <a:gd name="T37" fmla="*/ 221 h 1613"/>
                  <a:gd name="T38" fmla="*/ 0 w 1815"/>
                  <a:gd name="T39" fmla="*/ 219 h 1613"/>
                  <a:gd name="T40" fmla="*/ 201 w 1815"/>
                  <a:gd name="T41" fmla="*/ 477 h 1613"/>
                  <a:gd name="T42" fmla="*/ 542 w 1815"/>
                  <a:gd name="T43" fmla="*/ 555 h 1613"/>
                  <a:gd name="T44" fmla="*/ 537 w 1815"/>
                  <a:gd name="T45" fmla="*/ 592 h 1613"/>
                  <a:gd name="T46" fmla="*/ 134 w 1815"/>
                  <a:gd name="T47" fmla="*/ 494 h 1613"/>
                  <a:gd name="T48" fmla="*/ 129 w 1815"/>
                  <a:gd name="T49" fmla="*/ 521 h 1613"/>
                  <a:gd name="T50" fmla="*/ 397 w 1815"/>
                  <a:gd name="T51" fmla="*/ 707 h 1613"/>
                  <a:gd name="T52" fmla="*/ 620 w 1815"/>
                  <a:gd name="T53" fmla="*/ 714 h 1613"/>
                  <a:gd name="T54" fmla="*/ 410 w 1815"/>
                  <a:gd name="T55" fmla="*/ 745 h 1613"/>
                  <a:gd name="T56" fmla="*/ 774 w 1815"/>
                  <a:gd name="T57" fmla="*/ 843 h 1613"/>
                  <a:gd name="T58" fmla="*/ 607 w 1815"/>
                  <a:gd name="T59" fmla="*/ 1041 h 1613"/>
                  <a:gd name="T60" fmla="*/ 618 w 1815"/>
                  <a:gd name="T61" fmla="*/ 1047 h 1613"/>
                  <a:gd name="T62" fmla="*/ 1392 w 1815"/>
                  <a:gd name="T63" fmla="*/ 1613 h 1613"/>
                  <a:gd name="T64" fmla="*/ 1815 w 1815"/>
                  <a:gd name="T65" fmla="*/ 1613 h 1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15" h="1613">
                    <a:moveTo>
                      <a:pt x="1515" y="1438"/>
                    </a:moveTo>
                    <a:cubicBezTo>
                      <a:pt x="1485" y="1422"/>
                      <a:pt x="1458" y="1400"/>
                      <a:pt x="1434" y="1376"/>
                    </a:cubicBezTo>
                    <a:cubicBezTo>
                      <a:pt x="1394" y="1379"/>
                      <a:pt x="1335" y="1385"/>
                      <a:pt x="1315" y="1396"/>
                    </a:cubicBezTo>
                    <a:cubicBezTo>
                      <a:pt x="1311" y="1397"/>
                      <a:pt x="1309" y="1397"/>
                      <a:pt x="1307" y="1397"/>
                    </a:cubicBezTo>
                    <a:cubicBezTo>
                      <a:pt x="1301" y="1397"/>
                      <a:pt x="1295" y="1394"/>
                      <a:pt x="1292" y="1388"/>
                    </a:cubicBezTo>
                    <a:cubicBezTo>
                      <a:pt x="1288" y="1380"/>
                      <a:pt x="1291" y="1370"/>
                      <a:pt x="1299" y="1365"/>
                    </a:cubicBezTo>
                    <a:cubicBezTo>
                      <a:pt x="1321" y="1354"/>
                      <a:pt x="1368" y="1348"/>
                      <a:pt x="1406" y="1344"/>
                    </a:cubicBezTo>
                    <a:cubicBezTo>
                      <a:pt x="1384" y="1317"/>
                      <a:pt x="1365" y="1286"/>
                      <a:pt x="1349" y="1256"/>
                    </a:cubicBezTo>
                    <a:cubicBezTo>
                      <a:pt x="1307" y="1257"/>
                      <a:pt x="1246" y="1262"/>
                      <a:pt x="1213" y="1279"/>
                    </a:cubicBezTo>
                    <a:cubicBezTo>
                      <a:pt x="1211" y="1279"/>
                      <a:pt x="1208" y="1280"/>
                      <a:pt x="1206" y="1280"/>
                    </a:cubicBezTo>
                    <a:cubicBezTo>
                      <a:pt x="1200" y="1280"/>
                      <a:pt x="1193" y="1277"/>
                      <a:pt x="1190" y="1271"/>
                    </a:cubicBezTo>
                    <a:cubicBezTo>
                      <a:pt x="1187" y="1262"/>
                      <a:pt x="1190" y="1253"/>
                      <a:pt x="1198" y="1248"/>
                    </a:cubicBezTo>
                    <a:cubicBezTo>
                      <a:pt x="1233" y="1231"/>
                      <a:pt x="1288" y="1225"/>
                      <a:pt x="1332" y="1223"/>
                    </a:cubicBezTo>
                    <a:cubicBezTo>
                      <a:pt x="1317" y="1190"/>
                      <a:pt x="1305" y="1159"/>
                      <a:pt x="1295" y="1128"/>
                    </a:cubicBezTo>
                    <a:cubicBezTo>
                      <a:pt x="1258" y="1126"/>
                      <a:pt x="1185" y="1127"/>
                      <a:pt x="1124" y="1154"/>
                    </a:cubicBezTo>
                    <a:cubicBezTo>
                      <a:pt x="1121" y="1154"/>
                      <a:pt x="1119" y="1155"/>
                      <a:pt x="1118" y="1155"/>
                    </a:cubicBezTo>
                    <a:cubicBezTo>
                      <a:pt x="1111" y="1155"/>
                      <a:pt x="1105" y="1151"/>
                      <a:pt x="1102" y="1144"/>
                    </a:cubicBezTo>
                    <a:cubicBezTo>
                      <a:pt x="1098" y="1135"/>
                      <a:pt x="1102" y="1125"/>
                      <a:pt x="1111" y="1122"/>
                    </a:cubicBezTo>
                    <a:cubicBezTo>
                      <a:pt x="1172" y="1096"/>
                      <a:pt x="1242" y="1092"/>
                      <a:pt x="1284" y="1094"/>
                    </a:cubicBezTo>
                    <a:cubicBezTo>
                      <a:pt x="1263" y="1024"/>
                      <a:pt x="1256" y="971"/>
                      <a:pt x="1256" y="969"/>
                    </a:cubicBezTo>
                    <a:cubicBezTo>
                      <a:pt x="1254" y="962"/>
                      <a:pt x="1249" y="956"/>
                      <a:pt x="1242" y="955"/>
                    </a:cubicBezTo>
                    <a:cubicBezTo>
                      <a:pt x="1090" y="930"/>
                      <a:pt x="973" y="828"/>
                      <a:pt x="920" y="775"/>
                    </a:cubicBezTo>
                    <a:cubicBezTo>
                      <a:pt x="893" y="747"/>
                      <a:pt x="862" y="723"/>
                      <a:pt x="829" y="702"/>
                    </a:cubicBezTo>
                    <a:cubicBezTo>
                      <a:pt x="827" y="701"/>
                      <a:pt x="825" y="700"/>
                      <a:pt x="823" y="699"/>
                    </a:cubicBezTo>
                    <a:cubicBezTo>
                      <a:pt x="793" y="680"/>
                      <a:pt x="766" y="659"/>
                      <a:pt x="747" y="629"/>
                    </a:cubicBezTo>
                    <a:cubicBezTo>
                      <a:pt x="720" y="589"/>
                      <a:pt x="711" y="547"/>
                      <a:pt x="733" y="501"/>
                    </a:cubicBezTo>
                    <a:cubicBezTo>
                      <a:pt x="737" y="491"/>
                      <a:pt x="740" y="480"/>
                      <a:pt x="743" y="469"/>
                    </a:cubicBezTo>
                    <a:cubicBezTo>
                      <a:pt x="754" y="419"/>
                      <a:pt x="740" y="377"/>
                      <a:pt x="698" y="348"/>
                    </a:cubicBezTo>
                    <a:cubicBezTo>
                      <a:pt x="676" y="333"/>
                      <a:pt x="652" y="321"/>
                      <a:pt x="627" y="312"/>
                    </a:cubicBezTo>
                    <a:cubicBezTo>
                      <a:pt x="410" y="232"/>
                      <a:pt x="206" y="128"/>
                      <a:pt x="13" y="3"/>
                    </a:cubicBezTo>
                    <a:cubicBezTo>
                      <a:pt x="11" y="1"/>
                      <a:pt x="9" y="1"/>
                      <a:pt x="7" y="0"/>
                    </a:cubicBezTo>
                    <a:cubicBezTo>
                      <a:pt x="6" y="2"/>
                      <a:pt x="5" y="4"/>
                      <a:pt x="4" y="5"/>
                    </a:cubicBezTo>
                    <a:cubicBezTo>
                      <a:pt x="4" y="8"/>
                      <a:pt x="3" y="11"/>
                      <a:pt x="3" y="14"/>
                    </a:cubicBezTo>
                    <a:cubicBezTo>
                      <a:pt x="5" y="117"/>
                      <a:pt x="42" y="202"/>
                      <a:pt x="136" y="252"/>
                    </a:cubicBezTo>
                    <a:cubicBezTo>
                      <a:pt x="262" y="319"/>
                      <a:pt x="395" y="368"/>
                      <a:pt x="535" y="401"/>
                    </a:cubicBezTo>
                    <a:cubicBezTo>
                      <a:pt x="548" y="404"/>
                      <a:pt x="560" y="408"/>
                      <a:pt x="557" y="425"/>
                    </a:cubicBezTo>
                    <a:cubicBezTo>
                      <a:pt x="553" y="441"/>
                      <a:pt x="541" y="440"/>
                      <a:pt x="527" y="437"/>
                    </a:cubicBezTo>
                    <a:cubicBezTo>
                      <a:pt x="344" y="392"/>
                      <a:pt x="170" y="325"/>
                      <a:pt x="12" y="221"/>
                    </a:cubicBezTo>
                    <a:cubicBezTo>
                      <a:pt x="9" y="219"/>
                      <a:pt x="6" y="218"/>
                      <a:pt x="3" y="216"/>
                    </a:cubicBezTo>
                    <a:cubicBezTo>
                      <a:pt x="2" y="218"/>
                      <a:pt x="2" y="218"/>
                      <a:pt x="0" y="219"/>
                    </a:cubicBezTo>
                    <a:cubicBezTo>
                      <a:pt x="10" y="249"/>
                      <a:pt x="18" y="280"/>
                      <a:pt x="31" y="309"/>
                    </a:cubicBezTo>
                    <a:cubicBezTo>
                      <a:pt x="66" y="386"/>
                      <a:pt x="117" y="450"/>
                      <a:pt x="201" y="477"/>
                    </a:cubicBezTo>
                    <a:cubicBezTo>
                      <a:pt x="271" y="500"/>
                      <a:pt x="344" y="518"/>
                      <a:pt x="416" y="535"/>
                    </a:cubicBezTo>
                    <a:cubicBezTo>
                      <a:pt x="457" y="545"/>
                      <a:pt x="500" y="549"/>
                      <a:pt x="542" y="555"/>
                    </a:cubicBezTo>
                    <a:cubicBezTo>
                      <a:pt x="553" y="557"/>
                      <a:pt x="561" y="563"/>
                      <a:pt x="560" y="575"/>
                    </a:cubicBezTo>
                    <a:cubicBezTo>
                      <a:pt x="558" y="589"/>
                      <a:pt x="549" y="593"/>
                      <a:pt x="537" y="592"/>
                    </a:cubicBezTo>
                    <a:cubicBezTo>
                      <a:pt x="535" y="592"/>
                      <a:pt x="532" y="591"/>
                      <a:pt x="530" y="591"/>
                    </a:cubicBezTo>
                    <a:cubicBezTo>
                      <a:pt x="394" y="574"/>
                      <a:pt x="262" y="541"/>
                      <a:pt x="134" y="494"/>
                    </a:cubicBezTo>
                    <a:cubicBezTo>
                      <a:pt x="128" y="492"/>
                      <a:pt x="123" y="490"/>
                      <a:pt x="113" y="487"/>
                    </a:cubicBezTo>
                    <a:cubicBezTo>
                      <a:pt x="120" y="501"/>
                      <a:pt x="123" y="512"/>
                      <a:pt x="129" y="521"/>
                    </a:cubicBezTo>
                    <a:cubicBezTo>
                      <a:pt x="162" y="579"/>
                      <a:pt x="206" y="627"/>
                      <a:pt x="261" y="665"/>
                    </a:cubicBezTo>
                    <a:cubicBezTo>
                      <a:pt x="302" y="693"/>
                      <a:pt x="347" y="709"/>
                      <a:pt x="397" y="707"/>
                    </a:cubicBezTo>
                    <a:cubicBezTo>
                      <a:pt x="463" y="704"/>
                      <a:pt x="528" y="701"/>
                      <a:pt x="594" y="698"/>
                    </a:cubicBezTo>
                    <a:cubicBezTo>
                      <a:pt x="607" y="697"/>
                      <a:pt x="619" y="698"/>
                      <a:pt x="620" y="714"/>
                    </a:cubicBezTo>
                    <a:cubicBezTo>
                      <a:pt x="621" y="729"/>
                      <a:pt x="611" y="734"/>
                      <a:pt x="597" y="734"/>
                    </a:cubicBezTo>
                    <a:cubicBezTo>
                      <a:pt x="535" y="738"/>
                      <a:pt x="472" y="741"/>
                      <a:pt x="410" y="745"/>
                    </a:cubicBezTo>
                    <a:cubicBezTo>
                      <a:pt x="406" y="745"/>
                      <a:pt x="402" y="746"/>
                      <a:pt x="395" y="746"/>
                    </a:cubicBezTo>
                    <a:cubicBezTo>
                      <a:pt x="491" y="867"/>
                      <a:pt x="635" y="881"/>
                      <a:pt x="774" y="843"/>
                    </a:cubicBezTo>
                    <a:cubicBezTo>
                      <a:pt x="782" y="837"/>
                      <a:pt x="782" y="837"/>
                      <a:pt x="782" y="837"/>
                    </a:cubicBezTo>
                    <a:cubicBezTo>
                      <a:pt x="686" y="948"/>
                      <a:pt x="634" y="1009"/>
                      <a:pt x="607" y="1041"/>
                    </a:cubicBezTo>
                    <a:cubicBezTo>
                      <a:pt x="610" y="1043"/>
                      <a:pt x="614" y="1044"/>
                      <a:pt x="617" y="1046"/>
                    </a:cubicBezTo>
                    <a:cubicBezTo>
                      <a:pt x="618" y="1047"/>
                      <a:pt x="618" y="1047"/>
                      <a:pt x="618" y="1047"/>
                    </a:cubicBezTo>
                    <a:cubicBezTo>
                      <a:pt x="1379" y="1608"/>
                      <a:pt x="1379" y="1608"/>
                      <a:pt x="1379" y="1608"/>
                    </a:cubicBezTo>
                    <a:cubicBezTo>
                      <a:pt x="1383" y="1611"/>
                      <a:pt x="1388" y="1613"/>
                      <a:pt x="1392" y="1613"/>
                    </a:cubicBezTo>
                    <a:cubicBezTo>
                      <a:pt x="1810" y="1613"/>
                      <a:pt x="1810" y="1613"/>
                      <a:pt x="1810" y="1613"/>
                    </a:cubicBezTo>
                    <a:cubicBezTo>
                      <a:pt x="1812" y="1613"/>
                      <a:pt x="1813" y="1613"/>
                      <a:pt x="1815" y="1613"/>
                    </a:cubicBezTo>
                    <a:cubicBezTo>
                      <a:pt x="1761" y="1487"/>
                      <a:pt x="1544" y="1443"/>
                      <a:pt x="1515" y="1438"/>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ctr" anchorCtr="0" compatLnSpc="1">
                <a:prstTxWarp prst="textNoShape">
                  <a:avLst/>
                </a:prstTxWarp>
              </a:bodyPr>
              <a:lstStyle/>
              <a:p>
                <a:endParaRPr lang="en-US" sz="1559">
                  <a:sym typeface="+mn-lt"/>
                </a:endParaRPr>
              </a:p>
            </p:txBody>
          </p:sp>
        </p:grpSp>
      </p:grpSp>
      <p:sp>
        <p:nvSpPr>
          <p:cNvPr id="220" name="ee4pHeader1">
            <a:extLst>
              <a:ext uri="{FF2B5EF4-FFF2-40B4-BE49-F238E27FC236}">
                <a16:creationId xmlns:a16="http://schemas.microsoft.com/office/drawing/2014/main" id="{C3CE88C5-1F8F-44FA-AC92-D701766961D1}"/>
              </a:ext>
            </a:extLst>
          </p:cNvPr>
          <p:cNvSpPr txBox="1"/>
          <p:nvPr/>
        </p:nvSpPr>
        <p:spPr>
          <a:xfrm>
            <a:off x="1106274" y="3928369"/>
            <a:ext cx="1348981" cy="469263"/>
          </a:xfrm>
          <a:prstGeom prst="rect">
            <a:avLst/>
          </a:prstGeom>
          <a:noFill/>
          <a:ln cap="rnd">
            <a:noFill/>
          </a:ln>
        </p:spPr>
        <p:txBody>
          <a:bodyPr vert="horz" wrap="square" lIns="0" tIns="0" rIns="0" bIns="0" rtlCol="0" anchor="ctr" anchorCtr="0">
            <a:noAutofit/>
          </a:bodyPr>
          <a:lstStyle/>
          <a:p>
            <a:pPr>
              <a:buSzPct val="100000"/>
              <a:buFont typeface="Trebuchet MS" panose="020B0603020202020204" pitchFamily="34" charset="0"/>
              <a:buChar char="​"/>
            </a:pPr>
            <a:r>
              <a:rPr lang="en-US" sz="1400" err="1">
                <a:solidFill>
                  <a:srgbClr val="29BA74"/>
                </a:solidFill>
                <a:sym typeface="+mn-lt"/>
              </a:rPr>
              <a:t>MarTech</a:t>
            </a:r>
            <a:r>
              <a:rPr lang="en-US" sz="1400">
                <a:solidFill>
                  <a:srgbClr val="29BA74"/>
                </a:solidFill>
                <a:sym typeface="+mn-lt"/>
              </a:rPr>
              <a:t> Stack </a:t>
            </a:r>
            <a:br>
              <a:rPr lang="en-US" sz="1400">
                <a:solidFill>
                  <a:srgbClr val="29BA74"/>
                </a:solidFill>
                <a:sym typeface="+mn-lt"/>
              </a:rPr>
            </a:br>
            <a:r>
              <a:rPr lang="en-US" sz="1400">
                <a:solidFill>
                  <a:srgbClr val="29BA74"/>
                </a:solidFill>
                <a:sym typeface="+mn-lt"/>
              </a:rPr>
              <a:t>and delivery</a:t>
            </a:r>
          </a:p>
        </p:txBody>
      </p:sp>
      <p:grpSp>
        <p:nvGrpSpPr>
          <p:cNvPr id="221" name="Group 220">
            <a:extLst>
              <a:ext uri="{FF2B5EF4-FFF2-40B4-BE49-F238E27FC236}">
                <a16:creationId xmlns:a16="http://schemas.microsoft.com/office/drawing/2014/main" id="{9BB6C35F-E937-4C69-9114-9647769582FA}"/>
              </a:ext>
            </a:extLst>
          </p:cNvPr>
          <p:cNvGrpSpPr>
            <a:grpSpLocks/>
          </p:cNvGrpSpPr>
          <p:nvPr/>
        </p:nvGrpSpPr>
        <p:grpSpPr>
          <a:xfrm>
            <a:off x="630000" y="3980121"/>
            <a:ext cx="365760" cy="365760"/>
            <a:chOff x="6464300" y="2606675"/>
            <a:chExt cx="1646238" cy="1644650"/>
          </a:xfrm>
        </p:grpSpPr>
        <p:sp>
          <p:nvSpPr>
            <p:cNvPr id="239" name="AutoShape 14">
              <a:extLst>
                <a:ext uri="{FF2B5EF4-FFF2-40B4-BE49-F238E27FC236}">
                  <a16:creationId xmlns:a16="http://schemas.microsoft.com/office/drawing/2014/main" id="{2EBF0EE5-2936-4BB1-B8CE-0C38FE7595BC}"/>
                </a:ext>
              </a:extLst>
            </p:cNvPr>
            <p:cNvSpPr>
              <a:spLocks noChangeAspect="1" noChangeArrowheads="1" noTextEdit="1"/>
            </p:cNvSpPr>
            <p:nvPr/>
          </p:nvSpPr>
          <p:spPr bwMode="auto">
            <a:xfrm>
              <a:off x="6464300"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grpSp>
          <p:nvGrpSpPr>
            <p:cNvPr id="240" name="Group 239">
              <a:extLst>
                <a:ext uri="{FF2B5EF4-FFF2-40B4-BE49-F238E27FC236}">
                  <a16:creationId xmlns:a16="http://schemas.microsoft.com/office/drawing/2014/main" id="{F529A950-F6A2-4938-ADD0-DE4F148468A7}"/>
                </a:ext>
              </a:extLst>
            </p:cNvPr>
            <p:cNvGrpSpPr/>
            <p:nvPr/>
          </p:nvGrpSpPr>
          <p:grpSpPr>
            <a:xfrm>
              <a:off x="6705513" y="2849420"/>
              <a:ext cx="1162224" cy="1160746"/>
              <a:chOff x="6705513" y="2849420"/>
              <a:chExt cx="1162224" cy="1160746"/>
            </a:xfrm>
          </p:grpSpPr>
          <p:sp>
            <p:nvSpPr>
              <p:cNvPr id="241" name="Freeform 9">
                <a:extLst>
                  <a:ext uri="{FF2B5EF4-FFF2-40B4-BE49-F238E27FC236}">
                    <a16:creationId xmlns:a16="http://schemas.microsoft.com/office/drawing/2014/main" id="{0B73F79C-AE54-40D4-A839-67C118CBB394}"/>
                  </a:ext>
                </a:extLst>
              </p:cNvPr>
              <p:cNvSpPr>
                <a:spLocks/>
              </p:cNvSpPr>
              <p:nvPr/>
            </p:nvSpPr>
            <p:spPr bwMode="auto">
              <a:xfrm>
                <a:off x="6705513" y="2852632"/>
                <a:ext cx="1159037" cy="1157513"/>
              </a:xfrm>
              <a:custGeom>
                <a:avLst/>
                <a:gdLst>
                  <a:gd name="connsiteX0" fmla="*/ 210432 w 1159037"/>
                  <a:gd name="connsiteY0" fmla="*/ 1043093 h 1157513"/>
                  <a:gd name="connsiteX1" fmla="*/ 225514 w 1159037"/>
                  <a:gd name="connsiteY1" fmla="*/ 1058175 h 1157513"/>
                  <a:gd name="connsiteX2" fmla="*/ 210432 w 1159037"/>
                  <a:gd name="connsiteY2" fmla="*/ 1073257 h 1157513"/>
                  <a:gd name="connsiteX3" fmla="*/ 195350 w 1159037"/>
                  <a:gd name="connsiteY3" fmla="*/ 1058175 h 1157513"/>
                  <a:gd name="connsiteX4" fmla="*/ 210432 w 1159037"/>
                  <a:gd name="connsiteY4" fmla="*/ 1043093 h 1157513"/>
                  <a:gd name="connsiteX5" fmla="*/ 153607 w 1159037"/>
                  <a:gd name="connsiteY5" fmla="*/ 817668 h 1157513"/>
                  <a:gd name="connsiteX6" fmla="*/ 268843 w 1159037"/>
                  <a:gd name="connsiteY6" fmla="*/ 817668 h 1157513"/>
                  <a:gd name="connsiteX7" fmla="*/ 273137 w 1159037"/>
                  <a:gd name="connsiteY7" fmla="*/ 822659 h 1157513"/>
                  <a:gd name="connsiteX8" fmla="*/ 273137 w 1159037"/>
                  <a:gd name="connsiteY8" fmla="*/ 1016590 h 1157513"/>
                  <a:gd name="connsiteX9" fmla="*/ 268843 w 1159037"/>
                  <a:gd name="connsiteY9" fmla="*/ 1020868 h 1157513"/>
                  <a:gd name="connsiteX10" fmla="*/ 153607 w 1159037"/>
                  <a:gd name="connsiteY10" fmla="*/ 1020868 h 1157513"/>
                  <a:gd name="connsiteX11" fmla="*/ 149312 w 1159037"/>
                  <a:gd name="connsiteY11" fmla="*/ 1016590 h 1157513"/>
                  <a:gd name="connsiteX12" fmla="*/ 149312 w 1159037"/>
                  <a:gd name="connsiteY12" fmla="*/ 822659 h 1157513"/>
                  <a:gd name="connsiteX13" fmla="*/ 153607 w 1159037"/>
                  <a:gd name="connsiteY13" fmla="*/ 817668 h 1157513"/>
                  <a:gd name="connsiteX14" fmla="*/ 139397 w 1159037"/>
                  <a:gd name="connsiteY14" fmla="*/ 797031 h 1157513"/>
                  <a:gd name="connsiteX15" fmla="*/ 128676 w 1159037"/>
                  <a:gd name="connsiteY15" fmla="*/ 807710 h 1157513"/>
                  <a:gd name="connsiteX16" fmla="*/ 128676 w 1159037"/>
                  <a:gd name="connsiteY16" fmla="*/ 1083216 h 1157513"/>
                  <a:gd name="connsiteX17" fmla="*/ 139397 w 1159037"/>
                  <a:gd name="connsiteY17" fmla="*/ 1093894 h 1157513"/>
                  <a:gd name="connsiteX18" fmla="*/ 283055 w 1159037"/>
                  <a:gd name="connsiteY18" fmla="*/ 1093894 h 1157513"/>
                  <a:gd name="connsiteX19" fmla="*/ 293776 w 1159037"/>
                  <a:gd name="connsiteY19" fmla="*/ 1083216 h 1157513"/>
                  <a:gd name="connsiteX20" fmla="*/ 293776 w 1159037"/>
                  <a:gd name="connsiteY20" fmla="*/ 807710 h 1157513"/>
                  <a:gd name="connsiteX21" fmla="*/ 283055 w 1159037"/>
                  <a:gd name="connsiteY21" fmla="*/ 797031 h 1157513"/>
                  <a:gd name="connsiteX22" fmla="*/ 139397 w 1159037"/>
                  <a:gd name="connsiteY22" fmla="*/ 797031 h 1157513"/>
                  <a:gd name="connsiteX23" fmla="*/ 508450 w 1159037"/>
                  <a:gd name="connsiteY23" fmla="*/ 634945 h 1157513"/>
                  <a:gd name="connsiteX24" fmla="*/ 519797 w 1159037"/>
                  <a:gd name="connsiteY24" fmla="*/ 639227 h 1157513"/>
                  <a:gd name="connsiteX25" fmla="*/ 581265 w 1159037"/>
                  <a:gd name="connsiteY25" fmla="*/ 664919 h 1157513"/>
                  <a:gd name="connsiteX26" fmla="*/ 596989 w 1159037"/>
                  <a:gd name="connsiteY26" fmla="*/ 680619 h 1157513"/>
                  <a:gd name="connsiteX27" fmla="*/ 581265 w 1159037"/>
                  <a:gd name="connsiteY27" fmla="*/ 696319 h 1157513"/>
                  <a:gd name="connsiteX28" fmla="*/ 509076 w 1159037"/>
                  <a:gd name="connsiteY28" fmla="*/ 672055 h 1157513"/>
                  <a:gd name="connsiteX29" fmla="*/ 371130 w 1159037"/>
                  <a:gd name="connsiteY29" fmla="*/ 809789 h 1157513"/>
                  <a:gd name="connsiteX30" fmla="*/ 360409 w 1159037"/>
                  <a:gd name="connsiteY30" fmla="*/ 1095962 h 1157513"/>
                  <a:gd name="connsiteX31" fmla="*/ 61647 w 1159037"/>
                  <a:gd name="connsiteY31" fmla="*/ 1095962 h 1157513"/>
                  <a:gd name="connsiteX32" fmla="*/ 61647 w 1159037"/>
                  <a:gd name="connsiteY32" fmla="*/ 797657 h 1157513"/>
                  <a:gd name="connsiteX33" fmla="*/ 348973 w 1159037"/>
                  <a:gd name="connsiteY33" fmla="*/ 787666 h 1157513"/>
                  <a:gd name="connsiteX34" fmla="*/ 497640 w 1159037"/>
                  <a:gd name="connsiteY34" fmla="*/ 639227 h 1157513"/>
                  <a:gd name="connsiteX35" fmla="*/ 508450 w 1159037"/>
                  <a:gd name="connsiteY35" fmla="*/ 634945 h 1157513"/>
                  <a:gd name="connsiteX36" fmla="*/ 581112 w 1159037"/>
                  <a:gd name="connsiteY36" fmla="*/ 530331 h 1157513"/>
                  <a:gd name="connsiteX37" fmla="*/ 628737 w 1159037"/>
                  <a:gd name="connsiteY37" fmla="*/ 577163 h 1157513"/>
                  <a:gd name="connsiteX38" fmla="*/ 581112 w 1159037"/>
                  <a:gd name="connsiteY38" fmla="*/ 623995 h 1157513"/>
                  <a:gd name="connsiteX39" fmla="*/ 533487 w 1159037"/>
                  <a:gd name="connsiteY39" fmla="*/ 577163 h 1157513"/>
                  <a:gd name="connsiteX40" fmla="*/ 581112 w 1159037"/>
                  <a:gd name="connsiteY40" fmla="*/ 530331 h 1157513"/>
                  <a:gd name="connsiteX41" fmla="*/ 947825 w 1159037"/>
                  <a:gd name="connsiteY41" fmla="*/ 189018 h 1157513"/>
                  <a:gd name="connsiteX42" fmla="*/ 927187 w 1159037"/>
                  <a:gd name="connsiteY42" fmla="*/ 209656 h 1157513"/>
                  <a:gd name="connsiteX43" fmla="*/ 947825 w 1159037"/>
                  <a:gd name="connsiteY43" fmla="*/ 230294 h 1157513"/>
                  <a:gd name="connsiteX44" fmla="*/ 968463 w 1159037"/>
                  <a:gd name="connsiteY44" fmla="*/ 209656 h 1157513"/>
                  <a:gd name="connsiteX45" fmla="*/ 947825 w 1159037"/>
                  <a:gd name="connsiteY45" fmla="*/ 189018 h 1157513"/>
                  <a:gd name="connsiteX46" fmla="*/ 992489 w 1159037"/>
                  <a:gd name="connsiteY46" fmla="*/ 157102 h 1157513"/>
                  <a:gd name="connsiteX47" fmla="*/ 981848 w 1159037"/>
                  <a:gd name="connsiteY47" fmla="*/ 161363 h 1157513"/>
                  <a:gd name="connsiteX48" fmla="*/ 981144 w 1159037"/>
                  <a:gd name="connsiteY48" fmla="*/ 183379 h 1157513"/>
                  <a:gd name="connsiteX49" fmla="*/ 980441 w 1159037"/>
                  <a:gd name="connsiteY49" fmla="*/ 238064 h 1157513"/>
                  <a:gd name="connsiteX50" fmla="*/ 982551 w 1159037"/>
                  <a:gd name="connsiteY50" fmla="*/ 260080 h 1157513"/>
                  <a:gd name="connsiteX51" fmla="*/ 992401 w 1159037"/>
                  <a:gd name="connsiteY51" fmla="*/ 263631 h 1157513"/>
                  <a:gd name="connsiteX52" fmla="*/ 1004362 w 1159037"/>
                  <a:gd name="connsiteY52" fmla="*/ 257239 h 1157513"/>
                  <a:gd name="connsiteX53" fmla="*/ 1003658 w 1159037"/>
                  <a:gd name="connsiteY53" fmla="*/ 161363 h 1157513"/>
                  <a:gd name="connsiteX54" fmla="*/ 992489 w 1159037"/>
                  <a:gd name="connsiteY54" fmla="*/ 157102 h 1157513"/>
                  <a:gd name="connsiteX55" fmla="*/ 903337 w 1159037"/>
                  <a:gd name="connsiteY55" fmla="*/ 157102 h 1157513"/>
                  <a:gd name="connsiteX56" fmla="*/ 892696 w 1159037"/>
                  <a:gd name="connsiteY56" fmla="*/ 161363 h 1157513"/>
                  <a:gd name="connsiteX57" fmla="*/ 891289 w 1159037"/>
                  <a:gd name="connsiteY57" fmla="*/ 257239 h 1157513"/>
                  <a:gd name="connsiteX58" fmla="*/ 903249 w 1159037"/>
                  <a:gd name="connsiteY58" fmla="*/ 263631 h 1157513"/>
                  <a:gd name="connsiteX59" fmla="*/ 913099 w 1159037"/>
                  <a:gd name="connsiteY59" fmla="*/ 260080 h 1157513"/>
                  <a:gd name="connsiteX60" fmla="*/ 915913 w 1159037"/>
                  <a:gd name="connsiteY60" fmla="*/ 238064 h 1157513"/>
                  <a:gd name="connsiteX61" fmla="*/ 914506 w 1159037"/>
                  <a:gd name="connsiteY61" fmla="*/ 183379 h 1157513"/>
                  <a:gd name="connsiteX62" fmla="*/ 914506 w 1159037"/>
                  <a:gd name="connsiteY62" fmla="*/ 161363 h 1157513"/>
                  <a:gd name="connsiteX63" fmla="*/ 903337 w 1159037"/>
                  <a:gd name="connsiteY63" fmla="*/ 157102 h 1157513"/>
                  <a:gd name="connsiteX64" fmla="*/ 1028876 w 1159037"/>
                  <a:gd name="connsiteY64" fmla="*/ 125443 h 1157513"/>
                  <a:gd name="connsiteX65" fmla="*/ 1017675 w 1159037"/>
                  <a:gd name="connsiteY65" fmla="*/ 129622 h 1157513"/>
                  <a:gd name="connsiteX66" fmla="*/ 1017675 w 1159037"/>
                  <a:gd name="connsiteY66" fmla="*/ 152388 h 1157513"/>
                  <a:gd name="connsiteX67" fmla="*/ 1016264 w 1159037"/>
                  <a:gd name="connsiteY67" fmla="*/ 270482 h 1157513"/>
                  <a:gd name="connsiteX68" fmla="*/ 1019086 w 1159037"/>
                  <a:gd name="connsiteY68" fmla="*/ 292535 h 1157513"/>
                  <a:gd name="connsiteX69" fmla="*/ 1028964 w 1159037"/>
                  <a:gd name="connsiteY69" fmla="*/ 295381 h 1157513"/>
                  <a:gd name="connsiteX70" fmla="*/ 1040959 w 1159037"/>
                  <a:gd name="connsiteY70" fmla="*/ 289690 h 1157513"/>
                  <a:gd name="connsiteX71" fmla="*/ 1039547 w 1159037"/>
                  <a:gd name="connsiteY71" fmla="*/ 130334 h 1157513"/>
                  <a:gd name="connsiteX72" fmla="*/ 1028876 w 1159037"/>
                  <a:gd name="connsiteY72" fmla="*/ 125443 h 1157513"/>
                  <a:gd name="connsiteX73" fmla="*/ 867306 w 1159037"/>
                  <a:gd name="connsiteY73" fmla="*/ 125443 h 1157513"/>
                  <a:gd name="connsiteX74" fmla="*/ 856429 w 1159037"/>
                  <a:gd name="connsiteY74" fmla="*/ 130334 h 1157513"/>
                  <a:gd name="connsiteX75" fmla="*/ 854991 w 1159037"/>
                  <a:gd name="connsiteY75" fmla="*/ 289690 h 1157513"/>
                  <a:gd name="connsiteX76" fmla="*/ 867935 w 1159037"/>
                  <a:gd name="connsiteY76" fmla="*/ 295381 h 1157513"/>
                  <a:gd name="connsiteX77" fmla="*/ 877284 w 1159037"/>
                  <a:gd name="connsiteY77" fmla="*/ 292535 h 1157513"/>
                  <a:gd name="connsiteX78" fmla="*/ 880160 w 1159037"/>
                  <a:gd name="connsiteY78" fmla="*/ 270482 h 1157513"/>
                  <a:gd name="connsiteX79" fmla="*/ 879441 w 1159037"/>
                  <a:gd name="connsiteY79" fmla="*/ 152388 h 1157513"/>
                  <a:gd name="connsiteX80" fmla="*/ 878722 w 1159037"/>
                  <a:gd name="connsiteY80" fmla="*/ 129622 h 1157513"/>
                  <a:gd name="connsiteX81" fmla="*/ 867306 w 1159037"/>
                  <a:gd name="connsiteY81" fmla="*/ 125443 h 1157513"/>
                  <a:gd name="connsiteX82" fmla="*/ 1064232 w 1159037"/>
                  <a:gd name="connsiteY82" fmla="*/ 92202 h 1157513"/>
                  <a:gd name="connsiteX83" fmla="*/ 1052756 w 1159037"/>
                  <a:gd name="connsiteY83" fmla="*/ 97029 h 1157513"/>
                  <a:gd name="connsiteX84" fmla="*/ 1052756 w 1159037"/>
                  <a:gd name="connsiteY84" fmla="*/ 119197 h 1157513"/>
                  <a:gd name="connsiteX85" fmla="*/ 1082394 w 1159037"/>
                  <a:gd name="connsiteY85" fmla="*/ 172113 h 1157513"/>
                  <a:gd name="connsiteX86" fmla="*/ 1051310 w 1159037"/>
                  <a:gd name="connsiteY86" fmla="*/ 303690 h 1157513"/>
                  <a:gd name="connsiteX87" fmla="*/ 1054202 w 1159037"/>
                  <a:gd name="connsiteY87" fmla="*/ 325858 h 1157513"/>
                  <a:gd name="connsiteX88" fmla="*/ 1064322 w 1159037"/>
                  <a:gd name="connsiteY88" fmla="*/ 328718 h 1157513"/>
                  <a:gd name="connsiteX89" fmla="*/ 1076611 w 1159037"/>
                  <a:gd name="connsiteY89" fmla="*/ 322997 h 1157513"/>
                  <a:gd name="connsiteX90" fmla="*/ 1113478 w 1159037"/>
                  <a:gd name="connsiteY90" fmla="*/ 162817 h 1157513"/>
                  <a:gd name="connsiteX91" fmla="*/ 1075166 w 1159037"/>
                  <a:gd name="connsiteY91" fmla="*/ 97029 h 1157513"/>
                  <a:gd name="connsiteX92" fmla="*/ 1064232 w 1159037"/>
                  <a:gd name="connsiteY92" fmla="*/ 92202 h 1157513"/>
                  <a:gd name="connsiteX93" fmla="*/ 832198 w 1159037"/>
                  <a:gd name="connsiteY93" fmla="*/ 92202 h 1157513"/>
                  <a:gd name="connsiteX94" fmla="*/ 820879 w 1159037"/>
                  <a:gd name="connsiteY94" fmla="*/ 97029 h 1157513"/>
                  <a:gd name="connsiteX95" fmla="*/ 783801 w 1159037"/>
                  <a:gd name="connsiteY95" fmla="*/ 162817 h 1157513"/>
                  <a:gd name="connsiteX96" fmla="*/ 817314 w 1159037"/>
                  <a:gd name="connsiteY96" fmla="*/ 320137 h 1157513"/>
                  <a:gd name="connsiteX97" fmla="*/ 819453 w 1159037"/>
                  <a:gd name="connsiteY97" fmla="*/ 322997 h 1157513"/>
                  <a:gd name="connsiteX98" fmla="*/ 832287 w 1159037"/>
                  <a:gd name="connsiteY98" fmla="*/ 328718 h 1157513"/>
                  <a:gd name="connsiteX99" fmla="*/ 841557 w 1159037"/>
                  <a:gd name="connsiteY99" fmla="*/ 325858 h 1157513"/>
                  <a:gd name="connsiteX100" fmla="*/ 847261 w 1159037"/>
                  <a:gd name="connsiteY100" fmla="*/ 308696 h 1157513"/>
                  <a:gd name="connsiteX101" fmla="*/ 844409 w 1159037"/>
                  <a:gd name="connsiteY101" fmla="*/ 303690 h 1157513"/>
                  <a:gd name="connsiteX102" fmla="*/ 842983 w 1159037"/>
                  <a:gd name="connsiteY102" fmla="*/ 119197 h 1157513"/>
                  <a:gd name="connsiteX103" fmla="*/ 842983 w 1159037"/>
                  <a:gd name="connsiteY103" fmla="*/ 97029 h 1157513"/>
                  <a:gd name="connsiteX104" fmla="*/ 832198 w 1159037"/>
                  <a:gd name="connsiteY104" fmla="*/ 92202 h 1157513"/>
                  <a:gd name="connsiteX105" fmla="*/ 948141 w 1159037"/>
                  <a:gd name="connsiteY105" fmla="*/ 0 h 1157513"/>
                  <a:gd name="connsiteX106" fmla="*/ 1097351 w 1159037"/>
                  <a:gd name="connsiteY106" fmla="*/ 61597 h 1157513"/>
                  <a:gd name="connsiteX107" fmla="*/ 1097351 w 1159037"/>
                  <a:gd name="connsiteY107" fmla="*/ 360119 h 1157513"/>
                  <a:gd name="connsiteX108" fmla="*/ 810553 w 1159037"/>
                  <a:gd name="connsiteY108" fmla="*/ 370831 h 1157513"/>
                  <a:gd name="connsiteX109" fmla="*/ 664651 w 1159037"/>
                  <a:gd name="connsiteY109" fmla="*/ 516521 h 1157513"/>
                  <a:gd name="connsiteX110" fmla="*/ 653923 w 1159037"/>
                  <a:gd name="connsiteY110" fmla="*/ 520806 h 1157513"/>
                  <a:gd name="connsiteX111" fmla="*/ 642480 w 1159037"/>
                  <a:gd name="connsiteY111" fmla="*/ 516521 h 1157513"/>
                  <a:gd name="connsiteX112" fmla="*/ 580972 w 1159037"/>
                  <a:gd name="connsiteY112" fmla="*/ 490811 h 1157513"/>
                  <a:gd name="connsiteX113" fmla="*/ 565237 w 1159037"/>
                  <a:gd name="connsiteY113" fmla="*/ 475100 h 1157513"/>
                  <a:gd name="connsiteX114" fmla="*/ 580972 w 1159037"/>
                  <a:gd name="connsiteY114" fmla="*/ 459388 h 1157513"/>
                  <a:gd name="connsiteX115" fmla="*/ 653208 w 1159037"/>
                  <a:gd name="connsiteY115" fmla="*/ 483669 h 1157513"/>
                  <a:gd name="connsiteX116" fmla="*/ 788382 w 1159037"/>
                  <a:gd name="connsiteY116" fmla="*/ 348692 h 1157513"/>
                  <a:gd name="connsiteX117" fmla="*/ 798395 w 1159037"/>
                  <a:gd name="connsiteY117" fmla="*/ 61597 h 1157513"/>
                  <a:gd name="connsiteX118" fmla="*/ 948141 w 1159037"/>
                  <a:gd name="connsiteY118" fmla="*/ 0 h 1157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1159037" h="1157513">
                    <a:moveTo>
                      <a:pt x="210432" y="1043093"/>
                    </a:moveTo>
                    <a:cubicBezTo>
                      <a:pt x="218762" y="1043093"/>
                      <a:pt x="225514" y="1049845"/>
                      <a:pt x="225514" y="1058175"/>
                    </a:cubicBezTo>
                    <a:cubicBezTo>
                      <a:pt x="225514" y="1066505"/>
                      <a:pt x="218762" y="1073257"/>
                      <a:pt x="210432" y="1073257"/>
                    </a:cubicBezTo>
                    <a:cubicBezTo>
                      <a:pt x="202102" y="1073257"/>
                      <a:pt x="195350" y="1066505"/>
                      <a:pt x="195350" y="1058175"/>
                    </a:cubicBezTo>
                    <a:cubicBezTo>
                      <a:pt x="195350" y="1049845"/>
                      <a:pt x="202102" y="1043093"/>
                      <a:pt x="210432" y="1043093"/>
                    </a:cubicBezTo>
                    <a:close/>
                    <a:moveTo>
                      <a:pt x="153607" y="817668"/>
                    </a:moveTo>
                    <a:cubicBezTo>
                      <a:pt x="153607" y="817668"/>
                      <a:pt x="153607" y="817668"/>
                      <a:pt x="268843" y="817668"/>
                    </a:cubicBezTo>
                    <a:cubicBezTo>
                      <a:pt x="270990" y="817668"/>
                      <a:pt x="273137" y="819807"/>
                      <a:pt x="273137" y="822659"/>
                    </a:cubicBezTo>
                    <a:cubicBezTo>
                      <a:pt x="273137" y="822659"/>
                      <a:pt x="273137" y="822659"/>
                      <a:pt x="273137" y="1016590"/>
                    </a:cubicBezTo>
                    <a:cubicBezTo>
                      <a:pt x="273137" y="1018729"/>
                      <a:pt x="270990" y="1020868"/>
                      <a:pt x="268843" y="1020868"/>
                    </a:cubicBezTo>
                    <a:cubicBezTo>
                      <a:pt x="268843" y="1020868"/>
                      <a:pt x="268843" y="1020868"/>
                      <a:pt x="153607" y="1020868"/>
                    </a:cubicBezTo>
                    <a:cubicBezTo>
                      <a:pt x="151460" y="1020868"/>
                      <a:pt x="149312" y="1018729"/>
                      <a:pt x="149312" y="1016590"/>
                    </a:cubicBezTo>
                    <a:cubicBezTo>
                      <a:pt x="149312" y="1016590"/>
                      <a:pt x="149312" y="1016590"/>
                      <a:pt x="149312" y="822659"/>
                    </a:cubicBezTo>
                    <a:cubicBezTo>
                      <a:pt x="149312" y="819807"/>
                      <a:pt x="151460" y="817668"/>
                      <a:pt x="153607" y="817668"/>
                    </a:cubicBezTo>
                    <a:close/>
                    <a:moveTo>
                      <a:pt x="139397" y="797031"/>
                    </a:moveTo>
                    <a:cubicBezTo>
                      <a:pt x="133679" y="797031"/>
                      <a:pt x="128676" y="802014"/>
                      <a:pt x="128676" y="807710"/>
                    </a:cubicBezTo>
                    <a:cubicBezTo>
                      <a:pt x="128676" y="807710"/>
                      <a:pt x="128676" y="807710"/>
                      <a:pt x="128676" y="1083216"/>
                    </a:cubicBezTo>
                    <a:cubicBezTo>
                      <a:pt x="128676" y="1089623"/>
                      <a:pt x="133679" y="1093894"/>
                      <a:pt x="139397" y="1093894"/>
                    </a:cubicBezTo>
                    <a:cubicBezTo>
                      <a:pt x="139397" y="1093894"/>
                      <a:pt x="139397" y="1093894"/>
                      <a:pt x="283055" y="1093894"/>
                    </a:cubicBezTo>
                    <a:cubicBezTo>
                      <a:pt x="288773" y="1093894"/>
                      <a:pt x="293776" y="1089623"/>
                      <a:pt x="293776" y="1083216"/>
                    </a:cubicBezTo>
                    <a:lnTo>
                      <a:pt x="293776" y="807710"/>
                    </a:lnTo>
                    <a:cubicBezTo>
                      <a:pt x="293776" y="802014"/>
                      <a:pt x="288773" y="797031"/>
                      <a:pt x="283055" y="797031"/>
                    </a:cubicBezTo>
                    <a:cubicBezTo>
                      <a:pt x="283055" y="797031"/>
                      <a:pt x="283055" y="797031"/>
                      <a:pt x="139397" y="797031"/>
                    </a:cubicBezTo>
                    <a:close/>
                    <a:moveTo>
                      <a:pt x="508450" y="634945"/>
                    </a:moveTo>
                    <a:cubicBezTo>
                      <a:pt x="512471" y="634945"/>
                      <a:pt x="516581" y="636373"/>
                      <a:pt x="519797" y="639227"/>
                    </a:cubicBezTo>
                    <a:cubicBezTo>
                      <a:pt x="536236" y="655641"/>
                      <a:pt x="557678" y="664919"/>
                      <a:pt x="581265" y="664919"/>
                    </a:cubicBezTo>
                    <a:cubicBezTo>
                      <a:pt x="589842" y="664919"/>
                      <a:pt x="596989" y="672055"/>
                      <a:pt x="596989" y="680619"/>
                    </a:cubicBezTo>
                    <a:cubicBezTo>
                      <a:pt x="596989" y="689183"/>
                      <a:pt x="589842" y="696319"/>
                      <a:pt x="581265" y="696319"/>
                    </a:cubicBezTo>
                    <a:cubicBezTo>
                      <a:pt x="554819" y="696319"/>
                      <a:pt x="529803" y="687755"/>
                      <a:pt x="509076" y="672055"/>
                    </a:cubicBezTo>
                    <a:cubicBezTo>
                      <a:pt x="509076" y="672055"/>
                      <a:pt x="509076" y="672055"/>
                      <a:pt x="371130" y="809789"/>
                    </a:cubicBezTo>
                    <a:cubicBezTo>
                      <a:pt x="442605" y="892572"/>
                      <a:pt x="439031" y="1017460"/>
                      <a:pt x="360409" y="1095962"/>
                    </a:cubicBezTo>
                    <a:cubicBezTo>
                      <a:pt x="278214" y="1178031"/>
                      <a:pt x="144557" y="1178031"/>
                      <a:pt x="61647" y="1095962"/>
                    </a:cubicBezTo>
                    <a:cubicBezTo>
                      <a:pt x="-20549" y="1013892"/>
                      <a:pt x="-20549" y="880440"/>
                      <a:pt x="61647" y="797657"/>
                    </a:cubicBezTo>
                    <a:cubicBezTo>
                      <a:pt x="140268" y="719156"/>
                      <a:pt x="266063" y="715588"/>
                      <a:pt x="348973" y="787666"/>
                    </a:cubicBezTo>
                    <a:cubicBezTo>
                      <a:pt x="348973" y="787666"/>
                      <a:pt x="348973" y="787666"/>
                      <a:pt x="497640" y="639227"/>
                    </a:cubicBezTo>
                    <a:cubicBezTo>
                      <a:pt x="500499" y="636373"/>
                      <a:pt x="504430" y="634945"/>
                      <a:pt x="508450" y="634945"/>
                    </a:cubicBezTo>
                    <a:close/>
                    <a:moveTo>
                      <a:pt x="581112" y="530331"/>
                    </a:moveTo>
                    <a:cubicBezTo>
                      <a:pt x="607415" y="530331"/>
                      <a:pt x="628737" y="551298"/>
                      <a:pt x="628737" y="577163"/>
                    </a:cubicBezTo>
                    <a:cubicBezTo>
                      <a:pt x="628737" y="603028"/>
                      <a:pt x="607415" y="623995"/>
                      <a:pt x="581112" y="623995"/>
                    </a:cubicBezTo>
                    <a:cubicBezTo>
                      <a:pt x="554809" y="623995"/>
                      <a:pt x="533487" y="603028"/>
                      <a:pt x="533487" y="577163"/>
                    </a:cubicBezTo>
                    <a:cubicBezTo>
                      <a:pt x="533487" y="551298"/>
                      <a:pt x="554809" y="530331"/>
                      <a:pt x="581112" y="530331"/>
                    </a:cubicBezTo>
                    <a:close/>
                    <a:moveTo>
                      <a:pt x="947825" y="189018"/>
                    </a:moveTo>
                    <a:cubicBezTo>
                      <a:pt x="936427" y="189018"/>
                      <a:pt x="927187" y="198258"/>
                      <a:pt x="927187" y="209656"/>
                    </a:cubicBezTo>
                    <a:cubicBezTo>
                      <a:pt x="927187" y="221054"/>
                      <a:pt x="936427" y="230294"/>
                      <a:pt x="947825" y="230294"/>
                    </a:cubicBezTo>
                    <a:cubicBezTo>
                      <a:pt x="959223" y="230294"/>
                      <a:pt x="968463" y="221054"/>
                      <a:pt x="968463" y="209656"/>
                    </a:cubicBezTo>
                    <a:cubicBezTo>
                      <a:pt x="968463" y="198258"/>
                      <a:pt x="959223" y="189018"/>
                      <a:pt x="947825" y="189018"/>
                    </a:cubicBezTo>
                    <a:close/>
                    <a:moveTo>
                      <a:pt x="992489" y="157102"/>
                    </a:moveTo>
                    <a:cubicBezTo>
                      <a:pt x="988532" y="157102"/>
                      <a:pt x="984662" y="158522"/>
                      <a:pt x="981848" y="161363"/>
                    </a:cubicBezTo>
                    <a:cubicBezTo>
                      <a:pt x="975516" y="167754"/>
                      <a:pt x="975516" y="177697"/>
                      <a:pt x="981144" y="183379"/>
                    </a:cubicBezTo>
                    <a:cubicBezTo>
                      <a:pt x="982551" y="184799"/>
                      <a:pt x="1004362" y="207526"/>
                      <a:pt x="980441" y="238064"/>
                    </a:cubicBezTo>
                    <a:cubicBezTo>
                      <a:pt x="974812" y="245166"/>
                      <a:pt x="976219" y="255109"/>
                      <a:pt x="982551" y="260080"/>
                    </a:cubicBezTo>
                    <a:cubicBezTo>
                      <a:pt x="985366" y="262211"/>
                      <a:pt x="988883" y="263631"/>
                      <a:pt x="992401" y="263631"/>
                    </a:cubicBezTo>
                    <a:cubicBezTo>
                      <a:pt x="997326" y="263631"/>
                      <a:pt x="1001547" y="261501"/>
                      <a:pt x="1004362" y="257239"/>
                    </a:cubicBezTo>
                    <a:cubicBezTo>
                      <a:pt x="1036725" y="216048"/>
                      <a:pt x="1017729" y="176277"/>
                      <a:pt x="1003658" y="161363"/>
                    </a:cubicBezTo>
                    <a:cubicBezTo>
                      <a:pt x="1000492" y="158522"/>
                      <a:pt x="996447" y="157102"/>
                      <a:pt x="992489" y="157102"/>
                    </a:cubicBezTo>
                    <a:close/>
                    <a:moveTo>
                      <a:pt x="903337" y="157102"/>
                    </a:moveTo>
                    <a:cubicBezTo>
                      <a:pt x="899380" y="157102"/>
                      <a:pt x="895510" y="158522"/>
                      <a:pt x="892696" y="161363"/>
                    </a:cubicBezTo>
                    <a:cubicBezTo>
                      <a:pt x="877921" y="176277"/>
                      <a:pt x="858925" y="216048"/>
                      <a:pt x="891289" y="257239"/>
                    </a:cubicBezTo>
                    <a:cubicBezTo>
                      <a:pt x="894103" y="261501"/>
                      <a:pt x="899028" y="263631"/>
                      <a:pt x="903249" y="263631"/>
                    </a:cubicBezTo>
                    <a:cubicBezTo>
                      <a:pt x="906767" y="263631"/>
                      <a:pt x="910285" y="262211"/>
                      <a:pt x="913099" y="260080"/>
                    </a:cubicBezTo>
                    <a:cubicBezTo>
                      <a:pt x="920135" y="255109"/>
                      <a:pt x="920838" y="245166"/>
                      <a:pt x="915913" y="238064"/>
                    </a:cubicBezTo>
                    <a:cubicBezTo>
                      <a:pt x="893400" y="208946"/>
                      <a:pt x="910988" y="187640"/>
                      <a:pt x="914506" y="183379"/>
                    </a:cubicBezTo>
                    <a:cubicBezTo>
                      <a:pt x="920838" y="176987"/>
                      <a:pt x="920135" y="167754"/>
                      <a:pt x="914506" y="161363"/>
                    </a:cubicBezTo>
                    <a:cubicBezTo>
                      <a:pt x="911340" y="158522"/>
                      <a:pt x="907295" y="157102"/>
                      <a:pt x="903337" y="157102"/>
                    </a:cubicBezTo>
                    <a:close/>
                    <a:moveTo>
                      <a:pt x="1028876" y="125443"/>
                    </a:moveTo>
                    <a:cubicBezTo>
                      <a:pt x="1024907" y="125354"/>
                      <a:pt x="1020850" y="126777"/>
                      <a:pt x="1017675" y="129622"/>
                    </a:cubicBezTo>
                    <a:cubicBezTo>
                      <a:pt x="1012031" y="136025"/>
                      <a:pt x="1011325" y="145985"/>
                      <a:pt x="1017675" y="152388"/>
                    </a:cubicBezTo>
                    <a:cubicBezTo>
                      <a:pt x="1019086" y="154522"/>
                      <a:pt x="1065653" y="205032"/>
                      <a:pt x="1016264" y="270482"/>
                    </a:cubicBezTo>
                    <a:cubicBezTo>
                      <a:pt x="1011325" y="276884"/>
                      <a:pt x="1012736" y="286844"/>
                      <a:pt x="1019086" y="292535"/>
                    </a:cubicBezTo>
                    <a:cubicBezTo>
                      <a:pt x="1021909" y="294670"/>
                      <a:pt x="1025436" y="295381"/>
                      <a:pt x="1028964" y="295381"/>
                    </a:cubicBezTo>
                    <a:cubicBezTo>
                      <a:pt x="1033197" y="295381"/>
                      <a:pt x="1038136" y="293247"/>
                      <a:pt x="1040959" y="289690"/>
                    </a:cubicBezTo>
                    <a:cubicBezTo>
                      <a:pt x="1093875" y="219972"/>
                      <a:pt x="1063536" y="155233"/>
                      <a:pt x="1039547" y="130334"/>
                    </a:cubicBezTo>
                    <a:cubicBezTo>
                      <a:pt x="1036725" y="127133"/>
                      <a:pt x="1032845" y="125532"/>
                      <a:pt x="1028876" y="125443"/>
                    </a:cubicBezTo>
                    <a:close/>
                    <a:moveTo>
                      <a:pt x="867306" y="125443"/>
                    </a:moveTo>
                    <a:cubicBezTo>
                      <a:pt x="863261" y="125532"/>
                      <a:pt x="859306" y="127133"/>
                      <a:pt x="856429" y="130334"/>
                    </a:cubicBezTo>
                    <a:cubicBezTo>
                      <a:pt x="832698" y="155233"/>
                      <a:pt x="801775" y="219972"/>
                      <a:pt x="854991" y="289690"/>
                    </a:cubicBezTo>
                    <a:cubicBezTo>
                      <a:pt x="858586" y="293247"/>
                      <a:pt x="862901" y="295381"/>
                      <a:pt x="867935" y="295381"/>
                    </a:cubicBezTo>
                    <a:cubicBezTo>
                      <a:pt x="871531" y="295381"/>
                      <a:pt x="874407" y="294670"/>
                      <a:pt x="877284" y="292535"/>
                    </a:cubicBezTo>
                    <a:cubicBezTo>
                      <a:pt x="884475" y="286844"/>
                      <a:pt x="885913" y="276884"/>
                      <a:pt x="880160" y="270482"/>
                    </a:cubicBezTo>
                    <a:cubicBezTo>
                      <a:pt x="829821" y="205032"/>
                      <a:pt x="877284" y="154522"/>
                      <a:pt x="879441" y="152388"/>
                    </a:cubicBezTo>
                    <a:cubicBezTo>
                      <a:pt x="885194" y="145985"/>
                      <a:pt x="885194" y="136025"/>
                      <a:pt x="878722" y="129622"/>
                    </a:cubicBezTo>
                    <a:cubicBezTo>
                      <a:pt x="875486" y="126777"/>
                      <a:pt x="871351" y="125354"/>
                      <a:pt x="867306" y="125443"/>
                    </a:cubicBezTo>
                    <a:close/>
                    <a:moveTo>
                      <a:pt x="1064232" y="92202"/>
                    </a:moveTo>
                    <a:cubicBezTo>
                      <a:pt x="1060166" y="92202"/>
                      <a:pt x="1056009" y="93811"/>
                      <a:pt x="1052756" y="97029"/>
                    </a:cubicBezTo>
                    <a:cubicBezTo>
                      <a:pt x="1046973" y="102750"/>
                      <a:pt x="1046250" y="112761"/>
                      <a:pt x="1052756" y="119197"/>
                    </a:cubicBezTo>
                    <a:cubicBezTo>
                      <a:pt x="1052756" y="119197"/>
                      <a:pt x="1072997" y="139219"/>
                      <a:pt x="1082394" y="172113"/>
                    </a:cubicBezTo>
                    <a:cubicBezTo>
                      <a:pt x="1096129" y="216449"/>
                      <a:pt x="1085286" y="260069"/>
                      <a:pt x="1051310" y="303690"/>
                    </a:cubicBezTo>
                    <a:cubicBezTo>
                      <a:pt x="1046250" y="310126"/>
                      <a:pt x="1046973" y="320137"/>
                      <a:pt x="1054202" y="325858"/>
                    </a:cubicBezTo>
                    <a:cubicBezTo>
                      <a:pt x="1057094" y="328003"/>
                      <a:pt x="1060708" y="328718"/>
                      <a:pt x="1064322" y="328718"/>
                    </a:cubicBezTo>
                    <a:cubicBezTo>
                      <a:pt x="1068660" y="328718"/>
                      <a:pt x="1073720" y="326573"/>
                      <a:pt x="1076611" y="322997"/>
                    </a:cubicBezTo>
                    <a:cubicBezTo>
                      <a:pt x="1127213" y="258639"/>
                      <a:pt x="1124322" y="200717"/>
                      <a:pt x="1113478" y="162817"/>
                    </a:cubicBezTo>
                    <a:cubicBezTo>
                      <a:pt x="1101189" y="122772"/>
                      <a:pt x="1076611" y="97744"/>
                      <a:pt x="1075166" y="97029"/>
                    </a:cubicBezTo>
                    <a:cubicBezTo>
                      <a:pt x="1072274" y="93811"/>
                      <a:pt x="1068298" y="92202"/>
                      <a:pt x="1064232" y="92202"/>
                    </a:cubicBezTo>
                    <a:close/>
                    <a:moveTo>
                      <a:pt x="832198" y="92202"/>
                    </a:moveTo>
                    <a:cubicBezTo>
                      <a:pt x="828188" y="92202"/>
                      <a:pt x="824088" y="93811"/>
                      <a:pt x="820879" y="97029"/>
                    </a:cubicBezTo>
                    <a:cubicBezTo>
                      <a:pt x="820166" y="97744"/>
                      <a:pt x="795923" y="122772"/>
                      <a:pt x="783801" y="162817"/>
                    </a:cubicBezTo>
                    <a:cubicBezTo>
                      <a:pt x="772393" y="200002"/>
                      <a:pt x="769540" y="256494"/>
                      <a:pt x="817314" y="320137"/>
                    </a:cubicBezTo>
                    <a:cubicBezTo>
                      <a:pt x="818027" y="320852"/>
                      <a:pt x="818740" y="321567"/>
                      <a:pt x="819453" y="322997"/>
                    </a:cubicBezTo>
                    <a:cubicBezTo>
                      <a:pt x="823018" y="326573"/>
                      <a:pt x="827296" y="328718"/>
                      <a:pt x="832287" y="328718"/>
                    </a:cubicBezTo>
                    <a:cubicBezTo>
                      <a:pt x="835853" y="328718"/>
                      <a:pt x="838705" y="328003"/>
                      <a:pt x="841557" y="325858"/>
                    </a:cubicBezTo>
                    <a:cubicBezTo>
                      <a:pt x="847261" y="321567"/>
                      <a:pt x="848687" y="315131"/>
                      <a:pt x="847261" y="308696"/>
                    </a:cubicBezTo>
                    <a:cubicBezTo>
                      <a:pt x="846548" y="307265"/>
                      <a:pt x="845835" y="305120"/>
                      <a:pt x="844409" y="303690"/>
                    </a:cubicBezTo>
                    <a:cubicBezTo>
                      <a:pt x="765262" y="202147"/>
                      <a:pt x="840131" y="122057"/>
                      <a:pt x="842983" y="119197"/>
                    </a:cubicBezTo>
                    <a:cubicBezTo>
                      <a:pt x="849400" y="112761"/>
                      <a:pt x="849400" y="102750"/>
                      <a:pt x="842983" y="97029"/>
                    </a:cubicBezTo>
                    <a:cubicBezTo>
                      <a:pt x="840131" y="93811"/>
                      <a:pt x="836209" y="92202"/>
                      <a:pt x="832198" y="92202"/>
                    </a:cubicBezTo>
                    <a:close/>
                    <a:moveTo>
                      <a:pt x="948141" y="0"/>
                    </a:moveTo>
                    <a:cubicBezTo>
                      <a:pt x="1002229" y="0"/>
                      <a:pt x="1056227" y="20533"/>
                      <a:pt x="1097351" y="61597"/>
                    </a:cubicBezTo>
                    <a:cubicBezTo>
                      <a:pt x="1179600" y="143726"/>
                      <a:pt x="1179600" y="277275"/>
                      <a:pt x="1097351" y="360119"/>
                    </a:cubicBezTo>
                    <a:cubicBezTo>
                      <a:pt x="1018679" y="438677"/>
                      <a:pt x="893517" y="442248"/>
                      <a:pt x="810553" y="370831"/>
                    </a:cubicBezTo>
                    <a:cubicBezTo>
                      <a:pt x="810553" y="370831"/>
                      <a:pt x="810553" y="370831"/>
                      <a:pt x="664651" y="516521"/>
                    </a:cubicBezTo>
                    <a:cubicBezTo>
                      <a:pt x="661790" y="519378"/>
                      <a:pt x="657499" y="520806"/>
                      <a:pt x="653923" y="520806"/>
                    </a:cubicBezTo>
                    <a:cubicBezTo>
                      <a:pt x="649632" y="520806"/>
                      <a:pt x="646056" y="519378"/>
                      <a:pt x="642480" y="516521"/>
                    </a:cubicBezTo>
                    <a:cubicBezTo>
                      <a:pt x="626030" y="500095"/>
                      <a:pt x="604574" y="490811"/>
                      <a:pt x="580972" y="490811"/>
                    </a:cubicBezTo>
                    <a:cubicBezTo>
                      <a:pt x="572389" y="490811"/>
                      <a:pt x="565237" y="483669"/>
                      <a:pt x="565237" y="475100"/>
                    </a:cubicBezTo>
                    <a:cubicBezTo>
                      <a:pt x="565237" y="466530"/>
                      <a:pt x="572389" y="459388"/>
                      <a:pt x="580972" y="459388"/>
                    </a:cubicBezTo>
                    <a:cubicBezTo>
                      <a:pt x="607434" y="459388"/>
                      <a:pt x="632467" y="467958"/>
                      <a:pt x="653208" y="483669"/>
                    </a:cubicBezTo>
                    <a:cubicBezTo>
                      <a:pt x="653208" y="483669"/>
                      <a:pt x="653208" y="483669"/>
                      <a:pt x="788382" y="348692"/>
                    </a:cubicBezTo>
                    <a:cubicBezTo>
                      <a:pt x="716146" y="265849"/>
                      <a:pt x="719722" y="140156"/>
                      <a:pt x="798395" y="61597"/>
                    </a:cubicBezTo>
                    <a:cubicBezTo>
                      <a:pt x="839877" y="20533"/>
                      <a:pt x="894054" y="0"/>
                      <a:pt x="948141" y="0"/>
                    </a:cubicBezTo>
                    <a:close/>
                  </a:path>
                </a:pathLst>
              </a:custGeom>
              <a:solidFill>
                <a:schemeClr val="tx2"/>
              </a:solidFill>
              <a:ln>
                <a:noFill/>
              </a:ln>
            </p:spPr>
            <p:txBody>
              <a:bodyPr vert="horz" wrap="square" lIns="72746" tIns="36373" rIns="72746" bIns="36373" numCol="1" anchor="t" anchorCtr="0" compatLnSpc="1">
                <a:prstTxWarp prst="textNoShape">
                  <a:avLst/>
                </a:prstTxWarp>
                <a:noAutofit/>
              </a:bodyPr>
              <a:lstStyle/>
              <a:p>
                <a:endParaRPr lang="en-US" sz="1559">
                  <a:sym typeface="+mn-lt"/>
                </a:endParaRPr>
              </a:p>
            </p:txBody>
          </p:sp>
          <p:sp>
            <p:nvSpPr>
              <p:cNvPr id="242" name="Freeform 10">
                <a:extLst>
                  <a:ext uri="{FF2B5EF4-FFF2-40B4-BE49-F238E27FC236}">
                    <a16:creationId xmlns:a16="http://schemas.microsoft.com/office/drawing/2014/main" id="{C5410953-7317-4094-8AB6-CF3921310B90}"/>
                  </a:ext>
                </a:extLst>
              </p:cNvPr>
              <p:cNvSpPr>
                <a:spLocks/>
              </p:cNvSpPr>
              <p:nvPr/>
            </p:nvSpPr>
            <p:spPr bwMode="auto">
              <a:xfrm>
                <a:off x="6705514" y="2849420"/>
                <a:ext cx="1162223" cy="1160746"/>
              </a:xfrm>
              <a:custGeom>
                <a:avLst/>
                <a:gdLst>
                  <a:gd name="connsiteX0" fmla="*/ 888325 w 1162223"/>
                  <a:gd name="connsiteY0" fmla="*/ 827229 h 1160746"/>
                  <a:gd name="connsiteX1" fmla="*/ 879747 w 1162223"/>
                  <a:gd name="connsiteY1" fmla="*/ 830791 h 1160746"/>
                  <a:gd name="connsiteX2" fmla="*/ 845435 w 1162223"/>
                  <a:gd name="connsiteY2" fmla="*/ 864980 h 1160746"/>
                  <a:gd name="connsiteX3" fmla="*/ 841146 w 1162223"/>
                  <a:gd name="connsiteY3" fmla="*/ 871391 h 1160746"/>
                  <a:gd name="connsiteX4" fmla="*/ 839001 w 1162223"/>
                  <a:gd name="connsiteY4" fmla="*/ 878513 h 1160746"/>
                  <a:gd name="connsiteX5" fmla="*/ 838286 w 1162223"/>
                  <a:gd name="connsiteY5" fmla="*/ 883499 h 1160746"/>
                  <a:gd name="connsiteX6" fmla="*/ 839716 w 1162223"/>
                  <a:gd name="connsiteY6" fmla="*/ 896320 h 1160746"/>
                  <a:gd name="connsiteX7" fmla="*/ 844720 w 1162223"/>
                  <a:gd name="connsiteY7" fmla="*/ 915552 h 1160746"/>
                  <a:gd name="connsiteX8" fmla="*/ 855442 w 1162223"/>
                  <a:gd name="connsiteY8" fmla="*/ 940482 h 1160746"/>
                  <a:gd name="connsiteX9" fmla="*/ 874028 w 1162223"/>
                  <a:gd name="connsiteY9" fmla="*/ 970398 h 1160746"/>
                  <a:gd name="connsiteX10" fmla="*/ 904051 w 1162223"/>
                  <a:gd name="connsiteY10" fmla="*/ 1004587 h 1160746"/>
                  <a:gd name="connsiteX11" fmla="*/ 946942 w 1162223"/>
                  <a:gd name="connsiteY11" fmla="*/ 1040201 h 1160746"/>
                  <a:gd name="connsiteX12" fmla="*/ 983399 w 1162223"/>
                  <a:gd name="connsiteY12" fmla="*/ 1060145 h 1160746"/>
                  <a:gd name="connsiteX13" fmla="*/ 1009848 w 1162223"/>
                  <a:gd name="connsiteY13" fmla="*/ 1068693 h 1160746"/>
                  <a:gd name="connsiteX14" fmla="*/ 1025574 w 1162223"/>
                  <a:gd name="connsiteY14" fmla="*/ 1070117 h 1160746"/>
                  <a:gd name="connsiteX15" fmla="*/ 1029148 w 1162223"/>
                  <a:gd name="connsiteY15" fmla="*/ 1070117 h 1160746"/>
                  <a:gd name="connsiteX16" fmla="*/ 1030578 w 1162223"/>
                  <a:gd name="connsiteY16" fmla="*/ 1070117 h 1160746"/>
                  <a:gd name="connsiteX17" fmla="*/ 1037726 w 1162223"/>
                  <a:gd name="connsiteY17" fmla="*/ 1067268 h 1160746"/>
                  <a:gd name="connsiteX18" fmla="*/ 1044160 w 1162223"/>
                  <a:gd name="connsiteY18" fmla="*/ 1062994 h 1160746"/>
                  <a:gd name="connsiteX19" fmla="*/ 1078472 w 1162223"/>
                  <a:gd name="connsiteY19" fmla="*/ 1029517 h 1160746"/>
                  <a:gd name="connsiteX20" fmla="*/ 1082046 w 1162223"/>
                  <a:gd name="connsiteY20" fmla="*/ 1018833 h 1160746"/>
                  <a:gd name="connsiteX21" fmla="*/ 1075613 w 1162223"/>
                  <a:gd name="connsiteY21" fmla="*/ 1010285 h 1160746"/>
                  <a:gd name="connsiteX22" fmla="*/ 1025574 w 1162223"/>
                  <a:gd name="connsiteY22" fmla="*/ 981082 h 1160746"/>
                  <a:gd name="connsiteX23" fmla="*/ 1018426 w 1162223"/>
                  <a:gd name="connsiteY23" fmla="*/ 979657 h 1160746"/>
                  <a:gd name="connsiteX24" fmla="*/ 1007703 w 1162223"/>
                  <a:gd name="connsiteY24" fmla="*/ 983931 h 1160746"/>
                  <a:gd name="connsiteX25" fmla="*/ 992692 w 1162223"/>
                  <a:gd name="connsiteY25" fmla="*/ 998889 h 1160746"/>
                  <a:gd name="connsiteX26" fmla="*/ 991262 w 1162223"/>
                  <a:gd name="connsiteY26" fmla="*/ 999601 h 1160746"/>
                  <a:gd name="connsiteX27" fmla="*/ 989832 w 1162223"/>
                  <a:gd name="connsiteY27" fmla="*/ 999601 h 1160746"/>
                  <a:gd name="connsiteX28" fmla="*/ 986258 w 1162223"/>
                  <a:gd name="connsiteY28" fmla="*/ 999601 h 1160746"/>
                  <a:gd name="connsiteX29" fmla="*/ 976965 w 1162223"/>
                  <a:gd name="connsiteY29" fmla="*/ 995328 h 1160746"/>
                  <a:gd name="connsiteX30" fmla="*/ 961953 w 1162223"/>
                  <a:gd name="connsiteY30" fmla="*/ 986068 h 1160746"/>
                  <a:gd name="connsiteX31" fmla="*/ 941223 w 1162223"/>
                  <a:gd name="connsiteY31" fmla="*/ 967549 h 1160746"/>
                  <a:gd name="connsiteX32" fmla="*/ 923352 w 1162223"/>
                  <a:gd name="connsiteY32" fmla="*/ 946892 h 1160746"/>
                  <a:gd name="connsiteX33" fmla="*/ 913344 w 1162223"/>
                  <a:gd name="connsiteY33" fmla="*/ 931935 h 1160746"/>
                  <a:gd name="connsiteX34" fmla="*/ 909055 w 1162223"/>
                  <a:gd name="connsiteY34" fmla="*/ 919826 h 1160746"/>
                  <a:gd name="connsiteX35" fmla="*/ 909055 w 1162223"/>
                  <a:gd name="connsiteY35" fmla="*/ 917689 h 1160746"/>
                  <a:gd name="connsiteX36" fmla="*/ 910485 w 1162223"/>
                  <a:gd name="connsiteY36" fmla="*/ 916264 h 1160746"/>
                  <a:gd name="connsiteX37" fmla="*/ 922637 w 1162223"/>
                  <a:gd name="connsiteY37" fmla="*/ 903443 h 1160746"/>
                  <a:gd name="connsiteX38" fmla="*/ 926926 w 1162223"/>
                  <a:gd name="connsiteY38" fmla="*/ 895608 h 1160746"/>
                  <a:gd name="connsiteX39" fmla="*/ 926211 w 1162223"/>
                  <a:gd name="connsiteY39" fmla="*/ 886348 h 1160746"/>
                  <a:gd name="connsiteX40" fmla="*/ 898333 w 1162223"/>
                  <a:gd name="connsiteY40" fmla="*/ 834352 h 1160746"/>
                  <a:gd name="connsiteX41" fmla="*/ 894044 w 1162223"/>
                  <a:gd name="connsiteY41" fmla="*/ 829366 h 1160746"/>
                  <a:gd name="connsiteX42" fmla="*/ 888325 w 1162223"/>
                  <a:gd name="connsiteY42" fmla="*/ 827229 h 1160746"/>
                  <a:gd name="connsiteX43" fmla="*/ 683850 w 1162223"/>
                  <a:gd name="connsiteY43" fmla="*/ 565292 h 1160746"/>
                  <a:gd name="connsiteX44" fmla="*/ 699576 w 1162223"/>
                  <a:gd name="connsiteY44" fmla="*/ 580976 h 1160746"/>
                  <a:gd name="connsiteX45" fmla="*/ 675273 w 1162223"/>
                  <a:gd name="connsiteY45" fmla="*/ 652979 h 1160746"/>
                  <a:gd name="connsiteX46" fmla="*/ 813228 w 1162223"/>
                  <a:gd name="connsiteY46" fmla="*/ 790570 h 1160746"/>
                  <a:gd name="connsiteX47" fmla="*/ 1100573 w 1162223"/>
                  <a:gd name="connsiteY47" fmla="*/ 801264 h 1160746"/>
                  <a:gd name="connsiteX48" fmla="*/ 1100573 w 1162223"/>
                  <a:gd name="connsiteY48" fmla="*/ 1099258 h 1160746"/>
                  <a:gd name="connsiteX49" fmla="*/ 801791 w 1162223"/>
                  <a:gd name="connsiteY49" fmla="*/ 1099258 h 1160746"/>
                  <a:gd name="connsiteX50" fmla="*/ 791069 w 1162223"/>
                  <a:gd name="connsiteY50" fmla="*/ 812670 h 1160746"/>
                  <a:gd name="connsiteX51" fmla="*/ 642393 w 1162223"/>
                  <a:gd name="connsiteY51" fmla="*/ 664386 h 1160746"/>
                  <a:gd name="connsiteX52" fmla="*/ 642393 w 1162223"/>
                  <a:gd name="connsiteY52" fmla="*/ 642286 h 1160746"/>
                  <a:gd name="connsiteX53" fmla="*/ 668125 w 1162223"/>
                  <a:gd name="connsiteY53" fmla="*/ 580976 h 1160746"/>
                  <a:gd name="connsiteX54" fmla="*/ 683850 w 1162223"/>
                  <a:gd name="connsiteY54" fmla="*/ 565292 h 1160746"/>
                  <a:gd name="connsiteX55" fmla="*/ 95011 w 1162223"/>
                  <a:gd name="connsiteY55" fmla="*/ 135079 h 1160746"/>
                  <a:gd name="connsiteX56" fmla="*/ 326562 w 1162223"/>
                  <a:gd name="connsiteY56" fmla="*/ 135079 h 1160746"/>
                  <a:gd name="connsiteX57" fmla="*/ 328699 w 1162223"/>
                  <a:gd name="connsiteY57" fmla="*/ 137966 h 1160746"/>
                  <a:gd name="connsiteX58" fmla="*/ 328699 w 1162223"/>
                  <a:gd name="connsiteY58" fmla="*/ 251977 h 1160746"/>
                  <a:gd name="connsiteX59" fmla="*/ 326562 w 1162223"/>
                  <a:gd name="connsiteY59" fmla="*/ 254142 h 1160746"/>
                  <a:gd name="connsiteX60" fmla="*/ 225392 w 1162223"/>
                  <a:gd name="connsiteY60" fmla="*/ 254142 h 1160746"/>
                  <a:gd name="connsiteX61" fmla="*/ 195469 w 1162223"/>
                  <a:gd name="connsiteY61" fmla="*/ 254142 h 1160746"/>
                  <a:gd name="connsiteX62" fmla="*/ 95011 w 1162223"/>
                  <a:gd name="connsiteY62" fmla="*/ 254142 h 1160746"/>
                  <a:gd name="connsiteX63" fmla="*/ 92161 w 1162223"/>
                  <a:gd name="connsiteY63" fmla="*/ 251977 h 1160746"/>
                  <a:gd name="connsiteX64" fmla="*/ 92161 w 1162223"/>
                  <a:gd name="connsiteY64" fmla="*/ 137966 h 1160746"/>
                  <a:gd name="connsiteX65" fmla="*/ 95011 w 1162223"/>
                  <a:gd name="connsiteY65" fmla="*/ 135079 h 1160746"/>
                  <a:gd name="connsiteX66" fmla="*/ 74941 w 1162223"/>
                  <a:gd name="connsiteY66" fmla="*/ 114442 h 1160746"/>
                  <a:gd name="connsiteX67" fmla="*/ 69936 w 1162223"/>
                  <a:gd name="connsiteY67" fmla="*/ 119418 h 1160746"/>
                  <a:gd name="connsiteX68" fmla="*/ 69936 w 1162223"/>
                  <a:gd name="connsiteY68" fmla="*/ 269401 h 1160746"/>
                  <a:gd name="connsiteX69" fmla="*/ 74941 w 1162223"/>
                  <a:gd name="connsiteY69" fmla="*/ 275088 h 1160746"/>
                  <a:gd name="connsiteX70" fmla="*/ 186478 w 1162223"/>
                  <a:gd name="connsiteY70" fmla="*/ 275088 h 1160746"/>
                  <a:gd name="connsiteX71" fmla="*/ 186478 w 1162223"/>
                  <a:gd name="connsiteY71" fmla="*/ 278642 h 1160746"/>
                  <a:gd name="connsiteX72" fmla="*/ 167174 w 1162223"/>
                  <a:gd name="connsiteY72" fmla="*/ 295701 h 1160746"/>
                  <a:gd name="connsiteX73" fmla="*/ 165744 w 1162223"/>
                  <a:gd name="connsiteY73" fmla="*/ 301388 h 1160746"/>
                  <a:gd name="connsiteX74" fmla="*/ 170749 w 1162223"/>
                  <a:gd name="connsiteY74" fmla="*/ 304942 h 1160746"/>
                  <a:gd name="connsiteX75" fmla="*/ 250112 w 1162223"/>
                  <a:gd name="connsiteY75" fmla="*/ 304942 h 1160746"/>
                  <a:gd name="connsiteX76" fmla="*/ 255117 w 1162223"/>
                  <a:gd name="connsiteY76" fmla="*/ 301388 h 1160746"/>
                  <a:gd name="connsiteX77" fmla="*/ 253687 w 1162223"/>
                  <a:gd name="connsiteY77" fmla="*/ 295701 h 1160746"/>
                  <a:gd name="connsiteX78" fmla="*/ 233667 w 1162223"/>
                  <a:gd name="connsiteY78" fmla="*/ 278642 h 1160746"/>
                  <a:gd name="connsiteX79" fmla="*/ 233667 w 1162223"/>
                  <a:gd name="connsiteY79" fmla="*/ 275088 h 1160746"/>
                  <a:gd name="connsiteX80" fmla="*/ 345204 w 1162223"/>
                  <a:gd name="connsiteY80" fmla="*/ 275088 h 1160746"/>
                  <a:gd name="connsiteX81" fmla="*/ 350924 w 1162223"/>
                  <a:gd name="connsiteY81" fmla="*/ 269401 h 1160746"/>
                  <a:gd name="connsiteX82" fmla="*/ 350924 w 1162223"/>
                  <a:gd name="connsiteY82" fmla="*/ 119418 h 1160746"/>
                  <a:gd name="connsiteX83" fmla="*/ 345204 w 1162223"/>
                  <a:gd name="connsiteY83" fmla="*/ 114442 h 1160746"/>
                  <a:gd name="connsiteX84" fmla="*/ 74941 w 1162223"/>
                  <a:gd name="connsiteY84" fmla="*/ 114442 h 1160746"/>
                  <a:gd name="connsiteX85" fmla="*/ 211309 w 1162223"/>
                  <a:gd name="connsiteY85" fmla="*/ 0 h 1160746"/>
                  <a:gd name="connsiteX86" fmla="*/ 360433 w 1162223"/>
                  <a:gd name="connsiteY86" fmla="*/ 61488 h 1160746"/>
                  <a:gd name="connsiteX87" fmla="*/ 371154 w 1162223"/>
                  <a:gd name="connsiteY87" fmla="*/ 348076 h 1160746"/>
                  <a:gd name="connsiteX88" fmla="*/ 519831 w 1162223"/>
                  <a:gd name="connsiteY88" fmla="*/ 496360 h 1160746"/>
                  <a:gd name="connsiteX89" fmla="*/ 519831 w 1162223"/>
                  <a:gd name="connsiteY89" fmla="*/ 518460 h 1160746"/>
                  <a:gd name="connsiteX90" fmla="*/ 494098 w 1162223"/>
                  <a:gd name="connsiteY90" fmla="*/ 579770 h 1160746"/>
                  <a:gd name="connsiteX91" fmla="*/ 478373 w 1162223"/>
                  <a:gd name="connsiteY91" fmla="*/ 595454 h 1160746"/>
                  <a:gd name="connsiteX92" fmla="*/ 462648 w 1162223"/>
                  <a:gd name="connsiteY92" fmla="*/ 579770 h 1160746"/>
                  <a:gd name="connsiteX93" fmla="*/ 486951 w 1162223"/>
                  <a:gd name="connsiteY93" fmla="*/ 507767 h 1160746"/>
                  <a:gd name="connsiteX94" fmla="*/ 348996 w 1162223"/>
                  <a:gd name="connsiteY94" fmla="*/ 370176 h 1160746"/>
                  <a:gd name="connsiteX95" fmla="*/ 61650 w 1162223"/>
                  <a:gd name="connsiteY95" fmla="*/ 359483 h 1160746"/>
                  <a:gd name="connsiteX96" fmla="*/ 61650 w 1162223"/>
                  <a:gd name="connsiteY96" fmla="*/ 61488 h 1160746"/>
                  <a:gd name="connsiteX97" fmla="*/ 211309 w 1162223"/>
                  <a:gd name="connsiteY97" fmla="*/ 0 h 1160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162223" h="1160746">
                    <a:moveTo>
                      <a:pt x="888325" y="827229"/>
                    </a:moveTo>
                    <a:cubicBezTo>
                      <a:pt x="884751" y="827229"/>
                      <a:pt x="881891" y="828654"/>
                      <a:pt x="879747" y="830791"/>
                    </a:cubicBezTo>
                    <a:cubicBezTo>
                      <a:pt x="879747" y="830791"/>
                      <a:pt x="879747" y="830791"/>
                      <a:pt x="845435" y="864980"/>
                    </a:cubicBezTo>
                    <a:cubicBezTo>
                      <a:pt x="844005" y="866405"/>
                      <a:pt x="842575" y="868541"/>
                      <a:pt x="841146" y="871391"/>
                    </a:cubicBezTo>
                    <a:cubicBezTo>
                      <a:pt x="839716" y="873527"/>
                      <a:pt x="839001" y="876377"/>
                      <a:pt x="839001" y="878513"/>
                    </a:cubicBezTo>
                    <a:cubicBezTo>
                      <a:pt x="839001" y="879226"/>
                      <a:pt x="839001" y="880650"/>
                      <a:pt x="838286" y="883499"/>
                    </a:cubicBezTo>
                    <a:cubicBezTo>
                      <a:pt x="838286" y="887061"/>
                      <a:pt x="839001" y="891334"/>
                      <a:pt x="839716" y="896320"/>
                    </a:cubicBezTo>
                    <a:cubicBezTo>
                      <a:pt x="840431" y="902019"/>
                      <a:pt x="841860" y="908429"/>
                      <a:pt x="844720" y="915552"/>
                    </a:cubicBezTo>
                    <a:cubicBezTo>
                      <a:pt x="846864" y="923387"/>
                      <a:pt x="850439" y="931222"/>
                      <a:pt x="855442" y="940482"/>
                    </a:cubicBezTo>
                    <a:cubicBezTo>
                      <a:pt x="859731" y="949742"/>
                      <a:pt x="866165" y="959713"/>
                      <a:pt x="874028" y="970398"/>
                    </a:cubicBezTo>
                    <a:cubicBezTo>
                      <a:pt x="882606" y="981082"/>
                      <a:pt x="891899" y="992478"/>
                      <a:pt x="904051" y="1004587"/>
                    </a:cubicBezTo>
                    <a:cubicBezTo>
                      <a:pt x="919063" y="1019545"/>
                      <a:pt x="933360" y="1031654"/>
                      <a:pt x="946942" y="1040201"/>
                    </a:cubicBezTo>
                    <a:cubicBezTo>
                      <a:pt x="960524" y="1049461"/>
                      <a:pt x="972676" y="1055872"/>
                      <a:pt x="983399" y="1060145"/>
                    </a:cubicBezTo>
                    <a:cubicBezTo>
                      <a:pt x="993406" y="1064419"/>
                      <a:pt x="1002699" y="1067268"/>
                      <a:pt x="1009848" y="1068693"/>
                    </a:cubicBezTo>
                    <a:cubicBezTo>
                      <a:pt x="1016996" y="1069405"/>
                      <a:pt x="1022715" y="1070117"/>
                      <a:pt x="1025574" y="1070117"/>
                    </a:cubicBezTo>
                    <a:cubicBezTo>
                      <a:pt x="1027004" y="1070117"/>
                      <a:pt x="1028433" y="1070117"/>
                      <a:pt x="1029148" y="1070117"/>
                    </a:cubicBezTo>
                    <a:cubicBezTo>
                      <a:pt x="1029863" y="1070117"/>
                      <a:pt x="1030578" y="1070117"/>
                      <a:pt x="1030578" y="1070117"/>
                    </a:cubicBezTo>
                    <a:cubicBezTo>
                      <a:pt x="1033437" y="1069405"/>
                      <a:pt x="1035582" y="1068693"/>
                      <a:pt x="1037726" y="1067268"/>
                    </a:cubicBezTo>
                    <a:cubicBezTo>
                      <a:pt x="1040586" y="1066556"/>
                      <a:pt x="1042730" y="1065131"/>
                      <a:pt x="1044160" y="1062994"/>
                    </a:cubicBezTo>
                    <a:cubicBezTo>
                      <a:pt x="1044160" y="1062994"/>
                      <a:pt x="1044160" y="1062994"/>
                      <a:pt x="1078472" y="1029517"/>
                    </a:cubicBezTo>
                    <a:cubicBezTo>
                      <a:pt x="1081332" y="1026668"/>
                      <a:pt x="1082761" y="1023107"/>
                      <a:pt x="1082046" y="1018833"/>
                    </a:cubicBezTo>
                    <a:cubicBezTo>
                      <a:pt x="1081332" y="1015271"/>
                      <a:pt x="1079187" y="1012422"/>
                      <a:pt x="1075613" y="1010285"/>
                    </a:cubicBezTo>
                    <a:cubicBezTo>
                      <a:pt x="1075613" y="1010285"/>
                      <a:pt x="1075613" y="1010285"/>
                      <a:pt x="1025574" y="981082"/>
                    </a:cubicBezTo>
                    <a:cubicBezTo>
                      <a:pt x="1024144" y="980370"/>
                      <a:pt x="1021285" y="979657"/>
                      <a:pt x="1018426" y="979657"/>
                    </a:cubicBezTo>
                    <a:cubicBezTo>
                      <a:pt x="1014137" y="979657"/>
                      <a:pt x="1010562" y="981082"/>
                      <a:pt x="1007703" y="983931"/>
                    </a:cubicBezTo>
                    <a:cubicBezTo>
                      <a:pt x="1007703" y="983931"/>
                      <a:pt x="1007703" y="983931"/>
                      <a:pt x="992692" y="998889"/>
                    </a:cubicBezTo>
                    <a:cubicBezTo>
                      <a:pt x="992692" y="998889"/>
                      <a:pt x="991977" y="999601"/>
                      <a:pt x="991262" y="999601"/>
                    </a:cubicBezTo>
                    <a:cubicBezTo>
                      <a:pt x="990547" y="999601"/>
                      <a:pt x="989832" y="999601"/>
                      <a:pt x="989832" y="999601"/>
                    </a:cubicBezTo>
                    <a:cubicBezTo>
                      <a:pt x="989832" y="999601"/>
                      <a:pt x="989832" y="999601"/>
                      <a:pt x="986258" y="999601"/>
                    </a:cubicBezTo>
                    <a:cubicBezTo>
                      <a:pt x="984113" y="998889"/>
                      <a:pt x="981254" y="997464"/>
                      <a:pt x="976965" y="995328"/>
                    </a:cubicBezTo>
                    <a:cubicBezTo>
                      <a:pt x="973391" y="993191"/>
                      <a:pt x="968387" y="990342"/>
                      <a:pt x="961953" y="986068"/>
                    </a:cubicBezTo>
                    <a:cubicBezTo>
                      <a:pt x="956235" y="981794"/>
                      <a:pt x="949086" y="975384"/>
                      <a:pt x="941223" y="967549"/>
                    </a:cubicBezTo>
                    <a:cubicBezTo>
                      <a:pt x="933360" y="959713"/>
                      <a:pt x="927641" y="953303"/>
                      <a:pt x="923352" y="946892"/>
                    </a:cubicBezTo>
                    <a:cubicBezTo>
                      <a:pt x="919063" y="941194"/>
                      <a:pt x="915489" y="936208"/>
                      <a:pt x="913344" y="931935"/>
                    </a:cubicBezTo>
                    <a:cubicBezTo>
                      <a:pt x="911200" y="927661"/>
                      <a:pt x="909770" y="923387"/>
                      <a:pt x="909055" y="919826"/>
                    </a:cubicBezTo>
                    <a:cubicBezTo>
                      <a:pt x="909055" y="919113"/>
                      <a:pt x="909055" y="918401"/>
                      <a:pt x="909055" y="917689"/>
                    </a:cubicBezTo>
                    <a:cubicBezTo>
                      <a:pt x="909770" y="916977"/>
                      <a:pt x="909770" y="916264"/>
                      <a:pt x="910485" y="916264"/>
                    </a:cubicBezTo>
                    <a:cubicBezTo>
                      <a:pt x="910485" y="916264"/>
                      <a:pt x="910485" y="916264"/>
                      <a:pt x="922637" y="903443"/>
                    </a:cubicBezTo>
                    <a:cubicBezTo>
                      <a:pt x="924782" y="901306"/>
                      <a:pt x="926211" y="898457"/>
                      <a:pt x="926926" y="895608"/>
                    </a:cubicBezTo>
                    <a:cubicBezTo>
                      <a:pt x="927641" y="892047"/>
                      <a:pt x="927641" y="889198"/>
                      <a:pt x="926211" y="886348"/>
                    </a:cubicBezTo>
                    <a:cubicBezTo>
                      <a:pt x="926211" y="886348"/>
                      <a:pt x="926211" y="886348"/>
                      <a:pt x="898333" y="834352"/>
                    </a:cubicBezTo>
                    <a:cubicBezTo>
                      <a:pt x="896903" y="832215"/>
                      <a:pt x="895473" y="830791"/>
                      <a:pt x="894044" y="829366"/>
                    </a:cubicBezTo>
                    <a:cubicBezTo>
                      <a:pt x="891899" y="827941"/>
                      <a:pt x="890470" y="827229"/>
                      <a:pt x="888325" y="827229"/>
                    </a:cubicBezTo>
                    <a:close/>
                    <a:moveTo>
                      <a:pt x="683850" y="565292"/>
                    </a:moveTo>
                    <a:cubicBezTo>
                      <a:pt x="692428" y="565292"/>
                      <a:pt x="699576" y="572421"/>
                      <a:pt x="699576" y="580976"/>
                    </a:cubicBezTo>
                    <a:cubicBezTo>
                      <a:pt x="699576" y="607354"/>
                      <a:pt x="690998" y="632305"/>
                      <a:pt x="675273" y="652979"/>
                    </a:cubicBezTo>
                    <a:cubicBezTo>
                      <a:pt x="675273" y="652979"/>
                      <a:pt x="675273" y="652979"/>
                      <a:pt x="813228" y="790570"/>
                    </a:cubicBezTo>
                    <a:cubicBezTo>
                      <a:pt x="896143" y="719280"/>
                      <a:pt x="1021946" y="722844"/>
                      <a:pt x="1100573" y="801264"/>
                    </a:cubicBezTo>
                    <a:cubicBezTo>
                      <a:pt x="1182774" y="883248"/>
                      <a:pt x="1182774" y="1016561"/>
                      <a:pt x="1100573" y="1099258"/>
                    </a:cubicBezTo>
                    <a:cubicBezTo>
                      <a:pt x="1017658" y="1181242"/>
                      <a:pt x="883992" y="1181242"/>
                      <a:pt x="801791" y="1099258"/>
                    </a:cubicBezTo>
                    <a:cubicBezTo>
                      <a:pt x="723164" y="1020838"/>
                      <a:pt x="719590" y="895367"/>
                      <a:pt x="791069" y="812670"/>
                    </a:cubicBezTo>
                    <a:cubicBezTo>
                      <a:pt x="791069" y="812670"/>
                      <a:pt x="791069" y="812670"/>
                      <a:pt x="642393" y="664386"/>
                    </a:cubicBezTo>
                    <a:cubicBezTo>
                      <a:pt x="636674" y="658683"/>
                      <a:pt x="636674" y="648702"/>
                      <a:pt x="642393" y="642286"/>
                    </a:cubicBezTo>
                    <a:cubicBezTo>
                      <a:pt x="658833" y="625889"/>
                      <a:pt x="668125" y="604502"/>
                      <a:pt x="668125" y="580976"/>
                    </a:cubicBezTo>
                    <a:cubicBezTo>
                      <a:pt x="668125" y="572421"/>
                      <a:pt x="675273" y="565292"/>
                      <a:pt x="683850" y="565292"/>
                    </a:cubicBezTo>
                    <a:close/>
                    <a:moveTo>
                      <a:pt x="95011" y="135079"/>
                    </a:moveTo>
                    <a:cubicBezTo>
                      <a:pt x="95011" y="135079"/>
                      <a:pt x="95011" y="135079"/>
                      <a:pt x="326562" y="135079"/>
                    </a:cubicBezTo>
                    <a:cubicBezTo>
                      <a:pt x="327274" y="135079"/>
                      <a:pt x="328699" y="136522"/>
                      <a:pt x="328699" y="137966"/>
                    </a:cubicBezTo>
                    <a:cubicBezTo>
                      <a:pt x="328699" y="137966"/>
                      <a:pt x="328699" y="137966"/>
                      <a:pt x="328699" y="251977"/>
                    </a:cubicBezTo>
                    <a:cubicBezTo>
                      <a:pt x="328699" y="252699"/>
                      <a:pt x="327274" y="254142"/>
                      <a:pt x="326562" y="254142"/>
                    </a:cubicBezTo>
                    <a:cubicBezTo>
                      <a:pt x="326562" y="254142"/>
                      <a:pt x="326562" y="254142"/>
                      <a:pt x="225392" y="254142"/>
                    </a:cubicBezTo>
                    <a:cubicBezTo>
                      <a:pt x="217555" y="254142"/>
                      <a:pt x="203306" y="254142"/>
                      <a:pt x="195469" y="254142"/>
                    </a:cubicBezTo>
                    <a:cubicBezTo>
                      <a:pt x="195469" y="254142"/>
                      <a:pt x="195469" y="254142"/>
                      <a:pt x="95011" y="254142"/>
                    </a:cubicBezTo>
                    <a:cubicBezTo>
                      <a:pt x="93586" y="254142"/>
                      <a:pt x="92161" y="252699"/>
                      <a:pt x="92161" y="251977"/>
                    </a:cubicBezTo>
                    <a:cubicBezTo>
                      <a:pt x="92161" y="251977"/>
                      <a:pt x="92161" y="251977"/>
                      <a:pt x="92161" y="137966"/>
                    </a:cubicBezTo>
                    <a:cubicBezTo>
                      <a:pt x="92161" y="136522"/>
                      <a:pt x="93586" y="135079"/>
                      <a:pt x="95011" y="135079"/>
                    </a:cubicBezTo>
                    <a:close/>
                    <a:moveTo>
                      <a:pt x="74941" y="114442"/>
                    </a:moveTo>
                    <a:cubicBezTo>
                      <a:pt x="72081" y="114442"/>
                      <a:pt x="69936" y="116575"/>
                      <a:pt x="69936" y="119418"/>
                    </a:cubicBezTo>
                    <a:cubicBezTo>
                      <a:pt x="69936" y="119418"/>
                      <a:pt x="69936" y="119418"/>
                      <a:pt x="69936" y="269401"/>
                    </a:cubicBezTo>
                    <a:cubicBezTo>
                      <a:pt x="69936" y="272244"/>
                      <a:pt x="72081" y="275088"/>
                      <a:pt x="74941" y="275088"/>
                    </a:cubicBezTo>
                    <a:cubicBezTo>
                      <a:pt x="74941" y="275088"/>
                      <a:pt x="74941" y="275088"/>
                      <a:pt x="186478" y="275088"/>
                    </a:cubicBezTo>
                    <a:cubicBezTo>
                      <a:pt x="186478" y="275088"/>
                      <a:pt x="186478" y="275088"/>
                      <a:pt x="186478" y="278642"/>
                    </a:cubicBezTo>
                    <a:cubicBezTo>
                      <a:pt x="186478" y="278642"/>
                      <a:pt x="186478" y="278642"/>
                      <a:pt x="167174" y="295701"/>
                    </a:cubicBezTo>
                    <a:cubicBezTo>
                      <a:pt x="165029" y="297123"/>
                      <a:pt x="165029" y="299256"/>
                      <a:pt x="165744" y="301388"/>
                    </a:cubicBezTo>
                    <a:cubicBezTo>
                      <a:pt x="166459" y="303520"/>
                      <a:pt x="168604" y="304942"/>
                      <a:pt x="170749" y="304942"/>
                    </a:cubicBezTo>
                    <a:cubicBezTo>
                      <a:pt x="170749" y="304942"/>
                      <a:pt x="170749" y="304942"/>
                      <a:pt x="250112" y="304942"/>
                    </a:cubicBezTo>
                    <a:cubicBezTo>
                      <a:pt x="252257" y="304942"/>
                      <a:pt x="254402" y="303520"/>
                      <a:pt x="255117" y="301388"/>
                    </a:cubicBezTo>
                    <a:cubicBezTo>
                      <a:pt x="255832" y="299256"/>
                      <a:pt x="255117" y="297123"/>
                      <a:pt x="253687" y="295701"/>
                    </a:cubicBezTo>
                    <a:cubicBezTo>
                      <a:pt x="253687" y="295701"/>
                      <a:pt x="253687" y="295701"/>
                      <a:pt x="233667" y="278642"/>
                    </a:cubicBezTo>
                    <a:cubicBezTo>
                      <a:pt x="233667" y="278642"/>
                      <a:pt x="233667" y="278642"/>
                      <a:pt x="233667" y="275088"/>
                    </a:cubicBezTo>
                    <a:cubicBezTo>
                      <a:pt x="233667" y="275088"/>
                      <a:pt x="233667" y="275088"/>
                      <a:pt x="345204" y="275088"/>
                    </a:cubicBezTo>
                    <a:cubicBezTo>
                      <a:pt x="348064" y="275088"/>
                      <a:pt x="350924" y="272244"/>
                      <a:pt x="350924" y="269401"/>
                    </a:cubicBezTo>
                    <a:cubicBezTo>
                      <a:pt x="350924" y="269401"/>
                      <a:pt x="350924" y="269401"/>
                      <a:pt x="350924" y="119418"/>
                    </a:cubicBezTo>
                    <a:cubicBezTo>
                      <a:pt x="350924" y="116575"/>
                      <a:pt x="348064" y="114442"/>
                      <a:pt x="345204" y="114442"/>
                    </a:cubicBezTo>
                    <a:cubicBezTo>
                      <a:pt x="345204" y="114442"/>
                      <a:pt x="345204" y="114442"/>
                      <a:pt x="74941" y="114442"/>
                    </a:cubicBezTo>
                    <a:close/>
                    <a:moveTo>
                      <a:pt x="211309" y="0"/>
                    </a:moveTo>
                    <a:cubicBezTo>
                      <a:pt x="265366" y="0"/>
                      <a:pt x="319332" y="20496"/>
                      <a:pt x="360433" y="61488"/>
                    </a:cubicBezTo>
                    <a:cubicBezTo>
                      <a:pt x="439060" y="139908"/>
                      <a:pt x="442634" y="265379"/>
                      <a:pt x="371154" y="348076"/>
                    </a:cubicBezTo>
                    <a:lnTo>
                      <a:pt x="519831" y="496360"/>
                    </a:lnTo>
                    <a:cubicBezTo>
                      <a:pt x="525549" y="502064"/>
                      <a:pt x="525549" y="512044"/>
                      <a:pt x="519831" y="518460"/>
                    </a:cubicBezTo>
                    <a:cubicBezTo>
                      <a:pt x="503391" y="534857"/>
                      <a:pt x="494098" y="556244"/>
                      <a:pt x="494098" y="579770"/>
                    </a:cubicBezTo>
                    <a:cubicBezTo>
                      <a:pt x="494098" y="588325"/>
                      <a:pt x="486951" y="595454"/>
                      <a:pt x="478373" y="595454"/>
                    </a:cubicBezTo>
                    <a:cubicBezTo>
                      <a:pt x="469796" y="595454"/>
                      <a:pt x="462648" y="588325"/>
                      <a:pt x="462648" y="579770"/>
                    </a:cubicBezTo>
                    <a:cubicBezTo>
                      <a:pt x="462648" y="553393"/>
                      <a:pt x="471225" y="528441"/>
                      <a:pt x="486951" y="507767"/>
                    </a:cubicBezTo>
                    <a:cubicBezTo>
                      <a:pt x="486951" y="507767"/>
                      <a:pt x="486951" y="507767"/>
                      <a:pt x="348996" y="370176"/>
                    </a:cubicBezTo>
                    <a:cubicBezTo>
                      <a:pt x="266080" y="441467"/>
                      <a:pt x="140277" y="437902"/>
                      <a:pt x="61650" y="359483"/>
                    </a:cubicBezTo>
                    <a:cubicBezTo>
                      <a:pt x="-20551" y="277498"/>
                      <a:pt x="-20551" y="144185"/>
                      <a:pt x="61650" y="61488"/>
                    </a:cubicBezTo>
                    <a:cubicBezTo>
                      <a:pt x="103108" y="20496"/>
                      <a:pt x="157253" y="0"/>
                      <a:pt x="211309" y="0"/>
                    </a:cubicBezTo>
                    <a:close/>
                  </a:path>
                </a:pathLst>
              </a:custGeom>
              <a:solidFill>
                <a:schemeClr val="accent1"/>
              </a:solidFill>
              <a:ln>
                <a:noFill/>
              </a:ln>
            </p:spPr>
            <p:txBody>
              <a:bodyPr vert="horz" wrap="square" lIns="72746" tIns="36373" rIns="72746" bIns="36373" numCol="1" anchor="t" anchorCtr="0" compatLnSpc="1">
                <a:prstTxWarp prst="textNoShape">
                  <a:avLst/>
                </a:prstTxWarp>
                <a:noAutofit/>
              </a:bodyPr>
              <a:lstStyle/>
              <a:p>
                <a:endParaRPr lang="en-US" sz="1559">
                  <a:sym typeface="+mn-lt"/>
                </a:endParaRPr>
              </a:p>
            </p:txBody>
          </p:sp>
        </p:grpSp>
      </p:grpSp>
      <p:sp>
        <p:nvSpPr>
          <p:cNvPr id="222" name="ee4pHeader1">
            <a:extLst>
              <a:ext uri="{FF2B5EF4-FFF2-40B4-BE49-F238E27FC236}">
                <a16:creationId xmlns:a16="http://schemas.microsoft.com/office/drawing/2014/main" id="{21B5B086-0BBF-4B9D-B909-1878B80E97F8}"/>
              </a:ext>
            </a:extLst>
          </p:cNvPr>
          <p:cNvSpPr txBox="1"/>
          <p:nvPr/>
        </p:nvSpPr>
        <p:spPr>
          <a:xfrm>
            <a:off x="1106274" y="4592330"/>
            <a:ext cx="1348981" cy="469263"/>
          </a:xfrm>
          <a:prstGeom prst="rect">
            <a:avLst/>
          </a:prstGeom>
          <a:noFill/>
          <a:ln cap="rnd">
            <a:noFill/>
          </a:ln>
        </p:spPr>
        <p:txBody>
          <a:bodyPr vert="horz" wrap="square" lIns="0" tIns="0" rIns="0" bIns="0" rtlCol="0" anchor="ctr" anchorCtr="0">
            <a:noAutofit/>
          </a:bodyPr>
          <a:lstStyle/>
          <a:p>
            <a:pPr>
              <a:buSzPct val="100000"/>
              <a:buFont typeface="Trebuchet MS" panose="020B0603020202020204" pitchFamily="34" charset="0"/>
              <a:buChar char="​"/>
            </a:pPr>
            <a:r>
              <a:rPr lang="en-US" sz="1400">
                <a:solidFill>
                  <a:srgbClr val="29BA74"/>
                </a:solidFill>
                <a:sym typeface="+mn-lt"/>
              </a:rPr>
              <a:t>Experimentation/measurement</a:t>
            </a:r>
          </a:p>
        </p:txBody>
      </p:sp>
      <p:grpSp>
        <p:nvGrpSpPr>
          <p:cNvPr id="223" name="bcgIcons_OpenEcosystem">
            <a:extLst>
              <a:ext uri="{FF2B5EF4-FFF2-40B4-BE49-F238E27FC236}">
                <a16:creationId xmlns:a16="http://schemas.microsoft.com/office/drawing/2014/main" id="{995D504F-CE45-440B-A301-787A6495E254}"/>
              </a:ext>
            </a:extLst>
          </p:cNvPr>
          <p:cNvGrpSpPr>
            <a:grpSpLocks/>
          </p:cNvGrpSpPr>
          <p:nvPr/>
        </p:nvGrpSpPr>
        <p:grpSpPr bwMode="auto">
          <a:xfrm>
            <a:off x="630000" y="4644082"/>
            <a:ext cx="365760" cy="365760"/>
            <a:chOff x="1682" y="0"/>
            <a:chExt cx="4316" cy="4320"/>
          </a:xfrm>
        </p:grpSpPr>
        <p:sp>
          <p:nvSpPr>
            <p:cNvPr id="236" name="AutoShape 3">
              <a:extLst>
                <a:ext uri="{FF2B5EF4-FFF2-40B4-BE49-F238E27FC236}">
                  <a16:creationId xmlns:a16="http://schemas.microsoft.com/office/drawing/2014/main" id="{5DA17FFA-7454-4C62-A897-74AB9560CBC7}"/>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sp>
          <p:nvSpPr>
            <p:cNvPr id="237" name="Freeform 5">
              <a:extLst>
                <a:ext uri="{FF2B5EF4-FFF2-40B4-BE49-F238E27FC236}">
                  <a16:creationId xmlns:a16="http://schemas.microsoft.com/office/drawing/2014/main" id="{7BF4EB1D-BDA4-470D-8B74-D329E9F005C9}"/>
                </a:ext>
              </a:extLst>
            </p:cNvPr>
            <p:cNvSpPr>
              <a:spLocks noEditPoints="1"/>
            </p:cNvSpPr>
            <p:nvPr/>
          </p:nvSpPr>
          <p:spPr bwMode="auto">
            <a:xfrm>
              <a:off x="2250" y="351"/>
              <a:ext cx="3177" cy="3615"/>
            </a:xfrm>
            <a:custGeom>
              <a:avLst/>
              <a:gdLst>
                <a:gd name="T0" fmla="*/ 1394 w 1696"/>
                <a:gd name="T1" fmla="*/ 1637 h 1928"/>
                <a:gd name="T2" fmla="*/ 924 w 1696"/>
                <a:gd name="T3" fmla="*/ 1891 h 1928"/>
                <a:gd name="T4" fmla="*/ 908 w 1696"/>
                <a:gd name="T5" fmla="*/ 1928 h 1928"/>
                <a:gd name="T6" fmla="*/ 796 w 1696"/>
                <a:gd name="T7" fmla="*/ 1823 h 1928"/>
                <a:gd name="T8" fmla="*/ 895 w 1696"/>
                <a:gd name="T9" fmla="*/ 1695 h 1928"/>
                <a:gd name="T10" fmla="*/ 926 w 1696"/>
                <a:gd name="T11" fmla="*/ 1726 h 1928"/>
                <a:gd name="T12" fmla="*/ 1650 w 1696"/>
                <a:gd name="T13" fmla="*/ 1143 h 1928"/>
                <a:gd name="T14" fmla="*/ 1693 w 1696"/>
                <a:gd name="T15" fmla="*/ 1152 h 1928"/>
                <a:gd name="T16" fmla="*/ 804 w 1696"/>
                <a:gd name="T17" fmla="*/ 8 h 1928"/>
                <a:gd name="T18" fmla="*/ 772 w 1696"/>
                <a:gd name="T19" fmla="*/ 39 h 1928"/>
                <a:gd name="T20" fmla="*/ 302 w 1696"/>
                <a:gd name="T21" fmla="*/ 293 h 1928"/>
                <a:gd name="T22" fmla="*/ 19 w 1696"/>
                <a:gd name="T23" fmla="*/ 804 h 1928"/>
                <a:gd name="T24" fmla="*/ 46 w 1696"/>
                <a:gd name="T25" fmla="*/ 787 h 1928"/>
                <a:gd name="T26" fmla="*/ 770 w 1696"/>
                <a:gd name="T27" fmla="*/ 204 h 1928"/>
                <a:gd name="T28" fmla="*/ 786 w 1696"/>
                <a:gd name="T29" fmla="*/ 241 h 1928"/>
                <a:gd name="T30" fmla="*/ 900 w 1696"/>
                <a:gd name="T31" fmla="*/ 139 h 1928"/>
                <a:gd name="T32" fmla="*/ 1031 w 1696"/>
                <a:gd name="T33" fmla="*/ 1376 h 1928"/>
                <a:gd name="T34" fmla="*/ 945 w 1696"/>
                <a:gd name="T35" fmla="*/ 1282 h 1928"/>
                <a:gd name="T36" fmla="*/ 1397 w 1696"/>
                <a:gd name="T37" fmla="*/ 1268 h 1928"/>
                <a:gd name="T38" fmla="*/ 1419 w 1696"/>
                <a:gd name="T39" fmla="*/ 636 h 1928"/>
                <a:gd name="T40" fmla="*/ 303 w 1696"/>
                <a:gd name="T41" fmla="*/ 614 h 1928"/>
                <a:gd name="T42" fmla="*/ 281 w 1696"/>
                <a:gd name="T43" fmla="*/ 1246 h 1928"/>
                <a:gd name="T44" fmla="*/ 754 w 1696"/>
                <a:gd name="T45" fmla="*/ 1268 h 1928"/>
                <a:gd name="T46" fmla="*/ 675 w 1696"/>
                <a:gd name="T47" fmla="*/ 1352 h 1928"/>
                <a:gd name="T48" fmla="*/ 689 w 1696"/>
                <a:gd name="T49" fmla="*/ 1390 h 1928"/>
                <a:gd name="T50" fmla="*/ 1031 w 1696"/>
                <a:gd name="T51" fmla="*/ 1376 h 1928"/>
                <a:gd name="T52" fmla="*/ 798 w 1696"/>
                <a:gd name="T53" fmla="*/ 1293 h 1928"/>
                <a:gd name="T54" fmla="*/ 776 w 1696"/>
                <a:gd name="T55" fmla="*/ 1224 h 1928"/>
                <a:gd name="T56" fmla="*/ 325 w 1696"/>
                <a:gd name="T57" fmla="*/ 658 h 1928"/>
                <a:gd name="T58" fmla="*/ 1375 w 1696"/>
                <a:gd name="T59" fmla="*/ 1224 h 1928"/>
                <a:gd name="T60" fmla="*/ 901 w 1696"/>
                <a:gd name="T61" fmla="*/ 1246 h 1928"/>
                <a:gd name="T62" fmla="*/ 909 w 1696"/>
                <a:gd name="T63" fmla="*/ 1309 h 1928"/>
                <a:gd name="T64" fmla="*/ 748 w 1696"/>
                <a:gd name="T65" fmla="*/ 1346 h 19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96" h="1928">
                  <a:moveTo>
                    <a:pt x="1693" y="1152"/>
                  </a:moveTo>
                  <a:cubicBezTo>
                    <a:pt x="1652" y="1342"/>
                    <a:pt x="1545" y="1514"/>
                    <a:pt x="1394" y="1637"/>
                  </a:cubicBezTo>
                  <a:cubicBezTo>
                    <a:pt x="1245" y="1759"/>
                    <a:pt x="1057" y="1827"/>
                    <a:pt x="865" y="1831"/>
                  </a:cubicBezTo>
                  <a:cubicBezTo>
                    <a:pt x="924" y="1891"/>
                    <a:pt x="924" y="1891"/>
                    <a:pt x="924" y="1891"/>
                  </a:cubicBezTo>
                  <a:cubicBezTo>
                    <a:pt x="932" y="1900"/>
                    <a:pt x="932" y="1914"/>
                    <a:pt x="923" y="1922"/>
                  </a:cubicBezTo>
                  <a:cubicBezTo>
                    <a:pt x="919" y="1926"/>
                    <a:pt x="913" y="1928"/>
                    <a:pt x="908" y="1928"/>
                  </a:cubicBezTo>
                  <a:cubicBezTo>
                    <a:pt x="902" y="1928"/>
                    <a:pt x="896" y="1926"/>
                    <a:pt x="892" y="1922"/>
                  </a:cubicBezTo>
                  <a:cubicBezTo>
                    <a:pt x="796" y="1823"/>
                    <a:pt x="796" y="1823"/>
                    <a:pt x="796" y="1823"/>
                  </a:cubicBezTo>
                  <a:cubicBezTo>
                    <a:pt x="787" y="1814"/>
                    <a:pt x="787" y="1800"/>
                    <a:pt x="796" y="1791"/>
                  </a:cubicBezTo>
                  <a:cubicBezTo>
                    <a:pt x="895" y="1695"/>
                    <a:pt x="895" y="1695"/>
                    <a:pt x="895" y="1695"/>
                  </a:cubicBezTo>
                  <a:cubicBezTo>
                    <a:pt x="904" y="1686"/>
                    <a:pt x="918" y="1687"/>
                    <a:pt x="926" y="1695"/>
                  </a:cubicBezTo>
                  <a:cubicBezTo>
                    <a:pt x="935" y="1704"/>
                    <a:pt x="934" y="1718"/>
                    <a:pt x="926" y="1726"/>
                  </a:cubicBezTo>
                  <a:cubicBezTo>
                    <a:pt x="864" y="1787"/>
                    <a:pt x="864" y="1787"/>
                    <a:pt x="864" y="1787"/>
                  </a:cubicBezTo>
                  <a:cubicBezTo>
                    <a:pt x="1240" y="1779"/>
                    <a:pt x="1569" y="1511"/>
                    <a:pt x="1650" y="1143"/>
                  </a:cubicBezTo>
                  <a:cubicBezTo>
                    <a:pt x="1653" y="1131"/>
                    <a:pt x="1665" y="1124"/>
                    <a:pt x="1677" y="1126"/>
                  </a:cubicBezTo>
                  <a:cubicBezTo>
                    <a:pt x="1689" y="1129"/>
                    <a:pt x="1696" y="1141"/>
                    <a:pt x="1693" y="1152"/>
                  </a:cubicBezTo>
                  <a:close/>
                  <a:moveTo>
                    <a:pt x="900" y="107"/>
                  </a:moveTo>
                  <a:cubicBezTo>
                    <a:pt x="804" y="8"/>
                    <a:pt x="804" y="8"/>
                    <a:pt x="804" y="8"/>
                  </a:cubicBezTo>
                  <a:cubicBezTo>
                    <a:pt x="795" y="0"/>
                    <a:pt x="782" y="0"/>
                    <a:pt x="773" y="8"/>
                  </a:cubicBezTo>
                  <a:cubicBezTo>
                    <a:pt x="764" y="16"/>
                    <a:pt x="764" y="30"/>
                    <a:pt x="772" y="39"/>
                  </a:cubicBezTo>
                  <a:cubicBezTo>
                    <a:pt x="831" y="99"/>
                    <a:pt x="831" y="99"/>
                    <a:pt x="831" y="99"/>
                  </a:cubicBezTo>
                  <a:cubicBezTo>
                    <a:pt x="639" y="103"/>
                    <a:pt x="451" y="172"/>
                    <a:pt x="302" y="293"/>
                  </a:cubicBezTo>
                  <a:cubicBezTo>
                    <a:pt x="151" y="416"/>
                    <a:pt x="44" y="588"/>
                    <a:pt x="3" y="778"/>
                  </a:cubicBezTo>
                  <a:cubicBezTo>
                    <a:pt x="0" y="789"/>
                    <a:pt x="7" y="801"/>
                    <a:pt x="19" y="804"/>
                  </a:cubicBezTo>
                  <a:cubicBezTo>
                    <a:pt x="21" y="804"/>
                    <a:pt x="23" y="804"/>
                    <a:pt x="24" y="804"/>
                  </a:cubicBezTo>
                  <a:cubicBezTo>
                    <a:pt x="34" y="804"/>
                    <a:pt x="43" y="797"/>
                    <a:pt x="46" y="787"/>
                  </a:cubicBezTo>
                  <a:cubicBezTo>
                    <a:pt x="127" y="419"/>
                    <a:pt x="456" y="151"/>
                    <a:pt x="832" y="143"/>
                  </a:cubicBezTo>
                  <a:cubicBezTo>
                    <a:pt x="770" y="204"/>
                    <a:pt x="770" y="204"/>
                    <a:pt x="770" y="204"/>
                  </a:cubicBezTo>
                  <a:cubicBezTo>
                    <a:pt x="762" y="212"/>
                    <a:pt x="761" y="226"/>
                    <a:pt x="770" y="235"/>
                  </a:cubicBezTo>
                  <a:cubicBezTo>
                    <a:pt x="774" y="239"/>
                    <a:pt x="780" y="241"/>
                    <a:pt x="786" y="241"/>
                  </a:cubicBezTo>
                  <a:cubicBezTo>
                    <a:pt x="791" y="241"/>
                    <a:pt x="797" y="239"/>
                    <a:pt x="801" y="235"/>
                  </a:cubicBezTo>
                  <a:cubicBezTo>
                    <a:pt x="900" y="139"/>
                    <a:pt x="900" y="139"/>
                    <a:pt x="900" y="139"/>
                  </a:cubicBezTo>
                  <a:cubicBezTo>
                    <a:pt x="909" y="130"/>
                    <a:pt x="909" y="116"/>
                    <a:pt x="900" y="107"/>
                  </a:cubicBezTo>
                  <a:close/>
                  <a:moveTo>
                    <a:pt x="1031" y="1376"/>
                  </a:moveTo>
                  <a:cubicBezTo>
                    <a:pt x="1034" y="1367"/>
                    <a:pt x="1032" y="1358"/>
                    <a:pt x="1025" y="1352"/>
                  </a:cubicBezTo>
                  <a:cubicBezTo>
                    <a:pt x="945" y="1282"/>
                    <a:pt x="945" y="1282"/>
                    <a:pt x="945" y="1282"/>
                  </a:cubicBezTo>
                  <a:cubicBezTo>
                    <a:pt x="945" y="1268"/>
                    <a:pt x="945" y="1268"/>
                    <a:pt x="945" y="1268"/>
                  </a:cubicBezTo>
                  <a:cubicBezTo>
                    <a:pt x="1397" y="1268"/>
                    <a:pt x="1397" y="1268"/>
                    <a:pt x="1397" y="1268"/>
                  </a:cubicBezTo>
                  <a:cubicBezTo>
                    <a:pt x="1409" y="1268"/>
                    <a:pt x="1419" y="1258"/>
                    <a:pt x="1419" y="1246"/>
                  </a:cubicBezTo>
                  <a:cubicBezTo>
                    <a:pt x="1419" y="636"/>
                    <a:pt x="1419" y="636"/>
                    <a:pt x="1419" y="636"/>
                  </a:cubicBezTo>
                  <a:cubicBezTo>
                    <a:pt x="1419" y="624"/>
                    <a:pt x="1409" y="614"/>
                    <a:pt x="1397" y="614"/>
                  </a:cubicBezTo>
                  <a:cubicBezTo>
                    <a:pt x="303" y="614"/>
                    <a:pt x="303" y="614"/>
                    <a:pt x="303" y="614"/>
                  </a:cubicBezTo>
                  <a:cubicBezTo>
                    <a:pt x="291" y="614"/>
                    <a:pt x="281" y="624"/>
                    <a:pt x="281" y="636"/>
                  </a:cubicBezTo>
                  <a:cubicBezTo>
                    <a:pt x="281" y="1246"/>
                    <a:pt x="281" y="1246"/>
                    <a:pt x="281" y="1246"/>
                  </a:cubicBezTo>
                  <a:cubicBezTo>
                    <a:pt x="281" y="1258"/>
                    <a:pt x="291" y="1268"/>
                    <a:pt x="303" y="1268"/>
                  </a:cubicBezTo>
                  <a:cubicBezTo>
                    <a:pt x="754" y="1268"/>
                    <a:pt x="754" y="1268"/>
                    <a:pt x="754" y="1268"/>
                  </a:cubicBezTo>
                  <a:cubicBezTo>
                    <a:pt x="754" y="1282"/>
                    <a:pt x="754" y="1282"/>
                    <a:pt x="754" y="1282"/>
                  </a:cubicBezTo>
                  <a:cubicBezTo>
                    <a:pt x="675" y="1352"/>
                    <a:pt x="675" y="1352"/>
                    <a:pt x="675" y="1352"/>
                  </a:cubicBezTo>
                  <a:cubicBezTo>
                    <a:pt x="668" y="1358"/>
                    <a:pt x="666" y="1367"/>
                    <a:pt x="669" y="1376"/>
                  </a:cubicBezTo>
                  <a:cubicBezTo>
                    <a:pt x="672" y="1384"/>
                    <a:pt x="680" y="1390"/>
                    <a:pt x="689" y="1390"/>
                  </a:cubicBezTo>
                  <a:cubicBezTo>
                    <a:pt x="1010" y="1390"/>
                    <a:pt x="1010" y="1390"/>
                    <a:pt x="1010" y="1390"/>
                  </a:cubicBezTo>
                  <a:cubicBezTo>
                    <a:pt x="1020" y="1390"/>
                    <a:pt x="1028" y="1384"/>
                    <a:pt x="1031" y="1376"/>
                  </a:cubicBezTo>
                  <a:close/>
                  <a:moveTo>
                    <a:pt x="791" y="1309"/>
                  </a:moveTo>
                  <a:cubicBezTo>
                    <a:pt x="796" y="1305"/>
                    <a:pt x="798" y="1299"/>
                    <a:pt x="798" y="1293"/>
                  </a:cubicBezTo>
                  <a:cubicBezTo>
                    <a:pt x="798" y="1246"/>
                    <a:pt x="798" y="1246"/>
                    <a:pt x="798" y="1246"/>
                  </a:cubicBezTo>
                  <a:cubicBezTo>
                    <a:pt x="798" y="1234"/>
                    <a:pt x="789" y="1224"/>
                    <a:pt x="776" y="1224"/>
                  </a:cubicBezTo>
                  <a:cubicBezTo>
                    <a:pt x="325" y="1224"/>
                    <a:pt x="325" y="1224"/>
                    <a:pt x="325" y="1224"/>
                  </a:cubicBezTo>
                  <a:cubicBezTo>
                    <a:pt x="325" y="658"/>
                    <a:pt x="325" y="658"/>
                    <a:pt x="325" y="658"/>
                  </a:cubicBezTo>
                  <a:cubicBezTo>
                    <a:pt x="1375" y="658"/>
                    <a:pt x="1375" y="658"/>
                    <a:pt x="1375" y="658"/>
                  </a:cubicBezTo>
                  <a:cubicBezTo>
                    <a:pt x="1375" y="1224"/>
                    <a:pt x="1375" y="1224"/>
                    <a:pt x="1375" y="1224"/>
                  </a:cubicBezTo>
                  <a:cubicBezTo>
                    <a:pt x="923" y="1224"/>
                    <a:pt x="923" y="1224"/>
                    <a:pt x="923" y="1224"/>
                  </a:cubicBezTo>
                  <a:cubicBezTo>
                    <a:pt x="911" y="1224"/>
                    <a:pt x="901" y="1234"/>
                    <a:pt x="901" y="1246"/>
                  </a:cubicBezTo>
                  <a:cubicBezTo>
                    <a:pt x="901" y="1293"/>
                    <a:pt x="901" y="1293"/>
                    <a:pt x="901" y="1293"/>
                  </a:cubicBezTo>
                  <a:cubicBezTo>
                    <a:pt x="901" y="1299"/>
                    <a:pt x="904" y="1305"/>
                    <a:pt x="909" y="1309"/>
                  </a:cubicBezTo>
                  <a:cubicBezTo>
                    <a:pt x="951" y="1346"/>
                    <a:pt x="951" y="1346"/>
                    <a:pt x="951" y="1346"/>
                  </a:cubicBezTo>
                  <a:cubicBezTo>
                    <a:pt x="748" y="1346"/>
                    <a:pt x="748" y="1346"/>
                    <a:pt x="748" y="1346"/>
                  </a:cubicBezTo>
                  <a:lnTo>
                    <a:pt x="791" y="1309"/>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sp>
          <p:nvSpPr>
            <p:cNvPr id="238" name="Freeform 6">
              <a:extLst>
                <a:ext uri="{FF2B5EF4-FFF2-40B4-BE49-F238E27FC236}">
                  <a16:creationId xmlns:a16="http://schemas.microsoft.com/office/drawing/2014/main" id="{CDF0E8FC-C8FA-4D0C-ADE0-B178356A79A6}"/>
                </a:ext>
              </a:extLst>
            </p:cNvPr>
            <p:cNvSpPr>
              <a:spLocks noEditPoints="1"/>
            </p:cNvSpPr>
            <p:nvPr/>
          </p:nvSpPr>
          <p:spPr bwMode="auto">
            <a:xfrm>
              <a:off x="2030" y="570"/>
              <a:ext cx="3616" cy="3176"/>
            </a:xfrm>
            <a:custGeom>
              <a:avLst/>
              <a:gdLst>
                <a:gd name="T0" fmla="*/ 1922 w 1930"/>
                <a:gd name="T1" fmla="*/ 804 h 1694"/>
                <a:gd name="T2" fmla="*/ 1823 w 1930"/>
                <a:gd name="T3" fmla="*/ 900 h 1694"/>
                <a:gd name="T4" fmla="*/ 1807 w 1930"/>
                <a:gd name="T5" fmla="*/ 907 h 1694"/>
                <a:gd name="T6" fmla="*/ 1791 w 1930"/>
                <a:gd name="T7" fmla="*/ 900 h 1694"/>
                <a:gd name="T8" fmla="*/ 1695 w 1930"/>
                <a:gd name="T9" fmla="*/ 801 h 1694"/>
                <a:gd name="T10" fmla="*/ 1695 w 1930"/>
                <a:gd name="T11" fmla="*/ 770 h 1694"/>
                <a:gd name="T12" fmla="*/ 1726 w 1930"/>
                <a:gd name="T13" fmla="*/ 770 h 1694"/>
                <a:gd name="T14" fmla="*/ 1787 w 1930"/>
                <a:gd name="T15" fmla="*/ 832 h 1694"/>
                <a:gd name="T16" fmla="*/ 1143 w 1930"/>
                <a:gd name="T17" fmla="*/ 46 h 1694"/>
                <a:gd name="T18" fmla="*/ 1126 w 1930"/>
                <a:gd name="T19" fmla="*/ 19 h 1694"/>
                <a:gd name="T20" fmla="*/ 1152 w 1930"/>
                <a:gd name="T21" fmla="*/ 3 h 1694"/>
                <a:gd name="T22" fmla="*/ 1637 w 1930"/>
                <a:gd name="T23" fmla="*/ 302 h 1694"/>
                <a:gd name="T24" fmla="*/ 1831 w 1930"/>
                <a:gd name="T25" fmla="*/ 831 h 1694"/>
                <a:gd name="T26" fmla="*/ 1891 w 1930"/>
                <a:gd name="T27" fmla="*/ 772 h 1694"/>
                <a:gd name="T28" fmla="*/ 1922 w 1930"/>
                <a:gd name="T29" fmla="*/ 773 h 1694"/>
                <a:gd name="T30" fmla="*/ 1922 w 1930"/>
                <a:gd name="T31" fmla="*/ 804 h 1694"/>
                <a:gd name="T32" fmla="*/ 787 w 1930"/>
                <a:gd name="T33" fmla="*/ 1651 h 1694"/>
                <a:gd name="T34" fmla="*/ 143 w 1930"/>
                <a:gd name="T35" fmla="*/ 864 h 1694"/>
                <a:gd name="T36" fmla="*/ 204 w 1930"/>
                <a:gd name="T37" fmla="*/ 926 h 1694"/>
                <a:gd name="T38" fmla="*/ 219 w 1930"/>
                <a:gd name="T39" fmla="*/ 932 h 1694"/>
                <a:gd name="T40" fmla="*/ 235 w 1930"/>
                <a:gd name="T41" fmla="*/ 926 h 1694"/>
                <a:gd name="T42" fmla="*/ 235 w 1930"/>
                <a:gd name="T43" fmla="*/ 895 h 1694"/>
                <a:gd name="T44" fmla="*/ 139 w 1930"/>
                <a:gd name="T45" fmla="*/ 796 h 1694"/>
                <a:gd name="T46" fmla="*/ 107 w 1930"/>
                <a:gd name="T47" fmla="*/ 796 h 1694"/>
                <a:gd name="T48" fmla="*/ 8 w 1930"/>
                <a:gd name="T49" fmla="*/ 892 h 1694"/>
                <a:gd name="T50" fmla="*/ 8 w 1930"/>
                <a:gd name="T51" fmla="*/ 923 h 1694"/>
                <a:gd name="T52" fmla="*/ 39 w 1930"/>
                <a:gd name="T53" fmla="*/ 924 h 1694"/>
                <a:gd name="T54" fmla="*/ 99 w 1930"/>
                <a:gd name="T55" fmla="*/ 865 h 1694"/>
                <a:gd name="T56" fmla="*/ 293 w 1930"/>
                <a:gd name="T57" fmla="*/ 1394 h 1694"/>
                <a:gd name="T58" fmla="*/ 778 w 1930"/>
                <a:gd name="T59" fmla="*/ 1693 h 1694"/>
                <a:gd name="T60" fmla="*/ 782 w 1930"/>
                <a:gd name="T61" fmla="*/ 1694 h 1694"/>
                <a:gd name="T62" fmla="*/ 804 w 1930"/>
                <a:gd name="T63" fmla="*/ 1677 h 1694"/>
                <a:gd name="T64" fmla="*/ 787 w 1930"/>
                <a:gd name="T65" fmla="*/ 1651 h 1694"/>
                <a:gd name="T66" fmla="*/ 906 w 1930"/>
                <a:gd name="T67" fmla="*/ 1062 h 1694"/>
                <a:gd name="T68" fmla="*/ 1027 w 1930"/>
                <a:gd name="T69" fmla="*/ 1062 h 1694"/>
                <a:gd name="T70" fmla="*/ 1437 w 1930"/>
                <a:gd name="T71" fmla="*/ 1062 h 1694"/>
                <a:gd name="T72" fmla="*/ 1446 w 1930"/>
                <a:gd name="T73" fmla="*/ 1052 h 1694"/>
                <a:gd name="T74" fmla="*/ 1446 w 1930"/>
                <a:gd name="T75" fmla="*/ 596 h 1694"/>
                <a:gd name="T76" fmla="*/ 1437 w 1930"/>
                <a:gd name="T77" fmla="*/ 586 h 1694"/>
                <a:gd name="T78" fmla="*/ 496 w 1930"/>
                <a:gd name="T79" fmla="*/ 586 h 1694"/>
                <a:gd name="T80" fmla="*/ 486 w 1930"/>
                <a:gd name="T81" fmla="*/ 596 h 1694"/>
                <a:gd name="T82" fmla="*/ 486 w 1930"/>
                <a:gd name="T83" fmla="*/ 1052 h 1694"/>
                <a:gd name="T84" fmla="*/ 496 w 1930"/>
                <a:gd name="T85" fmla="*/ 1062 h 1694"/>
                <a:gd name="T86" fmla="*/ 906 w 1930"/>
                <a:gd name="T87" fmla="*/ 1062 h 1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30" h="1694">
                  <a:moveTo>
                    <a:pt x="1922" y="804"/>
                  </a:moveTo>
                  <a:cubicBezTo>
                    <a:pt x="1823" y="900"/>
                    <a:pt x="1823" y="900"/>
                    <a:pt x="1823" y="900"/>
                  </a:cubicBezTo>
                  <a:cubicBezTo>
                    <a:pt x="1818" y="905"/>
                    <a:pt x="1813" y="907"/>
                    <a:pt x="1807" y="907"/>
                  </a:cubicBezTo>
                  <a:cubicBezTo>
                    <a:pt x="1801" y="907"/>
                    <a:pt x="1796" y="904"/>
                    <a:pt x="1791" y="900"/>
                  </a:cubicBezTo>
                  <a:cubicBezTo>
                    <a:pt x="1695" y="801"/>
                    <a:pt x="1695" y="801"/>
                    <a:pt x="1695" y="801"/>
                  </a:cubicBezTo>
                  <a:cubicBezTo>
                    <a:pt x="1686" y="792"/>
                    <a:pt x="1687" y="778"/>
                    <a:pt x="1695" y="770"/>
                  </a:cubicBezTo>
                  <a:cubicBezTo>
                    <a:pt x="1704" y="761"/>
                    <a:pt x="1718" y="762"/>
                    <a:pt x="1726" y="770"/>
                  </a:cubicBezTo>
                  <a:cubicBezTo>
                    <a:pt x="1787" y="832"/>
                    <a:pt x="1787" y="832"/>
                    <a:pt x="1787" y="832"/>
                  </a:cubicBezTo>
                  <a:cubicBezTo>
                    <a:pt x="1779" y="456"/>
                    <a:pt x="1511" y="127"/>
                    <a:pt x="1143" y="46"/>
                  </a:cubicBezTo>
                  <a:cubicBezTo>
                    <a:pt x="1131" y="43"/>
                    <a:pt x="1124" y="31"/>
                    <a:pt x="1126" y="19"/>
                  </a:cubicBezTo>
                  <a:cubicBezTo>
                    <a:pt x="1129" y="8"/>
                    <a:pt x="1141" y="0"/>
                    <a:pt x="1152" y="3"/>
                  </a:cubicBezTo>
                  <a:cubicBezTo>
                    <a:pt x="1342" y="44"/>
                    <a:pt x="1514" y="151"/>
                    <a:pt x="1637" y="302"/>
                  </a:cubicBezTo>
                  <a:cubicBezTo>
                    <a:pt x="1759" y="451"/>
                    <a:pt x="1827" y="639"/>
                    <a:pt x="1831" y="831"/>
                  </a:cubicBezTo>
                  <a:cubicBezTo>
                    <a:pt x="1891" y="772"/>
                    <a:pt x="1891" y="772"/>
                    <a:pt x="1891" y="772"/>
                  </a:cubicBezTo>
                  <a:cubicBezTo>
                    <a:pt x="1900" y="764"/>
                    <a:pt x="1914" y="764"/>
                    <a:pt x="1922" y="773"/>
                  </a:cubicBezTo>
                  <a:cubicBezTo>
                    <a:pt x="1930" y="781"/>
                    <a:pt x="1930" y="795"/>
                    <a:pt x="1922" y="804"/>
                  </a:cubicBezTo>
                  <a:close/>
                  <a:moveTo>
                    <a:pt x="787" y="1651"/>
                  </a:moveTo>
                  <a:cubicBezTo>
                    <a:pt x="419" y="1569"/>
                    <a:pt x="151" y="1240"/>
                    <a:pt x="143" y="864"/>
                  </a:cubicBezTo>
                  <a:cubicBezTo>
                    <a:pt x="204" y="926"/>
                    <a:pt x="204" y="926"/>
                    <a:pt x="204" y="926"/>
                  </a:cubicBezTo>
                  <a:cubicBezTo>
                    <a:pt x="208" y="930"/>
                    <a:pt x="214" y="932"/>
                    <a:pt x="219" y="932"/>
                  </a:cubicBezTo>
                  <a:cubicBezTo>
                    <a:pt x="225" y="932"/>
                    <a:pt x="230" y="930"/>
                    <a:pt x="235" y="926"/>
                  </a:cubicBezTo>
                  <a:cubicBezTo>
                    <a:pt x="243" y="918"/>
                    <a:pt x="244" y="904"/>
                    <a:pt x="235" y="895"/>
                  </a:cubicBezTo>
                  <a:cubicBezTo>
                    <a:pt x="139" y="796"/>
                    <a:pt x="139" y="796"/>
                    <a:pt x="139" y="796"/>
                  </a:cubicBezTo>
                  <a:cubicBezTo>
                    <a:pt x="130" y="787"/>
                    <a:pt x="116" y="787"/>
                    <a:pt x="107" y="796"/>
                  </a:cubicBezTo>
                  <a:cubicBezTo>
                    <a:pt x="8" y="892"/>
                    <a:pt x="8" y="892"/>
                    <a:pt x="8" y="892"/>
                  </a:cubicBezTo>
                  <a:cubicBezTo>
                    <a:pt x="0" y="901"/>
                    <a:pt x="0" y="915"/>
                    <a:pt x="8" y="923"/>
                  </a:cubicBezTo>
                  <a:cubicBezTo>
                    <a:pt x="16" y="932"/>
                    <a:pt x="30" y="932"/>
                    <a:pt x="39" y="924"/>
                  </a:cubicBezTo>
                  <a:cubicBezTo>
                    <a:pt x="99" y="865"/>
                    <a:pt x="99" y="865"/>
                    <a:pt x="99" y="865"/>
                  </a:cubicBezTo>
                  <a:cubicBezTo>
                    <a:pt x="103" y="1057"/>
                    <a:pt x="172" y="1245"/>
                    <a:pt x="293" y="1394"/>
                  </a:cubicBezTo>
                  <a:cubicBezTo>
                    <a:pt x="416" y="1545"/>
                    <a:pt x="588" y="1652"/>
                    <a:pt x="778" y="1693"/>
                  </a:cubicBezTo>
                  <a:cubicBezTo>
                    <a:pt x="779" y="1694"/>
                    <a:pt x="781" y="1694"/>
                    <a:pt x="782" y="1694"/>
                  </a:cubicBezTo>
                  <a:cubicBezTo>
                    <a:pt x="792" y="1694"/>
                    <a:pt x="802" y="1687"/>
                    <a:pt x="804" y="1677"/>
                  </a:cubicBezTo>
                  <a:cubicBezTo>
                    <a:pt x="806" y="1665"/>
                    <a:pt x="799" y="1653"/>
                    <a:pt x="787" y="1651"/>
                  </a:cubicBezTo>
                  <a:close/>
                  <a:moveTo>
                    <a:pt x="906" y="1062"/>
                  </a:moveTo>
                  <a:cubicBezTo>
                    <a:pt x="937" y="1062"/>
                    <a:pt x="996" y="1062"/>
                    <a:pt x="1027" y="1062"/>
                  </a:cubicBezTo>
                  <a:cubicBezTo>
                    <a:pt x="1437" y="1062"/>
                    <a:pt x="1437" y="1062"/>
                    <a:pt x="1437" y="1062"/>
                  </a:cubicBezTo>
                  <a:cubicBezTo>
                    <a:pt x="1442" y="1062"/>
                    <a:pt x="1446" y="1058"/>
                    <a:pt x="1446" y="1052"/>
                  </a:cubicBezTo>
                  <a:cubicBezTo>
                    <a:pt x="1446" y="596"/>
                    <a:pt x="1446" y="596"/>
                    <a:pt x="1446" y="596"/>
                  </a:cubicBezTo>
                  <a:cubicBezTo>
                    <a:pt x="1446" y="590"/>
                    <a:pt x="1442" y="586"/>
                    <a:pt x="1437" y="586"/>
                  </a:cubicBezTo>
                  <a:cubicBezTo>
                    <a:pt x="496" y="586"/>
                    <a:pt x="496" y="586"/>
                    <a:pt x="496" y="586"/>
                  </a:cubicBezTo>
                  <a:cubicBezTo>
                    <a:pt x="491" y="586"/>
                    <a:pt x="486" y="590"/>
                    <a:pt x="486" y="596"/>
                  </a:cubicBezTo>
                  <a:cubicBezTo>
                    <a:pt x="486" y="1052"/>
                    <a:pt x="486" y="1052"/>
                    <a:pt x="486" y="1052"/>
                  </a:cubicBezTo>
                  <a:cubicBezTo>
                    <a:pt x="486" y="1058"/>
                    <a:pt x="491" y="1062"/>
                    <a:pt x="496" y="1062"/>
                  </a:cubicBezTo>
                  <a:lnTo>
                    <a:pt x="906" y="1062"/>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grpSp>
      <p:sp>
        <p:nvSpPr>
          <p:cNvPr id="224" name="ee4pHeader1">
            <a:extLst>
              <a:ext uri="{FF2B5EF4-FFF2-40B4-BE49-F238E27FC236}">
                <a16:creationId xmlns:a16="http://schemas.microsoft.com/office/drawing/2014/main" id="{1456F0DF-79FA-4BC3-A3C4-F5CEAD32CFBF}"/>
              </a:ext>
            </a:extLst>
          </p:cNvPr>
          <p:cNvSpPr txBox="1"/>
          <p:nvPr/>
        </p:nvSpPr>
        <p:spPr>
          <a:xfrm>
            <a:off x="1106274" y="5256287"/>
            <a:ext cx="1348981" cy="469263"/>
          </a:xfrm>
          <a:prstGeom prst="rect">
            <a:avLst/>
          </a:prstGeom>
          <a:noFill/>
          <a:ln cap="rnd">
            <a:noFill/>
          </a:ln>
        </p:spPr>
        <p:txBody>
          <a:bodyPr vert="horz" wrap="square" lIns="0" tIns="0" rIns="0" bIns="0" rtlCol="0" anchor="ctr" anchorCtr="0">
            <a:noAutofit/>
          </a:bodyPr>
          <a:lstStyle/>
          <a:p>
            <a:pPr>
              <a:buSzPct val="100000"/>
              <a:buFont typeface="Trebuchet MS" panose="020B0603020202020204" pitchFamily="34" charset="0"/>
              <a:buChar char="​"/>
            </a:pPr>
            <a:r>
              <a:rPr lang="en-US" sz="1400">
                <a:solidFill>
                  <a:srgbClr val="29BA74"/>
                </a:solidFill>
                <a:sym typeface="+mn-lt"/>
              </a:rPr>
              <a:t>Operating model/ WoW</a:t>
            </a:r>
          </a:p>
        </p:txBody>
      </p:sp>
      <p:grpSp>
        <p:nvGrpSpPr>
          <p:cNvPr id="225" name="Group 224">
            <a:extLst>
              <a:ext uri="{FF2B5EF4-FFF2-40B4-BE49-F238E27FC236}">
                <a16:creationId xmlns:a16="http://schemas.microsoft.com/office/drawing/2014/main" id="{BFE0ED06-7109-4B7F-87B6-4E11C9C48552}"/>
              </a:ext>
            </a:extLst>
          </p:cNvPr>
          <p:cNvGrpSpPr>
            <a:grpSpLocks/>
          </p:cNvGrpSpPr>
          <p:nvPr/>
        </p:nvGrpSpPr>
        <p:grpSpPr>
          <a:xfrm>
            <a:off x="630000" y="5308039"/>
            <a:ext cx="365760" cy="365760"/>
            <a:chOff x="5273801" y="2606040"/>
            <a:chExt cx="1644396" cy="1645920"/>
          </a:xfrm>
        </p:grpSpPr>
        <p:sp>
          <p:nvSpPr>
            <p:cNvPr id="232" name="AutoShape 24">
              <a:extLst>
                <a:ext uri="{FF2B5EF4-FFF2-40B4-BE49-F238E27FC236}">
                  <a16:creationId xmlns:a16="http://schemas.microsoft.com/office/drawing/2014/main" id="{902E37BC-FF61-4074-AD76-8FD91F255E2B}"/>
                </a:ext>
              </a:extLst>
            </p:cNvPr>
            <p:cNvSpPr>
              <a:spLocks noChangeAspect="1" noChangeArrowheads="1" noTextEdit="1"/>
            </p:cNvSpPr>
            <p:nvPr/>
          </p:nvSpPr>
          <p:spPr bwMode="auto">
            <a:xfrm>
              <a:off x="5273801" y="2606040"/>
              <a:ext cx="1644396" cy="1645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grpSp>
          <p:nvGrpSpPr>
            <p:cNvPr id="233" name="Group 232">
              <a:extLst>
                <a:ext uri="{FF2B5EF4-FFF2-40B4-BE49-F238E27FC236}">
                  <a16:creationId xmlns:a16="http://schemas.microsoft.com/office/drawing/2014/main" id="{59AA3631-D382-4A28-A234-26E081671515}"/>
                </a:ext>
              </a:extLst>
            </p:cNvPr>
            <p:cNvGrpSpPr/>
            <p:nvPr/>
          </p:nvGrpSpPr>
          <p:grpSpPr>
            <a:xfrm>
              <a:off x="5343905" y="2937510"/>
              <a:ext cx="1532763" cy="1001649"/>
              <a:chOff x="5343905" y="2937510"/>
              <a:chExt cx="1532763" cy="1001649"/>
            </a:xfrm>
          </p:grpSpPr>
          <p:sp>
            <p:nvSpPr>
              <p:cNvPr id="234" name="Freeform 26">
                <a:extLst>
                  <a:ext uri="{FF2B5EF4-FFF2-40B4-BE49-F238E27FC236}">
                    <a16:creationId xmlns:a16="http://schemas.microsoft.com/office/drawing/2014/main" id="{3BE61ED6-F7F6-4F44-B1EB-6E94795CE68A}"/>
                  </a:ext>
                </a:extLst>
              </p:cNvPr>
              <p:cNvSpPr>
                <a:spLocks noEditPoints="1"/>
              </p:cNvSpPr>
              <p:nvPr/>
            </p:nvSpPr>
            <p:spPr bwMode="auto">
              <a:xfrm>
                <a:off x="5456681" y="3173349"/>
                <a:ext cx="1304544" cy="300609"/>
              </a:xfrm>
              <a:custGeom>
                <a:avLst/>
                <a:gdLst>
                  <a:gd name="T0" fmla="*/ 100 w 1828"/>
                  <a:gd name="T1" fmla="*/ 22 h 421"/>
                  <a:gd name="T2" fmla="*/ 515 w 1828"/>
                  <a:gd name="T3" fmla="*/ 239 h 421"/>
                  <a:gd name="T4" fmla="*/ 507 w 1828"/>
                  <a:gd name="T5" fmla="*/ 309 h 421"/>
                  <a:gd name="T6" fmla="*/ 31 w 1828"/>
                  <a:gd name="T7" fmla="*/ 100 h 421"/>
                  <a:gd name="T8" fmla="*/ 63 w 1828"/>
                  <a:gd name="T9" fmla="*/ 6 h 421"/>
                  <a:gd name="T10" fmla="*/ 271 w 1828"/>
                  <a:gd name="T11" fmla="*/ 124 h 421"/>
                  <a:gd name="T12" fmla="*/ 123 w 1828"/>
                  <a:gd name="T13" fmla="*/ 0 h 421"/>
                  <a:gd name="T14" fmla="*/ 159 w 1828"/>
                  <a:gd name="T15" fmla="*/ 239 h 421"/>
                  <a:gd name="T16" fmla="*/ 148 w 1828"/>
                  <a:gd name="T17" fmla="*/ 233 h 421"/>
                  <a:gd name="T18" fmla="*/ 73 w 1828"/>
                  <a:gd name="T19" fmla="*/ 421 h 421"/>
                  <a:gd name="T20" fmla="*/ 320 w 1828"/>
                  <a:gd name="T21" fmla="*/ 287 h 421"/>
                  <a:gd name="T22" fmla="*/ 1355 w 1828"/>
                  <a:gd name="T23" fmla="*/ 6 h 421"/>
                  <a:gd name="T24" fmla="*/ 1323 w 1828"/>
                  <a:gd name="T25" fmla="*/ 100 h 421"/>
                  <a:gd name="T26" fmla="*/ 1799 w 1828"/>
                  <a:gd name="T27" fmla="*/ 309 h 421"/>
                  <a:gd name="T28" fmla="*/ 1807 w 1828"/>
                  <a:gd name="T29" fmla="*/ 239 h 421"/>
                  <a:gd name="T30" fmla="*/ 1392 w 1828"/>
                  <a:gd name="T31" fmla="*/ 22 h 421"/>
                  <a:gd name="T32" fmla="*/ 1526 w 1828"/>
                  <a:gd name="T33" fmla="*/ 112 h 421"/>
                  <a:gd name="T34" fmla="*/ 1563 w 1828"/>
                  <a:gd name="T35" fmla="*/ 123 h 421"/>
                  <a:gd name="T36" fmla="*/ 1526 w 1828"/>
                  <a:gd name="T37" fmla="*/ 112 h 421"/>
                  <a:gd name="T38" fmla="*/ 1445 w 1828"/>
                  <a:gd name="T39" fmla="*/ 237 h 421"/>
                  <a:gd name="T40" fmla="*/ 1311 w 1828"/>
                  <a:gd name="T41" fmla="*/ 131 h 421"/>
                  <a:gd name="T42" fmla="*/ 1631 w 1828"/>
                  <a:gd name="T43" fmla="*/ 350 h 421"/>
                  <a:gd name="T44" fmla="*/ 1451 w 1828"/>
                  <a:gd name="T45" fmla="*/ 239 h 421"/>
                  <a:gd name="T46" fmla="*/ 686 w 1828"/>
                  <a:gd name="T47" fmla="*/ 12 h 421"/>
                  <a:gd name="T48" fmla="*/ 814 w 1828"/>
                  <a:gd name="T49" fmla="*/ 208 h 421"/>
                  <a:gd name="T50" fmla="*/ 1173 w 1828"/>
                  <a:gd name="T51" fmla="*/ 277 h 421"/>
                  <a:gd name="T52" fmla="*/ 863 w 1828"/>
                  <a:gd name="T53" fmla="*/ 140 h 421"/>
                  <a:gd name="T54" fmla="*/ 709 w 1828"/>
                  <a:gd name="T55" fmla="*/ 6 h 421"/>
                  <a:gd name="T56" fmla="*/ 917 w 1828"/>
                  <a:gd name="T57" fmla="*/ 124 h 421"/>
                  <a:gd name="T58" fmla="*/ 769 w 1828"/>
                  <a:gd name="T59" fmla="*/ 0 h 421"/>
                  <a:gd name="T60" fmla="*/ 805 w 1828"/>
                  <a:gd name="T61" fmla="*/ 239 h 421"/>
                  <a:gd name="T62" fmla="*/ 794 w 1828"/>
                  <a:gd name="T63" fmla="*/ 233 h 421"/>
                  <a:gd name="T64" fmla="*/ 719 w 1828"/>
                  <a:gd name="T65" fmla="*/ 421 h 421"/>
                  <a:gd name="T66" fmla="*/ 966 w 1828"/>
                  <a:gd name="T67" fmla="*/ 287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28" h="421">
                    <a:moveTo>
                      <a:pt x="63" y="6"/>
                    </a:moveTo>
                    <a:cubicBezTo>
                      <a:pt x="77" y="6"/>
                      <a:pt x="90" y="12"/>
                      <a:pt x="100" y="22"/>
                    </a:cubicBezTo>
                    <a:cubicBezTo>
                      <a:pt x="217" y="140"/>
                      <a:pt x="217" y="140"/>
                      <a:pt x="217" y="140"/>
                    </a:cubicBezTo>
                    <a:cubicBezTo>
                      <a:pt x="515" y="239"/>
                      <a:pt x="515" y="239"/>
                      <a:pt x="515" y="239"/>
                    </a:cubicBezTo>
                    <a:cubicBezTo>
                      <a:pt x="530" y="245"/>
                      <a:pt x="536" y="263"/>
                      <a:pt x="527" y="277"/>
                    </a:cubicBezTo>
                    <a:cubicBezTo>
                      <a:pt x="507" y="309"/>
                      <a:pt x="507" y="309"/>
                      <a:pt x="507" y="309"/>
                    </a:cubicBezTo>
                    <a:cubicBezTo>
                      <a:pt x="168" y="208"/>
                      <a:pt x="168" y="208"/>
                      <a:pt x="168" y="208"/>
                    </a:cubicBezTo>
                    <a:cubicBezTo>
                      <a:pt x="31" y="100"/>
                      <a:pt x="31" y="100"/>
                      <a:pt x="31" y="100"/>
                    </a:cubicBezTo>
                    <a:cubicBezTo>
                      <a:pt x="0" y="76"/>
                      <a:pt x="5" y="29"/>
                      <a:pt x="40" y="12"/>
                    </a:cubicBezTo>
                    <a:cubicBezTo>
                      <a:pt x="47" y="8"/>
                      <a:pt x="55" y="6"/>
                      <a:pt x="63" y="6"/>
                    </a:cubicBezTo>
                    <a:moveTo>
                      <a:pt x="234" y="112"/>
                    </a:moveTo>
                    <a:cubicBezTo>
                      <a:pt x="271" y="124"/>
                      <a:pt x="271" y="124"/>
                      <a:pt x="271" y="124"/>
                    </a:cubicBezTo>
                    <a:cubicBezTo>
                      <a:pt x="271" y="123"/>
                      <a:pt x="271" y="123"/>
                      <a:pt x="271" y="123"/>
                    </a:cubicBezTo>
                    <a:cubicBezTo>
                      <a:pt x="250" y="55"/>
                      <a:pt x="191" y="8"/>
                      <a:pt x="123" y="0"/>
                    </a:cubicBezTo>
                    <a:lnTo>
                      <a:pt x="234" y="112"/>
                    </a:lnTo>
                    <a:close/>
                    <a:moveTo>
                      <a:pt x="159" y="239"/>
                    </a:moveTo>
                    <a:cubicBezTo>
                      <a:pt x="153" y="237"/>
                      <a:pt x="153" y="237"/>
                      <a:pt x="153" y="237"/>
                    </a:cubicBezTo>
                    <a:cubicBezTo>
                      <a:pt x="148" y="233"/>
                      <a:pt x="148" y="233"/>
                      <a:pt x="148" y="233"/>
                    </a:cubicBezTo>
                    <a:cubicBezTo>
                      <a:pt x="19" y="131"/>
                      <a:pt x="19" y="131"/>
                      <a:pt x="19" y="131"/>
                    </a:cubicBezTo>
                    <a:cubicBezTo>
                      <a:pt x="73" y="421"/>
                      <a:pt x="73" y="421"/>
                      <a:pt x="73" y="421"/>
                    </a:cubicBezTo>
                    <a:cubicBezTo>
                      <a:pt x="190" y="407"/>
                      <a:pt x="297" y="370"/>
                      <a:pt x="339" y="350"/>
                    </a:cubicBezTo>
                    <a:cubicBezTo>
                      <a:pt x="320" y="287"/>
                      <a:pt x="320" y="287"/>
                      <a:pt x="320" y="287"/>
                    </a:cubicBezTo>
                    <a:lnTo>
                      <a:pt x="159" y="239"/>
                    </a:lnTo>
                    <a:close/>
                    <a:moveTo>
                      <a:pt x="1355" y="6"/>
                    </a:moveTo>
                    <a:cubicBezTo>
                      <a:pt x="1347" y="6"/>
                      <a:pt x="1339" y="8"/>
                      <a:pt x="1332" y="12"/>
                    </a:cubicBezTo>
                    <a:cubicBezTo>
                      <a:pt x="1297" y="29"/>
                      <a:pt x="1292" y="76"/>
                      <a:pt x="1323" y="100"/>
                    </a:cubicBezTo>
                    <a:cubicBezTo>
                      <a:pt x="1460" y="208"/>
                      <a:pt x="1460" y="208"/>
                      <a:pt x="1460" y="208"/>
                    </a:cubicBezTo>
                    <a:cubicBezTo>
                      <a:pt x="1799" y="309"/>
                      <a:pt x="1799" y="309"/>
                      <a:pt x="1799" y="309"/>
                    </a:cubicBezTo>
                    <a:cubicBezTo>
                      <a:pt x="1819" y="277"/>
                      <a:pt x="1819" y="277"/>
                      <a:pt x="1819" y="277"/>
                    </a:cubicBezTo>
                    <a:cubicBezTo>
                      <a:pt x="1828" y="263"/>
                      <a:pt x="1822" y="245"/>
                      <a:pt x="1807" y="239"/>
                    </a:cubicBezTo>
                    <a:cubicBezTo>
                      <a:pt x="1509" y="140"/>
                      <a:pt x="1509" y="140"/>
                      <a:pt x="1509" y="140"/>
                    </a:cubicBezTo>
                    <a:cubicBezTo>
                      <a:pt x="1392" y="22"/>
                      <a:pt x="1392" y="22"/>
                      <a:pt x="1392" y="22"/>
                    </a:cubicBezTo>
                    <a:cubicBezTo>
                      <a:pt x="1382" y="12"/>
                      <a:pt x="1369" y="6"/>
                      <a:pt x="1355" y="6"/>
                    </a:cubicBezTo>
                    <a:moveTo>
                      <a:pt x="1526" y="112"/>
                    </a:moveTo>
                    <a:cubicBezTo>
                      <a:pt x="1563" y="124"/>
                      <a:pt x="1563" y="124"/>
                      <a:pt x="1563" y="124"/>
                    </a:cubicBezTo>
                    <a:cubicBezTo>
                      <a:pt x="1563" y="123"/>
                      <a:pt x="1563" y="123"/>
                      <a:pt x="1563" y="123"/>
                    </a:cubicBezTo>
                    <a:cubicBezTo>
                      <a:pt x="1542" y="55"/>
                      <a:pt x="1483" y="8"/>
                      <a:pt x="1415" y="0"/>
                    </a:cubicBezTo>
                    <a:lnTo>
                      <a:pt x="1526" y="112"/>
                    </a:lnTo>
                    <a:close/>
                    <a:moveTo>
                      <a:pt x="1451" y="239"/>
                    </a:moveTo>
                    <a:cubicBezTo>
                      <a:pt x="1445" y="237"/>
                      <a:pt x="1445" y="237"/>
                      <a:pt x="1445" y="237"/>
                    </a:cubicBezTo>
                    <a:cubicBezTo>
                      <a:pt x="1440" y="233"/>
                      <a:pt x="1440" y="233"/>
                      <a:pt x="1440" y="233"/>
                    </a:cubicBezTo>
                    <a:cubicBezTo>
                      <a:pt x="1311" y="131"/>
                      <a:pt x="1311" y="131"/>
                      <a:pt x="1311" y="131"/>
                    </a:cubicBezTo>
                    <a:cubicBezTo>
                      <a:pt x="1365" y="421"/>
                      <a:pt x="1365" y="421"/>
                      <a:pt x="1365" y="421"/>
                    </a:cubicBezTo>
                    <a:cubicBezTo>
                      <a:pt x="1482" y="407"/>
                      <a:pt x="1589" y="370"/>
                      <a:pt x="1631" y="350"/>
                    </a:cubicBezTo>
                    <a:cubicBezTo>
                      <a:pt x="1612" y="287"/>
                      <a:pt x="1612" y="287"/>
                      <a:pt x="1612" y="287"/>
                    </a:cubicBezTo>
                    <a:lnTo>
                      <a:pt x="1451" y="239"/>
                    </a:lnTo>
                    <a:close/>
                    <a:moveTo>
                      <a:pt x="709" y="6"/>
                    </a:moveTo>
                    <a:cubicBezTo>
                      <a:pt x="701" y="6"/>
                      <a:pt x="693" y="8"/>
                      <a:pt x="686" y="12"/>
                    </a:cubicBezTo>
                    <a:cubicBezTo>
                      <a:pt x="651" y="29"/>
                      <a:pt x="646" y="76"/>
                      <a:pt x="677" y="100"/>
                    </a:cubicBezTo>
                    <a:cubicBezTo>
                      <a:pt x="814" y="208"/>
                      <a:pt x="814" y="208"/>
                      <a:pt x="814" y="208"/>
                    </a:cubicBezTo>
                    <a:cubicBezTo>
                      <a:pt x="1153" y="309"/>
                      <a:pt x="1153" y="309"/>
                      <a:pt x="1153" y="309"/>
                    </a:cubicBezTo>
                    <a:cubicBezTo>
                      <a:pt x="1173" y="277"/>
                      <a:pt x="1173" y="277"/>
                      <a:pt x="1173" y="277"/>
                    </a:cubicBezTo>
                    <a:cubicBezTo>
                      <a:pt x="1182" y="263"/>
                      <a:pt x="1176" y="245"/>
                      <a:pt x="1161" y="239"/>
                    </a:cubicBezTo>
                    <a:cubicBezTo>
                      <a:pt x="863" y="140"/>
                      <a:pt x="863" y="140"/>
                      <a:pt x="863" y="140"/>
                    </a:cubicBezTo>
                    <a:cubicBezTo>
                      <a:pt x="746" y="22"/>
                      <a:pt x="746" y="22"/>
                      <a:pt x="746" y="22"/>
                    </a:cubicBezTo>
                    <a:cubicBezTo>
                      <a:pt x="736" y="12"/>
                      <a:pt x="723" y="6"/>
                      <a:pt x="709" y="6"/>
                    </a:cubicBezTo>
                    <a:moveTo>
                      <a:pt x="880" y="112"/>
                    </a:moveTo>
                    <a:cubicBezTo>
                      <a:pt x="917" y="124"/>
                      <a:pt x="917" y="124"/>
                      <a:pt x="917" y="124"/>
                    </a:cubicBezTo>
                    <a:cubicBezTo>
                      <a:pt x="917" y="123"/>
                      <a:pt x="917" y="123"/>
                      <a:pt x="917" y="123"/>
                    </a:cubicBezTo>
                    <a:cubicBezTo>
                      <a:pt x="896" y="55"/>
                      <a:pt x="837" y="8"/>
                      <a:pt x="769" y="0"/>
                    </a:cubicBezTo>
                    <a:lnTo>
                      <a:pt x="880" y="112"/>
                    </a:lnTo>
                    <a:close/>
                    <a:moveTo>
                      <a:pt x="805" y="239"/>
                    </a:moveTo>
                    <a:cubicBezTo>
                      <a:pt x="799" y="237"/>
                      <a:pt x="799" y="237"/>
                      <a:pt x="799" y="237"/>
                    </a:cubicBezTo>
                    <a:cubicBezTo>
                      <a:pt x="794" y="233"/>
                      <a:pt x="794" y="233"/>
                      <a:pt x="794" y="233"/>
                    </a:cubicBezTo>
                    <a:cubicBezTo>
                      <a:pt x="665" y="131"/>
                      <a:pt x="665" y="131"/>
                      <a:pt x="665" y="131"/>
                    </a:cubicBezTo>
                    <a:cubicBezTo>
                      <a:pt x="719" y="421"/>
                      <a:pt x="719" y="421"/>
                      <a:pt x="719" y="421"/>
                    </a:cubicBezTo>
                    <a:cubicBezTo>
                      <a:pt x="836" y="407"/>
                      <a:pt x="943" y="370"/>
                      <a:pt x="985" y="350"/>
                    </a:cubicBezTo>
                    <a:cubicBezTo>
                      <a:pt x="966" y="287"/>
                      <a:pt x="966" y="287"/>
                      <a:pt x="966" y="287"/>
                    </a:cubicBezTo>
                    <a:lnTo>
                      <a:pt x="805" y="239"/>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sp>
            <p:nvSpPr>
              <p:cNvPr id="235" name="Freeform 27">
                <a:extLst>
                  <a:ext uri="{FF2B5EF4-FFF2-40B4-BE49-F238E27FC236}">
                    <a16:creationId xmlns:a16="http://schemas.microsoft.com/office/drawing/2014/main" id="{8359D34E-855C-453B-A6C1-1046D90DD7A2}"/>
                  </a:ext>
                </a:extLst>
              </p:cNvPr>
              <p:cNvSpPr>
                <a:spLocks noEditPoints="1"/>
              </p:cNvSpPr>
              <p:nvPr/>
            </p:nvSpPr>
            <p:spPr bwMode="auto">
              <a:xfrm>
                <a:off x="5343905" y="2937510"/>
                <a:ext cx="1532763" cy="1001649"/>
              </a:xfrm>
              <a:custGeom>
                <a:avLst/>
                <a:gdLst>
                  <a:gd name="T0" fmla="*/ 744 w 2148"/>
                  <a:gd name="T1" fmla="*/ 1402 h 1402"/>
                  <a:gd name="T2" fmla="*/ 305 w 2148"/>
                  <a:gd name="T3" fmla="*/ 899 h 1402"/>
                  <a:gd name="T4" fmla="*/ 291 w 2148"/>
                  <a:gd name="T5" fmla="*/ 786 h 1402"/>
                  <a:gd name="T6" fmla="*/ 322 w 2148"/>
                  <a:gd name="T7" fmla="*/ 859 h 1402"/>
                  <a:gd name="T8" fmla="*/ 754 w 2148"/>
                  <a:gd name="T9" fmla="*/ 1350 h 1402"/>
                  <a:gd name="T10" fmla="*/ 648 w 2148"/>
                  <a:gd name="T11" fmla="*/ 944 h 1402"/>
                  <a:gd name="T12" fmla="*/ 683 w 2148"/>
                  <a:gd name="T13" fmla="*/ 917 h 1402"/>
                  <a:gd name="T14" fmla="*/ 805 w 2148"/>
                  <a:gd name="T15" fmla="*/ 1356 h 1402"/>
                  <a:gd name="T16" fmla="*/ 372 w 2148"/>
                  <a:gd name="T17" fmla="*/ 117 h 1402"/>
                  <a:gd name="T18" fmla="*/ 343 w 2148"/>
                  <a:gd name="T19" fmla="*/ 243 h 1402"/>
                  <a:gd name="T20" fmla="*/ 279 w 2148"/>
                  <a:gd name="T21" fmla="*/ 274 h 1402"/>
                  <a:gd name="T22" fmla="*/ 342 w 2148"/>
                  <a:gd name="T23" fmla="*/ 248 h 1402"/>
                  <a:gd name="T24" fmla="*/ 269 w 2148"/>
                  <a:gd name="T25" fmla="*/ 4 h 1402"/>
                  <a:gd name="T26" fmla="*/ 185 w 2148"/>
                  <a:gd name="T27" fmla="*/ 242 h 1402"/>
                  <a:gd name="T28" fmla="*/ 195 w 2148"/>
                  <a:gd name="T29" fmla="*/ 112 h 1402"/>
                  <a:gd name="T30" fmla="*/ 254 w 2148"/>
                  <a:gd name="T31" fmla="*/ 150 h 1402"/>
                  <a:gd name="T32" fmla="*/ 375 w 2148"/>
                  <a:gd name="T33" fmla="*/ 73 h 1402"/>
                  <a:gd name="T34" fmla="*/ 1980 w 2148"/>
                  <a:gd name="T35" fmla="*/ 925 h 1402"/>
                  <a:gd name="T36" fmla="*/ 1745 w 2148"/>
                  <a:gd name="T37" fmla="*/ 745 h 1402"/>
                  <a:gd name="T38" fmla="*/ 2057 w 2148"/>
                  <a:gd name="T39" fmla="*/ 1336 h 1402"/>
                  <a:gd name="T40" fmla="*/ 1863 w 2148"/>
                  <a:gd name="T41" fmla="*/ 993 h 1402"/>
                  <a:gd name="T42" fmla="*/ 1585 w 2148"/>
                  <a:gd name="T43" fmla="*/ 798 h 1402"/>
                  <a:gd name="T44" fmla="*/ 1542 w 2148"/>
                  <a:gd name="T45" fmla="*/ 804 h 1402"/>
                  <a:gd name="T46" fmla="*/ 2017 w 2148"/>
                  <a:gd name="T47" fmla="*/ 1390 h 1402"/>
                  <a:gd name="T48" fmla="*/ 2097 w 2148"/>
                  <a:gd name="T49" fmla="*/ 1356 h 1402"/>
                  <a:gd name="T50" fmla="*/ 1664 w 2148"/>
                  <a:gd name="T51" fmla="*/ 258 h 1402"/>
                  <a:gd name="T52" fmla="*/ 1636 w 2148"/>
                  <a:gd name="T53" fmla="*/ 133 h 1402"/>
                  <a:gd name="T54" fmla="*/ 1557 w 2148"/>
                  <a:gd name="T55" fmla="*/ 256 h 1402"/>
                  <a:gd name="T56" fmla="*/ 1652 w 2148"/>
                  <a:gd name="T57" fmla="*/ 273 h 1402"/>
                  <a:gd name="T58" fmla="*/ 1688 w 2148"/>
                  <a:gd name="T59" fmla="*/ 33 h 1402"/>
                  <a:gd name="T60" fmla="*/ 1475 w 2148"/>
                  <a:gd name="T61" fmla="*/ 243 h 1402"/>
                  <a:gd name="T62" fmla="*/ 1481 w 2148"/>
                  <a:gd name="T63" fmla="*/ 187 h 1402"/>
                  <a:gd name="T64" fmla="*/ 1525 w 2148"/>
                  <a:gd name="T65" fmla="*/ 150 h 1402"/>
                  <a:gd name="T66" fmla="*/ 1666 w 2148"/>
                  <a:gd name="T67" fmla="*/ 74 h 1402"/>
                  <a:gd name="T68" fmla="*/ 1456 w 2148"/>
                  <a:gd name="T69" fmla="*/ 1286 h 1402"/>
                  <a:gd name="T70" fmla="*/ 1144 w 2148"/>
                  <a:gd name="T71" fmla="*/ 728 h 1402"/>
                  <a:gd name="T72" fmla="*/ 1414 w 2148"/>
                  <a:gd name="T73" fmla="*/ 1300 h 1402"/>
                  <a:gd name="T74" fmla="*/ 1226 w 2148"/>
                  <a:gd name="T75" fmla="*/ 1002 h 1402"/>
                  <a:gd name="T76" fmla="*/ 940 w 2148"/>
                  <a:gd name="T77" fmla="*/ 802 h 1402"/>
                  <a:gd name="T78" fmla="*/ 894 w 2148"/>
                  <a:gd name="T79" fmla="*/ 793 h 1402"/>
                  <a:gd name="T80" fmla="*/ 1190 w 2148"/>
                  <a:gd name="T81" fmla="*/ 1028 h 1402"/>
                  <a:gd name="T82" fmla="*/ 1397 w 2148"/>
                  <a:gd name="T83" fmla="*/ 1401 h 1402"/>
                  <a:gd name="T84" fmla="*/ 1006 w 2148"/>
                  <a:gd name="T85" fmla="*/ 273 h 1402"/>
                  <a:gd name="T86" fmla="*/ 996 w 2148"/>
                  <a:gd name="T87" fmla="*/ 111 h 1402"/>
                  <a:gd name="T88" fmla="*/ 929 w 2148"/>
                  <a:gd name="T89" fmla="*/ 242 h 1402"/>
                  <a:gd name="T90" fmla="*/ 969 w 2148"/>
                  <a:gd name="T91" fmla="*/ 276 h 1402"/>
                  <a:gd name="T92" fmla="*/ 988 w 2148"/>
                  <a:gd name="T93" fmla="*/ 248 h 1402"/>
                  <a:gd name="T94" fmla="*/ 787 w 2148"/>
                  <a:gd name="T95" fmla="*/ 74 h 1402"/>
                  <a:gd name="T96" fmla="*/ 835 w 2148"/>
                  <a:gd name="T97" fmla="*/ 187 h 1402"/>
                  <a:gd name="T98" fmla="*/ 878 w 2148"/>
                  <a:gd name="T99" fmla="*/ 149 h 1402"/>
                  <a:gd name="T100" fmla="*/ 933 w 2148"/>
                  <a:gd name="T101" fmla="*/ 87 h 1402"/>
                  <a:gd name="T102" fmla="*/ 1042 w 2148"/>
                  <a:gd name="T103" fmla="*/ 33 h 1402"/>
                  <a:gd name="T104" fmla="*/ 0 w 2148"/>
                  <a:gd name="T105" fmla="*/ 1061 h 1402"/>
                  <a:gd name="T106" fmla="*/ 44 w 2148"/>
                  <a:gd name="T107" fmla="*/ 768 h 1402"/>
                  <a:gd name="T108" fmla="*/ 713 w 2148"/>
                  <a:gd name="T109" fmla="*/ 623 h 1402"/>
                  <a:gd name="T110" fmla="*/ 719 w 2148"/>
                  <a:gd name="T111" fmla="*/ 579 h 1402"/>
                  <a:gd name="T112" fmla="*/ 1454 w 2148"/>
                  <a:gd name="T113" fmla="*/ 623 h 1402"/>
                  <a:gd name="T114" fmla="*/ 1359 w 2148"/>
                  <a:gd name="T115" fmla="*/ 623 h 1402"/>
                  <a:gd name="T116" fmla="*/ 2005 w 2148"/>
                  <a:gd name="T117" fmla="*/ 623 h 1402"/>
                  <a:gd name="T118" fmla="*/ 2126 w 2148"/>
                  <a:gd name="T119" fmla="*/ 579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8" h="1402">
                    <a:moveTo>
                      <a:pt x="805" y="1356"/>
                    </a:moveTo>
                    <a:cubicBezTo>
                      <a:pt x="793" y="1378"/>
                      <a:pt x="774" y="1394"/>
                      <a:pt x="751" y="1401"/>
                    </a:cubicBezTo>
                    <a:cubicBezTo>
                      <a:pt x="749" y="1402"/>
                      <a:pt x="746" y="1402"/>
                      <a:pt x="744" y="1402"/>
                    </a:cubicBezTo>
                    <a:cubicBezTo>
                      <a:pt x="736" y="1402"/>
                      <a:pt x="728" y="1397"/>
                      <a:pt x="725" y="1390"/>
                    </a:cubicBezTo>
                    <a:cubicBezTo>
                      <a:pt x="544" y="1028"/>
                      <a:pt x="544" y="1028"/>
                      <a:pt x="544" y="1028"/>
                    </a:cubicBezTo>
                    <a:cubicBezTo>
                      <a:pt x="510" y="1009"/>
                      <a:pt x="343" y="916"/>
                      <a:pt x="305" y="899"/>
                    </a:cubicBezTo>
                    <a:cubicBezTo>
                      <a:pt x="254" y="877"/>
                      <a:pt x="250" y="817"/>
                      <a:pt x="250" y="804"/>
                    </a:cubicBezTo>
                    <a:cubicBezTo>
                      <a:pt x="248" y="793"/>
                      <a:pt x="248" y="793"/>
                      <a:pt x="248" y="793"/>
                    </a:cubicBezTo>
                    <a:cubicBezTo>
                      <a:pt x="262" y="791"/>
                      <a:pt x="277" y="789"/>
                      <a:pt x="291" y="786"/>
                    </a:cubicBezTo>
                    <a:cubicBezTo>
                      <a:pt x="293" y="798"/>
                      <a:pt x="293" y="798"/>
                      <a:pt x="293" y="798"/>
                    </a:cubicBezTo>
                    <a:cubicBezTo>
                      <a:pt x="293" y="799"/>
                      <a:pt x="294" y="801"/>
                      <a:pt x="294" y="802"/>
                    </a:cubicBezTo>
                    <a:cubicBezTo>
                      <a:pt x="294" y="803"/>
                      <a:pt x="293" y="846"/>
                      <a:pt x="322" y="859"/>
                    </a:cubicBezTo>
                    <a:cubicBezTo>
                      <a:pt x="367" y="878"/>
                      <a:pt x="563" y="988"/>
                      <a:pt x="571" y="993"/>
                    </a:cubicBezTo>
                    <a:cubicBezTo>
                      <a:pt x="575" y="995"/>
                      <a:pt x="578" y="998"/>
                      <a:pt x="580" y="1002"/>
                    </a:cubicBezTo>
                    <a:cubicBezTo>
                      <a:pt x="754" y="1350"/>
                      <a:pt x="754" y="1350"/>
                      <a:pt x="754" y="1350"/>
                    </a:cubicBezTo>
                    <a:cubicBezTo>
                      <a:pt x="759" y="1346"/>
                      <a:pt x="763" y="1342"/>
                      <a:pt x="765" y="1336"/>
                    </a:cubicBezTo>
                    <a:cubicBezTo>
                      <a:pt x="771" y="1325"/>
                      <a:pt x="772" y="1312"/>
                      <a:pt x="768" y="1300"/>
                    </a:cubicBezTo>
                    <a:cubicBezTo>
                      <a:pt x="648" y="944"/>
                      <a:pt x="648" y="944"/>
                      <a:pt x="648" y="944"/>
                    </a:cubicBezTo>
                    <a:cubicBezTo>
                      <a:pt x="453" y="745"/>
                      <a:pt x="453" y="745"/>
                      <a:pt x="453" y="745"/>
                    </a:cubicBezTo>
                    <a:cubicBezTo>
                      <a:pt x="470" y="739"/>
                      <a:pt x="485" y="733"/>
                      <a:pt x="498" y="728"/>
                    </a:cubicBezTo>
                    <a:cubicBezTo>
                      <a:pt x="683" y="917"/>
                      <a:pt x="683" y="917"/>
                      <a:pt x="683" y="917"/>
                    </a:cubicBezTo>
                    <a:cubicBezTo>
                      <a:pt x="685" y="919"/>
                      <a:pt x="687" y="922"/>
                      <a:pt x="688" y="925"/>
                    </a:cubicBezTo>
                    <a:cubicBezTo>
                      <a:pt x="810" y="1286"/>
                      <a:pt x="810" y="1286"/>
                      <a:pt x="810" y="1286"/>
                    </a:cubicBezTo>
                    <a:cubicBezTo>
                      <a:pt x="818" y="1310"/>
                      <a:pt x="816" y="1334"/>
                      <a:pt x="805" y="1356"/>
                    </a:cubicBezTo>
                    <a:close/>
                    <a:moveTo>
                      <a:pt x="360" y="273"/>
                    </a:moveTo>
                    <a:cubicBezTo>
                      <a:pt x="368" y="270"/>
                      <a:pt x="371" y="262"/>
                      <a:pt x="372" y="258"/>
                    </a:cubicBezTo>
                    <a:cubicBezTo>
                      <a:pt x="381" y="235"/>
                      <a:pt x="396" y="160"/>
                      <a:pt x="372" y="117"/>
                    </a:cubicBezTo>
                    <a:cubicBezTo>
                      <a:pt x="368" y="110"/>
                      <a:pt x="358" y="107"/>
                      <a:pt x="350" y="111"/>
                    </a:cubicBezTo>
                    <a:cubicBezTo>
                      <a:pt x="343" y="115"/>
                      <a:pt x="340" y="125"/>
                      <a:pt x="344" y="133"/>
                    </a:cubicBezTo>
                    <a:cubicBezTo>
                      <a:pt x="361" y="163"/>
                      <a:pt x="350" y="224"/>
                      <a:pt x="343" y="243"/>
                    </a:cubicBezTo>
                    <a:cubicBezTo>
                      <a:pt x="334" y="244"/>
                      <a:pt x="313" y="245"/>
                      <a:pt x="283" y="242"/>
                    </a:cubicBezTo>
                    <a:cubicBezTo>
                      <a:pt x="274" y="241"/>
                      <a:pt x="266" y="247"/>
                      <a:pt x="265" y="256"/>
                    </a:cubicBezTo>
                    <a:cubicBezTo>
                      <a:pt x="264" y="265"/>
                      <a:pt x="271" y="273"/>
                      <a:pt x="279" y="274"/>
                    </a:cubicBezTo>
                    <a:cubicBezTo>
                      <a:pt x="296" y="276"/>
                      <a:pt x="310" y="276"/>
                      <a:pt x="323" y="276"/>
                    </a:cubicBezTo>
                    <a:cubicBezTo>
                      <a:pt x="341" y="276"/>
                      <a:pt x="354" y="275"/>
                      <a:pt x="360" y="273"/>
                    </a:cubicBezTo>
                    <a:close/>
                    <a:moveTo>
                      <a:pt x="342" y="248"/>
                    </a:moveTo>
                    <a:cubicBezTo>
                      <a:pt x="342" y="248"/>
                      <a:pt x="342" y="248"/>
                      <a:pt x="342" y="248"/>
                    </a:cubicBezTo>
                    <a:close/>
                    <a:moveTo>
                      <a:pt x="396" y="33"/>
                    </a:moveTo>
                    <a:cubicBezTo>
                      <a:pt x="322" y="29"/>
                      <a:pt x="350" y="10"/>
                      <a:pt x="269" y="4"/>
                    </a:cubicBezTo>
                    <a:cubicBezTo>
                      <a:pt x="199" y="0"/>
                      <a:pt x="161" y="39"/>
                      <a:pt x="141" y="74"/>
                    </a:cubicBezTo>
                    <a:cubicBezTo>
                      <a:pt x="100" y="148"/>
                      <a:pt x="171" y="230"/>
                      <a:pt x="183" y="243"/>
                    </a:cubicBezTo>
                    <a:cubicBezTo>
                      <a:pt x="184" y="244"/>
                      <a:pt x="185" y="244"/>
                      <a:pt x="185" y="242"/>
                    </a:cubicBezTo>
                    <a:cubicBezTo>
                      <a:pt x="185" y="242"/>
                      <a:pt x="185" y="242"/>
                      <a:pt x="189" y="187"/>
                    </a:cubicBezTo>
                    <a:cubicBezTo>
                      <a:pt x="189" y="187"/>
                      <a:pt x="189" y="187"/>
                      <a:pt x="189" y="187"/>
                    </a:cubicBezTo>
                    <a:cubicBezTo>
                      <a:pt x="188" y="182"/>
                      <a:pt x="164" y="125"/>
                      <a:pt x="195" y="112"/>
                    </a:cubicBezTo>
                    <a:cubicBezTo>
                      <a:pt x="227" y="97"/>
                      <a:pt x="232" y="142"/>
                      <a:pt x="232" y="149"/>
                    </a:cubicBezTo>
                    <a:cubicBezTo>
                      <a:pt x="232" y="150"/>
                      <a:pt x="233" y="150"/>
                      <a:pt x="233" y="150"/>
                    </a:cubicBezTo>
                    <a:cubicBezTo>
                      <a:pt x="237" y="151"/>
                      <a:pt x="253" y="154"/>
                      <a:pt x="254" y="150"/>
                    </a:cubicBezTo>
                    <a:cubicBezTo>
                      <a:pt x="256" y="116"/>
                      <a:pt x="270" y="98"/>
                      <a:pt x="287" y="87"/>
                    </a:cubicBezTo>
                    <a:cubicBezTo>
                      <a:pt x="320" y="67"/>
                      <a:pt x="366" y="76"/>
                      <a:pt x="374" y="74"/>
                    </a:cubicBezTo>
                    <a:cubicBezTo>
                      <a:pt x="374" y="73"/>
                      <a:pt x="375" y="73"/>
                      <a:pt x="375" y="73"/>
                    </a:cubicBezTo>
                    <a:cubicBezTo>
                      <a:pt x="380" y="57"/>
                      <a:pt x="404" y="33"/>
                      <a:pt x="396" y="33"/>
                    </a:cubicBezTo>
                    <a:close/>
                    <a:moveTo>
                      <a:pt x="2102" y="1286"/>
                    </a:moveTo>
                    <a:cubicBezTo>
                      <a:pt x="1980" y="925"/>
                      <a:pt x="1980" y="925"/>
                      <a:pt x="1980" y="925"/>
                    </a:cubicBezTo>
                    <a:cubicBezTo>
                      <a:pt x="1979" y="922"/>
                      <a:pt x="1977" y="919"/>
                      <a:pt x="1975" y="917"/>
                    </a:cubicBezTo>
                    <a:cubicBezTo>
                      <a:pt x="1790" y="728"/>
                      <a:pt x="1790" y="728"/>
                      <a:pt x="1790" y="728"/>
                    </a:cubicBezTo>
                    <a:cubicBezTo>
                      <a:pt x="1777" y="733"/>
                      <a:pt x="1762" y="739"/>
                      <a:pt x="1745" y="745"/>
                    </a:cubicBezTo>
                    <a:cubicBezTo>
                      <a:pt x="1940" y="944"/>
                      <a:pt x="1940" y="944"/>
                      <a:pt x="1940" y="944"/>
                    </a:cubicBezTo>
                    <a:cubicBezTo>
                      <a:pt x="2060" y="1300"/>
                      <a:pt x="2060" y="1300"/>
                      <a:pt x="2060" y="1300"/>
                    </a:cubicBezTo>
                    <a:cubicBezTo>
                      <a:pt x="2064" y="1312"/>
                      <a:pt x="2063" y="1325"/>
                      <a:pt x="2057" y="1336"/>
                    </a:cubicBezTo>
                    <a:cubicBezTo>
                      <a:pt x="2055" y="1342"/>
                      <a:pt x="2051" y="1346"/>
                      <a:pt x="2046" y="1350"/>
                    </a:cubicBezTo>
                    <a:cubicBezTo>
                      <a:pt x="1872" y="1002"/>
                      <a:pt x="1872" y="1002"/>
                      <a:pt x="1872" y="1002"/>
                    </a:cubicBezTo>
                    <a:cubicBezTo>
                      <a:pt x="1870" y="998"/>
                      <a:pt x="1867" y="995"/>
                      <a:pt x="1863" y="993"/>
                    </a:cubicBezTo>
                    <a:cubicBezTo>
                      <a:pt x="1855" y="988"/>
                      <a:pt x="1659" y="878"/>
                      <a:pt x="1615" y="859"/>
                    </a:cubicBezTo>
                    <a:cubicBezTo>
                      <a:pt x="1585" y="846"/>
                      <a:pt x="1586" y="803"/>
                      <a:pt x="1586" y="802"/>
                    </a:cubicBezTo>
                    <a:cubicBezTo>
                      <a:pt x="1586" y="801"/>
                      <a:pt x="1585" y="799"/>
                      <a:pt x="1585" y="798"/>
                    </a:cubicBezTo>
                    <a:cubicBezTo>
                      <a:pt x="1583" y="786"/>
                      <a:pt x="1583" y="786"/>
                      <a:pt x="1583" y="786"/>
                    </a:cubicBezTo>
                    <a:cubicBezTo>
                      <a:pt x="1569" y="789"/>
                      <a:pt x="1554" y="791"/>
                      <a:pt x="1540" y="793"/>
                    </a:cubicBezTo>
                    <a:cubicBezTo>
                      <a:pt x="1542" y="804"/>
                      <a:pt x="1542" y="804"/>
                      <a:pt x="1542" y="804"/>
                    </a:cubicBezTo>
                    <a:cubicBezTo>
                      <a:pt x="1542" y="817"/>
                      <a:pt x="1546" y="877"/>
                      <a:pt x="1597" y="899"/>
                    </a:cubicBezTo>
                    <a:cubicBezTo>
                      <a:pt x="1635" y="916"/>
                      <a:pt x="1802" y="1009"/>
                      <a:pt x="1836" y="1028"/>
                    </a:cubicBezTo>
                    <a:cubicBezTo>
                      <a:pt x="2017" y="1390"/>
                      <a:pt x="2017" y="1390"/>
                      <a:pt x="2017" y="1390"/>
                    </a:cubicBezTo>
                    <a:cubicBezTo>
                      <a:pt x="2020" y="1397"/>
                      <a:pt x="2028" y="1402"/>
                      <a:pt x="2036" y="1402"/>
                    </a:cubicBezTo>
                    <a:cubicBezTo>
                      <a:pt x="2038" y="1402"/>
                      <a:pt x="2041" y="1402"/>
                      <a:pt x="2043" y="1401"/>
                    </a:cubicBezTo>
                    <a:cubicBezTo>
                      <a:pt x="2066" y="1394"/>
                      <a:pt x="2085" y="1378"/>
                      <a:pt x="2097" y="1356"/>
                    </a:cubicBezTo>
                    <a:cubicBezTo>
                      <a:pt x="2108" y="1334"/>
                      <a:pt x="2110" y="1310"/>
                      <a:pt x="2102" y="1286"/>
                    </a:cubicBezTo>
                    <a:close/>
                    <a:moveTo>
                      <a:pt x="1652" y="273"/>
                    </a:moveTo>
                    <a:cubicBezTo>
                      <a:pt x="1660" y="270"/>
                      <a:pt x="1663" y="262"/>
                      <a:pt x="1664" y="258"/>
                    </a:cubicBezTo>
                    <a:cubicBezTo>
                      <a:pt x="1673" y="235"/>
                      <a:pt x="1688" y="160"/>
                      <a:pt x="1664" y="117"/>
                    </a:cubicBezTo>
                    <a:cubicBezTo>
                      <a:pt x="1660" y="110"/>
                      <a:pt x="1650" y="107"/>
                      <a:pt x="1642" y="111"/>
                    </a:cubicBezTo>
                    <a:cubicBezTo>
                      <a:pt x="1635" y="115"/>
                      <a:pt x="1632" y="125"/>
                      <a:pt x="1636" y="133"/>
                    </a:cubicBezTo>
                    <a:cubicBezTo>
                      <a:pt x="1653" y="163"/>
                      <a:pt x="1642" y="224"/>
                      <a:pt x="1635" y="243"/>
                    </a:cubicBezTo>
                    <a:cubicBezTo>
                      <a:pt x="1626" y="244"/>
                      <a:pt x="1605" y="245"/>
                      <a:pt x="1575" y="242"/>
                    </a:cubicBezTo>
                    <a:cubicBezTo>
                      <a:pt x="1566" y="241"/>
                      <a:pt x="1558" y="247"/>
                      <a:pt x="1557" y="256"/>
                    </a:cubicBezTo>
                    <a:cubicBezTo>
                      <a:pt x="1556" y="265"/>
                      <a:pt x="1563" y="273"/>
                      <a:pt x="1571" y="274"/>
                    </a:cubicBezTo>
                    <a:cubicBezTo>
                      <a:pt x="1588" y="276"/>
                      <a:pt x="1602" y="276"/>
                      <a:pt x="1615" y="276"/>
                    </a:cubicBezTo>
                    <a:cubicBezTo>
                      <a:pt x="1633" y="276"/>
                      <a:pt x="1646" y="275"/>
                      <a:pt x="1652" y="273"/>
                    </a:cubicBezTo>
                    <a:close/>
                    <a:moveTo>
                      <a:pt x="1634" y="248"/>
                    </a:moveTo>
                    <a:cubicBezTo>
                      <a:pt x="1634" y="248"/>
                      <a:pt x="1634" y="248"/>
                      <a:pt x="1634" y="248"/>
                    </a:cubicBezTo>
                    <a:close/>
                    <a:moveTo>
                      <a:pt x="1688" y="33"/>
                    </a:moveTo>
                    <a:cubicBezTo>
                      <a:pt x="1614" y="29"/>
                      <a:pt x="1642" y="10"/>
                      <a:pt x="1561" y="4"/>
                    </a:cubicBezTo>
                    <a:cubicBezTo>
                      <a:pt x="1491" y="0"/>
                      <a:pt x="1453" y="39"/>
                      <a:pt x="1433" y="74"/>
                    </a:cubicBezTo>
                    <a:cubicBezTo>
                      <a:pt x="1392" y="148"/>
                      <a:pt x="1463" y="230"/>
                      <a:pt x="1475" y="243"/>
                    </a:cubicBezTo>
                    <a:cubicBezTo>
                      <a:pt x="1476" y="244"/>
                      <a:pt x="1477" y="244"/>
                      <a:pt x="1477" y="242"/>
                    </a:cubicBezTo>
                    <a:cubicBezTo>
                      <a:pt x="1477" y="242"/>
                      <a:pt x="1477" y="242"/>
                      <a:pt x="1481" y="187"/>
                    </a:cubicBezTo>
                    <a:cubicBezTo>
                      <a:pt x="1481" y="187"/>
                      <a:pt x="1481" y="187"/>
                      <a:pt x="1481" y="187"/>
                    </a:cubicBezTo>
                    <a:cubicBezTo>
                      <a:pt x="1480" y="182"/>
                      <a:pt x="1456" y="125"/>
                      <a:pt x="1487" y="112"/>
                    </a:cubicBezTo>
                    <a:cubicBezTo>
                      <a:pt x="1519" y="97"/>
                      <a:pt x="1524" y="142"/>
                      <a:pt x="1524" y="149"/>
                    </a:cubicBezTo>
                    <a:cubicBezTo>
                      <a:pt x="1524" y="150"/>
                      <a:pt x="1525" y="150"/>
                      <a:pt x="1525" y="150"/>
                    </a:cubicBezTo>
                    <a:cubicBezTo>
                      <a:pt x="1529" y="151"/>
                      <a:pt x="1545" y="154"/>
                      <a:pt x="1546" y="150"/>
                    </a:cubicBezTo>
                    <a:cubicBezTo>
                      <a:pt x="1548" y="116"/>
                      <a:pt x="1562" y="98"/>
                      <a:pt x="1579" y="87"/>
                    </a:cubicBezTo>
                    <a:cubicBezTo>
                      <a:pt x="1612" y="67"/>
                      <a:pt x="1658" y="76"/>
                      <a:pt x="1666" y="74"/>
                    </a:cubicBezTo>
                    <a:cubicBezTo>
                      <a:pt x="1666" y="73"/>
                      <a:pt x="1667" y="73"/>
                      <a:pt x="1667" y="73"/>
                    </a:cubicBezTo>
                    <a:cubicBezTo>
                      <a:pt x="1672" y="57"/>
                      <a:pt x="1696" y="33"/>
                      <a:pt x="1688" y="33"/>
                    </a:cubicBezTo>
                    <a:close/>
                    <a:moveTo>
                      <a:pt x="1456" y="1286"/>
                    </a:moveTo>
                    <a:cubicBezTo>
                      <a:pt x="1334" y="925"/>
                      <a:pt x="1334" y="925"/>
                      <a:pt x="1334" y="925"/>
                    </a:cubicBezTo>
                    <a:cubicBezTo>
                      <a:pt x="1333" y="922"/>
                      <a:pt x="1331" y="919"/>
                      <a:pt x="1329" y="917"/>
                    </a:cubicBezTo>
                    <a:cubicBezTo>
                      <a:pt x="1144" y="728"/>
                      <a:pt x="1144" y="728"/>
                      <a:pt x="1144" y="728"/>
                    </a:cubicBezTo>
                    <a:cubicBezTo>
                      <a:pt x="1131" y="733"/>
                      <a:pt x="1116" y="739"/>
                      <a:pt x="1099" y="745"/>
                    </a:cubicBezTo>
                    <a:cubicBezTo>
                      <a:pt x="1294" y="944"/>
                      <a:pt x="1294" y="944"/>
                      <a:pt x="1294" y="944"/>
                    </a:cubicBezTo>
                    <a:cubicBezTo>
                      <a:pt x="1414" y="1300"/>
                      <a:pt x="1414" y="1300"/>
                      <a:pt x="1414" y="1300"/>
                    </a:cubicBezTo>
                    <a:cubicBezTo>
                      <a:pt x="1418" y="1312"/>
                      <a:pt x="1417" y="1325"/>
                      <a:pt x="1411" y="1336"/>
                    </a:cubicBezTo>
                    <a:cubicBezTo>
                      <a:pt x="1409" y="1342"/>
                      <a:pt x="1405" y="1346"/>
                      <a:pt x="1400" y="1350"/>
                    </a:cubicBezTo>
                    <a:cubicBezTo>
                      <a:pt x="1226" y="1002"/>
                      <a:pt x="1226" y="1002"/>
                      <a:pt x="1226" y="1002"/>
                    </a:cubicBezTo>
                    <a:cubicBezTo>
                      <a:pt x="1224" y="998"/>
                      <a:pt x="1221" y="995"/>
                      <a:pt x="1217" y="993"/>
                    </a:cubicBezTo>
                    <a:cubicBezTo>
                      <a:pt x="1209" y="988"/>
                      <a:pt x="1013" y="878"/>
                      <a:pt x="969" y="859"/>
                    </a:cubicBezTo>
                    <a:cubicBezTo>
                      <a:pt x="939" y="846"/>
                      <a:pt x="940" y="803"/>
                      <a:pt x="940" y="802"/>
                    </a:cubicBezTo>
                    <a:cubicBezTo>
                      <a:pt x="940" y="801"/>
                      <a:pt x="939" y="799"/>
                      <a:pt x="939" y="798"/>
                    </a:cubicBezTo>
                    <a:cubicBezTo>
                      <a:pt x="937" y="786"/>
                      <a:pt x="937" y="786"/>
                      <a:pt x="937" y="786"/>
                    </a:cubicBezTo>
                    <a:cubicBezTo>
                      <a:pt x="923" y="789"/>
                      <a:pt x="908" y="791"/>
                      <a:pt x="894" y="793"/>
                    </a:cubicBezTo>
                    <a:cubicBezTo>
                      <a:pt x="896" y="804"/>
                      <a:pt x="896" y="804"/>
                      <a:pt x="896" y="804"/>
                    </a:cubicBezTo>
                    <a:cubicBezTo>
                      <a:pt x="896" y="817"/>
                      <a:pt x="900" y="877"/>
                      <a:pt x="951" y="899"/>
                    </a:cubicBezTo>
                    <a:cubicBezTo>
                      <a:pt x="989" y="916"/>
                      <a:pt x="1156" y="1009"/>
                      <a:pt x="1190" y="1028"/>
                    </a:cubicBezTo>
                    <a:cubicBezTo>
                      <a:pt x="1371" y="1390"/>
                      <a:pt x="1371" y="1390"/>
                      <a:pt x="1371" y="1390"/>
                    </a:cubicBezTo>
                    <a:cubicBezTo>
                      <a:pt x="1374" y="1397"/>
                      <a:pt x="1382" y="1402"/>
                      <a:pt x="1390" y="1402"/>
                    </a:cubicBezTo>
                    <a:cubicBezTo>
                      <a:pt x="1392" y="1402"/>
                      <a:pt x="1395" y="1402"/>
                      <a:pt x="1397" y="1401"/>
                    </a:cubicBezTo>
                    <a:cubicBezTo>
                      <a:pt x="1420" y="1394"/>
                      <a:pt x="1439" y="1378"/>
                      <a:pt x="1451" y="1356"/>
                    </a:cubicBezTo>
                    <a:cubicBezTo>
                      <a:pt x="1462" y="1334"/>
                      <a:pt x="1464" y="1310"/>
                      <a:pt x="1456" y="1286"/>
                    </a:cubicBezTo>
                    <a:close/>
                    <a:moveTo>
                      <a:pt x="1006" y="273"/>
                    </a:moveTo>
                    <a:cubicBezTo>
                      <a:pt x="1014" y="270"/>
                      <a:pt x="1017" y="262"/>
                      <a:pt x="1018" y="258"/>
                    </a:cubicBezTo>
                    <a:cubicBezTo>
                      <a:pt x="1027" y="235"/>
                      <a:pt x="1042" y="160"/>
                      <a:pt x="1018" y="117"/>
                    </a:cubicBezTo>
                    <a:cubicBezTo>
                      <a:pt x="1014" y="110"/>
                      <a:pt x="1004" y="107"/>
                      <a:pt x="996" y="111"/>
                    </a:cubicBezTo>
                    <a:cubicBezTo>
                      <a:pt x="989" y="115"/>
                      <a:pt x="986" y="125"/>
                      <a:pt x="990" y="133"/>
                    </a:cubicBezTo>
                    <a:cubicBezTo>
                      <a:pt x="1007" y="163"/>
                      <a:pt x="996" y="224"/>
                      <a:pt x="989" y="243"/>
                    </a:cubicBezTo>
                    <a:cubicBezTo>
                      <a:pt x="980" y="244"/>
                      <a:pt x="959" y="245"/>
                      <a:pt x="929" y="242"/>
                    </a:cubicBezTo>
                    <a:cubicBezTo>
                      <a:pt x="920" y="241"/>
                      <a:pt x="912" y="247"/>
                      <a:pt x="911" y="256"/>
                    </a:cubicBezTo>
                    <a:cubicBezTo>
                      <a:pt x="910" y="265"/>
                      <a:pt x="917" y="273"/>
                      <a:pt x="925" y="274"/>
                    </a:cubicBezTo>
                    <a:cubicBezTo>
                      <a:pt x="942" y="276"/>
                      <a:pt x="956" y="276"/>
                      <a:pt x="969" y="276"/>
                    </a:cubicBezTo>
                    <a:cubicBezTo>
                      <a:pt x="987" y="276"/>
                      <a:pt x="1000" y="275"/>
                      <a:pt x="1006" y="273"/>
                    </a:cubicBezTo>
                    <a:close/>
                    <a:moveTo>
                      <a:pt x="988" y="248"/>
                    </a:moveTo>
                    <a:cubicBezTo>
                      <a:pt x="988" y="248"/>
                      <a:pt x="988" y="248"/>
                      <a:pt x="988" y="248"/>
                    </a:cubicBezTo>
                    <a:close/>
                    <a:moveTo>
                      <a:pt x="1042" y="33"/>
                    </a:moveTo>
                    <a:cubicBezTo>
                      <a:pt x="968" y="29"/>
                      <a:pt x="996" y="10"/>
                      <a:pt x="915" y="4"/>
                    </a:cubicBezTo>
                    <a:cubicBezTo>
                      <a:pt x="845" y="0"/>
                      <a:pt x="807" y="39"/>
                      <a:pt x="787" y="74"/>
                    </a:cubicBezTo>
                    <a:cubicBezTo>
                      <a:pt x="746" y="148"/>
                      <a:pt x="817" y="230"/>
                      <a:pt x="829" y="243"/>
                    </a:cubicBezTo>
                    <a:cubicBezTo>
                      <a:pt x="830" y="244"/>
                      <a:pt x="831" y="244"/>
                      <a:pt x="831" y="242"/>
                    </a:cubicBezTo>
                    <a:cubicBezTo>
                      <a:pt x="831" y="242"/>
                      <a:pt x="831" y="242"/>
                      <a:pt x="835" y="187"/>
                    </a:cubicBezTo>
                    <a:cubicBezTo>
                      <a:pt x="835" y="187"/>
                      <a:pt x="835" y="187"/>
                      <a:pt x="835" y="187"/>
                    </a:cubicBezTo>
                    <a:cubicBezTo>
                      <a:pt x="834" y="182"/>
                      <a:pt x="810" y="125"/>
                      <a:pt x="841" y="112"/>
                    </a:cubicBezTo>
                    <a:cubicBezTo>
                      <a:pt x="873" y="97"/>
                      <a:pt x="878" y="142"/>
                      <a:pt x="878" y="149"/>
                    </a:cubicBezTo>
                    <a:cubicBezTo>
                      <a:pt x="878" y="150"/>
                      <a:pt x="879" y="150"/>
                      <a:pt x="879" y="150"/>
                    </a:cubicBezTo>
                    <a:cubicBezTo>
                      <a:pt x="883" y="151"/>
                      <a:pt x="899" y="154"/>
                      <a:pt x="900" y="150"/>
                    </a:cubicBezTo>
                    <a:cubicBezTo>
                      <a:pt x="902" y="116"/>
                      <a:pt x="916" y="98"/>
                      <a:pt x="933" y="87"/>
                    </a:cubicBezTo>
                    <a:cubicBezTo>
                      <a:pt x="966" y="67"/>
                      <a:pt x="1012" y="76"/>
                      <a:pt x="1020" y="74"/>
                    </a:cubicBezTo>
                    <a:cubicBezTo>
                      <a:pt x="1020" y="73"/>
                      <a:pt x="1021" y="73"/>
                      <a:pt x="1021" y="73"/>
                    </a:cubicBezTo>
                    <a:cubicBezTo>
                      <a:pt x="1026" y="57"/>
                      <a:pt x="1050" y="33"/>
                      <a:pt x="1042" y="33"/>
                    </a:cubicBezTo>
                    <a:close/>
                    <a:moveTo>
                      <a:pt x="155" y="582"/>
                    </a:moveTo>
                    <a:cubicBezTo>
                      <a:pt x="67" y="598"/>
                      <a:pt x="0" y="676"/>
                      <a:pt x="0" y="768"/>
                    </a:cubicBezTo>
                    <a:cubicBezTo>
                      <a:pt x="0" y="1061"/>
                      <a:pt x="0" y="1061"/>
                      <a:pt x="0" y="1061"/>
                    </a:cubicBezTo>
                    <a:cubicBezTo>
                      <a:pt x="0" y="1073"/>
                      <a:pt x="10" y="1083"/>
                      <a:pt x="22" y="1083"/>
                    </a:cubicBezTo>
                    <a:cubicBezTo>
                      <a:pt x="34" y="1083"/>
                      <a:pt x="44" y="1073"/>
                      <a:pt x="44" y="1061"/>
                    </a:cubicBezTo>
                    <a:cubicBezTo>
                      <a:pt x="44" y="768"/>
                      <a:pt x="44" y="768"/>
                      <a:pt x="44" y="768"/>
                    </a:cubicBezTo>
                    <a:cubicBezTo>
                      <a:pt x="44" y="697"/>
                      <a:pt x="95" y="638"/>
                      <a:pt x="163" y="625"/>
                    </a:cubicBezTo>
                    <a:lnTo>
                      <a:pt x="155" y="582"/>
                    </a:lnTo>
                    <a:close/>
                    <a:moveTo>
                      <a:pt x="713" y="623"/>
                    </a:moveTo>
                    <a:cubicBezTo>
                      <a:pt x="808" y="623"/>
                      <a:pt x="808" y="623"/>
                      <a:pt x="808" y="623"/>
                    </a:cubicBezTo>
                    <a:cubicBezTo>
                      <a:pt x="800" y="579"/>
                      <a:pt x="800" y="579"/>
                      <a:pt x="800" y="579"/>
                    </a:cubicBezTo>
                    <a:cubicBezTo>
                      <a:pt x="719" y="579"/>
                      <a:pt x="719" y="579"/>
                      <a:pt x="719" y="579"/>
                    </a:cubicBezTo>
                    <a:cubicBezTo>
                      <a:pt x="723" y="594"/>
                      <a:pt x="721" y="610"/>
                      <a:pt x="713" y="623"/>
                    </a:cubicBezTo>
                    <a:close/>
                    <a:moveTo>
                      <a:pt x="1359" y="623"/>
                    </a:moveTo>
                    <a:cubicBezTo>
                      <a:pt x="1454" y="623"/>
                      <a:pt x="1454" y="623"/>
                      <a:pt x="1454" y="623"/>
                    </a:cubicBezTo>
                    <a:cubicBezTo>
                      <a:pt x="1446" y="579"/>
                      <a:pt x="1446" y="579"/>
                      <a:pt x="1446" y="579"/>
                    </a:cubicBezTo>
                    <a:cubicBezTo>
                      <a:pt x="1365" y="579"/>
                      <a:pt x="1365" y="579"/>
                      <a:pt x="1365" y="579"/>
                    </a:cubicBezTo>
                    <a:cubicBezTo>
                      <a:pt x="1369" y="594"/>
                      <a:pt x="1367" y="610"/>
                      <a:pt x="1359" y="623"/>
                    </a:cubicBezTo>
                    <a:close/>
                    <a:moveTo>
                      <a:pt x="2126" y="579"/>
                    </a:moveTo>
                    <a:cubicBezTo>
                      <a:pt x="2011" y="579"/>
                      <a:pt x="2011" y="579"/>
                      <a:pt x="2011" y="579"/>
                    </a:cubicBezTo>
                    <a:cubicBezTo>
                      <a:pt x="2015" y="594"/>
                      <a:pt x="2013" y="610"/>
                      <a:pt x="2005" y="623"/>
                    </a:cubicBezTo>
                    <a:cubicBezTo>
                      <a:pt x="2126" y="623"/>
                      <a:pt x="2126" y="623"/>
                      <a:pt x="2126" y="623"/>
                    </a:cubicBezTo>
                    <a:cubicBezTo>
                      <a:pt x="2138" y="623"/>
                      <a:pt x="2148" y="613"/>
                      <a:pt x="2148" y="601"/>
                    </a:cubicBezTo>
                    <a:cubicBezTo>
                      <a:pt x="2148" y="589"/>
                      <a:pt x="2138" y="579"/>
                      <a:pt x="2126" y="579"/>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grpSp>
      </p:grpSp>
      <p:sp>
        <p:nvSpPr>
          <p:cNvPr id="226" name="ee4pHeader1">
            <a:extLst>
              <a:ext uri="{FF2B5EF4-FFF2-40B4-BE49-F238E27FC236}">
                <a16:creationId xmlns:a16="http://schemas.microsoft.com/office/drawing/2014/main" id="{CCCCAD6E-D30E-4E0A-AFC4-3FA1E1DBE79F}"/>
              </a:ext>
            </a:extLst>
          </p:cNvPr>
          <p:cNvSpPr txBox="1"/>
          <p:nvPr/>
        </p:nvSpPr>
        <p:spPr>
          <a:xfrm>
            <a:off x="1106274" y="1762602"/>
            <a:ext cx="1348981" cy="469263"/>
          </a:xfrm>
          <a:prstGeom prst="rect">
            <a:avLst/>
          </a:prstGeom>
          <a:noFill/>
          <a:ln cap="rnd">
            <a:noFill/>
          </a:ln>
        </p:spPr>
        <p:txBody>
          <a:bodyPr vert="horz" wrap="square" lIns="0" tIns="0" rIns="0" bIns="0" rtlCol="0" anchor="ctr" anchorCtr="0">
            <a:noAutofit/>
          </a:bodyPr>
          <a:lstStyle/>
          <a:p>
            <a:pPr>
              <a:buSzPct val="100000"/>
              <a:buFont typeface="Trebuchet MS" panose="020B0603020202020204" pitchFamily="34" charset="0"/>
              <a:buChar char="​"/>
            </a:pPr>
            <a:r>
              <a:rPr lang="en-US" sz="1400">
                <a:solidFill>
                  <a:srgbClr val="29BA74"/>
                </a:solidFill>
                <a:sym typeface="+mn-lt"/>
              </a:rPr>
              <a:t>Customer DNA</a:t>
            </a:r>
          </a:p>
        </p:txBody>
      </p:sp>
      <p:grpSp>
        <p:nvGrpSpPr>
          <p:cNvPr id="227" name="Group 226">
            <a:extLst>
              <a:ext uri="{FF2B5EF4-FFF2-40B4-BE49-F238E27FC236}">
                <a16:creationId xmlns:a16="http://schemas.microsoft.com/office/drawing/2014/main" id="{D072AE8E-0E1F-4AB7-9AF6-096A8F1D912F}"/>
              </a:ext>
            </a:extLst>
          </p:cNvPr>
          <p:cNvGrpSpPr>
            <a:grpSpLocks/>
          </p:cNvGrpSpPr>
          <p:nvPr/>
        </p:nvGrpSpPr>
        <p:grpSpPr>
          <a:xfrm>
            <a:off x="630000" y="1814354"/>
            <a:ext cx="365760" cy="365760"/>
            <a:chOff x="5273675" y="2606675"/>
            <a:chExt cx="1646238" cy="1644650"/>
          </a:xfrm>
        </p:grpSpPr>
        <p:sp>
          <p:nvSpPr>
            <p:cNvPr id="228" name="AutoShape 3">
              <a:extLst>
                <a:ext uri="{FF2B5EF4-FFF2-40B4-BE49-F238E27FC236}">
                  <a16:creationId xmlns:a16="http://schemas.microsoft.com/office/drawing/2014/main" id="{9E830235-8BA4-44FC-A290-8107B14065D1}"/>
                </a:ext>
              </a:extLst>
            </p:cNvPr>
            <p:cNvSpPr>
              <a:spLocks noChangeAspect="1" noChangeArrowheads="1" noTextEdit="1"/>
            </p:cNvSpPr>
            <p:nvPr/>
          </p:nvSpPr>
          <p:spPr bwMode="auto">
            <a:xfrm>
              <a:off x="5273675"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grpSp>
          <p:nvGrpSpPr>
            <p:cNvPr id="229" name="Group 228">
              <a:extLst>
                <a:ext uri="{FF2B5EF4-FFF2-40B4-BE49-F238E27FC236}">
                  <a16:creationId xmlns:a16="http://schemas.microsoft.com/office/drawing/2014/main" id="{CE4834A1-36A1-4731-BAD9-3693ADA25EC9}"/>
                </a:ext>
              </a:extLst>
            </p:cNvPr>
            <p:cNvGrpSpPr/>
            <p:nvPr/>
          </p:nvGrpSpPr>
          <p:grpSpPr>
            <a:xfrm>
              <a:off x="5403692" y="2736691"/>
              <a:ext cx="1386206" cy="1386047"/>
              <a:chOff x="5403692" y="2736691"/>
              <a:chExt cx="1386206" cy="1386047"/>
            </a:xfrm>
          </p:grpSpPr>
          <p:sp>
            <p:nvSpPr>
              <p:cNvPr id="230" name="Freeform 10">
                <a:extLst>
                  <a:ext uri="{FF2B5EF4-FFF2-40B4-BE49-F238E27FC236}">
                    <a16:creationId xmlns:a16="http://schemas.microsoft.com/office/drawing/2014/main" id="{5B3D3F86-C9E1-4AF3-8718-3AD65BEABC6C}"/>
                  </a:ext>
                </a:extLst>
              </p:cNvPr>
              <p:cNvSpPr>
                <a:spLocks/>
              </p:cNvSpPr>
              <p:nvPr/>
            </p:nvSpPr>
            <p:spPr bwMode="auto">
              <a:xfrm>
                <a:off x="5559425" y="2892424"/>
                <a:ext cx="1076325" cy="1074738"/>
              </a:xfrm>
              <a:custGeom>
                <a:avLst/>
                <a:gdLst>
                  <a:gd name="connsiteX0" fmla="*/ 172708 w 1076325"/>
                  <a:gd name="connsiteY0" fmla="*/ 952336 h 1074738"/>
                  <a:gd name="connsiteX1" fmla="*/ 183563 w 1076325"/>
                  <a:gd name="connsiteY1" fmla="*/ 956606 h 1074738"/>
                  <a:gd name="connsiteX2" fmla="*/ 260350 w 1076325"/>
                  <a:gd name="connsiteY2" fmla="*/ 1032751 h 1074738"/>
                  <a:gd name="connsiteX3" fmla="*/ 258197 w 1076325"/>
                  <a:gd name="connsiteY3" fmla="*/ 1074738 h 1074738"/>
                  <a:gd name="connsiteX4" fmla="*/ 161316 w 1076325"/>
                  <a:gd name="connsiteY4" fmla="*/ 978667 h 1074738"/>
                  <a:gd name="connsiteX5" fmla="*/ 161316 w 1076325"/>
                  <a:gd name="connsiteY5" fmla="*/ 956606 h 1074738"/>
                  <a:gd name="connsiteX6" fmla="*/ 172708 w 1076325"/>
                  <a:gd name="connsiteY6" fmla="*/ 952336 h 1074738"/>
                  <a:gd name="connsiteX7" fmla="*/ 255786 w 1076325"/>
                  <a:gd name="connsiteY7" fmla="*/ 872972 h 1074738"/>
                  <a:gd name="connsiteX8" fmla="*/ 258763 w 1076325"/>
                  <a:gd name="connsiteY8" fmla="*/ 915988 h 1074738"/>
                  <a:gd name="connsiteX9" fmla="*/ 241647 w 1076325"/>
                  <a:gd name="connsiteY9" fmla="*/ 899499 h 1074738"/>
                  <a:gd name="connsiteX10" fmla="*/ 241647 w 1076325"/>
                  <a:gd name="connsiteY10" fmla="*/ 877274 h 1074738"/>
                  <a:gd name="connsiteX11" fmla="*/ 255786 w 1076325"/>
                  <a:gd name="connsiteY11" fmla="*/ 872972 h 1074738"/>
                  <a:gd name="connsiteX12" fmla="*/ 158750 w 1076325"/>
                  <a:gd name="connsiteY12" fmla="*/ 817563 h 1074738"/>
                  <a:gd name="connsiteX13" fmla="*/ 201766 w 1076325"/>
                  <a:gd name="connsiteY13" fmla="*/ 820315 h 1074738"/>
                  <a:gd name="connsiteX14" fmla="*/ 197464 w 1076325"/>
                  <a:gd name="connsiteY14" fmla="*/ 833386 h 1074738"/>
                  <a:gd name="connsiteX15" fmla="*/ 186710 w 1076325"/>
                  <a:gd name="connsiteY15" fmla="*/ 838201 h 1074738"/>
                  <a:gd name="connsiteX16" fmla="*/ 175239 w 1076325"/>
                  <a:gd name="connsiteY16" fmla="*/ 833386 h 1074738"/>
                  <a:gd name="connsiteX17" fmla="*/ 41986 w 1076325"/>
                  <a:gd name="connsiteY17" fmla="*/ 814388 h 1074738"/>
                  <a:gd name="connsiteX18" fmla="*/ 118132 w 1076325"/>
                  <a:gd name="connsiteY18" fmla="*/ 891063 h 1074738"/>
                  <a:gd name="connsiteX19" fmla="*/ 118132 w 1076325"/>
                  <a:gd name="connsiteY19" fmla="*/ 913277 h 1074738"/>
                  <a:gd name="connsiteX20" fmla="*/ 106745 w 1076325"/>
                  <a:gd name="connsiteY20" fmla="*/ 917576 h 1074738"/>
                  <a:gd name="connsiteX21" fmla="*/ 96071 w 1076325"/>
                  <a:gd name="connsiteY21" fmla="*/ 913277 h 1074738"/>
                  <a:gd name="connsiteX22" fmla="*/ 0 w 1076325"/>
                  <a:gd name="connsiteY22" fmla="*/ 816538 h 1074738"/>
                  <a:gd name="connsiteX23" fmla="*/ 41986 w 1076325"/>
                  <a:gd name="connsiteY23" fmla="*/ 814388 h 1074738"/>
                  <a:gd name="connsiteX24" fmla="*/ 412161 w 1076325"/>
                  <a:gd name="connsiteY24" fmla="*/ 712807 h 1074738"/>
                  <a:gd name="connsiteX25" fmla="*/ 423409 w 1076325"/>
                  <a:gd name="connsiteY25" fmla="*/ 717630 h 1074738"/>
                  <a:gd name="connsiteX26" fmla="*/ 444501 w 1076325"/>
                  <a:gd name="connsiteY26" fmla="*/ 739775 h 1074738"/>
                  <a:gd name="connsiteX27" fmla="*/ 399506 w 1076325"/>
                  <a:gd name="connsiteY27" fmla="*/ 737632 h 1074738"/>
                  <a:gd name="connsiteX28" fmla="*/ 400912 w 1076325"/>
                  <a:gd name="connsiteY28" fmla="*/ 717630 h 1074738"/>
                  <a:gd name="connsiteX29" fmla="*/ 412161 w 1076325"/>
                  <a:gd name="connsiteY29" fmla="*/ 712807 h 1074738"/>
                  <a:gd name="connsiteX30" fmla="*/ 490406 w 1076325"/>
                  <a:gd name="connsiteY30" fmla="*/ 633434 h 1074738"/>
                  <a:gd name="connsiteX31" fmla="*/ 501809 w 1076325"/>
                  <a:gd name="connsiteY31" fmla="*/ 638259 h 1074738"/>
                  <a:gd name="connsiteX32" fmla="*/ 601663 w 1076325"/>
                  <a:gd name="connsiteY32" fmla="*/ 736916 h 1074738"/>
                  <a:gd name="connsiteX33" fmla="*/ 559997 w 1076325"/>
                  <a:gd name="connsiteY33" fmla="*/ 739775 h 1074738"/>
                  <a:gd name="connsiteX34" fmla="*/ 479540 w 1076325"/>
                  <a:gd name="connsiteY34" fmla="*/ 660421 h 1074738"/>
                  <a:gd name="connsiteX35" fmla="*/ 479540 w 1076325"/>
                  <a:gd name="connsiteY35" fmla="*/ 638259 h 1074738"/>
                  <a:gd name="connsiteX36" fmla="*/ 490406 w 1076325"/>
                  <a:gd name="connsiteY36" fmla="*/ 633434 h 1074738"/>
                  <a:gd name="connsiteX37" fmla="*/ 334963 w 1076325"/>
                  <a:gd name="connsiteY37" fmla="*/ 630238 h 1074738"/>
                  <a:gd name="connsiteX38" fmla="*/ 357108 w 1076325"/>
                  <a:gd name="connsiteY38" fmla="*/ 651950 h 1074738"/>
                  <a:gd name="connsiteX39" fmla="*/ 357108 w 1076325"/>
                  <a:gd name="connsiteY39" fmla="*/ 675109 h 1074738"/>
                  <a:gd name="connsiteX40" fmla="*/ 345678 w 1076325"/>
                  <a:gd name="connsiteY40" fmla="*/ 679451 h 1074738"/>
                  <a:gd name="connsiteX41" fmla="*/ 337106 w 1076325"/>
                  <a:gd name="connsiteY41" fmla="*/ 676556 h 1074738"/>
                  <a:gd name="connsiteX42" fmla="*/ 334963 w 1076325"/>
                  <a:gd name="connsiteY42" fmla="*/ 630238 h 1074738"/>
                  <a:gd name="connsiteX43" fmla="*/ 571127 w 1076325"/>
                  <a:gd name="connsiteY43" fmla="*/ 553882 h 1074738"/>
                  <a:gd name="connsiteX44" fmla="*/ 581954 w 1076325"/>
                  <a:gd name="connsiteY44" fmla="*/ 558176 h 1074738"/>
                  <a:gd name="connsiteX45" fmla="*/ 714376 w 1076325"/>
                  <a:gd name="connsiteY45" fmla="*/ 690598 h 1074738"/>
                  <a:gd name="connsiteX46" fmla="*/ 705070 w 1076325"/>
                  <a:gd name="connsiteY46" fmla="*/ 703483 h 1074738"/>
                  <a:gd name="connsiteX47" fmla="*/ 692186 w 1076325"/>
                  <a:gd name="connsiteY47" fmla="*/ 712788 h 1074738"/>
                  <a:gd name="connsiteX48" fmla="*/ 559764 w 1076325"/>
                  <a:gd name="connsiteY48" fmla="*/ 580366 h 1074738"/>
                  <a:gd name="connsiteX49" fmla="*/ 559764 w 1076325"/>
                  <a:gd name="connsiteY49" fmla="*/ 558176 h 1074738"/>
                  <a:gd name="connsiteX50" fmla="*/ 571127 w 1076325"/>
                  <a:gd name="connsiteY50" fmla="*/ 553882 h 1074738"/>
                  <a:gd name="connsiteX51" fmla="*/ 650660 w 1076325"/>
                  <a:gd name="connsiteY51" fmla="*/ 474672 h 1074738"/>
                  <a:gd name="connsiteX52" fmla="*/ 662009 w 1076325"/>
                  <a:gd name="connsiteY52" fmla="*/ 479461 h 1074738"/>
                  <a:gd name="connsiteX53" fmla="*/ 741363 w 1076325"/>
                  <a:gd name="connsiteY53" fmla="*/ 558924 h 1074738"/>
                  <a:gd name="connsiteX54" fmla="*/ 738503 w 1076325"/>
                  <a:gd name="connsiteY54" fmla="*/ 600075 h 1074738"/>
                  <a:gd name="connsiteX55" fmla="*/ 639847 w 1076325"/>
                  <a:gd name="connsiteY55" fmla="*/ 501455 h 1074738"/>
                  <a:gd name="connsiteX56" fmla="*/ 639847 w 1076325"/>
                  <a:gd name="connsiteY56" fmla="*/ 479461 h 1074738"/>
                  <a:gd name="connsiteX57" fmla="*/ 650660 w 1076325"/>
                  <a:gd name="connsiteY57" fmla="*/ 474672 h 1074738"/>
                  <a:gd name="connsiteX58" fmla="*/ 337822 w 1076325"/>
                  <a:gd name="connsiteY58" fmla="*/ 473075 h 1074738"/>
                  <a:gd name="connsiteX59" fmla="*/ 436479 w 1076325"/>
                  <a:gd name="connsiteY59" fmla="*/ 572810 h 1074738"/>
                  <a:gd name="connsiteX60" fmla="*/ 436479 w 1076325"/>
                  <a:gd name="connsiteY60" fmla="*/ 595053 h 1074738"/>
                  <a:gd name="connsiteX61" fmla="*/ 425755 w 1076325"/>
                  <a:gd name="connsiteY61" fmla="*/ 600075 h 1074738"/>
                  <a:gd name="connsiteX62" fmla="*/ 414317 w 1076325"/>
                  <a:gd name="connsiteY62" fmla="*/ 595053 h 1074738"/>
                  <a:gd name="connsiteX63" fmla="*/ 334963 w 1076325"/>
                  <a:gd name="connsiteY63" fmla="*/ 514691 h 1074738"/>
                  <a:gd name="connsiteX64" fmla="*/ 337822 w 1076325"/>
                  <a:gd name="connsiteY64" fmla="*/ 473075 h 1074738"/>
                  <a:gd name="connsiteX65" fmla="*/ 728951 w 1076325"/>
                  <a:gd name="connsiteY65" fmla="*/ 395242 h 1074738"/>
                  <a:gd name="connsiteX66" fmla="*/ 739220 w 1076325"/>
                  <a:gd name="connsiteY66" fmla="*/ 398054 h 1074738"/>
                  <a:gd name="connsiteX67" fmla="*/ 741363 w 1076325"/>
                  <a:gd name="connsiteY67" fmla="*/ 444500 h 1074738"/>
                  <a:gd name="connsiteX68" fmla="*/ 719217 w 1076325"/>
                  <a:gd name="connsiteY68" fmla="*/ 422729 h 1074738"/>
                  <a:gd name="connsiteX69" fmla="*/ 719217 w 1076325"/>
                  <a:gd name="connsiteY69" fmla="*/ 399506 h 1074738"/>
                  <a:gd name="connsiteX70" fmla="*/ 728951 w 1076325"/>
                  <a:gd name="connsiteY70" fmla="*/ 395242 h 1074738"/>
                  <a:gd name="connsiteX71" fmla="*/ 384139 w 1076325"/>
                  <a:gd name="connsiteY71" fmla="*/ 361950 h 1074738"/>
                  <a:gd name="connsiteX72" fmla="*/ 516561 w 1076325"/>
                  <a:gd name="connsiteY72" fmla="*/ 494242 h 1074738"/>
                  <a:gd name="connsiteX73" fmla="*/ 516561 w 1076325"/>
                  <a:gd name="connsiteY73" fmla="*/ 516410 h 1074738"/>
                  <a:gd name="connsiteX74" fmla="*/ 505109 w 1076325"/>
                  <a:gd name="connsiteY74" fmla="*/ 520700 h 1074738"/>
                  <a:gd name="connsiteX75" fmla="*/ 494372 w 1076325"/>
                  <a:gd name="connsiteY75" fmla="*/ 516410 h 1074738"/>
                  <a:gd name="connsiteX76" fmla="*/ 361950 w 1076325"/>
                  <a:gd name="connsiteY76" fmla="*/ 384118 h 1074738"/>
                  <a:gd name="connsiteX77" fmla="*/ 371255 w 1076325"/>
                  <a:gd name="connsiteY77" fmla="*/ 371246 h 1074738"/>
                  <a:gd name="connsiteX78" fmla="*/ 384139 w 1076325"/>
                  <a:gd name="connsiteY78" fmla="*/ 361950 h 1074738"/>
                  <a:gd name="connsiteX79" fmla="*/ 631825 w 1076325"/>
                  <a:gd name="connsiteY79" fmla="*/ 334963 h 1074738"/>
                  <a:gd name="connsiteX80" fmla="*/ 676819 w 1076325"/>
                  <a:gd name="connsiteY80" fmla="*/ 337023 h 1074738"/>
                  <a:gd name="connsiteX81" fmla="*/ 675413 w 1076325"/>
                  <a:gd name="connsiteY81" fmla="*/ 356244 h 1074738"/>
                  <a:gd name="connsiteX82" fmla="*/ 664165 w 1076325"/>
                  <a:gd name="connsiteY82" fmla="*/ 360363 h 1074738"/>
                  <a:gd name="connsiteX83" fmla="*/ 652916 w 1076325"/>
                  <a:gd name="connsiteY83" fmla="*/ 356244 h 1074738"/>
                  <a:gd name="connsiteX84" fmla="*/ 631825 w 1076325"/>
                  <a:gd name="connsiteY84" fmla="*/ 334963 h 1074738"/>
                  <a:gd name="connsiteX85" fmla="*/ 515814 w 1076325"/>
                  <a:gd name="connsiteY85" fmla="*/ 334963 h 1074738"/>
                  <a:gd name="connsiteX86" fmla="*/ 595277 w 1076325"/>
                  <a:gd name="connsiteY86" fmla="*/ 414200 h 1074738"/>
                  <a:gd name="connsiteX87" fmla="*/ 595277 w 1076325"/>
                  <a:gd name="connsiteY87" fmla="*/ 436329 h 1074738"/>
                  <a:gd name="connsiteX88" fmla="*/ 584635 w 1076325"/>
                  <a:gd name="connsiteY88" fmla="*/ 441326 h 1074738"/>
                  <a:gd name="connsiteX89" fmla="*/ 573283 w 1076325"/>
                  <a:gd name="connsiteY89" fmla="*/ 436329 h 1074738"/>
                  <a:gd name="connsiteX90" fmla="*/ 474663 w 1076325"/>
                  <a:gd name="connsiteY90" fmla="*/ 337819 h 1074738"/>
                  <a:gd name="connsiteX91" fmla="*/ 515814 w 1076325"/>
                  <a:gd name="connsiteY91" fmla="*/ 334963 h 1074738"/>
                  <a:gd name="connsiteX92" fmla="*/ 889704 w 1076325"/>
                  <a:gd name="connsiteY92" fmla="*/ 236513 h 1074738"/>
                  <a:gd name="connsiteX93" fmla="*/ 901085 w 1076325"/>
                  <a:gd name="connsiteY93" fmla="*/ 241201 h 1074738"/>
                  <a:gd name="connsiteX94" fmla="*/ 917575 w 1076325"/>
                  <a:gd name="connsiteY94" fmla="*/ 257175 h 1074738"/>
                  <a:gd name="connsiteX95" fmla="*/ 874559 w 1076325"/>
                  <a:gd name="connsiteY95" fmla="*/ 254397 h 1074738"/>
                  <a:gd name="connsiteX96" fmla="*/ 878860 w 1076325"/>
                  <a:gd name="connsiteY96" fmla="*/ 241201 h 1074738"/>
                  <a:gd name="connsiteX97" fmla="*/ 889704 w 1076325"/>
                  <a:gd name="connsiteY97" fmla="*/ 236513 h 1074738"/>
                  <a:gd name="connsiteX98" fmla="*/ 817563 w 1076325"/>
                  <a:gd name="connsiteY98" fmla="*/ 158750 h 1074738"/>
                  <a:gd name="connsiteX99" fmla="*/ 834678 w 1076325"/>
                  <a:gd name="connsiteY99" fmla="*/ 175510 h 1074738"/>
                  <a:gd name="connsiteX100" fmla="*/ 834678 w 1076325"/>
                  <a:gd name="connsiteY100" fmla="*/ 198099 h 1074738"/>
                  <a:gd name="connsiteX101" fmla="*/ 823516 w 1076325"/>
                  <a:gd name="connsiteY101" fmla="*/ 203200 h 1074738"/>
                  <a:gd name="connsiteX102" fmla="*/ 820539 w 1076325"/>
                  <a:gd name="connsiteY102" fmla="*/ 202471 h 1074738"/>
                  <a:gd name="connsiteX103" fmla="*/ 817563 w 1076325"/>
                  <a:gd name="connsiteY103" fmla="*/ 158750 h 1074738"/>
                  <a:gd name="connsiteX104" fmla="*/ 969491 w 1076325"/>
                  <a:gd name="connsiteY104" fmla="*/ 157010 h 1074738"/>
                  <a:gd name="connsiteX105" fmla="*/ 980254 w 1076325"/>
                  <a:gd name="connsiteY105" fmla="*/ 161316 h 1074738"/>
                  <a:gd name="connsiteX106" fmla="*/ 1076325 w 1076325"/>
                  <a:gd name="connsiteY106" fmla="*/ 258197 h 1074738"/>
                  <a:gd name="connsiteX107" fmla="*/ 1033627 w 1076325"/>
                  <a:gd name="connsiteY107" fmla="*/ 260350 h 1074738"/>
                  <a:gd name="connsiteX108" fmla="*/ 958193 w 1076325"/>
                  <a:gd name="connsiteY108" fmla="*/ 183563 h 1074738"/>
                  <a:gd name="connsiteX109" fmla="*/ 958193 w 1076325"/>
                  <a:gd name="connsiteY109" fmla="*/ 161316 h 1074738"/>
                  <a:gd name="connsiteX110" fmla="*/ 969491 w 1076325"/>
                  <a:gd name="connsiteY110" fmla="*/ 157010 h 1074738"/>
                  <a:gd name="connsiteX111" fmla="*/ 818128 w 1076325"/>
                  <a:gd name="connsiteY111" fmla="*/ 0 h 1074738"/>
                  <a:gd name="connsiteX112" fmla="*/ 915009 w 1076325"/>
                  <a:gd name="connsiteY112" fmla="*/ 95942 h 1074738"/>
                  <a:gd name="connsiteX113" fmla="*/ 915009 w 1076325"/>
                  <a:gd name="connsiteY113" fmla="*/ 117974 h 1074738"/>
                  <a:gd name="connsiteX114" fmla="*/ 903526 w 1076325"/>
                  <a:gd name="connsiteY114" fmla="*/ 122238 h 1074738"/>
                  <a:gd name="connsiteX115" fmla="*/ 892762 w 1076325"/>
                  <a:gd name="connsiteY115" fmla="*/ 117974 h 1074738"/>
                  <a:gd name="connsiteX116" fmla="*/ 815975 w 1076325"/>
                  <a:gd name="connsiteY116" fmla="*/ 41930 h 1074738"/>
                  <a:gd name="connsiteX117" fmla="*/ 818128 w 1076325"/>
                  <a:gd name="connsiteY117" fmla="*/ 0 h 1074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076325" h="1074738">
                    <a:moveTo>
                      <a:pt x="172708" y="952336"/>
                    </a:moveTo>
                    <a:cubicBezTo>
                      <a:pt x="176745" y="952336"/>
                      <a:pt x="180692" y="953760"/>
                      <a:pt x="183563" y="956606"/>
                    </a:cubicBezTo>
                    <a:cubicBezTo>
                      <a:pt x="183563" y="956606"/>
                      <a:pt x="183563" y="956606"/>
                      <a:pt x="260350" y="1032751"/>
                    </a:cubicBezTo>
                    <a:cubicBezTo>
                      <a:pt x="259632" y="1046984"/>
                      <a:pt x="258914" y="1061217"/>
                      <a:pt x="258197" y="1074738"/>
                    </a:cubicBezTo>
                    <a:cubicBezTo>
                      <a:pt x="258197" y="1074738"/>
                      <a:pt x="258197" y="1074738"/>
                      <a:pt x="161316" y="978667"/>
                    </a:cubicBezTo>
                    <a:cubicBezTo>
                      <a:pt x="155575" y="972974"/>
                      <a:pt x="155575" y="963011"/>
                      <a:pt x="161316" y="956606"/>
                    </a:cubicBezTo>
                    <a:cubicBezTo>
                      <a:pt x="164545" y="953760"/>
                      <a:pt x="168672" y="952336"/>
                      <a:pt x="172708" y="952336"/>
                    </a:cubicBezTo>
                    <a:close/>
                    <a:moveTo>
                      <a:pt x="255786" y="872972"/>
                    </a:moveTo>
                    <a:cubicBezTo>
                      <a:pt x="257274" y="887311"/>
                      <a:pt x="258019" y="901649"/>
                      <a:pt x="258763" y="915988"/>
                    </a:cubicBezTo>
                    <a:lnTo>
                      <a:pt x="241647" y="899499"/>
                    </a:lnTo>
                    <a:cubicBezTo>
                      <a:pt x="234950" y="893046"/>
                      <a:pt x="234950" y="883009"/>
                      <a:pt x="241647" y="877274"/>
                    </a:cubicBezTo>
                    <a:cubicBezTo>
                      <a:pt x="245368" y="872972"/>
                      <a:pt x="251321" y="871538"/>
                      <a:pt x="255786" y="872972"/>
                    </a:cubicBezTo>
                    <a:close/>
                    <a:moveTo>
                      <a:pt x="158750" y="817563"/>
                    </a:moveTo>
                    <a:cubicBezTo>
                      <a:pt x="173088" y="818251"/>
                      <a:pt x="187427" y="818939"/>
                      <a:pt x="201766" y="820315"/>
                    </a:cubicBezTo>
                    <a:cubicBezTo>
                      <a:pt x="203200" y="824442"/>
                      <a:pt x="201766" y="829946"/>
                      <a:pt x="197464" y="833386"/>
                    </a:cubicBezTo>
                    <a:cubicBezTo>
                      <a:pt x="194597" y="836825"/>
                      <a:pt x="190295" y="838201"/>
                      <a:pt x="186710" y="838201"/>
                    </a:cubicBezTo>
                    <a:cubicBezTo>
                      <a:pt x="182409" y="838201"/>
                      <a:pt x="178107" y="836825"/>
                      <a:pt x="175239" y="833386"/>
                    </a:cubicBezTo>
                    <a:close/>
                    <a:moveTo>
                      <a:pt x="41986" y="814388"/>
                    </a:moveTo>
                    <a:lnTo>
                      <a:pt x="118132" y="891063"/>
                    </a:lnTo>
                    <a:cubicBezTo>
                      <a:pt x="123825" y="896795"/>
                      <a:pt x="123825" y="906827"/>
                      <a:pt x="118132" y="913277"/>
                    </a:cubicBezTo>
                    <a:cubicBezTo>
                      <a:pt x="114573" y="916143"/>
                      <a:pt x="111015" y="917576"/>
                      <a:pt x="106745" y="917576"/>
                    </a:cubicBezTo>
                    <a:cubicBezTo>
                      <a:pt x="103187" y="917576"/>
                      <a:pt x="98917" y="916143"/>
                      <a:pt x="96071" y="913277"/>
                    </a:cubicBezTo>
                    <a:cubicBezTo>
                      <a:pt x="96071" y="913277"/>
                      <a:pt x="96071" y="913277"/>
                      <a:pt x="0" y="816538"/>
                    </a:cubicBezTo>
                    <a:cubicBezTo>
                      <a:pt x="13521" y="815821"/>
                      <a:pt x="27754" y="815105"/>
                      <a:pt x="41986" y="814388"/>
                    </a:cubicBezTo>
                    <a:close/>
                    <a:moveTo>
                      <a:pt x="412161" y="712807"/>
                    </a:moveTo>
                    <a:cubicBezTo>
                      <a:pt x="416203" y="712808"/>
                      <a:pt x="420246" y="714415"/>
                      <a:pt x="423409" y="717630"/>
                    </a:cubicBezTo>
                    <a:cubicBezTo>
                      <a:pt x="423409" y="717630"/>
                      <a:pt x="423409" y="717630"/>
                      <a:pt x="444501" y="739775"/>
                    </a:cubicBezTo>
                    <a:cubicBezTo>
                      <a:pt x="429737" y="739061"/>
                      <a:pt x="414270" y="738346"/>
                      <a:pt x="399506" y="737632"/>
                    </a:cubicBezTo>
                    <a:cubicBezTo>
                      <a:pt x="395288" y="731203"/>
                      <a:pt x="395991" y="723345"/>
                      <a:pt x="400912" y="717630"/>
                    </a:cubicBezTo>
                    <a:cubicBezTo>
                      <a:pt x="404076" y="714415"/>
                      <a:pt x="408118" y="712808"/>
                      <a:pt x="412161" y="712807"/>
                    </a:cubicBezTo>
                    <a:close/>
                    <a:moveTo>
                      <a:pt x="490406" y="633434"/>
                    </a:moveTo>
                    <a:cubicBezTo>
                      <a:pt x="494446" y="633434"/>
                      <a:pt x="498577" y="635042"/>
                      <a:pt x="501809" y="638259"/>
                    </a:cubicBezTo>
                    <a:cubicBezTo>
                      <a:pt x="501809" y="638259"/>
                      <a:pt x="501809" y="638259"/>
                      <a:pt x="601663" y="736916"/>
                    </a:cubicBezTo>
                    <a:cubicBezTo>
                      <a:pt x="588014" y="738345"/>
                      <a:pt x="574365" y="739775"/>
                      <a:pt x="559997" y="739775"/>
                    </a:cubicBezTo>
                    <a:cubicBezTo>
                      <a:pt x="559997" y="739775"/>
                      <a:pt x="559997" y="739775"/>
                      <a:pt x="479540" y="660421"/>
                    </a:cubicBezTo>
                    <a:cubicBezTo>
                      <a:pt x="473075" y="653987"/>
                      <a:pt x="473075" y="643978"/>
                      <a:pt x="479540" y="638259"/>
                    </a:cubicBezTo>
                    <a:cubicBezTo>
                      <a:pt x="482414" y="635042"/>
                      <a:pt x="486365" y="633434"/>
                      <a:pt x="490406" y="633434"/>
                    </a:cubicBezTo>
                    <a:close/>
                    <a:moveTo>
                      <a:pt x="334963" y="630238"/>
                    </a:moveTo>
                    <a:lnTo>
                      <a:pt x="357108" y="651950"/>
                    </a:lnTo>
                    <a:cubicBezTo>
                      <a:pt x="363538" y="658463"/>
                      <a:pt x="363538" y="668595"/>
                      <a:pt x="357108" y="675109"/>
                    </a:cubicBezTo>
                    <a:cubicBezTo>
                      <a:pt x="354251" y="678004"/>
                      <a:pt x="349965" y="679451"/>
                      <a:pt x="345678" y="679451"/>
                    </a:cubicBezTo>
                    <a:cubicBezTo>
                      <a:pt x="342821" y="679451"/>
                      <a:pt x="339963" y="678727"/>
                      <a:pt x="337106" y="676556"/>
                    </a:cubicBezTo>
                    <a:cubicBezTo>
                      <a:pt x="336392" y="661358"/>
                      <a:pt x="335677" y="645436"/>
                      <a:pt x="334963" y="630238"/>
                    </a:cubicBezTo>
                    <a:close/>
                    <a:moveTo>
                      <a:pt x="571127" y="553882"/>
                    </a:moveTo>
                    <a:cubicBezTo>
                      <a:pt x="575154" y="553882"/>
                      <a:pt x="579091" y="555313"/>
                      <a:pt x="581954" y="558176"/>
                    </a:cubicBezTo>
                    <a:cubicBezTo>
                      <a:pt x="581954" y="558176"/>
                      <a:pt x="581954" y="558176"/>
                      <a:pt x="714376" y="690598"/>
                    </a:cubicBezTo>
                    <a:cubicBezTo>
                      <a:pt x="711513" y="695609"/>
                      <a:pt x="708649" y="699904"/>
                      <a:pt x="705070" y="703483"/>
                    </a:cubicBezTo>
                    <a:cubicBezTo>
                      <a:pt x="701491" y="707062"/>
                      <a:pt x="697197" y="709925"/>
                      <a:pt x="692186" y="712788"/>
                    </a:cubicBezTo>
                    <a:cubicBezTo>
                      <a:pt x="692186" y="712788"/>
                      <a:pt x="692186" y="712788"/>
                      <a:pt x="559764" y="580366"/>
                    </a:cubicBezTo>
                    <a:cubicBezTo>
                      <a:pt x="554038" y="574640"/>
                      <a:pt x="554038" y="564619"/>
                      <a:pt x="559764" y="558176"/>
                    </a:cubicBezTo>
                    <a:cubicBezTo>
                      <a:pt x="562985" y="555313"/>
                      <a:pt x="567101" y="553882"/>
                      <a:pt x="571127" y="553882"/>
                    </a:cubicBezTo>
                    <a:close/>
                    <a:moveTo>
                      <a:pt x="650660" y="474672"/>
                    </a:moveTo>
                    <a:cubicBezTo>
                      <a:pt x="654681" y="474671"/>
                      <a:pt x="658792" y="476268"/>
                      <a:pt x="662009" y="479461"/>
                    </a:cubicBezTo>
                    <a:cubicBezTo>
                      <a:pt x="662009" y="479461"/>
                      <a:pt x="662009" y="479461"/>
                      <a:pt x="741363" y="558924"/>
                    </a:cubicBezTo>
                    <a:cubicBezTo>
                      <a:pt x="741363" y="573114"/>
                      <a:pt x="739933" y="586595"/>
                      <a:pt x="738503" y="600075"/>
                    </a:cubicBezTo>
                    <a:cubicBezTo>
                      <a:pt x="738503" y="600075"/>
                      <a:pt x="738503" y="600075"/>
                      <a:pt x="639847" y="501455"/>
                    </a:cubicBezTo>
                    <a:cubicBezTo>
                      <a:pt x="633413" y="495070"/>
                      <a:pt x="633413" y="485137"/>
                      <a:pt x="639847" y="479461"/>
                    </a:cubicBezTo>
                    <a:cubicBezTo>
                      <a:pt x="642707" y="476268"/>
                      <a:pt x="646639" y="474671"/>
                      <a:pt x="650660" y="474672"/>
                    </a:cubicBezTo>
                    <a:close/>
                    <a:moveTo>
                      <a:pt x="337822" y="473075"/>
                    </a:moveTo>
                    <a:cubicBezTo>
                      <a:pt x="337822" y="473075"/>
                      <a:pt x="337822" y="473075"/>
                      <a:pt x="436479" y="572810"/>
                    </a:cubicBezTo>
                    <a:cubicBezTo>
                      <a:pt x="442913" y="579267"/>
                      <a:pt x="442913" y="589312"/>
                      <a:pt x="436479" y="595053"/>
                    </a:cubicBezTo>
                    <a:cubicBezTo>
                      <a:pt x="433619" y="597923"/>
                      <a:pt x="429330" y="600075"/>
                      <a:pt x="425755" y="600075"/>
                    </a:cubicBezTo>
                    <a:cubicBezTo>
                      <a:pt x="421466" y="600075"/>
                      <a:pt x="417891" y="597923"/>
                      <a:pt x="414317" y="595053"/>
                    </a:cubicBezTo>
                    <a:cubicBezTo>
                      <a:pt x="414317" y="595053"/>
                      <a:pt x="414317" y="595053"/>
                      <a:pt x="334963" y="514691"/>
                    </a:cubicBezTo>
                    <a:cubicBezTo>
                      <a:pt x="334963" y="500341"/>
                      <a:pt x="336393" y="486708"/>
                      <a:pt x="337822" y="473075"/>
                    </a:cubicBezTo>
                    <a:close/>
                    <a:moveTo>
                      <a:pt x="728951" y="395242"/>
                    </a:moveTo>
                    <a:cubicBezTo>
                      <a:pt x="732433" y="394970"/>
                      <a:pt x="736005" y="395877"/>
                      <a:pt x="739220" y="398054"/>
                    </a:cubicBezTo>
                    <a:cubicBezTo>
                      <a:pt x="739934" y="413294"/>
                      <a:pt x="740648" y="429260"/>
                      <a:pt x="741363" y="444500"/>
                    </a:cubicBezTo>
                    <a:lnTo>
                      <a:pt x="719217" y="422729"/>
                    </a:lnTo>
                    <a:cubicBezTo>
                      <a:pt x="712788" y="416197"/>
                      <a:pt x="712788" y="406037"/>
                      <a:pt x="719217" y="399506"/>
                    </a:cubicBezTo>
                    <a:cubicBezTo>
                      <a:pt x="722075" y="396966"/>
                      <a:pt x="725468" y="395514"/>
                      <a:pt x="728951" y="395242"/>
                    </a:cubicBezTo>
                    <a:close/>
                    <a:moveTo>
                      <a:pt x="384139" y="361950"/>
                    </a:moveTo>
                    <a:cubicBezTo>
                      <a:pt x="384139" y="361950"/>
                      <a:pt x="384139" y="361950"/>
                      <a:pt x="516561" y="494242"/>
                    </a:cubicBezTo>
                    <a:cubicBezTo>
                      <a:pt x="522288" y="499963"/>
                      <a:pt x="522288" y="509974"/>
                      <a:pt x="516561" y="516410"/>
                    </a:cubicBezTo>
                    <a:cubicBezTo>
                      <a:pt x="512982" y="519270"/>
                      <a:pt x="509403" y="520700"/>
                      <a:pt x="505109" y="520700"/>
                    </a:cubicBezTo>
                    <a:cubicBezTo>
                      <a:pt x="501530" y="520700"/>
                      <a:pt x="497235" y="519270"/>
                      <a:pt x="494372" y="516410"/>
                    </a:cubicBezTo>
                    <a:cubicBezTo>
                      <a:pt x="494372" y="516410"/>
                      <a:pt x="494372" y="516410"/>
                      <a:pt x="361950" y="384118"/>
                    </a:cubicBezTo>
                    <a:cubicBezTo>
                      <a:pt x="364813" y="379112"/>
                      <a:pt x="367676" y="374822"/>
                      <a:pt x="371255" y="371246"/>
                    </a:cubicBezTo>
                    <a:cubicBezTo>
                      <a:pt x="374834" y="367671"/>
                      <a:pt x="379129" y="364810"/>
                      <a:pt x="384139" y="361950"/>
                    </a:cubicBezTo>
                    <a:close/>
                    <a:moveTo>
                      <a:pt x="631825" y="334963"/>
                    </a:moveTo>
                    <a:cubicBezTo>
                      <a:pt x="646589" y="335650"/>
                      <a:pt x="662056" y="336336"/>
                      <a:pt x="676819" y="337023"/>
                    </a:cubicBezTo>
                    <a:cubicBezTo>
                      <a:pt x="681038" y="343201"/>
                      <a:pt x="680335" y="350752"/>
                      <a:pt x="675413" y="356244"/>
                    </a:cubicBezTo>
                    <a:cubicBezTo>
                      <a:pt x="671898" y="358990"/>
                      <a:pt x="668383" y="360363"/>
                      <a:pt x="664165" y="360363"/>
                    </a:cubicBezTo>
                    <a:cubicBezTo>
                      <a:pt x="659946" y="360363"/>
                      <a:pt x="656431" y="358990"/>
                      <a:pt x="652916" y="356244"/>
                    </a:cubicBezTo>
                    <a:cubicBezTo>
                      <a:pt x="652916" y="356244"/>
                      <a:pt x="652916" y="356244"/>
                      <a:pt x="631825" y="334963"/>
                    </a:cubicBezTo>
                    <a:close/>
                    <a:moveTo>
                      <a:pt x="515814" y="334963"/>
                    </a:moveTo>
                    <a:cubicBezTo>
                      <a:pt x="515814" y="334963"/>
                      <a:pt x="515814" y="334963"/>
                      <a:pt x="595277" y="414200"/>
                    </a:cubicBezTo>
                    <a:cubicBezTo>
                      <a:pt x="601663" y="420625"/>
                      <a:pt x="601663" y="430618"/>
                      <a:pt x="595277" y="436329"/>
                    </a:cubicBezTo>
                    <a:cubicBezTo>
                      <a:pt x="592439" y="439898"/>
                      <a:pt x="588182" y="441326"/>
                      <a:pt x="584635" y="441326"/>
                    </a:cubicBezTo>
                    <a:cubicBezTo>
                      <a:pt x="580378" y="441326"/>
                      <a:pt x="576121" y="439898"/>
                      <a:pt x="573283" y="436329"/>
                    </a:cubicBezTo>
                    <a:cubicBezTo>
                      <a:pt x="573283" y="436329"/>
                      <a:pt x="573283" y="436329"/>
                      <a:pt x="474663" y="337819"/>
                    </a:cubicBezTo>
                    <a:cubicBezTo>
                      <a:pt x="488143" y="336391"/>
                      <a:pt x="501624" y="334963"/>
                      <a:pt x="515814" y="334963"/>
                    </a:cubicBezTo>
                    <a:close/>
                    <a:moveTo>
                      <a:pt x="889704" y="236513"/>
                    </a:moveTo>
                    <a:cubicBezTo>
                      <a:pt x="893737" y="236513"/>
                      <a:pt x="897859" y="238076"/>
                      <a:pt x="901085" y="241201"/>
                    </a:cubicBezTo>
                    <a:cubicBezTo>
                      <a:pt x="901085" y="241201"/>
                      <a:pt x="901085" y="241201"/>
                      <a:pt x="917575" y="257175"/>
                    </a:cubicBezTo>
                    <a:cubicBezTo>
                      <a:pt x="903236" y="256481"/>
                      <a:pt x="888897" y="255786"/>
                      <a:pt x="874559" y="254397"/>
                    </a:cubicBezTo>
                    <a:cubicBezTo>
                      <a:pt x="873125" y="250230"/>
                      <a:pt x="874559" y="244674"/>
                      <a:pt x="878860" y="241201"/>
                    </a:cubicBezTo>
                    <a:cubicBezTo>
                      <a:pt x="881728" y="238076"/>
                      <a:pt x="885671" y="236513"/>
                      <a:pt x="889704" y="236513"/>
                    </a:cubicBezTo>
                    <a:close/>
                    <a:moveTo>
                      <a:pt x="817563" y="158750"/>
                    </a:moveTo>
                    <a:lnTo>
                      <a:pt x="834678" y="175510"/>
                    </a:lnTo>
                    <a:cubicBezTo>
                      <a:pt x="841376" y="182068"/>
                      <a:pt x="841376" y="192270"/>
                      <a:pt x="834678" y="198099"/>
                    </a:cubicBezTo>
                    <a:cubicBezTo>
                      <a:pt x="831702" y="201014"/>
                      <a:pt x="827237" y="203200"/>
                      <a:pt x="823516" y="203200"/>
                    </a:cubicBezTo>
                    <a:cubicBezTo>
                      <a:pt x="822028" y="203200"/>
                      <a:pt x="821284" y="202471"/>
                      <a:pt x="820539" y="202471"/>
                    </a:cubicBezTo>
                    <a:cubicBezTo>
                      <a:pt x="819051" y="187898"/>
                      <a:pt x="818307" y="173324"/>
                      <a:pt x="817563" y="158750"/>
                    </a:cubicBezTo>
                    <a:close/>
                    <a:moveTo>
                      <a:pt x="969491" y="157010"/>
                    </a:moveTo>
                    <a:cubicBezTo>
                      <a:pt x="973494" y="157010"/>
                      <a:pt x="977408" y="158446"/>
                      <a:pt x="980254" y="161316"/>
                    </a:cubicBezTo>
                    <a:cubicBezTo>
                      <a:pt x="980254" y="161316"/>
                      <a:pt x="980254" y="161316"/>
                      <a:pt x="1076325" y="258197"/>
                    </a:cubicBezTo>
                    <a:cubicBezTo>
                      <a:pt x="1062804" y="258915"/>
                      <a:pt x="1048571" y="259632"/>
                      <a:pt x="1033627" y="260350"/>
                    </a:cubicBezTo>
                    <a:cubicBezTo>
                      <a:pt x="1033627" y="260350"/>
                      <a:pt x="1033627" y="260350"/>
                      <a:pt x="958193" y="183563"/>
                    </a:cubicBezTo>
                    <a:cubicBezTo>
                      <a:pt x="952500" y="177822"/>
                      <a:pt x="952500" y="167775"/>
                      <a:pt x="958193" y="161316"/>
                    </a:cubicBezTo>
                    <a:cubicBezTo>
                      <a:pt x="961396" y="158446"/>
                      <a:pt x="965488" y="157010"/>
                      <a:pt x="969491" y="157010"/>
                    </a:cubicBezTo>
                    <a:close/>
                    <a:moveTo>
                      <a:pt x="818128" y="0"/>
                    </a:moveTo>
                    <a:lnTo>
                      <a:pt x="915009" y="95942"/>
                    </a:lnTo>
                    <a:cubicBezTo>
                      <a:pt x="920750" y="101628"/>
                      <a:pt x="920750" y="111578"/>
                      <a:pt x="915009" y="117974"/>
                    </a:cubicBezTo>
                    <a:cubicBezTo>
                      <a:pt x="911420" y="120816"/>
                      <a:pt x="907832" y="122238"/>
                      <a:pt x="903526" y="122238"/>
                    </a:cubicBezTo>
                    <a:cubicBezTo>
                      <a:pt x="899938" y="122238"/>
                      <a:pt x="895632" y="120816"/>
                      <a:pt x="892762" y="117974"/>
                    </a:cubicBezTo>
                    <a:cubicBezTo>
                      <a:pt x="892762" y="117974"/>
                      <a:pt x="892762" y="117974"/>
                      <a:pt x="815975" y="41930"/>
                    </a:cubicBezTo>
                    <a:cubicBezTo>
                      <a:pt x="816692" y="27717"/>
                      <a:pt x="817410" y="13503"/>
                      <a:pt x="818128"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t" anchorCtr="0" compatLnSpc="1">
                <a:prstTxWarp prst="textNoShape">
                  <a:avLst/>
                </a:prstTxWarp>
                <a:noAutofit/>
              </a:bodyPr>
              <a:lstStyle/>
              <a:p>
                <a:endParaRPr lang="en-US" sz="1559">
                  <a:sym typeface="+mn-lt"/>
                </a:endParaRPr>
              </a:p>
            </p:txBody>
          </p:sp>
          <p:sp>
            <p:nvSpPr>
              <p:cNvPr id="231" name="Freeform 11">
                <a:extLst>
                  <a:ext uri="{FF2B5EF4-FFF2-40B4-BE49-F238E27FC236}">
                    <a16:creationId xmlns:a16="http://schemas.microsoft.com/office/drawing/2014/main" id="{BE0B9F27-0306-4F08-A2A5-7D2C0CB7BE1F}"/>
                  </a:ext>
                </a:extLst>
              </p:cNvPr>
              <p:cNvSpPr>
                <a:spLocks/>
              </p:cNvSpPr>
              <p:nvPr/>
            </p:nvSpPr>
            <p:spPr bwMode="auto">
              <a:xfrm>
                <a:off x="5403692" y="2736691"/>
                <a:ext cx="1386206" cy="1386047"/>
              </a:xfrm>
              <a:custGeom>
                <a:avLst/>
                <a:gdLst>
                  <a:gd name="connsiteX0" fmla="*/ 439725 w 1386206"/>
                  <a:gd name="connsiteY0" fmla="*/ 982822 h 1386047"/>
                  <a:gd name="connsiteX1" fmla="*/ 455316 w 1386206"/>
                  <a:gd name="connsiteY1" fmla="*/ 983538 h 1386047"/>
                  <a:gd name="connsiteX2" fmla="*/ 470908 w 1386206"/>
                  <a:gd name="connsiteY2" fmla="*/ 984971 h 1386047"/>
                  <a:gd name="connsiteX3" fmla="*/ 470908 w 1386206"/>
                  <a:gd name="connsiteY3" fmla="*/ 989268 h 1386047"/>
                  <a:gd name="connsiteX4" fmla="*/ 471616 w 1386206"/>
                  <a:gd name="connsiteY4" fmla="*/ 992133 h 1386047"/>
                  <a:gd name="connsiteX5" fmla="*/ 472325 w 1386206"/>
                  <a:gd name="connsiteY5" fmla="*/ 1006457 h 1386047"/>
                  <a:gd name="connsiteX6" fmla="*/ 472325 w 1386206"/>
                  <a:gd name="connsiteY6" fmla="*/ 1009322 h 1386047"/>
                  <a:gd name="connsiteX7" fmla="*/ 473034 w 1386206"/>
                  <a:gd name="connsiteY7" fmla="*/ 1022930 h 1386047"/>
                  <a:gd name="connsiteX8" fmla="*/ 473743 w 1386206"/>
                  <a:gd name="connsiteY8" fmla="*/ 1025795 h 1386047"/>
                  <a:gd name="connsiteX9" fmla="*/ 474451 w 1386206"/>
                  <a:gd name="connsiteY9" fmla="*/ 1040119 h 1386047"/>
                  <a:gd name="connsiteX10" fmla="*/ 474451 w 1386206"/>
                  <a:gd name="connsiteY10" fmla="*/ 1042267 h 1386047"/>
                  <a:gd name="connsiteX11" fmla="*/ 475160 w 1386206"/>
                  <a:gd name="connsiteY11" fmla="*/ 1056592 h 1386047"/>
                  <a:gd name="connsiteX12" fmla="*/ 475160 w 1386206"/>
                  <a:gd name="connsiteY12" fmla="*/ 1058740 h 1386047"/>
                  <a:gd name="connsiteX13" fmla="*/ 475869 w 1386206"/>
                  <a:gd name="connsiteY13" fmla="*/ 1073064 h 1386047"/>
                  <a:gd name="connsiteX14" fmla="*/ 475869 w 1386206"/>
                  <a:gd name="connsiteY14" fmla="*/ 1074497 h 1386047"/>
                  <a:gd name="connsiteX15" fmla="*/ 476577 w 1386206"/>
                  <a:gd name="connsiteY15" fmla="*/ 1089537 h 1386047"/>
                  <a:gd name="connsiteX16" fmla="*/ 477286 w 1386206"/>
                  <a:gd name="connsiteY16" fmla="*/ 1104577 h 1386047"/>
                  <a:gd name="connsiteX17" fmla="*/ 477286 w 1386206"/>
                  <a:gd name="connsiteY17" fmla="*/ 1105294 h 1386047"/>
                  <a:gd name="connsiteX18" fmla="*/ 477286 w 1386206"/>
                  <a:gd name="connsiteY18" fmla="*/ 1119618 h 1386047"/>
                  <a:gd name="connsiteX19" fmla="*/ 477995 w 1386206"/>
                  <a:gd name="connsiteY19" fmla="*/ 1121050 h 1386047"/>
                  <a:gd name="connsiteX20" fmla="*/ 477995 w 1386206"/>
                  <a:gd name="connsiteY20" fmla="*/ 1135374 h 1386047"/>
                  <a:gd name="connsiteX21" fmla="*/ 477995 w 1386206"/>
                  <a:gd name="connsiteY21" fmla="*/ 1136807 h 1386047"/>
                  <a:gd name="connsiteX22" fmla="*/ 477995 w 1386206"/>
                  <a:gd name="connsiteY22" fmla="*/ 1150415 h 1386047"/>
                  <a:gd name="connsiteX23" fmla="*/ 477995 w 1386206"/>
                  <a:gd name="connsiteY23" fmla="*/ 1151847 h 1386047"/>
                  <a:gd name="connsiteX24" fmla="*/ 477995 w 1386206"/>
                  <a:gd name="connsiteY24" fmla="*/ 1165455 h 1386047"/>
                  <a:gd name="connsiteX25" fmla="*/ 477995 w 1386206"/>
                  <a:gd name="connsiteY25" fmla="*/ 1166888 h 1386047"/>
                  <a:gd name="connsiteX26" fmla="*/ 477995 w 1386206"/>
                  <a:gd name="connsiteY26" fmla="*/ 1179779 h 1386047"/>
                  <a:gd name="connsiteX27" fmla="*/ 477995 w 1386206"/>
                  <a:gd name="connsiteY27" fmla="*/ 1181928 h 1386047"/>
                  <a:gd name="connsiteX28" fmla="*/ 477995 w 1386206"/>
                  <a:gd name="connsiteY28" fmla="*/ 1194103 h 1386047"/>
                  <a:gd name="connsiteX29" fmla="*/ 477286 w 1386206"/>
                  <a:gd name="connsiteY29" fmla="*/ 1195536 h 1386047"/>
                  <a:gd name="connsiteX30" fmla="*/ 477286 w 1386206"/>
                  <a:gd name="connsiteY30" fmla="*/ 1208428 h 1386047"/>
                  <a:gd name="connsiteX31" fmla="*/ 477286 w 1386206"/>
                  <a:gd name="connsiteY31" fmla="*/ 1209860 h 1386047"/>
                  <a:gd name="connsiteX32" fmla="*/ 476577 w 1386206"/>
                  <a:gd name="connsiteY32" fmla="*/ 1222036 h 1386047"/>
                  <a:gd name="connsiteX33" fmla="*/ 476577 w 1386206"/>
                  <a:gd name="connsiteY33" fmla="*/ 1222752 h 1386047"/>
                  <a:gd name="connsiteX34" fmla="*/ 475160 w 1386206"/>
                  <a:gd name="connsiteY34" fmla="*/ 1234927 h 1386047"/>
                  <a:gd name="connsiteX35" fmla="*/ 475160 w 1386206"/>
                  <a:gd name="connsiteY35" fmla="*/ 1235643 h 1386047"/>
                  <a:gd name="connsiteX36" fmla="*/ 474451 w 1386206"/>
                  <a:gd name="connsiteY36" fmla="*/ 1247819 h 1386047"/>
                  <a:gd name="connsiteX37" fmla="*/ 473743 w 1386206"/>
                  <a:gd name="connsiteY37" fmla="*/ 1249251 h 1386047"/>
                  <a:gd name="connsiteX38" fmla="*/ 473034 w 1386206"/>
                  <a:gd name="connsiteY38" fmla="*/ 1259995 h 1386047"/>
                  <a:gd name="connsiteX39" fmla="*/ 472325 w 1386206"/>
                  <a:gd name="connsiteY39" fmla="*/ 1261427 h 1386047"/>
                  <a:gd name="connsiteX40" fmla="*/ 470908 w 1386206"/>
                  <a:gd name="connsiteY40" fmla="*/ 1272170 h 1386047"/>
                  <a:gd name="connsiteX41" fmla="*/ 470908 w 1386206"/>
                  <a:gd name="connsiteY41" fmla="*/ 1274319 h 1386047"/>
                  <a:gd name="connsiteX42" fmla="*/ 468782 w 1386206"/>
                  <a:gd name="connsiteY42" fmla="*/ 1284346 h 1386047"/>
                  <a:gd name="connsiteX43" fmla="*/ 468782 w 1386206"/>
                  <a:gd name="connsiteY43" fmla="*/ 1285778 h 1386047"/>
                  <a:gd name="connsiteX44" fmla="*/ 466655 w 1386206"/>
                  <a:gd name="connsiteY44" fmla="*/ 1295805 h 1386047"/>
                  <a:gd name="connsiteX45" fmla="*/ 466655 w 1386206"/>
                  <a:gd name="connsiteY45" fmla="*/ 1297237 h 1386047"/>
                  <a:gd name="connsiteX46" fmla="*/ 464529 w 1386206"/>
                  <a:gd name="connsiteY46" fmla="*/ 1306548 h 1386047"/>
                  <a:gd name="connsiteX47" fmla="*/ 463821 w 1386206"/>
                  <a:gd name="connsiteY47" fmla="*/ 1307980 h 1386047"/>
                  <a:gd name="connsiteX48" fmla="*/ 461695 w 1386206"/>
                  <a:gd name="connsiteY48" fmla="*/ 1317291 h 1386047"/>
                  <a:gd name="connsiteX49" fmla="*/ 460986 w 1386206"/>
                  <a:gd name="connsiteY49" fmla="*/ 1318007 h 1386047"/>
                  <a:gd name="connsiteX50" fmla="*/ 458151 w 1386206"/>
                  <a:gd name="connsiteY50" fmla="*/ 1327318 h 1386047"/>
                  <a:gd name="connsiteX51" fmla="*/ 458151 w 1386206"/>
                  <a:gd name="connsiteY51" fmla="*/ 1328034 h 1386047"/>
                  <a:gd name="connsiteX52" fmla="*/ 454607 w 1386206"/>
                  <a:gd name="connsiteY52" fmla="*/ 1336629 h 1386047"/>
                  <a:gd name="connsiteX53" fmla="*/ 454607 w 1386206"/>
                  <a:gd name="connsiteY53" fmla="*/ 1337345 h 1386047"/>
                  <a:gd name="connsiteX54" fmla="*/ 451064 w 1386206"/>
                  <a:gd name="connsiteY54" fmla="*/ 1345223 h 1386047"/>
                  <a:gd name="connsiteX55" fmla="*/ 450355 w 1386206"/>
                  <a:gd name="connsiteY55" fmla="*/ 1345940 h 1386047"/>
                  <a:gd name="connsiteX56" fmla="*/ 446812 w 1386206"/>
                  <a:gd name="connsiteY56" fmla="*/ 1353818 h 1386047"/>
                  <a:gd name="connsiteX57" fmla="*/ 446103 w 1386206"/>
                  <a:gd name="connsiteY57" fmla="*/ 1354534 h 1386047"/>
                  <a:gd name="connsiteX58" fmla="*/ 442559 w 1386206"/>
                  <a:gd name="connsiteY58" fmla="*/ 1361696 h 1386047"/>
                  <a:gd name="connsiteX59" fmla="*/ 441851 w 1386206"/>
                  <a:gd name="connsiteY59" fmla="*/ 1362412 h 1386047"/>
                  <a:gd name="connsiteX60" fmla="*/ 437599 w 1386206"/>
                  <a:gd name="connsiteY60" fmla="*/ 1368858 h 1386047"/>
                  <a:gd name="connsiteX61" fmla="*/ 436890 w 1386206"/>
                  <a:gd name="connsiteY61" fmla="*/ 1369574 h 1386047"/>
                  <a:gd name="connsiteX62" fmla="*/ 426968 w 1386206"/>
                  <a:gd name="connsiteY62" fmla="*/ 1381750 h 1386047"/>
                  <a:gd name="connsiteX63" fmla="*/ 415629 w 1386206"/>
                  <a:gd name="connsiteY63" fmla="*/ 1386047 h 1386047"/>
                  <a:gd name="connsiteX64" fmla="*/ 404998 w 1386206"/>
                  <a:gd name="connsiteY64" fmla="*/ 1381750 h 1386047"/>
                  <a:gd name="connsiteX65" fmla="*/ 404998 w 1386206"/>
                  <a:gd name="connsiteY65" fmla="*/ 1358831 h 1386047"/>
                  <a:gd name="connsiteX66" fmla="*/ 414920 w 1386206"/>
                  <a:gd name="connsiteY66" fmla="*/ 1346656 h 1386047"/>
                  <a:gd name="connsiteX67" fmla="*/ 418464 w 1386206"/>
                  <a:gd name="connsiteY67" fmla="*/ 1340210 h 1386047"/>
                  <a:gd name="connsiteX68" fmla="*/ 422007 w 1386206"/>
                  <a:gd name="connsiteY68" fmla="*/ 1333048 h 1386047"/>
                  <a:gd name="connsiteX69" fmla="*/ 422716 w 1386206"/>
                  <a:gd name="connsiteY69" fmla="*/ 1333048 h 1386047"/>
                  <a:gd name="connsiteX70" fmla="*/ 425551 w 1386206"/>
                  <a:gd name="connsiteY70" fmla="*/ 1325886 h 1386047"/>
                  <a:gd name="connsiteX71" fmla="*/ 426259 w 1386206"/>
                  <a:gd name="connsiteY71" fmla="*/ 1324453 h 1386047"/>
                  <a:gd name="connsiteX72" fmla="*/ 428385 w 1386206"/>
                  <a:gd name="connsiteY72" fmla="*/ 1317291 h 1386047"/>
                  <a:gd name="connsiteX73" fmla="*/ 429094 w 1386206"/>
                  <a:gd name="connsiteY73" fmla="*/ 1316575 h 1386047"/>
                  <a:gd name="connsiteX74" fmla="*/ 431929 w 1386206"/>
                  <a:gd name="connsiteY74" fmla="*/ 1308697 h 1386047"/>
                  <a:gd name="connsiteX75" fmla="*/ 431929 w 1386206"/>
                  <a:gd name="connsiteY75" fmla="*/ 1307264 h 1386047"/>
                  <a:gd name="connsiteX76" fmla="*/ 434055 w 1386206"/>
                  <a:gd name="connsiteY76" fmla="*/ 1298670 h 1386047"/>
                  <a:gd name="connsiteX77" fmla="*/ 434764 w 1386206"/>
                  <a:gd name="connsiteY77" fmla="*/ 1297954 h 1386047"/>
                  <a:gd name="connsiteX78" fmla="*/ 436890 w 1386206"/>
                  <a:gd name="connsiteY78" fmla="*/ 1288643 h 1386047"/>
                  <a:gd name="connsiteX79" fmla="*/ 436890 w 1386206"/>
                  <a:gd name="connsiteY79" fmla="*/ 1287927 h 1386047"/>
                  <a:gd name="connsiteX80" fmla="*/ 440433 w 1386206"/>
                  <a:gd name="connsiteY80" fmla="*/ 1267873 h 1386047"/>
                  <a:gd name="connsiteX81" fmla="*/ 440433 w 1386206"/>
                  <a:gd name="connsiteY81" fmla="*/ 1267157 h 1386047"/>
                  <a:gd name="connsiteX82" fmla="*/ 441851 w 1386206"/>
                  <a:gd name="connsiteY82" fmla="*/ 1259278 h 1386047"/>
                  <a:gd name="connsiteX83" fmla="*/ 441851 w 1386206"/>
                  <a:gd name="connsiteY83" fmla="*/ 1257130 h 1386047"/>
                  <a:gd name="connsiteX84" fmla="*/ 441851 w 1386206"/>
                  <a:gd name="connsiteY84" fmla="*/ 1255697 h 1386047"/>
                  <a:gd name="connsiteX85" fmla="*/ 443268 w 1386206"/>
                  <a:gd name="connsiteY85" fmla="*/ 1245670 h 1386047"/>
                  <a:gd name="connsiteX86" fmla="*/ 443268 w 1386206"/>
                  <a:gd name="connsiteY86" fmla="*/ 1244238 h 1386047"/>
                  <a:gd name="connsiteX87" fmla="*/ 443977 w 1386206"/>
                  <a:gd name="connsiteY87" fmla="*/ 1233495 h 1386047"/>
                  <a:gd name="connsiteX88" fmla="*/ 444686 w 1386206"/>
                  <a:gd name="connsiteY88" fmla="*/ 1232062 h 1386047"/>
                  <a:gd name="connsiteX89" fmla="*/ 445394 w 1386206"/>
                  <a:gd name="connsiteY89" fmla="*/ 1221319 h 1386047"/>
                  <a:gd name="connsiteX90" fmla="*/ 445394 w 1386206"/>
                  <a:gd name="connsiteY90" fmla="*/ 1219887 h 1386047"/>
                  <a:gd name="connsiteX91" fmla="*/ 445394 w 1386206"/>
                  <a:gd name="connsiteY91" fmla="*/ 1218455 h 1386047"/>
                  <a:gd name="connsiteX92" fmla="*/ 446103 w 1386206"/>
                  <a:gd name="connsiteY92" fmla="*/ 1208428 h 1386047"/>
                  <a:gd name="connsiteX93" fmla="*/ 446103 w 1386206"/>
                  <a:gd name="connsiteY93" fmla="*/ 1206995 h 1386047"/>
                  <a:gd name="connsiteX94" fmla="*/ 446103 w 1386206"/>
                  <a:gd name="connsiteY94" fmla="*/ 1194820 h 1386047"/>
                  <a:gd name="connsiteX95" fmla="*/ 446103 w 1386206"/>
                  <a:gd name="connsiteY95" fmla="*/ 1194103 h 1386047"/>
                  <a:gd name="connsiteX96" fmla="*/ 446812 w 1386206"/>
                  <a:gd name="connsiteY96" fmla="*/ 1168320 h 1386047"/>
                  <a:gd name="connsiteX97" fmla="*/ 446812 w 1386206"/>
                  <a:gd name="connsiteY97" fmla="*/ 1167604 h 1386047"/>
                  <a:gd name="connsiteX98" fmla="*/ 446812 w 1386206"/>
                  <a:gd name="connsiteY98" fmla="*/ 1154712 h 1386047"/>
                  <a:gd name="connsiteX99" fmla="*/ 446812 w 1386206"/>
                  <a:gd name="connsiteY99" fmla="*/ 1153280 h 1386047"/>
                  <a:gd name="connsiteX100" fmla="*/ 446812 w 1386206"/>
                  <a:gd name="connsiteY100" fmla="*/ 1140388 h 1386047"/>
                  <a:gd name="connsiteX101" fmla="*/ 446812 w 1386206"/>
                  <a:gd name="connsiteY101" fmla="*/ 1138955 h 1386047"/>
                  <a:gd name="connsiteX102" fmla="*/ 446812 w 1386206"/>
                  <a:gd name="connsiteY102" fmla="*/ 1126064 h 1386047"/>
                  <a:gd name="connsiteX103" fmla="*/ 446812 w 1386206"/>
                  <a:gd name="connsiteY103" fmla="*/ 1124631 h 1386047"/>
                  <a:gd name="connsiteX104" fmla="*/ 446103 w 1386206"/>
                  <a:gd name="connsiteY104" fmla="*/ 1111740 h 1386047"/>
                  <a:gd name="connsiteX105" fmla="*/ 446103 w 1386206"/>
                  <a:gd name="connsiteY105" fmla="*/ 1109591 h 1386047"/>
                  <a:gd name="connsiteX106" fmla="*/ 446103 w 1386206"/>
                  <a:gd name="connsiteY106" fmla="*/ 1103861 h 1386047"/>
                  <a:gd name="connsiteX107" fmla="*/ 445394 w 1386206"/>
                  <a:gd name="connsiteY107" fmla="*/ 1096699 h 1386047"/>
                  <a:gd name="connsiteX108" fmla="*/ 445394 w 1386206"/>
                  <a:gd name="connsiteY108" fmla="*/ 1095267 h 1386047"/>
                  <a:gd name="connsiteX109" fmla="*/ 445394 w 1386206"/>
                  <a:gd name="connsiteY109" fmla="*/ 1081659 h 1386047"/>
                  <a:gd name="connsiteX110" fmla="*/ 444686 w 1386206"/>
                  <a:gd name="connsiteY110" fmla="*/ 1080226 h 1386047"/>
                  <a:gd name="connsiteX111" fmla="*/ 443977 w 1386206"/>
                  <a:gd name="connsiteY111" fmla="*/ 1057308 h 1386047"/>
                  <a:gd name="connsiteX112" fmla="*/ 443268 w 1386206"/>
                  <a:gd name="connsiteY112" fmla="*/ 1051578 h 1386047"/>
                  <a:gd name="connsiteX113" fmla="*/ 443268 w 1386206"/>
                  <a:gd name="connsiteY113" fmla="*/ 1050862 h 1386047"/>
                  <a:gd name="connsiteX114" fmla="*/ 442559 w 1386206"/>
                  <a:gd name="connsiteY114" fmla="*/ 1036538 h 1386047"/>
                  <a:gd name="connsiteX115" fmla="*/ 442559 w 1386206"/>
                  <a:gd name="connsiteY115" fmla="*/ 1035105 h 1386047"/>
                  <a:gd name="connsiteX116" fmla="*/ 441851 w 1386206"/>
                  <a:gd name="connsiteY116" fmla="*/ 1021497 h 1386047"/>
                  <a:gd name="connsiteX117" fmla="*/ 441851 w 1386206"/>
                  <a:gd name="connsiteY117" fmla="*/ 1019349 h 1386047"/>
                  <a:gd name="connsiteX118" fmla="*/ 441142 w 1386206"/>
                  <a:gd name="connsiteY118" fmla="*/ 1005741 h 1386047"/>
                  <a:gd name="connsiteX119" fmla="*/ 440433 w 1386206"/>
                  <a:gd name="connsiteY119" fmla="*/ 1003592 h 1386047"/>
                  <a:gd name="connsiteX120" fmla="*/ 439725 w 1386206"/>
                  <a:gd name="connsiteY120" fmla="*/ 989984 h 1386047"/>
                  <a:gd name="connsiteX121" fmla="*/ 439725 w 1386206"/>
                  <a:gd name="connsiteY121" fmla="*/ 987836 h 1386047"/>
                  <a:gd name="connsiteX122" fmla="*/ 439725 w 1386206"/>
                  <a:gd name="connsiteY122" fmla="*/ 982822 h 1386047"/>
                  <a:gd name="connsiteX123" fmla="*/ 922715 w 1386206"/>
                  <a:gd name="connsiteY123" fmla="*/ 500222 h 1386047"/>
                  <a:gd name="connsiteX124" fmla="*/ 939153 w 1386206"/>
                  <a:gd name="connsiteY124" fmla="*/ 501647 h 1386047"/>
                  <a:gd name="connsiteX125" fmla="*/ 954163 w 1386206"/>
                  <a:gd name="connsiteY125" fmla="*/ 502359 h 1386047"/>
                  <a:gd name="connsiteX126" fmla="*/ 955592 w 1386206"/>
                  <a:gd name="connsiteY126" fmla="*/ 523727 h 1386047"/>
                  <a:gd name="connsiteX127" fmla="*/ 956307 w 1386206"/>
                  <a:gd name="connsiteY127" fmla="*/ 542247 h 1386047"/>
                  <a:gd name="connsiteX128" fmla="*/ 959166 w 1386206"/>
                  <a:gd name="connsiteY128" fmla="*/ 596380 h 1386047"/>
                  <a:gd name="connsiteX129" fmla="*/ 960595 w 1386206"/>
                  <a:gd name="connsiteY129" fmla="*/ 631994 h 1386047"/>
                  <a:gd name="connsiteX130" fmla="*/ 960595 w 1386206"/>
                  <a:gd name="connsiteY130" fmla="*/ 665471 h 1386047"/>
                  <a:gd name="connsiteX131" fmla="*/ 960595 w 1386206"/>
                  <a:gd name="connsiteY131" fmla="*/ 675443 h 1386047"/>
                  <a:gd name="connsiteX132" fmla="*/ 907705 w 1386206"/>
                  <a:gd name="connsiteY132" fmla="*/ 899811 h 1386047"/>
                  <a:gd name="connsiteX133" fmla="*/ 904131 w 1386206"/>
                  <a:gd name="connsiteY133" fmla="*/ 903373 h 1386047"/>
                  <a:gd name="connsiteX134" fmla="*/ 523181 w 1386206"/>
                  <a:gd name="connsiteY134" fmla="*/ 954657 h 1386047"/>
                  <a:gd name="connsiteX135" fmla="*/ 500309 w 1386206"/>
                  <a:gd name="connsiteY135" fmla="*/ 953232 h 1386047"/>
                  <a:gd name="connsiteX136" fmla="*/ 468861 w 1386206"/>
                  <a:gd name="connsiteY136" fmla="*/ 951095 h 1386047"/>
                  <a:gd name="connsiteX137" fmla="*/ 442416 w 1386206"/>
                  <a:gd name="connsiteY137" fmla="*/ 948959 h 1386047"/>
                  <a:gd name="connsiteX138" fmla="*/ 440987 w 1386206"/>
                  <a:gd name="connsiteY138" fmla="*/ 948959 h 1386047"/>
                  <a:gd name="connsiteX139" fmla="*/ 436699 w 1386206"/>
                  <a:gd name="connsiteY139" fmla="*/ 948959 h 1386047"/>
                  <a:gd name="connsiteX140" fmla="*/ 424548 w 1386206"/>
                  <a:gd name="connsiteY140" fmla="*/ 948246 h 1386047"/>
                  <a:gd name="connsiteX141" fmla="*/ 424548 w 1386206"/>
                  <a:gd name="connsiteY141" fmla="*/ 947534 h 1386047"/>
                  <a:gd name="connsiteX142" fmla="*/ 422404 w 1386206"/>
                  <a:gd name="connsiteY142" fmla="*/ 947534 h 1386047"/>
                  <a:gd name="connsiteX143" fmla="*/ 417401 w 1386206"/>
                  <a:gd name="connsiteY143" fmla="*/ 947534 h 1386047"/>
                  <a:gd name="connsiteX144" fmla="*/ 415971 w 1386206"/>
                  <a:gd name="connsiteY144" fmla="*/ 947534 h 1386047"/>
                  <a:gd name="connsiteX145" fmla="*/ 405250 w 1386206"/>
                  <a:gd name="connsiteY145" fmla="*/ 946822 h 1386047"/>
                  <a:gd name="connsiteX146" fmla="*/ 400962 w 1386206"/>
                  <a:gd name="connsiteY146" fmla="*/ 946109 h 1386047"/>
                  <a:gd name="connsiteX147" fmla="*/ 399533 w 1386206"/>
                  <a:gd name="connsiteY147" fmla="*/ 946109 h 1386047"/>
                  <a:gd name="connsiteX148" fmla="*/ 398818 w 1386206"/>
                  <a:gd name="connsiteY148" fmla="*/ 946109 h 1386047"/>
                  <a:gd name="connsiteX149" fmla="*/ 398103 w 1386206"/>
                  <a:gd name="connsiteY149" fmla="*/ 946109 h 1386047"/>
                  <a:gd name="connsiteX150" fmla="*/ 396674 w 1386206"/>
                  <a:gd name="connsiteY150" fmla="*/ 946109 h 1386047"/>
                  <a:gd name="connsiteX151" fmla="*/ 393815 w 1386206"/>
                  <a:gd name="connsiteY151" fmla="*/ 946109 h 1386047"/>
                  <a:gd name="connsiteX152" fmla="*/ 390956 w 1386206"/>
                  <a:gd name="connsiteY152" fmla="*/ 945397 h 1386047"/>
                  <a:gd name="connsiteX153" fmla="*/ 381664 w 1386206"/>
                  <a:gd name="connsiteY153" fmla="*/ 945397 h 1386047"/>
                  <a:gd name="connsiteX154" fmla="*/ 376661 w 1386206"/>
                  <a:gd name="connsiteY154" fmla="*/ 944685 h 1386047"/>
                  <a:gd name="connsiteX155" fmla="*/ 374517 w 1386206"/>
                  <a:gd name="connsiteY155" fmla="*/ 944685 h 1386047"/>
                  <a:gd name="connsiteX156" fmla="*/ 369514 w 1386206"/>
                  <a:gd name="connsiteY156" fmla="*/ 943973 h 1386047"/>
                  <a:gd name="connsiteX157" fmla="*/ 368085 w 1386206"/>
                  <a:gd name="connsiteY157" fmla="*/ 943973 h 1386047"/>
                  <a:gd name="connsiteX158" fmla="*/ 353790 w 1386206"/>
                  <a:gd name="connsiteY158" fmla="*/ 943260 h 1386047"/>
                  <a:gd name="connsiteX159" fmla="*/ 350931 w 1386206"/>
                  <a:gd name="connsiteY159" fmla="*/ 943260 h 1386047"/>
                  <a:gd name="connsiteX160" fmla="*/ 350216 w 1386206"/>
                  <a:gd name="connsiteY160" fmla="*/ 943260 h 1386047"/>
                  <a:gd name="connsiteX161" fmla="*/ 348787 w 1386206"/>
                  <a:gd name="connsiteY161" fmla="*/ 943260 h 1386047"/>
                  <a:gd name="connsiteX162" fmla="*/ 334492 w 1386206"/>
                  <a:gd name="connsiteY162" fmla="*/ 942548 h 1386047"/>
                  <a:gd name="connsiteX163" fmla="*/ 333778 w 1386206"/>
                  <a:gd name="connsiteY163" fmla="*/ 942548 h 1386047"/>
                  <a:gd name="connsiteX164" fmla="*/ 328060 w 1386206"/>
                  <a:gd name="connsiteY164" fmla="*/ 941836 h 1386047"/>
                  <a:gd name="connsiteX165" fmla="*/ 304474 w 1386206"/>
                  <a:gd name="connsiteY165" fmla="*/ 941123 h 1386047"/>
                  <a:gd name="connsiteX166" fmla="*/ 304474 w 1386206"/>
                  <a:gd name="connsiteY166" fmla="*/ 940411 h 1386047"/>
                  <a:gd name="connsiteX167" fmla="*/ 290179 w 1386206"/>
                  <a:gd name="connsiteY167" fmla="*/ 940411 h 1386047"/>
                  <a:gd name="connsiteX168" fmla="*/ 288750 w 1386206"/>
                  <a:gd name="connsiteY168" fmla="*/ 940411 h 1386047"/>
                  <a:gd name="connsiteX169" fmla="*/ 281602 w 1386206"/>
                  <a:gd name="connsiteY169" fmla="*/ 939699 h 1386047"/>
                  <a:gd name="connsiteX170" fmla="*/ 275885 w 1386206"/>
                  <a:gd name="connsiteY170" fmla="*/ 939699 h 1386047"/>
                  <a:gd name="connsiteX171" fmla="*/ 273740 w 1386206"/>
                  <a:gd name="connsiteY171" fmla="*/ 939699 h 1386047"/>
                  <a:gd name="connsiteX172" fmla="*/ 260875 w 1386206"/>
                  <a:gd name="connsiteY172" fmla="*/ 938987 h 1386047"/>
                  <a:gd name="connsiteX173" fmla="*/ 259446 w 1386206"/>
                  <a:gd name="connsiteY173" fmla="*/ 938987 h 1386047"/>
                  <a:gd name="connsiteX174" fmla="*/ 246581 w 1386206"/>
                  <a:gd name="connsiteY174" fmla="*/ 938987 h 1386047"/>
                  <a:gd name="connsiteX175" fmla="*/ 245151 w 1386206"/>
                  <a:gd name="connsiteY175" fmla="*/ 938987 h 1386047"/>
                  <a:gd name="connsiteX176" fmla="*/ 232286 w 1386206"/>
                  <a:gd name="connsiteY176" fmla="*/ 938987 h 1386047"/>
                  <a:gd name="connsiteX177" fmla="*/ 230857 w 1386206"/>
                  <a:gd name="connsiteY177" fmla="*/ 938987 h 1386047"/>
                  <a:gd name="connsiteX178" fmla="*/ 217992 w 1386206"/>
                  <a:gd name="connsiteY178" fmla="*/ 938987 h 1386047"/>
                  <a:gd name="connsiteX179" fmla="*/ 217277 w 1386206"/>
                  <a:gd name="connsiteY179" fmla="*/ 938987 h 1386047"/>
                  <a:gd name="connsiteX180" fmla="*/ 191547 w 1386206"/>
                  <a:gd name="connsiteY180" fmla="*/ 939699 h 1386047"/>
                  <a:gd name="connsiteX181" fmla="*/ 190832 w 1386206"/>
                  <a:gd name="connsiteY181" fmla="*/ 939699 h 1386047"/>
                  <a:gd name="connsiteX182" fmla="*/ 178681 w 1386206"/>
                  <a:gd name="connsiteY182" fmla="*/ 939699 h 1386047"/>
                  <a:gd name="connsiteX183" fmla="*/ 177252 w 1386206"/>
                  <a:gd name="connsiteY183" fmla="*/ 939699 h 1386047"/>
                  <a:gd name="connsiteX184" fmla="*/ 167246 w 1386206"/>
                  <a:gd name="connsiteY184" fmla="*/ 940411 h 1386047"/>
                  <a:gd name="connsiteX185" fmla="*/ 165816 w 1386206"/>
                  <a:gd name="connsiteY185" fmla="*/ 940411 h 1386047"/>
                  <a:gd name="connsiteX186" fmla="*/ 164387 w 1386206"/>
                  <a:gd name="connsiteY186" fmla="*/ 940411 h 1386047"/>
                  <a:gd name="connsiteX187" fmla="*/ 153666 w 1386206"/>
                  <a:gd name="connsiteY187" fmla="*/ 941123 h 1386047"/>
                  <a:gd name="connsiteX188" fmla="*/ 152236 w 1386206"/>
                  <a:gd name="connsiteY188" fmla="*/ 941836 h 1386047"/>
                  <a:gd name="connsiteX189" fmla="*/ 141516 w 1386206"/>
                  <a:gd name="connsiteY189" fmla="*/ 942548 h 1386047"/>
                  <a:gd name="connsiteX190" fmla="*/ 140086 w 1386206"/>
                  <a:gd name="connsiteY190" fmla="*/ 942548 h 1386047"/>
                  <a:gd name="connsiteX191" fmla="*/ 130080 w 1386206"/>
                  <a:gd name="connsiteY191" fmla="*/ 943973 h 1386047"/>
                  <a:gd name="connsiteX192" fmla="*/ 128650 w 1386206"/>
                  <a:gd name="connsiteY192" fmla="*/ 943973 h 1386047"/>
                  <a:gd name="connsiteX193" fmla="*/ 126506 w 1386206"/>
                  <a:gd name="connsiteY193" fmla="*/ 943973 h 1386047"/>
                  <a:gd name="connsiteX194" fmla="*/ 118644 w 1386206"/>
                  <a:gd name="connsiteY194" fmla="*/ 945397 h 1386047"/>
                  <a:gd name="connsiteX195" fmla="*/ 117929 w 1386206"/>
                  <a:gd name="connsiteY195" fmla="*/ 945397 h 1386047"/>
                  <a:gd name="connsiteX196" fmla="*/ 107209 w 1386206"/>
                  <a:gd name="connsiteY196" fmla="*/ 947534 h 1386047"/>
                  <a:gd name="connsiteX197" fmla="*/ 97917 w 1386206"/>
                  <a:gd name="connsiteY197" fmla="*/ 948959 h 1386047"/>
                  <a:gd name="connsiteX198" fmla="*/ 97202 w 1386206"/>
                  <a:gd name="connsiteY198" fmla="*/ 948959 h 1386047"/>
                  <a:gd name="connsiteX199" fmla="*/ 87911 w 1386206"/>
                  <a:gd name="connsiteY199" fmla="*/ 951095 h 1386047"/>
                  <a:gd name="connsiteX200" fmla="*/ 87196 w 1386206"/>
                  <a:gd name="connsiteY200" fmla="*/ 951808 h 1386047"/>
                  <a:gd name="connsiteX201" fmla="*/ 78619 w 1386206"/>
                  <a:gd name="connsiteY201" fmla="*/ 953945 h 1386047"/>
                  <a:gd name="connsiteX202" fmla="*/ 77190 w 1386206"/>
                  <a:gd name="connsiteY202" fmla="*/ 953945 h 1386047"/>
                  <a:gd name="connsiteX203" fmla="*/ 69328 w 1386206"/>
                  <a:gd name="connsiteY203" fmla="*/ 956794 h 1386047"/>
                  <a:gd name="connsiteX204" fmla="*/ 68613 w 1386206"/>
                  <a:gd name="connsiteY204" fmla="*/ 957506 h 1386047"/>
                  <a:gd name="connsiteX205" fmla="*/ 61466 w 1386206"/>
                  <a:gd name="connsiteY205" fmla="*/ 959643 h 1386047"/>
                  <a:gd name="connsiteX206" fmla="*/ 60036 w 1386206"/>
                  <a:gd name="connsiteY206" fmla="*/ 960355 h 1386047"/>
                  <a:gd name="connsiteX207" fmla="*/ 52889 w 1386206"/>
                  <a:gd name="connsiteY207" fmla="*/ 963204 h 1386047"/>
                  <a:gd name="connsiteX208" fmla="*/ 52889 w 1386206"/>
                  <a:gd name="connsiteY208" fmla="*/ 963916 h 1386047"/>
                  <a:gd name="connsiteX209" fmla="*/ 45742 w 1386206"/>
                  <a:gd name="connsiteY209" fmla="*/ 967478 h 1386047"/>
                  <a:gd name="connsiteX210" fmla="*/ 39309 w 1386206"/>
                  <a:gd name="connsiteY210" fmla="*/ 971039 h 1386047"/>
                  <a:gd name="connsiteX211" fmla="*/ 27159 w 1386206"/>
                  <a:gd name="connsiteY211" fmla="*/ 981011 h 1386047"/>
                  <a:gd name="connsiteX212" fmla="*/ 15723 w 1386206"/>
                  <a:gd name="connsiteY212" fmla="*/ 985997 h 1386047"/>
                  <a:gd name="connsiteX213" fmla="*/ 4288 w 1386206"/>
                  <a:gd name="connsiteY213" fmla="*/ 981011 h 1386047"/>
                  <a:gd name="connsiteX214" fmla="*/ 4288 w 1386206"/>
                  <a:gd name="connsiteY214" fmla="*/ 958930 h 1386047"/>
                  <a:gd name="connsiteX215" fmla="*/ 16438 w 1386206"/>
                  <a:gd name="connsiteY215" fmla="*/ 948959 h 1386047"/>
                  <a:gd name="connsiteX216" fmla="*/ 17153 w 1386206"/>
                  <a:gd name="connsiteY216" fmla="*/ 948246 h 1386047"/>
                  <a:gd name="connsiteX217" fmla="*/ 23585 w 1386206"/>
                  <a:gd name="connsiteY217" fmla="*/ 943973 h 1386047"/>
                  <a:gd name="connsiteX218" fmla="*/ 24300 w 1386206"/>
                  <a:gd name="connsiteY218" fmla="*/ 943260 h 1386047"/>
                  <a:gd name="connsiteX219" fmla="*/ 31447 w 1386206"/>
                  <a:gd name="connsiteY219" fmla="*/ 939699 h 1386047"/>
                  <a:gd name="connsiteX220" fmla="*/ 32162 w 1386206"/>
                  <a:gd name="connsiteY220" fmla="*/ 938987 h 1386047"/>
                  <a:gd name="connsiteX221" fmla="*/ 40024 w 1386206"/>
                  <a:gd name="connsiteY221" fmla="*/ 935425 h 1386047"/>
                  <a:gd name="connsiteX222" fmla="*/ 40739 w 1386206"/>
                  <a:gd name="connsiteY222" fmla="*/ 934713 h 1386047"/>
                  <a:gd name="connsiteX223" fmla="*/ 48601 w 1386206"/>
                  <a:gd name="connsiteY223" fmla="*/ 931152 h 1386047"/>
                  <a:gd name="connsiteX224" fmla="*/ 49315 w 1386206"/>
                  <a:gd name="connsiteY224" fmla="*/ 931152 h 1386047"/>
                  <a:gd name="connsiteX225" fmla="*/ 57892 w 1386206"/>
                  <a:gd name="connsiteY225" fmla="*/ 927590 h 1386047"/>
                  <a:gd name="connsiteX226" fmla="*/ 58607 w 1386206"/>
                  <a:gd name="connsiteY226" fmla="*/ 927590 h 1386047"/>
                  <a:gd name="connsiteX227" fmla="*/ 67184 w 1386206"/>
                  <a:gd name="connsiteY227" fmla="*/ 924741 h 1386047"/>
                  <a:gd name="connsiteX228" fmla="*/ 68613 w 1386206"/>
                  <a:gd name="connsiteY228" fmla="*/ 924029 h 1386047"/>
                  <a:gd name="connsiteX229" fmla="*/ 77905 w 1386206"/>
                  <a:gd name="connsiteY229" fmla="*/ 921892 h 1386047"/>
                  <a:gd name="connsiteX230" fmla="*/ 79334 w 1386206"/>
                  <a:gd name="connsiteY230" fmla="*/ 921180 h 1386047"/>
                  <a:gd name="connsiteX231" fmla="*/ 88626 w 1386206"/>
                  <a:gd name="connsiteY231" fmla="*/ 919043 h 1386047"/>
                  <a:gd name="connsiteX232" fmla="*/ 90770 w 1386206"/>
                  <a:gd name="connsiteY232" fmla="*/ 919043 h 1386047"/>
                  <a:gd name="connsiteX233" fmla="*/ 100061 w 1386206"/>
                  <a:gd name="connsiteY233" fmla="*/ 916906 h 1386047"/>
                  <a:gd name="connsiteX234" fmla="*/ 102205 w 1386206"/>
                  <a:gd name="connsiteY234" fmla="*/ 916194 h 1386047"/>
                  <a:gd name="connsiteX235" fmla="*/ 111497 w 1386206"/>
                  <a:gd name="connsiteY235" fmla="*/ 914769 h 1386047"/>
                  <a:gd name="connsiteX236" fmla="*/ 113641 w 1386206"/>
                  <a:gd name="connsiteY236" fmla="*/ 914769 h 1386047"/>
                  <a:gd name="connsiteX237" fmla="*/ 123647 w 1386206"/>
                  <a:gd name="connsiteY237" fmla="*/ 913345 h 1386047"/>
                  <a:gd name="connsiteX238" fmla="*/ 125791 w 1386206"/>
                  <a:gd name="connsiteY238" fmla="*/ 912632 h 1386047"/>
                  <a:gd name="connsiteX239" fmla="*/ 136512 w 1386206"/>
                  <a:gd name="connsiteY239" fmla="*/ 911920 h 1386047"/>
                  <a:gd name="connsiteX240" fmla="*/ 138657 w 1386206"/>
                  <a:gd name="connsiteY240" fmla="*/ 911208 h 1386047"/>
                  <a:gd name="connsiteX241" fmla="*/ 149378 w 1386206"/>
                  <a:gd name="connsiteY241" fmla="*/ 910495 h 1386047"/>
                  <a:gd name="connsiteX242" fmla="*/ 150807 w 1386206"/>
                  <a:gd name="connsiteY242" fmla="*/ 910495 h 1386047"/>
                  <a:gd name="connsiteX243" fmla="*/ 162243 w 1386206"/>
                  <a:gd name="connsiteY243" fmla="*/ 909071 h 1386047"/>
                  <a:gd name="connsiteX244" fmla="*/ 163672 w 1386206"/>
                  <a:gd name="connsiteY244" fmla="*/ 909071 h 1386047"/>
                  <a:gd name="connsiteX245" fmla="*/ 175108 w 1386206"/>
                  <a:gd name="connsiteY245" fmla="*/ 908359 h 1386047"/>
                  <a:gd name="connsiteX246" fmla="*/ 177252 w 1386206"/>
                  <a:gd name="connsiteY246" fmla="*/ 908359 h 1386047"/>
                  <a:gd name="connsiteX247" fmla="*/ 189402 w 1386206"/>
                  <a:gd name="connsiteY247" fmla="*/ 908359 h 1386047"/>
                  <a:gd name="connsiteX248" fmla="*/ 191547 w 1386206"/>
                  <a:gd name="connsiteY248" fmla="*/ 907646 h 1386047"/>
                  <a:gd name="connsiteX249" fmla="*/ 202982 w 1386206"/>
                  <a:gd name="connsiteY249" fmla="*/ 907646 h 1386047"/>
                  <a:gd name="connsiteX250" fmla="*/ 206556 w 1386206"/>
                  <a:gd name="connsiteY250" fmla="*/ 907646 h 1386047"/>
                  <a:gd name="connsiteX251" fmla="*/ 217992 w 1386206"/>
                  <a:gd name="connsiteY251" fmla="*/ 907646 h 1386047"/>
                  <a:gd name="connsiteX252" fmla="*/ 220850 w 1386206"/>
                  <a:gd name="connsiteY252" fmla="*/ 907646 h 1386047"/>
                  <a:gd name="connsiteX253" fmla="*/ 233001 w 1386206"/>
                  <a:gd name="connsiteY253" fmla="*/ 907646 h 1386047"/>
                  <a:gd name="connsiteX254" fmla="*/ 235860 w 1386206"/>
                  <a:gd name="connsiteY254" fmla="*/ 907646 h 1386047"/>
                  <a:gd name="connsiteX255" fmla="*/ 248010 w 1386206"/>
                  <a:gd name="connsiteY255" fmla="*/ 907646 h 1386047"/>
                  <a:gd name="connsiteX256" fmla="*/ 251584 w 1386206"/>
                  <a:gd name="connsiteY256" fmla="*/ 907646 h 1386047"/>
                  <a:gd name="connsiteX257" fmla="*/ 263734 w 1386206"/>
                  <a:gd name="connsiteY257" fmla="*/ 907646 h 1386047"/>
                  <a:gd name="connsiteX258" fmla="*/ 266593 w 1386206"/>
                  <a:gd name="connsiteY258" fmla="*/ 908359 h 1386047"/>
                  <a:gd name="connsiteX259" fmla="*/ 279458 w 1386206"/>
                  <a:gd name="connsiteY259" fmla="*/ 908359 h 1386047"/>
                  <a:gd name="connsiteX260" fmla="*/ 282317 w 1386206"/>
                  <a:gd name="connsiteY260" fmla="*/ 908359 h 1386047"/>
                  <a:gd name="connsiteX261" fmla="*/ 294467 w 1386206"/>
                  <a:gd name="connsiteY261" fmla="*/ 909071 h 1386047"/>
                  <a:gd name="connsiteX262" fmla="*/ 297326 w 1386206"/>
                  <a:gd name="connsiteY262" fmla="*/ 909071 h 1386047"/>
                  <a:gd name="connsiteX263" fmla="*/ 310192 w 1386206"/>
                  <a:gd name="connsiteY263" fmla="*/ 909783 h 1386047"/>
                  <a:gd name="connsiteX264" fmla="*/ 313050 w 1386206"/>
                  <a:gd name="connsiteY264" fmla="*/ 909783 h 1386047"/>
                  <a:gd name="connsiteX265" fmla="*/ 325916 w 1386206"/>
                  <a:gd name="connsiteY265" fmla="*/ 910495 h 1386047"/>
                  <a:gd name="connsiteX266" fmla="*/ 329489 w 1386206"/>
                  <a:gd name="connsiteY266" fmla="*/ 910495 h 1386047"/>
                  <a:gd name="connsiteX267" fmla="*/ 342354 w 1386206"/>
                  <a:gd name="connsiteY267" fmla="*/ 911208 h 1386047"/>
                  <a:gd name="connsiteX268" fmla="*/ 345928 w 1386206"/>
                  <a:gd name="connsiteY268" fmla="*/ 911208 h 1386047"/>
                  <a:gd name="connsiteX269" fmla="*/ 358793 w 1386206"/>
                  <a:gd name="connsiteY269" fmla="*/ 911920 h 1386047"/>
                  <a:gd name="connsiteX270" fmla="*/ 363081 w 1386206"/>
                  <a:gd name="connsiteY270" fmla="*/ 912632 h 1386047"/>
                  <a:gd name="connsiteX271" fmla="*/ 375232 w 1386206"/>
                  <a:gd name="connsiteY271" fmla="*/ 913345 h 1386047"/>
                  <a:gd name="connsiteX272" fmla="*/ 378091 w 1386206"/>
                  <a:gd name="connsiteY272" fmla="*/ 913345 h 1386047"/>
                  <a:gd name="connsiteX273" fmla="*/ 403106 w 1386206"/>
                  <a:gd name="connsiteY273" fmla="*/ 914769 h 1386047"/>
                  <a:gd name="connsiteX274" fmla="*/ 419545 w 1386206"/>
                  <a:gd name="connsiteY274" fmla="*/ 916194 h 1386047"/>
                  <a:gd name="connsiteX275" fmla="*/ 420975 w 1386206"/>
                  <a:gd name="connsiteY275" fmla="*/ 916194 h 1386047"/>
                  <a:gd name="connsiteX276" fmla="*/ 422404 w 1386206"/>
                  <a:gd name="connsiteY276" fmla="*/ 916194 h 1386047"/>
                  <a:gd name="connsiteX277" fmla="*/ 423833 w 1386206"/>
                  <a:gd name="connsiteY277" fmla="*/ 916194 h 1386047"/>
                  <a:gd name="connsiteX278" fmla="*/ 434554 w 1386206"/>
                  <a:gd name="connsiteY278" fmla="*/ 916906 h 1386047"/>
                  <a:gd name="connsiteX279" fmla="*/ 438843 w 1386206"/>
                  <a:gd name="connsiteY279" fmla="*/ 917618 h 1386047"/>
                  <a:gd name="connsiteX280" fmla="*/ 440987 w 1386206"/>
                  <a:gd name="connsiteY280" fmla="*/ 917618 h 1386047"/>
                  <a:gd name="connsiteX281" fmla="*/ 444561 w 1386206"/>
                  <a:gd name="connsiteY281" fmla="*/ 917618 h 1386047"/>
                  <a:gd name="connsiteX282" fmla="*/ 466717 w 1386206"/>
                  <a:gd name="connsiteY282" fmla="*/ 919043 h 1386047"/>
                  <a:gd name="connsiteX283" fmla="*/ 488159 w 1386206"/>
                  <a:gd name="connsiteY283" fmla="*/ 920467 h 1386047"/>
                  <a:gd name="connsiteX284" fmla="*/ 498165 w 1386206"/>
                  <a:gd name="connsiteY284" fmla="*/ 921180 h 1386047"/>
                  <a:gd name="connsiteX285" fmla="*/ 499595 w 1386206"/>
                  <a:gd name="connsiteY285" fmla="*/ 921892 h 1386047"/>
                  <a:gd name="connsiteX286" fmla="*/ 518178 w 1386206"/>
                  <a:gd name="connsiteY286" fmla="*/ 922604 h 1386047"/>
                  <a:gd name="connsiteX287" fmla="*/ 520322 w 1386206"/>
                  <a:gd name="connsiteY287" fmla="*/ 922604 h 1386047"/>
                  <a:gd name="connsiteX288" fmla="*/ 522466 w 1386206"/>
                  <a:gd name="connsiteY288" fmla="*/ 923316 h 1386047"/>
                  <a:gd name="connsiteX289" fmla="*/ 549626 w 1386206"/>
                  <a:gd name="connsiteY289" fmla="*/ 924741 h 1386047"/>
                  <a:gd name="connsiteX290" fmla="*/ 551055 w 1386206"/>
                  <a:gd name="connsiteY290" fmla="*/ 924741 h 1386047"/>
                  <a:gd name="connsiteX291" fmla="*/ 565350 w 1386206"/>
                  <a:gd name="connsiteY291" fmla="*/ 925453 h 1386047"/>
                  <a:gd name="connsiteX292" fmla="*/ 566779 w 1386206"/>
                  <a:gd name="connsiteY292" fmla="*/ 925453 h 1386047"/>
                  <a:gd name="connsiteX293" fmla="*/ 568209 w 1386206"/>
                  <a:gd name="connsiteY293" fmla="*/ 925453 h 1386047"/>
                  <a:gd name="connsiteX294" fmla="*/ 571782 w 1386206"/>
                  <a:gd name="connsiteY294" fmla="*/ 925453 h 1386047"/>
                  <a:gd name="connsiteX295" fmla="*/ 584647 w 1386206"/>
                  <a:gd name="connsiteY295" fmla="*/ 926166 h 1386047"/>
                  <a:gd name="connsiteX296" fmla="*/ 586792 w 1386206"/>
                  <a:gd name="connsiteY296" fmla="*/ 926166 h 1386047"/>
                  <a:gd name="connsiteX297" fmla="*/ 632534 w 1386206"/>
                  <a:gd name="connsiteY297" fmla="*/ 928302 h 1386047"/>
                  <a:gd name="connsiteX298" fmla="*/ 744747 w 1386206"/>
                  <a:gd name="connsiteY298" fmla="*/ 925453 h 1386047"/>
                  <a:gd name="connsiteX299" fmla="*/ 784771 w 1386206"/>
                  <a:gd name="connsiteY299" fmla="*/ 920467 h 1386047"/>
                  <a:gd name="connsiteX300" fmla="*/ 860533 w 1386206"/>
                  <a:gd name="connsiteY300" fmla="*/ 896962 h 1386047"/>
                  <a:gd name="connsiteX301" fmla="*/ 869824 w 1386206"/>
                  <a:gd name="connsiteY301" fmla="*/ 891264 h 1386047"/>
                  <a:gd name="connsiteX302" fmla="*/ 881975 w 1386206"/>
                  <a:gd name="connsiteY302" fmla="*/ 881292 h 1386047"/>
                  <a:gd name="connsiteX303" fmla="*/ 891981 w 1386206"/>
                  <a:gd name="connsiteY303" fmla="*/ 869183 h 1386047"/>
                  <a:gd name="connsiteX304" fmla="*/ 914853 w 1386206"/>
                  <a:gd name="connsiteY304" fmla="*/ 815762 h 1386047"/>
                  <a:gd name="connsiteX305" fmla="*/ 921285 w 1386206"/>
                  <a:gd name="connsiteY305" fmla="*/ 784422 h 1386047"/>
                  <a:gd name="connsiteX306" fmla="*/ 926288 w 1386206"/>
                  <a:gd name="connsiteY306" fmla="*/ 744534 h 1386047"/>
                  <a:gd name="connsiteX307" fmla="*/ 929147 w 1386206"/>
                  <a:gd name="connsiteY307" fmla="*/ 632706 h 1386047"/>
                  <a:gd name="connsiteX308" fmla="*/ 927003 w 1386206"/>
                  <a:gd name="connsiteY308" fmla="*/ 587120 h 1386047"/>
                  <a:gd name="connsiteX309" fmla="*/ 923429 w 1386206"/>
                  <a:gd name="connsiteY309" fmla="*/ 514468 h 1386047"/>
                  <a:gd name="connsiteX310" fmla="*/ 923429 w 1386206"/>
                  <a:gd name="connsiteY310" fmla="*/ 513755 h 1386047"/>
                  <a:gd name="connsiteX311" fmla="*/ 922715 w 1386206"/>
                  <a:gd name="connsiteY311" fmla="*/ 500222 h 1386047"/>
                  <a:gd name="connsiteX312" fmla="*/ 1370508 w 1386206"/>
                  <a:gd name="connsiteY312" fmla="*/ 400228 h 1386047"/>
                  <a:gd name="connsiteX313" fmla="*/ 1381925 w 1386206"/>
                  <a:gd name="connsiteY313" fmla="*/ 405046 h 1386047"/>
                  <a:gd name="connsiteX314" fmla="*/ 1381925 w 1386206"/>
                  <a:gd name="connsiteY314" fmla="*/ 427174 h 1386047"/>
                  <a:gd name="connsiteX315" fmla="*/ 1369794 w 1386206"/>
                  <a:gd name="connsiteY315" fmla="*/ 437167 h 1386047"/>
                  <a:gd name="connsiteX316" fmla="*/ 1369081 w 1386206"/>
                  <a:gd name="connsiteY316" fmla="*/ 437881 h 1386047"/>
                  <a:gd name="connsiteX317" fmla="*/ 1362659 w 1386206"/>
                  <a:gd name="connsiteY317" fmla="*/ 442164 h 1386047"/>
                  <a:gd name="connsiteX318" fmla="*/ 1361945 w 1386206"/>
                  <a:gd name="connsiteY318" fmla="*/ 442877 h 1386047"/>
                  <a:gd name="connsiteX319" fmla="*/ 1354810 w 1386206"/>
                  <a:gd name="connsiteY319" fmla="*/ 446446 h 1386047"/>
                  <a:gd name="connsiteX320" fmla="*/ 1354096 w 1386206"/>
                  <a:gd name="connsiteY320" fmla="*/ 447160 h 1386047"/>
                  <a:gd name="connsiteX321" fmla="*/ 1346247 w 1386206"/>
                  <a:gd name="connsiteY321" fmla="*/ 450729 h 1386047"/>
                  <a:gd name="connsiteX322" fmla="*/ 1345534 w 1386206"/>
                  <a:gd name="connsiteY322" fmla="*/ 451443 h 1386047"/>
                  <a:gd name="connsiteX323" fmla="*/ 1336971 w 1386206"/>
                  <a:gd name="connsiteY323" fmla="*/ 455012 h 1386047"/>
                  <a:gd name="connsiteX324" fmla="*/ 1327695 w 1386206"/>
                  <a:gd name="connsiteY324" fmla="*/ 458581 h 1386047"/>
                  <a:gd name="connsiteX325" fmla="*/ 1318419 w 1386206"/>
                  <a:gd name="connsiteY325" fmla="*/ 461436 h 1386047"/>
                  <a:gd name="connsiteX326" fmla="*/ 1317705 w 1386206"/>
                  <a:gd name="connsiteY326" fmla="*/ 461436 h 1386047"/>
                  <a:gd name="connsiteX327" fmla="*/ 1308429 w 1386206"/>
                  <a:gd name="connsiteY327" fmla="*/ 464291 h 1386047"/>
                  <a:gd name="connsiteX328" fmla="*/ 1307002 w 1386206"/>
                  <a:gd name="connsiteY328" fmla="*/ 465005 h 1386047"/>
                  <a:gd name="connsiteX329" fmla="*/ 1297726 w 1386206"/>
                  <a:gd name="connsiteY329" fmla="*/ 467147 h 1386047"/>
                  <a:gd name="connsiteX330" fmla="*/ 1296299 w 1386206"/>
                  <a:gd name="connsiteY330" fmla="*/ 467147 h 1386047"/>
                  <a:gd name="connsiteX331" fmla="*/ 1286309 w 1386206"/>
                  <a:gd name="connsiteY331" fmla="*/ 469288 h 1386047"/>
                  <a:gd name="connsiteX332" fmla="*/ 1284882 w 1386206"/>
                  <a:gd name="connsiteY332" fmla="*/ 469288 h 1386047"/>
                  <a:gd name="connsiteX333" fmla="*/ 1274179 w 1386206"/>
                  <a:gd name="connsiteY333" fmla="*/ 471429 h 1386047"/>
                  <a:gd name="connsiteX334" fmla="*/ 1273465 w 1386206"/>
                  <a:gd name="connsiteY334" fmla="*/ 471429 h 1386047"/>
                  <a:gd name="connsiteX335" fmla="*/ 1262048 w 1386206"/>
                  <a:gd name="connsiteY335" fmla="*/ 472857 h 1386047"/>
                  <a:gd name="connsiteX336" fmla="*/ 1261335 w 1386206"/>
                  <a:gd name="connsiteY336" fmla="*/ 473571 h 1386047"/>
                  <a:gd name="connsiteX337" fmla="*/ 1249205 w 1386206"/>
                  <a:gd name="connsiteY337" fmla="*/ 474998 h 1386047"/>
                  <a:gd name="connsiteX338" fmla="*/ 1209959 w 1386206"/>
                  <a:gd name="connsiteY338" fmla="*/ 477853 h 1386047"/>
                  <a:gd name="connsiteX339" fmla="*/ 1209246 w 1386206"/>
                  <a:gd name="connsiteY339" fmla="*/ 477853 h 1386047"/>
                  <a:gd name="connsiteX340" fmla="*/ 1196402 w 1386206"/>
                  <a:gd name="connsiteY340" fmla="*/ 477853 h 1386047"/>
                  <a:gd name="connsiteX341" fmla="*/ 1195688 w 1386206"/>
                  <a:gd name="connsiteY341" fmla="*/ 477853 h 1386047"/>
                  <a:gd name="connsiteX342" fmla="*/ 1182131 w 1386206"/>
                  <a:gd name="connsiteY342" fmla="*/ 478567 h 1386047"/>
                  <a:gd name="connsiteX343" fmla="*/ 1181417 w 1386206"/>
                  <a:gd name="connsiteY343" fmla="*/ 478567 h 1386047"/>
                  <a:gd name="connsiteX344" fmla="*/ 1167860 w 1386206"/>
                  <a:gd name="connsiteY344" fmla="*/ 478567 h 1386047"/>
                  <a:gd name="connsiteX345" fmla="*/ 1166433 w 1386206"/>
                  <a:gd name="connsiteY345" fmla="*/ 478567 h 1386047"/>
                  <a:gd name="connsiteX346" fmla="*/ 1152875 w 1386206"/>
                  <a:gd name="connsiteY346" fmla="*/ 478567 h 1386047"/>
                  <a:gd name="connsiteX347" fmla="*/ 1151448 w 1386206"/>
                  <a:gd name="connsiteY347" fmla="*/ 478567 h 1386047"/>
                  <a:gd name="connsiteX348" fmla="*/ 1137891 w 1386206"/>
                  <a:gd name="connsiteY348" fmla="*/ 478567 h 1386047"/>
                  <a:gd name="connsiteX349" fmla="*/ 1136464 w 1386206"/>
                  <a:gd name="connsiteY349" fmla="*/ 478567 h 1386047"/>
                  <a:gd name="connsiteX350" fmla="*/ 1122193 w 1386206"/>
                  <a:gd name="connsiteY350" fmla="*/ 478567 h 1386047"/>
                  <a:gd name="connsiteX351" fmla="*/ 1121479 w 1386206"/>
                  <a:gd name="connsiteY351" fmla="*/ 478567 h 1386047"/>
                  <a:gd name="connsiteX352" fmla="*/ 1058687 w 1386206"/>
                  <a:gd name="connsiteY352" fmla="*/ 475712 h 1386047"/>
                  <a:gd name="connsiteX353" fmla="*/ 1042989 w 1386206"/>
                  <a:gd name="connsiteY353" fmla="*/ 474998 h 1386047"/>
                  <a:gd name="connsiteX354" fmla="*/ 1042275 w 1386206"/>
                  <a:gd name="connsiteY354" fmla="*/ 474998 h 1386047"/>
                  <a:gd name="connsiteX355" fmla="*/ 1026577 w 1386206"/>
                  <a:gd name="connsiteY355" fmla="*/ 473571 h 1386047"/>
                  <a:gd name="connsiteX356" fmla="*/ 1025150 w 1386206"/>
                  <a:gd name="connsiteY356" fmla="*/ 473571 h 1386047"/>
                  <a:gd name="connsiteX357" fmla="*/ 1010165 w 1386206"/>
                  <a:gd name="connsiteY357" fmla="*/ 472857 h 1386047"/>
                  <a:gd name="connsiteX358" fmla="*/ 1008738 w 1386206"/>
                  <a:gd name="connsiteY358" fmla="*/ 472857 h 1386047"/>
                  <a:gd name="connsiteX359" fmla="*/ 1007311 w 1386206"/>
                  <a:gd name="connsiteY359" fmla="*/ 472857 h 1386047"/>
                  <a:gd name="connsiteX360" fmla="*/ 993040 w 1386206"/>
                  <a:gd name="connsiteY360" fmla="*/ 471429 h 1386047"/>
                  <a:gd name="connsiteX361" fmla="*/ 992327 w 1386206"/>
                  <a:gd name="connsiteY361" fmla="*/ 471429 h 1386047"/>
                  <a:gd name="connsiteX362" fmla="*/ 983764 w 1386206"/>
                  <a:gd name="connsiteY362" fmla="*/ 471429 h 1386047"/>
                  <a:gd name="connsiteX363" fmla="*/ 975915 w 1386206"/>
                  <a:gd name="connsiteY363" fmla="*/ 470715 h 1386047"/>
                  <a:gd name="connsiteX364" fmla="*/ 952368 w 1386206"/>
                  <a:gd name="connsiteY364" fmla="*/ 469288 h 1386047"/>
                  <a:gd name="connsiteX365" fmla="*/ 942378 w 1386206"/>
                  <a:gd name="connsiteY365" fmla="*/ 468574 h 1386047"/>
                  <a:gd name="connsiteX366" fmla="*/ 920258 w 1386206"/>
                  <a:gd name="connsiteY366" fmla="*/ 467147 h 1386047"/>
                  <a:gd name="connsiteX367" fmla="*/ 888861 w 1386206"/>
                  <a:gd name="connsiteY367" fmla="*/ 465005 h 1386047"/>
                  <a:gd name="connsiteX368" fmla="*/ 866741 w 1386206"/>
                  <a:gd name="connsiteY368" fmla="*/ 463578 h 1386047"/>
                  <a:gd name="connsiteX369" fmla="*/ 800381 w 1386206"/>
                  <a:gd name="connsiteY369" fmla="*/ 460009 h 1386047"/>
                  <a:gd name="connsiteX370" fmla="*/ 754714 w 1386206"/>
                  <a:gd name="connsiteY370" fmla="*/ 457867 h 1386047"/>
                  <a:gd name="connsiteX371" fmla="*/ 642687 w 1386206"/>
                  <a:gd name="connsiteY371" fmla="*/ 460722 h 1386047"/>
                  <a:gd name="connsiteX372" fmla="*/ 602728 w 1386206"/>
                  <a:gd name="connsiteY372" fmla="*/ 465719 h 1386047"/>
                  <a:gd name="connsiteX373" fmla="*/ 526378 w 1386206"/>
                  <a:gd name="connsiteY373" fmla="*/ 489274 h 1386047"/>
                  <a:gd name="connsiteX374" fmla="*/ 517816 w 1386206"/>
                  <a:gd name="connsiteY374" fmla="*/ 494985 h 1386047"/>
                  <a:gd name="connsiteX375" fmla="*/ 505685 w 1386206"/>
                  <a:gd name="connsiteY375" fmla="*/ 504978 h 1386047"/>
                  <a:gd name="connsiteX376" fmla="*/ 495696 w 1386206"/>
                  <a:gd name="connsiteY376" fmla="*/ 517112 h 1386047"/>
                  <a:gd name="connsiteX377" fmla="*/ 472862 w 1386206"/>
                  <a:gd name="connsiteY377" fmla="*/ 570647 h 1386047"/>
                  <a:gd name="connsiteX378" fmla="*/ 469294 w 1386206"/>
                  <a:gd name="connsiteY378" fmla="*/ 585637 h 1386047"/>
                  <a:gd name="connsiteX379" fmla="*/ 467867 w 1386206"/>
                  <a:gd name="connsiteY379" fmla="*/ 594202 h 1386047"/>
                  <a:gd name="connsiteX380" fmla="*/ 466440 w 1386206"/>
                  <a:gd name="connsiteY380" fmla="*/ 602054 h 1386047"/>
                  <a:gd name="connsiteX381" fmla="*/ 461445 w 1386206"/>
                  <a:gd name="connsiteY381" fmla="*/ 642026 h 1386047"/>
                  <a:gd name="connsiteX382" fmla="*/ 458591 w 1386206"/>
                  <a:gd name="connsiteY382" fmla="*/ 754092 h 1386047"/>
                  <a:gd name="connsiteX383" fmla="*/ 460732 w 1386206"/>
                  <a:gd name="connsiteY383" fmla="*/ 799775 h 1386047"/>
                  <a:gd name="connsiteX384" fmla="*/ 464299 w 1386206"/>
                  <a:gd name="connsiteY384" fmla="*/ 872582 h 1386047"/>
                  <a:gd name="connsiteX385" fmla="*/ 464299 w 1386206"/>
                  <a:gd name="connsiteY385" fmla="*/ 873296 h 1386047"/>
                  <a:gd name="connsiteX386" fmla="*/ 465726 w 1386206"/>
                  <a:gd name="connsiteY386" fmla="*/ 887572 h 1386047"/>
                  <a:gd name="connsiteX387" fmla="*/ 462872 w 1386206"/>
                  <a:gd name="connsiteY387" fmla="*/ 887572 h 1386047"/>
                  <a:gd name="connsiteX388" fmla="*/ 433617 w 1386206"/>
                  <a:gd name="connsiteY388" fmla="*/ 885431 h 1386047"/>
                  <a:gd name="connsiteX389" fmla="*/ 430049 w 1386206"/>
                  <a:gd name="connsiteY389" fmla="*/ 824044 h 1386047"/>
                  <a:gd name="connsiteX390" fmla="*/ 427195 w 1386206"/>
                  <a:gd name="connsiteY390" fmla="*/ 733392 h 1386047"/>
                  <a:gd name="connsiteX391" fmla="*/ 427195 w 1386206"/>
                  <a:gd name="connsiteY391" fmla="*/ 721258 h 1386047"/>
                  <a:gd name="connsiteX392" fmla="*/ 427195 w 1386206"/>
                  <a:gd name="connsiteY392" fmla="*/ 711265 h 1386047"/>
                  <a:gd name="connsiteX393" fmla="*/ 427195 w 1386206"/>
                  <a:gd name="connsiteY393" fmla="*/ 701271 h 1386047"/>
                  <a:gd name="connsiteX394" fmla="*/ 483565 w 1386206"/>
                  <a:gd name="connsiteY394" fmla="*/ 482850 h 1386047"/>
                  <a:gd name="connsiteX395" fmla="*/ 680505 w 1386206"/>
                  <a:gd name="connsiteY395" fmla="*/ 427174 h 1386047"/>
                  <a:gd name="connsiteX396" fmla="*/ 681218 w 1386206"/>
                  <a:gd name="connsiteY396" fmla="*/ 427174 h 1386047"/>
                  <a:gd name="connsiteX397" fmla="*/ 694062 w 1386206"/>
                  <a:gd name="connsiteY397" fmla="*/ 426460 h 1386047"/>
                  <a:gd name="connsiteX398" fmla="*/ 697630 w 1386206"/>
                  <a:gd name="connsiteY398" fmla="*/ 426460 h 1386047"/>
                  <a:gd name="connsiteX399" fmla="*/ 863174 w 1386206"/>
                  <a:gd name="connsiteY399" fmla="*/ 431457 h 1386047"/>
                  <a:gd name="connsiteX400" fmla="*/ 886721 w 1386206"/>
                  <a:gd name="connsiteY400" fmla="*/ 432884 h 1386047"/>
                  <a:gd name="connsiteX401" fmla="*/ 918117 w 1386206"/>
                  <a:gd name="connsiteY401" fmla="*/ 435026 h 1386047"/>
                  <a:gd name="connsiteX402" fmla="*/ 944519 w 1386206"/>
                  <a:gd name="connsiteY402" fmla="*/ 437167 h 1386047"/>
                  <a:gd name="connsiteX403" fmla="*/ 950227 w 1386206"/>
                  <a:gd name="connsiteY403" fmla="*/ 437167 h 1386047"/>
                  <a:gd name="connsiteX404" fmla="*/ 980910 w 1386206"/>
                  <a:gd name="connsiteY404" fmla="*/ 439308 h 1386047"/>
                  <a:gd name="connsiteX405" fmla="*/ 981623 w 1386206"/>
                  <a:gd name="connsiteY405" fmla="*/ 439308 h 1386047"/>
                  <a:gd name="connsiteX406" fmla="*/ 986618 w 1386206"/>
                  <a:gd name="connsiteY406" fmla="*/ 440022 h 1386047"/>
                  <a:gd name="connsiteX407" fmla="*/ 993040 w 1386206"/>
                  <a:gd name="connsiteY407" fmla="*/ 440022 h 1386047"/>
                  <a:gd name="connsiteX408" fmla="*/ 1003743 w 1386206"/>
                  <a:gd name="connsiteY408" fmla="*/ 440736 h 1386047"/>
                  <a:gd name="connsiteX409" fmla="*/ 1005171 w 1386206"/>
                  <a:gd name="connsiteY409" fmla="*/ 440736 h 1386047"/>
                  <a:gd name="connsiteX410" fmla="*/ 1008025 w 1386206"/>
                  <a:gd name="connsiteY410" fmla="*/ 441450 h 1386047"/>
                  <a:gd name="connsiteX411" fmla="*/ 1020155 w 1386206"/>
                  <a:gd name="connsiteY411" fmla="*/ 442164 h 1386047"/>
                  <a:gd name="connsiteX412" fmla="*/ 1023723 w 1386206"/>
                  <a:gd name="connsiteY412" fmla="*/ 442164 h 1386047"/>
                  <a:gd name="connsiteX413" fmla="*/ 1035853 w 1386206"/>
                  <a:gd name="connsiteY413" fmla="*/ 442877 h 1386047"/>
                  <a:gd name="connsiteX414" fmla="*/ 1038707 w 1386206"/>
                  <a:gd name="connsiteY414" fmla="*/ 442877 h 1386047"/>
                  <a:gd name="connsiteX415" fmla="*/ 1051551 w 1386206"/>
                  <a:gd name="connsiteY415" fmla="*/ 443591 h 1386047"/>
                  <a:gd name="connsiteX416" fmla="*/ 1053692 w 1386206"/>
                  <a:gd name="connsiteY416" fmla="*/ 444305 h 1386047"/>
                  <a:gd name="connsiteX417" fmla="*/ 1058687 w 1386206"/>
                  <a:gd name="connsiteY417" fmla="*/ 444305 h 1386047"/>
                  <a:gd name="connsiteX418" fmla="*/ 1067249 w 1386206"/>
                  <a:gd name="connsiteY418" fmla="*/ 445019 h 1386047"/>
                  <a:gd name="connsiteX419" fmla="*/ 1081520 w 1386206"/>
                  <a:gd name="connsiteY419" fmla="*/ 445019 h 1386047"/>
                  <a:gd name="connsiteX420" fmla="*/ 1082947 w 1386206"/>
                  <a:gd name="connsiteY420" fmla="*/ 445733 h 1386047"/>
                  <a:gd name="connsiteX421" fmla="*/ 1096505 w 1386206"/>
                  <a:gd name="connsiteY421" fmla="*/ 445733 h 1386047"/>
                  <a:gd name="connsiteX422" fmla="*/ 1097932 w 1386206"/>
                  <a:gd name="connsiteY422" fmla="*/ 445733 h 1386047"/>
                  <a:gd name="connsiteX423" fmla="*/ 1105068 w 1386206"/>
                  <a:gd name="connsiteY423" fmla="*/ 446446 h 1386047"/>
                  <a:gd name="connsiteX424" fmla="*/ 1110776 w 1386206"/>
                  <a:gd name="connsiteY424" fmla="*/ 446446 h 1386047"/>
                  <a:gd name="connsiteX425" fmla="*/ 1112917 w 1386206"/>
                  <a:gd name="connsiteY425" fmla="*/ 446446 h 1386047"/>
                  <a:gd name="connsiteX426" fmla="*/ 1125760 w 1386206"/>
                  <a:gd name="connsiteY426" fmla="*/ 447160 h 1386047"/>
                  <a:gd name="connsiteX427" fmla="*/ 1127188 w 1386206"/>
                  <a:gd name="connsiteY427" fmla="*/ 447160 h 1386047"/>
                  <a:gd name="connsiteX428" fmla="*/ 1140031 w 1386206"/>
                  <a:gd name="connsiteY428" fmla="*/ 447160 h 1386047"/>
                  <a:gd name="connsiteX429" fmla="*/ 1141459 w 1386206"/>
                  <a:gd name="connsiteY429" fmla="*/ 447160 h 1386047"/>
                  <a:gd name="connsiteX430" fmla="*/ 1154302 w 1386206"/>
                  <a:gd name="connsiteY430" fmla="*/ 447160 h 1386047"/>
                  <a:gd name="connsiteX431" fmla="*/ 1155730 w 1386206"/>
                  <a:gd name="connsiteY431" fmla="*/ 447160 h 1386047"/>
                  <a:gd name="connsiteX432" fmla="*/ 1168573 w 1386206"/>
                  <a:gd name="connsiteY432" fmla="*/ 447160 h 1386047"/>
                  <a:gd name="connsiteX433" fmla="*/ 1169287 w 1386206"/>
                  <a:gd name="connsiteY433" fmla="*/ 447160 h 1386047"/>
                  <a:gd name="connsiteX434" fmla="*/ 1194975 w 1386206"/>
                  <a:gd name="connsiteY434" fmla="*/ 446446 h 1386047"/>
                  <a:gd name="connsiteX435" fmla="*/ 1195688 w 1386206"/>
                  <a:gd name="connsiteY435" fmla="*/ 446446 h 1386047"/>
                  <a:gd name="connsiteX436" fmla="*/ 1207819 w 1386206"/>
                  <a:gd name="connsiteY436" fmla="*/ 446446 h 1386047"/>
                  <a:gd name="connsiteX437" fmla="*/ 1209246 w 1386206"/>
                  <a:gd name="connsiteY437" fmla="*/ 446446 h 1386047"/>
                  <a:gd name="connsiteX438" fmla="*/ 1219235 w 1386206"/>
                  <a:gd name="connsiteY438" fmla="*/ 445733 h 1386047"/>
                  <a:gd name="connsiteX439" fmla="*/ 1220663 w 1386206"/>
                  <a:gd name="connsiteY439" fmla="*/ 445733 h 1386047"/>
                  <a:gd name="connsiteX440" fmla="*/ 1222090 w 1386206"/>
                  <a:gd name="connsiteY440" fmla="*/ 445733 h 1386047"/>
                  <a:gd name="connsiteX441" fmla="*/ 1232793 w 1386206"/>
                  <a:gd name="connsiteY441" fmla="*/ 445019 h 1386047"/>
                  <a:gd name="connsiteX442" fmla="*/ 1234220 w 1386206"/>
                  <a:gd name="connsiteY442" fmla="*/ 444305 h 1386047"/>
                  <a:gd name="connsiteX443" fmla="*/ 1244923 w 1386206"/>
                  <a:gd name="connsiteY443" fmla="*/ 443591 h 1386047"/>
                  <a:gd name="connsiteX444" fmla="*/ 1246350 w 1386206"/>
                  <a:gd name="connsiteY444" fmla="*/ 443591 h 1386047"/>
                  <a:gd name="connsiteX445" fmla="*/ 1257054 w 1386206"/>
                  <a:gd name="connsiteY445" fmla="*/ 442164 h 1386047"/>
                  <a:gd name="connsiteX446" fmla="*/ 1257767 w 1386206"/>
                  <a:gd name="connsiteY446" fmla="*/ 442164 h 1386047"/>
                  <a:gd name="connsiteX447" fmla="*/ 1259908 w 1386206"/>
                  <a:gd name="connsiteY447" fmla="*/ 442164 h 1386047"/>
                  <a:gd name="connsiteX448" fmla="*/ 1267757 w 1386206"/>
                  <a:gd name="connsiteY448" fmla="*/ 440736 h 1386047"/>
                  <a:gd name="connsiteX449" fmla="*/ 1268470 w 1386206"/>
                  <a:gd name="connsiteY449" fmla="*/ 440736 h 1386047"/>
                  <a:gd name="connsiteX450" fmla="*/ 1288450 w 1386206"/>
                  <a:gd name="connsiteY450" fmla="*/ 437167 h 1386047"/>
                  <a:gd name="connsiteX451" fmla="*/ 1289163 w 1386206"/>
                  <a:gd name="connsiteY451" fmla="*/ 437167 h 1386047"/>
                  <a:gd name="connsiteX452" fmla="*/ 1298439 w 1386206"/>
                  <a:gd name="connsiteY452" fmla="*/ 435026 h 1386047"/>
                  <a:gd name="connsiteX453" fmla="*/ 1299153 w 1386206"/>
                  <a:gd name="connsiteY453" fmla="*/ 434312 h 1386047"/>
                  <a:gd name="connsiteX454" fmla="*/ 1307716 w 1386206"/>
                  <a:gd name="connsiteY454" fmla="*/ 432171 h 1386047"/>
                  <a:gd name="connsiteX455" fmla="*/ 1309143 w 1386206"/>
                  <a:gd name="connsiteY455" fmla="*/ 432171 h 1386047"/>
                  <a:gd name="connsiteX456" fmla="*/ 1316992 w 1386206"/>
                  <a:gd name="connsiteY456" fmla="*/ 429315 h 1386047"/>
                  <a:gd name="connsiteX457" fmla="*/ 1317705 w 1386206"/>
                  <a:gd name="connsiteY457" fmla="*/ 428602 h 1386047"/>
                  <a:gd name="connsiteX458" fmla="*/ 1324841 w 1386206"/>
                  <a:gd name="connsiteY458" fmla="*/ 426460 h 1386047"/>
                  <a:gd name="connsiteX459" fmla="*/ 1326268 w 1386206"/>
                  <a:gd name="connsiteY459" fmla="*/ 425746 h 1386047"/>
                  <a:gd name="connsiteX460" fmla="*/ 1333403 w 1386206"/>
                  <a:gd name="connsiteY460" fmla="*/ 422891 h 1386047"/>
                  <a:gd name="connsiteX461" fmla="*/ 1333403 w 1386206"/>
                  <a:gd name="connsiteY461" fmla="*/ 422177 h 1386047"/>
                  <a:gd name="connsiteX462" fmla="*/ 1340539 w 1386206"/>
                  <a:gd name="connsiteY462" fmla="*/ 418608 h 1386047"/>
                  <a:gd name="connsiteX463" fmla="*/ 1346961 w 1386206"/>
                  <a:gd name="connsiteY463" fmla="*/ 415039 h 1386047"/>
                  <a:gd name="connsiteX464" fmla="*/ 1359091 w 1386206"/>
                  <a:gd name="connsiteY464" fmla="*/ 405046 h 1386047"/>
                  <a:gd name="connsiteX465" fmla="*/ 1370508 w 1386206"/>
                  <a:gd name="connsiteY465" fmla="*/ 400228 h 1386047"/>
                  <a:gd name="connsiteX466" fmla="*/ 971731 w 1386206"/>
                  <a:gd name="connsiteY466" fmla="*/ 0 h 1386047"/>
                  <a:gd name="connsiteX467" fmla="*/ 982664 w 1386206"/>
                  <a:gd name="connsiteY467" fmla="*/ 4284 h 1386047"/>
                  <a:gd name="connsiteX468" fmla="*/ 982664 w 1386206"/>
                  <a:gd name="connsiteY468" fmla="*/ 27130 h 1386047"/>
                  <a:gd name="connsiteX469" fmla="*/ 972544 w 1386206"/>
                  <a:gd name="connsiteY469" fmla="*/ 39268 h 1386047"/>
                  <a:gd name="connsiteX470" fmla="*/ 968929 w 1386206"/>
                  <a:gd name="connsiteY470" fmla="*/ 45693 h 1386047"/>
                  <a:gd name="connsiteX471" fmla="*/ 965315 w 1386206"/>
                  <a:gd name="connsiteY471" fmla="*/ 52833 h 1386047"/>
                  <a:gd name="connsiteX472" fmla="*/ 964592 w 1386206"/>
                  <a:gd name="connsiteY472" fmla="*/ 52833 h 1386047"/>
                  <a:gd name="connsiteX473" fmla="*/ 961701 w 1386206"/>
                  <a:gd name="connsiteY473" fmla="*/ 59972 h 1386047"/>
                  <a:gd name="connsiteX474" fmla="*/ 960978 w 1386206"/>
                  <a:gd name="connsiteY474" fmla="*/ 61400 h 1386047"/>
                  <a:gd name="connsiteX475" fmla="*/ 958809 w 1386206"/>
                  <a:gd name="connsiteY475" fmla="*/ 68540 h 1386047"/>
                  <a:gd name="connsiteX476" fmla="*/ 958086 w 1386206"/>
                  <a:gd name="connsiteY476" fmla="*/ 69254 h 1386047"/>
                  <a:gd name="connsiteX477" fmla="*/ 955195 w 1386206"/>
                  <a:gd name="connsiteY477" fmla="*/ 77107 h 1386047"/>
                  <a:gd name="connsiteX478" fmla="*/ 955195 w 1386206"/>
                  <a:gd name="connsiteY478" fmla="*/ 78535 h 1386047"/>
                  <a:gd name="connsiteX479" fmla="*/ 953026 w 1386206"/>
                  <a:gd name="connsiteY479" fmla="*/ 87103 h 1386047"/>
                  <a:gd name="connsiteX480" fmla="*/ 952303 w 1386206"/>
                  <a:gd name="connsiteY480" fmla="*/ 87817 h 1386047"/>
                  <a:gd name="connsiteX481" fmla="*/ 950135 w 1386206"/>
                  <a:gd name="connsiteY481" fmla="*/ 97098 h 1386047"/>
                  <a:gd name="connsiteX482" fmla="*/ 950135 w 1386206"/>
                  <a:gd name="connsiteY482" fmla="*/ 97812 h 1386047"/>
                  <a:gd name="connsiteX483" fmla="*/ 946520 w 1386206"/>
                  <a:gd name="connsiteY483" fmla="*/ 117803 h 1386047"/>
                  <a:gd name="connsiteX484" fmla="*/ 946520 w 1386206"/>
                  <a:gd name="connsiteY484" fmla="*/ 118517 h 1386047"/>
                  <a:gd name="connsiteX485" fmla="*/ 945074 w 1386206"/>
                  <a:gd name="connsiteY485" fmla="*/ 126370 h 1386047"/>
                  <a:gd name="connsiteX486" fmla="*/ 945074 w 1386206"/>
                  <a:gd name="connsiteY486" fmla="*/ 128512 h 1386047"/>
                  <a:gd name="connsiteX487" fmla="*/ 945074 w 1386206"/>
                  <a:gd name="connsiteY487" fmla="*/ 129940 h 1386047"/>
                  <a:gd name="connsiteX488" fmla="*/ 943629 w 1386206"/>
                  <a:gd name="connsiteY488" fmla="*/ 139935 h 1386047"/>
                  <a:gd name="connsiteX489" fmla="*/ 943629 w 1386206"/>
                  <a:gd name="connsiteY489" fmla="*/ 141363 h 1386047"/>
                  <a:gd name="connsiteX490" fmla="*/ 942906 w 1386206"/>
                  <a:gd name="connsiteY490" fmla="*/ 152073 h 1386047"/>
                  <a:gd name="connsiteX491" fmla="*/ 942183 w 1386206"/>
                  <a:gd name="connsiteY491" fmla="*/ 153501 h 1386047"/>
                  <a:gd name="connsiteX492" fmla="*/ 941460 w 1386206"/>
                  <a:gd name="connsiteY492" fmla="*/ 164210 h 1386047"/>
                  <a:gd name="connsiteX493" fmla="*/ 941460 w 1386206"/>
                  <a:gd name="connsiteY493" fmla="*/ 165638 h 1386047"/>
                  <a:gd name="connsiteX494" fmla="*/ 941460 w 1386206"/>
                  <a:gd name="connsiteY494" fmla="*/ 167066 h 1386047"/>
                  <a:gd name="connsiteX495" fmla="*/ 940737 w 1386206"/>
                  <a:gd name="connsiteY495" fmla="*/ 177061 h 1386047"/>
                  <a:gd name="connsiteX496" fmla="*/ 940737 w 1386206"/>
                  <a:gd name="connsiteY496" fmla="*/ 178489 h 1386047"/>
                  <a:gd name="connsiteX497" fmla="*/ 940737 w 1386206"/>
                  <a:gd name="connsiteY497" fmla="*/ 190626 h 1386047"/>
                  <a:gd name="connsiteX498" fmla="*/ 940737 w 1386206"/>
                  <a:gd name="connsiteY498" fmla="*/ 191340 h 1386047"/>
                  <a:gd name="connsiteX499" fmla="*/ 940014 w 1386206"/>
                  <a:gd name="connsiteY499" fmla="*/ 217043 h 1386047"/>
                  <a:gd name="connsiteX500" fmla="*/ 940014 w 1386206"/>
                  <a:gd name="connsiteY500" fmla="*/ 217757 h 1386047"/>
                  <a:gd name="connsiteX501" fmla="*/ 940014 w 1386206"/>
                  <a:gd name="connsiteY501" fmla="*/ 230608 h 1386047"/>
                  <a:gd name="connsiteX502" fmla="*/ 940014 w 1386206"/>
                  <a:gd name="connsiteY502" fmla="*/ 232036 h 1386047"/>
                  <a:gd name="connsiteX503" fmla="*/ 940014 w 1386206"/>
                  <a:gd name="connsiteY503" fmla="*/ 244887 h 1386047"/>
                  <a:gd name="connsiteX504" fmla="*/ 940014 w 1386206"/>
                  <a:gd name="connsiteY504" fmla="*/ 246315 h 1386047"/>
                  <a:gd name="connsiteX505" fmla="*/ 940014 w 1386206"/>
                  <a:gd name="connsiteY505" fmla="*/ 259166 h 1386047"/>
                  <a:gd name="connsiteX506" fmla="*/ 940014 w 1386206"/>
                  <a:gd name="connsiteY506" fmla="*/ 260594 h 1386047"/>
                  <a:gd name="connsiteX507" fmla="*/ 940737 w 1386206"/>
                  <a:gd name="connsiteY507" fmla="*/ 273445 h 1386047"/>
                  <a:gd name="connsiteX508" fmla="*/ 940737 w 1386206"/>
                  <a:gd name="connsiteY508" fmla="*/ 275587 h 1386047"/>
                  <a:gd name="connsiteX509" fmla="*/ 940737 w 1386206"/>
                  <a:gd name="connsiteY509" fmla="*/ 281299 h 1386047"/>
                  <a:gd name="connsiteX510" fmla="*/ 941460 w 1386206"/>
                  <a:gd name="connsiteY510" fmla="*/ 288438 h 1386047"/>
                  <a:gd name="connsiteX511" fmla="*/ 941460 w 1386206"/>
                  <a:gd name="connsiteY511" fmla="*/ 289866 h 1386047"/>
                  <a:gd name="connsiteX512" fmla="*/ 941460 w 1386206"/>
                  <a:gd name="connsiteY512" fmla="*/ 303431 h 1386047"/>
                  <a:gd name="connsiteX513" fmla="*/ 942183 w 1386206"/>
                  <a:gd name="connsiteY513" fmla="*/ 304859 h 1386047"/>
                  <a:gd name="connsiteX514" fmla="*/ 942906 w 1386206"/>
                  <a:gd name="connsiteY514" fmla="*/ 327706 h 1386047"/>
                  <a:gd name="connsiteX515" fmla="*/ 943629 w 1386206"/>
                  <a:gd name="connsiteY515" fmla="*/ 333417 h 1386047"/>
                  <a:gd name="connsiteX516" fmla="*/ 943629 w 1386206"/>
                  <a:gd name="connsiteY516" fmla="*/ 334131 h 1386047"/>
                  <a:gd name="connsiteX517" fmla="*/ 944351 w 1386206"/>
                  <a:gd name="connsiteY517" fmla="*/ 348411 h 1386047"/>
                  <a:gd name="connsiteX518" fmla="*/ 944351 w 1386206"/>
                  <a:gd name="connsiteY518" fmla="*/ 349838 h 1386047"/>
                  <a:gd name="connsiteX519" fmla="*/ 945074 w 1386206"/>
                  <a:gd name="connsiteY519" fmla="*/ 363404 h 1386047"/>
                  <a:gd name="connsiteX520" fmla="*/ 945074 w 1386206"/>
                  <a:gd name="connsiteY520" fmla="*/ 365545 h 1386047"/>
                  <a:gd name="connsiteX521" fmla="*/ 945797 w 1386206"/>
                  <a:gd name="connsiteY521" fmla="*/ 379111 h 1386047"/>
                  <a:gd name="connsiteX522" fmla="*/ 946520 w 1386206"/>
                  <a:gd name="connsiteY522" fmla="*/ 381253 h 1386047"/>
                  <a:gd name="connsiteX523" fmla="*/ 947243 w 1386206"/>
                  <a:gd name="connsiteY523" fmla="*/ 394818 h 1386047"/>
                  <a:gd name="connsiteX524" fmla="*/ 947243 w 1386206"/>
                  <a:gd name="connsiteY524" fmla="*/ 396960 h 1386047"/>
                  <a:gd name="connsiteX525" fmla="*/ 947966 w 1386206"/>
                  <a:gd name="connsiteY525" fmla="*/ 403385 h 1386047"/>
                  <a:gd name="connsiteX526" fmla="*/ 946520 w 1386206"/>
                  <a:gd name="connsiteY526" fmla="*/ 403385 h 1386047"/>
                  <a:gd name="connsiteX527" fmla="*/ 915436 w 1386206"/>
                  <a:gd name="connsiteY527" fmla="*/ 401243 h 1386047"/>
                  <a:gd name="connsiteX528" fmla="*/ 915436 w 1386206"/>
                  <a:gd name="connsiteY528" fmla="*/ 395532 h 1386047"/>
                  <a:gd name="connsiteX529" fmla="*/ 914713 w 1386206"/>
                  <a:gd name="connsiteY529" fmla="*/ 392676 h 1386047"/>
                  <a:gd name="connsiteX530" fmla="*/ 913990 w 1386206"/>
                  <a:gd name="connsiteY530" fmla="*/ 378397 h 1386047"/>
                  <a:gd name="connsiteX531" fmla="*/ 913990 w 1386206"/>
                  <a:gd name="connsiteY531" fmla="*/ 375541 h 1386047"/>
                  <a:gd name="connsiteX532" fmla="*/ 913267 w 1386206"/>
                  <a:gd name="connsiteY532" fmla="*/ 361976 h 1386047"/>
                  <a:gd name="connsiteX533" fmla="*/ 912545 w 1386206"/>
                  <a:gd name="connsiteY533" fmla="*/ 359120 h 1386047"/>
                  <a:gd name="connsiteX534" fmla="*/ 911822 w 1386206"/>
                  <a:gd name="connsiteY534" fmla="*/ 344841 h 1386047"/>
                  <a:gd name="connsiteX535" fmla="*/ 911822 w 1386206"/>
                  <a:gd name="connsiteY535" fmla="*/ 342699 h 1386047"/>
                  <a:gd name="connsiteX536" fmla="*/ 911099 w 1386206"/>
                  <a:gd name="connsiteY536" fmla="*/ 328420 h 1386047"/>
                  <a:gd name="connsiteX537" fmla="*/ 911099 w 1386206"/>
                  <a:gd name="connsiteY537" fmla="*/ 326278 h 1386047"/>
                  <a:gd name="connsiteX538" fmla="*/ 910376 w 1386206"/>
                  <a:gd name="connsiteY538" fmla="*/ 311999 h 1386047"/>
                  <a:gd name="connsiteX539" fmla="*/ 910376 w 1386206"/>
                  <a:gd name="connsiteY539" fmla="*/ 310571 h 1386047"/>
                  <a:gd name="connsiteX540" fmla="*/ 909653 w 1386206"/>
                  <a:gd name="connsiteY540" fmla="*/ 295578 h 1386047"/>
                  <a:gd name="connsiteX541" fmla="*/ 908930 w 1386206"/>
                  <a:gd name="connsiteY541" fmla="*/ 280585 h 1386047"/>
                  <a:gd name="connsiteX542" fmla="*/ 908930 w 1386206"/>
                  <a:gd name="connsiteY542" fmla="*/ 279871 h 1386047"/>
                  <a:gd name="connsiteX543" fmla="*/ 908930 w 1386206"/>
                  <a:gd name="connsiteY543" fmla="*/ 265592 h 1386047"/>
                  <a:gd name="connsiteX544" fmla="*/ 908207 w 1386206"/>
                  <a:gd name="connsiteY544" fmla="*/ 264164 h 1386047"/>
                  <a:gd name="connsiteX545" fmla="*/ 908207 w 1386206"/>
                  <a:gd name="connsiteY545" fmla="*/ 249885 h 1386047"/>
                  <a:gd name="connsiteX546" fmla="*/ 908207 w 1386206"/>
                  <a:gd name="connsiteY546" fmla="*/ 248457 h 1386047"/>
                  <a:gd name="connsiteX547" fmla="*/ 908207 w 1386206"/>
                  <a:gd name="connsiteY547" fmla="*/ 234892 h 1386047"/>
                  <a:gd name="connsiteX548" fmla="*/ 908207 w 1386206"/>
                  <a:gd name="connsiteY548" fmla="*/ 233464 h 1386047"/>
                  <a:gd name="connsiteX549" fmla="*/ 908207 w 1386206"/>
                  <a:gd name="connsiteY549" fmla="*/ 219898 h 1386047"/>
                  <a:gd name="connsiteX550" fmla="*/ 908207 w 1386206"/>
                  <a:gd name="connsiteY550" fmla="*/ 218471 h 1386047"/>
                  <a:gd name="connsiteX551" fmla="*/ 908207 w 1386206"/>
                  <a:gd name="connsiteY551" fmla="*/ 205619 h 1386047"/>
                  <a:gd name="connsiteX552" fmla="*/ 908207 w 1386206"/>
                  <a:gd name="connsiteY552" fmla="*/ 203477 h 1386047"/>
                  <a:gd name="connsiteX553" fmla="*/ 908207 w 1386206"/>
                  <a:gd name="connsiteY553" fmla="*/ 191340 h 1386047"/>
                  <a:gd name="connsiteX554" fmla="*/ 908930 w 1386206"/>
                  <a:gd name="connsiteY554" fmla="*/ 189912 h 1386047"/>
                  <a:gd name="connsiteX555" fmla="*/ 908930 w 1386206"/>
                  <a:gd name="connsiteY555" fmla="*/ 177061 h 1386047"/>
                  <a:gd name="connsiteX556" fmla="*/ 908930 w 1386206"/>
                  <a:gd name="connsiteY556" fmla="*/ 175633 h 1386047"/>
                  <a:gd name="connsiteX557" fmla="*/ 909653 w 1386206"/>
                  <a:gd name="connsiteY557" fmla="*/ 163496 h 1386047"/>
                  <a:gd name="connsiteX558" fmla="*/ 909653 w 1386206"/>
                  <a:gd name="connsiteY558" fmla="*/ 162782 h 1386047"/>
                  <a:gd name="connsiteX559" fmla="*/ 911099 w 1386206"/>
                  <a:gd name="connsiteY559" fmla="*/ 150645 h 1386047"/>
                  <a:gd name="connsiteX560" fmla="*/ 911099 w 1386206"/>
                  <a:gd name="connsiteY560" fmla="*/ 149931 h 1386047"/>
                  <a:gd name="connsiteX561" fmla="*/ 911822 w 1386206"/>
                  <a:gd name="connsiteY561" fmla="*/ 137794 h 1386047"/>
                  <a:gd name="connsiteX562" fmla="*/ 912545 w 1386206"/>
                  <a:gd name="connsiteY562" fmla="*/ 136366 h 1386047"/>
                  <a:gd name="connsiteX563" fmla="*/ 913267 w 1386206"/>
                  <a:gd name="connsiteY563" fmla="*/ 125656 h 1386047"/>
                  <a:gd name="connsiteX564" fmla="*/ 913990 w 1386206"/>
                  <a:gd name="connsiteY564" fmla="*/ 124228 h 1386047"/>
                  <a:gd name="connsiteX565" fmla="*/ 915436 w 1386206"/>
                  <a:gd name="connsiteY565" fmla="*/ 113519 h 1386047"/>
                  <a:gd name="connsiteX566" fmla="*/ 915436 w 1386206"/>
                  <a:gd name="connsiteY566" fmla="*/ 111377 h 1386047"/>
                  <a:gd name="connsiteX567" fmla="*/ 917605 w 1386206"/>
                  <a:gd name="connsiteY567" fmla="*/ 101382 h 1386047"/>
                  <a:gd name="connsiteX568" fmla="*/ 917605 w 1386206"/>
                  <a:gd name="connsiteY568" fmla="*/ 99954 h 1386047"/>
                  <a:gd name="connsiteX569" fmla="*/ 919773 w 1386206"/>
                  <a:gd name="connsiteY569" fmla="*/ 89958 h 1386047"/>
                  <a:gd name="connsiteX570" fmla="*/ 919773 w 1386206"/>
                  <a:gd name="connsiteY570" fmla="*/ 88531 h 1386047"/>
                  <a:gd name="connsiteX571" fmla="*/ 921942 w 1386206"/>
                  <a:gd name="connsiteY571" fmla="*/ 79249 h 1386047"/>
                  <a:gd name="connsiteX572" fmla="*/ 922665 w 1386206"/>
                  <a:gd name="connsiteY572" fmla="*/ 77821 h 1386047"/>
                  <a:gd name="connsiteX573" fmla="*/ 924834 w 1386206"/>
                  <a:gd name="connsiteY573" fmla="*/ 68540 h 1386047"/>
                  <a:gd name="connsiteX574" fmla="*/ 925556 w 1386206"/>
                  <a:gd name="connsiteY574" fmla="*/ 67826 h 1386047"/>
                  <a:gd name="connsiteX575" fmla="*/ 928448 w 1386206"/>
                  <a:gd name="connsiteY575" fmla="*/ 58544 h 1386047"/>
                  <a:gd name="connsiteX576" fmla="*/ 928448 w 1386206"/>
                  <a:gd name="connsiteY576" fmla="*/ 57830 h 1386047"/>
                  <a:gd name="connsiteX577" fmla="*/ 932062 w 1386206"/>
                  <a:gd name="connsiteY577" fmla="*/ 49263 h 1386047"/>
                  <a:gd name="connsiteX578" fmla="*/ 932062 w 1386206"/>
                  <a:gd name="connsiteY578" fmla="*/ 48549 h 1386047"/>
                  <a:gd name="connsiteX579" fmla="*/ 935677 w 1386206"/>
                  <a:gd name="connsiteY579" fmla="*/ 40696 h 1386047"/>
                  <a:gd name="connsiteX580" fmla="*/ 936400 w 1386206"/>
                  <a:gd name="connsiteY580" fmla="*/ 39982 h 1386047"/>
                  <a:gd name="connsiteX581" fmla="*/ 940014 w 1386206"/>
                  <a:gd name="connsiteY581" fmla="*/ 32128 h 1386047"/>
                  <a:gd name="connsiteX582" fmla="*/ 940737 w 1386206"/>
                  <a:gd name="connsiteY582" fmla="*/ 31414 h 1386047"/>
                  <a:gd name="connsiteX583" fmla="*/ 944351 w 1386206"/>
                  <a:gd name="connsiteY583" fmla="*/ 24275 h 1386047"/>
                  <a:gd name="connsiteX584" fmla="*/ 945074 w 1386206"/>
                  <a:gd name="connsiteY584" fmla="*/ 23561 h 1386047"/>
                  <a:gd name="connsiteX585" fmla="*/ 949412 w 1386206"/>
                  <a:gd name="connsiteY585" fmla="*/ 17135 h 1386047"/>
                  <a:gd name="connsiteX586" fmla="*/ 950135 w 1386206"/>
                  <a:gd name="connsiteY586" fmla="*/ 16421 h 1386047"/>
                  <a:gd name="connsiteX587" fmla="*/ 960255 w 1386206"/>
                  <a:gd name="connsiteY587" fmla="*/ 4284 h 1386047"/>
                  <a:gd name="connsiteX588" fmla="*/ 971731 w 1386206"/>
                  <a:gd name="connsiteY588" fmla="*/ 0 h 138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Lst>
                <a:rect l="l" t="t" r="r" b="b"/>
                <a:pathLst>
                  <a:path w="1386206" h="1386047">
                    <a:moveTo>
                      <a:pt x="439725" y="982822"/>
                    </a:moveTo>
                    <a:cubicBezTo>
                      <a:pt x="444686" y="982822"/>
                      <a:pt x="450355" y="983538"/>
                      <a:pt x="455316" y="983538"/>
                    </a:cubicBezTo>
                    <a:cubicBezTo>
                      <a:pt x="460277" y="984255"/>
                      <a:pt x="465947" y="984255"/>
                      <a:pt x="470908" y="984971"/>
                    </a:cubicBezTo>
                    <a:cubicBezTo>
                      <a:pt x="470908" y="986403"/>
                      <a:pt x="470908" y="987836"/>
                      <a:pt x="470908" y="989268"/>
                    </a:cubicBezTo>
                    <a:cubicBezTo>
                      <a:pt x="470908" y="989984"/>
                      <a:pt x="470908" y="991417"/>
                      <a:pt x="471616" y="992133"/>
                    </a:cubicBezTo>
                    <a:cubicBezTo>
                      <a:pt x="471616" y="997146"/>
                      <a:pt x="471616" y="1001444"/>
                      <a:pt x="472325" y="1006457"/>
                    </a:cubicBezTo>
                    <a:cubicBezTo>
                      <a:pt x="472325" y="1007173"/>
                      <a:pt x="472325" y="1007889"/>
                      <a:pt x="472325" y="1009322"/>
                    </a:cubicBezTo>
                    <a:cubicBezTo>
                      <a:pt x="472325" y="1013619"/>
                      <a:pt x="473034" y="1018633"/>
                      <a:pt x="473034" y="1022930"/>
                    </a:cubicBezTo>
                    <a:cubicBezTo>
                      <a:pt x="473034" y="1024362"/>
                      <a:pt x="473034" y="1025078"/>
                      <a:pt x="473743" y="1025795"/>
                    </a:cubicBezTo>
                    <a:cubicBezTo>
                      <a:pt x="473743" y="1030808"/>
                      <a:pt x="473743" y="1035105"/>
                      <a:pt x="474451" y="1040119"/>
                    </a:cubicBezTo>
                    <a:cubicBezTo>
                      <a:pt x="474451" y="1040835"/>
                      <a:pt x="474451" y="1041551"/>
                      <a:pt x="474451" y="1042267"/>
                    </a:cubicBezTo>
                    <a:cubicBezTo>
                      <a:pt x="474451" y="1047281"/>
                      <a:pt x="475160" y="1051578"/>
                      <a:pt x="475160" y="1056592"/>
                    </a:cubicBezTo>
                    <a:cubicBezTo>
                      <a:pt x="475160" y="1057308"/>
                      <a:pt x="475160" y="1058024"/>
                      <a:pt x="475160" y="1058740"/>
                    </a:cubicBezTo>
                    <a:cubicBezTo>
                      <a:pt x="475160" y="1063037"/>
                      <a:pt x="475869" y="1068051"/>
                      <a:pt x="475869" y="1073064"/>
                    </a:cubicBezTo>
                    <a:cubicBezTo>
                      <a:pt x="475869" y="1073781"/>
                      <a:pt x="475869" y="1073781"/>
                      <a:pt x="475869" y="1074497"/>
                    </a:cubicBezTo>
                    <a:cubicBezTo>
                      <a:pt x="475869" y="1079510"/>
                      <a:pt x="476577" y="1084524"/>
                      <a:pt x="476577" y="1089537"/>
                    </a:cubicBezTo>
                    <a:cubicBezTo>
                      <a:pt x="476577" y="1094551"/>
                      <a:pt x="477286" y="1099564"/>
                      <a:pt x="477286" y="1104577"/>
                    </a:cubicBezTo>
                    <a:cubicBezTo>
                      <a:pt x="477286" y="1105294"/>
                      <a:pt x="477286" y="1105294"/>
                      <a:pt x="477286" y="1105294"/>
                    </a:cubicBezTo>
                    <a:cubicBezTo>
                      <a:pt x="477286" y="1110307"/>
                      <a:pt x="477286" y="1115321"/>
                      <a:pt x="477286" y="1119618"/>
                    </a:cubicBezTo>
                    <a:cubicBezTo>
                      <a:pt x="477995" y="1120334"/>
                      <a:pt x="477995" y="1121050"/>
                      <a:pt x="477995" y="1121050"/>
                    </a:cubicBezTo>
                    <a:cubicBezTo>
                      <a:pt x="477995" y="1126064"/>
                      <a:pt x="477995" y="1130361"/>
                      <a:pt x="477995" y="1135374"/>
                    </a:cubicBezTo>
                    <a:cubicBezTo>
                      <a:pt x="477995" y="1135374"/>
                      <a:pt x="477995" y="1136091"/>
                      <a:pt x="477995" y="1136807"/>
                    </a:cubicBezTo>
                    <a:cubicBezTo>
                      <a:pt x="477995" y="1141104"/>
                      <a:pt x="477995" y="1146118"/>
                      <a:pt x="477995" y="1150415"/>
                    </a:cubicBezTo>
                    <a:cubicBezTo>
                      <a:pt x="477995" y="1151131"/>
                      <a:pt x="477995" y="1151847"/>
                      <a:pt x="477995" y="1151847"/>
                    </a:cubicBezTo>
                    <a:cubicBezTo>
                      <a:pt x="477995" y="1156861"/>
                      <a:pt x="477995" y="1161158"/>
                      <a:pt x="477995" y="1165455"/>
                    </a:cubicBezTo>
                    <a:cubicBezTo>
                      <a:pt x="477995" y="1165455"/>
                      <a:pt x="477995" y="1166171"/>
                      <a:pt x="477995" y="1166888"/>
                    </a:cubicBezTo>
                    <a:cubicBezTo>
                      <a:pt x="477995" y="1171185"/>
                      <a:pt x="477995" y="1175482"/>
                      <a:pt x="477995" y="1179779"/>
                    </a:cubicBezTo>
                    <a:cubicBezTo>
                      <a:pt x="477995" y="1180495"/>
                      <a:pt x="477995" y="1181212"/>
                      <a:pt x="477995" y="1181928"/>
                    </a:cubicBezTo>
                    <a:cubicBezTo>
                      <a:pt x="477995" y="1186225"/>
                      <a:pt x="477995" y="1189806"/>
                      <a:pt x="477995" y="1194103"/>
                    </a:cubicBezTo>
                    <a:cubicBezTo>
                      <a:pt x="477286" y="1194820"/>
                      <a:pt x="477286" y="1195536"/>
                      <a:pt x="477286" y="1195536"/>
                    </a:cubicBezTo>
                    <a:cubicBezTo>
                      <a:pt x="477286" y="1199833"/>
                      <a:pt x="477286" y="1204130"/>
                      <a:pt x="477286" y="1208428"/>
                    </a:cubicBezTo>
                    <a:cubicBezTo>
                      <a:pt x="477286" y="1209144"/>
                      <a:pt x="477286" y="1209144"/>
                      <a:pt x="477286" y="1209860"/>
                    </a:cubicBezTo>
                    <a:cubicBezTo>
                      <a:pt x="476577" y="1214157"/>
                      <a:pt x="476577" y="1218455"/>
                      <a:pt x="476577" y="1222036"/>
                    </a:cubicBezTo>
                    <a:cubicBezTo>
                      <a:pt x="476577" y="1222752"/>
                      <a:pt x="476577" y="1222752"/>
                      <a:pt x="476577" y="1222752"/>
                    </a:cubicBezTo>
                    <a:cubicBezTo>
                      <a:pt x="475869" y="1227049"/>
                      <a:pt x="475869" y="1231346"/>
                      <a:pt x="475160" y="1234927"/>
                    </a:cubicBezTo>
                    <a:cubicBezTo>
                      <a:pt x="475160" y="1235643"/>
                      <a:pt x="475160" y="1235643"/>
                      <a:pt x="475160" y="1235643"/>
                    </a:cubicBezTo>
                    <a:cubicBezTo>
                      <a:pt x="475160" y="1239941"/>
                      <a:pt x="474451" y="1244238"/>
                      <a:pt x="474451" y="1247819"/>
                    </a:cubicBezTo>
                    <a:cubicBezTo>
                      <a:pt x="474451" y="1248535"/>
                      <a:pt x="474451" y="1248535"/>
                      <a:pt x="473743" y="1249251"/>
                    </a:cubicBezTo>
                    <a:cubicBezTo>
                      <a:pt x="473743" y="1252832"/>
                      <a:pt x="473034" y="1256414"/>
                      <a:pt x="473034" y="1259995"/>
                    </a:cubicBezTo>
                    <a:cubicBezTo>
                      <a:pt x="473034" y="1260711"/>
                      <a:pt x="472325" y="1261427"/>
                      <a:pt x="472325" y="1261427"/>
                    </a:cubicBezTo>
                    <a:cubicBezTo>
                      <a:pt x="472325" y="1265008"/>
                      <a:pt x="471616" y="1268589"/>
                      <a:pt x="470908" y="1272170"/>
                    </a:cubicBezTo>
                    <a:cubicBezTo>
                      <a:pt x="470908" y="1272886"/>
                      <a:pt x="470908" y="1273603"/>
                      <a:pt x="470908" y="1274319"/>
                    </a:cubicBezTo>
                    <a:cubicBezTo>
                      <a:pt x="470199" y="1277184"/>
                      <a:pt x="469490" y="1280765"/>
                      <a:pt x="468782" y="1284346"/>
                    </a:cubicBezTo>
                    <a:cubicBezTo>
                      <a:pt x="468782" y="1285062"/>
                      <a:pt x="468782" y="1285062"/>
                      <a:pt x="468782" y="1285778"/>
                    </a:cubicBezTo>
                    <a:cubicBezTo>
                      <a:pt x="468073" y="1289359"/>
                      <a:pt x="467364" y="1292224"/>
                      <a:pt x="466655" y="1295805"/>
                    </a:cubicBezTo>
                    <a:cubicBezTo>
                      <a:pt x="466655" y="1295805"/>
                      <a:pt x="466655" y="1296521"/>
                      <a:pt x="466655" y="1297237"/>
                    </a:cubicBezTo>
                    <a:cubicBezTo>
                      <a:pt x="465947" y="1300102"/>
                      <a:pt x="465238" y="1303683"/>
                      <a:pt x="464529" y="1306548"/>
                    </a:cubicBezTo>
                    <a:cubicBezTo>
                      <a:pt x="463821" y="1307264"/>
                      <a:pt x="463821" y="1307264"/>
                      <a:pt x="463821" y="1307980"/>
                    </a:cubicBezTo>
                    <a:cubicBezTo>
                      <a:pt x="463112" y="1310845"/>
                      <a:pt x="462403" y="1314426"/>
                      <a:pt x="461695" y="1317291"/>
                    </a:cubicBezTo>
                    <a:cubicBezTo>
                      <a:pt x="460986" y="1317291"/>
                      <a:pt x="460986" y="1318007"/>
                      <a:pt x="460986" y="1318007"/>
                    </a:cubicBezTo>
                    <a:cubicBezTo>
                      <a:pt x="460277" y="1321588"/>
                      <a:pt x="458860" y="1324453"/>
                      <a:pt x="458151" y="1327318"/>
                    </a:cubicBezTo>
                    <a:cubicBezTo>
                      <a:pt x="458151" y="1327318"/>
                      <a:pt x="458151" y="1327318"/>
                      <a:pt x="458151" y="1328034"/>
                    </a:cubicBezTo>
                    <a:cubicBezTo>
                      <a:pt x="456734" y="1330899"/>
                      <a:pt x="456025" y="1333764"/>
                      <a:pt x="454607" y="1336629"/>
                    </a:cubicBezTo>
                    <a:cubicBezTo>
                      <a:pt x="454607" y="1336629"/>
                      <a:pt x="454607" y="1336629"/>
                      <a:pt x="454607" y="1337345"/>
                    </a:cubicBezTo>
                    <a:cubicBezTo>
                      <a:pt x="453190" y="1339494"/>
                      <a:pt x="452481" y="1342358"/>
                      <a:pt x="451064" y="1345223"/>
                    </a:cubicBezTo>
                    <a:cubicBezTo>
                      <a:pt x="451064" y="1345223"/>
                      <a:pt x="450355" y="1345940"/>
                      <a:pt x="450355" y="1345940"/>
                    </a:cubicBezTo>
                    <a:cubicBezTo>
                      <a:pt x="449647" y="1348804"/>
                      <a:pt x="448229" y="1350953"/>
                      <a:pt x="446812" y="1353818"/>
                    </a:cubicBezTo>
                    <a:cubicBezTo>
                      <a:pt x="446812" y="1353818"/>
                      <a:pt x="446103" y="1354534"/>
                      <a:pt x="446103" y="1354534"/>
                    </a:cubicBezTo>
                    <a:cubicBezTo>
                      <a:pt x="444686" y="1356683"/>
                      <a:pt x="443977" y="1359547"/>
                      <a:pt x="442559" y="1361696"/>
                    </a:cubicBezTo>
                    <a:cubicBezTo>
                      <a:pt x="441851" y="1361696"/>
                      <a:pt x="441851" y="1362412"/>
                      <a:pt x="441851" y="1362412"/>
                    </a:cubicBezTo>
                    <a:cubicBezTo>
                      <a:pt x="440433" y="1364561"/>
                      <a:pt x="439016" y="1366710"/>
                      <a:pt x="437599" y="1368858"/>
                    </a:cubicBezTo>
                    <a:cubicBezTo>
                      <a:pt x="436890" y="1368858"/>
                      <a:pt x="436890" y="1369574"/>
                      <a:pt x="436890" y="1369574"/>
                    </a:cubicBezTo>
                    <a:cubicBezTo>
                      <a:pt x="434055" y="1373872"/>
                      <a:pt x="430511" y="1377453"/>
                      <a:pt x="426968" y="1381750"/>
                    </a:cubicBezTo>
                    <a:cubicBezTo>
                      <a:pt x="423424" y="1384615"/>
                      <a:pt x="419881" y="1386047"/>
                      <a:pt x="415629" y="1386047"/>
                    </a:cubicBezTo>
                    <a:cubicBezTo>
                      <a:pt x="412085" y="1386047"/>
                      <a:pt x="407833" y="1384615"/>
                      <a:pt x="404998" y="1381750"/>
                    </a:cubicBezTo>
                    <a:cubicBezTo>
                      <a:pt x="398620" y="1375304"/>
                      <a:pt x="398620" y="1365277"/>
                      <a:pt x="404998" y="1358831"/>
                    </a:cubicBezTo>
                    <a:cubicBezTo>
                      <a:pt x="408542" y="1355250"/>
                      <a:pt x="411376" y="1351669"/>
                      <a:pt x="414920" y="1346656"/>
                    </a:cubicBezTo>
                    <a:cubicBezTo>
                      <a:pt x="416337" y="1344507"/>
                      <a:pt x="417046" y="1342358"/>
                      <a:pt x="418464" y="1340210"/>
                    </a:cubicBezTo>
                    <a:cubicBezTo>
                      <a:pt x="419881" y="1338061"/>
                      <a:pt x="421298" y="1335913"/>
                      <a:pt x="422007" y="1333048"/>
                    </a:cubicBezTo>
                    <a:cubicBezTo>
                      <a:pt x="422007" y="1333048"/>
                      <a:pt x="422716" y="1333048"/>
                      <a:pt x="422716" y="1333048"/>
                    </a:cubicBezTo>
                    <a:cubicBezTo>
                      <a:pt x="423424" y="1330183"/>
                      <a:pt x="424842" y="1328034"/>
                      <a:pt x="425551" y="1325886"/>
                    </a:cubicBezTo>
                    <a:cubicBezTo>
                      <a:pt x="425551" y="1325169"/>
                      <a:pt x="425551" y="1325169"/>
                      <a:pt x="426259" y="1324453"/>
                    </a:cubicBezTo>
                    <a:cubicBezTo>
                      <a:pt x="426968" y="1322305"/>
                      <a:pt x="427677" y="1320156"/>
                      <a:pt x="428385" y="1317291"/>
                    </a:cubicBezTo>
                    <a:cubicBezTo>
                      <a:pt x="429094" y="1317291"/>
                      <a:pt x="429094" y="1316575"/>
                      <a:pt x="429094" y="1316575"/>
                    </a:cubicBezTo>
                    <a:cubicBezTo>
                      <a:pt x="429803" y="1313710"/>
                      <a:pt x="430511" y="1310845"/>
                      <a:pt x="431929" y="1308697"/>
                    </a:cubicBezTo>
                    <a:cubicBezTo>
                      <a:pt x="431929" y="1307980"/>
                      <a:pt x="431929" y="1307980"/>
                      <a:pt x="431929" y="1307264"/>
                    </a:cubicBezTo>
                    <a:cubicBezTo>
                      <a:pt x="432638" y="1304399"/>
                      <a:pt x="433346" y="1301535"/>
                      <a:pt x="434055" y="1298670"/>
                    </a:cubicBezTo>
                    <a:cubicBezTo>
                      <a:pt x="434055" y="1298670"/>
                      <a:pt x="434055" y="1297954"/>
                      <a:pt x="434764" y="1297954"/>
                    </a:cubicBezTo>
                    <a:cubicBezTo>
                      <a:pt x="435472" y="1295089"/>
                      <a:pt x="436181" y="1292224"/>
                      <a:pt x="436890" y="1288643"/>
                    </a:cubicBezTo>
                    <a:cubicBezTo>
                      <a:pt x="436890" y="1288643"/>
                      <a:pt x="436890" y="1288643"/>
                      <a:pt x="436890" y="1287927"/>
                    </a:cubicBezTo>
                    <a:cubicBezTo>
                      <a:pt x="438307" y="1281481"/>
                      <a:pt x="439016" y="1275035"/>
                      <a:pt x="440433" y="1267873"/>
                    </a:cubicBezTo>
                    <a:cubicBezTo>
                      <a:pt x="440433" y="1267873"/>
                      <a:pt x="440433" y="1267873"/>
                      <a:pt x="440433" y="1267157"/>
                    </a:cubicBezTo>
                    <a:cubicBezTo>
                      <a:pt x="441142" y="1265008"/>
                      <a:pt x="441142" y="1262143"/>
                      <a:pt x="441851" y="1259278"/>
                    </a:cubicBezTo>
                    <a:cubicBezTo>
                      <a:pt x="441851" y="1258562"/>
                      <a:pt x="441851" y="1257846"/>
                      <a:pt x="441851" y="1257130"/>
                    </a:cubicBezTo>
                    <a:cubicBezTo>
                      <a:pt x="441851" y="1256414"/>
                      <a:pt x="441851" y="1256414"/>
                      <a:pt x="441851" y="1255697"/>
                    </a:cubicBezTo>
                    <a:cubicBezTo>
                      <a:pt x="442559" y="1252832"/>
                      <a:pt x="442559" y="1249251"/>
                      <a:pt x="443268" y="1245670"/>
                    </a:cubicBezTo>
                    <a:cubicBezTo>
                      <a:pt x="443268" y="1244954"/>
                      <a:pt x="443268" y="1244954"/>
                      <a:pt x="443268" y="1244238"/>
                    </a:cubicBezTo>
                    <a:cubicBezTo>
                      <a:pt x="443977" y="1240657"/>
                      <a:pt x="443977" y="1237076"/>
                      <a:pt x="443977" y="1233495"/>
                    </a:cubicBezTo>
                    <a:cubicBezTo>
                      <a:pt x="443977" y="1232779"/>
                      <a:pt x="444686" y="1232779"/>
                      <a:pt x="444686" y="1232062"/>
                    </a:cubicBezTo>
                    <a:cubicBezTo>
                      <a:pt x="444686" y="1228481"/>
                      <a:pt x="444686" y="1224900"/>
                      <a:pt x="445394" y="1221319"/>
                    </a:cubicBezTo>
                    <a:cubicBezTo>
                      <a:pt x="445394" y="1220603"/>
                      <a:pt x="445394" y="1219887"/>
                      <a:pt x="445394" y="1219887"/>
                    </a:cubicBezTo>
                    <a:cubicBezTo>
                      <a:pt x="445394" y="1219171"/>
                      <a:pt x="445394" y="1218455"/>
                      <a:pt x="445394" y="1218455"/>
                    </a:cubicBezTo>
                    <a:cubicBezTo>
                      <a:pt x="445394" y="1214873"/>
                      <a:pt x="445394" y="1211292"/>
                      <a:pt x="446103" y="1208428"/>
                    </a:cubicBezTo>
                    <a:cubicBezTo>
                      <a:pt x="446103" y="1207711"/>
                      <a:pt x="446103" y="1206995"/>
                      <a:pt x="446103" y="1206995"/>
                    </a:cubicBezTo>
                    <a:cubicBezTo>
                      <a:pt x="446103" y="1202698"/>
                      <a:pt x="446103" y="1199117"/>
                      <a:pt x="446103" y="1194820"/>
                    </a:cubicBezTo>
                    <a:cubicBezTo>
                      <a:pt x="446103" y="1194820"/>
                      <a:pt x="446103" y="1194103"/>
                      <a:pt x="446103" y="1194103"/>
                    </a:cubicBezTo>
                    <a:cubicBezTo>
                      <a:pt x="446812" y="1185509"/>
                      <a:pt x="446812" y="1176914"/>
                      <a:pt x="446812" y="1168320"/>
                    </a:cubicBezTo>
                    <a:cubicBezTo>
                      <a:pt x="446812" y="1167604"/>
                      <a:pt x="446812" y="1167604"/>
                      <a:pt x="446812" y="1167604"/>
                    </a:cubicBezTo>
                    <a:cubicBezTo>
                      <a:pt x="446812" y="1163307"/>
                      <a:pt x="446812" y="1159009"/>
                      <a:pt x="446812" y="1154712"/>
                    </a:cubicBezTo>
                    <a:cubicBezTo>
                      <a:pt x="446812" y="1153996"/>
                      <a:pt x="446812" y="1153996"/>
                      <a:pt x="446812" y="1153280"/>
                    </a:cubicBezTo>
                    <a:cubicBezTo>
                      <a:pt x="446812" y="1148982"/>
                      <a:pt x="446812" y="1144685"/>
                      <a:pt x="446812" y="1140388"/>
                    </a:cubicBezTo>
                    <a:cubicBezTo>
                      <a:pt x="446812" y="1139672"/>
                      <a:pt x="446812" y="1139672"/>
                      <a:pt x="446812" y="1138955"/>
                    </a:cubicBezTo>
                    <a:cubicBezTo>
                      <a:pt x="446812" y="1134658"/>
                      <a:pt x="446812" y="1130361"/>
                      <a:pt x="446812" y="1126064"/>
                    </a:cubicBezTo>
                    <a:cubicBezTo>
                      <a:pt x="446812" y="1125347"/>
                      <a:pt x="446812" y="1125347"/>
                      <a:pt x="446812" y="1124631"/>
                    </a:cubicBezTo>
                    <a:cubicBezTo>
                      <a:pt x="446103" y="1120334"/>
                      <a:pt x="446103" y="1116037"/>
                      <a:pt x="446103" y="1111740"/>
                    </a:cubicBezTo>
                    <a:cubicBezTo>
                      <a:pt x="446103" y="1111023"/>
                      <a:pt x="446103" y="1110307"/>
                      <a:pt x="446103" y="1109591"/>
                    </a:cubicBezTo>
                    <a:cubicBezTo>
                      <a:pt x="446103" y="1108158"/>
                      <a:pt x="446103" y="1106010"/>
                      <a:pt x="446103" y="1103861"/>
                    </a:cubicBezTo>
                    <a:cubicBezTo>
                      <a:pt x="446103" y="1101713"/>
                      <a:pt x="446103" y="1098848"/>
                      <a:pt x="445394" y="1096699"/>
                    </a:cubicBezTo>
                    <a:cubicBezTo>
                      <a:pt x="445394" y="1095983"/>
                      <a:pt x="445394" y="1095267"/>
                      <a:pt x="445394" y="1095267"/>
                    </a:cubicBezTo>
                    <a:cubicBezTo>
                      <a:pt x="445394" y="1090253"/>
                      <a:pt x="445394" y="1085956"/>
                      <a:pt x="445394" y="1081659"/>
                    </a:cubicBezTo>
                    <a:cubicBezTo>
                      <a:pt x="444686" y="1080943"/>
                      <a:pt x="444686" y="1080943"/>
                      <a:pt x="444686" y="1080226"/>
                    </a:cubicBezTo>
                    <a:cubicBezTo>
                      <a:pt x="444686" y="1073064"/>
                      <a:pt x="443977" y="1065186"/>
                      <a:pt x="443977" y="1057308"/>
                    </a:cubicBezTo>
                    <a:cubicBezTo>
                      <a:pt x="443977" y="1055159"/>
                      <a:pt x="443977" y="1053010"/>
                      <a:pt x="443268" y="1051578"/>
                    </a:cubicBezTo>
                    <a:cubicBezTo>
                      <a:pt x="443268" y="1050862"/>
                      <a:pt x="443268" y="1050862"/>
                      <a:pt x="443268" y="1050862"/>
                    </a:cubicBezTo>
                    <a:cubicBezTo>
                      <a:pt x="443268" y="1045848"/>
                      <a:pt x="443268" y="1040835"/>
                      <a:pt x="442559" y="1036538"/>
                    </a:cubicBezTo>
                    <a:cubicBezTo>
                      <a:pt x="442559" y="1035822"/>
                      <a:pt x="442559" y="1035105"/>
                      <a:pt x="442559" y="1035105"/>
                    </a:cubicBezTo>
                    <a:cubicBezTo>
                      <a:pt x="442559" y="1030092"/>
                      <a:pt x="441851" y="1025795"/>
                      <a:pt x="441851" y="1021497"/>
                    </a:cubicBezTo>
                    <a:cubicBezTo>
                      <a:pt x="441851" y="1020781"/>
                      <a:pt x="441851" y="1020065"/>
                      <a:pt x="441851" y="1019349"/>
                    </a:cubicBezTo>
                    <a:cubicBezTo>
                      <a:pt x="441142" y="1014335"/>
                      <a:pt x="441142" y="1010038"/>
                      <a:pt x="441142" y="1005741"/>
                    </a:cubicBezTo>
                    <a:cubicBezTo>
                      <a:pt x="441142" y="1005025"/>
                      <a:pt x="441142" y="1004308"/>
                      <a:pt x="440433" y="1003592"/>
                    </a:cubicBezTo>
                    <a:cubicBezTo>
                      <a:pt x="440433" y="998579"/>
                      <a:pt x="440433" y="994281"/>
                      <a:pt x="439725" y="989984"/>
                    </a:cubicBezTo>
                    <a:cubicBezTo>
                      <a:pt x="439725" y="989268"/>
                      <a:pt x="439725" y="988552"/>
                      <a:pt x="439725" y="987836"/>
                    </a:cubicBezTo>
                    <a:cubicBezTo>
                      <a:pt x="439725" y="986403"/>
                      <a:pt x="439725" y="984255"/>
                      <a:pt x="439725" y="982822"/>
                    </a:cubicBezTo>
                    <a:close/>
                    <a:moveTo>
                      <a:pt x="922715" y="500222"/>
                    </a:moveTo>
                    <a:cubicBezTo>
                      <a:pt x="928432" y="500934"/>
                      <a:pt x="934150" y="500934"/>
                      <a:pt x="939153" y="501647"/>
                    </a:cubicBezTo>
                    <a:cubicBezTo>
                      <a:pt x="944156" y="501647"/>
                      <a:pt x="949160" y="502359"/>
                      <a:pt x="954163" y="502359"/>
                    </a:cubicBezTo>
                    <a:cubicBezTo>
                      <a:pt x="954163" y="509482"/>
                      <a:pt x="954877" y="516605"/>
                      <a:pt x="955592" y="523727"/>
                    </a:cubicBezTo>
                    <a:cubicBezTo>
                      <a:pt x="955592" y="530138"/>
                      <a:pt x="956307" y="535836"/>
                      <a:pt x="956307" y="542247"/>
                    </a:cubicBezTo>
                    <a:cubicBezTo>
                      <a:pt x="957736" y="560766"/>
                      <a:pt x="958451" y="578573"/>
                      <a:pt x="959166" y="596380"/>
                    </a:cubicBezTo>
                    <a:cubicBezTo>
                      <a:pt x="959880" y="608489"/>
                      <a:pt x="959880" y="620597"/>
                      <a:pt x="960595" y="631994"/>
                    </a:cubicBezTo>
                    <a:cubicBezTo>
                      <a:pt x="960595" y="643390"/>
                      <a:pt x="960595" y="654787"/>
                      <a:pt x="960595" y="665471"/>
                    </a:cubicBezTo>
                    <a:cubicBezTo>
                      <a:pt x="960595" y="669033"/>
                      <a:pt x="960595" y="672594"/>
                      <a:pt x="960595" y="675443"/>
                    </a:cubicBezTo>
                    <a:cubicBezTo>
                      <a:pt x="959880" y="775162"/>
                      <a:pt x="947730" y="856362"/>
                      <a:pt x="907705" y="899811"/>
                    </a:cubicBezTo>
                    <a:cubicBezTo>
                      <a:pt x="906275" y="901236"/>
                      <a:pt x="905561" y="902660"/>
                      <a:pt x="904131" y="903373"/>
                    </a:cubicBezTo>
                    <a:cubicBezTo>
                      <a:pt x="841235" y="966053"/>
                      <a:pt x="691857" y="964629"/>
                      <a:pt x="523181" y="954657"/>
                    </a:cubicBezTo>
                    <a:cubicBezTo>
                      <a:pt x="515319" y="953945"/>
                      <a:pt x="507457" y="953232"/>
                      <a:pt x="500309" y="953232"/>
                    </a:cubicBezTo>
                    <a:cubicBezTo>
                      <a:pt x="489588" y="952520"/>
                      <a:pt x="478868" y="951808"/>
                      <a:pt x="468861" y="951095"/>
                    </a:cubicBezTo>
                    <a:cubicBezTo>
                      <a:pt x="460285" y="950383"/>
                      <a:pt x="450993" y="949671"/>
                      <a:pt x="442416" y="948959"/>
                    </a:cubicBezTo>
                    <a:cubicBezTo>
                      <a:pt x="442416" y="948959"/>
                      <a:pt x="441702" y="948959"/>
                      <a:pt x="440987" y="948959"/>
                    </a:cubicBezTo>
                    <a:cubicBezTo>
                      <a:pt x="439557" y="948959"/>
                      <a:pt x="438128" y="948959"/>
                      <a:pt x="436699" y="948959"/>
                    </a:cubicBezTo>
                    <a:cubicBezTo>
                      <a:pt x="433125" y="948246"/>
                      <a:pt x="428837" y="948246"/>
                      <a:pt x="424548" y="948246"/>
                    </a:cubicBezTo>
                    <a:cubicBezTo>
                      <a:pt x="424548" y="947534"/>
                      <a:pt x="424548" y="947534"/>
                      <a:pt x="424548" y="947534"/>
                    </a:cubicBezTo>
                    <a:cubicBezTo>
                      <a:pt x="423833" y="947534"/>
                      <a:pt x="423119" y="947534"/>
                      <a:pt x="422404" y="947534"/>
                    </a:cubicBezTo>
                    <a:cubicBezTo>
                      <a:pt x="420260" y="947534"/>
                      <a:pt x="418830" y="947534"/>
                      <a:pt x="417401" y="947534"/>
                    </a:cubicBezTo>
                    <a:cubicBezTo>
                      <a:pt x="416686" y="947534"/>
                      <a:pt x="416686" y="947534"/>
                      <a:pt x="415971" y="947534"/>
                    </a:cubicBezTo>
                    <a:cubicBezTo>
                      <a:pt x="412398" y="946822"/>
                      <a:pt x="408824" y="946822"/>
                      <a:pt x="405250" y="946822"/>
                    </a:cubicBezTo>
                    <a:cubicBezTo>
                      <a:pt x="403821" y="946822"/>
                      <a:pt x="402392" y="946109"/>
                      <a:pt x="400962" y="946109"/>
                    </a:cubicBezTo>
                    <a:cubicBezTo>
                      <a:pt x="400247" y="946109"/>
                      <a:pt x="400247" y="946109"/>
                      <a:pt x="399533" y="946109"/>
                    </a:cubicBezTo>
                    <a:cubicBezTo>
                      <a:pt x="399533" y="946109"/>
                      <a:pt x="398818" y="946109"/>
                      <a:pt x="398818" y="946109"/>
                    </a:cubicBezTo>
                    <a:cubicBezTo>
                      <a:pt x="398818" y="946109"/>
                      <a:pt x="398103" y="946109"/>
                      <a:pt x="398103" y="946109"/>
                    </a:cubicBezTo>
                    <a:cubicBezTo>
                      <a:pt x="397388" y="946109"/>
                      <a:pt x="397388" y="946109"/>
                      <a:pt x="396674" y="946109"/>
                    </a:cubicBezTo>
                    <a:cubicBezTo>
                      <a:pt x="395244" y="946109"/>
                      <a:pt x="394530" y="946109"/>
                      <a:pt x="393815" y="946109"/>
                    </a:cubicBezTo>
                    <a:cubicBezTo>
                      <a:pt x="393100" y="946109"/>
                      <a:pt x="392385" y="945397"/>
                      <a:pt x="390956" y="945397"/>
                    </a:cubicBezTo>
                    <a:cubicBezTo>
                      <a:pt x="388097" y="945397"/>
                      <a:pt x="385238" y="945397"/>
                      <a:pt x="381664" y="945397"/>
                    </a:cubicBezTo>
                    <a:cubicBezTo>
                      <a:pt x="380235" y="944685"/>
                      <a:pt x="378806" y="944685"/>
                      <a:pt x="376661" y="944685"/>
                    </a:cubicBezTo>
                    <a:cubicBezTo>
                      <a:pt x="375947" y="944685"/>
                      <a:pt x="375232" y="944685"/>
                      <a:pt x="374517" y="944685"/>
                    </a:cubicBezTo>
                    <a:cubicBezTo>
                      <a:pt x="373088" y="944685"/>
                      <a:pt x="370943" y="944685"/>
                      <a:pt x="369514" y="943973"/>
                    </a:cubicBezTo>
                    <a:cubicBezTo>
                      <a:pt x="368799" y="943973"/>
                      <a:pt x="368085" y="943973"/>
                      <a:pt x="368085" y="943973"/>
                    </a:cubicBezTo>
                    <a:cubicBezTo>
                      <a:pt x="363081" y="943973"/>
                      <a:pt x="358793" y="943973"/>
                      <a:pt x="353790" y="943260"/>
                    </a:cubicBezTo>
                    <a:cubicBezTo>
                      <a:pt x="353075" y="943260"/>
                      <a:pt x="352361" y="943260"/>
                      <a:pt x="350931" y="943260"/>
                    </a:cubicBezTo>
                    <a:cubicBezTo>
                      <a:pt x="350931" y="943260"/>
                      <a:pt x="350931" y="943260"/>
                      <a:pt x="350216" y="943260"/>
                    </a:cubicBezTo>
                    <a:cubicBezTo>
                      <a:pt x="350216" y="943260"/>
                      <a:pt x="349502" y="943260"/>
                      <a:pt x="348787" y="943260"/>
                    </a:cubicBezTo>
                    <a:cubicBezTo>
                      <a:pt x="344499" y="942548"/>
                      <a:pt x="339495" y="942548"/>
                      <a:pt x="334492" y="942548"/>
                    </a:cubicBezTo>
                    <a:cubicBezTo>
                      <a:pt x="334492" y="942548"/>
                      <a:pt x="334492" y="942548"/>
                      <a:pt x="333778" y="942548"/>
                    </a:cubicBezTo>
                    <a:cubicBezTo>
                      <a:pt x="332348" y="941836"/>
                      <a:pt x="330204" y="941836"/>
                      <a:pt x="328060" y="941836"/>
                    </a:cubicBezTo>
                    <a:cubicBezTo>
                      <a:pt x="320198" y="941836"/>
                      <a:pt x="312336" y="941123"/>
                      <a:pt x="304474" y="941123"/>
                    </a:cubicBezTo>
                    <a:cubicBezTo>
                      <a:pt x="304474" y="941123"/>
                      <a:pt x="304474" y="941123"/>
                      <a:pt x="304474" y="940411"/>
                    </a:cubicBezTo>
                    <a:cubicBezTo>
                      <a:pt x="299471" y="940411"/>
                      <a:pt x="295182" y="940411"/>
                      <a:pt x="290179" y="940411"/>
                    </a:cubicBezTo>
                    <a:cubicBezTo>
                      <a:pt x="289464" y="940411"/>
                      <a:pt x="289464" y="940411"/>
                      <a:pt x="288750" y="940411"/>
                    </a:cubicBezTo>
                    <a:cubicBezTo>
                      <a:pt x="286605" y="939699"/>
                      <a:pt x="283747" y="939699"/>
                      <a:pt x="281602" y="939699"/>
                    </a:cubicBezTo>
                    <a:cubicBezTo>
                      <a:pt x="279458" y="939699"/>
                      <a:pt x="277314" y="939699"/>
                      <a:pt x="275885" y="939699"/>
                    </a:cubicBezTo>
                    <a:cubicBezTo>
                      <a:pt x="275170" y="939699"/>
                      <a:pt x="274455" y="939699"/>
                      <a:pt x="273740" y="939699"/>
                    </a:cubicBezTo>
                    <a:cubicBezTo>
                      <a:pt x="269452" y="939699"/>
                      <a:pt x="265164" y="939699"/>
                      <a:pt x="260875" y="938987"/>
                    </a:cubicBezTo>
                    <a:cubicBezTo>
                      <a:pt x="260161" y="938987"/>
                      <a:pt x="260161" y="938987"/>
                      <a:pt x="259446" y="938987"/>
                    </a:cubicBezTo>
                    <a:cubicBezTo>
                      <a:pt x="255157" y="938987"/>
                      <a:pt x="250869" y="938987"/>
                      <a:pt x="246581" y="938987"/>
                    </a:cubicBezTo>
                    <a:cubicBezTo>
                      <a:pt x="245866" y="938987"/>
                      <a:pt x="245151" y="938987"/>
                      <a:pt x="245151" y="938987"/>
                    </a:cubicBezTo>
                    <a:cubicBezTo>
                      <a:pt x="240863" y="938987"/>
                      <a:pt x="236574" y="938987"/>
                      <a:pt x="232286" y="938987"/>
                    </a:cubicBezTo>
                    <a:cubicBezTo>
                      <a:pt x="231571" y="938987"/>
                      <a:pt x="231571" y="938987"/>
                      <a:pt x="230857" y="938987"/>
                    </a:cubicBezTo>
                    <a:cubicBezTo>
                      <a:pt x="226568" y="938987"/>
                      <a:pt x="222280" y="938987"/>
                      <a:pt x="217992" y="938987"/>
                    </a:cubicBezTo>
                    <a:cubicBezTo>
                      <a:pt x="217992" y="938987"/>
                      <a:pt x="217992" y="938987"/>
                      <a:pt x="217277" y="938987"/>
                    </a:cubicBezTo>
                    <a:cubicBezTo>
                      <a:pt x="208700" y="938987"/>
                      <a:pt x="200123" y="938987"/>
                      <a:pt x="191547" y="939699"/>
                    </a:cubicBezTo>
                    <a:cubicBezTo>
                      <a:pt x="191547" y="939699"/>
                      <a:pt x="190832" y="939699"/>
                      <a:pt x="190832" y="939699"/>
                    </a:cubicBezTo>
                    <a:cubicBezTo>
                      <a:pt x="186543" y="939699"/>
                      <a:pt x="182970" y="939699"/>
                      <a:pt x="178681" y="939699"/>
                    </a:cubicBezTo>
                    <a:cubicBezTo>
                      <a:pt x="178681" y="939699"/>
                      <a:pt x="177967" y="939699"/>
                      <a:pt x="177252" y="939699"/>
                    </a:cubicBezTo>
                    <a:cubicBezTo>
                      <a:pt x="174393" y="940411"/>
                      <a:pt x="170819" y="940411"/>
                      <a:pt x="167246" y="940411"/>
                    </a:cubicBezTo>
                    <a:cubicBezTo>
                      <a:pt x="167246" y="940411"/>
                      <a:pt x="166531" y="940411"/>
                      <a:pt x="165816" y="940411"/>
                    </a:cubicBezTo>
                    <a:cubicBezTo>
                      <a:pt x="165816" y="940411"/>
                      <a:pt x="165102" y="940411"/>
                      <a:pt x="164387" y="940411"/>
                    </a:cubicBezTo>
                    <a:cubicBezTo>
                      <a:pt x="160813" y="941123"/>
                      <a:pt x="157240" y="941123"/>
                      <a:pt x="153666" y="941123"/>
                    </a:cubicBezTo>
                    <a:cubicBezTo>
                      <a:pt x="152951" y="941123"/>
                      <a:pt x="152951" y="941836"/>
                      <a:pt x="152236" y="941836"/>
                    </a:cubicBezTo>
                    <a:cubicBezTo>
                      <a:pt x="148663" y="941836"/>
                      <a:pt x="145089" y="941836"/>
                      <a:pt x="141516" y="942548"/>
                    </a:cubicBezTo>
                    <a:cubicBezTo>
                      <a:pt x="140801" y="942548"/>
                      <a:pt x="140801" y="942548"/>
                      <a:pt x="140086" y="942548"/>
                    </a:cubicBezTo>
                    <a:cubicBezTo>
                      <a:pt x="136512" y="943260"/>
                      <a:pt x="132939" y="943260"/>
                      <a:pt x="130080" y="943973"/>
                    </a:cubicBezTo>
                    <a:cubicBezTo>
                      <a:pt x="129365" y="943973"/>
                      <a:pt x="129365" y="943973"/>
                      <a:pt x="128650" y="943973"/>
                    </a:cubicBezTo>
                    <a:cubicBezTo>
                      <a:pt x="127936" y="943973"/>
                      <a:pt x="127221" y="943973"/>
                      <a:pt x="126506" y="943973"/>
                    </a:cubicBezTo>
                    <a:cubicBezTo>
                      <a:pt x="123647" y="944685"/>
                      <a:pt x="120788" y="944685"/>
                      <a:pt x="118644" y="945397"/>
                    </a:cubicBezTo>
                    <a:cubicBezTo>
                      <a:pt x="117929" y="945397"/>
                      <a:pt x="117929" y="945397"/>
                      <a:pt x="117929" y="945397"/>
                    </a:cubicBezTo>
                    <a:cubicBezTo>
                      <a:pt x="114356" y="946109"/>
                      <a:pt x="110782" y="946822"/>
                      <a:pt x="107209" y="947534"/>
                    </a:cubicBezTo>
                    <a:cubicBezTo>
                      <a:pt x="104350" y="947534"/>
                      <a:pt x="100776" y="948246"/>
                      <a:pt x="97917" y="948959"/>
                    </a:cubicBezTo>
                    <a:cubicBezTo>
                      <a:pt x="97202" y="948959"/>
                      <a:pt x="97202" y="948959"/>
                      <a:pt x="97202" y="948959"/>
                    </a:cubicBezTo>
                    <a:cubicBezTo>
                      <a:pt x="93629" y="949671"/>
                      <a:pt x="90770" y="950383"/>
                      <a:pt x="87911" y="951095"/>
                    </a:cubicBezTo>
                    <a:cubicBezTo>
                      <a:pt x="87911" y="951808"/>
                      <a:pt x="87196" y="951808"/>
                      <a:pt x="87196" y="951808"/>
                    </a:cubicBezTo>
                    <a:cubicBezTo>
                      <a:pt x="84337" y="952520"/>
                      <a:pt x="81478" y="953232"/>
                      <a:pt x="78619" y="953945"/>
                    </a:cubicBezTo>
                    <a:cubicBezTo>
                      <a:pt x="77905" y="953945"/>
                      <a:pt x="77905" y="953945"/>
                      <a:pt x="77190" y="953945"/>
                    </a:cubicBezTo>
                    <a:cubicBezTo>
                      <a:pt x="75046" y="955369"/>
                      <a:pt x="72187" y="956081"/>
                      <a:pt x="69328" y="956794"/>
                    </a:cubicBezTo>
                    <a:cubicBezTo>
                      <a:pt x="69328" y="956794"/>
                      <a:pt x="68613" y="956794"/>
                      <a:pt x="68613" y="957506"/>
                    </a:cubicBezTo>
                    <a:cubicBezTo>
                      <a:pt x="65754" y="958218"/>
                      <a:pt x="63610" y="958930"/>
                      <a:pt x="61466" y="959643"/>
                    </a:cubicBezTo>
                    <a:cubicBezTo>
                      <a:pt x="60751" y="960355"/>
                      <a:pt x="60751" y="960355"/>
                      <a:pt x="60036" y="960355"/>
                    </a:cubicBezTo>
                    <a:cubicBezTo>
                      <a:pt x="57892" y="961067"/>
                      <a:pt x="55748" y="962492"/>
                      <a:pt x="52889" y="963204"/>
                    </a:cubicBezTo>
                    <a:cubicBezTo>
                      <a:pt x="52889" y="963204"/>
                      <a:pt x="52889" y="963916"/>
                      <a:pt x="52889" y="963916"/>
                    </a:cubicBezTo>
                    <a:cubicBezTo>
                      <a:pt x="50030" y="964629"/>
                      <a:pt x="47886" y="966053"/>
                      <a:pt x="45742" y="967478"/>
                    </a:cubicBezTo>
                    <a:cubicBezTo>
                      <a:pt x="43598" y="968902"/>
                      <a:pt x="41453" y="969615"/>
                      <a:pt x="39309" y="971039"/>
                    </a:cubicBezTo>
                    <a:cubicBezTo>
                      <a:pt x="34306" y="974601"/>
                      <a:pt x="30733" y="977450"/>
                      <a:pt x="27159" y="981011"/>
                    </a:cubicBezTo>
                    <a:cubicBezTo>
                      <a:pt x="23585" y="984573"/>
                      <a:pt x="20012" y="985997"/>
                      <a:pt x="15723" y="985997"/>
                    </a:cubicBezTo>
                    <a:cubicBezTo>
                      <a:pt x="11435" y="985997"/>
                      <a:pt x="7861" y="984573"/>
                      <a:pt x="4288" y="981011"/>
                    </a:cubicBezTo>
                    <a:cubicBezTo>
                      <a:pt x="-1430" y="975313"/>
                      <a:pt x="-1430" y="965341"/>
                      <a:pt x="4288" y="958930"/>
                    </a:cubicBezTo>
                    <a:cubicBezTo>
                      <a:pt x="8576" y="955369"/>
                      <a:pt x="12150" y="951808"/>
                      <a:pt x="16438" y="948959"/>
                    </a:cubicBezTo>
                    <a:cubicBezTo>
                      <a:pt x="16438" y="948959"/>
                      <a:pt x="17153" y="948959"/>
                      <a:pt x="17153" y="948246"/>
                    </a:cubicBezTo>
                    <a:cubicBezTo>
                      <a:pt x="19297" y="946822"/>
                      <a:pt x="21441" y="945397"/>
                      <a:pt x="23585" y="943973"/>
                    </a:cubicBezTo>
                    <a:cubicBezTo>
                      <a:pt x="23585" y="943973"/>
                      <a:pt x="24300" y="943973"/>
                      <a:pt x="24300" y="943260"/>
                    </a:cubicBezTo>
                    <a:cubicBezTo>
                      <a:pt x="26444" y="941836"/>
                      <a:pt x="29303" y="941123"/>
                      <a:pt x="31447" y="939699"/>
                    </a:cubicBezTo>
                    <a:cubicBezTo>
                      <a:pt x="31447" y="939699"/>
                      <a:pt x="32162" y="938987"/>
                      <a:pt x="32162" y="938987"/>
                    </a:cubicBezTo>
                    <a:cubicBezTo>
                      <a:pt x="35021" y="937562"/>
                      <a:pt x="37165" y="936138"/>
                      <a:pt x="40024" y="935425"/>
                    </a:cubicBezTo>
                    <a:cubicBezTo>
                      <a:pt x="40024" y="935425"/>
                      <a:pt x="40739" y="934713"/>
                      <a:pt x="40739" y="934713"/>
                    </a:cubicBezTo>
                    <a:cubicBezTo>
                      <a:pt x="43598" y="933288"/>
                      <a:pt x="46457" y="932576"/>
                      <a:pt x="48601" y="931152"/>
                    </a:cubicBezTo>
                    <a:cubicBezTo>
                      <a:pt x="49315" y="931152"/>
                      <a:pt x="49315" y="931152"/>
                      <a:pt x="49315" y="931152"/>
                    </a:cubicBezTo>
                    <a:cubicBezTo>
                      <a:pt x="52174" y="929727"/>
                      <a:pt x="55033" y="929015"/>
                      <a:pt x="57892" y="927590"/>
                    </a:cubicBezTo>
                    <a:cubicBezTo>
                      <a:pt x="57892" y="927590"/>
                      <a:pt x="58607" y="927590"/>
                      <a:pt x="58607" y="927590"/>
                    </a:cubicBezTo>
                    <a:cubicBezTo>
                      <a:pt x="61466" y="926878"/>
                      <a:pt x="64325" y="925453"/>
                      <a:pt x="67184" y="924741"/>
                    </a:cubicBezTo>
                    <a:cubicBezTo>
                      <a:pt x="67898" y="924741"/>
                      <a:pt x="68613" y="924741"/>
                      <a:pt x="68613" y="924029"/>
                    </a:cubicBezTo>
                    <a:cubicBezTo>
                      <a:pt x="71472" y="923316"/>
                      <a:pt x="75046" y="922604"/>
                      <a:pt x="77905" y="921892"/>
                    </a:cubicBezTo>
                    <a:cubicBezTo>
                      <a:pt x="78619" y="921892"/>
                      <a:pt x="78619" y="921892"/>
                      <a:pt x="79334" y="921180"/>
                    </a:cubicBezTo>
                    <a:cubicBezTo>
                      <a:pt x="82193" y="920467"/>
                      <a:pt x="85767" y="919755"/>
                      <a:pt x="88626" y="919043"/>
                    </a:cubicBezTo>
                    <a:cubicBezTo>
                      <a:pt x="89340" y="919043"/>
                      <a:pt x="90055" y="919043"/>
                      <a:pt x="90770" y="919043"/>
                    </a:cubicBezTo>
                    <a:cubicBezTo>
                      <a:pt x="93629" y="918331"/>
                      <a:pt x="96488" y="917618"/>
                      <a:pt x="100061" y="916906"/>
                    </a:cubicBezTo>
                    <a:cubicBezTo>
                      <a:pt x="100776" y="916906"/>
                      <a:pt x="101491" y="916906"/>
                      <a:pt x="102205" y="916194"/>
                    </a:cubicBezTo>
                    <a:cubicBezTo>
                      <a:pt x="105064" y="916194"/>
                      <a:pt x="108638" y="915481"/>
                      <a:pt x="111497" y="914769"/>
                    </a:cubicBezTo>
                    <a:cubicBezTo>
                      <a:pt x="112212" y="914769"/>
                      <a:pt x="112926" y="914769"/>
                      <a:pt x="113641" y="914769"/>
                    </a:cubicBezTo>
                    <a:cubicBezTo>
                      <a:pt x="117215" y="914057"/>
                      <a:pt x="120074" y="913345"/>
                      <a:pt x="123647" y="913345"/>
                    </a:cubicBezTo>
                    <a:cubicBezTo>
                      <a:pt x="124362" y="913345"/>
                      <a:pt x="125077" y="912632"/>
                      <a:pt x="125791" y="912632"/>
                    </a:cubicBezTo>
                    <a:cubicBezTo>
                      <a:pt x="129365" y="912632"/>
                      <a:pt x="132939" y="911920"/>
                      <a:pt x="136512" y="911920"/>
                    </a:cubicBezTo>
                    <a:cubicBezTo>
                      <a:pt x="137227" y="911208"/>
                      <a:pt x="137942" y="911208"/>
                      <a:pt x="138657" y="911208"/>
                    </a:cubicBezTo>
                    <a:cubicBezTo>
                      <a:pt x="142230" y="911208"/>
                      <a:pt x="145804" y="910495"/>
                      <a:pt x="149378" y="910495"/>
                    </a:cubicBezTo>
                    <a:cubicBezTo>
                      <a:pt x="150092" y="910495"/>
                      <a:pt x="150807" y="910495"/>
                      <a:pt x="150807" y="910495"/>
                    </a:cubicBezTo>
                    <a:cubicBezTo>
                      <a:pt x="155095" y="909783"/>
                      <a:pt x="158669" y="909783"/>
                      <a:pt x="162243" y="909071"/>
                    </a:cubicBezTo>
                    <a:cubicBezTo>
                      <a:pt x="162957" y="909071"/>
                      <a:pt x="162957" y="909071"/>
                      <a:pt x="163672" y="909071"/>
                    </a:cubicBezTo>
                    <a:cubicBezTo>
                      <a:pt x="167960" y="909071"/>
                      <a:pt x="171534" y="909071"/>
                      <a:pt x="175108" y="908359"/>
                    </a:cubicBezTo>
                    <a:cubicBezTo>
                      <a:pt x="175823" y="908359"/>
                      <a:pt x="176537" y="908359"/>
                      <a:pt x="177252" y="908359"/>
                    </a:cubicBezTo>
                    <a:cubicBezTo>
                      <a:pt x="181540" y="908359"/>
                      <a:pt x="185114" y="908359"/>
                      <a:pt x="189402" y="908359"/>
                    </a:cubicBezTo>
                    <a:cubicBezTo>
                      <a:pt x="190117" y="908359"/>
                      <a:pt x="190832" y="908359"/>
                      <a:pt x="191547" y="907646"/>
                    </a:cubicBezTo>
                    <a:cubicBezTo>
                      <a:pt x="195835" y="907646"/>
                      <a:pt x="199409" y="907646"/>
                      <a:pt x="202982" y="907646"/>
                    </a:cubicBezTo>
                    <a:cubicBezTo>
                      <a:pt x="204412" y="907646"/>
                      <a:pt x="205126" y="907646"/>
                      <a:pt x="206556" y="907646"/>
                    </a:cubicBezTo>
                    <a:cubicBezTo>
                      <a:pt x="210129" y="907646"/>
                      <a:pt x="213703" y="907646"/>
                      <a:pt x="217992" y="907646"/>
                    </a:cubicBezTo>
                    <a:cubicBezTo>
                      <a:pt x="218706" y="907646"/>
                      <a:pt x="220136" y="907646"/>
                      <a:pt x="220850" y="907646"/>
                    </a:cubicBezTo>
                    <a:cubicBezTo>
                      <a:pt x="225139" y="907646"/>
                      <a:pt x="228712" y="907646"/>
                      <a:pt x="233001" y="907646"/>
                    </a:cubicBezTo>
                    <a:cubicBezTo>
                      <a:pt x="233716" y="907646"/>
                      <a:pt x="235145" y="907646"/>
                      <a:pt x="235860" y="907646"/>
                    </a:cubicBezTo>
                    <a:cubicBezTo>
                      <a:pt x="240148" y="907646"/>
                      <a:pt x="243722" y="907646"/>
                      <a:pt x="248010" y="907646"/>
                    </a:cubicBezTo>
                    <a:cubicBezTo>
                      <a:pt x="249440" y="907646"/>
                      <a:pt x="250154" y="907646"/>
                      <a:pt x="251584" y="907646"/>
                    </a:cubicBezTo>
                    <a:cubicBezTo>
                      <a:pt x="255157" y="907646"/>
                      <a:pt x="259446" y="907646"/>
                      <a:pt x="263734" y="907646"/>
                    </a:cubicBezTo>
                    <a:cubicBezTo>
                      <a:pt x="264449" y="907646"/>
                      <a:pt x="265878" y="908359"/>
                      <a:pt x="266593" y="908359"/>
                    </a:cubicBezTo>
                    <a:cubicBezTo>
                      <a:pt x="270881" y="908359"/>
                      <a:pt x="275170" y="908359"/>
                      <a:pt x="279458" y="908359"/>
                    </a:cubicBezTo>
                    <a:cubicBezTo>
                      <a:pt x="280173" y="908359"/>
                      <a:pt x="280888" y="908359"/>
                      <a:pt x="282317" y="908359"/>
                    </a:cubicBezTo>
                    <a:cubicBezTo>
                      <a:pt x="285891" y="908359"/>
                      <a:pt x="290179" y="909071"/>
                      <a:pt x="294467" y="909071"/>
                    </a:cubicBezTo>
                    <a:cubicBezTo>
                      <a:pt x="295182" y="909071"/>
                      <a:pt x="296612" y="909071"/>
                      <a:pt x="297326" y="909071"/>
                    </a:cubicBezTo>
                    <a:cubicBezTo>
                      <a:pt x="301615" y="909071"/>
                      <a:pt x="305903" y="909071"/>
                      <a:pt x="310192" y="909783"/>
                    </a:cubicBezTo>
                    <a:cubicBezTo>
                      <a:pt x="310906" y="909783"/>
                      <a:pt x="311621" y="909783"/>
                      <a:pt x="313050" y="909783"/>
                    </a:cubicBezTo>
                    <a:cubicBezTo>
                      <a:pt x="317339" y="909783"/>
                      <a:pt x="321627" y="910495"/>
                      <a:pt x="325916" y="910495"/>
                    </a:cubicBezTo>
                    <a:cubicBezTo>
                      <a:pt x="327345" y="910495"/>
                      <a:pt x="328060" y="910495"/>
                      <a:pt x="329489" y="910495"/>
                    </a:cubicBezTo>
                    <a:cubicBezTo>
                      <a:pt x="333778" y="910495"/>
                      <a:pt x="338066" y="911208"/>
                      <a:pt x="342354" y="911208"/>
                    </a:cubicBezTo>
                    <a:cubicBezTo>
                      <a:pt x="343784" y="911208"/>
                      <a:pt x="344499" y="911208"/>
                      <a:pt x="345928" y="911208"/>
                    </a:cubicBezTo>
                    <a:cubicBezTo>
                      <a:pt x="350216" y="911920"/>
                      <a:pt x="354505" y="911920"/>
                      <a:pt x="358793" y="911920"/>
                    </a:cubicBezTo>
                    <a:cubicBezTo>
                      <a:pt x="360223" y="912632"/>
                      <a:pt x="361652" y="912632"/>
                      <a:pt x="363081" y="912632"/>
                    </a:cubicBezTo>
                    <a:cubicBezTo>
                      <a:pt x="367370" y="912632"/>
                      <a:pt x="370943" y="912632"/>
                      <a:pt x="375232" y="913345"/>
                    </a:cubicBezTo>
                    <a:cubicBezTo>
                      <a:pt x="376661" y="913345"/>
                      <a:pt x="377376" y="913345"/>
                      <a:pt x="378091" y="913345"/>
                    </a:cubicBezTo>
                    <a:cubicBezTo>
                      <a:pt x="386668" y="914057"/>
                      <a:pt x="394530" y="914769"/>
                      <a:pt x="403106" y="914769"/>
                    </a:cubicBezTo>
                    <a:cubicBezTo>
                      <a:pt x="408824" y="915481"/>
                      <a:pt x="413827" y="915481"/>
                      <a:pt x="419545" y="916194"/>
                    </a:cubicBezTo>
                    <a:cubicBezTo>
                      <a:pt x="420260" y="916194"/>
                      <a:pt x="420260" y="916194"/>
                      <a:pt x="420975" y="916194"/>
                    </a:cubicBezTo>
                    <a:cubicBezTo>
                      <a:pt x="421689" y="916194"/>
                      <a:pt x="421689" y="916194"/>
                      <a:pt x="422404" y="916194"/>
                    </a:cubicBezTo>
                    <a:cubicBezTo>
                      <a:pt x="423119" y="916194"/>
                      <a:pt x="423833" y="916194"/>
                      <a:pt x="423833" y="916194"/>
                    </a:cubicBezTo>
                    <a:cubicBezTo>
                      <a:pt x="427407" y="916906"/>
                      <a:pt x="430981" y="916906"/>
                      <a:pt x="434554" y="916906"/>
                    </a:cubicBezTo>
                    <a:cubicBezTo>
                      <a:pt x="435984" y="917618"/>
                      <a:pt x="437413" y="917618"/>
                      <a:pt x="438843" y="917618"/>
                    </a:cubicBezTo>
                    <a:cubicBezTo>
                      <a:pt x="439557" y="917618"/>
                      <a:pt x="440272" y="917618"/>
                      <a:pt x="440987" y="917618"/>
                    </a:cubicBezTo>
                    <a:cubicBezTo>
                      <a:pt x="441702" y="917618"/>
                      <a:pt x="443131" y="917618"/>
                      <a:pt x="444561" y="917618"/>
                    </a:cubicBezTo>
                    <a:cubicBezTo>
                      <a:pt x="451708" y="918331"/>
                      <a:pt x="459570" y="919043"/>
                      <a:pt x="466717" y="919043"/>
                    </a:cubicBezTo>
                    <a:cubicBezTo>
                      <a:pt x="473864" y="919755"/>
                      <a:pt x="481012" y="920467"/>
                      <a:pt x="488159" y="920467"/>
                    </a:cubicBezTo>
                    <a:cubicBezTo>
                      <a:pt x="491733" y="921180"/>
                      <a:pt x="494592" y="921180"/>
                      <a:pt x="498165" y="921180"/>
                    </a:cubicBezTo>
                    <a:cubicBezTo>
                      <a:pt x="498880" y="921180"/>
                      <a:pt x="498880" y="921180"/>
                      <a:pt x="499595" y="921892"/>
                    </a:cubicBezTo>
                    <a:cubicBezTo>
                      <a:pt x="506027" y="921892"/>
                      <a:pt x="511745" y="922604"/>
                      <a:pt x="518178" y="922604"/>
                    </a:cubicBezTo>
                    <a:cubicBezTo>
                      <a:pt x="518892" y="922604"/>
                      <a:pt x="519607" y="922604"/>
                      <a:pt x="520322" y="922604"/>
                    </a:cubicBezTo>
                    <a:cubicBezTo>
                      <a:pt x="521037" y="922604"/>
                      <a:pt x="521751" y="922604"/>
                      <a:pt x="522466" y="923316"/>
                    </a:cubicBezTo>
                    <a:cubicBezTo>
                      <a:pt x="531757" y="923316"/>
                      <a:pt x="541049" y="924029"/>
                      <a:pt x="549626" y="924741"/>
                    </a:cubicBezTo>
                    <a:cubicBezTo>
                      <a:pt x="550340" y="924741"/>
                      <a:pt x="550340" y="924741"/>
                      <a:pt x="551055" y="924741"/>
                    </a:cubicBezTo>
                    <a:cubicBezTo>
                      <a:pt x="555344" y="924741"/>
                      <a:pt x="560347" y="925453"/>
                      <a:pt x="565350" y="925453"/>
                    </a:cubicBezTo>
                    <a:cubicBezTo>
                      <a:pt x="566064" y="925453"/>
                      <a:pt x="566779" y="925453"/>
                      <a:pt x="566779" y="925453"/>
                    </a:cubicBezTo>
                    <a:cubicBezTo>
                      <a:pt x="567494" y="925453"/>
                      <a:pt x="567494" y="925453"/>
                      <a:pt x="568209" y="925453"/>
                    </a:cubicBezTo>
                    <a:cubicBezTo>
                      <a:pt x="568923" y="925453"/>
                      <a:pt x="570353" y="925453"/>
                      <a:pt x="571782" y="925453"/>
                    </a:cubicBezTo>
                    <a:cubicBezTo>
                      <a:pt x="576071" y="926166"/>
                      <a:pt x="580359" y="926166"/>
                      <a:pt x="584647" y="926166"/>
                    </a:cubicBezTo>
                    <a:cubicBezTo>
                      <a:pt x="585362" y="926166"/>
                      <a:pt x="586077" y="926166"/>
                      <a:pt x="586792" y="926166"/>
                    </a:cubicBezTo>
                    <a:cubicBezTo>
                      <a:pt x="601801" y="926878"/>
                      <a:pt x="617525" y="927590"/>
                      <a:pt x="632534" y="928302"/>
                    </a:cubicBezTo>
                    <a:cubicBezTo>
                      <a:pt x="672559" y="929015"/>
                      <a:pt x="710440" y="928302"/>
                      <a:pt x="744747" y="925453"/>
                    </a:cubicBezTo>
                    <a:cubicBezTo>
                      <a:pt x="759041" y="924029"/>
                      <a:pt x="771906" y="922604"/>
                      <a:pt x="784771" y="920467"/>
                    </a:cubicBezTo>
                    <a:cubicBezTo>
                      <a:pt x="814790" y="916194"/>
                      <a:pt x="840520" y="908359"/>
                      <a:pt x="860533" y="896962"/>
                    </a:cubicBezTo>
                    <a:cubicBezTo>
                      <a:pt x="864106" y="895538"/>
                      <a:pt x="866965" y="893401"/>
                      <a:pt x="869824" y="891264"/>
                    </a:cubicBezTo>
                    <a:cubicBezTo>
                      <a:pt x="874113" y="888415"/>
                      <a:pt x="878401" y="884853"/>
                      <a:pt x="881975" y="881292"/>
                    </a:cubicBezTo>
                    <a:cubicBezTo>
                      <a:pt x="885548" y="877731"/>
                      <a:pt x="889122" y="873457"/>
                      <a:pt x="891981" y="869183"/>
                    </a:cubicBezTo>
                    <a:cubicBezTo>
                      <a:pt x="901987" y="854938"/>
                      <a:pt x="909135" y="837131"/>
                      <a:pt x="914853" y="815762"/>
                    </a:cubicBezTo>
                    <a:cubicBezTo>
                      <a:pt x="917711" y="805790"/>
                      <a:pt x="919856" y="795818"/>
                      <a:pt x="921285" y="784422"/>
                    </a:cubicBezTo>
                    <a:cubicBezTo>
                      <a:pt x="923429" y="771601"/>
                      <a:pt x="924859" y="758780"/>
                      <a:pt x="926288" y="744534"/>
                    </a:cubicBezTo>
                    <a:cubicBezTo>
                      <a:pt x="929147" y="710345"/>
                      <a:pt x="929862" y="672594"/>
                      <a:pt x="929147" y="632706"/>
                    </a:cubicBezTo>
                    <a:cubicBezTo>
                      <a:pt x="928432" y="617748"/>
                      <a:pt x="927718" y="602078"/>
                      <a:pt x="927003" y="587120"/>
                    </a:cubicBezTo>
                    <a:cubicBezTo>
                      <a:pt x="926288" y="562903"/>
                      <a:pt x="924859" y="538685"/>
                      <a:pt x="923429" y="514468"/>
                    </a:cubicBezTo>
                    <a:cubicBezTo>
                      <a:pt x="923429" y="514468"/>
                      <a:pt x="923429" y="514468"/>
                      <a:pt x="923429" y="513755"/>
                    </a:cubicBezTo>
                    <a:cubicBezTo>
                      <a:pt x="922715" y="509482"/>
                      <a:pt x="922715" y="505208"/>
                      <a:pt x="922715" y="500222"/>
                    </a:cubicBezTo>
                    <a:close/>
                    <a:moveTo>
                      <a:pt x="1370508" y="400228"/>
                    </a:moveTo>
                    <a:cubicBezTo>
                      <a:pt x="1374611" y="400228"/>
                      <a:pt x="1378714" y="401834"/>
                      <a:pt x="1381925" y="405046"/>
                    </a:cubicBezTo>
                    <a:cubicBezTo>
                      <a:pt x="1387633" y="410757"/>
                      <a:pt x="1387633" y="420750"/>
                      <a:pt x="1381925" y="427174"/>
                    </a:cubicBezTo>
                    <a:cubicBezTo>
                      <a:pt x="1377644" y="430743"/>
                      <a:pt x="1374076" y="434312"/>
                      <a:pt x="1369794" y="437167"/>
                    </a:cubicBezTo>
                    <a:cubicBezTo>
                      <a:pt x="1369794" y="437167"/>
                      <a:pt x="1369081" y="437167"/>
                      <a:pt x="1369081" y="437881"/>
                    </a:cubicBezTo>
                    <a:cubicBezTo>
                      <a:pt x="1366940" y="439308"/>
                      <a:pt x="1364800" y="440736"/>
                      <a:pt x="1362659" y="442164"/>
                    </a:cubicBezTo>
                    <a:cubicBezTo>
                      <a:pt x="1362659" y="442164"/>
                      <a:pt x="1361945" y="442164"/>
                      <a:pt x="1361945" y="442877"/>
                    </a:cubicBezTo>
                    <a:cubicBezTo>
                      <a:pt x="1359805" y="444305"/>
                      <a:pt x="1356951" y="445019"/>
                      <a:pt x="1354810" y="446446"/>
                    </a:cubicBezTo>
                    <a:cubicBezTo>
                      <a:pt x="1354810" y="446446"/>
                      <a:pt x="1354096" y="447160"/>
                      <a:pt x="1354096" y="447160"/>
                    </a:cubicBezTo>
                    <a:cubicBezTo>
                      <a:pt x="1351242" y="448588"/>
                      <a:pt x="1349102" y="450015"/>
                      <a:pt x="1346247" y="450729"/>
                    </a:cubicBezTo>
                    <a:cubicBezTo>
                      <a:pt x="1346247" y="450729"/>
                      <a:pt x="1345534" y="451443"/>
                      <a:pt x="1345534" y="451443"/>
                    </a:cubicBezTo>
                    <a:cubicBezTo>
                      <a:pt x="1342680" y="452871"/>
                      <a:pt x="1339825" y="453584"/>
                      <a:pt x="1336971" y="455012"/>
                    </a:cubicBezTo>
                    <a:cubicBezTo>
                      <a:pt x="1334117" y="456440"/>
                      <a:pt x="1331263" y="457153"/>
                      <a:pt x="1327695" y="458581"/>
                    </a:cubicBezTo>
                    <a:cubicBezTo>
                      <a:pt x="1324841" y="459295"/>
                      <a:pt x="1321987" y="460722"/>
                      <a:pt x="1318419" y="461436"/>
                    </a:cubicBezTo>
                    <a:cubicBezTo>
                      <a:pt x="1318419" y="461436"/>
                      <a:pt x="1317705" y="461436"/>
                      <a:pt x="1317705" y="461436"/>
                    </a:cubicBezTo>
                    <a:cubicBezTo>
                      <a:pt x="1314851" y="462864"/>
                      <a:pt x="1311283" y="463578"/>
                      <a:pt x="1308429" y="464291"/>
                    </a:cubicBezTo>
                    <a:cubicBezTo>
                      <a:pt x="1307716" y="464291"/>
                      <a:pt x="1307716" y="464291"/>
                      <a:pt x="1307002" y="465005"/>
                    </a:cubicBezTo>
                    <a:cubicBezTo>
                      <a:pt x="1304148" y="465719"/>
                      <a:pt x="1300580" y="466433"/>
                      <a:pt x="1297726" y="467147"/>
                    </a:cubicBezTo>
                    <a:cubicBezTo>
                      <a:pt x="1297012" y="467147"/>
                      <a:pt x="1296299" y="467147"/>
                      <a:pt x="1296299" y="467147"/>
                    </a:cubicBezTo>
                    <a:cubicBezTo>
                      <a:pt x="1292731" y="467860"/>
                      <a:pt x="1289877" y="468574"/>
                      <a:pt x="1286309" y="469288"/>
                    </a:cubicBezTo>
                    <a:cubicBezTo>
                      <a:pt x="1285596" y="469288"/>
                      <a:pt x="1285596" y="469288"/>
                      <a:pt x="1284882" y="469288"/>
                    </a:cubicBezTo>
                    <a:cubicBezTo>
                      <a:pt x="1281314" y="470002"/>
                      <a:pt x="1277747" y="470715"/>
                      <a:pt x="1274179" y="471429"/>
                    </a:cubicBezTo>
                    <a:cubicBezTo>
                      <a:pt x="1274179" y="471429"/>
                      <a:pt x="1273465" y="471429"/>
                      <a:pt x="1273465" y="471429"/>
                    </a:cubicBezTo>
                    <a:cubicBezTo>
                      <a:pt x="1269898" y="472143"/>
                      <a:pt x="1265616" y="472857"/>
                      <a:pt x="1262048" y="472857"/>
                    </a:cubicBezTo>
                    <a:cubicBezTo>
                      <a:pt x="1262048" y="472857"/>
                      <a:pt x="1261335" y="473571"/>
                      <a:pt x="1261335" y="473571"/>
                    </a:cubicBezTo>
                    <a:cubicBezTo>
                      <a:pt x="1257054" y="473571"/>
                      <a:pt x="1253486" y="474284"/>
                      <a:pt x="1249205" y="474998"/>
                    </a:cubicBezTo>
                    <a:cubicBezTo>
                      <a:pt x="1236361" y="475712"/>
                      <a:pt x="1223517" y="477140"/>
                      <a:pt x="1209959" y="477853"/>
                    </a:cubicBezTo>
                    <a:cubicBezTo>
                      <a:pt x="1209959" y="477853"/>
                      <a:pt x="1209959" y="477853"/>
                      <a:pt x="1209246" y="477853"/>
                    </a:cubicBezTo>
                    <a:cubicBezTo>
                      <a:pt x="1204964" y="477853"/>
                      <a:pt x="1200683" y="477853"/>
                      <a:pt x="1196402" y="477853"/>
                    </a:cubicBezTo>
                    <a:cubicBezTo>
                      <a:pt x="1195688" y="477853"/>
                      <a:pt x="1195688" y="477853"/>
                      <a:pt x="1195688" y="477853"/>
                    </a:cubicBezTo>
                    <a:cubicBezTo>
                      <a:pt x="1191407" y="478567"/>
                      <a:pt x="1186412" y="478567"/>
                      <a:pt x="1182131" y="478567"/>
                    </a:cubicBezTo>
                    <a:cubicBezTo>
                      <a:pt x="1182131" y="478567"/>
                      <a:pt x="1181417" y="478567"/>
                      <a:pt x="1181417" y="478567"/>
                    </a:cubicBezTo>
                    <a:cubicBezTo>
                      <a:pt x="1176422" y="478567"/>
                      <a:pt x="1172141" y="478567"/>
                      <a:pt x="1167860" y="478567"/>
                    </a:cubicBezTo>
                    <a:cubicBezTo>
                      <a:pt x="1167146" y="478567"/>
                      <a:pt x="1167146" y="478567"/>
                      <a:pt x="1166433" y="478567"/>
                    </a:cubicBezTo>
                    <a:cubicBezTo>
                      <a:pt x="1162151" y="478567"/>
                      <a:pt x="1157157" y="478567"/>
                      <a:pt x="1152875" y="478567"/>
                    </a:cubicBezTo>
                    <a:cubicBezTo>
                      <a:pt x="1152162" y="478567"/>
                      <a:pt x="1152162" y="478567"/>
                      <a:pt x="1151448" y="478567"/>
                    </a:cubicBezTo>
                    <a:cubicBezTo>
                      <a:pt x="1147167" y="478567"/>
                      <a:pt x="1142172" y="478567"/>
                      <a:pt x="1137891" y="478567"/>
                    </a:cubicBezTo>
                    <a:cubicBezTo>
                      <a:pt x="1137177" y="478567"/>
                      <a:pt x="1137177" y="478567"/>
                      <a:pt x="1136464" y="478567"/>
                    </a:cubicBezTo>
                    <a:cubicBezTo>
                      <a:pt x="1132182" y="478567"/>
                      <a:pt x="1127188" y="478567"/>
                      <a:pt x="1122193" y="478567"/>
                    </a:cubicBezTo>
                    <a:cubicBezTo>
                      <a:pt x="1122193" y="478567"/>
                      <a:pt x="1122193" y="478567"/>
                      <a:pt x="1121479" y="478567"/>
                    </a:cubicBezTo>
                    <a:cubicBezTo>
                      <a:pt x="1101500" y="477853"/>
                      <a:pt x="1080807" y="477140"/>
                      <a:pt x="1058687" y="475712"/>
                    </a:cubicBezTo>
                    <a:cubicBezTo>
                      <a:pt x="1053692" y="475712"/>
                      <a:pt x="1047984" y="474998"/>
                      <a:pt x="1042989" y="474998"/>
                    </a:cubicBezTo>
                    <a:cubicBezTo>
                      <a:pt x="1042989" y="474998"/>
                      <a:pt x="1042275" y="474998"/>
                      <a:pt x="1042275" y="474998"/>
                    </a:cubicBezTo>
                    <a:cubicBezTo>
                      <a:pt x="1036567" y="474284"/>
                      <a:pt x="1031572" y="474284"/>
                      <a:pt x="1026577" y="473571"/>
                    </a:cubicBezTo>
                    <a:cubicBezTo>
                      <a:pt x="1025863" y="473571"/>
                      <a:pt x="1025863" y="473571"/>
                      <a:pt x="1025150" y="473571"/>
                    </a:cubicBezTo>
                    <a:cubicBezTo>
                      <a:pt x="1020155" y="473571"/>
                      <a:pt x="1015160" y="472857"/>
                      <a:pt x="1010165" y="472857"/>
                    </a:cubicBezTo>
                    <a:cubicBezTo>
                      <a:pt x="1009452" y="472857"/>
                      <a:pt x="1009452" y="472857"/>
                      <a:pt x="1008738" y="472857"/>
                    </a:cubicBezTo>
                    <a:cubicBezTo>
                      <a:pt x="1008025" y="472857"/>
                      <a:pt x="1008025" y="472857"/>
                      <a:pt x="1007311" y="472857"/>
                    </a:cubicBezTo>
                    <a:cubicBezTo>
                      <a:pt x="1003030" y="472143"/>
                      <a:pt x="998035" y="472143"/>
                      <a:pt x="993040" y="471429"/>
                    </a:cubicBezTo>
                    <a:cubicBezTo>
                      <a:pt x="993040" y="471429"/>
                      <a:pt x="992327" y="471429"/>
                      <a:pt x="992327" y="471429"/>
                    </a:cubicBezTo>
                    <a:cubicBezTo>
                      <a:pt x="989472" y="471429"/>
                      <a:pt x="986618" y="471429"/>
                      <a:pt x="983764" y="471429"/>
                    </a:cubicBezTo>
                    <a:cubicBezTo>
                      <a:pt x="980910" y="470715"/>
                      <a:pt x="978769" y="470715"/>
                      <a:pt x="975915" y="470715"/>
                    </a:cubicBezTo>
                    <a:cubicBezTo>
                      <a:pt x="968066" y="470002"/>
                      <a:pt x="960217" y="469288"/>
                      <a:pt x="952368" y="469288"/>
                    </a:cubicBezTo>
                    <a:cubicBezTo>
                      <a:pt x="948800" y="468574"/>
                      <a:pt x="945232" y="468574"/>
                      <a:pt x="942378" y="468574"/>
                    </a:cubicBezTo>
                    <a:cubicBezTo>
                      <a:pt x="935243" y="467860"/>
                      <a:pt x="927394" y="467147"/>
                      <a:pt x="920258" y="467147"/>
                    </a:cubicBezTo>
                    <a:cubicBezTo>
                      <a:pt x="910268" y="466433"/>
                      <a:pt x="899565" y="465719"/>
                      <a:pt x="888861" y="465005"/>
                    </a:cubicBezTo>
                    <a:cubicBezTo>
                      <a:pt x="881726" y="464291"/>
                      <a:pt x="873877" y="463578"/>
                      <a:pt x="866741" y="463578"/>
                    </a:cubicBezTo>
                    <a:cubicBezTo>
                      <a:pt x="844621" y="462150"/>
                      <a:pt x="822501" y="460722"/>
                      <a:pt x="800381" y="460009"/>
                    </a:cubicBezTo>
                    <a:cubicBezTo>
                      <a:pt x="785397" y="459295"/>
                      <a:pt x="769699" y="458581"/>
                      <a:pt x="754714" y="457867"/>
                    </a:cubicBezTo>
                    <a:cubicBezTo>
                      <a:pt x="714755" y="457153"/>
                      <a:pt x="676937" y="457867"/>
                      <a:pt x="642687" y="460722"/>
                    </a:cubicBezTo>
                    <a:cubicBezTo>
                      <a:pt x="628416" y="462150"/>
                      <a:pt x="615572" y="463578"/>
                      <a:pt x="602728" y="465719"/>
                    </a:cubicBezTo>
                    <a:cubicBezTo>
                      <a:pt x="572045" y="470002"/>
                      <a:pt x="546358" y="477853"/>
                      <a:pt x="526378" y="489274"/>
                    </a:cubicBezTo>
                    <a:cubicBezTo>
                      <a:pt x="523524" y="491416"/>
                      <a:pt x="520670" y="492843"/>
                      <a:pt x="517816" y="494985"/>
                    </a:cubicBezTo>
                    <a:cubicBezTo>
                      <a:pt x="513534" y="497840"/>
                      <a:pt x="509253" y="501409"/>
                      <a:pt x="505685" y="504978"/>
                    </a:cubicBezTo>
                    <a:cubicBezTo>
                      <a:pt x="502117" y="508547"/>
                      <a:pt x="498550" y="512829"/>
                      <a:pt x="495696" y="517112"/>
                    </a:cubicBezTo>
                    <a:cubicBezTo>
                      <a:pt x="485706" y="531388"/>
                      <a:pt x="478570" y="549233"/>
                      <a:pt x="472862" y="570647"/>
                    </a:cubicBezTo>
                    <a:cubicBezTo>
                      <a:pt x="471435" y="575643"/>
                      <a:pt x="470008" y="580640"/>
                      <a:pt x="469294" y="585637"/>
                    </a:cubicBezTo>
                    <a:cubicBezTo>
                      <a:pt x="468581" y="588492"/>
                      <a:pt x="467867" y="591347"/>
                      <a:pt x="467867" y="594202"/>
                    </a:cubicBezTo>
                    <a:cubicBezTo>
                      <a:pt x="467154" y="596344"/>
                      <a:pt x="466440" y="599199"/>
                      <a:pt x="466440" y="602054"/>
                    </a:cubicBezTo>
                    <a:cubicBezTo>
                      <a:pt x="464299" y="614902"/>
                      <a:pt x="462872" y="627751"/>
                      <a:pt x="461445" y="642026"/>
                    </a:cubicBezTo>
                    <a:cubicBezTo>
                      <a:pt x="458591" y="676289"/>
                      <a:pt x="457877" y="714120"/>
                      <a:pt x="458591" y="754092"/>
                    </a:cubicBezTo>
                    <a:cubicBezTo>
                      <a:pt x="459304" y="769082"/>
                      <a:pt x="460018" y="784786"/>
                      <a:pt x="460732" y="799775"/>
                    </a:cubicBezTo>
                    <a:cubicBezTo>
                      <a:pt x="461445" y="824044"/>
                      <a:pt x="462872" y="848313"/>
                      <a:pt x="464299" y="872582"/>
                    </a:cubicBezTo>
                    <a:cubicBezTo>
                      <a:pt x="464299" y="872582"/>
                      <a:pt x="464299" y="872582"/>
                      <a:pt x="464299" y="873296"/>
                    </a:cubicBezTo>
                    <a:cubicBezTo>
                      <a:pt x="465013" y="878293"/>
                      <a:pt x="465013" y="883289"/>
                      <a:pt x="465726" y="887572"/>
                    </a:cubicBezTo>
                    <a:cubicBezTo>
                      <a:pt x="464299" y="887572"/>
                      <a:pt x="463586" y="887572"/>
                      <a:pt x="462872" y="887572"/>
                    </a:cubicBezTo>
                    <a:cubicBezTo>
                      <a:pt x="453596" y="886858"/>
                      <a:pt x="443606" y="886145"/>
                      <a:pt x="433617" y="885431"/>
                    </a:cubicBezTo>
                    <a:cubicBezTo>
                      <a:pt x="432190" y="864731"/>
                      <a:pt x="431476" y="844031"/>
                      <a:pt x="430049" y="824044"/>
                    </a:cubicBezTo>
                    <a:cubicBezTo>
                      <a:pt x="428622" y="792637"/>
                      <a:pt x="427195" y="762658"/>
                      <a:pt x="427195" y="733392"/>
                    </a:cubicBezTo>
                    <a:cubicBezTo>
                      <a:pt x="427195" y="729110"/>
                      <a:pt x="427195" y="724827"/>
                      <a:pt x="427195" y="721258"/>
                    </a:cubicBezTo>
                    <a:cubicBezTo>
                      <a:pt x="427195" y="717689"/>
                      <a:pt x="427195" y="714120"/>
                      <a:pt x="427195" y="711265"/>
                    </a:cubicBezTo>
                    <a:cubicBezTo>
                      <a:pt x="427195" y="707696"/>
                      <a:pt x="427195" y="704840"/>
                      <a:pt x="427195" y="701271"/>
                    </a:cubicBezTo>
                    <a:cubicBezTo>
                      <a:pt x="428622" y="603481"/>
                      <a:pt x="442179" y="524250"/>
                      <a:pt x="483565" y="482850"/>
                    </a:cubicBezTo>
                    <a:cubicBezTo>
                      <a:pt x="522097" y="444305"/>
                      <a:pt x="592738" y="430029"/>
                      <a:pt x="680505" y="427174"/>
                    </a:cubicBezTo>
                    <a:cubicBezTo>
                      <a:pt x="681218" y="427174"/>
                      <a:pt x="681218" y="427174"/>
                      <a:pt x="681218" y="427174"/>
                    </a:cubicBezTo>
                    <a:cubicBezTo>
                      <a:pt x="685500" y="426460"/>
                      <a:pt x="689781" y="426460"/>
                      <a:pt x="694062" y="426460"/>
                    </a:cubicBezTo>
                    <a:cubicBezTo>
                      <a:pt x="695489" y="426460"/>
                      <a:pt x="696203" y="426460"/>
                      <a:pt x="697630" y="426460"/>
                    </a:cubicBezTo>
                    <a:cubicBezTo>
                      <a:pt x="749006" y="425746"/>
                      <a:pt x="804663" y="427888"/>
                      <a:pt x="863174" y="431457"/>
                    </a:cubicBezTo>
                    <a:cubicBezTo>
                      <a:pt x="871023" y="432171"/>
                      <a:pt x="878872" y="432884"/>
                      <a:pt x="886721" y="432884"/>
                    </a:cubicBezTo>
                    <a:cubicBezTo>
                      <a:pt x="897424" y="433598"/>
                      <a:pt x="908127" y="434312"/>
                      <a:pt x="918117" y="435026"/>
                    </a:cubicBezTo>
                    <a:cubicBezTo>
                      <a:pt x="926680" y="435739"/>
                      <a:pt x="935956" y="436453"/>
                      <a:pt x="944519" y="437167"/>
                    </a:cubicBezTo>
                    <a:cubicBezTo>
                      <a:pt x="945946" y="437167"/>
                      <a:pt x="948087" y="437167"/>
                      <a:pt x="950227" y="437167"/>
                    </a:cubicBezTo>
                    <a:cubicBezTo>
                      <a:pt x="960217" y="437881"/>
                      <a:pt x="970920" y="438595"/>
                      <a:pt x="980910" y="439308"/>
                    </a:cubicBezTo>
                    <a:cubicBezTo>
                      <a:pt x="980910" y="439308"/>
                      <a:pt x="981623" y="439308"/>
                      <a:pt x="981623" y="439308"/>
                    </a:cubicBezTo>
                    <a:cubicBezTo>
                      <a:pt x="983050" y="439308"/>
                      <a:pt x="985191" y="440022"/>
                      <a:pt x="986618" y="440022"/>
                    </a:cubicBezTo>
                    <a:cubicBezTo>
                      <a:pt x="988759" y="440022"/>
                      <a:pt x="990900" y="440022"/>
                      <a:pt x="993040" y="440022"/>
                    </a:cubicBezTo>
                    <a:cubicBezTo>
                      <a:pt x="996608" y="440736"/>
                      <a:pt x="1000176" y="440736"/>
                      <a:pt x="1003743" y="440736"/>
                    </a:cubicBezTo>
                    <a:cubicBezTo>
                      <a:pt x="1004457" y="440736"/>
                      <a:pt x="1004457" y="440736"/>
                      <a:pt x="1005171" y="440736"/>
                    </a:cubicBezTo>
                    <a:cubicBezTo>
                      <a:pt x="1005884" y="441450"/>
                      <a:pt x="1007311" y="441450"/>
                      <a:pt x="1008025" y="441450"/>
                    </a:cubicBezTo>
                    <a:cubicBezTo>
                      <a:pt x="1012306" y="441450"/>
                      <a:pt x="1015874" y="441450"/>
                      <a:pt x="1020155" y="442164"/>
                    </a:cubicBezTo>
                    <a:cubicBezTo>
                      <a:pt x="1020869" y="442164"/>
                      <a:pt x="1022296" y="442164"/>
                      <a:pt x="1023723" y="442164"/>
                    </a:cubicBezTo>
                    <a:cubicBezTo>
                      <a:pt x="1027291" y="442164"/>
                      <a:pt x="1031572" y="442877"/>
                      <a:pt x="1035853" y="442877"/>
                    </a:cubicBezTo>
                    <a:cubicBezTo>
                      <a:pt x="1036567" y="442877"/>
                      <a:pt x="1037994" y="442877"/>
                      <a:pt x="1038707" y="442877"/>
                    </a:cubicBezTo>
                    <a:cubicBezTo>
                      <a:pt x="1042989" y="443591"/>
                      <a:pt x="1047270" y="443591"/>
                      <a:pt x="1051551" y="443591"/>
                    </a:cubicBezTo>
                    <a:cubicBezTo>
                      <a:pt x="1052265" y="443591"/>
                      <a:pt x="1052978" y="443591"/>
                      <a:pt x="1053692" y="444305"/>
                    </a:cubicBezTo>
                    <a:cubicBezTo>
                      <a:pt x="1055119" y="444305"/>
                      <a:pt x="1057260" y="444305"/>
                      <a:pt x="1058687" y="444305"/>
                    </a:cubicBezTo>
                    <a:cubicBezTo>
                      <a:pt x="1061541" y="444305"/>
                      <a:pt x="1064395" y="444305"/>
                      <a:pt x="1067249" y="445019"/>
                    </a:cubicBezTo>
                    <a:cubicBezTo>
                      <a:pt x="1072244" y="445019"/>
                      <a:pt x="1076526" y="445019"/>
                      <a:pt x="1081520" y="445019"/>
                    </a:cubicBezTo>
                    <a:cubicBezTo>
                      <a:pt x="1081520" y="445019"/>
                      <a:pt x="1082234" y="445019"/>
                      <a:pt x="1082947" y="445733"/>
                    </a:cubicBezTo>
                    <a:cubicBezTo>
                      <a:pt x="1087229" y="445733"/>
                      <a:pt x="1091510" y="445733"/>
                      <a:pt x="1096505" y="445733"/>
                    </a:cubicBezTo>
                    <a:cubicBezTo>
                      <a:pt x="1096505" y="445733"/>
                      <a:pt x="1097218" y="445733"/>
                      <a:pt x="1097932" y="445733"/>
                    </a:cubicBezTo>
                    <a:cubicBezTo>
                      <a:pt x="1100073" y="446446"/>
                      <a:pt x="1102927" y="446446"/>
                      <a:pt x="1105068" y="446446"/>
                    </a:cubicBezTo>
                    <a:cubicBezTo>
                      <a:pt x="1107208" y="446446"/>
                      <a:pt x="1108635" y="446446"/>
                      <a:pt x="1110776" y="446446"/>
                    </a:cubicBezTo>
                    <a:cubicBezTo>
                      <a:pt x="1111489" y="446446"/>
                      <a:pt x="1112203" y="446446"/>
                      <a:pt x="1112917" y="446446"/>
                    </a:cubicBezTo>
                    <a:cubicBezTo>
                      <a:pt x="1117198" y="446446"/>
                      <a:pt x="1121479" y="446446"/>
                      <a:pt x="1125760" y="447160"/>
                    </a:cubicBezTo>
                    <a:cubicBezTo>
                      <a:pt x="1126474" y="447160"/>
                      <a:pt x="1126474" y="447160"/>
                      <a:pt x="1127188" y="447160"/>
                    </a:cubicBezTo>
                    <a:cubicBezTo>
                      <a:pt x="1131469" y="447160"/>
                      <a:pt x="1135750" y="447160"/>
                      <a:pt x="1140031" y="447160"/>
                    </a:cubicBezTo>
                    <a:cubicBezTo>
                      <a:pt x="1140745" y="447160"/>
                      <a:pt x="1141459" y="447160"/>
                      <a:pt x="1141459" y="447160"/>
                    </a:cubicBezTo>
                    <a:cubicBezTo>
                      <a:pt x="1145740" y="447160"/>
                      <a:pt x="1150021" y="447160"/>
                      <a:pt x="1154302" y="447160"/>
                    </a:cubicBezTo>
                    <a:cubicBezTo>
                      <a:pt x="1155016" y="447160"/>
                      <a:pt x="1155016" y="447160"/>
                      <a:pt x="1155730" y="447160"/>
                    </a:cubicBezTo>
                    <a:cubicBezTo>
                      <a:pt x="1160011" y="447160"/>
                      <a:pt x="1164292" y="447160"/>
                      <a:pt x="1168573" y="447160"/>
                    </a:cubicBezTo>
                    <a:cubicBezTo>
                      <a:pt x="1168573" y="447160"/>
                      <a:pt x="1168573" y="447160"/>
                      <a:pt x="1169287" y="447160"/>
                    </a:cubicBezTo>
                    <a:cubicBezTo>
                      <a:pt x="1177850" y="447160"/>
                      <a:pt x="1186412" y="447160"/>
                      <a:pt x="1194975" y="446446"/>
                    </a:cubicBezTo>
                    <a:cubicBezTo>
                      <a:pt x="1195688" y="446446"/>
                      <a:pt x="1195688" y="446446"/>
                      <a:pt x="1195688" y="446446"/>
                    </a:cubicBezTo>
                    <a:cubicBezTo>
                      <a:pt x="1199970" y="446446"/>
                      <a:pt x="1203537" y="446446"/>
                      <a:pt x="1207819" y="446446"/>
                    </a:cubicBezTo>
                    <a:cubicBezTo>
                      <a:pt x="1208532" y="446446"/>
                      <a:pt x="1208532" y="446446"/>
                      <a:pt x="1209246" y="446446"/>
                    </a:cubicBezTo>
                    <a:cubicBezTo>
                      <a:pt x="1212100" y="445733"/>
                      <a:pt x="1215668" y="445733"/>
                      <a:pt x="1219235" y="445733"/>
                    </a:cubicBezTo>
                    <a:cubicBezTo>
                      <a:pt x="1219235" y="445733"/>
                      <a:pt x="1219949" y="445733"/>
                      <a:pt x="1220663" y="445733"/>
                    </a:cubicBezTo>
                    <a:cubicBezTo>
                      <a:pt x="1220663" y="445733"/>
                      <a:pt x="1221376" y="445733"/>
                      <a:pt x="1222090" y="445733"/>
                    </a:cubicBezTo>
                    <a:cubicBezTo>
                      <a:pt x="1225657" y="445019"/>
                      <a:pt x="1229225" y="445019"/>
                      <a:pt x="1232793" y="445019"/>
                    </a:cubicBezTo>
                    <a:cubicBezTo>
                      <a:pt x="1233506" y="445019"/>
                      <a:pt x="1233506" y="444305"/>
                      <a:pt x="1234220" y="444305"/>
                    </a:cubicBezTo>
                    <a:cubicBezTo>
                      <a:pt x="1237788" y="444305"/>
                      <a:pt x="1241356" y="444305"/>
                      <a:pt x="1244923" y="443591"/>
                    </a:cubicBezTo>
                    <a:cubicBezTo>
                      <a:pt x="1245637" y="443591"/>
                      <a:pt x="1245637" y="443591"/>
                      <a:pt x="1246350" y="443591"/>
                    </a:cubicBezTo>
                    <a:cubicBezTo>
                      <a:pt x="1249918" y="442877"/>
                      <a:pt x="1253486" y="442877"/>
                      <a:pt x="1257054" y="442164"/>
                    </a:cubicBezTo>
                    <a:cubicBezTo>
                      <a:pt x="1257054" y="442164"/>
                      <a:pt x="1257054" y="442164"/>
                      <a:pt x="1257767" y="442164"/>
                    </a:cubicBezTo>
                    <a:cubicBezTo>
                      <a:pt x="1258481" y="442164"/>
                      <a:pt x="1259194" y="442164"/>
                      <a:pt x="1259908" y="442164"/>
                    </a:cubicBezTo>
                    <a:cubicBezTo>
                      <a:pt x="1262762" y="441450"/>
                      <a:pt x="1265616" y="441450"/>
                      <a:pt x="1267757" y="440736"/>
                    </a:cubicBezTo>
                    <a:cubicBezTo>
                      <a:pt x="1268470" y="440736"/>
                      <a:pt x="1268470" y="440736"/>
                      <a:pt x="1268470" y="440736"/>
                    </a:cubicBezTo>
                    <a:cubicBezTo>
                      <a:pt x="1275606" y="439308"/>
                      <a:pt x="1282028" y="438595"/>
                      <a:pt x="1288450" y="437167"/>
                    </a:cubicBezTo>
                    <a:cubicBezTo>
                      <a:pt x="1289163" y="437167"/>
                      <a:pt x="1289163" y="437167"/>
                      <a:pt x="1289163" y="437167"/>
                    </a:cubicBezTo>
                    <a:cubicBezTo>
                      <a:pt x="1292731" y="436453"/>
                      <a:pt x="1295585" y="435739"/>
                      <a:pt x="1298439" y="435026"/>
                    </a:cubicBezTo>
                    <a:cubicBezTo>
                      <a:pt x="1298439" y="434312"/>
                      <a:pt x="1299153" y="434312"/>
                      <a:pt x="1299153" y="434312"/>
                    </a:cubicBezTo>
                    <a:cubicBezTo>
                      <a:pt x="1302007" y="433598"/>
                      <a:pt x="1304861" y="432884"/>
                      <a:pt x="1307716" y="432171"/>
                    </a:cubicBezTo>
                    <a:cubicBezTo>
                      <a:pt x="1308429" y="432171"/>
                      <a:pt x="1308429" y="432171"/>
                      <a:pt x="1309143" y="432171"/>
                    </a:cubicBezTo>
                    <a:cubicBezTo>
                      <a:pt x="1311283" y="430743"/>
                      <a:pt x="1314138" y="430029"/>
                      <a:pt x="1316992" y="429315"/>
                    </a:cubicBezTo>
                    <a:cubicBezTo>
                      <a:pt x="1316992" y="429315"/>
                      <a:pt x="1317705" y="429315"/>
                      <a:pt x="1317705" y="428602"/>
                    </a:cubicBezTo>
                    <a:cubicBezTo>
                      <a:pt x="1320560" y="427888"/>
                      <a:pt x="1322700" y="427174"/>
                      <a:pt x="1324841" y="426460"/>
                    </a:cubicBezTo>
                    <a:cubicBezTo>
                      <a:pt x="1325554" y="425746"/>
                      <a:pt x="1325554" y="425746"/>
                      <a:pt x="1326268" y="425746"/>
                    </a:cubicBezTo>
                    <a:cubicBezTo>
                      <a:pt x="1328409" y="425033"/>
                      <a:pt x="1330549" y="423605"/>
                      <a:pt x="1333403" y="422891"/>
                    </a:cubicBezTo>
                    <a:cubicBezTo>
                      <a:pt x="1333403" y="422891"/>
                      <a:pt x="1333403" y="422177"/>
                      <a:pt x="1333403" y="422177"/>
                    </a:cubicBezTo>
                    <a:cubicBezTo>
                      <a:pt x="1336258" y="421464"/>
                      <a:pt x="1338398" y="420036"/>
                      <a:pt x="1340539" y="418608"/>
                    </a:cubicBezTo>
                    <a:cubicBezTo>
                      <a:pt x="1342680" y="417181"/>
                      <a:pt x="1344820" y="416467"/>
                      <a:pt x="1346961" y="415039"/>
                    </a:cubicBezTo>
                    <a:cubicBezTo>
                      <a:pt x="1351956" y="411470"/>
                      <a:pt x="1355523" y="408615"/>
                      <a:pt x="1359091" y="405046"/>
                    </a:cubicBezTo>
                    <a:cubicBezTo>
                      <a:pt x="1362302" y="401834"/>
                      <a:pt x="1366405" y="400228"/>
                      <a:pt x="1370508" y="400228"/>
                    </a:cubicBezTo>
                    <a:close/>
                    <a:moveTo>
                      <a:pt x="971731" y="0"/>
                    </a:moveTo>
                    <a:cubicBezTo>
                      <a:pt x="975797" y="0"/>
                      <a:pt x="979773" y="1428"/>
                      <a:pt x="982664" y="4284"/>
                    </a:cubicBezTo>
                    <a:cubicBezTo>
                      <a:pt x="989170" y="10709"/>
                      <a:pt x="989170" y="20705"/>
                      <a:pt x="982664" y="27130"/>
                    </a:cubicBezTo>
                    <a:cubicBezTo>
                      <a:pt x="979050" y="30700"/>
                      <a:pt x="976158" y="34270"/>
                      <a:pt x="972544" y="39268"/>
                    </a:cubicBezTo>
                    <a:cubicBezTo>
                      <a:pt x="971098" y="41409"/>
                      <a:pt x="970375" y="43551"/>
                      <a:pt x="968929" y="45693"/>
                    </a:cubicBezTo>
                    <a:cubicBezTo>
                      <a:pt x="967484" y="47835"/>
                      <a:pt x="966038" y="49977"/>
                      <a:pt x="965315" y="52833"/>
                    </a:cubicBezTo>
                    <a:cubicBezTo>
                      <a:pt x="965315" y="52833"/>
                      <a:pt x="964592" y="52833"/>
                      <a:pt x="964592" y="52833"/>
                    </a:cubicBezTo>
                    <a:cubicBezTo>
                      <a:pt x="963869" y="55689"/>
                      <a:pt x="962424" y="57830"/>
                      <a:pt x="961701" y="59972"/>
                    </a:cubicBezTo>
                    <a:cubicBezTo>
                      <a:pt x="961701" y="60686"/>
                      <a:pt x="961701" y="60686"/>
                      <a:pt x="960978" y="61400"/>
                    </a:cubicBezTo>
                    <a:cubicBezTo>
                      <a:pt x="960255" y="63542"/>
                      <a:pt x="959532" y="65684"/>
                      <a:pt x="958809" y="68540"/>
                    </a:cubicBezTo>
                    <a:cubicBezTo>
                      <a:pt x="958086" y="68540"/>
                      <a:pt x="958086" y="69254"/>
                      <a:pt x="958086" y="69254"/>
                    </a:cubicBezTo>
                    <a:cubicBezTo>
                      <a:pt x="957363" y="72110"/>
                      <a:pt x="956640" y="74965"/>
                      <a:pt x="955195" y="77107"/>
                    </a:cubicBezTo>
                    <a:cubicBezTo>
                      <a:pt x="955195" y="77821"/>
                      <a:pt x="955195" y="77821"/>
                      <a:pt x="955195" y="78535"/>
                    </a:cubicBezTo>
                    <a:cubicBezTo>
                      <a:pt x="954472" y="81391"/>
                      <a:pt x="953749" y="84247"/>
                      <a:pt x="953026" y="87103"/>
                    </a:cubicBezTo>
                    <a:cubicBezTo>
                      <a:pt x="953026" y="87103"/>
                      <a:pt x="953026" y="87817"/>
                      <a:pt x="952303" y="87817"/>
                    </a:cubicBezTo>
                    <a:cubicBezTo>
                      <a:pt x="951580" y="90672"/>
                      <a:pt x="950857" y="93528"/>
                      <a:pt x="950135" y="97098"/>
                    </a:cubicBezTo>
                    <a:cubicBezTo>
                      <a:pt x="950135" y="97098"/>
                      <a:pt x="950135" y="97098"/>
                      <a:pt x="950135" y="97812"/>
                    </a:cubicBezTo>
                    <a:cubicBezTo>
                      <a:pt x="948689" y="104238"/>
                      <a:pt x="947966" y="110663"/>
                      <a:pt x="946520" y="117803"/>
                    </a:cubicBezTo>
                    <a:cubicBezTo>
                      <a:pt x="946520" y="117803"/>
                      <a:pt x="946520" y="117803"/>
                      <a:pt x="946520" y="118517"/>
                    </a:cubicBezTo>
                    <a:cubicBezTo>
                      <a:pt x="945797" y="120659"/>
                      <a:pt x="945797" y="123514"/>
                      <a:pt x="945074" y="126370"/>
                    </a:cubicBezTo>
                    <a:cubicBezTo>
                      <a:pt x="945074" y="127084"/>
                      <a:pt x="945074" y="127798"/>
                      <a:pt x="945074" y="128512"/>
                    </a:cubicBezTo>
                    <a:cubicBezTo>
                      <a:pt x="945074" y="129226"/>
                      <a:pt x="945074" y="129226"/>
                      <a:pt x="945074" y="129940"/>
                    </a:cubicBezTo>
                    <a:cubicBezTo>
                      <a:pt x="944351" y="132796"/>
                      <a:pt x="944351" y="136366"/>
                      <a:pt x="943629" y="139935"/>
                    </a:cubicBezTo>
                    <a:cubicBezTo>
                      <a:pt x="943629" y="140649"/>
                      <a:pt x="943629" y="140649"/>
                      <a:pt x="943629" y="141363"/>
                    </a:cubicBezTo>
                    <a:cubicBezTo>
                      <a:pt x="942906" y="144933"/>
                      <a:pt x="942906" y="148503"/>
                      <a:pt x="942906" y="152073"/>
                    </a:cubicBezTo>
                    <a:cubicBezTo>
                      <a:pt x="942906" y="152787"/>
                      <a:pt x="942183" y="152787"/>
                      <a:pt x="942183" y="153501"/>
                    </a:cubicBezTo>
                    <a:cubicBezTo>
                      <a:pt x="942183" y="157070"/>
                      <a:pt x="942183" y="160640"/>
                      <a:pt x="941460" y="164210"/>
                    </a:cubicBezTo>
                    <a:cubicBezTo>
                      <a:pt x="941460" y="164924"/>
                      <a:pt x="941460" y="165638"/>
                      <a:pt x="941460" y="165638"/>
                    </a:cubicBezTo>
                    <a:cubicBezTo>
                      <a:pt x="941460" y="166352"/>
                      <a:pt x="941460" y="167066"/>
                      <a:pt x="941460" y="167066"/>
                    </a:cubicBezTo>
                    <a:cubicBezTo>
                      <a:pt x="941460" y="170636"/>
                      <a:pt x="941460" y="174205"/>
                      <a:pt x="940737" y="177061"/>
                    </a:cubicBezTo>
                    <a:cubicBezTo>
                      <a:pt x="940737" y="177775"/>
                      <a:pt x="940737" y="178489"/>
                      <a:pt x="940737" y="178489"/>
                    </a:cubicBezTo>
                    <a:cubicBezTo>
                      <a:pt x="940737" y="182773"/>
                      <a:pt x="940737" y="186343"/>
                      <a:pt x="940737" y="190626"/>
                    </a:cubicBezTo>
                    <a:cubicBezTo>
                      <a:pt x="940737" y="190626"/>
                      <a:pt x="940737" y="191340"/>
                      <a:pt x="940737" y="191340"/>
                    </a:cubicBezTo>
                    <a:cubicBezTo>
                      <a:pt x="940014" y="199908"/>
                      <a:pt x="940014" y="208475"/>
                      <a:pt x="940014" y="217043"/>
                    </a:cubicBezTo>
                    <a:cubicBezTo>
                      <a:pt x="940014" y="217757"/>
                      <a:pt x="940014" y="217757"/>
                      <a:pt x="940014" y="217757"/>
                    </a:cubicBezTo>
                    <a:cubicBezTo>
                      <a:pt x="940014" y="222040"/>
                      <a:pt x="940014" y="226324"/>
                      <a:pt x="940014" y="230608"/>
                    </a:cubicBezTo>
                    <a:cubicBezTo>
                      <a:pt x="940014" y="231322"/>
                      <a:pt x="940014" y="231322"/>
                      <a:pt x="940014" y="232036"/>
                    </a:cubicBezTo>
                    <a:cubicBezTo>
                      <a:pt x="940014" y="236319"/>
                      <a:pt x="940014" y="240603"/>
                      <a:pt x="940014" y="244887"/>
                    </a:cubicBezTo>
                    <a:cubicBezTo>
                      <a:pt x="940014" y="244887"/>
                      <a:pt x="940014" y="245601"/>
                      <a:pt x="940014" y="246315"/>
                    </a:cubicBezTo>
                    <a:cubicBezTo>
                      <a:pt x="940014" y="250599"/>
                      <a:pt x="940014" y="254882"/>
                      <a:pt x="940014" y="259166"/>
                    </a:cubicBezTo>
                    <a:cubicBezTo>
                      <a:pt x="940014" y="259880"/>
                      <a:pt x="940014" y="259880"/>
                      <a:pt x="940014" y="260594"/>
                    </a:cubicBezTo>
                    <a:cubicBezTo>
                      <a:pt x="940737" y="264878"/>
                      <a:pt x="940737" y="269161"/>
                      <a:pt x="940737" y="273445"/>
                    </a:cubicBezTo>
                    <a:cubicBezTo>
                      <a:pt x="940737" y="274159"/>
                      <a:pt x="940737" y="274873"/>
                      <a:pt x="940737" y="275587"/>
                    </a:cubicBezTo>
                    <a:cubicBezTo>
                      <a:pt x="940737" y="277015"/>
                      <a:pt x="940737" y="279157"/>
                      <a:pt x="940737" y="281299"/>
                    </a:cubicBezTo>
                    <a:cubicBezTo>
                      <a:pt x="940737" y="283441"/>
                      <a:pt x="940737" y="286296"/>
                      <a:pt x="941460" y="288438"/>
                    </a:cubicBezTo>
                    <a:cubicBezTo>
                      <a:pt x="941460" y="289152"/>
                      <a:pt x="941460" y="289866"/>
                      <a:pt x="941460" y="289866"/>
                    </a:cubicBezTo>
                    <a:cubicBezTo>
                      <a:pt x="941460" y="294864"/>
                      <a:pt x="941460" y="299148"/>
                      <a:pt x="941460" y="303431"/>
                    </a:cubicBezTo>
                    <a:cubicBezTo>
                      <a:pt x="942183" y="304145"/>
                      <a:pt x="942183" y="304145"/>
                      <a:pt x="942183" y="304859"/>
                    </a:cubicBezTo>
                    <a:cubicBezTo>
                      <a:pt x="942183" y="311999"/>
                      <a:pt x="942906" y="319852"/>
                      <a:pt x="942906" y="327706"/>
                    </a:cubicBezTo>
                    <a:cubicBezTo>
                      <a:pt x="942906" y="329848"/>
                      <a:pt x="942906" y="331990"/>
                      <a:pt x="943629" y="333417"/>
                    </a:cubicBezTo>
                    <a:cubicBezTo>
                      <a:pt x="943629" y="334131"/>
                      <a:pt x="943629" y="334131"/>
                      <a:pt x="943629" y="334131"/>
                    </a:cubicBezTo>
                    <a:cubicBezTo>
                      <a:pt x="943629" y="339129"/>
                      <a:pt x="943629" y="344127"/>
                      <a:pt x="944351" y="348411"/>
                    </a:cubicBezTo>
                    <a:cubicBezTo>
                      <a:pt x="944351" y="349124"/>
                      <a:pt x="944351" y="349838"/>
                      <a:pt x="944351" y="349838"/>
                    </a:cubicBezTo>
                    <a:cubicBezTo>
                      <a:pt x="944351" y="354836"/>
                      <a:pt x="945074" y="359120"/>
                      <a:pt x="945074" y="363404"/>
                    </a:cubicBezTo>
                    <a:cubicBezTo>
                      <a:pt x="945074" y="364118"/>
                      <a:pt x="945074" y="364832"/>
                      <a:pt x="945074" y="365545"/>
                    </a:cubicBezTo>
                    <a:cubicBezTo>
                      <a:pt x="945797" y="370543"/>
                      <a:pt x="945797" y="374827"/>
                      <a:pt x="945797" y="379111"/>
                    </a:cubicBezTo>
                    <a:cubicBezTo>
                      <a:pt x="945797" y="379825"/>
                      <a:pt x="945797" y="380539"/>
                      <a:pt x="946520" y="381253"/>
                    </a:cubicBezTo>
                    <a:cubicBezTo>
                      <a:pt x="946520" y="386250"/>
                      <a:pt x="946520" y="390534"/>
                      <a:pt x="947243" y="394818"/>
                    </a:cubicBezTo>
                    <a:cubicBezTo>
                      <a:pt x="947243" y="395532"/>
                      <a:pt x="947243" y="396246"/>
                      <a:pt x="947243" y="396960"/>
                    </a:cubicBezTo>
                    <a:cubicBezTo>
                      <a:pt x="947243" y="399101"/>
                      <a:pt x="947243" y="401243"/>
                      <a:pt x="947966" y="403385"/>
                    </a:cubicBezTo>
                    <a:cubicBezTo>
                      <a:pt x="947243" y="403385"/>
                      <a:pt x="946520" y="403385"/>
                      <a:pt x="946520" y="403385"/>
                    </a:cubicBezTo>
                    <a:cubicBezTo>
                      <a:pt x="936400" y="402671"/>
                      <a:pt x="925556" y="401957"/>
                      <a:pt x="915436" y="401243"/>
                    </a:cubicBezTo>
                    <a:cubicBezTo>
                      <a:pt x="915436" y="399101"/>
                      <a:pt x="915436" y="397673"/>
                      <a:pt x="915436" y="395532"/>
                    </a:cubicBezTo>
                    <a:cubicBezTo>
                      <a:pt x="915436" y="394818"/>
                      <a:pt x="915436" y="393390"/>
                      <a:pt x="914713" y="392676"/>
                    </a:cubicBezTo>
                    <a:cubicBezTo>
                      <a:pt x="914713" y="387678"/>
                      <a:pt x="914713" y="383394"/>
                      <a:pt x="913990" y="378397"/>
                    </a:cubicBezTo>
                    <a:cubicBezTo>
                      <a:pt x="913990" y="377683"/>
                      <a:pt x="913990" y="376969"/>
                      <a:pt x="913990" y="375541"/>
                    </a:cubicBezTo>
                    <a:cubicBezTo>
                      <a:pt x="913990" y="371257"/>
                      <a:pt x="913267" y="366259"/>
                      <a:pt x="913267" y="361976"/>
                    </a:cubicBezTo>
                    <a:cubicBezTo>
                      <a:pt x="913267" y="360548"/>
                      <a:pt x="913267" y="359834"/>
                      <a:pt x="912545" y="359120"/>
                    </a:cubicBezTo>
                    <a:cubicBezTo>
                      <a:pt x="912545" y="354122"/>
                      <a:pt x="912545" y="349838"/>
                      <a:pt x="911822" y="344841"/>
                    </a:cubicBezTo>
                    <a:cubicBezTo>
                      <a:pt x="911822" y="344127"/>
                      <a:pt x="911822" y="343413"/>
                      <a:pt x="911822" y="342699"/>
                    </a:cubicBezTo>
                    <a:cubicBezTo>
                      <a:pt x="911822" y="337701"/>
                      <a:pt x="911099" y="333417"/>
                      <a:pt x="911099" y="328420"/>
                    </a:cubicBezTo>
                    <a:cubicBezTo>
                      <a:pt x="911099" y="327706"/>
                      <a:pt x="911099" y="326992"/>
                      <a:pt x="911099" y="326278"/>
                    </a:cubicBezTo>
                    <a:cubicBezTo>
                      <a:pt x="911099" y="321994"/>
                      <a:pt x="910376" y="316996"/>
                      <a:pt x="910376" y="311999"/>
                    </a:cubicBezTo>
                    <a:cubicBezTo>
                      <a:pt x="910376" y="311285"/>
                      <a:pt x="910376" y="311285"/>
                      <a:pt x="910376" y="310571"/>
                    </a:cubicBezTo>
                    <a:cubicBezTo>
                      <a:pt x="910376" y="305573"/>
                      <a:pt x="909653" y="300575"/>
                      <a:pt x="909653" y="295578"/>
                    </a:cubicBezTo>
                    <a:cubicBezTo>
                      <a:pt x="909653" y="290580"/>
                      <a:pt x="908930" y="285582"/>
                      <a:pt x="908930" y="280585"/>
                    </a:cubicBezTo>
                    <a:cubicBezTo>
                      <a:pt x="908930" y="279871"/>
                      <a:pt x="908930" y="279871"/>
                      <a:pt x="908930" y="279871"/>
                    </a:cubicBezTo>
                    <a:cubicBezTo>
                      <a:pt x="908930" y="274873"/>
                      <a:pt x="908930" y="269875"/>
                      <a:pt x="908930" y="265592"/>
                    </a:cubicBezTo>
                    <a:cubicBezTo>
                      <a:pt x="908207" y="264878"/>
                      <a:pt x="908207" y="264164"/>
                      <a:pt x="908207" y="264164"/>
                    </a:cubicBezTo>
                    <a:cubicBezTo>
                      <a:pt x="908207" y="259166"/>
                      <a:pt x="908207" y="254882"/>
                      <a:pt x="908207" y="249885"/>
                    </a:cubicBezTo>
                    <a:cubicBezTo>
                      <a:pt x="908207" y="249885"/>
                      <a:pt x="908207" y="249171"/>
                      <a:pt x="908207" y="248457"/>
                    </a:cubicBezTo>
                    <a:cubicBezTo>
                      <a:pt x="908207" y="244173"/>
                      <a:pt x="908207" y="239175"/>
                      <a:pt x="908207" y="234892"/>
                    </a:cubicBezTo>
                    <a:cubicBezTo>
                      <a:pt x="908207" y="234178"/>
                      <a:pt x="908207" y="233464"/>
                      <a:pt x="908207" y="233464"/>
                    </a:cubicBezTo>
                    <a:cubicBezTo>
                      <a:pt x="908207" y="228466"/>
                      <a:pt x="908207" y="224182"/>
                      <a:pt x="908207" y="219898"/>
                    </a:cubicBezTo>
                    <a:cubicBezTo>
                      <a:pt x="908207" y="219898"/>
                      <a:pt x="908207" y="219185"/>
                      <a:pt x="908207" y="218471"/>
                    </a:cubicBezTo>
                    <a:cubicBezTo>
                      <a:pt x="908207" y="214187"/>
                      <a:pt x="908207" y="209903"/>
                      <a:pt x="908207" y="205619"/>
                    </a:cubicBezTo>
                    <a:cubicBezTo>
                      <a:pt x="908207" y="204905"/>
                      <a:pt x="908207" y="204191"/>
                      <a:pt x="908207" y="203477"/>
                    </a:cubicBezTo>
                    <a:cubicBezTo>
                      <a:pt x="908207" y="199194"/>
                      <a:pt x="908207" y="195624"/>
                      <a:pt x="908207" y="191340"/>
                    </a:cubicBezTo>
                    <a:cubicBezTo>
                      <a:pt x="908930" y="190626"/>
                      <a:pt x="908930" y="189912"/>
                      <a:pt x="908930" y="189912"/>
                    </a:cubicBezTo>
                    <a:cubicBezTo>
                      <a:pt x="908930" y="185629"/>
                      <a:pt x="908930" y="181345"/>
                      <a:pt x="908930" y="177061"/>
                    </a:cubicBezTo>
                    <a:cubicBezTo>
                      <a:pt x="908930" y="176347"/>
                      <a:pt x="908930" y="176347"/>
                      <a:pt x="908930" y="175633"/>
                    </a:cubicBezTo>
                    <a:cubicBezTo>
                      <a:pt x="909653" y="171349"/>
                      <a:pt x="909653" y="167066"/>
                      <a:pt x="909653" y="163496"/>
                    </a:cubicBezTo>
                    <a:cubicBezTo>
                      <a:pt x="909653" y="162782"/>
                      <a:pt x="909653" y="162782"/>
                      <a:pt x="909653" y="162782"/>
                    </a:cubicBezTo>
                    <a:cubicBezTo>
                      <a:pt x="910376" y="158498"/>
                      <a:pt x="910376" y="154215"/>
                      <a:pt x="911099" y="150645"/>
                    </a:cubicBezTo>
                    <a:cubicBezTo>
                      <a:pt x="911099" y="149931"/>
                      <a:pt x="911099" y="149931"/>
                      <a:pt x="911099" y="149931"/>
                    </a:cubicBezTo>
                    <a:cubicBezTo>
                      <a:pt x="911099" y="145647"/>
                      <a:pt x="911822" y="141363"/>
                      <a:pt x="911822" y="137794"/>
                    </a:cubicBezTo>
                    <a:cubicBezTo>
                      <a:pt x="911822" y="137080"/>
                      <a:pt x="911822" y="137080"/>
                      <a:pt x="912545" y="136366"/>
                    </a:cubicBezTo>
                    <a:cubicBezTo>
                      <a:pt x="912545" y="132796"/>
                      <a:pt x="913267" y="129226"/>
                      <a:pt x="913267" y="125656"/>
                    </a:cubicBezTo>
                    <a:cubicBezTo>
                      <a:pt x="913267" y="124942"/>
                      <a:pt x="913990" y="124228"/>
                      <a:pt x="913990" y="124228"/>
                    </a:cubicBezTo>
                    <a:cubicBezTo>
                      <a:pt x="913990" y="120659"/>
                      <a:pt x="914713" y="117089"/>
                      <a:pt x="915436" y="113519"/>
                    </a:cubicBezTo>
                    <a:cubicBezTo>
                      <a:pt x="915436" y="112805"/>
                      <a:pt x="915436" y="112091"/>
                      <a:pt x="915436" y="111377"/>
                    </a:cubicBezTo>
                    <a:cubicBezTo>
                      <a:pt x="916159" y="108521"/>
                      <a:pt x="916882" y="104952"/>
                      <a:pt x="917605" y="101382"/>
                    </a:cubicBezTo>
                    <a:cubicBezTo>
                      <a:pt x="917605" y="100668"/>
                      <a:pt x="917605" y="100668"/>
                      <a:pt x="917605" y="99954"/>
                    </a:cubicBezTo>
                    <a:cubicBezTo>
                      <a:pt x="918328" y="96384"/>
                      <a:pt x="919051" y="93528"/>
                      <a:pt x="919773" y="89958"/>
                    </a:cubicBezTo>
                    <a:cubicBezTo>
                      <a:pt x="919773" y="89958"/>
                      <a:pt x="919773" y="89245"/>
                      <a:pt x="919773" y="88531"/>
                    </a:cubicBezTo>
                    <a:cubicBezTo>
                      <a:pt x="920496" y="85675"/>
                      <a:pt x="921219" y="82105"/>
                      <a:pt x="921942" y="79249"/>
                    </a:cubicBezTo>
                    <a:cubicBezTo>
                      <a:pt x="922665" y="78535"/>
                      <a:pt x="922665" y="78535"/>
                      <a:pt x="922665" y="77821"/>
                    </a:cubicBezTo>
                    <a:cubicBezTo>
                      <a:pt x="923388" y="74965"/>
                      <a:pt x="924111" y="71396"/>
                      <a:pt x="924834" y="68540"/>
                    </a:cubicBezTo>
                    <a:cubicBezTo>
                      <a:pt x="925556" y="68540"/>
                      <a:pt x="925556" y="67826"/>
                      <a:pt x="925556" y="67826"/>
                    </a:cubicBezTo>
                    <a:cubicBezTo>
                      <a:pt x="926279" y="64256"/>
                      <a:pt x="927725" y="61400"/>
                      <a:pt x="928448" y="58544"/>
                    </a:cubicBezTo>
                    <a:cubicBezTo>
                      <a:pt x="928448" y="58544"/>
                      <a:pt x="928448" y="58544"/>
                      <a:pt x="928448" y="57830"/>
                    </a:cubicBezTo>
                    <a:cubicBezTo>
                      <a:pt x="929894" y="54975"/>
                      <a:pt x="930617" y="52119"/>
                      <a:pt x="932062" y="49263"/>
                    </a:cubicBezTo>
                    <a:cubicBezTo>
                      <a:pt x="932062" y="49263"/>
                      <a:pt x="932062" y="49263"/>
                      <a:pt x="932062" y="48549"/>
                    </a:cubicBezTo>
                    <a:cubicBezTo>
                      <a:pt x="933508" y="46407"/>
                      <a:pt x="934231" y="43551"/>
                      <a:pt x="935677" y="40696"/>
                    </a:cubicBezTo>
                    <a:cubicBezTo>
                      <a:pt x="935677" y="40696"/>
                      <a:pt x="936400" y="39982"/>
                      <a:pt x="936400" y="39982"/>
                    </a:cubicBezTo>
                    <a:cubicBezTo>
                      <a:pt x="937123" y="37126"/>
                      <a:pt x="938568" y="34984"/>
                      <a:pt x="940014" y="32128"/>
                    </a:cubicBezTo>
                    <a:cubicBezTo>
                      <a:pt x="940014" y="32128"/>
                      <a:pt x="940737" y="31414"/>
                      <a:pt x="940737" y="31414"/>
                    </a:cubicBezTo>
                    <a:cubicBezTo>
                      <a:pt x="942183" y="29272"/>
                      <a:pt x="942906" y="26416"/>
                      <a:pt x="944351" y="24275"/>
                    </a:cubicBezTo>
                    <a:cubicBezTo>
                      <a:pt x="945074" y="24275"/>
                      <a:pt x="945074" y="23561"/>
                      <a:pt x="945074" y="23561"/>
                    </a:cubicBezTo>
                    <a:cubicBezTo>
                      <a:pt x="946520" y="21419"/>
                      <a:pt x="947966" y="19277"/>
                      <a:pt x="949412" y="17135"/>
                    </a:cubicBezTo>
                    <a:cubicBezTo>
                      <a:pt x="950135" y="17135"/>
                      <a:pt x="950135" y="16421"/>
                      <a:pt x="950135" y="16421"/>
                    </a:cubicBezTo>
                    <a:cubicBezTo>
                      <a:pt x="953026" y="12137"/>
                      <a:pt x="956640" y="8568"/>
                      <a:pt x="960255" y="4284"/>
                    </a:cubicBezTo>
                    <a:cubicBezTo>
                      <a:pt x="963508" y="1428"/>
                      <a:pt x="967664" y="0"/>
                      <a:pt x="971731"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t" anchorCtr="0" compatLnSpc="1">
                <a:prstTxWarp prst="textNoShape">
                  <a:avLst/>
                </a:prstTxWarp>
                <a:noAutofit/>
              </a:bodyPr>
              <a:lstStyle/>
              <a:p>
                <a:endParaRPr lang="en-US" sz="1559">
                  <a:sym typeface="+mn-lt"/>
                </a:endParaRPr>
              </a:p>
            </p:txBody>
          </p:sp>
        </p:grpSp>
      </p:grpSp>
      <p:cxnSp>
        <p:nvCxnSpPr>
          <p:cNvPr id="165" name="Straight Connector 164">
            <a:extLst>
              <a:ext uri="{FF2B5EF4-FFF2-40B4-BE49-F238E27FC236}">
                <a16:creationId xmlns:a16="http://schemas.microsoft.com/office/drawing/2014/main" id="{E1DADC0B-C673-49D1-AAC9-A644DA79BBA1}"/>
              </a:ext>
            </a:extLst>
          </p:cNvPr>
          <p:cNvCxnSpPr>
            <a:cxnSpLocks/>
          </p:cNvCxnSpPr>
          <p:nvPr/>
        </p:nvCxnSpPr>
        <p:spPr>
          <a:xfrm>
            <a:off x="628650" y="2389963"/>
            <a:ext cx="10934700" cy="0"/>
          </a:xfrm>
          <a:prstGeom prst="line">
            <a:avLst/>
          </a:prstGeom>
          <a:ln w="12700" cap="rnd" cmpd="sng" algn="ctr">
            <a:solidFill>
              <a:srgbClr val="9A9A9A"/>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0023EE7D-1C9F-45F6-8A27-CAE8604C682E}"/>
              </a:ext>
            </a:extLst>
          </p:cNvPr>
          <p:cNvCxnSpPr>
            <a:cxnSpLocks/>
          </p:cNvCxnSpPr>
          <p:nvPr/>
        </p:nvCxnSpPr>
        <p:spPr>
          <a:xfrm>
            <a:off x="628650" y="2932427"/>
            <a:ext cx="10934700" cy="0"/>
          </a:xfrm>
          <a:prstGeom prst="line">
            <a:avLst/>
          </a:prstGeom>
          <a:ln w="12700" cap="rnd" cmpd="sng" algn="ctr">
            <a:solidFill>
              <a:srgbClr val="9A9A9A"/>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DD5EDB0A-C3FB-4962-925B-CF3811C0C373}"/>
              </a:ext>
            </a:extLst>
          </p:cNvPr>
          <p:cNvCxnSpPr>
            <a:cxnSpLocks/>
          </p:cNvCxnSpPr>
          <p:nvPr/>
        </p:nvCxnSpPr>
        <p:spPr>
          <a:xfrm>
            <a:off x="628650" y="3891768"/>
            <a:ext cx="10934700" cy="0"/>
          </a:xfrm>
          <a:prstGeom prst="line">
            <a:avLst/>
          </a:prstGeom>
          <a:ln w="12700" cap="rnd" cmpd="sng" algn="ctr">
            <a:solidFill>
              <a:srgbClr val="9A9A9A"/>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C052B68A-67D0-416D-98D6-71BE11113164}"/>
              </a:ext>
            </a:extLst>
          </p:cNvPr>
          <p:cNvCxnSpPr>
            <a:cxnSpLocks/>
          </p:cNvCxnSpPr>
          <p:nvPr/>
        </p:nvCxnSpPr>
        <p:spPr>
          <a:xfrm>
            <a:off x="628650" y="4555729"/>
            <a:ext cx="10934700" cy="0"/>
          </a:xfrm>
          <a:prstGeom prst="line">
            <a:avLst/>
          </a:prstGeom>
          <a:ln w="12700" cap="rnd" cmpd="sng" algn="ctr">
            <a:solidFill>
              <a:srgbClr val="9A9A9A"/>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095F3868-3E46-4EAD-990E-86DDE49F929D}"/>
              </a:ext>
            </a:extLst>
          </p:cNvPr>
          <p:cNvCxnSpPr>
            <a:cxnSpLocks/>
          </p:cNvCxnSpPr>
          <p:nvPr/>
        </p:nvCxnSpPr>
        <p:spPr>
          <a:xfrm>
            <a:off x="628650" y="5219690"/>
            <a:ext cx="10934700" cy="0"/>
          </a:xfrm>
          <a:prstGeom prst="line">
            <a:avLst/>
          </a:prstGeom>
          <a:ln w="12700" cap="rnd" cmpd="sng" algn="ctr">
            <a:solidFill>
              <a:srgbClr val="9A9A9A"/>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09" name="ee4pContent1">
            <a:extLst>
              <a:ext uri="{FF2B5EF4-FFF2-40B4-BE49-F238E27FC236}">
                <a16:creationId xmlns:a16="http://schemas.microsoft.com/office/drawing/2014/main" id="{8F410AA6-DF75-4166-939F-52169374EAE5}"/>
              </a:ext>
            </a:extLst>
          </p:cNvPr>
          <p:cNvSpPr txBox="1"/>
          <p:nvPr/>
        </p:nvSpPr>
        <p:spPr>
          <a:xfrm>
            <a:off x="3013783" y="2426563"/>
            <a:ext cx="3494505" cy="443070"/>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no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lvl="1" defTabSz="829544">
              <a:buClr>
                <a:schemeClr val="tx2">
                  <a:lumMod val="100000"/>
                </a:schemeClr>
              </a:buClr>
            </a:pPr>
            <a:r>
              <a:rPr lang="en-US" sz="1000">
                <a:solidFill>
                  <a:schemeClr val="tx1">
                    <a:lumMod val="100000"/>
                  </a:schemeClr>
                </a:solidFill>
                <a:sym typeface="+mn-lt"/>
              </a:rPr>
              <a:t>Cross-sell and churn models and supporting predictive and prescriptive models fully adopted and running daily; feedback loop established</a:t>
            </a:r>
          </a:p>
        </p:txBody>
      </p:sp>
      <p:sp>
        <p:nvSpPr>
          <p:cNvPr id="210" name="ee4pContent1">
            <a:extLst>
              <a:ext uri="{FF2B5EF4-FFF2-40B4-BE49-F238E27FC236}">
                <a16:creationId xmlns:a16="http://schemas.microsoft.com/office/drawing/2014/main" id="{A69F8A3E-D2C6-4D3A-84DB-04FBFA424619}"/>
              </a:ext>
            </a:extLst>
          </p:cNvPr>
          <p:cNvSpPr txBox="1"/>
          <p:nvPr/>
        </p:nvSpPr>
        <p:spPr>
          <a:xfrm>
            <a:off x="3013783" y="2969027"/>
            <a:ext cx="3494505" cy="769441"/>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no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lvl="1">
              <a:buClr>
                <a:schemeClr val="tx2">
                  <a:lumMod val="100000"/>
                </a:schemeClr>
              </a:buClr>
            </a:pPr>
            <a:r>
              <a:rPr lang="en-ZA" sz="1000">
                <a:solidFill>
                  <a:schemeClr val="tx1">
                    <a:lumMod val="100000"/>
                  </a:schemeClr>
                </a:solidFill>
                <a:sym typeface="+mn-lt"/>
              </a:rPr>
              <a:t>Develop additional curricula (10+) for with permutations driven by use cases, target audiences, products, preferences</a:t>
            </a:r>
          </a:p>
          <a:p>
            <a:pPr lvl="1">
              <a:buClr>
                <a:schemeClr val="tx2">
                  <a:lumMod val="100000"/>
                </a:schemeClr>
              </a:buClr>
            </a:pPr>
            <a:r>
              <a:rPr lang="en-ZA" sz="1000">
                <a:solidFill>
                  <a:schemeClr val="tx1">
                    <a:lumMod val="100000"/>
                  </a:schemeClr>
                </a:solidFill>
                <a:sym typeface="+mn-lt"/>
              </a:rPr>
              <a:t>Scale library of content for respective curricula and activations shown to client</a:t>
            </a:r>
          </a:p>
        </p:txBody>
      </p:sp>
      <p:sp>
        <p:nvSpPr>
          <p:cNvPr id="211" name="ee4pContent1">
            <a:extLst>
              <a:ext uri="{FF2B5EF4-FFF2-40B4-BE49-F238E27FC236}">
                <a16:creationId xmlns:a16="http://schemas.microsoft.com/office/drawing/2014/main" id="{5A05C9D9-76D7-4631-8F22-D1B57CC23A06}"/>
              </a:ext>
            </a:extLst>
          </p:cNvPr>
          <p:cNvSpPr txBox="1"/>
          <p:nvPr/>
        </p:nvSpPr>
        <p:spPr>
          <a:xfrm>
            <a:off x="3013783" y="3928369"/>
            <a:ext cx="3494505" cy="615553"/>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no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lvl="1">
              <a:buClr>
                <a:schemeClr val="tx2">
                  <a:lumMod val="100000"/>
                </a:schemeClr>
              </a:buClr>
            </a:pPr>
            <a:r>
              <a:rPr lang="en-ZA" sz="1000">
                <a:solidFill>
                  <a:schemeClr val="tx1">
                    <a:lumMod val="100000"/>
                  </a:schemeClr>
                </a:solidFill>
                <a:sym typeface="+mn-lt"/>
              </a:rPr>
              <a:t>Orchestration expanded to include additional channels (e.g. voice, in-app)</a:t>
            </a:r>
          </a:p>
          <a:p>
            <a:pPr lvl="1">
              <a:buClr>
                <a:schemeClr val="tx2">
                  <a:lumMod val="100000"/>
                </a:schemeClr>
              </a:buClr>
            </a:pPr>
            <a:r>
              <a:rPr lang="en-ZA" sz="1000">
                <a:solidFill>
                  <a:schemeClr val="tx1">
                    <a:lumMod val="100000"/>
                  </a:schemeClr>
                </a:solidFill>
                <a:sym typeface="+mn-lt"/>
              </a:rPr>
              <a:t>Fully automate orchestration, addressing manual </a:t>
            </a:r>
            <a:br>
              <a:rPr lang="en-ZA" sz="1000">
                <a:solidFill>
                  <a:schemeClr val="tx1">
                    <a:lumMod val="100000"/>
                  </a:schemeClr>
                </a:solidFill>
                <a:sym typeface="+mn-lt"/>
              </a:rPr>
            </a:br>
            <a:r>
              <a:rPr lang="en-ZA" sz="1000">
                <a:solidFill>
                  <a:schemeClr val="tx1">
                    <a:lumMod val="100000"/>
                  </a:schemeClr>
                </a:solidFill>
                <a:sym typeface="+mn-lt"/>
              </a:rPr>
              <a:t>band-aids</a:t>
            </a:r>
          </a:p>
        </p:txBody>
      </p:sp>
      <p:sp>
        <p:nvSpPr>
          <p:cNvPr id="212" name="ee4pContent1">
            <a:extLst>
              <a:ext uri="{FF2B5EF4-FFF2-40B4-BE49-F238E27FC236}">
                <a16:creationId xmlns:a16="http://schemas.microsoft.com/office/drawing/2014/main" id="{A12A99F7-F86C-4DF6-AC47-C498F3A8DE2E}"/>
              </a:ext>
            </a:extLst>
          </p:cNvPr>
          <p:cNvSpPr txBox="1"/>
          <p:nvPr/>
        </p:nvSpPr>
        <p:spPr>
          <a:xfrm>
            <a:off x="3013783" y="4592330"/>
            <a:ext cx="3494505" cy="469263"/>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no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lvl="1" defTabSz="829544">
              <a:buClr>
                <a:schemeClr val="tx2">
                  <a:lumMod val="100000"/>
                </a:schemeClr>
              </a:buClr>
            </a:pPr>
            <a:r>
              <a:rPr lang="en-US" sz="1000">
                <a:solidFill>
                  <a:schemeClr val="tx1">
                    <a:lumMod val="100000"/>
                  </a:schemeClr>
                </a:solidFill>
                <a:sym typeface="+mn-lt"/>
              </a:rPr>
              <a:t>Automate use-case &amp; program level reporting </a:t>
            </a:r>
          </a:p>
          <a:p>
            <a:pPr lvl="1" defTabSz="829544">
              <a:buClr>
                <a:schemeClr val="tx2">
                  <a:lumMod val="100000"/>
                </a:schemeClr>
              </a:buClr>
            </a:pPr>
            <a:r>
              <a:rPr lang="en-US" sz="1000">
                <a:solidFill>
                  <a:schemeClr val="tx1">
                    <a:lumMod val="100000"/>
                  </a:schemeClr>
                </a:solidFill>
                <a:sym typeface="+mn-lt"/>
              </a:rPr>
              <a:t>Automate tracking of experiments and develop additional experiments</a:t>
            </a:r>
          </a:p>
        </p:txBody>
      </p:sp>
      <p:sp>
        <p:nvSpPr>
          <p:cNvPr id="213" name="ee4pContent1">
            <a:extLst>
              <a:ext uri="{FF2B5EF4-FFF2-40B4-BE49-F238E27FC236}">
                <a16:creationId xmlns:a16="http://schemas.microsoft.com/office/drawing/2014/main" id="{A19431EF-857D-437A-A197-10F7F0E4E6D3}"/>
              </a:ext>
            </a:extLst>
          </p:cNvPr>
          <p:cNvSpPr txBox="1"/>
          <p:nvPr/>
        </p:nvSpPr>
        <p:spPr>
          <a:xfrm>
            <a:off x="3013783" y="5256287"/>
            <a:ext cx="3494505" cy="886140"/>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no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lvl="1">
              <a:buClr>
                <a:schemeClr val="tx2">
                  <a:lumMod val="100000"/>
                </a:schemeClr>
              </a:buClr>
            </a:pPr>
            <a:r>
              <a:rPr lang="en-ZA" sz="1000">
                <a:solidFill>
                  <a:schemeClr val="tx1">
                    <a:lumMod val="100000"/>
                  </a:schemeClr>
                </a:solidFill>
                <a:sym typeface="+mn-lt"/>
              </a:rPr>
              <a:t>Continue to drive enablement &amp; change management</a:t>
            </a:r>
          </a:p>
          <a:p>
            <a:pPr lvl="1">
              <a:buClr>
                <a:schemeClr val="tx2">
                  <a:lumMod val="100000"/>
                </a:schemeClr>
              </a:buClr>
            </a:pPr>
            <a:r>
              <a:rPr lang="en-ZA" sz="1000">
                <a:solidFill>
                  <a:schemeClr val="tx1">
                    <a:lumMod val="100000"/>
                  </a:schemeClr>
                </a:solidFill>
                <a:sym typeface="+mn-lt"/>
              </a:rPr>
              <a:t>Upskill product lines, enabling strategic planning / integration of analytics in product </a:t>
            </a:r>
            <a:r>
              <a:rPr lang="en-ZA" sz="1000" err="1">
                <a:solidFill>
                  <a:schemeClr val="tx1">
                    <a:lumMod val="100000"/>
                  </a:schemeClr>
                </a:solidFill>
                <a:sym typeface="+mn-lt"/>
              </a:rPr>
              <a:t>strategeis</a:t>
            </a:r>
            <a:endParaRPr lang="en-ZA" sz="1000">
              <a:solidFill>
                <a:schemeClr val="tx1">
                  <a:lumMod val="100000"/>
                </a:schemeClr>
              </a:solidFill>
              <a:sym typeface="+mn-lt"/>
            </a:endParaRPr>
          </a:p>
          <a:p>
            <a:pPr lvl="1">
              <a:buClr>
                <a:schemeClr val="tx2">
                  <a:lumMod val="100000"/>
                </a:schemeClr>
              </a:buClr>
            </a:pPr>
            <a:r>
              <a:rPr lang="en-ZA" sz="1000">
                <a:solidFill>
                  <a:schemeClr val="tx1">
                    <a:lumMod val="100000"/>
                  </a:schemeClr>
                </a:solidFill>
                <a:sym typeface="+mn-lt"/>
              </a:rPr>
              <a:t>Scale personalisation use cases across all relevant products</a:t>
            </a:r>
          </a:p>
        </p:txBody>
      </p:sp>
      <p:sp>
        <p:nvSpPr>
          <p:cNvPr id="214" name="ee4pContent1">
            <a:extLst>
              <a:ext uri="{FF2B5EF4-FFF2-40B4-BE49-F238E27FC236}">
                <a16:creationId xmlns:a16="http://schemas.microsoft.com/office/drawing/2014/main" id="{59363FAD-C16E-4458-96B1-97F7469548D4}"/>
              </a:ext>
            </a:extLst>
          </p:cNvPr>
          <p:cNvSpPr txBox="1"/>
          <p:nvPr/>
        </p:nvSpPr>
        <p:spPr>
          <a:xfrm>
            <a:off x="3013783" y="1762602"/>
            <a:ext cx="3494505" cy="469263"/>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no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lvl="1">
              <a:buClr>
                <a:schemeClr val="tx2">
                  <a:lumMod val="100000"/>
                </a:schemeClr>
              </a:buClr>
            </a:pPr>
            <a:r>
              <a:rPr lang="en-ZA" sz="1000">
                <a:solidFill>
                  <a:schemeClr val="tx1">
                    <a:lumMod val="100000"/>
                  </a:schemeClr>
                </a:solidFill>
                <a:sym typeface="+mn-lt"/>
              </a:rPr>
              <a:t>Use all core internal structured data (incl. response data, clickstream data, call </a:t>
            </a:r>
            <a:r>
              <a:rPr lang="en-ZA" sz="1000" err="1">
                <a:solidFill>
                  <a:schemeClr val="tx1">
                    <a:lumMod val="100000"/>
                  </a:schemeClr>
                </a:solidFill>
                <a:sym typeface="+mn-lt"/>
              </a:rPr>
              <a:t>center</a:t>
            </a:r>
            <a:r>
              <a:rPr lang="en-ZA" sz="1000">
                <a:solidFill>
                  <a:schemeClr val="tx1">
                    <a:lumMod val="100000"/>
                  </a:schemeClr>
                </a:solidFill>
                <a:sym typeface="+mn-lt"/>
              </a:rPr>
              <a:t>) for holistic Customer DNA</a:t>
            </a:r>
          </a:p>
        </p:txBody>
      </p:sp>
      <p:sp>
        <p:nvSpPr>
          <p:cNvPr id="215" name="Rectangle 214">
            <a:extLst>
              <a:ext uri="{FF2B5EF4-FFF2-40B4-BE49-F238E27FC236}">
                <a16:creationId xmlns:a16="http://schemas.microsoft.com/office/drawing/2014/main" id="{FCC8237F-0842-48FF-84F3-497A0ED1F9D9}"/>
              </a:ext>
            </a:extLst>
          </p:cNvPr>
          <p:cNvSpPr/>
          <p:nvPr/>
        </p:nvSpPr>
        <p:spPr>
          <a:xfrm>
            <a:off x="3013783" y="1172488"/>
            <a:ext cx="3494505" cy="307777"/>
          </a:xfrm>
          <a:prstGeom prst="rect">
            <a:avLst/>
          </a:prstGeom>
        </p:spPr>
        <p:txBody>
          <a:bodyPr wrap="square" lIns="0" rIns="0">
            <a:spAutoFit/>
          </a:bodyPr>
          <a:lstStyle/>
          <a:p>
            <a:r>
              <a:rPr lang="en-US" sz="1400">
                <a:solidFill>
                  <a:srgbClr val="29BA74"/>
                </a:solidFill>
                <a:sym typeface="+mn-lt"/>
              </a:rPr>
              <a:t>Accelerate – scale MVP</a:t>
            </a:r>
          </a:p>
        </p:txBody>
      </p:sp>
      <p:sp>
        <p:nvSpPr>
          <p:cNvPr id="202" name="ee4pContent1">
            <a:extLst>
              <a:ext uri="{FF2B5EF4-FFF2-40B4-BE49-F238E27FC236}">
                <a16:creationId xmlns:a16="http://schemas.microsoft.com/office/drawing/2014/main" id="{1B0BEC6A-06D7-4B42-B8C8-037FE2AE61C7}"/>
              </a:ext>
            </a:extLst>
          </p:cNvPr>
          <p:cNvSpPr txBox="1"/>
          <p:nvPr/>
        </p:nvSpPr>
        <p:spPr>
          <a:xfrm>
            <a:off x="7113989" y="2426563"/>
            <a:ext cx="4474406" cy="443070"/>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no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lvl="1" defTabSz="829544">
              <a:buClr>
                <a:schemeClr val="tx2">
                  <a:lumMod val="100000"/>
                </a:schemeClr>
              </a:buClr>
            </a:pPr>
            <a:r>
              <a:rPr lang="en-US" sz="1000">
                <a:solidFill>
                  <a:schemeClr val="tx1">
                    <a:lumMod val="100000"/>
                  </a:schemeClr>
                </a:solidFill>
                <a:sym typeface="+mn-lt"/>
              </a:rPr>
              <a:t>Build next set of use case models (e.g. collections &amp; pricing), leveraging enhanced Customer DNA</a:t>
            </a:r>
          </a:p>
          <a:p>
            <a:pPr lvl="1" defTabSz="829544">
              <a:buClr>
                <a:schemeClr val="tx2">
                  <a:lumMod val="100000"/>
                </a:schemeClr>
              </a:buClr>
            </a:pPr>
            <a:r>
              <a:rPr lang="en-US" sz="1000">
                <a:solidFill>
                  <a:schemeClr val="tx1">
                    <a:lumMod val="100000"/>
                  </a:schemeClr>
                </a:solidFill>
                <a:sym typeface="+mn-lt"/>
              </a:rPr>
              <a:t>Use models to activate customer curricula and gather feedback</a:t>
            </a:r>
            <a:endParaRPr lang="en-US" sz="1000">
              <a:solidFill>
                <a:srgbClr val="333333">
                  <a:lumMod val="100000"/>
                </a:srgbClr>
              </a:solidFill>
              <a:sym typeface="+mn-lt"/>
            </a:endParaRPr>
          </a:p>
        </p:txBody>
      </p:sp>
      <p:sp>
        <p:nvSpPr>
          <p:cNvPr id="203" name="ee4pContent1">
            <a:extLst>
              <a:ext uri="{FF2B5EF4-FFF2-40B4-BE49-F238E27FC236}">
                <a16:creationId xmlns:a16="http://schemas.microsoft.com/office/drawing/2014/main" id="{02D4C176-F44B-433B-996E-0EF88E90F1E3}"/>
              </a:ext>
            </a:extLst>
          </p:cNvPr>
          <p:cNvSpPr txBox="1"/>
          <p:nvPr/>
        </p:nvSpPr>
        <p:spPr>
          <a:xfrm>
            <a:off x="7113990" y="2969027"/>
            <a:ext cx="4474406" cy="769441"/>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no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lvl="1" defTabSz="829544">
              <a:buClr>
                <a:schemeClr val="tx2">
                  <a:lumMod val="100000"/>
                </a:schemeClr>
              </a:buClr>
            </a:pPr>
            <a:r>
              <a:rPr lang="en-ZA" sz="1000">
                <a:solidFill>
                  <a:schemeClr val="tx1">
                    <a:lumMod val="100000"/>
                  </a:schemeClr>
                </a:solidFill>
                <a:sym typeface="+mn-lt"/>
              </a:rPr>
              <a:t>Expand existing curricula, to include relevant actions for additional use cases</a:t>
            </a:r>
          </a:p>
          <a:p>
            <a:pPr lvl="1" defTabSz="829544">
              <a:buClr>
                <a:schemeClr val="tx2">
                  <a:lumMod val="100000"/>
                </a:schemeClr>
              </a:buClr>
            </a:pPr>
            <a:r>
              <a:rPr lang="en-ZA" sz="1000">
                <a:solidFill>
                  <a:schemeClr val="tx1">
                    <a:lumMod val="100000"/>
                  </a:schemeClr>
                </a:solidFill>
                <a:sym typeface="+mn-lt"/>
              </a:rPr>
              <a:t>End-to-end build-out of elements of additional curricula (triggers, tactics/offers, creatives)</a:t>
            </a:r>
          </a:p>
          <a:p>
            <a:pPr lvl="1" defTabSz="829544">
              <a:buClr>
                <a:schemeClr val="tx2">
                  <a:lumMod val="100000"/>
                </a:schemeClr>
              </a:buClr>
            </a:pPr>
            <a:r>
              <a:rPr lang="en-ZA" sz="1000">
                <a:solidFill>
                  <a:schemeClr val="tx1">
                    <a:lumMod val="100000"/>
                  </a:schemeClr>
                </a:solidFill>
                <a:sym typeface="+mn-lt"/>
              </a:rPr>
              <a:t>Review/enhance advanced analytics models for allocating curricula</a:t>
            </a:r>
          </a:p>
        </p:txBody>
      </p:sp>
      <p:sp>
        <p:nvSpPr>
          <p:cNvPr id="204" name="ee4pContent1">
            <a:extLst>
              <a:ext uri="{FF2B5EF4-FFF2-40B4-BE49-F238E27FC236}">
                <a16:creationId xmlns:a16="http://schemas.microsoft.com/office/drawing/2014/main" id="{EED9758E-04E6-42A5-95B8-414465777C7F}"/>
              </a:ext>
            </a:extLst>
          </p:cNvPr>
          <p:cNvSpPr txBox="1"/>
          <p:nvPr/>
        </p:nvSpPr>
        <p:spPr>
          <a:xfrm>
            <a:off x="7113988" y="3928369"/>
            <a:ext cx="4474406" cy="615553"/>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no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lvl="1" defTabSz="829544">
              <a:buClr>
                <a:schemeClr val="tx2">
                  <a:lumMod val="100000"/>
                </a:schemeClr>
              </a:buClr>
            </a:pPr>
            <a:r>
              <a:rPr lang="en-ZA" sz="1000">
                <a:solidFill>
                  <a:schemeClr val="tx1">
                    <a:lumMod val="100000"/>
                  </a:schemeClr>
                </a:solidFill>
                <a:sym typeface="+mn-lt"/>
              </a:rPr>
              <a:t>Expand orchestration to include additional channels (e.g. social media), leveraging MVP for end-to-end activation</a:t>
            </a:r>
          </a:p>
        </p:txBody>
      </p:sp>
      <p:sp>
        <p:nvSpPr>
          <p:cNvPr id="205" name="ee4pContent1">
            <a:extLst>
              <a:ext uri="{FF2B5EF4-FFF2-40B4-BE49-F238E27FC236}">
                <a16:creationId xmlns:a16="http://schemas.microsoft.com/office/drawing/2014/main" id="{70559F10-A06B-4F0E-A460-63796DAC6861}"/>
              </a:ext>
            </a:extLst>
          </p:cNvPr>
          <p:cNvSpPr txBox="1"/>
          <p:nvPr/>
        </p:nvSpPr>
        <p:spPr>
          <a:xfrm>
            <a:off x="7113987" y="4592330"/>
            <a:ext cx="4474406" cy="469263"/>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no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lvl="1">
              <a:buClr>
                <a:schemeClr val="tx2">
                  <a:lumMod val="100000"/>
                </a:schemeClr>
              </a:buClr>
            </a:pPr>
            <a:r>
              <a:rPr lang="en-ZA" sz="1000">
                <a:solidFill>
                  <a:schemeClr val="tx1">
                    <a:lumMod val="100000"/>
                  </a:schemeClr>
                </a:solidFill>
                <a:sym typeface="+mn-lt"/>
              </a:rPr>
              <a:t>Build in use case and program reporting into automated reporting system</a:t>
            </a:r>
          </a:p>
          <a:p>
            <a:pPr lvl="1">
              <a:buClr>
                <a:schemeClr val="tx2">
                  <a:lumMod val="100000"/>
                </a:schemeClr>
              </a:buClr>
            </a:pPr>
            <a:r>
              <a:rPr lang="en-ZA" sz="1000">
                <a:solidFill>
                  <a:schemeClr val="tx1">
                    <a:lumMod val="100000"/>
                  </a:schemeClr>
                </a:solidFill>
                <a:sym typeface="+mn-lt"/>
              </a:rPr>
              <a:t>Develop additional experiments, running 50+ A/B tests daily</a:t>
            </a:r>
          </a:p>
        </p:txBody>
      </p:sp>
      <p:sp>
        <p:nvSpPr>
          <p:cNvPr id="206" name="ee4pContent1">
            <a:extLst>
              <a:ext uri="{FF2B5EF4-FFF2-40B4-BE49-F238E27FC236}">
                <a16:creationId xmlns:a16="http://schemas.microsoft.com/office/drawing/2014/main" id="{DE9EF639-9B52-4B07-BEA0-5E7B8F32E810}"/>
              </a:ext>
            </a:extLst>
          </p:cNvPr>
          <p:cNvSpPr txBox="1"/>
          <p:nvPr/>
        </p:nvSpPr>
        <p:spPr>
          <a:xfrm>
            <a:off x="7113988" y="5256287"/>
            <a:ext cx="4474406" cy="886140"/>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no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lvl="1">
              <a:buClr>
                <a:schemeClr val="tx2">
                  <a:lumMod val="100000"/>
                </a:schemeClr>
              </a:buClr>
            </a:pPr>
            <a:r>
              <a:rPr lang="en-US" sz="1000">
                <a:solidFill>
                  <a:schemeClr val="tx1">
                    <a:lumMod val="100000"/>
                  </a:schemeClr>
                </a:solidFill>
                <a:sym typeface="+mn-lt"/>
              </a:rPr>
              <a:t>Set-up an additional cross-functional pod for delivery and scale of use case</a:t>
            </a:r>
          </a:p>
          <a:p>
            <a:pPr lvl="1">
              <a:buClr>
                <a:schemeClr val="tx2">
                  <a:lumMod val="100000"/>
                </a:schemeClr>
              </a:buClr>
            </a:pPr>
            <a:r>
              <a:rPr lang="en-US" sz="1000">
                <a:solidFill>
                  <a:schemeClr val="tx1">
                    <a:lumMod val="100000"/>
                  </a:schemeClr>
                </a:solidFill>
                <a:sym typeface="+mn-lt"/>
              </a:rPr>
              <a:t>Drive enablement through leveraging learnings from cross-sell &amp; churn agile pods</a:t>
            </a:r>
          </a:p>
          <a:p>
            <a:pPr lvl="1">
              <a:buClr>
                <a:schemeClr val="tx2">
                  <a:lumMod val="100000"/>
                </a:schemeClr>
              </a:buClr>
            </a:pPr>
            <a:r>
              <a:rPr lang="en-US" sz="1000">
                <a:solidFill>
                  <a:schemeClr val="tx1">
                    <a:lumMod val="100000"/>
                  </a:schemeClr>
                </a:solidFill>
                <a:sym typeface="+mn-lt"/>
              </a:rPr>
              <a:t>Develop customer centric horizontal based on behavioral/customer segmentation with a shadow </a:t>
            </a:r>
            <a:r>
              <a:rPr lang="en-US" sz="1000" err="1">
                <a:solidFill>
                  <a:schemeClr val="tx1">
                    <a:lumMod val="100000"/>
                  </a:schemeClr>
                </a:solidFill>
                <a:sym typeface="+mn-lt"/>
              </a:rPr>
              <a:t>P&amp;L</a:t>
            </a:r>
            <a:r>
              <a:rPr lang="en-US" sz="1000">
                <a:solidFill>
                  <a:schemeClr val="tx1">
                    <a:lumMod val="100000"/>
                  </a:schemeClr>
                </a:solidFill>
                <a:sym typeface="+mn-lt"/>
              </a:rPr>
              <a:t> focused on customer segments</a:t>
            </a:r>
          </a:p>
        </p:txBody>
      </p:sp>
      <p:sp>
        <p:nvSpPr>
          <p:cNvPr id="207" name="ee4pContent1">
            <a:extLst>
              <a:ext uri="{FF2B5EF4-FFF2-40B4-BE49-F238E27FC236}">
                <a16:creationId xmlns:a16="http://schemas.microsoft.com/office/drawing/2014/main" id="{4E297A7E-EA4C-4490-A2E1-62C120D4C7C6}"/>
              </a:ext>
            </a:extLst>
          </p:cNvPr>
          <p:cNvSpPr txBox="1"/>
          <p:nvPr/>
        </p:nvSpPr>
        <p:spPr>
          <a:xfrm>
            <a:off x="7113991" y="1762602"/>
            <a:ext cx="4474406" cy="469263"/>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rgbClr val="6A0218"/>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noAutofit/>
          </a:bodyPr>
          <a:lstStyle>
            <a:defPPr>
              <a:defRPr lang="en-US"/>
            </a:defPPr>
            <a:lvl1pPr>
              <a:buClr>
                <a:srgbClr val="4D4D4D"/>
              </a:buClr>
              <a:buSzPct val="100000"/>
              <a:buFont typeface="Trebuchet MS" panose="020B0603020202020204" pitchFamily="34" charset="0"/>
              <a:buChar char="​"/>
              <a:defRPr sz="1200">
                <a:solidFill>
                  <a:srgbClr val="4D4D4D"/>
                </a:solidFill>
              </a:defRPr>
            </a:lvl1pPr>
            <a:lvl2pPr marL="324000" lvl="1" indent="-216000">
              <a:buClr>
                <a:srgbClr val="4D4D4D"/>
              </a:buClr>
              <a:buSzPct val="100000"/>
              <a:buFont typeface="Trebuchet MS" panose="020B0603020202020204" pitchFamily="34" charset="0"/>
              <a:buChar char="•"/>
              <a:defRPr sz="1200">
                <a:solidFill>
                  <a:srgbClr val="4D4D4D"/>
                </a:solidFill>
              </a:defRPr>
            </a:lvl2pPr>
            <a:lvl3pPr marL="648000" lvl="2" indent="-216000">
              <a:buClr>
                <a:srgbClr val="4D4D4D"/>
              </a:buClr>
              <a:buSzPct val="100000"/>
              <a:buFont typeface="Trebuchet MS" panose="020B0603020202020204" pitchFamily="34" charset="0"/>
              <a:buChar char="–"/>
              <a:defRPr sz="1200">
                <a:solidFill>
                  <a:srgbClr val="4D4D4D"/>
                </a:solidFill>
              </a:defRPr>
            </a:lvl3pPr>
            <a:lvl4pPr marL="0" lvl="3">
              <a:buClr>
                <a:srgbClr val="4D4D4D"/>
              </a:buClr>
              <a:buSzPct val="100000"/>
              <a:buFont typeface="Trebuchet MS" panose="020B0603020202020204" pitchFamily="34" charset="0"/>
              <a:buChar char="​"/>
              <a:defRPr sz="1600" b="1">
                <a:solidFill>
                  <a:srgbClr val="262626"/>
                </a:solidFill>
              </a:defRPr>
            </a:lvl4pPr>
            <a:lvl5pPr marL="0" lvl="4">
              <a:buClr>
                <a:srgbClr val="4D4D4D"/>
              </a:buClr>
              <a:buSzPct val="100000"/>
              <a:buFont typeface="Trebuchet MS" panose="020B0603020202020204" pitchFamily="34" charset="0"/>
              <a:buChar char="​"/>
              <a:defRPr sz="1600" b="1">
                <a:solidFill>
                  <a:srgbClr val="4D4D4D"/>
                </a:solidFill>
              </a:defRPr>
            </a:lvl5pPr>
            <a:lvl6pPr marL="324000" lvl="5" indent="-216000">
              <a:buClr>
                <a:srgbClr val="4D4D4D"/>
              </a:buClr>
              <a:buSzPct val="100000"/>
              <a:buFont typeface="Trebuchet MS" panose="020B0603020202020204" pitchFamily="34" charset="0"/>
              <a:buChar char="•"/>
              <a:defRPr sz="1600">
                <a:solidFill>
                  <a:srgbClr val="4D4D4D"/>
                </a:solidFill>
              </a:defRPr>
            </a:lvl6pPr>
            <a:lvl7pPr marL="0" lvl="6">
              <a:buClr>
                <a:srgbClr val="4D4D4D"/>
              </a:buClr>
              <a:buSzPct val="100000"/>
              <a:buFont typeface="Trebuchet MS" panose="020B0603020202020204" pitchFamily="34" charset="0"/>
              <a:buChar char="​"/>
              <a:defRPr sz="4400">
                <a:solidFill>
                  <a:srgbClr val="4D4D4D"/>
                </a:solidFill>
              </a:defRPr>
            </a:lvl7pPr>
            <a:lvl8pPr marL="0" lvl="7">
              <a:buClr>
                <a:srgbClr val="4D4D4D"/>
              </a:buClr>
              <a:buSzPct val="100000"/>
              <a:buFont typeface="Trebuchet MS" panose="020B0603020202020204" pitchFamily="34" charset="0"/>
              <a:buChar char="​"/>
              <a:defRPr sz="5400" b="1">
                <a:solidFill>
                  <a:srgbClr val="262626"/>
                </a:solidFill>
              </a:defRPr>
            </a:lvl8pPr>
            <a:lvl9pPr marL="0" lvl="8">
              <a:buClr>
                <a:srgbClr val="4D4D4D"/>
              </a:buClr>
              <a:buSzPct val="100000"/>
              <a:buFont typeface="Trebuchet MS" panose="020B0603020202020204" pitchFamily="34" charset="0"/>
              <a:buChar char="​"/>
              <a:defRPr sz="2400" b="1">
                <a:solidFill>
                  <a:srgbClr val="262626"/>
                </a:solidFill>
              </a:defRPr>
            </a:lvl9pPr>
          </a:lstStyle>
          <a:p>
            <a:pPr lvl="1" defTabSz="829544">
              <a:buClr>
                <a:schemeClr val="tx2">
                  <a:lumMod val="100000"/>
                </a:schemeClr>
              </a:buClr>
            </a:pPr>
            <a:r>
              <a:rPr lang="en-US" sz="1000">
                <a:solidFill>
                  <a:schemeClr val="tx1">
                    <a:lumMod val="100000"/>
                  </a:schemeClr>
                </a:solidFill>
                <a:sym typeface="+mn-lt"/>
              </a:rPr>
              <a:t>Enhance customer DNA "richness" through the use of structured &amp; unstructured external data</a:t>
            </a:r>
          </a:p>
          <a:p>
            <a:pPr lvl="1" defTabSz="829544">
              <a:buClr>
                <a:schemeClr val="tx2">
                  <a:lumMod val="100000"/>
                </a:schemeClr>
              </a:buClr>
            </a:pPr>
            <a:r>
              <a:rPr lang="en-US" sz="1000">
                <a:solidFill>
                  <a:schemeClr val="tx1">
                    <a:lumMod val="100000"/>
                  </a:schemeClr>
                </a:solidFill>
                <a:sym typeface="+mn-lt"/>
              </a:rPr>
              <a:t>Enhance data architecture to drive real-time refreshes</a:t>
            </a:r>
            <a:endParaRPr lang="en-ZA" sz="1000">
              <a:solidFill>
                <a:schemeClr val="tx1">
                  <a:lumMod val="100000"/>
                </a:schemeClr>
              </a:solidFill>
              <a:sym typeface="+mn-lt"/>
            </a:endParaRPr>
          </a:p>
        </p:txBody>
      </p:sp>
      <p:sp>
        <p:nvSpPr>
          <p:cNvPr id="208" name="Rectangle 207">
            <a:extLst>
              <a:ext uri="{FF2B5EF4-FFF2-40B4-BE49-F238E27FC236}">
                <a16:creationId xmlns:a16="http://schemas.microsoft.com/office/drawing/2014/main" id="{4D3CF6A9-2151-4F87-A119-5F696D124D47}"/>
              </a:ext>
            </a:extLst>
          </p:cNvPr>
          <p:cNvSpPr/>
          <p:nvPr/>
        </p:nvSpPr>
        <p:spPr>
          <a:xfrm>
            <a:off x="7113990" y="1172488"/>
            <a:ext cx="4474406" cy="307777"/>
          </a:xfrm>
          <a:prstGeom prst="rect">
            <a:avLst/>
          </a:prstGeom>
        </p:spPr>
        <p:txBody>
          <a:bodyPr wrap="square" lIns="0" rIns="0">
            <a:spAutoFit/>
          </a:bodyPr>
          <a:lstStyle/>
          <a:p>
            <a:r>
              <a:rPr lang="en-US" sz="1400">
                <a:solidFill>
                  <a:srgbClr val="29BA74"/>
                </a:solidFill>
                <a:sym typeface="+mn-lt"/>
              </a:rPr>
              <a:t>Accelerate – build next set of use cases</a:t>
            </a:r>
          </a:p>
        </p:txBody>
      </p:sp>
      <p:grpSp>
        <p:nvGrpSpPr>
          <p:cNvPr id="252" name="Group 251">
            <a:extLst>
              <a:ext uri="{FF2B5EF4-FFF2-40B4-BE49-F238E27FC236}">
                <a16:creationId xmlns:a16="http://schemas.microsoft.com/office/drawing/2014/main" id="{B2AE75A8-4745-44D7-B304-92C07640064C}"/>
              </a:ext>
            </a:extLst>
          </p:cNvPr>
          <p:cNvGrpSpPr>
            <a:grpSpLocks/>
          </p:cNvGrpSpPr>
          <p:nvPr>
            <p:custDataLst>
              <p:tags r:id="rId3"/>
            </p:custDataLst>
          </p:nvPr>
        </p:nvGrpSpPr>
        <p:grpSpPr>
          <a:xfrm>
            <a:off x="2597359" y="1846977"/>
            <a:ext cx="274320" cy="274320"/>
            <a:chOff x="6096000" y="3429000"/>
            <a:chExt cx="269875" cy="269875"/>
          </a:xfrm>
        </p:grpSpPr>
        <p:sp>
          <p:nvSpPr>
            <p:cNvPr id="277" name="background">
              <a:extLst>
                <a:ext uri="{FF2B5EF4-FFF2-40B4-BE49-F238E27FC236}">
                  <a16:creationId xmlns:a16="http://schemas.microsoft.com/office/drawing/2014/main" id="{A3FD4715-649B-4A32-8AD6-60FFC0B97D1F}"/>
                </a:ext>
              </a:extLst>
            </p:cNvPr>
            <p:cNvSpPr/>
            <p:nvPr/>
          </p:nvSpPr>
          <p:spPr>
            <a:xfrm>
              <a:off x="6096000" y="3429000"/>
              <a:ext cx="269875" cy="269875"/>
            </a:xfrm>
            <a:prstGeom prst="ellipse">
              <a:avLst/>
            </a:prstGeom>
            <a:solidFill>
              <a:srgbClr val="C8C8C8">
                <a:lumMod val="100000"/>
              </a:srgbClr>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sym typeface="+mn-lt"/>
              </a:endParaRPr>
            </a:p>
          </p:txBody>
        </p:sp>
        <p:sp>
          <p:nvSpPr>
            <p:cNvPr id="278" name="arc">
              <a:extLst>
                <a:ext uri="{FF2B5EF4-FFF2-40B4-BE49-F238E27FC236}">
                  <a16:creationId xmlns:a16="http://schemas.microsoft.com/office/drawing/2014/main" id="{A6B91122-3026-4351-8E32-A313DC9F36CA}"/>
                </a:ext>
              </a:extLst>
            </p:cNvPr>
            <p:cNvSpPr/>
            <p:nvPr/>
          </p:nvSpPr>
          <p:spPr>
            <a:xfrm>
              <a:off x="6096000" y="3429000"/>
              <a:ext cx="269875" cy="269875"/>
            </a:xfrm>
            <a:prstGeom prst="arc">
              <a:avLst>
                <a:gd name="adj1" fmla="val 16200000"/>
                <a:gd name="adj2" fmla="val 11880000"/>
              </a:avLst>
            </a:prstGeom>
            <a:solidFill>
              <a:srgbClr val="29BA74">
                <a:lumMod val="100000"/>
              </a:srgbClr>
            </a:solidFill>
            <a:ln w="9525" cap="rnd" cmpd="sng" algn="ctr">
              <a:noFill/>
              <a:prstDash val="solid"/>
              <a:round/>
            </a:ln>
            <a:effectLst/>
            <a:extLst>
              <a:ext uri="{91240B29-F687-4F45-9708-019B960494DF}">
                <a14:hiddenLine xmlns:a14="http://schemas.microsoft.com/office/drawing/2010/main" w="9525" cap="rnd" cmpd="sng" algn="ctr">
                  <a:solidFill>
                    <a:srgbClr val="7F7F7F"/>
                  </a:solidFill>
                  <a:prstDash val="solid"/>
                  <a:round/>
                </a14:hiddenLine>
              </a:ext>
            </a:extLst>
          </p:spPr>
          <p:style>
            <a:lnRef idx="1">
              <a:schemeClr val="accent1"/>
            </a:lnRef>
            <a:fillRef idx="0">
              <a:schemeClr val="accent1"/>
            </a:fillRef>
            <a:effectRef idx="0">
              <a:schemeClr val="accent1"/>
            </a:effectRef>
            <a:fontRef idx="minor">
              <a:schemeClr val="tx1"/>
            </a:fontRef>
          </p:style>
          <p:txBody>
            <a:bodyPr rtlCol="0" anchor="ctr">
              <a:noAutofit/>
            </a:bodyPr>
            <a:lstStyle/>
            <a:p>
              <a:pPr algn="ctr"/>
              <a:endParaRPr lang="en-US" sz="1559">
                <a:sym typeface="+mn-lt"/>
              </a:endParaRPr>
            </a:p>
          </p:txBody>
        </p:sp>
        <p:sp>
          <p:nvSpPr>
            <p:cNvPr id="279" name="circle">
              <a:extLst>
                <a:ext uri="{FF2B5EF4-FFF2-40B4-BE49-F238E27FC236}">
                  <a16:creationId xmlns:a16="http://schemas.microsoft.com/office/drawing/2014/main" id="{8283BE79-DBF1-4BDF-8295-D200D365D002}"/>
                </a:ext>
              </a:extLst>
            </p:cNvPr>
            <p:cNvSpPr/>
            <p:nvPr/>
          </p:nvSpPr>
          <p:spPr>
            <a:xfrm>
              <a:off x="6096000" y="3429000"/>
              <a:ext cx="269875" cy="269875"/>
            </a:xfrm>
            <a:prstGeom prst="ellipse">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DC0532"/>
                  </a:solidFill>
                </a14:hiddenFill>
              </a:ex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sym typeface="+mn-lt"/>
              </a:endParaRPr>
            </a:p>
          </p:txBody>
        </p:sp>
      </p:grpSp>
      <p:grpSp>
        <p:nvGrpSpPr>
          <p:cNvPr id="253" name="Group 252">
            <a:extLst>
              <a:ext uri="{FF2B5EF4-FFF2-40B4-BE49-F238E27FC236}">
                <a16:creationId xmlns:a16="http://schemas.microsoft.com/office/drawing/2014/main" id="{0BB1AC66-6DEE-44CD-A43A-DD373D7784AE}"/>
              </a:ext>
            </a:extLst>
          </p:cNvPr>
          <p:cNvGrpSpPr>
            <a:grpSpLocks/>
          </p:cNvGrpSpPr>
          <p:nvPr>
            <p:custDataLst>
              <p:tags r:id="rId4"/>
            </p:custDataLst>
          </p:nvPr>
        </p:nvGrpSpPr>
        <p:grpSpPr>
          <a:xfrm>
            <a:off x="2597359" y="2510938"/>
            <a:ext cx="274320" cy="274320"/>
            <a:chOff x="6096000" y="3429000"/>
            <a:chExt cx="269875" cy="269875"/>
          </a:xfrm>
        </p:grpSpPr>
        <p:sp>
          <p:nvSpPr>
            <p:cNvPr id="274" name="background">
              <a:extLst>
                <a:ext uri="{FF2B5EF4-FFF2-40B4-BE49-F238E27FC236}">
                  <a16:creationId xmlns:a16="http://schemas.microsoft.com/office/drawing/2014/main" id="{C8D778A8-420B-47E8-805F-54CA9B560895}"/>
                </a:ext>
              </a:extLst>
            </p:cNvPr>
            <p:cNvSpPr/>
            <p:nvPr/>
          </p:nvSpPr>
          <p:spPr>
            <a:xfrm>
              <a:off x="6096000" y="3429000"/>
              <a:ext cx="269875" cy="269875"/>
            </a:xfrm>
            <a:prstGeom prst="ellipse">
              <a:avLst/>
            </a:prstGeom>
            <a:solidFill>
              <a:srgbClr val="C8C8C8">
                <a:lumMod val="100000"/>
              </a:srgbClr>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sym typeface="+mn-lt"/>
              </a:endParaRPr>
            </a:p>
          </p:txBody>
        </p:sp>
        <p:sp>
          <p:nvSpPr>
            <p:cNvPr id="275" name="arc">
              <a:extLst>
                <a:ext uri="{FF2B5EF4-FFF2-40B4-BE49-F238E27FC236}">
                  <a16:creationId xmlns:a16="http://schemas.microsoft.com/office/drawing/2014/main" id="{75E3F09B-E0C9-49D1-86D7-447E1710FFB9}"/>
                </a:ext>
              </a:extLst>
            </p:cNvPr>
            <p:cNvSpPr/>
            <p:nvPr/>
          </p:nvSpPr>
          <p:spPr>
            <a:xfrm>
              <a:off x="6096000" y="3429000"/>
              <a:ext cx="269875" cy="269875"/>
            </a:xfrm>
            <a:prstGeom prst="arc">
              <a:avLst>
                <a:gd name="adj1" fmla="val 16200000"/>
                <a:gd name="adj2" fmla="val 11880000"/>
              </a:avLst>
            </a:prstGeom>
            <a:solidFill>
              <a:srgbClr val="29BA74">
                <a:lumMod val="100000"/>
              </a:srgbClr>
            </a:solidFill>
            <a:ln w="9525" cap="rnd" cmpd="sng" algn="ctr">
              <a:noFill/>
              <a:prstDash val="solid"/>
              <a:round/>
            </a:ln>
            <a:effectLst/>
            <a:extLst>
              <a:ext uri="{91240B29-F687-4F45-9708-019B960494DF}">
                <a14:hiddenLine xmlns:a14="http://schemas.microsoft.com/office/drawing/2010/main" w="9525" cap="rnd" cmpd="sng" algn="ctr">
                  <a:solidFill>
                    <a:srgbClr val="7F7F7F"/>
                  </a:solidFill>
                  <a:prstDash val="solid"/>
                  <a:round/>
                </a14:hiddenLine>
              </a:ext>
            </a:extLst>
          </p:spPr>
          <p:style>
            <a:lnRef idx="1">
              <a:schemeClr val="accent1"/>
            </a:lnRef>
            <a:fillRef idx="0">
              <a:schemeClr val="accent1"/>
            </a:fillRef>
            <a:effectRef idx="0">
              <a:schemeClr val="accent1"/>
            </a:effectRef>
            <a:fontRef idx="minor">
              <a:schemeClr val="tx1"/>
            </a:fontRef>
          </p:style>
          <p:txBody>
            <a:bodyPr rtlCol="0" anchor="ctr">
              <a:noAutofit/>
            </a:bodyPr>
            <a:lstStyle/>
            <a:p>
              <a:pPr algn="ctr"/>
              <a:endParaRPr lang="en-US" sz="1559">
                <a:sym typeface="+mn-lt"/>
              </a:endParaRPr>
            </a:p>
          </p:txBody>
        </p:sp>
        <p:sp>
          <p:nvSpPr>
            <p:cNvPr id="276" name="circle">
              <a:extLst>
                <a:ext uri="{FF2B5EF4-FFF2-40B4-BE49-F238E27FC236}">
                  <a16:creationId xmlns:a16="http://schemas.microsoft.com/office/drawing/2014/main" id="{7E385E94-5658-4E15-AE36-11288D4EE4CE}"/>
                </a:ext>
              </a:extLst>
            </p:cNvPr>
            <p:cNvSpPr/>
            <p:nvPr/>
          </p:nvSpPr>
          <p:spPr>
            <a:xfrm>
              <a:off x="6096000" y="3429000"/>
              <a:ext cx="269875" cy="269875"/>
            </a:xfrm>
            <a:prstGeom prst="ellipse">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DC0532"/>
                  </a:solidFill>
                </a14:hiddenFill>
              </a:ex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sym typeface="+mn-lt"/>
              </a:endParaRPr>
            </a:p>
          </p:txBody>
        </p:sp>
      </p:grpSp>
      <p:grpSp>
        <p:nvGrpSpPr>
          <p:cNvPr id="254" name="Group 253">
            <a:extLst>
              <a:ext uri="{FF2B5EF4-FFF2-40B4-BE49-F238E27FC236}">
                <a16:creationId xmlns:a16="http://schemas.microsoft.com/office/drawing/2014/main" id="{66347619-FD26-43CC-9331-3D75EC641143}"/>
              </a:ext>
            </a:extLst>
          </p:cNvPr>
          <p:cNvGrpSpPr>
            <a:grpSpLocks/>
          </p:cNvGrpSpPr>
          <p:nvPr>
            <p:custDataLst>
              <p:tags r:id="rId5"/>
            </p:custDataLst>
          </p:nvPr>
        </p:nvGrpSpPr>
        <p:grpSpPr>
          <a:xfrm>
            <a:off x="2597359" y="3216587"/>
            <a:ext cx="274320" cy="274320"/>
            <a:chOff x="6096000" y="3429000"/>
            <a:chExt cx="269875" cy="269875"/>
          </a:xfrm>
        </p:grpSpPr>
        <p:sp>
          <p:nvSpPr>
            <p:cNvPr id="271" name="background">
              <a:extLst>
                <a:ext uri="{FF2B5EF4-FFF2-40B4-BE49-F238E27FC236}">
                  <a16:creationId xmlns:a16="http://schemas.microsoft.com/office/drawing/2014/main" id="{7292D9DA-7D45-40D8-BD4A-E8B1EEEE44B7}"/>
                </a:ext>
              </a:extLst>
            </p:cNvPr>
            <p:cNvSpPr/>
            <p:nvPr/>
          </p:nvSpPr>
          <p:spPr>
            <a:xfrm>
              <a:off x="6096000" y="3429000"/>
              <a:ext cx="269875" cy="269875"/>
            </a:xfrm>
            <a:prstGeom prst="ellipse">
              <a:avLst/>
            </a:prstGeom>
            <a:solidFill>
              <a:srgbClr val="C8C8C8">
                <a:lumMod val="100000"/>
              </a:srgbClr>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sym typeface="+mn-lt"/>
              </a:endParaRPr>
            </a:p>
          </p:txBody>
        </p:sp>
        <p:sp>
          <p:nvSpPr>
            <p:cNvPr id="272" name="arc">
              <a:extLst>
                <a:ext uri="{FF2B5EF4-FFF2-40B4-BE49-F238E27FC236}">
                  <a16:creationId xmlns:a16="http://schemas.microsoft.com/office/drawing/2014/main" id="{CCE23F2C-71FB-4430-BDCF-79971E66A8EC}"/>
                </a:ext>
              </a:extLst>
            </p:cNvPr>
            <p:cNvSpPr/>
            <p:nvPr/>
          </p:nvSpPr>
          <p:spPr>
            <a:xfrm>
              <a:off x="6096000" y="3429000"/>
              <a:ext cx="269875" cy="269875"/>
            </a:xfrm>
            <a:prstGeom prst="arc">
              <a:avLst>
                <a:gd name="adj1" fmla="val 16200000"/>
                <a:gd name="adj2" fmla="val 11880000"/>
              </a:avLst>
            </a:prstGeom>
            <a:solidFill>
              <a:srgbClr val="29BA74">
                <a:lumMod val="100000"/>
              </a:srgbClr>
            </a:solidFill>
            <a:ln w="9525" cap="rnd" cmpd="sng" algn="ctr">
              <a:noFill/>
              <a:prstDash val="solid"/>
              <a:round/>
            </a:ln>
            <a:effectLst/>
            <a:extLst>
              <a:ext uri="{91240B29-F687-4F45-9708-019B960494DF}">
                <a14:hiddenLine xmlns:a14="http://schemas.microsoft.com/office/drawing/2010/main" w="9525" cap="rnd" cmpd="sng" algn="ctr">
                  <a:solidFill>
                    <a:srgbClr val="7F7F7F"/>
                  </a:solidFill>
                  <a:prstDash val="solid"/>
                  <a:round/>
                </a14:hiddenLine>
              </a:ext>
            </a:extLst>
          </p:spPr>
          <p:style>
            <a:lnRef idx="1">
              <a:schemeClr val="accent1"/>
            </a:lnRef>
            <a:fillRef idx="0">
              <a:schemeClr val="accent1"/>
            </a:fillRef>
            <a:effectRef idx="0">
              <a:schemeClr val="accent1"/>
            </a:effectRef>
            <a:fontRef idx="minor">
              <a:schemeClr val="tx1"/>
            </a:fontRef>
          </p:style>
          <p:txBody>
            <a:bodyPr rtlCol="0" anchor="ctr">
              <a:noAutofit/>
            </a:bodyPr>
            <a:lstStyle/>
            <a:p>
              <a:pPr algn="ctr"/>
              <a:endParaRPr lang="en-US" sz="1559">
                <a:sym typeface="+mn-lt"/>
              </a:endParaRPr>
            </a:p>
          </p:txBody>
        </p:sp>
        <p:sp>
          <p:nvSpPr>
            <p:cNvPr id="273" name="circle">
              <a:extLst>
                <a:ext uri="{FF2B5EF4-FFF2-40B4-BE49-F238E27FC236}">
                  <a16:creationId xmlns:a16="http://schemas.microsoft.com/office/drawing/2014/main" id="{6FD81CE6-D250-4DC0-A57C-4F01EE54028F}"/>
                </a:ext>
              </a:extLst>
            </p:cNvPr>
            <p:cNvSpPr/>
            <p:nvPr/>
          </p:nvSpPr>
          <p:spPr>
            <a:xfrm>
              <a:off x="6096000" y="3429000"/>
              <a:ext cx="269875" cy="269875"/>
            </a:xfrm>
            <a:prstGeom prst="ellipse">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DC0532"/>
                  </a:solidFill>
                </a14:hiddenFill>
              </a:ex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sym typeface="+mn-lt"/>
              </a:endParaRPr>
            </a:p>
          </p:txBody>
        </p:sp>
      </p:grpSp>
      <p:grpSp>
        <p:nvGrpSpPr>
          <p:cNvPr id="255" name="Group 254">
            <a:extLst>
              <a:ext uri="{FF2B5EF4-FFF2-40B4-BE49-F238E27FC236}">
                <a16:creationId xmlns:a16="http://schemas.microsoft.com/office/drawing/2014/main" id="{6D9123B9-96D8-495B-9DD6-A500C29D9A24}"/>
              </a:ext>
            </a:extLst>
          </p:cNvPr>
          <p:cNvGrpSpPr>
            <a:grpSpLocks/>
          </p:cNvGrpSpPr>
          <p:nvPr>
            <p:custDataLst>
              <p:tags r:id="rId6"/>
            </p:custDataLst>
          </p:nvPr>
        </p:nvGrpSpPr>
        <p:grpSpPr>
          <a:xfrm>
            <a:off x="2597359" y="4086588"/>
            <a:ext cx="274320" cy="274320"/>
            <a:chOff x="6096000" y="3429000"/>
            <a:chExt cx="269875" cy="269875"/>
          </a:xfrm>
        </p:grpSpPr>
        <p:sp>
          <p:nvSpPr>
            <p:cNvPr id="268" name="background">
              <a:extLst>
                <a:ext uri="{FF2B5EF4-FFF2-40B4-BE49-F238E27FC236}">
                  <a16:creationId xmlns:a16="http://schemas.microsoft.com/office/drawing/2014/main" id="{E8E1C9F9-F68A-4AD9-A29C-6AD39DABA5E4}"/>
                </a:ext>
              </a:extLst>
            </p:cNvPr>
            <p:cNvSpPr/>
            <p:nvPr/>
          </p:nvSpPr>
          <p:spPr>
            <a:xfrm>
              <a:off x="6096000" y="3429000"/>
              <a:ext cx="269875" cy="269875"/>
            </a:xfrm>
            <a:prstGeom prst="ellipse">
              <a:avLst/>
            </a:prstGeom>
            <a:solidFill>
              <a:srgbClr val="C8C8C8">
                <a:lumMod val="100000"/>
              </a:srgbClr>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sym typeface="+mn-lt"/>
              </a:endParaRPr>
            </a:p>
          </p:txBody>
        </p:sp>
        <p:sp>
          <p:nvSpPr>
            <p:cNvPr id="269" name="arc">
              <a:extLst>
                <a:ext uri="{FF2B5EF4-FFF2-40B4-BE49-F238E27FC236}">
                  <a16:creationId xmlns:a16="http://schemas.microsoft.com/office/drawing/2014/main" id="{8EA6B338-2744-4609-B2ED-B90F68DE1E1E}"/>
                </a:ext>
              </a:extLst>
            </p:cNvPr>
            <p:cNvSpPr/>
            <p:nvPr/>
          </p:nvSpPr>
          <p:spPr>
            <a:xfrm>
              <a:off x="6096000" y="3429000"/>
              <a:ext cx="269875" cy="269875"/>
            </a:xfrm>
            <a:prstGeom prst="arc">
              <a:avLst>
                <a:gd name="adj1" fmla="val 16200000"/>
                <a:gd name="adj2" fmla="val 11880000"/>
              </a:avLst>
            </a:prstGeom>
            <a:solidFill>
              <a:srgbClr val="29BA74">
                <a:lumMod val="100000"/>
              </a:srgbClr>
            </a:solidFill>
            <a:ln w="9525" cap="rnd" cmpd="sng" algn="ctr">
              <a:noFill/>
              <a:prstDash val="solid"/>
              <a:round/>
            </a:ln>
            <a:effectLst/>
            <a:extLst>
              <a:ext uri="{91240B29-F687-4F45-9708-019B960494DF}">
                <a14:hiddenLine xmlns:a14="http://schemas.microsoft.com/office/drawing/2010/main" w="9525" cap="rnd" cmpd="sng" algn="ctr">
                  <a:solidFill>
                    <a:srgbClr val="7F7F7F"/>
                  </a:solidFill>
                  <a:prstDash val="solid"/>
                  <a:round/>
                </a14:hiddenLine>
              </a:ext>
            </a:extLst>
          </p:spPr>
          <p:style>
            <a:lnRef idx="1">
              <a:schemeClr val="accent1"/>
            </a:lnRef>
            <a:fillRef idx="0">
              <a:schemeClr val="accent1"/>
            </a:fillRef>
            <a:effectRef idx="0">
              <a:schemeClr val="accent1"/>
            </a:effectRef>
            <a:fontRef idx="minor">
              <a:schemeClr val="tx1"/>
            </a:fontRef>
          </p:style>
          <p:txBody>
            <a:bodyPr rtlCol="0" anchor="ctr">
              <a:noAutofit/>
            </a:bodyPr>
            <a:lstStyle/>
            <a:p>
              <a:pPr algn="ctr"/>
              <a:endParaRPr lang="en-US" sz="1559">
                <a:sym typeface="+mn-lt"/>
              </a:endParaRPr>
            </a:p>
          </p:txBody>
        </p:sp>
        <p:sp>
          <p:nvSpPr>
            <p:cNvPr id="270" name="circle">
              <a:extLst>
                <a:ext uri="{FF2B5EF4-FFF2-40B4-BE49-F238E27FC236}">
                  <a16:creationId xmlns:a16="http://schemas.microsoft.com/office/drawing/2014/main" id="{9E4E19BC-8013-49A6-A72F-6179686EC0BA}"/>
                </a:ext>
              </a:extLst>
            </p:cNvPr>
            <p:cNvSpPr/>
            <p:nvPr/>
          </p:nvSpPr>
          <p:spPr>
            <a:xfrm>
              <a:off x="6096000" y="3429000"/>
              <a:ext cx="269875" cy="269875"/>
            </a:xfrm>
            <a:prstGeom prst="ellipse">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DC0532"/>
                  </a:solidFill>
                </a14:hiddenFill>
              </a:ex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sym typeface="+mn-lt"/>
              </a:endParaRPr>
            </a:p>
          </p:txBody>
        </p:sp>
      </p:grpSp>
      <p:grpSp>
        <p:nvGrpSpPr>
          <p:cNvPr id="256" name="Group 255">
            <a:extLst>
              <a:ext uri="{FF2B5EF4-FFF2-40B4-BE49-F238E27FC236}">
                <a16:creationId xmlns:a16="http://schemas.microsoft.com/office/drawing/2014/main" id="{B62446AA-766F-4C40-AC4A-29680C1D23BB}"/>
              </a:ext>
            </a:extLst>
          </p:cNvPr>
          <p:cNvGrpSpPr>
            <a:grpSpLocks/>
          </p:cNvGrpSpPr>
          <p:nvPr>
            <p:custDataLst>
              <p:tags r:id="rId7"/>
            </p:custDataLst>
          </p:nvPr>
        </p:nvGrpSpPr>
        <p:grpSpPr>
          <a:xfrm>
            <a:off x="2597359" y="4676705"/>
            <a:ext cx="274320" cy="274320"/>
            <a:chOff x="6096000" y="3429000"/>
            <a:chExt cx="269875" cy="269875"/>
          </a:xfrm>
        </p:grpSpPr>
        <p:sp>
          <p:nvSpPr>
            <p:cNvPr id="265" name="background">
              <a:extLst>
                <a:ext uri="{FF2B5EF4-FFF2-40B4-BE49-F238E27FC236}">
                  <a16:creationId xmlns:a16="http://schemas.microsoft.com/office/drawing/2014/main" id="{4937333C-C430-4320-AAB4-DECE72687346}"/>
                </a:ext>
              </a:extLst>
            </p:cNvPr>
            <p:cNvSpPr/>
            <p:nvPr/>
          </p:nvSpPr>
          <p:spPr>
            <a:xfrm>
              <a:off x="6096000" y="3429000"/>
              <a:ext cx="269875" cy="269875"/>
            </a:xfrm>
            <a:prstGeom prst="ellipse">
              <a:avLst/>
            </a:prstGeom>
            <a:solidFill>
              <a:srgbClr val="C8C8C8">
                <a:lumMod val="100000"/>
              </a:srgbClr>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sym typeface="+mn-lt"/>
              </a:endParaRPr>
            </a:p>
          </p:txBody>
        </p:sp>
        <p:sp>
          <p:nvSpPr>
            <p:cNvPr id="266" name="arc">
              <a:extLst>
                <a:ext uri="{FF2B5EF4-FFF2-40B4-BE49-F238E27FC236}">
                  <a16:creationId xmlns:a16="http://schemas.microsoft.com/office/drawing/2014/main" id="{A44E2BF3-10B7-44E1-A51E-9D9AFFEAF3D1}"/>
                </a:ext>
              </a:extLst>
            </p:cNvPr>
            <p:cNvSpPr/>
            <p:nvPr/>
          </p:nvSpPr>
          <p:spPr>
            <a:xfrm>
              <a:off x="6096000" y="3429000"/>
              <a:ext cx="269875" cy="269875"/>
            </a:xfrm>
            <a:prstGeom prst="arc">
              <a:avLst>
                <a:gd name="adj1" fmla="val 16200000"/>
                <a:gd name="adj2" fmla="val 11880000"/>
              </a:avLst>
            </a:prstGeom>
            <a:solidFill>
              <a:srgbClr val="29BA74">
                <a:lumMod val="100000"/>
              </a:srgbClr>
            </a:solidFill>
            <a:ln w="9525" cap="rnd" cmpd="sng" algn="ctr">
              <a:noFill/>
              <a:prstDash val="solid"/>
              <a:round/>
            </a:ln>
            <a:effectLst/>
            <a:extLst>
              <a:ext uri="{91240B29-F687-4F45-9708-019B960494DF}">
                <a14:hiddenLine xmlns:a14="http://schemas.microsoft.com/office/drawing/2010/main" w="9525" cap="rnd" cmpd="sng" algn="ctr">
                  <a:solidFill>
                    <a:srgbClr val="7F7F7F"/>
                  </a:solidFill>
                  <a:prstDash val="solid"/>
                  <a:round/>
                </a14:hiddenLine>
              </a:ext>
            </a:extLst>
          </p:spPr>
          <p:style>
            <a:lnRef idx="1">
              <a:schemeClr val="accent1"/>
            </a:lnRef>
            <a:fillRef idx="0">
              <a:schemeClr val="accent1"/>
            </a:fillRef>
            <a:effectRef idx="0">
              <a:schemeClr val="accent1"/>
            </a:effectRef>
            <a:fontRef idx="minor">
              <a:schemeClr val="tx1"/>
            </a:fontRef>
          </p:style>
          <p:txBody>
            <a:bodyPr rtlCol="0" anchor="ctr">
              <a:noAutofit/>
            </a:bodyPr>
            <a:lstStyle/>
            <a:p>
              <a:pPr algn="ctr"/>
              <a:endParaRPr lang="en-US" sz="1559">
                <a:sym typeface="+mn-lt"/>
              </a:endParaRPr>
            </a:p>
          </p:txBody>
        </p:sp>
        <p:sp>
          <p:nvSpPr>
            <p:cNvPr id="267" name="circle">
              <a:extLst>
                <a:ext uri="{FF2B5EF4-FFF2-40B4-BE49-F238E27FC236}">
                  <a16:creationId xmlns:a16="http://schemas.microsoft.com/office/drawing/2014/main" id="{8F0F239E-8505-4DEE-8ED4-A8421EAE463B}"/>
                </a:ext>
              </a:extLst>
            </p:cNvPr>
            <p:cNvSpPr/>
            <p:nvPr/>
          </p:nvSpPr>
          <p:spPr>
            <a:xfrm>
              <a:off x="6096000" y="3429000"/>
              <a:ext cx="269875" cy="269875"/>
            </a:xfrm>
            <a:prstGeom prst="ellipse">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DC0532"/>
                  </a:solidFill>
                </a14:hiddenFill>
              </a:ex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sym typeface="+mn-lt"/>
              </a:endParaRPr>
            </a:p>
          </p:txBody>
        </p:sp>
      </p:grpSp>
      <p:grpSp>
        <p:nvGrpSpPr>
          <p:cNvPr id="257" name="Group 256">
            <a:extLst>
              <a:ext uri="{FF2B5EF4-FFF2-40B4-BE49-F238E27FC236}">
                <a16:creationId xmlns:a16="http://schemas.microsoft.com/office/drawing/2014/main" id="{675E3F01-752F-4CD7-A49C-1E6F3A772444}"/>
              </a:ext>
            </a:extLst>
          </p:cNvPr>
          <p:cNvGrpSpPr>
            <a:grpSpLocks/>
          </p:cNvGrpSpPr>
          <p:nvPr>
            <p:custDataLst>
              <p:tags r:id="rId8"/>
            </p:custDataLst>
          </p:nvPr>
        </p:nvGrpSpPr>
        <p:grpSpPr>
          <a:xfrm>
            <a:off x="2597359" y="5562197"/>
            <a:ext cx="274320" cy="274320"/>
            <a:chOff x="6096000" y="3429000"/>
            <a:chExt cx="269875" cy="269875"/>
          </a:xfrm>
        </p:grpSpPr>
        <p:sp>
          <p:nvSpPr>
            <p:cNvPr id="262" name="background">
              <a:extLst>
                <a:ext uri="{FF2B5EF4-FFF2-40B4-BE49-F238E27FC236}">
                  <a16:creationId xmlns:a16="http://schemas.microsoft.com/office/drawing/2014/main" id="{0072BE36-0E7B-46C5-BD8B-6DCE3E23B7D1}"/>
                </a:ext>
              </a:extLst>
            </p:cNvPr>
            <p:cNvSpPr/>
            <p:nvPr/>
          </p:nvSpPr>
          <p:spPr>
            <a:xfrm>
              <a:off x="6096000" y="3429000"/>
              <a:ext cx="269875" cy="269875"/>
            </a:xfrm>
            <a:prstGeom prst="ellipse">
              <a:avLst/>
            </a:prstGeom>
            <a:solidFill>
              <a:srgbClr val="C8C8C8">
                <a:lumMod val="100000"/>
              </a:srgbClr>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sym typeface="+mn-lt"/>
              </a:endParaRPr>
            </a:p>
          </p:txBody>
        </p:sp>
        <p:sp>
          <p:nvSpPr>
            <p:cNvPr id="263" name="arc">
              <a:extLst>
                <a:ext uri="{FF2B5EF4-FFF2-40B4-BE49-F238E27FC236}">
                  <a16:creationId xmlns:a16="http://schemas.microsoft.com/office/drawing/2014/main" id="{8982E386-4B55-45A6-BE67-BF55C57FD89C}"/>
                </a:ext>
              </a:extLst>
            </p:cNvPr>
            <p:cNvSpPr/>
            <p:nvPr/>
          </p:nvSpPr>
          <p:spPr>
            <a:xfrm>
              <a:off x="6096000" y="3429000"/>
              <a:ext cx="269875" cy="269875"/>
            </a:xfrm>
            <a:prstGeom prst="arc">
              <a:avLst>
                <a:gd name="adj1" fmla="val 16200000"/>
                <a:gd name="adj2" fmla="val 11880000"/>
              </a:avLst>
            </a:prstGeom>
            <a:solidFill>
              <a:srgbClr val="29BA74">
                <a:lumMod val="100000"/>
              </a:srgbClr>
            </a:solidFill>
            <a:ln w="9525" cap="rnd" cmpd="sng" algn="ctr">
              <a:noFill/>
              <a:prstDash val="solid"/>
              <a:round/>
            </a:ln>
            <a:effectLst/>
            <a:extLst>
              <a:ext uri="{91240B29-F687-4F45-9708-019B960494DF}">
                <a14:hiddenLine xmlns:a14="http://schemas.microsoft.com/office/drawing/2010/main" w="9525" cap="rnd" cmpd="sng" algn="ctr">
                  <a:solidFill>
                    <a:srgbClr val="7F7F7F"/>
                  </a:solidFill>
                  <a:prstDash val="solid"/>
                  <a:round/>
                </a14:hiddenLine>
              </a:ext>
            </a:extLst>
          </p:spPr>
          <p:style>
            <a:lnRef idx="1">
              <a:schemeClr val="accent1"/>
            </a:lnRef>
            <a:fillRef idx="0">
              <a:schemeClr val="accent1"/>
            </a:fillRef>
            <a:effectRef idx="0">
              <a:schemeClr val="accent1"/>
            </a:effectRef>
            <a:fontRef idx="minor">
              <a:schemeClr val="tx1"/>
            </a:fontRef>
          </p:style>
          <p:txBody>
            <a:bodyPr rtlCol="0" anchor="ctr">
              <a:noAutofit/>
            </a:bodyPr>
            <a:lstStyle/>
            <a:p>
              <a:pPr algn="ctr"/>
              <a:endParaRPr lang="en-US" sz="1559">
                <a:sym typeface="+mn-lt"/>
              </a:endParaRPr>
            </a:p>
          </p:txBody>
        </p:sp>
        <p:sp>
          <p:nvSpPr>
            <p:cNvPr id="264" name="circle">
              <a:extLst>
                <a:ext uri="{FF2B5EF4-FFF2-40B4-BE49-F238E27FC236}">
                  <a16:creationId xmlns:a16="http://schemas.microsoft.com/office/drawing/2014/main" id="{A7C50D41-0408-4B49-BC94-424C9E091B6D}"/>
                </a:ext>
              </a:extLst>
            </p:cNvPr>
            <p:cNvSpPr/>
            <p:nvPr/>
          </p:nvSpPr>
          <p:spPr>
            <a:xfrm>
              <a:off x="6096000" y="3429000"/>
              <a:ext cx="269875" cy="269875"/>
            </a:xfrm>
            <a:prstGeom prst="ellipse">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DC0532"/>
                  </a:solidFill>
                </a14:hiddenFill>
              </a:ex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sym typeface="+mn-lt"/>
              </a:endParaRPr>
            </a:p>
          </p:txBody>
        </p:sp>
      </p:grpSp>
      <p:grpSp>
        <p:nvGrpSpPr>
          <p:cNvPr id="258" name="bcgIcons_PlantGrow">
            <a:extLst>
              <a:ext uri="{FF2B5EF4-FFF2-40B4-BE49-F238E27FC236}">
                <a16:creationId xmlns:a16="http://schemas.microsoft.com/office/drawing/2014/main" id="{3B14DF2E-A546-4B40-BEC8-056C6222C4B3}"/>
              </a:ext>
            </a:extLst>
          </p:cNvPr>
          <p:cNvGrpSpPr>
            <a:grpSpLocks/>
          </p:cNvGrpSpPr>
          <p:nvPr/>
        </p:nvGrpSpPr>
        <p:grpSpPr bwMode="auto">
          <a:xfrm>
            <a:off x="2505919" y="1091578"/>
            <a:ext cx="457200" cy="457200"/>
            <a:chOff x="1682" y="0"/>
            <a:chExt cx="4316" cy="4320"/>
          </a:xfrm>
        </p:grpSpPr>
        <p:sp>
          <p:nvSpPr>
            <p:cNvPr id="259" name="AutoShape 28">
              <a:extLst>
                <a:ext uri="{FF2B5EF4-FFF2-40B4-BE49-F238E27FC236}">
                  <a16:creationId xmlns:a16="http://schemas.microsoft.com/office/drawing/2014/main" id="{894665C7-2AD9-474E-B237-5056677DBABE}"/>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sp>
          <p:nvSpPr>
            <p:cNvPr id="260" name="Freeform 30">
              <a:extLst>
                <a:ext uri="{FF2B5EF4-FFF2-40B4-BE49-F238E27FC236}">
                  <a16:creationId xmlns:a16="http://schemas.microsoft.com/office/drawing/2014/main" id="{827BFDB1-582F-4902-B249-A7B013098109}"/>
                </a:ext>
              </a:extLst>
            </p:cNvPr>
            <p:cNvSpPr>
              <a:spLocks noEditPoints="1"/>
            </p:cNvSpPr>
            <p:nvPr/>
          </p:nvSpPr>
          <p:spPr bwMode="auto">
            <a:xfrm>
              <a:off x="2742" y="911"/>
              <a:ext cx="2209" cy="2625"/>
            </a:xfrm>
            <a:custGeom>
              <a:avLst/>
              <a:gdLst>
                <a:gd name="T0" fmla="*/ 288 w 1179"/>
                <a:gd name="T1" fmla="*/ 867 h 1400"/>
                <a:gd name="T2" fmla="*/ 93 w 1179"/>
                <a:gd name="T3" fmla="*/ 749 h 1400"/>
                <a:gd name="T4" fmla="*/ 55 w 1179"/>
                <a:gd name="T5" fmla="*/ 426 h 1400"/>
                <a:gd name="T6" fmla="*/ 352 w 1179"/>
                <a:gd name="T7" fmla="*/ 560 h 1400"/>
                <a:gd name="T8" fmla="*/ 405 w 1179"/>
                <a:gd name="T9" fmla="*/ 790 h 1400"/>
                <a:gd name="T10" fmla="*/ 285 w 1179"/>
                <a:gd name="T11" fmla="*/ 639 h 1400"/>
                <a:gd name="T12" fmla="*/ 236 w 1179"/>
                <a:gd name="T13" fmla="*/ 615 h 1400"/>
                <a:gd name="T14" fmla="*/ 202 w 1179"/>
                <a:gd name="T15" fmla="*/ 626 h 1400"/>
                <a:gd name="T16" fmla="*/ 174 w 1179"/>
                <a:gd name="T17" fmla="*/ 666 h 1400"/>
                <a:gd name="T18" fmla="*/ 184 w 1179"/>
                <a:gd name="T19" fmla="*/ 712 h 1400"/>
                <a:gd name="T20" fmla="*/ 288 w 1179"/>
                <a:gd name="T21" fmla="*/ 867 h 1400"/>
                <a:gd name="T22" fmla="*/ 950 w 1179"/>
                <a:gd name="T23" fmla="*/ 663 h 1400"/>
                <a:gd name="T24" fmla="*/ 926 w 1179"/>
                <a:gd name="T25" fmla="*/ 666 h 1400"/>
                <a:gd name="T26" fmla="*/ 633 w 1179"/>
                <a:gd name="T27" fmla="*/ 1036 h 1400"/>
                <a:gd name="T28" fmla="*/ 633 w 1179"/>
                <a:gd name="T29" fmla="*/ 1036 h 1400"/>
                <a:gd name="T30" fmla="*/ 604 w 1179"/>
                <a:gd name="T31" fmla="*/ 346 h 1400"/>
                <a:gd name="T32" fmla="*/ 586 w 1179"/>
                <a:gd name="T33" fmla="*/ 328 h 1400"/>
                <a:gd name="T34" fmla="*/ 567 w 1179"/>
                <a:gd name="T35" fmla="*/ 346 h 1400"/>
                <a:gd name="T36" fmla="*/ 541 w 1179"/>
                <a:gd name="T37" fmla="*/ 1033 h 1400"/>
                <a:gd name="T38" fmla="*/ 250 w 1179"/>
                <a:gd name="T39" fmla="*/ 666 h 1400"/>
                <a:gd name="T40" fmla="*/ 226 w 1179"/>
                <a:gd name="T41" fmla="*/ 663 h 1400"/>
                <a:gd name="T42" fmla="*/ 220 w 1179"/>
                <a:gd name="T43" fmla="*/ 687 h 1400"/>
                <a:gd name="T44" fmla="*/ 441 w 1179"/>
                <a:gd name="T45" fmla="*/ 1016 h 1400"/>
                <a:gd name="T46" fmla="*/ 534 w 1179"/>
                <a:gd name="T47" fmla="*/ 1154 h 1400"/>
                <a:gd name="T48" fmla="*/ 528 w 1179"/>
                <a:gd name="T49" fmla="*/ 1284 h 1400"/>
                <a:gd name="T50" fmla="*/ 525 w 1179"/>
                <a:gd name="T51" fmla="*/ 1336 h 1400"/>
                <a:gd name="T52" fmla="*/ 525 w 1179"/>
                <a:gd name="T53" fmla="*/ 1341 h 1400"/>
                <a:gd name="T54" fmla="*/ 588 w 1179"/>
                <a:gd name="T55" fmla="*/ 1400 h 1400"/>
                <a:gd name="T56" fmla="*/ 647 w 1179"/>
                <a:gd name="T57" fmla="*/ 1336 h 1400"/>
                <a:gd name="T58" fmla="*/ 638 w 1179"/>
                <a:gd name="T59" fmla="*/ 1160 h 1400"/>
                <a:gd name="T60" fmla="*/ 737 w 1179"/>
                <a:gd name="T61" fmla="*/ 1013 h 1400"/>
                <a:gd name="T62" fmla="*/ 764 w 1179"/>
                <a:gd name="T63" fmla="*/ 973 h 1400"/>
                <a:gd name="T64" fmla="*/ 956 w 1179"/>
                <a:gd name="T65" fmla="*/ 687 h 1400"/>
                <a:gd name="T66" fmla="*/ 950 w 1179"/>
                <a:gd name="T67" fmla="*/ 663 h 1400"/>
                <a:gd name="T68" fmla="*/ 523 w 1179"/>
                <a:gd name="T69" fmla="*/ 344 h 1400"/>
                <a:gd name="T70" fmla="*/ 524 w 1179"/>
                <a:gd name="T71" fmla="*/ 343 h 1400"/>
                <a:gd name="T72" fmla="*/ 584 w 1179"/>
                <a:gd name="T73" fmla="*/ 284 h 1400"/>
                <a:gd name="T74" fmla="*/ 589 w 1179"/>
                <a:gd name="T75" fmla="*/ 284 h 1400"/>
                <a:gd name="T76" fmla="*/ 648 w 1179"/>
                <a:gd name="T77" fmla="*/ 340 h 1400"/>
                <a:gd name="T78" fmla="*/ 648 w 1179"/>
                <a:gd name="T79" fmla="*/ 342 h 1400"/>
                <a:gd name="T80" fmla="*/ 648 w 1179"/>
                <a:gd name="T81" fmla="*/ 344 h 1400"/>
                <a:gd name="T82" fmla="*/ 656 w 1179"/>
                <a:gd name="T83" fmla="*/ 536 h 1400"/>
                <a:gd name="T84" fmla="*/ 758 w 1179"/>
                <a:gd name="T85" fmla="*/ 303 h 1400"/>
                <a:gd name="T86" fmla="*/ 586 w 1179"/>
                <a:gd name="T87" fmla="*/ 0 h 1400"/>
                <a:gd name="T88" fmla="*/ 415 w 1179"/>
                <a:gd name="T89" fmla="*/ 303 h 1400"/>
                <a:gd name="T90" fmla="*/ 516 w 1179"/>
                <a:gd name="T91" fmla="*/ 536 h 1400"/>
                <a:gd name="T92" fmla="*/ 523 w 1179"/>
                <a:gd name="T93" fmla="*/ 344 h 1400"/>
                <a:gd name="T94" fmla="*/ 1124 w 1179"/>
                <a:gd name="T95" fmla="*/ 426 h 1400"/>
                <a:gd name="T96" fmla="*/ 826 w 1179"/>
                <a:gd name="T97" fmla="*/ 560 h 1400"/>
                <a:gd name="T98" fmla="*/ 773 w 1179"/>
                <a:gd name="T99" fmla="*/ 788 h 1400"/>
                <a:gd name="T100" fmla="*/ 892 w 1179"/>
                <a:gd name="T101" fmla="*/ 639 h 1400"/>
                <a:gd name="T102" fmla="*/ 940 w 1179"/>
                <a:gd name="T103" fmla="*/ 615 h 1400"/>
                <a:gd name="T104" fmla="*/ 975 w 1179"/>
                <a:gd name="T105" fmla="*/ 626 h 1400"/>
                <a:gd name="T106" fmla="*/ 1002 w 1179"/>
                <a:gd name="T107" fmla="*/ 666 h 1400"/>
                <a:gd name="T108" fmla="*/ 992 w 1179"/>
                <a:gd name="T109" fmla="*/ 712 h 1400"/>
                <a:gd name="T110" fmla="*/ 887 w 1179"/>
                <a:gd name="T111" fmla="*/ 868 h 1400"/>
                <a:gd name="T112" fmla="*/ 1086 w 1179"/>
                <a:gd name="T113" fmla="*/ 749 h 1400"/>
                <a:gd name="T114" fmla="*/ 1124 w 1179"/>
                <a:gd name="T115" fmla="*/ 426 h 1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79" h="1400">
                  <a:moveTo>
                    <a:pt x="288" y="867"/>
                  </a:moveTo>
                  <a:cubicBezTo>
                    <a:pt x="223" y="850"/>
                    <a:pt x="142" y="816"/>
                    <a:pt x="93" y="749"/>
                  </a:cubicBezTo>
                  <a:cubicBezTo>
                    <a:pt x="0" y="623"/>
                    <a:pt x="55" y="426"/>
                    <a:pt x="55" y="426"/>
                  </a:cubicBezTo>
                  <a:cubicBezTo>
                    <a:pt x="55" y="426"/>
                    <a:pt x="259" y="434"/>
                    <a:pt x="352" y="560"/>
                  </a:cubicBezTo>
                  <a:cubicBezTo>
                    <a:pt x="403" y="631"/>
                    <a:pt x="409" y="723"/>
                    <a:pt x="405" y="790"/>
                  </a:cubicBezTo>
                  <a:cubicBezTo>
                    <a:pt x="298" y="656"/>
                    <a:pt x="286" y="640"/>
                    <a:pt x="285" y="639"/>
                  </a:cubicBezTo>
                  <a:cubicBezTo>
                    <a:pt x="273" y="624"/>
                    <a:pt x="255" y="615"/>
                    <a:pt x="236" y="615"/>
                  </a:cubicBezTo>
                  <a:cubicBezTo>
                    <a:pt x="224" y="615"/>
                    <a:pt x="212" y="619"/>
                    <a:pt x="202" y="626"/>
                  </a:cubicBezTo>
                  <a:cubicBezTo>
                    <a:pt x="187" y="635"/>
                    <a:pt x="178" y="650"/>
                    <a:pt x="174" y="666"/>
                  </a:cubicBezTo>
                  <a:cubicBezTo>
                    <a:pt x="171" y="682"/>
                    <a:pt x="175" y="699"/>
                    <a:pt x="184" y="712"/>
                  </a:cubicBezTo>
                  <a:cubicBezTo>
                    <a:pt x="226" y="775"/>
                    <a:pt x="260" y="826"/>
                    <a:pt x="288" y="867"/>
                  </a:cubicBezTo>
                  <a:close/>
                  <a:moveTo>
                    <a:pt x="950" y="663"/>
                  </a:moveTo>
                  <a:cubicBezTo>
                    <a:pt x="943" y="657"/>
                    <a:pt x="932" y="658"/>
                    <a:pt x="926" y="666"/>
                  </a:cubicBezTo>
                  <a:cubicBezTo>
                    <a:pt x="652" y="1012"/>
                    <a:pt x="634" y="1035"/>
                    <a:pt x="633" y="1036"/>
                  </a:cubicBezTo>
                  <a:cubicBezTo>
                    <a:pt x="633" y="1036"/>
                    <a:pt x="633" y="1036"/>
                    <a:pt x="633" y="1036"/>
                  </a:cubicBezTo>
                  <a:cubicBezTo>
                    <a:pt x="622" y="760"/>
                    <a:pt x="604" y="346"/>
                    <a:pt x="604" y="346"/>
                  </a:cubicBezTo>
                  <a:cubicBezTo>
                    <a:pt x="603" y="336"/>
                    <a:pt x="596" y="328"/>
                    <a:pt x="586" y="328"/>
                  </a:cubicBezTo>
                  <a:cubicBezTo>
                    <a:pt x="576" y="327"/>
                    <a:pt x="568" y="335"/>
                    <a:pt x="567" y="346"/>
                  </a:cubicBezTo>
                  <a:cubicBezTo>
                    <a:pt x="559" y="563"/>
                    <a:pt x="548" y="902"/>
                    <a:pt x="541" y="1033"/>
                  </a:cubicBezTo>
                  <a:cubicBezTo>
                    <a:pt x="258" y="677"/>
                    <a:pt x="250" y="666"/>
                    <a:pt x="250" y="666"/>
                  </a:cubicBezTo>
                  <a:cubicBezTo>
                    <a:pt x="244" y="658"/>
                    <a:pt x="234" y="657"/>
                    <a:pt x="226" y="663"/>
                  </a:cubicBezTo>
                  <a:cubicBezTo>
                    <a:pt x="217" y="668"/>
                    <a:pt x="215" y="680"/>
                    <a:pt x="220" y="687"/>
                  </a:cubicBezTo>
                  <a:cubicBezTo>
                    <a:pt x="415" y="978"/>
                    <a:pt x="441" y="1016"/>
                    <a:pt x="441" y="1016"/>
                  </a:cubicBezTo>
                  <a:cubicBezTo>
                    <a:pt x="534" y="1154"/>
                    <a:pt x="534" y="1154"/>
                    <a:pt x="534" y="1154"/>
                  </a:cubicBezTo>
                  <a:cubicBezTo>
                    <a:pt x="528" y="1324"/>
                    <a:pt x="528" y="1284"/>
                    <a:pt x="528" y="1284"/>
                  </a:cubicBezTo>
                  <a:cubicBezTo>
                    <a:pt x="525" y="1336"/>
                    <a:pt x="525" y="1336"/>
                    <a:pt x="525" y="1336"/>
                  </a:cubicBezTo>
                  <a:cubicBezTo>
                    <a:pt x="525" y="1338"/>
                    <a:pt x="525" y="1340"/>
                    <a:pt x="525" y="1341"/>
                  </a:cubicBezTo>
                  <a:cubicBezTo>
                    <a:pt x="527" y="1375"/>
                    <a:pt x="555" y="1400"/>
                    <a:pt x="588" y="1400"/>
                  </a:cubicBezTo>
                  <a:cubicBezTo>
                    <a:pt x="622" y="1398"/>
                    <a:pt x="648" y="1370"/>
                    <a:pt x="647" y="1336"/>
                  </a:cubicBezTo>
                  <a:cubicBezTo>
                    <a:pt x="638" y="1120"/>
                    <a:pt x="638" y="1160"/>
                    <a:pt x="638" y="1160"/>
                  </a:cubicBezTo>
                  <a:cubicBezTo>
                    <a:pt x="737" y="1013"/>
                    <a:pt x="737" y="1013"/>
                    <a:pt x="737" y="1013"/>
                  </a:cubicBezTo>
                  <a:cubicBezTo>
                    <a:pt x="764" y="973"/>
                    <a:pt x="764" y="973"/>
                    <a:pt x="764" y="973"/>
                  </a:cubicBezTo>
                  <a:cubicBezTo>
                    <a:pt x="956" y="687"/>
                    <a:pt x="956" y="687"/>
                    <a:pt x="956" y="687"/>
                  </a:cubicBezTo>
                  <a:cubicBezTo>
                    <a:pt x="962" y="680"/>
                    <a:pt x="960" y="668"/>
                    <a:pt x="950" y="663"/>
                  </a:cubicBezTo>
                  <a:close/>
                  <a:moveTo>
                    <a:pt x="523" y="344"/>
                  </a:moveTo>
                  <a:cubicBezTo>
                    <a:pt x="524" y="343"/>
                    <a:pt x="524" y="343"/>
                    <a:pt x="524" y="343"/>
                  </a:cubicBezTo>
                  <a:cubicBezTo>
                    <a:pt x="525" y="310"/>
                    <a:pt x="552" y="284"/>
                    <a:pt x="584" y="284"/>
                  </a:cubicBezTo>
                  <a:cubicBezTo>
                    <a:pt x="586" y="284"/>
                    <a:pt x="587" y="284"/>
                    <a:pt x="589" y="284"/>
                  </a:cubicBezTo>
                  <a:cubicBezTo>
                    <a:pt x="619" y="286"/>
                    <a:pt x="644" y="309"/>
                    <a:pt x="648" y="340"/>
                  </a:cubicBezTo>
                  <a:cubicBezTo>
                    <a:pt x="648" y="342"/>
                    <a:pt x="648" y="342"/>
                    <a:pt x="648" y="342"/>
                  </a:cubicBezTo>
                  <a:cubicBezTo>
                    <a:pt x="648" y="344"/>
                    <a:pt x="648" y="344"/>
                    <a:pt x="648" y="344"/>
                  </a:cubicBezTo>
                  <a:cubicBezTo>
                    <a:pt x="648" y="346"/>
                    <a:pt x="652" y="425"/>
                    <a:pt x="656" y="536"/>
                  </a:cubicBezTo>
                  <a:cubicBezTo>
                    <a:pt x="704" y="480"/>
                    <a:pt x="758" y="396"/>
                    <a:pt x="758" y="303"/>
                  </a:cubicBezTo>
                  <a:cubicBezTo>
                    <a:pt x="758" y="136"/>
                    <a:pt x="586" y="0"/>
                    <a:pt x="586" y="0"/>
                  </a:cubicBezTo>
                  <a:cubicBezTo>
                    <a:pt x="586" y="0"/>
                    <a:pt x="415" y="136"/>
                    <a:pt x="415" y="303"/>
                  </a:cubicBezTo>
                  <a:cubicBezTo>
                    <a:pt x="415" y="397"/>
                    <a:pt x="469" y="480"/>
                    <a:pt x="516" y="536"/>
                  </a:cubicBezTo>
                  <a:cubicBezTo>
                    <a:pt x="519" y="467"/>
                    <a:pt x="521" y="402"/>
                    <a:pt x="523" y="344"/>
                  </a:cubicBezTo>
                  <a:close/>
                  <a:moveTo>
                    <a:pt x="1124" y="426"/>
                  </a:moveTo>
                  <a:cubicBezTo>
                    <a:pt x="1124" y="426"/>
                    <a:pt x="919" y="434"/>
                    <a:pt x="826" y="560"/>
                  </a:cubicBezTo>
                  <a:cubicBezTo>
                    <a:pt x="776" y="630"/>
                    <a:pt x="769" y="720"/>
                    <a:pt x="773" y="788"/>
                  </a:cubicBezTo>
                  <a:cubicBezTo>
                    <a:pt x="806" y="747"/>
                    <a:pt x="845" y="697"/>
                    <a:pt x="892" y="639"/>
                  </a:cubicBezTo>
                  <a:cubicBezTo>
                    <a:pt x="904" y="624"/>
                    <a:pt x="921" y="615"/>
                    <a:pt x="940" y="615"/>
                  </a:cubicBezTo>
                  <a:cubicBezTo>
                    <a:pt x="953" y="615"/>
                    <a:pt x="965" y="619"/>
                    <a:pt x="975" y="626"/>
                  </a:cubicBezTo>
                  <a:cubicBezTo>
                    <a:pt x="989" y="635"/>
                    <a:pt x="999" y="650"/>
                    <a:pt x="1002" y="666"/>
                  </a:cubicBezTo>
                  <a:cubicBezTo>
                    <a:pt x="1005" y="682"/>
                    <a:pt x="1001" y="699"/>
                    <a:pt x="992" y="712"/>
                  </a:cubicBezTo>
                  <a:cubicBezTo>
                    <a:pt x="887" y="868"/>
                    <a:pt x="887" y="868"/>
                    <a:pt x="887" y="868"/>
                  </a:cubicBezTo>
                  <a:cubicBezTo>
                    <a:pt x="953" y="851"/>
                    <a:pt x="1036" y="817"/>
                    <a:pt x="1086" y="749"/>
                  </a:cubicBezTo>
                  <a:cubicBezTo>
                    <a:pt x="1179" y="623"/>
                    <a:pt x="1124" y="426"/>
                    <a:pt x="1124" y="426"/>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sp>
          <p:nvSpPr>
            <p:cNvPr id="261" name="Freeform 31">
              <a:extLst>
                <a:ext uri="{FF2B5EF4-FFF2-40B4-BE49-F238E27FC236}">
                  <a16:creationId xmlns:a16="http://schemas.microsoft.com/office/drawing/2014/main" id="{B27E98DA-4EA7-4A5B-947C-D41004A81626}"/>
                </a:ext>
              </a:extLst>
            </p:cNvPr>
            <p:cNvSpPr>
              <a:spLocks noEditPoints="1"/>
            </p:cNvSpPr>
            <p:nvPr/>
          </p:nvSpPr>
          <p:spPr bwMode="auto">
            <a:xfrm>
              <a:off x="2429" y="3203"/>
              <a:ext cx="2825" cy="658"/>
            </a:xfrm>
            <a:custGeom>
              <a:avLst/>
              <a:gdLst>
                <a:gd name="T0" fmla="*/ 1508 w 1508"/>
                <a:gd name="T1" fmla="*/ 329 h 351"/>
                <a:gd name="T2" fmla="*/ 1486 w 1508"/>
                <a:gd name="T3" fmla="*/ 351 h 351"/>
                <a:gd name="T4" fmla="*/ 1213 w 1508"/>
                <a:gd name="T5" fmla="*/ 223 h 351"/>
                <a:gd name="T6" fmla="*/ 855 w 1508"/>
                <a:gd name="T7" fmla="*/ 44 h 351"/>
                <a:gd name="T8" fmla="*/ 853 w 1508"/>
                <a:gd name="T9" fmla="*/ 0 h 351"/>
                <a:gd name="T10" fmla="*/ 1239 w 1508"/>
                <a:gd name="T11" fmla="*/ 187 h 351"/>
                <a:gd name="T12" fmla="*/ 1486 w 1508"/>
                <a:gd name="T13" fmla="*/ 307 h 351"/>
                <a:gd name="T14" fmla="*/ 1508 w 1508"/>
                <a:gd name="T15" fmla="*/ 329 h 351"/>
                <a:gd name="T16" fmla="*/ 655 w 1508"/>
                <a:gd name="T17" fmla="*/ 0 h 351"/>
                <a:gd name="T18" fmla="*/ 269 w 1508"/>
                <a:gd name="T19" fmla="*/ 187 h 351"/>
                <a:gd name="T20" fmla="*/ 22 w 1508"/>
                <a:gd name="T21" fmla="*/ 307 h 351"/>
                <a:gd name="T22" fmla="*/ 0 w 1508"/>
                <a:gd name="T23" fmla="*/ 329 h 351"/>
                <a:gd name="T24" fmla="*/ 22 w 1508"/>
                <a:gd name="T25" fmla="*/ 351 h 351"/>
                <a:gd name="T26" fmla="*/ 295 w 1508"/>
                <a:gd name="T27" fmla="*/ 223 h 351"/>
                <a:gd name="T28" fmla="*/ 653 w 1508"/>
                <a:gd name="T29" fmla="*/ 44 h 351"/>
                <a:gd name="T30" fmla="*/ 655 w 1508"/>
                <a:gd name="T31" fmla="*/ 0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351">
                  <a:moveTo>
                    <a:pt x="1508" y="329"/>
                  </a:moveTo>
                  <a:cubicBezTo>
                    <a:pt x="1508" y="341"/>
                    <a:pt x="1499" y="351"/>
                    <a:pt x="1486" y="351"/>
                  </a:cubicBezTo>
                  <a:cubicBezTo>
                    <a:pt x="1395" y="351"/>
                    <a:pt x="1311" y="292"/>
                    <a:pt x="1213" y="223"/>
                  </a:cubicBezTo>
                  <a:cubicBezTo>
                    <a:pt x="1111" y="151"/>
                    <a:pt x="998" y="71"/>
                    <a:pt x="855" y="44"/>
                  </a:cubicBezTo>
                  <a:cubicBezTo>
                    <a:pt x="854" y="28"/>
                    <a:pt x="854" y="13"/>
                    <a:pt x="853" y="0"/>
                  </a:cubicBezTo>
                  <a:cubicBezTo>
                    <a:pt x="1011" y="27"/>
                    <a:pt x="1136" y="114"/>
                    <a:pt x="1239" y="187"/>
                  </a:cubicBezTo>
                  <a:cubicBezTo>
                    <a:pt x="1330" y="251"/>
                    <a:pt x="1409" y="307"/>
                    <a:pt x="1486" y="307"/>
                  </a:cubicBezTo>
                  <a:cubicBezTo>
                    <a:pt x="1499" y="307"/>
                    <a:pt x="1508" y="317"/>
                    <a:pt x="1508" y="329"/>
                  </a:cubicBezTo>
                  <a:close/>
                  <a:moveTo>
                    <a:pt x="655" y="0"/>
                  </a:moveTo>
                  <a:cubicBezTo>
                    <a:pt x="496" y="27"/>
                    <a:pt x="372" y="114"/>
                    <a:pt x="269" y="187"/>
                  </a:cubicBezTo>
                  <a:cubicBezTo>
                    <a:pt x="178" y="251"/>
                    <a:pt x="99" y="307"/>
                    <a:pt x="22" y="307"/>
                  </a:cubicBezTo>
                  <a:cubicBezTo>
                    <a:pt x="9" y="307"/>
                    <a:pt x="0" y="317"/>
                    <a:pt x="0" y="329"/>
                  </a:cubicBezTo>
                  <a:cubicBezTo>
                    <a:pt x="0" y="341"/>
                    <a:pt x="9" y="351"/>
                    <a:pt x="22" y="351"/>
                  </a:cubicBezTo>
                  <a:cubicBezTo>
                    <a:pt x="113" y="351"/>
                    <a:pt x="197" y="292"/>
                    <a:pt x="295" y="223"/>
                  </a:cubicBezTo>
                  <a:cubicBezTo>
                    <a:pt x="397" y="151"/>
                    <a:pt x="510" y="71"/>
                    <a:pt x="653" y="44"/>
                  </a:cubicBezTo>
                  <a:cubicBezTo>
                    <a:pt x="653" y="35"/>
                    <a:pt x="654" y="21"/>
                    <a:pt x="655"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grpSp>
      <p:grpSp>
        <p:nvGrpSpPr>
          <p:cNvPr id="309" name="Group 308">
            <a:extLst>
              <a:ext uri="{FF2B5EF4-FFF2-40B4-BE49-F238E27FC236}">
                <a16:creationId xmlns:a16="http://schemas.microsoft.com/office/drawing/2014/main" id="{E41F7F00-8936-44C9-AE9D-3EEAC3E28ACE}"/>
              </a:ext>
            </a:extLst>
          </p:cNvPr>
          <p:cNvGrpSpPr>
            <a:grpSpLocks/>
          </p:cNvGrpSpPr>
          <p:nvPr>
            <p:custDataLst>
              <p:tags r:id="rId9"/>
            </p:custDataLst>
          </p:nvPr>
        </p:nvGrpSpPr>
        <p:grpSpPr>
          <a:xfrm>
            <a:off x="6673978" y="1846977"/>
            <a:ext cx="274320" cy="274320"/>
            <a:chOff x="6096000" y="3429000"/>
            <a:chExt cx="269875" cy="269875"/>
          </a:xfrm>
        </p:grpSpPr>
        <p:sp>
          <p:nvSpPr>
            <p:cNvPr id="334" name="background">
              <a:extLst>
                <a:ext uri="{FF2B5EF4-FFF2-40B4-BE49-F238E27FC236}">
                  <a16:creationId xmlns:a16="http://schemas.microsoft.com/office/drawing/2014/main" id="{71B59D08-6407-4EC1-9A7F-4301BF075B54}"/>
                </a:ext>
              </a:extLst>
            </p:cNvPr>
            <p:cNvSpPr/>
            <p:nvPr/>
          </p:nvSpPr>
          <p:spPr>
            <a:xfrm>
              <a:off x="6096000" y="3429000"/>
              <a:ext cx="269875" cy="269875"/>
            </a:xfrm>
            <a:prstGeom prst="ellipse">
              <a:avLst/>
            </a:prstGeom>
            <a:solidFill>
              <a:srgbClr val="C8C8C8">
                <a:lumMod val="100000"/>
              </a:srgbClr>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sym typeface="+mn-lt"/>
              </a:endParaRPr>
            </a:p>
          </p:txBody>
        </p:sp>
        <p:sp>
          <p:nvSpPr>
            <p:cNvPr id="335" name="arc">
              <a:extLst>
                <a:ext uri="{FF2B5EF4-FFF2-40B4-BE49-F238E27FC236}">
                  <a16:creationId xmlns:a16="http://schemas.microsoft.com/office/drawing/2014/main" id="{06FA89DD-8214-4D67-A10D-E5DFF026660F}"/>
                </a:ext>
              </a:extLst>
            </p:cNvPr>
            <p:cNvSpPr/>
            <p:nvPr/>
          </p:nvSpPr>
          <p:spPr>
            <a:xfrm>
              <a:off x="6096000" y="3429000"/>
              <a:ext cx="269875" cy="269875"/>
            </a:xfrm>
            <a:prstGeom prst="arc">
              <a:avLst>
                <a:gd name="adj1" fmla="val 16200000"/>
                <a:gd name="adj2" fmla="val 11880000"/>
              </a:avLst>
            </a:prstGeom>
            <a:solidFill>
              <a:srgbClr val="29BA74">
                <a:lumMod val="100000"/>
              </a:srgbClr>
            </a:solidFill>
            <a:ln w="9525" cap="rnd" cmpd="sng" algn="ctr">
              <a:noFill/>
              <a:prstDash val="solid"/>
              <a:round/>
            </a:ln>
            <a:effectLst/>
            <a:extLst>
              <a:ext uri="{91240B29-F687-4F45-9708-019B960494DF}">
                <a14:hiddenLine xmlns:a14="http://schemas.microsoft.com/office/drawing/2010/main" w="9525" cap="rnd" cmpd="sng" algn="ctr">
                  <a:solidFill>
                    <a:srgbClr val="7F7F7F"/>
                  </a:solidFill>
                  <a:prstDash val="solid"/>
                  <a:round/>
                </a14:hiddenLine>
              </a:ext>
            </a:extLst>
          </p:spPr>
          <p:style>
            <a:lnRef idx="1">
              <a:schemeClr val="accent1"/>
            </a:lnRef>
            <a:fillRef idx="0">
              <a:schemeClr val="accent1"/>
            </a:fillRef>
            <a:effectRef idx="0">
              <a:schemeClr val="accent1"/>
            </a:effectRef>
            <a:fontRef idx="minor">
              <a:schemeClr val="tx1"/>
            </a:fontRef>
          </p:style>
          <p:txBody>
            <a:bodyPr rtlCol="0" anchor="ctr">
              <a:noAutofit/>
            </a:bodyPr>
            <a:lstStyle/>
            <a:p>
              <a:pPr algn="ctr"/>
              <a:endParaRPr lang="en-US" sz="1559">
                <a:sym typeface="+mn-lt"/>
              </a:endParaRPr>
            </a:p>
          </p:txBody>
        </p:sp>
        <p:sp>
          <p:nvSpPr>
            <p:cNvPr id="336" name="circle">
              <a:extLst>
                <a:ext uri="{FF2B5EF4-FFF2-40B4-BE49-F238E27FC236}">
                  <a16:creationId xmlns:a16="http://schemas.microsoft.com/office/drawing/2014/main" id="{F6FD6283-56BC-4FCB-9506-36C87E190559}"/>
                </a:ext>
              </a:extLst>
            </p:cNvPr>
            <p:cNvSpPr/>
            <p:nvPr/>
          </p:nvSpPr>
          <p:spPr>
            <a:xfrm>
              <a:off x="6096000" y="3429000"/>
              <a:ext cx="269875" cy="269875"/>
            </a:xfrm>
            <a:prstGeom prst="ellipse">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DC0532"/>
                  </a:solidFill>
                </a14:hiddenFill>
              </a:ex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sym typeface="+mn-lt"/>
              </a:endParaRPr>
            </a:p>
          </p:txBody>
        </p:sp>
      </p:grpSp>
      <p:grpSp>
        <p:nvGrpSpPr>
          <p:cNvPr id="310" name="Group 309">
            <a:extLst>
              <a:ext uri="{FF2B5EF4-FFF2-40B4-BE49-F238E27FC236}">
                <a16:creationId xmlns:a16="http://schemas.microsoft.com/office/drawing/2014/main" id="{B9439FE9-09AF-406C-8C74-E7B55A1F7705}"/>
              </a:ext>
            </a:extLst>
          </p:cNvPr>
          <p:cNvGrpSpPr>
            <a:grpSpLocks/>
          </p:cNvGrpSpPr>
          <p:nvPr>
            <p:custDataLst>
              <p:tags r:id="rId10"/>
            </p:custDataLst>
          </p:nvPr>
        </p:nvGrpSpPr>
        <p:grpSpPr>
          <a:xfrm>
            <a:off x="6673978" y="2510938"/>
            <a:ext cx="274320" cy="274320"/>
            <a:chOff x="6096000" y="3429000"/>
            <a:chExt cx="269875" cy="269875"/>
          </a:xfrm>
        </p:grpSpPr>
        <p:sp>
          <p:nvSpPr>
            <p:cNvPr id="331" name="background">
              <a:extLst>
                <a:ext uri="{FF2B5EF4-FFF2-40B4-BE49-F238E27FC236}">
                  <a16:creationId xmlns:a16="http://schemas.microsoft.com/office/drawing/2014/main" id="{8111490A-F030-4B53-A44B-9A15267C4DE8}"/>
                </a:ext>
              </a:extLst>
            </p:cNvPr>
            <p:cNvSpPr/>
            <p:nvPr/>
          </p:nvSpPr>
          <p:spPr>
            <a:xfrm>
              <a:off x="6096000" y="3429000"/>
              <a:ext cx="269875" cy="269875"/>
            </a:xfrm>
            <a:prstGeom prst="ellipse">
              <a:avLst/>
            </a:prstGeom>
            <a:solidFill>
              <a:srgbClr val="C8C8C8">
                <a:lumMod val="100000"/>
              </a:srgbClr>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sym typeface="+mn-lt"/>
              </a:endParaRPr>
            </a:p>
          </p:txBody>
        </p:sp>
        <p:sp>
          <p:nvSpPr>
            <p:cNvPr id="332" name="arc">
              <a:extLst>
                <a:ext uri="{FF2B5EF4-FFF2-40B4-BE49-F238E27FC236}">
                  <a16:creationId xmlns:a16="http://schemas.microsoft.com/office/drawing/2014/main" id="{68718447-DA46-4FAC-99A5-90051FDF5916}"/>
                </a:ext>
              </a:extLst>
            </p:cNvPr>
            <p:cNvSpPr/>
            <p:nvPr/>
          </p:nvSpPr>
          <p:spPr>
            <a:xfrm>
              <a:off x="6096000" y="3429000"/>
              <a:ext cx="269875" cy="269875"/>
            </a:xfrm>
            <a:prstGeom prst="arc">
              <a:avLst>
                <a:gd name="adj1" fmla="val 16200000"/>
                <a:gd name="adj2" fmla="val 11880000"/>
              </a:avLst>
            </a:prstGeom>
            <a:solidFill>
              <a:srgbClr val="29BA74">
                <a:lumMod val="100000"/>
              </a:srgbClr>
            </a:solidFill>
            <a:ln w="9525" cap="rnd" cmpd="sng" algn="ctr">
              <a:noFill/>
              <a:prstDash val="solid"/>
              <a:round/>
            </a:ln>
            <a:effectLst/>
            <a:extLst>
              <a:ext uri="{91240B29-F687-4F45-9708-019B960494DF}">
                <a14:hiddenLine xmlns:a14="http://schemas.microsoft.com/office/drawing/2010/main" w="9525" cap="rnd" cmpd="sng" algn="ctr">
                  <a:solidFill>
                    <a:srgbClr val="7F7F7F"/>
                  </a:solidFill>
                  <a:prstDash val="solid"/>
                  <a:round/>
                </a14:hiddenLine>
              </a:ext>
            </a:extLst>
          </p:spPr>
          <p:style>
            <a:lnRef idx="1">
              <a:schemeClr val="accent1"/>
            </a:lnRef>
            <a:fillRef idx="0">
              <a:schemeClr val="accent1"/>
            </a:fillRef>
            <a:effectRef idx="0">
              <a:schemeClr val="accent1"/>
            </a:effectRef>
            <a:fontRef idx="minor">
              <a:schemeClr val="tx1"/>
            </a:fontRef>
          </p:style>
          <p:txBody>
            <a:bodyPr rtlCol="0" anchor="ctr">
              <a:noAutofit/>
            </a:bodyPr>
            <a:lstStyle/>
            <a:p>
              <a:pPr algn="ctr"/>
              <a:endParaRPr lang="en-US" sz="1559">
                <a:sym typeface="+mn-lt"/>
              </a:endParaRPr>
            </a:p>
          </p:txBody>
        </p:sp>
        <p:sp>
          <p:nvSpPr>
            <p:cNvPr id="333" name="circle">
              <a:extLst>
                <a:ext uri="{FF2B5EF4-FFF2-40B4-BE49-F238E27FC236}">
                  <a16:creationId xmlns:a16="http://schemas.microsoft.com/office/drawing/2014/main" id="{4369C9B0-A767-4C44-8DCF-52DBA27E0CCA}"/>
                </a:ext>
              </a:extLst>
            </p:cNvPr>
            <p:cNvSpPr/>
            <p:nvPr/>
          </p:nvSpPr>
          <p:spPr>
            <a:xfrm>
              <a:off x="6096000" y="3429000"/>
              <a:ext cx="269875" cy="269875"/>
            </a:xfrm>
            <a:prstGeom prst="ellipse">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DC0532"/>
                  </a:solidFill>
                </a14:hiddenFill>
              </a:ex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sym typeface="+mn-lt"/>
              </a:endParaRPr>
            </a:p>
          </p:txBody>
        </p:sp>
      </p:grpSp>
      <p:grpSp>
        <p:nvGrpSpPr>
          <p:cNvPr id="311" name="Group 310">
            <a:extLst>
              <a:ext uri="{FF2B5EF4-FFF2-40B4-BE49-F238E27FC236}">
                <a16:creationId xmlns:a16="http://schemas.microsoft.com/office/drawing/2014/main" id="{B52A5DCB-900B-40B6-93A8-E542F7F6F3B3}"/>
              </a:ext>
            </a:extLst>
          </p:cNvPr>
          <p:cNvGrpSpPr>
            <a:grpSpLocks/>
          </p:cNvGrpSpPr>
          <p:nvPr>
            <p:custDataLst>
              <p:tags r:id="rId11"/>
            </p:custDataLst>
          </p:nvPr>
        </p:nvGrpSpPr>
        <p:grpSpPr>
          <a:xfrm>
            <a:off x="6673978" y="3216587"/>
            <a:ext cx="274320" cy="274320"/>
            <a:chOff x="6096000" y="3429000"/>
            <a:chExt cx="269875" cy="269875"/>
          </a:xfrm>
        </p:grpSpPr>
        <p:sp>
          <p:nvSpPr>
            <p:cNvPr id="328" name="background">
              <a:extLst>
                <a:ext uri="{FF2B5EF4-FFF2-40B4-BE49-F238E27FC236}">
                  <a16:creationId xmlns:a16="http://schemas.microsoft.com/office/drawing/2014/main" id="{23FAA0B7-EB8C-4694-85C7-10E319FBEF4D}"/>
                </a:ext>
              </a:extLst>
            </p:cNvPr>
            <p:cNvSpPr/>
            <p:nvPr/>
          </p:nvSpPr>
          <p:spPr>
            <a:xfrm>
              <a:off x="6096000" y="3429000"/>
              <a:ext cx="269875" cy="269875"/>
            </a:xfrm>
            <a:prstGeom prst="ellipse">
              <a:avLst/>
            </a:prstGeom>
            <a:solidFill>
              <a:srgbClr val="C8C8C8">
                <a:lumMod val="100000"/>
              </a:srgbClr>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sym typeface="+mn-lt"/>
              </a:endParaRPr>
            </a:p>
          </p:txBody>
        </p:sp>
        <p:sp>
          <p:nvSpPr>
            <p:cNvPr id="329" name="arc">
              <a:extLst>
                <a:ext uri="{FF2B5EF4-FFF2-40B4-BE49-F238E27FC236}">
                  <a16:creationId xmlns:a16="http://schemas.microsoft.com/office/drawing/2014/main" id="{2B97EE15-CDCC-451B-9669-F71063879E3B}"/>
                </a:ext>
              </a:extLst>
            </p:cNvPr>
            <p:cNvSpPr/>
            <p:nvPr/>
          </p:nvSpPr>
          <p:spPr>
            <a:xfrm>
              <a:off x="6096000" y="3429000"/>
              <a:ext cx="269875" cy="269875"/>
            </a:xfrm>
            <a:prstGeom prst="arc">
              <a:avLst>
                <a:gd name="adj1" fmla="val 16200000"/>
                <a:gd name="adj2" fmla="val 11880000"/>
              </a:avLst>
            </a:prstGeom>
            <a:solidFill>
              <a:srgbClr val="29BA74">
                <a:lumMod val="100000"/>
              </a:srgbClr>
            </a:solidFill>
            <a:ln w="9525" cap="rnd" cmpd="sng" algn="ctr">
              <a:noFill/>
              <a:prstDash val="solid"/>
              <a:round/>
            </a:ln>
            <a:effectLst/>
            <a:extLst>
              <a:ext uri="{91240B29-F687-4F45-9708-019B960494DF}">
                <a14:hiddenLine xmlns:a14="http://schemas.microsoft.com/office/drawing/2010/main" w="9525" cap="rnd" cmpd="sng" algn="ctr">
                  <a:solidFill>
                    <a:srgbClr val="7F7F7F"/>
                  </a:solidFill>
                  <a:prstDash val="solid"/>
                  <a:round/>
                </a14:hiddenLine>
              </a:ext>
            </a:extLst>
          </p:spPr>
          <p:style>
            <a:lnRef idx="1">
              <a:schemeClr val="accent1"/>
            </a:lnRef>
            <a:fillRef idx="0">
              <a:schemeClr val="accent1"/>
            </a:fillRef>
            <a:effectRef idx="0">
              <a:schemeClr val="accent1"/>
            </a:effectRef>
            <a:fontRef idx="minor">
              <a:schemeClr val="tx1"/>
            </a:fontRef>
          </p:style>
          <p:txBody>
            <a:bodyPr rtlCol="0" anchor="ctr">
              <a:noAutofit/>
            </a:bodyPr>
            <a:lstStyle/>
            <a:p>
              <a:pPr algn="ctr"/>
              <a:endParaRPr lang="en-US" sz="1559">
                <a:sym typeface="+mn-lt"/>
              </a:endParaRPr>
            </a:p>
          </p:txBody>
        </p:sp>
        <p:sp>
          <p:nvSpPr>
            <p:cNvPr id="330" name="circle">
              <a:extLst>
                <a:ext uri="{FF2B5EF4-FFF2-40B4-BE49-F238E27FC236}">
                  <a16:creationId xmlns:a16="http://schemas.microsoft.com/office/drawing/2014/main" id="{647DBA3C-745B-4BC7-9C1D-F55C618B77BC}"/>
                </a:ext>
              </a:extLst>
            </p:cNvPr>
            <p:cNvSpPr/>
            <p:nvPr/>
          </p:nvSpPr>
          <p:spPr>
            <a:xfrm>
              <a:off x="6096000" y="3429000"/>
              <a:ext cx="269875" cy="269875"/>
            </a:xfrm>
            <a:prstGeom prst="ellipse">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DC0532"/>
                  </a:solidFill>
                </a14:hiddenFill>
              </a:ex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sym typeface="+mn-lt"/>
              </a:endParaRPr>
            </a:p>
          </p:txBody>
        </p:sp>
      </p:grpSp>
      <p:grpSp>
        <p:nvGrpSpPr>
          <p:cNvPr id="312" name="Group 311">
            <a:extLst>
              <a:ext uri="{FF2B5EF4-FFF2-40B4-BE49-F238E27FC236}">
                <a16:creationId xmlns:a16="http://schemas.microsoft.com/office/drawing/2014/main" id="{75B58F2C-5942-4ED5-8D54-F555EAAD55F3}"/>
              </a:ext>
            </a:extLst>
          </p:cNvPr>
          <p:cNvGrpSpPr>
            <a:grpSpLocks/>
          </p:cNvGrpSpPr>
          <p:nvPr>
            <p:custDataLst>
              <p:tags r:id="rId12"/>
            </p:custDataLst>
          </p:nvPr>
        </p:nvGrpSpPr>
        <p:grpSpPr>
          <a:xfrm>
            <a:off x="6673978" y="4086588"/>
            <a:ext cx="274320" cy="274320"/>
            <a:chOff x="6096000" y="3429000"/>
            <a:chExt cx="269875" cy="269875"/>
          </a:xfrm>
        </p:grpSpPr>
        <p:sp>
          <p:nvSpPr>
            <p:cNvPr id="325" name="background">
              <a:extLst>
                <a:ext uri="{FF2B5EF4-FFF2-40B4-BE49-F238E27FC236}">
                  <a16:creationId xmlns:a16="http://schemas.microsoft.com/office/drawing/2014/main" id="{F3E2F97A-4FEE-416C-BA7F-489E339DC444}"/>
                </a:ext>
              </a:extLst>
            </p:cNvPr>
            <p:cNvSpPr/>
            <p:nvPr/>
          </p:nvSpPr>
          <p:spPr>
            <a:xfrm>
              <a:off x="6096000" y="3429000"/>
              <a:ext cx="269875" cy="269875"/>
            </a:xfrm>
            <a:prstGeom prst="ellipse">
              <a:avLst/>
            </a:prstGeom>
            <a:solidFill>
              <a:srgbClr val="C8C8C8">
                <a:lumMod val="100000"/>
              </a:srgbClr>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sym typeface="+mn-lt"/>
              </a:endParaRPr>
            </a:p>
          </p:txBody>
        </p:sp>
        <p:sp>
          <p:nvSpPr>
            <p:cNvPr id="326" name="arc">
              <a:extLst>
                <a:ext uri="{FF2B5EF4-FFF2-40B4-BE49-F238E27FC236}">
                  <a16:creationId xmlns:a16="http://schemas.microsoft.com/office/drawing/2014/main" id="{DD7EE672-23D5-4EA4-A091-87C4917C2B49}"/>
                </a:ext>
              </a:extLst>
            </p:cNvPr>
            <p:cNvSpPr/>
            <p:nvPr/>
          </p:nvSpPr>
          <p:spPr>
            <a:xfrm>
              <a:off x="6096000" y="3429000"/>
              <a:ext cx="269875" cy="269875"/>
            </a:xfrm>
            <a:prstGeom prst="arc">
              <a:avLst>
                <a:gd name="adj1" fmla="val 16200000"/>
                <a:gd name="adj2" fmla="val 11880000"/>
              </a:avLst>
            </a:prstGeom>
            <a:solidFill>
              <a:srgbClr val="29BA74">
                <a:lumMod val="100000"/>
              </a:srgbClr>
            </a:solidFill>
            <a:ln w="9525" cap="rnd" cmpd="sng" algn="ctr">
              <a:noFill/>
              <a:prstDash val="solid"/>
              <a:round/>
            </a:ln>
            <a:effectLst/>
            <a:extLst>
              <a:ext uri="{91240B29-F687-4F45-9708-019B960494DF}">
                <a14:hiddenLine xmlns:a14="http://schemas.microsoft.com/office/drawing/2010/main" w="9525" cap="rnd" cmpd="sng" algn="ctr">
                  <a:solidFill>
                    <a:srgbClr val="7F7F7F"/>
                  </a:solidFill>
                  <a:prstDash val="solid"/>
                  <a:round/>
                </a14:hiddenLine>
              </a:ext>
            </a:extLst>
          </p:spPr>
          <p:style>
            <a:lnRef idx="1">
              <a:schemeClr val="accent1"/>
            </a:lnRef>
            <a:fillRef idx="0">
              <a:schemeClr val="accent1"/>
            </a:fillRef>
            <a:effectRef idx="0">
              <a:schemeClr val="accent1"/>
            </a:effectRef>
            <a:fontRef idx="minor">
              <a:schemeClr val="tx1"/>
            </a:fontRef>
          </p:style>
          <p:txBody>
            <a:bodyPr rtlCol="0" anchor="ctr">
              <a:noAutofit/>
            </a:bodyPr>
            <a:lstStyle/>
            <a:p>
              <a:pPr algn="ctr"/>
              <a:endParaRPr lang="en-US" sz="1559">
                <a:sym typeface="+mn-lt"/>
              </a:endParaRPr>
            </a:p>
          </p:txBody>
        </p:sp>
        <p:sp>
          <p:nvSpPr>
            <p:cNvPr id="327" name="circle">
              <a:extLst>
                <a:ext uri="{FF2B5EF4-FFF2-40B4-BE49-F238E27FC236}">
                  <a16:creationId xmlns:a16="http://schemas.microsoft.com/office/drawing/2014/main" id="{0D216370-95C8-4E3F-80A3-27DA9DEED966}"/>
                </a:ext>
              </a:extLst>
            </p:cNvPr>
            <p:cNvSpPr/>
            <p:nvPr/>
          </p:nvSpPr>
          <p:spPr>
            <a:xfrm>
              <a:off x="6096000" y="3429000"/>
              <a:ext cx="269875" cy="269875"/>
            </a:xfrm>
            <a:prstGeom prst="ellipse">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DC0532"/>
                  </a:solidFill>
                </a14:hiddenFill>
              </a:ex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sym typeface="+mn-lt"/>
              </a:endParaRPr>
            </a:p>
          </p:txBody>
        </p:sp>
      </p:grpSp>
      <p:grpSp>
        <p:nvGrpSpPr>
          <p:cNvPr id="313" name="Group 312">
            <a:extLst>
              <a:ext uri="{FF2B5EF4-FFF2-40B4-BE49-F238E27FC236}">
                <a16:creationId xmlns:a16="http://schemas.microsoft.com/office/drawing/2014/main" id="{0FCAD4E5-DBFC-4576-BCA5-4DDC24F3DE52}"/>
              </a:ext>
            </a:extLst>
          </p:cNvPr>
          <p:cNvGrpSpPr>
            <a:grpSpLocks/>
          </p:cNvGrpSpPr>
          <p:nvPr>
            <p:custDataLst>
              <p:tags r:id="rId13"/>
            </p:custDataLst>
          </p:nvPr>
        </p:nvGrpSpPr>
        <p:grpSpPr>
          <a:xfrm>
            <a:off x="6673978" y="4676705"/>
            <a:ext cx="274320" cy="274320"/>
            <a:chOff x="6096000" y="3429000"/>
            <a:chExt cx="269875" cy="269875"/>
          </a:xfrm>
        </p:grpSpPr>
        <p:sp>
          <p:nvSpPr>
            <p:cNvPr id="322" name="background">
              <a:extLst>
                <a:ext uri="{FF2B5EF4-FFF2-40B4-BE49-F238E27FC236}">
                  <a16:creationId xmlns:a16="http://schemas.microsoft.com/office/drawing/2014/main" id="{7EE6C4D6-9085-4739-9D5E-15C2F78342F3}"/>
                </a:ext>
              </a:extLst>
            </p:cNvPr>
            <p:cNvSpPr/>
            <p:nvPr/>
          </p:nvSpPr>
          <p:spPr>
            <a:xfrm>
              <a:off x="6096000" y="3429000"/>
              <a:ext cx="269875" cy="269875"/>
            </a:xfrm>
            <a:prstGeom prst="ellipse">
              <a:avLst/>
            </a:prstGeom>
            <a:solidFill>
              <a:srgbClr val="C8C8C8">
                <a:lumMod val="100000"/>
              </a:srgbClr>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sym typeface="+mn-lt"/>
              </a:endParaRPr>
            </a:p>
          </p:txBody>
        </p:sp>
        <p:sp>
          <p:nvSpPr>
            <p:cNvPr id="323" name="arc">
              <a:extLst>
                <a:ext uri="{FF2B5EF4-FFF2-40B4-BE49-F238E27FC236}">
                  <a16:creationId xmlns:a16="http://schemas.microsoft.com/office/drawing/2014/main" id="{226CEDC0-D116-4C23-BCC2-94377B23654E}"/>
                </a:ext>
              </a:extLst>
            </p:cNvPr>
            <p:cNvSpPr/>
            <p:nvPr/>
          </p:nvSpPr>
          <p:spPr>
            <a:xfrm>
              <a:off x="6096000" y="3429000"/>
              <a:ext cx="269875" cy="269875"/>
            </a:xfrm>
            <a:prstGeom prst="arc">
              <a:avLst>
                <a:gd name="adj1" fmla="val 16200000"/>
                <a:gd name="adj2" fmla="val 11880000"/>
              </a:avLst>
            </a:prstGeom>
            <a:solidFill>
              <a:srgbClr val="29BA74">
                <a:lumMod val="100000"/>
              </a:srgbClr>
            </a:solidFill>
            <a:ln w="9525" cap="rnd" cmpd="sng" algn="ctr">
              <a:noFill/>
              <a:prstDash val="solid"/>
              <a:round/>
            </a:ln>
            <a:effectLst/>
            <a:extLst>
              <a:ext uri="{91240B29-F687-4F45-9708-019B960494DF}">
                <a14:hiddenLine xmlns:a14="http://schemas.microsoft.com/office/drawing/2010/main" w="9525" cap="rnd" cmpd="sng" algn="ctr">
                  <a:solidFill>
                    <a:srgbClr val="7F7F7F"/>
                  </a:solidFill>
                  <a:prstDash val="solid"/>
                  <a:round/>
                </a14:hiddenLine>
              </a:ext>
            </a:extLst>
          </p:spPr>
          <p:style>
            <a:lnRef idx="1">
              <a:schemeClr val="accent1"/>
            </a:lnRef>
            <a:fillRef idx="0">
              <a:schemeClr val="accent1"/>
            </a:fillRef>
            <a:effectRef idx="0">
              <a:schemeClr val="accent1"/>
            </a:effectRef>
            <a:fontRef idx="minor">
              <a:schemeClr val="tx1"/>
            </a:fontRef>
          </p:style>
          <p:txBody>
            <a:bodyPr rtlCol="0" anchor="ctr">
              <a:noAutofit/>
            </a:bodyPr>
            <a:lstStyle/>
            <a:p>
              <a:pPr algn="ctr"/>
              <a:endParaRPr lang="en-US" sz="1559">
                <a:sym typeface="+mn-lt"/>
              </a:endParaRPr>
            </a:p>
          </p:txBody>
        </p:sp>
        <p:sp>
          <p:nvSpPr>
            <p:cNvPr id="324" name="circle">
              <a:extLst>
                <a:ext uri="{FF2B5EF4-FFF2-40B4-BE49-F238E27FC236}">
                  <a16:creationId xmlns:a16="http://schemas.microsoft.com/office/drawing/2014/main" id="{ABD2D4C7-1B08-4A1E-8E18-D6B849AF437A}"/>
                </a:ext>
              </a:extLst>
            </p:cNvPr>
            <p:cNvSpPr/>
            <p:nvPr/>
          </p:nvSpPr>
          <p:spPr>
            <a:xfrm>
              <a:off x="6096000" y="3429000"/>
              <a:ext cx="269875" cy="269875"/>
            </a:xfrm>
            <a:prstGeom prst="ellipse">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DC0532"/>
                  </a:solidFill>
                </a14:hiddenFill>
              </a:ex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sym typeface="+mn-lt"/>
              </a:endParaRPr>
            </a:p>
          </p:txBody>
        </p:sp>
      </p:grpSp>
      <p:grpSp>
        <p:nvGrpSpPr>
          <p:cNvPr id="314" name="Group 313">
            <a:extLst>
              <a:ext uri="{FF2B5EF4-FFF2-40B4-BE49-F238E27FC236}">
                <a16:creationId xmlns:a16="http://schemas.microsoft.com/office/drawing/2014/main" id="{FCAC9570-5559-495C-9233-A64A9FE8562E}"/>
              </a:ext>
            </a:extLst>
          </p:cNvPr>
          <p:cNvGrpSpPr>
            <a:grpSpLocks/>
          </p:cNvGrpSpPr>
          <p:nvPr>
            <p:custDataLst>
              <p:tags r:id="rId14"/>
            </p:custDataLst>
          </p:nvPr>
        </p:nvGrpSpPr>
        <p:grpSpPr>
          <a:xfrm>
            <a:off x="6673976" y="5562197"/>
            <a:ext cx="274320" cy="274320"/>
            <a:chOff x="6096000" y="3429000"/>
            <a:chExt cx="269875" cy="269875"/>
          </a:xfrm>
        </p:grpSpPr>
        <p:sp>
          <p:nvSpPr>
            <p:cNvPr id="319" name="background">
              <a:extLst>
                <a:ext uri="{FF2B5EF4-FFF2-40B4-BE49-F238E27FC236}">
                  <a16:creationId xmlns:a16="http://schemas.microsoft.com/office/drawing/2014/main" id="{94394A12-E793-42CF-8D57-FB2ADE5A1C34}"/>
                </a:ext>
              </a:extLst>
            </p:cNvPr>
            <p:cNvSpPr/>
            <p:nvPr/>
          </p:nvSpPr>
          <p:spPr>
            <a:xfrm>
              <a:off x="6096000" y="3429000"/>
              <a:ext cx="269875" cy="269875"/>
            </a:xfrm>
            <a:prstGeom prst="ellipse">
              <a:avLst/>
            </a:prstGeom>
            <a:solidFill>
              <a:srgbClr val="C8C8C8">
                <a:lumMod val="100000"/>
              </a:srgbClr>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sym typeface="+mn-lt"/>
              </a:endParaRPr>
            </a:p>
          </p:txBody>
        </p:sp>
        <p:sp>
          <p:nvSpPr>
            <p:cNvPr id="320" name="arc">
              <a:extLst>
                <a:ext uri="{FF2B5EF4-FFF2-40B4-BE49-F238E27FC236}">
                  <a16:creationId xmlns:a16="http://schemas.microsoft.com/office/drawing/2014/main" id="{718D47C5-88FF-4FBE-B2D6-CA95CC032C1E}"/>
                </a:ext>
              </a:extLst>
            </p:cNvPr>
            <p:cNvSpPr/>
            <p:nvPr/>
          </p:nvSpPr>
          <p:spPr>
            <a:xfrm>
              <a:off x="6096000" y="3429000"/>
              <a:ext cx="269875" cy="269875"/>
            </a:xfrm>
            <a:prstGeom prst="arc">
              <a:avLst>
                <a:gd name="adj1" fmla="val 16200000"/>
                <a:gd name="adj2" fmla="val 11880000"/>
              </a:avLst>
            </a:prstGeom>
            <a:solidFill>
              <a:srgbClr val="29BA74">
                <a:lumMod val="100000"/>
              </a:srgbClr>
            </a:solidFill>
            <a:ln w="9525" cap="rnd" cmpd="sng" algn="ctr">
              <a:noFill/>
              <a:prstDash val="solid"/>
              <a:round/>
            </a:ln>
            <a:effectLst/>
            <a:extLst>
              <a:ext uri="{91240B29-F687-4F45-9708-019B960494DF}">
                <a14:hiddenLine xmlns:a14="http://schemas.microsoft.com/office/drawing/2010/main" w="9525" cap="rnd" cmpd="sng" algn="ctr">
                  <a:solidFill>
                    <a:srgbClr val="7F7F7F"/>
                  </a:solidFill>
                  <a:prstDash val="solid"/>
                  <a:round/>
                </a14:hiddenLine>
              </a:ext>
            </a:extLst>
          </p:spPr>
          <p:style>
            <a:lnRef idx="1">
              <a:schemeClr val="accent1"/>
            </a:lnRef>
            <a:fillRef idx="0">
              <a:schemeClr val="accent1"/>
            </a:fillRef>
            <a:effectRef idx="0">
              <a:schemeClr val="accent1"/>
            </a:effectRef>
            <a:fontRef idx="minor">
              <a:schemeClr val="tx1"/>
            </a:fontRef>
          </p:style>
          <p:txBody>
            <a:bodyPr rtlCol="0" anchor="ctr">
              <a:noAutofit/>
            </a:bodyPr>
            <a:lstStyle/>
            <a:p>
              <a:pPr algn="ctr"/>
              <a:endParaRPr lang="en-US" sz="1559">
                <a:sym typeface="+mn-lt"/>
              </a:endParaRPr>
            </a:p>
          </p:txBody>
        </p:sp>
        <p:sp>
          <p:nvSpPr>
            <p:cNvPr id="321" name="circle">
              <a:extLst>
                <a:ext uri="{FF2B5EF4-FFF2-40B4-BE49-F238E27FC236}">
                  <a16:creationId xmlns:a16="http://schemas.microsoft.com/office/drawing/2014/main" id="{02615D70-3761-46A1-9ED6-FBD0787C3FF8}"/>
                </a:ext>
              </a:extLst>
            </p:cNvPr>
            <p:cNvSpPr/>
            <p:nvPr/>
          </p:nvSpPr>
          <p:spPr>
            <a:xfrm>
              <a:off x="6096000" y="3429000"/>
              <a:ext cx="269875" cy="269875"/>
            </a:xfrm>
            <a:prstGeom prst="ellipse">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DC0532"/>
                  </a:solidFill>
                </a14:hiddenFill>
              </a:ex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sym typeface="+mn-lt"/>
              </a:endParaRPr>
            </a:p>
          </p:txBody>
        </p:sp>
      </p:grpSp>
      <p:grpSp>
        <p:nvGrpSpPr>
          <p:cNvPr id="315" name="bcgIcons_PlantGrow">
            <a:extLst>
              <a:ext uri="{FF2B5EF4-FFF2-40B4-BE49-F238E27FC236}">
                <a16:creationId xmlns:a16="http://schemas.microsoft.com/office/drawing/2014/main" id="{A83F1EC2-8B4B-4292-910F-37CA5F48CAD4}"/>
              </a:ext>
            </a:extLst>
          </p:cNvPr>
          <p:cNvGrpSpPr>
            <a:grpSpLocks/>
          </p:cNvGrpSpPr>
          <p:nvPr/>
        </p:nvGrpSpPr>
        <p:grpSpPr bwMode="auto">
          <a:xfrm>
            <a:off x="6582538" y="1091578"/>
            <a:ext cx="457200" cy="457200"/>
            <a:chOff x="1682" y="0"/>
            <a:chExt cx="4316" cy="4320"/>
          </a:xfrm>
        </p:grpSpPr>
        <p:sp>
          <p:nvSpPr>
            <p:cNvPr id="316" name="AutoShape 28">
              <a:extLst>
                <a:ext uri="{FF2B5EF4-FFF2-40B4-BE49-F238E27FC236}">
                  <a16:creationId xmlns:a16="http://schemas.microsoft.com/office/drawing/2014/main" id="{9C6ACBE1-3D7D-481D-9435-FE425E3DBCD1}"/>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sp>
          <p:nvSpPr>
            <p:cNvPr id="317" name="Freeform 30">
              <a:extLst>
                <a:ext uri="{FF2B5EF4-FFF2-40B4-BE49-F238E27FC236}">
                  <a16:creationId xmlns:a16="http://schemas.microsoft.com/office/drawing/2014/main" id="{31B86DD0-6446-4E97-8236-F43150552CBE}"/>
                </a:ext>
              </a:extLst>
            </p:cNvPr>
            <p:cNvSpPr>
              <a:spLocks noEditPoints="1"/>
            </p:cNvSpPr>
            <p:nvPr/>
          </p:nvSpPr>
          <p:spPr bwMode="auto">
            <a:xfrm>
              <a:off x="2742" y="911"/>
              <a:ext cx="2209" cy="2625"/>
            </a:xfrm>
            <a:custGeom>
              <a:avLst/>
              <a:gdLst>
                <a:gd name="T0" fmla="*/ 288 w 1179"/>
                <a:gd name="T1" fmla="*/ 867 h 1400"/>
                <a:gd name="T2" fmla="*/ 93 w 1179"/>
                <a:gd name="T3" fmla="*/ 749 h 1400"/>
                <a:gd name="T4" fmla="*/ 55 w 1179"/>
                <a:gd name="T5" fmla="*/ 426 h 1400"/>
                <a:gd name="T6" fmla="*/ 352 w 1179"/>
                <a:gd name="T7" fmla="*/ 560 h 1400"/>
                <a:gd name="T8" fmla="*/ 405 w 1179"/>
                <a:gd name="T9" fmla="*/ 790 h 1400"/>
                <a:gd name="T10" fmla="*/ 285 w 1179"/>
                <a:gd name="T11" fmla="*/ 639 h 1400"/>
                <a:gd name="T12" fmla="*/ 236 w 1179"/>
                <a:gd name="T13" fmla="*/ 615 h 1400"/>
                <a:gd name="T14" fmla="*/ 202 w 1179"/>
                <a:gd name="T15" fmla="*/ 626 h 1400"/>
                <a:gd name="T16" fmla="*/ 174 w 1179"/>
                <a:gd name="T17" fmla="*/ 666 h 1400"/>
                <a:gd name="T18" fmla="*/ 184 w 1179"/>
                <a:gd name="T19" fmla="*/ 712 h 1400"/>
                <a:gd name="T20" fmla="*/ 288 w 1179"/>
                <a:gd name="T21" fmla="*/ 867 h 1400"/>
                <a:gd name="T22" fmla="*/ 950 w 1179"/>
                <a:gd name="T23" fmla="*/ 663 h 1400"/>
                <a:gd name="T24" fmla="*/ 926 w 1179"/>
                <a:gd name="T25" fmla="*/ 666 h 1400"/>
                <a:gd name="T26" fmla="*/ 633 w 1179"/>
                <a:gd name="T27" fmla="*/ 1036 h 1400"/>
                <a:gd name="T28" fmla="*/ 633 w 1179"/>
                <a:gd name="T29" fmla="*/ 1036 h 1400"/>
                <a:gd name="T30" fmla="*/ 604 w 1179"/>
                <a:gd name="T31" fmla="*/ 346 h 1400"/>
                <a:gd name="T32" fmla="*/ 586 w 1179"/>
                <a:gd name="T33" fmla="*/ 328 h 1400"/>
                <a:gd name="T34" fmla="*/ 567 w 1179"/>
                <a:gd name="T35" fmla="*/ 346 h 1400"/>
                <a:gd name="T36" fmla="*/ 541 w 1179"/>
                <a:gd name="T37" fmla="*/ 1033 h 1400"/>
                <a:gd name="T38" fmla="*/ 250 w 1179"/>
                <a:gd name="T39" fmla="*/ 666 h 1400"/>
                <a:gd name="T40" fmla="*/ 226 w 1179"/>
                <a:gd name="T41" fmla="*/ 663 h 1400"/>
                <a:gd name="T42" fmla="*/ 220 w 1179"/>
                <a:gd name="T43" fmla="*/ 687 h 1400"/>
                <a:gd name="T44" fmla="*/ 441 w 1179"/>
                <a:gd name="T45" fmla="*/ 1016 h 1400"/>
                <a:gd name="T46" fmla="*/ 534 w 1179"/>
                <a:gd name="T47" fmla="*/ 1154 h 1400"/>
                <a:gd name="T48" fmla="*/ 528 w 1179"/>
                <a:gd name="T49" fmla="*/ 1284 h 1400"/>
                <a:gd name="T50" fmla="*/ 525 w 1179"/>
                <a:gd name="T51" fmla="*/ 1336 h 1400"/>
                <a:gd name="T52" fmla="*/ 525 w 1179"/>
                <a:gd name="T53" fmla="*/ 1341 h 1400"/>
                <a:gd name="T54" fmla="*/ 588 w 1179"/>
                <a:gd name="T55" fmla="*/ 1400 h 1400"/>
                <a:gd name="T56" fmla="*/ 647 w 1179"/>
                <a:gd name="T57" fmla="*/ 1336 h 1400"/>
                <a:gd name="T58" fmla="*/ 638 w 1179"/>
                <a:gd name="T59" fmla="*/ 1160 h 1400"/>
                <a:gd name="T60" fmla="*/ 737 w 1179"/>
                <a:gd name="T61" fmla="*/ 1013 h 1400"/>
                <a:gd name="T62" fmla="*/ 764 w 1179"/>
                <a:gd name="T63" fmla="*/ 973 h 1400"/>
                <a:gd name="T64" fmla="*/ 956 w 1179"/>
                <a:gd name="T65" fmla="*/ 687 h 1400"/>
                <a:gd name="T66" fmla="*/ 950 w 1179"/>
                <a:gd name="T67" fmla="*/ 663 h 1400"/>
                <a:gd name="T68" fmla="*/ 523 w 1179"/>
                <a:gd name="T69" fmla="*/ 344 h 1400"/>
                <a:gd name="T70" fmla="*/ 524 w 1179"/>
                <a:gd name="T71" fmla="*/ 343 h 1400"/>
                <a:gd name="T72" fmla="*/ 584 w 1179"/>
                <a:gd name="T73" fmla="*/ 284 h 1400"/>
                <a:gd name="T74" fmla="*/ 589 w 1179"/>
                <a:gd name="T75" fmla="*/ 284 h 1400"/>
                <a:gd name="T76" fmla="*/ 648 w 1179"/>
                <a:gd name="T77" fmla="*/ 340 h 1400"/>
                <a:gd name="T78" fmla="*/ 648 w 1179"/>
                <a:gd name="T79" fmla="*/ 342 h 1400"/>
                <a:gd name="T80" fmla="*/ 648 w 1179"/>
                <a:gd name="T81" fmla="*/ 344 h 1400"/>
                <a:gd name="T82" fmla="*/ 656 w 1179"/>
                <a:gd name="T83" fmla="*/ 536 h 1400"/>
                <a:gd name="T84" fmla="*/ 758 w 1179"/>
                <a:gd name="T85" fmla="*/ 303 h 1400"/>
                <a:gd name="T86" fmla="*/ 586 w 1179"/>
                <a:gd name="T87" fmla="*/ 0 h 1400"/>
                <a:gd name="T88" fmla="*/ 415 w 1179"/>
                <a:gd name="T89" fmla="*/ 303 h 1400"/>
                <a:gd name="T90" fmla="*/ 516 w 1179"/>
                <a:gd name="T91" fmla="*/ 536 h 1400"/>
                <a:gd name="T92" fmla="*/ 523 w 1179"/>
                <a:gd name="T93" fmla="*/ 344 h 1400"/>
                <a:gd name="T94" fmla="*/ 1124 w 1179"/>
                <a:gd name="T95" fmla="*/ 426 h 1400"/>
                <a:gd name="T96" fmla="*/ 826 w 1179"/>
                <a:gd name="T97" fmla="*/ 560 h 1400"/>
                <a:gd name="T98" fmla="*/ 773 w 1179"/>
                <a:gd name="T99" fmla="*/ 788 h 1400"/>
                <a:gd name="T100" fmla="*/ 892 w 1179"/>
                <a:gd name="T101" fmla="*/ 639 h 1400"/>
                <a:gd name="T102" fmla="*/ 940 w 1179"/>
                <a:gd name="T103" fmla="*/ 615 h 1400"/>
                <a:gd name="T104" fmla="*/ 975 w 1179"/>
                <a:gd name="T105" fmla="*/ 626 h 1400"/>
                <a:gd name="T106" fmla="*/ 1002 w 1179"/>
                <a:gd name="T107" fmla="*/ 666 h 1400"/>
                <a:gd name="T108" fmla="*/ 992 w 1179"/>
                <a:gd name="T109" fmla="*/ 712 h 1400"/>
                <a:gd name="T110" fmla="*/ 887 w 1179"/>
                <a:gd name="T111" fmla="*/ 868 h 1400"/>
                <a:gd name="T112" fmla="*/ 1086 w 1179"/>
                <a:gd name="T113" fmla="*/ 749 h 1400"/>
                <a:gd name="T114" fmla="*/ 1124 w 1179"/>
                <a:gd name="T115" fmla="*/ 426 h 1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79" h="1400">
                  <a:moveTo>
                    <a:pt x="288" y="867"/>
                  </a:moveTo>
                  <a:cubicBezTo>
                    <a:pt x="223" y="850"/>
                    <a:pt x="142" y="816"/>
                    <a:pt x="93" y="749"/>
                  </a:cubicBezTo>
                  <a:cubicBezTo>
                    <a:pt x="0" y="623"/>
                    <a:pt x="55" y="426"/>
                    <a:pt x="55" y="426"/>
                  </a:cubicBezTo>
                  <a:cubicBezTo>
                    <a:pt x="55" y="426"/>
                    <a:pt x="259" y="434"/>
                    <a:pt x="352" y="560"/>
                  </a:cubicBezTo>
                  <a:cubicBezTo>
                    <a:pt x="403" y="631"/>
                    <a:pt x="409" y="723"/>
                    <a:pt x="405" y="790"/>
                  </a:cubicBezTo>
                  <a:cubicBezTo>
                    <a:pt x="298" y="656"/>
                    <a:pt x="286" y="640"/>
                    <a:pt x="285" y="639"/>
                  </a:cubicBezTo>
                  <a:cubicBezTo>
                    <a:pt x="273" y="624"/>
                    <a:pt x="255" y="615"/>
                    <a:pt x="236" y="615"/>
                  </a:cubicBezTo>
                  <a:cubicBezTo>
                    <a:pt x="224" y="615"/>
                    <a:pt x="212" y="619"/>
                    <a:pt x="202" y="626"/>
                  </a:cubicBezTo>
                  <a:cubicBezTo>
                    <a:pt x="187" y="635"/>
                    <a:pt x="178" y="650"/>
                    <a:pt x="174" y="666"/>
                  </a:cubicBezTo>
                  <a:cubicBezTo>
                    <a:pt x="171" y="682"/>
                    <a:pt x="175" y="699"/>
                    <a:pt x="184" y="712"/>
                  </a:cubicBezTo>
                  <a:cubicBezTo>
                    <a:pt x="226" y="775"/>
                    <a:pt x="260" y="826"/>
                    <a:pt x="288" y="867"/>
                  </a:cubicBezTo>
                  <a:close/>
                  <a:moveTo>
                    <a:pt x="950" y="663"/>
                  </a:moveTo>
                  <a:cubicBezTo>
                    <a:pt x="943" y="657"/>
                    <a:pt x="932" y="658"/>
                    <a:pt x="926" y="666"/>
                  </a:cubicBezTo>
                  <a:cubicBezTo>
                    <a:pt x="652" y="1012"/>
                    <a:pt x="634" y="1035"/>
                    <a:pt x="633" y="1036"/>
                  </a:cubicBezTo>
                  <a:cubicBezTo>
                    <a:pt x="633" y="1036"/>
                    <a:pt x="633" y="1036"/>
                    <a:pt x="633" y="1036"/>
                  </a:cubicBezTo>
                  <a:cubicBezTo>
                    <a:pt x="622" y="760"/>
                    <a:pt x="604" y="346"/>
                    <a:pt x="604" y="346"/>
                  </a:cubicBezTo>
                  <a:cubicBezTo>
                    <a:pt x="603" y="336"/>
                    <a:pt x="596" y="328"/>
                    <a:pt x="586" y="328"/>
                  </a:cubicBezTo>
                  <a:cubicBezTo>
                    <a:pt x="576" y="327"/>
                    <a:pt x="568" y="335"/>
                    <a:pt x="567" y="346"/>
                  </a:cubicBezTo>
                  <a:cubicBezTo>
                    <a:pt x="559" y="563"/>
                    <a:pt x="548" y="902"/>
                    <a:pt x="541" y="1033"/>
                  </a:cubicBezTo>
                  <a:cubicBezTo>
                    <a:pt x="258" y="677"/>
                    <a:pt x="250" y="666"/>
                    <a:pt x="250" y="666"/>
                  </a:cubicBezTo>
                  <a:cubicBezTo>
                    <a:pt x="244" y="658"/>
                    <a:pt x="234" y="657"/>
                    <a:pt x="226" y="663"/>
                  </a:cubicBezTo>
                  <a:cubicBezTo>
                    <a:pt x="217" y="668"/>
                    <a:pt x="215" y="680"/>
                    <a:pt x="220" y="687"/>
                  </a:cubicBezTo>
                  <a:cubicBezTo>
                    <a:pt x="415" y="978"/>
                    <a:pt x="441" y="1016"/>
                    <a:pt x="441" y="1016"/>
                  </a:cubicBezTo>
                  <a:cubicBezTo>
                    <a:pt x="534" y="1154"/>
                    <a:pt x="534" y="1154"/>
                    <a:pt x="534" y="1154"/>
                  </a:cubicBezTo>
                  <a:cubicBezTo>
                    <a:pt x="528" y="1324"/>
                    <a:pt x="528" y="1284"/>
                    <a:pt x="528" y="1284"/>
                  </a:cubicBezTo>
                  <a:cubicBezTo>
                    <a:pt x="525" y="1336"/>
                    <a:pt x="525" y="1336"/>
                    <a:pt x="525" y="1336"/>
                  </a:cubicBezTo>
                  <a:cubicBezTo>
                    <a:pt x="525" y="1338"/>
                    <a:pt x="525" y="1340"/>
                    <a:pt x="525" y="1341"/>
                  </a:cubicBezTo>
                  <a:cubicBezTo>
                    <a:pt x="527" y="1375"/>
                    <a:pt x="555" y="1400"/>
                    <a:pt x="588" y="1400"/>
                  </a:cubicBezTo>
                  <a:cubicBezTo>
                    <a:pt x="622" y="1398"/>
                    <a:pt x="648" y="1370"/>
                    <a:pt x="647" y="1336"/>
                  </a:cubicBezTo>
                  <a:cubicBezTo>
                    <a:pt x="638" y="1120"/>
                    <a:pt x="638" y="1160"/>
                    <a:pt x="638" y="1160"/>
                  </a:cubicBezTo>
                  <a:cubicBezTo>
                    <a:pt x="737" y="1013"/>
                    <a:pt x="737" y="1013"/>
                    <a:pt x="737" y="1013"/>
                  </a:cubicBezTo>
                  <a:cubicBezTo>
                    <a:pt x="764" y="973"/>
                    <a:pt x="764" y="973"/>
                    <a:pt x="764" y="973"/>
                  </a:cubicBezTo>
                  <a:cubicBezTo>
                    <a:pt x="956" y="687"/>
                    <a:pt x="956" y="687"/>
                    <a:pt x="956" y="687"/>
                  </a:cubicBezTo>
                  <a:cubicBezTo>
                    <a:pt x="962" y="680"/>
                    <a:pt x="960" y="668"/>
                    <a:pt x="950" y="663"/>
                  </a:cubicBezTo>
                  <a:close/>
                  <a:moveTo>
                    <a:pt x="523" y="344"/>
                  </a:moveTo>
                  <a:cubicBezTo>
                    <a:pt x="524" y="343"/>
                    <a:pt x="524" y="343"/>
                    <a:pt x="524" y="343"/>
                  </a:cubicBezTo>
                  <a:cubicBezTo>
                    <a:pt x="525" y="310"/>
                    <a:pt x="552" y="284"/>
                    <a:pt x="584" y="284"/>
                  </a:cubicBezTo>
                  <a:cubicBezTo>
                    <a:pt x="586" y="284"/>
                    <a:pt x="587" y="284"/>
                    <a:pt x="589" y="284"/>
                  </a:cubicBezTo>
                  <a:cubicBezTo>
                    <a:pt x="619" y="286"/>
                    <a:pt x="644" y="309"/>
                    <a:pt x="648" y="340"/>
                  </a:cubicBezTo>
                  <a:cubicBezTo>
                    <a:pt x="648" y="342"/>
                    <a:pt x="648" y="342"/>
                    <a:pt x="648" y="342"/>
                  </a:cubicBezTo>
                  <a:cubicBezTo>
                    <a:pt x="648" y="344"/>
                    <a:pt x="648" y="344"/>
                    <a:pt x="648" y="344"/>
                  </a:cubicBezTo>
                  <a:cubicBezTo>
                    <a:pt x="648" y="346"/>
                    <a:pt x="652" y="425"/>
                    <a:pt x="656" y="536"/>
                  </a:cubicBezTo>
                  <a:cubicBezTo>
                    <a:pt x="704" y="480"/>
                    <a:pt x="758" y="396"/>
                    <a:pt x="758" y="303"/>
                  </a:cubicBezTo>
                  <a:cubicBezTo>
                    <a:pt x="758" y="136"/>
                    <a:pt x="586" y="0"/>
                    <a:pt x="586" y="0"/>
                  </a:cubicBezTo>
                  <a:cubicBezTo>
                    <a:pt x="586" y="0"/>
                    <a:pt x="415" y="136"/>
                    <a:pt x="415" y="303"/>
                  </a:cubicBezTo>
                  <a:cubicBezTo>
                    <a:pt x="415" y="397"/>
                    <a:pt x="469" y="480"/>
                    <a:pt x="516" y="536"/>
                  </a:cubicBezTo>
                  <a:cubicBezTo>
                    <a:pt x="519" y="467"/>
                    <a:pt x="521" y="402"/>
                    <a:pt x="523" y="344"/>
                  </a:cubicBezTo>
                  <a:close/>
                  <a:moveTo>
                    <a:pt x="1124" y="426"/>
                  </a:moveTo>
                  <a:cubicBezTo>
                    <a:pt x="1124" y="426"/>
                    <a:pt x="919" y="434"/>
                    <a:pt x="826" y="560"/>
                  </a:cubicBezTo>
                  <a:cubicBezTo>
                    <a:pt x="776" y="630"/>
                    <a:pt x="769" y="720"/>
                    <a:pt x="773" y="788"/>
                  </a:cubicBezTo>
                  <a:cubicBezTo>
                    <a:pt x="806" y="747"/>
                    <a:pt x="845" y="697"/>
                    <a:pt x="892" y="639"/>
                  </a:cubicBezTo>
                  <a:cubicBezTo>
                    <a:pt x="904" y="624"/>
                    <a:pt x="921" y="615"/>
                    <a:pt x="940" y="615"/>
                  </a:cubicBezTo>
                  <a:cubicBezTo>
                    <a:pt x="953" y="615"/>
                    <a:pt x="965" y="619"/>
                    <a:pt x="975" y="626"/>
                  </a:cubicBezTo>
                  <a:cubicBezTo>
                    <a:pt x="989" y="635"/>
                    <a:pt x="999" y="650"/>
                    <a:pt x="1002" y="666"/>
                  </a:cubicBezTo>
                  <a:cubicBezTo>
                    <a:pt x="1005" y="682"/>
                    <a:pt x="1001" y="699"/>
                    <a:pt x="992" y="712"/>
                  </a:cubicBezTo>
                  <a:cubicBezTo>
                    <a:pt x="887" y="868"/>
                    <a:pt x="887" y="868"/>
                    <a:pt x="887" y="868"/>
                  </a:cubicBezTo>
                  <a:cubicBezTo>
                    <a:pt x="953" y="851"/>
                    <a:pt x="1036" y="817"/>
                    <a:pt x="1086" y="749"/>
                  </a:cubicBezTo>
                  <a:cubicBezTo>
                    <a:pt x="1179" y="623"/>
                    <a:pt x="1124" y="426"/>
                    <a:pt x="1124" y="426"/>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sp>
          <p:nvSpPr>
            <p:cNvPr id="318" name="Freeform 31">
              <a:extLst>
                <a:ext uri="{FF2B5EF4-FFF2-40B4-BE49-F238E27FC236}">
                  <a16:creationId xmlns:a16="http://schemas.microsoft.com/office/drawing/2014/main" id="{BFC73EC1-AFE5-40BF-BC8B-2C6F7FE1C2AE}"/>
                </a:ext>
              </a:extLst>
            </p:cNvPr>
            <p:cNvSpPr>
              <a:spLocks noEditPoints="1"/>
            </p:cNvSpPr>
            <p:nvPr/>
          </p:nvSpPr>
          <p:spPr bwMode="auto">
            <a:xfrm>
              <a:off x="2429" y="3203"/>
              <a:ext cx="2825" cy="658"/>
            </a:xfrm>
            <a:custGeom>
              <a:avLst/>
              <a:gdLst>
                <a:gd name="T0" fmla="*/ 1508 w 1508"/>
                <a:gd name="T1" fmla="*/ 329 h 351"/>
                <a:gd name="T2" fmla="*/ 1486 w 1508"/>
                <a:gd name="T3" fmla="*/ 351 h 351"/>
                <a:gd name="T4" fmla="*/ 1213 w 1508"/>
                <a:gd name="T5" fmla="*/ 223 h 351"/>
                <a:gd name="T6" fmla="*/ 855 w 1508"/>
                <a:gd name="T7" fmla="*/ 44 h 351"/>
                <a:gd name="T8" fmla="*/ 853 w 1508"/>
                <a:gd name="T9" fmla="*/ 0 h 351"/>
                <a:gd name="T10" fmla="*/ 1239 w 1508"/>
                <a:gd name="T11" fmla="*/ 187 h 351"/>
                <a:gd name="T12" fmla="*/ 1486 w 1508"/>
                <a:gd name="T13" fmla="*/ 307 h 351"/>
                <a:gd name="T14" fmla="*/ 1508 w 1508"/>
                <a:gd name="T15" fmla="*/ 329 h 351"/>
                <a:gd name="T16" fmla="*/ 655 w 1508"/>
                <a:gd name="T17" fmla="*/ 0 h 351"/>
                <a:gd name="T18" fmla="*/ 269 w 1508"/>
                <a:gd name="T19" fmla="*/ 187 h 351"/>
                <a:gd name="T20" fmla="*/ 22 w 1508"/>
                <a:gd name="T21" fmla="*/ 307 h 351"/>
                <a:gd name="T22" fmla="*/ 0 w 1508"/>
                <a:gd name="T23" fmla="*/ 329 h 351"/>
                <a:gd name="T24" fmla="*/ 22 w 1508"/>
                <a:gd name="T25" fmla="*/ 351 h 351"/>
                <a:gd name="T26" fmla="*/ 295 w 1508"/>
                <a:gd name="T27" fmla="*/ 223 h 351"/>
                <a:gd name="T28" fmla="*/ 653 w 1508"/>
                <a:gd name="T29" fmla="*/ 44 h 351"/>
                <a:gd name="T30" fmla="*/ 655 w 1508"/>
                <a:gd name="T31" fmla="*/ 0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351">
                  <a:moveTo>
                    <a:pt x="1508" y="329"/>
                  </a:moveTo>
                  <a:cubicBezTo>
                    <a:pt x="1508" y="341"/>
                    <a:pt x="1499" y="351"/>
                    <a:pt x="1486" y="351"/>
                  </a:cubicBezTo>
                  <a:cubicBezTo>
                    <a:pt x="1395" y="351"/>
                    <a:pt x="1311" y="292"/>
                    <a:pt x="1213" y="223"/>
                  </a:cubicBezTo>
                  <a:cubicBezTo>
                    <a:pt x="1111" y="151"/>
                    <a:pt x="998" y="71"/>
                    <a:pt x="855" y="44"/>
                  </a:cubicBezTo>
                  <a:cubicBezTo>
                    <a:pt x="854" y="28"/>
                    <a:pt x="854" y="13"/>
                    <a:pt x="853" y="0"/>
                  </a:cubicBezTo>
                  <a:cubicBezTo>
                    <a:pt x="1011" y="27"/>
                    <a:pt x="1136" y="114"/>
                    <a:pt x="1239" y="187"/>
                  </a:cubicBezTo>
                  <a:cubicBezTo>
                    <a:pt x="1330" y="251"/>
                    <a:pt x="1409" y="307"/>
                    <a:pt x="1486" y="307"/>
                  </a:cubicBezTo>
                  <a:cubicBezTo>
                    <a:pt x="1499" y="307"/>
                    <a:pt x="1508" y="317"/>
                    <a:pt x="1508" y="329"/>
                  </a:cubicBezTo>
                  <a:close/>
                  <a:moveTo>
                    <a:pt x="655" y="0"/>
                  </a:moveTo>
                  <a:cubicBezTo>
                    <a:pt x="496" y="27"/>
                    <a:pt x="372" y="114"/>
                    <a:pt x="269" y="187"/>
                  </a:cubicBezTo>
                  <a:cubicBezTo>
                    <a:pt x="178" y="251"/>
                    <a:pt x="99" y="307"/>
                    <a:pt x="22" y="307"/>
                  </a:cubicBezTo>
                  <a:cubicBezTo>
                    <a:pt x="9" y="307"/>
                    <a:pt x="0" y="317"/>
                    <a:pt x="0" y="329"/>
                  </a:cubicBezTo>
                  <a:cubicBezTo>
                    <a:pt x="0" y="341"/>
                    <a:pt x="9" y="351"/>
                    <a:pt x="22" y="351"/>
                  </a:cubicBezTo>
                  <a:cubicBezTo>
                    <a:pt x="113" y="351"/>
                    <a:pt x="197" y="292"/>
                    <a:pt x="295" y="223"/>
                  </a:cubicBezTo>
                  <a:cubicBezTo>
                    <a:pt x="397" y="151"/>
                    <a:pt x="510" y="71"/>
                    <a:pt x="653" y="44"/>
                  </a:cubicBezTo>
                  <a:cubicBezTo>
                    <a:pt x="653" y="35"/>
                    <a:pt x="654" y="21"/>
                    <a:pt x="655"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746" tIns="36373" rIns="72746" bIns="36373" numCol="1" anchor="t" anchorCtr="0" compatLnSpc="1">
              <a:prstTxWarp prst="textNoShape">
                <a:avLst/>
              </a:prstTxWarp>
            </a:bodyPr>
            <a:lstStyle/>
            <a:p>
              <a:endParaRPr lang="en-US" sz="1559">
                <a:sym typeface="+mn-lt"/>
              </a:endParaRPr>
            </a:p>
          </p:txBody>
        </p:sp>
      </p:grpSp>
      <p:grpSp>
        <p:nvGrpSpPr>
          <p:cNvPr id="130" name="Group 129">
            <a:extLst>
              <a:ext uri="{FF2B5EF4-FFF2-40B4-BE49-F238E27FC236}">
                <a16:creationId xmlns:a16="http://schemas.microsoft.com/office/drawing/2014/main" id="{D7843CDF-4AAC-417C-9D4B-E2ACBFD39BBA}"/>
              </a:ext>
            </a:extLst>
          </p:cNvPr>
          <p:cNvGrpSpPr/>
          <p:nvPr/>
        </p:nvGrpSpPr>
        <p:grpSpPr>
          <a:xfrm>
            <a:off x="5781896" y="6259535"/>
            <a:ext cx="5385848" cy="335568"/>
            <a:chOff x="4591050" y="6238267"/>
            <a:chExt cx="5385848" cy="335568"/>
          </a:xfrm>
        </p:grpSpPr>
        <p:grpSp>
          <p:nvGrpSpPr>
            <p:cNvPr id="131" name="Group 130">
              <a:extLst>
                <a:ext uri="{FF2B5EF4-FFF2-40B4-BE49-F238E27FC236}">
                  <a16:creationId xmlns:a16="http://schemas.microsoft.com/office/drawing/2014/main" id="{CFDC758B-3864-42A9-8108-5CCE9C21B1AC}"/>
                </a:ext>
              </a:extLst>
            </p:cNvPr>
            <p:cNvGrpSpPr/>
            <p:nvPr/>
          </p:nvGrpSpPr>
          <p:grpSpPr>
            <a:xfrm>
              <a:off x="4662359" y="6316737"/>
              <a:ext cx="5243229" cy="178626"/>
              <a:chOff x="4726271" y="6317332"/>
              <a:chExt cx="5243229" cy="178626"/>
            </a:xfrm>
          </p:grpSpPr>
          <p:grpSp>
            <p:nvGrpSpPr>
              <p:cNvPr id="134" name="Group 133">
                <a:extLst>
                  <a:ext uri="{FF2B5EF4-FFF2-40B4-BE49-F238E27FC236}">
                    <a16:creationId xmlns:a16="http://schemas.microsoft.com/office/drawing/2014/main" id="{3DE0E8B7-C5D2-4853-A35E-FD01D0281876}"/>
                  </a:ext>
                </a:extLst>
              </p:cNvPr>
              <p:cNvGrpSpPr>
                <a:grpSpLocks noChangeAspect="1"/>
              </p:cNvGrpSpPr>
              <p:nvPr>
                <p:custDataLst>
                  <p:tags r:id="rId15"/>
                </p:custDataLst>
              </p:nvPr>
            </p:nvGrpSpPr>
            <p:grpSpPr>
              <a:xfrm>
                <a:off x="4726271" y="6318519"/>
                <a:ext cx="177438" cy="177439"/>
                <a:chOff x="6096000" y="3429000"/>
                <a:chExt cx="269875" cy="269875"/>
              </a:xfrm>
            </p:grpSpPr>
            <p:sp>
              <p:nvSpPr>
                <p:cNvPr id="139" name="background">
                  <a:extLst>
                    <a:ext uri="{FF2B5EF4-FFF2-40B4-BE49-F238E27FC236}">
                      <a16:creationId xmlns:a16="http://schemas.microsoft.com/office/drawing/2014/main" id="{5554E2C0-A1D1-4E1C-A911-943A7942EC5B}"/>
                    </a:ext>
                  </a:extLst>
                </p:cNvPr>
                <p:cNvSpPr/>
                <p:nvPr/>
              </p:nvSpPr>
              <p:spPr>
                <a:xfrm>
                  <a:off x="6096000" y="3429000"/>
                  <a:ext cx="269875" cy="269875"/>
                </a:xfrm>
                <a:prstGeom prst="ellipse">
                  <a:avLst/>
                </a:prstGeom>
                <a:solidFill>
                  <a:srgbClr val="E2E2E3">
                    <a:lumMod val="100000"/>
                  </a:srgbClr>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800">
                    <a:solidFill>
                      <a:srgbClr val="FFFFFF"/>
                    </a:solidFill>
                    <a:sym typeface="+mn-lt"/>
                  </a:endParaRPr>
                </a:p>
              </p:txBody>
            </p:sp>
            <p:sp>
              <p:nvSpPr>
                <p:cNvPr id="140" name="arc">
                  <a:extLst>
                    <a:ext uri="{FF2B5EF4-FFF2-40B4-BE49-F238E27FC236}">
                      <a16:creationId xmlns:a16="http://schemas.microsoft.com/office/drawing/2014/main" id="{D3585CE8-FE0E-4605-B490-E77AE315B9A4}"/>
                    </a:ext>
                  </a:extLst>
                </p:cNvPr>
                <p:cNvSpPr/>
                <p:nvPr/>
              </p:nvSpPr>
              <p:spPr>
                <a:xfrm>
                  <a:off x="6096000" y="3429000"/>
                  <a:ext cx="269875" cy="269875"/>
                </a:xfrm>
                <a:prstGeom prst="arc">
                  <a:avLst>
                    <a:gd name="adj1" fmla="val 16200000"/>
                    <a:gd name="adj2" fmla="val 16200000"/>
                  </a:avLst>
                </a:prstGeom>
                <a:solidFill>
                  <a:srgbClr val="29BA74"/>
                </a:solidFill>
                <a:ln w="9525" cap="rnd" cmpd="sng" algn="ctr">
                  <a:noFill/>
                  <a:prstDash val="solid"/>
                  <a:round/>
                </a:ln>
                <a:effectLst/>
                <a:extLst>
                  <a:ext uri="{91240B29-F687-4F45-9708-019B960494DF}">
                    <a14:hiddenLine xmlns:a14="http://schemas.microsoft.com/office/drawing/2010/main" w="9525" cap="rnd" cmpd="sng" algn="ctr">
                      <a:solidFill>
                        <a:srgbClr val="7F7F7F"/>
                      </a:solidFill>
                      <a:prstDash val="solid"/>
                      <a:round/>
                    </a14:hiddenLine>
                  </a:ext>
                </a:extLst>
              </p:spPr>
              <p:style>
                <a:lnRef idx="1">
                  <a:schemeClr val="accent1"/>
                </a:lnRef>
                <a:fillRef idx="0">
                  <a:schemeClr val="accent1"/>
                </a:fillRef>
                <a:effectRef idx="0">
                  <a:schemeClr val="accent1"/>
                </a:effectRef>
                <a:fontRef idx="minor">
                  <a:schemeClr val="tx1"/>
                </a:fontRef>
              </p:style>
              <p:txBody>
                <a:bodyPr rtlCol="0" anchor="ctr">
                  <a:noAutofit/>
                </a:bodyPr>
                <a:lstStyle/>
                <a:p>
                  <a:pPr algn="ctr"/>
                  <a:endParaRPr lang="en-US" sz="800">
                    <a:sym typeface="+mn-lt"/>
                  </a:endParaRPr>
                </a:p>
              </p:txBody>
            </p:sp>
            <p:sp>
              <p:nvSpPr>
                <p:cNvPr id="141" name="circle">
                  <a:extLst>
                    <a:ext uri="{FF2B5EF4-FFF2-40B4-BE49-F238E27FC236}">
                      <a16:creationId xmlns:a16="http://schemas.microsoft.com/office/drawing/2014/main" id="{B6AE0187-F43C-4922-A95E-A9705195480B}"/>
                    </a:ext>
                  </a:extLst>
                </p:cNvPr>
                <p:cNvSpPr/>
                <p:nvPr/>
              </p:nvSpPr>
              <p:spPr>
                <a:xfrm>
                  <a:off x="6096000" y="3429000"/>
                  <a:ext cx="269875" cy="269875"/>
                </a:xfrm>
                <a:prstGeom prst="ellipse">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DC0532"/>
                      </a:solidFill>
                    </a14:hiddenFill>
                  </a:ex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800">
                    <a:solidFill>
                      <a:srgbClr val="FFFFFF"/>
                    </a:solidFill>
                    <a:sym typeface="+mn-lt"/>
                  </a:endParaRPr>
                </a:p>
              </p:txBody>
            </p:sp>
          </p:grpSp>
          <p:sp>
            <p:nvSpPr>
              <p:cNvPr id="135" name="TextBox 134">
                <a:extLst>
                  <a:ext uri="{FF2B5EF4-FFF2-40B4-BE49-F238E27FC236}">
                    <a16:creationId xmlns:a16="http://schemas.microsoft.com/office/drawing/2014/main" id="{6FF7B195-E3F3-4472-AD40-7254A15E832C}"/>
                  </a:ext>
                </a:extLst>
              </p:cNvPr>
              <p:cNvSpPr txBox="1"/>
              <p:nvPr/>
            </p:nvSpPr>
            <p:spPr>
              <a:xfrm>
                <a:off x="4948480" y="6330295"/>
                <a:ext cx="2236190" cy="153888"/>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spAutoFit/>
              </a:bodyPr>
              <a:lstStyle/>
              <a:p>
                <a:r>
                  <a:rPr lang="en-US" sz="1000">
                    <a:solidFill>
                      <a:schemeClr val="tx1"/>
                    </a:solidFill>
                    <a:sym typeface="+mn-lt"/>
                  </a:rPr>
                  <a:t>Best-in-class </a:t>
                </a:r>
                <a:r>
                  <a:rPr lang="en-US" sz="1000" err="1">
                    <a:solidFill>
                      <a:schemeClr val="tx1"/>
                    </a:solidFill>
                    <a:sym typeface="+mn-lt"/>
                  </a:rPr>
                  <a:t>personalisation</a:t>
                </a:r>
                <a:r>
                  <a:rPr lang="en-US" sz="1000">
                    <a:solidFill>
                      <a:schemeClr val="tx1"/>
                    </a:solidFill>
                    <a:sym typeface="+mn-lt"/>
                  </a:rPr>
                  <a:t> capability</a:t>
                </a:r>
              </a:p>
            </p:txBody>
          </p:sp>
          <p:grpSp>
            <p:nvGrpSpPr>
              <p:cNvPr id="136" name="Group 135">
                <a:extLst>
                  <a:ext uri="{FF2B5EF4-FFF2-40B4-BE49-F238E27FC236}">
                    <a16:creationId xmlns:a16="http://schemas.microsoft.com/office/drawing/2014/main" id="{AE3DCB16-17B9-4462-AA43-35C8CB5205DF}"/>
                  </a:ext>
                </a:extLst>
              </p:cNvPr>
              <p:cNvGrpSpPr/>
              <p:nvPr/>
            </p:nvGrpSpPr>
            <p:grpSpPr>
              <a:xfrm>
                <a:off x="7275099" y="6317332"/>
                <a:ext cx="2694401" cy="177439"/>
                <a:chOff x="7421149" y="6317332"/>
                <a:chExt cx="2694401" cy="177439"/>
              </a:xfrm>
            </p:grpSpPr>
            <p:sp>
              <p:nvSpPr>
                <p:cNvPr id="137" name="background">
                  <a:extLst>
                    <a:ext uri="{FF2B5EF4-FFF2-40B4-BE49-F238E27FC236}">
                      <a16:creationId xmlns:a16="http://schemas.microsoft.com/office/drawing/2014/main" id="{6C1A72B9-1299-4B12-B224-219299F57183}"/>
                    </a:ext>
                  </a:extLst>
                </p:cNvPr>
                <p:cNvSpPr/>
                <p:nvPr/>
              </p:nvSpPr>
              <p:spPr>
                <a:xfrm>
                  <a:off x="7421149" y="6317332"/>
                  <a:ext cx="177438" cy="177439"/>
                </a:xfrm>
                <a:prstGeom prst="ellipse">
                  <a:avLst/>
                </a:prstGeom>
                <a:solidFill>
                  <a:srgbClr val="C8C8C8">
                    <a:lumMod val="100000"/>
                  </a:srgbClr>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DC053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800">
                    <a:solidFill>
                      <a:srgbClr val="FFFFFF"/>
                    </a:solidFill>
                    <a:sym typeface="+mn-lt"/>
                  </a:endParaRPr>
                </a:p>
              </p:txBody>
            </p:sp>
            <p:sp>
              <p:nvSpPr>
                <p:cNvPr id="138" name="TextBox 137">
                  <a:extLst>
                    <a:ext uri="{FF2B5EF4-FFF2-40B4-BE49-F238E27FC236}">
                      <a16:creationId xmlns:a16="http://schemas.microsoft.com/office/drawing/2014/main" id="{C85CAD15-97AC-4AE4-A41E-985853CB6B49}"/>
                    </a:ext>
                  </a:extLst>
                </p:cNvPr>
                <p:cNvSpPr txBox="1"/>
                <p:nvPr/>
              </p:nvSpPr>
              <p:spPr>
                <a:xfrm>
                  <a:off x="7645400" y="6329108"/>
                  <a:ext cx="2470150" cy="153888"/>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spAutoFit/>
                </a:bodyPr>
                <a:lstStyle/>
                <a:p>
                  <a:r>
                    <a:rPr lang="en-US" sz="1000">
                      <a:solidFill>
                        <a:schemeClr val="tx1"/>
                      </a:solidFill>
                      <a:sym typeface="+mn-lt"/>
                    </a:rPr>
                    <a:t>Limited existing </a:t>
                  </a:r>
                  <a:r>
                    <a:rPr lang="en-US" sz="1000" err="1">
                      <a:solidFill>
                        <a:schemeClr val="tx1"/>
                      </a:solidFill>
                      <a:sym typeface="+mn-lt"/>
                    </a:rPr>
                    <a:t>personalisation</a:t>
                  </a:r>
                  <a:r>
                    <a:rPr lang="en-US" sz="1000">
                      <a:solidFill>
                        <a:schemeClr val="tx1"/>
                      </a:solidFill>
                      <a:sym typeface="+mn-lt"/>
                    </a:rPr>
                    <a:t> capability</a:t>
                  </a:r>
                </a:p>
              </p:txBody>
            </p:sp>
          </p:grpSp>
        </p:grpSp>
        <p:sp>
          <p:nvSpPr>
            <p:cNvPr id="132" name="Rectangle 131">
              <a:extLst>
                <a:ext uri="{FF2B5EF4-FFF2-40B4-BE49-F238E27FC236}">
                  <a16:creationId xmlns:a16="http://schemas.microsoft.com/office/drawing/2014/main" id="{923BFFE5-6DA8-4CF9-859A-49F5FD01EF6B}"/>
                </a:ext>
              </a:extLst>
            </p:cNvPr>
            <p:cNvSpPr/>
            <p:nvPr/>
          </p:nvSpPr>
          <p:spPr>
            <a:xfrm>
              <a:off x="4591050" y="6238267"/>
              <a:ext cx="5385848" cy="335568"/>
            </a:xfrm>
            <a:prstGeom prst="rect">
              <a:avLst/>
            </a:prstGeom>
            <a:noFill/>
            <a:ln w="12700" cap="rnd" cmpd="sng" algn="ctr">
              <a:solidFill>
                <a:srgbClr val="9A9A9A"/>
              </a:solidFill>
              <a:prstDash val="sysDot"/>
              <a:round/>
              <a:headEnd type="none" w="med" len="med"/>
              <a:tailEnd type="none" w="med" len="med"/>
            </a:ln>
            <a:effectLst/>
            <a:extLst>
              <a:ext uri="{909E8E84-426E-40DD-AFC4-6F175D3DCCD1}">
                <a14:hiddenFill xmlns:a14="http://schemas.microsoft.com/office/drawing/2010/main">
                  <a:solidFill>
                    <a:srgbClr val="DC053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746" tIns="36373" rIns="72746" bIns="36373" numCol="1" spcCol="0" rtlCol="0" fromWordArt="0" anchor="ctr" anchorCtr="0" forceAA="0" compatLnSpc="1">
              <a:prstTxWarp prst="textNoShape">
                <a:avLst/>
              </a:prstTxWarp>
              <a:noAutofit/>
            </a:bodyPr>
            <a:lstStyle/>
            <a:p>
              <a:pPr algn="ctr"/>
              <a:endParaRPr lang="en-US" sz="954">
                <a:solidFill>
                  <a:srgbClr val="FFFFFF"/>
                </a:solidFill>
                <a:sym typeface="+mn-lt"/>
              </a:endParaRPr>
            </a:p>
          </p:txBody>
        </p:sp>
      </p:grpSp>
      <p:sp>
        <p:nvSpPr>
          <p:cNvPr id="142" name="ee4pFootnotes">
            <a:extLst>
              <a:ext uri="{FF2B5EF4-FFF2-40B4-BE49-F238E27FC236}">
                <a16:creationId xmlns:a16="http://schemas.microsoft.com/office/drawing/2014/main" id="{1680C28F-5918-4C15-86F4-AA16FF8BDB16}"/>
              </a:ext>
            </a:extLst>
          </p:cNvPr>
          <p:cNvSpPr>
            <a:spLocks noChangeArrowheads="1"/>
          </p:cNvSpPr>
          <p:nvPr/>
        </p:nvSpPr>
        <p:spPr bwMode="auto">
          <a:xfrm>
            <a:off x="630000" y="6421441"/>
            <a:ext cx="4898930" cy="138499"/>
          </a:xfrm>
          <a:prstGeom prst="rect">
            <a:avLst/>
          </a:prstGeom>
          <a:noFill/>
          <a:ln w="9525" algn="ctr">
            <a:noFill/>
            <a:miter lim="800000"/>
            <a:headEnd type="none" w="lg" len="lg"/>
            <a:tailEnd type="none" w="lg" len="lg"/>
          </a:ln>
        </p:spPr>
        <p:txBody>
          <a:bodyPr vert="horz" wrap="square" lIns="0" tIns="0" rIns="0" bIns="0" anchor="b" anchorCtr="0">
            <a:spAutoFit/>
          </a:bodyPr>
          <a:lstStyle/>
          <a:p>
            <a:pPr>
              <a:lnSpc>
                <a:spcPct val="90000"/>
              </a:lnSpc>
              <a:buSzPct val="100000"/>
              <a:buFont typeface="Trebuchet MS" panose="020B0603020202020204" pitchFamily="34" charset="0"/>
              <a:buChar char="​"/>
            </a:pPr>
            <a:r>
              <a:rPr lang="en-US" sz="1000">
                <a:solidFill>
                  <a:schemeClr val="bg1">
                    <a:lumMod val="50000"/>
                  </a:schemeClr>
                </a:solidFill>
                <a:effectLst/>
                <a:sym typeface="+mn-lt"/>
              </a:rPr>
              <a:t>Source: BCG DAI analysis, </a:t>
            </a:r>
            <a:r>
              <a:rPr lang="en-US" sz="1000" err="1">
                <a:solidFill>
                  <a:schemeClr val="bg1">
                    <a:lumMod val="50000"/>
                  </a:schemeClr>
                </a:solidFill>
                <a:effectLst/>
                <a:sym typeface="+mn-lt"/>
              </a:rPr>
              <a:t>RBB</a:t>
            </a:r>
            <a:r>
              <a:rPr lang="en-US" sz="1000">
                <a:solidFill>
                  <a:schemeClr val="bg1">
                    <a:lumMod val="50000"/>
                  </a:schemeClr>
                </a:solidFill>
                <a:effectLst/>
                <a:sym typeface="+mn-lt"/>
              </a:rPr>
              <a:t> sales architecture program</a:t>
            </a:r>
          </a:p>
        </p:txBody>
      </p:sp>
      <p:sp>
        <p:nvSpPr>
          <p:cNvPr id="127" name="Rectangle 126">
            <a:extLst>
              <a:ext uri="{FF2B5EF4-FFF2-40B4-BE49-F238E27FC236}">
                <a16:creationId xmlns:a16="http://schemas.microsoft.com/office/drawing/2014/main" id="{AE6E901E-C3DA-4A6D-8882-A8EB5904079D}"/>
              </a:ext>
            </a:extLst>
          </p:cNvPr>
          <p:cNvSpPr/>
          <p:nvPr/>
        </p:nvSpPr>
        <p:spPr>
          <a:xfrm>
            <a:off x="810001" y="1296727"/>
            <a:ext cx="1747253" cy="307777"/>
          </a:xfrm>
          <a:prstGeom prst="rect">
            <a:avLst/>
          </a:prstGeom>
        </p:spPr>
        <p:txBody>
          <a:bodyPr wrap="square" lIns="0" rIns="0">
            <a:spAutoFit/>
          </a:bodyPr>
          <a:lstStyle/>
          <a:p>
            <a:pPr>
              <a:buSzPct val="100000"/>
              <a:buFont typeface="Trebuchet MS" panose="020B0603020202020204" pitchFamily="34" charset="0"/>
              <a:buChar char="​"/>
            </a:pPr>
            <a:r>
              <a:rPr lang="en-US" sz="1400">
                <a:solidFill>
                  <a:srgbClr val="29BA74"/>
                </a:solidFill>
                <a:sym typeface="+mn-lt"/>
              </a:rPr>
              <a:t>Capability </a:t>
            </a:r>
          </a:p>
        </p:txBody>
      </p:sp>
    </p:spTree>
    <p:extLst>
      <p:ext uri="{BB962C8B-B14F-4D97-AF65-F5344CB8AC3E}">
        <p14:creationId xmlns:p14="http://schemas.microsoft.com/office/powerpoint/2010/main" val="52640792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8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F6A558D-2D06-E3C4-44E7-E45AFDF371E7}"/>
              </a:ext>
            </a:extLst>
          </p:cNvPr>
          <p:cNvSpPr>
            <a:spLocks noGrp="1"/>
          </p:cNvSpPr>
          <p:nvPr>
            <p:ph type="title"/>
          </p:nvPr>
        </p:nvSpPr>
        <p:spPr/>
        <p:txBody>
          <a:bodyPr/>
          <a:lstStyle/>
          <a:p>
            <a:endParaRPr lang="en-US"/>
          </a:p>
        </p:txBody>
      </p:sp>
      <p:pic>
        <p:nvPicPr>
          <p:cNvPr id="4" name="Picture 3">
            <a:extLst>
              <a:ext uri="{FF2B5EF4-FFF2-40B4-BE49-F238E27FC236}">
                <a16:creationId xmlns:a16="http://schemas.microsoft.com/office/drawing/2014/main" id="{29E43065-3129-29E9-3E57-CB52DFCCB255}"/>
              </a:ext>
            </a:extLst>
          </p:cNvPr>
          <p:cNvPicPr>
            <a:picLocks noChangeAspect="1"/>
          </p:cNvPicPr>
          <p:nvPr/>
        </p:nvPicPr>
        <p:blipFill>
          <a:blip r:embed="rId3"/>
          <a:stretch>
            <a:fillRect/>
          </a:stretch>
        </p:blipFill>
        <p:spPr>
          <a:xfrm>
            <a:off x="43961" y="622800"/>
            <a:ext cx="12192000" cy="5276817"/>
          </a:xfrm>
          <a:prstGeom prst="rect">
            <a:avLst/>
          </a:prstGeom>
        </p:spPr>
      </p:pic>
      <p:cxnSp>
        <p:nvCxnSpPr>
          <p:cNvPr id="6" name="Straight Connector 5">
            <a:extLst>
              <a:ext uri="{FF2B5EF4-FFF2-40B4-BE49-F238E27FC236}">
                <a16:creationId xmlns:a16="http://schemas.microsoft.com/office/drawing/2014/main" id="{D54A663C-0856-F8A5-3D4D-04D04A3B84E3}"/>
              </a:ext>
            </a:extLst>
          </p:cNvPr>
          <p:cNvCxnSpPr/>
          <p:nvPr/>
        </p:nvCxnSpPr>
        <p:spPr>
          <a:xfrm flipH="1">
            <a:off x="43961" y="87923"/>
            <a:ext cx="12115801" cy="6695342"/>
          </a:xfrm>
          <a:prstGeom prst="line">
            <a:avLst/>
          </a:prstGeom>
          <a:ln w="9525" cap="rnd">
            <a:solidFill>
              <a:schemeClr val="tx1">
                <a:lumMod val="60000"/>
                <a:lumOff val="40000"/>
              </a:schemeClr>
            </a:solidFill>
            <a:prstDash val="solid"/>
            <a:roun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1557527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9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57" name="Object 56" hidden="1">
            <a:extLst>
              <a:ext uri="{FF2B5EF4-FFF2-40B4-BE49-F238E27FC236}">
                <a16:creationId xmlns:a16="http://schemas.microsoft.com/office/drawing/2014/main" id="{E007FFC8-3092-4C11-B37B-C9C2742E1A0D}"/>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395" imgH="394" progId="TCLayout.ActiveDocument.1">
                  <p:embed/>
                </p:oleObj>
              </mc:Choice>
              <mc:Fallback>
                <p:oleObj name="think-cell Slide" r:id="rId5" imgW="395" imgH="394" progId="TCLayout.ActiveDocument.1">
                  <p:embed/>
                  <p:pic>
                    <p:nvPicPr>
                      <p:cNvPr id="57" name="Object 56" hidden="1">
                        <a:extLst>
                          <a:ext uri="{FF2B5EF4-FFF2-40B4-BE49-F238E27FC236}">
                            <a16:creationId xmlns:a16="http://schemas.microsoft.com/office/drawing/2014/main" id="{E007FFC8-3092-4C11-B37B-C9C2742E1A0D}"/>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59" name="Rectangle 58" hidden="1">
            <a:extLst>
              <a:ext uri="{FF2B5EF4-FFF2-40B4-BE49-F238E27FC236}">
                <a16:creationId xmlns:a16="http://schemas.microsoft.com/office/drawing/2014/main" id="{A3A7532F-C041-4AC7-B9CE-EBC722BA8885}"/>
              </a:ext>
            </a:extLst>
          </p:cNvPr>
          <p:cNvSpPr/>
          <p:nvPr>
            <p:custDataLst>
              <p:tags r:id="rId2"/>
            </p:custDataLst>
          </p:nvPr>
        </p:nvSpPr>
        <p:spPr>
          <a:xfrm>
            <a:off x="0" y="0"/>
            <a:ext cx="158750" cy="158750"/>
          </a:xfrm>
          <a:prstGeom prst="rect">
            <a:avLst/>
          </a:prstGeom>
          <a:solidFill>
            <a:schemeClr val="tx2"/>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endParaRPr lang="en-US" sz="2400">
              <a:solidFill>
                <a:srgbClr val="FFFFFF"/>
              </a:solidFill>
              <a:latin typeface="Trebuchet MS" panose="020B0603020202020204" pitchFamily="34" charset="0"/>
              <a:ea typeface="+mj-ea"/>
              <a:cs typeface="+mj-cs"/>
              <a:sym typeface="Trebuchet MS" panose="020B0603020202020204" pitchFamily="34" charset="0"/>
            </a:endParaRPr>
          </a:p>
        </p:txBody>
      </p:sp>
      <p:sp>
        <p:nvSpPr>
          <p:cNvPr id="34" name="ee4pFootnotes">
            <a:extLst>
              <a:ext uri="{FF2B5EF4-FFF2-40B4-BE49-F238E27FC236}">
                <a16:creationId xmlns:a16="http://schemas.microsoft.com/office/drawing/2014/main" id="{E0E6FEB1-8F1A-475F-B7B6-A2E6DF4A3687}"/>
              </a:ext>
            </a:extLst>
          </p:cNvPr>
          <p:cNvSpPr>
            <a:spLocks noChangeArrowheads="1"/>
          </p:cNvSpPr>
          <p:nvPr/>
        </p:nvSpPr>
        <p:spPr bwMode="auto">
          <a:xfrm>
            <a:off x="630000" y="6421441"/>
            <a:ext cx="9030914" cy="138499"/>
          </a:xfrm>
          <a:prstGeom prst="rect">
            <a:avLst/>
          </a:prstGeom>
          <a:noFill/>
          <a:ln w="9525" algn="ctr">
            <a:noFill/>
            <a:miter lim="800000"/>
            <a:headEnd type="none" w="lg" len="lg"/>
            <a:tailEnd type="none" w="lg" len="lg"/>
          </a:ln>
        </p:spPr>
        <p:txBody>
          <a:bodyPr vert="horz" wrap="square" lIns="0" tIns="0" rIns="0" bIns="0" anchor="b" anchorCtr="0">
            <a:spAutoFit/>
          </a:bodyPr>
          <a:lstStyle/>
          <a:p>
            <a:pPr>
              <a:lnSpc>
                <a:spcPct val="90000"/>
              </a:lnSpc>
            </a:pPr>
            <a:r>
              <a:rPr lang="en-US" sz="1000">
                <a:solidFill>
                  <a:schemeClr val="bg1">
                    <a:lumMod val="50000"/>
                  </a:schemeClr>
                </a:solidFill>
                <a:latin typeface="Trebuchet MS" panose="020B0603020202020204" pitchFamily="34" charset="0"/>
                <a:cs typeface="Arial" pitchFamily="34" charset="0"/>
              </a:rPr>
              <a:t>1. Include customers from 10 selected branches for pilot model build to reduce data volume</a:t>
            </a:r>
          </a:p>
        </p:txBody>
      </p:sp>
      <p:sp>
        <p:nvSpPr>
          <p:cNvPr id="10" name="ee4pContent2">
            <a:extLst>
              <a:ext uri="{FF2B5EF4-FFF2-40B4-BE49-F238E27FC236}">
                <a16:creationId xmlns:a16="http://schemas.microsoft.com/office/drawing/2014/main" id="{9FADFF13-A37E-4893-B797-CDF696600494}"/>
              </a:ext>
            </a:extLst>
          </p:cNvPr>
          <p:cNvSpPr txBox="1"/>
          <p:nvPr/>
        </p:nvSpPr>
        <p:spPr>
          <a:xfrm>
            <a:off x="4379228" y="2459199"/>
            <a:ext cx="3432461" cy="3699555"/>
          </a:xfrm>
          <a:prstGeom prst="rect">
            <a:avLst/>
          </a:prstGeom>
          <a:solidFill>
            <a:schemeClr val="accent4">
              <a:lumMod val="20000"/>
              <a:lumOff val="80000"/>
              <a:alpha val="60000"/>
            </a:schemeClr>
          </a:solidFill>
          <a:ln cap="rnd">
            <a:noFill/>
          </a:ln>
        </p:spPr>
        <p:txBody>
          <a:bodyPr vert="horz" wrap="square" lIns="0" tIns="0" rIns="0" bIns="0" rtlCol="0">
            <a:noAutofit/>
          </a:bodyPr>
          <a:lstStyle>
            <a:lvl1pPr lvl="0" indent="0">
              <a:lnSpc>
                <a:spcPct val="100000"/>
              </a:lnSpc>
              <a:spcBef>
                <a:spcPts val="0"/>
              </a:spcBef>
              <a:spcAft>
                <a:spcPts val="0"/>
              </a:spcAft>
              <a:buFont typeface="Trebuchet MS" panose="020B0603020202020204" pitchFamily="34" charset="0"/>
              <a:buChar char="​"/>
              <a:defRPr sz="2000">
                <a:latin typeface="Trebuchet MS" panose="020B0603020202020204" pitchFamily="34" charset="0"/>
                <a:sym typeface="Trebuchet MS" panose="020B0603020202020204" pitchFamily="34" charset="0"/>
              </a:defRPr>
            </a:lvl1pPr>
            <a:lvl2pPr marL="324000" lvl="1" indent="-216000">
              <a:lnSpc>
                <a:spcPct val="100000"/>
              </a:lnSpc>
              <a:spcBef>
                <a:spcPts val="0"/>
              </a:spcBef>
              <a:spcAft>
                <a:spcPts val="0"/>
              </a:spcAft>
              <a:buClr>
                <a:schemeClr val="tx2"/>
              </a:buClr>
              <a:buFont typeface="Trebuchet MS" panose="020B0603020202020204" pitchFamily="34" charset="0"/>
              <a:buChar char="•"/>
              <a:defRPr sz="2000">
                <a:latin typeface="Trebuchet MS" panose="020B0603020202020204" pitchFamily="34" charset="0"/>
                <a:sym typeface="Trebuchet MS" panose="020B0603020202020204" pitchFamily="34" charset="0"/>
              </a:defRPr>
            </a:lvl2pPr>
            <a:lvl3pPr marL="648000" lvl="2" indent="-216000">
              <a:lnSpc>
                <a:spcPct val="100000"/>
              </a:lnSpc>
              <a:spcBef>
                <a:spcPts val="0"/>
              </a:spcBef>
              <a:spcAft>
                <a:spcPts val="0"/>
              </a:spcAft>
              <a:buClr>
                <a:schemeClr val="tx2"/>
              </a:buClr>
              <a:buFont typeface="Trebuchet MS" panose="020B0603020202020204" pitchFamily="34" charset="0"/>
              <a:buChar char="–"/>
              <a:defRPr sz="2000">
                <a:latin typeface="Trebuchet MS" panose="020B0603020202020204" pitchFamily="34" charset="0"/>
                <a:sym typeface="Trebuchet MS" panose="020B0603020202020204" pitchFamily="34" charset="0"/>
              </a:defRPr>
            </a:lvl3pPr>
            <a:lvl4pPr marL="0" lvl="3" indent="0">
              <a:lnSpc>
                <a:spcPct val="100000"/>
              </a:lnSpc>
              <a:spcBef>
                <a:spcPts val="0"/>
              </a:spcBef>
              <a:spcAft>
                <a:spcPts val="0"/>
              </a:spcAft>
              <a:buClr>
                <a:schemeClr val="tx2"/>
              </a:buClr>
              <a:buFont typeface="Trebuchet MS" panose="020B0603020202020204" pitchFamily="34" charset="0"/>
              <a:buChar char="​"/>
              <a:defRPr sz="2400">
                <a:solidFill>
                  <a:schemeClr val="tx2"/>
                </a:solidFill>
                <a:latin typeface="Trebuchet MS" panose="020B0603020202020204" pitchFamily="34" charset="0"/>
                <a:sym typeface="Trebuchet MS" panose="020B0603020202020204" pitchFamily="34" charset="0"/>
              </a:defRPr>
            </a:lvl4pPr>
            <a:lvl5pPr marL="0" lvl="4" indent="0">
              <a:lnSpc>
                <a:spcPct val="100000"/>
              </a:lnSpc>
              <a:spcBef>
                <a:spcPts val="0"/>
              </a:spcBef>
              <a:spcAft>
                <a:spcPts val="0"/>
              </a:spcAft>
              <a:buClrTx/>
              <a:buFont typeface="Trebuchet MS" panose="020B0603020202020204" pitchFamily="34" charset="0"/>
              <a:buChar char="​"/>
              <a:defRPr sz="2400" b="1">
                <a:latin typeface="Trebuchet MS" panose="020B0603020202020204" pitchFamily="34" charset="0"/>
                <a:sym typeface="Trebuchet MS" panose="020B0603020202020204" pitchFamily="34" charset="0"/>
              </a:defRPr>
            </a:lvl5pPr>
            <a:lvl6pPr marL="324000" lvl="5" indent="-216000">
              <a:lnSpc>
                <a:spcPct val="100000"/>
              </a:lnSpc>
              <a:spcBef>
                <a:spcPts val="0"/>
              </a:spcBef>
              <a:spcAft>
                <a:spcPts val="0"/>
              </a:spcAft>
              <a:buClr>
                <a:schemeClr val="tx2"/>
              </a:buClr>
              <a:buFont typeface="Trebuchet MS" panose="020B0603020202020204" pitchFamily="34" charset="0"/>
              <a:buChar char="•"/>
              <a:defRPr sz="2400">
                <a:latin typeface="Trebuchet MS" panose="020B0603020202020204" pitchFamily="34" charset="0"/>
                <a:sym typeface="Trebuchet MS" panose="020B0603020202020204" pitchFamily="34" charset="0"/>
              </a:defRPr>
            </a:lvl6pPr>
            <a:lvl7pPr marL="0" lvl="6" indent="0">
              <a:lnSpc>
                <a:spcPct val="100000"/>
              </a:lnSpc>
              <a:spcBef>
                <a:spcPts val="0"/>
              </a:spcBef>
              <a:spcAft>
                <a:spcPts val="0"/>
              </a:spcAft>
              <a:buFont typeface="Trebuchet MS" panose="020B0603020202020204" pitchFamily="34" charset="0"/>
              <a:buChar char="​"/>
              <a:defRPr sz="5400" baseline="0">
                <a:latin typeface="Trebuchet MS" panose="020B0603020202020204" pitchFamily="34" charset="0"/>
                <a:sym typeface="Trebuchet MS" panose="020B0603020202020204" pitchFamily="34" charset="0"/>
              </a:defRPr>
            </a:lvl7pPr>
            <a:lvl8pPr marL="0" lvl="7" indent="0">
              <a:lnSpc>
                <a:spcPct val="100000"/>
              </a:lnSpc>
              <a:spcBef>
                <a:spcPts val="0"/>
              </a:spcBef>
              <a:spcAft>
                <a:spcPts val="0"/>
              </a:spcAft>
              <a:buFont typeface="Trebuchet MS" panose="020B0603020202020204" pitchFamily="34" charset="0"/>
              <a:buChar char="​"/>
              <a:defRPr sz="6600">
                <a:solidFill>
                  <a:schemeClr val="tx2"/>
                </a:solidFill>
                <a:latin typeface="Trebuchet MS" panose="020B0603020202020204" pitchFamily="34" charset="0"/>
                <a:sym typeface="Trebuchet MS" panose="020B0603020202020204" pitchFamily="34" charset="0"/>
              </a:defRPr>
            </a:lvl8pPr>
            <a:lvl9pPr marL="0" lvl="8" indent="0">
              <a:lnSpc>
                <a:spcPct val="100000"/>
              </a:lnSpc>
              <a:spcBef>
                <a:spcPts val="0"/>
              </a:spcBef>
              <a:spcAft>
                <a:spcPts val="0"/>
              </a:spcAft>
              <a:buFont typeface="Trebuchet MS" panose="020B0603020202020204" pitchFamily="34" charset="0"/>
              <a:buChar char="​"/>
              <a:defRPr sz="4400">
                <a:solidFill>
                  <a:schemeClr val="tx2"/>
                </a:solidFill>
                <a:latin typeface="Trebuchet MS" panose="020B0603020202020204" pitchFamily="34" charset="0"/>
                <a:sym typeface="Trebuchet MS" panose="020B0603020202020204" pitchFamily="34" charset="0"/>
              </a:defRPr>
            </a:lvl9pPr>
          </a:lstStyle>
          <a:p>
            <a:endParaRPr lang="en-US">
              <a:latin typeface="+mn-lt"/>
            </a:endParaRPr>
          </a:p>
        </p:txBody>
      </p:sp>
      <p:sp>
        <p:nvSpPr>
          <p:cNvPr id="12" name="Rectangle 11">
            <a:extLst>
              <a:ext uri="{FF2B5EF4-FFF2-40B4-BE49-F238E27FC236}">
                <a16:creationId xmlns:a16="http://schemas.microsoft.com/office/drawing/2014/main" id="{CAA4CCCB-935D-4DF9-987A-0836F0DE5B14}"/>
              </a:ext>
            </a:extLst>
          </p:cNvPr>
          <p:cNvSpPr/>
          <p:nvPr/>
        </p:nvSpPr>
        <p:spPr>
          <a:xfrm>
            <a:off x="4378085" y="2084294"/>
            <a:ext cx="3432460" cy="374904"/>
          </a:xfrm>
          <a:prstGeom prst="rect">
            <a:avLst/>
          </a:prstGeom>
          <a:solidFill>
            <a:schemeClr val="tx2"/>
          </a:solidFill>
          <a:ln w="7620"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576" tIns="36576" rIns="36576" bIns="36576" numCol="1" spcCol="0" rtlCol="0" fromWordArt="0" anchor="ctr" anchorCtr="0" forceAA="0" compatLnSpc="1">
            <a:prstTxWarp prst="textNoShape">
              <a:avLst/>
            </a:prstTxWarp>
            <a:spAutoFit/>
          </a:bodyPr>
          <a:lstStyle/>
          <a:p>
            <a:pPr algn="ctr"/>
            <a:r>
              <a:rPr lang="en-US" sz="1400" b="1">
                <a:solidFill>
                  <a:schemeClr val="bg1"/>
                </a:solidFill>
                <a:sym typeface="Trebuchet MS" panose="020B0603020202020204" pitchFamily="34" charset="0"/>
              </a:rPr>
              <a:t>Step 2: Build Propensity model</a:t>
            </a:r>
          </a:p>
        </p:txBody>
      </p:sp>
      <p:grpSp>
        <p:nvGrpSpPr>
          <p:cNvPr id="45" name="Group 44">
            <a:extLst>
              <a:ext uri="{FF2B5EF4-FFF2-40B4-BE49-F238E27FC236}">
                <a16:creationId xmlns:a16="http://schemas.microsoft.com/office/drawing/2014/main" id="{7EB4BC9A-F326-404D-A508-FE51D0423B7A}"/>
              </a:ext>
            </a:extLst>
          </p:cNvPr>
          <p:cNvGrpSpPr>
            <a:grpSpLocks noChangeAspect="1"/>
          </p:cNvGrpSpPr>
          <p:nvPr/>
        </p:nvGrpSpPr>
        <p:grpSpPr>
          <a:xfrm>
            <a:off x="4489321" y="5347642"/>
            <a:ext cx="761888" cy="761888"/>
            <a:chOff x="5273675" y="2514600"/>
            <a:chExt cx="1646238" cy="1646238"/>
          </a:xfrm>
        </p:grpSpPr>
        <p:sp>
          <p:nvSpPr>
            <p:cNvPr id="46" name="AutoShape 23">
              <a:extLst>
                <a:ext uri="{FF2B5EF4-FFF2-40B4-BE49-F238E27FC236}">
                  <a16:creationId xmlns:a16="http://schemas.microsoft.com/office/drawing/2014/main" id="{B2888CF5-9848-4A16-BC90-BA1AE68970F4}"/>
                </a:ext>
              </a:extLst>
            </p:cNvPr>
            <p:cNvSpPr>
              <a:spLocks noChangeAspect="1" noChangeArrowheads="1" noTextEdit="1"/>
            </p:cNvSpPr>
            <p:nvPr/>
          </p:nvSpPr>
          <p:spPr bwMode="auto">
            <a:xfrm>
              <a:off x="5273675" y="2514600"/>
              <a:ext cx="1646238" cy="1646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47" name="Group 46">
              <a:extLst>
                <a:ext uri="{FF2B5EF4-FFF2-40B4-BE49-F238E27FC236}">
                  <a16:creationId xmlns:a16="http://schemas.microsoft.com/office/drawing/2014/main" id="{131A08CA-69C5-4F77-98CD-46689F96B8A3}"/>
                </a:ext>
              </a:extLst>
            </p:cNvPr>
            <p:cNvGrpSpPr/>
            <p:nvPr/>
          </p:nvGrpSpPr>
          <p:grpSpPr>
            <a:xfrm>
              <a:off x="5334714" y="2797174"/>
              <a:ext cx="1514633" cy="1085850"/>
              <a:chOff x="5334714" y="2797174"/>
              <a:chExt cx="1514633" cy="1085850"/>
            </a:xfrm>
          </p:grpSpPr>
          <p:sp>
            <p:nvSpPr>
              <p:cNvPr id="48" name="Freeform 5">
                <a:extLst>
                  <a:ext uri="{FF2B5EF4-FFF2-40B4-BE49-F238E27FC236}">
                    <a16:creationId xmlns:a16="http://schemas.microsoft.com/office/drawing/2014/main" id="{EA8BD7F1-CF89-4F28-8039-C36724A037A8}"/>
                  </a:ext>
                </a:extLst>
              </p:cNvPr>
              <p:cNvSpPr>
                <a:spLocks/>
              </p:cNvSpPr>
              <p:nvPr/>
            </p:nvSpPr>
            <p:spPr bwMode="auto">
              <a:xfrm>
                <a:off x="5334714" y="2797174"/>
                <a:ext cx="1514633" cy="1085850"/>
              </a:xfrm>
              <a:custGeom>
                <a:avLst/>
                <a:gdLst>
                  <a:gd name="connsiteX0" fmla="*/ 964541 w 1514633"/>
                  <a:gd name="connsiteY0" fmla="*/ 881063 h 1085850"/>
                  <a:gd name="connsiteX1" fmla="*/ 1498896 w 1514633"/>
                  <a:gd name="connsiteY1" fmla="*/ 881063 h 1085850"/>
                  <a:gd name="connsiteX2" fmla="*/ 1511773 w 1514633"/>
                  <a:gd name="connsiteY2" fmla="*/ 887505 h 1085850"/>
                  <a:gd name="connsiteX3" fmla="*/ 1513919 w 1514633"/>
                  <a:gd name="connsiteY3" fmla="*/ 901820 h 1085850"/>
                  <a:gd name="connsiteX4" fmla="*/ 1485305 w 1514633"/>
                  <a:gd name="connsiteY4" fmla="*/ 993436 h 1085850"/>
                  <a:gd name="connsiteX5" fmla="*/ 1470283 w 1514633"/>
                  <a:gd name="connsiteY5" fmla="*/ 1004888 h 1085850"/>
                  <a:gd name="connsiteX6" fmla="*/ 805736 w 1514633"/>
                  <a:gd name="connsiteY6" fmla="*/ 1004888 h 1085850"/>
                  <a:gd name="connsiteX7" fmla="*/ 805736 w 1514633"/>
                  <a:gd name="connsiteY7" fmla="*/ 972679 h 1085850"/>
                  <a:gd name="connsiteX8" fmla="*/ 1458838 w 1514633"/>
                  <a:gd name="connsiteY8" fmla="*/ 972679 h 1085850"/>
                  <a:gd name="connsiteX9" fmla="*/ 1477436 w 1514633"/>
                  <a:gd name="connsiteY9" fmla="*/ 912556 h 1085850"/>
                  <a:gd name="connsiteX10" fmla="*/ 980278 w 1514633"/>
                  <a:gd name="connsiteY10" fmla="*/ 912556 h 1085850"/>
                  <a:gd name="connsiteX11" fmla="*/ 980278 w 1514633"/>
                  <a:gd name="connsiteY11" fmla="*/ 924008 h 1085850"/>
                  <a:gd name="connsiteX12" fmla="*/ 964541 w 1514633"/>
                  <a:gd name="connsiteY12" fmla="*/ 939755 h 1085850"/>
                  <a:gd name="connsiteX13" fmla="*/ 805736 w 1514633"/>
                  <a:gd name="connsiteY13" fmla="*/ 939755 h 1085850"/>
                  <a:gd name="connsiteX14" fmla="*/ 805736 w 1514633"/>
                  <a:gd name="connsiteY14" fmla="*/ 908262 h 1085850"/>
                  <a:gd name="connsiteX15" fmla="*/ 948803 w 1514633"/>
                  <a:gd name="connsiteY15" fmla="*/ 908262 h 1085850"/>
                  <a:gd name="connsiteX16" fmla="*/ 948803 w 1514633"/>
                  <a:gd name="connsiteY16" fmla="*/ 896810 h 1085850"/>
                  <a:gd name="connsiteX17" fmla="*/ 964541 w 1514633"/>
                  <a:gd name="connsiteY17" fmla="*/ 881063 h 1085850"/>
                  <a:gd name="connsiteX18" fmla="*/ 15726 w 1514633"/>
                  <a:gd name="connsiteY18" fmla="*/ 881063 h 1085850"/>
                  <a:gd name="connsiteX19" fmla="*/ 549662 w 1514633"/>
                  <a:gd name="connsiteY19" fmla="*/ 881063 h 1085850"/>
                  <a:gd name="connsiteX20" fmla="*/ 565387 w 1514633"/>
                  <a:gd name="connsiteY20" fmla="*/ 896810 h 1085850"/>
                  <a:gd name="connsiteX21" fmla="*/ 565387 w 1514633"/>
                  <a:gd name="connsiteY21" fmla="*/ 908262 h 1085850"/>
                  <a:gd name="connsiteX22" fmla="*/ 710486 w 1514633"/>
                  <a:gd name="connsiteY22" fmla="*/ 908262 h 1085850"/>
                  <a:gd name="connsiteX23" fmla="*/ 710486 w 1514633"/>
                  <a:gd name="connsiteY23" fmla="*/ 939755 h 1085850"/>
                  <a:gd name="connsiteX24" fmla="*/ 549662 w 1514633"/>
                  <a:gd name="connsiteY24" fmla="*/ 939755 h 1085850"/>
                  <a:gd name="connsiteX25" fmla="*/ 533937 w 1514633"/>
                  <a:gd name="connsiteY25" fmla="*/ 924008 h 1085850"/>
                  <a:gd name="connsiteX26" fmla="*/ 533937 w 1514633"/>
                  <a:gd name="connsiteY26" fmla="*/ 912556 h 1085850"/>
                  <a:gd name="connsiteX27" fmla="*/ 37169 w 1514633"/>
                  <a:gd name="connsiteY27" fmla="*/ 912556 h 1085850"/>
                  <a:gd name="connsiteX28" fmla="*/ 55753 w 1514633"/>
                  <a:gd name="connsiteY28" fmla="*/ 972679 h 1085850"/>
                  <a:gd name="connsiteX29" fmla="*/ 710486 w 1514633"/>
                  <a:gd name="connsiteY29" fmla="*/ 972679 h 1085850"/>
                  <a:gd name="connsiteX30" fmla="*/ 710486 w 1514633"/>
                  <a:gd name="connsiteY30" fmla="*/ 1004888 h 1085850"/>
                  <a:gd name="connsiteX31" fmla="*/ 44317 w 1514633"/>
                  <a:gd name="connsiteY31" fmla="*/ 1004888 h 1085850"/>
                  <a:gd name="connsiteX32" fmla="*/ 29307 w 1514633"/>
                  <a:gd name="connsiteY32" fmla="*/ 993436 h 1085850"/>
                  <a:gd name="connsiteX33" fmla="*/ 716 w 1514633"/>
                  <a:gd name="connsiteY33" fmla="*/ 901820 h 1085850"/>
                  <a:gd name="connsiteX34" fmla="*/ 2860 w 1514633"/>
                  <a:gd name="connsiteY34" fmla="*/ 887505 h 1085850"/>
                  <a:gd name="connsiteX35" fmla="*/ 15726 w 1514633"/>
                  <a:gd name="connsiteY35" fmla="*/ 881063 h 1085850"/>
                  <a:gd name="connsiteX36" fmla="*/ 808595 w 1514633"/>
                  <a:gd name="connsiteY36" fmla="*/ 80963 h 1085850"/>
                  <a:gd name="connsiteX37" fmla="*/ 1399614 w 1514633"/>
                  <a:gd name="connsiteY37" fmla="*/ 80963 h 1085850"/>
                  <a:gd name="connsiteX38" fmla="*/ 1415336 w 1514633"/>
                  <a:gd name="connsiteY38" fmla="*/ 96658 h 1085850"/>
                  <a:gd name="connsiteX39" fmla="*/ 1412478 w 1514633"/>
                  <a:gd name="connsiteY39" fmla="*/ 833618 h 1085850"/>
                  <a:gd name="connsiteX40" fmla="*/ 1396755 w 1514633"/>
                  <a:gd name="connsiteY40" fmla="*/ 849313 h 1085850"/>
                  <a:gd name="connsiteX41" fmla="*/ 805736 w 1514633"/>
                  <a:gd name="connsiteY41" fmla="*/ 849313 h 1085850"/>
                  <a:gd name="connsiteX42" fmla="*/ 805736 w 1514633"/>
                  <a:gd name="connsiteY42" fmla="*/ 817923 h 1085850"/>
                  <a:gd name="connsiteX43" fmla="*/ 1381033 w 1514633"/>
                  <a:gd name="connsiteY43" fmla="*/ 817923 h 1085850"/>
                  <a:gd name="connsiteX44" fmla="*/ 1383891 w 1514633"/>
                  <a:gd name="connsiteY44" fmla="*/ 112353 h 1085850"/>
                  <a:gd name="connsiteX45" fmla="*/ 808595 w 1514633"/>
                  <a:gd name="connsiteY45" fmla="*/ 112353 h 1085850"/>
                  <a:gd name="connsiteX46" fmla="*/ 808595 w 1514633"/>
                  <a:gd name="connsiteY46" fmla="*/ 80963 h 1085850"/>
                  <a:gd name="connsiteX47" fmla="*/ 121038 w 1514633"/>
                  <a:gd name="connsiteY47" fmla="*/ 80963 h 1085850"/>
                  <a:gd name="connsiteX48" fmla="*/ 609345 w 1514633"/>
                  <a:gd name="connsiteY48" fmla="*/ 80963 h 1085850"/>
                  <a:gd name="connsiteX49" fmla="*/ 712074 w 1514633"/>
                  <a:gd name="connsiteY49" fmla="*/ 80963 h 1085850"/>
                  <a:gd name="connsiteX50" fmla="*/ 713662 w 1514633"/>
                  <a:gd name="connsiteY50" fmla="*/ 80963 h 1085850"/>
                  <a:gd name="connsiteX51" fmla="*/ 713662 w 1514633"/>
                  <a:gd name="connsiteY51" fmla="*/ 94206 h 1085850"/>
                  <a:gd name="connsiteX52" fmla="*/ 713662 w 1514633"/>
                  <a:gd name="connsiteY52" fmla="*/ 111126 h 1085850"/>
                  <a:gd name="connsiteX53" fmla="*/ 713662 w 1514633"/>
                  <a:gd name="connsiteY53" fmla="*/ 112353 h 1085850"/>
                  <a:gd name="connsiteX54" fmla="*/ 136746 w 1514633"/>
                  <a:gd name="connsiteY54" fmla="*/ 112353 h 1085850"/>
                  <a:gd name="connsiteX55" fmla="*/ 133890 w 1514633"/>
                  <a:gd name="connsiteY55" fmla="*/ 817923 h 1085850"/>
                  <a:gd name="connsiteX56" fmla="*/ 710806 w 1514633"/>
                  <a:gd name="connsiteY56" fmla="*/ 817923 h 1085850"/>
                  <a:gd name="connsiteX57" fmla="*/ 710806 w 1514633"/>
                  <a:gd name="connsiteY57" fmla="*/ 849313 h 1085850"/>
                  <a:gd name="connsiteX58" fmla="*/ 118182 w 1514633"/>
                  <a:gd name="connsiteY58" fmla="*/ 849313 h 1085850"/>
                  <a:gd name="connsiteX59" fmla="*/ 102474 w 1514633"/>
                  <a:gd name="connsiteY59" fmla="*/ 833618 h 1085850"/>
                  <a:gd name="connsiteX60" fmla="*/ 105330 w 1514633"/>
                  <a:gd name="connsiteY60" fmla="*/ 96658 h 1085850"/>
                  <a:gd name="connsiteX61" fmla="*/ 121038 w 1514633"/>
                  <a:gd name="connsiteY61" fmla="*/ 80963 h 1085850"/>
                  <a:gd name="connsiteX62" fmla="*/ 759256 w 1514633"/>
                  <a:gd name="connsiteY62" fmla="*/ 0 h 1085850"/>
                  <a:gd name="connsiteX63" fmla="*/ 773987 w 1514633"/>
                  <a:gd name="connsiteY63" fmla="*/ 15706 h 1085850"/>
                  <a:gd name="connsiteX64" fmla="*/ 773987 w 1514633"/>
                  <a:gd name="connsiteY64" fmla="*/ 1070144 h 1085850"/>
                  <a:gd name="connsiteX65" fmla="*/ 759256 w 1514633"/>
                  <a:gd name="connsiteY65" fmla="*/ 1085850 h 1085850"/>
                  <a:gd name="connsiteX66" fmla="*/ 743824 w 1514633"/>
                  <a:gd name="connsiteY66" fmla="*/ 1070144 h 1085850"/>
                  <a:gd name="connsiteX67" fmla="*/ 743824 w 1514633"/>
                  <a:gd name="connsiteY67" fmla="*/ 15706 h 1085850"/>
                  <a:gd name="connsiteX68" fmla="*/ 759256 w 1514633"/>
                  <a:gd name="connsiteY68" fmla="*/ 0 h 1085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514633" h="1085850">
                    <a:moveTo>
                      <a:pt x="964541" y="881063"/>
                    </a:moveTo>
                    <a:cubicBezTo>
                      <a:pt x="964541" y="881063"/>
                      <a:pt x="964541" y="881063"/>
                      <a:pt x="1498896" y="881063"/>
                    </a:cubicBezTo>
                    <a:cubicBezTo>
                      <a:pt x="1503904" y="881063"/>
                      <a:pt x="1508196" y="883926"/>
                      <a:pt x="1511773" y="887505"/>
                    </a:cubicBezTo>
                    <a:cubicBezTo>
                      <a:pt x="1514634" y="891799"/>
                      <a:pt x="1515349" y="896810"/>
                      <a:pt x="1513919" y="901820"/>
                    </a:cubicBezTo>
                    <a:cubicBezTo>
                      <a:pt x="1513919" y="901820"/>
                      <a:pt x="1513919" y="901820"/>
                      <a:pt x="1485305" y="993436"/>
                    </a:cubicBezTo>
                    <a:cubicBezTo>
                      <a:pt x="1483159" y="1000594"/>
                      <a:pt x="1476721" y="1004888"/>
                      <a:pt x="1470283" y="1004888"/>
                    </a:cubicBezTo>
                    <a:cubicBezTo>
                      <a:pt x="1470283" y="1004888"/>
                      <a:pt x="1470283" y="1004888"/>
                      <a:pt x="805736" y="1004888"/>
                    </a:cubicBezTo>
                    <a:cubicBezTo>
                      <a:pt x="805736" y="1004888"/>
                      <a:pt x="805736" y="1004888"/>
                      <a:pt x="805736" y="972679"/>
                    </a:cubicBezTo>
                    <a:cubicBezTo>
                      <a:pt x="805736" y="972679"/>
                      <a:pt x="805736" y="972679"/>
                      <a:pt x="1458838" y="972679"/>
                    </a:cubicBezTo>
                    <a:cubicBezTo>
                      <a:pt x="1458838" y="972679"/>
                      <a:pt x="1458838" y="972679"/>
                      <a:pt x="1477436" y="912556"/>
                    </a:cubicBezTo>
                    <a:cubicBezTo>
                      <a:pt x="1477436" y="912556"/>
                      <a:pt x="1477436" y="912556"/>
                      <a:pt x="980278" y="912556"/>
                    </a:cubicBezTo>
                    <a:cubicBezTo>
                      <a:pt x="980278" y="912556"/>
                      <a:pt x="980278" y="912556"/>
                      <a:pt x="980278" y="924008"/>
                    </a:cubicBezTo>
                    <a:cubicBezTo>
                      <a:pt x="980278" y="932597"/>
                      <a:pt x="973125" y="939755"/>
                      <a:pt x="964541" y="939755"/>
                    </a:cubicBezTo>
                    <a:cubicBezTo>
                      <a:pt x="964541" y="939755"/>
                      <a:pt x="964541" y="939755"/>
                      <a:pt x="805736" y="939755"/>
                    </a:cubicBezTo>
                    <a:cubicBezTo>
                      <a:pt x="805736" y="939755"/>
                      <a:pt x="805736" y="939755"/>
                      <a:pt x="805736" y="908262"/>
                    </a:cubicBezTo>
                    <a:cubicBezTo>
                      <a:pt x="805736" y="908262"/>
                      <a:pt x="805736" y="908262"/>
                      <a:pt x="948803" y="908262"/>
                    </a:cubicBezTo>
                    <a:cubicBezTo>
                      <a:pt x="948803" y="908262"/>
                      <a:pt x="948803" y="908262"/>
                      <a:pt x="948803" y="896810"/>
                    </a:cubicBezTo>
                    <a:cubicBezTo>
                      <a:pt x="948803" y="888221"/>
                      <a:pt x="955957" y="881063"/>
                      <a:pt x="964541" y="881063"/>
                    </a:cubicBezTo>
                    <a:close/>
                    <a:moveTo>
                      <a:pt x="15726" y="881063"/>
                    </a:moveTo>
                    <a:cubicBezTo>
                      <a:pt x="15726" y="881063"/>
                      <a:pt x="15726" y="881063"/>
                      <a:pt x="549662" y="881063"/>
                    </a:cubicBezTo>
                    <a:cubicBezTo>
                      <a:pt x="558239" y="881063"/>
                      <a:pt x="565387" y="888221"/>
                      <a:pt x="565387" y="896810"/>
                    </a:cubicBezTo>
                    <a:cubicBezTo>
                      <a:pt x="565387" y="896810"/>
                      <a:pt x="565387" y="896810"/>
                      <a:pt x="565387" y="908262"/>
                    </a:cubicBezTo>
                    <a:cubicBezTo>
                      <a:pt x="565387" y="908262"/>
                      <a:pt x="565387" y="908262"/>
                      <a:pt x="710486" y="908262"/>
                    </a:cubicBezTo>
                    <a:cubicBezTo>
                      <a:pt x="710486" y="908262"/>
                      <a:pt x="710486" y="908262"/>
                      <a:pt x="710486" y="939755"/>
                    </a:cubicBezTo>
                    <a:cubicBezTo>
                      <a:pt x="710486" y="939755"/>
                      <a:pt x="710486" y="939755"/>
                      <a:pt x="549662" y="939755"/>
                    </a:cubicBezTo>
                    <a:cubicBezTo>
                      <a:pt x="541085" y="939755"/>
                      <a:pt x="533937" y="932597"/>
                      <a:pt x="533937" y="924008"/>
                    </a:cubicBezTo>
                    <a:cubicBezTo>
                      <a:pt x="533937" y="924008"/>
                      <a:pt x="533937" y="924008"/>
                      <a:pt x="533937" y="912556"/>
                    </a:cubicBezTo>
                    <a:cubicBezTo>
                      <a:pt x="533937" y="912556"/>
                      <a:pt x="533937" y="912556"/>
                      <a:pt x="37169" y="912556"/>
                    </a:cubicBezTo>
                    <a:cubicBezTo>
                      <a:pt x="37169" y="912556"/>
                      <a:pt x="37169" y="912556"/>
                      <a:pt x="55753" y="972679"/>
                    </a:cubicBezTo>
                    <a:cubicBezTo>
                      <a:pt x="55753" y="972679"/>
                      <a:pt x="55753" y="972679"/>
                      <a:pt x="710486" y="972679"/>
                    </a:cubicBezTo>
                    <a:cubicBezTo>
                      <a:pt x="710486" y="972679"/>
                      <a:pt x="710486" y="972679"/>
                      <a:pt x="710486" y="1004888"/>
                    </a:cubicBezTo>
                    <a:cubicBezTo>
                      <a:pt x="710486" y="1004888"/>
                      <a:pt x="710486" y="1004888"/>
                      <a:pt x="44317" y="1004888"/>
                    </a:cubicBezTo>
                    <a:cubicBezTo>
                      <a:pt x="37884" y="1004888"/>
                      <a:pt x="31451" y="1000594"/>
                      <a:pt x="29307" y="993436"/>
                    </a:cubicBezTo>
                    <a:cubicBezTo>
                      <a:pt x="29307" y="993436"/>
                      <a:pt x="29307" y="993436"/>
                      <a:pt x="716" y="901820"/>
                    </a:cubicBezTo>
                    <a:cubicBezTo>
                      <a:pt x="-714" y="896810"/>
                      <a:pt x="1" y="891799"/>
                      <a:pt x="2860" y="887505"/>
                    </a:cubicBezTo>
                    <a:cubicBezTo>
                      <a:pt x="6434" y="883926"/>
                      <a:pt x="10723" y="881063"/>
                      <a:pt x="15726" y="881063"/>
                    </a:cubicBezTo>
                    <a:close/>
                    <a:moveTo>
                      <a:pt x="808595" y="80963"/>
                    </a:moveTo>
                    <a:cubicBezTo>
                      <a:pt x="808595" y="80963"/>
                      <a:pt x="808595" y="80963"/>
                      <a:pt x="1399614" y="80963"/>
                    </a:cubicBezTo>
                    <a:cubicBezTo>
                      <a:pt x="1408190" y="80963"/>
                      <a:pt x="1415336" y="88097"/>
                      <a:pt x="1415336" y="96658"/>
                    </a:cubicBezTo>
                    <a:cubicBezTo>
                      <a:pt x="1415336" y="96658"/>
                      <a:pt x="1415336" y="96658"/>
                      <a:pt x="1412478" y="833618"/>
                    </a:cubicBezTo>
                    <a:cubicBezTo>
                      <a:pt x="1412478" y="842179"/>
                      <a:pt x="1405331" y="849313"/>
                      <a:pt x="1396755" y="849313"/>
                    </a:cubicBezTo>
                    <a:cubicBezTo>
                      <a:pt x="1396755" y="849313"/>
                      <a:pt x="1396755" y="849313"/>
                      <a:pt x="805736" y="849313"/>
                    </a:cubicBezTo>
                    <a:cubicBezTo>
                      <a:pt x="805736" y="849313"/>
                      <a:pt x="805736" y="849313"/>
                      <a:pt x="805736" y="817923"/>
                    </a:cubicBezTo>
                    <a:cubicBezTo>
                      <a:pt x="805736" y="817923"/>
                      <a:pt x="805736" y="817923"/>
                      <a:pt x="1381033" y="817923"/>
                    </a:cubicBezTo>
                    <a:cubicBezTo>
                      <a:pt x="1381033" y="817923"/>
                      <a:pt x="1381033" y="817923"/>
                      <a:pt x="1383891" y="112353"/>
                    </a:cubicBezTo>
                    <a:cubicBezTo>
                      <a:pt x="1383891" y="112353"/>
                      <a:pt x="1383891" y="112353"/>
                      <a:pt x="808595" y="112353"/>
                    </a:cubicBezTo>
                    <a:cubicBezTo>
                      <a:pt x="808595" y="112353"/>
                      <a:pt x="808595" y="112353"/>
                      <a:pt x="808595" y="80963"/>
                    </a:cubicBezTo>
                    <a:close/>
                    <a:moveTo>
                      <a:pt x="121038" y="80963"/>
                    </a:moveTo>
                    <a:cubicBezTo>
                      <a:pt x="121038" y="80963"/>
                      <a:pt x="121038" y="80963"/>
                      <a:pt x="609345" y="80963"/>
                    </a:cubicBezTo>
                    <a:lnTo>
                      <a:pt x="712074" y="80963"/>
                    </a:lnTo>
                    <a:lnTo>
                      <a:pt x="713662" y="80963"/>
                    </a:lnTo>
                    <a:cubicBezTo>
                      <a:pt x="713662" y="80963"/>
                      <a:pt x="713662" y="80963"/>
                      <a:pt x="713662" y="94206"/>
                    </a:cubicBezTo>
                    <a:lnTo>
                      <a:pt x="713662" y="111126"/>
                    </a:lnTo>
                    <a:lnTo>
                      <a:pt x="713662" y="112353"/>
                    </a:lnTo>
                    <a:cubicBezTo>
                      <a:pt x="713662" y="112353"/>
                      <a:pt x="713662" y="112353"/>
                      <a:pt x="136746" y="112353"/>
                    </a:cubicBezTo>
                    <a:cubicBezTo>
                      <a:pt x="136746" y="112353"/>
                      <a:pt x="136746" y="112353"/>
                      <a:pt x="133890" y="817923"/>
                    </a:cubicBezTo>
                    <a:cubicBezTo>
                      <a:pt x="133890" y="817923"/>
                      <a:pt x="133890" y="817923"/>
                      <a:pt x="710806" y="817923"/>
                    </a:cubicBezTo>
                    <a:cubicBezTo>
                      <a:pt x="710806" y="817923"/>
                      <a:pt x="710806" y="817923"/>
                      <a:pt x="710806" y="849313"/>
                    </a:cubicBezTo>
                    <a:cubicBezTo>
                      <a:pt x="710806" y="849313"/>
                      <a:pt x="710806" y="849313"/>
                      <a:pt x="118182" y="849313"/>
                    </a:cubicBezTo>
                    <a:cubicBezTo>
                      <a:pt x="109614" y="849313"/>
                      <a:pt x="102474" y="842179"/>
                      <a:pt x="102474" y="833618"/>
                    </a:cubicBezTo>
                    <a:cubicBezTo>
                      <a:pt x="102474" y="833618"/>
                      <a:pt x="102474" y="833618"/>
                      <a:pt x="105330" y="96658"/>
                    </a:cubicBezTo>
                    <a:cubicBezTo>
                      <a:pt x="105330" y="88097"/>
                      <a:pt x="112470" y="80963"/>
                      <a:pt x="121038" y="80963"/>
                    </a:cubicBezTo>
                    <a:close/>
                    <a:moveTo>
                      <a:pt x="759256" y="0"/>
                    </a:moveTo>
                    <a:cubicBezTo>
                      <a:pt x="766973" y="0"/>
                      <a:pt x="773987" y="7139"/>
                      <a:pt x="773987" y="15706"/>
                    </a:cubicBezTo>
                    <a:cubicBezTo>
                      <a:pt x="773987" y="1070144"/>
                      <a:pt x="773987" y="1070144"/>
                      <a:pt x="773987" y="1070144"/>
                    </a:cubicBezTo>
                    <a:cubicBezTo>
                      <a:pt x="773987" y="1078711"/>
                      <a:pt x="766973" y="1085850"/>
                      <a:pt x="759256" y="1085850"/>
                    </a:cubicBezTo>
                    <a:cubicBezTo>
                      <a:pt x="750137" y="1085850"/>
                      <a:pt x="743824" y="1078711"/>
                      <a:pt x="743824" y="1070144"/>
                    </a:cubicBezTo>
                    <a:cubicBezTo>
                      <a:pt x="743824" y="15706"/>
                      <a:pt x="743824" y="15706"/>
                      <a:pt x="743824" y="15706"/>
                    </a:cubicBezTo>
                    <a:cubicBezTo>
                      <a:pt x="743824" y="7139"/>
                      <a:pt x="750137" y="0"/>
                      <a:pt x="759256"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p>
            </p:txBody>
          </p:sp>
          <p:sp>
            <p:nvSpPr>
              <p:cNvPr id="49" name="Freeform 6">
                <a:extLst>
                  <a:ext uri="{FF2B5EF4-FFF2-40B4-BE49-F238E27FC236}">
                    <a16:creationId xmlns:a16="http://schemas.microsoft.com/office/drawing/2014/main" id="{C56D592D-8DE0-4C56-8CAC-12CB7577038C}"/>
                  </a:ext>
                </a:extLst>
              </p:cNvPr>
              <p:cNvSpPr>
                <a:spLocks/>
              </p:cNvSpPr>
              <p:nvPr/>
            </p:nvSpPr>
            <p:spPr bwMode="auto">
              <a:xfrm>
                <a:off x="5500687" y="2938463"/>
                <a:ext cx="1185862" cy="646113"/>
              </a:xfrm>
              <a:custGeom>
                <a:avLst/>
                <a:gdLst>
                  <a:gd name="connsiteX0" fmla="*/ 898496 w 1185862"/>
                  <a:gd name="connsiteY0" fmla="*/ 312737 h 646113"/>
                  <a:gd name="connsiteX1" fmla="*/ 960016 w 1185862"/>
                  <a:gd name="connsiteY1" fmla="*/ 327739 h 646113"/>
                  <a:gd name="connsiteX2" fmla="*/ 977900 w 1185862"/>
                  <a:gd name="connsiteY2" fmla="*/ 374888 h 646113"/>
                  <a:gd name="connsiteX3" fmla="*/ 959301 w 1185862"/>
                  <a:gd name="connsiteY3" fmla="*/ 425609 h 646113"/>
                  <a:gd name="connsiteX4" fmla="*/ 897780 w 1185862"/>
                  <a:gd name="connsiteY4" fmla="*/ 441325 h 646113"/>
                  <a:gd name="connsiteX5" fmla="*/ 862012 w 1185862"/>
                  <a:gd name="connsiteY5" fmla="*/ 439182 h 646113"/>
                  <a:gd name="connsiteX6" fmla="*/ 862012 w 1185862"/>
                  <a:gd name="connsiteY6" fmla="*/ 314166 h 646113"/>
                  <a:gd name="connsiteX7" fmla="*/ 898496 w 1185862"/>
                  <a:gd name="connsiteY7" fmla="*/ 312737 h 646113"/>
                  <a:gd name="connsiteX8" fmla="*/ 277813 w 1185862"/>
                  <a:gd name="connsiteY8" fmla="*/ 230187 h 646113"/>
                  <a:gd name="connsiteX9" fmla="*/ 323850 w 1185862"/>
                  <a:gd name="connsiteY9" fmla="*/ 374650 h 646113"/>
                  <a:gd name="connsiteX10" fmla="*/ 227012 w 1185862"/>
                  <a:gd name="connsiteY10" fmla="*/ 374650 h 646113"/>
                  <a:gd name="connsiteX11" fmla="*/ 902244 w 1185862"/>
                  <a:gd name="connsiteY11" fmla="*/ 182562 h 646113"/>
                  <a:gd name="connsiteX12" fmla="*/ 960437 w 1185862"/>
                  <a:gd name="connsiteY12" fmla="*/ 228542 h 646113"/>
                  <a:gd name="connsiteX13" fmla="*/ 897215 w 1185862"/>
                  <a:gd name="connsiteY13" fmla="*/ 280987 h 646113"/>
                  <a:gd name="connsiteX14" fmla="*/ 862012 w 1185862"/>
                  <a:gd name="connsiteY14" fmla="*/ 279550 h 646113"/>
                  <a:gd name="connsiteX15" fmla="*/ 862012 w 1185862"/>
                  <a:gd name="connsiteY15" fmla="*/ 183999 h 646113"/>
                  <a:gd name="connsiteX16" fmla="*/ 902244 w 1185862"/>
                  <a:gd name="connsiteY16" fmla="*/ 182562 h 646113"/>
                  <a:gd name="connsiteX17" fmla="*/ 903739 w 1185862"/>
                  <a:gd name="connsiteY17" fmla="*/ 146050 h 646113"/>
                  <a:gd name="connsiteX18" fmla="*/ 817562 w 1185862"/>
                  <a:gd name="connsiteY18" fmla="*/ 148903 h 646113"/>
                  <a:gd name="connsiteX19" fmla="*/ 817562 w 1185862"/>
                  <a:gd name="connsiteY19" fmla="*/ 476250 h 646113"/>
                  <a:gd name="connsiteX20" fmla="*/ 910861 w 1185862"/>
                  <a:gd name="connsiteY20" fmla="*/ 476250 h 646113"/>
                  <a:gd name="connsiteX21" fmla="*/ 993476 w 1185862"/>
                  <a:gd name="connsiteY21" fmla="*/ 450576 h 646113"/>
                  <a:gd name="connsiteX22" fmla="*/ 1025525 w 1185862"/>
                  <a:gd name="connsiteY22" fmla="*/ 381398 h 646113"/>
                  <a:gd name="connsiteX23" fmla="*/ 1007720 w 1185862"/>
                  <a:gd name="connsiteY23" fmla="*/ 322918 h 646113"/>
                  <a:gd name="connsiteX24" fmla="*/ 950744 w 1185862"/>
                  <a:gd name="connsiteY24" fmla="*/ 291538 h 646113"/>
                  <a:gd name="connsiteX25" fmla="*/ 988491 w 1185862"/>
                  <a:gd name="connsiteY25" fmla="*/ 268003 h 646113"/>
                  <a:gd name="connsiteX26" fmla="*/ 1005584 w 1185862"/>
                  <a:gd name="connsiteY26" fmla="*/ 226639 h 646113"/>
                  <a:gd name="connsiteX27" fmla="*/ 978520 w 1185862"/>
                  <a:gd name="connsiteY27" fmla="*/ 166732 h 646113"/>
                  <a:gd name="connsiteX28" fmla="*/ 903739 w 1185862"/>
                  <a:gd name="connsiteY28" fmla="*/ 146050 h 646113"/>
                  <a:gd name="connsiteX29" fmla="*/ 274004 w 1185862"/>
                  <a:gd name="connsiteY29" fmla="*/ 144462 h 646113"/>
                  <a:gd name="connsiteX30" fmla="*/ 141287 w 1185862"/>
                  <a:gd name="connsiteY30" fmla="*/ 476250 h 646113"/>
                  <a:gd name="connsiteX31" fmla="*/ 191234 w 1185862"/>
                  <a:gd name="connsiteY31" fmla="*/ 476250 h 646113"/>
                  <a:gd name="connsiteX32" fmla="*/ 215495 w 1185862"/>
                  <a:gd name="connsiteY32" fmla="*/ 407038 h 646113"/>
                  <a:gd name="connsiteX33" fmla="*/ 336795 w 1185862"/>
                  <a:gd name="connsiteY33" fmla="*/ 407038 h 646113"/>
                  <a:gd name="connsiteX34" fmla="*/ 359628 w 1185862"/>
                  <a:gd name="connsiteY34" fmla="*/ 476250 h 646113"/>
                  <a:gd name="connsiteX35" fmla="*/ 409575 w 1185862"/>
                  <a:gd name="connsiteY35" fmla="*/ 476250 h 646113"/>
                  <a:gd name="connsiteX36" fmla="*/ 286134 w 1185862"/>
                  <a:gd name="connsiteY36" fmla="*/ 144462 h 646113"/>
                  <a:gd name="connsiteX37" fmla="*/ 274004 w 1185862"/>
                  <a:gd name="connsiteY37" fmla="*/ 144462 h 646113"/>
                  <a:gd name="connsiteX38" fmla="*/ 642621 w 1185862"/>
                  <a:gd name="connsiteY38" fmla="*/ 0 h 646113"/>
                  <a:gd name="connsiteX39" fmla="*/ 1178714 w 1185862"/>
                  <a:gd name="connsiteY39" fmla="*/ 0 h 646113"/>
                  <a:gd name="connsiteX40" fmla="*/ 1185862 w 1185862"/>
                  <a:gd name="connsiteY40" fmla="*/ 7139 h 646113"/>
                  <a:gd name="connsiteX41" fmla="*/ 1183003 w 1185862"/>
                  <a:gd name="connsiteY41" fmla="*/ 638974 h 646113"/>
                  <a:gd name="connsiteX42" fmla="*/ 1175855 w 1185862"/>
                  <a:gd name="connsiteY42" fmla="*/ 646113 h 646113"/>
                  <a:gd name="connsiteX43" fmla="*/ 639762 w 1185862"/>
                  <a:gd name="connsiteY43" fmla="*/ 646113 h 646113"/>
                  <a:gd name="connsiteX44" fmla="*/ 642621 w 1185862"/>
                  <a:gd name="connsiteY44" fmla="*/ 0 h 646113"/>
                  <a:gd name="connsiteX45" fmla="*/ 10013 w 1185862"/>
                  <a:gd name="connsiteY45" fmla="*/ 0 h 646113"/>
                  <a:gd name="connsiteX46" fmla="*/ 549275 w 1185862"/>
                  <a:gd name="connsiteY46" fmla="*/ 0 h 646113"/>
                  <a:gd name="connsiteX47" fmla="*/ 546414 w 1185862"/>
                  <a:gd name="connsiteY47" fmla="*/ 646113 h 646113"/>
                  <a:gd name="connsiteX48" fmla="*/ 7152 w 1185862"/>
                  <a:gd name="connsiteY48" fmla="*/ 646113 h 646113"/>
                  <a:gd name="connsiteX49" fmla="*/ 0 w 1185862"/>
                  <a:gd name="connsiteY49" fmla="*/ 638974 h 646113"/>
                  <a:gd name="connsiteX50" fmla="*/ 2861 w 1185862"/>
                  <a:gd name="connsiteY50" fmla="*/ 7139 h 646113"/>
                  <a:gd name="connsiteX51" fmla="*/ 10013 w 1185862"/>
                  <a:gd name="connsiteY51" fmla="*/ 0 h 646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185862" h="646113">
                    <a:moveTo>
                      <a:pt x="898496" y="312737"/>
                    </a:moveTo>
                    <a:cubicBezTo>
                      <a:pt x="927110" y="312737"/>
                      <a:pt x="947855" y="317738"/>
                      <a:pt x="960016" y="327739"/>
                    </a:cubicBezTo>
                    <a:cubicBezTo>
                      <a:pt x="972177" y="338455"/>
                      <a:pt x="977900" y="354171"/>
                      <a:pt x="977900" y="374888"/>
                    </a:cubicBezTo>
                    <a:cubicBezTo>
                      <a:pt x="977900" y="398462"/>
                      <a:pt x="972177" y="414893"/>
                      <a:pt x="959301" y="425609"/>
                    </a:cubicBezTo>
                    <a:cubicBezTo>
                      <a:pt x="946424" y="436324"/>
                      <a:pt x="925679" y="441325"/>
                      <a:pt x="897780" y="441325"/>
                    </a:cubicBezTo>
                    <a:cubicBezTo>
                      <a:pt x="889196" y="441325"/>
                      <a:pt x="877750" y="440611"/>
                      <a:pt x="862012" y="439182"/>
                    </a:cubicBezTo>
                    <a:cubicBezTo>
                      <a:pt x="862012" y="314166"/>
                      <a:pt x="862012" y="314166"/>
                      <a:pt x="862012" y="314166"/>
                    </a:cubicBezTo>
                    <a:cubicBezTo>
                      <a:pt x="898496" y="312737"/>
                      <a:pt x="898496" y="312737"/>
                      <a:pt x="898496" y="312737"/>
                    </a:cubicBezTo>
                    <a:close/>
                    <a:moveTo>
                      <a:pt x="277813" y="230187"/>
                    </a:moveTo>
                    <a:lnTo>
                      <a:pt x="323850" y="374650"/>
                    </a:lnTo>
                    <a:lnTo>
                      <a:pt x="227012" y="374650"/>
                    </a:lnTo>
                    <a:close/>
                    <a:moveTo>
                      <a:pt x="902244" y="182562"/>
                    </a:moveTo>
                    <a:cubicBezTo>
                      <a:pt x="941040" y="182562"/>
                      <a:pt x="960437" y="197649"/>
                      <a:pt x="960437" y="228542"/>
                    </a:cubicBezTo>
                    <a:cubicBezTo>
                      <a:pt x="960437" y="263745"/>
                      <a:pt x="938884" y="280987"/>
                      <a:pt x="897215" y="280987"/>
                    </a:cubicBezTo>
                    <a:cubicBezTo>
                      <a:pt x="883565" y="280987"/>
                      <a:pt x="871352" y="280269"/>
                      <a:pt x="862012" y="279550"/>
                    </a:cubicBezTo>
                    <a:cubicBezTo>
                      <a:pt x="862012" y="183999"/>
                      <a:pt x="862012" y="183999"/>
                      <a:pt x="862012" y="183999"/>
                    </a:cubicBezTo>
                    <a:cubicBezTo>
                      <a:pt x="874226" y="183281"/>
                      <a:pt x="887157" y="182562"/>
                      <a:pt x="902244" y="182562"/>
                    </a:cubicBezTo>
                    <a:close/>
                    <a:moveTo>
                      <a:pt x="903739" y="146050"/>
                    </a:moveTo>
                    <a:cubicBezTo>
                      <a:pt x="885934" y="146050"/>
                      <a:pt x="857446" y="146763"/>
                      <a:pt x="817562" y="148903"/>
                    </a:cubicBezTo>
                    <a:cubicBezTo>
                      <a:pt x="817562" y="148903"/>
                      <a:pt x="817562" y="148903"/>
                      <a:pt x="817562" y="476250"/>
                    </a:cubicBezTo>
                    <a:cubicBezTo>
                      <a:pt x="817562" y="476250"/>
                      <a:pt x="817562" y="476250"/>
                      <a:pt x="910861" y="476250"/>
                    </a:cubicBezTo>
                    <a:cubicBezTo>
                      <a:pt x="945046" y="476250"/>
                      <a:pt x="972822" y="467692"/>
                      <a:pt x="993476" y="450576"/>
                    </a:cubicBezTo>
                    <a:cubicBezTo>
                      <a:pt x="1014842" y="433460"/>
                      <a:pt x="1025525" y="410638"/>
                      <a:pt x="1025525" y="381398"/>
                    </a:cubicBezTo>
                    <a:cubicBezTo>
                      <a:pt x="1025525" y="357150"/>
                      <a:pt x="1019115" y="337181"/>
                      <a:pt x="1007720" y="322918"/>
                    </a:cubicBezTo>
                    <a:cubicBezTo>
                      <a:pt x="995613" y="307941"/>
                      <a:pt x="977096" y="297956"/>
                      <a:pt x="950744" y="291538"/>
                    </a:cubicBezTo>
                    <a:cubicBezTo>
                      <a:pt x="964276" y="288685"/>
                      <a:pt x="977096" y="280840"/>
                      <a:pt x="988491" y="268003"/>
                    </a:cubicBezTo>
                    <a:cubicBezTo>
                      <a:pt x="999886" y="255879"/>
                      <a:pt x="1005584" y="241616"/>
                      <a:pt x="1005584" y="226639"/>
                    </a:cubicBezTo>
                    <a:cubicBezTo>
                      <a:pt x="1005584" y="200965"/>
                      <a:pt x="996325" y="180996"/>
                      <a:pt x="978520" y="166732"/>
                    </a:cubicBezTo>
                    <a:cubicBezTo>
                      <a:pt x="960715" y="153182"/>
                      <a:pt x="935788" y="146050"/>
                      <a:pt x="903739" y="146050"/>
                    </a:cubicBezTo>
                    <a:close/>
                    <a:moveTo>
                      <a:pt x="274004" y="144462"/>
                    </a:moveTo>
                    <a:cubicBezTo>
                      <a:pt x="274004" y="144462"/>
                      <a:pt x="274004" y="144462"/>
                      <a:pt x="141287" y="476250"/>
                    </a:cubicBezTo>
                    <a:cubicBezTo>
                      <a:pt x="141287" y="476250"/>
                      <a:pt x="141287" y="476250"/>
                      <a:pt x="191234" y="476250"/>
                    </a:cubicBezTo>
                    <a:cubicBezTo>
                      <a:pt x="191234" y="476250"/>
                      <a:pt x="191234" y="476250"/>
                      <a:pt x="215495" y="407038"/>
                    </a:cubicBezTo>
                    <a:cubicBezTo>
                      <a:pt x="215495" y="407038"/>
                      <a:pt x="215495" y="407038"/>
                      <a:pt x="336795" y="407038"/>
                    </a:cubicBezTo>
                    <a:cubicBezTo>
                      <a:pt x="336795" y="407038"/>
                      <a:pt x="336795" y="407038"/>
                      <a:pt x="359628" y="476250"/>
                    </a:cubicBezTo>
                    <a:cubicBezTo>
                      <a:pt x="359628" y="476250"/>
                      <a:pt x="359628" y="476250"/>
                      <a:pt x="409575" y="476250"/>
                    </a:cubicBezTo>
                    <a:cubicBezTo>
                      <a:pt x="409575" y="476250"/>
                      <a:pt x="409575" y="476250"/>
                      <a:pt x="286134" y="144462"/>
                    </a:cubicBezTo>
                    <a:cubicBezTo>
                      <a:pt x="286134" y="144462"/>
                      <a:pt x="286134" y="144462"/>
                      <a:pt x="274004" y="144462"/>
                    </a:cubicBezTo>
                    <a:close/>
                    <a:moveTo>
                      <a:pt x="642621" y="0"/>
                    </a:moveTo>
                    <a:cubicBezTo>
                      <a:pt x="642621" y="0"/>
                      <a:pt x="642621" y="0"/>
                      <a:pt x="1178714" y="0"/>
                    </a:cubicBezTo>
                    <a:cubicBezTo>
                      <a:pt x="1183003" y="0"/>
                      <a:pt x="1185862" y="2856"/>
                      <a:pt x="1185862" y="7139"/>
                    </a:cubicBezTo>
                    <a:cubicBezTo>
                      <a:pt x="1185862" y="7139"/>
                      <a:pt x="1185862" y="7139"/>
                      <a:pt x="1183003" y="638974"/>
                    </a:cubicBezTo>
                    <a:cubicBezTo>
                      <a:pt x="1183003" y="643257"/>
                      <a:pt x="1180144" y="646113"/>
                      <a:pt x="1175855" y="646113"/>
                    </a:cubicBezTo>
                    <a:cubicBezTo>
                      <a:pt x="1175855" y="646113"/>
                      <a:pt x="1175855" y="646113"/>
                      <a:pt x="639762" y="646113"/>
                    </a:cubicBezTo>
                    <a:cubicBezTo>
                      <a:pt x="639762" y="646113"/>
                      <a:pt x="639762" y="646113"/>
                      <a:pt x="642621" y="0"/>
                    </a:cubicBezTo>
                    <a:close/>
                    <a:moveTo>
                      <a:pt x="10013" y="0"/>
                    </a:moveTo>
                    <a:cubicBezTo>
                      <a:pt x="10013" y="0"/>
                      <a:pt x="10013" y="0"/>
                      <a:pt x="549275" y="0"/>
                    </a:cubicBezTo>
                    <a:cubicBezTo>
                      <a:pt x="549275" y="0"/>
                      <a:pt x="549275" y="0"/>
                      <a:pt x="546414" y="646113"/>
                    </a:cubicBezTo>
                    <a:cubicBezTo>
                      <a:pt x="546414" y="646113"/>
                      <a:pt x="546414" y="646113"/>
                      <a:pt x="7152" y="646113"/>
                    </a:cubicBezTo>
                    <a:cubicBezTo>
                      <a:pt x="2861" y="646113"/>
                      <a:pt x="0" y="643257"/>
                      <a:pt x="0" y="638974"/>
                    </a:cubicBezTo>
                    <a:cubicBezTo>
                      <a:pt x="0" y="638974"/>
                      <a:pt x="0" y="638974"/>
                      <a:pt x="2861" y="7139"/>
                    </a:cubicBezTo>
                    <a:cubicBezTo>
                      <a:pt x="2861" y="2856"/>
                      <a:pt x="5722" y="0"/>
                      <a:pt x="10013"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p>
            </p:txBody>
          </p:sp>
        </p:grpSp>
      </p:grpSp>
      <p:sp>
        <p:nvSpPr>
          <p:cNvPr id="3" name="ee4pContent1">
            <a:extLst>
              <a:ext uri="{FF2B5EF4-FFF2-40B4-BE49-F238E27FC236}">
                <a16:creationId xmlns:a16="http://schemas.microsoft.com/office/drawing/2014/main" id="{286D8782-234F-4E4C-AE52-4524362087A7}"/>
              </a:ext>
            </a:extLst>
          </p:cNvPr>
          <p:cNvSpPr txBox="1"/>
          <p:nvPr/>
        </p:nvSpPr>
        <p:spPr>
          <a:xfrm>
            <a:off x="630000" y="2459199"/>
            <a:ext cx="3432461" cy="3699555"/>
          </a:xfrm>
          <a:prstGeom prst="rect">
            <a:avLst/>
          </a:prstGeom>
          <a:solidFill>
            <a:schemeClr val="accent4">
              <a:lumMod val="20000"/>
              <a:lumOff val="80000"/>
              <a:alpha val="60000"/>
            </a:schemeClr>
          </a:solidFill>
          <a:ln cap="rnd">
            <a:noFill/>
          </a:ln>
        </p:spPr>
        <p:txBody>
          <a:bodyPr vert="horz" wrap="square" lIns="0" tIns="0" rIns="0" bIns="0" rtlCol="0">
            <a:noAutofit/>
          </a:bodyPr>
          <a:lstStyle>
            <a:lvl1pPr lvl="0" indent="0">
              <a:lnSpc>
                <a:spcPct val="100000"/>
              </a:lnSpc>
              <a:spcBef>
                <a:spcPts val="0"/>
              </a:spcBef>
              <a:spcAft>
                <a:spcPts val="0"/>
              </a:spcAft>
              <a:buFont typeface="Trebuchet MS" panose="020B0603020202020204" pitchFamily="34" charset="0"/>
              <a:buChar char="​"/>
              <a:defRPr sz="2000">
                <a:latin typeface="Trebuchet MS" panose="020B0603020202020204" pitchFamily="34" charset="0"/>
                <a:sym typeface="Trebuchet MS" panose="020B0603020202020204" pitchFamily="34" charset="0"/>
              </a:defRPr>
            </a:lvl1pPr>
            <a:lvl2pPr marL="324000" lvl="1" indent="-216000">
              <a:lnSpc>
                <a:spcPct val="100000"/>
              </a:lnSpc>
              <a:spcBef>
                <a:spcPts val="0"/>
              </a:spcBef>
              <a:spcAft>
                <a:spcPts val="0"/>
              </a:spcAft>
              <a:buClr>
                <a:schemeClr val="tx2"/>
              </a:buClr>
              <a:buFont typeface="Trebuchet MS" panose="020B0603020202020204" pitchFamily="34" charset="0"/>
              <a:buChar char="•"/>
              <a:defRPr sz="2000">
                <a:latin typeface="Trebuchet MS" panose="020B0603020202020204" pitchFamily="34" charset="0"/>
                <a:sym typeface="Trebuchet MS" panose="020B0603020202020204" pitchFamily="34" charset="0"/>
              </a:defRPr>
            </a:lvl2pPr>
            <a:lvl3pPr marL="648000" lvl="2" indent="-216000">
              <a:lnSpc>
                <a:spcPct val="100000"/>
              </a:lnSpc>
              <a:spcBef>
                <a:spcPts val="0"/>
              </a:spcBef>
              <a:spcAft>
                <a:spcPts val="0"/>
              </a:spcAft>
              <a:buClr>
                <a:schemeClr val="tx2"/>
              </a:buClr>
              <a:buFont typeface="Trebuchet MS" panose="020B0603020202020204" pitchFamily="34" charset="0"/>
              <a:buChar char="–"/>
              <a:defRPr sz="2000">
                <a:latin typeface="Trebuchet MS" panose="020B0603020202020204" pitchFamily="34" charset="0"/>
                <a:sym typeface="Trebuchet MS" panose="020B0603020202020204" pitchFamily="34" charset="0"/>
              </a:defRPr>
            </a:lvl3pPr>
            <a:lvl4pPr marL="0" lvl="3" indent="0">
              <a:lnSpc>
                <a:spcPct val="100000"/>
              </a:lnSpc>
              <a:spcBef>
                <a:spcPts val="0"/>
              </a:spcBef>
              <a:spcAft>
                <a:spcPts val="0"/>
              </a:spcAft>
              <a:buClr>
                <a:schemeClr val="tx2"/>
              </a:buClr>
              <a:buFont typeface="Trebuchet MS" panose="020B0603020202020204" pitchFamily="34" charset="0"/>
              <a:buChar char="​"/>
              <a:defRPr sz="2400">
                <a:solidFill>
                  <a:schemeClr val="tx2"/>
                </a:solidFill>
                <a:latin typeface="Trebuchet MS" panose="020B0603020202020204" pitchFamily="34" charset="0"/>
                <a:sym typeface="Trebuchet MS" panose="020B0603020202020204" pitchFamily="34" charset="0"/>
              </a:defRPr>
            </a:lvl4pPr>
            <a:lvl5pPr marL="0" lvl="4" indent="0">
              <a:lnSpc>
                <a:spcPct val="100000"/>
              </a:lnSpc>
              <a:spcBef>
                <a:spcPts val="0"/>
              </a:spcBef>
              <a:spcAft>
                <a:spcPts val="0"/>
              </a:spcAft>
              <a:buClrTx/>
              <a:buFont typeface="Trebuchet MS" panose="020B0603020202020204" pitchFamily="34" charset="0"/>
              <a:buChar char="​"/>
              <a:defRPr sz="2400" b="1">
                <a:latin typeface="Trebuchet MS" panose="020B0603020202020204" pitchFamily="34" charset="0"/>
                <a:sym typeface="Trebuchet MS" panose="020B0603020202020204" pitchFamily="34" charset="0"/>
              </a:defRPr>
            </a:lvl5pPr>
            <a:lvl6pPr marL="324000" lvl="5" indent="-216000">
              <a:lnSpc>
                <a:spcPct val="100000"/>
              </a:lnSpc>
              <a:spcBef>
                <a:spcPts val="0"/>
              </a:spcBef>
              <a:spcAft>
                <a:spcPts val="0"/>
              </a:spcAft>
              <a:buClr>
                <a:schemeClr val="tx2"/>
              </a:buClr>
              <a:buFont typeface="Trebuchet MS" panose="020B0603020202020204" pitchFamily="34" charset="0"/>
              <a:buChar char="•"/>
              <a:defRPr sz="2400">
                <a:latin typeface="Trebuchet MS" panose="020B0603020202020204" pitchFamily="34" charset="0"/>
                <a:sym typeface="Trebuchet MS" panose="020B0603020202020204" pitchFamily="34" charset="0"/>
              </a:defRPr>
            </a:lvl6pPr>
            <a:lvl7pPr marL="0" lvl="6" indent="0">
              <a:lnSpc>
                <a:spcPct val="100000"/>
              </a:lnSpc>
              <a:spcBef>
                <a:spcPts val="0"/>
              </a:spcBef>
              <a:spcAft>
                <a:spcPts val="0"/>
              </a:spcAft>
              <a:buFont typeface="Trebuchet MS" panose="020B0603020202020204" pitchFamily="34" charset="0"/>
              <a:buChar char="​"/>
              <a:defRPr sz="5400" baseline="0">
                <a:latin typeface="Trebuchet MS" panose="020B0603020202020204" pitchFamily="34" charset="0"/>
                <a:sym typeface="Trebuchet MS" panose="020B0603020202020204" pitchFamily="34" charset="0"/>
              </a:defRPr>
            </a:lvl7pPr>
            <a:lvl8pPr marL="0" lvl="7" indent="0">
              <a:lnSpc>
                <a:spcPct val="100000"/>
              </a:lnSpc>
              <a:spcBef>
                <a:spcPts val="0"/>
              </a:spcBef>
              <a:spcAft>
                <a:spcPts val="0"/>
              </a:spcAft>
              <a:buFont typeface="Trebuchet MS" panose="020B0603020202020204" pitchFamily="34" charset="0"/>
              <a:buChar char="​"/>
              <a:defRPr sz="6600">
                <a:solidFill>
                  <a:schemeClr val="tx2"/>
                </a:solidFill>
                <a:latin typeface="Trebuchet MS" panose="020B0603020202020204" pitchFamily="34" charset="0"/>
                <a:sym typeface="Trebuchet MS" panose="020B0603020202020204" pitchFamily="34" charset="0"/>
              </a:defRPr>
            </a:lvl8pPr>
            <a:lvl9pPr marL="0" lvl="8" indent="0">
              <a:lnSpc>
                <a:spcPct val="100000"/>
              </a:lnSpc>
              <a:spcBef>
                <a:spcPts val="0"/>
              </a:spcBef>
              <a:spcAft>
                <a:spcPts val="0"/>
              </a:spcAft>
              <a:buFont typeface="Trebuchet MS" panose="020B0603020202020204" pitchFamily="34" charset="0"/>
              <a:buChar char="​"/>
              <a:defRPr sz="4400">
                <a:solidFill>
                  <a:schemeClr val="tx2"/>
                </a:solidFill>
                <a:latin typeface="Trebuchet MS" panose="020B0603020202020204" pitchFamily="34" charset="0"/>
                <a:sym typeface="Trebuchet MS" panose="020B0603020202020204" pitchFamily="34" charset="0"/>
              </a:defRPr>
            </a:lvl9pPr>
          </a:lstStyle>
          <a:p>
            <a:endParaRPr lang="en-US">
              <a:latin typeface="+mn-lt"/>
            </a:endParaRPr>
          </a:p>
        </p:txBody>
      </p:sp>
      <p:sp>
        <p:nvSpPr>
          <p:cNvPr id="11" name="Rectangle 10">
            <a:extLst>
              <a:ext uri="{FF2B5EF4-FFF2-40B4-BE49-F238E27FC236}">
                <a16:creationId xmlns:a16="http://schemas.microsoft.com/office/drawing/2014/main" id="{3D5E3F8C-2393-456B-A16A-D9404D40DF4C}"/>
              </a:ext>
            </a:extLst>
          </p:cNvPr>
          <p:cNvSpPr/>
          <p:nvPr/>
        </p:nvSpPr>
        <p:spPr>
          <a:xfrm>
            <a:off x="630000" y="2084294"/>
            <a:ext cx="3432460" cy="374904"/>
          </a:xfrm>
          <a:prstGeom prst="rect">
            <a:avLst/>
          </a:prstGeom>
          <a:solidFill>
            <a:schemeClr val="tx2"/>
          </a:solidFill>
          <a:ln w="7620"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576" tIns="36576" rIns="36576" bIns="36576" numCol="1" spcCol="0" rtlCol="0" fromWordArt="0" anchor="ctr" anchorCtr="0" forceAA="0" compatLnSpc="1">
            <a:prstTxWarp prst="textNoShape">
              <a:avLst/>
            </a:prstTxWarp>
            <a:spAutoFit/>
          </a:bodyPr>
          <a:lstStyle/>
          <a:p>
            <a:pPr algn="ctr"/>
            <a:r>
              <a:rPr lang="en-US" sz="1400" b="1">
                <a:solidFill>
                  <a:schemeClr val="bg1"/>
                </a:solidFill>
                <a:sym typeface="Trebuchet MS" panose="020B0603020202020204" pitchFamily="34" charset="0"/>
              </a:rPr>
              <a:t>Step 1: Define Target Customers</a:t>
            </a:r>
          </a:p>
        </p:txBody>
      </p:sp>
      <p:grpSp>
        <p:nvGrpSpPr>
          <p:cNvPr id="5" name="Group 4">
            <a:extLst>
              <a:ext uri="{FF2B5EF4-FFF2-40B4-BE49-F238E27FC236}">
                <a16:creationId xmlns:a16="http://schemas.microsoft.com/office/drawing/2014/main" id="{A3E9E0C6-A0BA-4058-A54B-C8A4D5DF247A}"/>
              </a:ext>
            </a:extLst>
          </p:cNvPr>
          <p:cNvGrpSpPr>
            <a:grpSpLocks noChangeAspect="1"/>
          </p:cNvGrpSpPr>
          <p:nvPr/>
        </p:nvGrpSpPr>
        <p:grpSpPr>
          <a:xfrm>
            <a:off x="772402" y="3116943"/>
            <a:ext cx="632015" cy="632601"/>
            <a:chOff x="5273801" y="2606040"/>
            <a:chExt cx="1644396" cy="1645920"/>
          </a:xfrm>
        </p:grpSpPr>
        <p:sp>
          <p:nvSpPr>
            <p:cNvPr id="6" name="AutoShape 33">
              <a:extLst>
                <a:ext uri="{FF2B5EF4-FFF2-40B4-BE49-F238E27FC236}">
                  <a16:creationId xmlns:a16="http://schemas.microsoft.com/office/drawing/2014/main" id="{3102751E-DF3F-4F88-91A2-4625A52B0BEF}"/>
                </a:ext>
              </a:extLst>
            </p:cNvPr>
            <p:cNvSpPr>
              <a:spLocks noChangeAspect="1" noChangeArrowheads="1" noTextEdit="1"/>
            </p:cNvSpPr>
            <p:nvPr/>
          </p:nvSpPr>
          <p:spPr bwMode="auto">
            <a:xfrm>
              <a:off x="5273801" y="2606040"/>
              <a:ext cx="1644396" cy="1645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7" name="Group 6">
              <a:extLst>
                <a:ext uri="{FF2B5EF4-FFF2-40B4-BE49-F238E27FC236}">
                  <a16:creationId xmlns:a16="http://schemas.microsoft.com/office/drawing/2014/main" id="{6DC9BF09-4BB9-4460-8ABE-0DCED59AE932}"/>
                </a:ext>
              </a:extLst>
            </p:cNvPr>
            <p:cNvGrpSpPr/>
            <p:nvPr/>
          </p:nvGrpSpPr>
          <p:grpSpPr>
            <a:xfrm>
              <a:off x="5445632" y="2775204"/>
              <a:ext cx="1301877" cy="1306068"/>
              <a:chOff x="5445632" y="2775204"/>
              <a:chExt cx="1301877" cy="1306068"/>
            </a:xfrm>
          </p:grpSpPr>
          <p:sp>
            <p:nvSpPr>
              <p:cNvPr id="8" name="Freeform 35">
                <a:extLst>
                  <a:ext uri="{FF2B5EF4-FFF2-40B4-BE49-F238E27FC236}">
                    <a16:creationId xmlns:a16="http://schemas.microsoft.com/office/drawing/2014/main" id="{8F5371E0-CC86-4D43-8198-A9B1D80FFF91}"/>
                  </a:ext>
                </a:extLst>
              </p:cNvPr>
              <p:cNvSpPr>
                <a:spLocks noEditPoints="1"/>
              </p:cNvSpPr>
              <p:nvPr/>
            </p:nvSpPr>
            <p:spPr bwMode="auto">
              <a:xfrm>
                <a:off x="5445632" y="2775204"/>
                <a:ext cx="1301877" cy="1306068"/>
              </a:xfrm>
              <a:custGeom>
                <a:avLst/>
                <a:gdLst>
                  <a:gd name="T0" fmla="*/ 236 w 1824"/>
                  <a:gd name="T1" fmla="*/ 118 h 1828"/>
                  <a:gd name="T2" fmla="*/ 118 w 1824"/>
                  <a:gd name="T3" fmla="*/ 191 h 1828"/>
                  <a:gd name="T4" fmla="*/ 414 w 1824"/>
                  <a:gd name="T5" fmla="*/ 22 h 1828"/>
                  <a:gd name="T6" fmla="*/ 458 w 1824"/>
                  <a:gd name="T7" fmla="*/ 22 h 1828"/>
                  <a:gd name="T8" fmla="*/ 753 w 1824"/>
                  <a:gd name="T9" fmla="*/ 0 h 1828"/>
                  <a:gd name="T10" fmla="*/ 680 w 1824"/>
                  <a:gd name="T11" fmla="*/ 118 h 1828"/>
                  <a:gd name="T12" fmla="*/ 1071 w 1824"/>
                  <a:gd name="T13" fmla="*/ 0 h 1828"/>
                  <a:gd name="T14" fmla="*/ 1093 w 1824"/>
                  <a:gd name="T15" fmla="*/ 213 h 1828"/>
                  <a:gd name="T16" fmla="*/ 1366 w 1824"/>
                  <a:gd name="T17" fmla="*/ 22 h 1828"/>
                  <a:gd name="T18" fmla="*/ 1410 w 1824"/>
                  <a:gd name="T19" fmla="*/ 22 h 1828"/>
                  <a:gd name="T20" fmla="*/ 1706 w 1824"/>
                  <a:gd name="T21" fmla="*/ 0 h 1828"/>
                  <a:gd name="T22" fmla="*/ 1632 w 1824"/>
                  <a:gd name="T23" fmla="*/ 118 h 1828"/>
                  <a:gd name="T24" fmla="*/ 118 w 1824"/>
                  <a:gd name="T25" fmla="*/ 319 h 1828"/>
                  <a:gd name="T26" fmla="*/ 140 w 1824"/>
                  <a:gd name="T27" fmla="*/ 532 h 1828"/>
                  <a:gd name="T28" fmla="*/ 953 w 1824"/>
                  <a:gd name="T29" fmla="*/ 436 h 1828"/>
                  <a:gd name="T30" fmla="*/ 1071 w 1824"/>
                  <a:gd name="T31" fmla="*/ 363 h 1828"/>
                  <a:gd name="T32" fmla="*/ 1071 w 1824"/>
                  <a:gd name="T33" fmla="*/ 363 h 1828"/>
                  <a:gd name="T34" fmla="*/ 1388 w 1824"/>
                  <a:gd name="T35" fmla="*/ 554 h 1828"/>
                  <a:gd name="T36" fmla="*/ 1706 w 1824"/>
                  <a:gd name="T37" fmla="*/ 554 h 1828"/>
                  <a:gd name="T38" fmla="*/ 1706 w 1824"/>
                  <a:gd name="T39" fmla="*/ 554 h 1828"/>
                  <a:gd name="T40" fmla="*/ 1780 w 1824"/>
                  <a:gd name="T41" fmla="*/ 436 h 1828"/>
                  <a:gd name="T42" fmla="*/ 118 w 1824"/>
                  <a:gd name="T43" fmla="*/ 637 h 1828"/>
                  <a:gd name="T44" fmla="*/ 44 w 1824"/>
                  <a:gd name="T45" fmla="*/ 755 h 1828"/>
                  <a:gd name="T46" fmla="*/ 1071 w 1824"/>
                  <a:gd name="T47" fmla="*/ 872 h 1828"/>
                  <a:gd name="T48" fmla="*/ 1071 w 1824"/>
                  <a:gd name="T49" fmla="*/ 872 h 1828"/>
                  <a:gd name="T50" fmla="*/ 1144 w 1824"/>
                  <a:gd name="T51" fmla="*/ 755 h 1828"/>
                  <a:gd name="T52" fmla="*/ 1388 w 1824"/>
                  <a:gd name="T53" fmla="*/ 637 h 1828"/>
                  <a:gd name="T54" fmla="*/ 1315 w 1824"/>
                  <a:gd name="T55" fmla="*/ 755 h 1828"/>
                  <a:gd name="T56" fmla="*/ 1706 w 1824"/>
                  <a:gd name="T57" fmla="*/ 637 h 1828"/>
                  <a:gd name="T58" fmla="*/ 1728 w 1824"/>
                  <a:gd name="T59" fmla="*/ 850 h 1828"/>
                  <a:gd name="T60" fmla="*/ 96 w 1824"/>
                  <a:gd name="T61" fmla="*/ 978 h 1828"/>
                  <a:gd name="T62" fmla="*/ 140 w 1824"/>
                  <a:gd name="T63" fmla="*/ 978 h 1828"/>
                  <a:gd name="T64" fmla="*/ 436 w 1824"/>
                  <a:gd name="T65" fmla="*/ 956 h 1828"/>
                  <a:gd name="T66" fmla="*/ 362 w 1824"/>
                  <a:gd name="T67" fmla="*/ 1073 h 1828"/>
                  <a:gd name="T68" fmla="*/ 753 w 1824"/>
                  <a:gd name="T69" fmla="*/ 956 h 1828"/>
                  <a:gd name="T70" fmla="*/ 775 w 1824"/>
                  <a:gd name="T71" fmla="*/ 1169 h 1828"/>
                  <a:gd name="T72" fmla="*/ 1049 w 1824"/>
                  <a:gd name="T73" fmla="*/ 978 h 1828"/>
                  <a:gd name="T74" fmla="*/ 1093 w 1824"/>
                  <a:gd name="T75" fmla="*/ 978 h 1828"/>
                  <a:gd name="T76" fmla="*/ 1388 w 1824"/>
                  <a:gd name="T77" fmla="*/ 956 h 1828"/>
                  <a:gd name="T78" fmla="*/ 1315 w 1824"/>
                  <a:gd name="T79" fmla="*/ 1073 h 1828"/>
                  <a:gd name="T80" fmla="*/ 1706 w 1824"/>
                  <a:gd name="T81" fmla="*/ 956 h 1828"/>
                  <a:gd name="T82" fmla="*/ 1728 w 1824"/>
                  <a:gd name="T83" fmla="*/ 1169 h 1828"/>
                  <a:gd name="T84" fmla="*/ 0 w 1824"/>
                  <a:gd name="T85" fmla="*/ 1392 h 1828"/>
                  <a:gd name="T86" fmla="*/ 118 w 1824"/>
                  <a:gd name="T87" fmla="*/ 1318 h 1828"/>
                  <a:gd name="T88" fmla="*/ 118 w 1824"/>
                  <a:gd name="T89" fmla="*/ 1318 h 1828"/>
                  <a:gd name="T90" fmla="*/ 436 w 1824"/>
                  <a:gd name="T91" fmla="*/ 1509 h 1828"/>
                  <a:gd name="T92" fmla="*/ 753 w 1824"/>
                  <a:gd name="T93" fmla="*/ 1509 h 1828"/>
                  <a:gd name="T94" fmla="*/ 753 w 1824"/>
                  <a:gd name="T95" fmla="*/ 1509 h 1828"/>
                  <a:gd name="T96" fmla="*/ 827 w 1824"/>
                  <a:gd name="T97" fmla="*/ 1392 h 1828"/>
                  <a:gd name="T98" fmla="*/ 1706 w 1824"/>
                  <a:gd name="T99" fmla="*/ 1274 h 1828"/>
                  <a:gd name="T100" fmla="*/ 1632 w 1824"/>
                  <a:gd name="T101" fmla="*/ 1392 h 1828"/>
                  <a:gd name="T102" fmla="*/ 118 w 1824"/>
                  <a:gd name="T103" fmla="*/ 1828 h 1828"/>
                  <a:gd name="T104" fmla="*/ 118 w 1824"/>
                  <a:gd name="T105" fmla="*/ 1828 h 1828"/>
                  <a:gd name="T106" fmla="*/ 192 w 1824"/>
                  <a:gd name="T107" fmla="*/ 1710 h 1828"/>
                  <a:gd name="T108" fmla="*/ 414 w 1824"/>
                  <a:gd name="T109" fmla="*/ 1806 h 1828"/>
                  <a:gd name="T110" fmla="*/ 436 w 1824"/>
                  <a:gd name="T111" fmla="*/ 1593 h 1828"/>
                  <a:gd name="T112" fmla="*/ 871 w 1824"/>
                  <a:gd name="T113" fmla="*/ 1710 h 1828"/>
                  <a:gd name="T114" fmla="*/ 753 w 1824"/>
                  <a:gd name="T115" fmla="*/ 1784 h 1828"/>
                  <a:gd name="T116" fmla="*/ 1588 w 1824"/>
                  <a:gd name="T117" fmla="*/ 1710 h 1828"/>
                  <a:gd name="T118" fmla="*/ 1706 w 1824"/>
                  <a:gd name="T119" fmla="*/ 1637 h 1828"/>
                  <a:gd name="T120" fmla="*/ 1706 w 1824"/>
                  <a:gd name="T121" fmla="*/ 1637 h 1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24" h="1828">
                    <a:moveTo>
                      <a:pt x="118" y="235"/>
                    </a:moveTo>
                    <a:cubicBezTo>
                      <a:pt x="53" y="235"/>
                      <a:pt x="0" y="183"/>
                      <a:pt x="0" y="118"/>
                    </a:cubicBezTo>
                    <a:cubicBezTo>
                      <a:pt x="0" y="53"/>
                      <a:pt x="53" y="0"/>
                      <a:pt x="118" y="0"/>
                    </a:cubicBezTo>
                    <a:cubicBezTo>
                      <a:pt x="183" y="0"/>
                      <a:pt x="236" y="53"/>
                      <a:pt x="236" y="118"/>
                    </a:cubicBezTo>
                    <a:cubicBezTo>
                      <a:pt x="236" y="183"/>
                      <a:pt x="183" y="235"/>
                      <a:pt x="118" y="235"/>
                    </a:cubicBezTo>
                    <a:close/>
                    <a:moveTo>
                      <a:pt x="118" y="44"/>
                    </a:moveTo>
                    <a:cubicBezTo>
                      <a:pt x="77" y="44"/>
                      <a:pt x="44" y="77"/>
                      <a:pt x="44" y="118"/>
                    </a:cubicBezTo>
                    <a:cubicBezTo>
                      <a:pt x="44" y="158"/>
                      <a:pt x="77" y="191"/>
                      <a:pt x="118" y="191"/>
                    </a:cubicBezTo>
                    <a:cubicBezTo>
                      <a:pt x="159" y="191"/>
                      <a:pt x="192" y="158"/>
                      <a:pt x="192" y="118"/>
                    </a:cubicBezTo>
                    <a:cubicBezTo>
                      <a:pt x="192" y="77"/>
                      <a:pt x="159" y="44"/>
                      <a:pt x="118" y="44"/>
                    </a:cubicBezTo>
                    <a:close/>
                    <a:moveTo>
                      <a:pt x="436" y="0"/>
                    </a:moveTo>
                    <a:cubicBezTo>
                      <a:pt x="424" y="0"/>
                      <a:pt x="414" y="10"/>
                      <a:pt x="414" y="22"/>
                    </a:cubicBezTo>
                    <a:cubicBezTo>
                      <a:pt x="414" y="213"/>
                      <a:pt x="414" y="213"/>
                      <a:pt x="414" y="213"/>
                    </a:cubicBezTo>
                    <a:cubicBezTo>
                      <a:pt x="414" y="225"/>
                      <a:pt x="424" y="235"/>
                      <a:pt x="436" y="235"/>
                    </a:cubicBezTo>
                    <a:cubicBezTo>
                      <a:pt x="448" y="235"/>
                      <a:pt x="458" y="225"/>
                      <a:pt x="458" y="213"/>
                    </a:cubicBezTo>
                    <a:cubicBezTo>
                      <a:pt x="458" y="22"/>
                      <a:pt x="458" y="22"/>
                      <a:pt x="458" y="22"/>
                    </a:cubicBezTo>
                    <a:cubicBezTo>
                      <a:pt x="458" y="10"/>
                      <a:pt x="448" y="0"/>
                      <a:pt x="436" y="0"/>
                    </a:cubicBezTo>
                    <a:close/>
                    <a:moveTo>
                      <a:pt x="753" y="235"/>
                    </a:moveTo>
                    <a:cubicBezTo>
                      <a:pt x="688" y="235"/>
                      <a:pt x="636" y="183"/>
                      <a:pt x="636" y="118"/>
                    </a:cubicBezTo>
                    <a:cubicBezTo>
                      <a:pt x="636" y="53"/>
                      <a:pt x="688" y="0"/>
                      <a:pt x="753" y="0"/>
                    </a:cubicBezTo>
                    <a:cubicBezTo>
                      <a:pt x="818" y="0"/>
                      <a:pt x="871" y="53"/>
                      <a:pt x="871" y="118"/>
                    </a:cubicBezTo>
                    <a:cubicBezTo>
                      <a:pt x="871" y="183"/>
                      <a:pt x="818" y="235"/>
                      <a:pt x="753" y="235"/>
                    </a:cubicBezTo>
                    <a:close/>
                    <a:moveTo>
                      <a:pt x="753" y="44"/>
                    </a:moveTo>
                    <a:cubicBezTo>
                      <a:pt x="713" y="44"/>
                      <a:pt x="680" y="77"/>
                      <a:pt x="680" y="118"/>
                    </a:cubicBezTo>
                    <a:cubicBezTo>
                      <a:pt x="680" y="158"/>
                      <a:pt x="713" y="191"/>
                      <a:pt x="753" y="191"/>
                    </a:cubicBezTo>
                    <a:cubicBezTo>
                      <a:pt x="794" y="191"/>
                      <a:pt x="827" y="158"/>
                      <a:pt x="827" y="118"/>
                    </a:cubicBezTo>
                    <a:cubicBezTo>
                      <a:pt x="827" y="77"/>
                      <a:pt x="794" y="44"/>
                      <a:pt x="753" y="44"/>
                    </a:cubicBezTo>
                    <a:close/>
                    <a:moveTo>
                      <a:pt x="1071" y="0"/>
                    </a:moveTo>
                    <a:cubicBezTo>
                      <a:pt x="1059" y="0"/>
                      <a:pt x="1049" y="10"/>
                      <a:pt x="1049" y="22"/>
                    </a:cubicBezTo>
                    <a:cubicBezTo>
                      <a:pt x="1049" y="213"/>
                      <a:pt x="1049" y="213"/>
                      <a:pt x="1049" y="213"/>
                    </a:cubicBezTo>
                    <a:cubicBezTo>
                      <a:pt x="1049" y="225"/>
                      <a:pt x="1059" y="235"/>
                      <a:pt x="1071" y="235"/>
                    </a:cubicBezTo>
                    <a:cubicBezTo>
                      <a:pt x="1083" y="235"/>
                      <a:pt x="1093" y="225"/>
                      <a:pt x="1093" y="213"/>
                    </a:cubicBezTo>
                    <a:cubicBezTo>
                      <a:pt x="1093" y="22"/>
                      <a:pt x="1093" y="22"/>
                      <a:pt x="1093" y="22"/>
                    </a:cubicBezTo>
                    <a:cubicBezTo>
                      <a:pt x="1093" y="10"/>
                      <a:pt x="1083" y="0"/>
                      <a:pt x="1071" y="0"/>
                    </a:cubicBezTo>
                    <a:close/>
                    <a:moveTo>
                      <a:pt x="1388" y="0"/>
                    </a:moveTo>
                    <a:cubicBezTo>
                      <a:pt x="1376" y="0"/>
                      <a:pt x="1366" y="10"/>
                      <a:pt x="1366" y="22"/>
                    </a:cubicBezTo>
                    <a:cubicBezTo>
                      <a:pt x="1366" y="213"/>
                      <a:pt x="1366" y="213"/>
                      <a:pt x="1366" y="213"/>
                    </a:cubicBezTo>
                    <a:cubicBezTo>
                      <a:pt x="1366" y="225"/>
                      <a:pt x="1376" y="235"/>
                      <a:pt x="1388" y="235"/>
                    </a:cubicBezTo>
                    <a:cubicBezTo>
                      <a:pt x="1400" y="235"/>
                      <a:pt x="1410" y="225"/>
                      <a:pt x="1410" y="213"/>
                    </a:cubicBezTo>
                    <a:cubicBezTo>
                      <a:pt x="1410" y="22"/>
                      <a:pt x="1410" y="22"/>
                      <a:pt x="1410" y="22"/>
                    </a:cubicBezTo>
                    <a:cubicBezTo>
                      <a:pt x="1410" y="10"/>
                      <a:pt x="1400" y="0"/>
                      <a:pt x="1388" y="0"/>
                    </a:cubicBezTo>
                    <a:close/>
                    <a:moveTo>
                      <a:pt x="1706" y="235"/>
                    </a:moveTo>
                    <a:cubicBezTo>
                      <a:pt x="1641" y="235"/>
                      <a:pt x="1588" y="183"/>
                      <a:pt x="1588" y="118"/>
                    </a:cubicBezTo>
                    <a:cubicBezTo>
                      <a:pt x="1588" y="53"/>
                      <a:pt x="1641" y="0"/>
                      <a:pt x="1706" y="0"/>
                    </a:cubicBezTo>
                    <a:cubicBezTo>
                      <a:pt x="1771" y="0"/>
                      <a:pt x="1824" y="53"/>
                      <a:pt x="1824" y="118"/>
                    </a:cubicBezTo>
                    <a:cubicBezTo>
                      <a:pt x="1824" y="183"/>
                      <a:pt x="1771" y="235"/>
                      <a:pt x="1706" y="235"/>
                    </a:cubicBezTo>
                    <a:close/>
                    <a:moveTo>
                      <a:pt x="1706" y="44"/>
                    </a:moveTo>
                    <a:cubicBezTo>
                      <a:pt x="1665" y="44"/>
                      <a:pt x="1632" y="77"/>
                      <a:pt x="1632" y="118"/>
                    </a:cubicBezTo>
                    <a:cubicBezTo>
                      <a:pt x="1632" y="158"/>
                      <a:pt x="1665" y="191"/>
                      <a:pt x="1706" y="191"/>
                    </a:cubicBezTo>
                    <a:cubicBezTo>
                      <a:pt x="1747" y="191"/>
                      <a:pt x="1780" y="158"/>
                      <a:pt x="1780" y="118"/>
                    </a:cubicBezTo>
                    <a:cubicBezTo>
                      <a:pt x="1780" y="77"/>
                      <a:pt x="1747" y="44"/>
                      <a:pt x="1706" y="44"/>
                    </a:cubicBezTo>
                    <a:close/>
                    <a:moveTo>
                      <a:pt x="118" y="319"/>
                    </a:moveTo>
                    <a:cubicBezTo>
                      <a:pt x="106" y="319"/>
                      <a:pt x="96" y="328"/>
                      <a:pt x="96" y="341"/>
                    </a:cubicBezTo>
                    <a:cubicBezTo>
                      <a:pt x="96" y="532"/>
                      <a:pt x="96" y="532"/>
                      <a:pt x="96" y="532"/>
                    </a:cubicBezTo>
                    <a:cubicBezTo>
                      <a:pt x="96" y="544"/>
                      <a:pt x="106" y="554"/>
                      <a:pt x="118" y="554"/>
                    </a:cubicBezTo>
                    <a:cubicBezTo>
                      <a:pt x="130" y="554"/>
                      <a:pt x="140" y="544"/>
                      <a:pt x="140" y="532"/>
                    </a:cubicBezTo>
                    <a:cubicBezTo>
                      <a:pt x="140" y="341"/>
                      <a:pt x="140" y="341"/>
                      <a:pt x="140" y="341"/>
                    </a:cubicBezTo>
                    <a:cubicBezTo>
                      <a:pt x="140" y="328"/>
                      <a:pt x="130" y="319"/>
                      <a:pt x="118" y="319"/>
                    </a:cubicBezTo>
                    <a:close/>
                    <a:moveTo>
                      <a:pt x="1071" y="554"/>
                    </a:moveTo>
                    <a:cubicBezTo>
                      <a:pt x="1006" y="554"/>
                      <a:pt x="953" y="501"/>
                      <a:pt x="953" y="436"/>
                    </a:cubicBezTo>
                    <a:cubicBezTo>
                      <a:pt x="953" y="371"/>
                      <a:pt x="1006" y="319"/>
                      <a:pt x="1071" y="319"/>
                    </a:cubicBezTo>
                    <a:cubicBezTo>
                      <a:pt x="1136" y="319"/>
                      <a:pt x="1188" y="371"/>
                      <a:pt x="1188" y="436"/>
                    </a:cubicBezTo>
                    <a:cubicBezTo>
                      <a:pt x="1188" y="501"/>
                      <a:pt x="1136" y="554"/>
                      <a:pt x="1071" y="554"/>
                    </a:cubicBezTo>
                    <a:close/>
                    <a:moveTo>
                      <a:pt x="1071" y="363"/>
                    </a:moveTo>
                    <a:cubicBezTo>
                      <a:pt x="1030" y="363"/>
                      <a:pt x="997" y="396"/>
                      <a:pt x="997" y="436"/>
                    </a:cubicBezTo>
                    <a:cubicBezTo>
                      <a:pt x="997" y="477"/>
                      <a:pt x="1030" y="510"/>
                      <a:pt x="1071" y="510"/>
                    </a:cubicBezTo>
                    <a:cubicBezTo>
                      <a:pt x="1111" y="510"/>
                      <a:pt x="1144" y="477"/>
                      <a:pt x="1144" y="436"/>
                    </a:cubicBezTo>
                    <a:cubicBezTo>
                      <a:pt x="1144" y="396"/>
                      <a:pt x="1111" y="363"/>
                      <a:pt x="1071" y="363"/>
                    </a:cubicBezTo>
                    <a:close/>
                    <a:moveTo>
                      <a:pt x="1388" y="319"/>
                    </a:moveTo>
                    <a:cubicBezTo>
                      <a:pt x="1376" y="319"/>
                      <a:pt x="1366" y="328"/>
                      <a:pt x="1366" y="341"/>
                    </a:cubicBezTo>
                    <a:cubicBezTo>
                      <a:pt x="1366" y="532"/>
                      <a:pt x="1366" y="532"/>
                      <a:pt x="1366" y="532"/>
                    </a:cubicBezTo>
                    <a:cubicBezTo>
                      <a:pt x="1366" y="544"/>
                      <a:pt x="1376" y="554"/>
                      <a:pt x="1388" y="554"/>
                    </a:cubicBezTo>
                    <a:cubicBezTo>
                      <a:pt x="1400" y="554"/>
                      <a:pt x="1410" y="544"/>
                      <a:pt x="1410" y="532"/>
                    </a:cubicBezTo>
                    <a:cubicBezTo>
                      <a:pt x="1410" y="341"/>
                      <a:pt x="1410" y="341"/>
                      <a:pt x="1410" y="341"/>
                    </a:cubicBezTo>
                    <a:cubicBezTo>
                      <a:pt x="1410" y="328"/>
                      <a:pt x="1400" y="319"/>
                      <a:pt x="1388" y="319"/>
                    </a:cubicBezTo>
                    <a:close/>
                    <a:moveTo>
                      <a:pt x="1706" y="554"/>
                    </a:moveTo>
                    <a:cubicBezTo>
                      <a:pt x="1641" y="554"/>
                      <a:pt x="1588" y="501"/>
                      <a:pt x="1588" y="436"/>
                    </a:cubicBezTo>
                    <a:cubicBezTo>
                      <a:pt x="1588" y="371"/>
                      <a:pt x="1641" y="319"/>
                      <a:pt x="1706" y="319"/>
                    </a:cubicBezTo>
                    <a:cubicBezTo>
                      <a:pt x="1771" y="319"/>
                      <a:pt x="1824" y="371"/>
                      <a:pt x="1824" y="436"/>
                    </a:cubicBezTo>
                    <a:cubicBezTo>
                      <a:pt x="1824" y="501"/>
                      <a:pt x="1771" y="554"/>
                      <a:pt x="1706" y="554"/>
                    </a:cubicBezTo>
                    <a:close/>
                    <a:moveTo>
                      <a:pt x="1706" y="363"/>
                    </a:moveTo>
                    <a:cubicBezTo>
                      <a:pt x="1665" y="363"/>
                      <a:pt x="1632" y="396"/>
                      <a:pt x="1632" y="436"/>
                    </a:cubicBezTo>
                    <a:cubicBezTo>
                      <a:pt x="1632" y="477"/>
                      <a:pt x="1665" y="510"/>
                      <a:pt x="1706" y="510"/>
                    </a:cubicBezTo>
                    <a:cubicBezTo>
                      <a:pt x="1747" y="510"/>
                      <a:pt x="1780" y="477"/>
                      <a:pt x="1780" y="436"/>
                    </a:cubicBezTo>
                    <a:cubicBezTo>
                      <a:pt x="1780" y="396"/>
                      <a:pt x="1747" y="363"/>
                      <a:pt x="1706" y="363"/>
                    </a:cubicBezTo>
                    <a:close/>
                    <a:moveTo>
                      <a:pt x="118" y="872"/>
                    </a:moveTo>
                    <a:cubicBezTo>
                      <a:pt x="53" y="872"/>
                      <a:pt x="0" y="820"/>
                      <a:pt x="0" y="755"/>
                    </a:cubicBezTo>
                    <a:cubicBezTo>
                      <a:pt x="0" y="690"/>
                      <a:pt x="53" y="637"/>
                      <a:pt x="118" y="637"/>
                    </a:cubicBezTo>
                    <a:cubicBezTo>
                      <a:pt x="183" y="637"/>
                      <a:pt x="236" y="690"/>
                      <a:pt x="236" y="755"/>
                    </a:cubicBezTo>
                    <a:cubicBezTo>
                      <a:pt x="236" y="820"/>
                      <a:pt x="183" y="872"/>
                      <a:pt x="118" y="872"/>
                    </a:cubicBezTo>
                    <a:close/>
                    <a:moveTo>
                      <a:pt x="118" y="681"/>
                    </a:moveTo>
                    <a:cubicBezTo>
                      <a:pt x="77" y="681"/>
                      <a:pt x="44" y="714"/>
                      <a:pt x="44" y="755"/>
                    </a:cubicBezTo>
                    <a:cubicBezTo>
                      <a:pt x="44" y="795"/>
                      <a:pt x="77" y="828"/>
                      <a:pt x="118" y="828"/>
                    </a:cubicBezTo>
                    <a:cubicBezTo>
                      <a:pt x="159" y="828"/>
                      <a:pt x="192" y="795"/>
                      <a:pt x="192" y="755"/>
                    </a:cubicBezTo>
                    <a:cubicBezTo>
                      <a:pt x="192" y="714"/>
                      <a:pt x="159" y="681"/>
                      <a:pt x="118" y="681"/>
                    </a:cubicBezTo>
                    <a:close/>
                    <a:moveTo>
                      <a:pt x="1071" y="872"/>
                    </a:moveTo>
                    <a:cubicBezTo>
                      <a:pt x="1006" y="872"/>
                      <a:pt x="953" y="820"/>
                      <a:pt x="953" y="755"/>
                    </a:cubicBezTo>
                    <a:cubicBezTo>
                      <a:pt x="953" y="690"/>
                      <a:pt x="1006" y="637"/>
                      <a:pt x="1071" y="637"/>
                    </a:cubicBezTo>
                    <a:cubicBezTo>
                      <a:pt x="1136" y="637"/>
                      <a:pt x="1188" y="690"/>
                      <a:pt x="1188" y="755"/>
                    </a:cubicBezTo>
                    <a:cubicBezTo>
                      <a:pt x="1188" y="820"/>
                      <a:pt x="1136" y="872"/>
                      <a:pt x="1071" y="872"/>
                    </a:cubicBezTo>
                    <a:close/>
                    <a:moveTo>
                      <a:pt x="1071" y="681"/>
                    </a:moveTo>
                    <a:cubicBezTo>
                      <a:pt x="1030" y="681"/>
                      <a:pt x="997" y="714"/>
                      <a:pt x="997" y="755"/>
                    </a:cubicBezTo>
                    <a:cubicBezTo>
                      <a:pt x="997" y="795"/>
                      <a:pt x="1030" y="828"/>
                      <a:pt x="1071" y="828"/>
                    </a:cubicBezTo>
                    <a:cubicBezTo>
                      <a:pt x="1111" y="828"/>
                      <a:pt x="1144" y="795"/>
                      <a:pt x="1144" y="755"/>
                    </a:cubicBezTo>
                    <a:cubicBezTo>
                      <a:pt x="1144" y="714"/>
                      <a:pt x="1111" y="681"/>
                      <a:pt x="1071" y="681"/>
                    </a:cubicBezTo>
                    <a:close/>
                    <a:moveTo>
                      <a:pt x="1388" y="872"/>
                    </a:moveTo>
                    <a:cubicBezTo>
                      <a:pt x="1323" y="872"/>
                      <a:pt x="1271" y="820"/>
                      <a:pt x="1271" y="755"/>
                    </a:cubicBezTo>
                    <a:cubicBezTo>
                      <a:pt x="1271" y="690"/>
                      <a:pt x="1323" y="637"/>
                      <a:pt x="1388" y="637"/>
                    </a:cubicBezTo>
                    <a:cubicBezTo>
                      <a:pt x="1453" y="637"/>
                      <a:pt x="1506" y="690"/>
                      <a:pt x="1506" y="755"/>
                    </a:cubicBezTo>
                    <a:cubicBezTo>
                      <a:pt x="1506" y="820"/>
                      <a:pt x="1453" y="872"/>
                      <a:pt x="1388" y="872"/>
                    </a:cubicBezTo>
                    <a:close/>
                    <a:moveTo>
                      <a:pt x="1388" y="681"/>
                    </a:moveTo>
                    <a:cubicBezTo>
                      <a:pt x="1348" y="681"/>
                      <a:pt x="1315" y="714"/>
                      <a:pt x="1315" y="755"/>
                    </a:cubicBezTo>
                    <a:cubicBezTo>
                      <a:pt x="1315" y="795"/>
                      <a:pt x="1348" y="828"/>
                      <a:pt x="1388" y="828"/>
                    </a:cubicBezTo>
                    <a:cubicBezTo>
                      <a:pt x="1429" y="828"/>
                      <a:pt x="1462" y="795"/>
                      <a:pt x="1462" y="755"/>
                    </a:cubicBezTo>
                    <a:cubicBezTo>
                      <a:pt x="1462" y="714"/>
                      <a:pt x="1429" y="681"/>
                      <a:pt x="1388" y="681"/>
                    </a:cubicBezTo>
                    <a:close/>
                    <a:moveTo>
                      <a:pt x="1706" y="637"/>
                    </a:moveTo>
                    <a:cubicBezTo>
                      <a:pt x="1694" y="637"/>
                      <a:pt x="1684" y="647"/>
                      <a:pt x="1684" y="659"/>
                    </a:cubicBezTo>
                    <a:cubicBezTo>
                      <a:pt x="1684" y="850"/>
                      <a:pt x="1684" y="850"/>
                      <a:pt x="1684" y="850"/>
                    </a:cubicBezTo>
                    <a:cubicBezTo>
                      <a:pt x="1684" y="863"/>
                      <a:pt x="1694" y="872"/>
                      <a:pt x="1706" y="872"/>
                    </a:cubicBezTo>
                    <a:cubicBezTo>
                      <a:pt x="1718" y="872"/>
                      <a:pt x="1728" y="863"/>
                      <a:pt x="1728" y="850"/>
                    </a:cubicBezTo>
                    <a:cubicBezTo>
                      <a:pt x="1728" y="659"/>
                      <a:pt x="1728" y="659"/>
                      <a:pt x="1728" y="659"/>
                    </a:cubicBezTo>
                    <a:cubicBezTo>
                      <a:pt x="1728" y="647"/>
                      <a:pt x="1718" y="637"/>
                      <a:pt x="1706" y="637"/>
                    </a:cubicBezTo>
                    <a:close/>
                    <a:moveTo>
                      <a:pt x="118" y="956"/>
                    </a:moveTo>
                    <a:cubicBezTo>
                      <a:pt x="106" y="956"/>
                      <a:pt x="96" y="965"/>
                      <a:pt x="96" y="978"/>
                    </a:cubicBezTo>
                    <a:cubicBezTo>
                      <a:pt x="96" y="1169"/>
                      <a:pt x="96" y="1169"/>
                      <a:pt x="96" y="1169"/>
                    </a:cubicBezTo>
                    <a:cubicBezTo>
                      <a:pt x="96" y="1181"/>
                      <a:pt x="106" y="1191"/>
                      <a:pt x="118" y="1191"/>
                    </a:cubicBezTo>
                    <a:cubicBezTo>
                      <a:pt x="130" y="1191"/>
                      <a:pt x="140" y="1181"/>
                      <a:pt x="140" y="1169"/>
                    </a:cubicBezTo>
                    <a:cubicBezTo>
                      <a:pt x="140" y="978"/>
                      <a:pt x="140" y="978"/>
                      <a:pt x="140" y="978"/>
                    </a:cubicBezTo>
                    <a:cubicBezTo>
                      <a:pt x="140" y="965"/>
                      <a:pt x="130" y="956"/>
                      <a:pt x="118" y="956"/>
                    </a:cubicBezTo>
                    <a:close/>
                    <a:moveTo>
                      <a:pt x="436" y="1191"/>
                    </a:moveTo>
                    <a:cubicBezTo>
                      <a:pt x="371" y="1191"/>
                      <a:pt x="318" y="1138"/>
                      <a:pt x="318" y="1073"/>
                    </a:cubicBezTo>
                    <a:cubicBezTo>
                      <a:pt x="318" y="1008"/>
                      <a:pt x="371" y="956"/>
                      <a:pt x="436" y="956"/>
                    </a:cubicBezTo>
                    <a:cubicBezTo>
                      <a:pt x="501" y="956"/>
                      <a:pt x="553" y="1008"/>
                      <a:pt x="553" y="1073"/>
                    </a:cubicBezTo>
                    <a:cubicBezTo>
                      <a:pt x="553" y="1138"/>
                      <a:pt x="501" y="1191"/>
                      <a:pt x="436" y="1191"/>
                    </a:cubicBezTo>
                    <a:close/>
                    <a:moveTo>
                      <a:pt x="436" y="1000"/>
                    </a:moveTo>
                    <a:cubicBezTo>
                      <a:pt x="395" y="1000"/>
                      <a:pt x="362" y="1033"/>
                      <a:pt x="362" y="1073"/>
                    </a:cubicBezTo>
                    <a:cubicBezTo>
                      <a:pt x="362" y="1114"/>
                      <a:pt x="395" y="1147"/>
                      <a:pt x="436" y="1147"/>
                    </a:cubicBezTo>
                    <a:cubicBezTo>
                      <a:pt x="476" y="1147"/>
                      <a:pt x="509" y="1114"/>
                      <a:pt x="509" y="1073"/>
                    </a:cubicBezTo>
                    <a:cubicBezTo>
                      <a:pt x="509" y="1033"/>
                      <a:pt x="476" y="1000"/>
                      <a:pt x="436" y="1000"/>
                    </a:cubicBezTo>
                    <a:close/>
                    <a:moveTo>
                      <a:pt x="753" y="956"/>
                    </a:moveTo>
                    <a:cubicBezTo>
                      <a:pt x="741" y="956"/>
                      <a:pt x="731" y="965"/>
                      <a:pt x="731" y="978"/>
                    </a:cubicBezTo>
                    <a:cubicBezTo>
                      <a:pt x="731" y="1169"/>
                      <a:pt x="731" y="1169"/>
                      <a:pt x="731" y="1169"/>
                    </a:cubicBezTo>
                    <a:cubicBezTo>
                      <a:pt x="731" y="1181"/>
                      <a:pt x="741" y="1191"/>
                      <a:pt x="753" y="1191"/>
                    </a:cubicBezTo>
                    <a:cubicBezTo>
                      <a:pt x="765" y="1191"/>
                      <a:pt x="775" y="1181"/>
                      <a:pt x="775" y="1169"/>
                    </a:cubicBezTo>
                    <a:cubicBezTo>
                      <a:pt x="775" y="978"/>
                      <a:pt x="775" y="978"/>
                      <a:pt x="775" y="978"/>
                    </a:cubicBezTo>
                    <a:cubicBezTo>
                      <a:pt x="775" y="965"/>
                      <a:pt x="765" y="956"/>
                      <a:pt x="753" y="956"/>
                    </a:cubicBezTo>
                    <a:close/>
                    <a:moveTo>
                      <a:pt x="1071" y="956"/>
                    </a:moveTo>
                    <a:cubicBezTo>
                      <a:pt x="1059" y="956"/>
                      <a:pt x="1049" y="965"/>
                      <a:pt x="1049" y="978"/>
                    </a:cubicBezTo>
                    <a:cubicBezTo>
                      <a:pt x="1049" y="1169"/>
                      <a:pt x="1049" y="1169"/>
                      <a:pt x="1049" y="1169"/>
                    </a:cubicBezTo>
                    <a:cubicBezTo>
                      <a:pt x="1049" y="1181"/>
                      <a:pt x="1059" y="1191"/>
                      <a:pt x="1071" y="1191"/>
                    </a:cubicBezTo>
                    <a:cubicBezTo>
                      <a:pt x="1083" y="1191"/>
                      <a:pt x="1093" y="1181"/>
                      <a:pt x="1093" y="1169"/>
                    </a:cubicBezTo>
                    <a:cubicBezTo>
                      <a:pt x="1093" y="978"/>
                      <a:pt x="1093" y="978"/>
                      <a:pt x="1093" y="978"/>
                    </a:cubicBezTo>
                    <a:cubicBezTo>
                      <a:pt x="1093" y="965"/>
                      <a:pt x="1083" y="956"/>
                      <a:pt x="1071" y="956"/>
                    </a:cubicBezTo>
                    <a:close/>
                    <a:moveTo>
                      <a:pt x="1388" y="1191"/>
                    </a:moveTo>
                    <a:cubicBezTo>
                      <a:pt x="1323" y="1191"/>
                      <a:pt x="1271" y="1138"/>
                      <a:pt x="1271" y="1073"/>
                    </a:cubicBezTo>
                    <a:cubicBezTo>
                      <a:pt x="1271" y="1008"/>
                      <a:pt x="1323" y="956"/>
                      <a:pt x="1388" y="956"/>
                    </a:cubicBezTo>
                    <a:cubicBezTo>
                      <a:pt x="1453" y="956"/>
                      <a:pt x="1506" y="1008"/>
                      <a:pt x="1506" y="1073"/>
                    </a:cubicBezTo>
                    <a:cubicBezTo>
                      <a:pt x="1506" y="1138"/>
                      <a:pt x="1453" y="1191"/>
                      <a:pt x="1388" y="1191"/>
                    </a:cubicBezTo>
                    <a:close/>
                    <a:moveTo>
                      <a:pt x="1388" y="1000"/>
                    </a:moveTo>
                    <a:cubicBezTo>
                      <a:pt x="1348" y="1000"/>
                      <a:pt x="1315" y="1033"/>
                      <a:pt x="1315" y="1073"/>
                    </a:cubicBezTo>
                    <a:cubicBezTo>
                      <a:pt x="1315" y="1114"/>
                      <a:pt x="1348" y="1147"/>
                      <a:pt x="1388" y="1147"/>
                    </a:cubicBezTo>
                    <a:cubicBezTo>
                      <a:pt x="1429" y="1147"/>
                      <a:pt x="1462" y="1114"/>
                      <a:pt x="1462" y="1073"/>
                    </a:cubicBezTo>
                    <a:cubicBezTo>
                      <a:pt x="1462" y="1033"/>
                      <a:pt x="1429" y="1000"/>
                      <a:pt x="1388" y="1000"/>
                    </a:cubicBezTo>
                    <a:close/>
                    <a:moveTo>
                      <a:pt x="1706" y="956"/>
                    </a:moveTo>
                    <a:cubicBezTo>
                      <a:pt x="1694" y="956"/>
                      <a:pt x="1684" y="965"/>
                      <a:pt x="1684" y="978"/>
                    </a:cubicBezTo>
                    <a:cubicBezTo>
                      <a:pt x="1684" y="1169"/>
                      <a:pt x="1684" y="1169"/>
                      <a:pt x="1684" y="1169"/>
                    </a:cubicBezTo>
                    <a:cubicBezTo>
                      <a:pt x="1684" y="1181"/>
                      <a:pt x="1694" y="1191"/>
                      <a:pt x="1706" y="1191"/>
                    </a:cubicBezTo>
                    <a:cubicBezTo>
                      <a:pt x="1718" y="1191"/>
                      <a:pt x="1728" y="1181"/>
                      <a:pt x="1728" y="1169"/>
                    </a:cubicBezTo>
                    <a:cubicBezTo>
                      <a:pt x="1728" y="978"/>
                      <a:pt x="1728" y="978"/>
                      <a:pt x="1728" y="978"/>
                    </a:cubicBezTo>
                    <a:cubicBezTo>
                      <a:pt x="1728" y="965"/>
                      <a:pt x="1718" y="956"/>
                      <a:pt x="1706" y="956"/>
                    </a:cubicBezTo>
                    <a:close/>
                    <a:moveTo>
                      <a:pt x="118" y="1509"/>
                    </a:moveTo>
                    <a:cubicBezTo>
                      <a:pt x="53" y="1509"/>
                      <a:pt x="0" y="1457"/>
                      <a:pt x="0" y="1392"/>
                    </a:cubicBezTo>
                    <a:cubicBezTo>
                      <a:pt x="0" y="1327"/>
                      <a:pt x="53" y="1274"/>
                      <a:pt x="118" y="1274"/>
                    </a:cubicBezTo>
                    <a:cubicBezTo>
                      <a:pt x="183" y="1274"/>
                      <a:pt x="236" y="1327"/>
                      <a:pt x="236" y="1392"/>
                    </a:cubicBezTo>
                    <a:cubicBezTo>
                      <a:pt x="236" y="1457"/>
                      <a:pt x="183" y="1509"/>
                      <a:pt x="118" y="1509"/>
                    </a:cubicBezTo>
                    <a:close/>
                    <a:moveTo>
                      <a:pt x="118" y="1318"/>
                    </a:moveTo>
                    <a:cubicBezTo>
                      <a:pt x="77" y="1318"/>
                      <a:pt x="44" y="1351"/>
                      <a:pt x="44" y="1392"/>
                    </a:cubicBezTo>
                    <a:cubicBezTo>
                      <a:pt x="44" y="1432"/>
                      <a:pt x="77" y="1465"/>
                      <a:pt x="118" y="1465"/>
                    </a:cubicBezTo>
                    <a:cubicBezTo>
                      <a:pt x="159" y="1465"/>
                      <a:pt x="192" y="1432"/>
                      <a:pt x="192" y="1392"/>
                    </a:cubicBezTo>
                    <a:cubicBezTo>
                      <a:pt x="192" y="1351"/>
                      <a:pt x="159" y="1318"/>
                      <a:pt x="118" y="1318"/>
                    </a:cubicBezTo>
                    <a:close/>
                    <a:moveTo>
                      <a:pt x="436" y="1274"/>
                    </a:moveTo>
                    <a:cubicBezTo>
                      <a:pt x="424" y="1274"/>
                      <a:pt x="414" y="1284"/>
                      <a:pt x="414" y="1296"/>
                    </a:cubicBezTo>
                    <a:cubicBezTo>
                      <a:pt x="414" y="1487"/>
                      <a:pt x="414" y="1487"/>
                      <a:pt x="414" y="1487"/>
                    </a:cubicBezTo>
                    <a:cubicBezTo>
                      <a:pt x="414" y="1500"/>
                      <a:pt x="424" y="1509"/>
                      <a:pt x="436" y="1509"/>
                    </a:cubicBezTo>
                    <a:cubicBezTo>
                      <a:pt x="448" y="1509"/>
                      <a:pt x="458" y="1500"/>
                      <a:pt x="458" y="1487"/>
                    </a:cubicBezTo>
                    <a:cubicBezTo>
                      <a:pt x="458" y="1296"/>
                      <a:pt x="458" y="1296"/>
                      <a:pt x="458" y="1296"/>
                    </a:cubicBezTo>
                    <a:cubicBezTo>
                      <a:pt x="458" y="1284"/>
                      <a:pt x="448" y="1274"/>
                      <a:pt x="436" y="1274"/>
                    </a:cubicBezTo>
                    <a:close/>
                    <a:moveTo>
                      <a:pt x="753" y="1509"/>
                    </a:moveTo>
                    <a:cubicBezTo>
                      <a:pt x="688" y="1509"/>
                      <a:pt x="636" y="1457"/>
                      <a:pt x="636" y="1392"/>
                    </a:cubicBezTo>
                    <a:cubicBezTo>
                      <a:pt x="636" y="1327"/>
                      <a:pt x="688" y="1274"/>
                      <a:pt x="753" y="1274"/>
                    </a:cubicBezTo>
                    <a:cubicBezTo>
                      <a:pt x="818" y="1274"/>
                      <a:pt x="871" y="1327"/>
                      <a:pt x="871" y="1392"/>
                    </a:cubicBezTo>
                    <a:cubicBezTo>
                      <a:pt x="871" y="1457"/>
                      <a:pt x="818" y="1509"/>
                      <a:pt x="753" y="1509"/>
                    </a:cubicBezTo>
                    <a:close/>
                    <a:moveTo>
                      <a:pt x="753" y="1318"/>
                    </a:moveTo>
                    <a:cubicBezTo>
                      <a:pt x="713" y="1318"/>
                      <a:pt x="680" y="1351"/>
                      <a:pt x="680" y="1392"/>
                    </a:cubicBezTo>
                    <a:cubicBezTo>
                      <a:pt x="680" y="1432"/>
                      <a:pt x="713" y="1465"/>
                      <a:pt x="753" y="1465"/>
                    </a:cubicBezTo>
                    <a:cubicBezTo>
                      <a:pt x="794" y="1465"/>
                      <a:pt x="827" y="1432"/>
                      <a:pt x="827" y="1392"/>
                    </a:cubicBezTo>
                    <a:cubicBezTo>
                      <a:pt x="827" y="1351"/>
                      <a:pt x="794" y="1318"/>
                      <a:pt x="753" y="1318"/>
                    </a:cubicBezTo>
                    <a:close/>
                    <a:moveTo>
                      <a:pt x="1706" y="1509"/>
                    </a:moveTo>
                    <a:cubicBezTo>
                      <a:pt x="1641" y="1509"/>
                      <a:pt x="1588" y="1457"/>
                      <a:pt x="1588" y="1392"/>
                    </a:cubicBezTo>
                    <a:cubicBezTo>
                      <a:pt x="1588" y="1327"/>
                      <a:pt x="1641" y="1274"/>
                      <a:pt x="1706" y="1274"/>
                    </a:cubicBezTo>
                    <a:cubicBezTo>
                      <a:pt x="1771" y="1274"/>
                      <a:pt x="1824" y="1327"/>
                      <a:pt x="1824" y="1392"/>
                    </a:cubicBezTo>
                    <a:cubicBezTo>
                      <a:pt x="1824" y="1457"/>
                      <a:pt x="1771" y="1509"/>
                      <a:pt x="1706" y="1509"/>
                    </a:cubicBezTo>
                    <a:close/>
                    <a:moveTo>
                      <a:pt x="1706" y="1318"/>
                    </a:moveTo>
                    <a:cubicBezTo>
                      <a:pt x="1665" y="1318"/>
                      <a:pt x="1632" y="1351"/>
                      <a:pt x="1632" y="1392"/>
                    </a:cubicBezTo>
                    <a:cubicBezTo>
                      <a:pt x="1632" y="1432"/>
                      <a:pt x="1665" y="1465"/>
                      <a:pt x="1706" y="1465"/>
                    </a:cubicBezTo>
                    <a:cubicBezTo>
                      <a:pt x="1747" y="1465"/>
                      <a:pt x="1780" y="1432"/>
                      <a:pt x="1780" y="1392"/>
                    </a:cubicBezTo>
                    <a:cubicBezTo>
                      <a:pt x="1780" y="1351"/>
                      <a:pt x="1747" y="1318"/>
                      <a:pt x="1706" y="1318"/>
                    </a:cubicBezTo>
                    <a:close/>
                    <a:moveTo>
                      <a:pt x="118" y="1828"/>
                    </a:moveTo>
                    <a:cubicBezTo>
                      <a:pt x="53" y="1828"/>
                      <a:pt x="0" y="1775"/>
                      <a:pt x="0" y="1710"/>
                    </a:cubicBezTo>
                    <a:cubicBezTo>
                      <a:pt x="0" y="1645"/>
                      <a:pt x="53" y="1593"/>
                      <a:pt x="118" y="1593"/>
                    </a:cubicBezTo>
                    <a:cubicBezTo>
                      <a:pt x="183" y="1593"/>
                      <a:pt x="236" y="1645"/>
                      <a:pt x="236" y="1710"/>
                    </a:cubicBezTo>
                    <a:cubicBezTo>
                      <a:pt x="236" y="1775"/>
                      <a:pt x="183" y="1828"/>
                      <a:pt x="118" y="1828"/>
                    </a:cubicBezTo>
                    <a:close/>
                    <a:moveTo>
                      <a:pt x="118" y="1637"/>
                    </a:moveTo>
                    <a:cubicBezTo>
                      <a:pt x="77" y="1637"/>
                      <a:pt x="44" y="1670"/>
                      <a:pt x="44" y="1710"/>
                    </a:cubicBezTo>
                    <a:cubicBezTo>
                      <a:pt x="44" y="1751"/>
                      <a:pt x="77" y="1784"/>
                      <a:pt x="118" y="1784"/>
                    </a:cubicBezTo>
                    <a:cubicBezTo>
                      <a:pt x="159" y="1784"/>
                      <a:pt x="192" y="1751"/>
                      <a:pt x="192" y="1710"/>
                    </a:cubicBezTo>
                    <a:cubicBezTo>
                      <a:pt x="192" y="1670"/>
                      <a:pt x="159" y="1637"/>
                      <a:pt x="118" y="1637"/>
                    </a:cubicBezTo>
                    <a:close/>
                    <a:moveTo>
                      <a:pt x="436" y="1593"/>
                    </a:moveTo>
                    <a:cubicBezTo>
                      <a:pt x="424" y="1593"/>
                      <a:pt x="414" y="1603"/>
                      <a:pt x="414" y="1615"/>
                    </a:cubicBezTo>
                    <a:cubicBezTo>
                      <a:pt x="414" y="1806"/>
                      <a:pt x="414" y="1806"/>
                      <a:pt x="414" y="1806"/>
                    </a:cubicBezTo>
                    <a:cubicBezTo>
                      <a:pt x="414" y="1818"/>
                      <a:pt x="424" y="1828"/>
                      <a:pt x="436" y="1828"/>
                    </a:cubicBezTo>
                    <a:cubicBezTo>
                      <a:pt x="448" y="1828"/>
                      <a:pt x="458" y="1818"/>
                      <a:pt x="458" y="1806"/>
                    </a:cubicBezTo>
                    <a:cubicBezTo>
                      <a:pt x="458" y="1615"/>
                      <a:pt x="458" y="1615"/>
                      <a:pt x="458" y="1615"/>
                    </a:cubicBezTo>
                    <a:cubicBezTo>
                      <a:pt x="458" y="1603"/>
                      <a:pt x="448" y="1593"/>
                      <a:pt x="436" y="1593"/>
                    </a:cubicBezTo>
                    <a:close/>
                    <a:moveTo>
                      <a:pt x="753" y="1828"/>
                    </a:moveTo>
                    <a:cubicBezTo>
                      <a:pt x="688" y="1828"/>
                      <a:pt x="636" y="1775"/>
                      <a:pt x="636" y="1710"/>
                    </a:cubicBezTo>
                    <a:cubicBezTo>
                      <a:pt x="636" y="1645"/>
                      <a:pt x="688" y="1593"/>
                      <a:pt x="753" y="1593"/>
                    </a:cubicBezTo>
                    <a:cubicBezTo>
                      <a:pt x="818" y="1593"/>
                      <a:pt x="871" y="1645"/>
                      <a:pt x="871" y="1710"/>
                    </a:cubicBezTo>
                    <a:cubicBezTo>
                      <a:pt x="871" y="1775"/>
                      <a:pt x="818" y="1828"/>
                      <a:pt x="753" y="1828"/>
                    </a:cubicBezTo>
                    <a:close/>
                    <a:moveTo>
                      <a:pt x="753" y="1637"/>
                    </a:moveTo>
                    <a:cubicBezTo>
                      <a:pt x="713" y="1637"/>
                      <a:pt x="680" y="1670"/>
                      <a:pt x="680" y="1710"/>
                    </a:cubicBezTo>
                    <a:cubicBezTo>
                      <a:pt x="680" y="1751"/>
                      <a:pt x="713" y="1784"/>
                      <a:pt x="753" y="1784"/>
                    </a:cubicBezTo>
                    <a:cubicBezTo>
                      <a:pt x="794" y="1784"/>
                      <a:pt x="827" y="1751"/>
                      <a:pt x="827" y="1710"/>
                    </a:cubicBezTo>
                    <a:cubicBezTo>
                      <a:pt x="827" y="1670"/>
                      <a:pt x="794" y="1637"/>
                      <a:pt x="753" y="1637"/>
                    </a:cubicBezTo>
                    <a:close/>
                    <a:moveTo>
                      <a:pt x="1706" y="1828"/>
                    </a:moveTo>
                    <a:cubicBezTo>
                      <a:pt x="1641" y="1828"/>
                      <a:pt x="1588" y="1775"/>
                      <a:pt x="1588" y="1710"/>
                    </a:cubicBezTo>
                    <a:cubicBezTo>
                      <a:pt x="1588" y="1645"/>
                      <a:pt x="1641" y="1593"/>
                      <a:pt x="1706" y="1593"/>
                    </a:cubicBezTo>
                    <a:cubicBezTo>
                      <a:pt x="1771" y="1593"/>
                      <a:pt x="1824" y="1645"/>
                      <a:pt x="1824" y="1710"/>
                    </a:cubicBezTo>
                    <a:cubicBezTo>
                      <a:pt x="1824" y="1775"/>
                      <a:pt x="1771" y="1828"/>
                      <a:pt x="1706" y="1828"/>
                    </a:cubicBezTo>
                    <a:close/>
                    <a:moveTo>
                      <a:pt x="1706" y="1637"/>
                    </a:moveTo>
                    <a:cubicBezTo>
                      <a:pt x="1665" y="1637"/>
                      <a:pt x="1632" y="1670"/>
                      <a:pt x="1632" y="1710"/>
                    </a:cubicBezTo>
                    <a:cubicBezTo>
                      <a:pt x="1632" y="1751"/>
                      <a:pt x="1665" y="1784"/>
                      <a:pt x="1706" y="1784"/>
                    </a:cubicBezTo>
                    <a:cubicBezTo>
                      <a:pt x="1747" y="1784"/>
                      <a:pt x="1780" y="1751"/>
                      <a:pt x="1780" y="1710"/>
                    </a:cubicBezTo>
                    <a:cubicBezTo>
                      <a:pt x="1780" y="1670"/>
                      <a:pt x="1747" y="1637"/>
                      <a:pt x="1706" y="163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Freeform 36">
                <a:extLst>
                  <a:ext uri="{FF2B5EF4-FFF2-40B4-BE49-F238E27FC236}">
                    <a16:creationId xmlns:a16="http://schemas.microsoft.com/office/drawing/2014/main" id="{7C57987A-EE22-4150-801C-35BA3DA95665}"/>
                  </a:ext>
                </a:extLst>
              </p:cNvPr>
              <p:cNvSpPr>
                <a:spLocks noEditPoints="1"/>
              </p:cNvSpPr>
              <p:nvPr/>
            </p:nvSpPr>
            <p:spPr bwMode="auto">
              <a:xfrm>
                <a:off x="5666231" y="2983230"/>
                <a:ext cx="854583" cy="1092327"/>
              </a:xfrm>
              <a:custGeom>
                <a:avLst/>
                <a:gdLst>
                  <a:gd name="T0" fmla="*/ 511 w 1197"/>
                  <a:gd name="T1" fmla="*/ 220 h 1529"/>
                  <a:gd name="T2" fmla="*/ 473 w 1197"/>
                  <a:gd name="T3" fmla="*/ 132 h 1529"/>
                  <a:gd name="T4" fmla="*/ 388 w 1197"/>
                  <a:gd name="T5" fmla="*/ 18 h 1529"/>
                  <a:gd name="T6" fmla="*/ 259 w 1197"/>
                  <a:gd name="T7" fmla="*/ 31 h 1529"/>
                  <a:gd name="T8" fmla="*/ 168 w 1197"/>
                  <a:gd name="T9" fmla="*/ 17 h 1529"/>
                  <a:gd name="T10" fmla="*/ 117 w 1197"/>
                  <a:gd name="T11" fmla="*/ 94 h 1529"/>
                  <a:gd name="T12" fmla="*/ 19 w 1197"/>
                  <a:gd name="T13" fmla="*/ 179 h 1529"/>
                  <a:gd name="T14" fmla="*/ 42 w 1197"/>
                  <a:gd name="T15" fmla="*/ 320 h 1529"/>
                  <a:gd name="T16" fmla="*/ 80 w 1197"/>
                  <a:gd name="T17" fmla="*/ 409 h 1529"/>
                  <a:gd name="T18" fmla="*/ 160 w 1197"/>
                  <a:gd name="T19" fmla="*/ 524 h 1529"/>
                  <a:gd name="T20" fmla="*/ 298 w 1197"/>
                  <a:gd name="T21" fmla="*/ 513 h 1529"/>
                  <a:gd name="T22" fmla="*/ 386 w 1197"/>
                  <a:gd name="T23" fmla="*/ 528 h 1529"/>
                  <a:gd name="T24" fmla="*/ 436 w 1197"/>
                  <a:gd name="T25" fmla="*/ 453 h 1529"/>
                  <a:gd name="T26" fmla="*/ 538 w 1197"/>
                  <a:gd name="T27" fmla="*/ 359 h 1529"/>
                  <a:gd name="T28" fmla="*/ 325 w 1197"/>
                  <a:gd name="T29" fmla="*/ 384 h 1529"/>
                  <a:gd name="T30" fmla="*/ 229 w 1197"/>
                  <a:gd name="T31" fmla="*/ 161 h 1529"/>
                  <a:gd name="T32" fmla="*/ 325 w 1197"/>
                  <a:gd name="T33" fmla="*/ 384 h 1529"/>
                  <a:gd name="T34" fmla="*/ 1154 w 1197"/>
                  <a:gd name="T35" fmla="*/ 1204 h 1529"/>
                  <a:gd name="T36" fmla="*/ 1116 w 1197"/>
                  <a:gd name="T37" fmla="*/ 1116 h 1529"/>
                  <a:gd name="T38" fmla="*/ 1031 w 1197"/>
                  <a:gd name="T39" fmla="*/ 1003 h 1529"/>
                  <a:gd name="T40" fmla="*/ 902 w 1197"/>
                  <a:gd name="T41" fmla="*/ 1015 h 1529"/>
                  <a:gd name="T42" fmla="*/ 811 w 1197"/>
                  <a:gd name="T43" fmla="*/ 1001 h 1529"/>
                  <a:gd name="T44" fmla="*/ 760 w 1197"/>
                  <a:gd name="T45" fmla="*/ 1078 h 1529"/>
                  <a:gd name="T46" fmla="*/ 662 w 1197"/>
                  <a:gd name="T47" fmla="*/ 1164 h 1529"/>
                  <a:gd name="T48" fmla="*/ 685 w 1197"/>
                  <a:gd name="T49" fmla="*/ 1305 h 1529"/>
                  <a:gd name="T50" fmla="*/ 723 w 1197"/>
                  <a:gd name="T51" fmla="*/ 1393 h 1529"/>
                  <a:gd name="T52" fmla="*/ 803 w 1197"/>
                  <a:gd name="T53" fmla="*/ 1508 h 1529"/>
                  <a:gd name="T54" fmla="*/ 941 w 1197"/>
                  <a:gd name="T55" fmla="*/ 1498 h 1529"/>
                  <a:gd name="T56" fmla="*/ 1029 w 1197"/>
                  <a:gd name="T57" fmla="*/ 1512 h 1529"/>
                  <a:gd name="T58" fmla="*/ 1079 w 1197"/>
                  <a:gd name="T59" fmla="*/ 1438 h 1529"/>
                  <a:gd name="T60" fmla="*/ 1181 w 1197"/>
                  <a:gd name="T61" fmla="*/ 1343 h 1529"/>
                  <a:gd name="T62" fmla="*/ 968 w 1197"/>
                  <a:gd name="T63" fmla="*/ 1368 h 1529"/>
                  <a:gd name="T64" fmla="*/ 872 w 1197"/>
                  <a:gd name="T65" fmla="*/ 1145 h 1529"/>
                  <a:gd name="T66" fmla="*/ 968 w 1197"/>
                  <a:gd name="T67" fmla="*/ 1368 h 1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97" h="1529">
                    <a:moveTo>
                      <a:pt x="550" y="244"/>
                    </a:moveTo>
                    <a:cubicBezTo>
                      <a:pt x="511" y="220"/>
                      <a:pt x="511" y="220"/>
                      <a:pt x="511" y="220"/>
                    </a:cubicBezTo>
                    <a:cubicBezTo>
                      <a:pt x="508" y="205"/>
                      <a:pt x="503" y="191"/>
                      <a:pt x="497" y="176"/>
                    </a:cubicBezTo>
                    <a:cubicBezTo>
                      <a:pt x="491" y="161"/>
                      <a:pt x="482" y="146"/>
                      <a:pt x="473" y="132"/>
                    </a:cubicBezTo>
                    <a:cubicBezTo>
                      <a:pt x="482" y="87"/>
                      <a:pt x="482" y="87"/>
                      <a:pt x="482" y="87"/>
                    </a:cubicBezTo>
                    <a:cubicBezTo>
                      <a:pt x="456" y="58"/>
                      <a:pt x="423" y="34"/>
                      <a:pt x="388" y="18"/>
                    </a:cubicBezTo>
                    <a:cubicBezTo>
                      <a:pt x="348" y="41"/>
                      <a:pt x="348" y="41"/>
                      <a:pt x="348" y="41"/>
                    </a:cubicBezTo>
                    <a:cubicBezTo>
                      <a:pt x="319" y="32"/>
                      <a:pt x="289" y="29"/>
                      <a:pt x="259" y="31"/>
                    </a:cubicBezTo>
                    <a:cubicBezTo>
                      <a:pt x="225" y="0"/>
                      <a:pt x="225" y="0"/>
                      <a:pt x="225" y="0"/>
                    </a:cubicBezTo>
                    <a:cubicBezTo>
                      <a:pt x="206" y="4"/>
                      <a:pt x="187" y="9"/>
                      <a:pt x="168" y="17"/>
                    </a:cubicBezTo>
                    <a:cubicBezTo>
                      <a:pt x="150" y="25"/>
                      <a:pt x="132" y="35"/>
                      <a:pt x="117" y="46"/>
                    </a:cubicBezTo>
                    <a:cubicBezTo>
                      <a:pt x="117" y="94"/>
                      <a:pt x="117" y="94"/>
                      <a:pt x="117" y="94"/>
                    </a:cubicBezTo>
                    <a:cubicBezTo>
                      <a:pt x="94" y="115"/>
                      <a:pt x="75" y="138"/>
                      <a:pt x="62" y="165"/>
                    </a:cubicBezTo>
                    <a:cubicBezTo>
                      <a:pt x="19" y="179"/>
                      <a:pt x="19" y="179"/>
                      <a:pt x="19" y="179"/>
                    </a:cubicBezTo>
                    <a:cubicBezTo>
                      <a:pt x="5" y="216"/>
                      <a:pt x="0" y="256"/>
                      <a:pt x="3" y="297"/>
                    </a:cubicBezTo>
                    <a:cubicBezTo>
                      <a:pt x="42" y="320"/>
                      <a:pt x="42" y="320"/>
                      <a:pt x="42" y="320"/>
                    </a:cubicBezTo>
                    <a:cubicBezTo>
                      <a:pt x="45" y="336"/>
                      <a:pt x="50" y="352"/>
                      <a:pt x="58" y="368"/>
                    </a:cubicBezTo>
                    <a:cubicBezTo>
                      <a:pt x="64" y="382"/>
                      <a:pt x="71" y="396"/>
                      <a:pt x="80" y="409"/>
                    </a:cubicBezTo>
                    <a:cubicBezTo>
                      <a:pt x="69" y="453"/>
                      <a:pt x="69" y="453"/>
                      <a:pt x="69" y="453"/>
                    </a:cubicBezTo>
                    <a:cubicBezTo>
                      <a:pt x="95" y="484"/>
                      <a:pt x="126" y="507"/>
                      <a:pt x="160" y="524"/>
                    </a:cubicBezTo>
                    <a:cubicBezTo>
                      <a:pt x="199" y="501"/>
                      <a:pt x="199" y="501"/>
                      <a:pt x="199" y="501"/>
                    </a:cubicBezTo>
                    <a:cubicBezTo>
                      <a:pt x="231" y="512"/>
                      <a:pt x="264" y="516"/>
                      <a:pt x="298" y="513"/>
                    </a:cubicBezTo>
                    <a:cubicBezTo>
                      <a:pt x="333" y="545"/>
                      <a:pt x="333" y="545"/>
                      <a:pt x="333" y="545"/>
                    </a:cubicBezTo>
                    <a:cubicBezTo>
                      <a:pt x="350" y="540"/>
                      <a:pt x="368" y="535"/>
                      <a:pt x="386" y="528"/>
                    </a:cubicBezTo>
                    <a:cubicBezTo>
                      <a:pt x="403" y="520"/>
                      <a:pt x="420" y="510"/>
                      <a:pt x="436" y="499"/>
                    </a:cubicBezTo>
                    <a:cubicBezTo>
                      <a:pt x="436" y="453"/>
                      <a:pt x="436" y="453"/>
                      <a:pt x="436" y="453"/>
                    </a:cubicBezTo>
                    <a:cubicBezTo>
                      <a:pt x="461" y="430"/>
                      <a:pt x="481" y="402"/>
                      <a:pt x="495" y="372"/>
                    </a:cubicBezTo>
                    <a:cubicBezTo>
                      <a:pt x="538" y="359"/>
                      <a:pt x="538" y="359"/>
                      <a:pt x="538" y="359"/>
                    </a:cubicBezTo>
                    <a:cubicBezTo>
                      <a:pt x="550" y="322"/>
                      <a:pt x="554" y="283"/>
                      <a:pt x="550" y="244"/>
                    </a:cubicBezTo>
                    <a:close/>
                    <a:moveTo>
                      <a:pt x="325" y="384"/>
                    </a:moveTo>
                    <a:cubicBezTo>
                      <a:pt x="264" y="411"/>
                      <a:pt x="193" y="382"/>
                      <a:pt x="167" y="320"/>
                    </a:cubicBezTo>
                    <a:cubicBezTo>
                      <a:pt x="140" y="258"/>
                      <a:pt x="168" y="187"/>
                      <a:pt x="229" y="161"/>
                    </a:cubicBezTo>
                    <a:cubicBezTo>
                      <a:pt x="290" y="134"/>
                      <a:pt x="361" y="163"/>
                      <a:pt x="387" y="224"/>
                    </a:cubicBezTo>
                    <a:cubicBezTo>
                      <a:pt x="414" y="285"/>
                      <a:pt x="386" y="358"/>
                      <a:pt x="325" y="384"/>
                    </a:cubicBezTo>
                    <a:close/>
                    <a:moveTo>
                      <a:pt x="1193" y="1228"/>
                    </a:moveTo>
                    <a:cubicBezTo>
                      <a:pt x="1154" y="1204"/>
                      <a:pt x="1154" y="1204"/>
                      <a:pt x="1154" y="1204"/>
                    </a:cubicBezTo>
                    <a:cubicBezTo>
                      <a:pt x="1151" y="1190"/>
                      <a:pt x="1146" y="1175"/>
                      <a:pt x="1140" y="1160"/>
                    </a:cubicBezTo>
                    <a:cubicBezTo>
                      <a:pt x="1134" y="1145"/>
                      <a:pt x="1125" y="1130"/>
                      <a:pt x="1116" y="1116"/>
                    </a:cubicBezTo>
                    <a:cubicBezTo>
                      <a:pt x="1125" y="1072"/>
                      <a:pt x="1125" y="1072"/>
                      <a:pt x="1125" y="1072"/>
                    </a:cubicBezTo>
                    <a:cubicBezTo>
                      <a:pt x="1099" y="1042"/>
                      <a:pt x="1066" y="1018"/>
                      <a:pt x="1031" y="1003"/>
                    </a:cubicBezTo>
                    <a:cubicBezTo>
                      <a:pt x="991" y="1026"/>
                      <a:pt x="991" y="1026"/>
                      <a:pt x="991" y="1026"/>
                    </a:cubicBezTo>
                    <a:cubicBezTo>
                      <a:pt x="962" y="1016"/>
                      <a:pt x="932" y="1013"/>
                      <a:pt x="902" y="1015"/>
                    </a:cubicBezTo>
                    <a:cubicBezTo>
                      <a:pt x="868" y="984"/>
                      <a:pt x="868" y="984"/>
                      <a:pt x="868" y="984"/>
                    </a:cubicBezTo>
                    <a:cubicBezTo>
                      <a:pt x="849" y="988"/>
                      <a:pt x="830" y="993"/>
                      <a:pt x="811" y="1001"/>
                    </a:cubicBezTo>
                    <a:cubicBezTo>
                      <a:pt x="793" y="1010"/>
                      <a:pt x="775" y="1019"/>
                      <a:pt x="760" y="1031"/>
                    </a:cubicBezTo>
                    <a:cubicBezTo>
                      <a:pt x="760" y="1078"/>
                      <a:pt x="760" y="1078"/>
                      <a:pt x="760" y="1078"/>
                    </a:cubicBezTo>
                    <a:cubicBezTo>
                      <a:pt x="737" y="1099"/>
                      <a:pt x="718" y="1123"/>
                      <a:pt x="705" y="1150"/>
                    </a:cubicBezTo>
                    <a:cubicBezTo>
                      <a:pt x="662" y="1164"/>
                      <a:pt x="662" y="1164"/>
                      <a:pt x="662" y="1164"/>
                    </a:cubicBezTo>
                    <a:cubicBezTo>
                      <a:pt x="648" y="1201"/>
                      <a:pt x="643" y="1240"/>
                      <a:pt x="646" y="1282"/>
                    </a:cubicBezTo>
                    <a:cubicBezTo>
                      <a:pt x="685" y="1305"/>
                      <a:pt x="685" y="1305"/>
                      <a:pt x="685" y="1305"/>
                    </a:cubicBezTo>
                    <a:cubicBezTo>
                      <a:pt x="688" y="1320"/>
                      <a:pt x="693" y="1337"/>
                      <a:pt x="701" y="1352"/>
                    </a:cubicBezTo>
                    <a:cubicBezTo>
                      <a:pt x="707" y="1367"/>
                      <a:pt x="714" y="1381"/>
                      <a:pt x="723" y="1393"/>
                    </a:cubicBezTo>
                    <a:cubicBezTo>
                      <a:pt x="712" y="1438"/>
                      <a:pt x="712" y="1438"/>
                      <a:pt x="712" y="1438"/>
                    </a:cubicBezTo>
                    <a:cubicBezTo>
                      <a:pt x="738" y="1468"/>
                      <a:pt x="769" y="1491"/>
                      <a:pt x="803" y="1508"/>
                    </a:cubicBezTo>
                    <a:cubicBezTo>
                      <a:pt x="842" y="1485"/>
                      <a:pt x="842" y="1485"/>
                      <a:pt x="842" y="1485"/>
                    </a:cubicBezTo>
                    <a:cubicBezTo>
                      <a:pt x="874" y="1496"/>
                      <a:pt x="907" y="1500"/>
                      <a:pt x="941" y="1498"/>
                    </a:cubicBezTo>
                    <a:cubicBezTo>
                      <a:pt x="976" y="1529"/>
                      <a:pt x="976" y="1529"/>
                      <a:pt x="976" y="1529"/>
                    </a:cubicBezTo>
                    <a:cubicBezTo>
                      <a:pt x="993" y="1525"/>
                      <a:pt x="1011" y="1519"/>
                      <a:pt x="1029" y="1512"/>
                    </a:cubicBezTo>
                    <a:cubicBezTo>
                      <a:pt x="1046" y="1504"/>
                      <a:pt x="1063" y="1494"/>
                      <a:pt x="1079" y="1484"/>
                    </a:cubicBezTo>
                    <a:cubicBezTo>
                      <a:pt x="1079" y="1438"/>
                      <a:pt x="1079" y="1438"/>
                      <a:pt x="1079" y="1438"/>
                    </a:cubicBezTo>
                    <a:cubicBezTo>
                      <a:pt x="1104" y="1415"/>
                      <a:pt x="1124" y="1387"/>
                      <a:pt x="1138" y="1356"/>
                    </a:cubicBezTo>
                    <a:cubicBezTo>
                      <a:pt x="1181" y="1343"/>
                      <a:pt x="1181" y="1343"/>
                      <a:pt x="1181" y="1343"/>
                    </a:cubicBezTo>
                    <a:cubicBezTo>
                      <a:pt x="1193" y="1307"/>
                      <a:pt x="1197" y="1267"/>
                      <a:pt x="1193" y="1228"/>
                    </a:cubicBezTo>
                    <a:close/>
                    <a:moveTo>
                      <a:pt x="968" y="1368"/>
                    </a:moveTo>
                    <a:cubicBezTo>
                      <a:pt x="907" y="1395"/>
                      <a:pt x="836" y="1366"/>
                      <a:pt x="810" y="1305"/>
                    </a:cubicBezTo>
                    <a:cubicBezTo>
                      <a:pt x="783" y="1243"/>
                      <a:pt x="811" y="1171"/>
                      <a:pt x="872" y="1145"/>
                    </a:cubicBezTo>
                    <a:cubicBezTo>
                      <a:pt x="933" y="1118"/>
                      <a:pt x="1004" y="1147"/>
                      <a:pt x="1030" y="1208"/>
                    </a:cubicBezTo>
                    <a:cubicBezTo>
                      <a:pt x="1057" y="1270"/>
                      <a:pt x="1029" y="1342"/>
                      <a:pt x="968" y="1368"/>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
        <p:nvSpPr>
          <p:cNvPr id="14" name="Rectangle 13">
            <a:extLst>
              <a:ext uri="{FF2B5EF4-FFF2-40B4-BE49-F238E27FC236}">
                <a16:creationId xmlns:a16="http://schemas.microsoft.com/office/drawing/2014/main" id="{4B08635C-F96B-4259-B169-63ACF71365F5}"/>
              </a:ext>
            </a:extLst>
          </p:cNvPr>
          <p:cNvSpPr/>
          <p:nvPr/>
        </p:nvSpPr>
        <p:spPr>
          <a:xfrm>
            <a:off x="1648915" y="2618989"/>
            <a:ext cx="2271929" cy="3378833"/>
          </a:xfrm>
          <a:prstGeom prst="rect">
            <a:avLst/>
          </a:prstGeom>
          <a:solidFill>
            <a:srgbClr val="FFFFFF"/>
          </a:solidFill>
          <a:ln w="7620" cap="rnd" cmpd="sng" algn="ctr">
            <a:solidFill>
              <a:srgbClr val="575757"/>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1946" tIns="45720" rIns="21946" bIns="45720" numCol="1" spcCol="0" rtlCol="0" fromWordArt="0" anchor="t" anchorCtr="0" forceAA="0" compatLnSpc="1">
            <a:prstTxWarp prst="textNoShape">
              <a:avLst/>
            </a:prstTxWarp>
            <a:noAutofit/>
          </a:bodyPr>
          <a:lstStyle/>
          <a:p>
            <a:pPr algn="ctr"/>
            <a:r>
              <a:rPr lang="es-ES" sz="1200" b="1">
                <a:solidFill>
                  <a:srgbClr val="575757"/>
                </a:solidFill>
                <a:sym typeface="Trebuchet MS" panose="020B0603020202020204" pitchFamily="34" charset="0"/>
              </a:rPr>
              <a:t>Active customers</a:t>
            </a:r>
            <a:r>
              <a:rPr lang="es-ES" sz="1200" b="1" baseline="30000">
                <a:solidFill>
                  <a:srgbClr val="575757"/>
                </a:solidFill>
                <a:sym typeface="Trebuchet MS" panose="020B0603020202020204" pitchFamily="34" charset="0"/>
              </a:rPr>
              <a:t>1</a:t>
            </a:r>
          </a:p>
          <a:p>
            <a:pPr algn="ctr"/>
            <a:r>
              <a:rPr lang="es-ES" sz="1200">
                <a:solidFill>
                  <a:srgbClr val="575757"/>
                </a:solidFill>
                <a:sym typeface="Trebuchet MS" panose="020B0603020202020204" pitchFamily="34" charset="0"/>
              </a:rPr>
              <a:t>(</a:t>
            </a:r>
            <a:r>
              <a:rPr lang="es-ES" sz="1200" err="1">
                <a:solidFill>
                  <a:srgbClr val="575757"/>
                </a:solidFill>
                <a:sym typeface="Trebuchet MS" panose="020B0603020202020204" pitchFamily="34" charset="0"/>
              </a:rPr>
              <a:t>All</a:t>
            </a:r>
            <a:r>
              <a:rPr lang="es-ES" sz="1200">
                <a:solidFill>
                  <a:srgbClr val="575757"/>
                </a:solidFill>
                <a:sym typeface="Trebuchet MS" panose="020B0603020202020204" pitchFamily="34" charset="0"/>
              </a:rPr>
              <a:t> active  </a:t>
            </a:r>
            <a:r>
              <a:rPr lang="es-ES" sz="1200" err="1">
                <a:solidFill>
                  <a:srgbClr val="575757"/>
                </a:solidFill>
                <a:sym typeface="Trebuchet MS" panose="020B0603020202020204" pitchFamily="34" charset="0"/>
              </a:rPr>
              <a:t>customers</a:t>
            </a:r>
            <a:r>
              <a:rPr lang="es-ES" sz="1200">
                <a:solidFill>
                  <a:srgbClr val="575757"/>
                </a:solidFill>
                <a:sym typeface="Trebuchet MS" panose="020B0603020202020204" pitchFamily="34" charset="0"/>
              </a:rPr>
              <a:t> as </a:t>
            </a:r>
            <a:r>
              <a:rPr lang="es-ES" sz="1200" err="1">
                <a:solidFill>
                  <a:srgbClr val="575757"/>
                </a:solidFill>
                <a:sym typeface="Trebuchet MS" panose="020B0603020202020204" pitchFamily="34" charset="0"/>
              </a:rPr>
              <a:t>of</a:t>
            </a:r>
            <a:r>
              <a:rPr lang="es-ES" sz="1200">
                <a:solidFill>
                  <a:srgbClr val="575757"/>
                </a:solidFill>
                <a:sym typeface="Trebuchet MS" panose="020B0603020202020204" pitchFamily="34" charset="0"/>
              </a:rPr>
              <a:t> Aug'20 </a:t>
            </a:r>
            <a:r>
              <a:rPr lang="es-ES" sz="1200" err="1">
                <a:solidFill>
                  <a:srgbClr val="575757"/>
                </a:solidFill>
                <a:sym typeface="Trebuchet MS" panose="020B0603020202020204" pitchFamily="34" charset="0"/>
              </a:rPr>
              <a:t>with</a:t>
            </a:r>
            <a:r>
              <a:rPr lang="es-ES" sz="1200">
                <a:solidFill>
                  <a:srgbClr val="575757"/>
                </a:solidFill>
                <a:sym typeface="Trebuchet MS" panose="020B0603020202020204" pitchFamily="34" charset="0"/>
              </a:rPr>
              <a:t> at </a:t>
            </a:r>
            <a:r>
              <a:rPr lang="es-ES" sz="1200" err="1">
                <a:solidFill>
                  <a:srgbClr val="575757"/>
                </a:solidFill>
                <a:sym typeface="Trebuchet MS" panose="020B0603020202020204" pitchFamily="34" charset="0"/>
              </a:rPr>
              <a:t>least</a:t>
            </a:r>
            <a:r>
              <a:rPr lang="es-ES" sz="1200">
                <a:solidFill>
                  <a:srgbClr val="575757"/>
                </a:solidFill>
                <a:sym typeface="Trebuchet MS" panose="020B0603020202020204" pitchFamily="34" charset="0"/>
              </a:rPr>
              <a:t> 6 </a:t>
            </a:r>
            <a:r>
              <a:rPr lang="es-ES" sz="1200" err="1">
                <a:solidFill>
                  <a:srgbClr val="575757"/>
                </a:solidFill>
                <a:sym typeface="Trebuchet MS" panose="020B0603020202020204" pitchFamily="34" charset="0"/>
              </a:rPr>
              <a:t>months</a:t>
            </a:r>
            <a:br>
              <a:rPr lang="es-ES" sz="1200">
                <a:solidFill>
                  <a:srgbClr val="575757"/>
                </a:solidFill>
                <a:sym typeface="Trebuchet MS" panose="020B0603020202020204" pitchFamily="34" charset="0"/>
              </a:rPr>
            </a:br>
            <a:r>
              <a:rPr lang="es-ES" sz="1200" err="1">
                <a:solidFill>
                  <a:srgbClr val="575757"/>
                </a:solidFill>
                <a:sym typeface="Trebuchet MS" panose="020B0603020202020204" pitchFamily="34" charset="0"/>
              </a:rPr>
              <a:t>of</a:t>
            </a:r>
            <a:r>
              <a:rPr lang="es-ES" sz="1200">
                <a:solidFill>
                  <a:srgbClr val="575757"/>
                </a:solidFill>
                <a:sym typeface="Trebuchet MS" panose="020B0603020202020204" pitchFamily="34" charset="0"/>
              </a:rPr>
              <a:t> </a:t>
            </a:r>
            <a:r>
              <a:rPr lang="es-ES" sz="1200" err="1">
                <a:solidFill>
                  <a:srgbClr val="575757"/>
                </a:solidFill>
                <a:sym typeface="Trebuchet MS" panose="020B0603020202020204" pitchFamily="34" charset="0"/>
              </a:rPr>
              <a:t>tenure</a:t>
            </a:r>
            <a:r>
              <a:rPr lang="es-ES" sz="1200">
                <a:solidFill>
                  <a:srgbClr val="575757"/>
                </a:solidFill>
                <a:sym typeface="Trebuchet MS" panose="020B0603020202020204" pitchFamily="34" charset="0"/>
              </a:rPr>
              <a:t> </a:t>
            </a:r>
            <a:r>
              <a:rPr lang="es-ES" sz="1200" err="1">
                <a:solidFill>
                  <a:srgbClr val="575757"/>
                </a:solidFill>
                <a:sym typeface="Trebuchet MS" panose="020B0603020202020204" pitchFamily="34" charset="0"/>
              </a:rPr>
              <a:t>with</a:t>
            </a:r>
            <a:r>
              <a:rPr lang="es-ES" sz="1200">
                <a:solidFill>
                  <a:srgbClr val="575757"/>
                </a:solidFill>
                <a:sym typeface="Trebuchet MS" panose="020B0603020202020204" pitchFamily="34" charset="0"/>
              </a:rPr>
              <a:t> </a:t>
            </a:r>
            <a:r>
              <a:rPr lang="es-ES" sz="1200" err="1">
                <a:solidFill>
                  <a:srgbClr val="575757"/>
                </a:solidFill>
                <a:sym typeface="Trebuchet MS" panose="020B0603020202020204" pitchFamily="34" charset="0"/>
              </a:rPr>
              <a:t>the</a:t>
            </a:r>
            <a:r>
              <a:rPr lang="es-ES" sz="1200">
                <a:solidFill>
                  <a:srgbClr val="575757"/>
                </a:solidFill>
                <a:sym typeface="Trebuchet MS" panose="020B0603020202020204" pitchFamily="34" charset="0"/>
              </a:rPr>
              <a:t> </a:t>
            </a:r>
            <a:r>
              <a:rPr lang="es-ES" sz="1200" err="1">
                <a:solidFill>
                  <a:srgbClr val="575757"/>
                </a:solidFill>
                <a:sym typeface="Trebuchet MS" panose="020B0603020202020204" pitchFamily="34" charset="0"/>
              </a:rPr>
              <a:t>bank</a:t>
            </a:r>
            <a:r>
              <a:rPr lang="es-ES" sz="1200">
                <a:solidFill>
                  <a:srgbClr val="575757"/>
                </a:solidFill>
                <a:sym typeface="Trebuchet MS" panose="020B0603020202020204" pitchFamily="34" charset="0"/>
              </a:rPr>
              <a:t>)</a:t>
            </a:r>
          </a:p>
          <a:p>
            <a:pPr algn="ctr"/>
            <a:endParaRPr lang="es-ES" sz="1200">
              <a:solidFill>
                <a:srgbClr val="575757"/>
              </a:solidFill>
              <a:sym typeface="Trebuchet MS" panose="020B0603020202020204" pitchFamily="34" charset="0"/>
            </a:endParaRPr>
          </a:p>
          <a:p>
            <a:pPr marL="288000" lvl="1" indent="-228600">
              <a:buClr>
                <a:srgbClr val="005FAF">
                  <a:lumMod val="100000"/>
                </a:srgbClr>
              </a:buClr>
              <a:buSzPct val="100000"/>
              <a:buFont typeface="+mj-lt"/>
              <a:buAutoNum type="arabicPeriod"/>
            </a:pPr>
            <a:r>
              <a:rPr lang="es-ES" sz="1200" b="1">
                <a:solidFill>
                  <a:srgbClr val="575757"/>
                </a:solidFill>
                <a:latin typeface="Trebuchet MS" panose="020B0603020202020204" pitchFamily="34" charset="0"/>
                <a:sym typeface="Trebuchet MS" panose="020B0603020202020204" pitchFamily="34" charset="0"/>
              </a:rPr>
              <a:t>A1.A </a:t>
            </a:r>
            <a:r>
              <a:rPr lang="es-ES" sz="1200" b="1" err="1">
                <a:solidFill>
                  <a:srgbClr val="575757"/>
                </a:solidFill>
                <a:latin typeface="Trebuchet MS" panose="020B0603020202020204" pitchFamily="34" charset="0"/>
                <a:sym typeface="Trebuchet MS" panose="020B0603020202020204" pitchFamily="34" charset="0"/>
              </a:rPr>
              <a:t>Wealth</a:t>
            </a:r>
            <a:r>
              <a:rPr lang="es-ES" sz="1200" b="1">
                <a:solidFill>
                  <a:srgbClr val="575757"/>
                </a:solidFill>
                <a:latin typeface="Trebuchet MS" panose="020B0603020202020204" pitchFamily="34" charset="0"/>
                <a:sym typeface="Trebuchet MS" panose="020B0603020202020204" pitchFamily="34" charset="0"/>
              </a:rPr>
              <a:t> </a:t>
            </a:r>
            <a:r>
              <a:rPr lang="es-ES" sz="1200" b="1" err="1">
                <a:solidFill>
                  <a:srgbClr val="575757"/>
                </a:solidFill>
                <a:latin typeface="Trebuchet MS" panose="020B0603020202020204" pitchFamily="34" charset="0"/>
                <a:sym typeface="Trebuchet MS" panose="020B0603020202020204" pitchFamily="34" charset="0"/>
              </a:rPr>
              <a:t>Customers</a:t>
            </a:r>
            <a:r>
              <a:rPr lang="es-ES" sz="1200" b="1">
                <a:solidFill>
                  <a:srgbClr val="575757"/>
                </a:solidFill>
                <a:latin typeface="Trebuchet MS" panose="020B0603020202020204" pitchFamily="34" charset="0"/>
                <a:sym typeface="Trebuchet MS" panose="020B0603020202020204" pitchFamily="34" charset="0"/>
              </a:rPr>
              <a:t>:</a:t>
            </a:r>
            <a:r>
              <a:rPr lang="es-ES" sz="1200">
                <a:solidFill>
                  <a:srgbClr val="575757"/>
                </a:solidFill>
                <a:latin typeface="Trebuchet MS" panose="020B0603020202020204" pitchFamily="34" charset="0"/>
                <a:sym typeface="Trebuchet MS" panose="020B0603020202020204" pitchFamily="34" charset="0"/>
              </a:rPr>
              <a:t> </a:t>
            </a:r>
            <a:r>
              <a:rPr lang="en-SG" sz="1200">
                <a:solidFill>
                  <a:srgbClr val="575757"/>
                </a:solidFill>
                <a:latin typeface="Trebuchet MS" panose="020B0603020202020204" pitchFamily="34" charset="0"/>
                <a:sym typeface="Trebuchet MS" panose="020B0603020202020204" pitchFamily="34" charset="0"/>
              </a:rPr>
              <a:t>Have purchased either Mutual funds or Bonds with a minimum holding amount &gt; xx Mn IDR</a:t>
            </a:r>
          </a:p>
          <a:p>
            <a:pPr marL="288000" lvl="1" indent="-228600">
              <a:buClr>
                <a:srgbClr val="005FAF">
                  <a:lumMod val="100000"/>
                </a:srgbClr>
              </a:buClr>
              <a:buSzPct val="100000"/>
              <a:buFont typeface="+mj-lt"/>
              <a:buAutoNum type="arabicPeriod"/>
            </a:pPr>
            <a:endParaRPr lang="en-SG" sz="1200">
              <a:solidFill>
                <a:srgbClr val="575757"/>
              </a:solidFill>
              <a:latin typeface="Trebuchet MS" panose="020B0603020202020204" pitchFamily="34" charset="0"/>
              <a:sym typeface="Trebuchet MS" panose="020B0603020202020204" pitchFamily="34" charset="0"/>
            </a:endParaRPr>
          </a:p>
          <a:p>
            <a:pPr marL="288000" lvl="1" indent="-228600">
              <a:buClr>
                <a:srgbClr val="005FAF">
                  <a:lumMod val="100000"/>
                </a:srgbClr>
              </a:buClr>
              <a:buSzPct val="100000"/>
              <a:buFont typeface="+mj-lt"/>
              <a:buAutoNum type="arabicPeriod"/>
            </a:pPr>
            <a:r>
              <a:rPr lang="en-SG" sz="1200" b="1">
                <a:solidFill>
                  <a:srgbClr val="575757"/>
                </a:solidFill>
                <a:latin typeface="Trebuchet MS" panose="020B0603020202020204" pitchFamily="34" charset="0"/>
                <a:sym typeface="Trebuchet MS" panose="020B0603020202020204" pitchFamily="34" charset="0"/>
              </a:rPr>
              <a:t>A1.B Affluent Customers:</a:t>
            </a:r>
            <a:r>
              <a:rPr lang="en-SG" sz="1200">
                <a:solidFill>
                  <a:srgbClr val="575757"/>
                </a:solidFill>
                <a:latin typeface="Trebuchet MS" panose="020B0603020202020204" pitchFamily="34" charset="0"/>
                <a:sym typeface="Trebuchet MS" panose="020B0603020202020204" pitchFamily="34" charset="0"/>
              </a:rPr>
              <a:t> Have minimum </a:t>
            </a:r>
            <a:r>
              <a:rPr lang="en-SG" sz="1200" err="1">
                <a:solidFill>
                  <a:srgbClr val="575757"/>
                </a:solidFill>
                <a:latin typeface="Trebuchet MS" panose="020B0603020202020204" pitchFamily="34" charset="0"/>
                <a:sym typeface="Trebuchet MS" panose="020B0603020202020204" pitchFamily="34" charset="0"/>
              </a:rPr>
              <a:t>AuM</a:t>
            </a:r>
            <a:r>
              <a:rPr lang="en-SG" sz="1200">
                <a:solidFill>
                  <a:srgbClr val="575757"/>
                </a:solidFill>
                <a:latin typeface="Trebuchet MS" panose="020B0603020202020204" pitchFamily="34" charset="0"/>
                <a:sym typeface="Trebuchet MS" panose="020B0603020202020204" pitchFamily="34" charset="0"/>
              </a:rPr>
              <a:t> &gt; xx Bn IDR</a:t>
            </a:r>
          </a:p>
          <a:p>
            <a:pPr marL="288000" lvl="1" indent="-228600">
              <a:buClr>
                <a:srgbClr val="005FAF">
                  <a:lumMod val="100000"/>
                </a:srgbClr>
              </a:buClr>
              <a:buSzPct val="100000"/>
              <a:buFont typeface="+mj-lt"/>
              <a:buAutoNum type="arabicPeriod"/>
            </a:pPr>
            <a:endParaRPr lang="en-SG" sz="1200">
              <a:solidFill>
                <a:srgbClr val="575757"/>
              </a:solidFill>
              <a:latin typeface="Trebuchet MS" panose="020B0603020202020204" pitchFamily="34" charset="0"/>
              <a:sym typeface="Trebuchet MS" panose="020B0603020202020204" pitchFamily="34" charset="0"/>
            </a:endParaRPr>
          </a:p>
          <a:p>
            <a:pPr marL="288000" lvl="1" indent="-228600">
              <a:buClr>
                <a:srgbClr val="005FAF">
                  <a:lumMod val="100000"/>
                </a:srgbClr>
              </a:buClr>
              <a:buSzPct val="100000"/>
              <a:buFont typeface="+mj-lt"/>
              <a:buAutoNum type="arabicPeriod"/>
            </a:pPr>
            <a:r>
              <a:rPr lang="en-SG" sz="1200" b="1">
                <a:solidFill>
                  <a:srgbClr val="575757"/>
                </a:solidFill>
                <a:latin typeface="Trebuchet MS" panose="020B0603020202020204" pitchFamily="34" charset="0"/>
                <a:sym typeface="Trebuchet MS" panose="020B0603020202020204" pitchFamily="34" charset="0"/>
              </a:rPr>
              <a:t>A1.B HNW Customers:</a:t>
            </a:r>
            <a:r>
              <a:rPr lang="en-SG" sz="1200">
                <a:solidFill>
                  <a:srgbClr val="575757"/>
                </a:solidFill>
                <a:latin typeface="Trebuchet MS" panose="020B0603020202020204" pitchFamily="34" charset="0"/>
                <a:sym typeface="Trebuchet MS" panose="020B0603020202020204" pitchFamily="34" charset="0"/>
              </a:rPr>
              <a:t> Have minimum </a:t>
            </a:r>
            <a:r>
              <a:rPr lang="en-SG" sz="1200" err="1">
                <a:solidFill>
                  <a:srgbClr val="575757"/>
                </a:solidFill>
                <a:latin typeface="Trebuchet MS" panose="020B0603020202020204" pitchFamily="34" charset="0"/>
                <a:sym typeface="Trebuchet MS" panose="020B0603020202020204" pitchFamily="34" charset="0"/>
              </a:rPr>
              <a:t>AuM</a:t>
            </a:r>
            <a:r>
              <a:rPr lang="en-SG" sz="1200">
                <a:solidFill>
                  <a:srgbClr val="575757"/>
                </a:solidFill>
                <a:latin typeface="Trebuchet MS" panose="020B0603020202020204" pitchFamily="34" charset="0"/>
                <a:sym typeface="Trebuchet MS" panose="020B0603020202020204" pitchFamily="34" charset="0"/>
              </a:rPr>
              <a:t> &gt; xx Bn IDR</a:t>
            </a:r>
          </a:p>
          <a:p>
            <a:pPr marL="288000" lvl="1" indent="-228600">
              <a:buClr>
                <a:srgbClr val="005FAF">
                  <a:lumMod val="100000"/>
                </a:srgbClr>
              </a:buClr>
              <a:buSzPct val="100000"/>
              <a:buFont typeface="+mj-lt"/>
              <a:buAutoNum type="arabicPeriod"/>
            </a:pPr>
            <a:endParaRPr lang="en-SG" sz="1200">
              <a:solidFill>
                <a:srgbClr val="575757"/>
              </a:solidFill>
              <a:latin typeface="Trebuchet MS" panose="020B0603020202020204" pitchFamily="34" charset="0"/>
              <a:sym typeface="Trebuchet MS" panose="020B0603020202020204" pitchFamily="34" charset="0"/>
            </a:endParaRPr>
          </a:p>
          <a:p>
            <a:pPr marL="288000" lvl="1" indent="-228600">
              <a:buClr>
                <a:srgbClr val="005FAF">
                  <a:lumMod val="100000"/>
                </a:srgbClr>
              </a:buClr>
              <a:buSzPct val="100000"/>
              <a:buFont typeface="+mj-lt"/>
              <a:buAutoNum type="arabicPeriod"/>
            </a:pPr>
            <a:endParaRPr lang="es-ES" sz="1200">
              <a:solidFill>
                <a:srgbClr val="575757">
                  <a:lumMod val="100000"/>
                </a:srgbClr>
              </a:solidFill>
              <a:latin typeface="Trebuchet MS" panose="020B0603020202020204" pitchFamily="34" charset="0"/>
              <a:sym typeface="Trebuchet MS" panose="020B0603020202020204" pitchFamily="34" charset="0"/>
            </a:endParaRPr>
          </a:p>
          <a:p>
            <a:pPr algn="ctr"/>
            <a:endParaRPr lang="es-ES" sz="1200">
              <a:solidFill>
                <a:srgbClr val="575757"/>
              </a:solidFill>
              <a:sym typeface="Trebuchet MS" panose="020B0603020202020204" pitchFamily="34" charset="0"/>
            </a:endParaRPr>
          </a:p>
          <a:p>
            <a:pPr algn="ctr"/>
            <a:endParaRPr lang="en-SG" sz="1200">
              <a:solidFill>
                <a:srgbClr val="575757"/>
              </a:solidFill>
              <a:sym typeface="Trebuchet MS" panose="020B0603020202020204" pitchFamily="34" charset="0"/>
            </a:endParaRPr>
          </a:p>
        </p:txBody>
      </p:sp>
      <p:sp>
        <p:nvSpPr>
          <p:cNvPr id="16" name="Rectangle 15">
            <a:extLst>
              <a:ext uri="{FF2B5EF4-FFF2-40B4-BE49-F238E27FC236}">
                <a16:creationId xmlns:a16="http://schemas.microsoft.com/office/drawing/2014/main" id="{93E6D337-3A0F-4881-A112-0B43A79FFE7A}"/>
              </a:ext>
            </a:extLst>
          </p:cNvPr>
          <p:cNvSpPr/>
          <p:nvPr/>
        </p:nvSpPr>
        <p:spPr>
          <a:xfrm>
            <a:off x="772418" y="2618990"/>
            <a:ext cx="699525" cy="385011"/>
          </a:xfrm>
          <a:prstGeom prst="rect">
            <a:avLst/>
          </a:prstGeom>
          <a:noFill/>
          <a:ln w="7620" cap="rnd" cmpd="sng" algn="ctr">
            <a:solidFill>
              <a:schemeClr val="tx2"/>
            </a:solidFill>
            <a:prstDash val="dash"/>
            <a:round/>
            <a:headEnd type="none" w="med" len="med"/>
            <a:tailEnd type="none" w="med" len="me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1946" tIns="21946" rIns="21946" bIns="21946" numCol="1" spcCol="0" rtlCol="0" fromWordArt="0" anchor="ctr" anchorCtr="0" forceAA="0" compatLnSpc="1">
            <a:prstTxWarp prst="textNoShape">
              <a:avLst/>
            </a:prstTxWarp>
            <a:noAutofit/>
          </a:bodyPr>
          <a:lstStyle/>
          <a:p>
            <a:pPr algn="ctr"/>
            <a:r>
              <a:rPr lang="es-ES" sz="1200" b="1">
                <a:solidFill>
                  <a:schemeClr val="tx2"/>
                </a:solidFill>
                <a:sym typeface="Trebuchet MS" panose="020B0603020202020204" pitchFamily="34" charset="0"/>
              </a:rPr>
              <a:t>Target</a:t>
            </a:r>
            <a:endParaRPr lang="es-ES" sz="1200">
              <a:solidFill>
                <a:schemeClr val="tx2"/>
              </a:solidFill>
              <a:sym typeface="Trebuchet MS" panose="020B0603020202020204" pitchFamily="34" charset="0"/>
            </a:endParaRPr>
          </a:p>
        </p:txBody>
      </p:sp>
      <p:sp>
        <p:nvSpPr>
          <p:cNvPr id="18" name="Rectangle 17">
            <a:extLst>
              <a:ext uri="{FF2B5EF4-FFF2-40B4-BE49-F238E27FC236}">
                <a16:creationId xmlns:a16="http://schemas.microsoft.com/office/drawing/2014/main" id="{CA65107A-C2F0-47FF-B57C-EEF3E49D6449}"/>
              </a:ext>
            </a:extLst>
          </p:cNvPr>
          <p:cNvSpPr/>
          <p:nvPr/>
        </p:nvSpPr>
        <p:spPr>
          <a:xfrm>
            <a:off x="5397000" y="2618989"/>
            <a:ext cx="2271929" cy="1014124"/>
          </a:xfrm>
          <a:prstGeom prst="rect">
            <a:avLst/>
          </a:prstGeom>
          <a:solidFill>
            <a:srgbClr val="FFFFFF"/>
          </a:solidFill>
          <a:ln w="9525" cap="rnd" cmpd="sng" algn="ctr">
            <a:solidFill>
              <a:srgbClr val="707070"/>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ctr" anchorCtr="0" forceAA="0" compatLnSpc="1">
            <a:prstTxWarp prst="textNoShape">
              <a:avLst/>
            </a:prstTxWarp>
            <a:spAutoFit/>
          </a:bodyPr>
          <a:lstStyle/>
          <a:p>
            <a:pPr algn="ctr">
              <a:lnSpc>
                <a:spcPct val="90000"/>
              </a:lnSpc>
              <a:spcAft>
                <a:spcPts val="600"/>
              </a:spcAft>
            </a:pPr>
            <a:r>
              <a:rPr lang="en-SG" sz="1400" b="1">
                <a:solidFill>
                  <a:schemeClr val="tx1"/>
                </a:solidFill>
                <a:sym typeface="Trebuchet MS" panose="020B0603020202020204" pitchFamily="34" charset="0"/>
              </a:rPr>
              <a:t>Propensity Model (Positive /Unknown)</a:t>
            </a:r>
          </a:p>
          <a:p>
            <a:pPr algn="ctr">
              <a:lnSpc>
                <a:spcPct val="90000"/>
              </a:lnSpc>
              <a:spcAft>
                <a:spcPts val="600"/>
              </a:spcAft>
            </a:pPr>
            <a:r>
              <a:rPr lang="en-SG" sz="1100">
                <a:solidFill>
                  <a:schemeClr val="tx1"/>
                </a:solidFill>
                <a:sym typeface="Trebuchet MS" panose="020B0603020202020204" pitchFamily="34" charset="0"/>
              </a:rPr>
              <a:t>Model behaviour of customers over a period using  Machine Learning algorithm</a:t>
            </a:r>
            <a:endParaRPr lang="en-US" sz="1050">
              <a:solidFill>
                <a:schemeClr val="tx1"/>
              </a:solidFill>
              <a:sym typeface="Trebuchet MS" panose="020B0603020202020204" pitchFamily="34" charset="0"/>
            </a:endParaRPr>
          </a:p>
        </p:txBody>
      </p:sp>
      <p:sp>
        <p:nvSpPr>
          <p:cNvPr id="19" name="Rectangle 18">
            <a:extLst>
              <a:ext uri="{FF2B5EF4-FFF2-40B4-BE49-F238E27FC236}">
                <a16:creationId xmlns:a16="http://schemas.microsoft.com/office/drawing/2014/main" id="{17E8A24A-9873-44E6-9FCC-2289587BE5CF}"/>
              </a:ext>
            </a:extLst>
          </p:cNvPr>
          <p:cNvSpPr/>
          <p:nvPr/>
        </p:nvSpPr>
        <p:spPr>
          <a:xfrm>
            <a:off x="4520504" y="2618990"/>
            <a:ext cx="699525" cy="385011"/>
          </a:xfrm>
          <a:prstGeom prst="rect">
            <a:avLst/>
          </a:prstGeom>
          <a:noFill/>
          <a:ln w="7620" cap="rnd" cmpd="sng" algn="ctr">
            <a:solidFill>
              <a:schemeClr val="tx2"/>
            </a:solidFill>
            <a:prstDash val="dash"/>
            <a:round/>
            <a:headEnd type="none" w="med" len="med"/>
            <a:tailEnd type="none" w="med" len="me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1946" tIns="21946" rIns="21946" bIns="21946" numCol="1" spcCol="0" rtlCol="0" fromWordArt="0" anchor="ctr" anchorCtr="0" forceAA="0" compatLnSpc="1">
            <a:prstTxWarp prst="textNoShape">
              <a:avLst/>
            </a:prstTxWarp>
            <a:noAutofit/>
          </a:bodyPr>
          <a:lstStyle/>
          <a:p>
            <a:pPr algn="ctr"/>
            <a:r>
              <a:rPr lang="es-ES" sz="1200" b="1">
                <a:solidFill>
                  <a:schemeClr val="tx2"/>
                </a:solidFill>
                <a:sym typeface="Trebuchet MS" panose="020B0603020202020204" pitchFamily="34" charset="0"/>
              </a:rPr>
              <a:t>Train </a:t>
            </a:r>
            <a:r>
              <a:rPr lang="es-ES" sz="1200" b="1" err="1">
                <a:solidFill>
                  <a:schemeClr val="tx2"/>
                </a:solidFill>
                <a:sym typeface="Trebuchet MS" panose="020B0603020202020204" pitchFamily="34" charset="0"/>
              </a:rPr>
              <a:t>model</a:t>
            </a:r>
            <a:endParaRPr lang="es-ES" sz="1200">
              <a:solidFill>
                <a:schemeClr val="tx2"/>
              </a:solidFill>
              <a:sym typeface="Trebuchet MS" panose="020B0603020202020204" pitchFamily="34" charset="0"/>
            </a:endParaRPr>
          </a:p>
        </p:txBody>
      </p:sp>
      <p:sp>
        <p:nvSpPr>
          <p:cNvPr id="23" name="Rectangle 22">
            <a:extLst>
              <a:ext uri="{FF2B5EF4-FFF2-40B4-BE49-F238E27FC236}">
                <a16:creationId xmlns:a16="http://schemas.microsoft.com/office/drawing/2014/main" id="{D5B63709-59F2-4620-8217-637028052332}"/>
              </a:ext>
            </a:extLst>
          </p:cNvPr>
          <p:cNvSpPr/>
          <p:nvPr/>
        </p:nvSpPr>
        <p:spPr>
          <a:xfrm>
            <a:off x="5397000" y="3724553"/>
            <a:ext cx="2271929" cy="1167705"/>
          </a:xfrm>
          <a:prstGeom prst="rect">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7F7F7F"/>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1946" tIns="21946" rIns="21946" bIns="21946" numCol="1" spcCol="0" rtlCol="0" fromWordArt="0" anchor="ctr" anchorCtr="0" forceAA="0" compatLnSpc="1">
            <a:prstTxWarp prst="textNoShape">
              <a:avLst/>
            </a:prstTxWarp>
            <a:spAutoFit/>
          </a:bodyPr>
          <a:lstStyle/>
          <a:p>
            <a:pPr algn="ctr"/>
            <a:r>
              <a:rPr lang="en-US" sz="1100" b="1">
                <a:solidFill>
                  <a:srgbClr val="575757"/>
                </a:solidFill>
                <a:sym typeface="Trebuchet MS" panose="020B0603020202020204" pitchFamily="34" charset="0"/>
              </a:rPr>
              <a:t>Predictors</a:t>
            </a:r>
            <a:r>
              <a:rPr lang="en-US" sz="1100">
                <a:solidFill>
                  <a:srgbClr val="575757"/>
                </a:solidFill>
                <a:sym typeface="Trebuchet MS" panose="020B0603020202020204" pitchFamily="34" charset="0"/>
              </a:rPr>
              <a:t> to understand behavior of customers who purchase wealth products or have high </a:t>
            </a:r>
            <a:r>
              <a:rPr lang="en-US" sz="1100" err="1">
                <a:solidFill>
                  <a:srgbClr val="575757"/>
                </a:solidFill>
                <a:sym typeface="Trebuchet MS" panose="020B0603020202020204" pitchFamily="34" charset="0"/>
              </a:rPr>
              <a:t>AuM</a:t>
            </a:r>
            <a:endParaRPr lang="en-US" sz="1100">
              <a:solidFill>
                <a:srgbClr val="575757"/>
              </a:solidFill>
              <a:sym typeface="Trebuchet MS" panose="020B0603020202020204" pitchFamily="34" charset="0"/>
            </a:endParaRPr>
          </a:p>
          <a:p>
            <a:pPr algn="ctr"/>
            <a:endParaRPr lang="en-US" sz="1000" i="1">
              <a:solidFill>
                <a:srgbClr val="575757"/>
              </a:solidFill>
              <a:sym typeface="Trebuchet MS" panose="020B0603020202020204" pitchFamily="34" charset="0"/>
            </a:endParaRPr>
          </a:p>
          <a:p>
            <a:pPr algn="ctr"/>
            <a:r>
              <a:rPr lang="en-US" sz="1000" i="1">
                <a:solidFill>
                  <a:srgbClr val="575757"/>
                </a:solidFill>
                <a:sym typeface="Trebuchet MS" panose="020B0603020202020204" pitchFamily="34" charset="0"/>
              </a:rPr>
              <a:t>e.g. customers who shop luxury</a:t>
            </a:r>
            <a:br>
              <a:rPr lang="en-US" sz="1000" i="1">
                <a:solidFill>
                  <a:srgbClr val="575757"/>
                </a:solidFill>
                <a:sym typeface="Trebuchet MS" panose="020B0603020202020204" pitchFamily="34" charset="0"/>
              </a:rPr>
            </a:br>
            <a:r>
              <a:rPr lang="en-US" sz="1000" i="1">
                <a:solidFill>
                  <a:srgbClr val="575757"/>
                </a:solidFill>
                <a:sym typeface="Trebuchet MS" panose="020B0603020202020204" pitchFamily="34" charset="0"/>
              </a:rPr>
              <a:t>retail products have high propensity to buy wealth</a:t>
            </a:r>
          </a:p>
        </p:txBody>
      </p:sp>
      <p:sp>
        <p:nvSpPr>
          <p:cNvPr id="25" name="Rectangle 24">
            <a:extLst>
              <a:ext uri="{FF2B5EF4-FFF2-40B4-BE49-F238E27FC236}">
                <a16:creationId xmlns:a16="http://schemas.microsoft.com/office/drawing/2014/main" id="{08BFE94C-F7D5-46D1-8000-65E9BCFE3147}"/>
              </a:ext>
            </a:extLst>
          </p:cNvPr>
          <p:cNvSpPr/>
          <p:nvPr/>
        </p:nvSpPr>
        <p:spPr>
          <a:xfrm>
            <a:off x="5397000" y="4983698"/>
            <a:ext cx="2271929" cy="1014124"/>
          </a:xfrm>
          <a:prstGeom prst="rect">
            <a:avLst/>
          </a:prstGeom>
          <a:solidFill>
            <a:srgbClr val="FFFFFF"/>
          </a:solidFill>
          <a:ln w="9525" cap="rnd" cmpd="sng" algn="ctr">
            <a:solidFill>
              <a:srgbClr val="707070"/>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1946" tIns="21946" rIns="21946" bIns="21946" numCol="1" spcCol="0" rtlCol="0" fromWordArt="0" anchor="ctr" anchorCtr="0" forceAA="0" compatLnSpc="1">
            <a:prstTxWarp prst="textNoShape">
              <a:avLst/>
            </a:prstTxWarp>
            <a:noAutofit/>
          </a:bodyPr>
          <a:lstStyle/>
          <a:p>
            <a:pPr algn="ctr">
              <a:lnSpc>
                <a:spcPct val="90000"/>
              </a:lnSpc>
              <a:spcAft>
                <a:spcPts val="600"/>
              </a:spcAft>
            </a:pPr>
            <a:r>
              <a:rPr lang="en-SG" sz="1400" b="1">
                <a:solidFill>
                  <a:schemeClr val="tx1"/>
                </a:solidFill>
                <a:sym typeface="Trebuchet MS" panose="020B0603020202020204" pitchFamily="34" charset="0"/>
              </a:rPr>
              <a:t>Test Model</a:t>
            </a:r>
          </a:p>
          <a:p>
            <a:pPr algn="ctr">
              <a:lnSpc>
                <a:spcPct val="90000"/>
              </a:lnSpc>
              <a:spcAft>
                <a:spcPts val="600"/>
              </a:spcAft>
            </a:pPr>
            <a:r>
              <a:rPr lang="en-SG" sz="1200" b="1">
                <a:solidFill>
                  <a:srgbClr val="6E6F73"/>
                </a:solidFill>
                <a:sym typeface="Trebuchet MS" panose="020B0603020202020204" pitchFamily="34" charset="0"/>
              </a:rPr>
              <a:t>Back-testing:</a:t>
            </a:r>
            <a:r>
              <a:rPr lang="en-SG" sz="1200">
                <a:solidFill>
                  <a:schemeClr val="tx1"/>
                </a:solidFill>
                <a:sym typeface="Trebuchet MS" panose="020B0603020202020204" pitchFamily="34" charset="0"/>
              </a:rPr>
              <a:t> Fine tune model on Test data set</a:t>
            </a:r>
          </a:p>
        </p:txBody>
      </p:sp>
      <p:sp>
        <p:nvSpPr>
          <p:cNvPr id="24" name="Rectangle 23">
            <a:extLst>
              <a:ext uri="{FF2B5EF4-FFF2-40B4-BE49-F238E27FC236}">
                <a16:creationId xmlns:a16="http://schemas.microsoft.com/office/drawing/2014/main" id="{AEC84E39-5BE1-4158-884F-B5589CC7199C}"/>
              </a:ext>
            </a:extLst>
          </p:cNvPr>
          <p:cNvSpPr/>
          <p:nvPr/>
        </p:nvSpPr>
        <p:spPr>
          <a:xfrm>
            <a:off x="4520503" y="4983698"/>
            <a:ext cx="699525" cy="385011"/>
          </a:xfrm>
          <a:prstGeom prst="rect">
            <a:avLst/>
          </a:prstGeom>
          <a:noFill/>
          <a:ln w="7620" cap="rnd" cmpd="sng" algn="ctr">
            <a:solidFill>
              <a:schemeClr val="tx2"/>
            </a:solidFill>
            <a:prstDash val="dash"/>
            <a:round/>
            <a:headEnd type="none" w="med" len="med"/>
            <a:tailEnd type="none" w="med" len="me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1946" tIns="21946" rIns="21946" bIns="21946" numCol="1" spcCol="0" rtlCol="0" fromWordArt="0" anchor="ctr" anchorCtr="0" forceAA="0" compatLnSpc="1">
            <a:prstTxWarp prst="textNoShape">
              <a:avLst/>
            </a:prstTxWarp>
            <a:noAutofit/>
          </a:bodyPr>
          <a:lstStyle/>
          <a:p>
            <a:pPr algn="ctr"/>
            <a:r>
              <a:rPr lang="es-ES" sz="1200" b="1">
                <a:solidFill>
                  <a:schemeClr val="tx2"/>
                </a:solidFill>
                <a:sym typeface="Trebuchet MS" panose="020B0603020202020204" pitchFamily="34" charset="0"/>
              </a:rPr>
              <a:t>Test</a:t>
            </a:r>
          </a:p>
          <a:p>
            <a:pPr algn="ctr"/>
            <a:r>
              <a:rPr lang="es-ES" sz="1200" b="1" err="1">
                <a:solidFill>
                  <a:schemeClr val="tx2"/>
                </a:solidFill>
                <a:sym typeface="Trebuchet MS" panose="020B0603020202020204" pitchFamily="34" charset="0"/>
              </a:rPr>
              <a:t>model</a:t>
            </a:r>
            <a:endParaRPr lang="es-ES" sz="1200">
              <a:solidFill>
                <a:schemeClr val="tx2"/>
              </a:solidFill>
              <a:sym typeface="Trebuchet MS" panose="020B0603020202020204" pitchFamily="34" charset="0"/>
            </a:endParaRPr>
          </a:p>
        </p:txBody>
      </p:sp>
      <p:grpSp>
        <p:nvGrpSpPr>
          <p:cNvPr id="50" name="Group 49">
            <a:extLst>
              <a:ext uri="{FF2B5EF4-FFF2-40B4-BE49-F238E27FC236}">
                <a16:creationId xmlns:a16="http://schemas.microsoft.com/office/drawing/2014/main" id="{CC62FDE0-2342-4545-97F1-8F31CDFE05D7}"/>
              </a:ext>
            </a:extLst>
          </p:cNvPr>
          <p:cNvGrpSpPr>
            <a:grpSpLocks noChangeAspect="1"/>
          </p:cNvGrpSpPr>
          <p:nvPr/>
        </p:nvGrpSpPr>
        <p:grpSpPr>
          <a:xfrm>
            <a:off x="4454955" y="3017548"/>
            <a:ext cx="830621" cy="831391"/>
            <a:chOff x="5273801" y="2606040"/>
            <a:chExt cx="1644396" cy="1645920"/>
          </a:xfrm>
        </p:grpSpPr>
        <p:sp>
          <p:nvSpPr>
            <p:cNvPr id="51" name="AutoShape 23">
              <a:extLst>
                <a:ext uri="{FF2B5EF4-FFF2-40B4-BE49-F238E27FC236}">
                  <a16:creationId xmlns:a16="http://schemas.microsoft.com/office/drawing/2014/main" id="{F1F281DD-A0AD-4E32-8368-12190F33CF78}"/>
                </a:ext>
              </a:extLst>
            </p:cNvPr>
            <p:cNvSpPr>
              <a:spLocks noChangeAspect="1" noChangeArrowheads="1" noTextEdit="1"/>
            </p:cNvSpPr>
            <p:nvPr/>
          </p:nvSpPr>
          <p:spPr bwMode="auto">
            <a:xfrm>
              <a:off x="5273801" y="2606040"/>
              <a:ext cx="1644396" cy="1645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52" name="Group 51">
              <a:extLst>
                <a:ext uri="{FF2B5EF4-FFF2-40B4-BE49-F238E27FC236}">
                  <a16:creationId xmlns:a16="http://schemas.microsoft.com/office/drawing/2014/main" id="{402971DC-6195-4244-A13B-476981CF7636}"/>
                </a:ext>
              </a:extLst>
            </p:cNvPr>
            <p:cNvGrpSpPr/>
            <p:nvPr/>
          </p:nvGrpSpPr>
          <p:grpSpPr>
            <a:xfrm>
              <a:off x="5343905" y="2928366"/>
              <a:ext cx="1505712" cy="995553"/>
              <a:chOff x="5343905" y="2928366"/>
              <a:chExt cx="1505712" cy="995553"/>
            </a:xfrm>
          </p:grpSpPr>
          <p:sp>
            <p:nvSpPr>
              <p:cNvPr id="53" name="Freeform 25">
                <a:extLst>
                  <a:ext uri="{FF2B5EF4-FFF2-40B4-BE49-F238E27FC236}">
                    <a16:creationId xmlns:a16="http://schemas.microsoft.com/office/drawing/2014/main" id="{2F3A1194-F5D8-4B14-AE46-FA41D928123B}"/>
                  </a:ext>
                </a:extLst>
              </p:cNvPr>
              <p:cNvSpPr>
                <a:spLocks noEditPoints="1"/>
              </p:cNvSpPr>
              <p:nvPr/>
            </p:nvSpPr>
            <p:spPr bwMode="auto">
              <a:xfrm>
                <a:off x="5696330" y="2928366"/>
                <a:ext cx="1153287" cy="654177"/>
              </a:xfrm>
              <a:custGeom>
                <a:avLst/>
                <a:gdLst>
                  <a:gd name="T0" fmla="*/ 1610 w 1616"/>
                  <a:gd name="T1" fmla="*/ 362 h 916"/>
                  <a:gd name="T2" fmla="*/ 1552 w 1616"/>
                  <a:gd name="T3" fmla="*/ 327 h 916"/>
                  <a:gd name="T4" fmla="*/ 1530 w 1616"/>
                  <a:gd name="T5" fmla="*/ 261 h 916"/>
                  <a:gd name="T6" fmla="*/ 1495 w 1616"/>
                  <a:gd name="T7" fmla="*/ 196 h 916"/>
                  <a:gd name="T8" fmla="*/ 1508 w 1616"/>
                  <a:gd name="T9" fmla="*/ 130 h 916"/>
                  <a:gd name="T10" fmla="*/ 1369 w 1616"/>
                  <a:gd name="T11" fmla="*/ 28 h 916"/>
                  <a:gd name="T12" fmla="*/ 1309 w 1616"/>
                  <a:gd name="T13" fmla="*/ 62 h 916"/>
                  <a:gd name="T14" fmla="*/ 1178 w 1616"/>
                  <a:gd name="T15" fmla="*/ 47 h 916"/>
                  <a:gd name="T16" fmla="*/ 1127 w 1616"/>
                  <a:gd name="T17" fmla="*/ 0 h 916"/>
                  <a:gd name="T18" fmla="*/ 1043 w 1616"/>
                  <a:gd name="T19" fmla="*/ 26 h 916"/>
                  <a:gd name="T20" fmla="*/ 967 w 1616"/>
                  <a:gd name="T21" fmla="*/ 69 h 916"/>
                  <a:gd name="T22" fmla="*/ 967 w 1616"/>
                  <a:gd name="T23" fmla="*/ 140 h 916"/>
                  <a:gd name="T24" fmla="*/ 886 w 1616"/>
                  <a:gd name="T25" fmla="*/ 246 h 916"/>
                  <a:gd name="T26" fmla="*/ 821 w 1616"/>
                  <a:gd name="T27" fmla="*/ 267 h 916"/>
                  <a:gd name="T28" fmla="*/ 798 w 1616"/>
                  <a:gd name="T29" fmla="*/ 441 h 916"/>
                  <a:gd name="T30" fmla="*/ 856 w 1616"/>
                  <a:gd name="T31" fmla="*/ 475 h 916"/>
                  <a:gd name="T32" fmla="*/ 879 w 1616"/>
                  <a:gd name="T33" fmla="*/ 546 h 916"/>
                  <a:gd name="T34" fmla="*/ 912 w 1616"/>
                  <a:gd name="T35" fmla="*/ 607 h 916"/>
                  <a:gd name="T36" fmla="*/ 896 w 1616"/>
                  <a:gd name="T37" fmla="*/ 673 h 916"/>
                  <a:gd name="T38" fmla="*/ 1031 w 1616"/>
                  <a:gd name="T39" fmla="*/ 777 h 916"/>
                  <a:gd name="T40" fmla="*/ 1089 w 1616"/>
                  <a:gd name="T41" fmla="*/ 743 h 916"/>
                  <a:gd name="T42" fmla="*/ 1236 w 1616"/>
                  <a:gd name="T43" fmla="*/ 762 h 916"/>
                  <a:gd name="T44" fmla="*/ 1287 w 1616"/>
                  <a:gd name="T45" fmla="*/ 808 h 916"/>
                  <a:gd name="T46" fmla="*/ 1366 w 1616"/>
                  <a:gd name="T47" fmla="*/ 783 h 916"/>
                  <a:gd name="T48" fmla="*/ 1440 w 1616"/>
                  <a:gd name="T49" fmla="*/ 741 h 916"/>
                  <a:gd name="T50" fmla="*/ 1440 w 1616"/>
                  <a:gd name="T51" fmla="*/ 673 h 916"/>
                  <a:gd name="T52" fmla="*/ 1528 w 1616"/>
                  <a:gd name="T53" fmla="*/ 552 h 916"/>
                  <a:gd name="T54" fmla="*/ 1591 w 1616"/>
                  <a:gd name="T55" fmla="*/ 532 h 916"/>
                  <a:gd name="T56" fmla="*/ 1610 w 1616"/>
                  <a:gd name="T57" fmla="*/ 362 h 916"/>
                  <a:gd name="T58" fmla="*/ 1276 w 1616"/>
                  <a:gd name="T59" fmla="*/ 569 h 916"/>
                  <a:gd name="T60" fmla="*/ 1041 w 1616"/>
                  <a:gd name="T61" fmla="*/ 475 h 916"/>
                  <a:gd name="T62" fmla="*/ 1133 w 1616"/>
                  <a:gd name="T63" fmla="*/ 239 h 916"/>
                  <a:gd name="T64" fmla="*/ 1367 w 1616"/>
                  <a:gd name="T65" fmla="*/ 333 h 916"/>
                  <a:gd name="T66" fmla="*/ 1276 w 1616"/>
                  <a:gd name="T67" fmla="*/ 569 h 916"/>
                  <a:gd name="T68" fmla="*/ 187 w 1616"/>
                  <a:gd name="T69" fmla="*/ 916 h 916"/>
                  <a:gd name="T70" fmla="*/ 0 w 1616"/>
                  <a:gd name="T71" fmla="*/ 729 h 916"/>
                  <a:gd name="T72" fmla="*/ 187 w 1616"/>
                  <a:gd name="T73" fmla="*/ 541 h 916"/>
                  <a:gd name="T74" fmla="*/ 375 w 1616"/>
                  <a:gd name="T75" fmla="*/ 729 h 916"/>
                  <a:gd name="T76" fmla="*/ 187 w 1616"/>
                  <a:gd name="T77" fmla="*/ 916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16" h="916">
                    <a:moveTo>
                      <a:pt x="1610" y="362"/>
                    </a:moveTo>
                    <a:cubicBezTo>
                      <a:pt x="1552" y="327"/>
                      <a:pt x="1552" y="327"/>
                      <a:pt x="1552" y="327"/>
                    </a:cubicBezTo>
                    <a:cubicBezTo>
                      <a:pt x="1547" y="305"/>
                      <a:pt x="1539" y="283"/>
                      <a:pt x="1530" y="261"/>
                    </a:cubicBezTo>
                    <a:cubicBezTo>
                      <a:pt x="1521" y="239"/>
                      <a:pt x="1508" y="217"/>
                      <a:pt x="1495" y="196"/>
                    </a:cubicBezTo>
                    <a:cubicBezTo>
                      <a:pt x="1508" y="130"/>
                      <a:pt x="1508" y="130"/>
                      <a:pt x="1508" y="130"/>
                    </a:cubicBezTo>
                    <a:cubicBezTo>
                      <a:pt x="1470" y="87"/>
                      <a:pt x="1421" y="51"/>
                      <a:pt x="1369" y="28"/>
                    </a:cubicBezTo>
                    <a:cubicBezTo>
                      <a:pt x="1309" y="62"/>
                      <a:pt x="1309" y="62"/>
                      <a:pt x="1309" y="62"/>
                    </a:cubicBezTo>
                    <a:cubicBezTo>
                      <a:pt x="1266" y="48"/>
                      <a:pt x="1223" y="43"/>
                      <a:pt x="1178" y="47"/>
                    </a:cubicBezTo>
                    <a:cubicBezTo>
                      <a:pt x="1127" y="0"/>
                      <a:pt x="1127" y="0"/>
                      <a:pt x="1127" y="0"/>
                    </a:cubicBezTo>
                    <a:cubicBezTo>
                      <a:pt x="1099" y="6"/>
                      <a:pt x="1071" y="13"/>
                      <a:pt x="1043" y="26"/>
                    </a:cubicBezTo>
                    <a:cubicBezTo>
                      <a:pt x="1016" y="38"/>
                      <a:pt x="989" y="53"/>
                      <a:pt x="967" y="69"/>
                    </a:cubicBezTo>
                    <a:cubicBezTo>
                      <a:pt x="967" y="140"/>
                      <a:pt x="967" y="140"/>
                      <a:pt x="967" y="140"/>
                    </a:cubicBezTo>
                    <a:cubicBezTo>
                      <a:pt x="933" y="171"/>
                      <a:pt x="905" y="206"/>
                      <a:pt x="886" y="246"/>
                    </a:cubicBezTo>
                    <a:cubicBezTo>
                      <a:pt x="821" y="267"/>
                      <a:pt x="821" y="267"/>
                      <a:pt x="821" y="267"/>
                    </a:cubicBezTo>
                    <a:cubicBezTo>
                      <a:pt x="801" y="321"/>
                      <a:pt x="794" y="380"/>
                      <a:pt x="798" y="441"/>
                    </a:cubicBezTo>
                    <a:cubicBezTo>
                      <a:pt x="856" y="475"/>
                      <a:pt x="856" y="475"/>
                      <a:pt x="856" y="475"/>
                    </a:cubicBezTo>
                    <a:cubicBezTo>
                      <a:pt x="861" y="498"/>
                      <a:pt x="868" y="523"/>
                      <a:pt x="879" y="546"/>
                    </a:cubicBezTo>
                    <a:cubicBezTo>
                      <a:pt x="889" y="567"/>
                      <a:pt x="899" y="588"/>
                      <a:pt x="912" y="607"/>
                    </a:cubicBezTo>
                    <a:cubicBezTo>
                      <a:pt x="896" y="673"/>
                      <a:pt x="896" y="673"/>
                      <a:pt x="896" y="673"/>
                    </a:cubicBezTo>
                    <a:cubicBezTo>
                      <a:pt x="934" y="718"/>
                      <a:pt x="980" y="752"/>
                      <a:pt x="1031" y="777"/>
                    </a:cubicBezTo>
                    <a:cubicBezTo>
                      <a:pt x="1089" y="743"/>
                      <a:pt x="1089" y="743"/>
                      <a:pt x="1089" y="743"/>
                    </a:cubicBezTo>
                    <a:cubicBezTo>
                      <a:pt x="1136" y="760"/>
                      <a:pt x="1185" y="766"/>
                      <a:pt x="1236" y="762"/>
                    </a:cubicBezTo>
                    <a:cubicBezTo>
                      <a:pt x="1287" y="808"/>
                      <a:pt x="1287" y="808"/>
                      <a:pt x="1287" y="808"/>
                    </a:cubicBezTo>
                    <a:cubicBezTo>
                      <a:pt x="1312" y="802"/>
                      <a:pt x="1340" y="794"/>
                      <a:pt x="1366" y="783"/>
                    </a:cubicBezTo>
                    <a:cubicBezTo>
                      <a:pt x="1392" y="771"/>
                      <a:pt x="1416" y="757"/>
                      <a:pt x="1440" y="741"/>
                    </a:cubicBezTo>
                    <a:cubicBezTo>
                      <a:pt x="1440" y="673"/>
                      <a:pt x="1440" y="673"/>
                      <a:pt x="1440" y="673"/>
                    </a:cubicBezTo>
                    <a:cubicBezTo>
                      <a:pt x="1477" y="639"/>
                      <a:pt x="1507" y="597"/>
                      <a:pt x="1528" y="552"/>
                    </a:cubicBezTo>
                    <a:cubicBezTo>
                      <a:pt x="1591" y="532"/>
                      <a:pt x="1591" y="532"/>
                      <a:pt x="1591" y="532"/>
                    </a:cubicBezTo>
                    <a:cubicBezTo>
                      <a:pt x="1610" y="479"/>
                      <a:pt x="1616" y="420"/>
                      <a:pt x="1610" y="362"/>
                    </a:cubicBezTo>
                    <a:close/>
                    <a:moveTo>
                      <a:pt x="1276" y="569"/>
                    </a:moveTo>
                    <a:cubicBezTo>
                      <a:pt x="1185" y="610"/>
                      <a:pt x="1080" y="566"/>
                      <a:pt x="1041" y="475"/>
                    </a:cubicBezTo>
                    <a:cubicBezTo>
                      <a:pt x="1002" y="383"/>
                      <a:pt x="1043" y="278"/>
                      <a:pt x="1133" y="239"/>
                    </a:cubicBezTo>
                    <a:cubicBezTo>
                      <a:pt x="1224" y="199"/>
                      <a:pt x="1330" y="242"/>
                      <a:pt x="1367" y="333"/>
                    </a:cubicBezTo>
                    <a:cubicBezTo>
                      <a:pt x="1407" y="424"/>
                      <a:pt x="1366" y="531"/>
                      <a:pt x="1276" y="569"/>
                    </a:cubicBezTo>
                    <a:close/>
                    <a:moveTo>
                      <a:pt x="187" y="916"/>
                    </a:moveTo>
                    <a:cubicBezTo>
                      <a:pt x="84" y="916"/>
                      <a:pt x="0" y="832"/>
                      <a:pt x="0" y="729"/>
                    </a:cubicBezTo>
                    <a:cubicBezTo>
                      <a:pt x="0" y="625"/>
                      <a:pt x="84" y="541"/>
                      <a:pt x="187" y="541"/>
                    </a:cubicBezTo>
                    <a:cubicBezTo>
                      <a:pt x="291" y="541"/>
                      <a:pt x="375" y="625"/>
                      <a:pt x="375" y="729"/>
                    </a:cubicBezTo>
                    <a:cubicBezTo>
                      <a:pt x="375" y="832"/>
                      <a:pt x="291" y="916"/>
                      <a:pt x="187" y="916"/>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26">
                <a:extLst>
                  <a:ext uri="{FF2B5EF4-FFF2-40B4-BE49-F238E27FC236}">
                    <a16:creationId xmlns:a16="http://schemas.microsoft.com/office/drawing/2014/main" id="{BC8B6D52-9A59-44CB-A324-08E60F02BA18}"/>
                  </a:ext>
                </a:extLst>
              </p:cNvPr>
              <p:cNvSpPr>
                <a:spLocks noEditPoints="1"/>
              </p:cNvSpPr>
              <p:nvPr/>
            </p:nvSpPr>
            <p:spPr bwMode="auto">
              <a:xfrm>
                <a:off x="5343905" y="2961132"/>
                <a:ext cx="971931" cy="962787"/>
              </a:xfrm>
              <a:custGeom>
                <a:avLst/>
                <a:gdLst>
                  <a:gd name="T0" fmla="*/ 638 w 1362"/>
                  <a:gd name="T1" fmla="*/ 1242 h 1348"/>
                  <a:gd name="T2" fmla="*/ 448 w 1362"/>
                  <a:gd name="T3" fmla="*/ 1319 h 1348"/>
                  <a:gd name="T4" fmla="*/ 352 w 1362"/>
                  <a:gd name="T5" fmla="*/ 1146 h 1348"/>
                  <a:gd name="T6" fmla="*/ 141 w 1362"/>
                  <a:gd name="T7" fmla="*/ 1095 h 1348"/>
                  <a:gd name="T8" fmla="*/ 46 w 1362"/>
                  <a:gd name="T9" fmla="*/ 928 h 1348"/>
                  <a:gd name="T10" fmla="*/ 0 w 1362"/>
                  <a:gd name="T11" fmla="*/ 664 h 1348"/>
                  <a:gd name="T12" fmla="*/ 32 w 1362"/>
                  <a:gd name="T13" fmla="*/ 474 h 1348"/>
                  <a:gd name="T14" fmla="*/ 212 w 1362"/>
                  <a:gd name="T15" fmla="*/ 351 h 1348"/>
                  <a:gd name="T16" fmla="*/ 244 w 1362"/>
                  <a:gd name="T17" fmla="*/ 159 h 1348"/>
                  <a:gd name="T18" fmla="*/ 451 w 1362"/>
                  <a:gd name="T19" fmla="*/ 167 h 1348"/>
                  <a:gd name="T20" fmla="*/ 592 w 1362"/>
                  <a:gd name="T21" fmla="*/ 5 h 1348"/>
                  <a:gd name="T22" fmla="*/ 784 w 1362"/>
                  <a:gd name="T23" fmla="*/ 6 h 1348"/>
                  <a:gd name="T24" fmla="*/ 1036 w 1362"/>
                  <a:gd name="T25" fmla="*/ 98 h 1348"/>
                  <a:gd name="T26" fmla="*/ 1184 w 1362"/>
                  <a:gd name="T27" fmla="*/ 220 h 1348"/>
                  <a:gd name="T28" fmla="*/ 1206 w 1362"/>
                  <a:gd name="T29" fmla="*/ 440 h 1348"/>
                  <a:gd name="T30" fmla="*/ 1351 w 1362"/>
                  <a:gd name="T31" fmla="*/ 562 h 1348"/>
                  <a:gd name="T32" fmla="*/ 1262 w 1362"/>
                  <a:gd name="T33" fmla="*/ 724 h 1348"/>
                  <a:gd name="T34" fmla="*/ 1310 w 1362"/>
                  <a:gd name="T35" fmla="*/ 940 h 1348"/>
                  <a:gd name="T36" fmla="*/ 1213 w 1362"/>
                  <a:gd name="T37" fmla="*/ 1106 h 1348"/>
                  <a:gd name="T38" fmla="*/ 1008 w 1362"/>
                  <a:gd name="T39" fmla="*/ 1278 h 1348"/>
                  <a:gd name="T40" fmla="*/ 828 w 1362"/>
                  <a:gd name="T41" fmla="*/ 1345 h 1348"/>
                  <a:gd name="T42" fmla="*/ 830 w 1362"/>
                  <a:gd name="T43" fmla="*/ 1299 h 1348"/>
                  <a:gd name="T44" fmla="*/ 965 w 1362"/>
                  <a:gd name="T45" fmla="*/ 1122 h 1348"/>
                  <a:gd name="T46" fmla="*/ 1072 w 1362"/>
                  <a:gd name="T47" fmla="*/ 1038 h 1348"/>
                  <a:gd name="T48" fmla="*/ 1264 w 1362"/>
                  <a:gd name="T49" fmla="*/ 935 h 1348"/>
                  <a:gd name="T50" fmla="*/ 1219 w 1362"/>
                  <a:gd name="T51" fmla="*/ 710 h 1348"/>
                  <a:gd name="T52" fmla="*/ 1308 w 1362"/>
                  <a:gd name="T53" fmla="*/ 570 h 1348"/>
                  <a:gd name="T54" fmla="*/ 1171 w 1362"/>
                  <a:gd name="T55" fmla="*/ 469 h 1348"/>
                  <a:gd name="T56" fmla="*/ 1142 w 1362"/>
                  <a:gd name="T57" fmla="*/ 241 h 1348"/>
                  <a:gd name="T58" fmla="*/ 915 w 1362"/>
                  <a:gd name="T59" fmla="*/ 217 h 1348"/>
                  <a:gd name="T60" fmla="*/ 802 w 1362"/>
                  <a:gd name="T61" fmla="*/ 179 h 1348"/>
                  <a:gd name="T62" fmla="*/ 610 w 1362"/>
                  <a:gd name="T63" fmla="*/ 47 h 1348"/>
                  <a:gd name="T64" fmla="*/ 458 w 1362"/>
                  <a:gd name="T65" fmla="*/ 212 h 1348"/>
                  <a:gd name="T66" fmla="*/ 272 w 1362"/>
                  <a:gd name="T67" fmla="*/ 192 h 1348"/>
                  <a:gd name="T68" fmla="*/ 254 w 1362"/>
                  <a:gd name="T69" fmla="*/ 369 h 1348"/>
                  <a:gd name="T70" fmla="*/ 70 w 1362"/>
                  <a:gd name="T71" fmla="*/ 500 h 1348"/>
                  <a:gd name="T72" fmla="*/ 143 w 1362"/>
                  <a:gd name="T73" fmla="*/ 698 h 1348"/>
                  <a:gd name="T74" fmla="*/ 170 w 1362"/>
                  <a:gd name="T75" fmla="*/ 846 h 1348"/>
                  <a:gd name="T76" fmla="*/ 168 w 1362"/>
                  <a:gd name="T77" fmla="*/ 1058 h 1348"/>
                  <a:gd name="T78" fmla="*/ 386 w 1362"/>
                  <a:gd name="T79" fmla="*/ 1115 h 1348"/>
                  <a:gd name="T80" fmla="*/ 463 w 1362"/>
                  <a:gd name="T81" fmla="*/ 1278 h 1348"/>
                  <a:gd name="T82" fmla="*/ 630 w 1362"/>
                  <a:gd name="T83" fmla="*/ 1198 h 1348"/>
                  <a:gd name="T84" fmla="*/ 742 w 1362"/>
                  <a:gd name="T85" fmla="*/ 1197 h 1348"/>
                  <a:gd name="T86" fmla="*/ 681 w 1362"/>
                  <a:gd name="T87" fmla="*/ 257 h 1348"/>
                  <a:gd name="T88" fmla="*/ 681 w 1362"/>
                  <a:gd name="T89" fmla="*/ 301 h 1348"/>
                  <a:gd name="T90" fmla="*/ 1063 w 1362"/>
                  <a:gd name="T91" fmla="*/ 683 h 1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62" h="1348">
                    <a:moveTo>
                      <a:pt x="815" y="1348"/>
                    </a:moveTo>
                    <a:cubicBezTo>
                      <a:pt x="724" y="1242"/>
                      <a:pt x="724" y="1242"/>
                      <a:pt x="724" y="1242"/>
                    </a:cubicBezTo>
                    <a:cubicBezTo>
                      <a:pt x="695" y="1244"/>
                      <a:pt x="666" y="1244"/>
                      <a:pt x="638" y="1242"/>
                    </a:cubicBezTo>
                    <a:cubicBezTo>
                      <a:pt x="547" y="1348"/>
                      <a:pt x="547" y="1348"/>
                      <a:pt x="547" y="1348"/>
                    </a:cubicBezTo>
                    <a:cubicBezTo>
                      <a:pt x="534" y="1345"/>
                      <a:pt x="534" y="1345"/>
                      <a:pt x="534" y="1345"/>
                    </a:cubicBezTo>
                    <a:cubicBezTo>
                      <a:pt x="494" y="1336"/>
                      <a:pt x="450" y="1320"/>
                      <a:pt x="448" y="1319"/>
                    </a:cubicBezTo>
                    <a:cubicBezTo>
                      <a:pt x="446" y="1318"/>
                      <a:pt x="402" y="1302"/>
                      <a:pt x="366" y="1284"/>
                    </a:cubicBezTo>
                    <a:cubicBezTo>
                      <a:pt x="354" y="1278"/>
                      <a:pt x="354" y="1278"/>
                      <a:pt x="354" y="1278"/>
                    </a:cubicBezTo>
                    <a:cubicBezTo>
                      <a:pt x="352" y="1146"/>
                      <a:pt x="352" y="1146"/>
                      <a:pt x="352" y="1146"/>
                    </a:cubicBezTo>
                    <a:cubicBezTo>
                      <a:pt x="325" y="1128"/>
                      <a:pt x="299" y="1107"/>
                      <a:pt x="275" y="1085"/>
                    </a:cubicBezTo>
                    <a:cubicBezTo>
                      <a:pt x="149" y="1105"/>
                      <a:pt x="149" y="1105"/>
                      <a:pt x="149" y="1105"/>
                    </a:cubicBezTo>
                    <a:cubicBezTo>
                      <a:pt x="141" y="1095"/>
                      <a:pt x="141" y="1095"/>
                      <a:pt x="141" y="1095"/>
                    </a:cubicBezTo>
                    <a:cubicBezTo>
                      <a:pt x="116" y="1062"/>
                      <a:pt x="93" y="1022"/>
                      <a:pt x="92" y="1020"/>
                    </a:cubicBezTo>
                    <a:cubicBezTo>
                      <a:pt x="91" y="1018"/>
                      <a:pt x="67" y="977"/>
                      <a:pt x="51" y="940"/>
                    </a:cubicBezTo>
                    <a:cubicBezTo>
                      <a:pt x="46" y="928"/>
                      <a:pt x="46" y="928"/>
                      <a:pt x="46" y="928"/>
                    </a:cubicBezTo>
                    <a:cubicBezTo>
                      <a:pt x="121" y="836"/>
                      <a:pt x="121" y="836"/>
                      <a:pt x="121" y="836"/>
                    </a:cubicBezTo>
                    <a:cubicBezTo>
                      <a:pt x="110" y="799"/>
                      <a:pt x="104" y="762"/>
                      <a:pt x="101" y="724"/>
                    </a:cubicBezTo>
                    <a:cubicBezTo>
                      <a:pt x="0" y="664"/>
                      <a:pt x="0" y="664"/>
                      <a:pt x="0" y="664"/>
                    </a:cubicBezTo>
                    <a:cubicBezTo>
                      <a:pt x="1" y="650"/>
                      <a:pt x="1" y="650"/>
                      <a:pt x="1" y="650"/>
                    </a:cubicBezTo>
                    <a:cubicBezTo>
                      <a:pt x="3" y="610"/>
                      <a:pt x="11" y="564"/>
                      <a:pt x="11" y="562"/>
                    </a:cubicBezTo>
                    <a:cubicBezTo>
                      <a:pt x="12" y="560"/>
                      <a:pt x="20" y="513"/>
                      <a:pt x="32" y="474"/>
                    </a:cubicBezTo>
                    <a:cubicBezTo>
                      <a:pt x="35" y="462"/>
                      <a:pt x="35" y="462"/>
                      <a:pt x="35" y="462"/>
                    </a:cubicBezTo>
                    <a:cubicBezTo>
                      <a:pt x="157" y="439"/>
                      <a:pt x="157" y="439"/>
                      <a:pt x="157" y="439"/>
                    </a:cubicBezTo>
                    <a:cubicBezTo>
                      <a:pt x="173" y="408"/>
                      <a:pt x="191" y="378"/>
                      <a:pt x="212" y="351"/>
                    </a:cubicBezTo>
                    <a:cubicBezTo>
                      <a:pt x="170" y="230"/>
                      <a:pt x="170" y="230"/>
                      <a:pt x="170" y="230"/>
                    </a:cubicBezTo>
                    <a:cubicBezTo>
                      <a:pt x="179" y="220"/>
                      <a:pt x="179" y="220"/>
                      <a:pt x="179" y="220"/>
                    </a:cubicBezTo>
                    <a:cubicBezTo>
                      <a:pt x="206" y="190"/>
                      <a:pt x="243" y="160"/>
                      <a:pt x="244" y="159"/>
                    </a:cubicBezTo>
                    <a:cubicBezTo>
                      <a:pt x="246" y="157"/>
                      <a:pt x="282" y="127"/>
                      <a:pt x="316" y="105"/>
                    </a:cubicBezTo>
                    <a:cubicBezTo>
                      <a:pt x="327" y="98"/>
                      <a:pt x="327" y="98"/>
                      <a:pt x="327" y="98"/>
                    </a:cubicBezTo>
                    <a:cubicBezTo>
                      <a:pt x="451" y="167"/>
                      <a:pt x="451" y="167"/>
                      <a:pt x="451" y="167"/>
                    </a:cubicBezTo>
                    <a:cubicBezTo>
                      <a:pt x="476" y="157"/>
                      <a:pt x="502" y="148"/>
                      <a:pt x="528" y="142"/>
                    </a:cubicBezTo>
                    <a:cubicBezTo>
                      <a:pt x="579" y="6"/>
                      <a:pt x="579" y="6"/>
                      <a:pt x="579" y="6"/>
                    </a:cubicBezTo>
                    <a:cubicBezTo>
                      <a:pt x="592" y="5"/>
                      <a:pt x="592" y="5"/>
                      <a:pt x="592" y="5"/>
                    </a:cubicBezTo>
                    <a:cubicBezTo>
                      <a:pt x="632" y="0"/>
                      <a:pt x="679" y="0"/>
                      <a:pt x="681" y="0"/>
                    </a:cubicBezTo>
                    <a:cubicBezTo>
                      <a:pt x="683" y="0"/>
                      <a:pt x="730" y="0"/>
                      <a:pt x="771" y="5"/>
                    </a:cubicBezTo>
                    <a:cubicBezTo>
                      <a:pt x="784" y="6"/>
                      <a:pt x="784" y="6"/>
                      <a:pt x="784" y="6"/>
                    </a:cubicBezTo>
                    <a:cubicBezTo>
                      <a:pt x="835" y="142"/>
                      <a:pt x="835" y="142"/>
                      <a:pt x="835" y="142"/>
                    </a:cubicBezTo>
                    <a:cubicBezTo>
                      <a:pt x="861" y="149"/>
                      <a:pt x="887" y="157"/>
                      <a:pt x="912" y="168"/>
                    </a:cubicBezTo>
                    <a:cubicBezTo>
                      <a:pt x="1036" y="98"/>
                      <a:pt x="1036" y="98"/>
                      <a:pt x="1036" y="98"/>
                    </a:cubicBezTo>
                    <a:cubicBezTo>
                      <a:pt x="1047" y="105"/>
                      <a:pt x="1047" y="105"/>
                      <a:pt x="1047" y="105"/>
                    </a:cubicBezTo>
                    <a:cubicBezTo>
                      <a:pt x="1081" y="128"/>
                      <a:pt x="1117" y="158"/>
                      <a:pt x="1118" y="159"/>
                    </a:cubicBezTo>
                    <a:cubicBezTo>
                      <a:pt x="1120" y="160"/>
                      <a:pt x="1156" y="191"/>
                      <a:pt x="1184" y="220"/>
                    </a:cubicBezTo>
                    <a:cubicBezTo>
                      <a:pt x="1193" y="230"/>
                      <a:pt x="1193" y="230"/>
                      <a:pt x="1193" y="230"/>
                    </a:cubicBezTo>
                    <a:cubicBezTo>
                      <a:pt x="1151" y="351"/>
                      <a:pt x="1151" y="351"/>
                      <a:pt x="1151" y="351"/>
                    </a:cubicBezTo>
                    <a:cubicBezTo>
                      <a:pt x="1172" y="379"/>
                      <a:pt x="1190" y="408"/>
                      <a:pt x="1206" y="440"/>
                    </a:cubicBezTo>
                    <a:cubicBezTo>
                      <a:pt x="1327" y="462"/>
                      <a:pt x="1327" y="462"/>
                      <a:pt x="1327" y="462"/>
                    </a:cubicBezTo>
                    <a:cubicBezTo>
                      <a:pt x="1331" y="475"/>
                      <a:pt x="1331" y="475"/>
                      <a:pt x="1331" y="475"/>
                    </a:cubicBezTo>
                    <a:cubicBezTo>
                      <a:pt x="1342" y="514"/>
                      <a:pt x="1351" y="560"/>
                      <a:pt x="1351" y="562"/>
                    </a:cubicBezTo>
                    <a:cubicBezTo>
                      <a:pt x="1351" y="564"/>
                      <a:pt x="1359" y="611"/>
                      <a:pt x="1362" y="651"/>
                    </a:cubicBezTo>
                    <a:cubicBezTo>
                      <a:pt x="1362" y="664"/>
                      <a:pt x="1362" y="664"/>
                      <a:pt x="1362" y="664"/>
                    </a:cubicBezTo>
                    <a:cubicBezTo>
                      <a:pt x="1262" y="724"/>
                      <a:pt x="1262" y="724"/>
                      <a:pt x="1262" y="724"/>
                    </a:cubicBezTo>
                    <a:cubicBezTo>
                      <a:pt x="1259" y="762"/>
                      <a:pt x="1252" y="800"/>
                      <a:pt x="1241" y="837"/>
                    </a:cubicBezTo>
                    <a:cubicBezTo>
                      <a:pt x="1316" y="928"/>
                      <a:pt x="1316" y="928"/>
                      <a:pt x="1316" y="928"/>
                    </a:cubicBezTo>
                    <a:cubicBezTo>
                      <a:pt x="1310" y="940"/>
                      <a:pt x="1310" y="940"/>
                      <a:pt x="1310" y="940"/>
                    </a:cubicBezTo>
                    <a:cubicBezTo>
                      <a:pt x="1294" y="978"/>
                      <a:pt x="1271" y="1019"/>
                      <a:pt x="1270" y="1020"/>
                    </a:cubicBezTo>
                    <a:cubicBezTo>
                      <a:pt x="1269" y="1022"/>
                      <a:pt x="1245" y="1063"/>
                      <a:pt x="1221" y="1095"/>
                    </a:cubicBezTo>
                    <a:cubicBezTo>
                      <a:pt x="1213" y="1106"/>
                      <a:pt x="1213" y="1106"/>
                      <a:pt x="1213" y="1106"/>
                    </a:cubicBezTo>
                    <a:cubicBezTo>
                      <a:pt x="1087" y="1085"/>
                      <a:pt x="1087" y="1085"/>
                      <a:pt x="1087" y="1085"/>
                    </a:cubicBezTo>
                    <a:cubicBezTo>
                      <a:pt x="1063" y="1108"/>
                      <a:pt x="1037" y="1128"/>
                      <a:pt x="1009" y="1147"/>
                    </a:cubicBezTo>
                    <a:cubicBezTo>
                      <a:pt x="1008" y="1278"/>
                      <a:pt x="1008" y="1278"/>
                      <a:pt x="1008" y="1278"/>
                    </a:cubicBezTo>
                    <a:cubicBezTo>
                      <a:pt x="996" y="1284"/>
                      <a:pt x="996" y="1284"/>
                      <a:pt x="996" y="1284"/>
                    </a:cubicBezTo>
                    <a:cubicBezTo>
                      <a:pt x="959" y="1302"/>
                      <a:pt x="915" y="1319"/>
                      <a:pt x="913" y="1319"/>
                    </a:cubicBezTo>
                    <a:cubicBezTo>
                      <a:pt x="911" y="1320"/>
                      <a:pt x="867" y="1336"/>
                      <a:pt x="828" y="1345"/>
                    </a:cubicBezTo>
                    <a:lnTo>
                      <a:pt x="815" y="1348"/>
                    </a:lnTo>
                    <a:close/>
                    <a:moveTo>
                      <a:pt x="742" y="1197"/>
                    </a:moveTo>
                    <a:cubicBezTo>
                      <a:pt x="830" y="1299"/>
                      <a:pt x="830" y="1299"/>
                      <a:pt x="830" y="1299"/>
                    </a:cubicBezTo>
                    <a:cubicBezTo>
                      <a:pt x="864" y="1290"/>
                      <a:pt x="898" y="1278"/>
                      <a:pt x="898" y="1278"/>
                    </a:cubicBezTo>
                    <a:cubicBezTo>
                      <a:pt x="899" y="1278"/>
                      <a:pt x="933" y="1265"/>
                      <a:pt x="964" y="1251"/>
                    </a:cubicBezTo>
                    <a:cubicBezTo>
                      <a:pt x="965" y="1122"/>
                      <a:pt x="965" y="1122"/>
                      <a:pt x="965" y="1122"/>
                    </a:cubicBezTo>
                    <a:cubicBezTo>
                      <a:pt x="976" y="1116"/>
                      <a:pt x="976" y="1116"/>
                      <a:pt x="976" y="1116"/>
                    </a:cubicBezTo>
                    <a:cubicBezTo>
                      <a:pt x="1008" y="1096"/>
                      <a:pt x="1037" y="1072"/>
                      <a:pt x="1064" y="1046"/>
                    </a:cubicBezTo>
                    <a:cubicBezTo>
                      <a:pt x="1072" y="1038"/>
                      <a:pt x="1072" y="1038"/>
                      <a:pt x="1072" y="1038"/>
                    </a:cubicBezTo>
                    <a:cubicBezTo>
                      <a:pt x="1193" y="1058"/>
                      <a:pt x="1193" y="1058"/>
                      <a:pt x="1193" y="1058"/>
                    </a:cubicBezTo>
                    <a:cubicBezTo>
                      <a:pt x="1213" y="1030"/>
                      <a:pt x="1232" y="999"/>
                      <a:pt x="1232" y="998"/>
                    </a:cubicBezTo>
                    <a:cubicBezTo>
                      <a:pt x="1232" y="998"/>
                      <a:pt x="1250" y="967"/>
                      <a:pt x="1264" y="935"/>
                    </a:cubicBezTo>
                    <a:cubicBezTo>
                      <a:pt x="1192" y="847"/>
                      <a:pt x="1192" y="847"/>
                      <a:pt x="1192" y="847"/>
                    </a:cubicBezTo>
                    <a:cubicBezTo>
                      <a:pt x="1196" y="835"/>
                      <a:pt x="1196" y="835"/>
                      <a:pt x="1196" y="835"/>
                    </a:cubicBezTo>
                    <a:cubicBezTo>
                      <a:pt x="1209" y="795"/>
                      <a:pt x="1217" y="753"/>
                      <a:pt x="1219" y="710"/>
                    </a:cubicBezTo>
                    <a:cubicBezTo>
                      <a:pt x="1219" y="698"/>
                      <a:pt x="1219" y="698"/>
                      <a:pt x="1219" y="698"/>
                    </a:cubicBezTo>
                    <a:cubicBezTo>
                      <a:pt x="1317" y="640"/>
                      <a:pt x="1317" y="640"/>
                      <a:pt x="1317" y="640"/>
                    </a:cubicBezTo>
                    <a:cubicBezTo>
                      <a:pt x="1314" y="606"/>
                      <a:pt x="1308" y="570"/>
                      <a:pt x="1308" y="570"/>
                    </a:cubicBezTo>
                    <a:cubicBezTo>
                      <a:pt x="1307" y="569"/>
                      <a:pt x="1301" y="534"/>
                      <a:pt x="1292" y="501"/>
                    </a:cubicBezTo>
                    <a:cubicBezTo>
                      <a:pt x="1176" y="479"/>
                      <a:pt x="1176" y="479"/>
                      <a:pt x="1176" y="479"/>
                    </a:cubicBezTo>
                    <a:cubicBezTo>
                      <a:pt x="1171" y="469"/>
                      <a:pt x="1171" y="469"/>
                      <a:pt x="1171" y="469"/>
                    </a:cubicBezTo>
                    <a:cubicBezTo>
                      <a:pt x="1154" y="433"/>
                      <a:pt x="1133" y="400"/>
                      <a:pt x="1109" y="369"/>
                    </a:cubicBezTo>
                    <a:cubicBezTo>
                      <a:pt x="1101" y="359"/>
                      <a:pt x="1101" y="359"/>
                      <a:pt x="1101" y="359"/>
                    </a:cubicBezTo>
                    <a:cubicBezTo>
                      <a:pt x="1142" y="241"/>
                      <a:pt x="1142" y="241"/>
                      <a:pt x="1142" y="241"/>
                    </a:cubicBezTo>
                    <a:cubicBezTo>
                      <a:pt x="1118" y="216"/>
                      <a:pt x="1090" y="193"/>
                      <a:pt x="1090" y="193"/>
                    </a:cubicBezTo>
                    <a:cubicBezTo>
                      <a:pt x="1090" y="193"/>
                      <a:pt x="1062" y="169"/>
                      <a:pt x="1034" y="150"/>
                    </a:cubicBezTo>
                    <a:cubicBezTo>
                      <a:pt x="915" y="217"/>
                      <a:pt x="915" y="217"/>
                      <a:pt x="915" y="217"/>
                    </a:cubicBezTo>
                    <a:cubicBezTo>
                      <a:pt x="905" y="212"/>
                      <a:pt x="905" y="212"/>
                      <a:pt x="905" y="212"/>
                    </a:cubicBezTo>
                    <a:cubicBezTo>
                      <a:pt x="875" y="199"/>
                      <a:pt x="845" y="189"/>
                      <a:pt x="813" y="182"/>
                    </a:cubicBezTo>
                    <a:cubicBezTo>
                      <a:pt x="802" y="179"/>
                      <a:pt x="802" y="179"/>
                      <a:pt x="802" y="179"/>
                    </a:cubicBezTo>
                    <a:cubicBezTo>
                      <a:pt x="752" y="47"/>
                      <a:pt x="752" y="47"/>
                      <a:pt x="752" y="47"/>
                    </a:cubicBezTo>
                    <a:cubicBezTo>
                      <a:pt x="718" y="44"/>
                      <a:pt x="682" y="44"/>
                      <a:pt x="681" y="44"/>
                    </a:cubicBezTo>
                    <a:cubicBezTo>
                      <a:pt x="681" y="44"/>
                      <a:pt x="645" y="44"/>
                      <a:pt x="610" y="47"/>
                    </a:cubicBezTo>
                    <a:cubicBezTo>
                      <a:pt x="561" y="179"/>
                      <a:pt x="561" y="179"/>
                      <a:pt x="561" y="179"/>
                    </a:cubicBezTo>
                    <a:cubicBezTo>
                      <a:pt x="549" y="182"/>
                      <a:pt x="549" y="182"/>
                      <a:pt x="549" y="182"/>
                    </a:cubicBezTo>
                    <a:cubicBezTo>
                      <a:pt x="518" y="189"/>
                      <a:pt x="488" y="199"/>
                      <a:pt x="458" y="212"/>
                    </a:cubicBezTo>
                    <a:cubicBezTo>
                      <a:pt x="448" y="217"/>
                      <a:pt x="448" y="217"/>
                      <a:pt x="448" y="217"/>
                    </a:cubicBezTo>
                    <a:cubicBezTo>
                      <a:pt x="329" y="149"/>
                      <a:pt x="329" y="149"/>
                      <a:pt x="329" y="149"/>
                    </a:cubicBezTo>
                    <a:cubicBezTo>
                      <a:pt x="300" y="169"/>
                      <a:pt x="273" y="192"/>
                      <a:pt x="272" y="192"/>
                    </a:cubicBezTo>
                    <a:cubicBezTo>
                      <a:pt x="272" y="193"/>
                      <a:pt x="244" y="216"/>
                      <a:pt x="220" y="241"/>
                    </a:cubicBezTo>
                    <a:cubicBezTo>
                      <a:pt x="262" y="359"/>
                      <a:pt x="262" y="359"/>
                      <a:pt x="262" y="359"/>
                    </a:cubicBezTo>
                    <a:cubicBezTo>
                      <a:pt x="254" y="369"/>
                      <a:pt x="254" y="369"/>
                      <a:pt x="254" y="369"/>
                    </a:cubicBezTo>
                    <a:cubicBezTo>
                      <a:pt x="229" y="399"/>
                      <a:pt x="209" y="433"/>
                      <a:pt x="192" y="468"/>
                    </a:cubicBezTo>
                    <a:cubicBezTo>
                      <a:pt x="187" y="478"/>
                      <a:pt x="187" y="478"/>
                      <a:pt x="187" y="478"/>
                    </a:cubicBezTo>
                    <a:cubicBezTo>
                      <a:pt x="70" y="500"/>
                      <a:pt x="70" y="500"/>
                      <a:pt x="70" y="500"/>
                    </a:cubicBezTo>
                    <a:cubicBezTo>
                      <a:pt x="61" y="533"/>
                      <a:pt x="55" y="569"/>
                      <a:pt x="55" y="569"/>
                    </a:cubicBezTo>
                    <a:cubicBezTo>
                      <a:pt x="55" y="570"/>
                      <a:pt x="48" y="605"/>
                      <a:pt x="45" y="640"/>
                    </a:cubicBezTo>
                    <a:cubicBezTo>
                      <a:pt x="143" y="698"/>
                      <a:pt x="143" y="698"/>
                      <a:pt x="143" y="698"/>
                    </a:cubicBezTo>
                    <a:cubicBezTo>
                      <a:pt x="144" y="709"/>
                      <a:pt x="144" y="709"/>
                      <a:pt x="144" y="709"/>
                    </a:cubicBezTo>
                    <a:cubicBezTo>
                      <a:pt x="146" y="752"/>
                      <a:pt x="154" y="794"/>
                      <a:pt x="167" y="834"/>
                    </a:cubicBezTo>
                    <a:cubicBezTo>
                      <a:pt x="170" y="846"/>
                      <a:pt x="170" y="846"/>
                      <a:pt x="170" y="846"/>
                    </a:cubicBezTo>
                    <a:cubicBezTo>
                      <a:pt x="97" y="935"/>
                      <a:pt x="97" y="935"/>
                      <a:pt x="97" y="935"/>
                    </a:cubicBezTo>
                    <a:cubicBezTo>
                      <a:pt x="112" y="966"/>
                      <a:pt x="130" y="997"/>
                      <a:pt x="130" y="998"/>
                    </a:cubicBezTo>
                    <a:cubicBezTo>
                      <a:pt x="130" y="998"/>
                      <a:pt x="148" y="1029"/>
                      <a:pt x="168" y="1058"/>
                    </a:cubicBezTo>
                    <a:cubicBezTo>
                      <a:pt x="290" y="1038"/>
                      <a:pt x="290" y="1038"/>
                      <a:pt x="290" y="1038"/>
                    </a:cubicBezTo>
                    <a:cubicBezTo>
                      <a:pt x="298" y="1045"/>
                      <a:pt x="298" y="1045"/>
                      <a:pt x="298" y="1045"/>
                    </a:cubicBezTo>
                    <a:cubicBezTo>
                      <a:pt x="324" y="1072"/>
                      <a:pt x="354" y="1095"/>
                      <a:pt x="386" y="1115"/>
                    </a:cubicBezTo>
                    <a:cubicBezTo>
                      <a:pt x="396" y="1121"/>
                      <a:pt x="396" y="1121"/>
                      <a:pt x="396" y="1121"/>
                    </a:cubicBezTo>
                    <a:cubicBezTo>
                      <a:pt x="397" y="1250"/>
                      <a:pt x="397" y="1250"/>
                      <a:pt x="397" y="1250"/>
                    </a:cubicBezTo>
                    <a:cubicBezTo>
                      <a:pt x="429" y="1265"/>
                      <a:pt x="463" y="1278"/>
                      <a:pt x="463" y="1278"/>
                    </a:cubicBezTo>
                    <a:cubicBezTo>
                      <a:pt x="463" y="1278"/>
                      <a:pt x="498" y="1290"/>
                      <a:pt x="531" y="1299"/>
                    </a:cubicBezTo>
                    <a:cubicBezTo>
                      <a:pt x="619" y="1197"/>
                      <a:pt x="619" y="1197"/>
                      <a:pt x="619" y="1197"/>
                    </a:cubicBezTo>
                    <a:cubicBezTo>
                      <a:pt x="630" y="1198"/>
                      <a:pt x="630" y="1198"/>
                      <a:pt x="630" y="1198"/>
                    </a:cubicBezTo>
                    <a:cubicBezTo>
                      <a:pt x="647" y="1199"/>
                      <a:pt x="665" y="1200"/>
                      <a:pt x="681" y="1200"/>
                    </a:cubicBezTo>
                    <a:cubicBezTo>
                      <a:pt x="698" y="1200"/>
                      <a:pt x="714" y="1199"/>
                      <a:pt x="731" y="1198"/>
                    </a:cubicBezTo>
                    <a:lnTo>
                      <a:pt x="742" y="1197"/>
                    </a:lnTo>
                    <a:close/>
                    <a:moveTo>
                      <a:pt x="681" y="1108"/>
                    </a:moveTo>
                    <a:cubicBezTo>
                      <a:pt x="447" y="1108"/>
                      <a:pt x="256" y="917"/>
                      <a:pt x="256" y="683"/>
                    </a:cubicBezTo>
                    <a:cubicBezTo>
                      <a:pt x="256" y="448"/>
                      <a:pt x="447" y="257"/>
                      <a:pt x="681" y="257"/>
                    </a:cubicBezTo>
                    <a:cubicBezTo>
                      <a:pt x="916" y="257"/>
                      <a:pt x="1107" y="448"/>
                      <a:pt x="1107" y="683"/>
                    </a:cubicBezTo>
                    <a:cubicBezTo>
                      <a:pt x="1107" y="917"/>
                      <a:pt x="916" y="1108"/>
                      <a:pt x="681" y="1108"/>
                    </a:cubicBezTo>
                    <a:close/>
                    <a:moveTo>
                      <a:pt x="681" y="301"/>
                    </a:moveTo>
                    <a:cubicBezTo>
                      <a:pt x="471" y="301"/>
                      <a:pt x="300" y="473"/>
                      <a:pt x="300" y="683"/>
                    </a:cubicBezTo>
                    <a:cubicBezTo>
                      <a:pt x="300" y="893"/>
                      <a:pt x="471" y="1064"/>
                      <a:pt x="681" y="1064"/>
                    </a:cubicBezTo>
                    <a:cubicBezTo>
                      <a:pt x="892" y="1064"/>
                      <a:pt x="1063" y="893"/>
                      <a:pt x="1063" y="683"/>
                    </a:cubicBezTo>
                    <a:cubicBezTo>
                      <a:pt x="1063" y="473"/>
                      <a:pt x="892" y="301"/>
                      <a:pt x="681" y="30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
        <p:nvSpPr>
          <p:cNvPr id="4" name="ee4pContent3">
            <a:extLst>
              <a:ext uri="{FF2B5EF4-FFF2-40B4-BE49-F238E27FC236}">
                <a16:creationId xmlns:a16="http://schemas.microsoft.com/office/drawing/2014/main" id="{CFAA45D0-A10E-4DAC-A679-716A48FD2363}"/>
              </a:ext>
            </a:extLst>
          </p:cNvPr>
          <p:cNvSpPr txBox="1"/>
          <p:nvPr/>
        </p:nvSpPr>
        <p:spPr>
          <a:xfrm>
            <a:off x="8130739" y="2459199"/>
            <a:ext cx="3432461" cy="3699555"/>
          </a:xfrm>
          <a:prstGeom prst="rect">
            <a:avLst/>
          </a:prstGeom>
          <a:solidFill>
            <a:schemeClr val="accent4">
              <a:lumMod val="20000"/>
              <a:lumOff val="80000"/>
              <a:alpha val="60000"/>
            </a:schemeClr>
          </a:solidFill>
          <a:ln cap="rnd">
            <a:noFill/>
          </a:ln>
        </p:spPr>
        <p:txBody>
          <a:bodyPr vert="horz" wrap="square" lIns="0" tIns="0" rIns="0" bIns="0" rtlCol="0">
            <a:noAutofit/>
          </a:bodyPr>
          <a:lstStyle>
            <a:lvl1pPr lvl="0" indent="0">
              <a:lnSpc>
                <a:spcPct val="100000"/>
              </a:lnSpc>
              <a:spcBef>
                <a:spcPts val="0"/>
              </a:spcBef>
              <a:spcAft>
                <a:spcPts val="0"/>
              </a:spcAft>
              <a:buFont typeface="Trebuchet MS" panose="020B0603020202020204" pitchFamily="34" charset="0"/>
              <a:buChar char="​"/>
              <a:defRPr sz="2000">
                <a:latin typeface="Trebuchet MS" panose="020B0603020202020204" pitchFamily="34" charset="0"/>
                <a:sym typeface="Trebuchet MS" panose="020B0603020202020204" pitchFamily="34" charset="0"/>
              </a:defRPr>
            </a:lvl1pPr>
            <a:lvl2pPr marL="324000" lvl="1" indent="-216000">
              <a:lnSpc>
                <a:spcPct val="100000"/>
              </a:lnSpc>
              <a:spcBef>
                <a:spcPts val="0"/>
              </a:spcBef>
              <a:spcAft>
                <a:spcPts val="0"/>
              </a:spcAft>
              <a:buClr>
                <a:schemeClr val="tx2"/>
              </a:buClr>
              <a:buFont typeface="Trebuchet MS" panose="020B0603020202020204" pitchFamily="34" charset="0"/>
              <a:buChar char="•"/>
              <a:defRPr sz="2000">
                <a:latin typeface="Trebuchet MS" panose="020B0603020202020204" pitchFamily="34" charset="0"/>
                <a:sym typeface="Trebuchet MS" panose="020B0603020202020204" pitchFamily="34" charset="0"/>
              </a:defRPr>
            </a:lvl2pPr>
            <a:lvl3pPr marL="648000" lvl="2" indent="-216000">
              <a:lnSpc>
                <a:spcPct val="100000"/>
              </a:lnSpc>
              <a:spcBef>
                <a:spcPts val="0"/>
              </a:spcBef>
              <a:spcAft>
                <a:spcPts val="0"/>
              </a:spcAft>
              <a:buClr>
                <a:schemeClr val="tx2"/>
              </a:buClr>
              <a:buFont typeface="Trebuchet MS" panose="020B0603020202020204" pitchFamily="34" charset="0"/>
              <a:buChar char="–"/>
              <a:defRPr sz="2000">
                <a:latin typeface="Trebuchet MS" panose="020B0603020202020204" pitchFamily="34" charset="0"/>
                <a:sym typeface="Trebuchet MS" panose="020B0603020202020204" pitchFamily="34" charset="0"/>
              </a:defRPr>
            </a:lvl3pPr>
            <a:lvl4pPr marL="0" lvl="3" indent="0">
              <a:lnSpc>
                <a:spcPct val="100000"/>
              </a:lnSpc>
              <a:spcBef>
                <a:spcPts val="0"/>
              </a:spcBef>
              <a:spcAft>
                <a:spcPts val="0"/>
              </a:spcAft>
              <a:buClr>
                <a:schemeClr val="tx2"/>
              </a:buClr>
              <a:buFont typeface="Trebuchet MS" panose="020B0603020202020204" pitchFamily="34" charset="0"/>
              <a:buChar char="​"/>
              <a:defRPr sz="2400">
                <a:solidFill>
                  <a:schemeClr val="tx2"/>
                </a:solidFill>
                <a:latin typeface="Trebuchet MS" panose="020B0603020202020204" pitchFamily="34" charset="0"/>
                <a:sym typeface="Trebuchet MS" panose="020B0603020202020204" pitchFamily="34" charset="0"/>
              </a:defRPr>
            </a:lvl4pPr>
            <a:lvl5pPr marL="0" lvl="4" indent="0">
              <a:lnSpc>
                <a:spcPct val="100000"/>
              </a:lnSpc>
              <a:spcBef>
                <a:spcPts val="0"/>
              </a:spcBef>
              <a:spcAft>
                <a:spcPts val="0"/>
              </a:spcAft>
              <a:buClrTx/>
              <a:buFont typeface="Trebuchet MS" panose="020B0603020202020204" pitchFamily="34" charset="0"/>
              <a:buChar char="​"/>
              <a:defRPr sz="2400" b="1">
                <a:latin typeface="Trebuchet MS" panose="020B0603020202020204" pitchFamily="34" charset="0"/>
                <a:sym typeface="Trebuchet MS" panose="020B0603020202020204" pitchFamily="34" charset="0"/>
              </a:defRPr>
            </a:lvl5pPr>
            <a:lvl6pPr marL="324000" lvl="5" indent="-216000">
              <a:lnSpc>
                <a:spcPct val="100000"/>
              </a:lnSpc>
              <a:spcBef>
                <a:spcPts val="0"/>
              </a:spcBef>
              <a:spcAft>
                <a:spcPts val="0"/>
              </a:spcAft>
              <a:buClr>
                <a:schemeClr val="tx2"/>
              </a:buClr>
              <a:buFont typeface="Trebuchet MS" panose="020B0603020202020204" pitchFamily="34" charset="0"/>
              <a:buChar char="•"/>
              <a:defRPr sz="2400">
                <a:latin typeface="Trebuchet MS" panose="020B0603020202020204" pitchFamily="34" charset="0"/>
                <a:sym typeface="Trebuchet MS" panose="020B0603020202020204" pitchFamily="34" charset="0"/>
              </a:defRPr>
            </a:lvl6pPr>
            <a:lvl7pPr marL="0" lvl="6" indent="0">
              <a:lnSpc>
                <a:spcPct val="100000"/>
              </a:lnSpc>
              <a:spcBef>
                <a:spcPts val="0"/>
              </a:spcBef>
              <a:spcAft>
                <a:spcPts val="0"/>
              </a:spcAft>
              <a:buFont typeface="Trebuchet MS" panose="020B0603020202020204" pitchFamily="34" charset="0"/>
              <a:buChar char="​"/>
              <a:defRPr sz="5400" baseline="0">
                <a:latin typeface="Trebuchet MS" panose="020B0603020202020204" pitchFamily="34" charset="0"/>
                <a:sym typeface="Trebuchet MS" panose="020B0603020202020204" pitchFamily="34" charset="0"/>
              </a:defRPr>
            </a:lvl7pPr>
            <a:lvl8pPr marL="0" lvl="7" indent="0">
              <a:lnSpc>
                <a:spcPct val="100000"/>
              </a:lnSpc>
              <a:spcBef>
                <a:spcPts val="0"/>
              </a:spcBef>
              <a:spcAft>
                <a:spcPts val="0"/>
              </a:spcAft>
              <a:buFont typeface="Trebuchet MS" panose="020B0603020202020204" pitchFamily="34" charset="0"/>
              <a:buChar char="​"/>
              <a:defRPr sz="6600">
                <a:solidFill>
                  <a:schemeClr val="tx2"/>
                </a:solidFill>
                <a:latin typeface="Trebuchet MS" panose="020B0603020202020204" pitchFamily="34" charset="0"/>
                <a:sym typeface="Trebuchet MS" panose="020B0603020202020204" pitchFamily="34" charset="0"/>
              </a:defRPr>
            </a:lvl8pPr>
            <a:lvl9pPr marL="0" lvl="8" indent="0">
              <a:lnSpc>
                <a:spcPct val="100000"/>
              </a:lnSpc>
              <a:spcBef>
                <a:spcPts val="0"/>
              </a:spcBef>
              <a:spcAft>
                <a:spcPts val="0"/>
              </a:spcAft>
              <a:buFont typeface="Trebuchet MS" panose="020B0603020202020204" pitchFamily="34" charset="0"/>
              <a:buChar char="​"/>
              <a:defRPr sz="4400">
                <a:solidFill>
                  <a:schemeClr val="tx2"/>
                </a:solidFill>
                <a:latin typeface="Trebuchet MS" panose="020B0603020202020204" pitchFamily="34" charset="0"/>
                <a:sym typeface="Trebuchet MS" panose="020B0603020202020204" pitchFamily="34" charset="0"/>
              </a:defRPr>
            </a:lvl9pPr>
          </a:lstStyle>
          <a:p>
            <a:endParaRPr lang="en-US">
              <a:latin typeface="+mn-lt"/>
            </a:endParaRPr>
          </a:p>
        </p:txBody>
      </p:sp>
      <p:sp>
        <p:nvSpPr>
          <p:cNvPr id="13" name="Rectangle 12">
            <a:extLst>
              <a:ext uri="{FF2B5EF4-FFF2-40B4-BE49-F238E27FC236}">
                <a16:creationId xmlns:a16="http://schemas.microsoft.com/office/drawing/2014/main" id="{8D16DF90-790C-4373-8C7E-33EA4494D1B1}"/>
              </a:ext>
            </a:extLst>
          </p:cNvPr>
          <p:cNvSpPr/>
          <p:nvPr/>
        </p:nvSpPr>
        <p:spPr>
          <a:xfrm>
            <a:off x="8130739" y="2084294"/>
            <a:ext cx="3432460" cy="374904"/>
          </a:xfrm>
          <a:prstGeom prst="rect">
            <a:avLst/>
          </a:prstGeom>
          <a:solidFill>
            <a:schemeClr val="tx2"/>
          </a:solidFill>
          <a:ln w="7620"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576" tIns="36576" rIns="36576" bIns="36576" numCol="1" spcCol="0" rtlCol="0" fromWordArt="0" anchor="ctr" anchorCtr="0" forceAA="0" compatLnSpc="1">
            <a:prstTxWarp prst="textNoShape">
              <a:avLst/>
            </a:prstTxWarp>
            <a:spAutoFit/>
          </a:bodyPr>
          <a:lstStyle/>
          <a:p>
            <a:pPr algn="ctr"/>
            <a:r>
              <a:rPr lang="en-US" sz="1400" b="1">
                <a:solidFill>
                  <a:schemeClr val="bg1"/>
                </a:solidFill>
                <a:sym typeface="Trebuchet MS" panose="020B0603020202020204" pitchFamily="34" charset="0"/>
              </a:rPr>
              <a:t>Step 3: Identify Lookalike Customers</a:t>
            </a:r>
            <a:endParaRPr lang="en-US" sz="1100" b="1">
              <a:solidFill>
                <a:schemeClr val="bg1"/>
              </a:solidFill>
              <a:sym typeface="Trebuchet MS" panose="020B0603020202020204" pitchFamily="34" charset="0"/>
            </a:endParaRPr>
          </a:p>
        </p:txBody>
      </p:sp>
      <p:sp>
        <p:nvSpPr>
          <p:cNvPr id="29" name="Rectangle 28">
            <a:extLst>
              <a:ext uri="{FF2B5EF4-FFF2-40B4-BE49-F238E27FC236}">
                <a16:creationId xmlns:a16="http://schemas.microsoft.com/office/drawing/2014/main" id="{B22E9914-C875-4E68-AE21-DA6285CCF131}"/>
              </a:ext>
            </a:extLst>
          </p:cNvPr>
          <p:cNvSpPr/>
          <p:nvPr/>
        </p:nvSpPr>
        <p:spPr>
          <a:xfrm>
            <a:off x="9149653" y="2618990"/>
            <a:ext cx="2271929" cy="2640740"/>
          </a:xfrm>
          <a:prstGeom prst="rect">
            <a:avLst/>
          </a:prstGeom>
          <a:solidFill>
            <a:srgbClr val="FFFFFF"/>
          </a:solidFill>
          <a:ln w="9525" cap="rnd" cmpd="sng" algn="ctr">
            <a:solidFill>
              <a:srgbClr val="707070"/>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1946" tIns="21946" rIns="21946" bIns="21946" numCol="1" spcCol="0" rtlCol="0" fromWordArt="0" anchor="t" anchorCtr="0" forceAA="0" compatLnSpc="1">
            <a:prstTxWarp prst="textNoShape">
              <a:avLst/>
            </a:prstTxWarp>
            <a:noAutofit/>
          </a:bodyPr>
          <a:lstStyle/>
          <a:p>
            <a:pPr algn="ctr">
              <a:lnSpc>
                <a:spcPct val="90000"/>
              </a:lnSpc>
              <a:spcAft>
                <a:spcPts val="600"/>
              </a:spcAft>
            </a:pPr>
            <a:endParaRPr lang="en-SG" sz="1400" b="1">
              <a:solidFill>
                <a:schemeClr val="tx1"/>
              </a:solidFill>
              <a:sym typeface="Trebuchet MS" panose="020B0603020202020204" pitchFamily="34" charset="0"/>
            </a:endParaRPr>
          </a:p>
          <a:p>
            <a:pPr algn="ctr">
              <a:lnSpc>
                <a:spcPct val="90000"/>
              </a:lnSpc>
              <a:spcAft>
                <a:spcPts val="600"/>
              </a:spcAft>
            </a:pPr>
            <a:r>
              <a:rPr lang="en-SG" sz="1400" b="1">
                <a:solidFill>
                  <a:schemeClr val="tx1"/>
                </a:solidFill>
                <a:sym typeface="Trebuchet MS" panose="020B0603020202020204" pitchFamily="34" charset="0"/>
              </a:rPr>
              <a:t>Generate leads</a:t>
            </a:r>
            <a:endParaRPr lang="en-SG" sz="1200" b="1">
              <a:solidFill>
                <a:schemeClr val="tx1"/>
              </a:solidFill>
              <a:sym typeface="Trebuchet MS" panose="020B0603020202020204" pitchFamily="34" charset="0"/>
            </a:endParaRPr>
          </a:p>
          <a:p>
            <a:pPr marL="194400" lvl="1" indent="-129600">
              <a:buClr>
                <a:srgbClr val="005FAF">
                  <a:lumMod val="100000"/>
                </a:srgbClr>
              </a:buClr>
              <a:buSzPct val="100000"/>
              <a:buFont typeface="Trebuchet MS" panose="020B0603020202020204" pitchFamily="34" charset="0"/>
              <a:buChar char="•"/>
            </a:pPr>
            <a:r>
              <a:rPr lang="en-US" sz="1200">
                <a:solidFill>
                  <a:srgbClr val="575757">
                    <a:lumMod val="100000"/>
                  </a:srgbClr>
                </a:solidFill>
                <a:latin typeface="Trebuchet MS" panose="020B0603020202020204" pitchFamily="34" charset="0"/>
                <a:sym typeface="Trebuchet MS" panose="020B0603020202020204" pitchFamily="34" charset="0"/>
              </a:rPr>
              <a:t>Generate leads with high propensity to buy wealth products</a:t>
            </a:r>
          </a:p>
          <a:p>
            <a:pPr marL="194400" lvl="1" indent="-129600">
              <a:buClr>
                <a:srgbClr val="005FAF">
                  <a:lumMod val="100000"/>
                </a:srgbClr>
              </a:buClr>
              <a:buSzPct val="100000"/>
              <a:buFont typeface="Trebuchet MS" panose="020B0603020202020204" pitchFamily="34" charset="0"/>
              <a:buChar char="•"/>
            </a:pPr>
            <a:r>
              <a:rPr lang="en-US" sz="1200">
                <a:solidFill>
                  <a:srgbClr val="575757">
                    <a:lumMod val="100000"/>
                  </a:srgbClr>
                </a:solidFill>
                <a:latin typeface="Trebuchet MS" panose="020B0603020202020204" pitchFamily="34" charset="0"/>
                <a:sym typeface="Trebuchet MS" panose="020B0603020202020204" pitchFamily="34" charset="0"/>
              </a:rPr>
              <a:t>Generate leads with high propensity to become </a:t>
            </a:r>
            <a:r>
              <a:rPr lang="en-US" sz="1200" err="1">
                <a:solidFill>
                  <a:srgbClr val="575757">
                    <a:lumMod val="100000"/>
                  </a:srgbClr>
                </a:solidFill>
                <a:latin typeface="Trebuchet MS" panose="020B0603020202020204" pitchFamily="34" charset="0"/>
                <a:sym typeface="Trebuchet MS" panose="020B0603020202020204" pitchFamily="34" charset="0"/>
              </a:rPr>
              <a:t>na</a:t>
            </a:r>
            <a:r>
              <a:rPr lang="en-US" sz="1200">
                <a:solidFill>
                  <a:srgbClr val="575757">
                    <a:lumMod val="100000"/>
                  </a:srgbClr>
                </a:solidFill>
                <a:latin typeface="Trebuchet MS" panose="020B0603020202020204" pitchFamily="34" charset="0"/>
                <a:sym typeface="Trebuchet MS" panose="020B0603020202020204" pitchFamily="34" charset="0"/>
              </a:rPr>
              <a:t> Affluent or HNW customer</a:t>
            </a:r>
          </a:p>
          <a:p>
            <a:pPr marL="194400" lvl="1" indent="-129600">
              <a:buClr>
                <a:srgbClr val="005FAF">
                  <a:lumMod val="100000"/>
                </a:srgbClr>
              </a:buClr>
              <a:buSzPct val="100000"/>
              <a:buFont typeface="Trebuchet MS" panose="020B0603020202020204" pitchFamily="34" charset="0"/>
              <a:buChar char="•"/>
            </a:pPr>
            <a:r>
              <a:rPr lang="en-US" sz="1200">
                <a:solidFill>
                  <a:srgbClr val="575757">
                    <a:lumMod val="100000"/>
                  </a:srgbClr>
                </a:solidFill>
                <a:latin typeface="Trebuchet MS" panose="020B0603020202020204" pitchFamily="34" charset="0"/>
                <a:sym typeface="Trebuchet MS" panose="020B0603020202020204" pitchFamily="34" charset="0"/>
              </a:rPr>
              <a:t>Each leads with a predicted probability/ likelihood to convert</a:t>
            </a:r>
          </a:p>
          <a:p>
            <a:pPr marL="171450" indent="-171450">
              <a:lnSpc>
                <a:spcPct val="90000"/>
              </a:lnSpc>
              <a:spcAft>
                <a:spcPts val="600"/>
              </a:spcAft>
              <a:buClr>
                <a:schemeClr val="tx2"/>
              </a:buClr>
              <a:buFont typeface="Arial" panose="020B0604020202020204" pitchFamily="34" charset="0"/>
              <a:buChar char="•"/>
            </a:pPr>
            <a:endParaRPr lang="en-US" sz="1200">
              <a:solidFill>
                <a:schemeClr val="tx1"/>
              </a:solidFill>
              <a:sym typeface="Trebuchet MS" panose="020B0603020202020204" pitchFamily="34" charset="0"/>
            </a:endParaRPr>
          </a:p>
          <a:p>
            <a:pPr marL="171450" indent="-171450">
              <a:lnSpc>
                <a:spcPct val="90000"/>
              </a:lnSpc>
              <a:spcAft>
                <a:spcPts val="600"/>
              </a:spcAft>
              <a:buClr>
                <a:schemeClr val="tx2"/>
              </a:buClr>
              <a:buFont typeface="Arial" panose="020B0604020202020204" pitchFamily="34" charset="0"/>
              <a:buChar char="•"/>
            </a:pPr>
            <a:endParaRPr lang="en-US" sz="1200">
              <a:solidFill>
                <a:schemeClr val="tx1"/>
              </a:solidFill>
              <a:sym typeface="Trebuchet MS" panose="020B0603020202020204" pitchFamily="34" charset="0"/>
            </a:endParaRPr>
          </a:p>
        </p:txBody>
      </p:sp>
      <p:grpSp>
        <p:nvGrpSpPr>
          <p:cNvPr id="30" name="bcgIcons_GoToMarket">
            <a:extLst>
              <a:ext uri="{FF2B5EF4-FFF2-40B4-BE49-F238E27FC236}">
                <a16:creationId xmlns:a16="http://schemas.microsoft.com/office/drawing/2014/main" id="{5477138D-52CF-4C63-A52F-D0F7B340496A}"/>
              </a:ext>
            </a:extLst>
          </p:cNvPr>
          <p:cNvGrpSpPr>
            <a:grpSpLocks noChangeAspect="1"/>
          </p:cNvGrpSpPr>
          <p:nvPr/>
        </p:nvGrpSpPr>
        <p:grpSpPr bwMode="auto">
          <a:xfrm>
            <a:off x="8207610" y="3017548"/>
            <a:ext cx="830620" cy="831391"/>
            <a:chOff x="1682" y="0"/>
            <a:chExt cx="4316" cy="4320"/>
          </a:xfrm>
        </p:grpSpPr>
        <p:sp>
          <p:nvSpPr>
            <p:cNvPr id="31" name="AutoShape 14">
              <a:extLst>
                <a:ext uri="{FF2B5EF4-FFF2-40B4-BE49-F238E27FC236}">
                  <a16:creationId xmlns:a16="http://schemas.microsoft.com/office/drawing/2014/main" id="{33D1B94A-FB11-45A9-A7F1-8DB8C3AEE8ED}"/>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16">
              <a:extLst>
                <a:ext uri="{FF2B5EF4-FFF2-40B4-BE49-F238E27FC236}">
                  <a16:creationId xmlns:a16="http://schemas.microsoft.com/office/drawing/2014/main" id="{E9FF8E15-5A1A-4A7E-9FCB-461EED7DE70F}"/>
                </a:ext>
              </a:extLst>
            </p:cNvPr>
            <p:cNvSpPr>
              <a:spLocks noEditPoints="1"/>
            </p:cNvSpPr>
            <p:nvPr/>
          </p:nvSpPr>
          <p:spPr bwMode="auto">
            <a:xfrm>
              <a:off x="2574" y="296"/>
              <a:ext cx="2605" cy="2697"/>
            </a:xfrm>
            <a:custGeom>
              <a:avLst/>
              <a:gdLst>
                <a:gd name="T0" fmla="*/ 540 w 1391"/>
                <a:gd name="T1" fmla="*/ 461 h 1438"/>
                <a:gd name="T2" fmla="*/ 144 w 1391"/>
                <a:gd name="T3" fmla="*/ 866 h 1438"/>
                <a:gd name="T4" fmla="*/ 204 w 1391"/>
                <a:gd name="T5" fmla="*/ 1230 h 1438"/>
                <a:gd name="T6" fmla="*/ 235 w 1391"/>
                <a:gd name="T7" fmla="*/ 1261 h 1438"/>
                <a:gd name="T8" fmla="*/ 122 w 1391"/>
                <a:gd name="T9" fmla="*/ 1364 h 1438"/>
                <a:gd name="T10" fmla="*/ 121 w 1391"/>
                <a:gd name="T11" fmla="*/ 1364 h 1438"/>
                <a:gd name="T12" fmla="*/ 8 w 1391"/>
                <a:gd name="T13" fmla="*/ 1258 h 1438"/>
                <a:gd name="T14" fmla="*/ 40 w 1391"/>
                <a:gd name="T15" fmla="*/ 1228 h 1438"/>
                <a:gd name="T16" fmla="*/ 100 w 1391"/>
                <a:gd name="T17" fmla="*/ 857 h 1438"/>
                <a:gd name="T18" fmla="*/ 496 w 1391"/>
                <a:gd name="T19" fmla="*/ 452 h 1438"/>
                <a:gd name="T20" fmla="*/ 518 w 1391"/>
                <a:gd name="T21" fmla="*/ 0 h 1438"/>
                <a:gd name="T22" fmla="*/ 758 w 1391"/>
                <a:gd name="T23" fmla="*/ 746 h 1438"/>
                <a:gd name="T24" fmla="*/ 699 w 1391"/>
                <a:gd name="T25" fmla="*/ 22 h 1438"/>
                <a:gd name="T26" fmla="*/ 655 w 1391"/>
                <a:gd name="T27" fmla="*/ 22 h 1438"/>
                <a:gd name="T28" fmla="*/ 594 w 1391"/>
                <a:gd name="T29" fmla="*/ 744 h 1438"/>
                <a:gd name="T30" fmla="*/ 562 w 1391"/>
                <a:gd name="T31" fmla="*/ 775 h 1438"/>
                <a:gd name="T32" fmla="*/ 674 w 1391"/>
                <a:gd name="T33" fmla="*/ 880 h 1438"/>
                <a:gd name="T34" fmla="*/ 690 w 1391"/>
                <a:gd name="T35" fmla="*/ 874 h 1438"/>
                <a:gd name="T36" fmla="*/ 790 w 1391"/>
                <a:gd name="T37" fmla="*/ 747 h 1438"/>
                <a:gd name="T38" fmla="*/ 1111 w 1391"/>
                <a:gd name="T39" fmla="*/ 886 h 1438"/>
                <a:gd name="T40" fmla="*/ 1051 w 1391"/>
                <a:gd name="T41" fmla="*/ 726 h 1438"/>
                <a:gd name="T42" fmla="*/ 858 w 1391"/>
                <a:gd name="T43" fmla="*/ 524 h 1438"/>
                <a:gd name="T44" fmla="*/ 836 w 1391"/>
                <a:gd name="T45" fmla="*/ 0 h 1438"/>
                <a:gd name="T46" fmla="*/ 814 w 1391"/>
                <a:gd name="T47" fmla="*/ 533 h 1438"/>
                <a:gd name="T48" fmla="*/ 1007 w 1391"/>
                <a:gd name="T49" fmla="*/ 735 h 1438"/>
                <a:gd name="T50" fmla="*/ 947 w 1391"/>
                <a:gd name="T51" fmla="*/ 884 h 1438"/>
                <a:gd name="T52" fmla="*/ 915 w 1391"/>
                <a:gd name="T53" fmla="*/ 915 h 1438"/>
                <a:gd name="T54" fmla="*/ 1027 w 1391"/>
                <a:gd name="T55" fmla="*/ 1021 h 1438"/>
                <a:gd name="T56" fmla="*/ 1043 w 1391"/>
                <a:gd name="T57" fmla="*/ 1014 h 1438"/>
                <a:gd name="T58" fmla="*/ 1142 w 1391"/>
                <a:gd name="T59" fmla="*/ 887 h 1438"/>
                <a:gd name="T60" fmla="*/ 1383 w 1391"/>
                <a:gd name="T61" fmla="*/ 1304 h 1438"/>
                <a:gd name="T62" fmla="*/ 1291 w 1391"/>
                <a:gd name="T63" fmla="*/ 1362 h 1438"/>
                <a:gd name="T64" fmla="*/ 1285 w 1391"/>
                <a:gd name="T65" fmla="*/ 618 h 1438"/>
                <a:gd name="T66" fmla="*/ 1016 w 1391"/>
                <a:gd name="T67" fmla="*/ 22 h 1438"/>
                <a:gd name="T68" fmla="*/ 972 w 1391"/>
                <a:gd name="T69" fmla="*/ 22 h 1438"/>
                <a:gd name="T70" fmla="*/ 979 w 1391"/>
                <a:gd name="T71" fmla="*/ 373 h 1438"/>
                <a:gd name="T72" fmla="*/ 1247 w 1391"/>
                <a:gd name="T73" fmla="*/ 1363 h 1438"/>
                <a:gd name="T74" fmla="*/ 1156 w 1391"/>
                <a:gd name="T75" fmla="*/ 1301 h 1438"/>
                <a:gd name="T76" fmla="*/ 1252 w 1391"/>
                <a:gd name="T77" fmla="*/ 1431 h 1438"/>
                <a:gd name="T78" fmla="*/ 1268 w 1391"/>
                <a:gd name="T79" fmla="*/ 1438 h 1438"/>
                <a:gd name="T80" fmla="*/ 1288 w 1391"/>
                <a:gd name="T81" fmla="*/ 1427 h 1438"/>
                <a:gd name="T82" fmla="*/ 1383 w 1391"/>
                <a:gd name="T83" fmla="*/ 1304 h 1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91" h="1438">
                  <a:moveTo>
                    <a:pt x="540" y="22"/>
                  </a:moveTo>
                  <a:cubicBezTo>
                    <a:pt x="540" y="461"/>
                    <a:pt x="540" y="461"/>
                    <a:pt x="540" y="461"/>
                  </a:cubicBezTo>
                  <a:cubicBezTo>
                    <a:pt x="540" y="467"/>
                    <a:pt x="538" y="472"/>
                    <a:pt x="534" y="476"/>
                  </a:cubicBezTo>
                  <a:cubicBezTo>
                    <a:pt x="144" y="866"/>
                    <a:pt x="144" y="866"/>
                    <a:pt x="144" y="866"/>
                  </a:cubicBezTo>
                  <a:cubicBezTo>
                    <a:pt x="144" y="1289"/>
                    <a:pt x="144" y="1289"/>
                    <a:pt x="144" y="1289"/>
                  </a:cubicBezTo>
                  <a:cubicBezTo>
                    <a:pt x="204" y="1230"/>
                    <a:pt x="204" y="1230"/>
                    <a:pt x="204" y="1230"/>
                  </a:cubicBezTo>
                  <a:cubicBezTo>
                    <a:pt x="213" y="1221"/>
                    <a:pt x="227" y="1221"/>
                    <a:pt x="235" y="1230"/>
                  </a:cubicBezTo>
                  <a:cubicBezTo>
                    <a:pt x="244" y="1239"/>
                    <a:pt x="244" y="1253"/>
                    <a:pt x="235" y="1261"/>
                  </a:cubicBezTo>
                  <a:cubicBezTo>
                    <a:pt x="141" y="1353"/>
                    <a:pt x="141" y="1353"/>
                    <a:pt x="141" y="1353"/>
                  </a:cubicBezTo>
                  <a:cubicBezTo>
                    <a:pt x="137" y="1360"/>
                    <a:pt x="130" y="1364"/>
                    <a:pt x="122" y="1364"/>
                  </a:cubicBezTo>
                  <a:cubicBezTo>
                    <a:pt x="122" y="1364"/>
                    <a:pt x="121" y="1364"/>
                    <a:pt x="121" y="1364"/>
                  </a:cubicBezTo>
                  <a:cubicBezTo>
                    <a:pt x="121" y="1364"/>
                    <a:pt x="121" y="1364"/>
                    <a:pt x="121" y="1364"/>
                  </a:cubicBezTo>
                  <a:cubicBezTo>
                    <a:pt x="115" y="1364"/>
                    <a:pt x="109" y="1362"/>
                    <a:pt x="105" y="1357"/>
                  </a:cubicBezTo>
                  <a:cubicBezTo>
                    <a:pt x="8" y="1258"/>
                    <a:pt x="8" y="1258"/>
                    <a:pt x="8" y="1258"/>
                  </a:cubicBezTo>
                  <a:cubicBezTo>
                    <a:pt x="0" y="1250"/>
                    <a:pt x="0" y="1236"/>
                    <a:pt x="9" y="1227"/>
                  </a:cubicBezTo>
                  <a:cubicBezTo>
                    <a:pt x="18" y="1219"/>
                    <a:pt x="31" y="1219"/>
                    <a:pt x="40" y="1228"/>
                  </a:cubicBezTo>
                  <a:cubicBezTo>
                    <a:pt x="100" y="1289"/>
                    <a:pt x="100" y="1289"/>
                    <a:pt x="100" y="1289"/>
                  </a:cubicBezTo>
                  <a:cubicBezTo>
                    <a:pt x="100" y="857"/>
                    <a:pt x="100" y="857"/>
                    <a:pt x="100" y="857"/>
                  </a:cubicBezTo>
                  <a:cubicBezTo>
                    <a:pt x="100" y="851"/>
                    <a:pt x="102" y="846"/>
                    <a:pt x="106" y="842"/>
                  </a:cubicBezTo>
                  <a:cubicBezTo>
                    <a:pt x="496" y="452"/>
                    <a:pt x="496" y="452"/>
                    <a:pt x="496" y="452"/>
                  </a:cubicBezTo>
                  <a:cubicBezTo>
                    <a:pt x="496" y="22"/>
                    <a:pt x="496" y="22"/>
                    <a:pt x="496" y="22"/>
                  </a:cubicBezTo>
                  <a:cubicBezTo>
                    <a:pt x="496" y="10"/>
                    <a:pt x="506" y="0"/>
                    <a:pt x="518" y="0"/>
                  </a:cubicBezTo>
                  <a:cubicBezTo>
                    <a:pt x="531" y="0"/>
                    <a:pt x="540" y="10"/>
                    <a:pt x="540" y="22"/>
                  </a:cubicBezTo>
                  <a:close/>
                  <a:moveTo>
                    <a:pt x="758" y="746"/>
                  </a:moveTo>
                  <a:cubicBezTo>
                    <a:pt x="699" y="804"/>
                    <a:pt x="699" y="804"/>
                    <a:pt x="699" y="804"/>
                  </a:cubicBezTo>
                  <a:cubicBezTo>
                    <a:pt x="699" y="22"/>
                    <a:pt x="699" y="22"/>
                    <a:pt x="699" y="22"/>
                  </a:cubicBezTo>
                  <a:cubicBezTo>
                    <a:pt x="699" y="10"/>
                    <a:pt x="689" y="0"/>
                    <a:pt x="677" y="0"/>
                  </a:cubicBezTo>
                  <a:cubicBezTo>
                    <a:pt x="665" y="0"/>
                    <a:pt x="655" y="10"/>
                    <a:pt x="655" y="22"/>
                  </a:cubicBezTo>
                  <a:cubicBezTo>
                    <a:pt x="655" y="807"/>
                    <a:pt x="655" y="807"/>
                    <a:pt x="655" y="807"/>
                  </a:cubicBezTo>
                  <a:cubicBezTo>
                    <a:pt x="594" y="744"/>
                    <a:pt x="594" y="744"/>
                    <a:pt x="594" y="744"/>
                  </a:cubicBezTo>
                  <a:cubicBezTo>
                    <a:pt x="586" y="735"/>
                    <a:pt x="572" y="735"/>
                    <a:pt x="563" y="744"/>
                  </a:cubicBezTo>
                  <a:cubicBezTo>
                    <a:pt x="554" y="752"/>
                    <a:pt x="554" y="766"/>
                    <a:pt x="562" y="775"/>
                  </a:cubicBezTo>
                  <a:cubicBezTo>
                    <a:pt x="659" y="874"/>
                    <a:pt x="659" y="874"/>
                    <a:pt x="659" y="874"/>
                  </a:cubicBezTo>
                  <a:cubicBezTo>
                    <a:pt x="663" y="878"/>
                    <a:pt x="669" y="880"/>
                    <a:pt x="674" y="880"/>
                  </a:cubicBezTo>
                  <a:cubicBezTo>
                    <a:pt x="675" y="880"/>
                    <a:pt x="675" y="880"/>
                    <a:pt x="675" y="880"/>
                  </a:cubicBezTo>
                  <a:cubicBezTo>
                    <a:pt x="680" y="880"/>
                    <a:pt x="686" y="878"/>
                    <a:pt x="690" y="874"/>
                  </a:cubicBezTo>
                  <a:cubicBezTo>
                    <a:pt x="789" y="778"/>
                    <a:pt x="789" y="778"/>
                    <a:pt x="789" y="778"/>
                  </a:cubicBezTo>
                  <a:cubicBezTo>
                    <a:pt x="798" y="769"/>
                    <a:pt x="798" y="755"/>
                    <a:pt x="790" y="747"/>
                  </a:cubicBezTo>
                  <a:cubicBezTo>
                    <a:pt x="781" y="738"/>
                    <a:pt x="767" y="738"/>
                    <a:pt x="758" y="746"/>
                  </a:cubicBezTo>
                  <a:close/>
                  <a:moveTo>
                    <a:pt x="1111" y="886"/>
                  </a:moveTo>
                  <a:cubicBezTo>
                    <a:pt x="1051" y="945"/>
                    <a:pt x="1051" y="945"/>
                    <a:pt x="1051" y="945"/>
                  </a:cubicBezTo>
                  <a:cubicBezTo>
                    <a:pt x="1051" y="726"/>
                    <a:pt x="1051" y="726"/>
                    <a:pt x="1051" y="726"/>
                  </a:cubicBezTo>
                  <a:cubicBezTo>
                    <a:pt x="1051" y="720"/>
                    <a:pt x="1048" y="715"/>
                    <a:pt x="1044" y="710"/>
                  </a:cubicBezTo>
                  <a:cubicBezTo>
                    <a:pt x="858" y="524"/>
                    <a:pt x="858" y="524"/>
                    <a:pt x="858" y="524"/>
                  </a:cubicBezTo>
                  <a:cubicBezTo>
                    <a:pt x="858" y="22"/>
                    <a:pt x="858" y="22"/>
                    <a:pt x="858" y="22"/>
                  </a:cubicBezTo>
                  <a:cubicBezTo>
                    <a:pt x="858" y="10"/>
                    <a:pt x="848" y="0"/>
                    <a:pt x="836" y="0"/>
                  </a:cubicBezTo>
                  <a:cubicBezTo>
                    <a:pt x="823" y="0"/>
                    <a:pt x="814" y="10"/>
                    <a:pt x="814" y="22"/>
                  </a:cubicBezTo>
                  <a:cubicBezTo>
                    <a:pt x="814" y="533"/>
                    <a:pt x="814" y="533"/>
                    <a:pt x="814" y="533"/>
                  </a:cubicBezTo>
                  <a:cubicBezTo>
                    <a:pt x="814" y="539"/>
                    <a:pt x="816" y="545"/>
                    <a:pt x="820" y="549"/>
                  </a:cubicBezTo>
                  <a:cubicBezTo>
                    <a:pt x="1007" y="735"/>
                    <a:pt x="1007" y="735"/>
                    <a:pt x="1007" y="735"/>
                  </a:cubicBezTo>
                  <a:cubicBezTo>
                    <a:pt x="1007" y="946"/>
                    <a:pt x="1007" y="946"/>
                    <a:pt x="1007" y="946"/>
                  </a:cubicBezTo>
                  <a:cubicBezTo>
                    <a:pt x="947" y="884"/>
                    <a:pt x="947" y="884"/>
                    <a:pt x="947" y="884"/>
                  </a:cubicBezTo>
                  <a:cubicBezTo>
                    <a:pt x="938" y="875"/>
                    <a:pt x="924" y="875"/>
                    <a:pt x="916" y="884"/>
                  </a:cubicBezTo>
                  <a:cubicBezTo>
                    <a:pt x="907" y="892"/>
                    <a:pt x="907" y="906"/>
                    <a:pt x="915" y="915"/>
                  </a:cubicBezTo>
                  <a:cubicBezTo>
                    <a:pt x="1012" y="1014"/>
                    <a:pt x="1012" y="1014"/>
                    <a:pt x="1012" y="1014"/>
                  </a:cubicBezTo>
                  <a:cubicBezTo>
                    <a:pt x="1016" y="1018"/>
                    <a:pt x="1021" y="1020"/>
                    <a:pt x="1027" y="1021"/>
                  </a:cubicBezTo>
                  <a:cubicBezTo>
                    <a:pt x="1027" y="1021"/>
                    <a:pt x="1027" y="1021"/>
                    <a:pt x="1027" y="1021"/>
                  </a:cubicBezTo>
                  <a:cubicBezTo>
                    <a:pt x="1033" y="1021"/>
                    <a:pt x="1039" y="1018"/>
                    <a:pt x="1043" y="1014"/>
                  </a:cubicBezTo>
                  <a:cubicBezTo>
                    <a:pt x="1142" y="918"/>
                    <a:pt x="1142" y="918"/>
                    <a:pt x="1142" y="918"/>
                  </a:cubicBezTo>
                  <a:cubicBezTo>
                    <a:pt x="1151" y="909"/>
                    <a:pt x="1151" y="895"/>
                    <a:pt x="1142" y="887"/>
                  </a:cubicBezTo>
                  <a:cubicBezTo>
                    <a:pt x="1134" y="878"/>
                    <a:pt x="1120" y="878"/>
                    <a:pt x="1111" y="886"/>
                  </a:cubicBezTo>
                  <a:close/>
                  <a:moveTo>
                    <a:pt x="1383" y="1304"/>
                  </a:moveTo>
                  <a:cubicBezTo>
                    <a:pt x="1374" y="1295"/>
                    <a:pt x="1360" y="1295"/>
                    <a:pt x="1351" y="1304"/>
                  </a:cubicBezTo>
                  <a:cubicBezTo>
                    <a:pt x="1291" y="1362"/>
                    <a:pt x="1291" y="1362"/>
                    <a:pt x="1291" y="1362"/>
                  </a:cubicBezTo>
                  <a:cubicBezTo>
                    <a:pt x="1291" y="634"/>
                    <a:pt x="1291" y="634"/>
                    <a:pt x="1291" y="634"/>
                  </a:cubicBezTo>
                  <a:cubicBezTo>
                    <a:pt x="1291" y="628"/>
                    <a:pt x="1289" y="623"/>
                    <a:pt x="1285" y="618"/>
                  </a:cubicBezTo>
                  <a:cubicBezTo>
                    <a:pt x="1016" y="348"/>
                    <a:pt x="1016" y="348"/>
                    <a:pt x="1016" y="348"/>
                  </a:cubicBezTo>
                  <a:cubicBezTo>
                    <a:pt x="1016" y="22"/>
                    <a:pt x="1016" y="22"/>
                    <a:pt x="1016" y="22"/>
                  </a:cubicBezTo>
                  <a:cubicBezTo>
                    <a:pt x="1016" y="10"/>
                    <a:pt x="1006" y="0"/>
                    <a:pt x="994" y="0"/>
                  </a:cubicBezTo>
                  <a:cubicBezTo>
                    <a:pt x="982" y="0"/>
                    <a:pt x="972" y="10"/>
                    <a:pt x="972" y="22"/>
                  </a:cubicBezTo>
                  <a:cubicBezTo>
                    <a:pt x="972" y="357"/>
                    <a:pt x="972" y="357"/>
                    <a:pt x="972" y="357"/>
                  </a:cubicBezTo>
                  <a:cubicBezTo>
                    <a:pt x="972" y="363"/>
                    <a:pt x="975" y="368"/>
                    <a:pt x="979" y="373"/>
                  </a:cubicBezTo>
                  <a:cubicBezTo>
                    <a:pt x="1247" y="643"/>
                    <a:pt x="1247" y="643"/>
                    <a:pt x="1247" y="643"/>
                  </a:cubicBezTo>
                  <a:cubicBezTo>
                    <a:pt x="1247" y="1363"/>
                    <a:pt x="1247" y="1363"/>
                    <a:pt x="1247" y="1363"/>
                  </a:cubicBezTo>
                  <a:cubicBezTo>
                    <a:pt x="1187" y="1301"/>
                    <a:pt x="1187" y="1301"/>
                    <a:pt x="1187" y="1301"/>
                  </a:cubicBezTo>
                  <a:cubicBezTo>
                    <a:pt x="1179" y="1293"/>
                    <a:pt x="1165" y="1293"/>
                    <a:pt x="1156" y="1301"/>
                  </a:cubicBezTo>
                  <a:cubicBezTo>
                    <a:pt x="1147" y="1310"/>
                    <a:pt x="1147" y="1323"/>
                    <a:pt x="1155" y="1332"/>
                  </a:cubicBezTo>
                  <a:cubicBezTo>
                    <a:pt x="1252" y="1431"/>
                    <a:pt x="1252" y="1431"/>
                    <a:pt x="1252" y="1431"/>
                  </a:cubicBezTo>
                  <a:cubicBezTo>
                    <a:pt x="1256" y="1436"/>
                    <a:pt x="1262" y="1438"/>
                    <a:pt x="1268" y="1438"/>
                  </a:cubicBezTo>
                  <a:cubicBezTo>
                    <a:pt x="1268" y="1438"/>
                    <a:pt x="1268" y="1438"/>
                    <a:pt x="1268" y="1438"/>
                  </a:cubicBezTo>
                  <a:cubicBezTo>
                    <a:pt x="1268" y="1438"/>
                    <a:pt x="1269" y="1438"/>
                    <a:pt x="1269" y="1438"/>
                  </a:cubicBezTo>
                  <a:cubicBezTo>
                    <a:pt x="1277" y="1438"/>
                    <a:pt x="1284" y="1433"/>
                    <a:pt x="1288" y="1427"/>
                  </a:cubicBezTo>
                  <a:cubicBezTo>
                    <a:pt x="1382" y="1335"/>
                    <a:pt x="1382" y="1335"/>
                    <a:pt x="1382" y="1335"/>
                  </a:cubicBezTo>
                  <a:cubicBezTo>
                    <a:pt x="1391" y="1327"/>
                    <a:pt x="1391" y="1313"/>
                    <a:pt x="1383" y="130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17">
              <a:extLst>
                <a:ext uri="{FF2B5EF4-FFF2-40B4-BE49-F238E27FC236}">
                  <a16:creationId xmlns:a16="http://schemas.microsoft.com/office/drawing/2014/main" id="{6BEE8BE6-95EE-454C-BC4B-CD3D1A14FA1E}"/>
                </a:ext>
              </a:extLst>
            </p:cNvPr>
            <p:cNvSpPr>
              <a:spLocks noEditPoints="1"/>
            </p:cNvSpPr>
            <p:nvPr/>
          </p:nvSpPr>
          <p:spPr bwMode="auto">
            <a:xfrm>
              <a:off x="2317" y="2081"/>
              <a:ext cx="3125" cy="1986"/>
            </a:xfrm>
            <a:custGeom>
              <a:avLst/>
              <a:gdLst>
                <a:gd name="T0" fmla="*/ 554 w 1668"/>
                <a:gd name="T1" fmla="*/ 259 h 1059"/>
                <a:gd name="T2" fmla="*/ 1072 w 1668"/>
                <a:gd name="T3" fmla="*/ 259 h 1059"/>
                <a:gd name="T4" fmla="*/ 956 w 1668"/>
                <a:gd name="T5" fmla="*/ 273 h 1059"/>
                <a:gd name="T6" fmla="*/ 927 w 1668"/>
                <a:gd name="T7" fmla="*/ 331 h 1059"/>
                <a:gd name="T8" fmla="*/ 917 w 1668"/>
                <a:gd name="T9" fmla="*/ 367 h 1059"/>
                <a:gd name="T10" fmla="*/ 856 w 1668"/>
                <a:gd name="T11" fmla="*/ 423 h 1059"/>
                <a:gd name="T12" fmla="*/ 848 w 1668"/>
                <a:gd name="T13" fmla="*/ 431 h 1059"/>
                <a:gd name="T14" fmla="*/ 724 w 1668"/>
                <a:gd name="T15" fmla="*/ 403 h 1059"/>
                <a:gd name="T16" fmla="*/ 679 w 1668"/>
                <a:gd name="T17" fmla="*/ 168 h 1059"/>
                <a:gd name="T18" fmla="*/ 940 w 1668"/>
                <a:gd name="T19" fmla="*/ 107 h 1059"/>
                <a:gd name="T20" fmla="*/ 918 w 1668"/>
                <a:gd name="T21" fmla="*/ 152 h 1059"/>
                <a:gd name="T22" fmla="*/ 919 w 1668"/>
                <a:gd name="T23" fmla="*/ 186 h 1059"/>
                <a:gd name="T24" fmla="*/ 927 w 1668"/>
                <a:gd name="T25" fmla="*/ 218 h 1059"/>
                <a:gd name="T26" fmla="*/ 942 w 1668"/>
                <a:gd name="T27" fmla="*/ 246 h 1059"/>
                <a:gd name="T28" fmla="*/ 1409 w 1668"/>
                <a:gd name="T29" fmla="*/ 542 h 1059"/>
                <a:gd name="T30" fmla="*/ 1409 w 1668"/>
                <a:gd name="T31" fmla="*/ 1059 h 1059"/>
                <a:gd name="T32" fmla="*/ 1409 w 1668"/>
                <a:gd name="T33" fmla="*/ 542 h 1059"/>
                <a:gd name="T34" fmla="*/ 1498 w 1668"/>
                <a:gd name="T35" fmla="*/ 944 h 1059"/>
                <a:gd name="T36" fmla="*/ 1374 w 1668"/>
                <a:gd name="T37" fmla="*/ 972 h 1059"/>
                <a:gd name="T38" fmla="*/ 1366 w 1668"/>
                <a:gd name="T39" fmla="*/ 965 h 1059"/>
                <a:gd name="T40" fmla="*/ 1305 w 1668"/>
                <a:gd name="T41" fmla="*/ 909 h 1059"/>
                <a:gd name="T42" fmla="*/ 1295 w 1668"/>
                <a:gd name="T43" fmla="*/ 873 h 1059"/>
                <a:gd name="T44" fmla="*/ 1266 w 1668"/>
                <a:gd name="T45" fmla="*/ 815 h 1059"/>
                <a:gd name="T46" fmla="*/ 1282 w 1668"/>
                <a:gd name="T47" fmla="*/ 785 h 1059"/>
                <a:gd name="T48" fmla="*/ 1298 w 1668"/>
                <a:gd name="T49" fmla="*/ 747 h 1059"/>
                <a:gd name="T50" fmla="*/ 1307 w 1668"/>
                <a:gd name="T51" fmla="*/ 692 h 1059"/>
                <a:gd name="T52" fmla="*/ 1303 w 1668"/>
                <a:gd name="T53" fmla="*/ 692 h 1059"/>
                <a:gd name="T54" fmla="*/ 1417 w 1668"/>
                <a:gd name="T55" fmla="*/ 629 h 1059"/>
                <a:gd name="T56" fmla="*/ 1498 w 1668"/>
                <a:gd name="T57" fmla="*/ 868 h 1059"/>
                <a:gd name="T58" fmla="*/ 0 w 1668"/>
                <a:gd name="T59" fmla="*/ 721 h 1059"/>
                <a:gd name="T60" fmla="*/ 518 w 1668"/>
                <a:gd name="T61" fmla="*/ 721 h 1059"/>
                <a:gd name="T62" fmla="*/ 406 w 1668"/>
                <a:gd name="T63" fmla="*/ 737 h 1059"/>
                <a:gd name="T64" fmla="*/ 376 w 1668"/>
                <a:gd name="T65" fmla="*/ 775 h 1059"/>
                <a:gd name="T66" fmla="*/ 327 w 1668"/>
                <a:gd name="T67" fmla="*/ 826 h 1059"/>
                <a:gd name="T68" fmla="*/ 304 w 1668"/>
                <a:gd name="T69" fmla="*/ 882 h 1059"/>
                <a:gd name="T70" fmla="*/ 289 w 1668"/>
                <a:gd name="T71" fmla="*/ 890 h 1059"/>
                <a:gd name="T72" fmla="*/ 202 w 1668"/>
                <a:gd name="T73" fmla="*/ 863 h 1059"/>
                <a:gd name="T74" fmla="*/ 132 w 1668"/>
                <a:gd name="T75" fmla="*/ 627 h 1059"/>
                <a:gd name="T76" fmla="*/ 371 w 1668"/>
                <a:gd name="T77" fmla="*/ 606 h 1059"/>
                <a:gd name="T78" fmla="*/ 377 w 1668"/>
                <a:gd name="T79" fmla="*/ 654 h 1059"/>
                <a:gd name="T80" fmla="*/ 394 w 1668"/>
                <a:gd name="T81" fmla="*/ 709 h 1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68" h="1059">
                  <a:moveTo>
                    <a:pt x="813" y="0"/>
                  </a:moveTo>
                  <a:cubicBezTo>
                    <a:pt x="670" y="0"/>
                    <a:pt x="554" y="116"/>
                    <a:pt x="554" y="259"/>
                  </a:cubicBezTo>
                  <a:cubicBezTo>
                    <a:pt x="554" y="402"/>
                    <a:pt x="670" y="518"/>
                    <a:pt x="813" y="518"/>
                  </a:cubicBezTo>
                  <a:cubicBezTo>
                    <a:pt x="956" y="518"/>
                    <a:pt x="1072" y="402"/>
                    <a:pt x="1072" y="259"/>
                  </a:cubicBezTo>
                  <a:cubicBezTo>
                    <a:pt x="1072" y="116"/>
                    <a:pt x="956" y="0"/>
                    <a:pt x="813" y="0"/>
                  </a:cubicBezTo>
                  <a:close/>
                  <a:moveTo>
                    <a:pt x="956" y="273"/>
                  </a:moveTo>
                  <a:cubicBezTo>
                    <a:pt x="955" y="277"/>
                    <a:pt x="949" y="290"/>
                    <a:pt x="925" y="290"/>
                  </a:cubicBezTo>
                  <a:cubicBezTo>
                    <a:pt x="927" y="301"/>
                    <a:pt x="928" y="319"/>
                    <a:pt x="927" y="331"/>
                  </a:cubicBezTo>
                  <a:cubicBezTo>
                    <a:pt x="927" y="334"/>
                    <a:pt x="927" y="334"/>
                    <a:pt x="927" y="334"/>
                  </a:cubicBezTo>
                  <a:cubicBezTo>
                    <a:pt x="926" y="353"/>
                    <a:pt x="925" y="363"/>
                    <a:pt x="917" y="367"/>
                  </a:cubicBezTo>
                  <a:cubicBezTo>
                    <a:pt x="910" y="371"/>
                    <a:pt x="887" y="374"/>
                    <a:pt x="856" y="371"/>
                  </a:cubicBezTo>
                  <a:cubicBezTo>
                    <a:pt x="856" y="423"/>
                    <a:pt x="856" y="423"/>
                    <a:pt x="856" y="423"/>
                  </a:cubicBezTo>
                  <a:cubicBezTo>
                    <a:pt x="856" y="427"/>
                    <a:pt x="853" y="431"/>
                    <a:pt x="848" y="431"/>
                  </a:cubicBezTo>
                  <a:cubicBezTo>
                    <a:pt x="848" y="431"/>
                    <a:pt x="848" y="431"/>
                    <a:pt x="848" y="431"/>
                  </a:cubicBezTo>
                  <a:cubicBezTo>
                    <a:pt x="843" y="431"/>
                    <a:pt x="779" y="430"/>
                    <a:pt x="729" y="410"/>
                  </a:cubicBezTo>
                  <a:cubicBezTo>
                    <a:pt x="726" y="409"/>
                    <a:pt x="724" y="406"/>
                    <a:pt x="724" y="403"/>
                  </a:cubicBezTo>
                  <a:cubicBezTo>
                    <a:pt x="724" y="327"/>
                    <a:pt x="724" y="327"/>
                    <a:pt x="724" y="327"/>
                  </a:cubicBezTo>
                  <a:cubicBezTo>
                    <a:pt x="699" y="300"/>
                    <a:pt x="648" y="234"/>
                    <a:pt x="679" y="168"/>
                  </a:cubicBezTo>
                  <a:cubicBezTo>
                    <a:pt x="697" y="131"/>
                    <a:pt x="733" y="87"/>
                    <a:pt x="805" y="87"/>
                  </a:cubicBezTo>
                  <a:cubicBezTo>
                    <a:pt x="887" y="87"/>
                    <a:pt x="863" y="108"/>
                    <a:pt x="940" y="107"/>
                  </a:cubicBezTo>
                  <a:cubicBezTo>
                    <a:pt x="948" y="107"/>
                    <a:pt x="923" y="134"/>
                    <a:pt x="919" y="151"/>
                  </a:cubicBezTo>
                  <a:cubicBezTo>
                    <a:pt x="919" y="151"/>
                    <a:pt x="919" y="152"/>
                    <a:pt x="918" y="152"/>
                  </a:cubicBezTo>
                  <a:cubicBezTo>
                    <a:pt x="918" y="152"/>
                    <a:pt x="916" y="151"/>
                    <a:pt x="914" y="151"/>
                  </a:cubicBezTo>
                  <a:cubicBezTo>
                    <a:pt x="915" y="161"/>
                    <a:pt x="917" y="180"/>
                    <a:pt x="919" y="186"/>
                  </a:cubicBezTo>
                  <a:cubicBezTo>
                    <a:pt x="921" y="192"/>
                    <a:pt x="922" y="199"/>
                    <a:pt x="924" y="205"/>
                  </a:cubicBezTo>
                  <a:cubicBezTo>
                    <a:pt x="925" y="210"/>
                    <a:pt x="926" y="215"/>
                    <a:pt x="927" y="218"/>
                  </a:cubicBezTo>
                  <a:cubicBezTo>
                    <a:pt x="931" y="230"/>
                    <a:pt x="935" y="239"/>
                    <a:pt x="939" y="243"/>
                  </a:cubicBezTo>
                  <a:cubicBezTo>
                    <a:pt x="940" y="244"/>
                    <a:pt x="941" y="245"/>
                    <a:pt x="942" y="246"/>
                  </a:cubicBezTo>
                  <a:cubicBezTo>
                    <a:pt x="951" y="256"/>
                    <a:pt x="959" y="265"/>
                    <a:pt x="956" y="273"/>
                  </a:cubicBezTo>
                  <a:close/>
                  <a:moveTo>
                    <a:pt x="1409" y="542"/>
                  </a:moveTo>
                  <a:cubicBezTo>
                    <a:pt x="1266" y="542"/>
                    <a:pt x="1150" y="658"/>
                    <a:pt x="1150" y="800"/>
                  </a:cubicBezTo>
                  <a:cubicBezTo>
                    <a:pt x="1150" y="943"/>
                    <a:pt x="1266" y="1059"/>
                    <a:pt x="1409" y="1059"/>
                  </a:cubicBezTo>
                  <a:cubicBezTo>
                    <a:pt x="1552" y="1059"/>
                    <a:pt x="1668" y="943"/>
                    <a:pt x="1668" y="800"/>
                  </a:cubicBezTo>
                  <a:cubicBezTo>
                    <a:pt x="1668" y="658"/>
                    <a:pt x="1552" y="542"/>
                    <a:pt x="1409" y="542"/>
                  </a:cubicBezTo>
                  <a:close/>
                  <a:moveTo>
                    <a:pt x="1498" y="868"/>
                  </a:moveTo>
                  <a:cubicBezTo>
                    <a:pt x="1498" y="944"/>
                    <a:pt x="1498" y="944"/>
                    <a:pt x="1498" y="944"/>
                  </a:cubicBezTo>
                  <a:cubicBezTo>
                    <a:pt x="1498" y="947"/>
                    <a:pt x="1496" y="950"/>
                    <a:pt x="1493" y="951"/>
                  </a:cubicBezTo>
                  <a:cubicBezTo>
                    <a:pt x="1443" y="972"/>
                    <a:pt x="1379" y="972"/>
                    <a:pt x="1374" y="972"/>
                  </a:cubicBezTo>
                  <a:cubicBezTo>
                    <a:pt x="1373" y="972"/>
                    <a:pt x="1373" y="972"/>
                    <a:pt x="1373" y="972"/>
                  </a:cubicBezTo>
                  <a:cubicBezTo>
                    <a:pt x="1369" y="972"/>
                    <a:pt x="1366" y="969"/>
                    <a:pt x="1366" y="965"/>
                  </a:cubicBezTo>
                  <a:cubicBezTo>
                    <a:pt x="1366" y="912"/>
                    <a:pt x="1366" y="912"/>
                    <a:pt x="1366" y="912"/>
                  </a:cubicBezTo>
                  <a:cubicBezTo>
                    <a:pt x="1335" y="916"/>
                    <a:pt x="1311" y="912"/>
                    <a:pt x="1305" y="909"/>
                  </a:cubicBezTo>
                  <a:cubicBezTo>
                    <a:pt x="1297" y="905"/>
                    <a:pt x="1296" y="894"/>
                    <a:pt x="1295" y="875"/>
                  </a:cubicBezTo>
                  <a:cubicBezTo>
                    <a:pt x="1295" y="873"/>
                    <a:pt x="1295" y="873"/>
                    <a:pt x="1295" y="873"/>
                  </a:cubicBezTo>
                  <a:cubicBezTo>
                    <a:pt x="1294" y="861"/>
                    <a:pt x="1295" y="842"/>
                    <a:pt x="1296" y="832"/>
                  </a:cubicBezTo>
                  <a:cubicBezTo>
                    <a:pt x="1273" y="831"/>
                    <a:pt x="1267" y="819"/>
                    <a:pt x="1266" y="815"/>
                  </a:cubicBezTo>
                  <a:cubicBezTo>
                    <a:pt x="1263" y="806"/>
                    <a:pt x="1271" y="797"/>
                    <a:pt x="1280" y="788"/>
                  </a:cubicBezTo>
                  <a:cubicBezTo>
                    <a:pt x="1281" y="787"/>
                    <a:pt x="1282" y="786"/>
                    <a:pt x="1282" y="785"/>
                  </a:cubicBezTo>
                  <a:cubicBezTo>
                    <a:pt x="1286" y="780"/>
                    <a:pt x="1291" y="771"/>
                    <a:pt x="1295" y="760"/>
                  </a:cubicBezTo>
                  <a:cubicBezTo>
                    <a:pt x="1296" y="757"/>
                    <a:pt x="1297" y="752"/>
                    <a:pt x="1298" y="747"/>
                  </a:cubicBezTo>
                  <a:cubicBezTo>
                    <a:pt x="1300" y="740"/>
                    <a:pt x="1301" y="733"/>
                    <a:pt x="1303" y="728"/>
                  </a:cubicBezTo>
                  <a:cubicBezTo>
                    <a:pt x="1305" y="721"/>
                    <a:pt x="1307" y="702"/>
                    <a:pt x="1307" y="692"/>
                  </a:cubicBezTo>
                  <a:cubicBezTo>
                    <a:pt x="1306" y="692"/>
                    <a:pt x="1304" y="693"/>
                    <a:pt x="1303" y="693"/>
                  </a:cubicBezTo>
                  <a:cubicBezTo>
                    <a:pt x="1303" y="693"/>
                    <a:pt x="1303" y="693"/>
                    <a:pt x="1303" y="692"/>
                  </a:cubicBezTo>
                  <a:cubicBezTo>
                    <a:pt x="1299" y="675"/>
                    <a:pt x="1274" y="648"/>
                    <a:pt x="1282" y="648"/>
                  </a:cubicBezTo>
                  <a:cubicBezTo>
                    <a:pt x="1358" y="650"/>
                    <a:pt x="1334" y="629"/>
                    <a:pt x="1417" y="629"/>
                  </a:cubicBezTo>
                  <a:cubicBezTo>
                    <a:pt x="1489" y="629"/>
                    <a:pt x="1525" y="672"/>
                    <a:pt x="1543" y="709"/>
                  </a:cubicBezTo>
                  <a:cubicBezTo>
                    <a:pt x="1574" y="776"/>
                    <a:pt x="1523" y="842"/>
                    <a:pt x="1498" y="868"/>
                  </a:cubicBezTo>
                  <a:close/>
                  <a:moveTo>
                    <a:pt x="259" y="462"/>
                  </a:moveTo>
                  <a:cubicBezTo>
                    <a:pt x="116" y="462"/>
                    <a:pt x="0" y="578"/>
                    <a:pt x="0" y="721"/>
                  </a:cubicBezTo>
                  <a:cubicBezTo>
                    <a:pt x="0" y="864"/>
                    <a:pt x="116" y="980"/>
                    <a:pt x="259" y="980"/>
                  </a:cubicBezTo>
                  <a:cubicBezTo>
                    <a:pt x="402" y="980"/>
                    <a:pt x="518" y="864"/>
                    <a:pt x="518" y="721"/>
                  </a:cubicBezTo>
                  <a:cubicBezTo>
                    <a:pt x="518" y="578"/>
                    <a:pt x="402" y="462"/>
                    <a:pt x="259" y="462"/>
                  </a:cubicBezTo>
                  <a:close/>
                  <a:moveTo>
                    <a:pt x="406" y="737"/>
                  </a:moveTo>
                  <a:cubicBezTo>
                    <a:pt x="404" y="743"/>
                    <a:pt x="394" y="752"/>
                    <a:pt x="375" y="752"/>
                  </a:cubicBezTo>
                  <a:cubicBezTo>
                    <a:pt x="376" y="758"/>
                    <a:pt x="376" y="767"/>
                    <a:pt x="376" y="775"/>
                  </a:cubicBezTo>
                  <a:cubicBezTo>
                    <a:pt x="376" y="806"/>
                    <a:pt x="372" y="815"/>
                    <a:pt x="368" y="818"/>
                  </a:cubicBezTo>
                  <a:cubicBezTo>
                    <a:pt x="365" y="822"/>
                    <a:pt x="357" y="827"/>
                    <a:pt x="327" y="826"/>
                  </a:cubicBezTo>
                  <a:cubicBezTo>
                    <a:pt x="322" y="826"/>
                    <a:pt x="312" y="826"/>
                    <a:pt x="304" y="825"/>
                  </a:cubicBezTo>
                  <a:cubicBezTo>
                    <a:pt x="304" y="882"/>
                    <a:pt x="304" y="882"/>
                    <a:pt x="304" y="882"/>
                  </a:cubicBezTo>
                  <a:cubicBezTo>
                    <a:pt x="304" y="886"/>
                    <a:pt x="301" y="889"/>
                    <a:pt x="297" y="889"/>
                  </a:cubicBezTo>
                  <a:cubicBezTo>
                    <a:pt x="297" y="889"/>
                    <a:pt x="294" y="890"/>
                    <a:pt x="289" y="890"/>
                  </a:cubicBezTo>
                  <a:cubicBezTo>
                    <a:pt x="273" y="890"/>
                    <a:pt x="236" y="887"/>
                    <a:pt x="206" y="869"/>
                  </a:cubicBezTo>
                  <a:cubicBezTo>
                    <a:pt x="204" y="868"/>
                    <a:pt x="202" y="866"/>
                    <a:pt x="202" y="863"/>
                  </a:cubicBezTo>
                  <a:cubicBezTo>
                    <a:pt x="200" y="826"/>
                    <a:pt x="200" y="826"/>
                    <a:pt x="200" y="826"/>
                  </a:cubicBezTo>
                  <a:cubicBezTo>
                    <a:pt x="151" y="806"/>
                    <a:pt x="73" y="749"/>
                    <a:pt x="132" y="627"/>
                  </a:cubicBezTo>
                  <a:cubicBezTo>
                    <a:pt x="150" y="591"/>
                    <a:pt x="192" y="553"/>
                    <a:pt x="262" y="553"/>
                  </a:cubicBezTo>
                  <a:cubicBezTo>
                    <a:pt x="342" y="553"/>
                    <a:pt x="375" y="590"/>
                    <a:pt x="371" y="606"/>
                  </a:cubicBezTo>
                  <a:cubicBezTo>
                    <a:pt x="370" y="609"/>
                    <a:pt x="368" y="612"/>
                    <a:pt x="366" y="615"/>
                  </a:cubicBezTo>
                  <a:cubicBezTo>
                    <a:pt x="370" y="620"/>
                    <a:pt x="379" y="633"/>
                    <a:pt x="377" y="654"/>
                  </a:cubicBezTo>
                  <a:cubicBezTo>
                    <a:pt x="377" y="664"/>
                    <a:pt x="378" y="683"/>
                    <a:pt x="379" y="686"/>
                  </a:cubicBezTo>
                  <a:cubicBezTo>
                    <a:pt x="382" y="693"/>
                    <a:pt x="388" y="703"/>
                    <a:pt x="394" y="709"/>
                  </a:cubicBezTo>
                  <a:cubicBezTo>
                    <a:pt x="400" y="715"/>
                    <a:pt x="410" y="729"/>
                    <a:pt x="406" y="737"/>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55" name="Rectangle 54">
            <a:extLst>
              <a:ext uri="{FF2B5EF4-FFF2-40B4-BE49-F238E27FC236}">
                <a16:creationId xmlns:a16="http://schemas.microsoft.com/office/drawing/2014/main" id="{C0DCAE74-1CF8-42AC-9C0E-AE12BCEA6EB6}"/>
              </a:ext>
            </a:extLst>
          </p:cNvPr>
          <p:cNvSpPr/>
          <p:nvPr/>
        </p:nvSpPr>
        <p:spPr>
          <a:xfrm>
            <a:off x="8273155" y="2618990"/>
            <a:ext cx="699525" cy="385011"/>
          </a:xfrm>
          <a:prstGeom prst="rect">
            <a:avLst/>
          </a:prstGeom>
          <a:noFill/>
          <a:ln w="7620" cap="rnd" cmpd="sng" algn="ctr">
            <a:solidFill>
              <a:schemeClr val="tx2"/>
            </a:solidFill>
            <a:prstDash val="dash"/>
            <a:round/>
            <a:headEnd type="none" w="med" len="med"/>
            <a:tailEnd type="none" w="med" len="me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1946" tIns="21946" rIns="21946" bIns="21946" numCol="1" spcCol="0" rtlCol="0" fromWordArt="0" anchor="ctr" anchorCtr="0" forceAA="0" compatLnSpc="1">
            <a:prstTxWarp prst="textNoShape">
              <a:avLst/>
            </a:prstTxWarp>
            <a:noAutofit/>
          </a:bodyPr>
          <a:lstStyle/>
          <a:p>
            <a:pPr algn="ctr"/>
            <a:r>
              <a:rPr lang="es-ES" sz="1200" b="1">
                <a:solidFill>
                  <a:schemeClr val="tx2"/>
                </a:solidFill>
                <a:sym typeface="Trebuchet MS" panose="020B0603020202020204" pitchFamily="34" charset="0"/>
              </a:rPr>
              <a:t>Leads</a:t>
            </a:r>
            <a:endParaRPr lang="es-ES" sz="1200">
              <a:solidFill>
                <a:schemeClr val="tx2"/>
              </a:solidFill>
              <a:sym typeface="Trebuchet MS" panose="020B0603020202020204" pitchFamily="34" charset="0"/>
            </a:endParaRPr>
          </a:p>
        </p:txBody>
      </p:sp>
      <p:sp>
        <p:nvSpPr>
          <p:cNvPr id="56" name="Rectangle 55">
            <a:extLst>
              <a:ext uri="{FF2B5EF4-FFF2-40B4-BE49-F238E27FC236}">
                <a16:creationId xmlns:a16="http://schemas.microsoft.com/office/drawing/2014/main" id="{83A5997F-101D-4688-8094-79830F3457F8}"/>
              </a:ext>
            </a:extLst>
          </p:cNvPr>
          <p:cNvSpPr/>
          <p:nvPr/>
        </p:nvSpPr>
        <p:spPr>
          <a:xfrm>
            <a:off x="9149653" y="5351171"/>
            <a:ext cx="2271929" cy="646650"/>
          </a:xfrm>
          <a:prstGeom prst="rect">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707070"/>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1946" tIns="21946" rIns="21946" bIns="21946" numCol="1" spcCol="0" rtlCol="0" fromWordArt="0" anchor="ctr" anchorCtr="0" forceAA="0" compatLnSpc="1">
            <a:prstTxWarp prst="textNoShape">
              <a:avLst/>
            </a:prstTxWarp>
            <a:noAutofit/>
          </a:bodyPr>
          <a:lstStyle/>
          <a:p>
            <a:pPr algn="ctr">
              <a:lnSpc>
                <a:spcPct val="90000"/>
              </a:lnSpc>
              <a:spcAft>
                <a:spcPts val="600"/>
              </a:spcAft>
            </a:pPr>
            <a:r>
              <a:rPr lang="en-SG" sz="1100" i="1">
                <a:solidFill>
                  <a:schemeClr val="tx1"/>
                </a:solidFill>
                <a:sym typeface="Trebuchet MS" panose="020B0603020202020204" pitchFamily="34" charset="0"/>
              </a:rPr>
              <a:t>Go-to-Market Strategy based on leads identified from other analytical modules</a:t>
            </a:r>
          </a:p>
        </p:txBody>
      </p:sp>
      <p:sp>
        <p:nvSpPr>
          <p:cNvPr id="58" name="Title 1">
            <a:extLst>
              <a:ext uri="{FF2B5EF4-FFF2-40B4-BE49-F238E27FC236}">
                <a16:creationId xmlns:a16="http://schemas.microsoft.com/office/drawing/2014/main" id="{6E1BBD96-758C-4037-B9AE-10F19723F1C9}"/>
              </a:ext>
            </a:extLst>
          </p:cNvPr>
          <p:cNvSpPr>
            <a:spLocks noGrp="1"/>
          </p:cNvSpPr>
          <p:nvPr>
            <p:ph type="title"/>
          </p:nvPr>
        </p:nvSpPr>
        <p:spPr>
          <a:xfrm>
            <a:off x="630000" y="889000"/>
            <a:ext cx="10933200" cy="664797"/>
          </a:xfrm>
        </p:spPr>
        <p:txBody>
          <a:bodyPr>
            <a:spAutoFit/>
          </a:bodyPr>
          <a:lstStyle/>
          <a:p>
            <a:r>
              <a:rPr lang="en-US" sz="2400">
                <a:solidFill>
                  <a:schemeClr val="tx2"/>
                </a:solidFill>
              </a:rPr>
              <a:t>A1</a:t>
            </a:r>
            <a:r>
              <a:rPr lang="en-US" sz="2400"/>
              <a:t>: Identify customers with </a:t>
            </a:r>
            <a:r>
              <a:rPr lang="en-US" sz="2400" u="sng"/>
              <a:t>highest potential </a:t>
            </a:r>
            <a:r>
              <a:rPr lang="en-US" sz="2400"/>
              <a:t>to purchase wealth products </a:t>
            </a:r>
            <a:r>
              <a:rPr lang="en-US">
                <a:latin typeface="Trebuchet MS" panose="020B0603020202020204" pitchFamily="34" charset="0"/>
              </a:rPr>
              <a:t>and </a:t>
            </a:r>
            <a:r>
              <a:rPr lang="en-US" u="sng">
                <a:latin typeface="Trebuchet MS" panose="020B0603020202020204" pitchFamily="34" charset="0"/>
              </a:rPr>
              <a:t>highest affinity </a:t>
            </a:r>
            <a:r>
              <a:rPr lang="en-US">
                <a:latin typeface="Trebuchet MS" panose="020B0603020202020204" pitchFamily="34" charset="0"/>
              </a:rPr>
              <a:t>to become Affluent/HNW</a:t>
            </a:r>
            <a:endParaRPr lang="en-US" sz="1600">
              <a:latin typeface="Trebuchet MS" panose="020B0603020202020204" pitchFamily="34" charset="0"/>
            </a:endParaRPr>
          </a:p>
        </p:txBody>
      </p:sp>
    </p:spTree>
    <p:extLst>
      <p:ext uri="{BB962C8B-B14F-4D97-AF65-F5344CB8AC3E}">
        <p14:creationId xmlns:p14="http://schemas.microsoft.com/office/powerpoint/2010/main" val="145054078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9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5E8FE2F0-E4C5-9014-A682-1269CB1E802E}"/>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1" imgW="404" imgH="405" progId="TCLayout.ActiveDocument.1">
                  <p:embed/>
                </p:oleObj>
              </mc:Choice>
              <mc:Fallback>
                <p:oleObj name="think-cell Slide" r:id="rId11" imgW="404" imgH="405" progId="TCLayout.ActiveDocument.1">
                  <p:embed/>
                  <p:pic>
                    <p:nvPicPr>
                      <p:cNvPr id="3" name="think-cell data - do not delete" hidden="1">
                        <a:extLst>
                          <a:ext uri="{FF2B5EF4-FFF2-40B4-BE49-F238E27FC236}">
                            <a16:creationId xmlns:a16="http://schemas.microsoft.com/office/drawing/2014/main" id="{5E8FE2F0-E4C5-9014-A682-1269CB1E802E}"/>
                          </a:ext>
                        </a:extLst>
                      </p:cNvPr>
                      <p:cNvPicPr/>
                      <p:nvPr/>
                    </p:nvPicPr>
                    <p:blipFill>
                      <a:blip r:embed="rId12"/>
                      <a:stretch>
                        <a:fillRect/>
                      </a:stretch>
                    </p:blipFill>
                    <p:spPr>
                      <a:xfrm>
                        <a:off x="1588" y="1588"/>
                        <a:ext cx="1588" cy="1588"/>
                      </a:xfrm>
                      <a:prstGeom prst="rect">
                        <a:avLst/>
                      </a:prstGeom>
                    </p:spPr>
                  </p:pic>
                </p:oleObj>
              </mc:Fallback>
            </mc:AlternateContent>
          </a:graphicData>
        </a:graphic>
      </p:graphicFrame>
      <p:grpSp>
        <p:nvGrpSpPr>
          <p:cNvPr id="70" name="Group 69">
            <a:extLst>
              <a:ext uri="{FF2B5EF4-FFF2-40B4-BE49-F238E27FC236}">
                <a16:creationId xmlns:a16="http://schemas.microsoft.com/office/drawing/2014/main" id="{13DF3F9F-C049-9D71-2FAD-90098B5A51A0}"/>
              </a:ext>
            </a:extLst>
          </p:cNvPr>
          <p:cNvGrpSpPr/>
          <p:nvPr/>
        </p:nvGrpSpPr>
        <p:grpSpPr>
          <a:xfrm>
            <a:off x="9193041" y="1980584"/>
            <a:ext cx="1448190" cy="1448416"/>
            <a:chOff x="3485040" y="1401140"/>
            <a:chExt cx="1310309" cy="1310513"/>
          </a:xfrm>
          <a:effectLst>
            <a:outerShdw blurRad="76200" dir="13500000" sy="23000" kx="1200000" algn="br" rotWithShape="0">
              <a:prstClr val="black">
                <a:alpha val="20000"/>
              </a:prstClr>
            </a:outerShdw>
          </a:effectLst>
        </p:grpSpPr>
        <p:sp>
          <p:nvSpPr>
            <p:cNvPr id="71" name="Oval 32">
              <a:extLst>
                <a:ext uri="{FF2B5EF4-FFF2-40B4-BE49-F238E27FC236}">
                  <a16:creationId xmlns:a16="http://schemas.microsoft.com/office/drawing/2014/main" id="{FBCD8696-2760-CBF9-0ECF-F17F49D0AA34}"/>
                </a:ext>
              </a:extLst>
            </p:cNvPr>
            <p:cNvSpPr>
              <a:spLocks/>
            </p:cNvSpPr>
            <p:nvPr/>
          </p:nvSpPr>
          <p:spPr bwMode="auto">
            <a:xfrm>
              <a:off x="3485040" y="1401140"/>
              <a:ext cx="1310309" cy="1310513"/>
            </a:xfrm>
            <a:prstGeom prst="ellipse">
              <a:avLst/>
            </a:prstGeom>
            <a:gradFill flip="none" rotWithShape="1">
              <a:gsLst>
                <a:gs pos="85000">
                  <a:schemeClr val="bg1"/>
                </a:gs>
                <a:gs pos="100000">
                  <a:schemeClr val="accent1">
                    <a:lumMod val="25000"/>
                    <a:lumOff val="75000"/>
                  </a:schemeClr>
                </a:gs>
              </a:gsLst>
              <a:path path="shape">
                <a:fillToRect l="50000" t="50000" r="50000" b="50000"/>
              </a:path>
              <a:tileRect/>
            </a:gradFill>
            <a:ln>
              <a:noFill/>
            </a:ln>
            <a:effectLst/>
          </p:spPr>
          <p:txBody>
            <a:bodyPr lIns="50800" tIns="50800" rIns="50800" bIns="5080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3200" b="0" i="0" u="none" strike="noStrike" kern="1200" cap="none" spc="0" normalizeH="0" baseline="0" noProof="0">
                <a:ln>
                  <a:noFill/>
                </a:ln>
                <a:solidFill>
                  <a:srgbClr val="FFFFFF"/>
                </a:solidFill>
                <a:effectLst/>
                <a:uLnTx/>
                <a:uFillTx/>
                <a:latin typeface="Helvetica Light" charset="0"/>
                <a:ea typeface="Microsoft YaHei" panose="020B0503020204020204" pitchFamily="34" charset="-122"/>
                <a:cs typeface="+mn-cs"/>
                <a:sym typeface="Helvetica Light" charset="0"/>
              </a:endParaRPr>
            </a:p>
          </p:txBody>
        </p:sp>
        <p:sp>
          <p:nvSpPr>
            <p:cNvPr id="72" name="Oval 71">
              <a:extLst>
                <a:ext uri="{FF2B5EF4-FFF2-40B4-BE49-F238E27FC236}">
                  <a16:creationId xmlns:a16="http://schemas.microsoft.com/office/drawing/2014/main" id="{0005D76E-016E-E887-81D9-56C1457D4597}"/>
                </a:ext>
              </a:extLst>
            </p:cNvPr>
            <p:cNvSpPr/>
            <p:nvPr/>
          </p:nvSpPr>
          <p:spPr>
            <a:xfrm>
              <a:off x="3609931" y="1526133"/>
              <a:ext cx="1060525" cy="1060525"/>
            </a:xfrm>
            <a:prstGeom prst="ellipse">
              <a:avLst/>
            </a:prstGeom>
            <a:solidFill>
              <a:srgbClr val="FFFFFF">
                <a:alpha val="60000"/>
              </a:srgbClr>
            </a:solidFill>
            <a:ln w="28575">
              <a:gradFill flip="none" rotWithShape="1">
                <a:gsLst>
                  <a:gs pos="0">
                    <a:schemeClr val="tx2"/>
                  </a:gs>
                  <a:gs pos="100000">
                    <a:schemeClr val="accent4"/>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95000"/>
                </a:lnSpc>
                <a:spcBef>
                  <a:spcPts val="0"/>
                </a:spcBef>
                <a:spcAft>
                  <a:spcPts val="0"/>
                </a:spcAft>
                <a:buClrTx/>
                <a:buSzTx/>
                <a:buFontTx/>
                <a:buNone/>
                <a:tabLst/>
                <a:defRPr/>
              </a:pPr>
              <a:endParaRPr kumimoji="0" lang="en-US" sz="1000" b="1" i="1" u="none" strike="noStrike" kern="0" cap="none" spc="0" normalizeH="0" baseline="0" noProof="0">
                <a:ln>
                  <a:noFill/>
                </a:ln>
                <a:solidFill>
                  <a:srgbClr val="575757"/>
                </a:solidFill>
                <a:effectLst/>
                <a:uLnTx/>
                <a:uFillTx/>
                <a:latin typeface="Trebuchet MS" panose="020B0603020202020204" pitchFamily="34" charset="0"/>
                <a:ea typeface="Microsoft YaHei" panose="020B0503020204020204" pitchFamily="34" charset="-122"/>
                <a:cs typeface="+mn-cs"/>
              </a:endParaRPr>
            </a:p>
          </p:txBody>
        </p:sp>
      </p:grpSp>
      <p:grpSp>
        <p:nvGrpSpPr>
          <p:cNvPr id="67" name="Group 66">
            <a:extLst>
              <a:ext uri="{FF2B5EF4-FFF2-40B4-BE49-F238E27FC236}">
                <a16:creationId xmlns:a16="http://schemas.microsoft.com/office/drawing/2014/main" id="{5BF068F5-2AB3-DF0D-5A67-5AF168E51003}"/>
              </a:ext>
            </a:extLst>
          </p:cNvPr>
          <p:cNvGrpSpPr/>
          <p:nvPr/>
        </p:nvGrpSpPr>
        <p:grpSpPr>
          <a:xfrm>
            <a:off x="5584822" y="1980584"/>
            <a:ext cx="1448190" cy="1448416"/>
            <a:chOff x="3485040" y="1401140"/>
            <a:chExt cx="1310309" cy="1310513"/>
          </a:xfrm>
          <a:effectLst>
            <a:outerShdw blurRad="76200" dir="13500000" sy="23000" kx="1200000" algn="br" rotWithShape="0">
              <a:prstClr val="black">
                <a:alpha val="20000"/>
              </a:prstClr>
            </a:outerShdw>
          </a:effectLst>
        </p:grpSpPr>
        <p:sp>
          <p:nvSpPr>
            <p:cNvPr id="68" name="Oval 32">
              <a:extLst>
                <a:ext uri="{FF2B5EF4-FFF2-40B4-BE49-F238E27FC236}">
                  <a16:creationId xmlns:a16="http://schemas.microsoft.com/office/drawing/2014/main" id="{C0F22845-F8C9-6C24-7D86-EF7FC3ACA6A4}"/>
                </a:ext>
              </a:extLst>
            </p:cNvPr>
            <p:cNvSpPr>
              <a:spLocks/>
            </p:cNvSpPr>
            <p:nvPr/>
          </p:nvSpPr>
          <p:spPr bwMode="auto">
            <a:xfrm>
              <a:off x="3485040" y="1401140"/>
              <a:ext cx="1310309" cy="1310513"/>
            </a:xfrm>
            <a:prstGeom prst="ellipse">
              <a:avLst/>
            </a:prstGeom>
            <a:gradFill flip="none" rotWithShape="1">
              <a:gsLst>
                <a:gs pos="85000">
                  <a:schemeClr val="bg1"/>
                </a:gs>
                <a:gs pos="100000">
                  <a:schemeClr val="accent1">
                    <a:lumMod val="25000"/>
                    <a:lumOff val="75000"/>
                  </a:schemeClr>
                </a:gs>
              </a:gsLst>
              <a:path path="shape">
                <a:fillToRect l="50000" t="50000" r="50000" b="50000"/>
              </a:path>
              <a:tileRect/>
            </a:gradFill>
            <a:ln>
              <a:noFill/>
            </a:ln>
            <a:effectLst/>
          </p:spPr>
          <p:txBody>
            <a:bodyPr lIns="50800" tIns="50800" rIns="50800" bIns="5080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3200" b="0" i="0" u="none" strike="noStrike" kern="1200" cap="none" spc="0" normalizeH="0" baseline="0" noProof="0">
                <a:ln>
                  <a:noFill/>
                </a:ln>
                <a:solidFill>
                  <a:srgbClr val="FFFFFF"/>
                </a:solidFill>
                <a:effectLst/>
                <a:uLnTx/>
                <a:uFillTx/>
                <a:latin typeface="Helvetica Light" charset="0"/>
                <a:ea typeface="Microsoft YaHei" panose="020B0503020204020204" pitchFamily="34" charset="-122"/>
                <a:cs typeface="+mn-cs"/>
                <a:sym typeface="Helvetica Light" charset="0"/>
              </a:endParaRPr>
            </a:p>
          </p:txBody>
        </p:sp>
        <p:sp>
          <p:nvSpPr>
            <p:cNvPr id="69" name="Oval 68">
              <a:extLst>
                <a:ext uri="{FF2B5EF4-FFF2-40B4-BE49-F238E27FC236}">
                  <a16:creationId xmlns:a16="http://schemas.microsoft.com/office/drawing/2014/main" id="{2A501477-F426-A82F-22F8-BE559011AF45}"/>
                </a:ext>
              </a:extLst>
            </p:cNvPr>
            <p:cNvSpPr/>
            <p:nvPr/>
          </p:nvSpPr>
          <p:spPr>
            <a:xfrm>
              <a:off x="3609931" y="1526133"/>
              <a:ext cx="1060525" cy="1060525"/>
            </a:xfrm>
            <a:prstGeom prst="ellipse">
              <a:avLst/>
            </a:prstGeom>
            <a:solidFill>
              <a:srgbClr val="FFFFFF">
                <a:alpha val="60000"/>
              </a:srgbClr>
            </a:solidFill>
            <a:ln w="28575">
              <a:gradFill flip="none" rotWithShape="1">
                <a:gsLst>
                  <a:gs pos="0">
                    <a:schemeClr val="tx2"/>
                  </a:gs>
                  <a:gs pos="100000">
                    <a:schemeClr val="accent4"/>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95000"/>
                </a:lnSpc>
                <a:spcBef>
                  <a:spcPts val="0"/>
                </a:spcBef>
                <a:spcAft>
                  <a:spcPts val="0"/>
                </a:spcAft>
                <a:buClrTx/>
                <a:buSzTx/>
                <a:buFontTx/>
                <a:buNone/>
                <a:tabLst/>
                <a:defRPr/>
              </a:pPr>
              <a:endParaRPr kumimoji="0" lang="en-US" sz="1000" b="1" i="1" u="none" strike="noStrike" kern="0" cap="none" spc="0" normalizeH="0" baseline="0" noProof="0">
                <a:ln>
                  <a:noFill/>
                </a:ln>
                <a:solidFill>
                  <a:srgbClr val="575757"/>
                </a:solidFill>
                <a:effectLst/>
                <a:uLnTx/>
                <a:uFillTx/>
                <a:latin typeface="Trebuchet MS" panose="020B0603020202020204" pitchFamily="34" charset="0"/>
                <a:ea typeface="Microsoft YaHei" panose="020B0503020204020204" pitchFamily="34" charset="-122"/>
                <a:cs typeface="+mn-cs"/>
              </a:endParaRPr>
            </a:p>
          </p:txBody>
        </p:sp>
      </p:grpSp>
      <p:sp>
        <p:nvSpPr>
          <p:cNvPr id="2" name="Title 1">
            <a:extLst>
              <a:ext uri="{FF2B5EF4-FFF2-40B4-BE49-F238E27FC236}">
                <a16:creationId xmlns:a16="http://schemas.microsoft.com/office/drawing/2014/main" id="{C5E5F763-7D4D-DA92-359E-6EF658C645FA}"/>
              </a:ext>
            </a:extLst>
          </p:cNvPr>
          <p:cNvSpPr>
            <a:spLocks noGrp="1"/>
          </p:cNvSpPr>
          <p:nvPr>
            <p:ph type="title"/>
          </p:nvPr>
        </p:nvSpPr>
        <p:spPr>
          <a:xfrm>
            <a:off x="630000" y="622800"/>
            <a:ext cx="10933350" cy="664797"/>
          </a:xfrm>
        </p:spPr>
        <p:txBody>
          <a:bodyPr vert="horz"/>
          <a:lstStyle/>
          <a:p>
            <a:r>
              <a:rPr lang="zh-TW" altLang="en-US">
                <a:ea typeface="Microsoft YaHei" panose="020B0503020204020204" pitchFamily="34" charset="-122"/>
              </a:rPr>
              <a:t>雖然凱基目前既有預測模型可篩選潜力Ｍ升Ａ客名單，但仍有精進空間，包含擴大模型範圍、考量動態變數及做出最佳下一步産品建議</a:t>
            </a:r>
            <a:endParaRPr lang="en-US">
              <a:ea typeface="Microsoft YaHei" panose="020B0503020204020204" pitchFamily="34" charset="-122"/>
            </a:endParaRPr>
          </a:p>
        </p:txBody>
      </p:sp>
      <p:grpSp>
        <p:nvGrpSpPr>
          <p:cNvPr id="39" name="Group 38">
            <a:extLst>
              <a:ext uri="{FF2B5EF4-FFF2-40B4-BE49-F238E27FC236}">
                <a16:creationId xmlns:a16="http://schemas.microsoft.com/office/drawing/2014/main" id="{24C1FFDC-BC7E-78CC-D054-F73E1AE6EB17}"/>
              </a:ext>
            </a:extLst>
          </p:cNvPr>
          <p:cNvGrpSpPr/>
          <p:nvPr/>
        </p:nvGrpSpPr>
        <p:grpSpPr>
          <a:xfrm>
            <a:off x="1969280" y="1980584"/>
            <a:ext cx="1448190" cy="1448416"/>
            <a:chOff x="3485040" y="1401140"/>
            <a:chExt cx="1310309" cy="1310513"/>
          </a:xfrm>
          <a:effectLst>
            <a:outerShdw blurRad="76200" dir="13500000" sy="23000" kx="1200000" algn="br" rotWithShape="0">
              <a:prstClr val="black">
                <a:alpha val="20000"/>
              </a:prstClr>
            </a:outerShdw>
          </a:effectLst>
        </p:grpSpPr>
        <p:sp>
          <p:nvSpPr>
            <p:cNvPr id="40" name="Oval 32">
              <a:extLst>
                <a:ext uri="{FF2B5EF4-FFF2-40B4-BE49-F238E27FC236}">
                  <a16:creationId xmlns:a16="http://schemas.microsoft.com/office/drawing/2014/main" id="{CB4A3FA2-45C3-F592-9F0F-B7F4AC6CE92D}"/>
                </a:ext>
              </a:extLst>
            </p:cNvPr>
            <p:cNvSpPr>
              <a:spLocks/>
            </p:cNvSpPr>
            <p:nvPr/>
          </p:nvSpPr>
          <p:spPr bwMode="auto">
            <a:xfrm>
              <a:off x="3485040" y="1401140"/>
              <a:ext cx="1310309" cy="1310513"/>
            </a:xfrm>
            <a:prstGeom prst="ellipse">
              <a:avLst/>
            </a:prstGeom>
            <a:gradFill flip="none" rotWithShape="1">
              <a:gsLst>
                <a:gs pos="85000">
                  <a:schemeClr val="bg1"/>
                </a:gs>
                <a:gs pos="100000">
                  <a:schemeClr val="accent1">
                    <a:lumMod val="25000"/>
                    <a:lumOff val="75000"/>
                  </a:schemeClr>
                </a:gs>
              </a:gsLst>
              <a:path path="shape">
                <a:fillToRect l="50000" t="50000" r="50000" b="50000"/>
              </a:path>
              <a:tileRect/>
            </a:gradFill>
            <a:ln>
              <a:noFill/>
            </a:ln>
            <a:effectLst/>
          </p:spPr>
          <p:txBody>
            <a:bodyPr lIns="50800" tIns="50800" rIns="50800" bIns="5080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3200" b="0" i="0" u="none" strike="noStrike" kern="1200" cap="none" spc="0" normalizeH="0" baseline="0" noProof="0">
                <a:ln>
                  <a:noFill/>
                </a:ln>
                <a:solidFill>
                  <a:srgbClr val="FFFFFF"/>
                </a:solidFill>
                <a:effectLst/>
                <a:uLnTx/>
                <a:uFillTx/>
                <a:latin typeface="Helvetica Light" charset="0"/>
                <a:ea typeface="Microsoft YaHei" panose="020B0503020204020204" pitchFamily="34" charset="-122"/>
                <a:cs typeface="+mn-cs"/>
                <a:sym typeface="Helvetica Light" charset="0"/>
              </a:endParaRPr>
            </a:p>
          </p:txBody>
        </p:sp>
        <p:sp>
          <p:nvSpPr>
            <p:cNvPr id="41" name="Oval 40">
              <a:extLst>
                <a:ext uri="{FF2B5EF4-FFF2-40B4-BE49-F238E27FC236}">
                  <a16:creationId xmlns:a16="http://schemas.microsoft.com/office/drawing/2014/main" id="{2B1E9408-B7B6-D9A0-3A90-96743E51641B}"/>
                </a:ext>
              </a:extLst>
            </p:cNvPr>
            <p:cNvSpPr/>
            <p:nvPr/>
          </p:nvSpPr>
          <p:spPr>
            <a:xfrm>
              <a:off x="3609931" y="1526133"/>
              <a:ext cx="1060525" cy="1060525"/>
            </a:xfrm>
            <a:prstGeom prst="ellipse">
              <a:avLst/>
            </a:prstGeom>
            <a:solidFill>
              <a:srgbClr val="FFFFFF">
                <a:alpha val="60000"/>
              </a:srgbClr>
            </a:solidFill>
            <a:ln w="28575">
              <a:gradFill flip="none" rotWithShape="1">
                <a:gsLst>
                  <a:gs pos="0">
                    <a:schemeClr val="tx2"/>
                  </a:gs>
                  <a:gs pos="100000">
                    <a:schemeClr val="accent4"/>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95000"/>
                </a:lnSpc>
                <a:spcBef>
                  <a:spcPts val="0"/>
                </a:spcBef>
                <a:spcAft>
                  <a:spcPts val="0"/>
                </a:spcAft>
                <a:buClrTx/>
                <a:buSzTx/>
                <a:buFontTx/>
                <a:buNone/>
                <a:tabLst/>
                <a:defRPr/>
              </a:pPr>
              <a:endParaRPr kumimoji="0" lang="en-US" sz="1000" b="1" i="1" u="none" strike="noStrike" kern="0" cap="none" spc="0" normalizeH="0" baseline="0" noProof="0">
                <a:ln>
                  <a:noFill/>
                </a:ln>
                <a:solidFill>
                  <a:srgbClr val="575757"/>
                </a:solidFill>
                <a:effectLst/>
                <a:uLnTx/>
                <a:uFillTx/>
                <a:latin typeface="Trebuchet MS" panose="020B0603020202020204" pitchFamily="34" charset="0"/>
                <a:ea typeface="Microsoft YaHei" panose="020B0503020204020204" pitchFamily="34" charset="-122"/>
                <a:cs typeface="+mn-cs"/>
              </a:endParaRPr>
            </a:p>
          </p:txBody>
        </p:sp>
      </p:grpSp>
      <p:sp>
        <p:nvSpPr>
          <p:cNvPr id="42" name="Rectangle 41">
            <a:extLst>
              <a:ext uri="{FF2B5EF4-FFF2-40B4-BE49-F238E27FC236}">
                <a16:creationId xmlns:a16="http://schemas.microsoft.com/office/drawing/2014/main" id="{FD00D6A2-50BA-3AF5-B002-E48069003DBD}"/>
              </a:ext>
            </a:extLst>
          </p:cNvPr>
          <p:cNvSpPr/>
          <p:nvPr/>
        </p:nvSpPr>
        <p:spPr>
          <a:xfrm>
            <a:off x="1222126" y="3923622"/>
            <a:ext cx="3086689" cy="804863"/>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349200">
              <a:buClr>
                <a:schemeClr val="tx2"/>
              </a:buClr>
            </a:pPr>
            <a:r>
              <a:rPr lang="zh-TW" altLang="en-US" sz="1600">
                <a:solidFill>
                  <a:srgbClr val="29BA74"/>
                </a:solidFill>
                <a:latin typeface="Trebuchet MS" panose="020B0603020202020204" pitchFamily="34" charset="0"/>
                <a:ea typeface="Microsoft YaHei" panose="020B0503020204020204" pitchFamily="34" charset="-122"/>
              </a:rPr>
              <a:t>模型覆蓋客戶較局限，</a:t>
            </a:r>
            <a:r>
              <a:rPr lang="en-US" altLang="zh-TW" sz="1600">
                <a:solidFill>
                  <a:srgbClr val="29BA74"/>
                </a:solidFill>
                <a:latin typeface="Trebuchet MS" panose="020B0603020202020204" pitchFamily="34" charset="0"/>
                <a:ea typeface="Microsoft YaHei" panose="020B0503020204020204" pitchFamily="34" charset="-122"/>
              </a:rPr>
              <a:t>&lt;2%</a:t>
            </a:r>
            <a:r>
              <a:rPr lang="zh-TW" altLang="en-US" sz="1600">
                <a:solidFill>
                  <a:srgbClr val="29BA74"/>
                </a:solidFill>
                <a:latin typeface="Trebuchet MS" panose="020B0603020202020204" pitchFamily="34" charset="0"/>
                <a:ea typeface="Microsoft YaHei" panose="020B0503020204020204" pitchFamily="34" charset="-122"/>
              </a:rPr>
              <a:t>客戶被包含在模型</a:t>
            </a:r>
            <a:r>
              <a:rPr lang="zh-TW" altLang="en-US" sz="1600">
                <a:solidFill>
                  <a:srgbClr val="575757"/>
                </a:solidFill>
                <a:latin typeface="Trebuchet MS" panose="020B0603020202020204" pitchFamily="34" charset="0"/>
                <a:ea typeface="Microsoft YaHei" panose="020B0503020204020204" pitchFamily="34" charset="-122"/>
              </a:rPr>
              <a:t>內，仍有規模化滲透空間</a:t>
            </a:r>
            <a:endParaRPr lang="en-US" altLang="zh-TW" sz="1600">
              <a:solidFill>
                <a:srgbClr val="575757"/>
              </a:solidFill>
              <a:latin typeface="Trebuchet MS" panose="020B0603020202020204" pitchFamily="34" charset="0"/>
              <a:ea typeface="Microsoft YaHei" panose="020B0503020204020204" pitchFamily="34" charset="-122"/>
            </a:endParaRPr>
          </a:p>
        </p:txBody>
      </p:sp>
      <p:sp>
        <p:nvSpPr>
          <p:cNvPr id="43" name="Rectangle 42">
            <a:extLst>
              <a:ext uri="{FF2B5EF4-FFF2-40B4-BE49-F238E27FC236}">
                <a16:creationId xmlns:a16="http://schemas.microsoft.com/office/drawing/2014/main" id="{DB5F0E75-7373-36D3-1A5A-E3BC7670958D}"/>
              </a:ext>
            </a:extLst>
          </p:cNvPr>
          <p:cNvSpPr/>
          <p:nvPr/>
        </p:nvSpPr>
        <p:spPr>
          <a:xfrm>
            <a:off x="4765573" y="3923622"/>
            <a:ext cx="3086689" cy="804863"/>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349200">
              <a:buClr>
                <a:schemeClr val="tx2"/>
              </a:buClr>
            </a:pPr>
            <a:r>
              <a:rPr lang="zh-TW" altLang="en-US" sz="1600">
                <a:solidFill>
                  <a:srgbClr val="29BA74"/>
                </a:solidFill>
                <a:latin typeface="Trebuchet MS" panose="020B0603020202020204" pitchFamily="34" charset="0"/>
                <a:ea typeface="Microsoft YaHei" panose="020B0503020204020204" pitchFamily="34" charset="-122"/>
              </a:rPr>
              <a:t>僅采用銀行內部數據做爲模型基礎</a:t>
            </a:r>
            <a:r>
              <a:rPr lang="zh-TW" altLang="en-US" sz="1600">
                <a:solidFill>
                  <a:srgbClr val="575757"/>
                </a:solidFill>
                <a:latin typeface="Trebuchet MS" panose="020B0603020202020204" pitchFamily="34" charset="0"/>
                <a:ea typeface="Microsoft YaHei" panose="020B0503020204020204" pitchFamily="34" charset="-122"/>
              </a:rPr>
              <a:t>，尚未採納外部數據包含數位足跡、消費等資訊</a:t>
            </a:r>
            <a:endParaRPr lang="en-US" altLang="zh-TW" sz="1600">
              <a:solidFill>
                <a:srgbClr val="575757"/>
              </a:solidFill>
              <a:latin typeface="Trebuchet MS" panose="020B0603020202020204" pitchFamily="34" charset="0"/>
              <a:ea typeface="Microsoft YaHei" panose="020B0503020204020204" pitchFamily="34" charset="-122"/>
            </a:endParaRPr>
          </a:p>
        </p:txBody>
      </p:sp>
      <p:sp>
        <p:nvSpPr>
          <p:cNvPr id="44" name="Rectangle 43">
            <a:extLst>
              <a:ext uri="{FF2B5EF4-FFF2-40B4-BE49-F238E27FC236}">
                <a16:creationId xmlns:a16="http://schemas.microsoft.com/office/drawing/2014/main" id="{6869B969-AB18-406C-8CCC-FE9632FE10B5}"/>
              </a:ext>
            </a:extLst>
          </p:cNvPr>
          <p:cNvSpPr/>
          <p:nvPr/>
        </p:nvSpPr>
        <p:spPr>
          <a:xfrm>
            <a:off x="8373791" y="3923622"/>
            <a:ext cx="3086689" cy="804863"/>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349200">
              <a:buClr>
                <a:schemeClr val="tx2"/>
              </a:buClr>
            </a:pPr>
            <a:r>
              <a:rPr lang="zh-TW" altLang="en-US" sz="1600">
                <a:solidFill>
                  <a:srgbClr val="29BA74"/>
                </a:solidFill>
                <a:latin typeface="Trebuchet MS" panose="020B0603020202020204" pitchFamily="34" charset="0"/>
                <a:ea typeface="Microsoft YaHei" panose="020B0503020204020204" pitchFamily="34" charset="-122"/>
              </a:rPr>
              <a:t>目前模型主要功能爲識別潜在</a:t>
            </a:r>
            <a:r>
              <a:rPr lang="en-US" altLang="zh-TW" sz="1600">
                <a:solidFill>
                  <a:srgbClr val="29BA74"/>
                </a:solidFill>
                <a:latin typeface="Trebuchet MS" panose="020B0603020202020204" pitchFamily="34" charset="0"/>
                <a:ea typeface="Microsoft YaHei" panose="020B0503020204020204" pitchFamily="34" charset="-122"/>
              </a:rPr>
              <a:t>M</a:t>
            </a:r>
            <a:r>
              <a:rPr lang="zh-TW" altLang="en-US" sz="1600">
                <a:solidFill>
                  <a:srgbClr val="29BA74"/>
                </a:solidFill>
                <a:latin typeface="Trebuchet MS" panose="020B0603020202020204" pitchFamily="34" charset="0"/>
                <a:ea typeface="Microsoft YaHei" panose="020B0503020204020204" pitchFamily="34" charset="-122"/>
              </a:rPr>
              <a:t>升</a:t>
            </a:r>
            <a:r>
              <a:rPr lang="en-US" altLang="zh-TW" sz="1600">
                <a:solidFill>
                  <a:srgbClr val="29BA74"/>
                </a:solidFill>
                <a:latin typeface="Trebuchet MS" panose="020B0603020202020204" pitchFamily="34" charset="0"/>
                <a:ea typeface="Microsoft YaHei" panose="020B0503020204020204" pitchFamily="34" charset="-122"/>
              </a:rPr>
              <a:t>A</a:t>
            </a:r>
            <a:r>
              <a:rPr lang="zh-TW" altLang="en-US" sz="1600">
                <a:solidFill>
                  <a:srgbClr val="29BA74"/>
                </a:solidFill>
                <a:latin typeface="Trebuchet MS" panose="020B0603020202020204" pitchFamily="34" charset="0"/>
                <a:ea typeface="Microsoft YaHei" panose="020B0503020204020204" pitchFamily="34" charset="-122"/>
              </a:rPr>
              <a:t>名單</a:t>
            </a:r>
            <a:r>
              <a:rPr lang="zh-TW" altLang="en-US" sz="1600">
                <a:solidFill>
                  <a:srgbClr val="575757"/>
                </a:solidFill>
                <a:latin typeface="Trebuchet MS" panose="020B0603020202020204" pitchFamily="34" charset="0"/>
                <a:ea typeface="Microsoft YaHei" panose="020B0503020204020204" pitchFamily="34" charset="-122"/>
              </a:rPr>
              <a:t>，尚未針對最佳產品</a:t>
            </a:r>
            <a:r>
              <a:rPr lang="en-US" altLang="zh-TW" sz="1600">
                <a:solidFill>
                  <a:srgbClr val="575757"/>
                </a:solidFill>
                <a:latin typeface="Trebuchet MS" panose="020B0603020202020204" pitchFamily="34" charset="0"/>
                <a:ea typeface="Microsoft YaHei" panose="020B0503020204020204" pitchFamily="34" charset="-122"/>
              </a:rPr>
              <a:t>(Next-best product)</a:t>
            </a:r>
            <a:r>
              <a:rPr lang="zh-TW" altLang="en-US" sz="1600">
                <a:solidFill>
                  <a:srgbClr val="575757"/>
                </a:solidFill>
                <a:latin typeface="Trebuchet MS" panose="020B0603020202020204" pitchFamily="34" charset="0"/>
                <a:ea typeface="Microsoft YaHei" panose="020B0503020204020204" pitchFamily="34" charset="-122"/>
              </a:rPr>
              <a:t>提供建議</a:t>
            </a:r>
            <a:endParaRPr lang="en-US" altLang="zh-TW" sz="1600">
              <a:solidFill>
                <a:srgbClr val="575757"/>
              </a:solidFill>
              <a:latin typeface="Trebuchet MS" panose="020B0603020202020204" pitchFamily="34" charset="0"/>
              <a:ea typeface="Microsoft YaHei" panose="020B0503020204020204" pitchFamily="34" charset="-122"/>
            </a:endParaRPr>
          </a:p>
        </p:txBody>
      </p:sp>
      <p:sp>
        <p:nvSpPr>
          <p:cNvPr id="45" name="Rectangle 44">
            <a:extLst>
              <a:ext uri="{FF2B5EF4-FFF2-40B4-BE49-F238E27FC236}">
                <a16:creationId xmlns:a16="http://schemas.microsoft.com/office/drawing/2014/main" id="{C0AC5C61-2BB3-A933-5B9E-21745C931BA3}"/>
              </a:ext>
            </a:extLst>
          </p:cNvPr>
          <p:cNvSpPr/>
          <p:nvPr/>
        </p:nvSpPr>
        <p:spPr>
          <a:xfrm>
            <a:off x="1222126" y="5239280"/>
            <a:ext cx="3086689" cy="804863"/>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349200">
              <a:buClr>
                <a:schemeClr val="tx2"/>
              </a:buClr>
            </a:pPr>
            <a:r>
              <a:rPr lang="zh-TW" altLang="en-US" sz="1600">
                <a:solidFill>
                  <a:srgbClr val="575757"/>
                </a:solidFill>
                <a:latin typeface="Trebuchet MS" panose="020B0603020202020204" pitchFamily="34" charset="0"/>
                <a:ea typeface="Microsoft YaHei" panose="020B0503020204020204" pitchFamily="34" charset="-122"/>
              </a:rPr>
              <a:t>將</a:t>
            </a:r>
            <a:r>
              <a:rPr lang="zh-TW" altLang="en-US" sz="1600">
                <a:solidFill>
                  <a:srgbClr val="29BA74"/>
                </a:solidFill>
                <a:latin typeface="Trebuchet MS" panose="020B0603020202020204" pitchFamily="34" charset="0"/>
                <a:ea typeface="Microsoft YaHei" panose="020B0503020204020204" pitchFamily="34" charset="-122"/>
              </a:rPr>
              <a:t>模型拓展至全體</a:t>
            </a:r>
            <a:r>
              <a:rPr lang="en-US" altLang="zh-TW" sz="1600">
                <a:solidFill>
                  <a:srgbClr val="29BA74"/>
                </a:solidFill>
                <a:latin typeface="Trebuchet MS" panose="020B0603020202020204" pitchFamily="34" charset="0"/>
                <a:ea typeface="Microsoft YaHei" panose="020B0503020204020204" pitchFamily="34" charset="-122"/>
              </a:rPr>
              <a:t>M</a:t>
            </a:r>
            <a:r>
              <a:rPr lang="zh-TW" altLang="en-US" sz="1600">
                <a:solidFill>
                  <a:srgbClr val="29BA74"/>
                </a:solidFill>
                <a:latin typeface="Trebuchet MS" panose="020B0603020202020204" pitchFamily="34" charset="0"/>
                <a:ea typeface="Microsoft YaHei" panose="020B0503020204020204" pitchFamily="34" charset="-122"/>
              </a:rPr>
              <a:t>客</a:t>
            </a:r>
            <a:r>
              <a:rPr lang="zh-TW" altLang="en-US" sz="1600">
                <a:solidFill>
                  <a:srgbClr val="575757"/>
                </a:solidFill>
                <a:latin typeface="Trebuchet MS" panose="020B0603020202020204" pitchFamily="34" charset="0"/>
                <a:ea typeface="Microsoft YaHei" panose="020B0503020204020204" pitchFamily="34" charset="-122"/>
              </a:rPr>
              <a:t>，有效利用模型優勢帶動整體</a:t>
            </a:r>
            <a:r>
              <a:rPr lang="en-US" altLang="zh-TW" sz="1600">
                <a:solidFill>
                  <a:srgbClr val="575757"/>
                </a:solidFill>
                <a:latin typeface="Trebuchet MS" panose="020B0603020202020204" pitchFamily="34" charset="0"/>
                <a:ea typeface="Microsoft YaHei" panose="020B0503020204020204" pitchFamily="34" charset="-122"/>
              </a:rPr>
              <a:t>M</a:t>
            </a:r>
            <a:r>
              <a:rPr lang="zh-TW" altLang="en-US" sz="1600">
                <a:solidFill>
                  <a:srgbClr val="575757"/>
                </a:solidFill>
                <a:latin typeface="Trebuchet MS" panose="020B0603020202020204" pitchFamily="34" charset="0"/>
                <a:ea typeface="Microsoft YaHei" panose="020B0503020204020204" pitchFamily="34" charset="-122"/>
              </a:rPr>
              <a:t>客滲透</a:t>
            </a:r>
            <a:endParaRPr lang="en-US" altLang="zh-TW" sz="1600">
              <a:solidFill>
                <a:srgbClr val="575757"/>
              </a:solidFill>
              <a:latin typeface="Trebuchet MS" panose="020B0603020202020204" pitchFamily="34" charset="0"/>
              <a:ea typeface="Microsoft YaHei" panose="020B0503020204020204" pitchFamily="34" charset="-122"/>
            </a:endParaRPr>
          </a:p>
        </p:txBody>
      </p:sp>
      <p:sp>
        <p:nvSpPr>
          <p:cNvPr id="46" name="Rectangle 45">
            <a:extLst>
              <a:ext uri="{FF2B5EF4-FFF2-40B4-BE49-F238E27FC236}">
                <a16:creationId xmlns:a16="http://schemas.microsoft.com/office/drawing/2014/main" id="{B8A12EC8-DCD7-7A3B-9338-8F05FF354E32}"/>
              </a:ext>
            </a:extLst>
          </p:cNvPr>
          <p:cNvSpPr/>
          <p:nvPr/>
        </p:nvSpPr>
        <p:spPr>
          <a:xfrm>
            <a:off x="4765573" y="5239280"/>
            <a:ext cx="3151459" cy="804863"/>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349200">
              <a:buClr>
                <a:schemeClr val="tx2"/>
              </a:buClr>
            </a:pPr>
            <a:r>
              <a:rPr lang="zh-TW" altLang="en-US" sz="1600">
                <a:solidFill>
                  <a:srgbClr val="29BA74"/>
                </a:solidFill>
                <a:latin typeface="Trebuchet MS" panose="020B0603020202020204" pitchFamily="34" charset="0"/>
                <a:ea typeface="Microsoft YaHei" panose="020B0503020204020204" pitchFamily="34" charset="-122"/>
              </a:rPr>
              <a:t>選擇策略夥伴</a:t>
            </a:r>
            <a:r>
              <a:rPr lang="zh-TW" altLang="en-US" sz="1600">
                <a:solidFill>
                  <a:srgbClr val="575757"/>
                </a:solidFill>
                <a:latin typeface="Trebuchet MS" panose="020B0603020202020204" pitchFamily="34" charset="0"/>
                <a:ea typeface="Microsoft YaHei" panose="020B0503020204020204" pitchFamily="34" charset="-122"/>
              </a:rPr>
              <a:t>豐富模型數據基礎，提升模型準確率與建議深度</a:t>
            </a:r>
            <a:endParaRPr lang="en-US" altLang="zh-TW" sz="1600">
              <a:solidFill>
                <a:srgbClr val="575757"/>
              </a:solidFill>
              <a:latin typeface="Trebuchet MS" panose="020B0603020202020204" pitchFamily="34" charset="0"/>
              <a:ea typeface="Microsoft YaHei" panose="020B0503020204020204" pitchFamily="34" charset="-122"/>
            </a:endParaRPr>
          </a:p>
        </p:txBody>
      </p:sp>
      <p:sp>
        <p:nvSpPr>
          <p:cNvPr id="47" name="Rectangle 46">
            <a:extLst>
              <a:ext uri="{FF2B5EF4-FFF2-40B4-BE49-F238E27FC236}">
                <a16:creationId xmlns:a16="http://schemas.microsoft.com/office/drawing/2014/main" id="{C02D0E3E-B811-C2A8-DDFF-4C23EFBFFA37}"/>
              </a:ext>
            </a:extLst>
          </p:cNvPr>
          <p:cNvSpPr/>
          <p:nvPr/>
        </p:nvSpPr>
        <p:spPr>
          <a:xfrm>
            <a:off x="8373791" y="5239280"/>
            <a:ext cx="3086689" cy="804863"/>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349200">
              <a:buClr>
                <a:schemeClr val="tx2"/>
              </a:buClr>
            </a:pPr>
            <a:r>
              <a:rPr lang="zh-TW" altLang="en-US" sz="1600">
                <a:solidFill>
                  <a:srgbClr val="575757"/>
                </a:solidFill>
                <a:latin typeface="Trebuchet MS" panose="020B0603020202020204" pitchFamily="34" charset="0"/>
                <a:ea typeface="Microsoft YaHei" panose="020B0503020204020204" pitchFamily="34" charset="-122"/>
              </a:rPr>
              <a:t>透過分析不同產品路徑，</a:t>
            </a:r>
            <a:r>
              <a:rPr lang="zh-TW" altLang="en-US" sz="1600">
                <a:solidFill>
                  <a:srgbClr val="29BA74"/>
                </a:solidFill>
                <a:latin typeface="Trebuchet MS" panose="020B0603020202020204" pitchFamily="34" charset="0"/>
                <a:ea typeface="Microsoft YaHei" panose="020B0503020204020204" pitchFamily="34" charset="-122"/>
              </a:rPr>
              <a:t>識別客戶路徑</a:t>
            </a:r>
            <a:r>
              <a:rPr lang="en-US" altLang="zh-TW" sz="1600">
                <a:solidFill>
                  <a:srgbClr val="29BA74"/>
                </a:solidFill>
                <a:latin typeface="Trebuchet MS" panose="020B0603020202020204" pitchFamily="34" charset="0"/>
                <a:ea typeface="Microsoft YaHei" panose="020B0503020204020204" pitchFamily="34" charset="-122"/>
              </a:rPr>
              <a:t>(Customer pathway)</a:t>
            </a:r>
            <a:r>
              <a:rPr lang="zh-TW" altLang="en-US" sz="1600">
                <a:solidFill>
                  <a:srgbClr val="575757"/>
                </a:solidFill>
                <a:latin typeface="Trebuchet MS" panose="020B0603020202020204" pitchFamily="34" charset="0"/>
                <a:ea typeface="Microsoft YaHei" panose="020B0503020204020204" pitchFamily="34" charset="-122"/>
              </a:rPr>
              <a:t>以產生</a:t>
            </a:r>
            <a:r>
              <a:rPr lang="zh-TW" altLang="en-US" sz="1600">
                <a:solidFill>
                  <a:srgbClr val="29BA74"/>
                </a:solidFill>
                <a:latin typeface="Trebuchet MS" panose="020B0603020202020204" pitchFamily="34" charset="0"/>
                <a:ea typeface="Microsoft YaHei" panose="020B0503020204020204" pitchFamily="34" charset="-122"/>
              </a:rPr>
              <a:t>最佳產品建議</a:t>
            </a:r>
            <a:endParaRPr lang="en-US" altLang="zh-TW" sz="1600">
              <a:solidFill>
                <a:srgbClr val="29BA74"/>
              </a:solidFill>
              <a:latin typeface="Trebuchet MS" panose="020B0603020202020204" pitchFamily="34" charset="0"/>
              <a:ea typeface="Microsoft YaHei" panose="020B0503020204020204" pitchFamily="34" charset="-122"/>
            </a:endParaRPr>
          </a:p>
        </p:txBody>
      </p:sp>
      <p:sp>
        <p:nvSpPr>
          <p:cNvPr id="48" name="Rectangle 47">
            <a:extLst>
              <a:ext uri="{FF2B5EF4-FFF2-40B4-BE49-F238E27FC236}">
                <a16:creationId xmlns:a16="http://schemas.microsoft.com/office/drawing/2014/main" id="{8DE9D45D-AF85-3767-8AFC-FEAF73E4BCED}"/>
              </a:ext>
            </a:extLst>
          </p:cNvPr>
          <p:cNvSpPr/>
          <p:nvPr/>
        </p:nvSpPr>
        <p:spPr>
          <a:xfrm>
            <a:off x="476250" y="3923623"/>
            <a:ext cx="815340" cy="804863"/>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108000" lvl="1">
              <a:buClr>
                <a:schemeClr val="tx2"/>
              </a:buClr>
            </a:pPr>
            <a:r>
              <a:rPr lang="zh-TW" altLang="en-US" sz="1600" b="1">
                <a:solidFill>
                  <a:srgbClr val="03522D"/>
                </a:solidFill>
                <a:latin typeface="Trebuchet MS" panose="020B0603020202020204" pitchFamily="34" charset="0"/>
                <a:ea typeface="Microsoft YaHei" panose="020B0503020204020204" pitchFamily="34" charset="-122"/>
              </a:rPr>
              <a:t>現況挑戰</a:t>
            </a:r>
            <a:endParaRPr lang="en-US" altLang="zh-TW" sz="1600" b="1">
              <a:solidFill>
                <a:srgbClr val="03522D"/>
              </a:solidFill>
              <a:latin typeface="Trebuchet MS" panose="020B0603020202020204" pitchFamily="34" charset="0"/>
              <a:ea typeface="Microsoft YaHei" panose="020B0503020204020204" pitchFamily="34" charset="-122"/>
            </a:endParaRPr>
          </a:p>
        </p:txBody>
      </p:sp>
      <p:sp>
        <p:nvSpPr>
          <p:cNvPr id="49" name="Rectangle 48">
            <a:extLst>
              <a:ext uri="{FF2B5EF4-FFF2-40B4-BE49-F238E27FC236}">
                <a16:creationId xmlns:a16="http://schemas.microsoft.com/office/drawing/2014/main" id="{BC87DA91-FFCE-3DE0-3664-D2EEE6B24BCF}"/>
              </a:ext>
            </a:extLst>
          </p:cNvPr>
          <p:cNvSpPr/>
          <p:nvPr/>
        </p:nvSpPr>
        <p:spPr>
          <a:xfrm>
            <a:off x="476250" y="5239281"/>
            <a:ext cx="815340" cy="804863"/>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108000" lvl="1">
              <a:buClr>
                <a:schemeClr val="tx2"/>
              </a:buClr>
            </a:pPr>
            <a:r>
              <a:rPr lang="zh-TW" altLang="en-US" sz="1600" b="1">
                <a:solidFill>
                  <a:srgbClr val="03522D"/>
                </a:solidFill>
                <a:latin typeface="Trebuchet MS" panose="020B0603020202020204" pitchFamily="34" charset="0"/>
                <a:ea typeface="Microsoft YaHei" panose="020B0503020204020204" pitchFamily="34" charset="-122"/>
              </a:rPr>
              <a:t>初步建議</a:t>
            </a:r>
            <a:endParaRPr lang="en-US" altLang="zh-TW" sz="1600" b="1">
              <a:solidFill>
                <a:srgbClr val="03522D"/>
              </a:solidFill>
              <a:latin typeface="Trebuchet MS" panose="020B0603020202020204" pitchFamily="34" charset="0"/>
              <a:ea typeface="Microsoft YaHei" panose="020B0503020204020204" pitchFamily="34" charset="-122"/>
            </a:endParaRPr>
          </a:p>
        </p:txBody>
      </p:sp>
      <p:cxnSp>
        <p:nvCxnSpPr>
          <p:cNvPr id="51" name="Straight Connector 50">
            <a:extLst>
              <a:ext uri="{FF2B5EF4-FFF2-40B4-BE49-F238E27FC236}">
                <a16:creationId xmlns:a16="http://schemas.microsoft.com/office/drawing/2014/main" id="{630B84AD-A833-D549-60DC-F5249306424D}"/>
              </a:ext>
            </a:extLst>
          </p:cNvPr>
          <p:cNvCxnSpPr/>
          <p:nvPr/>
        </p:nvCxnSpPr>
        <p:spPr>
          <a:xfrm>
            <a:off x="1222126" y="3891375"/>
            <a:ext cx="0" cy="869358"/>
          </a:xfrm>
          <a:prstGeom prst="line">
            <a:avLst/>
          </a:prstGeom>
          <a:ln w="9525" cap="rnd">
            <a:solidFill>
              <a:schemeClr val="accent1"/>
            </a:solidFill>
            <a:prstDash val="solid"/>
            <a:round/>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165BBD50-2B56-F694-3E51-F949BB8EB2FF}"/>
              </a:ext>
            </a:extLst>
          </p:cNvPr>
          <p:cNvCxnSpPr/>
          <p:nvPr/>
        </p:nvCxnSpPr>
        <p:spPr>
          <a:xfrm>
            <a:off x="1222126" y="5207032"/>
            <a:ext cx="0" cy="869358"/>
          </a:xfrm>
          <a:prstGeom prst="line">
            <a:avLst/>
          </a:prstGeom>
          <a:ln w="9525" cap="rnd">
            <a:solidFill>
              <a:schemeClr val="accent1"/>
            </a:solidFill>
            <a:prstDash val="solid"/>
            <a:round/>
          </a:ln>
        </p:spPr>
        <p:style>
          <a:lnRef idx="1">
            <a:schemeClr val="accent1"/>
          </a:lnRef>
          <a:fillRef idx="0">
            <a:schemeClr val="accent1"/>
          </a:fillRef>
          <a:effectRef idx="0">
            <a:schemeClr val="accent1"/>
          </a:effectRef>
          <a:fontRef idx="minor">
            <a:schemeClr val="tx1"/>
          </a:fontRef>
        </p:style>
      </p:cxnSp>
      <p:grpSp>
        <p:nvGrpSpPr>
          <p:cNvPr id="54" name="bcgIcons_Scalable ">
            <a:extLst>
              <a:ext uri="{FF2B5EF4-FFF2-40B4-BE49-F238E27FC236}">
                <a16:creationId xmlns:a16="http://schemas.microsoft.com/office/drawing/2014/main" id="{BD8CCD4D-0CA1-0C2A-5225-5911D6949555}"/>
              </a:ext>
            </a:extLst>
          </p:cNvPr>
          <p:cNvGrpSpPr>
            <a:grpSpLocks noChangeAspect="1"/>
          </p:cNvGrpSpPr>
          <p:nvPr/>
        </p:nvGrpSpPr>
        <p:grpSpPr bwMode="auto">
          <a:xfrm>
            <a:off x="2251795" y="2262803"/>
            <a:ext cx="883159" cy="883977"/>
            <a:chOff x="1682" y="0"/>
            <a:chExt cx="4316" cy="4320"/>
          </a:xfrm>
        </p:grpSpPr>
        <p:sp>
          <p:nvSpPr>
            <p:cNvPr id="55" name="AutoShape 18">
              <a:extLst>
                <a:ext uri="{FF2B5EF4-FFF2-40B4-BE49-F238E27FC236}">
                  <a16:creationId xmlns:a16="http://schemas.microsoft.com/office/drawing/2014/main" id="{09B7F940-7F11-BEF0-A4A4-937ABD0D896B}"/>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20">
              <a:extLst>
                <a:ext uri="{FF2B5EF4-FFF2-40B4-BE49-F238E27FC236}">
                  <a16:creationId xmlns:a16="http://schemas.microsoft.com/office/drawing/2014/main" id="{C84C9A01-FD07-DEFA-40F7-5EBEF9597648}"/>
                </a:ext>
              </a:extLst>
            </p:cNvPr>
            <p:cNvSpPr>
              <a:spLocks noEditPoints="1"/>
            </p:cNvSpPr>
            <p:nvPr/>
          </p:nvSpPr>
          <p:spPr bwMode="auto">
            <a:xfrm>
              <a:off x="2171" y="493"/>
              <a:ext cx="3316" cy="3338"/>
            </a:xfrm>
            <a:custGeom>
              <a:avLst/>
              <a:gdLst>
                <a:gd name="T0" fmla="*/ 1770 w 1770"/>
                <a:gd name="T1" fmla="*/ 22 h 1780"/>
                <a:gd name="T2" fmla="*/ 1770 w 1770"/>
                <a:gd name="T3" fmla="*/ 1474 h 1780"/>
                <a:gd name="T4" fmla="*/ 1748 w 1770"/>
                <a:gd name="T5" fmla="*/ 1496 h 1780"/>
                <a:gd name="T6" fmla="*/ 740 w 1770"/>
                <a:gd name="T7" fmla="*/ 1496 h 1780"/>
                <a:gd name="T8" fmla="*/ 740 w 1770"/>
                <a:gd name="T9" fmla="*/ 1452 h 1780"/>
                <a:gd name="T10" fmla="*/ 1726 w 1770"/>
                <a:gd name="T11" fmla="*/ 1452 h 1780"/>
                <a:gd name="T12" fmla="*/ 1726 w 1770"/>
                <a:gd name="T13" fmla="*/ 44 h 1780"/>
                <a:gd name="T14" fmla="*/ 317 w 1770"/>
                <a:gd name="T15" fmla="*/ 44 h 1780"/>
                <a:gd name="T16" fmla="*/ 317 w 1770"/>
                <a:gd name="T17" fmla="*/ 1039 h 1780"/>
                <a:gd name="T18" fmla="*/ 273 w 1770"/>
                <a:gd name="T19" fmla="*/ 1039 h 1780"/>
                <a:gd name="T20" fmla="*/ 273 w 1770"/>
                <a:gd name="T21" fmla="*/ 22 h 1780"/>
                <a:gd name="T22" fmla="*/ 295 w 1770"/>
                <a:gd name="T23" fmla="*/ 0 h 1780"/>
                <a:gd name="T24" fmla="*/ 1748 w 1770"/>
                <a:gd name="T25" fmla="*/ 0 h 1780"/>
                <a:gd name="T26" fmla="*/ 1770 w 1770"/>
                <a:gd name="T27" fmla="*/ 22 h 1780"/>
                <a:gd name="T28" fmla="*/ 1393 w 1770"/>
                <a:gd name="T29" fmla="*/ 409 h 1780"/>
                <a:gd name="T30" fmla="*/ 1393 w 1770"/>
                <a:gd name="T31" fmla="*/ 823 h 1780"/>
                <a:gd name="T32" fmla="*/ 1371 w 1770"/>
                <a:gd name="T33" fmla="*/ 845 h 1780"/>
                <a:gd name="T34" fmla="*/ 1349 w 1770"/>
                <a:gd name="T35" fmla="*/ 823 h 1780"/>
                <a:gd name="T36" fmla="*/ 1349 w 1770"/>
                <a:gd name="T37" fmla="*/ 462 h 1780"/>
                <a:gd name="T38" fmla="*/ 696 w 1770"/>
                <a:gd name="T39" fmla="*/ 1114 h 1780"/>
                <a:gd name="T40" fmla="*/ 696 w 1770"/>
                <a:gd name="T41" fmla="*/ 1758 h 1780"/>
                <a:gd name="T42" fmla="*/ 674 w 1770"/>
                <a:gd name="T43" fmla="*/ 1780 h 1780"/>
                <a:gd name="T44" fmla="*/ 22 w 1770"/>
                <a:gd name="T45" fmla="*/ 1780 h 1780"/>
                <a:gd name="T46" fmla="*/ 0 w 1770"/>
                <a:gd name="T47" fmla="*/ 1758 h 1780"/>
                <a:gd name="T48" fmla="*/ 0 w 1770"/>
                <a:gd name="T49" fmla="*/ 1105 h 1780"/>
                <a:gd name="T50" fmla="*/ 22 w 1770"/>
                <a:gd name="T51" fmla="*/ 1083 h 1780"/>
                <a:gd name="T52" fmla="*/ 665 w 1770"/>
                <a:gd name="T53" fmla="*/ 1083 h 1780"/>
                <a:gd name="T54" fmla="*/ 1317 w 1770"/>
                <a:gd name="T55" fmla="*/ 431 h 1780"/>
                <a:gd name="T56" fmla="*/ 956 w 1770"/>
                <a:gd name="T57" fmla="*/ 431 h 1780"/>
                <a:gd name="T58" fmla="*/ 934 w 1770"/>
                <a:gd name="T59" fmla="*/ 409 h 1780"/>
                <a:gd name="T60" fmla="*/ 956 w 1770"/>
                <a:gd name="T61" fmla="*/ 387 h 1780"/>
                <a:gd name="T62" fmla="*/ 1371 w 1770"/>
                <a:gd name="T63" fmla="*/ 387 h 1780"/>
                <a:gd name="T64" fmla="*/ 1375 w 1770"/>
                <a:gd name="T65" fmla="*/ 387 h 1780"/>
                <a:gd name="T66" fmla="*/ 1375 w 1770"/>
                <a:gd name="T67" fmla="*/ 387 h 1780"/>
                <a:gd name="T68" fmla="*/ 1379 w 1770"/>
                <a:gd name="T69" fmla="*/ 388 h 1780"/>
                <a:gd name="T70" fmla="*/ 1379 w 1770"/>
                <a:gd name="T71" fmla="*/ 388 h 1780"/>
                <a:gd name="T72" fmla="*/ 1383 w 1770"/>
                <a:gd name="T73" fmla="*/ 390 h 1780"/>
                <a:gd name="T74" fmla="*/ 1383 w 1770"/>
                <a:gd name="T75" fmla="*/ 390 h 1780"/>
                <a:gd name="T76" fmla="*/ 1389 w 1770"/>
                <a:gd name="T77" fmla="*/ 396 h 1780"/>
                <a:gd name="T78" fmla="*/ 1389 w 1770"/>
                <a:gd name="T79" fmla="*/ 397 h 1780"/>
                <a:gd name="T80" fmla="*/ 1391 w 1770"/>
                <a:gd name="T81" fmla="*/ 400 h 1780"/>
                <a:gd name="T82" fmla="*/ 1391 w 1770"/>
                <a:gd name="T83" fmla="*/ 401 h 1780"/>
                <a:gd name="T84" fmla="*/ 1392 w 1770"/>
                <a:gd name="T85" fmla="*/ 404 h 1780"/>
                <a:gd name="T86" fmla="*/ 1392 w 1770"/>
                <a:gd name="T87" fmla="*/ 405 h 1780"/>
                <a:gd name="T88" fmla="*/ 1393 w 1770"/>
                <a:gd name="T89" fmla="*/ 409 h 1780"/>
                <a:gd name="T90" fmla="*/ 652 w 1770"/>
                <a:gd name="T91" fmla="*/ 1127 h 1780"/>
                <a:gd name="T92" fmla="*/ 44 w 1770"/>
                <a:gd name="T93" fmla="*/ 1127 h 1780"/>
                <a:gd name="T94" fmla="*/ 44 w 1770"/>
                <a:gd name="T95" fmla="*/ 1736 h 1780"/>
                <a:gd name="T96" fmla="*/ 652 w 1770"/>
                <a:gd name="T97" fmla="*/ 1736 h 1780"/>
                <a:gd name="T98" fmla="*/ 652 w 1770"/>
                <a:gd name="T99" fmla="*/ 1127 h 1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70" h="1780">
                  <a:moveTo>
                    <a:pt x="1770" y="22"/>
                  </a:moveTo>
                  <a:cubicBezTo>
                    <a:pt x="1770" y="1474"/>
                    <a:pt x="1770" y="1474"/>
                    <a:pt x="1770" y="1474"/>
                  </a:cubicBezTo>
                  <a:cubicBezTo>
                    <a:pt x="1770" y="1486"/>
                    <a:pt x="1760" y="1496"/>
                    <a:pt x="1748" y="1496"/>
                  </a:cubicBezTo>
                  <a:cubicBezTo>
                    <a:pt x="740" y="1496"/>
                    <a:pt x="740" y="1496"/>
                    <a:pt x="740" y="1496"/>
                  </a:cubicBezTo>
                  <a:cubicBezTo>
                    <a:pt x="740" y="1452"/>
                    <a:pt x="740" y="1452"/>
                    <a:pt x="740" y="1452"/>
                  </a:cubicBezTo>
                  <a:cubicBezTo>
                    <a:pt x="1726" y="1452"/>
                    <a:pt x="1726" y="1452"/>
                    <a:pt x="1726" y="1452"/>
                  </a:cubicBezTo>
                  <a:cubicBezTo>
                    <a:pt x="1726" y="44"/>
                    <a:pt x="1726" y="44"/>
                    <a:pt x="1726" y="44"/>
                  </a:cubicBezTo>
                  <a:cubicBezTo>
                    <a:pt x="317" y="44"/>
                    <a:pt x="317" y="44"/>
                    <a:pt x="317" y="44"/>
                  </a:cubicBezTo>
                  <a:cubicBezTo>
                    <a:pt x="317" y="1039"/>
                    <a:pt x="317" y="1039"/>
                    <a:pt x="317" y="1039"/>
                  </a:cubicBezTo>
                  <a:cubicBezTo>
                    <a:pt x="273" y="1039"/>
                    <a:pt x="273" y="1039"/>
                    <a:pt x="273" y="1039"/>
                  </a:cubicBezTo>
                  <a:cubicBezTo>
                    <a:pt x="273" y="22"/>
                    <a:pt x="273" y="22"/>
                    <a:pt x="273" y="22"/>
                  </a:cubicBezTo>
                  <a:cubicBezTo>
                    <a:pt x="273" y="9"/>
                    <a:pt x="283" y="0"/>
                    <a:pt x="295" y="0"/>
                  </a:cubicBezTo>
                  <a:cubicBezTo>
                    <a:pt x="1748" y="0"/>
                    <a:pt x="1748" y="0"/>
                    <a:pt x="1748" y="0"/>
                  </a:cubicBezTo>
                  <a:cubicBezTo>
                    <a:pt x="1760" y="0"/>
                    <a:pt x="1770" y="9"/>
                    <a:pt x="1770" y="22"/>
                  </a:cubicBezTo>
                  <a:close/>
                  <a:moveTo>
                    <a:pt x="1393" y="409"/>
                  </a:moveTo>
                  <a:cubicBezTo>
                    <a:pt x="1393" y="823"/>
                    <a:pt x="1393" y="823"/>
                    <a:pt x="1393" y="823"/>
                  </a:cubicBezTo>
                  <a:cubicBezTo>
                    <a:pt x="1393" y="835"/>
                    <a:pt x="1383" y="845"/>
                    <a:pt x="1371" y="845"/>
                  </a:cubicBezTo>
                  <a:cubicBezTo>
                    <a:pt x="1358" y="845"/>
                    <a:pt x="1349" y="835"/>
                    <a:pt x="1349" y="823"/>
                  </a:cubicBezTo>
                  <a:cubicBezTo>
                    <a:pt x="1349" y="462"/>
                    <a:pt x="1349" y="462"/>
                    <a:pt x="1349" y="462"/>
                  </a:cubicBezTo>
                  <a:cubicBezTo>
                    <a:pt x="696" y="1114"/>
                    <a:pt x="696" y="1114"/>
                    <a:pt x="696" y="1114"/>
                  </a:cubicBezTo>
                  <a:cubicBezTo>
                    <a:pt x="696" y="1758"/>
                    <a:pt x="696" y="1758"/>
                    <a:pt x="696" y="1758"/>
                  </a:cubicBezTo>
                  <a:cubicBezTo>
                    <a:pt x="696" y="1770"/>
                    <a:pt x="686" y="1780"/>
                    <a:pt x="674" y="1780"/>
                  </a:cubicBezTo>
                  <a:cubicBezTo>
                    <a:pt x="22" y="1780"/>
                    <a:pt x="22" y="1780"/>
                    <a:pt x="22" y="1780"/>
                  </a:cubicBezTo>
                  <a:cubicBezTo>
                    <a:pt x="9" y="1780"/>
                    <a:pt x="0" y="1770"/>
                    <a:pt x="0" y="1758"/>
                  </a:cubicBezTo>
                  <a:cubicBezTo>
                    <a:pt x="0" y="1105"/>
                    <a:pt x="0" y="1105"/>
                    <a:pt x="0" y="1105"/>
                  </a:cubicBezTo>
                  <a:cubicBezTo>
                    <a:pt x="0" y="1093"/>
                    <a:pt x="9" y="1083"/>
                    <a:pt x="22" y="1083"/>
                  </a:cubicBezTo>
                  <a:cubicBezTo>
                    <a:pt x="665" y="1083"/>
                    <a:pt x="665" y="1083"/>
                    <a:pt x="665" y="1083"/>
                  </a:cubicBezTo>
                  <a:cubicBezTo>
                    <a:pt x="1317" y="431"/>
                    <a:pt x="1317" y="431"/>
                    <a:pt x="1317" y="431"/>
                  </a:cubicBezTo>
                  <a:cubicBezTo>
                    <a:pt x="956" y="431"/>
                    <a:pt x="956" y="431"/>
                    <a:pt x="956" y="431"/>
                  </a:cubicBezTo>
                  <a:cubicBezTo>
                    <a:pt x="944" y="431"/>
                    <a:pt x="934" y="421"/>
                    <a:pt x="934" y="409"/>
                  </a:cubicBezTo>
                  <a:cubicBezTo>
                    <a:pt x="934" y="396"/>
                    <a:pt x="944" y="387"/>
                    <a:pt x="956" y="387"/>
                  </a:cubicBezTo>
                  <a:cubicBezTo>
                    <a:pt x="1371" y="387"/>
                    <a:pt x="1371" y="387"/>
                    <a:pt x="1371" y="387"/>
                  </a:cubicBezTo>
                  <a:cubicBezTo>
                    <a:pt x="1372" y="387"/>
                    <a:pt x="1373" y="387"/>
                    <a:pt x="1375" y="387"/>
                  </a:cubicBezTo>
                  <a:cubicBezTo>
                    <a:pt x="1375" y="387"/>
                    <a:pt x="1375" y="387"/>
                    <a:pt x="1375" y="387"/>
                  </a:cubicBezTo>
                  <a:cubicBezTo>
                    <a:pt x="1376" y="387"/>
                    <a:pt x="1377" y="388"/>
                    <a:pt x="1379" y="388"/>
                  </a:cubicBezTo>
                  <a:cubicBezTo>
                    <a:pt x="1379" y="388"/>
                    <a:pt x="1379" y="388"/>
                    <a:pt x="1379" y="388"/>
                  </a:cubicBezTo>
                  <a:cubicBezTo>
                    <a:pt x="1380" y="389"/>
                    <a:pt x="1381" y="389"/>
                    <a:pt x="1383" y="390"/>
                  </a:cubicBezTo>
                  <a:cubicBezTo>
                    <a:pt x="1383" y="390"/>
                    <a:pt x="1383" y="390"/>
                    <a:pt x="1383" y="390"/>
                  </a:cubicBezTo>
                  <a:cubicBezTo>
                    <a:pt x="1385" y="392"/>
                    <a:pt x="1387" y="394"/>
                    <a:pt x="1389" y="396"/>
                  </a:cubicBezTo>
                  <a:cubicBezTo>
                    <a:pt x="1389" y="396"/>
                    <a:pt x="1389" y="397"/>
                    <a:pt x="1389" y="397"/>
                  </a:cubicBezTo>
                  <a:cubicBezTo>
                    <a:pt x="1390" y="398"/>
                    <a:pt x="1390" y="399"/>
                    <a:pt x="1391" y="400"/>
                  </a:cubicBezTo>
                  <a:cubicBezTo>
                    <a:pt x="1391" y="400"/>
                    <a:pt x="1391" y="400"/>
                    <a:pt x="1391" y="401"/>
                  </a:cubicBezTo>
                  <a:cubicBezTo>
                    <a:pt x="1392" y="402"/>
                    <a:pt x="1392" y="403"/>
                    <a:pt x="1392" y="404"/>
                  </a:cubicBezTo>
                  <a:cubicBezTo>
                    <a:pt x="1392" y="404"/>
                    <a:pt x="1392" y="404"/>
                    <a:pt x="1392" y="405"/>
                  </a:cubicBezTo>
                  <a:cubicBezTo>
                    <a:pt x="1392" y="406"/>
                    <a:pt x="1393" y="407"/>
                    <a:pt x="1393" y="409"/>
                  </a:cubicBezTo>
                  <a:close/>
                  <a:moveTo>
                    <a:pt x="652" y="1127"/>
                  </a:moveTo>
                  <a:cubicBezTo>
                    <a:pt x="44" y="1127"/>
                    <a:pt x="44" y="1127"/>
                    <a:pt x="44" y="1127"/>
                  </a:cubicBezTo>
                  <a:cubicBezTo>
                    <a:pt x="44" y="1736"/>
                    <a:pt x="44" y="1736"/>
                    <a:pt x="44" y="1736"/>
                  </a:cubicBezTo>
                  <a:cubicBezTo>
                    <a:pt x="652" y="1736"/>
                    <a:pt x="652" y="1736"/>
                    <a:pt x="652" y="1736"/>
                  </a:cubicBezTo>
                  <a:lnTo>
                    <a:pt x="652" y="1127"/>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sp>
          <p:nvSpPr>
            <p:cNvPr id="57" name="Freeform 21">
              <a:extLst>
                <a:ext uri="{FF2B5EF4-FFF2-40B4-BE49-F238E27FC236}">
                  <a16:creationId xmlns:a16="http://schemas.microsoft.com/office/drawing/2014/main" id="{0D5E6F0B-07C8-B26F-2C7D-DE4327CB4435}"/>
                </a:ext>
              </a:extLst>
            </p:cNvPr>
            <p:cNvSpPr>
              <a:spLocks noEditPoints="1"/>
            </p:cNvSpPr>
            <p:nvPr/>
          </p:nvSpPr>
          <p:spPr bwMode="auto">
            <a:xfrm>
              <a:off x="2336" y="656"/>
              <a:ext cx="2986" cy="3010"/>
            </a:xfrm>
            <a:custGeom>
              <a:avLst/>
              <a:gdLst>
                <a:gd name="T0" fmla="*/ 284 w 1594"/>
                <a:gd name="T1" fmla="*/ 0 h 1605"/>
                <a:gd name="T2" fmla="*/ 1584 w 1594"/>
                <a:gd name="T3" fmla="*/ 0 h 1605"/>
                <a:gd name="T4" fmla="*/ 1594 w 1594"/>
                <a:gd name="T5" fmla="*/ 10 h 1605"/>
                <a:gd name="T6" fmla="*/ 1594 w 1594"/>
                <a:gd name="T7" fmla="*/ 1312 h 1605"/>
                <a:gd name="T8" fmla="*/ 1584 w 1594"/>
                <a:gd name="T9" fmla="*/ 1322 h 1605"/>
                <a:gd name="T10" fmla="*/ 652 w 1594"/>
                <a:gd name="T11" fmla="*/ 1322 h 1605"/>
                <a:gd name="T12" fmla="*/ 652 w 1594"/>
                <a:gd name="T13" fmla="*/ 1046 h 1605"/>
                <a:gd name="T14" fmla="*/ 1217 w 1594"/>
                <a:gd name="T15" fmla="*/ 481 h 1605"/>
                <a:gd name="T16" fmla="*/ 1217 w 1594"/>
                <a:gd name="T17" fmla="*/ 736 h 1605"/>
                <a:gd name="T18" fmla="*/ 1281 w 1594"/>
                <a:gd name="T19" fmla="*/ 802 h 1605"/>
                <a:gd name="T20" fmla="*/ 1349 w 1594"/>
                <a:gd name="T21" fmla="*/ 734 h 1605"/>
                <a:gd name="T22" fmla="*/ 1349 w 1594"/>
                <a:gd name="T23" fmla="*/ 296 h 1605"/>
                <a:gd name="T24" fmla="*/ 1309 w 1594"/>
                <a:gd name="T25" fmla="*/ 256 h 1605"/>
                <a:gd name="T26" fmla="*/ 868 w 1594"/>
                <a:gd name="T27" fmla="*/ 256 h 1605"/>
                <a:gd name="T28" fmla="*/ 802 w 1594"/>
                <a:gd name="T29" fmla="*/ 322 h 1605"/>
                <a:gd name="T30" fmla="*/ 802 w 1594"/>
                <a:gd name="T31" fmla="*/ 322 h 1605"/>
                <a:gd name="T32" fmla="*/ 868 w 1594"/>
                <a:gd name="T33" fmla="*/ 388 h 1605"/>
                <a:gd name="T34" fmla="*/ 1123 w 1594"/>
                <a:gd name="T35" fmla="*/ 388 h 1605"/>
                <a:gd name="T36" fmla="*/ 559 w 1594"/>
                <a:gd name="T37" fmla="*/ 952 h 1605"/>
                <a:gd name="T38" fmla="*/ 274 w 1594"/>
                <a:gd name="T39" fmla="*/ 952 h 1605"/>
                <a:gd name="T40" fmla="*/ 274 w 1594"/>
                <a:gd name="T41" fmla="*/ 10 h 1605"/>
                <a:gd name="T42" fmla="*/ 284 w 1594"/>
                <a:gd name="T43" fmla="*/ 0 h 1605"/>
                <a:gd name="T44" fmla="*/ 510 w 1594"/>
                <a:gd name="T45" fmla="*/ 1084 h 1605"/>
                <a:gd name="T46" fmla="*/ 10 w 1594"/>
                <a:gd name="T47" fmla="*/ 1084 h 1605"/>
                <a:gd name="T48" fmla="*/ 0 w 1594"/>
                <a:gd name="T49" fmla="*/ 1094 h 1605"/>
                <a:gd name="T50" fmla="*/ 0 w 1594"/>
                <a:gd name="T51" fmla="*/ 1595 h 1605"/>
                <a:gd name="T52" fmla="*/ 10 w 1594"/>
                <a:gd name="T53" fmla="*/ 1605 h 1605"/>
                <a:gd name="T54" fmla="*/ 510 w 1594"/>
                <a:gd name="T55" fmla="*/ 1605 h 1605"/>
                <a:gd name="T56" fmla="*/ 520 w 1594"/>
                <a:gd name="T57" fmla="*/ 1595 h 1605"/>
                <a:gd name="T58" fmla="*/ 520 w 1594"/>
                <a:gd name="T59" fmla="*/ 1094 h 1605"/>
                <a:gd name="T60" fmla="*/ 510 w 1594"/>
                <a:gd name="T61" fmla="*/ 1084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94" h="1605">
                  <a:moveTo>
                    <a:pt x="284" y="0"/>
                  </a:moveTo>
                  <a:cubicBezTo>
                    <a:pt x="1584" y="0"/>
                    <a:pt x="1584" y="0"/>
                    <a:pt x="1584" y="0"/>
                  </a:cubicBezTo>
                  <a:cubicBezTo>
                    <a:pt x="1589" y="0"/>
                    <a:pt x="1594" y="5"/>
                    <a:pt x="1594" y="10"/>
                  </a:cubicBezTo>
                  <a:cubicBezTo>
                    <a:pt x="1594" y="1312"/>
                    <a:pt x="1594" y="1312"/>
                    <a:pt x="1594" y="1312"/>
                  </a:cubicBezTo>
                  <a:cubicBezTo>
                    <a:pt x="1594" y="1317"/>
                    <a:pt x="1589" y="1322"/>
                    <a:pt x="1584" y="1322"/>
                  </a:cubicBezTo>
                  <a:cubicBezTo>
                    <a:pt x="652" y="1322"/>
                    <a:pt x="652" y="1322"/>
                    <a:pt x="652" y="1322"/>
                  </a:cubicBezTo>
                  <a:cubicBezTo>
                    <a:pt x="652" y="1046"/>
                    <a:pt x="652" y="1046"/>
                    <a:pt x="652" y="1046"/>
                  </a:cubicBezTo>
                  <a:cubicBezTo>
                    <a:pt x="1217" y="481"/>
                    <a:pt x="1217" y="481"/>
                    <a:pt x="1217" y="481"/>
                  </a:cubicBezTo>
                  <a:cubicBezTo>
                    <a:pt x="1217" y="736"/>
                    <a:pt x="1217" y="736"/>
                    <a:pt x="1217" y="736"/>
                  </a:cubicBezTo>
                  <a:cubicBezTo>
                    <a:pt x="1217" y="772"/>
                    <a:pt x="1245" y="801"/>
                    <a:pt x="1281" y="802"/>
                  </a:cubicBezTo>
                  <a:cubicBezTo>
                    <a:pt x="1318" y="802"/>
                    <a:pt x="1349" y="771"/>
                    <a:pt x="1349" y="734"/>
                  </a:cubicBezTo>
                  <a:cubicBezTo>
                    <a:pt x="1349" y="296"/>
                    <a:pt x="1349" y="296"/>
                    <a:pt x="1349" y="296"/>
                  </a:cubicBezTo>
                  <a:cubicBezTo>
                    <a:pt x="1349" y="273"/>
                    <a:pt x="1331" y="256"/>
                    <a:pt x="1309" y="256"/>
                  </a:cubicBezTo>
                  <a:cubicBezTo>
                    <a:pt x="868" y="256"/>
                    <a:pt x="868" y="256"/>
                    <a:pt x="868" y="256"/>
                  </a:cubicBezTo>
                  <a:cubicBezTo>
                    <a:pt x="832" y="256"/>
                    <a:pt x="802" y="285"/>
                    <a:pt x="802" y="322"/>
                  </a:cubicBezTo>
                  <a:cubicBezTo>
                    <a:pt x="802" y="322"/>
                    <a:pt x="802" y="322"/>
                    <a:pt x="802" y="322"/>
                  </a:cubicBezTo>
                  <a:cubicBezTo>
                    <a:pt x="802" y="358"/>
                    <a:pt x="832" y="388"/>
                    <a:pt x="868" y="388"/>
                  </a:cubicBezTo>
                  <a:cubicBezTo>
                    <a:pt x="1123" y="388"/>
                    <a:pt x="1123" y="388"/>
                    <a:pt x="1123" y="388"/>
                  </a:cubicBezTo>
                  <a:cubicBezTo>
                    <a:pt x="559" y="952"/>
                    <a:pt x="559" y="952"/>
                    <a:pt x="559" y="952"/>
                  </a:cubicBezTo>
                  <a:cubicBezTo>
                    <a:pt x="274" y="952"/>
                    <a:pt x="274" y="952"/>
                    <a:pt x="274" y="952"/>
                  </a:cubicBezTo>
                  <a:cubicBezTo>
                    <a:pt x="274" y="10"/>
                    <a:pt x="274" y="10"/>
                    <a:pt x="274" y="10"/>
                  </a:cubicBezTo>
                  <a:cubicBezTo>
                    <a:pt x="274" y="5"/>
                    <a:pt x="278" y="0"/>
                    <a:pt x="284" y="0"/>
                  </a:cubicBezTo>
                  <a:close/>
                  <a:moveTo>
                    <a:pt x="510" y="1084"/>
                  </a:moveTo>
                  <a:cubicBezTo>
                    <a:pt x="10" y="1084"/>
                    <a:pt x="10" y="1084"/>
                    <a:pt x="10" y="1084"/>
                  </a:cubicBezTo>
                  <a:cubicBezTo>
                    <a:pt x="4" y="1084"/>
                    <a:pt x="0" y="1089"/>
                    <a:pt x="0" y="1094"/>
                  </a:cubicBezTo>
                  <a:cubicBezTo>
                    <a:pt x="0" y="1595"/>
                    <a:pt x="0" y="1595"/>
                    <a:pt x="0" y="1595"/>
                  </a:cubicBezTo>
                  <a:cubicBezTo>
                    <a:pt x="0" y="1600"/>
                    <a:pt x="4" y="1605"/>
                    <a:pt x="10" y="1605"/>
                  </a:cubicBezTo>
                  <a:cubicBezTo>
                    <a:pt x="510" y="1605"/>
                    <a:pt x="510" y="1605"/>
                    <a:pt x="510" y="1605"/>
                  </a:cubicBezTo>
                  <a:cubicBezTo>
                    <a:pt x="515" y="1605"/>
                    <a:pt x="520" y="1600"/>
                    <a:pt x="520" y="1595"/>
                  </a:cubicBezTo>
                  <a:cubicBezTo>
                    <a:pt x="520" y="1094"/>
                    <a:pt x="520" y="1094"/>
                    <a:pt x="520" y="1094"/>
                  </a:cubicBezTo>
                  <a:cubicBezTo>
                    <a:pt x="520" y="1089"/>
                    <a:pt x="515" y="1084"/>
                    <a:pt x="510" y="1084"/>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grpSp>
      <p:grpSp>
        <p:nvGrpSpPr>
          <p:cNvPr id="58" name="bcgIcons_Data Stream">
            <a:extLst>
              <a:ext uri="{FF2B5EF4-FFF2-40B4-BE49-F238E27FC236}">
                <a16:creationId xmlns:a16="http://schemas.microsoft.com/office/drawing/2014/main" id="{9721077B-1475-8892-6129-E207D275FB3E}"/>
              </a:ext>
            </a:extLst>
          </p:cNvPr>
          <p:cNvGrpSpPr>
            <a:grpSpLocks noChangeAspect="1"/>
          </p:cNvGrpSpPr>
          <p:nvPr/>
        </p:nvGrpSpPr>
        <p:grpSpPr>
          <a:xfrm>
            <a:off x="5865990" y="2261866"/>
            <a:ext cx="885854" cy="885853"/>
            <a:chOff x="1109933" y="1822724"/>
            <a:chExt cx="1649421" cy="1649421"/>
          </a:xfrm>
        </p:grpSpPr>
        <p:sp>
          <p:nvSpPr>
            <p:cNvPr id="59" name="AutoShape 68">
              <a:extLst>
                <a:ext uri="{FF2B5EF4-FFF2-40B4-BE49-F238E27FC236}">
                  <a16:creationId xmlns:a16="http://schemas.microsoft.com/office/drawing/2014/main" id="{CDF53C5D-D843-0015-D100-C9E2764AFE78}"/>
                </a:ext>
              </a:extLst>
            </p:cNvPr>
            <p:cNvSpPr>
              <a:spLocks noChangeAspect="1" noChangeArrowheads="1" noTextEdit="1"/>
            </p:cNvSpPr>
            <p:nvPr/>
          </p:nvSpPr>
          <p:spPr bwMode="auto">
            <a:xfrm>
              <a:off x="1109933" y="1822724"/>
              <a:ext cx="1649421" cy="1649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60" name="Group 59">
              <a:extLst>
                <a:ext uri="{FF2B5EF4-FFF2-40B4-BE49-F238E27FC236}">
                  <a16:creationId xmlns:a16="http://schemas.microsoft.com/office/drawing/2014/main" id="{EF506FB8-1C2A-7A84-90D8-18B40B3F8B7F}"/>
                </a:ext>
              </a:extLst>
            </p:cNvPr>
            <p:cNvGrpSpPr/>
            <p:nvPr/>
          </p:nvGrpSpPr>
          <p:grpSpPr>
            <a:xfrm>
              <a:off x="1323199" y="2204914"/>
              <a:ext cx="1221983" cy="879309"/>
              <a:chOff x="1323199" y="2204914"/>
              <a:chExt cx="1221983" cy="879309"/>
            </a:xfrm>
          </p:grpSpPr>
          <p:sp>
            <p:nvSpPr>
              <p:cNvPr id="61" name="Freeform 70">
                <a:extLst>
                  <a:ext uri="{FF2B5EF4-FFF2-40B4-BE49-F238E27FC236}">
                    <a16:creationId xmlns:a16="http://schemas.microsoft.com/office/drawing/2014/main" id="{11107499-DF3C-72DE-F14E-599FFA46EB7C}"/>
                  </a:ext>
                </a:extLst>
              </p:cNvPr>
              <p:cNvSpPr>
                <a:spLocks noEditPoints="1"/>
              </p:cNvSpPr>
              <p:nvPr/>
            </p:nvSpPr>
            <p:spPr bwMode="auto">
              <a:xfrm>
                <a:off x="1323199" y="2204914"/>
                <a:ext cx="1221983" cy="879309"/>
              </a:xfrm>
              <a:custGeom>
                <a:avLst/>
                <a:gdLst>
                  <a:gd name="T0" fmla="*/ 503 w 1707"/>
                  <a:gd name="T1" fmla="*/ 599 h 1228"/>
                  <a:gd name="T2" fmla="*/ 449 w 1707"/>
                  <a:gd name="T3" fmla="*/ 585 h 1228"/>
                  <a:gd name="T4" fmla="*/ 471 w 1707"/>
                  <a:gd name="T5" fmla="*/ 660 h 1228"/>
                  <a:gd name="T6" fmla="*/ 360 w 1707"/>
                  <a:gd name="T7" fmla="*/ 428 h 1228"/>
                  <a:gd name="T8" fmla="*/ 387 w 1707"/>
                  <a:gd name="T9" fmla="*/ 394 h 1228"/>
                  <a:gd name="T10" fmla="*/ 395 w 1707"/>
                  <a:gd name="T11" fmla="*/ 344 h 1228"/>
                  <a:gd name="T12" fmla="*/ 1445 w 1707"/>
                  <a:gd name="T13" fmla="*/ 0 h 1228"/>
                  <a:gd name="T14" fmla="*/ 429 w 1707"/>
                  <a:gd name="T15" fmla="*/ 161 h 1228"/>
                  <a:gd name="T16" fmla="*/ 440 w 1707"/>
                  <a:gd name="T17" fmla="*/ 196 h 1228"/>
                  <a:gd name="T18" fmla="*/ 449 w 1707"/>
                  <a:gd name="T19" fmla="*/ 174 h 1228"/>
                  <a:gd name="T20" fmla="*/ 457 w 1707"/>
                  <a:gd name="T21" fmla="*/ 158 h 1228"/>
                  <a:gd name="T22" fmla="*/ 465 w 1707"/>
                  <a:gd name="T23" fmla="*/ 143 h 1228"/>
                  <a:gd name="T24" fmla="*/ 473 w 1707"/>
                  <a:gd name="T25" fmla="*/ 129 h 1228"/>
                  <a:gd name="T26" fmla="*/ 575 w 1707"/>
                  <a:gd name="T27" fmla="*/ 37 h 1228"/>
                  <a:gd name="T28" fmla="*/ 589 w 1707"/>
                  <a:gd name="T29" fmla="*/ 34 h 1228"/>
                  <a:gd name="T30" fmla="*/ 1454 w 1707"/>
                  <a:gd name="T31" fmla="*/ 35 h 1228"/>
                  <a:gd name="T32" fmla="*/ 1466 w 1707"/>
                  <a:gd name="T33" fmla="*/ 37 h 1228"/>
                  <a:gd name="T34" fmla="*/ 1478 w 1707"/>
                  <a:gd name="T35" fmla="*/ 40 h 1228"/>
                  <a:gd name="T36" fmla="*/ 1488 w 1707"/>
                  <a:gd name="T37" fmla="*/ 46 h 1228"/>
                  <a:gd name="T38" fmla="*/ 1499 w 1707"/>
                  <a:gd name="T39" fmla="*/ 52 h 1228"/>
                  <a:gd name="T40" fmla="*/ 1513 w 1707"/>
                  <a:gd name="T41" fmla="*/ 62 h 1228"/>
                  <a:gd name="T42" fmla="*/ 1596 w 1707"/>
                  <a:gd name="T43" fmla="*/ 187 h 1228"/>
                  <a:gd name="T44" fmla="*/ 1607 w 1707"/>
                  <a:gd name="T45" fmla="*/ 216 h 1228"/>
                  <a:gd name="T46" fmla="*/ 1608 w 1707"/>
                  <a:gd name="T47" fmla="*/ 1011 h 1228"/>
                  <a:gd name="T48" fmla="*/ 1600 w 1707"/>
                  <a:gd name="T49" fmla="*/ 1031 h 1228"/>
                  <a:gd name="T50" fmla="*/ 1514 w 1707"/>
                  <a:gd name="T51" fmla="*/ 1164 h 1228"/>
                  <a:gd name="T52" fmla="*/ 1504 w 1707"/>
                  <a:gd name="T53" fmla="*/ 1173 h 1228"/>
                  <a:gd name="T54" fmla="*/ 1491 w 1707"/>
                  <a:gd name="T55" fmla="*/ 1181 h 1228"/>
                  <a:gd name="T56" fmla="*/ 1479 w 1707"/>
                  <a:gd name="T57" fmla="*/ 1187 h 1228"/>
                  <a:gd name="T58" fmla="*/ 1468 w 1707"/>
                  <a:gd name="T59" fmla="*/ 1190 h 1228"/>
                  <a:gd name="T60" fmla="*/ 1456 w 1707"/>
                  <a:gd name="T61" fmla="*/ 1193 h 1228"/>
                  <a:gd name="T62" fmla="*/ 1443 w 1707"/>
                  <a:gd name="T63" fmla="*/ 1194 h 1228"/>
                  <a:gd name="T64" fmla="*/ 1434 w 1707"/>
                  <a:gd name="T65" fmla="*/ 1193 h 1228"/>
                  <a:gd name="T66" fmla="*/ 599 w 1707"/>
                  <a:gd name="T67" fmla="*/ 1194 h 1228"/>
                  <a:gd name="T68" fmla="*/ 587 w 1707"/>
                  <a:gd name="T69" fmla="*/ 1193 h 1228"/>
                  <a:gd name="T70" fmla="*/ 574 w 1707"/>
                  <a:gd name="T71" fmla="*/ 1191 h 1228"/>
                  <a:gd name="T72" fmla="*/ 563 w 1707"/>
                  <a:gd name="T73" fmla="*/ 1188 h 1228"/>
                  <a:gd name="T74" fmla="*/ 552 w 1707"/>
                  <a:gd name="T75" fmla="*/ 1182 h 1228"/>
                  <a:gd name="T76" fmla="*/ 541 w 1707"/>
                  <a:gd name="T77" fmla="*/ 1176 h 1228"/>
                  <a:gd name="T78" fmla="*/ 528 w 1707"/>
                  <a:gd name="T79" fmla="*/ 1166 h 1228"/>
                  <a:gd name="T80" fmla="*/ 596 w 1707"/>
                  <a:gd name="T81" fmla="*/ 1228 h 1228"/>
                  <a:gd name="T82" fmla="*/ 1707 w 1707"/>
                  <a:gd name="T83" fmla="*/ 614 h 1228"/>
                  <a:gd name="T84" fmla="*/ 451 w 1707"/>
                  <a:gd name="T85" fmla="*/ 423 h 1228"/>
                  <a:gd name="T86" fmla="*/ 535 w 1707"/>
                  <a:gd name="T87" fmla="*/ 409 h 1228"/>
                  <a:gd name="T88" fmla="*/ 639 w 1707"/>
                  <a:gd name="T89" fmla="*/ 522 h 1228"/>
                  <a:gd name="T90" fmla="*/ 684 w 1707"/>
                  <a:gd name="T91" fmla="*/ 664 h 1228"/>
                  <a:gd name="T92" fmla="*/ 631 w 1707"/>
                  <a:gd name="T93" fmla="*/ 772 h 1228"/>
                  <a:gd name="T94" fmla="*/ 577 w 1707"/>
                  <a:gd name="T95" fmla="*/ 813 h 1228"/>
                  <a:gd name="T96" fmla="*/ 471 w 1707"/>
                  <a:gd name="T97" fmla="*/ 817 h 1228"/>
                  <a:gd name="T98" fmla="*/ 488 w 1707"/>
                  <a:gd name="T99" fmla="*/ 1013 h 1228"/>
                  <a:gd name="T100" fmla="*/ 808 w 1707"/>
                  <a:gd name="T101" fmla="*/ 614 h 1228"/>
                  <a:gd name="T102" fmla="*/ 362 w 1707"/>
                  <a:gd name="T103" fmla="*/ 894 h 1228"/>
                  <a:gd name="T104" fmla="*/ 345 w 1707"/>
                  <a:gd name="T105" fmla="*/ 800 h 1228"/>
                  <a:gd name="T106" fmla="*/ 226 w 1707"/>
                  <a:gd name="T107" fmla="*/ 1169 h 1228"/>
                  <a:gd name="T108" fmla="*/ 79 w 1707"/>
                  <a:gd name="T109" fmla="*/ 793 h 1228"/>
                  <a:gd name="T110" fmla="*/ 98 w 1707"/>
                  <a:gd name="T111" fmla="*/ 926 h 1228"/>
                  <a:gd name="T112" fmla="*/ 0 w 1707"/>
                  <a:gd name="T113" fmla="*/ 370 h 1228"/>
                  <a:gd name="T114" fmla="*/ 79 w 1707"/>
                  <a:gd name="T115" fmla="*/ 410 h 1228"/>
                  <a:gd name="T116" fmla="*/ 79 w 1707"/>
                  <a:gd name="T117" fmla="*/ 410 h 1228"/>
                  <a:gd name="T118" fmla="*/ 305 w 1707"/>
                  <a:gd name="T119" fmla="*/ 146 h 1228"/>
                  <a:gd name="T120" fmla="*/ 226 w 1707"/>
                  <a:gd name="T121" fmla="*/ 107 h 1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07" h="1228">
                    <a:moveTo>
                      <a:pt x="471" y="660"/>
                    </a:moveTo>
                    <a:cubicBezTo>
                      <a:pt x="477" y="660"/>
                      <a:pt x="483" y="658"/>
                      <a:pt x="489" y="655"/>
                    </a:cubicBezTo>
                    <a:cubicBezTo>
                      <a:pt x="489" y="655"/>
                      <a:pt x="489" y="655"/>
                      <a:pt x="489" y="655"/>
                    </a:cubicBezTo>
                    <a:cubicBezTo>
                      <a:pt x="508" y="644"/>
                      <a:pt x="514" y="619"/>
                      <a:pt x="503" y="599"/>
                    </a:cubicBezTo>
                    <a:cubicBezTo>
                      <a:pt x="496" y="587"/>
                      <a:pt x="483" y="580"/>
                      <a:pt x="469" y="580"/>
                    </a:cubicBezTo>
                    <a:cubicBezTo>
                      <a:pt x="467" y="580"/>
                      <a:pt x="466" y="580"/>
                      <a:pt x="464" y="580"/>
                    </a:cubicBezTo>
                    <a:cubicBezTo>
                      <a:pt x="463" y="580"/>
                      <a:pt x="463" y="580"/>
                      <a:pt x="463" y="580"/>
                    </a:cubicBezTo>
                    <a:cubicBezTo>
                      <a:pt x="461" y="580"/>
                      <a:pt x="456" y="581"/>
                      <a:pt x="449" y="585"/>
                    </a:cubicBezTo>
                    <a:cubicBezTo>
                      <a:pt x="441" y="590"/>
                      <a:pt x="435" y="598"/>
                      <a:pt x="432" y="608"/>
                    </a:cubicBezTo>
                    <a:cubicBezTo>
                      <a:pt x="429" y="619"/>
                      <a:pt x="431" y="630"/>
                      <a:pt x="436" y="639"/>
                    </a:cubicBezTo>
                    <a:cubicBezTo>
                      <a:pt x="437" y="640"/>
                      <a:pt x="437" y="640"/>
                      <a:pt x="437" y="640"/>
                    </a:cubicBezTo>
                    <a:cubicBezTo>
                      <a:pt x="444" y="652"/>
                      <a:pt x="457" y="660"/>
                      <a:pt x="471" y="660"/>
                    </a:cubicBezTo>
                    <a:close/>
                    <a:moveTo>
                      <a:pt x="362" y="333"/>
                    </a:moveTo>
                    <a:cubicBezTo>
                      <a:pt x="355" y="367"/>
                      <a:pt x="349" y="403"/>
                      <a:pt x="344" y="439"/>
                    </a:cubicBezTo>
                    <a:cubicBezTo>
                      <a:pt x="349" y="435"/>
                      <a:pt x="354" y="432"/>
                      <a:pt x="359" y="429"/>
                    </a:cubicBezTo>
                    <a:cubicBezTo>
                      <a:pt x="360" y="428"/>
                      <a:pt x="360" y="428"/>
                      <a:pt x="360" y="428"/>
                    </a:cubicBezTo>
                    <a:cubicBezTo>
                      <a:pt x="362" y="427"/>
                      <a:pt x="362" y="427"/>
                      <a:pt x="362" y="427"/>
                    </a:cubicBezTo>
                    <a:cubicBezTo>
                      <a:pt x="369" y="423"/>
                      <a:pt x="376" y="420"/>
                      <a:pt x="383" y="417"/>
                    </a:cubicBezTo>
                    <a:cubicBezTo>
                      <a:pt x="384" y="410"/>
                      <a:pt x="385" y="403"/>
                      <a:pt x="387" y="397"/>
                    </a:cubicBezTo>
                    <a:cubicBezTo>
                      <a:pt x="387" y="394"/>
                      <a:pt x="387" y="394"/>
                      <a:pt x="387" y="394"/>
                    </a:cubicBezTo>
                    <a:cubicBezTo>
                      <a:pt x="387" y="386"/>
                      <a:pt x="389" y="379"/>
                      <a:pt x="391" y="371"/>
                    </a:cubicBezTo>
                    <a:cubicBezTo>
                      <a:pt x="391" y="370"/>
                      <a:pt x="391" y="370"/>
                      <a:pt x="391" y="369"/>
                    </a:cubicBezTo>
                    <a:cubicBezTo>
                      <a:pt x="393" y="361"/>
                      <a:pt x="394" y="354"/>
                      <a:pt x="395" y="345"/>
                    </a:cubicBezTo>
                    <a:cubicBezTo>
                      <a:pt x="395" y="345"/>
                      <a:pt x="395" y="345"/>
                      <a:pt x="395" y="344"/>
                    </a:cubicBezTo>
                    <a:cubicBezTo>
                      <a:pt x="397" y="338"/>
                      <a:pt x="398" y="331"/>
                      <a:pt x="400" y="325"/>
                    </a:cubicBezTo>
                    <a:cubicBezTo>
                      <a:pt x="391" y="330"/>
                      <a:pt x="381" y="334"/>
                      <a:pt x="370" y="334"/>
                    </a:cubicBezTo>
                    <a:cubicBezTo>
                      <a:pt x="367" y="334"/>
                      <a:pt x="364" y="333"/>
                      <a:pt x="362" y="333"/>
                    </a:cubicBezTo>
                    <a:close/>
                    <a:moveTo>
                      <a:pt x="1445" y="0"/>
                    </a:moveTo>
                    <a:cubicBezTo>
                      <a:pt x="583" y="0"/>
                      <a:pt x="583" y="0"/>
                      <a:pt x="583" y="0"/>
                    </a:cubicBezTo>
                    <a:cubicBezTo>
                      <a:pt x="580" y="0"/>
                      <a:pt x="577" y="1"/>
                      <a:pt x="575" y="2"/>
                    </a:cubicBezTo>
                    <a:cubicBezTo>
                      <a:pt x="519" y="11"/>
                      <a:pt x="468" y="61"/>
                      <a:pt x="426" y="143"/>
                    </a:cubicBezTo>
                    <a:cubicBezTo>
                      <a:pt x="428" y="149"/>
                      <a:pt x="429" y="155"/>
                      <a:pt x="429" y="161"/>
                    </a:cubicBezTo>
                    <a:cubicBezTo>
                      <a:pt x="429" y="226"/>
                      <a:pt x="429" y="226"/>
                      <a:pt x="429" y="226"/>
                    </a:cubicBezTo>
                    <a:cubicBezTo>
                      <a:pt x="431" y="220"/>
                      <a:pt x="433" y="214"/>
                      <a:pt x="435" y="208"/>
                    </a:cubicBezTo>
                    <a:cubicBezTo>
                      <a:pt x="437" y="204"/>
                      <a:pt x="438" y="202"/>
                      <a:pt x="439" y="198"/>
                    </a:cubicBezTo>
                    <a:cubicBezTo>
                      <a:pt x="439" y="197"/>
                      <a:pt x="439" y="197"/>
                      <a:pt x="440" y="196"/>
                    </a:cubicBezTo>
                    <a:cubicBezTo>
                      <a:pt x="441" y="194"/>
                      <a:pt x="442" y="191"/>
                      <a:pt x="443" y="189"/>
                    </a:cubicBezTo>
                    <a:cubicBezTo>
                      <a:pt x="444" y="187"/>
                      <a:pt x="445" y="186"/>
                      <a:pt x="445" y="185"/>
                    </a:cubicBezTo>
                    <a:cubicBezTo>
                      <a:pt x="446" y="183"/>
                      <a:pt x="446" y="181"/>
                      <a:pt x="447" y="180"/>
                    </a:cubicBezTo>
                    <a:cubicBezTo>
                      <a:pt x="447" y="178"/>
                      <a:pt x="448" y="177"/>
                      <a:pt x="449" y="174"/>
                    </a:cubicBezTo>
                    <a:cubicBezTo>
                      <a:pt x="450" y="173"/>
                      <a:pt x="451" y="172"/>
                      <a:pt x="451" y="171"/>
                    </a:cubicBezTo>
                    <a:cubicBezTo>
                      <a:pt x="452" y="169"/>
                      <a:pt x="453" y="168"/>
                      <a:pt x="454" y="166"/>
                    </a:cubicBezTo>
                    <a:cubicBezTo>
                      <a:pt x="455" y="165"/>
                      <a:pt x="455" y="164"/>
                      <a:pt x="455" y="162"/>
                    </a:cubicBezTo>
                    <a:cubicBezTo>
                      <a:pt x="456" y="161"/>
                      <a:pt x="457" y="160"/>
                      <a:pt x="457" y="158"/>
                    </a:cubicBezTo>
                    <a:cubicBezTo>
                      <a:pt x="458" y="157"/>
                      <a:pt x="459" y="155"/>
                      <a:pt x="459" y="154"/>
                    </a:cubicBezTo>
                    <a:cubicBezTo>
                      <a:pt x="460" y="152"/>
                      <a:pt x="461" y="151"/>
                      <a:pt x="462" y="150"/>
                    </a:cubicBezTo>
                    <a:cubicBezTo>
                      <a:pt x="463" y="149"/>
                      <a:pt x="463" y="147"/>
                      <a:pt x="463" y="146"/>
                    </a:cubicBezTo>
                    <a:cubicBezTo>
                      <a:pt x="464" y="145"/>
                      <a:pt x="465" y="143"/>
                      <a:pt x="465" y="143"/>
                    </a:cubicBezTo>
                    <a:cubicBezTo>
                      <a:pt x="466" y="141"/>
                      <a:pt x="467" y="140"/>
                      <a:pt x="468" y="138"/>
                    </a:cubicBezTo>
                    <a:cubicBezTo>
                      <a:pt x="469" y="137"/>
                      <a:pt x="469" y="136"/>
                      <a:pt x="470" y="135"/>
                    </a:cubicBezTo>
                    <a:cubicBezTo>
                      <a:pt x="471" y="134"/>
                      <a:pt x="472" y="133"/>
                      <a:pt x="472" y="131"/>
                    </a:cubicBezTo>
                    <a:cubicBezTo>
                      <a:pt x="472" y="130"/>
                      <a:pt x="473" y="129"/>
                      <a:pt x="473" y="129"/>
                    </a:cubicBezTo>
                    <a:cubicBezTo>
                      <a:pt x="474" y="127"/>
                      <a:pt x="476" y="125"/>
                      <a:pt x="477" y="124"/>
                    </a:cubicBezTo>
                    <a:cubicBezTo>
                      <a:pt x="477" y="123"/>
                      <a:pt x="477" y="123"/>
                      <a:pt x="478" y="122"/>
                    </a:cubicBezTo>
                    <a:cubicBezTo>
                      <a:pt x="479" y="120"/>
                      <a:pt x="480" y="118"/>
                      <a:pt x="481" y="116"/>
                    </a:cubicBezTo>
                    <a:cubicBezTo>
                      <a:pt x="510" y="72"/>
                      <a:pt x="542" y="45"/>
                      <a:pt x="575" y="37"/>
                    </a:cubicBezTo>
                    <a:cubicBezTo>
                      <a:pt x="576" y="37"/>
                      <a:pt x="578" y="37"/>
                      <a:pt x="579" y="36"/>
                    </a:cubicBezTo>
                    <a:cubicBezTo>
                      <a:pt x="580" y="36"/>
                      <a:pt x="580" y="36"/>
                      <a:pt x="581" y="36"/>
                    </a:cubicBezTo>
                    <a:cubicBezTo>
                      <a:pt x="582" y="36"/>
                      <a:pt x="583" y="35"/>
                      <a:pt x="585" y="35"/>
                    </a:cubicBezTo>
                    <a:cubicBezTo>
                      <a:pt x="586" y="34"/>
                      <a:pt x="587" y="34"/>
                      <a:pt x="589" y="34"/>
                    </a:cubicBezTo>
                    <a:cubicBezTo>
                      <a:pt x="595" y="34"/>
                      <a:pt x="595" y="34"/>
                      <a:pt x="595" y="34"/>
                    </a:cubicBezTo>
                    <a:cubicBezTo>
                      <a:pt x="1437" y="34"/>
                      <a:pt x="1445" y="34"/>
                      <a:pt x="1445" y="34"/>
                    </a:cubicBezTo>
                    <a:cubicBezTo>
                      <a:pt x="1451" y="34"/>
                      <a:pt x="1451" y="34"/>
                      <a:pt x="1451" y="34"/>
                    </a:cubicBezTo>
                    <a:cubicBezTo>
                      <a:pt x="1452" y="35"/>
                      <a:pt x="1453" y="35"/>
                      <a:pt x="1454" y="35"/>
                    </a:cubicBezTo>
                    <a:cubicBezTo>
                      <a:pt x="1456" y="35"/>
                      <a:pt x="1456" y="35"/>
                      <a:pt x="1456" y="35"/>
                    </a:cubicBezTo>
                    <a:cubicBezTo>
                      <a:pt x="1457" y="35"/>
                      <a:pt x="1459" y="36"/>
                      <a:pt x="1460" y="36"/>
                    </a:cubicBezTo>
                    <a:cubicBezTo>
                      <a:pt x="1461" y="36"/>
                      <a:pt x="1462" y="36"/>
                      <a:pt x="1462" y="36"/>
                    </a:cubicBezTo>
                    <a:cubicBezTo>
                      <a:pt x="1463" y="37"/>
                      <a:pt x="1464" y="37"/>
                      <a:pt x="1466" y="37"/>
                    </a:cubicBezTo>
                    <a:cubicBezTo>
                      <a:pt x="1467" y="37"/>
                      <a:pt x="1467" y="37"/>
                      <a:pt x="1468" y="37"/>
                    </a:cubicBezTo>
                    <a:cubicBezTo>
                      <a:pt x="1469" y="37"/>
                      <a:pt x="1471" y="38"/>
                      <a:pt x="1471" y="38"/>
                    </a:cubicBezTo>
                    <a:cubicBezTo>
                      <a:pt x="1472" y="38"/>
                      <a:pt x="1473" y="39"/>
                      <a:pt x="1473" y="39"/>
                    </a:cubicBezTo>
                    <a:cubicBezTo>
                      <a:pt x="1475" y="39"/>
                      <a:pt x="1476" y="40"/>
                      <a:pt x="1478" y="40"/>
                    </a:cubicBezTo>
                    <a:cubicBezTo>
                      <a:pt x="1478" y="41"/>
                      <a:pt x="1479" y="41"/>
                      <a:pt x="1479" y="41"/>
                    </a:cubicBezTo>
                    <a:cubicBezTo>
                      <a:pt x="1480" y="42"/>
                      <a:pt x="1481" y="42"/>
                      <a:pt x="1483" y="43"/>
                    </a:cubicBezTo>
                    <a:cubicBezTo>
                      <a:pt x="1484" y="43"/>
                      <a:pt x="1484" y="44"/>
                      <a:pt x="1485" y="44"/>
                    </a:cubicBezTo>
                    <a:cubicBezTo>
                      <a:pt x="1486" y="45"/>
                      <a:pt x="1488" y="45"/>
                      <a:pt x="1488" y="46"/>
                    </a:cubicBezTo>
                    <a:cubicBezTo>
                      <a:pt x="1489" y="46"/>
                      <a:pt x="1490" y="46"/>
                      <a:pt x="1491" y="46"/>
                    </a:cubicBezTo>
                    <a:cubicBezTo>
                      <a:pt x="1492" y="47"/>
                      <a:pt x="1493" y="48"/>
                      <a:pt x="1494" y="48"/>
                    </a:cubicBezTo>
                    <a:cubicBezTo>
                      <a:pt x="1495" y="49"/>
                      <a:pt x="1496" y="50"/>
                      <a:pt x="1496" y="50"/>
                    </a:cubicBezTo>
                    <a:cubicBezTo>
                      <a:pt x="1497" y="51"/>
                      <a:pt x="1498" y="51"/>
                      <a:pt x="1499" y="52"/>
                    </a:cubicBezTo>
                    <a:cubicBezTo>
                      <a:pt x="1500" y="53"/>
                      <a:pt x="1502" y="54"/>
                      <a:pt x="1504" y="55"/>
                    </a:cubicBezTo>
                    <a:cubicBezTo>
                      <a:pt x="1504" y="55"/>
                      <a:pt x="1504" y="55"/>
                      <a:pt x="1504" y="55"/>
                    </a:cubicBezTo>
                    <a:cubicBezTo>
                      <a:pt x="1506" y="56"/>
                      <a:pt x="1508" y="58"/>
                      <a:pt x="1510" y="60"/>
                    </a:cubicBezTo>
                    <a:cubicBezTo>
                      <a:pt x="1511" y="60"/>
                      <a:pt x="1512" y="61"/>
                      <a:pt x="1513" y="62"/>
                    </a:cubicBezTo>
                    <a:cubicBezTo>
                      <a:pt x="1513" y="63"/>
                      <a:pt x="1513" y="63"/>
                      <a:pt x="1514" y="63"/>
                    </a:cubicBezTo>
                    <a:cubicBezTo>
                      <a:pt x="1543" y="89"/>
                      <a:pt x="1570" y="128"/>
                      <a:pt x="1592" y="179"/>
                    </a:cubicBezTo>
                    <a:cubicBezTo>
                      <a:pt x="1593" y="180"/>
                      <a:pt x="1593" y="181"/>
                      <a:pt x="1594" y="182"/>
                    </a:cubicBezTo>
                    <a:cubicBezTo>
                      <a:pt x="1595" y="184"/>
                      <a:pt x="1596" y="186"/>
                      <a:pt x="1596" y="187"/>
                    </a:cubicBezTo>
                    <a:cubicBezTo>
                      <a:pt x="1598" y="190"/>
                      <a:pt x="1599" y="194"/>
                      <a:pt x="1600" y="197"/>
                    </a:cubicBezTo>
                    <a:cubicBezTo>
                      <a:pt x="1601" y="200"/>
                      <a:pt x="1602" y="203"/>
                      <a:pt x="1604" y="205"/>
                    </a:cubicBezTo>
                    <a:cubicBezTo>
                      <a:pt x="1604" y="206"/>
                      <a:pt x="1604" y="206"/>
                      <a:pt x="1604" y="206"/>
                    </a:cubicBezTo>
                    <a:cubicBezTo>
                      <a:pt x="1606" y="210"/>
                      <a:pt x="1607" y="213"/>
                      <a:pt x="1607" y="216"/>
                    </a:cubicBezTo>
                    <a:cubicBezTo>
                      <a:pt x="1608" y="217"/>
                      <a:pt x="1608" y="217"/>
                      <a:pt x="1608" y="217"/>
                    </a:cubicBezTo>
                    <a:cubicBezTo>
                      <a:pt x="1646" y="318"/>
                      <a:pt x="1669" y="453"/>
                      <a:pt x="1671" y="600"/>
                    </a:cubicBezTo>
                    <a:cubicBezTo>
                      <a:pt x="1671" y="628"/>
                      <a:pt x="1671" y="628"/>
                      <a:pt x="1671" y="628"/>
                    </a:cubicBezTo>
                    <a:cubicBezTo>
                      <a:pt x="1669" y="775"/>
                      <a:pt x="1646" y="909"/>
                      <a:pt x="1608" y="1011"/>
                    </a:cubicBezTo>
                    <a:cubicBezTo>
                      <a:pt x="1608" y="1011"/>
                      <a:pt x="1608" y="1011"/>
                      <a:pt x="1607" y="1012"/>
                    </a:cubicBezTo>
                    <a:cubicBezTo>
                      <a:pt x="1607" y="1014"/>
                      <a:pt x="1606" y="1018"/>
                      <a:pt x="1604" y="1022"/>
                    </a:cubicBezTo>
                    <a:cubicBezTo>
                      <a:pt x="1604" y="1022"/>
                      <a:pt x="1604" y="1022"/>
                      <a:pt x="1603" y="1023"/>
                    </a:cubicBezTo>
                    <a:cubicBezTo>
                      <a:pt x="1602" y="1026"/>
                      <a:pt x="1601" y="1028"/>
                      <a:pt x="1600" y="1031"/>
                    </a:cubicBezTo>
                    <a:cubicBezTo>
                      <a:pt x="1599" y="1034"/>
                      <a:pt x="1598" y="1038"/>
                      <a:pt x="1596" y="1040"/>
                    </a:cubicBezTo>
                    <a:cubicBezTo>
                      <a:pt x="1596" y="1042"/>
                      <a:pt x="1595" y="1044"/>
                      <a:pt x="1594" y="1046"/>
                    </a:cubicBezTo>
                    <a:cubicBezTo>
                      <a:pt x="1593" y="1047"/>
                      <a:pt x="1593" y="1048"/>
                      <a:pt x="1592" y="1049"/>
                    </a:cubicBezTo>
                    <a:cubicBezTo>
                      <a:pt x="1570" y="1100"/>
                      <a:pt x="1543" y="1139"/>
                      <a:pt x="1514" y="1164"/>
                    </a:cubicBezTo>
                    <a:cubicBezTo>
                      <a:pt x="1513" y="1165"/>
                      <a:pt x="1513" y="1165"/>
                      <a:pt x="1513" y="1166"/>
                    </a:cubicBezTo>
                    <a:cubicBezTo>
                      <a:pt x="1512" y="1167"/>
                      <a:pt x="1511" y="1168"/>
                      <a:pt x="1510" y="1168"/>
                    </a:cubicBezTo>
                    <a:cubicBezTo>
                      <a:pt x="1508" y="1170"/>
                      <a:pt x="1506" y="1172"/>
                      <a:pt x="1504" y="1172"/>
                    </a:cubicBezTo>
                    <a:cubicBezTo>
                      <a:pt x="1504" y="1173"/>
                      <a:pt x="1504" y="1173"/>
                      <a:pt x="1504" y="1173"/>
                    </a:cubicBezTo>
                    <a:cubicBezTo>
                      <a:pt x="1502" y="1174"/>
                      <a:pt x="1500" y="1175"/>
                      <a:pt x="1499" y="1176"/>
                    </a:cubicBezTo>
                    <a:cubicBezTo>
                      <a:pt x="1498" y="1177"/>
                      <a:pt x="1497" y="1177"/>
                      <a:pt x="1496" y="1178"/>
                    </a:cubicBezTo>
                    <a:cubicBezTo>
                      <a:pt x="1496" y="1178"/>
                      <a:pt x="1495" y="1179"/>
                      <a:pt x="1494" y="1180"/>
                    </a:cubicBezTo>
                    <a:cubicBezTo>
                      <a:pt x="1493" y="1180"/>
                      <a:pt x="1492" y="1181"/>
                      <a:pt x="1491" y="1181"/>
                    </a:cubicBezTo>
                    <a:cubicBezTo>
                      <a:pt x="1490" y="1181"/>
                      <a:pt x="1489" y="1182"/>
                      <a:pt x="1488" y="1182"/>
                    </a:cubicBezTo>
                    <a:cubicBezTo>
                      <a:pt x="1488" y="1183"/>
                      <a:pt x="1486" y="1183"/>
                      <a:pt x="1485" y="1184"/>
                    </a:cubicBezTo>
                    <a:cubicBezTo>
                      <a:pt x="1484" y="1184"/>
                      <a:pt x="1484" y="1185"/>
                      <a:pt x="1483" y="1185"/>
                    </a:cubicBezTo>
                    <a:cubicBezTo>
                      <a:pt x="1481" y="1186"/>
                      <a:pt x="1480" y="1186"/>
                      <a:pt x="1479" y="1187"/>
                    </a:cubicBezTo>
                    <a:cubicBezTo>
                      <a:pt x="1479" y="1187"/>
                      <a:pt x="1478" y="1187"/>
                      <a:pt x="1478" y="1188"/>
                    </a:cubicBezTo>
                    <a:cubicBezTo>
                      <a:pt x="1476" y="1188"/>
                      <a:pt x="1475" y="1189"/>
                      <a:pt x="1473" y="1189"/>
                    </a:cubicBezTo>
                    <a:cubicBezTo>
                      <a:pt x="1473" y="1189"/>
                      <a:pt x="1472" y="1190"/>
                      <a:pt x="1471" y="1190"/>
                    </a:cubicBezTo>
                    <a:cubicBezTo>
                      <a:pt x="1471" y="1190"/>
                      <a:pt x="1469" y="1190"/>
                      <a:pt x="1468" y="1190"/>
                    </a:cubicBezTo>
                    <a:cubicBezTo>
                      <a:pt x="1467" y="1190"/>
                      <a:pt x="1467" y="1191"/>
                      <a:pt x="1466" y="1191"/>
                    </a:cubicBezTo>
                    <a:cubicBezTo>
                      <a:pt x="1464" y="1191"/>
                      <a:pt x="1463" y="1191"/>
                      <a:pt x="1462" y="1192"/>
                    </a:cubicBezTo>
                    <a:cubicBezTo>
                      <a:pt x="1462" y="1192"/>
                      <a:pt x="1461" y="1192"/>
                      <a:pt x="1460" y="1192"/>
                    </a:cubicBezTo>
                    <a:cubicBezTo>
                      <a:pt x="1459" y="1192"/>
                      <a:pt x="1457" y="1193"/>
                      <a:pt x="1456" y="1193"/>
                    </a:cubicBezTo>
                    <a:cubicBezTo>
                      <a:pt x="1454" y="1193"/>
                      <a:pt x="1454" y="1193"/>
                      <a:pt x="1454" y="1193"/>
                    </a:cubicBezTo>
                    <a:cubicBezTo>
                      <a:pt x="1453" y="1193"/>
                      <a:pt x="1452" y="1193"/>
                      <a:pt x="1451" y="1194"/>
                    </a:cubicBezTo>
                    <a:cubicBezTo>
                      <a:pt x="1445" y="1194"/>
                      <a:pt x="1445" y="1194"/>
                      <a:pt x="1445" y="1194"/>
                    </a:cubicBezTo>
                    <a:cubicBezTo>
                      <a:pt x="1444" y="1194"/>
                      <a:pt x="1444" y="1194"/>
                      <a:pt x="1443" y="1194"/>
                    </a:cubicBezTo>
                    <a:cubicBezTo>
                      <a:pt x="1442" y="1194"/>
                      <a:pt x="1442" y="1194"/>
                      <a:pt x="1442" y="1194"/>
                    </a:cubicBezTo>
                    <a:cubicBezTo>
                      <a:pt x="1441" y="1194"/>
                      <a:pt x="1441" y="1194"/>
                      <a:pt x="1441" y="1194"/>
                    </a:cubicBezTo>
                    <a:cubicBezTo>
                      <a:pt x="1437" y="1194"/>
                      <a:pt x="1437" y="1194"/>
                      <a:pt x="1437" y="1194"/>
                    </a:cubicBezTo>
                    <a:cubicBezTo>
                      <a:pt x="1434" y="1193"/>
                      <a:pt x="1434" y="1193"/>
                      <a:pt x="1434" y="1193"/>
                    </a:cubicBezTo>
                    <a:cubicBezTo>
                      <a:pt x="607" y="1193"/>
                      <a:pt x="607" y="1193"/>
                      <a:pt x="607" y="1193"/>
                    </a:cubicBezTo>
                    <a:cubicBezTo>
                      <a:pt x="604" y="1194"/>
                      <a:pt x="604" y="1194"/>
                      <a:pt x="604" y="1194"/>
                    </a:cubicBezTo>
                    <a:cubicBezTo>
                      <a:pt x="600" y="1194"/>
                      <a:pt x="600" y="1194"/>
                      <a:pt x="600" y="1194"/>
                    </a:cubicBezTo>
                    <a:cubicBezTo>
                      <a:pt x="599" y="1194"/>
                      <a:pt x="599" y="1194"/>
                      <a:pt x="599" y="1194"/>
                    </a:cubicBezTo>
                    <a:cubicBezTo>
                      <a:pt x="599" y="1194"/>
                      <a:pt x="599" y="1194"/>
                      <a:pt x="598" y="1194"/>
                    </a:cubicBezTo>
                    <a:cubicBezTo>
                      <a:pt x="597" y="1194"/>
                      <a:pt x="597" y="1194"/>
                      <a:pt x="596" y="1194"/>
                    </a:cubicBezTo>
                    <a:cubicBezTo>
                      <a:pt x="590" y="1194"/>
                      <a:pt x="590" y="1194"/>
                      <a:pt x="590" y="1194"/>
                    </a:cubicBezTo>
                    <a:cubicBezTo>
                      <a:pt x="589" y="1193"/>
                      <a:pt x="588" y="1193"/>
                      <a:pt x="587" y="1193"/>
                    </a:cubicBezTo>
                    <a:cubicBezTo>
                      <a:pt x="584" y="1193"/>
                      <a:pt x="584" y="1193"/>
                      <a:pt x="584" y="1193"/>
                    </a:cubicBezTo>
                    <a:cubicBezTo>
                      <a:pt x="583" y="1193"/>
                      <a:pt x="582" y="1192"/>
                      <a:pt x="581" y="1192"/>
                    </a:cubicBezTo>
                    <a:cubicBezTo>
                      <a:pt x="580" y="1192"/>
                      <a:pt x="579" y="1192"/>
                      <a:pt x="579" y="1192"/>
                    </a:cubicBezTo>
                    <a:cubicBezTo>
                      <a:pt x="577" y="1191"/>
                      <a:pt x="576" y="1191"/>
                      <a:pt x="574" y="1191"/>
                    </a:cubicBezTo>
                    <a:cubicBezTo>
                      <a:pt x="574" y="1191"/>
                      <a:pt x="574" y="1190"/>
                      <a:pt x="573" y="1190"/>
                    </a:cubicBezTo>
                    <a:cubicBezTo>
                      <a:pt x="572" y="1190"/>
                      <a:pt x="570" y="1190"/>
                      <a:pt x="569" y="1190"/>
                    </a:cubicBezTo>
                    <a:cubicBezTo>
                      <a:pt x="568" y="1190"/>
                      <a:pt x="567" y="1189"/>
                      <a:pt x="567" y="1189"/>
                    </a:cubicBezTo>
                    <a:cubicBezTo>
                      <a:pt x="566" y="1189"/>
                      <a:pt x="565" y="1188"/>
                      <a:pt x="563" y="1188"/>
                    </a:cubicBezTo>
                    <a:cubicBezTo>
                      <a:pt x="563" y="1187"/>
                      <a:pt x="562" y="1187"/>
                      <a:pt x="561" y="1187"/>
                    </a:cubicBezTo>
                    <a:cubicBezTo>
                      <a:pt x="560" y="1186"/>
                      <a:pt x="559" y="1186"/>
                      <a:pt x="557" y="1185"/>
                    </a:cubicBezTo>
                    <a:cubicBezTo>
                      <a:pt x="557" y="1185"/>
                      <a:pt x="557" y="1184"/>
                      <a:pt x="556" y="1184"/>
                    </a:cubicBezTo>
                    <a:cubicBezTo>
                      <a:pt x="555" y="1183"/>
                      <a:pt x="553" y="1183"/>
                      <a:pt x="552" y="1182"/>
                    </a:cubicBezTo>
                    <a:cubicBezTo>
                      <a:pt x="551" y="1182"/>
                      <a:pt x="550" y="1181"/>
                      <a:pt x="549" y="1181"/>
                    </a:cubicBezTo>
                    <a:cubicBezTo>
                      <a:pt x="549" y="1181"/>
                      <a:pt x="548" y="1180"/>
                      <a:pt x="547" y="1180"/>
                    </a:cubicBezTo>
                    <a:cubicBezTo>
                      <a:pt x="546" y="1179"/>
                      <a:pt x="545" y="1178"/>
                      <a:pt x="544" y="1178"/>
                    </a:cubicBezTo>
                    <a:cubicBezTo>
                      <a:pt x="543" y="1177"/>
                      <a:pt x="542" y="1177"/>
                      <a:pt x="541" y="1176"/>
                    </a:cubicBezTo>
                    <a:cubicBezTo>
                      <a:pt x="540" y="1175"/>
                      <a:pt x="539" y="1174"/>
                      <a:pt x="537" y="1173"/>
                    </a:cubicBezTo>
                    <a:cubicBezTo>
                      <a:pt x="537" y="1173"/>
                      <a:pt x="537" y="1172"/>
                      <a:pt x="536" y="1172"/>
                    </a:cubicBezTo>
                    <a:cubicBezTo>
                      <a:pt x="534" y="1172"/>
                      <a:pt x="532" y="1170"/>
                      <a:pt x="531" y="1168"/>
                    </a:cubicBezTo>
                    <a:cubicBezTo>
                      <a:pt x="530" y="1168"/>
                      <a:pt x="529" y="1167"/>
                      <a:pt x="528" y="1166"/>
                    </a:cubicBezTo>
                    <a:cubicBezTo>
                      <a:pt x="528" y="1165"/>
                      <a:pt x="527" y="1165"/>
                      <a:pt x="526" y="1164"/>
                    </a:cubicBezTo>
                    <a:cubicBezTo>
                      <a:pt x="504" y="1145"/>
                      <a:pt x="483" y="1118"/>
                      <a:pt x="465" y="1083"/>
                    </a:cubicBezTo>
                    <a:cubicBezTo>
                      <a:pt x="458" y="1093"/>
                      <a:pt x="449" y="1102"/>
                      <a:pt x="439" y="1109"/>
                    </a:cubicBezTo>
                    <a:cubicBezTo>
                      <a:pt x="482" y="1184"/>
                      <a:pt x="537" y="1228"/>
                      <a:pt x="596" y="1228"/>
                    </a:cubicBezTo>
                    <a:cubicBezTo>
                      <a:pt x="600" y="1228"/>
                      <a:pt x="606" y="1228"/>
                      <a:pt x="610" y="1227"/>
                    </a:cubicBezTo>
                    <a:cubicBezTo>
                      <a:pt x="1430" y="1227"/>
                      <a:pt x="1430" y="1227"/>
                      <a:pt x="1430" y="1227"/>
                    </a:cubicBezTo>
                    <a:cubicBezTo>
                      <a:pt x="1435" y="1228"/>
                      <a:pt x="1440" y="1228"/>
                      <a:pt x="1445" y="1228"/>
                    </a:cubicBezTo>
                    <a:cubicBezTo>
                      <a:pt x="1591" y="1228"/>
                      <a:pt x="1707" y="959"/>
                      <a:pt x="1707" y="614"/>
                    </a:cubicBezTo>
                    <a:cubicBezTo>
                      <a:pt x="1707" y="269"/>
                      <a:pt x="1591" y="0"/>
                      <a:pt x="1445" y="0"/>
                    </a:cubicBezTo>
                    <a:close/>
                    <a:moveTo>
                      <a:pt x="444" y="319"/>
                    </a:moveTo>
                    <a:cubicBezTo>
                      <a:pt x="437" y="346"/>
                      <a:pt x="432" y="375"/>
                      <a:pt x="427" y="405"/>
                    </a:cubicBezTo>
                    <a:cubicBezTo>
                      <a:pt x="451" y="423"/>
                      <a:pt x="451" y="423"/>
                      <a:pt x="451" y="423"/>
                    </a:cubicBezTo>
                    <a:cubicBezTo>
                      <a:pt x="458" y="422"/>
                      <a:pt x="465" y="422"/>
                      <a:pt x="471" y="422"/>
                    </a:cubicBezTo>
                    <a:cubicBezTo>
                      <a:pt x="477" y="422"/>
                      <a:pt x="483" y="422"/>
                      <a:pt x="489" y="423"/>
                    </a:cubicBezTo>
                    <a:cubicBezTo>
                      <a:pt x="516" y="403"/>
                      <a:pt x="516" y="403"/>
                      <a:pt x="516" y="403"/>
                    </a:cubicBezTo>
                    <a:cubicBezTo>
                      <a:pt x="535" y="409"/>
                      <a:pt x="535" y="409"/>
                      <a:pt x="535" y="409"/>
                    </a:cubicBezTo>
                    <a:cubicBezTo>
                      <a:pt x="564" y="418"/>
                      <a:pt x="593" y="435"/>
                      <a:pt x="616" y="456"/>
                    </a:cubicBezTo>
                    <a:cubicBezTo>
                      <a:pt x="630" y="470"/>
                      <a:pt x="630" y="470"/>
                      <a:pt x="630" y="470"/>
                    </a:cubicBezTo>
                    <a:cubicBezTo>
                      <a:pt x="627" y="502"/>
                      <a:pt x="627" y="502"/>
                      <a:pt x="627" y="502"/>
                    </a:cubicBezTo>
                    <a:cubicBezTo>
                      <a:pt x="631" y="509"/>
                      <a:pt x="635" y="515"/>
                      <a:pt x="639" y="522"/>
                    </a:cubicBezTo>
                    <a:cubicBezTo>
                      <a:pt x="643" y="528"/>
                      <a:pt x="646" y="534"/>
                      <a:pt x="648" y="540"/>
                    </a:cubicBezTo>
                    <a:cubicBezTo>
                      <a:pt x="679" y="555"/>
                      <a:pt x="679" y="555"/>
                      <a:pt x="679" y="555"/>
                    </a:cubicBezTo>
                    <a:cubicBezTo>
                      <a:pt x="683" y="573"/>
                      <a:pt x="683" y="573"/>
                      <a:pt x="683" y="573"/>
                    </a:cubicBezTo>
                    <a:cubicBezTo>
                      <a:pt x="689" y="602"/>
                      <a:pt x="690" y="633"/>
                      <a:pt x="684" y="664"/>
                    </a:cubicBezTo>
                    <a:cubicBezTo>
                      <a:pt x="680" y="684"/>
                      <a:pt x="680" y="684"/>
                      <a:pt x="680" y="684"/>
                    </a:cubicBezTo>
                    <a:cubicBezTo>
                      <a:pt x="649" y="698"/>
                      <a:pt x="649" y="698"/>
                      <a:pt x="649" y="698"/>
                    </a:cubicBezTo>
                    <a:cubicBezTo>
                      <a:pt x="643" y="712"/>
                      <a:pt x="636" y="725"/>
                      <a:pt x="627" y="737"/>
                    </a:cubicBezTo>
                    <a:cubicBezTo>
                      <a:pt x="631" y="772"/>
                      <a:pt x="631" y="772"/>
                      <a:pt x="631" y="772"/>
                    </a:cubicBezTo>
                    <a:cubicBezTo>
                      <a:pt x="615" y="786"/>
                      <a:pt x="615" y="786"/>
                      <a:pt x="615" y="786"/>
                    </a:cubicBezTo>
                    <a:cubicBezTo>
                      <a:pt x="604" y="794"/>
                      <a:pt x="593" y="804"/>
                      <a:pt x="579" y="812"/>
                    </a:cubicBezTo>
                    <a:cubicBezTo>
                      <a:pt x="578" y="812"/>
                      <a:pt x="578" y="812"/>
                      <a:pt x="578" y="812"/>
                    </a:cubicBezTo>
                    <a:cubicBezTo>
                      <a:pt x="577" y="813"/>
                      <a:pt x="577" y="813"/>
                      <a:pt x="577" y="813"/>
                    </a:cubicBezTo>
                    <a:cubicBezTo>
                      <a:pt x="563" y="820"/>
                      <a:pt x="551" y="826"/>
                      <a:pt x="540" y="829"/>
                    </a:cubicBezTo>
                    <a:cubicBezTo>
                      <a:pt x="521" y="836"/>
                      <a:pt x="521" y="836"/>
                      <a:pt x="521" y="836"/>
                    </a:cubicBezTo>
                    <a:cubicBezTo>
                      <a:pt x="492" y="816"/>
                      <a:pt x="492" y="816"/>
                      <a:pt x="492" y="816"/>
                    </a:cubicBezTo>
                    <a:cubicBezTo>
                      <a:pt x="485" y="817"/>
                      <a:pt x="478" y="817"/>
                      <a:pt x="471" y="817"/>
                    </a:cubicBezTo>
                    <a:cubicBezTo>
                      <a:pt x="463" y="817"/>
                      <a:pt x="455" y="817"/>
                      <a:pt x="447" y="816"/>
                    </a:cubicBezTo>
                    <a:cubicBezTo>
                      <a:pt x="428" y="829"/>
                      <a:pt x="428" y="829"/>
                      <a:pt x="428" y="829"/>
                    </a:cubicBezTo>
                    <a:cubicBezTo>
                      <a:pt x="433" y="862"/>
                      <a:pt x="439" y="894"/>
                      <a:pt x="447" y="923"/>
                    </a:cubicBezTo>
                    <a:cubicBezTo>
                      <a:pt x="472" y="945"/>
                      <a:pt x="488" y="977"/>
                      <a:pt x="488" y="1013"/>
                    </a:cubicBezTo>
                    <a:cubicBezTo>
                      <a:pt x="488" y="1021"/>
                      <a:pt x="487" y="1029"/>
                      <a:pt x="486" y="1036"/>
                    </a:cubicBezTo>
                    <a:cubicBezTo>
                      <a:pt x="518" y="1107"/>
                      <a:pt x="559" y="1151"/>
                      <a:pt x="604" y="1154"/>
                    </a:cubicBezTo>
                    <a:cubicBezTo>
                      <a:pt x="615" y="1154"/>
                      <a:pt x="615" y="1154"/>
                      <a:pt x="615" y="1154"/>
                    </a:cubicBezTo>
                    <a:cubicBezTo>
                      <a:pt x="721" y="1146"/>
                      <a:pt x="808" y="907"/>
                      <a:pt x="808" y="614"/>
                    </a:cubicBezTo>
                    <a:cubicBezTo>
                      <a:pt x="808" y="317"/>
                      <a:pt x="718" y="76"/>
                      <a:pt x="609" y="76"/>
                    </a:cubicBezTo>
                    <a:cubicBezTo>
                      <a:pt x="562" y="76"/>
                      <a:pt x="519" y="121"/>
                      <a:pt x="485" y="196"/>
                    </a:cubicBezTo>
                    <a:moveTo>
                      <a:pt x="345" y="800"/>
                    </a:moveTo>
                    <a:cubicBezTo>
                      <a:pt x="350" y="833"/>
                      <a:pt x="355" y="864"/>
                      <a:pt x="362" y="894"/>
                    </a:cubicBezTo>
                    <a:cubicBezTo>
                      <a:pt x="364" y="894"/>
                      <a:pt x="367" y="894"/>
                      <a:pt x="370" y="894"/>
                    </a:cubicBezTo>
                    <a:cubicBezTo>
                      <a:pt x="380" y="894"/>
                      <a:pt x="390" y="896"/>
                      <a:pt x="400" y="898"/>
                    </a:cubicBezTo>
                    <a:cubicBezTo>
                      <a:pt x="394" y="874"/>
                      <a:pt x="389" y="849"/>
                      <a:pt x="385" y="823"/>
                    </a:cubicBezTo>
                    <a:cubicBezTo>
                      <a:pt x="371" y="816"/>
                      <a:pt x="358" y="809"/>
                      <a:pt x="345" y="800"/>
                    </a:cubicBezTo>
                    <a:close/>
                    <a:moveTo>
                      <a:pt x="226" y="1016"/>
                    </a:moveTo>
                    <a:cubicBezTo>
                      <a:pt x="215" y="1016"/>
                      <a:pt x="206" y="1025"/>
                      <a:pt x="206" y="1036"/>
                    </a:cubicBezTo>
                    <a:cubicBezTo>
                      <a:pt x="206" y="1149"/>
                      <a:pt x="206" y="1149"/>
                      <a:pt x="206" y="1149"/>
                    </a:cubicBezTo>
                    <a:cubicBezTo>
                      <a:pt x="206" y="1160"/>
                      <a:pt x="215" y="1169"/>
                      <a:pt x="226" y="1169"/>
                    </a:cubicBezTo>
                    <a:cubicBezTo>
                      <a:pt x="237" y="1169"/>
                      <a:pt x="245" y="1160"/>
                      <a:pt x="245" y="1149"/>
                    </a:cubicBezTo>
                    <a:cubicBezTo>
                      <a:pt x="245" y="1036"/>
                      <a:pt x="245" y="1036"/>
                      <a:pt x="245" y="1036"/>
                    </a:cubicBezTo>
                    <a:cubicBezTo>
                      <a:pt x="245" y="1025"/>
                      <a:pt x="237" y="1016"/>
                      <a:pt x="226" y="1016"/>
                    </a:cubicBezTo>
                    <a:close/>
                    <a:moveTo>
                      <a:pt x="79" y="793"/>
                    </a:moveTo>
                    <a:cubicBezTo>
                      <a:pt x="68" y="793"/>
                      <a:pt x="59" y="801"/>
                      <a:pt x="59" y="812"/>
                    </a:cubicBezTo>
                    <a:cubicBezTo>
                      <a:pt x="59" y="926"/>
                      <a:pt x="59" y="926"/>
                      <a:pt x="59" y="926"/>
                    </a:cubicBezTo>
                    <a:cubicBezTo>
                      <a:pt x="59" y="936"/>
                      <a:pt x="68" y="945"/>
                      <a:pt x="79" y="945"/>
                    </a:cubicBezTo>
                    <a:cubicBezTo>
                      <a:pt x="90" y="945"/>
                      <a:pt x="98" y="936"/>
                      <a:pt x="98" y="926"/>
                    </a:cubicBezTo>
                    <a:cubicBezTo>
                      <a:pt x="98" y="812"/>
                      <a:pt x="98" y="812"/>
                      <a:pt x="98" y="812"/>
                    </a:cubicBezTo>
                    <a:cubicBezTo>
                      <a:pt x="98" y="801"/>
                      <a:pt x="90" y="793"/>
                      <a:pt x="79" y="793"/>
                    </a:cubicBezTo>
                    <a:close/>
                    <a:moveTo>
                      <a:pt x="79" y="291"/>
                    </a:moveTo>
                    <a:cubicBezTo>
                      <a:pt x="35" y="291"/>
                      <a:pt x="0" y="327"/>
                      <a:pt x="0" y="370"/>
                    </a:cubicBezTo>
                    <a:cubicBezTo>
                      <a:pt x="0" y="414"/>
                      <a:pt x="35" y="449"/>
                      <a:pt x="79" y="449"/>
                    </a:cubicBezTo>
                    <a:cubicBezTo>
                      <a:pt x="122" y="449"/>
                      <a:pt x="158" y="414"/>
                      <a:pt x="158" y="370"/>
                    </a:cubicBezTo>
                    <a:cubicBezTo>
                      <a:pt x="158" y="327"/>
                      <a:pt x="122" y="291"/>
                      <a:pt x="79" y="291"/>
                    </a:cubicBezTo>
                    <a:close/>
                    <a:moveTo>
                      <a:pt x="79" y="410"/>
                    </a:moveTo>
                    <a:cubicBezTo>
                      <a:pt x="57" y="410"/>
                      <a:pt x="39" y="392"/>
                      <a:pt x="39" y="370"/>
                    </a:cubicBezTo>
                    <a:cubicBezTo>
                      <a:pt x="39" y="349"/>
                      <a:pt x="57" y="331"/>
                      <a:pt x="79" y="331"/>
                    </a:cubicBezTo>
                    <a:cubicBezTo>
                      <a:pt x="101" y="331"/>
                      <a:pt x="118" y="349"/>
                      <a:pt x="118" y="370"/>
                    </a:cubicBezTo>
                    <a:cubicBezTo>
                      <a:pt x="118" y="392"/>
                      <a:pt x="101" y="410"/>
                      <a:pt x="79" y="410"/>
                    </a:cubicBezTo>
                    <a:close/>
                    <a:moveTo>
                      <a:pt x="226" y="67"/>
                    </a:moveTo>
                    <a:cubicBezTo>
                      <a:pt x="182" y="67"/>
                      <a:pt x="147" y="103"/>
                      <a:pt x="147" y="146"/>
                    </a:cubicBezTo>
                    <a:cubicBezTo>
                      <a:pt x="147" y="190"/>
                      <a:pt x="182" y="225"/>
                      <a:pt x="226" y="225"/>
                    </a:cubicBezTo>
                    <a:cubicBezTo>
                      <a:pt x="269" y="225"/>
                      <a:pt x="305" y="190"/>
                      <a:pt x="305" y="146"/>
                    </a:cubicBezTo>
                    <a:cubicBezTo>
                      <a:pt x="305" y="103"/>
                      <a:pt x="269" y="67"/>
                      <a:pt x="226" y="67"/>
                    </a:cubicBezTo>
                    <a:close/>
                    <a:moveTo>
                      <a:pt x="226" y="186"/>
                    </a:moveTo>
                    <a:cubicBezTo>
                      <a:pt x="204" y="186"/>
                      <a:pt x="186" y="168"/>
                      <a:pt x="186" y="146"/>
                    </a:cubicBezTo>
                    <a:cubicBezTo>
                      <a:pt x="186" y="125"/>
                      <a:pt x="204" y="107"/>
                      <a:pt x="226" y="107"/>
                    </a:cubicBezTo>
                    <a:cubicBezTo>
                      <a:pt x="248" y="107"/>
                      <a:pt x="265" y="125"/>
                      <a:pt x="265" y="146"/>
                    </a:cubicBezTo>
                    <a:cubicBezTo>
                      <a:pt x="265" y="168"/>
                      <a:pt x="248" y="186"/>
                      <a:pt x="226" y="18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sp>
            <p:nvSpPr>
              <p:cNvPr id="62" name="Freeform 71">
                <a:extLst>
                  <a:ext uri="{FF2B5EF4-FFF2-40B4-BE49-F238E27FC236}">
                    <a16:creationId xmlns:a16="http://schemas.microsoft.com/office/drawing/2014/main" id="{A717ED81-FE21-5D69-1A77-56E41495A524}"/>
                  </a:ext>
                </a:extLst>
              </p:cNvPr>
              <p:cNvSpPr>
                <a:spLocks noEditPoints="1"/>
              </p:cNvSpPr>
              <p:nvPr/>
            </p:nvSpPr>
            <p:spPr bwMode="auto">
              <a:xfrm>
                <a:off x="1323199" y="2218790"/>
                <a:ext cx="1161955" cy="862417"/>
              </a:xfrm>
              <a:custGeom>
                <a:avLst/>
                <a:gdLst>
                  <a:gd name="T0" fmla="*/ 983 w 1623"/>
                  <a:gd name="T1" fmla="*/ 54 h 1205"/>
                  <a:gd name="T2" fmla="*/ 985 w 1623"/>
                  <a:gd name="T3" fmla="*/ 1134 h 1205"/>
                  <a:gd name="T4" fmla="*/ 1356 w 1623"/>
                  <a:gd name="T5" fmla="*/ 594 h 1205"/>
                  <a:gd name="T6" fmla="*/ 922 w 1623"/>
                  <a:gd name="T7" fmla="*/ 54 h 1205"/>
                  <a:gd name="T8" fmla="*/ 868 w 1623"/>
                  <a:gd name="T9" fmla="*/ 594 h 1205"/>
                  <a:gd name="T10" fmla="*/ 924 w 1623"/>
                  <a:gd name="T11" fmla="*/ 1134 h 1205"/>
                  <a:gd name="T12" fmla="*/ 922 w 1623"/>
                  <a:gd name="T13" fmla="*/ 54 h 1205"/>
                  <a:gd name="T14" fmla="*/ 1567 w 1623"/>
                  <a:gd name="T15" fmla="*/ 201 h 1205"/>
                  <a:gd name="T16" fmla="*/ 1260 w 1623"/>
                  <a:gd name="T17" fmla="*/ 54 h 1205"/>
                  <a:gd name="T18" fmla="*/ 1262 w 1623"/>
                  <a:gd name="T19" fmla="*/ 1133 h 1205"/>
                  <a:gd name="T20" fmla="*/ 1442 w 1623"/>
                  <a:gd name="T21" fmla="*/ 1134 h 1205"/>
                  <a:gd name="T22" fmla="*/ 1567 w 1623"/>
                  <a:gd name="T23" fmla="*/ 987 h 1205"/>
                  <a:gd name="T24" fmla="*/ 1623 w 1623"/>
                  <a:gd name="T25" fmla="*/ 593 h 1205"/>
                  <a:gd name="T26" fmla="*/ 226 w 1623"/>
                  <a:gd name="T27" fmla="*/ 491 h 1205"/>
                  <a:gd name="T28" fmla="*/ 245 w 1623"/>
                  <a:gd name="T29" fmla="*/ 358 h 1205"/>
                  <a:gd name="T30" fmla="*/ 206 w 1623"/>
                  <a:gd name="T31" fmla="*/ 358 h 1205"/>
                  <a:gd name="T32" fmla="*/ 226 w 1623"/>
                  <a:gd name="T33" fmla="*/ 491 h 1205"/>
                  <a:gd name="T34" fmla="*/ 389 w 1623"/>
                  <a:gd name="T35" fmla="*/ 255 h 1205"/>
                  <a:gd name="T36" fmla="*/ 370 w 1623"/>
                  <a:gd name="T37" fmla="*/ 123 h 1205"/>
                  <a:gd name="T38" fmla="*/ 350 w 1623"/>
                  <a:gd name="T39" fmla="*/ 255 h 1205"/>
                  <a:gd name="T40" fmla="*/ 79 w 1623"/>
                  <a:gd name="T41" fmla="*/ 153 h 1205"/>
                  <a:gd name="T42" fmla="*/ 98 w 1623"/>
                  <a:gd name="T43" fmla="*/ 20 h 1205"/>
                  <a:gd name="T44" fmla="*/ 59 w 1623"/>
                  <a:gd name="T45" fmla="*/ 20 h 1205"/>
                  <a:gd name="T46" fmla="*/ 79 w 1623"/>
                  <a:gd name="T47" fmla="*/ 153 h 1205"/>
                  <a:gd name="T48" fmla="*/ 147 w 1623"/>
                  <a:gd name="T49" fmla="*/ 787 h 1205"/>
                  <a:gd name="T50" fmla="*/ 305 w 1623"/>
                  <a:gd name="T51" fmla="*/ 787 h 1205"/>
                  <a:gd name="T52" fmla="*/ 226 w 1623"/>
                  <a:gd name="T53" fmla="*/ 827 h 1205"/>
                  <a:gd name="T54" fmla="*/ 226 w 1623"/>
                  <a:gd name="T55" fmla="*/ 748 h 1205"/>
                  <a:gd name="T56" fmla="*/ 226 w 1623"/>
                  <a:gd name="T57" fmla="*/ 827 h 1205"/>
                  <a:gd name="T58" fmla="*/ 291 w 1623"/>
                  <a:gd name="T59" fmla="*/ 994 h 1205"/>
                  <a:gd name="T60" fmla="*/ 449 w 1623"/>
                  <a:gd name="T61" fmla="*/ 994 h 1205"/>
                  <a:gd name="T62" fmla="*/ 370 w 1623"/>
                  <a:gd name="T63" fmla="*/ 1033 h 1205"/>
                  <a:gd name="T64" fmla="*/ 370 w 1623"/>
                  <a:gd name="T65" fmla="*/ 954 h 1205"/>
                  <a:gd name="T66" fmla="*/ 370 w 1623"/>
                  <a:gd name="T67" fmla="*/ 1033 h 1205"/>
                  <a:gd name="T68" fmla="*/ 0 w 1623"/>
                  <a:gd name="T69" fmla="*/ 1126 h 1205"/>
                  <a:gd name="T70" fmla="*/ 158 w 1623"/>
                  <a:gd name="T71" fmla="*/ 1126 h 1205"/>
                  <a:gd name="T72" fmla="*/ 79 w 1623"/>
                  <a:gd name="T73" fmla="*/ 1165 h 1205"/>
                  <a:gd name="T74" fmla="*/ 79 w 1623"/>
                  <a:gd name="T75" fmla="*/ 1086 h 1205"/>
                  <a:gd name="T76" fmla="*/ 79 w 1623"/>
                  <a:gd name="T77" fmla="*/ 1165 h 1205"/>
                  <a:gd name="T78" fmla="*/ 605 w 1623"/>
                  <a:gd name="T79" fmla="*/ 523 h 1205"/>
                  <a:gd name="T80" fmla="*/ 589 w 1623"/>
                  <a:gd name="T81" fmla="*/ 466 h 1205"/>
                  <a:gd name="T82" fmla="*/ 499 w 1623"/>
                  <a:gd name="T83" fmla="*/ 445 h 1205"/>
                  <a:gd name="T84" fmla="*/ 417 w 1623"/>
                  <a:gd name="T85" fmla="*/ 427 h 1205"/>
                  <a:gd name="T86" fmla="*/ 351 w 1623"/>
                  <a:gd name="T87" fmla="*/ 466 h 1205"/>
                  <a:gd name="T88" fmla="*/ 324 w 1623"/>
                  <a:gd name="T89" fmla="*/ 548 h 1205"/>
                  <a:gd name="T90" fmla="*/ 297 w 1623"/>
                  <a:gd name="T91" fmla="*/ 638 h 1205"/>
                  <a:gd name="T92" fmla="*/ 337 w 1623"/>
                  <a:gd name="T93" fmla="*/ 679 h 1205"/>
                  <a:gd name="T94" fmla="*/ 350 w 1623"/>
                  <a:gd name="T95" fmla="*/ 734 h 1205"/>
                  <a:gd name="T96" fmla="*/ 437 w 1623"/>
                  <a:gd name="T97" fmla="*/ 755 h 1205"/>
                  <a:gd name="T98" fmla="*/ 527 w 1623"/>
                  <a:gd name="T99" fmla="*/ 773 h 1205"/>
                  <a:gd name="T100" fmla="*/ 590 w 1623"/>
                  <a:gd name="T101" fmla="*/ 736 h 1205"/>
                  <a:gd name="T102" fmla="*/ 618 w 1623"/>
                  <a:gd name="T103" fmla="*/ 649 h 1205"/>
                  <a:gd name="T104" fmla="*/ 644 w 1623"/>
                  <a:gd name="T105" fmla="*/ 563 h 1205"/>
                  <a:gd name="T106" fmla="*/ 509 w 1623"/>
                  <a:gd name="T107" fmla="*/ 670 h 1205"/>
                  <a:gd name="T108" fmla="*/ 430 w 1623"/>
                  <a:gd name="T109" fmla="*/ 532 h 1205"/>
                  <a:gd name="T110" fmla="*/ 538 w 1623"/>
                  <a:gd name="T111" fmla="*/ 561 h 1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23" h="1205">
                    <a:moveTo>
                      <a:pt x="1197" y="54"/>
                    </a:moveTo>
                    <a:cubicBezTo>
                      <a:pt x="983" y="54"/>
                      <a:pt x="983" y="54"/>
                      <a:pt x="983" y="54"/>
                    </a:cubicBezTo>
                    <a:cubicBezTo>
                      <a:pt x="1078" y="93"/>
                      <a:pt x="1141" y="320"/>
                      <a:pt x="1141" y="594"/>
                    </a:cubicBezTo>
                    <a:cubicBezTo>
                      <a:pt x="1141" y="867"/>
                      <a:pt x="1079" y="1093"/>
                      <a:pt x="985" y="1134"/>
                    </a:cubicBezTo>
                    <a:cubicBezTo>
                      <a:pt x="1199" y="1134"/>
                      <a:pt x="1199" y="1134"/>
                      <a:pt x="1199" y="1134"/>
                    </a:cubicBezTo>
                    <a:cubicBezTo>
                      <a:pt x="1294" y="1093"/>
                      <a:pt x="1356" y="867"/>
                      <a:pt x="1356" y="594"/>
                    </a:cubicBezTo>
                    <a:cubicBezTo>
                      <a:pt x="1356" y="320"/>
                      <a:pt x="1293" y="93"/>
                      <a:pt x="1197" y="54"/>
                    </a:cubicBezTo>
                    <a:close/>
                    <a:moveTo>
                      <a:pt x="922" y="54"/>
                    </a:moveTo>
                    <a:cubicBezTo>
                      <a:pt x="714" y="54"/>
                      <a:pt x="714" y="54"/>
                      <a:pt x="714" y="54"/>
                    </a:cubicBezTo>
                    <a:cubicBezTo>
                      <a:pt x="806" y="93"/>
                      <a:pt x="868" y="320"/>
                      <a:pt x="868" y="594"/>
                    </a:cubicBezTo>
                    <a:cubicBezTo>
                      <a:pt x="868" y="867"/>
                      <a:pt x="807" y="1093"/>
                      <a:pt x="716" y="1134"/>
                    </a:cubicBezTo>
                    <a:cubicBezTo>
                      <a:pt x="924" y="1134"/>
                      <a:pt x="924" y="1134"/>
                      <a:pt x="924" y="1134"/>
                    </a:cubicBezTo>
                    <a:cubicBezTo>
                      <a:pt x="1016" y="1093"/>
                      <a:pt x="1077" y="867"/>
                      <a:pt x="1077" y="594"/>
                    </a:cubicBezTo>
                    <a:cubicBezTo>
                      <a:pt x="1077" y="320"/>
                      <a:pt x="1015" y="93"/>
                      <a:pt x="922" y="54"/>
                    </a:cubicBezTo>
                    <a:close/>
                    <a:moveTo>
                      <a:pt x="1584" y="250"/>
                    </a:moveTo>
                    <a:cubicBezTo>
                      <a:pt x="1579" y="233"/>
                      <a:pt x="1574" y="216"/>
                      <a:pt x="1567" y="201"/>
                    </a:cubicBezTo>
                    <a:cubicBezTo>
                      <a:pt x="1532" y="110"/>
                      <a:pt x="1485" y="54"/>
                      <a:pt x="1445" y="54"/>
                    </a:cubicBezTo>
                    <a:cubicBezTo>
                      <a:pt x="1260" y="54"/>
                      <a:pt x="1260" y="54"/>
                      <a:pt x="1260" y="54"/>
                    </a:cubicBezTo>
                    <a:cubicBezTo>
                      <a:pt x="1352" y="93"/>
                      <a:pt x="1414" y="320"/>
                      <a:pt x="1414" y="593"/>
                    </a:cubicBezTo>
                    <a:cubicBezTo>
                      <a:pt x="1414" y="866"/>
                      <a:pt x="1353" y="1092"/>
                      <a:pt x="1262" y="1133"/>
                    </a:cubicBezTo>
                    <a:cubicBezTo>
                      <a:pt x="1439" y="1133"/>
                      <a:pt x="1439" y="1133"/>
                      <a:pt x="1439" y="1133"/>
                    </a:cubicBezTo>
                    <a:cubicBezTo>
                      <a:pt x="1442" y="1134"/>
                      <a:pt x="1442" y="1134"/>
                      <a:pt x="1442" y="1134"/>
                    </a:cubicBezTo>
                    <a:cubicBezTo>
                      <a:pt x="1445" y="1134"/>
                      <a:pt x="1445" y="1134"/>
                      <a:pt x="1445" y="1134"/>
                    </a:cubicBezTo>
                    <a:cubicBezTo>
                      <a:pt x="1485" y="1134"/>
                      <a:pt x="1532" y="1078"/>
                      <a:pt x="1567" y="987"/>
                    </a:cubicBezTo>
                    <a:cubicBezTo>
                      <a:pt x="1574" y="972"/>
                      <a:pt x="1579" y="956"/>
                      <a:pt x="1584" y="939"/>
                    </a:cubicBezTo>
                    <a:cubicBezTo>
                      <a:pt x="1609" y="844"/>
                      <a:pt x="1623" y="724"/>
                      <a:pt x="1623" y="593"/>
                    </a:cubicBezTo>
                    <a:cubicBezTo>
                      <a:pt x="1623" y="464"/>
                      <a:pt x="1609" y="344"/>
                      <a:pt x="1584" y="250"/>
                    </a:cubicBezTo>
                    <a:close/>
                    <a:moveTo>
                      <a:pt x="226" y="491"/>
                    </a:moveTo>
                    <a:cubicBezTo>
                      <a:pt x="237" y="491"/>
                      <a:pt x="245" y="482"/>
                      <a:pt x="245" y="471"/>
                    </a:cubicBezTo>
                    <a:cubicBezTo>
                      <a:pt x="245" y="358"/>
                      <a:pt x="245" y="358"/>
                      <a:pt x="245" y="358"/>
                    </a:cubicBezTo>
                    <a:cubicBezTo>
                      <a:pt x="245" y="347"/>
                      <a:pt x="237" y="339"/>
                      <a:pt x="226" y="339"/>
                    </a:cubicBezTo>
                    <a:cubicBezTo>
                      <a:pt x="215" y="339"/>
                      <a:pt x="206" y="347"/>
                      <a:pt x="206" y="358"/>
                    </a:cubicBezTo>
                    <a:cubicBezTo>
                      <a:pt x="206" y="471"/>
                      <a:pt x="206" y="471"/>
                      <a:pt x="206" y="471"/>
                    </a:cubicBezTo>
                    <a:cubicBezTo>
                      <a:pt x="206" y="482"/>
                      <a:pt x="215" y="491"/>
                      <a:pt x="226" y="491"/>
                    </a:cubicBezTo>
                    <a:close/>
                    <a:moveTo>
                      <a:pt x="370" y="275"/>
                    </a:moveTo>
                    <a:cubicBezTo>
                      <a:pt x="380" y="275"/>
                      <a:pt x="389" y="266"/>
                      <a:pt x="389" y="255"/>
                    </a:cubicBezTo>
                    <a:cubicBezTo>
                      <a:pt x="389" y="142"/>
                      <a:pt x="389" y="142"/>
                      <a:pt x="389" y="142"/>
                    </a:cubicBezTo>
                    <a:cubicBezTo>
                      <a:pt x="389" y="131"/>
                      <a:pt x="380" y="123"/>
                      <a:pt x="370" y="123"/>
                    </a:cubicBezTo>
                    <a:cubicBezTo>
                      <a:pt x="359" y="123"/>
                      <a:pt x="350" y="131"/>
                      <a:pt x="350" y="142"/>
                    </a:cubicBezTo>
                    <a:cubicBezTo>
                      <a:pt x="350" y="255"/>
                      <a:pt x="350" y="255"/>
                      <a:pt x="350" y="255"/>
                    </a:cubicBezTo>
                    <a:cubicBezTo>
                      <a:pt x="350" y="266"/>
                      <a:pt x="359" y="275"/>
                      <a:pt x="370" y="275"/>
                    </a:cubicBezTo>
                    <a:close/>
                    <a:moveTo>
                      <a:pt x="79" y="153"/>
                    </a:moveTo>
                    <a:cubicBezTo>
                      <a:pt x="90" y="153"/>
                      <a:pt x="98" y="144"/>
                      <a:pt x="98" y="133"/>
                    </a:cubicBezTo>
                    <a:cubicBezTo>
                      <a:pt x="98" y="20"/>
                      <a:pt x="98" y="20"/>
                      <a:pt x="98" y="20"/>
                    </a:cubicBezTo>
                    <a:cubicBezTo>
                      <a:pt x="98" y="9"/>
                      <a:pt x="90" y="0"/>
                      <a:pt x="79" y="0"/>
                    </a:cubicBezTo>
                    <a:cubicBezTo>
                      <a:pt x="68" y="0"/>
                      <a:pt x="59" y="9"/>
                      <a:pt x="59" y="20"/>
                    </a:cubicBezTo>
                    <a:cubicBezTo>
                      <a:pt x="59" y="133"/>
                      <a:pt x="59" y="133"/>
                      <a:pt x="59" y="133"/>
                    </a:cubicBezTo>
                    <a:cubicBezTo>
                      <a:pt x="59" y="144"/>
                      <a:pt x="68" y="153"/>
                      <a:pt x="79" y="153"/>
                    </a:cubicBezTo>
                    <a:close/>
                    <a:moveTo>
                      <a:pt x="226" y="708"/>
                    </a:moveTo>
                    <a:cubicBezTo>
                      <a:pt x="182" y="708"/>
                      <a:pt x="147" y="744"/>
                      <a:pt x="147" y="787"/>
                    </a:cubicBezTo>
                    <a:cubicBezTo>
                      <a:pt x="147" y="831"/>
                      <a:pt x="182" y="866"/>
                      <a:pt x="226" y="866"/>
                    </a:cubicBezTo>
                    <a:cubicBezTo>
                      <a:pt x="269" y="866"/>
                      <a:pt x="305" y="831"/>
                      <a:pt x="305" y="787"/>
                    </a:cubicBezTo>
                    <a:cubicBezTo>
                      <a:pt x="305" y="744"/>
                      <a:pt x="269" y="708"/>
                      <a:pt x="226" y="708"/>
                    </a:cubicBezTo>
                    <a:close/>
                    <a:moveTo>
                      <a:pt x="226" y="827"/>
                    </a:moveTo>
                    <a:cubicBezTo>
                      <a:pt x="204" y="827"/>
                      <a:pt x="186" y="809"/>
                      <a:pt x="186" y="787"/>
                    </a:cubicBezTo>
                    <a:cubicBezTo>
                      <a:pt x="186" y="765"/>
                      <a:pt x="204" y="748"/>
                      <a:pt x="226" y="748"/>
                    </a:cubicBezTo>
                    <a:cubicBezTo>
                      <a:pt x="248" y="748"/>
                      <a:pt x="265" y="765"/>
                      <a:pt x="265" y="787"/>
                    </a:cubicBezTo>
                    <a:cubicBezTo>
                      <a:pt x="265" y="809"/>
                      <a:pt x="248" y="827"/>
                      <a:pt x="226" y="827"/>
                    </a:cubicBezTo>
                    <a:close/>
                    <a:moveTo>
                      <a:pt x="370" y="915"/>
                    </a:moveTo>
                    <a:cubicBezTo>
                      <a:pt x="326" y="915"/>
                      <a:pt x="291" y="950"/>
                      <a:pt x="291" y="994"/>
                    </a:cubicBezTo>
                    <a:cubicBezTo>
                      <a:pt x="291" y="1037"/>
                      <a:pt x="326" y="1073"/>
                      <a:pt x="370" y="1073"/>
                    </a:cubicBezTo>
                    <a:cubicBezTo>
                      <a:pt x="413" y="1073"/>
                      <a:pt x="449" y="1037"/>
                      <a:pt x="449" y="994"/>
                    </a:cubicBezTo>
                    <a:cubicBezTo>
                      <a:pt x="449" y="950"/>
                      <a:pt x="413" y="915"/>
                      <a:pt x="370" y="915"/>
                    </a:cubicBezTo>
                    <a:close/>
                    <a:moveTo>
                      <a:pt x="370" y="1033"/>
                    </a:moveTo>
                    <a:cubicBezTo>
                      <a:pt x="348" y="1033"/>
                      <a:pt x="330" y="1015"/>
                      <a:pt x="330" y="994"/>
                    </a:cubicBezTo>
                    <a:cubicBezTo>
                      <a:pt x="330" y="972"/>
                      <a:pt x="348" y="954"/>
                      <a:pt x="370" y="954"/>
                    </a:cubicBezTo>
                    <a:cubicBezTo>
                      <a:pt x="391" y="954"/>
                      <a:pt x="409" y="972"/>
                      <a:pt x="409" y="994"/>
                    </a:cubicBezTo>
                    <a:cubicBezTo>
                      <a:pt x="409" y="1015"/>
                      <a:pt x="391" y="1033"/>
                      <a:pt x="370" y="1033"/>
                    </a:cubicBezTo>
                    <a:close/>
                    <a:moveTo>
                      <a:pt x="79" y="1047"/>
                    </a:moveTo>
                    <a:cubicBezTo>
                      <a:pt x="35" y="1047"/>
                      <a:pt x="0" y="1082"/>
                      <a:pt x="0" y="1126"/>
                    </a:cubicBezTo>
                    <a:cubicBezTo>
                      <a:pt x="0" y="1169"/>
                      <a:pt x="35" y="1205"/>
                      <a:pt x="79" y="1205"/>
                    </a:cubicBezTo>
                    <a:cubicBezTo>
                      <a:pt x="122" y="1205"/>
                      <a:pt x="158" y="1169"/>
                      <a:pt x="158" y="1126"/>
                    </a:cubicBezTo>
                    <a:cubicBezTo>
                      <a:pt x="158" y="1082"/>
                      <a:pt x="122" y="1047"/>
                      <a:pt x="79" y="1047"/>
                    </a:cubicBezTo>
                    <a:close/>
                    <a:moveTo>
                      <a:pt x="79" y="1165"/>
                    </a:moveTo>
                    <a:cubicBezTo>
                      <a:pt x="57" y="1165"/>
                      <a:pt x="39" y="1147"/>
                      <a:pt x="39" y="1126"/>
                    </a:cubicBezTo>
                    <a:cubicBezTo>
                      <a:pt x="39" y="1104"/>
                      <a:pt x="57" y="1086"/>
                      <a:pt x="79" y="1086"/>
                    </a:cubicBezTo>
                    <a:cubicBezTo>
                      <a:pt x="101" y="1086"/>
                      <a:pt x="118" y="1104"/>
                      <a:pt x="118" y="1126"/>
                    </a:cubicBezTo>
                    <a:cubicBezTo>
                      <a:pt x="118" y="1147"/>
                      <a:pt x="101" y="1165"/>
                      <a:pt x="79" y="1165"/>
                    </a:cubicBezTo>
                    <a:close/>
                    <a:moveTo>
                      <a:pt x="617" y="550"/>
                    </a:moveTo>
                    <a:cubicBezTo>
                      <a:pt x="614" y="541"/>
                      <a:pt x="610" y="532"/>
                      <a:pt x="605" y="523"/>
                    </a:cubicBezTo>
                    <a:cubicBezTo>
                      <a:pt x="600" y="513"/>
                      <a:pt x="593" y="504"/>
                      <a:pt x="586" y="496"/>
                    </a:cubicBezTo>
                    <a:cubicBezTo>
                      <a:pt x="589" y="466"/>
                      <a:pt x="589" y="466"/>
                      <a:pt x="589" y="466"/>
                    </a:cubicBezTo>
                    <a:cubicBezTo>
                      <a:pt x="570" y="448"/>
                      <a:pt x="547" y="435"/>
                      <a:pt x="523" y="427"/>
                    </a:cubicBezTo>
                    <a:cubicBezTo>
                      <a:pt x="499" y="445"/>
                      <a:pt x="499" y="445"/>
                      <a:pt x="499" y="445"/>
                    </a:cubicBezTo>
                    <a:cubicBezTo>
                      <a:pt x="479" y="441"/>
                      <a:pt x="460" y="442"/>
                      <a:pt x="441" y="445"/>
                    </a:cubicBezTo>
                    <a:cubicBezTo>
                      <a:pt x="417" y="427"/>
                      <a:pt x="417" y="427"/>
                      <a:pt x="417" y="427"/>
                    </a:cubicBezTo>
                    <a:cubicBezTo>
                      <a:pt x="405" y="432"/>
                      <a:pt x="392" y="436"/>
                      <a:pt x="381" y="443"/>
                    </a:cubicBezTo>
                    <a:cubicBezTo>
                      <a:pt x="370" y="450"/>
                      <a:pt x="360" y="457"/>
                      <a:pt x="351" y="466"/>
                    </a:cubicBezTo>
                    <a:cubicBezTo>
                      <a:pt x="355" y="497"/>
                      <a:pt x="355" y="497"/>
                      <a:pt x="355" y="497"/>
                    </a:cubicBezTo>
                    <a:cubicBezTo>
                      <a:pt x="341" y="512"/>
                      <a:pt x="331" y="530"/>
                      <a:pt x="324" y="548"/>
                    </a:cubicBezTo>
                    <a:cubicBezTo>
                      <a:pt x="297" y="560"/>
                      <a:pt x="297" y="560"/>
                      <a:pt x="297" y="560"/>
                    </a:cubicBezTo>
                    <a:cubicBezTo>
                      <a:pt x="291" y="585"/>
                      <a:pt x="291" y="611"/>
                      <a:pt x="297" y="638"/>
                    </a:cubicBezTo>
                    <a:cubicBezTo>
                      <a:pt x="323" y="649"/>
                      <a:pt x="323" y="649"/>
                      <a:pt x="323" y="649"/>
                    </a:cubicBezTo>
                    <a:cubicBezTo>
                      <a:pt x="326" y="659"/>
                      <a:pt x="331" y="670"/>
                      <a:pt x="337" y="679"/>
                    </a:cubicBezTo>
                    <a:cubicBezTo>
                      <a:pt x="341" y="688"/>
                      <a:pt x="348" y="697"/>
                      <a:pt x="354" y="704"/>
                    </a:cubicBezTo>
                    <a:cubicBezTo>
                      <a:pt x="350" y="734"/>
                      <a:pt x="350" y="734"/>
                      <a:pt x="350" y="734"/>
                    </a:cubicBezTo>
                    <a:cubicBezTo>
                      <a:pt x="369" y="752"/>
                      <a:pt x="391" y="764"/>
                      <a:pt x="413" y="772"/>
                    </a:cubicBezTo>
                    <a:cubicBezTo>
                      <a:pt x="437" y="755"/>
                      <a:pt x="437" y="755"/>
                      <a:pt x="437" y="755"/>
                    </a:cubicBezTo>
                    <a:cubicBezTo>
                      <a:pt x="459" y="760"/>
                      <a:pt x="480" y="760"/>
                      <a:pt x="502" y="756"/>
                    </a:cubicBezTo>
                    <a:cubicBezTo>
                      <a:pt x="527" y="773"/>
                      <a:pt x="527" y="773"/>
                      <a:pt x="527" y="773"/>
                    </a:cubicBezTo>
                    <a:cubicBezTo>
                      <a:pt x="537" y="770"/>
                      <a:pt x="548" y="764"/>
                      <a:pt x="559" y="759"/>
                    </a:cubicBezTo>
                    <a:cubicBezTo>
                      <a:pt x="570" y="753"/>
                      <a:pt x="580" y="744"/>
                      <a:pt x="590" y="736"/>
                    </a:cubicBezTo>
                    <a:cubicBezTo>
                      <a:pt x="586" y="707"/>
                      <a:pt x="586" y="707"/>
                      <a:pt x="586" y="707"/>
                    </a:cubicBezTo>
                    <a:cubicBezTo>
                      <a:pt x="600" y="690"/>
                      <a:pt x="611" y="670"/>
                      <a:pt x="618" y="649"/>
                    </a:cubicBezTo>
                    <a:cubicBezTo>
                      <a:pt x="645" y="638"/>
                      <a:pt x="645" y="638"/>
                      <a:pt x="645" y="638"/>
                    </a:cubicBezTo>
                    <a:cubicBezTo>
                      <a:pt x="650" y="613"/>
                      <a:pt x="650" y="587"/>
                      <a:pt x="644" y="563"/>
                    </a:cubicBezTo>
                    <a:cubicBezTo>
                      <a:pt x="617" y="550"/>
                      <a:pt x="617" y="550"/>
                      <a:pt x="617" y="550"/>
                    </a:cubicBezTo>
                    <a:close/>
                    <a:moveTo>
                      <a:pt x="509" y="670"/>
                    </a:moveTo>
                    <a:cubicBezTo>
                      <a:pt x="471" y="692"/>
                      <a:pt x="424" y="678"/>
                      <a:pt x="402" y="640"/>
                    </a:cubicBezTo>
                    <a:cubicBezTo>
                      <a:pt x="380" y="603"/>
                      <a:pt x="392" y="553"/>
                      <a:pt x="430" y="532"/>
                    </a:cubicBezTo>
                    <a:cubicBezTo>
                      <a:pt x="440" y="526"/>
                      <a:pt x="450" y="523"/>
                      <a:pt x="460" y="522"/>
                    </a:cubicBezTo>
                    <a:cubicBezTo>
                      <a:pt x="490" y="518"/>
                      <a:pt x="522" y="532"/>
                      <a:pt x="538" y="561"/>
                    </a:cubicBezTo>
                    <a:cubicBezTo>
                      <a:pt x="559" y="600"/>
                      <a:pt x="547" y="648"/>
                      <a:pt x="509" y="670"/>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grpSp>
      </p:grpSp>
      <p:grpSp>
        <p:nvGrpSpPr>
          <p:cNvPr id="63" name="bcgIcons_Opportunity Mapping ">
            <a:extLst>
              <a:ext uri="{FF2B5EF4-FFF2-40B4-BE49-F238E27FC236}">
                <a16:creationId xmlns:a16="http://schemas.microsoft.com/office/drawing/2014/main" id="{97B62476-804D-E83E-09FF-3C76E40F393A}"/>
              </a:ext>
            </a:extLst>
          </p:cNvPr>
          <p:cNvGrpSpPr>
            <a:grpSpLocks noChangeAspect="1"/>
          </p:cNvGrpSpPr>
          <p:nvPr/>
        </p:nvGrpSpPr>
        <p:grpSpPr bwMode="auto">
          <a:xfrm>
            <a:off x="9475557" y="2262803"/>
            <a:ext cx="883159" cy="883977"/>
            <a:chOff x="1682" y="0"/>
            <a:chExt cx="4316" cy="4320"/>
          </a:xfrm>
        </p:grpSpPr>
        <p:sp>
          <p:nvSpPr>
            <p:cNvPr id="64" name="AutoShape 13">
              <a:extLst>
                <a:ext uri="{FF2B5EF4-FFF2-40B4-BE49-F238E27FC236}">
                  <a16:creationId xmlns:a16="http://schemas.microsoft.com/office/drawing/2014/main" id="{568CB086-4014-A835-9D25-57B4EEB06120}"/>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15">
              <a:extLst>
                <a:ext uri="{FF2B5EF4-FFF2-40B4-BE49-F238E27FC236}">
                  <a16:creationId xmlns:a16="http://schemas.microsoft.com/office/drawing/2014/main" id="{097E09BD-96A1-ED1B-EFB1-33D787AB79B5}"/>
                </a:ext>
              </a:extLst>
            </p:cNvPr>
            <p:cNvSpPr>
              <a:spLocks noEditPoints="1"/>
            </p:cNvSpPr>
            <p:nvPr/>
          </p:nvSpPr>
          <p:spPr bwMode="auto">
            <a:xfrm>
              <a:off x="2604" y="877"/>
              <a:ext cx="2493" cy="1855"/>
            </a:xfrm>
            <a:custGeom>
              <a:avLst/>
              <a:gdLst>
                <a:gd name="T0" fmla="*/ 300 w 1331"/>
                <a:gd name="T1" fmla="*/ 3 h 989"/>
                <a:gd name="T2" fmla="*/ 0 w 1331"/>
                <a:gd name="T3" fmla="*/ 310 h 989"/>
                <a:gd name="T4" fmla="*/ 294 w 1331"/>
                <a:gd name="T5" fmla="*/ 984 h 989"/>
                <a:gd name="T6" fmla="*/ 306 w 1331"/>
                <a:gd name="T7" fmla="*/ 984 h 989"/>
                <a:gd name="T8" fmla="*/ 597 w 1331"/>
                <a:gd name="T9" fmla="*/ 310 h 989"/>
                <a:gd name="T10" fmla="*/ 300 w 1331"/>
                <a:gd name="T11" fmla="*/ 3 h 989"/>
                <a:gd name="T12" fmla="*/ 419 w 1331"/>
                <a:gd name="T13" fmla="*/ 226 h 989"/>
                <a:gd name="T14" fmla="*/ 364 w 1331"/>
                <a:gd name="T15" fmla="*/ 279 h 989"/>
                <a:gd name="T16" fmla="*/ 362 w 1331"/>
                <a:gd name="T17" fmla="*/ 284 h 989"/>
                <a:gd name="T18" fmla="*/ 374 w 1331"/>
                <a:gd name="T19" fmla="*/ 359 h 989"/>
                <a:gd name="T20" fmla="*/ 367 w 1331"/>
                <a:gd name="T21" fmla="*/ 364 h 989"/>
                <a:gd name="T22" fmla="*/ 300 w 1331"/>
                <a:gd name="T23" fmla="*/ 328 h 989"/>
                <a:gd name="T24" fmla="*/ 295 w 1331"/>
                <a:gd name="T25" fmla="*/ 328 h 989"/>
                <a:gd name="T26" fmla="*/ 228 w 1331"/>
                <a:gd name="T27" fmla="*/ 363 h 989"/>
                <a:gd name="T28" fmla="*/ 220 w 1331"/>
                <a:gd name="T29" fmla="*/ 357 h 989"/>
                <a:gd name="T30" fmla="*/ 234 w 1331"/>
                <a:gd name="T31" fmla="*/ 282 h 989"/>
                <a:gd name="T32" fmla="*/ 232 w 1331"/>
                <a:gd name="T33" fmla="*/ 277 h 989"/>
                <a:gd name="T34" fmla="*/ 179 w 1331"/>
                <a:gd name="T35" fmla="*/ 224 h 989"/>
                <a:gd name="T36" fmla="*/ 182 w 1331"/>
                <a:gd name="T37" fmla="*/ 215 h 989"/>
                <a:gd name="T38" fmla="*/ 256 w 1331"/>
                <a:gd name="T39" fmla="*/ 204 h 989"/>
                <a:gd name="T40" fmla="*/ 261 w 1331"/>
                <a:gd name="T41" fmla="*/ 202 h 989"/>
                <a:gd name="T42" fmla="*/ 295 w 1331"/>
                <a:gd name="T43" fmla="*/ 134 h 989"/>
                <a:gd name="T44" fmla="*/ 304 w 1331"/>
                <a:gd name="T45" fmla="*/ 134 h 989"/>
                <a:gd name="T46" fmla="*/ 337 w 1331"/>
                <a:gd name="T47" fmla="*/ 202 h 989"/>
                <a:gd name="T48" fmla="*/ 341 w 1331"/>
                <a:gd name="T49" fmla="*/ 206 h 989"/>
                <a:gd name="T50" fmla="*/ 416 w 1331"/>
                <a:gd name="T51" fmla="*/ 217 h 989"/>
                <a:gd name="T52" fmla="*/ 419 w 1331"/>
                <a:gd name="T53" fmla="*/ 226 h 989"/>
                <a:gd name="T54" fmla="*/ 1146 w 1331"/>
                <a:gd name="T55" fmla="*/ 0 h 989"/>
                <a:gd name="T56" fmla="*/ 958 w 1331"/>
                <a:gd name="T57" fmla="*/ 192 h 989"/>
                <a:gd name="T58" fmla="*/ 1142 w 1331"/>
                <a:gd name="T59" fmla="*/ 613 h 989"/>
                <a:gd name="T60" fmla="*/ 1149 w 1331"/>
                <a:gd name="T61" fmla="*/ 613 h 989"/>
                <a:gd name="T62" fmla="*/ 1331 w 1331"/>
                <a:gd name="T63" fmla="*/ 192 h 989"/>
                <a:gd name="T64" fmla="*/ 1146 w 1331"/>
                <a:gd name="T65" fmla="*/ 0 h 989"/>
                <a:gd name="T66" fmla="*/ 1220 w 1331"/>
                <a:gd name="T67" fmla="*/ 155 h 989"/>
                <a:gd name="T68" fmla="*/ 1186 w 1331"/>
                <a:gd name="T69" fmla="*/ 188 h 989"/>
                <a:gd name="T70" fmla="*/ 1185 w 1331"/>
                <a:gd name="T71" fmla="*/ 191 h 989"/>
                <a:gd name="T72" fmla="*/ 1192 w 1331"/>
                <a:gd name="T73" fmla="*/ 238 h 989"/>
                <a:gd name="T74" fmla="*/ 1187 w 1331"/>
                <a:gd name="T75" fmla="*/ 241 h 989"/>
                <a:gd name="T76" fmla="*/ 1146 w 1331"/>
                <a:gd name="T77" fmla="*/ 219 h 989"/>
                <a:gd name="T78" fmla="*/ 1143 w 1331"/>
                <a:gd name="T79" fmla="*/ 218 h 989"/>
                <a:gd name="T80" fmla="*/ 1101 w 1331"/>
                <a:gd name="T81" fmla="*/ 240 h 989"/>
                <a:gd name="T82" fmla="*/ 1096 w 1331"/>
                <a:gd name="T83" fmla="*/ 237 h 989"/>
                <a:gd name="T84" fmla="*/ 1104 w 1331"/>
                <a:gd name="T85" fmla="*/ 190 h 989"/>
                <a:gd name="T86" fmla="*/ 1103 w 1331"/>
                <a:gd name="T87" fmla="*/ 187 h 989"/>
                <a:gd name="T88" fmla="*/ 1070 w 1331"/>
                <a:gd name="T89" fmla="*/ 153 h 989"/>
                <a:gd name="T90" fmla="*/ 1072 w 1331"/>
                <a:gd name="T91" fmla="*/ 148 h 989"/>
                <a:gd name="T92" fmla="*/ 1118 w 1331"/>
                <a:gd name="T93" fmla="*/ 141 h 989"/>
                <a:gd name="T94" fmla="*/ 1121 w 1331"/>
                <a:gd name="T95" fmla="*/ 139 h 989"/>
                <a:gd name="T96" fmla="*/ 1142 w 1331"/>
                <a:gd name="T97" fmla="*/ 97 h 989"/>
                <a:gd name="T98" fmla="*/ 1149 w 1331"/>
                <a:gd name="T99" fmla="*/ 97 h 989"/>
                <a:gd name="T100" fmla="*/ 1169 w 1331"/>
                <a:gd name="T101" fmla="*/ 140 h 989"/>
                <a:gd name="T102" fmla="*/ 1171 w 1331"/>
                <a:gd name="T103" fmla="*/ 142 h 989"/>
                <a:gd name="T104" fmla="*/ 1218 w 1331"/>
                <a:gd name="T105" fmla="*/ 149 h 989"/>
                <a:gd name="T106" fmla="*/ 1220 w 1331"/>
                <a:gd name="T107" fmla="*/ 155 h 9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31" h="989">
                  <a:moveTo>
                    <a:pt x="300" y="3"/>
                  </a:moveTo>
                  <a:cubicBezTo>
                    <a:pt x="134" y="3"/>
                    <a:pt x="0" y="142"/>
                    <a:pt x="0" y="310"/>
                  </a:cubicBezTo>
                  <a:cubicBezTo>
                    <a:pt x="0" y="465"/>
                    <a:pt x="251" y="910"/>
                    <a:pt x="294" y="984"/>
                  </a:cubicBezTo>
                  <a:cubicBezTo>
                    <a:pt x="296" y="989"/>
                    <a:pt x="303" y="989"/>
                    <a:pt x="306" y="984"/>
                  </a:cubicBezTo>
                  <a:cubicBezTo>
                    <a:pt x="348" y="910"/>
                    <a:pt x="597" y="465"/>
                    <a:pt x="597" y="310"/>
                  </a:cubicBezTo>
                  <a:cubicBezTo>
                    <a:pt x="597" y="142"/>
                    <a:pt x="466" y="3"/>
                    <a:pt x="300" y="3"/>
                  </a:cubicBezTo>
                  <a:close/>
                  <a:moveTo>
                    <a:pt x="419" y="226"/>
                  </a:moveTo>
                  <a:cubicBezTo>
                    <a:pt x="364" y="279"/>
                    <a:pt x="364" y="279"/>
                    <a:pt x="364" y="279"/>
                  </a:cubicBezTo>
                  <a:cubicBezTo>
                    <a:pt x="363" y="280"/>
                    <a:pt x="362" y="282"/>
                    <a:pt x="362" y="284"/>
                  </a:cubicBezTo>
                  <a:cubicBezTo>
                    <a:pt x="374" y="359"/>
                    <a:pt x="374" y="359"/>
                    <a:pt x="374" y="359"/>
                  </a:cubicBezTo>
                  <a:cubicBezTo>
                    <a:pt x="375" y="363"/>
                    <a:pt x="371" y="366"/>
                    <a:pt x="367" y="364"/>
                  </a:cubicBezTo>
                  <a:cubicBezTo>
                    <a:pt x="300" y="328"/>
                    <a:pt x="300" y="328"/>
                    <a:pt x="300" y="328"/>
                  </a:cubicBezTo>
                  <a:cubicBezTo>
                    <a:pt x="298" y="327"/>
                    <a:pt x="297" y="327"/>
                    <a:pt x="295" y="328"/>
                  </a:cubicBezTo>
                  <a:cubicBezTo>
                    <a:pt x="228" y="363"/>
                    <a:pt x="228" y="363"/>
                    <a:pt x="228" y="363"/>
                  </a:cubicBezTo>
                  <a:cubicBezTo>
                    <a:pt x="224" y="365"/>
                    <a:pt x="219" y="361"/>
                    <a:pt x="220" y="357"/>
                  </a:cubicBezTo>
                  <a:cubicBezTo>
                    <a:pt x="234" y="282"/>
                    <a:pt x="234" y="282"/>
                    <a:pt x="234" y="282"/>
                  </a:cubicBezTo>
                  <a:cubicBezTo>
                    <a:pt x="234" y="280"/>
                    <a:pt x="234" y="278"/>
                    <a:pt x="232" y="277"/>
                  </a:cubicBezTo>
                  <a:cubicBezTo>
                    <a:pt x="179" y="224"/>
                    <a:pt x="179" y="224"/>
                    <a:pt x="179" y="224"/>
                  </a:cubicBezTo>
                  <a:cubicBezTo>
                    <a:pt x="176" y="221"/>
                    <a:pt x="177" y="215"/>
                    <a:pt x="182" y="215"/>
                  </a:cubicBezTo>
                  <a:cubicBezTo>
                    <a:pt x="256" y="204"/>
                    <a:pt x="256" y="204"/>
                    <a:pt x="256" y="204"/>
                  </a:cubicBezTo>
                  <a:cubicBezTo>
                    <a:pt x="258" y="204"/>
                    <a:pt x="260" y="203"/>
                    <a:pt x="261" y="202"/>
                  </a:cubicBezTo>
                  <a:cubicBezTo>
                    <a:pt x="295" y="134"/>
                    <a:pt x="295" y="134"/>
                    <a:pt x="295" y="134"/>
                  </a:cubicBezTo>
                  <a:cubicBezTo>
                    <a:pt x="297" y="130"/>
                    <a:pt x="302" y="130"/>
                    <a:pt x="304" y="134"/>
                  </a:cubicBezTo>
                  <a:cubicBezTo>
                    <a:pt x="337" y="202"/>
                    <a:pt x="337" y="202"/>
                    <a:pt x="337" y="202"/>
                  </a:cubicBezTo>
                  <a:cubicBezTo>
                    <a:pt x="338" y="204"/>
                    <a:pt x="339" y="205"/>
                    <a:pt x="341" y="206"/>
                  </a:cubicBezTo>
                  <a:cubicBezTo>
                    <a:pt x="416" y="217"/>
                    <a:pt x="416" y="217"/>
                    <a:pt x="416" y="217"/>
                  </a:cubicBezTo>
                  <a:cubicBezTo>
                    <a:pt x="420" y="218"/>
                    <a:pt x="422" y="223"/>
                    <a:pt x="419" y="226"/>
                  </a:cubicBezTo>
                  <a:close/>
                  <a:moveTo>
                    <a:pt x="1146" y="0"/>
                  </a:moveTo>
                  <a:cubicBezTo>
                    <a:pt x="1042" y="0"/>
                    <a:pt x="958" y="87"/>
                    <a:pt x="958" y="192"/>
                  </a:cubicBezTo>
                  <a:cubicBezTo>
                    <a:pt x="958" y="289"/>
                    <a:pt x="1115" y="567"/>
                    <a:pt x="1142" y="613"/>
                  </a:cubicBezTo>
                  <a:cubicBezTo>
                    <a:pt x="1144" y="616"/>
                    <a:pt x="1148" y="616"/>
                    <a:pt x="1149" y="613"/>
                  </a:cubicBezTo>
                  <a:cubicBezTo>
                    <a:pt x="1176" y="567"/>
                    <a:pt x="1331" y="289"/>
                    <a:pt x="1331" y="192"/>
                  </a:cubicBezTo>
                  <a:cubicBezTo>
                    <a:pt x="1331" y="87"/>
                    <a:pt x="1249" y="0"/>
                    <a:pt x="1146" y="0"/>
                  </a:cubicBezTo>
                  <a:close/>
                  <a:moveTo>
                    <a:pt x="1220" y="155"/>
                  </a:moveTo>
                  <a:cubicBezTo>
                    <a:pt x="1186" y="188"/>
                    <a:pt x="1186" y="188"/>
                    <a:pt x="1186" y="188"/>
                  </a:cubicBezTo>
                  <a:cubicBezTo>
                    <a:pt x="1185" y="188"/>
                    <a:pt x="1185" y="190"/>
                    <a:pt x="1185" y="191"/>
                  </a:cubicBezTo>
                  <a:cubicBezTo>
                    <a:pt x="1192" y="238"/>
                    <a:pt x="1192" y="238"/>
                    <a:pt x="1192" y="238"/>
                  </a:cubicBezTo>
                  <a:cubicBezTo>
                    <a:pt x="1193" y="240"/>
                    <a:pt x="1190" y="242"/>
                    <a:pt x="1187" y="241"/>
                  </a:cubicBezTo>
                  <a:cubicBezTo>
                    <a:pt x="1146" y="219"/>
                    <a:pt x="1146" y="219"/>
                    <a:pt x="1146" y="219"/>
                  </a:cubicBezTo>
                  <a:cubicBezTo>
                    <a:pt x="1145" y="218"/>
                    <a:pt x="1144" y="218"/>
                    <a:pt x="1143" y="218"/>
                  </a:cubicBezTo>
                  <a:cubicBezTo>
                    <a:pt x="1101" y="240"/>
                    <a:pt x="1101" y="240"/>
                    <a:pt x="1101" y="240"/>
                  </a:cubicBezTo>
                  <a:cubicBezTo>
                    <a:pt x="1098" y="241"/>
                    <a:pt x="1095" y="239"/>
                    <a:pt x="1096" y="237"/>
                  </a:cubicBezTo>
                  <a:cubicBezTo>
                    <a:pt x="1104" y="190"/>
                    <a:pt x="1104" y="190"/>
                    <a:pt x="1104" y="190"/>
                  </a:cubicBezTo>
                  <a:cubicBezTo>
                    <a:pt x="1104" y="189"/>
                    <a:pt x="1104" y="188"/>
                    <a:pt x="1103" y="187"/>
                  </a:cubicBezTo>
                  <a:cubicBezTo>
                    <a:pt x="1070" y="153"/>
                    <a:pt x="1070" y="153"/>
                    <a:pt x="1070" y="153"/>
                  </a:cubicBezTo>
                  <a:cubicBezTo>
                    <a:pt x="1068" y="151"/>
                    <a:pt x="1069" y="148"/>
                    <a:pt x="1072" y="148"/>
                  </a:cubicBezTo>
                  <a:cubicBezTo>
                    <a:pt x="1118" y="141"/>
                    <a:pt x="1118" y="141"/>
                    <a:pt x="1118" y="141"/>
                  </a:cubicBezTo>
                  <a:cubicBezTo>
                    <a:pt x="1120" y="141"/>
                    <a:pt x="1121" y="141"/>
                    <a:pt x="1121" y="139"/>
                  </a:cubicBezTo>
                  <a:cubicBezTo>
                    <a:pt x="1142" y="97"/>
                    <a:pt x="1142" y="97"/>
                    <a:pt x="1142" y="97"/>
                  </a:cubicBezTo>
                  <a:cubicBezTo>
                    <a:pt x="1144" y="95"/>
                    <a:pt x="1147" y="95"/>
                    <a:pt x="1149" y="97"/>
                  </a:cubicBezTo>
                  <a:cubicBezTo>
                    <a:pt x="1169" y="140"/>
                    <a:pt x="1169" y="140"/>
                    <a:pt x="1169" y="140"/>
                  </a:cubicBezTo>
                  <a:cubicBezTo>
                    <a:pt x="1169" y="141"/>
                    <a:pt x="1170" y="142"/>
                    <a:pt x="1171" y="142"/>
                  </a:cubicBezTo>
                  <a:cubicBezTo>
                    <a:pt x="1218" y="149"/>
                    <a:pt x="1218" y="149"/>
                    <a:pt x="1218" y="149"/>
                  </a:cubicBezTo>
                  <a:cubicBezTo>
                    <a:pt x="1221" y="150"/>
                    <a:pt x="1222" y="153"/>
                    <a:pt x="1220" y="155"/>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sp>
          <p:nvSpPr>
            <p:cNvPr id="66" name="Freeform 16">
              <a:extLst>
                <a:ext uri="{FF2B5EF4-FFF2-40B4-BE49-F238E27FC236}">
                  <a16:creationId xmlns:a16="http://schemas.microsoft.com/office/drawing/2014/main" id="{1313CAB3-4575-4752-9C0E-BE2EA1EC222F}"/>
                </a:ext>
              </a:extLst>
            </p:cNvPr>
            <p:cNvSpPr>
              <a:spLocks noEditPoints="1"/>
            </p:cNvSpPr>
            <p:nvPr/>
          </p:nvSpPr>
          <p:spPr bwMode="auto">
            <a:xfrm>
              <a:off x="1864" y="712"/>
              <a:ext cx="3956" cy="2665"/>
            </a:xfrm>
            <a:custGeom>
              <a:avLst/>
              <a:gdLst>
                <a:gd name="T0" fmla="*/ 663 w 2112"/>
                <a:gd name="T1" fmla="*/ 1199 h 1421"/>
                <a:gd name="T2" fmla="*/ 469 w 2112"/>
                <a:gd name="T3" fmla="*/ 844 h 1421"/>
                <a:gd name="T4" fmla="*/ 695 w 2112"/>
                <a:gd name="T5" fmla="*/ 0 h 1421"/>
                <a:gd name="T6" fmla="*/ 920 w 2112"/>
                <a:gd name="T7" fmla="*/ 844 h 1421"/>
                <a:gd name="T8" fmla="*/ 727 w 2112"/>
                <a:gd name="T9" fmla="*/ 1199 h 1421"/>
                <a:gd name="T10" fmla="*/ 695 w 2112"/>
                <a:gd name="T11" fmla="*/ 1218 h 1421"/>
                <a:gd name="T12" fmla="*/ 352 w 2112"/>
                <a:gd name="T13" fmla="*/ 395 h 1421"/>
                <a:gd name="T14" fmla="*/ 662 w 2112"/>
                <a:gd name="T15" fmla="*/ 1110 h 1421"/>
                <a:gd name="T16" fmla="*/ 728 w 2112"/>
                <a:gd name="T17" fmla="*/ 1110 h 1421"/>
                <a:gd name="T18" fmla="*/ 1036 w 2112"/>
                <a:gd name="T19" fmla="*/ 395 h 1421"/>
                <a:gd name="T20" fmla="*/ 1344 w 2112"/>
                <a:gd name="T21" fmla="*/ 593 h 1421"/>
                <a:gd name="T22" fmla="*/ 1081 w 2112"/>
                <a:gd name="T23" fmla="*/ 587 h 1421"/>
                <a:gd name="T24" fmla="*/ 1364 w 2112"/>
                <a:gd name="T25" fmla="*/ 631 h 1421"/>
                <a:gd name="T26" fmla="*/ 2110 w 2112"/>
                <a:gd name="T27" fmla="*/ 1377 h 1421"/>
                <a:gd name="T28" fmla="*/ 1876 w 2112"/>
                <a:gd name="T29" fmla="*/ 587 h 1421"/>
                <a:gd name="T30" fmla="*/ 1736 w 2112"/>
                <a:gd name="T31" fmla="*/ 592 h 1421"/>
                <a:gd name="T32" fmla="*/ 1876 w 2112"/>
                <a:gd name="T33" fmla="*/ 631 h 1421"/>
                <a:gd name="T34" fmla="*/ 2064 w 2112"/>
                <a:gd name="T35" fmla="*/ 1377 h 1421"/>
                <a:gd name="T36" fmla="*/ 232 w 2112"/>
                <a:gd name="T37" fmla="*/ 631 h 1421"/>
                <a:gd name="T38" fmla="*/ 324 w 2112"/>
                <a:gd name="T39" fmla="*/ 631 h 1421"/>
                <a:gd name="T40" fmla="*/ 236 w 2112"/>
                <a:gd name="T41" fmla="*/ 587 h 1421"/>
                <a:gd name="T42" fmla="*/ 2 w 2112"/>
                <a:gd name="T43" fmla="*/ 1377 h 1421"/>
                <a:gd name="T44" fmla="*/ 45 w 2112"/>
                <a:gd name="T45" fmla="*/ 1421 h 1421"/>
                <a:gd name="T46" fmla="*/ 2104 w 2112"/>
                <a:gd name="T47" fmla="*/ 1405 h 1421"/>
                <a:gd name="T48" fmla="*/ 1541 w 2112"/>
                <a:gd name="T49" fmla="*/ 826 h 1421"/>
                <a:gd name="T50" fmla="*/ 1487 w 2112"/>
                <a:gd name="T51" fmla="*/ 765 h 1421"/>
                <a:gd name="T52" fmla="*/ 1276 w 2112"/>
                <a:gd name="T53" fmla="*/ 270 h 1421"/>
                <a:gd name="T54" fmla="*/ 1804 w 2112"/>
                <a:gd name="T55" fmla="*/ 270 h 1421"/>
                <a:gd name="T56" fmla="*/ 1594 w 2112"/>
                <a:gd name="T57" fmla="*/ 765 h 1421"/>
                <a:gd name="T58" fmla="*/ 1541 w 2112"/>
                <a:gd name="T59" fmla="*/ 826 h 1421"/>
                <a:gd name="T60" fmla="*/ 1541 w 2112"/>
                <a:gd name="T61" fmla="*/ 44 h 1421"/>
                <a:gd name="T62" fmla="*/ 1423 w 2112"/>
                <a:gd name="T63" fmla="*/ 553 h 1421"/>
                <a:gd name="T64" fmla="*/ 1541 w 2112"/>
                <a:gd name="T65" fmla="*/ 770 h 1421"/>
                <a:gd name="T66" fmla="*/ 1658 w 2112"/>
                <a:gd name="T67" fmla="*/ 553 h 1421"/>
                <a:gd name="T68" fmla="*/ 1541 w 2112"/>
                <a:gd name="T69" fmla="*/ 44 h 1421"/>
                <a:gd name="T70" fmla="*/ 1195 w 2112"/>
                <a:gd name="T71" fmla="*/ 908 h 1421"/>
                <a:gd name="T72" fmla="*/ 1195 w 2112"/>
                <a:gd name="T73" fmla="*/ 826 h 1421"/>
                <a:gd name="T74" fmla="*/ 1449 w 2112"/>
                <a:gd name="T75" fmla="*/ 787 h 1421"/>
                <a:gd name="T76" fmla="*/ 1195 w 2112"/>
                <a:gd name="T77" fmla="*/ 782 h 1421"/>
                <a:gd name="T78" fmla="*/ 1195 w 2112"/>
                <a:gd name="T79" fmla="*/ 952 h 1421"/>
                <a:gd name="T80" fmla="*/ 1659 w 2112"/>
                <a:gd name="T81" fmla="*/ 1063 h 1421"/>
                <a:gd name="T82" fmla="*/ 793 w 2112"/>
                <a:gd name="T83" fmla="*/ 1174 h 1421"/>
                <a:gd name="T84" fmla="*/ 1548 w 2112"/>
                <a:gd name="T85" fmla="*/ 1218 h 1421"/>
                <a:gd name="T86" fmla="*/ 1548 w 2112"/>
                <a:gd name="T87" fmla="*/ 908 h 1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2" h="1421">
                  <a:moveTo>
                    <a:pt x="695" y="1218"/>
                  </a:moveTo>
                  <a:cubicBezTo>
                    <a:pt x="681" y="1218"/>
                    <a:pt x="669" y="1211"/>
                    <a:pt x="663" y="1199"/>
                  </a:cubicBezTo>
                  <a:cubicBezTo>
                    <a:pt x="624" y="1132"/>
                    <a:pt x="624" y="1132"/>
                    <a:pt x="624" y="1132"/>
                  </a:cubicBezTo>
                  <a:cubicBezTo>
                    <a:pt x="623" y="1131"/>
                    <a:pt x="545" y="997"/>
                    <a:pt x="469" y="844"/>
                  </a:cubicBezTo>
                  <a:cubicBezTo>
                    <a:pt x="360" y="627"/>
                    <a:pt x="308" y="480"/>
                    <a:pt x="308" y="395"/>
                  </a:cubicBezTo>
                  <a:cubicBezTo>
                    <a:pt x="308" y="177"/>
                    <a:pt x="481" y="0"/>
                    <a:pt x="695" y="0"/>
                  </a:cubicBezTo>
                  <a:cubicBezTo>
                    <a:pt x="907" y="0"/>
                    <a:pt x="1080" y="177"/>
                    <a:pt x="1080" y="395"/>
                  </a:cubicBezTo>
                  <a:cubicBezTo>
                    <a:pt x="1080" y="480"/>
                    <a:pt x="1027" y="627"/>
                    <a:pt x="920" y="844"/>
                  </a:cubicBezTo>
                  <a:cubicBezTo>
                    <a:pt x="844" y="997"/>
                    <a:pt x="767" y="1131"/>
                    <a:pt x="766" y="1132"/>
                  </a:cubicBezTo>
                  <a:cubicBezTo>
                    <a:pt x="727" y="1199"/>
                    <a:pt x="727" y="1199"/>
                    <a:pt x="727" y="1199"/>
                  </a:cubicBezTo>
                  <a:cubicBezTo>
                    <a:pt x="721" y="1211"/>
                    <a:pt x="709" y="1218"/>
                    <a:pt x="695" y="1218"/>
                  </a:cubicBezTo>
                  <a:cubicBezTo>
                    <a:pt x="695" y="1218"/>
                    <a:pt x="695" y="1218"/>
                    <a:pt x="695" y="1218"/>
                  </a:cubicBezTo>
                  <a:close/>
                  <a:moveTo>
                    <a:pt x="695" y="44"/>
                  </a:moveTo>
                  <a:cubicBezTo>
                    <a:pt x="506" y="44"/>
                    <a:pt x="352" y="202"/>
                    <a:pt x="352" y="395"/>
                  </a:cubicBezTo>
                  <a:cubicBezTo>
                    <a:pt x="352" y="473"/>
                    <a:pt x="403" y="614"/>
                    <a:pt x="508" y="825"/>
                  </a:cubicBezTo>
                  <a:cubicBezTo>
                    <a:pt x="584" y="976"/>
                    <a:pt x="661" y="1109"/>
                    <a:pt x="662" y="1110"/>
                  </a:cubicBezTo>
                  <a:cubicBezTo>
                    <a:pt x="695" y="1167"/>
                    <a:pt x="695" y="1167"/>
                    <a:pt x="695" y="1167"/>
                  </a:cubicBezTo>
                  <a:cubicBezTo>
                    <a:pt x="728" y="1110"/>
                    <a:pt x="728" y="1110"/>
                    <a:pt x="728" y="1110"/>
                  </a:cubicBezTo>
                  <a:cubicBezTo>
                    <a:pt x="729" y="1109"/>
                    <a:pt x="805" y="976"/>
                    <a:pt x="880" y="825"/>
                  </a:cubicBezTo>
                  <a:cubicBezTo>
                    <a:pt x="985" y="614"/>
                    <a:pt x="1036" y="473"/>
                    <a:pt x="1036" y="395"/>
                  </a:cubicBezTo>
                  <a:cubicBezTo>
                    <a:pt x="1036" y="202"/>
                    <a:pt x="883" y="44"/>
                    <a:pt x="695" y="44"/>
                  </a:cubicBezTo>
                  <a:close/>
                  <a:moveTo>
                    <a:pt x="1344" y="593"/>
                  </a:moveTo>
                  <a:cubicBezTo>
                    <a:pt x="1343" y="591"/>
                    <a:pt x="1343" y="589"/>
                    <a:pt x="1342" y="587"/>
                  </a:cubicBezTo>
                  <a:cubicBezTo>
                    <a:pt x="1081" y="587"/>
                    <a:pt x="1081" y="587"/>
                    <a:pt x="1081" y="587"/>
                  </a:cubicBezTo>
                  <a:cubicBezTo>
                    <a:pt x="1076" y="601"/>
                    <a:pt x="1070" y="616"/>
                    <a:pt x="1064" y="631"/>
                  </a:cubicBezTo>
                  <a:cubicBezTo>
                    <a:pt x="1364" y="631"/>
                    <a:pt x="1364" y="631"/>
                    <a:pt x="1364" y="631"/>
                  </a:cubicBezTo>
                  <a:cubicBezTo>
                    <a:pt x="1357" y="619"/>
                    <a:pt x="1351" y="606"/>
                    <a:pt x="1344" y="593"/>
                  </a:cubicBezTo>
                  <a:close/>
                  <a:moveTo>
                    <a:pt x="2110" y="1377"/>
                  </a:moveTo>
                  <a:cubicBezTo>
                    <a:pt x="1921" y="615"/>
                    <a:pt x="1921" y="615"/>
                    <a:pt x="1921" y="615"/>
                  </a:cubicBezTo>
                  <a:cubicBezTo>
                    <a:pt x="1916" y="596"/>
                    <a:pt x="1894" y="587"/>
                    <a:pt x="1876" y="587"/>
                  </a:cubicBezTo>
                  <a:cubicBezTo>
                    <a:pt x="1739" y="587"/>
                    <a:pt x="1739" y="587"/>
                    <a:pt x="1739" y="587"/>
                  </a:cubicBezTo>
                  <a:cubicBezTo>
                    <a:pt x="1738" y="589"/>
                    <a:pt x="1737" y="591"/>
                    <a:pt x="1736" y="592"/>
                  </a:cubicBezTo>
                  <a:cubicBezTo>
                    <a:pt x="1730" y="605"/>
                    <a:pt x="1723" y="618"/>
                    <a:pt x="1717" y="631"/>
                  </a:cubicBezTo>
                  <a:cubicBezTo>
                    <a:pt x="1876" y="631"/>
                    <a:pt x="1876" y="631"/>
                    <a:pt x="1876" y="631"/>
                  </a:cubicBezTo>
                  <a:cubicBezTo>
                    <a:pt x="1877" y="631"/>
                    <a:pt x="1879" y="631"/>
                    <a:pt x="1880" y="631"/>
                  </a:cubicBezTo>
                  <a:cubicBezTo>
                    <a:pt x="2064" y="1377"/>
                    <a:pt x="2064" y="1377"/>
                    <a:pt x="2064" y="1377"/>
                  </a:cubicBezTo>
                  <a:cubicBezTo>
                    <a:pt x="48" y="1377"/>
                    <a:pt x="48" y="1377"/>
                    <a:pt x="48" y="1377"/>
                  </a:cubicBezTo>
                  <a:cubicBezTo>
                    <a:pt x="232" y="631"/>
                    <a:pt x="232" y="631"/>
                    <a:pt x="232" y="631"/>
                  </a:cubicBezTo>
                  <a:cubicBezTo>
                    <a:pt x="233" y="631"/>
                    <a:pt x="235" y="631"/>
                    <a:pt x="236" y="631"/>
                  </a:cubicBezTo>
                  <a:cubicBezTo>
                    <a:pt x="324" y="631"/>
                    <a:pt x="324" y="631"/>
                    <a:pt x="324" y="631"/>
                  </a:cubicBezTo>
                  <a:cubicBezTo>
                    <a:pt x="318" y="616"/>
                    <a:pt x="312" y="601"/>
                    <a:pt x="307" y="587"/>
                  </a:cubicBezTo>
                  <a:cubicBezTo>
                    <a:pt x="236" y="587"/>
                    <a:pt x="236" y="587"/>
                    <a:pt x="236" y="587"/>
                  </a:cubicBezTo>
                  <a:cubicBezTo>
                    <a:pt x="218" y="587"/>
                    <a:pt x="196" y="596"/>
                    <a:pt x="191" y="615"/>
                  </a:cubicBezTo>
                  <a:cubicBezTo>
                    <a:pt x="2" y="1377"/>
                    <a:pt x="2" y="1377"/>
                    <a:pt x="2" y="1377"/>
                  </a:cubicBezTo>
                  <a:cubicBezTo>
                    <a:pt x="0" y="1387"/>
                    <a:pt x="2" y="1397"/>
                    <a:pt x="8" y="1405"/>
                  </a:cubicBezTo>
                  <a:cubicBezTo>
                    <a:pt x="16" y="1415"/>
                    <a:pt x="30" y="1421"/>
                    <a:pt x="45" y="1421"/>
                  </a:cubicBezTo>
                  <a:cubicBezTo>
                    <a:pt x="2067" y="1421"/>
                    <a:pt x="2067" y="1421"/>
                    <a:pt x="2067" y="1421"/>
                  </a:cubicBezTo>
                  <a:cubicBezTo>
                    <a:pt x="2082" y="1421"/>
                    <a:pt x="2096" y="1415"/>
                    <a:pt x="2104" y="1405"/>
                  </a:cubicBezTo>
                  <a:cubicBezTo>
                    <a:pt x="2110" y="1397"/>
                    <a:pt x="2112" y="1387"/>
                    <a:pt x="2110" y="1377"/>
                  </a:cubicBezTo>
                  <a:close/>
                  <a:moveTo>
                    <a:pt x="1541" y="826"/>
                  </a:moveTo>
                  <a:cubicBezTo>
                    <a:pt x="1529" y="826"/>
                    <a:pt x="1519" y="819"/>
                    <a:pt x="1513" y="810"/>
                  </a:cubicBezTo>
                  <a:cubicBezTo>
                    <a:pt x="1487" y="765"/>
                    <a:pt x="1487" y="765"/>
                    <a:pt x="1487" y="765"/>
                  </a:cubicBezTo>
                  <a:cubicBezTo>
                    <a:pt x="1487" y="764"/>
                    <a:pt x="1435" y="675"/>
                    <a:pt x="1384" y="573"/>
                  </a:cubicBezTo>
                  <a:cubicBezTo>
                    <a:pt x="1310" y="425"/>
                    <a:pt x="1276" y="329"/>
                    <a:pt x="1276" y="270"/>
                  </a:cubicBezTo>
                  <a:cubicBezTo>
                    <a:pt x="1276" y="122"/>
                    <a:pt x="1395" y="0"/>
                    <a:pt x="1541" y="0"/>
                  </a:cubicBezTo>
                  <a:cubicBezTo>
                    <a:pt x="1686" y="0"/>
                    <a:pt x="1804" y="122"/>
                    <a:pt x="1804" y="270"/>
                  </a:cubicBezTo>
                  <a:cubicBezTo>
                    <a:pt x="1804" y="329"/>
                    <a:pt x="1770" y="425"/>
                    <a:pt x="1697" y="573"/>
                  </a:cubicBezTo>
                  <a:cubicBezTo>
                    <a:pt x="1647" y="675"/>
                    <a:pt x="1595" y="764"/>
                    <a:pt x="1594" y="765"/>
                  </a:cubicBezTo>
                  <a:cubicBezTo>
                    <a:pt x="1569" y="809"/>
                    <a:pt x="1569" y="809"/>
                    <a:pt x="1569" y="809"/>
                  </a:cubicBezTo>
                  <a:cubicBezTo>
                    <a:pt x="1563" y="819"/>
                    <a:pt x="1552" y="826"/>
                    <a:pt x="1541" y="826"/>
                  </a:cubicBezTo>
                  <a:cubicBezTo>
                    <a:pt x="1541" y="826"/>
                    <a:pt x="1541" y="826"/>
                    <a:pt x="1541" y="826"/>
                  </a:cubicBezTo>
                  <a:close/>
                  <a:moveTo>
                    <a:pt x="1541" y="44"/>
                  </a:moveTo>
                  <a:cubicBezTo>
                    <a:pt x="1419" y="44"/>
                    <a:pt x="1320" y="146"/>
                    <a:pt x="1320" y="270"/>
                  </a:cubicBezTo>
                  <a:cubicBezTo>
                    <a:pt x="1320" y="321"/>
                    <a:pt x="1354" y="416"/>
                    <a:pt x="1423" y="553"/>
                  </a:cubicBezTo>
                  <a:cubicBezTo>
                    <a:pt x="1474" y="655"/>
                    <a:pt x="1525" y="742"/>
                    <a:pt x="1525" y="743"/>
                  </a:cubicBezTo>
                  <a:cubicBezTo>
                    <a:pt x="1541" y="770"/>
                    <a:pt x="1541" y="770"/>
                    <a:pt x="1541" y="770"/>
                  </a:cubicBezTo>
                  <a:cubicBezTo>
                    <a:pt x="1556" y="743"/>
                    <a:pt x="1556" y="743"/>
                    <a:pt x="1556" y="743"/>
                  </a:cubicBezTo>
                  <a:cubicBezTo>
                    <a:pt x="1557" y="742"/>
                    <a:pt x="1607" y="655"/>
                    <a:pt x="1658" y="553"/>
                  </a:cubicBezTo>
                  <a:cubicBezTo>
                    <a:pt x="1726" y="416"/>
                    <a:pt x="1760" y="321"/>
                    <a:pt x="1760" y="270"/>
                  </a:cubicBezTo>
                  <a:cubicBezTo>
                    <a:pt x="1760" y="146"/>
                    <a:pt x="1662" y="44"/>
                    <a:pt x="1541" y="44"/>
                  </a:cubicBezTo>
                  <a:close/>
                  <a:moveTo>
                    <a:pt x="1548" y="908"/>
                  </a:moveTo>
                  <a:cubicBezTo>
                    <a:pt x="1195" y="908"/>
                    <a:pt x="1195" y="908"/>
                    <a:pt x="1195" y="908"/>
                  </a:cubicBezTo>
                  <a:cubicBezTo>
                    <a:pt x="1172" y="908"/>
                    <a:pt x="1154" y="889"/>
                    <a:pt x="1154" y="867"/>
                  </a:cubicBezTo>
                  <a:cubicBezTo>
                    <a:pt x="1154" y="844"/>
                    <a:pt x="1172" y="826"/>
                    <a:pt x="1195" y="826"/>
                  </a:cubicBezTo>
                  <a:cubicBezTo>
                    <a:pt x="1471" y="826"/>
                    <a:pt x="1471" y="826"/>
                    <a:pt x="1471" y="826"/>
                  </a:cubicBezTo>
                  <a:cubicBezTo>
                    <a:pt x="1449" y="787"/>
                    <a:pt x="1449" y="787"/>
                    <a:pt x="1449" y="787"/>
                  </a:cubicBezTo>
                  <a:cubicBezTo>
                    <a:pt x="1449" y="787"/>
                    <a:pt x="1448" y="785"/>
                    <a:pt x="1446" y="782"/>
                  </a:cubicBezTo>
                  <a:cubicBezTo>
                    <a:pt x="1195" y="782"/>
                    <a:pt x="1195" y="782"/>
                    <a:pt x="1195" y="782"/>
                  </a:cubicBezTo>
                  <a:cubicBezTo>
                    <a:pt x="1148" y="782"/>
                    <a:pt x="1110" y="820"/>
                    <a:pt x="1110" y="867"/>
                  </a:cubicBezTo>
                  <a:cubicBezTo>
                    <a:pt x="1110" y="914"/>
                    <a:pt x="1148" y="952"/>
                    <a:pt x="1195" y="952"/>
                  </a:cubicBezTo>
                  <a:cubicBezTo>
                    <a:pt x="1548" y="952"/>
                    <a:pt x="1548" y="952"/>
                    <a:pt x="1548" y="952"/>
                  </a:cubicBezTo>
                  <a:cubicBezTo>
                    <a:pt x="1609" y="952"/>
                    <a:pt x="1659" y="1002"/>
                    <a:pt x="1659" y="1063"/>
                  </a:cubicBezTo>
                  <a:cubicBezTo>
                    <a:pt x="1659" y="1124"/>
                    <a:pt x="1609" y="1174"/>
                    <a:pt x="1548" y="1174"/>
                  </a:cubicBezTo>
                  <a:cubicBezTo>
                    <a:pt x="793" y="1174"/>
                    <a:pt x="793" y="1174"/>
                    <a:pt x="793" y="1174"/>
                  </a:cubicBezTo>
                  <a:cubicBezTo>
                    <a:pt x="767" y="1218"/>
                    <a:pt x="767" y="1218"/>
                    <a:pt x="767" y="1218"/>
                  </a:cubicBezTo>
                  <a:cubicBezTo>
                    <a:pt x="1548" y="1218"/>
                    <a:pt x="1548" y="1218"/>
                    <a:pt x="1548" y="1218"/>
                  </a:cubicBezTo>
                  <a:cubicBezTo>
                    <a:pt x="1633" y="1218"/>
                    <a:pt x="1703" y="1148"/>
                    <a:pt x="1703" y="1063"/>
                  </a:cubicBezTo>
                  <a:cubicBezTo>
                    <a:pt x="1703" y="977"/>
                    <a:pt x="1633" y="908"/>
                    <a:pt x="1548" y="90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ea typeface="Microsoft YaHei" panose="020B0503020204020204" pitchFamily="34" charset="-122"/>
              </a:endParaRPr>
            </a:p>
          </p:txBody>
        </p:sp>
      </p:grpSp>
      <p:grpSp>
        <p:nvGrpSpPr>
          <p:cNvPr id="73" name="Group 72">
            <a:extLst>
              <a:ext uri="{FF2B5EF4-FFF2-40B4-BE49-F238E27FC236}">
                <a16:creationId xmlns:a16="http://schemas.microsoft.com/office/drawing/2014/main" id="{27089A51-0943-4F6D-D357-5A8E7EE956D9}"/>
              </a:ext>
            </a:extLst>
          </p:cNvPr>
          <p:cNvGrpSpPr/>
          <p:nvPr/>
        </p:nvGrpSpPr>
        <p:grpSpPr>
          <a:xfrm rot="5400000">
            <a:off x="2638488" y="4822478"/>
            <a:ext cx="253966" cy="387304"/>
            <a:chOff x="7548326" y="3118076"/>
            <a:chExt cx="342714" cy="316060"/>
          </a:xfrm>
        </p:grpSpPr>
        <p:sp>
          <p:nvSpPr>
            <p:cNvPr id="74" name="Isosceles Triangle 73">
              <a:extLst>
                <a:ext uri="{FF2B5EF4-FFF2-40B4-BE49-F238E27FC236}">
                  <a16:creationId xmlns:a16="http://schemas.microsoft.com/office/drawing/2014/main" id="{FDF18897-93EF-368B-CFAD-59C432300624}"/>
                </a:ext>
              </a:extLst>
            </p:cNvPr>
            <p:cNvSpPr/>
            <p:nvPr>
              <p:custDataLst>
                <p:tags r:id="rId7"/>
              </p:custDataLst>
            </p:nvPr>
          </p:nvSpPr>
          <p:spPr>
            <a:xfrm rot="5400000">
              <a:off x="7627657" y="3170753"/>
              <a:ext cx="316059" cy="210706"/>
            </a:xfrm>
            <a:prstGeom prst="triangle">
              <a:avLst/>
            </a:prstGeom>
            <a:solidFill>
              <a:schemeClr val="tx2"/>
            </a:solidFill>
            <a:ln w="22225" cap="flat" cmpd="sng" algn="ctr">
              <a:solidFill>
                <a:srgbClr val="FFFFFF"/>
              </a:solidFill>
              <a:prstDash val="solid"/>
            </a:ln>
            <a:effectLst/>
          </p:spPr>
          <p:txBody>
            <a:bodyPr vert="horz" wrap="square" lIns="0" tIns="89999" rIns="0" bIns="0" rtlCol="0" anchor="t" anchorCtr="0">
              <a:noAutofit/>
            </a:bodyPr>
            <a:lstStyle/>
            <a:p>
              <a:pPr marL="0" marR="0" lvl="0" indent="0" defTabSz="914400" eaLnBrk="1" fontAlgn="ctr" latinLnBrk="0" hangingPunct="1">
                <a:lnSpc>
                  <a:spcPct val="9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a typeface="Microsoft YaHei" panose="020B0503020204020204" pitchFamily="34" charset="-122"/>
                <a:cs typeface="+mn-ea"/>
                <a:sym typeface="+mn-lt"/>
              </a:endParaRPr>
            </a:p>
          </p:txBody>
        </p:sp>
        <p:sp>
          <p:nvSpPr>
            <p:cNvPr id="75" name="Isosceles Triangle 74">
              <a:extLst>
                <a:ext uri="{FF2B5EF4-FFF2-40B4-BE49-F238E27FC236}">
                  <a16:creationId xmlns:a16="http://schemas.microsoft.com/office/drawing/2014/main" id="{DEB8357F-A689-B69D-5BFA-2FAEE2515047}"/>
                </a:ext>
              </a:extLst>
            </p:cNvPr>
            <p:cNvSpPr/>
            <p:nvPr>
              <p:custDataLst>
                <p:tags r:id="rId8"/>
              </p:custDataLst>
            </p:nvPr>
          </p:nvSpPr>
          <p:spPr>
            <a:xfrm rot="5400000">
              <a:off x="7495649" y="3170754"/>
              <a:ext cx="316059" cy="210706"/>
            </a:xfrm>
            <a:prstGeom prst="triangle">
              <a:avLst/>
            </a:prstGeom>
            <a:solidFill>
              <a:schemeClr val="accent2"/>
            </a:solidFill>
            <a:ln w="22225" cap="flat" cmpd="sng" algn="ctr">
              <a:solidFill>
                <a:srgbClr val="FFFFFF"/>
              </a:solidFill>
              <a:prstDash val="solid"/>
            </a:ln>
            <a:effectLst/>
          </p:spPr>
          <p:txBody>
            <a:bodyPr vert="horz" wrap="square" lIns="0" tIns="89999" rIns="0" bIns="0" rtlCol="0" anchor="t" anchorCtr="0">
              <a:noAutofit/>
            </a:bodyPr>
            <a:lstStyle/>
            <a:p>
              <a:pPr marL="0" marR="0" lvl="0" indent="0" defTabSz="914400" eaLnBrk="1" fontAlgn="ctr" latinLnBrk="0" hangingPunct="1">
                <a:lnSpc>
                  <a:spcPct val="9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a typeface="Microsoft YaHei" panose="020B0503020204020204" pitchFamily="34" charset="-122"/>
                <a:cs typeface="+mn-ea"/>
                <a:sym typeface="+mn-lt"/>
              </a:endParaRPr>
            </a:p>
          </p:txBody>
        </p:sp>
      </p:grpSp>
      <p:grpSp>
        <p:nvGrpSpPr>
          <p:cNvPr id="76" name="Group 75">
            <a:extLst>
              <a:ext uri="{FF2B5EF4-FFF2-40B4-BE49-F238E27FC236}">
                <a16:creationId xmlns:a16="http://schemas.microsoft.com/office/drawing/2014/main" id="{F4EF858F-3103-F773-3B0E-BC668100CFD3}"/>
              </a:ext>
            </a:extLst>
          </p:cNvPr>
          <p:cNvGrpSpPr/>
          <p:nvPr/>
        </p:nvGrpSpPr>
        <p:grpSpPr>
          <a:xfrm rot="5400000">
            <a:off x="6214321" y="4822478"/>
            <a:ext cx="253966" cy="387304"/>
            <a:chOff x="7548326" y="3118076"/>
            <a:chExt cx="342714" cy="316060"/>
          </a:xfrm>
        </p:grpSpPr>
        <p:sp>
          <p:nvSpPr>
            <p:cNvPr id="77" name="Isosceles Triangle 76">
              <a:extLst>
                <a:ext uri="{FF2B5EF4-FFF2-40B4-BE49-F238E27FC236}">
                  <a16:creationId xmlns:a16="http://schemas.microsoft.com/office/drawing/2014/main" id="{F11E9156-21B7-0759-6C4A-6D20C84D8488}"/>
                </a:ext>
              </a:extLst>
            </p:cNvPr>
            <p:cNvSpPr/>
            <p:nvPr>
              <p:custDataLst>
                <p:tags r:id="rId5"/>
              </p:custDataLst>
            </p:nvPr>
          </p:nvSpPr>
          <p:spPr>
            <a:xfrm rot="5400000">
              <a:off x="7627657" y="3170753"/>
              <a:ext cx="316059" cy="210706"/>
            </a:xfrm>
            <a:prstGeom prst="triangle">
              <a:avLst/>
            </a:prstGeom>
            <a:solidFill>
              <a:schemeClr val="tx2"/>
            </a:solidFill>
            <a:ln w="22225" cap="flat" cmpd="sng" algn="ctr">
              <a:solidFill>
                <a:srgbClr val="FFFFFF"/>
              </a:solidFill>
              <a:prstDash val="solid"/>
            </a:ln>
            <a:effectLst/>
          </p:spPr>
          <p:txBody>
            <a:bodyPr vert="horz" wrap="square" lIns="0" tIns="89999" rIns="0" bIns="0" rtlCol="0" anchor="t" anchorCtr="0">
              <a:noAutofit/>
            </a:bodyPr>
            <a:lstStyle/>
            <a:p>
              <a:pPr marL="0" marR="0" lvl="0" indent="0" defTabSz="914400" eaLnBrk="1" fontAlgn="ctr" latinLnBrk="0" hangingPunct="1">
                <a:lnSpc>
                  <a:spcPct val="9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a typeface="Microsoft YaHei" panose="020B0503020204020204" pitchFamily="34" charset="-122"/>
                <a:cs typeface="+mn-ea"/>
                <a:sym typeface="+mn-lt"/>
              </a:endParaRPr>
            </a:p>
          </p:txBody>
        </p:sp>
        <p:sp>
          <p:nvSpPr>
            <p:cNvPr id="78" name="Isosceles Triangle 77">
              <a:extLst>
                <a:ext uri="{FF2B5EF4-FFF2-40B4-BE49-F238E27FC236}">
                  <a16:creationId xmlns:a16="http://schemas.microsoft.com/office/drawing/2014/main" id="{D3BC14B2-8F80-C701-D2A0-8D39617F0213}"/>
                </a:ext>
              </a:extLst>
            </p:cNvPr>
            <p:cNvSpPr/>
            <p:nvPr>
              <p:custDataLst>
                <p:tags r:id="rId6"/>
              </p:custDataLst>
            </p:nvPr>
          </p:nvSpPr>
          <p:spPr>
            <a:xfrm rot="5400000">
              <a:off x="7495649" y="3170754"/>
              <a:ext cx="316059" cy="210706"/>
            </a:xfrm>
            <a:prstGeom prst="triangle">
              <a:avLst/>
            </a:prstGeom>
            <a:solidFill>
              <a:schemeClr val="accent2"/>
            </a:solidFill>
            <a:ln w="22225" cap="flat" cmpd="sng" algn="ctr">
              <a:solidFill>
                <a:srgbClr val="FFFFFF"/>
              </a:solidFill>
              <a:prstDash val="solid"/>
            </a:ln>
            <a:effectLst/>
          </p:spPr>
          <p:txBody>
            <a:bodyPr vert="horz" wrap="square" lIns="0" tIns="89999" rIns="0" bIns="0" rtlCol="0" anchor="t" anchorCtr="0">
              <a:noAutofit/>
            </a:bodyPr>
            <a:lstStyle/>
            <a:p>
              <a:pPr marL="0" marR="0" lvl="0" indent="0" defTabSz="914400" eaLnBrk="1" fontAlgn="ctr" latinLnBrk="0" hangingPunct="1">
                <a:lnSpc>
                  <a:spcPct val="9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a typeface="Microsoft YaHei" panose="020B0503020204020204" pitchFamily="34" charset="-122"/>
                <a:cs typeface="+mn-ea"/>
                <a:sym typeface="+mn-lt"/>
              </a:endParaRPr>
            </a:p>
          </p:txBody>
        </p:sp>
      </p:grpSp>
      <p:grpSp>
        <p:nvGrpSpPr>
          <p:cNvPr id="79" name="Group 78">
            <a:extLst>
              <a:ext uri="{FF2B5EF4-FFF2-40B4-BE49-F238E27FC236}">
                <a16:creationId xmlns:a16="http://schemas.microsoft.com/office/drawing/2014/main" id="{6C9387A9-AED8-8334-EC79-755ED35D72F0}"/>
              </a:ext>
            </a:extLst>
          </p:cNvPr>
          <p:cNvGrpSpPr/>
          <p:nvPr/>
        </p:nvGrpSpPr>
        <p:grpSpPr>
          <a:xfrm rot="5400000">
            <a:off x="9790154" y="4822478"/>
            <a:ext cx="253966" cy="387304"/>
            <a:chOff x="7548326" y="3118076"/>
            <a:chExt cx="342714" cy="316060"/>
          </a:xfrm>
        </p:grpSpPr>
        <p:sp>
          <p:nvSpPr>
            <p:cNvPr id="80" name="Isosceles Triangle 79">
              <a:extLst>
                <a:ext uri="{FF2B5EF4-FFF2-40B4-BE49-F238E27FC236}">
                  <a16:creationId xmlns:a16="http://schemas.microsoft.com/office/drawing/2014/main" id="{E9296565-4CA8-D0DB-BC29-D55F2AFB38CB}"/>
                </a:ext>
              </a:extLst>
            </p:cNvPr>
            <p:cNvSpPr/>
            <p:nvPr>
              <p:custDataLst>
                <p:tags r:id="rId3"/>
              </p:custDataLst>
            </p:nvPr>
          </p:nvSpPr>
          <p:spPr>
            <a:xfrm rot="5400000">
              <a:off x="7627657" y="3170753"/>
              <a:ext cx="316059" cy="210706"/>
            </a:xfrm>
            <a:prstGeom prst="triangle">
              <a:avLst/>
            </a:prstGeom>
            <a:solidFill>
              <a:schemeClr val="tx2"/>
            </a:solidFill>
            <a:ln w="22225" cap="flat" cmpd="sng" algn="ctr">
              <a:solidFill>
                <a:srgbClr val="FFFFFF"/>
              </a:solidFill>
              <a:prstDash val="solid"/>
            </a:ln>
            <a:effectLst/>
          </p:spPr>
          <p:txBody>
            <a:bodyPr vert="horz" wrap="square" lIns="0" tIns="89999" rIns="0" bIns="0" rtlCol="0" anchor="t" anchorCtr="0">
              <a:noAutofit/>
            </a:bodyPr>
            <a:lstStyle/>
            <a:p>
              <a:pPr marL="0" marR="0" lvl="0" indent="0" defTabSz="914400" eaLnBrk="1" fontAlgn="ctr" latinLnBrk="0" hangingPunct="1">
                <a:lnSpc>
                  <a:spcPct val="9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a typeface="Microsoft YaHei" panose="020B0503020204020204" pitchFamily="34" charset="-122"/>
                <a:cs typeface="+mn-ea"/>
                <a:sym typeface="+mn-lt"/>
              </a:endParaRPr>
            </a:p>
          </p:txBody>
        </p:sp>
        <p:sp>
          <p:nvSpPr>
            <p:cNvPr id="81" name="Isosceles Triangle 80">
              <a:extLst>
                <a:ext uri="{FF2B5EF4-FFF2-40B4-BE49-F238E27FC236}">
                  <a16:creationId xmlns:a16="http://schemas.microsoft.com/office/drawing/2014/main" id="{FEA762B4-28F1-4F50-A25B-A9FABED16CC7}"/>
                </a:ext>
              </a:extLst>
            </p:cNvPr>
            <p:cNvSpPr/>
            <p:nvPr>
              <p:custDataLst>
                <p:tags r:id="rId4"/>
              </p:custDataLst>
            </p:nvPr>
          </p:nvSpPr>
          <p:spPr>
            <a:xfrm rot="5400000">
              <a:off x="7495649" y="3170754"/>
              <a:ext cx="316059" cy="210706"/>
            </a:xfrm>
            <a:prstGeom prst="triangle">
              <a:avLst/>
            </a:prstGeom>
            <a:solidFill>
              <a:schemeClr val="accent2"/>
            </a:solidFill>
            <a:ln w="22225" cap="flat" cmpd="sng" algn="ctr">
              <a:solidFill>
                <a:srgbClr val="FFFFFF"/>
              </a:solidFill>
              <a:prstDash val="solid"/>
            </a:ln>
            <a:effectLst/>
          </p:spPr>
          <p:txBody>
            <a:bodyPr vert="horz" wrap="square" lIns="0" tIns="89999" rIns="0" bIns="0" rtlCol="0" anchor="t" anchorCtr="0">
              <a:noAutofit/>
            </a:bodyPr>
            <a:lstStyle/>
            <a:p>
              <a:pPr marL="0" marR="0" lvl="0" indent="0" defTabSz="914400" eaLnBrk="1" fontAlgn="ctr" latinLnBrk="0" hangingPunct="1">
                <a:lnSpc>
                  <a:spcPct val="9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a typeface="Microsoft YaHei" panose="020B0503020204020204" pitchFamily="34" charset="-122"/>
                <a:cs typeface="+mn-ea"/>
                <a:sym typeface="+mn-lt"/>
              </a:endParaRPr>
            </a:p>
          </p:txBody>
        </p:sp>
      </p:grpSp>
      <p:sp>
        <p:nvSpPr>
          <p:cNvPr id="82" name="Rectangle 81">
            <a:extLst>
              <a:ext uri="{FF2B5EF4-FFF2-40B4-BE49-F238E27FC236}">
                <a16:creationId xmlns:a16="http://schemas.microsoft.com/office/drawing/2014/main" id="{B3B19F97-C307-E00C-1A48-64EFC5287B37}"/>
              </a:ext>
            </a:extLst>
          </p:cNvPr>
          <p:cNvSpPr/>
          <p:nvPr/>
        </p:nvSpPr>
        <p:spPr>
          <a:xfrm>
            <a:off x="10613055" y="6107765"/>
            <a:ext cx="1027639" cy="254870"/>
          </a:xfrm>
          <a:prstGeom prst="rect">
            <a:avLst/>
          </a:prstGeom>
          <a:noFill/>
          <a:ln w="9525" cap="rnd" cmpd="sng" algn="ctr">
            <a:noFill/>
            <a:prstDash val="sysDot"/>
            <a:round/>
            <a:headEnd type="none" w="med" len="med"/>
            <a:tailEnd type="none" w="med" len="me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cmpd="sng" algn="ctr">
                <a:solidFill>
                  <a:srgbClr val="FFFFFF"/>
                </a:solidFill>
                <a:prstDash val="sysDot"/>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349200">
              <a:buClr>
                <a:schemeClr val="tx2"/>
              </a:buClr>
            </a:pPr>
            <a:r>
              <a:rPr lang="zh-TW" altLang="en-US" sz="1400" i="1">
                <a:solidFill>
                  <a:srgbClr val="E71C57"/>
                </a:solidFill>
                <a:latin typeface="Trebuchet MS" panose="020B0603020202020204" pitchFamily="34" charset="0"/>
                <a:ea typeface="Microsoft YaHei" panose="020B0503020204020204" pitchFamily="34" charset="-122"/>
              </a:rPr>
              <a:t>後續展開</a:t>
            </a:r>
            <a:endParaRPr lang="en-US" altLang="zh-TW" sz="1400" i="1">
              <a:solidFill>
                <a:srgbClr val="E71C57"/>
              </a:solidFill>
              <a:latin typeface="Trebuchet MS" panose="020B0603020202020204" pitchFamily="34" charset="0"/>
              <a:ea typeface="Microsoft YaHei" panose="020B0503020204020204" pitchFamily="34" charset="-122"/>
            </a:endParaRPr>
          </a:p>
        </p:txBody>
      </p:sp>
      <p:sp>
        <p:nvSpPr>
          <p:cNvPr id="86" name="Rectangle 85">
            <a:extLst>
              <a:ext uri="{FF2B5EF4-FFF2-40B4-BE49-F238E27FC236}">
                <a16:creationId xmlns:a16="http://schemas.microsoft.com/office/drawing/2014/main" id="{A8D4A650-A67B-E512-53E4-B69822667005}"/>
              </a:ext>
            </a:extLst>
          </p:cNvPr>
          <p:cNvSpPr/>
          <p:nvPr/>
        </p:nvSpPr>
        <p:spPr>
          <a:xfrm>
            <a:off x="4724402" y="5239279"/>
            <a:ext cx="6838945" cy="804864"/>
          </a:xfrm>
          <a:prstGeom prst="rect">
            <a:avLst/>
          </a:prstGeom>
          <a:noFill/>
          <a:ln w="19050" cap="rnd" cmpd="sng" algn="ctr">
            <a:solidFill>
              <a:srgbClr val="E71C57"/>
            </a:solidFill>
            <a:prstDash val="sysDot"/>
            <a:round/>
            <a:headEnd type="none" w="med" len="med"/>
            <a:tailEnd type="none" w="med" len="me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a typeface="Microsoft YaHei" panose="020B0503020204020204" pitchFamily="34" charset="-122"/>
            </a:endParaRPr>
          </a:p>
        </p:txBody>
      </p:sp>
      <p:sp>
        <p:nvSpPr>
          <p:cNvPr id="109" name="Textfeld 1">
            <a:extLst>
              <a:ext uri="{FF2B5EF4-FFF2-40B4-BE49-F238E27FC236}">
                <a16:creationId xmlns:a16="http://schemas.microsoft.com/office/drawing/2014/main" id="{43A16935-ABB1-BF82-43B1-57D11133B9D1}"/>
              </a:ext>
            </a:extLst>
          </p:cNvPr>
          <p:cNvSpPr txBox="1"/>
          <p:nvPr>
            <p:custDataLst>
              <p:tags r:id="rId2"/>
            </p:custDataLst>
          </p:nvPr>
        </p:nvSpPr>
        <p:spPr>
          <a:xfrm>
            <a:off x="890896" y="6419250"/>
            <a:ext cx="10835555" cy="240066"/>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zh-TW" altLang="en-US" sz="1200" b="1">
                <a:solidFill>
                  <a:srgbClr val="575757"/>
                </a:solidFill>
                <a:sym typeface="Trebuchet MS" panose="020B0603020202020204" pitchFamily="34" charset="0"/>
              </a:rPr>
              <a:t>短期　＝＞　　長期</a:t>
            </a:r>
            <a:endParaRPr lang="en-US" sz="1200" b="1">
              <a:solidFill>
                <a:srgbClr val="575757"/>
              </a:solidFill>
              <a:sym typeface="Trebuchet MS" panose="020B0603020202020204" pitchFamily="34" charset="0"/>
            </a:endParaRPr>
          </a:p>
        </p:txBody>
      </p:sp>
      <p:sp>
        <p:nvSpPr>
          <p:cNvPr id="110" name="Oval 20">
            <a:extLst>
              <a:ext uri="{FF2B5EF4-FFF2-40B4-BE49-F238E27FC236}">
                <a16:creationId xmlns:a16="http://schemas.microsoft.com/office/drawing/2014/main" id="{C5BB84DD-7BA9-F52A-B1AA-90B41CD4735F}"/>
              </a:ext>
            </a:extLst>
          </p:cNvPr>
          <p:cNvSpPr>
            <a:spLocks noChangeAspect="1" noChangeArrowheads="1"/>
          </p:cNvSpPr>
          <p:nvPr/>
        </p:nvSpPr>
        <p:spPr bwMode="auto">
          <a:xfrm>
            <a:off x="186544" y="98006"/>
            <a:ext cx="299290" cy="299290"/>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sz="1200">
                <a:solidFill>
                  <a:schemeClr val="bg1"/>
                </a:solidFill>
                <a:ea typeface="Microsoft YaHei" panose="020B0503020204020204" pitchFamily="34" charset="-122"/>
              </a:rPr>
              <a:t>1</a:t>
            </a:r>
          </a:p>
        </p:txBody>
      </p:sp>
      <p:sp>
        <p:nvSpPr>
          <p:cNvPr id="111" name="TextBox 110">
            <a:extLst>
              <a:ext uri="{FF2B5EF4-FFF2-40B4-BE49-F238E27FC236}">
                <a16:creationId xmlns:a16="http://schemas.microsoft.com/office/drawing/2014/main" id="{273B8DF4-B5F5-0536-F943-A7C5D4694744}"/>
              </a:ext>
            </a:extLst>
          </p:cNvPr>
          <p:cNvSpPr txBox="1"/>
          <p:nvPr/>
        </p:nvSpPr>
        <p:spPr>
          <a:xfrm>
            <a:off x="490697" y="128208"/>
            <a:ext cx="2217333" cy="276999"/>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a:spAutoFit/>
          </a:bodyPr>
          <a:lstStyle/>
          <a:p>
            <a:r>
              <a:rPr lang="zh-TW" altLang="en-US" sz="1200">
                <a:solidFill>
                  <a:srgbClr val="575757"/>
                </a:solidFill>
                <a:latin typeface="Trebuchet MS" panose="020B0603020202020204" pitchFamily="34" charset="0"/>
                <a:ea typeface="Microsoft YaHei" panose="020B0503020204020204" pitchFamily="34" charset="-122"/>
              </a:rPr>
              <a:t>優化預測模型，個性化經營</a:t>
            </a:r>
            <a:endParaRPr lang="en-US" sz="1200">
              <a:solidFill>
                <a:srgbClr val="575757"/>
              </a:solidFill>
            </a:endParaRPr>
          </a:p>
        </p:txBody>
      </p:sp>
      <p:cxnSp>
        <p:nvCxnSpPr>
          <p:cNvPr id="112" name="Straight Connector 111">
            <a:extLst>
              <a:ext uri="{FF2B5EF4-FFF2-40B4-BE49-F238E27FC236}">
                <a16:creationId xmlns:a16="http://schemas.microsoft.com/office/drawing/2014/main" id="{911B3060-3BA0-79DE-A909-71239EDE0AC5}"/>
              </a:ext>
            </a:extLst>
          </p:cNvPr>
          <p:cNvCxnSpPr/>
          <p:nvPr/>
        </p:nvCxnSpPr>
        <p:spPr>
          <a:xfrm flipH="1">
            <a:off x="43961" y="87923"/>
            <a:ext cx="12115801" cy="6695342"/>
          </a:xfrm>
          <a:prstGeom prst="line">
            <a:avLst/>
          </a:prstGeom>
          <a:ln w="9525" cap="rnd">
            <a:solidFill>
              <a:schemeClr val="tx1">
                <a:lumMod val="60000"/>
                <a:lumOff val="40000"/>
              </a:schemeClr>
            </a:solidFill>
            <a:prstDash val="solid"/>
            <a:roun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7359924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9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7" name="Object 6" hidden="1">
            <a:extLst>
              <a:ext uri="{FF2B5EF4-FFF2-40B4-BE49-F238E27FC236}">
                <a16:creationId xmlns:a16="http://schemas.microsoft.com/office/drawing/2014/main" id="{0AC3E047-4486-4309-8578-A7FA3AE5E8CA}"/>
              </a:ext>
            </a:extLst>
          </p:cNvPr>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395" imgH="394" progId="TCLayout.ActiveDocument.1">
                  <p:embed/>
                </p:oleObj>
              </mc:Choice>
              <mc:Fallback>
                <p:oleObj name="think-cell Slide" r:id="rId9" imgW="395" imgH="394" progId="TCLayout.ActiveDocument.1">
                  <p:embed/>
                  <p:pic>
                    <p:nvPicPr>
                      <p:cNvPr id="7" name="Object 6" hidden="1">
                        <a:extLst>
                          <a:ext uri="{FF2B5EF4-FFF2-40B4-BE49-F238E27FC236}">
                            <a16:creationId xmlns:a16="http://schemas.microsoft.com/office/drawing/2014/main" id="{0AC3E047-4486-4309-8578-A7FA3AE5E8CA}"/>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2" name="Title 1"/>
          <p:cNvSpPr>
            <a:spLocks noGrp="1"/>
          </p:cNvSpPr>
          <p:nvPr>
            <p:ph type="title"/>
          </p:nvPr>
        </p:nvSpPr>
        <p:spPr>
          <a:xfrm>
            <a:off x="630000" y="622800"/>
            <a:ext cx="10933350" cy="664797"/>
          </a:xfrm>
        </p:spPr>
        <p:txBody>
          <a:bodyPr vert="horz"/>
          <a:lstStyle/>
          <a:p>
            <a:r>
              <a:rPr lang="zh-TW" altLang="en-US">
                <a:latin typeface="Microsoft YaHei" panose="020B0503020204020204" pitchFamily="34" charset="-122"/>
                <a:ea typeface="Microsoft YaHei" panose="020B0503020204020204" pitchFamily="34" charset="-122"/>
              </a:rPr>
              <a:t>識別同一客戶路徑一般透</a:t>
            </a:r>
            <a:r>
              <a:rPr lang="zh-CN" altLang="en-US">
                <a:latin typeface="Microsoft YaHei" panose="020B0503020204020204" pitchFamily="34" charset="-122"/>
                <a:ea typeface="Microsoft YaHei" panose="020B0503020204020204" pitchFamily="34" charset="-122"/>
              </a:rPr>
              <a:t>過</a:t>
            </a:r>
            <a:r>
              <a:rPr lang="en-US" altLang="zh-CN" err="1">
                <a:latin typeface="Microsoft YaHei" panose="020B0503020204020204" pitchFamily="34" charset="-122"/>
                <a:ea typeface="Microsoft YaHei" panose="020B0503020204020204" pitchFamily="34" charset="-122"/>
              </a:rPr>
              <a:t>Kmeans</a:t>
            </a:r>
            <a:r>
              <a:rPr lang="zh-CN" altLang="en-US">
                <a:latin typeface="Microsoft YaHei" panose="020B0503020204020204" pitchFamily="34" charset="-122"/>
                <a:ea typeface="Microsoft YaHei" panose="020B0503020204020204" pitchFamily="34" charset="-122"/>
              </a:rPr>
              <a:t>聚類演算法，結合</a:t>
            </a:r>
            <a:r>
              <a:rPr lang="en-US" altLang="zh-CN">
                <a:latin typeface="Microsoft YaHei" panose="020B0503020204020204" pitchFamily="34" charset="-122"/>
                <a:ea typeface="Microsoft YaHei" panose="020B0503020204020204" pitchFamily="34" charset="-122"/>
              </a:rPr>
              <a:t>3</a:t>
            </a:r>
            <a:r>
              <a:rPr lang="zh-CN" altLang="en-US">
                <a:latin typeface="Microsoft YaHei" panose="020B0503020204020204" pitchFamily="34" charset="-122"/>
                <a:ea typeface="Microsoft YaHei" panose="020B0503020204020204" pitchFamily="34" charset="-122"/>
              </a:rPr>
              <a:t>大維度，共計</a:t>
            </a:r>
            <a:r>
              <a:rPr lang="en-US" altLang="zh-CN">
                <a:latin typeface="Microsoft YaHei" panose="020B0503020204020204" pitchFamily="34" charset="-122"/>
                <a:ea typeface="Microsoft YaHei" panose="020B0503020204020204" pitchFamily="34" charset="-122"/>
              </a:rPr>
              <a:t>22</a:t>
            </a:r>
            <a:r>
              <a:rPr lang="zh-CN" altLang="en-US">
                <a:latin typeface="Microsoft YaHei" panose="020B0503020204020204" pitchFamily="34" charset="-122"/>
                <a:ea typeface="Microsoft YaHei" panose="020B0503020204020204" pitchFamily="34" charset="-122"/>
              </a:rPr>
              <a:t>項細分維度數據，對</a:t>
            </a:r>
            <a:r>
              <a:rPr lang="en-US" altLang="zh-CN">
                <a:latin typeface="Microsoft YaHei" panose="020B0503020204020204" pitchFamily="34" charset="-122"/>
                <a:ea typeface="Microsoft YaHei" panose="020B0503020204020204" pitchFamily="34" charset="-122"/>
              </a:rPr>
              <a:t>656</a:t>
            </a:r>
            <a:r>
              <a:rPr lang="zh-CN" altLang="en-US">
                <a:latin typeface="Microsoft YaHei" panose="020B0503020204020204" pitchFamily="34" charset="-122"/>
                <a:ea typeface="Microsoft YaHei" panose="020B0503020204020204" pitchFamily="34" charset="-122"/>
              </a:rPr>
              <a:t>份樣本聚類分析，形成</a:t>
            </a:r>
            <a:r>
              <a:rPr lang="en-US" altLang="zh-CN">
                <a:latin typeface="Microsoft YaHei" panose="020B0503020204020204" pitchFamily="34" charset="-122"/>
                <a:ea typeface="Microsoft YaHei" panose="020B0503020204020204" pitchFamily="34" charset="-122"/>
              </a:rPr>
              <a:t>10</a:t>
            </a:r>
            <a:r>
              <a:rPr lang="zh-CN" altLang="en-US">
                <a:latin typeface="Microsoft YaHei" panose="020B0503020204020204" pitchFamily="34" charset="-122"/>
                <a:ea typeface="Microsoft YaHei" panose="020B0503020204020204" pitchFamily="34" charset="-122"/>
              </a:rPr>
              <a:t>大客群</a:t>
            </a:r>
            <a:endParaRPr lang="en-US">
              <a:latin typeface="Microsoft YaHei" panose="020B0503020204020204" pitchFamily="34" charset="-122"/>
              <a:ea typeface="Microsoft YaHei" panose="020B0503020204020204" pitchFamily="34" charset="-122"/>
            </a:endParaRPr>
          </a:p>
        </p:txBody>
      </p:sp>
      <p:grpSp>
        <p:nvGrpSpPr>
          <p:cNvPr id="50" name="Group 49">
            <a:extLst>
              <a:ext uri="{FF2B5EF4-FFF2-40B4-BE49-F238E27FC236}">
                <a16:creationId xmlns:a16="http://schemas.microsoft.com/office/drawing/2014/main" id="{FAEBB37F-9E59-420D-9686-9339EBFBACA6}"/>
              </a:ext>
            </a:extLst>
          </p:cNvPr>
          <p:cNvGrpSpPr/>
          <p:nvPr/>
        </p:nvGrpSpPr>
        <p:grpSpPr>
          <a:xfrm rot="5400000">
            <a:off x="-1089979" y="3314896"/>
            <a:ext cx="4808828" cy="1335033"/>
            <a:chOff x="630000" y="1789200"/>
            <a:chExt cx="11216249" cy="874800"/>
          </a:xfrm>
        </p:grpSpPr>
        <p:sp>
          <p:nvSpPr>
            <p:cNvPr id="41" name="ValueChainStarter">
              <a:extLst>
                <a:ext uri="{FF2B5EF4-FFF2-40B4-BE49-F238E27FC236}">
                  <a16:creationId xmlns:a16="http://schemas.microsoft.com/office/drawing/2014/main" id="{30E5A41A-5E16-4392-A291-66BADB13E98A}"/>
                </a:ext>
              </a:extLst>
            </p:cNvPr>
            <p:cNvSpPr>
              <a:spLocks noChangeArrowheads="1"/>
            </p:cNvSpPr>
            <p:nvPr>
              <p:custDataLst>
                <p:tags r:id="rId4"/>
              </p:custDataLst>
            </p:nvPr>
          </p:nvSpPr>
          <p:spPr bwMode="gray">
            <a:xfrm>
              <a:off x="630000" y="1789200"/>
              <a:ext cx="3729600" cy="874800"/>
            </a:xfrm>
            <a:prstGeom prst="homePlate">
              <a:avLst>
                <a:gd name="adj" fmla="val 12004"/>
              </a:avLst>
            </a:prstGeom>
            <a:solidFill>
              <a:schemeClr val="tx2"/>
            </a:solidFill>
            <a:ln w="38100" cap="rnd" algn="ctr">
              <a:noFill/>
              <a:round/>
              <a:headEnd/>
              <a:tailEnd/>
            </a:ln>
          </p:spPr>
          <p:txBody>
            <a:bodyPr lIns="0" tIns="0" rIns="0" bIns="0" anchor="ctr" anchorCtr="0"/>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600" b="1" i="0" u="none" strike="noStrike" kern="1200" cap="none" spc="0" normalizeH="0" baseline="0" noProof="0">
                <a:ln>
                  <a:noFill/>
                </a:ln>
                <a:solidFill>
                  <a:srgbClr val="FFFFFF"/>
                </a:solidFill>
                <a:effectLst/>
                <a:uLnTx/>
                <a:uFillTx/>
                <a:latin typeface="Trebuchet MS"/>
                <a:ea typeface="Microsoft YaHei" panose="020B0503020204020204" pitchFamily="34" charset="-122"/>
                <a:cs typeface="+mn-cs"/>
                <a:sym typeface="Trebuchet MS" panose="020B0603020202020204" pitchFamily="34" charset="0"/>
              </a:endParaRPr>
            </a:p>
          </p:txBody>
        </p:sp>
        <p:sp>
          <p:nvSpPr>
            <p:cNvPr id="42" name="ValueChainHeader">
              <a:extLst>
                <a:ext uri="{FF2B5EF4-FFF2-40B4-BE49-F238E27FC236}">
                  <a16:creationId xmlns:a16="http://schemas.microsoft.com/office/drawing/2014/main" id="{53CEA7BF-3481-4E0D-806F-842D27A9E0CF}"/>
                </a:ext>
              </a:extLst>
            </p:cNvPr>
            <p:cNvSpPr>
              <a:spLocks noChangeArrowheads="1"/>
            </p:cNvSpPr>
            <p:nvPr>
              <p:custDataLst>
                <p:tags r:id="rId5"/>
              </p:custDataLst>
            </p:nvPr>
          </p:nvSpPr>
          <p:spPr bwMode="gray">
            <a:xfrm>
              <a:off x="4373325" y="1789200"/>
              <a:ext cx="3729600" cy="874800"/>
            </a:xfrm>
            <a:prstGeom prst="chevron">
              <a:avLst>
                <a:gd name="adj" fmla="val 12004"/>
              </a:avLst>
            </a:prstGeom>
            <a:solidFill>
              <a:schemeClr val="tx2"/>
            </a:solidFill>
            <a:ln w="38100" cap="rnd" algn="ctr">
              <a:noFill/>
              <a:round/>
              <a:headEnd/>
              <a:tailEnd/>
            </a:ln>
          </p:spPr>
          <p:txBody>
            <a:bodyPr lIns="0" tIns="0" rIns="0" bIns="0" anchor="ctr" anchorCtr="0"/>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600" b="1" i="0" u="none" strike="noStrike" kern="1200" cap="none" spc="0" normalizeH="0" baseline="0" noProof="0">
                <a:ln>
                  <a:noFill/>
                </a:ln>
                <a:solidFill>
                  <a:srgbClr val="FFFFFF"/>
                </a:solidFill>
                <a:effectLst/>
                <a:uLnTx/>
                <a:uFillTx/>
                <a:latin typeface="Trebuchet MS"/>
                <a:ea typeface="Microsoft YaHei" panose="020B0503020204020204" pitchFamily="34" charset="-122"/>
                <a:cs typeface="+mn-cs"/>
                <a:sym typeface="Trebuchet MS" panose="020B0603020202020204" pitchFamily="34" charset="0"/>
              </a:endParaRPr>
            </a:p>
          </p:txBody>
        </p:sp>
        <p:sp>
          <p:nvSpPr>
            <p:cNvPr id="43" name="ValueChainHeader">
              <a:extLst>
                <a:ext uri="{FF2B5EF4-FFF2-40B4-BE49-F238E27FC236}">
                  <a16:creationId xmlns:a16="http://schemas.microsoft.com/office/drawing/2014/main" id="{BB9195FC-9FCA-414D-B9A5-8CFD210F424D}"/>
                </a:ext>
              </a:extLst>
            </p:cNvPr>
            <p:cNvSpPr>
              <a:spLocks noChangeArrowheads="1"/>
            </p:cNvSpPr>
            <p:nvPr>
              <p:custDataLst>
                <p:tags r:id="rId6"/>
              </p:custDataLst>
            </p:nvPr>
          </p:nvSpPr>
          <p:spPr bwMode="gray">
            <a:xfrm>
              <a:off x="8116649" y="1789200"/>
              <a:ext cx="3729600" cy="874800"/>
            </a:xfrm>
            <a:prstGeom prst="chevron">
              <a:avLst>
                <a:gd name="adj" fmla="val 12004"/>
              </a:avLst>
            </a:prstGeom>
            <a:solidFill>
              <a:schemeClr val="tx2"/>
            </a:solidFill>
            <a:ln w="38100" cap="rnd" algn="ctr">
              <a:noFill/>
              <a:round/>
              <a:headEnd/>
              <a:tailEnd/>
            </a:ln>
          </p:spPr>
          <p:txBody>
            <a:bodyPr lIns="0" tIns="0" rIns="0" bIns="0" anchor="ctr" anchorCtr="0"/>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600" b="1" i="0" u="none" strike="noStrike" kern="1200" cap="none" spc="0" normalizeH="0" baseline="0" noProof="0">
                <a:ln>
                  <a:noFill/>
                </a:ln>
                <a:solidFill>
                  <a:srgbClr val="FFFFFF"/>
                </a:solidFill>
                <a:effectLst/>
                <a:uLnTx/>
                <a:uFillTx/>
                <a:latin typeface="Trebuchet MS"/>
                <a:ea typeface="Microsoft YaHei" panose="020B0503020204020204" pitchFamily="34" charset="-122"/>
                <a:cs typeface="+mn-cs"/>
                <a:sym typeface="Trebuchet MS" panose="020B0603020202020204" pitchFamily="34" charset="0"/>
              </a:endParaRPr>
            </a:p>
          </p:txBody>
        </p:sp>
      </p:grpSp>
      <p:grpSp>
        <p:nvGrpSpPr>
          <p:cNvPr id="76" name="Group 75">
            <a:extLst>
              <a:ext uri="{FF2B5EF4-FFF2-40B4-BE49-F238E27FC236}">
                <a16:creationId xmlns:a16="http://schemas.microsoft.com/office/drawing/2014/main" id="{6A314C81-C9EE-49F6-B39F-300B458C06A2}"/>
              </a:ext>
            </a:extLst>
          </p:cNvPr>
          <p:cNvGrpSpPr/>
          <p:nvPr/>
        </p:nvGrpSpPr>
        <p:grpSpPr>
          <a:xfrm>
            <a:off x="943261" y="1815720"/>
            <a:ext cx="742347" cy="742346"/>
            <a:chOff x="807975" y="1815720"/>
            <a:chExt cx="1012918" cy="1012916"/>
          </a:xfrm>
        </p:grpSpPr>
        <p:sp>
          <p:nvSpPr>
            <p:cNvPr id="54" name="Oval 53">
              <a:extLst>
                <a:ext uri="{FF2B5EF4-FFF2-40B4-BE49-F238E27FC236}">
                  <a16:creationId xmlns:a16="http://schemas.microsoft.com/office/drawing/2014/main" id="{25326449-0E75-417A-BA38-4A1864E4B6A8}"/>
                </a:ext>
              </a:extLst>
            </p:cNvPr>
            <p:cNvSpPr>
              <a:spLocks noChangeAspect="1"/>
            </p:cNvSpPr>
            <p:nvPr/>
          </p:nvSpPr>
          <p:spPr>
            <a:xfrm>
              <a:off x="807975" y="1815720"/>
              <a:ext cx="1012918" cy="1012916"/>
            </a:xfrm>
            <a:prstGeom prst="ellipse">
              <a:avLst/>
            </a:prstGeom>
            <a:solidFill>
              <a:srgbClr val="FFFFFF"/>
            </a:solidFill>
            <a:ln w="38100" cap="rnd">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575757"/>
                </a:solidFill>
                <a:effectLst/>
                <a:uLnTx/>
                <a:uFillTx/>
                <a:latin typeface="Trebuchet MS"/>
                <a:ea typeface="Microsoft YaHei" panose="020B0503020204020204" pitchFamily="34" charset="-122"/>
                <a:cs typeface="+mn-cs"/>
              </a:endParaRPr>
            </a:p>
          </p:txBody>
        </p:sp>
        <p:grpSp>
          <p:nvGrpSpPr>
            <p:cNvPr id="61" name="Group 60">
              <a:extLst>
                <a:ext uri="{FF2B5EF4-FFF2-40B4-BE49-F238E27FC236}">
                  <a16:creationId xmlns:a16="http://schemas.microsoft.com/office/drawing/2014/main" id="{F9BCD32C-E1E9-44A4-8E9F-A2CEA3D6A0B3}"/>
                </a:ext>
              </a:extLst>
            </p:cNvPr>
            <p:cNvGrpSpPr/>
            <p:nvPr/>
          </p:nvGrpSpPr>
          <p:grpSpPr>
            <a:xfrm>
              <a:off x="1080099" y="2087626"/>
              <a:ext cx="468670" cy="469104"/>
              <a:chOff x="5445632" y="2775204"/>
              <a:chExt cx="1301877" cy="1306068"/>
            </a:xfrm>
          </p:grpSpPr>
          <p:sp>
            <p:nvSpPr>
              <p:cNvPr id="62" name="Freeform 35">
                <a:extLst>
                  <a:ext uri="{FF2B5EF4-FFF2-40B4-BE49-F238E27FC236}">
                    <a16:creationId xmlns:a16="http://schemas.microsoft.com/office/drawing/2014/main" id="{D07D4251-3FB9-4595-A60A-4A89B390AA13}"/>
                  </a:ext>
                </a:extLst>
              </p:cNvPr>
              <p:cNvSpPr>
                <a:spLocks noEditPoints="1"/>
              </p:cNvSpPr>
              <p:nvPr/>
            </p:nvSpPr>
            <p:spPr bwMode="auto">
              <a:xfrm>
                <a:off x="5445632" y="2775204"/>
                <a:ext cx="1301877" cy="1306068"/>
              </a:xfrm>
              <a:custGeom>
                <a:avLst/>
                <a:gdLst>
                  <a:gd name="T0" fmla="*/ 236 w 1824"/>
                  <a:gd name="T1" fmla="*/ 118 h 1828"/>
                  <a:gd name="T2" fmla="*/ 118 w 1824"/>
                  <a:gd name="T3" fmla="*/ 191 h 1828"/>
                  <a:gd name="T4" fmla="*/ 414 w 1824"/>
                  <a:gd name="T5" fmla="*/ 22 h 1828"/>
                  <a:gd name="T6" fmla="*/ 458 w 1824"/>
                  <a:gd name="T7" fmla="*/ 22 h 1828"/>
                  <a:gd name="T8" fmla="*/ 753 w 1824"/>
                  <a:gd name="T9" fmla="*/ 0 h 1828"/>
                  <a:gd name="T10" fmla="*/ 680 w 1824"/>
                  <a:gd name="T11" fmla="*/ 118 h 1828"/>
                  <a:gd name="T12" fmla="*/ 1071 w 1824"/>
                  <a:gd name="T13" fmla="*/ 0 h 1828"/>
                  <a:gd name="T14" fmla="*/ 1093 w 1824"/>
                  <a:gd name="T15" fmla="*/ 213 h 1828"/>
                  <a:gd name="T16" fmla="*/ 1366 w 1824"/>
                  <a:gd name="T17" fmla="*/ 22 h 1828"/>
                  <a:gd name="T18" fmla="*/ 1410 w 1824"/>
                  <a:gd name="T19" fmla="*/ 22 h 1828"/>
                  <a:gd name="T20" fmla="*/ 1706 w 1824"/>
                  <a:gd name="T21" fmla="*/ 0 h 1828"/>
                  <a:gd name="T22" fmla="*/ 1632 w 1824"/>
                  <a:gd name="T23" fmla="*/ 118 h 1828"/>
                  <a:gd name="T24" fmla="*/ 118 w 1824"/>
                  <a:gd name="T25" fmla="*/ 319 h 1828"/>
                  <a:gd name="T26" fmla="*/ 140 w 1824"/>
                  <a:gd name="T27" fmla="*/ 532 h 1828"/>
                  <a:gd name="T28" fmla="*/ 953 w 1824"/>
                  <a:gd name="T29" fmla="*/ 436 h 1828"/>
                  <a:gd name="T30" fmla="*/ 1071 w 1824"/>
                  <a:gd name="T31" fmla="*/ 363 h 1828"/>
                  <a:gd name="T32" fmla="*/ 1071 w 1824"/>
                  <a:gd name="T33" fmla="*/ 363 h 1828"/>
                  <a:gd name="T34" fmla="*/ 1388 w 1824"/>
                  <a:gd name="T35" fmla="*/ 554 h 1828"/>
                  <a:gd name="T36" fmla="*/ 1706 w 1824"/>
                  <a:gd name="T37" fmla="*/ 554 h 1828"/>
                  <a:gd name="T38" fmla="*/ 1706 w 1824"/>
                  <a:gd name="T39" fmla="*/ 554 h 1828"/>
                  <a:gd name="T40" fmla="*/ 1780 w 1824"/>
                  <a:gd name="T41" fmla="*/ 436 h 1828"/>
                  <a:gd name="T42" fmla="*/ 118 w 1824"/>
                  <a:gd name="T43" fmla="*/ 637 h 1828"/>
                  <a:gd name="T44" fmla="*/ 44 w 1824"/>
                  <a:gd name="T45" fmla="*/ 755 h 1828"/>
                  <a:gd name="T46" fmla="*/ 1071 w 1824"/>
                  <a:gd name="T47" fmla="*/ 872 h 1828"/>
                  <a:gd name="T48" fmla="*/ 1071 w 1824"/>
                  <a:gd name="T49" fmla="*/ 872 h 1828"/>
                  <a:gd name="T50" fmla="*/ 1144 w 1824"/>
                  <a:gd name="T51" fmla="*/ 755 h 1828"/>
                  <a:gd name="T52" fmla="*/ 1388 w 1824"/>
                  <a:gd name="T53" fmla="*/ 637 h 1828"/>
                  <a:gd name="T54" fmla="*/ 1315 w 1824"/>
                  <a:gd name="T55" fmla="*/ 755 h 1828"/>
                  <a:gd name="T56" fmla="*/ 1706 w 1824"/>
                  <a:gd name="T57" fmla="*/ 637 h 1828"/>
                  <a:gd name="T58" fmla="*/ 1728 w 1824"/>
                  <a:gd name="T59" fmla="*/ 850 h 1828"/>
                  <a:gd name="T60" fmla="*/ 96 w 1824"/>
                  <a:gd name="T61" fmla="*/ 978 h 1828"/>
                  <a:gd name="T62" fmla="*/ 140 w 1824"/>
                  <a:gd name="T63" fmla="*/ 978 h 1828"/>
                  <a:gd name="T64" fmla="*/ 436 w 1824"/>
                  <a:gd name="T65" fmla="*/ 956 h 1828"/>
                  <a:gd name="T66" fmla="*/ 362 w 1824"/>
                  <a:gd name="T67" fmla="*/ 1073 h 1828"/>
                  <a:gd name="T68" fmla="*/ 753 w 1824"/>
                  <a:gd name="T69" fmla="*/ 956 h 1828"/>
                  <a:gd name="T70" fmla="*/ 775 w 1824"/>
                  <a:gd name="T71" fmla="*/ 1169 h 1828"/>
                  <a:gd name="T72" fmla="*/ 1049 w 1824"/>
                  <a:gd name="T73" fmla="*/ 978 h 1828"/>
                  <a:gd name="T74" fmla="*/ 1093 w 1824"/>
                  <a:gd name="T75" fmla="*/ 978 h 1828"/>
                  <a:gd name="T76" fmla="*/ 1388 w 1824"/>
                  <a:gd name="T77" fmla="*/ 956 h 1828"/>
                  <a:gd name="T78" fmla="*/ 1315 w 1824"/>
                  <a:gd name="T79" fmla="*/ 1073 h 1828"/>
                  <a:gd name="T80" fmla="*/ 1706 w 1824"/>
                  <a:gd name="T81" fmla="*/ 956 h 1828"/>
                  <a:gd name="T82" fmla="*/ 1728 w 1824"/>
                  <a:gd name="T83" fmla="*/ 1169 h 1828"/>
                  <a:gd name="T84" fmla="*/ 0 w 1824"/>
                  <a:gd name="T85" fmla="*/ 1392 h 1828"/>
                  <a:gd name="T86" fmla="*/ 118 w 1824"/>
                  <a:gd name="T87" fmla="*/ 1318 h 1828"/>
                  <a:gd name="T88" fmla="*/ 118 w 1824"/>
                  <a:gd name="T89" fmla="*/ 1318 h 1828"/>
                  <a:gd name="T90" fmla="*/ 436 w 1824"/>
                  <a:gd name="T91" fmla="*/ 1509 h 1828"/>
                  <a:gd name="T92" fmla="*/ 753 w 1824"/>
                  <a:gd name="T93" fmla="*/ 1509 h 1828"/>
                  <a:gd name="T94" fmla="*/ 753 w 1824"/>
                  <a:gd name="T95" fmla="*/ 1509 h 1828"/>
                  <a:gd name="T96" fmla="*/ 827 w 1824"/>
                  <a:gd name="T97" fmla="*/ 1392 h 1828"/>
                  <a:gd name="T98" fmla="*/ 1706 w 1824"/>
                  <a:gd name="T99" fmla="*/ 1274 h 1828"/>
                  <a:gd name="T100" fmla="*/ 1632 w 1824"/>
                  <a:gd name="T101" fmla="*/ 1392 h 1828"/>
                  <a:gd name="T102" fmla="*/ 118 w 1824"/>
                  <a:gd name="T103" fmla="*/ 1828 h 1828"/>
                  <a:gd name="T104" fmla="*/ 118 w 1824"/>
                  <a:gd name="T105" fmla="*/ 1828 h 1828"/>
                  <a:gd name="T106" fmla="*/ 192 w 1824"/>
                  <a:gd name="T107" fmla="*/ 1710 h 1828"/>
                  <a:gd name="T108" fmla="*/ 414 w 1824"/>
                  <a:gd name="T109" fmla="*/ 1806 h 1828"/>
                  <a:gd name="T110" fmla="*/ 436 w 1824"/>
                  <a:gd name="T111" fmla="*/ 1593 h 1828"/>
                  <a:gd name="T112" fmla="*/ 871 w 1824"/>
                  <a:gd name="T113" fmla="*/ 1710 h 1828"/>
                  <a:gd name="T114" fmla="*/ 753 w 1824"/>
                  <a:gd name="T115" fmla="*/ 1784 h 1828"/>
                  <a:gd name="T116" fmla="*/ 1588 w 1824"/>
                  <a:gd name="T117" fmla="*/ 1710 h 1828"/>
                  <a:gd name="T118" fmla="*/ 1706 w 1824"/>
                  <a:gd name="T119" fmla="*/ 1637 h 1828"/>
                  <a:gd name="T120" fmla="*/ 1706 w 1824"/>
                  <a:gd name="T121" fmla="*/ 1637 h 1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24" h="1828">
                    <a:moveTo>
                      <a:pt x="118" y="235"/>
                    </a:moveTo>
                    <a:cubicBezTo>
                      <a:pt x="53" y="235"/>
                      <a:pt x="0" y="183"/>
                      <a:pt x="0" y="118"/>
                    </a:cubicBezTo>
                    <a:cubicBezTo>
                      <a:pt x="0" y="53"/>
                      <a:pt x="53" y="0"/>
                      <a:pt x="118" y="0"/>
                    </a:cubicBezTo>
                    <a:cubicBezTo>
                      <a:pt x="183" y="0"/>
                      <a:pt x="236" y="53"/>
                      <a:pt x="236" y="118"/>
                    </a:cubicBezTo>
                    <a:cubicBezTo>
                      <a:pt x="236" y="183"/>
                      <a:pt x="183" y="235"/>
                      <a:pt x="118" y="235"/>
                    </a:cubicBezTo>
                    <a:close/>
                    <a:moveTo>
                      <a:pt x="118" y="44"/>
                    </a:moveTo>
                    <a:cubicBezTo>
                      <a:pt x="77" y="44"/>
                      <a:pt x="44" y="77"/>
                      <a:pt x="44" y="118"/>
                    </a:cubicBezTo>
                    <a:cubicBezTo>
                      <a:pt x="44" y="158"/>
                      <a:pt x="77" y="191"/>
                      <a:pt x="118" y="191"/>
                    </a:cubicBezTo>
                    <a:cubicBezTo>
                      <a:pt x="159" y="191"/>
                      <a:pt x="192" y="158"/>
                      <a:pt x="192" y="118"/>
                    </a:cubicBezTo>
                    <a:cubicBezTo>
                      <a:pt x="192" y="77"/>
                      <a:pt x="159" y="44"/>
                      <a:pt x="118" y="44"/>
                    </a:cubicBezTo>
                    <a:close/>
                    <a:moveTo>
                      <a:pt x="436" y="0"/>
                    </a:moveTo>
                    <a:cubicBezTo>
                      <a:pt x="424" y="0"/>
                      <a:pt x="414" y="10"/>
                      <a:pt x="414" y="22"/>
                    </a:cubicBezTo>
                    <a:cubicBezTo>
                      <a:pt x="414" y="213"/>
                      <a:pt x="414" y="213"/>
                      <a:pt x="414" y="213"/>
                    </a:cubicBezTo>
                    <a:cubicBezTo>
                      <a:pt x="414" y="225"/>
                      <a:pt x="424" y="235"/>
                      <a:pt x="436" y="235"/>
                    </a:cubicBezTo>
                    <a:cubicBezTo>
                      <a:pt x="448" y="235"/>
                      <a:pt x="458" y="225"/>
                      <a:pt x="458" y="213"/>
                    </a:cubicBezTo>
                    <a:cubicBezTo>
                      <a:pt x="458" y="22"/>
                      <a:pt x="458" y="22"/>
                      <a:pt x="458" y="22"/>
                    </a:cubicBezTo>
                    <a:cubicBezTo>
                      <a:pt x="458" y="10"/>
                      <a:pt x="448" y="0"/>
                      <a:pt x="436" y="0"/>
                    </a:cubicBezTo>
                    <a:close/>
                    <a:moveTo>
                      <a:pt x="753" y="235"/>
                    </a:moveTo>
                    <a:cubicBezTo>
                      <a:pt x="688" y="235"/>
                      <a:pt x="636" y="183"/>
                      <a:pt x="636" y="118"/>
                    </a:cubicBezTo>
                    <a:cubicBezTo>
                      <a:pt x="636" y="53"/>
                      <a:pt x="688" y="0"/>
                      <a:pt x="753" y="0"/>
                    </a:cubicBezTo>
                    <a:cubicBezTo>
                      <a:pt x="818" y="0"/>
                      <a:pt x="871" y="53"/>
                      <a:pt x="871" y="118"/>
                    </a:cubicBezTo>
                    <a:cubicBezTo>
                      <a:pt x="871" y="183"/>
                      <a:pt x="818" y="235"/>
                      <a:pt x="753" y="235"/>
                    </a:cubicBezTo>
                    <a:close/>
                    <a:moveTo>
                      <a:pt x="753" y="44"/>
                    </a:moveTo>
                    <a:cubicBezTo>
                      <a:pt x="713" y="44"/>
                      <a:pt x="680" y="77"/>
                      <a:pt x="680" y="118"/>
                    </a:cubicBezTo>
                    <a:cubicBezTo>
                      <a:pt x="680" y="158"/>
                      <a:pt x="713" y="191"/>
                      <a:pt x="753" y="191"/>
                    </a:cubicBezTo>
                    <a:cubicBezTo>
                      <a:pt x="794" y="191"/>
                      <a:pt x="827" y="158"/>
                      <a:pt x="827" y="118"/>
                    </a:cubicBezTo>
                    <a:cubicBezTo>
                      <a:pt x="827" y="77"/>
                      <a:pt x="794" y="44"/>
                      <a:pt x="753" y="44"/>
                    </a:cubicBezTo>
                    <a:close/>
                    <a:moveTo>
                      <a:pt x="1071" y="0"/>
                    </a:moveTo>
                    <a:cubicBezTo>
                      <a:pt x="1059" y="0"/>
                      <a:pt x="1049" y="10"/>
                      <a:pt x="1049" y="22"/>
                    </a:cubicBezTo>
                    <a:cubicBezTo>
                      <a:pt x="1049" y="213"/>
                      <a:pt x="1049" y="213"/>
                      <a:pt x="1049" y="213"/>
                    </a:cubicBezTo>
                    <a:cubicBezTo>
                      <a:pt x="1049" y="225"/>
                      <a:pt x="1059" y="235"/>
                      <a:pt x="1071" y="235"/>
                    </a:cubicBezTo>
                    <a:cubicBezTo>
                      <a:pt x="1083" y="235"/>
                      <a:pt x="1093" y="225"/>
                      <a:pt x="1093" y="213"/>
                    </a:cubicBezTo>
                    <a:cubicBezTo>
                      <a:pt x="1093" y="22"/>
                      <a:pt x="1093" y="22"/>
                      <a:pt x="1093" y="22"/>
                    </a:cubicBezTo>
                    <a:cubicBezTo>
                      <a:pt x="1093" y="10"/>
                      <a:pt x="1083" y="0"/>
                      <a:pt x="1071" y="0"/>
                    </a:cubicBezTo>
                    <a:close/>
                    <a:moveTo>
                      <a:pt x="1388" y="0"/>
                    </a:moveTo>
                    <a:cubicBezTo>
                      <a:pt x="1376" y="0"/>
                      <a:pt x="1366" y="10"/>
                      <a:pt x="1366" y="22"/>
                    </a:cubicBezTo>
                    <a:cubicBezTo>
                      <a:pt x="1366" y="213"/>
                      <a:pt x="1366" y="213"/>
                      <a:pt x="1366" y="213"/>
                    </a:cubicBezTo>
                    <a:cubicBezTo>
                      <a:pt x="1366" y="225"/>
                      <a:pt x="1376" y="235"/>
                      <a:pt x="1388" y="235"/>
                    </a:cubicBezTo>
                    <a:cubicBezTo>
                      <a:pt x="1400" y="235"/>
                      <a:pt x="1410" y="225"/>
                      <a:pt x="1410" y="213"/>
                    </a:cubicBezTo>
                    <a:cubicBezTo>
                      <a:pt x="1410" y="22"/>
                      <a:pt x="1410" y="22"/>
                      <a:pt x="1410" y="22"/>
                    </a:cubicBezTo>
                    <a:cubicBezTo>
                      <a:pt x="1410" y="10"/>
                      <a:pt x="1400" y="0"/>
                      <a:pt x="1388" y="0"/>
                    </a:cubicBezTo>
                    <a:close/>
                    <a:moveTo>
                      <a:pt x="1706" y="235"/>
                    </a:moveTo>
                    <a:cubicBezTo>
                      <a:pt x="1641" y="235"/>
                      <a:pt x="1588" y="183"/>
                      <a:pt x="1588" y="118"/>
                    </a:cubicBezTo>
                    <a:cubicBezTo>
                      <a:pt x="1588" y="53"/>
                      <a:pt x="1641" y="0"/>
                      <a:pt x="1706" y="0"/>
                    </a:cubicBezTo>
                    <a:cubicBezTo>
                      <a:pt x="1771" y="0"/>
                      <a:pt x="1824" y="53"/>
                      <a:pt x="1824" y="118"/>
                    </a:cubicBezTo>
                    <a:cubicBezTo>
                      <a:pt x="1824" y="183"/>
                      <a:pt x="1771" y="235"/>
                      <a:pt x="1706" y="235"/>
                    </a:cubicBezTo>
                    <a:close/>
                    <a:moveTo>
                      <a:pt x="1706" y="44"/>
                    </a:moveTo>
                    <a:cubicBezTo>
                      <a:pt x="1665" y="44"/>
                      <a:pt x="1632" y="77"/>
                      <a:pt x="1632" y="118"/>
                    </a:cubicBezTo>
                    <a:cubicBezTo>
                      <a:pt x="1632" y="158"/>
                      <a:pt x="1665" y="191"/>
                      <a:pt x="1706" y="191"/>
                    </a:cubicBezTo>
                    <a:cubicBezTo>
                      <a:pt x="1747" y="191"/>
                      <a:pt x="1780" y="158"/>
                      <a:pt x="1780" y="118"/>
                    </a:cubicBezTo>
                    <a:cubicBezTo>
                      <a:pt x="1780" y="77"/>
                      <a:pt x="1747" y="44"/>
                      <a:pt x="1706" y="44"/>
                    </a:cubicBezTo>
                    <a:close/>
                    <a:moveTo>
                      <a:pt x="118" y="319"/>
                    </a:moveTo>
                    <a:cubicBezTo>
                      <a:pt x="106" y="319"/>
                      <a:pt x="96" y="328"/>
                      <a:pt x="96" y="341"/>
                    </a:cubicBezTo>
                    <a:cubicBezTo>
                      <a:pt x="96" y="532"/>
                      <a:pt x="96" y="532"/>
                      <a:pt x="96" y="532"/>
                    </a:cubicBezTo>
                    <a:cubicBezTo>
                      <a:pt x="96" y="544"/>
                      <a:pt x="106" y="554"/>
                      <a:pt x="118" y="554"/>
                    </a:cubicBezTo>
                    <a:cubicBezTo>
                      <a:pt x="130" y="554"/>
                      <a:pt x="140" y="544"/>
                      <a:pt x="140" y="532"/>
                    </a:cubicBezTo>
                    <a:cubicBezTo>
                      <a:pt x="140" y="341"/>
                      <a:pt x="140" y="341"/>
                      <a:pt x="140" y="341"/>
                    </a:cubicBezTo>
                    <a:cubicBezTo>
                      <a:pt x="140" y="328"/>
                      <a:pt x="130" y="319"/>
                      <a:pt x="118" y="319"/>
                    </a:cubicBezTo>
                    <a:close/>
                    <a:moveTo>
                      <a:pt x="1071" y="554"/>
                    </a:moveTo>
                    <a:cubicBezTo>
                      <a:pt x="1006" y="554"/>
                      <a:pt x="953" y="501"/>
                      <a:pt x="953" y="436"/>
                    </a:cubicBezTo>
                    <a:cubicBezTo>
                      <a:pt x="953" y="371"/>
                      <a:pt x="1006" y="319"/>
                      <a:pt x="1071" y="319"/>
                    </a:cubicBezTo>
                    <a:cubicBezTo>
                      <a:pt x="1136" y="319"/>
                      <a:pt x="1188" y="371"/>
                      <a:pt x="1188" y="436"/>
                    </a:cubicBezTo>
                    <a:cubicBezTo>
                      <a:pt x="1188" y="501"/>
                      <a:pt x="1136" y="554"/>
                      <a:pt x="1071" y="554"/>
                    </a:cubicBezTo>
                    <a:close/>
                    <a:moveTo>
                      <a:pt x="1071" y="363"/>
                    </a:moveTo>
                    <a:cubicBezTo>
                      <a:pt x="1030" y="363"/>
                      <a:pt x="997" y="396"/>
                      <a:pt x="997" y="436"/>
                    </a:cubicBezTo>
                    <a:cubicBezTo>
                      <a:pt x="997" y="477"/>
                      <a:pt x="1030" y="510"/>
                      <a:pt x="1071" y="510"/>
                    </a:cubicBezTo>
                    <a:cubicBezTo>
                      <a:pt x="1111" y="510"/>
                      <a:pt x="1144" y="477"/>
                      <a:pt x="1144" y="436"/>
                    </a:cubicBezTo>
                    <a:cubicBezTo>
                      <a:pt x="1144" y="396"/>
                      <a:pt x="1111" y="363"/>
                      <a:pt x="1071" y="363"/>
                    </a:cubicBezTo>
                    <a:close/>
                    <a:moveTo>
                      <a:pt x="1388" y="319"/>
                    </a:moveTo>
                    <a:cubicBezTo>
                      <a:pt x="1376" y="319"/>
                      <a:pt x="1366" y="328"/>
                      <a:pt x="1366" y="341"/>
                    </a:cubicBezTo>
                    <a:cubicBezTo>
                      <a:pt x="1366" y="532"/>
                      <a:pt x="1366" y="532"/>
                      <a:pt x="1366" y="532"/>
                    </a:cubicBezTo>
                    <a:cubicBezTo>
                      <a:pt x="1366" y="544"/>
                      <a:pt x="1376" y="554"/>
                      <a:pt x="1388" y="554"/>
                    </a:cubicBezTo>
                    <a:cubicBezTo>
                      <a:pt x="1400" y="554"/>
                      <a:pt x="1410" y="544"/>
                      <a:pt x="1410" y="532"/>
                    </a:cubicBezTo>
                    <a:cubicBezTo>
                      <a:pt x="1410" y="341"/>
                      <a:pt x="1410" y="341"/>
                      <a:pt x="1410" y="341"/>
                    </a:cubicBezTo>
                    <a:cubicBezTo>
                      <a:pt x="1410" y="328"/>
                      <a:pt x="1400" y="319"/>
                      <a:pt x="1388" y="319"/>
                    </a:cubicBezTo>
                    <a:close/>
                    <a:moveTo>
                      <a:pt x="1706" y="554"/>
                    </a:moveTo>
                    <a:cubicBezTo>
                      <a:pt x="1641" y="554"/>
                      <a:pt x="1588" y="501"/>
                      <a:pt x="1588" y="436"/>
                    </a:cubicBezTo>
                    <a:cubicBezTo>
                      <a:pt x="1588" y="371"/>
                      <a:pt x="1641" y="319"/>
                      <a:pt x="1706" y="319"/>
                    </a:cubicBezTo>
                    <a:cubicBezTo>
                      <a:pt x="1771" y="319"/>
                      <a:pt x="1824" y="371"/>
                      <a:pt x="1824" y="436"/>
                    </a:cubicBezTo>
                    <a:cubicBezTo>
                      <a:pt x="1824" y="501"/>
                      <a:pt x="1771" y="554"/>
                      <a:pt x="1706" y="554"/>
                    </a:cubicBezTo>
                    <a:close/>
                    <a:moveTo>
                      <a:pt x="1706" y="363"/>
                    </a:moveTo>
                    <a:cubicBezTo>
                      <a:pt x="1665" y="363"/>
                      <a:pt x="1632" y="396"/>
                      <a:pt x="1632" y="436"/>
                    </a:cubicBezTo>
                    <a:cubicBezTo>
                      <a:pt x="1632" y="477"/>
                      <a:pt x="1665" y="510"/>
                      <a:pt x="1706" y="510"/>
                    </a:cubicBezTo>
                    <a:cubicBezTo>
                      <a:pt x="1747" y="510"/>
                      <a:pt x="1780" y="477"/>
                      <a:pt x="1780" y="436"/>
                    </a:cubicBezTo>
                    <a:cubicBezTo>
                      <a:pt x="1780" y="396"/>
                      <a:pt x="1747" y="363"/>
                      <a:pt x="1706" y="363"/>
                    </a:cubicBezTo>
                    <a:close/>
                    <a:moveTo>
                      <a:pt x="118" y="872"/>
                    </a:moveTo>
                    <a:cubicBezTo>
                      <a:pt x="53" y="872"/>
                      <a:pt x="0" y="820"/>
                      <a:pt x="0" y="755"/>
                    </a:cubicBezTo>
                    <a:cubicBezTo>
                      <a:pt x="0" y="690"/>
                      <a:pt x="53" y="637"/>
                      <a:pt x="118" y="637"/>
                    </a:cubicBezTo>
                    <a:cubicBezTo>
                      <a:pt x="183" y="637"/>
                      <a:pt x="236" y="690"/>
                      <a:pt x="236" y="755"/>
                    </a:cubicBezTo>
                    <a:cubicBezTo>
                      <a:pt x="236" y="820"/>
                      <a:pt x="183" y="872"/>
                      <a:pt x="118" y="872"/>
                    </a:cubicBezTo>
                    <a:close/>
                    <a:moveTo>
                      <a:pt x="118" y="681"/>
                    </a:moveTo>
                    <a:cubicBezTo>
                      <a:pt x="77" y="681"/>
                      <a:pt x="44" y="714"/>
                      <a:pt x="44" y="755"/>
                    </a:cubicBezTo>
                    <a:cubicBezTo>
                      <a:pt x="44" y="795"/>
                      <a:pt x="77" y="828"/>
                      <a:pt x="118" y="828"/>
                    </a:cubicBezTo>
                    <a:cubicBezTo>
                      <a:pt x="159" y="828"/>
                      <a:pt x="192" y="795"/>
                      <a:pt x="192" y="755"/>
                    </a:cubicBezTo>
                    <a:cubicBezTo>
                      <a:pt x="192" y="714"/>
                      <a:pt x="159" y="681"/>
                      <a:pt x="118" y="681"/>
                    </a:cubicBezTo>
                    <a:close/>
                    <a:moveTo>
                      <a:pt x="1071" y="872"/>
                    </a:moveTo>
                    <a:cubicBezTo>
                      <a:pt x="1006" y="872"/>
                      <a:pt x="953" y="820"/>
                      <a:pt x="953" y="755"/>
                    </a:cubicBezTo>
                    <a:cubicBezTo>
                      <a:pt x="953" y="690"/>
                      <a:pt x="1006" y="637"/>
                      <a:pt x="1071" y="637"/>
                    </a:cubicBezTo>
                    <a:cubicBezTo>
                      <a:pt x="1136" y="637"/>
                      <a:pt x="1188" y="690"/>
                      <a:pt x="1188" y="755"/>
                    </a:cubicBezTo>
                    <a:cubicBezTo>
                      <a:pt x="1188" y="820"/>
                      <a:pt x="1136" y="872"/>
                      <a:pt x="1071" y="872"/>
                    </a:cubicBezTo>
                    <a:close/>
                    <a:moveTo>
                      <a:pt x="1071" y="681"/>
                    </a:moveTo>
                    <a:cubicBezTo>
                      <a:pt x="1030" y="681"/>
                      <a:pt x="997" y="714"/>
                      <a:pt x="997" y="755"/>
                    </a:cubicBezTo>
                    <a:cubicBezTo>
                      <a:pt x="997" y="795"/>
                      <a:pt x="1030" y="828"/>
                      <a:pt x="1071" y="828"/>
                    </a:cubicBezTo>
                    <a:cubicBezTo>
                      <a:pt x="1111" y="828"/>
                      <a:pt x="1144" y="795"/>
                      <a:pt x="1144" y="755"/>
                    </a:cubicBezTo>
                    <a:cubicBezTo>
                      <a:pt x="1144" y="714"/>
                      <a:pt x="1111" y="681"/>
                      <a:pt x="1071" y="681"/>
                    </a:cubicBezTo>
                    <a:close/>
                    <a:moveTo>
                      <a:pt x="1388" y="872"/>
                    </a:moveTo>
                    <a:cubicBezTo>
                      <a:pt x="1323" y="872"/>
                      <a:pt x="1271" y="820"/>
                      <a:pt x="1271" y="755"/>
                    </a:cubicBezTo>
                    <a:cubicBezTo>
                      <a:pt x="1271" y="690"/>
                      <a:pt x="1323" y="637"/>
                      <a:pt x="1388" y="637"/>
                    </a:cubicBezTo>
                    <a:cubicBezTo>
                      <a:pt x="1453" y="637"/>
                      <a:pt x="1506" y="690"/>
                      <a:pt x="1506" y="755"/>
                    </a:cubicBezTo>
                    <a:cubicBezTo>
                      <a:pt x="1506" y="820"/>
                      <a:pt x="1453" y="872"/>
                      <a:pt x="1388" y="872"/>
                    </a:cubicBezTo>
                    <a:close/>
                    <a:moveTo>
                      <a:pt x="1388" y="681"/>
                    </a:moveTo>
                    <a:cubicBezTo>
                      <a:pt x="1348" y="681"/>
                      <a:pt x="1315" y="714"/>
                      <a:pt x="1315" y="755"/>
                    </a:cubicBezTo>
                    <a:cubicBezTo>
                      <a:pt x="1315" y="795"/>
                      <a:pt x="1348" y="828"/>
                      <a:pt x="1388" y="828"/>
                    </a:cubicBezTo>
                    <a:cubicBezTo>
                      <a:pt x="1429" y="828"/>
                      <a:pt x="1462" y="795"/>
                      <a:pt x="1462" y="755"/>
                    </a:cubicBezTo>
                    <a:cubicBezTo>
                      <a:pt x="1462" y="714"/>
                      <a:pt x="1429" y="681"/>
                      <a:pt x="1388" y="681"/>
                    </a:cubicBezTo>
                    <a:close/>
                    <a:moveTo>
                      <a:pt x="1706" y="637"/>
                    </a:moveTo>
                    <a:cubicBezTo>
                      <a:pt x="1694" y="637"/>
                      <a:pt x="1684" y="647"/>
                      <a:pt x="1684" y="659"/>
                    </a:cubicBezTo>
                    <a:cubicBezTo>
                      <a:pt x="1684" y="850"/>
                      <a:pt x="1684" y="850"/>
                      <a:pt x="1684" y="850"/>
                    </a:cubicBezTo>
                    <a:cubicBezTo>
                      <a:pt x="1684" y="863"/>
                      <a:pt x="1694" y="872"/>
                      <a:pt x="1706" y="872"/>
                    </a:cubicBezTo>
                    <a:cubicBezTo>
                      <a:pt x="1718" y="872"/>
                      <a:pt x="1728" y="863"/>
                      <a:pt x="1728" y="850"/>
                    </a:cubicBezTo>
                    <a:cubicBezTo>
                      <a:pt x="1728" y="659"/>
                      <a:pt x="1728" y="659"/>
                      <a:pt x="1728" y="659"/>
                    </a:cubicBezTo>
                    <a:cubicBezTo>
                      <a:pt x="1728" y="647"/>
                      <a:pt x="1718" y="637"/>
                      <a:pt x="1706" y="637"/>
                    </a:cubicBezTo>
                    <a:close/>
                    <a:moveTo>
                      <a:pt x="118" y="956"/>
                    </a:moveTo>
                    <a:cubicBezTo>
                      <a:pt x="106" y="956"/>
                      <a:pt x="96" y="965"/>
                      <a:pt x="96" y="978"/>
                    </a:cubicBezTo>
                    <a:cubicBezTo>
                      <a:pt x="96" y="1169"/>
                      <a:pt x="96" y="1169"/>
                      <a:pt x="96" y="1169"/>
                    </a:cubicBezTo>
                    <a:cubicBezTo>
                      <a:pt x="96" y="1181"/>
                      <a:pt x="106" y="1191"/>
                      <a:pt x="118" y="1191"/>
                    </a:cubicBezTo>
                    <a:cubicBezTo>
                      <a:pt x="130" y="1191"/>
                      <a:pt x="140" y="1181"/>
                      <a:pt x="140" y="1169"/>
                    </a:cubicBezTo>
                    <a:cubicBezTo>
                      <a:pt x="140" y="978"/>
                      <a:pt x="140" y="978"/>
                      <a:pt x="140" y="978"/>
                    </a:cubicBezTo>
                    <a:cubicBezTo>
                      <a:pt x="140" y="965"/>
                      <a:pt x="130" y="956"/>
                      <a:pt x="118" y="956"/>
                    </a:cubicBezTo>
                    <a:close/>
                    <a:moveTo>
                      <a:pt x="436" y="1191"/>
                    </a:moveTo>
                    <a:cubicBezTo>
                      <a:pt x="371" y="1191"/>
                      <a:pt x="318" y="1138"/>
                      <a:pt x="318" y="1073"/>
                    </a:cubicBezTo>
                    <a:cubicBezTo>
                      <a:pt x="318" y="1008"/>
                      <a:pt x="371" y="956"/>
                      <a:pt x="436" y="956"/>
                    </a:cubicBezTo>
                    <a:cubicBezTo>
                      <a:pt x="501" y="956"/>
                      <a:pt x="553" y="1008"/>
                      <a:pt x="553" y="1073"/>
                    </a:cubicBezTo>
                    <a:cubicBezTo>
                      <a:pt x="553" y="1138"/>
                      <a:pt x="501" y="1191"/>
                      <a:pt x="436" y="1191"/>
                    </a:cubicBezTo>
                    <a:close/>
                    <a:moveTo>
                      <a:pt x="436" y="1000"/>
                    </a:moveTo>
                    <a:cubicBezTo>
                      <a:pt x="395" y="1000"/>
                      <a:pt x="362" y="1033"/>
                      <a:pt x="362" y="1073"/>
                    </a:cubicBezTo>
                    <a:cubicBezTo>
                      <a:pt x="362" y="1114"/>
                      <a:pt x="395" y="1147"/>
                      <a:pt x="436" y="1147"/>
                    </a:cubicBezTo>
                    <a:cubicBezTo>
                      <a:pt x="476" y="1147"/>
                      <a:pt x="509" y="1114"/>
                      <a:pt x="509" y="1073"/>
                    </a:cubicBezTo>
                    <a:cubicBezTo>
                      <a:pt x="509" y="1033"/>
                      <a:pt x="476" y="1000"/>
                      <a:pt x="436" y="1000"/>
                    </a:cubicBezTo>
                    <a:close/>
                    <a:moveTo>
                      <a:pt x="753" y="956"/>
                    </a:moveTo>
                    <a:cubicBezTo>
                      <a:pt x="741" y="956"/>
                      <a:pt x="731" y="965"/>
                      <a:pt x="731" y="978"/>
                    </a:cubicBezTo>
                    <a:cubicBezTo>
                      <a:pt x="731" y="1169"/>
                      <a:pt x="731" y="1169"/>
                      <a:pt x="731" y="1169"/>
                    </a:cubicBezTo>
                    <a:cubicBezTo>
                      <a:pt x="731" y="1181"/>
                      <a:pt x="741" y="1191"/>
                      <a:pt x="753" y="1191"/>
                    </a:cubicBezTo>
                    <a:cubicBezTo>
                      <a:pt x="765" y="1191"/>
                      <a:pt x="775" y="1181"/>
                      <a:pt x="775" y="1169"/>
                    </a:cubicBezTo>
                    <a:cubicBezTo>
                      <a:pt x="775" y="978"/>
                      <a:pt x="775" y="978"/>
                      <a:pt x="775" y="978"/>
                    </a:cubicBezTo>
                    <a:cubicBezTo>
                      <a:pt x="775" y="965"/>
                      <a:pt x="765" y="956"/>
                      <a:pt x="753" y="956"/>
                    </a:cubicBezTo>
                    <a:close/>
                    <a:moveTo>
                      <a:pt x="1071" y="956"/>
                    </a:moveTo>
                    <a:cubicBezTo>
                      <a:pt x="1059" y="956"/>
                      <a:pt x="1049" y="965"/>
                      <a:pt x="1049" y="978"/>
                    </a:cubicBezTo>
                    <a:cubicBezTo>
                      <a:pt x="1049" y="1169"/>
                      <a:pt x="1049" y="1169"/>
                      <a:pt x="1049" y="1169"/>
                    </a:cubicBezTo>
                    <a:cubicBezTo>
                      <a:pt x="1049" y="1181"/>
                      <a:pt x="1059" y="1191"/>
                      <a:pt x="1071" y="1191"/>
                    </a:cubicBezTo>
                    <a:cubicBezTo>
                      <a:pt x="1083" y="1191"/>
                      <a:pt x="1093" y="1181"/>
                      <a:pt x="1093" y="1169"/>
                    </a:cubicBezTo>
                    <a:cubicBezTo>
                      <a:pt x="1093" y="978"/>
                      <a:pt x="1093" y="978"/>
                      <a:pt x="1093" y="978"/>
                    </a:cubicBezTo>
                    <a:cubicBezTo>
                      <a:pt x="1093" y="965"/>
                      <a:pt x="1083" y="956"/>
                      <a:pt x="1071" y="956"/>
                    </a:cubicBezTo>
                    <a:close/>
                    <a:moveTo>
                      <a:pt x="1388" y="1191"/>
                    </a:moveTo>
                    <a:cubicBezTo>
                      <a:pt x="1323" y="1191"/>
                      <a:pt x="1271" y="1138"/>
                      <a:pt x="1271" y="1073"/>
                    </a:cubicBezTo>
                    <a:cubicBezTo>
                      <a:pt x="1271" y="1008"/>
                      <a:pt x="1323" y="956"/>
                      <a:pt x="1388" y="956"/>
                    </a:cubicBezTo>
                    <a:cubicBezTo>
                      <a:pt x="1453" y="956"/>
                      <a:pt x="1506" y="1008"/>
                      <a:pt x="1506" y="1073"/>
                    </a:cubicBezTo>
                    <a:cubicBezTo>
                      <a:pt x="1506" y="1138"/>
                      <a:pt x="1453" y="1191"/>
                      <a:pt x="1388" y="1191"/>
                    </a:cubicBezTo>
                    <a:close/>
                    <a:moveTo>
                      <a:pt x="1388" y="1000"/>
                    </a:moveTo>
                    <a:cubicBezTo>
                      <a:pt x="1348" y="1000"/>
                      <a:pt x="1315" y="1033"/>
                      <a:pt x="1315" y="1073"/>
                    </a:cubicBezTo>
                    <a:cubicBezTo>
                      <a:pt x="1315" y="1114"/>
                      <a:pt x="1348" y="1147"/>
                      <a:pt x="1388" y="1147"/>
                    </a:cubicBezTo>
                    <a:cubicBezTo>
                      <a:pt x="1429" y="1147"/>
                      <a:pt x="1462" y="1114"/>
                      <a:pt x="1462" y="1073"/>
                    </a:cubicBezTo>
                    <a:cubicBezTo>
                      <a:pt x="1462" y="1033"/>
                      <a:pt x="1429" y="1000"/>
                      <a:pt x="1388" y="1000"/>
                    </a:cubicBezTo>
                    <a:close/>
                    <a:moveTo>
                      <a:pt x="1706" y="956"/>
                    </a:moveTo>
                    <a:cubicBezTo>
                      <a:pt x="1694" y="956"/>
                      <a:pt x="1684" y="965"/>
                      <a:pt x="1684" y="978"/>
                    </a:cubicBezTo>
                    <a:cubicBezTo>
                      <a:pt x="1684" y="1169"/>
                      <a:pt x="1684" y="1169"/>
                      <a:pt x="1684" y="1169"/>
                    </a:cubicBezTo>
                    <a:cubicBezTo>
                      <a:pt x="1684" y="1181"/>
                      <a:pt x="1694" y="1191"/>
                      <a:pt x="1706" y="1191"/>
                    </a:cubicBezTo>
                    <a:cubicBezTo>
                      <a:pt x="1718" y="1191"/>
                      <a:pt x="1728" y="1181"/>
                      <a:pt x="1728" y="1169"/>
                    </a:cubicBezTo>
                    <a:cubicBezTo>
                      <a:pt x="1728" y="978"/>
                      <a:pt x="1728" y="978"/>
                      <a:pt x="1728" y="978"/>
                    </a:cubicBezTo>
                    <a:cubicBezTo>
                      <a:pt x="1728" y="965"/>
                      <a:pt x="1718" y="956"/>
                      <a:pt x="1706" y="956"/>
                    </a:cubicBezTo>
                    <a:close/>
                    <a:moveTo>
                      <a:pt x="118" y="1509"/>
                    </a:moveTo>
                    <a:cubicBezTo>
                      <a:pt x="53" y="1509"/>
                      <a:pt x="0" y="1457"/>
                      <a:pt x="0" y="1392"/>
                    </a:cubicBezTo>
                    <a:cubicBezTo>
                      <a:pt x="0" y="1327"/>
                      <a:pt x="53" y="1274"/>
                      <a:pt x="118" y="1274"/>
                    </a:cubicBezTo>
                    <a:cubicBezTo>
                      <a:pt x="183" y="1274"/>
                      <a:pt x="236" y="1327"/>
                      <a:pt x="236" y="1392"/>
                    </a:cubicBezTo>
                    <a:cubicBezTo>
                      <a:pt x="236" y="1457"/>
                      <a:pt x="183" y="1509"/>
                      <a:pt x="118" y="1509"/>
                    </a:cubicBezTo>
                    <a:close/>
                    <a:moveTo>
                      <a:pt x="118" y="1318"/>
                    </a:moveTo>
                    <a:cubicBezTo>
                      <a:pt x="77" y="1318"/>
                      <a:pt x="44" y="1351"/>
                      <a:pt x="44" y="1392"/>
                    </a:cubicBezTo>
                    <a:cubicBezTo>
                      <a:pt x="44" y="1432"/>
                      <a:pt x="77" y="1465"/>
                      <a:pt x="118" y="1465"/>
                    </a:cubicBezTo>
                    <a:cubicBezTo>
                      <a:pt x="159" y="1465"/>
                      <a:pt x="192" y="1432"/>
                      <a:pt x="192" y="1392"/>
                    </a:cubicBezTo>
                    <a:cubicBezTo>
                      <a:pt x="192" y="1351"/>
                      <a:pt x="159" y="1318"/>
                      <a:pt x="118" y="1318"/>
                    </a:cubicBezTo>
                    <a:close/>
                    <a:moveTo>
                      <a:pt x="436" y="1274"/>
                    </a:moveTo>
                    <a:cubicBezTo>
                      <a:pt x="424" y="1274"/>
                      <a:pt x="414" y="1284"/>
                      <a:pt x="414" y="1296"/>
                    </a:cubicBezTo>
                    <a:cubicBezTo>
                      <a:pt x="414" y="1487"/>
                      <a:pt x="414" y="1487"/>
                      <a:pt x="414" y="1487"/>
                    </a:cubicBezTo>
                    <a:cubicBezTo>
                      <a:pt x="414" y="1500"/>
                      <a:pt x="424" y="1509"/>
                      <a:pt x="436" y="1509"/>
                    </a:cubicBezTo>
                    <a:cubicBezTo>
                      <a:pt x="448" y="1509"/>
                      <a:pt x="458" y="1500"/>
                      <a:pt x="458" y="1487"/>
                    </a:cubicBezTo>
                    <a:cubicBezTo>
                      <a:pt x="458" y="1296"/>
                      <a:pt x="458" y="1296"/>
                      <a:pt x="458" y="1296"/>
                    </a:cubicBezTo>
                    <a:cubicBezTo>
                      <a:pt x="458" y="1284"/>
                      <a:pt x="448" y="1274"/>
                      <a:pt x="436" y="1274"/>
                    </a:cubicBezTo>
                    <a:close/>
                    <a:moveTo>
                      <a:pt x="753" y="1509"/>
                    </a:moveTo>
                    <a:cubicBezTo>
                      <a:pt x="688" y="1509"/>
                      <a:pt x="636" y="1457"/>
                      <a:pt x="636" y="1392"/>
                    </a:cubicBezTo>
                    <a:cubicBezTo>
                      <a:pt x="636" y="1327"/>
                      <a:pt x="688" y="1274"/>
                      <a:pt x="753" y="1274"/>
                    </a:cubicBezTo>
                    <a:cubicBezTo>
                      <a:pt x="818" y="1274"/>
                      <a:pt x="871" y="1327"/>
                      <a:pt x="871" y="1392"/>
                    </a:cubicBezTo>
                    <a:cubicBezTo>
                      <a:pt x="871" y="1457"/>
                      <a:pt x="818" y="1509"/>
                      <a:pt x="753" y="1509"/>
                    </a:cubicBezTo>
                    <a:close/>
                    <a:moveTo>
                      <a:pt x="753" y="1318"/>
                    </a:moveTo>
                    <a:cubicBezTo>
                      <a:pt x="713" y="1318"/>
                      <a:pt x="680" y="1351"/>
                      <a:pt x="680" y="1392"/>
                    </a:cubicBezTo>
                    <a:cubicBezTo>
                      <a:pt x="680" y="1432"/>
                      <a:pt x="713" y="1465"/>
                      <a:pt x="753" y="1465"/>
                    </a:cubicBezTo>
                    <a:cubicBezTo>
                      <a:pt x="794" y="1465"/>
                      <a:pt x="827" y="1432"/>
                      <a:pt x="827" y="1392"/>
                    </a:cubicBezTo>
                    <a:cubicBezTo>
                      <a:pt x="827" y="1351"/>
                      <a:pt x="794" y="1318"/>
                      <a:pt x="753" y="1318"/>
                    </a:cubicBezTo>
                    <a:close/>
                    <a:moveTo>
                      <a:pt x="1706" y="1509"/>
                    </a:moveTo>
                    <a:cubicBezTo>
                      <a:pt x="1641" y="1509"/>
                      <a:pt x="1588" y="1457"/>
                      <a:pt x="1588" y="1392"/>
                    </a:cubicBezTo>
                    <a:cubicBezTo>
                      <a:pt x="1588" y="1327"/>
                      <a:pt x="1641" y="1274"/>
                      <a:pt x="1706" y="1274"/>
                    </a:cubicBezTo>
                    <a:cubicBezTo>
                      <a:pt x="1771" y="1274"/>
                      <a:pt x="1824" y="1327"/>
                      <a:pt x="1824" y="1392"/>
                    </a:cubicBezTo>
                    <a:cubicBezTo>
                      <a:pt x="1824" y="1457"/>
                      <a:pt x="1771" y="1509"/>
                      <a:pt x="1706" y="1509"/>
                    </a:cubicBezTo>
                    <a:close/>
                    <a:moveTo>
                      <a:pt x="1706" y="1318"/>
                    </a:moveTo>
                    <a:cubicBezTo>
                      <a:pt x="1665" y="1318"/>
                      <a:pt x="1632" y="1351"/>
                      <a:pt x="1632" y="1392"/>
                    </a:cubicBezTo>
                    <a:cubicBezTo>
                      <a:pt x="1632" y="1432"/>
                      <a:pt x="1665" y="1465"/>
                      <a:pt x="1706" y="1465"/>
                    </a:cubicBezTo>
                    <a:cubicBezTo>
                      <a:pt x="1747" y="1465"/>
                      <a:pt x="1780" y="1432"/>
                      <a:pt x="1780" y="1392"/>
                    </a:cubicBezTo>
                    <a:cubicBezTo>
                      <a:pt x="1780" y="1351"/>
                      <a:pt x="1747" y="1318"/>
                      <a:pt x="1706" y="1318"/>
                    </a:cubicBezTo>
                    <a:close/>
                    <a:moveTo>
                      <a:pt x="118" y="1828"/>
                    </a:moveTo>
                    <a:cubicBezTo>
                      <a:pt x="53" y="1828"/>
                      <a:pt x="0" y="1775"/>
                      <a:pt x="0" y="1710"/>
                    </a:cubicBezTo>
                    <a:cubicBezTo>
                      <a:pt x="0" y="1645"/>
                      <a:pt x="53" y="1593"/>
                      <a:pt x="118" y="1593"/>
                    </a:cubicBezTo>
                    <a:cubicBezTo>
                      <a:pt x="183" y="1593"/>
                      <a:pt x="236" y="1645"/>
                      <a:pt x="236" y="1710"/>
                    </a:cubicBezTo>
                    <a:cubicBezTo>
                      <a:pt x="236" y="1775"/>
                      <a:pt x="183" y="1828"/>
                      <a:pt x="118" y="1828"/>
                    </a:cubicBezTo>
                    <a:close/>
                    <a:moveTo>
                      <a:pt x="118" y="1637"/>
                    </a:moveTo>
                    <a:cubicBezTo>
                      <a:pt x="77" y="1637"/>
                      <a:pt x="44" y="1670"/>
                      <a:pt x="44" y="1710"/>
                    </a:cubicBezTo>
                    <a:cubicBezTo>
                      <a:pt x="44" y="1751"/>
                      <a:pt x="77" y="1784"/>
                      <a:pt x="118" y="1784"/>
                    </a:cubicBezTo>
                    <a:cubicBezTo>
                      <a:pt x="159" y="1784"/>
                      <a:pt x="192" y="1751"/>
                      <a:pt x="192" y="1710"/>
                    </a:cubicBezTo>
                    <a:cubicBezTo>
                      <a:pt x="192" y="1670"/>
                      <a:pt x="159" y="1637"/>
                      <a:pt x="118" y="1637"/>
                    </a:cubicBezTo>
                    <a:close/>
                    <a:moveTo>
                      <a:pt x="436" y="1593"/>
                    </a:moveTo>
                    <a:cubicBezTo>
                      <a:pt x="424" y="1593"/>
                      <a:pt x="414" y="1603"/>
                      <a:pt x="414" y="1615"/>
                    </a:cubicBezTo>
                    <a:cubicBezTo>
                      <a:pt x="414" y="1806"/>
                      <a:pt x="414" y="1806"/>
                      <a:pt x="414" y="1806"/>
                    </a:cubicBezTo>
                    <a:cubicBezTo>
                      <a:pt x="414" y="1818"/>
                      <a:pt x="424" y="1828"/>
                      <a:pt x="436" y="1828"/>
                    </a:cubicBezTo>
                    <a:cubicBezTo>
                      <a:pt x="448" y="1828"/>
                      <a:pt x="458" y="1818"/>
                      <a:pt x="458" y="1806"/>
                    </a:cubicBezTo>
                    <a:cubicBezTo>
                      <a:pt x="458" y="1615"/>
                      <a:pt x="458" y="1615"/>
                      <a:pt x="458" y="1615"/>
                    </a:cubicBezTo>
                    <a:cubicBezTo>
                      <a:pt x="458" y="1603"/>
                      <a:pt x="448" y="1593"/>
                      <a:pt x="436" y="1593"/>
                    </a:cubicBezTo>
                    <a:close/>
                    <a:moveTo>
                      <a:pt x="753" y="1828"/>
                    </a:moveTo>
                    <a:cubicBezTo>
                      <a:pt x="688" y="1828"/>
                      <a:pt x="636" y="1775"/>
                      <a:pt x="636" y="1710"/>
                    </a:cubicBezTo>
                    <a:cubicBezTo>
                      <a:pt x="636" y="1645"/>
                      <a:pt x="688" y="1593"/>
                      <a:pt x="753" y="1593"/>
                    </a:cubicBezTo>
                    <a:cubicBezTo>
                      <a:pt x="818" y="1593"/>
                      <a:pt x="871" y="1645"/>
                      <a:pt x="871" y="1710"/>
                    </a:cubicBezTo>
                    <a:cubicBezTo>
                      <a:pt x="871" y="1775"/>
                      <a:pt x="818" y="1828"/>
                      <a:pt x="753" y="1828"/>
                    </a:cubicBezTo>
                    <a:close/>
                    <a:moveTo>
                      <a:pt x="753" y="1637"/>
                    </a:moveTo>
                    <a:cubicBezTo>
                      <a:pt x="713" y="1637"/>
                      <a:pt x="680" y="1670"/>
                      <a:pt x="680" y="1710"/>
                    </a:cubicBezTo>
                    <a:cubicBezTo>
                      <a:pt x="680" y="1751"/>
                      <a:pt x="713" y="1784"/>
                      <a:pt x="753" y="1784"/>
                    </a:cubicBezTo>
                    <a:cubicBezTo>
                      <a:pt x="794" y="1784"/>
                      <a:pt x="827" y="1751"/>
                      <a:pt x="827" y="1710"/>
                    </a:cubicBezTo>
                    <a:cubicBezTo>
                      <a:pt x="827" y="1670"/>
                      <a:pt x="794" y="1637"/>
                      <a:pt x="753" y="1637"/>
                    </a:cubicBezTo>
                    <a:close/>
                    <a:moveTo>
                      <a:pt x="1706" y="1828"/>
                    </a:moveTo>
                    <a:cubicBezTo>
                      <a:pt x="1641" y="1828"/>
                      <a:pt x="1588" y="1775"/>
                      <a:pt x="1588" y="1710"/>
                    </a:cubicBezTo>
                    <a:cubicBezTo>
                      <a:pt x="1588" y="1645"/>
                      <a:pt x="1641" y="1593"/>
                      <a:pt x="1706" y="1593"/>
                    </a:cubicBezTo>
                    <a:cubicBezTo>
                      <a:pt x="1771" y="1593"/>
                      <a:pt x="1824" y="1645"/>
                      <a:pt x="1824" y="1710"/>
                    </a:cubicBezTo>
                    <a:cubicBezTo>
                      <a:pt x="1824" y="1775"/>
                      <a:pt x="1771" y="1828"/>
                      <a:pt x="1706" y="1828"/>
                    </a:cubicBezTo>
                    <a:close/>
                    <a:moveTo>
                      <a:pt x="1706" y="1637"/>
                    </a:moveTo>
                    <a:cubicBezTo>
                      <a:pt x="1665" y="1637"/>
                      <a:pt x="1632" y="1670"/>
                      <a:pt x="1632" y="1710"/>
                    </a:cubicBezTo>
                    <a:cubicBezTo>
                      <a:pt x="1632" y="1751"/>
                      <a:pt x="1665" y="1784"/>
                      <a:pt x="1706" y="1784"/>
                    </a:cubicBezTo>
                    <a:cubicBezTo>
                      <a:pt x="1747" y="1784"/>
                      <a:pt x="1780" y="1751"/>
                      <a:pt x="1780" y="1710"/>
                    </a:cubicBezTo>
                    <a:cubicBezTo>
                      <a:pt x="1780" y="1670"/>
                      <a:pt x="1747" y="1637"/>
                      <a:pt x="1706" y="163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endParaRPr>
              </a:p>
            </p:txBody>
          </p:sp>
          <p:sp>
            <p:nvSpPr>
              <p:cNvPr id="63" name="Freeform 36">
                <a:extLst>
                  <a:ext uri="{FF2B5EF4-FFF2-40B4-BE49-F238E27FC236}">
                    <a16:creationId xmlns:a16="http://schemas.microsoft.com/office/drawing/2014/main" id="{93314E76-665B-44FA-8832-DC5B04F0717E}"/>
                  </a:ext>
                </a:extLst>
              </p:cNvPr>
              <p:cNvSpPr>
                <a:spLocks noEditPoints="1"/>
              </p:cNvSpPr>
              <p:nvPr/>
            </p:nvSpPr>
            <p:spPr bwMode="auto">
              <a:xfrm>
                <a:off x="5666231" y="2983230"/>
                <a:ext cx="854583" cy="1092327"/>
              </a:xfrm>
              <a:custGeom>
                <a:avLst/>
                <a:gdLst>
                  <a:gd name="T0" fmla="*/ 511 w 1197"/>
                  <a:gd name="T1" fmla="*/ 220 h 1529"/>
                  <a:gd name="T2" fmla="*/ 473 w 1197"/>
                  <a:gd name="T3" fmla="*/ 132 h 1529"/>
                  <a:gd name="T4" fmla="*/ 388 w 1197"/>
                  <a:gd name="T5" fmla="*/ 18 h 1529"/>
                  <a:gd name="T6" fmla="*/ 259 w 1197"/>
                  <a:gd name="T7" fmla="*/ 31 h 1529"/>
                  <a:gd name="T8" fmla="*/ 168 w 1197"/>
                  <a:gd name="T9" fmla="*/ 17 h 1529"/>
                  <a:gd name="T10" fmla="*/ 117 w 1197"/>
                  <a:gd name="T11" fmla="*/ 94 h 1529"/>
                  <a:gd name="T12" fmla="*/ 19 w 1197"/>
                  <a:gd name="T13" fmla="*/ 179 h 1529"/>
                  <a:gd name="T14" fmla="*/ 42 w 1197"/>
                  <a:gd name="T15" fmla="*/ 320 h 1529"/>
                  <a:gd name="T16" fmla="*/ 80 w 1197"/>
                  <a:gd name="T17" fmla="*/ 409 h 1529"/>
                  <a:gd name="T18" fmla="*/ 160 w 1197"/>
                  <a:gd name="T19" fmla="*/ 524 h 1529"/>
                  <a:gd name="T20" fmla="*/ 298 w 1197"/>
                  <a:gd name="T21" fmla="*/ 513 h 1529"/>
                  <a:gd name="T22" fmla="*/ 386 w 1197"/>
                  <a:gd name="T23" fmla="*/ 528 h 1529"/>
                  <a:gd name="T24" fmla="*/ 436 w 1197"/>
                  <a:gd name="T25" fmla="*/ 453 h 1529"/>
                  <a:gd name="T26" fmla="*/ 538 w 1197"/>
                  <a:gd name="T27" fmla="*/ 359 h 1529"/>
                  <a:gd name="T28" fmla="*/ 325 w 1197"/>
                  <a:gd name="T29" fmla="*/ 384 h 1529"/>
                  <a:gd name="T30" fmla="*/ 229 w 1197"/>
                  <a:gd name="T31" fmla="*/ 161 h 1529"/>
                  <a:gd name="T32" fmla="*/ 325 w 1197"/>
                  <a:gd name="T33" fmla="*/ 384 h 1529"/>
                  <a:gd name="T34" fmla="*/ 1154 w 1197"/>
                  <a:gd name="T35" fmla="*/ 1204 h 1529"/>
                  <a:gd name="T36" fmla="*/ 1116 w 1197"/>
                  <a:gd name="T37" fmla="*/ 1116 h 1529"/>
                  <a:gd name="T38" fmla="*/ 1031 w 1197"/>
                  <a:gd name="T39" fmla="*/ 1003 h 1529"/>
                  <a:gd name="T40" fmla="*/ 902 w 1197"/>
                  <a:gd name="T41" fmla="*/ 1015 h 1529"/>
                  <a:gd name="T42" fmla="*/ 811 w 1197"/>
                  <a:gd name="T43" fmla="*/ 1001 h 1529"/>
                  <a:gd name="T44" fmla="*/ 760 w 1197"/>
                  <a:gd name="T45" fmla="*/ 1078 h 1529"/>
                  <a:gd name="T46" fmla="*/ 662 w 1197"/>
                  <a:gd name="T47" fmla="*/ 1164 h 1529"/>
                  <a:gd name="T48" fmla="*/ 685 w 1197"/>
                  <a:gd name="T49" fmla="*/ 1305 h 1529"/>
                  <a:gd name="T50" fmla="*/ 723 w 1197"/>
                  <a:gd name="T51" fmla="*/ 1393 h 1529"/>
                  <a:gd name="T52" fmla="*/ 803 w 1197"/>
                  <a:gd name="T53" fmla="*/ 1508 h 1529"/>
                  <a:gd name="T54" fmla="*/ 941 w 1197"/>
                  <a:gd name="T55" fmla="*/ 1498 h 1529"/>
                  <a:gd name="T56" fmla="*/ 1029 w 1197"/>
                  <a:gd name="T57" fmla="*/ 1512 h 1529"/>
                  <a:gd name="T58" fmla="*/ 1079 w 1197"/>
                  <a:gd name="T59" fmla="*/ 1438 h 1529"/>
                  <a:gd name="T60" fmla="*/ 1181 w 1197"/>
                  <a:gd name="T61" fmla="*/ 1343 h 1529"/>
                  <a:gd name="T62" fmla="*/ 968 w 1197"/>
                  <a:gd name="T63" fmla="*/ 1368 h 1529"/>
                  <a:gd name="T64" fmla="*/ 872 w 1197"/>
                  <a:gd name="T65" fmla="*/ 1145 h 1529"/>
                  <a:gd name="T66" fmla="*/ 968 w 1197"/>
                  <a:gd name="T67" fmla="*/ 1368 h 1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97" h="1529">
                    <a:moveTo>
                      <a:pt x="550" y="244"/>
                    </a:moveTo>
                    <a:cubicBezTo>
                      <a:pt x="511" y="220"/>
                      <a:pt x="511" y="220"/>
                      <a:pt x="511" y="220"/>
                    </a:cubicBezTo>
                    <a:cubicBezTo>
                      <a:pt x="508" y="205"/>
                      <a:pt x="503" y="191"/>
                      <a:pt x="497" y="176"/>
                    </a:cubicBezTo>
                    <a:cubicBezTo>
                      <a:pt x="491" y="161"/>
                      <a:pt x="482" y="146"/>
                      <a:pt x="473" y="132"/>
                    </a:cubicBezTo>
                    <a:cubicBezTo>
                      <a:pt x="482" y="87"/>
                      <a:pt x="482" y="87"/>
                      <a:pt x="482" y="87"/>
                    </a:cubicBezTo>
                    <a:cubicBezTo>
                      <a:pt x="456" y="58"/>
                      <a:pt x="423" y="34"/>
                      <a:pt x="388" y="18"/>
                    </a:cubicBezTo>
                    <a:cubicBezTo>
                      <a:pt x="348" y="41"/>
                      <a:pt x="348" y="41"/>
                      <a:pt x="348" y="41"/>
                    </a:cubicBezTo>
                    <a:cubicBezTo>
                      <a:pt x="319" y="32"/>
                      <a:pt x="289" y="29"/>
                      <a:pt x="259" y="31"/>
                    </a:cubicBezTo>
                    <a:cubicBezTo>
                      <a:pt x="225" y="0"/>
                      <a:pt x="225" y="0"/>
                      <a:pt x="225" y="0"/>
                    </a:cubicBezTo>
                    <a:cubicBezTo>
                      <a:pt x="206" y="4"/>
                      <a:pt x="187" y="9"/>
                      <a:pt x="168" y="17"/>
                    </a:cubicBezTo>
                    <a:cubicBezTo>
                      <a:pt x="150" y="25"/>
                      <a:pt x="132" y="35"/>
                      <a:pt x="117" y="46"/>
                    </a:cubicBezTo>
                    <a:cubicBezTo>
                      <a:pt x="117" y="94"/>
                      <a:pt x="117" y="94"/>
                      <a:pt x="117" y="94"/>
                    </a:cubicBezTo>
                    <a:cubicBezTo>
                      <a:pt x="94" y="115"/>
                      <a:pt x="75" y="138"/>
                      <a:pt x="62" y="165"/>
                    </a:cubicBezTo>
                    <a:cubicBezTo>
                      <a:pt x="19" y="179"/>
                      <a:pt x="19" y="179"/>
                      <a:pt x="19" y="179"/>
                    </a:cubicBezTo>
                    <a:cubicBezTo>
                      <a:pt x="5" y="216"/>
                      <a:pt x="0" y="256"/>
                      <a:pt x="3" y="297"/>
                    </a:cubicBezTo>
                    <a:cubicBezTo>
                      <a:pt x="42" y="320"/>
                      <a:pt x="42" y="320"/>
                      <a:pt x="42" y="320"/>
                    </a:cubicBezTo>
                    <a:cubicBezTo>
                      <a:pt x="45" y="336"/>
                      <a:pt x="50" y="352"/>
                      <a:pt x="58" y="368"/>
                    </a:cubicBezTo>
                    <a:cubicBezTo>
                      <a:pt x="64" y="382"/>
                      <a:pt x="71" y="396"/>
                      <a:pt x="80" y="409"/>
                    </a:cubicBezTo>
                    <a:cubicBezTo>
                      <a:pt x="69" y="453"/>
                      <a:pt x="69" y="453"/>
                      <a:pt x="69" y="453"/>
                    </a:cubicBezTo>
                    <a:cubicBezTo>
                      <a:pt x="95" y="484"/>
                      <a:pt x="126" y="507"/>
                      <a:pt x="160" y="524"/>
                    </a:cubicBezTo>
                    <a:cubicBezTo>
                      <a:pt x="199" y="501"/>
                      <a:pt x="199" y="501"/>
                      <a:pt x="199" y="501"/>
                    </a:cubicBezTo>
                    <a:cubicBezTo>
                      <a:pt x="231" y="512"/>
                      <a:pt x="264" y="516"/>
                      <a:pt x="298" y="513"/>
                    </a:cubicBezTo>
                    <a:cubicBezTo>
                      <a:pt x="333" y="545"/>
                      <a:pt x="333" y="545"/>
                      <a:pt x="333" y="545"/>
                    </a:cubicBezTo>
                    <a:cubicBezTo>
                      <a:pt x="350" y="540"/>
                      <a:pt x="368" y="535"/>
                      <a:pt x="386" y="528"/>
                    </a:cubicBezTo>
                    <a:cubicBezTo>
                      <a:pt x="403" y="520"/>
                      <a:pt x="420" y="510"/>
                      <a:pt x="436" y="499"/>
                    </a:cubicBezTo>
                    <a:cubicBezTo>
                      <a:pt x="436" y="453"/>
                      <a:pt x="436" y="453"/>
                      <a:pt x="436" y="453"/>
                    </a:cubicBezTo>
                    <a:cubicBezTo>
                      <a:pt x="461" y="430"/>
                      <a:pt x="481" y="402"/>
                      <a:pt x="495" y="372"/>
                    </a:cubicBezTo>
                    <a:cubicBezTo>
                      <a:pt x="538" y="359"/>
                      <a:pt x="538" y="359"/>
                      <a:pt x="538" y="359"/>
                    </a:cubicBezTo>
                    <a:cubicBezTo>
                      <a:pt x="550" y="322"/>
                      <a:pt x="554" y="283"/>
                      <a:pt x="550" y="244"/>
                    </a:cubicBezTo>
                    <a:close/>
                    <a:moveTo>
                      <a:pt x="325" y="384"/>
                    </a:moveTo>
                    <a:cubicBezTo>
                      <a:pt x="264" y="411"/>
                      <a:pt x="193" y="382"/>
                      <a:pt x="167" y="320"/>
                    </a:cubicBezTo>
                    <a:cubicBezTo>
                      <a:pt x="140" y="258"/>
                      <a:pt x="168" y="187"/>
                      <a:pt x="229" y="161"/>
                    </a:cubicBezTo>
                    <a:cubicBezTo>
                      <a:pt x="290" y="134"/>
                      <a:pt x="361" y="163"/>
                      <a:pt x="387" y="224"/>
                    </a:cubicBezTo>
                    <a:cubicBezTo>
                      <a:pt x="414" y="285"/>
                      <a:pt x="386" y="358"/>
                      <a:pt x="325" y="384"/>
                    </a:cubicBezTo>
                    <a:close/>
                    <a:moveTo>
                      <a:pt x="1193" y="1228"/>
                    </a:moveTo>
                    <a:cubicBezTo>
                      <a:pt x="1154" y="1204"/>
                      <a:pt x="1154" y="1204"/>
                      <a:pt x="1154" y="1204"/>
                    </a:cubicBezTo>
                    <a:cubicBezTo>
                      <a:pt x="1151" y="1190"/>
                      <a:pt x="1146" y="1175"/>
                      <a:pt x="1140" y="1160"/>
                    </a:cubicBezTo>
                    <a:cubicBezTo>
                      <a:pt x="1134" y="1145"/>
                      <a:pt x="1125" y="1130"/>
                      <a:pt x="1116" y="1116"/>
                    </a:cubicBezTo>
                    <a:cubicBezTo>
                      <a:pt x="1125" y="1072"/>
                      <a:pt x="1125" y="1072"/>
                      <a:pt x="1125" y="1072"/>
                    </a:cubicBezTo>
                    <a:cubicBezTo>
                      <a:pt x="1099" y="1042"/>
                      <a:pt x="1066" y="1018"/>
                      <a:pt x="1031" y="1003"/>
                    </a:cubicBezTo>
                    <a:cubicBezTo>
                      <a:pt x="991" y="1026"/>
                      <a:pt x="991" y="1026"/>
                      <a:pt x="991" y="1026"/>
                    </a:cubicBezTo>
                    <a:cubicBezTo>
                      <a:pt x="962" y="1016"/>
                      <a:pt x="932" y="1013"/>
                      <a:pt x="902" y="1015"/>
                    </a:cubicBezTo>
                    <a:cubicBezTo>
                      <a:pt x="868" y="984"/>
                      <a:pt x="868" y="984"/>
                      <a:pt x="868" y="984"/>
                    </a:cubicBezTo>
                    <a:cubicBezTo>
                      <a:pt x="849" y="988"/>
                      <a:pt x="830" y="993"/>
                      <a:pt x="811" y="1001"/>
                    </a:cubicBezTo>
                    <a:cubicBezTo>
                      <a:pt x="793" y="1010"/>
                      <a:pt x="775" y="1019"/>
                      <a:pt x="760" y="1031"/>
                    </a:cubicBezTo>
                    <a:cubicBezTo>
                      <a:pt x="760" y="1078"/>
                      <a:pt x="760" y="1078"/>
                      <a:pt x="760" y="1078"/>
                    </a:cubicBezTo>
                    <a:cubicBezTo>
                      <a:pt x="737" y="1099"/>
                      <a:pt x="718" y="1123"/>
                      <a:pt x="705" y="1150"/>
                    </a:cubicBezTo>
                    <a:cubicBezTo>
                      <a:pt x="662" y="1164"/>
                      <a:pt x="662" y="1164"/>
                      <a:pt x="662" y="1164"/>
                    </a:cubicBezTo>
                    <a:cubicBezTo>
                      <a:pt x="648" y="1201"/>
                      <a:pt x="643" y="1240"/>
                      <a:pt x="646" y="1282"/>
                    </a:cubicBezTo>
                    <a:cubicBezTo>
                      <a:pt x="685" y="1305"/>
                      <a:pt x="685" y="1305"/>
                      <a:pt x="685" y="1305"/>
                    </a:cubicBezTo>
                    <a:cubicBezTo>
                      <a:pt x="688" y="1320"/>
                      <a:pt x="693" y="1337"/>
                      <a:pt x="701" y="1352"/>
                    </a:cubicBezTo>
                    <a:cubicBezTo>
                      <a:pt x="707" y="1367"/>
                      <a:pt x="714" y="1381"/>
                      <a:pt x="723" y="1393"/>
                    </a:cubicBezTo>
                    <a:cubicBezTo>
                      <a:pt x="712" y="1438"/>
                      <a:pt x="712" y="1438"/>
                      <a:pt x="712" y="1438"/>
                    </a:cubicBezTo>
                    <a:cubicBezTo>
                      <a:pt x="738" y="1468"/>
                      <a:pt x="769" y="1491"/>
                      <a:pt x="803" y="1508"/>
                    </a:cubicBezTo>
                    <a:cubicBezTo>
                      <a:pt x="842" y="1485"/>
                      <a:pt x="842" y="1485"/>
                      <a:pt x="842" y="1485"/>
                    </a:cubicBezTo>
                    <a:cubicBezTo>
                      <a:pt x="874" y="1496"/>
                      <a:pt x="907" y="1500"/>
                      <a:pt x="941" y="1498"/>
                    </a:cubicBezTo>
                    <a:cubicBezTo>
                      <a:pt x="976" y="1529"/>
                      <a:pt x="976" y="1529"/>
                      <a:pt x="976" y="1529"/>
                    </a:cubicBezTo>
                    <a:cubicBezTo>
                      <a:pt x="993" y="1525"/>
                      <a:pt x="1011" y="1519"/>
                      <a:pt x="1029" y="1512"/>
                    </a:cubicBezTo>
                    <a:cubicBezTo>
                      <a:pt x="1046" y="1504"/>
                      <a:pt x="1063" y="1494"/>
                      <a:pt x="1079" y="1484"/>
                    </a:cubicBezTo>
                    <a:cubicBezTo>
                      <a:pt x="1079" y="1438"/>
                      <a:pt x="1079" y="1438"/>
                      <a:pt x="1079" y="1438"/>
                    </a:cubicBezTo>
                    <a:cubicBezTo>
                      <a:pt x="1104" y="1415"/>
                      <a:pt x="1124" y="1387"/>
                      <a:pt x="1138" y="1356"/>
                    </a:cubicBezTo>
                    <a:cubicBezTo>
                      <a:pt x="1181" y="1343"/>
                      <a:pt x="1181" y="1343"/>
                      <a:pt x="1181" y="1343"/>
                    </a:cubicBezTo>
                    <a:cubicBezTo>
                      <a:pt x="1193" y="1307"/>
                      <a:pt x="1197" y="1267"/>
                      <a:pt x="1193" y="1228"/>
                    </a:cubicBezTo>
                    <a:close/>
                    <a:moveTo>
                      <a:pt x="968" y="1368"/>
                    </a:moveTo>
                    <a:cubicBezTo>
                      <a:pt x="907" y="1395"/>
                      <a:pt x="836" y="1366"/>
                      <a:pt x="810" y="1305"/>
                    </a:cubicBezTo>
                    <a:cubicBezTo>
                      <a:pt x="783" y="1243"/>
                      <a:pt x="811" y="1171"/>
                      <a:pt x="872" y="1145"/>
                    </a:cubicBezTo>
                    <a:cubicBezTo>
                      <a:pt x="933" y="1118"/>
                      <a:pt x="1004" y="1147"/>
                      <a:pt x="1030" y="1208"/>
                    </a:cubicBezTo>
                    <a:cubicBezTo>
                      <a:pt x="1057" y="1270"/>
                      <a:pt x="1029" y="1342"/>
                      <a:pt x="968" y="1368"/>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endParaRPr>
              </a:p>
            </p:txBody>
          </p:sp>
        </p:grpSp>
      </p:grpSp>
      <p:grpSp>
        <p:nvGrpSpPr>
          <p:cNvPr id="77" name="Group 76">
            <a:extLst>
              <a:ext uri="{FF2B5EF4-FFF2-40B4-BE49-F238E27FC236}">
                <a16:creationId xmlns:a16="http://schemas.microsoft.com/office/drawing/2014/main" id="{69C2DB80-8E6D-49EE-94E4-E57020F9F3D8}"/>
              </a:ext>
            </a:extLst>
          </p:cNvPr>
          <p:cNvGrpSpPr/>
          <p:nvPr/>
        </p:nvGrpSpPr>
        <p:grpSpPr>
          <a:xfrm>
            <a:off x="943261" y="3492110"/>
            <a:ext cx="742347" cy="742346"/>
            <a:chOff x="807975" y="3492110"/>
            <a:chExt cx="1012918" cy="1012916"/>
          </a:xfrm>
        </p:grpSpPr>
        <p:sp>
          <p:nvSpPr>
            <p:cNvPr id="64" name="Oval 63">
              <a:extLst>
                <a:ext uri="{FF2B5EF4-FFF2-40B4-BE49-F238E27FC236}">
                  <a16:creationId xmlns:a16="http://schemas.microsoft.com/office/drawing/2014/main" id="{958ACBD9-2464-44C1-A845-AD45AE25AC39}"/>
                </a:ext>
              </a:extLst>
            </p:cNvPr>
            <p:cNvSpPr>
              <a:spLocks noChangeAspect="1"/>
            </p:cNvSpPr>
            <p:nvPr/>
          </p:nvSpPr>
          <p:spPr>
            <a:xfrm>
              <a:off x="807975" y="3492110"/>
              <a:ext cx="1012918" cy="1012916"/>
            </a:xfrm>
            <a:prstGeom prst="ellipse">
              <a:avLst/>
            </a:prstGeom>
            <a:solidFill>
              <a:srgbClr val="FFFFFF"/>
            </a:solidFill>
            <a:ln w="38100" cap="rnd">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575757"/>
                </a:solidFill>
                <a:effectLst/>
                <a:uLnTx/>
                <a:uFillTx/>
                <a:latin typeface="Trebuchet MS"/>
                <a:ea typeface="Microsoft YaHei" panose="020B0503020204020204" pitchFamily="34" charset="-122"/>
                <a:cs typeface="+mn-cs"/>
              </a:endParaRPr>
            </a:p>
          </p:txBody>
        </p:sp>
        <p:grpSp>
          <p:nvGrpSpPr>
            <p:cNvPr id="65" name="Group 64">
              <a:extLst>
                <a:ext uri="{FF2B5EF4-FFF2-40B4-BE49-F238E27FC236}">
                  <a16:creationId xmlns:a16="http://schemas.microsoft.com/office/drawing/2014/main" id="{81A945A2-1308-42D6-B6B2-0F8444F0E495}"/>
                </a:ext>
              </a:extLst>
            </p:cNvPr>
            <p:cNvGrpSpPr>
              <a:grpSpLocks noChangeAspect="1"/>
            </p:cNvGrpSpPr>
            <p:nvPr/>
          </p:nvGrpSpPr>
          <p:grpSpPr>
            <a:xfrm>
              <a:off x="1050205" y="3734339"/>
              <a:ext cx="528459" cy="528459"/>
              <a:chOff x="1114534" y="1826005"/>
              <a:chExt cx="1644651" cy="1644650"/>
            </a:xfrm>
          </p:grpSpPr>
          <p:sp>
            <p:nvSpPr>
              <p:cNvPr id="66" name="AutoShape 107">
                <a:extLst>
                  <a:ext uri="{FF2B5EF4-FFF2-40B4-BE49-F238E27FC236}">
                    <a16:creationId xmlns:a16="http://schemas.microsoft.com/office/drawing/2014/main" id="{6E6880D2-C791-4885-A0DF-8E068BA8088B}"/>
                  </a:ext>
                </a:extLst>
              </p:cNvPr>
              <p:cNvSpPr>
                <a:spLocks noChangeAspect="1" noChangeArrowheads="1" noTextEdit="1"/>
              </p:cNvSpPr>
              <p:nvPr/>
            </p:nvSpPr>
            <p:spPr bwMode="auto">
              <a:xfrm>
                <a:off x="1114534" y="1826005"/>
                <a:ext cx="1644651"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nvGrpSpPr>
              <p:cNvPr id="67" name="Group 66">
                <a:extLst>
                  <a:ext uri="{FF2B5EF4-FFF2-40B4-BE49-F238E27FC236}">
                    <a16:creationId xmlns:a16="http://schemas.microsoft.com/office/drawing/2014/main" id="{A9F78159-86C1-4B3E-B4CE-458BC4970B70}"/>
                  </a:ext>
                </a:extLst>
              </p:cNvPr>
              <p:cNvGrpSpPr/>
              <p:nvPr/>
            </p:nvGrpSpPr>
            <p:grpSpPr>
              <a:xfrm>
                <a:off x="1177128" y="1888599"/>
                <a:ext cx="1521028" cy="1521027"/>
                <a:chOff x="1177128" y="1888599"/>
                <a:chExt cx="1521028" cy="1521027"/>
              </a:xfrm>
            </p:grpSpPr>
            <p:sp>
              <p:nvSpPr>
                <p:cNvPr id="68" name="Freeform 109">
                  <a:extLst>
                    <a:ext uri="{FF2B5EF4-FFF2-40B4-BE49-F238E27FC236}">
                      <a16:creationId xmlns:a16="http://schemas.microsoft.com/office/drawing/2014/main" id="{2FF77430-3014-4CF2-BEE8-96143591FD02}"/>
                    </a:ext>
                  </a:extLst>
                </p:cNvPr>
                <p:cNvSpPr>
                  <a:spLocks noEditPoints="1"/>
                </p:cNvSpPr>
                <p:nvPr/>
              </p:nvSpPr>
              <p:spPr bwMode="auto">
                <a:xfrm>
                  <a:off x="1476013" y="1985619"/>
                  <a:ext cx="1128252" cy="1239356"/>
                </a:xfrm>
                <a:custGeom>
                  <a:avLst/>
                  <a:gdLst>
                    <a:gd name="T0" fmla="*/ 183 w 1580"/>
                    <a:gd name="T1" fmla="*/ 780 h 1737"/>
                    <a:gd name="T2" fmla="*/ 79 w 1580"/>
                    <a:gd name="T3" fmla="*/ 600 h 1737"/>
                    <a:gd name="T4" fmla="*/ 103 w 1580"/>
                    <a:gd name="T5" fmla="*/ 927 h 1737"/>
                    <a:gd name="T6" fmla="*/ 0 w 1580"/>
                    <a:gd name="T7" fmla="*/ 961 h 1737"/>
                    <a:gd name="T8" fmla="*/ 103 w 1580"/>
                    <a:gd name="T9" fmla="*/ 927 h 1737"/>
                    <a:gd name="T10" fmla="*/ 773 w 1580"/>
                    <a:gd name="T11" fmla="*/ 871 h 1737"/>
                    <a:gd name="T12" fmla="*/ 1218 w 1580"/>
                    <a:gd name="T13" fmla="*/ 560 h 1737"/>
                    <a:gd name="T14" fmla="*/ 77 w 1580"/>
                    <a:gd name="T15" fmla="*/ 1220 h 1737"/>
                    <a:gd name="T16" fmla="*/ 160 w 1580"/>
                    <a:gd name="T17" fmla="*/ 1227 h 1737"/>
                    <a:gd name="T18" fmla="*/ 77 w 1580"/>
                    <a:gd name="T19" fmla="*/ 1220 h 1737"/>
                    <a:gd name="T20" fmla="*/ 324 w 1580"/>
                    <a:gd name="T21" fmla="*/ 1479 h 1737"/>
                    <a:gd name="T22" fmla="*/ 316 w 1580"/>
                    <a:gd name="T23" fmla="*/ 1350 h 1737"/>
                    <a:gd name="T24" fmla="*/ 526 w 1580"/>
                    <a:gd name="T25" fmla="*/ 1366 h 1737"/>
                    <a:gd name="T26" fmla="*/ 636 w 1580"/>
                    <a:gd name="T27" fmla="*/ 1579 h 1737"/>
                    <a:gd name="T28" fmla="*/ 526 w 1580"/>
                    <a:gd name="T29" fmla="*/ 1366 h 1737"/>
                    <a:gd name="T30" fmla="*/ 253 w 1580"/>
                    <a:gd name="T31" fmla="*/ 101 h 1737"/>
                    <a:gd name="T32" fmla="*/ 253 w 1580"/>
                    <a:gd name="T33" fmla="*/ 281 h 1737"/>
                    <a:gd name="T34" fmla="*/ 817 w 1580"/>
                    <a:gd name="T35" fmla="*/ 503 h 1737"/>
                    <a:gd name="T36" fmla="*/ 502 w 1580"/>
                    <a:gd name="T37" fmla="*/ 503 h 1737"/>
                    <a:gd name="T38" fmla="*/ 817 w 1580"/>
                    <a:gd name="T39" fmla="*/ 503 h 1737"/>
                    <a:gd name="T40" fmla="*/ 1162 w 1580"/>
                    <a:gd name="T41" fmla="*/ 191 h 1737"/>
                    <a:gd name="T42" fmla="*/ 983 w 1580"/>
                    <a:gd name="T43" fmla="*/ 191 h 1737"/>
                    <a:gd name="T44" fmla="*/ 659 w 1580"/>
                    <a:gd name="T45" fmla="*/ 179 h 1737"/>
                    <a:gd name="T46" fmla="*/ 659 w 1580"/>
                    <a:gd name="T47" fmla="*/ 0 h 1737"/>
                    <a:gd name="T48" fmla="*/ 659 w 1580"/>
                    <a:gd name="T49" fmla="*/ 179 h 1737"/>
                    <a:gd name="T50" fmla="*/ 1401 w 1580"/>
                    <a:gd name="T51" fmla="*/ 879 h 1737"/>
                    <a:gd name="T52" fmla="*/ 1556 w 1580"/>
                    <a:gd name="T53" fmla="*/ 970 h 1737"/>
                    <a:gd name="T54" fmla="*/ 1085 w 1580"/>
                    <a:gd name="T55" fmla="*/ 984 h 1737"/>
                    <a:gd name="T56" fmla="*/ 927 w 1580"/>
                    <a:gd name="T57" fmla="*/ 1257 h 1737"/>
                    <a:gd name="T58" fmla="*/ 1085 w 1580"/>
                    <a:gd name="T59" fmla="*/ 984 h 1737"/>
                    <a:gd name="T60" fmla="*/ 990 w 1580"/>
                    <a:gd name="T61" fmla="*/ 1590 h 1737"/>
                    <a:gd name="T62" fmla="*/ 1144 w 1580"/>
                    <a:gd name="T63" fmla="*/ 1681 h 1737"/>
                    <a:gd name="T64" fmla="*/ 1407 w 1580"/>
                    <a:gd name="T65" fmla="*/ 1250 h 1737"/>
                    <a:gd name="T66" fmla="*/ 1317 w 1580"/>
                    <a:gd name="T67" fmla="*/ 1404 h 1737"/>
                    <a:gd name="T68" fmla="*/ 1407 w 1580"/>
                    <a:gd name="T69" fmla="*/ 1250 h 17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80" h="1737">
                      <a:moveTo>
                        <a:pt x="45" y="632"/>
                      </a:moveTo>
                      <a:cubicBezTo>
                        <a:pt x="45" y="632"/>
                        <a:pt x="45" y="632"/>
                        <a:pt x="183" y="780"/>
                      </a:cubicBezTo>
                      <a:cubicBezTo>
                        <a:pt x="194" y="768"/>
                        <a:pt x="204" y="757"/>
                        <a:pt x="216" y="747"/>
                      </a:cubicBezTo>
                      <a:cubicBezTo>
                        <a:pt x="216" y="747"/>
                        <a:pt x="216" y="747"/>
                        <a:pt x="79" y="600"/>
                      </a:cubicBezTo>
                      <a:cubicBezTo>
                        <a:pt x="69" y="611"/>
                        <a:pt x="58" y="623"/>
                        <a:pt x="45" y="632"/>
                      </a:cubicBezTo>
                      <a:close/>
                      <a:moveTo>
                        <a:pt x="103" y="927"/>
                      </a:moveTo>
                      <a:cubicBezTo>
                        <a:pt x="8" y="914"/>
                        <a:pt x="8" y="914"/>
                        <a:pt x="8" y="914"/>
                      </a:cubicBezTo>
                      <a:cubicBezTo>
                        <a:pt x="8" y="930"/>
                        <a:pt x="4" y="946"/>
                        <a:pt x="0" y="961"/>
                      </a:cubicBezTo>
                      <a:cubicBezTo>
                        <a:pt x="95" y="973"/>
                        <a:pt x="95" y="973"/>
                        <a:pt x="95" y="973"/>
                      </a:cubicBezTo>
                      <a:cubicBezTo>
                        <a:pt x="97" y="958"/>
                        <a:pt x="99" y="942"/>
                        <a:pt x="103" y="927"/>
                      </a:cubicBezTo>
                      <a:close/>
                      <a:moveTo>
                        <a:pt x="750" y="829"/>
                      </a:moveTo>
                      <a:cubicBezTo>
                        <a:pt x="759" y="843"/>
                        <a:pt x="766" y="857"/>
                        <a:pt x="773" y="871"/>
                      </a:cubicBezTo>
                      <a:cubicBezTo>
                        <a:pt x="1242" y="601"/>
                        <a:pt x="1242" y="601"/>
                        <a:pt x="1242" y="601"/>
                      </a:cubicBezTo>
                      <a:cubicBezTo>
                        <a:pt x="1232" y="588"/>
                        <a:pt x="1224" y="575"/>
                        <a:pt x="1218" y="560"/>
                      </a:cubicBezTo>
                      <a:cubicBezTo>
                        <a:pt x="750" y="829"/>
                        <a:pt x="750" y="829"/>
                        <a:pt x="750" y="829"/>
                      </a:cubicBezTo>
                      <a:close/>
                      <a:moveTo>
                        <a:pt x="77" y="1220"/>
                      </a:moveTo>
                      <a:cubicBezTo>
                        <a:pt x="86" y="1231"/>
                        <a:pt x="95" y="1244"/>
                        <a:pt x="101" y="1259"/>
                      </a:cubicBezTo>
                      <a:cubicBezTo>
                        <a:pt x="160" y="1227"/>
                        <a:pt x="160" y="1227"/>
                        <a:pt x="160" y="1227"/>
                      </a:cubicBezTo>
                      <a:cubicBezTo>
                        <a:pt x="150" y="1214"/>
                        <a:pt x="142" y="1200"/>
                        <a:pt x="134" y="1187"/>
                      </a:cubicBezTo>
                      <a:cubicBezTo>
                        <a:pt x="77" y="1220"/>
                        <a:pt x="77" y="1220"/>
                        <a:pt x="77" y="1220"/>
                      </a:cubicBezTo>
                      <a:close/>
                      <a:moveTo>
                        <a:pt x="279" y="1465"/>
                      </a:moveTo>
                      <a:cubicBezTo>
                        <a:pt x="295" y="1468"/>
                        <a:pt x="310" y="1473"/>
                        <a:pt x="324" y="1479"/>
                      </a:cubicBezTo>
                      <a:cubicBezTo>
                        <a:pt x="361" y="1364"/>
                        <a:pt x="361" y="1364"/>
                        <a:pt x="361" y="1364"/>
                      </a:cubicBezTo>
                      <a:cubicBezTo>
                        <a:pt x="346" y="1360"/>
                        <a:pt x="331" y="1355"/>
                        <a:pt x="316" y="1350"/>
                      </a:cubicBezTo>
                      <a:cubicBezTo>
                        <a:pt x="279" y="1465"/>
                        <a:pt x="279" y="1465"/>
                        <a:pt x="279" y="1465"/>
                      </a:cubicBezTo>
                      <a:close/>
                      <a:moveTo>
                        <a:pt x="526" y="1366"/>
                      </a:moveTo>
                      <a:cubicBezTo>
                        <a:pt x="592" y="1593"/>
                        <a:pt x="592" y="1593"/>
                        <a:pt x="592" y="1593"/>
                      </a:cubicBezTo>
                      <a:cubicBezTo>
                        <a:pt x="605" y="1587"/>
                        <a:pt x="620" y="1581"/>
                        <a:pt x="636" y="1579"/>
                      </a:cubicBezTo>
                      <a:cubicBezTo>
                        <a:pt x="570" y="1353"/>
                        <a:pt x="570" y="1353"/>
                        <a:pt x="570" y="1353"/>
                      </a:cubicBezTo>
                      <a:cubicBezTo>
                        <a:pt x="557" y="1358"/>
                        <a:pt x="542" y="1363"/>
                        <a:pt x="526" y="1366"/>
                      </a:cubicBezTo>
                      <a:close/>
                      <a:moveTo>
                        <a:pt x="343" y="191"/>
                      </a:moveTo>
                      <a:cubicBezTo>
                        <a:pt x="343" y="141"/>
                        <a:pt x="303" y="101"/>
                        <a:pt x="253" y="101"/>
                      </a:cubicBezTo>
                      <a:cubicBezTo>
                        <a:pt x="204" y="101"/>
                        <a:pt x="164" y="141"/>
                        <a:pt x="164" y="191"/>
                      </a:cubicBezTo>
                      <a:cubicBezTo>
                        <a:pt x="164" y="240"/>
                        <a:pt x="204" y="281"/>
                        <a:pt x="253" y="281"/>
                      </a:cubicBezTo>
                      <a:cubicBezTo>
                        <a:pt x="303" y="281"/>
                        <a:pt x="343" y="240"/>
                        <a:pt x="343" y="191"/>
                      </a:cubicBezTo>
                      <a:close/>
                      <a:moveTo>
                        <a:pt x="817" y="503"/>
                      </a:moveTo>
                      <a:cubicBezTo>
                        <a:pt x="817" y="415"/>
                        <a:pt x="747" y="345"/>
                        <a:pt x="660" y="345"/>
                      </a:cubicBezTo>
                      <a:cubicBezTo>
                        <a:pt x="572" y="345"/>
                        <a:pt x="502" y="415"/>
                        <a:pt x="502" y="503"/>
                      </a:cubicBezTo>
                      <a:cubicBezTo>
                        <a:pt x="502" y="589"/>
                        <a:pt x="572" y="661"/>
                        <a:pt x="660" y="661"/>
                      </a:cubicBezTo>
                      <a:cubicBezTo>
                        <a:pt x="747" y="661"/>
                        <a:pt x="817" y="589"/>
                        <a:pt x="817" y="503"/>
                      </a:cubicBezTo>
                      <a:close/>
                      <a:moveTo>
                        <a:pt x="1073" y="281"/>
                      </a:moveTo>
                      <a:cubicBezTo>
                        <a:pt x="1123" y="281"/>
                        <a:pt x="1162" y="240"/>
                        <a:pt x="1162" y="191"/>
                      </a:cubicBezTo>
                      <a:cubicBezTo>
                        <a:pt x="1162" y="141"/>
                        <a:pt x="1123" y="101"/>
                        <a:pt x="1073" y="101"/>
                      </a:cubicBezTo>
                      <a:cubicBezTo>
                        <a:pt x="1024" y="101"/>
                        <a:pt x="983" y="141"/>
                        <a:pt x="983" y="191"/>
                      </a:cubicBezTo>
                      <a:cubicBezTo>
                        <a:pt x="983" y="240"/>
                        <a:pt x="1024" y="281"/>
                        <a:pt x="1073" y="281"/>
                      </a:cubicBezTo>
                      <a:close/>
                      <a:moveTo>
                        <a:pt x="659" y="179"/>
                      </a:moveTo>
                      <a:cubicBezTo>
                        <a:pt x="708" y="179"/>
                        <a:pt x="748" y="139"/>
                        <a:pt x="748" y="90"/>
                      </a:cubicBezTo>
                      <a:cubicBezTo>
                        <a:pt x="748" y="41"/>
                        <a:pt x="708" y="0"/>
                        <a:pt x="659" y="0"/>
                      </a:cubicBezTo>
                      <a:cubicBezTo>
                        <a:pt x="610" y="0"/>
                        <a:pt x="569" y="41"/>
                        <a:pt x="569" y="90"/>
                      </a:cubicBezTo>
                      <a:cubicBezTo>
                        <a:pt x="569" y="139"/>
                        <a:pt x="610" y="179"/>
                        <a:pt x="659" y="179"/>
                      </a:cubicBezTo>
                      <a:close/>
                      <a:moveTo>
                        <a:pt x="1524" y="847"/>
                      </a:moveTo>
                      <a:cubicBezTo>
                        <a:pt x="1481" y="823"/>
                        <a:pt x="1426" y="837"/>
                        <a:pt x="1401" y="879"/>
                      </a:cubicBezTo>
                      <a:cubicBezTo>
                        <a:pt x="1377" y="922"/>
                        <a:pt x="1391" y="977"/>
                        <a:pt x="1433" y="1002"/>
                      </a:cubicBezTo>
                      <a:cubicBezTo>
                        <a:pt x="1476" y="1027"/>
                        <a:pt x="1531" y="1013"/>
                        <a:pt x="1556" y="970"/>
                      </a:cubicBezTo>
                      <a:cubicBezTo>
                        <a:pt x="1580" y="927"/>
                        <a:pt x="1566" y="872"/>
                        <a:pt x="1524" y="847"/>
                      </a:cubicBezTo>
                      <a:close/>
                      <a:moveTo>
                        <a:pt x="1085" y="984"/>
                      </a:moveTo>
                      <a:cubicBezTo>
                        <a:pt x="1010" y="940"/>
                        <a:pt x="913" y="966"/>
                        <a:pt x="869" y="1041"/>
                      </a:cubicBezTo>
                      <a:cubicBezTo>
                        <a:pt x="826" y="1116"/>
                        <a:pt x="851" y="1213"/>
                        <a:pt x="927" y="1257"/>
                      </a:cubicBezTo>
                      <a:cubicBezTo>
                        <a:pt x="1002" y="1301"/>
                        <a:pt x="1098" y="1275"/>
                        <a:pt x="1142" y="1199"/>
                      </a:cubicBezTo>
                      <a:cubicBezTo>
                        <a:pt x="1185" y="1125"/>
                        <a:pt x="1160" y="1028"/>
                        <a:pt x="1085" y="984"/>
                      </a:cubicBezTo>
                      <a:close/>
                      <a:moveTo>
                        <a:pt x="1112" y="1558"/>
                      </a:moveTo>
                      <a:cubicBezTo>
                        <a:pt x="1069" y="1532"/>
                        <a:pt x="1014" y="1547"/>
                        <a:pt x="990" y="1590"/>
                      </a:cubicBezTo>
                      <a:cubicBezTo>
                        <a:pt x="965" y="1633"/>
                        <a:pt x="979" y="1688"/>
                        <a:pt x="1022" y="1713"/>
                      </a:cubicBezTo>
                      <a:cubicBezTo>
                        <a:pt x="1065" y="1737"/>
                        <a:pt x="1119" y="1723"/>
                        <a:pt x="1144" y="1681"/>
                      </a:cubicBezTo>
                      <a:cubicBezTo>
                        <a:pt x="1169" y="1637"/>
                        <a:pt x="1155" y="1582"/>
                        <a:pt x="1112" y="1558"/>
                      </a:cubicBezTo>
                      <a:close/>
                      <a:moveTo>
                        <a:pt x="1407" y="1250"/>
                      </a:moveTo>
                      <a:cubicBezTo>
                        <a:pt x="1364" y="1225"/>
                        <a:pt x="1310" y="1239"/>
                        <a:pt x="1285" y="1282"/>
                      </a:cubicBezTo>
                      <a:cubicBezTo>
                        <a:pt x="1260" y="1324"/>
                        <a:pt x="1275" y="1380"/>
                        <a:pt x="1317" y="1404"/>
                      </a:cubicBezTo>
                      <a:cubicBezTo>
                        <a:pt x="1360" y="1429"/>
                        <a:pt x="1415" y="1415"/>
                        <a:pt x="1440" y="1372"/>
                      </a:cubicBezTo>
                      <a:cubicBezTo>
                        <a:pt x="1464" y="1330"/>
                        <a:pt x="1450" y="1274"/>
                        <a:pt x="1407" y="125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endParaRPr>
                </a:p>
              </p:txBody>
            </p:sp>
            <p:sp>
              <p:nvSpPr>
                <p:cNvPr id="69" name="Freeform 110">
                  <a:extLst>
                    <a:ext uri="{FF2B5EF4-FFF2-40B4-BE49-F238E27FC236}">
                      <a16:creationId xmlns:a16="http://schemas.microsoft.com/office/drawing/2014/main" id="{C9473339-03B7-47BE-8CD7-C057AD46B7DE}"/>
                    </a:ext>
                  </a:extLst>
                </p:cNvPr>
                <p:cNvSpPr>
                  <a:spLocks noEditPoints="1"/>
                </p:cNvSpPr>
                <p:nvPr/>
              </p:nvSpPr>
              <p:spPr bwMode="auto">
                <a:xfrm>
                  <a:off x="1177128" y="1888599"/>
                  <a:ext cx="1521028" cy="1521027"/>
                </a:xfrm>
                <a:custGeom>
                  <a:avLst/>
                  <a:gdLst>
                    <a:gd name="T0" fmla="*/ 1076 w 2130"/>
                    <a:gd name="T1" fmla="*/ 1760 h 2131"/>
                    <a:gd name="T2" fmla="*/ 866 w 2130"/>
                    <a:gd name="T3" fmla="*/ 888 h 2131"/>
                    <a:gd name="T4" fmla="*/ 664 w 2130"/>
                    <a:gd name="T5" fmla="*/ 154 h 2131"/>
                    <a:gd name="T6" fmla="*/ 745 w 2130"/>
                    <a:gd name="T7" fmla="*/ 125 h 2131"/>
                    <a:gd name="T8" fmla="*/ 2053 w 2130"/>
                    <a:gd name="T9" fmla="*/ 1180 h 2131"/>
                    <a:gd name="T10" fmla="*/ 2052 w 2130"/>
                    <a:gd name="T11" fmla="*/ 1189 h 2131"/>
                    <a:gd name="T12" fmla="*/ 2041 w 2130"/>
                    <a:gd name="T13" fmla="*/ 1260 h 2131"/>
                    <a:gd name="T14" fmla="*/ 2040 w 2130"/>
                    <a:gd name="T15" fmla="*/ 871 h 2131"/>
                    <a:gd name="T16" fmla="*/ 2047 w 2130"/>
                    <a:gd name="T17" fmla="*/ 905 h 2131"/>
                    <a:gd name="T18" fmla="*/ 2053 w 2130"/>
                    <a:gd name="T19" fmla="*/ 953 h 2131"/>
                    <a:gd name="T20" fmla="*/ 2054 w 2130"/>
                    <a:gd name="T21" fmla="*/ 963 h 2131"/>
                    <a:gd name="T22" fmla="*/ 1956 w 2130"/>
                    <a:gd name="T23" fmla="*/ 623 h 2131"/>
                    <a:gd name="T24" fmla="*/ 1960 w 2130"/>
                    <a:gd name="T25" fmla="*/ 631 h 2131"/>
                    <a:gd name="T26" fmla="*/ 1965 w 2130"/>
                    <a:gd name="T27" fmla="*/ 641 h 2131"/>
                    <a:gd name="T28" fmla="*/ 1989 w 2130"/>
                    <a:gd name="T29" fmla="*/ 698 h 2131"/>
                    <a:gd name="T30" fmla="*/ 1579 w 2130"/>
                    <a:gd name="T31" fmla="*/ 215 h 2131"/>
                    <a:gd name="T32" fmla="*/ 1586 w 2130"/>
                    <a:gd name="T33" fmla="*/ 219 h 2131"/>
                    <a:gd name="T34" fmla="*/ 1641 w 2130"/>
                    <a:gd name="T35" fmla="*/ 255 h 2131"/>
                    <a:gd name="T36" fmla="*/ 1554 w 2130"/>
                    <a:gd name="T37" fmla="*/ 158 h 2131"/>
                    <a:gd name="T38" fmla="*/ 1043 w 2130"/>
                    <a:gd name="T39" fmla="*/ 72 h 2131"/>
                    <a:gd name="T40" fmla="*/ 1053 w 2130"/>
                    <a:gd name="T41" fmla="*/ 72 h 2131"/>
                    <a:gd name="T42" fmla="*/ 1062 w 2130"/>
                    <a:gd name="T43" fmla="*/ 72 h 2131"/>
                    <a:gd name="T44" fmla="*/ 1072 w 2130"/>
                    <a:gd name="T45" fmla="*/ 72 h 2131"/>
                    <a:gd name="T46" fmla="*/ 1084 w 2130"/>
                    <a:gd name="T47" fmla="*/ 72 h 2131"/>
                    <a:gd name="T48" fmla="*/ 1095 w 2130"/>
                    <a:gd name="T49" fmla="*/ 72 h 2131"/>
                    <a:gd name="T50" fmla="*/ 1107 w 2130"/>
                    <a:gd name="T51" fmla="*/ 72 h 2131"/>
                    <a:gd name="T52" fmla="*/ 1118 w 2130"/>
                    <a:gd name="T53" fmla="*/ 73 h 2131"/>
                    <a:gd name="T54" fmla="*/ 1131 w 2130"/>
                    <a:gd name="T55" fmla="*/ 74 h 2131"/>
                    <a:gd name="T56" fmla="*/ 101 w 2130"/>
                    <a:gd name="T57" fmla="*/ 1301 h 2131"/>
                    <a:gd name="T58" fmla="*/ 82 w 2130"/>
                    <a:gd name="T59" fmla="*/ 1206 h 2131"/>
                    <a:gd name="T60" fmla="*/ 1274 w 2130"/>
                    <a:gd name="T61" fmla="*/ 2075 h 2131"/>
                    <a:gd name="T62" fmla="*/ 566 w 2130"/>
                    <a:gd name="T63" fmla="*/ 1925 h 2131"/>
                    <a:gd name="T64" fmla="*/ 510 w 2130"/>
                    <a:gd name="T65" fmla="*/ 1890 h 2131"/>
                    <a:gd name="T66" fmla="*/ 190 w 2130"/>
                    <a:gd name="T67" fmla="*/ 1536 h 2131"/>
                    <a:gd name="T68" fmla="*/ 157 w 2130"/>
                    <a:gd name="T69" fmla="*/ 1468 h 2131"/>
                    <a:gd name="T70" fmla="*/ 151 w 2130"/>
                    <a:gd name="T71" fmla="*/ 1453 h 2131"/>
                    <a:gd name="T72" fmla="*/ 298 w 2130"/>
                    <a:gd name="T73" fmla="*/ 1696 h 2131"/>
                    <a:gd name="T74" fmla="*/ 527 w 2130"/>
                    <a:gd name="T75" fmla="*/ 231 h 2131"/>
                    <a:gd name="T76" fmla="*/ 1643 w 2130"/>
                    <a:gd name="T77" fmla="*/ 1875 h 2131"/>
                    <a:gd name="T78" fmla="*/ 800 w 2130"/>
                    <a:gd name="T79" fmla="*/ 2024 h 2131"/>
                    <a:gd name="T80" fmla="*/ 789 w 2130"/>
                    <a:gd name="T81" fmla="*/ 2021 h 2131"/>
                    <a:gd name="T82" fmla="*/ 1129 w 2130"/>
                    <a:gd name="T83" fmla="*/ 2057 h 2131"/>
                    <a:gd name="T84" fmla="*/ 1110 w 2130"/>
                    <a:gd name="T85" fmla="*/ 2058 h 2131"/>
                    <a:gd name="T86" fmla="*/ 1098 w 2130"/>
                    <a:gd name="T87" fmla="*/ 2059 h 2131"/>
                    <a:gd name="T88" fmla="*/ 1087 w 2130"/>
                    <a:gd name="T89" fmla="*/ 2059 h 2131"/>
                    <a:gd name="T90" fmla="*/ 1077 w 2130"/>
                    <a:gd name="T91" fmla="*/ 2059 h 2131"/>
                    <a:gd name="T92" fmla="*/ 1066 w 2130"/>
                    <a:gd name="T93" fmla="*/ 2059 h 2131"/>
                    <a:gd name="T94" fmla="*/ 1054 w 2130"/>
                    <a:gd name="T95" fmla="*/ 2059 h 2131"/>
                    <a:gd name="T96" fmla="*/ 1043 w 2130"/>
                    <a:gd name="T97" fmla="*/ 2059 h 2131"/>
                    <a:gd name="T98" fmla="*/ 1795 w 2130"/>
                    <a:gd name="T99" fmla="*/ 389 h 2131"/>
                    <a:gd name="T100" fmla="*/ 1802 w 2130"/>
                    <a:gd name="T101" fmla="*/ 397 h 2131"/>
                    <a:gd name="T102" fmla="*/ 1809 w 2130"/>
                    <a:gd name="T103" fmla="*/ 405 h 2131"/>
                    <a:gd name="T104" fmla="*/ 1957 w 2130"/>
                    <a:gd name="T105" fmla="*/ 1505 h 2131"/>
                    <a:gd name="T106" fmla="*/ 1953 w 2130"/>
                    <a:gd name="T107" fmla="*/ 1514 h 2131"/>
                    <a:gd name="T108" fmla="*/ 260 w 2130"/>
                    <a:gd name="T109" fmla="*/ 485 h 2131"/>
                    <a:gd name="T110" fmla="*/ 77 w 2130"/>
                    <a:gd name="T111" fmla="*/ 966 h 2131"/>
                    <a:gd name="T112" fmla="*/ 78 w 2130"/>
                    <a:gd name="T113" fmla="*/ 955 h 2131"/>
                    <a:gd name="T114" fmla="*/ 79 w 2130"/>
                    <a:gd name="T115" fmla="*/ 947 h 2131"/>
                    <a:gd name="T116" fmla="*/ 80 w 2130"/>
                    <a:gd name="T117" fmla="*/ 939 h 2131"/>
                    <a:gd name="T118" fmla="*/ 81 w 2130"/>
                    <a:gd name="T119" fmla="*/ 931 h 2131"/>
                    <a:gd name="T120" fmla="*/ 130 w 2130"/>
                    <a:gd name="T121" fmla="*/ 733 h 2131"/>
                    <a:gd name="T122" fmla="*/ 132 w 2130"/>
                    <a:gd name="T123" fmla="*/ 726 h 2131"/>
                    <a:gd name="T124" fmla="*/ 1853 w 2130"/>
                    <a:gd name="T125" fmla="*/ 1672 h 2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30" h="2131">
                      <a:moveTo>
                        <a:pt x="252" y="630"/>
                      </a:moveTo>
                      <a:cubicBezTo>
                        <a:pt x="252" y="695"/>
                        <a:pt x="305" y="747"/>
                        <a:pt x="369" y="747"/>
                      </a:cubicBezTo>
                      <a:cubicBezTo>
                        <a:pt x="434" y="747"/>
                        <a:pt x="486" y="695"/>
                        <a:pt x="486" y="630"/>
                      </a:cubicBezTo>
                      <a:cubicBezTo>
                        <a:pt x="486" y="566"/>
                        <a:pt x="434" y="512"/>
                        <a:pt x="369" y="512"/>
                      </a:cubicBezTo>
                      <a:cubicBezTo>
                        <a:pt x="305" y="512"/>
                        <a:pt x="252" y="566"/>
                        <a:pt x="252" y="630"/>
                      </a:cubicBezTo>
                      <a:close/>
                      <a:moveTo>
                        <a:pt x="369" y="559"/>
                      </a:moveTo>
                      <a:cubicBezTo>
                        <a:pt x="408" y="559"/>
                        <a:pt x="439" y="591"/>
                        <a:pt x="439" y="630"/>
                      </a:cubicBezTo>
                      <a:cubicBezTo>
                        <a:pt x="439" y="669"/>
                        <a:pt x="408" y="700"/>
                        <a:pt x="369" y="700"/>
                      </a:cubicBezTo>
                      <a:cubicBezTo>
                        <a:pt x="330" y="700"/>
                        <a:pt x="299" y="669"/>
                        <a:pt x="299" y="630"/>
                      </a:cubicBezTo>
                      <a:cubicBezTo>
                        <a:pt x="299" y="591"/>
                        <a:pt x="330" y="559"/>
                        <a:pt x="369" y="559"/>
                      </a:cubicBezTo>
                      <a:close/>
                      <a:moveTo>
                        <a:pt x="369" y="1342"/>
                      </a:moveTo>
                      <a:cubicBezTo>
                        <a:pt x="305" y="1342"/>
                        <a:pt x="252" y="1395"/>
                        <a:pt x="252" y="1460"/>
                      </a:cubicBezTo>
                      <a:cubicBezTo>
                        <a:pt x="252" y="1525"/>
                        <a:pt x="305" y="1577"/>
                        <a:pt x="369" y="1577"/>
                      </a:cubicBezTo>
                      <a:cubicBezTo>
                        <a:pt x="434" y="1577"/>
                        <a:pt x="486" y="1525"/>
                        <a:pt x="486" y="1460"/>
                      </a:cubicBezTo>
                      <a:cubicBezTo>
                        <a:pt x="486" y="1395"/>
                        <a:pt x="434" y="1342"/>
                        <a:pt x="369" y="1342"/>
                      </a:cubicBezTo>
                      <a:close/>
                      <a:moveTo>
                        <a:pt x="369" y="1530"/>
                      </a:moveTo>
                      <a:cubicBezTo>
                        <a:pt x="330" y="1530"/>
                        <a:pt x="299" y="1498"/>
                        <a:pt x="299" y="1460"/>
                      </a:cubicBezTo>
                      <a:cubicBezTo>
                        <a:pt x="299" y="1420"/>
                        <a:pt x="330" y="1389"/>
                        <a:pt x="369" y="1389"/>
                      </a:cubicBezTo>
                      <a:cubicBezTo>
                        <a:pt x="408" y="1389"/>
                        <a:pt x="439" y="1420"/>
                        <a:pt x="439" y="1460"/>
                      </a:cubicBezTo>
                      <a:cubicBezTo>
                        <a:pt x="439" y="1498"/>
                        <a:pt x="408" y="1530"/>
                        <a:pt x="369" y="1530"/>
                      </a:cubicBezTo>
                      <a:close/>
                      <a:moveTo>
                        <a:pt x="788" y="1762"/>
                      </a:moveTo>
                      <a:cubicBezTo>
                        <a:pt x="788" y="1698"/>
                        <a:pt x="736" y="1645"/>
                        <a:pt x="671" y="1645"/>
                      </a:cubicBezTo>
                      <a:cubicBezTo>
                        <a:pt x="606" y="1645"/>
                        <a:pt x="554" y="1698"/>
                        <a:pt x="554" y="1762"/>
                      </a:cubicBezTo>
                      <a:cubicBezTo>
                        <a:pt x="554" y="1827"/>
                        <a:pt x="606" y="1880"/>
                        <a:pt x="671" y="1880"/>
                      </a:cubicBezTo>
                      <a:cubicBezTo>
                        <a:pt x="736" y="1880"/>
                        <a:pt x="788" y="1827"/>
                        <a:pt x="788" y="1762"/>
                      </a:cubicBezTo>
                      <a:close/>
                      <a:moveTo>
                        <a:pt x="671" y="1833"/>
                      </a:moveTo>
                      <a:cubicBezTo>
                        <a:pt x="633" y="1833"/>
                        <a:pt x="601" y="1802"/>
                        <a:pt x="601" y="1762"/>
                      </a:cubicBezTo>
                      <a:cubicBezTo>
                        <a:pt x="601" y="1724"/>
                        <a:pt x="633" y="1692"/>
                        <a:pt x="671" y="1692"/>
                      </a:cubicBezTo>
                      <a:cubicBezTo>
                        <a:pt x="709" y="1692"/>
                        <a:pt x="741" y="1724"/>
                        <a:pt x="741" y="1762"/>
                      </a:cubicBezTo>
                      <a:cubicBezTo>
                        <a:pt x="741" y="1802"/>
                        <a:pt x="709" y="1833"/>
                        <a:pt x="671" y="1833"/>
                      </a:cubicBezTo>
                      <a:close/>
                      <a:moveTo>
                        <a:pt x="1076" y="1760"/>
                      </a:moveTo>
                      <a:cubicBezTo>
                        <a:pt x="1011" y="1760"/>
                        <a:pt x="959" y="1812"/>
                        <a:pt x="959" y="1878"/>
                      </a:cubicBezTo>
                      <a:cubicBezTo>
                        <a:pt x="959" y="1943"/>
                        <a:pt x="1011" y="1995"/>
                        <a:pt x="1076" y="1995"/>
                      </a:cubicBezTo>
                      <a:cubicBezTo>
                        <a:pt x="1140" y="1995"/>
                        <a:pt x="1193" y="1943"/>
                        <a:pt x="1193" y="1878"/>
                      </a:cubicBezTo>
                      <a:cubicBezTo>
                        <a:pt x="1193" y="1812"/>
                        <a:pt x="1140" y="1760"/>
                        <a:pt x="1076" y="1760"/>
                      </a:cubicBezTo>
                      <a:close/>
                      <a:moveTo>
                        <a:pt x="1076" y="1948"/>
                      </a:moveTo>
                      <a:cubicBezTo>
                        <a:pt x="1037" y="1948"/>
                        <a:pt x="1006" y="1916"/>
                        <a:pt x="1006" y="1878"/>
                      </a:cubicBezTo>
                      <a:cubicBezTo>
                        <a:pt x="1006" y="1839"/>
                        <a:pt x="1037" y="1807"/>
                        <a:pt x="1076" y="1807"/>
                      </a:cubicBezTo>
                      <a:cubicBezTo>
                        <a:pt x="1115" y="1807"/>
                        <a:pt x="1146" y="1839"/>
                        <a:pt x="1146" y="1878"/>
                      </a:cubicBezTo>
                      <a:cubicBezTo>
                        <a:pt x="1146" y="1916"/>
                        <a:pt x="1115" y="1948"/>
                        <a:pt x="1076" y="1948"/>
                      </a:cubicBezTo>
                      <a:close/>
                      <a:moveTo>
                        <a:pt x="1905" y="633"/>
                      </a:moveTo>
                      <a:cubicBezTo>
                        <a:pt x="1905" y="568"/>
                        <a:pt x="1853" y="515"/>
                        <a:pt x="1788" y="515"/>
                      </a:cubicBezTo>
                      <a:cubicBezTo>
                        <a:pt x="1723" y="515"/>
                        <a:pt x="1671" y="568"/>
                        <a:pt x="1671" y="633"/>
                      </a:cubicBezTo>
                      <a:cubicBezTo>
                        <a:pt x="1671" y="698"/>
                        <a:pt x="1723" y="750"/>
                        <a:pt x="1788" y="750"/>
                      </a:cubicBezTo>
                      <a:cubicBezTo>
                        <a:pt x="1853" y="750"/>
                        <a:pt x="1905" y="698"/>
                        <a:pt x="1905" y="633"/>
                      </a:cubicBezTo>
                      <a:close/>
                      <a:moveTo>
                        <a:pt x="1718" y="633"/>
                      </a:moveTo>
                      <a:cubicBezTo>
                        <a:pt x="1718" y="594"/>
                        <a:pt x="1750" y="562"/>
                        <a:pt x="1788" y="562"/>
                      </a:cubicBezTo>
                      <a:cubicBezTo>
                        <a:pt x="1826" y="562"/>
                        <a:pt x="1858" y="594"/>
                        <a:pt x="1858" y="633"/>
                      </a:cubicBezTo>
                      <a:cubicBezTo>
                        <a:pt x="1858" y="671"/>
                        <a:pt x="1826" y="703"/>
                        <a:pt x="1788" y="703"/>
                      </a:cubicBezTo>
                      <a:cubicBezTo>
                        <a:pt x="1750" y="703"/>
                        <a:pt x="1718" y="671"/>
                        <a:pt x="1718" y="633"/>
                      </a:cubicBezTo>
                      <a:close/>
                      <a:moveTo>
                        <a:pt x="261" y="1163"/>
                      </a:moveTo>
                      <a:cubicBezTo>
                        <a:pt x="326" y="1163"/>
                        <a:pt x="378" y="1110"/>
                        <a:pt x="378" y="1045"/>
                      </a:cubicBezTo>
                      <a:cubicBezTo>
                        <a:pt x="378" y="981"/>
                        <a:pt x="326" y="928"/>
                        <a:pt x="261" y="928"/>
                      </a:cubicBezTo>
                      <a:cubicBezTo>
                        <a:pt x="197" y="928"/>
                        <a:pt x="144" y="981"/>
                        <a:pt x="144" y="1045"/>
                      </a:cubicBezTo>
                      <a:cubicBezTo>
                        <a:pt x="144" y="1110"/>
                        <a:pt x="197" y="1163"/>
                        <a:pt x="261" y="1163"/>
                      </a:cubicBezTo>
                      <a:close/>
                      <a:moveTo>
                        <a:pt x="261" y="975"/>
                      </a:moveTo>
                      <a:cubicBezTo>
                        <a:pt x="301" y="975"/>
                        <a:pt x="332" y="1007"/>
                        <a:pt x="332" y="1045"/>
                      </a:cubicBezTo>
                      <a:cubicBezTo>
                        <a:pt x="332" y="1085"/>
                        <a:pt x="301" y="1116"/>
                        <a:pt x="261" y="1116"/>
                      </a:cubicBezTo>
                      <a:cubicBezTo>
                        <a:pt x="223" y="1116"/>
                        <a:pt x="191" y="1085"/>
                        <a:pt x="191" y="1045"/>
                      </a:cubicBezTo>
                      <a:cubicBezTo>
                        <a:pt x="191" y="1007"/>
                        <a:pt x="223" y="975"/>
                        <a:pt x="261" y="975"/>
                      </a:cubicBezTo>
                      <a:close/>
                      <a:moveTo>
                        <a:pt x="866" y="1462"/>
                      </a:moveTo>
                      <a:cubicBezTo>
                        <a:pt x="1036" y="1462"/>
                        <a:pt x="1174" y="1323"/>
                        <a:pt x="1174" y="1152"/>
                      </a:cubicBezTo>
                      <a:cubicBezTo>
                        <a:pt x="1174" y="981"/>
                        <a:pt x="1036" y="841"/>
                        <a:pt x="866" y="841"/>
                      </a:cubicBezTo>
                      <a:cubicBezTo>
                        <a:pt x="695" y="841"/>
                        <a:pt x="556" y="981"/>
                        <a:pt x="556" y="1152"/>
                      </a:cubicBezTo>
                      <a:cubicBezTo>
                        <a:pt x="556" y="1323"/>
                        <a:pt x="695" y="1462"/>
                        <a:pt x="866" y="1462"/>
                      </a:cubicBezTo>
                      <a:close/>
                      <a:moveTo>
                        <a:pt x="866" y="888"/>
                      </a:moveTo>
                      <a:cubicBezTo>
                        <a:pt x="1010" y="888"/>
                        <a:pt x="1127" y="1007"/>
                        <a:pt x="1127" y="1152"/>
                      </a:cubicBezTo>
                      <a:cubicBezTo>
                        <a:pt x="1127" y="1297"/>
                        <a:pt x="1010" y="1415"/>
                        <a:pt x="866" y="1415"/>
                      </a:cubicBezTo>
                      <a:cubicBezTo>
                        <a:pt x="721" y="1415"/>
                        <a:pt x="603" y="1297"/>
                        <a:pt x="603" y="1152"/>
                      </a:cubicBezTo>
                      <a:cubicBezTo>
                        <a:pt x="603" y="1007"/>
                        <a:pt x="721" y="888"/>
                        <a:pt x="866" y="888"/>
                      </a:cubicBezTo>
                      <a:close/>
                      <a:moveTo>
                        <a:pt x="762" y="426"/>
                      </a:moveTo>
                      <a:cubicBezTo>
                        <a:pt x="905" y="526"/>
                        <a:pt x="905" y="526"/>
                        <a:pt x="905" y="526"/>
                      </a:cubicBezTo>
                      <a:cubicBezTo>
                        <a:pt x="913" y="513"/>
                        <a:pt x="923" y="500"/>
                        <a:pt x="934" y="490"/>
                      </a:cubicBezTo>
                      <a:cubicBezTo>
                        <a:pt x="791" y="388"/>
                        <a:pt x="791" y="388"/>
                        <a:pt x="791" y="388"/>
                      </a:cubicBezTo>
                      <a:cubicBezTo>
                        <a:pt x="784" y="403"/>
                        <a:pt x="774" y="415"/>
                        <a:pt x="762" y="426"/>
                      </a:cubicBezTo>
                      <a:close/>
                      <a:moveTo>
                        <a:pt x="1055" y="357"/>
                      </a:moveTo>
                      <a:cubicBezTo>
                        <a:pt x="1055" y="432"/>
                        <a:pt x="1055" y="432"/>
                        <a:pt x="1055" y="432"/>
                      </a:cubicBezTo>
                      <a:cubicBezTo>
                        <a:pt x="1062" y="431"/>
                        <a:pt x="1070" y="431"/>
                        <a:pt x="1077" y="431"/>
                      </a:cubicBezTo>
                      <a:cubicBezTo>
                        <a:pt x="1086" y="431"/>
                        <a:pt x="1093" y="431"/>
                        <a:pt x="1102" y="432"/>
                      </a:cubicBezTo>
                      <a:cubicBezTo>
                        <a:pt x="1102" y="357"/>
                        <a:pt x="1102" y="357"/>
                        <a:pt x="1102" y="357"/>
                      </a:cubicBezTo>
                      <a:cubicBezTo>
                        <a:pt x="1093" y="358"/>
                        <a:pt x="1085" y="359"/>
                        <a:pt x="1076" y="359"/>
                      </a:cubicBezTo>
                      <a:cubicBezTo>
                        <a:pt x="1069" y="359"/>
                        <a:pt x="1061" y="358"/>
                        <a:pt x="1055" y="357"/>
                      </a:cubicBezTo>
                      <a:close/>
                      <a:moveTo>
                        <a:pt x="1370" y="388"/>
                      </a:moveTo>
                      <a:cubicBezTo>
                        <a:pt x="1222" y="491"/>
                        <a:pt x="1222" y="491"/>
                        <a:pt x="1222" y="491"/>
                      </a:cubicBezTo>
                      <a:cubicBezTo>
                        <a:pt x="1233" y="503"/>
                        <a:pt x="1242" y="514"/>
                        <a:pt x="1251" y="528"/>
                      </a:cubicBezTo>
                      <a:cubicBezTo>
                        <a:pt x="1399" y="426"/>
                        <a:pt x="1399" y="426"/>
                        <a:pt x="1399" y="426"/>
                      </a:cubicBezTo>
                      <a:cubicBezTo>
                        <a:pt x="1387" y="415"/>
                        <a:pt x="1377" y="402"/>
                        <a:pt x="1370" y="388"/>
                      </a:cubicBezTo>
                      <a:close/>
                      <a:moveTo>
                        <a:pt x="1762" y="1087"/>
                      </a:moveTo>
                      <a:cubicBezTo>
                        <a:pt x="1605" y="1160"/>
                        <a:pt x="1605" y="1160"/>
                        <a:pt x="1605" y="1160"/>
                      </a:cubicBezTo>
                      <a:cubicBezTo>
                        <a:pt x="1611" y="1173"/>
                        <a:pt x="1618" y="1188"/>
                        <a:pt x="1621" y="1203"/>
                      </a:cubicBezTo>
                      <a:cubicBezTo>
                        <a:pt x="1779" y="1131"/>
                        <a:pt x="1779" y="1131"/>
                        <a:pt x="1779" y="1131"/>
                      </a:cubicBezTo>
                      <a:cubicBezTo>
                        <a:pt x="1772" y="1117"/>
                        <a:pt x="1766" y="1102"/>
                        <a:pt x="1762" y="1087"/>
                      </a:cubicBezTo>
                      <a:close/>
                      <a:moveTo>
                        <a:pt x="1600" y="1357"/>
                      </a:moveTo>
                      <a:cubicBezTo>
                        <a:pt x="1595" y="1365"/>
                        <a:pt x="1591" y="1371"/>
                        <a:pt x="1587" y="1378"/>
                      </a:cubicBezTo>
                      <a:cubicBezTo>
                        <a:pt x="1652" y="1416"/>
                        <a:pt x="1652" y="1416"/>
                        <a:pt x="1652" y="1416"/>
                      </a:cubicBezTo>
                      <a:cubicBezTo>
                        <a:pt x="1654" y="1407"/>
                        <a:pt x="1657" y="1400"/>
                        <a:pt x="1662" y="1392"/>
                      </a:cubicBezTo>
                      <a:cubicBezTo>
                        <a:pt x="1666" y="1386"/>
                        <a:pt x="1670" y="1381"/>
                        <a:pt x="1674" y="1374"/>
                      </a:cubicBezTo>
                      <a:cubicBezTo>
                        <a:pt x="1610" y="1338"/>
                        <a:pt x="1610" y="1338"/>
                        <a:pt x="1610" y="1338"/>
                      </a:cubicBezTo>
                      <a:cubicBezTo>
                        <a:pt x="1607" y="1344"/>
                        <a:pt x="1604" y="1351"/>
                        <a:pt x="1600" y="1357"/>
                      </a:cubicBezTo>
                      <a:close/>
                      <a:moveTo>
                        <a:pt x="1429" y="1460"/>
                      </a:moveTo>
                      <a:cubicBezTo>
                        <a:pt x="1443" y="1639"/>
                        <a:pt x="1443" y="1639"/>
                        <a:pt x="1443" y="1639"/>
                      </a:cubicBezTo>
                      <a:cubicBezTo>
                        <a:pt x="1458" y="1635"/>
                        <a:pt x="1474" y="1633"/>
                        <a:pt x="1490" y="1633"/>
                      </a:cubicBezTo>
                      <a:cubicBezTo>
                        <a:pt x="1475" y="1453"/>
                        <a:pt x="1475" y="1453"/>
                        <a:pt x="1475" y="1453"/>
                      </a:cubicBezTo>
                      <a:cubicBezTo>
                        <a:pt x="1460" y="1457"/>
                        <a:pt x="1444" y="1459"/>
                        <a:pt x="1429" y="1460"/>
                      </a:cubicBezTo>
                      <a:close/>
                      <a:moveTo>
                        <a:pt x="664" y="154"/>
                      </a:moveTo>
                      <a:cubicBezTo>
                        <a:pt x="668" y="154"/>
                        <a:pt x="673" y="153"/>
                        <a:pt x="678" y="151"/>
                      </a:cubicBezTo>
                      <a:cubicBezTo>
                        <a:pt x="697" y="143"/>
                        <a:pt x="717" y="135"/>
                        <a:pt x="736" y="128"/>
                      </a:cubicBezTo>
                      <a:cubicBezTo>
                        <a:pt x="736" y="128"/>
                        <a:pt x="736" y="128"/>
                        <a:pt x="736" y="128"/>
                      </a:cubicBezTo>
                      <a:cubicBezTo>
                        <a:pt x="737" y="128"/>
                        <a:pt x="737" y="128"/>
                        <a:pt x="737" y="128"/>
                      </a:cubicBezTo>
                      <a:cubicBezTo>
                        <a:pt x="737" y="128"/>
                        <a:pt x="737" y="128"/>
                        <a:pt x="737" y="128"/>
                      </a:cubicBezTo>
                      <a:cubicBezTo>
                        <a:pt x="737" y="128"/>
                        <a:pt x="737" y="128"/>
                        <a:pt x="737" y="128"/>
                      </a:cubicBezTo>
                      <a:cubicBezTo>
                        <a:pt x="737" y="128"/>
                        <a:pt x="737" y="128"/>
                        <a:pt x="737" y="128"/>
                      </a:cubicBezTo>
                      <a:cubicBezTo>
                        <a:pt x="738" y="128"/>
                        <a:pt x="738" y="128"/>
                        <a:pt x="738" y="128"/>
                      </a:cubicBezTo>
                      <a:cubicBezTo>
                        <a:pt x="738" y="128"/>
                        <a:pt x="738" y="128"/>
                        <a:pt x="738" y="127"/>
                      </a:cubicBezTo>
                      <a:cubicBezTo>
                        <a:pt x="738" y="127"/>
                        <a:pt x="738" y="127"/>
                        <a:pt x="738" y="127"/>
                      </a:cubicBezTo>
                      <a:cubicBezTo>
                        <a:pt x="738" y="127"/>
                        <a:pt x="738" y="127"/>
                        <a:pt x="738" y="127"/>
                      </a:cubicBezTo>
                      <a:cubicBezTo>
                        <a:pt x="738" y="127"/>
                        <a:pt x="739" y="127"/>
                        <a:pt x="739" y="127"/>
                      </a:cubicBezTo>
                      <a:cubicBezTo>
                        <a:pt x="739" y="127"/>
                        <a:pt x="739" y="127"/>
                        <a:pt x="739" y="127"/>
                      </a:cubicBezTo>
                      <a:cubicBezTo>
                        <a:pt x="739" y="127"/>
                        <a:pt x="739" y="127"/>
                        <a:pt x="739" y="127"/>
                      </a:cubicBezTo>
                      <a:cubicBezTo>
                        <a:pt x="739" y="127"/>
                        <a:pt x="739" y="127"/>
                        <a:pt x="739" y="127"/>
                      </a:cubicBezTo>
                      <a:cubicBezTo>
                        <a:pt x="739" y="127"/>
                        <a:pt x="740" y="127"/>
                        <a:pt x="740" y="127"/>
                      </a:cubicBezTo>
                      <a:cubicBezTo>
                        <a:pt x="740" y="127"/>
                        <a:pt x="740" y="127"/>
                        <a:pt x="740" y="127"/>
                      </a:cubicBezTo>
                      <a:cubicBezTo>
                        <a:pt x="740" y="127"/>
                        <a:pt x="740" y="127"/>
                        <a:pt x="740" y="127"/>
                      </a:cubicBezTo>
                      <a:cubicBezTo>
                        <a:pt x="740" y="127"/>
                        <a:pt x="740" y="127"/>
                        <a:pt x="740" y="127"/>
                      </a:cubicBezTo>
                      <a:cubicBezTo>
                        <a:pt x="740" y="127"/>
                        <a:pt x="740" y="127"/>
                        <a:pt x="741" y="127"/>
                      </a:cubicBezTo>
                      <a:cubicBezTo>
                        <a:pt x="741" y="127"/>
                        <a:pt x="741" y="127"/>
                        <a:pt x="741" y="127"/>
                      </a:cubicBezTo>
                      <a:cubicBezTo>
                        <a:pt x="741" y="126"/>
                        <a:pt x="741" y="126"/>
                        <a:pt x="741" y="126"/>
                      </a:cubicBezTo>
                      <a:cubicBezTo>
                        <a:pt x="741" y="126"/>
                        <a:pt x="741" y="126"/>
                        <a:pt x="741" y="126"/>
                      </a:cubicBezTo>
                      <a:cubicBezTo>
                        <a:pt x="741" y="126"/>
                        <a:pt x="742" y="126"/>
                        <a:pt x="742" y="126"/>
                      </a:cubicBezTo>
                      <a:cubicBezTo>
                        <a:pt x="742" y="126"/>
                        <a:pt x="742" y="126"/>
                        <a:pt x="742" y="126"/>
                      </a:cubicBezTo>
                      <a:cubicBezTo>
                        <a:pt x="742" y="126"/>
                        <a:pt x="742" y="126"/>
                        <a:pt x="743" y="126"/>
                      </a:cubicBezTo>
                      <a:cubicBezTo>
                        <a:pt x="743" y="126"/>
                        <a:pt x="743" y="126"/>
                        <a:pt x="743" y="126"/>
                      </a:cubicBezTo>
                      <a:cubicBezTo>
                        <a:pt x="743" y="126"/>
                        <a:pt x="743" y="126"/>
                        <a:pt x="743" y="126"/>
                      </a:cubicBezTo>
                      <a:cubicBezTo>
                        <a:pt x="743" y="126"/>
                        <a:pt x="743" y="126"/>
                        <a:pt x="743" y="126"/>
                      </a:cubicBezTo>
                      <a:cubicBezTo>
                        <a:pt x="743" y="126"/>
                        <a:pt x="743" y="126"/>
                        <a:pt x="743" y="126"/>
                      </a:cubicBezTo>
                      <a:cubicBezTo>
                        <a:pt x="743" y="126"/>
                        <a:pt x="744" y="126"/>
                        <a:pt x="744" y="126"/>
                      </a:cubicBezTo>
                      <a:cubicBezTo>
                        <a:pt x="744" y="125"/>
                        <a:pt x="744" y="125"/>
                        <a:pt x="744" y="125"/>
                      </a:cubicBezTo>
                      <a:cubicBezTo>
                        <a:pt x="744" y="125"/>
                        <a:pt x="744" y="125"/>
                        <a:pt x="744" y="125"/>
                      </a:cubicBezTo>
                      <a:cubicBezTo>
                        <a:pt x="744" y="125"/>
                        <a:pt x="744" y="125"/>
                        <a:pt x="744" y="125"/>
                      </a:cubicBezTo>
                      <a:cubicBezTo>
                        <a:pt x="744" y="125"/>
                        <a:pt x="744" y="125"/>
                        <a:pt x="745" y="125"/>
                      </a:cubicBezTo>
                      <a:cubicBezTo>
                        <a:pt x="745" y="125"/>
                        <a:pt x="745" y="125"/>
                        <a:pt x="745" y="125"/>
                      </a:cubicBezTo>
                      <a:cubicBezTo>
                        <a:pt x="745" y="125"/>
                        <a:pt x="745" y="125"/>
                        <a:pt x="745" y="125"/>
                      </a:cubicBezTo>
                      <a:cubicBezTo>
                        <a:pt x="745" y="125"/>
                        <a:pt x="745" y="125"/>
                        <a:pt x="745" y="125"/>
                      </a:cubicBezTo>
                      <a:cubicBezTo>
                        <a:pt x="745" y="125"/>
                        <a:pt x="745" y="125"/>
                        <a:pt x="745" y="125"/>
                      </a:cubicBezTo>
                      <a:cubicBezTo>
                        <a:pt x="746" y="125"/>
                        <a:pt x="746" y="125"/>
                        <a:pt x="746" y="125"/>
                      </a:cubicBezTo>
                      <a:cubicBezTo>
                        <a:pt x="746" y="125"/>
                        <a:pt x="746" y="125"/>
                        <a:pt x="746" y="125"/>
                      </a:cubicBezTo>
                      <a:cubicBezTo>
                        <a:pt x="746" y="125"/>
                        <a:pt x="746" y="125"/>
                        <a:pt x="746" y="125"/>
                      </a:cubicBezTo>
                      <a:cubicBezTo>
                        <a:pt x="746" y="125"/>
                        <a:pt x="746" y="125"/>
                        <a:pt x="746" y="125"/>
                      </a:cubicBezTo>
                      <a:cubicBezTo>
                        <a:pt x="746" y="125"/>
                        <a:pt x="747" y="125"/>
                        <a:pt x="747" y="124"/>
                      </a:cubicBezTo>
                      <a:cubicBezTo>
                        <a:pt x="747" y="124"/>
                        <a:pt x="747" y="124"/>
                        <a:pt x="747" y="124"/>
                      </a:cubicBezTo>
                      <a:cubicBezTo>
                        <a:pt x="747" y="124"/>
                        <a:pt x="747" y="124"/>
                        <a:pt x="747" y="124"/>
                      </a:cubicBezTo>
                      <a:cubicBezTo>
                        <a:pt x="747" y="124"/>
                        <a:pt x="747" y="124"/>
                        <a:pt x="747" y="124"/>
                      </a:cubicBezTo>
                      <a:cubicBezTo>
                        <a:pt x="747" y="124"/>
                        <a:pt x="747" y="124"/>
                        <a:pt x="747" y="124"/>
                      </a:cubicBezTo>
                      <a:cubicBezTo>
                        <a:pt x="748" y="124"/>
                        <a:pt x="748" y="124"/>
                        <a:pt x="748" y="124"/>
                      </a:cubicBezTo>
                      <a:cubicBezTo>
                        <a:pt x="748" y="124"/>
                        <a:pt x="748" y="124"/>
                        <a:pt x="748" y="124"/>
                      </a:cubicBezTo>
                      <a:cubicBezTo>
                        <a:pt x="749" y="124"/>
                        <a:pt x="750" y="123"/>
                        <a:pt x="751" y="123"/>
                      </a:cubicBezTo>
                      <a:cubicBezTo>
                        <a:pt x="751" y="123"/>
                        <a:pt x="751" y="123"/>
                        <a:pt x="751" y="123"/>
                      </a:cubicBezTo>
                      <a:cubicBezTo>
                        <a:pt x="764" y="119"/>
                        <a:pt x="778" y="114"/>
                        <a:pt x="791" y="111"/>
                      </a:cubicBezTo>
                      <a:cubicBezTo>
                        <a:pt x="810" y="105"/>
                        <a:pt x="821" y="85"/>
                        <a:pt x="815" y="66"/>
                      </a:cubicBezTo>
                      <a:cubicBezTo>
                        <a:pt x="811" y="50"/>
                        <a:pt x="796" y="40"/>
                        <a:pt x="781" y="40"/>
                      </a:cubicBezTo>
                      <a:cubicBezTo>
                        <a:pt x="777" y="40"/>
                        <a:pt x="774" y="41"/>
                        <a:pt x="771" y="41"/>
                      </a:cubicBezTo>
                      <a:cubicBezTo>
                        <a:pt x="730" y="53"/>
                        <a:pt x="689" y="68"/>
                        <a:pt x="650" y="84"/>
                      </a:cubicBezTo>
                      <a:cubicBezTo>
                        <a:pt x="631" y="92"/>
                        <a:pt x="623" y="113"/>
                        <a:pt x="630" y="132"/>
                      </a:cubicBezTo>
                      <a:cubicBezTo>
                        <a:pt x="636" y="145"/>
                        <a:pt x="650" y="154"/>
                        <a:pt x="664" y="154"/>
                      </a:cubicBezTo>
                      <a:close/>
                      <a:moveTo>
                        <a:pt x="2095" y="1117"/>
                      </a:moveTo>
                      <a:cubicBezTo>
                        <a:pt x="2094" y="1117"/>
                        <a:pt x="2093" y="1117"/>
                        <a:pt x="2092" y="1117"/>
                      </a:cubicBezTo>
                      <a:cubicBezTo>
                        <a:pt x="2074" y="1117"/>
                        <a:pt x="2058" y="1131"/>
                        <a:pt x="2056" y="1149"/>
                      </a:cubicBezTo>
                      <a:cubicBezTo>
                        <a:pt x="2055" y="1159"/>
                        <a:pt x="2055" y="1168"/>
                        <a:pt x="2054" y="1177"/>
                      </a:cubicBezTo>
                      <a:cubicBezTo>
                        <a:pt x="2054" y="1177"/>
                        <a:pt x="2054" y="1177"/>
                        <a:pt x="2053" y="1177"/>
                      </a:cubicBezTo>
                      <a:cubicBezTo>
                        <a:pt x="2053" y="1178"/>
                        <a:pt x="2053" y="1178"/>
                        <a:pt x="2053" y="1179"/>
                      </a:cubicBezTo>
                      <a:cubicBezTo>
                        <a:pt x="2053" y="1179"/>
                        <a:pt x="2053" y="1179"/>
                        <a:pt x="2053" y="1179"/>
                      </a:cubicBezTo>
                      <a:cubicBezTo>
                        <a:pt x="2053" y="1179"/>
                        <a:pt x="2053" y="1179"/>
                        <a:pt x="2053" y="1179"/>
                      </a:cubicBezTo>
                      <a:cubicBezTo>
                        <a:pt x="2053" y="1179"/>
                        <a:pt x="2053" y="1179"/>
                        <a:pt x="2053" y="1179"/>
                      </a:cubicBezTo>
                      <a:cubicBezTo>
                        <a:pt x="2053" y="1179"/>
                        <a:pt x="2053" y="1180"/>
                        <a:pt x="2053" y="1180"/>
                      </a:cubicBezTo>
                      <a:cubicBezTo>
                        <a:pt x="2053" y="1180"/>
                        <a:pt x="2053" y="1180"/>
                        <a:pt x="2053" y="1180"/>
                      </a:cubicBezTo>
                      <a:cubicBezTo>
                        <a:pt x="2053" y="1180"/>
                        <a:pt x="2053" y="1180"/>
                        <a:pt x="2053" y="1181"/>
                      </a:cubicBezTo>
                      <a:cubicBezTo>
                        <a:pt x="2053" y="1181"/>
                        <a:pt x="2053" y="1181"/>
                        <a:pt x="2053" y="1181"/>
                      </a:cubicBezTo>
                      <a:cubicBezTo>
                        <a:pt x="2053" y="1181"/>
                        <a:pt x="2053" y="1181"/>
                        <a:pt x="2053" y="1181"/>
                      </a:cubicBezTo>
                      <a:cubicBezTo>
                        <a:pt x="2053" y="1181"/>
                        <a:pt x="2053" y="1181"/>
                        <a:pt x="2053" y="1181"/>
                      </a:cubicBezTo>
                      <a:cubicBezTo>
                        <a:pt x="2053" y="1181"/>
                        <a:pt x="2053" y="1181"/>
                        <a:pt x="2053" y="1181"/>
                      </a:cubicBezTo>
                      <a:cubicBezTo>
                        <a:pt x="2053" y="1182"/>
                        <a:pt x="2053" y="1182"/>
                        <a:pt x="2053" y="1182"/>
                      </a:cubicBezTo>
                      <a:cubicBezTo>
                        <a:pt x="2053" y="1182"/>
                        <a:pt x="2053" y="1182"/>
                        <a:pt x="2053" y="1182"/>
                      </a:cubicBezTo>
                      <a:cubicBezTo>
                        <a:pt x="2053" y="1182"/>
                        <a:pt x="2053" y="1182"/>
                        <a:pt x="2053" y="1183"/>
                      </a:cubicBezTo>
                      <a:cubicBezTo>
                        <a:pt x="2053" y="1183"/>
                        <a:pt x="2053" y="1183"/>
                        <a:pt x="2053" y="1183"/>
                      </a:cubicBezTo>
                      <a:cubicBezTo>
                        <a:pt x="2053" y="1183"/>
                        <a:pt x="2053" y="1183"/>
                        <a:pt x="2053" y="1183"/>
                      </a:cubicBezTo>
                      <a:cubicBezTo>
                        <a:pt x="2053" y="1183"/>
                        <a:pt x="2053" y="1183"/>
                        <a:pt x="2053" y="1183"/>
                      </a:cubicBezTo>
                      <a:cubicBezTo>
                        <a:pt x="2053" y="1183"/>
                        <a:pt x="2053" y="1183"/>
                        <a:pt x="2053" y="1183"/>
                      </a:cubicBezTo>
                      <a:cubicBezTo>
                        <a:pt x="2053" y="1184"/>
                        <a:pt x="2053" y="1184"/>
                        <a:pt x="2053" y="1184"/>
                      </a:cubicBezTo>
                      <a:cubicBezTo>
                        <a:pt x="2053" y="1184"/>
                        <a:pt x="2053" y="1184"/>
                        <a:pt x="2053" y="1184"/>
                      </a:cubicBezTo>
                      <a:cubicBezTo>
                        <a:pt x="2053" y="1184"/>
                        <a:pt x="2053" y="1184"/>
                        <a:pt x="2053" y="1184"/>
                      </a:cubicBezTo>
                      <a:cubicBezTo>
                        <a:pt x="2053" y="1184"/>
                        <a:pt x="2053" y="1184"/>
                        <a:pt x="2053" y="1184"/>
                      </a:cubicBezTo>
                      <a:cubicBezTo>
                        <a:pt x="2053" y="1185"/>
                        <a:pt x="2053" y="1185"/>
                        <a:pt x="2053" y="1185"/>
                      </a:cubicBezTo>
                      <a:cubicBezTo>
                        <a:pt x="2053" y="1185"/>
                        <a:pt x="2053" y="1185"/>
                        <a:pt x="2053" y="1185"/>
                      </a:cubicBezTo>
                      <a:cubicBezTo>
                        <a:pt x="2053" y="1185"/>
                        <a:pt x="2053" y="1185"/>
                        <a:pt x="2053" y="1185"/>
                      </a:cubicBezTo>
                      <a:cubicBezTo>
                        <a:pt x="2053" y="1185"/>
                        <a:pt x="2053" y="1185"/>
                        <a:pt x="2053" y="1185"/>
                      </a:cubicBezTo>
                      <a:cubicBezTo>
                        <a:pt x="2053" y="1185"/>
                        <a:pt x="2053" y="1186"/>
                        <a:pt x="2053" y="1186"/>
                      </a:cubicBezTo>
                      <a:cubicBezTo>
                        <a:pt x="2053" y="1186"/>
                        <a:pt x="2053" y="1186"/>
                        <a:pt x="2053" y="1186"/>
                      </a:cubicBezTo>
                      <a:cubicBezTo>
                        <a:pt x="2053" y="1186"/>
                        <a:pt x="2052" y="1186"/>
                        <a:pt x="2052" y="1186"/>
                      </a:cubicBezTo>
                      <a:cubicBezTo>
                        <a:pt x="2052" y="1186"/>
                        <a:pt x="2052" y="1186"/>
                        <a:pt x="2052" y="1186"/>
                      </a:cubicBezTo>
                      <a:cubicBezTo>
                        <a:pt x="2052" y="1186"/>
                        <a:pt x="2052" y="1186"/>
                        <a:pt x="2052" y="1187"/>
                      </a:cubicBezTo>
                      <a:cubicBezTo>
                        <a:pt x="2052" y="1187"/>
                        <a:pt x="2052" y="1187"/>
                        <a:pt x="2052" y="1187"/>
                      </a:cubicBezTo>
                      <a:cubicBezTo>
                        <a:pt x="2052" y="1187"/>
                        <a:pt x="2052" y="1187"/>
                        <a:pt x="2052" y="1187"/>
                      </a:cubicBezTo>
                      <a:cubicBezTo>
                        <a:pt x="2052" y="1187"/>
                        <a:pt x="2052" y="1187"/>
                        <a:pt x="2052" y="1187"/>
                      </a:cubicBezTo>
                      <a:cubicBezTo>
                        <a:pt x="2052" y="1187"/>
                        <a:pt x="2052" y="1187"/>
                        <a:pt x="2052" y="1187"/>
                      </a:cubicBezTo>
                      <a:cubicBezTo>
                        <a:pt x="2052" y="1187"/>
                        <a:pt x="2052" y="1188"/>
                        <a:pt x="2052" y="1188"/>
                      </a:cubicBezTo>
                      <a:cubicBezTo>
                        <a:pt x="2052" y="1188"/>
                        <a:pt x="2052" y="1188"/>
                        <a:pt x="2052" y="1188"/>
                      </a:cubicBezTo>
                      <a:cubicBezTo>
                        <a:pt x="2052" y="1188"/>
                        <a:pt x="2052" y="1188"/>
                        <a:pt x="2052" y="1188"/>
                      </a:cubicBezTo>
                      <a:cubicBezTo>
                        <a:pt x="2052" y="1188"/>
                        <a:pt x="2052" y="1188"/>
                        <a:pt x="2052" y="1188"/>
                      </a:cubicBezTo>
                      <a:cubicBezTo>
                        <a:pt x="2052" y="1189"/>
                        <a:pt x="2052" y="1189"/>
                        <a:pt x="2052" y="1189"/>
                      </a:cubicBezTo>
                      <a:cubicBezTo>
                        <a:pt x="2052" y="1189"/>
                        <a:pt x="2052" y="1189"/>
                        <a:pt x="2052" y="1189"/>
                      </a:cubicBezTo>
                      <a:cubicBezTo>
                        <a:pt x="2052" y="1189"/>
                        <a:pt x="2052" y="1189"/>
                        <a:pt x="2052" y="1189"/>
                      </a:cubicBezTo>
                      <a:cubicBezTo>
                        <a:pt x="2052" y="1189"/>
                        <a:pt x="2052" y="1189"/>
                        <a:pt x="2052" y="1189"/>
                      </a:cubicBezTo>
                      <a:cubicBezTo>
                        <a:pt x="2052" y="1189"/>
                        <a:pt x="2052" y="1189"/>
                        <a:pt x="2052" y="1189"/>
                      </a:cubicBezTo>
                      <a:cubicBezTo>
                        <a:pt x="2052" y="1190"/>
                        <a:pt x="2052" y="1190"/>
                        <a:pt x="2052" y="1190"/>
                      </a:cubicBezTo>
                      <a:cubicBezTo>
                        <a:pt x="2052" y="1190"/>
                        <a:pt x="2052" y="1190"/>
                        <a:pt x="2052" y="1190"/>
                      </a:cubicBezTo>
                      <a:cubicBezTo>
                        <a:pt x="2052" y="1190"/>
                        <a:pt x="2052" y="1190"/>
                        <a:pt x="2052" y="1190"/>
                      </a:cubicBezTo>
                      <a:cubicBezTo>
                        <a:pt x="2052" y="1190"/>
                        <a:pt x="2052" y="1190"/>
                        <a:pt x="2052" y="1191"/>
                      </a:cubicBezTo>
                      <a:cubicBezTo>
                        <a:pt x="2052" y="1191"/>
                        <a:pt x="2052" y="1191"/>
                        <a:pt x="2052" y="1191"/>
                      </a:cubicBezTo>
                      <a:cubicBezTo>
                        <a:pt x="2052" y="1191"/>
                        <a:pt x="2052" y="1191"/>
                        <a:pt x="2052" y="1191"/>
                      </a:cubicBezTo>
                      <a:cubicBezTo>
                        <a:pt x="2052" y="1191"/>
                        <a:pt x="2052" y="1191"/>
                        <a:pt x="2052" y="1191"/>
                      </a:cubicBezTo>
                      <a:cubicBezTo>
                        <a:pt x="2052" y="1191"/>
                        <a:pt x="2052" y="1191"/>
                        <a:pt x="2052" y="1191"/>
                      </a:cubicBezTo>
                      <a:cubicBezTo>
                        <a:pt x="2052" y="1191"/>
                        <a:pt x="2052" y="1191"/>
                        <a:pt x="2052" y="1192"/>
                      </a:cubicBezTo>
                      <a:cubicBezTo>
                        <a:pt x="2052" y="1192"/>
                        <a:pt x="2052" y="1192"/>
                        <a:pt x="2052" y="1192"/>
                      </a:cubicBezTo>
                      <a:cubicBezTo>
                        <a:pt x="2052" y="1192"/>
                        <a:pt x="2052" y="1193"/>
                        <a:pt x="2052" y="1193"/>
                      </a:cubicBezTo>
                      <a:cubicBezTo>
                        <a:pt x="2052" y="1193"/>
                        <a:pt x="2052" y="1193"/>
                        <a:pt x="2052" y="1193"/>
                      </a:cubicBezTo>
                      <a:cubicBezTo>
                        <a:pt x="2052" y="1193"/>
                        <a:pt x="2052" y="1193"/>
                        <a:pt x="2052" y="1193"/>
                      </a:cubicBezTo>
                      <a:cubicBezTo>
                        <a:pt x="2052" y="1193"/>
                        <a:pt x="2052" y="1193"/>
                        <a:pt x="2052" y="1193"/>
                      </a:cubicBezTo>
                      <a:cubicBezTo>
                        <a:pt x="2052" y="1193"/>
                        <a:pt x="2052" y="1193"/>
                        <a:pt x="2052" y="1193"/>
                      </a:cubicBezTo>
                      <a:cubicBezTo>
                        <a:pt x="2052" y="1194"/>
                        <a:pt x="2051" y="1194"/>
                        <a:pt x="2051" y="1195"/>
                      </a:cubicBezTo>
                      <a:cubicBezTo>
                        <a:pt x="2051" y="1195"/>
                        <a:pt x="2051" y="1195"/>
                        <a:pt x="2051" y="1195"/>
                      </a:cubicBezTo>
                      <a:cubicBezTo>
                        <a:pt x="2051" y="1195"/>
                        <a:pt x="2051" y="1195"/>
                        <a:pt x="2051" y="1195"/>
                      </a:cubicBezTo>
                      <a:cubicBezTo>
                        <a:pt x="2051" y="1195"/>
                        <a:pt x="2051" y="1195"/>
                        <a:pt x="2051" y="1195"/>
                      </a:cubicBezTo>
                      <a:cubicBezTo>
                        <a:pt x="2049" y="1215"/>
                        <a:pt x="2045" y="1235"/>
                        <a:pt x="2042" y="1255"/>
                      </a:cubicBezTo>
                      <a:cubicBezTo>
                        <a:pt x="2041" y="1255"/>
                        <a:pt x="2041" y="1255"/>
                        <a:pt x="2041" y="1255"/>
                      </a:cubicBezTo>
                      <a:cubicBezTo>
                        <a:pt x="2041" y="1256"/>
                        <a:pt x="2041" y="1257"/>
                        <a:pt x="2041" y="1257"/>
                      </a:cubicBezTo>
                      <a:cubicBezTo>
                        <a:pt x="2041" y="1257"/>
                        <a:pt x="2041" y="1257"/>
                        <a:pt x="2041" y="1257"/>
                      </a:cubicBezTo>
                      <a:cubicBezTo>
                        <a:pt x="2041" y="1257"/>
                        <a:pt x="2041" y="1258"/>
                        <a:pt x="2041" y="1258"/>
                      </a:cubicBezTo>
                      <a:cubicBezTo>
                        <a:pt x="2041" y="1258"/>
                        <a:pt x="2041" y="1258"/>
                        <a:pt x="2041" y="1258"/>
                      </a:cubicBezTo>
                      <a:cubicBezTo>
                        <a:pt x="2041" y="1258"/>
                        <a:pt x="2041" y="1258"/>
                        <a:pt x="2041" y="1259"/>
                      </a:cubicBezTo>
                      <a:cubicBezTo>
                        <a:pt x="2041" y="1259"/>
                        <a:pt x="2041" y="1259"/>
                        <a:pt x="2041" y="1259"/>
                      </a:cubicBezTo>
                      <a:cubicBezTo>
                        <a:pt x="2041" y="1259"/>
                        <a:pt x="2041" y="1259"/>
                        <a:pt x="2041" y="1259"/>
                      </a:cubicBezTo>
                      <a:cubicBezTo>
                        <a:pt x="2041" y="1259"/>
                        <a:pt x="2041" y="1259"/>
                        <a:pt x="2041" y="1259"/>
                      </a:cubicBezTo>
                      <a:cubicBezTo>
                        <a:pt x="2041" y="1259"/>
                        <a:pt x="2041" y="1259"/>
                        <a:pt x="2041" y="1260"/>
                      </a:cubicBezTo>
                      <a:cubicBezTo>
                        <a:pt x="2041" y="1260"/>
                        <a:pt x="2041" y="1260"/>
                        <a:pt x="2041" y="1260"/>
                      </a:cubicBezTo>
                      <a:cubicBezTo>
                        <a:pt x="2041" y="1260"/>
                        <a:pt x="2041" y="1260"/>
                        <a:pt x="2041" y="1260"/>
                      </a:cubicBezTo>
                      <a:cubicBezTo>
                        <a:pt x="2041" y="1260"/>
                        <a:pt x="2041" y="1260"/>
                        <a:pt x="2041" y="1260"/>
                      </a:cubicBezTo>
                      <a:cubicBezTo>
                        <a:pt x="2041" y="1260"/>
                        <a:pt x="2041" y="1260"/>
                        <a:pt x="2040" y="1261"/>
                      </a:cubicBezTo>
                      <a:cubicBezTo>
                        <a:pt x="2040" y="1261"/>
                        <a:pt x="2040" y="1261"/>
                        <a:pt x="2040" y="1261"/>
                      </a:cubicBezTo>
                      <a:cubicBezTo>
                        <a:pt x="2040" y="1261"/>
                        <a:pt x="2040" y="1261"/>
                        <a:pt x="2040" y="1261"/>
                      </a:cubicBezTo>
                      <a:cubicBezTo>
                        <a:pt x="2040" y="1261"/>
                        <a:pt x="2040" y="1261"/>
                        <a:pt x="2040" y="1261"/>
                      </a:cubicBezTo>
                      <a:cubicBezTo>
                        <a:pt x="2040" y="1261"/>
                        <a:pt x="2040" y="1261"/>
                        <a:pt x="2040" y="1261"/>
                      </a:cubicBezTo>
                      <a:cubicBezTo>
                        <a:pt x="2040" y="1261"/>
                        <a:pt x="2040" y="1262"/>
                        <a:pt x="2040" y="1262"/>
                      </a:cubicBezTo>
                      <a:cubicBezTo>
                        <a:pt x="2040" y="1262"/>
                        <a:pt x="2040" y="1262"/>
                        <a:pt x="2040" y="1262"/>
                      </a:cubicBezTo>
                      <a:cubicBezTo>
                        <a:pt x="2040" y="1262"/>
                        <a:pt x="2040" y="1262"/>
                        <a:pt x="2040" y="1262"/>
                      </a:cubicBezTo>
                      <a:cubicBezTo>
                        <a:pt x="2040" y="1262"/>
                        <a:pt x="2040" y="1262"/>
                        <a:pt x="2040" y="1262"/>
                      </a:cubicBezTo>
                      <a:cubicBezTo>
                        <a:pt x="2040" y="1262"/>
                        <a:pt x="2040" y="1262"/>
                        <a:pt x="2040" y="1263"/>
                      </a:cubicBezTo>
                      <a:cubicBezTo>
                        <a:pt x="2040" y="1263"/>
                        <a:pt x="2040" y="1263"/>
                        <a:pt x="2040" y="1263"/>
                      </a:cubicBezTo>
                      <a:cubicBezTo>
                        <a:pt x="2040" y="1263"/>
                        <a:pt x="2040" y="1263"/>
                        <a:pt x="2040" y="1263"/>
                      </a:cubicBezTo>
                      <a:cubicBezTo>
                        <a:pt x="2040" y="1263"/>
                        <a:pt x="2040" y="1263"/>
                        <a:pt x="2040" y="1263"/>
                      </a:cubicBezTo>
                      <a:cubicBezTo>
                        <a:pt x="2040" y="1263"/>
                        <a:pt x="2040" y="1263"/>
                        <a:pt x="2040" y="1263"/>
                      </a:cubicBezTo>
                      <a:cubicBezTo>
                        <a:pt x="2040" y="1263"/>
                        <a:pt x="2040" y="1264"/>
                        <a:pt x="2040" y="1264"/>
                      </a:cubicBezTo>
                      <a:cubicBezTo>
                        <a:pt x="2040" y="1264"/>
                        <a:pt x="2040" y="1264"/>
                        <a:pt x="2040" y="1264"/>
                      </a:cubicBezTo>
                      <a:cubicBezTo>
                        <a:pt x="2040" y="1264"/>
                        <a:pt x="2040" y="1264"/>
                        <a:pt x="2040" y="1264"/>
                      </a:cubicBezTo>
                      <a:cubicBezTo>
                        <a:pt x="2040" y="1264"/>
                        <a:pt x="2040" y="1264"/>
                        <a:pt x="2040" y="1264"/>
                      </a:cubicBezTo>
                      <a:cubicBezTo>
                        <a:pt x="2040" y="1264"/>
                        <a:pt x="2040" y="1264"/>
                        <a:pt x="2040" y="1265"/>
                      </a:cubicBezTo>
                      <a:cubicBezTo>
                        <a:pt x="2040" y="1265"/>
                        <a:pt x="2040" y="1265"/>
                        <a:pt x="2040" y="1265"/>
                      </a:cubicBezTo>
                      <a:cubicBezTo>
                        <a:pt x="2040" y="1265"/>
                        <a:pt x="2040" y="1265"/>
                        <a:pt x="2040" y="1265"/>
                      </a:cubicBezTo>
                      <a:cubicBezTo>
                        <a:pt x="2040" y="1265"/>
                        <a:pt x="2040" y="1265"/>
                        <a:pt x="2040" y="1265"/>
                      </a:cubicBezTo>
                      <a:cubicBezTo>
                        <a:pt x="2040" y="1265"/>
                        <a:pt x="2040" y="1265"/>
                        <a:pt x="2040" y="1265"/>
                      </a:cubicBezTo>
                      <a:cubicBezTo>
                        <a:pt x="2039" y="1266"/>
                        <a:pt x="2039" y="1266"/>
                        <a:pt x="2039" y="1267"/>
                      </a:cubicBezTo>
                      <a:cubicBezTo>
                        <a:pt x="2039" y="1267"/>
                        <a:pt x="2039" y="1267"/>
                        <a:pt x="2039" y="1267"/>
                      </a:cubicBezTo>
                      <a:cubicBezTo>
                        <a:pt x="2039" y="1267"/>
                        <a:pt x="2039" y="1267"/>
                        <a:pt x="2039" y="1267"/>
                      </a:cubicBezTo>
                      <a:cubicBezTo>
                        <a:pt x="2039" y="1267"/>
                        <a:pt x="2039" y="1267"/>
                        <a:pt x="2039" y="1267"/>
                      </a:cubicBezTo>
                      <a:cubicBezTo>
                        <a:pt x="2039" y="1268"/>
                        <a:pt x="2039" y="1268"/>
                        <a:pt x="2039" y="1268"/>
                      </a:cubicBezTo>
                      <a:cubicBezTo>
                        <a:pt x="2035" y="1288"/>
                        <a:pt x="2047" y="1307"/>
                        <a:pt x="2067" y="1311"/>
                      </a:cubicBezTo>
                      <a:cubicBezTo>
                        <a:pt x="2069" y="1311"/>
                        <a:pt x="2072" y="1312"/>
                        <a:pt x="2074" y="1312"/>
                      </a:cubicBezTo>
                      <a:cubicBezTo>
                        <a:pt x="2091" y="1312"/>
                        <a:pt x="2106" y="1300"/>
                        <a:pt x="2109" y="1283"/>
                      </a:cubicBezTo>
                      <a:cubicBezTo>
                        <a:pt x="2118" y="1241"/>
                        <a:pt x="2124" y="1198"/>
                        <a:pt x="2128" y="1156"/>
                      </a:cubicBezTo>
                      <a:cubicBezTo>
                        <a:pt x="2130" y="1136"/>
                        <a:pt x="2115" y="1118"/>
                        <a:pt x="2095" y="1117"/>
                      </a:cubicBezTo>
                      <a:close/>
                      <a:moveTo>
                        <a:pt x="2040" y="871"/>
                      </a:moveTo>
                      <a:cubicBezTo>
                        <a:pt x="2042" y="879"/>
                        <a:pt x="2044" y="888"/>
                        <a:pt x="2045" y="896"/>
                      </a:cubicBezTo>
                      <a:cubicBezTo>
                        <a:pt x="2045" y="896"/>
                        <a:pt x="2045" y="896"/>
                        <a:pt x="2045" y="896"/>
                      </a:cubicBezTo>
                      <a:cubicBezTo>
                        <a:pt x="2045" y="897"/>
                        <a:pt x="2045" y="897"/>
                        <a:pt x="2045" y="898"/>
                      </a:cubicBezTo>
                      <a:cubicBezTo>
                        <a:pt x="2045" y="898"/>
                        <a:pt x="2045" y="898"/>
                        <a:pt x="2045" y="898"/>
                      </a:cubicBezTo>
                      <a:cubicBezTo>
                        <a:pt x="2045" y="898"/>
                        <a:pt x="2045" y="898"/>
                        <a:pt x="2045" y="898"/>
                      </a:cubicBezTo>
                      <a:cubicBezTo>
                        <a:pt x="2045" y="898"/>
                        <a:pt x="2045" y="898"/>
                        <a:pt x="2045" y="898"/>
                      </a:cubicBezTo>
                      <a:cubicBezTo>
                        <a:pt x="2045" y="898"/>
                        <a:pt x="2045" y="898"/>
                        <a:pt x="2045" y="898"/>
                      </a:cubicBezTo>
                      <a:cubicBezTo>
                        <a:pt x="2045" y="898"/>
                        <a:pt x="2045" y="898"/>
                        <a:pt x="2045" y="899"/>
                      </a:cubicBezTo>
                      <a:cubicBezTo>
                        <a:pt x="2046" y="899"/>
                        <a:pt x="2046" y="899"/>
                        <a:pt x="2046" y="899"/>
                      </a:cubicBezTo>
                      <a:cubicBezTo>
                        <a:pt x="2046" y="899"/>
                        <a:pt x="2046" y="899"/>
                        <a:pt x="2046" y="899"/>
                      </a:cubicBezTo>
                      <a:cubicBezTo>
                        <a:pt x="2046" y="900"/>
                        <a:pt x="2046" y="900"/>
                        <a:pt x="2046" y="900"/>
                      </a:cubicBezTo>
                      <a:cubicBezTo>
                        <a:pt x="2046" y="900"/>
                        <a:pt x="2046" y="900"/>
                        <a:pt x="2046" y="900"/>
                      </a:cubicBezTo>
                      <a:cubicBezTo>
                        <a:pt x="2046" y="900"/>
                        <a:pt x="2046" y="900"/>
                        <a:pt x="2046" y="900"/>
                      </a:cubicBezTo>
                      <a:cubicBezTo>
                        <a:pt x="2046" y="900"/>
                        <a:pt x="2046" y="900"/>
                        <a:pt x="2046" y="900"/>
                      </a:cubicBezTo>
                      <a:cubicBezTo>
                        <a:pt x="2046" y="901"/>
                        <a:pt x="2046" y="901"/>
                        <a:pt x="2046" y="901"/>
                      </a:cubicBezTo>
                      <a:cubicBezTo>
                        <a:pt x="2046" y="901"/>
                        <a:pt x="2046" y="901"/>
                        <a:pt x="2046" y="901"/>
                      </a:cubicBezTo>
                      <a:cubicBezTo>
                        <a:pt x="2046" y="901"/>
                        <a:pt x="2046" y="901"/>
                        <a:pt x="2046" y="901"/>
                      </a:cubicBezTo>
                      <a:cubicBezTo>
                        <a:pt x="2046" y="901"/>
                        <a:pt x="2046" y="901"/>
                        <a:pt x="2046" y="901"/>
                      </a:cubicBezTo>
                      <a:cubicBezTo>
                        <a:pt x="2046" y="901"/>
                        <a:pt x="2046" y="902"/>
                        <a:pt x="2046" y="902"/>
                      </a:cubicBezTo>
                      <a:cubicBezTo>
                        <a:pt x="2046" y="902"/>
                        <a:pt x="2046" y="902"/>
                        <a:pt x="2046" y="902"/>
                      </a:cubicBezTo>
                      <a:cubicBezTo>
                        <a:pt x="2046" y="902"/>
                        <a:pt x="2046" y="902"/>
                        <a:pt x="2046" y="902"/>
                      </a:cubicBezTo>
                      <a:cubicBezTo>
                        <a:pt x="2046" y="902"/>
                        <a:pt x="2046" y="902"/>
                        <a:pt x="2046" y="902"/>
                      </a:cubicBezTo>
                      <a:cubicBezTo>
                        <a:pt x="2046" y="902"/>
                        <a:pt x="2046" y="903"/>
                        <a:pt x="2046" y="903"/>
                      </a:cubicBezTo>
                      <a:cubicBezTo>
                        <a:pt x="2046" y="903"/>
                        <a:pt x="2046" y="903"/>
                        <a:pt x="2046" y="903"/>
                      </a:cubicBezTo>
                      <a:cubicBezTo>
                        <a:pt x="2046" y="903"/>
                        <a:pt x="2046" y="903"/>
                        <a:pt x="2046" y="903"/>
                      </a:cubicBezTo>
                      <a:cubicBezTo>
                        <a:pt x="2046" y="903"/>
                        <a:pt x="2046" y="903"/>
                        <a:pt x="2046" y="903"/>
                      </a:cubicBezTo>
                      <a:cubicBezTo>
                        <a:pt x="2046" y="903"/>
                        <a:pt x="2046" y="903"/>
                        <a:pt x="2046" y="903"/>
                      </a:cubicBezTo>
                      <a:cubicBezTo>
                        <a:pt x="2046" y="904"/>
                        <a:pt x="2046" y="904"/>
                        <a:pt x="2046" y="904"/>
                      </a:cubicBezTo>
                      <a:cubicBezTo>
                        <a:pt x="2046" y="904"/>
                        <a:pt x="2046" y="904"/>
                        <a:pt x="2046" y="904"/>
                      </a:cubicBezTo>
                      <a:cubicBezTo>
                        <a:pt x="2046" y="904"/>
                        <a:pt x="2046" y="904"/>
                        <a:pt x="2046" y="904"/>
                      </a:cubicBezTo>
                      <a:cubicBezTo>
                        <a:pt x="2046" y="904"/>
                        <a:pt x="2046" y="904"/>
                        <a:pt x="2046" y="904"/>
                      </a:cubicBezTo>
                      <a:cubicBezTo>
                        <a:pt x="2046" y="904"/>
                        <a:pt x="2047" y="905"/>
                        <a:pt x="2047" y="905"/>
                      </a:cubicBezTo>
                      <a:cubicBezTo>
                        <a:pt x="2047" y="905"/>
                        <a:pt x="2047" y="905"/>
                        <a:pt x="2047" y="905"/>
                      </a:cubicBezTo>
                      <a:cubicBezTo>
                        <a:pt x="2047" y="905"/>
                        <a:pt x="2047" y="905"/>
                        <a:pt x="2047" y="905"/>
                      </a:cubicBezTo>
                      <a:cubicBezTo>
                        <a:pt x="2047" y="905"/>
                        <a:pt x="2047" y="905"/>
                        <a:pt x="2047" y="905"/>
                      </a:cubicBezTo>
                      <a:cubicBezTo>
                        <a:pt x="2047" y="905"/>
                        <a:pt x="2047" y="905"/>
                        <a:pt x="2047" y="906"/>
                      </a:cubicBezTo>
                      <a:cubicBezTo>
                        <a:pt x="2047" y="906"/>
                        <a:pt x="2047" y="906"/>
                        <a:pt x="2047" y="906"/>
                      </a:cubicBezTo>
                      <a:cubicBezTo>
                        <a:pt x="2047" y="906"/>
                        <a:pt x="2047" y="906"/>
                        <a:pt x="2047" y="907"/>
                      </a:cubicBezTo>
                      <a:cubicBezTo>
                        <a:pt x="2047" y="907"/>
                        <a:pt x="2047" y="907"/>
                        <a:pt x="2047" y="907"/>
                      </a:cubicBezTo>
                      <a:cubicBezTo>
                        <a:pt x="2047" y="907"/>
                        <a:pt x="2047" y="907"/>
                        <a:pt x="2047" y="907"/>
                      </a:cubicBezTo>
                      <a:cubicBezTo>
                        <a:pt x="2047" y="907"/>
                        <a:pt x="2047" y="907"/>
                        <a:pt x="2047" y="907"/>
                      </a:cubicBezTo>
                      <a:cubicBezTo>
                        <a:pt x="2047" y="907"/>
                        <a:pt x="2047" y="907"/>
                        <a:pt x="2047" y="907"/>
                      </a:cubicBezTo>
                      <a:cubicBezTo>
                        <a:pt x="2047" y="907"/>
                        <a:pt x="2047" y="907"/>
                        <a:pt x="2047" y="907"/>
                      </a:cubicBezTo>
                      <a:cubicBezTo>
                        <a:pt x="2047" y="908"/>
                        <a:pt x="2047" y="908"/>
                        <a:pt x="2047" y="908"/>
                      </a:cubicBezTo>
                      <a:cubicBezTo>
                        <a:pt x="2047" y="909"/>
                        <a:pt x="2047" y="909"/>
                        <a:pt x="2047" y="909"/>
                      </a:cubicBezTo>
                      <a:cubicBezTo>
                        <a:pt x="2047" y="909"/>
                        <a:pt x="2047" y="909"/>
                        <a:pt x="2047" y="909"/>
                      </a:cubicBezTo>
                      <a:cubicBezTo>
                        <a:pt x="2047" y="909"/>
                        <a:pt x="2047" y="909"/>
                        <a:pt x="2047" y="909"/>
                      </a:cubicBezTo>
                      <a:cubicBezTo>
                        <a:pt x="2047" y="910"/>
                        <a:pt x="2047" y="910"/>
                        <a:pt x="2047" y="911"/>
                      </a:cubicBezTo>
                      <a:cubicBezTo>
                        <a:pt x="2047" y="911"/>
                        <a:pt x="2047" y="911"/>
                        <a:pt x="2047" y="911"/>
                      </a:cubicBezTo>
                      <a:cubicBezTo>
                        <a:pt x="2049" y="923"/>
                        <a:pt x="2051" y="935"/>
                        <a:pt x="2053" y="947"/>
                      </a:cubicBezTo>
                      <a:cubicBezTo>
                        <a:pt x="2053" y="947"/>
                        <a:pt x="2053" y="947"/>
                        <a:pt x="2053" y="947"/>
                      </a:cubicBezTo>
                      <a:cubicBezTo>
                        <a:pt x="2053" y="947"/>
                        <a:pt x="2053" y="948"/>
                        <a:pt x="2053" y="948"/>
                      </a:cubicBezTo>
                      <a:cubicBezTo>
                        <a:pt x="2053" y="948"/>
                        <a:pt x="2053" y="948"/>
                        <a:pt x="2053" y="948"/>
                      </a:cubicBezTo>
                      <a:cubicBezTo>
                        <a:pt x="2053" y="949"/>
                        <a:pt x="2053" y="949"/>
                        <a:pt x="2053" y="949"/>
                      </a:cubicBezTo>
                      <a:cubicBezTo>
                        <a:pt x="2053" y="949"/>
                        <a:pt x="2053" y="949"/>
                        <a:pt x="2053" y="949"/>
                      </a:cubicBezTo>
                      <a:cubicBezTo>
                        <a:pt x="2053" y="949"/>
                        <a:pt x="2053" y="949"/>
                        <a:pt x="2053" y="949"/>
                      </a:cubicBezTo>
                      <a:cubicBezTo>
                        <a:pt x="2053" y="949"/>
                        <a:pt x="2053" y="949"/>
                        <a:pt x="2053" y="949"/>
                      </a:cubicBezTo>
                      <a:cubicBezTo>
                        <a:pt x="2053" y="950"/>
                        <a:pt x="2053" y="950"/>
                        <a:pt x="2053" y="950"/>
                      </a:cubicBezTo>
                      <a:cubicBezTo>
                        <a:pt x="2053" y="950"/>
                        <a:pt x="2053" y="950"/>
                        <a:pt x="2053" y="950"/>
                      </a:cubicBezTo>
                      <a:cubicBezTo>
                        <a:pt x="2053" y="950"/>
                        <a:pt x="2053" y="951"/>
                        <a:pt x="2053" y="951"/>
                      </a:cubicBezTo>
                      <a:cubicBezTo>
                        <a:pt x="2053" y="951"/>
                        <a:pt x="2053" y="951"/>
                        <a:pt x="2053" y="951"/>
                      </a:cubicBezTo>
                      <a:cubicBezTo>
                        <a:pt x="2053" y="951"/>
                        <a:pt x="2053" y="951"/>
                        <a:pt x="2053" y="951"/>
                      </a:cubicBezTo>
                      <a:cubicBezTo>
                        <a:pt x="2053" y="951"/>
                        <a:pt x="2053" y="951"/>
                        <a:pt x="2053" y="951"/>
                      </a:cubicBezTo>
                      <a:cubicBezTo>
                        <a:pt x="2053" y="951"/>
                        <a:pt x="2053" y="952"/>
                        <a:pt x="2053" y="952"/>
                      </a:cubicBezTo>
                      <a:cubicBezTo>
                        <a:pt x="2053" y="952"/>
                        <a:pt x="2053" y="952"/>
                        <a:pt x="2053" y="952"/>
                      </a:cubicBezTo>
                      <a:cubicBezTo>
                        <a:pt x="2053" y="952"/>
                        <a:pt x="2053" y="952"/>
                        <a:pt x="2053" y="952"/>
                      </a:cubicBezTo>
                      <a:cubicBezTo>
                        <a:pt x="2053" y="953"/>
                        <a:pt x="2053" y="953"/>
                        <a:pt x="2053" y="953"/>
                      </a:cubicBezTo>
                      <a:cubicBezTo>
                        <a:pt x="2053" y="953"/>
                        <a:pt x="2053" y="953"/>
                        <a:pt x="2053" y="953"/>
                      </a:cubicBezTo>
                      <a:cubicBezTo>
                        <a:pt x="2053" y="953"/>
                        <a:pt x="2053" y="953"/>
                        <a:pt x="2053" y="953"/>
                      </a:cubicBezTo>
                      <a:cubicBezTo>
                        <a:pt x="2053" y="953"/>
                        <a:pt x="2053" y="953"/>
                        <a:pt x="2053" y="953"/>
                      </a:cubicBezTo>
                      <a:cubicBezTo>
                        <a:pt x="2053" y="954"/>
                        <a:pt x="2053" y="954"/>
                        <a:pt x="2053" y="954"/>
                      </a:cubicBezTo>
                      <a:cubicBezTo>
                        <a:pt x="2053" y="954"/>
                        <a:pt x="2053" y="954"/>
                        <a:pt x="2053" y="954"/>
                      </a:cubicBezTo>
                      <a:cubicBezTo>
                        <a:pt x="2053" y="954"/>
                        <a:pt x="2053" y="954"/>
                        <a:pt x="2053" y="954"/>
                      </a:cubicBezTo>
                      <a:cubicBezTo>
                        <a:pt x="2053" y="954"/>
                        <a:pt x="2053" y="954"/>
                        <a:pt x="2053" y="954"/>
                      </a:cubicBezTo>
                      <a:cubicBezTo>
                        <a:pt x="2053" y="954"/>
                        <a:pt x="2053" y="954"/>
                        <a:pt x="2053" y="954"/>
                      </a:cubicBezTo>
                      <a:cubicBezTo>
                        <a:pt x="2053" y="955"/>
                        <a:pt x="2053" y="955"/>
                        <a:pt x="2053" y="955"/>
                      </a:cubicBezTo>
                      <a:cubicBezTo>
                        <a:pt x="2053" y="955"/>
                        <a:pt x="2053" y="955"/>
                        <a:pt x="2053" y="955"/>
                      </a:cubicBezTo>
                      <a:cubicBezTo>
                        <a:pt x="2053" y="955"/>
                        <a:pt x="2054" y="955"/>
                        <a:pt x="2054" y="955"/>
                      </a:cubicBezTo>
                      <a:cubicBezTo>
                        <a:pt x="2054" y="955"/>
                        <a:pt x="2054" y="955"/>
                        <a:pt x="2054" y="956"/>
                      </a:cubicBezTo>
                      <a:cubicBezTo>
                        <a:pt x="2054" y="956"/>
                        <a:pt x="2054" y="956"/>
                        <a:pt x="2054" y="956"/>
                      </a:cubicBezTo>
                      <a:cubicBezTo>
                        <a:pt x="2054" y="956"/>
                        <a:pt x="2054" y="956"/>
                        <a:pt x="2054" y="956"/>
                      </a:cubicBezTo>
                      <a:cubicBezTo>
                        <a:pt x="2054" y="956"/>
                        <a:pt x="2054" y="956"/>
                        <a:pt x="2054" y="956"/>
                      </a:cubicBezTo>
                      <a:cubicBezTo>
                        <a:pt x="2054" y="956"/>
                        <a:pt x="2054" y="956"/>
                        <a:pt x="2054" y="956"/>
                      </a:cubicBezTo>
                      <a:cubicBezTo>
                        <a:pt x="2054" y="956"/>
                        <a:pt x="2054" y="956"/>
                        <a:pt x="2054" y="957"/>
                      </a:cubicBezTo>
                      <a:cubicBezTo>
                        <a:pt x="2054" y="957"/>
                        <a:pt x="2054" y="957"/>
                        <a:pt x="2054" y="957"/>
                      </a:cubicBezTo>
                      <a:cubicBezTo>
                        <a:pt x="2054" y="957"/>
                        <a:pt x="2054" y="957"/>
                        <a:pt x="2054" y="957"/>
                      </a:cubicBezTo>
                      <a:cubicBezTo>
                        <a:pt x="2054" y="957"/>
                        <a:pt x="2054" y="957"/>
                        <a:pt x="2054" y="957"/>
                      </a:cubicBezTo>
                      <a:cubicBezTo>
                        <a:pt x="2054" y="957"/>
                        <a:pt x="2054" y="957"/>
                        <a:pt x="2054" y="958"/>
                      </a:cubicBezTo>
                      <a:cubicBezTo>
                        <a:pt x="2054" y="958"/>
                        <a:pt x="2054" y="958"/>
                        <a:pt x="2054" y="958"/>
                      </a:cubicBezTo>
                      <a:cubicBezTo>
                        <a:pt x="2054" y="958"/>
                        <a:pt x="2054" y="958"/>
                        <a:pt x="2054" y="958"/>
                      </a:cubicBezTo>
                      <a:cubicBezTo>
                        <a:pt x="2054" y="958"/>
                        <a:pt x="2054" y="958"/>
                        <a:pt x="2054" y="958"/>
                      </a:cubicBezTo>
                      <a:cubicBezTo>
                        <a:pt x="2054" y="958"/>
                        <a:pt x="2054" y="958"/>
                        <a:pt x="2054" y="958"/>
                      </a:cubicBezTo>
                      <a:cubicBezTo>
                        <a:pt x="2054" y="959"/>
                        <a:pt x="2054" y="959"/>
                        <a:pt x="2054" y="959"/>
                      </a:cubicBezTo>
                      <a:cubicBezTo>
                        <a:pt x="2054" y="959"/>
                        <a:pt x="2054" y="959"/>
                        <a:pt x="2054" y="959"/>
                      </a:cubicBezTo>
                      <a:cubicBezTo>
                        <a:pt x="2054" y="959"/>
                        <a:pt x="2054" y="959"/>
                        <a:pt x="2054" y="959"/>
                      </a:cubicBezTo>
                      <a:cubicBezTo>
                        <a:pt x="2054" y="959"/>
                        <a:pt x="2054" y="959"/>
                        <a:pt x="2054" y="959"/>
                      </a:cubicBezTo>
                      <a:cubicBezTo>
                        <a:pt x="2054" y="959"/>
                        <a:pt x="2054" y="960"/>
                        <a:pt x="2054" y="960"/>
                      </a:cubicBezTo>
                      <a:cubicBezTo>
                        <a:pt x="2054" y="960"/>
                        <a:pt x="2054" y="960"/>
                        <a:pt x="2054" y="960"/>
                      </a:cubicBezTo>
                      <a:cubicBezTo>
                        <a:pt x="2054" y="960"/>
                        <a:pt x="2054" y="960"/>
                        <a:pt x="2054" y="960"/>
                      </a:cubicBezTo>
                      <a:cubicBezTo>
                        <a:pt x="2054" y="960"/>
                        <a:pt x="2054" y="960"/>
                        <a:pt x="2054" y="960"/>
                      </a:cubicBezTo>
                      <a:cubicBezTo>
                        <a:pt x="2054" y="961"/>
                        <a:pt x="2054" y="961"/>
                        <a:pt x="2054" y="961"/>
                      </a:cubicBezTo>
                      <a:cubicBezTo>
                        <a:pt x="2054" y="961"/>
                        <a:pt x="2054" y="961"/>
                        <a:pt x="2054" y="961"/>
                      </a:cubicBezTo>
                      <a:cubicBezTo>
                        <a:pt x="2054" y="961"/>
                        <a:pt x="2054" y="961"/>
                        <a:pt x="2054" y="962"/>
                      </a:cubicBezTo>
                      <a:cubicBezTo>
                        <a:pt x="2054" y="962"/>
                        <a:pt x="2054" y="962"/>
                        <a:pt x="2054" y="962"/>
                      </a:cubicBezTo>
                      <a:cubicBezTo>
                        <a:pt x="2054" y="962"/>
                        <a:pt x="2054" y="963"/>
                        <a:pt x="2054" y="963"/>
                      </a:cubicBezTo>
                      <a:cubicBezTo>
                        <a:pt x="2054" y="963"/>
                        <a:pt x="2054" y="963"/>
                        <a:pt x="2054" y="963"/>
                      </a:cubicBezTo>
                      <a:cubicBezTo>
                        <a:pt x="2054" y="963"/>
                        <a:pt x="2054" y="963"/>
                        <a:pt x="2054" y="963"/>
                      </a:cubicBezTo>
                      <a:cubicBezTo>
                        <a:pt x="2054" y="963"/>
                        <a:pt x="2054" y="963"/>
                        <a:pt x="2054" y="964"/>
                      </a:cubicBezTo>
                      <a:cubicBezTo>
                        <a:pt x="2055" y="972"/>
                        <a:pt x="2056" y="981"/>
                        <a:pt x="2057" y="990"/>
                      </a:cubicBezTo>
                      <a:cubicBezTo>
                        <a:pt x="2058" y="1009"/>
                        <a:pt x="2074" y="1023"/>
                        <a:pt x="2093" y="1023"/>
                      </a:cubicBezTo>
                      <a:cubicBezTo>
                        <a:pt x="2094" y="1023"/>
                        <a:pt x="2095" y="1023"/>
                        <a:pt x="2095" y="1023"/>
                      </a:cubicBezTo>
                      <a:cubicBezTo>
                        <a:pt x="2115" y="1021"/>
                        <a:pt x="2130" y="1004"/>
                        <a:pt x="2129" y="984"/>
                      </a:cubicBezTo>
                      <a:cubicBezTo>
                        <a:pt x="2125" y="942"/>
                        <a:pt x="2119" y="899"/>
                        <a:pt x="2111" y="857"/>
                      </a:cubicBezTo>
                      <a:cubicBezTo>
                        <a:pt x="2108" y="840"/>
                        <a:pt x="2093" y="828"/>
                        <a:pt x="2076" y="828"/>
                      </a:cubicBezTo>
                      <a:cubicBezTo>
                        <a:pt x="2073" y="828"/>
                        <a:pt x="2071" y="828"/>
                        <a:pt x="2069" y="828"/>
                      </a:cubicBezTo>
                      <a:cubicBezTo>
                        <a:pt x="2049" y="832"/>
                        <a:pt x="2037" y="851"/>
                        <a:pt x="2040" y="871"/>
                      </a:cubicBezTo>
                      <a:close/>
                      <a:moveTo>
                        <a:pt x="1952" y="615"/>
                      </a:moveTo>
                      <a:cubicBezTo>
                        <a:pt x="1952" y="615"/>
                        <a:pt x="1952" y="615"/>
                        <a:pt x="1952" y="615"/>
                      </a:cubicBezTo>
                      <a:cubicBezTo>
                        <a:pt x="1952" y="615"/>
                        <a:pt x="1952" y="616"/>
                        <a:pt x="1952" y="616"/>
                      </a:cubicBezTo>
                      <a:cubicBezTo>
                        <a:pt x="1952" y="616"/>
                        <a:pt x="1952" y="616"/>
                        <a:pt x="1952" y="616"/>
                      </a:cubicBezTo>
                      <a:cubicBezTo>
                        <a:pt x="1952" y="616"/>
                        <a:pt x="1953" y="617"/>
                        <a:pt x="1953" y="617"/>
                      </a:cubicBezTo>
                      <a:cubicBezTo>
                        <a:pt x="1953" y="617"/>
                        <a:pt x="1953" y="617"/>
                        <a:pt x="1953" y="617"/>
                      </a:cubicBezTo>
                      <a:cubicBezTo>
                        <a:pt x="1953" y="617"/>
                        <a:pt x="1953" y="618"/>
                        <a:pt x="1953" y="618"/>
                      </a:cubicBezTo>
                      <a:cubicBezTo>
                        <a:pt x="1953" y="618"/>
                        <a:pt x="1953" y="618"/>
                        <a:pt x="1953" y="618"/>
                      </a:cubicBezTo>
                      <a:cubicBezTo>
                        <a:pt x="1953" y="618"/>
                        <a:pt x="1953" y="618"/>
                        <a:pt x="1953" y="618"/>
                      </a:cubicBezTo>
                      <a:cubicBezTo>
                        <a:pt x="1953" y="618"/>
                        <a:pt x="1953" y="618"/>
                        <a:pt x="1953" y="618"/>
                      </a:cubicBezTo>
                      <a:cubicBezTo>
                        <a:pt x="1954" y="619"/>
                        <a:pt x="1954" y="619"/>
                        <a:pt x="1954" y="620"/>
                      </a:cubicBezTo>
                      <a:cubicBezTo>
                        <a:pt x="1954" y="620"/>
                        <a:pt x="1954" y="620"/>
                        <a:pt x="1954" y="620"/>
                      </a:cubicBezTo>
                      <a:cubicBezTo>
                        <a:pt x="1954" y="620"/>
                        <a:pt x="1954" y="620"/>
                        <a:pt x="1954" y="620"/>
                      </a:cubicBezTo>
                      <a:cubicBezTo>
                        <a:pt x="1954" y="620"/>
                        <a:pt x="1954" y="620"/>
                        <a:pt x="1954" y="620"/>
                      </a:cubicBezTo>
                      <a:cubicBezTo>
                        <a:pt x="1954" y="620"/>
                        <a:pt x="1955" y="621"/>
                        <a:pt x="1955" y="621"/>
                      </a:cubicBezTo>
                      <a:cubicBezTo>
                        <a:pt x="1955" y="621"/>
                        <a:pt x="1955" y="621"/>
                        <a:pt x="1955" y="621"/>
                      </a:cubicBezTo>
                      <a:cubicBezTo>
                        <a:pt x="1955" y="621"/>
                        <a:pt x="1955" y="621"/>
                        <a:pt x="1955" y="621"/>
                      </a:cubicBezTo>
                      <a:cubicBezTo>
                        <a:pt x="1955" y="621"/>
                        <a:pt x="1955" y="621"/>
                        <a:pt x="1955" y="621"/>
                      </a:cubicBezTo>
                      <a:cubicBezTo>
                        <a:pt x="1955" y="621"/>
                        <a:pt x="1955" y="622"/>
                        <a:pt x="1955" y="622"/>
                      </a:cubicBezTo>
                      <a:cubicBezTo>
                        <a:pt x="1955" y="622"/>
                        <a:pt x="1955" y="622"/>
                        <a:pt x="1955" y="622"/>
                      </a:cubicBezTo>
                      <a:cubicBezTo>
                        <a:pt x="1955" y="622"/>
                        <a:pt x="1955" y="622"/>
                        <a:pt x="1956" y="623"/>
                      </a:cubicBezTo>
                      <a:cubicBezTo>
                        <a:pt x="1956" y="623"/>
                        <a:pt x="1956" y="623"/>
                        <a:pt x="1956" y="623"/>
                      </a:cubicBezTo>
                      <a:cubicBezTo>
                        <a:pt x="1956" y="623"/>
                        <a:pt x="1956" y="623"/>
                        <a:pt x="1956" y="623"/>
                      </a:cubicBezTo>
                      <a:cubicBezTo>
                        <a:pt x="1956" y="623"/>
                        <a:pt x="1956" y="623"/>
                        <a:pt x="1956" y="623"/>
                      </a:cubicBezTo>
                      <a:cubicBezTo>
                        <a:pt x="1956" y="623"/>
                        <a:pt x="1956" y="623"/>
                        <a:pt x="1956" y="623"/>
                      </a:cubicBezTo>
                      <a:cubicBezTo>
                        <a:pt x="1956" y="623"/>
                        <a:pt x="1956" y="623"/>
                        <a:pt x="1956" y="623"/>
                      </a:cubicBezTo>
                      <a:cubicBezTo>
                        <a:pt x="1956" y="624"/>
                        <a:pt x="1956" y="624"/>
                        <a:pt x="1956" y="624"/>
                      </a:cubicBezTo>
                      <a:cubicBezTo>
                        <a:pt x="1956" y="624"/>
                        <a:pt x="1956" y="624"/>
                        <a:pt x="1956" y="624"/>
                      </a:cubicBezTo>
                      <a:cubicBezTo>
                        <a:pt x="1956" y="624"/>
                        <a:pt x="1957" y="625"/>
                        <a:pt x="1957" y="625"/>
                      </a:cubicBezTo>
                      <a:cubicBezTo>
                        <a:pt x="1957" y="625"/>
                        <a:pt x="1957" y="625"/>
                        <a:pt x="1957" y="625"/>
                      </a:cubicBezTo>
                      <a:cubicBezTo>
                        <a:pt x="1957" y="625"/>
                        <a:pt x="1957" y="625"/>
                        <a:pt x="1957" y="625"/>
                      </a:cubicBezTo>
                      <a:cubicBezTo>
                        <a:pt x="1957" y="625"/>
                        <a:pt x="1957" y="625"/>
                        <a:pt x="1957" y="625"/>
                      </a:cubicBezTo>
                      <a:cubicBezTo>
                        <a:pt x="1957" y="625"/>
                        <a:pt x="1957" y="626"/>
                        <a:pt x="1957" y="626"/>
                      </a:cubicBezTo>
                      <a:cubicBezTo>
                        <a:pt x="1957" y="626"/>
                        <a:pt x="1957" y="626"/>
                        <a:pt x="1957" y="626"/>
                      </a:cubicBezTo>
                      <a:cubicBezTo>
                        <a:pt x="1957" y="626"/>
                        <a:pt x="1957" y="626"/>
                        <a:pt x="1957" y="626"/>
                      </a:cubicBezTo>
                      <a:cubicBezTo>
                        <a:pt x="1957" y="626"/>
                        <a:pt x="1957" y="626"/>
                        <a:pt x="1957" y="626"/>
                      </a:cubicBezTo>
                      <a:cubicBezTo>
                        <a:pt x="1958" y="627"/>
                        <a:pt x="1958" y="627"/>
                        <a:pt x="1958" y="627"/>
                      </a:cubicBezTo>
                      <a:cubicBezTo>
                        <a:pt x="1958" y="627"/>
                        <a:pt x="1958" y="627"/>
                        <a:pt x="1958" y="627"/>
                      </a:cubicBezTo>
                      <a:cubicBezTo>
                        <a:pt x="1958" y="627"/>
                        <a:pt x="1958" y="627"/>
                        <a:pt x="1958" y="627"/>
                      </a:cubicBezTo>
                      <a:cubicBezTo>
                        <a:pt x="1958" y="627"/>
                        <a:pt x="1958" y="627"/>
                        <a:pt x="1958" y="627"/>
                      </a:cubicBezTo>
                      <a:cubicBezTo>
                        <a:pt x="1958" y="627"/>
                        <a:pt x="1958" y="628"/>
                        <a:pt x="1958" y="628"/>
                      </a:cubicBezTo>
                      <a:cubicBezTo>
                        <a:pt x="1958" y="628"/>
                        <a:pt x="1958" y="628"/>
                        <a:pt x="1958" y="628"/>
                      </a:cubicBezTo>
                      <a:cubicBezTo>
                        <a:pt x="1958" y="628"/>
                        <a:pt x="1958" y="628"/>
                        <a:pt x="1958" y="628"/>
                      </a:cubicBezTo>
                      <a:cubicBezTo>
                        <a:pt x="1958" y="628"/>
                        <a:pt x="1958" y="628"/>
                        <a:pt x="1958" y="628"/>
                      </a:cubicBezTo>
                      <a:cubicBezTo>
                        <a:pt x="1958" y="628"/>
                        <a:pt x="1958" y="628"/>
                        <a:pt x="1958" y="628"/>
                      </a:cubicBezTo>
                      <a:cubicBezTo>
                        <a:pt x="1958" y="628"/>
                        <a:pt x="1958" y="628"/>
                        <a:pt x="1958" y="629"/>
                      </a:cubicBezTo>
                      <a:cubicBezTo>
                        <a:pt x="1959" y="629"/>
                        <a:pt x="1959" y="629"/>
                        <a:pt x="1959" y="629"/>
                      </a:cubicBezTo>
                      <a:cubicBezTo>
                        <a:pt x="1959" y="629"/>
                        <a:pt x="1959" y="629"/>
                        <a:pt x="1959" y="629"/>
                      </a:cubicBezTo>
                      <a:cubicBezTo>
                        <a:pt x="1959" y="629"/>
                        <a:pt x="1959" y="629"/>
                        <a:pt x="1959" y="629"/>
                      </a:cubicBezTo>
                      <a:cubicBezTo>
                        <a:pt x="1959" y="629"/>
                        <a:pt x="1959" y="629"/>
                        <a:pt x="1959" y="629"/>
                      </a:cubicBezTo>
                      <a:cubicBezTo>
                        <a:pt x="1959" y="630"/>
                        <a:pt x="1959" y="630"/>
                        <a:pt x="1959" y="630"/>
                      </a:cubicBezTo>
                      <a:cubicBezTo>
                        <a:pt x="1959" y="630"/>
                        <a:pt x="1959" y="630"/>
                        <a:pt x="1959" y="630"/>
                      </a:cubicBezTo>
                      <a:cubicBezTo>
                        <a:pt x="1959" y="630"/>
                        <a:pt x="1959" y="630"/>
                        <a:pt x="1959" y="630"/>
                      </a:cubicBezTo>
                      <a:cubicBezTo>
                        <a:pt x="1959" y="630"/>
                        <a:pt x="1959" y="630"/>
                        <a:pt x="1959" y="630"/>
                      </a:cubicBezTo>
                      <a:cubicBezTo>
                        <a:pt x="1959" y="630"/>
                        <a:pt x="1959" y="630"/>
                        <a:pt x="1959" y="631"/>
                      </a:cubicBezTo>
                      <a:cubicBezTo>
                        <a:pt x="1959" y="631"/>
                        <a:pt x="1959" y="631"/>
                        <a:pt x="1959" y="631"/>
                      </a:cubicBezTo>
                      <a:cubicBezTo>
                        <a:pt x="1960" y="631"/>
                        <a:pt x="1960" y="631"/>
                        <a:pt x="1960" y="631"/>
                      </a:cubicBezTo>
                      <a:cubicBezTo>
                        <a:pt x="1960" y="631"/>
                        <a:pt x="1960" y="631"/>
                        <a:pt x="1960" y="631"/>
                      </a:cubicBezTo>
                      <a:cubicBezTo>
                        <a:pt x="1960" y="631"/>
                        <a:pt x="1960" y="631"/>
                        <a:pt x="1960" y="631"/>
                      </a:cubicBezTo>
                      <a:cubicBezTo>
                        <a:pt x="1960" y="631"/>
                        <a:pt x="1960" y="631"/>
                        <a:pt x="1960" y="632"/>
                      </a:cubicBezTo>
                      <a:cubicBezTo>
                        <a:pt x="1960" y="632"/>
                        <a:pt x="1960" y="632"/>
                        <a:pt x="1960" y="632"/>
                      </a:cubicBezTo>
                      <a:cubicBezTo>
                        <a:pt x="1960" y="632"/>
                        <a:pt x="1960" y="632"/>
                        <a:pt x="1960" y="632"/>
                      </a:cubicBezTo>
                      <a:cubicBezTo>
                        <a:pt x="1960" y="632"/>
                        <a:pt x="1960" y="632"/>
                        <a:pt x="1960" y="632"/>
                      </a:cubicBezTo>
                      <a:cubicBezTo>
                        <a:pt x="1960" y="632"/>
                        <a:pt x="1960" y="632"/>
                        <a:pt x="1960" y="632"/>
                      </a:cubicBezTo>
                      <a:cubicBezTo>
                        <a:pt x="1960" y="632"/>
                        <a:pt x="1960" y="633"/>
                        <a:pt x="1960" y="633"/>
                      </a:cubicBezTo>
                      <a:cubicBezTo>
                        <a:pt x="1961" y="633"/>
                        <a:pt x="1961" y="633"/>
                        <a:pt x="1961" y="633"/>
                      </a:cubicBezTo>
                      <a:cubicBezTo>
                        <a:pt x="1961" y="633"/>
                        <a:pt x="1961" y="633"/>
                        <a:pt x="1961" y="633"/>
                      </a:cubicBezTo>
                      <a:cubicBezTo>
                        <a:pt x="1961" y="633"/>
                        <a:pt x="1961" y="633"/>
                        <a:pt x="1961" y="633"/>
                      </a:cubicBezTo>
                      <a:cubicBezTo>
                        <a:pt x="1961" y="633"/>
                        <a:pt x="1961" y="633"/>
                        <a:pt x="1961" y="633"/>
                      </a:cubicBezTo>
                      <a:cubicBezTo>
                        <a:pt x="1961" y="633"/>
                        <a:pt x="1961" y="634"/>
                        <a:pt x="1961" y="634"/>
                      </a:cubicBezTo>
                      <a:cubicBezTo>
                        <a:pt x="1961" y="634"/>
                        <a:pt x="1961" y="634"/>
                        <a:pt x="1961" y="634"/>
                      </a:cubicBezTo>
                      <a:cubicBezTo>
                        <a:pt x="1961" y="634"/>
                        <a:pt x="1961" y="634"/>
                        <a:pt x="1961" y="634"/>
                      </a:cubicBezTo>
                      <a:cubicBezTo>
                        <a:pt x="1961" y="634"/>
                        <a:pt x="1961" y="634"/>
                        <a:pt x="1961" y="634"/>
                      </a:cubicBezTo>
                      <a:cubicBezTo>
                        <a:pt x="1961" y="634"/>
                        <a:pt x="1961" y="634"/>
                        <a:pt x="1961" y="635"/>
                      </a:cubicBezTo>
                      <a:cubicBezTo>
                        <a:pt x="1961" y="635"/>
                        <a:pt x="1961" y="635"/>
                        <a:pt x="1961" y="635"/>
                      </a:cubicBezTo>
                      <a:cubicBezTo>
                        <a:pt x="1962" y="635"/>
                        <a:pt x="1962" y="635"/>
                        <a:pt x="1962" y="635"/>
                      </a:cubicBezTo>
                      <a:cubicBezTo>
                        <a:pt x="1962" y="635"/>
                        <a:pt x="1962" y="635"/>
                        <a:pt x="1962" y="635"/>
                      </a:cubicBezTo>
                      <a:cubicBezTo>
                        <a:pt x="1962" y="635"/>
                        <a:pt x="1962" y="635"/>
                        <a:pt x="1962" y="635"/>
                      </a:cubicBezTo>
                      <a:cubicBezTo>
                        <a:pt x="1962" y="635"/>
                        <a:pt x="1962" y="635"/>
                        <a:pt x="1962" y="635"/>
                      </a:cubicBezTo>
                      <a:cubicBezTo>
                        <a:pt x="1962" y="636"/>
                        <a:pt x="1962" y="636"/>
                        <a:pt x="1962" y="636"/>
                      </a:cubicBezTo>
                      <a:cubicBezTo>
                        <a:pt x="1962" y="636"/>
                        <a:pt x="1962" y="636"/>
                        <a:pt x="1962" y="636"/>
                      </a:cubicBezTo>
                      <a:cubicBezTo>
                        <a:pt x="1962" y="636"/>
                        <a:pt x="1962" y="636"/>
                        <a:pt x="1962" y="636"/>
                      </a:cubicBezTo>
                      <a:cubicBezTo>
                        <a:pt x="1962" y="636"/>
                        <a:pt x="1962" y="636"/>
                        <a:pt x="1962" y="636"/>
                      </a:cubicBezTo>
                      <a:cubicBezTo>
                        <a:pt x="1962" y="636"/>
                        <a:pt x="1962" y="637"/>
                        <a:pt x="1962" y="637"/>
                      </a:cubicBezTo>
                      <a:cubicBezTo>
                        <a:pt x="1962" y="637"/>
                        <a:pt x="1962" y="637"/>
                        <a:pt x="1962" y="637"/>
                      </a:cubicBezTo>
                      <a:cubicBezTo>
                        <a:pt x="1963" y="637"/>
                        <a:pt x="1963" y="638"/>
                        <a:pt x="1963" y="638"/>
                      </a:cubicBezTo>
                      <a:cubicBezTo>
                        <a:pt x="1963" y="638"/>
                        <a:pt x="1963" y="638"/>
                        <a:pt x="1963" y="638"/>
                      </a:cubicBezTo>
                      <a:cubicBezTo>
                        <a:pt x="1963" y="638"/>
                        <a:pt x="1963" y="638"/>
                        <a:pt x="1963" y="638"/>
                      </a:cubicBezTo>
                      <a:cubicBezTo>
                        <a:pt x="1963" y="638"/>
                        <a:pt x="1963" y="638"/>
                        <a:pt x="1963" y="638"/>
                      </a:cubicBezTo>
                      <a:cubicBezTo>
                        <a:pt x="1963" y="639"/>
                        <a:pt x="1964" y="639"/>
                        <a:pt x="1964" y="640"/>
                      </a:cubicBezTo>
                      <a:cubicBezTo>
                        <a:pt x="1964" y="640"/>
                        <a:pt x="1964" y="640"/>
                        <a:pt x="1964" y="640"/>
                      </a:cubicBezTo>
                      <a:cubicBezTo>
                        <a:pt x="1964" y="640"/>
                        <a:pt x="1964" y="640"/>
                        <a:pt x="1964" y="640"/>
                      </a:cubicBezTo>
                      <a:cubicBezTo>
                        <a:pt x="1964" y="640"/>
                        <a:pt x="1964" y="640"/>
                        <a:pt x="1964" y="640"/>
                      </a:cubicBezTo>
                      <a:cubicBezTo>
                        <a:pt x="1964" y="641"/>
                        <a:pt x="1964" y="641"/>
                        <a:pt x="1965" y="641"/>
                      </a:cubicBezTo>
                      <a:cubicBezTo>
                        <a:pt x="1965" y="641"/>
                        <a:pt x="1965" y="641"/>
                        <a:pt x="1965" y="641"/>
                      </a:cubicBezTo>
                      <a:cubicBezTo>
                        <a:pt x="1972" y="658"/>
                        <a:pt x="1979" y="674"/>
                        <a:pt x="1986" y="690"/>
                      </a:cubicBezTo>
                      <a:cubicBezTo>
                        <a:pt x="1986" y="690"/>
                        <a:pt x="1986" y="690"/>
                        <a:pt x="1986" y="690"/>
                      </a:cubicBezTo>
                      <a:cubicBezTo>
                        <a:pt x="1986" y="690"/>
                        <a:pt x="1986" y="691"/>
                        <a:pt x="1986" y="691"/>
                      </a:cubicBezTo>
                      <a:cubicBezTo>
                        <a:pt x="1986" y="691"/>
                        <a:pt x="1986" y="691"/>
                        <a:pt x="1986" y="691"/>
                      </a:cubicBezTo>
                      <a:cubicBezTo>
                        <a:pt x="1986" y="691"/>
                        <a:pt x="1987" y="691"/>
                        <a:pt x="1987" y="692"/>
                      </a:cubicBezTo>
                      <a:cubicBezTo>
                        <a:pt x="1987" y="692"/>
                        <a:pt x="1987" y="692"/>
                        <a:pt x="1987" y="692"/>
                      </a:cubicBezTo>
                      <a:cubicBezTo>
                        <a:pt x="1987" y="692"/>
                        <a:pt x="1987" y="692"/>
                        <a:pt x="1987" y="692"/>
                      </a:cubicBezTo>
                      <a:cubicBezTo>
                        <a:pt x="1987" y="692"/>
                        <a:pt x="1987" y="692"/>
                        <a:pt x="1987" y="692"/>
                      </a:cubicBezTo>
                      <a:cubicBezTo>
                        <a:pt x="1987" y="692"/>
                        <a:pt x="1987" y="692"/>
                        <a:pt x="1987" y="692"/>
                      </a:cubicBezTo>
                      <a:cubicBezTo>
                        <a:pt x="1987" y="692"/>
                        <a:pt x="1987" y="692"/>
                        <a:pt x="1987" y="692"/>
                      </a:cubicBezTo>
                      <a:cubicBezTo>
                        <a:pt x="1987" y="693"/>
                        <a:pt x="1987" y="693"/>
                        <a:pt x="1987" y="693"/>
                      </a:cubicBezTo>
                      <a:cubicBezTo>
                        <a:pt x="1987" y="693"/>
                        <a:pt x="1987" y="693"/>
                        <a:pt x="1987" y="693"/>
                      </a:cubicBezTo>
                      <a:cubicBezTo>
                        <a:pt x="1987" y="694"/>
                        <a:pt x="1987" y="694"/>
                        <a:pt x="1987" y="694"/>
                      </a:cubicBezTo>
                      <a:cubicBezTo>
                        <a:pt x="1987" y="694"/>
                        <a:pt x="1988" y="694"/>
                        <a:pt x="1988" y="694"/>
                      </a:cubicBezTo>
                      <a:cubicBezTo>
                        <a:pt x="1988" y="694"/>
                        <a:pt x="1988" y="694"/>
                        <a:pt x="1988" y="694"/>
                      </a:cubicBezTo>
                      <a:cubicBezTo>
                        <a:pt x="1988" y="694"/>
                        <a:pt x="1988" y="694"/>
                        <a:pt x="1988" y="694"/>
                      </a:cubicBezTo>
                      <a:cubicBezTo>
                        <a:pt x="1988" y="694"/>
                        <a:pt x="1988" y="694"/>
                        <a:pt x="1988" y="695"/>
                      </a:cubicBezTo>
                      <a:cubicBezTo>
                        <a:pt x="1988" y="695"/>
                        <a:pt x="1988" y="695"/>
                        <a:pt x="1988" y="695"/>
                      </a:cubicBezTo>
                      <a:cubicBezTo>
                        <a:pt x="1988" y="695"/>
                        <a:pt x="1988" y="695"/>
                        <a:pt x="1988" y="695"/>
                      </a:cubicBezTo>
                      <a:cubicBezTo>
                        <a:pt x="1988" y="695"/>
                        <a:pt x="1988" y="695"/>
                        <a:pt x="1988" y="695"/>
                      </a:cubicBezTo>
                      <a:cubicBezTo>
                        <a:pt x="1988" y="695"/>
                        <a:pt x="1988" y="695"/>
                        <a:pt x="1988" y="695"/>
                      </a:cubicBezTo>
                      <a:cubicBezTo>
                        <a:pt x="1988" y="696"/>
                        <a:pt x="1988" y="696"/>
                        <a:pt x="1988" y="696"/>
                      </a:cubicBezTo>
                      <a:cubicBezTo>
                        <a:pt x="1988" y="696"/>
                        <a:pt x="1988" y="696"/>
                        <a:pt x="1988" y="696"/>
                      </a:cubicBezTo>
                      <a:cubicBezTo>
                        <a:pt x="1988" y="696"/>
                        <a:pt x="1988" y="696"/>
                        <a:pt x="1988" y="696"/>
                      </a:cubicBezTo>
                      <a:cubicBezTo>
                        <a:pt x="1988" y="696"/>
                        <a:pt x="1988" y="696"/>
                        <a:pt x="1988" y="696"/>
                      </a:cubicBezTo>
                      <a:cubicBezTo>
                        <a:pt x="1989" y="696"/>
                        <a:pt x="1989" y="696"/>
                        <a:pt x="1989" y="697"/>
                      </a:cubicBezTo>
                      <a:cubicBezTo>
                        <a:pt x="1989" y="697"/>
                        <a:pt x="1989" y="697"/>
                        <a:pt x="1989" y="697"/>
                      </a:cubicBezTo>
                      <a:cubicBezTo>
                        <a:pt x="1989" y="697"/>
                        <a:pt x="1989" y="697"/>
                        <a:pt x="1989" y="697"/>
                      </a:cubicBezTo>
                      <a:cubicBezTo>
                        <a:pt x="1989" y="697"/>
                        <a:pt x="1989" y="697"/>
                        <a:pt x="1989" y="697"/>
                      </a:cubicBezTo>
                      <a:cubicBezTo>
                        <a:pt x="1989" y="697"/>
                        <a:pt x="1989" y="697"/>
                        <a:pt x="1989" y="697"/>
                      </a:cubicBezTo>
                      <a:cubicBezTo>
                        <a:pt x="1989" y="697"/>
                        <a:pt x="1989" y="697"/>
                        <a:pt x="1989" y="698"/>
                      </a:cubicBezTo>
                      <a:cubicBezTo>
                        <a:pt x="1989" y="698"/>
                        <a:pt x="1989" y="698"/>
                        <a:pt x="1989" y="698"/>
                      </a:cubicBezTo>
                      <a:cubicBezTo>
                        <a:pt x="1989" y="698"/>
                        <a:pt x="1989" y="698"/>
                        <a:pt x="1989" y="698"/>
                      </a:cubicBezTo>
                      <a:cubicBezTo>
                        <a:pt x="1989" y="698"/>
                        <a:pt x="1989" y="698"/>
                        <a:pt x="1989" y="698"/>
                      </a:cubicBezTo>
                      <a:cubicBezTo>
                        <a:pt x="1989" y="698"/>
                        <a:pt x="1989" y="698"/>
                        <a:pt x="1989" y="698"/>
                      </a:cubicBezTo>
                      <a:cubicBezTo>
                        <a:pt x="1989" y="699"/>
                        <a:pt x="1989" y="699"/>
                        <a:pt x="1989" y="699"/>
                      </a:cubicBezTo>
                      <a:cubicBezTo>
                        <a:pt x="1990" y="699"/>
                        <a:pt x="1990" y="699"/>
                        <a:pt x="1990" y="699"/>
                      </a:cubicBezTo>
                      <a:cubicBezTo>
                        <a:pt x="1990" y="699"/>
                        <a:pt x="1990" y="699"/>
                        <a:pt x="1990" y="699"/>
                      </a:cubicBezTo>
                      <a:cubicBezTo>
                        <a:pt x="1990" y="699"/>
                        <a:pt x="1990" y="699"/>
                        <a:pt x="1990" y="699"/>
                      </a:cubicBezTo>
                      <a:cubicBezTo>
                        <a:pt x="1992" y="705"/>
                        <a:pt x="1994" y="711"/>
                        <a:pt x="1997" y="717"/>
                      </a:cubicBezTo>
                      <a:cubicBezTo>
                        <a:pt x="2002" y="732"/>
                        <a:pt x="2016" y="741"/>
                        <a:pt x="2030" y="741"/>
                      </a:cubicBezTo>
                      <a:cubicBezTo>
                        <a:pt x="2034" y="741"/>
                        <a:pt x="2039" y="740"/>
                        <a:pt x="2043" y="738"/>
                      </a:cubicBezTo>
                      <a:cubicBezTo>
                        <a:pt x="2062" y="731"/>
                        <a:pt x="2071" y="711"/>
                        <a:pt x="2064" y="692"/>
                      </a:cubicBezTo>
                      <a:cubicBezTo>
                        <a:pt x="2049" y="652"/>
                        <a:pt x="2031" y="612"/>
                        <a:pt x="2012" y="574"/>
                      </a:cubicBezTo>
                      <a:cubicBezTo>
                        <a:pt x="2005" y="562"/>
                        <a:pt x="1993" y="555"/>
                        <a:pt x="1980" y="555"/>
                      </a:cubicBezTo>
                      <a:cubicBezTo>
                        <a:pt x="1974" y="555"/>
                        <a:pt x="1969" y="556"/>
                        <a:pt x="1963" y="559"/>
                      </a:cubicBezTo>
                      <a:cubicBezTo>
                        <a:pt x="1946" y="568"/>
                        <a:pt x="1939" y="590"/>
                        <a:pt x="1948" y="608"/>
                      </a:cubicBezTo>
                      <a:cubicBezTo>
                        <a:pt x="1949" y="610"/>
                        <a:pt x="1950" y="613"/>
                        <a:pt x="1952" y="615"/>
                      </a:cubicBezTo>
                      <a:close/>
                      <a:moveTo>
                        <a:pt x="1567" y="207"/>
                      </a:moveTo>
                      <a:cubicBezTo>
                        <a:pt x="1569" y="208"/>
                        <a:pt x="1571" y="210"/>
                        <a:pt x="1573" y="211"/>
                      </a:cubicBezTo>
                      <a:cubicBezTo>
                        <a:pt x="1573" y="211"/>
                        <a:pt x="1573" y="211"/>
                        <a:pt x="1573" y="211"/>
                      </a:cubicBezTo>
                      <a:cubicBezTo>
                        <a:pt x="1573" y="211"/>
                        <a:pt x="1573" y="211"/>
                        <a:pt x="1574" y="211"/>
                      </a:cubicBezTo>
                      <a:cubicBezTo>
                        <a:pt x="1574" y="211"/>
                        <a:pt x="1574" y="211"/>
                        <a:pt x="1574" y="211"/>
                      </a:cubicBezTo>
                      <a:cubicBezTo>
                        <a:pt x="1574" y="211"/>
                        <a:pt x="1575" y="212"/>
                        <a:pt x="1575" y="212"/>
                      </a:cubicBezTo>
                      <a:cubicBezTo>
                        <a:pt x="1575" y="212"/>
                        <a:pt x="1575" y="212"/>
                        <a:pt x="1575" y="212"/>
                      </a:cubicBezTo>
                      <a:cubicBezTo>
                        <a:pt x="1575" y="212"/>
                        <a:pt x="1575" y="212"/>
                        <a:pt x="1576" y="212"/>
                      </a:cubicBezTo>
                      <a:cubicBezTo>
                        <a:pt x="1576" y="212"/>
                        <a:pt x="1576" y="212"/>
                        <a:pt x="1576" y="212"/>
                      </a:cubicBezTo>
                      <a:cubicBezTo>
                        <a:pt x="1576" y="212"/>
                        <a:pt x="1576" y="212"/>
                        <a:pt x="1576" y="213"/>
                      </a:cubicBezTo>
                      <a:cubicBezTo>
                        <a:pt x="1576" y="213"/>
                        <a:pt x="1576" y="213"/>
                        <a:pt x="1576" y="213"/>
                      </a:cubicBezTo>
                      <a:cubicBezTo>
                        <a:pt x="1576" y="213"/>
                        <a:pt x="1577" y="213"/>
                        <a:pt x="1577" y="213"/>
                      </a:cubicBezTo>
                      <a:cubicBezTo>
                        <a:pt x="1577" y="213"/>
                        <a:pt x="1577" y="213"/>
                        <a:pt x="1577" y="213"/>
                      </a:cubicBezTo>
                      <a:cubicBezTo>
                        <a:pt x="1578" y="213"/>
                        <a:pt x="1578" y="213"/>
                        <a:pt x="1578" y="213"/>
                      </a:cubicBezTo>
                      <a:cubicBezTo>
                        <a:pt x="1578" y="213"/>
                        <a:pt x="1578" y="214"/>
                        <a:pt x="1578" y="214"/>
                      </a:cubicBezTo>
                      <a:cubicBezTo>
                        <a:pt x="1578" y="214"/>
                        <a:pt x="1578" y="214"/>
                        <a:pt x="1578" y="214"/>
                      </a:cubicBezTo>
                      <a:cubicBezTo>
                        <a:pt x="1578" y="214"/>
                        <a:pt x="1578" y="214"/>
                        <a:pt x="1578" y="214"/>
                      </a:cubicBezTo>
                      <a:cubicBezTo>
                        <a:pt x="1578" y="214"/>
                        <a:pt x="1578" y="214"/>
                        <a:pt x="1578" y="214"/>
                      </a:cubicBezTo>
                      <a:cubicBezTo>
                        <a:pt x="1578" y="214"/>
                        <a:pt x="1578" y="214"/>
                        <a:pt x="1578" y="214"/>
                      </a:cubicBezTo>
                      <a:cubicBezTo>
                        <a:pt x="1579" y="214"/>
                        <a:pt x="1579" y="214"/>
                        <a:pt x="1579" y="214"/>
                      </a:cubicBezTo>
                      <a:cubicBezTo>
                        <a:pt x="1579" y="214"/>
                        <a:pt x="1579" y="215"/>
                        <a:pt x="1579" y="215"/>
                      </a:cubicBezTo>
                      <a:cubicBezTo>
                        <a:pt x="1579" y="215"/>
                        <a:pt x="1579" y="215"/>
                        <a:pt x="1580" y="215"/>
                      </a:cubicBezTo>
                      <a:cubicBezTo>
                        <a:pt x="1580" y="215"/>
                        <a:pt x="1580" y="215"/>
                        <a:pt x="1580" y="215"/>
                      </a:cubicBezTo>
                      <a:cubicBezTo>
                        <a:pt x="1580" y="215"/>
                        <a:pt x="1580" y="215"/>
                        <a:pt x="1580" y="215"/>
                      </a:cubicBezTo>
                      <a:cubicBezTo>
                        <a:pt x="1580" y="215"/>
                        <a:pt x="1580" y="215"/>
                        <a:pt x="1580" y="215"/>
                      </a:cubicBezTo>
                      <a:cubicBezTo>
                        <a:pt x="1580" y="215"/>
                        <a:pt x="1580" y="215"/>
                        <a:pt x="1580" y="215"/>
                      </a:cubicBezTo>
                      <a:cubicBezTo>
                        <a:pt x="1580" y="215"/>
                        <a:pt x="1580" y="215"/>
                        <a:pt x="1580" y="215"/>
                      </a:cubicBezTo>
                      <a:cubicBezTo>
                        <a:pt x="1581" y="215"/>
                        <a:pt x="1581" y="215"/>
                        <a:pt x="1581" y="215"/>
                      </a:cubicBezTo>
                      <a:cubicBezTo>
                        <a:pt x="1581" y="215"/>
                        <a:pt x="1581" y="215"/>
                        <a:pt x="1581" y="215"/>
                      </a:cubicBezTo>
                      <a:cubicBezTo>
                        <a:pt x="1581" y="216"/>
                        <a:pt x="1581" y="216"/>
                        <a:pt x="1581" y="216"/>
                      </a:cubicBezTo>
                      <a:cubicBezTo>
                        <a:pt x="1581" y="216"/>
                        <a:pt x="1581" y="216"/>
                        <a:pt x="1581" y="216"/>
                      </a:cubicBezTo>
                      <a:cubicBezTo>
                        <a:pt x="1581" y="216"/>
                        <a:pt x="1581" y="216"/>
                        <a:pt x="1582" y="216"/>
                      </a:cubicBezTo>
                      <a:cubicBezTo>
                        <a:pt x="1582" y="216"/>
                        <a:pt x="1582" y="216"/>
                        <a:pt x="1582" y="216"/>
                      </a:cubicBezTo>
                      <a:cubicBezTo>
                        <a:pt x="1582" y="216"/>
                        <a:pt x="1582" y="216"/>
                        <a:pt x="1582" y="216"/>
                      </a:cubicBezTo>
                      <a:cubicBezTo>
                        <a:pt x="1582" y="216"/>
                        <a:pt x="1582" y="216"/>
                        <a:pt x="1582" y="216"/>
                      </a:cubicBezTo>
                      <a:cubicBezTo>
                        <a:pt x="1582" y="216"/>
                        <a:pt x="1582" y="216"/>
                        <a:pt x="1582" y="216"/>
                      </a:cubicBezTo>
                      <a:cubicBezTo>
                        <a:pt x="1582" y="216"/>
                        <a:pt x="1582" y="216"/>
                        <a:pt x="1583" y="216"/>
                      </a:cubicBezTo>
                      <a:cubicBezTo>
                        <a:pt x="1583" y="217"/>
                        <a:pt x="1583" y="217"/>
                        <a:pt x="1583" y="217"/>
                      </a:cubicBezTo>
                      <a:cubicBezTo>
                        <a:pt x="1583" y="217"/>
                        <a:pt x="1583" y="217"/>
                        <a:pt x="1583" y="217"/>
                      </a:cubicBezTo>
                      <a:cubicBezTo>
                        <a:pt x="1583" y="217"/>
                        <a:pt x="1583" y="217"/>
                        <a:pt x="1583" y="217"/>
                      </a:cubicBezTo>
                      <a:cubicBezTo>
                        <a:pt x="1583" y="217"/>
                        <a:pt x="1583" y="217"/>
                        <a:pt x="1583" y="217"/>
                      </a:cubicBezTo>
                      <a:cubicBezTo>
                        <a:pt x="1583" y="217"/>
                        <a:pt x="1584" y="217"/>
                        <a:pt x="1584" y="217"/>
                      </a:cubicBezTo>
                      <a:cubicBezTo>
                        <a:pt x="1584" y="217"/>
                        <a:pt x="1584" y="217"/>
                        <a:pt x="1584" y="217"/>
                      </a:cubicBezTo>
                      <a:cubicBezTo>
                        <a:pt x="1584" y="217"/>
                        <a:pt x="1584" y="217"/>
                        <a:pt x="1584" y="217"/>
                      </a:cubicBezTo>
                      <a:cubicBezTo>
                        <a:pt x="1584" y="217"/>
                        <a:pt x="1584" y="217"/>
                        <a:pt x="1584" y="217"/>
                      </a:cubicBezTo>
                      <a:cubicBezTo>
                        <a:pt x="1584" y="218"/>
                        <a:pt x="1584" y="218"/>
                        <a:pt x="1584" y="218"/>
                      </a:cubicBezTo>
                      <a:cubicBezTo>
                        <a:pt x="1584" y="218"/>
                        <a:pt x="1584" y="218"/>
                        <a:pt x="1585" y="218"/>
                      </a:cubicBezTo>
                      <a:cubicBezTo>
                        <a:pt x="1585" y="218"/>
                        <a:pt x="1585" y="218"/>
                        <a:pt x="1585" y="218"/>
                      </a:cubicBezTo>
                      <a:cubicBezTo>
                        <a:pt x="1585" y="218"/>
                        <a:pt x="1585" y="218"/>
                        <a:pt x="1585" y="218"/>
                      </a:cubicBezTo>
                      <a:cubicBezTo>
                        <a:pt x="1585" y="218"/>
                        <a:pt x="1585" y="218"/>
                        <a:pt x="1585" y="218"/>
                      </a:cubicBezTo>
                      <a:cubicBezTo>
                        <a:pt x="1585" y="218"/>
                        <a:pt x="1585" y="218"/>
                        <a:pt x="1585" y="218"/>
                      </a:cubicBezTo>
                      <a:cubicBezTo>
                        <a:pt x="1585" y="218"/>
                        <a:pt x="1585" y="218"/>
                        <a:pt x="1586" y="218"/>
                      </a:cubicBezTo>
                      <a:cubicBezTo>
                        <a:pt x="1586" y="218"/>
                        <a:pt x="1586" y="218"/>
                        <a:pt x="1586" y="219"/>
                      </a:cubicBezTo>
                      <a:cubicBezTo>
                        <a:pt x="1586" y="219"/>
                        <a:pt x="1586" y="219"/>
                        <a:pt x="1586" y="219"/>
                      </a:cubicBezTo>
                      <a:cubicBezTo>
                        <a:pt x="1586" y="219"/>
                        <a:pt x="1586" y="219"/>
                        <a:pt x="1586" y="219"/>
                      </a:cubicBezTo>
                      <a:cubicBezTo>
                        <a:pt x="1586" y="219"/>
                        <a:pt x="1586" y="219"/>
                        <a:pt x="1586" y="219"/>
                      </a:cubicBezTo>
                      <a:cubicBezTo>
                        <a:pt x="1586" y="219"/>
                        <a:pt x="1587" y="219"/>
                        <a:pt x="1587" y="219"/>
                      </a:cubicBezTo>
                      <a:cubicBezTo>
                        <a:pt x="1587" y="219"/>
                        <a:pt x="1587" y="219"/>
                        <a:pt x="1587" y="219"/>
                      </a:cubicBezTo>
                      <a:cubicBezTo>
                        <a:pt x="1587" y="219"/>
                        <a:pt x="1587" y="219"/>
                        <a:pt x="1587" y="219"/>
                      </a:cubicBezTo>
                      <a:cubicBezTo>
                        <a:pt x="1587" y="219"/>
                        <a:pt x="1587" y="219"/>
                        <a:pt x="1587" y="219"/>
                      </a:cubicBezTo>
                      <a:cubicBezTo>
                        <a:pt x="1587" y="219"/>
                        <a:pt x="1587" y="219"/>
                        <a:pt x="1587" y="219"/>
                      </a:cubicBezTo>
                      <a:cubicBezTo>
                        <a:pt x="1587" y="219"/>
                        <a:pt x="1587" y="219"/>
                        <a:pt x="1587" y="219"/>
                      </a:cubicBezTo>
                      <a:cubicBezTo>
                        <a:pt x="1588" y="220"/>
                        <a:pt x="1588" y="220"/>
                        <a:pt x="1588" y="220"/>
                      </a:cubicBezTo>
                      <a:cubicBezTo>
                        <a:pt x="1588" y="220"/>
                        <a:pt x="1588" y="220"/>
                        <a:pt x="1588" y="220"/>
                      </a:cubicBezTo>
                      <a:cubicBezTo>
                        <a:pt x="1588" y="220"/>
                        <a:pt x="1588" y="220"/>
                        <a:pt x="1588" y="220"/>
                      </a:cubicBezTo>
                      <a:cubicBezTo>
                        <a:pt x="1588" y="220"/>
                        <a:pt x="1588" y="220"/>
                        <a:pt x="1588" y="220"/>
                      </a:cubicBezTo>
                      <a:cubicBezTo>
                        <a:pt x="1588" y="220"/>
                        <a:pt x="1589" y="220"/>
                        <a:pt x="1589" y="220"/>
                      </a:cubicBezTo>
                      <a:cubicBezTo>
                        <a:pt x="1589" y="220"/>
                        <a:pt x="1589" y="220"/>
                        <a:pt x="1589" y="220"/>
                      </a:cubicBezTo>
                      <a:cubicBezTo>
                        <a:pt x="1589" y="220"/>
                        <a:pt x="1589" y="220"/>
                        <a:pt x="1589" y="220"/>
                      </a:cubicBezTo>
                      <a:cubicBezTo>
                        <a:pt x="1589" y="221"/>
                        <a:pt x="1589" y="221"/>
                        <a:pt x="1589" y="221"/>
                      </a:cubicBezTo>
                      <a:cubicBezTo>
                        <a:pt x="1589" y="221"/>
                        <a:pt x="1589" y="221"/>
                        <a:pt x="1589" y="221"/>
                      </a:cubicBezTo>
                      <a:cubicBezTo>
                        <a:pt x="1589" y="221"/>
                        <a:pt x="1589" y="221"/>
                        <a:pt x="1589" y="221"/>
                      </a:cubicBezTo>
                      <a:cubicBezTo>
                        <a:pt x="1590" y="221"/>
                        <a:pt x="1590" y="221"/>
                        <a:pt x="1591" y="222"/>
                      </a:cubicBezTo>
                      <a:cubicBezTo>
                        <a:pt x="1591" y="222"/>
                        <a:pt x="1591" y="222"/>
                        <a:pt x="1591" y="222"/>
                      </a:cubicBezTo>
                      <a:cubicBezTo>
                        <a:pt x="1591" y="222"/>
                        <a:pt x="1591" y="222"/>
                        <a:pt x="1591" y="222"/>
                      </a:cubicBezTo>
                      <a:cubicBezTo>
                        <a:pt x="1591" y="222"/>
                        <a:pt x="1591" y="222"/>
                        <a:pt x="1591" y="222"/>
                      </a:cubicBezTo>
                      <a:cubicBezTo>
                        <a:pt x="1607" y="232"/>
                        <a:pt x="1623" y="242"/>
                        <a:pt x="1638" y="253"/>
                      </a:cubicBezTo>
                      <a:cubicBezTo>
                        <a:pt x="1638" y="253"/>
                        <a:pt x="1638" y="253"/>
                        <a:pt x="1638" y="253"/>
                      </a:cubicBezTo>
                      <a:cubicBezTo>
                        <a:pt x="1639" y="253"/>
                        <a:pt x="1639" y="253"/>
                        <a:pt x="1639" y="253"/>
                      </a:cubicBezTo>
                      <a:cubicBezTo>
                        <a:pt x="1639" y="253"/>
                        <a:pt x="1639" y="253"/>
                        <a:pt x="1639" y="253"/>
                      </a:cubicBezTo>
                      <a:cubicBezTo>
                        <a:pt x="1639" y="253"/>
                        <a:pt x="1639" y="254"/>
                        <a:pt x="1639" y="254"/>
                      </a:cubicBezTo>
                      <a:cubicBezTo>
                        <a:pt x="1639" y="254"/>
                        <a:pt x="1639" y="254"/>
                        <a:pt x="1639" y="254"/>
                      </a:cubicBezTo>
                      <a:cubicBezTo>
                        <a:pt x="1639" y="254"/>
                        <a:pt x="1640" y="254"/>
                        <a:pt x="1640" y="254"/>
                      </a:cubicBezTo>
                      <a:cubicBezTo>
                        <a:pt x="1640" y="254"/>
                        <a:pt x="1640" y="254"/>
                        <a:pt x="1640" y="254"/>
                      </a:cubicBezTo>
                      <a:cubicBezTo>
                        <a:pt x="1640" y="254"/>
                        <a:pt x="1640" y="254"/>
                        <a:pt x="1640" y="254"/>
                      </a:cubicBezTo>
                      <a:cubicBezTo>
                        <a:pt x="1640" y="254"/>
                        <a:pt x="1640" y="254"/>
                        <a:pt x="1640" y="255"/>
                      </a:cubicBezTo>
                      <a:cubicBezTo>
                        <a:pt x="1640" y="255"/>
                        <a:pt x="1641" y="255"/>
                        <a:pt x="1641" y="255"/>
                      </a:cubicBezTo>
                      <a:cubicBezTo>
                        <a:pt x="1641" y="255"/>
                        <a:pt x="1641" y="255"/>
                        <a:pt x="1641" y="255"/>
                      </a:cubicBezTo>
                      <a:cubicBezTo>
                        <a:pt x="1641" y="255"/>
                        <a:pt x="1641" y="255"/>
                        <a:pt x="1641" y="255"/>
                      </a:cubicBezTo>
                      <a:cubicBezTo>
                        <a:pt x="1641" y="255"/>
                        <a:pt x="1641" y="255"/>
                        <a:pt x="1641" y="255"/>
                      </a:cubicBezTo>
                      <a:cubicBezTo>
                        <a:pt x="1641" y="255"/>
                        <a:pt x="1641" y="255"/>
                        <a:pt x="1641" y="255"/>
                      </a:cubicBezTo>
                      <a:cubicBezTo>
                        <a:pt x="1641" y="255"/>
                        <a:pt x="1641" y="255"/>
                        <a:pt x="1641" y="255"/>
                      </a:cubicBezTo>
                      <a:cubicBezTo>
                        <a:pt x="1642" y="255"/>
                        <a:pt x="1642" y="255"/>
                        <a:pt x="1642" y="256"/>
                      </a:cubicBezTo>
                      <a:cubicBezTo>
                        <a:pt x="1642" y="256"/>
                        <a:pt x="1642" y="256"/>
                        <a:pt x="1642" y="256"/>
                      </a:cubicBezTo>
                      <a:cubicBezTo>
                        <a:pt x="1642" y="256"/>
                        <a:pt x="1642" y="256"/>
                        <a:pt x="1642" y="256"/>
                      </a:cubicBezTo>
                      <a:cubicBezTo>
                        <a:pt x="1642" y="256"/>
                        <a:pt x="1642" y="256"/>
                        <a:pt x="1642" y="256"/>
                      </a:cubicBezTo>
                      <a:cubicBezTo>
                        <a:pt x="1642" y="256"/>
                        <a:pt x="1642" y="256"/>
                        <a:pt x="1643" y="256"/>
                      </a:cubicBezTo>
                      <a:cubicBezTo>
                        <a:pt x="1643" y="256"/>
                        <a:pt x="1643" y="256"/>
                        <a:pt x="1643" y="256"/>
                      </a:cubicBezTo>
                      <a:cubicBezTo>
                        <a:pt x="1643" y="256"/>
                        <a:pt x="1643" y="256"/>
                        <a:pt x="1643" y="256"/>
                      </a:cubicBezTo>
                      <a:cubicBezTo>
                        <a:pt x="1643" y="256"/>
                        <a:pt x="1643" y="256"/>
                        <a:pt x="1643" y="256"/>
                      </a:cubicBezTo>
                      <a:cubicBezTo>
                        <a:pt x="1643" y="256"/>
                        <a:pt x="1643" y="256"/>
                        <a:pt x="1643" y="257"/>
                      </a:cubicBezTo>
                      <a:cubicBezTo>
                        <a:pt x="1643" y="257"/>
                        <a:pt x="1643" y="257"/>
                        <a:pt x="1643" y="257"/>
                      </a:cubicBezTo>
                      <a:cubicBezTo>
                        <a:pt x="1643" y="257"/>
                        <a:pt x="1644" y="257"/>
                        <a:pt x="1644" y="257"/>
                      </a:cubicBezTo>
                      <a:cubicBezTo>
                        <a:pt x="1644" y="257"/>
                        <a:pt x="1644" y="257"/>
                        <a:pt x="1644" y="257"/>
                      </a:cubicBezTo>
                      <a:cubicBezTo>
                        <a:pt x="1644" y="257"/>
                        <a:pt x="1644" y="257"/>
                        <a:pt x="1644" y="257"/>
                      </a:cubicBezTo>
                      <a:cubicBezTo>
                        <a:pt x="1644" y="257"/>
                        <a:pt x="1644" y="257"/>
                        <a:pt x="1644" y="257"/>
                      </a:cubicBezTo>
                      <a:cubicBezTo>
                        <a:pt x="1644" y="257"/>
                        <a:pt x="1644" y="257"/>
                        <a:pt x="1644" y="257"/>
                      </a:cubicBezTo>
                      <a:cubicBezTo>
                        <a:pt x="1644" y="257"/>
                        <a:pt x="1645" y="257"/>
                        <a:pt x="1645" y="258"/>
                      </a:cubicBezTo>
                      <a:cubicBezTo>
                        <a:pt x="1645" y="258"/>
                        <a:pt x="1645" y="258"/>
                        <a:pt x="1645" y="258"/>
                      </a:cubicBezTo>
                      <a:cubicBezTo>
                        <a:pt x="1645" y="258"/>
                        <a:pt x="1645" y="258"/>
                        <a:pt x="1645" y="258"/>
                      </a:cubicBezTo>
                      <a:cubicBezTo>
                        <a:pt x="1645" y="258"/>
                        <a:pt x="1645" y="258"/>
                        <a:pt x="1645" y="258"/>
                      </a:cubicBezTo>
                      <a:cubicBezTo>
                        <a:pt x="1645" y="258"/>
                        <a:pt x="1645" y="258"/>
                        <a:pt x="1645" y="258"/>
                      </a:cubicBezTo>
                      <a:cubicBezTo>
                        <a:pt x="1645" y="258"/>
                        <a:pt x="1645" y="258"/>
                        <a:pt x="1645" y="258"/>
                      </a:cubicBezTo>
                      <a:cubicBezTo>
                        <a:pt x="1646" y="258"/>
                        <a:pt x="1646" y="259"/>
                        <a:pt x="1647" y="259"/>
                      </a:cubicBezTo>
                      <a:cubicBezTo>
                        <a:pt x="1647" y="259"/>
                        <a:pt x="1647" y="259"/>
                        <a:pt x="1647" y="259"/>
                      </a:cubicBezTo>
                      <a:cubicBezTo>
                        <a:pt x="1647" y="259"/>
                        <a:pt x="1647" y="259"/>
                        <a:pt x="1647" y="259"/>
                      </a:cubicBezTo>
                      <a:cubicBezTo>
                        <a:pt x="1647" y="259"/>
                        <a:pt x="1647" y="259"/>
                        <a:pt x="1647" y="259"/>
                      </a:cubicBezTo>
                      <a:cubicBezTo>
                        <a:pt x="1647" y="259"/>
                        <a:pt x="1647" y="259"/>
                        <a:pt x="1647" y="259"/>
                      </a:cubicBezTo>
                      <a:cubicBezTo>
                        <a:pt x="1647" y="259"/>
                        <a:pt x="1647" y="259"/>
                        <a:pt x="1647" y="259"/>
                      </a:cubicBezTo>
                      <a:cubicBezTo>
                        <a:pt x="1654" y="264"/>
                        <a:pt x="1660" y="269"/>
                        <a:pt x="1667" y="274"/>
                      </a:cubicBezTo>
                      <a:cubicBezTo>
                        <a:pt x="1673" y="279"/>
                        <a:pt x="1681" y="281"/>
                        <a:pt x="1688" y="281"/>
                      </a:cubicBezTo>
                      <a:cubicBezTo>
                        <a:pt x="1699" y="281"/>
                        <a:pt x="1710" y="276"/>
                        <a:pt x="1717" y="267"/>
                      </a:cubicBezTo>
                      <a:cubicBezTo>
                        <a:pt x="1729" y="251"/>
                        <a:pt x="1726" y="228"/>
                        <a:pt x="1710" y="216"/>
                      </a:cubicBezTo>
                      <a:cubicBezTo>
                        <a:pt x="1676" y="191"/>
                        <a:pt x="1640" y="167"/>
                        <a:pt x="1603" y="145"/>
                      </a:cubicBezTo>
                      <a:cubicBezTo>
                        <a:pt x="1598" y="142"/>
                        <a:pt x="1591" y="140"/>
                        <a:pt x="1585" y="140"/>
                      </a:cubicBezTo>
                      <a:cubicBezTo>
                        <a:pt x="1573" y="140"/>
                        <a:pt x="1561" y="147"/>
                        <a:pt x="1554" y="158"/>
                      </a:cubicBezTo>
                      <a:cubicBezTo>
                        <a:pt x="1544" y="175"/>
                        <a:pt x="1550" y="197"/>
                        <a:pt x="1567" y="207"/>
                      </a:cubicBezTo>
                      <a:close/>
                      <a:moveTo>
                        <a:pt x="943" y="79"/>
                      </a:moveTo>
                      <a:cubicBezTo>
                        <a:pt x="944" y="79"/>
                        <a:pt x="946" y="79"/>
                        <a:pt x="947" y="79"/>
                      </a:cubicBezTo>
                      <a:cubicBezTo>
                        <a:pt x="976" y="75"/>
                        <a:pt x="1004" y="73"/>
                        <a:pt x="1033" y="72"/>
                      </a:cubicBezTo>
                      <a:cubicBezTo>
                        <a:pt x="1033" y="72"/>
                        <a:pt x="1033" y="72"/>
                        <a:pt x="1033" y="72"/>
                      </a:cubicBezTo>
                      <a:cubicBezTo>
                        <a:pt x="1033" y="72"/>
                        <a:pt x="1034" y="72"/>
                        <a:pt x="1034" y="72"/>
                      </a:cubicBezTo>
                      <a:cubicBezTo>
                        <a:pt x="1034" y="72"/>
                        <a:pt x="1034" y="72"/>
                        <a:pt x="1034" y="72"/>
                      </a:cubicBezTo>
                      <a:cubicBezTo>
                        <a:pt x="1034" y="72"/>
                        <a:pt x="1034" y="72"/>
                        <a:pt x="1034" y="72"/>
                      </a:cubicBezTo>
                      <a:cubicBezTo>
                        <a:pt x="1034" y="72"/>
                        <a:pt x="1034" y="72"/>
                        <a:pt x="1034" y="72"/>
                      </a:cubicBezTo>
                      <a:cubicBezTo>
                        <a:pt x="1034" y="72"/>
                        <a:pt x="1035" y="72"/>
                        <a:pt x="1035" y="72"/>
                      </a:cubicBezTo>
                      <a:cubicBezTo>
                        <a:pt x="1035" y="72"/>
                        <a:pt x="1035" y="72"/>
                        <a:pt x="1035" y="72"/>
                      </a:cubicBezTo>
                      <a:cubicBezTo>
                        <a:pt x="1035" y="72"/>
                        <a:pt x="1035" y="72"/>
                        <a:pt x="1035" y="72"/>
                      </a:cubicBezTo>
                      <a:cubicBezTo>
                        <a:pt x="1035" y="72"/>
                        <a:pt x="1035" y="72"/>
                        <a:pt x="1035" y="72"/>
                      </a:cubicBezTo>
                      <a:cubicBezTo>
                        <a:pt x="1035" y="72"/>
                        <a:pt x="1035" y="72"/>
                        <a:pt x="1036" y="72"/>
                      </a:cubicBezTo>
                      <a:cubicBezTo>
                        <a:pt x="1036" y="72"/>
                        <a:pt x="1036" y="72"/>
                        <a:pt x="1036" y="72"/>
                      </a:cubicBezTo>
                      <a:cubicBezTo>
                        <a:pt x="1036" y="72"/>
                        <a:pt x="1036" y="72"/>
                        <a:pt x="1036" y="72"/>
                      </a:cubicBezTo>
                      <a:cubicBezTo>
                        <a:pt x="1036" y="72"/>
                        <a:pt x="1036" y="72"/>
                        <a:pt x="1036" y="72"/>
                      </a:cubicBezTo>
                      <a:cubicBezTo>
                        <a:pt x="1037" y="72"/>
                        <a:pt x="1038" y="72"/>
                        <a:pt x="1039" y="72"/>
                      </a:cubicBezTo>
                      <a:cubicBezTo>
                        <a:pt x="1039" y="72"/>
                        <a:pt x="1039" y="72"/>
                        <a:pt x="1039" y="72"/>
                      </a:cubicBezTo>
                      <a:cubicBezTo>
                        <a:pt x="1039" y="72"/>
                        <a:pt x="1040" y="72"/>
                        <a:pt x="1040" y="72"/>
                      </a:cubicBezTo>
                      <a:cubicBezTo>
                        <a:pt x="1040" y="72"/>
                        <a:pt x="1040" y="72"/>
                        <a:pt x="1040" y="72"/>
                      </a:cubicBezTo>
                      <a:cubicBezTo>
                        <a:pt x="1040" y="72"/>
                        <a:pt x="1040" y="72"/>
                        <a:pt x="1040" y="72"/>
                      </a:cubicBezTo>
                      <a:cubicBezTo>
                        <a:pt x="1040" y="72"/>
                        <a:pt x="1040" y="72"/>
                        <a:pt x="1040" y="72"/>
                      </a:cubicBezTo>
                      <a:cubicBezTo>
                        <a:pt x="1040" y="72"/>
                        <a:pt x="1041" y="72"/>
                        <a:pt x="1041" y="72"/>
                      </a:cubicBezTo>
                      <a:cubicBezTo>
                        <a:pt x="1041" y="72"/>
                        <a:pt x="1041" y="72"/>
                        <a:pt x="1041" y="72"/>
                      </a:cubicBezTo>
                      <a:cubicBezTo>
                        <a:pt x="1041" y="72"/>
                        <a:pt x="1041" y="72"/>
                        <a:pt x="1041" y="72"/>
                      </a:cubicBezTo>
                      <a:cubicBezTo>
                        <a:pt x="1041" y="72"/>
                        <a:pt x="1041" y="72"/>
                        <a:pt x="1041" y="72"/>
                      </a:cubicBezTo>
                      <a:cubicBezTo>
                        <a:pt x="1041" y="72"/>
                        <a:pt x="1041" y="72"/>
                        <a:pt x="1042" y="72"/>
                      </a:cubicBezTo>
                      <a:cubicBezTo>
                        <a:pt x="1042" y="72"/>
                        <a:pt x="1042" y="72"/>
                        <a:pt x="1042" y="72"/>
                      </a:cubicBezTo>
                      <a:cubicBezTo>
                        <a:pt x="1042" y="72"/>
                        <a:pt x="1042" y="72"/>
                        <a:pt x="1042" y="72"/>
                      </a:cubicBezTo>
                      <a:cubicBezTo>
                        <a:pt x="1042" y="72"/>
                        <a:pt x="1042" y="72"/>
                        <a:pt x="1042" y="72"/>
                      </a:cubicBezTo>
                      <a:cubicBezTo>
                        <a:pt x="1042" y="72"/>
                        <a:pt x="1042" y="72"/>
                        <a:pt x="1043" y="72"/>
                      </a:cubicBezTo>
                      <a:cubicBezTo>
                        <a:pt x="1043" y="72"/>
                        <a:pt x="1043" y="72"/>
                        <a:pt x="1043" y="72"/>
                      </a:cubicBezTo>
                      <a:cubicBezTo>
                        <a:pt x="1043" y="72"/>
                        <a:pt x="1043" y="72"/>
                        <a:pt x="1043" y="72"/>
                      </a:cubicBezTo>
                      <a:cubicBezTo>
                        <a:pt x="1043" y="72"/>
                        <a:pt x="1043" y="72"/>
                        <a:pt x="1043" y="72"/>
                      </a:cubicBezTo>
                      <a:cubicBezTo>
                        <a:pt x="1043" y="72"/>
                        <a:pt x="1043" y="72"/>
                        <a:pt x="1044" y="72"/>
                      </a:cubicBezTo>
                      <a:cubicBezTo>
                        <a:pt x="1044" y="72"/>
                        <a:pt x="1044" y="72"/>
                        <a:pt x="1044" y="72"/>
                      </a:cubicBezTo>
                      <a:cubicBezTo>
                        <a:pt x="1044" y="72"/>
                        <a:pt x="1044" y="72"/>
                        <a:pt x="1044" y="72"/>
                      </a:cubicBezTo>
                      <a:cubicBezTo>
                        <a:pt x="1044" y="72"/>
                        <a:pt x="1044" y="72"/>
                        <a:pt x="1044" y="72"/>
                      </a:cubicBezTo>
                      <a:cubicBezTo>
                        <a:pt x="1044" y="72"/>
                        <a:pt x="1044" y="72"/>
                        <a:pt x="1045" y="72"/>
                      </a:cubicBezTo>
                      <a:cubicBezTo>
                        <a:pt x="1045" y="72"/>
                        <a:pt x="1045" y="72"/>
                        <a:pt x="1045" y="72"/>
                      </a:cubicBezTo>
                      <a:cubicBezTo>
                        <a:pt x="1045" y="72"/>
                        <a:pt x="1046" y="72"/>
                        <a:pt x="1046" y="72"/>
                      </a:cubicBezTo>
                      <a:cubicBezTo>
                        <a:pt x="1046" y="72"/>
                        <a:pt x="1046" y="72"/>
                        <a:pt x="1046" y="72"/>
                      </a:cubicBezTo>
                      <a:cubicBezTo>
                        <a:pt x="1047" y="72"/>
                        <a:pt x="1047" y="72"/>
                        <a:pt x="1047" y="72"/>
                      </a:cubicBezTo>
                      <a:cubicBezTo>
                        <a:pt x="1047" y="72"/>
                        <a:pt x="1047" y="72"/>
                        <a:pt x="1047" y="72"/>
                      </a:cubicBezTo>
                      <a:cubicBezTo>
                        <a:pt x="1047" y="72"/>
                        <a:pt x="1047" y="72"/>
                        <a:pt x="1047" y="72"/>
                      </a:cubicBezTo>
                      <a:cubicBezTo>
                        <a:pt x="1047" y="72"/>
                        <a:pt x="1047" y="72"/>
                        <a:pt x="1047" y="72"/>
                      </a:cubicBezTo>
                      <a:cubicBezTo>
                        <a:pt x="1047" y="72"/>
                        <a:pt x="1048" y="72"/>
                        <a:pt x="1048" y="72"/>
                      </a:cubicBezTo>
                      <a:cubicBezTo>
                        <a:pt x="1048" y="72"/>
                        <a:pt x="1048" y="72"/>
                        <a:pt x="1048" y="72"/>
                      </a:cubicBezTo>
                      <a:cubicBezTo>
                        <a:pt x="1048" y="72"/>
                        <a:pt x="1048" y="72"/>
                        <a:pt x="1048" y="72"/>
                      </a:cubicBezTo>
                      <a:cubicBezTo>
                        <a:pt x="1048" y="72"/>
                        <a:pt x="1048" y="72"/>
                        <a:pt x="1048" y="72"/>
                      </a:cubicBezTo>
                      <a:cubicBezTo>
                        <a:pt x="1048" y="72"/>
                        <a:pt x="1049" y="72"/>
                        <a:pt x="1049" y="72"/>
                      </a:cubicBezTo>
                      <a:cubicBezTo>
                        <a:pt x="1049" y="72"/>
                        <a:pt x="1049" y="72"/>
                        <a:pt x="1049" y="72"/>
                      </a:cubicBezTo>
                      <a:cubicBezTo>
                        <a:pt x="1049" y="72"/>
                        <a:pt x="1049" y="72"/>
                        <a:pt x="1049" y="72"/>
                      </a:cubicBezTo>
                      <a:cubicBezTo>
                        <a:pt x="1049" y="72"/>
                        <a:pt x="1049" y="72"/>
                        <a:pt x="1049" y="72"/>
                      </a:cubicBezTo>
                      <a:cubicBezTo>
                        <a:pt x="1049" y="72"/>
                        <a:pt x="1049" y="72"/>
                        <a:pt x="1050" y="72"/>
                      </a:cubicBezTo>
                      <a:cubicBezTo>
                        <a:pt x="1050" y="72"/>
                        <a:pt x="1050" y="72"/>
                        <a:pt x="1050" y="72"/>
                      </a:cubicBezTo>
                      <a:cubicBezTo>
                        <a:pt x="1050" y="72"/>
                        <a:pt x="1050" y="72"/>
                        <a:pt x="1050" y="72"/>
                      </a:cubicBezTo>
                      <a:cubicBezTo>
                        <a:pt x="1050" y="72"/>
                        <a:pt x="1050" y="72"/>
                        <a:pt x="1050" y="72"/>
                      </a:cubicBezTo>
                      <a:cubicBezTo>
                        <a:pt x="1050" y="72"/>
                        <a:pt x="1050" y="72"/>
                        <a:pt x="1051" y="72"/>
                      </a:cubicBezTo>
                      <a:cubicBezTo>
                        <a:pt x="1051" y="72"/>
                        <a:pt x="1051" y="72"/>
                        <a:pt x="1051" y="72"/>
                      </a:cubicBezTo>
                      <a:cubicBezTo>
                        <a:pt x="1051" y="72"/>
                        <a:pt x="1051" y="72"/>
                        <a:pt x="1051" y="72"/>
                      </a:cubicBezTo>
                      <a:cubicBezTo>
                        <a:pt x="1051" y="72"/>
                        <a:pt x="1051" y="72"/>
                        <a:pt x="1051" y="72"/>
                      </a:cubicBezTo>
                      <a:cubicBezTo>
                        <a:pt x="1051" y="72"/>
                        <a:pt x="1051" y="72"/>
                        <a:pt x="1052" y="72"/>
                      </a:cubicBezTo>
                      <a:cubicBezTo>
                        <a:pt x="1052" y="72"/>
                        <a:pt x="1052" y="72"/>
                        <a:pt x="1052" y="72"/>
                      </a:cubicBezTo>
                      <a:cubicBezTo>
                        <a:pt x="1052" y="72"/>
                        <a:pt x="1052" y="72"/>
                        <a:pt x="1052" y="72"/>
                      </a:cubicBezTo>
                      <a:cubicBezTo>
                        <a:pt x="1052" y="72"/>
                        <a:pt x="1052" y="72"/>
                        <a:pt x="1052" y="72"/>
                      </a:cubicBezTo>
                      <a:cubicBezTo>
                        <a:pt x="1052" y="72"/>
                        <a:pt x="1053" y="72"/>
                        <a:pt x="1053" y="72"/>
                      </a:cubicBezTo>
                      <a:cubicBezTo>
                        <a:pt x="1053" y="72"/>
                        <a:pt x="1053" y="72"/>
                        <a:pt x="1053" y="72"/>
                      </a:cubicBezTo>
                      <a:cubicBezTo>
                        <a:pt x="1053" y="72"/>
                        <a:pt x="1053" y="72"/>
                        <a:pt x="1053" y="72"/>
                      </a:cubicBezTo>
                      <a:cubicBezTo>
                        <a:pt x="1053" y="72"/>
                        <a:pt x="1053" y="72"/>
                        <a:pt x="1053" y="72"/>
                      </a:cubicBezTo>
                      <a:cubicBezTo>
                        <a:pt x="1054" y="72"/>
                        <a:pt x="1054" y="72"/>
                        <a:pt x="1054" y="72"/>
                      </a:cubicBezTo>
                      <a:cubicBezTo>
                        <a:pt x="1054" y="72"/>
                        <a:pt x="1054" y="72"/>
                        <a:pt x="1054" y="72"/>
                      </a:cubicBezTo>
                      <a:cubicBezTo>
                        <a:pt x="1054" y="72"/>
                        <a:pt x="1054" y="72"/>
                        <a:pt x="1054" y="72"/>
                      </a:cubicBezTo>
                      <a:cubicBezTo>
                        <a:pt x="1054" y="72"/>
                        <a:pt x="1054" y="72"/>
                        <a:pt x="1054" y="72"/>
                      </a:cubicBezTo>
                      <a:cubicBezTo>
                        <a:pt x="1055" y="72"/>
                        <a:pt x="1055" y="72"/>
                        <a:pt x="1055" y="72"/>
                      </a:cubicBezTo>
                      <a:cubicBezTo>
                        <a:pt x="1055" y="72"/>
                        <a:pt x="1055" y="72"/>
                        <a:pt x="1055" y="72"/>
                      </a:cubicBezTo>
                      <a:cubicBezTo>
                        <a:pt x="1055" y="72"/>
                        <a:pt x="1055" y="72"/>
                        <a:pt x="1055" y="72"/>
                      </a:cubicBezTo>
                      <a:cubicBezTo>
                        <a:pt x="1055" y="72"/>
                        <a:pt x="1055" y="72"/>
                        <a:pt x="1055" y="72"/>
                      </a:cubicBezTo>
                      <a:cubicBezTo>
                        <a:pt x="1055" y="72"/>
                        <a:pt x="1056" y="72"/>
                        <a:pt x="1056" y="72"/>
                      </a:cubicBezTo>
                      <a:cubicBezTo>
                        <a:pt x="1056" y="72"/>
                        <a:pt x="1056" y="72"/>
                        <a:pt x="1056" y="72"/>
                      </a:cubicBezTo>
                      <a:cubicBezTo>
                        <a:pt x="1056" y="72"/>
                        <a:pt x="1056" y="72"/>
                        <a:pt x="1056" y="72"/>
                      </a:cubicBezTo>
                      <a:cubicBezTo>
                        <a:pt x="1056" y="72"/>
                        <a:pt x="1056" y="72"/>
                        <a:pt x="1056" y="72"/>
                      </a:cubicBezTo>
                      <a:cubicBezTo>
                        <a:pt x="1056" y="72"/>
                        <a:pt x="1057" y="72"/>
                        <a:pt x="1057" y="72"/>
                      </a:cubicBezTo>
                      <a:cubicBezTo>
                        <a:pt x="1057" y="72"/>
                        <a:pt x="1057" y="72"/>
                        <a:pt x="1057" y="72"/>
                      </a:cubicBezTo>
                      <a:cubicBezTo>
                        <a:pt x="1057" y="72"/>
                        <a:pt x="1057" y="72"/>
                        <a:pt x="1057" y="72"/>
                      </a:cubicBezTo>
                      <a:cubicBezTo>
                        <a:pt x="1057" y="72"/>
                        <a:pt x="1057" y="72"/>
                        <a:pt x="1057" y="72"/>
                      </a:cubicBezTo>
                      <a:cubicBezTo>
                        <a:pt x="1057" y="72"/>
                        <a:pt x="1057" y="72"/>
                        <a:pt x="1058" y="72"/>
                      </a:cubicBezTo>
                      <a:cubicBezTo>
                        <a:pt x="1058" y="72"/>
                        <a:pt x="1058" y="72"/>
                        <a:pt x="1058" y="72"/>
                      </a:cubicBezTo>
                      <a:cubicBezTo>
                        <a:pt x="1058" y="72"/>
                        <a:pt x="1058" y="72"/>
                        <a:pt x="1058" y="72"/>
                      </a:cubicBezTo>
                      <a:cubicBezTo>
                        <a:pt x="1058" y="72"/>
                        <a:pt x="1058" y="72"/>
                        <a:pt x="1058" y="72"/>
                      </a:cubicBezTo>
                      <a:cubicBezTo>
                        <a:pt x="1058" y="72"/>
                        <a:pt x="1058" y="72"/>
                        <a:pt x="1059" y="72"/>
                      </a:cubicBezTo>
                      <a:cubicBezTo>
                        <a:pt x="1059" y="72"/>
                        <a:pt x="1059" y="72"/>
                        <a:pt x="1059" y="72"/>
                      </a:cubicBezTo>
                      <a:cubicBezTo>
                        <a:pt x="1059" y="72"/>
                        <a:pt x="1059" y="72"/>
                        <a:pt x="1059" y="72"/>
                      </a:cubicBezTo>
                      <a:cubicBezTo>
                        <a:pt x="1059" y="72"/>
                        <a:pt x="1059" y="72"/>
                        <a:pt x="1059" y="72"/>
                      </a:cubicBezTo>
                      <a:cubicBezTo>
                        <a:pt x="1059" y="72"/>
                        <a:pt x="1059" y="72"/>
                        <a:pt x="1060" y="72"/>
                      </a:cubicBezTo>
                      <a:cubicBezTo>
                        <a:pt x="1060" y="72"/>
                        <a:pt x="1060" y="72"/>
                        <a:pt x="1060" y="72"/>
                      </a:cubicBezTo>
                      <a:cubicBezTo>
                        <a:pt x="1060" y="72"/>
                        <a:pt x="1060" y="72"/>
                        <a:pt x="1060" y="72"/>
                      </a:cubicBezTo>
                      <a:cubicBezTo>
                        <a:pt x="1060" y="72"/>
                        <a:pt x="1060" y="72"/>
                        <a:pt x="1060" y="72"/>
                      </a:cubicBezTo>
                      <a:cubicBezTo>
                        <a:pt x="1061" y="72"/>
                        <a:pt x="1061" y="72"/>
                        <a:pt x="1061" y="72"/>
                      </a:cubicBezTo>
                      <a:cubicBezTo>
                        <a:pt x="1061" y="72"/>
                        <a:pt x="1061" y="72"/>
                        <a:pt x="1061" y="72"/>
                      </a:cubicBezTo>
                      <a:cubicBezTo>
                        <a:pt x="1061" y="72"/>
                        <a:pt x="1061" y="72"/>
                        <a:pt x="1061" y="72"/>
                      </a:cubicBezTo>
                      <a:cubicBezTo>
                        <a:pt x="1061" y="72"/>
                        <a:pt x="1061" y="72"/>
                        <a:pt x="1061" y="72"/>
                      </a:cubicBezTo>
                      <a:cubicBezTo>
                        <a:pt x="1062" y="72"/>
                        <a:pt x="1062" y="72"/>
                        <a:pt x="1062" y="72"/>
                      </a:cubicBezTo>
                      <a:cubicBezTo>
                        <a:pt x="1062" y="72"/>
                        <a:pt x="1062" y="72"/>
                        <a:pt x="1062" y="72"/>
                      </a:cubicBezTo>
                      <a:cubicBezTo>
                        <a:pt x="1062" y="72"/>
                        <a:pt x="1062" y="72"/>
                        <a:pt x="1062" y="72"/>
                      </a:cubicBezTo>
                      <a:cubicBezTo>
                        <a:pt x="1062" y="72"/>
                        <a:pt x="1062" y="72"/>
                        <a:pt x="1062" y="72"/>
                      </a:cubicBezTo>
                      <a:cubicBezTo>
                        <a:pt x="1063" y="72"/>
                        <a:pt x="1063" y="72"/>
                        <a:pt x="1063" y="72"/>
                      </a:cubicBezTo>
                      <a:cubicBezTo>
                        <a:pt x="1063" y="72"/>
                        <a:pt x="1063" y="72"/>
                        <a:pt x="1063" y="72"/>
                      </a:cubicBezTo>
                      <a:cubicBezTo>
                        <a:pt x="1063" y="72"/>
                        <a:pt x="1063" y="72"/>
                        <a:pt x="1063" y="72"/>
                      </a:cubicBezTo>
                      <a:cubicBezTo>
                        <a:pt x="1063" y="72"/>
                        <a:pt x="1063" y="72"/>
                        <a:pt x="1063" y="72"/>
                      </a:cubicBezTo>
                      <a:cubicBezTo>
                        <a:pt x="1064" y="72"/>
                        <a:pt x="1064" y="72"/>
                        <a:pt x="1064" y="72"/>
                      </a:cubicBezTo>
                      <a:cubicBezTo>
                        <a:pt x="1064" y="72"/>
                        <a:pt x="1064" y="72"/>
                        <a:pt x="1064" y="72"/>
                      </a:cubicBezTo>
                      <a:cubicBezTo>
                        <a:pt x="1064" y="72"/>
                        <a:pt x="1064" y="72"/>
                        <a:pt x="1064" y="72"/>
                      </a:cubicBezTo>
                      <a:cubicBezTo>
                        <a:pt x="1064" y="72"/>
                        <a:pt x="1064" y="72"/>
                        <a:pt x="1064" y="72"/>
                      </a:cubicBezTo>
                      <a:cubicBezTo>
                        <a:pt x="1064" y="72"/>
                        <a:pt x="1065" y="72"/>
                        <a:pt x="1065" y="72"/>
                      </a:cubicBezTo>
                      <a:cubicBezTo>
                        <a:pt x="1065" y="72"/>
                        <a:pt x="1065" y="72"/>
                        <a:pt x="1065" y="72"/>
                      </a:cubicBezTo>
                      <a:cubicBezTo>
                        <a:pt x="1065" y="72"/>
                        <a:pt x="1065" y="72"/>
                        <a:pt x="1065" y="72"/>
                      </a:cubicBezTo>
                      <a:cubicBezTo>
                        <a:pt x="1065" y="72"/>
                        <a:pt x="1065" y="72"/>
                        <a:pt x="1065" y="72"/>
                      </a:cubicBezTo>
                      <a:cubicBezTo>
                        <a:pt x="1066" y="72"/>
                        <a:pt x="1066" y="72"/>
                        <a:pt x="1066" y="72"/>
                      </a:cubicBezTo>
                      <a:cubicBezTo>
                        <a:pt x="1066" y="72"/>
                        <a:pt x="1066" y="72"/>
                        <a:pt x="1066" y="72"/>
                      </a:cubicBezTo>
                      <a:cubicBezTo>
                        <a:pt x="1066" y="72"/>
                        <a:pt x="1066" y="72"/>
                        <a:pt x="1066" y="72"/>
                      </a:cubicBezTo>
                      <a:cubicBezTo>
                        <a:pt x="1067" y="72"/>
                        <a:pt x="1067" y="72"/>
                        <a:pt x="1067" y="72"/>
                      </a:cubicBezTo>
                      <a:cubicBezTo>
                        <a:pt x="1067" y="72"/>
                        <a:pt x="1067" y="72"/>
                        <a:pt x="1067" y="72"/>
                      </a:cubicBezTo>
                      <a:cubicBezTo>
                        <a:pt x="1067" y="72"/>
                        <a:pt x="1067" y="72"/>
                        <a:pt x="1068" y="72"/>
                      </a:cubicBezTo>
                      <a:cubicBezTo>
                        <a:pt x="1068" y="72"/>
                        <a:pt x="1068" y="72"/>
                        <a:pt x="1068" y="72"/>
                      </a:cubicBezTo>
                      <a:cubicBezTo>
                        <a:pt x="1068" y="72"/>
                        <a:pt x="1068" y="72"/>
                        <a:pt x="1068" y="72"/>
                      </a:cubicBezTo>
                      <a:cubicBezTo>
                        <a:pt x="1068" y="72"/>
                        <a:pt x="1068" y="72"/>
                        <a:pt x="1068" y="72"/>
                      </a:cubicBezTo>
                      <a:cubicBezTo>
                        <a:pt x="1069" y="72"/>
                        <a:pt x="1069" y="72"/>
                        <a:pt x="1069" y="72"/>
                      </a:cubicBezTo>
                      <a:cubicBezTo>
                        <a:pt x="1069" y="72"/>
                        <a:pt x="1069" y="72"/>
                        <a:pt x="1069" y="72"/>
                      </a:cubicBezTo>
                      <a:cubicBezTo>
                        <a:pt x="1069" y="72"/>
                        <a:pt x="1069" y="72"/>
                        <a:pt x="1070" y="72"/>
                      </a:cubicBezTo>
                      <a:cubicBezTo>
                        <a:pt x="1070" y="72"/>
                        <a:pt x="1070" y="72"/>
                        <a:pt x="1070" y="72"/>
                      </a:cubicBezTo>
                      <a:cubicBezTo>
                        <a:pt x="1070" y="72"/>
                        <a:pt x="1070" y="72"/>
                        <a:pt x="1070" y="72"/>
                      </a:cubicBezTo>
                      <a:cubicBezTo>
                        <a:pt x="1070" y="72"/>
                        <a:pt x="1070" y="72"/>
                        <a:pt x="1070" y="72"/>
                      </a:cubicBezTo>
                      <a:cubicBezTo>
                        <a:pt x="1071" y="72"/>
                        <a:pt x="1071" y="72"/>
                        <a:pt x="1071" y="72"/>
                      </a:cubicBezTo>
                      <a:cubicBezTo>
                        <a:pt x="1071" y="72"/>
                        <a:pt x="1071" y="72"/>
                        <a:pt x="1071" y="72"/>
                      </a:cubicBezTo>
                      <a:cubicBezTo>
                        <a:pt x="1071" y="72"/>
                        <a:pt x="1071" y="72"/>
                        <a:pt x="1072" y="72"/>
                      </a:cubicBezTo>
                      <a:cubicBezTo>
                        <a:pt x="1072" y="72"/>
                        <a:pt x="1072" y="72"/>
                        <a:pt x="1072" y="72"/>
                      </a:cubicBezTo>
                      <a:cubicBezTo>
                        <a:pt x="1072" y="72"/>
                        <a:pt x="1072" y="72"/>
                        <a:pt x="1072" y="72"/>
                      </a:cubicBezTo>
                      <a:cubicBezTo>
                        <a:pt x="1072" y="72"/>
                        <a:pt x="1072" y="72"/>
                        <a:pt x="1072" y="72"/>
                      </a:cubicBezTo>
                      <a:cubicBezTo>
                        <a:pt x="1073" y="72"/>
                        <a:pt x="1073" y="72"/>
                        <a:pt x="1073" y="72"/>
                      </a:cubicBezTo>
                      <a:cubicBezTo>
                        <a:pt x="1073" y="72"/>
                        <a:pt x="1073" y="72"/>
                        <a:pt x="1073" y="72"/>
                      </a:cubicBezTo>
                      <a:cubicBezTo>
                        <a:pt x="1073" y="72"/>
                        <a:pt x="1073" y="72"/>
                        <a:pt x="1074" y="72"/>
                      </a:cubicBezTo>
                      <a:cubicBezTo>
                        <a:pt x="1074" y="72"/>
                        <a:pt x="1074" y="72"/>
                        <a:pt x="1074" y="72"/>
                      </a:cubicBezTo>
                      <a:cubicBezTo>
                        <a:pt x="1074" y="72"/>
                        <a:pt x="1074" y="72"/>
                        <a:pt x="1074" y="72"/>
                      </a:cubicBezTo>
                      <a:cubicBezTo>
                        <a:pt x="1074" y="72"/>
                        <a:pt x="1074" y="72"/>
                        <a:pt x="1074" y="72"/>
                      </a:cubicBezTo>
                      <a:cubicBezTo>
                        <a:pt x="1075" y="72"/>
                        <a:pt x="1075" y="72"/>
                        <a:pt x="1075" y="72"/>
                      </a:cubicBezTo>
                      <a:cubicBezTo>
                        <a:pt x="1075" y="72"/>
                        <a:pt x="1075" y="72"/>
                        <a:pt x="1075" y="72"/>
                      </a:cubicBezTo>
                      <a:cubicBezTo>
                        <a:pt x="1075" y="72"/>
                        <a:pt x="1075" y="72"/>
                        <a:pt x="1076" y="72"/>
                      </a:cubicBezTo>
                      <a:cubicBezTo>
                        <a:pt x="1076" y="72"/>
                        <a:pt x="1076" y="72"/>
                        <a:pt x="1076" y="72"/>
                      </a:cubicBezTo>
                      <a:cubicBezTo>
                        <a:pt x="1076" y="72"/>
                        <a:pt x="1076" y="72"/>
                        <a:pt x="1076" y="72"/>
                      </a:cubicBezTo>
                      <a:cubicBezTo>
                        <a:pt x="1076" y="72"/>
                        <a:pt x="1076" y="72"/>
                        <a:pt x="1076" y="72"/>
                      </a:cubicBezTo>
                      <a:cubicBezTo>
                        <a:pt x="1076" y="72"/>
                        <a:pt x="1077" y="72"/>
                        <a:pt x="1077" y="72"/>
                      </a:cubicBezTo>
                      <a:cubicBezTo>
                        <a:pt x="1077" y="72"/>
                        <a:pt x="1077" y="72"/>
                        <a:pt x="1077" y="72"/>
                      </a:cubicBezTo>
                      <a:cubicBezTo>
                        <a:pt x="1077" y="72"/>
                        <a:pt x="1077" y="72"/>
                        <a:pt x="1077" y="72"/>
                      </a:cubicBezTo>
                      <a:cubicBezTo>
                        <a:pt x="1078" y="72"/>
                        <a:pt x="1078" y="72"/>
                        <a:pt x="1078" y="72"/>
                      </a:cubicBezTo>
                      <a:cubicBezTo>
                        <a:pt x="1078" y="72"/>
                        <a:pt x="1078" y="72"/>
                        <a:pt x="1078" y="72"/>
                      </a:cubicBezTo>
                      <a:cubicBezTo>
                        <a:pt x="1078" y="72"/>
                        <a:pt x="1078" y="72"/>
                        <a:pt x="1078" y="72"/>
                      </a:cubicBezTo>
                      <a:cubicBezTo>
                        <a:pt x="1078" y="72"/>
                        <a:pt x="1079" y="72"/>
                        <a:pt x="1079" y="72"/>
                      </a:cubicBezTo>
                      <a:cubicBezTo>
                        <a:pt x="1079" y="72"/>
                        <a:pt x="1079" y="72"/>
                        <a:pt x="1079" y="72"/>
                      </a:cubicBezTo>
                      <a:cubicBezTo>
                        <a:pt x="1079" y="72"/>
                        <a:pt x="1079" y="72"/>
                        <a:pt x="1079" y="72"/>
                      </a:cubicBezTo>
                      <a:cubicBezTo>
                        <a:pt x="1080" y="72"/>
                        <a:pt x="1080" y="72"/>
                        <a:pt x="1080" y="72"/>
                      </a:cubicBezTo>
                      <a:cubicBezTo>
                        <a:pt x="1080" y="72"/>
                        <a:pt x="1080" y="72"/>
                        <a:pt x="1080" y="72"/>
                      </a:cubicBezTo>
                      <a:cubicBezTo>
                        <a:pt x="1080" y="72"/>
                        <a:pt x="1080" y="72"/>
                        <a:pt x="1080" y="72"/>
                      </a:cubicBezTo>
                      <a:cubicBezTo>
                        <a:pt x="1080" y="72"/>
                        <a:pt x="1081" y="72"/>
                        <a:pt x="1081" y="72"/>
                      </a:cubicBezTo>
                      <a:cubicBezTo>
                        <a:pt x="1081" y="72"/>
                        <a:pt x="1081" y="72"/>
                        <a:pt x="1081" y="72"/>
                      </a:cubicBezTo>
                      <a:cubicBezTo>
                        <a:pt x="1081" y="72"/>
                        <a:pt x="1081" y="72"/>
                        <a:pt x="1081" y="72"/>
                      </a:cubicBezTo>
                      <a:cubicBezTo>
                        <a:pt x="1081" y="72"/>
                        <a:pt x="1082" y="72"/>
                        <a:pt x="1082" y="72"/>
                      </a:cubicBezTo>
                      <a:cubicBezTo>
                        <a:pt x="1082" y="72"/>
                        <a:pt x="1082" y="72"/>
                        <a:pt x="1082" y="72"/>
                      </a:cubicBezTo>
                      <a:cubicBezTo>
                        <a:pt x="1082" y="72"/>
                        <a:pt x="1082" y="72"/>
                        <a:pt x="1082" y="72"/>
                      </a:cubicBezTo>
                      <a:cubicBezTo>
                        <a:pt x="1082" y="72"/>
                        <a:pt x="1083" y="72"/>
                        <a:pt x="1083" y="72"/>
                      </a:cubicBezTo>
                      <a:cubicBezTo>
                        <a:pt x="1083" y="72"/>
                        <a:pt x="1083" y="72"/>
                        <a:pt x="1083" y="72"/>
                      </a:cubicBezTo>
                      <a:cubicBezTo>
                        <a:pt x="1083" y="72"/>
                        <a:pt x="1083" y="72"/>
                        <a:pt x="1083" y="72"/>
                      </a:cubicBezTo>
                      <a:cubicBezTo>
                        <a:pt x="1083" y="72"/>
                        <a:pt x="1084" y="72"/>
                        <a:pt x="1084" y="72"/>
                      </a:cubicBezTo>
                      <a:cubicBezTo>
                        <a:pt x="1084" y="72"/>
                        <a:pt x="1084" y="72"/>
                        <a:pt x="1084" y="72"/>
                      </a:cubicBezTo>
                      <a:cubicBezTo>
                        <a:pt x="1084" y="72"/>
                        <a:pt x="1084" y="72"/>
                        <a:pt x="1084" y="72"/>
                      </a:cubicBezTo>
                      <a:cubicBezTo>
                        <a:pt x="1084" y="72"/>
                        <a:pt x="1084" y="72"/>
                        <a:pt x="1085" y="72"/>
                      </a:cubicBezTo>
                      <a:cubicBezTo>
                        <a:pt x="1085" y="72"/>
                        <a:pt x="1085" y="72"/>
                        <a:pt x="1085" y="72"/>
                      </a:cubicBezTo>
                      <a:cubicBezTo>
                        <a:pt x="1085" y="72"/>
                        <a:pt x="1085" y="72"/>
                        <a:pt x="1085" y="72"/>
                      </a:cubicBezTo>
                      <a:cubicBezTo>
                        <a:pt x="1085" y="72"/>
                        <a:pt x="1086" y="72"/>
                        <a:pt x="1086" y="72"/>
                      </a:cubicBezTo>
                      <a:cubicBezTo>
                        <a:pt x="1086" y="72"/>
                        <a:pt x="1086" y="72"/>
                        <a:pt x="1086" y="72"/>
                      </a:cubicBezTo>
                      <a:cubicBezTo>
                        <a:pt x="1086" y="72"/>
                        <a:pt x="1086" y="72"/>
                        <a:pt x="1086" y="72"/>
                      </a:cubicBezTo>
                      <a:cubicBezTo>
                        <a:pt x="1086" y="72"/>
                        <a:pt x="1086" y="72"/>
                        <a:pt x="1087" y="72"/>
                      </a:cubicBezTo>
                      <a:cubicBezTo>
                        <a:pt x="1087" y="72"/>
                        <a:pt x="1087" y="72"/>
                        <a:pt x="1087" y="72"/>
                      </a:cubicBezTo>
                      <a:cubicBezTo>
                        <a:pt x="1087" y="72"/>
                        <a:pt x="1087" y="72"/>
                        <a:pt x="1087" y="72"/>
                      </a:cubicBezTo>
                      <a:cubicBezTo>
                        <a:pt x="1087" y="72"/>
                        <a:pt x="1087" y="72"/>
                        <a:pt x="1088" y="72"/>
                      </a:cubicBezTo>
                      <a:cubicBezTo>
                        <a:pt x="1088" y="72"/>
                        <a:pt x="1088" y="72"/>
                        <a:pt x="1088" y="72"/>
                      </a:cubicBezTo>
                      <a:cubicBezTo>
                        <a:pt x="1088" y="72"/>
                        <a:pt x="1088" y="72"/>
                        <a:pt x="1088" y="72"/>
                      </a:cubicBezTo>
                      <a:cubicBezTo>
                        <a:pt x="1088" y="72"/>
                        <a:pt x="1088" y="72"/>
                        <a:pt x="1089" y="72"/>
                      </a:cubicBezTo>
                      <a:cubicBezTo>
                        <a:pt x="1089" y="72"/>
                        <a:pt x="1089" y="72"/>
                        <a:pt x="1089" y="72"/>
                      </a:cubicBezTo>
                      <a:cubicBezTo>
                        <a:pt x="1089" y="72"/>
                        <a:pt x="1089" y="72"/>
                        <a:pt x="1089" y="72"/>
                      </a:cubicBezTo>
                      <a:cubicBezTo>
                        <a:pt x="1089" y="72"/>
                        <a:pt x="1089" y="72"/>
                        <a:pt x="1090" y="72"/>
                      </a:cubicBezTo>
                      <a:cubicBezTo>
                        <a:pt x="1090" y="72"/>
                        <a:pt x="1090" y="72"/>
                        <a:pt x="1090" y="72"/>
                      </a:cubicBezTo>
                      <a:cubicBezTo>
                        <a:pt x="1090" y="72"/>
                        <a:pt x="1090" y="72"/>
                        <a:pt x="1090" y="72"/>
                      </a:cubicBezTo>
                      <a:cubicBezTo>
                        <a:pt x="1090" y="72"/>
                        <a:pt x="1090" y="72"/>
                        <a:pt x="1090" y="72"/>
                      </a:cubicBezTo>
                      <a:cubicBezTo>
                        <a:pt x="1091" y="72"/>
                        <a:pt x="1091" y="72"/>
                        <a:pt x="1091" y="72"/>
                      </a:cubicBezTo>
                      <a:cubicBezTo>
                        <a:pt x="1091" y="72"/>
                        <a:pt x="1091" y="72"/>
                        <a:pt x="1091" y="72"/>
                      </a:cubicBezTo>
                      <a:cubicBezTo>
                        <a:pt x="1091" y="72"/>
                        <a:pt x="1091" y="72"/>
                        <a:pt x="1091" y="72"/>
                      </a:cubicBezTo>
                      <a:cubicBezTo>
                        <a:pt x="1092" y="72"/>
                        <a:pt x="1092" y="72"/>
                        <a:pt x="1092" y="72"/>
                      </a:cubicBezTo>
                      <a:cubicBezTo>
                        <a:pt x="1092" y="72"/>
                        <a:pt x="1092" y="72"/>
                        <a:pt x="1092" y="72"/>
                      </a:cubicBezTo>
                      <a:cubicBezTo>
                        <a:pt x="1092" y="72"/>
                        <a:pt x="1092" y="72"/>
                        <a:pt x="1092" y="72"/>
                      </a:cubicBezTo>
                      <a:cubicBezTo>
                        <a:pt x="1093" y="72"/>
                        <a:pt x="1093" y="72"/>
                        <a:pt x="1093" y="72"/>
                      </a:cubicBezTo>
                      <a:cubicBezTo>
                        <a:pt x="1093" y="72"/>
                        <a:pt x="1093" y="72"/>
                        <a:pt x="1093" y="72"/>
                      </a:cubicBezTo>
                      <a:cubicBezTo>
                        <a:pt x="1093" y="72"/>
                        <a:pt x="1093" y="72"/>
                        <a:pt x="1093" y="72"/>
                      </a:cubicBezTo>
                      <a:cubicBezTo>
                        <a:pt x="1094" y="72"/>
                        <a:pt x="1094" y="72"/>
                        <a:pt x="1094" y="72"/>
                      </a:cubicBezTo>
                      <a:cubicBezTo>
                        <a:pt x="1094" y="72"/>
                        <a:pt x="1094" y="72"/>
                        <a:pt x="1094" y="72"/>
                      </a:cubicBezTo>
                      <a:cubicBezTo>
                        <a:pt x="1094" y="72"/>
                        <a:pt x="1094" y="72"/>
                        <a:pt x="1094" y="72"/>
                      </a:cubicBezTo>
                      <a:cubicBezTo>
                        <a:pt x="1095" y="72"/>
                        <a:pt x="1095" y="72"/>
                        <a:pt x="1095" y="72"/>
                      </a:cubicBezTo>
                      <a:cubicBezTo>
                        <a:pt x="1095" y="72"/>
                        <a:pt x="1095" y="72"/>
                        <a:pt x="1095" y="72"/>
                      </a:cubicBezTo>
                      <a:cubicBezTo>
                        <a:pt x="1095" y="72"/>
                        <a:pt x="1095" y="72"/>
                        <a:pt x="1095" y="72"/>
                      </a:cubicBezTo>
                      <a:cubicBezTo>
                        <a:pt x="1096" y="72"/>
                        <a:pt x="1096" y="72"/>
                        <a:pt x="1096" y="72"/>
                      </a:cubicBezTo>
                      <a:cubicBezTo>
                        <a:pt x="1096" y="72"/>
                        <a:pt x="1096" y="72"/>
                        <a:pt x="1096" y="72"/>
                      </a:cubicBezTo>
                      <a:cubicBezTo>
                        <a:pt x="1096" y="72"/>
                        <a:pt x="1096" y="72"/>
                        <a:pt x="1096" y="72"/>
                      </a:cubicBezTo>
                      <a:cubicBezTo>
                        <a:pt x="1096" y="72"/>
                        <a:pt x="1097" y="72"/>
                        <a:pt x="1097" y="72"/>
                      </a:cubicBezTo>
                      <a:cubicBezTo>
                        <a:pt x="1097" y="72"/>
                        <a:pt x="1097" y="72"/>
                        <a:pt x="1097" y="72"/>
                      </a:cubicBezTo>
                      <a:cubicBezTo>
                        <a:pt x="1097" y="72"/>
                        <a:pt x="1097" y="72"/>
                        <a:pt x="1097" y="72"/>
                      </a:cubicBezTo>
                      <a:cubicBezTo>
                        <a:pt x="1097" y="72"/>
                        <a:pt x="1098" y="72"/>
                        <a:pt x="1098" y="72"/>
                      </a:cubicBezTo>
                      <a:cubicBezTo>
                        <a:pt x="1098" y="72"/>
                        <a:pt x="1098" y="72"/>
                        <a:pt x="1098" y="72"/>
                      </a:cubicBezTo>
                      <a:cubicBezTo>
                        <a:pt x="1098" y="72"/>
                        <a:pt x="1098" y="72"/>
                        <a:pt x="1098" y="72"/>
                      </a:cubicBezTo>
                      <a:cubicBezTo>
                        <a:pt x="1098" y="72"/>
                        <a:pt x="1099" y="72"/>
                        <a:pt x="1099" y="72"/>
                      </a:cubicBezTo>
                      <a:cubicBezTo>
                        <a:pt x="1099" y="72"/>
                        <a:pt x="1099" y="72"/>
                        <a:pt x="1099" y="72"/>
                      </a:cubicBezTo>
                      <a:cubicBezTo>
                        <a:pt x="1099" y="72"/>
                        <a:pt x="1099" y="72"/>
                        <a:pt x="1099" y="72"/>
                      </a:cubicBezTo>
                      <a:cubicBezTo>
                        <a:pt x="1099" y="72"/>
                        <a:pt x="1100" y="72"/>
                        <a:pt x="1100" y="72"/>
                      </a:cubicBezTo>
                      <a:cubicBezTo>
                        <a:pt x="1100" y="72"/>
                        <a:pt x="1100" y="72"/>
                        <a:pt x="1100" y="72"/>
                      </a:cubicBezTo>
                      <a:cubicBezTo>
                        <a:pt x="1100" y="72"/>
                        <a:pt x="1100" y="72"/>
                        <a:pt x="1100" y="72"/>
                      </a:cubicBezTo>
                      <a:cubicBezTo>
                        <a:pt x="1100" y="72"/>
                        <a:pt x="1101" y="72"/>
                        <a:pt x="1101" y="72"/>
                      </a:cubicBezTo>
                      <a:cubicBezTo>
                        <a:pt x="1101" y="72"/>
                        <a:pt x="1101" y="72"/>
                        <a:pt x="1101" y="72"/>
                      </a:cubicBezTo>
                      <a:cubicBezTo>
                        <a:pt x="1101" y="72"/>
                        <a:pt x="1101" y="72"/>
                        <a:pt x="1101" y="72"/>
                      </a:cubicBezTo>
                      <a:cubicBezTo>
                        <a:pt x="1101" y="72"/>
                        <a:pt x="1102" y="72"/>
                        <a:pt x="1102" y="72"/>
                      </a:cubicBezTo>
                      <a:cubicBezTo>
                        <a:pt x="1102" y="72"/>
                        <a:pt x="1102" y="72"/>
                        <a:pt x="1102" y="72"/>
                      </a:cubicBezTo>
                      <a:cubicBezTo>
                        <a:pt x="1102" y="72"/>
                        <a:pt x="1102" y="72"/>
                        <a:pt x="1102" y="72"/>
                      </a:cubicBezTo>
                      <a:cubicBezTo>
                        <a:pt x="1102" y="72"/>
                        <a:pt x="1102" y="72"/>
                        <a:pt x="1103" y="72"/>
                      </a:cubicBezTo>
                      <a:cubicBezTo>
                        <a:pt x="1103" y="72"/>
                        <a:pt x="1103" y="72"/>
                        <a:pt x="1103" y="72"/>
                      </a:cubicBezTo>
                      <a:cubicBezTo>
                        <a:pt x="1103" y="72"/>
                        <a:pt x="1103" y="72"/>
                        <a:pt x="1103" y="72"/>
                      </a:cubicBezTo>
                      <a:cubicBezTo>
                        <a:pt x="1103" y="72"/>
                        <a:pt x="1104" y="72"/>
                        <a:pt x="1104" y="72"/>
                      </a:cubicBezTo>
                      <a:cubicBezTo>
                        <a:pt x="1104" y="72"/>
                        <a:pt x="1104" y="72"/>
                        <a:pt x="1104" y="72"/>
                      </a:cubicBezTo>
                      <a:cubicBezTo>
                        <a:pt x="1104" y="72"/>
                        <a:pt x="1104" y="72"/>
                        <a:pt x="1104" y="72"/>
                      </a:cubicBezTo>
                      <a:cubicBezTo>
                        <a:pt x="1104" y="72"/>
                        <a:pt x="1104" y="72"/>
                        <a:pt x="1105" y="72"/>
                      </a:cubicBezTo>
                      <a:cubicBezTo>
                        <a:pt x="1105" y="72"/>
                        <a:pt x="1105" y="72"/>
                        <a:pt x="1105" y="72"/>
                      </a:cubicBezTo>
                      <a:cubicBezTo>
                        <a:pt x="1105" y="72"/>
                        <a:pt x="1105" y="72"/>
                        <a:pt x="1105" y="72"/>
                      </a:cubicBezTo>
                      <a:cubicBezTo>
                        <a:pt x="1105" y="72"/>
                        <a:pt x="1106" y="72"/>
                        <a:pt x="1106" y="72"/>
                      </a:cubicBezTo>
                      <a:cubicBezTo>
                        <a:pt x="1106" y="72"/>
                        <a:pt x="1106" y="72"/>
                        <a:pt x="1106" y="72"/>
                      </a:cubicBezTo>
                      <a:cubicBezTo>
                        <a:pt x="1106" y="72"/>
                        <a:pt x="1106" y="72"/>
                        <a:pt x="1106" y="72"/>
                      </a:cubicBezTo>
                      <a:cubicBezTo>
                        <a:pt x="1106" y="72"/>
                        <a:pt x="1106" y="72"/>
                        <a:pt x="1107" y="72"/>
                      </a:cubicBezTo>
                      <a:cubicBezTo>
                        <a:pt x="1107" y="72"/>
                        <a:pt x="1107" y="72"/>
                        <a:pt x="1107" y="72"/>
                      </a:cubicBezTo>
                      <a:cubicBezTo>
                        <a:pt x="1107" y="72"/>
                        <a:pt x="1107" y="72"/>
                        <a:pt x="1107" y="72"/>
                      </a:cubicBezTo>
                      <a:cubicBezTo>
                        <a:pt x="1107" y="72"/>
                        <a:pt x="1107" y="72"/>
                        <a:pt x="1108" y="72"/>
                      </a:cubicBezTo>
                      <a:cubicBezTo>
                        <a:pt x="1108" y="72"/>
                        <a:pt x="1108" y="72"/>
                        <a:pt x="1108" y="72"/>
                      </a:cubicBezTo>
                      <a:cubicBezTo>
                        <a:pt x="1108" y="72"/>
                        <a:pt x="1108" y="72"/>
                        <a:pt x="1108" y="72"/>
                      </a:cubicBezTo>
                      <a:cubicBezTo>
                        <a:pt x="1108" y="72"/>
                        <a:pt x="1108" y="72"/>
                        <a:pt x="1109" y="72"/>
                      </a:cubicBezTo>
                      <a:cubicBezTo>
                        <a:pt x="1109" y="72"/>
                        <a:pt x="1109" y="72"/>
                        <a:pt x="1109" y="72"/>
                      </a:cubicBezTo>
                      <a:cubicBezTo>
                        <a:pt x="1109" y="72"/>
                        <a:pt x="1109" y="72"/>
                        <a:pt x="1109" y="72"/>
                      </a:cubicBezTo>
                      <a:cubicBezTo>
                        <a:pt x="1109" y="72"/>
                        <a:pt x="1109" y="72"/>
                        <a:pt x="1110" y="72"/>
                      </a:cubicBezTo>
                      <a:cubicBezTo>
                        <a:pt x="1110" y="73"/>
                        <a:pt x="1110" y="73"/>
                        <a:pt x="1110" y="73"/>
                      </a:cubicBezTo>
                      <a:cubicBezTo>
                        <a:pt x="1110" y="73"/>
                        <a:pt x="1110" y="73"/>
                        <a:pt x="1110" y="73"/>
                      </a:cubicBezTo>
                      <a:cubicBezTo>
                        <a:pt x="1110" y="73"/>
                        <a:pt x="1110" y="73"/>
                        <a:pt x="1110" y="73"/>
                      </a:cubicBezTo>
                      <a:cubicBezTo>
                        <a:pt x="1111" y="73"/>
                        <a:pt x="1111" y="73"/>
                        <a:pt x="1111" y="73"/>
                      </a:cubicBezTo>
                      <a:cubicBezTo>
                        <a:pt x="1111" y="73"/>
                        <a:pt x="1111" y="73"/>
                        <a:pt x="1111" y="73"/>
                      </a:cubicBezTo>
                      <a:cubicBezTo>
                        <a:pt x="1111" y="73"/>
                        <a:pt x="1111" y="73"/>
                        <a:pt x="1112" y="73"/>
                      </a:cubicBezTo>
                      <a:cubicBezTo>
                        <a:pt x="1112" y="73"/>
                        <a:pt x="1112" y="73"/>
                        <a:pt x="1112" y="73"/>
                      </a:cubicBezTo>
                      <a:cubicBezTo>
                        <a:pt x="1112" y="73"/>
                        <a:pt x="1112" y="73"/>
                        <a:pt x="1112" y="73"/>
                      </a:cubicBezTo>
                      <a:cubicBezTo>
                        <a:pt x="1112" y="73"/>
                        <a:pt x="1112" y="73"/>
                        <a:pt x="1112" y="73"/>
                      </a:cubicBezTo>
                      <a:cubicBezTo>
                        <a:pt x="1113" y="73"/>
                        <a:pt x="1113" y="73"/>
                        <a:pt x="1113" y="73"/>
                      </a:cubicBezTo>
                      <a:cubicBezTo>
                        <a:pt x="1113" y="73"/>
                        <a:pt x="1113" y="73"/>
                        <a:pt x="1113" y="73"/>
                      </a:cubicBezTo>
                      <a:cubicBezTo>
                        <a:pt x="1113" y="73"/>
                        <a:pt x="1113" y="73"/>
                        <a:pt x="1114" y="73"/>
                      </a:cubicBezTo>
                      <a:cubicBezTo>
                        <a:pt x="1114" y="73"/>
                        <a:pt x="1114" y="73"/>
                        <a:pt x="1114" y="73"/>
                      </a:cubicBezTo>
                      <a:cubicBezTo>
                        <a:pt x="1114" y="73"/>
                        <a:pt x="1114" y="73"/>
                        <a:pt x="1114" y="73"/>
                      </a:cubicBezTo>
                      <a:cubicBezTo>
                        <a:pt x="1114" y="73"/>
                        <a:pt x="1114" y="73"/>
                        <a:pt x="1114" y="73"/>
                      </a:cubicBezTo>
                      <a:cubicBezTo>
                        <a:pt x="1115" y="73"/>
                        <a:pt x="1115" y="73"/>
                        <a:pt x="1115" y="73"/>
                      </a:cubicBezTo>
                      <a:cubicBezTo>
                        <a:pt x="1115" y="73"/>
                        <a:pt x="1115" y="73"/>
                        <a:pt x="1115" y="73"/>
                      </a:cubicBezTo>
                      <a:cubicBezTo>
                        <a:pt x="1115" y="73"/>
                        <a:pt x="1115" y="73"/>
                        <a:pt x="1116" y="73"/>
                      </a:cubicBezTo>
                      <a:cubicBezTo>
                        <a:pt x="1116" y="73"/>
                        <a:pt x="1116" y="73"/>
                        <a:pt x="1116" y="73"/>
                      </a:cubicBezTo>
                      <a:cubicBezTo>
                        <a:pt x="1116" y="73"/>
                        <a:pt x="1116" y="73"/>
                        <a:pt x="1116" y="73"/>
                      </a:cubicBezTo>
                      <a:cubicBezTo>
                        <a:pt x="1116" y="73"/>
                        <a:pt x="1116" y="73"/>
                        <a:pt x="1116" y="73"/>
                      </a:cubicBezTo>
                      <a:cubicBezTo>
                        <a:pt x="1117" y="73"/>
                        <a:pt x="1117" y="73"/>
                        <a:pt x="1117" y="73"/>
                      </a:cubicBezTo>
                      <a:cubicBezTo>
                        <a:pt x="1117" y="73"/>
                        <a:pt x="1117" y="73"/>
                        <a:pt x="1117" y="73"/>
                      </a:cubicBezTo>
                      <a:cubicBezTo>
                        <a:pt x="1117" y="73"/>
                        <a:pt x="1117" y="73"/>
                        <a:pt x="1118" y="73"/>
                      </a:cubicBezTo>
                      <a:cubicBezTo>
                        <a:pt x="1118" y="73"/>
                        <a:pt x="1118" y="73"/>
                        <a:pt x="1118" y="73"/>
                      </a:cubicBezTo>
                      <a:cubicBezTo>
                        <a:pt x="1118" y="73"/>
                        <a:pt x="1118" y="73"/>
                        <a:pt x="1118" y="73"/>
                      </a:cubicBezTo>
                      <a:cubicBezTo>
                        <a:pt x="1118" y="73"/>
                        <a:pt x="1118" y="73"/>
                        <a:pt x="1118" y="73"/>
                      </a:cubicBezTo>
                      <a:cubicBezTo>
                        <a:pt x="1118" y="73"/>
                        <a:pt x="1119" y="73"/>
                        <a:pt x="1119" y="73"/>
                      </a:cubicBezTo>
                      <a:cubicBezTo>
                        <a:pt x="1119" y="73"/>
                        <a:pt x="1119" y="73"/>
                        <a:pt x="1119" y="73"/>
                      </a:cubicBezTo>
                      <a:cubicBezTo>
                        <a:pt x="1119" y="73"/>
                        <a:pt x="1119" y="73"/>
                        <a:pt x="1119" y="73"/>
                      </a:cubicBezTo>
                      <a:cubicBezTo>
                        <a:pt x="1120" y="73"/>
                        <a:pt x="1120" y="73"/>
                        <a:pt x="1120" y="73"/>
                      </a:cubicBezTo>
                      <a:cubicBezTo>
                        <a:pt x="1120" y="73"/>
                        <a:pt x="1120" y="73"/>
                        <a:pt x="1120" y="73"/>
                      </a:cubicBezTo>
                      <a:cubicBezTo>
                        <a:pt x="1120" y="73"/>
                        <a:pt x="1120" y="73"/>
                        <a:pt x="1120" y="73"/>
                      </a:cubicBezTo>
                      <a:cubicBezTo>
                        <a:pt x="1120" y="73"/>
                        <a:pt x="1121" y="73"/>
                        <a:pt x="1121" y="73"/>
                      </a:cubicBezTo>
                      <a:cubicBezTo>
                        <a:pt x="1121" y="73"/>
                        <a:pt x="1121" y="73"/>
                        <a:pt x="1121" y="73"/>
                      </a:cubicBezTo>
                      <a:cubicBezTo>
                        <a:pt x="1121" y="73"/>
                        <a:pt x="1121" y="73"/>
                        <a:pt x="1121" y="73"/>
                      </a:cubicBezTo>
                      <a:cubicBezTo>
                        <a:pt x="1122" y="73"/>
                        <a:pt x="1122" y="73"/>
                        <a:pt x="1122" y="73"/>
                      </a:cubicBezTo>
                      <a:cubicBezTo>
                        <a:pt x="1122" y="73"/>
                        <a:pt x="1122" y="73"/>
                        <a:pt x="1122" y="73"/>
                      </a:cubicBezTo>
                      <a:cubicBezTo>
                        <a:pt x="1122" y="73"/>
                        <a:pt x="1122" y="73"/>
                        <a:pt x="1122" y="73"/>
                      </a:cubicBezTo>
                      <a:cubicBezTo>
                        <a:pt x="1122" y="73"/>
                        <a:pt x="1123" y="73"/>
                        <a:pt x="1123" y="73"/>
                      </a:cubicBezTo>
                      <a:cubicBezTo>
                        <a:pt x="1123" y="73"/>
                        <a:pt x="1123" y="73"/>
                        <a:pt x="1123" y="73"/>
                      </a:cubicBezTo>
                      <a:cubicBezTo>
                        <a:pt x="1123" y="73"/>
                        <a:pt x="1123" y="73"/>
                        <a:pt x="1123" y="73"/>
                      </a:cubicBezTo>
                      <a:cubicBezTo>
                        <a:pt x="1123" y="73"/>
                        <a:pt x="1124" y="73"/>
                        <a:pt x="1124" y="73"/>
                      </a:cubicBezTo>
                      <a:cubicBezTo>
                        <a:pt x="1124" y="73"/>
                        <a:pt x="1124" y="73"/>
                        <a:pt x="1124" y="73"/>
                      </a:cubicBezTo>
                      <a:cubicBezTo>
                        <a:pt x="1124" y="73"/>
                        <a:pt x="1124" y="73"/>
                        <a:pt x="1124" y="73"/>
                      </a:cubicBezTo>
                      <a:cubicBezTo>
                        <a:pt x="1124" y="73"/>
                        <a:pt x="1125" y="73"/>
                        <a:pt x="1125" y="73"/>
                      </a:cubicBezTo>
                      <a:cubicBezTo>
                        <a:pt x="1125" y="73"/>
                        <a:pt x="1125" y="73"/>
                        <a:pt x="1125" y="73"/>
                      </a:cubicBezTo>
                      <a:cubicBezTo>
                        <a:pt x="1125" y="73"/>
                        <a:pt x="1125" y="73"/>
                        <a:pt x="1125" y="73"/>
                      </a:cubicBezTo>
                      <a:cubicBezTo>
                        <a:pt x="1125" y="73"/>
                        <a:pt x="1125" y="73"/>
                        <a:pt x="1125" y="73"/>
                      </a:cubicBezTo>
                      <a:cubicBezTo>
                        <a:pt x="1126" y="73"/>
                        <a:pt x="1126" y="73"/>
                        <a:pt x="1126" y="73"/>
                      </a:cubicBezTo>
                      <a:cubicBezTo>
                        <a:pt x="1126" y="73"/>
                        <a:pt x="1126" y="73"/>
                        <a:pt x="1126" y="73"/>
                      </a:cubicBezTo>
                      <a:cubicBezTo>
                        <a:pt x="1126" y="73"/>
                        <a:pt x="1127" y="73"/>
                        <a:pt x="1127" y="73"/>
                      </a:cubicBezTo>
                      <a:cubicBezTo>
                        <a:pt x="1127" y="73"/>
                        <a:pt x="1127" y="73"/>
                        <a:pt x="1127" y="73"/>
                      </a:cubicBezTo>
                      <a:cubicBezTo>
                        <a:pt x="1127" y="73"/>
                        <a:pt x="1127" y="73"/>
                        <a:pt x="1127" y="73"/>
                      </a:cubicBezTo>
                      <a:cubicBezTo>
                        <a:pt x="1127" y="73"/>
                        <a:pt x="1127" y="73"/>
                        <a:pt x="1127" y="73"/>
                      </a:cubicBezTo>
                      <a:cubicBezTo>
                        <a:pt x="1128" y="73"/>
                        <a:pt x="1128" y="73"/>
                        <a:pt x="1128" y="73"/>
                      </a:cubicBezTo>
                      <a:cubicBezTo>
                        <a:pt x="1128" y="73"/>
                        <a:pt x="1128" y="73"/>
                        <a:pt x="1128" y="73"/>
                      </a:cubicBezTo>
                      <a:cubicBezTo>
                        <a:pt x="1128" y="73"/>
                        <a:pt x="1128" y="73"/>
                        <a:pt x="1129" y="73"/>
                      </a:cubicBezTo>
                      <a:cubicBezTo>
                        <a:pt x="1129" y="73"/>
                        <a:pt x="1129" y="73"/>
                        <a:pt x="1129" y="74"/>
                      </a:cubicBezTo>
                      <a:cubicBezTo>
                        <a:pt x="1129" y="74"/>
                        <a:pt x="1130" y="74"/>
                        <a:pt x="1130" y="74"/>
                      </a:cubicBezTo>
                      <a:cubicBezTo>
                        <a:pt x="1130" y="74"/>
                        <a:pt x="1130" y="74"/>
                        <a:pt x="1130" y="74"/>
                      </a:cubicBezTo>
                      <a:cubicBezTo>
                        <a:pt x="1130" y="74"/>
                        <a:pt x="1130" y="74"/>
                        <a:pt x="1131" y="74"/>
                      </a:cubicBezTo>
                      <a:cubicBezTo>
                        <a:pt x="1131" y="74"/>
                        <a:pt x="1131" y="74"/>
                        <a:pt x="1131" y="74"/>
                      </a:cubicBezTo>
                      <a:cubicBezTo>
                        <a:pt x="1131" y="74"/>
                        <a:pt x="1132" y="74"/>
                        <a:pt x="1132" y="74"/>
                      </a:cubicBezTo>
                      <a:cubicBezTo>
                        <a:pt x="1132" y="74"/>
                        <a:pt x="1132" y="74"/>
                        <a:pt x="1132" y="74"/>
                      </a:cubicBezTo>
                      <a:cubicBezTo>
                        <a:pt x="1132" y="74"/>
                        <a:pt x="1132" y="74"/>
                        <a:pt x="1133" y="74"/>
                      </a:cubicBezTo>
                      <a:cubicBezTo>
                        <a:pt x="1133" y="74"/>
                        <a:pt x="1133" y="74"/>
                        <a:pt x="1133" y="74"/>
                      </a:cubicBezTo>
                      <a:cubicBezTo>
                        <a:pt x="1133" y="74"/>
                        <a:pt x="1134" y="74"/>
                        <a:pt x="1134" y="74"/>
                      </a:cubicBezTo>
                      <a:cubicBezTo>
                        <a:pt x="1134" y="74"/>
                        <a:pt x="1134" y="74"/>
                        <a:pt x="1134" y="74"/>
                      </a:cubicBezTo>
                      <a:cubicBezTo>
                        <a:pt x="1134" y="74"/>
                        <a:pt x="1134" y="74"/>
                        <a:pt x="1135" y="74"/>
                      </a:cubicBezTo>
                      <a:cubicBezTo>
                        <a:pt x="1135" y="74"/>
                        <a:pt x="1135" y="74"/>
                        <a:pt x="1135" y="74"/>
                      </a:cubicBezTo>
                      <a:cubicBezTo>
                        <a:pt x="1135" y="74"/>
                        <a:pt x="1136" y="74"/>
                        <a:pt x="1136" y="74"/>
                      </a:cubicBezTo>
                      <a:cubicBezTo>
                        <a:pt x="1136" y="74"/>
                        <a:pt x="1136" y="74"/>
                        <a:pt x="1136" y="74"/>
                      </a:cubicBezTo>
                      <a:cubicBezTo>
                        <a:pt x="1136" y="74"/>
                        <a:pt x="1136" y="74"/>
                        <a:pt x="1137" y="74"/>
                      </a:cubicBezTo>
                      <a:cubicBezTo>
                        <a:pt x="1137" y="74"/>
                        <a:pt x="1137" y="74"/>
                        <a:pt x="1137" y="74"/>
                      </a:cubicBezTo>
                      <a:cubicBezTo>
                        <a:pt x="1137" y="74"/>
                        <a:pt x="1138" y="74"/>
                        <a:pt x="1139" y="74"/>
                      </a:cubicBezTo>
                      <a:cubicBezTo>
                        <a:pt x="1139" y="74"/>
                        <a:pt x="1139" y="74"/>
                        <a:pt x="1139" y="74"/>
                      </a:cubicBezTo>
                      <a:cubicBezTo>
                        <a:pt x="1139" y="74"/>
                        <a:pt x="1140" y="74"/>
                        <a:pt x="1141" y="74"/>
                      </a:cubicBezTo>
                      <a:cubicBezTo>
                        <a:pt x="1141" y="74"/>
                        <a:pt x="1141" y="74"/>
                        <a:pt x="1141" y="74"/>
                      </a:cubicBezTo>
                      <a:cubicBezTo>
                        <a:pt x="1144" y="75"/>
                        <a:pt x="1148" y="75"/>
                        <a:pt x="1151" y="75"/>
                      </a:cubicBezTo>
                      <a:cubicBezTo>
                        <a:pt x="1152" y="75"/>
                        <a:pt x="1153" y="75"/>
                        <a:pt x="1154" y="75"/>
                      </a:cubicBezTo>
                      <a:cubicBezTo>
                        <a:pt x="1173" y="75"/>
                        <a:pt x="1188" y="61"/>
                        <a:pt x="1190" y="42"/>
                      </a:cubicBezTo>
                      <a:cubicBezTo>
                        <a:pt x="1192" y="23"/>
                        <a:pt x="1177" y="5"/>
                        <a:pt x="1157" y="3"/>
                      </a:cubicBezTo>
                      <a:cubicBezTo>
                        <a:pt x="1127" y="1"/>
                        <a:pt x="1097" y="0"/>
                        <a:pt x="1067" y="0"/>
                      </a:cubicBezTo>
                      <a:cubicBezTo>
                        <a:pt x="1024" y="0"/>
                        <a:pt x="981" y="2"/>
                        <a:pt x="939" y="7"/>
                      </a:cubicBezTo>
                      <a:cubicBezTo>
                        <a:pt x="919" y="10"/>
                        <a:pt x="905" y="28"/>
                        <a:pt x="907" y="47"/>
                      </a:cubicBezTo>
                      <a:cubicBezTo>
                        <a:pt x="909" y="66"/>
                        <a:pt x="925" y="79"/>
                        <a:pt x="943" y="79"/>
                      </a:cubicBezTo>
                      <a:close/>
                      <a:moveTo>
                        <a:pt x="1309" y="102"/>
                      </a:moveTo>
                      <a:cubicBezTo>
                        <a:pt x="1347" y="111"/>
                        <a:pt x="1385" y="123"/>
                        <a:pt x="1423" y="138"/>
                      </a:cubicBezTo>
                      <a:cubicBezTo>
                        <a:pt x="1427" y="140"/>
                        <a:pt x="1432" y="140"/>
                        <a:pt x="1436" y="140"/>
                      </a:cubicBezTo>
                      <a:cubicBezTo>
                        <a:pt x="1450" y="140"/>
                        <a:pt x="1464" y="132"/>
                        <a:pt x="1470" y="117"/>
                      </a:cubicBezTo>
                      <a:cubicBezTo>
                        <a:pt x="1477" y="99"/>
                        <a:pt x="1467" y="78"/>
                        <a:pt x="1449" y="71"/>
                      </a:cubicBezTo>
                      <a:cubicBezTo>
                        <a:pt x="1409" y="55"/>
                        <a:pt x="1368" y="42"/>
                        <a:pt x="1326" y="32"/>
                      </a:cubicBezTo>
                      <a:cubicBezTo>
                        <a:pt x="1323" y="31"/>
                        <a:pt x="1320" y="31"/>
                        <a:pt x="1317" y="31"/>
                      </a:cubicBezTo>
                      <a:cubicBezTo>
                        <a:pt x="1301" y="31"/>
                        <a:pt x="1287" y="42"/>
                        <a:pt x="1283" y="58"/>
                      </a:cubicBezTo>
                      <a:cubicBezTo>
                        <a:pt x="1278" y="77"/>
                        <a:pt x="1289" y="97"/>
                        <a:pt x="1309" y="102"/>
                      </a:cubicBezTo>
                      <a:close/>
                      <a:moveTo>
                        <a:pt x="101" y="1301"/>
                      </a:moveTo>
                      <a:cubicBezTo>
                        <a:pt x="94" y="1273"/>
                        <a:pt x="88" y="1244"/>
                        <a:pt x="84" y="1215"/>
                      </a:cubicBezTo>
                      <a:cubicBezTo>
                        <a:pt x="84" y="1215"/>
                        <a:pt x="84" y="1215"/>
                        <a:pt x="84" y="1215"/>
                      </a:cubicBezTo>
                      <a:cubicBezTo>
                        <a:pt x="84" y="1215"/>
                        <a:pt x="84" y="1214"/>
                        <a:pt x="84" y="1214"/>
                      </a:cubicBezTo>
                      <a:cubicBezTo>
                        <a:pt x="84" y="1214"/>
                        <a:pt x="84" y="1214"/>
                        <a:pt x="84" y="1214"/>
                      </a:cubicBezTo>
                      <a:cubicBezTo>
                        <a:pt x="84" y="1214"/>
                        <a:pt x="84" y="1213"/>
                        <a:pt x="83" y="1213"/>
                      </a:cubicBezTo>
                      <a:cubicBezTo>
                        <a:pt x="83" y="1213"/>
                        <a:pt x="83" y="1213"/>
                        <a:pt x="83" y="1213"/>
                      </a:cubicBezTo>
                      <a:cubicBezTo>
                        <a:pt x="83" y="1213"/>
                        <a:pt x="83" y="1212"/>
                        <a:pt x="83" y="1212"/>
                      </a:cubicBezTo>
                      <a:cubicBezTo>
                        <a:pt x="83" y="1212"/>
                        <a:pt x="83" y="1212"/>
                        <a:pt x="83" y="1212"/>
                      </a:cubicBezTo>
                      <a:cubicBezTo>
                        <a:pt x="83" y="1212"/>
                        <a:pt x="83" y="1212"/>
                        <a:pt x="83" y="1212"/>
                      </a:cubicBezTo>
                      <a:cubicBezTo>
                        <a:pt x="83" y="1211"/>
                        <a:pt x="83" y="1211"/>
                        <a:pt x="83" y="1211"/>
                      </a:cubicBezTo>
                      <a:cubicBezTo>
                        <a:pt x="83" y="1211"/>
                        <a:pt x="83" y="1211"/>
                        <a:pt x="83" y="1211"/>
                      </a:cubicBezTo>
                      <a:cubicBezTo>
                        <a:pt x="83" y="1211"/>
                        <a:pt x="83" y="1211"/>
                        <a:pt x="83" y="1211"/>
                      </a:cubicBezTo>
                      <a:cubicBezTo>
                        <a:pt x="83" y="1211"/>
                        <a:pt x="83" y="1211"/>
                        <a:pt x="83" y="1210"/>
                      </a:cubicBezTo>
                      <a:cubicBezTo>
                        <a:pt x="83" y="1210"/>
                        <a:pt x="83" y="1210"/>
                        <a:pt x="83" y="1210"/>
                      </a:cubicBezTo>
                      <a:cubicBezTo>
                        <a:pt x="83" y="1210"/>
                        <a:pt x="83" y="1210"/>
                        <a:pt x="83" y="1210"/>
                      </a:cubicBezTo>
                      <a:cubicBezTo>
                        <a:pt x="83" y="1210"/>
                        <a:pt x="83" y="1210"/>
                        <a:pt x="83" y="1210"/>
                      </a:cubicBezTo>
                      <a:cubicBezTo>
                        <a:pt x="83" y="1210"/>
                        <a:pt x="83" y="1210"/>
                        <a:pt x="83" y="1210"/>
                      </a:cubicBezTo>
                      <a:cubicBezTo>
                        <a:pt x="83" y="1210"/>
                        <a:pt x="83" y="1210"/>
                        <a:pt x="83" y="1210"/>
                      </a:cubicBezTo>
                      <a:cubicBezTo>
                        <a:pt x="83" y="1209"/>
                        <a:pt x="83" y="1209"/>
                        <a:pt x="83" y="1209"/>
                      </a:cubicBezTo>
                      <a:cubicBezTo>
                        <a:pt x="83" y="1209"/>
                        <a:pt x="83" y="1209"/>
                        <a:pt x="83" y="1209"/>
                      </a:cubicBezTo>
                      <a:cubicBezTo>
                        <a:pt x="83" y="1209"/>
                        <a:pt x="83" y="1209"/>
                        <a:pt x="83" y="1209"/>
                      </a:cubicBezTo>
                      <a:cubicBezTo>
                        <a:pt x="83" y="1209"/>
                        <a:pt x="83" y="1209"/>
                        <a:pt x="83" y="1208"/>
                      </a:cubicBezTo>
                      <a:cubicBezTo>
                        <a:pt x="83" y="1208"/>
                        <a:pt x="83" y="1208"/>
                        <a:pt x="83" y="1208"/>
                      </a:cubicBezTo>
                      <a:cubicBezTo>
                        <a:pt x="83" y="1208"/>
                        <a:pt x="83" y="1208"/>
                        <a:pt x="83" y="1208"/>
                      </a:cubicBezTo>
                      <a:cubicBezTo>
                        <a:pt x="83" y="1208"/>
                        <a:pt x="83" y="1208"/>
                        <a:pt x="83" y="1208"/>
                      </a:cubicBezTo>
                      <a:cubicBezTo>
                        <a:pt x="83" y="1208"/>
                        <a:pt x="83" y="1208"/>
                        <a:pt x="83" y="1208"/>
                      </a:cubicBezTo>
                      <a:cubicBezTo>
                        <a:pt x="83" y="1208"/>
                        <a:pt x="83" y="1207"/>
                        <a:pt x="83" y="1207"/>
                      </a:cubicBezTo>
                      <a:cubicBezTo>
                        <a:pt x="83" y="1207"/>
                        <a:pt x="83" y="1207"/>
                        <a:pt x="83" y="1207"/>
                      </a:cubicBezTo>
                      <a:cubicBezTo>
                        <a:pt x="83" y="1207"/>
                        <a:pt x="83" y="1207"/>
                        <a:pt x="83" y="1207"/>
                      </a:cubicBezTo>
                      <a:cubicBezTo>
                        <a:pt x="83" y="1207"/>
                        <a:pt x="83" y="1207"/>
                        <a:pt x="82" y="1207"/>
                      </a:cubicBezTo>
                      <a:cubicBezTo>
                        <a:pt x="82" y="1207"/>
                        <a:pt x="82" y="1206"/>
                        <a:pt x="82" y="1206"/>
                      </a:cubicBezTo>
                      <a:cubicBezTo>
                        <a:pt x="82" y="1206"/>
                        <a:pt x="82" y="1206"/>
                        <a:pt x="82" y="1206"/>
                      </a:cubicBezTo>
                      <a:cubicBezTo>
                        <a:pt x="82" y="1206"/>
                        <a:pt x="82" y="1206"/>
                        <a:pt x="82" y="1206"/>
                      </a:cubicBezTo>
                      <a:cubicBezTo>
                        <a:pt x="82" y="1206"/>
                        <a:pt x="82" y="1206"/>
                        <a:pt x="82" y="1206"/>
                      </a:cubicBezTo>
                      <a:cubicBezTo>
                        <a:pt x="82" y="1206"/>
                        <a:pt x="82" y="1206"/>
                        <a:pt x="82" y="1206"/>
                      </a:cubicBezTo>
                      <a:cubicBezTo>
                        <a:pt x="82" y="1205"/>
                        <a:pt x="82" y="1205"/>
                        <a:pt x="82" y="1205"/>
                      </a:cubicBezTo>
                      <a:cubicBezTo>
                        <a:pt x="82" y="1205"/>
                        <a:pt x="82" y="1205"/>
                        <a:pt x="82" y="1205"/>
                      </a:cubicBezTo>
                      <a:cubicBezTo>
                        <a:pt x="82" y="1205"/>
                        <a:pt x="82" y="1205"/>
                        <a:pt x="82" y="1205"/>
                      </a:cubicBezTo>
                      <a:cubicBezTo>
                        <a:pt x="82" y="1205"/>
                        <a:pt x="82" y="1205"/>
                        <a:pt x="82" y="1205"/>
                      </a:cubicBezTo>
                      <a:cubicBezTo>
                        <a:pt x="82" y="1205"/>
                        <a:pt x="82" y="1204"/>
                        <a:pt x="82" y="1204"/>
                      </a:cubicBezTo>
                      <a:cubicBezTo>
                        <a:pt x="82" y="1204"/>
                        <a:pt x="82" y="1204"/>
                        <a:pt x="82" y="1204"/>
                      </a:cubicBezTo>
                      <a:cubicBezTo>
                        <a:pt x="82" y="1204"/>
                        <a:pt x="82" y="1204"/>
                        <a:pt x="82" y="1204"/>
                      </a:cubicBezTo>
                      <a:cubicBezTo>
                        <a:pt x="82" y="1204"/>
                        <a:pt x="82" y="1204"/>
                        <a:pt x="82" y="1204"/>
                      </a:cubicBezTo>
                      <a:cubicBezTo>
                        <a:pt x="82" y="1203"/>
                        <a:pt x="82" y="1203"/>
                        <a:pt x="82" y="1203"/>
                      </a:cubicBezTo>
                      <a:cubicBezTo>
                        <a:pt x="82" y="1203"/>
                        <a:pt x="82" y="1203"/>
                        <a:pt x="82" y="1203"/>
                      </a:cubicBezTo>
                      <a:cubicBezTo>
                        <a:pt x="82" y="1203"/>
                        <a:pt x="82" y="1203"/>
                        <a:pt x="82" y="1202"/>
                      </a:cubicBezTo>
                      <a:cubicBezTo>
                        <a:pt x="82" y="1202"/>
                        <a:pt x="82" y="1202"/>
                        <a:pt x="82" y="1202"/>
                      </a:cubicBezTo>
                      <a:cubicBezTo>
                        <a:pt x="82" y="1202"/>
                        <a:pt x="82" y="1201"/>
                        <a:pt x="82" y="1201"/>
                      </a:cubicBezTo>
                      <a:cubicBezTo>
                        <a:pt x="82" y="1201"/>
                        <a:pt x="82" y="1201"/>
                        <a:pt x="82" y="1201"/>
                      </a:cubicBezTo>
                      <a:cubicBezTo>
                        <a:pt x="82" y="1201"/>
                        <a:pt x="82" y="1201"/>
                        <a:pt x="82" y="1201"/>
                      </a:cubicBezTo>
                      <a:cubicBezTo>
                        <a:pt x="82" y="1201"/>
                        <a:pt x="82" y="1201"/>
                        <a:pt x="82" y="1201"/>
                      </a:cubicBezTo>
                      <a:cubicBezTo>
                        <a:pt x="81" y="1195"/>
                        <a:pt x="80" y="1189"/>
                        <a:pt x="79" y="1183"/>
                      </a:cubicBezTo>
                      <a:cubicBezTo>
                        <a:pt x="77" y="1165"/>
                        <a:pt x="62" y="1152"/>
                        <a:pt x="44" y="1152"/>
                      </a:cubicBezTo>
                      <a:cubicBezTo>
                        <a:pt x="42" y="1152"/>
                        <a:pt x="41" y="1152"/>
                        <a:pt x="39" y="1152"/>
                      </a:cubicBezTo>
                      <a:cubicBezTo>
                        <a:pt x="20" y="1154"/>
                        <a:pt x="6" y="1172"/>
                        <a:pt x="8" y="1192"/>
                      </a:cubicBezTo>
                      <a:cubicBezTo>
                        <a:pt x="13" y="1234"/>
                        <a:pt x="21" y="1277"/>
                        <a:pt x="31" y="1318"/>
                      </a:cubicBezTo>
                      <a:cubicBezTo>
                        <a:pt x="35" y="1335"/>
                        <a:pt x="50" y="1346"/>
                        <a:pt x="66" y="1346"/>
                      </a:cubicBezTo>
                      <a:cubicBezTo>
                        <a:pt x="69" y="1346"/>
                        <a:pt x="71" y="1346"/>
                        <a:pt x="74" y="1345"/>
                      </a:cubicBezTo>
                      <a:cubicBezTo>
                        <a:pt x="94" y="1340"/>
                        <a:pt x="106" y="1321"/>
                        <a:pt x="101" y="1301"/>
                      </a:cubicBezTo>
                      <a:close/>
                      <a:moveTo>
                        <a:pt x="1428" y="1993"/>
                      </a:moveTo>
                      <a:cubicBezTo>
                        <a:pt x="1424" y="1993"/>
                        <a:pt x="1419" y="1994"/>
                        <a:pt x="1415" y="1996"/>
                      </a:cubicBezTo>
                      <a:cubicBezTo>
                        <a:pt x="1378" y="2010"/>
                        <a:pt x="1340" y="2021"/>
                        <a:pt x="1302" y="2031"/>
                      </a:cubicBezTo>
                      <a:cubicBezTo>
                        <a:pt x="1302" y="2031"/>
                        <a:pt x="1302" y="2031"/>
                        <a:pt x="1302" y="2031"/>
                      </a:cubicBezTo>
                      <a:cubicBezTo>
                        <a:pt x="1302" y="2031"/>
                        <a:pt x="1302" y="2031"/>
                        <a:pt x="1301" y="2031"/>
                      </a:cubicBezTo>
                      <a:cubicBezTo>
                        <a:pt x="1301" y="2031"/>
                        <a:pt x="1301" y="2031"/>
                        <a:pt x="1301" y="2031"/>
                      </a:cubicBezTo>
                      <a:cubicBezTo>
                        <a:pt x="1301" y="2031"/>
                        <a:pt x="1301" y="2031"/>
                        <a:pt x="1301" y="2031"/>
                      </a:cubicBezTo>
                      <a:cubicBezTo>
                        <a:pt x="1301" y="2031"/>
                        <a:pt x="1301" y="2031"/>
                        <a:pt x="1301" y="2031"/>
                      </a:cubicBezTo>
                      <a:cubicBezTo>
                        <a:pt x="1301" y="2031"/>
                        <a:pt x="1301" y="2031"/>
                        <a:pt x="1301" y="2031"/>
                      </a:cubicBezTo>
                      <a:cubicBezTo>
                        <a:pt x="1300" y="2031"/>
                        <a:pt x="1300" y="2031"/>
                        <a:pt x="1300" y="2031"/>
                      </a:cubicBezTo>
                      <a:cubicBezTo>
                        <a:pt x="1281" y="2036"/>
                        <a:pt x="1269" y="2055"/>
                        <a:pt x="1274" y="2075"/>
                      </a:cubicBezTo>
                      <a:cubicBezTo>
                        <a:pt x="1278" y="2091"/>
                        <a:pt x="1293" y="2102"/>
                        <a:pt x="1309" y="2102"/>
                      </a:cubicBezTo>
                      <a:cubicBezTo>
                        <a:pt x="1312" y="2102"/>
                        <a:pt x="1315" y="2102"/>
                        <a:pt x="1317" y="2101"/>
                      </a:cubicBezTo>
                      <a:cubicBezTo>
                        <a:pt x="1359" y="2091"/>
                        <a:pt x="1400" y="2078"/>
                        <a:pt x="1440" y="2063"/>
                      </a:cubicBezTo>
                      <a:cubicBezTo>
                        <a:pt x="1459" y="2056"/>
                        <a:pt x="1468" y="2035"/>
                        <a:pt x="1461" y="2017"/>
                      </a:cubicBezTo>
                      <a:cubicBezTo>
                        <a:pt x="1456" y="2002"/>
                        <a:pt x="1442" y="1993"/>
                        <a:pt x="1428" y="1993"/>
                      </a:cubicBezTo>
                      <a:close/>
                      <a:moveTo>
                        <a:pt x="602" y="1945"/>
                      </a:moveTo>
                      <a:cubicBezTo>
                        <a:pt x="592" y="1940"/>
                        <a:pt x="583" y="1935"/>
                        <a:pt x="574" y="1930"/>
                      </a:cubicBezTo>
                      <a:cubicBezTo>
                        <a:pt x="574" y="1930"/>
                        <a:pt x="574" y="1930"/>
                        <a:pt x="574" y="1930"/>
                      </a:cubicBezTo>
                      <a:cubicBezTo>
                        <a:pt x="574" y="1930"/>
                        <a:pt x="574" y="1930"/>
                        <a:pt x="574" y="1929"/>
                      </a:cubicBezTo>
                      <a:cubicBezTo>
                        <a:pt x="574" y="1929"/>
                        <a:pt x="574" y="1929"/>
                        <a:pt x="574" y="1929"/>
                      </a:cubicBezTo>
                      <a:cubicBezTo>
                        <a:pt x="574" y="1929"/>
                        <a:pt x="574" y="1929"/>
                        <a:pt x="573" y="1929"/>
                      </a:cubicBezTo>
                      <a:cubicBezTo>
                        <a:pt x="573" y="1929"/>
                        <a:pt x="573" y="1929"/>
                        <a:pt x="573" y="1929"/>
                      </a:cubicBezTo>
                      <a:cubicBezTo>
                        <a:pt x="573" y="1929"/>
                        <a:pt x="573" y="1929"/>
                        <a:pt x="573" y="1929"/>
                      </a:cubicBezTo>
                      <a:cubicBezTo>
                        <a:pt x="573" y="1929"/>
                        <a:pt x="573" y="1929"/>
                        <a:pt x="573" y="1929"/>
                      </a:cubicBezTo>
                      <a:cubicBezTo>
                        <a:pt x="573" y="1929"/>
                        <a:pt x="573" y="1929"/>
                        <a:pt x="573" y="1929"/>
                      </a:cubicBezTo>
                      <a:cubicBezTo>
                        <a:pt x="572" y="1929"/>
                        <a:pt x="572" y="1929"/>
                        <a:pt x="572" y="1929"/>
                      </a:cubicBezTo>
                      <a:cubicBezTo>
                        <a:pt x="572" y="1928"/>
                        <a:pt x="572" y="1928"/>
                        <a:pt x="571" y="1928"/>
                      </a:cubicBezTo>
                      <a:cubicBezTo>
                        <a:pt x="571" y="1928"/>
                        <a:pt x="571" y="1928"/>
                        <a:pt x="571" y="1928"/>
                      </a:cubicBezTo>
                      <a:cubicBezTo>
                        <a:pt x="571" y="1928"/>
                        <a:pt x="571" y="1928"/>
                        <a:pt x="571" y="1928"/>
                      </a:cubicBezTo>
                      <a:cubicBezTo>
                        <a:pt x="571" y="1928"/>
                        <a:pt x="571" y="1928"/>
                        <a:pt x="571" y="1928"/>
                      </a:cubicBezTo>
                      <a:cubicBezTo>
                        <a:pt x="571" y="1927"/>
                        <a:pt x="570" y="1927"/>
                        <a:pt x="570" y="1927"/>
                      </a:cubicBezTo>
                      <a:cubicBezTo>
                        <a:pt x="570" y="1927"/>
                        <a:pt x="570" y="1927"/>
                        <a:pt x="570" y="1927"/>
                      </a:cubicBezTo>
                      <a:cubicBezTo>
                        <a:pt x="570" y="1927"/>
                        <a:pt x="570" y="1927"/>
                        <a:pt x="570" y="1927"/>
                      </a:cubicBezTo>
                      <a:cubicBezTo>
                        <a:pt x="570" y="1927"/>
                        <a:pt x="570" y="1927"/>
                        <a:pt x="570" y="1927"/>
                      </a:cubicBezTo>
                      <a:cubicBezTo>
                        <a:pt x="570" y="1927"/>
                        <a:pt x="569" y="1927"/>
                        <a:pt x="569" y="1927"/>
                      </a:cubicBezTo>
                      <a:cubicBezTo>
                        <a:pt x="569" y="1927"/>
                        <a:pt x="569" y="1927"/>
                        <a:pt x="569" y="1927"/>
                      </a:cubicBezTo>
                      <a:cubicBezTo>
                        <a:pt x="569" y="1927"/>
                        <a:pt x="569" y="1927"/>
                        <a:pt x="569" y="1927"/>
                      </a:cubicBezTo>
                      <a:cubicBezTo>
                        <a:pt x="569" y="1927"/>
                        <a:pt x="569" y="1926"/>
                        <a:pt x="569" y="1926"/>
                      </a:cubicBezTo>
                      <a:cubicBezTo>
                        <a:pt x="568" y="1926"/>
                        <a:pt x="568" y="1926"/>
                        <a:pt x="568" y="1926"/>
                      </a:cubicBezTo>
                      <a:cubicBezTo>
                        <a:pt x="568" y="1926"/>
                        <a:pt x="568" y="1926"/>
                        <a:pt x="568" y="1926"/>
                      </a:cubicBezTo>
                      <a:cubicBezTo>
                        <a:pt x="568" y="1926"/>
                        <a:pt x="568" y="1926"/>
                        <a:pt x="567" y="1926"/>
                      </a:cubicBezTo>
                      <a:cubicBezTo>
                        <a:pt x="567" y="1926"/>
                        <a:pt x="567" y="1926"/>
                        <a:pt x="567" y="1926"/>
                      </a:cubicBezTo>
                      <a:cubicBezTo>
                        <a:pt x="567" y="1926"/>
                        <a:pt x="567" y="1925"/>
                        <a:pt x="567" y="1925"/>
                      </a:cubicBezTo>
                      <a:cubicBezTo>
                        <a:pt x="567" y="1925"/>
                        <a:pt x="567" y="1925"/>
                        <a:pt x="567" y="1925"/>
                      </a:cubicBezTo>
                      <a:cubicBezTo>
                        <a:pt x="567" y="1925"/>
                        <a:pt x="566" y="1925"/>
                        <a:pt x="566" y="1925"/>
                      </a:cubicBezTo>
                      <a:cubicBezTo>
                        <a:pt x="566" y="1925"/>
                        <a:pt x="566" y="1925"/>
                        <a:pt x="566" y="1925"/>
                      </a:cubicBezTo>
                      <a:cubicBezTo>
                        <a:pt x="566" y="1925"/>
                        <a:pt x="566" y="1925"/>
                        <a:pt x="566" y="1925"/>
                      </a:cubicBezTo>
                      <a:cubicBezTo>
                        <a:pt x="566" y="1925"/>
                        <a:pt x="566" y="1925"/>
                        <a:pt x="566" y="1925"/>
                      </a:cubicBezTo>
                      <a:cubicBezTo>
                        <a:pt x="565" y="1924"/>
                        <a:pt x="565" y="1924"/>
                        <a:pt x="565" y="1924"/>
                      </a:cubicBezTo>
                      <a:cubicBezTo>
                        <a:pt x="565" y="1924"/>
                        <a:pt x="565" y="1924"/>
                        <a:pt x="565" y="1924"/>
                      </a:cubicBezTo>
                      <a:cubicBezTo>
                        <a:pt x="564" y="1924"/>
                        <a:pt x="564" y="1924"/>
                        <a:pt x="564" y="1924"/>
                      </a:cubicBezTo>
                      <a:cubicBezTo>
                        <a:pt x="564" y="1924"/>
                        <a:pt x="564" y="1924"/>
                        <a:pt x="564" y="1924"/>
                      </a:cubicBezTo>
                      <a:cubicBezTo>
                        <a:pt x="564" y="1924"/>
                        <a:pt x="564" y="1924"/>
                        <a:pt x="564" y="1923"/>
                      </a:cubicBezTo>
                      <a:cubicBezTo>
                        <a:pt x="564" y="1923"/>
                        <a:pt x="563" y="1923"/>
                        <a:pt x="563" y="1923"/>
                      </a:cubicBezTo>
                      <a:cubicBezTo>
                        <a:pt x="563" y="1923"/>
                        <a:pt x="563" y="1923"/>
                        <a:pt x="563" y="1923"/>
                      </a:cubicBezTo>
                      <a:cubicBezTo>
                        <a:pt x="563" y="1923"/>
                        <a:pt x="563" y="1923"/>
                        <a:pt x="563" y="1923"/>
                      </a:cubicBezTo>
                      <a:cubicBezTo>
                        <a:pt x="563" y="1923"/>
                        <a:pt x="562" y="1923"/>
                        <a:pt x="562" y="1922"/>
                      </a:cubicBezTo>
                      <a:cubicBezTo>
                        <a:pt x="562" y="1922"/>
                        <a:pt x="562" y="1922"/>
                        <a:pt x="562" y="1922"/>
                      </a:cubicBezTo>
                      <a:cubicBezTo>
                        <a:pt x="562" y="1922"/>
                        <a:pt x="561" y="1922"/>
                        <a:pt x="561" y="1922"/>
                      </a:cubicBezTo>
                      <a:cubicBezTo>
                        <a:pt x="561" y="1922"/>
                        <a:pt x="561" y="1922"/>
                        <a:pt x="561" y="1922"/>
                      </a:cubicBezTo>
                      <a:cubicBezTo>
                        <a:pt x="561" y="1922"/>
                        <a:pt x="561" y="1922"/>
                        <a:pt x="561" y="1922"/>
                      </a:cubicBezTo>
                      <a:cubicBezTo>
                        <a:pt x="561" y="1922"/>
                        <a:pt x="561" y="1922"/>
                        <a:pt x="561" y="1922"/>
                      </a:cubicBezTo>
                      <a:cubicBezTo>
                        <a:pt x="561" y="1922"/>
                        <a:pt x="560" y="1922"/>
                        <a:pt x="560" y="1921"/>
                      </a:cubicBezTo>
                      <a:cubicBezTo>
                        <a:pt x="560" y="1921"/>
                        <a:pt x="560" y="1921"/>
                        <a:pt x="560" y="1921"/>
                      </a:cubicBezTo>
                      <a:cubicBezTo>
                        <a:pt x="560" y="1921"/>
                        <a:pt x="559" y="1921"/>
                        <a:pt x="559" y="1921"/>
                      </a:cubicBezTo>
                      <a:cubicBezTo>
                        <a:pt x="559" y="1921"/>
                        <a:pt x="559" y="1921"/>
                        <a:pt x="559" y="1921"/>
                      </a:cubicBezTo>
                      <a:cubicBezTo>
                        <a:pt x="559" y="1921"/>
                        <a:pt x="559" y="1921"/>
                        <a:pt x="559" y="1920"/>
                      </a:cubicBezTo>
                      <a:cubicBezTo>
                        <a:pt x="559" y="1920"/>
                        <a:pt x="559" y="1920"/>
                        <a:pt x="558" y="1920"/>
                      </a:cubicBezTo>
                      <a:cubicBezTo>
                        <a:pt x="543" y="1911"/>
                        <a:pt x="528" y="1902"/>
                        <a:pt x="513" y="1892"/>
                      </a:cubicBezTo>
                      <a:cubicBezTo>
                        <a:pt x="513" y="1892"/>
                        <a:pt x="513" y="1892"/>
                        <a:pt x="513" y="1892"/>
                      </a:cubicBezTo>
                      <a:cubicBezTo>
                        <a:pt x="513" y="1892"/>
                        <a:pt x="513" y="1892"/>
                        <a:pt x="513" y="1892"/>
                      </a:cubicBezTo>
                      <a:cubicBezTo>
                        <a:pt x="513" y="1891"/>
                        <a:pt x="513" y="1891"/>
                        <a:pt x="513" y="1891"/>
                      </a:cubicBezTo>
                      <a:cubicBezTo>
                        <a:pt x="512" y="1891"/>
                        <a:pt x="512" y="1891"/>
                        <a:pt x="512" y="1891"/>
                      </a:cubicBezTo>
                      <a:cubicBezTo>
                        <a:pt x="512" y="1891"/>
                        <a:pt x="512" y="1891"/>
                        <a:pt x="512" y="1891"/>
                      </a:cubicBezTo>
                      <a:cubicBezTo>
                        <a:pt x="512" y="1891"/>
                        <a:pt x="512" y="1891"/>
                        <a:pt x="512" y="1891"/>
                      </a:cubicBezTo>
                      <a:cubicBezTo>
                        <a:pt x="512" y="1891"/>
                        <a:pt x="512" y="1891"/>
                        <a:pt x="512" y="1891"/>
                      </a:cubicBezTo>
                      <a:cubicBezTo>
                        <a:pt x="511" y="1891"/>
                        <a:pt x="511" y="1891"/>
                        <a:pt x="511" y="1890"/>
                      </a:cubicBezTo>
                      <a:cubicBezTo>
                        <a:pt x="511" y="1890"/>
                        <a:pt x="511" y="1890"/>
                        <a:pt x="511" y="1890"/>
                      </a:cubicBezTo>
                      <a:cubicBezTo>
                        <a:pt x="511" y="1890"/>
                        <a:pt x="511" y="1890"/>
                        <a:pt x="511" y="1890"/>
                      </a:cubicBezTo>
                      <a:cubicBezTo>
                        <a:pt x="511" y="1890"/>
                        <a:pt x="511" y="1890"/>
                        <a:pt x="510" y="1890"/>
                      </a:cubicBezTo>
                      <a:cubicBezTo>
                        <a:pt x="510" y="1890"/>
                        <a:pt x="510" y="1890"/>
                        <a:pt x="510" y="1890"/>
                      </a:cubicBezTo>
                      <a:cubicBezTo>
                        <a:pt x="510" y="1890"/>
                        <a:pt x="510" y="1890"/>
                        <a:pt x="510" y="1890"/>
                      </a:cubicBezTo>
                      <a:cubicBezTo>
                        <a:pt x="510" y="1890"/>
                        <a:pt x="510" y="1890"/>
                        <a:pt x="510" y="1889"/>
                      </a:cubicBezTo>
                      <a:cubicBezTo>
                        <a:pt x="510" y="1889"/>
                        <a:pt x="509" y="1889"/>
                        <a:pt x="509" y="1889"/>
                      </a:cubicBezTo>
                      <a:cubicBezTo>
                        <a:pt x="509" y="1889"/>
                        <a:pt x="509" y="1889"/>
                        <a:pt x="509" y="1889"/>
                      </a:cubicBezTo>
                      <a:cubicBezTo>
                        <a:pt x="509" y="1889"/>
                        <a:pt x="509" y="1889"/>
                        <a:pt x="509" y="1889"/>
                      </a:cubicBezTo>
                      <a:cubicBezTo>
                        <a:pt x="509" y="1889"/>
                        <a:pt x="509" y="1889"/>
                        <a:pt x="509" y="1889"/>
                      </a:cubicBezTo>
                      <a:cubicBezTo>
                        <a:pt x="508" y="1889"/>
                        <a:pt x="508" y="1889"/>
                        <a:pt x="508" y="1889"/>
                      </a:cubicBezTo>
                      <a:cubicBezTo>
                        <a:pt x="508" y="1888"/>
                        <a:pt x="508" y="1888"/>
                        <a:pt x="508" y="1888"/>
                      </a:cubicBezTo>
                      <a:cubicBezTo>
                        <a:pt x="508" y="1888"/>
                        <a:pt x="507" y="1888"/>
                        <a:pt x="507" y="1888"/>
                      </a:cubicBezTo>
                      <a:cubicBezTo>
                        <a:pt x="507" y="1888"/>
                        <a:pt x="507" y="1888"/>
                        <a:pt x="507" y="1888"/>
                      </a:cubicBezTo>
                      <a:cubicBezTo>
                        <a:pt x="504" y="1886"/>
                        <a:pt x="502" y="1884"/>
                        <a:pt x="499" y="1882"/>
                      </a:cubicBezTo>
                      <a:cubicBezTo>
                        <a:pt x="493" y="1878"/>
                        <a:pt x="486" y="1876"/>
                        <a:pt x="479" y="1876"/>
                      </a:cubicBezTo>
                      <a:cubicBezTo>
                        <a:pt x="467" y="1876"/>
                        <a:pt x="456" y="1881"/>
                        <a:pt x="449" y="1891"/>
                      </a:cubicBezTo>
                      <a:cubicBezTo>
                        <a:pt x="438" y="1908"/>
                        <a:pt x="442" y="1930"/>
                        <a:pt x="458" y="1941"/>
                      </a:cubicBezTo>
                      <a:cubicBezTo>
                        <a:pt x="482" y="1958"/>
                        <a:pt x="507" y="1974"/>
                        <a:pt x="532" y="1988"/>
                      </a:cubicBezTo>
                      <a:cubicBezTo>
                        <a:pt x="544" y="1995"/>
                        <a:pt x="556" y="2002"/>
                        <a:pt x="568" y="2008"/>
                      </a:cubicBezTo>
                      <a:cubicBezTo>
                        <a:pt x="573" y="2011"/>
                        <a:pt x="579" y="2012"/>
                        <a:pt x="585" y="2012"/>
                      </a:cubicBezTo>
                      <a:cubicBezTo>
                        <a:pt x="598" y="2012"/>
                        <a:pt x="610" y="2005"/>
                        <a:pt x="617" y="1993"/>
                      </a:cubicBezTo>
                      <a:cubicBezTo>
                        <a:pt x="626" y="1976"/>
                        <a:pt x="619" y="1954"/>
                        <a:pt x="602" y="1945"/>
                      </a:cubicBezTo>
                      <a:close/>
                      <a:moveTo>
                        <a:pt x="193" y="1541"/>
                      </a:moveTo>
                      <a:cubicBezTo>
                        <a:pt x="193" y="1541"/>
                        <a:pt x="193" y="1541"/>
                        <a:pt x="193" y="1541"/>
                      </a:cubicBezTo>
                      <a:cubicBezTo>
                        <a:pt x="193" y="1540"/>
                        <a:pt x="193" y="1540"/>
                        <a:pt x="192" y="1539"/>
                      </a:cubicBezTo>
                      <a:cubicBezTo>
                        <a:pt x="192" y="1539"/>
                        <a:pt x="192" y="1539"/>
                        <a:pt x="192" y="1539"/>
                      </a:cubicBezTo>
                      <a:cubicBezTo>
                        <a:pt x="192" y="1539"/>
                        <a:pt x="192" y="1538"/>
                        <a:pt x="192" y="1538"/>
                      </a:cubicBezTo>
                      <a:cubicBezTo>
                        <a:pt x="192" y="1538"/>
                        <a:pt x="192" y="1538"/>
                        <a:pt x="192" y="1538"/>
                      </a:cubicBezTo>
                      <a:cubicBezTo>
                        <a:pt x="192" y="1538"/>
                        <a:pt x="191" y="1538"/>
                        <a:pt x="191" y="1538"/>
                      </a:cubicBezTo>
                      <a:cubicBezTo>
                        <a:pt x="191" y="1538"/>
                        <a:pt x="191" y="1538"/>
                        <a:pt x="191" y="1538"/>
                      </a:cubicBezTo>
                      <a:cubicBezTo>
                        <a:pt x="191" y="1537"/>
                        <a:pt x="191" y="1537"/>
                        <a:pt x="191" y="1537"/>
                      </a:cubicBezTo>
                      <a:cubicBezTo>
                        <a:pt x="191" y="1537"/>
                        <a:pt x="191" y="1537"/>
                        <a:pt x="191" y="1537"/>
                      </a:cubicBezTo>
                      <a:cubicBezTo>
                        <a:pt x="191" y="1537"/>
                        <a:pt x="191" y="1537"/>
                        <a:pt x="191" y="1536"/>
                      </a:cubicBezTo>
                      <a:cubicBezTo>
                        <a:pt x="191" y="1536"/>
                        <a:pt x="191" y="1536"/>
                        <a:pt x="191" y="1536"/>
                      </a:cubicBezTo>
                      <a:cubicBezTo>
                        <a:pt x="191" y="1536"/>
                        <a:pt x="191" y="1536"/>
                        <a:pt x="191" y="1536"/>
                      </a:cubicBezTo>
                      <a:cubicBezTo>
                        <a:pt x="191" y="1536"/>
                        <a:pt x="190" y="1536"/>
                        <a:pt x="190" y="1536"/>
                      </a:cubicBezTo>
                      <a:cubicBezTo>
                        <a:pt x="190" y="1536"/>
                        <a:pt x="190" y="1536"/>
                        <a:pt x="190" y="1536"/>
                      </a:cubicBezTo>
                      <a:cubicBezTo>
                        <a:pt x="190" y="1536"/>
                        <a:pt x="190" y="1536"/>
                        <a:pt x="190" y="1535"/>
                      </a:cubicBezTo>
                      <a:cubicBezTo>
                        <a:pt x="190" y="1535"/>
                        <a:pt x="190" y="1535"/>
                        <a:pt x="190" y="1535"/>
                      </a:cubicBezTo>
                      <a:cubicBezTo>
                        <a:pt x="190" y="1535"/>
                        <a:pt x="190" y="1535"/>
                        <a:pt x="190" y="1535"/>
                      </a:cubicBezTo>
                      <a:cubicBezTo>
                        <a:pt x="190" y="1535"/>
                        <a:pt x="190" y="1535"/>
                        <a:pt x="190" y="1535"/>
                      </a:cubicBezTo>
                      <a:cubicBezTo>
                        <a:pt x="190" y="1535"/>
                        <a:pt x="190" y="1535"/>
                        <a:pt x="190" y="1535"/>
                      </a:cubicBezTo>
                      <a:cubicBezTo>
                        <a:pt x="190" y="1534"/>
                        <a:pt x="190" y="1534"/>
                        <a:pt x="190" y="1534"/>
                      </a:cubicBezTo>
                      <a:cubicBezTo>
                        <a:pt x="190" y="1534"/>
                        <a:pt x="190" y="1534"/>
                        <a:pt x="190" y="1534"/>
                      </a:cubicBezTo>
                      <a:cubicBezTo>
                        <a:pt x="190" y="1534"/>
                        <a:pt x="189" y="1534"/>
                        <a:pt x="189" y="1534"/>
                      </a:cubicBezTo>
                      <a:cubicBezTo>
                        <a:pt x="189" y="1534"/>
                        <a:pt x="189" y="1534"/>
                        <a:pt x="189" y="1534"/>
                      </a:cubicBezTo>
                      <a:cubicBezTo>
                        <a:pt x="189" y="1534"/>
                        <a:pt x="189" y="1534"/>
                        <a:pt x="189" y="1533"/>
                      </a:cubicBezTo>
                      <a:cubicBezTo>
                        <a:pt x="189" y="1533"/>
                        <a:pt x="189" y="1533"/>
                        <a:pt x="189" y="1533"/>
                      </a:cubicBezTo>
                      <a:cubicBezTo>
                        <a:pt x="189" y="1533"/>
                        <a:pt x="189" y="1533"/>
                        <a:pt x="189" y="1533"/>
                      </a:cubicBezTo>
                      <a:cubicBezTo>
                        <a:pt x="189" y="1533"/>
                        <a:pt x="189" y="1533"/>
                        <a:pt x="189" y="1533"/>
                      </a:cubicBezTo>
                      <a:cubicBezTo>
                        <a:pt x="189" y="1533"/>
                        <a:pt x="189" y="1533"/>
                        <a:pt x="189" y="1533"/>
                      </a:cubicBezTo>
                      <a:cubicBezTo>
                        <a:pt x="189" y="1533"/>
                        <a:pt x="189" y="1533"/>
                        <a:pt x="189" y="1533"/>
                      </a:cubicBezTo>
                      <a:cubicBezTo>
                        <a:pt x="189" y="1532"/>
                        <a:pt x="189" y="1532"/>
                        <a:pt x="189" y="1532"/>
                      </a:cubicBezTo>
                      <a:cubicBezTo>
                        <a:pt x="189" y="1532"/>
                        <a:pt x="189" y="1532"/>
                        <a:pt x="188" y="1532"/>
                      </a:cubicBezTo>
                      <a:cubicBezTo>
                        <a:pt x="188" y="1532"/>
                        <a:pt x="188" y="1532"/>
                        <a:pt x="188" y="1532"/>
                      </a:cubicBezTo>
                      <a:cubicBezTo>
                        <a:pt x="188" y="1532"/>
                        <a:pt x="188" y="1532"/>
                        <a:pt x="188" y="1532"/>
                      </a:cubicBezTo>
                      <a:cubicBezTo>
                        <a:pt x="188" y="1532"/>
                        <a:pt x="188" y="1531"/>
                        <a:pt x="188" y="1531"/>
                      </a:cubicBezTo>
                      <a:cubicBezTo>
                        <a:pt x="188" y="1531"/>
                        <a:pt x="188" y="1531"/>
                        <a:pt x="188" y="1531"/>
                      </a:cubicBezTo>
                      <a:cubicBezTo>
                        <a:pt x="188" y="1531"/>
                        <a:pt x="188" y="1531"/>
                        <a:pt x="188" y="1531"/>
                      </a:cubicBezTo>
                      <a:cubicBezTo>
                        <a:pt x="188" y="1531"/>
                        <a:pt x="188" y="1531"/>
                        <a:pt x="188" y="1531"/>
                      </a:cubicBezTo>
                      <a:cubicBezTo>
                        <a:pt x="188" y="1531"/>
                        <a:pt x="188" y="1531"/>
                        <a:pt x="188" y="1531"/>
                      </a:cubicBezTo>
                      <a:cubicBezTo>
                        <a:pt x="188" y="1530"/>
                        <a:pt x="187" y="1530"/>
                        <a:pt x="187" y="1530"/>
                      </a:cubicBezTo>
                      <a:cubicBezTo>
                        <a:pt x="187" y="1530"/>
                        <a:pt x="187" y="1530"/>
                        <a:pt x="187" y="1530"/>
                      </a:cubicBezTo>
                      <a:cubicBezTo>
                        <a:pt x="187" y="1530"/>
                        <a:pt x="187" y="1530"/>
                        <a:pt x="187" y="1530"/>
                      </a:cubicBezTo>
                      <a:cubicBezTo>
                        <a:pt x="187" y="1529"/>
                        <a:pt x="187" y="1529"/>
                        <a:pt x="187" y="1529"/>
                      </a:cubicBezTo>
                      <a:cubicBezTo>
                        <a:pt x="187" y="1529"/>
                        <a:pt x="187" y="1529"/>
                        <a:pt x="187" y="1529"/>
                      </a:cubicBezTo>
                      <a:cubicBezTo>
                        <a:pt x="187" y="1529"/>
                        <a:pt x="187" y="1529"/>
                        <a:pt x="187" y="1529"/>
                      </a:cubicBezTo>
                      <a:cubicBezTo>
                        <a:pt x="187" y="1529"/>
                        <a:pt x="187" y="1528"/>
                        <a:pt x="186" y="1528"/>
                      </a:cubicBezTo>
                      <a:cubicBezTo>
                        <a:pt x="186" y="1528"/>
                        <a:pt x="186" y="1528"/>
                        <a:pt x="186" y="1528"/>
                      </a:cubicBezTo>
                      <a:cubicBezTo>
                        <a:pt x="186" y="1528"/>
                        <a:pt x="186" y="1528"/>
                        <a:pt x="186" y="1528"/>
                      </a:cubicBezTo>
                      <a:cubicBezTo>
                        <a:pt x="186" y="1528"/>
                        <a:pt x="186" y="1528"/>
                        <a:pt x="186" y="1528"/>
                      </a:cubicBezTo>
                      <a:cubicBezTo>
                        <a:pt x="176" y="1508"/>
                        <a:pt x="166" y="1488"/>
                        <a:pt x="157" y="1468"/>
                      </a:cubicBezTo>
                      <a:cubicBezTo>
                        <a:pt x="157" y="1468"/>
                        <a:pt x="157" y="1468"/>
                        <a:pt x="157" y="1468"/>
                      </a:cubicBezTo>
                      <a:cubicBezTo>
                        <a:pt x="157" y="1467"/>
                        <a:pt x="157" y="1467"/>
                        <a:pt x="157" y="1466"/>
                      </a:cubicBezTo>
                      <a:cubicBezTo>
                        <a:pt x="157" y="1466"/>
                        <a:pt x="157" y="1466"/>
                        <a:pt x="157" y="1466"/>
                      </a:cubicBezTo>
                      <a:cubicBezTo>
                        <a:pt x="157" y="1466"/>
                        <a:pt x="156" y="1466"/>
                        <a:pt x="156" y="1466"/>
                      </a:cubicBezTo>
                      <a:cubicBezTo>
                        <a:pt x="156" y="1466"/>
                        <a:pt x="156" y="1466"/>
                        <a:pt x="156" y="1466"/>
                      </a:cubicBezTo>
                      <a:cubicBezTo>
                        <a:pt x="156" y="1465"/>
                        <a:pt x="156" y="1465"/>
                        <a:pt x="156" y="1465"/>
                      </a:cubicBezTo>
                      <a:cubicBezTo>
                        <a:pt x="156" y="1465"/>
                        <a:pt x="156" y="1465"/>
                        <a:pt x="156" y="1465"/>
                      </a:cubicBezTo>
                      <a:cubicBezTo>
                        <a:pt x="156" y="1465"/>
                        <a:pt x="156" y="1465"/>
                        <a:pt x="156" y="1465"/>
                      </a:cubicBezTo>
                      <a:cubicBezTo>
                        <a:pt x="156" y="1464"/>
                        <a:pt x="156" y="1464"/>
                        <a:pt x="156" y="1464"/>
                      </a:cubicBezTo>
                      <a:cubicBezTo>
                        <a:pt x="156" y="1464"/>
                        <a:pt x="156" y="1464"/>
                        <a:pt x="156" y="1464"/>
                      </a:cubicBezTo>
                      <a:cubicBezTo>
                        <a:pt x="156" y="1464"/>
                        <a:pt x="156" y="1464"/>
                        <a:pt x="156" y="1464"/>
                      </a:cubicBezTo>
                      <a:cubicBezTo>
                        <a:pt x="156" y="1464"/>
                        <a:pt x="156" y="1464"/>
                        <a:pt x="156" y="1464"/>
                      </a:cubicBezTo>
                      <a:cubicBezTo>
                        <a:pt x="156" y="1464"/>
                        <a:pt x="156" y="1464"/>
                        <a:pt x="156" y="1464"/>
                      </a:cubicBezTo>
                      <a:cubicBezTo>
                        <a:pt x="155" y="1464"/>
                        <a:pt x="155" y="1463"/>
                        <a:pt x="155" y="1463"/>
                      </a:cubicBezTo>
                      <a:cubicBezTo>
                        <a:pt x="155" y="1463"/>
                        <a:pt x="155" y="1463"/>
                        <a:pt x="155" y="1463"/>
                      </a:cubicBezTo>
                      <a:cubicBezTo>
                        <a:pt x="155" y="1463"/>
                        <a:pt x="155" y="1463"/>
                        <a:pt x="155" y="1463"/>
                      </a:cubicBezTo>
                      <a:cubicBezTo>
                        <a:pt x="155" y="1463"/>
                        <a:pt x="155" y="1463"/>
                        <a:pt x="155" y="1463"/>
                      </a:cubicBezTo>
                      <a:cubicBezTo>
                        <a:pt x="155" y="1463"/>
                        <a:pt x="155" y="1463"/>
                        <a:pt x="155" y="1462"/>
                      </a:cubicBezTo>
                      <a:cubicBezTo>
                        <a:pt x="155" y="1462"/>
                        <a:pt x="155" y="1462"/>
                        <a:pt x="155" y="1462"/>
                      </a:cubicBezTo>
                      <a:cubicBezTo>
                        <a:pt x="155" y="1462"/>
                        <a:pt x="155" y="1462"/>
                        <a:pt x="155" y="1462"/>
                      </a:cubicBezTo>
                      <a:cubicBezTo>
                        <a:pt x="155" y="1462"/>
                        <a:pt x="155" y="1462"/>
                        <a:pt x="155" y="1462"/>
                      </a:cubicBezTo>
                      <a:cubicBezTo>
                        <a:pt x="155" y="1462"/>
                        <a:pt x="155" y="1462"/>
                        <a:pt x="155" y="1462"/>
                      </a:cubicBezTo>
                      <a:cubicBezTo>
                        <a:pt x="155" y="1461"/>
                        <a:pt x="155" y="1461"/>
                        <a:pt x="154" y="1461"/>
                      </a:cubicBezTo>
                      <a:cubicBezTo>
                        <a:pt x="154" y="1461"/>
                        <a:pt x="154" y="1461"/>
                        <a:pt x="154" y="1461"/>
                      </a:cubicBezTo>
                      <a:cubicBezTo>
                        <a:pt x="154" y="1461"/>
                        <a:pt x="154" y="1461"/>
                        <a:pt x="154" y="1461"/>
                      </a:cubicBezTo>
                      <a:cubicBezTo>
                        <a:pt x="154" y="1461"/>
                        <a:pt x="154" y="1461"/>
                        <a:pt x="154" y="1461"/>
                      </a:cubicBezTo>
                      <a:cubicBezTo>
                        <a:pt x="154" y="1461"/>
                        <a:pt x="154" y="1461"/>
                        <a:pt x="154" y="1460"/>
                      </a:cubicBezTo>
                      <a:cubicBezTo>
                        <a:pt x="154" y="1460"/>
                        <a:pt x="154" y="1460"/>
                        <a:pt x="154" y="1460"/>
                      </a:cubicBezTo>
                      <a:cubicBezTo>
                        <a:pt x="154" y="1460"/>
                        <a:pt x="154" y="1460"/>
                        <a:pt x="154" y="1460"/>
                      </a:cubicBezTo>
                      <a:cubicBezTo>
                        <a:pt x="154" y="1460"/>
                        <a:pt x="154" y="1460"/>
                        <a:pt x="154" y="1460"/>
                      </a:cubicBezTo>
                      <a:cubicBezTo>
                        <a:pt x="154" y="1460"/>
                        <a:pt x="154" y="1460"/>
                        <a:pt x="154" y="1460"/>
                      </a:cubicBezTo>
                      <a:cubicBezTo>
                        <a:pt x="154" y="1460"/>
                        <a:pt x="154" y="1460"/>
                        <a:pt x="154" y="1459"/>
                      </a:cubicBezTo>
                      <a:cubicBezTo>
                        <a:pt x="154" y="1459"/>
                        <a:pt x="154" y="1459"/>
                        <a:pt x="154" y="1459"/>
                      </a:cubicBezTo>
                      <a:cubicBezTo>
                        <a:pt x="154" y="1459"/>
                        <a:pt x="154" y="1459"/>
                        <a:pt x="154" y="1459"/>
                      </a:cubicBezTo>
                      <a:cubicBezTo>
                        <a:pt x="153" y="1457"/>
                        <a:pt x="152" y="1455"/>
                        <a:pt x="151" y="1453"/>
                      </a:cubicBezTo>
                      <a:cubicBezTo>
                        <a:pt x="145" y="1439"/>
                        <a:pt x="132" y="1431"/>
                        <a:pt x="118" y="1431"/>
                      </a:cubicBezTo>
                      <a:cubicBezTo>
                        <a:pt x="113" y="1431"/>
                        <a:pt x="108" y="1432"/>
                        <a:pt x="104" y="1434"/>
                      </a:cubicBezTo>
                      <a:cubicBezTo>
                        <a:pt x="85" y="1442"/>
                        <a:pt x="77" y="1463"/>
                        <a:pt x="85" y="1481"/>
                      </a:cubicBezTo>
                      <a:cubicBezTo>
                        <a:pt x="101" y="1520"/>
                        <a:pt x="120" y="1559"/>
                        <a:pt x="142" y="1596"/>
                      </a:cubicBezTo>
                      <a:cubicBezTo>
                        <a:pt x="148" y="1608"/>
                        <a:pt x="160" y="1614"/>
                        <a:pt x="173" y="1614"/>
                      </a:cubicBezTo>
                      <a:cubicBezTo>
                        <a:pt x="179" y="1614"/>
                        <a:pt x="185" y="1613"/>
                        <a:pt x="191" y="1610"/>
                      </a:cubicBezTo>
                      <a:cubicBezTo>
                        <a:pt x="208" y="1600"/>
                        <a:pt x="214" y="1578"/>
                        <a:pt x="204" y="1561"/>
                      </a:cubicBezTo>
                      <a:cubicBezTo>
                        <a:pt x="200" y="1554"/>
                        <a:pt x="197" y="1547"/>
                        <a:pt x="193" y="1541"/>
                      </a:cubicBezTo>
                      <a:close/>
                      <a:moveTo>
                        <a:pt x="302" y="1701"/>
                      </a:moveTo>
                      <a:cubicBezTo>
                        <a:pt x="302" y="1701"/>
                        <a:pt x="302" y="1701"/>
                        <a:pt x="302" y="1701"/>
                      </a:cubicBezTo>
                      <a:cubicBezTo>
                        <a:pt x="301" y="1701"/>
                        <a:pt x="301" y="1701"/>
                        <a:pt x="301" y="1701"/>
                      </a:cubicBezTo>
                      <a:cubicBezTo>
                        <a:pt x="301" y="1701"/>
                        <a:pt x="301" y="1701"/>
                        <a:pt x="301" y="1701"/>
                      </a:cubicBezTo>
                      <a:cubicBezTo>
                        <a:pt x="301" y="1700"/>
                        <a:pt x="301" y="1700"/>
                        <a:pt x="301" y="1700"/>
                      </a:cubicBezTo>
                      <a:cubicBezTo>
                        <a:pt x="301" y="1700"/>
                        <a:pt x="301" y="1700"/>
                        <a:pt x="301" y="1700"/>
                      </a:cubicBezTo>
                      <a:cubicBezTo>
                        <a:pt x="301" y="1700"/>
                        <a:pt x="300" y="1700"/>
                        <a:pt x="300" y="1700"/>
                      </a:cubicBezTo>
                      <a:cubicBezTo>
                        <a:pt x="300" y="1700"/>
                        <a:pt x="300" y="1700"/>
                        <a:pt x="300" y="1700"/>
                      </a:cubicBezTo>
                      <a:cubicBezTo>
                        <a:pt x="300" y="1700"/>
                        <a:pt x="300" y="1699"/>
                        <a:pt x="300" y="1699"/>
                      </a:cubicBezTo>
                      <a:cubicBezTo>
                        <a:pt x="300" y="1699"/>
                        <a:pt x="300" y="1699"/>
                        <a:pt x="300" y="1699"/>
                      </a:cubicBezTo>
                      <a:cubicBezTo>
                        <a:pt x="300" y="1699"/>
                        <a:pt x="300" y="1699"/>
                        <a:pt x="300" y="1699"/>
                      </a:cubicBezTo>
                      <a:cubicBezTo>
                        <a:pt x="300" y="1699"/>
                        <a:pt x="300" y="1699"/>
                        <a:pt x="300" y="1699"/>
                      </a:cubicBezTo>
                      <a:cubicBezTo>
                        <a:pt x="300" y="1699"/>
                        <a:pt x="300" y="1699"/>
                        <a:pt x="299" y="1699"/>
                      </a:cubicBezTo>
                      <a:cubicBezTo>
                        <a:pt x="299" y="1699"/>
                        <a:pt x="299" y="1699"/>
                        <a:pt x="299" y="1698"/>
                      </a:cubicBezTo>
                      <a:cubicBezTo>
                        <a:pt x="299" y="1698"/>
                        <a:pt x="299" y="1698"/>
                        <a:pt x="299" y="1698"/>
                      </a:cubicBezTo>
                      <a:cubicBezTo>
                        <a:pt x="299" y="1698"/>
                        <a:pt x="299" y="1698"/>
                        <a:pt x="299" y="1698"/>
                      </a:cubicBezTo>
                      <a:cubicBezTo>
                        <a:pt x="299" y="1698"/>
                        <a:pt x="299" y="1698"/>
                        <a:pt x="299" y="1698"/>
                      </a:cubicBezTo>
                      <a:cubicBezTo>
                        <a:pt x="299" y="1698"/>
                        <a:pt x="299" y="1698"/>
                        <a:pt x="299" y="1698"/>
                      </a:cubicBezTo>
                      <a:cubicBezTo>
                        <a:pt x="299" y="1698"/>
                        <a:pt x="299" y="1698"/>
                        <a:pt x="299" y="1698"/>
                      </a:cubicBezTo>
                      <a:cubicBezTo>
                        <a:pt x="299" y="1698"/>
                        <a:pt x="299" y="1698"/>
                        <a:pt x="299" y="1697"/>
                      </a:cubicBezTo>
                      <a:cubicBezTo>
                        <a:pt x="298" y="1697"/>
                        <a:pt x="298" y="1697"/>
                        <a:pt x="298" y="1697"/>
                      </a:cubicBezTo>
                      <a:cubicBezTo>
                        <a:pt x="298" y="1697"/>
                        <a:pt x="298" y="1697"/>
                        <a:pt x="298" y="1697"/>
                      </a:cubicBezTo>
                      <a:cubicBezTo>
                        <a:pt x="298" y="1697"/>
                        <a:pt x="298" y="1697"/>
                        <a:pt x="298" y="1697"/>
                      </a:cubicBezTo>
                      <a:cubicBezTo>
                        <a:pt x="298" y="1697"/>
                        <a:pt x="298" y="1697"/>
                        <a:pt x="298" y="1697"/>
                      </a:cubicBezTo>
                      <a:cubicBezTo>
                        <a:pt x="298" y="1697"/>
                        <a:pt x="298" y="1697"/>
                        <a:pt x="298" y="1697"/>
                      </a:cubicBezTo>
                      <a:cubicBezTo>
                        <a:pt x="298" y="1696"/>
                        <a:pt x="298" y="1696"/>
                        <a:pt x="298" y="1696"/>
                      </a:cubicBezTo>
                      <a:cubicBezTo>
                        <a:pt x="298" y="1696"/>
                        <a:pt x="298" y="1696"/>
                        <a:pt x="298" y="1696"/>
                      </a:cubicBezTo>
                      <a:cubicBezTo>
                        <a:pt x="296" y="1695"/>
                        <a:pt x="295" y="1694"/>
                        <a:pt x="294" y="1692"/>
                      </a:cubicBezTo>
                      <a:cubicBezTo>
                        <a:pt x="287" y="1684"/>
                        <a:pt x="277" y="1679"/>
                        <a:pt x="266" y="1679"/>
                      </a:cubicBezTo>
                      <a:cubicBezTo>
                        <a:pt x="258" y="1679"/>
                        <a:pt x="250" y="1682"/>
                        <a:pt x="244" y="1687"/>
                      </a:cubicBezTo>
                      <a:cubicBezTo>
                        <a:pt x="228" y="1700"/>
                        <a:pt x="226" y="1722"/>
                        <a:pt x="239" y="1738"/>
                      </a:cubicBezTo>
                      <a:cubicBezTo>
                        <a:pt x="265" y="1771"/>
                        <a:pt x="295" y="1803"/>
                        <a:pt x="325" y="1833"/>
                      </a:cubicBezTo>
                      <a:cubicBezTo>
                        <a:pt x="332" y="1839"/>
                        <a:pt x="341" y="1843"/>
                        <a:pt x="350" y="1843"/>
                      </a:cubicBezTo>
                      <a:cubicBezTo>
                        <a:pt x="360" y="1843"/>
                        <a:pt x="369" y="1839"/>
                        <a:pt x="376" y="1832"/>
                      </a:cubicBezTo>
                      <a:cubicBezTo>
                        <a:pt x="390" y="1817"/>
                        <a:pt x="390" y="1795"/>
                        <a:pt x="376" y="1781"/>
                      </a:cubicBezTo>
                      <a:cubicBezTo>
                        <a:pt x="349" y="1756"/>
                        <a:pt x="325" y="1729"/>
                        <a:pt x="302" y="1701"/>
                      </a:cubicBezTo>
                      <a:close/>
                      <a:moveTo>
                        <a:pt x="416" y="303"/>
                      </a:moveTo>
                      <a:cubicBezTo>
                        <a:pt x="424" y="303"/>
                        <a:pt x="432" y="300"/>
                        <a:pt x="438" y="295"/>
                      </a:cubicBezTo>
                      <a:cubicBezTo>
                        <a:pt x="465" y="273"/>
                        <a:pt x="493" y="253"/>
                        <a:pt x="521" y="234"/>
                      </a:cubicBezTo>
                      <a:cubicBezTo>
                        <a:pt x="521" y="234"/>
                        <a:pt x="521" y="234"/>
                        <a:pt x="521" y="234"/>
                      </a:cubicBezTo>
                      <a:cubicBezTo>
                        <a:pt x="522" y="234"/>
                        <a:pt x="522" y="234"/>
                        <a:pt x="522" y="234"/>
                      </a:cubicBezTo>
                      <a:cubicBezTo>
                        <a:pt x="522" y="234"/>
                        <a:pt x="522" y="234"/>
                        <a:pt x="522" y="234"/>
                      </a:cubicBezTo>
                      <a:cubicBezTo>
                        <a:pt x="522" y="234"/>
                        <a:pt x="522" y="234"/>
                        <a:pt x="522" y="234"/>
                      </a:cubicBezTo>
                      <a:cubicBezTo>
                        <a:pt x="522" y="234"/>
                        <a:pt x="522" y="234"/>
                        <a:pt x="522" y="234"/>
                      </a:cubicBezTo>
                      <a:cubicBezTo>
                        <a:pt x="522" y="233"/>
                        <a:pt x="522" y="233"/>
                        <a:pt x="523" y="233"/>
                      </a:cubicBezTo>
                      <a:cubicBezTo>
                        <a:pt x="523" y="233"/>
                        <a:pt x="523" y="233"/>
                        <a:pt x="523" y="233"/>
                      </a:cubicBezTo>
                      <a:cubicBezTo>
                        <a:pt x="523" y="233"/>
                        <a:pt x="523" y="233"/>
                        <a:pt x="523" y="233"/>
                      </a:cubicBezTo>
                      <a:cubicBezTo>
                        <a:pt x="523" y="233"/>
                        <a:pt x="523" y="233"/>
                        <a:pt x="523" y="233"/>
                      </a:cubicBezTo>
                      <a:cubicBezTo>
                        <a:pt x="523" y="233"/>
                        <a:pt x="523" y="233"/>
                        <a:pt x="523" y="233"/>
                      </a:cubicBezTo>
                      <a:cubicBezTo>
                        <a:pt x="523" y="233"/>
                        <a:pt x="523" y="233"/>
                        <a:pt x="524" y="233"/>
                      </a:cubicBezTo>
                      <a:cubicBezTo>
                        <a:pt x="524" y="233"/>
                        <a:pt x="524" y="233"/>
                        <a:pt x="524" y="233"/>
                      </a:cubicBezTo>
                      <a:cubicBezTo>
                        <a:pt x="524" y="233"/>
                        <a:pt x="524" y="232"/>
                        <a:pt x="524" y="232"/>
                      </a:cubicBezTo>
                      <a:cubicBezTo>
                        <a:pt x="524" y="232"/>
                        <a:pt x="524" y="232"/>
                        <a:pt x="524" y="232"/>
                      </a:cubicBezTo>
                      <a:cubicBezTo>
                        <a:pt x="524" y="232"/>
                        <a:pt x="524" y="232"/>
                        <a:pt x="524" y="232"/>
                      </a:cubicBezTo>
                      <a:cubicBezTo>
                        <a:pt x="524" y="232"/>
                        <a:pt x="525" y="232"/>
                        <a:pt x="525" y="232"/>
                      </a:cubicBezTo>
                      <a:cubicBezTo>
                        <a:pt x="525" y="232"/>
                        <a:pt x="525" y="232"/>
                        <a:pt x="525" y="231"/>
                      </a:cubicBezTo>
                      <a:cubicBezTo>
                        <a:pt x="525" y="231"/>
                        <a:pt x="525" y="231"/>
                        <a:pt x="525" y="231"/>
                      </a:cubicBezTo>
                      <a:cubicBezTo>
                        <a:pt x="526" y="231"/>
                        <a:pt x="526" y="231"/>
                        <a:pt x="526" y="231"/>
                      </a:cubicBezTo>
                      <a:cubicBezTo>
                        <a:pt x="526" y="231"/>
                        <a:pt x="526" y="231"/>
                        <a:pt x="526" y="231"/>
                      </a:cubicBezTo>
                      <a:cubicBezTo>
                        <a:pt x="526" y="231"/>
                        <a:pt x="526" y="231"/>
                        <a:pt x="526" y="231"/>
                      </a:cubicBezTo>
                      <a:cubicBezTo>
                        <a:pt x="526" y="231"/>
                        <a:pt x="526" y="231"/>
                        <a:pt x="526" y="231"/>
                      </a:cubicBezTo>
                      <a:cubicBezTo>
                        <a:pt x="526" y="231"/>
                        <a:pt x="527" y="231"/>
                        <a:pt x="527" y="231"/>
                      </a:cubicBezTo>
                      <a:cubicBezTo>
                        <a:pt x="527" y="231"/>
                        <a:pt x="527" y="231"/>
                        <a:pt x="527" y="231"/>
                      </a:cubicBezTo>
                      <a:cubicBezTo>
                        <a:pt x="527" y="231"/>
                        <a:pt x="527" y="230"/>
                        <a:pt x="527" y="230"/>
                      </a:cubicBezTo>
                      <a:cubicBezTo>
                        <a:pt x="527" y="230"/>
                        <a:pt x="527" y="230"/>
                        <a:pt x="527" y="230"/>
                      </a:cubicBezTo>
                      <a:cubicBezTo>
                        <a:pt x="527" y="230"/>
                        <a:pt x="527" y="230"/>
                        <a:pt x="527" y="230"/>
                      </a:cubicBezTo>
                      <a:cubicBezTo>
                        <a:pt x="528" y="230"/>
                        <a:pt x="528" y="230"/>
                        <a:pt x="528" y="230"/>
                      </a:cubicBezTo>
                      <a:cubicBezTo>
                        <a:pt x="528" y="230"/>
                        <a:pt x="528" y="230"/>
                        <a:pt x="528" y="230"/>
                      </a:cubicBezTo>
                      <a:cubicBezTo>
                        <a:pt x="528" y="230"/>
                        <a:pt x="528" y="230"/>
                        <a:pt x="528" y="230"/>
                      </a:cubicBezTo>
                      <a:cubicBezTo>
                        <a:pt x="528" y="230"/>
                        <a:pt x="528" y="230"/>
                        <a:pt x="528" y="230"/>
                      </a:cubicBezTo>
                      <a:cubicBezTo>
                        <a:pt x="528" y="230"/>
                        <a:pt x="528" y="230"/>
                        <a:pt x="528" y="230"/>
                      </a:cubicBezTo>
                      <a:cubicBezTo>
                        <a:pt x="529" y="229"/>
                        <a:pt x="529" y="229"/>
                        <a:pt x="529" y="229"/>
                      </a:cubicBezTo>
                      <a:cubicBezTo>
                        <a:pt x="529" y="229"/>
                        <a:pt x="529" y="229"/>
                        <a:pt x="529" y="229"/>
                      </a:cubicBezTo>
                      <a:cubicBezTo>
                        <a:pt x="531" y="228"/>
                        <a:pt x="534" y="226"/>
                        <a:pt x="536" y="225"/>
                      </a:cubicBezTo>
                      <a:cubicBezTo>
                        <a:pt x="553" y="214"/>
                        <a:pt x="558" y="192"/>
                        <a:pt x="547" y="175"/>
                      </a:cubicBezTo>
                      <a:cubicBezTo>
                        <a:pt x="540" y="164"/>
                        <a:pt x="529" y="158"/>
                        <a:pt x="517" y="158"/>
                      </a:cubicBezTo>
                      <a:cubicBezTo>
                        <a:pt x="510" y="158"/>
                        <a:pt x="504" y="160"/>
                        <a:pt x="498" y="164"/>
                      </a:cubicBezTo>
                      <a:cubicBezTo>
                        <a:pt x="461" y="187"/>
                        <a:pt x="426" y="212"/>
                        <a:pt x="393" y="239"/>
                      </a:cubicBezTo>
                      <a:cubicBezTo>
                        <a:pt x="378" y="251"/>
                        <a:pt x="375" y="274"/>
                        <a:pt x="388" y="289"/>
                      </a:cubicBezTo>
                      <a:cubicBezTo>
                        <a:pt x="395" y="298"/>
                        <a:pt x="405" y="303"/>
                        <a:pt x="416" y="303"/>
                      </a:cubicBezTo>
                      <a:close/>
                      <a:moveTo>
                        <a:pt x="1682" y="1855"/>
                      </a:moveTo>
                      <a:cubicBezTo>
                        <a:pt x="1674" y="1855"/>
                        <a:pt x="1667" y="1857"/>
                        <a:pt x="1660" y="1862"/>
                      </a:cubicBezTo>
                      <a:cubicBezTo>
                        <a:pt x="1655" y="1865"/>
                        <a:pt x="1651" y="1869"/>
                        <a:pt x="1646" y="1872"/>
                      </a:cubicBezTo>
                      <a:cubicBezTo>
                        <a:pt x="1646" y="1872"/>
                        <a:pt x="1646" y="1872"/>
                        <a:pt x="1646" y="1872"/>
                      </a:cubicBezTo>
                      <a:cubicBezTo>
                        <a:pt x="1646" y="1872"/>
                        <a:pt x="1646" y="1872"/>
                        <a:pt x="1646" y="1872"/>
                      </a:cubicBezTo>
                      <a:cubicBezTo>
                        <a:pt x="1646" y="1873"/>
                        <a:pt x="1646" y="1873"/>
                        <a:pt x="1646" y="1873"/>
                      </a:cubicBezTo>
                      <a:cubicBezTo>
                        <a:pt x="1646" y="1873"/>
                        <a:pt x="1646" y="1873"/>
                        <a:pt x="1645" y="1873"/>
                      </a:cubicBezTo>
                      <a:cubicBezTo>
                        <a:pt x="1645" y="1873"/>
                        <a:pt x="1645" y="1873"/>
                        <a:pt x="1645" y="1873"/>
                      </a:cubicBezTo>
                      <a:cubicBezTo>
                        <a:pt x="1645" y="1873"/>
                        <a:pt x="1645" y="1873"/>
                        <a:pt x="1645" y="1873"/>
                      </a:cubicBezTo>
                      <a:cubicBezTo>
                        <a:pt x="1645" y="1873"/>
                        <a:pt x="1645" y="1873"/>
                        <a:pt x="1645" y="1873"/>
                      </a:cubicBezTo>
                      <a:cubicBezTo>
                        <a:pt x="1645" y="1873"/>
                        <a:pt x="1645" y="1873"/>
                        <a:pt x="1645" y="1873"/>
                      </a:cubicBezTo>
                      <a:cubicBezTo>
                        <a:pt x="1645" y="1873"/>
                        <a:pt x="1645" y="1873"/>
                        <a:pt x="1645" y="1873"/>
                      </a:cubicBezTo>
                      <a:cubicBezTo>
                        <a:pt x="1644" y="1874"/>
                        <a:pt x="1644" y="1874"/>
                        <a:pt x="1644" y="1874"/>
                      </a:cubicBezTo>
                      <a:cubicBezTo>
                        <a:pt x="1644" y="1874"/>
                        <a:pt x="1644" y="1874"/>
                        <a:pt x="1644" y="1874"/>
                      </a:cubicBezTo>
                      <a:cubicBezTo>
                        <a:pt x="1644" y="1874"/>
                        <a:pt x="1643" y="1874"/>
                        <a:pt x="1643" y="1874"/>
                      </a:cubicBezTo>
                      <a:cubicBezTo>
                        <a:pt x="1643" y="1874"/>
                        <a:pt x="1643" y="1874"/>
                        <a:pt x="1643" y="1874"/>
                      </a:cubicBezTo>
                      <a:cubicBezTo>
                        <a:pt x="1643" y="1874"/>
                        <a:pt x="1643" y="1874"/>
                        <a:pt x="1643" y="1875"/>
                      </a:cubicBezTo>
                      <a:cubicBezTo>
                        <a:pt x="1643" y="1875"/>
                        <a:pt x="1643" y="1875"/>
                        <a:pt x="1643" y="1875"/>
                      </a:cubicBezTo>
                      <a:cubicBezTo>
                        <a:pt x="1643" y="1875"/>
                        <a:pt x="1643" y="1875"/>
                        <a:pt x="1643" y="1875"/>
                      </a:cubicBezTo>
                      <a:cubicBezTo>
                        <a:pt x="1642" y="1875"/>
                        <a:pt x="1642" y="1875"/>
                        <a:pt x="1642" y="1875"/>
                      </a:cubicBezTo>
                      <a:cubicBezTo>
                        <a:pt x="1642" y="1875"/>
                        <a:pt x="1642" y="1875"/>
                        <a:pt x="1642" y="1875"/>
                      </a:cubicBezTo>
                      <a:cubicBezTo>
                        <a:pt x="1642" y="1875"/>
                        <a:pt x="1642" y="1875"/>
                        <a:pt x="1642" y="1875"/>
                      </a:cubicBezTo>
                      <a:cubicBezTo>
                        <a:pt x="1642" y="1875"/>
                        <a:pt x="1642" y="1875"/>
                        <a:pt x="1642" y="1875"/>
                      </a:cubicBezTo>
                      <a:cubicBezTo>
                        <a:pt x="1642" y="1875"/>
                        <a:pt x="1642" y="1876"/>
                        <a:pt x="1641" y="1876"/>
                      </a:cubicBezTo>
                      <a:cubicBezTo>
                        <a:pt x="1641" y="1876"/>
                        <a:pt x="1641" y="1876"/>
                        <a:pt x="1641" y="1876"/>
                      </a:cubicBezTo>
                      <a:cubicBezTo>
                        <a:pt x="1641" y="1876"/>
                        <a:pt x="1641" y="1876"/>
                        <a:pt x="1641" y="1876"/>
                      </a:cubicBezTo>
                      <a:cubicBezTo>
                        <a:pt x="1641" y="1876"/>
                        <a:pt x="1641" y="1876"/>
                        <a:pt x="1641" y="1876"/>
                      </a:cubicBezTo>
                      <a:cubicBezTo>
                        <a:pt x="1641" y="1876"/>
                        <a:pt x="1641" y="1876"/>
                        <a:pt x="1641" y="1876"/>
                      </a:cubicBezTo>
                      <a:cubicBezTo>
                        <a:pt x="1641" y="1876"/>
                        <a:pt x="1641" y="1876"/>
                        <a:pt x="1641" y="1876"/>
                      </a:cubicBezTo>
                      <a:cubicBezTo>
                        <a:pt x="1640" y="1876"/>
                        <a:pt x="1640" y="1876"/>
                        <a:pt x="1640" y="1876"/>
                      </a:cubicBezTo>
                      <a:cubicBezTo>
                        <a:pt x="1640" y="1876"/>
                        <a:pt x="1640" y="1876"/>
                        <a:pt x="1640" y="1876"/>
                      </a:cubicBezTo>
                      <a:cubicBezTo>
                        <a:pt x="1614" y="1895"/>
                        <a:pt x="1587" y="1912"/>
                        <a:pt x="1560" y="1928"/>
                      </a:cubicBezTo>
                      <a:cubicBezTo>
                        <a:pt x="1542" y="1938"/>
                        <a:pt x="1537" y="1960"/>
                        <a:pt x="1546" y="1977"/>
                      </a:cubicBezTo>
                      <a:cubicBezTo>
                        <a:pt x="1553" y="1989"/>
                        <a:pt x="1565" y="1995"/>
                        <a:pt x="1578" y="1995"/>
                      </a:cubicBezTo>
                      <a:cubicBezTo>
                        <a:pt x="1584" y="1995"/>
                        <a:pt x="1590" y="1994"/>
                        <a:pt x="1595" y="1990"/>
                      </a:cubicBezTo>
                      <a:cubicBezTo>
                        <a:pt x="1633" y="1969"/>
                        <a:pt x="1669" y="1945"/>
                        <a:pt x="1703" y="1920"/>
                      </a:cubicBezTo>
                      <a:cubicBezTo>
                        <a:pt x="1719" y="1908"/>
                        <a:pt x="1722" y="1885"/>
                        <a:pt x="1710" y="1869"/>
                      </a:cubicBezTo>
                      <a:cubicBezTo>
                        <a:pt x="1703" y="1860"/>
                        <a:pt x="1693" y="1855"/>
                        <a:pt x="1682" y="1855"/>
                      </a:cubicBezTo>
                      <a:close/>
                      <a:moveTo>
                        <a:pt x="864" y="2039"/>
                      </a:moveTo>
                      <a:cubicBezTo>
                        <a:pt x="844" y="2035"/>
                        <a:pt x="823" y="2030"/>
                        <a:pt x="803" y="2024"/>
                      </a:cubicBezTo>
                      <a:cubicBezTo>
                        <a:pt x="803" y="2024"/>
                        <a:pt x="803" y="2024"/>
                        <a:pt x="803" y="2024"/>
                      </a:cubicBezTo>
                      <a:cubicBezTo>
                        <a:pt x="803" y="2024"/>
                        <a:pt x="803" y="2024"/>
                        <a:pt x="803" y="2024"/>
                      </a:cubicBezTo>
                      <a:cubicBezTo>
                        <a:pt x="803" y="2024"/>
                        <a:pt x="803" y="2024"/>
                        <a:pt x="803" y="2024"/>
                      </a:cubicBezTo>
                      <a:cubicBezTo>
                        <a:pt x="802" y="2024"/>
                        <a:pt x="802" y="2024"/>
                        <a:pt x="802" y="2024"/>
                      </a:cubicBezTo>
                      <a:cubicBezTo>
                        <a:pt x="802" y="2024"/>
                        <a:pt x="802" y="2024"/>
                        <a:pt x="802" y="2024"/>
                      </a:cubicBezTo>
                      <a:cubicBezTo>
                        <a:pt x="802" y="2024"/>
                        <a:pt x="802" y="2024"/>
                        <a:pt x="802" y="2024"/>
                      </a:cubicBezTo>
                      <a:cubicBezTo>
                        <a:pt x="802" y="2024"/>
                        <a:pt x="802" y="2024"/>
                        <a:pt x="802" y="2024"/>
                      </a:cubicBezTo>
                      <a:cubicBezTo>
                        <a:pt x="801" y="2024"/>
                        <a:pt x="801" y="2024"/>
                        <a:pt x="801" y="2024"/>
                      </a:cubicBezTo>
                      <a:cubicBezTo>
                        <a:pt x="801" y="2024"/>
                        <a:pt x="801" y="2024"/>
                        <a:pt x="801" y="2024"/>
                      </a:cubicBezTo>
                      <a:cubicBezTo>
                        <a:pt x="801" y="2024"/>
                        <a:pt x="801" y="2024"/>
                        <a:pt x="801" y="2024"/>
                      </a:cubicBezTo>
                      <a:cubicBezTo>
                        <a:pt x="801" y="2024"/>
                        <a:pt x="801" y="2024"/>
                        <a:pt x="801" y="2024"/>
                      </a:cubicBezTo>
                      <a:cubicBezTo>
                        <a:pt x="801" y="2024"/>
                        <a:pt x="800" y="2024"/>
                        <a:pt x="800" y="2024"/>
                      </a:cubicBezTo>
                      <a:cubicBezTo>
                        <a:pt x="800" y="2024"/>
                        <a:pt x="800" y="2024"/>
                        <a:pt x="800" y="2024"/>
                      </a:cubicBezTo>
                      <a:cubicBezTo>
                        <a:pt x="800" y="2024"/>
                        <a:pt x="800" y="2024"/>
                        <a:pt x="800" y="2023"/>
                      </a:cubicBezTo>
                      <a:cubicBezTo>
                        <a:pt x="800" y="2023"/>
                        <a:pt x="800" y="2023"/>
                        <a:pt x="800" y="2023"/>
                      </a:cubicBezTo>
                      <a:cubicBezTo>
                        <a:pt x="799" y="2023"/>
                        <a:pt x="798" y="2023"/>
                        <a:pt x="798" y="2023"/>
                      </a:cubicBezTo>
                      <a:cubicBezTo>
                        <a:pt x="798" y="2023"/>
                        <a:pt x="798" y="2023"/>
                        <a:pt x="798" y="2023"/>
                      </a:cubicBezTo>
                      <a:cubicBezTo>
                        <a:pt x="798" y="2023"/>
                        <a:pt x="797" y="2023"/>
                        <a:pt x="797" y="2023"/>
                      </a:cubicBezTo>
                      <a:cubicBezTo>
                        <a:pt x="797" y="2023"/>
                        <a:pt x="797" y="2023"/>
                        <a:pt x="797" y="2023"/>
                      </a:cubicBezTo>
                      <a:cubicBezTo>
                        <a:pt x="797" y="2023"/>
                        <a:pt x="797" y="2023"/>
                        <a:pt x="797" y="2023"/>
                      </a:cubicBezTo>
                      <a:cubicBezTo>
                        <a:pt x="797" y="2023"/>
                        <a:pt x="797" y="2023"/>
                        <a:pt x="797" y="2023"/>
                      </a:cubicBezTo>
                      <a:cubicBezTo>
                        <a:pt x="797" y="2023"/>
                        <a:pt x="796" y="2023"/>
                        <a:pt x="796" y="2023"/>
                      </a:cubicBezTo>
                      <a:cubicBezTo>
                        <a:pt x="796" y="2023"/>
                        <a:pt x="796" y="2022"/>
                        <a:pt x="796" y="2022"/>
                      </a:cubicBezTo>
                      <a:cubicBezTo>
                        <a:pt x="796" y="2022"/>
                        <a:pt x="796" y="2022"/>
                        <a:pt x="796" y="2022"/>
                      </a:cubicBezTo>
                      <a:cubicBezTo>
                        <a:pt x="796" y="2022"/>
                        <a:pt x="796" y="2022"/>
                        <a:pt x="796" y="2022"/>
                      </a:cubicBezTo>
                      <a:cubicBezTo>
                        <a:pt x="796" y="2022"/>
                        <a:pt x="796" y="2022"/>
                        <a:pt x="795" y="2022"/>
                      </a:cubicBezTo>
                      <a:cubicBezTo>
                        <a:pt x="795" y="2022"/>
                        <a:pt x="795" y="2022"/>
                        <a:pt x="795" y="2022"/>
                      </a:cubicBezTo>
                      <a:cubicBezTo>
                        <a:pt x="795" y="2022"/>
                        <a:pt x="795" y="2022"/>
                        <a:pt x="795" y="2022"/>
                      </a:cubicBezTo>
                      <a:cubicBezTo>
                        <a:pt x="795" y="2022"/>
                        <a:pt x="795" y="2022"/>
                        <a:pt x="795" y="2022"/>
                      </a:cubicBezTo>
                      <a:cubicBezTo>
                        <a:pt x="795" y="2022"/>
                        <a:pt x="795" y="2022"/>
                        <a:pt x="795" y="2022"/>
                      </a:cubicBezTo>
                      <a:cubicBezTo>
                        <a:pt x="794" y="2022"/>
                        <a:pt x="794" y="2022"/>
                        <a:pt x="794" y="2022"/>
                      </a:cubicBezTo>
                      <a:cubicBezTo>
                        <a:pt x="794" y="2022"/>
                        <a:pt x="794" y="2022"/>
                        <a:pt x="794" y="2022"/>
                      </a:cubicBezTo>
                      <a:cubicBezTo>
                        <a:pt x="794" y="2022"/>
                        <a:pt x="794" y="2022"/>
                        <a:pt x="794" y="2022"/>
                      </a:cubicBezTo>
                      <a:cubicBezTo>
                        <a:pt x="794" y="2022"/>
                        <a:pt x="794" y="2022"/>
                        <a:pt x="794" y="2022"/>
                      </a:cubicBezTo>
                      <a:cubicBezTo>
                        <a:pt x="794" y="2022"/>
                        <a:pt x="793" y="2022"/>
                        <a:pt x="793" y="2022"/>
                      </a:cubicBezTo>
                      <a:cubicBezTo>
                        <a:pt x="793" y="2022"/>
                        <a:pt x="793" y="2022"/>
                        <a:pt x="793" y="2022"/>
                      </a:cubicBezTo>
                      <a:cubicBezTo>
                        <a:pt x="793" y="2021"/>
                        <a:pt x="792" y="2021"/>
                        <a:pt x="792" y="2021"/>
                      </a:cubicBezTo>
                      <a:cubicBezTo>
                        <a:pt x="792" y="2021"/>
                        <a:pt x="792" y="2021"/>
                        <a:pt x="791" y="2021"/>
                      </a:cubicBezTo>
                      <a:cubicBezTo>
                        <a:pt x="791" y="2021"/>
                        <a:pt x="791" y="2021"/>
                        <a:pt x="791" y="2021"/>
                      </a:cubicBezTo>
                      <a:cubicBezTo>
                        <a:pt x="791" y="2021"/>
                        <a:pt x="791" y="2021"/>
                        <a:pt x="791" y="2021"/>
                      </a:cubicBezTo>
                      <a:cubicBezTo>
                        <a:pt x="791" y="2021"/>
                        <a:pt x="791" y="2021"/>
                        <a:pt x="791" y="2021"/>
                      </a:cubicBezTo>
                      <a:cubicBezTo>
                        <a:pt x="791" y="2021"/>
                        <a:pt x="791" y="2021"/>
                        <a:pt x="791" y="2021"/>
                      </a:cubicBezTo>
                      <a:cubicBezTo>
                        <a:pt x="790" y="2021"/>
                        <a:pt x="790" y="2021"/>
                        <a:pt x="790" y="2021"/>
                      </a:cubicBezTo>
                      <a:cubicBezTo>
                        <a:pt x="790" y="2021"/>
                        <a:pt x="790" y="2021"/>
                        <a:pt x="790" y="2021"/>
                      </a:cubicBezTo>
                      <a:cubicBezTo>
                        <a:pt x="790" y="2021"/>
                        <a:pt x="790" y="2021"/>
                        <a:pt x="790" y="2021"/>
                      </a:cubicBezTo>
                      <a:cubicBezTo>
                        <a:pt x="790" y="2021"/>
                        <a:pt x="790" y="2021"/>
                        <a:pt x="790" y="2021"/>
                      </a:cubicBezTo>
                      <a:cubicBezTo>
                        <a:pt x="790" y="2021"/>
                        <a:pt x="789" y="2021"/>
                        <a:pt x="789" y="2021"/>
                      </a:cubicBezTo>
                      <a:cubicBezTo>
                        <a:pt x="789" y="2020"/>
                        <a:pt x="789" y="2020"/>
                        <a:pt x="789" y="2020"/>
                      </a:cubicBezTo>
                      <a:cubicBezTo>
                        <a:pt x="789" y="2020"/>
                        <a:pt x="789" y="2020"/>
                        <a:pt x="789" y="2020"/>
                      </a:cubicBezTo>
                      <a:cubicBezTo>
                        <a:pt x="789" y="2020"/>
                        <a:pt x="789" y="2020"/>
                        <a:pt x="789" y="2020"/>
                      </a:cubicBezTo>
                      <a:cubicBezTo>
                        <a:pt x="789" y="2020"/>
                        <a:pt x="788" y="2020"/>
                        <a:pt x="788" y="2020"/>
                      </a:cubicBezTo>
                      <a:cubicBezTo>
                        <a:pt x="788" y="2020"/>
                        <a:pt x="788" y="2020"/>
                        <a:pt x="788" y="2020"/>
                      </a:cubicBezTo>
                      <a:cubicBezTo>
                        <a:pt x="775" y="2016"/>
                        <a:pt x="762" y="2012"/>
                        <a:pt x="748" y="2008"/>
                      </a:cubicBezTo>
                      <a:cubicBezTo>
                        <a:pt x="744" y="2006"/>
                        <a:pt x="741" y="2006"/>
                        <a:pt x="737" y="2006"/>
                      </a:cubicBezTo>
                      <a:cubicBezTo>
                        <a:pt x="722" y="2006"/>
                        <a:pt x="708" y="2015"/>
                        <a:pt x="703" y="2030"/>
                      </a:cubicBezTo>
                      <a:cubicBezTo>
                        <a:pt x="696" y="2049"/>
                        <a:pt x="706" y="2070"/>
                        <a:pt x="725" y="2076"/>
                      </a:cubicBezTo>
                      <a:cubicBezTo>
                        <a:pt x="766" y="2090"/>
                        <a:pt x="808" y="2101"/>
                        <a:pt x="850" y="2110"/>
                      </a:cubicBezTo>
                      <a:cubicBezTo>
                        <a:pt x="852" y="2110"/>
                        <a:pt x="854" y="2110"/>
                        <a:pt x="857" y="2110"/>
                      </a:cubicBezTo>
                      <a:cubicBezTo>
                        <a:pt x="874" y="2110"/>
                        <a:pt x="889" y="2099"/>
                        <a:pt x="892" y="2082"/>
                      </a:cubicBezTo>
                      <a:cubicBezTo>
                        <a:pt x="896" y="2062"/>
                        <a:pt x="884" y="2043"/>
                        <a:pt x="864" y="2039"/>
                      </a:cubicBezTo>
                      <a:close/>
                      <a:moveTo>
                        <a:pt x="1146" y="2056"/>
                      </a:moveTo>
                      <a:cubicBezTo>
                        <a:pt x="1145" y="2056"/>
                        <a:pt x="1144" y="2056"/>
                        <a:pt x="1143" y="2056"/>
                      </a:cubicBezTo>
                      <a:cubicBezTo>
                        <a:pt x="1143" y="2056"/>
                        <a:pt x="1142" y="2056"/>
                        <a:pt x="1142" y="2056"/>
                      </a:cubicBezTo>
                      <a:cubicBezTo>
                        <a:pt x="1142" y="2056"/>
                        <a:pt x="1142" y="2056"/>
                        <a:pt x="1142" y="2056"/>
                      </a:cubicBezTo>
                      <a:cubicBezTo>
                        <a:pt x="1142" y="2056"/>
                        <a:pt x="1141" y="2057"/>
                        <a:pt x="1140" y="2057"/>
                      </a:cubicBezTo>
                      <a:cubicBezTo>
                        <a:pt x="1140" y="2057"/>
                        <a:pt x="1140" y="2057"/>
                        <a:pt x="1140" y="2057"/>
                      </a:cubicBezTo>
                      <a:cubicBezTo>
                        <a:pt x="1140" y="2057"/>
                        <a:pt x="1140" y="2057"/>
                        <a:pt x="1139" y="2057"/>
                      </a:cubicBezTo>
                      <a:cubicBezTo>
                        <a:pt x="1139" y="2057"/>
                        <a:pt x="1139" y="2057"/>
                        <a:pt x="1139" y="2057"/>
                      </a:cubicBezTo>
                      <a:cubicBezTo>
                        <a:pt x="1139" y="2057"/>
                        <a:pt x="1138" y="2057"/>
                        <a:pt x="1137" y="2057"/>
                      </a:cubicBezTo>
                      <a:cubicBezTo>
                        <a:pt x="1137" y="2057"/>
                        <a:pt x="1137" y="2057"/>
                        <a:pt x="1137" y="2057"/>
                      </a:cubicBezTo>
                      <a:cubicBezTo>
                        <a:pt x="1137" y="2057"/>
                        <a:pt x="1137" y="2057"/>
                        <a:pt x="1137" y="2057"/>
                      </a:cubicBezTo>
                      <a:cubicBezTo>
                        <a:pt x="1137" y="2057"/>
                        <a:pt x="1137" y="2057"/>
                        <a:pt x="1137" y="2057"/>
                      </a:cubicBezTo>
                      <a:cubicBezTo>
                        <a:pt x="1136" y="2057"/>
                        <a:pt x="1135" y="2057"/>
                        <a:pt x="1134" y="2057"/>
                      </a:cubicBezTo>
                      <a:cubicBezTo>
                        <a:pt x="1134" y="2057"/>
                        <a:pt x="1134" y="2057"/>
                        <a:pt x="1134" y="2057"/>
                      </a:cubicBezTo>
                      <a:cubicBezTo>
                        <a:pt x="1134" y="2057"/>
                        <a:pt x="1134" y="2057"/>
                        <a:pt x="1134" y="2057"/>
                      </a:cubicBezTo>
                      <a:cubicBezTo>
                        <a:pt x="1134" y="2057"/>
                        <a:pt x="1134" y="2057"/>
                        <a:pt x="1134" y="2057"/>
                      </a:cubicBezTo>
                      <a:cubicBezTo>
                        <a:pt x="1133" y="2057"/>
                        <a:pt x="1133" y="2057"/>
                        <a:pt x="1132" y="2057"/>
                      </a:cubicBezTo>
                      <a:cubicBezTo>
                        <a:pt x="1132" y="2057"/>
                        <a:pt x="1132" y="2057"/>
                        <a:pt x="1132" y="2057"/>
                      </a:cubicBezTo>
                      <a:cubicBezTo>
                        <a:pt x="1132" y="2057"/>
                        <a:pt x="1132" y="2057"/>
                        <a:pt x="1131" y="2057"/>
                      </a:cubicBezTo>
                      <a:cubicBezTo>
                        <a:pt x="1131" y="2057"/>
                        <a:pt x="1131" y="2057"/>
                        <a:pt x="1131" y="2057"/>
                      </a:cubicBezTo>
                      <a:cubicBezTo>
                        <a:pt x="1130" y="2057"/>
                        <a:pt x="1130" y="2057"/>
                        <a:pt x="1129" y="2057"/>
                      </a:cubicBezTo>
                      <a:cubicBezTo>
                        <a:pt x="1129" y="2057"/>
                        <a:pt x="1129" y="2057"/>
                        <a:pt x="1129" y="2057"/>
                      </a:cubicBezTo>
                      <a:cubicBezTo>
                        <a:pt x="1129" y="2057"/>
                        <a:pt x="1129" y="2057"/>
                        <a:pt x="1128" y="2057"/>
                      </a:cubicBezTo>
                      <a:cubicBezTo>
                        <a:pt x="1128" y="2057"/>
                        <a:pt x="1128" y="2057"/>
                        <a:pt x="1128" y="2057"/>
                      </a:cubicBezTo>
                      <a:cubicBezTo>
                        <a:pt x="1128" y="2057"/>
                        <a:pt x="1127" y="2057"/>
                        <a:pt x="1126" y="2058"/>
                      </a:cubicBezTo>
                      <a:cubicBezTo>
                        <a:pt x="1126" y="2058"/>
                        <a:pt x="1126" y="2058"/>
                        <a:pt x="1126" y="2058"/>
                      </a:cubicBezTo>
                      <a:cubicBezTo>
                        <a:pt x="1126" y="2058"/>
                        <a:pt x="1126" y="2058"/>
                        <a:pt x="1126" y="2058"/>
                      </a:cubicBezTo>
                      <a:cubicBezTo>
                        <a:pt x="1126" y="2058"/>
                        <a:pt x="1126" y="2058"/>
                        <a:pt x="1126" y="2058"/>
                      </a:cubicBezTo>
                      <a:cubicBezTo>
                        <a:pt x="1125" y="2058"/>
                        <a:pt x="1124" y="2058"/>
                        <a:pt x="1123" y="2058"/>
                      </a:cubicBezTo>
                      <a:cubicBezTo>
                        <a:pt x="1123" y="2058"/>
                        <a:pt x="1123" y="2058"/>
                        <a:pt x="1123" y="2058"/>
                      </a:cubicBezTo>
                      <a:cubicBezTo>
                        <a:pt x="1123" y="2058"/>
                        <a:pt x="1123" y="2058"/>
                        <a:pt x="1123" y="2058"/>
                      </a:cubicBezTo>
                      <a:cubicBezTo>
                        <a:pt x="1123" y="2058"/>
                        <a:pt x="1123" y="2058"/>
                        <a:pt x="1123" y="2058"/>
                      </a:cubicBezTo>
                      <a:cubicBezTo>
                        <a:pt x="1122" y="2058"/>
                        <a:pt x="1122" y="2058"/>
                        <a:pt x="1121" y="2058"/>
                      </a:cubicBezTo>
                      <a:cubicBezTo>
                        <a:pt x="1121" y="2058"/>
                        <a:pt x="1121" y="2058"/>
                        <a:pt x="1121" y="2058"/>
                      </a:cubicBezTo>
                      <a:cubicBezTo>
                        <a:pt x="1121" y="2058"/>
                        <a:pt x="1121" y="2058"/>
                        <a:pt x="1120" y="2058"/>
                      </a:cubicBezTo>
                      <a:cubicBezTo>
                        <a:pt x="1120" y="2058"/>
                        <a:pt x="1120" y="2058"/>
                        <a:pt x="1120" y="2058"/>
                      </a:cubicBezTo>
                      <a:cubicBezTo>
                        <a:pt x="1120" y="2058"/>
                        <a:pt x="1120" y="2058"/>
                        <a:pt x="1120" y="2058"/>
                      </a:cubicBezTo>
                      <a:cubicBezTo>
                        <a:pt x="1120" y="2058"/>
                        <a:pt x="1120" y="2058"/>
                        <a:pt x="1120" y="2058"/>
                      </a:cubicBezTo>
                      <a:cubicBezTo>
                        <a:pt x="1119" y="2058"/>
                        <a:pt x="1119" y="2058"/>
                        <a:pt x="1118" y="2058"/>
                      </a:cubicBezTo>
                      <a:cubicBezTo>
                        <a:pt x="1118" y="2058"/>
                        <a:pt x="1118" y="2058"/>
                        <a:pt x="1118" y="2058"/>
                      </a:cubicBezTo>
                      <a:cubicBezTo>
                        <a:pt x="1118" y="2058"/>
                        <a:pt x="1118" y="2058"/>
                        <a:pt x="1118" y="2058"/>
                      </a:cubicBezTo>
                      <a:cubicBezTo>
                        <a:pt x="1118" y="2058"/>
                        <a:pt x="1118" y="2058"/>
                        <a:pt x="1118" y="2058"/>
                      </a:cubicBezTo>
                      <a:cubicBezTo>
                        <a:pt x="1118" y="2058"/>
                        <a:pt x="1118" y="2058"/>
                        <a:pt x="1117" y="2058"/>
                      </a:cubicBezTo>
                      <a:cubicBezTo>
                        <a:pt x="1117" y="2058"/>
                        <a:pt x="1117" y="2058"/>
                        <a:pt x="1117" y="2058"/>
                      </a:cubicBezTo>
                      <a:cubicBezTo>
                        <a:pt x="1117" y="2058"/>
                        <a:pt x="1116" y="2058"/>
                        <a:pt x="1115" y="2058"/>
                      </a:cubicBezTo>
                      <a:cubicBezTo>
                        <a:pt x="1115" y="2058"/>
                        <a:pt x="1115" y="2058"/>
                        <a:pt x="1115" y="2058"/>
                      </a:cubicBezTo>
                      <a:cubicBezTo>
                        <a:pt x="1115" y="2058"/>
                        <a:pt x="1115" y="2058"/>
                        <a:pt x="1115" y="2058"/>
                      </a:cubicBezTo>
                      <a:cubicBezTo>
                        <a:pt x="1115" y="2058"/>
                        <a:pt x="1115" y="2058"/>
                        <a:pt x="1115" y="2058"/>
                      </a:cubicBezTo>
                      <a:cubicBezTo>
                        <a:pt x="1115" y="2058"/>
                        <a:pt x="1114" y="2058"/>
                        <a:pt x="1114" y="2058"/>
                      </a:cubicBezTo>
                      <a:cubicBezTo>
                        <a:pt x="1114" y="2058"/>
                        <a:pt x="1114" y="2058"/>
                        <a:pt x="1114" y="2058"/>
                      </a:cubicBezTo>
                      <a:cubicBezTo>
                        <a:pt x="1114" y="2058"/>
                        <a:pt x="1113" y="2058"/>
                        <a:pt x="1113" y="2058"/>
                      </a:cubicBezTo>
                      <a:cubicBezTo>
                        <a:pt x="1113" y="2058"/>
                        <a:pt x="1113" y="2058"/>
                        <a:pt x="1113" y="2058"/>
                      </a:cubicBezTo>
                      <a:cubicBezTo>
                        <a:pt x="1113" y="2058"/>
                        <a:pt x="1113" y="2058"/>
                        <a:pt x="1112" y="2058"/>
                      </a:cubicBezTo>
                      <a:cubicBezTo>
                        <a:pt x="1112" y="2058"/>
                        <a:pt x="1112" y="2058"/>
                        <a:pt x="1112" y="2058"/>
                      </a:cubicBezTo>
                      <a:cubicBezTo>
                        <a:pt x="1112" y="2058"/>
                        <a:pt x="1112" y="2058"/>
                        <a:pt x="1112" y="2058"/>
                      </a:cubicBezTo>
                      <a:cubicBezTo>
                        <a:pt x="1112" y="2058"/>
                        <a:pt x="1112" y="2058"/>
                        <a:pt x="1112" y="2058"/>
                      </a:cubicBezTo>
                      <a:cubicBezTo>
                        <a:pt x="1111" y="2058"/>
                        <a:pt x="1111" y="2058"/>
                        <a:pt x="1110" y="2058"/>
                      </a:cubicBezTo>
                      <a:cubicBezTo>
                        <a:pt x="1110" y="2058"/>
                        <a:pt x="1110" y="2058"/>
                        <a:pt x="1110" y="2058"/>
                      </a:cubicBezTo>
                      <a:cubicBezTo>
                        <a:pt x="1110" y="2058"/>
                        <a:pt x="1110" y="2058"/>
                        <a:pt x="1110" y="2058"/>
                      </a:cubicBezTo>
                      <a:cubicBezTo>
                        <a:pt x="1110" y="2058"/>
                        <a:pt x="1110" y="2058"/>
                        <a:pt x="1110" y="2058"/>
                      </a:cubicBezTo>
                      <a:cubicBezTo>
                        <a:pt x="1110" y="2058"/>
                        <a:pt x="1110" y="2058"/>
                        <a:pt x="1109" y="2058"/>
                      </a:cubicBezTo>
                      <a:cubicBezTo>
                        <a:pt x="1109" y="2058"/>
                        <a:pt x="1109" y="2058"/>
                        <a:pt x="1109" y="2058"/>
                      </a:cubicBezTo>
                      <a:cubicBezTo>
                        <a:pt x="1109" y="2058"/>
                        <a:pt x="1109" y="2058"/>
                        <a:pt x="1109" y="2058"/>
                      </a:cubicBezTo>
                      <a:cubicBezTo>
                        <a:pt x="1109" y="2058"/>
                        <a:pt x="1109" y="2058"/>
                        <a:pt x="1109" y="2058"/>
                      </a:cubicBezTo>
                      <a:cubicBezTo>
                        <a:pt x="1108" y="2058"/>
                        <a:pt x="1108" y="2058"/>
                        <a:pt x="1107" y="2059"/>
                      </a:cubicBezTo>
                      <a:cubicBezTo>
                        <a:pt x="1107" y="2059"/>
                        <a:pt x="1107" y="2059"/>
                        <a:pt x="1107" y="2059"/>
                      </a:cubicBezTo>
                      <a:cubicBezTo>
                        <a:pt x="1107" y="2059"/>
                        <a:pt x="1107" y="2059"/>
                        <a:pt x="1107" y="2059"/>
                      </a:cubicBezTo>
                      <a:cubicBezTo>
                        <a:pt x="1107" y="2059"/>
                        <a:pt x="1107" y="2059"/>
                        <a:pt x="1107" y="2059"/>
                      </a:cubicBezTo>
                      <a:cubicBezTo>
                        <a:pt x="1107" y="2059"/>
                        <a:pt x="1106" y="2059"/>
                        <a:pt x="1106" y="2059"/>
                      </a:cubicBezTo>
                      <a:cubicBezTo>
                        <a:pt x="1106" y="2059"/>
                        <a:pt x="1106" y="2059"/>
                        <a:pt x="1106" y="2059"/>
                      </a:cubicBezTo>
                      <a:cubicBezTo>
                        <a:pt x="1106" y="2059"/>
                        <a:pt x="1105" y="2059"/>
                        <a:pt x="1105" y="2059"/>
                      </a:cubicBezTo>
                      <a:cubicBezTo>
                        <a:pt x="1105" y="2059"/>
                        <a:pt x="1105" y="2059"/>
                        <a:pt x="1105" y="2059"/>
                      </a:cubicBezTo>
                      <a:cubicBezTo>
                        <a:pt x="1105" y="2059"/>
                        <a:pt x="1105" y="2059"/>
                        <a:pt x="1104" y="2059"/>
                      </a:cubicBezTo>
                      <a:cubicBezTo>
                        <a:pt x="1104" y="2059"/>
                        <a:pt x="1104" y="2059"/>
                        <a:pt x="1104" y="2059"/>
                      </a:cubicBezTo>
                      <a:cubicBezTo>
                        <a:pt x="1104" y="2059"/>
                        <a:pt x="1104" y="2059"/>
                        <a:pt x="1104" y="2059"/>
                      </a:cubicBezTo>
                      <a:cubicBezTo>
                        <a:pt x="1104" y="2059"/>
                        <a:pt x="1104" y="2059"/>
                        <a:pt x="1104" y="2059"/>
                      </a:cubicBezTo>
                      <a:cubicBezTo>
                        <a:pt x="1104" y="2059"/>
                        <a:pt x="1103" y="2059"/>
                        <a:pt x="1103" y="2059"/>
                      </a:cubicBezTo>
                      <a:cubicBezTo>
                        <a:pt x="1103" y="2059"/>
                        <a:pt x="1103" y="2059"/>
                        <a:pt x="1103" y="2059"/>
                      </a:cubicBezTo>
                      <a:cubicBezTo>
                        <a:pt x="1103" y="2059"/>
                        <a:pt x="1102" y="2059"/>
                        <a:pt x="1102" y="2059"/>
                      </a:cubicBezTo>
                      <a:cubicBezTo>
                        <a:pt x="1102" y="2059"/>
                        <a:pt x="1102" y="2059"/>
                        <a:pt x="1102" y="2059"/>
                      </a:cubicBezTo>
                      <a:cubicBezTo>
                        <a:pt x="1102" y="2059"/>
                        <a:pt x="1102" y="2059"/>
                        <a:pt x="1101" y="2059"/>
                      </a:cubicBezTo>
                      <a:cubicBezTo>
                        <a:pt x="1101" y="2059"/>
                        <a:pt x="1101" y="2059"/>
                        <a:pt x="1101" y="2059"/>
                      </a:cubicBezTo>
                      <a:cubicBezTo>
                        <a:pt x="1101" y="2059"/>
                        <a:pt x="1101" y="2059"/>
                        <a:pt x="1101" y="2059"/>
                      </a:cubicBezTo>
                      <a:cubicBezTo>
                        <a:pt x="1101" y="2059"/>
                        <a:pt x="1101" y="2059"/>
                        <a:pt x="1101" y="2059"/>
                      </a:cubicBezTo>
                      <a:cubicBezTo>
                        <a:pt x="1101" y="2059"/>
                        <a:pt x="1100" y="2059"/>
                        <a:pt x="1100" y="2059"/>
                      </a:cubicBezTo>
                      <a:cubicBezTo>
                        <a:pt x="1100" y="2059"/>
                        <a:pt x="1100" y="2059"/>
                        <a:pt x="1100" y="2059"/>
                      </a:cubicBezTo>
                      <a:cubicBezTo>
                        <a:pt x="1100" y="2059"/>
                        <a:pt x="1100" y="2059"/>
                        <a:pt x="1099" y="2059"/>
                      </a:cubicBezTo>
                      <a:cubicBezTo>
                        <a:pt x="1099" y="2059"/>
                        <a:pt x="1099" y="2059"/>
                        <a:pt x="1099" y="2059"/>
                      </a:cubicBezTo>
                      <a:cubicBezTo>
                        <a:pt x="1099" y="2059"/>
                        <a:pt x="1099" y="2059"/>
                        <a:pt x="1099" y="2059"/>
                      </a:cubicBezTo>
                      <a:cubicBezTo>
                        <a:pt x="1099" y="2059"/>
                        <a:pt x="1099" y="2059"/>
                        <a:pt x="1099" y="2059"/>
                      </a:cubicBezTo>
                      <a:cubicBezTo>
                        <a:pt x="1099" y="2059"/>
                        <a:pt x="1098" y="2059"/>
                        <a:pt x="1098" y="2059"/>
                      </a:cubicBezTo>
                      <a:cubicBezTo>
                        <a:pt x="1098" y="2059"/>
                        <a:pt x="1098" y="2059"/>
                        <a:pt x="1098" y="2059"/>
                      </a:cubicBezTo>
                      <a:cubicBezTo>
                        <a:pt x="1098" y="2059"/>
                        <a:pt x="1098" y="2059"/>
                        <a:pt x="1098" y="2059"/>
                      </a:cubicBezTo>
                      <a:cubicBezTo>
                        <a:pt x="1098" y="2059"/>
                        <a:pt x="1098" y="2059"/>
                        <a:pt x="1098" y="2059"/>
                      </a:cubicBezTo>
                      <a:cubicBezTo>
                        <a:pt x="1097" y="2059"/>
                        <a:pt x="1097" y="2059"/>
                        <a:pt x="1097" y="2059"/>
                      </a:cubicBezTo>
                      <a:cubicBezTo>
                        <a:pt x="1097" y="2059"/>
                        <a:pt x="1097" y="2059"/>
                        <a:pt x="1097" y="2059"/>
                      </a:cubicBezTo>
                      <a:cubicBezTo>
                        <a:pt x="1097" y="2059"/>
                        <a:pt x="1097" y="2059"/>
                        <a:pt x="1096" y="2059"/>
                      </a:cubicBezTo>
                      <a:cubicBezTo>
                        <a:pt x="1096" y="2059"/>
                        <a:pt x="1096" y="2059"/>
                        <a:pt x="1096" y="2059"/>
                      </a:cubicBezTo>
                      <a:cubicBezTo>
                        <a:pt x="1096" y="2059"/>
                        <a:pt x="1096" y="2059"/>
                        <a:pt x="1096" y="2059"/>
                      </a:cubicBezTo>
                      <a:cubicBezTo>
                        <a:pt x="1096" y="2059"/>
                        <a:pt x="1096" y="2059"/>
                        <a:pt x="1096" y="2059"/>
                      </a:cubicBezTo>
                      <a:cubicBezTo>
                        <a:pt x="1096" y="2059"/>
                        <a:pt x="1095" y="2059"/>
                        <a:pt x="1095" y="2059"/>
                      </a:cubicBezTo>
                      <a:cubicBezTo>
                        <a:pt x="1095" y="2059"/>
                        <a:pt x="1095" y="2059"/>
                        <a:pt x="1095" y="2059"/>
                      </a:cubicBezTo>
                      <a:cubicBezTo>
                        <a:pt x="1095" y="2059"/>
                        <a:pt x="1095" y="2059"/>
                        <a:pt x="1095" y="2059"/>
                      </a:cubicBezTo>
                      <a:cubicBezTo>
                        <a:pt x="1095" y="2059"/>
                        <a:pt x="1095" y="2059"/>
                        <a:pt x="1094" y="2059"/>
                      </a:cubicBezTo>
                      <a:cubicBezTo>
                        <a:pt x="1094" y="2059"/>
                        <a:pt x="1094" y="2059"/>
                        <a:pt x="1094" y="2059"/>
                      </a:cubicBezTo>
                      <a:cubicBezTo>
                        <a:pt x="1094" y="2059"/>
                        <a:pt x="1094" y="2059"/>
                        <a:pt x="1094" y="2059"/>
                      </a:cubicBezTo>
                      <a:cubicBezTo>
                        <a:pt x="1094" y="2059"/>
                        <a:pt x="1094" y="2059"/>
                        <a:pt x="1093" y="2059"/>
                      </a:cubicBezTo>
                      <a:cubicBezTo>
                        <a:pt x="1093" y="2059"/>
                        <a:pt x="1093" y="2059"/>
                        <a:pt x="1093" y="2059"/>
                      </a:cubicBezTo>
                      <a:cubicBezTo>
                        <a:pt x="1093" y="2059"/>
                        <a:pt x="1093" y="2059"/>
                        <a:pt x="1093" y="2059"/>
                      </a:cubicBezTo>
                      <a:cubicBezTo>
                        <a:pt x="1093" y="2059"/>
                        <a:pt x="1093" y="2059"/>
                        <a:pt x="1093" y="2059"/>
                      </a:cubicBezTo>
                      <a:cubicBezTo>
                        <a:pt x="1093" y="2059"/>
                        <a:pt x="1092" y="2059"/>
                        <a:pt x="1092" y="2059"/>
                      </a:cubicBezTo>
                      <a:cubicBezTo>
                        <a:pt x="1092" y="2059"/>
                        <a:pt x="1092" y="2059"/>
                        <a:pt x="1092" y="2059"/>
                      </a:cubicBezTo>
                      <a:cubicBezTo>
                        <a:pt x="1092" y="2059"/>
                        <a:pt x="1092" y="2059"/>
                        <a:pt x="1092" y="2059"/>
                      </a:cubicBezTo>
                      <a:cubicBezTo>
                        <a:pt x="1092" y="2059"/>
                        <a:pt x="1091" y="2059"/>
                        <a:pt x="1091" y="2059"/>
                      </a:cubicBezTo>
                      <a:cubicBezTo>
                        <a:pt x="1091" y="2059"/>
                        <a:pt x="1091" y="2059"/>
                        <a:pt x="1091" y="2059"/>
                      </a:cubicBezTo>
                      <a:cubicBezTo>
                        <a:pt x="1091" y="2059"/>
                        <a:pt x="1091" y="2059"/>
                        <a:pt x="1091" y="2059"/>
                      </a:cubicBezTo>
                      <a:cubicBezTo>
                        <a:pt x="1091" y="2059"/>
                        <a:pt x="1091" y="2059"/>
                        <a:pt x="1090" y="2059"/>
                      </a:cubicBezTo>
                      <a:cubicBezTo>
                        <a:pt x="1090" y="2059"/>
                        <a:pt x="1090" y="2059"/>
                        <a:pt x="1090" y="2059"/>
                      </a:cubicBezTo>
                      <a:cubicBezTo>
                        <a:pt x="1090" y="2059"/>
                        <a:pt x="1090" y="2059"/>
                        <a:pt x="1090" y="2059"/>
                      </a:cubicBezTo>
                      <a:cubicBezTo>
                        <a:pt x="1090" y="2059"/>
                        <a:pt x="1090" y="2059"/>
                        <a:pt x="1090" y="2059"/>
                      </a:cubicBezTo>
                      <a:cubicBezTo>
                        <a:pt x="1089" y="2059"/>
                        <a:pt x="1089" y="2059"/>
                        <a:pt x="1089" y="2059"/>
                      </a:cubicBezTo>
                      <a:cubicBezTo>
                        <a:pt x="1089" y="2059"/>
                        <a:pt x="1089" y="2059"/>
                        <a:pt x="1089" y="2059"/>
                      </a:cubicBezTo>
                      <a:cubicBezTo>
                        <a:pt x="1089" y="2059"/>
                        <a:pt x="1089" y="2059"/>
                        <a:pt x="1089" y="2059"/>
                      </a:cubicBezTo>
                      <a:cubicBezTo>
                        <a:pt x="1088" y="2059"/>
                        <a:pt x="1088" y="2059"/>
                        <a:pt x="1088" y="2059"/>
                      </a:cubicBezTo>
                      <a:cubicBezTo>
                        <a:pt x="1088" y="2059"/>
                        <a:pt x="1088" y="2059"/>
                        <a:pt x="1088" y="2059"/>
                      </a:cubicBezTo>
                      <a:cubicBezTo>
                        <a:pt x="1088" y="2059"/>
                        <a:pt x="1088" y="2059"/>
                        <a:pt x="1088" y="2059"/>
                      </a:cubicBezTo>
                      <a:cubicBezTo>
                        <a:pt x="1088" y="2059"/>
                        <a:pt x="1087" y="2059"/>
                        <a:pt x="1087" y="2059"/>
                      </a:cubicBezTo>
                      <a:cubicBezTo>
                        <a:pt x="1087" y="2059"/>
                        <a:pt x="1087" y="2059"/>
                        <a:pt x="1087" y="2059"/>
                      </a:cubicBezTo>
                      <a:cubicBezTo>
                        <a:pt x="1087" y="2059"/>
                        <a:pt x="1087" y="2059"/>
                        <a:pt x="1087" y="2059"/>
                      </a:cubicBezTo>
                      <a:cubicBezTo>
                        <a:pt x="1087" y="2059"/>
                        <a:pt x="1087" y="2059"/>
                        <a:pt x="1086" y="2059"/>
                      </a:cubicBezTo>
                      <a:cubicBezTo>
                        <a:pt x="1086" y="2059"/>
                        <a:pt x="1086" y="2059"/>
                        <a:pt x="1086" y="2059"/>
                      </a:cubicBezTo>
                      <a:cubicBezTo>
                        <a:pt x="1086" y="2059"/>
                        <a:pt x="1086" y="2059"/>
                        <a:pt x="1086" y="2059"/>
                      </a:cubicBezTo>
                      <a:cubicBezTo>
                        <a:pt x="1086" y="2059"/>
                        <a:pt x="1086" y="2059"/>
                        <a:pt x="1085" y="2059"/>
                      </a:cubicBezTo>
                      <a:cubicBezTo>
                        <a:pt x="1085" y="2059"/>
                        <a:pt x="1085" y="2059"/>
                        <a:pt x="1085" y="2059"/>
                      </a:cubicBezTo>
                      <a:cubicBezTo>
                        <a:pt x="1085" y="2059"/>
                        <a:pt x="1085" y="2059"/>
                        <a:pt x="1085" y="2059"/>
                      </a:cubicBezTo>
                      <a:cubicBezTo>
                        <a:pt x="1085" y="2059"/>
                        <a:pt x="1085" y="2059"/>
                        <a:pt x="1085" y="2059"/>
                      </a:cubicBezTo>
                      <a:cubicBezTo>
                        <a:pt x="1085" y="2059"/>
                        <a:pt x="1084" y="2059"/>
                        <a:pt x="1084" y="2059"/>
                      </a:cubicBezTo>
                      <a:cubicBezTo>
                        <a:pt x="1084" y="2059"/>
                        <a:pt x="1084" y="2059"/>
                        <a:pt x="1084" y="2059"/>
                      </a:cubicBezTo>
                      <a:cubicBezTo>
                        <a:pt x="1084" y="2059"/>
                        <a:pt x="1084" y="2059"/>
                        <a:pt x="1084" y="2059"/>
                      </a:cubicBezTo>
                      <a:cubicBezTo>
                        <a:pt x="1084" y="2059"/>
                        <a:pt x="1083" y="2059"/>
                        <a:pt x="1083" y="2059"/>
                      </a:cubicBezTo>
                      <a:cubicBezTo>
                        <a:pt x="1083" y="2059"/>
                        <a:pt x="1083" y="2059"/>
                        <a:pt x="1083" y="2059"/>
                      </a:cubicBezTo>
                      <a:cubicBezTo>
                        <a:pt x="1083" y="2059"/>
                        <a:pt x="1083" y="2059"/>
                        <a:pt x="1083" y="2059"/>
                      </a:cubicBezTo>
                      <a:cubicBezTo>
                        <a:pt x="1083" y="2059"/>
                        <a:pt x="1083" y="2059"/>
                        <a:pt x="1082" y="2059"/>
                      </a:cubicBezTo>
                      <a:cubicBezTo>
                        <a:pt x="1082" y="2059"/>
                        <a:pt x="1082" y="2059"/>
                        <a:pt x="1082" y="2059"/>
                      </a:cubicBezTo>
                      <a:cubicBezTo>
                        <a:pt x="1082" y="2059"/>
                        <a:pt x="1082" y="2059"/>
                        <a:pt x="1082" y="2059"/>
                      </a:cubicBezTo>
                      <a:cubicBezTo>
                        <a:pt x="1082" y="2059"/>
                        <a:pt x="1082" y="2059"/>
                        <a:pt x="1082" y="2059"/>
                      </a:cubicBezTo>
                      <a:cubicBezTo>
                        <a:pt x="1081" y="2059"/>
                        <a:pt x="1081" y="2059"/>
                        <a:pt x="1081" y="2059"/>
                      </a:cubicBezTo>
                      <a:cubicBezTo>
                        <a:pt x="1081" y="2059"/>
                        <a:pt x="1081" y="2059"/>
                        <a:pt x="1081" y="2059"/>
                      </a:cubicBezTo>
                      <a:cubicBezTo>
                        <a:pt x="1081" y="2059"/>
                        <a:pt x="1081" y="2059"/>
                        <a:pt x="1081" y="2059"/>
                      </a:cubicBezTo>
                      <a:cubicBezTo>
                        <a:pt x="1081" y="2059"/>
                        <a:pt x="1080" y="2059"/>
                        <a:pt x="1080" y="2059"/>
                      </a:cubicBezTo>
                      <a:cubicBezTo>
                        <a:pt x="1080" y="2059"/>
                        <a:pt x="1080" y="2059"/>
                        <a:pt x="1080" y="2059"/>
                      </a:cubicBezTo>
                      <a:cubicBezTo>
                        <a:pt x="1080" y="2059"/>
                        <a:pt x="1080" y="2059"/>
                        <a:pt x="1080" y="2059"/>
                      </a:cubicBezTo>
                      <a:cubicBezTo>
                        <a:pt x="1080" y="2059"/>
                        <a:pt x="1079" y="2059"/>
                        <a:pt x="1079" y="2059"/>
                      </a:cubicBezTo>
                      <a:cubicBezTo>
                        <a:pt x="1079" y="2059"/>
                        <a:pt x="1079" y="2059"/>
                        <a:pt x="1079" y="2059"/>
                      </a:cubicBezTo>
                      <a:cubicBezTo>
                        <a:pt x="1079" y="2059"/>
                        <a:pt x="1079" y="2059"/>
                        <a:pt x="1079" y="2059"/>
                      </a:cubicBezTo>
                      <a:cubicBezTo>
                        <a:pt x="1079" y="2059"/>
                        <a:pt x="1079" y="2059"/>
                        <a:pt x="1078" y="2059"/>
                      </a:cubicBezTo>
                      <a:cubicBezTo>
                        <a:pt x="1078" y="2059"/>
                        <a:pt x="1078" y="2059"/>
                        <a:pt x="1078" y="2059"/>
                      </a:cubicBezTo>
                      <a:cubicBezTo>
                        <a:pt x="1078" y="2059"/>
                        <a:pt x="1078" y="2059"/>
                        <a:pt x="1078" y="2059"/>
                      </a:cubicBezTo>
                      <a:cubicBezTo>
                        <a:pt x="1078" y="2059"/>
                        <a:pt x="1078" y="2059"/>
                        <a:pt x="1078" y="2059"/>
                      </a:cubicBezTo>
                      <a:cubicBezTo>
                        <a:pt x="1077" y="2059"/>
                        <a:pt x="1077" y="2059"/>
                        <a:pt x="1077" y="2059"/>
                      </a:cubicBezTo>
                      <a:cubicBezTo>
                        <a:pt x="1077" y="2059"/>
                        <a:pt x="1077" y="2059"/>
                        <a:pt x="1077" y="2059"/>
                      </a:cubicBezTo>
                      <a:cubicBezTo>
                        <a:pt x="1077" y="2059"/>
                        <a:pt x="1077" y="2059"/>
                        <a:pt x="1077" y="2059"/>
                      </a:cubicBezTo>
                      <a:cubicBezTo>
                        <a:pt x="1077" y="2059"/>
                        <a:pt x="1076" y="2059"/>
                        <a:pt x="1076" y="2059"/>
                      </a:cubicBezTo>
                      <a:cubicBezTo>
                        <a:pt x="1076" y="2059"/>
                        <a:pt x="1076" y="2059"/>
                        <a:pt x="1076" y="2059"/>
                      </a:cubicBezTo>
                      <a:cubicBezTo>
                        <a:pt x="1076" y="2059"/>
                        <a:pt x="1076" y="2059"/>
                        <a:pt x="1076" y="2059"/>
                      </a:cubicBezTo>
                      <a:cubicBezTo>
                        <a:pt x="1076" y="2059"/>
                        <a:pt x="1075" y="2059"/>
                        <a:pt x="1075" y="2059"/>
                      </a:cubicBezTo>
                      <a:cubicBezTo>
                        <a:pt x="1075" y="2059"/>
                        <a:pt x="1075" y="2059"/>
                        <a:pt x="1075" y="2059"/>
                      </a:cubicBezTo>
                      <a:cubicBezTo>
                        <a:pt x="1075" y="2059"/>
                        <a:pt x="1075" y="2059"/>
                        <a:pt x="1075" y="2059"/>
                      </a:cubicBezTo>
                      <a:cubicBezTo>
                        <a:pt x="1075" y="2059"/>
                        <a:pt x="1075" y="2059"/>
                        <a:pt x="1074" y="2059"/>
                      </a:cubicBezTo>
                      <a:cubicBezTo>
                        <a:pt x="1074" y="2059"/>
                        <a:pt x="1074" y="2059"/>
                        <a:pt x="1074" y="2059"/>
                      </a:cubicBezTo>
                      <a:cubicBezTo>
                        <a:pt x="1074" y="2059"/>
                        <a:pt x="1074" y="2059"/>
                        <a:pt x="1074" y="2059"/>
                      </a:cubicBezTo>
                      <a:cubicBezTo>
                        <a:pt x="1074" y="2059"/>
                        <a:pt x="1074" y="2059"/>
                        <a:pt x="1074" y="2059"/>
                      </a:cubicBezTo>
                      <a:cubicBezTo>
                        <a:pt x="1073" y="2059"/>
                        <a:pt x="1073" y="2059"/>
                        <a:pt x="1073" y="2059"/>
                      </a:cubicBezTo>
                      <a:cubicBezTo>
                        <a:pt x="1073" y="2059"/>
                        <a:pt x="1073" y="2059"/>
                        <a:pt x="1073" y="2059"/>
                      </a:cubicBezTo>
                      <a:cubicBezTo>
                        <a:pt x="1073" y="2059"/>
                        <a:pt x="1073" y="2059"/>
                        <a:pt x="1073" y="2059"/>
                      </a:cubicBezTo>
                      <a:cubicBezTo>
                        <a:pt x="1073" y="2059"/>
                        <a:pt x="1072" y="2059"/>
                        <a:pt x="1072" y="2059"/>
                      </a:cubicBezTo>
                      <a:cubicBezTo>
                        <a:pt x="1072" y="2059"/>
                        <a:pt x="1072" y="2059"/>
                        <a:pt x="1072" y="2059"/>
                      </a:cubicBezTo>
                      <a:cubicBezTo>
                        <a:pt x="1072" y="2059"/>
                        <a:pt x="1072" y="2059"/>
                        <a:pt x="1072" y="2059"/>
                      </a:cubicBezTo>
                      <a:cubicBezTo>
                        <a:pt x="1072" y="2059"/>
                        <a:pt x="1071" y="2059"/>
                        <a:pt x="1071" y="2059"/>
                      </a:cubicBezTo>
                      <a:cubicBezTo>
                        <a:pt x="1071" y="2059"/>
                        <a:pt x="1071" y="2059"/>
                        <a:pt x="1071" y="2059"/>
                      </a:cubicBezTo>
                      <a:cubicBezTo>
                        <a:pt x="1071" y="2059"/>
                        <a:pt x="1071" y="2059"/>
                        <a:pt x="1071" y="2059"/>
                      </a:cubicBezTo>
                      <a:cubicBezTo>
                        <a:pt x="1071" y="2059"/>
                        <a:pt x="1071" y="2059"/>
                        <a:pt x="1070" y="2059"/>
                      </a:cubicBezTo>
                      <a:cubicBezTo>
                        <a:pt x="1070" y="2059"/>
                        <a:pt x="1070" y="2059"/>
                        <a:pt x="1070" y="2059"/>
                      </a:cubicBezTo>
                      <a:cubicBezTo>
                        <a:pt x="1070" y="2059"/>
                        <a:pt x="1070" y="2059"/>
                        <a:pt x="1070" y="2059"/>
                      </a:cubicBezTo>
                      <a:cubicBezTo>
                        <a:pt x="1070" y="2059"/>
                        <a:pt x="1070" y="2059"/>
                        <a:pt x="1070" y="2059"/>
                      </a:cubicBezTo>
                      <a:cubicBezTo>
                        <a:pt x="1069" y="2059"/>
                        <a:pt x="1069" y="2059"/>
                        <a:pt x="1069" y="2059"/>
                      </a:cubicBezTo>
                      <a:cubicBezTo>
                        <a:pt x="1069" y="2059"/>
                        <a:pt x="1069" y="2059"/>
                        <a:pt x="1069" y="2059"/>
                      </a:cubicBezTo>
                      <a:cubicBezTo>
                        <a:pt x="1069" y="2059"/>
                        <a:pt x="1069" y="2059"/>
                        <a:pt x="1069" y="2059"/>
                      </a:cubicBezTo>
                      <a:cubicBezTo>
                        <a:pt x="1068" y="2059"/>
                        <a:pt x="1068" y="2059"/>
                        <a:pt x="1068" y="2059"/>
                      </a:cubicBezTo>
                      <a:cubicBezTo>
                        <a:pt x="1068" y="2059"/>
                        <a:pt x="1068" y="2059"/>
                        <a:pt x="1068" y="2059"/>
                      </a:cubicBezTo>
                      <a:cubicBezTo>
                        <a:pt x="1068" y="2059"/>
                        <a:pt x="1068" y="2059"/>
                        <a:pt x="1068" y="2059"/>
                      </a:cubicBezTo>
                      <a:cubicBezTo>
                        <a:pt x="1068" y="2059"/>
                        <a:pt x="1068" y="2059"/>
                        <a:pt x="1067" y="2059"/>
                      </a:cubicBezTo>
                      <a:cubicBezTo>
                        <a:pt x="1067" y="2059"/>
                        <a:pt x="1067" y="2059"/>
                        <a:pt x="1067" y="2059"/>
                      </a:cubicBezTo>
                      <a:cubicBezTo>
                        <a:pt x="1067" y="2059"/>
                        <a:pt x="1067" y="2059"/>
                        <a:pt x="1067" y="2059"/>
                      </a:cubicBezTo>
                      <a:cubicBezTo>
                        <a:pt x="1067" y="2059"/>
                        <a:pt x="1067" y="2059"/>
                        <a:pt x="1066" y="2059"/>
                      </a:cubicBezTo>
                      <a:cubicBezTo>
                        <a:pt x="1066" y="2059"/>
                        <a:pt x="1066" y="2059"/>
                        <a:pt x="1066" y="2059"/>
                      </a:cubicBezTo>
                      <a:cubicBezTo>
                        <a:pt x="1066" y="2059"/>
                        <a:pt x="1066" y="2059"/>
                        <a:pt x="1066" y="2059"/>
                      </a:cubicBezTo>
                      <a:cubicBezTo>
                        <a:pt x="1066" y="2059"/>
                        <a:pt x="1066" y="2059"/>
                        <a:pt x="1066" y="2059"/>
                      </a:cubicBezTo>
                      <a:cubicBezTo>
                        <a:pt x="1065" y="2059"/>
                        <a:pt x="1065" y="2059"/>
                        <a:pt x="1065" y="2059"/>
                      </a:cubicBezTo>
                      <a:cubicBezTo>
                        <a:pt x="1065" y="2059"/>
                        <a:pt x="1065" y="2059"/>
                        <a:pt x="1065" y="2059"/>
                      </a:cubicBezTo>
                      <a:cubicBezTo>
                        <a:pt x="1065" y="2059"/>
                        <a:pt x="1065" y="2059"/>
                        <a:pt x="1065" y="2059"/>
                      </a:cubicBezTo>
                      <a:cubicBezTo>
                        <a:pt x="1065" y="2059"/>
                        <a:pt x="1064" y="2059"/>
                        <a:pt x="1064" y="2059"/>
                      </a:cubicBezTo>
                      <a:cubicBezTo>
                        <a:pt x="1064" y="2059"/>
                        <a:pt x="1064" y="2059"/>
                        <a:pt x="1064" y="2059"/>
                      </a:cubicBezTo>
                      <a:cubicBezTo>
                        <a:pt x="1063" y="2059"/>
                        <a:pt x="1063" y="2059"/>
                        <a:pt x="1063" y="2059"/>
                      </a:cubicBezTo>
                      <a:cubicBezTo>
                        <a:pt x="1063" y="2059"/>
                        <a:pt x="1063" y="2059"/>
                        <a:pt x="1063" y="2059"/>
                      </a:cubicBezTo>
                      <a:cubicBezTo>
                        <a:pt x="1063" y="2059"/>
                        <a:pt x="1063" y="2059"/>
                        <a:pt x="1063" y="2059"/>
                      </a:cubicBezTo>
                      <a:cubicBezTo>
                        <a:pt x="1063" y="2059"/>
                        <a:pt x="1062" y="2059"/>
                        <a:pt x="1062" y="2059"/>
                      </a:cubicBezTo>
                      <a:cubicBezTo>
                        <a:pt x="1062" y="2059"/>
                        <a:pt x="1062" y="2059"/>
                        <a:pt x="1062" y="2059"/>
                      </a:cubicBezTo>
                      <a:cubicBezTo>
                        <a:pt x="1062" y="2059"/>
                        <a:pt x="1062" y="2059"/>
                        <a:pt x="1062" y="2059"/>
                      </a:cubicBezTo>
                      <a:cubicBezTo>
                        <a:pt x="1062" y="2059"/>
                        <a:pt x="1061" y="2059"/>
                        <a:pt x="1061" y="2059"/>
                      </a:cubicBezTo>
                      <a:cubicBezTo>
                        <a:pt x="1061" y="2059"/>
                        <a:pt x="1061" y="2059"/>
                        <a:pt x="1061" y="2059"/>
                      </a:cubicBezTo>
                      <a:cubicBezTo>
                        <a:pt x="1061" y="2059"/>
                        <a:pt x="1061" y="2059"/>
                        <a:pt x="1061" y="2059"/>
                      </a:cubicBezTo>
                      <a:cubicBezTo>
                        <a:pt x="1061" y="2059"/>
                        <a:pt x="1061" y="2059"/>
                        <a:pt x="1060" y="2059"/>
                      </a:cubicBezTo>
                      <a:cubicBezTo>
                        <a:pt x="1060" y="2059"/>
                        <a:pt x="1060" y="2059"/>
                        <a:pt x="1060" y="2059"/>
                      </a:cubicBezTo>
                      <a:cubicBezTo>
                        <a:pt x="1060" y="2059"/>
                        <a:pt x="1060" y="2059"/>
                        <a:pt x="1060" y="2059"/>
                      </a:cubicBezTo>
                      <a:cubicBezTo>
                        <a:pt x="1060" y="2059"/>
                        <a:pt x="1060" y="2059"/>
                        <a:pt x="1060" y="2059"/>
                      </a:cubicBezTo>
                      <a:cubicBezTo>
                        <a:pt x="1059" y="2059"/>
                        <a:pt x="1059" y="2059"/>
                        <a:pt x="1059" y="2059"/>
                      </a:cubicBezTo>
                      <a:cubicBezTo>
                        <a:pt x="1059" y="2059"/>
                        <a:pt x="1059" y="2059"/>
                        <a:pt x="1059" y="2059"/>
                      </a:cubicBezTo>
                      <a:cubicBezTo>
                        <a:pt x="1059" y="2059"/>
                        <a:pt x="1059" y="2059"/>
                        <a:pt x="1058" y="2059"/>
                      </a:cubicBezTo>
                      <a:cubicBezTo>
                        <a:pt x="1058" y="2059"/>
                        <a:pt x="1058" y="2059"/>
                        <a:pt x="1058" y="2059"/>
                      </a:cubicBezTo>
                      <a:cubicBezTo>
                        <a:pt x="1058" y="2059"/>
                        <a:pt x="1058" y="2059"/>
                        <a:pt x="1058" y="2059"/>
                      </a:cubicBezTo>
                      <a:cubicBezTo>
                        <a:pt x="1058" y="2059"/>
                        <a:pt x="1058" y="2059"/>
                        <a:pt x="1058" y="2059"/>
                      </a:cubicBezTo>
                      <a:cubicBezTo>
                        <a:pt x="1057" y="2059"/>
                        <a:pt x="1057" y="2059"/>
                        <a:pt x="1057" y="2059"/>
                      </a:cubicBezTo>
                      <a:cubicBezTo>
                        <a:pt x="1057" y="2059"/>
                        <a:pt x="1057" y="2059"/>
                        <a:pt x="1057" y="2059"/>
                      </a:cubicBezTo>
                      <a:cubicBezTo>
                        <a:pt x="1057" y="2059"/>
                        <a:pt x="1057" y="2059"/>
                        <a:pt x="1057" y="2059"/>
                      </a:cubicBezTo>
                      <a:cubicBezTo>
                        <a:pt x="1056" y="2059"/>
                        <a:pt x="1056" y="2059"/>
                        <a:pt x="1056" y="2059"/>
                      </a:cubicBezTo>
                      <a:cubicBezTo>
                        <a:pt x="1056" y="2059"/>
                        <a:pt x="1056" y="2059"/>
                        <a:pt x="1056" y="2059"/>
                      </a:cubicBezTo>
                      <a:cubicBezTo>
                        <a:pt x="1056" y="2059"/>
                        <a:pt x="1056" y="2059"/>
                        <a:pt x="1056" y="2059"/>
                      </a:cubicBezTo>
                      <a:cubicBezTo>
                        <a:pt x="1056" y="2059"/>
                        <a:pt x="1055" y="2059"/>
                        <a:pt x="1055" y="2059"/>
                      </a:cubicBezTo>
                      <a:cubicBezTo>
                        <a:pt x="1055" y="2059"/>
                        <a:pt x="1055" y="2059"/>
                        <a:pt x="1055" y="2059"/>
                      </a:cubicBezTo>
                      <a:cubicBezTo>
                        <a:pt x="1055" y="2059"/>
                        <a:pt x="1055" y="2059"/>
                        <a:pt x="1055" y="2059"/>
                      </a:cubicBezTo>
                      <a:cubicBezTo>
                        <a:pt x="1055" y="2059"/>
                        <a:pt x="1054" y="2059"/>
                        <a:pt x="1054" y="2059"/>
                      </a:cubicBezTo>
                      <a:cubicBezTo>
                        <a:pt x="1054" y="2059"/>
                        <a:pt x="1054" y="2059"/>
                        <a:pt x="1054" y="2059"/>
                      </a:cubicBezTo>
                      <a:cubicBezTo>
                        <a:pt x="1054" y="2059"/>
                        <a:pt x="1054" y="2059"/>
                        <a:pt x="1054" y="2059"/>
                      </a:cubicBezTo>
                      <a:cubicBezTo>
                        <a:pt x="1054" y="2059"/>
                        <a:pt x="1053" y="2059"/>
                        <a:pt x="1053" y="2059"/>
                      </a:cubicBezTo>
                      <a:cubicBezTo>
                        <a:pt x="1053" y="2059"/>
                        <a:pt x="1053" y="2059"/>
                        <a:pt x="1053" y="2059"/>
                      </a:cubicBezTo>
                      <a:cubicBezTo>
                        <a:pt x="1053" y="2059"/>
                        <a:pt x="1053" y="2059"/>
                        <a:pt x="1053" y="2059"/>
                      </a:cubicBezTo>
                      <a:cubicBezTo>
                        <a:pt x="1052" y="2059"/>
                        <a:pt x="1052" y="2059"/>
                        <a:pt x="1052" y="2059"/>
                      </a:cubicBezTo>
                      <a:cubicBezTo>
                        <a:pt x="1052" y="2059"/>
                        <a:pt x="1052" y="2059"/>
                        <a:pt x="1052" y="2059"/>
                      </a:cubicBezTo>
                      <a:cubicBezTo>
                        <a:pt x="1052" y="2059"/>
                        <a:pt x="1052" y="2059"/>
                        <a:pt x="1052" y="2059"/>
                      </a:cubicBezTo>
                      <a:cubicBezTo>
                        <a:pt x="1052" y="2059"/>
                        <a:pt x="1051" y="2059"/>
                        <a:pt x="1051" y="2059"/>
                      </a:cubicBezTo>
                      <a:cubicBezTo>
                        <a:pt x="1051" y="2059"/>
                        <a:pt x="1051" y="2059"/>
                        <a:pt x="1051" y="2059"/>
                      </a:cubicBezTo>
                      <a:cubicBezTo>
                        <a:pt x="1051" y="2059"/>
                        <a:pt x="1051" y="2059"/>
                        <a:pt x="1051" y="2059"/>
                      </a:cubicBezTo>
                      <a:cubicBezTo>
                        <a:pt x="1051" y="2059"/>
                        <a:pt x="1051" y="2059"/>
                        <a:pt x="1050" y="2059"/>
                      </a:cubicBezTo>
                      <a:cubicBezTo>
                        <a:pt x="1050" y="2059"/>
                        <a:pt x="1050" y="2059"/>
                        <a:pt x="1050" y="2059"/>
                      </a:cubicBezTo>
                      <a:cubicBezTo>
                        <a:pt x="1050" y="2059"/>
                        <a:pt x="1050" y="2059"/>
                        <a:pt x="1050" y="2059"/>
                      </a:cubicBezTo>
                      <a:cubicBezTo>
                        <a:pt x="1050" y="2059"/>
                        <a:pt x="1049" y="2059"/>
                        <a:pt x="1049" y="2059"/>
                      </a:cubicBezTo>
                      <a:cubicBezTo>
                        <a:pt x="1049" y="2059"/>
                        <a:pt x="1049" y="2059"/>
                        <a:pt x="1049" y="2059"/>
                      </a:cubicBezTo>
                      <a:cubicBezTo>
                        <a:pt x="1049" y="2059"/>
                        <a:pt x="1049" y="2059"/>
                        <a:pt x="1049" y="2059"/>
                      </a:cubicBezTo>
                      <a:cubicBezTo>
                        <a:pt x="1049" y="2059"/>
                        <a:pt x="1049" y="2059"/>
                        <a:pt x="1048" y="2059"/>
                      </a:cubicBezTo>
                      <a:cubicBezTo>
                        <a:pt x="1048" y="2059"/>
                        <a:pt x="1048" y="2059"/>
                        <a:pt x="1048" y="2059"/>
                      </a:cubicBezTo>
                      <a:cubicBezTo>
                        <a:pt x="1048" y="2059"/>
                        <a:pt x="1048" y="2059"/>
                        <a:pt x="1048" y="2059"/>
                      </a:cubicBezTo>
                      <a:cubicBezTo>
                        <a:pt x="1048" y="2059"/>
                        <a:pt x="1048" y="2059"/>
                        <a:pt x="1047" y="2059"/>
                      </a:cubicBezTo>
                      <a:cubicBezTo>
                        <a:pt x="1047" y="2059"/>
                        <a:pt x="1047" y="2059"/>
                        <a:pt x="1047" y="2059"/>
                      </a:cubicBezTo>
                      <a:cubicBezTo>
                        <a:pt x="1047" y="2059"/>
                        <a:pt x="1047" y="2059"/>
                        <a:pt x="1047" y="2059"/>
                      </a:cubicBezTo>
                      <a:cubicBezTo>
                        <a:pt x="1047" y="2059"/>
                        <a:pt x="1047" y="2059"/>
                        <a:pt x="1047" y="2059"/>
                      </a:cubicBezTo>
                      <a:cubicBezTo>
                        <a:pt x="1046" y="2059"/>
                        <a:pt x="1046" y="2059"/>
                        <a:pt x="1046" y="2059"/>
                      </a:cubicBezTo>
                      <a:cubicBezTo>
                        <a:pt x="1046" y="2059"/>
                        <a:pt x="1046" y="2059"/>
                        <a:pt x="1046" y="2059"/>
                      </a:cubicBezTo>
                      <a:cubicBezTo>
                        <a:pt x="1046" y="2059"/>
                        <a:pt x="1046" y="2059"/>
                        <a:pt x="1046" y="2059"/>
                      </a:cubicBezTo>
                      <a:cubicBezTo>
                        <a:pt x="1045" y="2059"/>
                        <a:pt x="1045" y="2059"/>
                        <a:pt x="1045" y="2059"/>
                      </a:cubicBezTo>
                      <a:cubicBezTo>
                        <a:pt x="1045" y="2059"/>
                        <a:pt x="1045" y="2059"/>
                        <a:pt x="1045" y="2059"/>
                      </a:cubicBezTo>
                      <a:cubicBezTo>
                        <a:pt x="1045" y="2059"/>
                        <a:pt x="1045" y="2059"/>
                        <a:pt x="1045" y="2059"/>
                      </a:cubicBezTo>
                      <a:cubicBezTo>
                        <a:pt x="1044" y="2059"/>
                        <a:pt x="1044" y="2059"/>
                        <a:pt x="1044" y="2059"/>
                      </a:cubicBezTo>
                      <a:cubicBezTo>
                        <a:pt x="1044" y="2059"/>
                        <a:pt x="1044" y="2059"/>
                        <a:pt x="1044" y="2059"/>
                      </a:cubicBezTo>
                      <a:cubicBezTo>
                        <a:pt x="1044" y="2059"/>
                        <a:pt x="1044" y="2059"/>
                        <a:pt x="1044" y="2059"/>
                      </a:cubicBezTo>
                      <a:cubicBezTo>
                        <a:pt x="1044" y="2059"/>
                        <a:pt x="1043" y="2059"/>
                        <a:pt x="1043" y="2059"/>
                      </a:cubicBezTo>
                      <a:cubicBezTo>
                        <a:pt x="1043" y="2059"/>
                        <a:pt x="1043" y="2059"/>
                        <a:pt x="1043" y="2059"/>
                      </a:cubicBezTo>
                      <a:cubicBezTo>
                        <a:pt x="1043" y="2059"/>
                        <a:pt x="1043" y="2059"/>
                        <a:pt x="1043" y="2059"/>
                      </a:cubicBezTo>
                      <a:cubicBezTo>
                        <a:pt x="1043" y="2059"/>
                        <a:pt x="1042" y="2059"/>
                        <a:pt x="1042" y="2059"/>
                      </a:cubicBezTo>
                      <a:cubicBezTo>
                        <a:pt x="1042" y="2059"/>
                        <a:pt x="1042" y="2059"/>
                        <a:pt x="1042" y="2059"/>
                      </a:cubicBezTo>
                      <a:cubicBezTo>
                        <a:pt x="1042" y="2059"/>
                        <a:pt x="1042" y="2059"/>
                        <a:pt x="1042" y="2059"/>
                      </a:cubicBezTo>
                      <a:cubicBezTo>
                        <a:pt x="1042" y="2059"/>
                        <a:pt x="1042" y="2059"/>
                        <a:pt x="1041" y="2059"/>
                      </a:cubicBezTo>
                      <a:cubicBezTo>
                        <a:pt x="1041" y="2059"/>
                        <a:pt x="1041" y="2059"/>
                        <a:pt x="1041" y="2059"/>
                      </a:cubicBezTo>
                      <a:cubicBezTo>
                        <a:pt x="1041" y="2059"/>
                        <a:pt x="1041" y="2059"/>
                        <a:pt x="1041" y="2059"/>
                      </a:cubicBezTo>
                      <a:cubicBezTo>
                        <a:pt x="1041" y="2059"/>
                        <a:pt x="1040" y="2059"/>
                        <a:pt x="1040" y="2059"/>
                      </a:cubicBezTo>
                      <a:cubicBezTo>
                        <a:pt x="1040" y="2059"/>
                        <a:pt x="1040" y="2059"/>
                        <a:pt x="1040" y="2059"/>
                      </a:cubicBezTo>
                      <a:cubicBezTo>
                        <a:pt x="1040" y="2059"/>
                        <a:pt x="1040" y="2059"/>
                        <a:pt x="1040" y="2059"/>
                      </a:cubicBezTo>
                      <a:cubicBezTo>
                        <a:pt x="1040" y="2059"/>
                        <a:pt x="1040" y="2059"/>
                        <a:pt x="1040" y="2059"/>
                      </a:cubicBezTo>
                      <a:cubicBezTo>
                        <a:pt x="1039" y="2059"/>
                        <a:pt x="1039" y="2059"/>
                        <a:pt x="1038" y="2059"/>
                      </a:cubicBezTo>
                      <a:cubicBezTo>
                        <a:pt x="1038" y="2059"/>
                        <a:pt x="1038" y="2059"/>
                        <a:pt x="1038" y="2059"/>
                      </a:cubicBezTo>
                      <a:cubicBezTo>
                        <a:pt x="1038" y="2059"/>
                        <a:pt x="1038" y="2059"/>
                        <a:pt x="1038" y="2059"/>
                      </a:cubicBezTo>
                      <a:cubicBezTo>
                        <a:pt x="1038" y="2059"/>
                        <a:pt x="1038" y="2059"/>
                        <a:pt x="1038" y="2059"/>
                      </a:cubicBezTo>
                      <a:cubicBezTo>
                        <a:pt x="1037" y="2059"/>
                        <a:pt x="1037" y="2059"/>
                        <a:pt x="1036" y="2059"/>
                      </a:cubicBezTo>
                      <a:cubicBezTo>
                        <a:pt x="1036" y="2059"/>
                        <a:pt x="1036" y="2059"/>
                        <a:pt x="1036" y="2059"/>
                      </a:cubicBezTo>
                      <a:cubicBezTo>
                        <a:pt x="1036" y="2059"/>
                        <a:pt x="1036" y="2059"/>
                        <a:pt x="1036" y="2059"/>
                      </a:cubicBezTo>
                      <a:cubicBezTo>
                        <a:pt x="1036" y="2059"/>
                        <a:pt x="1036" y="2059"/>
                        <a:pt x="1036" y="2059"/>
                      </a:cubicBezTo>
                      <a:cubicBezTo>
                        <a:pt x="1031" y="2059"/>
                        <a:pt x="1027" y="2059"/>
                        <a:pt x="1023" y="2059"/>
                      </a:cubicBezTo>
                      <a:cubicBezTo>
                        <a:pt x="1022" y="2059"/>
                        <a:pt x="1022" y="2059"/>
                        <a:pt x="1021" y="2059"/>
                      </a:cubicBezTo>
                      <a:cubicBezTo>
                        <a:pt x="1002" y="2059"/>
                        <a:pt x="986" y="2074"/>
                        <a:pt x="985" y="2093"/>
                      </a:cubicBezTo>
                      <a:cubicBezTo>
                        <a:pt x="984" y="2113"/>
                        <a:pt x="1000" y="2130"/>
                        <a:pt x="1020" y="2131"/>
                      </a:cubicBezTo>
                      <a:cubicBezTo>
                        <a:pt x="1034" y="2131"/>
                        <a:pt x="1049" y="2131"/>
                        <a:pt x="1064" y="2131"/>
                      </a:cubicBezTo>
                      <a:cubicBezTo>
                        <a:pt x="1092" y="2131"/>
                        <a:pt x="1120" y="2130"/>
                        <a:pt x="1148" y="2128"/>
                      </a:cubicBezTo>
                      <a:cubicBezTo>
                        <a:pt x="1168" y="2127"/>
                        <a:pt x="1183" y="2109"/>
                        <a:pt x="1181" y="2089"/>
                      </a:cubicBezTo>
                      <a:cubicBezTo>
                        <a:pt x="1180" y="2071"/>
                        <a:pt x="1164" y="2056"/>
                        <a:pt x="1146" y="2056"/>
                      </a:cubicBezTo>
                      <a:close/>
                      <a:moveTo>
                        <a:pt x="1838" y="331"/>
                      </a:moveTo>
                      <a:cubicBezTo>
                        <a:pt x="1831" y="323"/>
                        <a:pt x="1822" y="319"/>
                        <a:pt x="1812" y="319"/>
                      </a:cubicBezTo>
                      <a:cubicBezTo>
                        <a:pt x="1803" y="319"/>
                        <a:pt x="1794" y="323"/>
                        <a:pt x="1787" y="329"/>
                      </a:cubicBezTo>
                      <a:cubicBezTo>
                        <a:pt x="1773" y="343"/>
                        <a:pt x="1772" y="366"/>
                        <a:pt x="1786" y="380"/>
                      </a:cubicBezTo>
                      <a:cubicBezTo>
                        <a:pt x="1788" y="383"/>
                        <a:pt x="1791" y="385"/>
                        <a:pt x="1793" y="388"/>
                      </a:cubicBezTo>
                      <a:cubicBezTo>
                        <a:pt x="1793" y="388"/>
                        <a:pt x="1793" y="388"/>
                        <a:pt x="1793" y="388"/>
                      </a:cubicBezTo>
                      <a:cubicBezTo>
                        <a:pt x="1794" y="388"/>
                        <a:pt x="1794" y="389"/>
                        <a:pt x="1795" y="389"/>
                      </a:cubicBezTo>
                      <a:cubicBezTo>
                        <a:pt x="1795" y="389"/>
                        <a:pt x="1795" y="389"/>
                        <a:pt x="1795" y="389"/>
                      </a:cubicBezTo>
                      <a:cubicBezTo>
                        <a:pt x="1795" y="390"/>
                        <a:pt x="1795" y="390"/>
                        <a:pt x="1795" y="390"/>
                      </a:cubicBezTo>
                      <a:cubicBezTo>
                        <a:pt x="1795" y="390"/>
                        <a:pt x="1795" y="390"/>
                        <a:pt x="1795" y="390"/>
                      </a:cubicBezTo>
                      <a:cubicBezTo>
                        <a:pt x="1795" y="390"/>
                        <a:pt x="1795" y="390"/>
                        <a:pt x="1796" y="391"/>
                      </a:cubicBezTo>
                      <a:cubicBezTo>
                        <a:pt x="1796" y="391"/>
                        <a:pt x="1796" y="391"/>
                        <a:pt x="1796" y="391"/>
                      </a:cubicBezTo>
                      <a:cubicBezTo>
                        <a:pt x="1796" y="391"/>
                        <a:pt x="1796" y="391"/>
                        <a:pt x="1796" y="391"/>
                      </a:cubicBezTo>
                      <a:cubicBezTo>
                        <a:pt x="1796" y="391"/>
                        <a:pt x="1796" y="391"/>
                        <a:pt x="1796" y="391"/>
                      </a:cubicBezTo>
                      <a:cubicBezTo>
                        <a:pt x="1796" y="391"/>
                        <a:pt x="1796" y="391"/>
                        <a:pt x="1796" y="391"/>
                      </a:cubicBezTo>
                      <a:cubicBezTo>
                        <a:pt x="1796" y="391"/>
                        <a:pt x="1796" y="391"/>
                        <a:pt x="1796" y="391"/>
                      </a:cubicBezTo>
                      <a:cubicBezTo>
                        <a:pt x="1797" y="392"/>
                        <a:pt x="1797" y="392"/>
                        <a:pt x="1797" y="392"/>
                      </a:cubicBezTo>
                      <a:cubicBezTo>
                        <a:pt x="1797" y="392"/>
                        <a:pt x="1797" y="392"/>
                        <a:pt x="1797" y="392"/>
                      </a:cubicBezTo>
                      <a:cubicBezTo>
                        <a:pt x="1797" y="392"/>
                        <a:pt x="1797" y="392"/>
                        <a:pt x="1797" y="392"/>
                      </a:cubicBezTo>
                      <a:cubicBezTo>
                        <a:pt x="1797" y="392"/>
                        <a:pt x="1797" y="392"/>
                        <a:pt x="1797" y="393"/>
                      </a:cubicBezTo>
                      <a:cubicBezTo>
                        <a:pt x="1798" y="393"/>
                        <a:pt x="1798" y="393"/>
                        <a:pt x="1798" y="393"/>
                      </a:cubicBezTo>
                      <a:cubicBezTo>
                        <a:pt x="1798" y="393"/>
                        <a:pt x="1798" y="393"/>
                        <a:pt x="1798" y="393"/>
                      </a:cubicBezTo>
                      <a:cubicBezTo>
                        <a:pt x="1798" y="393"/>
                        <a:pt x="1798" y="393"/>
                        <a:pt x="1798" y="393"/>
                      </a:cubicBezTo>
                      <a:cubicBezTo>
                        <a:pt x="1798" y="393"/>
                        <a:pt x="1798" y="393"/>
                        <a:pt x="1798" y="393"/>
                      </a:cubicBezTo>
                      <a:cubicBezTo>
                        <a:pt x="1798" y="393"/>
                        <a:pt x="1798" y="393"/>
                        <a:pt x="1798" y="394"/>
                      </a:cubicBezTo>
                      <a:cubicBezTo>
                        <a:pt x="1798" y="394"/>
                        <a:pt x="1798" y="394"/>
                        <a:pt x="1798" y="394"/>
                      </a:cubicBezTo>
                      <a:cubicBezTo>
                        <a:pt x="1799" y="394"/>
                        <a:pt x="1799" y="394"/>
                        <a:pt x="1799" y="394"/>
                      </a:cubicBezTo>
                      <a:cubicBezTo>
                        <a:pt x="1799" y="394"/>
                        <a:pt x="1799" y="394"/>
                        <a:pt x="1799" y="394"/>
                      </a:cubicBezTo>
                      <a:cubicBezTo>
                        <a:pt x="1799" y="394"/>
                        <a:pt x="1799" y="394"/>
                        <a:pt x="1799" y="394"/>
                      </a:cubicBezTo>
                      <a:cubicBezTo>
                        <a:pt x="1799" y="394"/>
                        <a:pt x="1799" y="394"/>
                        <a:pt x="1799" y="394"/>
                      </a:cubicBezTo>
                      <a:cubicBezTo>
                        <a:pt x="1799" y="394"/>
                        <a:pt x="1799" y="394"/>
                        <a:pt x="1799" y="394"/>
                      </a:cubicBezTo>
                      <a:cubicBezTo>
                        <a:pt x="1799" y="394"/>
                        <a:pt x="1799" y="395"/>
                        <a:pt x="1799" y="395"/>
                      </a:cubicBezTo>
                      <a:cubicBezTo>
                        <a:pt x="1799" y="395"/>
                        <a:pt x="1800" y="395"/>
                        <a:pt x="1800" y="395"/>
                      </a:cubicBezTo>
                      <a:cubicBezTo>
                        <a:pt x="1800" y="395"/>
                        <a:pt x="1800" y="395"/>
                        <a:pt x="1800" y="395"/>
                      </a:cubicBezTo>
                      <a:cubicBezTo>
                        <a:pt x="1800" y="395"/>
                        <a:pt x="1800" y="395"/>
                        <a:pt x="1800" y="396"/>
                      </a:cubicBezTo>
                      <a:cubicBezTo>
                        <a:pt x="1800" y="396"/>
                        <a:pt x="1800" y="396"/>
                        <a:pt x="1800" y="396"/>
                      </a:cubicBezTo>
                      <a:cubicBezTo>
                        <a:pt x="1800" y="396"/>
                        <a:pt x="1800" y="396"/>
                        <a:pt x="1800" y="396"/>
                      </a:cubicBezTo>
                      <a:cubicBezTo>
                        <a:pt x="1801" y="396"/>
                        <a:pt x="1801" y="396"/>
                        <a:pt x="1801" y="396"/>
                      </a:cubicBezTo>
                      <a:cubicBezTo>
                        <a:pt x="1801" y="396"/>
                        <a:pt x="1801" y="396"/>
                        <a:pt x="1801" y="397"/>
                      </a:cubicBezTo>
                      <a:cubicBezTo>
                        <a:pt x="1801" y="397"/>
                        <a:pt x="1801" y="397"/>
                        <a:pt x="1801" y="397"/>
                      </a:cubicBezTo>
                      <a:cubicBezTo>
                        <a:pt x="1801" y="397"/>
                        <a:pt x="1801" y="397"/>
                        <a:pt x="1801" y="397"/>
                      </a:cubicBezTo>
                      <a:cubicBezTo>
                        <a:pt x="1802" y="397"/>
                        <a:pt x="1802" y="397"/>
                        <a:pt x="1802" y="397"/>
                      </a:cubicBezTo>
                      <a:cubicBezTo>
                        <a:pt x="1802" y="397"/>
                        <a:pt x="1802" y="397"/>
                        <a:pt x="1802" y="397"/>
                      </a:cubicBezTo>
                      <a:cubicBezTo>
                        <a:pt x="1802" y="397"/>
                        <a:pt x="1802" y="397"/>
                        <a:pt x="1802" y="397"/>
                      </a:cubicBezTo>
                      <a:cubicBezTo>
                        <a:pt x="1802" y="397"/>
                        <a:pt x="1802" y="397"/>
                        <a:pt x="1802" y="398"/>
                      </a:cubicBezTo>
                      <a:cubicBezTo>
                        <a:pt x="1802" y="398"/>
                        <a:pt x="1802" y="398"/>
                        <a:pt x="1802" y="398"/>
                      </a:cubicBezTo>
                      <a:cubicBezTo>
                        <a:pt x="1802" y="398"/>
                        <a:pt x="1802" y="398"/>
                        <a:pt x="1803" y="398"/>
                      </a:cubicBezTo>
                      <a:cubicBezTo>
                        <a:pt x="1803" y="398"/>
                        <a:pt x="1803" y="398"/>
                        <a:pt x="1803" y="398"/>
                      </a:cubicBezTo>
                      <a:cubicBezTo>
                        <a:pt x="1803" y="398"/>
                        <a:pt x="1803" y="398"/>
                        <a:pt x="1803" y="398"/>
                      </a:cubicBezTo>
                      <a:cubicBezTo>
                        <a:pt x="1803" y="398"/>
                        <a:pt x="1803" y="398"/>
                        <a:pt x="1803" y="398"/>
                      </a:cubicBezTo>
                      <a:cubicBezTo>
                        <a:pt x="1803" y="399"/>
                        <a:pt x="1803" y="399"/>
                        <a:pt x="1803" y="399"/>
                      </a:cubicBezTo>
                      <a:cubicBezTo>
                        <a:pt x="1803" y="399"/>
                        <a:pt x="1803" y="399"/>
                        <a:pt x="1803" y="399"/>
                      </a:cubicBezTo>
                      <a:cubicBezTo>
                        <a:pt x="1803" y="399"/>
                        <a:pt x="1803" y="399"/>
                        <a:pt x="1803" y="399"/>
                      </a:cubicBezTo>
                      <a:cubicBezTo>
                        <a:pt x="1803" y="399"/>
                        <a:pt x="1803" y="399"/>
                        <a:pt x="1803" y="399"/>
                      </a:cubicBezTo>
                      <a:cubicBezTo>
                        <a:pt x="1804" y="399"/>
                        <a:pt x="1804" y="400"/>
                        <a:pt x="1804" y="400"/>
                      </a:cubicBezTo>
                      <a:cubicBezTo>
                        <a:pt x="1804" y="400"/>
                        <a:pt x="1804" y="400"/>
                        <a:pt x="1804" y="400"/>
                      </a:cubicBezTo>
                      <a:cubicBezTo>
                        <a:pt x="1804" y="400"/>
                        <a:pt x="1804" y="400"/>
                        <a:pt x="1804" y="400"/>
                      </a:cubicBezTo>
                      <a:cubicBezTo>
                        <a:pt x="1804" y="400"/>
                        <a:pt x="1804" y="400"/>
                        <a:pt x="1804" y="400"/>
                      </a:cubicBezTo>
                      <a:cubicBezTo>
                        <a:pt x="1804" y="400"/>
                        <a:pt x="1805" y="400"/>
                        <a:pt x="1805" y="400"/>
                      </a:cubicBezTo>
                      <a:cubicBezTo>
                        <a:pt x="1805" y="400"/>
                        <a:pt x="1805" y="400"/>
                        <a:pt x="1805" y="400"/>
                      </a:cubicBezTo>
                      <a:cubicBezTo>
                        <a:pt x="1805" y="401"/>
                        <a:pt x="1805" y="401"/>
                        <a:pt x="1805" y="401"/>
                      </a:cubicBezTo>
                      <a:cubicBezTo>
                        <a:pt x="1805" y="401"/>
                        <a:pt x="1805" y="401"/>
                        <a:pt x="1805" y="401"/>
                      </a:cubicBezTo>
                      <a:cubicBezTo>
                        <a:pt x="1805" y="401"/>
                        <a:pt x="1806" y="401"/>
                        <a:pt x="1806" y="402"/>
                      </a:cubicBezTo>
                      <a:cubicBezTo>
                        <a:pt x="1806" y="402"/>
                        <a:pt x="1806" y="402"/>
                        <a:pt x="1806" y="402"/>
                      </a:cubicBezTo>
                      <a:cubicBezTo>
                        <a:pt x="1806" y="402"/>
                        <a:pt x="1806" y="402"/>
                        <a:pt x="1806" y="402"/>
                      </a:cubicBezTo>
                      <a:cubicBezTo>
                        <a:pt x="1806" y="402"/>
                        <a:pt x="1806" y="402"/>
                        <a:pt x="1806" y="402"/>
                      </a:cubicBezTo>
                      <a:cubicBezTo>
                        <a:pt x="1806" y="402"/>
                        <a:pt x="1807" y="403"/>
                        <a:pt x="1807" y="403"/>
                      </a:cubicBezTo>
                      <a:cubicBezTo>
                        <a:pt x="1807" y="403"/>
                        <a:pt x="1807" y="403"/>
                        <a:pt x="1807" y="403"/>
                      </a:cubicBezTo>
                      <a:cubicBezTo>
                        <a:pt x="1807" y="403"/>
                        <a:pt x="1807" y="403"/>
                        <a:pt x="1807" y="403"/>
                      </a:cubicBezTo>
                      <a:cubicBezTo>
                        <a:pt x="1807" y="403"/>
                        <a:pt x="1807" y="403"/>
                        <a:pt x="1807" y="403"/>
                      </a:cubicBezTo>
                      <a:cubicBezTo>
                        <a:pt x="1807" y="403"/>
                        <a:pt x="1807" y="403"/>
                        <a:pt x="1807" y="404"/>
                      </a:cubicBezTo>
                      <a:cubicBezTo>
                        <a:pt x="1807" y="404"/>
                        <a:pt x="1807" y="404"/>
                        <a:pt x="1807" y="404"/>
                      </a:cubicBezTo>
                      <a:cubicBezTo>
                        <a:pt x="1808" y="404"/>
                        <a:pt x="1808" y="404"/>
                        <a:pt x="1808" y="404"/>
                      </a:cubicBezTo>
                      <a:cubicBezTo>
                        <a:pt x="1808" y="404"/>
                        <a:pt x="1808" y="404"/>
                        <a:pt x="1808" y="404"/>
                      </a:cubicBezTo>
                      <a:cubicBezTo>
                        <a:pt x="1808" y="404"/>
                        <a:pt x="1808" y="405"/>
                        <a:pt x="1808" y="405"/>
                      </a:cubicBezTo>
                      <a:cubicBezTo>
                        <a:pt x="1808" y="405"/>
                        <a:pt x="1808" y="405"/>
                        <a:pt x="1808" y="405"/>
                      </a:cubicBezTo>
                      <a:cubicBezTo>
                        <a:pt x="1809" y="405"/>
                        <a:pt x="1809" y="405"/>
                        <a:pt x="1809" y="405"/>
                      </a:cubicBezTo>
                      <a:cubicBezTo>
                        <a:pt x="1809" y="405"/>
                        <a:pt x="1809" y="405"/>
                        <a:pt x="1809" y="405"/>
                      </a:cubicBezTo>
                      <a:cubicBezTo>
                        <a:pt x="1809" y="405"/>
                        <a:pt x="1809" y="406"/>
                        <a:pt x="1809" y="406"/>
                      </a:cubicBezTo>
                      <a:cubicBezTo>
                        <a:pt x="1809" y="406"/>
                        <a:pt x="1809" y="406"/>
                        <a:pt x="1809" y="406"/>
                      </a:cubicBezTo>
                      <a:cubicBezTo>
                        <a:pt x="1810" y="406"/>
                        <a:pt x="1810" y="406"/>
                        <a:pt x="1810" y="406"/>
                      </a:cubicBezTo>
                      <a:cubicBezTo>
                        <a:pt x="1810" y="406"/>
                        <a:pt x="1810" y="406"/>
                        <a:pt x="1810" y="406"/>
                      </a:cubicBezTo>
                      <a:cubicBezTo>
                        <a:pt x="1810" y="406"/>
                        <a:pt x="1810" y="406"/>
                        <a:pt x="1810" y="406"/>
                      </a:cubicBezTo>
                      <a:cubicBezTo>
                        <a:pt x="1810" y="406"/>
                        <a:pt x="1810" y="406"/>
                        <a:pt x="1810" y="406"/>
                      </a:cubicBezTo>
                      <a:cubicBezTo>
                        <a:pt x="1810" y="407"/>
                        <a:pt x="1811" y="407"/>
                        <a:pt x="1811" y="408"/>
                      </a:cubicBezTo>
                      <a:cubicBezTo>
                        <a:pt x="1811" y="408"/>
                        <a:pt x="1811" y="408"/>
                        <a:pt x="1811" y="408"/>
                      </a:cubicBezTo>
                      <a:cubicBezTo>
                        <a:pt x="1811" y="408"/>
                        <a:pt x="1811" y="408"/>
                        <a:pt x="1811" y="408"/>
                      </a:cubicBezTo>
                      <a:cubicBezTo>
                        <a:pt x="1811" y="408"/>
                        <a:pt x="1811" y="408"/>
                        <a:pt x="1811" y="408"/>
                      </a:cubicBezTo>
                      <a:cubicBezTo>
                        <a:pt x="1812" y="408"/>
                        <a:pt x="1812" y="409"/>
                        <a:pt x="1812" y="409"/>
                      </a:cubicBezTo>
                      <a:cubicBezTo>
                        <a:pt x="1812" y="409"/>
                        <a:pt x="1812" y="409"/>
                        <a:pt x="1812" y="409"/>
                      </a:cubicBezTo>
                      <a:cubicBezTo>
                        <a:pt x="1812" y="409"/>
                        <a:pt x="1812" y="409"/>
                        <a:pt x="1812" y="409"/>
                      </a:cubicBezTo>
                      <a:cubicBezTo>
                        <a:pt x="1812" y="409"/>
                        <a:pt x="1812" y="409"/>
                        <a:pt x="1812" y="409"/>
                      </a:cubicBezTo>
                      <a:cubicBezTo>
                        <a:pt x="1813" y="410"/>
                        <a:pt x="1813" y="410"/>
                        <a:pt x="1814" y="411"/>
                      </a:cubicBezTo>
                      <a:cubicBezTo>
                        <a:pt x="1814" y="411"/>
                        <a:pt x="1814" y="411"/>
                        <a:pt x="1814" y="411"/>
                      </a:cubicBezTo>
                      <a:cubicBezTo>
                        <a:pt x="1831" y="431"/>
                        <a:pt x="1848" y="451"/>
                        <a:pt x="1863" y="472"/>
                      </a:cubicBezTo>
                      <a:cubicBezTo>
                        <a:pt x="1870" y="481"/>
                        <a:pt x="1881" y="487"/>
                        <a:pt x="1892" y="487"/>
                      </a:cubicBezTo>
                      <a:cubicBezTo>
                        <a:pt x="1900" y="487"/>
                        <a:pt x="1907" y="484"/>
                        <a:pt x="1914" y="479"/>
                      </a:cubicBezTo>
                      <a:cubicBezTo>
                        <a:pt x="1930" y="468"/>
                        <a:pt x="1933" y="445"/>
                        <a:pt x="1921" y="429"/>
                      </a:cubicBezTo>
                      <a:cubicBezTo>
                        <a:pt x="1895" y="395"/>
                        <a:pt x="1868" y="362"/>
                        <a:pt x="1838" y="331"/>
                      </a:cubicBezTo>
                      <a:close/>
                      <a:moveTo>
                        <a:pt x="2040" y="1401"/>
                      </a:moveTo>
                      <a:cubicBezTo>
                        <a:pt x="2036" y="1399"/>
                        <a:pt x="2032" y="1398"/>
                        <a:pt x="2027" y="1398"/>
                      </a:cubicBezTo>
                      <a:cubicBezTo>
                        <a:pt x="2013" y="1398"/>
                        <a:pt x="1999" y="1407"/>
                        <a:pt x="1994" y="1421"/>
                      </a:cubicBezTo>
                      <a:cubicBezTo>
                        <a:pt x="1989" y="1434"/>
                        <a:pt x="1984" y="1446"/>
                        <a:pt x="1979" y="1458"/>
                      </a:cubicBezTo>
                      <a:cubicBezTo>
                        <a:pt x="1979" y="1458"/>
                        <a:pt x="1979" y="1458"/>
                        <a:pt x="1979" y="1458"/>
                      </a:cubicBezTo>
                      <a:cubicBezTo>
                        <a:pt x="1972" y="1473"/>
                        <a:pt x="1966" y="1488"/>
                        <a:pt x="1958" y="1502"/>
                      </a:cubicBezTo>
                      <a:cubicBezTo>
                        <a:pt x="1958" y="1502"/>
                        <a:pt x="1958" y="1502"/>
                        <a:pt x="1958" y="1502"/>
                      </a:cubicBezTo>
                      <a:cubicBezTo>
                        <a:pt x="1958" y="1502"/>
                        <a:pt x="1958" y="1503"/>
                        <a:pt x="1958" y="1503"/>
                      </a:cubicBezTo>
                      <a:cubicBezTo>
                        <a:pt x="1958" y="1503"/>
                        <a:pt x="1958" y="1503"/>
                        <a:pt x="1958" y="1503"/>
                      </a:cubicBezTo>
                      <a:cubicBezTo>
                        <a:pt x="1958" y="1503"/>
                        <a:pt x="1958" y="1504"/>
                        <a:pt x="1958" y="1504"/>
                      </a:cubicBezTo>
                      <a:cubicBezTo>
                        <a:pt x="1957" y="1504"/>
                        <a:pt x="1957" y="1504"/>
                        <a:pt x="1957" y="1504"/>
                      </a:cubicBezTo>
                      <a:cubicBezTo>
                        <a:pt x="1957" y="1504"/>
                        <a:pt x="1957" y="1504"/>
                        <a:pt x="1957" y="1504"/>
                      </a:cubicBezTo>
                      <a:cubicBezTo>
                        <a:pt x="1957" y="1505"/>
                        <a:pt x="1957" y="1505"/>
                        <a:pt x="1957" y="1505"/>
                      </a:cubicBezTo>
                      <a:cubicBezTo>
                        <a:pt x="1957" y="1505"/>
                        <a:pt x="1957" y="1505"/>
                        <a:pt x="1957" y="1505"/>
                      </a:cubicBezTo>
                      <a:cubicBezTo>
                        <a:pt x="1957" y="1505"/>
                        <a:pt x="1957" y="1505"/>
                        <a:pt x="1957" y="1505"/>
                      </a:cubicBezTo>
                      <a:cubicBezTo>
                        <a:pt x="1957" y="1505"/>
                        <a:pt x="1957" y="1505"/>
                        <a:pt x="1957" y="1505"/>
                      </a:cubicBezTo>
                      <a:cubicBezTo>
                        <a:pt x="1957" y="1506"/>
                        <a:pt x="1957" y="1506"/>
                        <a:pt x="1956" y="1506"/>
                      </a:cubicBezTo>
                      <a:cubicBezTo>
                        <a:pt x="1956" y="1506"/>
                        <a:pt x="1956" y="1506"/>
                        <a:pt x="1956" y="1506"/>
                      </a:cubicBezTo>
                      <a:cubicBezTo>
                        <a:pt x="1956" y="1506"/>
                        <a:pt x="1956" y="1506"/>
                        <a:pt x="1956" y="1507"/>
                      </a:cubicBezTo>
                      <a:cubicBezTo>
                        <a:pt x="1956" y="1507"/>
                        <a:pt x="1956" y="1507"/>
                        <a:pt x="1956" y="1507"/>
                      </a:cubicBezTo>
                      <a:cubicBezTo>
                        <a:pt x="1956" y="1507"/>
                        <a:pt x="1956" y="1507"/>
                        <a:pt x="1956" y="1507"/>
                      </a:cubicBezTo>
                      <a:cubicBezTo>
                        <a:pt x="1956" y="1507"/>
                        <a:pt x="1956" y="1507"/>
                        <a:pt x="1956" y="1507"/>
                      </a:cubicBezTo>
                      <a:cubicBezTo>
                        <a:pt x="1956" y="1507"/>
                        <a:pt x="1956" y="1507"/>
                        <a:pt x="1956" y="1507"/>
                      </a:cubicBezTo>
                      <a:cubicBezTo>
                        <a:pt x="1956" y="1507"/>
                        <a:pt x="1956" y="1507"/>
                        <a:pt x="1956" y="1507"/>
                      </a:cubicBezTo>
                      <a:cubicBezTo>
                        <a:pt x="1956" y="1508"/>
                        <a:pt x="1956" y="1508"/>
                        <a:pt x="1956" y="1508"/>
                      </a:cubicBezTo>
                      <a:cubicBezTo>
                        <a:pt x="1956" y="1508"/>
                        <a:pt x="1956" y="1508"/>
                        <a:pt x="1956" y="1508"/>
                      </a:cubicBezTo>
                      <a:cubicBezTo>
                        <a:pt x="1956" y="1508"/>
                        <a:pt x="1955" y="1508"/>
                        <a:pt x="1955" y="1508"/>
                      </a:cubicBezTo>
                      <a:cubicBezTo>
                        <a:pt x="1955" y="1508"/>
                        <a:pt x="1955" y="1508"/>
                        <a:pt x="1955" y="1508"/>
                      </a:cubicBezTo>
                      <a:cubicBezTo>
                        <a:pt x="1955" y="1508"/>
                        <a:pt x="1955" y="1509"/>
                        <a:pt x="1955" y="1509"/>
                      </a:cubicBezTo>
                      <a:cubicBezTo>
                        <a:pt x="1955" y="1509"/>
                        <a:pt x="1955" y="1509"/>
                        <a:pt x="1955" y="1509"/>
                      </a:cubicBezTo>
                      <a:cubicBezTo>
                        <a:pt x="1955" y="1509"/>
                        <a:pt x="1955" y="1509"/>
                        <a:pt x="1955" y="1509"/>
                      </a:cubicBezTo>
                      <a:cubicBezTo>
                        <a:pt x="1955" y="1509"/>
                        <a:pt x="1955" y="1509"/>
                        <a:pt x="1955" y="1509"/>
                      </a:cubicBezTo>
                      <a:cubicBezTo>
                        <a:pt x="1955" y="1509"/>
                        <a:pt x="1955" y="1509"/>
                        <a:pt x="1955" y="1509"/>
                      </a:cubicBezTo>
                      <a:cubicBezTo>
                        <a:pt x="1955" y="1509"/>
                        <a:pt x="1955" y="1510"/>
                        <a:pt x="1955" y="1510"/>
                      </a:cubicBezTo>
                      <a:cubicBezTo>
                        <a:pt x="1955" y="1510"/>
                        <a:pt x="1955" y="1510"/>
                        <a:pt x="1955" y="1510"/>
                      </a:cubicBezTo>
                      <a:cubicBezTo>
                        <a:pt x="1955" y="1510"/>
                        <a:pt x="1955" y="1510"/>
                        <a:pt x="1955" y="1510"/>
                      </a:cubicBezTo>
                      <a:cubicBezTo>
                        <a:pt x="1955" y="1510"/>
                        <a:pt x="1954" y="1510"/>
                        <a:pt x="1954" y="1510"/>
                      </a:cubicBezTo>
                      <a:cubicBezTo>
                        <a:pt x="1954" y="1510"/>
                        <a:pt x="1954" y="1510"/>
                        <a:pt x="1954" y="1511"/>
                      </a:cubicBezTo>
                      <a:cubicBezTo>
                        <a:pt x="1954" y="1511"/>
                        <a:pt x="1954" y="1511"/>
                        <a:pt x="1954" y="1511"/>
                      </a:cubicBezTo>
                      <a:cubicBezTo>
                        <a:pt x="1954" y="1511"/>
                        <a:pt x="1954" y="1511"/>
                        <a:pt x="1954" y="1511"/>
                      </a:cubicBezTo>
                      <a:cubicBezTo>
                        <a:pt x="1954" y="1511"/>
                        <a:pt x="1954" y="1511"/>
                        <a:pt x="1954" y="1511"/>
                      </a:cubicBezTo>
                      <a:cubicBezTo>
                        <a:pt x="1954" y="1511"/>
                        <a:pt x="1954" y="1511"/>
                        <a:pt x="1954" y="1511"/>
                      </a:cubicBezTo>
                      <a:cubicBezTo>
                        <a:pt x="1954" y="1511"/>
                        <a:pt x="1954" y="1511"/>
                        <a:pt x="1954" y="1511"/>
                      </a:cubicBezTo>
                      <a:cubicBezTo>
                        <a:pt x="1954" y="1512"/>
                        <a:pt x="1954" y="1512"/>
                        <a:pt x="1954" y="1512"/>
                      </a:cubicBezTo>
                      <a:cubicBezTo>
                        <a:pt x="1954" y="1512"/>
                        <a:pt x="1954" y="1512"/>
                        <a:pt x="1954" y="1512"/>
                      </a:cubicBezTo>
                      <a:cubicBezTo>
                        <a:pt x="1953" y="1512"/>
                        <a:pt x="1953" y="1513"/>
                        <a:pt x="1953" y="1513"/>
                      </a:cubicBezTo>
                      <a:cubicBezTo>
                        <a:pt x="1953" y="1513"/>
                        <a:pt x="1953" y="1513"/>
                        <a:pt x="1953" y="1513"/>
                      </a:cubicBezTo>
                      <a:cubicBezTo>
                        <a:pt x="1953" y="1513"/>
                        <a:pt x="1953" y="1513"/>
                        <a:pt x="1953" y="1514"/>
                      </a:cubicBezTo>
                      <a:cubicBezTo>
                        <a:pt x="1953" y="1514"/>
                        <a:pt x="1953" y="1514"/>
                        <a:pt x="1953" y="1514"/>
                      </a:cubicBezTo>
                      <a:cubicBezTo>
                        <a:pt x="1950" y="1519"/>
                        <a:pt x="1947" y="1525"/>
                        <a:pt x="1944" y="1531"/>
                      </a:cubicBezTo>
                      <a:cubicBezTo>
                        <a:pt x="1935" y="1548"/>
                        <a:pt x="1941" y="1570"/>
                        <a:pt x="1959" y="1579"/>
                      </a:cubicBezTo>
                      <a:cubicBezTo>
                        <a:pt x="1964" y="1582"/>
                        <a:pt x="1970" y="1583"/>
                        <a:pt x="1976" y="1583"/>
                      </a:cubicBezTo>
                      <a:cubicBezTo>
                        <a:pt x="1989" y="1583"/>
                        <a:pt x="2001" y="1576"/>
                        <a:pt x="2008" y="1564"/>
                      </a:cubicBezTo>
                      <a:cubicBezTo>
                        <a:pt x="2028" y="1526"/>
                        <a:pt x="2046" y="1487"/>
                        <a:pt x="2061" y="1447"/>
                      </a:cubicBezTo>
                      <a:cubicBezTo>
                        <a:pt x="2068" y="1429"/>
                        <a:pt x="2059" y="1408"/>
                        <a:pt x="2040" y="1401"/>
                      </a:cubicBezTo>
                      <a:close/>
                      <a:moveTo>
                        <a:pt x="199" y="509"/>
                      </a:moveTo>
                      <a:cubicBezTo>
                        <a:pt x="206" y="513"/>
                        <a:pt x="213" y="515"/>
                        <a:pt x="220" y="515"/>
                      </a:cubicBezTo>
                      <a:cubicBezTo>
                        <a:pt x="231" y="515"/>
                        <a:pt x="242" y="510"/>
                        <a:pt x="249" y="500"/>
                      </a:cubicBezTo>
                      <a:cubicBezTo>
                        <a:pt x="250" y="499"/>
                        <a:pt x="251" y="497"/>
                        <a:pt x="252" y="496"/>
                      </a:cubicBezTo>
                      <a:cubicBezTo>
                        <a:pt x="252" y="496"/>
                        <a:pt x="252" y="496"/>
                        <a:pt x="252" y="496"/>
                      </a:cubicBezTo>
                      <a:cubicBezTo>
                        <a:pt x="252" y="496"/>
                        <a:pt x="252" y="496"/>
                        <a:pt x="252" y="496"/>
                      </a:cubicBezTo>
                      <a:cubicBezTo>
                        <a:pt x="252" y="496"/>
                        <a:pt x="252" y="496"/>
                        <a:pt x="252" y="496"/>
                      </a:cubicBezTo>
                      <a:cubicBezTo>
                        <a:pt x="253" y="495"/>
                        <a:pt x="254" y="494"/>
                        <a:pt x="254" y="493"/>
                      </a:cubicBezTo>
                      <a:cubicBezTo>
                        <a:pt x="254" y="493"/>
                        <a:pt x="254" y="493"/>
                        <a:pt x="254" y="493"/>
                      </a:cubicBezTo>
                      <a:cubicBezTo>
                        <a:pt x="254" y="492"/>
                        <a:pt x="255" y="492"/>
                        <a:pt x="255" y="492"/>
                      </a:cubicBezTo>
                      <a:cubicBezTo>
                        <a:pt x="255" y="492"/>
                        <a:pt x="255" y="492"/>
                        <a:pt x="255" y="492"/>
                      </a:cubicBezTo>
                      <a:cubicBezTo>
                        <a:pt x="255" y="492"/>
                        <a:pt x="255" y="492"/>
                        <a:pt x="255" y="492"/>
                      </a:cubicBezTo>
                      <a:cubicBezTo>
                        <a:pt x="255" y="492"/>
                        <a:pt x="255" y="492"/>
                        <a:pt x="255" y="492"/>
                      </a:cubicBezTo>
                      <a:cubicBezTo>
                        <a:pt x="255" y="492"/>
                        <a:pt x="255" y="491"/>
                        <a:pt x="255" y="491"/>
                      </a:cubicBezTo>
                      <a:cubicBezTo>
                        <a:pt x="255" y="491"/>
                        <a:pt x="255" y="491"/>
                        <a:pt x="255" y="491"/>
                      </a:cubicBezTo>
                      <a:cubicBezTo>
                        <a:pt x="256" y="491"/>
                        <a:pt x="256" y="490"/>
                        <a:pt x="257" y="489"/>
                      </a:cubicBezTo>
                      <a:cubicBezTo>
                        <a:pt x="257" y="489"/>
                        <a:pt x="257" y="489"/>
                        <a:pt x="257" y="489"/>
                      </a:cubicBezTo>
                      <a:cubicBezTo>
                        <a:pt x="257" y="489"/>
                        <a:pt x="257" y="489"/>
                        <a:pt x="257" y="489"/>
                      </a:cubicBezTo>
                      <a:cubicBezTo>
                        <a:pt x="257" y="489"/>
                        <a:pt x="257" y="489"/>
                        <a:pt x="257" y="489"/>
                      </a:cubicBezTo>
                      <a:cubicBezTo>
                        <a:pt x="257" y="489"/>
                        <a:pt x="257" y="488"/>
                        <a:pt x="257" y="488"/>
                      </a:cubicBezTo>
                      <a:cubicBezTo>
                        <a:pt x="257" y="488"/>
                        <a:pt x="257" y="488"/>
                        <a:pt x="257" y="488"/>
                      </a:cubicBezTo>
                      <a:cubicBezTo>
                        <a:pt x="257" y="488"/>
                        <a:pt x="258" y="488"/>
                        <a:pt x="258" y="488"/>
                      </a:cubicBezTo>
                      <a:cubicBezTo>
                        <a:pt x="258" y="488"/>
                        <a:pt x="258" y="488"/>
                        <a:pt x="258" y="488"/>
                      </a:cubicBezTo>
                      <a:cubicBezTo>
                        <a:pt x="258" y="487"/>
                        <a:pt x="259" y="486"/>
                        <a:pt x="259" y="486"/>
                      </a:cubicBezTo>
                      <a:cubicBezTo>
                        <a:pt x="259" y="486"/>
                        <a:pt x="259" y="486"/>
                        <a:pt x="259" y="486"/>
                      </a:cubicBezTo>
                      <a:cubicBezTo>
                        <a:pt x="259" y="486"/>
                        <a:pt x="259" y="485"/>
                        <a:pt x="259" y="485"/>
                      </a:cubicBezTo>
                      <a:cubicBezTo>
                        <a:pt x="260" y="485"/>
                        <a:pt x="260" y="485"/>
                        <a:pt x="260" y="485"/>
                      </a:cubicBezTo>
                      <a:cubicBezTo>
                        <a:pt x="260" y="485"/>
                        <a:pt x="260" y="485"/>
                        <a:pt x="260" y="485"/>
                      </a:cubicBezTo>
                      <a:cubicBezTo>
                        <a:pt x="260" y="485"/>
                        <a:pt x="260" y="485"/>
                        <a:pt x="260" y="485"/>
                      </a:cubicBezTo>
                      <a:cubicBezTo>
                        <a:pt x="260" y="485"/>
                        <a:pt x="260" y="485"/>
                        <a:pt x="260" y="484"/>
                      </a:cubicBezTo>
                      <a:cubicBezTo>
                        <a:pt x="260" y="484"/>
                        <a:pt x="260" y="484"/>
                        <a:pt x="260" y="484"/>
                      </a:cubicBezTo>
                      <a:cubicBezTo>
                        <a:pt x="260" y="484"/>
                        <a:pt x="260" y="484"/>
                        <a:pt x="260" y="484"/>
                      </a:cubicBezTo>
                      <a:cubicBezTo>
                        <a:pt x="260" y="484"/>
                        <a:pt x="260" y="484"/>
                        <a:pt x="260" y="484"/>
                      </a:cubicBezTo>
                      <a:cubicBezTo>
                        <a:pt x="261" y="483"/>
                        <a:pt x="261" y="483"/>
                        <a:pt x="262" y="482"/>
                      </a:cubicBezTo>
                      <a:cubicBezTo>
                        <a:pt x="262" y="482"/>
                        <a:pt x="262" y="482"/>
                        <a:pt x="262" y="482"/>
                      </a:cubicBezTo>
                      <a:cubicBezTo>
                        <a:pt x="262" y="482"/>
                        <a:pt x="262" y="482"/>
                        <a:pt x="262" y="481"/>
                      </a:cubicBezTo>
                      <a:cubicBezTo>
                        <a:pt x="262" y="481"/>
                        <a:pt x="262" y="481"/>
                        <a:pt x="262" y="481"/>
                      </a:cubicBezTo>
                      <a:cubicBezTo>
                        <a:pt x="262" y="481"/>
                        <a:pt x="262" y="481"/>
                        <a:pt x="263" y="481"/>
                      </a:cubicBezTo>
                      <a:cubicBezTo>
                        <a:pt x="263" y="481"/>
                        <a:pt x="263" y="481"/>
                        <a:pt x="263" y="481"/>
                      </a:cubicBezTo>
                      <a:cubicBezTo>
                        <a:pt x="263" y="481"/>
                        <a:pt x="263" y="481"/>
                        <a:pt x="263" y="481"/>
                      </a:cubicBezTo>
                      <a:cubicBezTo>
                        <a:pt x="263" y="481"/>
                        <a:pt x="263" y="481"/>
                        <a:pt x="263" y="481"/>
                      </a:cubicBezTo>
                      <a:cubicBezTo>
                        <a:pt x="263" y="480"/>
                        <a:pt x="263" y="480"/>
                        <a:pt x="263" y="480"/>
                      </a:cubicBezTo>
                      <a:cubicBezTo>
                        <a:pt x="263" y="480"/>
                        <a:pt x="263" y="480"/>
                        <a:pt x="263" y="480"/>
                      </a:cubicBezTo>
                      <a:cubicBezTo>
                        <a:pt x="264" y="480"/>
                        <a:pt x="264" y="479"/>
                        <a:pt x="264" y="478"/>
                      </a:cubicBezTo>
                      <a:cubicBezTo>
                        <a:pt x="264" y="478"/>
                        <a:pt x="264" y="478"/>
                        <a:pt x="264" y="478"/>
                      </a:cubicBezTo>
                      <a:cubicBezTo>
                        <a:pt x="265" y="478"/>
                        <a:pt x="265" y="478"/>
                        <a:pt x="265" y="478"/>
                      </a:cubicBezTo>
                      <a:cubicBezTo>
                        <a:pt x="265" y="478"/>
                        <a:pt x="265" y="478"/>
                        <a:pt x="265" y="478"/>
                      </a:cubicBezTo>
                      <a:cubicBezTo>
                        <a:pt x="265" y="478"/>
                        <a:pt x="265" y="478"/>
                        <a:pt x="265" y="478"/>
                      </a:cubicBezTo>
                      <a:cubicBezTo>
                        <a:pt x="265" y="478"/>
                        <a:pt x="265" y="478"/>
                        <a:pt x="265" y="478"/>
                      </a:cubicBezTo>
                      <a:cubicBezTo>
                        <a:pt x="265" y="477"/>
                        <a:pt x="265" y="477"/>
                        <a:pt x="265" y="477"/>
                      </a:cubicBezTo>
                      <a:cubicBezTo>
                        <a:pt x="265" y="477"/>
                        <a:pt x="265" y="477"/>
                        <a:pt x="265" y="477"/>
                      </a:cubicBezTo>
                      <a:cubicBezTo>
                        <a:pt x="284" y="452"/>
                        <a:pt x="303" y="428"/>
                        <a:pt x="323" y="405"/>
                      </a:cubicBezTo>
                      <a:cubicBezTo>
                        <a:pt x="336" y="390"/>
                        <a:pt x="335" y="368"/>
                        <a:pt x="320" y="354"/>
                      </a:cubicBezTo>
                      <a:cubicBezTo>
                        <a:pt x="313" y="348"/>
                        <a:pt x="305" y="345"/>
                        <a:pt x="296" y="345"/>
                      </a:cubicBezTo>
                      <a:cubicBezTo>
                        <a:pt x="286" y="345"/>
                        <a:pt x="276" y="350"/>
                        <a:pt x="269" y="358"/>
                      </a:cubicBezTo>
                      <a:cubicBezTo>
                        <a:pt x="241" y="390"/>
                        <a:pt x="214" y="424"/>
                        <a:pt x="190" y="459"/>
                      </a:cubicBezTo>
                      <a:cubicBezTo>
                        <a:pt x="179" y="475"/>
                        <a:pt x="183" y="498"/>
                        <a:pt x="199" y="509"/>
                      </a:cubicBezTo>
                      <a:close/>
                      <a:moveTo>
                        <a:pt x="36" y="1058"/>
                      </a:moveTo>
                      <a:cubicBezTo>
                        <a:pt x="36" y="1058"/>
                        <a:pt x="37" y="1058"/>
                        <a:pt x="37" y="1058"/>
                      </a:cubicBezTo>
                      <a:cubicBezTo>
                        <a:pt x="56" y="1058"/>
                        <a:pt x="72" y="1043"/>
                        <a:pt x="73" y="1024"/>
                      </a:cubicBezTo>
                      <a:cubicBezTo>
                        <a:pt x="74" y="1005"/>
                        <a:pt x="75" y="986"/>
                        <a:pt x="77" y="968"/>
                      </a:cubicBezTo>
                      <a:cubicBezTo>
                        <a:pt x="77" y="968"/>
                        <a:pt x="77" y="968"/>
                        <a:pt x="77" y="968"/>
                      </a:cubicBezTo>
                      <a:cubicBezTo>
                        <a:pt x="77" y="967"/>
                        <a:pt x="77" y="966"/>
                        <a:pt x="77" y="966"/>
                      </a:cubicBezTo>
                      <a:cubicBezTo>
                        <a:pt x="77" y="966"/>
                        <a:pt x="77" y="966"/>
                        <a:pt x="77" y="966"/>
                      </a:cubicBezTo>
                      <a:cubicBezTo>
                        <a:pt x="77" y="966"/>
                        <a:pt x="77" y="965"/>
                        <a:pt x="77" y="965"/>
                      </a:cubicBezTo>
                      <a:cubicBezTo>
                        <a:pt x="77" y="965"/>
                        <a:pt x="77" y="965"/>
                        <a:pt x="77" y="965"/>
                      </a:cubicBezTo>
                      <a:cubicBezTo>
                        <a:pt x="77" y="965"/>
                        <a:pt x="77" y="964"/>
                        <a:pt x="78" y="964"/>
                      </a:cubicBezTo>
                      <a:cubicBezTo>
                        <a:pt x="78" y="964"/>
                        <a:pt x="78" y="964"/>
                        <a:pt x="78" y="964"/>
                      </a:cubicBezTo>
                      <a:cubicBezTo>
                        <a:pt x="78" y="964"/>
                        <a:pt x="78" y="964"/>
                        <a:pt x="78" y="963"/>
                      </a:cubicBezTo>
                      <a:cubicBezTo>
                        <a:pt x="78" y="963"/>
                        <a:pt x="78" y="963"/>
                        <a:pt x="78" y="963"/>
                      </a:cubicBezTo>
                      <a:cubicBezTo>
                        <a:pt x="78" y="963"/>
                        <a:pt x="78" y="963"/>
                        <a:pt x="78" y="963"/>
                      </a:cubicBezTo>
                      <a:cubicBezTo>
                        <a:pt x="78" y="963"/>
                        <a:pt x="78" y="963"/>
                        <a:pt x="78" y="963"/>
                      </a:cubicBezTo>
                      <a:cubicBezTo>
                        <a:pt x="78" y="963"/>
                        <a:pt x="78" y="962"/>
                        <a:pt x="78" y="962"/>
                      </a:cubicBezTo>
                      <a:cubicBezTo>
                        <a:pt x="78" y="962"/>
                        <a:pt x="78" y="962"/>
                        <a:pt x="78" y="962"/>
                      </a:cubicBezTo>
                      <a:cubicBezTo>
                        <a:pt x="78" y="962"/>
                        <a:pt x="78" y="962"/>
                        <a:pt x="78" y="962"/>
                      </a:cubicBezTo>
                      <a:cubicBezTo>
                        <a:pt x="78" y="962"/>
                        <a:pt x="78" y="962"/>
                        <a:pt x="78" y="962"/>
                      </a:cubicBezTo>
                      <a:cubicBezTo>
                        <a:pt x="78" y="961"/>
                        <a:pt x="78" y="961"/>
                        <a:pt x="78" y="961"/>
                      </a:cubicBezTo>
                      <a:cubicBezTo>
                        <a:pt x="78" y="961"/>
                        <a:pt x="78" y="961"/>
                        <a:pt x="78" y="961"/>
                      </a:cubicBezTo>
                      <a:cubicBezTo>
                        <a:pt x="78" y="961"/>
                        <a:pt x="78" y="961"/>
                        <a:pt x="78" y="960"/>
                      </a:cubicBezTo>
                      <a:cubicBezTo>
                        <a:pt x="78" y="960"/>
                        <a:pt x="78" y="960"/>
                        <a:pt x="78" y="960"/>
                      </a:cubicBezTo>
                      <a:cubicBezTo>
                        <a:pt x="78" y="960"/>
                        <a:pt x="78" y="960"/>
                        <a:pt x="78" y="960"/>
                      </a:cubicBezTo>
                      <a:cubicBezTo>
                        <a:pt x="78" y="960"/>
                        <a:pt x="78" y="960"/>
                        <a:pt x="78" y="960"/>
                      </a:cubicBezTo>
                      <a:cubicBezTo>
                        <a:pt x="78" y="960"/>
                        <a:pt x="78" y="959"/>
                        <a:pt x="78" y="959"/>
                      </a:cubicBezTo>
                      <a:cubicBezTo>
                        <a:pt x="78" y="959"/>
                        <a:pt x="78" y="959"/>
                        <a:pt x="78" y="959"/>
                      </a:cubicBezTo>
                      <a:cubicBezTo>
                        <a:pt x="78" y="959"/>
                        <a:pt x="78" y="959"/>
                        <a:pt x="78" y="958"/>
                      </a:cubicBezTo>
                      <a:cubicBezTo>
                        <a:pt x="78" y="958"/>
                        <a:pt x="78" y="958"/>
                        <a:pt x="78" y="958"/>
                      </a:cubicBezTo>
                      <a:cubicBezTo>
                        <a:pt x="78" y="958"/>
                        <a:pt x="78" y="958"/>
                        <a:pt x="78" y="958"/>
                      </a:cubicBezTo>
                      <a:cubicBezTo>
                        <a:pt x="78" y="958"/>
                        <a:pt x="78" y="958"/>
                        <a:pt x="78" y="958"/>
                      </a:cubicBezTo>
                      <a:cubicBezTo>
                        <a:pt x="78" y="958"/>
                        <a:pt x="78" y="958"/>
                        <a:pt x="78" y="957"/>
                      </a:cubicBezTo>
                      <a:cubicBezTo>
                        <a:pt x="78" y="957"/>
                        <a:pt x="78" y="957"/>
                        <a:pt x="78" y="957"/>
                      </a:cubicBezTo>
                      <a:cubicBezTo>
                        <a:pt x="78" y="957"/>
                        <a:pt x="78" y="957"/>
                        <a:pt x="78" y="957"/>
                      </a:cubicBezTo>
                      <a:cubicBezTo>
                        <a:pt x="78" y="957"/>
                        <a:pt x="78" y="957"/>
                        <a:pt x="78" y="957"/>
                      </a:cubicBezTo>
                      <a:cubicBezTo>
                        <a:pt x="78" y="957"/>
                        <a:pt x="78" y="957"/>
                        <a:pt x="78" y="956"/>
                      </a:cubicBezTo>
                      <a:cubicBezTo>
                        <a:pt x="78" y="956"/>
                        <a:pt x="78" y="956"/>
                        <a:pt x="78" y="956"/>
                      </a:cubicBezTo>
                      <a:cubicBezTo>
                        <a:pt x="78" y="956"/>
                        <a:pt x="78" y="956"/>
                        <a:pt x="78" y="956"/>
                      </a:cubicBezTo>
                      <a:cubicBezTo>
                        <a:pt x="78" y="956"/>
                        <a:pt x="78" y="956"/>
                        <a:pt x="78" y="956"/>
                      </a:cubicBezTo>
                      <a:cubicBezTo>
                        <a:pt x="78" y="956"/>
                        <a:pt x="78" y="956"/>
                        <a:pt x="78" y="956"/>
                      </a:cubicBezTo>
                      <a:cubicBezTo>
                        <a:pt x="78" y="956"/>
                        <a:pt x="78" y="955"/>
                        <a:pt x="78" y="955"/>
                      </a:cubicBezTo>
                      <a:cubicBezTo>
                        <a:pt x="78" y="955"/>
                        <a:pt x="78" y="955"/>
                        <a:pt x="78" y="955"/>
                      </a:cubicBezTo>
                      <a:cubicBezTo>
                        <a:pt x="78" y="955"/>
                        <a:pt x="78" y="955"/>
                        <a:pt x="78" y="955"/>
                      </a:cubicBezTo>
                      <a:cubicBezTo>
                        <a:pt x="78" y="955"/>
                        <a:pt x="78" y="955"/>
                        <a:pt x="79" y="955"/>
                      </a:cubicBezTo>
                      <a:cubicBezTo>
                        <a:pt x="79" y="955"/>
                        <a:pt x="79" y="955"/>
                        <a:pt x="79" y="954"/>
                      </a:cubicBezTo>
                      <a:cubicBezTo>
                        <a:pt x="79" y="954"/>
                        <a:pt x="79" y="954"/>
                        <a:pt x="79" y="954"/>
                      </a:cubicBezTo>
                      <a:cubicBezTo>
                        <a:pt x="79" y="954"/>
                        <a:pt x="79" y="954"/>
                        <a:pt x="79" y="954"/>
                      </a:cubicBezTo>
                      <a:cubicBezTo>
                        <a:pt x="79" y="954"/>
                        <a:pt x="79" y="954"/>
                        <a:pt x="79" y="954"/>
                      </a:cubicBezTo>
                      <a:cubicBezTo>
                        <a:pt x="79" y="954"/>
                        <a:pt x="79" y="954"/>
                        <a:pt x="79" y="954"/>
                      </a:cubicBezTo>
                      <a:cubicBezTo>
                        <a:pt x="79" y="953"/>
                        <a:pt x="79" y="953"/>
                        <a:pt x="79" y="953"/>
                      </a:cubicBezTo>
                      <a:cubicBezTo>
                        <a:pt x="79" y="953"/>
                        <a:pt x="79" y="953"/>
                        <a:pt x="79" y="953"/>
                      </a:cubicBezTo>
                      <a:cubicBezTo>
                        <a:pt x="79" y="953"/>
                        <a:pt x="79" y="953"/>
                        <a:pt x="79" y="953"/>
                      </a:cubicBezTo>
                      <a:cubicBezTo>
                        <a:pt x="79" y="953"/>
                        <a:pt x="79" y="953"/>
                        <a:pt x="79" y="953"/>
                      </a:cubicBezTo>
                      <a:cubicBezTo>
                        <a:pt x="79" y="952"/>
                        <a:pt x="79" y="952"/>
                        <a:pt x="79" y="952"/>
                      </a:cubicBezTo>
                      <a:cubicBezTo>
                        <a:pt x="79" y="952"/>
                        <a:pt x="79" y="952"/>
                        <a:pt x="79" y="952"/>
                      </a:cubicBezTo>
                      <a:cubicBezTo>
                        <a:pt x="79" y="952"/>
                        <a:pt x="79" y="952"/>
                        <a:pt x="79" y="952"/>
                      </a:cubicBezTo>
                      <a:cubicBezTo>
                        <a:pt x="79" y="952"/>
                        <a:pt x="79" y="952"/>
                        <a:pt x="79" y="952"/>
                      </a:cubicBezTo>
                      <a:cubicBezTo>
                        <a:pt x="79" y="952"/>
                        <a:pt x="79" y="952"/>
                        <a:pt x="79" y="951"/>
                      </a:cubicBezTo>
                      <a:cubicBezTo>
                        <a:pt x="79" y="951"/>
                        <a:pt x="79" y="951"/>
                        <a:pt x="79" y="951"/>
                      </a:cubicBezTo>
                      <a:cubicBezTo>
                        <a:pt x="79" y="951"/>
                        <a:pt x="79" y="951"/>
                        <a:pt x="79" y="951"/>
                      </a:cubicBezTo>
                      <a:cubicBezTo>
                        <a:pt x="79" y="951"/>
                        <a:pt x="79" y="951"/>
                        <a:pt x="79" y="951"/>
                      </a:cubicBezTo>
                      <a:cubicBezTo>
                        <a:pt x="79" y="951"/>
                        <a:pt x="79" y="951"/>
                        <a:pt x="79" y="950"/>
                      </a:cubicBezTo>
                      <a:cubicBezTo>
                        <a:pt x="79" y="950"/>
                        <a:pt x="79" y="950"/>
                        <a:pt x="79" y="950"/>
                      </a:cubicBezTo>
                      <a:cubicBezTo>
                        <a:pt x="79" y="950"/>
                        <a:pt x="79" y="950"/>
                        <a:pt x="79" y="950"/>
                      </a:cubicBezTo>
                      <a:cubicBezTo>
                        <a:pt x="79" y="950"/>
                        <a:pt x="79" y="950"/>
                        <a:pt x="79" y="950"/>
                      </a:cubicBezTo>
                      <a:cubicBezTo>
                        <a:pt x="79" y="950"/>
                        <a:pt x="79" y="950"/>
                        <a:pt x="79" y="950"/>
                      </a:cubicBezTo>
                      <a:cubicBezTo>
                        <a:pt x="79" y="950"/>
                        <a:pt x="79" y="949"/>
                        <a:pt x="79" y="949"/>
                      </a:cubicBezTo>
                      <a:cubicBezTo>
                        <a:pt x="79" y="949"/>
                        <a:pt x="79" y="949"/>
                        <a:pt x="79" y="949"/>
                      </a:cubicBezTo>
                      <a:cubicBezTo>
                        <a:pt x="79" y="949"/>
                        <a:pt x="79" y="949"/>
                        <a:pt x="79" y="949"/>
                      </a:cubicBezTo>
                      <a:cubicBezTo>
                        <a:pt x="79" y="949"/>
                        <a:pt x="79" y="949"/>
                        <a:pt x="79" y="949"/>
                      </a:cubicBezTo>
                      <a:cubicBezTo>
                        <a:pt x="79" y="949"/>
                        <a:pt x="79" y="948"/>
                        <a:pt x="79" y="948"/>
                      </a:cubicBezTo>
                      <a:cubicBezTo>
                        <a:pt x="79" y="948"/>
                        <a:pt x="79" y="948"/>
                        <a:pt x="79" y="948"/>
                      </a:cubicBezTo>
                      <a:cubicBezTo>
                        <a:pt x="79" y="948"/>
                        <a:pt x="79" y="948"/>
                        <a:pt x="79" y="948"/>
                      </a:cubicBezTo>
                      <a:cubicBezTo>
                        <a:pt x="79" y="948"/>
                        <a:pt x="79" y="948"/>
                        <a:pt x="79" y="948"/>
                      </a:cubicBezTo>
                      <a:cubicBezTo>
                        <a:pt x="79" y="948"/>
                        <a:pt x="79" y="948"/>
                        <a:pt x="79" y="948"/>
                      </a:cubicBezTo>
                      <a:cubicBezTo>
                        <a:pt x="79" y="947"/>
                        <a:pt x="79" y="947"/>
                        <a:pt x="79" y="947"/>
                      </a:cubicBezTo>
                      <a:cubicBezTo>
                        <a:pt x="79" y="947"/>
                        <a:pt x="79" y="947"/>
                        <a:pt x="79" y="947"/>
                      </a:cubicBezTo>
                      <a:cubicBezTo>
                        <a:pt x="79" y="947"/>
                        <a:pt x="79" y="947"/>
                        <a:pt x="79" y="947"/>
                      </a:cubicBezTo>
                      <a:cubicBezTo>
                        <a:pt x="79" y="947"/>
                        <a:pt x="79" y="947"/>
                        <a:pt x="79" y="947"/>
                      </a:cubicBezTo>
                      <a:cubicBezTo>
                        <a:pt x="79" y="946"/>
                        <a:pt x="79" y="946"/>
                        <a:pt x="79" y="946"/>
                      </a:cubicBezTo>
                      <a:cubicBezTo>
                        <a:pt x="79" y="946"/>
                        <a:pt x="79" y="946"/>
                        <a:pt x="80" y="946"/>
                      </a:cubicBezTo>
                      <a:cubicBezTo>
                        <a:pt x="80" y="946"/>
                        <a:pt x="80" y="946"/>
                        <a:pt x="80" y="946"/>
                      </a:cubicBezTo>
                      <a:cubicBezTo>
                        <a:pt x="80" y="946"/>
                        <a:pt x="80" y="946"/>
                        <a:pt x="80" y="946"/>
                      </a:cubicBezTo>
                      <a:cubicBezTo>
                        <a:pt x="80" y="946"/>
                        <a:pt x="80" y="945"/>
                        <a:pt x="80" y="945"/>
                      </a:cubicBezTo>
                      <a:cubicBezTo>
                        <a:pt x="80" y="945"/>
                        <a:pt x="80" y="945"/>
                        <a:pt x="80" y="945"/>
                      </a:cubicBezTo>
                      <a:cubicBezTo>
                        <a:pt x="80" y="945"/>
                        <a:pt x="80" y="945"/>
                        <a:pt x="80" y="945"/>
                      </a:cubicBezTo>
                      <a:cubicBezTo>
                        <a:pt x="80" y="945"/>
                        <a:pt x="80" y="945"/>
                        <a:pt x="80" y="945"/>
                      </a:cubicBezTo>
                      <a:cubicBezTo>
                        <a:pt x="80" y="945"/>
                        <a:pt x="80" y="945"/>
                        <a:pt x="80" y="944"/>
                      </a:cubicBezTo>
                      <a:cubicBezTo>
                        <a:pt x="80" y="944"/>
                        <a:pt x="80" y="944"/>
                        <a:pt x="80" y="944"/>
                      </a:cubicBezTo>
                      <a:cubicBezTo>
                        <a:pt x="80" y="944"/>
                        <a:pt x="80" y="944"/>
                        <a:pt x="80" y="944"/>
                      </a:cubicBezTo>
                      <a:cubicBezTo>
                        <a:pt x="80" y="944"/>
                        <a:pt x="80" y="944"/>
                        <a:pt x="80" y="944"/>
                      </a:cubicBezTo>
                      <a:cubicBezTo>
                        <a:pt x="80" y="944"/>
                        <a:pt x="80" y="944"/>
                        <a:pt x="80" y="944"/>
                      </a:cubicBezTo>
                      <a:cubicBezTo>
                        <a:pt x="80" y="943"/>
                        <a:pt x="80" y="943"/>
                        <a:pt x="80" y="943"/>
                      </a:cubicBezTo>
                      <a:cubicBezTo>
                        <a:pt x="80" y="943"/>
                        <a:pt x="80" y="943"/>
                        <a:pt x="80" y="943"/>
                      </a:cubicBezTo>
                      <a:cubicBezTo>
                        <a:pt x="80" y="943"/>
                        <a:pt x="80" y="943"/>
                        <a:pt x="80" y="943"/>
                      </a:cubicBezTo>
                      <a:cubicBezTo>
                        <a:pt x="80" y="943"/>
                        <a:pt x="80" y="943"/>
                        <a:pt x="80" y="943"/>
                      </a:cubicBezTo>
                      <a:cubicBezTo>
                        <a:pt x="80" y="942"/>
                        <a:pt x="80" y="942"/>
                        <a:pt x="80" y="942"/>
                      </a:cubicBezTo>
                      <a:cubicBezTo>
                        <a:pt x="80" y="942"/>
                        <a:pt x="80" y="942"/>
                        <a:pt x="80" y="942"/>
                      </a:cubicBezTo>
                      <a:cubicBezTo>
                        <a:pt x="80" y="942"/>
                        <a:pt x="80" y="942"/>
                        <a:pt x="80" y="942"/>
                      </a:cubicBezTo>
                      <a:cubicBezTo>
                        <a:pt x="80" y="942"/>
                        <a:pt x="80" y="942"/>
                        <a:pt x="80" y="942"/>
                      </a:cubicBezTo>
                      <a:cubicBezTo>
                        <a:pt x="80" y="942"/>
                        <a:pt x="80" y="942"/>
                        <a:pt x="80" y="941"/>
                      </a:cubicBezTo>
                      <a:cubicBezTo>
                        <a:pt x="80" y="941"/>
                        <a:pt x="80" y="941"/>
                        <a:pt x="80" y="941"/>
                      </a:cubicBezTo>
                      <a:cubicBezTo>
                        <a:pt x="80" y="941"/>
                        <a:pt x="80" y="941"/>
                        <a:pt x="80" y="941"/>
                      </a:cubicBezTo>
                      <a:cubicBezTo>
                        <a:pt x="80" y="941"/>
                        <a:pt x="80" y="941"/>
                        <a:pt x="80" y="941"/>
                      </a:cubicBezTo>
                      <a:cubicBezTo>
                        <a:pt x="80" y="941"/>
                        <a:pt x="80" y="941"/>
                        <a:pt x="80" y="940"/>
                      </a:cubicBezTo>
                      <a:cubicBezTo>
                        <a:pt x="80" y="940"/>
                        <a:pt x="80" y="940"/>
                        <a:pt x="80" y="940"/>
                      </a:cubicBezTo>
                      <a:cubicBezTo>
                        <a:pt x="80" y="940"/>
                        <a:pt x="80" y="940"/>
                        <a:pt x="80" y="940"/>
                      </a:cubicBezTo>
                      <a:cubicBezTo>
                        <a:pt x="80" y="940"/>
                        <a:pt x="80" y="940"/>
                        <a:pt x="80" y="940"/>
                      </a:cubicBezTo>
                      <a:cubicBezTo>
                        <a:pt x="80" y="940"/>
                        <a:pt x="80" y="940"/>
                        <a:pt x="80" y="940"/>
                      </a:cubicBezTo>
                      <a:cubicBezTo>
                        <a:pt x="80" y="939"/>
                        <a:pt x="80" y="939"/>
                        <a:pt x="80" y="939"/>
                      </a:cubicBezTo>
                      <a:cubicBezTo>
                        <a:pt x="80" y="939"/>
                        <a:pt x="80" y="939"/>
                        <a:pt x="80" y="939"/>
                      </a:cubicBezTo>
                      <a:cubicBezTo>
                        <a:pt x="80" y="939"/>
                        <a:pt x="80" y="939"/>
                        <a:pt x="80" y="939"/>
                      </a:cubicBezTo>
                      <a:cubicBezTo>
                        <a:pt x="80" y="939"/>
                        <a:pt x="80" y="939"/>
                        <a:pt x="80" y="939"/>
                      </a:cubicBezTo>
                      <a:cubicBezTo>
                        <a:pt x="80" y="939"/>
                        <a:pt x="80" y="938"/>
                        <a:pt x="80" y="938"/>
                      </a:cubicBezTo>
                      <a:cubicBezTo>
                        <a:pt x="80" y="938"/>
                        <a:pt x="80" y="938"/>
                        <a:pt x="80" y="938"/>
                      </a:cubicBezTo>
                      <a:cubicBezTo>
                        <a:pt x="81" y="938"/>
                        <a:pt x="81" y="938"/>
                        <a:pt x="81" y="938"/>
                      </a:cubicBezTo>
                      <a:cubicBezTo>
                        <a:pt x="81" y="938"/>
                        <a:pt x="81" y="938"/>
                        <a:pt x="81" y="938"/>
                      </a:cubicBezTo>
                      <a:cubicBezTo>
                        <a:pt x="81" y="938"/>
                        <a:pt x="81" y="937"/>
                        <a:pt x="81" y="937"/>
                      </a:cubicBezTo>
                      <a:cubicBezTo>
                        <a:pt x="81" y="937"/>
                        <a:pt x="81" y="937"/>
                        <a:pt x="81" y="937"/>
                      </a:cubicBezTo>
                      <a:cubicBezTo>
                        <a:pt x="81" y="937"/>
                        <a:pt x="81" y="937"/>
                        <a:pt x="81" y="937"/>
                      </a:cubicBezTo>
                      <a:cubicBezTo>
                        <a:pt x="81" y="937"/>
                        <a:pt x="81" y="937"/>
                        <a:pt x="81" y="937"/>
                      </a:cubicBezTo>
                      <a:cubicBezTo>
                        <a:pt x="81" y="937"/>
                        <a:pt x="81" y="937"/>
                        <a:pt x="81" y="937"/>
                      </a:cubicBezTo>
                      <a:cubicBezTo>
                        <a:pt x="81" y="936"/>
                        <a:pt x="81" y="936"/>
                        <a:pt x="81" y="936"/>
                      </a:cubicBezTo>
                      <a:cubicBezTo>
                        <a:pt x="81" y="936"/>
                        <a:pt x="81" y="936"/>
                        <a:pt x="81" y="936"/>
                      </a:cubicBezTo>
                      <a:cubicBezTo>
                        <a:pt x="81" y="936"/>
                        <a:pt x="81" y="936"/>
                        <a:pt x="81" y="936"/>
                      </a:cubicBezTo>
                      <a:cubicBezTo>
                        <a:pt x="81" y="936"/>
                        <a:pt x="81" y="936"/>
                        <a:pt x="81" y="935"/>
                      </a:cubicBezTo>
                      <a:cubicBezTo>
                        <a:pt x="81" y="935"/>
                        <a:pt x="81" y="935"/>
                        <a:pt x="81" y="935"/>
                      </a:cubicBezTo>
                      <a:cubicBezTo>
                        <a:pt x="81" y="935"/>
                        <a:pt x="81" y="935"/>
                        <a:pt x="81" y="935"/>
                      </a:cubicBezTo>
                      <a:cubicBezTo>
                        <a:pt x="81" y="935"/>
                        <a:pt x="81" y="935"/>
                        <a:pt x="81" y="935"/>
                      </a:cubicBezTo>
                      <a:cubicBezTo>
                        <a:pt x="81" y="935"/>
                        <a:pt x="81" y="935"/>
                        <a:pt x="81" y="935"/>
                      </a:cubicBezTo>
                      <a:cubicBezTo>
                        <a:pt x="81" y="935"/>
                        <a:pt x="81" y="935"/>
                        <a:pt x="81" y="934"/>
                      </a:cubicBezTo>
                      <a:cubicBezTo>
                        <a:pt x="81" y="934"/>
                        <a:pt x="81" y="934"/>
                        <a:pt x="81" y="934"/>
                      </a:cubicBezTo>
                      <a:cubicBezTo>
                        <a:pt x="81" y="934"/>
                        <a:pt x="81" y="934"/>
                        <a:pt x="81" y="934"/>
                      </a:cubicBezTo>
                      <a:cubicBezTo>
                        <a:pt x="81" y="934"/>
                        <a:pt x="81" y="934"/>
                        <a:pt x="81" y="934"/>
                      </a:cubicBezTo>
                      <a:cubicBezTo>
                        <a:pt x="81" y="934"/>
                        <a:pt x="81" y="934"/>
                        <a:pt x="81" y="934"/>
                      </a:cubicBezTo>
                      <a:cubicBezTo>
                        <a:pt x="81" y="933"/>
                        <a:pt x="81" y="933"/>
                        <a:pt x="81" y="933"/>
                      </a:cubicBezTo>
                      <a:cubicBezTo>
                        <a:pt x="81" y="933"/>
                        <a:pt x="81" y="933"/>
                        <a:pt x="81" y="933"/>
                      </a:cubicBezTo>
                      <a:cubicBezTo>
                        <a:pt x="81" y="933"/>
                        <a:pt x="81" y="933"/>
                        <a:pt x="81" y="933"/>
                      </a:cubicBezTo>
                      <a:cubicBezTo>
                        <a:pt x="81" y="933"/>
                        <a:pt x="81" y="933"/>
                        <a:pt x="81" y="933"/>
                      </a:cubicBezTo>
                      <a:cubicBezTo>
                        <a:pt x="81" y="933"/>
                        <a:pt x="81" y="932"/>
                        <a:pt x="81" y="932"/>
                      </a:cubicBezTo>
                      <a:cubicBezTo>
                        <a:pt x="81" y="932"/>
                        <a:pt x="81" y="932"/>
                        <a:pt x="81" y="932"/>
                      </a:cubicBezTo>
                      <a:cubicBezTo>
                        <a:pt x="81" y="932"/>
                        <a:pt x="81" y="932"/>
                        <a:pt x="81" y="932"/>
                      </a:cubicBezTo>
                      <a:cubicBezTo>
                        <a:pt x="81" y="932"/>
                        <a:pt x="81" y="932"/>
                        <a:pt x="81" y="932"/>
                      </a:cubicBezTo>
                      <a:cubicBezTo>
                        <a:pt x="81" y="932"/>
                        <a:pt x="81" y="931"/>
                        <a:pt x="81" y="931"/>
                      </a:cubicBezTo>
                      <a:cubicBezTo>
                        <a:pt x="81" y="931"/>
                        <a:pt x="81" y="931"/>
                        <a:pt x="81" y="931"/>
                      </a:cubicBezTo>
                      <a:cubicBezTo>
                        <a:pt x="81" y="931"/>
                        <a:pt x="81" y="931"/>
                        <a:pt x="81" y="931"/>
                      </a:cubicBezTo>
                      <a:cubicBezTo>
                        <a:pt x="81" y="931"/>
                        <a:pt x="81" y="931"/>
                        <a:pt x="81" y="931"/>
                      </a:cubicBezTo>
                      <a:cubicBezTo>
                        <a:pt x="81" y="931"/>
                        <a:pt x="82" y="931"/>
                        <a:pt x="82" y="930"/>
                      </a:cubicBezTo>
                      <a:cubicBezTo>
                        <a:pt x="82" y="930"/>
                        <a:pt x="82" y="930"/>
                        <a:pt x="82" y="930"/>
                      </a:cubicBezTo>
                      <a:cubicBezTo>
                        <a:pt x="82" y="930"/>
                        <a:pt x="82" y="930"/>
                        <a:pt x="82" y="929"/>
                      </a:cubicBezTo>
                      <a:cubicBezTo>
                        <a:pt x="82" y="929"/>
                        <a:pt x="82" y="929"/>
                        <a:pt x="82" y="929"/>
                      </a:cubicBezTo>
                      <a:cubicBezTo>
                        <a:pt x="82" y="929"/>
                        <a:pt x="82" y="929"/>
                        <a:pt x="82" y="929"/>
                      </a:cubicBezTo>
                      <a:cubicBezTo>
                        <a:pt x="82" y="929"/>
                        <a:pt x="82" y="929"/>
                        <a:pt x="82" y="929"/>
                      </a:cubicBezTo>
                      <a:cubicBezTo>
                        <a:pt x="82" y="929"/>
                        <a:pt x="82" y="929"/>
                        <a:pt x="82" y="929"/>
                      </a:cubicBezTo>
                      <a:cubicBezTo>
                        <a:pt x="82" y="929"/>
                        <a:pt x="82" y="928"/>
                        <a:pt x="82" y="928"/>
                      </a:cubicBezTo>
                      <a:cubicBezTo>
                        <a:pt x="82" y="928"/>
                        <a:pt x="82" y="928"/>
                        <a:pt x="82" y="928"/>
                      </a:cubicBezTo>
                      <a:cubicBezTo>
                        <a:pt x="82" y="928"/>
                        <a:pt x="82" y="928"/>
                        <a:pt x="82" y="928"/>
                      </a:cubicBezTo>
                      <a:cubicBezTo>
                        <a:pt x="82" y="927"/>
                        <a:pt x="82" y="927"/>
                        <a:pt x="82" y="927"/>
                      </a:cubicBezTo>
                      <a:cubicBezTo>
                        <a:pt x="82" y="927"/>
                        <a:pt x="82" y="927"/>
                        <a:pt x="82" y="927"/>
                      </a:cubicBezTo>
                      <a:cubicBezTo>
                        <a:pt x="82" y="927"/>
                        <a:pt x="82" y="927"/>
                        <a:pt x="82" y="927"/>
                      </a:cubicBezTo>
                      <a:cubicBezTo>
                        <a:pt x="82" y="927"/>
                        <a:pt x="82" y="927"/>
                        <a:pt x="82" y="927"/>
                      </a:cubicBezTo>
                      <a:cubicBezTo>
                        <a:pt x="82" y="926"/>
                        <a:pt x="82" y="926"/>
                        <a:pt x="82" y="925"/>
                      </a:cubicBezTo>
                      <a:cubicBezTo>
                        <a:pt x="82" y="925"/>
                        <a:pt x="82" y="925"/>
                        <a:pt x="82" y="925"/>
                      </a:cubicBezTo>
                      <a:cubicBezTo>
                        <a:pt x="82" y="925"/>
                        <a:pt x="82" y="925"/>
                        <a:pt x="82" y="925"/>
                      </a:cubicBezTo>
                      <a:cubicBezTo>
                        <a:pt x="82" y="925"/>
                        <a:pt x="82" y="925"/>
                        <a:pt x="82" y="925"/>
                      </a:cubicBezTo>
                      <a:cubicBezTo>
                        <a:pt x="83" y="918"/>
                        <a:pt x="84" y="911"/>
                        <a:pt x="85" y="904"/>
                      </a:cubicBezTo>
                      <a:cubicBezTo>
                        <a:pt x="89" y="885"/>
                        <a:pt x="75" y="866"/>
                        <a:pt x="56" y="863"/>
                      </a:cubicBezTo>
                      <a:cubicBezTo>
                        <a:pt x="54" y="863"/>
                        <a:pt x="52" y="862"/>
                        <a:pt x="50" y="862"/>
                      </a:cubicBezTo>
                      <a:cubicBezTo>
                        <a:pt x="33" y="862"/>
                        <a:pt x="17" y="875"/>
                        <a:pt x="14" y="893"/>
                      </a:cubicBezTo>
                      <a:cubicBezTo>
                        <a:pt x="7" y="935"/>
                        <a:pt x="3" y="978"/>
                        <a:pt x="1" y="1021"/>
                      </a:cubicBezTo>
                      <a:cubicBezTo>
                        <a:pt x="0" y="1040"/>
                        <a:pt x="16" y="1057"/>
                        <a:pt x="36" y="1058"/>
                      </a:cubicBezTo>
                      <a:close/>
                      <a:moveTo>
                        <a:pt x="78" y="772"/>
                      </a:moveTo>
                      <a:cubicBezTo>
                        <a:pt x="82" y="773"/>
                        <a:pt x="86" y="774"/>
                        <a:pt x="90" y="774"/>
                      </a:cubicBezTo>
                      <a:cubicBezTo>
                        <a:pt x="105" y="774"/>
                        <a:pt x="119" y="764"/>
                        <a:pt x="124" y="749"/>
                      </a:cubicBezTo>
                      <a:cubicBezTo>
                        <a:pt x="126" y="745"/>
                        <a:pt x="127" y="740"/>
                        <a:pt x="129" y="735"/>
                      </a:cubicBezTo>
                      <a:cubicBezTo>
                        <a:pt x="129" y="735"/>
                        <a:pt x="129" y="735"/>
                        <a:pt x="129" y="735"/>
                      </a:cubicBezTo>
                      <a:cubicBezTo>
                        <a:pt x="129" y="735"/>
                        <a:pt x="129" y="735"/>
                        <a:pt x="129" y="735"/>
                      </a:cubicBezTo>
                      <a:cubicBezTo>
                        <a:pt x="129" y="735"/>
                        <a:pt x="129" y="735"/>
                        <a:pt x="129" y="735"/>
                      </a:cubicBezTo>
                      <a:cubicBezTo>
                        <a:pt x="129" y="735"/>
                        <a:pt x="129" y="734"/>
                        <a:pt x="129" y="734"/>
                      </a:cubicBezTo>
                      <a:cubicBezTo>
                        <a:pt x="129" y="734"/>
                        <a:pt x="129" y="734"/>
                        <a:pt x="129" y="734"/>
                      </a:cubicBezTo>
                      <a:cubicBezTo>
                        <a:pt x="129" y="734"/>
                        <a:pt x="129" y="734"/>
                        <a:pt x="130" y="733"/>
                      </a:cubicBezTo>
                      <a:cubicBezTo>
                        <a:pt x="130" y="733"/>
                        <a:pt x="130" y="733"/>
                        <a:pt x="130" y="733"/>
                      </a:cubicBezTo>
                      <a:cubicBezTo>
                        <a:pt x="130" y="733"/>
                        <a:pt x="130" y="733"/>
                        <a:pt x="130" y="733"/>
                      </a:cubicBezTo>
                      <a:cubicBezTo>
                        <a:pt x="130" y="733"/>
                        <a:pt x="130" y="733"/>
                        <a:pt x="130" y="733"/>
                      </a:cubicBezTo>
                      <a:cubicBezTo>
                        <a:pt x="130" y="733"/>
                        <a:pt x="130" y="733"/>
                        <a:pt x="130" y="733"/>
                      </a:cubicBezTo>
                      <a:cubicBezTo>
                        <a:pt x="130" y="733"/>
                        <a:pt x="130" y="733"/>
                        <a:pt x="130" y="732"/>
                      </a:cubicBezTo>
                      <a:cubicBezTo>
                        <a:pt x="130" y="732"/>
                        <a:pt x="130" y="732"/>
                        <a:pt x="130" y="732"/>
                      </a:cubicBezTo>
                      <a:cubicBezTo>
                        <a:pt x="130" y="732"/>
                        <a:pt x="130" y="732"/>
                        <a:pt x="130" y="732"/>
                      </a:cubicBezTo>
                      <a:cubicBezTo>
                        <a:pt x="130" y="732"/>
                        <a:pt x="130" y="732"/>
                        <a:pt x="130" y="732"/>
                      </a:cubicBezTo>
                      <a:cubicBezTo>
                        <a:pt x="130" y="732"/>
                        <a:pt x="130" y="732"/>
                        <a:pt x="130" y="732"/>
                      </a:cubicBezTo>
                      <a:cubicBezTo>
                        <a:pt x="130" y="731"/>
                        <a:pt x="130" y="731"/>
                        <a:pt x="130" y="731"/>
                      </a:cubicBezTo>
                      <a:cubicBezTo>
                        <a:pt x="130" y="731"/>
                        <a:pt x="130" y="731"/>
                        <a:pt x="130" y="731"/>
                      </a:cubicBezTo>
                      <a:cubicBezTo>
                        <a:pt x="130" y="731"/>
                        <a:pt x="130" y="731"/>
                        <a:pt x="131" y="731"/>
                      </a:cubicBezTo>
                      <a:cubicBezTo>
                        <a:pt x="131" y="731"/>
                        <a:pt x="131" y="731"/>
                        <a:pt x="131" y="731"/>
                      </a:cubicBezTo>
                      <a:cubicBezTo>
                        <a:pt x="131" y="731"/>
                        <a:pt x="131" y="730"/>
                        <a:pt x="131" y="730"/>
                      </a:cubicBezTo>
                      <a:cubicBezTo>
                        <a:pt x="131" y="730"/>
                        <a:pt x="131" y="730"/>
                        <a:pt x="131" y="730"/>
                      </a:cubicBezTo>
                      <a:cubicBezTo>
                        <a:pt x="131" y="730"/>
                        <a:pt x="131" y="730"/>
                        <a:pt x="131" y="730"/>
                      </a:cubicBezTo>
                      <a:cubicBezTo>
                        <a:pt x="131" y="730"/>
                        <a:pt x="131" y="730"/>
                        <a:pt x="131" y="730"/>
                      </a:cubicBezTo>
                      <a:cubicBezTo>
                        <a:pt x="131" y="730"/>
                        <a:pt x="131" y="730"/>
                        <a:pt x="131" y="730"/>
                      </a:cubicBezTo>
                      <a:cubicBezTo>
                        <a:pt x="131" y="729"/>
                        <a:pt x="131" y="729"/>
                        <a:pt x="131" y="729"/>
                      </a:cubicBezTo>
                      <a:cubicBezTo>
                        <a:pt x="131" y="729"/>
                        <a:pt x="131" y="729"/>
                        <a:pt x="131" y="729"/>
                      </a:cubicBezTo>
                      <a:cubicBezTo>
                        <a:pt x="131" y="729"/>
                        <a:pt x="131" y="729"/>
                        <a:pt x="131" y="729"/>
                      </a:cubicBezTo>
                      <a:cubicBezTo>
                        <a:pt x="131" y="729"/>
                        <a:pt x="131" y="729"/>
                        <a:pt x="131" y="729"/>
                      </a:cubicBezTo>
                      <a:cubicBezTo>
                        <a:pt x="131" y="729"/>
                        <a:pt x="131" y="729"/>
                        <a:pt x="131" y="728"/>
                      </a:cubicBezTo>
                      <a:cubicBezTo>
                        <a:pt x="131" y="728"/>
                        <a:pt x="131" y="728"/>
                        <a:pt x="131" y="728"/>
                      </a:cubicBezTo>
                      <a:cubicBezTo>
                        <a:pt x="131" y="728"/>
                        <a:pt x="131" y="728"/>
                        <a:pt x="132" y="728"/>
                      </a:cubicBezTo>
                      <a:cubicBezTo>
                        <a:pt x="132" y="728"/>
                        <a:pt x="132" y="728"/>
                        <a:pt x="132" y="728"/>
                      </a:cubicBezTo>
                      <a:cubicBezTo>
                        <a:pt x="132" y="728"/>
                        <a:pt x="132" y="728"/>
                        <a:pt x="132" y="728"/>
                      </a:cubicBezTo>
                      <a:cubicBezTo>
                        <a:pt x="132" y="728"/>
                        <a:pt x="132" y="728"/>
                        <a:pt x="132" y="728"/>
                      </a:cubicBezTo>
                      <a:cubicBezTo>
                        <a:pt x="132" y="727"/>
                        <a:pt x="132" y="727"/>
                        <a:pt x="132" y="727"/>
                      </a:cubicBezTo>
                      <a:cubicBezTo>
                        <a:pt x="132" y="727"/>
                        <a:pt x="132" y="727"/>
                        <a:pt x="132" y="727"/>
                      </a:cubicBezTo>
                      <a:cubicBezTo>
                        <a:pt x="132" y="727"/>
                        <a:pt x="132" y="727"/>
                        <a:pt x="132" y="727"/>
                      </a:cubicBezTo>
                      <a:cubicBezTo>
                        <a:pt x="132" y="727"/>
                        <a:pt x="132" y="727"/>
                        <a:pt x="132" y="727"/>
                      </a:cubicBezTo>
                      <a:cubicBezTo>
                        <a:pt x="132" y="726"/>
                        <a:pt x="132" y="726"/>
                        <a:pt x="132" y="726"/>
                      </a:cubicBezTo>
                      <a:cubicBezTo>
                        <a:pt x="132" y="726"/>
                        <a:pt x="132" y="726"/>
                        <a:pt x="132" y="726"/>
                      </a:cubicBezTo>
                      <a:cubicBezTo>
                        <a:pt x="132" y="726"/>
                        <a:pt x="132" y="726"/>
                        <a:pt x="132" y="726"/>
                      </a:cubicBezTo>
                      <a:cubicBezTo>
                        <a:pt x="132" y="726"/>
                        <a:pt x="132" y="726"/>
                        <a:pt x="132" y="726"/>
                      </a:cubicBezTo>
                      <a:cubicBezTo>
                        <a:pt x="133" y="725"/>
                        <a:pt x="133" y="725"/>
                        <a:pt x="133" y="724"/>
                      </a:cubicBezTo>
                      <a:cubicBezTo>
                        <a:pt x="133" y="724"/>
                        <a:pt x="133" y="724"/>
                        <a:pt x="133" y="724"/>
                      </a:cubicBezTo>
                      <a:cubicBezTo>
                        <a:pt x="144" y="695"/>
                        <a:pt x="156" y="666"/>
                        <a:pt x="169" y="638"/>
                      </a:cubicBezTo>
                      <a:cubicBezTo>
                        <a:pt x="178" y="620"/>
                        <a:pt x="170" y="599"/>
                        <a:pt x="152" y="590"/>
                      </a:cubicBezTo>
                      <a:cubicBezTo>
                        <a:pt x="147" y="588"/>
                        <a:pt x="142" y="587"/>
                        <a:pt x="137" y="587"/>
                      </a:cubicBezTo>
                      <a:cubicBezTo>
                        <a:pt x="123" y="587"/>
                        <a:pt x="110" y="594"/>
                        <a:pt x="104" y="607"/>
                      </a:cubicBezTo>
                      <a:cubicBezTo>
                        <a:pt x="86" y="646"/>
                        <a:pt x="70" y="686"/>
                        <a:pt x="56" y="726"/>
                      </a:cubicBezTo>
                      <a:cubicBezTo>
                        <a:pt x="50" y="745"/>
                        <a:pt x="60" y="765"/>
                        <a:pt x="78" y="772"/>
                      </a:cubicBezTo>
                      <a:close/>
                      <a:moveTo>
                        <a:pt x="1908" y="1658"/>
                      </a:moveTo>
                      <a:cubicBezTo>
                        <a:pt x="1902" y="1653"/>
                        <a:pt x="1894" y="1651"/>
                        <a:pt x="1887" y="1651"/>
                      </a:cubicBezTo>
                      <a:cubicBezTo>
                        <a:pt x="1876" y="1651"/>
                        <a:pt x="1865" y="1656"/>
                        <a:pt x="1858" y="1665"/>
                      </a:cubicBezTo>
                      <a:cubicBezTo>
                        <a:pt x="1858" y="1666"/>
                        <a:pt x="1857" y="1667"/>
                        <a:pt x="1857" y="1667"/>
                      </a:cubicBezTo>
                      <a:cubicBezTo>
                        <a:pt x="1856" y="1667"/>
                        <a:pt x="1856" y="1667"/>
                        <a:pt x="1856" y="1667"/>
                      </a:cubicBezTo>
                      <a:cubicBezTo>
                        <a:pt x="1856" y="1667"/>
                        <a:pt x="1856" y="1668"/>
                        <a:pt x="1856" y="1668"/>
                      </a:cubicBezTo>
                      <a:cubicBezTo>
                        <a:pt x="1856" y="1668"/>
                        <a:pt x="1856" y="1668"/>
                        <a:pt x="1856" y="1668"/>
                      </a:cubicBezTo>
                      <a:cubicBezTo>
                        <a:pt x="1856" y="1668"/>
                        <a:pt x="1856" y="1668"/>
                        <a:pt x="1856" y="1668"/>
                      </a:cubicBezTo>
                      <a:cubicBezTo>
                        <a:pt x="1856" y="1668"/>
                        <a:pt x="1856" y="1668"/>
                        <a:pt x="1856" y="1668"/>
                      </a:cubicBezTo>
                      <a:cubicBezTo>
                        <a:pt x="1856" y="1668"/>
                        <a:pt x="1856" y="1668"/>
                        <a:pt x="1856" y="1669"/>
                      </a:cubicBezTo>
                      <a:cubicBezTo>
                        <a:pt x="1856" y="1669"/>
                        <a:pt x="1856" y="1669"/>
                        <a:pt x="1856" y="1669"/>
                      </a:cubicBezTo>
                      <a:cubicBezTo>
                        <a:pt x="1855" y="1669"/>
                        <a:pt x="1855" y="1669"/>
                        <a:pt x="1855" y="1669"/>
                      </a:cubicBezTo>
                      <a:cubicBezTo>
                        <a:pt x="1855" y="1669"/>
                        <a:pt x="1855" y="1669"/>
                        <a:pt x="1855" y="1669"/>
                      </a:cubicBezTo>
                      <a:cubicBezTo>
                        <a:pt x="1855" y="1669"/>
                        <a:pt x="1855" y="1669"/>
                        <a:pt x="1855" y="1669"/>
                      </a:cubicBezTo>
                      <a:cubicBezTo>
                        <a:pt x="1855" y="1669"/>
                        <a:pt x="1855" y="1669"/>
                        <a:pt x="1855" y="1669"/>
                      </a:cubicBezTo>
                      <a:cubicBezTo>
                        <a:pt x="1855" y="1670"/>
                        <a:pt x="1855" y="1670"/>
                        <a:pt x="1855" y="1670"/>
                      </a:cubicBezTo>
                      <a:cubicBezTo>
                        <a:pt x="1855" y="1670"/>
                        <a:pt x="1855" y="1670"/>
                        <a:pt x="1855" y="1670"/>
                      </a:cubicBezTo>
                      <a:cubicBezTo>
                        <a:pt x="1854" y="1670"/>
                        <a:pt x="1854" y="1670"/>
                        <a:pt x="1854" y="1670"/>
                      </a:cubicBezTo>
                      <a:cubicBezTo>
                        <a:pt x="1854" y="1670"/>
                        <a:pt x="1854" y="1670"/>
                        <a:pt x="1854" y="1670"/>
                      </a:cubicBezTo>
                      <a:cubicBezTo>
                        <a:pt x="1854" y="1670"/>
                        <a:pt x="1854" y="1671"/>
                        <a:pt x="1854" y="1671"/>
                      </a:cubicBezTo>
                      <a:cubicBezTo>
                        <a:pt x="1854" y="1671"/>
                        <a:pt x="1854" y="1671"/>
                        <a:pt x="1854" y="1671"/>
                      </a:cubicBezTo>
                      <a:cubicBezTo>
                        <a:pt x="1854" y="1671"/>
                        <a:pt x="1854" y="1671"/>
                        <a:pt x="1854" y="1671"/>
                      </a:cubicBezTo>
                      <a:cubicBezTo>
                        <a:pt x="1854" y="1671"/>
                        <a:pt x="1854" y="1671"/>
                        <a:pt x="1854" y="1671"/>
                      </a:cubicBezTo>
                      <a:cubicBezTo>
                        <a:pt x="1853" y="1671"/>
                        <a:pt x="1853" y="1671"/>
                        <a:pt x="1853" y="1671"/>
                      </a:cubicBezTo>
                      <a:cubicBezTo>
                        <a:pt x="1853" y="1672"/>
                        <a:pt x="1853" y="1672"/>
                        <a:pt x="1853" y="1672"/>
                      </a:cubicBezTo>
                      <a:cubicBezTo>
                        <a:pt x="1853" y="1672"/>
                        <a:pt x="1853" y="1672"/>
                        <a:pt x="1853" y="1672"/>
                      </a:cubicBezTo>
                      <a:cubicBezTo>
                        <a:pt x="1853" y="1672"/>
                        <a:pt x="1853" y="1672"/>
                        <a:pt x="1853" y="1672"/>
                      </a:cubicBezTo>
                      <a:cubicBezTo>
                        <a:pt x="1853" y="1672"/>
                        <a:pt x="1853" y="1672"/>
                        <a:pt x="1853" y="1672"/>
                      </a:cubicBezTo>
                      <a:cubicBezTo>
                        <a:pt x="1853" y="1672"/>
                        <a:pt x="1853" y="1672"/>
                        <a:pt x="1853" y="1672"/>
                      </a:cubicBezTo>
                      <a:cubicBezTo>
                        <a:pt x="1853" y="1673"/>
                        <a:pt x="1853" y="1673"/>
                        <a:pt x="1852" y="1673"/>
                      </a:cubicBezTo>
                      <a:cubicBezTo>
                        <a:pt x="1852" y="1673"/>
                        <a:pt x="1852" y="1673"/>
                        <a:pt x="1852" y="1673"/>
                      </a:cubicBezTo>
                      <a:cubicBezTo>
                        <a:pt x="1852" y="1673"/>
                        <a:pt x="1852" y="1673"/>
                        <a:pt x="1852" y="1673"/>
                      </a:cubicBezTo>
                      <a:cubicBezTo>
                        <a:pt x="1852" y="1673"/>
                        <a:pt x="1852" y="1673"/>
                        <a:pt x="1852" y="1673"/>
                      </a:cubicBezTo>
                      <a:cubicBezTo>
                        <a:pt x="1852" y="1673"/>
                        <a:pt x="1852" y="1673"/>
                        <a:pt x="1852" y="1673"/>
                      </a:cubicBezTo>
                      <a:cubicBezTo>
                        <a:pt x="1851" y="1674"/>
                        <a:pt x="1851" y="1675"/>
                        <a:pt x="1851" y="1675"/>
                      </a:cubicBezTo>
                      <a:cubicBezTo>
                        <a:pt x="1851" y="1675"/>
                        <a:pt x="1851" y="1675"/>
                        <a:pt x="1851" y="1675"/>
                      </a:cubicBezTo>
                      <a:cubicBezTo>
                        <a:pt x="1850" y="1675"/>
                        <a:pt x="1850" y="1675"/>
                        <a:pt x="1850" y="1675"/>
                      </a:cubicBezTo>
                      <a:cubicBezTo>
                        <a:pt x="1850" y="1676"/>
                        <a:pt x="1850" y="1676"/>
                        <a:pt x="1850" y="1676"/>
                      </a:cubicBezTo>
                      <a:cubicBezTo>
                        <a:pt x="1850" y="1676"/>
                        <a:pt x="1850" y="1676"/>
                        <a:pt x="1850" y="1676"/>
                      </a:cubicBezTo>
                      <a:cubicBezTo>
                        <a:pt x="1850" y="1676"/>
                        <a:pt x="1850" y="1676"/>
                        <a:pt x="1850" y="1676"/>
                      </a:cubicBezTo>
                      <a:cubicBezTo>
                        <a:pt x="1828" y="1704"/>
                        <a:pt x="1805" y="1731"/>
                        <a:pt x="1780" y="1757"/>
                      </a:cubicBezTo>
                      <a:cubicBezTo>
                        <a:pt x="1766" y="1771"/>
                        <a:pt x="1767" y="1794"/>
                        <a:pt x="1781" y="1807"/>
                      </a:cubicBezTo>
                      <a:cubicBezTo>
                        <a:pt x="1788" y="1814"/>
                        <a:pt x="1797" y="1818"/>
                        <a:pt x="1806" y="1818"/>
                      </a:cubicBezTo>
                      <a:cubicBezTo>
                        <a:pt x="1815" y="1818"/>
                        <a:pt x="1825" y="1814"/>
                        <a:pt x="1832" y="1807"/>
                      </a:cubicBezTo>
                      <a:cubicBezTo>
                        <a:pt x="1862" y="1776"/>
                        <a:pt x="1890" y="1743"/>
                        <a:pt x="1915" y="1709"/>
                      </a:cubicBezTo>
                      <a:cubicBezTo>
                        <a:pt x="1927" y="1693"/>
                        <a:pt x="1924" y="1670"/>
                        <a:pt x="1908" y="1658"/>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endParaRPr>
                </a:p>
              </p:txBody>
            </p:sp>
          </p:grpSp>
        </p:grpSp>
      </p:grpSp>
      <p:grpSp>
        <p:nvGrpSpPr>
          <p:cNvPr id="78" name="Group 77">
            <a:extLst>
              <a:ext uri="{FF2B5EF4-FFF2-40B4-BE49-F238E27FC236}">
                <a16:creationId xmlns:a16="http://schemas.microsoft.com/office/drawing/2014/main" id="{CB0CA4BE-8068-4EBF-A04E-BB70E7DE3DB3}"/>
              </a:ext>
            </a:extLst>
          </p:cNvPr>
          <p:cNvGrpSpPr/>
          <p:nvPr/>
        </p:nvGrpSpPr>
        <p:grpSpPr>
          <a:xfrm>
            <a:off x="943261" y="5112758"/>
            <a:ext cx="742347" cy="742346"/>
            <a:chOff x="807975" y="5112758"/>
            <a:chExt cx="1012918" cy="1012916"/>
          </a:xfrm>
        </p:grpSpPr>
        <p:sp>
          <p:nvSpPr>
            <p:cNvPr id="70" name="Oval 69">
              <a:extLst>
                <a:ext uri="{FF2B5EF4-FFF2-40B4-BE49-F238E27FC236}">
                  <a16:creationId xmlns:a16="http://schemas.microsoft.com/office/drawing/2014/main" id="{52A8A87F-9F56-4AA2-82F1-8E07B48D250B}"/>
                </a:ext>
              </a:extLst>
            </p:cNvPr>
            <p:cNvSpPr>
              <a:spLocks noChangeAspect="1"/>
            </p:cNvSpPr>
            <p:nvPr/>
          </p:nvSpPr>
          <p:spPr>
            <a:xfrm>
              <a:off x="807975" y="5112758"/>
              <a:ext cx="1012918" cy="1012916"/>
            </a:xfrm>
            <a:prstGeom prst="ellipse">
              <a:avLst/>
            </a:prstGeom>
            <a:solidFill>
              <a:srgbClr val="FFFFFF"/>
            </a:solidFill>
            <a:ln w="38100" cap="rnd">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575757"/>
                </a:solidFill>
                <a:effectLst/>
                <a:uLnTx/>
                <a:uFillTx/>
                <a:latin typeface="Trebuchet MS"/>
                <a:ea typeface="Microsoft YaHei" panose="020B0503020204020204" pitchFamily="34" charset="-122"/>
                <a:cs typeface="+mn-cs"/>
              </a:endParaRPr>
            </a:p>
          </p:txBody>
        </p:sp>
        <p:grpSp>
          <p:nvGrpSpPr>
            <p:cNvPr id="71" name="Group 70">
              <a:extLst>
                <a:ext uri="{FF2B5EF4-FFF2-40B4-BE49-F238E27FC236}">
                  <a16:creationId xmlns:a16="http://schemas.microsoft.com/office/drawing/2014/main" id="{DC14EA2A-A3A5-4B61-9973-C8CD2B5A76B6}"/>
                </a:ext>
              </a:extLst>
            </p:cNvPr>
            <p:cNvGrpSpPr>
              <a:grpSpLocks noChangeAspect="1"/>
            </p:cNvGrpSpPr>
            <p:nvPr/>
          </p:nvGrpSpPr>
          <p:grpSpPr>
            <a:xfrm>
              <a:off x="982995" y="5287776"/>
              <a:ext cx="662879" cy="662879"/>
              <a:chOff x="5273675" y="2606675"/>
              <a:chExt cx="1644650" cy="1644650"/>
            </a:xfrm>
          </p:grpSpPr>
          <p:sp>
            <p:nvSpPr>
              <p:cNvPr id="72" name="AutoShape 3">
                <a:extLst>
                  <a:ext uri="{FF2B5EF4-FFF2-40B4-BE49-F238E27FC236}">
                    <a16:creationId xmlns:a16="http://schemas.microsoft.com/office/drawing/2014/main" id="{9725B3FA-46BF-4B1D-90B4-BD7D617CA681}"/>
                  </a:ext>
                </a:extLst>
              </p:cNvPr>
              <p:cNvSpPr>
                <a:spLocks noChangeAspect="1" noChangeArrowheads="1" noTextEdit="1"/>
              </p:cNvSpPr>
              <p:nvPr/>
            </p:nvSpPr>
            <p:spPr bwMode="auto">
              <a:xfrm>
                <a:off x="5273675" y="2606675"/>
                <a:ext cx="1644650"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n-ea"/>
                  <a:cs typeface="+mn-cs"/>
                </a:endParaRPr>
              </a:p>
            </p:txBody>
          </p:sp>
          <p:grpSp>
            <p:nvGrpSpPr>
              <p:cNvPr id="73" name="Group 72">
                <a:extLst>
                  <a:ext uri="{FF2B5EF4-FFF2-40B4-BE49-F238E27FC236}">
                    <a16:creationId xmlns:a16="http://schemas.microsoft.com/office/drawing/2014/main" id="{DFFF9ED6-186C-44DF-BABD-E305D16A829F}"/>
                  </a:ext>
                </a:extLst>
              </p:cNvPr>
              <p:cNvGrpSpPr/>
              <p:nvPr/>
            </p:nvGrpSpPr>
            <p:grpSpPr>
              <a:xfrm>
                <a:off x="5546725" y="2881313"/>
                <a:ext cx="1098550" cy="1095375"/>
                <a:chOff x="5546725" y="2881313"/>
                <a:chExt cx="1098550" cy="1095375"/>
              </a:xfrm>
            </p:grpSpPr>
            <p:sp>
              <p:nvSpPr>
                <p:cNvPr id="74" name="Freeform 10">
                  <a:extLst>
                    <a:ext uri="{FF2B5EF4-FFF2-40B4-BE49-F238E27FC236}">
                      <a16:creationId xmlns:a16="http://schemas.microsoft.com/office/drawing/2014/main" id="{4CBB690D-5CB6-4E13-903E-035612EAE2EE}"/>
                    </a:ext>
                  </a:extLst>
                </p:cNvPr>
                <p:cNvSpPr>
                  <a:spLocks/>
                </p:cNvSpPr>
                <p:nvPr/>
              </p:nvSpPr>
              <p:spPr bwMode="auto">
                <a:xfrm>
                  <a:off x="5546725" y="2881313"/>
                  <a:ext cx="1098550" cy="1095375"/>
                </a:xfrm>
                <a:custGeom>
                  <a:avLst/>
                  <a:gdLst>
                    <a:gd name="T0" fmla="*/ 1204 w 1538"/>
                    <a:gd name="T1" fmla="*/ 0 h 1534"/>
                    <a:gd name="T2" fmla="*/ 1160 w 1538"/>
                    <a:gd name="T3" fmla="*/ 44 h 1534"/>
                    <a:gd name="T4" fmla="*/ 1160 w 1538"/>
                    <a:gd name="T5" fmla="*/ 289 h 1534"/>
                    <a:gd name="T6" fmla="*/ 914 w 1538"/>
                    <a:gd name="T7" fmla="*/ 289 h 1534"/>
                    <a:gd name="T8" fmla="*/ 870 w 1538"/>
                    <a:gd name="T9" fmla="*/ 333 h 1534"/>
                    <a:gd name="T10" fmla="*/ 870 w 1538"/>
                    <a:gd name="T11" fmla="*/ 578 h 1534"/>
                    <a:gd name="T12" fmla="*/ 624 w 1538"/>
                    <a:gd name="T13" fmla="*/ 578 h 1534"/>
                    <a:gd name="T14" fmla="*/ 580 w 1538"/>
                    <a:gd name="T15" fmla="*/ 622 h 1534"/>
                    <a:gd name="T16" fmla="*/ 580 w 1538"/>
                    <a:gd name="T17" fmla="*/ 867 h 1534"/>
                    <a:gd name="T18" fmla="*/ 334 w 1538"/>
                    <a:gd name="T19" fmla="*/ 867 h 1534"/>
                    <a:gd name="T20" fmla="*/ 290 w 1538"/>
                    <a:gd name="T21" fmla="*/ 911 h 1534"/>
                    <a:gd name="T22" fmla="*/ 290 w 1538"/>
                    <a:gd name="T23" fmla="*/ 1157 h 1534"/>
                    <a:gd name="T24" fmla="*/ 44 w 1538"/>
                    <a:gd name="T25" fmla="*/ 1157 h 1534"/>
                    <a:gd name="T26" fmla="*/ 0 w 1538"/>
                    <a:gd name="T27" fmla="*/ 1201 h 1534"/>
                    <a:gd name="T28" fmla="*/ 0 w 1538"/>
                    <a:gd name="T29" fmla="*/ 1534 h 1534"/>
                    <a:gd name="T30" fmla="*/ 44 w 1538"/>
                    <a:gd name="T31" fmla="*/ 1534 h 1534"/>
                    <a:gd name="T32" fmla="*/ 44 w 1538"/>
                    <a:gd name="T33" fmla="*/ 1201 h 1534"/>
                    <a:gd name="T34" fmla="*/ 334 w 1538"/>
                    <a:gd name="T35" fmla="*/ 1201 h 1534"/>
                    <a:gd name="T36" fmla="*/ 334 w 1538"/>
                    <a:gd name="T37" fmla="*/ 911 h 1534"/>
                    <a:gd name="T38" fmla="*/ 624 w 1538"/>
                    <a:gd name="T39" fmla="*/ 911 h 1534"/>
                    <a:gd name="T40" fmla="*/ 624 w 1538"/>
                    <a:gd name="T41" fmla="*/ 622 h 1534"/>
                    <a:gd name="T42" fmla="*/ 914 w 1538"/>
                    <a:gd name="T43" fmla="*/ 622 h 1534"/>
                    <a:gd name="T44" fmla="*/ 914 w 1538"/>
                    <a:gd name="T45" fmla="*/ 333 h 1534"/>
                    <a:gd name="T46" fmla="*/ 1204 w 1538"/>
                    <a:gd name="T47" fmla="*/ 333 h 1534"/>
                    <a:gd name="T48" fmla="*/ 1204 w 1538"/>
                    <a:gd name="T49" fmla="*/ 44 h 1534"/>
                    <a:gd name="T50" fmla="*/ 1538 w 1538"/>
                    <a:gd name="T51" fmla="*/ 44 h 1534"/>
                    <a:gd name="T52" fmla="*/ 1538 w 1538"/>
                    <a:gd name="T53" fmla="*/ 0 h 1534"/>
                    <a:gd name="T54" fmla="*/ 1204 w 1538"/>
                    <a:gd name="T55" fmla="*/ 0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38" h="1534">
                      <a:moveTo>
                        <a:pt x="1204" y="0"/>
                      </a:moveTo>
                      <a:cubicBezTo>
                        <a:pt x="1180" y="0"/>
                        <a:pt x="1160" y="20"/>
                        <a:pt x="1160" y="44"/>
                      </a:cubicBezTo>
                      <a:cubicBezTo>
                        <a:pt x="1160" y="289"/>
                        <a:pt x="1160" y="289"/>
                        <a:pt x="1160" y="289"/>
                      </a:cubicBezTo>
                      <a:cubicBezTo>
                        <a:pt x="914" y="289"/>
                        <a:pt x="914" y="289"/>
                        <a:pt x="914" y="289"/>
                      </a:cubicBezTo>
                      <a:cubicBezTo>
                        <a:pt x="890" y="289"/>
                        <a:pt x="870" y="309"/>
                        <a:pt x="870" y="333"/>
                      </a:cubicBezTo>
                      <a:cubicBezTo>
                        <a:pt x="870" y="578"/>
                        <a:pt x="870" y="578"/>
                        <a:pt x="870" y="578"/>
                      </a:cubicBezTo>
                      <a:cubicBezTo>
                        <a:pt x="624" y="578"/>
                        <a:pt x="624" y="578"/>
                        <a:pt x="624" y="578"/>
                      </a:cubicBezTo>
                      <a:cubicBezTo>
                        <a:pt x="600" y="578"/>
                        <a:pt x="580" y="598"/>
                        <a:pt x="580" y="622"/>
                      </a:cubicBezTo>
                      <a:cubicBezTo>
                        <a:pt x="580" y="867"/>
                        <a:pt x="580" y="867"/>
                        <a:pt x="580" y="867"/>
                      </a:cubicBezTo>
                      <a:cubicBezTo>
                        <a:pt x="334" y="867"/>
                        <a:pt x="334" y="867"/>
                        <a:pt x="334" y="867"/>
                      </a:cubicBezTo>
                      <a:cubicBezTo>
                        <a:pt x="309" y="867"/>
                        <a:pt x="290" y="887"/>
                        <a:pt x="290" y="911"/>
                      </a:cubicBezTo>
                      <a:cubicBezTo>
                        <a:pt x="290" y="1157"/>
                        <a:pt x="290" y="1157"/>
                        <a:pt x="290" y="1157"/>
                      </a:cubicBezTo>
                      <a:cubicBezTo>
                        <a:pt x="44" y="1157"/>
                        <a:pt x="44" y="1157"/>
                        <a:pt x="44" y="1157"/>
                      </a:cubicBezTo>
                      <a:cubicBezTo>
                        <a:pt x="19" y="1157"/>
                        <a:pt x="0" y="1176"/>
                        <a:pt x="0" y="1201"/>
                      </a:cubicBezTo>
                      <a:cubicBezTo>
                        <a:pt x="0" y="1534"/>
                        <a:pt x="0" y="1534"/>
                        <a:pt x="0" y="1534"/>
                      </a:cubicBezTo>
                      <a:cubicBezTo>
                        <a:pt x="44" y="1534"/>
                        <a:pt x="44" y="1534"/>
                        <a:pt x="44" y="1534"/>
                      </a:cubicBezTo>
                      <a:cubicBezTo>
                        <a:pt x="44" y="1201"/>
                        <a:pt x="44" y="1201"/>
                        <a:pt x="44" y="1201"/>
                      </a:cubicBezTo>
                      <a:cubicBezTo>
                        <a:pt x="334" y="1201"/>
                        <a:pt x="334" y="1201"/>
                        <a:pt x="334" y="1201"/>
                      </a:cubicBezTo>
                      <a:cubicBezTo>
                        <a:pt x="334" y="911"/>
                        <a:pt x="334" y="911"/>
                        <a:pt x="334" y="911"/>
                      </a:cubicBezTo>
                      <a:cubicBezTo>
                        <a:pt x="624" y="911"/>
                        <a:pt x="624" y="911"/>
                        <a:pt x="624" y="911"/>
                      </a:cubicBezTo>
                      <a:cubicBezTo>
                        <a:pt x="624" y="622"/>
                        <a:pt x="624" y="622"/>
                        <a:pt x="624" y="622"/>
                      </a:cubicBezTo>
                      <a:cubicBezTo>
                        <a:pt x="914" y="622"/>
                        <a:pt x="914" y="622"/>
                        <a:pt x="914" y="622"/>
                      </a:cubicBezTo>
                      <a:cubicBezTo>
                        <a:pt x="914" y="333"/>
                        <a:pt x="914" y="333"/>
                        <a:pt x="914" y="333"/>
                      </a:cubicBezTo>
                      <a:cubicBezTo>
                        <a:pt x="1204" y="333"/>
                        <a:pt x="1204" y="333"/>
                        <a:pt x="1204" y="333"/>
                      </a:cubicBezTo>
                      <a:cubicBezTo>
                        <a:pt x="1204" y="44"/>
                        <a:pt x="1204" y="44"/>
                        <a:pt x="1204" y="44"/>
                      </a:cubicBezTo>
                      <a:cubicBezTo>
                        <a:pt x="1538" y="44"/>
                        <a:pt x="1538" y="44"/>
                        <a:pt x="1538" y="44"/>
                      </a:cubicBezTo>
                      <a:cubicBezTo>
                        <a:pt x="1538" y="0"/>
                        <a:pt x="1538" y="0"/>
                        <a:pt x="1538" y="0"/>
                      </a:cubicBezTo>
                      <a:lnTo>
                        <a:pt x="1204"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endParaRPr>
                </a:p>
              </p:txBody>
            </p:sp>
            <p:sp>
              <p:nvSpPr>
                <p:cNvPr id="75" name="Freeform 11">
                  <a:extLst>
                    <a:ext uri="{FF2B5EF4-FFF2-40B4-BE49-F238E27FC236}">
                      <a16:creationId xmlns:a16="http://schemas.microsoft.com/office/drawing/2014/main" id="{899BB685-D897-421C-96ED-3507279FAC3C}"/>
                    </a:ext>
                  </a:extLst>
                </p:cNvPr>
                <p:cNvSpPr>
                  <a:spLocks/>
                </p:cNvSpPr>
                <p:nvPr/>
              </p:nvSpPr>
              <p:spPr bwMode="auto">
                <a:xfrm>
                  <a:off x="5610225" y="2944813"/>
                  <a:ext cx="1035050" cy="1031875"/>
                </a:xfrm>
                <a:custGeom>
                  <a:avLst/>
                  <a:gdLst>
                    <a:gd name="T0" fmla="*/ 1450 w 1450"/>
                    <a:gd name="T1" fmla="*/ 0 h 1446"/>
                    <a:gd name="T2" fmla="*/ 1160 w 1450"/>
                    <a:gd name="T3" fmla="*/ 0 h 1446"/>
                    <a:gd name="T4" fmla="*/ 1160 w 1450"/>
                    <a:gd name="T5" fmla="*/ 289 h 1446"/>
                    <a:gd name="T6" fmla="*/ 870 w 1450"/>
                    <a:gd name="T7" fmla="*/ 289 h 1446"/>
                    <a:gd name="T8" fmla="*/ 870 w 1450"/>
                    <a:gd name="T9" fmla="*/ 578 h 1446"/>
                    <a:gd name="T10" fmla="*/ 580 w 1450"/>
                    <a:gd name="T11" fmla="*/ 578 h 1446"/>
                    <a:gd name="T12" fmla="*/ 580 w 1450"/>
                    <a:gd name="T13" fmla="*/ 867 h 1446"/>
                    <a:gd name="T14" fmla="*/ 290 w 1450"/>
                    <a:gd name="T15" fmla="*/ 867 h 1446"/>
                    <a:gd name="T16" fmla="*/ 290 w 1450"/>
                    <a:gd name="T17" fmla="*/ 1157 h 1446"/>
                    <a:gd name="T18" fmla="*/ 0 w 1450"/>
                    <a:gd name="T19" fmla="*/ 1157 h 1446"/>
                    <a:gd name="T20" fmla="*/ 0 w 1450"/>
                    <a:gd name="T21" fmla="*/ 1446 h 1446"/>
                    <a:gd name="T22" fmla="*/ 1428 w 1450"/>
                    <a:gd name="T23" fmla="*/ 1446 h 1446"/>
                    <a:gd name="T24" fmla="*/ 1450 w 1450"/>
                    <a:gd name="T25" fmla="*/ 1424 h 1446"/>
                    <a:gd name="T26" fmla="*/ 1450 w 1450"/>
                    <a:gd name="T27" fmla="*/ 0 h 1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50" h="1446">
                      <a:moveTo>
                        <a:pt x="1450" y="0"/>
                      </a:moveTo>
                      <a:cubicBezTo>
                        <a:pt x="1160" y="0"/>
                        <a:pt x="1160" y="0"/>
                        <a:pt x="1160" y="0"/>
                      </a:cubicBezTo>
                      <a:cubicBezTo>
                        <a:pt x="1160" y="289"/>
                        <a:pt x="1160" y="289"/>
                        <a:pt x="1160" y="289"/>
                      </a:cubicBezTo>
                      <a:cubicBezTo>
                        <a:pt x="870" y="289"/>
                        <a:pt x="870" y="289"/>
                        <a:pt x="870" y="289"/>
                      </a:cubicBezTo>
                      <a:cubicBezTo>
                        <a:pt x="870" y="578"/>
                        <a:pt x="870" y="578"/>
                        <a:pt x="870" y="578"/>
                      </a:cubicBezTo>
                      <a:cubicBezTo>
                        <a:pt x="580" y="578"/>
                        <a:pt x="580" y="578"/>
                        <a:pt x="580" y="578"/>
                      </a:cubicBezTo>
                      <a:cubicBezTo>
                        <a:pt x="580" y="867"/>
                        <a:pt x="580" y="867"/>
                        <a:pt x="580" y="867"/>
                      </a:cubicBezTo>
                      <a:cubicBezTo>
                        <a:pt x="290" y="867"/>
                        <a:pt x="290" y="867"/>
                        <a:pt x="290" y="867"/>
                      </a:cubicBezTo>
                      <a:cubicBezTo>
                        <a:pt x="290" y="1157"/>
                        <a:pt x="290" y="1157"/>
                        <a:pt x="290" y="1157"/>
                      </a:cubicBezTo>
                      <a:cubicBezTo>
                        <a:pt x="0" y="1157"/>
                        <a:pt x="0" y="1157"/>
                        <a:pt x="0" y="1157"/>
                      </a:cubicBezTo>
                      <a:cubicBezTo>
                        <a:pt x="0" y="1446"/>
                        <a:pt x="0" y="1446"/>
                        <a:pt x="0" y="1446"/>
                      </a:cubicBezTo>
                      <a:cubicBezTo>
                        <a:pt x="1428" y="1446"/>
                        <a:pt x="1428" y="1446"/>
                        <a:pt x="1428" y="1446"/>
                      </a:cubicBezTo>
                      <a:cubicBezTo>
                        <a:pt x="1440" y="1446"/>
                        <a:pt x="1450" y="1436"/>
                        <a:pt x="1450" y="1424"/>
                      </a:cubicBezTo>
                      <a:lnTo>
                        <a:pt x="145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endParaRPr>
                </a:p>
              </p:txBody>
            </p:sp>
          </p:grpSp>
        </p:grpSp>
      </p:grpSp>
      <p:sp>
        <p:nvSpPr>
          <p:cNvPr id="79" name="Rectangle 78">
            <a:extLst>
              <a:ext uri="{FF2B5EF4-FFF2-40B4-BE49-F238E27FC236}">
                <a16:creationId xmlns:a16="http://schemas.microsoft.com/office/drawing/2014/main" id="{25028519-E0CD-4E03-BC02-A3E01D35593F}"/>
              </a:ext>
            </a:extLst>
          </p:cNvPr>
          <p:cNvSpPr/>
          <p:nvPr/>
        </p:nvSpPr>
        <p:spPr>
          <a:xfrm>
            <a:off x="716863" y="2580913"/>
            <a:ext cx="1195142" cy="473722"/>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600" b="0" i="0" u="none" strike="noStrike" kern="1200" cap="none" spc="0" normalizeH="0" baseline="0" noProof="0">
                <a:ln>
                  <a:noFill/>
                </a:ln>
                <a:solidFill>
                  <a:srgbClr val="FFFFFF"/>
                </a:solidFill>
                <a:effectLst/>
                <a:uLnTx/>
                <a:uFillTx/>
                <a:latin typeface="Trebuchet MS"/>
                <a:ea typeface="Microsoft YaHei" panose="020B0503020204020204" pitchFamily="34" charset="-122"/>
                <a:cs typeface="+mn-cs"/>
              </a:rPr>
              <a:t>資料收集與處理</a:t>
            </a:r>
            <a:endParaRPr kumimoji="0" lang="en-US" sz="1600" b="0" i="0" u="none" strike="noStrike" kern="1200" cap="none" spc="0" normalizeH="0" baseline="0" noProof="0">
              <a:ln>
                <a:noFill/>
              </a:ln>
              <a:solidFill>
                <a:srgbClr val="FFFFFF"/>
              </a:solidFill>
              <a:effectLst/>
              <a:uLnTx/>
              <a:uFillTx/>
              <a:latin typeface="Trebuchet MS"/>
              <a:ea typeface="Microsoft YaHei" panose="020B0503020204020204" pitchFamily="34" charset="-122"/>
              <a:cs typeface="+mn-cs"/>
            </a:endParaRPr>
          </a:p>
        </p:txBody>
      </p:sp>
      <p:sp>
        <p:nvSpPr>
          <p:cNvPr id="80" name="Rectangle 79">
            <a:extLst>
              <a:ext uri="{FF2B5EF4-FFF2-40B4-BE49-F238E27FC236}">
                <a16:creationId xmlns:a16="http://schemas.microsoft.com/office/drawing/2014/main" id="{0B6F094F-3B36-4868-B07E-AC97BE2E40B7}"/>
              </a:ext>
            </a:extLst>
          </p:cNvPr>
          <p:cNvSpPr/>
          <p:nvPr/>
        </p:nvSpPr>
        <p:spPr>
          <a:xfrm>
            <a:off x="716863" y="4171019"/>
            <a:ext cx="1195142" cy="473722"/>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600" b="0" i="0" u="none" strike="noStrike" kern="1200" cap="none" spc="0" normalizeH="0" baseline="0" noProof="0">
                <a:ln>
                  <a:noFill/>
                </a:ln>
                <a:solidFill>
                  <a:srgbClr val="FFFFFF"/>
                </a:solidFill>
                <a:effectLst/>
                <a:uLnTx/>
                <a:uFillTx/>
                <a:latin typeface="Trebuchet MS"/>
                <a:ea typeface="Microsoft YaHei" panose="020B0503020204020204" pitchFamily="34" charset="-122"/>
                <a:cs typeface="+mn-cs"/>
              </a:rPr>
              <a:t>聚類分析</a:t>
            </a:r>
            <a:endParaRPr kumimoji="0" lang="en-US" sz="1600" b="0" i="0" u="none" strike="noStrike" kern="1200" cap="none" spc="0" normalizeH="0" baseline="0" noProof="0">
              <a:ln>
                <a:noFill/>
              </a:ln>
              <a:solidFill>
                <a:srgbClr val="FFFFFF"/>
              </a:solidFill>
              <a:effectLst/>
              <a:uLnTx/>
              <a:uFillTx/>
              <a:latin typeface="Trebuchet MS"/>
              <a:ea typeface="Microsoft YaHei" panose="020B0503020204020204" pitchFamily="34" charset="-122"/>
              <a:cs typeface="+mn-cs"/>
            </a:endParaRPr>
          </a:p>
        </p:txBody>
      </p:sp>
      <p:sp>
        <p:nvSpPr>
          <p:cNvPr id="81" name="Rectangle 80">
            <a:extLst>
              <a:ext uri="{FF2B5EF4-FFF2-40B4-BE49-F238E27FC236}">
                <a16:creationId xmlns:a16="http://schemas.microsoft.com/office/drawing/2014/main" id="{417B5BF8-ACF4-4F9E-BE65-3784F2913798}"/>
              </a:ext>
            </a:extLst>
          </p:cNvPr>
          <p:cNvSpPr/>
          <p:nvPr/>
        </p:nvSpPr>
        <p:spPr>
          <a:xfrm>
            <a:off x="684021" y="5795263"/>
            <a:ext cx="1195142" cy="473722"/>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29BA74"/>
                </a:solidFill>
              </a14:hiddenFill>
            </a:ex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600" b="0" i="0" u="none" strike="noStrike" kern="1200" cap="none" spc="0" normalizeH="0" baseline="0" noProof="0">
                <a:ln>
                  <a:noFill/>
                </a:ln>
                <a:solidFill>
                  <a:srgbClr val="FFFFFF"/>
                </a:solidFill>
                <a:effectLst/>
                <a:uLnTx/>
                <a:uFillTx/>
                <a:latin typeface="Trebuchet MS"/>
                <a:ea typeface="Microsoft YaHei" panose="020B0503020204020204" pitchFamily="34" charset="-122"/>
                <a:cs typeface="+mn-cs"/>
              </a:rPr>
              <a:t>結果輸出</a:t>
            </a:r>
            <a:endParaRPr kumimoji="0" lang="en-US" sz="1600" b="0" i="0" u="none" strike="noStrike" kern="1200" cap="none" spc="0" normalizeH="0" baseline="0" noProof="0">
              <a:ln>
                <a:noFill/>
              </a:ln>
              <a:solidFill>
                <a:srgbClr val="FFFFFF"/>
              </a:solidFill>
              <a:effectLst/>
              <a:uLnTx/>
              <a:uFillTx/>
              <a:latin typeface="Trebuchet MS"/>
              <a:ea typeface="Microsoft YaHei" panose="020B0503020204020204" pitchFamily="34" charset="-122"/>
              <a:cs typeface="+mn-cs"/>
            </a:endParaRPr>
          </a:p>
        </p:txBody>
      </p:sp>
      <p:sp>
        <p:nvSpPr>
          <p:cNvPr id="83" name="ïślïdé">
            <a:extLst>
              <a:ext uri="{FF2B5EF4-FFF2-40B4-BE49-F238E27FC236}">
                <a16:creationId xmlns:a16="http://schemas.microsoft.com/office/drawing/2014/main" id="{1A01D6B4-C3D8-4978-B96F-02D3350B1444}"/>
              </a:ext>
            </a:extLst>
          </p:cNvPr>
          <p:cNvSpPr/>
          <p:nvPr/>
        </p:nvSpPr>
        <p:spPr>
          <a:xfrm>
            <a:off x="2045653" y="1600604"/>
            <a:ext cx="4567798" cy="1513837"/>
          </a:xfrm>
          <a:prstGeom prst="rect">
            <a:avLst/>
          </a:prstGeom>
          <a:solidFill>
            <a:schemeClr val="bg1"/>
          </a:solidFill>
          <a:ln w="3175" cap="rnd">
            <a:solidFill>
              <a:schemeClr val="bg1">
                <a:lumMod val="95000"/>
              </a:schemeClr>
            </a:solidFill>
            <a:prstDash val="solid"/>
            <a:round/>
            <a:headEnd/>
            <a:tailEnd/>
          </a:ln>
          <a:effectLst>
            <a:outerShdw blurRad="203200" dist="101600" dir="2700000" algn="tl" rotWithShape="0">
              <a:schemeClr val="accent5">
                <a:lumMod val="60000"/>
                <a:lumOff val="40000"/>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rmAutofit/>
          </a:bodyPr>
          <a:lstStyle/>
          <a:p>
            <a:pPr marL="0" marR="0" lvl="0" indent="0" algn="ctr" defTabSz="914354" rtl="0" eaLnBrk="1" fontAlgn="auto" latinLnBrk="0" hangingPunct="1">
              <a:lnSpc>
                <a:spcPct val="100000"/>
              </a:lnSpc>
              <a:spcBef>
                <a:spcPts val="0"/>
              </a:spcBef>
              <a:spcAft>
                <a:spcPts val="0"/>
              </a:spcAft>
              <a:buClrTx/>
              <a:buSzTx/>
              <a:buFontTx/>
              <a:buNone/>
              <a:tabLst/>
              <a:defRPr/>
            </a:pPr>
            <a:endParaRPr kumimoji="0" lang="zh-CN" altLang="en-US" sz="2000" b="1" i="0" u="none" strike="noStrike" kern="1200" cap="none" spc="0" normalizeH="0" baseline="0" noProof="0">
              <a:ln>
                <a:noFill/>
              </a:ln>
              <a:solidFill>
                <a:prstClr val="white"/>
              </a:solidFill>
              <a:effectLst/>
              <a:uLnTx/>
              <a:uFillTx/>
              <a:latin typeface="Trebuchet MS"/>
              <a:ea typeface="Microsoft YaHei" panose="020B0503020204020204" pitchFamily="34" charset="-122"/>
              <a:cs typeface="+mn-cs"/>
              <a:sym typeface="+mn-lt"/>
            </a:endParaRPr>
          </a:p>
        </p:txBody>
      </p:sp>
      <p:sp>
        <p:nvSpPr>
          <p:cNvPr id="84" name="ïślïdé">
            <a:extLst>
              <a:ext uri="{FF2B5EF4-FFF2-40B4-BE49-F238E27FC236}">
                <a16:creationId xmlns:a16="http://schemas.microsoft.com/office/drawing/2014/main" id="{C3357FD9-F2BF-428F-97FA-F2C2CD68A187}"/>
              </a:ext>
            </a:extLst>
          </p:cNvPr>
          <p:cNvSpPr/>
          <p:nvPr/>
        </p:nvSpPr>
        <p:spPr>
          <a:xfrm>
            <a:off x="2045653" y="3200520"/>
            <a:ext cx="4567798" cy="1454031"/>
          </a:xfrm>
          <a:prstGeom prst="rect">
            <a:avLst/>
          </a:prstGeom>
          <a:solidFill>
            <a:schemeClr val="bg1"/>
          </a:solidFill>
          <a:ln w="3175" cap="rnd">
            <a:solidFill>
              <a:schemeClr val="bg1">
                <a:lumMod val="95000"/>
              </a:schemeClr>
            </a:solidFill>
            <a:prstDash val="solid"/>
            <a:round/>
            <a:headEnd/>
            <a:tailEnd/>
          </a:ln>
          <a:effectLst>
            <a:outerShdw blurRad="203200" dist="101600" dir="2700000" algn="tl" rotWithShape="0">
              <a:schemeClr val="accent5">
                <a:lumMod val="60000"/>
                <a:lumOff val="40000"/>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rmAutofit/>
          </a:bodyPr>
          <a:lstStyle/>
          <a:p>
            <a:pPr marL="0" marR="0" lvl="0" indent="0" algn="ctr" defTabSz="914354" rtl="0" eaLnBrk="1" fontAlgn="auto" latinLnBrk="0" hangingPunct="1">
              <a:lnSpc>
                <a:spcPct val="100000"/>
              </a:lnSpc>
              <a:spcBef>
                <a:spcPts val="0"/>
              </a:spcBef>
              <a:spcAft>
                <a:spcPts val="0"/>
              </a:spcAft>
              <a:buClrTx/>
              <a:buSzTx/>
              <a:buFontTx/>
              <a:buNone/>
              <a:tabLst/>
              <a:defRPr/>
            </a:pPr>
            <a:endParaRPr kumimoji="0" lang="zh-CN" altLang="en-US" sz="2000" b="1" i="0" u="none" strike="noStrike" kern="1200" cap="none" spc="0" normalizeH="0" baseline="0" noProof="0">
              <a:ln>
                <a:noFill/>
              </a:ln>
              <a:solidFill>
                <a:prstClr val="white"/>
              </a:solidFill>
              <a:effectLst/>
              <a:uLnTx/>
              <a:uFillTx/>
              <a:latin typeface="Trebuchet MS"/>
              <a:ea typeface="Microsoft YaHei" panose="020B0503020204020204" pitchFamily="34" charset="-122"/>
              <a:cs typeface="+mn-cs"/>
              <a:sym typeface="+mn-lt"/>
            </a:endParaRPr>
          </a:p>
        </p:txBody>
      </p:sp>
      <p:sp>
        <p:nvSpPr>
          <p:cNvPr id="85" name="ïślïdé">
            <a:extLst>
              <a:ext uri="{FF2B5EF4-FFF2-40B4-BE49-F238E27FC236}">
                <a16:creationId xmlns:a16="http://schemas.microsoft.com/office/drawing/2014/main" id="{FAAB0394-6664-4B70-9A61-24C4B34D3922}"/>
              </a:ext>
            </a:extLst>
          </p:cNvPr>
          <p:cNvSpPr/>
          <p:nvPr/>
        </p:nvSpPr>
        <p:spPr>
          <a:xfrm>
            <a:off x="2045653" y="4800436"/>
            <a:ext cx="4567798" cy="1454031"/>
          </a:xfrm>
          <a:prstGeom prst="rect">
            <a:avLst/>
          </a:prstGeom>
          <a:solidFill>
            <a:schemeClr val="bg1"/>
          </a:solidFill>
          <a:ln w="3175" cap="rnd">
            <a:solidFill>
              <a:schemeClr val="bg1">
                <a:lumMod val="95000"/>
              </a:schemeClr>
            </a:solidFill>
            <a:prstDash val="solid"/>
            <a:round/>
            <a:headEnd/>
            <a:tailEnd/>
          </a:ln>
          <a:effectLst>
            <a:outerShdw blurRad="203200" dist="101600" dir="2700000" algn="tl" rotWithShape="0">
              <a:schemeClr val="accent5">
                <a:lumMod val="60000"/>
                <a:lumOff val="40000"/>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rmAutofit/>
          </a:bodyPr>
          <a:lstStyle/>
          <a:p>
            <a:pPr marL="0" marR="0" lvl="0" indent="0" algn="ctr" defTabSz="914354" rtl="0" eaLnBrk="1" fontAlgn="auto" latinLnBrk="0" hangingPunct="1">
              <a:lnSpc>
                <a:spcPct val="100000"/>
              </a:lnSpc>
              <a:spcBef>
                <a:spcPts val="0"/>
              </a:spcBef>
              <a:spcAft>
                <a:spcPts val="0"/>
              </a:spcAft>
              <a:buClrTx/>
              <a:buSzTx/>
              <a:buFontTx/>
              <a:buNone/>
              <a:tabLst/>
              <a:defRPr/>
            </a:pPr>
            <a:endParaRPr kumimoji="0" lang="zh-CN" altLang="en-US" sz="2000" b="1" i="0" u="none" strike="noStrike" kern="1200" cap="none" spc="0" normalizeH="0" baseline="0" noProof="0">
              <a:ln>
                <a:noFill/>
              </a:ln>
              <a:solidFill>
                <a:prstClr val="white"/>
              </a:solidFill>
              <a:effectLst/>
              <a:uLnTx/>
              <a:uFillTx/>
              <a:latin typeface="Trebuchet MS"/>
              <a:ea typeface="Microsoft YaHei" panose="020B0503020204020204" pitchFamily="34" charset="-122"/>
              <a:cs typeface="+mn-cs"/>
              <a:sym typeface="+mn-lt"/>
            </a:endParaRPr>
          </a:p>
        </p:txBody>
      </p:sp>
      <p:sp>
        <p:nvSpPr>
          <p:cNvPr id="82" name="Rectangle 81">
            <a:extLst>
              <a:ext uri="{FF2B5EF4-FFF2-40B4-BE49-F238E27FC236}">
                <a16:creationId xmlns:a16="http://schemas.microsoft.com/office/drawing/2014/main" id="{C29F4DD9-6F9A-4E8D-ACD2-3FA828C572BE}"/>
              </a:ext>
            </a:extLst>
          </p:cNvPr>
          <p:cNvSpPr/>
          <p:nvPr/>
        </p:nvSpPr>
        <p:spPr>
          <a:xfrm>
            <a:off x="2098410" y="1694725"/>
            <a:ext cx="4462283" cy="1359910"/>
          </a:xfrm>
          <a:prstGeom prst="rect">
            <a:avLst/>
          </a:prstGeom>
          <a:pattFill prst="pct30">
            <a:fgClr>
              <a:schemeClr val="tx2">
                <a:lumMod val="20000"/>
                <a:lumOff val="80000"/>
              </a:schemeClr>
            </a:fgClr>
            <a:bgClr>
              <a:schemeClr val="bg1"/>
            </a:bgClr>
          </a:pattFill>
          <a:ln w="19050">
            <a:solidFill>
              <a:srgbClr val="29BA74"/>
            </a:solidFill>
            <a:prstDash val="sysDot"/>
          </a:ln>
        </p:spPr>
        <p:txBody>
          <a:bodyPr wrap="square" lIns="108000" tIns="108000" rIns="108000" bIns="108000" anchor="ctr">
            <a:noAutofit/>
          </a:bodyPr>
          <a:lstStyle/>
          <a:p>
            <a:pPr marL="324000" marR="0" lvl="1" indent="-216000" algn="l" defTabSz="914400" rtl="0" eaLnBrk="1" fontAlgn="auto" latinLnBrk="0" hangingPunct="1">
              <a:lnSpc>
                <a:spcPct val="100000"/>
              </a:lnSpc>
              <a:spcBef>
                <a:spcPts val="0"/>
              </a:spcBef>
              <a:spcAft>
                <a:spcPts val="0"/>
              </a:spcAft>
              <a:buClr>
                <a:srgbClr val="29BA74">
                  <a:lumMod val="100000"/>
                </a:srgbClr>
              </a:buClr>
              <a:buSzPct val="100000"/>
              <a:buFont typeface="Trebuchet MS" panose="020B0603020202020204" pitchFamily="34" charset="0"/>
              <a:buChar char="•"/>
              <a:tabLst/>
              <a:defRPr/>
            </a:pPr>
            <a:r>
              <a:rPr kumimoji="0" lang="zh-CN" altLang="en-US" sz="14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數據維度：</a:t>
            </a:r>
            <a:r>
              <a:rPr kumimoji="0" lang="zh-CN" altLang="en-US" sz="1400" b="0"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覆蓋</a:t>
            </a:r>
            <a:r>
              <a:rPr kumimoji="0" lang="en-US" altLang="zh-CN" sz="14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3</a:t>
            </a:r>
            <a:r>
              <a:rPr kumimoji="0" lang="zh-CN" altLang="en-US" sz="14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大維度，包括基礎屬性特徵、</a:t>
            </a:r>
            <a:r>
              <a:rPr lang="zh-TW" altLang="en-US" sz="1400" b="1">
                <a:solidFill>
                  <a:srgbClr val="575757"/>
                </a:solidFill>
                <a:latin typeface="Trebuchet MS"/>
                <a:ea typeface="Microsoft YaHei" panose="020B0503020204020204" pitchFamily="34" charset="-122"/>
                <a:sym typeface="Trebuchet MS" panose="020B0603020202020204" pitchFamily="34" charset="0"/>
              </a:rPr>
              <a:t>銀行業務</a:t>
            </a:r>
            <a:r>
              <a:rPr kumimoji="0" lang="zh-CN" altLang="en-US" sz="14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需求以及偏好特徵</a:t>
            </a:r>
            <a:r>
              <a:rPr kumimoji="0" lang="zh-CN" altLang="en-US" sz="1400" b="0"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，共計</a:t>
            </a:r>
            <a:r>
              <a:rPr kumimoji="0" lang="en-US" altLang="zh-CN" sz="14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22</a:t>
            </a:r>
            <a:r>
              <a:rPr kumimoji="0" lang="zh-CN" altLang="en-US" sz="14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項細分項</a:t>
            </a:r>
            <a:endParaRPr kumimoji="0" lang="en-US" altLang="zh-CN" sz="14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endParaRPr>
          </a:p>
          <a:p>
            <a:pPr marL="324000" marR="0" lvl="1" indent="-216000" algn="l" defTabSz="914400" rtl="0" eaLnBrk="1" fontAlgn="auto" latinLnBrk="0" hangingPunct="1">
              <a:lnSpc>
                <a:spcPct val="100000"/>
              </a:lnSpc>
              <a:spcBef>
                <a:spcPts val="0"/>
              </a:spcBef>
              <a:spcAft>
                <a:spcPts val="0"/>
              </a:spcAft>
              <a:buClr>
                <a:srgbClr val="29BA74">
                  <a:lumMod val="100000"/>
                </a:srgbClr>
              </a:buClr>
              <a:buSzPct val="100000"/>
              <a:buFont typeface="Trebuchet MS" panose="020B0603020202020204" pitchFamily="34" charset="0"/>
              <a:buChar char="•"/>
              <a:tabLst/>
              <a:defRPr/>
            </a:pPr>
            <a:r>
              <a:rPr kumimoji="0" lang="zh-CN" altLang="en-US" sz="14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資料處理：</a:t>
            </a:r>
            <a:r>
              <a:rPr kumimoji="0" lang="zh-CN" altLang="en-US" sz="1400" b="0"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對樣本資料進行</a:t>
            </a:r>
            <a:r>
              <a:rPr kumimoji="0" lang="zh-CN" altLang="en-US" sz="14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標</a:t>
            </a:r>
            <a:r>
              <a:rPr kumimoji="0" lang="zh-TW" altLang="en-US" sz="14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準</a:t>
            </a:r>
            <a:r>
              <a:rPr kumimoji="0" lang="zh-CN" altLang="en-US" sz="14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化處理</a:t>
            </a:r>
            <a:r>
              <a:rPr kumimoji="0" lang="en-US" altLang="zh-CN" sz="1400" b="1" i="0" u="none" strike="noStrike" kern="1200" cap="none" spc="0" normalizeH="0" baseline="3000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1</a:t>
            </a:r>
            <a:r>
              <a:rPr kumimoji="0" lang="en-US" altLang="zh-CN" sz="14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 </a:t>
            </a:r>
            <a:r>
              <a:rPr kumimoji="0" lang="zh-CN" altLang="en-US" sz="1400" b="0"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，降低數值間量級差异對模型結果的影響</a:t>
            </a:r>
          </a:p>
        </p:txBody>
      </p:sp>
      <p:sp>
        <p:nvSpPr>
          <p:cNvPr id="86" name="Rectangle 85">
            <a:extLst>
              <a:ext uri="{FF2B5EF4-FFF2-40B4-BE49-F238E27FC236}">
                <a16:creationId xmlns:a16="http://schemas.microsoft.com/office/drawing/2014/main" id="{871066E9-73F8-4E8E-9244-B9F9B6D3354C}"/>
              </a:ext>
            </a:extLst>
          </p:cNvPr>
          <p:cNvSpPr/>
          <p:nvPr/>
        </p:nvSpPr>
        <p:spPr>
          <a:xfrm>
            <a:off x="2098410" y="3306726"/>
            <a:ext cx="4462283" cy="1263988"/>
          </a:xfrm>
          <a:prstGeom prst="rect">
            <a:avLst/>
          </a:prstGeom>
          <a:pattFill prst="pct30">
            <a:fgClr>
              <a:schemeClr val="tx2">
                <a:lumMod val="20000"/>
                <a:lumOff val="80000"/>
              </a:schemeClr>
            </a:fgClr>
            <a:bgClr>
              <a:schemeClr val="bg1"/>
            </a:bgClr>
          </a:pattFill>
          <a:ln w="19050">
            <a:solidFill>
              <a:srgbClr val="29BA74"/>
            </a:solidFill>
            <a:prstDash val="sysDot"/>
          </a:ln>
        </p:spPr>
        <p:txBody>
          <a:bodyPr wrap="square" lIns="108000" tIns="108000" rIns="108000" bIns="108000">
            <a:noAutofit/>
          </a:bodyPr>
          <a:lstStyle/>
          <a:p>
            <a:pPr marL="324000" marR="0" lvl="1" indent="-216000" algn="l" defTabSz="914400" rtl="0" eaLnBrk="1" fontAlgn="auto" latinLnBrk="0" hangingPunct="1">
              <a:lnSpc>
                <a:spcPct val="100000"/>
              </a:lnSpc>
              <a:spcBef>
                <a:spcPts val="0"/>
              </a:spcBef>
              <a:spcAft>
                <a:spcPts val="0"/>
              </a:spcAft>
              <a:buClr>
                <a:srgbClr val="29BA74">
                  <a:lumMod val="100000"/>
                </a:srgbClr>
              </a:buClr>
              <a:buSzPct val="100000"/>
              <a:buFont typeface="Trebuchet MS" panose="020B0603020202020204" pitchFamily="34" charset="0"/>
              <a:buChar char="•"/>
              <a:tabLst/>
              <a:defRPr/>
            </a:pPr>
            <a:r>
              <a:rPr kumimoji="0" lang="zh-CN" altLang="en-US" sz="14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模型選擇：</a:t>
            </a:r>
            <a:r>
              <a:rPr kumimoji="0" lang="zh-CN" altLang="en-US" sz="1400" b="0"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由於</a:t>
            </a:r>
            <a:r>
              <a:rPr kumimoji="0" lang="zh-CN" altLang="en-US" sz="14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缺乏分群依據，</a:t>
            </a:r>
            <a:r>
              <a:rPr lang="zh-TW" altLang="en-US" sz="1400">
                <a:solidFill>
                  <a:srgbClr val="575757"/>
                </a:solidFill>
                <a:latin typeface="Trebuchet MS"/>
                <a:ea typeface="Microsoft YaHei" panose="020B0503020204020204" pitchFamily="34" charset="-122"/>
                <a:sym typeface="Trebuchet MS" panose="020B0603020202020204" pitchFamily="34" charset="0"/>
              </a:rPr>
              <a:t>採</a:t>
            </a:r>
            <a:r>
              <a:rPr kumimoji="0" lang="zh-CN" altLang="en-US" sz="1400" b="0"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用</a:t>
            </a:r>
            <a:r>
              <a:rPr kumimoji="0" lang="zh-CN" altLang="en-US" sz="14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無監督</a:t>
            </a:r>
            <a:r>
              <a:rPr kumimoji="0" lang="en-US" altLang="zh-CN" sz="1400" b="1" i="0" u="none" strike="noStrike" kern="1200" cap="none" spc="0" normalizeH="0" baseline="0" noProof="0" err="1">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Kmeans</a:t>
            </a:r>
            <a:r>
              <a:rPr kumimoji="0" lang="zh-CN" altLang="en-US" sz="14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模型</a:t>
            </a:r>
            <a:r>
              <a:rPr kumimoji="0" lang="zh-CN" altLang="en-US" sz="1400" b="0"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，根據樣本間相似度對樣本聚類</a:t>
            </a:r>
            <a:endParaRPr kumimoji="0" lang="en-US" altLang="zh-CN" sz="1400" b="0"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endParaRPr>
          </a:p>
          <a:p>
            <a:pPr marL="324000" marR="0" lvl="1" indent="-216000" algn="l" defTabSz="914400" rtl="0" eaLnBrk="1" fontAlgn="auto" latinLnBrk="0" hangingPunct="1">
              <a:lnSpc>
                <a:spcPct val="100000"/>
              </a:lnSpc>
              <a:spcBef>
                <a:spcPts val="0"/>
              </a:spcBef>
              <a:spcAft>
                <a:spcPts val="0"/>
              </a:spcAft>
              <a:buClr>
                <a:srgbClr val="29BA74">
                  <a:lumMod val="100000"/>
                </a:srgbClr>
              </a:buClr>
              <a:buSzPct val="100000"/>
              <a:buFont typeface="Trebuchet MS" panose="020B0603020202020204" pitchFamily="34" charset="0"/>
              <a:buChar char="•"/>
              <a:tabLst/>
              <a:defRPr/>
            </a:pPr>
            <a:r>
              <a:rPr kumimoji="0" lang="zh-CN" altLang="en-US" sz="14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模型運行：</a:t>
            </a:r>
            <a:r>
              <a:rPr kumimoji="0" lang="zh-CN" altLang="en-US" sz="1400" b="0"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採用</a:t>
            </a:r>
            <a:r>
              <a:rPr kumimoji="0" lang="en-US" altLang="zh-CN" sz="1400" b="0"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Python</a:t>
            </a:r>
            <a:r>
              <a:rPr kumimoji="0" lang="zh-CN" altLang="en-US" sz="1400" b="0"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a:t>
            </a:r>
            <a:r>
              <a:rPr kumimoji="0" lang="en-US" altLang="zh-CN" sz="1400" b="0"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R</a:t>
            </a:r>
            <a:r>
              <a:rPr kumimoji="0" lang="zh-CN" altLang="en-US" sz="1400" b="0"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等工具，結合業務判斷嘗試</a:t>
            </a:r>
            <a:r>
              <a:rPr kumimoji="0" lang="zh-CN" altLang="en-US" sz="14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初始聚類數量</a:t>
            </a:r>
            <a:r>
              <a:rPr kumimoji="0" lang="zh-CN" altLang="en-US" sz="1400" b="0"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a:t>
            </a:r>
            <a:r>
              <a:rPr kumimoji="0" lang="en-US" altLang="zh-CN" sz="1400" b="0"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K=10,15,20…)</a:t>
            </a:r>
            <a:r>
              <a:rPr kumimoji="0" lang="zh-CN" altLang="en-US" sz="14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，選擇局部模型表現最優</a:t>
            </a:r>
            <a:r>
              <a:rPr kumimoji="0" lang="en-US" altLang="zh-CN" sz="14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10</a:t>
            </a:r>
            <a:r>
              <a:rPr kumimoji="0" lang="zh-CN" altLang="en-US" sz="14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類</a:t>
            </a:r>
            <a:r>
              <a:rPr kumimoji="0" lang="zh-CN" altLang="en-US" sz="1400" b="0"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作為聚類數量，運行</a:t>
            </a:r>
            <a:r>
              <a:rPr kumimoji="0" lang="en-US" altLang="zh-CN" sz="1400" b="0" i="0" u="none" strike="noStrike" kern="1200" cap="none" spc="0" normalizeH="0" baseline="0" noProof="0" err="1">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Kmeans</a:t>
            </a:r>
            <a:r>
              <a:rPr kumimoji="0" lang="zh-CN" altLang="en-US" sz="1400" b="0"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模型</a:t>
            </a:r>
            <a:endParaRPr kumimoji="0" lang="en-US" altLang="zh-CN" sz="1400" b="0"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endParaRPr>
          </a:p>
        </p:txBody>
      </p:sp>
      <p:sp>
        <p:nvSpPr>
          <p:cNvPr id="87" name="Rectangle 86">
            <a:extLst>
              <a:ext uri="{FF2B5EF4-FFF2-40B4-BE49-F238E27FC236}">
                <a16:creationId xmlns:a16="http://schemas.microsoft.com/office/drawing/2014/main" id="{E283580E-6503-49A3-B278-7DCF0A048AF1}"/>
              </a:ext>
            </a:extLst>
          </p:cNvPr>
          <p:cNvSpPr/>
          <p:nvPr/>
        </p:nvSpPr>
        <p:spPr>
          <a:xfrm>
            <a:off x="2098410" y="4904400"/>
            <a:ext cx="4462283" cy="1263988"/>
          </a:xfrm>
          <a:prstGeom prst="rect">
            <a:avLst/>
          </a:prstGeom>
          <a:pattFill prst="pct30">
            <a:fgClr>
              <a:schemeClr val="tx2">
                <a:lumMod val="20000"/>
                <a:lumOff val="80000"/>
              </a:schemeClr>
            </a:fgClr>
            <a:bgClr>
              <a:schemeClr val="bg1"/>
            </a:bgClr>
          </a:pattFill>
          <a:ln w="19050">
            <a:solidFill>
              <a:srgbClr val="29BA74"/>
            </a:solidFill>
            <a:prstDash val="sysDot"/>
          </a:ln>
        </p:spPr>
        <p:txBody>
          <a:bodyPr wrap="square" lIns="108000" tIns="108000" rIns="108000" bIns="108000" anchor="ctr">
            <a:noAutofit/>
          </a:bodyPr>
          <a:lstStyle/>
          <a:p>
            <a:pPr marL="324000" marR="0" lvl="1" indent="-216000" algn="l" defTabSz="914400" rtl="0" eaLnBrk="1" fontAlgn="auto" latinLnBrk="0" hangingPunct="1">
              <a:lnSpc>
                <a:spcPct val="100000"/>
              </a:lnSpc>
              <a:spcBef>
                <a:spcPts val="0"/>
              </a:spcBef>
              <a:spcAft>
                <a:spcPts val="0"/>
              </a:spcAft>
              <a:buClr>
                <a:srgbClr val="29BA74">
                  <a:lumMod val="100000"/>
                </a:srgbClr>
              </a:buClr>
              <a:buSzPct val="100000"/>
              <a:buFont typeface="Trebuchet MS" panose="020B0603020202020204" pitchFamily="34" charset="0"/>
              <a:buChar char="•"/>
              <a:tabLst/>
              <a:defRPr/>
            </a:pPr>
            <a:r>
              <a:rPr kumimoji="0" lang="zh-CN" altLang="en-US" sz="14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結果輸出：</a:t>
            </a:r>
            <a:r>
              <a:rPr kumimoji="0" lang="zh-CN" altLang="en-US" sz="1400" b="0"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輸出</a:t>
            </a:r>
            <a:r>
              <a:rPr kumimoji="0" lang="en-US" altLang="zh-CN" sz="14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10</a:t>
            </a:r>
            <a:r>
              <a:rPr kumimoji="0" lang="zh-CN" altLang="en-US" sz="14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類</a:t>
            </a:r>
            <a:r>
              <a:rPr kumimoji="0" lang="zh-CN" altLang="en-US" sz="1400" b="0"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聚類結果，包括</a:t>
            </a:r>
            <a:r>
              <a:rPr kumimoji="0" lang="zh-CN" altLang="en-US" sz="14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樣本量及即各客群各維度平均值</a:t>
            </a:r>
            <a:r>
              <a:rPr kumimoji="0" lang="en-US" altLang="zh-CN" sz="1400" b="1" i="0" u="none" strike="noStrike" kern="1200" cap="none" spc="0" normalizeH="0" baseline="3000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3</a:t>
            </a:r>
            <a:r>
              <a:rPr kumimoji="0" lang="en-US" altLang="zh-CN" sz="14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 </a:t>
            </a:r>
          </a:p>
          <a:p>
            <a:pPr marL="324000" marR="0" lvl="1" indent="-216000" algn="l" defTabSz="914400" rtl="0" eaLnBrk="1" fontAlgn="auto" latinLnBrk="0" hangingPunct="1">
              <a:lnSpc>
                <a:spcPct val="100000"/>
              </a:lnSpc>
              <a:spcBef>
                <a:spcPts val="0"/>
              </a:spcBef>
              <a:spcAft>
                <a:spcPts val="0"/>
              </a:spcAft>
              <a:buClr>
                <a:srgbClr val="29BA74">
                  <a:lumMod val="100000"/>
                </a:srgbClr>
              </a:buClr>
              <a:buSzPct val="100000"/>
              <a:buFont typeface="Trebuchet MS" panose="020B0603020202020204" pitchFamily="34" charset="0"/>
              <a:buChar char="•"/>
              <a:tabLst/>
              <a:defRPr/>
            </a:pPr>
            <a:r>
              <a:rPr kumimoji="0" lang="zh-CN" altLang="en-US" sz="14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特徵比較：跨客群</a:t>
            </a:r>
            <a:r>
              <a:rPr kumimoji="0" lang="zh-CN" altLang="en-US" sz="1400" b="0"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比較</a:t>
            </a:r>
            <a:r>
              <a:rPr kumimoji="0" lang="zh-CN" altLang="en-US" sz="14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維度平均值，若位列</a:t>
            </a:r>
            <a:r>
              <a:rPr kumimoji="0" lang="en-US" altLang="zh-CN" sz="14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TOP3</a:t>
            </a:r>
            <a:r>
              <a:rPr kumimoji="0" lang="en-US" altLang="zh-CN" sz="1400" b="1" i="0" u="none" strike="noStrike" kern="1200" cap="none" spc="0" normalizeH="0" baseline="3000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4</a:t>
            </a:r>
            <a:r>
              <a:rPr kumimoji="0" lang="en-US" altLang="zh-CN" sz="14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 </a:t>
            </a:r>
            <a:r>
              <a:rPr kumimoji="0" lang="zh-CN" altLang="en-US" sz="14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a:t>
            </a:r>
            <a:r>
              <a:rPr kumimoji="0" lang="zh-CN" altLang="en-US" sz="1400" b="0"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則該客群在該維度特徵突出</a:t>
            </a:r>
          </a:p>
        </p:txBody>
      </p:sp>
      <p:sp>
        <p:nvSpPr>
          <p:cNvPr id="89" name="ee4pFootnotes">
            <a:extLst>
              <a:ext uri="{FF2B5EF4-FFF2-40B4-BE49-F238E27FC236}">
                <a16:creationId xmlns:a16="http://schemas.microsoft.com/office/drawing/2014/main" id="{8A17D5FA-1F1A-44A7-8D8F-660BDE5AFE1B}"/>
              </a:ext>
            </a:extLst>
          </p:cNvPr>
          <p:cNvSpPr>
            <a:spLocks noChangeArrowheads="1"/>
          </p:cNvSpPr>
          <p:nvPr/>
        </p:nvSpPr>
        <p:spPr bwMode="auto">
          <a:xfrm>
            <a:off x="629999" y="6456443"/>
            <a:ext cx="10915084" cy="276999"/>
          </a:xfrm>
          <a:prstGeom prst="rect">
            <a:avLst/>
          </a:prstGeom>
          <a:noFill/>
          <a:ln w="9525" algn="ctr">
            <a:noFill/>
            <a:miter lim="800000"/>
            <a:headEnd type="none" w="lg" len="lg"/>
            <a:tailEnd type="none" w="lg" len="lg"/>
          </a:ln>
        </p:spPr>
        <p:txBody>
          <a:bodyPr vert="horz" wrap="square" lIns="0" tIns="0" rIns="0" bIns="0" anchor="b" anchorCtr="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00" b="0" i="0" u="none" strike="noStrike" kern="1200" cap="none" spc="0" normalizeH="0" baseline="0" noProof="0">
                <a:ln>
                  <a:noFill/>
                </a:ln>
                <a:solidFill>
                  <a:prstClr val="white">
                    <a:lumMod val="50000"/>
                  </a:prstClr>
                </a:solidFill>
                <a:effectLst/>
                <a:uLnTx/>
                <a:uFillTx/>
                <a:latin typeface="Trebuchet MS"/>
                <a:ea typeface="Microsoft YaHei" panose="020B0503020204020204" pitchFamily="34" charset="-122"/>
                <a:cs typeface="Arial" pitchFamily="34" charset="0"/>
              </a:rPr>
              <a:t>1.</a:t>
            </a:r>
            <a:r>
              <a:rPr kumimoji="0" lang="zh-CN" altLang="zh-CN" sz="1000" b="0" i="0" u="none" strike="noStrike" kern="1200" cap="none" spc="0" normalizeH="0" baseline="0" noProof="0">
                <a:ln>
                  <a:noFill/>
                </a:ln>
                <a:solidFill>
                  <a:prstClr val="white">
                    <a:lumMod val="50000"/>
                  </a:prstClr>
                </a:solidFill>
                <a:effectLst/>
                <a:uLnTx/>
                <a:uFillTx/>
                <a:latin typeface="Trebuchet MS"/>
                <a:ea typeface="Microsoft YaHei" panose="020B0503020204020204" pitchFamily="34" charset="-122"/>
                <a:cs typeface="Arial" pitchFamily="34" charset="0"/>
              </a:rPr>
              <a:t>所有維度數據經過歸一化資料處理，即采</a:t>
            </a:r>
            <a:r>
              <a:rPr kumimoji="0" lang="zh-CN" altLang="en-US" sz="1000" b="0" i="0" u="none" strike="noStrike" kern="1200" cap="none" spc="0" normalizeH="0" baseline="0" noProof="0">
                <a:ln>
                  <a:noFill/>
                </a:ln>
                <a:solidFill>
                  <a:prstClr val="white">
                    <a:lumMod val="50000"/>
                  </a:prstClr>
                </a:solidFill>
                <a:effectLst/>
                <a:uLnTx/>
                <a:uFillTx/>
                <a:latin typeface="Trebuchet MS"/>
                <a:ea typeface="Microsoft YaHei" panose="020B0503020204020204" pitchFamily="34" charset="-122"/>
                <a:cs typeface="Arial" pitchFamily="34" charset="0"/>
              </a:rPr>
              <a:t>用</a:t>
            </a:r>
            <a:r>
              <a:rPr kumimoji="0" lang="en-US" altLang="zh-CN" sz="1000" b="0" i="0" u="none" strike="noStrike" kern="1200" cap="none" spc="0" normalizeH="0" baseline="0" noProof="0">
                <a:ln>
                  <a:noFill/>
                </a:ln>
                <a:solidFill>
                  <a:prstClr val="white">
                    <a:lumMod val="50000"/>
                  </a:prstClr>
                </a:solidFill>
                <a:effectLst/>
                <a:uLnTx/>
                <a:uFillTx/>
                <a:latin typeface="Trebuchet MS"/>
                <a:ea typeface="Microsoft YaHei" panose="020B0503020204020204" pitchFamily="34" charset="-122"/>
                <a:cs typeface="Arial" pitchFamily="34" charset="0"/>
              </a:rPr>
              <a:t>(x-min)/(max-min)</a:t>
            </a:r>
            <a:r>
              <a:rPr kumimoji="0" lang="zh-CN" altLang="zh-CN" sz="1000" b="0" i="0" u="none" strike="noStrike" kern="1200" cap="none" spc="0" normalizeH="0" baseline="0" noProof="0">
                <a:ln>
                  <a:noFill/>
                </a:ln>
                <a:solidFill>
                  <a:prstClr val="white">
                    <a:lumMod val="50000"/>
                  </a:prstClr>
                </a:solidFill>
                <a:effectLst/>
                <a:uLnTx/>
                <a:uFillTx/>
                <a:latin typeface="Trebuchet MS"/>
                <a:ea typeface="Microsoft YaHei" panose="020B0503020204020204" pitchFamily="34" charset="-122"/>
                <a:cs typeface="Arial" pitchFamily="34" charset="0"/>
              </a:rPr>
              <a:t>進行換算</a:t>
            </a:r>
            <a:r>
              <a:rPr kumimoji="0" lang="zh-CN" altLang="en-US" sz="1000" b="0" i="0" u="none" strike="noStrike" kern="1200" cap="none" spc="0" normalizeH="0" baseline="0" noProof="0">
                <a:ln>
                  <a:noFill/>
                </a:ln>
                <a:solidFill>
                  <a:prstClr val="white">
                    <a:lumMod val="50000"/>
                  </a:prstClr>
                </a:solidFill>
                <a:effectLst/>
                <a:uLnTx/>
                <a:uFillTx/>
                <a:latin typeface="Trebuchet MS"/>
                <a:ea typeface="Microsoft YaHei" panose="020B0503020204020204" pitchFamily="34" charset="-122"/>
                <a:cs typeface="Arial" pitchFamily="34" charset="0"/>
              </a:rPr>
              <a:t>；</a:t>
            </a:r>
            <a:r>
              <a:rPr kumimoji="0" lang="en-US" altLang="zh-CN" sz="1000" b="0" i="0" u="none" strike="noStrike" kern="1200" cap="none" spc="0" normalizeH="0" baseline="0" noProof="0">
                <a:ln>
                  <a:noFill/>
                </a:ln>
                <a:solidFill>
                  <a:prstClr val="white">
                    <a:lumMod val="50000"/>
                  </a:prstClr>
                </a:solidFill>
                <a:effectLst/>
                <a:uLnTx/>
                <a:uFillTx/>
                <a:latin typeface="Trebuchet MS"/>
                <a:ea typeface="Microsoft YaHei" panose="020B0503020204020204" pitchFamily="34" charset="-122"/>
                <a:cs typeface="Arial" pitchFamily="34" charset="0"/>
              </a:rPr>
              <a:t>2. </a:t>
            </a:r>
            <a:r>
              <a:rPr kumimoji="0" lang="zh-CN" altLang="en-US" sz="1000" b="0" i="0" u="none" strike="noStrike" kern="1200" cap="none" spc="0" normalizeH="0" baseline="0" noProof="0">
                <a:ln>
                  <a:noFill/>
                </a:ln>
                <a:solidFill>
                  <a:prstClr val="white">
                    <a:lumMod val="50000"/>
                  </a:prstClr>
                </a:solidFill>
                <a:effectLst/>
                <a:uLnTx/>
                <a:uFillTx/>
                <a:latin typeface="Trebuchet MS"/>
                <a:ea typeface="Microsoft YaHei" panose="020B0503020204020204" pitchFamily="34" charset="-122"/>
                <a:cs typeface="Arial" pitchFamily="34" charset="0"/>
              </a:rPr>
              <a:t>結果示意圖將</a:t>
            </a:r>
            <a:r>
              <a:rPr kumimoji="0" lang="en-US" altLang="zh-CN" sz="1000" b="0" i="0" u="none" strike="noStrike" kern="1200" cap="none" spc="0" normalizeH="0" baseline="0" noProof="0">
                <a:ln>
                  <a:noFill/>
                </a:ln>
                <a:solidFill>
                  <a:prstClr val="white">
                    <a:lumMod val="50000"/>
                  </a:prstClr>
                </a:solidFill>
                <a:effectLst/>
                <a:uLnTx/>
                <a:uFillTx/>
                <a:latin typeface="Trebuchet MS"/>
                <a:ea typeface="Microsoft YaHei" panose="020B0503020204020204" pitchFamily="34" charset="-122"/>
                <a:cs typeface="Arial" pitchFamily="34" charset="0"/>
              </a:rPr>
              <a:t>10</a:t>
            </a:r>
            <a:r>
              <a:rPr kumimoji="0" lang="zh-CN" altLang="en-US" sz="1000" b="0" i="0" u="none" strike="noStrike" kern="1200" cap="none" spc="0" normalizeH="0" baseline="0" noProof="0">
                <a:ln>
                  <a:noFill/>
                </a:ln>
                <a:solidFill>
                  <a:prstClr val="white">
                    <a:lumMod val="50000"/>
                  </a:prstClr>
                </a:solidFill>
                <a:effectLst/>
                <a:uLnTx/>
                <a:uFillTx/>
                <a:latin typeface="Trebuchet MS"/>
                <a:ea typeface="Microsoft YaHei" panose="020B0503020204020204" pitchFamily="34" charset="-122"/>
                <a:cs typeface="Arial" pitchFamily="34" charset="0"/>
              </a:rPr>
              <a:t>維圖映射至</a:t>
            </a:r>
            <a:r>
              <a:rPr kumimoji="0" lang="en-US" altLang="zh-CN" sz="1000" b="0" i="0" u="none" strike="noStrike" kern="1200" cap="none" spc="0" normalizeH="0" baseline="0" noProof="0">
                <a:ln>
                  <a:noFill/>
                </a:ln>
                <a:solidFill>
                  <a:prstClr val="white">
                    <a:lumMod val="50000"/>
                  </a:prstClr>
                </a:solidFill>
                <a:effectLst/>
                <a:uLnTx/>
                <a:uFillTx/>
                <a:latin typeface="Trebuchet MS"/>
                <a:ea typeface="Microsoft YaHei" panose="020B0503020204020204" pitchFamily="34" charset="-122"/>
                <a:cs typeface="Arial" pitchFamily="34" charset="0"/>
              </a:rPr>
              <a:t>2</a:t>
            </a:r>
            <a:r>
              <a:rPr kumimoji="0" lang="zh-CN" altLang="en-US" sz="1000" b="0" i="0" u="none" strike="noStrike" kern="1200" cap="none" spc="0" normalizeH="0" baseline="0" noProof="0">
                <a:ln>
                  <a:noFill/>
                </a:ln>
                <a:solidFill>
                  <a:prstClr val="white">
                    <a:lumMod val="50000"/>
                  </a:prstClr>
                </a:solidFill>
                <a:effectLst/>
                <a:uLnTx/>
                <a:uFillTx/>
                <a:latin typeface="Trebuchet MS"/>
                <a:ea typeface="Microsoft YaHei" panose="020B0503020204020204" pitchFamily="34" charset="-122"/>
                <a:cs typeface="Arial" pitchFamily="34" charset="0"/>
              </a:rPr>
              <a:t>維展現；</a:t>
            </a:r>
            <a:r>
              <a:rPr kumimoji="0" lang="en-US" altLang="zh-CN" sz="1000" b="0" i="0" u="none" strike="noStrike" kern="1200" cap="none" spc="0" normalizeH="0" baseline="0" noProof="0">
                <a:ln>
                  <a:noFill/>
                </a:ln>
                <a:solidFill>
                  <a:prstClr val="white">
                    <a:lumMod val="50000"/>
                  </a:prstClr>
                </a:solidFill>
                <a:effectLst/>
                <a:uLnTx/>
                <a:uFillTx/>
                <a:latin typeface="Trebuchet MS"/>
                <a:ea typeface="Microsoft YaHei" panose="020B0503020204020204" pitchFamily="34" charset="-122"/>
                <a:cs typeface="Arial" pitchFamily="34" charset="0"/>
              </a:rPr>
              <a:t>3. </a:t>
            </a:r>
            <a:r>
              <a:rPr kumimoji="0" lang="zh-CN" altLang="en-US" sz="1000" b="0" i="0" u="none" strike="noStrike" kern="1200" cap="none" spc="0" normalizeH="0" baseline="0" noProof="0">
                <a:ln>
                  <a:noFill/>
                </a:ln>
                <a:solidFill>
                  <a:prstClr val="white">
                    <a:lumMod val="50000"/>
                  </a:prstClr>
                </a:solidFill>
                <a:effectLst/>
                <a:uLnTx/>
                <a:uFillTx/>
                <a:latin typeface="Trebuchet MS"/>
                <a:ea typeface="Microsoft YaHei" panose="020B0503020204020204" pitchFamily="34" charset="-122"/>
                <a:cs typeface="Arial" pitchFamily="34" charset="0"/>
              </a:rPr>
              <a:t>質心座標；</a:t>
            </a:r>
            <a:r>
              <a:rPr kumimoji="0" lang="en-US" altLang="zh-CN" sz="1000" b="0" i="0" u="none" strike="noStrike" kern="1200" cap="none" spc="0" normalizeH="0" baseline="0" noProof="0">
                <a:ln>
                  <a:noFill/>
                </a:ln>
                <a:solidFill>
                  <a:prstClr val="white">
                    <a:lumMod val="50000"/>
                  </a:prstClr>
                </a:solidFill>
                <a:effectLst/>
                <a:uLnTx/>
                <a:uFillTx/>
                <a:latin typeface="Trebuchet MS"/>
                <a:ea typeface="Microsoft YaHei" panose="020B0503020204020204" pitchFamily="34" charset="-122"/>
                <a:cs typeface="Arial" pitchFamily="34" charset="0"/>
              </a:rPr>
              <a:t>4. </a:t>
            </a:r>
            <a:r>
              <a:rPr kumimoji="0" lang="zh-CN" altLang="en-US" sz="1000" b="0" i="0" u="none" strike="noStrike" kern="1200" cap="none" spc="0" normalizeH="0" baseline="0" noProof="0">
                <a:ln>
                  <a:noFill/>
                </a:ln>
                <a:solidFill>
                  <a:prstClr val="white">
                    <a:lumMod val="50000"/>
                  </a:prstClr>
                </a:solidFill>
                <a:effectLst/>
                <a:uLnTx/>
                <a:uFillTx/>
                <a:latin typeface="Trebuchet MS"/>
                <a:ea typeface="Microsoft YaHei" panose="020B0503020204020204" pitchFamily="34" charset="-122"/>
                <a:cs typeface="Arial" pitchFamily="34" charset="0"/>
              </a:rPr>
              <a:t>且需同時滿足針對統一客群跨維度比較，平均值位列</a:t>
            </a:r>
            <a:r>
              <a:rPr kumimoji="0" lang="en-US" altLang="zh-CN" sz="1000" b="0" i="0" u="none" strike="noStrike" kern="1200" cap="none" spc="0" normalizeH="0" baseline="0" noProof="0">
                <a:ln>
                  <a:noFill/>
                </a:ln>
                <a:solidFill>
                  <a:prstClr val="white">
                    <a:lumMod val="50000"/>
                  </a:prstClr>
                </a:solidFill>
                <a:effectLst/>
                <a:uLnTx/>
                <a:uFillTx/>
                <a:latin typeface="Trebuchet MS"/>
                <a:ea typeface="Microsoft YaHei" panose="020B0503020204020204" pitchFamily="34" charset="-122"/>
                <a:cs typeface="Arial" pitchFamily="34" charset="0"/>
              </a:rPr>
              <a:t>TOP5</a:t>
            </a:r>
            <a:r>
              <a:rPr kumimoji="0" lang="zh-CN" altLang="en-US" sz="1000" b="0" i="0" u="none" strike="noStrike" kern="1200" cap="none" spc="0" normalizeH="0" baseline="0" noProof="0">
                <a:ln>
                  <a:noFill/>
                </a:ln>
                <a:solidFill>
                  <a:prstClr val="white">
                    <a:lumMod val="50000"/>
                  </a:prstClr>
                </a:solidFill>
                <a:effectLst/>
                <a:uLnTx/>
                <a:uFillTx/>
                <a:latin typeface="Trebuchet MS"/>
                <a:ea typeface="Microsoft YaHei" panose="020B0503020204020204" pitchFamily="34" charset="-122"/>
                <a:cs typeface="Arial" pitchFamily="34" charset="0"/>
              </a:rPr>
              <a:t>；可根據實際情況調整比較規則</a:t>
            </a:r>
            <a:endParaRPr kumimoji="0" lang="en-US" sz="1000" b="0" i="0" u="none" strike="noStrike" kern="1200" cap="none" spc="0" normalizeH="0" baseline="0" noProof="0">
              <a:ln>
                <a:noFill/>
              </a:ln>
              <a:solidFill>
                <a:prstClr val="white">
                  <a:lumMod val="50000"/>
                </a:prstClr>
              </a:solidFill>
              <a:effectLst/>
              <a:uLnTx/>
              <a:uFillTx/>
              <a:latin typeface="Trebuchet MS"/>
              <a:ea typeface="Microsoft YaHei" panose="020B0503020204020204" pitchFamily="34" charset="-122"/>
              <a:cs typeface="Arial" pitchFamily="34" charset="0"/>
            </a:endParaRPr>
          </a:p>
        </p:txBody>
      </p:sp>
      <p:sp>
        <p:nvSpPr>
          <p:cNvPr id="44" name="TextBox 43">
            <a:extLst>
              <a:ext uri="{FF2B5EF4-FFF2-40B4-BE49-F238E27FC236}">
                <a16:creationId xmlns:a16="http://schemas.microsoft.com/office/drawing/2014/main" id="{1E7B52C5-BC86-4762-9DDD-645A4C3AD62B}"/>
              </a:ext>
            </a:extLst>
          </p:cNvPr>
          <p:cNvSpPr txBox="1"/>
          <p:nvPr/>
        </p:nvSpPr>
        <p:spPr>
          <a:xfrm>
            <a:off x="7020569" y="1668315"/>
            <a:ext cx="4592782" cy="2677656"/>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400" b="1" i="0" u="none" strike="noStrike" kern="1200" cap="none" spc="0" normalizeH="0" baseline="0" noProof="0">
                <a:ln>
                  <a:noFill/>
                </a:ln>
                <a:solidFill>
                  <a:srgbClr val="575757"/>
                </a:solidFill>
                <a:effectLst/>
                <a:uLnTx/>
                <a:uFillTx/>
                <a:latin typeface="Helvetica Neue"/>
                <a:ea typeface="Microsoft YaHei" panose="020B0503020204020204" pitchFamily="34" charset="-122"/>
                <a:cs typeface="+mn-cs"/>
              </a:rPr>
              <a:t>聚類</a:t>
            </a:r>
            <a:endParaRPr kumimoji="0" lang="en-US" altLang="zh-CN" sz="1400" b="0" i="0" u="none" strike="noStrike" kern="1200" cap="none" spc="0" normalizeH="0" baseline="0" noProof="0">
              <a:ln>
                <a:noFill/>
              </a:ln>
              <a:solidFill>
                <a:srgbClr val="575757"/>
              </a:solidFill>
              <a:effectLst/>
              <a:uLnTx/>
              <a:uFillTx/>
              <a:latin typeface="Helvetica Neue"/>
              <a:ea typeface="Microsoft YaHei" panose="020B0503020204020204" pitchFamily="34" charset="-122"/>
              <a:cs typeface="+mn-cs"/>
            </a:endParaRPr>
          </a:p>
          <a:p>
            <a:pPr marL="324000" marR="0" lvl="1" indent="-216000" algn="l" defTabSz="914400" rtl="0" eaLnBrk="1" fontAlgn="auto" latinLnBrk="0" hangingPunct="1">
              <a:lnSpc>
                <a:spcPct val="100000"/>
              </a:lnSpc>
              <a:spcBef>
                <a:spcPts val="0"/>
              </a:spcBef>
              <a:spcAft>
                <a:spcPts val="0"/>
              </a:spcAft>
              <a:buClr>
                <a:srgbClr val="29BA74"/>
              </a:buClr>
              <a:buSzTx/>
              <a:buFont typeface="Trebuchet MS" panose="020B0603020202020204" pitchFamily="34" charset="0"/>
              <a:buChar char="•"/>
              <a:tabLst/>
              <a:defRPr/>
            </a:pPr>
            <a:r>
              <a:rPr kumimoji="0" lang="zh-CN" altLang="en-US" sz="1400" b="0" i="0" u="none" strike="noStrike" kern="1200" cap="none" spc="0" normalizeH="0" baseline="0" noProof="0">
                <a:ln>
                  <a:noFill/>
                </a:ln>
                <a:solidFill>
                  <a:srgbClr val="575757"/>
                </a:solidFill>
                <a:effectLst/>
                <a:uLnTx/>
                <a:uFillTx/>
                <a:latin typeface="Trebuchet MS" panose="020B0603020202020204" pitchFamily="34" charset="0"/>
                <a:ea typeface="Microsoft YaHei" panose="020B0503020204020204" pitchFamily="34" charset="-122"/>
                <a:cs typeface="+mn-cs"/>
              </a:rPr>
              <a:t>一個將資料集中，在某些方面相似的資料成員進行分類組織的過程（無監督學習）</a:t>
            </a:r>
            <a:endParaRPr kumimoji="0" lang="en-US" altLang="zh-CN" sz="1400" b="1" i="0" u="none" strike="noStrike" kern="1200" cap="none" spc="0" normalizeH="0" baseline="0" noProof="0">
              <a:ln>
                <a:noFill/>
              </a:ln>
              <a:solidFill>
                <a:srgbClr val="575757"/>
              </a:solidFill>
              <a:effectLst/>
              <a:uLnTx/>
              <a:uFillTx/>
              <a:latin typeface="Trebuchet MS" panose="020B0603020202020204" pitchFamily="34" charset="0"/>
              <a:ea typeface="Microsoft YaHei" panose="020B0503020204020204" pitchFamily="34" charset="-122"/>
              <a:cs typeface="+mn-cs"/>
            </a:endParaRPr>
          </a:p>
          <a:p>
            <a:pPr marL="0" marR="0" lvl="0" indent="0" algn="l"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altLang="zh-CN" sz="1400" b="1" i="0" u="none" strike="noStrike" kern="1200" cap="none" spc="0" normalizeH="0" baseline="0" noProof="0" err="1">
                <a:ln>
                  <a:noFill/>
                </a:ln>
                <a:solidFill>
                  <a:srgbClr val="575757"/>
                </a:solidFill>
                <a:effectLst/>
                <a:uLnTx/>
                <a:uFillTx/>
                <a:latin typeface="Trebuchet MS" panose="020B0603020202020204" pitchFamily="34" charset="0"/>
                <a:ea typeface="Microsoft YaHei" panose="020B0503020204020204" pitchFamily="34" charset="-122"/>
                <a:cs typeface="+mn-cs"/>
              </a:rPr>
              <a:t>Kmeans</a:t>
            </a:r>
            <a:r>
              <a:rPr kumimoji="0" lang="zh-CN" altLang="en-US" sz="1400" b="1" i="0" u="none" strike="noStrike" kern="1200" cap="none" spc="0" normalizeH="0" baseline="0" noProof="0">
                <a:ln>
                  <a:noFill/>
                </a:ln>
                <a:solidFill>
                  <a:srgbClr val="575757"/>
                </a:solidFill>
                <a:effectLst/>
                <a:uLnTx/>
                <a:uFillTx/>
                <a:latin typeface="Trebuchet MS" panose="020B0603020202020204" pitchFamily="34" charset="0"/>
                <a:ea typeface="Microsoft YaHei" panose="020B0503020204020204" pitchFamily="34" charset="-122"/>
                <a:cs typeface="+mn-cs"/>
              </a:rPr>
              <a:t>聚類</a:t>
            </a:r>
            <a:endParaRPr kumimoji="0" lang="en-US" altLang="zh-CN" sz="1400" b="0" i="0" u="none" strike="noStrike" kern="1200" cap="none" spc="0" normalizeH="0" baseline="0" noProof="0">
              <a:ln>
                <a:noFill/>
              </a:ln>
              <a:solidFill>
                <a:srgbClr val="575757"/>
              </a:solidFill>
              <a:effectLst/>
              <a:uLnTx/>
              <a:uFillTx/>
              <a:latin typeface="Trebuchet MS" panose="020B0603020202020204" pitchFamily="34" charset="0"/>
              <a:ea typeface="Microsoft YaHei" panose="020B0503020204020204" pitchFamily="34" charset="-122"/>
              <a:cs typeface="+mn-cs"/>
            </a:endParaRPr>
          </a:p>
          <a:p>
            <a:pPr marL="324000" marR="0" lvl="1" indent="-216000" algn="l" defTabSz="914400" rtl="0" eaLnBrk="1" fontAlgn="auto" latinLnBrk="0" hangingPunct="1">
              <a:lnSpc>
                <a:spcPct val="100000"/>
              </a:lnSpc>
              <a:spcBef>
                <a:spcPts val="0"/>
              </a:spcBef>
              <a:spcAft>
                <a:spcPts val="0"/>
              </a:spcAft>
              <a:buClr>
                <a:srgbClr val="29BA74"/>
              </a:buClr>
              <a:buSzTx/>
              <a:buFont typeface="Trebuchet MS" panose="020B0603020202020204" pitchFamily="34" charset="0"/>
              <a:buChar char="•"/>
              <a:tabLst/>
              <a:defRPr/>
            </a:pPr>
            <a:r>
              <a:rPr kumimoji="0" lang="zh-CN" altLang="en-US" sz="1400" b="0" i="0" u="none" strike="noStrike" kern="1200" cap="none" spc="0" normalizeH="0" baseline="0" noProof="0">
                <a:ln>
                  <a:noFill/>
                </a:ln>
                <a:solidFill>
                  <a:srgbClr val="575757"/>
                </a:solidFill>
                <a:effectLst/>
                <a:uLnTx/>
                <a:uFillTx/>
                <a:latin typeface="Trebuchet MS" panose="020B0603020202020204" pitchFamily="34" charset="0"/>
                <a:ea typeface="Microsoft YaHei" panose="020B0503020204020204" pitchFamily="34" charset="-122"/>
                <a:cs typeface="+mn-cs"/>
              </a:rPr>
              <a:t>最著名的聚類演算法</a:t>
            </a:r>
            <a:endParaRPr kumimoji="0" lang="en-US" altLang="zh-CN" sz="1400" b="0" i="0" u="none" strike="noStrike" kern="1200" cap="none" spc="0" normalizeH="0" baseline="0" noProof="0">
              <a:ln>
                <a:noFill/>
              </a:ln>
              <a:solidFill>
                <a:srgbClr val="575757"/>
              </a:solidFill>
              <a:effectLst/>
              <a:uLnTx/>
              <a:uFillTx/>
              <a:latin typeface="Trebuchet MS" panose="020B0603020202020204" pitchFamily="34" charset="0"/>
              <a:ea typeface="Microsoft YaHei" panose="020B0503020204020204" pitchFamily="34" charset="-122"/>
              <a:cs typeface="+mn-cs"/>
            </a:endParaRPr>
          </a:p>
          <a:p>
            <a:pPr marL="324000" marR="0" lvl="1" indent="-216000" algn="l" defTabSz="914400" rtl="0" eaLnBrk="1" fontAlgn="auto" latinLnBrk="0" hangingPunct="1">
              <a:lnSpc>
                <a:spcPct val="100000"/>
              </a:lnSpc>
              <a:spcBef>
                <a:spcPts val="0"/>
              </a:spcBef>
              <a:spcAft>
                <a:spcPts val="0"/>
              </a:spcAft>
              <a:buClr>
                <a:srgbClr val="29BA74"/>
              </a:buClr>
              <a:buSzTx/>
              <a:buFont typeface="Trebuchet MS" panose="020B0603020202020204" pitchFamily="34" charset="0"/>
              <a:buChar char="•"/>
              <a:tabLst/>
              <a:defRPr/>
            </a:pPr>
            <a:r>
              <a:rPr kumimoji="0" lang="zh-CN" altLang="en-US" sz="1400" b="0" i="0" u="none" strike="noStrike" kern="1200" cap="none" spc="0" normalizeH="0" baseline="0" noProof="0">
                <a:ln>
                  <a:noFill/>
                </a:ln>
                <a:solidFill>
                  <a:srgbClr val="575757"/>
                </a:solidFill>
                <a:effectLst/>
                <a:uLnTx/>
                <a:uFillTx/>
                <a:latin typeface="Trebuchet MS" panose="020B0603020202020204" pitchFamily="34" charset="0"/>
                <a:ea typeface="Microsoft YaHei" panose="020B0503020204020204" pitchFamily="34" charset="-122"/>
                <a:cs typeface="+mn-cs"/>
              </a:rPr>
              <a:t>指定一個數據點集合和需要的聚類數目</a:t>
            </a:r>
            <a:r>
              <a:rPr kumimoji="0" lang="en-US" altLang="zh-CN" sz="1400" b="0" i="0" u="none" strike="noStrike" kern="1200" cap="none" spc="0" normalizeH="0" baseline="0" noProof="0">
                <a:ln>
                  <a:noFill/>
                </a:ln>
                <a:solidFill>
                  <a:srgbClr val="575757"/>
                </a:solidFill>
                <a:effectLst/>
                <a:uLnTx/>
                <a:uFillTx/>
                <a:latin typeface="Trebuchet MS" panose="020B0603020202020204" pitchFamily="34" charset="0"/>
                <a:ea typeface="Microsoft YaHei" panose="020B0503020204020204" pitchFamily="34" charset="-122"/>
                <a:cs typeface="+mn-cs"/>
              </a:rPr>
              <a:t>K</a:t>
            </a:r>
          </a:p>
          <a:p>
            <a:pPr marL="324000" marR="0" lvl="1" indent="-216000" algn="l" defTabSz="914400" rtl="0" eaLnBrk="1" fontAlgn="auto" latinLnBrk="0" hangingPunct="1">
              <a:lnSpc>
                <a:spcPct val="100000"/>
              </a:lnSpc>
              <a:spcBef>
                <a:spcPts val="0"/>
              </a:spcBef>
              <a:spcAft>
                <a:spcPts val="0"/>
              </a:spcAft>
              <a:buClr>
                <a:srgbClr val="29BA74"/>
              </a:buClr>
              <a:buSzTx/>
              <a:buFont typeface="Trebuchet MS" panose="020B0603020202020204" pitchFamily="34" charset="0"/>
              <a:buChar char="•"/>
              <a:tabLst/>
              <a:defRPr/>
            </a:pPr>
            <a:r>
              <a:rPr kumimoji="0" lang="zh-CN" altLang="en-US" sz="1400" b="0" i="0" u="none" strike="noStrike" kern="1200" cap="none" spc="0" normalizeH="0" baseline="0" noProof="0">
                <a:ln>
                  <a:noFill/>
                </a:ln>
                <a:solidFill>
                  <a:srgbClr val="575757"/>
                </a:solidFill>
                <a:effectLst/>
                <a:uLnTx/>
                <a:uFillTx/>
                <a:latin typeface="Trebuchet MS" panose="020B0603020202020204" pitchFamily="34" charset="0"/>
                <a:ea typeface="Microsoft YaHei" panose="020B0503020204020204" pitchFamily="34" charset="-122"/>
                <a:cs typeface="+mn-cs"/>
              </a:rPr>
              <a:t>根據某個距離函數反復把資料分入</a:t>
            </a:r>
            <a:r>
              <a:rPr kumimoji="0" lang="en-US" altLang="zh-CN" sz="1400" b="0" i="0" u="none" strike="noStrike" kern="1200" cap="none" spc="0" normalizeH="0" baseline="0" noProof="0">
                <a:ln>
                  <a:noFill/>
                </a:ln>
                <a:solidFill>
                  <a:srgbClr val="575757"/>
                </a:solidFill>
                <a:effectLst/>
                <a:uLnTx/>
                <a:uFillTx/>
                <a:latin typeface="Trebuchet MS" panose="020B0603020202020204" pitchFamily="34" charset="0"/>
                <a:ea typeface="Microsoft YaHei" panose="020B0503020204020204" pitchFamily="34" charset="-122"/>
                <a:cs typeface="+mn-cs"/>
              </a:rPr>
              <a:t>K</a:t>
            </a:r>
            <a:r>
              <a:rPr kumimoji="0" lang="zh-CN" altLang="en-US" sz="1400" b="0" i="0" u="none" strike="noStrike" kern="1200" cap="none" spc="0" normalizeH="0" baseline="0" noProof="0">
                <a:ln>
                  <a:noFill/>
                </a:ln>
                <a:solidFill>
                  <a:srgbClr val="575757"/>
                </a:solidFill>
                <a:effectLst/>
                <a:uLnTx/>
                <a:uFillTx/>
                <a:latin typeface="Trebuchet MS" panose="020B0603020202020204" pitchFamily="34" charset="0"/>
                <a:ea typeface="Microsoft YaHei" panose="020B0503020204020204" pitchFamily="34" charset="-122"/>
                <a:cs typeface="+mn-cs"/>
              </a:rPr>
              <a:t>個聚類中</a:t>
            </a:r>
            <a:endParaRPr kumimoji="0" lang="en-US" altLang="zh-CN" sz="1400" b="0" i="0" u="none" strike="noStrike" kern="1200" cap="none" spc="0" normalizeH="0" baseline="0" noProof="0">
              <a:ln>
                <a:noFill/>
              </a:ln>
              <a:solidFill>
                <a:srgbClr val="575757"/>
              </a:solidFill>
              <a:effectLst/>
              <a:uLnTx/>
              <a:uFillTx/>
              <a:latin typeface="Trebuchet MS" panose="020B0603020202020204" pitchFamily="34" charset="0"/>
              <a:ea typeface="Microsoft YaHei" panose="020B0503020204020204" pitchFamily="34" charset="-122"/>
              <a:cs typeface="+mn-cs"/>
            </a:endParaRPr>
          </a:p>
          <a:p>
            <a:pPr marL="648000" marR="0" lvl="2" indent="-216000" algn="l" defTabSz="914400" rtl="0" eaLnBrk="1" fontAlgn="auto" latinLnBrk="0" hangingPunct="1">
              <a:lnSpc>
                <a:spcPct val="100000"/>
              </a:lnSpc>
              <a:spcBef>
                <a:spcPts val="0"/>
              </a:spcBef>
              <a:spcAft>
                <a:spcPts val="0"/>
              </a:spcAft>
              <a:buClr>
                <a:srgbClr val="29BA74"/>
              </a:buClr>
              <a:buSzTx/>
              <a:buFont typeface="Trebuchet MS" panose="020B0603020202020204" pitchFamily="34" charset="0"/>
              <a:buChar char="–"/>
              <a:tabLst/>
              <a:defRPr/>
            </a:pPr>
            <a:r>
              <a:rPr kumimoji="0" lang="zh-CN" altLang="en-US" sz="1400" b="0" i="0" u="none" strike="noStrike" kern="1200" cap="none" spc="0" normalizeH="0" baseline="0" noProof="0">
                <a:ln>
                  <a:noFill/>
                </a:ln>
                <a:solidFill>
                  <a:srgbClr val="575757"/>
                </a:solidFill>
                <a:effectLst/>
                <a:uLnTx/>
                <a:uFillTx/>
                <a:latin typeface="Trebuchet MS" panose="020B0603020202020204" pitchFamily="34" charset="0"/>
                <a:ea typeface="Microsoft YaHei" panose="020B0503020204020204" pitchFamily="34" charset="-122"/>
                <a:cs typeface="+mn-cs"/>
              </a:rPr>
              <a:t>先隨機選取</a:t>
            </a:r>
            <a:r>
              <a:rPr kumimoji="0" lang="en-US" altLang="zh-CN" sz="1400" b="0" i="0" u="none" strike="noStrike" kern="1200" cap="none" spc="0" normalizeH="0" baseline="0" noProof="0">
                <a:ln>
                  <a:noFill/>
                </a:ln>
                <a:solidFill>
                  <a:srgbClr val="575757"/>
                </a:solidFill>
                <a:effectLst/>
                <a:uLnTx/>
                <a:uFillTx/>
                <a:latin typeface="Trebuchet MS" panose="020B0603020202020204" pitchFamily="34" charset="0"/>
                <a:ea typeface="Microsoft YaHei" panose="020B0503020204020204" pitchFamily="34" charset="-122"/>
                <a:cs typeface="+mn-cs"/>
              </a:rPr>
              <a:t>K</a:t>
            </a:r>
            <a:r>
              <a:rPr kumimoji="0" lang="zh-CN" altLang="en-US" sz="1400" b="0" i="0" u="none" strike="noStrike" kern="1200" cap="none" spc="0" normalizeH="0" baseline="0" noProof="0">
                <a:ln>
                  <a:noFill/>
                </a:ln>
                <a:solidFill>
                  <a:srgbClr val="575757"/>
                </a:solidFill>
                <a:effectLst/>
                <a:uLnTx/>
                <a:uFillTx/>
                <a:latin typeface="Trebuchet MS" panose="020B0603020202020204" pitchFamily="34" charset="0"/>
                <a:ea typeface="Microsoft YaHei" panose="020B0503020204020204" pitchFamily="34" charset="-122"/>
                <a:cs typeface="+mn-cs"/>
              </a:rPr>
              <a:t>個對象作爲初始的</a:t>
            </a:r>
            <a:r>
              <a:rPr kumimoji="0" lang="zh-CN" altLang="en-US" sz="1400" b="1" i="0" u="none" strike="noStrike" kern="1200" cap="none" spc="0" normalizeH="0" baseline="0" noProof="0">
                <a:ln>
                  <a:noFill/>
                </a:ln>
                <a:solidFill>
                  <a:srgbClr val="575757"/>
                </a:solidFill>
                <a:effectLst/>
                <a:uLnTx/>
                <a:uFillTx/>
                <a:latin typeface="Trebuchet MS" panose="020B0603020202020204" pitchFamily="34" charset="0"/>
                <a:ea typeface="Microsoft YaHei" panose="020B0503020204020204" pitchFamily="34" charset="-122"/>
                <a:cs typeface="+mn-cs"/>
              </a:rPr>
              <a:t>聚類中心</a:t>
            </a:r>
            <a:endParaRPr kumimoji="0" lang="en-US" altLang="zh-CN" sz="1400" b="1" i="0" u="none" strike="noStrike" kern="1200" cap="none" spc="0" normalizeH="0" baseline="0" noProof="0">
              <a:ln>
                <a:noFill/>
              </a:ln>
              <a:solidFill>
                <a:srgbClr val="575757"/>
              </a:solidFill>
              <a:effectLst/>
              <a:uLnTx/>
              <a:uFillTx/>
              <a:latin typeface="Trebuchet MS" panose="020B0603020202020204" pitchFamily="34" charset="0"/>
              <a:ea typeface="Microsoft YaHei" panose="020B0503020204020204" pitchFamily="34" charset="-122"/>
              <a:cs typeface="+mn-cs"/>
            </a:endParaRPr>
          </a:p>
          <a:p>
            <a:pPr marL="648000" marR="0" lvl="2" indent="-216000" algn="l" defTabSz="914400" rtl="0" eaLnBrk="1" fontAlgn="auto" latinLnBrk="0" hangingPunct="1">
              <a:lnSpc>
                <a:spcPct val="100000"/>
              </a:lnSpc>
              <a:spcBef>
                <a:spcPts val="0"/>
              </a:spcBef>
              <a:spcAft>
                <a:spcPts val="0"/>
              </a:spcAft>
              <a:buClr>
                <a:srgbClr val="29BA74"/>
              </a:buClr>
              <a:buSzTx/>
              <a:buFont typeface="Trebuchet MS" panose="020B0603020202020204" pitchFamily="34" charset="0"/>
              <a:buChar char="–"/>
              <a:tabLst/>
              <a:defRPr/>
            </a:pPr>
            <a:r>
              <a:rPr kumimoji="0" lang="zh-CN" altLang="en-US" sz="1400" b="0" i="0" u="none" strike="noStrike" kern="1200" cap="none" spc="0" normalizeH="0" baseline="0" noProof="0">
                <a:ln>
                  <a:noFill/>
                </a:ln>
                <a:solidFill>
                  <a:srgbClr val="575757"/>
                </a:solidFill>
                <a:effectLst/>
                <a:uLnTx/>
                <a:uFillTx/>
                <a:latin typeface="Trebuchet MS" panose="020B0603020202020204" pitchFamily="34" charset="0"/>
                <a:ea typeface="Microsoft YaHei" panose="020B0503020204020204" pitchFamily="34" charset="-122"/>
                <a:cs typeface="+mn-cs"/>
              </a:rPr>
              <a:t>計算每個物件與各個初始中心之間的距離，把每個物件</a:t>
            </a:r>
            <a:r>
              <a:rPr kumimoji="0" lang="zh-CN" altLang="en-US" sz="1400" b="1" i="0" u="none" strike="noStrike" kern="1200" cap="none" spc="0" normalizeH="0" baseline="0" noProof="0">
                <a:ln>
                  <a:noFill/>
                </a:ln>
                <a:solidFill>
                  <a:srgbClr val="575757"/>
                </a:solidFill>
                <a:effectLst/>
                <a:uLnTx/>
                <a:uFillTx/>
                <a:latin typeface="Trebuchet MS" panose="020B0603020202020204" pitchFamily="34" charset="0"/>
                <a:ea typeface="Microsoft YaHei" panose="020B0503020204020204" pitchFamily="34" charset="-122"/>
                <a:cs typeface="+mn-cs"/>
              </a:rPr>
              <a:t>分配給距離它最近的中心</a:t>
            </a:r>
            <a:endParaRPr kumimoji="0" lang="en-US" altLang="zh-CN" sz="1400" b="1" i="0" u="none" strike="noStrike" kern="1200" cap="none" spc="0" normalizeH="0" baseline="0" noProof="0">
              <a:ln>
                <a:noFill/>
              </a:ln>
              <a:solidFill>
                <a:srgbClr val="575757"/>
              </a:solidFill>
              <a:effectLst/>
              <a:uLnTx/>
              <a:uFillTx/>
              <a:latin typeface="Trebuchet MS" panose="020B0603020202020204" pitchFamily="34" charset="0"/>
              <a:ea typeface="Microsoft YaHei" panose="020B0503020204020204" pitchFamily="34" charset="-122"/>
              <a:cs typeface="+mn-cs"/>
            </a:endParaRPr>
          </a:p>
          <a:p>
            <a:pPr marL="648000" marR="0" lvl="2" indent="-216000" algn="l" defTabSz="914400" rtl="0" eaLnBrk="1" fontAlgn="auto" latinLnBrk="0" hangingPunct="1">
              <a:lnSpc>
                <a:spcPct val="100000"/>
              </a:lnSpc>
              <a:spcBef>
                <a:spcPts val="0"/>
              </a:spcBef>
              <a:spcAft>
                <a:spcPts val="0"/>
              </a:spcAft>
              <a:buClr>
                <a:srgbClr val="29BA74"/>
              </a:buClr>
              <a:buSzTx/>
              <a:buFont typeface="Trebuchet MS" panose="020B0603020202020204" pitchFamily="34" charset="0"/>
              <a:buChar char="–"/>
              <a:tabLst/>
              <a:defRPr/>
            </a:pPr>
            <a:r>
              <a:rPr kumimoji="0" lang="zh-CN" altLang="en-US" sz="1400" b="0" i="0" u="none" strike="noStrike" kern="1200" cap="none" spc="0" normalizeH="0" baseline="0" noProof="0">
                <a:ln>
                  <a:noFill/>
                </a:ln>
                <a:solidFill>
                  <a:srgbClr val="575757"/>
                </a:solidFill>
                <a:effectLst/>
                <a:uLnTx/>
                <a:uFillTx/>
                <a:latin typeface="Trebuchet MS" panose="020B0603020202020204" pitchFamily="34" charset="0"/>
                <a:ea typeface="Microsoft YaHei" panose="020B0503020204020204" pitchFamily="34" charset="-122"/>
                <a:cs typeface="+mn-cs"/>
              </a:rPr>
              <a:t>中心會根據各個聚類中現有的物件被重新計算</a:t>
            </a:r>
            <a:endParaRPr kumimoji="0" lang="en-US" altLang="zh-CN" sz="1400" b="0" i="0" u="none" strike="noStrike" kern="1200" cap="none" spc="0" normalizeH="0" baseline="0" noProof="0">
              <a:ln>
                <a:noFill/>
              </a:ln>
              <a:solidFill>
                <a:srgbClr val="575757"/>
              </a:solidFill>
              <a:effectLst/>
              <a:uLnTx/>
              <a:uFillTx/>
              <a:latin typeface="Trebuchet MS" panose="020B0603020202020204" pitchFamily="34" charset="0"/>
              <a:ea typeface="Microsoft YaHei" panose="020B0503020204020204" pitchFamily="34" charset="-122"/>
              <a:cs typeface="+mn-cs"/>
            </a:endParaRPr>
          </a:p>
          <a:p>
            <a:pPr marL="648000" marR="0" lvl="2" indent="-216000" algn="l" defTabSz="914400" rtl="0" eaLnBrk="1" fontAlgn="auto" latinLnBrk="0" hangingPunct="1">
              <a:lnSpc>
                <a:spcPct val="100000"/>
              </a:lnSpc>
              <a:spcBef>
                <a:spcPts val="0"/>
              </a:spcBef>
              <a:spcAft>
                <a:spcPts val="0"/>
              </a:spcAft>
              <a:buClr>
                <a:srgbClr val="29BA74"/>
              </a:buClr>
              <a:buSzTx/>
              <a:buFont typeface="Trebuchet MS" panose="020B0603020202020204" pitchFamily="34" charset="0"/>
              <a:buChar char="–"/>
              <a:tabLst/>
              <a:defRPr/>
            </a:pPr>
            <a:r>
              <a:rPr kumimoji="0" lang="zh-CN" altLang="en-US" sz="1400" b="0" i="0" u="none" strike="noStrike" kern="1200" cap="none" spc="0" normalizeH="0" baseline="0" noProof="0">
                <a:ln>
                  <a:noFill/>
                </a:ln>
                <a:solidFill>
                  <a:srgbClr val="575757"/>
                </a:solidFill>
                <a:effectLst/>
                <a:uLnTx/>
                <a:uFillTx/>
                <a:latin typeface="Trebuchet MS" panose="020B0603020202020204" pitchFamily="34" charset="0"/>
                <a:ea typeface="Microsoft YaHei" panose="020B0503020204020204" pitchFamily="34" charset="-122"/>
                <a:cs typeface="+mn-cs"/>
              </a:rPr>
              <a:t>達成一定條件後終止</a:t>
            </a:r>
            <a:endParaRPr kumimoji="0" lang="en-US" altLang="zh-CN" sz="1600" b="0" i="0" u="none" strike="noStrike" kern="1200" cap="none" spc="0" normalizeH="0" baseline="0" noProof="0">
              <a:ln>
                <a:noFill/>
              </a:ln>
              <a:solidFill>
                <a:srgbClr val="575757"/>
              </a:solidFill>
              <a:effectLst/>
              <a:uLnTx/>
              <a:uFillTx/>
              <a:latin typeface="Trebuchet MS" panose="020B0603020202020204" pitchFamily="34" charset="0"/>
              <a:ea typeface="Microsoft YaHei" panose="020B0503020204020204" pitchFamily="34" charset="-122"/>
              <a:cs typeface="+mn-cs"/>
            </a:endParaRPr>
          </a:p>
        </p:txBody>
      </p:sp>
      <p:pic>
        <p:nvPicPr>
          <p:cNvPr id="45" name="图片 2">
            <a:extLst>
              <a:ext uri="{FF2B5EF4-FFF2-40B4-BE49-F238E27FC236}">
                <a16:creationId xmlns:a16="http://schemas.microsoft.com/office/drawing/2014/main" id="{EFB0D739-F107-4312-BC13-243D7ACE6043}"/>
              </a:ext>
            </a:extLst>
          </p:cNvPr>
          <p:cNvPicPr>
            <a:picLocks noChangeAspect="1" noChangeArrowheads="1"/>
          </p:cNvPicPr>
          <p:nvPr/>
        </p:nvPicPr>
        <p:blipFill>
          <a:blip r:embed="rId11">
            <a:extLst>
              <a:ext uri="{28A0092B-C50C-407E-A947-70E740481C1C}">
                <a14:useLocalDpi xmlns:a14="http://schemas.microsoft.com/office/drawing/2010/main"/>
              </a:ext>
            </a:extLst>
          </a:blip>
          <a:srcRect/>
          <a:stretch>
            <a:fillRect/>
          </a:stretch>
        </p:blipFill>
        <p:spPr bwMode="auto">
          <a:xfrm>
            <a:off x="7512017" y="4716507"/>
            <a:ext cx="2607604" cy="1650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TextBox 45">
            <a:extLst>
              <a:ext uri="{FF2B5EF4-FFF2-40B4-BE49-F238E27FC236}">
                <a16:creationId xmlns:a16="http://schemas.microsoft.com/office/drawing/2014/main" id="{4DA0D42D-38B8-4A4B-8F1E-9F71589E7B99}"/>
              </a:ext>
            </a:extLst>
          </p:cNvPr>
          <p:cNvSpPr txBox="1"/>
          <p:nvPr/>
        </p:nvSpPr>
        <p:spPr>
          <a:xfrm>
            <a:off x="10119620" y="5711980"/>
            <a:ext cx="1767579" cy="523220"/>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a:spAutoFit/>
          </a:bodyPr>
          <a:lstStyle/>
          <a:p>
            <a:pPr marL="0" marR="0" lvl="0" indent="0" algn="l"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altLang="zh-CN" sz="1400" b="0" i="0" u="none" strike="noStrike" kern="1200" cap="none" spc="0" normalizeH="0" baseline="0" noProof="0">
                <a:ln>
                  <a:noFill/>
                </a:ln>
                <a:solidFill>
                  <a:srgbClr val="29BA74"/>
                </a:solidFill>
                <a:effectLst/>
                <a:uLnTx/>
                <a:uFillTx/>
                <a:latin typeface="Trebuchet MS" panose="020B0603020202020204" pitchFamily="34" charset="0"/>
                <a:ea typeface="Microsoft YaHei" panose="020B0503020204020204" pitchFamily="34" charset="-122"/>
                <a:cs typeface="+mn-cs"/>
              </a:rPr>
              <a:t>K=10</a:t>
            </a:r>
            <a:r>
              <a:rPr kumimoji="0" lang="zh-CN" altLang="en-US" sz="1400" b="0" i="0" u="none" strike="noStrike" kern="1200" cap="none" spc="0" normalizeH="0" baseline="0" noProof="0">
                <a:ln>
                  <a:noFill/>
                </a:ln>
                <a:solidFill>
                  <a:srgbClr val="29BA74"/>
                </a:solidFill>
                <a:effectLst/>
                <a:uLnTx/>
                <a:uFillTx/>
                <a:latin typeface="Trebuchet MS" panose="020B0603020202020204" pitchFamily="34" charset="0"/>
                <a:ea typeface="Microsoft YaHei" panose="020B0503020204020204" pitchFamily="34" charset="-122"/>
                <a:cs typeface="+mn-cs"/>
              </a:rPr>
              <a:t>，</a:t>
            </a:r>
            <a:endParaRPr kumimoji="0" lang="en-US" altLang="zh-CN" sz="1400" b="0" i="0" u="none" strike="noStrike" kern="1200" cap="none" spc="0" normalizeH="0" baseline="0" noProof="0">
              <a:ln>
                <a:noFill/>
              </a:ln>
              <a:solidFill>
                <a:srgbClr val="29BA74"/>
              </a:solidFill>
              <a:effectLst/>
              <a:uLnTx/>
              <a:uFillTx/>
              <a:latin typeface="Trebuchet MS" panose="020B0603020202020204" pitchFamily="34" charset="0"/>
              <a:ea typeface="Microsoft YaHei" panose="020B0503020204020204" pitchFamily="34" charset="-122"/>
              <a:cs typeface="+mn-cs"/>
            </a:endParaRPr>
          </a:p>
          <a:p>
            <a:pPr marL="0" marR="0" lvl="0" indent="0" algn="l"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zh-CN" altLang="en-US" sz="1400" b="0" i="0" u="none" strike="noStrike" kern="1200" cap="none" spc="0" normalizeH="0" baseline="0" noProof="0">
                <a:ln>
                  <a:noFill/>
                </a:ln>
                <a:solidFill>
                  <a:srgbClr val="29BA74"/>
                </a:solidFill>
                <a:effectLst/>
                <a:uLnTx/>
                <a:uFillTx/>
                <a:latin typeface="Trebuchet MS" panose="020B0603020202020204" pitchFamily="34" charset="0"/>
                <a:ea typeface="Microsoft YaHei" panose="020B0503020204020204" pitchFamily="34" charset="-122"/>
                <a:cs typeface="+mn-cs"/>
              </a:rPr>
              <a:t>以實現局部最優</a:t>
            </a:r>
            <a:endParaRPr kumimoji="0" lang="en-US" sz="1400" b="0" i="0" u="none" strike="noStrike" kern="1200" cap="none" spc="0" normalizeH="0" baseline="0" noProof="0">
              <a:ln>
                <a:noFill/>
              </a:ln>
              <a:solidFill>
                <a:srgbClr val="29BA74"/>
              </a:solidFill>
              <a:effectLst/>
              <a:uLnTx/>
              <a:uFillTx/>
              <a:latin typeface="Trebuchet MS" panose="020B0603020202020204" pitchFamily="34" charset="0"/>
              <a:ea typeface="Microsoft YaHei" panose="020B0503020204020204" pitchFamily="34" charset="-122"/>
              <a:cs typeface="+mn-cs"/>
            </a:endParaRPr>
          </a:p>
        </p:txBody>
      </p:sp>
      <p:sp>
        <p:nvSpPr>
          <p:cNvPr id="48" name="IllustrativeStamp">
            <a:extLst>
              <a:ext uri="{FF2B5EF4-FFF2-40B4-BE49-F238E27FC236}">
                <a16:creationId xmlns:a16="http://schemas.microsoft.com/office/drawing/2014/main" id="{A3C8C13C-65D3-4307-86FA-47C5650D3EC6}"/>
              </a:ext>
            </a:extLst>
          </p:cNvPr>
          <p:cNvSpPr/>
          <p:nvPr/>
        </p:nvSpPr>
        <p:spPr>
          <a:xfrm>
            <a:off x="10438873" y="4707441"/>
            <a:ext cx="692228" cy="108342"/>
          </a:xfrm>
          <a:prstGeom prst="rect">
            <a:avLst/>
          </a:prstGeom>
          <a:noFill/>
          <a:ln w="9525">
            <a:noFill/>
            <a:miter lim="800000"/>
          </a:ln>
          <a:extLst>
            <a:ext uri="{909E8E84-426E-40DD-AFC4-6F175D3DCCD1}">
              <a14:hiddenFill xmlns:a14="http://schemas.microsoft.com/office/drawing/2010/main">
                <a:solidFill>
                  <a:srgbClr val="F2F2F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200" b="0" i="0" u="sng" strike="noStrike" kern="1200" cap="none" spc="0" normalizeH="0" baseline="0" noProof="0">
                <a:ln>
                  <a:noFill/>
                </a:ln>
                <a:solidFill>
                  <a:srgbClr val="575757"/>
                </a:solidFill>
                <a:effectLst/>
                <a:uLnTx/>
                <a:uFillTx/>
                <a:latin typeface="Trebuchet MS"/>
                <a:ea typeface="Microsoft YaHei" panose="020B0503020204020204" pitchFamily="34" charset="-122"/>
                <a:cs typeface="+mn-cs"/>
              </a:rPr>
              <a:t>示意</a:t>
            </a:r>
            <a:endParaRPr kumimoji="0" lang="en-US" sz="1200" b="0" i="0" u="sng" strike="noStrike" kern="1200" cap="none" spc="0" normalizeH="0" baseline="0" noProof="0">
              <a:ln>
                <a:noFill/>
              </a:ln>
              <a:solidFill>
                <a:srgbClr val="575757"/>
              </a:solidFill>
              <a:effectLst/>
              <a:uLnTx/>
              <a:uFillTx/>
              <a:latin typeface="Trebuchet MS"/>
              <a:ea typeface="Microsoft YaHei" panose="020B0503020204020204" pitchFamily="34" charset="-122"/>
              <a:cs typeface="+mn-cs"/>
            </a:endParaRPr>
          </a:p>
        </p:txBody>
      </p:sp>
      <p:sp>
        <p:nvSpPr>
          <p:cNvPr id="49" name="Rectangle 48">
            <a:extLst>
              <a:ext uri="{FF2B5EF4-FFF2-40B4-BE49-F238E27FC236}">
                <a16:creationId xmlns:a16="http://schemas.microsoft.com/office/drawing/2014/main" id="{7B28D31A-721E-4DBB-BBBC-8D59C6CCD5C8}"/>
              </a:ext>
            </a:extLst>
          </p:cNvPr>
          <p:cNvSpPr/>
          <p:nvPr/>
        </p:nvSpPr>
        <p:spPr>
          <a:xfrm>
            <a:off x="9064292" y="4987619"/>
            <a:ext cx="1055329" cy="756267"/>
          </a:xfrm>
          <a:prstGeom prst="rect">
            <a:avLst/>
          </a:prstGeom>
          <a:noFill/>
          <a:ln w="38100" cap="rnd" cmpd="sng" algn="ctr">
            <a:solidFill>
              <a:srgbClr val="29BA74"/>
            </a:solidFill>
            <a:prstDash val="solid"/>
            <a:round/>
            <a:headEnd type="none" w="med" len="med"/>
            <a:tailEnd type="none" w="med" len="me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Trebuchet MS"/>
              <a:ea typeface="Microsoft YaHei" panose="020B0503020204020204" pitchFamily="34" charset="-122"/>
              <a:cs typeface="+mn-cs"/>
            </a:endParaRPr>
          </a:p>
        </p:txBody>
      </p:sp>
      <p:sp>
        <p:nvSpPr>
          <p:cNvPr id="53" name="TextBox 52">
            <a:extLst>
              <a:ext uri="{FF2B5EF4-FFF2-40B4-BE49-F238E27FC236}">
                <a16:creationId xmlns:a16="http://schemas.microsoft.com/office/drawing/2014/main" id="{FC4EA683-D92C-4B4D-A08E-D01015062F83}"/>
              </a:ext>
            </a:extLst>
          </p:cNvPr>
          <p:cNvSpPr txBox="1"/>
          <p:nvPr/>
        </p:nvSpPr>
        <p:spPr>
          <a:xfrm>
            <a:off x="10119620" y="4987619"/>
            <a:ext cx="1767579" cy="307777"/>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a:spAutoFit/>
          </a:bodyPr>
          <a:lstStyle/>
          <a:p>
            <a:pPr marL="0" marR="0" lvl="0" indent="0" algn="l"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zh-CN" altLang="en-US" sz="1400" b="0" i="0" u="none" strike="noStrike" kern="1200" cap="none" spc="0" normalizeH="0" baseline="0" noProof="0">
                <a:ln>
                  <a:noFill/>
                </a:ln>
                <a:solidFill>
                  <a:srgbClr val="29BA74"/>
                </a:solidFill>
                <a:effectLst/>
                <a:uLnTx/>
                <a:uFillTx/>
                <a:latin typeface="Trebuchet MS" panose="020B0603020202020204" pitchFamily="34" charset="0"/>
                <a:ea typeface="Microsoft YaHei" panose="020B0503020204020204" pitchFamily="34" charset="-122"/>
                <a:cs typeface="+mn-cs"/>
              </a:rPr>
              <a:t>某一客群聚類</a:t>
            </a:r>
            <a:endParaRPr kumimoji="0" lang="en-US" sz="1400" b="0" i="0" u="none" strike="noStrike" kern="1200" cap="none" spc="0" normalizeH="0" baseline="0" noProof="0">
              <a:ln>
                <a:noFill/>
              </a:ln>
              <a:solidFill>
                <a:srgbClr val="29BA74"/>
              </a:solidFill>
              <a:effectLst/>
              <a:uLnTx/>
              <a:uFillTx/>
              <a:latin typeface="Trebuchet MS" panose="020B0603020202020204" pitchFamily="34" charset="0"/>
              <a:ea typeface="Microsoft YaHei" panose="020B0503020204020204" pitchFamily="34" charset="-122"/>
              <a:cs typeface="+mn-cs"/>
            </a:endParaRPr>
          </a:p>
        </p:txBody>
      </p:sp>
      <p:sp>
        <p:nvSpPr>
          <p:cNvPr id="55" name="Freeform: Shape 54">
            <a:extLst>
              <a:ext uri="{FF2B5EF4-FFF2-40B4-BE49-F238E27FC236}">
                <a16:creationId xmlns:a16="http://schemas.microsoft.com/office/drawing/2014/main" id="{3FC62907-34FE-4572-8C86-226B841F67BE}"/>
              </a:ext>
            </a:extLst>
          </p:cNvPr>
          <p:cNvSpPr/>
          <p:nvPr/>
        </p:nvSpPr>
        <p:spPr>
          <a:xfrm>
            <a:off x="6613450" y="1642080"/>
            <a:ext cx="417393" cy="3010399"/>
          </a:xfrm>
          <a:custGeom>
            <a:avLst/>
            <a:gdLst>
              <a:gd name="connsiteX0" fmla="*/ 0 w 1160980"/>
              <a:gd name="connsiteY0" fmla="*/ 1243173 h 3308278"/>
              <a:gd name="connsiteX1" fmla="*/ 0 w 1160980"/>
              <a:gd name="connsiteY1" fmla="*/ 3308278 h 3308278"/>
              <a:gd name="connsiteX2" fmla="*/ 1150706 w 1160980"/>
              <a:gd name="connsiteY2" fmla="*/ 2260314 h 3308278"/>
              <a:gd name="connsiteX3" fmla="*/ 1160980 w 1160980"/>
              <a:gd name="connsiteY3" fmla="*/ 0 h 3308278"/>
              <a:gd name="connsiteX4" fmla="*/ 10274 w 1160980"/>
              <a:gd name="connsiteY4" fmla="*/ 1191802 h 3308278"/>
              <a:gd name="connsiteX5" fmla="*/ 0 w 1160980"/>
              <a:gd name="connsiteY5" fmla="*/ 1243173 h 3308278"/>
              <a:gd name="connsiteX0" fmla="*/ 0 w 1190278"/>
              <a:gd name="connsiteY0" fmla="*/ 1654130 h 3719235"/>
              <a:gd name="connsiteX1" fmla="*/ 0 w 1190278"/>
              <a:gd name="connsiteY1" fmla="*/ 3719235 h 3719235"/>
              <a:gd name="connsiteX2" fmla="*/ 1150706 w 1190278"/>
              <a:gd name="connsiteY2" fmla="*/ 2671271 h 3719235"/>
              <a:gd name="connsiteX3" fmla="*/ 1190278 w 1190278"/>
              <a:gd name="connsiteY3" fmla="*/ 0 h 3719235"/>
              <a:gd name="connsiteX4" fmla="*/ 10274 w 1190278"/>
              <a:gd name="connsiteY4" fmla="*/ 1602759 h 3719235"/>
              <a:gd name="connsiteX5" fmla="*/ 0 w 1190278"/>
              <a:gd name="connsiteY5" fmla="*/ 1654130 h 3719235"/>
              <a:gd name="connsiteX0" fmla="*/ 0 w 1190278"/>
              <a:gd name="connsiteY0" fmla="*/ 1654130 h 3010333"/>
              <a:gd name="connsiteX1" fmla="*/ 0 w 1190278"/>
              <a:gd name="connsiteY1" fmla="*/ 3010333 h 3010333"/>
              <a:gd name="connsiteX2" fmla="*/ 1150706 w 1190278"/>
              <a:gd name="connsiteY2" fmla="*/ 2671271 h 3010333"/>
              <a:gd name="connsiteX3" fmla="*/ 1190278 w 1190278"/>
              <a:gd name="connsiteY3" fmla="*/ 0 h 3010333"/>
              <a:gd name="connsiteX4" fmla="*/ 10274 w 1190278"/>
              <a:gd name="connsiteY4" fmla="*/ 1602759 h 3010333"/>
              <a:gd name="connsiteX5" fmla="*/ 0 w 1190278"/>
              <a:gd name="connsiteY5" fmla="*/ 1654130 h 3010333"/>
              <a:gd name="connsiteX0" fmla="*/ 0 w 1238754"/>
              <a:gd name="connsiteY0" fmla="*/ 1654130 h 3010333"/>
              <a:gd name="connsiteX1" fmla="*/ 0 w 1238754"/>
              <a:gd name="connsiteY1" fmla="*/ 3010333 h 3010333"/>
              <a:gd name="connsiteX2" fmla="*/ 1238600 w 1238754"/>
              <a:gd name="connsiteY2" fmla="*/ 2671271 h 3010333"/>
              <a:gd name="connsiteX3" fmla="*/ 1190278 w 1238754"/>
              <a:gd name="connsiteY3" fmla="*/ 0 h 3010333"/>
              <a:gd name="connsiteX4" fmla="*/ 10274 w 1238754"/>
              <a:gd name="connsiteY4" fmla="*/ 1602759 h 3010333"/>
              <a:gd name="connsiteX5" fmla="*/ 0 w 1238754"/>
              <a:gd name="connsiteY5" fmla="*/ 1654130 h 3010333"/>
              <a:gd name="connsiteX0" fmla="*/ 0 w 1238754"/>
              <a:gd name="connsiteY0" fmla="*/ 1654130 h 3010333"/>
              <a:gd name="connsiteX1" fmla="*/ 0 w 1238754"/>
              <a:gd name="connsiteY1" fmla="*/ 3010333 h 3010333"/>
              <a:gd name="connsiteX2" fmla="*/ 1238600 w 1238754"/>
              <a:gd name="connsiteY2" fmla="*/ 2671271 h 3010333"/>
              <a:gd name="connsiteX3" fmla="*/ 1190278 w 1238754"/>
              <a:gd name="connsiteY3" fmla="*/ 0 h 3010333"/>
              <a:gd name="connsiteX4" fmla="*/ 10274 w 1238754"/>
              <a:gd name="connsiteY4" fmla="*/ 1602759 h 3010333"/>
              <a:gd name="connsiteX5" fmla="*/ 0 w 1238754"/>
              <a:gd name="connsiteY5" fmla="*/ 1654130 h 3010333"/>
              <a:gd name="connsiteX0" fmla="*/ 0 w 1190278"/>
              <a:gd name="connsiteY0" fmla="*/ 1654130 h 3010333"/>
              <a:gd name="connsiteX1" fmla="*/ 0 w 1190278"/>
              <a:gd name="connsiteY1" fmla="*/ 3010333 h 3010333"/>
              <a:gd name="connsiteX2" fmla="*/ 1180001 w 1190278"/>
              <a:gd name="connsiteY2" fmla="*/ 2712368 h 3010333"/>
              <a:gd name="connsiteX3" fmla="*/ 1190278 w 1190278"/>
              <a:gd name="connsiteY3" fmla="*/ 0 h 3010333"/>
              <a:gd name="connsiteX4" fmla="*/ 10274 w 1190278"/>
              <a:gd name="connsiteY4" fmla="*/ 1602759 h 3010333"/>
              <a:gd name="connsiteX5" fmla="*/ 0 w 1190278"/>
              <a:gd name="connsiteY5" fmla="*/ 1654130 h 3010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0278" h="3010333">
                <a:moveTo>
                  <a:pt x="0" y="1654130"/>
                </a:moveTo>
                <a:lnTo>
                  <a:pt x="0" y="3010333"/>
                </a:lnTo>
                <a:lnTo>
                  <a:pt x="1180001" y="2712368"/>
                </a:lnTo>
                <a:cubicBezTo>
                  <a:pt x="1183426" y="1958930"/>
                  <a:pt x="1186853" y="753438"/>
                  <a:pt x="1190278" y="0"/>
                </a:cubicBezTo>
                <a:lnTo>
                  <a:pt x="10274" y="1602759"/>
                </a:lnTo>
                <a:lnTo>
                  <a:pt x="0" y="1654130"/>
                </a:lnTo>
                <a:close/>
              </a:path>
            </a:pathLst>
          </a:custGeom>
          <a:gradFill flip="none" rotWithShape="1">
            <a:gsLst>
              <a:gs pos="100000">
                <a:schemeClr val="bg1"/>
              </a:gs>
              <a:gs pos="0">
                <a:schemeClr val="tx2">
                  <a:alpha val="24000"/>
                </a:schemeClr>
              </a:gs>
            </a:gsLst>
            <a:lin ang="10800000" scaled="1"/>
            <a:tileRect/>
          </a:gra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Trebuchet MS"/>
              <a:ea typeface="Microsoft YaHei" panose="020B0503020204020204" pitchFamily="34" charset="-122"/>
              <a:cs typeface="+mn-cs"/>
            </a:endParaRPr>
          </a:p>
        </p:txBody>
      </p:sp>
      <p:sp>
        <p:nvSpPr>
          <p:cNvPr id="56" name="Freeform: Shape 55">
            <a:extLst>
              <a:ext uri="{FF2B5EF4-FFF2-40B4-BE49-F238E27FC236}">
                <a16:creationId xmlns:a16="http://schemas.microsoft.com/office/drawing/2014/main" id="{9E3B2802-95CE-4741-883A-08B29A8BCDAC}"/>
              </a:ext>
            </a:extLst>
          </p:cNvPr>
          <p:cNvSpPr/>
          <p:nvPr/>
        </p:nvSpPr>
        <p:spPr>
          <a:xfrm>
            <a:off x="6625191" y="4589482"/>
            <a:ext cx="413899" cy="1695307"/>
          </a:xfrm>
          <a:custGeom>
            <a:avLst/>
            <a:gdLst>
              <a:gd name="connsiteX0" fmla="*/ 0 w 1160980"/>
              <a:gd name="connsiteY0" fmla="*/ 1243173 h 3308278"/>
              <a:gd name="connsiteX1" fmla="*/ 0 w 1160980"/>
              <a:gd name="connsiteY1" fmla="*/ 3308278 h 3308278"/>
              <a:gd name="connsiteX2" fmla="*/ 1150706 w 1160980"/>
              <a:gd name="connsiteY2" fmla="*/ 2260314 h 3308278"/>
              <a:gd name="connsiteX3" fmla="*/ 1160980 w 1160980"/>
              <a:gd name="connsiteY3" fmla="*/ 0 h 3308278"/>
              <a:gd name="connsiteX4" fmla="*/ 10274 w 1160980"/>
              <a:gd name="connsiteY4" fmla="*/ 1191802 h 3308278"/>
              <a:gd name="connsiteX5" fmla="*/ 0 w 1160980"/>
              <a:gd name="connsiteY5" fmla="*/ 1243173 h 3308278"/>
              <a:gd name="connsiteX0" fmla="*/ 0 w 1190278"/>
              <a:gd name="connsiteY0" fmla="*/ 1654130 h 3719235"/>
              <a:gd name="connsiteX1" fmla="*/ 0 w 1190278"/>
              <a:gd name="connsiteY1" fmla="*/ 3719235 h 3719235"/>
              <a:gd name="connsiteX2" fmla="*/ 1150706 w 1190278"/>
              <a:gd name="connsiteY2" fmla="*/ 2671271 h 3719235"/>
              <a:gd name="connsiteX3" fmla="*/ 1190278 w 1190278"/>
              <a:gd name="connsiteY3" fmla="*/ 0 h 3719235"/>
              <a:gd name="connsiteX4" fmla="*/ 10274 w 1190278"/>
              <a:gd name="connsiteY4" fmla="*/ 1602759 h 3719235"/>
              <a:gd name="connsiteX5" fmla="*/ 0 w 1190278"/>
              <a:gd name="connsiteY5" fmla="*/ 1654130 h 3719235"/>
              <a:gd name="connsiteX0" fmla="*/ 0 w 1190278"/>
              <a:gd name="connsiteY0" fmla="*/ 1654130 h 3010333"/>
              <a:gd name="connsiteX1" fmla="*/ 0 w 1190278"/>
              <a:gd name="connsiteY1" fmla="*/ 3010333 h 3010333"/>
              <a:gd name="connsiteX2" fmla="*/ 1150706 w 1190278"/>
              <a:gd name="connsiteY2" fmla="*/ 2671271 h 3010333"/>
              <a:gd name="connsiteX3" fmla="*/ 1190278 w 1190278"/>
              <a:gd name="connsiteY3" fmla="*/ 0 h 3010333"/>
              <a:gd name="connsiteX4" fmla="*/ 10274 w 1190278"/>
              <a:gd name="connsiteY4" fmla="*/ 1602759 h 3010333"/>
              <a:gd name="connsiteX5" fmla="*/ 0 w 1190278"/>
              <a:gd name="connsiteY5" fmla="*/ 1654130 h 3010333"/>
              <a:gd name="connsiteX0" fmla="*/ 0 w 1238754"/>
              <a:gd name="connsiteY0" fmla="*/ 1654130 h 3010333"/>
              <a:gd name="connsiteX1" fmla="*/ 0 w 1238754"/>
              <a:gd name="connsiteY1" fmla="*/ 3010333 h 3010333"/>
              <a:gd name="connsiteX2" fmla="*/ 1238600 w 1238754"/>
              <a:gd name="connsiteY2" fmla="*/ 2671271 h 3010333"/>
              <a:gd name="connsiteX3" fmla="*/ 1190278 w 1238754"/>
              <a:gd name="connsiteY3" fmla="*/ 0 h 3010333"/>
              <a:gd name="connsiteX4" fmla="*/ 10274 w 1238754"/>
              <a:gd name="connsiteY4" fmla="*/ 1602759 h 3010333"/>
              <a:gd name="connsiteX5" fmla="*/ 0 w 1238754"/>
              <a:gd name="connsiteY5" fmla="*/ 1654130 h 3010333"/>
              <a:gd name="connsiteX0" fmla="*/ 0 w 1238754"/>
              <a:gd name="connsiteY0" fmla="*/ 1654130 h 3010333"/>
              <a:gd name="connsiteX1" fmla="*/ 0 w 1238754"/>
              <a:gd name="connsiteY1" fmla="*/ 3010333 h 3010333"/>
              <a:gd name="connsiteX2" fmla="*/ 1238600 w 1238754"/>
              <a:gd name="connsiteY2" fmla="*/ 2671271 h 3010333"/>
              <a:gd name="connsiteX3" fmla="*/ 1190278 w 1238754"/>
              <a:gd name="connsiteY3" fmla="*/ 0 h 3010333"/>
              <a:gd name="connsiteX4" fmla="*/ 10274 w 1238754"/>
              <a:gd name="connsiteY4" fmla="*/ 1602759 h 3010333"/>
              <a:gd name="connsiteX5" fmla="*/ 0 w 1238754"/>
              <a:gd name="connsiteY5" fmla="*/ 1654130 h 3010333"/>
              <a:gd name="connsiteX0" fmla="*/ 0 w 1190278"/>
              <a:gd name="connsiteY0" fmla="*/ 1654130 h 3010333"/>
              <a:gd name="connsiteX1" fmla="*/ 0 w 1190278"/>
              <a:gd name="connsiteY1" fmla="*/ 3010333 h 3010333"/>
              <a:gd name="connsiteX2" fmla="*/ 1180001 w 1190278"/>
              <a:gd name="connsiteY2" fmla="*/ 2712368 h 3010333"/>
              <a:gd name="connsiteX3" fmla="*/ 1190278 w 1190278"/>
              <a:gd name="connsiteY3" fmla="*/ 0 h 3010333"/>
              <a:gd name="connsiteX4" fmla="*/ 10274 w 1190278"/>
              <a:gd name="connsiteY4" fmla="*/ 1602759 h 3010333"/>
              <a:gd name="connsiteX5" fmla="*/ 0 w 1190278"/>
              <a:gd name="connsiteY5" fmla="*/ 1654130 h 3010333"/>
              <a:gd name="connsiteX0" fmla="*/ 0 w 1180314"/>
              <a:gd name="connsiteY0" fmla="*/ 339067 h 1695270"/>
              <a:gd name="connsiteX1" fmla="*/ 0 w 1180314"/>
              <a:gd name="connsiteY1" fmla="*/ 1695270 h 1695270"/>
              <a:gd name="connsiteX2" fmla="*/ 1180001 w 1180314"/>
              <a:gd name="connsiteY2" fmla="*/ 1397305 h 1695270"/>
              <a:gd name="connsiteX3" fmla="*/ 1160980 w 1180314"/>
              <a:gd name="connsiteY3" fmla="*/ 0 h 1695270"/>
              <a:gd name="connsiteX4" fmla="*/ 10274 w 1180314"/>
              <a:gd name="connsiteY4" fmla="*/ 287696 h 1695270"/>
              <a:gd name="connsiteX5" fmla="*/ 0 w 1180314"/>
              <a:gd name="connsiteY5" fmla="*/ 339067 h 1695270"/>
              <a:gd name="connsiteX0" fmla="*/ 0 w 1180314"/>
              <a:gd name="connsiteY0" fmla="*/ 339067 h 1695270"/>
              <a:gd name="connsiteX1" fmla="*/ 0 w 1180314"/>
              <a:gd name="connsiteY1" fmla="*/ 1695270 h 1695270"/>
              <a:gd name="connsiteX2" fmla="*/ 1180000 w 1180314"/>
              <a:gd name="connsiteY2" fmla="*/ 1397306 h 1695270"/>
              <a:gd name="connsiteX3" fmla="*/ 1160980 w 1180314"/>
              <a:gd name="connsiteY3" fmla="*/ 0 h 1695270"/>
              <a:gd name="connsiteX4" fmla="*/ 10274 w 1180314"/>
              <a:gd name="connsiteY4" fmla="*/ 287696 h 1695270"/>
              <a:gd name="connsiteX5" fmla="*/ 0 w 1180314"/>
              <a:gd name="connsiteY5" fmla="*/ 339067 h 1695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0314" h="1695270">
                <a:moveTo>
                  <a:pt x="0" y="339067"/>
                </a:moveTo>
                <a:lnTo>
                  <a:pt x="0" y="1695270"/>
                </a:lnTo>
                <a:lnTo>
                  <a:pt x="1180000" y="1397306"/>
                </a:lnTo>
                <a:cubicBezTo>
                  <a:pt x="1183425" y="643868"/>
                  <a:pt x="1157555" y="753438"/>
                  <a:pt x="1160980" y="0"/>
                </a:cubicBezTo>
                <a:lnTo>
                  <a:pt x="10274" y="287696"/>
                </a:lnTo>
                <a:lnTo>
                  <a:pt x="0" y="339067"/>
                </a:lnTo>
                <a:close/>
              </a:path>
            </a:pathLst>
          </a:custGeom>
          <a:gradFill flip="none" rotWithShape="1">
            <a:gsLst>
              <a:gs pos="100000">
                <a:schemeClr val="bg1"/>
              </a:gs>
              <a:gs pos="0">
                <a:schemeClr val="tx2">
                  <a:alpha val="24000"/>
                </a:schemeClr>
              </a:gs>
            </a:gsLst>
            <a:lin ang="10800000" scaled="1"/>
            <a:tileRect/>
          </a:gra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Trebuchet MS"/>
              <a:ea typeface="Microsoft YaHei" panose="020B0503020204020204" pitchFamily="34" charset="-122"/>
              <a:cs typeface="+mn-cs"/>
            </a:endParaRPr>
          </a:p>
        </p:txBody>
      </p:sp>
      <p:grpSp>
        <p:nvGrpSpPr>
          <p:cNvPr id="12" name="Group 11">
            <a:extLst>
              <a:ext uri="{FF2B5EF4-FFF2-40B4-BE49-F238E27FC236}">
                <a16:creationId xmlns:a16="http://schemas.microsoft.com/office/drawing/2014/main" id="{8E8AD47A-FB5A-4A6E-A699-E13654D9C59F}"/>
              </a:ext>
            </a:extLst>
          </p:cNvPr>
          <p:cNvGrpSpPr/>
          <p:nvPr/>
        </p:nvGrpSpPr>
        <p:grpSpPr>
          <a:xfrm>
            <a:off x="7100774" y="1427816"/>
            <a:ext cx="4551295" cy="3193090"/>
            <a:chOff x="7100774" y="1427816"/>
            <a:chExt cx="3604917" cy="3193090"/>
          </a:xfrm>
        </p:grpSpPr>
        <p:sp>
          <p:nvSpPr>
            <p:cNvPr id="11" name="Rectangle: Rounded Corners 10">
              <a:extLst>
                <a:ext uri="{FF2B5EF4-FFF2-40B4-BE49-F238E27FC236}">
                  <a16:creationId xmlns:a16="http://schemas.microsoft.com/office/drawing/2014/main" id="{E9481565-B5D7-4266-A343-2331917267DE}"/>
                </a:ext>
              </a:extLst>
            </p:cNvPr>
            <p:cNvSpPr/>
            <p:nvPr/>
          </p:nvSpPr>
          <p:spPr>
            <a:xfrm>
              <a:off x="7100774" y="4348491"/>
              <a:ext cx="3604917" cy="272415"/>
            </a:xfrm>
            <a:prstGeom prst="roundRect">
              <a:avLst/>
            </a:prstGeom>
            <a:gradFill flip="none" rotWithShape="1">
              <a:gsLst>
                <a:gs pos="0">
                  <a:schemeClr val="tx2">
                    <a:alpha val="24000"/>
                  </a:schemeClr>
                </a:gs>
                <a:gs pos="100000">
                  <a:schemeClr val="tx2">
                    <a:alpha val="0"/>
                  </a:schemeClr>
                </a:gs>
              </a:gsLst>
              <a:lin ang="0" scaled="1"/>
              <a:tileRect/>
            </a:grad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600" b="1" i="0" u="none" strike="noStrike" kern="1200" cap="none" spc="0" normalizeH="0" baseline="0" noProof="0">
                  <a:ln>
                    <a:noFill/>
                  </a:ln>
                  <a:solidFill>
                    <a:srgbClr val="29BA74"/>
                  </a:solidFill>
                  <a:effectLst/>
                  <a:uLnTx/>
                  <a:uFillTx/>
                  <a:latin typeface="Trebuchet MS"/>
                  <a:ea typeface="Microsoft YaHei" panose="020B0503020204020204" pitchFamily="34" charset="-122"/>
                  <a:cs typeface="+mn-cs"/>
                </a:rPr>
                <a:t>聚類結果</a:t>
              </a:r>
              <a:r>
                <a:rPr kumimoji="0" lang="en-US" altLang="zh-CN" sz="1600" b="1" i="0" u="none" strike="noStrike" kern="1200" cap="none" spc="0" normalizeH="0" baseline="30000" noProof="0">
                  <a:ln>
                    <a:noFill/>
                  </a:ln>
                  <a:solidFill>
                    <a:srgbClr val="29BA74"/>
                  </a:solidFill>
                  <a:effectLst/>
                  <a:uLnTx/>
                  <a:uFillTx/>
                  <a:latin typeface="Trebuchet MS"/>
                  <a:ea typeface="Microsoft YaHei" panose="020B0503020204020204" pitchFamily="34" charset="-122"/>
                  <a:cs typeface="+mn-cs"/>
                </a:rPr>
                <a:t>2</a:t>
              </a:r>
              <a:r>
                <a:rPr kumimoji="0" lang="en-US" altLang="zh-CN" sz="1600" b="1" i="0" u="none" strike="noStrike" kern="1200" cap="none" spc="0" normalizeH="0" baseline="0" noProof="0">
                  <a:ln>
                    <a:noFill/>
                  </a:ln>
                  <a:solidFill>
                    <a:srgbClr val="29BA74"/>
                  </a:solidFill>
                  <a:effectLst/>
                  <a:uLnTx/>
                  <a:uFillTx/>
                  <a:latin typeface="Trebuchet MS"/>
                  <a:ea typeface="Microsoft YaHei" panose="020B0503020204020204" pitchFamily="34" charset="-122"/>
                  <a:cs typeface="+mn-cs"/>
                </a:rPr>
                <a:t> </a:t>
              </a:r>
              <a:endParaRPr kumimoji="0" lang="zh-CN" altLang="en-US" sz="1600" b="1" i="0" u="none" strike="noStrike" kern="1200" cap="none" spc="0" normalizeH="0" baseline="0" noProof="0">
                <a:ln>
                  <a:noFill/>
                </a:ln>
                <a:solidFill>
                  <a:srgbClr val="29BA74"/>
                </a:solidFill>
                <a:effectLst/>
                <a:uLnTx/>
                <a:uFillTx/>
                <a:latin typeface="Trebuchet MS"/>
                <a:ea typeface="Microsoft YaHei" panose="020B0503020204020204" pitchFamily="34" charset="-122"/>
                <a:cs typeface="+mn-cs"/>
              </a:endParaRPr>
            </a:p>
          </p:txBody>
        </p:sp>
        <p:sp>
          <p:nvSpPr>
            <p:cNvPr id="58" name="Rectangle: Rounded Corners 57">
              <a:extLst>
                <a:ext uri="{FF2B5EF4-FFF2-40B4-BE49-F238E27FC236}">
                  <a16:creationId xmlns:a16="http://schemas.microsoft.com/office/drawing/2014/main" id="{8406151E-504C-4F1E-A0A0-2D83FC052064}"/>
                </a:ext>
              </a:extLst>
            </p:cNvPr>
            <p:cNvSpPr/>
            <p:nvPr/>
          </p:nvSpPr>
          <p:spPr>
            <a:xfrm>
              <a:off x="7100774" y="1427816"/>
              <a:ext cx="3604917" cy="272415"/>
            </a:xfrm>
            <a:prstGeom prst="roundRect">
              <a:avLst/>
            </a:prstGeom>
            <a:gradFill flip="none" rotWithShape="1">
              <a:gsLst>
                <a:gs pos="0">
                  <a:schemeClr val="tx2">
                    <a:alpha val="24000"/>
                  </a:schemeClr>
                </a:gs>
                <a:gs pos="100000">
                  <a:schemeClr val="tx2">
                    <a:alpha val="0"/>
                  </a:schemeClr>
                </a:gs>
              </a:gsLst>
              <a:lin ang="0" scaled="1"/>
              <a:tileRect/>
            </a:grad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600" b="1" i="0" u="none" strike="noStrike" kern="1200" cap="none" spc="0" normalizeH="0" baseline="0" noProof="0">
                  <a:ln>
                    <a:noFill/>
                  </a:ln>
                  <a:solidFill>
                    <a:srgbClr val="29BA74"/>
                  </a:solidFill>
                  <a:effectLst/>
                  <a:uLnTx/>
                  <a:uFillTx/>
                  <a:latin typeface="Trebuchet MS"/>
                  <a:ea typeface="Microsoft YaHei" panose="020B0503020204020204" pitchFamily="34" charset="-122"/>
                  <a:cs typeface="+mn-cs"/>
                </a:rPr>
                <a:t>聚類分析原理</a:t>
              </a:r>
            </a:p>
          </p:txBody>
        </p:sp>
      </p:grpSp>
      <p:sp>
        <p:nvSpPr>
          <p:cNvPr id="8" name="Textfeld 1">
            <a:extLst>
              <a:ext uri="{FF2B5EF4-FFF2-40B4-BE49-F238E27FC236}">
                <a16:creationId xmlns:a16="http://schemas.microsoft.com/office/drawing/2014/main" id="{2B646CD6-6286-85AE-47FA-87ACE753D01C}"/>
              </a:ext>
            </a:extLst>
          </p:cNvPr>
          <p:cNvSpPr txBox="1"/>
          <p:nvPr>
            <p:custDataLst>
              <p:tags r:id="rId3"/>
            </p:custDataLst>
          </p:nvPr>
        </p:nvSpPr>
        <p:spPr>
          <a:xfrm>
            <a:off x="0" y="27838"/>
            <a:ext cx="2743200" cy="240066"/>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marL="0" marR="0" lvl="0" indent="0" algn="l" defTabSz="914400" rtl="0" eaLnBrk="1" fontAlgn="auto" latinLnBrk="0" hangingPunct="1">
              <a:lnSpc>
                <a:spcPct val="90000"/>
              </a:lnSpc>
              <a:spcBef>
                <a:spcPts val="0"/>
              </a:spcBef>
              <a:spcAft>
                <a:spcPts val="600"/>
              </a:spcAft>
              <a:buClrTx/>
              <a:buSzTx/>
              <a:buFontTx/>
              <a:buNone/>
              <a:tabLst/>
              <a:defRPr/>
            </a:pPr>
            <a:r>
              <a:rPr kumimoji="0" lang="zh-TW" altLang="en-US" sz="12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rPr>
              <a:t>分群方法論</a:t>
            </a:r>
            <a:endParaRPr kumimoji="0" lang="en-US" altLang="zh-TW" sz="1200" b="1" i="0" u="none" strike="noStrike" kern="1200" cap="none" spc="0" normalizeH="0" baseline="0" noProof="0">
              <a:ln>
                <a:noFill/>
              </a:ln>
              <a:solidFill>
                <a:srgbClr val="575757"/>
              </a:solidFill>
              <a:effectLst/>
              <a:uLnTx/>
              <a:uFillTx/>
              <a:latin typeface="Trebuchet MS"/>
              <a:ea typeface="Microsoft YaHei" panose="020B0503020204020204" pitchFamily="34" charset="-122"/>
              <a:cs typeface="+mn-cs"/>
              <a:sym typeface="Trebuchet MS" panose="020B0603020202020204" pitchFamily="34" charset="0"/>
            </a:endParaRPr>
          </a:p>
        </p:txBody>
      </p:sp>
      <p:cxnSp>
        <p:nvCxnSpPr>
          <p:cNvPr id="9" name="Straight Connector 8">
            <a:extLst>
              <a:ext uri="{FF2B5EF4-FFF2-40B4-BE49-F238E27FC236}">
                <a16:creationId xmlns:a16="http://schemas.microsoft.com/office/drawing/2014/main" id="{89D79A22-3D87-433A-1088-19F61A27ED1E}"/>
              </a:ext>
            </a:extLst>
          </p:cNvPr>
          <p:cNvCxnSpPr/>
          <p:nvPr/>
        </p:nvCxnSpPr>
        <p:spPr>
          <a:xfrm flipH="1">
            <a:off x="43961" y="87923"/>
            <a:ext cx="12115801" cy="6695342"/>
          </a:xfrm>
          <a:prstGeom prst="line">
            <a:avLst/>
          </a:prstGeom>
          <a:ln w="9525" cap="rnd">
            <a:solidFill>
              <a:schemeClr val="tx1">
                <a:lumMod val="60000"/>
                <a:lumOff val="40000"/>
              </a:schemeClr>
            </a:solidFill>
            <a:prstDash val="solid"/>
            <a:roun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36891712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9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46" name="think-cell data - do not delete" hidden="1">
            <a:extLst>
              <a:ext uri="{FF2B5EF4-FFF2-40B4-BE49-F238E27FC236}">
                <a16:creationId xmlns:a16="http://schemas.microsoft.com/office/drawing/2014/main" id="{AF82178C-2B38-29A2-160D-8C59B5E7B58F}"/>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04" imgH="405" progId="TCLayout.ActiveDocument.1">
                  <p:embed/>
                </p:oleObj>
              </mc:Choice>
              <mc:Fallback>
                <p:oleObj name="think-cell Slide" r:id="rId4" imgW="404" imgH="405" progId="TCLayout.ActiveDocument.1">
                  <p:embed/>
                  <p:pic>
                    <p:nvPicPr>
                      <p:cNvPr id="46" name="think-cell data - do not delete" hidden="1">
                        <a:extLst>
                          <a:ext uri="{FF2B5EF4-FFF2-40B4-BE49-F238E27FC236}">
                            <a16:creationId xmlns:a16="http://schemas.microsoft.com/office/drawing/2014/main" id="{AF82178C-2B38-29A2-160D-8C59B5E7B58F}"/>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9" name="Rectangle 48">
            <a:extLst>
              <a:ext uri="{FF2B5EF4-FFF2-40B4-BE49-F238E27FC236}">
                <a16:creationId xmlns:a16="http://schemas.microsoft.com/office/drawing/2014/main" id="{09EB6EBE-D2AD-42B5-D315-6E2B31462BB5}"/>
              </a:ext>
            </a:extLst>
          </p:cNvPr>
          <p:cNvSpPr/>
          <p:nvPr/>
        </p:nvSpPr>
        <p:spPr>
          <a:xfrm>
            <a:off x="1105142" y="4937192"/>
            <a:ext cx="10458208" cy="1223896"/>
          </a:xfrm>
          <a:prstGeom prst="rect">
            <a:avLst/>
          </a:prstGeom>
          <a:solidFill>
            <a:srgbClr val="F2F2F2"/>
          </a:solidFill>
          <a:ln w="9525" cap="rnd" cmpd="sng" algn="ctr">
            <a:solidFill>
              <a:srgbClr val="29BA74"/>
            </a:solidFill>
            <a:prstDash val="sysDash"/>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rgbClr val="FFFFFF"/>
              </a:solidFill>
              <a:ea typeface="Microsoft YaHei" panose="020B0503020204020204" pitchFamily="34" charset="-122"/>
            </a:endParaRPr>
          </a:p>
        </p:txBody>
      </p:sp>
      <p:sp>
        <p:nvSpPr>
          <p:cNvPr id="2" name="Title 1">
            <a:extLst>
              <a:ext uri="{FF2B5EF4-FFF2-40B4-BE49-F238E27FC236}">
                <a16:creationId xmlns:a16="http://schemas.microsoft.com/office/drawing/2014/main" id="{EEA7A0A3-548C-40C5-31AF-C665960FDD71}"/>
              </a:ext>
            </a:extLst>
          </p:cNvPr>
          <p:cNvSpPr>
            <a:spLocks noGrp="1"/>
          </p:cNvSpPr>
          <p:nvPr>
            <p:ph type="title"/>
          </p:nvPr>
        </p:nvSpPr>
        <p:spPr>
          <a:xfrm>
            <a:off x="630000" y="622800"/>
            <a:ext cx="10933350" cy="664797"/>
          </a:xfrm>
        </p:spPr>
        <p:txBody>
          <a:bodyPr vert="horz"/>
          <a:lstStyle/>
          <a:p>
            <a:r>
              <a:rPr lang="zh-TW" altLang="en-US">
                <a:ea typeface="Microsoft YaHei" panose="020B0503020204020204" pitchFamily="34" charset="-122"/>
              </a:rPr>
              <a:t>為長期發展全面個性化經營，凱基需打造強健的中央數據基礎、建立自動化行銷的流程與工具，並建立成效反饋機制</a:t>
            </a:r>
            <a:endParaRPr lang="en-US">
              <a:ea typeface="Microsoft YaHei" panose="020B0503020204020204" pitchFamily="34" charset="-122"/>
            </a:endParaRPr>
          </a:p>
        </p:txBody>
      </p:sp>
      <p:sp>
        <p:nvSpPr>
          <p:cNvPr id="5" name="Rectangle 4">
            <a:extLst>
              <a:ext uri="{FF2B5EF4-FFF2-40B4-BE49-F238E27FC236}">
                <a16:creationId xmlns:a16="http://schemas.microsoft.com/office/drawing/2014/main" id="{46697683-BFCE-3690-FBBC-2C6CECA2ADC2}"/>
              </a:ext>
            </a:extLst>
          </p:cNvPr>
          <p:cNvSpPr/>
          <p:nvPr/>
        </p:nvSpPr>
        <p:spPr>
          <a:xfrm>
            <a:off x="579853" y="1704512"/>
            <a:ext cx="586510" cy="1827597"/>
          </a:xfrm>
          <a:prstGeom prst="rect">
            <a:avLst/>
          </a:prstGeom>
          <a:gradFill flip="none" rotWithShape="1">
            <a:gsLst>
              <a:gs pos="0">
                <a:schemeClr val="bg1">
                  <a:lumMod val="75000"/>
                </a:schemeClr>
              </a:gs>
              <a:gs pos="95000">
                <a:schemeClr val="accent5"/>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r>
              <a:rPr lang="zh-TW" altLang="en-US" sz="1400" b="1">
                <a:solidFill>
                  <a:srgbClr val="FFFFFF"/>
                </a:solidFill>
                <a:effectLst>
                  <a:outerShdw blurRad="50800" dist="38100" dir="2700000" algn="tl" rotWithShape="0">
                    <a:prstClr val="black">
                      <a:alpha val="40000"/>
                    </a:prstClr>
                  </a:outerShdw>
                </a:effectLst>
                <a:latin typeface="Trebuchet MS"/>
                <a:ea typeface="Microsoft YaHei" panose="020B0503020204020204" pitchFamily="34" charset="-122"/>
                <a:sym typeface="+mn-lt"/>
              </a:rPr>
              <a:t>關鍵成功因素</a:t>
            </a:r>
            <a:endParaRPr lang="en-US" sz="1400" b="1">
              <a:solidFill>
                <a:srgbClr val="FFFFFF"/>
              </a:solidFill>
              <a:effectLst>
                <a:outerShdw blurRad="50800" dist="38100" dir="2700000" algn="tl" rotWithShape="0">
                  <a:prstClr val="black">
                    <a:alpha val="40000"/>
                  </a:prstClr>
                </a:outerShdw>
              </a:effectLst>
              <a:latin typeface="Trebuchet MS"/>
              <a:ea typeface="Microsoft YaHei" panose="020B0503020204020204" pitchFamily="34" charset="-122"/>
              <a:sym typeface="+mn-lt"/>
            </a:endParaRPr>
          </a:p>
        </p:txBody>
      </p:sp>
      <p:sp>
        <p:nvSpPr>
          <p:cNvPr id="6" name="Rectangle 5">
            <a:extLst>
              <a:ext uri="{FF2B5EF4-FFF2-40B4-BE49-F238E27FC236}">
                <a16:creationId xmlns:a16="http://schemas.microsoft.com/office/drawing/2014/main" id="{590FFC0C-E7F8-41A6-CBE1-205240800534}"/>
              </a:ext>
            </a:extLst>
          </p:cNvPr>
          <p:cNvSpPr/>
          <p:nvPr/>
        </p:nvSpPr>
        <p:spPr>
          <a:xfrm>
            <a:off x="579853" y="3598393"/>
            <a:ext cx="586510" cy="1277447"/>
          </a:xfrm>
          <a:prstGeom prst="rect">
            <a:avLst/>
          </a:prstGeom>
          <a:solidFill>
            <a:srgbClr val="670F31"/>
          </a:solid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6800" rIns="91440" bIns="45720" numCol="1" spcCol="0" rtlCol="0" fromWordArt="0" anchor="ctr" anchorCtr="0" forceAA="0" compatLnSpc="1">
            <a:prstTxWarp prst="textNoShape">
              <a:avLst/>
            </a:prstTxWarp>
            <a:noAutofit/>
          </a:bodyPr>
          <a:lstStyle/>
          <a:p>
            <a:pPr algn="ctr"/>
            <a:r>
              <a:rPr lang="zh-TW" altLang="en-US" sz="1400" b="1">
                <a:solidFill>
                  <a:srgbClr val="FFFFFF"/>
                </a:solidFill>
                <a:effectLst>
                  <a:outerShdw blurRad="50800" dist="38100" dir="2700000" algn="tl" rotWithShape="0">
                    <a:prstClr val="black">
                      <a:alpha val="40000"/>
                    </a:prstClr>
                  </a:outerShdw>
                </a:effectLst>
                <a:latin typeface="Trebuchet MS"/>
                <a:ea typeface="Microsoft YaHei" panose="020B0503020204020204" pitchFamily="34" charset="-122"/>
                <a:sym typeface="+mn-lt"/>
              </a:rPr>
              <a:t>目前凱基挑戰</a:t>
            </a:r>
            <a:endParaRPr lang="en-US" sz="1400" b="1">
              <a:solidFill>
                <a:srgbClr val="FFFFFF"/>
              </a:solidFill>
              <a:effectLst>
                <a:outerShdw blurRad="50800" dist="38100" dir="2700000" algn="tl" rotWithShape="0">
                  <a:prstClr val="black">
                    <a:alpha val="40000"/>
                  </a:prstClr>
                </a:outerShdw>
              </a:effectLst>
              <a:latin typeface="Trebuchet MS"/>
              <a:ea typeface="Microsoft YaHei" panose="020B0503020204020204" pitchFamily="34" charset="-122"/>
              <a:sym typeface="+mn-lt"/>
            </a:endParaRPr>
          </a:p>
        </p:txBody>
      </p:sp>
      <p:sp>
        <p:nvSpPr>
          <p:cNvPr id="33" name="Rectangle 32">
            <a:extLst>
              <a:ext uri="{FF2B5EF4-FFF2-40B4-BE49-F238E27FC236}">
                <a16:creationId xmlns:a16="http://schemas.microsoft.com/office/drawing/2014/main" id="{14670DCC-2D81-2B17-4CC3-84DD70187D3F}"/>
              </a:ext>
            </a:extLst>
          </p:cNvPr>
          <p:cNvSpPr/>
          <p:nvPr/>
        </p:nvSpPr>
        <p:spPr>
          <a:xfrm>
            <a:off x="579853" y="4937192"/>
            <a:ext cx="586510" cy="1223896"/>
          </a:xfrm>
          <a:prstGeom prst="rect">
            <a:avLst/>
          </a:prstGeom>
          <a:solidFill>
            <a:srgbClr val="03522D"/>
          </a:solid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6800" rIns="91440" bIns="45720" numCol="1" spcCol="0" rtlCol="0" fromWordArt="0" anchor="ctr" anchorCtr="0" forceAA="0" compatLnSpc="1">
            <a:prstTxWarp prst="textNoShape">
              <a:avLst/>
            </a:prstTxWarp>
            <a:noAutofit/>
          </a:bodyPr>
          <a:lstStyle/>
          <a:p>
            <a:pPr algn="ctr"/>
            <a:r>
              <a:rPr lang="zh-TW" altLang="en-US" sz="1400" b="1">
                <a:solidFill>
                  <a:srgbClr val="FFFFFF"/>
                </a:solidFill>
                <a:effectLst>
                  <a:outerShdw blurRad="50800" dist="38100" dir="2700000" algn="tl" rotWithShape="0">
                    <a:prstClr val="black">
                      <a:alpha val="40000"/>
                    </a:prstClr>
                  </a:outerShdw>
                </a:effectLst>
                <a:latin typeface="Trebuchet MS"/>
                <a:ea typeface="Microsoft YaHei" panose="020B0503020204020204" pitchFamily="34" charset="-122"/>
                <a:sym typeface="+mn-lt"/>
              </a:rPr>
              <a:t>建議長期</a:t>
            </a:r>
            <a:endParaRPr lang="en-US" altLang="zh-TW" sz="1400" b="1">
              <a:solidFill>
                <a:srgbClr val="FFFFFF"/>
              </a:solidFill>
              <a:effectLst>
                <a:outerShdw blurRad="50800" dist="38100" dir="2700000" algn="tl" rotWithShape="0">
                  <a:prstClr val="black">
                    <a:alpha val="40000"/>
                  </a:prstClr>
                </a:outerShdw>
              </a:effectLst>
              <a:latin typeface="Trebuchet MS"/>
              <a:ea typeface="Microsoft YaHei" panose="020B0503020204020204" pitchFamily="34" charset="-122"/>
              <a:sym typeface="+mn-lt"/>
            </a:endParaRPr>
          </a:p>
          <a:p>
            <a:pPr algn="ctr"/>
            <a:r>
              <a:rPr lang="zh-TW" altLang="en-US" sz="1400" b="1">
                <a:solidFill>
                  <a:srgbClr val="FFFFFF"/>
                </a:solidFill>
                <a:effectLst>
                  <a:outerShdw blurRad="50800" dist="38100" dir="2700000" algn="tl" rotWithShape="0">
                    <a:prstClr val="black">
                      <a:alpha val="40000"/>
                    </a:prstClr>
                  </a:outerShdw>
                </a:effectLst>
                <a:latin typeface="Trebuchet MS"/>
                <a:ea typeface="Microsoft YaHei" panose="020B0503020204020204" pitchFamily="34" charset="-122"/>
                <a:sym typeface="+mn-lt"/>
              </a:rPr>
              <a:t>行動方案</a:t>
            </a:r>
            <a:endParaRPr lang="en-US" sz="1400" b="1">
              <a:solidFill>
                <a:srgbClr val="FFFFFF"/>
              </a:solidFill>
              <a:effectLst>
                <a:outerShdw blurRad="50800" dist="38100" dir="2700000" algn="tl" rotWithShape="0">
                  <a:prstClr val="black">
                    <a:alpha val="40000"/>
                  </a:prstClr>
                </a:outerShdw>
              </a:effectLst>
              <a:latin typeface="Trebuchet MS"/>
              <a:ea typeface="Microsoft YaHei" panose="020B0503020204020204" pitchFamily="34" charset="-122"/>
              <a:sym typeface="+mn-lt"/>
            </a:endParaRPr>
          </a:p>
        </p:txBody>
      </p:sp>
      <p:sp>
        <p:nvSpPr>
          <p:cNvPr id="9" name="TextBox 8">
            <a:extLst>
              <a:ext uri="{FF2B5EF4-FFF2-40B4-BE49-F238E27FC236}">
                <a16:creationId xmlns:a16="http://schemas.microsoft.com/office/drawing/2014/main" id="{BE6059AE-57E6-A8A9-7C83-178073C8F39D}"/>
              </a:ext>
            </a:extLst>
          </p:cNvPr>
          <p:cNvSpPr txBox="1"/>
          <p:nvPr/>
        </p:nvSpPr>
        <p:spPr>
          <a:xfrm>
            <a:off x="1166364" y="1704511"/>
            <a:ext cx="3345462" cy="432594"/>
          </a:xfrm>
          <a:prstGeom prst="rect">
            <a:avLst/>
          </a:prstGeom>
          <a:solidFill>
            <a:srgbClr val="C9E7CA"/>
          </a:solidFill>
          <a:effectLst/>
          <a:extLst>
            <a:ext uri="{53640926-AAD7-44D8-BBD7-CCE9431645EC}">
              <a14:shadowObscured xmlns:a14="http://schemas.microsoft.com/office/drawing/2010/main"/>
            </a:ext>
          </a:extLst>
        </p:spPr>
        <p:txBody>
          <a:bodyPr wrap="none" lIns="93761" tIns="92285" rIns="93761" bIns="92285" rtlCol="0" anchor="t">
            <a:noAutofit/>
          </a:bodyPr>
          <a:lstStyle/>
          <a:p>
            <a:pPr marR="0" lvl="0" algn="ctr" defTabSz="685800" eaLnBrk="1" fontAlgn="auto" latinLnBrk="0" hangingPunct="1">
              <a:lnSpc>
                <a:spcPct val="100000"/>
              </a:lnSpc>
              <a:spcBef>
                <a:spcPts val="0"/>
              </a:spcBef>
              <a:spcAft>
                <a:spcPts val="0"/>
              </a:spcAft>
              <a:buClrTx/>
              <a:buSzTx/>
              <a:buFontTx/>
              <a:buNone/>
              <a:tabLst/>
              <a:defRPr/>
            </a:pPr>
            <a:r>
              <a:rPr kumimoji="0" lang="zh-TW" altLang="en-US" sz="1600" b="1" i="1" u="none" strike="noStrike" kern="1200" cap="none" spc="0" normalizeH="0" baseline="0" noProof="0">
                <a:ln>
                  <a:noFill/>
                </a:ln>
                <a:solidFill>
                  <a:srgbClr val="575757"/>
                </a:solidFill>
                <a:effectLst/>
                <a:uLnTx/>
                <a:uFillTx/>
                <a:latin typeface="OP Chevin Pro Light"/>
                <a:ea typeface="Microsoft YaHei" panose="020B0503020204020204" pitchFamily="34" charset="-122"/>
              </a:rPr>
              <a:t>中央管理數據基礎</a:t>
            </a:r>
            <a:endParaRPr kumimoji="0" lang="fi-FI" sz="1600" b="1" i="1" u="none" strike="noStrike" kern="1200" cap="none" spc="0" normalizeH="0" baseline="0" noProof="0">
              <a:ln>
                <a:noFill/>
              </a:ln>
              <a:solidFill>
                <a:srgbClr val="575757"/>
              </a:solidFill>
              <a:effectLst/>
              <a:uLnTx/>
              <a:uFillTx/>
              <a:latin typeface="OP Chevin Pro Light"/>
              <a:ea typeface="Microsoft YaHei" panose="020B0503020204020204" pitchFamily="34" charset="-122"/>
            </a:endParaRPr>
          </a:p>
        </p:txBody>
      </p:sp>
      <p:sp>
        <p:nvSpPr>
          <p:cNvPr id="10" name="TextBox 9">
            <a:extLst>
              <a:ext uri="{FF2B5EF4-FFF2-40B4-BE49-F238E27FC236}">
                <a16:creationId xmlns:a16="http://schemas.microsoft.com/office/drawing/2014/main" id="{0869F443-5E83-CADA-D358-208579F3D263}"/>
              </a:ext>
            </a:extLst>
          </p:cNvPr>
          <p:cNvSpPr txBox="1"/>
          <p:nvPr/>
        </p:nvSpPr>
        <p:spPr>
          <a:xfrm>
            <a:off x="4692126" y="1704511"/>
            <a:ext cx="3345462" cy="432594"/>
          </a:xfrm>
          <a:prstGeom prst="rect">
            <a:avLst/>
          </a:prstGeom>
          <a:solidFill>
            <a:srgbClr val="C9E7CA"/>
          </a:solidFill>
          <a:effectLst/>
          <a:extLst>
            <a:ext uri="{53640926-AAD7-44D8-BBD7-CCE9431645EC}">
              <a14:shadowObscured xmlns:a14="http://schemas.microsoft.com/office/drawing/2010/main"/>
            </a:ext>
          </a:extLst>
        </p:spPr>
        <p:txBody>
          <a:bodyPr wrap="none" lIns="93761" tIns="92285" rIns="93761" bIns="92285" rtlCol="0" anchor="t">
            <a:noAutofit/>
          </a:bodyPr>
          <a:lstStyle/>
          <a:p>
            <a:pPr marR="0" lvl="0" algn="ctr" defTabSz="685800" eaLnBrk="1" fontAlgn="auto" latinLnBrk="0" hangingPunct="1">
              <a:lnSpc>
                <a:spcPct val="100000"/>
              </a:lnSpc>
              <a:spcBef>
                <a:spcPts val="0"/>
              </a:spcBef>
              <a:spcAft>
                <a:spcPts val="0"/>
              </a:spcAft>
              <a:buClrTx/>
              <a:buSzTx/>
              <a:buFontTx/>
              <a:buNone/>
              <a:tabLst/>
              <a:defRPr/>
            </a:pPr>
            <a:r>
              <a:rPr kumimoji="0" lang="zh-TW" altLang="en-US" sz="1600" b="1" i="1" u="none" strike="noStrike" kern="1200" cap="none" spc="0" normalizeH="0" baseline="0" noProof="0">
                <a:ln>
                  <a:noFill/>
                </a:ln>
                <a:solidFill>
                  <a:srgbClr val="575757"/>
                </a:solidFill>
                <a:effectLst/>
                <a:uLnTx/>
                <a:uFillTx/>
                <a:latin typeface="OP Chevin Pro Light"/>
                <a:ea typeface="Microsoft YaHei" panose="020B0503020204020204" pitchFamily="34" charset="-122"/>
              </a:rPr>
              <a:t>行銷活動自動化</a:t>
            </a:r>
            <a:endParaRPr kumimoji="0" lang="fi-FI" sz="1600" b="1" i="1" u="none" strike="noStrike" kern="1200" cap="none" spc="0" normalizeH="0" baseline="0" noProof="0">
              <a:ln>
                <a:noFill/>
              </a:ln>
              <a:solidFill>
                <a:srgbClr val="575757"/>
              </a:solidFill>
              <a:effectLst/>
              <a:uLnTx/>
              <a:uFillTx/>
              <a:latin typeface="OP Chevin Pro Light"/>
              <a:ea typeface="Microsoft YaHei" panose="020B0503020204020204" pitchFamily="34" charset="-122"/>
            </a:endParaRPr>
          </a:p>
        </p:txBody>
      </p:sp>
      <p:sp>
        <p:nvSpPr>
          <p:cNvPr id="11" name="TextBox 10">
            <a:extLst>
              <a:ext uri="{FF2B5EF4-FFF2-40B4-BE49-F238E27FC236}">
                <a16:creationId xmlns:a16="http://schemas.microsoft.com/office/drawing/2014/main" id="{97EBF5AA-960F-0C02-26F9-FB71F6062FFA}"/>
              </a:ext>
            </a:extLst>
          </p:cNvPr>
          <p:cNvSpPr txBox="1"/>
          <p:nvPr/>
        </p:nvSpPr>
        <p:spPr>
          <a:xfrm>
            <a:off x="8217888" y="1704511"/>
            <a:ext cx="3345462" cy="432594"/>
          </a:xfrm>
          <a:prstGeom prst="rect">
            <a:avLst/>
          </a:prstGeom>
          <a:solidFill>
            <a:srgbClr val="C9E7CA"/>
          </a:solidFill>
          <a:effectLst/>
          <a:extLst>
            <a:ext uri="{53640926-AAD7-44D8-BBD7-CCE9431645EC}">
              <a14:shadowObscured xmlns:a14="http://schemas.microsoft.com/office/drawing/2010/main"/>
            </a:ext>
          </a:extLst>
        </p:spPr>
        <p:txBody>
          <a:bodyPr wrap="none" lIns="93761" tIns="92285" rIns="93761" bIns="92285" rtlCol="0" anchor="t">
            <a:noAutofit/>
          </a:bodyPr>
          <a:lstStyle/>
          <a:p>
            <a:pPr marR="0" lvl="0" algn="ctr" defTabSz="685800" eaLnBrk="1" fontAlgn="auto" latinLnBrk="0" hangingPunct="1">
              <a:lnSpc>
                <a:spcPct val="100000"/>
              </a:lnSpc>
              <a:spcBef>
                <a:spcPts val="0"/>
              </a:spcBef>
              <a:spcAft>
                <a:spcPts val="0"/>
              </a:spcAft>
              <a:buClrTx/>
              <a:buSzTx/>
              <a:buFontTx/>
              <a:buNone/>
              <a:tabLst/>
              <a:defRPr/>
            </a:pPr>
            <a:r>
              <a:rPr lang="zh-TW" altLang="en-US" sz="1600" b="1" i="1">
                <a:solidFill>
                  <a:srgbClr val="575757"/>
                </a:solidFill>
                <a:latin typeface="OP Chevin Pro Light"/>
                <a:ea typeface="Microsoft YaHei" panose="020B0503020204020204" pitchFamily="34" charset="-122"/>
              </a:rPr>
              <a:t>完善行銷追蹤體系</a:t>
            </a:r>
            <a:endParaRPr kumimoji="0" lang="fi-FI" sz="1600" b="1" i="1" u="none" strike="noStrike" kern="1200" cap="none" spc="0" normalizeH="0" baseline="0" noProof="0">
              <a:ln>
                <a:noFill/>
              </a:ln>
              <a:solidFill>
                <a:srgbClr val="575757"/>
              </a:solidFill>
              <a:effectLst/>
              <a:uLnTx/>
              <a:uFillTx/>
              <a:latin typeface="OP Chevin Pro Light"/>
              <a:ea typeface="Microsoft YaHei" panose="020B0503020204020204" pitchFamily="34" charset="-122"/>
            </a:endParaRPr>
          </a:p>
        </p:txBody>
      </p:sp>
      <p:sp>
        <p:nvSpPr>
          <p:cNvPr id="13" name="TextBox 12">
            <a:extLst>
              <a:ext uri="{FF2B5EF4-FFF2-40B4-BE49-F238E27FC236}">
                <a16:creationId xmlns:a16="http://schemas.microsoft.com/office/drawing/2014/main" id="{62B031B0-F51D-5893-D9FB-B2104A62F558}"/>
              </a:ext>
            </a:extLst>
          </p:cNvPr>
          <p:cNvSpPr txBox="1"/>
          <p:nvPr/>
        </p:nvSpPr>
        <p:spPr>
          <a:xfrm>
            <a:off x="1166364" y="2170949"/>
            <a:ext cx="3345462" cy="1291095"/>
          </a:xfrm>
          <a:prstGeom prst="rect">
            <a:avLst/>
          </a:prstGeom>
          <a:noFill/>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txBody>
          <a:bodyPr wrap="square" lIns="93761" tIns="92285" rIns="93761" bIns="92285" rtlCol="0" anchor="t">
            <a:noAutofit/>
          </a:bodyPr>
          <a:lstStyle/>
          <a:p>
            <a:pPr marL="324000" lvl="1" indent="-216000" defTabSz="685800">
              <a:buClr>
                <a:schemeClr val="tx2"/>
              </a:buClr>
              <a:buFont typeface="Trebuchet MS" panose="020B0603020202020204" pitchFamily="34" charset="0"/>
              <a:buChar char="•"/>
              <a:defRPr/>
            </a:pPr>
            <a:r>
              <a:rPr lang="zh-TW" altLang="en-US" sz="1400">
                <a:solidFill>
                  <a:srgbClr val="29BA74"/>
                </a:solidFill>
              </a:rPr>
              <a:t>清晰的數據管理策略和政策 </a:t>
            </a:r>
            <a:r>
              <a:rPr lang="zh-TW" altLang="en-US" sz="1400">
                <a:latin typeface="Trebuchet MS" panose="020B0603020202020204" pitchFamily="34" charset="0"/>
                <a:ea typeface="Microsoft YaHei" panose="020B0503020204020204" pitchFamily="34" charset="-122"/>
              </a:rPr>
              <a:t>：</a:t>
            </a:r>
            <a:r>
              <a:rPr lang="zh-TW" altLang="en-US" sz="1400"/>
              <a:t>確保數據收集、存儲、處理和合規性</a:t>
            </a:r>
            <a:endParaRPr lang="en-US" altLang="zh-TW" sz="1400">
              <a:latin typeface="Trebuchet MS" panose="020B0603020202020204" pitchFamily="34" charset="0"/>
              <a:ea typeface="Microsoft YaHei" panose="020B0503020204020204" pitchFamily="34" charset="-122"/>
            </a:endParaRPr>
          </a:p>
          <a:p>
            <a:pPr marL="324000" lvl="1" indent="-216000" defTabSz="685800">
              <a:buClr>
                <a:schemeClr val="tx2"/>
              </a:buClr>
              <a:buFont typeface="Trebuchet MS" panose="020B0603020202020204" pitchFamily="34" charset="0"/>
              <a:buChar char="•"/>
              <a:defRPr/>
            </a:pPr>
            <a:r>
              <a:rPr lang="zh-TW" altLang="en-US" sz="1400">
                <a:solidFill>
                  <a:srgbClr val="29BA74"/>
                </a:solidFill>
                <a:latin typeface="Trebuchet MS" panose="020B0603020202020204" pitchFamily="34" charset="0"/>
                <a:ea typeface="Microsoft YaHei" panose="020B0503020204020204" pitchFamily="34" charset="-122"/>
              </a:rPr>
              <a:t>客戶行內外數據整合</a:t>
            </a:r>
            <a:r>
              <a:rPr lang="zh-TW" altLang="en-US" sz="1400">
                <a:latin typeface="Trebuchet MS" panose="020B0603020202020204" pitchFamily="34" charset="0"/>
                <a:ea typeface="Microsoft YaHei" panose="020B0503020204020204" pitchFamily="34" charset="-122"/>
              </a:rPr>
              <a:t>：確保完整訊息被有效管理，包含客戶畫像、偏好、歷史成效等，對客戶行爲全面瞭解</a:t>
            </a:r>
            <a:endParaRPr lang="en-US" altLang="zh-TW" sz="1400">
              <a:latin typeface="Trebuchet MS" panose="020B0603020202020204" pitchFamily="34" charset="0"/>
              <a:ea typeface="Microsoft YaHei" panose="020B0503020204020204" pitchFamily="34" charset="-122"/>
            </a:endParaRPr>
          </a:p>
        </p:txBody>
      </p:sp>
      <p:sp>
        <p:nvSpPr>
          <p:cNvPr id="14" name="TextBox 13">
            <a:extLst>
              <a:ext uri="{FF2B5EF4-FFF2-40B4-BE49-F238E27FC236}">
                <a16:creationId xmlns:a16="http://schemas.microsoft.com/office/drawing/2014/main" id="{D1472A05-B961-4541-ABFD-C0AD08083B21}"/>
              </a:ext>
            </a:extLst>
          </p:cNvPr>
          <p:cNvSpPr txBox="1"/>
          <p:nvPr/>
        </p:nvSpPr>
        <p:spPr>
          <a:xfrm>
            <a:off x="4692126" y="2170949"/>
            <a:ext cx="3345462" cy="1291095"/>
          </a:xfrm>
          <a:prstGeom prst="rect">
            <a:avLst/>
          </a:prstGeom>
          <a:noFill/>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txBody>
          <a:bodyPr wrap="square" lIns="93761" tIns="92285" rIns="93761" bIns="92285" rtlCol="0" anchor="t">
            <a:noAutofit/>
          </a:bodyPr>
          <a:lstStyle/>
          <a:p>
            <a:pPr marL="324000" lvl="1" indent="-216000" defTabSz="685800">
              <a:buClr>
                <a:schemeClr val="tx2"/>
              </a:buClr>
              <a:buFont typeface="Trebuchet MS" panose="020B0603020202020204" pitchFamily="34" charset="0"/>
              <a:buChar char="•"/>
              <a:defRPr/>
            </a:pPr>
            <a:r>
              <a:rPr lang="zh-TW" altLang="en-US" sz="1400">
                <a:solidFill>
                  <a:srgbClr val="29BA74"/>
                </a:solidFill>
                <a:latin typeface="Trebuchet MS" panose="020B0603020202020204" pitchFamily="34" charset="0"/>
                <a:ea typeface="Microsoft YaHei" panose="020B0503020204020204" pitchFamily="34" charset="-122"/>
              </a:rPr>
              <a:t>強大且簡便的自動化平台</a:t>
            </a:r>
            <a:r>
              <a:rPr lang="zh-TW" altLang="en-US" sz="1400">
                <a:latin typeface="Trebuchet MS" panose="020B0603020202020204" pitchFamily="34" charset="0"/>
                <a:ea typeface="Microsoft YaHei" panose="020B0503020204020204" pitchFamily="34" charset="-122"/>
              </a:rPr>
              <a:t>：結合高質量的數據基礎，支援</a:t>
            </a:r>
            <a:r>
              <a:rPr lang="zh-TW" altLang="en-US" sz="1400">
                <a:solidFill>
                  <a:srgbClr val="29BA74"/>
                </a:solidFill>
                <a:latin typeface="Trebuchet MS" panose="020B0603020202020204" pitchFamily="34" charset="0"/>
                <a:ea typeface="Microsoft YaHei" panose="020B0503020204020204" pitchFamily="34" charset="-122"/>
              </a:rPr>
              <a:t>多渠道</a:t>
            </a:r>
            <a:r>
              <a:rPr lang="zh-TW" altLang="en-US" sz="1400">
                <a:latin typeface="Trebuchet MS" panose="020B0603020202020204" pitchFamily="34" charset="0"/>
                <a:ea typeface="Microsoft YaHei" panose="020B0503020204020204" pitchFamily="34" charset="-122"/>
              </a:rPr>
              <a:t>行銷統一管理與執行</a:t>
            </a:r>
            <a:endParaRPr lang="en-US" altLang="zh-TW" sz="1400">
              <a:latin typeface="Trebuchet MS" panose="020B0603020202020204" pitchFamily="34" charset="0"/>
              <a:ea typeface="Microsoft YaHei" panose="020B0503020204020204" pitchFamily="34" charset="-122"/>
            </a:endParaRPr>
          </a:p>
          <a:p>
            <a:pPr marL="324000" lvl="1" indent="-216000" defTabSz="685800">
              <a:buClr>
                <a:schemeClr val="tx2"/>
              </a:buClr>
              <a:buFont typeface="Trebuchet MS" panose="020B0603020202020204" pitchFamily="34" charset="0"/>
              <a:buChar char="•"/>
              <a:defRPr/>
            </a:pPr>
            <a:r>
              <a:rPr lang="zh-TW" altLang="en-US" sz="1400">
                <a:solidFill>
                  <a:srgbClr val="29BA74"/>
                </a:solidFill>
                <a:latin typeface="Trebuchet MS" panose="020B0603020202020204" pitchFamily="34" charset="0"/>
                <a:ea typeface="Microsoft YaHei" panose="020B0503020204020204" pitchFamily="34" charset="-122"/>
              </a:rPr>
              <a:t>產品組合庫設計：</a:t>
            </a:r>
            <a:r>
              <a:rPr lang="zh-TW" altLang="en-US" sz="1400">
                <a:latin typeface="Trebuchet MS" panose="020B0603020202020204" pitchFamily="34" charset="0"/>
                <a:ea typeface="Microsoft YaHei" panose="020B0503020204020204" pitchFamily="34" charset="-122"/>
              </a:rPr>
              <a:t>確保針對不同模型建議的産品</a:t>
            </a:r>
            <a:r>
              <a:rPr kumimoji="0" lang="en-US" altLang="zh-TW" sz="1400" u="none" strike="noStrike" kern="1200" cap="none" spc="0" normalizeH="0" baseline="0" noProof="0">
                <a:ln>
                  <a:noFill/>
                </a:ln>
                <a:effectLst/>
                <a:uLnTx/>
                <a:uFillTx/>
                <a:latin typeface="Trebuchet MS" panose="020B0603020202020204" pitchFamily="34" charset="0"/>
                <a:ea typeface="Microsoft YaHei" panose="020B0503020204020204" pitchFamily="34" charset="-122"/>
              </a:rPr>
              <a:t>/</a:t>
            </a:r>
            <a:r>
              <a:rPr kumimoji="0" lang="zh-TW" altLang="en-US" sz="1400" u="none" strike="noStrike" kern="1200" cap="none" spc="0" normalizeH="0" baseline="0" noProof="0">
                <a:ln>
                  <a:noFill/>
                </a:ln>
                <a:effectLst/>
                <a:uLnTx/>
                <a:uFillTx/>
                <a:latin typeface="Trebuchet MS" panose="020B0603020202020204" pitchFamily="34" charset="0"/>
                <a:ea typeface="Microsoft YaHei" panose="020B0503020204020204" pitchFamily="34" charset="-122"/>
              </a:rPr>
              <a:t>管道</a:t>
            </a:r>
            <a:r>
              <a:rPr kumimoji="0" lang="en-US" altLang="zh-TW" sz="1400" u="none" strike="noStrike" kern="1200" cap="none" spc="0" normalizeH="0" baseline="0" noProof="0">
                <a:ln>
                  <a:noFill/>
                </a:ln>
                <a:effectLst/>
                <a:uLnTx/>
                <a:uFillTx/>
                <a:latin typeface="Trebuchet MS" panose="020B0603020202020204" pitchFamily="34" charset="0"/>
                <a:ea typeface="Microsoft YaHei" panose="020B0503020204020204" pitchFamily="34" charset="-122"/>
              </a:rPr>
              <a:t>/</a:t>
            </a:r>
            <a:r>
              <a:rPr lang="zh-TW" altLang="en-US" sz="1400">
                <a:latin typeface="Trebuchet MS" panose="020B0603020202020204" pitchFamily="34" charset="0"/>
                <a:ea typeface="Microsoft YaHei" panose="020B0503020204020204" pitchFamily="34" charset="-122"/>
              </a:rPr>
              <a:t>訊息即時發送信息</a:t>
            </a:r>
            <a:endParaRPr lang="en-US" altLang="zh-TW" sz="1400">
              <a:latin typeface="Trebuchet MS" panose="020B0603020202020204" pitchFamily="34" charset="0"/>
              <a:ea typeface="Microsoft YaHei" panose="020B0503020204020204" pitchFamily="34" charset="-122"/>
            </a:endParaRPr>
          </a:p>
        </p:txBody>
      </p:sp>
      <p:sp>
        <p:nvSpPr>
          <p:cNvPr id="20" name="TextBox 19">
            <a:extLst>
              <a:ext uri="{FF2B5EF4-FFF2-40B4-BE49-F238E27FC236}">
                <a16:creationId xmlns:a16="http://schemas.microsoft.com/office/drawing/2014/main" id="{ECEB861F-0E1C-8052-7D22-CBA2FA79E409}"/>
              </a:ext>
            </a:extLst>
          </p:cNvPr>
          <p:cNvSpPr txBox="1"/>
          <p:nvPr/>
        </p:nvSpPr>
        <p:spPr>
          <a:xfrm>
            <a:off x="8217888" y="2137105"/>
            <a:ext cx="3345462" cy="1291095"/>
          </a:xfrm>
          <a:prstGeom prst="rect">
            <a:avLst/>
          </a:prstGeom>
          <a:noFill/>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txBody>
          <a:bodyPr wrap="square" lIns="93761" tIns="92285" rIns="93761" bIns="92285" rtlCol="0" anchor="t">
            <a:noAutofit/>
          </a:bodyPr>
          <a:lstStyle/>
          <a:p>
            <a:pPr marL="324000" lvl="1" indent="-216000" defTabSz="685800">
              <a:buClr>
                <a:schemeClr val="tx2"/>
              </a:buClr>
              <a:buFont typeface="Trebuchet MS" panose="020B0603020202020204" pitchFamily="34" charset="0"/>
              <a:buChar char="•"/>
              <a:defRPr/>
            </a:pPr>
            <a:r>
              <a:rPr lang="zh-TW" altLang="en-US" sz="1400">
                <a:solidFill>
                  <a:srgbClr val="29BA74"/>
                </a:solidFill>
                <a:latin typeface="Trebuchet MS" panose="020B0603020202020204" pitchFamily="34" charset="0"/>
              </a:rPr>
              <a:t>實施實時數據分析和反饋機制</a:t>
            </a:r>
            <a:r>
              <a:rPr lang="zh-TW" altLang="en-US" sz="1400">
                <a:latin typeface="Trebuchet MS" panose="020B0603020202020204" pitchFamily="34" charset="0"/>
              </a:rPr>
              <a:t>：監控行銷活動的效果，並根據反饋結果及時調整行銷策略</a:t>
            </a:r>
            <a:endParaRPr lang="en-US" altLang="zh-TW" sz="1400">
              <a:latin typeface="Trebuchet MS" panose="020B0603020202020204" pitchFamily="34" charset="0"/>
              <a:ea typeface="Microsoft YaHei" panose="020B0503020204020204" pitchFamily="34" charset="-122"/>
            </a:endParaRPr>
          </a:p>
        </p:txBody>
      </p:sp>
      <p:sp>
        <p:nvSpPr>
          <p:cNvPr id="25" name="TextBox 24">
            <a:extLst>
              <a:ext uri="{FF2B5EF4-FFF2-40B4-BE49-F238E27FC236}">
                <a16:creationId xmlns:a16="http://schemas.microsoft.com/office/drawing/2014/main" id="{74C13036-39DE-4E04-D8E8-E83BB2A33632}"/>
              </a:ext>
            </a:extLst>
          </p:cNvPr>
          <p:cNvSpPr txBox="1"/>
          <p:nvPr/>
        </p:nvSpPr>
        <p:spPr>
          <a:xfrm>
            <a:off x="1166364" y="3536187"/>
            <a:ext cx="3345462" cy="832703"/>
          </a:xfrm>
          <a:prstGeom prst="rect">
            <a:avLst/>
          </a:prstGeom>
          <a:noFill/>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txBody>
          <a:bodyPr wrap="square" lIns="93761" tIns="92285" rIns="93761" bIns="92285" rtlCol="0" anchor="t">
            <a:spAutoFit/>
          </a:bodyPr>
          <a:lstStyle/>
          <a:p>
            <a:pPr marL="324000" lvl="1" indent="-216000" defTabSz="685800">
              <a:buClr>
                <a:schemeClr val="tx2"/>
              </a:buClr>
              <a:buFont typeface="Trebuchet MS" panose="020B0603020202020204" pitchFamily="34" charset="0"/>
              <a:buChar char="•"/>
              <a:defRPr/>
            </a:pPr>
            <a:r>
              <a:rPr lang="zh-TW" altLang="en-US" sz="1400">
                <a:latin typeface="Trebuchet MS" panose="020B0603020202020204" pitchFamily="34" charset="0"/>
                <a:ea typeface="Microsoft YaHei" panose="020B0503020204020204" pitchFamily="34" charset="-122"/>
              </a:rPr>
              <a:t>目前以</a:t>
            </a:r>
            <a:r>
              <a:rPr lang="zh-TW" altLang="en-US" sz="1400">
                <a:solidFill>
                  <a:srgbClr val="E71C57"/>
                </a:solidFill>
                <a:latin typeface="Trebuchet MS" panose="020B0603020202020204" pitchFamily="34" charset="0"/>
                <a:ea typeface="Microsoft YaHei" panose="020B0503020204020204" pitchFamily="34" charset="-122"/>
              </a:rPr>
              <a:t>行內及各自業務下的數據為主</a:t>
            </a:r>
            <a:r>
              <a:rPr lang="zh-TW" altLang="en-US" sz="1400">
                <a:solidFill>
                  <a:srgbClr val="575757"/>
                </a:solidFill>
                <a:latin typeface="Trebuchet MS" panose="020B0603020202020204" pitchFamily="34" charset="0"/>
                <a:ea typeface="Microsoft YaHei" panose="020B0503020204020204" pitchFamily="34" charset="-122"/>
              </a:rPr>
              <a:t>，尚未整合跨業務或外部數據，納入模型</a:t>
            </a:r>
            <a:endParaRPr lang="en-US" altLang="zh-TW" sz="1400">
              <a:solidFill>
                <a:srgbClr val="575757"/>
              </a:solidFill>
              <a:latin typeface="Trebuchet MS" panose="020B0603020202020204" pitchFamily="34" charset="0"/>
              <a:ea typeface="Microsoft YaHei" panose="020B0503020204020204" pitchFamily="34" charset="-122"/>
            </a:endParaRPr>
          </a:p>
        </p:txBody>
      </p:sp>
      <p:sp>
        <p:nvSpPr>
          <p:cNvPr id="27" name="TextBox 26">
            <a:extLst>
              <a:ext uri="{FF2B5EF4-FFF2-40B4-BE49-F238E27FC236}">
                <a16:creationId xmlns:a16="http://schemas.microsoft.com/office/drawing/2014/main" id="{6CDDC632-60E8-46EB-68FD-D8E54452B2FD}"/>
              </a:ext>
            </a:extLst>
          </p:cNvPr>
          <p:cNvSpPr txBox="1"/>
          <p:nvPr/>
        </p:nvSpPr>
        <p:spPr>
          <a:xfrm>
            <a:off x="4692126" y="3536187"/>
            <a:ext cx="3345462" cy="1401005"/>
          </a:xfrm>
          <a:prstGeom prst="rect">
            <a:avLst/>
          </a:prstGeom>
          <a:noFill/>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txBody>
          <a:bodyPr wrap="square" lIns="93761" tIns="92285" rIns="93761" bIns="92285" rtlCol="0" anchor="t">
            <a:noAutofit/>
          </a:bodyPr>
          <a:lstStyle/>
          <a:p>
            <a:pPr marL="324000" lvl="1" indent="-216000" defTabSz="685800">
              <a:buClr>
                <a:schemeClr val="tx2"/>
              </a:buClr>
              <a:buFont typeface="Trebuchet MS" panose="020B0603020202020204" pitchFamily="34" charset="0"/>
              <a:buChar char="•"/>
              <a:defRPr/>
            </a:pPr>
            <a:r>
              <a:rPr lang="zh-TW" altLang="en-US" sz="1400">
                <a:solidFill>
                  <a:srgbClr val="E71C57"/>
                </a:solidFill>
                <a:latin typeface="Trebuchet MS" panose="020B0603020202020204" pitchFamily="34" charset="0"/>
                <a:ea typeface="Microsoft YaHei" panose="020B0503020204020204" pitchFamily="34" charset="-122"/>
              </a:rPr>
              <a:t>缺乏强健的數位行銷平台</a:t>
            </a:r>
            <a:r>
              <a:rPr lang="zh-TW" altLang="en-US" sz="1400">
                <a:solidFill>
                  <a:srgbClr val="575757"/>
                </a:solidFill>
                <a:latin typeface="Trebuchet MS" panose="020B0603020202020204" pitchFamily="34" charset="0"/>
                <a:ea typeface="Microsoft YaHei" panose="020B0503020204020204" pitchFamily="34" charset="-122"/>
              </a:rPr>
              <a:t>，無法自動且即時依照篩選結果發送貼合客戶習慣的活動資訊</a:t>
            </a:r>
            <a:endParaRPr lang="en-US" altLang="zh-TW" sz="1400">
              <a:solidFill>
                <a:srgbClr val="575757"/>
              </a:solidFill>
              <a:latin typeface="Trebuchet MS" panose="020B0603020202020204" pitchFamily="34" charset="0"/>
              <a:ea typeface="Microsoft YaHei" panose="020B0503020204020204" pitchFamily="34" charset="-122"/>
            </a:endParaRPr>
          </a:p>
          <a:p>
            <a:pPr marL="324000" lvl="1" indent="-216000" defTabSz="685800">
              <a:buClr>
                <a:schemeClr val="tx2"/>
              </a:buClr>
              <a:buFont typeface="Trebuchet MS" panose="020B0603020202020204" pitchFamily="34" charset="0"/>
              <a:buChar char="•"/>
              <a:defRPr/>
            </a:pPr>
            <a:r>
              <a:rPr lang="zh-TW" altLang="en-US" sz="1400">
                <a:solidFill>
                  <a:srgbClr val="E71C57"/>
                </a:solidFill>
                <a:latin typeface="Trebuchet MS" panose="020B0603020202020204" pitchFamily="34" charset="0"/>
                <a:ea typeface="Microsoft YaHei" panose="020B0503020204020204" pitchFamily="34" charset="-122"/>
              </a:rPr>
              <a:t>尚無專責數位</a:t>
            </a:r>
            <a:r>
              <a:rPr lang="en-US" altLang="zh-TW" sz="1400">
                <a:solidFill>
                  <a:srgbClr val="E71C57"/>
                </a:solidFill>
                <a:latin typeface="Trebuchet MS" panose="020B0603020202020204" pitchFamily="34" charset="0"/>
                <a:ea typeface="Microsoft YaHei" panose="020B0503020204020204" pitchFamily="34" charset="-122"/>
              </a:rPr>
              <a:t>/M</a:t>
            </a:r>
            <a:r>
              <a:rPr lang="zh-TW" altLang="en-US" sz="1400">
                <a:solidFill>
                  <a:srgbClr val="E71C57"/>
                </a:solidFill>
                <a:latin typeface="Trebuchet MS" panose="020B0603020202020204" pitchFamily="34" charset="0"/>
                <a:ea typeface="Microsoft YaHei" panose="020B0503020204020204" pitchFamily="34" charset="-122"/>
              </a:rPr>
              <a:t>客經營團隊</a:t>
            </a:r>
            <a:r>
              <a:rPr lang="zh-TW" altLang="en-US" sz="1400">
                <a:solidFill>
                  <a:srgbClr val="575757"/>
                </a:solidFill>
                <a:latin typeface="Trebuchet MS" panose="020B0603020202020204" pitchFamily="34" charset="0"/>
                <a:ea typeface="Microsoft YaHei" panose="020B0503020204020204" pitchFamily="34" charset="-122"/>
              </a:rPr>
              <a:t>，整合不同類型客戶的需求及主打產品，並落實經營管理</a:t>
            </a:r>
            <a:endParaRPr lang="en-US" altLang="zh-TW" sz="1400">
              <a:solidFill>
                <a:srgbClr val="575757"/>
              </a:solidFill>
              <a:latin typeface="Trebuchet MS" panose="020B0603020202020204" pitchFamily="34" charset="0"/>
              <a:ea typeface="Microsoft YaHei" panose="020B0503020204020204" pitchFamily="34" charset="-122"/>
            </a:endParaRPr>
          </a:p>
        </p:txBody>
      </p:sp>
      <p:sp>
        <p:nvSpPr>
          <p:cNvPr id="29" name="TextBox 28">
            <a:extLst>
              <a:ext uri="{FF2B5EF4-FFF2-40B4-BE49-F238E27FC236}">
                <a16:creationId xmlns:a16="http://schemas.microsoft.com/office/drawing/2014/main" id="{E4A7FEA6-ABB6-45F9-CF63-4F8BDBE6B0FF}"/>
              </a:ext>
            </a:extLst>
          </p:cNvPr>
          <p:cNvSpPr txBox="1"/>
          <p:nvPr/>
        </p:nvSpPr>
        <p:spPr>
          <a:xfrm>
            <a:off x="8217888" y="3536187"/>
            <a:ext cx="3345462" cy="832703"/>
          </a:xfrm>
          <a:prstGeom prst="rect">
            <a:avLst/>
          </a:prstGeom>
          <a:noFill/>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txBody>
          <a:bodyPr wrap="square" lIns="93761" tIns="92285" rIns="93761" bIns="92285" rtlCol="0" anchor="t">
            <a:spAutoFit/>
          </a:bodyPr>
          <a:lstStyle/>
          <a:p>
            <a:pPr marL="324000" lvl="1" indent="-216000" defTabSz="685800">
              <a:buClr>
                <a:schemeClr val="tx2"/>
              </a:buClr>
              <a:buFont typeface="Trebuchet MS" panose="020B0603020202020204" pitchFamily="34" charset="0"/>
              <a:buChar char="•"/>
              <a:defRPr/>
            </a:pPr>
            <a:r>
              <a:rPr lang="zh-TW" altLang="en-US" sz="1400">
                <a:solidFill>
                  <a:srgbClr val="E71C57"/>
                </a:solidFill>
                <a:latin typeface="Trebuchet MS" panose="020B0603020202020204" pitchFamily="34" charset="0"/>
                <a:ea typeface="Microsoft YaHei" panose="020B0503020204020204" pitchFamily="34" charset="-122"/>
              </a:rPr>
              <a:t>尚無追蹤整體數位經營狀况團隊及反饋機制</a:t>
            </a:r>
            <a:r>
              <a:rPr lang="zh-TW" altLang="en-US" sz="1400">
                <a:latin typeface="Trebuchet MS" panose="020B0603020202020204" pitchFamily="34" charset="0"/>
                <a:ea typeface="Microsoft YaHei" panose="020B0503020204020204" pitchFamily="34" charset="-122"/>
              </a:rPr>
              <a:t>，主要由各活動負責人各自追蹤升級與各自產品活動成效</a:t>
            </a:r>
            <a:endParaRPr lang="en-US" altLang="zh-TW" sz="1400">
              <a:latin typeface="Trebuchet MS" panose="020B0603020202020204" pitchFamily="34" charset="0"/>
              <a:ea typeface="Microsoft YaHei" panose="020B0503020204020204" pitchFamily="34" charset="-122"/>
            </a:endParaRPr>
          </a:p>
        </p:txBody>
      </p:sp>
      <p:sp>
        <p:nvSpPr>
          <p:cNvPr id="43" name="TextBox 42">
            <a:extLst>
              <a:ext uri="{FF2B5EF4-FFF2-40B4-BE49-F238E27FC236}">
                <a16:creationId xmlns:a16="http://schemas.microsoft.com/office/drawing/2014/main" id="{BBA0B5C6-5C7F-7573-8BC1-FE731A7C7A1A}"/>
              </a:ext>
            </a:extLst>
          </p:cNvPr>
          <p:cNvSpPr txBox="1"/>
          <p:nvPr/>
        </p:nvSpPr>
        <p:spPr>
          <a:xfrm>
            <a:off x="1166364" y="4937192"/>
            <a:ext cx="3345462" cy="1263590"/>
          </a:xfrm>
          <a:prstGeom prst="rect">
            <a:avLst/>
          </a:prstGeom>
          <a:noFill/>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txBody>
          <a:bodyPr wrap="square" lIns="93761" tIns="92285" rIns="93761" bIns="92285" rtlCol="0" anchor="t">
            <a:spAutoFit/>
          </a:bodyPr>
          <a:lstStyle/>
          <a:p>
            <a:pPr marL="324000" lvl="1" indent="-216000" defTabSz="685800">
              <a:buClr>
                <a:schemeClr val="tx2"/>
              </a:buClr>
              <a:buFont typeface="Trebuchet MS" panose="020B0603020202020204" pitchFamily="34" charset="0"/>
              <a:buChar char="•"/>
              <a:defRPr/>
            </a:pPr>
            <a:r>
              <a:rPr lang="zh-TW" altLang="en-US" sz="1400">
                <a:solidFill>
                  <a:srgbClr val="29BA74"/>
                </a:solidFill>
                <a:latin typeface="Trebuchet MS" panose="020B0603020202020204" pitchFamily="34" charset="0"/>
                <a:ea typeface="Microsoft YaHei" panose="020B0503020204020204" pitchFamily="34" charset="-122"/>
              </a:rPr>
              <a:t>識別對外數據合作夥伴</a:t>
            </a:r>
            <a:r>
              <a:rPr lang="zh-TW" altLang="en-US" sz="1400">
                <a:solidFill>
                  <a:srgbClr val="575757"/>
                </a:solidFill>
                <a:latin typeface="Trebuchet MS" panose="020B0603020202020204" pitchFamily="34" charset="0"/>
                <a:ea typeface="Microsoft YaHei" panose="020B0503020204020204" pitchFamily="34" charset="-122"/>
              </a:rPr>
              <a:t>，擴大基礎數據應用 </a:t>
            </a:r>
            <a:endParaRPr lang="en-US" altLang="zh-TW" sz="1400" i="1">
              <a:solidFill>
                <a:srgbClr val="575757"/>
              </a:solidFill>
              <a:latin typeface="Trebuchet MS" panose="020B0603020202020204" pitchFamily="34" charset="0"/>
              <a:ea typeface="Microsoft YaHei" panose="020B0503020204020204" pitchFamily="34" charset="-122"/>
            </a:endParaRPr>
          </a:p>
          <a:p>
            <a:pPr marL="324000" lvl="1" indent="-216000" defTabSz="685800">
              <a:buClr>
                <a:schemeClr val="tx2"/>
              </a:buClr>
              <a:buFont typeface="Trebuchet MS" panose="020B0603020202020204" pitchFamily="34" charset="0"/>
              <a:buChar char="•"/>
              <a:defRPr/>
            </a:pPr>
            <a:r>
              <a:rPr lang="zh-TW" altLang="en-US" sz="1400">
                <a:solidFill>
                  <a:srgbClr val="29BA74"/>
                </a:solidFill>
                <a:latin typeface="Trebuchet MS" panose="020B0603020202020204" pitchFamily="34" charset="0"/>
                <a:ea typeface="Microsoft YaHei" panose="020B0503020204020204" pitchFamily="34" charset="-122"/>
              </a:rPr>
              <a:t>整合內部虛實通路的數據</a:t>
            </a:r>
            <a:r>
              <a:rPr lang="zh-TW" altLang="en-US" sz="1400">
                <a:solidFill>
                  <a:srgbClr val="575757"/>
                </a:solidFill>
                <a:latin typeface="Trebuchet MS" panose="020B0603020202020204" pitchFamily="34" charset="0"/>
                <a:ea typeface="Microsoft YaHei" panose="020B0503020204020204" pitchFamily="34" charset="-122"/>
              </a:rPr>
              <a:t>，串接單一客戶所有資料 </a:t>
            </a:r>
            <a:r>
              <a:rPr lang="en-US" altLang="zh-TW" sz="1400">
                <a:solidFill>
                  <a:srgbClr val="575757"/>
                </a:solidFill>
                <a:latin typeface="Trebuchet MS" panose="020B0603020202020204" pitchFamily="34" charset="0"/>
                <a:ea typeface="Microsoft YaHei" panose="020B0503020204020204" pitchFamily="34" charset="-122"/>
              </a:rPr>
              <a:t>(</a:t>
            </a:r>
            <a:r>
              <a:rPr lang="zh-TW" altLang="en-US" sz="1400">
                <a:solidFill>
                  <a:srgbClr val="575757"/>
                </a:solidFill>
                <a:latin typeface="Trebuchet MS" panose="020B0603020202020204" pitchFamily="34" charset="0"/>
                <a:ea typeface="Microsoft YaHei" panose="020B0503020204020204" pitchFamily="34" charset="-122"/>
              </a:rPr>
              <a:t>包括跨業務及通路</a:t>
            </a:r>
            <a:r>
              <a:rPr lang="en-US" altLang="zh-TW" sz="1400">
                <a:solidFill>
                  <a:srgbClr val="575757"/>
                </a:solidFill>
                <a:latin typeface="Trebuchet MS" panose="020B0603020202020204" pitchFamily="34" charset="0"/>
                <a:ea typeface="Microsoft YaHei" panose="020B0503020204020204" pitchFamily="34" charset="-122"/>
              </a:rPr>
              <a:t>)</a:t>
            </a:r>
          </a:p>
          <a:p>
            <a:pPr marL="324000" lvl="1" indent="-216000" defTabSz="685800">
              <a:buClr>
                <a:schemeClr val="tx2"/>
              </a:buClr>
              <a:buFont typeface="Trebuchet MS" panose="020B0603020202020204" pitchFamily="34" charset="0"/>
              <a:buChar char="•"/>
              <a:defRPr/>
            </a:pPr>
            <a:endParaRPr lang="en-US" altLang="zh-TW" sz="1400">
              <a:solidFill>
                <a:srgbClr val="575757"/>
              </a:solidFill>
              <a:latin typeface="Trebuchet MS" panose="020B0603020202020204" pitchFamily="34" charset="0"/>
              <a:ea typeface="Microsoft YaHei" panose="020B0503020204020204" pitchFamily="34" charset="-122"/>
            </a:endParaRPr>
          </a:p>
        </p:txBody>
      </p:sp>
      <p:sp>
        <p:nvSpPr>
          <p:cNvPr id="44" name="TextBox 43">
            <a:extLst>
              <a:ext uri="{FF2B5EF4-FFF2-40B4-BE49-F238E27FC236}">
                <a16:creationId xmlns:a16="http://schemas.microsoft.com/office/drawing/2014/main" id="{56C1896A-EA6E-B965-0901-368B8C314A69}"/>
              </a:ext>
            </a:extLst>
          </p:cNvPr>
          <p:cNvSpPr txBox="1"/>
          <p:nvPr/>
        </p:nvSpPr>
        <p:spPr>
          <a:xfrm>
            <a:off x="4692126" y="4937192"/>
            <a:ext cx="3345462" cy="1263590"/>
          </a:xfrm>
          <a:prstGeom prst="rect">
            <a:avLst/>
          </a:prstGeom>
          <a:noFill/>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txBody>
          <a:bodyPr wrap="square" lIns="93761" tIns="92285" rIns="93761" bIns="92285" rtlCol="0" anchor="t">
            <a:spAutoFit/>
          </a:bodyPr>
          <a:lstStyle/>
          <a:p>
            <a:pPr marL="324000" lvl="1" indent="-216000" defTabSz="685800">
              <a:buClr>
                <a:schemeClr val="tx2"/>
              </a:buClr>
              <a:buFont typeface="Trebuchet MS" panose="020B0603020202020204" pitchFamily="34" charset="0"/>
              <a:buChar char="•"/>
              <a:defRPr/>
            </a:pPr>
            <a:r>
              <a:rPr lang="zh-TW" altLang="en-US" sz="1400">
                <a:solidFill>
                  <a:srgbClr val="575757"/>
                </a:solidFill>
                <a:latin typeface="Trebuchet MS" panose="020B0603020202020204" pitchFamily="34" charset="0"/>
                <a:ea typeface="Microsoft YaHei" panose="020B0503020204020204" pitchFamily="34" charset="-122"/>
              </a:rPr>
              <a:t>打造强健的</a:t>
            </a:r>
            <a:r>
              <a:rPr lang="zh-TW" altLang="en-US" sz="1400">
                <a:solidFill>
                  <a:srgbClr val="29BA74"/>
                </a:solidFill>
                <a:latin typeface="Trebuchet MS" panose="020B0603020202020204" pitchFamily="34" charset="0"/>
                <a:ea typeface="Microsoft YaHei" panose="020B0503020204020204" pitchFamily="34" charset="-122"/>
              </a:rPr>
              <a:t>數位行銷平台</a:t>
            </a:r>
            <a:r>
              <a:rPr lang="zh-TW" altLang="en-US" sz="1400">
                <a:solidFill>
                  <a:srgbClr val="575757"/>
                </a:solidFill>
                <a:latin typeface="Trebuchet MS" panose="020B0603020202020204" pitchFamily="34" charset="0"/>
                <a:ea typeface="Microsoft YaHei" panose="020B0503020204020204" pitchFamily="34" charset="-122"/>
              </a:rPr>
              <a:t>，閉環落實端到端自動化行銷</a:t>
            </a:r>
            <a:endParaRPr lang="en-US" altLang="zh-TW" sz="1400">
              <a:solidFill>
                <a:srgbClr val="575757"/>
              </a:solidFill>
              <a:latin typeface="Trebuchet MS" panose="020B0603020202020204" pitchFamily="34" charset="0"/>
              <a:ea typeface="Microsoft YaHei" panose="020B0503020204020204" pitchFamily="34" charset="-122"/>
            </a:endParaRPr>
          </a:p>
          <a:p>
            <a:pPr marL="324000" lvl="1" indent="-216000" defTabSz="685800">
              <a:buClr>
                <a:schemeClr val="tx2"/>
              </a:buClr>
              <a:buFont typeface="Trebuchet MS" panose="020B0603020202020204" pitchFamily="34" charset="0"/>
              <a:buChar char="•"/>
              <a:defRPr/>
            </a:pPr>
            <a:r>
              <a:rPr lang="zh-TW" altLang="en-US" sz="1400">
                <a:solidFill>
                  <a:srgbClr val="29BA74"/>
                </a:solidFill>
                <a:latin typeface="Trebuchet MS" panose="020B0603020202020204" pitchFamily="34" charset="0"/>
                <a:ea typeface="Microsoft YaHei" panose="020B0503020204020204" pitchFamily="34" charset="-122"/>
              </a:rPr>
              <a:t>明確產品、數據及數位部門職責</a:t>
            </a:r>
            <a:r>
              <a:rPr lang="zh-TW" altLang="en-US" sz="1400">
                <a:solidFill>
                  <a:srgbClr val="575757"/>
                </a:solidFill>
                <a:latin typeface="Trebuchet MS" panose="020B0603020202020204" pitchFamily="34" charset="0"/>
                <a:ea typeface="Microsoft YaHei" panose="020B0503020204020204" pitchFamily="34" charset="-122"/>
              </a:rPr>
              <a:t>，包括建立産品組合庫、動態調整模型、自動生成個性化行銷信息等</a:t>
            </a:r>
            <a:endParaRPr lang="en-US" altLang="zh-TW" sz="1400">
              <a:solidFill>
                <a:srgbClr val="575757"/>
              </a:solidFill>
              <a:latin typeface="Trebuchet MS" panose="020B0603020202020204" pitchFamily="34" charset="0"/>
              <a:ea typeface="Microsoft YaHei" panose="020B0503020204020204" pitchFamily="34" charset="-122"/>
            </a:endParaRPr>
          </a:p>
        </p:txBody>
      </p:sp>
      <p:sp>
        <p:nvSpPr>
          <p:cNvPr id="47" name="TextBox 46">
            <a:extLst>
              <a:ext uri="{FF2B5EF4-FFF2-40B4-BE49-F238E27FC236}">
                <a16:creationId xmlns:a16="http://schemas.microsoft.com/office/drawing/2014/main" id="{A87D369F-03B7-9062-7E8D-E2A51202FABD}"/>
              </a:ext>
            </a:extLst>
          </p:cNvPr>
          <p:cNvSpPr txBox="1"/>
          <p:nvPr/>
        </p:nvSpPr>
        <p:spPr>
          <a:xfrm>
            <a:off x="8217889" y="4937192"/>
            <a:ext cx="3345462" cy="1048147"/>
          </a:xfrm>
          <a:prstGeom prst="rect">
            <a:avLst/>
          </a:prstGeom>
          <a:noFill/>
          <a:effectLst/>
          <a:extLst>
            <a:ext uri="{AF507438-7753-43E0-B8FC-AC1667EBCBE1}">
              <a14:hiddenEffects xmlns:a14="http://schemas.microsoft.com/office/drawing/2010/main">
                <a:effectLst>
                  <a:outerShdw sx="0" sy="0" rotWithShape="0">
                    <a:scrgbClr r="0" g="0" b="0"/>
                  </a:outerShdw>
                </a:effectLst>
              </a14:hiddenEffects>
            </a:ext>
            <a:ext uri="{53640926-AAD7-44D8-BBD7-CCE9431645EC}">
              <a14:shadowObscured xmlns:a14="http://schemas.microsoft.com/office/drawing/2010/main"/>
            </a:ext>
          </a:extLst>
        </p:spPr>
        <p:txBody>
          <a:bodyPr wrap="square" lIns="93761" tIns="92285" rIns="93761" bIns="92285" rtlCol="0" anchor="t">
            <a:spAutoFit/>
          </a:bodyPr>
          <a:lstStyle/>
          <a:p>
            <a:pPr marL="324000" lvl="1" indent="-216000" defTabSz="685800">
              <a:buClr>
                <a:schemeClr val="tx2"/>
              </a:buClr>
              <a:buFont typeface="Trebuchet MS" panose="020B0603020202020204" pitchFamily="34" charset="0"/>
              <a:buChar char="•"/>
              <a:defRPr/>
            </a:pPr>
            <a:r>
              <a:rPr lang="zh-TW" altLang="en-US" sz="1400">
                <a:solidFill>
                  <a:srgbClr val="575757"/>
                </a:solidFill>
                <a:latin typeface="Trebuchet MS" panose="020B0603020202020204" pitchFamily="34" charset="0"/>
                <a:ea typeface="Microsoft YaHei" panose="020B0503020204020204" pitchFamily="34" charset="-122"/>
              </a:rPr>
              <a:t>明確</a:t>
            </a:r>
            <a:r>
              <a:rPr lang="zh-TW" altLang="en-US" sz="1400">
                <a:solidFill>
                  <a:srgbClr val="29BA74"/>
                </a:solidFill>
                <a:latin typeface="Trebuchet MS" panose="020B0603020202020204" pitchFamily="34" charset="0"/>
                <a:ea typeface="Microsoft YaHei" panose="020B0503020204020204" pitchFamily="34" charset="-122"/>
              </a:rPr>
              <a:t>追蹤指標</a:t>
            </a:r>
            <a:r>
              <a:rPr lang="zh-TW" altLang="en-US" sz="1400">
                <a:solidFill>
                  <a:srgbClr val="575757"/>
                </a:solidFill>
                <a:latin typeface="Trebuchet MS" panose="020B0603020202020204" pitchFamily="34" charset="0"/>
                <a:ea typeface="Microsoft YaHei" panose="020B0503020204020204" pitchFamily="34" charset="-122"/>
              </a:rPr>
              <a:t>，確保落實客戶經營而非產品經營</a:t>
            </a:r>
            <a:endParaRPr lang="en-US" altLang="zh-TW" sz="1400">
              <a:solidFill>
                <a:srgbClr val="575757"/>
              </a:solidFill>
              <a:latin typeface="Trebuchet MS" panose="020B0603020202020204" pitchFamily="34" charset="0"/>
              <a:ea typeface="Microsoft YaHei" panose="020B0503020204020204" pitchFamily="34" charset="-122"/>
            </a:endParaRPr>
          </a:p>
          <a:p>
            <a:pPr marL="324000" lvl="1" indent="-216000" defTabSz="685800">
              <a:buClr>
                <a:schemeClr val="tx2"/>
              </a:buClr>
              <a:buFont typeface="Trebuchet MS" panose="020B0603020202020204" pitchFamily="34" charset="0"/>
              <a:buChar char="•"/>
              <a:defRPr/>
            </a:pPr>
            <a:r>
              <a:rPr lang="zh-TW" altLang="en-US" sz="1400">
                <a:solidFill>
                  <a:srgbClr val="575757"/>
                </a:solidFill>
                <a:latin typeface="Trebuchet MS" panose="020B0603020202020204" pitchFamily="34" charset="0"/>
                <a:ea typeface="Microsoft YaHei" panose="020B0503020204020204" pitchFamily="34" charset="-122"/>
              </a:rPr>
              <a:t>建立</a:t>
            </a:r>
            <a:r>
              <a:rPr lang="zh-TW" altLang="en-US" sz="1400">
                <a:solidFill>
                  <a:srgbClr val="29BA74"/>
                </a:solidFill>
                <a:latin typeface="Trebuchet MS" panose="020B0603020202020204" pitchFamily="34" charset="0"/>
                <a:ea typeface="Microsoft YaHei" panose="020B0503020204020204" pitchFamily="34" charset="-122"/>
              </a:rPr>
              <a:t>反饋機制</a:t>
            </a:r>
            <a:r>
              <a:rPr lang="zh-TW" altLang="en-US" sz="1400">
                <a:solidFill>
                  <a:srgbClr val="575757"/>
                </a:solidFill>
                <a:latin typeface="Trebuchet MS" panose="020B0603020202020204" pitchFamily="34" charset="0"/>
                <a:ea typeface="Microsoft YaHei" panose="020B0503020204020204" pitchFamily="34" charset="-122"/>
              </a:rPr>
              <a:t>，確保行銷活動成效持續輸入模型</a:t>
            </a:r>
            <a:endParaRPr lang="en-US" altLang="zh-TW" sz="1400">
              <a:solidFill>
                <a:srgbClr val="575757"/>
              </a:solidFill>
              <a:latin typeface="Trebuchet MS" panose="020B0603020202020204" pitchFamily="34" charset="0"/>
              <a:ea typeface="Microsoft YaHei" panose="020B0503020204020204" pitchFamily="34" charset="-122"/>
            </a:endParaRPr>
          </a:p>
        </p:txBody>
      </p:sp>
      <p:cxnSp>
        <p:nvCxnSpPr>
          <p:cNvPr id="4" name="Straight Connector 3">
            <a:extLst>
              <a:ext uri="{FF2B5EF4-FFF2-40B4-BE49-F238E27FC236}">
                <a16:creationId xmlns:a16="http://schemas.microsoft.com/office/drawing/2014/main" id="{C24DEE7E-03E3-13A5-A710-0ADA80A7D631}"/>
              </a:ext>
            </a:extLst>
          </p:cNvPr>
          <p:cNvCxnSpPr>
            <a:cxnSpLocks/>
          </p:cNvCxnSpPr>
          <p:nvPr/>
        </p:nvCxnSpPr>
        <p:spPr>
          <a:xfrm>
            <a:off x="421019" y="3556863"/>
            <a:ext cx="11142331" cy="0"/>
          </a:xfrm>
          <a:prstGeom prst="line">
            <a:avLst/>
          </a:prstGeom>
          <a:ln w="15875" cap="rnd">
            <a:solidFill>
              <a:schemeClr val="tx1"/>
            </a:solidFill>
            <a:prstDash val="sysDot"/>
            <a:round/>
          </a:ln>
        </p:spPr>
        <p:style>
          <a:lnRef idx="1">
            <a:schemeClr val="accent1"/>
          </a:lnRef>
          <a:fillRef idx="0">
            <a:schemeClr val="accent1"/>
          </a:fillRef>
          <a:effectRef idx="0">
            <a:schemeClr val="accent1"/>
          </a:effectRef>
          <a:fontRef idx="minor">
            <a:schemeClr val="tx1"/>
          </a:fontRef>
        </p:style>
      </p:cxnSp>
      <p:sp>
        <p:nvSpPr>
          <p:cNvPr id="8" name="Oval 20">
            <a:extLst>
              <a:ext uri="{FF2B5EF4-FFF2-40B4-BE49-F238E27FC236}">
                <a16:creationId xmlns:a16="http://schemas.microsoft.com/office/drawing/2014/main" id="{D0E4D314-33F5-986E-6DED-F59EE4A0B118}"/>
              </a:ext>
            </a:extLst>
          </p:cNvPr>
          <p:cNvSpPr>
            <a:spLocks noChangeAspect="1" noChangeArrowheads="1"/>
          </p:cNvSpPr>
          <p:nvPr/>
        </p:nvSpPr>
        <p:spPr bwMode="auto">
          <a:xfrm>
            <a:off x="186544" y="98006"/>
            <a:ext cx="299290" cy="299290"/>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sz="1200">
                <a:solidFill>
                  <a:schemeClr val="bg1"/>
                </a:solidFill>
                <a:ea typeface="Microsoft YaHei" panose="020B0503020204020204" pitchFamily="34" charset="-122"/>
              </a:rPr>
              <a:t>1</a:t>
            </a:r>
          </a:p>
        </p:txBody>
      </p:sp>
      <p:sp>
        <p:nvSpPr>
          <p:cNvPr id="12" name="TextBox 11">
            <a:extLst>
              <a:ext uri="{FF2B5EF4-FFF2-40B4-BE49-F238E27FC236}">
                <a16:creationId xmlns:a16="http://schemas.microsoft.com/office/drawing/2014/main" id="{6C5D2023-B345-91D1-38DF-B59CA0E67462}"/>
              </a:ext>
            </a:extLst>
          </p:cNvPr>
          <p:cNvSpPr txBox="1"/>
          <p:nvPr/>
        </p:nvSpPr>
        <p:spPr>
          <a:xfrm>
            <a:off x="490697" y="128208"/>
            <a:ext cx="2217333" cy="276999"/>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a:spAutoFit/>
          </a:bodyPr>
          <a:lstStyle/>
          <a:p>
            <a:r>
              <a:rPr lang="zh-TW" altLang="en-US" sz="1200">
                <a:solidFill>
                  <a:srgbClr val="575757"/>
                </a:solidFill>
                <a:latin typeface="Trebuchet MS" panose="020B0603020202020204" pitchFamily="34" charset="0"/>
                <a:ea typeface="Microsoft YaHei" panose="020B0503020204020204" pitchFamily="34" charset="-122"/>
              </a:rPr>
              <a:t>優化預測模型，個性化經營</a:t>
            </a:r>
            <a:endParaRPr lang="en-US" sz="1200">
              <a:solidFill>
                <a:srgbClr val="575757"/>
              </a:solidFill>
              <a:ea typeface="Microsoft YaHei" panose="020B0503020204020204" pitchFamily="34" charset="-122"/>
            </a:endParaRPr>
          </a:p>
        </p:txBody>
      </p:sp>
      <p:cxnSp>
        <p:nvCxnSpPr>
          <p:cNvPr id="7" name="Straight Connector 6">
            <a:extLst>
              <a:ext uri="{FF2B5EF4-FFF2-40B4-BE49-F238E27FC236}">
                <a16:creationId xmlns:a16="http://schemas.microsoft.com/office/drawing/2014/main" id="{03241A85-7311-0278-8E84-637673780EC1}"/>
              </a:ext>
            </a:extLst>
          </p:cNvPr>
          <p:cNvCxnSpPr/>
          <p:nvPr/>
        </p:nvCxnSpPr>
        <p:spPr>
          <a:xfrm flipV="1">
            <a:off x="186544" y="275303"/>
            <a:ext cx="11730153" cy="6449962"/>
          </a:xfrm>
          <a:prstGeom prst="line">
            <a:avLst/>
          </a:prstGeom>
          <a:ln w="9525" cap="rnd">
            <a:solidFill>
              <a:schemeClr val="tx1">
                <a:lumMod val="60000"/>
                <a:lumOff val="40000"/>
              </a:schemeClr>
            </a:solidFill>
            <a:prstDash val="solid"/>
            <a:roun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8558710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9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983FC81C-198D-4BA7-BFE0-5A56AE8DDE41}"/>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395" imgH="396" progId="TCLayout.ActiveDocument.1">
                  <p:embed/>
                </p:oleObj>
              </mc:Choice>
              <mc:Fallback>
                <p:oleObj name="think-cell Slide" r:id="rId6" imgW="395" imgH="396" progId="TCLayout.ActiveDocument.1">
                  <p:embed/>
                  <p:pic>
                    <p:nvPicPr>
                      <p:cNvPr id="4" name="Object 3" hidden="1">
                        <a:extLst>
                          <a:ext uri="{FF2B5EF4-FFF2-40B4-BE49-F238E27FC236}">
                            <a16:creationId xmlns:a16="http://schemas.microsoft.com/office/drawing/2014/main" id="{983FC81C-198D-4BA7-BFE0-5A56AE8DDE41}"/>
                          </a:ext>
                        </a:extLst>
                      </p:cNvPr>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9" name="Rectangle 8">
            <a:extLst>
              <a:ext uri="{FF2B5EF4-FFF2-40B4-BE49-F238E27FC236}">
                <a16:creationId xmlns:a16="http://schemas.microsoft.com/office/drawing/2014/main" id="{0FBFF31D-2917-448B-8F92-2A091A744266}"/>
              </a:ext>
            </a:extLst>
          </p:cNvPr>
          <p:cNvSpPr/>
          <p:nvPr/>
        </p:nvSpPr>
        <p:spPr>
          <a:xfrm>
            <a:off x="697832" y="1511404"/>
            <a:ext cx="1540042" cy="505970"/>
          </a:xfrm>
          <a:prstGeom prst="rect">
            <a:avLst/>
          </a:prstGeom>
          <a:solidFill>
            <a:schemeClr val="tx2"/>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TW" altLang="en-US" sz="1400" b="1">
                <a:solidFill>
                  <a:srgbClr val="FFFFFF"/>
                </a:solidFill>
                <a:latin typeface="Trebuchet MS" panose="020B0603020202020204" pitchFamily="34" charset="0"/>
                <a:cs typeface="Arial" panose="020B0604020202020204" pitchFamily="34" charset="0"/>
                <a:sym typeface="Trebuchet MS" panose="020B0603020202020204" pitchFamily="34" charset="0"/>
              </a:rPr>
              <a:t>測試組</a:t>
            </a:r>
            <a:endParaRPr kumimoji="0" lang="en-US" sz="1400" b="1" i="0" u="none" strike="noStrike" kern="1200" cap="none" spc="0" normalizeH="0" baseline="0" noProof="0">
              <a:ln>
                <a:noFill/>
              </a:ln>
              <a:solidFill>
                <a:srgbClr val="FFFFFF"/>
              </a:solidFill>
              <a:effectLst/>
              <a:uLnTx/>
              <a:uFillTx/>
              <a:latin typeface="Trebuchet MS" panose="020B0603020202020204" pitchFamily="34" charset="0"/>
              <a:cs typeface="Arial" panose="020B0604020202020204" pitchFamily="34" charset="0"/>
              <a:sym typeface="Trebuchet MS" panose="020B0603020202020204" pitchFamily="34" charset="0"/>
            </a:endParaRPr>
          </a:p>
        </p:txBody>
      </p:sp>
      <p:sp>
        <p:nvSpPr>
          <p:cNvPr id="10" name="TextBox 9">
            <a:extLst>
              <a:ext uri="{FF2B5EF4-FFF2-40B4-BE49-F238E27FC236}">
                <a16:creationId xmlns:a16="http://schemas.microsoft.com/office/drawing/2014/main" id="{5DEB9492-43BA-4D9C-97FE-B38E51916A21}"/>
              </a:ext>
            </a:extLst>
          </p:cNvPr>
          <p:cNvSpPr txBox="1"/>
          <p:nvPr/>
        </p:nvSpPr>
        <p:spPr>
          <a:xfrm>
            <a:off x="2237875" y="1544745"/>
            <a:ext cx="5462336" cy="43928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324000" marR="0" lvl="1" indent="-216000" algn="l" defTabSz="914400" rtl="0" eaLnBrk="1" fontAlgn="auto" latinLnBrk="0" hangingPunct="1">
              <a:lnSpc>
                <a:spcPct val="100000"/>
              </a:lnSpc>
              <a:spcBef>
                <a:spcPts val="0"/>
              </a:spcBef>
              <a:spcAft>
                <a:spcPts val="0"/>
              </a:spcAft>
              <a:buClr>
                <a:schemeClr val="tx2"/>
              </a:buClr>
              <a:buSzPct val="100000"/>
              <a:buFont typeface="Trebuchet MS" panose="020B0603020202020204" pitchFamily="34" charset="0"/>
              <a:buChar char="•"/>
              <a:tabLst/>
              <a:defRPr/>
            </a:pPr>
            <a:r>
              <a:rPr kumimoji="0" lang="zh-TW" altLang="en-US" sz="1400" b="0" i="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符合條件的客戶將獲得優先提示</a:t>
            </a:r>
          </a:p>
          <a:p>
            <a:pPr marL="324000" marR="0" lvl="1" indent="-216000" algn="l" defTabSz="914400" rtl="0" eaLnBrk="1" fontAlgn="auto" latinLnBrk="0" hangingPunct="1">
              <a:lnSpc>
                <a:spcPct val="100000"/>
              </a:lnSpc>
              <a:spcBef>
                <a:spcPts val="0"/>
              </a:spcBef>
              <a:spcAft>
                <a:spcPts val="0"/>
              </a:spcAft>
              <a:buClr>
                <a:schemeClr val="tx2"/>
              </a:buClr>
              <a:buSzPct val="100000"/>
              <a:buFont typeface="Trebuchet MS" panose="020B0603020202020204" pitchFamily="34" charset="0"/>
              <a:buChar char="•"/>
              <a:tabLst/>
              <a:defRPr/>
            </a:pPr>
            <a:r>
              <a:rPr kumimoji="0" lang="zh-TW" altLang="en-US" sz="1400" b="0" i="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所有其他日常業務營運（</a:t>
            </a:r>
            <a:r>
              <a:rPr kumimoji="0" lang="en-US" sz="1400" b="0" i="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BAU）</a:t>
            </a:r>
            <a:r>
              <a:rPr kumimoji="0" lang="zh-TW" altLang="en-US" sz="1400" b="0" i="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活動持續進行</a:t>
            </a:r>
          </a:p>
        </p:txBody>
      </p:sp>
      <p:sp>
        <p:nvSpPr>
          <p:cNvPr id="12" name="Rectangle 11">
            <a:extLst>
              <a:ext uri="{FF2B5EF4-FFF2-40B4-BE49-F238E27FC236}">
                <a16:creationId xmlns:a16="http://schemas.microsoft.com/office/drawing/2014/main" id="{E9895C58-71F0-4A69-81A1-5C9CF3788D65}"/>
              </a:ext>
            </a:extLst>
          </p:cNvPr>
          <p:cNvSpPr/>
          <p:nvPr/>
        </p:nvSpPr>
        <p:spPr>
          <a:xfrm>
            <a:off x="697832" y="2344960"/>
            <a:ext cx="1540042" cy="505970"/>
          </a:xfrm>
          <a:prstGeom prst="rect">
            <a:avLst/>
          </a:prstGeom>
          <a:solidFill>
            <a:schemeClr val="accent6"/>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TW" altLang="en-US" sz="1400" b="1" i="0" u="none" strike="noStrike" kern="1200" cap="none" spc="0" normalizeH="0" baseline="0" noProof="0">
                <a:ln>
                  <a:noFill/>
                </a:ln>
                <a:solidFill>
                  <a:srgbClr val="FFFFFF"/>
                </a:solidFill>
                <a:effectLst/>
                <a:uLnTx/>
                <a:uFillTx/>
                <a:latin typeface="Trebuchet MS" panose="020B0603020202020204" pitchFamily="34" charset="0"/>
                <a:cs typeface="Arial" panose="020B0604020202020204" pitchFamily="34" charset="0"/>
                <a:sym typeface="Trebuchet MS" panose="020B0603020202020204" pitchFamily="34" charset="0"/>
              </a:rPr>
              <a:t>控制組 </a:t>
            </a:r>
            <a:r>
              <a:rPr kumimoji="0" lang="en-US" altLang="zh-TW" sz="1400" b="1" i="0" u="none" strike="noStrike" kern="1200" cap="none" spc="0" normalizeH="0" baseline="0" noProof="0">
                <a:ln>
                  <a:noFill/>
                </a:ln>
                <a:solidFill>
                  <a:srgbClr val="FFFFFF"/>
                </a:solidFill>
                <a:effectLst/>
                <a:uLnTx/>
                <a:uFillTx/>
                <a:latin typeface="Trebuchet MS" panose="020B0603020202020204" pitchFamily="34" charset="0"/>
                <a:cs typeface="Arial" panose="020B0604020202020204" pitchFamily="34" charset="0"/>
                <a:sym typeface="Trebuchet MS" panose="020B0603020202020204" pitchFamily="34" charset="0"/>
              </a:rPr>
              <a:t>(</a:t>
            </a:r>
            <a:r>
              <a:rPr kumimoji="0" lang="en-US" altLang="zh-TW" sz="1400" b="1" i="0" u="none" strike="noStrike" kern="1200" cap="none" spc="0" normalizeH="0" baseline="0" noProof="0" err="1">
                <a:ln>
                  <a:noFill/>
                </a:ln>
                <a:solidFill>
                  <a:srgbClr val="FFFFFF"/>
                </a:solidFill>
                <a:effectLst/>
                <a:uLnTx/>
                <a:uFillTx/>
                <a:latin typeface="Trebuchet MS" panose="020B0603020202020204" pitchFamily="34" charset="0"/>
                <a:cs typeface="Arial" panose="020B0604020202020204" pitchFamily="34" charset="0"/>
                <a:sym typeface="Trebuchet MS" panose="020B0603020202020204" pitchFamily="34" charset="0"/>
              </a:rPr>
              <a:t>BAU</a:t>
            </a:r>
            <a:r>
              <a:rPr kumimoji="0" lang="en-US" altLang="zh-TW" sz="1400" b="1" i="0" u="none" strike="noStrike" kern="1200" cap="none" spc="0" normalizeH="0" baseline="0" noProof="0">
                <a:ln>
                  <a:noFill/>
                </a:ln>
                <a:solidFill>
                  <a:srgbClr val="FFFFFF"/>
                </a:solidFill>
                <a:effectLst/>
                <a:uLnTx/>
                <a:uFillTx/>
                <a:latin typeface="Trebuchet MS" panose="020B0603020202020204" pitchFamily="34" charset="0"/>
                <a:cs typeface="Arial" panose="020B0604020202020204" pitchFamily="34" charset="0"/>
                <a:sym typeface="Trebuchet MS" panose="020B0603020202020204" pitchFamily="34" charset="0"/>
              </a:rPr>
              <a:t>)</a:t>
            </a:r>
            <a:endParaRPr kumimoji="0" lang="en-US" sz="1400" b="1" i="0" u="none" strike="noStrike" kern="1200" cap="none" spc="0" normalizeH="0" baseline="0" noProof="0">
              <a:ln>
                <a:noFill/>
              </a:ln>
              <a:solidFill>
                <a:srgbClr val="FFFFFF"/>
              </a:solidFill>
              <a:effectLst/>
              <a:uLnTx/>
              <a:uFillTx/>
              <a:latin typeface="Trebuchet MS" panose="020B0603020202020204" pitchFamily="34" charset="0"/>
              <a:cs typeface="Arial" panose="020B0604020202020204" pitchFamily="34" charset="0"/>
              <a:sym typeface="Trebuchet MS" panose="020B0603020202020204" pitchFamily="34" charset="0"/>
            </a:endParaRPr>
          </a:p>
        </p:txBody>
      </p:sp>
      <p:sp>
        <p:nvSpPr>
          <p:cNvPr id="13" name="TextBox 12">
            <a:extLst>
              <a:ext uri="{FF2B5EF4-FFF2-40B4-BE49-F238E27FC236}">
                <a16:creationId xmlns:a16="http://schemas.microsoft.com/office/drawing/2014/main" id="{334819FF-2B78-44ED-98C8-818070027ED0}"/>
              </a:ext>
            </a:extLst>
          </p:cNvPr>
          <p:cNvSpPr txBox="1"/>
          <p:nvPr/>
        </p:nvSpPr>
        <p:spPr>
          <a:xfrm>
            <a:off x="2237874" y="2344960"/>
            <a:ext cx="5724534" cy="505969"/>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324000" marR="0" lvl="1" indent="-216000" algn="l" defTabSz="914400" rtl="0" eaLnBrk="1" fontAlgn="auto" latinLnBrk="0" hangingPunct="1">
              <a:lnSpc>
                <a:spcPct val="100000"/>
              </a:lnSpc>
              <a:spcBef>
                <a:spcPts val="0"/>
              </a:spcBef>
              <a:spcAft>
                <a:spcPts val="0"/>
              </a:spcAft>
              <a:buClr>
                <a:schemeClr val="tx2"/>
              </a:buClr>
              <a:buSzPct val="100000"/>
              <a:buFont typeface="Trebuchet MS" panose="020B0603020202020204" pitchFamily="34" charset="0"/>
              <a:buChar char="•"/>
              <a:tabLst/>
              <a:defRPr/>
            </a:pPr>
            <a:r>
              <a:rPr kumimoji="0" lang="zh-TW" altLang="en-US" sz="1400" b="0" i="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符合條件的客戶獲得日常業務營運（</a:t>
            </a:r>
            <a:r>
              <a:rPr kumimoji="0" lang="en-US" altLang="zh-TW" sz="1400" b="0" i="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BAU）</a:t>
            </a:r>
            <a:r>
              <a:rPr kumimoji="0" lang="zh-TW" altLang="en-US" sz="1400" b="0" i="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活動（如有）</a:t>
            </a:r>
          </a:p>
          <a:p>
            <a:pPr marL="324000" marR="0" lvl="1" indent="-216000" algn="l" defTabSz="914400" rtl="0" eaLnBrk="1" fontAlgn="auto" latinLnBrk="0" hangingPunct="1">
              <a:lnSpc>
                <a:spcPct val="100000"/>
              </a:lnSpc>
              <a:spcBef>
                <a:spcPts val="0"/>
              </a:spcBef>
              <a:spcAft>
                <a:spcPts val="0"/>
              </a:spcAft>
              <a:buClr>
                <a:schemeClr val="tx2"/>
              </a:buClr>
              <a:buSzPct val="100000"/>
              <a:buFont typeface="Trebuchet MS" panose="020B0603020202020204" pitchFamily="34" charset="0"/>
              <a:buChar char="•"/>
              <a:tabLst/>
              <a:defRPr/>
            </a:pPr>
            <a:r>
              <a:rPr kumimoji="0" lang="zh-TW" altLang="en-US" sz="1400" b="0" i="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所有其他日常業務營運（</a:t>
            </a:r>
            <a:r>
              <a:rPr kumimoji="0" lang="en-US" altLang="zh-TW" sz="1400" b="0" i="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BAU）</a:t>
            </a:r>
            <a:r>
              <a:rPr kumimoji="0" lang="zh-TW" altLang="en-US" sz="1400" b="0" i="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活動持續進行</a:t>
            </a:r>
          </a:p>
        </p:txBody>
      </p:sp>
      <p:grpSp>
        <p:nvGrpSpPr>
          <p:cNvPr id="14" name="Group 13">
            <a:extLst>
              <a:ext uri="{FF2B5EF4-FFF2-40B4-BE49-F238E27FC236}">
                <a16:creationId xmlns:a16="http://schemas.microsoft.com/office/drawing/2014/main" id="{51FA83D4-F55E-49F1-A05B-55F32B86B1A9}"/>
              </a:ext>
            </a:extLst>
          </p:cNvPr>
          <p:cNvGrpSpPr/>
          <p:nvPr/>
        </p:nvGrpSpPr>
        <p:grpSpPr>
          <a:xfrm>
            <a:off x="697832" y="3091429"/>
            <a:ext cx="7002378" cy="505971"/>
            <a:chOff x="697832" y="3995836"/>
            <a:chExt cx="7002378" cy="721895"/>
          </a:xfrm>
        </p:grpSpPr>
        <p:sp>
          <p:nvSpPr>
            <p:cNvPr id="15" name="Rectangle 14">
              <a:extLst>
                <a:ext uri="{FF2B5EF4-FFF2-40B4-BE49-F238E27FC236}">
                  <a16:creationId xmlns:a16="http://schemas.microsoft.com/office/drawing/2014/main" id="{C934B821-724A-495C-A8EE-CEDBC9D032AD}"/>
                </a:ext>
              </a:extLst>
            </p:cNvPr>
            <p:cNvSpPr/>
            <p:nvPr/>
          </p:nvSpPr>
          <p:spPr>
            <a:xfrm>
              <a:off x="697832" y="3995836"/>
              <a:ext cx="1540042" cy="721895"/>
            </a:xfrm>
            <a:prstGeom prst="rect">
              <a:avLst/>
            </a:prstGeom>
            <a:solidFill>
              <a:schemeClr val="accent3"/>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TW" altLang="en-US" sz="1400" b="1">
                  <a:solidFill>
                    <a:srgbClr val="2E3558">
                      <a:lumMod val="100000"/>
                    </a:srgbClr>
                  </a:solidFill>
                  <a:latin typeface="Trebuchet MS" panose="020B0603020202020204" pitchFamily="34" charset="0"/>
                  <a:cs typeface="Arial" panose="020B0604020202020204" pitchFamily="34" charset="0"/>
                  <a:sym typeface="Trebuchet MS" panose="020B0603020202020204" pitchFamily="34" charset="0"/>
                </a:rPr>
                <a:t>控制組 </a:t>
              </a:r>
              <a:r>
                <a:rPr lang="en-US" altLang="zh-TW" sz="1400" b="1">
                  <a:solidFill>
                    <a:srgbClr val="2E3558">
                      <a:lumMod val="100000"/>
                    </a:srgbClr>
                  </a:solidFill>
                  <a:latin typeface="Trebuchet MS" panose="020B0603020202020204" pitchFamily="34" charset="0"/>
                  <a:cs typeface="Arial" panose="020B0604020202020204" pitchFamily="34" charset="0"/>
                  <a:sym typeface="Trebuchet MS" panose="020B0603020202020204" pitchFamily="34" charset="0"/>
                </a:rPr>
                <a:t>(</a:t>
              </a:r>
              <a:r>
                <a:rPr kumimoji="0" lang="en-US" sz="1400" b="1" i="0" u="none" strike="noStrike" kern="1200" cap="none" spc="0" normalizeH="0" baseline="0" noProof="0" err="1">
                  <a:ln>
                    <a:noFill/>
                  </a:ln>
                  <a:solidFill>
                    <a:srgbClr val="2E3558">
                      <a:lumMod val="100000"/>
                    </a:srgbClr>
                  </a:solidFill>
                  <a:effectLst/>
                  <a:uLnTx/>
                  <a:uFillTx/>
                  <a:latin typeface="Trebuchet MS" panose="020B0603020202020204" pitchFamily="34" charset="0"/>
                  <a:cs typeface="Arial" panose="020B0604020202020204" pitchFamily="34" charset="0"/>
                  <a:sym typeface="Trebuchet MS" panose="020B0603020202020204" pitchFamily="34" charset="0"/>
                </a:rPr>
                <a:t>無干擾</a:t>
              </a:r>
              <a:r>
                <a:rPr kumimoji="0" lang="en-US" altLang="zh-TW" sz="1400" b="1" i="0" u="none" strike="noStrike" kern="1200" cap="none" spc="0" normalizeH="0" baseline="0" noProof="0">
                  <a:ln>
                    <a:noFill/>
                  </a:ln>
                  <a:solidFill>
                    <a:srgbClr val="2E3558">
                      <a:lumMod val="100000"/>
                    </a:srgbClr>
                  </a:solidFill>
                  <a:effectLst/>
                  <a:uLnTx/>
                  <a:uFillTx/>
                  <a:latin typeface="Trebuchet MS" panose="020B0603020202020204" pitchFamily="34" charset="0"/>
                  <a:cs typeface="Arial" panose="020B0604020202020204" pitchFamily="34" charset="0"/>
                  <a:sym typeface="Trebuchet MS" panose="020B0603020202020204" pitchFamily="34" charset="0"/>
                </a:rPr>
                <a:t>)</a:t>
              </a:r>
              <a:endParaRPr kumimoji="0" lang="en-US" sz="1400" b="1" i="0" u="none" strike="noStrike" kern="1200" cap="none" spc="0" normalizeH="0" baseline="0" noProof="0">
                <a:ln>
                  <a:noFill/>
                </a:ln>
                <a:solidFill>
                  <a:srgbClr val="2E3558">
                    <a:lumMod val="100000"/>
                  </a:srgbClr>
                </a:solidFill>
                <a:effectLst/>
                <a:uLnTx/>
                <a:uFillTx/>
                <a:latin typeface="Trebuchet MS" panose="020B0603020202020204" pitchFamily="34" charset="0"/>
                <a:cs typeface="Arial" panose="020B0604020202020204" pitchFamily="34" charset="0"/>
                <a:sym typeface="Trebuchet MS" panose="020B0603020202020204" pitchFamily="34" charset="0"/>
              </a:endParaRPr>
            </a:p>
          </p:txBody>
        </p:sp>
        <p:sp>
          <p:nvSpPr>
            <p:cNvPr id="16" name="TextBox 15">
              <a:extLst>
                <a:ext uri="{FF2B5EF4-FFF2-40B4-BE49-F238E27FC236}">
                  <a16:creationId xmlns:a16="http://schemas.microsoft.com/office/drawing/2014/main" id="{3D37F89A-FA40-4B5B-80B7-EA795E9E8AC3}"/>
                </a:ext>
              </a:extLst>
            </p:cNvPr>
            <p:cNvSpPr txBox="1"/>
            <p:nvPr/>
          </p:nvSpPr>
          <p:spPr>
            <a:xfrm>
              <a:off x="2237873" y="3995836"/>
              <a:ext cx="5462337" cy="721895"/>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324000" marR="0" lvl="1" indent="-216000" algn="l" defTabSz="914400" rtl="0" eaLnBrk="1" fontAlgn="auto" latinLnBrk="0" hangingPunct="1">
                <a:lnSpc>
                  <a:spcPct val="100000"/>
                </a:lnSpc>
                <a:spcBef>
                  <a:spcPts val="0"/>
                </a:spcBef>
                <a:spcAft>
                  <a:spcPts val="0"/>
                </a:spcAft>
                <a:buClr>
                  <a:schemeClr val="tx2"/>
                </a:buClr>
                <a:buSzPct val="100000"/>
                <a:buFont typeface="Trebuchet MS" panose="020B0603020202020204" pitchFamily="34" charset="0"/>
                <a:buChar char="•"/>
                <a:tabLst/>
                <a:defRPr/>
              </a:pPr>
              <a:r>
                <a:rPr lang="zh-TW" altLang="en-US" sz="1400">
                  <a:solidFill>
                    <a:schemeClr val="tx1"/>
                  </a:solidFill>
                  <a:latin typeface="Trebuchet MS" panose="020B0603020202020204" pitchFamily="34" charset="0"/>
                  <a:cs typeface="Arial" panose="020B0604020202020204" pitchFamily="34" charset="0"/>
                  <a:sym typeface="Trebuchet MS" panose="020B0603020202020204" pitchFamily="34" charset="0"/>
                </a:rPr>
                <a:t>除了法規要求的通知外，停止傳送所有銀行的通知</a:t>
              </a:r>
            </a:p>
          </p:txBody>
        </p:sp>
      </p:grpSp>
      <p:sp>
        <p:nvSpPr>
          <p:cNvPr id="17" name="Oval 20">
            <a:extLst>
              <a:ext uri="{FF2B5EF4-FFF2-40B4-BE49-F238E27FC236}">
                <a16:creationId xmlns:a16="http://schemas.microsoft.com/office/drawing/2014/main" id="{D50AA5CE-D6CA-4E89-ADFB-07365B1A6CC7}"/>
              </a:ext>
            </a:extLst>
          </p:cNvPr>
          <p:cNvSpPr>
            <a:spLocks noChangeAspect="1" noChangeArrowheads="1"/>
          </p:cNvSpPr>
          <p:nvPr/>
        </p:nvSpPr>
        <p:spPr bwMode="auto">
          <a:xfrm>
            <a:off x="480632" y="1615908"/>
            <a:ext cx="306910" cy="306910"/>
          </a:xfrm>
          <a:prstGeom prst="ellipse">
            <a:avLst/>
          </a:prstGeom>
          <a:solidFill>
            <a:schemeClr val="accent5"/>
          </a:solidFill>
          <a:ln w="9525" cap="flat" cmpd="sng" algn="ctr">
            <a:solidFill>
              <a:schemeClr val="bg1"/>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Trebuchet MS" panose="020B0603020202020204" pitchFamily="34" charset="0"/>
                <a:cs typeface="Arial" panose="020B0604020202020204" pitchFamily="34" charset="0"/>
                <a:sym typeface="Trebuchet MS" panose="020B0603020202020204" pitchFamily="34" charset="0"/>
              </a:rPr>
              <a:t>A</a:t>
            </a:r>
          </a:p>
        </p:txBody>
      </p:sp>
      <p:sp>
        <p:nvSpPr>
          <p:cNvPr id="18" name="Oval 20">
            <a:extLst>
              <a:ext uri="{FF2B5EF4-FFF2-40B4-BE49-F238E27FC236}">
                <a16:creationId xmlns:a16="http://schemas.microsoft.com/office/drawing/2014/main" id="{2EE36582-2A2B-4E74-AABB-6D94DE9FAFB6}"/>
              </a:ext>
            </a:extLst>
          </p:cNvPr>
          <p:cNvSpPr>
            <a:spLocks noChangeAspect="1" noChangeArrowheads="1"/>
          </p:cNvSpPr>
          <p:nvPr/>
        </p:nvSpPr>
        <p:spPr bwMode="auto">
          <a:xfrm>
            <a:off x="458855" y="2373667"/>
            <a:ext cx="306910" cy="306910"/>
          </a:xfrm>
          <a:prstGeom prst="ellipse">
            <a:avLst/>
          </a:prstGeom>
          <a:solidFill>
            <a:schemeClr val="accent5"/>
          </a:solidFill>
          <a:ln w="9525" cap="flat" cmpd="sng" algn="ctr">
            <a:solidFill>
              <a:schemeClr val="bg1"/>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Trebuchet MS" panose="020B0603020202020204" pitchFamily="34" charset="0"/>
                <a:cs typeface="Arial" panose="020B0604020202020204" pitchFamily="34" charset="0"/>
                <a:sym typeface="Trebuchet MS" panose="020B0603020202020204" pitchFamily="34" charset="0"/>
              </a:rPr>
              <a:t>b</a:t>
            </a:r>
          </a:p>
        </p:txBody>
      </p:sp>
      <p:sp>
        <p:nvSpPr>
          <p:cNvPr id="19" name="Oval 20">
            <a:extLst>
              <a:ext uri="{FF2B5EF4-FFF2-40B4-BE49-F238E27FC236}">
                <a16:creationId xmlns:a16="http://schemas.microsoft.com/office/drawing/2014/main" id="{0467EE5B-E733-4B9A-952B-4FBB419BF91F}"/>
              </a:ext>
            </a:extLst>
          </p:cNvPr>
          <p:cNvSpPr>
            <a:spLocks noChangeAspect="1" noChangeArrowheads="1"/>
          </p:cNvSpPr>
          <p:nvPr/>
        </p:nvSpPr>
        <p:spPr bwMode="auto">
          <a:xfrm>
            <a:off x="487508" y="3179577"/>
            <a:ext cx="306910" cy="306910"/>
          </a:xfrm>
          <a:prstGeom prst="ellipse">
            <a:avLst/>
          </a:prstGeom>
          <a:solidFill>
            <a:schemeClr val="accent5"/>
          </a:solidFill>
          <a:ln w="9525" cap="flat" cmpd="sng" algn="ctr">
            <a:solidFill>
              <a:schemeClr val="bg1"/>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Trebuchet MS" panose="020B0603020202020204" pitchFamily="34" charset="0"/>
                <a:cs typeface="Arial" panose="020B0604020202020204" pitchFamily="34" charset="0"/>
                <a:sym typeface="Trebuchet MS" panose="020B0603020202020204" pitchFamily="34" charset="0"/>
              </a:rPr>
              <a:t>C</a:t>
            </a:r>
          </a:p>
        </p:txBody>
      </p:sp>
      <p:sp>
        <p:nvSpPr>
          <p:cNvPr id="20" name="TextBox 19">
            <a:extLst>
              <a:ext uri="{FF2B5EF4-FFF2-40B4-BE49-F238E27FC236}">
                <a16:creationId xmlns:a16="http://schemas.microsoft.com/office/drawing/2014/main" id="{55835806-8FC1-4610-86FF-1F94D7D62B3F}"/>
              </a:ext>
            </a:extLst>
          </p:cNvPr>
          <p:cNvSpPr txBox="1"/>
          <p:nvPr/>
        </p:nvSpPr>
        <p:spPr>
          <a:xfrm>
            <a:off x="8078674" y="2178771"/>
            <a:ext cx="2940210" cy="572382"/>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zh-TW" altLang="en-US" sz="1600" b="1" i="1">
                <a:solidFill>
                  <a:srgbClr val="E71C57"/>
                </a:solidFill>
                <a:latin typeface="Trebuchet MS" panose="020B0603020202020204" pitchFamily="34" charset="0"/>
                <a:cs typeface="Arial" panose="020B0604020202020204" pitchFamily="34" charset="0"/>
                <a:sym typeface="Trebuchet MS" panose="020B0603020202020204" pitchFamily="34" charset="0"/>
              </a:rPr>
              <a:t>以</a:t>
            </a:r>
            <a:r>
              <a:rPr kumimoji="0" lang="en-US" sz="1600" b="1" i="1" u="none" strike="noStrike" kern="1200" cap="none" spc="0" normalizeH="0" baseline="0" noProof="0">
                <a:ln>
                  <a:noFill/>
                </a:ln>
                <a:solidFill>
                  <a:srgbClr val="E71C57"/>
                </a:solidFill>
                <a:effectLst/>
                <a:uLnTx/>
                <a:uFillTx/>
                <a:latin typeface="Trebuchet MS" panose="020B0603020202020204" pitchFamily="34" charset="0"/>
                <a:cs typeface="Arial" panose="020B0604020202020204" pitchFamily="34" charset="0"/>
                <a:sym typeface="Trebuchet MS" panose="020B0603020202020204" pitchFamily="34" charset="0"/>
              </a:rPr>
              <a:t>A/B</a:t>
            </a:r>
            <a:r>
              <a:rPr kumimoji="0" lang="zh-TW" altLang="en-US" sz="1600" b="1" i="1" u="none" strike="noStrike" kern="1200" cap="none" spc="0" normalizeH="0" baseline="0" noProof="0">
                <a:ln>
                  <a:noFill/>
                </a:ln>
                <a:solidFill>
                  <a:srgbClr val="E71C57"/>
                </a:solidFill>
                <a:effectLst/>
                <a:uLnTx/>
                <a:uFillTx/>
                <a:latin typeface="Trebuchet MS" panose="020B0603020202020204" pitchFamily="34" charset="0"/>
                <a:cs typeface="Arial" panose="020B0604020202020204" pitchFamily="34" charset="0"/>
                <a:sym typeface="Trebuchet MS" panose="020B0603020202020204" pitchFamily="34" charset="0"/>
              </a:rPr>
              <a:t>測試衡量客製化通知帶來的增量效益</a:t>
            </a:r>
            <a:endParaRPr kumimoji="0" lang="en-US" sz="1600" b="1" i="1" u="none" strike="noStrike" kern="1200" cap="none" spc="0" normalizeH="0" baseline="0" noProof="0">
              <a:ln>
                <a:noFill/>
              </a:ln>
              <a:solidFill>
                <a:srgbClr val="E71C57"/>
              </a:solidFill>
              <a:effectLst/>
              <a:uLnTx/>
              <a:uFillTx/>
              <a:latin typeface="Trebuchet MS" panose="020B0603020202020204" pitchFamily="34" charset="0"/>
              <a:cs typeface="Arial" panose="020B0604020202020204" pitchFamily="34" charset="0"/>
              <a:sym typeface="Trebuchet MS" panose="020B0603020202020204" pitchFamily="34" charset="0"/>
            </a:endParaRPr>
          </a:p>
        </p:txBody>
      </p:sp>
      <p:sp>
        <p:nvSpPr>
          <p:cNvPr id="21" name="TextBox 20">
            <a:extLst>
              <a:ext uri="{FF2B5EF4-FFF2-40B4-BE49-F238E27FC236}">
                <a16:creationId xmlns:a16="http://schemas.microsoft.com/office/drawing/2014/main" id="{E27BA2AC-ECCC-4457-8756-EAA46483F333}"/>
              </a:ext>
            </a:extLst>
          </p:cNvPr>
          <p:cNvSpPr txBox="1"/>
          <p:nvPr/>
        </p:nvSpPr>
        <p:spPr>
          <a:xfrm>
            <a:off x="2237873" y="3671953"/>
            <a:ext cx="914400" cy="914400"/>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757"/>
              </a:solidFill>
              <a:effectLst/>
              <a:uLnTx/>
              <a:uFillTx/>
              <a:latin typeface="Trebuchet MS" panose="020B0603020202020204" pitchFamily="34" charset="0"/>
              <a:cs typeface="Arial" panose="020B0604020202020204" pitchFamily="34" charset="0"/>
              <a:sym typeface="Trebuchet MS" panose="020B0603020202020204" pitchFamily="34" charset="0"/>
            </a:endParaRPr>
          </a:p>
        </p:txBody>
      </p:sp>
      <p:sp>
        <p:nvSpPr>
          <p:cNvPr id="22" name="Rectangle 21">
            <a:extLst>
              <a:ext uri="{FF2B5EF4-FFF2-40B4-BE49-F238E27FC236}">
                <a16:creationId xmlns:a16="http://schemas.microsoft.com/office/drawing/2014/main" id="{7E6AB896-8905-48A9-B61E-618C047435A0}"/>
              </a:ext>
            </a:extLst>
          </p:cNvPr>
          <p:cNvSpPr/>
          <p:nvPr/>
        </p:nvSpPr>
        <p:spPr>
          <a:xfrm>
            <a:off x="2555513" y="3772576"/>
            <a:ext cx="1540042" cy="288019"/>
          </a:xfrm>
          <a:prstGeom prst="rect">
            <a:avLst/>
          </a:prstGeom>
          <a:solidFill>
            <a:schemeClr val="lt1"/>
          </a:solidFill>
          <a:ln w="10795" cap="flat" cmpd="sng" algn="ctr">
            <a:noFill/>
            <a:prstDash val="solid"/>
            <a:round/>
            <a:headEnd type="none" w="med" len="med"/>
            <a:tailEnd type="none" w="med" len="med"/>
          </a:ln>
          <a:effectLst/>
          <a:extLst>
            <a:ext uri="{91240B29-F687-4F45-9708-019B960494DF}">
              <a14:hiddenLine xmlns:a14="http://schemas.microsoft.com/office/drawing/2010/main" w="10795" cap="flat" cmpd="sng" algn="ctr">
                <a:solidFill>
                  <a:schemeClr val="tx2"/>
                </a:solidFill>
                <a:prstDash val="solid"/>
                <a:round/>
                <a:headEnd type="none" w="med" len="med"/>
                <a:tailEnd type="none" w="med" len="med"/>
              </a14:hiddenLine>
            </a:ext>
          </a:extLst>
        </p:spPr>
        <p:style>
          <a:lnRef idx="2">
            <a:schemeClr val="accent2"/>
          </a:lnRef>
          <a:fillRef idx="1">
            <a:schemeClr val="lt1"/>
          </a:fillRef>
          <a:effectRef idx="0">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sng" strike="noStrike" kern="1200" cap="none" spc="0" normalizeH="0" baseline="0" noProof="0">
                <a:ln>
                  <a:noFill/>
                </a:ln>
                <a:solidFill>
                  <a:srgbClr val="575757"/>
                </a:solidFill>
                <a:effectLst/>
                <a:uLnTx/>
                <a:uFillTx/>
                <a:latin typeface="Trebuchet MS" panose="020B0603020202020204" pitchFamily="34" charset="0"/>
                <a:cs typeface="Arial" panose="020B0604020202020204" pitchFamily="34" charset="0"/>
                <a:sym typeface="Trebuchet MS" panose="020B0603020202020204" pitchFamily="34" charset="0"/>
              </a:rPr>
              <a:t>級別1</a:t>
            </a:r>
          </a:p>
        </p:txBody>
      </p:sp>
      <p:sp>
        <p:nvSpPr>
          <p:cNvPr id="23" name="Rectangle 22">
            <a:extLst>
              <a:ext uri="{FF2B5EF4-FFF2-40B4-BE49-F238E27FC236}">
                <a16:creationId xmlns:a16="http://schemas.microsoft.com/office/drawing/2014/main" id="{1BACA7FB-5CF0-43ED-A6B7-66C01C46B111}"/>
              </a:ext>
            </a:extLst>
          </p:cNvPr>
          <p:cNvSpPr/>
          <p:nvPr/>
        </p:nvSpPr>
        <p:spPr>
          <a:xfrm>
            <a:off x="4314907" y="3772576"/>
            <a:ext cx="1540042" cy="288019"/>
          </a:xfrm>
          <a:prstGeom prst="rect">
            <a:avLst/>
          </a:prstGeom>
          <a:solidFill>
            <a:schemeClr val="lt1"/>
          </a:solidFill>
          <a:ln w="10795" cap="flat" cmpd="sng" algn="ctr">
            <a:noFill/>
            <a:prstDash val="solid"/>
            <a:round/>
            <a:headEnd type="none" w="med" len="med"/>
            <a:tailEnd type="none" w="med" len="med"/>
          </a:ln>
          <a:effectLst/>
          <a:extLst>
            <a:ext uri="{91240B29-F687-4F45-9708-019B960494DF}">
              <a14:hiddenLine xmlns:a14="http://schemas.microsoft.com/office/drawing/2010/main" w="10795" cap="flat" cmpd="sng" algn="ctr">
                <a:solidFill>
                  <a:schemeClr val="tx2"/>
                </a:solidFill>
                <a:prstDash val="solid"/>
                <a:round/>
                <a:headEnd type="none" w="med" len="med"/>
                <a:tailEnd type="none" w="med" len="med"/>
              </a14:hiddenLine>
            </a:ext>
          </a:extLst>
        </p:spPr>
        <p:style>
          <a:lnRef idx="2">
            <a:schemeClr val="accent2"/>
          </a:lnRef>
          <a:fillRef idx="1">
            <a:schemeClr val="lt1"/>
          </a:fillRef>
          <a:effectRef idx="0">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sng" strike="noStrike" kern="1200" cap="none" spc="0" normalizeH="0" baseline="0" noProof="0">
                <a:ln>
                  <a:noFill/>
                </a:ln>
                <a:solidFill>
                  <a:srgbClr val="575757"/>
                </a:solidFill>
                <a:effectLst/>
                <a:uLnTx/>
                <a:uFillTx/>
                <a:latin typeface="Trebuchet MS" panose="020B0603020202020204" pitchFamily="34" charset="0"/>
                <a:cs typeface="Arial" panose="020B0604020202020204" pitchFamily="34" charset="0"/>
                <a:sym typeface="Trebuchet MS" panose="020B0603020202020204" pitchFamily="34" charset="0"/>
              </a:rPr>
              <a:t>級別2</a:t>
            </a:r>
          </a:p>
        </p:txBody>
      </p:sp>
      <p:sp>
        <p:nvSpPr>
          <p:cNvPr id="24" name="Rectangle 23">
            <a:extLst>
              <a:ext uri="{FF2B5EF4-FFF2-40B4-BE49-F238E27FC236}">
                <a16:creationId xmlns:a16="http://schemas.microsoft.com/office/drawing/2014/main" id="{09231FEF-C363-4397-A6F2-110CCFF7E550}"/>
              </a:ext>
            </a:extLst>
          </p:cNvPr>
          <p:cNvSpPr/>
          <p:nvPr/>
        </p:nvSpPr>
        <p:spPr>
          <a:xfrm>
            <a:off x="6428267" y="3772576"/>
            <a:ext cx="1540042" cy="288019"/>
          </a:xfrm>
          <a:prstGeom prst="rect">
            <a:avLst/>
          </a:prstGeom>
          <a:solidFill>
            <a:schemeClr val="lt1"/>
          </a:solidFill>
          <a:ln w="10795" cap="flat" cmpd="sng" algn="ctr">
            <a:noFill/>
            <a:prstDash val="solid"/>
            <a:round/>
            <a:headEnd type="none" w="med" len="med"/>
            <a:tailEnd type="none" w="med" len="med"/>
          </a:ln>
          <a:effectLst/>
          <a:extLst>
            <a:ext uri="{91240B29-F687-4F45-9708-019B960494DF}">
              <a14:hiddenLine xmlns:a14="http://schemas.microsoft.com/office/drawing/2010/main" w="10795" cap="flat" cmpd="sng" algn="ctr">
                <a:solidFill>
                  <a:schemeClr val="tx2"/>
                </a:solidFill>
                <a:prstDash val="solid"/>
                <a:round/>
                <a:headEnd type="none" w="med" len="med"/>
                <a:tailEnd type="none" w="med" len="med"/>
              </a14:hiddenLine>
            </a:ext>
          </a:extLst>
        </p:spPr>
        <p:style>
          <a:lnRef idx="2">
            <a:schemeClr val="accent2"/>
          </a:lnRef>
          <a:fillRef idx="1">
            <a:schemeClr val="lt1"/>
          </a:fillRef>
          <a:effectRef idx="0">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sng" strike="noStrike" kern="1200" cap="none" spc="0" normalizeH="0" baseline="0" noProof="0">
                <a:ln>
                  <a:noFill/>
                </a:ln>
                <a:solidFill>
                  <a:srgbClr val="575757"/>
                </a:solidFill>
                <a:effectLst/>
                <a:uLnTx/>
                <a:uFillTx/>
                <a:latin typeface="Trebuchet MS" panose="020B0603020202020204" pitchFamily="34" charset="0"/>
                <a:cs typeface="Arial" panose="020B0604020202020204" pitchFamily="34" charset="0"/>
                <a:sym typeface="Trebuchet MS" panose="020B0603020202020204" pitchFamily="34" charset="0"/>
              </a:rPr>
              <a:t>級別3</a:t>
            </a:r>
          </a:p>
        </p:txBody>
      </p:sp>
      <p:sp>
        <p:nvSpPr>
          <p:cNvPr id="25" name="TextBox 24">
            <a:extLst>
              <a:ext uri="{FF2B5EF4-FFF2-40B4-BE49-F238E27FC236}">
                <a16:creationId xmlns:a16="http://schemas.microsoft.com/office/drawing/2014/main" id="{F104355F-6131-4614-A0C6-F8A612000796}"/>
              </a:ext>
            </a:extLst>
          </p:cNvPr>
          <p:cNvSpPr txBox="1"/>
          <p:nvPr/>
        </p:nvSpPr>
        <p:spPr>
          <a:xfrm>
            <a:off x="2600160" y="4074200"/>
            <a:ext cx="2004207" cy="721895"/>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TW" altLang="en-US" sz="1400" b="1" i="0" u="none" strike="noStrike" kern="1200" cap="none" spc="0" normalizeH="0" baseline="0" noProof="0">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rPr>
              <a:t>回</a:t>
            </a:r>
            <a:r>
              <a:rPr lang="zh-TW" altLang="en-US" sz="1400" b="1">
                <a:solidFill>
                  <a:srgbClr val="29BA74"/>
                </a:solidFill>
                <a:latin typeface="Trebuchet MS" panose="020B0603020202020204" pitchFamily="34" charset="0"/>
                <a:cs typeface="Arial" panose="020B0604020202020204" pitchFamily="34" charset="0"/>
                <a:sym typeface="Trebuchet MS" panose="020B0603020202020204" pitchFamily="34" charset="0"/>
              </a:rPr>
              <a:t>覆</a:t>
            </a:r>
            <a:r>
              <a:rPr kumimoji="0" lang="zh-TW" altLang="en-US" sz="1400" b="1" i="0" u="none" strike="noStrike" kern="1200" cap="none" spc="0" normalizeH="0" baseline="0" noProof="0">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rPr>
              <a:t>率</a:t>
            </a:r>
            <a:endParaRPr kumimoji="0" lang="en-US" altLang="zh-TW" sz="1400" b="1" i="0" u="none" strike="noStrike" kern="1200" cap="none" spc="0" normalizeH="0" baseline="0" noProof="0">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endParaRPr>
          </a:p>
          <a:p>
            <a:pPr marL="324000" lvl="1" indent="-216000">
              <a:buClr>
                <a:schemeClr val="tx2"/>
              </a:buClr>
              <a:buFont typeface="Trebuchet MS" panose="020B0603020202020204" pitchFamily="34" charset="0"/>
              <a:buChar char="•"/>
              <a:defRPr/>
            </a:pPr>
            <a:r>
              <a:rPr lang="en-US" sz="1400" err="1">
                <a:solidFill>
                  <a:schemeClr val="tx1"/>
                </a:solidFill>
                <a:latin typeface="Trebuchet MS" panose="020B0603020202020204" pitchFamily="34" charset="0"/>
                <a:cs typeface="Arial" panose="020B0604020202020204" pitchFamily="34" charset="0"/>
                <a:sym typeface="Trebuchet MS" panose="020B0603020202020204" pitchFamily="34" charset="0"/>
              </a:rPr>
              <a:t>已送達</a:t>
            </a:r>
            <a:r>
              <a:rPr kumimoji="0" lang="en-US" sz="1400" b="0" u="none" strike="noStrike" kern="1200" cap="none" spc="0" normalizeH="0" baseline="0" noProof="0" err="1">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數量</a:t>
            </a:r>
            <a:endParaRPr kumimoji="0" lang="en-US" sz="1400" b="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endParaRPr>
          </a:p>
          <a:p>
            <a:pPr marL="324000" lvl="1" indent="-216000">
              <a:buClr>
                <a:schemeClr val="tx2"/>
              </a:buClr>
              <a:buSzPct val="100000"/>
              <a:buFont typeface="Trebuchet MS" panose="020B0603020202020204" pitchFamily="34" charset="0"/>
              <a:buChar char="•"/>
              <a:defRPr/>
            </a:pPr>
            <a:r>
              <a:rPr lang="en-US" sz="1400" err="1">
                <a:solidFill>
                  <a:schemeClr val="tx1"/>
                </a:solidFill>
                <a:latin typeface="Trebuchet MS" panose="020B0603020202020204" pitchFamily="34" charset="0"/>
                <a:cs typeface="Arial" panose="020B0604020202020204" pitchFamily="34" charset="0"/>
                <a:sym typeface="Trebuchet MS" panose="020B0603020202020204" pitchFamily="34" charset="0"/>
              </a:rPr>
              <a:t>點擊率</a:t>
            </a:r>
            <a:endParaRPr kumimoji="0" lang="en-US" sz="1400" b="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endParaRPr>
          </a:p>
          <a:p>
            <a:pPr marL="324000" marR="0" lvl="1" indent="-216000" algn="l" defTabSz="914400" rtl="0" eaLnBrk="1" fontAlgn="auto" latinLnBrk="0" hangingPunct="1">
              <a:lnSpc>
                <a:spcPct val="100000"/>
              </a:lnSpc>
              <a:spcBef>
                <a:spcPts val="0"/>
              </a:spcBef>
              <a:spcAft>
                <a:spcPts val="0"/>
              </a:spcAft>
              <a:buClr>
                <a:schemeClr val="tx2"/>
              </a:buClr>
              <a:buSzPct val="100000"/>
              <a:buFont typeface="Trebuchet MS" panose="020B0603020202020204" pitchFamily="34" charset="0"/>
              <a:buChar char="•"/>
              <a:tabLst/>
              <a:defRPr/>
            </a:pPr>
            <a:r>
              <a:rPr kumimoji="0" lang="en-US" sz="1400" b="0" i="0" u="none" strike="noStrike" kern="1200" cap="none" spc="0" normalizeH="0" baseline="0" noProof="0" err="1">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開啟率</a:t>
            </a:r>
            <a:endParaRPr kumimoji="0" lang="en-US" sz="1400" b="0" i="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endParaRPr>
          </a:p>
        </p:txBody>
      </p:sp>
      <p:sp>
        <p:nvSpPr>
          <p:cNvPr id="26" name="TextBox 25">
            <a:extLst>
              <a:ext uri="{FF2B5EF4-FFF2-40B4-BE49-F238E27FC236}">
                <a16:creationId xmlns:a16="http://schemas.microsoft.com/office/drawing/2014/main" id="{759EB145-6F02-4E28-878F-1461012B380B}"/>
              </a:ext>
            </a:extLst>
          </p:cNvPr>
          <p:cNvSpPr txBox="1"/>
          <p:nvPr/>
        </p:nvSpPr>
        <p:spPr>
          <a:xfrm>
            <a:off x="4291294" y="4074200"/>
            <a:ext cx="2004207" cy="910979"/>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err="1">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rPr>
              <a:t>轉換率</a:t>
            </a:r>
            <a:endParaRPr kumimoji="0" lang="en-US" sz="1400" b="1" i="0" u="none" strike="noStrike" kern="1200" cap="none" spc="0" normalizeH="0" baseline="0" noProof="0">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endParaRPr>
          </a:p>
          <a:p>
            <a:pPr marL="324000" marR="0" lvl="1" indent="-216000" algn="l" defTabSz="914400" rtl="0" eaLnBrk="1" fontAlgn="auto" latinLnBrk="0" hangingPunct="1">
              <a:lnSpc>
                <a:spcPct val="100000"/>
              </a:lnSpc>
              <a:spcBef>
                <a:spcPts val="0"/>
              </a:spcBef>
              <a:spcAft>
                <a:spcPts val="0"/>
              </a:spcAft>
              <a:buClr>
                <a:schemeClr val="tx2"/>
              </a:buClr>
              <a:buSzPct val="100000"/>
              <a:buFont typeface="Trebuchet MS" panose="020B0603020202020204" pitchFamily="34" charset="0"/>
              <a:buChar char="•"/>
              <a:tabLst/>
              <a:defRPr/>
            </a:pPr>
            <a:r>
              <a:rPr kumimoji="0" lang="en-US" sz="1400" b="0" i="0" u="none" strike="noStrike" kern="1200" cap="none" spc="0" normalizeH="0" baseline="0" noProof="0" err="1">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在#天內完成設定</a:t>
            </a:r>
            <a:r>
              <a:rPr kumimoji="0" lang="en-US" sz="1400" b="0" i="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a:t>
            </a:r>
            <a:r>
              <a:rPr kumimoji="0" lang="zh-TW" altLang="en-US" sz="1400" b="0" i="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使用服務</a:t>
            </a:r>
            <a:endParaRPr kumimoji="0" lang="en-US" sz="1400" b="0" i="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endParaRPr>
          </a:p>
          <a:p>
            <a:pPr marL="324000" marR="0" lvl="1" indent="-216000" algn="l" defTabSz="914400" rtl="0" eaLnBrk="1" fontAlgn="auto" latinLnBrk="0" hangingPunct="1">
              <a:lnSpc>
                <a:spcPct val="100000"/>
              </a:lnSpc>
              <a:spcBef>
                <a:spcPts val="0"/>
              </a:spcBef>
              <a:spcAft>
                <a:spcPts val="0"/>
              </a:spcAft>
              <a:buClr>
                <a:schemeClr val="tx2"/>
              </a:buClr>
              <a:buSzPct val="100000"/>
              <a:buFont typeface="Trebuchet MS" panose="020B0603020202020204" pitchFamily="34" charset="0"/>
              <a:buChar char="•"/>
              <a:tabLst/>
              <a:defRPr/>
            </a:pPr>
            <a:r>
              <a:rPr kumimoji="0" lang="en-US" sz="1400" b="0" i="0" u="none" strike="noStrike" kern="1200" cap="none" spc="0" normalizeH="0" baseline="0" noProof="0" err="1">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客戶重新啟動比率</a:t>
            </a:r>
            <a:endParaRPr kumimoji="0" lang="en-US" sz="1400" b="0" i="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endParaRPr>
          </a:p>
        </p:txBody>
      </p:sp>
      <p:sp>
        <p:nvSpPr>
          <p:cNvPr id="27" name="TextBox 26">
            <a:extLst>
              <a:ext uri="{FF2B5EF4-FFF2-40B4-BE49-F238E27FC236}">
                <a16:creationId xmlns:a16="http://schemas.microsoft.com/office/drawing/2014/main" id="{E515E7CB-BB81-4468-91D5-924EC2CAFB90}"/>
              </a:ext>
            </a:extLst>
          </p:cNvPr>
          <p:cNvSpPr txBox="1"/>
          <p:nvPr/>
        </p:nvSpPr>
        <p:spPr>
          <a:xfrm>
            <a:off x="6462384" y="4074200"/>
            <a:ext cx="2337775" cy="721895"/>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err="1">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rPr>
              <a:t>影響</a:t>
            </a:r>
            <a:r>
              <a:rPr kumimoji="0" lang="zh-TW" altLang="en-US" sz="1400" b="1" i="0" u="none" strike="noStrike" kern="1200" cap="none" spc="0" normalizeH="0" baseline="0" noProof="0">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rPr>
              <a:t>力</a:t>
            </a:r>
            <a:endParaRPr kumimoji="0" lang="en-US" sz="1400" b="1" i="0" u="none" strike="noStrike" kern="1200" cap="none" spc="0" normalizeH="0" baseline="0" noProof="0">
              <a:ln>
                <a:noFill/>
              </a:ln>
              <a:solidFill>
                <a:srgbClr val="29BA74"/>
              </a:solidFill>
              <a:effectLst/>
              <a:uLnTx/>
              <a:uFillTx/>
              <a:latin typeface="Trebuchet MS" panose="020B0603020202020204" pitchFamily="34" charset="0"/>
              <a:cs typeface="Arial" panose="020B0604020202020204" pitchFamily="34" charset="0"/>
              <a:sym typeface="Trebuchet MS" panose="020B0603020202020204" pitchFamily="34" charset="0"/>
            </a:endParaRPr>
          </a:p>
          <a:p>
            <a:pPr marL="324000" marR="0" lvl="1" indent="-216000" algn="l" defTabSz="914400" rtl="0" eaLnBrk="1" fontAlgn="auto" latinLnBrk="0" hangingPunct="1">
              <a:lnSpc>
                <a:spcPct val="100000"/>
              </a:lnSpc>
              <a:spcBef>
                <a:spcPts val="0"/>
              </a:spcBef>
              <a:spcAft>
                <a:spcPts val="0"/>
              </a:spcAft>
              <a:buClr>
                <a:schemeClr val="tx2"/>
              </a:buClr>
              <a:buSzPct val="100000"/>
              <a:buFont typeface="Trebuchet MS" panose="020B0603020202020204" pitchFamily="34" charset="0"/>
              <a:buChar char="•"/>
              <a:tabLst/>
              <a:defRPr/>
            </a:pPr>
            <a:r>
              <a:rPr kumimoji="0" lang="en-US" sz="1400" b="0" i="0" u="none" strike="noStrike" kern="1200" cap="none" spc="0" normalizeH="0" baseline="0" noProof="0" err="1">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增加的</a:t>
            </a:r>
            <a:r>
              <a:rPr kumimoji="0" lang="zh-TW" altLang="en-US" sz="1400" b="0" i="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手續費收入</a:t>
            </a:r>
            <a:endParaRPr kumimoji="0" lang="en-US" sz="1400" b="0" i="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endParaRPr>
          </a:p>
          <a:p>
            <a:pPr marL="324000" marR="0" lvl="1" indent="-216000" algn="l" defTabSz="914400" rtl="0" eaLnBrk="1" fontAlgn="auto" latinLnBrk="0" hangingPunct="1">
              <a:lnSpc>
                <a:spcPct val="100000"/>
              </a:lnSpc>
              <a:spcBef>
                <a:spcPts val="0"/>
              </a:spcBef>
              <a:spcAft>
                <a:spcPts val="0"/>
              </a:spcAft>
              <a:buClr>
                <a:schemeClr val="tx2"/>
              </a:buClr>
              <a:buSzPct val="100000"/>
              <a:buFont typeface="Trebuchet MS" panose="020B0603020202020204" pitchFamily="34" charset="0"/>
              <a:buChar char="•"/>
              <a:tabLst/>
              <a:defRPr/>
            </a:pPr>
            <a:r>
              <a:rPr lang="en-US" sz="1400" err="1">
                <a:solidFill>
                  <a:schemeClr val="tx1"/>
                </a:solidFill>
                <a:latin typeface="Trebuchet MS" panose="020B0603020202020204" pitchFamily="34" charset="0"/>
                <a:cs typeface="Arial" panose="020B0604020202020204" pitchFamily="34" charset="0"/>
                <a:sym typeface="Trebuchet MS" panose="020B0603020202020204" pitchFamily="34" charset="0"/>
              </a:rPr>
              <a:t>增加的</a:t>
            </a:r>
            <a:r>
              <a:rPr kumimoji="0" lang="zh-TW" altLang="en-US" sz="1400" b="0" i="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rPr>
              <a:t>平均餘額</a:t>
            </a:r>
            <a:endParaRPr kumimoji="0" lang="en-US" sz="1400" b="0" i="0" u="none" strike="noStrike" kern="1200" cap="none" spc="0" normalizeH="0" baseline="0" noProof="0">
              <a:ln>
                <a:noFill/>
              </a:ln>
              <a:solidFill>
                <a:schemeClr val="tx1"/>
              </a:solidFill>
              <a:effectLst/>
              <a:uLnTx/>
              <a:uFillTx/>
              <a:latin typeface="Trebuchet MS" panose="020B0603020202020204" pitchFamily="34" charset="0"/>
              <a:cs typeface="Arial" panose="020B0604020202020204" pitchFamily="34" charset="0"/>
              <a:sym typeface="Trebuchet MS" panose="020B0603020202020204" pitchFamily="34" charset="0"/>
            </a:endParaRPr>
          </a:p>
        </p:txBody>
      </p:sp>
      <p:sp>
        <p:nvSpPr>
          <p:cNvPr id="28" name="Rectangle 27">
            <a:extLst>
              <a:ext uri="{FF2B5EF4-FFF2-40B4-BE49-F238E27FC236}">
                <a16:creationId xmlns:a16="http://schemas.microsoft.com/office/drawing/2014/main" id="{79220A1F-07AC-4EE3-BEA4-EB326872BDDD}"/>
              </a:ext>
            </a:extLst>
          </p:cNvPr>
          <p:cNvSpPr/>
          <p:nvPr/>
        </p:nvSpPr>
        <p:spPr>
          <a:xfrm>
            <a:off x="726550" y="3800167"/>
            <a:ext cx="1540042" cy="1234515"/>
          </a:xfrm>
          <a:prstGeom prst="rect">
            <a:avLst/>
          </a:prstGeom>
          <a:ln w="10795" cap="flat" cmpd="sng" algn="ctr">
            <a:solidFill>
              <a:srgbClr val="295E7E"/>
            </a:solidFill>
            <a:prstDash val="solid"/>
            <a:round/>
            <a:headEnd type="none" w="med" len="med"/>
            <a:tailEnd type="none" w="med" len="med"/>
          </a:ln>
        </p:spPr>
        <p:style>
          <a:lnRef idx="2">
            <a:schemeClr val="accent2"/>
          </a:lnRef>
          <a:fillRef idx="1">
            <a:schemeClr val="lt1"/>
          </a:fillRef>
          <a:effectRef idx="0">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err="1">
                <a:ln>
                  <a:noFill/>
                </a:ln>
                <a:solidFill>
                  <a:srgbClr val="295E7E"/>
                </a:solidFill>
                <a:effectLst/>
                <a:uLnTx/>
                <a:uFillTx/>
                <a:latin typeface="Trebuchet MS" panose="020B0603020202020204" pitchFamily="34" charset="0"/>
                <a:cs typeface="Arial" panose="020B0604020202020204" pitchFamily="34" charset="0"/>
                <a:sym typeface="Trebuchet MS" panose="020B0603020202020204" pitchFamily="34" charset="0"/>
              </a:rPr>
              <a:t>衡量的指標</a:t>
            </a:r>
            <a:endParaRPr kumimoji="0" lang="en-US" sz="1400" b="1" i="0" u="none" strike="noStrike" kern="1200" cap="none" spc="0" normalizeH="0" baseline="0" noProof="0">
              <a:ln>
                <a:noFill/>
              </a:ln>
              <a:solidFill>
                <a:srgbClr val="295E7E"/>
              </a:solidFill>
              <a:effectLst/>
              <a:uLnTx/>
              <a:uFillTx/>
              <a:latin typeface="Trebuchet MS" panose="020B0603020202020204" pitchFamily="34" charset="0"/>
              <a:cs typeface="Arial" panose="020B0604020202020204" pitchFamily="34" charset="0"/>
              <a:sym typeface="Trebuchet MS" panose="020B0603020202020204" pitchFamily="34" charset="0"/>
            </a:endParaRPr>
          </a:p>
        </p:txBody>
      </p:sp>
      <p:sp>
        <p:nvSpPr>
          <p:cNvPr id="29" name="Rectangle 28">
            <a:extLst>
              <a:ext uri="{FF2B5EF4-FFF2-40B4-BE49-F238E27FC236}">
                <a16:creationId xmlns:a16="http://schemas.microsoft.com/office/drawing/2014/main" id="{4311FB21-792B-4A39-AC8A-F9DDDF6A4346}"/>
              </a:ext>
            </a:extLst>
          </p:cNvPr>
          <p:cNvSpPr/>
          <p:nvPr/>
        </p:nvSpPr>
        <p:spPr>
          <a:xfrm>
            <a:off x="726550" y="5200057"/>
            <a:ext cx="1540042" cy="530640"/>
          </a:xfrm>
          <a:prstGeom prst="rect">
            <a:avLst/>
          </a:prstGeom>
          <a:ln w="10795" cap="flat" cmpd="sng" algn="ctr">
            <a:solidFill>
              <a:srgbClr val="295E7E"/>
            </a:solidFill>
            <a:prstDash val="solid"/>
            <a:round/>
            <a:headEnd type="none" w="med" len="med"/>
            <a:tailEnd type="none" w="med" len="med"/>
          </a:ln>
        </p:spPr>
        <p:style>
          <a:lnRef idx="2">
            <a:schemeClr val="accent2"/>
          </a:lnRef>
          <a:fillRef idx="1">
            <a:schemeClr val="lt1"/>
          </a:fillRef>
          <a:effectRef idx="0">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TW" altLang="en-US" sz="1400" b="1">
                <a:solidFill>
                  <a:srgbClr val="295E7E"/>
                </a:solidFill>
                <a:latin typeface="Trebuchet MS" panose="020B0603020202020204" pitchFamily="34" charset="0"/>
                <a:cs typeface="Arial" panose="020B0604020202020204" pitchFamily="34" charset="0"/>
                <a:sym typeface="Trebuchet MS" panose="020B0603020202020204" pitchFamily="34" charset="0"/>
              </a:rPr>
              <a:t>追蹤</a:t>
            </a:r>
            <a:r>
              <a:rPr kumimoji="0" lang="en-US" sz="1400" b="1" i="0" u="none" strike="noStrike" kern="1200" cap="none" spc="0" normalizeH="0" baseline="0" noProof="0">
                <a:ln>
                  <a:noFill/>
                </a:ln>
                <a:solidFill>
                  <a:srgbClr val="295E7E"/>
                </a:solidFill>
                <a:effectLst/>
                <a:uLnTx/>
                <a:uFillTx/>
                <a:latin typeface="Trebuchet MS" panose="020B0603020202020204" pitchFamily="34" charset="0"/>
                <a:cs typeface="Arial" panose="020B0604020202020204" pitchFamily="34" charset="0"/>
                <a:sym typeface="Trebuchet MS" panose="020B0603020202020204" pitchFamily="34" charset="0"/>
              </a:rPr>
              <a:t>期</a:t>
            </a:r>
          </a:p>
        </p:txBody>
      </p:sp>
      <p:sp>
        <p:nvSpPr>
          <p:cNvPr id="30" name="TextBox 29">
            <a:extLst>
              <a:ext uri="{FF2B5EF4-FFF2-40B4-BE49-F238E27FC236}">
                <a16:creationId xmlns:a16="http://schemas.microsoft.com/office/drawing/2014/main" id="{9AECE43F-B418-4739-B1EA-7F59DE401150}"/>
              </a:ext>
            </a:extLst>
          </p:cNvPr>
          <p:cNvSpPr txBox="1"/>
          <p:nvPr/>
        </p:nvSpPr>
        <p:spPr>
          <a:xfrm>
            <a:off x="2600160" y="5255842"/>
            <a:ext cx="2004207" cy="419070"/>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TW" altLang="en-US" sz="1400" b="0" i="0" u="none" strike="noStrike" kern="1200" cap="none" spc="0" normalizeH="0" baseline="0" noProof="0">
                <a:ln>
                  <a:noFill/>
                </a:ln>
                <a:solidFill>
                  <a:srgbClr val="575757"/>
                </a:solidFill>
                <a:effectLst/>
                <a:uLnTx/>
                <a:uFillTx/>
                <a:latin typeface="Trebuchet MS" panose="020B0603020202020204" pitchFamily="34" charset="0"/>
                <a:cs typeface="Arial" panose="020B0604020202020204" pitchFamily="34" charset="0"/>
                <a:sym typeface="Trebuchet MS" panose="020B0603020202020204" pitchFamily="34" charset="0"/>
              </a:rPr>
              <a:t>發送</a:t>
            </a:r>
            <a:r>
              <a:rPr kumimoji="0" lang="en-US" sz="1400" b="0" i="0" u="none" strike="noStrike" kern="1200" cap="none" spc="0" normalizeH="0" baseline="0" noProof="0">
                <a:ln>
                  <a:noFill/>
                </a:ln>
                <a:solidFill>
                  <a:srgbClr val="575757"/>
                </a:solidFill>
                <a:effectLst/>
                <a:uLnTx/>
                <a:uFillTx/>
                <a:latin typeface="Trebuchet MS" panose="020B0603020202020204" pitchFamily="34" charset="0"/>
                <a:cs typeface="Arial" panose="020B0604020202020204" pitchFamily="34" charset="0"/>
                <a:sym typeface="Trebuchet MS" panose="020B0603020202020204" pitchFamily="34" charset="0"/>
              </a:rPr>
              <a:t>7天</a:t>
            </a:r>
            <a:r>
              <a:rPr kumimoji="0" lang="zh-TW" altLang="en-US" sz="1400" b="0" i="0" u="none" strike="noStrike" kern="1200" cap="none" spc="0" normalizeH="0" baseline="0" noProof="0">
                <a:ln>
                  <a:noFill/>
                </a:ln>
                <a:solidFill>
                  <a:srgbClr val="575757"/>
                </a:solidFill>
                <a:effectLst/>
                <a:uLnTx/>
                <a:uFillTx/>
                <a:latin typeface="Trebuchet MS" panose="020B0603020202020204" pitchFamily="34" charset="0"/>
                <a:cs typeface="Arial" panose="020B0604020202020204" pitchFamily="34" charset="0"/>
                <a:sym typeface="Trebuchet MS" panose="020B0603020202020204" pitchFamily="34" charset="0"/>
              </a:rPr>
              <a:t>內</a:t>
            </a:r>
            <a:endParaRPr kumimoji="0" lang="en-US" sz="1400" b="0" i="0" u="none" strike="noStrike" kern="1200" cap="none" spc="0" normalizeH="0" baseline="0" noProof="0">
              <a:ln>
                <a:noFill/>
              </a:ln>
              <a:solidFill>
                <a:srgbClr val="575757"/>
              </a:solidFill>
              <a:effectLst/>
              <a:uLnTx/>
              <a:uFillTx/>
              <a:latin typeface="Trebuchet MS" panose="020B0603020202020204" pitchFamily="34" charset="0"/>
              <a:cs typeface="Arial" panose="020B0604020202020204" pitchFamily="34" charset="0"/>
              <a:sym typeface="Trebuchet MS" panose="020B0603020202020204" pitchFamily="34" charset="0"/>
            </a:endParaRPr>
          </a:p>
        </p:txBody>
      </p:sp>
      <p:sp>
        <p:nvSpPr>
          <p:cNvPr id="31" name="TextBox 30">
            <a:extLst>
              <a:ext uri="{FF2B5EF4-FFF2-40B4-BE49-F238E27FC236}">
                <a16:creationId xmlns:a16="http://schemas.microsoft.com/office/drawing/2014/main" id="{279141CF-B43F-43DB-8D5B-3736DDF94226}"/>
              </a:ext>
            </a:extLst>
          </p:cNvPr>
          <p:cNvSpPr txBox="1"/>
          <p:nvPr/>
        </p:nvSpPr>
        <p:spPr>
          <a:xfrm>
            <a:off x="4291294" y="5255842"/>
            <a:ext cx="1872439" cy="419070"/>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TW" altLang="en-US" sz="1400" b="0" i="0" u="none" strike="noStrike" kern="1200" cap="none" spc="0" normalizeH="0" baseline="0" noProof="0">
                <a:ln>
                  <a:noFill/>
                </a:ln>
                <a:solidFill>
                  <a:srgbClr val="575757"/>
                </a:solidFill>
                <a:effectLst/>
                <a:uLnTx/>
                <a:uFillTx/>
                <a:latin typeface="Trebuchet MS" panose="020B0603020202020204" pitchFamily="34" charset="0"/>
                <a:cs typeface="Arial" panose="020B0604020202020204" pitchFamily="34" charset="0"/>
                <a:sym typeface="Trebuchet MS" panose="020B0603020202020204" pitchFamily="34" charset="0"/>
              </a:rPr>
              <a:t>發送</a:t>
            </a:r>
            <a:r>
              <a:rPr kumimoji="0" lang="en-US" sz="1400" b="0" i="0" u="none" strike="noStrike" kern="1200" cap="none" spc="0" normalizeH="0" baseline="0" noProof="0" err="1">
                <a:ln>
                  <a:noFill/>
                </a:ln>
                <a:solidFill>
                  <a:srgbClr val="575757"/>
                </a:solidFill>
                <a:effectLst/>
                <a:uLnTx/>
                <a:uFillTx/>
                <a:latin typeface="Trebuchet MS" panose="020B0603020202020204" pitchFamily="34" charset="0"/>
                <a:cs typeface="Arial" panose="020B0604020202020204" pitchFamily="34" charset="0"/>
                <a:sym typeface="Trebuchet MS" panose="020B0603020202020204" pitchFamily="34" charset="0"/>
              </a:rPr>
              <a:t>或優惠</a:t>
            </a:r>
            <a:r>
              <a:rPr kumimoji="0" lang="zh-TW" altLang="en-US" sz="1400" b="0" i="0" u="none" strike="noStrike" kern="1200" cap="none" spc="0" normalizeH="0" baseline="0" noProof="0">
                <a:ln>
                  <a:noFill/>
                </a:ln>
                <a:solidFill>
                  <a:srgbClr val="575757"/>
                </a:solidFill>
                <a:effectLst/>
                <a:uLnTx/>
                <a:uFillTx/>
                <a:latin typeface="Trebuchet MS" panose="020B0603020202020204" pitchFamily="34" charset="0"/>
                <a:cs typeface="Arial" panose="020B0604020202020204" pitchFamily="34" charset="0"/>
                <a:sym typeface="Trebuchet MS" panose="020B0603020202020204" pitchFamily="34" charset="0"/>
              </a:rPr>
              <a:t>到期日後</a:t>
            </a:r>
            <a:r>
              <a:rPr kumimoji="0" lang="en-US" altLang="zh-TW" sz="1400" b="0" i="0" u="none" strike="noStrike" kern="1200" cap="none" spc="0" normalizeH="0" baseline="0" noProof="0">
                <a:ln>
                  <a:noFill/>
                </a:ln>
                <a:solidFill>
                  <a:srgbClr val="575757"/>
                </a:solidFill>
                <a:effectLst/>
                <a:uLnTx/>
                <a:uFillTx/>
                <a:latin typeface="Trebuchet MS" panose="020B0603020202020204" pitchFamily="34" charset="0"/>
                <a:cs typeface="Arial" panose="020B0604020202020204" pitchFamily="34" charset="0"/>
                <a:sym typeface="Trebuchet MS" panose="020B0603020202020204" pitchFamily="34" charset="0"/>
              </a:rPr>
              <a:t>30</a:t>
            </a:r>
            <a:r>
              <a:rPr kumimoji="0" lang="zh-TW" altLang="en-US" sz="1400" b="0" i="0" u="none" strike="noStrike" kern="1200" cap="none" spc="0" normalizeH="0" baseline="0" noProof="0">
                <a:ln>
                  <a:noFill/>
                </a:ln>
                <a:solidFill>
                  <a:srgbClr val="575757"/>
                </a:solidFill>
                <a:effectLst/>
                <a:uLnTx/>
                <a:uFillTx/>
                <a:latin typeface="Trebuchet MS" panose="020B0603020202020204" pitchFamily="34" charset="0"/>
                <a:cs typeface="Arial" panose="020B0604020202020204" pitchFamily="34" charset="0"/>
                <a:sym typeface="Trebuchet MS" panose="020B0603020202020204" pitchFamily="34" charset="0"/>
              </a:rPr>
              <a:t>天內</a:t>
            </a:r>
            <a:endParaRPr kumimoji="0" lang="en-US" sz="1400" b="0" i="0" u="none" strike="noStrike" kern="1200" cap="none" spc="0" normalizeH="0" baseline="0" noProof="0">
              <a:ln>
                <a:noFill/>
              </a:ln>
              <a:solidFill>
                <a:srgbClr val="575757"/>
              </a:solidFill>
              <a:effectLst/>
              <a:uLnTx/>
              <a:uFillTx/>
              <a:latin typeface="Trebuchet MS" panose="020B0603020202020204" pitchFamily="34" charset="0"/>
              <a:cs typeface="Arial" panose="020B0604020202020204" pitchFamily="34" charset="0"/>
              <a:sym typeface="Trebuchet MS" panose="020B0603020202020204" pitchFamily="34" charset="0"/>
            </a:endParaRPr>
          </a:p>
        </p:txBody>
      </p:sp>
      <p:sp>
        <p:nvSpPr>
          <p:cNvPr id="32" name="TextBox 31">
            <a:extLst>
              <a:ext uri="{FF2B5EF4-FFF2-40B4-BE49-F238E27FC236}">
                <a16:creationId xmlns:a16="http://schemas.microsoft.com/office/drawing/2014/main" id="{6CF63A7D-1A35-4A6A-B95D-9897BDCEFA08}"/>
              </a:ext>
            </a:extLst>
          </p:cNvPr>
          <p:cNvSpPr txBox="1"/>
          <p:nvPr/>
        </p:nvSpPr>
        <p:spPr>
          <a:xfrm>
            <a:off x="6462384" y="5255842"/>
            <a:ext cx="2480292" cy="419070"/>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TW" altLang="en-US" sz="1400" b="0" i="0" u="none" strike="noStrike" kern="1200" cap="none" spc="0" normalizeH="0" baseline="0" noProof="0">
                <a:ln>
                  <a:noFill/>
                </a:ln>
                <a:solidFill>
                  <a:srgbClr val="575757"/>
                </a:solidFill>
                <a:effectLst/>
                <a:uLnTx/>
                <a:uFillTx/>
                <a:latin typeface="Trebuchet MS" panose="020B0603020202020204" pitchFamily="34" charset="0"/>
                <a:cs typeface="Arial" panose="020B0604020202020204" pitchFamily="34" charset="0"/>
                <a:sym typeface="Trebuchet MS" panose="020B0603020202020204" pitchFamily="34" charset="0"/>
              </a:rPr>
              <a:t>定期（每半年</a:t>
            </a:r>
            <a:r>
              <a:rPr kumimoji="0" lang="en-US" altLang="zh-TW" sz="1400" b="0" i="0" u="none" strike="noStrike" kern="1200" cap="none" spc="0" normalizeH="0" baseline="0" noProof="0">
                <a:ln>
                  <a:noFill/>
                </a:ln>
                <a:solidFill>
                  <a:srgbClr val="575757"/>
                </a:solidFill>
                <a:effectLst/>
                <a:uLnTx/>
                <a:uFillTx/>
                <a:latin typeface="Trebuchet MS" panose="020B0603020202020204" pitchFamily="34" charset="0"/>
                <a:cs typeface="Arial" panose="020B0604020202020204" pitchFamily="34" charset="0"/>
                <a:sym typeface="Trebuchet MS" panose="020B0603020202020204" pitchFamily="34" charset="0"/>
              </a:rPr>
              <a:t>/</a:t>
            </a:r>
            <a:r>
              <a:rPr kumimoji="0" lang="zh-TW" altLang="en-US" sz="1400" b="0" i="0" u="none" strike="noStrike" kern="1200" cap="none" spc="0" normalizeH="0" baseline="0" noProof="0">
                <a:ln>
                  <a:noFill/>
                </a:ln>
                <a:solidFill>
                  <a:srgbClr val="575757"/>
                </a:solidFill>
                <a:effectLst/>
                <a:uLnTx/>
                <a:uFillTx/>
                <a:latin typeface="Trebuchet MS" panose="020B0603020202020204" pitchFamily="34" charset="0"/>
                <a:cs typeface="Arial" panose="020B0604020202020204" pitchFamily="34" charset="0"/>
                <a:sym typeface="Trebuchet MS" panose="020B0603020202020204" pitchFamily="34" charset="0"/>
              </a:rPr>
              <a:t>每季）</a:t>
            </a:r>
            <a:r>
              <a:rPr lang="zh-TW" altLang="en-US" sz="1400">
                <a:solidFill>
                  <a:srgbClr val="575757"/>
                </a:solidFill>
                <a:latin typeface="Trebuchet MS" panose="020B0603020202020204" pitchFamily="34" charset="0"/>
                <a:cs typeface="Arial" panose="020B0604020202020204" pitchFamily="34" charset="0"/>
                <a:sym typeface="Trebuchet MS" panose="020B0603020202020204" pitchFamily="34" charset="0"/>
              </a:rPr>
              <a:t>追蹤</a:t>
            </a:r>
            <a:endParaRPr kumimoji="0" lang="zh-TW" altLang="en-US" sz="1400" b="0" i="0" u="none" strike="noStrike" kern="1200" cap="none" spc="0" normalizeH="0" baseline="0" noProof="0">
              <a:ln>
                <a:noFill/>
              </a:ln>
              <a:solidFill>
                <a:srgbClr val="575757"/>
              </a:solidFill>
              <a:effectLst/>
              <a:uLnTx/>
              <a:uFillTx/>
              <a:latin typeface="Trebuchet MS" panose="020B0603020202020204" pitchFamily="34" charset="0"/>
              <a:cs typeface="Arial" panose="020B0604020202020204" pitchFamily="34" charset="0"/>
              <a:sym typeface="Trebuchet MS" panose="020B0603020202020204" pitchFamily="34" charset="0"/>
            </a:endParaRPr>
          </a:p>
        </p:txBody>
      </p:sp>
      <p:cxnSp>
        <p:nvCxnSpPr>
          <p:cNvPr id="37" name="Straight Connector 36">
            <a:extLst>
              <a:ext uri="{FF2B5EF4-FFF2-40B4-BE49-F238E27FC236}">
                <a16:creationId xmlns:a16="http://schemas.microsoft.com/office/drawing/2014/main" id="{71F90F79-F966-4CC2-8340-E75C69955082}"/>
              </a:ext>
            </a:extLst>
          </p:cNvPr>
          <p:cNvCxnSpPr>
            <a:cxnSpLocks/>
          </p:cNvCxnSpPr>
          <p:nvPr/>
        </p:nvCxnSpPr>
        <p:spPr>
          <a:xfrm>
            <a:off x="697832" y="3000567"/>
            <a:ext cx="7002378" cy="0"/>
          </a:xfrm>
          <a:prstGeom prst="line">
            <a:avLst/>
          </a:prstGeom>
          <a:ln w="9525" cap="rnd">
            <a:solidFill>
              <a:srgbClr val="6E6F73"/>
            </a:solidFill>
            <a:prstDash val="sysDash"/>
            <a:round/>
            <a:tailEnd type="none"/>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D2392042-3251-47AA-B2CE-D62EABF3C1E6}"/>
              </a:ext>
            </a:extLst>
          </p:cNvPr>
          <p:cNvCxnSpPr/>
          <p:nvPr/>
        </p:nvCxnSpPr>
        <p:spPr>
          <a:xfrm>
            <a:off x="2438400" y="5119489"/>
            <a:ext cx="9113520" cy="0"/>
          </a:xfrm>
          <a:prstGeom prst="line">
            <a:avLst/>
          </a:prstGeom>
          <a:ln w="9525" cap="rnd">
            <a:solidFill>
              <a:srgbClr val="6E6F73"/>
            </a:solidFill>
            <a:prstDash val="sysDash"/>
            <a:round/>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0AAB5771-ACE5-4429-A699-E546D9865BAB}"/>
              </a:ext>
            </a:extLst>
          </p:cNvPr>
          <p:cNvCxnSpPr>
            <a:cxnSpLocks/>
          </p:cNvCxnSpPr>
          <p:nvPr/>
        </p:nvCxnSpPr>
        <p:spPr>
          <a:xfrm>
            <a:off x="751840" y="3678845"/>
            <a:ext cx="10800080" cy="0"/>
          </a:xfrm>
          <a:prstGeom prst="line">
            <a:avLst/>
          </a:prstGeom>
          <a:ln w="9525" cap="rnd">
            <a:solidFill>
              <a:srgbClr val="6E6F73"/>
            </a:solidFill>
            <a:prstDash val="sysDash"/>
            <a:round/>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645C5D59-F5BA-4DC3-8A04-84815C305317}"/>
              </a:ext>
            </a:extLst>
          </p:cNvPr>
          <p:cNvCxnSpPr>
            <a:cxnSpLocks/>
          </p:cNvCxnSpPr>
          <p:nvPr/>
        </p:nvCxnSpPr>
        <p:spPr>
          <a:xfrm>
            <a:off x="751840" y="2146139"/>
            <a:ext cx="6908800" cy="0"/>
          </a:xfrm>
          <a:prstGeom prst="line">
            <a:avLst/>
          </a:prstGeom>
          <a:ln w="9525" cap="rnd">
            <a:solidFill>
              <a:srgbClr val="6E6F73"/>
            </a:solidFill>
            <a:prstDash val="sysDash"/>
            <a:round/>
            <a:tailEnd type="none"/>
          </a:ln>
        </p:spPr>
        <p:style>
          <a:lnRef idx="1">
            <a:schemeClr val="accent1"/>
          </a:lnRef>
          <a:fillRef idx="0">
            <a:schemeClr val="accent1"/>
          </a:fillRef>
          <a:effectRef idx="0">
            <a:schemeClr val="accent1"/>
          </a:effectRef>
          <a:fontRef idx="minor">
            <a:schemeClr val="tx1"/>
          </a:fontRef>
        </p:style>
      </p:cxnSp>
      <p:sp>
        <p:nvSpPr>
          <p:cNvPr id="42" name="TextBox 41">
            <a:extLst>
              <a:ext uri="{FF2B5EF4-FFF2-40B4-BE49-F238E27FC236}">
                <a16:creationId xmlns:a16="http://schemas.microsoft.com/office/drawing/2014/main" id="{A9243FCE-BFF2-49F5-B678-2514D2E49B73}"/>
              </a:ext>
            </a:extLst>
          </p:cNvPr>
          <p:cNvSpPr txBox="1"/>
          <p:nvPr/>
        </p:nvSpPr>
        <p:spPr>
          <a:xfrm>
            <a:off x="726550" y="5867050"/>
            <a:ext cx="10836799" cy="419070"/>
          </a:xfrm>
          <a:prstGeom prst="rect">
            <a:avLst/>
          </a:prstGeom>
          <a:ln w="28575" cap="rnd">
            <a:solidFill>
              <a:srgbClr val="E71C57"/>
            </a:solidFill>
            <a:prstDash val="sysDot"/>
            <a:round/>
          </a:ln>
        </p:spPr>
        <p:style>
          <a:lnRef idx="1">
            <a:schemeClr val="accent1"/>
          </a:lnRef>
          <a:fillRef idx="0">
            <a:schemeClr val="accent1"/>
          </a:fillRef>
          <a:effectRef idx="0">
            <a:schemeClr val="accent1"/>
          </a:effectRef>
          <a:fontRef idx="minor">
            <a:schemeClr val="tx1"/>
          </a:fontRef>
        </p:style>
        <p:txBody>
          <a:bodyPr rtlCol="0" anchor="ctr"/>
          <a:lstStyle>
            <a:defPPr>
              <a:defRPr lang="en-US"/>
            </a:defPPr>
            <a:lvl1pPr algn="ctr">
              <a:defRPr>
                <a:solidFill>
                  <a:srgbClr val="E71C57"/>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r>
              <a:rPr lang="zh-TW" altLang="en-US" sz="1600" b="1" i="1">
                <a:sym typeface="Trebuchet MS" panose="020B0603020202020204" pitchFamily="34" charset="0"/>
              </a:rPr>
              <a:t>建立可規模化的追蹤架構以實現效益衡量及每日</a:t>
            </a:r>
            <a:r>
              <a:rPr lang="en-US" altLang="zh-TW" sz="1600" b="1" i="1">
                <a:sym typeface="Trebuchet MS" panose="020B0603020202020204" pitchFamily="34" charset="0"/>
              </a:rPr>
              <a:t>(</a:t>
            </a:r>
            <a:r>
              <a:rPr lang="zh-TW" altLang="en-US" sz="1600" b="1" i="1">
                <a:sym typeface="Trebuchet MS" panose="020B0603020202020204" pitchFamily="34" charset="0"/>
              </a:rPr>
              <a:t>定期</a:t>
            </a:r>
            <a:r>
              <a:rPr lang="en-US" altLang="zh-TW" sz="1600" b="1" i="1">
                <a:sym typeface="Trebuchet MS" panose="020B0603020202020204" pitchFamily="34" charset="0"/>
              </a:rPr>
              <a:t>)</a:t>
            </a:r>
            <a:r>
              <a:rPr lang="zh-TW" altLang="en-US" sz="1600" b="1" i="1">
                <a:sym typeface="Trebuchet MS" panose="020B0603020202020204" pitchFamily="34" charset="0"/>
              </a:rPr>
              <a:t>績效報告；</a:t>
            </a:r>
            <a:r>
              <a:rPr lang="en-US" sz="1600" b="1" i="1" err="1">
                <a:sym typeface="Trebuchet MS" panose="020B0603020202020204" pitchFamily="34" charset="0"/>
              </a:rPr>
              <a:t>所有</a:t>
            </a:r>
            <a:r>
              <a:rPr lang="zh-TW" altLang="en-US" sz="1600" b="1" i="1">
                <a:sym typeface="Trebuchet MS" panose="020B0603020202020204" pitchFamily="34" charset="0"/>
              </a:rPr>
              <a:t>個性化經營團隊皆得以觀察自動化報表數據</a:t>
            </a:r>
          </a:p>
        </p:txBody>
      </p:sp>
      <p:sp>
        <p:nvSpPr>
          <p:cNvPr id="5" name="Textfeld 1">
            <a:extLst>
              <a:ext uri="{FF2B5EF4-FFF2-40B4-BE49-F238E27FC236}">
                <a16:creationId xmlns:a16="http://schemas.microsoft.com/office/drawing/2014/main" id="{DB48E227-F873-53BB-1124-FFCE68DF74FA}"/>
              </a:ext>
            </a:extLst>
          </p:cNvPr>
          <p:cNvSpPr txBox="1"/>
          <p:nvPr>
            <p:custDataLst>
              <p:tags r:id="rId2"/>
            </p:custDataLst>
          </p:nvPr>
        </p:nvSpPr>
        <p:spPr>
          <a:xfrm>
            <a:off x="-3949641" y="107756"/>
            <a:ext cx="3501772" cy="726353"/>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en-US" sz="1200" b="1">
                <a:solidFill>
                  <a:srgbClr val="575757"/>
                </a:solidFill>
                <a:sym typeface="Trebuchet MS" panose="020B0603020202020204" pitchFamily="34" charset="0"/>
              </a:rPr>
              <a:t>TM 21.Jun.24:
4- </a:t>
            </a:r>
            <a:r>
              <a:rPr lang="zh-TW" altLang="en-US" sz="1200" b="1">
                <a:solidFill>
                  <a:srgbClr val="575757"/>
                </a:solidFill>
                <a:sym typeface="Trebuchet MS" panose="020B0603020202020204" pitchFamily="34" charset="0"/>
              </a:rPr>
              <a:t>追蹤 </a:t>
            </a:r>
            <a:r>
              <a:rPr lang="en-US" altLang="zh-TW" sz="1200" b="1">
                <a:solidFill>
                  <a:srgbClr val="575757"/>
                </a:solidFill>
                <a:sym typeface="Trebuchet MS" panose="020B0603020202020204" pitchFamily="34" charset="0"/>
              </a:rPr>
              <a:t>+</a:t>
            </a:r>
            <a:r>
              <a:rPr lang="zh-TW" altLang="en-US" sz="1200" b="1">
                <a:solidFill>
                  <a:srgbClr val="575757"/>
                </a:solidFill>
                <a:sym typeface="Trebuchet MS" panose="020B0603020202020204" pitchFamily="34" charset="0"/>
              </a:rPr>
              <a:t> 反饋回數據庫</a:t>
            </a:r>
            <a:endParaRPr lang="en-US" altLang="zh-TW" sz="1200" b="1">
              <a:solidFill>
                <a:srgbClr val="575757"/>
              </a:solidFill>
              <a:sym typeface="Trebuchet MS" panose="020B0603020202020204" pitchFamily="34" charset="0"/>
            </a:endParaRPr>
          </a:p>
          <a:p>
            <a:pPr>
              <a:lnSpc>
                <a:spcPct val="90000"/>
              </a:lnSpc>
              <a:spcAft>
                <a:spcPts val="600"/>
              </a:spcAft>
            </a:pPr>
            <a:r>
              <a:rPr lang="en-US" altLang="zh-TW" sz="1200" b="1">
                <a:solidFill>
                  <a:srgbClr val="575757"/>
                </a:solidFill>
                <a:sym typeface="Trebuchet MS" panose="020B0603020202020204" pitchFamily="34" charset="0"/>
              </a:rPr>
              <a:t>(</a:t>
            </a:r>
            <a:r>
              <a:rPr lang="zh-TW" altLang="en-US" sz="1200" b="1">
                <a:solidFill>
                  <a:srgbClr val="575757"/>
                </a:solidFill>
                <a:sym typeface="Trebuchet MS" panose="020B0603020202020204" pitchFamily="34" charset="0"/>
              </a:rPr>
              <a:t>要看一下目前凱銀怎麼做追蹤</a:t>
            </a:r>
            <a:r>
              <a:rPr lang="en-US" altLang="zh-TW" sz="1200" b="1">
                <a:solidFill>
                  <a:srgbClr val="575757"/>
                </a:solidFill>
                <a:sym typeface="Trebuchet MS" panose="020B0603020202020204" pitchFamily="34" charset="0"/>
              </a:rPr>
              <a:t>—</a:t>
            </a:r>
            <a:r>
              <a:rPr lang="zh-TW" altLang="en-US" sz="1200" b="1">
                <a:solidFill>
                  <a:srgbClr val="575757"/>
                </a:solidFill>
                <a:sym typeface="Trebuchet MS" panose="020B0603020202020204" pitchFamily="34" charset="0"/>
              </a:rPr>
              <a:t>拿</a:t>
            </a:r>
            <a:r>
              <a:rPr lang="en-US" altLang="zh-TW" sz="1200" b="1">
                <a:solidFill>
                  <a:srgbClr val="575757"/>
                </a:solidFill>
                <a:sym typeface="Trebuchet MS" panose="020B0603020202020204" pitchFamily="34" charset="0"/>
              </a:rPr>
              <a:t>sample report)</a:t>
            </a:r>
            <a:endParaRPr lang="en-US" sz="1200" b="1">
              <a:solidFill>
                <a:srgbClr val="575757"/>
              </a:solidFill>
              <a:sym typeface="Trebuchet MS" panose="020B0603020202020204" pitchFamily="34" charset="0"/>
            </a:endParaRPr>
          </a:p>
        </p:txBody>
      </p:sp>
      <p:sp>
        <p:nvSpPr>
          <p:cNvPr id="43" name="Title 1">
            <a:extLst>
              <a:ext uri="{FF2B5EF4-FFF2-40B4-BE49-F238E27FC236}">
                <a16:creationId xmlns:a16="http://schemas.microsoft.com/office/drawing/2014/main" id="{A5EA2E8C-E575-9D6F-55F9-9409EE5694EB}"/>
              </a:ext>
            </a:extLst>
          </p:cNvPr>
          <p:cNvSpPr txBox="1">
            <a:spLocks/>
          </p:cNvSpPr>
          <p:nvPr/>
        </p:nvSpPr>
        <p:spPr>
          <a:xfrm>
            <a:off x="630000" y="622801"/>
            <a:ext cx="10933350" cy="664797"/>
          </a:xfrm>
          <a:prstGeom prst="rect">
            <a:avLst/>
          </a:prstGeom>
        </p:spPr>
        <p:txBody>
          <a:bodyPr vert="horz" wrap="square" lIns="0" tIns="0" rIns="0" bIns="0" rtlCol="0" anchor="t">
            <a:sp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sym typeface="Trebuchet MS" panose="020B0603020202020204" pitchFamily="34" charset="0"/>
              </a:defRPr>
            </a:lvl1pPr>
          </a:lstStyle>
          <a:p>
            <a:r>
              <a:rPr lang="zh-TW" altLang="en-US"/>
              <a:t>個性化經營以成效追蹤為核心，透過</a:t>
            </a:r>
            <a:r>
              <a:rPr lang="en-US" altLang="zh-TW"/>
              <a:t>A/B</a:t>
            </a:r>
            <a:r>
              <a:rPr lang="zh-TW" altLang="en-US"/>
              <a:t>測試衡量效益，並定期追蹤不同層級指標，將其結果反饋回預測模型，作為未來改善的重要輸入</a:t>
            </a:r>
            <a:endParaRPr lang="en-US" sz="1600">
              <a:solidFill>
                <a:srgbClr val="575757"/>
              </a:solidFill>
            </a:endParaRPr>
          </a:p>
        </p:txBody>
      </p:sp>
      <p:sp>
        <p:nvSpPr>
          <p:cNvPr id="44" name="ee4pHeader1">
            <a:extLst>
              <a:ext uri="{FF2B5EF4-FFF2-40B4-BE49-F238E27FC236}">
                <a16:creationId xmlns:a16="http://schemas.microsoft.com/office/drawing/2014/main" id="{06DBF6D2-E2C2-9131-BF9A-F7C0F6F76525}"/>
              </a:ext>
            </a:extLst>
          </p:cNvPr>
          <p:cNvSpPr txBox="1"/>
          <p:nvPr/>
        </p:nvSpPr>
        <p:spPr>
          <a:xfrm>
            <a:off x="466919" y="69115"/>
            <a:ext cx="1348981" cy="469263"/>
          </a:xfrm>
          <a:prstGeom prst="rect">
            <a:avLst/>
          </a:prstGeom>
          <a:noFill/>
          <a:ln cap="rnd">
            <a:noFill/>
          </a:ln>
        </p:spPr>
        <p:txBody>
          <a:bodyPr vert="horz" wrap="square" lIns="0" tIns="0" rIns="0" bIns="0" rtlCol="0" anchor="ctr" anchorCtr="0">
            <a:noAutofit/>
          </a:bodyPr>
          <a:lstStyle/>
          <a:p>
            <a:pPr>
              <a:buSzPct val="100000"/>
              <a:buFont typeface="Trebuchet MS" panose="020B0603020202020204" pitchFamily="34" charset="0"/>
              <a:buChar char="​"/>
            </a:pPr>
            <a:r>
              <a:rPr lang="zh-TW" altLang="en-US" sz="1400" b="1">
                <a:solidFill>
                  <a:srgbClr val="29BA74"/>
                </a:solidFill>
                <a:ea typeface="Microsoft YaHei" panose="020B0503020204020204" pitchFamily="34" charset="-122"/>
                <a:sym typeface="+mn-lt"/>
              </a:rPr>
              <a:t>追蹤反饋機制</a:t>
            </a:r>
            <a:endParaRPr lang="en-US" sz="1400" b="1">
              <a:solidFill>
                <a:srgbClr val="29BA74"/>
              </a:solidFill>
              <a:ea typeface="Microsoft YaHei" panose="020B0503020204020204" pitchFamily="34" charset="-122"/>
              <a:sym typeface="+mn-lt"/>
            </a:endParaRPr>
          </a:p>
        </p:txBody>
      </p:sp>
      <p:sp>
        <p:nvSpPr>
          <p:cNvPr id="45" name="Oval 20">
            <a:extLst>
              <a:ext uri="{FF2B5EF4-FFF2-40B4-BE49-F238E27FC236}">
                <a16:creationId xmlns:a16="http://schemas.microsoft.com/office/drawing/2014/main" id="{6EDC0725-0B5D-F52E-84A5-A5657F4CCC5A}"/>
              </a:ext>
            </a:extLst>
          </p:cNvPr>
          <p:cNvSpPr>
            <a:spLocks noChangeAspect="1" noChangeArrowheads="1"/>
          </p:cNvSpPr>
          <p:nvPr/>
        </p:nvSpPr>
        <p:spPr bwMode="auto">
          <a:xfrm>
            <a:off x="141430" y="195189"/>
            <a:ext cx="238259" cy="238259"/>
          </a:xfrm>
          <a:prstGeom prst="ellipse">
            <a:avLst/>
          </a:prstGeom>
          <a:solidFill>
            <a:schemeClr val="tx2"/>
          </a:solidFill>
          <a:ln>
            <a:noFill/>
          </a:ln>
        </p:spPr>
        <p:txBody>
          <a:bodyPr vert="horz" wrap="square" lIns="0" tIns="0" rIns="0" bIns="0" numCol="1" anchor="ctr" anchorCtr="0" compatLnSpc="1">
            <a:prstTxWarp prst="textNoShape">
              <a:avLst/>
            </a:prstTxWarp>
          </a:bodyPr>
          <a:lstStyle/>
          <a:p>
            <a:pPr algn="ctr"/>
            <a:r>
              <a:rPr lang="en-US" altLang="zh-TW" sz="1200">
                <a:solidFill>
                  <a:schemeClr val="bg1"/>
                </a:solidFill>
              </a:rPr>
              <a:t>D</a:t>
            </a:r>
            <a:endParaRPr lang="en-US" sz="1200">
              <a:solidFill>
                <a:schemeClr val="bg1"/>
              </a:solidFill>
            </a:endParaRPr>
          </a:p>
        </p:txBody>
      </p:sp>
      <p:grpSp>
        <p:nvGrpSpPr>
          <p:cNvPr id="46" name="Group 45">
            <a:extLst>
              <a:ext uri="{FF2B5EF4-FFF2-40B4-BE49-F238E27FC236}">
                <a16:creationId xmlns:a16="http://schemas.microsoft.com/office/drawing/2014/main" id="{6C6B1440-ABE5-BBF5-4084-03F980489AA6}"/>
              </a:ext>
            </a:extLst>
          </p:cNvPr>
          <p:cNvGrpSpPr>
            <a:grpSpLocks noChangeAspect="1"/>
          </p:cNvGrpSpPr>
          <p:nvPr/>
        </p:nvGrpSpPr>
        <p:grpSpPr>
          <a:xfrm>
            <a:off x="7663021" y="2305878"/>
            <a:ext cx="306910" cy="306910"/>
            <a:chOff x="982662" y="3463925"/>
            <a:chExt cx="269875" cy="269875"/>
          </a:xfrm>
        </p:grpSpPr>
        <p:sp>
          <p:nvSpPr>
            <p:cNvPr id="47" name="Oval 14">
              <a:extLst>
                <a:ext uri="{FF2B5EF4-FFF2-40B4-BE49-F238E27FC236}">
                  <a16:creationId xmlns:a16="http://schemas.microsoft.com/office/drawing/2014/main" id="{6935D8E7-7EDF-A46A-A46B-44B148A167ED}"/>
                </a:ext>
              </a:extLst>
            </p:cNvPr>
            <p:cNvSpPr>
              <a:spLocks noChangeArrowheads="1"/>
            </p:cNvSpPr>
            <p:nvPr/>
          </p:nvSpPr>
          <p:spPr bwMode="auto">
            <a:xfrm>
              <a:off x="982662" y="3463925"/>
              <a:ext cx="269875" cy="269875"/>
            </a:xfrm>
            <a:prstGeom prst="ellipse">
              <a:avLst/>
            </a:prstGeom>
            <a:solidFill>
              <a:srgbClr val="E71C57"/>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48" name="Freeform 15">
              <a:extLst>
                <a:ext uri="{FF2B5EF4-FFF2-40B4-BE49-F238E27FC236}">
                  <a16:creationId xmlns:a16="http://schemas.microsoft.com/office/drawing/2014/main" id="{B479AA56-D3D8-5B5B-EDC5-EBD739116935}"/>
                </a:ext>
              </a:extLst>
            </p:cNvPr>
            <p:cNvSpPr>
              <a:spLocks noEditPoints="1"/>
            </p:cNvSpPr>
            <p:nvPr/>
          </p:nvSpPr>
          <p:spPr bwMode="auto">
            <a:xfrm>
              <a:off x="1039812" y="3522663"/>
              <a:ext cx="157162" cy="150812"/>
            </a:xfrm>
            <a:custGeom>
              <a:avLst/>
              <a:gdLst>
                <a:gd name="T0" fmla="*/ 704 w 736"/>
                <a:gd name="T1" fmla="*/ 250 h 709"/>
                <a:gd name="T2" fmla="*/ 496 w 736"/>
                <a:gd name="T3" fmla="*/ 218 h 709"/>
                <a:gd name="T4" fmla="*/ 392 w 736"/>
                <a:gd name="T5" fmla="*/ 24 h 709"/>
                <a:gd name="T6" fmla="*/ 336 w 736"/>
                <a:gd name="T7" fmla="*/ 24 h 709"/>
                <a:gd name="T8" fmla="*/ 240 w 736"/>
                <a:gd name="T9" fmla="*/ 218 h 709"/>
                <a:gd name="T10" fmla="*/ 24 w 736"/>
                <a:gd name="T11" fmla="*/ 242 h 709"/>
                <a:gd name="T12" fmla="*/ 0 w 736"/>
                <a:gd name="T13" fmla="*/ 266 h 709"/>
                <a:gd name="T14" fmla="*/ 8 w 736"/>
                <a:gd name="T15" fmla="*/ 290 h 709"/>
                <a:gd name="T16" fmla="*/ 168 w 736"/>
                <a:gd name="T17" fmla="*/ 451 h 709"/>
                <a:gd name="T18" fmla="*/ 128 w 736"/>
                <a:gd name="T19" fmla="*/ 661 h 709"/>
                <a:gd name="T20" fmla="*/ 144 w 736"/>
                <a:gd name="T21" fmla="*/ 693 h 709"/>
                <a:gd name="T22" fmla="*/ 176 w 736"/>
                <a:gd name="T23" fmla="*/ 701 h 709"/>
                <a:gd name="T24" fmla="*/ 360 w 736"/>
                <a:gd name="T25" fmla="*/ 597 h 709"/>
                <a:gd name="T26" fmla="*/ 552 w 736"/>
                <a:gd name="T27" fmla="*/ 709 h 709"/>
                <a:gd name="T28" fmla="*/ 568 w 736"/>
                <a:gd name="T29" fmla="*/ 709 h 709"/>
                <a:gd name="T30" fmla="*/ 584 w 736"/>
                <a:gd name="T31" fmla="*/ 709 h 709"/>
                <a:gd name="T32" fmla="*/ 600 w 736"/>
                <a:gd name="T33" fmla="*/ 677 h 709"/>
                <a:gd name="T34" fmla="*/ 568 w 736"/>
                <a:gd name="T35" fmla="*/ 451 h 709"/>
                <a:gd name="T36" fmla="*/ 720 w 736"/>
                <a:gd name="T37" fmla="*/ 306 h 709"/>
                <a:gd name="T38" fmla="*/ 728 w 736"/>
                <a:gd name="T39" fmla="*/ 274 h 709"/>
                <a:gd name="T40" fmla="*/ 704 w 736"/>
                <a:gd name="T41" fmla="*/ 250 h 709"/>
                <a:gd name="T42" fmla="*/ 512 w 736"/>
                <a:gd name="T43" fmla="*/ 419 h 709"/>
                <a:gd name="T44" fmla="*/ 504 w 736"/>
                <a:gd name="T45" fmla="*/ 443 h 709"/>
                <a:gd name="T46" fmla="*/ 528 w 736"/>
                <a:gd name="T47" fmla="*/ 621 h 709"/>
                <a:gd name="T48" fmla="*/ 384 w 736"/>
                <a:gd name="T49" fmla="*/ 532 h 709"/>
                <a:gd name="T50" fmla="*/ 360 w 736"/>
                <a:gd name="T51" fmla="*/ 532 h 709"/>
                <a:gd name="T52" fmla="*/ 352 w 736"/>
                <a:gd name="T53" fmla="*/ 532 h 709"/>
                <a:gd name="T54" fmla="*/ 208 w 736"/>
                <a:gd name="T55" fmla="*/ 613 h 709"/>
                <a:gd name="T56" fmla="*/ 232 w 736"/>
                <a:gd name="T57" fmla="*/ 443 h 709"/>
                <a:gd name="T58" fmla="*/ 224 w 736"/>
                <a:gd name="T59" fmla="*/ 419 h 709"/>
                <a:gd name="T60" fmla="*/ 104 w 736"/>
                <a:gd name="T61" fmla="*/ 298 h 709"/>
                <a:gd name="T62" fmla="*/ 264 w 736"/>
                <a:gd name="T63" fmla="*/ 282 h 709"/>
                <a:gd name="T64" fmla="*/ 288 w 736"/>
                <a:gd name="T65" fmla="*/ 266 h 709"/>
                <a:gd name="T66" fmla="*/ 360 w 736"/>
                <a:gd name="T67" fmla="*/ 105 h 709"/>
                <a:gd name="T68" fmla="*/ 440 w 736"/>
                <a:gd name="T69" fmla="*/ 266 h 709"/>
                <a:gd name="T70" fmla="*/ 464 w 736"/>
                <a:gd name="T71" fmla="*/ 282 h 709"/>
                <a:gd name="T72" fmla="*/ 632 w 736"/>
                <a:gd name="T73" fmla="*/ 306 h 709"/>
                <a:gd name="T74" fmla="*/ 512 w 736"/>
                <a:gd name="T75" fmla="*/ 419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36" h="709">
                  <a:moveTo>
                    <a:pt x="704" y="250"/>
                  </a:moveTo>
                  <a:cubicBezTo>
                    <a:pt x="704" y="250"/>
                    <a:pt x="704" y="250"/>
                    <a:pt x="496" y="218"/>
                  </a:cubicBezTo>
                  <a:cubicBezTo>
                    <a:pt x="496" y="218"/>
                    <a:pt x="496" y="218"/>
                    <a:pt x="392" y="24"/>
                  </a:cubicBezTo>
                  <a:cubicBezTo>
                    <a:pt x="384" y="0"/>
                    <a:pt x="352" y="0"/>
                    <a:pt x="336" y="24"/>
                  </a:cubicBezTo>
                  <a:cubicBezTo>
                    <a:pt x="336" y="24"/>
                    <a:pt x="336" y="24"/>
                    <a:pt x="240" y="218"/>
                  </a:cubicBezTo>
                  <a:cubicBezTo>
                    <a:pt x="240" y="218"/>
                    <a:pt x="240" y="218"/>
                    <a:pt x="24" y="242"/>
                  </a:cubicBezTo>
                  <a:cubicBezTo>
                    <a:pt x="16" y="242"/>
                    <a:pt x="8" y="250"/>
                    <a:pt x="0" y="266"/>
                  </a:cubicBezTo>
                  <a:cubicBezTo>
                    <a:pt x="0" y="274"/>
                    <a:pt x="0" y="290"/>
                    <a:pt x="8" y="290"/>
                  </a:cubicBezTo>
                  <a:cubicBezTo>
                    <a:pt x="8" y="290"/>
                    <a:pt x="8" y="290"/>
                    <a:pt x="168" y="451"/>
                  </a:cubicBezTo>
                  <a:cubicBezTo>
                    <a:pt x="168" y="451"/>
                    <a:pt x="168" y="451"/>
                    <a:pt x="128" y="661"/>
                  </a:cubicBezTo>
                  <a:cubicBezTo>
                    <a:pt x="128" y="677"/>
                    <a:pt x="136" y="685"/>
                    <a:pt x="144" y="693"/>
                  </a:cubicBezTo>
                  <a:cubicBezTo>
                    <a:pt x="160" y="701"/>
                    <a:pt x="168" y="701"/>
                    <a:pt x="176" y="701"/>
                  </a:cubicBezTo>
                  <a:cubicBezTo>
                    <a:pt x="176" y="701"/>
                    <a:pt x="176" y="701"/>
                    <a:pt x="360" y="597"/>
                  </a:cubicBezTo>
                  <a:cubicBezTo>
                    <a:pt x="360" y="597"/>
                    <a:pt x="360" y="597"/>
                    <a:pt x="552" y="709"/>
                  </a:cubicBezTo>
                  <a:cubicBezTo>
                    <a:pt x="560" y="709"/>
                    <a:pt x="560" y="709"/>
                    <a:pt x="568" y="709"/>
                  </a:cubicBezTo>
                  <a:cubicBezTo>
                    <a:pt x="576" y="709"/>
                    <a:pt x="584" y="709"/>
                    <a:pt x="584" y="709"/>
                  </a:cubicBezTo>
                  <a:cubicBezTo>
                    <a:pt x="600" y="701"/>
                    <a:pt x="600" y="685"/>
                    <a:pt x="600" y="677"/>
                  </a:cubicBezTo>
                  <a:cubicBezTo>
                    <a:pt x="600" y="677"/>
                    <a:pt x="600" y="677"/>
                    <a:pt x="568" y="451"/>
                  </a:cubicBezTo>
                  <a:cubicBezTo>
                    <a:pt x="568" y="451"/>
                    <a:pt x="568" y="451"/>
                    <a:pt x="720" y="306"/>
                  </a:cubicBezTo>
                  <a:cubicBezTo>
                    <a:pt x="728" y="298"/>
                    <a:pt x="736" y="290"/>
                    <a:pt x="728" y="274"/>
                  </a:cubicBezTo>
                  <a:cubicBezTo>
                    <a:pt x="728" y="266"/>
                    <a:pt x="712" y="250"/>
                    <a:pt x="704" y="250"/>
                  </a:cubicBezTo>
                  <a:close/>
                  <a:moveTo>
                    <a:pt x="512" y="419"/>
                  </a:moveTo>
                  <a:cubicBezTo>
                    <a:pt x="504" y="419"/>
                    <a:pt x="504" y="435"/>
                    <a:pt x="504" y="443"/>
                  </a:cubicBezTo>
                  <a:cubicBezTo>
                    <a:pt x="504" y="443"/>
                    <a:pt x="504" y="443"/>
                    <a:pt x="528" y="621"/>
                  </a:cubicBezTo>
                  <a:cubicBezTo>
                    <a:pt x="528" y="621"/>
                    <a:pt x="528" y="621"/>
                    <a:pt x="384" y="532"/>
                  </a:cubicBezTo>
                  <a:cubicBezTo>
                    <a:pt x="376" y="532"/>
                    <a:pt x="376" y="532"/>
                    <a:pt x="360" y="532"/>
                  </a:cubicBezTo>
                  <a:cubicBezTo>
                    <a:pt x="352" y="532"/>
                    <a:pt x="352" y="532"/>
                    <a:pt x="352" y="532"/>
                  </a:cubicBezTo>
                  <a:cubicBezTo>
                    <a:pt x="352" y="532"/>
                    <a:pt x="352" y="532"/>
                    <a:pt x="208" y="613"/>
                  </a:cubicBezTo>
                  <a:cubicBezTo>
                    <a:pt x="208" y="613"/>
                    <a:pt x="208" y="613"/>
                    <a:pt x="232" y="443"/>
                  </a:cubicBezTo>
                  <a:cubicBezTo>
                    <a:pt x="232" y="435"/>
                    <a:pt x="224" y="419"/>
                    <a:pt x="224" y="419"/>
                  </a:cubicBezTo>
                  <a:cubicBezTo>
                    <a:pt x="224" y="419"/>
                    <a:pt x="224" y="419"/>
                    <a:pt x="104" y="298"/>
                  </a:cubicBezTo>
                  <a:cubicBezTo>
                    <a:pt x="104" y="298"/>
                    <a:pt x="104" y="298"/>
                    <a:pt x="264" y="282"/>
                  </a:cubicBezTo>
                  <a:cubicBezTo>
                    <a:pt x="272" y="282"/>
                    <a:pt x="280" y="274"/>
                    <a:pt x="288" y="266"/>
                  </a:cubicBezTo>
                  <a:cubicBezTo>
                    <a:pt x="288" y="266"/>
                    <a:pt x="288" y="266"/>
                    <a:pt x="360" y="105"/>
                  </a:cubicBezTo>
                  <a:cubicBezTo>
                    <a:pt x="360" y="105"/>
                    <a:pt x="360" y="105"/>
                    <a:pt x="440" y="266"/>
                  </a:cubicBezTo>
                  <a:cubicBezTo>
                    <a:pt x="448" y="274"/>
                    <a:pt x="456" y="282"/>
                    <a:pt x="464" y="282"/>
                  </a:cubicBezTo>
                  <a:cubicBezTo>
                    <a:pt x="464" y="282"/>
                    <a:pt x="464" y="282"/>
                    <a:pt x="632" y="306"/>
                  </a:cubicBezTo>
                  <a:cubicBezTo>
                    <a:pt x="632" y="306"/>
                    <a:pt x="632" y="306"/>
                    <a:pt x="512" y="41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grpSp>
      <p:sp>
        <p:nvSpPr>
          <p:cNvPr id="49" name="Right Bracket 48">
            <a:extLst>
              <a:ext uri="{FF2B5EF4-FFF2-40B4-BE49-F238E27FC236}">
                <a16:creationId xmlns:a16="http://schemas.microsoft.com/office/drawing/2014/main" id="{7501025F-0F03-43DB-BA96-47586F8297C5}"/>
              </a:ext>
            </a:extLst>
          </p:cNvPr>
          <p:cNvSpPr/>
          <p:nvPr/>
        </p:nvSpPr>
        <p:spPr>
          <a:xfrm>
            <a:off x="7660640" y="1533265"/>
            <a:ext cx="155836" cy="1857633"/>
          </a:xfrm>
          <a:prstGeom prst="rightBracket">
            <a:avLst/>
          </a:prstGeom>
          <a:ln w="28575" cap="rnd">
            <a:solidFill>
              <a:srgbClr val="E71C57"/>
            </a:solidFill>
            <a:prstDash val="sysDot"/>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solidFill>
                <a:srgbClr val="E71C57"/>
              </a:solidFill>
            </a:endParaRPr>
          </a:p>
        </p:txBody>
      </p:sp>
      <p:sp>
        <p:nvSpPr>
          <p:cNvPr id="50" name="Right Bracket 49">
            <a:extLst>
              <a:ext uri="{FF2B5EF4-FFF2-40B4-BE49-F238E27FC236}">
                <a16:creationId xmlns:a16="http://schemas.microsoft.com/office/drawing/2014/main" id="{BBA35ADF-8347-3789-C645-0C4402E6B05A}"/>
              </a:ext>
            </a:extLst>
          </p:cNvPr>
          <p:cNvSpPr/>
          <p:nvPr/>
        </p:nvSpPr>
        <p:spPr>
          <a:xfrm>
            <a:off x="9042021" y="3792364"/>
            <a:ext cx="45719" cy="1882533"/>
          </a:xfrm>
          <a:prstGeom prst="rightBracket">
            <a:avLst/>
          </a:prstGeom>
          <a:ln w="28575" cap="rnd">
            <a:solidFill>
              <a:srgbClr val="E71C57"/>
            </a:solidFill>
            <a:prstDash val="sysDot"/>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solidFill>
                <a:srgbClr val="E71C57"/>
              </a:solidFill>
            </a:endParaRPr>
          </a:p>
        </p:txBody>
      </p:sp>
      <p:sp>
        <p:nvSpPr>
          <p:cNvPr id="51" name="TextBox 50">
            <a:extLst>
              <a:ext uri="{FF2B5EF4-FFF2-40B4-BE49-F238E27FC236}">
                <a16:creationId xmlns:a16="http://schemas.microsoft.com/office/drawing/2014/main" id="{06746DB0-486B-95DC-1055-6D18E1730AD3}"/>
              </a:ext>
            </a:extLst>
          </p:cNvPr>
          <p:cNvSpPr txBox="1"/>
          <p:nvPr/>
        </p:nvSpPr>
        <p:spPr>
          <a:xfrm>
            <a:off x="9296135" y="4206416"/>
            <a:ext cx="2047390" cy="81699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zh-TW" altLang="en-US" sz="1600" b="1" i="1" u="none" strike="noStrike" kern="1200" cap="none" spc="0" normalizeH="0" baseline="0" noProof="0">
                <a:ln>
                  <a:noFill/>
                </a:ln>
                <a:solidFill>
                  <a:srgbClr val="E71C57"/>
                </a:solidFill>
                <a:effectLst/>
                <a:uLnTx/>
                <a:uFillTx/>
                <a:latin typeface="Trebuchet MS" panose="020B0603020202020204" pitchFamily="34" charset="0"/>
                <a:cs typeface="Arial" panose="020B0604020202020204" pitchFamily="34" charset="0"/>
                <a:sym typeface="Trebuchet MS" panose="020B0603020202020204" pitchFamily="34" charset="0"/>
              </a:rPr>
              <a:t>透過</a:t>
            </a:r>
            <a:r>
              <a:rPr kumimoji="0" lang="en-US" altLang="zh-TW" sz="1600" b="1" i="1" u="none" strike="noStrike" kern="1200" cap="none" spc="0" normalizeH="0" baseline="0" noProof="0">
                <a:ln>
                  <a:noFill/>
                </a:ln>
                <a:solidFill>
                  <a:srgbClr val="E71C57"/>
                </a:solidFill>
                <a:effectLst/>
                <a:uLnTx/>
                <a:uFillTx/>
                <a:latin typeface="Trebuchet MS" panose="020B0603020202020204" pitchFamily="34" charset="0"/>
                <a:cs typeface="Arial" panose="020B0604020202020204" pitchFamily="34" charset="0"/>
                <a:sym typeface="Trebuchet MS" panose="020B0603020202020204" pitchFamily="34" charset="0"/>
              </a:rPr>
              <a:t>3</a:t>
            </a:r>
            <a:r>
              <a:rPr kumimoji="0" lang="zh-TW" altLang="en-US" sz="1600" b="1" i="1" u="none" strike="noStrike" kern="1200" cap="none" spc="0" normalizeH="0" baseline="0" noProof="0">
                <a:ln>
                  <a:noFill/>
                </a:ln>
                <a:solidFill>
                  <a:srgbClr val="E71C57"/>
                </a:solidFill>
                <a:effectLst/>
                <a:uLnTx/>
                <a:uFillTx/>
                <a:latin typeface="Trebuchet MS" panose="020B0603020202020204" pitchFamily="34" charset="0"/>
                <a:cs typeface="Arial" panose="020B0604020202020204" pitchFamily="34" charset="0"/>
                <a:sym typeface="Trebuchet MS" panose="020B0603020202020204" pitchFamily="34" charset="0"/>
              </a:rPr>
              <a:t>個層級的指標追蹤個性化經營成效</a:t>
            </a:r>
            <a:endParaRPr kumimoji="0" lang="en-US" sz="1600" i="1" u="none" strike="noStrike" kern="1200" cap="none" spc="0" normalizeH="0" baseline="0" noProof="0">
              <a:ln>
                <a:noFill/>
              </a:ln>
              <a:solidFill>
                <a:srgbClr val="E71C57"/>
              </a:solidFill>
              <a:effectLst/>
              <a:uLnTx/>
              <a:uFillTx/>
              <a:latin typeface="Trebuchet MS" panose="020B0603020202020204" pitchFamily="34" charset="0"/>
              <a:cs typeface="Arial" panose="020B0604020202020204" pitchFamily="34" charset="0"/>
              <a:sym typeface="Trebuchet MS" panose="020B0603020202020204" pitchFamily="34" charset="0"/>
            </a:endParaRPr>
          </a:p>
        </p:txBody>
      </p:sp>
      <p:grpSp>
        <p:nvGrpSpPr>
          <p:cNvPr id="52" name="Group 51">
            <a:extLst>
              <a:ext uri="{FF2B5EF4-FFF2-40B4-BE49-F238E27FC236}">
                <a16:creationId xmlns:a16="http://schemas.microsoft.com/office/drawing/2014/main" id="{200BB016-C5A2-7BB8-4DF0-52B0822C0F44}"/>
              </a:ext>
            </a:extLst>
          </p:cNvPr>
          <p:cNvGrpSpPr>
            <a:grpSpLocks noChangeAspect="1"/>
          </p:cNvGrpSpPr>
          <p:nvPr/>
        </p:nvGrpSpPr>
        <p:grpSpPr>
          <a:xfrm>
            <a:off x="8910524" y="4446633"/>
            <a:ext cx="306910" cy="306910"/>
            <a:chOff x="982662" y="3463925"/>
            <a:chExt cx="269875" cy="269875"/>
          </a:xfrm>
        </p:grpSpPr>
        <p:sp>
          <p:nvSpPr>
            <p:cNvPr id="53" name="Oval 14">
              <a:extLst>
                <a:ext uri="{FF2B5EF4-FFF2-40B4-BE49-F238E27FC236}">
                  <a16:creationId xmlns:a16="http://schemas.microsoft.com/office/drawing/2014/main" id="{E3D97A9F-6957-3FFB-7CC3-FBC8F18EF79F}"/>
                </a:ext>
              </a:extLst>
            </p:cNvPr>
            <p:cNvSpPr>
              <a:spLocks noChangeArrowheads="1"/>
            </p:cNvSpPr>
            <p:nvPr/>
          </p:nvSpPr>
          <p:spPr bwMode="auto">
            <a:xfrm>
              <a:off x="982662" y="3463925"/>
              <a:ext cx="269875" cy="269875"/>
            </a:xfrm>
            <a:prstGeom prst="ellipse">
              <a:avLst/>
            </a:prstGeom>
            <a:solidFill>
              <a:srgbClr val="E71C57"/>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54" name="Freeform 15">
              <a:extLst>
                <a:ext uri="{FF2B5EF4-FFF2-40B4-BE49-F238E27FC236}">
                  <a16:creationId xmlns:a16="http://schemas.microsoft.com/office/drawing/2014/main" id="{BA015C2B-E342-F53D-0BD0-FEBBF7F0EE21}"/>
                </a:ext>
              </a:extLst>
            </p:cNvPr>
            <p:cNvSpPr>
              <a:spLocks noEditPoints="1"/>
            </p:cNvSpPr>
            <p:nvPr/>
          </p:nvSpPr>
          <p:spPr bwMode="auto">
            <a:xfrm>
              <a:off x="1039812" y="3522663"/>
              <a:ext cx="157162" cy="150812"/>
            </a:xfrm>
            <a:custGeom>
              <a:avLst/>
              <a:gdLst>
                <a:gd name="T0" fmla="*/ 704 w 736"/>
                <a:gd name="T1" fmla="*/ 250 h 709"/>
                <a:gd name="T2" fmla="*/ 496 w 736"/>
                <a:gd name="T3" fmla="*/ 218 h 709"/>
                <a:gd name="T4" fmla="*/ 392 w 736"/>
                <a:gd name="T5" fmla="*/ 24 h 709"/>
                <a:gd name="T6" fmla="*/ 336 w 736"/>
                <a:gd name="T7" fmla="*/ 24 h 709"/>
                <a:gd name="T8" fmla="*/ 240 w 736"/>
                <a:gd name="T9" fmla="*/ 218 h 709"/>
                <a:gd name="T10" fmla="*/ 24 w 736"/>
                <a:gd name="T11" fmla="*/ 242 h 709"/>
                <a:gd name="T12" fmla="*/ 0 w 736"/>
                <a:gd name="T13" fmla="*/ 266 h 709"/>
                <a:gd name="T14" fmla="*/ 8 w 736"/>
                <a:gd name="T15" fmla="*/ 290 h 709"/>
                <a:gd name="T16" fmla="*/ 168 w 736"/>
                <a:gd name="T17" fmla="*/ 451 h 709"/>
                <a:gd name="T18" fmla="*/ 128 w 736"/>
                <a:gd name="T19" fmla="*/ 661 h 709"/>
                <a:gd name="T20" fmla="*/ 144 w 736"/>
                <a:gd name="T21" fmla="*/ 693 h 709"/>
                <a:gd name="T22" fmla="*/ 176 w 736"/>
                <a:gd name="T23" fmla="*/ 701 h 709"/>
                <a:gd name="T24" fmla="*/ 360 w 736"/>
                <a:gd name="T25" fmla="*/ 597 h 709"/>
                <a:gd name="T26" fmla="*/ 552 w 736"/>
                <a:gd name="T27" fmla="*/ 709 h 709"/>
                <a:gd name="T28" fmla="*/ 568 w 736"/>
                <a:gd name="T29" fmla="*/ 709 h 709"/>
                <a:gd name="T30" fmla="*/ 584 w 736"/>
                <a:gd name="T31" fmla="*/ 709 h 709"/>
                <a:gd name="T32" fmla="*/ 600 w 736"/>
                <a:gd name="T33" fmla="*/ 677 h 709"/>
                <a:gd name="T34" fmla="*/ 568 w 736"/>
                <a:gd name="T35" fmla="*/ 451 h 709"/>
                <a:gd name="T36" fmla="*/ 720 w 736"/>
                <a:gd name="T37" fmla="*/ 306 h 709"/>
                <a:gd name="T38" fmla="*/ 728 w 736"/>
                <a:gd name="T39" fmla="*/ 274 h 709"/>
                <a:gd name="T40" fmla="*/ 704 w 736"/>
                <a:gd name="T41" fmla="*/ 250 h 709"/>
                <a:gd name="T42" fmla="*/ 512 w 736"/>
                <a:gd name="T43" fmla="*/ 419 h 709"/>
                <a:gd name="T44" fmla="*/ 504 w 736"/>
                <a:gd name="T45" fmla="*/ 443 h 709"/>
                <a:gd name="T46" fmla="*/ 528 w 736"/>
                <a:gd name="T47" fmla="*/ 621 h 709"/>
                <a:gd name="T48" fmla="*/ 384 w 736"/>
                <a:gd name="T49" fmla="*/ 532 h 709"/>
                <a:gd name="T50" fmla="*/ 360 w 736"/>
                <a:gd name="T51" fmla="*/ 532 h 709"/>
                <a:gd name="T52" fmla="*/ 352 w 736"/>
                <a:gd name="T53" fmla="*/ 532 h 709"/>
                <a:gd name="T54" fmla="*/ 208 w 736"/>
                <a:gd name="T55" fmla="*/ 613 h 709"/>
                <a:gd name="T56" fmla="*/ 232 w 736"/>
                <a:gd name="T57" fmla="*/ 443 h 709"/>
                <a:gd name="T58" fmla="*/ 224 w 736"/>
                <a:gd name="T59" fmla="*/ 419 h 709"/>
                <a:gd name="T60" fmla="*/ 104 w 736"/>
                <a:gd name="T61" fmla="*/ 298 h 709"/>
                <a:gd name="T62" fmla="*/ 264 w 736"/>
                <a:gd name="T63" fmla="*/ 282 h 709"/>
                <a:gd name="T64" fmla="*/ 288 w 736"/>
                <a:gd name="T65" fmla="*/ 266 h 709"/>
                <a:gd name="T66" fmla="*/ 360 w 736"/>
                <a:gd name="T67" fmla="*/ 105 h 709"/>
                <a:gd name="T68" fmla="*/ 440 w 736"/>
                <a:gd name="T69" fmla="*/ 266 h 709"/>
                <a:gd name="T70" fmla="*/ 464 w 736"/>
                <a:gd name="T71" fmla="*/ 282 h 709"/>
                <a:gd name="T72" fmla="*/ 632 w 736"/>
                <a:gd name="T73" fmla="*/ 306 h 709"/>
                <a:gd name="T74" fmla="*/ 512 w 736"/>
                <a:gd name="T75" fmla="*/ 419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36" h="709">
                  <a:moveTo>
                    <a:pt x="704" y="250"/>
                  </a:moveTo>
                  <a:cubicBezTo>
                    <a:pt x="704" y="250"/>
                    <a:pt x="704" y="250"/>
                    <a:pt x="496" y="218"/>
                  </a:cubicBezTo>
                  <a:cubicBezTo>
                    <a:pt x="496" y="218"/>
                    <a:pt x="496" y="218"/>
                    <a:pt x="392" y="24"/>
                  </a:cubicBezTo>
                  <a:cubicBezTo>
                    <a:pt x="384" y="0"/>
                    <a:pt x="352" y="0"/>
                    <a:pt x="336" y="24"/>
                  </a:cubicBezTo>
                  <a:cubicBezTo>
                    <a:pt x="336" y="24"/>
                    <a:pt x="336" y="24"/>
                    <a:pt x="240" y="218"/>
                  </a:cubicBezTo>
                  <a:cubicBezTo>
                    <a:pt x="240" y="218"/>
                    <a:pt x="240" y="218"/>
                    <a:pt x="24" y="242"/>
                  </a:cubicBezTo>
                  <a:cubicBezTo>
                    <a:pt x="16" y="242"/>
                    <a:pt x="8" y="250"/>
                    <a:pt x="0" y="266"/>
                  </a:cubicBezTo>
                  <a:cubicBezTo>
                    <a:pt x="0" y="274"/>
                    <a:pt x="0" y="290"/>
                    <a:pt x="8" y="290"/>
                  </a:cubicBezTo>
                  <a:cubicBezTo>
                    <a:pt x="8" y="290"/>
                    <a:pt x="8" y="290"/>
                    <a:pt x="168" y="451"/>
                  </a:cubicBezTo>
                  <a:cubicBezTo>
                    <a:pt x="168" y="451"/>
                    <a:pt x="168" y="451"/>
                    <a:pt x="128" y="661"/>
                  </a:cubicBezTo>
                  <a:cubicBezTo>
                    <a:pt x="128" y="677"/>
                    <a:pt x="136" y="685"/>
                    <a:pt x="144" y="693"/>
                  </a:cubicBezTo>
                  <a:cubicBezTo>
                    <a:pt x="160" y="701"/>
                    <a:pt x="168" y="701"/>
                    <a:pt x="176" y="701"/>
                  </a:cubicBezTo>
                  <a:cubicBezTo>
                    <a:pt x="176" y="701"/>
                    <a:pt x="176" y="701"/>
                    <a:pt x="360" y="597"/>
                  </a:cubicBezTo>
                  <a:cubicBezTo>
                    <a:pt x="360" y="597"/>
                    <a:pt x="360" y="597"/>
                    <a:pt x="552" y="709"/>
                  </a:cubicBezTo>
                  <a:cubicBezTo>
                    <a:pt x="560" y="709"/>
                    <a:pt x="560" y="709"/>
                    <a:pt x="568" y="709"/>
                  </a:cubicBezTo>
                  <a:cubicBezTo>
                    <a:pt x="576" y="709"/>
                    <a:pt x="584" y="709"/>
                    <a:pt x="584" y="709"/>
                  </a:cubicBezTo>
                  <a:cubicBezTo>
                    <a:pt x="600" y="701"/>
                    <a:pt x="600" y="685"/>
                    <a:pt x="600" y="677"/>
                  </a:cubicBezTo>
                  <a:cubicBezTo>
                    <a:pt x="600" y="677"/>
                    <a:pt x="600" y="677"/>
                    <a:pt x="568" y="451"/>
                  </a:cubicBezTo>
                  <a:cubicBezTo>
                    <a:pt x="568" y="451"/>
                    <a:pt x="568" y="451"/>
                    <a:pt x="720" y="306"/>
                  </a:cubicBezTo>
                  <a:cubicBezTo>
                    <a:pt x="728" y="298"/>
                    <a:pt x="736" y="290"/>
                    <a:pt x="728" y="274"/>
                  </a:cubicBezTo>
                  <a:cubicBezTo>
                    <a:pt x="728" y="266"/>
                    <a:pt x="712" y="250"/>
                    <a:pt x="704" y="250"/>
                  </a:cubicBezTo>
                  <a:close/>
                  <a:moveTo>
                    <a:pt x="512" y="419"/>
                  </a:moveTo>
                  <a:cubicBezTo>
                    <a:pt x="504" y="419"/>
                    <a:pt x="504" y="435"/>
                    <a:pt x="504" y="443"/>
                  </a:cubicBezTo>
                  <a:cubicBezTo>
                    <a:pt x="504" y="443"/>
                    <a:pt x="504" y="443"/>
                    <a:pt x="528" y="621"/>
                  </a:cubicBezTo>
                  <a:cubicBezTo>
                    <a:pt x="528" y="621"/>
                    <a:pt x="528" y="621"/>
                    <a:pt x="384" y="532"/>
                  </a:cubicBezTo>
                  <a:cubicBezTo>
                    <a:pt x="376" y="532"/>
                    <a:pt x="376" y="532"/>
                    <a:pt x="360" y="532"/>
                  </a:cubicBezTo>
                  <a:cubicBezTo>
                    <a:pt x="352" y="532"/>
                    <a:pt x="352" y="532"/>
                    <a:pt x="352" y="532"/>
                  </a:cubicBezTo>
                  <a:cubicBezTo>
                    <a:pt x="352" y="532"/>
                    <a:pt x="352" y="532"/>
                    <a:pt x="208" y="613"/>
                  </a:cubicBezTo>
                  <a:cubicBezTo>
                    <a:pt x="208" y="613"/>
                    <a:pt x="208" y="613"/>
                    <a:pt x="232" y="443"/>
                  </a:cubicBezTo>
                  <a:cubicBezTo>
                    <a:pt x="232" y="435"/>
                    <a:pt x="224" y="419"/>
                    <a:pt x="224" y="419"/>
                  </a:cubicBezTo>
                  <a:cubicBezTo>
                    <a:pt x="224" y="419"/>
                    <a:pt x="224" y="419"/>
                    <a:pt x="104" y="298"/>
                  </a:cubicBezTo>
                  <a:cubicBezTo>
                    <a:pt x="104" y="298"/>
                    <a:pt x="104" y="298"/>
                    <a:pt x="264" y="282"/>
                  </a:cubicBezTo>
                  <a:cubicBezTo>
                    <a:pt x="272" y="282"/>
                    <a:pt x="280" y="274"/>
                    <a:pt x="288" y="266"/>
                  </a:cubicBezTo>
                  <a:cubicBezTo>
                    <a:pt x="288" y="266"/>
                    <a:pt x="288" y="266"/>
                    <a:pt x="360" y="105"/>
                  </a:cubicBezTo>
                  <a:cubicBezTo>
                    <a:pt x="360" y="105"/>
                    <a:pt x="360" y="105"/>
                    <a:pt x="440" y="266"/>
                  </a:cubicBezTo>
                  <a:cubicBezTo>
                    <a:pt x="448" y="274"/>
                    <a:pt x="456" y="282"/>
                    <a:pt x="464" y="282"/>
                  </a:cubicBezTo>
                  <a:cubicBezTo>
                    <a:pt x="464" y="282"/>
                    <a:pt x="464" y="282"/>
                    <a:pt x="632" y="306"/>
                  </a:cubicBezTo>
                  <a:cubicBezTo>
                    <a:pt x="632" y="306"/>
                    <a:pt x="632" y="306"/>
                    <a:pt x="512" y="41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grpSp>
      <p:grpSp>
        <p:nvGrpSpPr>
          <p:cNvPr id="55" name="Group 54">
            <a:extLst>
              <a:ext uri="{FF2B5EF4-FFF2-40B4-BE49-F238E27FC236}">
                <a16:creationId xmlns:a16="http://schemas.microsoft.com/office/drawing/2014/main" id="{45E54BE6-DB9A-588D-6AF7-78AFD973A280}"/>
              </a:ext>
            </a:extLst>
          </p:cNvPr>
          <p:cNvGrpSpPr>
            <a:grpSpLocks noChangeAspect="1"/>
          </p:cNvGrpSpPr>
          <p:nvPr/>
        </p:nvGrpSpPr>
        <p:grpSpPr>
          <a:xfrm>
            <a:off x="726550" y="5922835"/>
            <a:ext cx="306910" cy="306910"/>
            <a:chOff x="982662" y="3463925"/>
            <a:chExt cx="269875" cy="269875"/>
          </a:xfrm>
        </p:grpSpPr>
        <p:sp>
          <p:nvSpPr>
            <p:cNvPr id="56" name="Oval 14">
              <a:extLst>
                <a:ext uri="{FF2B5EF4-FFF2-40B4-BE49-F238E27FC236}">
                  <a16:creationId xmlns:a16="http://schemas.microsoft.com/office/drawing/2014/main" id="{F00BBAC5-B6DC-3573-AC40-79E86F38B991}"/>
                </a:ext>
              </a:extLst>
            </p:cNvPr>
            <p:cNvSpPr>
              <a:spLocks noChangeArrowheads="1"/>
            </p:cNvSpPr>
            <p:nvPr/>
          </p:nvSpPr>
          <p:spPr bwMode="auto">
            <a:xfrm>
              <a:off x="982662" y="3463925"/>
              <a:ext cx="269875" cy="269875"/>
            </a:xfrm>
            <a:prstGeom prst="ellipse">
              <a:avLst/>
            </a:prstGeom>
            <a:solidFill>
              <a:srgbClr val="E71C57"/>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57" name="Freeform 15">
              <a:extLst>
                <a:ext uri="{FF2B5EF4-FFF2-40B4-BE49-F238E27FC236}">
                  <a16:creationId xmlns:a16="http://schemas.microsoft.com/office/drawing/2014/main" id="{C6262BF3-4285-5CC8-0D19-FEB34FBBDBBB}"/>
                </a:ext>
              </a:extLst>
            </p:cNvPr>
            <p:cNvSpPr>
              <a:spLocks noEditPoints="1"/>
            </p:cNvSpPr>
            <p:nvPr/>
          </p:nvSpPr>
          <p:spPr bwMode="auto">
            <a:xfrm>
              <a:off x="1039812" y="3522663"/>
              <a:ext cx="157162" cy="150812"/>
            </a:xfrm>
            <a:custGeom>
              <a:avLst/>
              <a:gdLst>
                <a:gd name="T0" fmla="*/ 704 w 736"/>
                <a:gd name="T1" fmla="*/ 250 h 709"/>
                <a:gd name="T2" fmla="*/ 496 w 736"/>
                <a:gd name="T3" fmla="*/ 218 h 709"/>
                <a:gd name="T4" fmla="*/ 392 w 736"/>
                <a:gd name="T5" fmla="*/ 24 h 709"/>
                <a:gd name="T6" fmla="*/ 336 w 736"/>
                <a:gd name="T7" fmla="*/ 24 h 709"/>
                <a:gd name="T8" fmla="*/ 240 w 736"/>
                <a:gd name="T9" fmla="*/ 218 h 709"/>
                <a:gd name="T10" fmla="*/ 24 w 736"/>
                <a:gd name="T11" fmla="*/ 242 h 709"/>
                <a:gd name="T12" fmla="*/ 0 w 736"/>
                <a:gd name="T13" fmla="*/ 266 h 709"/>
                <a:gd name="T14" fmla="*/ 8 w 736"/>
                <a:gd name="T15" fmla="*/ 290 h 709"/>
                <a:gd name="T16" fmla="*/ 168 w 736"/>
                <a:gd name="T17" fmla="*/ 451 h 709"/>
                <a:gd name="T18" fmla="*/ 128 w 736"/>
                <a:gd name="T19" fmla="*/ 661 h 709"/>
                <a:gd name="T20" fmla="*/ 144 w 736"/>
                <a:gd name="T21" fmla="*/ 693 h 709"/>
                <a:gd name="T22" fmla="*/ 176 w 736"/>
                <a:gd name="T23" fmla="*/ 701 h 709"/>
                <a:gd name="T24" fmla="*/ 360 w 736"/>
                <a:gd name="T25" fmla="*/ 597 h 709"/>
                <a:gd name="T26" fmla="*/ 552 w 736"/>
                <a:gd name="T27" fmla="*/ 709 h 709"/>
                <a:gd name="T28" fmla="*/ 568 w 736"/>
                <a:gd name="T29" fmla="*/ 709 h 709"/>
                <a:gd name="T30" fmla="*/ 584 w 736"/>
                <a:gd name="T31" fmla="*/ 709 h 709"/>
                <a:gd name="T32" fmla="*/ 600 w 736"/>
                <a:gd name="T33" fmla="*/ 677 h 709"/>
                <a:gd name="T34" fmla="*/ 568 w 736"/>
                <a:gd name="T35" fmla="*/ 451 h 709"/>
                <a:gd name="T36" fmla="*/ 720 w 736"/>
                <a:gd name="T37" fmla="*/ 306 h 709"/>
                <a:gd name="T38" fmla="*/ 728 w 736"/>
                <a:gd name="T39" fmla="*/ 274 h 709"/>
                <a:gd name="T40" fmla="*/ 704 w 736"/>
                <a:gd name="T41" fmla="*/ 250 h 709"/>
                <a:gd name="T42" fmla="*/ 512 w 736"/>
                <a:gd name="T43" fmla="*/ 419 h 709"/>
                <a:gd name="T44" fmla="*/ 504 w 736"/>
                <a:gd name="T45" fmla="*/ 443 h 709"/>
                <a:gd name="T46" fmla="*/ 528 w 736"/>
                <a:gd name="T47" fmla="*/ 621 h 709"/>
                <a:gd name="T48" fmla="*/ 384 w 736"/>
                <a:gd name="T49" fmla="*/ 532 h 709"/>
                <a:gd name="T50" fmla="*/ 360 w 736"/>
                <a:gd name="T51" fmla="*/ 532 h 709"/>
                <a:gd name="T52" fmla="*/ 352 w 736"/>
                <a:gd name="T53" fmla="*/ 532 h 709"/>
                <a:gd name="T54" fmla="*/ 208 w 736"/>
                <a:gd name="T55" fmla="*/ 613 h 709"/>
                <a:gd name="T56" fmla="*/ 232 w 736"/>
                <a:gd name="T57" fmla="*/ 443 h 709"/>
                <a:gd name="T58" fmla="*/ 224 w 736"/>
                <a:gd name="T59" fmla="*/ 419 h 709"/>
                <a:gd name="T60" fmla="*/ 104 w 736"/>
                <a:gd name="T61" fmla="*/ 298 h 709"/>
                <a:gd name="T62" fmla="*/ 264 w 736"/>
                <a:gd name="T63" fmla="*/ 282 h 709"/>
                <a:gd name="T64" fmla="*/ 288 w 736"/>
                <a:gd name="T65" fmla="*/ 266 h 709"/>
                <a:gd name="T66" fmla="*/ 360 w 736"/>
                <a:gd name="T67" fmla="*/ 105 h 709"/>
                <a:gd name="T68" fmla="*/ 440 w 736"/>
                <a:gd name="T69" fmla="*/ 266 h 709"/>
                <a:gd name="T70" fmla="*/ 464 w 736"/>
                <a:gd name="T71" fmla="*/ 282 h 709"/>
                <a:gd name="T72" fmla="*/ 632 w 736"/>
                <a:gd name="T73" fmla="*/ 306 h 709"/>
                <a:gd name="T74" fmla="*/ 512 w 736"/>
                <a:gd name="T75" fmla="*/ 419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36" h="709">
                  <a:moveTo>
                    <a:pt x="704" y="250"/>
                  </a:moveTo>
                  <a:cubicBezTo>
                    <a:pt x="704" y="250"/>
                    <a:pt x="704" y="250"/>
                    <a:pt x="496" y="218"/>
                  </a:cubicBezTo>
                  <a:cubicBezTo>
                    <a:pt x="496" y="218"/>
                    <a:pt x="496" y="218"/>
                    <a:pt x="392" y="24"/>
                  </a:cubicBezTo>
                  <a:cubicBezTo>
                    <a:pt x="384" y="0"/>
                    <a:pt x="352" y="0"/>
                    <a:pt x="336" y="24"/>
                  </a:cubicBezTo>
                  <a:cubicBezTo>
                    <a:pt x="336" y="24"/>
                    <a:pt x="336" y="24"/>
                    <a:pt x="240" y="218"/>
                  </a:cubicBezTo>
                  <a:cubicBezTo>
                    <a:pt x="240" y="218"/>
                    <a:pt x="240" y="218"/>
                    <a:pt x="24" y="242"/>
                  </a:cubicBezTo>
                  <a:cubicBezTo>
                    <a:pt x="16" y="242"/>
                    <a:pt x="8" y="250"/>
                    <a:pt x="0" y="266"/>
                  </a:cubicBezTo>
                  <a:cubicBezTo>
                    <a:pt x="0" y="274"/>
                    <a:pt x="0" y="290"/>
                    <a:pt x="8" y="290"/>
                  </a:cubicBezTo>
                  <a:cubicBezTo>
                    <a:pt x="8" y="290"/>
                    <a:pt x="8" y="290"/>
                    <a:pt x="168" y="451"/>
                  </a:cubicBezTo>
                  <a:cubicBezTo>
                    <a:pt x="168" y="451"/>
                    <a:pt x="168" y="451"/>
                    <a:pt x="128" y="661"/>
                  </a:cubicBezTo>
                  <a:cubicBezTo>
                    <a:pt x="128" y="677"/>
                    <a:pt x="136" y="685"/>
                    <a:pt x="144" y="693"/>
                  </a:cubicBezTo>
                  <a:cubicBezTo>
                    <a:pt x="160" y="701"/>
                    <a:pt x="168" y="701"/>
                    <a:pt x="176" y="701"/>
                  </a:cubicBezTo>
                  <a:cubicBezTo>
                    <a:pt x="176" y="701"/>
                    <a:pt x="176" y="701"/>
                    <a:pt x="360" y="597"/>
                  </a:cubicBezTo>
                  <a:cubicBezTo>
                    <a:pt x="360" y="597"/>
                    <a:pt x="360" y="597"/>
                    <a:pt x="552" y="709"/>
                  </a:cubicBezTo>
                  <a:cubicBezTo>
                    <a:pt x="560" y="709"/>
                    <a:pt x="560" y="709"/>
                    <a:pt x="568" y="709"/>
                  </a:cubicBezTo>
                  <a:cubicBezTo>
                    <a:pt x="576" y="709"/>
                    <a:pt x="584" y="709"/>
                    <a:pt x="584" y="709"/>
                  </a:cubicBezTo>
                  <a:cubicBezTo>
                    <a:pt x="600" y="701"/>
                    <a:pt x="600" y="685"/>
                    <a:pt x="600" y="677"/>
                  </a:cubicBezTo>
                  <a:cubicBezTo>
                    <a:pt x="600" y="677"/>
                    <a:pt x="600" y="677"/>
                    <a:pt x="568" y="451"/>
                  </a:cubicBezTo>
                  <a:cubicBezTo>
                    <a:pt x="568" y="451"/>
                    <a:pt x="568" y="451"/>
                    <a:pt x="720" y="306"/>
                  </a:cubicBezTo>
                  <a:cubicBezTo>
                    <a:pt x="728" y="298"/>
                    <a:pt x="736" y="290"/>
                    <a:pt x="728" y="274"/>
                  </a:cubicBezTo>
                  <a:cubicBezTo>
                    <a:pt x="728" y="266"/>
                    <a:pt x="712" y="250"/>
                    <a:pt x="704" y="250"/>
                  </a:cubicBezTo>
                  <a:close/>
                  <a:moveTo>
                    <a:pt x="512" y="419"/>
                  </a:moveTo>
                  <a:cubicBezTo>
                    <a:pt x="504" y="419"/>
                    <a:pt x="504" y="435"/>
                    <a:pt x="504" y="443"/>
                  </a:cubicBezTo>
                  <a:cubicBezTo>
                    <a:pt x="504" y="443"/>
                    <a:pt x="504" y="443"/>
                    <a:pt x="528" y="621"/>
                  </a:cubicBezTo>
                  <a:cubicBezTo>
                    <a:pt x="528" y="621"/>
                    <a:pt x="528" y="621"/>
                    <a:pt x="384" y="532"/>
                  </a:cubicBezTo>
                  <a:cubicBezTo>
                    <a:pt x="376" y="532"/>
                    <a:pt x="376" y="532"/>
                    <a:pt x="360" y="532"/>
                  </a:cubicBezTo>
                  <a:cubicBezTo>
                    <a:pt x="352" y="532"/>
                    <a:pt x="352" y="532"/>
                    <a:pt x="352" y="532"/>
                  </a:cubicBezTo>
                  <a:cubicBezTo>
                    <a:pt x="352" y="532"/>
                    <a:pt x="352" y="532"/>
                    <a:pt x="208" y="613"/>
                  </a:cubicBezTo>
                  <a:cubicBezTo>
                    <a:pt x="208" y="613"/>
                    <a:pt x="208" y="613"/>
                    <a:pt x="232" y="443"/>
                  </a:cubicBezTo>
                  <a:cubicBezTo>
                    <a:pt x="232" y="435"/>
                    <a:pt x="224" y="419"/>
                    <a:pt x="224" y="419"/>
                  </a:cubicBezTo>
                  <a:cubicBezTo>
                    <a:pt x="224" y="419"/>
                    <a:pt x="224" y="419"/>
                    <a:pt x="104" y="298"/>
                  </a:cubicBezTo>
                  <a:cubicBezTo>
                    <a:pt x="104" y="298"/>
                    <a:pt x="104" y="298"/>
                    <a:pt x="264" y="282"/>
                  </a:cubicBezTo>
                  <a:cubicBezTo>
                    <a:pt x="272" y="282"/>
                    <a:pt x="280" y="274"/>
                    <a:pt x="288" y="266"/>
                  </a:cubicBezTo>
                  <a:cubicBezTo>
                    <a:pt x="288" y="266"/>
                    <a:pt x="288" y="266"/>
                    <a:pt x="360" y="105"/>
                  </a:cubicBezTo>
                  <a:cubicBezTo>
                    <a:pt x="360" y="105"/>
                    <a:pt x="360" y="105"/>
                    <a:pt x="440" y="266"/>
                  </a:cubicBezTo>
                  <a:cubicBezTo>
                    <a:pt x="448" y="274"/>
                    <a:pt x="456" y="282"/>
                    <a:pt x="464" y="282"/>
                  </a:cubicBezTo>
                  <a:cubicBezTo>
                    <a:pt x="464" y="282"/>
                    <a:pt x="464" y="282"/>
                    <a:pt x="632" y="306"/>
                  </a:cubicBezTo>
                  <a:cubicBezTo>
                    <a:pt x="632" y="306"/>
                    <a:pt x="632" y="306"/>
                    <a:pt x="512" y="41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grpSp>
      <p:sp>
        <p:nvSpPr>
          <p:cNvPr id="7" name="Textfeld 1">
            <a:extLst>
              <a:ext uri="{FF2B5EF4-FFF2-40B4-BE49-F238E27FC236}">
                <a16:creationId xmlns:a16="http://schemas.microsoft.com/office/drawing/2014/main" id="{9E4B2787-5DB5-F131-8679-41C44537C8B9}"/>
              </a:ext>
            </a:extLst>
          </p:cNvPr>
          <p:cNvSpPr txBox="1"/>
          <p:nvPr>
            <p:custDataLst>
              <p:tags r:id="rId3"/>
            </p:custDataLst>
          </p:nvPr>
        </p:nvSpPr>
        <p:spPr>
          <a:xfrm>
            <a:off x="8969475" y="5328578"/>
            <a:ext cx="2743200" cy="649409"/>
          </a:xfrm>
          <a:prstGeom prst="rect">
            <a:avLst/>
          </a:prstGeom>
          <a:pattFill>
            <a:fgClr>
              <a:srgbClr val="FFFF00"/>
            </a:fgClr>
            <a:bgClr>
              <a:srgbClr val="FFFF00"/>
            </a:bgClr>
          </a:pattFill>
          <a:ln w="9525" cap="rnd">
            <a:solidFill>
              <a:srgbClr val="575757"/>
            </a:solidFill>
            <a:prstDash val="solid"/>
          </a:ln>
          <a:effectLst>
            <a:outerShdw dist="35560" dir="3498616" rotWithShape="0">
              <a:scrgbClr r="0" g="0" b="0"/>
            </a:outerShdw>
          </a:effectLst>
        </p:spPr>
        <p:txBody>
          <a:bodyPr vert="horz" wrap="square" lIns="36576" tIns="36576" rIns="36576" bIns="36576" rtlCol="0" anchor="t">
            <a:spAutoFit/>
          </a:bodyPr>
          <a:lstStyle/>
          <a:p>
            <a:pPr>
              <a:lnSpc>
                <a:spcPct val="90000"/>
              </a:lnSpc>
              <a:spcAft>
                <a:spcPts val="600"/>
              </a:spcAft>
            </a:pPr>
            <a:r>
              <a:rPr lang="en-US" sz="1200" b="1">
                <a:solidFill>
                  <a:srgbClr val="575757"/>
                </a:solidFill>
                <a:sym typeface="Trebuchet MS" panose="020B0603020202020204" pitchFamily="34" charset="0"/>
              </a:rPr>
              <a:t>TM 24.Jun.24:
</a:t>
            </a:r>
            <a:r>
              <a:rPr lang="en-US" altLang="zh-TW" sz="1200" b="1">
                <a:solidFill>
                  <a:srgbClr val="575757"/>
                </a:solidFill>
                <a:sym typeface="Trebuchet MS" panose="020B0603020202020204" pitchFamily="34" charset="0"/>
              </a:rPr>
              <a:t>+</a:t>
            </a:r>
            <a:r>
              <a:rPr lang="zh-TW" altLang="en-US" sz="1200" b="1">
                <a:solidFill>
                  <a:srgbClr val="575757"/>
                </a:solidFill>
                <a:sym typeface="Trebuchet MS" panose="020B0603020202020204" pitchFamily="34" charset="0"/>
              </a:rPr>
              <a:t>並自動反饋回預測模型，做為下一次預測產出的重要輸入</a:t>
            </a:r>
            <a:endParaRPr lang="en-US" sz="1200" b="1">
              <a:solidFill>
                <a:srgbClr val="575757"/>
              </a:solidFill>
              <a:sym typeface="Trebuchet MS" panose="020B0603020202020204" pitchFamily="34" charset="0"/>
            </a:endParaRPr>
          </a:p>
        </p:txBody>
      </p:sp>
      <p:cxnSp>
        <p:nvCxnSpPr>
          <p:cNvPr id="60" name="Straight Connector 59">
            <a:extLst>
              <a:ext uri="{FF2B5EF4-FFF2-40B4-BE49-F238E27FC236}">
                <a16:creationId xmlns:a16="http://schemas.microsoft.com/office/drawing/2014/main" id="{EA22443E-F227-AA9C-EA01-343A586D21C9}"/>
              </a:ext>
            </a:extLst>
          </p:cNvPr>
          <p:cNvCxnSpPr/>
          <p:nvPr/>
        </p:nvCxnSpPr>
        <p:spPr>
          <a:xfrm flipV="1">
            <a:off x="141430" y="195189"/>
            <a:ext cx="11805037" cy="6569678"/>
          </a:xfrm>
          <a:prstGeom prst="line">
            <a:avLst/>
          </a:prstGeom>
          <a:ln w="9525" cap="rnd">
            <a:solidFill>
              <a:schemeClr val="tx1">
                <a:lumMod val="60000"/>
                <a:lumOff val="40000"/>
              </a:schemeClr>
            </a:solidFill>
            <a:prstDash val="solid"/>
            <a:roun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5762075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tags/tag1.xml><?xml version="1.0" encoding="utf-8"?>
<p:tagLst xmlns:a="http://schemas.openxmlformats.org/drawingml/2006/main" xmlns:r="http://schemas.openxmlformats.org/officeDocument/2006/relationships" xmlns:p="http://schemas.openxmlformats.org/presentationml/2006/main">
  <p:tag name="EE4P_STYLE_ID" val="39dcc26a-7131-49f4-a9eb-1c0521500c03"/>
  <p:tag name="EE4P_MASTERWIZARD_DRAFT" val="0"/>
  <p:tag name="EE4P_LANGUAGE_ID" val="1033"/>
  <p:tag name="EE4P_MASTERWIZARD_MARGINS" val="0"/>
  <p:tag name="THINKCELLPRESENTATIONDONOTDELETE" val="&lt;?xml version=&quot;1.0&quot; encoding=&quot;UTF-16&quot; standalone=&quot;yes&quot;?&gt;&lt;root reqver=&quot;28224&quot;&gt;&lt;version val=&quot;35348&quot;/&gt;&lt;CPresentation id=&quot;1&quot;&gt;&lt;m_precDefaultNumber&gt;&lt;m_bNumberIsYear val=&quot;1&quot;/&gt;&lt;m_chMinusSymbol&gt;-&lt;/m_chMinusSymbol&gt;&lt;m_chDecimalSymbol17909&gt;.&lt;/m_chDecimalSymbol17909&gt;&lt;m_nGroupingDigits17909 val=&quot;3&quot;/&gt;&lt;m_chGroupingSymbol17909&gt;,&lt;/m_chGroupingSymbol17909&gt;&lt;m_yearfmt&gt;&lt;begin val=&quot;0&quot;/&gt;&lt;end val=&quot;4&quot;/&gt;&lt;/m_yearfmt&gt;&lt;/m_precDefaultNumber&gt;&lt;m_precDefaultPercent&gt;&lt;m_bNumberIsYear val=&quot;1&quot;/&gt;&lt;m_chMinusSymbol&gt;-&lt;/m_chMinusSymbol&gt;&lt;m_nDecimalDigits17909 val=&quot;1&quot;/&gt;&lt;m_chDecimalSymbol17909&gt;.&lt;/m_chDecimalSymbol17909&gt;&lt;m_nGroupingDigits17909 val=&quot;3&quot;/&gt;&lt;m_chGroupingSymbol17909&gt;,&lt;/m_chGroupingSymbol17909&gt;&lt;m_strSuffix17909&gt;%&lt;/m_strSuffix17909&gt;&lt;m_yearfmt&gt;&lt;begin val=&quot;0&quot;/&gt;&lt;end val=&quot;4&quot;/&gt;&lt;/m_yearfmt&gt;&lt;/m_precDefaultPercent&gt;&lt;m_precDefaultDate&gt;&lt;m_bNumberIsYear val=&quot;0&quot;/&gt;&lt;m_strFormatTime&gt;%#m/%#d/%Y&lt;/m_strFormatTime&gt;&lt;m_yearfmt&gt;&lt;begin val=&quot;0&quot;/&gt;&lt;end val=&quot;0&quot;/&gt;&lt;/m_yearfmt&gt;&lt;/m_precDefaultDate&gt;&lt;m_precDefaultDay&gt;&lt;m_yearfmt&gt;&lt;begin val=&quot;0&quot;/&gt;&lt;end val=&quot;4&quot;/&gt;&lt;/m_yearfmt&gt;&lt;/m_precDefaultDay&gt;&lt;m_precDefaultWeek&gt;&lt;m_yearfmt&gt;&lt;begin val=&quot;0&quot;/&gt;&lt;end val=&quot;4&quot;/&gt;&lt;/m_yearfmt&gt;&lt;/m_precDefaultWeek&gt;&lt;m_precDefaultMonth&gt;&lt;m_yearfmt&gt;&lt;begin val=&quot;0&quot;/&gt;&lt;end val=&quot;4&quot;/&gt;&lt;/m_yearfmt&gt;&lt;/m_precDefaultMonth&gt;&lt;m_precDefaultQuarter&gt;&lt;m_yearfmt&gt;&lt;begin val=&quot;0&quot;/&gt;&lt;end val=&quot;4&quot;/&gt;&lt;/m_yearfmt&gt;&lt;/m_precDefaultQuarter&gt;&lt;m_precDefaultYear&gt;&lt;m_yearfmt&gt;&lt;begin val=&quot;0&quot;/&gt;&lt;end val=&quot;4&quot;/&gt;&lt;/m_yearfmt&gt;&lt;/m_precDefaultYear&gt;&lt;m_precDefaultFYDay&gt;&lt;m_yearfmt&gt;&lt;begin val=&quot;0&quot;/&gt;&lt;end val=&quot;4&quot;/&gt;&lt;/m_yearfmt&gt;&lt;/m_precDefaultFYDay&gt;&lt;m_precDefaultFYWeek&gt;&lt;m_yearfmt&gt;&lt;begin val=&quot;0&quot;/&gt;&lt;end val=&quot;4&quot;/&gt;&lt;/m_yearfmt&gt;&lt;/m_precDefaultFYWeek&gt;&lt;m_precDefaultFYMonth&gt;&lt;m_yearfmt&gt;&lt;begin val=&quot;0&quot;/&gt;&lt;end val=&quot;4&quot;/&gt;&lt;/m_yearfmt&gt;&lt;/m_precDefaultFYMonth&gt;&lt;m_precDefaultFYQuarter&gt;&lt;m_yearfmt&gt;&lt;begin val=&quot;0&quot;/&gt;&lt;end val=&quot;4&quot;/&gt;&lt;/m_yearfmt&gt;&lt;/m_precDefaultFYQuarter&gt;&lt;m_precDefaultFYYear&gt;&lt;m_yearfmt&gt;&lt;begin val=&quot;0&quot;/&gt;&lt;end val=&quot;4&quot;/&gt;&lt;/m_yearfmt&gt;&lt;/m_precDefaultFYYear&gt;&lt;m_mruColor&gt;&lt;m_vecMRU length=&quot;0&quot;/&gt;&lt;/m_mruColor&gt;&lt;m_eweekdayFirstOfWeek val=&quot;1&quot;/&gt;&lt;m_eweekdayFirstOfWorkweek val=&quot;2&quot;/&gt;&lt;m_eweekdayFirstOfWeekend val=&quot;7&quot;/&gt;&lt;/CPresentation&gt;&lt;/root&gt;"/>
  <p:tag name="THINKCELLUNDODONOTDELETE" val="0"/>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tX5AiJlc1SjikgjnNs387ng"/>
</p:tagLst>
</file>

<file path=ppt/tags/tag5.xml><?xml version="1.0" encoding="utf-8"?>
<p:tagLst xmlns:a="http://schemas.openxmlformats.org/drawingml/2006/main" xmlns:r="http://schemas.openxmlformats.org/officeDocument/2006/relationships" xmlns:p="http://schemas.openxmlformats.org/presentationml/2006/main">
  <p:tag name="EE4P_MASTERWIZARD" val="TitleAndEndImages"/>
</p:tagLst>
</file>

<file path=ppt/tags/tag6.xml><?xml version="1.0" encoding="utf-8"?>
<p:tagLst xmlns:a="http://schemas.openxmlformats.org/drawingml/2006/main" xmlns:r="http://schemas.openxmlformats.org/officeDocument/2006/relationships" xmlns:p="http://schemas.openxmlformats.org/presentationml/2006/main">
  <p:tag name="EE4P_MASTERWIZARD" val="TitleAndEndLogos"/>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xml><?xml version="1.0" encoding="utf-8"?>
<p:tagLst xmlns:a="http://schemas.openxmlformats.org/drawingml/2006/main" xmlns:r="http://schemas.openxmlformats.org/officeDocument/2006/relationships" xmlns:p="http://schemas.openxmlformats.org/presentationml/2006/main">
  <p:tag name="EE4P_MASTERWIZARD" val="TitleAndEndImages"/>
</p:tagLst>
</file>

<file path=ppt/tags/tag11.xml><?xml version="1.0" encoding="utf-8"?>
<p:tagLst xmlns:a="http://schemas.openxmlformats.org/drawingml/2006/main" xmlns:r="http://schemas.openxmlformats.org/officeDocument/2006/relationships" xmlns:p="http://schemas.openxmlformats.org/presentationml/2006/main">
  <p:tag name="EE4P_MASTERWIZARD" val="TitleAndEndLogos"/>
</p:tagLst>
</file>

<file path=ppt/tags/tag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xml><?xml version="1.0" encoding="utf-8"?>
<p:tagLst xmlns:a="http://schemas.openxmlformats.org/drawingml/2006/main" xmlns:r="http://schemas.openxmlformats.org/officeDocument/2006/relationships" xmlns:p="http://schemas.openxmlformats.org/presentationml/2006/main">
  <p:tag name="THINKCELLSHAPEDONOTDELETE" val="tk0gDn1l7TlyrFhv1Bb7CDw"/>
</p:tagLst>
</file>

<file path=ppt/tags/tag14.xml><?xml version="1.0" encoding="utf-8"?>
<p:tagLst xmlns:a="http://schemas.openxmlformats.org/drawingml/2006/main" xmlns:r="http://schemas.openxmlformats.org/officeDocument/2006/relationships" xmlns:p="http://schemas.openxmlformats.org/presentationml/2006/main">
  <p:tag name="EE4P_MASTERWIZARD" val="TitleAndEndImages"/>
</p:tagLst>
</file>

<file path=ppt/tags/tag15.xml><?xml version="1.0" encoding="utf-8"?>
<p:tagLst xmlns:a="http://schemas.openxmlformats.org/drawingml/2006/main" xmlns:r="http://schemas.openxmlformats.org/officeDocument/2006/relationships" xmlns:p="http://schemas.openxmlformats.org/presentationml/2006/main">
  <p:tag name="EE4P_MASTERWIZARD" val="TitleAndEndLogos"/>
</p:tagLst>
</file>

<file path=ppt/tags/tag1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9.xml><?xml version="1.0" encoding="utf-8"?>
<p:tagLst xmlns:a="http://schemas.openxmlformats.org/drawingml/2006/main" xmlns:r="http://schemas.openxmlformats.org/officeDocument/2006/relationships" xmlns:p="http://schemas.openxmlformats.org/presentationml/2006/main">
  <p:tag name="EE4P_MASTERWIZARD" val="TitleAndEndImages"/>
</p:tagLst>
</file>

<file path=ppt/tags/tag20.xml><?xml version="1.0" encoding="utf-8"?>
<p:tagLst xmlns:a="http://schemas.openxmlformats.org/drawingml/2006/main" xmlns:r="http://schemas.openxmlformats.org/officeDocument/2006/relationships" xmlns:p="http://schemas.openxmlformats.org/presentationml/2006/main">
  <p:tag name="EE4P_MASTERWIZARD" val="TitleAndEndLogos"/>
</p:tagLst>
</file>

<file path=ppt/tags/tag2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2.xml><?xml version="1.0" encoding="utf-8"?>
<p:tagLst xmlns:a="http://schemas.openxmlformats.org/drawingml/2006/main" xmlns:r="http://schemas.openxmlformats.org/officeDocument/2006/relationships" xmlns:p="http://schemas.openxmlformats.org/presentationml/2006/main">
  <p:tag name="EE4P_AGENDAWIZARD" val="element"/>
  <p:tag name="EE4P_AGENDAWIZARD_CONTENT" val="/DATE"/>
  <p:tag name="EE4P_AGENDAWIZARD_PROPERTIES" val="197.597/369.3848/123.634/115.6044"/>
</p:tagLst>
</file>

<file path=ppt/tags/tag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xml><?xml version="1.0" encoding="utf-8"?>
<p:tagLst xmlns:a="http://schemas.openxmlformats.org/drawingml/2006/main" xmlns:r="http://schemas.openxmlformats.org/officeDocument/2006/relationships" xmlns:p="http://schemas.openxmlformats.org/presentationml/2006/main">
  <p:tag name="EE4P_AGENDAWIZARD" val="element"/>
  <p:tag name="EE4P_AGENDAWIZARD_CONTENT" val="/DATE"/>
  <p:tag name="EE4P_AGENDAWIZARD_PROPERTIES" val="197.597/369.3848/123.634/115.6044"/>
</p:tagLst>
</file>

<file path=ppt/tags/tag2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4.xml><?xml version="1.0" encoding="utf-8"?>
<p:tagLst xmlns:a="http://schemas.openxmlformats.org/drawingml/2006/main" xmlns:r="http://schemas.openxmlformats.org/officeDocument/2006/relationships" xmlns:p="http://schemas.openxmlformats.org/presentationml/2006/main">
  <p:tag name="THINKCELLSHAPEDONOTDELETE" val="txls2xb5GT99Q3SgK0Nk4FA"/>
</p:tagLst>
</file>

<file path=ppt/tags/tag3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8.xml><?xml version="1.0" encoding="utf-8"?>
<p:tagLst xmlns:a="http://schemas.openxmlformats.org/drawingml/2006/main" xmlns:r="http://schemas.openxmlformats.org/officeDocument/2006/relationships" xmlns:p="http://schemas.openxmlformats.org/presentationml/2006/main">
  <p:tag name="THINKCELLSHAPEDONOTDELETE" val="tX5AiJlc1SjikgjnNs387ng"/>
</p:tagLst>
</file>

<file path=ppt/tags/tag39.xml><?xml version="1.0" encoding="utf-8"?>
<p:tagLst xmlns:a="http://schemas.openxmlformats.org/drawingml/2006/main" xmlns:r="http://schemas.openxmlformats.org/officeDocument/2006/relationships" xmlns:p="http://schemas.openxmlformats.org/presentationml/2006/main">
  <p:tag name="EE4P_MASTERWIZARD" val="TitleAndEndImages"/>
</p:tagLst>
</file>

<file path=ppt/tags/tag40.xml><?xml version="1.0" encoding="utf-8"?>
<p:tagLst xmlns:a="http://schemas.openxmlformats.org/drawingml/2006/main" xmlns:r="http://schemas.openxmlformats.org/officeDocument/2006/relationships" xmlns:p="http://schemas.openxmlformats.org/presentationml/2006/main">
  <p:tag name="EE4P_MASTERWIZARD" val="TitleAndEndLogos"/>
</p:tagLst>
</file>

<file path=ppt/tags/tag4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4.xml><?xml version="1.0" encoding="utf-8"?>
<p:tagLst xmlns:a="http://schemas.openxmlformats.org/drawingml/2006/main" xmlns:r="http://schemas.openxmlformats.org/officeDocument/2006/relationships" xmlns:p="http://schemas.openxmlformats.org/presentationml/2006/main">
  <p:tag name="EE4P_MASTERWIZARD" val="TitleAndEndImages"/>
</p:tagLst>
</file>

<file path=ppt/tags/tag45.xml><?xml version="1.0" encoding="utf-8"?>
<p:tagLst xmlns:a="http://schemas.openxmlformats.org/drawingml/2006/main" xmlns:r="http://schemas.openxmlformats.org/officeDocument/2006/relationships" xmlns:p="http://schemas.openxmlformats.org/presentationml/2006/main">
  <p:tag name="EE4P_MASTERWIZARD" val="TitleAndEndLogos"/>
</p:tagLst>
</file>

<file path=ppt/tags/tag4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7.xml><?xml version="1.0" encoding="utf-8"?>
<p:tagLst xmlns:a="http://schemas.openxmlformats.org/drawingml/2006/main" xmlns:r="http://schemas.openxmlformats.org/officeDocument/2006/relationships" xmlns:p="http://schemas.openxmlformats.org/presentationml/2006/main">
  <p:tag name="THINKCELLSHAPEDONOTDELETE" val="tk0gDn1l7TlyrFhv1Bb7CDw"/>
</p:tagLst>
</file>

<file path=ppt/tags/tag48.xml><?xml version="1.0" encoding="utf-8"?>
<p:tagLst xmlns:a="http://schemas.openxmlformats.org/drawingml/2006/main" xmlns:r="http://schemas.openxmlformats.org/officeDocument/2006/relationships" xmlns:p="http://schemas.openxmlformats.org/presentationml/2006/main">
  <p:tag name="EE4P_MASTERWIZARD" val="TitleAndEndImages"/>
</p:tagLst>
</file>

<file path=ppt/tags/tag49.xml><?xml version="1.0" encoding="utf-8"?>
<p:tagLst xmlns:a="http://schemas.openxmlformats.org/drawingml/2006/main" xmlns:r="http://schemas.openxmlformats.org/officeDocument/2006/relationships" xmlns:p="http://schemas.openxmlformats.org/presentationml/2006/main">
  <p:tag name="EE4P_MASTERWIZARD" val="TitleAndEndLogos"/>
</p:tagLst>
</file>

<file path=ppt/tags/tag5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3.xml><?xml version="1.0" encoding="utf-8"?>
<p:tagLst xmlns:a="http://schemas.openxmlformats.org/drawingml/2006/main" xmlns:r="http://schemas.openxmlformats.org/officeDocument/2006/relationships" xmlns:p="http://schemas.openxmlformats.org/presentationml/2006/main">
  <p:tag name="EE4P_MASTERWIZARD" val="TitleAndEndImages"/>
</p:tagLst>
</file>

<file path=ppt/tags/tag54.xml><?xml version="1.0" encoding="utf-8"?>
<p:tagLst xmlns:a="http://schemas.openxmlformats.org/drawingml/2006/main" xmlns:r="http://schemas.openxmlformats.org/officeDocument/2006/relationships" xmlns:p="http://schemas.openxmlformats.org/presentationml/2006/main">
  <p:tag name="EE4P_MASTERWIZARD" val="TitleAndEndLogos"/>
</p:tagLst>
</file>

<file path=ppt/tags/tag5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6.xml><?xml version="1.0" encoding="utf-8"?>
<p:tagLst xmlns:a="http://schemas.openxmlformats.org/drawingml/2006/main" xmlns:r="http://schemas.openxmlformats.org/officeDocument/2006/relationships" xmlns:p="http://schemas.openxmlformats.org/presentationml/2006/main">
  <p:tag name="EE4P_AGENDAWIZARD" val="element"/>
  <p:tag name="EE4P_AGENDAWIZARD_CONTENT" val="/DATE"/>
  <p:tag name="EE4P_AGENDAWIZARD_PROPERTIES" val="197.597/369.3848/123.634/115.6044"/>
</p:tagLst>
</file>

<file path=ppt/tags/tag5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1.xml><?xml version="1.0" encoding="utf-8"?>
<p:tagLst xmlns:a="http://schemas.openxmlformats.org/drawingml/2006/main" xmlns:r="http://schemas.openxmlformats.org/officeDocument/2006/relationships" xmlns:p="http://schemas.openxmlformats.org/presentationml/2006/main">
  <p:tag name="EE4P_AGENDAWIZARD" val="element"/>
  <p:tag name="EE4P_AGENDAWIZARD_CONTENT" val="/DATE"/>
  <p:tag name="EE4P_AGENDAWIZARD_PROPERTIES" val="197.597/369.3848/123.634/115.6044"/>
</p:tagLst>
</file>

<file path=ppt/tags/tag6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8.xml><?xml version="1.0" encoding="utf-8"?>
<p:tagLst xmlns:a="http://schemas.openxmlformats.org/drawingml/2006/main" xmlns:r="http://schemas.openxmlformats.org/officeDocument/2006/relationships" xmlns:p="http://schemas.openxmlformats.org/presentationml/2006/main">
  <p:tag name="THINKCELLSHAPEDONOTDELETE" val="tT8e26Y205rxq5HjacIZBeQ"/>
</p:tagLst>
</file>

<file path=ppt/tags/tag69.xml><?xml version="1.0" encoding="utf-8"?>
<p:tagLst xmlns:a="http://schemas.openxmlformats.org/drawingml/2006/main" xmlns:r="http://schemas.openxmlformats.org/officeDocument/2006/relationships" xmlns:p="http://schemas.openxmlformats.org/presentationml/2006/main">
  <p:tag name="THINKCELLSHAPEDONOTDELETE" val="tqEWwSyZYM29cs8X2Z3JO_w"/>
</p:tagLst>
</file>

<file path=ppt/tags/tag70.xml><?xml version="1.0" encoding="utf-8"?>
<p:tagLst xmlns:a="http://schemas.openxmlformats.org/drawingml/2006/main" xmlns:r="http://schemas.openxmlformats.org/officeDocument/2006/relationships" xmlns:p="http://schemas.openxmlformats.org/presentationml/2006/main">
  <p:tag name="THINKCELLSHAPEDONOTDELETE" val="ttJ9GPWAVlxi0XVGRLaEX6Q"/>
</p:tagLst>
</file>

<file path=ppt/tags/tag71.xml><?xml version="1.0" encoding="utf-8"?>
<p:tagLst xmlns:a="http://schemas.openxmlformats.org/drawingml/2006/main" xmlns:r="http://schemas.openxmlformats.org/officeDocument/2006/relationships" xmlns:p="http://schemas.openxmlformats.org/presentationml/2006/main">
  <p:tag name="THINKCELLSHAPEDONOTDELETE" val="thtpJXBPvMJv.Dp9M69SWmA"/>
</p:tagLst>
</file>

<file path=ppt/tags/tag72.xml><?xml version="1.0" encoding="utf-8"?>
<p:tagLst xmlns:a="http://schemas.openxmlformats.org/drawingml/2006/main" xmlns:r="http://schemas.openxmlformats.org/officeDocument/2006/relationships" xmlns:p="http://schemas.openxmlformats.org/presentationml/2006/main">
  <p:tag name="THINKCELLSHAPEDONOTDELETE" val="tZGhvynB4t8dUbbwKDbHP1A"/>
</p:tagLst>
</file>

<file path=ppt/tags/tag73.xml><?xml version="1.0" encoding="utf-8"?>
<p:tagLst xmlns:a="http://schemas.openxmlformats.org/drawingml/2006/main" xmlns:r="http://schemas.openxmlformats.org/officeDocument/2006/relationships" xmlns:p="http://schemas.openxmlformats.org/presentationml/2006/main">
  <p:tag name="THINKCELLSHAPEDONOTDELETE" val="tixfFM81C2U2zVeQOc0xTbw"/>
</p:tagLst>
</file>

<file path=ppt/tags/tag74.xml><?xml version="1.0" encoding="utf-8"?>
<p:tagLst xmlns:a="http://schemas.openxmlformats.org/drawingml/2006/main" xmlns:r="http://schemas.openxmlformats.org/officeDocument/2006/relationships" xmlns:p="http://schemas.openxmlformats.org/presentationml/2006/main">
  <p:tag name="THINKCELLSHAPEDONOTDELETE" val="tqCqtQHSQZJkVFfeu3j2zyg"/>
</p:tagLst>
</file>

<file path=ppt/tags/tag75.xml><?xml version="1.0" encoding="utf-8"?>
<p:tagLst xmlns:a="http://schemas.openxmlformats.org/drawingml/2006/main" xmlns:r="http://schemas.openxmlformats.org/officeDocument/2006/relationships" xmlns:p="http://schemas.openxmlformats.org/presentationml/2006/main">
  <p:tag name="THINKCELLSHAPEDONOTDELETE" val="tC_4wkLRSFHfFtPZ0oUzBcQ"/>
</p:tagLst>
</file>

<file path=ppt/tags/tag76.xml><?xml version="1.0" encoding="utf-8"?>
<p:tagLst xmlns:a="http://schemas.openxmlformats.org/drawingml/2006/main" xmlns:r="http://schemas.openxmlformats.org/officeDocument/2006/relationships" xmlns:p="http://schemas.openxmlformats.org/presentationml/2006/main">
  <p:tag name="THINKCELLSHAPEDONOTDELETE" val="tm1k0pEGfLDCVWwejuP0cOg"/>
</p:tagLst>
</file>

<file path=ppt/tags/tag77.xml><?xml version="1.0" encoding="utf-8"?>
<p:tagLst xmlns:a="http://schemas.openxmlformats.org/drawingml/2006/main" xmlns:r="http://schemas.openxmlformats.org/officeDocument/2006/relationships" xmlns:p="http://schemas.openxmlformats.org/presentationml/2006/main">
  <p:tag name="THINKCELLSHAPEDONOTDELETE" val="tTSW9kuD7oth9QtRLjBtJ1Q"/>
</p:tagLst>
</file>

<file path=ppt/tags/tag78.xml><?xml version="1.0" encoding="utf-8"?>
<p:tagLst xmlns:a="http://schemas.openxmlformats.org/drawingml/2006/main" xmlns:r="http://schemas.openxmlformats.org/officeDocument/2006/relationships" xmlns:p="http://schemas.openxmlformats.org/presentationml/2006/main">
  <p:tag name="THINKCELLSHAPEDONOTDELETE" val="t30m4SZxHALnOGzluZfrv5g"/>
</p:tagLst>
</file>

<file path=ppt/tags/tag79.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80.xml><?xml version="1.0" encoding="utf-8"?>
<p:tagLst xmlns:a="http://schemas.openxmlformats.org/drawingml/2006/main" xmlns:r="http://schemas.openxmlformats.org/officeDocument/2006/relationships" xmlns:p="http://schemas.openxmlformats.org/presentationml/2006/main">
  <p:tag name="EE4P_HIDDENSHAPES" val="1"/>
</p:tagLst>
</file>

<file path=ppt/tags/tag8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2.xml><?xml version="1.0" encoding="utf-8"?>
<p:tagLst xmlns:a="http://schemas.openxmlformats.org/drawingml/2006/main" xmlns:r="http://schemas.openxmlformats.org/officeDocument/2006/relationships" xmlns:p="http://schemas.openxmlformats.org/presentationml/2006/main">
  <p:tag name="EE4P_HIDDENSHAPE" val="1"/>
</p:tagLst>
</file>

<file path=ppt/tags/tag83.xml><?xml version="1.0" encoding="utf-8"?>
<p:tagLst xmlns:a="http://schemas.openxmlformats.org/drawingml/2006/main" xmlns:r="http://schemas.openxmlformats.org/officeDocument/2006/relationships" xmlns:p="http://schemas.openxmlformats.org/presentationml/2006/main">
  <p:tag name="MH" val="20161027150817"/>
  <p:tag name="MH_LIBRARY" val="GRAPHIC"/>
  <p:tag name="MH_TYPE" val="Other"/>
  <p:tag name="MH_ORDER" val="3"/>
</p:tagLst>
</file>

<file path=ppt/tags/tag84.xml><?xml version="1.0" encoding="utf-8"?>
<p:tagLst xmlns:a="http://schemas.openxmlformats.org/drawingml/2006/main" xmlns:r="http://schemas.openxmlformats.org/officeDocument/2006/relationships" xmlns:p="http://schemas.openxmlformats.org/presentationml/2006/main">
  <p:tag name="MH" val="20161027150817"/>
  <p:tag name="MH_LIBRARY" val="GRAPHIC"/>
  <p:tag name="MH_TYPE" val="Other"/>
  <p:tag name="MH_ORDER" val="3"/>
</p:tagLst>
</file>

<file path=ppt/tags/tag85.xml><?xml version="1.0" encoding="utf-8"?>
<p:tagLst xmlns:a="http://schemas.openxmlformats.org/drawingml/2006/main" xmlns:r="http://schemas.openxmlformats.org/officeDocument/2006/relationships" xmlns:p="http://schemas.openxmlformats.org/presentationml/2006/main">
  <p:tag name="MH" val="20161027150817"/>
  <p:tag name="MH_LIBRARY" val="GRAPHIC"/>
  <p:tag name="MH_TYPE" val="Other"/>
  <p:tag name="MH_ORDER" val="3"/>
</p:tagLst>
</file>

<file path=ppt/tags/tag86.xml><?xml version="1.0" encoding="utf-8"?>
<p:tagLst xmlns:a="http://schemas.openxmlformats.org/drawingml/2006/main" xmlns:r="http://schemas.openxmlformats.org/officeDocument/2006/relationships" xmlns:p="http://schemas.openxmlformats.org/presentationml/2006/main">
  <p:tag name="MH" val="20161027150817"/>
  <p:tag name="MH_LIBRARY" val="GRAPHIC"/>
  <p:tag name="MH_TYPE" val="Other"/>
  <p:tag name="MH_ORDER" val="3"/>
</p:tagLst>
</file>

<file path=ppt/tags/tag8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8.xml><?xml version="1.0" encoding="utf-8"?>
<p:tagLst xmlns:a="http://schemas.openxmlformats.org/drawingml/2006/main" xmlns:r="http://schemas.openxmlformats.org/officeDocument/2006/relationships" xmlns:p="http://schemas.openxmlformats.org/presentationml/2006/main">
  <p:tag name="THINKCELLSHAPEDONOTDELETE" val="t4RGjgtUESheJieGFcsjDRQ"/>
</p:tagLst>
</file>

<file path=ppt/tags/tag8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0.xml><?xml version="1.0" encoding="utf-8"?>
<p:tagLst xmlns:a="http://schemas.openxmlformats.org/drawingml/2006/main" xmlns:r="http://schemas.openxmlformats.org/officeDocument/2006/relationships" xmlns:p="http://schemas.openxmlformats.org/presentationml/2006/main">
  <p:tag name="THINKCELLSHAPEDONOTDELETE" val="tS5R6osBMfr1t5gB1UKWPMQ"/>
</p:tagLst>
</file>

<file path=ppt/tags/tag9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3.xml><?xml version="1.0" encoding="utf-8"?>
<p:tagLst xmlns:a="http://schemas.openxmlformats.org/drawingml/2006/main" xmlns:r="http://schemas.openxmlformats.org/officeDocument/2006/relationships" xmlns:p="http://schemas.openxmlformats.org/presentationml/2006/main">
  <p:tag name="THINKCELLSHAPEDONOTDELETE" val="teriGiSE..5973OdJQ_d6bg"/>
</p:tagLst>
</file>

<file path=ppt/tags/tag94.xml><?xml version="1.0" encoding="utf-8"?>
<p:tagLst xmlns:a="http://schemas.openxmlformats.org/drawingml/2006/main" xmlns:r="http://schemas.openxmlformats.org/officeDocument/2006/relationships" xmlns:p="http://schemas.openxmlformats.org/presentationml/2006/main">
  <p:tag name="EE4P_SMART_ELEMENT" val="HarveyBall"/>
  <p:tag name="EE4P_STYLE_ID" val="39dcc26a-7131-49f4-a9eb-1c0521500c03"/>
  <p:tag name="EE4P_STYLE_NAME" val="BCG Grid 16:9"/>
  <p:tag name="EE4P_SMART_ELEMENT_XML" val="&lt;smartelement id=&quot;HarveyBall&quot; custom=&quot;1&quot;&gt;&lt;position width=&quot;21.25&quot; height=&quot;21.25&quot; alignment=&quot;1&quot; /&gt;&lt;elements&gt;&lt;element name=&quot;background&quot;&gt;&lt;fill visible=&quot;1&quot; foreColor=&quot;#c8c8c8&quot; /&gt;&lt;line visible=&quot;0&quot; /&gt;&lt;reflection visible=&quot;0&quot; /&gt;&lt;shadow visible=&quot;0&quot; /&gt;&lt;/element&gt;&lt;element name=&quot;arc&quot;&gt;&lt;fill visible=&quot;1&quot; foreColor=&quot;&quot; /&gt;&lt;line visible=&quot;0&quot; /&gt;&lt;reflection visible=&quot;0&quot; /&gt;&lt;shadow visible=&quot;0&quot; /&gt;&lt;/element&gt;&lt;element name=&quot;circle&quot;&gt;&lt;fill visible=&quot;0&quot; /&gt;&lt;line visible=&quot;0&quot; /&gt;&lt;reflection visible=&quot;0&quot; /&gt;&lt;shadow visible=&quot;0&quot; /&gt;&lt;/element&gt;&lt;/elements&gt;&lt;colors&gt;&lt;color rgb=&quot;#29ba74&quot; name=&quot;Green&quot; default=&quot;1&quot; /&gt;&lt;color rgb=&quot;#6e6f73&quot; name=&quot;Gray&quot; /&gt;&lt;color rgb=&quot;#e71c57&quot; name=&quot;Magenta&quot; /&gt;&lt;color rgb=&quot;#30c1d7&quot; name=&quot;Bright Blue&quot; /&gt;&lt;/colors&gt;&lt;/smartelement&gt;"/>
</p:tagLst>
</file>

<file path=ppt/tags/tag95.xml><?xml version="1.0" encoding="utf-8"?>
<p:tagLst xmlns:a="http://schemas.openxmlformats.org/drawingml/2006/main" xmlns:r="http://schemas.openxmlformats.org/officeDocument/2006/relationships" xmlns:p="http://schemas.openxmlformats.org/presentationml/2006/main">
  <p:tag name="EE4P_SMART_ELEMENT" val="HarveyBall"/>
  <p:tag name="EE4P_STYLE_ID" val="39dcc26a-7131-49f4-a9eb-1c0521500c03"/>
  <p:tag name="EE4P_STYLE_NAME" val="BCG Grid 16:9"/>
  <p:tag name="EE4P_SMART_ELEMENT_XML" val="&lt;smartelement id=&quot;HarveyBall&quot; custom=&quot;1&quot;&gt;&lt;position width=&quot;21.25&quot; height=&quot;21.25&quot; alignment=&quot;1&quot; /&gt;&lt;elements&gt;&lt;element name=&quot;background&quot;&gt;&lt;fill visible=&quot;1&quot; foreColor=&quot;#c8c8c8&quot; /&gt;&lt;line visible=&quot;0&quot; /&gt;&lt;reflection visible=&quot;0&quot; /&gt;&lt;shadow visible=&quot;0&quot; /&gt;&lt;/element&gt;&lt;element name=&quot;arc&quot;&gt;&lt;fill visible=&quot;1&quot; foreColor=&quot;&quot; /&gt;&lt;line visible=&quot;0&quot; /&gt;&lt;reflection visible=&quot;0&quot; /&gt;&lt;shadow visible=&quot;0&quot; /&gt;&lt;/element&gt;&lt;element name=&quot;circle&quot;&gt;&lt;fill visible=&quot;0&quot; /&gt;&lt;line visible=&quot;0&quot; /&gt;&lt;reflection visible=&quot;0&quot; /&gt;&lt;shadow visible=&quot;0&quot; /&gt;&lt;/element&gt;&lt;/elements&gt;&lt;colors&gt;&lt;color rgb=&quot;#29ba74&quot; name=&quot;Green&quot; default=&quot;1&quot; /&gt;&lt;color rgb=&quot;#6e6f73&quot; name=&quot;Gray&quot; /&gt;&lt;color rgb=&quot;#e71c57&quot; name=&quot;Magenta&quot; /&gt;&lt;color rgb=&quot;#30c1d7&quot; name=&quot;Bright Blue&quot; /&gt;&lt;/colors&gt;&lt;/smartelement&gt;"/>
</p:tagLst>
</file>

<file path=ppt/tags/tag96.xml><?xml version="1.0" encoding="utf-8"?>
<p:tagLst xmlns:a="http://schemas.openxmlformats.org/drawingml/2006/main" xmlns:r="http://schemas.openxmlformats.org/officeDocument/2006/relationships" xmlns:p="http://schemas.openxmlformats.org/presentationml/2006/main">
  <p:tag name="EE4P_SMART_ELEMENT" val="HarveyBall"/>
  <p:tag name="EE4P_STYLE_ID" val="39dcc26a-7131-49f4-a9eb-1c0521500c03"/>
  <p:tag name="EE4P_STYLE_NAME" val="BCG Grid 16:9"/>
  <p:tag name="EE4P_SMART_ELEMENT_XML" val="&lt;smartelement id=&quot;HarveyBall&quot; custom=&quot;1&quot;&gt;&lt;position width=&quot;21.25&quot; height=&quot;21.25&quot; alignment=&quot;1&quot; /&gt;&lt;elements&gt;&lt;element name=&quot;background&quot;&gt;&lt;fill visible=&quot;1&quot; foreColor=&quot;#c8c8c8&quot; /&gt;&lt;line visible=&quot;0&quot; /&gt;&lt;reflection visible=&quot;0&quot; /&gt;&lt;shadow visible=&quot;0&quot; /&gt;&lt;/element&gt;&lt;element name=&quot;arc&quot;&gt;&lt;fill visible=&quot;1&quot; foreColor=&quot;&quot; /&gt;&lt;line visible=&quot;0&quot; /&gt;&lt;reflection visible=&quot;0&quot; /&gt;&lt;shadow visible=&quot;0&quot; /&gt;&lt;/element&gt;&lt;element name=&quot;circle&quot;&gt;&lt;fill visible=&quot;0&quot; /&gt;&lt;line visible=&quot;0&quot; /&gt;&lt;reflection visible=&quot;0&quot; /&gt;&lt;shadow visible=&quot;0&quot; /&gt;&lt;/element&gt;&lt;/elements&gt;&lt;colors&gt;&lt;color rgb=&quot;#29ba74&quot; name=&quot;Green&quot; default=&quot;1&quot; /&gt;&lt;color rgb=&quot;#6e6f73&quot; name=&quot;Gray&quot; /&gt;&lt;color rgb=&quot;#e71c57&quot; name=&quot;Magenta&quot; /&gt;&lt;color rgb=&quot;#30c1d7&quot; name=&quot;Bright Blue&quot; /&gt;&lt;/colors&gt;&lt;/smartelement&gt;"/>
</p:tagLst>
</file>

<file path=ppt/tags/tag97.xml><?xml version="1.0" encoding="utf-8"?>
<p:tagLst xmlns:a="http://schemas.openxmlformats.org/drawingml/2006/main" xmlns:r="http://schemas.openxmlformats.org/officeDocument/2006/relationships" xmlns:p="http://schemas.openxmlformats.org/presentationml/2006/main">
  <p:tag name="EE4P_SMART_ELEMENT" val="HarveyBall"/>
  <p:tag name="EE4P_STYLE_ID" val="39dcc26a-7131-49f4-a9eb-1c0521500c03"/>
  <p:tag name="EE4P_STYLE_NAME" val="BCG Grid 16:9"/>
  <p:tag name="EE4P_SMART_ELEMENT_XML" val="&lt;smartelement id=&quot;HarveyBall&quot; custom=&quot;1&quot;&gt;&lt;position width=&quot;21.25&quot; height=&quot;21.25&quot; alignment=&quot;1&quot; /&gt;&lt;elements&gt;&lt;element name=&quot;background&quot;&gt;&lt;fill visible=&quot;1&quot; foreColor=&quot;#c8c8c8&quot; /&gt;&lt;line visible=&quot;0&quot; /&gt;&lt;reflection visible=&quot;0&quot; /&gt;&lt;shadow visible=&quot;0&quot; /&gt;&lt;/element&gt;&lt;element name=&quot;arc&quot;&gt;&lt;fill visible=&quot;1&quot; foreColor=&quot;&quot; /&gt;&lt;line visible=&quot;0&quot; /&gt;&lt;reflection visible=&quot;0&quot; /&gt;&lt;shadow visible=&quot;0&quot; /&gt;&lt;/element&gt;&lt;element name=&quot;circle&quot;&gt;&lt;fill visible=&quot;0&quot; /&gt;&lt;line visible=&quot;0&quot; /&gt;&lt;reflection visible=&quot;0&quot; /&gt;&lt;shadow visible=&quot;0&quot; /&gt;&lt;/element&gt;&lt;/elements&gt;&lt;colors&gt;&lt;color rgb=&quot;#29ba74&quot; name=&quot;Green&quot; default=&quot;1&quot; /&gt;&lt;color rgb=&quot;#6e6f73&quot; name=&quot;Gray&quot; /&gt;&lt;color rgb=&quot;#e71c57&quot; name=&quot;Magenta&quot; /&gt;&lt;color rgb=&quot;#30c1d7&quot; name=&quot;Bright Blue&quot; /&gt;&lt;/colors&gt;&lt;/smartelement&gt;"/>
</p:tagLst>
</file>

<file path=ppt/tags/tag98.xml><?xml version="1.0" encoding="utf-8"?>
<p:tagLst xmlns:a="http://schemas.openxmlformats.org/drawingml/2006/main" xmlns:r="http://schemas.openxmlformats.org/officeDocument/2006/relationships" xmlns:p="http://schemas.openxmlformats.org/presentationml/2006/main">
  <p:tag name="EE4P_SMART_ELEMENT" val="HarveyBall"/>
  <p:tag name="EE4P_STYLE_ID" val="39dcc26a-7131-49f4-a9eb-1c0521500c03"/>
  <p:tag name="EE4P_STYLE_NAME" val="BCG Grid 16:9"/>
  <p:tag name="EE4P_SMART_ELEMENT_XML" val="&lt;smartelement id=&quot;HarveyBall&quot; custom=&quot;1&quot;&gt;&lt;position width=&quot;21.25&quot; height=&quot;21.25&quot; alignment=&quot;1&quot; /&gt;&lt;elements&gt;&lt;element name=&quot;background&quot;&gt;&lt;fill visible=&quot;1&quot; foreColor=&quot;#c8c8c8&quot; /&gt;&lt;line visible=&quot;0&quot; /&gt;&lt;reflection visible=&quot;0&quot; /&gt;&lt;shadow visible=&quot;0&quot; /&gt;&lt;/element&gt;&lt;element name=&quot;arc&quot;&gt;&lt;fill visible=&quot;1&quot; foreColor=&quot;&quot; /&gt;&lt;line visible=&quot;0&quot; /&gt;&lt;reflection visible=&quot;0&quot; /&gt;&lt;shadow visible=&quot;0&quot; /&gt;&lt;/element&gt;&lt;element name=&quot;circle&quot;&gt;&lt;fill visible=&quot;0&quot; /&gt;&lt;line visible=&quot;0&quot; /&gt;&lt;reflection visible=&quot;0&quot; /&gt;&lt;shadow visible=&quot;0&quot; /&gt;&lt;/element&gt;&lt;/elements&gt;&lt;colors&gt;&lt;color rgb=&quot;#29ba74&quot; name=&quot;Green&quot; default=&quot;1&quot; /&gt;&lt;color rgb=&quot;#6e6f73&quot; name=&quot;Gray&quot; /&gt;&lt;color rgb=&quot;#e71c57&quot; name=&quot;Magenta&quot; /&gt;&lt;color rgb=&quot;#30c1d7&quot; name=&quot;Bright Blue&quot; /&gt;&lt;/colors&gt;&lt;/smartelement&gt;"/>
</p:tagLst>
</file>

<file path=ppt/tags/tag99.xml><?xml version="1.0" encoding="utf-8"?>
<p:tagLst xmlns:a="http://schemas.openxmlformats.org/drawingml/2006/main" xmlns:r="http://schemas.openxmlformats.org/officeDocument/2006/relationships" xmlns:p="http://schemas.openxmlformats.org/presentationml/2006/main">
  <p:tag name="EE4P_STYLE_ID" val="39dcc26a-7131-49f4-a9eb-1c0521500c03"/>
  <p:tag name="EE4P_STYLE_NAME" val="BCG Grid 16:9"/>
  <p:tag name="EE4P_SMART_ELEMENT" val="HarveyBall"/>
  <p:tag name="EE4P_SMART_ELEMENT_XML" val="&lt;smartelement id=&quot;HarveyBall&quot; custom=&quot;1&quot;&gt;&lt;position width=&quot;21.25&quot; height=&quot;21.25&quot; alignment=&quot;1&quot; /&gt;&lt;elements&gt;&lt;element name=&quot;background&quot;&gt;&lt;fill visible=&quot;1&quot; foreColor=&quot;#c8c8c8&quot; /&gt;&lt;line visible=&quot;0&quot; /&gt;&lt;reflection visible=&quot;0&quot; /&gt;&lt;shadow visible=&quot;0&quot; /&gt;&lt;/element&gt;&lt;element name=&quot;arc&quot;&gt;&lt;fill visible=&quot;1&quot; foreColor=&quot;&quot; /&gt;&lt;line visible=&quot;0&quot; /&gt;&lt;reflection visible=&quot;0&quot; /&gt;&lt;shadow visible=&quot;0&quot; /&gt;&lt;/element&gt;&lt;element name=&quot;circle&quot;&gt;&lt;fill visible=&quot;0&quot; /&gt;&lt;line visible=&quot;0&quot; /&gt;&lt;reflection visible=&quot;0&quot; /&gt;&lt;shadow visible=&quot;0&quot; /&gt;&lt;/element&gt;&lt;/elements&gt;&lt;colors&gt;&lt;color rgb=&quot;#29ba74&quot; name=&quot;Green&quot; default=&quot;1&quot; /&gt;&lt;color rgb=&quot;#6e6f73&quot; name=&quot;Gray&quot; /&gt;&lt;color rgb=&quot;#e71c57&quot; name=&quot;Magenta&quot; /&gt;&lt;color rgb=&quot;#30c1d7&quot; name=&quot;Bright Blue&quot; /&gt;&lt;/colors&gt;&lt;/smartelement&gt;"/>
</p:tagLst>
</file>

<file path=ppt/tags/tag100.xml><?xml version="1.0" encoding="utf-8"?>
<p:tagLst xmlns:a="http://schemas.openxmlformats.org/drawingml/2006/main" xmlns:r="http://schemas.openxmlformats.org/officeDocument/2006/relationships" xmlns:p="http://schemas.openxmlformats.org/presentationml/2006/main">
  <p:tag name="EE4P_STYLE_ID" val="4dzODeyK"/>
  <p:tag name="EE4P_STYLE_NAME" val="absa Grid 16:9"/>
  <p:tag name="EE4P_SMART_ELEMENT" val="HarveyBall"/>
  <p:tag name="EE4P_SMART_ELEMENT_XML" val="&lt;smartelement id=&quot;HarveyBall&quot; custom=&quot;1&quot;&gt;&lt;position width=&quot;21.25&quot; height=&quot;21.25&quot; alignment=&quot;1&quot; /&gt;&lt;elements&gt;&lt;element name=&quot;background&quot;&gt;&lt;fill visible=&quot;1&quot; foreColor=&quot;#e2e2e3&quot; /&gt;&lt;line visible=&quot;0&quot; /&gt;&lt;reflection visible=&quot;0&quot; /&gt;&lt;shadow visible=&quot;0&quot; /&gt;&lt;/element&gt;&lt;element name=&quot;arc&quot;&gt;&lt;fill visible=&quot;1&quot; foreColor=&quot;&quot; /&gt;&lt;line visible=&quot;0&quot; /&gt;&lt;reflection visible=&quot;0&quot; /&gt;&lt;shadow visible=&quot;0&quot; /&gt;&lt;/element&gt;&lt;element name=&quot;circle&quot;&gt;&lt;fill visible=&quot;0&quot; /&gt;&lt;line visible=&quot;0&quot; /&gt;&lt;reflection visible=&quot;0&quot; /&gt;&lt;shadow visible=&quot;0&quot; /&gt;&lt;/element&gt;&lt;/elements&gt;&lt;colors&gt;&lt;color name=&quot;Red&quot; rgb=&quot;#dc0532&quot; default=&quot;1&quot; /&gt;&lt;color name=&quot;Gray&quot; rgb=&quot;#7f7f7f&quot; /&gt;&lt;color name=&quot;Orange&quot; rgb=&quot;#ee7720&quot; /&gt;&lt;color name=&quot;Green&quot; rgb=&quot;#008000&quot; /&gt;&lt;/colors&gt;&lt;/smartelement&gt;"/>
</p:tagLst>
</file>

<file path=ppt/tags/tag10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4.xml><?xml version="1.0" encoding="utf-8"?>
<p:tagLst xmlns:a="http://schemas.openxmlformats.org/drawingml/2006/main" xmlns:r="http://schemas.openxmlformats.org/officeDocument/2006/relationships" xmlns:p="http://schemas.openxmlformats.org/presentationml/2006/main">
  <p:tag name="THINKCELLSHAPEDONOTDELETE" val="tDmbvl2ueJq93Xv11ZI.rUg"/>
</p:tagLst>
</file>

<file path=ppt/tags/tag105.xml><?xml version="1.0" encoding="utf-8"?>
<p:tagLst xmlns:a="http://schemas.openxmlformats.org/drawingml/2006/main" xmlns:r="http://schemas.openxmlformats.org/officeDocument/2006/relationships" xmlns:p="http://schemas.openxmlformats.org/presentationml/2006/main">
  <p:tag name="THINKCELLSHAPEDONOTDELETE" val="tpKFBOYl1ICD0K3fydoMXLw"/>
</p:tagLst>
</file>

<file path=ppt/tags/tag106.xml><?xml version="1.0" encoding="utf-8"?>
<p:tagLst xmlns:a="http://schemas.openxmlformats.org/drawingml/2006/main" xmlns:r="http://schemas.openxmlformats.org/officeDocument/2006/relationships" xmlns:p="http://schemas.openxmlformats.org/presentationml/2006/main">
  <p:tag name="THINKCELLSHAPEDONOTDELETE" val="tGBi2KpwGTgmcYkVdWtQuUQ"/>
</p:tagLst>
</file>

<file path=ppt/tags/tag107.xml><?xml version="1.0" encoding="utf-8"?>
<p:tagLst xmlns:a="http://schemas.openxmlformats.org/drawingml/2006/main" xmlns:r="http://schemas.openxmlformats.org/officeDocument/2006/relationships" xmlns:p="http://schemas.openxmlformats.org/presentationml/2006/main">
  <p:tag name="THINKCELLSHAPEDONOTDELETE" val="tNsJG3MSxWYbml0dkjz.FCg"/>
</p:tagLst>
</file>

<file path=ppt/tags/tag108.xml><?xml version="1.0" encoding="utf-8"?>
<p:tagLst xmlns:a="http://schemas.openxmlformats.org/drawingml/2006/main" xmlns:r="http://schemas.openxmlformats.org/officeDocument/2006/relationships" xmlns:p="http://schemas.openxmlformats.org/presentationml/2006/main">
  <p:tag name="THINKCELLSHAPEDONOTDELETE" val="taDdUUmA2gs1cJG6m75trEQ"/>
</p:tagLst>
</file>

<file path=ppt/tags/tag109.xml><?xml version="1.0" encoding="utf-8"?>
<p:tagLst xmlns:a="http://schemas.openxmlformats.org/drawingml/2006/main" xmlns:r="http://schemas.openxmlformats.org/officeDocument/2006/relationships" xmlns:p="http://schemas.openxmlformats.org/presentationml/2006/main">
  <p:tag name="THINKCELLSHAPEDONOTDELETE" val="tC7hKIOHseXoVjgKSFTlbtg"/>
</p:tagLst>
</file>

<file path=ppt/tags/tag110.xml><?xml version="1.0" encoding="utf-8"?>
<p:tagLst xmlns:a="http://schemas.openxmlformats.org/drawingml/2006/main" xmlns:r="http://schemas.openxmlformats.org/officeDocument/2006/relationships" xmlns:p="http://schemas.openxmlformats.org/presentationml/2006/main">
  <p:tag name="THINKCELLSHAPEDONOTDELETE" val="toeqdQHjoJAnAKutsWzR71g"/>
</p:tagLst>
</file>

<file path=ppt/tags/tag111.xml><?xml version="1.0" encoding="utf-8"?>
<p:tagLst xmlns:a="http://schemas.openxmlformats.org/drawingml/2006/main" xmlns:r="http://schemas.openxmlformats.org/officeDocument/2006/relationships" xmlns:p="http://schemas.openxmlformats.org/presentationml/2006/main">
  <p:tag name="THINKCELLSHAPEDONOTDELETE" val="t68GzheTjK9bbZMqIIe3jJw"/>
</p:tagLst>
</file>

<file path=ppt/tags/tag112.xml><?xml version="1.0" encoding="utf-8"?>
<p:tagLst xmlns:a="http://schemas.openxmlformats.org/drawingml/2006/main" xmlns:r="http://schemas.openxmlformats.org/officeDocument/2006/relationships" xmlns:p="http://schemas.openxmlformats.org/presentationml/2006/main">
  <p:tag name="THINKCELLSHAPEDONOTDELETE" val="tbnAvC6hJ7HYunLDcjQ68dw"/>
</p:tagLst>
</file>

<file path=ppt/tags/tag113.xml><?xml version="1.0" encoding="utf-8"?>
<p:tagLst xmlns:a="http://schemas.openxmlformats.org/drawingml/2006/main" xmlns:r="http://schemas.openxmlformats.org/officeDocument/2006/relationships" xmlns:p="http://schemas.openxmlformats.org/presentationml/2006/main">
  <p:tag name="THINKCELLSHAPEDONOTDELETE" val="tt632x8mWdToSIqHuS0uBQA"/>
</p:tagLst>
</file>

<file path=ppt/tags/tag114.xml><?xml version="1.0" encoding="utf-8"?>
<p:tagLst xmlns:a="http://schemas.openxmlformats.org/drawingml/2006/main" xmlns:r="http://schemas.openxmlformats.org/officeDocument/2006/relationships" xmlns:p="http://schemas.openxmlformats.org/presentationml/2006/main">
  <p:tag name="THINKCELLSHAPEDONOTDELETE" val="tII52Szxgf_YbMwrVUwgejA"/>
</p:tagLst>
</file>

<file path=ppt/tags/tag115.xml><?xml version="1.0" encoding="utf-8"?>
<p:tagLst xmlns:a="http://schemas.openxmlformats.org/drawingml/2006/main" xmlns:r="http://schemas.openxmlformats.org/officeDocument/2006/relationships" xmlns:p="http://schemas.openxmlformats.org/presentationml/2006/main">
  <p:tag name="THINKCELLSHAPEDONOTDELETE" val="tqppzeF19agGSGZcc0BNr8Q"/>
</p:tagLst>
</file>

<file path=ppt/tags/tag116.xml><?xml version="1.0" encoding="utf-8"?>
<p:tagLst xmlns:a="http://schemas.openxmlformats.org/drawingml/2006/main" xmlns:r="http://schemas.openxmlformats.org/officeDocument/2006/relationships" xmlns:p="http://schemas.openxmlformats.org/presentationml/2006/main">
  <p:tag name="THINKCELLSHAPEDONOTDELETE" val="tyL0qXy1bxk04to_nZGBZdw"/>
</p:tagLst>
</file>

<file path=ppt/tags/tag117.xml><?xml version="1.0" encoding="utf-8"?>
<p:tagLst xmlns:a="http://schemas.openxmlformats.org/drawingml/2006/main" xmlns:r="http://schemas.openxmlformats.org/officeDocument/2006/relationships" xmlns:p="http://schemas.openxmlformats.org/presentationml/2006/main">
  <p:tag name="THINKCELLSHAPEDONOTDELETE" val="tP9Xc1uXwUY7FKHcVkrSErQ"/>
</p:tagLst>
</file>

<file path=ppt/tags/tag118.xml><?xml version="1.0" encoding="utf-8"?>
<p:tagLst xmlns:a="http://schemas.openxmlformats.org/drawingml/2006/main" xmlns:r="http://schemas.openxmlformats.org/officeDocument/2006/relationships" xmlns:p="http://schemas.openxmlformats.org/presentationml/2006/main">
  <p:tag name="THINKCELLSHAPEDONOTDELETE" val="tZb3n2td4Z5fF4SnwZGC2mA"/>
</p:tagLst>
</file>

<file path=ppt/tags/tag11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0.xml><?xml version="1.0" encoding="utf-8"?>
<p:tagLst xmlns:a="http://schemas.openxmlformats.org/drawingml/2006/main" xmlns:r="http://schemas.openxmlformats.org/officeDocument/2006/relationships" xmlns:p="http://schemas.openxmlformats.org/presentationml/2006/main">
  <p:tag name="THINKCELLSHAPEDONOTDELETE" val="tOrJN8dWcrHOdG4iGRbm5eA"/>
</p:tagLst>
</file>

<file path=ppt/tags/tag121.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122.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1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4.xml><?xml version="1.0" encoding="utf-8"?>
<p:tagLst xmlns:a="http://schemas.openxmlformats.org/drawingml/2006/main" xmlns:r="http://schemas.openxmlformats.org/officeDocument/2006/relationships" xmlns:p="http://schemas.openxmlformats.org/presentationml/2006/main">
  <p:tag name="THINKCELLSHAPEDONOTDELETE" val="t.oLdEn5dRSSDpL82RUS6AA"/>
</p:tagLst>
</file>

<file path=ppt/tags/tag125.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126.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12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9.xml><?xml version="1.0" encoding="utf-8"?>
<p:tagLst xmlns:a="http://schemas.openxmlformats.org/drawingml/2006/main" xmlns:r="http://schemas.openxmlformats.org/officeDocument/2006/relationships" xmlns:p="http://schemas.openxmlformats.org/presentationml/2006/main">
  <p:tag name="EE4P_HIDDENSHAPES" val="1"/>
</p:tagLst>
</file>

<file path=ppt/tags/tag13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1.xml><?xml version="1.0" encoding="utf-8"?>
<p:tagLst xmlns:a="http://schemas.openxmlformats.org/drawingml/2006/main" xmlns:r="http://schemas.openxmlformats.org/officeDocument/2006/relationships" xmlns:p="http://schemas.openxmlformats.org/presentationml/2006/main">
  <p:tag name="EE4P_HIDDENSHAPE" val="1"/>
</p:tagLst>
</file>

<file path=ppt/tags/tag13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3.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134.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135.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136.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137.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38.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39.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40.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41.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42.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43.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44.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45.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46.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47.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48.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49.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50.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51.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52.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53.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54.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55.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56.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57.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58.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59.xml><?xml version="1.0" encoding="utf-8"?>
<p:tagLst xmlns:a="http://schemas.openxmlformats.org/drawingml/2006/main" xmlns:r="http://schemas.openxmlformats.org/officeDocument/2006/relationships" xmlns:p="http://schemas.openxmlformats.org/presentationml/2006/main">
  <p:tag name="EE4P_ELEMENTWIZARD_ID" val="NumberBalls2"/>
</p:tagLst>
</file>

<file path=ppt/tags/tag160.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161.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162.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163.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164.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16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66.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67.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68.xml><?xml version="1.0" encoding="utf-8"?>
<p:tagLst xmlns:a="http://schemas.openxmlformats.org/drawingml/2006/main" xmlns:r="http://schemas.openxmlformats.org/officeDocument/2006/relationships" xmlns:p="http://schemas.openxmlformats.org/presentationml/2006/main">
  <p:tag name="EE4P_FORMATWIZARD_TAG" val="White"/>
  <p:tag name="EE4P_STYLE_ID" val="Abm3sBe6"/>
  <p:tag name="EE4P_STYLE_NAME" val="BPI Grid 16:9"/>
  <p:tag name="EE4P_SMART_ELEMENT_XML" val="&lt;smartelement id=&quot;ProcessArrow&quot; custom=&quot;1&quot;&gt;&lt;value angle=&quot;4&quot; /&gt;&lt;/smartelement&gt;"/>
</p:tagLst>
</file>

<file path=ppt/tags/tag169.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70.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71.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72.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73.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74.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75.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76.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77.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78.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79.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80.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81.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82.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83.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84.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85.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86.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87.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88.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89.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90.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91.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92.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93.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94.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95.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96.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97.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98.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199.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200.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201.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202.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203.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204.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205.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206.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207.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208.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209.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210.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211.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212.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213.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214.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215.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216.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2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8.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219.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220.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221.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222.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223.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224.xml><?xml version="1.0" encoding="utf-8"?>
<p:tagLst xmlns:a="http://schemas.openxmlformats.org/drawingml/2006/main" xmlns:r="http://schemas.openxmlformats.org/officeDocument/2006/relationships" xmlns:p="http://schemas.openxmlformats.org/presentationml/2006/main">
  <p:tag name="BCGCUSTOMTAGKEY" val="Sticker"/>
</p:tagLst>
</file>

<file path=ppt/tags/tag22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26.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227.xml><?xml version="1.0" encoding="utf-8"?>
<p:tagLst xmlns:a="http://schemas.openxmlformats.org/drawingml/2006/main" xmlns:r="http://schemas.openxmlformats.org/officeDocument/2006/relationships" xmlns:p="http://schemas.openxmlformats.org/presentationml/2006/main">
  <p:tag name="EE4P_HIDDENSHAPES" val="1"/>
</p:tagLst>
</file>

<file path=ppt/tags/tag22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29.xml><?xml version="1.0" encoding="utf-8"?>
<p:tagLst xmlns:a="http://schemas.openxmlformats.org/drawingml/2006/main" xmlns:r="http://schemas.openxmlformats.org/officeDocument/2006/relationships" xmlns:p="http://schemas.openxmlformats.org/presentationml/2006/main">
  <p:tag name="EE4P_HIDDENSHAPE" val="1"/>
</p:tagLst>
</file>

<file path=ppt/tags/tag230.xml><?xml version="1.0" encoding="utf-8"?>
<p:tagLst xmlns:a="http://schemas.openxmlformats.org/drawingml/2006/main" xmlns:r="http://schemas.openxmlformats.org/officeDocument/2006/relationships" xmlns:p="http://schemas.openxmlformats.org/presentationml/2006/main">
  <p:tag name="EE4P_HIDDENSHAPE" val="1"/>
</p:tagLst>
</file>

<file path=ppt/tags/tag231.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23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33.xml><?xml version="1.0" encoding="utf-8"?>
<p:tagLst xmlns:a="http://schemas.openxmlformats.org/drawingml/2006/main" xmlns:r="http://schemas.openxmlformats.org/officeDocument/2006/relationships" xmlns:p="http://schemas.openxmlformats.org/presentationml/2006/main">
  <p:tag name="EE4P_ELEMENTWIZARD_ID" val="NumberBalls1"/>
</p:tagLst>
</file>

<file path=ppt/tags/tag234.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23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36.xml><?xml version="1.0" encoding="utf-8"?>
<p:tagLst xmlns:a="http://schemas.openxmlformats.org/drawingml/2006/main" xmlns:r="http://schemas.openxmlformats.org/officeDocument/2006/relationships" xmlns:p="http://schemas.openxmlformats.org/presentationml/2006/main">
  <p:tag name="EE4P_ELEMENTWIZARD_ID" val="NumberBalls1"/>
</p:tagLst>
</file>

<file path=ppt/tags/tag237.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23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39.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240.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24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42.xml><?xml version="1.0" encoding="utf-8"?>
<p:tagLst xmlns:a="http://schemas.openxmlformats.org/drawingml/2006/main" xmlns:r="http://schemas.openxmlformats.org/officeDocument/2006/relationships" xmlns:p="http://schemas.openxmlformats.org/presentationml/2006/main">
  <p:tag name="THINKCELLSHAPEDONOTDELETE" val="t442j0u6kZoUHdWSNrfrBUQ"/>
</p:tagLst>
</file>

<file path=ppt/tags/tag243.xml><?xml version="1.0" encoding="utf-8"?>
<p:tagLst xmlns:a="http://schemas.openxmlformats.org/drawingml/2006/main" xmlns:r="http://schemas.openxmlformats.org/officeDocument/2006/relationships" xmlns:p="http://schemas.openxmlformats.org/presentationml/2006/main">
  <p:tag name="THINKCELLSHAPEDONOTDELETE" val="tb_V74BtU5c9ljW6yukS8jA"/>
</p:tagLst>
</file>

<file path=ppt/tags/tag244.xml><?xml version="1.0" encoding="utf-8"?>
<p:tagLst xmlns:a="http://schemas.openxmlformats.org/drawingml/2006/main" xmlns:r="http://schemas.openxmlformats.org/officeDocument/2006/relationships" xmlns:p="http://schemas.openxmlformats.org/presentationml/2006/main">
  <p:tag name="THINKCELLSHAPEDONOTDELETE" val="tuqKHLzj2wL7K9X5YO7TuLQ"/>
</p:tagLst>
</file>

<file path=ppt/tags/tag245.xml><?xml version="1.0" encoding="utf-8"?>
<p:tagLst xmlns:a="http://schemas.openxmlformats.org/drawingml/2006/main" xmlns:r="http://schemas.openxmlformats.org/officeDocument/2006/relationships" xmlns:p="http://schemas.openxmlformats.org/presentationml/2006/main">
  <p:tag name="THINKCELLSHAPEDONOTDELETE" val="tKEF8VZunUWBviPWkW4SXDA"/>
</p:tagLst>
</file>

<file path=ppt/tags/tag246.xml><?xml version="1.0" encoding="utf-8"?>
<p:tagLst xmlns:a="http://schemas.openxmlformats.org/drawingml/2006/main" xmlns:r="http://schemas.openxmlformats.org/officeDocument/2006/relationships" xmlns:p="http://schemas.openxmlformats.org/presentationml/2006/main">
  <p:tag name="THINKCELLSHAPEDONOTDELETE" val="te77bbnbBNu294y_qvCuGrg"/>
</p:tagLst>
</file>

<file path=ppt/tags/tag247.xml><?xml version="1.0" encoding="utf-8"?>
<p:tagLst xmlns:a="http://schemas.openxmlformats.org/drawingml/2006/main" xmlns:r="http://schemas.openxmlformats.org/officeDocument/2006/relationships" xmlns:p="http://schemas.openxmlformats.org/presentationml/2006/main">
  <p:tag name="THINKCELLSHAPEDONOTDELETE" val="t3iV8tm5rKe9GU6FBVRa61A"/>
</p:tagLst>
</file>

<file path=ppt/tags/tag248.xml><?xml version="1.0" encoding="utf-8"?>
<p:tagLst xmlns:a="http://schemas.openxmlformats.org/drawingml/2006/main" xmlns:r="http://schemas.openxmlformats.org/officeDocument/2006/relationships" xmlns:p="http://schemas.openxmlformats.org/presentationml/2006/main">
  <p:tag name="THINKCELLSHAPEDONOTDELETE" val="teYMgKzKclHueErtzlbEdMQ"/>
</p:tagLst>
</file>

<file path=ppt/tags/tag249.xml><?xml version="1.0" encoding="utf-8"?>
<p:tagLst xmlns:a="http://schemas.openxmlformats.org/drawingml/2006/main" xmlns:r="http://schemas.openxmlformats.org/officeDocument/2006/relationships" xmlns:p="http://schemas.openxmlformats.org/presentationml/2006/main">
  <p:tag name="THINKCELLSHAPEDONOTDELETE" val="tfe9Z.rhdhzhToM0F.TkYJQ"/>
</p:tagLst>
</file>

<file path=ppt/tags/tag250.xml><?xml version="1.0" encoding="utf-8"?>
<p:tagLst xmlns:a="http://schemas.openxmlformats.org/drawingml/2006/main" xmlns:r="http://schemas.openxmlformats.org/officeDocument/2006/relationships" xmlns:p="http://schemas.openxmlformats.org/presentationml/2006/main">
  <p:tag name="THINKCELLSHAPEDONOTDELETE" val="tvAFlDLXaMqs8xd05O_yvCA"/>
</p:tagLst>
</file>

<file path=ppt/tags/tag251.xml><?xml version="1.0" encoding="utf-8"?>
<p:tagLst xmlns:a="http://schemas.openxmlformats.org/drawingml/2006/main" xmlns:r="http://schemas.openxmlformats.org/officeDocument/2006/relationships" xmlns:p="http://schemas.openxmlformats.org/presentationml/2006/main">
  <p:tag name="THINKCELLSHAPEDONOTDELETE" val="tnRoKdiyWSbA607xBOY.fzg"/>
</p:tagLst>
</file>

<file path=ppt/tags/tag252.xml><?xml version="1.0" encoding="utf-8"?>
<p:tagLst xmlns:a="http://schemas.openxmlformats.org/drawingml/2006/main" xmlns:r="http://schemas.openxmlformats.org/officeDocument/2006/relationships" xmlns:p="http://schemas.openxmlformats.org/presentationml/2006/main">
  <p:tag name="THINKCELLSHAPEDONOTDELETE" val="tUa.440dafynM0UsWvKGcXw"/>
</p:tagLst>
</file>

<file path=ppt/tags/tag253.xml><?xml version="1.0" encoding="utf-8"?>
<p:tagLst xmlns:a="http://schemas.openxmlformats.org/drawingml/2006/main" xmlns:r="http://schemas.openxmlformats.org/officeDocument/2006/relationships" xmlns:p="http://schemas.openxmlformats.org/presentationml/2006/main">
  <p:tag name="THINKCELLSHAPEDONOTDELETE" val="tO0qI1Tov4cGACVvp81kf5g"/>
</p:tagLst>
</file>

<file path=ppt/tags/tag254.xml><?xml version="1.0" encoding="utf-8"?>
<p:tagLst xmlns:a="http://schemas.openxmlformats.org/drawingml/2006/main" xmlns:r="http://schemas.openxmlformats.org/officeDocument/2006/relationships" xmlns:p="http://schemas.openxmlformats.org/presentationml/2006/main">
  <p:tag name="THINKCELLSHAPEDONOTDELETE" val="tg8_RhiMiTn1knpa_XfwaMg"/>
</p:tagLst>
</file>

<file path=ppt/tags/tag255.xml><?xml version="1.0" encoding="utf-8"?>
<p:tagLst xmlns:a="http://schemas.openxmlformats.org/drawingml/2006/main" xmlns:r="http://schemas.openxmlformats.org/officeDocument/2006/relationships" xmlns:p="http://schemas.openxmlformats.org/presentationml/2006/main">
  <p:tag name="THINKCELLSHAPEDONOTDELETE" val="tCIxrz3co46utn8MhLtIdJQ"/>
</p:tagLst>
</file>

<file path=ppt/tags/tag256.xml><?xml version="1.0" encoding="utf-8"?>
<p:tagLst xmlns:a="http://schemas.openxmlformats.org/drawingml/2006/main" xmlns:r="http://schemas.openxmlformats.org/officeDocument/2006/relationships" xmlns:p="http://schemas.openxmlformats.org/presentationml/2006/main">
  <p:tag name="THINKCELLSHAPEDONOTDELETE" val="t7onyTtOxY63GN.kquFVFDw"/>
</p:tagLst>
</file>

<file path=ppt/tags/tag25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58.xml><?xml version="1.0" encoding="utf-8"?>
<p:tagLst xmlns:a="http://schemas.openxmlformats.org/drawingml/2006/main" xmlns:r="http://schemas.openxmlformats.org/officeDocument/2006/relationships" xmlns:p="http://schemas.openxmlformats.org/presentationml/2006/main">
  <p:tag name="THINKCELLSHAPEDONOTDELETE" val="t4RGjgtUESheJieGFcsjDRQ"/>
</p:tagLst>
</file>

<file path=ppt/tags/tag259.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260.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261.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262.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263.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264.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265.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266.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267.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26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69.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270.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271.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272.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273.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27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5.xml><?xml version="1.0" encoding="utf-8"?>
<p:tagLst xmlns:a="http://schemas.openxmlformats.org/drawingml/2006/main" xmlns:r="http://schemas.openxmlformats.org/officeDocument/2006/relationships" xmlns:p="http://schemas.openxmlformats.org/presentationml/2006/main">
  <p:tag name="THINKCELLSHAPEDONOTDELETE" val="t4RGjgtUESheJieGFcsjDRQ"/>
</p:tagLst>
</file>

<file path=ppt/tags/tag276.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277.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278.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27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0.xml><?xml version="1.0" encoding="utf-8"?>
<p:tagLst xmlns:a="http://schemas.openxmlformats.org/drawingml/2006/main" xmlns:r="http://schemas.openxmlformats.org/officeDocument/2006/relationships" xmlns:p="http://schemas.openxmlformats.org/presentationml/2006/main">
  <p:tag name="THINKCELLSHAPEDONOTDELETE" val="tu2X8hpqoyEeHdP5OVUPmmQ"/>
</p:tagLst>
</file>

<file path=ppt/tags/tag281.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28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3.xml><?xml version="1.0" encoding="utf-8"?>
<p:tagLst xmlns:a="http://schemas.openxmlformats.org/drawingml/2006/main" xmlns:r="http://schemas.openxmlformats.org/officeDocument/2006/relationships" xmlns:p="http://schemas.openxmlformats.org/presentationml/2006/main">
  <p:tag name="THINKCELLSHAPEDONOTDELETE" val="tu2X8hpqoyEeHdP5OVUPmmQ"/>
</p:tagLst>
</file>

<file path=ppt/tags/tag28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9.xml><?xml version="1.0" encoding="utf-8"?>
<p:tagLst xmlns:a="http://schemas.openxmlformats.org/drawingml/2006/main" xmlns:r="http://schemas.openxmlformats.org/officeDocument/2006/relationships" xmlns:p="http://schemas.openxmlformats.org/presentationml/2006/main">
  <p:tag name="THINKCELLSHAPEDONOTDELETE" val="tfSWs6qgMTBEytezDbhOmIA"/>
</p:tagLst>
</file>

<file path=ppt/tags/tag290.xml><?xml version="1.0" encoding="utf-8"?>
<p:tagLst xmlns:a="http://schemas.openxmlformats.org/drawingml/2006/main" xmlns:r="http://schemas.openxmlformats.org/officeDocument/2006/relationships" xmlns:p="http://schemas.openxmlformats.org/presentationml/2006/main">
  <p:tag name="THINKCELLSHAPEDONOTDELETE" val="tiRyyy_OMdQNdq3QM_uPglA"/>
</p:tagLst>
</file>

<file path=ppt/tags/tag291.xml><?xml version="1.0" encoding="utf-8"?>
<p:tagLst xmlns:a="http://schemas.openxmlformats.org/drawingml/2006/main" xmlns:r="http://schemas.openxmlformats.org/officeDocument/2006/relationships" xmlns:p="http://schemas.openxmlformats.org/presentationml/2006/main">
  <p:tag name="THINKCELLSHAPEDONOTDELETE" val="tNv78BegGUuKDBnQngPvXAA"/>
</p:tagLst>
</file>

<file path=ppt/tags/tag292.xml><?xml version="1.0" encoding="utf-8"?>
<p:tagLst xmlns:a="http://schemas.openxmlformats.org/drawingml/2006/main" xmlns:r="http://schemas.openxmlformats.org/officeDocument/2006/relationships" xmlns:p="http://schemas.openxmlformats.org/presentationml/2006/main">
  <p:tag name="THINKCELLSHAPEDONOTDELETE" val="tVOOoJYqP9cfG05hR4eAuBw"/>
</p:tagLst>
</file>

<file path=ppt/tags/tag293.xml><?xml version="1.0" encoding="utf-8"?>
<p:tagLst xmlns:a="http://schemas.openxmlformats.org/drawingml/2006/main" xmlns:r="http://schemas.openxmlformats.org/officeDocument/2006/relationships" xmlns:p="http://schemas.openxmlformats.org/presentationml/2006/main">
  <p:tag name="THINKCELLSHAPEDONOTDELETE" val="tzD99TuK0lS19Bb12f5zosQ"/>
</p:tagLst>
</file>

<file path=ppt/tags/tag294.xml><?xml version="1.0" encoding="utf-8"?>
<p:tagLst xmlns:a="http://schemas.openxmlformats.org/drawingml/2006/main" xmlns:r="http://schemas.openxmlformats.org/officeDocument/2006/relationships" xmlns:p="http://schemas.openxmlformats.org/presentationml/2006/main">
  <p:tag name="THINKCELLSHAPEDONOTDELETE" val="tBtmSinu5TGR805gXihXdWw"/>
</p:tagLst>
</file>

<file path=ppt/tags/tag295.xml><?xml version="1.0" encoding="utf-8"?>
<p:tagLst xmlns:a="http://schemas.openxmlformats.org/drawingml/2006/main" xmlns:r="http://schemas.openxmlformats.org/officeDocument/2006/relationships" xmlns:p="http://schemas.openxmlformats.org/presentationml/2006/main">
  <p:tag name="THINKCELLSHAPEDONOTDELETE" val="tNPNdi2PGLjgcexmLMyOuCg"/>
</p:tagLst>
</file>

<file path=ppt/tags/tag296.xml><?xml version="1.0" encoding="utf-8"?>
<p:tagLst xmlns:a="http://schemas.openxmlformats.org/drawingml/2006/main" xmlns:r="http://schemas.openxmlformats.org/officeDocument/2006/relationships" xmlns:p="http://schemas.openxmlformats.org/presentationml/2006/main">
  <p:tag name="THINKCELLSHAPEDONOTDELETE" val="tgPONVAu7ktxhVB4D7RG9oA"/>
</p:tagLst>
</file>

<file path=ppt/tags/tag297.xml><?xml version="1.0" encoding="utf-8"?>
<p:tagLst xmlns:a="http://schemas.openxmlformats.org/drawingml/2006/main" xmlns:r="http://schemas.openxmlformats.org/officeDocument/2006/relationships" xmlns:p="http://schemas.openxmlformats.org/presentationml/2006/main">
  <p:tag name="THINKCELLSHAPEDONOTDELETE" val="tvyAba8P4b0z.N5Ifinw.uw"/>
</p:tagLst>
</file>

<file path=ppt/tags/tag298.xml><?xml version="1.0" encoding="utf-8"?>
<p:tagLst xmlns:a="http://schemas.openxmlformats.org/drawingml/2006/main" xmlns:r="http://schemas.openxmlformats.org/officeDocument/2006/relationships" xmlns:p="http://schemas.openxmlformats.org/presentationml/2006/main">
  <p:tag name="THINKCELLSHAPEDONOTDELETE" val="t5gWpsxgmCv.XVCmD8Ja3WA"/>
</p:tagLst>
</file>

<file path=ppt/tags/tag299.xml><?xml version="1.0" encoding="utf-8"?>
<p:tagLst xmlns:a="http://schemas.openxmlformats.org/drawingml/2006/main" xmlns:r="http://schemas.openxmlformats.org/officeDocument/2006/relationships" xmlns:p="http://schemas.openxmlformats.org/presentationml/2006/main">
  <p:tag name="THINKCELLSHAPEDONOTDELETE" val="tVroAc0hPnRv1G6GCh3xFWQ"/>
</p:tagLst>
</file>

<file path=ppt/tags/tag300.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301.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30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03.xml><?xml version="1.0" encoding="utf-8"?>
<p:tagLst xmlns:a="http://schemas.openxmlformats.org/drawingml/2006/main" xmlns:r="http://schemas.openxmlformats.org/officeDocument/2006/relationships" xmlns:p="http://schemas.openxmlformats.org/presentationml/2006/main">
  <p:tag name="THINKCELLSHAPEDONOTDELETE" val="tDmbvl2ueJq93Xv11ZI.rUg"/>
</p:tagLst>
</file>

<file path=ppt/tags/tag304.xml><?xml version="1.0" encoding="utf-8"?>
<p:tagLst xmlns:a="http://schemas.openxmlformats.org/drawingml/2006/main" xmlns:r="http://schemas.openxmlformats.org/officeDocument/2006/relationships" xmlns:p="http://schemas.openxmlformats.org/presentationml/2006/main">
  <p:tag name="THINKCELLSHAPEDONOTDELETE" val="tpKFBOYl1ICD0K3fydoMXLw"/>
</p:tagLst>
</file>

<file path=ppt/tags/tag305.xml><?xml version="1.0" encoding="utf-8"?>
<p:tagLst xmlns:a="http://schemas.openxmlformats.org/drawingml/2006/main" xmlns:r="http://schemas.openxmlformats.org/officeDocument/2006/relationships" xmlns:p="http://schemas.openxmlformats.org/presentationml/2006/main">
  <p:tag name="THINKCELLSHAPEDONOTDELETE" val="tGBi2KpwGTgmcYkVdWtQuUQ"/>
</p:tagLst>
</file>

<file path=ppt/tags/tag306.xml><?xml version="1.0" encoding="utf-8"?>
<p:tagLst xmlns:a="http://schemas.openxmlformats.org/drawingml/2006/main" xmlns:r="http://schemas.openxmlformats.org/officeDocument/2006/relationships" xmlns:p="http://schemas.openxmlformats.org/presentationml/2006/main">
  <p:tag name="EE4P_SLIDE_AS_PICTURE_ID" val="2147473591"/>
</p:tagLst>
</file>

<file path=ppt/tags/tag307.xml><?xml version="1.0" encoding="utf-8"?>
<p:tagLst xmlns:a="http://schemas.openxmlformats.org/drawingml/2006/main" xmlns:r="http://schemas.openxmlformats.org/officeDocument/2006/relationships" xmlns:p="http://schemas.openxmlformats.org/presentationml/2006/main">
  <p:tag name="EE4P_SLIDE_AS_PICTURE_ID" val="2147378296"/>
</p:tagLst>
</file>

<file path=ppt/tags/tag308.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309.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310.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311.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312.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313.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314.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315.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316.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317.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31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19.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320.xml><?xml version="1.0" encoding="utf-8"?>
<p:tagLst xmlns:a="http://schemas.openxmlformats.org/drawingml/2006/main" xmlns:r="http://schemas.openxmlformats.org/officeDocument/2006/relationships" xmlns:p="http://schemas.openxmlformats.org/presentationml/2006/main">
  <p:tag name="EE4P_SLIDE_AS_PICTURE_ID" val="2147378922"/>
</p:tagLst>
</file>

<file path=ppt/tags/tag32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22.xml><?xml version="1.0" encoding="utf-8"?>
<p:tagLst xmlns:a="http://schemas.openxmlformats.org/drawingml/2006/main" xmlns:r="http://schemas.openxmlformats.org/officeDocument/2006/relationships" xmlns:p="http://schemas.openxmlformats.org/presentationml/2006/main">
  <p:tag name="THINKCELLSHAPEDONOTDELETE" val="t9gfOz8SO_yj9AVKqTY67Qw"/>
</p:tagLst>
</file>

<file path=ppt/tags/tag323.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32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25.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32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27.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328.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32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30.xml><?xml version="1.0" encoding="utf-8"?>
<p:tagLst xmlns:a="http://schemas.openxmlformats.org/drawingml/2006/main" xmlns:r="http://schemas.openxmlformats.org/officeDocument/2006/relationships" xmlns:p="http://schemas.openxmlformats.org/presentationml/2006/main">
  <p:tag name="THINKCELLSHAPEDONOTDELETE" val="t4RGjgtUESheJieGFcsjDRQ"/>
</p:tagLst>
</file>

<file path=ppt/tags/tag331.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33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33.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33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35.xml><?xml version="1.0" encoding="utf-8"?>
<p:tagLst xmlns:a="http://schemas.openxmlformats.org/drawingml/2006/main" xmlns:r="http://schemas.openxmlformats.org/officeDocument/2006/relationships" xmlns:p="http://schemas.openxmlformats.org/presentationml/2006/main">
  <p:tag name="THINKCELLSHAPEDONOTDELETE" val="tQHA3vOgUFnm0hMzQQO6zcg"/>
</p:tagLst>
</file>

<file path=ppt/tags/tag33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37.xml><?xml version="1.0" encoding="utf-8"?>
<p:tagLst xmlns:a="http://schemas.openxmlformats.org/drawingml/2006/main" xmlns:r="http://schemas.openxmlformats.org/officeDocument/2006/relationships" xmlns:p="http://schemas.openxmlformats.org/presentationml/2006/main">
  <p:tag name="THINKCELLSHAPEDONOTDELETE" val="tQHA3vOgUFnm0hMzQQO6zcg"/>
</p:tagLst>
</file>

<file path=ppt/tags/tag33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3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4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4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42.xml><?xml version="1.0" encoding="utf-8"?>
<p:tagLst xmlns:a="http://schemas.openxmlformats.org/drawingml/2006/main" xmlns:r="http://schemas.openxmlformats.org/officeDocument/2006/relationships" xmlns:p="http://schemas.openxmlformats.org/presentationml/2006/main">
  <p:tag name="THINKCELLSHAPEDONOTDELETE" val="t.gCVbiU_RtWvq3LxR3I2ZA"/>
</p:tagLst>
</file>

<file path=ppt/tags/tag34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44.xml><?xml version="1.0" encoding="utf-8"?>
<p:tagLst xmlns:a="http://schemas.openxmlformats.org/drawingml/2006/main" xmlns:r="http://schemas.openxmlformats.org/officeDocument/2006/relationships" xmlns:p="http://schemas.openxmlformats.org/presentationml/2006/main">
  <p:tag name="THINKCELLSHAPEDONOTDELETE" val="t.gCVbiU_RtWvq3LxR3I2ZA"/>
</p:tagLst>
</file>

<file path=ppt/tags/tag34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46.xml><?xml version="1.0" encoding="utf-8"?>
<p:tagLst xmlns:a="http://schemas.openxmlformats.org/drawingml/2006/main" xmlns:r="http://schemas.openxmlformats.org/officeDocument/2006/relationships" xmlns:p="http://schemas.openxmlformats.org/presentationml/2006/main">
  <p:tag name="THINKCELLSHAPEDONOTDELETE" val="tDmbvl2ueJq93Xv11ZI.rUg"/>
</p:tagLst>
</file>

<file path=ppt/tags/tag347.xml><?xml version="1.0" encoding="utf-8"?>
<p:tagLst xmlns:a="http://schemas.openxmlformats.org/drawingml/2006/main" xmlns:r="http://schemas.openxmlformats.org/officeDocument/2006/relationships" xmlns:p="http://schemas.openxmlformats.org/presentationml/2006/main">
  <p:tag name="THINKCELLSHAPEDONOTDELETE" val="tpKFBOYl1ICD0K3fydoMXLw"/>
</p:tagLst>
</file>

<file path=ppt/tags/tag348.xml><?xml version="1.0" encoding="utf-8"?>
<p:tagLst xmlns:a="http://schemas.openxmlformats.org/drawingml/2006/main" xmlns:r="http://schemas.openxmlformats.org/officeDocument/2006/relationships" xmlns:p="http://schemas.openxmlformats.org/presentationml/2006/main">
  <p:tag name="THINKCELLSHAPEDONOTDELETE" val="tGBi2KpwGTgmcYkVdWtQuUQ"/>
</p:tagLst>
</file>

<file path=ppt/tags/tag349.xml><?xml version="1.0" encoding="utf-8"?>
<p:tagLst xmlns:a="http://schemas.openxmlformats.org/drawingml/2006/main" xmlns:r="http://schemas.openxmlformats.org/officeDocument/2006/relationships" xmlns:p="http://schemas.openxmlformats.org/presentationml/2006/main">
  <p:tag name="EE4P_SLIDE_AS_PICTURE_ID" val="2147473591"/>
</p:tagLst>
</file>

<file path=ppt/tags/tag350.xml><?xml version="1.0" encoding="utf-8"?>
<p:tagLst xmlns:a="http://schemas.openxmlformats.org/drawingml/2006/main" xmlns:r="http://schemas.openxmlformats.org/officeDocument/2006/relationships" xmlns:p="http://schemas.openxmlformats.org/presentationml/2006/main">
  <p:tag name="EE4P_SLIDE_AS_PICTURE_ID" val="2147378296"/>
</p:tagLst>
</file>

<file path=ppt/tags/tag351.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352.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353.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354.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355.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356.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357.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35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59.xml><?xml version="1.0" encoding="utf-8"?>
<p:tagLst xmlns:a="http://schemas.openxmlformats.org/drawingml/2006/main" xmlns:r="http://schemas.openxmlformats.org/officeDocument/2006/relationships" xmlns:p="http://schemas.openxmlformats.org/presentationml/2006/main">
  <p:tag name="EE4P_SLIDE_AS_PICTURE_ID" val="2147378922"/>
</p:tagLst>
</file>

<file path=ppt/tags/tag360.xml><?xml version="1.0" encoding="utf-8"?>
<p:tagLst xmlns:a="http://schemas.openxmlformats.org/drawingml/2006/main" xmlns:r="http://schemas.openxmlformats.org/officeDocument/2006/relationships" xmlns:p="http://schemas.openxmlformats.org/presentationml/2006/main">
  <p:tag name="EE4P_SLIDE_AS_PICTURE_ID" val="2147473606"/>
</p:tagLst>
</file>

<file path=ppt/tags/tag361.xml><?xml version="1.0" encoding="utf-8"?>
<p:tagLst xmlns:a="http://schemas.openxmlformats.org/drawingml/2006/main" xmlns:r="http://schemas.openxmlformats.org/officeDocument/2006/relationships" xmlns:p="http://schemas.openxmlformats.org/presentationml/2006/main">
  <p:tag name="EE4P_SLIDE_AS_PICTURE_ID" val="2147473588"/>
</p:tagLst>
</file>

<file path=ppt/tags/tag362.xml><?xml version="1.0" encoding="utf-8"?>
<p:tagLst xmlns:a="http://schemas.openxmlformats.org/drawingml/2006/main" xmlns:r="http://schemas.openxmlformats.org/officeDocument/2006/relationships" xmlns:p="http://schemas.openxmlformats.org/presentationml/2006/main">
  <p:tag name="THINKCELLSHAPEDONOTDELETE" val="tDmbvl2ueJq93Xv11ZI.rUg"/>
</p:tagLst>
</file>

<file path=ppt/tags/tag363.xml><?xml version="1.0" encoding="utf-8"?>
<p:tagLst xmlns:a="http://schemas.openxmlformats.org/drawingml/2006/main" xmlns:r="http://schemas.openxmlformats.org/officeDocument/2006/relationships" xmlns:p="http://schemas.openxmlformats.org/presentationml/2006/main">
  <p:tag name="THINKCELLSHAPEDONOTDELETE" val="tpKFBOYl1ICD0K3fydoMXLw"/>
</p:tagLst>
</file>

<file path=ppt/tags/tag364.xml><?xml version="1.0" encoding="utf-8"?>
<p:tagLst xmlns:a="http://schemas.openxmlformats.org/drawingml/2006/main" xmlns:r="http://schemas.openxmlformats.org/officeDocument/2006/relationships" xmlns:p="http://schemas.openxmlformats.org/presentationml/2006/main">
  <p:tag name="THINKCELLSHAPEDONOTDELETE" val="tGBi2KpwGTgmcYkVdWtQuUQ"/>
</p:tagLst>
</file>

<file path=ppt/tags/tag365.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366.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367.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36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69.xml><?xml version="1.0" encoding="utf-8"?>
<p:tagLst xmlns:a="http://schemas.openxmlformats.org/drawingml/2006/main" xmlns:r="http://schemas.openxmlformats.org/officeDocument/2006/relationships" xmlns:p="http://schemas.openxmlformats.org/presentationml/2006/main">
  <p:tag name="THINKCELLSHAPEDONOTDELETE" val="tDmbvl2ueJq93Xv11ZI.rUg"/>
</p:tagLst>
</file>

<file path=ppt/tags/tag370.xml><?xml version="1.0" encoding="utf-8"?>
<p:tagLst xmlns:a="http://schemas.openxmlformats.org/drawingml/2006/main" xmlns:r="http://schemas.openxmlformats.org/officeDocument/2006/relationships" xmlns:p="http://schemas.openxmlformats.org/presentationml/2006/main">
  <p:tag name="THINKCELLSHAPEDONOTDELETE" val="tpKFBOYl1ICD0K3fydoMXLw"/>
</p:tagLst>
</file>

<file path=ppt/tags/tag371.xml><?xml version="1.0" encoding="utf-8"?>
<p:tagLst xmlns:a="http://schemas.openxmlformats.org/drawingml/2006/main" xmlns:r="http://schemas.openxmlformats.org/officeDocument/2006/relationships" xmlns:p="http://schemas.openxmlformats.org/presentationml/2006/main">
  <p:tag name="THINKCELLSHAPEDONOTDELETE" val="tGBi2KpwGTgmcYkVdWtQuUQ"/>
</p:tagLst>
</file>

<file path=ppt/tags/tag372.xml><?xml version="1.0" encoding="utf-8"?>
<p:tagLst xmlns:a="http://schemas.openxmlformats.org/drawingml/2006/main" xmlns:r="http://schemas.openxmlformats.org/officeDocument/2006/relationships" xmlns:p="http://schemas.openxmlformats.org/presentationml/2006/main">
  <p:tag name="THINKCELLSHAPEDONOTDELETE" val="tNsJG3MSxWYbml0dkjz.FCg"/>
</p:tagLst>
</file>

<file path=ppt/tags/tag373.xml><?xml version="1.0" encoding="utf-8"?>
<p:tagLst xmlns:a="http://schemas.openxmlformats.org/drawingml/2006/main" xmlns:r="http://schemas.openxmlformats.org/officeDocument/2006/relationships" xmlns:p="http://schemas.openxmlformats.org/presentationml/2006/main">
  <p:tag name="THINKCELLSHAPEDONOTDELETE" val="taDdUUmA2gs1cJG6m75trEQ"/>
</p:tagLst>
</file>

<file path=ppt/tags/tag374.xml><?xml version="1.0" encoding="utf-8"?>
<p:tagLst xmlns:a="http://schemas.openxmlformats.org/drawingml/2006/main" xmlns:r="http://schemas.openxmlformats.org/officeDocument/2006/relationships" xmlns:p="http://schemas.openxmlformats.org/presentationml/2006/main">
  <p:tag name="THINKCELLSHAPEDONOTDELETE" val="tC7hKIOHseXoVjgKSFTlbtg"/>
</p:tagLst>
</file>

<file path=ppt/tags/tag375.xml><?xml version="1.0" encoding="utf-8"?>
<p:tagLst xmlns:a="http://schemas.openxmlformats.org/drawingml/2006/main" xmlns:r="http://schemas.openxmlformats.org/officeDocument/2006/relationships" xmlns:p="http://schemas.openxmlformats.org/presentationml/2006/main">
  <p:tag name="THINKCELLSHAPEDONOTDELETE" val="toeqdQHjoJAnAKutsWzR71g"/>
</p:tagLst>
</file>

<file path=ppt/tags/tag376.xml><?xml version="1.0" encoding="utf-8"?>
<p:tagLst xmlns:a="http://schemas.openxmlformats.org/drawingml/2006/main" xmlns:r="http://schemas.openxmlformats.org/officeDocument/2006/relationships" xmlns:p="http://schemas.openxmlformats.org/presentationml/2006/main">
  <p:tag name="THINKCELLSHAPEDONOTDELETE" val="t68GzheTjK9bbZMqIIe3jJw"/>
</p:tagLst>
</file>

<file path=ppt/tags/tag377.xml><?xml version="1.0" encoding="utf-8"?>
<p:tagLst xmlns:a="http://schemas.openxmlformats.org/drawingml/2006/main" xmlns:r="http://schemas.openxmlformats.org/officeDocument/2006/relationships" xmlns:p="http://schemas.openxmlformats.org/presentationml/2006/main">
  <p:tag name="THINKCELLSHAPEDONOTDELETE" val="tbnAvC6hJ7HYunLDcjQ68dw"/>
</p:tagLst>
</file>

<file path=ppt/tags/tag378.xml><?xml version="1.0" encoding="utf-8"?>
<p:tagLst xmlns:a="http://schemas.openxmlformats.org/drawingml/2006/main" xmlns:r="http://schemas.openxmlformats.org/officeDocument/2006/relationships" xmlns:p="http://schemas.openxmlformats.org/presentationml/2006/main">
  <p:tag name="THINKCELLSHAPEDONOTDELETE" val="tII52Szxgf_YbMwrVUwgejA"/>
</p:tagLst>
</file>

<file path=ppt/tags/tag379.xml><?xml version="1.0" encoding="utf-8"?>
<p:tagLst xmlns:a="http://schemas.openxmlformats.org/drawingml/2006/main" xmlns:r="http://schemas.openxmlformats.org/officeDocument/2006/relationships" xmlns:p="http://schemas.openxmlformats.org/presentationml/2006/main">
  <p:tag name="THINKCELLSHAPEDONOTDELETE" val="tt632x8mWdToSIqHuS0uBQA"/>
</p:tagLst>
</file>

<file path=ppt/tags/tag380.xml><?xml version="1.0" encoding="utf-8"?>
<p:tagLst xmlns:a="http://schemas.openxmlformats.org/drawingml/2006/main" xmlns:r="http://schemas.openxmlformats.org/officeDocument/2006/relationships" xmlns:p="http://schemas.openxmlformats.org/presentationml/2006/main">
  <p:tag name="THINKCELLSHAPEDONOTDELETE" val="tqppzeF19agGSGZcc0BNr8Q"/>
</p:tagLst>
</file>

<file path=ppt/tags/tag381.xml><?xml version="1.0" encoding="utf-8"?>
<p:tagLst xmlns:a="http://schemas.openxmlformats.org/drawingml/2006/main" xmlns:r="http://schemas.openxmlformats.org/officeDocument/2006/relationships" xmlns:p="http://schemas.openxmlformats.org/presentationml/2006/main">
  <p:tag name="THINKCELLSHAPEDONOTDELETE" val="tZb3n2td4Z5fF4SnwZGC2mA"/>
</p:tagLst>
</file>

<file path=ppt/tags/tag382.xml><?xml version="1.0" encoding="utf-8"?>
<p:tagLst xmlns:a="http://schemas.openxmlformats.org/drawingml/2006/main" xmlns:r="http://schemas.openxmlformats.org/officeDocument/2006/relationships" xmlns:p="http://schemas.openxmlformats.org/presentationml/2006/main">
  <p:tag name="THINKCELLSHAPEDONOTDELETE" val="tyL0qXy1bxk04to_nZGBZdw"/>
</p:tagLst>
</file>

<file path=ppt/tags/tag383.xml><?xml version="1.0" encoding="utf-8"?>
<p:tagLst xmlns:a="http://schemas.openxmlformats.org/drawingml/2006/main" xmlns:r="http://schemas.openxmlformats.org/officeDocument/2006/relationships" xmlns:p="http://schemas.openxmlformats.org/presentationml/2006/main">
  <p:tag name="THINKCELLSHAPEDONOTDELETE" val="tP9Xc1uXwUY7FKHcVkrSErQ"/>
</p:tagLst>
</file>

<file path=ppt/tags/tag38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85.xml><?xml version="1.0" encoding="utf-8"?>
<p:tagLst xmlns:a="http://schemas.openxmlformats.org/drawingml/2006/main" xmlns:r="http://schemas.openxmlformats.org/officeDocument/2006/relationships" xmlns:p="http://schemas.openxmlformats.org/presentationml/2006/main">
  <p:tag name="EE4P_SLIDE_AS_PICTURE_ID" val="2147197654"/>
</p:tagLst>
</file>

<file path=ppt/tags/tag386.xml><?xml version="1.0" encoding="utf-8"?>
<p:tagLst xmlns:a="http://schemas.openxmlformats.org/drawingml/2006/main" xmlns:r="http://schemas.openxmlformats.org/officeDocument/2006/relationships" xmlns:p="http://schemas.openxmlformats.org/presentationml/2006/main">
  <p:tag name="EE4P_SLIDE_AS_PICTURE_ID" val="2147473568"/>
</p:tagLst>
</file>

<file path=ppt/tags/tag387.xml><?xml version="1.0" encoding="utf-8"?>
<p:tagLst xmlns:a="http://schemas.openxmlformats.org/drawingml/2006/main" xmlns:r="http://schemas.openxmlformats.org/officeDocument/2006/relationships" xmlns:p="http://schemas.openxmlformats.org/presentationml/2006/main">
  <p:tag name="EE4P_SLIDE_AS_PICTURE_ID" val="2147378893"/>
</p:tagLst>
</file>

<file path=ppt/tags/tag388.xml><?xml version="1.0" encoding="utf-8"?>
<p:tagLst xmlns:a="http://schemas.openxmlformats.org/drawingml/2006/main" xmlns:r="http://schemas.openxmlformats.org/officeDocument/2006/relationships" xmlns:p="http://schemas.openxmlformats.org/presentationml/2006/main">
  <p:tag name="THINKCELLSHAPEDONOTDELETE" val="tDmbvl2ueJq93Xv11ZI.rUg"/>
</p:tagLst>
</file>

<file path=ppt/tags/tag389.xml><?xml version="1.0" encoding="utf-8"?>
<p:tagLst xmlns:a="http://schemas.openxmlformats.org/drawingml/2006/main" xmlns:r="http://schemas.openxmlformats.org/officeDocument/2006/relationships" xmlns:p="http://schemas.openxmlformats.org/presentationml/2006/main">
  <p:tag name="THINKCELLSHAPEDONOTDELETE" val="tpKFBOYl1ICD0K3fydoMXLw"/>
</p:tagLst>
</file>

<file path=ppt/tags/tag390.xml><?xml version="1.0" encoding="utf-8"?>
<p:tagLst xmlns:a="http://schemas.openxmlformats.org/drawingml/2006/main" xmlns:r="http://schemas.openxmlformats.org/officeDocument/2006/relationships" xmlns:p="http://schemas.openxmlformats.org/presentationml/2006/main">
  <p:tag name="THINKCELLSHAPEDONOTDELETE" val="tGBi2KpwGTgmcYkVdWtQuUQ"/>
</p:tagLst>
</file>

<file path=ppt/tags/tag391.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392.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393.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39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9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96.xml><?xml version="1.0" encoding="utf-8"?>
<p:tagLst xmlns:a="http://schemas.openxmlformats.org/drawingml/2006/main" xmlns:r="http://schemas.openxmlformats.org/officeDocument/2006/relationships" xmlns:p="http://schemas.openxmlformats.org/presentationml/2006/main">
  <p:tag name="EE4P_SLIDE_AS_PICTURE_ID" val="2147473594"/>
</p:tagLst>
</file>

<file path=ppt/tags/tag397.xml><?xml version="1.0" encoding="utf-8"?>
<p:tagLst xmlns:a="http://schemas.openxmlformats.org/drawingml/2006/main" xmlns:r="http://schemas.openxmlformats.org/officeDocument/2006/relationships" xmlns:p="http://schemas.openxmlformats.org/presentationml/2006/main">
  <p:tag name="EE4P_SLIDE_AS_PICTURE_ID" val="2147473593"/>
</p:tagLst>
</file>

<file path=ppt/tags/tag398.xml><?xml version="1.0" encoding="utf-8"?>
<p:tagLst xmlns:a="http://schemas.openxmlformats.org/drawingml/2006/main" xmlns:r="http://schemas.openxmlformats.org/officeDocument/2006/relationships" xmlns:p="http://schemas.openxmlformats.org/presentationml/2006/main">
  <p:tag name="THINKCELLSHAPEDONOTDELETE" val="tDmbvl2ueJq93Xv11ZI.rUg"/>
</p:tagLst>
</file>

<file path=ppt/tags/tag399.xml><?xml version="1.0" encoding="utf-8"?>
<p:tagLst xmlns:a="http://schemas.openxmlformats.org/drawingml/2006/main" xmlns:r="http://schemas.openxmlformats.org/officeDocument/2006/relationships" xmlns:p="http://schemas.openxmlformats.org/presentationml/2006/main">
  <p:tag name="THINKCELLSHAPEDONOTDELETE" val="tpKFBOYl1ICD0K3fydoMXLw"/>
</p:tagLst>
</file>

<file path=ppt/tags/tag400.xml><?xml version="1.0" encoding="utf-8"?>
<p:tagLst xmlns:a="http://schemas.openxmlformats.org/drawingml/2006/main" xmlns:r="http://schemas.openxmlformats.org/officeDocument/2006/relationships" xmlns:p="http://schemas.openxmlformats.org/presentationml/2006/main">
  <p:tag name="THINKCELLSHAPEDONOTDELETE" val="tGBi2KpwGTgmcYkVdWtQuUQ"/>
</p:tagLst>
</file>

<file path=ppt/tags/tag401.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402.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403.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40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05.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406.xml><?xml version="1.0" encoding="utf-8"?>
<p:tagLst xmlns:a="http://schemas.openxmlformats.org/drawingml/2006/main" xmlns:r="http://schemas.openxmlformats.org/officeDocument/2006/relationships" xmlns:p="http://schemas.openxmlformats.org/presentationml/2006/main">
  <p:tag name="THINKCELLSHAPEDONOTDELETE" val="tkrLsEvwgwqJSRrLa3Xhi5g"/>
</p:tagLst>
</file>

<file path=ppt/tags/tag407.xml><?xml version="1.0" encoding="utf-8"?>
<p:tagLst xmlns:a="http://schemas.openxmlformats.org/drawingml/2006/main" xmlns:r="http://schemas.openxmlformats.org/officeDocument/2006/relationships" xmlns:p="http://schemas.openxmlformats.org/presentationml/2006/main">
  <p:tag name="THINKCELLSHAPEDONOTDELETE" val="tukaQ5d4XvBz1K6.pE0ZAUQ"/>
</p:tagLst>
</file>

<file path=ppt/tags/tag408.xml><?xml version="1.0" encoding="utf-8"?>
<p:tagLst xmlns:a="http://schemas.openxmlformats.org/drawingml/2006/main" xmlns:r="http://schemas.openxmlformats.org/officeDocument/2006/relationships" xmlns:p="http://schemas.openxmlformats.org/presentationml/2006/main">
  <p:tag name="THINKCELLSHAPEDONOTDELETE" val="tU4IE7b6rCAiSXgdtHxKnNg"/>
</p:tagLst>
</file>

<file path=ppt/tags/tag409.xml><?xml version="1.0" encoding="utf-8"?>
<p:tagLst xmlns:a="http://schemas.openxmlformats.org/drawingml/2006/main" xmlns:r="http://schemas.openxmlformats.org/officeDocument/2006/relationships" xmlns:p="http://schemas.openxmlformats.org/presentationml/2006/main">
  <p:tag name="THINKCELLSHAPEDONOTDELETE" val="t779qmVMfpSix2835CyguVA"/>
</p:tagLst>
</file>

<file path=ppt/tags/tag410.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411.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412.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413.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414.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41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16.xml><?xml version="1.0" encoding="utf-8"?>
<p:tagLst xmlns:a="http://schemas.openxmlformats.org/drawingml/2006/main" xmlns:r="http://schemas.openxmlformats.org/officeDocument/2006/relationships" xmlns:p="http://schemas.openxmlformats.org/presentationml/2006/main">
  <p:tag name="THINKCELLSHAPEDONOTDELETE" val="tPzunukBKpFRmno3SHLPbGA"/>
</p:tagLst>
</file>

<file path=ppt/tags/tag417.xml><?xml version="1.0" encoding="utf-8"?>
<p:tagLst xmlns:a="http://schemas.openxmlformats.org/drawingml/2006/main" xmlns:r="http://schemas.openxmlformats.org/officeDocument/2006/relationships" xmlns:p="http://schemas.openxmlformats.org/presentationml/2006/main">
  <p:tag name="THINKCELLSHAPEDONOTDELETE" val="t8sqBjfRbPpX9oHf9fH2sAA"/>
</p:tagLst>
</file>

<file path=ppt/tags/tag418.xml><?xml version="1.0" encoding="utf-8"?>
<p:tagLst xmlns:a="http://schemas.openxmlformats.org/drawingml/2006/main" xmlns:r="http://schemas.openxmlformats.org/officeDocument/2006/relationships" xmlns:p="http://schemas.openxmlformats.org/presentationml/2006/main">
  <p:tag name="THINKCELLSHAPEDONOTDELETE" val="t7dkgUmrqiHq2aenwvAZVVA"/>
</p:tagLst>
</file>

<file path=ppt/tags/tag419.xml><?xml version="1.0" encoding="utf-8"?>
<p:tagLst xmlns:a="http://schemas.openxmlformats.org/drawingml/2006/main" xmlns:r="http://schemas.openxmlformats.org/officeDocument/2006/relationships" xmlns:p="http://schemas.openxmlformats.org/presentationml/2006/main">
  <p:tag name="THINKCELLSHAPEDONOTDELETE" val="tWMIuRD6mxd8spdYcIGNIRg"/>
</p:tagLst>
</file>

<file path=ppt/tags/tag420.xml><?xml version="1.0" encoding="utf-8"?>
<p:tagLst xmlns:a="http://schemas.openxmlformats.org/drawingml/2006/main" xmlns:r="http://schemas.openxmlformats.org/officeDocument/2006/relationships" xmlns:p="http://schemas.openxmlformats.org/presentationml/2006/main">
  <p:tag name="THINKCELLSHAPEDONOTDELETE" val="t0Rg8WzbahdgSR8t_ajdaqw"/>
</p:tagLst>
</file>

<file path=ppt/tags/tag421.xml><?xml version="1.0" encoding="utf-8"?>
<p:tagLst xmlns:a="http://schemas.openxmlformats.org/drawingml/2006/main" xmlns:r="http://schemas.openxmlformats.org/officeDocument/2006/relationships" xmlns:p="http://schemas.openxmlformats.org/presentationml/2006/main">
  <p:tag name="THINKCELLSHAPEDONOTDELETE" val="tc9wkzHHB5WM58b4gY_hisA"/>
</p:tagLst>
</file>

<file path=ppt/tags/tag422.xml><?xml version="1.0" encoding="utf-8"?>
<p:tagLst xmlns:a="http://schemas.openxmlformats.org/drawingml/2006/main" xmlns:r="http://schemas.openxmlformats.org/officeDocument/2006/relationships" xmlns:p="http://schemas.openxmlformats.org/presentationml/2006/main">
  <p:tag name="THINKCELLSHAPEDONOTDELETE" val="tp5WDlDGR1GcbA5TVGyJLdQ"/>
</p:tagLst>
</file>

<file path=ppt/tags/tag423.xml><?xml version="1.0" encoding="utf-8"?>
<p:tagLst xmlns:a="http://schemas.openxmlformats.org/drawingml/2006/main" xmlns:r="http://schemas.openxmlformats.org/officeDocument/2006/relationships" xmlns:p="http://schemas.openxmlformats.org/presentationml/2006/main">
  <p:tag name="THINKCELLSHAPEDONOTDELETE" val="tzlSSrMYuCPy8MAamZcljsw"/>
</p:tagLst>
</file>

<file path=ppt/tags/tag424.xml><?xml version="1.0" encoding="utf-8"?>
<p:tagLst xmlns:a="http://schemas.openxmlformats.org/drawingml/2006/main" xmlns:r="http://schemas.openxmlformats.org/officeDocument/2006/relationships" xmlns:p="http://schemas.openxmlformats.org/presentationml/2006/main">
  <p:tag name="THINKCELLSHAPEDONOTDELETE" val="t6Fl1SqajTkpHyCUSHhnZ2A"/>
</p:tagLst>
</file>

<file path=ppt/tags/tag425.xml><?xml version="1.0" encoding="utf-8"?>
<p:tagLst xmlns:a="http://schemas.openxmlformats.org/drawingml/2006/main" xmlns:r="http://schemas.openxmlformats.org/officeDocument/2006/relationships" xmlns:p="http://schemas.openxmlformats.org/presentationml/2006/main">
  <p:tag name="THINKCELLSHAPEDONOTDELETE" val="tAxd7Eiqq6JBblRCHQluPkg"/>
</p:tagLst>
</file>

<file path=ppt/tags/tag426.xml><?xml version="1.0" encoding="utf-8"?>
<p:tagLst xmlns:a="http://schemas.openxmlformats.org/drawingml/2006/main" xmlns:r="http://schemas.openxmlformats.org/officeDocument/2006/relationships" xmlns:p="http://schemas.openxmlformats.org/presentationml/2006/main">
  <p:tag name="THINKCELLSHAPEDONOTDELETE" val="t71Ndb0d0s0slezWahrI8VA"/>
</p:tagLst>
</file>

<file path=ppt/tags/tag427.xml><?xml version="1.0" encoding="utf-8"?>
<p:tagLst xmlns:a="http://schemas.openxmlformats.org/drawingml/2006/main" xmlns:r="http://schemas.openxmlformats.org/officeDocument/2006/relationships" xmlns:p="http://schemas.openxmlformats.org/presentationml/2006/main">
  <p:tag name="THINKCELLSHAPEDONOTDELETE" val="tEafSObn8kJWjtiW0TGKQNA"/>
</p:tagLst>
</file>

<file path=ppt/tags/tag428.xml><?xml version="1.0" encoding="utf-8"?>
<p:tagLst xmlns:a="http://schemas.openxmlformats.org/drawingml/2006/main" xmlns:r="http://schemas.openxmlformats.org/officeDocument/2006/relationships" xmlns:p="http://schemas.openxmlformats.org/presentationml/2006/main">
  <p:tag name="THINKCELLSHAPEDONOTDELETE" val="tuZeudKaCfmM5ElImEJvv6Q"/>
</p:tagLst>
</file>

<file path=ppt/tags/tag429.xml><?xml version="1.0" encoding="utf-8"?>
<p:tagLst xmlns:a="http://schemas.openxmlformats.org/drawingml/2006/main" xmlns:r="http://schemas.openxmlformats.org/officeDocument/2006/relationships" xmlns:p="http://schemas.openxmlformats.org/presentationml/2006/main">
  <p:tag name="THINKCELLSHAPEDONOTDELETE" val="tEO.QcQhQIQwwyV_pPbBHpw"/>
</p:tagLst>
</file>

<file path=ppt/tags/tag430.xml><?xml version="1.0" encoding="utf-8"?>
<p:tagLst xmlns:a="http://schemas.openxmlformats.org/drawingml/2006/main" xmlns:r="http://schemas.openxmlformats.org/officeDocument/2006/relationships" xmlns:p="http://schemas.openxmlformats.org/presentationml/2006/main">
  <p:tag name="THINKCELLSHAPEDONOTDELETE" val="tNur.ZVLYP43_SAL1L8BH2A"/>
</p:tagLst>
</file>

<file path=ppt/tags/tag431.xml><?xml version="1.0" encoding="utf-8"?>
<p:tagLst xmlns:a="http://schemas.openxmlformats.org/drawingml/2006/main" xmlns:r="http://schemas.openxmlformats.org/officeDocument/2006/relationships" xmlns:p="http://schemas.openxmlformats.org/presentationml/2006/main">
  <p:tag name="THINKCELLSHAPEDONOTDELETE" val="tLto7kMqrWrM5pcmO.deetg"/>
</p:tagLst>
</file>

<file path=ppt/tags/tag432.xml><?xml version="1.0" encoding="utf-8"?>
<p:tagLst xmlns:a="http://schemas.openxmlformats.org/drawingml/2006/main" xmlns:r="http://schemas.openxmlformats.org/officeDocument/2006/relationships" xmlns:p="http://schemas.openxmlformats.org/presentationml/2006/main">
  <p:tag name="THINKCELLSHAPEDONOTDELETE" val="thFVhlFWNR8wJk5j2JEWJzw"/>
</p:tagLst>
</file>

<file path=ppt/tags/tag433.xml><?xml version="1.0" encoding="utf-8"?>
<p:tagLst xmlns:a="http://schemas.openxmlformats.org/drawingml/2006/main" xmlns:r="http://schemas.openxmlformats.org/officeDocument/2006/relationships" xmlns:p="http://schemas.openxmlformats.org/presentationml/2006/main">
  <p:tag name="THINKCELLSHAPEDONOTDELETE" val="t14c9TCc2KIzK472JsGirWg"/>
</p:tagLst>
</file>

<file path=ppt/tags/tag434.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435.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436.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43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3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39.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44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41.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44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43.xml><?xml version="1.0" encoding="utf-8"?>
<p:tagLst xmlns:a="http://schemas.openxmlformats.org/drawingml/2006/main" xmlns:r="http://schemas.openxmlformats.org/officeDocument/2006/relationships" xmlns:p="http://schemas.openxmlformats.org/presentationml/2006/main">
  <p:tag name="THINKCELLSHAPEDONOTDELETE" val="tu2X8hpqoyEeHdP5OVUPmmQ"/>
</p:tagLst>
</file>

<file path=ppt/tags/tag444.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44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46.xml><?xml version="1.0" encoding="utf-8"?>
<p:tagLst xmlns:a="http://schemas.openxmlformats.org/drawingml/2006/main" xmlns:r="http://schemas.openxmlformats.org/officeDocument/2006/relationships" xmlns:p="http://schemas.openxmlformats.org/presentationml/2006/main">
  <p:tag name="THINKCELLSHAPEDONOTDELETE" val="tu2X8hpqoyEeHdP5OVUPmmQ"/>
</p:tagLst>
</file>

<file path=ppt/tags/tag44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4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49.xml><?xml version="1.0" encoding="utf-8"?>
<p:tagLst xmlns:a="http://schemas.openxmlformats.org/drawingml/2006/main" xmlns:r="http://schemas.openxmlformats.org/officeDocument/2006/relationships" xmlns:p="http://schemas.openxmlformats.org/presentationml/2006/main">
  <p:tag name="THINKCELLSHAPEDONOTDELETE" val="t3YWxdMguWhnVkg.eFDjoRA"/>
</p:tagLst>
</file>

<file path=ppt/tags/tag450.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45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52.xml><?xml version="1.0" encoding="utf-8"?>
<p:tagLst xmlns:a="http://schemas.openxmlformats.org/drawingml/2006/main" xmlns:r="http://schemas.openxmlformats.org/officeDocument/2006/relationships" xmlns:p="http://schemas.openxmlformats.org/presentationml/2006/main">
  <p:tag name="THINKCELLSHAPEDONOTDELETE" val="t9gfOz8SO_yj9AVKqTY67Qw"/>
</p:tagLst>
</file>

<file path=ppt/tags/tag45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54.xml><?xml version="1.0" encoding="utf-8"?>
<p:tagLst xmlns:a="http://schemas.openxmlformats.org/drawingml/2006/main" xmlns:r="http://schemas.openxmlformats.org/officeDocument/2006/relationships" xmlns:p="http://schemas.openxmlformats.org/presentationml/2006/main">
  <p:tag name="THINKCELLSHAPEDONOTDELETE" val="tv.rUXROhsNvtlgTysQEkzQ"/>
</p:tagLst>
</file>

<file path=ppt/tags/tag45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56.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45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58.xml><?xml version="1.0" encoding="utf-8"?>
<p:tagLst xmlns:a="http://schemas.openxmlformats.org/drawingml/2006/main" xmlns:r="http://schemas.openxmlformats.org/officeDocument/2006/relationships" xmlns:p="http://schemas.openxmlformats.org/presentationml/2006/main">
  <p:tag name="THINKCELLSHAPEDONOTDELETE" val="tw0N9Jv3Ry25WGxEbG5YmvA"/>
</p:tagLst>
</file>

<file path=ppt/tags/tag45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60.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461.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462.xml><?xml version="1.0" encoding="utf-8"?>
<p:tagLst xmlns:a="http://schemas.openxmlformats.org/drawingml/2006/main" xmlns:r="http://schemas.openxmlformats.org/officeDocument/2006/relationships" xmlns:p="http://schemas.openxmlformats.org/presentationml/2006/main">
  <p:tag name="EE4P_FORMATWIZARD_TAG" val="White"/>
  <p:tag name="EE4P_STYLE_ID" val="Abm3sBe6"/>
  <p:tag name="EE4P_STYLE_NAME" val="BPI Grid 16:9"/>
  <p:tag name="EE4P_SMART_ELEMENT_XML" val="&lt;smartelement id=&quot;ProcessArrow&quot; custom=&quot;1&quot;&gt;&lt;value angle=&quot;4&quot; /&gt;&lt;/smartelement&gt;"/>
</p:tagLst>
</file>

<file path=ppt/tags/tag463.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464.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465.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466.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467.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468.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469.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470.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471.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472.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473.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474.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475.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476.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477.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478.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479.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480.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481.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482.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483.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484.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485.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486.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487.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488.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489.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490.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491.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492.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493.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494.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495.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496.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497.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498.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499.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500.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501.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502.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503.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504.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505.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506.xml><?xml version="1.0" encoding="utf-8"?>
<p:tagLst xmlns:a="http://schemas.openxmlformats.org/drawingml/2006/main" xmlns:r="http://schemas.openxmlformats.org/officeDocument/2006/relationships" xmlns:p="http://schemas.openxmlformats.org/presentationml/2006/main">
  <p:tag name="EE4P_ELEMENTWIZARD_ID" val="NumberBalls2"/>
</p:tagLst>
</file>

<file path=ppt/tags/tag507.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508.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509.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510.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511.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512.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51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14.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515.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516.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517.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518.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519.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520.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521.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522.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523.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524.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525.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526.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527.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528.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529.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530.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531.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532.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533.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534.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535.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536.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537.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538.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539.xml><?xml version="1.0" encoding="utf-8"?>
<p:tagLst xmlns:a="http://schemas.openxmlformats.org/drawingml/2006/main" xmlns:r="http://schemas.openxmlformats.org/officeDocument/2006/relationships" xmlns:p="http://schemas.openxmlformats.org/presentationml/2006/main">
  <p:tag name="EE4P_STYLE_ID" val="Abm3sBe6"/>
  <p:tag name="EE4P_STYLE_NAME" val="BPI Grid 16:9"/>
  <p:tag name="EE4P_SMART_ELEMENT_XML" val="&lt;smartelement id=&quot;RoundedRectangle&quot; custom=&quot;1&quot;&gt;&lt;value radius=&quot;4&quot; /&gt;&lt;/smartelement&gt;"/>
</p:tagLst>
</file>

<file path=ppt/tags/tag540.xml><?xml version="1.0" encoding="utf-8"?>
<p:tagLst xmlns:a="http://schemas.openxmlformats.org/drawingml/2006/main" xmlns:r="http://schemas.openxmlformats.org/officeDocument/2006/relationships" xmlns:p="http://schemas.openxmlformats.org/presentationml/2006/main">
  <p:tag name="EE4P_ELEMENTWIZARD_ID" val="NumberBalls2"/>
</p:tagLst>
</file>

<file path=ppt/tags/tag541.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542.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543.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544.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54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46.xml><?xml version="1.0" encoding="utf-8"?>
<p:tagLst xmlns:a="http://schemas.openxmlformats.org/drawingml/2006/main" xmlns:r="http://schemas.openxmlformats.org/officeDocument/2006/relationships" xmlns:p="http://schemas.openxmlformats.org/presentationml/2006/main">
  <p:tag name="EE4P_ELEMENTWIZARD_ID" val="NumberBalls1"/>
</p:tagLst>
</file>

<file path=ppt/tags/tag547.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54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49.xml><?xml version="1.0" encoding="utf-8"?>
<p:tagLst xmlns:a="http://schemas.openxmlformats.org/drawingml/2006/main" xmlns:r="http://schemas.openxmlformats.org/officeDocument/2006/relationships" xmlns:p="http://schemas.openxmlformats.org/presentationml/2006/main">
  <p:tag name="EE4P_ELEMENTWIZARD_ID" val="NumberBalls1"/>
</p:tagLst>
</file>

<file path=ppt/tags/tag550.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55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52.xml><?xml version="1.0" encoding="utf-8"?>
<p:tagLst xmlns:a="http://schemas.openxmlformats.org/drawingml/2006/main" xmlns:r="http://schemas.openxmlformats.org/officeDocument/2006/relationships" xmlns:p="http://schemas.openxmlformats.org/presentationml/2006/main">
  <p:tag name="THINKCELLSHAPEDONOTDELETE" val="tcMZIeGFK_wAhBIjxiJK8DQ"/>
</p:tagLst>
</file>

<file path=ppt/tags/tag55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54.xml><?xml version="1.0" encoding="utf-8"?>
<p:tagLst xmlns:a="http://schemas.openxmlformats.org/drawingml/2006/main" xmlns:r="http://schemas.openxmlformats.org/officeDocument/2006/relationships" xmlns:p="http://schemas.openxmlformats.org/presentationml/2006/main">
  <p:tag name="THINKCELLSHAPEDONOTDELETE" val="tOnxJ6RR.tIwAEqSk2scL_w"/>
</p:tagLst>
</file>

<file path=ppt/tags/tag55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56.xml><?xml version="1.0" encoding="utf-8"?>
<p:tagLst xmlns:a="http://schemas.openxmlformats.org/drawingml/2006/main" xmlns:r="http://schemas.openxmlformats.org/officeDocument/2006/relationships" xmlns:p="http://schemas.openxmlformats.org/presentationml/2006/main">
  <p:tag name="THINKCELLSHAPEDONOTDELETE" val="tsxtBrCOHXH.0ruNSVOFLtw"/>
</p:tagLst>
</file>

<file path=ppt/tags/tag55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58.xml><?xml version="1.0" encoding="utf-8"?>
<p:tagLst xmlns:a="http://schemas.openxmlformats.org/drawingml/2006/main" xmlns:r="http://schemas.openxmlformats.org/officeDocument/2006/relationships" xmlns:p="http://schemas.openxmlformats.org/presentationml/2006/main">
  <p:tag name="THINKCELLSHAPEDONOTDELETE" val="teriGiSE..5973OdJQ_d6bg"/>
</p:tagLst>
</file>

<file path=ppt/tags/tag559.xml><?xml version="1.0" encoding="utf-8"?>
<p:tagLst xmlns:a="http://schemas.openxmlformats.org/drawingml/2006/main" xmlns:r="http://schemas.openxmlformats.org/officeDocument/2006/relationships" xmlns:p="http://schemas.openxmlformats.org/presentationml/2006/main">
  <p:tag name="EE4P_SMART_ELEMENT" val="HarveyBall"/>
  <p:tag name="EE4P_STYLE_ID" val="39dcc26a-7131-49f4-a9eb-1c0521500c03"/>
  <p:tag name="EE4P_STYLE_NAME" val="BCG Grid 16:9"/>
  <p:tag name="EE4P_SMART_ELEMENT_XML" val="&lt;smartelement id=&quot;HarveyBall&quot; custom=&quot;1&quot;&gt;&lt;position width=&quot;21.25&quot; height=&quot;21.25&quot; alignment=&quot;1&quot; /&gt;&lt;elements&gt;&lt;element name=&quot;background&quot;&gt;&lt;fill visible=&quot;1&quot; foreColor=&quot;#c8c8c8&quot; /&gt;&lt;line visible=&quot;0&quot; /&gt;&lt;reflection visible=&quot;0&quot; /&gt;&lt;shadow visible=&quot;0&quot; /&gt;&lt;/element&gt;&lt;element name=&quot;arc&quot;&gt;&lt;fill visible=&quot;1&quot; foreColor=&quot;&quot; /&gt;&lt;line visible=&quot;0&quot; /&gt;&lt;reflection visible=&quot;0&quot; /&gt;&lt;shadow visible=&quot;0&quot; /&gt;&lt;/element&gt;&lt;element name=&quot;circle&quot;&gt;&lt;fill visible=&quot;0&quot; /&gt;&lt;line visible=&quot;0&quot; /&gt;&lt;reflection visible=&quot;0&quot; /&gt;&lt;shadow visible=&quot;0&quot; /&gt;&lt;/element&gt;&lt;/elements&gt;&lt;colors&gt;&lt;color rgb=&quot;#29ba74&quot; name=&quot;Green&quot; default=&quot;1&quot; /&gt;&lt;color rgb=&quot;#6e6f73&quot; name=&quot;Gray&quot; /&gt;&lt;color rgb=&quot;#e71c57&quot; name=&quot;Magenta&quot; /&gt;&lt;color rgb=&quot;#30c1d7&quot; name=&quot;Bright Blue&quot; /&gt;&lt;/colors&gt;&lt;/smartelement&gt;"/>
</p:tagLst>
</file>

<file path=ppt/tags/tag560.xml><?xml version="1.0" encoding="utf-8"?>
<p:tagLst xmlns:a="http://schemas.openxmlformats.org/drawingml/2006/main" xmlns:r="http://schemas.openxmlformats.org/officeDocument/2006/relationships" xmlns:p="http://schemas.openxmlformats.org/presentationml/2006/main">
  <p:tag name="EE4P_SMART_ELEMENT" val="HarveyBall"/>
  <p:tag name="EE4P_STYLE_ID" val="39dcc26a-7131-49f4-a9eb-1c0521500c03"/>
  <p:tag name="EE4P_STYLE_NAME" val="BCG Grid 16:9"/>
  <p:tag name="EE4P_SMART_ELEMENT_XML" val="&lt;smartelement id=&quot;HarveyBall&quot; custom=&quot;1&quot;&gt;&lt;position width=&quot;21.25&quot; height=&quot;21.25&quot; alignment=&quot;1&quot; /&gt;&lt;elements&gt;&lt;element name=&quot;background&quot;&gt;&lt;fill visible=&quot;1&quot; foreColor=&quot;#c8c8c8&quot; /&gt;&lt;line visible=&quot;0&quot; /&gt;&lt;reflection visible=&quot;0&quot; /&gt;&lt;shadow visible=&quot;0&quot; /&gt;&lt;/element&gt;&lt;element name=&quot;arc&quot;&gt;&lt;fill visible=&quot;1&quot; foreColor=&quot;&quot; /&gt;&lt;line visible=&quot;0&quot; /&gt;&lt;reflection visible=&quot;0&quot; /&gt;&lt;shadow visible=&quot;0&quot; /&gt;&lt;/element&gt;&lt;element name=&quot;circle&quot;&gt;&lt;fill visible=&quot;0&quot; /&gt;&lt;line visible=&quot;0&quot; /&gt;&lt;reflection visible=&quot;0&quot; /&gt;&lt;shadow visible=&quot;0&quot; /&gt;&lt;/element&gt;&lt;/elements&gt;&lt;colors&gt;&lt;color rgb=&quot;#29ba74&quot; name=&quot;Green&quot; default=&quot;1&quot; /&gt;&lt;color rgb=&quot;#6e6f73&quot; name=&quot;Gray&quot; /&gt;&lt;color rgb=&quot;#e71c57&quot; name=&quot;Magenta&quot; /&gt;&lt;color rgb=&quot;#30c1d7&quot; name=&quot;Bright Blue&quot; /&gt;&lt;/colors&gt;&lt;/smartelement&gt;"/>
</p:tagLst>
</file>

<file path=ppt/tags/tag561.xml><?xml version="1.0" encoding="utf-8"?>
<p:tagLst xmlns:a="http://schemas.openxmlformats.org/drawingml/2006/main" xmlns:r="http://schemas.openxmlformats.org/officeDocument/2006/relationships" xmlns:p="http://schemas.openxmlformats.org/presentationml/2006/main">
  <p:tag name="EE4P_SMART_ELEMENT" val="HarveyBall"/>
  <p:tag name="EE4P_STYLE_ID" val="39dcc26a-7131-49f4-a9eb-1c0521500c03"/>
  <p:tag name="EE4P_STYLE_NAME" val="BCG Grid 16:9"/>
  <p:tag name="EE4P_SMART_ELEMENT_XML" val="&lt;smartelement id=&quot;HarveyBall&quot; custom=&quot;1&quot;&gt;&lt;position width=&quot;21.25&quot; height=&quot;21.25&quot; alignment=&quot;1&quot; /&gt;&lt;elements&gt;&lt;element name=&quot;background&quot;&gt;&lt;fill visible=&quot;1&quot; foreColor=&quot;#c8c8c8&quot; /&gt;&lt;line visible=&quot;0&quot; /&gt;&lt;reflection visible=&quot;0&quot; /&gt;&lt;shadow visible=&quot;0&quot; /&gt;&lt;/element&gt;&lt;element name=&quot;arc&quot;&gt;&lt;fill visible=&quot;1&quot; foreColor=&quot;&quot; /&gt;&lt;line visible=&quot;0&quot; /&gt;&lt;reflection visible=&quot;0&quot; /&gt;&lt;shadow visible=&quot;0&quot; /&gt;&lt;/element&gt;&lt;element name=&quot;circle&quot;&gt;&lt;fill visible=&quot;0&quot; /&gt;&lt;line visible=&quot;0&quot; /&gt;&lt;reflection visible=&quot;0&quot; /&gt;&lt;shadow visible=&quot;0&quot; /&gt;&lt;/element&gt;&lt;/elements&gt;&lt;colors&gt;&lt;color rgb=&quot;#29ba74&quot; name=&quot;Green&quot; default=&quot;1&quot; /&gt;&lt;color rgb=&quot;#6e6f73&quot; name=&quot;Gray&quot; /&gt;&lt;color rgb=&quot;#e71c57&quot; name=&quot;Magenta&quot; /&gt;&lt;color rgb=&quot;#30c1d7&quot; name=&quot;Bright Blue&quot; /&gt;&lt;/colors&gt;&lt;/smartelement&gt;"/>
</p:tagLst>
</file>

<file path=ppt/tags/tag562.xml><?xml version="1.0" encoding="utf-8"?>
<p:tagLst xmlns:a="http://schemas.openxmlformats.org/drawingml/2006/main" xmlns:r="http://schemas.openxmlformats.org/officeDocument/2006/relationships" xmlns:p="http://schemas.openxmlformats.org/presentationml/2006/main">
  <p:tag name="EE4P_SMART_ELEMENT" val="HarveyBall"/>
  <p:tag name="EE4P_STYLE_ID" val="39dcc26a-7131-49f4-a9eb-1c0521500c03"/>
  <p:tag name="EE4P_STYLE_NAME" val="BCG Grid 16:9"/>
  <p:tag name="EE4P_SMART_ELEMENT_XML" val="&lt;smartelement id=&quot;HarveyBall&quot; custom=&quot;1&quot;&gt;&lt;position width=&quot;21.25&quot; height=&quot;21.25&quot; alignment=&quot;1&quot; /&gt;&lt;elements&gt;&lt;element name=&quot;background&quot;&gt;&lt;fill visible=&quot;1&quot; foreColor=&quot;#c8c8c8&quot; /&gt;&lt;line visible=&quot;0&quot; /&gt;&lt;reflection visible=&quot;0&quot; /&gt;&lt;shadow visible=&quot;0&quot; /&gt;&lt;/element&gt;&lt;element name=&quot;arc&quot;&gt;&lt;fill visible=&quot;1&quot; foreColor=&quot;&quot; /&gt;&lt;line visible=&quot;0&quot; /&gt;&lt;reflection visible=&quot;0&quot; /&gt;&lt;shadow visible=&quot;0&quot; /&gt;&lt;/element&gt;&lt;element name=&quot;circle&quot;&gt;&lt;fill visible=&quot;0&quot; /&gt;&lt;line visible=&quot;0&quot; /&gt;&lt;reflection visible=&quot;0&quot; /&gt;&lt;shadow visible=&quot;0&quot; /&gt;&lt;/element&gt;&lt;/elements&gt;&lt;colors&gt;&lt;color rgb=&quot;#29ba74&quot; name=&quot;Green&quot; default=&quot;1&quot; /&gt;&lt;color rgb=&quot;#6e6f73&quot; name=&quot;Gray&quot; /&gt;&lt;color rgb=&quot;#e71c57&quot; name=&quot;Magenta&quot; /&gt;&lt;color rgb=&quot;#30c1d7&quot; name=&quot;Bright Blue&quot; /&gt;&lt;/colors&gt;&lt;/smartelement&gt;"/>
</p:tagLst>
</file>

<file path=ppt/tags/tag563.xml><?xml version="1.0" encoding="utf-8"?>
<p:tagLst xmlns:a="http://schemas.openxmlformats.org/drawingml/2006/main" xmlns:r="http://schemas.openxmlformats.org/officeDocument/2006/relationships" xmlns:p="http://schemas.openxmlformats.org/presentationml/2006/main">
  <p:tag name="EE4P_SMART_ELEMENT" val="HarveyBall"/>
  <p:tag name="EE4P_STYLE_ID" val="39dcc26a-7131-49f4-a9eb-1c0521500c03"/>
  <p:tag name="EE4P_STYLE_NAME" val="BCG Grid 16:9"/>
  <p:tag name="EE4P_SMART_ELEMENT_XML" val="&lt;smartelement id=&quot;HarveyBall&quot; custom=&quot;1&quot;&gt;&lt;position width=&quot;21.25&quot; height=&quot;21.25&quot; alignment=&quot;1&quot; /&gt;&lt;elements&gt;&lt;element name=&quot;background&quot;&gt;&lt;fill visible=&quot;1&quot; foreColor=&quot;#c8c8c8&quot; /&gt;&lt;line visible=&quot;0&quot; /&gt;&lt;reflection visible=&quot;0&quot; /&gt;&lt;shadow visible=&quot;0&quot; /&gt;&lt;/element&gt;&lt;element name=&quot;arc&quot;&gt;&lt;fill visible=&quot;1&quot; foreColor=&quot;&quot; /&gt;&lt;line visible=&quot;0&quot; /&gt;&lt;reflection visible=&quot;0&quot; /&gt;&lt;shadow visible=&quot;0&quot; /&gt;&lt;/element&gt;&lt;element name=&quot;circle&quot;&gt;&lt;fill visible=&quot;0&quot; /&gt;&lt;line visible=&quot;0&quot; /&gt;&lt;reflection visible=&quot;0&quot; /&gt;&lt;shadow visible=&quot;0&quot; /&gt;&lt;/element&gt;&lt;/elements&gt;&lt;colors&gt;&lt;color rgb=&quot;#29ba74&quot; name=&quot;Green&quot; default=&quot;1&quot; /&gt;&lt;color rgb=&quot;#6e6f73&quot; name=&quot;Gray&quot; /&gt;&lt;color rgb=&quot;#e71c57&quot; name=&quot;Magenta&quot; /&gt;&lt;color rgb=&quot;#30c1d7&quot; name=&quot;Bright Blue&quot; /&gt;&lt;/colors&gt;&lt;/smartelement&gt;"/>
</p:tagLst>
</file>

<file path=ppt/tags/tag564.xml><?xml version="1.0" encoding="utf-8"?>
<p:tagLst xmlns:a="http://schemas.openxmlformats.org/drawingml/2006/main" xmlns:r="http://schemas.openxmlformats.org/officeDocument/2006/relationships" xmlns:p="http://schemas.openxmlformats.org/presentationml/2006/main">
  <p:tag name="EE4P_STYLE_ID" val="39dcc26a-7131-49f4-a9eb-1c0521500c03"/>
  <p:tag name="EE4P_STYLE_NAME" val="BCG Grid 16:9"/>
  <p:tag name="EE4P_SMART_ELEMENT" val="HarveyBall"/>
  <p:tag name="EE4P_SMART_ELEMENT_XML" val="&lt;smartelement id=&quot;HarveyBall&quot; custom=&quot;1&quot;&gt;&lt;position width=&quot;21.25&quot; height=&quot;21.25&quot; alignment=&quot;1&quot; /&gt;&lt;elements&gt;&lt;element name=&quot;background&quot;&gt;&lt;fill visible=&quot;1&quot; foreColor=&quot;#c8c8c8&quot; /&gt;&lt;line visible=&quot;0&quot; /&gt;&lt;reflection visible=&quot;0&quot; /&gt;&lt;shadow visible=&quot;0&quot; /&gt;&lt;/element&gt;&lt;element name=&quot;arc&quot;&gt;&lt;fill visible=&quot;1&quot; foreColor=&quot;&quot; /&gt;&lt;line visible=&quot;0&quot; /&gt;&lt;reflection visible=&quot;0&quot; /&gt;&lt;shadow visible=&quot;0&quot; /&gt;&lt;/element&gt;&lt;element name=&quot;circle&quot;&gt;&lt;fill visible=&quot;0&quot; /&gt;&lt;line visible=&quot;0&quot; /&gt;&lt;reflection visible=&quot;0&quot; /&gt;&lt;shadow visible=&quot;0&quot; /&gt;&lt;/element&gt;&lt;/elements&gt;&lt;colors&gt;&lt;color rgb=&quot;#29ba74&quot; name=&quot;Green&quot; default=&quot;1&quot; /&gt;&lt;color rgb=&quot;#6e6f73&quot; name=&quot;Gray&quot; /&gt;&lt;color rgb=&quot;#e71c57&quot; name=&quot;Magenta&quot; /&gt;&lt;color rgb=&quot;#30c1d7&quot; name=&quot;Bright Blue&quot; /&gt;&lt;/colors&gt;&lt;/smartelement&gt;"/>
</p:tagLst>
</file>

<file path=ppt/tags/tag565.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566.xml><?xml version="1.0" encoding="utf-8"?>
<p:tagLst xmlns:a="http://schemas.openxmlformats.org/drawingml/2006/main" xmlns:r="http://schemas.openxmlformats.org/officeDocument/2006/relationships" xmlns:p="http://schemas.openxmlformats.org/presentationml/2006/main">
  <p:tag name="EE4P_STYLE_ID" val="4dzODeyK"/>
  <p:tag name="EE4P_STYLE_NAME" val="absa Grid 16:9"/>
  <p:tag name="EE4P_SMART_ELEMENT" val="HarveyBall"/>
  <p:tag name="EE4P_SMART_ELEMENT_XML" val="&lt;smartelement id=&quot;HarveyBall&quot; custom=&quot;1&quot;&gt;&lt;position width=&quot;21.25&quot; height=&quot;21.25&quot; alignment=&quot;1&quot; /&gt;&lt;elements&gt;&lt;element name=&quot;background&quot;&gt;&lt;fill visible=&quot;1&quot; foreColor=&quot;#e2e2e3&quot; /&gt;&lt;line visible=&quot;0&quot; /&gt;&lt;reflection visible=&quot;0&quot; /&gt;&lt;shadow visible=&quot;0&quot; /&gt;&lt;/element&gt;&lt;element name=&quot;arc&quot;&gt;&lt;fill visible=&quot;1&quot; foreColor=&quot;&quot; /&gt;&lt;line visible=&quot;0&quot; /&gt;&lt;reflection visible=&quot;0&quot; /&gt;&lt;shadow visible=&quot;0&quot; /&gt;&lt;/element&gt;&lt;element name=&quot;circle&quot;&gt;&lt;fill visible=&quot;0&quot; /&gt;&lt;line visible=&quot;0&quot; /&gt;&lt;reflection visible=&quot;0&quot; /&gt;&lt;shadow visible=&quot;0&quot; /&gt;&lt;/element&gt;&lt;/elements&gt;&lt;colors&gt;&lt;color name=&quot;Red&quot; rgb=&quot;#dc0532&quot; default=&quot;1&quot; /&gt;&lt;color name=&quot;Gray&quot; rgb=&quot;#7f7f7f&quot; /&gt;&lt;color name=&quot;Orange&quot; rgb=&quot;#ee7720&quot; /&gt;&lt;color name=&quot;Green&quot; rgb=&quot;#008000&quot; /&gt;&lt;/colors&gt;&lt;/smartelement&gt;"/>
</p:tagLst>
</file>

<file path=ppt/tags/tag56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68.xml><?xml version="1.0" encoding="utf-8"?>
<p:tagLst xmlns:a="http://schemas.openxmlformats.org/drawingml/2006/main" xmlns:r="http://schemas.openxmlformats.org/officeDocument/2006/relationships" xmlns:p="http://schemas.openxmlformats.org/presentationml/2006/main">
  <p:tag name="THINKCELLSHAPEDONOTDELETE" val="t85oveuWcGehnA1nF6MWJcQ"/>
</p:tagLst>
</file>

<file path=ppt/tags/tag569.xml><?xml version="1.0" encoding="utf-8"?>
<p:tagLst xmlns:a="http://schemas.openxmlformats.org/drawingml/2006/main" xmlns:r="http://schemas.openxmlformats.org/officeDocument/2006/relationships" xmlns:p="http://schemas.openxmlformats.org/presentationml/2006/main">
  <p:tag name="EE4P_SMART_ELEMENT" val="HarveyBall"/>
  <p:tag name="EE4P_STYLE_ID" val="39dcc26a-7131-49f4-a9eb-1c0521500c03"/>
  <p:tag name="EE4P_STYLE_NAME" val="BCG Grid 16:9"/>
  <p:tag name="EE4P_SMART_ELEMENT_XML" val="&lt;smartelement id=&quot;HarveyBall&quot; custom=&quot;1&quot;&gt;&lt;position width=&quot;21.25&quot; height=&quot;21.25&quot; alignment=&quot;1&quot; /&gt;&lt;elements&gt;&lt;element name=&quot;background&quot;&gt;&lt;fill visible=&quot;1&quot; foreColor=&quot;#c8c8c8&quot; /&gt;&lt;line visible=&quot;0&quot; /&gt;&lt;reflection visible=&quot;0&quot; /&gt;&lt;shadow visible=&quot;0&quot; /&gt;&lt;/element&gt;&lt;element name=&quot;arc&quot;&gt;&lt;fill visible=&quot;1&quot; foreColor=&quot;&quot; /&gt;&lt;line visible=&quot;0&quot; /&gt;&lt;reflection visible=&quot;0&quot; /&gt;&lt;shadow visible=&quot;0&quot; /&gt;&lt;/element&gt;&lt;element name=&quot;circle&quot;&gt;&lt;fill visible=&quot;0&quot; /&gt;&lt;line visible=&quot;0&quot; /&gt;&lt;reflection visible=&quot;0&quot; /&gt;&lt;shadow visible=&quot;0&quot; /&gt;&lt;/element&gt;&lt;/elements&gt;&lt;colors&gt;&lt;color rgb=&quot;#29ba74&quot; name=&quot;Green&quot; default=&quot;1&quot; /&gt;&lt;color rgb=&quot;#6e6f73&quot; name=&quot;Gray&quot; /&gt;&lt;color rgb=&quot;#e71c57&quot; name=&quot;Magenta&quot; /&gt;&lt;color rgb=&quot;#30c1d7&quot; name=&quot;Bright Blue&quot; /&gt;&lt;/colors&gt;&lt;/smartelement&gt;"/>
</p:tagLst>
</file>

<file path=ppt/tags/tag570.xml><?xml version="1.0" encoding="utf-8"?>
<p:tagLst xmlns:a="http://schemas.openxmlformats.org/drawingml/2006/main" xmlns:r="http://schemas.openxmlformats.org/officeDocument/2006/relationships" xmlns:p="http://schemas.openxmlformats.org/presentationml/2006/main">
  <p:tag name="EE4P_SMART_ELEMENT" val="HarveyBall"/>
  <p:tag name="EE4P_STYLE_ID" val="39dcc26a-7131-49f4-a9eb-1c0521500c03"/>
  <p:tag name="EE4P_STYLE_NAME" val="BCG Grid 16:9"/>
  <p:tag name="EE4P_SMART_ELEMENT_XML" val="&lt;smartelement id=&quot;HarveyBall&quot; custom=&quot;1&quot;&gt;&lt;position width=&quot;21.25&quot; height=&quot;21.25&quot; alignment=&quot;1&quot; /&gt;&lt;elements&gt;&lt;element name=&quot;background&quot;&gt;&lt;fill visible=&quot;1&quot; foreColor=&quot;#c8c8c8&quot; /&gt;&lt;line visible=&quot;0&quot; /&gt;&lt;reflection visible=&quot;0&quot; /&gt;&lt;shadow visible=&quot;0&quot; /&gt;&lt;/element&gt;&lt;element name=&quot;arc&quot;&gt;&lt;fill visible=&quot;1&quot; foreColor=&quot;&quot; /&gt;&lt;line visible=&quot;0&quot; /&gt;&lt;reflection visible=&quot;0&quot; /&gt;&lt;shadow visible=&quot;0&quot; /&gt;&lt;/element&gt;&lt;element name=&quot;circle&quot;&gt;&lt;fill visible=&quot;0&quot; /&gt;&lt;line visible=&quot;0&quot; /&gt;&lt;reflection visible=&quot;0&quot; /&gt;&lt;shadow visible=&quot;0&quot; /&gt;&lt;/element&gt;&lt;/elements&gt;&lt;colors&gt;&lt;color rgb=&quot;#29ba74&quot; name=&quot;Green&quot; default=&quot;1&quot; /&gt;&lt;color rgb=&quot;#6e6f73&quot; name=&quot;Gray&quot; /&gt;&lt;color rgb=&quot;#e71c57&quot; name=&quot;Magenta&quot; /&gt;&lt;color rgb=&quot;#30c1d7&quot; name=&quot;Bright Blue&quot; /&gt;&lt;/colors&gt;&lt;/smartelement&gt;"/>
</p:tagLst>
</file>

<file path=ppt/tags/tag571.xml><?xml version="1.0" encoding="utf-8"?>
<p:tagLst xmlns:a="http://schemas.openxmlformats.org/drawingml/2006/main" xmlns:r="http://schemas.openxmlformats.org/officeDocument/2006/relationships" xmlns:p="http://schemas.openxmlformats.org/presentationml/2006/main">
  <p:tag name="EE4P_SMART_ELEMENT" val="HarveyBall"/>
  <p:tag name="EE4P_STYLE_ID" val="39dcc26a-7131-49f4-a9eb-1c0521500c03"/>
  <p:tag name="EE4P_STYLE_NAME" val="BCG Grid 16:9"/>
  <p:tag name="EE4P_SMART_ELEMENT_XML" val="&lt;smartelement id=&quot;HarveyBall&quot; custom=&quot;1&quot;&gt;&lt;position width=&quot;21.25&quot; height=&quot;21.25&quot; alignment=&quot;1&quot; /&gt;&lt;elements&gt;&lt;element name=&quot;background&quot;&gt;&lt;fill visible=&quot;1&quot; foreColor=&quot;#c8c8c8&quot; /&gt;&lt;line visible=&quot;0&quot; /&gt;&lt;reflection visible=&quot;0&quot; /&gt;&lt;shadow visible=&quot;0&quot; /&gt;&lt;/element&gt;&lt;element name=&quot;arc&quot;&gt;&lt;fill visible=&quot;1&quot; foreColor=&quot;&quot; /&gt;&lt;line visible=&quot;0&quot; /&gt;&lt;reflection visible=&quot;0&quot; /&gt;&lt;shadow visible=&quot;0&quot; /&gt;&lt;/element&gt;&lt;element name=&quot;circle&quot;&gt;&lt;fill visible=&quot;0&quot; /&gt;&lt;line visible=&quot;0&quot; /&gt;&lt;reflection visible=&quot;0&quot; /&gt;&lt;shadow visible=&quot;0&quot; /&gt;&lt;/element&gt;&lt;/elements&gt;&lt;colors&gt;&lt;color rgb=&quot;#29ba74&quot; name=&quot;Green&quot; default=&quot;1&quot; /&gt;&lt;color rgb=&quot;#6e6f73&quot; name=&quot;Gray&quot; /&gt;&lt;color rgb=&quot;#e71c57&quot; name=&quot;Magenta&quot; /&gt;&lt;color rgb=&quot;#30c1d7&quot; name=&quot;Bright Blue&quot; /&gt;&lt;/colors&gt;&lt;/smartelement&gt;"/>
</p:tagLst>
</file>

<file path=ppt/tags/tag572.xml><?xml version="1.0" encoding="utf-8"?>
<p:tagLst xmlns:a="http://schemas.openxmlformats.org/drawingml/2006/main" xmlns:r="http://schemas.openxmlformats.org/officeDocument/2006/relationships" xmlns:p="http://schemas.openxmlformats.org/presentationml/2006/main">
  <p:tag name="EE4P_SMART_ELEMENT" val="HarveyBall"/>
  <p:tag name="EE4P_STYLE_ID" val="39dcc26a-7131-49f4-a9eb-1c0521500c03"/>
  <p:tag name="EE4P_STYLE_NAME" val="BCG Grid 16:9"/>
  <p:tag name="EE4P_SMART_ELEMENT_XML" val="&lt;smartelement id=&quot;HarveyBall&quot; custom=&quot;1&quot;&gt;&lt;position width=&quot;21.25&quot; height=&quot;21.25&quot; alignment=&quot;1&quot; /&gt;&lt;elements&gt;&lt;element name=&quot;background&quot;&gt;&lt;fill visible=&quot;1&quot; foreColor=&quot;#c8c8c8&quot; /&gt;&lt;line visible=&quot;0&quot; /&gt;&lt;reflection visible=&quot;0&quot; /&gt;&lt;shadow visible=&quot;0&quot; /&gt;&lt;/element&gt;&lt;element name=&quot;arc&quot;&gt;&lt;fill visible=&quot;1&quot; foreColor=&quot;&quot; /&gt;&lt;line visible=&quot;0&quot; /&gt;&lt;reflection visible=&quot;0&quot; /&gt;&lt;shadow visible=&quot;0&quot; /&gt;&lt;/element&gt;&lt;element name=&quot;circle&quot;&gt;&lt;fill visible=&quot;0&quot; /&gt;&lt;line visible=&quot;0&quot; /&gt;&lt;reflection visible=&quot;0&quot; /&gt;&lt;shadow visible=&quot;0&quot; /&gt;&lt;/element&gt;&lt;/elements&gt;&lt;colors&gt;&lt;color rgb=&quot;#29ba74&quot; name=&quot;Green&quot; default=&quot;1&quot; /&gt;&lt;color rgb=&quot;#6e6f73&quot; name=&quot;Gray&quot; /&gt;&lt;color rgb=&quot;#e71c57&quot; name=&quot;Magenta&quot; /&gt;&lt;color rgb=&quot;#30c1d7&quot; name=&quot;Bright Blue&quot; /&gt;&lt;/colors&gt;&lt;/smartelement&gt;"/>
</p:tagLst>
</file>

<file path=ppt/tags/tag573.xml><?xml version="1.0" encoding="utf-8"?>
<p:tagLst xmlns:a="http://schemas.openxmlformats.org/drawingml/2006/main" xmlns:r="http://schemas.openxmlformats.org/officeDocument/2006/relationships" xmlns:p="http://schemas.openxmlformats.org/presentationml/2006/main">
  <p:tag name="EE4P_SMART_ELEMENT" val="HarveyBall"/>
  <p:tag name="EE4P_STYLE_ID" val="39dcc26a-7131-49f4-a9eb-1c0521500c03"/>
  <p:tag name="EE4P_STYLE_NAME" val="BCG Grid 16:9"/>
  <p:tag name="EE4P_SMART_ELEMENT_XML" val="&lt;smartelement id=&quot;HarveyBall&quot; custom=&quot;1&quot;&gt;&lt;position width=&quot;21.25&quot; height=&quot;21.25&quot; alignment=&quot;1&quot; /&gt;&lt;elements&gt;&lt;element name=&quot;background&quot;&gt;&lt;fill visible=&quot;1&quot; foreColor=&quot;#c8c8c8&quot; /&gt;&lt;line visible=&quot;0&quot; /&gt;&lt;reflection visible=&quot;0&quot; /&gt;&lt;shadow visible=&quot;0&quot; /&gt;&lt;/element&gt;&lt;element name=&quot;arc&quot;&gt;&lt;fill visible=&quot;1&quot; foreColor=&quot;&quot; /&gt;&lt;line visible=&quot;0&quot; /&gt;&lt;reflection visible=&quot;0&quot; /&gt;&lt;shadow visible=&quot;0&quot; /&gt;&lt;/element&gt;&lt;element name=&quot;circle&quot;&gt;&lt;fill visible=&quot;0&quot; /&gt;&lt;line visible=&quot;0&quot; /&gt;&lt;reflection visible=&quot;0&quot; /&gt;&lt;shadow visible=&quot;0&quot; /&gt;&lt;/element&gt;&lt;/elements&gt;&lt;colors&gt;&lt;color rgb=&quot;#29ba74&quot; name=&quot;Green&quot; default=&quot;1&quot; /&gt;&lt;color rgb=&quot;#6e6f73&quot; name=&quot;Gray&quot; /&gt;&lt;color rgb=&quot;#e71c57&quot; name=&quot;Magenta&quot; /&gt;&lt;color rgb=&quot;#30c1d7&quot; name=&quot;Bright Blue&quot; /&gt;&lt;/colors&gt;&lt;/smartelement&gt;"/>
</p:tagLst>
</file>

<file path=ppt/tags/tag574.xml><?xml version="1.0" encoding="utf-8"?>
<p:tagLst xmlns:a="http://schemas.openxmlformats.org/drawingml/2006/main" xmlns:r="http://schemas.openxmlformats.org/officeDocument/2006/relationships" xmlns:p="http://schemas.openxmlformats.org/presentationml/2006/main">
  <p:tag name="EE4P_SMART_ELEMENT" val="HarveyBall"/>
  <p:tag name="EE4P_STYLE_ID" val="39dcc26a-7131-49f4-a9eb-1c0521500c03"/>
  <p:tag name="EE4P_STYLE_NAME" val="BCG Grid 16:9"/>
  <p:tag name="EE4P_SMART_ELEMENT_XML" val="&lt;smartelement id=&quot;HarveyBall&quot; custom=&quot;1&quot;&gt;&lt;position width=&quot;21.25&quot; height=&quot;21.25&quot; alignment=&quot;1&quot; /&gt;&lt;elements&gt;&lt;element name=&quot;background&quot;&gt;&lt;fill visible=&quot;1&quot; foreColor=&quot;#c8c8c8&quot; /&gt;&lt;line visible=&quot;0&quot; /&gt;&lt;reflection visible=&quot;0&quot; /&gt;&lt;shadow visible=&quot;0&quot; /&gt;&lt;/element&gt;&lt;element name=&quot;arc&quot;&gt;&lt;fill visible=&quot;1&quot; foreColor=&quot;&quot; /&gt;&lt;line visible=&quot;0&quot; /&gt;&lt;reflection visible=&quot;0&quot; /&gt;&lt;shadow visible=&quot;0&quot; /&gt;&lt;/element&gt;&lt;element name=&quot;circle&quot;&gt;&lt;fill visible=&quot;0&quot; /&gt;&lt;line visible=&quot;0&quot; /&gt;&lt;reflection visible=&quot;0&quot; /&gt;&lt;shadow visible=&quot;0&quot; /&gt;&lt;/element&gt;&lt;/elements&gt;&lt;colors&gt;&lt;color rgb=&quot;#29ba74&quot; name=&quot;Green&quot; default=&quot;1&quot; /&gt;&lt;color rgb=&quot;#6e6f73&quot; name=&quot;Gray&quot; /&gt;&lt;color rgb=&quot;#e71c57&quot; name=&quot;Magenta&quot; /&gt;&lt;color rgb=&quot;#30c1d7&quot; name=&quot;Bright Blue&quot; /&gt;&lt;/colors&gt;&lt;/smartelement&gt;"/>
</p:tagLst>
</file>

<file path=ppt/tags/tag575.xml><?xml version="1.0" encoding="utf-8"?>
<p:tagLst xmlns:a="http://schemas.openxmlformats.org/drawingml/2006/main" xmlns:r="http://schemas.openxmlformats.org/officeDocument/2006/relationships" xmlns:p="http://schemas.openxmlformats.org/presentationml/2006/main">
  <p:tag name="EE4P_SMART_ELEMENT" val="HarveyBall"/>
  <p:tag name="EE4P_STYLE_ID" val="39dcc26a-7131-49f4-a9eb-1c0521500c03"/>
  <p:tag name="EE4P_STYLE_NAME" val="BCG Grid 16:9"/>
  <p:tag name="EE4P_SMART_ELEMENT_XML" val="&lt;smartelement id=&quot;HarveyBall&quot; custom=&quot;1&quot;&gt;&lt;position width=&quot;21.25&quot; height=&quot;21.25&quot; alignment=&quot;1&quot; /&gt;&lt;elements&gt;&lt;element name=&quot;background&quot;&gt;&lt;fill visible=&quot;1&quot; foreColor=&quot;#c8c8c8&quot; /&gt;&lt;line visible=&quot;0&quot; /&gt;&lt;reflection visible=&quot;0&quot; /&gt;&lt;shadow visible=&quot;0&quot; /&gt;&lt;/element&gt;&lt;element name=&quot;arc&quot;&gt;&lt;fill visible=&quot;1&quot; foreColor=&quot;&quot; /&gt;&lt;line visible=&quot;0&quot; /&gt;&lt;reflection visible=&quot;0&quot; /&gt;&lt;shadow visible=&quot;0&quot; /&gt;&lt;/element&gt;&lt;element name=&quot;circle&quot;&gt;&lt;fill visible=&quot;0&quot; /&gt;&lt;line visible=&quot;0&quot; /&gt;&lt;reflection visible=&quot;0&quot; /&gt;&lt;shadow visible=&quot;0&quot; /&gt;&lt;/element&gt;&lt;/elements&gt;&lt;colors&gt;&lt;color rgb=&quot;#29ba74&quot; name=&quot;Green&quot; default=&quot;1&quot; /&gt;&lt;color rgb=&quot;#6e6f73&quot; name=&quot;Gray&quot; /&gt;&lt;color rgb=&quot;#e71c57&quot; name=&quot;Magenta&quot; /&gt;&lt;color rgb=&quot;#30c1d7&quot; name=&quot;Bright Blue&quot; /&gt;&lt;/colors&gt;&lt;/smartelement&gt;"/>
</p:tagLst>
</file>

<file path=ppt/tags/tag576.xml><?xml version="1.0" encoding="utf-8"?>
<p:tagLst xmlns:a="http://schemas.openxmlformats.org/drawingml/2006/main" xmlns:r="http://schemas.openxmlformats.org/officeDocument/2006/relationships" xmlns:p="http://schemas.openxmlformats.org/presentationml/2006/main">
  <p:tag name="EE4P_SMART_ELEMENT" val="HarveyBall"/>
  <p:tag name="EE4P_STYLE_ID" val="39dcc26a-7131-49f4-a9eb-1c0521500c03"/>
  <p:tag name="EE4P_STYLE_NAME" val="BCG Grid 16:9"/>
  <p:tag name="EE4P_SMART_ELEMENT_XML" val="&lt;smartelement id=&quot;HarveyBall&quot; custom=&quot;1&quot;&gt;&lt;position width=&quot;21.25&quot; height=&quot;21.25&quot; alignment=&quot;1&quot; /&gt;&lt;elements&gt;&lt;element name=&quot;background&quot;&gt;&lt;fill visible=&quot;1&quot; foreColor=&quot;#c8c8c8&quot; /&gt;&lt;line visible=&quot;0&quot; /&gt;&lt;reflection visible=&quot;0&quot; /&gt;&lt;shadow visible=&quot;0&quot; /&gt;&lt;/element&gt;&lt;element name=&quot;arc&quot;&gt;&lt;fill visible=&quot;1&quot; foreColor=&quot;&quot; /&gt;&lt;line visible=&quot;0&quot; /&gt;&lt;reflection visible=&quot;0&quot; /&gt;&lt;shadow visible=&quot;0&quot; /&gt;&lt;/element&gt;&lt;element name=&quot;circle&quot;&gt;&lt;fill visible=&quot;0&quot; /&gt;&lt;line visible=&quot;0&quot; /&gt;&lt;reflection visible=&quot;0&quot; /&gt;&lt;shadow visible=&quot;0&quot; /&gt;&lt;/element&gt;&lt;/elements&gt;&lt;colors&gt;&lt;color rgb=&quot;#29ba74&quot; name=&quot;Green&quot; default=&quot;1&quot; /&gt;&lt;color rgb=&quot;#6e6f73&quot; name=&quot;Gray&quot; /&gt;&lt;color rgb=&quot;#e71c57&quot; name=&quot;Magenta&quot; /&gt;&lt;color rgb=&quot;#30c1d7&quot; name=&quot;Bright Blue&quot; /&gt;&lt;/colors&gt;&lt;/smartelement&gt;"/>
</p:tagLst>
</file>

<file path=ppt/tags/tag577.xml><?xml version="1.0" encoding="utf-8"?>
<p:tagLst xmlns:a="http://schemas.openxmlformats.org/drawingml/2006/main" xmlns:r="http://schemas.openxmlformats.org/officeDocument/2006/relationships" xmlns:p="http://schemas.openxmlformats.org/presentationml/2006/main">
  <p:tag name="EE4P_SMART_ELEMENT" val="HarveyBall"/>
  <p:tag name="EE4P_STYLE_ID" val="39dcc26a-7131-49f4-a9eb-1c0521500c03"/>
  <p:tag name="EE4P_STYLE_NAME" val="BCG Grid 16:9"/>
  <p:tag name="EE4P_SMART_ELEMENT_XML" val="&lt;smartelement id=&quot;HarveyBall&quot; custom=&quot;1&quot;&gt;&lt;position width=&quot;21.25&quot; height=&quot;21.25&quot; alignment=&quot;1&quot; /&gt;&lt;elements&gt;&lt;element name=&quot;background&quot;&gt;&lt;fill visible=&quot;1&quot; foreColor=&quot;#c8c8c8&quot; /&gt;&lt;line visible=&quot;0&quot; /&gt;&lt;reflection visible=&quot;0&quot; /&gt;&lt;shadow visible=&quot;0&quot; /&gt;&lt;/element&gt;&lt;element name=&quot;arc&quot;&gt;&lt;fill visible=&quot;1&quot; foreColor=&quot;&quot; /&gt;&lt;line visible=&quot;0&quot; /&gt;&lt;reflection visible=&quot;0&quot; /&gt;&lt;shadow visible=&quot;0&quot; /&gt;&lt;/element&gt;&lt;element name=&quot;circle&quot;&gt;&lt;fill visible=&quot;0&quot; /&gt;&lt;line visible=&quot;0&quot; /&gt;&lt;reflection visible=&quot;0&quot; /&gt;&lt;shadow visible=&quot;0&quot; /&gt;&lt;/element&gt;&lt;/elements&gt;&lt;colors&gt;&lt;color rgb=&quot;#29ba74&quot; name=&quot;Green&quot; default=&quot;1&quot; /&gt;&lt;color rgb=&quot;#6e6f73&quot; name=&quot;Gray&quot; /&gt;&lt;color rgb=&quot;#e71c57&quot; name=&quot;Magenta&quot; /&gt;&lt;color rgb=&quot;#30c1d7&quot; name=&quot;Bright Blue&quot; /&gt;&lt;/colors&gt;&lt;/smartelement&gt;"/>
</p:tagLst>
</file>

<file path=ppt/tags/tag578.xml><?xml version="1.0" encoding="utf-8"?>
<p:tagLst xmlns:a="http://schemas.openxmlformats.org/drawingml/2006/main" xmlns:r="http://schemas.openxmlformats.org/officeDocument/2006/relationships" xmlns:p="http://schemas.openxmlformats.org/presentationml/2006/main">
  <p:tag name="EE4P_SMART_ELEMENT" val="HarveyBall"/>
  <p:tag name="EE4P_STYLE_ID" val="39dcc26a-7131-49f4-a9eb-1c0521500c03"/>
  <p:tag name="EE4P_STYLE_NAME" val="BCG Grid 16:9"/>
  <p:tag name="EE4P_SMART_ELEMENT_XML" val="&lt;smartelement id=&quot;HarveyBall&quot; custom=&quot;1&quot;&gt;&lt;position width=&quot;21.25&quot; height=&quot;21.25&quot; alignment=&quot;1&quot; /&gt;&lt;elements&gt;&lt;element name=&quot;background&quot;&gt;&lt;fill visible=&quot;1&quot; foreColor=&quot;#c8c8c8&quot; /&gt;&lt;line visible=&quot;0&quot; /&gt;&lt;reflection visible=&quot;0&quot; /&gt;&lt;shadow visible=&quot;0&quot; /&gt;&lt;/element&gt;&lt;element name=&quot;arc&quot;&gt;&lt;fill visible=&quot;1&quot; foreColor=&quot;&quot; /&gt;&lt;line visible=&quot;0&quot; /&gt;&lt;reflection visible=&quot;0&quot; /&gt;&lt;shadow visible=&quot;0&quot; /&gt;&lt;/element&gt;&lt;element name=&quot;circle&quot;&gt;&lt;fill visible=&quot;0&quot; /&gt;&lt;line visible=&quot;0&quot; /&gt;&lt;reflection visible=&quot;0&quot; /&gt;&lt;shadow visible=&quot;0&quot; /&gt;&lt;/element&gt;&lt;/elements&gt;&lt;colors&gt;&lt;color rgb=&quot;#29ba74&quot; name=&quot;Green&quot; default=&quot;1&quot; /&gt;&lt;color rgb=&quot;#6e6f73&quot; name=&quot;Gray&quot; /&gt;&lt;color rgb=&quot;#e71c57&quot; name=&quot;Magenta&quot; /&gt;&lt;color rgb=&quot;#30c1d7&quot; name=&quot;Bright Blue&quot; /&gt;&lt;/colors&gt;&lt;/smartelement&gt;"/>
</p:tagLst>
</file>

<file path=ppt/tags/tag579.xml><?xml version="1.0" encoding="utf-8"?>
<p:tagLst xmlns:a="http://schemas.openxmlformats.org/drawingml/2006/main" xmlns:r="http://schemas.openxmlformats.org/officeDocument/2006/relationships" xmlns:p="http://schemas.openxmlformats.org/presentationml/2006/main">
  <p:tag name="EE4P_SMART_ELEMENT" val="HarveyBall"/>
  <p:tag name="EE4P_STYLE_ID" val="39dcc26a-7131-49f4-a9eb-1c0521500c03"/>
  <p:tag name="EE4P_STYLE_NAME" val="BCG Grid 16:9"/>
  <p:tag name="EE4P_SMART_ELEMENT_XML" val="&lt;smartelement id=&quot;HarveyBall&quot; custom=&quot;1&quot;&gt;&lt;position width=&quot;21.25&quot; height=&quot;21.25&quot; alignment=&quot;1&quot; /&gt;&lt;elements&gt;&lt;element name=&quot;background&quot;&gt;&lt;fill visible=&quot;1&quot; foreColor=&quot;#c8c8c8&quot; /&gt;&lt;line visible=&quot;0&quot; /&gt;&lt;reflection visible=&quot;0&quot; /&gt;&lt;shadow visible=&quot;0&quot; /&gt;&lt;/element&gt;&lt;element name=&quot;arc&quot;&gt;&lt;fill visible=&quot;1&quot; foreColor=&quot;&quot; /&gt;&lt;line visible=&quot;0&quot; /&gt;&lt;reflection visible=&quot;0&quot; /&gt;&lt;shadow visible=&quot;0&quot; /&gt;&lt;/element&gt;&lt;element name=&quot;circle&quot;&gt;&lt;fill visible=&quot;0&quot; /&gt;&lt;line visible=&quot;0&quot; /&gt;&lt;reflection visible=&quot;0&quot; /&gt;&lt;shadow visible=&quot;0&quot; /&gt;&lt;/element&gt;&lt;/elements&gt;&lt;colors&gt;&lt;color rgb=&quot;#29ba74&quot; name=&quot;Green&quot; default=&quot;1&quot; /&gt;&lt;color rgb=&quot;#6e6f73&quot; name=&quot;Gray&quot; /&gt;&lt;color rgb=&quot;#e71c57&quot; name=&quot;Magenta&quot; /&gt;&lt;color rgb=&quot;#30c1d7&quot; name=&quot;Bright Blue&quot; /&gt;&lt;/colors&gt;&lt;/smartelement&gt;"/>
</p:tagLst>
</file>

<file path=ppt/tags/tag580.xml><?xml version="1.0" encoding="utf-8"?>
<p:tagLst xmlns:a="http://schemas.openxmlformats.org/drawingml/2006/main" xmlns:r="http://schemas.openxmlformats.org/officeDocument/2006/relationships" xmlns:p="http://schemas.openxmlformats.org/presentationml/2006/main">
  <p:tag name="EE4P_SMART_ELEMENT" val="HarveyBall"/>
  <p:tag name="EE4P_STYLE_ID" val="39dcc26a-7131-49f4-a9eb-1c0521500c03"/>
  <p:tag name="EE4P_STYLE_NAME" val="BCG Grid 16:9"/>
  <p:tag name="EE4P_SMART_ELEMENT_XML" val="&lt;smartelement id=&quot;HarveyBall&quot; custom=&quot;1&quot;&gt;&lt;position width=&quot;21.25&quot; height=&quot;21.25&quot; alignment=&quot;1&quot; /&gt;&lt;elements&gt;&lt;element name=&quot;background&quot;&gt;&lt;fill visible=&quot;1&quot; foreColor=&quot;#c8c8c8&quot; /&gt;&lt;line visible=&quot;0&quot; /&gt;&lt;reflection visible=&quot;0&quot; /&gt;&lt;shadow visible=&quot;0&quot; /&gt;&lt;/element&gt;&lt;element name=&quot;arc&quot;&gt;&lt;fill visible=&quot;1&quot; foreColor=&quot;&quot; /&gt;&lt;line visible=&quot;0&quot; /&gt;&lt;reflection visible=&quot;0&quot; /&gt;&lt;shadow visible=&quot;0&quot; /&gt;&lt;/element&gt;&lt;element name=&quot;circle&quot;&gt;&lt;fill visible=&quot;0&quot; /&gt;&lt;line visible=&quot;0&quot; /&gt;&lt;reflection visible=&quot;0&quot; /&gt;&lt;shadow visible=&quot;0&quot; /&gt;&lt;/element&gt;&lt;/elements&gt;&lt;colors&gt;&lt;color rgb=&quot;#29ba74&quot; name=&quot;Green&quot; default=&quot;1&quot; /&gt;&lt;color rgb=&quot;#6e6f73&quot; name=&quot;Gray&quot; /&gt;&lt;color rgb=&quot;#e71c57&quot; name=&quot;Magenta&quot; /&gt;&lt;color rgb=&quot;#30c1d7&quot; name=&quot;Bright Blue&quot; /&gt;&lt;/colors&gt;&lt;/smartelement&gt;"/>
</p:tagLst>
</file>

<file path=ppt/tags/tag581.xml><?xml version="1.0" encoding="utf-8"?>
<p:tagLst xmlns:a="http://schemas.openxmlformats.org/drawingml/2006/main" xmlns:r="http://schemas.openxmlformats.org/officeDocument/2006/relationships" xmlns:p="http://schemas.openxmlformats.org/presentationml/2006/main">
  <p:tag name="EE4P_STYLE_ID" val="4dzODeyK"/>
  <p:tag name="EE4P_STYLE_NAME" val="absa Grid 16:9"/>
  <p:tag name="EE4P_SMART_ELEMENT" val="HarveyBall"/>
  <p:tag name="EE4P_SMART_ELEMENT_XML" val="&lt;smartelement id=&quot;HarveyBall&quot; custom=&quot;1&quot;&gt;&lt;position width=&quot;21.25&quot; height=&quot;21.25&quot; alignment=&quot;1&quot; /&gt;&lt;elements&gt;&lt;element name=&quot;background&quot;&gt;&lt;fill visible=&quot;1&quot; foreColor=&quot;#e2e2e3&quot; /&gt;&lt;line visible=&quot;0&quot; /&gt;&lt;reflection visible=&quot;0&quot; /&gt;&lt;shadow visible=&quot;0&quot; /&gt;&lt;/element&gt;&lt;element name=&quot;arc&quot;&gt;&lt;fill visible=&quot;1&quot; foreColor=&quot;&quot; /&gt;&lt;line visible=&quot;0&quot; /&gt;&lt;reflection visible=&quot;0&quot; /&gt;&lt;shadow visible=&quot;0&quot; /&gt;&lt;/element&gt;&lt;element name=&quot;circle&quot;&gt;&lt;fill visible=&quot;0&quot; /&gt;&lt;line visible=&quot;0&quot; /&gt;&lt;reflection visible=&quot;0&quot; /&gt;&lt;shadow visible=&quot;0&quot; /&gt;&lt;/element&gt;&lt;/elements&gt;&lt;colors&gt;&lt;color name=&quot;Red&quot; rgb=&quot;#dc0532&quot; default=&quot;1&quot; /&gt;&lt;color name=&quot;Gray&quot; rgb=&quot;#7f7f7f&quot; /&gt;&lt;color name=&quot;Orange&quot; rgb=&quot;#ee7720&quot; /&gt;&lt;color name=&quot;Green&quot; rgb=&quot;#008000&quot; /&gt;&lt;/colors&gt;&lt;/smartelement&gt;"/>
</p:tagLst>
</file>

<file path=ppt/tags/tag58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83.xml><?xml version="1.0" encoding="utf-8"?>
<p:tagLst xmlns:a="http://schemas.openxmlformats.org/drawingml/2006/main" xmlns:r="http://schemas.openxmlformats.org/officeDocument/2006/relationships" xmlns:p="http://schemas.openxmlformats.org/presentationml/2006/main">
  <p:tag name="THINKCELLSHAPEDONOTDELETE" val="tYOwyBAn6micknQG_toRWrQ"/>
</p:tagLst>
</file>

<file path=ppt/tags/tag58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85.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586.xml><?xml version="1.0" encoding="utf-8"?>
<p:tagLst xmlns:a="http://schemas.openxmlformats.org/drawingml/2006/main" xmlns:r="http://schemas.openxmlformats.org/officeDocument/2006/relationships" xmlns:p="http://schemas.openxmlformats.org/presentationml/2006/main">
  <p:tag name="THINKCELLSHAPEDONOTDELETE" val="ptBUOKF_RO0.YkQT24VJj0A"/>
</p:tagLst>
</file>

<file path=ppt/tags/tag587.xml><?xml version="1.0" encoding="utf-8"?>
<p:tagLst xmlns:a="http://schemas.openxmlformats.org/drawingml/2006/main" xmlns:r="http://schemas.openxmlformats.org/officeDocument/2006/relationships" xmlns:p="http://schemas.openxmlformats.org/presentationml/2006/main">
  <p:tag name="THINKCELLSHAPEDONOTDELETE" val="peMapccbR3UOKK_QQQmXvEA"/>
</p:tagLst>
</file>

<file path=ppt/tags/tag588.xml><?xml version="1.0" encoding="utf-8"?>
<p:tagLst xmlns:a="http://schemas.openxmlformats.org/drawingml/2006/main" xmlns:r="http://schemas.openxmlformats.org/officeDocument/2006/relationships" xmlns:p="http://schemas.openxmlformats.org/presentationml/2006/main">
  <p:tag name="THINKCELLSHAPEDONOTDELETE" val="ptBUOKF_RO0.YkQT24VJj0A"/>
</p:tagLst>
</file>

<file path=ppt/tags/tag589.xml><?xml version="1.0" encoding="utf-8"?>
<p:tagLst xmlns:a="http://schemas.openxmlformats.org/drawingml/2006/main" xmlns:r="http://schemas.openxmlformats.org/officeDocument/2006/relationships" xmlns:p="http://schemas.openxmlformats.org/presentationml/2006/main">
  <p:tag name="THINKCELLSHAPEDONOTDELETE" val="peMapccbR3UOKK_QQQmXvEA"/>
</p:tagLst>
</file>

<file path=ppt/tags/tag590.xml><?xml version="1.0" encoding="utf-8"?>
<p:tagLst xmlns:a="http://schemas.openxmlformats.org/drawingml/2006/main" xmlns:r="http://schemas.openxmlformats.org/officeDocument/2006/relationships" xmlns:p="http://schemas.openxmlformats.org/presentationml/2006/main">
  <p:tag name="THINKCELLSHAPEDONOTDELETE" val="ptBUOKF_RO0.YkQT24VJj0A"/>
</p:tagLst>
</file>

<file path=ppt/tags/tag591.xml><?xml version="1.0" encoding="utf-8"?>
<p:tagLst xmlns:a="http://schemas.openxmlformats.org/drawingml/2006/main" xmlns:r="http://schemas.openxmlformats.org/officeDocument/2006/relationships" xmlns:p="http://schemas.openxmlformats.org/presentationml/2006/main">
  <p:tag name="THINKCELLSHAPEDONOTDELETE" val="peMapccbR3UOKK_QQQmXvEA"/>
</p:tagLst>
</file>

<file path=ppt/tags/tag592.xml><?xml version="1.0" encoding="utf-8"?>
<p:tagLst xmlns:a="http://schemas.openxmlformats.org/drawingml/2006/main" xmlns:r="http://schemas.openxmlformats.org/officeDocument/2006/relationships" xmlns:p="http://schemas.openxmlformats.org/presentationml/2006/main">
  <p:tag name="BCG_MODE" val="Documentation"/>
  <p:tag name="BCG_DESIGN" val="Title only"/>
  <p:tag name="EE4P_LAYOUT_ID" val="D"/>
</p:tagLst>
</file>

<file path=ppt/tags/tag59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94.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595.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596.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597.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59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9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00.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ags/tag601.xml><?xml version="1.0" encoding="utf-8"?>
<p:tagLst xmlns:a="http://schemas.openxmlformats.org/drawingml/2006/main" xmlns:r="http://schemas.openxmlformats.org/officeDocument/2006/relationships" xmlns:p="http://schemas.openxmlformats.org/presentationml/2006/main">
  <p:tag name="BCGCUSTOMTAGKEY" val="CommentTagValue"/>
</p:tagLst>
</file>

<file path=ppt/theme/theme1.xml><?xml version="1.0" encoding="utf-8"?>
<a:theme xmlns:a="http://schemas.openxmlformats.org/drawingml/2006/main" name="BCG Grid 16:9">
  <a:themeElements>
    <a:clrScheme name="The Boston Consulting Group">
      <a:dk1>
        <a:srgbClr val="575757"/>
      </a:dk1>
      <a:lt1>
        <a:sysClr val="window" lastClr="FFFFFF"/>
      </a:lt1>
      <a:dk2>
        <a:srgbClr val="29BA74"/>
      </a:dk2>
      <a:lt2>
        <a:srgbClr val="F2F2F2"/>
      </a:lt2>
      <a:accent1>
        <a:srgbClr val="03522D"/>
      </a:accent1>
      <a:accent2>
        <a:srgbClr val="197A56"/>
      </a:accent2>
      <a:accent3>
        <a:srgbClr val="D4DF33"/>
      </a:accent3>
      <a:accent4>
        <a:srgbClr val="3EAD92"/>
      </a:accent4>
      <a:accent5>
        <a:srgbClr val="6E6F73"/>
      </a:accent5>
      <a:accent6>
        <a:srgbClr val="295E7E"/>
      </a:accent6>
      <a:hlink>
        <a:srgbClr val="2E3558"/>
      </a:hlink>
      <a:folHlink>
        <a:srgbClr val="2E3558"/>
      </a:folHlink>
    </a:clrScheme>
    <a:fontScheme name="BCG Trebuchet">
      <a:majorFont>
        <a:latin typeface="Trebuchet MS"/>
        <a:ea typeface=""/>
        <a:cs typeface=""/>
      </a:majorFont>
      <a:minorFont>
        <a:latin typeface="Trebuchet MS"/>
        <a:ea typeface=""/>
        <a:cs typeface=""/>
      </a:minorFont>
    </a:fontScheme>
    <a:fmtScheme name="Subtle Solids">
      <a:fillStyleLst>
        <a:solidFill>
          <a:schemeClr val="phClr"/>
        </a:solidFill>
        <a:solidFill>
          <a:schemeClr val="phClr">
            <a:tint val="65000"/>
          </a:schemeClr>
        </a:solidFill>
        <a:solidFill>
          <a:schemeClr val="phClr">
            <a:shade val="80000"/>
            <a:satMod val="15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2700" h="25400" prst="coolSlant"/>
          </a:sp3d>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rgbClr val="29BA74"/>
        </a:solidFill>
        <a:ln w="9525" cap="rnd" cmpd="sng" algn="ctr">
          <a:solidFill>
            <a:srgbClr val="29BA74"/>
          </a:solidFill>
          <a:prstDash val="solid"/>
          <a:round/>
          <a:headEnd type="none" w="med" len="med"/>
          <a:tailEnd type="none" w="med" len="med"/>
        </a:ln>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lgn="ctr">
          <a:defRPr sz="1200" dirty="0" smtClean="0">
            <a:solidFill>
              <a:srgbClr val="FFFFFF"/>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9525" cap="rnd">
          <a:solidFill>
            <a:schemeClr val="tx1">
              <a:lumMod val="60000"/>
              <a:lumOff val="40000"/>
            </a:schemeClr>
          </a:solidFill>
          <a:prstDash val="solid"/>
          <a:round/>
        </a:ln>
      </a:spPr>
      <a:bodyPr/>
      <a:lstStyle/>
      <a:style>
        <a:lnRef idx="1">
          <a:schemeClr val="accent1"/>
        </a:lnRef>
        <a:fillRef idx="0">
          <a:schemeClr val="accent1"/>
        </a:fillRef>
        <a:effectRef idx="0">
          <a:schemeClr val="accent1"/>
        </a:effectRef>
        <a:fontRef idx="minor">
          <a:schemeClr val="tx1"/>
        </a:fontRef>
      </a:style>
    </a:lnDef>
    <a:txDef>
      <a:spPr>
        <a:noFill/>
        <a:ln w="9525" cap="rnd">
          <a:noFill/>
          <a:prstDash val="solid"/>
          <a:round/>
        </a:ln>
        <a:extLst>
          <a:ext uri="{909E8E84-426E-40DD-AFC4-6F175D3DCCD1}">
            <a14:hiddenFill xmlns:a14="http://schemas.microsoft.com/office/drawing/2010/main">
              <a:solidFill>
                <a:srgbClr val="29BA74"/>
              </a:solidFill>
            </a14:hiddenFill>
          </a:ext>
        </a:extLst>
      </a:spPr>
      <a:bodyPr rot="0" spcFirstLastPara="0" vertOverflow="overflow" horzOverflow="overflow" vert="horz" wrap="none" lIns="91440" tIns="45720" rIns="91440" bIns="45720" numCol="1" spcCol="0" rtlCol="0" fromWordArt="0" anchor="ctr" anchorCtr="0" forceAA="0" compatLnSpc="1">
        <a:prstTxWarp prst="textNoShape">
          <a:avLst/>
        </a:prstTxWarp>
        <a:noAutofit/>
      </a:bodyPr>
      <a:lstStyle>
        <a:defPPr algn="ctr">
          <a:defRPr dirty="0" err="1" smtClean="0">
            <a:solidFill>
              <a:srgbClr val="575757"/>
            </a:solidFill>
          </a:defRPr>
        </a:defPPr>
      </a:lstStyle>
      <a:style>
        <a:lnRef idx="2">
          <a:schemeClr val="accent1">
            <a:shade val="50000"/>
          </a:schemeClr>
        </a:lnRef>
        <a:fillRef idx="1">
          <a:schemeClr val="accent1"/>
        </a:fillRef>
        <a:effectRef idx="0">
          <a:schemeClr val="accent1"/>
        </a:effectRef>
        <a:fontRef idx="minor">
          <a:schemeClr val="lt1"/>
        </a:fontRef>
      </a:style>
    </a:txDef>
  </a:objectDefaults>
  <a:extraClrSchemeLst/>
  <a:custClrLst>
    <a:custClr name="Custom Color">
      <a:srgbClr val="37373A"/>
    </a:custClr>
    <a:custClr name="Custom Color">
      <a:srgbClr val="2E3558"/>
    </a:custClr>
    <a:custClr name="Custom Color">
      <a:srgbClr val="30C1D7"/>
    </a:custClr>
    <a:custClr name="Custom Color">
      <a:srgbClr val="670F31"/>
    </a:custClr>
    <a:custClr name="Custom Color">
      <a:srgbClr val="E71C57"/>
    </a:custClr>
  </a:custClrLst>
  <a:extLst>
    <a:ext uri="{05A4C25C-085E-4340-85A3-A5531E510DB2}">
      <thm15:themeFamily xmlns:thm15="http://schemas.microsoft.com/office/thememl/2012/main" name="BCG_Grid_16x9.pptx" id="{8830F7DA-A78E-4B82-9935-5CC7FF5B9633}" vid="{52C2632B-9813-48FC-8882-620C42A0A230}"/>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1_BCG Grid 16:9">
  <a:themeElements>
    <a:clrScheme name="The Boston Consulting Group">
      <a:dk1>
        <a:srgbClr val="575757"/>
      </a:dk1>
      <a:lt1>
        <a:sysClr val="window" lastClr="FFFFFF"/>
      </a:lt1>
      <a:dk2>
        <a:srgbClr val="29BA74"/>
      </a:dk2>
      <a:lt2>
        <a:srgbClr val="F2F2F2"/>
      </a:lt2>
      <a:accent1>
        <a:srgbClr val="03522D"/>
      </a:accent1>
      <a:accent2>
        <a:srgbClr val="197A56"/>
      </a:accent2>
      <a:accent3>
        <a:srgbClr val="D4DF33"/>
      </a:accent3>
      <a:accent4>
        <a:srgbClr val="3EAD92"/>
      </a:accent4>
      <a:accent5>
        <a:srgbClr val="6E6F73"/>
      </a:accent5>
      <a:accent6>
        <a:srgbClr val="295E7E"/>
      </a:accent6>
      <a:hlink>
        <a:srgbClr val="2E3558"/>
      </a:hlink>
      <a:folHlink>
        <a:srgbClr val="2E3558"/>
      </a:folHlink>
    </a:clrScheme>
    <a:fontScheme name="BCG Trebuchet">
      <a:majorFont>
        <a:latin typeface="Trebuchet MS"/>
        <a:ea typeface=""/>
        <a:cs typeface=""/>
      </a:majorFont>
      <a:minorFont>
        <a:latin typeface="Trebuchet MS"/>
        <a:ea typeface=""/>
        <a:cs typeface=""/>
      </a:minorFont>
    </a:fontScheme>
    <a:fmtScheme name="Subtle Solids">
      <a:fillStyleLst>
        <a:solidFill>
          <a:schemeClr val="phClr"/>
        </a:solidFill>
        <a:solidFill>
          <a:schemeClr val="phClr">
            <a:tint val="65000"/>
          </a:schemeClr>
        </a:solidFill>
        <a:solidFill>
          <a:schemeClr val="phClr">
            <a:shade val="80000"/>
            <a:satMod val="15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2700" h="25400" prst="coolSlant"/>
          </a:sp3d>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rgbClr val="29BA74"/>
        </a:solidFill>
        <a:ln w="9525" cap="rnd" cmpd="sng" algn="ctr">
          <a:solidFill>
            <a:srgbClr val="29BA74"/>
          </a:solidFill>
          <a:prstDash val="solid"/>
          <a:round/>
          <a:headEnd type="none" w="med" len="med"/>
          <a:tailEnd type="none" w="med" len="med"/>
        </a:ln>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lgn="ctr">
          <a:defRPr sz="1200" dirty="0" smtClean="0">
            <a:solidFill>
              <a:srgbClr val="FFFFFF"/>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9525" cap="rnd">
          <a:solidFill>
            <a:schemeClr val="tx1">
              <a:lumMod val="60000"/>
              <a:lumOff val="40000"/>
            </a:schemeClr>
          </a:solidFill>
          <a:prstDash val="solid"/>
          <a:round/>
        </a:ln>
      </a:spPr>
      <a:bodyPr/>
      <a:lstStyle/>
      <a:style>
        <a:lnRef idx="1">
          <a:schemeClr val="accent1"/>
        </a:lnRef>
        <a:fillRef idx="0">
          <a:schemeClr val="accent1"/>
        </a:fillRef>
        <a:effectRef idx="0">
          <a:schemeClr val="accent1"/>
        </a:effectRef>
        <a:fontRef idx="minor">
          <a:schemeClr val="tx1"/>
        </a:fontRef>
      </a:style>
    </a:lnDef>
    <a:txDef>
      <a:spPr>
        <a:noFill/>
        <a:ln w="9525" cap="rnd">
          <a:noFill/>
          <a:prstDash val="solid"/>
          <a:round/>
        </a:ln>
        <a:extLst>
          <a:ext uri="{909E8E84-426E-40DD-AFC4-6F175D3DCCD1}">
            <a14:hiddenFill xmlns:a14="http://schemas.microsoft.com/office/drawing/2010/main">
              <a:solidFill>
                <a:srgbClr val="29BA74"/>
              </a:solidFill>
            </a14:hiddenFill>
          </a:ext>
        </a:extLst>
      </a:spPr>
      <a:bodyPr rot="0" spcFirstLastPara="0" vertOverflow="overflow" horzOverflow="overflow" vert="horz" wrap="none" lIns="91440" tIns="45720" rIns="91440" bIns="45720" numCol="1" spcCol="0" rtlCol="0" fromWordArt="0" anchor="ctr" anchorCtr="0" forceAA="0" compatLnSpc="1">
        <a:prstTxWarp prst="textNoShape">
          <a:avLst/>
        </a:prstTxWarp>
        <a:noAutofit/>
      </a:bodyPr>
      <a:lstStyle>
        <a:defPPr algn="ctr">
          <a:defRPr dirty="0" err="1" smtClean="0">
            <a:solidFill>
              <a:srgbClr val="575757"/>
            </a:solidFill>
          </a:defRPr>
        </a:defPPr>
      </a:lstStyle>
      <a:style>
        <a:lnRef idx="2">
          <a:schemeClr val="accent1">
            <a:shade val="50000"/>
          </a:schemeClr>
        </a:lnRef>
        <a:fillRef idx="1">
          <a:schemeClr val="accent1"/>
        </a:fillRef>
        <a:effectRef idx="0">
          <a:schemeClr val="accent1"/>
        </a:effectRef>
        <a:fontRef idx="minor">
          <a:schemeClr val="lt1"/>
        </a:fontRef>
      </a:style>
    </a:txDef>
  </a:objectDefaults>
  <a:extraClrSchemeLst/>
  <a:custClrLst>
    <a:custClr name="Custom Color">
      <a:srgbClr val="37373A"/>
    </a:custClr>
    <a:custClr name="Custom Color">
      <a:srgbClr val="2E3558"/>
    </a:custClr>
    <a:custClr name="Custom Color">
      <a:srgbClr val="30C1D7"/>
    </a:custClr>
    <a:custClr name="Custom Color">
      <a:srgbClr val="670F31"/>
    </a:custClr>
    <a:custClr name="Custom Color">
      <a:srgbClr val="E71C57"/>
    </a:custClr>
  </a:custClrLst>
  <a:extLst>
    <a:ext uri="{05A4C25C-085E-4340-85A3-A5531E510DB2}">
      <thm15:themeFamily xmlns:thm15="http://schemas.microsoft.com/office/thememl/2012/main" name="Blank_16x9.potx" id="{F1417891-ADEE-4A5A-84BF-A61365689D8D}" vid="{7D249777-7FCF-437A-B862-D77B0EF45DB4}"/>
    </a:ext>
  </a:extLst>
</a:theme>
</file>

<file path=ppt/theme/theme4.xml><?xml version="1.0" encoding="utf-8"?>
<a:theme xmlns:a="http://schemas.openxmlformats.org/drawingml/2006/main" name="Office Theme">
  <a:themeElements>
    <a:clrScheme name="BCG 2015">
      <a:dk1>
        <a:srgbClr val="6E6F73"/>
      </a:dk1>
      <a:lt1>
        <a:sysClr val="window" lastClr="FFFFFF"/>
      </a:lt1>
      <a:dk2>
        <a:srgbClr val="2FC77E"/>
      </a:dk2>
      <a:lt2>
        <a:srgbClr val="E7E7E7"/>
      </a:lt2>
      <a:accent1>
        <a:srgbClr val="03522D"/>
      </a:accent1>
      <a:accent2>
        <a:srgbClr val="197A56"/>
      </a:accent2>
      <a:accent3>
        <a:srgbClr val="E3EE37"/>
      </a:accent3>
      <a:accent4>
        <a:srgbClr val="3EAD92"/>
      </a:accent4>
      <a:accent5>
        <a:srgbClr val="6E6F73"/>
      </a:accent5>
      <a:accent6>
        <a:srgbClr val="295E7E"/>
      </a:accent6>
      <a:hlink>
        <a:srgbClr val="2E3558"/>
      </a:hlink>
      <a:folHlink>
        <a:srgbClr val="670F31"/>
      </a:folHlink>
    </a:clrScheme>
    <a:fontScheme name="BCG Trebuchet">
      <a:majorFont>
        <a:latin typeface="Trebuchet MS"/>
        <a:ea typeface=""/>
        <a:cs typeface=""/>
      </a:majorFont>
      <a:minorFont>
        <a:latin typeface="Trebuchet MS"/>
        <a:ea typeface=""/>
        <a:cs typeface=""/>
      </a:minorFont>
    </a:fontScheme>
    <a:fmtScheme name="Subtle Solids">
      <a:fillStyleLst>
        <a:solidFill>
          <a:schemeClr val="phClr"/>
        </a:solidFill>
        <a:solidFill>
          <a:schemeClr val="phClr">
            <a:tint val="65000"/>
          </a:schemeClr>
        </a:solidFill>
        <a:solidFill>
          <a:schemeClr val="phClr">
            <a:shade val="80000"/>
            <a:satMod val="15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2700" h="25400" prst="coolSlant"/>
          </a:sp3d>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Office Theme">
  <a:themeElements>
    <a:clrScheme name="BCG Colors 2015">
      <a:dk1>
        <a:srgbClr val="6E6F73"/>
      </a:dk1>
      <a:lt1>
        <a:sysClr val="window" lastClr="FFFFFF"/>
      </a:lt1>
      <a:dk2>
        <a:srgbClr val="2FC77E"/>
      </a:dk2>
      <a:lt2>
        <a:srgbClr val="E7E7E7"/>
      </a:lt2>
      <a:accent1>
        <a:srgbClr val="03522D"/>
      </a:accent1>
      <a:accent2>
        <a:srgbClr val="197A56"/>
      </a:accent2>
      <a:accent3>
        <a:srgbClr val="E3EE37"/>
      </a:accent3>
      <a:accent4>
        <a:srgbClr val="3EAD92"/>
      </a:accent4>
      <a:accent5>
        <a:srgbClr val="6E6F73"/>
      </a:accent5>
      <a:accent6>
        <a:srgbClr val="295E7E"/>
      </a:accent6>
      <a:hlink>
        <a:srgbClr val="2FC77E"/>
      </a:hlink>
      <a:folHlink>
        <a:srgbClr val="03522D"/>
      </a:folHlink>
    </a:clrScheme>
    <a:fontScheme name="BCG Trebuchet">
      <a:majorFont>
        <a:latin typeface="Trebuchet MS"/>
        <a:ea typeface=""/>
        <a:cs typeface=""/>
      </a:majorFont>
      <a:minorFont>
        <a:latin typeface="Trebuchet MS"/>
        <a:ea typeface=""/>
        <a:cs typeface=""/>
      </a:minorFont>
    </a:fontScheme>
    <a:fmtScheme name="Subtle Solids">
      <a:fillStyleLst>
        <a:solidFill>
          <a:schemeClr val="phClr"/>
        </a:solidFill>
        <a:solidFill>
          <a:schemeClr val="phClr">
            <a:tint val="65000"/>
          </a:schemeClr>
        </a:solidFill>
        <a:solidFill>
          <a:schemeClr val="phClr">
            <a:shade val="80000"/>
            <a:satMod val="15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2700" h="25400" prst="coolSlant"/>
          </a:sp3d>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webextensions/_rels/taskpanes.xml.rels><?xml version="1.0" encoding="UTF-8" standalone="yes"?>
<Relationships xmlns="http://schemas.openxmlformats.org/package/2006/relationships"><Relationship Id="rId1" Type="http://schemas.microsoft.com/office/2011/relationships/webextension" Target="webextension1.xml"/></Relationships>
</file>

<file path=ppt/webextensions/taskpanes.xml><?xml version="1.0" encoding="utf-8"?>
<wetp:taskpanes xmlns:wetp="http://schemas.microsoft.com/office/webextensions/taskpanes/2010/11">
  <wetp:taskpane dockstate="right" visibility="0" width="350" row="5">
    <wetp:webextensionref xmlns:r="http://schemas.openxmlformats.org/officeDocument/2006/relationships" r:id="rId1"/>
  </wetp:taskpane>
</wetp:taskpanes>
</file>

<file path=ppt/webextensions/webextension1.xml><?xml version="1.0" encoding="utf-8"?>
<we:webextension xmlns:we="http://schemas.microsoft.com/office/webextensions/webextension/2010/11" id="{2EE4A404-8534-4A34-861E-FE64B2ABC8CD}">
  <we:reference id="1e02f4c4-fc90-4da1-8ab3-b26c44d971ec" version="2.2.0.0" store="EXCatalog" storeType="EXCatalog"/>
  <we:alternateReferences/>
  <we:properties/>
  <we:bindings/>
  <we:snapshot xmlns:r="http://schemas.openxmlformats.org/officeDocument/2006/relationships"/>
</we:webextension>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_ip_UnifiedCompliancePolicyUIAction xmlns="http://schemas.microsoft.com/sharepoint/v3" xsi:nil="true"/>
    <TaxCatchAll xmlns="79b1087e-b6e1-495d-b445-e191f6146686" xsi:nil="true"/>
    <_ip_UnifiedCompliancePolicyProperties xmlns="http://schemas.microsoft.com/sharepoint/v3" xsi:nil="true"/>
    <lcf76f155ced4ddcb4097134ff3c332f xmlns="ed596afb-b43d-4b37-9607-5be3046dbb15">
      <Terms xmlns="http://schemas.microsoft.com/office/infopath/2007/PartnerControls"/>
    </lcf76f155ced4ddcb4097134ff3c332f>
  </documentManagement>
</p:properties>
</file>

<file path=customXml/item2.xml><?xml version="1.0" encoding="utf-8"?>
<ct:contentTypeSchema xmlns:ct="http://schemas.microsoft.com/office/2006/metadata/contentType" xmlns:ma="http://schemas.microsoft.com/office/2006/metadata/properties/metaAttributes" ct:_="" ma:_="" ma:contentTypeName="Document" ma:contentTypeID="0x010100888FABD9E627A942B7A0373138464A12" ma:contentTypeVersion="15" ma:contentTypeDescription="Create a new document." ma:contentTypeScope="" ma:versionID="17563c6bda9230eada0075e15a5a535d">
  <xsd:schema xmlns:xsd="http://www.w3.org/2001/XMLSchema" xmlns:xs="http://www.w3.org/2001/XMLSchema" xmlns:p="http://schemas.microsoft.com/office/2006/metadata/properties" xmlns:ns1="http://schemas.microsoft.com/sharepoint/v3" xmlns:ns2="ed596afb-b43d-4b37-9607-5be3046dbb15" xmlns:ns3="79b1087e-b6e1-495d-b445-e191f6146686" targetNamespace="http://schemas.microsoft.com/office/2006/metadata/properties" ma:root="true" ma:fieldsID="79b4063232eedcf30fe786e892e3bb9b" ns1:_="" ns2:_="" ns3:_="">
    <xsd:import namespace="http://schemas.microsoft.com/sharepoint/v3"/>
    <xsd:import namespace="ed596afb-b43d-4b37-9607-5be3046dbb15"/>
    <xsd:import namespace="79b1087e-b6e1-495d-b445-e191f6146686"/>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ObjectDetectorVersions" minOccurs="0"/>
                <xsd:element ref="ns1:_ip_UnifiedCompliancePolicyProperties" minOccurs="0"/>
                <xsd:element ref="ns1:_ip_UnifiedCompliancePolicyUIAction" minOccurs="0"/>
                <xsd:element ref="ns2:MediaServiceDateTaken" minOccurs="0"/>
                <xsd:element ref="ns2:MediaServiceGenerationTime" minOccurs="0"/>
                <xsd:element ref="ns2:MediaServiceEventHashCode" minOccurs="0"/>
                <xsd:element ref="ns2:MediaLengthInSeconds" minOccurs="0"/>
                <xsd:element ref="ns2:lcf76f155ced4ddcb4097134ff3c332f" minOccurs="0"/>
                <xsd:element ref="ns3:TaxCatchAll" minOccurs="0"/>
                <xsd:element ref="ns2:MediaServiceOCR" minOccurs="0"/>
                <xsd:element ref="ns2:MediaServiceLoca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_ip_UnifiedCompliancePolicyProperties" ma:index="12" nillable="true" ma:displayName="Unified Compliance Policy Properties" ma:hidden="true" ma:internalName="_ip_UnifiedCompliancePolicyProperties">
      <xsd:simpleType>
        <xsd:restriction base="dms:Note"/>
      </xsd:simpleType>
    </xsd:element>
    <xsd:element name="_ip_UnifiedCompliancePolicyUIAction" ma:index="13" nillable="true" ma:displayName="Unified Compliance Policy UI Action" ma:hidden="true" ma:internalName="_ip_UnifiedCompliancePolicyUIAction">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ed596afb-b43d-4b37-9607-5be3046dbb15"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ObjectDetectorVersions" ma:index="11" nillable="true" ma:displayName="MediaServiceObjectDetectorVersions" ma:hidden="true" ma:indexed="true" ma:internalName="MediaServiceObjectDetectorVersions" ma:readOnly="true">
      <xsd:simpleType>
        <xsd:restriction base="dms:Text"/>
      </xsd:simpleType>
    </xsd:element>
    <xsd:element name="MediaServiceDateTaken" ma:index="14" nillable="true" ma:displayName="MediaServiceDateTaken" ma:hidden="true" ma:indexed="true" ma:internalName="MediaServiceDateTaken" ma:readOnly="true">
      <xsd:simpleType>
        <xsd:restriction base="dms:Text"/>
      </xsd:simpleType>
    </xsd:element>
    <xsd:element name="MediaServiceGenerationTime" ma:index="15" nillable="true" ma:displayName="MediaServiceGenerationTime" ma:hidden="true" ma:internalName="MediaServiceGenerationTime" ma:readOnly="true">
      <xsd:simpleType>
        <xsd:restriction base="dms:Text"/>
      </xsd:simpleType>
    </xsd:element>
    <xsd:element name="MediaServiceEventHashCode" ma:index="16" nillable="true" ma:displayName="MediaServiceEventHashCode" ma:hidden="true" ma:internalName="MediaServiceEventHashCode" ma:readOnly="true">
      <xsd:simpleType>
        <xsd:restriction base="dms:Text"/>
      </xsd:simpleType>
    </xsd:element>
    <xsd:element name="MediaLengthInSeconds" ma:index="17" nillable="true" ma:displayName="MediaLengthInSeconds" ma:hidden="true" ma:internalName="MediaLengthInSeconds" ma:readOnly="true">
      <xsd:simpleType>
        <xsd:restriction base="dms:Unknown"/>
      </xsd:simpleType>
    </xsd:element>
    <xsd:element name="lcf76f155ced4ddcb4097134ff3c332f" ma:index="19" nillable="true" ma:taxonomy="true" ma:internalName="lcf76f155ced4ddcb4097134ff3c332f" ma:taxonomyFieldName="MediaServiceImageTags" ma:displayName="Image Tags" ma:readOnly="false" ma:fieldId="{5cf76f15-5ced-4ddc-b409-7134ff3c332f}" ma:taxonomyMulti="true" ma:sspId="c1edaf98-933d-48b7-9af8-6bdbb703d060" ma:termSetId="09814cd3-568e-fe90-9814-8d621ff8fb84" ma:anchorId="fba54fb3-c3e1-fe81-a776-ca4b69148c4d" ma:open="true" ma:isKeyword="false">
      <xsd:complexType>
        <xsd:sequence>
          <xsd:element ref="pc:Terms" minOccurs="0" maxOccurs="1"/>
        </xsd:sequence>
      </xsd:complexType>
    </xsd:element>
    <xsd:element name="MediaServiceOCR" ma:index="21" nillable="true" ma:displayName="Extracted Text" ma:internalName="MediaServiceOCR" ma:readOnly="true">
      <xsd:simpleType>
        <xsd:restriction base="dms:Note">
          <xsd:maxLength value="255"/>
        </xsd:restriction>
      </xsd:simpleType>
    </xsd:element>
    <xsd:element name="MediaServiceLocation" ma:index="22" nillable="true" ma:displayName="Location" ma:indexed="true" ma:internalName="MediaServiceLocation"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79b1087e-b6e1-495d-b445-e191f6146686" elementFormDefault="qualified">
    <xsd:import namespace="http://schemas.microsoft.com/office/2006/documentManagement/types"/>
    <xsd:import namespace="http://schemas.microsoft.com/office/infopath/2007/PartnerControls"/>
    <xsd:element name="TaxCatchAll" ma:index="20" nillable="true" ma:displayName="Taxonomy Catch All Column" ma:hidden="true" ma:list="{8ab5bcf1-aebb-4c90-83a7-d70acacb2f5c}" ma:internalName="TaxCatchAll" ma:showField="CatchAllData" ma:web="79b1087e-b6e1-495d-b445-e191f6146686">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C179C227-D6D2-4881-8DB8-93CC8A99D200}">
  <ds:schemaRefs>
    <ds:schemaRef ds:uri="79b1087e-b6e1-495d-b445-e191f6146686"/>
    <ds:schemaRef ds:uri="ed596afb-b43d-4b37-9607-5be3046dbb15"/>
    <ds:schemaRef ds:uri="http://purl.org/dc/dcmitype/"/>
    <ds:schemaRef ds:uri="http://purl.org/dc/elements/1.1/"/>
    <ds:schemaRef ds:uri="http://purl.org/dc/terms/"/>
    <ds:schemaRef ds:uri="http://schemas.microsoft.com/office/2006/documentManagement/types"/>
    <ds:schemaRef ds:uri="http://schemas.microsoft.com/office/2006/metadata/properties"/>
    <ds:schemaRef ds:uri="http://schemas.microsoft.com/office/infopath/2007/PartnerControls"/>
    <ds:schemaRef ds:uri="http://schemas.microsoft.com/sharepoint/v3"/>
    <ds:schemaRef ds:uri="http://schemas.openxmlformats.org/package/2006/metadata/core-properties"/>
    <ds:schemaRef ds:uri="http://www.w3.org/XML/1998/namespace"/>
  </ds:schemaRefs>
</ds:datastoreItem>
</file>

<file path=customXml/itemProps2.xml><?xml version="1.0" encoding="utf-8"?>
<ds:datastoreItem xmlns:ds="http://schemas.openxmlformats.org/officeDocument/2006/customXml" ds:itemID="{E8CEA8BA-AF61-43D6-9684-72F1EC50AAF8}">
  <ds:schemaRefs>
    <ds:schemaRef ds:uri="79b1087e-b6e1-495d-b445-e191f6146686"/>
    <ds:schemaRef ds:uri="ed596afb-b43d-4b37-9607-5be3046dbb15"/>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microsoft.com/sharepoint/v3"/>
    <ds:schemaRef ds:uri="http://schemas.openxmlformats.org/package/2006/metadata/core-properties"/>
    <ds:schemaRef ds:uri="http://www.w3.org/2001/XMLSchema"/>
  </ds:schemaRefs>
</ds:datastoreItem>
</file>

<file path=customXml/itemProps3.xml><?xml version="1.0" encoding="utf-8"?>
<ds:datastoreItem xmlns:ds="http://schemas.openxmlformats.org/officeDocument/2006/customXml" ds:itemID="{F142F910-8057-4E7D-B8F3-D1AA6583D590}">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blank</Template>
  <TotalTime>0</TotalTime>
  <Words>22292</Words>
  <Application>Microsoft Macintosh PowerPoint</Application>
  <PresentationFormat>寬螢幕</PresentationFormat>
  <Paragraphs>3409</Paragraphs>
  <Slides>94</Slides>
  <Notes>92</Notes>
  <HiddenSlides>23</HiddenSlides>
  <MMClips>0</MMClips>
  <ScaleCrop>false</ScaleCrop>
  <HeadingPairs>
    <vt:vector size="10" baseType="variant">
      <vt:variant>
        <vt:lpstr>使用字型</vt:lpstr>
      </vt:variant>
      <vt:variant>
        <vt:i4>13</vt:i4>
      </vt:variant>
      <vt:variant>
        <vt:lpstr>佈景主題</vt:lpstr>
      </vt:variant>
      <vt:variant>
        <vt:i4>3</vt:i4>
      </vt:variant>
      <vt:variant>
        <vt:lpstr>內嵌 OLE 伺服程式</vt:lpstr>
      </vt:variant>
      <vt:variant>
        <vt:i4>1</vt:i4>
      </vt:variant>
      <vt:variant>
        <vt:lpstr>投影片標題</vt:lpstr>
      </vt:variant>
      <vt:variant>
        <vt:i4>94</vt:i4>
      </vt:variant>
      <vt:variant>
        <vt:lpstr>自訂放映</vt:lpstr>
      </vt:variant>
      <vt:variant>
        <vt:i4>1</vt:i4>
      </vt:variant>
    </vt:vector>
  </HeadingPairs>
  <TitlesOfParts>
    <vt:vector size="112" baseType="lpstr">
      <vt:lpstr>Henderson BCG Sans</vt:lpstr>
      <vt:lpstr>Microsoft YaHei</vt:lpstr>
      <vt:lpstr>Microsoft YaHei</vt:lpstr>
      <vt:lpstr>OP Chevin Pro Light</vt:lpstr>
      <vt:lpstr>Arial</vt:lpstr>
      <vt:lpstr>Arial Nova</vt:lpstr>
      <vt:lpstr>Calibri</vt:lpstr>
      <vt:lpstr>Helvetica Light</vt:lpstr>
      <vt:lpstr>Helvetica Neue</vt:lpstr>
      <vt:lpstr>Times New Roman</vt:lpstr>
      <vt:lpstr>Trebuchet MS</vt:lpstr>
      <vt:lpstr>Work Sans</vt:lpstr>
      <vt:lpstr>Work Sans SemiBold</vt:lpstr>
      <vt:lpstr>BCG Grid 16:9</vt:lpstr>
      <vt:lpstr>Office Theme</vt:lpstr>
      <vt:lpstr>1_BCG Grid 16:9</vt:lpstr>
      <vt:lpstr>think-cell Slide</vt:lpstr>
      <vt:lpstr>M客客戶基數大，仰賴大量數據分析與線上行銷；凱基目前僅打造預測模型識別潜力M升A名單，未來應往更細緻的個性化經營，並優化新戶啟動計畫以降低零元戶</vt:lpstr>
      <vt:lpstr>個性化經營是循序漸進的優化過程；隨著對分群精準度與對客戶理解深度，逐步打造即時且精準的行銷</vt:lpstr>
      <vt:lpstr>M客經營的終極目標是達到全面個性化經營，在合適的時間透過合適的管道提供合適的個人化體驗</vt:lpstr>
      <vt:lpstr>凱基目前針對M客仍以產品為中心經營，客戶易收到多個單點產品信息；未來應朝向以客戶爲核心，運用數據模型找到更精準、高效的接觸點</vt:lpstr>
      <vt:lpstr>支撐凱基朝往更精準個性化經營的六大基石</vt:lpstr>
      <vt:lpstr>個性化經營六大基石| 目前凱基在數據基礎、預測模型有較完善的基礎，後續應就其餘面向進行優化</vt:lpstr>
      <vt:lpstr>模型參數影響預測的精準度；凱基目前M升A模型包括近100個變數，可進一步考量納入其他動態變數，如過去産品交易路徑、行銷活動反映、行內外足迹等</vt:lpstr>
      <vt:lpstr>模型參數其中重要一環爲交易路徑，建議納入客戶産品交易路徑分析，與其他參數綜合考量後識別潜在Next-best product (下一最佳產品)</vt:lpstr>
      <vt:lpstr>在A/B測試期間，使用新模型建議電訪之轉換率 (預約見面/接聽電話) 相較既有模型高出85%</vt:lpstr>
      <vt:lpstr>根據不同情境設計的產品與行銷方案組合庫</vt:lpstr>
      <vt:lpstr>依據不同目的在不同時機點發送不同訊息</vt:lpstr>
      <vt:lpstr>除了選對時機提供相關優惠或產品資訊，進一步測試不同的個性化行銷訊息組合，從中尋找高點擊率、高轉化率的最佳組合</vt:lpstr>
      <vt:lpstr>個性化經營以成效追蹤為核心，透過A/B測試衡量效益，並定期追蹤不同層級指標，將其結果反饋回預測模型，作為未來改善的重要輸入</vt:lpstr>
      <vt:lpstr>案例分享| 為實現智慧個性化行銷布局，搭建端到端個性化行銷平台</vt:lpstr>
      <vt:lpstr>Logical architecture: How best-in-class players enable this “under the hood” the hood”</vt:lpstr>
      <vt:lpstr>平台系統應涵蓋資料基礎、分析技術、互動能力及成效衡量與回饋能力 </vt:lpstr>
      <vt:lpstr>PowerPoint 簡報</vt:lpstr>
      <vt:lpstr>凱基目前缺乏M客專責經營單位，多為以產品出發的單點活動、尚未端到端設計並管理M客客戶旅程</vt:lpstr>
      <vt:lpstr>凱基應明確M客經營主責單位及各單位職責，並透過KPI設計確保各單位有共同經營目標、客戶端到端流程受到全面管理</vt:lpstr>
      <vt:lpstr>Best-in-class players enable personalization through cross-functional agile squads, along with a centralized prioritization &amp; orchestration layer</vt:lpstr>
      <vt:lpstr>Enabled by cross-functional squads to run experiments /  design campaigns and variants, orchestrated and executed centrally</vt:lpstr>
      <vt:lpstr>下一步| 短期拓展預測模型應用範圍並建立活動反饋機制；長期透過進階模型提供全面建議、打造完善行銷平台、強化數位經營組織及流程</vt:lpstr>
      <vt:lpstr>零元戶中85%過去三年在凱銀內無資產(AUM=0)，未來應著重防堵新客零元戶持續快速成長</vt:lpstr>
      <vt:lpstr>行業案例| 台新帳戶在線上線下管道與新戶維持良好的互動與熱度；新戶申請後鼓勵客戶下載並啟用APP，等待金融卡寄發期間也積極提醒各項優惠及服務</vt:lpstr>
      <vt:lpstr>凱基新戶啟動主要在新戶收到金融卡後發送單頁EDM，未事先積極引導客戶使用APP，亦無提供關鍵鉤子產品優惠資訊啟動客戶</vt:lpstr>
      <vt:lpstr>對標總結| 凱基應更早、更頻繁觸發客戶使用APP，並清楚傳遞鉤子產品相關優惠訊息</vt:lpstr>
      <vt:lpstr>Onboarding &amp; activation: Key lessons learnt from expert interviews (I/II)</vt:lpstr>
      <vt:lpstr>Onboarding &amp; activation: Key lessons learnt from expert interviews (II/II)</vt:lpstr>
      <vt:lpstr>Reference</vt:lpstr>
      <vt:lpstr>強化識別引擎為首要任務：雖然凱基已建置預測模型篩選潜力Ｍ升Ａ客名單，但仍有精進空間，包括擴大模型範圍、考量動態參數及産出最佳下一步産品建議</vt:lpstr>
      <vt:lpstr>案例分享| 大數據驅動下實現“千人千面”+“事件驅動”下主動行銷，深度經營客戶</vt:lpstr>
      <vt:lpstr>案例分享| 同時，行銷平台從過去單純發送信息功能，升級至結合數據分析與追蹤；所有行銷活動的策劃、實施、追踪皆有據可依，經過不斷測試及修訂來提升成效</vt:lpstr>
      <vt:lpstr>M客過去往來產品以存款、定存為主，待有活化空間；M客普遍數位使用度高，未來著重以數位方式進行精準行銷，提升經營效率</vt:lpstr>
      <vt:lpstr>客戶路徑| 透過關鍵客戶路徑，識別下一個最佳產品 (Next-best product)</vt:lpstr>
      <vt:lpstr>需額外考量的資料</vt:lpstr>
      <vt:lpstr>We’ve categorized banking use cases by types of outcomes</vt:lpstr>
      <vt:lpstr>1</vt:lpstr>
      <vt:lpstr>長期爲發展個性化經營，凱基應擴大既有傾向模型、建立完善之個性化行銷組織及流程，並確保有明確的反饋機制</vt:lpstr>
      <vt:lpstr>行業對標| 各家銀行皆在申請完成後積極啓動客戶，並反覆透過訊息、通知提醒各項優惠及服務</vt:lpstr>
      <vt:lpstr>Indonesian bank</vt:lpstr>
      <vt:lpstr>Significant project impact during the pilot</vt:lpstr>
      <vt:lpstr>Developed proposition and TOM to build Wealth: 14 building blocks</vt:lpstr>
      <vt:lpstr>Wealth analytics use cases for leads generation driven by ML</vt:lpstr>
      <vt:lpstr>Richer set of 'features' to capture deep signals for analytics models</vt:lpstr>
      <vt:lpstr>1. Target segments: Analytics lead generation approach</vt:lpstr>
      <vt:lpstr>A1: Potential wealth customers - identify customers most likely to purchase wealth products</vt:lpstr>
      <vt:lpstr>Identifying customers with "Wealth Elsewhere" based on advanced analytics</vt:lpstr>
      <vt:lpstr>Step 1: customers segregated across ~20 micro clusters based on their profile and lifestyle</vt:lpstr>
      <vt:lpstr>Micro Clusters Detailed characteristics (II/III) - Mid Reported Income </vt:lpstr>
      <vt:lpstr>3. Coverage &amp; front effectiveness: Lead management and prioritization approach</vt:lpstr>
      <vt:lpstr>Context: From full RM Journey, focus will be on Leads Generation</vt:lpstr>
      <vt:lpstr>Lead Generation: Customer archetypes with wealth potential to pursue</vt:lpstr>
      <vt:lpstr>Lead filtering: Multiple filters to ensure RM receives relevant leads</vt:lpstr>
      <vt:lpstr>Lead Prioritization: RM to view prioritized list of leads and clients from workbench</vt:lpstr>
      <vt:lpstr>European Retail Bank</vt:lpstr>
      <vt:lpstr>Segmentation Journey: Towards Hyper-personalization at a European Retail Bank</vt:lpstr>
      <vt:lpstr>A step-by-step sophistication of customer segmentation</vt:lpstr>
      <vt:lpstr>Case team contacts (1/2)</vt:lpstr>
      <vt:lpstr>Case team contacts (2/2)</vt:lpstr>
      <vt:lpstr>Our journey started with customer pathways</vt:lpstr>
      <vt:lpstr>Customer pathways were value-proven through a next-best-offer (NBO) model pilot in assisted channels</vt:lpstr>
      <vt:lpstr>Test group conversion rate increased by &gt;80% </vt:lpstr>
      <vt:lpstr>Data clustering allocated the client’s customer base into 6 need-based segments based on need trade-offs</vt:lpstr>
      <vt:lpstr>Six need-based segments identified, each with different need emphases</vt:lpstr>
      <vt:lpstr>As next step, we complemented segmentations with a 360 Customer DNA view</vt:lpstr>
      <vt:lpstr>近一步分析資産規模介于30-70萬客戶，其中有6,200位過去一年資産規模增加超過25萬，為潛在深化高潛力客群</vt:lpstr>
      <vt:lpstr>針對高潜力客群，應先推動其綁定代扣繳、信卡增加接觸頻率，後推動理財商品拉升AUM貢獻</vt:lpstr>
      <vt:lpstr>Banking universe scanned for potential hook offerings; products revolve around 4 major domains </vt:lpstr>
      <vt:lpstr>對標行業做法，目前各大銀行多針對XXX給予優惠以深耕潛力客戶</vt:lpstr>
      <vt:lpstr>For Client, potential hook options identified under financing, deposit and investment domains </vt:lpstr>
      <vt:lpstr>PowerPoint 簡報</vt:lpstr>
      <vt:lpstr>Onboarding &amp; activation: Key lessons learnt from expert interviews (I/II)</vt:lpstr>
      <vt:lpstr>Onboarding &amp; activation: Key lessons learnt from expert interviews (II/II)</vt:lpstr>
      <vt:lpstr>Personalization in FI</vt:lpstr>
      <vt:lpstr>Why data driven marketing is relevant in FI &amp; Banking</vt:lpstr>
      <vt:lpstr>We’ve categorized banking use cases by types of outcomes</vt:lpstr>
      <vt:lpstr>To accelerate value, we prioritize use cases by potential value and ease of implementation</vt:lpstr>
      <vt:lpstr>PowerPoint 簡報</vt:lpstr>
      <vt:lpstr>Personalized customer journey through precision media and 1:1 owned channels </vt:lpstr>
      <vt:lpstr>Prioritized pockets of capabilities for the Client </vt:lpstr>
      <vt:lpstr>Logical architecture: How best-in-class players enable this “under the hood” the hood”</vt:lpstr>
      <vt:lpstr>Best-in-class players enable personalization through cross-functional agile squads, along with a centralized prioritization &amp; orchestration layer</vt:lpstr>
      <vt:lpstr>Enabled by cross-functional squads to run experiments /  design campaigns and variants, orchestrated and executed centrally</vt:lpstr>
      <vt:lpstr>Six key pillars for a successful personalization program</vt:lpstr>
      <vt:lpstr>Hyper-personalisation for retail clients requires building digital capability along the personalisation stack</vt:lpstr>
      <vt:lpstr>Hyper-personalization digital capabilities for retail developed along 3 stages</vt:lpstr>
      <vt:lpstr>Building of capabilities through development of MVPs (I/II)</vt:lpstr>
      <vt:lpstr>Building of capabilities through development of MVPs (I/II)</vt:lpstr>
      <vt:lpstr>PowerPoint 簡報</vt:lpstr>
      <vt:lpstr>A1: Identify customers with highest potential to purchase wealth products and highest affinity to become Affluent/HNW</vt:lpstr>
      <vt:lpstr>雖然凱基目前既有預測模型可篩選潜力Ｍ升Ａ客名單，但仍有精進空間，包含擴大模型範圍、考量動態變數及做出最佳下一步産品建議</vt:lpstr>
      <vt:lpstr>識別同一客戶路徑一般透過Kmeans聚類演算法，結合3大維度，共計22項細分維度數據，對656份樣本聚類分析，形成10大客群</vt:lpstr>
      <vt:lpstr>為長期發展全面個性化經營，凱基需打造強健的中央數據基礎、建立自動化行銷的流程與工具，並建立成效反饋機制</vt:lpstr>
      <vt:lpstr>PowerPoint 簡報</vt:lpstr>
      <vt:lpstr>Format Guide Workshop</vt:lpstr>
    </vt:vector>
  </TitlesOfParts>
  <Manager/>
  <Company/>
  <LinksUpToDate>false</LinksUpToDate>
  <SharedDoc>false</SharedDoc>
  <HyperlinkBase/>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subject/>
  <dc:creator>Chang, Annie</dc:creator>
  <cp:keywords/>
  <dc:description/>
  <cp:lastModifiedBy>Aston Lu</cp:lastModifiedBy>
  <cp:revision>2</cp:revision>
  <cp:lastPrinted>2016-04-06T18:59:25Z</cp:lastPrinted>
  <dcterms:created xsi:type="dcterms:W3CDTF">2024-05-20T02:47:19Z</dcterms:created>
  <dcterms:modified xsi:type="dcterms:W3CDTF">2026-08-21T07:50:17Z</dcterms:modified>
  <cp:category/>
  <cp:contentStatus/>
</cp:coreProperties>
</file>

<file path=docProps/custom.xml><?xml version="1.0" encoding="utf-8"?>
<Properties xmlns="http://schemas.openxmlformats.org/officeDocument/2006/custom-properties" xmlns:vt="http://schemas.openxmlformats.org/officeDocument/2006/docPropsVTypes">
  <property fmtid="{D5CDD505-2E9C-101B-9397-08002B2CF9AE}" pid="2" name="Format Name">
    <vt:lpwstr>Grid Format</vt:lpwstr>
  </property>
  <property fmtid="{D5CDD505-2E9C-101B-9397-08002B2CF9AE}" pid="3" name="NXPowerLiteLastOptimized">
    <vt:lpwstr>488649</vt:lpwstr>
  </property>
  <property fmtid="{D5CDD505-2E9C-101B-9397-08002B2CF9AE}" pid="4" name="NXPowerLiteSettings">
    <vt:lpwstr>87000AA0054001</vt:lpwstr>
  </property>
  <property fmtid="{D5CDD505-2E9C-101B-9397-08002B2CF9AE}" pid="5" name="NXPowerLiteVersion">
    <vt:lpwstr>D7.1.8</vt:lpwstr>
  </property>
  <property fmtid="{D5CDD505-2E9C-101B-9397-08002B2CF9AE}" pid="6" name="Template Name">
    <vt:lpwstr>16x9</vt:lpwstr>
  </property>
  <property fmtid="{D5CDD505-2E9C-101B-9397-08002B2CF9AE}" pid="7" name="MSIP_Label_b0d5c4f4-7a29-4385-b7a5-afbe2154ae6f_Enabled">
    <vt:lpwstr>true</vt:lpwstr>
  </property>
  <property fmtid="{D5CDD505-2E9C-101B-9397-08002B2CF9AE}" pid="8" name="MSIP_Label_b0d5c4f4-7a29-4385-b7a5-afbe2154ae6f_SetDate">
    <vt:lpwstr>2024-05-20T02:47:39Z</vt:lpwstr>
  </property>
  <property fmtid="{D5CDD505-2E9C-101B-9397-08002B2CF9AE}" pid="9" name="MSIP_Label_b0d5c4f4-7a29-4385-b7a5-afbe2154ae6f_Method">
    <vt:lpwstr>Standard</vt:lpwstr>
  </property>
  <property fmtid="{D5CDD505-2E9C-101B-9397-08002B2CF9AE}" pid="10" name="MSIP_Label_b0d5c4f4-7a29-4385-b7a5-afbe2154ae6f_Name">
    <vt:lpwstr>Confidential</vt:lpwstr>
  </property>
  <property fmtid="{D5CDD505-2E9C-101B-9397-08002B2CF9AE}" pid="11" name="MSIP_Label_b0d5c4f4-7a29-4385-b7a5-afbe2154ae6f_SiteId">
    <vt:lpwstr>2dfb2f0b-4d21-4268-9559-72926144c918</vt:lpwstr>
  </property>
  <property fmtid="{D5CDD505-2E9C-101B-9397-08002B2CF9AE}" pid="12" name="MSIP_Label_b0d5c4f4-7a29-4385-b7a5-afbe2154ae6f_ActionId">
    <vt:lpwstr>9fd07008-143f-4d2c-b685-84eb12c5714b</vt:lpwstr>
  </property>
  <property fmtid="{D5CDD505-2E9C-101B-9397-08002B2CF9AE}" pid="13" name="MSIP_Label_b0d5c4f4-7a29-4385-b7a5-afbe2154ae6f_ContentBits">
    <vt:lpwstr>0</vt:lpwstr>
  </property>
  <property fmtid="{D5CDD505-2E9C-101B-9397-08002B2CF9AE}" pid="14" name="ContentTypeId">
    <vt:lpwstr>0x010100888FABD9E627A942B7A0373138464A12</vt:lpwstr>
  </property>
  <property fmtid="{D5CDD505-2E9C-101B-9397-08002B2CF9AE}" pid="15" name="MediaServiceImageTags">
    <vt:lpwstr/>
  </property>
</Properties>
</file>